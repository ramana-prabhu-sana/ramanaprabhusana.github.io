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4"/>
  </p:notesMasterIdLst>
  <p:sldIdLst>
    <p:sldId id="257" r:id="rId2"/>
    <p:sldId id="546" r:id="rId3"/>
    <p:sldId id="777" r:id="rId4"/>
    <p:sldId id="738" r:id="rId5"/>
    <p:sldId id="739" r:id="rId6"/>
    <p:sldId id="741" r:id="rId7"/>
    <p:sldId id="742" r:id="rId8"/>
    <p:sldId id="743" r:id="rId9"/>
    <p:sldId id="421" r:id="rId10"/>
    <p:sldId id="774" r:id="rId11"/>
    <p:sldId id="776" r:id="rId12"/>
    <p:sldId id="775" r:id="rId13"/>
    <p:sldId id="744" r:id="rId14"/>
    <p:sldId id="745" r:id="rId15"/>
    <p:sldId id="746" r:id="rId16"/>
    <p:sldId id="747" r:id="rId17"/>
    <p:sldId id="750" r:id="rId18"/>
    <p:sldId id="751" r:id="rId19"/>
    <p:sldId id="752" r:id="rId20"/>
    <p:sldId id="753" r:id="rId21"/>
    <p:sldId id="754" r:id="rId22"/>
    <p:sldId id="760" r:id="rId23"/>
    <p:sldId id="755" r:id="rId24"/>
    <p:sldId id="756" r:id="rId25"/>
    <p:sldId id="757" r:id="rId26"/>
    <p:sldId id="770" r:id="rId27"/>
    <p:sldId id="771" r:id="rId28"/>
    <p:sldId id="758" r:id="rId29"/>
    <p:sldId id="759" r:id="rId30"/>
    <p:sldId id="772" r:id="rId31"/>
    <p:sldId id="671" r:id="rId32"/>
    <p:sldId id="762" r:id="rId33"/>
    <p:sldId id="763" r:id="rId34"/>
    <p:sldId id="764" r:id="rId35"/>
    <p:sldId id="765" r:id="rId36"/>
    <p:sldId id="766" r:id="rId37"/>
    <p:sldId id="767" r:id="rId38"/>
    <p:sldId id="768" r:id="rId39"/>
    <p:sldId id="769" r:id="rId40"/>
    <p:sldId id="761" r:id="rId41"/>
    <p:sldId id="779" r:id="rId42"/>
    <p:sldId id="737" r:id="rId43"/>
  </p:sldIdLst>
  <p:sldSz cx="12192000" cy="6858000"/>
  <p:notesSz cx="6858000" cy="9144000"/>
  <p:embeddedFontLst>
    <p:embeddedFont>
      <p:font typeface="Acumin Pro" panose="020B0604020202020204" charset="0"/>
      <p:regular r:id="rId45"/>
      <p:bold r:id="rId46"/>
      <p:italic r:id="rId47"/>
      <p:boldItalic r:id="rId48"/>
    </p:embeddedFont>
    <p:embeddedFont>
      <p:font typeface="Cambria Math" panose="02040503050406030204" pitchFamily="18" charset="0"/>
      <p:regular r:id="rId49"/>
    </p:embeddedFont>
    <p:embeddedFont>
      <p:font typeface="Franklin Gothic Book" panose="020B0503020102020204" pitchFamily="34" charset="0"/>
      <p:regular r:id="rId50"/>
      <p:italic r:id="rId51"/>
    </p:embeddedFont>
    <p:embeddedFont>
      <p:font typeface="Franklin Gothic Demi" panose="020B0703020102020204" pitchFamily="34" charset="0"/>
      <p:regular r:id="rId52"/>
      <p:bold r:id="rId53"/>
      <p:italic r:id="rId54"/>
      <p:boldItalic r:id="rId55"/>
    </p:embeddedFont>
    <p:embeddedFont>
      <p:font typeface="Franklin Gothic Medium" panose="020B0603020102020204" pitchFamily="34" charset="0"/>
      <p:regular r:id="rId56"/>
      <p:italic r:id="rId57"/>
    </p:embeddedFont>
    <p:embeddedFont>
      <p:font typeface="Impact" panose="020B0806030902050204" pitchFamily="34" charset="0"/>
      <p:regular r:id="rId58"/>
    </p:embeddedFont>
    <p:embeddedFont>
      <p:font typeface="United Sans Rg Md" pitchFamily="50" charset="0"/>
      <p:regular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70822"/>
  </p:normalViewPr>
  <p:slideViewPr>
    <p:cSldViewPr snapToGrid="0" snapToObjects="1">
      <p:cViewPr varScale="1">
        <p:scale>
          <a:sx n="68" d="100"/>
          <a:sy n="68" d="100"/>
        </p:scale>
        <p:origin x="1260" y="28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90196-96AB-60F6-B640-B4B8166E6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4EC1B-35A6-8C5F-092C-FED0D71F4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01828-6FB2-B5B1-A5D8-06C29711D9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F54E7-503F-15AC-D567-2A7C79C04044}"/>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1917690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F7FA8-892C-2776-F760-E10B25CC8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1FD2D-BA64-EBB9-DA0F-6444B67ED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44675-9BB2-E2AF-A9BA-7BAC7B6FD8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23F234-3839-506D-6C09-056340248805}"/>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1152232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C2F14-7991-DED8-CA9C-B04E062C5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3631F-2D46-C78C-091D-F166FBBB2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7DDDB-234B-793B-DB3D-C836DBB830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1DA58-0932-53D8-C2C3-9E40C9E6108E}"/>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159833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EDBB2-41AB-9316-04B9-3D13ACD60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C5B64-6A47-BBEE-F0F8-F97AA5DF5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D21B7-2F03-BF6A-75C1-59E80AA7DC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E111A1-58B3-BA79-1031-59F557BA67A9}"/>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3432547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DC0FC-D11E-B91A-0CD8-6A7735562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1BC35-2C0B-D4F9-25EF-540A7B217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A22A4-D090-16B0-8BDB-70B536EF7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AAF14A-2DE7-6135-FBD4-FF651EE9FA0F}"/>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2082691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2168-AAE3-B217-15B1-18AE80192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23D46-E283-EFA0-809B-8D936E5D6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509EF-DAB8-B6CC-3911-7C301E570A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92079D-8606-526E-24BC-6D019A350B70}"/>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820506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A3EA-2175-363E-48DC-CA9060E6D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0EF00-AD6A-E815-C33B-D41B31A30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D24B3-05C9-AEC5-3754-98A9E52A79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61BAE3-1B23-4FBB-A45F-23667DE78DB6}"/>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3935772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41BC9-471B-B4A4-44F5-B56663185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A8E3A-7416-CD86-21EE-826374D19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FF0D3-F389-A203-6B46-652E1E9A88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0C5B7B-458F-F106-946B-B34D75A5AE25}"/>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3351072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BF4E-57EE-7989-F947-E2F9879A7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A9E74-C609-1111-9441-0416144D9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71BD7-FF7C-8868-39BD-9B46E1AB9B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28A854-408A-328F-2330-CA68B5DAACFB}"/>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1117837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F4AF8-828B-0361-705D-340FE7645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29EA5-E5E9-1C4E-03A1-CE43D9C45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D1539-40E0-1FAA-E3AB-17D213AD38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CE4467-32E6-043D-37D6-AC0411AFAAEE}"/>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826735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DD048-33BF-6F3C-6865-2666C573C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76947-457F-4A31-FF70-D32483B00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AC7C9-B8F3-BE54-43E2-4E493630B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B635D1-E947-22A6-393E-3147FE2D0954}"/>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1237264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0C15-9308-510F-8A9C-56FD095F8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9E043-60CA-8F44-BF25-6A037F617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D9C83-A9C0-F876-758A-400F309986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3C0BFA-8F78-051F-5107-E5FE1D5A2128}"/>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2745632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3FAC-CA10-6091-C6C4-10D5C2921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179D5-2985-C77A-FA2A-FAC0EAFE1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16E0F-A95E-39E3-6EEB-93D3046A7F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1C2B88-6EAA-D52E-90E0-4C9EDEFED94E}"/>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1294881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7F4C1-07BC-0B8E-5C2F-20C455A27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CACA2-2E96-6FDD-770C-8150D47D9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A4485-AE45-A90E-E13F-FD303BB675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01FB9-76D7-E2B3-88EB-D55D4669F68C}"/>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1967270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21C5-E0AB-29BE-17AA-1B4A36D49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B8DFC-2BA7-EE84-2EF6-0D25379E2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B1FD6-2153-80AA-ADB6-3A7D82666943}"/>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1CDF4DDE-9515-859F-96D7-9EBB8686046E}"/>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2557635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9CCED-C859-2167-7BFE-039520A3A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8D8F8-7035-2097-6F0C-2B3C25D82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8B08B-A733-75D1-9123-81B47AC74137}"/>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3A05405C-C270-DEB3-8722-F74BA2F5C128}"/>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2049957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3AE83-2ABE-60B6-16AF-91C3F986E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4DF62-8E4B-196F-81AF-FA23EFF3A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5726B-5AD1-1244-2272-EE0E91C9883F}"/>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CB981AD4-CA32-AC99-B080-635F343CAE62}"/>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3132843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0C01-E6A0-54EA-88DA-87C567299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E3740-3899-4F5C-A58C-ECC1E9DA8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EA1B5-519F-66E5-5822-EFE4F694789E}"/>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9251F5C2-99EF-3CE9-74B2-6EB1A4238656}"/>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3752311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C4D62-1BE4-E153-FD69-BE0FB9259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2D8BA-23C5-CF95-0D73-F54924DA3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AC1A1-E881-E5ED-35F3-F06D32D91603}"/>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979BB0EB-C467-A4F3-DCA7-8F61F2A5964A}"/>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1299634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B350-66F4-4FC8-02C9-39782E6C4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86F26-6634-5FDB-B6DE-9365C6E2E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AB3EA-52EA-CC7C-A687-40EBC8B609CC}"/>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52D19112-799B-C556-F272-69DD812954EB}"/>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3128137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9BBB-9028-D7D5-B644-12764160D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3E726-E0D2-7620-7F9C-EDC6C4DCB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1E97E-353C-EF3B-2B53-01EEA461818D}"/>
              </a:ext>
            </a:extLst>
          </p:cNvPr>
          <p:cNvSpPr>
            <a:spLocks noGrp="1"/>
          </p:cNvSpPr>
          <p:nvPr>
            <p:ph type="body" idx="1"/>
          </p:nvPr>
        </p:nvSpPr>
        <p:spPr/>
        <p:txBody>
          <a:bodyPr/>
          <a:lstStyle/>
          <a:p>
            <a:r>
              <a:rPr lang="en-US" dirty="0"/>
              <a:t>$1=4 utils</a:t>
            </a:r>
          </a:p>
          <a:p>
            <a:r>
              <a:rPr lang="en-US" dirty="0"/>
              <a:t>Dollar value of custom fit is $25</a:t>
            </a:r>
          </a:p>
        </p:txBody>
      </p:sp>
      <p:sp>
        <p:nvSpPr>
          <p:cNvPr id="4" name="Slide Number Placeholder 3">
            <a:extLst>
              <a:ext uri="{FF2B5EF4-FFF2-40B4-BE49-F238E27FC236}">
                <a16:creationId xmlns:a16="http://schemas.microsoft.com/office/drawing/2014/main" id="{24552709-1833-C093-239D-FF0354F91976}"/>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856174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95CD4-33E7-9C8B-8286-C8B19BAF0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A55E5-FD71-0419-4164-D24AE1308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E4722-F84F-457A-3CC3-CA9ABDECD577}"/>
              </a:ext>
            </a:extLst>
          </p:cNvPr>
          <p:cNvSpPr>
            <a:spLocks noGrp="1"/>
          </p:cNvSpPr>
          <p:nvPr>
            <p:ph type="body" idx="1"/>
          </p:nvPr>
        </p:nvSpPr>
        <p:spPr/>
        <p:txBody>
          <a:bodyPr/>
          <a:lstStyle/>
          <a:p>
            <a:r>
              <a:rPr lang="en-US" dirty="0"/>
              <a:t>$1=4utils</a:t>
            </a:r>
          </a:p>
          <a:p>
            <a:endParaRPr lang="en-US" dirty="0"/>
          </a:p>
          <a:p>
            <a:r>
              <a:rPr lang="en-US" dirty="0"/>
              <a:t>Going from 1 pant to 2 pants =&gt; 40 utils= $12</a:t>
            </a:r>
          </a:p>
          <a:p>
            <a:r>
              <a:rPr lang="en-US" dirty="0"/>
              <a:t>Going from 1 pant to 3 pants =&gt; 50 utils=$12.50</a:t>
            </a:r>
          </a:p>
        </p:txBody>
      </p:sp>
      <p:sp>
        <p:nvSpPr>
          <p:cNvPr id="4" name="Slide Number Placeholder 3">
            <a:extLst>
              <a:ext uri="{FF2B5EF4-FFF2-40B4-BE49-F238E27FC236}">
                <a16:creationId xmlns:a16="http://schemas.microsoft.com/office/drawing/2014/main" id="{2DDCA929-4420-E56A-C5D0-2488A8B033A7}"/>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490042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FFD3A-00EA-04B7-59C4-B93A01D3B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1B55E-9A93-3F97-29E9-C27FC1F2D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5C625-1A96-8419-51C9-C1A3E227E5A3}"/>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805CDD8B-A9D0-5A27-A324-6A4E5EDE6B8B}"/>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24270470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2D081-C0F0-FF93-BB2D-712EA1CBD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6DA61-2D1B-49F0-2461-BB868EFDE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DD89C-15E1-F4BE-5D61-51B999D61347}"/>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A9F80D05-7BA5-08B3-E864-29737803F766}"/>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495647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A7FB-639F-3976-4C1C-3B334A0F6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16C8F-108A-336A-9A06-3029D95E3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911C7-4D26-E12D-2D64-AAFF8C7143F1}"/>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5F4BA98A-4F28-784B-6741-32A877A99F0B}"/>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39721096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29C6-38C8-21AA-40AF-7E24BB41C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89794-33BF-EC7F-28AE-91DC7ADBC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0D4C3-3E08-9141-E1A8-FAF99C565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C23FDF-3625-DC1C-0515-166C8A77AF74}"/>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3540314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D4C67-AC52-B8D9-AD6C-DD2641DCF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B6E66-AE54-0C91-F6C1-6CAAACC06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D8C99-3651-BAC3-1F79-BADC40C3DAAD}"/>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CA08840C-32C5-FAEF-6893-C8BCC9B39E80}"/>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426628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DED3-3733-4C58-A6F5-F79972DCF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7A644-4C63-8A37-D29C-F02CB5E46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99FA6-177E-FA5E-C31D-55504B5D18C6}"/>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A361F4B5-1AEB-9FF0-2DA8-56136BA8FAE4}"/>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21456502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8C93-CBC3-4343-EAB7-6C4351D56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96CFA-F991-74C5-3769-1C0E3680B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90F01-4D09-2D5B-E107-F660FEE0667C}"/>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82D97959-293C-F377-945D-5B9F202F0011}"/>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1000908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6097A-245B-0AE8-F984-1787CB942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F016-20CB-E76E-7D62-5D8EB5F22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F5613-C0E4-D535-C159-6B639C4149EE}"/>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B549A263-4EB1-B2C2-92F7-2C7AFB4EA6DE}"/>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5248053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D704F-3DA1-65FF-AF0C-3690ABD6E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21F15-78AB-C67C-DB1A-87474CD03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CD416-C81D-1B59-3763-1366DB39FECF}"/>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C02EEB02-14FE-7D62-57CC-83D762B7F27E}"/>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2837374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8F98C-91B6-D4DB-5851-BC910C89E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7D47E-2A1C-9402-FC18-C93A88035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B82F1-67A6-6466-4A3A-CB6E65638C4E}"/>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66147176-39FE-54DF-4129-1A90D0A9922D}"/>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1208163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DC054-74DA-E465-E08A-2BD3A0D94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127BD-581D-759D-360F-73CFBF5C8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CF16B-84FA-C24A-AB29-AAA3CFDA0BCA}"/>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A7D601F7-2E33-43D9-DB96-AC02E2EE9F21}"/>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936126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169B9-CD07-57BE-6D67-F7E4C128D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EF273-E11B-49A3-9014-56467B381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55513-6143-6BB8-57F2-5C1A6FCE64B6}"/>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39DE6187-80B3-90D8-6C8D-8028FEFB8277}"/>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23460548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CE77-C1A8-80E5-8CED-270DBA727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56153-F828-D6D0-2120-B039653FB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975EE-20B6-4B19-053A-390B37470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53C140-FB6B-281F-E30E-0B4DD954492E}"/>
              </a:ext>
            </a:extLst>
          </p:cNvPr>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5619785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1BD48-62E1-3F4B-5D8C-886B9ECF4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11682-EDCD-B7EF-0FC9-B1611F210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CDAA7-B97E-215A-9D80-EB490E289564}"/>
              </a:ext>
            </a:extLst>
          </p:cNvPr>
          <p:cNvSpPr>
            <a:spLocks noGrp="1"/>
          </p:cNvSpPr>
          <p:nvPr>
            <p:ph type="body" idx="1"/>
          </p:nvPr>
        </p:nvSpPr>
        <p:spPr/>
        <p:txBody>
          <a:bodyPr/>
          <a:lstStyle/>
          <a:p>
            <a:r>
              <a:rPr lang="en-US" dirty="0"/>
              <a:t>Great to add pictures, make this more realistic</a:t>
            </a:r>
          </a:p>
        </p:txBody>
      </p:sp>
      <p:sp>
        <p:nvSpPr>
          <p:cNvPr id="4" name="Slide Number Placeholder 3">
            <a:extLst>
              <a:ext uri="{FF2B5EF4-FFF2-40B4-BE49-F238E27FC236}">
                <a16:creationId xmlns:a16="http://schemas.microsoft.com/office/drawing/2014/main" id="{82EE7FEF-E2DF-642F-F075-E14E44CFCD8C}"/>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3828461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90E2-DA0B-4CB7-F261-C0DC23861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2471A-4AD5-DFC8-2B3D-5E7F55A97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C0FF0-4056-C9A7-7636-6A5FDC4DC0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9878DA-9F42-9C81-EE72-F87D1003C220}"/>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160149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11/05/2025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11/05/2025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11/05/2025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11/05/2025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11/05/2025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11/05/2025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11/05/2025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11/05/2025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calendar.app.google/er8YzgovSxjgj1JM8"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a:latin typeface="Franklin Gothic Medium" panose="020B0603020102020204" pitchFamily="34" charset="0"/>
              </a:rPr>
              <a:t>Lecture 4: </a:t>
            </a:r>
            <a:r>
              <a:rPr lang="en-US" b="0" dirty="0">
                <a:latin typeface="Franklin Gothic Medium" panose="020B0603020102020204" pitchFamily="34" charset="0"/>
              </a:rPr>
              <a:t>Eliciting Consumer Preferences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dirty="0"/>
              <a:t>Overview</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917389"/>
            <a:ext cx="8755380" cy="3411537"/>
          </a:xfrm>
        </p:spPr>
        <p:txBody>
          <a:bodyPr>
            <a:normAutofit/>
          </a:bodyPr>
          <a:lstStyle/>
          <a:p>
            <a:r>
              <a:rPr lang="en-US" sz="2400" dirty="0"/>
              <a:t>Model of consumer choice</a:t>
            </a:r>
          </a:p>
          <a:p>
            <a:endParaRPr lang="en-US" sz="2400" dirty="0"/>
          </a:p>
          <a:p>
            <a:r>
              <a:rPr lang="en-US" sz="2400" dirty="0"/>
              <a:t>User studies to measure preferences</a:t>
            </a:r>
          </a:p>
          <a:p>
            <a:endParaRPr lang="en-US" sz="2400" dirty="0"/>
          </a:p>
          <a:p>
            <a:r>
              <a:rPr lang="en-US" sz="2400" dirty="0"/>
              <a:t>Conjoint experiments to generate choice data</a:t>
            </a:r>
          </a:p>
          <a:p>
            <a:endParaRPr lang="en-US" sz="2400" dirty="0"/>
          </a:p>
          <a:p>
            <a:r>
              <a:rPr lang="en-US" sz="2400" dirty="0"/>
              <a:t>Interpreting conjoint experiments</a:t>
            </a:r>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845D-B83F-529F-53A5-4ACC1A204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D9A60-2475-7151-7FA8-D07FFF1D573E}"/>
              </a:ext>
            </a:extLst>
          </p:cNvPr>
          <p:cNvSpPr>
            <a:spLocks noGrp="1"/>
          </p:cNvSpPr>
          <p:nvPr>
            <p:ph type="ctrTitle"/>
          </p:nvPr>
        </p:nvSpPr>
        <p:spPr>
          <a:xfrm>
            <a:off x="2647199" y="1501742"/>
            <a:ext cx="7300940" cy="1329595"/>
          </a:xfrm>
        </p:spPr>
        <p:txBody>
          <a:bodyPr/>
          <a:lstStyle/>
          <a:p>
            <a:r>
              <a:rPr lang="en-US" dirty="0"/>
              <a:t>Introduction to User preferences</a:t>
            </a:r>
          </a:p>
        </p:txBody>
      </p:sp>
      <p:sp>
        <p:nvSpPr>
          <p:cNvPr id="4" name="Date Placeholder 3">
            <a:extLst>
              <a:ext uri="{FF2B5EF4-FFF2-40B4-BE49-F238E27FC236}">
                <a16:creationId xmlns:a16="http://schemas.microsoft.com/office/drawing/2014/main" id="{02725DEA-BE0A-7C2F-BC2A-D4F1991834CB}"/>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Placeholder 4">
            <a:extLst>
              <a:ext uri="{FF2B5EF4-FFF2-40B4-BE49-F238E27FC236}">
                <a16:creationId xmlns:a16="http://schemas.microsoft.com/office/drawing/2014/main" id="{FBD83CC1-350A-6863-B1B9-1065AEC3F5E7}"/>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152974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31D8-2599-20E8-A729-1FA1B5162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761A3-6547-BC18-DA09-A272B134F95C}"/>
              </a:ext>
            </a:extLst>
          </p:cNvPr>
          <p:cNvSpPr>
            <a:spLocks noGrp="1"/>
          </p:cNvSpPr>
          <p:nvPr>
            <p:ph type="ctrTitle"/>
          </p:nvPr>
        </p:nvSpPr>
        <p:spPr/>
        <p:txBody>
          <a:bodyPr/>
          <a:lstStyle/>
          <a:p>
            <a:r>
              <a:rPr lang="en-US" dirty="0"/>
              <a:t>Introduction to Preferences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D6319C1-C7DE-13BB-F407-DFF386A4A589}"/>
                  </a:ext>
                </a:extLst>
              </p:cNvPr>
              <p:cNvSpPr>
                <a:spLocks noGrp="1"/>
              </p:cNvSpPr>
              <p:nvPr>
                <p:ph type="body" sz="quarter" idx="14"/>
              </p:nvPr>
            </p:nvSpPr>
            <p:spPr>
              <a:xfrm>
                <a:off x="1828800" y="1491343"/>
                <a:ext cx="8755380" cy="3837583"/>
              </a:xfrm>
            </p:spPr>
            <p:txBody>
              <a:bodyPr>
                <a:normAutofit/>
              </a:bodyPr>
              <a:lstStyle/>
              <a:p>
                <a:r>
                  <a:rPr lang="en-US" sz="2400" dirty="0"/>
                  <a:t>Economics models individual choice as follows</a:t>
                </a:r>
              </a:p>
              <a:p>
                <a:pPr lvl="1"/>
                <a:r>
                  <a:rPr lang="en-US" sz="2400" dirty="0"/>
                  <a:t>Consumer must choose an alternative </a:t>
                </a:r>
                <a14:m>
                  <m:oMath xmlns:m="http://schemas.openxmlformats.org/officeDocument/2006/math">
                    <m:r>
                      <a:rPr lang="en-US" sz="2400" b="0" i="1" smtClean="0">
                        <a:latin typeface="Cambria Math" panose="02040503050406030204" pitchFamily="18" charset="0"/>
                      </a:rPr>
                      <m:t>𝑥</m:t>
                    </m:r>
                  </m:oMath>
                </a14:m>
                <a:r>
                  <a:rPr lang="en-US" sz="2400" dirty="0"/>
                  <a:t> from a set </a:t>
                </a:r>
                <a14:m>
                  <m:oMath xmlns:m="http://schemas.openxmlformats.org/officeDocument/2006/math">
                    <m:r>
                      <a:rPr lang="en-US" sz="2400" b="0" i="1" smtClean="0">
                        <a:latin typeface="Cambria Math" panose="02040503050406030204" pitchFamily="18" charset="0"/>
                      </a:rPr>
                      <m:t>𝑋</m:t>
                    </m:r>
                  </m:oMath>
                </a14:m>
                <a:endParaRPr lang="en-US" sz="2400" dirty="0"/>
              </a:p>
              <a:p>
                <a:pPr lvl="1"/>
                <a:r>
                  <a:rPr lang="en-US" sz="2400" dirty="0"/>
                  <a:t>Consumer chooses alternative that maximizes utility </a:t>
                </a:r>
                <a14:m>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oMath>
                </a14:m>
                <a:r>
                  <a:rPr lang="en-US" sz="2400" dirty="0"/>
                  <a:t> which maps alternatives to “utils” (real numbers)</a:t>
                </a:r>
              </a:p>
              <a:p>
                <a:endParaRPr lang="en-US" sz="2400" dirty="0"/>
              </a:p>
              <a:p>
                <a:r>
                  <a:rPr lang="en-US" sz="2400" dirty="0"/>
                  <a:t>Preferences describe the parameters of the utility function</a:t>
                </a:r>
              </a:p>
              <a:p>
                <a:endParaRPr lang="en-US" sz="2400" dirty="0"/>
              </a:p>
              <a:p>
                <a:r>
                  <a:rPr lang="en-US" sz="2400" dirty="0"/>
                  <a:t>If we know preferences, we can use this information to make better decisions</a:t>
                </a:r>
              </a:p>
            </p:txBody>
          </p:sp>
        </mc:Choice>
        <mc:Fallback xmlns="">
          <p:sp>
            <p:nvSpPr>
              <p:cNvPr id="4" name="Text Placeholder 3">
                <a:extLst>
                  <a:ext uri="{FF2B5EF4-FFF2-40B4-BE49-F238E27FC236}">
                    <a16:creationId xmlns:a16="http://schemas.microsoft.com/office/drawing/2014/main" id="{2D6319C1-C7DE-13BB-F407-DFF386A4A589}"/>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t="-2640" r="-159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D7B5F1F4-5B9E-A81F-4067-67FC08D57E44}"/>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94B554E3-55D4-F52E-52A7-DC91B780ED85}"/>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244325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3484-4CAB-FF2C-C65D-D13F71FE6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B70C4-B848-D5A3-6C73-6A9D84EA9573}"/>
              </a:ext>
            </a:extLst>
          </p:cNvPr>
          <p:cNvSpPr>
            <a:spLocks noGrp="1"/>
          </p:cNvSpPr>
          <p:nvPr>
            <p:ph type="ctr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2A6CA3F-E6EC-75DE-6866-B569243C5455}"/>
                  </a:ext>
                </a:extLst>
              </p:cNvPr>
              <p:cNvSpPr>
                <a:spLocks noGrp="1"/>
              </p:cNvSpPr>
              <p:nvPr>
                <p:ph type="body" sz="quarter" idx="14"/>
              </p:nvPr>
            </p:nvSpPr>
            <p:spPr>
              <a:xfrm>
                <a:off x="1828800" y="1491343"/>
                <a:ext cx="8755380" cy="3837583"/>
              </a:xfrm>
            </p:spPr>
            <p:txBody>
              <a:bodyPr>
                <a:normAutofit/>
              </a:bodyPr>
              <a:lstStyle/>
              <a:p>
                <a14:m>
                  <m:oMath xmlns:m="http://schemas.openxmlformats.org/officeDocument/2006/math">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𝑎𝑝𝑝𝑙𝑒</m:t>
                    </m:r>
                    <m:r>
                      <a:rPr lang="en-US" sz="2400" b="0" i="1" smtClean="0">
                        <a:latin typeface="Cambria Math" panose="02040503050406030204" pitchFamily="18" charset="0"/>
                      </a:rPr>
                      <m:t>,</m:t>
                    </m:r>
                    <m:r>
                      <a:rPr lang="en-US" sz="2400" b="0" i="1" smtClean="0">
                        <a:latin typeface="Cambria Math" panose="02040503050406030204" pitchFamily="18" charset="0"/>
                      </a:rPr>
                      <m:t>𝑏𝑎𝑛𝑎𝑛𝑎</m:t>
                    </m:r>
                    <m:r>
                      <a:rPr lang="en-US" sz="2400" b="0" i="1" smtClean="0">
                        <a:latin typeface="Cambria Math" panose="02040503050406030204" pitchFamily="18" charset="0"/>
                      </a:rPr>
                      <m:t>}</m:t>
                    </m:r>
                  </m:oMath>
                </a14:m>
                <a:endParaRPr lang="en-US" sz="2400" dirty="0"/>
              </a:p>
              <a:p>
                <a:endParaRPr lang="en-US" sz="2400" b="0" i="1" dirty="0">
                  <a:latin typeface="Cambria Math" panose="02040503050406030204" pitchFamily="18" charset="0"/>
                </a:endParaRPr>
              </a:p>
              <a:p>
                <a14:m>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𝑎𝑝𝑝𝑙𝑒</m:t>
                        </m:r>
                      </m:e>
                    </m:d>
                    <m:r>
                      <a:rPr lang="en-US" sz="2400" b="0" i="1" smtClean="0">
                        <a:latin typeface="Cambria Math" panose="02040503050406030204" pitchFamily="18" charset="0"/>
                      </a:rPr>
                      <m:t>=7</m:t>
                    </m:r>
                  </m:oMath>
                </a14:m>
                <a:r>
                  <a:rPr lang="en-US" sz="2400" dirty="0"/>
                  <a:t>, </a:t>
                </a:r>
                <a14:m>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𝑏𝑎𝑛𝑎𝑛𝑎</m:t>
                        </m:r>
                      </m:e>
                    </m:d>
                    <m:r>
                      <a:rPr lang="en-US" sz="2400" b="0" i="1" smtClean="0">
                        <a:latin typeface="Cambria Math" panose="02040503050406030204" pitchFamily="18" charset="0"/>
                      </a:rPr>
                      <m:t>=12</m:t>
                    </m:r>
                  </m:oMath>
                </a14:m>
                <a:endParaRPr lang="en-US" sz="2400" dirty="0"/>
              </a:p>
              <a:p>
                <a:endParaRPr lang="en-US" sz="2400" dirty="0"/>
              </a:p>
              <a:p>
                <a:r>
                  <a:rPr lang="en-US" sz="2400" dirty="0"/>
                  <a:t>What fruit would you choose?</a:t>
                </a:r>
              </a:p>
            </p:txBody>
          </p:sp>
        </mc:Choice>
        <mc:Fallback xmlns="">
          <p:sp>
            <p:nvSpPr>
              <p:cNvPr id="4" name="Text Placeholder 3">
                <a:extLst>
                  <a:ext uri="{FF2B5EF4-FFF2-40B4-BE49-F238E27FC236}">
                    <a16:creationId xmlns:a16="http://schemas.microsoft.com/office/drawing/2014/main" id="{62A6CA3F-E6EC-75DE-6866-B569243C5455}"/>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2029" t="-198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C11D7C96-0CA5-E50B-CDBC-FA670C5139CE}"/>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A7842C7F-C556-5C85-7431-03B9A08471F8}"/>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2753602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99F7A-CA93-E3B2-C6E0-260AA490A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520FE-3662-27AE-0A83-C5335807314E}"/>
              </a:ext>
            </a:extLst>
          </p:cNvPr>
          <p:cNvSpPr>
            <a:spLocks noGrp="1"/>
          </p:cNvSpPr>
          <p:nvPr>
            <p:ph type="ctrTitle"/>
          </p:nvPr>
        </p:nvSpPr>
        <p:spPr/>
        <p:txBody>
          <a:bodyPr/>
          <a:lstStyle/>
          <a:p>
            <a:r>
              <a:rPr lang="en-US" dirty="0"/>
              <a:t>Product Features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E0EE23E-BA2E-0C7D-EFB3-72B01DDB8C8B}"/>
                  </a:ext>
                </a:extLst>
              </p:cNvPr>
              <p:cNvSpPr>
                <a:spLocks noGrp="1"/>
              </p:cNvSpPr>
              <p:nvPr>
                <p:ph type="body" sz="quarter" idx="14"/>
              </p:nvPr>
            </p:nvSpPr>
            <p:spPr>
              <a:xfrm>
                <a:off x="1828800" y="1491343"/>
                <a:ext cx="8755380" cy="3837583"/>
              </a:xfrm>
            </p:spPr>
            <p:txBody>
              <a:bodyPr>
                <a:normAutofit fontScale="85000" lnSpcReduction="20000"/>
              </a:bodyPr>
              <a:lstStyle/>
              <a:p>
                <a:r>
                  <a:rPr lang="en-US" sz="2400" dirty="0"/>
                  <a:t>Often useful to model utility as a function of product features</a:t>
                </a:r>
              </a:p>
              <a:p>
                <a:pPr lvl="1"/>
                <a:r>
                  <a:rPr lang="en-US" sz="2400" dirty="0"/>
                  <a:t>Each alternative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dirty="0"/>
                  <a:t> is a bundle of features </a:t>
                </a:r>
                <a14:m>
                  <m:oMath xmlns:m="http://schemas.openxmlformats.org/officeDocument/2006/math">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𝑖𝐾</m:t>
                            </m:r>
                          </m:sub>
                        </m:sSub>
                      </m:e>
                    </m:d>
                  </m:oMath>
                </a14:m>
                <a:endParaRPr lang="en-US" sz="2400" dirty="0"/>
              </a:p>
              <a:p>
                <a:pPr lvl="1"/>
                <a:r>
                  <a:rPr lang="en-US" sz="2400" dirty="0"/>
                  <a:t>Example: Car can be described by size, engine, number of seats, number of cupholders, quality of infotainment system …</a:t>
                </a:r>
              </a:p>
              <a:p>
                <a:endParaRPr lang="en-US" sz="2400" dirty="0"/>
              </a:p>
              <a:p>
                <a:r>
                  <a:rPr lang="en-US" sz="2400" dirty="0"/>
                  <a:t>Model utility as a linear function of parameters</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𝐾</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𝑖𝐾</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𝜖</m:t>
                          </m:r>
                        </m:e>
                        <m:sub>
                          <m:r>
                            <a:rPr lang="en-US" sz="2400" b="0" i="1" smtClean="0">
                              <a:latin typeface="Cambria Math" panose="02040503050406030204" pitchFamily="18" charset="0"/>
                            </a:rPr>
                            <m:t>𝑖</m:t>
                          </m:r>
                        </m:sub>
                      </m:sSub>
                    </m:oMath>
                  </m:oMathPara>
                </a14:m>
                <a:endParaRPr lang="en-US" sz="2400" dirty="0"/>
              </a:p>
              <a:p>
                <a:endParaRPr lang="en-US" sz="2400" dirty="0"/>
              </a:p>
              <a:p>
                <a:r>
                  <a:rPr lang="en-US" sz="2400" dirty="0"/>
                  <a:t>Parameters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𝐾</m:t>
                        </m:r>
                      </m:sub>
                    </m:sSub>
                  </m:oMath>
                </a14:m>
                <a:r>
                  <a:rPr lang="en-US" sz="2400" dirty="0"/>
                  <a:t> are called preferences</a:t>
                </a:r>
              </a:p>
              <a:p>
                <a:pPr lvl="1"/>
                <a:r>
                  <a:rPr lang="en-US" sz="2400" dirty="0"/>
                  <a:t>Capture how much each feature impacts utility</a:t>
                </a:r>
              </a:p>
              <a:p>
                <a:pPr marL="0" indent="0">
                  <a:buNone/>
                </a:pPr>
                <a:endParaRPr lang="en-US" sz="2400" dirty="0"/>
              </a:p>
              <a:p>
                <a:endParaRPr lang="en-US" sz="2400" dirty="0"/>
              </a:p>
              <a:p>
                <a:r>
                  <a:rPr lang="en-US" sz="2400" dirty="0"/>
                  <a:t>Question: Why can we not estimate this model using linear regression?</a:t>
                </a:r>
              </a:p>
              <a:p>
                <a:endParaRPr lang="en-US" sz="2400" dirty="0"/>
              </a:p>
            </p:txBody>
          </p:sp>
        </mc:Choice>
        <mc:Fallback xmlns="">
          <p:sp>
            <p:nvSpPr>
              <p:cNvPr id="4" name="Text Placeholder 3">
                <a:extLst>
                  <a:ext uri="{FF2B5EF4-FFF2-40B4-BE49-F238E27FC236}">
                    <a16:creationId xmlns:a16="http://schemas.microsoft.com/office/drawing/2014/main" id="{4E0EE23E-BA2E-0C7D-EFB3-72B01DDB8C8B}"/>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1739" t="-330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38F3BB4-9E77-3D81-87D9-D27941B053A0}"/>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906636B7-0D5A-9D46-DFEF-A56F4B4C4953}"/>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170513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1AA36-A790-19D7-EC56-DD2B7A6A7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7EFC6-AA6B-9406-CBE0-D29D98E2BE88}"/>
              </a:ext>
            </a:extLst>
          </p:cNvPr>
          <p:cNvSpPr>
            <a:spLocks noGrp="1"/>
          </p:cNvSpPr>
          <p:nvPr>
            <p:ph type="ctrTitle"/>
          </p:nvPr>
        </p:nvSpPr>
        <p:spPr/>
        <p:txBody>
          <a:bodyPr/>
          <a:lstStyle/>
          <a:p>
            <a:r>
              <a:rPr lang="en-US" dirty="0"/>
              <a:t>Product Features, Continued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AD45903-7099-C4F8-E60E-D405D7F5D3DB}"/>
                  </a:ext>
                </a:extLst>
              </p:cNvPr>
              <p:cNvSpPr>
                <a:spLocks noGrp="1"/>
              </p:cNvSpPr>
              <p:nvPr>
                <p:ph type="body" sz="quarter" idx="14"/>
              </p:nvPr>
            </p:nvSpPr>
            <p:spPr>
              <a:xfrm>
                <a:off x="1828800" y="1491343"/>
                <a:ext cx="4800600" cy="3837583"/>
              </a:xfrm>
            </p:spPr>
            <p:txBody>
              <a:bodyPr>
                <a:normAutofit/>
              </a:bodyPr>
              <a:lstStyle/>
              <a:p>
                <a:r>
                  <a:rPr lang="en-US" sz="2000" dirty="0"/>
                  <a:t>We do not observe </a:t>
                </a:r>
                <a14:m>
                  <m:oMath xmlns:m="http://schemas.openxmlformats.org/officeDocument/2006/math">
                    <m:r>
                      <a:rPr lang="en-US" sz="2000" b="0" i="1" smtClean="0">
                        <a:latin typeface="Cambria Math" panose="02040503050406030204" pitchFamily="18" charset="0"/>
                      </a:rPr>
                      <m:t>𝑢</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oMath>
                </a14:m>
                <a:r>
                  <a:rPr lang="en-US" sz="2000" dirty="0"/>
                  <a:t>!</a:t>
                </a:r>
              </a:p>
              <a:p>
                <a:endParaRPr lang="en-US" sz="2000" dirty="0"/>
              </a:p>
              <a:p>
                <a:r>
                  <a:rPr lang="en-US" sz="2000" dirty="0"/>
                  <a:t>We often observe individual choices</a:t>
                </a:r>
              </a:p>
              <a:p>
                <a:endParaRPr lang="en-US" sz="2000" dirty="0"/>
              </a:p>
              <a:p>
                <a:r>
                  <a:rPr lang="en-US" sz="2000" dirty="0"/>
                  <a:t>Can we estimate preferences using only data on choices?</a:t>
                </a:r>
              </a:p>
              <a:p>
                <a:pPr lvl="1"/>
                <a:r>
                  <a:rPr lang="en-US" sz="2000" dirty="0"/>
                  <a:t>Turns out the answer is yes!</a:t>
                </a:r>
              </a:p>
            </p:txBody>
          </p:sp>
        </mc:Choice>
        <mc:Fallback xmlns="">
          <p:sp>
            <p:nvSpPr>
              <p:cNvPr id="4" name="Text Placeholder 3">
                <a:extLst>
                  <a:ext uri="{FF2B5EF4-FFF2-40B4-BE49-F238E27FC236}">
                    <a16:creationId xmlns:a16="http://schemas.microsoft.com/office/drawing/2014/main" id="{6AD45903-7099-C4F8-E60E-D405D7F5D3DB}"/>
                  </a:ext>
                </a:extLst>
              </p:cNvPr>
              <p:cNvSpPr>
                <a:spLocks noGrp="1" noRot="1" noChangeAspect="1" noMove="1" noResize="1" noEditPoints="1" noAdjustHandles="1" noChangeArrowheads="1" noChangeShapeType="1" noTextEdit="1"/>
              </p:cNvSpPr>
              <p:nvPr>
                <p:ph type="body" sz="quarter" idx="14"/>
              </p:nvPr>
            </p:nvSpPr>
            <p:spPr>
              <a:xfrm>
                <a:off x="1828800" y="1491343"/>
                <a:ext cx="4800600" cy="3837583"/>
              </a:xfrm>
              <a:blipFill>
                <a:blip r:embed="rId3"/>
                <a:stretch>
                  <a:fillRect l="-3166" t="-1980"/>
                </a:stretch>
              </a:blipFill>
            </p:spPr>
            <p:txBody>
              <a:bodyPr/>
              <a:lstStyle/>
              <a:p>
                <a:r>
                  <a:rPr lang="en-US">
                    <a:noFill/>
                  </a:rPr>
                  <a:t> </a:t>
                </a:r>
              </a:p>
            </p:txBody>
          </p:sp>
        </mc:Fallback>
      </mc:AlternateContent>
      <p:pic>
        <p:nvPicPr>
          <p:cNvPr id="9" name="Picture 8" descr="Screenshot of the December 2000 Nobel Prize Lecture by Daniel L. McFadden.">
            <a:extLst>
              <a:ext uri="{FF2B5EF4-FFF2-40B4-BE49-F238E27FC236}">
                <a16:creationId xmlns:a16="http://schemas.microsoft.com/office/drawing/2014/main" id="{A7460E22-012D-812D-17BA-EE94A13566E9}"/>
              </a:ext>
            </a:extLst>
          </p:cNvPr>
          <p:cNvPicPr>
            <a:picLocks noChangeAspect="1"/>
          </p:cNvPicPr>
          <p:nvPr/>
        </p:nvPicPr>
        <p:blipFill>
          <a:blip r:embed="rId4"/>
          <a:stretch>
            <a:fillRect/>
          </a:stretch>
        </p:blipFill>
        <p:spPr>
          <a:xfrm>
            <a:off x="6629400" y="1466850"/>
            <a:ext cx="4966360" cy="4059802"/>
          </a:xfrm>
          <a:prstGeom prst="rect">
            <a:avLst/>
          </a:prstGeom>
        </p:spPr>
      </p:pic>
      <p:sp>
        <p:nvSpPr>
          <p:cNvPr id="5" name="Date Placeholder 4">
            <a:extLst>
              <a:ext uri="{FF2B5EF4-FFF2-40B4-BE49-F238E27FC236}">
                <a16:creationId xmlns:a16="http://schemas.microsoft.com/office/drawing/2014/main" id="{9C446FBA-365A-AF86-BDE6-FB5B2EFFEF6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A7EFCFC6-2522-8BA8-3C4B-5D94FA059E9A}"/>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1681397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A1B7-8BAD-417E-A97A-8CA556C7A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779B0-EF7A-1DBE-DEF3-9BDC357ACE02}"/>
              </a:ext>
            </a:extLst>
          </p:cNvPr>
          <p:cNvSpPr>
            <a:spLocks noGrp="1"/>
          </p:cNvSpPr>
          <p:nvPr>
            <p:ph type="ctrTitle"/>
          </p:nvPr>
        </p:nvSpPr>
        <p:spPr/>
        <p:txBody>
          <a:bodyPr/>
          <a:lstStyle/>
          <a:p>
            <a:r>
              <a:rPr lang="en-US" dirty="0"/>
              <a:t>Multinomial Logit Model</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495E8C6-334E-94AA-F97C-E153858CB0A2}"/>
                  </a:ext>
                </a:extLst>
              </p:cNvPr>
              <p:cNvSpPr>
                <a:spLocks noGrp="1"/>
              </p:cNvSpPr>
              <p:nvPr>
                <p:ph type="body" sz="quarter" idx="14"/>
              </p:nvPr>
            </p:nvSpPr>
            <p:spPr>
              <a:xfrm>
                <a:off x="1828800" y="1491343"/>
                <a:ext cx="8755380" cy="3837583"/>
              </a:xfrm>
            </p:spPr>
            <p:txBody>
              <a:bodyPr>
                <a:normAutofit fontScale="85000" lnSpcReduction="10000"/>
              </a:bodyPr>
              <a:lstStyle/>
              <a:p>
                <a:r>
                  <a:rPr lang="en-US" sz="2400" dirty="0"/>
                  <a:t>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𝜖</m:t>
                        </m:r>
                      </m:e>
                      <m:sub>
                        <m:r>
                          <a:rPr lang="en-US" sz="2400" b="0" i="1" smtClean="0">
                            <a:latin typeface="Cambria Math" panose="02040503050406030204" pitchFamily="18" charset="0"/>
                          </a:rPr>
                          <m:t>𝑖</m:t>
                        </m:r>
                      </m:sub>
                    </m:sSub>
                  </m:oMath>
                </a14:m>
                <a:r>
                  <a:rPr lang="en-US" sz="2400" dirty="0"/>
                  <a:t> has a particular distribution, then we can write choice probabilities in closed form</a:t>
                </a:r>
              </a:p>
              <a:p>
                <a:pPr lvl="1"/>
                <a:r>
                  <a:rPr lang="en-US" sz="2400" dirty="0"/>
                  <a:t>We then find the preference parameters that match predicted choice probabilities with actual choice probabilities</a:t>
                </a:r>
              </a:p>
              <a:p>
                <a:pPr marL="0" indent="0">
                  <a:buNone/>
                </a:pPr>
                <a:endParaRPr lang="en-US" sz="2400" dirty="0"/>
              </a:p>
              <a:p>
                <a:r>
                  <a:rPr lang="en-US" sz="2400" dirty="0"/>
                  <a:t>Multinomial logit model allows us to take data on consumer choices and learn preferences!</a:t>
                </a:r>
              </a:p>
              <a:p>
                <a:pPr lvl="1"/>
                <a:r>
                  <a:rPr lang="en-US" sz="2400" dirty="0"/>
                  <a:t>If we have historical data on consumer choices, we can estimate preferences</a:t>
                </a:r>
              </a:p>
              <a:p>
                <a:pPr lvl="1"/>
                <a:r>
                  <a:rPr lang="en-US" sz="2400" dirty="0"/>
                  <a:t>Can also use survey methods to generate own data</a:t>
                </a:r>
              </a:p>
            </p:txBody>
          </p:sp>
        </mc:Choice>
        <mc:Fallback xmlns="">
          <p:sp>
            <p:nvSpPr>
              <p:cNvPr id="4" name="Text Placeholder 3">
                <a:extLst>
                  <a:ext uri="{FF2B5EF4-FFF2-40B4-BE49-F238E27FC236}">
                    <a16:creationId xmlns:a16="http://schemas.microsoft.com/office/drawing/2014/main" id="{F495E8C6-334E-94AA-F97C-E153858CB0A2}"/>
                  </a:ext>
                </a:extLst>
              </p:cNvPr>
              <p:cNvSpPr>
                <a:spLocks noGrp="1" noRot="1" noChangeAspect="1" noMove="1" noResize="1" noEditPoints="1" noAdjustHandles="1" noChangeArrowheads="1" noChangeShapeType="1" noTextEdit="1"/>
              </p:cNvSpPr>
              <p:nvPr>
                <p:ph type="body" sz="quarter" idx="14"/>
              </p:nvPr>
            </p:nvSpPr>
            <p:spPr>
              <a:xfrm>
                <a:off x="1828800" y="1491343"/>
                <a:ext cx="8755380" cy="3837583"/>
              </a:xfrm>
              <a:blipFill>
                <a:blip r:embed="rId3"/>
                <a:stretch>
                  <a:fillRect l="-1739" t="-2970" r="-87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D64F7E1-8292-E0C6-15CE-46A7B6E2FC14}"/>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9F734311-BBE1-93AA-16FE-3241E9655B49}"/>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11535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3637-DDAF-F6AE-13CB-A978FE00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BB2C5-B4D5-20F5-8F82-D6278D2BBA4C}"/>
              </a:ext>
            </a:extLst>
          </p:cNvPr>
          <p:cNvSpPr>
            <a:spLocks noGrp="1"/>
          </p:cNvSpPr>
          <p:nvPr>
            <p:ph type="ctrTitle"/>
          </p:nvPr>
        </p:nvSpPr>
        <p:spPr>
          <a:xfrm>
            <a:off x="2647199" y="1501742"/>
            <a:ext cx="8242474" cy="1329595"/>
          </a:xfrm>
        </p:spPr>
        <p:txBody>
          <a:bodyPr/>
          <a:lstStyle/>
          <a:p>
            <a:r>
              <a:rPr lang="en-US" dirty="0"/>
              <a:t>User Studies to learn customer preferences</a:t>
            </a:r>
          </a:p>
        </p:txBody>
      </p:sp>
      <p:sp>
        <p:nvSpPr>
          <p:cNvPr id="4" name="Date Placeholder 3">
            <a:extLst>
              <a:ext uri="{FF2B5EF4-FFF2-40B4-BE49-F238E27FC236}">
                <a16:creationId xmlns:a16="http://schemas.microsoft.com/office/drawing/2014/main" id="{6996589E-1CF7-5F95-AE0F-42E39FBD703F}"/>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Placeholder 4">
            <a:extLst>
              <a:ext uri="{FF2B5EF4-FFF2-40B4-BE49-F238E27FC236}">
                <a16:creationId xmlns:a16="http://schemas.microsoft.com/office/drawing/2014/main" id="{2EEA834E-A062-9BC8-EBA8-D99445F99354}"/>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1174607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6512-7037-D119-57C0-FD6C7013D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2671E-7121-7F4A-54E9-B388D4821D83}"/>
              </a:ext>
            </a:extLst>
          </p:cNvPr>
          <p:cNvSpPr>
            <a:spLocks noGrp="1"/>
          </p:cNvSpPr>
          <p:nvPr>
            <p:ph type="ctrTitle"/>
          </p:nvPr>
        </p:nvSpPr>
        <p:spPr/>
        <p:txBody>
          <a:bodyPr/>
          <a:lstStyle/>
          <a:p>
            <a:r>
              <a:rPr lang="en-US" dirty="0"/>
              <a:t>Types of User Studies</a:t>
            </a:r>
          </a:p>
        </p:txBody>
      </p:sp>
      <p:sp>
        <p:nvSpPr>
          <p:cNvPr id="4" name="Text Placeholder 3">
            <a:extLst>
              <a:ext uri="{FF2B5EF4-FFF2-40B4-BE49-F238E27FC236}">
                <a16:creationId xmlns:a16="http://schemas.microsoft.com/office/drawing/2014/main" id="{D74C3E03-C3AE-A6F1-9892-4AA57E1CDBED}"/>
              </a:ext>
            </a:extLst>
          </p:cNvPr>
          <p:cNvSpPr>
            <a:spLocks noGrp="1"/>
          </p:cNvSpPr>
          <p:nvPr>
            <p:ph type="body" sz="quarter" idx="14"/>
          </p:nvPr>
        </p:nvSpPr>
        <p:spPr>
          <a:xfrm>
            <a:off x="1828800" y="1917389"/>
            <a:ext cx="8755380" cy="3411537"/>
          </a:xfrm>
        </p:spPr>
        <p:txBody>
          <a:bodyPr>
            <a:normAutofit/>
          </a:bodyPr>
          <a:lstStyle/>
          <a:p>
            <a:r>
              <a:rPr lang="en-US" sz="2400" dirty="0"/>
              <a:t>Interviews: One-on-one interview with potential customers</a:t>
            </a:r>
          </a:p>
          <a:p>
            <a:endParaRPr lang="en-US" sz="2400" dirty="0"/>
          </a:p>
          <a:p>
            <a:r>
              <a:rPr lang="en-US" sz="2400" dirty="0"/>
              <a:t>Focus group: Moderator facilitates discussion between many customers</a:t>
            </a:r>
          </a:p>
          <a:p>
            <a:pPr marL="0" indent="0">
              <a:buNone/>
            </a:pPr>
            <a:endParaRPr lang="en-US" sz="2400" dirty="0"/>
          </a:p>
          <a:p>
            <a:r>
              <a:rPr lang="en-US" sz="2400" dirty="0"/>
              <a:t>Observe product in use</a:t>
            </a:r>
          </a:p>
          <a:p>
            <a:pPr marL="0" indent="0">
              <a:buNone/>
            </a:pPr>
            <a:endParaRPr lang="en-US" sz="2400" dirty="0"/>
          </a:p>
        </p:txBody>
      </p:sp>
      <p:sp>
        <p:nvSpPr>
          <p:cNvPr id="5" name="Date Placeholder 4">
            <a:extLst>
              <a:ext uri="{FF2B5EF4-FFF2-40B4-BE49-F238E27FC236}">
                <a16:creationId xmlns:a16="http://schemas.microsoft.com/office/drawing/2014/main" id="{01A1A364-32E1-A680-30EA-3F2EE53690E6}"/>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A8F91B25-3E8C-E60E-D7A4-E3ED22122B5D}"/>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1509537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00F0-11A4-01FC-4370-79C5365B4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53736-43E2-6C93-E869-5B20D55F0E84}"/>
              </a:ext>
            </a:extLst>
          </p:cNvPr>
          <p:cNvSpPr>
            <a:spLocks noGrp="1"/>
          </p:cNvSpPr>
          <p:nvPr>
            <p:ph type="ctrTitle"/>
          </p:nvPr>
        </p:nvSpPr>
        <p:spPr/>
        <p:txBody>
          <a:bodyPr/>
          <a:lstStyle/>
          <a:p>
            <a:r>
              <a:rPr lang="en-US" dirty="0"/>
              <a:t>Benefits of User Studies</a:t>
            </a:r>
          </a:p>
        </p:txBody>
      </p:sp>
      <p:sp>
        <p:nvSpPr>
          <p:cNvPr id="4" name="Text Placeholder 3">
            <a:extLst>
              <a:ext uri="{FF2B5EF4-FFF2-40B4-BE49-F238E27FC236}">
                <a16:creationId xmlns:a16="http://schemas.microsoft.com/office/drawing/2014/main" id="{7BAA0356-4118-351C-F41F-7D13AE0A02C8}"/>
              </a:ext>
            </a:extLst>
          </p:cNvPr>
          <p:cNvSpPr>
            <a:spLocks noGrp="1"/>
          </p:cNvSpPr>
          <p:nvPr>
            <p:ph type="body" sz="quarter" idx="14"/>
          </p:nvPr>
        </p:nvSpPr>
        <p:spPr>
          <a:xfrm>
            <a:off x="1828800" y="1917389"/>
            <a:ext cx="8755380" cy="3411537"/>
          </a:xfrm>
        </p:spPr>
        <p:txBody>
          <a:bodyPr>
            <a:normAutofit/>
          </a:bodyPr>
          <a:lstStyle/>
          <a:p>
            <a:r>
              <a:rPr lang="en-US" sz="2400" dirty="0"/>
              <a:t>Open ended and can be run anytime in the development process</a:t>
            </a:r>
          </a:p>
          <a:p>
            <a:endParaRPr lang="en-US" sz="2400" dirty="0"/>
          </a:p>
          <a:p>
            <a:r>
              <a:rPr lang="en-US" sz="2400" dirty="0"/>
              <a:t>Can help you generate new features / solutions to explore</a:t>
            </a:r>
          </a:p>
          <a:p>
            <a:endParaRPr lang="en-US" sz="2400" dirty="0"/>
          </a:p>
          <a:p>
            <a:r>
              <a:rPr lang="en-US" sz="2400" dirty="0"/>
              <a:t>Get to observe users using product and understand thinking</a:t>
            </a:r>
          </a:p>
          <a:p>
            <a:endParaRPr lang="en-US" sz="2400" dirty="0"/>
          </a:p>
        </p:txBody>
      </p:sp>
      <p:sp>
        <p:nvSpPr>
          <p:cNvPr id="5" name="Date Placeholder 4">
            <a:extLst>
              <a:ext uri="{FF2B5EF4-FFF2-40B4-BE49-F238E27FC236}">
                <a16:creationId xmlns:a16="http://schemas.microsoft.com/office/drawing/2014/main" id="{27528DD0-C0C6-7BD6-4115-DE5874FA6188}"/>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2FD90EE6-4B5F-5138-B29D-9D435D2B5CB9}"/>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2375123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C35A-9E63-2870-685A-CC1011EC1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FB91D-FD2E-7ECA-3435-52676B0F4347}"/>
              </a:ext>
            </a:extLst>
          </p:cNvPr>
          <p:cNvSpPr>
            <a:spLocks noGrp="1"/>
          </p:cNvSpPr>
          <p:nvPr>
            <p:ph type="ctrTitle"/>
          </p:nvPr>
        </p:nvSpPr>
        <p:spPr/>
        <p:txBody>
          <a:bodyPr/>
          <a:lstStyle/>
          <a:p>
            <a:r>
              <a:rPr lang="en-US" dirty="0"/>
              <a:t>Downsides of User Studies</a:t>
            </a:r>
          </a:p>
        </p:txBody>
      </p:sp>
      <p:sp>
        <p:nvSpPr>
          <p:cNvPr id="4" name="Text Placeholder 3">
            <a:extLst>
              <a:ext uri="{FF2B5EF4-FFF2-40B4-BE49-F238E27FC236}">
                <a16:creationId xmlns:a16="http://schemas.microsoft.com/office/drawing/2014/main" id="{31A4A425-C47E-88C6-9D49-60910C1FAF49}"/>
              </a:ext>
            </a:extLst>
          </p:cNvPr>
          <p:cNvSpPr>
            <a:spLocks noGrp="1"/>
          </p:cNvSpPr>
          <p:nvPr>
            <p:ph type="body" sz="quarter" idx="14"/>
          </p:nvPr>
        </p:nvSpPr>
        <p:spPr>
          <a:xfrm>
            <a:off x="1828800" y="1917389"/>
            <a:ext cx="8755380" cy="3411537"/>
          </a:xfrm>
        </p:spPr>
        <p:txBody>
          <a:bodyPr>
            <a:normAutofit/>
          </a:bodyPr>
          <a:lstStyle/>
          <a:p>
            <a:r>
              <a:rPr lang="en-US" sz="2400" dirty="0"/>
              <a:t>Consumers have a preference for many features</a:t>
            </a:r>
          </a:p>
          <a:p>
            <a:pPr lvl="1"/>
            <a:r>
              <a:rPr lang="en-US" sz="2400" dirty="0"/>
              <a:t>Hard to know how strong that preference is from these studies</a:t>
            </a:r>
          </a:p>
          <a:p>
            <a:endParaRPr lang="en-US" sz="2400" dirty="0"/>
          </a:p>
          <a:p>
            <a:r>
              <a:rPr lang="en-US" sz="2400" dirty="0"/>
              <a:t>Some risk of survey demand bias</a:t>
            </a:r>
          </a:p>
          <a:p>
            <a:pPr lvl="1"/>
            <a:r>
              <a:rPr lang="en-US" sz="2400" dirty="0"/>
              <a:t>People like to tell you things you want to hear</a:t>
            </a:r>
          </a:p>
        </p:txBody>
      </p:sp>
      <p:sp>
        <p:nvSpPr>
          <p:cNvPr id="5" name="Date Placeholder 4">
            <a:extLst>
              <a:ext uri="{FF2B5EF4-FFF2-40B4-BE49-F238E27FC236}">
                <a16:creationId xmlns:a16="http://schemas.microsoft.com/office/drawing/2014/main" id="{27EF468C-6E1C-E22B-8AE5-55EC6741C38F}"/>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64921013-A070-5BF6-16ED-83869D618F0F}"/>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3614496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E2A4-7989-6264-A2D7-BB4703885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4D470-64B5-E351-FD13-0AD36A8E6D6D}"/>
              </a:ext>
            </a:extLst>
          </p:cNvPr>
          <p:cNvSpPr>
            <a:spLocks noGrp="1"/>
          </p:cNvSpPr>
          <p:nvPr>
            <p:ph type="ctrTitle"/>
          </p:nvPr>
        </p:nvSpPr>
        <p:spPr>
          <a:xfrm>
            <a:off x="2647199" y="1501742"/>
            <a:ext cx="7300940" cy="664797"/>
          </a:xfrm>
        </p:spPr>
        <p:txBody>
          <a:bodyPr/>
          <a:lstStyle/>
          <a:p>
            <a:r>
              <a:rPr lang="en-US" dirty="0"/>
              <a:t>Conjoint surveys</a:t>
            </a:r>
          </a:p>
        </p:txBody>
      </p:sp>
      <p:sp>
        <p:nvSpPr>
          <p:cNvPr id="4" name="Date Placeholder 3">
            <a:extLst>
              <a:ext uri="{FF2B5EF4-FFF2-40B4-BE49-F238E27FC236}">
                <a16:creationId xmlns:a16="http://schemas.microsoft.com/office/drawing/2014/main" id="{3799ED94-D497-EED5-C531-5D0B95051ECF}"/>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Placeholder 4">
            <a:extLst>
              <a:ext uri="{FF2B5EF4-FFF2-40B4-BE49-F238E27FC236}">
                <a16:creationId xmlns:a16="http://schemas.microsoft.com/office/drawing/2014/main" id="{200B6416-B8CF-2066-8395-A7304244E786}"/>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3466059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3A276-6E01-AF31-864A-029E2BB5B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14E65-93B3-8786-1519-27A7E3C0D7EE}"/>
              </a:ext>
            </a:extLst>
          </p:cNvPr>
          <p:cNvSpPr>
            <a:spLocks noGrp="1"/>
          </p:cNvSpPr>
          <p:nvPr>
            <p:ph type="ctrTitle"/>
          </p:nvPr>
        </p:nvSpPr>
        <p:spPr/>
        <p:txBody>
          <a:bodyPr/>
          <a:lstStyle/>
          <a:p>
            <a:r>
              <a:rPr lang="en-US" dirty="0"/>
              <a:t>Conjoint Overview</a:t>
            </a:r>
          </a:p>
        </p:txBody>
      </p:sp>
      <p:sp>
        <p:nvSpPr>
          <p:cNvPr id="4" name="Text Placeholder 3">
            <a:extLst>
              <a:ext uri="{FF2B5EF4-FFF2-40B4-BE49-F238E27FC236}">
                <a16:creationId xmlns:a16="http://schemas.microsoft.com/office/drawing/2014/main" id="{978BAFC5-E96D-9579-CC4A-47ACADBA4101}"/>
              </a:ext>
            </a:extLst>
          </p:cNvPr>
          <p:cNvSpPr>
            <a:spLocks noGrp="1"/>
          </p:cNvSpPr>
          <p:nvPr>
            <p:ph type="body" sz="quarter" idx="14"/>
          </p:nvPr>
        </p:nvSpPr>
        <p:spPr>
          <a:xfrm>
            <a:off x="1828800" y="1491343"/>
            <a:ext cx="8755380" cy="3837583"/>
          </a:xfrm>
        </p:spPr>
        <p:txBody>
          <a:bodyPr>
            <a:normAutofit lnSpcReduction="10000"/>
          </a:bodyPr>
          <a:lstStyle/>
          <a:p>
            <a:r>
              <a:rPr lang="en-US" sz="2400" dirty="0"/>
              <a:t>We want to measure consumer preferences from choices</a:t>
            </a:r>
          </a:p>
          <a:p>
            <a:endParaRPr lang="en-US" sz="2400" dirty="0"/>
          </a:p>
          <a:p>
            <a:r>
              <a:rPr lang="en-US" sz="2400" dirty="0"/>
              <a:t>Idea is to get survey responses to make choices in a simulated environment</a:t>
            </a:r>
          </a:p>
          <a:p>
            <a:endParaRPr lang="en-US" sz="2400" dirty="0"/>
          </a:p>
          <a:p>
            <a:r>
              <a:rPr lang="en-US" sz="2400" dirty="0"/>
              <a:t>Pros:</a:t>
            </a:r>
          </a:p>
          <a:p>
            <a:pPr lvl="1"/>
            <a:r>
              <a:rPr lang="en-US" sz="2400" dirty="0"/>
              <a:t>Easy to set up and run without building prototype</a:t>
            </a:r>
          </a:p>
          <a:p>
            <a:pPr lvl="1"/>
            <a:r>
              <a:rPr lang="en-US" sz="2400" dirty="0"/>
              <a:t>Better than asking consumers “how much do you like X feature”</a:t>
            </a:r>
          </a:p>
          <a:p>
            <a:r>
              <a:rPr lang="en-US" sz="2400" dirty="0"/>
              <a:t>Cons</a:t>
            </a:r>
          </a:p>
          <a:p>
            <a:pPr lvl="1"/>
            <a:r>
              <a:rPr lang="en-US" sz="2400" dirty="0"/>
              <a:t>Simulated choices are worse than actual choice data</a:t>
            </a:r>
          </a:p>
        </p:txBody>
      </p:sp>
      <p:sp>
        <p:nvSpPr>
          <p:cNvPr id="5" name="Date Placeholder 4">
            <a:extLst>
              <a:ext uri="{FF2B5EF4-FFF2-40B4-BE49-F238E27FC236}">
                <a16:creationId xmlns:a16="http://schemas.microsoft.com/office/drawing/2014/main" id="{CAE058F0-A695-9DCF-143F-A5374D10D409}"/>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CB752740-C9CB-A5D4-FC25-00D2C8703C59}"/>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17826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12F1-D9BF-3CDA-C5ED-69D8B8E89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5119F-7523-2A60-4A61-0B4AC1BA6871}"/>
              </a:ext>
            </a:extLst>
          </p:cNvPr>
          <p:cNvSpPr>
            <a:spLocks noGrp="1"/>
          </p:cNvSpPr>
          <p:nvPr>
            <p:ph type="ctrTitle"/>
          </p:nvPr>
        </p:nvSpPr>
        <p:spPr/>
        <p:txBody>
          <a:bodyPr/>
          <a:lstStyle/>
          <a:p>
            <a:r>
              <a:rPr lang="en-US" dirty="0"/>
              <a:t>Conjoint Overview, Continued</a:t>
            </a:r>
          </a:p>
        </p:txBody>
      </p:sp>
      <p:sp>
        <p:nvSpPr>
          <p:cNvPr id="4" name="Text Placeholder 3">
            <a:extLst>
              <a:ext uri="{FF2B5EF4-FFF2-40B4-BE49-F238E27FC236}">
                <a16:creationId xmlns:a16="http://schemas.microsoft.com/office/drawing/2014/main" id="{1F936BE7-D685-4A6A-C825-C9B68AF79669}"/>
              </a:ext>
            </a:extLst>
          </p:cNvPr>
          <p:cNvSpPr>
            <a:spLocks noGrp="1"/>
          </p:cNvSpPr>
          <p:nvPr>
            <p:ph type="body" sz="quarter" idx="14"/>
          </p:nvPr>
        </p:nvSpPr>
        <p:spPr>
          <a:xfrm>
            <a:off x="1828800" y="1491343"/>
            <a:ext cx="8755380" cy="3837583"/>
          </a:xfrm>
        </p:spPr>
        <p:txBody>
          <a:bodyPr>
            <a:normAutofit/>
          </a:bodyPr>
          <a:lstStyle/>
          <a:p>
            <a:r>
              <a:rPr lang="en-US" sz="2400" dirty="0"/>
              <a:t>With data on choices, we let software to estimate preferences</a:t>
            </a:r>
          </a:p>
          <a:p>
            <a:endParaRPr lang="en-US" sz="2400" dirty="0"/>
          </a:p>
          <a:p>
            <a:r>
              <a:rPr lang="en-US" sz="2400" dirty="0"/>
              <a:t>This can help us:</a:t>
            </a:r>
          </a:p>
          <a:p>
            <a:pPr lvl="1"/>
            <a:r>
              <a:rPr lang="en-US" sz="2400" dirty="0"/>
              <a:t>Understand how much consumers value different attributes</a:t>
            </a:r>
          </a:p>
          <a:p>
            <a:pPr lvl="1"/>
            <a:r>
              <a:rPr lang="en-US" sz="2400" dirty="0"/>
              <a:t>Prioritize features in the development process</a:t>
            </a:r>
          </a:p>
          <a:p>
            <a:pPr lvl="1"/>
            <a:r>
              <a:rPr lang="en-US" sz="2400" dirty="0"/>
              <a:t>Understand how to price our offering</a:t>
            </a:r>
          </a:p>
          <a:p>
            <a:pPr lvl="1"/>
            <a:r>
              <a:rPr lang="en-US" sz="2400" dirty="0"/>
              <a:t>Understand how to segment our customers</a:t>
            </a:r>
          </a:p>
          <a:p>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FCA9C578-1C09-555C-97A4-7D160C65B9B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242D6AC0-6753-B87F-F86A-CAFB16D4AEAD}"/>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2160158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8482-97A7-B004-A3F8-4FC834536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1A3F0-98A7-FAEB-2958-0A175E9F51C4}"/>
              </a:ext>
            </a:extLst>
          </p:cNvPr>
          <p:cNvSpPr>
            <a:spLocks noGrp="1"/>
          </p:cNvSpPr>
          <p:nvPr>
            <p:ph type="ctrTitle"/>
          </p:nvPr>
        </p:nvSpPr>
        <p:spPr/>
        <p:txBody>
          <a:bodyPr/>
          <a:lstStyle/>
          <a:p>
            <a:r>
              <a:rPr lang="en-US" dirty="0"/>
              <a:t>Mechanics of Running a Conjoint</a:t>
            </a:r>
          </a:p>
        </p:txBody>
      </p:sp>
      <p:sp>
        <p:nvSpPr>
          <p:cNvPr id="4" name="Text Placeholder 3">
            <a:extLst>
              <a:ext uri="{FF2B5EF4-FFF2-40B4-BE49-F238E27FC236}">
                <a16:creationId xmlns:a16="http://schemas.microsoft.com/office/drawing/2014/main" id="{AFD1D240-AA4D-39DA-2C1D-3D1D44DD41C5}"/>
              </a:ext>
            </a:extLst>
          </p:cNvPr>
          <p:cNvSpPr>
            <a:spLocks noGrp="1"/>
          </p:cNvSpPr>
          <p:nvPr>
            <p:ph type="body" sz="quarter" idx="14"/>
          </p:nvPr>
        </p:nvSpPr>
        <p:spPr>
          <a:xfrm>
            <a:off x="1828800" y="1491343"/>
            <a:ext cx="8755380" cy="4066775"/>
          </a:xfrm>
        </p:spPr>
        <p:txBody>
          <a:bodyPr>
            <a:normAutofit fontScale="92500" lnSpcReduction="10000"/>
          </a:bodyPr>
          <a:lstStyle/>
          <a:p>
            <a:r>
              <a:rPr lang="en-US" sz="2400" dirty="0"/>
              <a:t>Use online software that offers “Choice Based Conjoint”</a:t>
            </a:r>
          </a:p>
          <a:p>
            <a:pPr lvl="1"/>
            <a:r>
              <a:rPr lang="en-US" sz="2400" dirty="0"/>
              <a:t>Sawtooth is a good option with a free tier</a:t>
            </a:r>
          </a:p>
          <a:p>
            <a:pPr lvl="1"/>
            <a:r>
              <a:rPr lang="en-US" sz="2400" dirty="0"/>
              <a:t>Conjointly also good but expensive</a:t>
            </a:r>
          </a:p>
          <a:p>
            <a:pPr lvl="1"/>
            <a:r>
              <a:rPr lang="en-US" sz="2400" dirty="0"/>
              <a:t>I have been told Qualtrics conjoint is not great</a:t>
            </a:r>
          </a:p>
          <a:p>
            <a:endParaRPr lang="en-US" sz="2400" dirty="0"/>
          </a:p>
          <a:p>
            <a:r>
              <a:rPr lang="en-US" sz="2400" dirty="0"/>
              <a:t>Specify product features and levels (important to include price)</a:t>
            </a:r>
          </a:p>
          <a:p>
            <a:endParaRPr lang="en-US" sz="2400" dirty="0"/>
          </a:p>
          <a:p>
            <a:r>
              <a:rPr lang="en-US" sz="2400" dirty="0"/>
              <a:t>Software automates randomization and data collection</a:t>
            </a:r>
          </a:p>
          <a:p>
            <a:endParaRPr lang="en-US" sz="2400" dirty="0"/>
          </a:p>
          <a:p>
            <a:r>
              <a:rPr lang="en-US" sz="2400" dirty="0"/>
              <a:t>Recruit survey participants (or use LLMs)</a:t>
            </a:r>
          </a:p>
          <a:p>
            <a:endParaRPr lang="en-US" sz="2400" dirty="0"/>
          </a:p>
          <a:p>
            <a:r>
              <a:rPr lang="en-US" sz="2400" dirty="0"/>
              <a:t>Software analyzes results</a:t>
            </a:r>
          </a:p>
          <a:p>
            <a:endParaRPr lang="en-US" sz="2400" dirty="0"/>
          </a:p>
          <a:p>
            <a:endParaRPr lang="en-US" sz="2400" dirty="0"/>
          </a:p>
        </p:txBody>
      </p:sp>
      <p:sp>
        <p:nvSpPr>
          <p:cNvPr id="5" name="Date Placeholder 4">
            <a:extLst>
              <a:ext uri="{FF2B5EF4-FFF2-40B4-BE49-F238E27FC236}">
                <a16:creationId xmlns:a16="http://schemas.microsoft.com/office/drawing/2014/main" id="{D1140A5F-0ACD-E190-D422-907266AB1988}"/>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BC703713-53E4-A3D6-9C09-4A6463DFF7FC}"/>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379745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5A68-0D7C-8A93-CBDA-51059EF21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008BB-18C3-8207-E11D-0E4E1ADE4E45}"/>
              </a:ext>
            </a:extLst>
          </p:cNvPr>
          <p:cNvSpPr>
            <a:spLocks noGrp="1"/>
          </p:cNvSpPr>
          <p:nvPr>
            <p:ph type="ctrTitle"/>
          </p:nvPr>
        </p:nvSpPr>
        <p:spPr/>
        <p:txBody>
          <a:bodyPr/>
          <a:lstStyle/>
          <a:p>
            <a:r>
              <a:rPr lang="en-US" dirty="0"/>
              <a:t>Participants Consider Several Bundles of Features</a:t>
            </a:r>
          </a:p>
        </p:txBody>
      </p:sp>
      <p:pic>
        <p:nvPicPr>
          <p:cNvPr id="9" name="Picture 8" descr="Illustration comparing two cars to show a tradeoff between power and fuel economy. The green car has 210 horsepower and gets 17 miles per gallon, while the red car has 140 horsepower and gets 28 miles per gallon.">
            <a:extLst>
              <a:ext uri="{FF2B5EF4-FFF2-40B4-BE49-F238E27FC236}">
                <a16:creationId xmlns:a16="http://schemas.microsoft.com/office/drawing/2014/main" id="{C035BEAB-000F-1D73-0801-132B51F08D45}"/>
              </a:ext>
            </a:extLst>
          </p:cNvPr>
          <p:cNvPicPr>
            <a:picLocks noChangeAspect="1"/>
          </p:cNvPicPr>
          <p:nvPr/>
        </p:nvPicPr>
        <p:blipFill>
          <a:blip r:embed="rId3"/>
          <a:stretch>
            <a:fillRect/>
          </a:stretch>
        </p:blipFill>
        <p:spPr>
          <a:xfrm>
            <a:off x="3023571" y="1025575"/>
            <a:ext cx="6144858" cy="3794092"/>
          </a:xfrm>
          <a:prstGeom prst="rect">
            <a:avLst/>
          </a:prstGeom>
        </p:spPr>
      </p:pic>
      <p:sp>
        <p:nvSpPr>
          <p:cNvPr id="4" name="TextBox 3">
            <a:extLst>
              <a:ext uri="{FF2B5EF4-FFF2-40B4-BE49-F238E27FC236}">
                <a16:creationId xmlns:a16="http://schemas.microsoft.com/office/drawing/2014/main" id="{7E3A853F-AAA0-7A6D-0C93-C1287C31C28C}"/>
              </a:ext>
            </a:extLst>
          </p:cNvPr>
          <p:cNvSpPr txBox="1"/>
          <p:nvPr/>
        </p:nvSpPr>
        <p:spPr>
          <a:xfrm>
            <a:off x="1505352" y="5062471"/>
            <a:ext cx="9181296" cy="461665"/>
          </a:xfrm>
          <a:prstGeom prst="rect">
            <a:avLst/>
          </a:prstGeom>
          <a:noFill/>
        </p:spPr>
        <p:txBody>
          <a:bodyPr wrap="none" rtlCol="0">
            <a:spAutoFit/>
          </a:bodyPr>
          <a:lstStyle/>
          <a:p>
            <a:r>
              <a:rPr lang="en-US" sz="2400" dirty="0"/>
              <a:t>When respondents make difficult tradeoffs, we learn what they value!</a:t>
            </a:r>
          </a:p>
        </p:txBody>
      </p:sp>
      <p:sp>
        <p:nvSpPr>
          <p:cNvPr id="7" name="TextBox 6">
            <a:extLst>
              <a:ext uri="{FF2B5EF4-FFF2-40B4-BE49-F238E27FC236}">
                <a16:creationId xmlns:a16="http://schemas.microsoft.com/office/drawing/2014/main" id="{95ACD71B-CA7A-BA28-6CE3-D6E5EF89012A}"/>
              </a:ext>
            </a:extLst>
          </p:cNvPr>
          <p:cNvSpPr txBox="1"/>
          <p:nvPr/>
        </p:nvSpPr>
        <p:spPr>
          <a:xfrm>
            <a:off x="5640779" y="5711481"/>
            <a:ext cx="2804101" cy="369332"/>
          </a:xfrm>
          <a:prstGeom prst="rect">
            <a:avLst/>
          </a:prstGeom>
          <a:noFill/>
        </p:spPr>
        <p:txBody>
          <a:bodyPr wrap="none" rtlCol="0">
            <a:spAutoFit/>
          </a:bodyPr>
          <a:lstStyle/>
          <a:p>
            <a:r>
              <a:rPr lang="en-US" dirty="0"/>
              <a:t>Source: Sawtooth Software</a:t>
            </a:r>
          </a:p>
        </p:txBody>
      </p:sp>
      <p:sp>
        <p:nvSpPr>
          <p:cNvPr id="5" name="Date Placeholder 4">
            <a:extLst>
              <a:ext uri="{FF2B5EF4-FFF2-40B4-BE49-F238E27FC236}">
                <a16:creationId xmlns:a16="http://schemas.microsoft.com/office/drawing/2014/main" id="{F019A30C-6AE0-C93A-5BAD-88360410C0C7}"/>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DD34AE6B-312E-416E-7004-AB7413FF0529}"/>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1666440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0A96-150D-A8DC-93F5-1F14FC3A5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67B04-C9CA-1A1D-CC53-A0F628A6CEBC}"/>
              </a:ext>
            </a:extLst>
          </p:cNvPr>
          <p:cNvSpPr>
            <a:spLocks noGrp="1"/>
          </p:cNvSpPr>
          <p:nvPr>
            <p:ph type="ctrTitle"/>
          </p:nvPr>
        </p:nvSpPr>
        <p:spPr/>
        <p:txBody>
          <a:bodyPr/>
          <a:lstStyle/>
          <a:p>
            <a:r>
              <a:rPr lang="en-US" dirty="0"/>
              <a:t>Running a Conjoint using Sawtooth</a:t>
            </a:r>
          </a:p>
        </p:txBody>
      </p:sp>
      <p:pic>
        <p:nvPicPr>
          <p:cNvPr id="11" name="Picture 10" descr="Screenshot of the Sawtooth Software Discover login page">
            <a:extLst>
              <a:ext uri="{FF2B5EF4-FFF2-40B4-BE49-F238E27FC236}">
                <a16:creationId xmlns:a16="http://schemas.microsoft.com/office/drawing/2014/main" id="{B1E2A45E-4438-20CA-14B9-4CBADB7F111C}"/>
              </a:ext>
            </a:extLst>
          </p:cNvPr>
          <p:cNvPicPr>
            <a:picLocks noChangeAspect="1"/>
          </p:cNvPicPr>
          <p:nvPr/>
        </p:nvPicPr>
        <p:blipFill>
          <a:blip r:embed="rId3"/>
          <a:stretch>
            <a:fillRect/>
          </a:stretch>
        </p:blipFill>
        <p:spPr>
          <a:xfrm>
            <a:off x="3196521" y="1245334"/>
            <a:ext cx="6240672" cy="4367331"/>
          </a:xfrm>
          <a:prstGeom prst="rect">
            <a:avLst/>
          </a:prstGeom>
        </p:spPr>
      </p:pic>
      <p:sp>
        <p:nvSpPr>
          <p:cNvPr id="5" name="Date Placeholder 4">
            <a:extLst>
              <a:ext uri="{FF2B5EF4-FFF2-40B4-BE49-F238E27FC236}">
                <a16:creationId xmlns:a16="http://schemas.microsoft.com/office/drawing/2014/main" id="{36CAE7C7-F340-EE1A-9D8C-402B19ABF61A}"/>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787FAFDE-E887-C181-CA25-459B95E9718B}"/>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197712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7B137-EBBA-0E0E-B6DC-D87259FCA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D883A-D61B-CF97-2364-5F9DA153DD40}"/>
              </a:ext>
            </a:extLst>
          </p:cNvPr>
          <p:cNvSpPr>
            <a:spLocks noGrp="1"/>
          </p:cNvSpPr>
          <p:nvPr>
            <p:ph type="ctrTitle"/>
          </p:nvPr>
        </p:nvSpPr>
        <p:spPr/>
        <p:txBody>
          <a:bodyPr/>
          <a:lstStyle/>
          <a:p>
            <a:r>
              <a:rPr lang="en-US" dirty="0"/>
              <a:t>Add Choice Based Conjoint (CBC) Question</a:t>
            </a:r>
          </a:p>
        </p:txBody>
      </p:sp>
      <p:pic>
        <p:nvPicPr>
          <p:cNvPr id="4" name="Picture 3" descr="Screenshot of the Sawtooth Discover survey builder showing a project titled “MIT Survey” with a left menu (Questions, Settings, Images, Survey Data) and top buttons for Add Question, Test Survey, and Invite Others. This is the screen where you add a Choice-Based Conjoint (CBC) question.">
            <a:extLst>
              <a:ext uri="{FF2B5EF4-FFF2-40B4-BE49-F238E27FC236}">
                <a16:creationId xmlns:a16="http://schemas.microsoft.com/office/drawing/2014/main" id="{B3C8B9F6-5FDD-3DCB-0309-8AA09564853F}"/>
              </a:ext>
            </a:extLst>
          </p:cNvPr>
          <p:cNvPicPr>
            <a:picLocks noChangeAspect="1"/>
          </p:cNvPicPr>
          <p:nvPr/>
        </p:nvPicPr>
        <p:blipFill>
          <a:blip r:embed="rId3"/>
          <a:stretch>
            <a:fillRect/>
          </a:stretch>
        </p:blipFill>
        <p:spPr>
          <a:xfrm>
            <a:off x="3206338" y="1161055"/>
            <a:ext cx="6431478" cy="4550426"/>
          </a:xfrm>
          <a:prstGeom prst="rect">
            <a:avLst/>
          </a:prstGeom>
        </p:spPr>
      </p:pic>
      <p:sp>
        <p:nvSpPr>
          <p:cNvPr id="5" name="Date Placeholder 4">
            <a:extLst>
              <a:ext uri="{FF2B5EF4-FFF2-40B4-BE49-F238E27FC236}">
                <a16:creationId xmlns:a16="http://schemas.microsoft.com/office/drawing/2014/main" id="{F9B95E40-8B6A-F9FF-9271-1EEC27B85F05}"/>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6BC43493-234F-31F7-84CB-1EBE197AF68C}"/>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28350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9311D-5B00-13CF-4214-B67991AD9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B92CB-CBC6-521C-3F3E-7659E707C6FA}"/>
              </a:ext>
            </a:extLst>
          </p:cNvPr>
          <p:cNvSpPr>
            <a:spLocks noGrp="1"/>
          </p:cNvSpPr>
          <p:nvPr>
            <p:ph type="ctrTitle"/>
          </p:nvPr>
        </p:nvSpPr>
        <p:spPr/>
        <p:txBody>
          <a:bodyPr/>
          <a:lstStyle/>
          <a:p>
            <a:r>
              <a:rPr lang="en-US" dirty="0"/>
              <a:t>Sample Survey</a:t>
            </a:r>
          </a:p>
        </p:txBody>
      </p:sp>
      <p:pic>
        <p:nvPicPr>
          <p:cNvPr id="9" name="Picture 8" descr="Screenshot of a sample conjoint survey question asking respondents to choose between different camera models. Each option lists features such as resolution (in megapixels), DSLR lens availability, and price, along with a “None: I wouldn’t choose any of these” option. A progress bar at the bottom shows completion from 0% to 100%.">
            <a:extLst>
              <a:ext uri="{FF2B5EF4-FFF2-40B4-BE49-F238E27FC236}">
                <a16:creationId xmlns:a16="http://schemas.microsoft.com/office/drawing/2014/main" id="{D2B79B8D-4EAD-0216-DF75-88F99BE7586F}"/>
              </a:ext>
            </a:extLst>
          </p:cNvPr>
          <p:cNvPicPr>
            <a:picLocks noChangeAspect="1"/>
          </p:cNvPicPr>
          <p:nvPr/>
        </p:nvPicPr>
        <p:blipFill>
          <a:blip r:embed="rId3"/>
          <a:stretch>
            <a:fillRect/>
          </a:stretch>
        </p:blipFill>
        <p:spPr>
          <a:xfrm>
            <a:off x="2209800" y="1325979"/>
            <a:ext cx="7772400" cy="3495384"/>
          </a:xfrm>
          <a:prstGeom prst="rect">
            <a:avLst/>
          </a:prstGeom>
        </p:spPr>
      </p:pic>
      <p:sp>
        <p:nvSpPr>
          <p:cNvPr id="5" name="Date Placeholder 4">
            <a:extLst>
              <a:ext uri="{FF2B5EF4-FFF2-40B4-BE49-F238E27FC236}">
                <a16:creationId xmlns:a16="http://schemas.microsoft.com/office/drawing/2014/main" id="{57C1A724-7219-1DA5-76ED-716F0A8F54DC}"/>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8118D3DC-4247-45C2-6EA8-9606F2ED9526}"/>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690379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3F56-78B6-8626-3C49-57803520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2505C-834E-6613-CE2C-3FA2AC21311F}"/>
              </a:ext>
            </a:extLst>
          </p:cNvPr>
          <p:cNvSpPr>
            <a:spLocks noGrp="1"/>
          </p:cNvSpPr>
          <p:nvPr>
            <p:ph type="ctrTitle"/>
          </p:nvPr>
        </p:nvSpPr>
        <p:spPr/>
        <p:txBody>
          <a:bodyPr/>
          <a:lstStyle/>
          <a:p>
            <a:r>
              <a:rPr lang="en-US" dirty="0"/>
              <a:t>Utility Analysis</a:t>
            </a:r>
          </a:p>
        </p:txBody>
      </p:sp>
      <p:pic>
        <p:nvPicPr>
          <p:cNvPr id="4" name="Picture 3" descr="Screenshot of a conjoint analysis Utilities Report for 63 respondents. The table displays part-worth utilities for different camera attributes—Resolution (12, 16, 20 megapixels), DSLR Lens (Yes/No), Price ($200, $400, $600), and None—along with their standard deviations and 95% confidence intervals.">
            <a:extLst>
              <a:ext uri="{FF2B5EF4-FFF2-40B4-BE49-F238E27FC236}">
                <a16:creationId xmlns:a16="http://schemas.microsoft.com/office/drawing/2014/main" id="{E1BE69AF-A16D-3023-0893-87B92D3808F1}"/>
              </a:ext>
            </a:extLst>
          </p:cNvPr>
          <p:cNvPicPr>
            <a:picLocks noChangeAspect="1"/>
          </p:cNvPicPr>
          <p:nvPr/>
        </p:nvPicPr>
        <p:blipFill>
          <a:blip r:embed="rId3"/>
          <a:stretch>
            <a:fillRect/>
          </a:stretch>
        </p:blipFill>
        <p:spPr>
          <a:xfrm>
            <a:off x="2497470" y="952912"/>
            <a:ext cx="7275922" cy="4741611"/>
          </a:xfrm>
          <a:prstGeom prst="rect">
            <a:avLst/>
          </a:prstGeom>
        </p:spPr>
      </p:pic>
      <p:sp>
        <p:nvSpPr>
          <p:cNvPr id="5" name="Date Placeholder 4">
            <a:extLst>
              <a:ext uri="{FF2B5EF4-FFF2-40B4-BE49-F238E27FC236}">
                <a16:creationId xmlns:a16="http://schemas.microsoft.com/office/drawing/2014/main" id="{B477B312-D50C-D8B6-C0E6-3F758135B4DD}"/>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21C3560F-0DE3-5431-4516-2962A0BE4514}"/>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1731623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4287-1C49-5502-C6E8-2EDE829A9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3247B-1F64-8C84-C2DF-4DC302632E31}"/>
              </a:ext>
            </a:extLst>
          </p:cNvPr>
          <p:cNvSpPr>
            <a:spLocks noGrp="1"/>
          </p:cNvSpPr>
          <p:nvPr>
            <p:ph type="ctrTitle"/>
          </p:nvPr>
        </p:nvSpPr>
        <p:spPr/>
        <p:txBody>
          <a:bodyPr/>
          <a:lstStyle/>
          <a:p>
            <a:r>
              <a:rPr lang="en-US" dirty="0"/>
              <a:t>Calculating Dollar Value of Features</a:t>
            </a:r>
          </a:p>
        </p:txBody>
      </p:sp>
      <p:sp>
        <p:nvSpPr>
          <p:cNvPr id="8" name="Text Placeholder 3">
            <a:extLst>
              <a:ext uri="{FF2B5EF4-FFF2-40B4-BE49-F238E27FC236}">
                <a16:creationId xmlns:a16="http://schemas.microsoft.com/office/drawing/2014/main" id="{AE03831A-1915-DE19-4569-26EA5D481323}"/>
              </a:ext>
            </a:extLst>
          </p:cNvPr>
          <p:cNvSpPr>
            <a:spLocks noGrp="1"/>
          </p:cNvSpPr>
          <p:nvPr>
            <p:ph type="body" sz="quarter" idx="14"/>
          </p:nvPr>
        </p:nvSpPr>
        <p:spPr>
          <a:xfrm>
            <a:off x="1828800" y="1365662"/>
            <a:ext cx="8755380" cy="4192456"/>
          </a:xfrm>
        </p:spPr>
        <p:txBody>
          <a:bodyPr>
            <a:normAutofit/>
          </a:bodyPr>
          <a:lstStyle/>
          <a:p>
            <a:r>
              <a:rPr lang="en-US" sz="2400" dirty="0"/>
              <a:t>Must have price as an attribute in the conjoint</a:t>
            </a:r>
          </a:p>
          <a:p>
            <a:endParaRPr lang="en-US" sz="2400" dirty="0"/>
          </a:p>
          <a:p>
            <a:r>
              <a:rPr lang="en-US" sz="2400" dirty="0"/>
              <a:t>Calculate the dollar value of a util</a:t>
            </a:r>
          </a:p>
          <a:p>
            <a:endParaRPr lang="en-US" sz="2400" dirty="0"/>
          </a:p>
          <a:p>
            <a:r>
              <a:rPr lang="en-US" sz="2400" dirty="0"/>
              <a:t>Calculate the (relative) dollar value of features</a:t>
            </a:r>
          </a:p>
          <a:p>
            <a:pPr lvl="1"/>
            <a:r>
              <a:rPr lang="en-US" sz="2400" dirty="0"/>
              <a:t>If feature is color: green or red we can calculate dollar value of red relative to green, not the dollar value of a color</a:t>
            </a:r>
          </a:p>
          <a:p>
            <a:pPr lvl="1"/>
            <a:r>
              <a:rPr lang="en-US" sz="2400" dirty="0"/>
              <a:t>If feature is present / not present, then we can calculate dollar value of feature</a:t>
            </a:r>
          </a:p>
        </p:txBody>
      </p:sp>
      <p:sp>
        <p:nvSpPr>
          <p:cNvPr id="5" name="Date Placeholder 4">
            <a:extLst>
              <a:ext uri="{FF2B5EF4-FFF2-40B4-BE49-F238E27FC236}">
                <a16:creationId xmlns:a16="http://schemas.microsoft.com/office/drawing/2014/main" id="{09CCFC6B-1E92-08C5-A61E-2738546F2E1A}"/>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6A77AEB3-ACA8-4C85-683D-DDBBFCA841A7}"/>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93892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34BC5-0113-37AF-46CE-7C8C17FAE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2BD38-4550-D8B0-9D71-6CF66386505F}"/>
              </a:ext>
            </a:extLst>
          </p:cNvPr>
          <p:cNvSpPr>
            <a:spLocks noGrp="1"/>
          </p:cNvSpPr>
          <p:nvPr>
            <p:ph type="ctrTitle"/>
          </p:nvPr>
        </p:nvSpPr>
        <p:spPr/>
        <p:txBody>
          <a:bodyPr/>
          <a:lstStyle/>
          <a:p>
            <a:r>
              <a:rPr lang="en-US" dirty="0"/>
              <a:t>Calculating the Dollar-Value of a “Util”</a:t>
            </a:r>
          </a:p>
        </p:txBody>
      </p:sp>
      <p:pic>
        <p:nvPicPr>
          <p:cNvPr id="7" name="Picture 6" descr="Table from a conjoint analysis showing price levels with corresponding utilities.">
            <a:extLst>
              <a:ext uri="{FF2B5EF4-FFF2-40B4-BE49-F238E27FC236}">
                <a16:creationId xmlns:a16="http://schemas.microsoft.com/office/drawing/2014/main" id="{9178619B-987C-9E44-5AF8-889EA1E1B65B}"/>
              </a:ext>
            </a:extLst>
          </p:cNvPr>
          <p:cNvPicPr>
            <a:picLocks noChangeAspect="1"/>
          </p:cNvPicPr>
          <p:nvPr/>
        </p:nvPicPr>
        <p:blipFill>
          <a:blip r:embed="rId3"/>
          <a:stretch>
            <a:fillRect/>
          </a:stretch>
        </p:blipFill>
        <p:spPr>
          <a:xfrm>
            <a:off x="1984169" y="955179"/>
            <a:ext cx="7772400" cy="1266289"/>
          </a:xfrm>
          <a:prstGeom prst="rect">
            <a:avLst/>
          </a:prstGeom>
        </p:spPr>
      </p:pic>
      <p:sp>
        <p:nvSpPr>
          <p:cNvPr id="5" name="Date Placeholder 4">
            <a:extLst>
              <a:ext uri="{FF2B5EF4-FFF2-40B4-BE49-F238E27FC236}">
                <a16:creationId xmlns:a16="http://schemas.microsoft.com/office/drawing/2014/main" id="{DA5F3F5C-AA61-A5B2-2DFB-B5FBEA5C845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8" name="Text Placeholder 3">
            <a:extLst>
              <a:ext uri="{FF2B5EF4-FFF2-40B4-BE49-F238E27FC236}">
                <a16:creationId xmlns:a16="http://schemas.microsoft.com/office/drawing/2014/main" id="{96FAB81F-F39F-6AAC-B1EC-A77A175CEE4F}"/>
              </a:ext>
            </a:extLst>
          </p:cNvPr>
          <p:cNvSpPr>
            <a:spLocks noGrp="1"/>
          </p:cNvSpPr>
          <p:nvPr>
            <p:ph type="body" sz="quarter" idx="14"/>
          </p:nvPr>
        </p:nvSpPr>
        <p:spPr>
          <a:xfrm>
            <a:off x="1828800" y="2407218"/>
            <a:ext cx="8755380" cy="3150900"/>
          </a:xfrm>
        </p:spPr>
        <p:txBody>
          <a:bodyPr>
            <a:normAutofit/>
          </a:bodyPr>
          <a:lstStyle/>
          <a:p>
            <a:r>
              <a:rPr lang="en-US" sz="2400" dirty="0"/>
              <a:t>First focus on the Price attribute</a:t>
            </a:r>
          </a:p>
          <a:p>
            <a:endParaRPr lang="en-US" sz="2400" dirty="0"/>
          </a:p>
          <a:p>
            <a:r>
              <a:rPr lang="en-US" sz="2400" dirty="0"/>
              <a:t>Changing price from $600 to $200 increases utility by 104.5 utils</a:t>
            </a:r>
          </a:p>
          <a:p>
            <a:endParaRPr lang="en-US" sz="2400" dirty="0"/>
          </a:p>
          <a:p>
            <a:r>
              <a:rPr lang="en-US" sz="2400" dirty="0"/>
              <a:t>$400 off price increases utility by 104.5</a:t>
            </a:r>
          </a:p>
          <a:p>
            <a:pPr lvl="1"/>
            <a:r>
              <a:rPr lang="en-US" sz="2400" dirty="0"/>
              <a:t>$1 = 0.26 utils</a:t>
            </a:r>
          </a:p>
          <a:p>
            <a:pPr lvl="1"/>
            <a:r>
              <a:rPr lang="en-US" sz="2400" dirty="0"/>
              <a:t>1 util = $3.85</a:t>
            </a:r>
          </a:p>
        </p:txBody>
      </p:sp>
      <p:sp>
        <p:nvSpPr>
          <p:cNvPr id="6" name="Slide Number Placeholder 5">
            <a:extLst>
              <a:ext uri="{FF2B5EF4-FFF2-40B4-BE49-F238E27FC236}">
                <a16:creationId xmlns:a16="http://schemas.microsoft.com/office/drawing/2014/main" id="{56C89C49-1588-CEE6-A0F1-D65A893146D4}"/>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76294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6F24-E189-EC69-45D9-B1DA26FF6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EABD3-B493-A9BF-21D0-50E71AF17631}"/>
              </a:ext>
            </a:extLst>
          </p:cNvPr>
          <p:cNvSpPr>
            <a:spLocks noGrp="1"/>
          </p:cNvSpPr>
          <p:nvPr>
            <p:ph type="ctrTitle"/>
          </p:nvPr>
        </p:nvSpPr>
        <p:spPr/>
        <p:txBody>
          <a:bodyPr/>
          <a:lstStyle/>
          <a:p>
            <a:r>
              <a:rPr lang="en-US" dirty="0"/>
              <a:t>Calculating the Dollar-Value of DSLR Feature</a:t>
            </a:r>
          </a:p>
        </p:txBody>
      </p:sp>
      <p:pic>
        <p:nvPicPr>
          <p:cNvPr id="4" name="Picture 3" descr="Table showing conjoint utilities for the DSLR Lens feature, where “Yes” has a utility of 63.55 and “No” has –63.55.">
            <a:extLst>
              <a:ext uri="{FF2B5EF4-FFF2-40B4-BE49-F238E27FC236}">
                <a16:creationId xmlns:a16="http://schemas.microsoft.com/office/drawing/2014/main" id="{E8410C8D-38FC-6A61-9998-2840F4E7356D}"/>
              </a:ext>
            </a:extLst>
          </p:cNvPr>
          <p:cNvPicPr>
            <a:picLocks noChangeAspect="1"/>
          </p:cNvPicPr>
          <p:nvPr/>
        </p:nvPicPr>
        <p:blipFill>
          <a:blip r:embed="rId3"/>
          <a:stretch>
            <a:fillRect/>
          </a:stretch>
        </p:blipFill>
        <p:spPr>
          <a:xfrm>
            <a:off x="2209800" y="925535"/>
            <a:ext cx="7772400" cy="1013031"/>
          </a:xfrm>
          <a:prstGeom prst="rect">
            <a:avLst/>
          </a:prstGeom>
        </p:spPr>
      </p:pic>
      <p:sp>
        <p:nvSpPr>
          <p:cNvPr id="8" name="Text Placeholder 3">
            <a:extLst>
              <a:ext uri="{FF2B5EF4-FFF2-40B4-BE49-F238E27FC236}">
                <a16:creationId xmlns:a16="http://schemas.microsoft.com/office/drawing/2014/main" id="{B5E0B1CE-522F-558F-0CFA-23C44BA46C28}"/>
              </a:ext>
            </a:extLst>
          </p:cNvPr>
          <p:cNvSpPr>
            <a:spLocks noGrp="1"/>
          </p:cNvSpPr>
          <p:nvPr>
            <p:ph type="body" sz="quarter" idx="14"/>
          </p:nvPr>
        </p:nvSpPr>
        <p:spPr>
          <a:xfrm>
            <a:off x="1828800" y="2407218"/>
            <a:ext cx="8755380" cy="3150900"/>
          </a:xfrm>
        </p:spPr>
        <p:txBody>
          <a:bodyPr>
            <a:normAutofit/>
          </a:bodyPr>
          <a:lstStyle/>
          <a:p>
            <a:r>
              <a:rPr lang="en-US" sz="2400" dirty="0"/>
              <a:t>We know 1util=$3.85</a:t>
            </a:r>
          </a:p>
          <a:p>
            <a:endParaRPr lang="en-US" sz="2400" dirty="0"/>
          </a:p>
          <a:p>
            <a:r>
              <a:rPr lang="en-US" sz="2400" dirty="0"/>
              <a:t>Adding SLR increases utility by 127 utils</a:t>
            </a:r>
          </a:p>
          <a:p>
            <a:endParaRPr lang="en-US" sz="2400" dirty="0"/>
          </a:p>
          <a:p>
            <a:r>
              <a:rPr lang="en-US" sz="2400" dirty="0"/>
              <a:t>127 utils * 3.85 dollars per util = $488 for SLR</a:t>
            </a:r>
          </a:p>
        </p:txBody>
      </p:sp>
      <p:sp>
        <p:nvSpPr>
          <p:cNvPr id="5" name="Date Placeholder 4">
            <a:extLst>
              <a:ext uri="{FF2B5EF4-FFF2-40B4-BE49-F238E27FC236}">
                <a16:creationId xmlns:a16="http://schemas.microsoft.com/office/drawing/2014/main" id="{7E2B9271-4A06-3421-E078-DAE5A883B85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8B493DC2-44F1-5F59-45F5-14D0A79DF8BA}"/>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156553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9FF3A-7502-DD38-BD36-5D9F8B34B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DA3E6-6429-26DF-CB83-71791F00239D}"/>
              </a:ext>
            </a:extLst>
          </p:cNvPr>
          <p:cNvSpPr>
            <a:spLocks noGrp="1"/>
          </p:cNvSpPr>
          <p:nvPr>
            <p:ph type="ctrTitle"/>
          </p:nvPr>
        </p:nvSpPr>
        <p:spPr/>
        <p:txBody>
          <a:bodyPr/>
          <a:lstStyle/>
          <a:p>
            <a:r>
              <a:rPr lang="en-US" dirty="0"/>
              <a:t>Calculating the Dollar-Value of 1MP</a:t>
            </a:r>
          </a:p>
        </p:txBody>
      </p:sp>
      <p:pic>
        <p:nvPicPr>
          <p:cNvPr id="7" name="Picture 6" descr="Table showing conjoint utilities for camera resolution levels: 12 MP (–37.09), 16 MP (5.82), and 20 MP (31.28).">
            <a:extLst>
              <a:ext uri="{FF2B5EF4-FFF2-40B4-BE49-F238E27FC236}">
                <a16:creationId xmlns:a16="http://schemas.microsoft.com/office/drawing/2014/main" id="{40D05C69-D5BB-7503-0948-F8AD69976999}"/>
              </a:ext>
            </a:extLst>
          </p:cNvPr>
          <p:cNvPicPr>
            <a:picLocks noChangeAspect="1"/>
          </p:cNvPicPr>
          <p:nvPr/>
        </p:nvPicPr>
        <p:blipFill>
          <a:blip r:embed="rId3"/>
          <a:stretch>
            <a:fillRect/>
          </a:stretch>
        </p:blipFill>
        <p:spPr>
          <a:xfrm>
            <a:off x="2320290" y="993368"/>
            <a:ext cx="7772400" cy="1189911"/>
          </a:xfrm>
          <a:prstGeom prst="rect">
            <a:avLst/>
          </a:prstGeom>
        </p:spPr>
      </p:pic>
      <p:sp>
        <p:nvSpPr>
          <p:cNvPr id="8" name="Text Placeholder 3">
            <a:extLst>
              <a:ext uri="{FF2B5EF4-FFF2-40B4-BE49-F238E27FC236}">
                <a16:creationId xmlns:a16="http://schemas.microsoft.com/office/drawing/2014/main" id="{9EE606E0-7401-307A-F7BA-794994C57122}"/>
              </a:ext>
            </a:extLst>
          </p:cNvPr>
          <p:cNvSpPr>
            <a:spLocks noGrp="1"/>
          </p:cNvSpPr>
          <p:nvPr>
            <p:ph type="body" sz="quarter" idx="14"/>
          </p:nvPr>
        </p:nvSpPr>
        <p:spPr>
          <a:xfrm>
            <a:off x="1828800" y="2407218"/>
            <a:ext cx="8755380" cy="3150900"/>
          </a:xfrm>
        </p:spPr>
        <p:txBody>
          <a:bodyPr>
            <a:normAutofit/>
          </a:bodyPr>
          <a:lstStyle/>
          <a:p>
            <a:r>
              <a:rPr lang="en-US" sz="2400" dirty="0"/>
              <a:t>We know 1util=$3.85</a:t>
            </a:r>
          </a:p>
          <a:p>
            <a:endParaRPr lang="en-US" sz="2400" dirty="0"/>
          </a:p>
          <a:p>
            <a:r>
              <a:rPr lang="en-US" sz="2400" dirty="0"/>
              <a:t>Adding 8MPs increases utility by 68 utils</a:t>
            </a:r>
          </a:p>
          <a:p>
            <a:endParaRPr lang="en-US" sz="2400" dirty="0"/>
          </a:p>
          <a:p>
            <a:r>
              <a:rPr lang="en-US" sz="2400" dirty="0"/>
              <a:t>Adding 1 MP increases utility by 68/8 = 8.5 utils</a:t>
            </a:r>
          </a:p>
          <a:p>
            <a:endParaRPr lang="en-US" sz="2400" dirty="0"/>
          </a:p>
          <a:p>
            <a:r>
              <a:rPr lang="en-US" sz="2400" dirty="0"/>
              <a:t>8.5 utils * 3.85 dollars per util = $38 per MP</a:t>
            </a:r>
          </a:p>
        </p:txBody>
      </p:sp>
      <p:sp>
        <p:nvSpPr>
          <p:cNvPr id="5" name="Date Placeholder 4">
            <a:extLst>
              <a:ext uri="{FF2B5EF4-FFF2-40B4-BE49-F238E27FC236}">
                <a16:creationId xmlns:a16="http://schemas.microsoft.com/office/drawing/2014/main" id="{54B91953-98BB-A3AB-B920-361941C165A0}"/>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860E10BD-34CF-E522-B315-BECD6224A8E0}"/>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53681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8418-F43E-351F-C72F-E0F60E342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F25BB-6F30-C47A-54E3-7C6F2ACF5100}"/>
              </a:ext>
            </a:extLst>
          </p:cNvPr>
          <p:cNvSpPr>
            <a:spLocks noGrp="1"/>
          </p:cNvSpPr>
          <p:nvPr>
            <p:ph type="ctrTitle"/>
          </p:nvPr>
        </p:nvSpPr>
        <p:spPr/>
        <p:txBody>
          <a:bodyPr/>
          <a:lstStyle/>
          <a:p>
            <a:r>
              <a:rPr lang="en-US" dirty="0"/>
              <a:t>Practice Interpreting Conjoint Results</a:t>
            </a:r>
          </a:p>
        </p:txBody>
      </p:sp>
      <p:sp>
        <p:nvSpPr>
          <p:cNvPr id="8" name="Text Placeholder 3">
            <a:extLst>
              <a:ext uri="{FF2B5EF4-FFF2-40B4-BE49-F238E27FC236}">
                <a16:creationId xmlns:a16="http://schemas.microsoft.com/office/drawing/2014/main" id="{28F99595-447C-F4D3-F066-F22155DC891A}"/>
              </a:ext>
            </a:extLst>
          </p:cNvPr>
          <p:cNvSpPr>
            <a:spLocks noGrp="1"/>
          </p:cNvSpPr>
          <p:nvPr>
            <p:ph type="body" sz="quarter" idx="14"/>
          </p:nvPr>
        </p:nvSpPr>
        <p:spPr>
          <a:xfrm>
            <a:off x="1900053" y="1751300"/>
            <a:ext cx="4441370" cy="3317186"/>
          </a:xfrm>
        </p:spPr>
        <p:txBody>
          <a:bodyPr>
            <a:normAutofit/>
          </a:bodyPr>
          <a:lstStyle/>
          <a:p>
            <a:r>
              <a:rPr lang="en-US" sz="2400" dirty="0"/>
              <a:t>Company trying to sell jogging pants subscription service</a:t>
            </a:r>
          </a:p>
          <a:p>
            <a:pPr lvl="1"/>
            <a:r>
              <a:rPr lang="en-US" sz="2400" dirty="0"/>
              <a:t>Get new athletic wear monthly</a:t>
            </a:r>
          </a:p>
          <a:p>
            <a:endParaRPr lang="en-US" sz="2400" dirty="0"/>
          </a:p>
          <a:p>
            <a:r>
              <a:rPr lang="en-US" sz="2400" dirty="0"/>
              <a:t>Calculate dollar value of a util</a:t>
            </a:r>
          </a:p>
          <a:p>
            <a:endParaRPr lang="en-US" sz="2400" dirty="0"/>
          </a:p>
          <a:p>
            <a:r>
              <a:rPr lang="en-US" sz="2400" dirty="0"/>
              <a:t>Calculate dollar value of customized fit</a:t>
            </a:r>
          </a:p>
          <a:p>
            <a:pPr marL="0" indent="0">
              <a:buNone/>
            </a:pPr>
            <a:endParaRPr lang="en-US" sz="2400" dirty="0"/>
          </a:p>
        </p:txBody>
      </p:sp>
      <p:graphicFrame>
        <p:nvGraphicFramePr>
          <p:cNvPr id="7" name="Table 6">
            <a:extLst>
              <a:ext uri="{FF2B5EF4-FFF2-40B4-BE49-F238E27FC236}">
                <a16:creationId xmlns:a16="http://schemas.microsoft.com/office/drawing/2014/main" id="{98999A62-A21B-9F09-558C-4E60562BD3DF}"/>
              </a:ext>
            </a:extLst>
          </p:cNvPr>
          <p:cNvGraphicFramePr>
            <a:graphicFrameLocks noGrp="1"/>
          </p:cNvGraphicFramePr>
          <p:nvPr>
            <p:extLst>
              <p:ext uri="{D42A27DB-BD31-4B8C-83A1-F6EECF244321}">
                <p14:modId xmlns:p14="http://schemas.microsoft.com/office/powerpoint/2010/main" val="2445386378"/>
              </p:ext>
            </p:extLst>
          </p:nvPr>
        </p:nvGraphicFramePr>
        <p:xfrm>
          <a:off x="6341423" y="1751300"/>
          <a:ext cx="4383649" cy="3725721"/>
        </p:xfrm>
        <a:graphic>
          <a:graphicData uri="http://schemas.openxmlformats.org/drawingml/2006/table">
            <a:tbl>
              <a:tblPr firstRow="1" bandRow="1">
                <a:tableStyleId>{5C22544A-7EE6-4342-B048-85BDC9FD1C3A}</a:tableStyleId>
              </a:tblPr>
              <a:tblGrid>
                <a:gridCol w="2771801">
                  <a:extLst>
                    <a:ext uri="{9D8B030D-6E8A-4147-A177-3AD203B41FA5}">
                      <a16:colId xmlns:a16="http://schemas.microsoft.com/office/drawing/2014/main" val="1398664624"/>
                    </a:ext>
                  </a:extLst>
                </a:gridCol>
                <a:gridCol w="832278">
                  <a:extLst>
                    <a:ext uri="{9D8B030D-6E8A-4147-A177-3AD203B41FA5}">
                      <a16:colId xmlns:a16="http://schemas.microsoft.com/office/drawing/2014/main" val="2117122099"/>
                    </a:ext>
                  </a:extLst>
                </a:gridCol>
                <a:gridCol w="779570">
                  <a:extLst>
                    <a:ext uri="{9D8B030D-6E8A-4147-A177-3AD203B41FA5}">
                      <a16:colId xmlns:a16="http://schemas.microsoft.com/office/drawing/2014/main" val="462059103"/>
                    </a:ext>
                  </a:extLst>
                </a:gridCol>
              </a:tblGrid>
              <a:tr h="413969">
                <a:tc>
                  <a:txBody>
                    <a:bodyPr/>
                    <a:lstStyle/>
                    <a:p>
                      <a:r>
                        <a:rPr lang="en-US" dirty="0"/>
                        <a:t>Feature</a:t>
                      </a:r>
                    </a:p>
                  </a:txBody>
                  <a:tcPr/>
                </a:tc>
                <a:tc>
                  <a:txBody>
                    <a:bodyPr/>
                    <a:lstStyle/>
                    <a:p>
                      <a:r>
                        <a:rPr lang="en-US" dirty="0"/>
                        <a:t>Level</a:t>
                      </a:r>
                    </a:p>
                  </a:txBody>
                  <a:tcPr/>
                </a:tc>
                <a:tc>
                  <a:txBody>
                    <a:bodyPr/>
                    <a:lstStyle/>
                    <a:p>
                      <a:r>
                        <a:rPr lang="en-US" dirty="0"/>
                        <a:t>Utils</a:t>
                      </a:r>
                    </a:p>
                  </a:txBody>
                  <a:tcPr/>
                </a:tc>
                <a:extLst>
                  <a:ext uri="{0D108BD9-81ED-4DB2-BD59-A6C34878D82A}">
                    <a16:rowId xmlns:a16="http://schemas.microsoft.com/office/drawing/2014/main" val="1593843512"/>
                  </a:ext>
                </a:extLst>
              </a:tr>
              <a:tr h="413969">
                <a:tc>
                  <a:txBody>
                    <a:bodyPr/>
                    <a:lstStyle/>
                    <a:p>
                      <a:r>
                        <a:rPr lang="en-US" dirty="0"/>
                        <a:t>Monthly Price</a:t>
                      </a:r>
                    </a:p>
                  </a:txBody>
                  <a:tcPr/>
                </a:tc>
                <a:tc>
                  <a:txBody>
                    <a:bodyPr/>
                    <a:lstStyle/>
                    <a:p>
                      <a:r>
                        <a:rPr lang="en-US" dirty="0"/>
                        <a:t>$100</a:t>
                      </a:r>
                    </a:p>
                  </a:txBody>
                  <a:tcPr/>
                </a:tc>
                <a:tc>
                  <a:txBody>
                    <a:bodyPr/>
                    <a:lstStyle/>
                    <a:p>
                      <a:r>
                        <a:rPr lang="en-US" dirty="0"/>
                        <a:t>200</a:t>
                      </a:r>
                    </a:p>
                  </a:txBody>
                  <a:tcPr/>
                </a:tc>
                <a:extLst>
                  <a:ext uri="{0D108BD9-81ED-4DB2-BD59-A6C34878D82A}">
                    <a16:rowId xmlns:a16="http://schemas.microsoft.com/office/drawing/2014/main" val="2239049176"/>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Monthly Price</a:t>
                      </a:r>
                    </a:p>
                  </a:txBody>
                  <a:tcPr/>
                </a:tc>
                <a:tc>
                  <a:txBody>
                    <a:bodyPr/>
                    <a:lstStyle/>
                    <a:p>
                      <a:r>
                        <a:rPr lang="en-US" dirty="0"/>
                        <a:t>$150</a:t>
                      </a:r>
                    </a:p>
                  </a:txBody>
                  <a:tcPr/>
                </a:tc>
                <a:tc>
                  <a:txBody>
                    <a:bodyPr/>
                    <a:lstStyle/>
                    <a:p>
                      <a:r>
                        <a:rPr lang="en-US" dirty="0"/>
                        <a:t>0</a:t>
                      </a:r>
                    </a:p>
                  </a:txBody>
                  <a:tcPr/>
                </a:tc>
                <a:extLst>
                  <a:ext uri="{0D108BD9-81ED-4DB2-BD59-A6C34878D82A}">
                    <a16:rowId xmlns:a16="http://schemas.microsoft.com/office/drawing/2014/main" val="3381440573"/>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Monthly Price</a:t>
                      </a:r>
                    </a:p>
                  </a:txBody>
                  <a:tcPr/>
                </a:tc>
                <a:tc>
                  <a:txBody>
                    <a:bodyPr/>
                    <a:lstStyle/>
                    <a:p>
                      <a:r>
                        <a:rPr lang="en-US" dirty="0"/>
                        <a:t>$200</a:t>
                      </a:r>
                    </a:p>
                  </a:txBody>
                  <a:tcPr/>
                </a:tc>
                <a:tc>
                  <a:txBody>
                    <a:bodyPr/>
                    <a:lstStyle/>
                    <a:p>
                      <a:r>
                        <a:rPr lang="en-US" dirty="0"/>
                        <a:t>-200</a:t>
                      </a:r>
                    </a:p>
                  </a:txBody>
                  <a:tcPr/>
                </a:tc>
                <a:extLst>
                  <a:ext uri="{0D108BD9-81ED-4DB2-BD59-A6C34878D82A}">
                    <a16:rowId xmlns:a16="http://schemas.microsoft.com/office/drawing/2014/main" val="1798407034"/>
                  </a:ext>
                </a:extLst>
              </a:tr>
              <a:tr h="413969">
                <a:tc>
                  <a:txBody>
                    <a:bodyPr/>
                    <a:lstStyle/>
                    <a:p>
                      <a:r>
                        <a:rPr lang="en-US" dirty="0"/>
                        <a:t>Customized Fit</a:t>
                      </a:r>
                    </a:p>
                  </a:txBody>
                  <a:tcPr/>
                </a:tc>
                <a:tc>
                  <a:txBody>
                    <a:bodyPr/>
                    <a:lstStyle/>
                    <a:p>
                      <a:r>
                        <a:rPr lang="en-US" dirty="0"/>
                        <a:t>Yes</a:t>
                      </a:r>
                    </a:p>
                  </a:txBody>
                  <a:tcPr/>
                </a:tc>
                <a:tc>
                  <a:txBody>
                    <a:bodyPr/>
                    <a:lstStyle/>
                    <a:p>
                      <a:r>
                        <a:rPr lang="en-US" dirty="0"/>
                        <a:t>50</a:t>
                      </a:r>
                    </a:p>
                  </a:txBody>
                  <a:tcPr/>
                </a:tc>
                <a:extLst>
                  <a:ext uri="{0D108BD9-81ED-4DB2-BD59-A6C34878D82A}">
                    <a16:rowId xmlns:a16="http://schemas.microsoft.com/office/drawing/2014/main" val="1997709782"/>
                  </a:ext>
                </a:extLst>
              </a:tr>
              <a:tr h="413969">
                <a:tc>
                  <a:txBody>
                    <a:bodyPr/>
                    <a:lstStyle/>
                    <a:p>
                      <a:r>
                        <a:rPr lang="en-US" dirty="0"/>
                        <a:t>Non-Customized Fit</a:t>
                      </a:r>
                    </a:p>
                  </a:txBody>
                  <a:tcPr/>
                </a:tc>
                <a:tc>
                  <a:txBody>
                    <a:bodyPr/>
                    <a:lstStyle/>
                    <a:p>
                      <a:r>
                        <a:rPr lang="en-US" dirty="0"/>
                        <a:t>No</a:t>
                      </a:r>
                    </a:p>
                  </a:txBody>
                  <a:tcPr/>
                </a:tc>
                <a:tc>
                  <a:txBody>
                    <a:bodyPr/>
                    <a:lstStyle/>
                    <a:p>
                      <a:r>
                        <a:rPr lang="en-US" dirty="0"/>
                        <a:t>-50</a:t>
                      </a:r>
                    </a:p>
                  </a:txBody>
                  <a:tcPr/>
                </a:tc>
                <a:extLst>
                  <a:ext uri="{0D108BD9-81ED-4DB2-BD59-A6C34878D82A}">
                    <a16:rowId xmlns:a16="http://schemas.microsoft.com/office/drawing/2014/main" val="2547229614"/>
                  </a:ext>
                </a:extLst>
              </a:tr>
              <a:tr h="413969">
                <a:tc>
                  <a:txBody>
                    <a:bodyPr/>
                    <a:lstStyle/>
                    <a:p>
                      <a:r>
                        <a:rPr lang="en-US" dirty="0"/>
                        <a:t>Number of Jogging Pants</a:t>
                      </a:r>
                    </a:p>
                  </a:txBody>
                  <a:tcPr/>
                </a:tc>
                <a:tc>
                  <a:txBody>
                    <a:bodyPr/>
                    <a:lstStyle/>
                    <a:p>
                      <a:r>
                        <a:rPr lang="en-US" dirty="0"/>
                        <a:t>1</a:t>
                      </a:r>
                    </a:p>
                  </a:txBody>
                  <a:tcPr/>
                </a:tc>
                <a:tc>
                  <a:txBody>
                    <a:bodyPr/>
                    <a:lstStyle/>
                    <a:p>
                      <a:r>
                        <a:rPr lang="en-US" dirty="0"/>
                        <a:t>-30</a:t>
                      </a:r>
                    </a:p>
                  </a:txBody>
                  <a:tcPr/>
                </a:tc>
                <a:extLst>
                  <a:ext uri="{0D108BD9-81ED-4DB2-BD59-A6C34878D82A}">
                    <a16:rowId xmlns:a16="http://schemas.microsoft.com/office/drawing/2014/main" val="1660451363"/>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Jogging Pants</a:t>
                      </a:r>
                    </a:p>
                  </a:txBody>
                  <a:tcPr/>
                </a:tc>
                <a:tc>
                  <a:txBody>
                    <a:bodyPr/>
                    <a:lstStyle/>
                    <a:p>
                      <a:r>
                        <a:rPr lang="en-US" dirty="0"/>
                        <a:t>2</a:t>
                      </a:r>
                    </a:p>
                  </a:txBody>
                  <a:tcPr/>
                </a:tc>
                <a:tc>
                  <a:txBody>
                    <a:bodyPr/>
                    <a:lstStyle/>
                    <a:p>
                      <a:r>
                        <a:rPr lang="en-US" dirty="0"/>
                        <a:t>10</a:t>
                      </a:r>
                    </a:p>
                  </a:txBody>
                  <a:tcPr/>
                </a:tc>
                <a:extLst>
                  <a:ext uri="{0D108BD9-81ED-4DB2-BD59-A6C34878D82A}">
                    <a16:rowId xmlns:a16="http://schemas.microsoft.com/office/drawing/2014/main" val="1902956866"/>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Jogging Pants</a:t>
                      </a:r>
                    </a:p>
                  </a:txBody>
                  <a:tcPr/>
                </a:tc>
                <a:tc>
                  <a:txBody>
                    <a:bodyPr/>
                    <a:lstStyle/>
                    <a:p>
                      <a:r>
                        <a:rPr lang="en-US" dirty="0"/>
                        <a:t>3</a:t>
                      </a:r>
                    </a:p>
                  </a:txBody>
                  <a:tcPr/>
                </a:tc>
                <a:tc>
                  <a:txBody>
                    <a:bodyPr/>
                    <a:lstStyle/>
                    <a:p>
                      <a:r>
                        <a:rPr lang="en-US" dirty="0"/>
                        <a:t>20</a:t>
                      </a:r>
                    </a:p>
                  </a:txBody>
                  <a:tcPr/>
                </a:tc>
                <a:extLst>
                  <a:ext uri="{0D108BD9-81ED-4DB2-BD59-A6C34878D82A}">
                    <a16:rowId xmlns:a16="http://schemas.microsoft.com/office/drawing/2014/main" val="1083397999"/>
                  </a:ext>
                </a:extLst>
              </a:tr>
            </a:tbl>
          </a:graphicData>
        </a:graphic>
      </p:graphicFrame>
      <p:sp>
        <p:nvSpPr>
          <p:cNvPr id="5" name="Date Placeholder 4">
            <a:extLst>
              <a:ext uri="{FF2B5EF4-FFF2-40B4-BE49-F238E27FC236}">
                <a16:creationId xmlns:a16="http://schemas.microsoft.com/office/drawing/2014/main" id="{BFF55518-30EA-3FDD-2728-DE226BC56040}"/>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355D1995-D171-56D5-59EC-EB82336736F1}"/>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3810158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47BF8-233A-E044-0E75-2F728A575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CCA1E-5B2D-D69E-847C-1C1CB8F6F7ED}"/>
              </a:ext>
            </a:extLst>
          </p:cNvPr>
          <p:cNvSpPr>
            <a:spLocks noGrp="1"/>
          </p:cNvSpPr>
          <p:nvPr>
            <p:ph type="ctrTitle"/>
          </p:nvPr>
        </p:nvSpPr>
        <p:spPr/>
        <p:txBody>
          <a:bodyPr/>
          <a:lstStyle/>
          <a:p>
            <a:r>
              <a:rPr lang="en-US" dirty="0"/>
              <a:t>Practice Interpreting Conjoint Results, Continued</a:t>
            </a:r>
          </a:p>
        </p:txBody>
      </p:sp>
      <p:sp>
        <p:nvSpPr>
          <p:cNvPr id="8" name="Text Placeholder 3">
            <a:extLst>
              <a:ext uri="{FF2B5EF4-FFF2-40B4-BE49-F238E27FC236}">
                <a16:creationId xmlns:a16="http://schemas.microsoft.com/office/drawing/2014/main" id="{30748EB6-14C1-96D7-FE7B-E4F34D1FDF04}"/>
              </a:ext>
            </a:extLst>
          </p:cNvPr>
          <p:cNvSpPr>
            <a:spLocks noGrp="1"/>
          </p:cNvSpPr>
          <p:nvPr>
            <p:ph type="body" sz="quarter" idx="14"/>
          </p:nvPr>
        </p:nvSpPr>
        <p:spPr>
          <a:xfrm>
            <a:off x="1900053" y="1751300"/>
            <a:ext cx="4441370" cy="3317186"/>
          </a:xfrm>
        </p:spPr>
        <p:txBody>
          <a:bodyPr>
            <a:normAutofit/>
          </a:bodyPr>
          <a:lstStyle/>
          <a:p>
            <a:r>
              <a:rPr lang="en-US" sz="2400" dirty="0"/>
              <a:t>Calculate dollar value of extra pairs of pants</a:t>
            </a:r>
          </a:p>
          <a:p>
            <a:pPr lvl="1"/>
            <a:r>
              <a:rPr lang="en-US" sz="2400" dirty="0"/>
              <a:t>Is this linear?</a:t>
            </a:r>
          </a:p>
          <a:p>
            <a:endParaRPr lang="en-US" sz="2400" dirty="0"/>
          </a:p>
          <a:p>
            <a:r>
              <a:rPr lang="en-US" sz="2400" dirty="0"/>
              <a:t>What should we do given this information?</a:t>
            </a:r>
          </a:p>
        </p:txBody>
      </p:sp>
      <p:graphicFrame>
        <p:nvGraphicFramePr>
          <p:cNvPr id="7" name="Table 6">
            <a:extLst>
              <a:ext uri="{FF2B5EF4-FFF2-40B4-BE49-F238E27FC236}">
                <a16:creationId xmlns:a16="http://schemas.microsoft.com/office/drawing/2014/main" id="{9597C3B8-0F44-9F23-9BDC-7EC8FBDEE880}"/>
              </a:ext>
            </a:extLst>
          </p:cNvPr>
          <p:cNvGraphicFramePr>
            <a:graphicFrameLocks noGrp="1"/>
          </p:cNvGraphicFramePr>
          <p:nvPr>
            <p:extLst>
              <p:ext uri="{D42A27DB-BD31-4B8C-83A1-F6EECF244321}">
                <p14:modId xmlns:p14="http://schemas.microsoft.com/office/powerpoint/2010/main" val="631478479"/>
              </p:ext>
            </p:extLst>
          </p:nvPr>
        </p:nvGraphicFramePr>
        <p:xfrm>
          <a:off x="6341423" y="1751300"/>
          <a:ext cx="4383649" cy="3725721"/>
        </p:xfrm>
        <a:graphic>
          <a:graphicData uri="http://schemas.openxmlformats.org/drawingml/2006/table">
            <a:tbl>
              <a:tblPr firstRow="1" bandRow="1">
                <a:tableStyleId>{5C22544A-7EE6-4342-B048-85BDC9FD1C3A}</a:tableStyleId>
              </a:tblPr>
              <a:tblGrid>
                <a:gridCol w="2771801">
                  <a:extLst>
                    <a:ext uri="{9D8B030D-6E8A-4147-A177-3AD203B41FA5}">
                      <a16:colId xmlns:a16="http://schemas.microsoft.com/office/drawing/2014/main" val="1398664624"/>
                    </a:ext>
                  </a:extLst>
                </a:gridCol>
                <a:gridCol w="832278">
                  <a:extLst>
                    <a:ext uri="{9D8B030D-6E8A-4147-A177-3AD203B41FA5}">
                      <a16:colId xmlns:a16="http://schemas.microsoft.com/office/drawing/2014/main" val="2117122099"/>
                    </a:ext>
                  </a:extLst>
                </a:gridCol>
                <a:gridCol w="779570">
                  <a:extLst>
                    <a:ext uri="{9D8B030D-6E8A-4147-A177-3AD203B41FA5}">
                      <a16:colId xmlns:a16="http://schemas.microsoft.com/office/drawing/2014/main" val="462059103"/>
                    </a:ext>
                  </a:extLst>
                </a:gridCol>
              </a:tblGrid>
              <a:tr h="413969">
                <a:tc>
                  <a:txBody>
                    <a:bodyPr/>
                    <a:lstStyle/>
                    <a:p>
                      <a:r>
                        <a:rPr lang="en-US" dirty="0"/>
                        <a:t>Feature</a:t>
                      </a:r>
                    </a:p>
                  </a:txBody>
                  <a:tcPr/>
                </a:tc>
                <a:tc>
                  <a:txBody>
                    <a:bodyPr/>
                    <a:lstStyle/>
                    <a:p>
                      <a:r>
                        <a:rPr lang="en-US" dirty="0"/>
                        <a:t>Level</a:t>
                      </a:r>
                    </a:p>
                  </a:txBody>
                  <a:tcPr/>
                </a:tc>
                <a:tc>
                  <a:txBody>
                    <a:bodyPr/>
                    <a:lstStyle/>
                    <a:p>
                      <a:r>
                        <a:rPr lang="en-US" dirty="0"/>
                        <a:t>Utils</a:t>
                      </a:r>
                    </a:p>
                  </a:txBody>
                  <a:tcPr/>
                </a:tc>
                <a:extLst>
                  <a:ext uri="{0D108BD9-81ED-4DB2-BD59-A6C34878D82A}">
                    <a16:rowId xmlns:a16="http://schemas.microsoft.com/office/drawing/2014/main" val="1593843512"/>
                  </a:ext>
                </a:extLst>
              </a:tr>
              <a:tr h="413969">
                <a:tc>
                  <a:txBody>
                    <a:bodyPr/>
                    <a:lstStyle/>
                    <a:p>
                      <a:r>
                        <a:rPr lang="en-US" dirty="0"/>
                        <a:t>Monthly Price</a:t>
                      </a:r>
                    </a:p>
                  </a:txBody>
                  <a:tcPr/>
                </a:tc>
                <a:tc>
                  <a:txBody>
                    <a:bodyPr/>
                    <a:lstStyle/>
                    <a:p>
                      <a:r>
                        <a:rPr lang="en-US" dirty="0"/>
                        <a:t>$100</a:t>
                      </a:r>
                    </a:p>
                  </a:txBody>
                  <a:tcPr/>
                </a:tc>
                <a:tc>
                  <a:txBody>
                    <a:bodyPr/>
                    <a:lstStyle/>
                    <a:p>
                      <a:r>
                        <a:rPr lang="en-US" dirty="0"/>
                        <a:t>200</a:t>
                      </a:r>
                    </a:p>
                  </a:txBody>
                  <a:tcPr/>
                </a:tc>
                <a:extLst>
                  <a:ext uri="{0D108BD9-81ED-4DB2-BD59-A6C34878D82A}">
                    <a16:rowId xmlns:a16="http://schemas.microsoft.com/office/drawing/2014/main" val="2239049176"/>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Monthly Price</a:t>
                      </a:r>
                    </a:p>
                  </a:txBody>
                  <a:tcPr/>
                </a:tc>
                <a:tc>
                  <a:txBody>
                    <a:bodyPr/>
                    <a:lstStyle/>
                    <a:p>
                      <a:r>
                        <a:rPr lang="en-US" dirty="0"/>
                        <a:t>$150</a:t>
                      </a:r>
                    </a:p>
                  </a:txBody>
                  <a:tcPr/>
                </a:tc>
                <a:tc>
                  <a:txBody>
                    <a:bodyPr/>
                    <a:lstStyle/>
                    <a:p>
                      <a:r>
                        <a:rPr lang="en-US" dirty="0"/>
                        <a:t>0</a:t>
                      </a:r>
                    </a:p>
                  </a:txBody>
                  <a:tcPr/>
                </a:tc>
                <a:extLst>
                  <a:ext uri="{0D108BD9-81ED-4DB2-BD59-A6C34878D82A}">
                    <a16:rowId xmlns:a16="http://schemas.microsoft.com/office/drawing/2014/main" val="3381440573"/>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Monthly Price</a:t>
                      </a:r>
                    </a:p>
                  </a:txBody>
                  <a:tcPr/>
                </a:tc>
                <a:tc>
                  <a:txBody>
                    <a:bodyPr/>
                    <a:lstStyle/>
                    <a:p>
                      <a:r>
                        <a:rPr lang="en-US" dirty="0"/>
                        <a:t>$200</a:t>
                      </a:r>
                    </a:p>
                  </a:txBody>
                  <a:tcPr/>
                </a:tc>
                <a:tc>
                  <a:txBody>
                    <a:bodyPr/>
                    <a:lstStyle/>
                    <a:p>
                      <a:r>
                        <a:rPr lang="en-US" dirty="0"/>
                        <a:t>-200</a:t>
                      </a:r>
                    </a:p>
                  </a:txBody>
                  <a:tcPr/>
                </a:tc>
                <a:extLst>
                  <a:ext uri="{0D108BD9-81ED-4DB2-BD59-A6C34878D82A}">
                    <a16:rowId xmlns:a16="http://schemas.microsoft.com/office/drawing/2014/main" val="1798407034"/>
                  </a:ext>
                </a:extLst>
              </a:tr>
              <a:tr h="413969">
                <a:tc>
                  <a:txBody>
                    <a:bodyPr/>
                    <a:lstStyle/>
                    <a:p>
                      <a:r>
                        <a:rPr lang="en-US" dirty="0"/>
                        <a:t>Customized Fit</a:t>
                      </a:r>
                    </a:p>
                  </a:txBody>
                  <a:tcPr/>
                </a:tc>
                <a:tc>
                  <a:txBody>
                    <a:bodyPr/>
                    <a:lstStyle/>
                    <a:p>
                      <a:r>
                        <a:rPr lang="en-US" dirty="0"/>
                        <a:t>Yes</a:t>
                      </a:r>
                    </a:p>
                  </a:txBody>
                  <a:tcPr/>
                </a:tc>
                <a:tc>
                  <a:txBody>
                    <a:bodyPr/>
                    <a:lstStyle/>
                    <a:p>
                      <a:r>
                        <a:rPr lang="en-US" dirty="0"/>
                        <a:t>50</a:t>
                      </a:r>
                    </a:p>
                  </a:txBody>
                  <a:tcPr/>
                </a:tc>
                <a:extLst>
                  <a:ext uri="{0D108BD9-81ED-4DB2-BD59-A6C34878D82A}">
                    <a16:rowId xmlns:a16="http://schemas.microsoft.com/office/drawing/2014/main" val="1997709782"/>
                  </a:ext>
                </a:extLst>
              </a:tr>
              <a:tr h="413969">
                <a:tc>
                  <a:txBody>
                    <a:bodyPr/>
                    <a:lstStyle/>
                    <a:p>
                      <a:r>
                        <a:rPr lang="en-US" dirty="0"/>
                        <a:t>Non-Customized Fit</a:t>
                      </a:r>
                    </a:p>
                  </a:txBody>
                  <a:tcPr/>
                </a:tc>
                <a:tc>
                  <a:txBody>
                    <a:bodyPr/>
                    <a:lstStyle/>
                    <a:p>
                      <a:r>
                        <a:rPr lang="en-US" dirty="0"/>
                        <a:t>No</a:t>
                      </a:r>
                    </a:p>
                  </a:txBody>
                  <a:tcPr/>
                </a:tc>
                <a:tc>
                  <a:txBody>
                    <a:bodyPr/>
                    <a:lstStyle/>
                    <a:p>
                      <a:r>
                        <a:rPr lang="en-US" dirty="0"/>
                        <a:t>-50</a:t>
                      </a:r>
                    </a:p>
                  </a:txBody>
                  <a:tcPr/>
                </a:tc>
                <a:extLst>
                  <a:ext uri="{0D108BD9-81ED-4DB2-BD59-A6C34878D82A}">
                    <a16:rowId xmlns:a16="http://schemas.microsoft.com/office/drawing/2014/main" val="2547229614"/>
                  </a:ext>
                </a:extLst>
              </a:tr>
              <a:tr h="413969">
                <a:tc>
                  <a:txBody>
                    <a:bodyPr/>
                    <a:lstStyle/>
                    <a:p>
                      <a:r>
                        <a:rPr lang="en-US" dirty="0"/>
                        <a:t>Number of Jogging Pants</a:t>
                      </a:r>
                    </a:p>
                  </a:txBody>
                  <a:tcPr/>
                </a:tc>
                <a:tc>
                  <a:txBody>
                    <a:bodyPr/>
                    <a:lstStyle/>
                    <a:p>
                      <a:r>
                        <a:rPr lang="en-US" dirty="0"/>
                        <a:t>1</a:t>
                      </a:r>
                    </a:p>
                  </a:txBody>
                  <a:tcPr/>
                </a:tc>
                <a:tc>
                  <a:txBody>
                    <a:bodyPr/>
                    <a:lstStyle/>
                    <a:p>
                      <a:r>
                        <a:rPr lang="en-US" dirty="0"/>
                        <a:t>-30</a:t>
                      </a:r>
                    </a:p>
                  </a:txBody>
                  <a:tcPr/>
                </a:tc>
                <a:extLst>
                  <a:ext uri="{0D108BD9-81ED-4DB2-BD59-A6C34878D82A}">
                    <a16:rowId xmlns:a16="http://schemas.microsoft.com/office/drawing/2014/main" val="1660451363"/>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Jogging Pants</a:t>
                      </a:r>
                    </a:p>
                  </a:txBody>
                  <a:tcPr/>
                </a:tc>
                <a:tc>
                  <a:txBody>
                    <a:bodyPr/>
                    <a:lstStyle/>
                    <a:p>
                      <a:r>
                        <a:rPr lang="en-US" dirty="0"/>
                        <a:t>2</a:t>
                      </a:r>
                    </a:p>
                  </a:txBody>
                  <a:tcPr/>
                </a:tc>
                <a:tc>
                  <a:txBody>
                    <a:bodyPr/>
                    <a:lstStyle/>
                    <a:p>
                      <a:r>
                        <a:rPr lang="en-US" dirty="0"/>
                        <a:t>10</a:t>
                      </a:r>
                    </a:p>
                  </a:txBody>
                  <a:tcPr/>
                </a:tc>
                <a:extLst>
                  <a:ext uri="{0D108BD9-81ED-4DB2-BD59-A6C34878D82A}">
                    <a16:rowId xmlns:a16="http://schemas.microsoft.com/office/drawing/2014/main" val="1902956866"/>
                  </a:ext>
                </a:extLst>
              </a:tr>
              <a:tr h="413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Jogging Pants</a:t>
                      </a:r>
                    </a:p>
                  </a:txBody>
                  <a:tcPr/>
                </a:tc>
                <a:tc>
                  <a:txBody>
                    <a:bodyPr/>
                    <a:lstStyle/>
                    <a:p>
                      <a:r>
                        <a:rPr lang="en-US" dirty="0"/>
                        <a:t>3</a:t>
                      </a:r>
                    </a:p>
                  </a:txBody>
                  <a:tcPr/>
                </a:tc>
                <a:tc>
                  <a:txBody>
                    <a:bodyPr/>
                    <a:lstStyle/>
                    <a:p>
                      <a:r>
                        <a:rPr lang="en-US" dirty="0"/>
                        <a:t>20</a:t>
                      </a:r>
                    </a:p>
                  </a:txBody>
                  <a:tcPr/>
                </a:tc>
                <a:extLst>
                  <a:ext uri="{0D108BD9-81ED-4DB2-BD59-A6C34878D82A}">
                    <a16:rowId xmlns:a16="http://schemas.microsoft.com/office/drawing/2014/main" val="1083397999"/>
                  </a:ext>
                </a:extLst>
              </a:tr>
            </a:tbl>
          </a:graphicData>
        </a:graphic>
      </p:graphicFrame>
      <p:sp>
        <p:nvSpPr>
          <p:cNvPr id="5" name="Date Placeholder 4">
            <a:extLst>
              <a:ext uri="{FF2B5EF4-FFF2-40B4-BE49-F238E27FC236}">
                <a16:creationId xmlns:a16="http://schemas.microsoft.com/office/drawing/2014/main" id="{D328C092-0660-BF70-F396-1FC147451DC8}"/>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4CDFDEEF-A0C2-4D1B-5E1C-0894F53EF2D0}"/>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1480009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D62F-92E1-F144-0163-135828EAD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8A598-CD89-9616-8138-037493145AFE}"/>
              </a:ext>
            </a:extLst>
          </p:cNvPr>
          <p:cNvSpPr>
            <a:spLocks noGrp="1"/>
          </p:cNvSpPr>
          <p:nvPr>
            <p:ph type="ctrTitle"/>
          </p:nvPr>
        </p:nvSpPr>
        <p:spPr/>
        <p:txBody>
          <a:bodyPr/>
          <a:lstStyle/>
          <a:p>
            <a:r>
              <a:rPr lang="en-US" dirty="0"/>
              <a:t>Dos and Don’ts of Conjoint Analysis</a:t>
            </a:r>
          </a:p>
        </p:txBody>
      </p:sp>
      <p:sp>
        <p:nvSpPr>
          <p:cNvPr id="8" name="Text Placeholder 3">
            <a:extLst>
              <a:ext uri="{FF2B5EF4-FFF2-40B4-BE49-F238E27FC236}">
                <a16:creationId xmlns:a16="http://schemas.microsoft.com/office/drawing/2014/main" id="{729A57B7-A9F2-3A9F-A6B4-D5A8EDD30113}"/>
              </a:ext>
            </a:extLst>
          </p:cNvPr>
          <p:cNvSpPr>
            <a:spLocks noGrp="1"/>
          </p:cNvSpPr>
          <p:nvPr>
            <p:ph type="body" sz="quarter" idx="14"/>
          </p:nvPr>
        </p:nvSpPr>
        <p:spPr>
          <a:xfrm>
            <a:off x="1828800" y="1365662"/>
            <a:ext cx="8755380" cy="4192456"/>
          </a:xfrm>
        </p:spPr>
        <p:txBody>
          <a:bodyPr>
            <a:normAutofit lnSpcReduction="10000"/>
          </a:bodyPr>
          <a:lstStyle/>
          <a:p>
            <a:r>
              <a:rPr lang="en-US" sz="2400" dirty="0"/>
              <a:t>Do:</a:t>
            </a:r>
          </a:p>
          <a:p>
            <a:pPr lvl="1"/>
            <a:r>
              <a:rPr lang="en-US" sz="2400" dirty="0"/>
              <a:t>Test a broad range of prices</a:t>
            </a:r>
          </a:p>
          <a:p>
            <a:pPr lvl="2"/>
            <a:r>
              <a:rPr lang="en-US" sz="2400" dirty="0"/>
              <a:t>If we test $19.99 and $20, we will be extrapolating based off left digit biases</a:t>
            </a:r>
          </a:p>
          <a:p>
            <a:pPr lvl="2"/>
            <a:r>
              <a:rPr lang="en-US" sz="2400" dirty="0"/>
              <a:t>Better to choose $10, $20, $30</a:t>
            </a:r>
          </a:p>
          <a:p>
            <a:endParaRPr lang="en-US" sz="2400" dirty="0"/>
          </a:p>
          <a:p>
            <a:pPr lvl="1"/>
            <a:r>
              <a:rPr lang="en-US" sz="2400" dirty="0"/>
              <a:t>Measure demographic information for customer segmentation</a:t>
            </a:r>
          </a:p>
          <a:p>
            <a:pPr lvl="2"/>
            <a:r>
              <a:rPr lang="en-US" sz="2400" dirty="0"/>
              <a:t>Do certain types of people value different features differently</a:t>
            </a:r>
          </a:p>
          <a:p>
            <a:endParaRPr lang="en-US" sz="2400" dirty="0"/>
          </a:p>
          <a:p>
            <a:pPr lvl="1"/>
            <a:r>
              <a:rPr lang="en-US" sz="2400" dirty="0"/>
              <a:t>Try to find respondents who are representative of your market</a:t>
            </a:r>
          </a:p>
        </p:txBody>
      </p:sp>
      <p:sp>
        <p:nvSpPr>
          <p:cNvPr id="5" name="Date Placeholder 4">
            <a:extLst>
              <a:ext uri="{FF2B5EF4-FFF2-40B4-BE49-F238E27FC236}">
                <a16:creationId xmlns:a16="http://schemas.microsoft.com/office/drawing/2014/main" id="{D48B1E76-EB25-B535-F78D-001B0DDAEE97}"/>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0074976B-B4C2-8A0E-2AC0-6915494BC919}"/>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167755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8837B-331F-7E8E-C0FA-E7580E93A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C8DE70-BE48-DA14-F912-48258B084FAA}"/>
              </a:ext>
            </a:extLst>
          </p:cNvPr>
          <p:cNvSpPr>
            <a:spLocks noGrp="1"/>
          </p:cNvSpPr>
          <p:nvPr>
            <p:ph type="ctrTitle"/>
          </p:nvPr>
        </p:nvSpPr>
        <p:spPr/>
        <p:txBody>
          <a:bodyPr/>
          <a:lstStyle/>
          <a:p>
            <a:r>
              <a:rPr lang="en-US" dirty="0"/>
              <a:t>Dos and Don’ts of Conjoint Analysis, Continued</a:t>
            </a:r>
          </a:p>
        </p:txBody>
      </p:sp>
      <p:sp>
        <p:nvSpPr>
          <p:cNvPr id="8" name="Text Placeholder 3">
            <a:extLst>
              <a:ext uri="{FF2B5EF4-FFF2-40B4-BE49-F238E27FC236}">
                <a16:creationId xmlns:a16="http://schemas.microsoft.com/office/drawing/2014/main" id="{7CDAEEEA-698F-56CB-C162-4B47930A25BF}"/>
              </a:ext>
            </a:extLst>
          </p:cNvPr>
          <p:cNvSpPr>
            <a:spLocks noGrp="1"/>
          </p:cNvSpPr>
          <p:nvPr>
            <p:ph type="body" sz="quarter" idx="14"/>
          </p:nvPr>
        </p:nvSpPr>
        <p:spPr>
          <a:xfrm>
            <a:off x="1828800" y="1365662"/>
            <a:ext cx="8755380" cy="4192456"/>
          </a:xfrm>
        </p:spPr>
        <p:txBody>
          <a:bodyPr>
            <a:normAutofit fontScale="92500" lnSpcReduction="20000"/>
          </a:bodyPr>
          <a:lstStyle/>
          <a:p>
            <a:r>
              <a:rPr lang="en-US" sz="2400" dirty="0"/>
              <a:t>Don’t:</a:t>
            </a:r>
          </a:p>
          <a:p>
            <a:pPr lvl="1"/>
            <a:r>
              <a:rPr lang="en-US" sz="2400" dirty="0"/>
              <a:t>use conjoint if survey-takers are ignorant about the features</a:t>
            </a:r>
          </a:p>
          <a:p>
            <a:endParaRPr lang="en-US" sz="2400" dirty="0"/>
          </a:p>
          <a:p>
            <a:pPr lvl="1"/>
            <a:r>
              <a:rPr lang="en-US" sz="2400" dirty="0"/>
              <a:t>use conjoint if price is a signal of the quality</a:t>
            </a:r>
          </a:p>
          <a:p>
            <a:endParaRPr lang="en-US" sz="2400" dirty="0"/>
          </a:p>
          <a:p>
            <a:pPr lvl="1"/>
            <a:r>
              <a:rPr lang="en-US" sz="2400" dirty="0"/>
              <a:t>use conjoint with highly correlated features</a:t>
            </a:r>
          </a:p>
          <a:p>
            <a:pPr lvl="2"/>
            <a:r>
              <a:rPr lang="en-US" sz="2400" dirty="0"/>
              <a:t>E.g. if product is car, cannot have both features:</a:t>
            </a:r>
          </a:p>
          <a:p>
            <a:pPr lvl="3"/>
            <a:r>
              <a:rPr lang="en-US" sz="2400" dirty="0"/>
              <a:t>Type: coupe / mini-van</a:t>
            </a:r>
          </a:p>
          <a:p>
            <a:pPr lvl="3"/>
            <a:r>
              <a:rPr lang="en-US" sz="2400" dirty="0"/>
              <a:t>Number of seats: 2, 4, 8</a:t>
            </a:r>
          </a:p>
          <a:p>
            <a:pPr lvl="1"/>
            <a:endParaRPr lang="en-US" sz="2400" dirty="0"/>
          </a:p>
          <a:p>
            <a:pPr lvl="1"/>
            <a:r>
              <a:rPr lang="en-US" sz="2400" dirty="0"/>
              <a:t>calculate dollar value of utils if price relationship is highly non-linear</a:t>
            </a:r>
          </a:p>
        </p:txBody>
      </p:sp>
      <p:sp>
        <p:nvSpPr>
          <p:cNvPr id="5" name="Date Placeholder 4">
            <a:extLst>
              <a:ext uri="{FF2B5EF4-FFF2-40B4-BE49-F238E27FC236}">
                <a16:creationId xmlns:a16="http://schemas.microsoft.com/office/drawing/2014/main" id="{A4D379FE-BA52-0766-96DE-EAF097CD49F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6B136F39-A566-8F90-1B44-1C771D08B8EB}"/>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176549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AC2F-06FC-22A0-F401-269849D0D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FC5DC-9857-04C8-F755-F97149428E61}"/>
              </a:ext>
            </a:extLst>
          </p:cNvPr>
          <p:cNvSpPr>
            <a:spLocks noGrp="1"/>
          </p:cNvSpPr>
          <p:nvPr>
            <p:ph type="ctrTitle"/>
          </p:nvPr>
        </p:nvSpPr>
        <p:spPr/>
        <p:txBody>
          <a:bodyPr/>
          <a:lstStyle/>
          <a:p>
            <a:r>
              <a:rPr lang="en-US" dirty="0"/>
              <a:t>Final Points</a:t>
            </a:r>
          </a:p>
        </p:txBody>
      </p:sp>
      <mc:AlternateContent xmlns:mc="http://schemas.openxmlformats.org/markup-compatibility/2006" xmlns:a14="http://schemas.microsoft.com/office/drawing/2010/main">
        <mc:Choice Requires="a14">
          <p:sp>
            <p:nvSpPr>
              <p:cNvPr id="8" name="Text Placeholder 3">
                <a:extLst>
                  <a:ext uri="{FF2B5EF4-FFF2-40B4-BE49-F238E27FC236}">
                    <a16:creationId xmlns:a16="http://schemas.microsoft.com/office/drawing/2014/main" id="{CE237C10-9D7E-AC4D-F7AE-984F586CF825}"/>
                  </a:ext>
                </a:extLst>
              </p:cNvPr>
              <p:cNvSpPr>
                <a:spLocks noGrp="1"/>
              </p:cNvSpPr>
              <p:nvPr>
                <p:ph type="body" sz="quarter" idx="14"/>
              </p:nvPr>
            </p:nvSpPr>
            <p:spPr>
              <a:xfrm>
                <a:off x="1828800" y="1365662"/>
                <a:ext cx="8755380" cy="4192456"/>
              </a:xfrm>
            </p:spPr>
            <p:txBody>
              <a:bodyPr>
                <a:normAutofit/>
              </a:bodyPr>
              <a:lstStyle/>
              <a:p>
                <a:r>
                  <a:rPr lang="en-US" sz="2400" dirty="0"/>
                  <a:t>Don’t include too many attributes or levels</a:t>
                </a:r>
              </a:p>
              <a:p>
                <a:pPr lvl="1"/>
                <a:r>
                  <a:rPr lang="en-US" sz="2400" dirty="0"/>
                  <a:t>Overloads users and requires a lot more responses</a:t>
                </a:r>
              </a:p>
              <a:p>
                <a:pPr lvl="1"/>
                <a:r>
                  <a:rPr lang="en-US" sz="2400" dirty="0"/>
                  <a:t>Features: 3-4 max</a:t>
                </a:r>
              </a:p>
              <a:p>
                <a:pPr lvl="1"/>
                <a:r>
                  <a:rPr lang="en-US" sz="2400" dirty="0"/>
                  <a:t>Levels: No more than 3</a:t>
                </a:r>
              </a:p>
              <a:p>
                <a:endParaRPr lang="en-US" sz="2400" dirty="0"/>
              </a:p>
              <a:p>
                <a:r>
                  <a:rPr lang="en-US" sz="2400" dirty="0"/>
                  <a:t>Number of survey takers: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𝑠𝑢𝑟𝑣𝑒𝑦</m:t>
                          </m:r>
                          <m:r>
                            <a:rPr lang="en-US" sz="2400" i="1">
                              <a:latin typeface="Cambria Math" panose="02040503050406030204" pitchFamily="18" charset="0"/>
                            </a:rPr>
                            <m:t> </m:t>
                          </m:r>
                          <m:r>
                            <a:rPr lang="en-US" sz="2400" i="1">
                              <a:latin typeface="Cambria Math" panose="02040503050406030204" pitchFamily="18" charset="0"/>
                            </a:rPr>
                            <m:t>𝑡𝑎𝑘𝑒𝑟𝑠</m:t>
                          </m:r>
                          <m:r>
                            <a:rPr lang="en-US" sz="2400" i="1">
                              <a:latin typeface="Cambria Math" panose="02040503050406030204" pitchFamily="18" charset="0"/>
                            </a:rPr>
                            <m:t> × # </m:t>
                          </m:r>
                          <m:r>
                            <a:rPr lang="en-US" sz="2400" i="1">
                              <a:latin typeface="Cambria Math" panose="02040503050406030204" pitchFamily="18" charset="0"/>
                            </a:rPr>
                            <m:t>𝑡𝑎𝑠𝑘𝑠</m:t>
                          </m:r>
                          <m:r>
                            <a:rPr lang="en-US" sz="2400" i="1">
                              <a:latin typeface="Cambria Math" panose="02040503050406030204" pitchFamily="18" charset="0"/>
                            </a:rPr>
                            <m:t>×#</m:t>
                          </m:r>
                          <m:r>
                            <a:rPr lang="en-US" sz="2400" i="1">
                              <a:latin typeface="Cambria Math" panose="02040503050406030204" pitchFamily="18" charset="0"/>
                            </a:rPr>
                            <m:t>𝑐𝑜𝑛𝑐𝑒𝑝𝑡𝑠</m:t>
                          </m:r>
                          <m:r>
                            <m:rPr>
                              <m:nor/>
                            </m:rPr>
                            <a:rPr lang="en-US" sz="2400" dirty="0"/>
                            <m:t> </m:t>
                          </m:r>
                        </m:num>
                        <m:den>
                          <m:r>
                            <a:rPr lang="en-US" sz="2400" b="0" i="1" smtClean="0">
                              <a:latin typeface="Cambria Math" panose="02040503050406030204" pitchFamily="18" charset="0"/>
                            </a:rPr>
                            <m:t>𝑙𝑎𝑟𝑔𝑒𝑠𝑡</m:t>
                          </m:r>
                          <m:r>
                            <a:rPr lang="en-US" sz="2400" b="0" i="1" smtClean="0">
                              <a:latin typeface="Cambria Math" panose="02040503050406030204" pitchFamily="18" charset="0"/>
                            </a:rPr>
                            <m:t> </m:t>
                          </m:r>
                          <m:r>
                            <a:rPr lang="en-US" sz="2400" b="0" i="1" smtClean="0">
                              <a:latin typeface="Cambria Math" panose="02040503050406030204" pitchFamily="18" charset="0"/>
                            </a:rPr>
                            <m:t>𝑛𝑢𝑚𝑏𝑒𝑟</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𝑎𝑡𝑡𝑟𝑖𝑏𝑢𝑡𝑒𝑠</m:t>
                          </m:r>
                        </m:den>
                      </m:f>
                      <m:r>
                        <a:rPr lang="en-US" sz="2400" b="0" i="1" smtClean="0">
                          <a:latin typeface="Cambria Math" panose="02040503050406030204" pitchFamily="18" charset="0"/>
                        </a:rPr>
                        <m:t>≥500</m:t>
                      </m:r>
                    </m:oMath>
                  </m:oMathPara>
                </a14:m>
                <a:endParaRPr lang="en-US" sz="2400" dirty="0"/>
              </a:p>
              <a:p>
                <a:r>
                  <a:rPr lang="en-US" sz="2400" dirty="0"/>
                  <a:t>Tasks: Number of choices a person makes (&lt;10)</a:t>
                </a:r>
              </a:p>
              <a:p>
                <a:r>
                  <a:rPr lang="en-US" sz="2400" dirty="0"/>
                  <a:t>Concepts: Number of options people choose between (&lt;3)</a:t>
                </a:r>
              </a:p>
            </p:txBody>
          </p:sp>
        </mc:Choice>
        <mc:Fallback xmlns="">
          <p:sp>
            <p:nvSpPr>
              <p:cNvPr id="8" name="Text Placeholder 3">
                <a:extLst>
                  <a:ext uri="{FF2B5EF4-FFF2-40B4-BE49-F238E27FC236}">
                    <a16:creationId xmlns:a16="http://schemas.microsoft.com/office/drawing/2014/main" id="{CE237C10-9D7E-AC4D-F7AE-984F586CF825}"/>
                  </a:ext>
                </a:extLst>
              </p:cNvPr>
              <p:cNvSpPr>
                <a:spLocks noGrp="1" noRot="1" noChangeAspect="1" noMove="1" noResize="1" noEditPoints="1" noAdjustHandles="1" noChangeArrowheads="1" noChangeShapeType="1" noTextEdit="1"/>
              </p:cNvSpPr>
              <p:nvPr>
                <p:ph type="body" sz="quarter" idx="14"/>
              </p:nvPr>
            </p:nvSpPr>
            <p:spPr>
              <a:xfrm>
                <a:off x="1828800" y="1365662"/>
                <a:ext cx="8755380" cy="4192456"/>
              </a:xfrm>
              <a:blipFill>
                <a:blip r:embed="rId3"/>
                <a:stretch>
                  <a:fillRect l="-2029" t="-2417" b="-1813"/>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F58B13C-AA12-E66F-23B6-A5E1A2AABF33}"/>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EAEE5722-DF8B-E0EB-546F-310A9C73D2E5}"/>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258499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87CF-60C6-AED7-1061-A5DC30B85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6D9B1-3546-C792-0B9D-93D73E4F55BB}"/>
              </a:ext>
            </a:extLst>
          </p:cNvPr>
          <p:cNvSpPr>
            <a:spLocks noGrp="1"/>
          </p:cNvSpPr>
          <p:nvPr>
            <p:ph type="ctrTitle"/>
          </p:nvPr>
        </p:nvSpPr>
        <p:spPr>
          <a:xfrm>
            <a:off x="2647199" y="1501742"/>
            <a:ext cx="7300940" cy="664797"/>
          </a:xfrm>
        </p:spPr>
        <p:txBody>
          <a:bodyPr/>
          <a:lstStyle/>
          <a:p>
            <a:r>
              <a:rPr lang="en-US" dirty="0"/>
              <a:t>Finding participants</a:t>
            </a:r>
          </a:p>
        </p:txBody>
      </p:sp>
      <p:sp>
        <p:nvSpPr>
          <p:cNvPr id="4" name="Date Placeholder 3">
            <a:extLst>
              <a:ext uri="{FF2B5EF4-FFF2-40B4-BE49-F238E27FC236}">
                <a16:creationId xmlns:a16="http://schemas.microsoft.com/office/drawing/2014/main" id="{7EE5531E-BD54-B717-5AE8-53C8C0E4954D}"/>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Placeholder 4">
            <a:extLst>
              <a:ext uri="{FF2B5EF4-FFF2-40B4-BE49-F238E27FC236}">
                <a16:creationId xmlns:a16="http://schemas.microsoft.com/office/drawing/2014/main" id="{1170862B-FF7E-0516-2678-204EEBF81403}"/>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3607647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B2CCE-49A5-4070-ACB5-24AB2542A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F68B7-D2AC-7417-D2AD-DC3173B88179}"/>
              </a:ext>
            </a:extLst>
          </p:cNvPr>
          <p:cNvSpPr>
            <a:spLocks noGrp="1"/>
          </p:cNvSpPr>
          <p:nvPr>
            <p:ph type="ctrTitle"/>
          </p:nvPr>
        </p:nvSpPr>
        <p:spPr/>
        <p:txBody>
          <a:bodyPr/>
          <a:lstStyle/>
          <a:p>
            <a:r>
              <a:rPr lang="en-US" dirty="0"/>
              <a:t>Finding Participants for Surveys</a:t>
            </a:r>
          </a:p>
        </p:txBody>
      </p:sp>
      <p:sp>
        <p:nvSpPr>
          <p:cNvPr id="8" name="Text Placeholder 3">
            <a:extLst>
              <a:ext uri="{FF2B5EF4-FFF2-40B4-BE49-F238E27FC236}">
                <a16:creationId xmlns:a16="http://schemas.microsoft.com/office/drawing/2014/main" id="{F7F2F681-C35E-36B3-9D34-283F1937F2BB}"/>
              </a:ext>
            </a:extLst>
          </p:cNvPr>
          <p:cNvSpPr>
            <a:spLocks noGrp="1"/>
          </p:cNvSpPr>
          <p:nvPr>
            <p:ph type="body" sz="quarter" idx="14"/>
          </p:nvPr>
        </p:nvSpPr>
        <p:spPr>
          <a:xfrm>
            <a:off x="1828800" y="1365662"/>
            <a:ext cx="8755380" cy="4192456"/>
          </a:xfrm>
        </p:spPr>
        <p:txBody>
          <a:bodyPr>
            <a:normAutofit/>
          </a:bodyPr>
          <a:lstStyle/>
          <a:p>
            <a:r>
              <a:rPr lang="en-US" sz="2400" dirty="0"/>
              <a:t>Actual customers</a:t>
            </a:r>
          </a:p>
          <a:p>
            <a:endParaRPr lang="en-US" sz="2400" dirty="0"/>
          </a:p>
          <a:p>
            <a:r>
              <a:rPr lang="en-US" sz="2400" dirty="0"/>
              <a:t>Social media</a:t>
            </a:r>
          </a:p>
          <a:p>
            <a:endParaRPr lang="en-US" sz="2400" dirty="0"/>
          </a:p>
          <a:p>
            <a:r>
              <a:rPr lang="en-US" sz="2400" dirty="0"/>
              <a:t>Paid panels</a:t>
            </a:r>
          </a:p>
          <a:p>
            <a:endParaRPr lang="en-US" sz="2400" dirty="0"/>
          </a:p>
          <a:p>
            <a:r>
              <a:rPr lang="en-US" sz="2400" dirty="0"/>
              <a:t>Simulated AI respondents</a:t>
            </a:r>
          </a:p>
          <a:p>
            <a:endParaRPr lang="en-US" sz="2400" dirty="0"/>
          </a:p>
          <a:p>
            <a:pPr lvl="1"/>
            <a:endParaRPr lang="en-US" sz="2400" dirty="0"/>
          </a:p>
        </p:txBody>
      </p:sp>
      <p:sp>
        <p:nvSpPr>
          <p:cNvPr id="5" name="Date Placeholder 4">
            <a:extLst>
              <a:ext uri="{FF2B5EF4-FFF2-40B4-BE49-F238E27FC236}">
                <a16:creationId xmlns:a16="http://schemas.microsoft.com/office/drawing/2014/main" id="{97C5FE22-9AB4-F14E-ED10-821394F018BB}"/>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6ADA7D65-F354-8378-2C7B-9A49527E0283}"/>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3552106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57B9A-984E-226A-F9BF-3A099013C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58DD8-06EF-075F-5649-6BF5A2945CEF}"/>
              </a:ext>
            </a:extLst>
          </p:cNvPr>
          <p:cNvSpPr>
            <a:spLocks noGrp="1"/>
          </p:cNvSpPr>
          <p:nvPr>
            <p:ph type="ctrTitle"/>
          </p:nvPr>
        </p:nvSpPr>
        <p:spPr/>
        <p:txBody>
          <a:bodyPr/>
          <a:lstStyle/>
          <a:p>
            <a:r>
              <a:rPr lang="en-US" dirty="0"/>
              <a:t>Actual Customers</a:t>
            </a:r>
          </a:p>
        </p:txBody>
      </p:sp>
      <p:sp>
        <p:nvSpPr>
          <p:cNvPr id="8" name="Text Placeholder 3">
            <a:extLst>
              <a:ext uri="{FF2B5EF4-FFF2-40B4-BE49-F238E27FC236}">
                <a16:creationId xmlns:a16="http://schemas.microsoft.com/office/drawing/2014/main" id="{7263C743-B389-06E9-5B88-CA1716D6102F}"/>
              </a:ext>
            </a:extLst>
          </p:cNvPr>
          <p:cNvSpPr>
            <a:spLocks noGrp="1"/>
          </p:cNvSpPr>
          <p:nvPr>
            <p:ph type="body" sz="quarter" idx="14"/>
          </p:nvPr>
        </p:nvSpPr>
        <p:spPr>
          <a:xfrm>
            <a:off x="1828800" y="1365662"/>
            <a:ext cx="8755380" cy="4192456"/>
          </a:xfrm>
        </p:spPr>
        <p:txBody>
          <a:bodyPr>
            <a:normAutofit/>
          </a:bodyPr>
          <a:lstStyle/>
          <a:p>
            <a:r>
              <a:rPr lang="en-US" sz="2400" dirty="0"/>
              <a:t>Pro:</a:t>
            </a:r>
          </a:p>
          <a:p>
            <a:pPr lvl="1"/>
            <a:r>
              <a:rPr lang="en-US" sz="2400" dirty="0"/>
              <a:t>Representative of your customer segment</a:t>
            </a:r>
          </a:p>
          <a:p>
            <a:endParaRPr lang="en-US" sz="2400" dirty="0"/>
          </a:p>
          <a:p>
            <a:r>
              <a:rPr lang="en-US" sz="2400" dirty="0"/>
              <a:t>Cons: </a:t>
            </a:r>
          </a:p>
          <a:p>
            <a:pPr lvl="1"/>
            <a:r>
              <a:rPr lang="en-US" sz="2400" dirty="0"/>
              <a:t>May get confused seeing features that don’t currently exist</a:t>
            </a:r>
          </a:p>
          <a:p>
            <a:pPr lvl="1"/>
            <a:r>
              <a:rPr lang="en-US" sz="2400" dirty="0"/>
              <a:t>Cannot send person many surveys, risk of exhausting the pool</a:t>
            </a:r>
          </a:p>
          <a:p>
            <a:endParaRPr lang="en-US" sz="2400" dirty="0"/>
          </a:p>
          <a:p>
            <a:pPr lvl="1"/>
            <a:endParaRPr lang="en-US" sz="2400" dirty="0"/>
          </a:p>
        </p:txBody>
      </p:sp>
      <p:sp>
        <p:nvSpPr>
          <p:cNvPr id="5" name="Date Placeholder 4">
            <a:extLst>
              <a:ext uri="{FF2B5EF4-FFF2-40B4-BE49-F238E27FC236}">
                <a16:creationId xmlns:a16="http://schemas.microsoft.com/office/drawing/2014/main" id="{6DF55160-23C6-33D9-B149-CB37310615B6}"/>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1C53793D-3656-BA01-AC8C-FC999A2D2E4A}"/>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2189776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82F2-151D-FA3A-9866-AD00A5573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9584C-E92C-9DAC-869A-E0A9CB3B6F9A}"/>
              </a:ext>
            </a:extLst>
          </p:cNvPr>
          <p:cNvSpPr>
            <a:spLocks noGrp="1"/>
          </p:cNvSpPr>
          <p:nvPr>
            <p:ph type="ctrTitle"/>
          </p:nvPr>
        </p:nvSpPr>
        <p:spPr/>
        <p:txBody>
          <a:bodyPr/>
          <a:lstStyle/>
          <a:p>
            <a:r>
              <a:rPr lang="en-US" dirty="0"/>
              <a:t>Social Media</a:t>
            </a:r>
          </a:p>
        </p:txBody>
      </p:sp>
      <p:sp>
        <p:nvSpPr>
          <p:cNvPr id="8" name="Text Placeholder 3">
            <a:extLst>
              <a:ext uri="{FF2B5EF4-FFF2-40B4-BE49-F238E27FC236}">
                <a16:creationId xmlns:a16="http://schemas.microsoft.com/office/drawing/2014/main" id="{061ED631-FDAA-7751-7931-DA29711B02A8}"/>
              </a:ext>
            </a:extLst>
          </p:cNvPr>
          <p:cNvSpPr>
            <a:spLocks noGrp="1"/>
          </p:cNvSpPr>
          <p:nvPr>
            <p:ph type="body" sz="quarter" idx="14"/>
          </p:nvPr>
        </p:nvSpPr>
        <p:spPr>
          <a:xfrm>
            <a:off x="1828800" y="1365662"/>
            <a:ext cx="8755380" cy="4192456"/>
          </a:xfrm>
        </p:spPr>
        <p:txBody>
          <a:bodyPr>
            <a:normAutofit fontScale="92500" lnSpcReduction="10000"/>
          </a:bodyPr>
          <a:lstStyle/>
          <a:p>
            <a:r>
              <a:rPr lang="en-US" sz="2400" dirty="0"/>
              <a:t>Two strategies:</a:t>
            </a:r>
          </a:p>
          <a:p>
            <a:pPr lvl="1"/>
            <a:r>
              <a:rPr lang="en-US" sz="2400" dirty="0"/>
              <a:t>Post your survey, try to get your community to participate and share</a:t>
            </a:r>
          </a:p>
          <a:p>
            <a:pPr lvl="2"/>
            <a:r>
              <a:rPr lang="en-US" sz="2400" dirty="0"/>
              <a:t>Called snow-ball sampling</a:t>
            </a:r>
          </a:p>
          <a:p>
            <a:pPr lvl="1"/>
            <a:r>
              <a:rPr lang="en-US" sz="2400" dirty="0"/>
              <a:t>Paid advertising</a:t>
            </a:r>
          </a:p>
          <a:p>
            <a:endParaRPr lang="en-US" sz="2400" dirty="0"/>
          </a:p>
          <a:p>
            <a:r>
              <a:rPr lang="en-US" sz="2400" dirty="0"/>
              <a:t>Pro:</a:t>
            </a:r>
          </a:p>
          <a:p>
            <a:pPr lvl="1"/>
            <a:r>
              <a:rPr lang="en-US" sz="2400" dirty="0"/>
              <a:t>Often cheaper than paid panels (sometimes free!)</a:t>
            </a:r>
          </a:p>
          <a:p>
            <a:pPr lvl="1"/>
            <a:r>
              <a:rPr lang="en-US" sz="2400" dirty="0"/>
              <a:t>Gets feedback from most engaged customers</a:t>
            </a:r>
          </a:p>
          <a:p>
            <a:endParaRPr lang="en-US" sz="2400" dirty="0"/>
          </a:p>
          <a:p>
            <a:r>
              <a:rPr lang="en-US" sz="2400" dirty="0"/>
              <a:t>Cons: </a:t>
            </a:r>
          </a:p>
          <a:p>
            <a:pPr lvl="1"/>
            <a:r>
              <a:rPr lang="en-US" sz="2400" dirty="0"/>
              <a:t>Often a non-representative sample</a:t>
            </a:r>
          </a:p>
          <a:p>
            <a:endParaRPr lang="en-US" sz="2400" dirty="0"/>
          </a:p>
          <a:p>
            <a:pPr lvl="1"/>
            <a:endParaRPr lang="en-US" sz="2400" dirty="0"/>
          </a:p>
        </p:txBody>
      </p:sp>
      <p:sp>
        <p:nvSpPr>
          <p:cNvPr id="5" name="Date Placeholder 4">
            <a:extLst>
              <a:ext uri="{FF2B5EF4-FFF2-40B4-BE49-F238E27FC236}">
                <a16:creationId xmlns:a16="http://schemas.microsoft.com/office/drawing/2014/main" id="{1D61B313-8F4B-8218-05FD-49D29BF0A4F8}"/>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02587596-415E-9D15-7E4E-B1BD139B26CC}"/>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2803093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07871-749D-188B-DEF4-6739B5FD1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0E513-8E3F-964B-433E-BF9136C0F22C}"/>
              </a:ext>
            </a:extLst>
          </p:cNvPr>
          <p:cNvSpPr>
            <a:spLocks noGrp="1"/>
          </p:cNvSpPr>
          <p:nvPr>
            <p:ph type="ctrTitle"/>
          </p:nvPr>
        </p:nvSpPr>
        <p:spPr/>
        <p:txBody>
          <a:bodyPr/>
          <a:lstStyle/>
          <a:p>
            <a:r>
              <a:rPr lang="en-US" dirty="0"/>
              <a:t>Paid Panels</a:t>
            </a:r>
          </a:p>
        </p:txBody>
      </p:sp>
      <p:sp>
        <p:nvSpPr>
          <p:cNvPr id="8" name="Text Placeholder 3">
            <a:extLst>
              <a:ext uri="{FF2B5EF4-FFF2-40B4-BE49-F238E27FC236}">
                <a16:creationId xmlns:a16="http://schemas.microsoft.com/office/drawing/2014/main" id="{F3ECA373-09F6-707D-5AC9-DC9D8C814E62}"/>
              </a:ext>
            </a:extLst>
          </p:cNvPr>
          <p:cNvSpPr>
            <a:spLocks noGrp="1"/>
          </p:cNvSpPr>
          <p:nvPr>
            <p:ph type="body" sz="quarter" idx="14"/>
          </p:nvPr>
        </p:nvSpPr>
        <p:spPr>
          <a:xfrm>
            <a:off x="1828800" y="1365662"/>
            <a:ext cx="8755380" cy="4192456"/>
          </a:xfrm>
        </p:spPr>
        <p:txBody>
          <a:bodyPr>
            <a:normAutofit lnSpcReduction="10000"/>
          </a:bodyPr>
          <a:lstStyle/>
          <a:p>
            <a:r>
              <a:rPr lang="en-US" sz="2400" dirty="0"/>
              <a:t>Companies pay individuals to take surveys / polls</a:t>
            </a:r>
          </a:p>
          <a:p>
            <a:pPr lvl="1"/>
            <a:r>
              <a:rPr lang="en-US" sz="2400" dirty="0"/>
              <a:t>Examples: Harris, Nielson, </a:t>
            </a:r>
            <a:r>
              <a:rPr lang="en-US" sz="2400" dirty="0" err="1"/>
              <a:t>Yougov</a:t>
            </a:r>
            <a:r>
              <a:rPr lang="en-US" sz="2400" dirty="0"/>
              <a:t>, …</a:t>
            </a:r>
          </a:p>
          <a:p>
            <a:endParaRPr lang="en-US" sz="2400" dirty="0"/>
          </a:p>
          <a:p>
            <a:r>
              <a:rPr lang="en-US" sz="2400" dirty="0"/>
              <a:t>Pros</a:t>
            </a:r>
          </a:p>
          <a:p>
            <a:pPr lvl="1"/>
            <a:r>
              <a:rPr lang="en-US" sz="2400" dirty="0"/>
              <a:t>Can get samples representative on many important dimensions</a:t>
            </a:r>
          </a:p>
          <a:p>
            <a:pPr lvl="1"/>
            <a:r>
              <a:rPr lang="en-US" sz="2400" dirty="0"/>
              <a:t>Some quality control exists</a:t>
            </a:r>
          </a:p>
          <a:p>
            <a:endParaRPr lang="en-US" sz="2400" dirty="0"/>
          </a:p>
          <a:p>
            <a:r>
              <a:rPr lang="en-US" sz="2400" dirty="0"/>
              <a:t>Cons</a:t>
            </a:r>
          </a:p>
          <a:p>
            <a:pPr lvl="1"/>
            <a:r>
              <a:rPr lang="en-US" sz="2400" dirty="0"/>
              <a:t>Can be very expensive (think &gt;$10 per response)</a:t>
            </a:r>
          </a:p>
          <a:p>
            <a:pPr lvl="1"/>
            <a:r>
              <a:rPr lang="en-US" sz="2400" dirty="0"/>
              <a:t>Risk of using “professional” survey takers</a:t>
            </a:r>
          </a:p>
        </p:txBody>
      </p:sp>
      <p:sp>
        <p:nvSpPr>
          <p:cNvPr id="5" name="Date Placeholder 4">
            <a:extLst>
              <a:ext uri="{FF2B5EF4-FFF2-40B4-BE49-F238E27FC236}">
                <a16:creationId xmlns:a16="http://schemas.microsoft.com/office/drawing/2014/main" id="{A5597780-8767-48EF-3C99-D28F73D5FEB4}"/>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00DAF8EF-EBA7-DC7A-B56E-67A1A172B517}"/>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946482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D93E-B07F-4B5D-A37A-03FC3BE0D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D72F8-F102-001C-0B14-8817414B58EF}"/>
              </a:ext>
            </a:extLst>
          </p:cNvPr>
          <p:cNvSpPr>
            <a:spLocks noGrp="1"/>
          </p:cNvSpPr>
          <p:nvPr>
            <p:ph type="ctrTitle"/>
          </p:nvPr>
        </p:nvSpPr>
        <p:spPr/>
        <p:txBody>
          <a:bodyPr/>
          <a:lstStyle/>
          <a:p>
            <a:r>
              <a:rPr lang="en-US" dirty="0"/>
              <a:t>LLMs</a:t>
            </a:r>
          </a:p>
        </p:txBody>
      </p:sp>
      <p:sp>
        <p:nvSpPr>
          <p:cNvPr id="8" name="Text Placeholder 3">
            <a:extLst>
              <a:ext uri="{FF2B5EF4-FFF2-40B4-BE49-F238E27FC236}">
                <a16:creationId xmlns:a16="http://schemas.microsoft.com/office/drawing/2014/main" id="{AFDB3225-81E1-5AE2-06CA-8EA40D3DE3F2}"/>
              </a:ext>
            </a:extLst>
          </p:cNvPr>
          <p:cNvSpPr>
            <a:spLocks noGrp="1"/>
          </p:cNvSpPr>
          <p:nvPr>
            <p:ph type="body" sz="quarter" idx="14"/>
          </p:nvPr>
        </p:nvSpPr>
        <p:spPr>
          <a:xfrm>
            <a:off x="1828800" y="1365662"/>
            <a:ext cx="8755380" cy="4192456"/>
          </a:xfrm>
        </p:spPr>
        <p:txBody>
          <a:bodyPr>
            <a:normAutofit/>
          </a:bodyPr>
          <a:lstStyle/>
          <a:p>
            <a:r>
              <a:rPr lang="en-US" sz="2400" dirty="0"/>
              <a:t>Ask ChatGPT or your LLM of choice to choose between alternatives</a:t>
            </a:r>
          </a:p>
          <a:p>
            <a:endParaRPr lang="en-US" sz="2400" dirty="0"/>
          </a:p>
          <a:p>
            <a:r>
              <a:rPr lang="en-US" sz="2400" dirty="0"/>
              <a:t>Pros</a:t>
            </a:r>
          </a:p>
          <a:p>
            <a:pPr lvl="1"/>
            <a:r>
              <a:rPr lang="en-US" sz="2400" dirty="0"/>
              <a:t>Inexpensive to collect a lot of data</a:t>
            </a:r>
          </a:p>
          <a:p>
            <a:endParaRPr lang="en-US" sz="2400" dirty="0"/>
          </a:p>
          <a:p>
            <a:r>
              <a:rPr lang="en-US" sz="2400" dirty="0"/>
              <a:t>Cons</a:t>
            </a:r>
          </a:p>
          <a:p>
            <a:pPr lvl="1"/>
            <a:r>
              <a:rPr lang="en-US" sz="2400" dirty="0"/>
              <a:t>Lack of understanding of when these mimic human responses</a:t>
            </a:r>
          </a:p>
          <a:p>
            <a:pPr lvl="1"/>
            <a:r>
              <a:rPr lang="en-US" sz="2400" dirty="0"/>
              <a:t>Evidence that responses are sensitive to prompt</a:t>
            </a:r>
          </a:p>
        </p:txBody>
      </p:sp>
      <p:sp>
        <p:nvSpPr>
          <p:cNvPr id="5" name="Date Placeholder 4">
            <a:extLst>
              <a:ext uri="{FF2B5EF4-FFF2-40B4-BE49-F238E27FC236}">
                <a16:creationId xmlns:a16="http://schemas.microsoft.com/office/drawing/2014/main" id="{F7713942-1607-81D1-85B6-830D1C2EE647}"/>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76E86A03-0EE6-031A-D220-45E336033481}"/>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3524068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D07B-3472-B1ED-063B-3000D4447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3C7A6-682F-69EC-9950-4F69DB764B2A}"/>
              </a:ext>
            </a:extLst>
          </p:cNvPr>
          <p:cNvSpPr>
            <a:spLocks noGrp="1"/>
          </p:cNvSpPr>
          <p:nvPr>
            <p:ph type="ctrTitle"/>
          </p:nvPr>
        </p:nvSpPr>
        <p:spPr/>
        <p:txBody>
          <a:bodyPr/>
          <a:lstStyle/>
          <a:p>
            <a:r>
              <a:rPr lang="en-US" dirty="0"/>
              <a:t>LLMs vs Human Participants</a:t>
            </a:r>
          </a:p>
        </p:txBody>
      </p:sp>
      <p:pic>
        <p:nvPicPr>
          <p:cNvPr id="9" name="Picture 8" descr="Bar chart comparing willingness to pay (WTP) for toothpaste attributes between human participants (blue) and GPT-3.5 Turbo (gray). Humans and the model show similar preference patterns—positive for fluoride, negative for strawberry and cinnamon flavors—but GPT-3.5 exhibits stronger magnitude differences, particularly higher WTP for fluoride and lower for flavored options.">
            <a:extLst>
              <a:ext uri="{FF2B5EF4-FFF2-40B4-BE49-F238E27FC236}">
                <a16:creationId xmlns:a16="http://schemas.microsoft.com/office/drawing/2014/main" id="{3AD57E93-496A-D656-441B-BFDBA2D262D2}"/>
              </a:ext>
            </a:extLst>
          </p:cNvPr>
          <p:cNvPicPr>
            <a:picLocks noChangeAspect="1"/>
          </p:cNvPicPr>
          <p:nvPr/>
        </p:nvPicPr>
        <p:blipFill>
          <a:blip r:embed="rId3"/>
          <a:stretch>
            <a:fillRect/>
          </a:stretch>
        </p:blipFill>
        <p:spPr>
          <a:xfrm>
            <a:off x="2462856" y="1230809"/>
            <a:ext cx="7772400" cy="4396381"/>
          </a:xfrm>
          <a:prstGeom prst="rect">
            <a:avLst/>
          </a:prstGeom>
        </p:spPr>
      </p:pic>
      <p:sp>
        <p:nvSpPr>
          <p:cNvPr id="10" name="TextBox 9">
            <a:extLst>
              <a:ext uri="{FF2B5EF4-FFF2-40B4-BE49-F238E27FC236}">
                <a16:creationId xmlns:a16="http://schemas.microsoft.com/office/drawing/2014/main" id="{A9A6D644-FE62-BBA0-6E43-E73CE8C381E4}"/>
              </a:ext>
            </a:extLst>
          </p:cNvPr>
          <p:cNvSpPr txBox="1"/>
          <p:nvPr/>
        </p:nvSpPr>
        <p:spPr>
          <a:xfrm>
            <a:off x="7471679" y="5369967"/>
            <a:ext cx="2763577" cy="369332"/>
          </a:xfrm>
          <a:prstGeom prst="rect">
            <a:avLst/>
          </a:prstGeom>
          <a:noFill/>
        </p:spPr>
        <p:txBody>
          <a:bodyPr wrap="none" rtlCol="0">
            <a:spAutoFit/>
          </a:bodyPr>
          <a:lstStyle/>
          <a:p>
            <a:r>
              <a:rPr lang="en-US" dirty="0"/>
              <a:t>Source: Brand et al (2024)</a:t>
            </a:r>
          </a:p>
        </p:txBody>
      </p:sp>
      <p:sp>
        <p:nvSpPr>
          <p:cNvPr id="5" name="Date Placeholder 4">
            <a:extLst>
              <a:ext uri="{FF2B5EF4-FFF2-40B4-BE49-F238E27FC236}">
                <a16:creationId xmlns:a16="http://schemas.microsoft.com/office/drawing/2014/main" id="{360EF834-FA14-2EEB-27C2-737BCC43A482}"/>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7C8FBC84-5C8A-02FB-81CE-F38E2E57233D}"/>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2462583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D4B2F-A3C6-6D4D-6222-E45D1CD9A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C43B8-14EB-4882-947A-794A8FA08A21}"/>
              </a:ext>
            </a:extLst>
          </p:cNvPr>
          <p:cNvSpPr>
            <a:spLocks noGrp="1"/>
          </p:cNvSpPr>
          <p:nvPr>
            <p:ph type="ctrTitle"/>
          </p:nvPr>
        </p:nvSpPr>
        <p:spPr/>
        <p:txBody>
          <a:bodyPr/>
          <a:lstStyle/>
          <a:p>
            <a:r>
              <a:rPr lang="en-US" dirty="0"/>
              <a:t>LLMs vs Human Participants, Continued</a:t>
            </a:r>
          </a:p>
        </p:txBody>
      </p:sp>
      <p:pic>
        <p:nvPicPr>
          <p:cNvPr id="4" name="Picture 3" descr="Bar chart comparing willingness to pay (WTP) for toothpaste attributes between humans (blue), GPT-3.5 Turbo (gray), and GPT-FT (black) models across flavors like strawberry, cinnamon, cucumber, and pancake. All groups prefer fluoride positively and flavored variants negatively, but GPT-3.5 Turbo shows stronger reactions—especially higher WTP for fluoride and new flavors like pancake—illustrating variation between human and model preferences.">
            <a:extLst>
              <a:ext uri="{FF2B5EF4-FFF2-40B4-BE49-F238E27FC236}">
                <a16:creationId xmlns:a16="http://schemas.microsoft.com/office/drawing/2014/main" id="{E5BD3953-3C26-8697-78FD-8F8B1F6A9BA6}"/>
              </a:ext>
            </a:extLst>
          </p:cNvPr>
          <p:cNvPicPr>
            <a:picLocks noChangeAspect="1"/>
          </p:cNvPicPr>
          <p:nvPr/>
        </p:nvPicPr>
        <p:blipFill>
          <a:blip r:embed="rId3"/>
          <a:stretch>
            <a:fillRect/>
          </a:stretch>
        </p:blipFill>
        <p:spPr>
          <a:xfrm>
            <a:off x="2107520" y="1279963"/>
            <a:ext cx="7772400" cy="3955483"/>
          </a:xfrm>
          <a:prstGeom prst="rect">
            <a:avLst/>
          </a:prstGeom>
        </p:spPr>
      </p:pic>
      <p:sp>
        <p:nvSpPr>
          <p:cNvPr id="8" name="TextBox 7">
            <a:extLst>
              <a:ext uri="{FF2B5EF4-FFF2-40B4-BE49-F238E27FC236}">
                <a16:creationId xmlns:a16="http://schemas.microsoft.com/office/drawing/2014/main" id="{E5613BD4-BBC7-7A54-8D39-65ABD3A1A655}"/>
              </a:ext>
            </a:extLst>
          </p:cNvPr>
          <p:cNvSpPr txBox="1"/>
          <p:nvPr/>
        </p:nvSpPr>
        <p:spPr>
          <a:xfrm>
            <a:off x="7471679" y="5369967"/>
            <a:ext cx="2763577" cy="369332"/>
          </a:xfrm>
          <a:prstGeom prst="rect">
            <a:avLst/>
          </a:prstGeom>
          <a:noFill/>
        </p:spPr>
        <p:txBody>
          <a:bodyPr wrap="none" rtlCol="0">
            <a:spAutoFit/>
          </a:bodyPr>
          <a:lstStyle/>
          <a:p>
            <a:r>
              <a:rPr lang="en-US" dirty="0"/>
              <a:t>Source: Brand et al (2024)</a:t>
            </a:r>
          </a:p>
        </p:txBody>
      </p:sp>
      <p:sp>
        <p:nvSpPr>
          <p:cNvPr id="5" name="Date Placeholder 4">
            <a:extLst>
              <a:ext uri="{FF2B5EF4-FFF2-40B4-BE49-F238E27FC236}">
                <a16:creationId xmlns:a16="http://schemas.microsoft.com/office/drawing/2014/main" id="{0393F797-3ED3-A0B4-A11C-AAA8259B4958}"/>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89436C90-7A9F-E5A7-64C1-4EAB6840B201}"/>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2040775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D577-CD8C-53D7-C67C-44A7F3A14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DC013-6E96-F181-38BB-4BB4277C3305}"/>
              </a:ext>
            </a:extLst>
          </p:cNvPr>
          <p:cNvSpPr>
            <a:spLocks noGrp="1"/>
          </p:cNvSpPr>
          <p:nvPr>
            <p:ph type="ctrTitle"/>
          </p:nvPr>
        </p:nvSpPr>
        <p:spPr/>
        <p:txBody>
          <a:bodyPr/>
          <a:lstStyle/>
          <a:p>
            <a:r>
              <a:rPr lang="en-US" dirty="0"/>
              <a:t>Takeaway</a:t>
            </a:r>
          </a:p>
        </p:txBody>
      </p:sp>
      <p:sp>
        <p:nvSpPr>
          <p:cNvPr id="8" name="Text Placeholder 3">
            <a:extLst>
              <a:ext uri="{FF2B5EF4-FFF2-40B4-BE49-F238E27FC236}">
                <a16:creationId xmlns:a16="http://schemas.microsoft.com/office/drawing/2014/main" id="{1D2DC840-2F15-58F4-670C-99C71091E894}"/>
              </a:ext>
            </a:extLst>
          </p:cNvPr>
          <p:cNvSpPr>
            <a:spLocks noGrp="1"/>
          </p:cNvSpPr>
          <p:nvPr>
            <p:ph type="body" sz="quarter" idx="14"/>
          </p:nvPr>
        </p:nvSpPr>
        <p:spPr>
          <a:xfrm>
            <a:off x="1828800" y="1365662"/>
            <a:ext cx="8755380" cy="4192456"/>
          </a:xfrm>
        </p:spPr>
        <p:txBody>
          <a:bodyPr>
            <a:normAutofit/>
          </a:bodyPr>
          <a:lstStyle/>
          <a:p>
            <a:r>
              <a:rPr lang="en-US" sz="2400" dirty="0"/>
              <a:t>LLMs are a great way to do a rough cut of your survey</a:t>
            </a:r>
          </a:p>
          <a:p>
            <a:endParaRPr lang="en-US" sz="2400" dirty="0"/>
          </a:p>
          <a:p>
            <a:r>
              <a:rPr lang="en-US" sz="2400" dirty="0"/>
              <a:t>There is still a lot to learn about when these results are reliable</a:t>
            </a:r>
          </a:p>
          <a:p>
            <a:pPr lvl="1"/>
            <a:r>
              <a:rPr lang="en-US" sz="2400" dirty="0"/>
              <a:t>Should we invest in pancake toothpaste?</a:t>
            </a:r>
          </a:p>
          <a:p>
            <a:pPr lvl="1"/>
            <a:r>
              <a:rPr lang="en-US" sz="2400" dirty="0"/>
              <a:t>Results are better with well-known products / features</a:t>
            </a:r>
          </a:p>
          <a:p>
            <a:endParaRPr lang="en-US" sz="2400" dirty="0"/>
          </a:p>
          <a:p>
            <a:r>
              <a:rPr lang="en-US" sz="2400" dirty="0"/>
              <a:t>Some evidence that fine-tuning models can improve performance</a:t>
            </a:r>
          </a:p>
          <a:p>
            <a:endParaRPr lang="en-US" sz="2400" dirty="0"/>
          </a:p>
          <a:p>
            <a:r>
              <a:rPr lang="en-US" sz="2400" dirty="0"/>
              <a:t>Risky to rely only on these models at this point</a:t>
            </a:r>
          </a:p>
        </p:txBody>
      </p:sp>
      <p:sp>
        <p:nvSpPr>
          <p:cNvPr id="5" name="Date Placeholder 4">
            <a:extLst>
              <a:ext uri="{FF2B5EF4-FFF2-40B4-BE49-F238E27FC236}">
                <a16:creationId xmlns:a16="http://schemas.microsoft.com/office/drawing/2014/main" id="{9FAAF826-08AE-EFB3-AD7E-4472B2CB208A}"/>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72560D90-1802-39CD-C0B3-0432572B144D}"/>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933806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15189-6901-FF52-F762-563816418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76B0C-9724-ECC7-9F56-C1EAC87C0818}"/>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8F4B301C-6AF8-0FFB-C17C-638089CBF958}"/>
              </a:ext>
            </a:extLst>
          </p:cNvPr>
          <p:cNvSpPr>
            <a:spLocks noGrp="1"/>
          </p:cNvSpPr>
          <p:nvPr>
            <p:ph type="dt" sz="half" idx="10"/>
          </p:nvPr>
        </p:nvSpPr>
        <p:spPr/>
        <p:txBody>
          <a:bodyPr/>
          <a:lstStyle/>
          <a:p>
            <a:fld id="{D47A9A36-4EB0-BF46-AE48-7CDA251B954B}" type="datetime1">
              <a:rPr lang="en-US" smtClean="0"/>
              <a:pPr/>
              <a:t>11/05/2025</a:t>
            </a:fld>
            <a:endParaRPr lang="en-US" dirty="0"/>
          </a:p>
        </p:txBody>
      </p:sp>
      <p:sp>
        <p:nvSpPr>
          <p:cNvPr id="5" name="Slide Number Placeholder 4">
            <a:extLst>
              <a:ext uri="{FF2B5EF4-FFF2-40B4-BE49-F238E27FC236}">
                <a16:creationId xmlns:a16="http://schemas.microsoft.com/office/drawing/2014/main" id="{7E87B898-ED0F-0419-CE8B-859B572BEA98}"/>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1147005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75043-EECA-C225-E257-E2DB32194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5B3EA-0701-7538-5B30-4373CD773839}"/>
              </a:ext>
            </a:extLst>
          </p:cNvPr>
          <p:cNvSpPr>
            <a:spLocks noGrp="1"/>
          </p:cNvSpPr>
          <p:nvPr>
            <p:ph type="ctrTitle"/>
          </p:nvPr>
        </p:nvSpPr>
        <p:spPr/>
        <p:txBody>
          <a:bodyPr/>
          <a:lstStyle/>
          <a:p>
            <a:r>
              <a:rPr lang="en-US" dirty="0"/>
              <a:t>Purpose of Conjoint Surveys</a:t>
            </a:r>
          </a:p>
        </p:txBody>
      </p:sp>
      <p:sp>
        <p:nvSpPr>
          <p:cNvPr id="8" name="Text Placeholder 3">
            <a:extLst>
              <a:ext uri="{FF2B5EF4-FFF2-40B4-BE49-F238E27FC236}">
                <a16:creationId xmlns:a16="http://schemas.microsoft.com/office/drawing/2014/main" id="{E26638D5-B421-6D5B-0314-24FA196C9ED9}"/>
              </a:ext>
            </a:extLst>
          </p:cNvPr>
          <p:cNvSpPr>
            <a:spLocks noGrp="1"/>
          </p:cNvSpPr>
          <p:nvPr>
            <p:ph type="body" sz="quarter" idx="14"/>
          </p:nvPr>
        </p:nvSpPr>
        <p:spPr>
          <a:xfrm>
            <a:off x="1828800" y="1365662"/>
            <a:ext cx="8755380" cy="4192456"/>
          </a:xfrm>
        </p:spPr>
        <p:txBody>
          <a:bodyPr>
            <a:normAutofit/>
          </a:bodyPr>
          <a:lstStyle/>
          <a:p>
            <a:r>
              <a:rPr lang="en-US" sz="2400" dirty="0" err="1"/>
              <a:t>Conjoints</a:t>
            </a:r>
            <a:r>
              <a:rPr lang="en-US" sz="2400" dirty="0"/>
              <a:t> give us a method to measure the value of features</a:t>
            </a:r>
          </a:p>
          <a:p>
            <a:pPr lvl="1"/>
            <a:r>
              <a:rPr lang="en-US" sz="2400" dirty="0"/>
              <a:t>Can do this for different customer segments</a:t>
            </a:r>
          </a:p>
          <a:p>
            <a:endParaRPr lang="en-US" sz="2400" dirty="0"/>
          </a:p>
          <a:p>
            <a:r>
              <a:rPr lang="en-US" sz="2400" dirty="0"/>
              <a:t>Helps us:</a:t>
            </a:r>
          </a:p>
          <a:p>
            <a:pPr lvl="1"/>
            <a:r>
              <a:rPr lang="en-US" sz="2400" dirty="0"/>
              <a:t>Prioritize development of most valuable features</a:t>
            </a:r>
          </a:p>
          <a:p>
            <a:pPr lvl="1"/>
            <a:r>
              <a:rPr lang="en-US" sz="2400" dirty="0"/>
              <a:t>Price our offering and segment the market</a:t>
            </a:r>
          </a:p>
          <a:p>
            <a:pPr lvl="1"/>
            <a:endParaRPr lang="en-US" sz="2400" dirty="0"/>
          </a:p>
        </p:txBody>
      </p:sp>
      <p:sp>
        <p:nvSpPr>
          <p:cNvPr id="5" name="Date Placeholder 4">
            <a:extLst>
              <a:ext uri="{FF2B5EF4-FFF2-40B4-BE49-F238E27FC236}">
                <a16:creationId xmlns:a16="http://schemas.microsoft.com/office/drawing/2014/main" id="{973085A3-FB01-07EB-F3C6-9EB77B8385B0}"/>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E7EB09FC-7248-64E5-4AC5-723B90CCA843}"/>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557489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3B206-0721-810D-D180-A942DEBF4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E5331-90FE-AFA2-F48A-33BFEFA40E54}"/>
              </a:ext>
            </a:extLst>
          </p:cNvPr>
          <p:cNvSpPr>
            <a:spLocks noGrp="1"/>
          </p:cNvSpPr>
          <p:nvPr>
            <p:ph type="ctrTitle"/>
          </p:nvPr>
        </p:nvSpPr>
        <p:spPr/>
        <p:txBody>
          <a:bodyPr/>
          <a:lstStyle/>
          <a:p>
            <a:r>
              <a:rPr lang="en-US" dirty="0"/>
              <a:t>Next Time</a:t>
            </a:r>
          </a:p>
        </p:txBody>
      </p:sp>
      <p:sp>
        <p:nvSpPr>
          <p:cNvPr id="4" name="Text Placeholder 3">
            <a:extLst>
              <a:ext uri="{FF2B5EF4-FFF2-40B4-BE49-F238E27FC236}">
                <a16:creationId xmlns:a16="http://schemas.microsoft.com/office/drawing/2014/main" id="{884C927C-7791-7051-5B6B-FA097C848544}"/>
              </a:ext>
            </a:extLst>
          </p:cNvPr>
          <p:cNvSpPr>
            <a:spLocks noGrp="1"/>
          </p:cNvSpPr>
          <p:nvPr>
            <p:ph type="body" sz="quarter" idx="14"/>
          </p:nvPr>
        </p:nvSpPr>
        <p:spPr>
          <a:xfrm>
            <a:off x="1828800" y="1689653"/>
            <a:ext cx="8755380" cy="3639274"/>
          </a:xfrm>
        </p:spPr>
        <p:txBody>
          <a:bodyPr>
            <a:normAutofit/>
          </a:bodyPr>
          <a:lstStyle/>
          <a:p>
            <a:r>
              <a:rPr lang="en-US" sz="2400" dirty="0"/>
              <a:t>No Class Thursday</a:t>
            </a:r>
          </a:p>
          <a:p>
            <a:endParaRPr lang="en-US" sz="2400" dirty="0"/>
          </a:p>
          <a:p>
            <a:r>
              <a:rPr lang="en-US" sz="2400" dirty="0"/>
              <a:t>Each group signs up for a project check-in meeting (~10 minutes)</a:t>
            </a:r>
          </a:p>
          <a:p>
            <a:endParaRPr lang="en-US" sz="2400" dirty="0"/>
          </a:p>
          <a:p>
            <a:r>
              <a:rPr lang="en-US" sz="2400" dirty="0">
                <a:hlinkClick r:id="rId3"/>
              </a:rPr>
              <a:t>https://calendar.app.google/er8YzgovSxjgj1JM8</a:t>
            </a:r>
            <a:r>
              <a:rPr lang="en-US" sz="2400" dirty="0"/>
              <a:t> </a:t>
            </a:r>
          </a:p>
        </p:txBody>
      </p:sp>
      <p:sp>
        <p:nvSpPr>
          <p:cNvPr id="5" name="Date Placeholder 4">
            <a:extLst>
              <a:ext uri="{FF2B5EF4-FFF2-40B4-BE49-F238E27FC236}">
                <a16:creationId xmlns:a16="http://schemas.microsoft.com/office/drawing/2014/main" id="{DE9617C2-546A-D1F9-F3DA-32ED3C54614B}"/>
              </a:ext>
            </a:extLst>
          </p:cNvPr>
          <p:cNvSpPr>
            <a:spLocks noGrp="1"/>
          </p:cNvSpPr>
          <p:nvPr>
            <p:ph type="dt" sz="half" idx="10"/>
          </p:nvPr>
        </p:nvSpPr>
        <p:spPr/>
        <p:txBody>
          <a:bodyPr/>
          <a:lstStyle/>
          <a:p>
            <a:fld id="{D47A9A36-4EB0-BF46-AE48-7CDA251B954B}" type="datetime1">
              <a:rPr lang="en-US" smtClean="0"/>
              <a:t>11/05/2025</a:t>
            </a:fld>
            <a:endParaRPr lang="en-US" dirty="0"/>
          </a:p>
        </p:txBody>
      </p:sp>
      <p:sp>
        <p:nvSpPr>
          <p:cNvPr id="6" name="Slide Number Placeholder 5">
            <a:extLst>
              <a:ext uri="{FF2B5EF4-FFF2-40B4-BE49-F238E27FC236}">
                <a16:creationId xmlns:a16="http://schemas.microsoft.com/office/drawing/2014/main" id="{52484280-02BC-5494-9FFE-E61DAC7F6DB6}"/>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1274885668"/>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31140</TotalTime>
  <Words>1811</Words>
  <Application>Microsoft Office PowerPoint</Application>
  <PresentationFormat>Widescreen</PresentationFormat>
  <Paragraphs>463</Paragraphs>
  <Slides>42</Slides>
  <Notes>39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Impact</vt:lpstr>
      <vt:lpstr>Franklin Gothic Medium</vt:lpstr>
      <vt:lpstr>Wingdings</vt:lpstr>
      <vt:lpstr>Franklin Gothic Demi</vt:lpstr>
      <vt:lpstr>Franklin Gothic Book</vt:lpstr>
      <vt:lpstr>Arial</vt:lpstr>
      <vt:lpstr>Calibri</vt:lpstr>
      <vt:lpstr>Cambria Math</vt:lpstr>
      <vt:lpstr>United Sans Rg Md</vt:lpstr>
      <vt:lpstr>Acumin Pro</vt:lpstr>
      <vt:lpstr>Purdue2</vt:lpstr>
      <vt:lpstr>Digital product design</vt:lpstr>
      <vt:lpstr>Overview</vt:lpstr>
      <vt:lpstr>Introduction to User preferences</vt:lpstr>
      <vt:lpstr>Introduction to Preferences</vt:lpstr>
      <vt:lpstr>Example</vt:lpstr>
      <vt:lpstr>Product Features</vt:lpstr>
      <vt:lpstr>Product Features, Continued</vt:lpstr>
      <vt:lpstr>Multinomial Logit Model</vt:lpstr>
      <vt:lpstr>User Studies to learn customer preferences</vt:lpstr>
      <vt:lpstr>Types of User Studies</vt:lpstr>
      <vt:lpstr>Benefits of User Studies</vt:lpstr>
      <vt:lpstr>Downsides of User Studies</vt:lpstr>
      <vt:lpstr>Conjoint surveys</vt:lpstr>
      <vt:lpstr>Conjoint Overview</vt:lpstr>
      <vt:lpstr>Conjoint Overview, Continued</vt:lpstr>
      <vt:lpstr>Mechanics of Running a Conjoint</vt:lpstr>
      <vt:lpstr>Participants Consider Several Bundles of Features</vt:lpstr>
      <vt:lpstr>Running a Conjoint using Sawtooth</vt:lpstr>
      <vt:lpstr>Add Choice Based Conjoint (CBC) Question</vt:lpstr>
      <vt:lpstr>Sample Survey</vt:lpstr>
      <vt:lpstr>Utility Analysis</vt:lpstr>
      <vt:lpstr>Calculating Dollar Value of Features</vt:lpstr>
      <vt:lpstr>Calculating the Dollar-Value of a “Util”</vt:lpstr>
      <vt:lpstr>Calculating the Dollar-Value of DSLR Feature</vt:lpstr>
      <vt:lpstr>Calculating the Dollar-Value of 1MP</vt:lpstr>
      <vt:lpstr>Practice Interpreting Conjoint Results</vt:lpstr>
      <vt:lpstr>Practice Interpreting Conjoint Results, Continued</vt:lpstr>
      <vt:lpstr>Dos and Don’ts of Conjoint Analysis</vt:lpstr>
      <vt:lpstr>Dos and Don’ts of Conjoint Analysis, Continued</vt:lpstr>
      <vt:lpstr>Final Points</vt:lpstr>
      <vt:lpstr>Finding participants</vt:lpstr>
      <vt:lpstr>Finding Participants for Surveys</vt:lpstr>
      <vt:lpstr>Actual Customers</vt:lpstr>
      <vt:lpstr>Social Media</vt:lpstr>
      <vt:lpstr>Paid Panels</vt:lpstr>
      <vt:lpstr>LLMs</vt:lpstr>
      <vt:lpstr>LLMs vs Human Participants</vt:lpstr>
      <vt:lpstr>LLMs vs Human Participants, Continued</vt:lpstr>
      <vt:lpstr>Takeaway</vt:lpstr>
      <vt:lpstr>Questions</vt:lpstr>
      <vt:lpstr>Purpose of Conjoint Surveys</vt:lpstr>
      <vt:lpstr>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3171</cp:revision>
  <dcterms:created xsi:type="dcterms:W3CDTF">2024-07-15T17:50:06Z</dcterms:created>
  <dcterms:modified xsi:type="dcterms:W3CDTF">2025-11-05T17:32:11Z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