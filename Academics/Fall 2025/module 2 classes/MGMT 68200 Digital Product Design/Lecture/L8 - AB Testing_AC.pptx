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40"/>
  </p:notesMasterIdLst>
  <p:sldIdLst>
    <p:sldId id="257" r:id="rId2"/>
    <p:sldId id="546" r:id="rId3"/>
    <p:sldId id="548" r:id="rId4"/>
    <p:sldId id="514" r:id="rId5"/>
    <p:sldId id="511" r:id="rId6"/>
    <p:sldId id="513" r:id="rId7"/>
    <p:sldId id="516" r:id="rId8"/>
    <p:sldId id="517" r:id="rId9"/>
    <p:sldId id="518" r:id="rId10"/>
    <p:sldId id="512" r:id="rId11"/>
    <p:sldId id="521" r:id="rId12"/>
    <p:sldId id="522" r:id="rId13"/>
    <p:sldId id="547" r:id="rId14"/>
    <p:sldId id="523" r:id="rId15"/>
    <p:sldId id="510" r:id="rId16"/>
    <p:sldId id="529" r:id="rId17"/>
    <p:sldId id="530" r:id="rId18"/>
    <p:sldId id="531" r:id="rId19"/>
    <p:sldId id="532" r:id="rId20"/>
    <p:sldId id="533" r:id="rId21"/>
    <p:sldId id="534" r:id="rId22"/>
    <p:sldId id="542" r:id="rId23"/>
    <p:sldId id="535" r:id="rId24"/>
    <p:sldId id="537" r:id="rId25"/>
    <p:sldId id="536" r:id="rId26"/>
    <p:sldId id="538" r:id="rId27"/>
    <p:sldId id="539" r:id="rId28"/>
    <p:sldId id="540" r:id="rId29"/>
    <p:sldId id="541" r:id="rId30"/>
    <p:sldId id="524" r:id="rId31"/>
    <p:sldId id="526" r:id="rId32"/>
    <p:sldId id="525" r:id="rId33"/>
    <p:sldId id="527" r:id="rId34"/>
    <p:sldId id="528" r:id="rId35"/>
    <p:sldId id="543" r:id="rId36"/>
    <p:sldId id="544" r:id="rId37"/>
    <p:sldId id="545" r:id="rId38"/>
    <p:sldId id="465" r:id="rId39"/>
  </p:sldIdLst>
  <p:sldSz cx="12192000" cy="6858000"/>
  <p:notesSz cx="6858000" cy="9144000"/>
  <p:embeddedFontLst>
    <p:embeddedFont>
      <p:font typeface="Acumin Pro" panose="020B0604020202020204" charset="0"/>
      <p:regular r:id="rId41"/>
      <p:bold r:id="rId42"/>
      <p:italic r:id="rId43"/>
      <p:boldItalic r:id="rId44"/>
    </p:embeddedFont>
    <p:embeddedFont>
      <p:font typeface="Cambria Math" panose="02040503050406030204" pitchFamily="18" charset="0"/>
      <p:regular r:id="rId45"/>
    </p:embeddedFont>
    <p:embeddedFont>
      <p:font typeface="Franklin Gothic Book" panose="020B0503020102020204" pitchFamily="34" charset="0"/>
      <p:regular r:id="rId46"/>
      <p:italic r:id="rId47"/>
    </p:embeddedFont>
    <p:embeddedFont>
      <p:font typeface="Franklin Gothic Demi" panose="020B0703020102020204" pitchFamily="34" charset="0"/>
      <p:regular r:id="rId48"/>
      <p:bold r:id="rId49"/>
      <p:italic r:id="rId50"/>
      <p:boldItalic r:id="rId51"/>
    </p:embeddedFont>
    <p:embeddedFont>
      <p:font typeface="Franklin Gothic Medium" panose="020B0603020102020204" pitchFamily="34" charset="0"/>
      <p:regular r:id="rId52"/>
      <p:italic r:id="rId53"/>
    </p:embeddedFont>
    <p:embeddedFont>
      <p:font typeface="Impact" panose="020B0806030902050204" pitchFamily="34" charset="0"/>
      <p:regular r:id="rId54"/>
    </p:embeddedFont>
    <p:embeddedFont>
      <p:font typeface="United Sans Rg Md" pitchFamily="50" charset="0"/>
      <p:regular r:id="rId5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13" autoAdjust="0"/>
    <p:restoredTop sz="93274" autoAdjust="0"/>
  </p:normalViewPr>
  <p:slideViewPr>
    <p:cSldViewPr snapToGrid="0" snapToObjects="1">
      <p:cViewPr>
        <p:scale>
          <a:sx n="70" d="100"/>
          <a:sy n="70" d="100"/>
        </p:scale>
        <p:origin x="474" y="6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0DC1-84DB-23D1-69D6-0E4663B7C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9ECEE-90FE-B085-2E84-C82359BC6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A7858-951A-ED6D-E134-DCFF9C60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5DB39-CE94-F7F7-E692-79D8ACF217F5}"/>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90994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FB471-F650-E5E1-D887-565E0CC55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A0391-DB98-89CF-68BC-8073C4AEA4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8F6A7-D85F-EE46-1C76-E757971E48E4}"/>
              </a:ext>
            </a:extLst>
          </p:cNvPr>
          <p:cNvSpPr>
            <a:spLocks noGrp="1"/>
          </p:cNvSpPr>
          <p:nvPr>
            <p:ph type="body" idx="1"/>
          </p:nvPr>
        </p:nvSpPr>
        <p:spPr/>
        <p:txBody>
          <a:bodyPr/>
          <a:lstStyle/>
          <a:p>
            <a:r>
              <a:rPr lang="en-US" dirty="0"/>
              <a:t>Heavy users see more error messages</a:t>
            </a:r>
          </a:p>
        </p:txBody>
      </p:sp>
      <p:sp>
        <p:nvSpPr>
          <p:cNvPr id="4" name="Slide Number Placeholder 3">
            <a:extLst>
              <a:ext uri="{FF2B5EF4-FFF2-40B4-BE49-F238E27FC236}">
                <a16:creationId xmlns:a16="http://schemas.microsoft.com/office/drawing/2014/main" id="{6F0CDF92-705F-CC35-BDDB-E27F927B91DD}"/>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1527283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46082-87AF-6C72-C7DF-85423F658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0B8DE-E108-FF04-68C2-519CBDA25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A20B3-7E62-053E-2326-4FA1AD9607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2DB098-AD28-CAA7-CFA3-464D93E447CB}"/>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2590679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5BD6-1E9B-B9E6-B337-D35065324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7C3229-D9F4-B134-B0B8-C1346AC00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71CB78-2A01-5EB8-D011-DE7B6B2F5A53}"/>
              </a:ext>
            </a:extLst>
          </p:cNvPr>
          <p:cNvSpPr>
            <a:spLocks noGrp="1"/>
          </p:cNvSpPr>
          <p:nvPr>
            <p:ph type="body" idx="1"/>
          </p:nvPr>
        </p:nvSpPr>
        <p:spPr/>
        <p:txBody>
          <a:bodyPr/>
          <a:lstStyle/>
          <a:p>
            <a:r>
              <a:rPr lang="en-US" dirty="0"/>
              <a:t>This simple change increased revenue by $100million per year for </a:t>
            </a:r>
            <a:r>
              <a:rPr lang="en-US" dirty="0" err="1"/>
              <a:t>bing</a:t>
            </a:r>
            <a:endParaRPr lang="en-US" dirty="0"/>
          </a:p>
        </p:txBody>
      </p:sp>
      <p:sp>
        <p:nvSpPr>
          <p:cNvPr id="4" name="Slide Number Placeholder 3">
            <a:extLst>
              <a:ext uri="{FF2B5EF4-FFF2-40B4-BE49-F238E27FC236}">
                <a16:creationId xmlns:a16="http://schemas.microsoft.com/office/drawing/2014/main" id="{3E435320-6750-5393-E7A8-91131405EBF0}"/>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2047514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0E90F-71A7-EDCD-E4E7-22E3092D7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79F23-6A48-D87E-448D-406B2F8CA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C3EB5-4849-360D-3A38-A24C85ECC2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2E6854-93F7-96E4-F4A7-905E90AA62A3}"/>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272220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341C5-CD52-7A02-88B6-626F47017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A6C73-D416-1973-FFCC-7248A9DFB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B3A88-21E4-B981-41EB-469F95753806}"/>
              </a:ext>
            </a:extLst>
          </p:cNvPr>
          <p:cNvSpPr>
            <a:spLocks noGrp="1"/>
          </p:cNvSpPr>
          <p:nvPr>
            <p:ph type="body" idx="1"/>
          </p:nvPr>
        </p:nvSpPr>
        <p:spPr/>
        <p:txBody>
          <a:bodyPr/>
          <a:lstStyle/>
          <a:p>
            <a:r>
              <a:rPr lang="en-US" dirty="0"/>
              <a:t>Heavy users see more error messages</a:t>
            </a:r>
          </a:p>
        </p:txBody>
      </p:sp>
      <p:sp>
        <p:nvSpPr>
          <p:cNvPr id="4" name="Slide Number Placeholder 3">
            <a:extLst>
              <a:ext uri="{FF2B5EF4-FFF2-40B4-BE49-F238E27FC236}">
                <a16:creationId xmlns:a16="http://schemas.microsoft.com/office/drawing/2014/main" id="{F489206B-3A15-DC91-0FDE-CE5C2091E07E}"/>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1737350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2277634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3F6C9-80AF-A3A8-71F5-C7CC18679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AC619-D621-FE48-C15C-57D5747CB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81795-91FB-9AF1-0287-E6853821E725}"/>
              </a:ext>
            </a:extLst>
          </p:cNvPr>
          <p:cNvSpPr>
            <a:spLocks noGrp="1"/>
          </p:cNvSpPr>
          <p:nvPr>
            <p:ph type="body" idx="1"/>
          </p:nvPr>
        </p:nvSpPr>
        <p:spPr/>
        <p:txBody>
          <a:bodyPr/>
          <a:lstStyle/>
          <a:p>
            <a:r>
              <a:rPr lang="en-US" dirty="0"/>
              <a:t>Feasibility: User or user-session level</a:t>
            </a:r>
          </a:p>
        </p:txBody>
      </p:sp>
      <p:sp>
        <p:nvSpPr>
          <p:cNvPr id="4" name="Slide Number Placeholder 3">
            <a:extLst>
              <a:ext uri="{FF2B5EF4-FFF2-40B4-BE49-F238E27FC236}">
                <a16:creationId xmlns:a16="http://schemas.microsoft.com/office/drawing/2014/main" id="{4482C848-1A79-D1C4-123F-B4538CA0609F}"/>
              </a:ext>
            </a:extLst>
          </p:cNvPr>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3322040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1F636-00B3-36B3-619E-58C7228BD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6B0E6-764F-0321-BFE7-839FC3198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67553-1DA6-F45C-921A-38B127B0CF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22266-83D5-DE8B-1BE9-C22263080E8C}"/>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2368404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8F24F-B524-205A-E095-6EA7D8D00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41B02-7227-8E12-483F-5A41D0A32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A168B-49E5-ED4B-7227-17E56D72E5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C1F24F-A496-1AA1-2159-3023D838F0E9}"/>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15568236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1C85-1921-EB8E-4C65-3503DC5AD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A2483-8403-B32A-97EB-5F8956141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9DD25-9D14-1321-ED0C-55A9FF8D3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B05874-5DBD-3490-37C3-E9B7B4CEBC4F}"/>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4173535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48A3-2E48-A8F8-932D-A88685C4E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FF759-95B2-02E8-9FFE-787E27E00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4B97F-414D-6F98-DC2D-320B425A61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DC3D9A-2192-7DCC-EEFA-2D0C373330D2}"/>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3340909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D85C5-2995-C782-5912-C7157A13A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DE279-9A2A-5C5E-3B46-7514FBB4C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86EC2A-6485-8A80-3010-ADF1EC6297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CD08CE-C2C6-F75C-ED50-F03380121D38}"/>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828248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6893B-E4EB-8DED-CB35-6B19E2B45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A84B5-7D58-A2EC-E58A-205781071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E210C-1034-C112-EF06-AD5C4685BB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0BE514-953E-AB17-464E-ECEF638F2B5F}"/>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1255880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3A61-0B41-7EE8-5ABD-4A0E4B057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74CE0-0D2D-EA75-E9A6-7C7775FA6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E03B1-6F57-38CC-1AC9-8C1D6EEB0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34DDFB-7B7A-1756-5626-E41A019C4145}"/>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31744978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A9C6B-3564-CD8A-BC86-BC90E6A0E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95F55-AE5C-B80F-832C-8CC171CC71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D1F5B-899F-AF12-724D-7892835973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504364-9001-1B13-4180-97B7984AAD3C}"/>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19745655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77F84-9D64-77F1-3E03-945CC6D5E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44162-2EC6-D4CE-0791-63B8F0478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51EE7-A9BD-7861-4BFF-9ADC84909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C6907-D9E7-A3C1-DDC6-A83ACD8CD6BC}"/>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1876732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8850C-45A1-EB16-6756-D6B7D04637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EFA51-4AE0-E774-6AB4-8A21F2348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CB3C6-4BBC-DCA3-0675-1A6C314725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AA3324-B5FC-E9E1-DEB2-116E3F5A5D9E}"/>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3110349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DB88B-3168-268E-F743-4C8127DA0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36D0B-2138-D5C7-0572-16E7407981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12046-F0B4-F9A0-A4F0-71986D6367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7D475B-E20D-4843-194A-E13D5DE3814E}"/>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7665539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C34D1-D987-4745-21BF-C1328D635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A5855-6AFC-5CE4-2126-96C8FE1758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E61DE-12D4-7482-3E58-8DAD5F5DBC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A69E49-5C74-6A53-8D86-9E5888A98FC3}"/>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36652312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510EE-4AD2-92EB-D5D1-B9C3B6984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29413-69B7-39A8-6236-F89B1D1CF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D048F3-F52C-3FDB-A9CE-1B2F6AC57D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AED6B1-9D32-1A52-4E53-9D1251894575}"/>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33481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FD17-5D1D-981B-16DB-C9D4A2471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1014C-07FB-0877-7CA1-B2B37A823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77415F-A7E1-93E6-F26A-9205C85F7F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66AE26-176B-E64D-56AA-B316E5393095}"/>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3725452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2BBC-9CE1-8C06-9BCE-557133C0E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04CCED-2073-3A9C-8DF4-0034A7A19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DC898-6767-8E7C-5339-BC32D5A3C8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BB2503-DE53-616F-050D-33E45CC318D9}"/>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4230030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46E49-9024-1F74-5B84-21C3C9338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D405C-DD00-8E73-B087-5DA0CE4CC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61639-CEF1-9318-5049-5913A731DCB0}"/>
              </a:ext>
            </a:extLst>
          </p:cNvPr>
          <p:cNvSpPr>
            <a:spLocks noGrp="1"/>
          </p:cNvSpPr>
          <p:nvPr>
            <p:ph type="body" idx="1"/>
          </p:nvPr>
        </p:nvSpPr>
        <p:spPr/>
        <p:txBody>
          <a:bodyPr/>
          <a:lstStyle/>
          <a:p>
            <a:r>
              <a:rPr lang="en-US" dirty="0"/>
              <a:t>Ask for classes reaction</a:t>
            </a:r>
          </a:p>
        </p:txBody>
      </p:sp>
      <p:sp>
        <p:nvSpPr>
          <p:cNvPr id="4" name="Slide Number Placeholder 3">
            <a:extLst>
              <a:ext uri="{FF2B5EF4-FFF2-40B4-BE49-F238E27FC236}">
                <a16:creationId xmlns:a16="http://schemas.microsoft.com/office/drawing/2014/main" id="{FCEDEC2A-DCEB-89D5-AE96-7DD3CA8EB8DC}"/>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2584096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E158-7C42-D366-8AEB-2FC101642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CBD17-7E2C-6422-1B81-E09530882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B8B82-A50A-AAB5-385B-DA1A2CE890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8F8BB3-651D-7B06-E50C-566CE6DCDCE0}"/>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13944945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3D95A-AC4E-5A02-2DCE-771CD2777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56B47-C8DD-AD26-D7C4-A3F1A4DE9D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1983FB-0786-87D0-B8EA-86F4B54CBC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B54AB-738A-534D-70F9-3F59D30BF940}"/>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38408648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1131434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85465-E103-5E9A-9170-C5B440774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96AD8-89DE-BB12-B733-D115C3403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C54FF0-1F6A-8A4E-1E2F-379E3CED64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90BD3-44AC-2F04-0C16-92F34E6013DC}"/>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27337852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FC557-00FA-1A0F-119A-42AB8B43C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7710E5-5BF4-D564-A584-B6EBAD982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B591C-7D98-085B-7AC7-A8A99AD914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64795B-183E-A062-85AE-DC736A921A83}"/>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2033004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219EF-37B7-D983-AA83-579850705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FAE5E-D696-8B82-6797-977D2F30B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CDE66B-BE7E-4709-BD49-79300F0175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2311A-EEEB-1DAE-C92A-E53D76832DA0}"/>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42446261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8E203-DAA0-2CA3-0991-4AE497968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60A48-2A03-F9B7-1352-86AF187730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323F3-C9DC-E02F-C8D4-4A8CF08CF7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A7E507-71E3-B278-B68E-A6BC864602E8}"/>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16322046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D2983-F2C0-24EF-D17F-BA277CA28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0560D-2275-C5E3-B9F6-BB5D9E1AA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848C8-5902-6E4A-F952-DCEBA0BD4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51D78A-8D6F-7581-57D3-9843F61B72DB}"/>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19255542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7638A-E9BD-3F28-1E8C-8A2D5DDA16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1A96A-EA8F-95D6-4D1B-134D33EF1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6CF50-00C3-6329-0A60-7B8E04CB5A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696D67-920C-F3D1-D9B9-EF071D6C6FE1}"/>
              </a:ext>
            </a:extLst>
          </p:cNvPr>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30746789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30679306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11/21/2025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11/21/2025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11/21/2025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11/21/2025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11/21/2025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11/21/2025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11/21/2025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11/21/2025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dirty="0">
                <a:latin typeface="Franklin Gothic Medium" panose="020B0603020102020204" pitchFamily="34" charset="0"/>
              </a:rPr>
              <a:t>Lecture 8: A/B Testing and Experiments</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91BE-3DE0-9C3F-087A-F7CD1F0C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36B4-877D-B8E5-24E0-43CDC4222E46}"/>
              </a:ext>
            </a:extLst>
          </p:cNvPr>
          <p:cNvSpPr>
            <a:spLocks noGrp="1"/>
          </p:cNvSpPr>
          <p:nvPr>
            <p:ph type="ctrTitle"/>
          </p:nvPr>
        </p:nvSpPr>
        <p:spPr/>
        <p:txBody>
          <a:bodyPr/>
          <a:lstStyle/>
          <a:p>
            <a:r>
              <a:rPr lang="en-US" dirty="0"/>
              <a:t>Outline</a:t>
            </a:r>
          </a:p>
        </p:txBody>
      </p:sp>
      <p:sp>
        <p:nvSpPr>
          <p:cNvPr id="4" name="Text Placeholder 3">
            <a:extLst>
              <a:ext uri="{FF2B5EF4-FFF2-40B4-BE49-F238E27FC236}">
                <a16:creationId xmlns:a16="http://schemas.microsoft.com/office/drawing/2014/main" id="{54175B53-6506-346E-2A89-AD221024D778}"/>
              </a:ext>
            </a:extLst>
          </p:cNvPr>
          <p:cNvSpPr>
            <a:spLocks noGrp="1"/>
          </p:cNvSpPr>
          <p:nvPr>
            <p:ph type="body" sz="quarter" idx="14"/>
          </p:nvPr>
        </p:nvSpPr>
        <p:spPr>
          <a:xfrm>
            <a:off x="1828800" y="1917389"/>
            <a:ext cx="8755380" cy="3411537"/>
          </a:xfrm>
        </p:spPr>
        <p:txBody>
          <a:bodyPr>
            <a:normAutofit/>
          </a:bodyPr>
          <a:lstStyle/>
          <a:p>
            <a:pPr marL="0" indent="0">
              <a:buNone/>
            </a:pPr>
            <a:endParaRPr lang="en-US" sz="2400" dirty="0"/>
          </a:p>
          <a:p>
            <a:r>
              <a:rPr lang="en-US" sz="2400" dirty="0"/>
              <a:t>A/B Testing</a:t>
            </a:r>
          </a:p>
          <a:p>
            <a:endParaRPr lang="en-US" sz="2400" dirty="0"/>
          </a:p>
          <a:p>
            <a:r>
              <a:rPr lang="en-US" sz="2400" dirty="0"/>
              <a:t>Potential Pitfalls</a:t>
            </a:r>
          </a:p>
          <a:p>
            <a:endParaRPr lang="en-US" sz="2400" dirty="0"/>
          </a:p>
          <a:p>
            <a:r>
              <a:rPr lang="en-US" sz="2400" dirty="0"/>
              <a:t>Examples</a:t>
            </a:r>
          </a:p>
        </p:txBody>
      </p:sp>
      <p:sp>
        <p:nvSpPr>
          <p:cNvPr id="5" name="Date Placeholder 4">
            <a:extLst>
              <a:ext uri="{FF2B5EF4-FFF2-40B4-BE49-F238E27FC236}">
                <a16:creationId xmlns:a16="http://schemas.microsoft.com/office/drawing/2014/main" id="{94C16404-2372-0160-B1E4-0FA07F17C405}"/>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1DB0BF96-FB46-5497-7F47-0719B43099D5}"/>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5818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585CA-75AA-07D3-5545-38B6E1B9C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4AFA8-BBE6-694B-DFA8-0C8F2DEA1CE2}"/>
              </a:ext>
            </a:extLst>
          </p:cNvPr>
          <p:cNvSpPr>
            <a:spLocks noGrp="1"/>
          </p:cNvSpPr>
          <p:nvPr>
            <p:ph type="ctrTitle"/>
          </p:nvPr>
        </p:nvSpPr>
        <p:spPr>
          <a:xfrm>
            <a:off x="2647199" y="1501742"/>
            <a:ext cx="7300940" cy="664797"/>
          </a:xfrm>
        </p:spPr>
        <p:txBody>
          <a:bodyPr/>
          <a:lstStyle/>
          <a:p>
            <a:r>
              <a:rPr lang="en-US" dirty="0"/>
              <a:t>A/B Testing Overview</a:t>
            </a:r>
          </a:p>
        </p:txBody>
      </p:sp>
      <p:sp>
        <p:nvSpPr>
          <p:cNvPr id="4" name="Date Placeholder 3">
            <a:extLst>
              <a:ext uri="{FF2B5EF4-FFF2-40B4-BE49-F238E27FC236}">
                <a16:creationId xmlns:a16="http://schemas.microsoft.com/office/drawing/2014/main" id="{AD0C11E2-8129-4D21-18CC-3588EAABAF2D}"/>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Placeholder 4">
            <a:extLst>
              <a:ext uri="{FF2B5EF4-FFF2-40B4-BE49-F238E27FC236}">
                <a16:creationId xmlns:a16="http://schemas.microsoft.com/office/drawing/2014/main" id="{4C238C2F-0DB6-E97F-4F3C-11C702EDD086}"/>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2097370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0CC05-95A8-CFB8-3CDE-8940907BF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3E565-F25D-21ED-D48F-C452419CB874}"/>
              </a:ext>
            </a:extLst>
          </p:cNvPr>
          <p:cNvSpPr>
            <a:spLocks noGrp="1"/>
          </p:cNvSpPr>
          <p:nvPr>
            <p:ph type="ctrTitle"/>
          </p:nvPr>
        </p:nvSpPr>
        <p:spPr/>
        <p:txBody>
          <a:bodyPr/>
          <a:lstStyle/>
          <a:p>
            <a:r>
              <a:rPr lang="en-US" dirty="0"/>
              <a:t>Correlations and Causation</a:t>
            </a:r>
          </a:p>
        </p:txBody>
      </p:sp>
      <p:sp>
        <p:nvSpPr>
          <p:cNvPr id="10" name="Text Placeholder 3">
            <a:extLst>
              <a:ext uri="{FF2B5EF4-FFF2-40B4-BE49-F238E27FC236}">
                <a16:creationId xmlns:a16="http://schemas.microsoft.com/office/drawing/2014/main" id="{E4F86C77-22EC-AC4B-8CA5-65BCEE111EAC}"/>
              </a:ext>
            </a:extLst>
          </p:cNvPr>
          <p:cNvSpPr txBox="1">
            <a:spLocks/>
          </p:cNvSpPr>
          <p:nvPr/>
        </p:nvSpPr>
        <p:spPr>
          <a:xfrm>
            <a:off x="1981200" y="1601191"/>
            <a:ext cx="8755380" cy="3880136"/>
          </a:xfrm>
          <a:prstGeom prst="rect">
            <a:avLst/>
          </a:prstGeom>
        </p:spPr>
        <p:txBody>
          <a:bodyPr vert="horz" lIns="0" tIns="0" rIns="0" bIns="0" rtlCol="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kern="1200" normalizeH="0" baseline="0">
                <a:solidFill>
                  <a:schemeClr val="bg1"/>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2400" dirty="0"/>
              <a:t>Office 365 users that see more error messages are less likely to churn (i.e. retention is higher).</a:t>
            </a:r>
          </a:p>
          <a:p>
            <a:pPr lvl="1"/>
            <a:r>
              <a:rPr lang="en-US" sz="2400" dirty="0"/>
              <a:t>Should Microsoft degrade their code to reduce churn?</a:t>
            </a:r>
          </a:p>
          <a:p>
            <a:endParaRPr lang="en-US" sz="2400" dirty="0"/>
          </a:p>
          <a:p>
            <a:r>
              <a:rPr lang="en-US" sz="2400" dirty="0"/>
              <a:t>Experiments are the gold standard for establishing causal relationships</a:t>
            </a:r>
          </a:p>
          <a:p>
            <a:pPr lvl="1"/>
            <a:r>
              <a:rPr lang="en-US" sz="2400" dirty="0"/>
              <a:t>An experiment that reduces errors would show a decrease in churn</a:t>
            </a:r>
          </a:p>
          <a:p>
            <a:endParaRPr lang="en-US" sz="2400" dirty="0"/>
          </a:p>
        </p:txBody>
      </p:sp>
      <p:sp>
        <p:nvSpPr>
          <p:cNvPr id="5" name="Date Placeholder 4">
            <a:extLst>
              <a:ext uri="{FF2B5EF4-FFF2-40B4-BE49-F238E27FC236}">
                <a16:creationId xmlns:a16="http://schemas.microsoft.com/office/drawing/2014/main" id="{15A9972E-1663-B160-11FA-385B1AC11F50}"/>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FFC892DA-AAB5-A146-2C4C-5C55C07450CD}"/>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358370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700C6-008C-5073-7B25-2567B16212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B666C-82FC-2DE0-F3E3-62CCA3600117}"/>
              </a:ext>
            </a:extLst>
          </p:cNvPr>
          <p:cNvSpPr>
            <a:spLocks noGrp="1"/>
          </p:cNvSpPr>
          <p:nvPr>
            <p:ph type="ctrTitle"/>
          </p:nvPr>
        </p:nvSpPr>
        <p:spPr/>
        <p:txBody>
          <a:bodyPr/>
          <a:lstStyle/>
          <a:p>
            <a:r>
              <a:rPr lang="en-US" dirty="0"/>
              <a:t>Motivation for Experiments</a:t>
            </a:r>
          </a:p>
        </p:txBody>
      </p:sp>
      <p:sp>
        <p:nvSpPr>
          <p:cNvPr id="4" name="Text Placeholder 3">
            <a:extLst>
              <a:ext uri="{FF2B5EF4-FFF2-40B4-BE49-F238E27FC236}">
                <a16:creationId xmlns:a16="http://schemas.microsoft.com/office/drawing/2014/main" id="{943B32F8-2301-BC45-0520-F4CF1FB079D2}"/>
              </a:ext>
            </a:extLst>
          </p:cNvPr>
          <p:cNvSpPr>
            <a:spLocks noGrp="1"/>
          </p:cNvSpPr>
          <p:nvPr>
            <p:ph type="body" sz="quarter" idx="14"/>
          </p:nvPr>
        </p:nvSpPr>
        <p:spPr>
          <a:xfrm>
            <a:off x="1828800" y="1448791"/>
            <a:ext cx="8755380" cy="3880136"/>
          </a:xfrm>
        </p:spPr>
        <p:txBody>
          <a:bodyPr>
            <a:normAutofit/>
          </a:bodyPr>
          <a:lstStyle/>
          <a:p>
            <a:r>
              <a:rPr lang="en-US" sz="2400" dirty="0"/>
              <a:t>Hard to assess the value of an idea ex ante</a:t>
            </a:r>
          </a:p>
          <a:p>
            <a:pPr lvl="1"/>
            <a:r>
              <a:rPr lang="en-US" sz="2400" dirty="0"/>
              <a:t>Do customers spend more if the website is blue or black?</a:t>
            </a:r>
          </a:p>
          <a:p>
            <a:endParaRPr lang="en-US" sz="2400" dirty="0"/>
          </a:p>
          <a:p>
            <a:r>
              <a:rPr lang="en-US" sz="2400" dirty="0"/>
              <a:t>Hard to quantify causal impact of changes / ideas on key metrics</a:t>
            </a:r>
          </a:p>
          <a:p>
            <a:pPr lvl="1"/>
            <a:r>
              <a:rPr lang="en-US" sz="2400" dirty="0"/>
              <a:t>How does a new feature impact engagement, sales, OEC</a:t>
            </a:r>
          </a:p>
          <a:p>
            <a:pPr lvl="1"/>
            <a:r>
              <a:rPr lang="en-US" sz="2400" dirty="0"/>
              <a:t>How does advertising impact bottom line?</a:t>
            </a:r>
          </a:p>
          <a:p>
            <a:endParaRPr lang="en-US" sz="2400" dirty="0"/>
          </a:p>
          <a:p>
            <a:r>
              <a:rPr lang="en-US" sz="2400" dirty="0"/>
              <a:t>Experiments allow us to test many ideas and quantify causal impact</a:t>
            </a:r>
          </a:p>
          <a:p>
            <a:endParaRPr lang="en-US" sz="2400" dirty="0"/>
          </a:p>
        </p:txBody>
      </p:sp>
      <p:sp>
        <p:nvSpPr>
          <p:cNvPr id="5" name="Date Placeholder 4">
            <a:extLst>
              <a:ext uri="{FF2B5EF4-FFF2-40B4-BE49-F238E27FC236}">
                <a16:creationId xmlns:a16="http://schemas.microsoft.com/office/drawing/2014/main" id="{40DD0955-09D9-509D-8A91-CC835CD5CB06}"/>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9D0D6C33-31D3-E3E8-C6C1-DB6B8CB10D14}"/>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196039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61090-700C-C925-B0C3-93FB5228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3AA79-BA9D-B478-8DD9-7F19435B1264}"/>
              </a:ext>
            </a:extLst>
          </p:cNvPr>
          <p:cNvSpPr>
            <a:spLocks noGrp="1"/>
          </p:cNvSpPr>
          <p:nvPr>
            <p:ph type="ctrTitle"/>
          </p:nvPr>
        </p:nvSpPr>
        <p:spPr/>
        <p:txBody>
          <a:bodyPr/>
          <a:lstStyle/>
          <a:p>
            <a:r>
              <a:rPr lang="en-US" dirty="0"/>
              <a:t>Motivation for Experiments, Continued</a:t>
            </a:r>
          </a:p>
        </p:txBody>
      </p:sp>
      <p:pic>
        <p:nvPicPr>
          <p:cNvPr id="7" name="Picture 6" descr="Search results page on Bing for the query “flowers,” showing several sponsored links. Certain ad lines—such as “Get Same Day Flowers in Hours!” and “Send Flowers from $19.99”—are circled, indicating the original version of the displayed ads before changes.">
            <a:extLst>
              <a:ext uri="{FF2B5EF4-FFF2-40B4-BE49-F238E27FC236}">
                <a16:creationId xmlns:a16="http://schemas.microsoft.com/office/drawing/2014/main" id="{9028F898-E27B-ED2E-2483-DFD4154ECBFB}"/>
              </a:ext>
            </a:extLst>
          </p:cNvPr>
          <p:cNvPicPr>
            <a:picLocks noChangeAspect="1"/>
          </p:cNvPicPr>
          <p:nvPr/>
        </p:nvPicPr>
        <p:blipFill>
          <a:blip r:embed="rId3"/>
          <a:stretch>
            <a:fillRect/>
          </a:stretch>
        </p:blipFill>
        <p:spPr>
          <a:xfrm>
            <a:off x="1828800" y="1730813"/>
            <a:ext cx="4575257" cy="3065153"/>
          </a:xfrm>
          <a:prstGeom prst="rect">
            <a:avLst/>
          </a:prstGeom>
        </p:spPr>
      </p:pic>
      <p:pic>
        <p:nvPicPr>
          <p:cNvPr id="8" name="Picture 7" descr="Search results page on Bing for the query “flowers,” showing updated sponsored links. The same ad lines as in the left image are circled, but their positions and wording differ slightly, highlighting changes made during an A/B test of advertisement placement and copy.">
            <a:extLst>
              <a:ext uri="{FF2B5EF4-FFF2-40B4-BE49-F238E27FC236}">
                <a16:creationId xmlns:a16="http://schemas.microsoft.com/office/drawing/2014/main" id="{558C99D5-D1FC-2AC5-EF06-6133BFD71DAC}"/>
              </a:ext>
            </a:extLst>
          </p:cNvPr>
          <p:cNvPicPr>
            <a:picLocks noChangeAspect="1"/>
          </p:cNvPicPr>
          <p:nvPr/>
        </p:nvPicPr>
        <p:blipFill>
          <a:blip r:embed="rId4"/>
          <a:stretch>
            <a:fillRect/>
          </a:stretch>
        </p:blipFill>
        <p:spPr>
          <a:xfrm>
            <a:off x="6497120" y="1529073"/>
            <a:ext cx="4468035" cy="2993320"/>
          </a:xfrm>
          <a:prstGeom prst="rect">
            <a:avLst/>
          </a:prstGeom>
        </p:spPr>
      </p:pic>
      <p:sp>
        <p:nvSpPr>
          <p:cNvPr id="9" name="TextBox 8">
            <a:extLst>
              <a:ext uri="{FF2B5EF4-FFF2-40B4-BE49-F238E27FC236}">
                <a16:creationId xmlns:a16="http://schemas.microsoft.com/office/drawing/2014/main" id="{94108627-74A9-B183-EE7C-8E74231057DE}"/>
              </a:ext>
            </a:extLst>
          </p:cNvPr>
          <p:cNvSpPr txBox="1"/>
          <p:nvPr/>
        </p:nvSpPr>
        <p:spPr>
          <a:xfrm>
            <a:off x="7445829" y="4714504"/>
            <a:ext cx="2062809" cy="276999"/>
          </a:xfrm>
          <a:prstGeom prst="rect">
            <a:avLst/>
          </a:prstGeom>
          <a:noFill/>
        </p:spPr>
        <p:txBody>
          <a:bodyPr wrap="none" rtlCol="0">
            <a:spAutoFit/>
          </a:bodyPr>
          <a:lstStyle/>
          <a:p>
            <a:r>
              <a:rPr lang="en-US" sz="1200" dirty="0"/>
              <a:t>Source: </a:t>
            </a:r>
            <a:r>
              <a:rPr lang="en-US" sz="1200" dirty="0" err="1"/>
              <a:t>Kohavi</a:t>
            </a:r>
            <a:r>
              <a:rPr lang="en-US" sz="1200" dirty="0"/>
              <a:t>, Tang, and Xu</a:t>
            </a:r>
          </a:p>
        </p:txBody>
      </p:sp>
      <p:sp>
        <p:nvSpPr>
          <p:cNvPr id="5" name="Date Placeholder 4">
            <a:extLst>
              <a:ext uri="{FF2B5EF4-FFF2-40B4-BE49-F238E27FC236}">
                <a16:creationId xmlns:a16="http://schemas.microsoft.com/office/drawing/2014/main" id="{F4747E27-4F02-E3E2-6A34-1A1B448A7363}"/>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F657CA72-AA7D-2C08-E7FD-BB82FA68ECAE}"/>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288675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F35BE-E75E-AA8C-5637-618915321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76D9F-96DC-27DD-0BFD-BCD4114C5FF4}"/>
              </a:ext>
            </a:extLst>
          </p:cNvPr>
          <p:cNvSpPr>
            <a:spLocks noGrp="1"/>
          </p:cNvSpPr>
          <p:nvPr>
            <p:ph type="ctrTitle"/>
          </p:nvPr>
        </p:nvSpPr>
        <p:spPr/>
        <p:txBody>
          <a:bodyPr/>
          <a:lstStyle/>
          <a:p>
            <a:r>
              <a:rPr lang="en-US" dirty="0"/>
              <a:t>Hard to Assess New Ideas</a:t>
            </a:r>
          </a:p>
        </p:txBody>
      </p:sp>
      <p:sp>
        <p:nvSpPr>
          <p:cNvPr id="8" name="Text Placeholder 7">
            <a:extLst>
              <a:ext uri="{FF2B5EF4-FFF2-40B4-BE49-F238E27FC236}">
                <a16:creationId xmlns:a16="http://schemas.microsoft.com/office/drawing/2014/main" id="{C7532200-4958-E47F-89F5-3058AA255CA2}"/>
              </a:ext>
            </a:extLst>
          </p:cNvPr>
          <p:cNvSpPr>
            <a:spLocks noGrp="1"/>
          </p:cNvSpPr>
          <p:nvPr>
            <p:ph type="body" sz="quarter" idx="14"/>
          </p:nvPr>
        </p:nvSpPr>
        <p:spPr>
          <a:xfrm>
            <a:off x="1691338" y="1601191"/>
            <a:ext cx="3775185" cy="3411537"/>
          </a:xfrm>
        </p:spPr>
        <p:txBody>
          <a:bodyPr>
            <a:normAutofit/>
          </a:bodyPr>
          <a:lstStyle/>
          <a:p>
            <a:r>
              <a:rPr lang="en-US" sz="2000" dirty="0"/>
              <a:t>Google tested 41 shades of blue</a:t>
            </a:r>
          </a:p>
          <a:p>
            <a:endParaRPr lang="en-US" sz="2000" dirty="0"/>
          </a:p>
          <a:p>
            <a:r>
              <a:rPr lang="en-US" sz="2000" dirty="0"/>
              <a:t>Head of design thought it was crazy</a:t>
            </a:r>
          </a:p>
          <a:p>
            <a:endParaRPr lang="en-US" sz="2000" dirty="0"/>
          </a:p>
          <a:p>
            <a:r>
              <a:rPr lang="en-US" sz="2000" dirty="0"/>
              <a:t>Turned out to matter!</a:t>
            </a:r>
          </a:p>
          <a:p>
            <a:pPr lvl="1"/>
            <a:r>
              <a:rPr lang="en-US" sz="2000" dirty="0"/>
              <a:t>Engagement increased substantially</a:t>
            </a:r>
          </a:p>
          <a:p>
            <a:endParaRPr lang="en-US" sz="2000" dirty="0"/>
          </a:p>
          <a:p>
            <a:endParaRPr lang="en-US" sz="2000" dirty="0"/>
          </a:p>
        </p:txBody>
      </p:sp>
      <p:pic>
        <p:nvPicPr>
          <p:cNvPr id="9" name="Picture 8" descr="Google search results page showing Purdue University links, with blue hyperlinked titles.">
            <a:extLst>
              <a:ext uri="{FF2B5EF4-FFF2-40B4-BE49-F238E27FC236}">
                <a16:creationId xmlns:a16="http://schemas.microsoft.com/office/drawing/2014/main" id="{1031F67E-599E-4102-5BF0-A521FCD00B62}"/>
              </a:ext>
            </a:extLst>
          </p:cNvPr>
          <p:cNvPicPr>
            <a:picLocks noChangeAspect="1"/>
          </p:cNvPicPr>
          <p:nvPr/>
        </p:nvPicPr>
        <p:blipFill>
          <a:blip r:embed="rId3"/>
          <a:stretch>
            <a:fillRect/>
          </a:stretch>
        </p:blipFill>
        <p:spPr>
          <a:xfrm>
            <a:off x="5466523" y="941136"/>
            <a:ext cx="6017120" cy="4909897"/>
          </a:xfrm>
          <a:prstGeom prst="rect">
            <a:avLst/>
          </a:prstGeom>
        </p:spPr>
      </p:pic>
      <p:sp>
        <p:nvSpPr>
          <p:cNvPr id="5" name="Date Placeholder 4">
            <a:extLst>
              <a:ext uri="{FF2B5EF4-FFF2-40B4-BE49-F238E27FC236}">
                <a16:creationId xmlns:a16="http://schemas.microsoft.com/office/drawing/2014/main" id="{A00945BB-70E9-E049-B29C-77BA30F8044B}"/>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E050DED8-D8CD-A150-68D2-899498F23067}"/>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282442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17D2C-A0B8-267B-2695-4367208F1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BF99E-534E-D948-0A60-9C36CCCEC2E3}"/>
              </a:ext>
            </a:extLst>
          </p:cNvPr>
          <p:cNvSpPr>
            <a:spLocks noGrp="1"/>
          </p:cNvSpPr>
          <p:nvPr>
            <p:ph type="ctrTitle"/>
          </p:nvPr>
        </p:nvSpPr>
        <p:spPr/>
        <p:txBody>
          <a:bodyPr/>
          <a:lstStyle/>
          <a:p>
            <a:r>
              <a:rPr lang="en-US" dirty="0"/>
              <a:t>Quantify Impact</a:t>
            </a:r>
          </a:p>
        </p:txBody>
      </p:sp>
      <p:sp>
        <p:nvSpPr>
          <p:cNvPr id="8" name="Text Placeholder 7">
            <a:extLst>
              <a:ext uri="{FF2B5EF4-FFF2-40B4-BE49-F238E27FC236}">
                <a16:creationId xmlns:a16="http://schemas.microsoft.com/office/drawing/2014/main" id="{6BB5BCA0-64AB-51C2-7565-883D6C862702}"/>
              </a:ext>
            </a:extLst>
          </p:cNvPr>
          <p:cNvSpPr>
            <a:spLocks noGrp="1"/>
          </p:cNvSpPr>
          <p:nvPr>
            <p:ph type="body" sz="quarter" idx="14"/>
          </p:nvPr>
        </p:nvSpPr>
        <p:spPr>
          <a:xfrm>
            <a:off x="1691338" y="1601191"/>
            <a:ext cx="9045242" cy="3411537"/>
          </a:xfrm>
        </p:spPr>
        <p:txBody>
          <a:bodyPr>
            <a:normAutofit lnSpcReduction="10000"/>
          </a:bodyPr>
          <a:lstStyle/>
          <a:p>
            <a:r>
              <a:rPr lang="en-US" sz="2000" dirty="0"/>
              <a:t>Website latency impacts user experience</a:t>
            </a:r>
          </a:p>
          <a:p>
            <a:pPr lvl="1"/>
            <a:r>
              <a:rPr lang="en-US" sz="2000" dirty="0"/>
              <a:t>Users like fast websites</a:t>
            </a:r>
          </a:p>
          <a:p>
            <a:endParaRPr lang="en-US" sz="2000" dirty="0"/>
          </a:p>
          <a:p>
            <a:r>
              <a:rPr lang="en-US" sz="2000" dirty="0"/>
              <a:t>Engineers are expensive!</a:t>
            </a:r>
          </a:p>
          <a:p>
            <a:endParaRPr lang="en-US" sz="2000" dirty="0"/>
          </a:p>
          <a:p>
            <a:r>
              <a:rPr lang="en-US" sz="2000" dirty="0"/>
              <a:t>How to determine if it is worthwhile to hire an engineer to reduce latency?</a:t>
            </a:r>
          </a:p>
          <a:p>
            <a:endParaRPr lang="en-US" sz="2000" dirty="0"/>
          </a:p>
          <a:p>
            <a:r>
              <a:rPr lang="en-US" sz="2000" dirty="0"/>
              <a:t>Microsoft has run many such experiments</a:t>
            </a:r>
          </a:p>
          <a:p>
            <a:pPr lvl="1"/>
            <a:r>
              <a:rPr lang="en-US" sz="2000" dirty="0"/>
              <a:t>Found that 10 millisecond decrease in latency pays for an engineer</a:t>
            </a:r>
          </a:p>
          <a:p>
            <a:pPr lvl="1"/>
            <a:r>
              <a:rPr lang="en-US" sz="2000" dirty="0"/>
              <a:t>Takes ~200 milliseconds to blink an eye</a:t>
            </a:r>
          </a:p>
          <a:p>
            <a:endParaRPr lang="en-US" sz="2000" dirty="0"/>
          </a:p>
          <a:p>
            <a:endParaRPr lang="en-US" sz="2000" dirty="0"/>
          </a:p>
        </p:txBody>
      </p:sp>
      <p:sp>
        <p:nvSpPr>
          <p:cNvPr id="5" name="Date Placeholder 4">
            <a:extLst>
              <a:ext uri="{FF2B5EF4-FFF2-40B4-BE49-F238E27FC236}">
                <a16:creationId xmlns:a16="http://schemas.microsoft.com/office/drawing/2014/main" id="{DA65EC5B-2F15-3B83-0067-A19AAF9EF531}"/>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5E199DE6-3759-3F2D-210D-3B01527AE775}"/>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380587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F994B-1169-3D25-54E0-C5260486C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FFBDC-9BC0-3B57-A4F3-0F76101EC64E}"/>
              </a:ext>
            </a:extLst>
          </p:cNvPr>
          <p:cNvSpPr>
            <a:spLocks noGrp="1"/>
          </p:cNvSpPr>
          <p:nvPr>
            <p:ph type="ctrTitle"/>
          </p:nvPr>
        </p:nvSpPr>
        <p:spPr>
          <a:xfrm>
            <a:off x="2647199" y="1501742"/>
            <a:ext cx="7300940" cy="664797"/>
          </a:xfrm>
        </p:spPr>
        <p:txBody>
          <a:bodyPr/>
          <a:lstStyle/>
          <a:p>
            <a:r>
              <a:rPr lang="en-US" dirty="0"/>
              <a:t>Running A/B tests</a:t>
            </a:r>
          </a:p>
        </p:txBody>
      </p:sp>
      <p:sp>
        <p:nvSpPr>
          <p:cNvPr id="4" name="Date Placeholder 3">
            <a:extLst>
              <a:ext uri="{FF2B5EF4-FFF2-40B4-BE49-F238E27FC236}">
                <a16:creationId xmlns:a16="http://schemas.microsoft.com/office/drawing/2014/main" id="{DF577FA4-6AA0-05B6-036A-56AA14E57BC4}"/>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Placeholder 4">
            <a:extLst>
              <a:ext uri="{FF2B5EF4-FFF2-40B4-BE49-F238E27FC236}">
                <a16:creationId xmlns:a16="http://schemas.microsoft.com/office/drawing/2014/main" id="{327120E0-439D-54D6-FCB8-A40A5FAE3A87}"/>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026438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4F059-14C6-5105-21A5-7F7018CD7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270C7-BA2E-030F-E59E-C1CF9A04374A}"/>
              </a:ext>
            </a:extLst>
          </p:cNvPr>
          <p:cNvSpPr>
            <a:spLocks noGrp="1"/>
          </p:cNvSpPr>
          <p:nvPr>
            <p:ph type="ctrTitle"/>
          </p:nvPr>
        </p:nvSpPr>
        <p:spPr/>
        <p:txBody>
          <a:bodyPr/>
          <a:lstStyle/>
          <a:p>
            <a:r>
              <a:rPr lang="en-US" dirty="0"/>
              <a:t>Choosing the Unit of Randomization</a:t>
            </a:r>
          </a:p>
        </p:txBody>
      </p:sp>
      <p:sp>
        <p:nvSpPr>
          <p:cNvPr id="4" name="Text Placeholder 3">
            <a:extLst>
              <a:ext uri="{FF2B5EF4-FFF2-40B4-BE49-F238E27FC236}">
                <a16:creationId xmlns:a16="http://schemas.microsoft.com/office/drawing/2014/main" id="{7D4CE958-5566-9E53-076C-CBB5C88C9DD3}"/>
              </a:ext>
            </a:extLst>
          </p:cNvPr>
          <p:cNvSpPr>
            <a:spLocks noGrp="1"/>
          </p:cNvSpPr>
          <p:nvPr>
            <p:ph type="body" sz="quarter" idx="14"/>
          </p:nvPr>
        </p:nvSpPr>
        <p:spPr>
          <a:xfrm>
            <a:off x="1828800" y="1448791"/>
            <a:ext cx="8755380" cy="3880136"/>
          </a:xfrm>
        </p:spPr>
        <p:txBody>
          <a:bodyPr>
            <a:normAutofit fontScale="92500" lnSpcReduction="20000"/>
          </a:bodyPr>
          <a:lstStyle/>
          <a:p>
            <a:r>
              <a:rPr lang="en-US" sz="2400" dirty="0"/>
              <a:t>Determine what you will randomize into the different treatment arms</a:t>
            </a:r>
          </a:p>
          <a:p>
            <a:pPr lvl="1"/>
            <a:r>
              <a:rPr lang="en-US" sz="2400" dirty="0"/>
              <a:t>User, user-session, page, day, store, …</a:t>
            </a:r>
          </a:p>
          <a:p>
            <a:endParaRPr lang="en-US" sz="2400" dirty="0"/>
          </a:p>
          <a:p>
            <a:r>
              <a:rPr lang="en-US" sz="2400" dirty="0"/>
              <a:t>Decision balances:</a:t>
            </a:r>
          </a:p>
          <a:p>
            <a:pPr lvl="1"/>
            <a:r>
              <a:rPr lang="en-US" sz="2400" dirty="0"/>
              <a:t>Feasibility: Can we randomize at this level? </a:t>
            </a:r>
          </a:p>
          <a:p>
            <a:pPr lvl="2"/>
            <a:r>
              <a:rPr lang="en-US" sz="2400" dirty="0"/>
              <a:t>E.g. hard for Walmart to randomize at customer level in its stores</a:t>
            </a:r>
          </a:p>
          <a:p>
            <a:pPr lvl="1"/>
            <a:r>
              <a:rPr lang="en-US" sz="2400" dirty="0"/>
              <a:t>Power</a:t>
            </a:r>
          </a:p>
          <a:p>
            <a:pPr lvl="2"/>
            <a:r>
              <a:rPr lang="en-US" sz="2400" dirty="0"/>
              <a:t>Randomizing at most granular level usually good for statistical power</a:t>
            </a:r>
          </a:p>
          <a:p>
            <a:pPr lvl="1"/>
            <a:r>
              <a:rPr lang="en-US" sz="2400" dirty="0"/>
              <a:t>Interference concerns</a:t>
            </a:r>
          </a:p>
          <a:p>
            <a:pPr lvl="2"/>
            <a:r>
              <a:rPr lang="en-US" sz="2400" dirty="0"/>
              <a:t>Do units interact with each other?</a:t>
            </a:r>
          </a:p>
          <a:p>
            <a:pPr lvl="1"/>
            <a:endParaRPr lang="en-US" sz="2400" dirty="0"/>
          </a:p>
        </p:txBody>
      </p:sp>
      <p:sp>
        <p:nvSpPr>
          <p:cNvPr id="5" name="Date Placeholder 4">
            <a:extLst>
              <a:ext uri="{FF2B5EF4-FFF2-40B4-BE49-F238E27FC236}">
                <a16:creationId xmlns:a16="http://schemas.microsoft.com/office/drawing/2014/main" id="{D43C2381-2FC4-388E-3AF7-E4C204F53CA5}"/>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39E1D447-1712-83DF-1759-15C57B66E073}"/>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272700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5F682-551B-BC22-B3D9-3A8F77850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6B006-61DB-E654-167A-57170BF91F22}"/>
              </a:ext>
            </a:extLst>
          </p:cNvPr>
          <p:cNvSpPr>
            <a:spLocks noGrp="1"/>
          </p:cNvSpPr>
          <p:nvPr>
            <p:ph type="ctrTitle"/>
          </p:nvPr>
        </p:nvSpPr>
        <p:spPr/>
        <p:txBody>
          <a:bodyPr/>
          <a:lstStyle/>
          <a:p>
            <a:r>
              <a:rPr lang="en-US" dirty="0"/>
              <a:t>Randomize then Analyze</a:t>
            </a:r>
          </a:p>
        </p:txBody>
      </p:sp>
      <p:sp>
        <p:nvSpPr>
          <p:cNvPr id="4" name="Text Placeholder 3">
            <a:extLst>
              <a:ext uri="{FF2B5EF4-FFF2-40B4-BE49-F238E27FC236}">
                <a16:creationId xmlns:a16="http://schemas.microsoft.com/office/drawing/2014/main" id="{5EA3F0DF-B055-9FC0-8700-9BD72D0208FF}"/>
              </a:ext>
            </a:extLst>
          </p:cNvPr>
          <p:cNvSpPr>
            <a:spLocks noGrp="1"/>
          </p:cNvSpPr>
          <p:nvPr>
            <p:ph type="body" sz="quarter" idx="14"/>
          </p:nvPr>
        </p:nvSpPr>
        <p:spPr>
          <a:xfrm>
            <a:off x="1828800" y="1448791"/>
            <a:ext cx="8755380" cy="3880136"/>
          </a:xfrm>
        </p:spPr>
        <p:txBody>
          <a:bodyPr>
            <a:normAutofit fontScale="92500" lnSpcReduction="20000"/>
          </a:bodyPr>
          <a:lstStyle/>
          <a:p>
            <a:r>
              <a:rPr lang="en-US" sz="2400" dirty="0"/>
              <a:t>Randomly split traffic between two (or more) versions</a:t>
            </a:r>
          </a:p>
          <a:p>
            <a:pPr lvl="1"/>
            <a:r>
              <a:rPr lang="en-US" sz="2400" dirty="0"/>
              <a:t>Version A: Control, often the status quo</a:t>
            </a:r>
          </a:p>
          <a:p>
            <a:pPr lvl="1"/>
            <a:r>
              <a:rPr lang="en-US" sz="2400" dirty="0"/>
              <a:t>Version B: Treatment, includes some changes</a:t>
            </a:r>
          </a:p>
          <a:p>
            <a:endParaRPr lang="en-US" sz="2400" dirty="0"/>
          </a:p>
          <a:p>
            <a:r>
              <a:rPr lang="en-US" sz="2400" dirty="0"/>
              <a:t>Collect metrics of interest</a:t>
            </a:r>
          </a:p>
          <a:p>
            <a:endParaRPr lang="en-US" sz="2400" dirty="0"/>
          </a:p>
          <a:p>
            <a:r>
              <a:rPr lang="en-US" sz="2400" dirty="0"/>
              <a:t>Test for differences between the groups</a:t>
            </a:r>
          </a:p>
          <a:p>
            <a:pPr lvl="1"/>
            <a:r>
              <a:rPr lang="en-US" sz="2400" dirty="0"/>
              <a:t>We call the difference the </a:t>
            </a:r>
            <a:r>
              <a:rPr lang="en-US" sz="2400" b="1" dirty="0"/>
              <a:t>estimated treatment effect</a:t>
            </a:r>
          </a:p>
          <a:p>
            <a:pPr marL="0" indent="0">
              <a:buNone/>
            </a:pPr>
            <a:endParaRPr lang="en-US" sz="2400" dirty="0"/>
          </a:p>
          <a:p>
            <a:r>
              <a:rPr lang="en-US" sz="2400" dirty="0"/>
              <a:t>Question: Is assigning the first 500 customers to treatment and the next 500 to control a good way to randomize? Why not?</a:t>
            </a:r>
          </a:p>
          <a:p>
            <a:pPr lvl="1"/>
            <a:r>
              <a:rPr lang="en-US" sz="2400" dirty="0"/>
              <a:t>Randomization does not mean arbitrary assignment</a:t>
            </a:r>
          </a:p>
          <a:p>
            <a:pPr lvl="1"/>
            <a:endParaRPr lang="en-US" sz="2400" dirty="0"/>
          </a:p>
        </p:txBody>
      </p:sp>
      <p:sp>
        <p:nvSpPr>
          <p:cNvPr id="5" name="Date Placeholder 4">
            <a:extLst>
              <a:ext uri="{FF2B5EF4-FFF2-40B4-BE49-F238E27FC236}">
                <a16:creationId xmlns:a16="http://schemas.microsoft.com/office/drawing/2014/main" id="{8202CDF8-73E9-18E3-C99E-A813FBC6B60E}"/>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E61B6162-3E9A-A408-405E-38D7BDFB5D8F}"/>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238063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00D12-5B18-3506-9654-84DDC897E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EC21D6-C58E-0BB7-373F-61740E45B17B}"/>
              </a:ext>
            </a:extLst>
          </p:cNvPr>
          <p:cNvSpPr>
            <a:spLocks noGrp="1"/>
          </p:cNvSpPr>
          <p:nvPr>
            <p:ph type="ctrTitle"/>
          </p:nvPr>
        </p:nvSpPr>
        <p:spPr/>
        <p:txBody>
          <a:bodyPr/>
          <a:lstStyle/>
          <a:p>
            <a:r>
              <a:rPr lang="en-US" dirty="0"/>
              <a:t>Analyze Differences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E765275-DC06-AF02-A97D-77622BC446EA}"/>
                  </a:ext>
                </a:extLst>
              </p:cNvPr>
              <p:cNvSpPr>
                <a:spLocks noGrp="1"/>
              </p:cNvSpPr>
              <p:nvPr>
                <p:ph type="body" sz="quarter" idx="14"/>
              </p:nvPr>
            </p:nvSpPr>
            <p:spPr>
              <a:xfrm>
                <a:off x="1828800" y="1448791"/>
                <a:ext cx="8755380" cy="3880136"/>
              </a:xfrm>
            </p:spPr>
            <p:txBody>
              <a:bodyPr>
                <a:normAutofit/>
              </a:bodyPr>
              <a:lstStyle/>
              <a:p>
                <a:r>
                  <a:rPr lang="en-US" sz="2400" dirty="0"/>
                  <a:t>Estimate the difference in average outcomes among groups</a:t>
                </a:r>
              </a:p>
              <a:p>
                <a:pPr lvl="1"/>
                <a:r>
                  <a:rPr lang="en-US" sz="2400" dirty="0"/>
                  <a:t>Estimate the difference </a:t>
                </a:r>
                <a14:m>
                  <m:oMath xmlns:m="http://schemas.openxmlformats.org/officeDocument/2006/math">
                    <m:r>
                      <a:rPr lang="en-US" sz="2400" b="0" i="1" smtClean="0">
                        <a:latin typeface="Cambria Math" panose="02040503050406030204" pitchFamily="18" charset="0"/>
                      </a:rPr>
                      <m:t>𝜏</m:t>
                    </m:r>
                    <m:r>
                      <a:rPr lang="en-US" sz="2400" b="0" i="1" smtClean="0">
                        <a:latin typeface="Cambria Math" panose="02040503050406030204" pitchFamily="18" charset="0"/>
                      </a:rPr>
                      <m:t>=</m:t>
                    </m:r>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𝑌</m:t>
                        </m:r>
                      </m:e>
                      <m:e>
                        <m:r>
                          <a:rPr lang="en-US" sz="2400" b="0" i="1" smtClean="0">
                            <a:latin typeface="Cambria Math" panose="02040503050406030204" pitchFamily="18" charset="0"/>
                          </a:rPr>
                          <m:t>𝐷</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𝐸</m:t>
                    </m:r>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rPr>
                      <m:t>|</m:t>
                    </m:r>
                    <m:r>
                      <a:rPr lang="en-US" sz="2400" b="0" i="1" smtClean="0">
                        <a:latin typeface="Cambria Math" panose="02040503050406030204" pitchFamily="18" charset="0"/>
                      </a:rPr>
                      <m:t>𝐷</m:t>
                    </m:r>
                    <m:r>
                      <a:rPr lang="en-US" sz="2400" b="0" i="1" smtClean="0">
                        <a:latin typeface="Cambria Math" panose="02040503050406030204" pitchFamily="18" charset="0"/>
                      </a:rPr>
                      <m:t>=0]</m:t>
                    </m:r>
                  </m:oMath>
                </a14:m>
                <a:endParaRPr lang="en-US" sz="2400" dirty="0"/>
              </a:p>
              <a:p>
                <a:pPr lvl="1"/>
                <a14:m>
                  <m:oMath xmlns:m="http://schemas.openxmlformats.org/officeDocument/2006/math">
                    <m:r>
                      <a:rPr lang="en-US" sz="2400" b="0" i="1" smtClean="0">
                        <a:latin typeface="Cambria Math" panose="02040503050406030204" pitchFamily="18" charset="0"/>
                      </a:rPr>
                      <m:t>𝐷</m:t>
                    </m:r>
                  </m:oMath>
                </a14:m>
                <a:r>
                  <a:rPr lang="en-US" sz="2400" i="1" dirty="0">
                    <a:latin typeface="Cambria Math" panose="02040503050406030204" pitchFamily="18" charset="0"/>
                  </a:rPr>
                  <a:t> </a:t>
                </a:r>
                <a:r>
                  <a:rPr lang="en-US" sz="2400" dirty="0">
                    <a:latin typeface="Cambria Math" panose="02040503050406030204" pitchFamily="18" charset="0"/>
                  </a:rPr>
                  <a:t>= Treatment dummy variable</a:t>
                </a:r>
              </a:p>
              <a:p>
                <a:pPr lvl="1"/>
                <a14:m>
                  <m:oMath xmlns:m="http://schemas.openxmlformats.org/officeDocument/2006/math">
                    <m:r>
                      <a:rPr lang="en-US" sz="2400" b="0" i="1" smtClean="0">
                        <a:latin typeface="Cambria Math" panose="02040503050406030204" pitchFamily="18" charset="0"/>
                      </a:rPr>
                      <m:t>𝜏</m:t>
                    </m:r>
                  </m:oMath>
                </a14:m>
                <a:r>
                  <a:rPr lang="en-US" sz="2400" dirty="0"/>
                  <a:t> is called the treatment effect</a:t>
                </a:r>
              </a:p>
              <a:p>
                <a:endParaRPr lang="en-US" sz="2400" dirty="0"/>
              </a:p>
              <a:p>
                <a:r>
                  <a:rPr lang="en-US" sz="2400" dirty="0"/>
                  <a:t>To test if </a:t>
                </a:r>
                <a14:m>
                  <m:oMath xmlns:m="http://schemas.openxmlformats.org/officeDocument/2006/math">
                    <m:r>
                      <a:rPr lang="en-US" sz="2400" b="0" i="1" smtClean="0">
                        <a:latin typeface="Cambria Math" panose="02040503050406030204" pitchFamily="18" charset="0"/>
                      </a:rPr>
                      <m:t>𝜏</m:t>
                    </m:r>
                  </m:oMath>
                </a14:m>
                <a:r>
                  <a:rPr lang="en-US" sz="2400" dirty="0"/>
                  <a:t> is significantly different from 0, can estimate this using a regression</a:t>
                </a:r>
              </a:p>
              <a:p>
                <a:pPr lvl="1"/>
                <a:r>
                  <a:rPr lang="en-US" sz="2400" dirty="0"/>
                  <a:t>A/B testing platforms will handle this for you)</a:t>
                </a:r>
              </a:p>
              <a:p>
                <a:endParaRPr lang="en-US" sz="2400" dirty="0"/>
              </a:p>
              <a:p>
                <a:pPr marL="228600" lvl="1" indent="0">
                  <a:buNone/>
                </a:pPr>
                <a:endParaRPr lang="en-US" sz="2400" dirty="0"/>
              </a:p>
            </p:txBody>
          </p:sp>
        </mc:Choice>
        <mc:Fallback xmlns="">
          <p:sp>
            <p:nvSpPr>
              <p:cNvPr id="4" name="Text Placeholder 3">
                <a:extLst>
                  <a:ext uri="{FF2B5EF4-FFF2-40B4-BE49-F238E27FC236}">
                    <a16:creationId xmlns:a16="http://schemas.microsoft.com/office/drawing/2014/main" id="{AE765275-DC06-AF02-A97D-77622BC446EA}"/>
                  </a:ext>
                </a:extLst>
              </p:cNvPr>
              <p:cNvSpPr>
                <a:spLocks noGrp="1" noRot="1" noChangeAspect="1" noMove="1" noResize="1" noEditPoints="1" noAdjustHandles="1" noChangeArrowheads="1" noChangeShapeType="1" noTextEdit="1"/>
              </p:cNvSpPr>
              <p:nvPr>
                <p:ph type="body" sz="quarter" idx="14"/>
              </p:nvPr>
            </p:nvSpPr>
            <p:spPr>
              <a:xfrm>
                <a:off x="1828800" y="1448791"/>
                <a:ext cx="8755380" cy="3880136"/>
              </a:xfrm>
              <a:blipFill>
                <a:blip r:embed="rId3"/>
                <a:stretch>
                  <a:fillRect l="-2029" t="-2614" r="-217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6E7832C9-D722-A57D-6B06-7BE573EF161E}"/>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13C457F5-CE22-B8FB-B4F7-C3A1F4D69C8E}"/>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3187605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ED560-5AEA-A3A1-13A5-BA8A0508E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5BBEF-C5C2-E423-36DD-7550592DE6BC}"/>
              </a:ext>
            </a:extLst>
          </p:cNvPr>
          <p:cNvSpPr>
            <a:spLocks noGrp="1"/>
          </p:cNvSpPr>
          <p:nvPr>
            <p:ph type="ctrTitle"/>
          </p:nvPr>
        </p:nvSpPr>
        <p:spPr/>
        <p:txBody>
          <a:bodyPr/>
          <a:lstStyle/>
          <a:p>
            <a:r>
              <a:rPr lang="en-US" dirty="0"/>
              <a:t>Statistical Hypothesis Testing</a:t>
            </a:r>
          </a:p>
        </p:txBody>
      </p:sp>
      <p:sp>
        <p:nvSpPr>
          <p:cNvPr id="4" name="Text Placeholder 3">
            <a:extLst>
              <a:ext uri="{FF2B5EF4-FFF2-40B4-BE49-F238E27FC236}">
                <a16:creationId xmlns:a16="http://schemas.microsoft.com/office/drawing/2014/main" id="{6C28B519-98CF-6F00-C792-855F1B1C6B6D}"/>
              </a:ext>
            </a:extLst>
          </p:cNvPr>
          <p:cNvSpPr>
            <a:spLocks noGrp="1"/>
          </p:cNvSpPr>
          <p:nvPr>
            <p:ph type="body" sz="quarter" idx="14"/>
          </p:nvPr>
        </p:nvSpPr>
        <p:spPr>
          <a:xfrm>
            <a:off x="1828800" y="1448791"/>
            <a:ext cx="8755380" cy="3880136"/>
          </a:xfrm>
        </p:spPr>
        <p:txBody>
          <a:bodyPr>
            <a:normAutofit lnSpcReduction="10000"/>
          </a:bodyPr>
          <a:lstStyle/>
          <a:p>
            <a:r>
              <a:rPr lang="en-US" sz="2400" dirty="0"/>
              <a:t>We want to know how likely the difference between treated and control would occur by chance</a:t>
            </a:r>
          </a:p>
          <a:p>
            <a:pPr lvl="1"/>
            <a:r>
              <a:rPr lang="en-US" sz="2400" dirty="0"/>
              <a:t>Typically involves calculating p-values and confidence intervals</a:t>
            </a:r>
          </a:p>
          <a:p>
            <a:endParaRPr lang="en-US" sz="2400" dirty="0"/>
          </a:p>
          <a:p>
            <a:r>
              <a:rPr lang="en-US" sz="2400" dirty="0"/>
              <a:t>Hypothesis testing gives us a way to do this</a:t>
            </a:r>
          </a:p>
          <a:p>
            <a:pPr lvl="1"/>
            <a:r>
              <a:rPr lang="en-US" sz="2400" dirty="0"/>
              <a:t>Null hypothesis: Treatment effect = 0</a:t>
            </a:r>
          </a:p>
          <a:p>
            <a:pPr lvl="1"/>
            <a:r>
              <a:rPr lang="en-US" sz="2400" dirty="0"/>
              <a:t>Alternative: Treatment effect is not zero</a:t>
            </a:r>
          </a:p>
          <a:p>
            <a:endParaRPr lang="en-US" sz="2400" dirty="0"/>
          </a:p>
          <a:p>
            <a:r>
              <a:rPr lang="en-US" sz="2400" dirty="0"/>
              <a:t>p-value: Probability under the null hypothesis of observing an absolute treatment effect at least as large as what we observed</a:t>
            </a:r>
          </a:p>
        </p:txBody>
      </p:sp>
      <p:sp>
        <p:nvSpPr>
          <p:cNvPr id="5" name="Date Placeholder 4">
            <a:extLst>
              <a:ext uri="{FF2B5EF4-FFF2-40B4-BE49-F238E27FC236}">
                <a16:creationId xmlns:a16="http://schemas.microsoft.com/office/drawing/2014/main" id="{B532EB11-910D-604A-7325-275265E2334C}"/>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9F9FE487-9201-8386-2B2A-1A331097CFAA}"/>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3114959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CD50B-AB45-296A-8096-BF875014C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EE18E-EF0E-CF1B-DD8D-3E881F988C28}"/>
              </a:ext>
            </a:extLst>
          </p:cNvPr>
          <p:cNvSpPr>
            <a:spLocks noGrp="1"/>
          </p:cNvSpPr>
          <p:nvPr>
            <p:ph type="ctrTitle"/>
          </p:nvPr>
        </p:nvSpPr>
        <p:spPr>
          <a:xfrm>
            <a:off x="2107520" y="437030"/>
            <a:ext cx="7988980" cy="664797"/>
          </a:xfrm>
        </p:spPr>
        <p:txBody>
          <a:bodyPr/>
          <a:lstStyle/>
          <a:p>
            <a:r>
              <a:rPr lang="en-US" dirty="0"/>
              <a:t>Analyze Differences - </a:t>
            </a:r>
            <a:r>
              <a:rPr lang="en-US" sz="2400" dirty="0"/>
              <a:t>Heterogeneous Treatment Effects</a:t>
            </a:r>
            <a:br>
              <a:rPr lang="en-US" sz="2400" dirty="0"/>
            </a:br>
            <a:endParaRPr lang="en-US" dirty="0"/>
          </a:p>
        </p:txBody>
      </p:sp>
      <p:sp>
        <p:nvSpPr>
          <p:cNvPr id="4" name="Text Placeholder 3">
            <a:extLst>
              <a:ext uri="{FF2B5EF4-FFF2-40B4-BE49-F238E27FC236}">
                <a16:creationId xmlns:a16="http://schemas.microsoft.com/office/drawing/2014/main" id="{A645C694-5AA9-C5CD-73C9-B64099AB7593}"/>
              </a:ext>
            </a:extLst>
          </p:cNvPr>
          <p:cNvSpPr>
            <a:spLocks noGrp="1"/>
          </p:cNvSpPr>
          <p:nvPr>
            <p:ph type="body" sz="quarter" idx="14"/>
          </p:nvPr>
        </p:nvSpPr>
        <p:spPr>
          <a:xfrm>
            <a:off x="1828800" y="1448791"/>
            <a:ext cx="8755380" cy="3880136"/>
          </a:xfrm>
        </p:spPr>
        <p:txBody>
          <a:bodyPr>
            <a:normAutofit/>
          </a:bodyPr>
          <a:lstStyle/>
          <a:p>
            <a:r>
              <a:rPr lang="en-US" sz="2400" dirty="0"/>
              <a:t>Heterogeneous treatment effect: How the treatment impacts groups differently</a:t>
            </a:r>
          </a:p>
          <a:p>
            <a:endParaRPr lang="en-US" sz="2400" dirty="0"/>
          </a:p>
          <a:p>
            <a:r>
              <a:rPr lang="en-US" sz="2400" dirty="0"/>
              <a:t>Estimate the treatment effect among sub-groups and compare</a:t>
            </a:r>
          </a:p>
          <a:p>
            <a:pPr lvl="1"/>
            <a:r>
              <a:rPr lang="en-US" sz="2400" dirty="0"/>
              <a:t>You can also nest this in a single regression</a:t>
            </a:r>
          </a:p>
          <a:p>
            <a:endParaRPr lang="en-US" sz="2400" dirty="0"/>
          </a:p>
          <a:p>
            <a:r>
              <a:rPr lang="en-US" sz="2400" dirty="0"/>
              <a:t>Example: Estimate treatment effect among mobile users and desktop users</a:t>
            </a:r>
          </a:p>
          <a:p>
            <a:pPr marL="0" indent="0">
              <a:buNone/>
            </a:pPr>
            <a:endParaRPr lang="en-US" sz="2400" dirty="0"/>
          </a:p>
        </p:txBody>
      </p:sp>
      <p:sp>
        <p:nvSpPr>
          <p:cNvPr id="5" name="Date Placeholder 4">
            <a:extLst>
              <a:ext uri="{FF2B5EF4-FFF2-40B4-BE49-F238E27FC236}">
                <a16:creationId xmlns:a16="http://schemas.microsoft.com/office/drawing/2014/main" id="{4777BF82-64D8-0649-6A7F-120FDDB34654}"/>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8228D4C0-AB2A-D642-3996-202626697A72}"/>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2781134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5072E-94D4-D0E8-B1BD-0CD147780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3F29C-BA16-62CA-5B8D-4FEC21617CB5}"/>
              </a:ext>
            </a:extLst>
          </p:cNvPr>
          <p:cNvSpPr>
            <a:spLocks noGrp="1"/>
          </p:cNvSpPr>
          <p:nvPr>
            <p:ph type="ctrTitle"/>
          </p:nvPr>
        </p:nvSpPr>
        <p:spPr>
          <a:xfrm>
            <a:off x="2647199" y="1501742"/>
            <a:ext cx="7300940" cy="664797"/>
          </a:xfrm>
        </p:spPr>
        <p:txBody>
          <a:bodyPr/>
          <a:lstStyle/>
          <a:p>
            <a:r>
              <a:rPr lang="en-US" dirty="0"/>
              <a:t>Potential Pitfalls</a:t>
            </a:r>
          </a:p>
        </p:txBody>
      </p:sp>
      <p:sp>
        <p:nvSpPr>
          <p:cNvPr id="4" name="Date Placeholder 3">
            <a:extLst>
              <a:ext uri="{FF2B5EF4-FFF2-40B4-BE49-F238E27FC236}">
                <a16:creationId xmlns:a16="http://schemas.microsoft.com/office/drawing/2014/main" id="{3F3172D3-BEAC-BEAC-12E3-A2008DD7BCF7}"/>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Placeholder 4">
            <a:extLst>
              <a:ext uri="{FF2B5EF4-FFF2-40B4-BE49-F238E27FC236}">
                <a16:creationId xmlns:a16="http://schemas.microsoft.com/office/drawing/2014/main" id="{83C4A7F1-E6C5-D04F-99B1-B4CDF4A80A9B}"/>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2596757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C1030-3FF8-39D6-7E82-1689BC5FC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34361-8B2C-218B-54A4-C7D57EEA97C9}"/>
              </a:ext>
            </a:extLst>
          </p:cNvPr>
          <p:cNvSpPr>
            <a:spLocks noGrp="1"/>
          </p:cNvSpPr>
          <p:nvPr>
            <p:ph type="ctrTitle"/>
          </p:nvPr>
        </p:nvSpPr>
        <p:spPr/>
        <p:txBody>
          <a:bodyPr/>
          <a:lstStyle/>
          <a:p>
            <a:r>
              <a:rPr lang="en-US" dirty="0"/>
              <a:t>When Experiments Fail</a:t>
            </a:r>
          </a:p>
        </p:txBody>
      </p:sp>
      <p:sp>
        <p:nvSpPr>
          <p:cNvPr id="4" name="Text Placeholder 3">
            <a:extLst>
              <a:ext uri="{FF2B5EF4-FFF2-40B4-BE49-F238E27FC236}">
                <a16:creationId xmlns:a16="http://schemas.microsoft.com/office/drawing/2014/main" id="{017D6573-7540-936D-FDFF-B18F1D004E40}"/>
              </a:ext>
            </a:extLst>
          </p:cNvPr>
          <p:cNvSpPr>
            <a:spLocks noGrp="1"/>
          </p:cNvSpPr>
          <p:nvPr>
            <p:ph type="body" sz="quarter" idx="14"/>
          </p:nvPr>
        </p:nvSpPr>
        <p:spPr>
          <a:xfrm>
            <a:off x="1828800" y="1448791"/>
            <a:ext cx="8755380" cy="3880136"/>
          </a:xfrm>
        </p:spPr>
        <p:txBody>
          <a:bodyPr>
            <a:normAutofit/>
          </a:bodyPr>
          <a:lstStyle/>
          <a:p>
            <a:r>
              <a:rPr lang="en-US" sz="2400" dirty="0"/>
              <a:t>Randomization fails</a:t>
            </a:r>
          </a:p>
          <a:p>
            <a:endParaRPr lang="en-US" sz="2400" dirty="0"/>
          </a:p>
          <a:p>
            <a:r>
              <a:rPr lang="en-US" sz="2400" dirty="0"/>
              <a:t>Interference</a:t>
            </a:r>
          </a:p>
          <a:p>
            <a:pPr marL="0" indent="0">
              <a:buNone/>
            </a:pPr>
            <a:endParaRPr lang="en-US" sz="2400" dirty="0"/>
          </a:p>
          <a:p>
            <a:r>
              <a:rPr lang="en-US" sz="2400" dirty="0"/>
              <a:t>Statistical problems</a:t>
            </a:r>
          </a:p>
          <a:p>
            <a:endParaRPr lang="en-US" sz="2400" dirty="0"/>
          </a:p>
          <a:p>
            <a:r>
              <a:rPr lang="en-US" sz="2400" dirty="0"/>
              <a:t>Ethics and experimentation</a:t>
            </a:r>
          </a:p>
          <a:p>
            <a:endParaRPr lang="en-US" sz="2400" dirty="0"/>
          </a:p>
          <a:p>
            <a:pPr lvl="1"/>
            <a:endParaRPr lang="en-US" sz="2400" dirty="0"/>
          </a:p>
          <a:p>
            <a:endParaRPr lang="en-US" sz="2400" dirty="0"/>
          </a:p>
        </p:txBody>
      </p:sp>
      <p:sp>
        <p:nvSpPr>
          <p:cNvPr id="5" name="Date Placeholder 4">
            <a:extLst>
              <a:ext uri="{FF2B5EF4-FFF2-40B4-BE49-F238E27FC236}">
                <a16:creationId xmlns:a16="http://schemas.microsoft.com/office/drawing/2014/main" id="{1819C9C3-32F1-E350-E3F6-338CAE29A0C3}"/>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B1C37D86-5580-5363-D33C-F4300FB103B5}"/>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3640498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7C36A-1E8D-9A08-5AB2-1F3437EA1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DBA6C-C0E6-2E94-4805-11E1492E6ECA}"/>
              </a:ext>
            </a:extLst>
          </p:cNvPr>
          <p:cNvSpPr>
            <a:spLocks noGrp="1"/>
          </p:cNvSpPr>
          <p:nvPr>
            <p:ph type="ctrTitle"/>
          </p:nvPr>
        </p:nvSpPr>
        <p:spPr/>
        <p:txBody>
          <a:bodyPr/>
          <a:lstStyle/>
          <a:p>
            <a:r>
              <a:rPr lang="en-US" dirty="0"/>
              <a:t>Randomization Fails</a:t>
            </a:r>
          </a:p>
        </p:txBody>
      </p:sp>
      <p:sp>
        <p:nvSpPr>
          <p:cNvPr id="4" name="Text Placeholder 3">
            <a:extLst>
              <a:ext uri="{FF2B5EF4-FFF2-40B4-BE49-F238E27FC236}">
                <a16:creationId xmlns:a16="http://schemas.microsoft.com/office/drawing/2014/main" id="{A99118DE-3B94-0077-8240-6EF6EADA0A81}"/>
              </a:ext>
            </a:extLst>
          </p:cNvPr>
          <p:cNvSpPr>
            <a:spLocks noGrp="1"/>
          </p:cNvSpPr>
          <p:nvPr>
            <p:ph type="body" sz="quarter" idx="14"/>
          </p:nvPr>
        </p:nvSpPr>
        <p:spPr>
          <a:xfrm>
            <a:off x="1828800" y="1448791"/>
            <a:ext cx="8755380" cy="3880136"/>
          </a:xfrm>
        </p:spPr>
        <p:txBody>
          <a:bodyPr>
            <a:normAutofit lnSpcReduction="10000"/>
          </a:bodyPr>
          <a:lstStyle/>
          <a:p>
            <a:r>
              <a:rPr lang="en-US" sz="2400" dirty="0"/>
              <a:t>Actually randomizing users can be hard</a:t>
            </a:r>
          </a:p>
          <a:p>
            <a:pPr lvl="1"/>
            <a:r>
              <a:rPr lang="en-US" sz="2400" dirty="0"/>
              <a:t>A/A Tests are useful to test the experiment pipeline</a:t>
            </a:r>
          </a:p>
          <a:p>
            <a:endParaRPr lang="en-US" sz="2400" dirty="0"/>
          </a:p>
          <a:p>
            <a:r>
              <a:rPr lang="en-US" sz="2400" dirty="0"/>
              <a:t>Easy to test for mistakes implementing randomization</a:t>
            </a:r>
          </a:p>
          <a:p>
            <a:endParaRPr lang="en-US" sz="2400" dirty="0"/>
          </a:p>
          <a:p>
            <a:r>
              <a:rPr lang="en-US" sz="2400" dirty="0"/>
              <a:t>Two useful tests to run</a:t>
            </a:r>
          </a:p>
          <a:p>
            <a:pPr lvl="1"/>
            <a:r>
              <a:rPr lang="en-US" sz="2400" dirty="0"/>
              <a:t>Sample ratio mismatch: Test that the share of users receiving each treatment equal the expected shares</a:t>
            </a:r>
          </a:p>
          <a:p>
            <a:pPr lvl="1"/>
            <a:r>
              <a:rPr lang="en-US" sz="2400" dirty="0"/>
              <a:t>Balance tests: Test that the treated and control groups have similar pre-treatment characteristics</a:t>
            </a:r>
          </a:p>
          <a:p>
            <a:endParaRPr lang="en-US" sz="2400" dirty="0"/>
          </a:p>
          <a:p>
            <a:endParaRPr lang="en-US" sz="2400" dirty="0"/>
          </a:p>
        </p:txBody>
      </p:sp>
      <p:sp>
        <p:nvSpPr>
          <p:cNvPr id="5" name="Date Placeholder 4">
            <a:extLst>
              <a:ext uri="{FF2B5EF4-FFF2-40B4-BE49-F238E27FC236}">
                <a16:creationId xmlns:a16="http://schemas.microsoft.com/office/drawing/2014/main" id="{C1ED441E-B4AE-B809-B32A-E9F0CAB2EF78}"/>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B7A62173-F423-CA3B-7127-E79B4344CC37}"/>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355456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87BFF-0A27-7B8A-900B-F5BD898444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2330-E8F3-B036-4234-7ABE9D0F6897}"/>
              </a:ext>
            </a:extLst>
          </p:cNvPr>
          <p:cNvSpPr>
            <a:spLocks noGrp="1"/>
          </p:cNvSpPr>
          <p:nvPr>
            <p:ph type="ctrTitle"/>
          </p:nvPr>
        </p:nvSpPr>
        <p:spPr/>
        <p:txBody>
          <a:bodyPr/>
          <a:lstStyle/>
          <a:p>
            <a:r>
              <a:rPr lang="en-US" dirty="0"/>
              <a:t>Sample Ratio Mismatch</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AF22C-B171-4F12-C936-A4263763D733}"/>
                  </a:ext>
                </a:extLst>
              </p:cNvPr>
              <p:cNvSpPr>
                <a:spLocks noGrp="1"/>
              </p:cNvSpPr>
              <p:nvPr>
                <p:ph type="body" sz="quarter" idx="14"/>
              </p:nvPr>
            </p:nvSpPr>
            <p:spPr>
              <a:xfrm>
                <a:off x="1828800" y="1448791"/>
                <a:ext cx="8755380" cy="3880136"/>
              </a:xfrm>
            </p:spPr>
            <p:txBody>
              <a:bodyPr>
                <a:normAutofit/>
              </a:bodyPr>
              <a:lstStyle/>
              <a:p>
                <a:r>
                  <a:rPr lang="en-US" sz="2400" dirty="0"/>
                  <a:t>Sample ratio mismatch: Test that the share of users receiving each treatment equal the expected shares</a:t>
                </a:r>
              </a:p>
              <a:p>
                <a:endParaRPr lang="en-US" sz="2400" dirty="0"/>
              </a:p>
              <a:p>
                <a:r>
                  <a:rPr lang="en-US" sz="2400" dirty="0"/>
                  <a:t>Estimate a regression</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𝜀</m:t>
                          </m:r>
                        </m:e>
                        <m:sub>
                          <m:r>
                            <a:rPr lang="en-US" sz="2400" b="0" i="1" smtClean="0">
                              <a:latin typeface="Cambria Math" panose="02040503050406030204" pitchFamily="18" charset="0"/>
                            </a:rPr>
                            <m:t>𝑖</m:t>
                          </m:r>
                        </m:sub>
                      </m:sSub>
                    </m:oMath>
                  </m:oMathPara>
                </a14:m>
                <a:endParaRPr lang="en-US" sz="2400" dirty="0"/>
              </a:p>
              <a:p>
                <a:pPr marL="0" indent="0">
                  <a:buNone/>
                </a:pPr>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m:t>
                        </m:r>
                      </m:sub>
                    </m:sSub>
                  </m:oMath>
                </a14:m>
                <a:r>
                  <a:rPr lang="en-US" sz="2400" dirty="0"/>
                  <a:t>: A dummy equal to 1 if user </a:t>
                </a:r>
                <a14:m>
                  <m:oMath xmlns:m="http://schemas.openxmlformats.org/officeDocument/2006/math">
                    <m:r>
                      <a:rPr lang="en-US" sz="2400" b="0" i="1" smtClean="0">
                        <a:latin typeface="Cambria Math" panose="02040503050406030204" pitchFamily="18" charset="0"/>
                      </a:rPr>
                      <m:t>𝑖</m:t>
                    </m:r>
                  </m:oMath>
                </a14:m>
                <a:r>
                  <a:rPr lang="en-US" sz="2400" dirty="0"/>
                  <a:t> is treated</a:t>
                </a:r>
              </a:p>
              <a:p>
                <a:r>
                  <a:rPr lang="en-US" sz="2400" dirty="0"/>
                  <a:t>Test that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0</m:t>
                        </m:r>
                      </m:sub>
                    </m:sSub>
                  </m:oMath>
                </a14:m>
                <a:r>
                  <a:rPr lang="en-US" sz="2400" dirty="0"/>
                  <a:t> equals expected share of treated users</a:t>
                </a:r>
              </a:p>
              <a:p>
                <a:pPr lvl="1"/>
                <a:r>
                  <a:rPr lang="en-US" sz="2400" dirty="0"/>
                  <a:t>Default is not correct p-value, it tests the null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0</m:t>
                        </m:r>
                      </m:sub>
                    </m:sSub>
                    <m:r>
                      <a:rPr lang="en-US" sz="2400" b="0" i="1" smtClean="0">
                        <a:latin typeface="Cambria Math" panose="02040503050406030204" pitchFamily="18" charset="0"/>
                      </a:rPr>
                      <m:t>=0</m:t>
                    </m:r>
                  </m:oMath>
                </a14:m>
                <a:r>
                  <a:rPr lang="en-US" sz="2400" dirty="0"/>
                  <a:t>!</a:t>
                </a:r>
              </a:p>
            </p:txBody>
          </p:sp>
        </mc:Choice>
        <mc:Fallback xmlns="">
          <p:sp>
            <p:nvSpPr>
              <p:cNvPr id="4" name="Text Placeholder 3">
                <a:extLst>
                  <a:ext uri="{FF2B5EF4-FFF2-40B4-BE49-F238E27FC236}">
                    <a16:creationId xmlns:a16="http://schemas.microsoft.com/office/drawing/2014/main" id="{C85AF22C-B171-4F12-C936-A4263763D733}"/>
                  </a:ext>
                </a:extLst>
              </p:cNvPr>
              <p:cNvSpPr>
                <a:spLocks noGrp="1" noRot="1" noChangeAspect="1" noMove="1" noResize="1" noEditPoints="1" noAdjustHandles="1" noChangeArrowheads="1" noChangeShapeType="1" noTextEdit="1"/>
              </p:cNvSpPr>
              <p:nvPr>
                <p:ph type="body" sz="quarter" idx="14"/>
              </p:nvPr>
            </p:nvSpPr>
            <p:spPr>
              <a:xfrm>
                <a:off x="1828800" y="1448791"/>
                <a:ext cx="8755380" cy="3880136"/>
              </a:xfrm>
              <a:blipFill>
                <a:blip r:embed="rId3"/>
                <a:stretch>
                  <a:fillRect l="-2029" t="-261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A09E4AE2-2C9C-1758-65EC-25431A6B8419}"/>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E95B48E7-32A2-C28B-41B3-D952E9A81FC2}"/>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3531537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1F513-44B7-5239-E0DD-CC2A83CCD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44DF2-C950-0DA0-B4B8-9E3F0AF3320E}"/>
              </a:ext>
            </a:extLst>
          </p:cNvPr>
          <p:cNvSpPr>
            <a:spLocks noGrp="1"/>
          </p:cNvSpPr>
          <p:nvPr>
            <p:ph type="ctrTitle"/>
          </p:nvPr>
        </p:nvSpPr>
        <p:spPr/>
        <p:txBody>
          <a:bodyPr/>
          <a:lstStyle/>
          <a:p>
            <a:r>
              <a:rPr lang="en-US" dirty="0"/>
              <a:t>Balance Tests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BCFBAB9-A186-AC2F-2E30-78080F4C18C5}"/>
                  </a:ext>
                </a:extLst>
              </p:cNvPr>
              <p:cNvSpPr>
                <a:spLocks noGrp="1"/>
              </p:cNvSpPr>
              <p:nvPr>
                <p:ph type="body" sz="quarter" idx="14"/>
              </p:nvPr>
            </p:nvSpPr>
            <p:spPr>
              <a:xfrm>
                <a:off x="1828800" y="1448791"/>
                <a:ext cx="8755380" cy="3880136"/>
              </a:xfrm>
            </p:spPr>
            <p:txBody>
              <a:bodyPr>
                <a:normAutofit/>
              </a:bodyPr>
              <a:lstStyle/>
              <a:p>
                <a:r>
                  <a:rPr lang="en-US" sz="2400" dirty="0"/>
                  <a:t>Balance tests: Test that the treated and control groups have similar pre-treatment characteristics</a:t>
                </a:r>
              </a:p>
              <a:p>
                <a:endParaRPr lang="en-US" sz="2400" dirty="0"/>
              </a:p>
              <a:p>
                <a:r>
                  <a:rPr lang="en-US" sz="2400" dirty="0"/>
                  <a:t>Estimate the treatment effect of treatment on pre-treatment characteristics</a:t>
                </a:r>
              </a:p>
              <a:p>
                <a:pPr lvl="1"/>
                <a:r>
                  <a:rPr lang="en-US" sz="2400" dirty="0"/>
                  <a:t>If randomization worked, these should be equal</a:t>
                </a:r>
              </a:p>
              <a:p>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𝐷</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𝜀</m:t>
                          </m:r>
                        </m:e>
                        <m:sub>
                          <m:r>
                            <a:rPr lang="en-US" sz="2400" b="0" i="1" smtClean="0">
                              <a:latin typeface="Cambria Math" panose="02040503050406030204" pitchFamily="18" charset="0"/>
                            </a:rPr>
                            <m:t>𝑖</m:t>
                          </m:r>
                        </m:sub>
                      </m:sSub>
                    </m:oMath>
                  </m:oMathPara>
                </a14:m>
                <a:endParaRPr lang="en-US" sz="2400" dirty="0"/>
              </a:p>
              <a:p>
                <a:endParaRPr lang="en-US" sz="2400" dirty="0"/>
              </a:p>
              <a:p>
                <a:r>
                  <a:rPr lang="en-US" sz="2400" dirty="0"/>
                  <a:t>What is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oMath>
                </a14:m>
                <a:r>
                  <a:rPr lang="en-US" sz="2400" dirty="0"/>
                  <a:t>? What test would we run?</a:t>
                </a:r>
              </a:p>
              <a:p>
                <a:pPr marL="0" indent="0">
                  <a:buNone/>
                </a:pPr>
                <a:endParaRPr lang="en-US" sz="2400" dirty="0"/>
              </a:p>
              <a:p>
                <a:pPr marL="0" indent="0">
                  <a:buNone/>
                </a:pPr>
                <a:endParaRPr lang="en-US" sz="2400" dirty="0"/>
              </a:p>
            </p:txBody>
          </p:sp>
        </mc:Choice>
        <mc:Fallback xmlns="">
          <p:sp>
            <p:nvSpPr>
              <p:cNvPr id="4" name="Text Placeholder 3">
                <a:extLst>
                  <a:ext uri="{FF2B5EF4-FFF2-40B4-BE49-F238E27FC236}">
                    <a16:creationId xmlns:a16="http://schemas.microsoft.com/office/drawing/2014/main" id="{8BCFBAB9-A186-AC2F-2E30-78080F4C18C5}"/>
                  </a:ext>
                </a:extLst>
              </p:cNvPr>
              <p:cNvSpPr>
                <a:spLocks noGrp="1" noRot="1" noChangeAspect="1" noMove="1" noResize="1" noEditPoints="1" noAdjustHandles="1" noChangeArrowheads="1" noChangeShapeType="1" noTextEdit="1"/>
              </p:cNvSpPr>
              <p:nvPr>
                <p:ph type="body" sz="quarter" idx="14"/>
              </p:nvPr>
            </p:nvSpPr>
            <p:spPr>
              <a:xfrm>
                <a:off x="1828800" y="1448791"/>
                <a:ext cx="8755380" cy="3880136"/>
              </a:xfrm>
              <a:blipFill>
                <a:blip r:embed="rId3"/>
                <a:stretch>
                  <a:fillRect l="-2029" t="-2614" b="-2288"/>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D8E7DEB-11EA-242E-2E5B-C355FA1A8770}"/>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E7AB69A2-0D9B-CBBB-2D30-A9AA360E3B14}"/>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125658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9F9F7-B7D4-841A-647E-A97733E65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BB027-AF94-32FD-7C60-75CF986ED781}"/>
              </a:ext>
            </a:extLst>
          </p:cNvPr>
          <p:cNvSpPr>
            <a:spLocks noGrp="1"/>
          </p:cNvSpPr>
          <p:nvPr>
            <p:ph type="ctrTitle"/>
          </p:nvPr>
        </p:nvSpPr>
        <p:spPr/>
        <p:txBody>
          <a:bodyPr/>
          <a:lstStyle/>
          <a:p>
            <a:r>
              <a:rPr lang="en-US" dirty="0"/>
              <a:t>Interference</a:t>
            </a:r>
          </a:p>
        </p:txBody>
      </p:sp>
      <p:sp>
        <p:nvSpPr>
          <p:cNvPr id="4" name="Text Placeholder 3">
            <a:extLst>
              <a:ext uri="{FF2B5EF4-FFF2-40B4-BE49-F238E27FC236}">
                <a16:creationId xmlns:a16="http://schemas.microsoft.com/office/drawing/2014/main" id="{EE65EFE1-C66A-BA63-03BA-5B9369E6BE95}"/>
              </a:ext>
            </a:extLst>
          </p:cNvPr>
          <p:cNvSpPr>
            <a:spLocks noGrp="1"/>
          </p:cNvSpPr>
          <p:nvPr>
            <p:ph type="body" sz="quarter" idx="14"/>
          </p:nvPr>
        </p:nvSpPr>
        <p:spPr>
          <a:xfrm>
            <a:off x="1828800" y="1448791"/>
            <a:ext cx="8755380" cy="3880136"/>
          </a:xfrm>
        </p:spPr>
        <p:txBody>
          <a:bodyPr>
            <a:normAutofit lnSpcReduction="10000"/>
          </a:bodyPr>
          <a:lstStyle/>
          <a:p>
            <a:r>
              <a:rPr lang="en-US" sz="2400" dirty="0"/>
              <a:t>Interference occurs when units in the experiment interact with one another</a:t>
            </a:r>
          </a:p>
          <a:p>
            <a:endParaRPr lang="en-US" sz="2400" dirty="0"/>
          </a:p>
          <a:p>
            <a:r>
              <a:rPr lang="en-US" sz="2400" dirty="0"/>
              <a:t>Examples:</a:t>
            </a:r>
          </a:p>
          <a:p>
            <a:pPr lvl="1"/>
            <a:r>
              <a:rPr lang="en-US" sz="2400" dirty="0"/>
              <a:t>Marketplaces: If we treat some sellers but not other, do they have a competitive advantage?</a:t>
            </a:r>
          </a:p>
          <a:p>
            <a:pPr lvl="1"/>
            <a:r>
              <a:rPr lang="en-US" sz="2400" dirty="0"/>
              <a:t>Networks: If treatment impacts my posting behavior, this impacts control users who interact with me</a:t>
            </a:r>
          </a:p>
          <a:p>
            <a:endParaRPr lang="en-US" sz="2400" dirty="0"/>
          </a:p>
          <a:p>
            <a:r>
              <a:rPr lang="en-US" sz="2400" dirty="0"/>
              <a:t>Traditional statistical analysis if incorrect if interference is present</a:t>
            </a:r>
          </a:p>
          <a:p>
            <a:endParaRPr lang="en-US" sz="2400" dirty="0"/>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556D061F-4D3C-4DAC-0179-BE918B2FA448}"/>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84485B88-DF5F-C6D7-B796-4897144AB0DB}"/>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102145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CEBDD-21BE-AFA4-2274-854A58455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D287A-58A9-C0F2-0EC6-B7526395E134}"/>
              </a:ext>
            </a:extLst>
          </p:cNvPr>
          <p:cNvSpPr>
            <a:spLocks noGrp="1"/>
          </p:cNvSpPr>
          <p:nvPr>
            <p:ph type="ctrTitle"/>
          </p:nvPr>
        </p:nvSpPr>
        <p:spPr/>
        <p:txBody>
          <a:bodyPr/>
          <a:lstStyle/>
          <a:p>
            <a:r>
              <a:rPr lang="en-US" dirty="0"/>
              <a:t>Interference - Solutions</a:t>
            </a:r>
          </a:p>
        </p:txBody>
      </p:sp>
      <p:sp>
        <p:nvSpPr>
          <p:cNvPr id="4" name="Text Placeholder 3">
            <a:extLst>
              <a:ext uri="{FF2B5EF4-FFF2-40B4-BE49-F238E27FC236}">
                <a16:creationId xmlns:a16="http://schemas.microsoft.com/office/drawing/2014/main" id="{560DDA25-FC29-026F-749D-53D4B03B583B}"/>
              </a:ext>
            </a:extLst>
          </p:cNvPr>
          <p:cNvSpPr>
            <a:spLocks noGrp="1"/>
          </p:cNvSpPr>
          <p:nvPr>
            <p:ph type="body" sz="quarter" idx="14"/>
          </p:nvPr>
        </p:nvSpPr>
        <p:spPr>
          <a:xfrm>
            <a:off x="1828800" y="1448791"/>
            <a:ext cx="8755380" cy="3880136"/>
          </a:xfrm>
        </p:spPr>
        <p:txBody>
          <a:bodyPr>
            <a:normAutofit/>
          </a:bodyPr>
          <a:lstStyle/>
          <a:p>
            <a:r>
              <a:rPr lang="en-US" sz="2400" dirty="0"/>
              <a:t>Randomize at a higher level where interference concerns are less severe</a:t>
            </a:r>
          </a:p>
          <a:p>
            <a:endParaRPr lang="en-US" sz="2400" dirty="0"/>
          </a:p>
          <a:p>
            <a:r>
              <a:rPr lang="en-US" sz="2400" dirty="0"/>
              <a:t>Examples:</a:t>
            </a:r>
          </a:p>
          <a:p>
            <a:pPr lvl="1"/>
            <a:r>
              <a:rPr lang="en-US" sz="2400" dirty="0"/>
              <a:t>Marketplaces: Randomize at the market level (i.e. Etsy product category)</a:t>
            </a:r>
          </a:p>
          <a:p>
            <a:pPr lvl="1"/>
            <a:r>
              <a:rPr lang="en-US" sz="2400" dirty="0"/>
              <a:t>Networks: Cluster randomization (i.e. randomize friend groups who frequently interact)</a:t>
            </a:r>
          </a:p>
          <a:p>
            <a:endParaRPr lang="en-US" sz="2400" dirty="0"/>
          </a:p>
          <a:p>
            <a:pPr marL="0" indent="0">
              <a:buNone/>
            </a:pPr>
            <a:endParaRPr lang="en-US" sz="2400" dirty="0"/>
          </a:p>
          <a:p>
            <a:endParaRPr lang="en-US" sz="2400" dirty="0"/>
          </a:p>
          <a:p>
            <a:pPr marL="0" indent="0">
              <a:buNone/>
            </a:pPr>
            <a:endParaRPr lang="en-US" sz="2400" dirty="0"/>
          </a:p>
          <a:p>
            <a:pPr marL="0" indent="0">
              <a:buNone/>
            </a:pPr>
            <a:endParaRPr lang="en-US" sz="2400" dirty="0"/>
          </a:p>
        </p:txBody>
      </p:sp>
      <p:sp>
        <p:nvSpPr>
          <p:cNvPr id="5" name="Date Placeholder 4">
            <a:extLst>
              <a:ext uri="{FF2B5EF4-FFF2-40B4-BE49-F238E27FC236}">
                <a16:creationId xmlns:a16="http://schemas.microsoft.com/office/drawing/2014/main" id="{B721E4BF-B30F-6166-EEB5-EBE03E4AB286}"/>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B37C372B-30CA-C80E-1F70-E184CCA09D2A}"/>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3480317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C780E-E117-51B0-772A-F81B48BF2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6655C-9EB3-07E0-6EB8-96B9C20F914D}"/>
              </a:ext>
            </a:extLst>
          </p:cNvPr>
          <p:cNvSpPr>
            <a:spLocks noGrp="1"/>
          </p:cNvSpPr>
          <p:nvPr>
            <p:ph type="ctrTitle"/>
          </p:nvPr>
        </p:nvSpPr>
        <p:spPr/>
        <p:txBody>
          <a:bodyPr/>
          <a:lstStyle/>
          <a:p>
            <a:r>
              <a:rPr lang="en-US" dirty="0"/>
              <a:t>Interference – Holtz et al (2020)</a:t>
            </a:r>
          </a:p>
        </p:txBody>
      </p:sp>
      <p:sp>
        <p:nvSpPr>
          <p:cNvPr id="4" name="Text Placeholder 3">
            <a:extLst>
              <a:ext uri="{FF2B5EF4-FFF2-40B4-BE49-F238E27FC236}">
                <a16:creationId xmlns:a16="http://schemas.microsoft.com/office/drawing/2014/main" id="{F8823BDB-E735-637D-50D3-14416E2DEF8A}"/>
              </a:ext>
            </a:extLst>
          </p:cNvPr>
          <p:cNvSpPr>
            <a:spLocks noGrp="1"/>
          </p:cNvSpPr>
          <p:nvPr>
            <p:ph type="body" sz="quarter" idx="14"/>
          </p:nvPr>
        </p:nvSpPr>
        <p:spPr>
          <a:xfrm>
            <a:off x="1828800" y="1448791"/>
            <a:ext cx="4705350" cy="3880136"/>
          </a:xfrm>
        </p:spPr>
        <p:txBody>
          <a:bodyPr>
            <a:normAutofit fontScale="92500"/>
          </a:bodyPr>
          <a:lstStyle/>
          <a:p>
            <a:r>
              <a:rPr lang="en-US" sz="2400" dirty="0"/>
              <a:t>Airbnb determining how its fee impacts demand</a:t>
            </a:r>
          </a:p>
          <a:p>
            <a:endParaRPr lang="en-US" sz="2400" dirty="0"/>
          </a:p>
          <a:p>
            <a:r>
              <a:rPr lang="en-US" sz="2400" dirty="0"/>
              <a:t>There is interference as higher fee impacts prices and competition</a:t>
            </a:r>
          </a:p>
          <a:p>
            <a:endParaRPr lang="en-US" sz="2400" dirty="0"/>
          </a:p>
          <a:p>
            <a:r>
              <a:rPr lang="en-US" sz="2400" dirty="0"/>
              <a:t>Naïve randomization overestimates the elasticity of demand</a:t>
            </a:r>
          </a:p>
          <a:p>
            <a:endParaRPr lang="en-US" sz="2400" dirty="0"/>
          </a:p>
          <a:p>
            <a:r>
              <a:rPr lang="en-US" sz="2400" dirty="0"/>
              <a:t>Clustering similar units leads to better estimates</a:t>
            </a:r>
          </a:p>
          <a:p>
            <a:endParaRPr lang="en-US" sz="2400" dirty="0"/>
          </a:p>
          <a:p>
            <a:pPr marL="0" indent="0">
              <a:buNone/>
            </a:pPr>
            <a:endParaRPr lang="en-US" sz="2400" dirty="0"/>
          </a:p>
          <a:p>
            <a:endParaRPr lang="en-US" sz="2400" dirty="0"/>
          </a:p>
          <a:p>
            <a:pPr marL="0" indent="0">
              <a:buNone/>
            </a:pPr>
            <a:endParaRPr lang="en-US" sz="2400" dirty="0"/>
          </a:p>
          <a:p>
            <a:pPr marL="0" indent="0">
              <a:buNone/>
            </a:pPr>
            <a:endParaRPr lang="en-US" sz="2400" dirty="0"/>
          </a:p>
        </p:txBody>
      </p:sp>
      <p:pic>
        <p:nvPicPr>
          <p:cNvPr id="7" name="Picture 6" descr="Plot comparing treatment effect estimates from Bernoulli-randomized and cluster-randomized experiments, with each estimate shown as a point and horizontal confidence interval. Both estimates are negative, with Bernoulli randomization showing a slightly larger negative effect.">
            <a:extLst>
              <a:ext uri="{FF2B5EF4-FFF2-40B4-BE49-F238E27FC236}">
                <a16:creationId xmlns:a16="http://schemas.microsoft.com/office/drawing/2014/main" id="{505A9E08-EF9E-4CFE-0F47-F861CA1688B8}"/>
              </a:ext>
            </a:extLst>
          </p:cNvPr>
          <p:cNvPicPr>
            <a:picLocks noChangeAspect="1"/>
          </p:cNvPicPr>
          <p:nvPr/>
        </p:nvPicPr>
        <p:blipFill>
          <a:blip r:embed="rId3"/>
          <a:stretch>
            <a:fillRect/>
          </a:stretch>
        </p:blipFill>
        <p:spPr>
          <a:xfrm>
            <a:off x="6759195" y="1470464"/>
            <a:ext cx="4916964" cy="3585852"/>
          </a:xfrm>
          <a:prstGeom prst="rect">
            <a:avLst/>
          </a:prstGeom>
        </p:spPr>
      </p:pic>
      <p:sp>
        <p:nvSpPr>
          <p:cNvPr id="5" name="Date Placeholder 4">
            <a:extLst>
              <a:ext uri="{FF2B5EF4-FFF2-40B4-BE49-F238E27FC236}">
                <a16:creationId xmlns:a16="http://schemas.microsoft.com/office/drawing/2014/main" id="{D1C375D4-4D5C-C96C-9AB7-11AED8AD4DE0}"/>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AC42376A-3CDB-9DB4-1176-825DE0A0E7A1}"/>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197719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1B128-1125-A5B9-A7EB-3E2CC0603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689F7-A9B2-84F3-92C3-11E2615EED61}"/>
              </a:ext>
            </a:extLst>
          </p:cNvPr>
          <p:cNvSpPr>
            <a:spLocks noGrp="1"/>
          </p:cNvSpPr>
          <p:nvPr>
            <p:ph type="ctrTitle"/>
          </p:nvPr>
        </p:nvSpPr>
        <p:spPr/>
        <p:txBody>
          <a:bodyPr/>
          <a:lstStyle/>
          <a:p>
            <a:r>
              <a:rPr lang="en-US" dirty="0"/>
              <a:t>Statistical Problems – Multiple Hypothesis Testing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F0E0AB84-5B07-5653-422C-3D2E17FA4409}"/>
                  </a:ext>
                </a:extLst>
              </p:cNvPr>
              <p:cNvSpPr>
                <a:spLocks noGrp="1"/>
              </p:cNvSpPr>
              <p:nvPr>
                <p:ph type="body" sz="quarter" idx="14"/>
              </p:nvPr>
            </p:nvSpPr>
            <p:spPr>
              <a:xfrm>
                <a:off x="1828800" y="1448791"/>
                <a:ext cx="8755380" cy="3880136"/>
              </a:xfrm>
            </p:spPr>
            <p:txBody>
              <a:bodyPr>
                <a:normAutofit fontScale="77500" lnSpcReduction="20000"/>
              </a:bodyPr>
              <a:lstStyle/>
              <a:p>
                <a:r>
                  <a:rPr lang="en-US" sz="2400" dirty="0"/>
                  <a:t>Under the null hypothesis, </a:t>
                </a:r>
                <a14:m>
                  <m:oMath xmlns:m="http://schemas.openxmlformats.org/officeDocument/2006/math">
                    <m:r>
                      <a:rPr lang="en-US" sz="2400" b="0" i="1" smtClean="0">
                        <a:latin typeface="Cambria Math" panose="02040503050406030204" pitchFamily="18" charset="0"/>
                      </a:rPr>
                      <m:t>5%</m:t>
                    </m:r>
                  </m:oMath>
                </a14:m>
                <a:r>
                  <a:rPr lang="en-US" sz="2400" dirty="0"/>
                  <a:t> of experiments will reject the null at the </a:t>
                </a:r>
                <a14:m>
                  <m:oMath xmlns:m="http://schemas.openxmlformats.org/officeDocument/2006/math">
                    <m:r>
                      <a:rPr lang="en-US" sz="2400" b="0" i="1" smtClean="0">
                        <a:latin typeface="Cambria Math" panose="02040503050406030204" pitchFamily="18" charset="0"/>
                      </a:rPr>
                      <m:t>5%</m:t>
                    </m:r>
                  </m:oMath>
                </a14:m>
                <a:r>
                  <a:rPr lang="en-US" sz="2400" dirty="0"/>
                  <a:t> significance level</a:t>
                </a:r>
              </a:p>
              <a:p>
                <a:endParaRPr lang="en-US" sz="2400" dirty="0"/>
              </a:p>
              <a:p>
                <a:r>
                  <a:rPr lang="en-US" sz="2400" dirty="0"/>
                  <a:t>As we run many tests, we will have some false positives</a:t>
                </a:r>
              </a:p>
              <a:p>
                <a:pPr lvl="1"/>
                <a:r>
                  <a:rPr lang="en-US" sz="2400" dirty="0"/>
                  <a:t>Reject a true null hypothesis</a:t>
                </a:r>
              </a:p>
              <a:p>
                <a:endParaRPr lang="en-US" sz="2400" dirty="0"/>
              </a:p>
              <a:p>
                <a:r>
                  <a:rPr lang="en-US" sz="2400" dirty="0"/>
                  <a:t>Run an experiment 20 times, we expect at least 1 to show a significant difference</a:t>
                </a:r>
              </a:p>
              <a:p>
                <a:endParaRPr lang="en-US" sz="2400" dirty="0"/>
              </a:p>
              <a:p>
                <a:r>
                  <a:rPr lang="en-US" sz="2400" dirty="0"/>
                  <a:t>Particularly an issue with heterogeneous effects.</a:t>
                </a:r>
              </a:p>
              <a:p>
                <a:pPr lvl="1"/>
                <a:r>
                  <a:rPr lang="en-US" sz="2400" dirty="0"/>
                  <a:t>Many subgroups we can look at so likely some will show differences by chance</a:t>
                </a:r>
              </a:p>
              <a:p>
                <a:endParaRPr lang="en-US" sz="2400" dirty="0"/>
              </a:p>
              <a:p>
                <a:r>
                  <a:rPr lang="en-US" sz="2400" dirty="0"/>
                  <a:t>Also impacts interpretation of A/B tests</a:t>
                </a:r>
              </a:p>
              <a:p>
                <a:pPr lvl="1"/>
                <a:r>
                  <a:rPr lang="en-US" sz="2400" dirty="0"/>
                  <a:t>Often true effect sizes are smaller than experimental estimates suggest</a:t>
                </a:r>
              </a:p>
            </p:txBody>
          </p:sp>
        </mc:Choice>
        <mc:Fallback xmlns="">
          <p:sp>
            <p:nvSpPr>
              <p:cNvPr id="4" name="Text Placeholder 3">
                <a:extLst>
                  <a:ext uri="{FF2B5EF4-FFF2-40B4-BE49-F238E27FC236}">
                    <a16:creationId xmlns:a16="http://schemas.microsoft.com/office/drawing/2014/main" id="{F0E0AB84-5B07-5653-422C-3D2E17FA4409}"/>
                  </a:ext>
                </a:extLst>
              </p:cNvPr>
              <p:cNvSpPr>
                <a:spLocks noGrp="1" noRot="1" noChangeAspect="1" noMove="1" noResize="1" noEditPoints="1" noAdjustHandles="1" noChangeArrowheads="1" noChangeShapeType="1" noTextEdit="1"/>
              </p:cNvSpPr>
              <p:nvPr>
                <p:ph type="body" sz="quarter" idx="14"/>
              </p:nvPr>
            </p:nvSpPr>
            <p:spPr>
              <a:xfrm>
                <a:off x="1828800" y="1448791"/>
                <a:ext cx="8755380" cy="3880136"/>
              </a:xfrm>
              <a:blipFill>
                <a:blip r:embed="rId3"/>
                <a:stretch>
                  <a:fillRect l="-1594" t="-3268"/>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EF71735B-36D9-B502-EB25-9FA919375E2D}"/>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B02ECAD6-768B-CCF2-2229-0123FFFDDA0C}"/>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220022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E25A9-A58D-CEBC-2A7D-E1C8BAE37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59EC0-6999-D764-BC02-3E8B7DB60E89}"/>
              </a:ext>
            </a:extLst>
          </p:cNvPr>
          <p:cNvSpPr>
            <a:spLocks noGrp="1"/>
          </p:cNvSpPr>
          <p:nvPr>
            <p:ph type="ctrTitle"/>
          </p:nvPr>
        </p:nvSpPr>
        <p:spPr/>
        <p:txBody>
          <a:bodyPr/>
          <a:lstStyle/>
          <a:p>
            <a:r>
              <a:rPr lang="en-US" dirty="0"/>
              <a:t>Statistical Problems – Peeking</a:t>
            </a:r>
          </a:p>
        </p:txBody>
      </p:sp>
      <p:sp>
        <p:nvSpPr>
          <p:cNvPr id="4" name="Text Placeholder 3">
            <a:extLst>
              <a:ext uri="{FF2B5EF4-FFF2-40B4-BE49-F238E27FC236}">
                <a16:creationId xmlns:a16="http://schemas.microsoft.com/office/drawing/2014/main" id="{685D6F12-309A-D73D-5928-0A9ED55D3EFC}"/>
              </a:ext>
            </a:extLst>
          </p:cNvPr>
          <p:cNvSpPr>
            <a:spLocks noGrp="1"/>
          </p:cNvSpPr>
          <p:nvPr>
            <p:ph type="body" sz="quarter" idx="14"/>
          </p:nvPr>
        </p:nvSpPr>
        <p:spPr>
          <a:xfrm>
            <a:off x="1828800" y="1448791"/>
            <a:ext cx="8755380" cy="3880136"/>
          </a:xfrm>
        </p:spPr>
        <p:txBody>
          <a:bodyPr>
            <a:normAutofit/>
          </a:bodyPr>
          <a:lstStyle/>
          <a:p>
            <a:r>
              <a:rPr lang="en-US" sz="2400" dirty="0"/>
              <a:t>If I look at the data every day, this is a version of the multiple testing problem</a:t>
            </a:r>
          </a:p>
          <a:p>
            <a:endParaRPr lang="en-US" sz="2400" dirty="0"/>
          </a:p>
          <a:p>
            <a:r>
              <a:rPr lang="en-US" sz="2400" dirty="0"/>
              <a:t>Leads to an elevated false positive rate</a:t>
            </a:r>
          </a:p>
        </p:txBody>
      </p:sp>
      <p:sp>
        <p:nvSpPr>
          <p:cNvPr id="5" name="Date Placeholder 4">
            <a:extLst>
              <a:ext uri="{FF2B5EF4-FFF2-40B4-BE49-F238E27FC236}">
                <a16:creationId xmlns:a16="http://schemas.microsoft.com/office/drawing/2014/main" id="{31598E04-4CB2-F23A-583C-EB75D8AF42E6}"/>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8BAEB5FD-88DD-ED8F-0C06-BC1D52D9E2D1}"/>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2793690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45DAE-6DA0-2F22-17B3-DCB663EC7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1E013-7393-24CB-FE2E-11659E37B752}"/>
              </a:ext>
            </a:extLst>
          </p:cNvPr>
          <p:cNvSpPr>
            <a:spLocks noGrp="1"/>
          </p:cNvSpPr>
          <p:nvPr>
            <p:ph type="ctrTitle"/>
          </p:nvPr>
        </p:nvSpPr>
        <p:spPr/>
        <p:txBody>
          <a:bodyPr/>
          <a:lstStyle/>
          <a:p>
            <a:r>
              <a:rPr lang="en-US" dirty="0"/>
              <a:t>Statistical Problems – Solutions</a:t>
            </a:r>
          </a:p>
        </p:txBody>
      </p:sp>
      <p:sp>
        <p:nvSpPr>
          <p:cNvPr id="4" name="Text Placeholder 3">
            <a:extLst>
              <a:ext uri="{FF2B5EF4-FFF2-40B4-BE49-F238E27FC236}">
                <a16:creationId xmlns:a16="http://schemas.microsoft.com/office/drawing/2014/main" id="{69ECF8C0-CAF8-5A81-DBDD-F3653FE84D2A}"/>
              </a:ext>
            </a:extLst>
          </p:cNvPr>
          <p:cNvSpPr>
            <a:spLocks noGrp="1"/>
          </p:cNvSpPr>
          <p:nvPr>
            <p:ph type="body" sz="quarter" idx="14"/>
          </p:nvPr>
        </p:nvSpPr>
        <p:spPr>
          <a:xfrm>
            <a:off x="1828800" y="1448791"/>
            <a:ext cx="8755380" cy="3880136"/>
          </a:xfrm>
        </p:spPr>
        <p:txBody>
          <a:bodyPr>
            <a:normAutofit/>
          </a:bodyPr>
          <a:lstStyle/>
          <a:p>
            <a:r>
              <a:rPr lang="en-US" sz="2400" dirty="0"/>
              <a:t>Solution is to use statistical inference that corrects for multiple comparisons or anytime valid inferences</a:t>
            </a:r>
          </a:p>
          <a:p>
            <a:endParaRPr lang="en-US" sz="2400" dirty="0"/>
          </a:p>
          <a:p>
            <a:r>
              <a:rPr lang="en-US" sz="2400" dirty="0"/>
              <a:t>Beyond the scope of this course</a:t>
            </a:r>
          </a:p>
          <a:p>
            <a:pPr lvl="1"/>
            <a:r>
              <a:rPr lang="en-US" sz="2400" dirty="0"/>
              <a:t>Many testing platforms have this built in</a:t>
            </a:r>
          </a:p>
          <a:p>
            <a:pPr lvl="1"/>
            <a:r>
              <a:rPr lang="en-US" sz="2400" dirty="0"/>
              <a:t>If you encounter, know this is an adjustment for these issues</a:t>
            </a:r>
          </a:p>
        </p:txBody>
      </p:sp>
      <p:sp>
        <p:nvSpPr>
          <p:cNvPr id="5" name="Date Placeholder 4">
            <a:extLst>
              <a:ext uri="{FF2B5EF4-FFF2-40B4-BE49-F238E27FC236}">
                <a16:creationId xmlns:a16="http://schemas.microsoft.com/office/drawing/2014/main" id="{D97984F6-427F-E184-4D4F-DBAC7AC5020C}"/>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42389103-F1A3-C87E-9710-977737DBB371}"/>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2606991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4EEC4-B849-2D98-0400-6F517C238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71434-CA11-DFBF-C9A3-AB5EADB21A2A}"/>
              </a:ext>
            </a:extLst>
          </p:cNvPr>
          <p:cNvSpPr>
            <a:spLocks noGrp="1"/>
          </p:cNvSpPr>
          <p:nvPr>
            <p:ph type="ctrTitle"/>
          </p:nvPr>
        </p:nvSpPr>
        <p:spPr/>
        <p:txBody>
          <a:bodyPr/>
          <a:lstStyle/>
          <a:p>
            <a:r>
              <a:rPr lang="en-US" dirty="0"/>
              <a:t>Ethical Experimentation</a:t>
            </a:r>
          </a:p>
        </p:txBody>
      </p:sp>
      <p:sp>
        <p:nvSpPr>
          <p:cNvPr id="4" name="Text Placeholder 3">
            <a:extLst>
              <a:ext uri="{FF2B5EF4-FFF2-40B4-BE49-F238E27FC236}">
                <a16:creationId xmlns:a16="http://schemas.microsoft.com/office/drawing/2014/main" id="{B1D93DA9-1720-04E2-53F0-8E041CE21A0A}"/>
              </a:ext>
            </a:extLst>
          </p:cNvPr>
          <p:cNvSpPr>
            <a:spLocks noGrp="1"/>
          </p:cNvSpPr>
          <p:nvPr>
            <p:ph type="body" sz="quarter" idx="14"/>
          </p:nvPr>
        </p:nvSpPr>
        <p:spPr>
          <a:xfrm>
            <a:off x="1828800" y="1448791"/>
            <a:ext cx="8755380" cy="3880136"/>
          </a:xfrm>
        </p:spPr>
        <p:txBody>
          <a:bodyPr>
            <a:normAutofit lnSpcReduction="10000"/>
          </a:bodyPr>
          <a:lstStyle/>
          <a:p>
            <a:r>
              <a:rPr lang="en-US" sz="2400" dirty="0"/>
              <a:t>Many experiments businesses run involve minimal risk to participants</a:t>
            </a:r>
          </a:p>
          <a:p>
            <a:endParaRPr lang="en-US" sz="2400" dirty="0"/>
          </a:p>
          <a:p>
            <a:r>
              <a:rPr lang="en-US" sz="2400" dirty="0"/>
              <a:t>There is often limited oversight of experiments in industry</a:t>
            </a:r>
          </a:p>
          <a:p>
            <a:endParaRPr lang="en-US" sz="2400" dirty="0"/>
          </a:p>
          <a:p>
            <a:r>
              <a:rPr lang="en-US" sz="2400" dirty="0"/>
              <a:t>Establishing a culture of ethical experimentation is important</a:t>
            </a:r>
          </a:p>
          <a:p>
            <a:pPr lvl="1"/>
            <a:r>
              <a:rPr lang="en-US" sz="2400" dirty="0"/>
              <a:t>An internal IRB can be helpful in reviewing tests</a:t>
            </a:r>
          </a:p>
          <a:p>
            <a:endParaRPr lang="en-US" sz="2400" dirty="0"/>
          </a:p>
          <a:p>
            <a:r>
              <a:rPr lang="en-US" sz="2400" dirty="0"/>
              <a:t>Academic experiments regulated by the Belmont report</a:t>
            </a:r>
          </a:p>
          <a:p>
            <a:pPr lvl="1"/>
            <a:r>
              <a:rPr lang="en-US" sz="2400" dirty="0"/>
              <a:t>Focuses respect for persons, minimizing risks, and justice (fair distribution of risks / benefits)</a:t>
            </a:r>
          </a:p>
        </p:txBody>
      </p:sp>
      <p:sp>
        <p:nvSpPr>
          <p:cNvPr id="5" name="Date Placeholder 4">
            <a:extLst>
              <a:ext uri="{FF2B5EF4-FFF2-40B4-BE49-F238E27FC236}">
                <a16:creationId xmlns:a16="http://schemas.microsoft.com/office/drawing/2014/main" id="{505EDF28-2A50-AE5C-7184-2CD11BDCD6B4}"/>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E3161CA9-9F20-D600-953E-B857C711C183}"/>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730077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7FA4-1D0B-2B90-E221-9C2DE6835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F655F2-30D7-8744-D8FA-9EA78B31EF35}"/>
              </a:ext>
            </a:extLst>
          </p:cNvPr>
          <p:cNvSpPr>
            <a:spLocks noGrp="1"/>
          </p:cNvSpPr>
          <p:nvPr>
            <p:ph type="ctrTitle"/>
          </p:nvPr>
        </p:nvSpPr>
        <p:spPr/>
        <p:txBody>
          <a:bodyPr/>
          <a:lstStyle/>
          <a:p>
            <a:r>
              <a:rPr lang="en-US" dirty="0"/>
              <a:t>Examples of Problematic Experiments</a:t>
            </a:r>
          </a:p>
        </p:txBody>
      </p:sp>
      <p:sp>
        <p:nvSpPr>
          <p:cNvPr id="4" name="Text Placeholder 3">
            <a:extLst>
              <a:ext uri="{FF2B5EF4-FFF2-40B4-BE49-F238E27FC236}">
                <a16:creationId xmlns:a16="http://schemas.microsoft.com/office/drawing/2014/main" id="{F7FD29E1-90A9-0CE2-6FC8-3F40F3C3E12B}"/>
              </a:ext>
            </a:extLst>
          </p:cNvPr>
          <p:cNvSpPr>
            <a:spLocks noGrp="1"/>
          </p:cNvSpPr>
          <p:nvPr>
            <p:ph type="body" sz="quarter" idx="14"/>
          </p:nvPr>
        </p:nvSpPr>
        <p:spPr>
          <a:xfrm>
            <a:off x="1828800" y="1448791"/>
            <a:ext cx="4691096" cy="3880136"/>
          </a:xfrm>
        </p:spPr>
        <p:txBody>
          <a:bodyPr>
            <a:normAutofit/>
          </a:bodyPr>
          <a:lstStyle/>
          <a:p>
            <a:r>
              <a:rPr lang="en-US" sz="2400" dirty="0"/>
              <a:t>Facebook promoted negative content to some people to test emotional contagion</a:t>
            </a:r>
          </a:p>
          <a:p>
            <a:endParaRPr lang="en-US" sz="2400" dirty="0"/>
          </a:p>
          <a:p>
            <a:r>
              <a:rPr lang="en-US" sz="2400" dirty="0"/>
              <a:t>Found that negative content induced people to post more negative content</a:t>
            </a:r>
          </a:p>
          <a:p>
            <a:endParaRPr lang="en-US" sz="2400" dirty="0"/>
          </a:p>
          <a:p>
            <a:r>
              <a:rPr lang="en-US" sz="2400" dirty="0"/>
              <a:t>Public backlash ensued</a:t>
            </a:r>
          </a:p>
          <a:p>
            <a:pPr lvl="1"/>
            <a:r>
              <a:rPr lang="en-US" sz="2400" dirty="0"/>
              <a:t>Lack of consent was important</a:t>
            </a:r>
          </a:p>
        </p:txBody>
      </p:sp>
      <p:pic>
        <p:nvPicPr>
          <p:cNvPr id="8" name="Picture 7" descr="Screenshot of an article titled &quot;Facebook Doesn't Understand the Fuss about Its Emotion Manipulation Study&quot; by Kashmir Hill.">
            <a:extLst>
              <a:ext uri="{FF2B5EF4-FFF2-40B4-BE49-F238E27FC236}">
                <a16:creationId xmlns:a16="http://schemas.microsoft.com/office/drawing/2014/main" id="{74C8DC60-00FA-CEA9-EE35-15A8FFF2DCBE}"/>
              </a:ext>
            </a:extLst>
          </p:cNvPr>
          <p:cNvPicPr>
            <a:picLocks noChangeAspect="1"/>
          </p:cNvPicPr>
          <p:nvPr/>
        </p:nvPicPr>
        <p:blipFill>
          <a:blip r:embed="rId3"/>
          <a:stretch>
            <a:fillRect/>
          </a:stretch>
        </p:blipFill>
        <p:spPr>
          <a:xfrm>
            <a:off x="6745254" y="1814059"/>
            <a:ext cx="4691096" cy="3149600"/>
          </a:xfrm>
          <a:prstGeom prst="rect">
            <a:avLst/>
          </a:prstGeom>
        </p:spPr>
      </p:pic>
      <p:sp>
        <p:nvSpPr>
          <p:cNvPr id="5" name="Date Placeholder 4">
            <a:extLst>
              <a:ext uri="{FF2B5EF4-FFF2-40B4-BE49-F238E27FC236}">
                <a16:creationId xmlns:a16="http://schemas.microsoft.com/office/drawing/2014/main" id="{C9689922-CD69-24EF-F6A3-F1E260A62153}"/>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05441386-7C05-1CA2-A396-4B88706B9F4B}"/>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3262333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80D35-9874-F8AC-C4C3-A848831E7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72EDE-37FD-4B3A-F96E-6975EE9980A1}"/>
              </a:ext>
            </a:extLst>
          </p:cNvPr>
          <p:cNvSpPr>
            <a:spLocks noGrp="1"/>
          </p:cNvSpPr>
          <p:nvPr>
            <p:ph type="ctrTitle"/>
          </p:nvPr>
        </p:nvSpPr>
        <p:spPr/>
        <p:txBody>
          <a:bodyPr/>
          <a:lstStyle/>
          <a:p>
            <a:r>
              <a:rPr lang="en-US" dirty="0"/>
              <a:t>Examples of Problematic Experiments, Continued</a:t>
            </a:r>
          </a:p>
        </p:txBody>
      </p:sp>
      <p:sp>
        <p:nvSpPr>
          <p:cNvPr id="4" name="Text Placeholder 3">
            <a:extLst>
              <a:ext uri="{FF2B5EF4-FFF2-40B4-BE49-F238E27FC236}">
                <a16:creationId xmlns:a16="http://schemas.microsoft.com/office/drawing/2014/main" id="{DBA9BA2C-33F2-1E53-C8C7-4BEFC775ADFA}"/>
              </a:ext>
            </a:extLst>
          </p:cNvPr>
          <p:cNvSpPr>
            <a:spLocks noGrp="1"/>
          </p:cNvSpPr>
          <p:nvPr>
            <p:ph type="body" sz="quarter" idx="14"/>
          </p:nvPr>
        </p:nvSpPr>
        <p:spPr>
          <a:xfrm>
            <a:off x="1828800" y="1448791"/>
            <a:ext cx="4644794" cy="3880136"/>
          </a:xfrm>
        </p:spPr>
        <p:txBody>
          <a:bodyPr>
            <a:normAutofit/>
          </a:bodyPr>
          <a:lstStyle/>
          <a:p>
            <a:r>
              <a:rPr lang="en-US" sz="2400" dirty="0" err="1"/>
              <a:t>OkCupid</a:t>
            </a:r>
            <a:r>
              <a:rPr lang="en-US" sz="2400" dirty="0"/>
              <a:t> randomly altered its match scores it showed users</a:t>
            </a:r>
          </a:p>
          <a:p>
            <a:endParaRPr lang="en-US" sz="2400" dirty="0"/>
          </a:p>
          <a:p>
            <a:r>
              <a:rPr lang="en-US" sz="2400" dirty="0"/>
              <a:t>Goal was to see if they are predicting or causing relationships</a:t>
            </a:r>
          </a:p>
          <a:p>
            <a:endParaRPr lang="en-US" sz="2400" dirty="0"/>
          </a:p>
          <a:p>
            <a:r>
              <a:rPr lang="en-US" sz="2400" dirty="0"/>
              <a:t>Public backlash ensued</a:t>
            </a:r>
          </a:p>
          <a:p>
            <a:pPr lvl="1"/>
            <a:r>
              <a:rPr lang="en-US" sz="2400" dirty="0"/>
              <a:t>Deception was key concern</a:t>
            </a:r>
          </a:p>
        </p:txBody>
      </p:sp>
      <p:pic>
        <p:nvPicPr>
          <p:cNvPr id="9" name="Picture 8" descr="Screenshot of an article titled &quot;OkCupid Lied to Users About Their Compatibility as an Experiment&quot; by Kashmir Hill.">
            <a:extLst>
              <a:ext uri="{FF2B5EF4-FFF2-40B4-BE49-F238E27FC236}">
                <a16:creationId xmlns:a16="http://schemas.microsoft.com/office/drawing/2014/main" id="{A911600C-BEFC-A168-389D-F314B7B64540}"/>
              </a:ext>
            </a:extLst>
          </p:cNvPr>
          <p:cNvPicPr>
            <a:picLocks noChangeAspect="1"/>
          </p:cNvPicPr>
          <p:nvPr/>
        </p:nvPicPr>
        <p:blipFill>
          <a:blip r:embed="rId3"/>
          <a:stretch>
            <a:fillRect/>
          </a:stretch>
        </p:blipFill>
        <p:spPr>
          <a:xfrm>
            <a:off x="6473594" y="1771492"/>
            <a:ext cx="4817897" cy="3234734"/>
          </a:xfrm>
          <a:prstGeom prst="rect">
            <a:avLst/>
          </a:prstGeom>
        </p:spPr>
      </p:pic>
      <p:sp>
        <p:nvSpPr>
          <p:cNvPr id="5" name="Date Placeholder 4">
            <a:extLst>
              <a:ext uri="{FF2B5EF4-FFF2-40B4-BE49-F238E27FC236}">
                <a16:creationId xmlns:a16="http://schemas.microsoft.com/office/drawing/2014/main" id="{2FBF190D-2B0B-1F3C-CF29-BEDDE28AEDB2}"/>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5C24D137-1D2E-68E3-6103-FFD3972B14D3}"/>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151134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933A-745D-8AA3-B849-1F6CF6404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32C5A-807E-8AF5-F014-47BA62CF644B}"/>
              </a:ext>
            </a:extLst>
          </p:cNvPr>
          <p:cNvSpPr>
            <a:spLocks noGrp="1"/>
          </p:cNvSpPr>
          <p:nvPr>
            <p:ph type="ctrTitle"/>
          </p:nvPr>
        </p:nvSpPr>
        <p:spPr/>
        <p:txBody>
          <a:bodyPr/>
          <a:lstStyle/>
          <a:p>
            <a:r>
              <a:rPr lang="en-US" dirty="0"/>
              <a:t>Ethics in Experiments</a:t>
            </a:r>
          </a:p>
        </p:txBody>
      </p:sp>
      <p:sp>
        <p:nvSpPr>
          <p:cNvPr id="4" name="Text Placeholder 3">
            <a:extLst>
              <a:ext uri="{FF2B5EF4-FFF2-40B4-BE49-F238E27FC236}">
                <a16:creationId xmlns:a16="http://schemas.microsoft.com/office/drawing/2014/main" id="{699BAF8E-11EE-1747-4665-D2CBE58A5893}"/>
              </a:ext>
            </a:extLst>
          </p:cNvPr>
          <p:cNvSpPr>
            <a:spLocks noGrp="1"/>
          </p:cNvSpPr>
          <p:nvPr>
            <p:ph type="body" sz="quarter" idx="14"/>
          </p:nvPr>
        </p:nvSpPr>
        <p:spPr>
          <a:xfrm>
            <a:off x="1828800" y="1448791"/>
            <a:ext cx="8755380" cy="3880136"/>
          </a:xfrm>
        </p:spPr>
        <p:txBody>
          <a:bodyPr>
            <a:normAutofit lnSpcReduction="10000"/>
          </a:bodyPr>
          <a:lstStyle/>
          <a:p>
            <a:r>
              <a:rPr lang="en-US" sz="2400" dirty="0"/>
              <a:t>There is active debate on the ethics of such experiments</a:t>
            </a:r>
          </a:p>
          <a:p>
            <a:endParaRPr lang="en-US" sz="2400" dirty="0"/>
          </a:p>
          <a:p>
            <a:r>
              <a:rPr lang="en-US" sz="2400" dirty="0"/>
              <a:t>Key concern is:</a:t>
            </a:r>
          </a:p>
          <a:p>
            <a:pPr lvl="1"/>
            <a:r>
              <a:rPr lang="en-US" sz="2400" dirty="0"/>
              <a:t>Trading off benefits and risks</a:t>
            </a:r>
          </a:p>
          <a:p>
            <a:pPr lvl="1"/>
            <a:r>
              <a:rPr lang="en-US" sz="2400" dirty="0"/>
              <a:t>Ensuring participants are treated as autonomous users</a:t>
            </a:r>
          </a:p>
          <a:p>
            <a:endParaRPr lang="en-US" sz="2400" dirty="0"/>
          </a:p>
          <a:p>
            <a:r>
              <a:rPr lang="en-US" sz="2400" dirty="0"/>
              <a:t>A useful question:</a:t>
            </a:r>
          </a:p>
          <a:p>
            <a:pPr lvl="1"/>
            <a:r>
              <a:rPr lang="en-US" sz="2400" dirty="0"/>
              <a:t>Would you deploy this change to 100% of users without testing?</a:t>
            </a:r>
          </a:p>
          <a:p>
            <a:pPr lvl="1"/>
            <a:endParaRPr lang="en-US" sz="2400" dirty="0"/>
          </a:p>
          <a:p>
            <a:r>
              <a:rPr lang="en-US" sz="2400" dirty="0"/>
              <a:t>“Wall street journal” test is also a useful thought experiment</a:t>
            </a:r>
          </a:p>
        </p:txBody>
      </p:sp>
      <p:sp>
        <p:nvSpPr>
          <p:cNvPr id="5" name="Date Placeholder 4">
            <a:extLst>
              <a:ext uri="{FF2B5EF4-FFF2-40B4-BE49-F238E27FC236}">
                <a16:creationId xmlns:a16="http://schemas.microsoft.com/office/drawing/2014/main" id="{F662C4F6-7D56-5C0B-9672-AE91661D7E1C}"/>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20CE709F-4BAE-81D9-929B-DE52F20291F0}"/>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14314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56353-AD3D-2EC6-9804-A48502FD3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708C2-097D-7438-DEF2-C818FA54BC53}"/>
              </a:ext>
            </a:extLst>
          </p:cNvPr>
          <p:cNvSpPr>
            <a:spLocks noGrp="1"/>
          </p:cNvSpPr>
          <p:nvPr>
            <p:ph type="ctrTitle"/>
          </p:nvPr>
        </p:nvSpPr>
        <p:spPr>
          <a:xfrm>
            <a:off x="2647199" y="1501742"/>
            <a:ext cx="7300940" cy="664797"/>
          </a:xfrm>
        </p:spPr>
        <p:txBody>
          <a:bodyPr/>
          <a:lstStyle/>
          <a:p>
            <a:r>
              <a:rPr lang="en-US" dirty="0"/>
              <a:t>A/B Testing Strategy</a:t>
            </a:r>
          </a:p>
        </p:txBody>
      </p:sp>
      <p:sp>
        <p:nvSpPr>
          <p:cNvPr id="4" name="Date Placeholder 3">
            <a:extLst>
              <a:ext uri="{FF2B5EF4-FFF2-40B4-BE49-F238E27FC236}">
                <a16:creationId xmlns:a16="http://schemas.microsoft.com/office/drawing/2014/main" id="{2F9481C1-E5C4-8ED1-675D-5ECE35D21564}"/>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Placeholder 4">
            <a:extLst>
              <a:ext uri="{FF2B5EF4-FFF2-40B4-BE49-F238E27FC236}">
                <a16:creationId xmlns:a16="http://schemas.microsoft.com/office/drawing/2014/main" id="{1CADC6D0-2B32-A539-0709-7E7B781CA43D}"/>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1762013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06D26-C386-B334-2EE6-E939DB691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D99DE-08F0-559F-03DA-2F2AF48E892F}"/>
              </a:ext>
            </a:extLst>
          </p:cNvPr>
          <p:cNvSpPr>
            <a:spLocks noGrp="1"/>
          </p:cNvSpPr>
          <p:nvPr>
            <p:ph type="ctrTitle"/>
          </p:nvPr>
        </p:nvSpPr>
        <p:spPr>
          <a:xfrm>
            <a:off x="2107520" y="437030"/>
            <a:ext cx="7988980" cy="332399"/>
          </a:xfrm>
        </p:spPr>
        <p:txBody>
          <a:bodyPr/>
          <a:lstStyle/>
          <a:p>
            <a:r>
              <a:rPr lang="en-US" dirty="0"/>
              <a:t>A/B Tests Aren’t Run in a Vacuum</a:t>
            </a:r>
          </a:p>
        </p:txBody>
      </p:sp>
      <p:sp>
        <p:nvSpPr>
          <p:cNvPr id="4" name="Text Placeholder 3">
            <a:extLst>
              <a:ext uri="{FF2B5EF4-FFF2-40B4-BE49-F238E27FC236}">
                <a16:creationId xmlns:a16="http://schemas.microsoft.com/office/drawing/2014/main" id="{73A0C7F2-73DD-FFC6-7233-DFA6F773786D}"/>
              </a:ext>
            </a:extLst>
          </p:cNvPr>
          <p:cNvSpPr>
            <a:spLocks noGrp="1"/>
          </p:cNvSpPr>
          <p:nvPr>
            <p:ph type="body" sz="quarter" idx="14"/>
          </p:nvPr>
        </p:nvSpPr>
        <p:spPr>
          <a:xfrm>
            <a:off x="1828800" y="1448791"/>
            <a:ext cx="8755380" cy="3880136"/>
          </a:xfrm>
        </p:spPr>
        <p:txBody>
          <a:bodyPr>
            <a:normAutofit/>
          </a:bodyPr>
          <a:lstStyle/>
          <a:p>
            <a:r>
              <a:rPr lang="en-US" sz="2400" dirty="0"/>
              <a:t>If we allocate sample to test one idea, it often takes sample away from testing another idea</a:t>
            </a:r>
          </a:p>
          <a:p>
            <a:endParaRPr lang="en-US" sz="2400" dirty="0"/>
          </a:p>
          <a:p>
            <a:r>
              <a:rPr lang="en-US" sz="2400" dirty="0"/>
              <a:t>There is a tradeoff between testing many ideas with small sample-sizes vs few ideas with big sample sizes</a:t>
            </a:r>
          </a:p>
          <a:p>
            <a:endParaRPr lang="en-US" sz="2400" dirty="0"/>
          </a:p>
          <a:p>
            <a:r>
              <a:rPr lang="en-US" sz="2400" dirty="0"/>
              <a:t>How do we decide which is better?</a:t>
            </a:r>
          </a:p>
          <a:p>
            <a:pPr lvl="1"/>
            <a:r>
              <a:rPr lang="en-US" sz="2400" dirty="0"/>
              <a:t>“A/B Testing with Fat Tails” by Azevedo et al (2020)</a:t>
            </a:r>
          </a:p>
          <a:p>
            <a:pPr lvl="1"/>
            <a:r>
              <a:rPr lang="en-US" sz="2400" dirty="0"/>
              <a:t>The paper is dense</a:t>
            </a:r>
          </a:p>
        </p:txBody>
      </p:sp>
      <p:sp>
        <p:nvSpPr>
          <p:cNvPr id="5" name="Date Placeholder 4">
            <a:extLst>
              <a:ext uri="{FF2B5EF4-FFF2-40B4-BE49-F238E27FC236}">
                <a16:creationId xmlns:a16="http://schemas.microsoft.com/office/drawing/2014/main" id="{DDE1C9A8-E391-5330-613C-8B7516C0A636}"/>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A5413B68-0A4E-5426-FFCD-96B4B22EDB01}"/>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2913701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9C6BC-6C43-36BA-A0EF-0A60E09BC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25DF0-7137-2B5B-F9A5-38DF3BA690B3}"/>
              </a:ext>
            </a:extLst>
          </p:cNvPr>
          <p:cNvSpPr>
            <a:spLocks noGrp="1"/>
          </p:cNvSpPr>
          <p:nvPr>
            <p:ph type="ctrTitle"/>
          </p:nvPr>
        </p:nvSpPr>
        <p:spPr>
          <a:xfrm>
            <a:off x="2107520" y="437030"/>
            <a:ext cx="7988980" cy="332399"/>
          </a:xfrm>
        </p:spPr>
        <p:txBody>
          <a:bodyPr/>
          <a:lstStyle/>
          <a:p>
            <a:r>
              <a:rPr lang="en-US" dirty="0"/>
              <a:t>When Few Big Experiments are Optimal</a:t>
            </a:r>
          </a:p>
        </p:txBody>
      </p:sp>
      <p:sp>
        <p:nvSpPr>
          <p:cNvPr id="4" name="Text Placeholder 3">
            <a:extLst>
              <a:ext uri="{FF2B5EF4-FFF2-40B4-BE49-F238E27FC236}">
                <a16:creationId xmlns:a16="http://schemas.microsoft.com/office/drawing/2014/main" id="{3F9DC607-C3B0-73DD-11AC-53E04F271A1A}"/>
              </a:ext>
            </a:extLst>
          </p:cNvPr>
          <p:cNvSpPr>
            <a:spLocks noGrp="1"/>
          </p:cNvSpPr>
          <p:nvPr>
            <p:ph type="body" sz="quarter" idx="14"/>
          </p:nvPr>
        </p:nvSpPr>
        <p:spPr>
          <a:xfrm>
            <a:off x="1828800" y="1448791"/>
            <a:ext cx="8755380" cy="3880136"/>
          </a:xfrm>
        </p:spPr>
        <p:txBody>
          <a:bodyPr>
            <a:normAutofit/>
          </a:bodyPr>
          <a:lstStyle/>
          <a:p>
            <a:r>
              <a:rPr lang="en-US" sz="2400" dirty="0"/>
              <a:t>If ideas are predictable and tend to have marginal improvements best to run fewer larger experiments</a:t>
            </a:r>
          </a:p>
          <a:p>
            <a:endParaRPr lang="en-US" sz="2400" dirty="0"/>
          </a:p>
          <a:p>
            <a:r>
              <a:rPr lang="en-US" sz="2400" dirty="0"/>
              <a:t>Carefully triage ideas</a:t>
            </a:r>
          </a:p>
          <a:p>
            <a:pPr lvl="1"/>
            <a:r>
              <a:rPr lang="en-US" sz="2400" dirty="0"/>
              <a:t>Identify the most promising</a:t>
            </a:r>
          </a:p>
          <a:p>
            <a:endParaRPr lang="en-US" sz="2400" dirty="0"/>
          </a:p>
          <a:p>
            <a:r>
              <a:rPr lang="en-US" sz="2400" dirty="0"/>
              <a:t>Because effects tend to be smaller, large experiments let us identify the positive-payoff</a:t>
            </a:r>
          </a:p>
        </p:txBody>
      </p:sp>
      <p:sp>
        <p:nvSpPr>
          <p:cNvPr id="5" name="Date Placeholder 4">
            <a:extLst>
              <a:ext uri="{FF2B5EF4-FFF2-40B4-BE49-F238E27FC236}">
                <a16:creationId xmlns:a16="http://schemas.microsoft.com/office/drawing/2014/main" id="{49742C10-830F-D5CD-BC92-6D9D57030F79}"/>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886231F2-1CB3-779F-4480-1B0817204782}"/>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14633392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436C5-9270-9105-18FC-AE4D3F3C1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8AEEAC-B2FF-EEF0-5D24-05B8975AF385}"/>
              </a:ext>
            </a:extLst>
          </p:cNvPr>
          <p:cNvSpPr>
            <a:spLocks noGrp="1"/>
          </p:cNvSpPr>
          <p:nvPr>
            <p:ph type="ctrTitle"/>
          </p:nvPr>
        </p:nvSpPr>
        <p:spPr>
          <a:xfrm>
            <a:off x="2107520" y="437030"/>
            <a:ext cx="7988980" cy="332399"/>
          </a:xfrm>
        </p:spPr>
        <p:txBody>
          <a:bodyPr/>
          <a:lstStyle/>
          <a:p>
            <a:r>
              <a:rPr lang="en-US" dirty="0"/>
              <a:t>When Many Small Experiments are Optimal</a:t>
            </a:r>
          </a:p>
        </p:txBody>
      </p:sp>
      <p:sp>
        <p:nvSpPr>
          <p:cNvPr id="4" name="Text Placeholder 3">
            <a:extLst>
              <a:ext uri="{FF2B5EF4-FFF2-40B4-BE49-F238E27FC236}">
                <a16:creationId xmlns:a16="http://schemas.microsoft.com/office/drawing/2014/main" id="{AC0E5858-5E70-7840-48F0-643451F5BC79}"/>
              </a:ext>
            </a:extLst>
          </p:cNvPr>
          <p:cNvSpPr>
            <a:spLocks noGrp="1"/>
          </p:cNvSpPr>
          <p:nvPr>
            <p:ph type="body" sz="quarter" idx="14"/>
          </p:nvPr>
        </p:nvSpPr>
        <p:spPr>
          <a:xfrm>
            <a:off x="1828800" y="1448791"/>
            <a:ext cx="8755380" cy="3880136"/>
          </a:xfrm>
        </p:spPr>
        <p:txBody>
          <a:bodyPr>
            <a:normAutofit fontScale="92500" lnSpcReduction="20000"/>
          </a:bodyPr>
          <a:lstStyle/>
          <a:p>
            <a:r>
              <a:rPr lang="en-US" sz="2400" dirty="0"/>
              <a:t>When ideas are plentiful and there are “heavy tails” best to run many small experiments</a:t>
            </a:r>
          </a:p>
          <a:p>
            <a:pPr lvl="1"/>
            <a:r>
              <a:rPr lang="en-US" sz="2400" dirty="0"/>
              <a:t>This means there are many ideas with outlier payoffs</a:t>
            </a:r>
          </a:p>
          <a:p>
            <a:endParaRPr lang="en-US" sz="2400" dirty="0"/>
          </a:p>
          <a:p>
            <a:r>
              <a:rPr lang="en-US" sz="2400" dirty="0"/>
              <a:t>The idea is that it is important to find these outlier ideas</a:t>
            </a:r>
          </a:p>
          <a:p>
            <a:pPr lvl="1"/>
            <a:r>
              <a:rPr lang="en-US" sz="2400" dirty="0"/>
              <a:t>Hard to identify ex ante</a:t>
            </a:r>
          </a:p>
          <a:p>
            <a:endParaRPr lang="en-US" sz="2400" dirty="0"/>
          </a:p>
          <a:p>
            <a:r>
              <a:rPr lang="en-US" sz="2400" dirty="0"/>
              <a:t>Because effects are big, they can be found in smaller experiments</a:t>
            </a:r>
          </a:p>
          <a:p>
            <a:endParaRPr lang="en-US" sz="2400" dirty="0"/>
          </a:p>
          <a:p>
            <a:r>
              <a:rPr lang="en-US" sz="2400" dirty="0"/>
              <a:t>This method will not reliably identify the ideas that have small positive impacts</a:t>
            </a:r>
          </a:p>
          <a:p>
            <a:pPr lvl="1"/>
            <a:r>
              <a:rPr lang="en-US" sz="2400" dirty="0"/>
              <a:t>Worth the tradeoff to find the home-run ideas</a:t>
            </a:r>
          </a:p>
        </p:txBody>
      </p:sp>
      <p:sp>
        <p:nvSpPr>
          <p:cNvPr id="5" name="Date Placeholder 4">
            <a:extLst>
              <a:ext uri="{FF2B5EF4-FFF2-40B4-BE49-F238E27FC236}">
                <a16:creationId xmlns:a16="http://schemas.microsoft.com/office/drawing/2014/main" id="{767F65FF-A0AD-173A-1425-9E6C7C184EF3}"/>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88991E8D-4AC1-622D-88D8-C2C7ED9E6573}"/>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1709108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93C8F-7E09-54F2-07D8-CE5513B6E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1CF6D6-74B9-8990-ED80-6C5A925C38D8}"/>
              </a:ext>
            </a:extLst>
          </p:cNvPr>
          <p:cNvSpPr>
            <a:spLocks noGrp="1"/>
          </p:cNvSpPr>
          <p:nvPr>
            <p:ph type="ctrTitle"/>
          </p:nvPr>
        </p:nvSpPr>
        <p:spPr>
          <a:xfrm>
            <a:off x="2107520" y="437030"/>
            <a:ext cx="7988980" cy="332399"/>
          </a:xfrm>
        </p:spPr>
        <p:txBody>
          <a:bodyPr/>
          <a:lstStyle/>
          <a:p>
            <a:r>
              <a:rPr lang="en-US" dirty="0"/>
              <a:t>What is Best for Our Company?</a:t>
            </a:r>
          </a:p>
        </p:txBody>
      </p:sp>
      <p:sp>
        <p:nvSpPr>
          <p:cNvPr id="4" name="Text Placeholder 3">
            <a:extLst>
              <a:ext uri="{FF2B5EF4-FFF2-40B4-BE49-F238E27FC236}">
                <a16:creationId xmlns:a16="http://schemas.microsoft.com/office/drawing/2014/main" id="{1FDD57B5-16DF-86A1-1A1A-13D312B29C0D}"/>
              </a:ext>
            </a:extLst>
          </p:cNvPr>
          <p:cNvSpPr>
            <a:spLocks noGrp="1"/>
          </p:cNvSpPr>
          <p:nvPr>
            <p:ph type="body" sz="quarter" idx="14"/>
          </p:nvPr>
        </p:nvSpPr>
        <p:spPr>
          <a:xfrm>
            <a:off x="1828800" y="1448791"/>
            <a:ext cx="8755380" cy="3880136"/>
          </a:xfrm>
        </p:spPr>
        <p:txBody>
          <a:bodyPr>
            <a:normAutofit/>
          </a:bodyPr>
          <a:lstStyle/>
          <a:p>
            <a:r>
              <a:rPr lang="en-US" sz="2400" dirty="0"/>
              <a:t>How easy is it to run experiments?</a:t>
            </a:r>
          </a:p>
          <a:p>
            <a:pPr lvl="1"/>
            <a:r>
              <a:rPr lang="en-US" sz="2400" dirty="0"/>
              <a:t>In online world, often relatively easy</a:t>
            </a:r>
          </a:p>
          <a:p>
            <a:endParaRPr lang="en-US" sz="2400" dirty="0"/>
          </a:p>
          <a:p>
            <a:r>
              <a:rPr lang="en-US" sz="2400" dirty="0"/>
              <a:t>Do ideas have “fat-tailed” payoffs?</a:t>
            </a:r>
          </a:p>
          <a:p>
            <a:pPr lvl="1"/>
            <a:r>
              <a:rPr lang="en-US" sz="2400" dirty="0"/>
              <a:t>In new ventures, often yes as there are many low-hanging fruit</a:t>
            </a:r>
          </a:p>
          <a:p>
            <a:pPr lvl="1"/>
            <a:r>
              <a:rPr lang="en-US" sz="2400" dirty="0"/>
              <a:t>Surprisingly, often true in big organizations as well</a:t>
            </a:r>
          </a:p>
          <a:p>
            <a:pPr lvl="2"/>
            <a:r>
              <a:rPr lang="en-US" sz="2400" dirty="0"/>
              <a:t>Azevedo et al (2020) found Bing had very fat tails</a:t>
            </a:r>
          </a:p>
        </p:txBody>
      </p:sp>
      <p:sp>
        <p:nvSpPr>
          <p:cNvPr id="5" name="Date Placeholder 4">
            <a:extLst>
              <a:ext uri="{FF2B5EF4-FFF2-40B4-BE49-F238E27FC236}">
                <a16:creationId xmlns:a16="http://schemas.microsoft.com/office/drawing/2014/main" id="{EFB5C4CF-1F6C-67C9-5386-62F5D009FC2C}"/>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C27A0596-83FF-2928-BFE9-77DB76C77FC6}"/>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583519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F9661-B647-9B4B-54E5-2368755AB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14C1A-F16D-48DF-AF30-919F8151323B}"/>
              </a:ext>
            </a:extLst>
          </p:cNvPr>
          <p:cNvSpPr>
            <a:spLocks noGrp="1"/>
          </p:cNvSpPr>
          <p:nvPr>
            <p:ph type="ctrTitle"/>
          </p:nvPr>
        </p:nvSpPr>
        <p:spPr>
          <a:xfrm>
            <a:off x="2647199" y="1501742"/>
            <a:ext cx="7300940" cy="664797"/>
          </a:xfrm>
        </p:spPr>
        <p:txBody>
          <a:bodyPr/>
          <a:lstStyle/>
          <a:p>
            <a:r>
              <a:rPr lang="en-US" dirty="0"/>
              <a:t>Mini Case study</a:t>
            </a:r>
          </a:p>
        </p:txBody>
      </p:sp>
      <p:sp>
        <p:nvSpPr>
          <p:cNvPr id="4" name="Date Placeholder 3">
            <a:extLst>
              <a:ext uri="{FF2B5EF4-FFF2-40B4-BE49-F238E27FC236}">
                <a16:creationId xmlns:a16="http://schemas.microsoft.com/office/drawing/2014/main" id="{BB33F801-1D0D-D21C-377F-E92C44CEB90A}"/>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Placeholder 4">
            <a:extLst>
              <a:ext uri="{FF2B5EF4-FFF2-40B4-BE49-F238E27FC236}">
                <a16:creationId xmlns:a16="http://schemas.microsoft.com/office/drawing/2014/main" id="{EC8EC3F3-C7F7-EF89-8B1A-E5562668C0A5}"/>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3500160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807C1-4512-6663-BA36-484AC1A89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2D54FF-8934-B28A-F51C-B06BA40BD5EB}"/>
              </a:ext>
            </a:extLst>
          </p:cNvPr>
          <p:cNvSpPr>
            <a:spLocks noGrp="1"/>
          </p:cNvSpPr>
          <p:nvPr>
            <p:ph type="ctrTitle"/>
          </p:nvPr>
        </p:nvSpPr>
        <p:spPr>
          <a:xfrm>
            <a:off x="2107520" y="437030"/>
            <a:ext cx="7988980" cy="332399"/>
          </a:xfrm>
        </p:spPr>
        <p:txBody>
          <a:bodyPr/>
          <a:lstStyle/>
          <a:p>
            <a:r>
              <a:rPr lang="en-US" dirty="0"/>
              <a:t>What is Best for Our Company? Continued</a:t>
            </a:r>
          </a:p>
        </p:txBody>
      </p:sp>
      <p:sp>
        <p:nvSpPr>
          <p:cNvPr id="4" name="Text Placeholder 3">
            <a:extLst>
              <a:ext uri="{FF2B5EF4-FFF2-40B4-BE49-F238E27FC236}">
                <a16:creationId xmlns:a16="http://schemas.microsoft.com/office/drawing/2014/main" id="{0BA750BB-DAD4-0723-C7E1-1122F76670FA}"/>
              </a:ext>
            </a:extLst>
          </p:cNvPr>
          <p:cNvSpPr>
            <a:spLocks noGrp="1"/>
          </p:cNvSpPr>
          <p:nvPr>
            <p:ph type="body" sz="quarter" idx="14"/>
          </p:nvPr>
        </p:nvSpPr>
        <p:spPr>
          <a:xfrm>
            <a:off x="1828800" y="1448791"/>
            <a:ext cx="8755380" cy="3880136"/>
          </a:xfrm>
        </p:spPr>
        <p:txBody>
          <a:bodyPr>
            <a:normAutofit fontScale="92500"/>
          </a:bodyPr>
          <a:lstStyle/>
          <a:p>
            <a:r>
              <a:rPr lang="en-US" sz="2400" dirty="0"/>
              <a:t>Facebook’s revenue has been relying heavily on advertising. In early this year, Facebook reported advertising revenue at $16.6 billion for the final quarter of 2018, up 30 percent year-over-year.  Facebook news feed ads allow businesses to run targeted campaigns that appear as posts in Facebook news feeds. </a:t>
            </a:r>
          </a:p>
          <a:p>
            <a:endParaRPr lang="en-US" sz="2400" dirty="0"/>
          </a:p>
          <a:p>
            <a:r>
              <a:rPr lang="en-US" sz="2400" dirty="0"/>
              <a:t>Imagine yourself as a PM for FB news feed ads team. You are interested in increasing ad-revenue and want to measure user sensitivity to ads.</a:t>
            </a:r>
          </a:p>
          <a:p>
            <a:endParaRPr lang="en-US" sz="2400" dirty="0"/>
          </a:p>
          <a:p>
            <a:r>
              <a:rPr lang="en-US" sz="2400" dirty="0"/>
              <a:t>Describe an experiment that would allow you to estimate this quantity</a:t>
            </a:r>
          </a:p>
          <a:p>
            <a:pPr lvl="1"/>
            <a:r>
              <a:rPr lang="en-US" sz="2400" dirty="0"/>
              <a:t>What challenges do you have to overcome here?</a:t>
            </a:r>
          </a:p>
        </p:txBody>
      </p:sp>
      <p:sp>
        <p:nvSpPr>
          <p:cNvPr id="5" name="Date Placeholder 4">
            <a:extLst>
              <a:ext uri="{FF2B5EF4-FFF2-40B4-BE49-F238E27FC236}">
                <a16:creationId xmlns:a16="http://schemas.microsoft.com/office/drawing/2014/main" id="{4DDC6663-F1EA-1E54-E75E-145A506831D9}"/>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8E2A702C-3B11-7291-CCCC-5753EF31D4E7}"/>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18052110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EAD5-FB12-1410-2431-D51090D79E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D03AA-0114-FDBA-8AAE-37B375E01DFD}"/>
              </a:ext>
            </a:extLst>
          </p:cNvPr>
          <p:cNvSpPr>
            <a:spLocks noGrp="1"/>
          </p:cNvSpPr>
          <p:nvPr>
            <p:ph type="ctrTitle"/>
          </p:nvPr>
        </p:nvSpPr>
        <p:spPr>
          <a:xfrm>
            <a:off x="2107520" y="437030"/>
            <a:ext cx="7988980" cy="332399"/>
          </a:xfrm>
        </p:spPr>
        <p:txBody>
          <a:bodyPr/>
          <a:lstStyle/>
          <a:p>
            <a:r>
              <a:rPr lang="en-US" dirty="0"/>
              <a:t>Facebook Ran a Version of Experiment</a:t>
            </a:r>
          </a:p>
        </p:txBody>
      </p:sp>
      <p:pic>
        <p:nvPicPr>
          <p:cNvPr id="10" name="Picture 9" descr="Scatter plot comparing normalized time spent on Facebook between users shown Ads versus No-Ads. The No-Ads group shows slightly higher relative time spent than the Ads group, with both plotted as single points over labeled categories ‘No-Ads, Overall’ and ‘Ads, Overall.">
            <a:extLst>
              <a:ext uri="{FF2B5EF4-FFF2-40B4-BE49-F238E27FC236}">
                <a16:creationId xmlns:a16="http://schemas.microsoft.com/office/drawing/2014/main" id="{DDC3E03E-8183-413A-5CF2-345DDDF10661}"/>
              </a:ext>
            </a:extLst>
          </p:cNvPr>
          <p:cNvPicPr>
            <a:picLocks noChangeAspect="1"/>
          </p:cNvPicPr>
          <p:nvPr/>
        </p:nvPicPr>
        <p:blipFill>
          <a:blip r:embed="rId3"/>
          <a:stretch>
            <a:fillRect/>
          </a:stretch>
        </p:blipFill>
        <p:spPr>
          <a:xfrm>
            <a:off x="1302697" y="1942161"/>
            <a:ext cx="5123750" cy="2547952"/>
          </a:xfrm>
          <a:prstGeom prst="rect">
            <a:avLst/>
          </a:prstGeom>
        </p:spPr>
      </p:pic>
      <p:pic>
        <p:nvPicPr>
          <p:cNvPr id="11" name="Picture 10" descr="Scatter plot showing median willingness-to-accept (WTA) values in USD for using Facebook, comparing No-Ads versus Ads conditions. The No-Ads group has a WTA of about $32, while the Ads group has a slightly lower WTA around $31, each displayed as a point with vertical error bars over the categories ‘No-Ads, Overall’ and ‘Ads, Overall.">
            <a:extLst>
              <a:ext uri="{FF2B5EF4-FFF2-40B4-BE49-F238E27FC236}">
                <a16:creationId xmlns:a16="http://schemas.microsoft.com/office/drawing/2014/main" id="{04C8353E-7EB9-2FD6-160A-8F87DD6360B8}"/>
              </a:ext>
            </a:extLst>
          </p:cNvPr>
          <p:cNvPicPr>
            <a:picLocks noChangeAspect="1"/>
          </p:cNvPicPr>
          <p:nvPr/>
        </p:nvPicPr>
        <p:blipFill>
          <a:blip r:embed="rId4"/>
          <a:stretch>
            <a:fillRect/>
          </a:stretch>
        </p:blipFill>
        <p:spPr>
          <a:xfrm>
            <a:off x="6377169" y="1646075"/>
            <a:ext cx="5512034" cy="2823420"/>
          </a:xfrm>
          <a:prstGeom prst="rect">
            <a:avLst/>
          </a:prstGeom>
        </p:spPr>
      </p:pic>
      <p:sp>
        <p:nvSpPr>
          <p:cNvPr id="12" name="TextBox 11">
            <a:extLst>
              <a:ext uri="{FF2B5EF4-FFF2-40B4-BE49-F238E27FC236}">
                <a16:creationId xmlns:a16="http://schemas.microsoft.com/office/drawing/2014/main" id="{6BBB2FD1-ED17-E3B2-24EC-701CE7E0BEF6}"/>
              </a:ext>
            </a:extLst>
          </p:cNvPr>
          <p:cNvSpPr txBox="1"/>
          <p:nvPr/>
        </p:nvSpPr>
        <p:spPr>
          <a:xfrm>
            <a:off x="7581900" y="4858737"/>
            <a:ext cx="3374770" cy="369332"/>
          </a:xfrm>
          <a:prstGeom prst="rect">
            <a:avLst/>
          </a:prstGeom>
          <a:noFill/>
        </p:spPr>
        <p:txBody>
          <a:bodyPr wrap="none" rtlCol="0">
            <a:spAutoFit/>
          </a:bodyPr>
          <a:lstStyle/>
          <a:p>
            <a:r>
              <a:rPr lang="en-US" dirty="0"/>
              <a:t>Source: Brynjolfsson et al (2024)</a:t>
            </a:r>
          </a:p>
        </p:txBody>
      </p:sp>
      <p:sp>
        <p:nvSpPr>
          <p:cNvPr id="5" name="Date Placeholder 4">
            <a:extLst>
              <a:ext uri="{FF2B5EF4-FFF2-40B4-BE49-F238E27FC236}">
                <a16:creationId xmlns:a16="http://schemas.microsoft.com/office/drawing/2014/main" id="{B869625D-440C-BC90-C740-AD9FE62C507A}"/>
              </a:ext>
            </a:extLst>
          </p:cNvPr>
          <p:cNvSpPr>
            <a:spLocks noGrp="1"/>
          </p:cNvSpPr>
          <p:nvPr>
            <p:ph type="dt" sz="half" idx="10"/>
          </p:nvPr>
        </p:nvSpPr>
        <p:spPr/>
        <p:txBody>
          <a:bodyPr/>
          <a:lstStyle/>
          <a:p>
            <a:fld id="{D47A9A36-4EB0-BF46-AE48-7CDA251B954B}" type="datetime1">
              <a:rPr lang="en-US" smtClean="0"/>
              <a:t>11/21/2025</a:t>
            </a:fld>
            <a:endParaRPr lang="en-US" dirty="0"/>
          </a:p>
        </p:txBody>
      </p:sp>
      <p:sp>
        <p:nvSpPr>
          <p:cNvPr id="6" name="Slide Number Placeholder 5">
            <a:extLst>
              <a:ext uri="{FF2B5EF4-FFF2-40B4-BE49-F238E27FC236}">
                <a16:creationId xmlns:a16="http://schemas.microsoft.com/office/drawing/2014/main" id="{A4FA4D63-C408-0F08-EB8C-7F68DE640B57}"/>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4079761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FDCB4-718E-C216-3AB7-407073E2F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430FDD-E895-D386-A1DF-F5B944D3F046}"/>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769B9295-30AA-B967-7B43-2881558C2F4B}"/>
              </a:ext>
            </a:extLst>
          </p:cNvPr>
          <p:cNvSpPr>
            <a:spLocks noGrp="1"/>
          </p:cNvSpPr>
          <p:nvPr>
            <p:ph type="dt" sz="half" idx="10"/>
          </p:nvPr>
        </p:nvSpPr>
        <p:spPr/>
        <p:txBody>
          <a:bodyPr/>
          <a:lstStyle/>
          <a:p>
            <a:fld id="{D47A9A36-4EB0-BF46-AE48-7CDA251B954B}" type="datetime1">
              <a:rPr lang="en-US" smtClean="0"/>
              <a:pPr/>
              <a:t>11/21/2025</a:t>
            </a:fld>
            <a:endParaRPr lang="en-US" dirty="0"/>
          </a:p>
        </p:txBody>
      </p:sp>
      <p:sp>
        <p:nvSpPr>
          <p:cNvPr id="5" name="Slide Number Placeholder 4">
            <a:extLst>
              <a:ext uri="{FF2B5EF4-FFF2-40B4-BE49-F238E27FC236}">
                <a16:creationId xmlns:a16="http://schemas.microsoft.com/office/drawing/2014/main" id="{6B1AC93E-D2D3-3ED7-9155-4555433D4104}"/>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2104516878"/>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18372</TotalTime>
  <Words>1807</Words>
  <Application>Microsoft Office PowerPoint</Application>
  <PresentationFormat>Widescreen</PresentationFormat>
  <Paragraphs>381</Paragraphs>
  <Slides>38</Slides>
  <Notes>35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Wingdings</vt:lpstr>
      <vt:lpstr>Calibri</vt:lpstr>
      <vt:lpstr>Arial</vt:lpstr>
      <vt:lpstr>Franklin Gothic Demi</vt:lpstr>
      <vt:lpstr>Cambria Math</vt:lpstr>
      <vt:lpstr>Impact</vt:lpstr>
      <vt:lpstr>Franklin Gothic Medium</vt:lpstr>
      <vt:lpstr>United Sans Rg Md</vt:lpstr>
      <vt:lpstr>Acumin Pro</vt:lpstr>
      <vt:lpstr>Franklin Gothic Book</vt:lpstr>
      <vt:lpstr>Purdue2</vt:lpstr>
      <vt:lpstr>Digital product design</vt:lpstr>
      <vt:lpstr>Outline</vt:lpstr>
      <vt:lpstr>A/B Testing Overview</vt:lpstr>
      <vt:lpstr>Correlations and Causation</vt:lpstr>
      <vt:lpstr>Motivation for Experiments</vt:lpstr>
      <vt:lpstr>Motivation for Experiments, Continued</vt:lpstr>
      <vt:lpstr>Hard to Assess New Ideas</vt:lpstr>
      <vt:lpstr>Quantify Impact</vt:lpstr>
      <vt:lpstr>Running A/B tests</vt:lpstr>
      <vt:lpstr>Choosing the Unit of Randomization</vt:lpstr>
      <vt:lpstr>Randomize then Analyze</vt:lpstr>
      <vt:lpstr>Analyze Differences</vt:lpstr>
      <vt:lpstr>Statistical Hypothesis Testing</vt:lpstr>
      <vt:lpstr>Analyze Differences - Heterogeneous Treatment Effects </vt:lpstr>
      <vt:lpstr>Potential Pitfalls</vt:lpstr>
      <vt:lpstr>When Experiments Fail</vt:lpstr>
      <vt:lpstr>Randomization Fails</vt:lpstr>
      <vt:lpstr>Sample Ratio Mismatch</vt:lpstr>
      <vt:lpstr>Balance Tests</vt:lpstr>
      <vt:lpstr>Interference</vt:lpstr>
      <vt:lpstr>Interference - Solutions</vt:lpstr>
      <vt:lpstr>Interference – Holtz et al (2020)</vt:lpstr>
      <vt:lpstr>Statistical Problems – Multiple Hypothesis Testing</vt:lpstr>
      <vt:lpstr>Statistical Problems – Peeking</vt:lpstr>
      <vt:lpstr>Statistical Problems – Solutions</vt:lpstr>
      <vt:lpstr>Ethical Experimentation</vt:lpstr>
      <vt:lpstr>Examples of Problematic Experiments</vt:lpstr>
      <vt:lpstr>Examples of Problematic Experiments, Continued</vt:lpstr>
      <vt:lpstr>Ethics in Experiments</vt:lpstr>
      <vt:lpstr>A/B Testing Strategy</vt:lpstr>
      <vt:lpstr>A/B Tests Aren’t Run in a Vacuum</vt:lpstr>
      <vt:lpstr>When Few Big Experiments are Optimal</vt:lpstr>
      <vt:lpstr>When Many Small Experiments are Optimal</vt:lpstr>
      <vt:lpstr>What is Best for Our Company?</vt:lpstr>
      <vt:lpstr>Mini Case study</vt:lpstr>
      <vt:lpstr>What is Best for Our Company? Continued</vt:lpstr>
      <vt:lpstr>Facebook Ran a Version of Experiment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1357</cp:revision>
  <dcterms:created xsi:type="dcterms:W3CDTF">2024-07-15T17:50:06Z</dcterms:created>
  <dcterms:modified xsi:type="dcterms:W3CDTF">2025-11-21T14:50:50Z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