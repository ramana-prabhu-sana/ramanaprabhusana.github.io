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autoCompressPictures="0">
  <p:sldMasterIdLst>
    <p:sldMasterId id="2147483708" r:id="rId1"/>
  </p:sldMasterIdLst>
  <p:notesMasterIdLst>
    <p:notesMasterId r:id="rId51"/>
  </p:notesMasterIdLst>
  <p:sldIdLst>
    <p:sldId id="257" r:id="rId2"/>
    <p:sldId id="546" r:id="rId3"/>
    <p:sldId id="421" r:id="rId4"/>
    <p:sldId id="617" r:id="rId5"/>
    <p:sldId id="624" r:id="rId6"/>
    <p:sldId id="625" r:id="rId7"/>
    <p:sldId id="630" r:id="rId8"/>
    <p:sldId id="632" r:id="rId9"/>
    <p:sldId id="661" r:id="rId10"/>
    <p:sldId id="597" r:id="rId11"/>
    <p:sldId id="663" r:id="rId12"/>
    <p:sldId id="662" r:id="rId13"/>
    <p:sldId id="664" r:id="rId14"/>
    <p:sldId id="615" r:id="rId15"/>
    <p:sldId id="666" r:id="rId16"/>
    <p:sldId id="669" r:id="rId17"/>
    <p:sldId id="667" r:id="rId18"/>
    <p:sldId id="668" r:id="rId19"/>
    <p:sldId id="691" r:id="rId20"/>
    <p:sldId id="692" r:id="rId21"/>
    <p:sldId id="693" r:id="rId22"/>
    <p:sldId id="694" r:id="rId23"/>
    <p:sldId id="695" r:id="rId24"/>
    <p:sldId id="701" r:id="rId25"/>
    <p:sldId id="696" r:id="rId26"/>
    <p:sldId id="697" r:id="rId27"/>
    <p:sldId id="665" r:id="rId28"/>
    <p:sldId id="673" r:id="rId29"/>
    <p:sldId id="675" r:id="rId30"/>
    <p:sldId id="674" r:id="rId31"/>
    <p:sldId id="678" r:id="rId32"/>
    <p:sldId id="702" r:id="rId33"/>
    <p:sldId id="679" r:id="rId34"/>
    <p:sldId id="677" r:id="rId35"/>
    <p:sldId id="680" r:id="rId36"/>
    <p:sldId id="681" r:id="rId37"/>
    <p:sldId id="682" r:id="rId38"/>
    <p:sldId id="672" r:id="rId39"/>
    <p:sldId id="683" r:id="rId40"/>
    <p:sldId id="685" r:id="rId41"/>
    <p:sldId id="686" r:id="rId42"/>
    <p:sldId id="703" r:id="rId43"/>
    <p:sldId id="704" r:id="rId44"/>
    <p:sldId id="684" r:id="rId45"/>
    <p:sldId id="687" r:id="rId46"/>
    <p:sldId id="705" r:id="rId47"/>
    <p:sldId id="689" r:id="rId48"/>
    <p:sldId id="690" r:id="rId49"/>
    <p:sldId id="671" r:id="rId50"/>
  </p:sldIdLst>
  <p:sldSz cx="12192000" cy="6858000"/>
  <p:notesSz cx="6858000" cy="9144000"/>
  <p:embeddedFontLst>
    <p:embeddedFont>
      <p:font typeface="Acumin Pro" panose="020B0604020202020204" charset="0"/>
      <p:regular r:id="rId52"/>
      <p:bold r:id="rId53"/>
      <p:italic r:id="rId54"/>
      <p:boldItalic r:id="rId55"/>
    </p:embeddedFont>
    <p:embeddedFont>
      <p:font typeface="Cambria Math" panose="02040503050406030204" pitchFamily="18" charset="0"/>
      <p:regular r:id="rId56"/>
    </p:embeddedFont>
    <p:embeddedFont>
      <p:font typeface="Franklin Gothic Book" panose="020B0503020102020204" pitchFamily="34" charset="0"/>
      <p:regular r:id="rId57"/>
      <p:italic r:id="rId58"/>
    </p:embeddedFont>
    <p:embeddedFont>
      <p:font typeface="Franklin Gothic Demi" panose="020B0703020102020204" pitchFamily="34" charset="0"/>
      <p:regular r:id="rId59"/>
      <p:bold r:id="rId60"/>
      <p:italic r:id="rId61"/>
      <p:boldItalic r:id="rId62"/>
    </p:embeddedFont>
    <p:embeddedFont>
      <p:font typeface="Franklin Gothic Medium" panose="020B0603020102020204" pitchFamily="34" charset="0"/>
      <p:regular r:id="rId63"/>
      <p:italic r:id="rId64"/>
    </p:embeddedFont>
    <p:embeddedFont>
      <p:font typeface="Impact" panose="020B0806030902050204" pitchFamily="34" charset="0"/>
      <p:regular r:id="rId65"/>
    </p:embeddedFont>
    <p:embeddedFont>
      <p:font typeface="United Sans Rg Md" pitchFamily="50" charset="0"/>
      <p:regular r:id="rId66"/>
    </p:embeddedFont>
  </p:embeddedFontLst>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9687" autoAdjust="0"/>
    <p:restoredTop sz="70966"/>
  </p:normalViewPr>
  <p:slideViewPr>
    <p:cSldViewPr snapToGrid="0" snapToObjects="1">
      <p:cViewPr varScale="1">
        <p:scale>
          <a:sx n="67" d="100"/>
          <a:sy n="67" d="100"/>
        </p:scale>
        <p:origin x="972" y="288"/>
      </p:cViewPr>
      <p:guideLst/>
    </p:cSldViewPr>
  </p:slideViewPr>
  <p:outlineViewPr>
    <p:cViewPr>
      <p:scale>
        <a:sx n="33" d="100"/>
        <a:sy n="33" d="100"/>
      </p:scale>
      <p:origin x="0" y="0"/>
    </p:cViewPr>
  </p:outlineViewPr>
  <p:notesTextViewPr>
    <p:cViewPr>
      <p:scale>
        <a:sx n="1" d="1"/>
        <a:sy n="1" d="1"/>
      </p:scale>
      <p:origin x="0" y="0"/>
    </p:cViewPr>
  </p:notesTextViewPr>
  <p:notesViewPr>
    <p:cSldViewPr snapToGrid="0" snapToObjects="1">
      <p:cViewPr varScale="1">
        <p:scale>
          <a:sx n="66" d="100"/>
          <a:sy n="66" d="100"/>
        </p:scale>
        <p:origin x="0" y="0"/>
      </p:cViewPr>
      <p:guideLst/>
    </p:cSldViewPr>
  </p:notes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font" Target="fonts/font12.fntdata"/><Relationship Id="rId68"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fonts/font7.fntdata"/><Relationship Id="rId66" Type="http://schemas.openxmlformats.org/officeDocument/2006/relationships/font" Target="fonts/font15.fntdata"/><Relationship Id="rId5" Type="http://schemas.openxmlformats.org/officeDocument/2006/relationships/slide" Target="slides/slide4.xml"/><Relationship Id="rId61"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64" Type="http://schemas.openxmlformats.org/officeDocument/2006/relationships/font" Target="fonts/font13.fntdata"/><Relationship Id="rId69"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8.fntdata"/><Relationship Id="rId67" Type="http://schemas.openxmlformats.org/officeDocument/2006/relationships/presProps" Target="presProps.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62" Type="http://schemas.openxmlformats.org/officeDocument/2006/relationships/font" Target="fonts/font11.fntdata"/><Relationship Id="rId70"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font" Target="fonts/font14.fntdata"/><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font" Target="fonts/font4.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28A55EAA-D64B-A54D-9AD6-840407C79D5E}" type="datetimeFigureOut">
              <a:rPr lang="en-US" smtClean="0"/>
              <a:t>11/17/2025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988F3A2B-14A6-8F47-B753-A658CA12576A}" type="slidenum">
              <a:rPr lang="en-US" smtClean="0"/>
              <a:t>‹#›</a:t>
            </a:fld>
            <a:endParaRPr lang="en-US"/>
          </a:p>
        </p:txBody>
      </p:sp>
    </p:spTree>
    <p:extLst>
      <p:ext uri="{BB962C8B-B14F-4D97-AF65-F5344CB8AC3E}">
        <p14:creationId xmlns:p14="http://schemas.microsoft.com/office/powerpoint/2010/main" val="161790048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a:t>
            </a:fld>
            <a:endParaRPr lang="en-US"/>
          </a:p>
        </p:txBody>
      </p:sp>
    </p:spTree>
    <p:extLst>
      <p:ext uri="{BB962C8B-B14F-4D97-AF65-F5344CB8AC3E}">
        <p14:creationId xmlns:p14="http://schemas.microsoft.com/office/powerpoint/2010/main" val="116997275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C90DC1-84DB-23D1-69D6-0E4663B7C80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539ECEE-90FE-B085-2E84-C82359BC6E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CA7858-951A-ED6D-E134-DCFF9C60D32A}"/>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AD5DB39-CE94-F7F7-E692-79D8ACF217F5}"/>
              </a:ext>
            </a:extLst>
          </p:cNvPr>
          <p:cNvSpPr>
            <a:spLocks noGrp="1"/>
          </p:cNvSpPr>
          <p:nvPr>
            <p:ph type="sldNum" sz="quarter" idx="5"/>
          </p:nvPr>
        </p:nvSpPr>
        <p:spPr/>
        <p:txBody>
          <a:bodyPr/>
          <a:lstStyle/>
          <a:p>
            <a:fld id="{988F3A2B-14A6-8F47-B753-A658CA12576A}" type="slidenum">
              <a:rPr lang="en-US" smtClean="0"/>
              <a:t>2</a:t>
            </a:fld>
            <a:endParaRPr lang="en-US"/>
          </a:p>
        </p:txBody>
      </p:sp>
    </p:spTree>
    <p:extLst>
      <p:ext uri="{BB962C8B-B14F-4D97-AF65-F5344CB8AC3E}">
        <p14:creationId xmlns:p14="http://schemas.microsoft.com/office/powerpoint/2010/main" val="19099403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AE235D1-AA1B-4381-9FA6-CA22F15358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392197-142F-8BA3-B2F6-AA3D17D3CB7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8CC9B19-7517-53A9-A65C-EB95B7A882E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D4F8D3D-A363-AB75-D4F7-E61E051D54C3}"/>
              </a:ext>
            </a:extLst>
          </p:cNvPr>
          <p:cNvSpPr>
            <a:spLocks noGrp="1"/>
          </p:cNvSpPr>
          <p:nvPr>
            <p:ph type="sldNum" sz="quarter" idx="5"/>
          </p:nvPr>
        </p:nvSpPr>
        <p:spPr/>
        <p:txBody>
          <a:bodyPr/>
          <a:lstStyle/>
          <a:p>
            <a:fld id="{988F3A2B-14A6-8F47-B753-A658CA12576A}" type="slidenum">
              <a:rPr lang="en-US" smtClean="0"/>
              <a:t>4</a:t>
            </a:fld>
            <a:endParaRPr lang="en-US"/>
          </a:p>
        </p:txBody>
      </p:sp>
    </p:spTree>
    <p:extLst>
      <p:ext uri="{BB962C8B-B14F-4D97-AF65-F5344CB8AC3E}">
        <p14:creationId xmlns:p14="http://schemas.microsoft.com/office/powerpoint/2010/main" val="62992016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B50F63-F516-D97A-2999-1A5EA2E33F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BBCE574-DB20-0531-337D-15E2F8DFFE4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F036858-8DDD-71FC-02CA-6723ABB031C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38F690F-316C-ADA8-E9ED-80435B4E1509}"/>
              </a:ext>
            </a:extLst>
          </p:cNvPr>
          <p:cNvSpPr>
            <a:spLocks noGrp="1"/>
          </p:cNvSpPr>
          <p:nvPr>
            <p:ph type="sldNum" sz="quarter" idx="5"/>
          </p:nvPr>
        </p:nvSpPr>
        <p:spPr/>
        <p:txBody>
          <a:bodyPr/>
          <a:lstStyle/>
          <a:p>
            <a:fld id="{988F3A2B-14A6-8F47-B753-A658CA12576A}" type="slidenum">
              <a:rPr lang="en-US" smtClean="0"/>
              <a:t>5</a:t>
            </a:fld>
            <a:endParaRPr lang="en-US"/>
          </a:p>
        </p:txBody>
      </p:sp>
    </p:spTree>
    <p:extLst>
      <p:ext uri="{BB962C8B-B14F-4D97-AF65-F5344CB8AC3E}">
        <p14:creationId xmlns:p14="http://schemas.microsoft.com/office/powerpoint/2010/main" val="1186733817"/>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6</a:t>
            </a:fld>
            <a:endParaRPr lang="en-US"/>
          </a:p>
        </p:txBody>
      </p:sp>
    </p:spTree>
    <p:extLst>
      <p:ext uri="{BB962C8B-B14F-4D97-AF65-F5344CB8AC3E}">
        <p14:creationId xmlns:p14="http://schemas.microsoft.com/office/powerpoint/2010/main" val="16971681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B30B24F-3031-5C2B-4C73-2DD9F6D6EDA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C11D80-6701-6AAC-E9E2-7CB358A0EC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F5EB5A-A3D4-021B-B3A4-EA54F18E100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D50B2F28-779B-1E6F-4AB6-14B7E0EEC3C9}"/>
              </a:ext>
            </a:extLst>
          </p:cNvPr>
          <p:cNvSpPr>
            <a:spLocks noGrp="1"/>
          </p:cNvSpPr>
          <p:nvPr>
            <p:ph type="sldNum" sz="quarter" idx="5"/>
          </p:nvPr>
        </p:nvSpPr>
        <p:spPr/>
        <p:txBody>
          <a:bodyPr/>
          <a:lstStyle/>
          <a:p>
            <a:fld id="{988F3A2B-14A6-8F47-B753-A658CA12576A}" type="slidenum">
              <a:rPr lang="en-US" smtClean="0"/>
              <a:t>7</a:t>
            </a:fld>
            <a:endParaRPr lang="en-US"/>
          </a:p>
        </p:txBody>
      </p:sp>
    </p:spTree>
    <p:extLst>
      <p:ext uri="{BB962C8B-B14F-4D97-AF65-F5344CB8AC3E}">
        <p14:creationId xmlns:p14="http://schemas.microsoft.com/office/powerpoint/2010/main" val="406354153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581FAF3-D66F-620A-C9FC-602114E5BEE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A10694-74EE-49C6-12F2-31799AD3C4B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EF59D72-BFF5-6843-2016-C5B677EA04E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678B186-F824-F83E-639C-A555D2ED7F67}"/>
              </a:ext>
            </a:extLst>
          </p:cNvPr>
          <p:cNvSpPr>
            <a:spLocks noGrp="1"/>
          </p:cNvSpPr>
          <p:nvPr>
            <p:ph type="sldNum" sz="quarter" idx="5"/>
          </p:nvPr>
        </p:nvSpPr>
        <p:spPr/>
        <p:txBody>
          <a:bodyPr/>
          <a:lstStyle/>
          <a:p>
            <a:fld id="{988F3A2B-14A6-8F47-B753-A658CA12576A}" type="slidenum">
              <a:rPr lang="en-US" smtClean="0"/>
              <a:t>8</a:t>
            </a:fld>
            <a:endParaRPr lang="en-US"/>
          </a:p>
        </p:txBody>
      </p:sp>
    </p:spTree>
    <p:extLst>
      <p:ext uri="{BB962C8B-B14F-4D97-AF65-F5344CB8AC3E}">
        <p14:creationId xmlns:p14="http://schemas.microsoft.com/office/powerpoint/2010/main" val="31282322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62BE47-A22F-5B4E-8EE7-D19FED75369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37E4FF4-292D-1270-5A02-3591AC8AB54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A6D6134-4FC6-EA83-B415-FE06DCB3E8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CB7FFD5A-904E-68D5-3C1D-A75CAC6D87EA}"/>
              </a:ext>
            </a:extLst>
          </p:cNvPr>
          <p:cNvSpPr>
            <a:spLocks noGrp="1"/>
          </p:cNvSpPr>
          <p:nvPr>
            <p:ph type="sldNum" sz="quarter" idx="5"/>
          </p:nvPr>
        </p:nvSpPr>
        <p:spPr/>
        <p:txBody>
          <a:bodyPr/>
          <a:lstStyle/>
          <a:p>
            <a:fld id="{988F3A2B-14A6-8F47-B753-A658CA12576A}" type="slidenum">
              <a:rPr lang="en-US" smtClean="0"/>
              <a:t>9</a:t>
            </a:fld>
            <a:endParaRPr lang="en-US"/>
          </a:p>
        </p:txBody>
      </p:sp>
    </p:spTree>
    <p:extLst>
      <p:ext uri="{BB962C8B-B14F-4D97-AF65-F5344CB8AC3E}">
        <p14:creationId xmlns:p14="http://schemas.microsoft.com/office/powerpoint/2010/main" val="221636031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10</a:t>
            </a:fld>
            <a:endParaRPr lang="en-US"/>
          </a:p>
        </p:txBody>
      </p:sp>
    </p:spTree>
    <p:extLst>
      <p:ext uri="{BB962C8B-B14F-4D97-AF65-F5344CB8AC3E}">
        <p14:creationId xmlns:p14="http://schemas.microsoft.com/office/powerpoint/2010/main" val="327821395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5B2331-22C9-B9F3-4AB9-B07CEE9B80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3EEA761-2CE5-D705-0E12-E81EADCA97C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BD24AD-320B-7985-C361-04FCAA692E1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1B3A17A-15B6-180C-3FB4-BB0D2BA1DC99}"/>
              </a:ext>
            </a:extLst>
          </p:cNvPr>
          <p:cNvSpPr>
            <a:spLocks noGrp="1"/>
          </p:cNvSpPr>
          <p:nvPr>
            <p:ph type="sldNum" sz="quarter" idx="5"/>
          </p:nvPr>
        </p:nvSpPr>
        <p:spPr/>
        <p:txBody>
          <a:bodyPr/>
          <a:lstStyle/>
          <a:p>
            <a:fld id="{988F3A2B-14A6-8F47-B753-A658CA12576A}" type="slidenum">
              <a:rPr lang="en-US" smtClean="0"/>
              <a:t>11</a:t>
            </a:fld>
            <a:endParaRPr lang="en-US"/>
          </a:p>
        </p:txBody>
      </p:sp>
    </p:spTree>
    <p:extLst>
      <p:ext uri="{BB962C8B-B14F-4D97-AF65-F5344CB8AC3E}">
        <p14:creationId xmlns:p14="http://schemas.microsoft.com/office/powerpoint/2010/main" val="278072310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F6E1FBD-1E2D-82CB-D496-371C75DDBB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3330EB6-D3D2-A6B4-471D-474230EFDBE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9DA0F7C-AD10-E4DF-11AB-99DA1DCAB4B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1778108-10A4-1F85-1685-54246E042A99}"/>
              </a:ext>
            </a:extLst>
          </p:cNvPr>
          <p:cNvSpPr>
            <a:spLocks noGrp="1"/>
          </p:cNvSpPr>
          <p:nvPr>
            <p:ph type="sldNum" sz="quarter" idx="5"/>
          </p:nvPr>
        </p:nvSpPr>
        <p:spPr/>
        <p:txBody>
          <a:bodyPr/>
          <a:lstStyle/>
          <a:p>
            <a:fld id="{988F3A2B-14A6-8F47-B753-A658CA12576A}" type="slidenum">
              <a:rPr lang="en-US" smtClean="0"/>
              <a:t>12</a:t>
            </a:fld>
            <a:endParaRPr lang="en-US"/>
          </a:p>
        </p:txBody>
      </p:sp>
    </p:spTree>
    <p:extLst>
      <p:ext uri="{BB962C8B-B14F-4D97-AF65-F5344CB8AC3E}">
        <p14:creationId xmlns:p14="http://schemas.microsoft.com/office/powerpoint/2010/main" val="84414758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871F24A-A1AD-8CD1-C017-ABF02CE9DBE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73E1A3-297D-1448-DFD6-252490BBC85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968C9EC-DB00-2E86-B77C-D4B95F224E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CB1908D-CB8A-32A0-982A-2119BC5D63ED}"/>
              </a:ext>
            </a:extLst>
          </p:cNvPr>
          <p:cNvSpPr>
            <a:spLocks noGrp="1"/>
          </p:cNvSpPr>
          <p:nvPr>
            <p:ph type="sldNum" sz="quarter" idx="5"/>
          </p:nvPr>
        </p:nvSpPr>
        <p:spPr/>
        <p:txBody>
          <a:bodyPr/>
          <a:lstStyle/>
          <a:p>
            <a:fld id="{988F3A2B-14A6-8F47-B753-A658CA12576A}" type="slidenum">
              <a:rPr lang="en-US" smtClean="0"/>
              <a:t>13</a:t>
            </a:fld>
            <a:endParaRPr lang="en-US"/>
          </a:p>
        </p:txBody>
      </p:sp>
    </p:spTree>
    <p:extLst>
      <p:ext uri="{BB962C8B-B14F-4D97-AF65-F5344CB8AC3E}">
        <p14:creationId xmlns:p14="http://schemas.microsoft.com/office/powerpoint/2010/main" val="215838935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988F3A2B-14A6-8F47-B753-A658CA12576A}" type="slidenum">
              <a:rPr lang="en-US" smtClean="0"/>
              <a:t>14</a:t>
            </a:fld>
            <a:endParaRPr lang="en-US"/>
          </a:p>
        </p:txBody>
      </p:sp>
    </p:spTree>
    <p:extLst>
      <p:ext uri="{BB962C8B-B14F-4D97-AF65-F5344CB8AC3E}">
        <p14:creationId xmlns:p14="http://schemas.microsoft.com/office/powerpoint/2010/main" val="27306814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1E6138-FE0C-18D0-5371-2A0F240A551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A37209B-E02F-D157-FE90-338773C7AF6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264082D-2CDA-35F0-9E74-D813AF59137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21EF022-1F2A-1EC2-54C3-0C33FA0111F7}"/>
              </a:ext>
            </a:extLst>
          </p:cNvPr>
          <p:cNvSpPr>
            <a:spLocks noGrp="1"/>
          </p:cNvSpPr>
          <p:nvPr>
            <p:ph type="sldNum" sz="quarter" idx="5"/>
          </p:nvPr>
        </p:nvSpPr>
        <p:spPr/>
        <p:txBody>
          <a:bodyPr/>
          <a:lstStyle/>
          <a:p>
            <a:fld id="{988F3A2B-14A6-8F47-B753-A658CA12576A}" type="slidenum">
              <a:rPr lang="en-US" smtClean="0"/>
              <a:t>15</a:t>
            </a:fld>
            <a:endParaRPr lang="en-US"/>
          </a:p>
        </p:txBody>
      </p:sp>
    </p:spTree>
    <p:extLst>
      <p:ext uri="{BB962C8B-B14F-4D97-AF65-F5344CB8AC3E}">
        <p14:creationId xmlns:p14="http://schemas.microsoft.com/office/powerpoint/2010/main" val="135184100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F0B743-ECAB-B534-9EC7-6B4DBD52F19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19D19AC-E465-ABED-E570-21F4FA499C2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4316C74-20B5-3E37-0907-F64F84F939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487EF5A-D173-798B-6F53-62D1CB1D4A3A}"/>
              </a:ext>
            </a:extLst>
          </p:cNvPr>
          <p:cNvSpPr>
            <a:spLocks noGrp="1"/>
          </p:cNvSpPr>
          <p:nvPr>
            <p:ph type="sldNum" sz="quarter" idx="5"/>
          </p:nvPr>
        </p:nvSpPr>
        <p:spPr/>
        <p:txBody>
          <a:bodyPr/>
          <a:lstStyle/>
          <a:p>
            <a:fld id="{988F3A2B-14A6-8F47-B753-A658CA12576A}" type="slidenum">
              <a:rPr lang="en-US" smtClean="0"/>
              <a:t>16</a:t>
            </a:fld>
            <a:endParaRPr lang="en-US"/>
          </a:p>
        </p:txBody>
      </p:sp>
    </p:spTree>
    <p:extLst>
      <p:ext uri="{BB962C8B-B14F-4D97-AF65-F5344CB8AC3E}">
        <p14:creationId xmlns:p14="http://schemas.microsoft.com/office/powerpoint/2010/main" val="4161893209"/>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14DC93-7AF4-ECDB-AC1D-E2C7BABC29D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335EC3C-B7D3-CDB4-0FC9-70802FF9542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285B629-AB52-99B0-CD3B-E8EB2501CBA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9450783-05B8-6A64-37E8-C1D27954412D}"/>
              </a:ext>
            </a:extLst>
          </p:cNvPr>
          <p:cNvSpPr>
            <a:spLocks noGrp="1"/>
          </p:cNvSpPr>
          <p:nvPr>
            <p:ph type="sldNum" sz="quarter" idx="5"/>
          </p:nvPr>
        </p:nvSpPr>
        <p:spPr/>
        <p:txBody>
          <a:bodyPr/>
          <a:lstStyle/>
          <a:p>
            <a:fld id="{988F3A2B-14A6-8F47-B753-A658CA12576A}" type="slidenum">
              <a:rPr lang="en-US" smtClean="0"/>
              <a:t>17</a:t>
            </a:fld>
            <a:endParaRPr lang="en-US"/>
          </a:p>
        </p:txBody>
      </p:sp>
    </p:spTree>
    <p:extLst>
      <p:ext uri="{BB962C8B-B14F-4D97-AF65-F5344CB8AC3E}">
        <p14:creationId xmlns:p14="http://schemas.microsoft.com/office/powerpoint/2010/main" val="3257553003"/>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BEB21BC-8813-F8EE-0E7E-5FB7B7D2D74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C183335-FD40-2231-0A9D-869CDB8DDE8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A740A21-54B3-A073-9B85-8A39CF1231C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28C8383-4225-38AD-544D-6C51CA812A61}"/>
              </a:ext>
            </a:extLst>
          </p:cNvPr>
          <p:cNvSpPr>
            <a:spLocks noGrp="1"/>
          </p:cNvSpPr>
          <p:nvPr>
            <p:ph type="sldNum" sz="quarter" idx="5"/>
          </p:nvPr>
        </p:nvSpPr>
        <p:spPr/>
        <p:txBody>
          <a:bodyPr/>
          <a:lstStyle/>
          <a:p>
            <a:fld id="{988F3A2B-14A6-8F47-B753-A658CA12576A}" type="slidenum">
              <a:rPr lang="en-US" smtClean="0"/>
              <a:t>18</a:t>
            </a:fld>
            <a:endParaRPr lang="en-US"/>
          </a:p>
        </p:txBody>
      </p:sp>
    </p:spTree>
    <p:extLst>
      <p:ext uri="{BB962C8B-B14F-4D97-AF65-F5344CB8AC3E}">
        <p14:creationId xmlns:p14="http://schemas.microsoft.com/office/powerpoint/2010/main" val="3326930029"/>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8B242D-2C75-CD68-EAFA-0E3D6C9813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E072274-E7D4-4256-E826-B257B09341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0DAA46-172A-251C-89D1-39E71338C5F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B3930E9-CDE3-64D5-489D-B8EFF8866080}"/>
              </a:ext>
            </a:extLst>
          </p:cNvPr>
          <p:cNvSpPr>
            <a:spLocks noGrp="1"/>
          </p:cNvSpPr>
          <p:nvPr>
            <p:ph type="sldNum" sz="quarter" idx="5"/>
          </p:nvPr>
        </p:nvSpPr>
        <p:spPr/>
        <p:txBody>
          <a:bodyPr/>
          <a:lstStyle/>
          <a:p>
            <a:fld id="{988F3A2B-14A6-8F47-B753-A658CA12576A}" type="slidenum">
              <a:rPr lang="en-US" smtClean="0"/>
              <a:t>19</a:t>
            </a:fld>
            <a:endParaRPr lang="en-US"/>
          </a:p>
        </p:txBody>
      </p:sp>
    </p:spTree>
    <p:extLst>
      <p:ext uri="{BB962C8B-B14F-4D97-AF65-F5344CB8AC3E}">
        <p14:creationId xmlns:p14="http://schemas.microsoft.com/office/powerpoint/2010/main" val="7186613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4CBB30-A4DA-4B2B-EE8B-B76314467D9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DF7518-A938-5A56-B853-A6E2310C087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F7FB347-8854-F802-585E-1CC3B279C90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3B09A90-0826-4AE5-9E85-6B8D1BC9A585}"/>
              </a:ext>
            </a:extLst>
          </p:cNvPr>
          <p:cNvSpPr>
            <a:spLocks noGrp="1"/>
          </p:cNvSpPr>
          <p:nvPr>
            <p:ph type="sldNum" sz="quarter" idx="5"/>
          </p:nvPr>
        </p:nvSpPr>
        <p:spPr/>
        <p:txBody>
          <a:bodyPr/>
          <a:lstStyle/>
          <a:p>
            <a:fld id="{988F3A2B-14A6-8F47-B753-A658CA12576A}" type="slidenum">
              <a:rPr lang="en-US" smtClean="0"/>
              <a:t>20</a:t>
            </a:fld>
            <a:endParaRPr lang="en-US"/>
          </a:p>
        </p:txBody>
      </p:sp>
    </p:spTree>
    <p:extLst>
      <p:ext uri="{BB962C8B-B14F-4D97-AF65-F5344CB8AC3E}">
        <p14:creationId xmlns:p14="http://schemas.microsoft.com/office/powerpoint/2010/main" val="1164612940"/>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F15BAC8-1AB2-F195-2056-1A9AF0F8DA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D376CA0-1342-1D78-2651-DF77EE99E8E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A9E1AA2-6F30-ED50-6237-F1860E65BE1E}"/>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D2C2C4A-B722-80DB-B440-7325A3F45CCD}"/>
              </a:ext>
            </a:extLst>
          </p:cNvPr>
          <p:cNvSpPr>
            <a:spLocks noGrp="1"/>
          </p:cNvSpPr>
          <p:nvPr>
            <p:ph type="sldNum" sz="quarter" idx="5"/>
          </p:nvPr>
        </p:nvSpPr>
        <p:spPr/>
        <p:txBody>
          <a:bodyPr/>
          <a:lstStyle/>
          <a:p>
            <a:fld id="{988F3A2B-14A6-8F47-B753-A658CA12576A}" type="slidenum">
              <a:rPr lang="en-US" smtClean="0"/>
              <a:t>21</a:t>
            </a:fld>
            <a:endParaRPr lang="en-US"/>
          </a:p>
        </p:txBody>
      </p:sp>
    </p:spTree>
    <p:extLst>
      <p:ext uri="{BB962C8B-B14F-4D97-AF65-F5344CB8AC3E}">
        <p14:creationId xmlns:p14="http://schemas.microsoft.com/office/powerpoint/2010/main" val="305686204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38A50B-9699-27A7-BC3F-6A866F878F6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84DF6D4-1C7C-8D7E-2EB9-537EFA838FE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9614BB9-3CAE-78EE-6A3B-CB8354A9185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4C53556-2598-D20D-4C9F-C81346BFE5B4}"/>
              </a:ext>
            </a:extLst>
          </p:cNvPr>
          <p:cNvSpPr>
            <a:spLocks noGrp="1"/>
          </p:cNvSpPr>
          <p:nvPr>
            <p:ph type="sldNum" sz="quarter" idx="5"/>
          </p:nvPr>
        </p:nvSpPr>
        <p:spPr/>
        <p:txBody>
          <a:bodyPr/>
          <a:lstStyle/>
          <a:p>
            <a:fld id="{988F3A2B-14A6-8F47-B753-A658CA12576A}" type="slidenum">
              <a:rPr lang="en-US" smtClean="0"/>
              <a:t>22</a:t>
            </a:fld>
            <a:endParaRPr lang="en-US"/>
          </a:p>
        </p:txBody>
      </p:sp>
    </p:spTree>
    <p:extLst>
      <p:ext uri="{BB962C8B-B14F-4D97-AF65-F5344CB8AC3E}">
        <p14:creationId xmlns:p14="http://schemas.microsoft.com/office/powerpoint/2010/main" val="105483737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0CF526-6FBC-8745-5948-BF83F6D50FA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49F30D-628D-419D-D965-1D1A3FF09D7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6EF20BB-ABAA-01AA-55ED-124256307757}"/>
              </a:ext>
            </a:extLst>
          </p:cNvPr>
          <p:cNvSpPr>
            <a:spLocks noGrp="1"/>
          </p:cNvSpPr>
          <p:nvPr>
            <p:ph type="body" idx="1"/>
          </p:nvPr>
        </p:nvSpPr>
        <p:spPr/>
        <p:txBody>
          <a:bodyPr/>
          <a:lstStyle/>
          <a:p>
            <a:r>
              <a:rPr lang="en-US" dirty="0"/>
              <a:t>Dvorak Keyboard: More ergonomic, faster typing, less finger strain</a:t>
            </a:r>
          </a:p>
        </p:txBody>
      </p:sp>
      <p:sp>
        <p:nvSpPr>
          <p:cNvPr id="4" name="Slide Number Placeholder 3">
            <a:extLst>
              <a:ext uri="{FF2B5EF4-FFF2-40B4-BE49-F238E27FC236}">
                <a16:creationId xmlns:a16="http://schemas.microsoft.com/office/drawing/2014/main" id="{E921C994-CD36-726F-9CB1-8FB21912E4F1}"/>
              </a:ext>
            </a:extLst>
          </p:cNvPr>
          <p:cNvSpPr>
            <a:spLocks noGrp="1"/>
          </p:cNvSpPr>
          <p:nvPr>
            <p:ph type="sldNum" sz="quarter" idx="5"/>
          </p:nvPr>
        </p:nvSpPr>
        <p:spPr/>
        <p:txBody>
          <a:bodyPr/>
          <a:lstStyle/>
          <a:p>
            <a:fld id="{988F3A2B-14A6-8F47-B753-A658CA12576A}" type="slidenum">
              <a:rPr lang="en-US" smtClean="0"/>
              <a:t>23</a:t>
            </a:fld>
            <a:endParaRPr lang="en-US"/>
          </a:p>
        </p:txBody>
      </p:sp>
    </p:spTree>
    <p:extLst>
      <p:ext uri="{BB962C8B-B14F-4D97-AF65-F5344CB8AC3E}">
        <p14:creationId xmlns:p14="http://schemas.microsoft.com/office/powerpoint/2010/main" val="239584539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58DFC41-8009-2C82-E244-1C15F64F412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8F5661FA-7FC9-98B5-5679-FBBDBD890DC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F3FECB5-E626-4118-220C-74CD73F6CE09}"/>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C6342B1-5201-0EEB-197F-A58C65021548}"/>
              </a:ext>
            </a:extLst>
          </p:cNvPr>
          <p:cNvSpPr>
            <a:spLocks noGrp="1"/>
          </p:cNvSpPr>
          <p:nvPr>
            <p:ph type="sldNum" sz="quarter" idx="5"/>
          </p:nvPr>
        </p:nvSpPr>
        <p:spPr/>
        <p:txBody>
          <a:bodyPr/>
          <a:lstStyle/>
          <a:p>
            <a:fld id="{988F3A2B-14A6-8F47-B753-A658CA12576A}" type="slidenum">
              <a:rPr lang="en-US" smtClean="0"/>
              <a:t>24</a:t>
            </a:fld>
            <a:endParaRPr lang="en-US"/>
          </a:p>
        </p:txBody>
      </p:sp>
    </p:spTree>
    <p:extLst>
      <p:ext uri="{BB962C8B-B14F-4D97-AF65-F5344CB8AC3E}">
        <p14:creationId xmlns:p14="http://schemas.microsoft.com/office/powerpoint/2010/main" val="87290438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0716E05-5EA3-0171-9A4B-AD251CEDA3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7822AAE-E3B0-F796-307B-57302C0840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14FDE13-8348-8835-F3DC-911C94D3B3C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1A18BD7-A526-8E06-1F03-850FFCEB3E44}"/>
              </a:ext>
            </a:extLst>
          </p:cNvPr>
          <p:cNvSpPr>
            <a:spLocks noGrp="1"/>
          </p:cNvSpPr>
          <p:nvPr>
            <p:ph type="sldNum" sz="quarter" idx="5"/>
          </p:nvPr>
        </p:nvSpPr>
        <p:spPr/>
        <p:txBody>
          <a:bodyPr/>
          <a:lstStyle/>
          <a:p>
            <a:fld id="{988F3A2B-14A6-8F47-B753-A658CA12576A}" type="slidenum">
              <a:rPr lang="en-US" smtClean="0"/>
              <a:t>25</a:t>
            </a:fld>
            <a:endParaRPr lang="en-US"/>
          </a:p>
        </p:txBody>
      </p:sp>
    </p:spTree>
    <p:extLst>
      <p:ext uri="{BB962C8B-B14F-4D97-AF65-F5344CB8AC3E}">
        <p14:creationId xmlns:p14="http://schemas.microsoft.com/office/powerpoint/2010/main" val="1132306654"/>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32BF9F-B2D3-98D1-5808-99E48FA48C4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0315573-B2DA-1709-2468-91F0B72E5711}"/>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32CFDA7-21F6-9B97-B80D-ED8EBC894B0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25789CB3-A689-3CDB-96E2-27CE94B8F5E1}"/>
              </a:ext>
            </a:extLst>
          </p:cNvPr>
          <p:cNvSpPr>
            <a:spLocks noGrp="1"/>
          </p:cNvSpPr>
          <p:nvPr>
            <p:ph type="sldNum" sz="quarter" idx="5"/>
          </p:nvPr>
        </p:nvSpPr>
        <p:spPr/>
        <p:txBody>
          <a:bodyPr/>
          <a:lstStyle/>
          <a:p>
            <a:fld id="{988F3A2B-14A6-8F47-B753-A658CA12576A}" type="slidenum">
              <a:rPr lang="en-US" smtClean="0"/>
              <a:t>26</a:t>
            </a:fld>
            <a:endParaRPr lang="en-US"/>
          </a:p>
        </p:txBody>
      </p:sp>
    </p:spTree>
    <p:extLst>
      <p:ext uri="{BB962C8B-B14F-4D97-AF65-F5344CB8AC3E}">
        <p14:creationId xmlns:p14="http://schemas.microsoft.com/office/powerpoint/2010/main" val="2932193353"/>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B877C5E-2714-7682-0F53-C0A39CAF305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2632080-D181-C328-6A53-A23E1DE50FA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5AFB606-44EE-E9CF-7763-C5EC33B82A3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FBBB0ED6-3FBF-63C9-903E-BF1A6C145B6F}"/>
              </a:ext>
            </a:extLst>
          </p:cNvPr>
          <p:cNvSpPr>
            <a:spLocks noGrp="1"/>
          </p:cNvSpPr>
          <p:nvPr>
            <p:ph type="sldNum" sz="quarter" idx="5"/>
          </p:nvPr>
        </p:nvSpPr>
        <p:spPr/>
        <p:txBody>
          <a:bodyPr/>
          <a:lstStyle/>
          <a:p>
            <a:fld id="{988F3A2B-14A6-8F47-B753-A658CA12576A}" type="slidenum">
              <a:rPr lang="en-US" smtClean="0"/>
              <a:t>27</a:t>
            </a:fld>
            <a:endParaRPr lang="en-US"/>
          </a:p>
        </p:txBody>
      </p:sp>
    </p:spTree>
    <p:extLst>
      <p:ext uri="{BB962C8B-B14F-4D97-AF65-F5344CB8AC3E}">
        <p14:creationId xmlns:p14="http://schemas.microsoft.com/office/powerpoint/2010/main" val="121757243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F63F1B5-88E0-BE67-0C59-C535C75CEF3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F4B2A4E-925F-F2B9-011F-AA5186B5CEA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8B93D2-F142-9F2F-B0B2-5ACA68B70A0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FFDEA39-A94D-0802-E819-7C501906AF7E}"/>
              </a:ext>
            </a:extLst>
          </p:cNvPr>
          <p:cNvSpPr>
            <a:spLocks noGrp="1"/>
          </p:cNvSpPr>
          <p:nvPr>
            <p:ph type="sldNum" sz="quarter" idx="5"/>
          </p:nvPr>
        </p:nvSpPr>
        <p:spPr/>
        <p:txBody>
          <a:bodyPr/>
          <a:lstStyle/>
          <a:p>
            <a:fld id="{988F3A2B-14A6-8F47-B753-A658CA12576A}" type="slidenum">
              <a:rPr lang="en-US" smtClean="0"/>
              <a:t>28</a:t>
            </a:fld>
            <a:endParaRPr lang="en-US"/>
          </a:p>
        </p:txBody>
      </p:sp>
    </p:spTree>
    <p:extLst>
      <p:ext uri="{BB962C8B-B14F-4D97-AF65-F5344CB8AC3E}">
        <p14:creationId xmlns:p14="http://schemas.microsoft.com/office/powerpoint/2010/main" val="3914207892"/>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010319-F386-0C7F-08B4-89A8930595E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23C2F3F-1534-CCF7-5712-8F2203368E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A885125-D276-0759-6B3C-D5E79CB2891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767890B-E233-0C78-B2E4-6F0654CAFFCF}"/>
              </a:ext>
            </a:extLst>
          </p:cNvPr>
          <p:cNvSpPr>
            <a:spLocks noGrp="1"/>
          </p:cNvSpPr>
          <p:nvPr>
            <p:ph type="sldNum" sz="quarter" idx="5"/>
          </p:nvPr>
        </p:nvSpPr>
        <p:spPr/>
        <p:txBody>
          <a:bodyPr/>
          <a:lstStyle/>
          <a:p>
            <a:fld id="{988F3A2B-14A6-8F47-B753-A658CA12576A}" type="slidenum">
              <a:rPr lang="en-US" smtClean="0"/>
              <a:t>29</a:t>
            </a:fld>
            <a:endParaRPr lang="en-US"/>
          </a:p>
        </p:txBody>
      </p:sp>
    </p:spTree>
    <p:extLst>
      <p:ext uri="{BB962C8B-B14F-4D97-AF65-F5344CB8AC3E}">
        <p14:creationId xmlns:p14="http://schemas.microsoft.com/office/powerpoint/2010/main" val="1077131030"/>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09F97E-789E-CC26-8962-80BF62AC5A5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1AA0C37-B3AF-BEEA-FFDE-E629E4ED4A0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3CFAD8-0708-1BEE-9A5B-7D82F4D35FD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2D87443-9703-EB9A-A451-971426AADB15}"/>
              </a:ext>
            </a:extLst>
          </p:cNvPr>
          <p:cNvSpPr>
            <a:spLocks noGrp="1"/>
          </p:cNvSpPr>
          <p:nvPr>
            <p:ph type="sldNum" sz="quarter" idx="5"/>
          </p:nvPr>
        </p:nvSpPr>
        <p:spPr/>
        <p:txBody>
          <a:bodyPr/>
          <a:lstStyle/>
          <a:p>
            <a:fld id="{988F3A2B-14A6-8F47-B753-A658CA12576A}" type="slidenum">
              <a:rPr lang="en-US" smtClean="0"/>
              <a:t>30</a:t>
            </a:fld>
            <a:endParaRPr lang="en-US"/>
          </a:p>
        </p:txBody>
      </p:sp>
    </p:spTree>
    <p:extLst>
      <p:ext uri="{BB962C8B-B14F-4D97-AF65-F5344CB8AC3E}">
        <p14:creationId xmlns:p14="http://schemas.microsoft.com/office/powerpoint/2010/main" val="2732592538"/>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0A474F-1F9A-C496-9221-69DFBAC0AA6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BF1323-D8D7-1471-CF0E-4CF7DECA27D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EA5BF23-B0C0-3C95-5AD0-6EBC699E7A7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DEE5BEC-C14A-939C-F9CC-4C5687EC6277}"/>
              </a:ext>
            </a:extLst>
          </p:cNvPr>
          <p:cNvSpPr>
            <a:spLocks noGrp="1"/>
          </p:cNvSpPr>
          <p:nvPr>
            <p:ph type="sldNum" sz="quarter" idx="5"/>
          </p:nvPr>
        </p:nvSpPr>
        <p:spPr/>
        <p:txBody>
          <a:bodyPr/>
          <a:lstStyle/>
          <a:p>
            <a:fld id="{988F3A2B-14A6-8F47-B753-A658CA12576A}" type="slidenum">
              <a:rPr lang="en-US" smtClean="0"/>
              <a:t>31</a:t>
            </a:fld>
            <a:endParaRPr lang="en-US"/>
          </a:p>
        </p:txBody>
      </p:sp>
    </p:spTree>
    <p:extLst>
      <p:ext uri="{BB962C8B-B14F-4D97-AF65-F5344CB8AC3E}">
        <p14:creationId xmlns:p14="http://schemas.microsoft.com/office/powerpoint/2010/main" val="3623202196"/>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28AFE0-0B78-7B6C-AC20-AE82E68257C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70D4032-848D-D287-8316-CF8286A1C29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97024DE0-B820-43E5-EE5B-61219EB14204}"/>
              </a:ext>
            </a:extLst>
          </p:cNvPr>
          <p:cNvSpPr>
            <a:spLocks noGrp="1"/>
          </p:cNvSpPr>
          <p:nvPr>
            <p:ph type="body" idx="1"/>
          </p:nvPr>
        </p:nvSpPr>
        <p:spPr/>
        <p:txBody>
          <a:bodyPr/>
          <a:lstStyle/>
          <a:p>
            <a:r>
              <a:rPr lang="en-US" dirty="0"/>
              <a:t>“Without a large base of participating restaurants, why would patrons visit the OpenTable site? But without a large base of patrons, why would restaurants choose to participate? OpenTable solved the problem by first distributing booking management software that restaurants could use to manage their seating inventory. Once OpenTable had enough restaurants on board, they built out the consumer side, which allowed them to start booking tables and collecting a lead generation fee from the restaurants.”</a:t>
            </a:r>
          </a:p>
        </p:txBody>
      </p:sp>
      <p:sp>
        <p:nvSpPr>
          <p:cNvPr id="4" name="Slide Number Placeholder 3">
            <a:extLst>
              <a:ext uri="{FF2B5EF4-FFF2-40B4-BE49-F238E27FC236}">
                <a16:creationId xmlns:a16="http://schemas.microsoft.com/office/drawing/2014/main" id="{3D430BB0-969B-44DD-6A62-4E4A0800A8C7}"/>
              </a:ext>
            </a:extLst>
          </p:cNvPr>
          <p:cNvSpPr>
            <a:spLocks noGrp="1"/>
          </p:cNvSpPr>
          <p:nvPr>
            <p:ph type="sldNum" sz="quarter" idx="5"/>
          </p:nvPr>
        </p:nvSpPr>
        <p:spPr/>
        <p:txBody>
          <a:bodyPr/>
          <a:lstStyle/>
          <a:p>
            <a:fld id="{988F3A2B-14A6-8F47-B753-A658CA12576A}" type="slidenum">
              <a:rPr lang="en-US" smtClean="0"/>
              <a:t>32</a:t>
            </a:fld>
            <a:endParaRPr lang="en-US"/>
          </a:p>
        </p:txBody>
      </p:sp>
    </p:spTree>
    <p:extLst>
      <p:ext uri="{BB962C8B-B14F-4D97-AF65-F5344CB8AC3E}">
        <p14:creationId xmlns:p14="http://schemas.microsoft.com/office/powerpoint/2010/main" val="238832239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79C1E83-C55B-44F5-BAF0-C591968014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7AECBCC-1766-4E6D-6352-946FDDA3375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BF097FC-4CA0-5279-2B6E-EB5672CEBD89}"/>
              </a:ext>
            </a:extLst>
          </p:cNvPr>
          <p:cNvSpPr>
            <a:spLocks noGrp="1"/>
          </p:cNvSpPr>
          <p:nvPr>
            <p:ph type="body" idx="1"/>
          </p:nvPr>
        </p:nvSpPr>
        <p:spPr/>
        <p:txBody>
          <a:bodyPr/>
          <a:lstStyle/>
          <a:p>
            <a:r>
              <a:rPr lang="en-US" dirty="0" err="1"/>
              <a:t>Paypal</a:t>
            </a:r>
            <a:r>
              <a:rPr lang="en-US" dirty="0"/>
              <a:t> created bots to offer to pay </a:t>
            </a:r>
            <a:r>
              <a:rPr lang="en-US" dirty="0" err="1"/>
              <a:t>ebay</a:t>
            </a:r>
            <a:r>
              <a:rPr lang="en-US" dirty="0"/>
              <a:t> sellers with </a:t>
            </a:r>
            <a:r>
              <a:rPr lang="en-US" dirty="0" err="1"/>
              <a:t>paypal</a:t>
            </a:r>
            <a:r>
              <a:rPr lang="en-US" dirty="0"/>
              <a:t>, this encouraged them to adopt and advertise they accept </a:t>
            </a:r>
            <a:r>
              <a:rPr lang="en-US" dirty="0" err="1"/>
              <a:t>paypal</a:t>
            </a:r>
            <a:r>
              <a:rPr lang="en-US" dirty="0"/>
              <a:t>.</a:t>
            </a:r>
          </a:p>
          <a:p>
            <a:endParaRPr lang="en-US" dirty="0"/>
          </a:p>
          <a:p>
            <a:r>
              <a:rPr lang="en-US" dirty="0"/>
              <a:t>Many companies like Airbnb reportedly bootstrapped off craigslist</a:t>
            </a:r>
          </a:p>
        </p:txBody>
      </p:sp>
      <p:sp>
        <p:nvSpPr>
          <p:cNvPr id="4" name="Slide Number Placeholder 3">
            <a:extLst>
              <a:ext uri="{FF2B5EF4-FFF2-40B4-BE49-F238E27FC236}">
                <a16:creationId xmlns:a16="http://schemas.microsoft.com/office/drawing/2014/main" id="{D2C8CBF1-BCD0-A7EB-652E-17EC078AAA19}"/>
              </a:ext>
            </a:extLst>
          </p:cNvPr>
          <p:cNvSpPr>
            <a:spLocks noGrp="1"/>
          </p:cNvSpPr>
          <p:nvPr>
            <p:ph type="sldNum" sz="quarter" idx="5"/>
          </p:nvPr>
        </p:nvSpPr>
        <p:spPr/>
        <p:txBody>
          <a:bodyPr/>
          <a:lstStyle/>
          <a:p>
            <a:fld id="{988F3A2B-14A6-8F47-B753-A658CA12576A}" type="slidenum">
              <a:rPr lang="en-US" smtClean="0"/>
              <a:t>33</a:t>
            </a:fld>
            <a:endParaRPr lang="en-US"/>
          </a:p>
        </p:txBody>
      </p:sp>
    </p:spTree>
    <p:extLst>
      <p:ext uri="{BB962C8B-B14F-4D97-AF65-F5344CB8AC3E}">
        <p14:creationId xmlns:p14="http://schemas.microsoft.com/office/powerpoint/2010/main" val="4036884226"/>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43678F-F001-9B3D-90B5-749B6194B2D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2EF212A-EB28-0893-74C1-75AB4C4903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BB782D6-D175-90FD-B5D9-4FAE36A0405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4D3594B-0AED-67E4-5A3B-9C2F2AF3549B}"/>
              </a:ext>
            </a:extLst>
          </p:cNvPr>
          <p:cNvSpPr>
            <a:spLocks noGrp="1"/>
          </p:cNvSpPr>
          <p:nvPr>
            <p:ph type="sldNum" sz="quarter" idx="5"/>
          </p:nvPr>
        </p:nvSpPr>
        <p:spPr/>
        <p:txBody>
          <a:bodyPr/>
          <a:lstStyle/>
          <a:p>
            <a:fld id="{988F3A2B-14A6-8F47-B753-A658CA12576A}" type="slidenum">
              <a:rPr lang="en-US" smtClean="0"/>
              <a:t>34</a:t>
            </a:fld>
            <a:endParaRPr lang="en-US"/>
          </a:p>
        </p:txBody>
      </p:sp>
    </p:spTree>
    <p:extLst>
      <p:ext uri="{BB962C8B-B14F-4D97-AF65-F5344CB8AC3E}">
        <p14:creationId xmlns:p14="http://schemas.microsoft.com/office/powerpoint/2010/main" val="2423085912"/>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45FE588-26F5-AA0C-FBA8-8E9C9BDD2C10}"/>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C3E0C0A-D408-600D-E143-A3AB069C451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F466472-EB38-ADCB-74E9-918A72049FD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332CD1D-AFC7-67A4-BAB3-79C44D90DDA3}"/>
              </a:ext>
            </a:extLst>
          </p:cNvPr>
          <p:cNvSpPr>
            <a:spLocks noGrp="1"/>
          </p:cNvSpPr>
          <p:nvPr>
            <p:ph type="sldNum" sz="quarter" idx="5"/>
          </p:nvPr>
        </p:nvSpPr>
        <p:spPr/>
        <p:txBody>
          <a:bodyPr/>
          <a:lstStyle/>
          <a:p>
            <a:fld id="{988F3A2B-14A6-8F47-B753-A658CA12576A}" type="slidenum">
              <a:rPr lang="en-US" smtClean="0"/>
              <a:t>35</a:t>
            </a:fld>
            <a:endParaRPr lang="en-US"/>
          </a:p>
        </p:txBody>
      </p:sp>
    </p:spTree>
    <p:extLst>
      <p:ext uri="{BB962C8B-B14F-4D97-AF65-F5344CB8AC3E}">
        <p14:creationId xmlns:p14="http://schemas.microsoft.com/office/powerpoint/2010/main" val="2278439290"/>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0C6E03-E90A-5DD4-2034-88F9958CA2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92D8A0-09D7-4054-76E4-5E02338443D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14D1E82-A314-0866-1CDE-1448A821F7CF}"/>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CAF572D-1C6E-E83D-ABE5-6E09B705E4BE}"/>
              </a:ext>
            </a:extLst>
          </p:cNvPr>
          <p:cNvSpPr>
            <a:spLocks noGrp="1"/>
          </p:cNvSpPr>
          <p:nvPr>
            <p:ph type="sldNum" sz="quarter" idx="5"/>
          </p:nvPr>
        </p:nvSpPr>
        <p:spPr/>
        <p:txBody>
          <a:bodyPr/>
          <a:lstStyle/>
          <a:p>
            <a:fld id="{988F3A2B-14A6-8F47-B753-A658CA12576A}" type="slidenum">
              <a:rPr lang="en-US" smtClean="0"/>
              <a:t>36</a:t>
            </a:fld>
            <a:endParaRPr lang="en-US"/>
          </a:p>
        </p:txBody>
      </p:sp>
    </p:spTree>
    <p:extLst>
      <p:ext uri="{BB962C8B-B14F-4D97-AF65-F5344CB8AC3E}">
        <p14:creationId xmlns:p14="http://schemas.microsoft.com/office/powerpoint/2010/main" val="2512767112"/>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A54BDC1-A126-4AE2-06DB-527AC0BF49E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EF2DFA95-A2E6-03FB-EDEF-927B6A4EFE75}"/>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A87AA95-82E4-8040-D789-C9CA639AD607}"/>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6F1D25B4-3418-DED1-0828-1470A3E1E17C}"/>
              </a:ext>
            </a:extLst>
          </p:cNvPr>
          <p:cNvSpPr>
            <a:spLocks noGrp="1"/>
          </p:cNvSpPr>
          <p:nvPr>
            <p:ph type="sldNum" sz="quarter" idx="5"/>
          </p:nvPr>
        </p:nvSpPr>
        <p:spPr/>
        <p:txBody>
          <a:bodyPr/>
          <a:lstStyle/>
          <a:p>
            <a:fld id="{988F3A2B-14A6-8F47-B753-A658CA12576A}" type="slidenum">
              <a:rPr lang="en-US" smtClean="0"/>
              <a:t>37</a:t>
            </a:fld>
            <a:endParaRPr lang="en-US"/>
          </a:p>
        </p:txBody>
      </p:sp>
    </p:spTree>
    <p:extLst>
      <p:ext uri="{BB962C8B-B14F-4D97-AF65-F5344CB8AC3E}">
        <p14:creationId xmlns:p14="http://schemas.microsoft.com/office/powerpoint/2010/main" val="1490258876"/>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3EB135-B1AB-49F9-B71C-78E9577886D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2CB7C4E-1389-1EC8-EA73-8B958E9745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A020C0E-6490-E486-94E3-9E48A0134010}"/>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1AC158F4-D290-2C7A-393C-398E983805E0}"/>
              </a:ext>
            </a:extLst>
          </p:cNvPr>
          <p:cNvSpPr>
            <a:spLocks noGrp="1"/>
          </p:cNvSpPr>
          <p:nvPr>
            <p:ph type="sldNum" sz="quarter" idx="5"/>
          </p:nvPr>
        </p:nvSpPr>
        <p:spPr/>
        <p:txBody>
          <a:bodyPr/>
          <a:lstStyle/>
          <a:p>
            <a:fld id="{988F3A2B-14A6-8F47-B753-A658CA12576A}" type="slidenum">
              <a:rPr lang="en-US" smtClean="0"/>
              <a:t>38</a:t>
            </a:fld>
            <a:endParaRPr lang="en-US"/>
          </a:p>
        </p:txBody>
      </p:sp>
    </p:spTree>
    <p:extLst>
      <p:ext uri="{BB962C8B-B14F-4D97-AF65-F5344CB8AC3E}">
        <p14:creationId xmlns:p14="http://schemas.microsoft.com/office/powerpoint/2010/main" val="170532404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4E2F5DE-B5B9-AA25-AF8E-F9C5E10D4C4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0368F40-E238-1C26-D72D-3297EB5582FB}"/>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2D602B02-7691-CD1D-61EB-9142F2CE497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617DA5E-1944-6D27-C6C4-9EACAEECA935}"/>
              </a:ext>
            </a:extLst>
          </p:cNvPr>
          <p:cNvSpPr>
            <a:spLocks noGrp="1"/>
          </p:cNvSpPr>
          <p:nvPr>
            <p:ph type="sldNum" sz="quarter" idx="5"/>
          </p:nvPr>
        </p:nvSpPr>
        <p:spPr/>
        <p:txBody>
          <a:bodyPr/>
          <a:lstStyle/>
          <a:p>
            <a:fld id="{988F3A2B-14A6-8F47-B753-A658CA12576A}" type="slidenum">
              <a:rPr lang="en-US" smtClean="0"/>
              <a:t>39</a:t>
            </a:fld>
            <a:endParaRPr lang="en-US"/>
          </a:p>
        </p:txBody>
      </p:sp>
    </p:spTree>
    <p:extLst>
      <p:ext uri="{BB962C8B-B14F-4D97-AF65-F5344CB8AC3E}">
        <p14:creationId xmlns:p14="http://schemas.microsoft.com/office/powerpoint/2010/main" val="726367882"/>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50D4BA8-6A86-DDA5-BB6E-3548EDF085D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F29929F-5AB3-EDDB-8DB4-8D5267EEA13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E8B6ED5-7CC5-150C-7CB6-FBC48AA4374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39C0D0B6-1A0A-A4E7-C2EB-38854613F71E}"/>
              </a:ext>
            </a:extLst>
          </p:cNvPr>
          <p:cNvSpPr>
            <a:spLocks noGrp="1"/>
          </p:cNvSpPr>
          <p:nvPr>
            <p:ph type="sldNum" sz="quarter" idx="5"/>
          </p:nvPr>
        </p:nvSpPr>
        <p:spPr/>
        <p:txBody>
          <a:bodyPr/>
          <a:lstStyle/>
          <a:p>
            <a:fld id="{988F3A2B-14A6-8F47-B753-A658CA12576A}" type="slidenum">
              <a:rPr lang="en-US" smtClean="0"/>
              <a:t>40</a:t>
            </a:fld>
            <a:endParaRPr lang="en-US"/>
          </a:p>
        </p:txBody>
      </p:sp>
    </p:spTree>
    <p:extLst>
      <p:ext uri="{BB962C8B-B14F-4D97-AF65-F5344CB8AC3E}">
        <p14:creationId xmlns:p14="http://schemas.microsoft.com/office/powerpoint/2010/main" val="2276911516"/>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F6704A-930E-7C4C-4D35-D3E1BD80E3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67D596E-93AA-5C17-ADB0-A7F7612E500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E14FA1F4-040C-65D6-5D5D-AA733721A5CB}"/>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CADEDD2-CE23-91F6-2039-D8842E6F104C}"/>
              </a:ext>
            </a:extLst>
          </p:cNvPr>
          <p:cNvSpPr>
            <a:spLocks noGrp="1"/>
          </p:cNvSpPr>
          <p:nvPr>
            <p:ph type="sldNum" sz="quarter" idx="5"/>
          </p:nvPr>
        </p:nvSpPr>
        <p:spPr/>
        <p:txBody>
          <a:bodyPr/>
          <a:lstStyle/>
          <a:p>
            <a:fld id="{988F3A2B-14A6-8F47-B753-A658CA12576A}" type="slidenum">
              <a:rPr lang="en-US" smtClean="0"/>
              <a:t>41</a:t>
            </a:fld>
            <a:endParaRPr lang="en-US"/>
          </a:p>
        </p:txBody>
      </p:sp>
    </p:spTree>
    <p:extLst>
      <p:ext uri="{BB962C8B-B14F-4D97-AF65-F5344CB8AC3E}">
        <p14:creationId xmlns:p14="http://schemas.microsoft.com/office/powerpoint/2010/main" val="1584259013"/>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7FD423D-F008-471B-9FE5-A1B12104D29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0AE0762-BF9E-E5E2-70F5-75550FED8286}"/>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F653FF2A-D8F1-4C05-BD0F-68CF0F808E18}"/>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BE49807A-0642-58E7-E70A-99B6472DC250}"/>
              </a:ext>
            </a:extLst>
          </p:cNvPr>
          <p:cNvSpPr>
            <a:spLocks noGrp="1"/>
          </p:cNvSpPr>
          <p:nvPr>
            <p:ph type="sldNum" sz="quarter" idx="5"/>
          </p:nvPr>
        </p:nvSpPr>
        <p:spPr/>
        <p:txBody>
          <a:bodyPr/>
          <a:lstStyle/>
          <a:p>
            <a:fld id="{988F3A2B-14A6-8F47-B753-A658CA12576A}" type="slidenum">
              <a:rPr lang="en-US" smtClean="0"/>
              <a:t>42</a:t>
            </a:fld>
            <a:endParaRPr lang="en-US"/>
          </a:p>
        </p:txBody>
      </p:sp>
    </p:spTree>
    <p:extLst>
      <p:ext uri="{BB962C8B-B14F-4D97-AF65-F5344CB8AC3E}">
        <p14:creationId xmlns:p14="http://schemas.microsoft.com/office/powerpoint/2010/main" val="2728261369"/>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18EB6BE-F119-5BD9-DA60-AE9B2DEAB9F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C8B6E1D-5442-C6F2-DBB5-B064F09CBB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7FDFE5D0-F140-50DB-E7F9-60EC97ED38E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83EC5E02-A5B0-CB73-A45A-9A299B5BC68C}"/>
              </a:ext>
            </a:extLst>
          </p:cNvPr>
          <p:cNvSpPr>
            <a:spLocks noGrp="1"/>
          </p:cNvSpPr>
          <p:nvPr>
            <p:ph type="sldNum" sz="quarter" idx="5"/>
          </p:nvPr>
        </p:nvSpPr>
        <p:spPr/>
        <p:txBody>
          <a:bodyPr/>
          <a:lstStyle/>
          <a:p>
            <a:fld id="{988F3A2B-14A6-8F47-B753-A658CA12576A}" type="slidenum">
              <a:rPr lang="en-US" smtClean="0"/>
              <a:t>43</a:t>
            </a:fld>
            <a:endParaRPr lang="en-US"/>
          </a:p>
        </p:txBody>
      </p:sp>
    </p:spTree>
    <p:extLst>
      <p:ext uri="{BB962C8B-B14F-4D97-AF65-F5344CB8AC3E}">
        <p14:creationId xmlns:p14="http://schemas.microsoft.com/office/powerpoint/2010/main" val="294984210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C3A2A1-2B5F-0BEC-9A3D-6409BD6642B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7464173E-B6FC-2DD7-FAE6-5568C5C8E98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9874290-7162-4F4B-C30A-84CEB60A7774}"/>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4CA726B6-D649-4310-3218-F24337FD074E}"/>
              </a:ext>
            </a:extLst>
          </p:cNvPr>
          <p:cNvSpPr>
            <a:spLocks noGrp="1"/>
          </p:cNvSpPr>
          <p:nvPr>
            <p:ph type="sldNum" sz="quarter" idx="5"/>
          </p:nvPr>
        </p:nvSpPr>
        <p:spPr/>
        <p:txBody>
          <a:bodyPr/>
          <a:lstStyle/>
          <a:p>
            <a:fld id="{988F3A2B-14A6-8F47-B753-A658CA12576A}" type="slidenum">
              <a:rPr lang="en-US" smtClean="0"/>
              <a:t>44</a:t>
            </a:fld>
            <a:endParaRPr lang="en-US"/>
          </a:p>
        </p:txBody>
      </p:sp>
    </p:spTree>
    <p:extLst>
      <p:ext uri="{BB962C8B-B14F-4D97-AF65-F5344CB8AC3E}">
        <p14:creationId xmlns:p14="http://schemas.microsoft.com/office/powerpoint/2010/main" val="1129509423"/>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C3A003-0B53-EE37-831E-D9F3D1AE51B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B8978110-CE5B-01AC-3F9C-FBBC59BDE6ED}"/>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6C47CF5E-37C0-B265-898A-C5EBCFA2F763}"/>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C8CC413-E63D-20F2-5480-F3D985F65108}"/>
              </a:ext>
            </a:extLst>
          </p:cNvPr>
          <p:cNvSpPr>
            <a:spLocks noGrp="1"/>
          </p:cNvSpPr>
          <p:nvPr>
            <p:ph type="sldNum" sz="quarter" idx="5"/>
          </p:nvPr>
        </p:nvSpPr>
        <p:spPr/>
        <p:txBody>
          <a:bodyPr/>
          <a:lstStyle/>
          <a:p>
            <a:fld id="{988F3A2B-14A6-8F47-B753-A658CA12576A}" type="slidenum">
              <a:rPr lang="en-US" smtClean="0"/>
              <a:t>45</a:t>
            </a:fld>
            <a:endParaRPr lang="en-US"/>
          </a:p>
        </p:txBody>
      </p:sp>
    </p:spTree>
    <p:extLst>
      <p:ext uri="{BB962C8B-B14F-4D97-AF65-F5344CB8AC3E}">
        <p14:creationId xmlns:p14="http://schemas.microsoft.com/office/powerpoint/2010/main" val="424422182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FD930F-F7E8-14D3-96A3-763CCCBC914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540918A-B0A8-F1B1-ABA2-DA45CFC3AB6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53202FA5-3DD4-B7D2-EA00-FD4B5173AF85}"/>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EB2EA1CA-0D8B-12A8-6D8B-8317E85BE2DD}"/>
              </a:ext>
            </a:extLst>
          </p:cNvPr>
          <p:cNvSpPr>
            <a:spLocks noGrp="1"/>
          </p:cNvSpPr>
          <p:nvPr>
            <p:ph type="sldNum" sz="quarter" idx="5"/>
          </p:nvPr>
        </p:nvSpPr>
        <p:spPr/>
        <p:txBody>
          <a:bodyPr/>
          <a:lstStyle/>
          <a:p>
            <a:fld id="{988F3A2B-14A6-8F47-B753-A658CA12576A}" type="slidenum">
              <a:rPr lang="en-US" smtClean="0"/>
              <a:t>46</a:t>
            </a:fld>
            <a:endParaRPr lang="en-US"/>
          </a:p>
        </p:txBody>
      </p:sp>
    </p:spTree>
    <p:extLst>
      <p:ext uri="{BB962C8B-B14F-4D97-AF65-F5344CB8AC3E}">
        <p14:creationId xmlns:p14="http://schemas.microsoft.com/office/powerpoint/2010/main" val="2215176883"/>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1A55B8B-360C-8298-0B51-9907766039C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69597E15-C136-264B-878B-9E5F9D2FE0C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C405049-2B04-A7FB-4C7B-7D47333AA47D}"/>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A14BEED8-5838-A8FD-7C79-277E47F43527}"/>
              </a:ext>
            </a:extLst>
          </p:cNvPr>
          <p:cNvSpPr>
            <a:spLocks noGrp="1"/>
          </p:cNvSpPr>
          <p:nvPr>
            <p:ph type="sldNum" sz="quarter" idx="5"/>
          </p:nvPr>
        </p:nvSpPr>
        <p:spPr/>
        <p:txBody>
          <a:bodyPr/>
          <a:lstStyle/>
          <a:p>
            <a:fld id="{988F3A2B-14A6-8F47-B753-A658CA12576A}" type="slidenum">
              <a:rPr lang="en-US" smtClean="0"/>
              <a:t>47</a:t>
            </a:fld>
            <a:endParaRPr lang="en-US"/>
          </a:p>
        </p:txBody>
      </p:sp>
    </p:spTree>
    <p:extLst>
      <p:ext uri="{BB962C8B-B14F-4D97-AF65-F5344CB8AC3E}">
        <p14:creationId xmlns:p14="http://schemas.microsoft.com/office/powerpoint/2010/main" val="3864079213"/>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3B0C5-72B7-F125-481B-6FBD4D1FCA6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593EFB6-47E0-C6CF-E6B8-223B4E5A9DB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B46B31B-757D-CCA6-96DC-8C6461D932A1}"/>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5F20A713-5F69-C9DC-1B4F-734E711D3FF8}"/>
              </a:ext>
            </a:extLst>
          </p:cNvPr>
          <p:cNvSpPr>
            <a:spLocks noGrp="1"/>
          </p:cNvSpPr>
          <p:nvPr>
            <p:ph type="sldNum" sz="quarter" idx="5"/>
          </p:nvPr>
        </p:nvSpPr>
        <p:spPr/>
        <p:txBody>
          <a:bodyPr/>
          <a:lstStyle/>
          <a:p>
            <a:fld id="{988F3A2B-14A6-8F47-B753-A658CA12576A}" type="slidenum">
              <a:rPr lang="en-US" smtClean="0"/>
              <a:t>48</a:t>
            </a:fld>
            <a:endParaRPr lang="en-US"/>
          </a:p>
        </p:txBody>
      </p:sp>
    </p:spTree>
    <p:extLst>
      <p:ext uri="{BB962C8B-B14F-4D97-AF65-F5344CB8AC3E}">
        <p14:creationId xmlns:p14="http://schemas.microsoft.com/office/powerpoint/2010/main" val="1048455030"/>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9C29C6-38C8-21AA-40AF-7E24BB41CD8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4E489794-33BF-EC7F-28AE-91DC7ADBCB54}"/>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D20D4C3-3E08-9141-E1A8-FAF99C5653C2}"/>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7FC23FDF-3625-DC1C-0515-166C8A77AF74}"/>
              </a:ext>
            </a:extLst>
          </p:cNvPr>
          <p:cNvSpPr>
            <a:spLocks noGrp="1"/>
          </p:cNvSpPr>
          <p:nvPr>
            <p:ph type="sldNum" sz="quarter" idx="5"/>
          </p:nvPr>
        </p:nvSpPr>
        <p:spPr/>
        <p:txBody>
          <a:bodyPr/>
          <a:lstStyle/>
          <a:p>
            <a:fld id="{988F3A2B-14A6-8F47-B753-A658CA12576A}" type="slidenum">
              <a:rPr lang="en-US" smtClean="0"/>
              <a:t>49</a:t>
            </a:fld>
            <a:endParaRPr lang="en-US"/>
          </a:p>
        </p:txBody>
      </p:sp>
    </p:spTree>
    <p:extLst>
      <p:ext uri="{BB962C8B-B14F-4D97-AF65-F5344CB8AC3E}">
        <p14:creationId xmlns:p14="http://schemas.microsoft.com/office/powerpoint/2010/main" val="3540314104"/>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Resource Page - PPT Accessibility">
    <p:bg>
      <p:bgPr>
        <a:solidFill>
          <a:schemeClr val="accent4"/>
        </a:solidFill>
        <a:effectLst/>
      </p:bgPr>
    </p:bg>
    <p:spTree>
      <p:nvGrpSpPr>
        <p:cNvPr id="1" name=""/>
        <p:cNvGrpSpPr/>
        <p:nvPr/>
      </p:nvGrpSpPr>
      <p:grpSpPr>
        <a:xfrm>
          <a:off x="0" y="0"/>
          <a:ext cx="0" cy="0"/>
          <a:chOff x="0" y="0"/>
          <a:chExt cx="0" cy="0"/>
        </a:xfrm>
      </p:grpSpPr>
      <p:sp>
        <p:nvSpPr>
          <p:cNvPr id="3" name="PPT Accessibility"/>
          <p:cNvSpPr>
            <a:spLocks noGrp="1"/>
          </p:cNvSpPr>
          <p:nvPr>
            <p:ph type="subTitle" idx="1" hasCustomPrompt="1"/>
          </p:nvPr>
        </p:nvSpPr>
        <p:spPr>
          <a:xfrm>
            <a:off x="2667000" y="1597306"/>
            <a:ext cx="6581494" cy="1477328"/>
          </a:xfrm>
          <a:noFill/>
        </p:spPr>
        <p:txBody>
          <a:bodyPr wrap="square" lIns="0" tIns="0" rIns="0" bIns="0" anchor="t" anchorCtr="0">
            <a:spAutoFit/>
          </a:bodyPr>
          <a:lstStyle>
            <a:lvl1pPr marL="0" indent="0" algn="l">
              <a:buNone/>
              <a:defRPr lang="en-US" b="0" baseline="0" smtClean="0">
                <a:solidFill>
                  <a:schemeClr val="bg1"/>
                </a:solidFill>
                <a:effectLst/>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effectLst/>
                <a:latin typeface="Acumin Pro" panose="020B0504020202020204" pitchFamily="34" charset="77"/>
              </a:rPr>
              <a:t>Support the Purdue University brand in your presentations by using a brand-friendly template. This template uses an accessible master layout. Please note that some changes  to the PowerPoint template could impact accessibility by those with disabilities. Follow the instructions provided by Microsoft Office to ensure that your PowerPoint presentations are accessible to all users:</a:t>
            </a:r>
          </a:p>
        </p:txBody>
      </p:sp>
      <p:sp>
        <p:nvSpPr>
          <p:cNvPr id="10" name="PPT Accessibility URL" descr="PPT Accessibility URL">
            <a:extLst>
              <a:ext uri="{FF2B5EF4-FFF2-40B4-BE49-F238E27FC236}">
                <a16:creationId xmlns:a16="http://schemas.microsoft.com/office/drawing/2014/main" id="{E7B0FF2D-DA7C-7D4D-A32C-27DF18CCFBFD}"/>
              </a:ext>
            </a:extLst>
          </p:cNvPr>
          <p:cNvSpPr>
            <a:spLocks noGrp="1"/>
          </p:cNvSpPr>
          <p:nvPr>
            <p:ph type="body" sz="quarter" idx="14" hasCustomPrompt="1"/>
          </p:nvPr>
        </p:nvSpPr>
        <p:spPr>
          <a:xfrm>
            <a:off x="2667001" y="3813008"/>
            <a:ext cx="6725194" cy="602238"/>
          </a:xfrm>
        </p:spPr>
        <p:txBody>
          <a:bodyPr lIns="0" tIns="0" rIns="0" bIns="0">
            <a:normAutofit/>
          </a:bodyPr>
          <a:lstStyle>
            <a:lvl1pPr marL="0" marR="0" indent="0" algn="l" defTabSz="457200" rtl="0" eaLnBrk="1" fontAlgn="auto" latinLnBrk="0" hangingPunct="1">
              <a:lnSpc>
                <a:spcPct val="100000"/>
              </a:lnSpc>
              <a:spcBef>
                <a:spcPts val="0"/>
              </a:spcBef>
              <a:spcAft>
                <a:spcPts val="0"/>
              </a:spcAft>
              <a:buClrTx/>
              <a:buSzTx/>
              <a:buFontTx/>
              <a:buNone/>
              <a:tabLst/>
              <a:defRPr sz="1800" b="0" i="0" normalizeH="0" baseline="0">
                <a:solidFill>
                  <a:schemeClr val="bg1"/>
                </a:solidFill>
                <a:latin typeface="Acumin Pro" panose="020B0504020202020204" pitchFamily="34" charset="77"/>
              </a:defRPr>
            </a:lvl1pPr>
          </a:lstStyle>
          <a:p>
            <a:r>
              <a:rPr lang="en-US" dirty="0">
                <a:solidFill>
                  <a:schemeClr val="accent1"/>
                </a:solidFill>
                <a:effectLst/>
                <a:latin typeface="Acumin Pro" panose="020B0504020202020204" pitchFamily="34" charset="77"/>
              </a:rPr>
              <a:t>https://</a:t>
            </a:r>
            <a:r>
              <a:rPr lang="en-US" dirty="0" err="1">
                <a:solidFill>
                  <a:schemeClr val="accent1"/>
                </a:solidFill>
                <a:effectLst/>
                <a:latin typeface="Acumin Pro" panose="020B0504020202020204" pitchFamily="34" charset="77"/>
              </a:rPr>
              <a:t>support.office.com</a:t>
            </a:r>
            <a:r>
              <a:rPr lang="en-US" dirty="0">
                <a:solidFill>
                  <a:schemeClr val="accent1"/>
                </a:solidFill>
                <a:effectLst/>
                <a:latin typeface="Acumin Pro" panose="020B0504020202020204" pitchFamily="34" charset="77"/>
              </a:rPr>
              <a:t>/</a:t>
            </a:r>
            <a:r>
              <a:rPr lang="en-US" dirty="0" err="1">
                <a:solidFill>
                  <a:schemeClr val="accent1"/>
                </a:solidFill>
                <a:effectLst/>
                <a:latin typeface="Acumin Pro" panose="020B0504020202020204" pitchFamily="34" charset="77"/>
              </a:rPr>
              <a:t>en</a:t>
            </a:r>
            <a:r>
              <a:rPr lang="en-US" dirty="0">
                <a:solidFill>
                  <a:schemeClr val="accent1"/>
                </a:solidFill>
                <a:effectLst/>
                <a:latin typeface="Acumin Pro" panose="020B0504020202020204" pitchFamily="34" charset="77"/>
              </a:rPr>
              <a:t>-us/article/Make-your-PowerPoint-presentations-accessible-6f7772b2-2f33-4bd2-8ca7-dae3b2b3ef25</a:t>
            </a:r>
            <a:endParaRPr lang="en-US" dirty="0">
              <a:solidFill>
                <a:schemeClr val="accent1"/>
              </a:solidFill>
            </a:endParaRPr>
          </a:p>
        </p:txBody>
      </p:sp>
      <p:sp>
        <p:nvSpPr>
          <p:cNvPr id="7" name="Date"/>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11/17/2025</a:t>
            </a:fld>
            <a:endParaRPr lang="en-US" dirty="0"/>
          </a:p>
        </p:txBody>
      </p:sp>
      <p:sp>
        <p:nvSpPr>
          <p:cNvPr id="9" name="Slide Number"/>
          <p:cNvSpPr>
            <a:spLocks noGrp="1"/>
          </p:cNvSpPr>
          <p:nvPr>
            <p:ph type="sldNum" sz="quarter" idx="12"/>
          </p:nvPr>
        </p:nvSpPr>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3" name="Line 1">
            <a:extLst>
              <a:ext uri="{FF2B5EF4-FFF2-40B4-BE49-F238E27FC236}">
                <a16:creationId xmlns:a16="http://schemas.microsoft.com/office/drawing/2014/main" id="{A746CD05-A191-A442-A002-3AD9F5CCAD2A}"/>
              </a:ext>
            </a:extLst>
          </p:cNvPr>
          <p:cNvCxnSpPr/>
          <p:nvPr/>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8" name="Line 2">
            <a:extLst>
              <a:ext uri="{FF2B5EF4-FFF2-40B4-BE49-F238E27FC236}">
                <a16:creationId xmlns:a16="http://schemas.microsoft.com/office/drawing/2014/main" id="{28D7FFFF-8236-024F-9988-3350427826A4}"/>
              </a:ext>
            </a:extLst>
          </p:cNvPr>
          <p:cNvCxnSpPr>
            <a:cxnSpLocks/>
          </p:cNvCxnSpPr>
          <p:nvPr/>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5" name="Line 3">
            <a:extLst>
              <a:ext uri="{FF2B5EF4-FFF2-40B4-BE49-F238E27FC236}">
                <a16:creationId xmlns:a16="http://schemas.microsoft.com/office/drawing/2014/main" id="{7AA55D00-5647-D94E-B9DD-67ABB620C647}"/>
              </a:ext>
            </a:extLst>
          </p:cNvPr>
          <p:cNvCxnSpPr>
            <a:cxnSpLocks/>
          </p:cNvCxnSpPr>
          <p:nvPr/>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C9CD174E-FD96-2241-A6F9-04DEE0EA8DCE}"/>
              </a:ext>
            </a:extLst>
          </p:cNvPr>
          <p:cNvPicPr>
            <a:picLocks noChangeAspect="1"/>
          </p:cNvPicPr>
          <p:nvPr userDrawn="1"/>
        </p:nvPicPr>
        <p:blipFill>
          <a:blip r:embed="rId2"/>
          <a:srcRect/>
          <a:stretch/>
        </p:blipFill>
        <p:spPr>
          <a:xfrm>
            <a:off x="1811903" y="5987080"/>
            <a:ext cx="4243984" cy="449363"/>
          </a:xfrm>
          <a:prstGeom prst="rect">
            <a:avLst/>
          </a:prstGeom>
        </p:spPr>
      </p:pic>
    </p:spTree>
    <p:extLst>
      <p:ext uri="{BB962C8B-B14F-4D97-AF65-F5344CB8AC3E}">
        <p14:creationId xmlns:p14="http://schemas.microsoft.com/office/powerpoint/2010/main" val="1973069908"/>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userDrawn="1">
          <p15:clr>
            <a:srgbClr val="FBAE40"/>
          </p15:clr>
        </p15:guide>
        <p15:guide id="2" pos="3840" userDrawn="1">
          <p15:clr>
            <a:srgbClr val="FBAE40"/>
          </p15:clr>
        </p15:guide>
        <p15:guide id="3" orient="horz" pos="4032" userDrawn="1">
          <p15:clr>
            <a:srgbClr val="FBAE40"/>
          </p15:clr>
        </p15:guide>
        <p15:guide id="4" pos="5496" userDrawn="1">
          <p15:clr>
            <a:srgbClr val="FBAE40"/>
          </p15:clr>
        </p15:guide>
        <p15:guide id="5" pos="6848" userDrawn="1">
          <p15:clr>
            <a:srgbClr val="FBAE40"/>
          </p15:clr>
        </p15:guide>
        <p15:guide id="6" orient="horz" pos="4080" userDrawn="1">
          <p15:clr>
            <a:srgbClr val="FBAE40"/>
          </p15:clr>
        </p15:guide>
        <p15:guide id="7" pos="1312" userDrawn="1">
          <p15:clr>
            <a:srgbClr val="FBAE40"/>
          </p15:clr>
        </p15:guide>
        <p15:guide id="8" pos="1680" userDrawn="1">
          <p15:clr>
            <a:srgbClr val="FBAE40"/>
          </p15:clr>
        </p15:guide>
        <p15:guide id="9" pos="6264" userDrawn="1">
          <p15:clr>
            <a:srgbClr val="FBAE40"/>
          </p15:clr>
        </p15:guide>
        <p15:guide id="10" pos="6360" userDrawn="1">
          <p15:clr>
            <a:srgbClr val="FBAE40"/>
          </p15:clr>
        </p15:guide>
        <p15:guide id="11" orient="horz" pos="1008" userDrawn="1">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647199" y="1501742"/>
            <a:ext cx="6801602" cy="664797"/>
          </a:xfrm>
          <a:prstGeom prst="rect">
            <a:avLst/>
          </a:prstGeom>
          <a:noFill/>
          <a:ln w="38100">
            <a:noFill/>
          </a:ln>
        </p:spPr>
        <p:txBody>
          <a:bodyPr wrap="square" lIns="0" tIns="0" rIns="0" bIns="0" anchor="t" anchorCtr="0">
            <a:spAutoFit/>
          </a:bodyPr>
          <a:lstStyle>
            <a:lvl1pPr algn="l">
              <a:defRPr sz="4800" b="1" i="1" spc="0" baseline="0">
                <a:solidFill>
                  <a:schemeClr val="tx2"/>
                </a:solidFill>
                <a:latin typeface="Franklin Gothic Book" panose="020B0503020102020204" pitchFamily="34" charset="0"/>
              </a:defRPr>
            </a:lvl1pPr>
          </a:lstStyle>
          <a:p>
            <a:r>
              <a:rPr lang="en-US" dirty="0"/>
              <a:t>Title</a:t>
            </a:r>
          </a:p>
        </p:txBody>
      </p:sp>
      <p:sp>
        <p:nvSpPr>
          <p:cNvPr id="3" name="Subtitle"/>
          <p:cNvSpPr>
            <a:spLocks noGrp="1"/>
          </p:cNvSpPr>
          <p:nvPr>
            <p:ph type="subTitle" idx="1" hasCustomPrompt="1"/>
          </p:nvPr>
        </p:nvSpPr>
        <p:spPr>
          <a:xfrm>
            <a:off x="2647199" y="3429000"/>
            <a:ext cx="6801603" cy="336015"/>
          </a:xfrm>
          <a:noFill/>
        </p:spPr>
        <p:txBody>
          <a:bodyPr wrap="square" lIns="0" tIns="0" rIns="0" bIns="0" anchor="t" anchorCtr="0">
            <a:spAutoFit/>
          </a:bodyPr>
          <a:lstStyle>
            <a:lvl1pPr marL="0" indent="0" algn="l">
              <a:buNone/>
              <a:defRPr sz="2200" b="1" i="0" baseline="0">
                <a:solidFill>
                  <a:schemeClr val="accent4"/>
                </a:solidFill>
                <a:latin typeface="Franklin Gothic Demi" panose="020B06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Subtitle</a:t>
            </a:r>
          </a:p>
        </p:txBody>
      </p:sp>
      <p:sp>
        <p:nvSpPr>
          <p:cNvPr id="12" name="Date">
            <a:extLst>
              <a:ext uri="{FF2B5EF4-FFF2-40B4-BE49-F238E27FC236}">
                <a16:creationId xmlns:a16="http://schemas.microsoft.com/office/drawing/2014/main" id="{569EEC58-EAB4-064A-8F4A-AFD41D2C52E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11/17/2025</a:t>
            </a:fld>
            <a:endParaRPr lang="en-US" dirty="0"/>
          </a:p>
        </p:txBody>
      </p:sp>
      <p:sp>
        <p:nvSpPr>
          <p:cNvPr id="14" name="Slide Number">
            <a:extLst>
              <a:ext uri="{FF2B5EF4-FFF2-40B4-BE49-F238E27FC236}">
                <a16:creationId xmlns:a16="http://schemas.microsoft.com/office/drawing/2014/main" id="{F5536D05-EE19-B94F-AEFA-CBB9C74BE38E}"/>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6A4A8F82-5B38-7048-AC2C-C6614B1C1F87}"/>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7" name="Line 2">
            <a:extLst>
              <a:ext uri="{FF2B5EF4-FFF2-40B4-BE49-F238E27FC236}">
                <a16:creationId xmlns:a16="http://schemas.microsoft.com/office/drawing/2014/main" id="{8D8B04B8-2399-454A-B669-A05BD4291FE0}"/>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3">
            <a:extLst>
              <a:ext uri="{FF2B5EF4-FFF2-40B4-BE49-F238E27FC236}">
                <a16:creationId xmlns:a16="http://schemas.microsoft.com/office/drawing/2014/main" id="{E7D4788F-092F-E04C-9AB1-9F6377412706}"/>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35863FF8-FC78-8245-B0B0-E1D4313A3AF5}"/>
              </a:ext>
            </a:extLst>
          </p:cNvPr>
          <p:cNvPicPr>
            <a:picLocks noChangeAspect="1"/>
          </p:cNvPicPr>
          <p:nvPr userDrawn="1"/>
        </p:nvPicPr>
        <p:blipFill>
          <a:blip r:embed="rId2"/>
          <a:srcRect/>
          <a:stretch/>
        </p:blipFill>
        <p:spPr>
          <a:xfrm>
            <a:off x="1830461" y="5987081"/>
            <a:ext cx="4206868" cy="449363"/>
          </a:xfrm>
          <a:prstGeom prst="rect">
            <a:avLst/>
          </a:prstGeom>
        </p:spPr>
      </p:pic>
    </p:spTree>
    <p:extLst>
      <p:ext uri="{BB962C8B-B14F-4D97-AF65-F5344CB8AC3E}">
        <p14:creationId xmlns:p14="http://schemas.microsoft.com/office/powerpoint/2010/main" val="2463502173"/>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Slide - Copy">
    <p:bg>
      <p:bgPr>
        <a:solidFill>
          <a:schemeClr val="accent4"/>
        </a:solidFill>
        <a:effectLst/>
      </p:bgPr>
    </p:bg>
    <p:spTree>
      <p:nvGrpSpPr>
        <p:cNvPr id="1" name=""/>
        <p:cNvGrpSpPr/>
        <p:nvPr/>
      </p:nvGrpSpPr>
      <p:grpSpPr>
        <a:xfrm>
          <a:off x="0" y="0"/>
          <a:ext cx="0" cy="0"/>
          <a:chOff x="0" y="0"/>
          <a:chExt cx="0" cy="0"/>
        </a:xfrm>
      </p:grpSpPr>
      <p:sp>
        <p:nvSpPr>
          <p:cNvPr id="26" name="Black Bar">
            <a:extLst>
              <a:ext uri="{FF2B5EF4-FFF2-40B4-BE49-F238E27FC236}">
                <a16:creationId xmlns:a16="http://schemas.microsoft.com/office/drawing/2014/main" id="{A66A797F-CC2D-F24E-8D26-8632FDB68C4C}"/>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Title"/>
          <p:cNvSpPr>
            <a:spLocks noGrp="1"/>
          </p:cNvSpPr>
          <p:nvPr>
            <p:ph type="ctrTitle" hasCustomPrompt="1"/>
          </p:nvPr>
        </p:nvSpPr>
        <p:spPr bwMode="blackWhite">
          <a:xfrm>
            <a:off x="2107520" y="437030"/>
            <a:ext cx="7988980"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3" name="Subhead"/>
          <p:cNvSpPr>
            <a:spLocks noGrp="1"/>
          </p:cNvSpPr>
          <p:nvPr>
            <p:ph type="subTitle" idx="1" hasCustomPrompt="1"/>
          </p:nvPr>
        </p:nvSpPr>
        <p:spPr>
          <a:xfrm>
            <a:off x="2107518" y="1345167"/>
            <a:ext cx="7988982"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25" name="Body Text">
            <a:extLst>
              <a:ext uri="{FF2B5EF4-FFF2-40B4-BE49-F238E27FC236}">
                <a16:creationId xmlns:a16="http://schemas.microsoft.com/office/drawing/2014/main" id="{9F798712-4535-8340-942F-27FFD5E3FE9B}"/>
              </a:ext>
            </a:extLst>
          </p:cNvPr>
          <p:cNvSpPr>
            <a:spLocks noGrp="1"/>
          </p:cNvSpPr>
          <p:nvPr>
            <p:ph type="body" sz="quarter" idx="14" hasCustomPrompt="1"/>
          </p:nvPr>
        </p:nvSpPr>
        <p:spPr>
          <a:xfrm>
            <a:off x="2666056" y="1917389"/>
            <a:ext cx="7366000"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p:txBody>
      </p:sp>
      <p:sp>
        <p:nvSpPr>
          <p:cNvPr id="16" name="Date">
            <a:extLst>
              <a:ext uri="{FF2B5EF4-FFF2-40B4-BE49-F238E27FC236}">
                <a16:creationId xmlns:a16="http://schemas.microsoft.com/office/drawing/2014/main" id="{714077B3-45FB-7B43-8C19-3B82C49646B4}"/>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11/17/2025</a:t>
            </a:fld>
            <a:endParaRPr lang="en-US" dirty="0"/>
          </a:p>
        </p:txBody>
      </p:sp>
      <p:sp>
        <p:nvSpPr>
          <p:cNvPr id="17" name="Slide Number">
            <a:extLst>
              <a:ext uri="{FF2B5EF4-FFF2-40B4-BE49-F238E27FC236}">
                <a16:creationId xmlns:a16="http://schemas.microsoft.com/office/drawing/2014/main" id="{9877984E-7F57-E649-B9D9-2C2240989518}"/>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9" name="Line 1">
            <a:extLst>
              <a:ext uri="{FF2B5EF4-FFF2-40B4-BE49-F238E27FC236}">
                <a16:creationId xmlns:a16="http://schemas.microsoft.com/office/drawing/2014/main" id="{8936B9D4-1725-3C46-A32F-C28623BAF26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2">
            <a:extLst>
              <a:ext uri="{FF2B5EF4-FFF2-40B4-BE49-F238E27FC236}">
                <a16:creationId xmlns:a16="http://schemas.microsoft.com/office/drawing/2014/main" id="{A8A4F2E5-6CC0-B242-9D18-2446C1D7DE8A}"/>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3">
            <a:extLst>
              <a:ext uri="{FF2B5EF4-FFF2-40B4-BE49-F238E27FC236}">
                <a16:creationId xmlns:a16="http://schemas.microsoft.com/office/drawing/2014/main" id="{C07B1E83-E1FB-094B-9F1A-D5DE2767524D}"/>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urdue CoBrand">
            <a:extLst>
              <a:ext uri="{FF2B5EF4-FFF2-40B4-BE49-F238E27FC236}">
                <a16:creationId xmlns:a16="http://schemas.microsoft.com/office/drawing/2014/main" id="{7819D8BA-413A-6641-B706-270206BA2A7C}"/>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140675489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Content Slide - Copy &amp; Pic/Chart">
    <p:bg>
      <p:bgPr>
        <a:solidFill>
          <a:schemeClr val="accent4"/>
        </a:solidFill>
        <a:effectLst/>
      </p:bgPr>
    </p:bg>
    <p:spTree>
      <p:nvGrpSpPr>
        <p:cNvPr id="1" name=""/>
        <p:cNvGrpSpPr/>
        <p:nvPr/>
      </p:nvGrpSpPr>
      <p:grpSpPr>
        <a:xfrm>
          <a:off x="0" y="0"/>
          <a:ext cx="0" cy="0"/>
          <a:chOff x="0" y="0"/>
          <a:chExt cx="0" cy="0"/>
        </a:xfrm>
      </p:grpSpPr>
      <p:sp>
        <p:nvSpPr>
          <p:cNvPr id="24" name="Black Bar">
            <a:extLst>
              <a:ext uri="{FF2B5EF4-FFF2-40B4-BE49-F238E27FC236}">
                <a16:creationId xmlns:a16="http://schemas.microsoft.com/office/drawing/2014/main" id="{0AE71379-F4D3-D147-9F20-2FE1D74B2D32}"/>
              </a:ext>
            </a:extLst>
          </p:cNvPr>
          <p:cNvSpPr/>
          <p:nvPr userDrawn="1"/>
        </p:nvSpPr>
        <p:spPr>
          <a:xfrm>
            <a:off x="1773864" y="0"/>
            <a:ext cx="9884736" cy="908137"/>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5" name="Title">
            <a:extLst>
              <a:ext uri="{FF2B5EF4-FFF2-40B4-BE49-F238E27FC236}">
                <a16:creationId xmlns:a16="http://schemas.microsoft.com/office/drawing/2014/main" id="{D4CA7DB8-4B5A-E34E-9870-26F61BD3E47D}"/>
              </a:ext>
            </a:extLst>
          </p:cNvPr>
          <p:cNvSpPr>
            <a:spLocks noGrp="1"/>
          </p:cNvSpPr>
          <p:nvPr>
            <p:ph type="ctrTitle" hasCustomPrompt="1"/>
          </p:nvPr>
        </p:nvSpPr>
        <p:spPr bwMode="blackWhite">
          <a:xfrm>
            <a:off x="2107520" y="437030"/>
            <a:ext cx="7988978" cy="332399"/>
          </a:xfrm>
          <a:prstGeom prst="rect">
            <a:avLst/>
          </a:prstGeom>
          <a:noFill/>
          <a:ln w="38100">
            <a:noFill/>
          </a:ln>
        </p:spPr>
        <p:txBody>
          <a:bodyPr wrap="square" lIns="0" tIns="0" rIns="0" bIns="0" anchor="t" anchorCtr="0">
            <a:spAutoFit/>
          </a:bodyPr>
          <a:lstStyle>
            <a:lvl1pPr algn="l">
              <a:defRPr sz="2400" b="1" i="1" cap="none" spc="0" baseline="0">
                <a:solidFill>
                  <a:schemeClr val="tx2"/>
                </a:solidFill>
                <a:latin typeface="Franklin Gothic Book" panose="020B0503020102020204" pitchFamily="34" charset="0"/>
              </a:defRPr>
            </a:lvl1pPr>
          </a:lstStyle>
          <a:p>
            <a:r>
              <a:rPr lang="en-US" dirty="0"/>
              <a:t>Title</a:t>
            </a:r>
          </a:p>
        </p:txBody>
      </p:sp>
      <p:sp>
        <p:nvSpPr>
          <p:cNvPr id="26" name="Subhead">
            <a:extLst>
              <a:ext uri="{FF2B5EF4-FFF2-40B4-BE49-F238E27FC236}">
                <a16:creationId xmlns:a16="http://schemas.microsoft.com/office/drawing/2014/main" id="{1DF492DD-020D-4A41-BFE4-1758A1DC7221}"/>
              </a:ext>
            </a:extLst>
          </p:cNvPr>
          <p:cNvSpPr>
            <a:spLocks noGrp="1"/>
          </p:cNvSpPr>
          <p:nvPr>
            <p:ph type="subTitle" idx="1" hasCustomPrompt="1"/>
          </p:nvPr>
        </p:nvSpPr>
        <p:spPr>
          <a:xfrm>
            <a:off x="2107518" y="1345167"/>
            <a:ext cx="7988980" cy="276999"/>
          </a:xfrm>
          <a:noFill/>
        </p:spPr>
        <p:txBody>
          <a:bodyPr wrap="square" lIns="0" tIns="0" rIns="0" bIns="0" anchor="t" anchorCtr="0">
            <a:spAutoFit/>
          </a:bodyPr>
          <a:lstStyle>
            <a:lvl1pPr marL="0" indent="0" algn="l">
              <a:buNone/>
              <a:defRPr sz="1800" b="1" i="0" baseline="0">
                <a:solidFill>
                  <a:schemeClr val="accent2"/>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Subhead</a:t>
            </a:r>
          </a:p>
        </p:txBody>
      </p:sp>
      <p:sp>
        <p:nvSpPr>
          <p:cNvPr id="19" name="Body Text">
            <a:extLst>
              <a:ext uri="{FF2B5EF4-FFF2-40B4-BE49-F238E27FC236}">
                <a16:creationId xmlns:a16="http://schemas.microsoft.com/office/drawing/2014/main" id="{4B5CCD19-DE21-294C-8B0B-3103725AE082}"/>
              </a:ext>
            </a:extLst>
          </p:cNvPr>
          <p:cNvSpPr>
            <a:spLocks noGrp="1"/>
          </p:cNvSpPr>
          <p:nvPr>
            <p:ph type="body" sz="quarter" idx="14" hasCustomPrompt="1"/>
          </p:nvPr>
        </p:nvSpPr>
        <p:spPr>
          <a:xfrm>
            <a:off x="2665914" y="1917389"/>
            <a:ext cx="4081046" cy="3411537"/>
          </a:xfrm>
        </p:spPr>
        <p:txBody>
          <a:bodyPr lIns="0" tIns="0" rIns="0" bIns="0">
            <a:normAutofit/>
          </a:bodyPr>
          <a:lstStyle>
            <a:lvl1pPr marL="274320" marR="0" indent="-274320" algn="l" defTabSz="457200" rtl="0" eaLnBrk="1" fontAlgn="auto" latinLnBrk="0" hangingPunct="1">
              <a:lnSpc>
                <a:spcPct val="100000"/>
              </a:lnSpc>
              <a:spcBef>
                <a:spcPts val="0"/>
              </a:spcBef>
              <a:spcAft>
                <a:spcPts val="0"/>
              </a:spcAft>
              <a:buClrTx/>
              <a:buSzTx/>
              <a:buFont typeface="Wingdings" charset="2"/>
              <a:buChar char="§"/>
              <a:tabLst/>
              <a:defRPr sz="1600" b="0" i="0" normalizeH="0" baseline="0">
                <a:solidFill>
                  <a:schemeClr val="bg1"/>
                </a:solidFill>
                <a:latin typeface="Franklin Gothic Book" panose="020B0503020102020204" pitchFamily="34" charset="0"/>
              </a:defRPr>
            </a:lvl1pPr>
          </a:lstStyle>
          <a:p>
            <a:pPr lvl="0"/>
            <a:r>
              <a:rPr lang="en-US" dirty="0"/>
              <a:t>Bulleted copy. Keep it short with bite-size chunks of information.</a:t>
            </a:r>
          </a:p>
          <a:p>
            <a:pPr lvl="0"/>
            <a:endParaRPr lang="en-US" dirty="0"/>
          </a:p>
          <a:p>
            <a:pPr lvl="0"/>
            <a:r>
              <a:rPr lang="en-US" dirty="0"/>
              <a:t>Bulleted copy. Keep it short with bite-size chunks of information.</a:t>
            </a:r>
          </a:p>
          <a:p>
            <a:pPr lvl="0"/>
            <a:endParaRPr lang="en-US" dirty="0"/>
          </a:p>
          <a:p>
            <a:pPr marL="274320" marR="0" lvl="0" indent="-274320" algn="l" defTabSz="457200" rtl="0" eaLnBrk="1" fontAlgn="auto" latinLnBrk="0" hangingPunct="1">
              <a:lnSpc>
                <a:spcPct val="100000"/>
              </a:lnSpc>
              <a:spcBef>
                <a:spcPts val="0"/>
              </a:spcBef>
              <a:spcAft>
                <a:spcPts val="0"/>
              </a:spcAft>
              <a:buClrTx/>
              <a:buSzTx/>
              <a:buFont typeface="Wingdings" charset="2"/>
              <a:buChar char="§"/>
              <a:tabLst/>
              <a:defRPr/>
            </a:pPr>
            <a:r>
              <a:rPr lang="en-US" dirty="0"/>
              <a:t>Bulleted copy. Keep it short with bite-size chunks of information.</a:t>
            </a:r>
          </a:p>
          <a:p>
            <a:pPr lvl="0"/>
            <a:endParaRPr lang="en-US" dirty="0"/>
          </a:p>
          <a:p>
            <a:pPr lvl="0"/>
            <a:endParaRPr lang="en-US" dirty="0"/>
          </a:p>
        </p:txBody>
      </p:sp>
      <p:cxnSp>
        <p:nvCxnSpPr>
          <p:cNvPr id="23" name="Line 3">
            <a:extLst>
              <a:ext uri="{FF2B5EF4-FFF2-40B4-BE49-F238E27FC236}">
                <a16:creationId xmlns:a16="http://schemas.microsoft.com/office/drawing/2014/main" id="{3DD2E154-C016-6747-BDF9-C46FDA8D557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sp>
        <p:nvSpPr>
          <p:cNvPr id="10" name="Picture or Chart" descr="Picture or Chart">
            <a:extLst>
              <a:ext uri="{FF2B5EF4-FFF2-40B4-BE49-F238E27FC236}">
                <a16:creationId xmlns:a16="http://schemas.microsoft.com/office/drawing/2014/main" id="{699BD747-48B6-2547-8F7C-25A44594F612}"/>
              </a:ext>
            </a:extLst>
          </p:cNvPr>
          <p:cNvSpPr>
            <a:spLocks noGrp="1"/>
          </p:cNvSpPr>
          <p:nvPr>
            <p:ph sz="quarter" idx="13" hasCustomPrompt="1"/>
          </p:nvPr>
        </p:nvSpPr>
        <p:spPr>
          <a:xfrm>
            <a:off x="7093131" y="1920876"/>
            <a:ext cx="4561597" cy="2982913"/>
          </a:xfrm>
          <a:solidFill>
            <a:schemeClr val="accent4"/>
          </a:solidFill>
        </p:spPr>
        <p:txBody>
          <a:bodyPr lIns="0" tIns="0" rIns="0" bIns="0" anchor="ctr" anchorCtr="0"/>
          <a:lstStyle>
            <a:lvl1pPr algn="ctr">
              <a:defRPr b="0" i="0">
                <a:solidFill>
                  <a:schemeClr val="bg1"/>
                </a:solidFill>
                <a:latin typeface="Acumin Pro" panose="020B0504020202020204" pitchFamily="34" charset="77"/>
              </a:defRPr>
            </a:lvl1pPr>
            <a:lvl4pPr marL="685800" indent="0" algn="ctr">
              <a:buNone/>
              <a:defRPr>
                <a:solidFill>
                  <a:schemeClr val="bg1"/>
                </a:solidFill>
              </a:defRPr>
            </a:lvl4pPr>
          </a:lstStyle>
          <a:p>
            <a:pPr lvl="0"/>
            <a:r>
              <a:rPr lang="en-US" dirty="0"/>
              <a:t>Insert picture or chart here</a:t>
            </a:r>
          </a:p>
        </p:txBody>
      </p:sp>
      <p:sp>
        <p:nvSpPr>
          <p:cNvPr id="16" name="Date">
            <a:extLst>
              <a:ext uri="{FF2B5EF4-FFF2-40B4-BE49-F238E27FC236}">
                <a16:creationId xmlns:a16="http://schemas.microsoft.com/office/drawing/2014/main" id="{C8365B71-1339-9448-BF22-95AA51DA73FB}"/>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11/17/2025</a:t>
            </a:fld>
            <a:endParaRPr lang="en-US" dirty="0"/>
          </a:p>
        </p:txBody>
      </p:sp>
      <p:sp>
        <p:nvSpPr>
          <p:cNvPr id="17" name="Slide Number">
            <a:extLst>
              <a:ext uri="{FF2B5EF4-FFF2-40B4-BE49-F238E27FC236}">
                <a16:creationId xmlns:a16="http://schemas.microsoft.com/office/drawing/2014/main" id="{90CEF399-1C96-2B44-8CD0-34997E7B715B}"/>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CADA4B44-4E54-AC4F-B94D-753D8198844A}"/>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FC7C8D95-DE0A-F44D-8875-2ED2F195BB2F}"/>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2" name="Purdue CoBrand">
            <a:extLst>
              <a:ext uri="{FF2B5EF4-FFF2-40B4-BE49-F238E27FC236}">
                <a16:creationId xmlns:a16="http://schemas.microsoft.com/office/drawing/2014/main" id="{F8D8386B-0D43-664A-B6B7-C474C0595C63}"/>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1815464052"/>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4032">
          <p15:clr>
            <a:srgbClr val="FBAE40"/>
          </p15:clr>
        </p15:guide>
        <p15:guide id="4" pos="7344">
          <p15:clr>
            <a:srgbClr val="FBAE40"/>
          </p15:clr>
        </p15:guide>
        <p15:guide id="5" pos="6848">
          <p15:clr>
            <a:srgbClr val="FBAE40"/>
          </p15:clr>
        </p15:guide>
        <p15:guide id="6" orient="horz" pos="4080">
          <p15:clr>
            <a:srgbClr val="FBAE40"/>
          </p15:clr>
        </p15:guide>
        <p15:guide id="7" pos="1104">
          <p15:clr>
            <a:srgbClr val="FBAE40"/>
          </p15:clr>
        </p15:guide>
        <p15:guide id="8" pos="1680">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tent Slide - Picture">
    <p:bg>
      <p:bgPr>
        <a:solidFill>
          <a:schemeClr val="accent4"/>
        </a:solidFill>
        <a:effectLst/>
      </p:bgPr>
    </p:bg>
    <p:spTree>
      <p:nvGrpSpPr>
        <p:cNvPr id="1" name=""/>
        <p:cNvGrpSpPr/>
        <p:nvPr/>
      </p:nvGrpSpPr>
      <p:grpSpPr>
        <a:xfrm>
          <a:off x="0" y="0"/>
          <a:ext cx="0" cy="0"/>
          <a:chOff x="0" y="0"/>
          <a:chExt cx="0" cy="0"/>
        </a:xfrm>
      </p:grpSpPr>
      <p:sp>
        <p:nvSpPr>
          <p:cNvPr id="17" name="Picture" descr="Picture Description">
            <a:extLst>
              <a:ext uri="{FF2B5EF4-FFF2-40B4-BE49-F238E27FC236}">
                <a16:creationId xmlns:a16="http://schemas.microsoft.com/office/drawing/2014/main" id="{B6A7C9B5-3617-0144-A4ED-16186741E8C3}"/>
              </a:ext>
            </a:extLst>
          </p:cNvPr>
          <p:cNvSpPr>
            <a:spLocks noGrp="1"/>
          </p:cNvSpPr>
          <p:nvPr>
            <p:ph type="pic" sz="quarter" idx="13"/>
          </p:nvPr>
        </p:nvSpPr>
        <p:spPr>
          <a:xfrm>
            <a:off x="0" y="0"/>
            <a:ext cx="12192000" cy="6858000"/>
          </a:xfrm>
        </p:spPr>
        <p:txBody>
          <a:bodyPr anchor="ctr" anchorCtr="1"/>
          <a:lstStyle>
            <a:lvl1pPr marL="0" indent="0" algn="ctr">
              <a:buFontTx/>
              <a:buNone/>
              <a:defRPr baseline="0">
                <a:solidFill>
                  <a:schemeClr val="bg1"/>
                </a:solidFill>
                <a:latin typeface="Acumin Pro" panose="020B0504020202020204" pitchFamily="34" charset="77"/>
              </a:defRPr>
            </a:lvl1pPr>
          </a:lstStyle>
          <a:p>
            <a:r>
              <a:rPr lang="en-US"/>
              <a:t>Click icon to add picture</a:t>
            </a:r>
            <a:endParaRPr lang="en-US" dirty="0"/>
          </a:p>
        </p:txBody>
      </p:sp>
      <p:sp>
        <p:nvSpPr>
          <p:cNvPr id="3" name="Photo caption"/>
          <p:cNvSpPr>
            <a:spLocks noGrp="1"/>
          </p:cNvSpPr>
          <p:nvPr>
            <p:ph type="subTitle" idx="1" hasCustomPrompt="1"/>
          </p:nvPr>
        </p:nvSpPr>
        <p:spPr>
          <a:xfrm>
            <a:off x="7301170" y="219206"/>
            <a:ext cx="3574087" cy="738664"/>
          </a:xfrm>
          <a:noFill/>
        </p:spPr>
        <p:txBody>
          <a:bodyPr wrap="square" lIns="0" tIns="0" rIns="0" bIns="0" anchor="t" anchorCtr="0">
            <a:spAutoFit/>
          </a:bodyPr>
          <a:lstStyle>
            <a:lvl1pPr marL="0" indent="0" algn="l">
              <a:buNone/>
              <a:defRPr sz="1600" b="1" i="0" baseline="0">
                <a:solidFill>
                  <a:schemeClr val="bg1"/>
                </a:solidFill>
                <a:latin typeface="Franklin Gothic Book" panose="020B050302010202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Brief photo caption. Place in top left or right corner. Make text black or white for legibility.</a:t>
            </a:r>
          </a:p>
        </p:txBody>
      </p:sp>
      <p:sp>
        <p:nvSpPr>
          <p:cNvPr id="11" name="Date">
            <a:extLst>
              <a:ext uri="{FF2B5EF4-FFF2-40B4-BE49-F238E27FC236}">
                <a16:creationId xmlns:a16="http://schemas.microsoft.com/office/drawing/2014/main" id="{F330C439-AFA6-B840-9D2A-258668D35CA5}"/>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11/17/2025</a:t>
            </a:fld>
            <a:endParaRPr lang="en-US" dirty="0"/>
          </a:p>
        </p:txBody>
      </p:sp>
      <p:sp>
        <p:nvSpPr>
          <p:cNvPr id="14" name="Slide Number">
            <a:extLst>
              <a:ext uri="{FF2B5EF4-FFF2-40B4-BE49-F238E27FC236}">
                <a16:creationId xmlns:a16="http://schemas.microsoft.com/office/drawing/2014/main" id="{ACC80B6D-3922-3742-99F9-101C945C2B33}"/>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16" name="Line 1">
            <a:extLst>
              <a:ext uri="{FF2B5EF4-FFF2-40B4-BE49-F238E27FC236}">
                <a16:creationId xmlns:a16="http://schemas.microsoft.com/office/drawing/2014/main" id="{C3371811-B9A9-444C-B8E2-DFC8B92FFA90}"/>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E3D41B36-C946-AA44-BFF4-3F3A6A8607A2}"/>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0" name="Line 3">
            <a:extLst>
              <a:ext uri="{FF2B5EF4-FFF2-40B4-BE49-F238E27FC236}">
                <a16:creationId xmlns:a16="http://schemas.microsoft.com/office/drawing/2014/main" id="{A246739C-3DD5-DF4C-BFF4-0B3AF76695B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9" name="Purdue CoBrand">
            <a:extLst>
              <a:ext uri="{FF2B5EF4-FFF2-40B4-BE49-F238E27FC236}">
                <a16:creationId xmlns:a16="http://schemas.microsoft.com/office/drawing/2014/main" id="{B1FB8C0C-65BE-BE4A-9624-20705F2A16B6}"/>
              </a:ext>
            </a:extLst>
          </p:cNvPr>
          <p:cNvPicPr>
            <a:picLocks noChangeAspect="1"/>
          </p:cNvPicPr>
          <p:nvPr userDrawn="1"/>
        </p:nvPicPr>
        <p:blipFill>
          <a:blip r:embed="rId2"/>
          <a:srcRect/>
          <a:stretch/>
        </p:blipFill>
        <p:spPr>
          <a:xfrm>
            <a:off x="1813140" y="5987080"/>
            <a:ext cx="4241509" cy="449363"/>
          </a:xfrm>
          <a:prstGeom prst="rect">
            <a:avLst/>
          </a:prstGeom>
        </p:spPr>
      </p:pic>
    </p:spTree>
    <p:extLst>
      <p:ext uri="{BB962C8B-B14F-4D97-AF65-F5344CB8AC3E}">
        <p14:creationId xmlns:p14="http://schemas.microsoft.com/office/powerpoint/2010/main" val="4186258001"/>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Content Slide - Fact/Highlight">
    <p:bg>
      <p:bgPr>
        <a:solidFill>
          <a:schemeClr val="accent4"/>
        </a:solidFill>
        <a:effectLst/>
      </p:bgPr>
    </p:bg>
    <p:spTree>
      <p:nvGrpSpPr>
        <p:cNvPr id="1" name=""/>
        <p:cNvGrpSpPr/>
        <p:nvPr/>
      </p:nvGrpSpPr>
      <p:grpSpPr>
        <a:xfrm>
          <a:off x="0" y="0"/>
          <a:ext cx="0" cy="0"/>
          <a:chOff x="0" y="0"/>
          <a:chExt cx="0" cy="0"/>
        </a:xfrm>
      </p:grpSpPr>
      <p:sp>
        <p:nvSpPr>
          <p:cNvPr id="6" name="Gold Background">
            <a:extLst>
              <a:ext uri="{FF2B5EF4-FFF2-40B4-BE49-F238E27FC236}">
                <a16:creationId xmlns:a16="http://schemas.microsoft.com/office/drawing/2014/main" id="{5CCAEC11-865D-CB4B-88E8-5AF51FB37FBE}"/>
              </a:ext>
            </a:extLst>
          </p:cNvPr>
          <p:cNvSpPr/>
          <p:nvPr/>
        </p:nvSpPr>
        <p:spPr>
          <a:xfrm>
            <a:off x="1" y="0"/>
            <a:ext cx="12191999" cy="6852212"/>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886334" y="1614576"/>
            <a:ext cx="6419331" cy="1007712"/>
          </a:xfrm>
          <a:prstGeom prst="rect">
            <a:avLst/>
          </a:prstGeom>
          <a:noFill/>
          <a:ln w="38100">
            <a:noFill/>
          </a:ln>
        </p:spPr>
        <p:txBody>
          <a:bodyPr wrap="square" lIns="0" tIns="0" rIns="0" bIns="0" anchor="t" anchorCtr="0">
            <a:spAutoFit/>
          </a:bodyPr>
          <a:lstStyle>
            <a:lvl1pPr algn="ctr">
              <a:defRPr sz="7200" b="1" i="0" cap="none" spc="300" baseline="0">
                <a:solidFill>
                  <a:schemeClr val="accent2"/>
                </a:solidFill>
                <a:latin typeface="Impact" panose="020B0806030902050204" pitchFamily="34" charset="0"/>
              </a:defRPr>
            </a:lvl1pPr>
          </a:lstStyle>
          <a:p>
            <a:r>
              <a:rPr lang="en-US" spc="0" dirty="0">
                <a:latin typeface="United Sans Rg Md" pitchFamily="50" charset="0"/>
              </a:rPr>
              <a:t>123</a:t>
            </a:r>
            <a:endParaRPr lang="en-US" dirty="0"/>
          </a:p>
        </p:txBody>
      </p:sp>
      <p:sp>
        <p:nvSpPr>
          <p:cNvPr id="20" name="Black Bar">
            <a:extLst>
              <a:ext uri="{FF2B5EF4-FFF2-40B4-BE49-F238E27FC236}">
                <a16:creationId xmlns:a16="http://schemas.microsoft.com/office/drawing/2014/main" id="{EACB2F0C-1C3D-CD48-AD13-7B5AD683F7C7}"/>
              </a:ext>
            </a:extLst>
          </p:cNvPr>
          <p:cNvSpPr/>
          <p:nvPr/>
        </p:nvSpPr>
        <p:spPr>
          <a:xfrm>
            <a:off x="2648277" y="2744421"/>
            <a:ext cx="6905456" cy="44099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3" name="Subhead"/>
          <p:cNvSpPr>
            <a:spLocks noGrp="1"/>
          </p:cNvSpPr>
          <p:nvPr>
            <p:ph type="subTitle" idx="1" hasCustomPrompt="1"/>
          </p:nvPr>
        </p:nvSpPr>
        <p:spPr>
          <a:xfrm>
            <a:off x="2648276" y="2706475"/>
            <a:ext cx="6895463" cy="492443"/>
          </a:xfrm>
          <a:noFill/>
        </p:spPr>
        <p:txBody>
          <a:bodyPr wrap="square" lIns="0" tIns="0" rIns="0" bIns="0" anchor="t" anchorCtr="0">
            <a:spAutoFit/>
          </a:bodyPr>
          <a:lstStyle>
            <a:lvl1pPr marL="0" indent="0" algn="ctr">
              <a:buNone/>
              <a:defRPr sz="3200" b="0" i="0" spc="300" baseline="0">
                <a:solidFill>
                  <a:schemeClr val="accent4"/>
                </a:solidFill>
                <a:latin typeface="Impact" panose="020B0806030902050204" pitchFamily="34" charset="0"/>
              </a:defRPr>
            </a:lvl1pPr>
            <a:lvl2pPr marL="457200" indent="0" algn="ctr">
              <a:buNone/>
              <a:defRPr sz="19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dirty="0"/>
              <a:t>TOPIC OR TITLE</a:t>
            </a:r>
          </a:p>
        </p:txBody>
      </p:sp>
      <p:sp>
        <p:nvSpPr>
          <p:cNvPr id="23" name="Body Text">
            <a:extLst>
              <a:ext uri="{FF2B5EF4-FFF2-40B4-BE49-F238E27FC236}">
                <a16:creationId xmlns:a16="http://schemas.microsoft.com/office/drawing/2014/main" id="{BD416322-CF1A-F143-B2A9-844B608C50DA}"/>
              </a:ext>
            </a:extLst>
          </p:cNvPr>
          <p:cNvSpPr>
            <a:spLocks noGrp="1"/>
          </p:cNvSpPr>
          <p:nvPr>
            <p:ph type="body" sz="quarter" idx="14" hasCustomPrompt="1"/>
          </p:nvPr>
        </p:nvSpPr>
        <p:spPr>
          <a:xfrm>
            <a:off x="2875268" y="3540352"/>
            <a:ext cx="6678467" cy="1122744"/>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2400" b="0" i="0" normalizeH="0" baseline="0">
                <a:solidFill>
                  <a:schemeClr val="bg1"/>
                </a:solidFill>
                <a:latin typeface="Franklin Gothic Book" panose="020B0503020102020204" pitchFamily="34" charset="0"/>
              </a:defRPr>
            </a:lvl1pPr>
          </a:lstStyle>
          <a:p>
            <a:pPr lvl="0"/>
            <a:r>
              <a:rPr lang="en-US" dirty="0"/>
              <a:t>Fact or highlight. Keep it short with bite-size chunks of information.</a:t>
            </a:r>
          </a:p>
        </p:txBody>
      </p:sp>
      <p:sp>
        <p:nvSpPr>
          <p:cNvPr id="16" name="Date">
            <a:extLst>
              <a:ext uri="{FF2B5EF4-FFF2-40B4-BE49-F238E27FC236}">
                <a16:creationId xmlns:a16="http://schemas.microsoft.com/office/drawing/2014/main" id="{D5F83FDC-674A-8F42-A488-884B2867DCC3}"/>
              </a:ext>
            </a:extLst>
          </p:cNvPr>
          <p:cNvSpPr>
            <a:spLocks noGrp="1"/>
          </p:cNvSpPr>
          <p:nvPr>
            <p:ph type="dt" sz="half" idx="10"/>
          </p:nvPr>
        </p:nvSpPr>
        <p:spPr>
          <a:xfrm>
            <a:off x="8926248" y="6220740"/>
            <a:ext cx="1021891" cy="323968"/>
          </a:xfrm>
        </p:spPr>
        <p:txBody>
          <a:bodyPr/>
          <a:lstStyle>
            <a:lvl1pPr>
              <a:defRPr>
                <a:solidFill>
                  <a:schemeClr val="bg1">
                    <a:alpha val="70000"/>
                  </a:schemeClr>
                </a:solidFill>
              </a:defRPr>
            </a:lvl1pPr>
          </a:lstStyle>
          <a:p>
            <a:fld id="{D47A9A36-4EB0-BF46-AE48-7CDA251B954B}" type="datetime1">
              <a:rPr lang="en-US" smtClean="0"/>
              <a:t>11/17/2025</a:t>
            </a:fld>
            <a:endParaRPr lang="en-US" dirty="0"/>
          </a:p>
        </p:txBody>
      </p:sp>
      <p:sp>
        <p:nvSpPr>
          <p:cNvPr id="17" name="Slide Number">
            <a:extLst>
              <a:ext uri="{FF2B5EF4-FFF2-40B4-BE49-F238E27FC236}">
                <a16:creationId xmlns:a16="http://schemas.microsoft.com/office/drawing/2014/main" id="{DF9C56DA-C412-B14C-8168-05E55A21B5E5}"/>
              </a:ext>
            </a:extLst>
          </p:cNvPr>
          <p:cNvSpPr>
            <a:spLocks noGrp="1"/>
          </p:cNvSpPr>
          <p:nvPr>
            <p:ph type="sldNum" sz="quarter" idx="12"/>
          </p:nvPr>
        </p:nvSpPr>
        <p:spPr>
          <a:xfrm>
            <a:off x="10096500" y="6200875"/>
            <a:ext cx="487680" cy="365760"/>
          </a:xfrm>
        </p:spPr>
        <p:txBody>
          <a:bodyPr/>
          <a:lstStyle>
            <a:lvl1pPr>
              <a:defRPr>
                <a:solidFill>
                  <a:schemeClr val="bg1"/>
                </a:solidFill>
              </a:defRPr>
            </a:lvl1pPr>
          </a:lstStyle>
          <a:p>
            <a:fld id="{8A7A6979-0714-4377-B894-6BE4C2D6E202}" type="slidenum">
              <a:rPr lang="en-US" smtClean="0"/>
              <a:pPr/>
              <a:t>‹#›</a:t>
            </a:fld>
            <a:endParaRPr lang="en-US" dirty="0"/>
          </a:p>
        </p:txBody>
      </p:sp>
      <p:cxnSp>
        <p:nvCxnSpPr>
          <p:cNvPr id="21" name="Line 1">
            <a:extLst>
              <a:ext uri="{FF2B5EF4-FFF2-40B4-BE49-F238E27FC236}">
                <a16:creationId xmlns:a16="http://schemas.microsoft.com/office/drawing/2014/main" id="{DE31DD2C-32F5-F345-872B-C1CCC72846EE}"/>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2" name="Line 2">
            <a:extLst>
              <a:ext uri="{FF2B5EF4-FFF2-40B4-BE49-F238E27FC236}">
                <a16:creationId xmlns:a16="http://schemas.microsoft.com/office/drawing/2014/main" id="{18A2134F-0116-6740-AD2E-82D54002455E}"/>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4" name="Line 3">
            <a:extLst>
              <a:ext uri="{FF2B5EF4-FFF2-40B4-BE49-F238E27FC236}">
                <a16:creationId xmlns:a16="http://schemas.microsoft.com/office/drawing/2014/main" id="{7E7A5392-EE7B-7141-B159-172DDE0D6824}"/>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3" name="Purdue CoBrand">
            <a:extLst>
              <a:ext uri="{FF2B5EF4-FFF2-40B4-BE49-F238E27FC236}">
                <a16:creationId xmlns:a16="http://schemas.microsoft.com/office/drawing/2014/main" id="{C956BC4A-6335-2245-B16C-D97B7C359084}"/>
              </a:ext>
            </a:extLst>
          </p:cNvPr>
          <p:cNvPicPr>
            <a:picLocks noChangeAspect="1"/>
          </p:cNvPicPr>
          <p:nvPr userDrawn="1"/>
        </p:nvPicPr>
        <p:blipFill>
          <a:blip r:embed="rId2"/>
          <a:srcRect/>
          <a:stretch/>
        </p:blipFill>
        <p:spPr>
          <a:xfrm>
            <a:off x="1813141" y="5987080"/>
            <a:ext cx="4241509" cy="449363"/>
          </a:xfrm>
          <a:prstGeom prst="rect">
            <a:avLst/>
          </a:prstGeom>
        </p:spPr>
      </p:pic>
    </p:spTree>
    <p:extLst>
      <p:ext uri="{BB962C8B-B14F-4D97-AF65-F5344CB8AC3E}">
        <p14:creationId xmlns:p14="http://schemas.microsoft.com/office/powerpoint/2010/main" val="2707393526"/>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orient="horz" pos="1008">
          <p15:clr>
            <a:srgbClr val="FBAE40"/>
          </p15:clr>
        </p15:guide>
        <p15:guide id="8" orient="horz" pos="1488">
          <p15:clr>
            <a:srgbClr val="FBAE40"/>
          </p15:clr>
        </p15:guide>
        <p15:guide id="9" orient="horz" pos="864">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losing Slide">
    <p:bg>
      <p:bgPr>
        <a:solidFill>
          <a:schemeClr val="accent4"/>
        </a:solidFill>
        <a:effectLst/>
      </p:bgPr>
    </p:bg>
    <p:spTree>
      <p:nvGrpSpPr>
        <p:cNvPr id="1" name=""/>
        <p:cNvGrpSpPr/>
        <p:nvPr/>
      </p:nvGrpSpPr>
      <p:grpSpPr>
        <a:xfrm>
          <a:off x="0" y="0"/>
          <a:ext cx="0" cy="0"/>
          <a:chOff x="0" y="0"/>
          <a:chExt cx="0" cy="0"/>
        </a:xfrm>
      </p:grpSpPr>
      <p:sp>
        <p:nvSpPr>
          <p:cNvPr id="20" name="Black Background">
            <a:extLst>
              <a:ext uri="{FF2B5EF4-FFF2-40B4-BE49-F238E27FC236}">
                <a16:creationId xmlns:a16="http://schemas.microsoft.com/office/drawing/2014/main" id="{EACB2F0C-1C3D-CD48-AD13-7B5AD683F7C7}"/>
              </a:ext>
            </a:extLst>
          </p:cNvPr>
          <p:cNvSpPr/>
          <p:nvPr/>
        </p:nvSpPr>
        <p:spPr>
          <a:xfrm>
            <a:off x="0" y="0"/>
            <a:ext cx="12192000" cy="6858000"/>
          </a:xfrm>
          <a:prstGeom prst="rect">
            <a:avLst/>
          </a:prstGeom>
          <a:solidFill>
            <a:schemeClr val="bg1"/>
          </a:solidFill>
          <a:ln>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800"/>
          </a:p>
        </p:txBody>
      </p:sp>
      <p:sp>
        <p:nvSpPr>
          <p:cNvPr id="2" name="Heading"/>
          <p:cNvSpPr>
            <a:spLocks noGrp="1"/>
          </p:cNvSpPr>
          <p:nvPr>
            <p:ph type="ctrTitle" hasCustomPrompt="1"/>
          </p:nvPr>
        </p:nvSpPr>
        <p:spPr bwMode="blackWhite">
          <a:xfrm>
            <a:off x="2628902" y="1521334"/>
            <a:ext cx="6347458" cy="609398"/>
          </a:xfrm>
          <a:prstGeom prst="rect">
            <a:avLst/>
          </a:prstGeom>
          <a:noFill/>
          <a:ln w="38100">
            <a:noFill/>
          </a:ln>
        </p:spPr>
        <p:txBody>
          <a:bodyPr wrap="square" lIns="0" tIns="0" rIns="0" bIns="0" anchor="t" anchorCtr="0">
            <a:spAutoFit/>
          </a:bodyPr>
          <a:lstStyle>
            <a:lvl1pPr algn="l">
              <a:defRPr sz="4400" b="1" i="1" spc="0" baseline="0">
                <a:solidFill>
                  <a:schemeClr val="tx2"/>
                </a:solidFill>
                <a:latin typeface="Franklin Gothic Book" panose="020B0503020102020204" pitchFamily="34" charset="0"/>
              </a:defRPr>
            </a:lvl1pPr>
          </a:lstStyle>
          <a:p>
            <a:r>
              <a:rPr lang="en-US" dirty="0"/>
              <a:t>Thank You</a:t>
            </a:r>
          </a:p>
        </p:txBody>
      </p:sp>
      <p:sp>
        <p:nvSpPr>
          <p:cNvPr id="16" name="Body Text">
            <a:extLst>
              <a:ext uri="{FF2B5EF4-FFF2-40B4-BE49-F238E27FC236}">
                <a16:creationId xmlns:a16="http://schemas.microsoft.com/office/drawing/2014/main" id="{900775FC-E9E4-FF46-A522-92CC39196093}"/>
              </a:ext>
            </a:extLst>
          </p:cNvPr>
          <p:cNvSpPr>
            <a:spLocks noGrp="1"/>
          </p:cNvSpPr>
          <p:nvPr>
            <p:ph type="body" sz="quarter" idx="14" hasCustomPrompt="1"/>
          </p:nvPr>
        </p:nvSpPr>
        <p:spPr>
          <a:xfrm>
            <a:off x="2628900" y="2548210"/>
            <a:ext cx="6347460" cy="880790"/>
          </a:xfrm>
        </p:spPr>
        <p:txBody>
          <a:bodyPr lIns="0" tIns="0" rIns="0" bIns="0">
            <a:noAutofit/>
          </a:bodyPr>
          <a:lstStyle>
            <a:lvl1pPr marL="0" marR="0" indent="0" algn="l" defTabSz="457200" rtl="0" eaLnBrk="1" fontAlgn="auto" latinLnBrk="0" hangingPunct="1">
              <a:lnSpc>
                <a:spcPct val="100000"/>
              </a:lnSpc>
              <a:spcBef>
                <a:spcPts val="0"/>
              </a:spcBef>
              <a:spcAft>
                <a:spcPts val="0"/>
              </a:spcAft>
              <a:buClrTx/>
              <a:buSzTx/>
              <a:buFontTx/>
              <a:buNone/>
              <a:tabLst/>
              <a:defRPr sz="1600" b="0" i="0" normalizeH="0" baseline="0">
                <a:solidFill>
                  <a:schemeClr val="accent4"/>
                </a:solidFill>
                <a:latin typeface="Franklin Gothic Book" panose="020B0503020102020204" pitchFamily="34" charset="0"/>
              </a:defRPr>
            </a:lvl1pPr>
          </a:lstStyle>
          <a:p>
            <a:pPr lvl="0"/>
            <a:r>
              <a:rPr lang="en-US" dirty="0"/>
              <a:t>Conclusion, call to action or contact information. </a:t>
            </a:r>
          </a:p>
        </p:txBody>
      </p:sp>
      <p:sp>
        <p:nvSpPr>
          <p:cNvPr id="12" name="Date">
            <a:extLst>
              <a:ext uri="{FF2B5EF4-FFF2-40B4-BE49-F238E27FC236}">
                <a16:creationId xmlns:a16="http://schemas.microsoft.com/office/drawing/2014/main" id="{E7D56F3A-D0B6-8A49-81C9-B6A0051C7E73}"/>
              </a:ext>
            </a:extLst>
          </p:cNvPr>
          <p:cNvSpPr>
            <a:spLocks noGrp="1"/>
          </p:cNvSpPr>
          <p:nvPr>
            <p:ph type="dt" sz="half" idx="10"/>
          </p:nvPr>
        </p:nvSpPr>
        <p:spPr>
          <a:xfrm>
            <a:off x="8926248" y="6220740"/>
            <a:ext cx="1021891" cy="323968"/>
          </a:xfrm>
        </p:spPr>
        <p:txBody>
          <a:bodyPr/>
          <a:lstStyle>
            <a:lvl1pPr>
              <a:defRPr>
                <a:solidFill>
                  <a:schemeClr val="accent4">
                    <a:alpha val="70000"/>
                  </a:schemeClr>
                </a:solidFill>
              </a:defRPr>
            </a:lvl1pPr>
          </a:lstStyle>
          <a:p>
            <a:fld id="{D47A9A36-4EB0-BF46-AE48-7CDA251B954B}" type="datetime1">
              <a:rPr lang="en-US" smtClean="0"/>
              <a:pPr/>
              <a:t>11/17/2025</a:t>
            </a:fld>
            <a:endParaRPr lang="en-US" dirty="0"/>
          </a:p>
        </p:txBody>
      </p:sp>
      <p:sp>
        <p:nvSpPr>
          <p:cNvPr id="14" name="Slide Number">
            <a:extLst>
              <a:ext uri="{FF2B5EF4-FFF2-40B4-BE49-F238E27FC236}">
                <a16:creationId xmlns:a16="http://schemas.microsoft.com/office/drawing/2014/main" id="{DED03763-61BB-3343-B3CC-0623CC8EAA03}"/>
              </a:ext>
            </a:extLst>
          </p:cNvPr>
          <p:cNvSpPr>
            <a:spLocks noGrp="1"/>
          </p:cNvSpPr>
          <p:nvPr>
            <p:ph type="sldNum" sz="quarter" idx="12"/>
          </p:nvPr>
        </p:nvSpPr>
        <p:spPr>
          <a:xfrm>
            <a:off x="10096500" y="6200875"/>
            <a:ext cx="487680" cy="365760"/>
          </a:xfrm>
        </p:spPr>
        <p:txBody>
          <a:bodyPr/>
          <a:lstStyle>
            <a:lvl1pPr>
              <a:defRPr>
                <a:solidFill>
                  <a:schemeClr val="accent4"/>
                </a:solidFill>
              </a:defRPr>
            </a:lvl1pPr>
          </a:lstStyle>
          <a:p>
            <a:fld id="{8A7A6979-0714-4377-B894-6BE4C2D6E202}" type="slidenum">
              <a:rPr lang="en-US" smtClean="0"/>
              <a:pPr/>
              <a:t>‹#›</a:t>
            </a:fld>
            <a:endParaRPr lang="en-US" dirty="0"/>
          </a:p>
        </p:txBody>
      </p:sp>
      <p:cxnSp>
        <p:nvCxnSpPr>
          <p:cNvPr id="17" name="Line 1">
            <a:extLst>
              <a:ext uri="{FF2B5EF4-FFF2-40B4-BE49-F238E27FC236}">
                <a16:creationId xmlns:a16="http://schemas.microsoft.com/office/drawing/2014/main" id="{9B9CC658-FCDB-754D-83A8-E72E62847F53}"/>
              </a:ext>
            </a:extLst>
          </p:cNvPr>
          <p:cNvCxnSpPr/>
          <p:nvPr userDrawn="1"/>
        </p:nvCxnSpPr>
        <p:spPr>
          <a:xfrm>
            <a:off x="1281648" y="5789"/>
            <a:ext cx="0" cy="6464461"/>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19" name="Line 2">
            <a:extLst>
              <a:ext uri="{FF2B5EF4-FFF2-40B4-BE49-F238E27FC236}">
                <a16:creationId xmlns:a16="http://schemas.microsoft.com/office/drawing/2014/main" id="{52700362-C315-8A41-8A37-D1C4D5A0E238}"/>
              </a:ext>
            </a:extLst>
          </p:cNvPr>
          <p:cNvCxnSpPr>
            <a:cxnSpLocks/>
          </p:cNvCxnSpPr>
          <p:nvPr userDrawn="1"/>
        </p:nvCxnSpPr>
        <p:spPr>
          <a:xfrm>
            <a:off x="8724900" y="5735256"/>
            <a:ext cx="0" cy="112274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cxnSp>
        <p:nvCxnSpPr>
          <p:cNvPr id="21" name="Line 3">
            <a:extLst>
              <a:ext uri="{FF2B5EF4-FFF2-40B4-BE49-F238E27FC236}">
                <a16:creationId xmlns:a16="http://schemas.microsoft.com/office/drawing/2014/main" id="{14A431DC-9C67-D94C-982A-8D0C2E3D10D8}"/>
              </a:ext>
            </a:extLst>
          </p:cNvPr>
          <p:cNvCxnSpPr>
            <a:cxnSpLocks/>
          </p:cNvCxnSpPr>
          <p:nvPr userDrawn="1"/>
        </p:nvCxnSpPr>
        <p:spPr>
          <a:xfrm>
            <a:off x="10880901" y="1597306"/>
            <a:ext cx="0" cy="5260694"/>
          </a:xfrm>
          <a:prstGeom prst="line">
            <a:avLst/>
          </a:prstGeom>
          <a:ln w="12700">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0" name="Purdue CoBrand">
            <a:extLst>
              <a:ext uri="{FF2B5EF4-FFF2-40B4-BE49-F238E27FC236}">
                <a16:creationId xmlns:a16="http://schemas.microsoft.com/office/drawing/2014/main" id="{176AE897-D878-964C-8095-7884DE87DB08}"/>
              </a:ext>
            </a:extLst>
          </p:cNvPr>
          <p:cNvPicPr>
            <a:picLocks noChangeAspect="1"/>
          </p:cNvPicPr>
          <p:nvPr userDrawn="1"/>
        </p:nvPicPr>
        <p:blipFill>
          <a:blip r:embed="rId2"/>
          <a:srcRect/>
          <a:stretch/>
        </p:blipFill>
        <p:spPr>
          <a:xfrm>
            <a:off x="1830461" y="5987081"/>
            <a:ext cx="4206868" cy="449363"/>
          </a:xfrm>
          <a:prstGeom prst="rect">
            <a:avLst/>
          </a:prstGeom>
        </p:spPr>
      </p:pic>
    </p:spTree>
    <p:extLst>
      <p:ext uri="{BB962C8B-B14F-4D97-AF65-F5344CB8AC3E}">
        <p14:creationId xmlns:p14="http://schemas.microsoft.com/office/powerpoint/2010/main" val="69532377"/>
      </p:ext>
    </p:extLst>
  </p:cSld>
  <p:clrMapOvr>
    <a:overrideClrMapping bg1="dk1" tx1="lt1" bg2="dk2" tx2="lt2" accent1="accent1" accent2="accent2" accent3="accent3" accent4="accent4" accent5="accent5" accent6="accent6" hlink="hlink" folHlink="folHlink"/>
  </p:clrMapOvr>
  <p:extLst>
    <p:ext uri="{DCECCB84-F9BA-43D5-87BE-67443E8EF086}">
      <p15:sldGuideLst xmlns:p15="http://schemas.microsoft.com/office/powerpoint/2012/main">
        <p15:guide id="1" orient="horz" pos="2160">
          <p15:clr>
            <a:srgbClr val="FBAE40"/>
          </p15:clr>
        </p15:guide>
        <p15:guide id="2" pos="3840">
          <p15:clr>
            <a:srgbClr val="FBAE40"/>
          </p15:clr>
        </p15:guide>
        <p15:guide id="3" orient="horz" pos="3960">
          <p15:clr>
            <a:srgbClr val="FBAE40"/>
          </p15:clr>
        </p15:guide>
        <p15:guide id="4" pos="5952">
          <p15:clr>
            <a:srgbClr val="FBAE40"/>
          </p15:clr>
        </p15:guide>
        <p15:guide id="5" pos="6848">
          <p15:clr>
            <a:srgbClr val="FBAE40"/>
          </p15:clr>
        </p15:guide>
        <p15:guide id="6" orient="horz" pos="4080">
          <p15:clr>
            <a:srgbClr val="FBAE40"/>
          </p15:clr>
        </p15:guide>
        <p15:guide id="7" pos="1656">
          <p15:clr>
            <a:srgbClr val="FBAE40"/>
          </p15:clr>
        </p15:guide>
      </p15:sldGuideLst>
    </p:ext>
  </p:extLst>
</p:sldLayout>
</file>

<file path=ppt/slideMasters/_rels/slideMaster1.xml.rels><?xml version="1.0" encoding="UTF-8" standalone="yes"?>
<Relationships xmlns="http://schemas.openxmlformats.org/package/2006/relationships"><Relationship Id="rId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4"/>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bwMode="black">
          <a:xfrm>
            <a:off x="2141394" y="964692"/>
            <a:ext cx="7917007" cy="1188720"/>
          </a:xfrm>
          <a:prstGeom prst="rect">
            <a:avLst/>
          </a:prstGeom>
          <a:solidFill>
            <a:srgbClr val="FFFFFF"/>
          </a:solidFill>
          <a:ln w="31750" cap="sq">
            <a:solidFill>
              <a:srgbClr val="404040"/>
            </a:solidFill>
            <a:miter lim="800000"/>
          </a:ln>
        </p:spPr>
        <p:txBody>
          <a:bodyPr vert="horz" lIns="182880" tIns="182880" rIns="182880" bIns="18288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2141394" y="2638046"/>
            <a:ext cx="7917007" cy="310198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744769" y="6227670"/>
            <a:ext cx="1161231" cy="323968"/>
          </a:xfrm>
          <a:prstGeom prst="rect">
            <a:avLst/>
          </a:prstGeom>
        </p:spPr>
        <p:txBody>
          <a:bodyPr vert="horz" lIns="91440" tIns="45720" rIns="91440" bIns="45720" rtlCol="0" anchor="ctr"/>
          <a:lstStyle>
            <a:lvl1pPr algn="r">
              <a:defRPr sz="1000" b="0" i="0" baseline="0">
                <a:solidFill>
                  <a:schemeClr val="tx1">
                    <a:alpha val="70000"/>
                  </a:schemeClr>
                </a:solidFill>
                <a:latin typeface="Franklin Gothic Book" panose="020B0503020102020204" pitchFamily="34" charset="0"/>
              </a:defRPr>
            </a:lvl1pPr>
          </a:lstStyle>
          <a:p>
            <a:fld id="{E0C8DACD-4E35-4E4C-AC75-C3DE50F04E7E}" type="datetime1">
              <a:rPr lang="en-US" smtClean="0"/>
              <a:pPr/>
              <a:t>11/17/2025</a:t>
            </a:fld>
            <a:endParaRPr lang="en-US" dirty="0"/>
          </a:p>
        </p:txBody>
      </p:sp>
      <p:sp>
        <p:nvSpPr>
          <p:cNvPr id="6" name="Slide Number Placeholder 5"/>
          <p:cNvSpPr>
            <a:spLocks noGrp="1"/>
          </p:cNvSpPr>
          <p:nvPr>
            <p:ph type="sldNum" sz="quarter" idx="4"/>
          </p:nvPr>
        </p:nvSpPr>
        <p:spPr>
          <a:xfrm>
            <a:off x="10096500" y="6200875"/>
            <a:ext cx="487680" cy="365760"/>
          </a:xfrm>
          <a:prstGeom prst="ellipse">
            <a:avLst/>
          </a:prstGeom>
          <a:noFill/>
        </p:spPr>
        <p:txBody>
          <a:bodyPr vert="horz" lIns="18288" tIns="45720" rIns="18288" bIns="45720" rtlCol="0" anchor="ctr">
            <a:noAutofit/>
          </a:bodyPr>
          <a:lstStyle>
            <a:lvl1pPr algn="ctr">
              <a:defRPr sz="1000" b="1" i="0" spc="0" baseline="0">
                <a:solidFill>
                  <a:schemeClr val="tx1"/>
                </a:solidFill>
                <a:latin typeface="Franklin Gothic Book" panose="020B0503020102020204" pitchFamily="34" charset="0"/>
              </a:defRPr>
            </a:lvl1pPr>
          </a:lstStyle>
          <a:p>
            <a:fld id="{8A7A6979-0714-4377-B894-6BE4C2D6E202}" type="slidenum">
              <a:rPr lang="en-US" smtClean="0"/>
              <a:pPr/>
              <a:t>‹#›</a:t>
            </a:fld>
            <a:endParaRPr lang="en-US" dirty="0"/>
          </a:p>
        </p:txBody>
      </p:sp>
      <p:sp>
        <p:nvSpPr>
          <p:cNvPr id="7" name="Footer Placeholder 4">
            <a:extLst>
              <a:ext uri="{FF2B5EF4-FFF2-40B4-BE49-F238E27FC236}">
                <a16:creationId xmlns:a16="http://schemas.microsoft.com/office/drawing/2014/main" id="{F51272EC-C1E6-1240-AF69-43B2679C2CD3}"/>
              </a:ext>
            </a:extLst>
          </p:cNvPr>
          <p:cNvSpPr>
            <a:spLocks noGrp="1"/>
          </p:cNvSpPr>
          <p:nvPr>
            <p:ph type="ftr" sz="quarter" idx="3"/>
          </p:nvPr>
        </p:nvSpPr>
        <p:spPr>
          <a:xfrm>
            <a:off x="1137845" y="6219163"/>
            <a:ext cx="6075552" cy="320040"/>
          </a:xfrm>
          <a:prstGeom prst="rect">
            <a:avLst/>
          </a:prstGeom>
        </p:spPr>
        <p:txBody>
          <a:bodyPr vert="horz" lIns="91440" tIns="45720" rIns="91440" bIns="45720" rtlCol="0" anchor="ctr"/>
          <a:lstStyle>
            <a:lvl1pPr algn="l">
              <a:defRPr sz="1000">
                <a:solidFill>
                  <a:schemeClr val="tx1">
                    <a:alpha val="70000"/>
                  </a:schemeClr>
                </a:solidFill>
              </a:defRPr>
            </a:lvl1pPr>
          </a:lstStyle>
          <a:p>
            <a:endParaRPr lang="en-US" dirty="0"/>
          </a:p>
        </p:txBody>
      </p:sp>
    </p:spTree>
    <p:extLst>
      <p:ext uri="{BB962C8B-B14F-4D97-AF65-F5344CB8AC3E}">
        <p14:creationId xmlns:p14="http://schemas.microsoft.com/office/powerpoint/2010/main" val="3595336832"/>
      </p:ext>
    </p:extLst>
  </p:cSld>
  <p:clrMap bg1="lt1" tx1="dk1" bg2="lt2" tx2="dk2" accent1="accent1" accent2="accent2" accent3="accent3" accent4="accent4" accent5="accent5" accent6="accent6" hlink="hlink" folHlink="folHlink"/>
  <p:sldLayoutIdLst>
    <p:sldLayoutId id="2147483725" r:id="rId1"/>
    <p:sldLayoutId id="2147483709" r:id="rId2"/>
    <p:sldLayoutId id="2147483720" r:id="rId3"/>
    <p:sldLayoutId id="2147483721" r:id="rId4"/>
    <p:sldLayoutId id="2147483722" r:id="rId5"/>
    <p:sldLayoutId id="2147483723" r:id="rId6"/>
    <p:sldLayoutId id="2147483724" r:id="rId7"/>
  </p:sldLayoutIdLst>
  <p:hf hdr="0" ftr="0"/>
  <p:txStyles>
    <p:titleStyle>
      <a:lvl1pPr algn="ctr" defTabSz="914400" rtl="0" eaLnBrk="1" latinLnBrk="0" hangingPunct="1">
        <a:lnSpc>
          <a:spcPct val="90000"/>
        </a:lnSpc>
        <a:spcBef>
          <a:spcPct val="0"/>
        </a:spcBef>
        <a:buNone/>
        <a:defRPr sz="2600" b="1" i="0" kern="1200" cap="all" spc="200" baseline="0">
          <a:solidFill>
            <a:srgbClr val="262626"/>
          </a:solidFill>
          <a:latin typeface="Franklin Gothic Book" panose="020B0503020102020204" pitchFamily="34" charset="0"/>
          <a:ea typeface="+mj-ea"/>
          <a:cs typeface="+mj-cs"/>
        </a:defRPr>
      </a:lvl1pPr>
    </p:titleStyle>
    <p:bodyStyle>
      <a:lvl1pPr marL="2286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1pPr>
      <a:lvl2pPr marL="4572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2pPr>
      <a:lvl3pPr marL="685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3pPr>
      <a:lvl4pPr marL="9144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4pPr>
      <a:lvl5pPr marL="11430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lumMod val="85000"/>
              <a:lumOff val="15000"/>
            </a:schemeClr>
          </a:solidFill>
          <a:latin typeface="Franklin Gothic Book" panose="020B0503020102020204" pitchFamily="34" charset="0"/>
          <a:ea typeface="+mn-ea"/>
          <a:cs typeface="+mn-cs"/>
        </a:defRPr>
      </a:lvl5pPr>
      <a:lvl6pPr marL="13144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6pPr>
      <a:lvl7pPr marL="14859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a:solidFill>
            <a:schemeClr val="tx1"/>
          </a:solidFill>
          <a:latin typeface="+mn-lt"/>
          <a:ea typeface="+mn-ea"/>
          <a:cs typeface="+mn-cs"/>
        </a:defRPr>
      </a:lvl7pPr>
      <a:lvl8pPr marL="165735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8pPr>
      <a:lvl9pPr marL="1828800" indent="-228600" algn="l" defTabSz="914400" rtl="0" eaLnBrk="1" latinLnBrk="0" hangingPunct="1">
        <a:lnSpc>
          <a:spcPct val="100000"/>
        </a:lnSpc>
        <a:spcBef>
          <a:spcPts val="1000"/>
        </a:spcBef>
        <a:buClr>
          <a:schemeClr val="accent2"/>
        </a:buClr>
        <a:buFont typeface="Arial" panose="020B0604020202020204" pitchFamily="34" charset="0"/>
        <a:buChar char="•"/>
        <a:defRPr sz="1600" kern="1200" baseline="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2160">
          <p15:clr>
            <a:srgbClr val="F26B43"/>
          </p15:clr>
        </p15:guide>
        <p15:guide id="2" pos="3840">
          <p15:clr>
            <a:srgbClr val="F26B43"/>
          </p15:clr>
        </p15:guide>
        <p15:guide id="3" orient="horz" pos="4056">
          <p15:clr>
            <a:srgbClr val="F26B43"/>
          </p15:clr>
        </p15:guide>
        <p15:guide id="4" pos="6240">
          <p15:clr>
            <a:srgbClr val="F26B43"/>
          </p15:clr>
        </p15:guide>
        <p15:guide id="5" pos="6360">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2.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24.xml"/><Relationship Id="rId1" Type="http://schemas.openxmlformats.org/officeDocument/2006/relationships/slideLayout" Target="../slideLayouts/slideLayout3.xml"/><Relationship Id="rId5" Type="http://schemas.openxmlformats.org/officeDocument/2006/relationships/image" Target="../media/image90.png"/><Relationship Id="rId4" Type="http://schemas.openxmlformats.org/officeDocument/2006/relationships/image" Target="../media/image11.png"/></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3.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3.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3.xml"/></Relationships>
</file>

<file path=ppt/slides/_rels/slide31.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30.xml"/><Relationship Id="rId1" Type="http://schemas.openxmlformats.org/officeDocument/2006/relationships/slideLayout" Target="../slideLayouts/slideLayout3.xml"/></Relationships>
</file>

<file path=ppt/slides/_rels/slide3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31.xml"/><Relationship Id="rId1" Type="http://schemas.openxmlformats.org/officeDocument/2006/relationships/slideLayout" Target="../slideLayouts/slideLayout3.xml"/></Relationships>
</file>

<file path=ppt/slides/_rels/slide3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32.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3.xml"/><Relationship Id="rId1" Type="http://schemas.openxmlformats.org/officeDocument/2006/relationships/slideLayout" Target="../slideLayouts/slideLayout3.xml"/></Relationships>
</file>

<file path=ppt/slides/_rels/slide3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34.xml"/><Relationship Id="rId1" Type="http://schemas.openxmlformats.org/officeDocument/2006/relationships/slideLayout" Target="../slideLayouts/slideLayout3.xml"/><Relationship Id="rId4" Type="http://schemas.openxmlformats.org/officeDocument/2006/relationships/image" Target="../media/image16.png"/></Relationships>
</file>

<file path=ppt/slides/_rels/slide36.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35.xml"/><Relationship Id="rId1" Type="http://schemas.openxmlformats.org/officeDocument/2006/relationships/slideLayout" Target="../slideLayouts/slideLayout3.xml"/></Relationships>
</file>

<file path=ppt/slides/_rels/slide37.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36.xml"/><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39.xml"/><Relationship Id="rId1" Type="http://schemas.openxmlformats.org/officeDocument/2006/relationships/slideLayout" Target="../slideLayouts/slideLayout3.xml"/></Relationships>
</file>

<file path=ppt/slides/_rels/slide41.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40.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1.xml"/><Relationship Id="rId1" Type="http://schemas.openxmlformats.org/officeDocument/2006/relationships/slideLayout" Target="../slideLayouts/slideLayout3.xml"/></Relationships>
</file>

<file path=ppt/slides/_rels/slide43.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42.xml"/><Relationship Id="rId1" Type="http://schemas.openxmlformats.org/officeDocument/2006/relationships/slideLayout" Target="../slideLayouts/slideLayout3.xml"/></Relationships>
</file>

<file path=ppt/slides/_rels/slide44.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43.xml"/><Relationship Id="rId1" Type="http://schemas.openxmlformats.org/officeDocument/2006/relationships/slideLayout" Target="../slideLayouts/slideLayout3.xml"/><Relationship Id="rId4" Type="http://schemas.openxmlformats.org/officeDocument/2006/relationships/image" Target="../media/image20.png"/></Relationships>
</file>

<file path=ppt/slides/_rels/slide45.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44.xml"/><Relationship Id="rId1" Type="http://schemas.openxmlformats.org/officeDocument/2006/relationships/slideLayout" Target="../slideLayouts/slideLayout3.xml"/></Relationships>
</file>

<file path=ppt/slides/_rels/slide46.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4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46.xml"/><Relationship Id="rId1" Type="http://schemas.openxmlformats.org/officeDocument/2006/relationships/slideLayout" Target="../slideLayouts/slideLayout3.xml"/></Relationships>
</file>

<file path=ppt/slides/_rels/slide48.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47.xml"/><Relationship Id="rId1" Type="http://schemas.openxmlformats.org/officeDocument/2006/relationships/slideLayout" Target="../slideLayouts/slideLayout3.xml"/><Relationship Id="rId5" Type="http://schemas.openxmlformats.org/officeDocument/2006/relationships/image" Target="../media/image27.png"/><Relationship Id="rId4" Type="http://schemas.openxmlformats.org/officeDocument/2006/relationships/image" Target="../media/image26.png"/></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a:extLst>
              <a:ext uri="{FF2B5EF4-FFF2-40B4-BE49-F238E27FC236}">
                <a16:creationId xmlns:a16="http://schemas.microsoft.com/office/drawing/2014/main" id="{54EA7F14-B9DE-164B-9F38-47D5668D2586}"/>
              </a:ext>
            </a:extLst>
          </p:cNvPr>
          <p:cNvSpPr>
            <a:spLocks noGrp="1"/>
          </p:cNvSpPr>
          <p:nvPr>
            <p:ph type="ctrTitle"/>
          </p:nvPr>
        </p:nvSpPr>
        <p:spPr>
          <a:xfrm>
            <a:off x="2647198" y="1501742"/>
            <a:ext cx="7547389" cy="664797"/>
          </a:xfrm>
        </p:spPr>
        <p:txBody>
          <a:bodyPr/>
          <a:lstStyle/>
          <a:p>
            <a:r>
              <a:rPr lang="en-US" sz="4800" b="0" dirty="0">
                <a:latin typeface="Franklin Gothic Medium" panose="020B0603020102020204" pitchFamily="34" charset="0"/>
              </a:rPr>
              <a:t>Digital product design</a:t>
            </a:r>
          </a:p>
        </p:txBody>
      </p:sp>
      <p:sp>
        <p:nvSpPr>
          <p:cNvPr id="3" name="Subtitle">
            <a:extLst>
              <a:ext uri="{FF2B5EF4-FFF2-40B4-BE49-F238E27FC236}">
                <a16:creationId xmlns:a16="http://schemas.microsoft.com/office/drawing/2014/main" id="{25E23969-B503-C04E-9B40-020A6AB945EA}"/>
              </a:ext>
            </a:extLst>
          </p:cNvPr>
          <p:cNvSpPr>
            <a:spLocks noGrp="1"/>
          </p:cNvSpPr>
          <p:nvPr>
            <p:ph type="subTitle" idx="1"/>
          </p:nvPr>
        </p:nvSpPr>
        <p:spPr>
          <a:xfrm>
            <a:off x="2647198" y="2909686"/>
            <a:ext cx="6801603" cy="1272143"/>
          </a:xfrm>
        </p:spPr>
        <p:txBody>
          <a:bodyPr/>
          <a:lstStyle/>
          <a:p>
            <a:r>
              <a:rPr lang="en-US" b="0">
                <a:latin typeface="Franklin Gothic Medium" panose="020B0603020102020204" pitchFamily="34" charset="0"/>
              </a:rPr>
              <a:t>Lecture 6: </a:t>
            </a:r>
            <a:r>
              <a:rPr lang="en-US" b="0" dirty="0">
                <a:latin typeface="Franklin Gothic Medium" panose="020B0603020102020204" pitchFamily="34" charset="0"/>
              </a:rPr>
              <a:t>Platforms and Network Effects</a:t>
            </a:r>
          </a:p>
          <a:p>
            <a:endParaRPr lang="en-US" b="0" dirty="0">
              <a:latin typeface="Franklin Gothic Medium" panose="020B0603020102020204" pitchFamily="34" charset="0"/>
            </a:endParaRPr>
          </a:p>
          <a:p>
            <a:r>
              <a:rPr lang="en-US" b="0" dirty="0">
                <a:latin typeface="Franklin Gothic Medium" panose="020B0603020102020204" pitchFamily="34" charset="0"/>
              </a:rPr>
              <a:t>Alex Moehring</a:t>
            </a:r>
          </a:p>
        </p:txBody>
      </p:sp>
      <p:sp>
        <p:nvSpPr>
          <p:cNvPr id="4" name="Date">
            <a:extLst>
              <a:ext uri="{FF2B5EF4-FFF2-40B4-BE49-F238E27FC236}">
                <a16:creationId xmlns:a16="http://schemas.microsoft.com/office/drawing/2014/main" id="{7488F1B0-19AE-FE4B-A8CD-0F44AB281CC5}"/>
              </a:ext>
            </a:extLst>
          </p:cNvPr>
          <p:cNvSpPr>
            <a:spLocks noGrp="1"/>
          </p:cNvSpPr>
          <p:nvPr>
            <p:ph type="dt" sz="half" idx="10"/>
          </p:nvPr>
        </p:nvSpPr>
        <p:spPr/>
        <p:txBody>
          <a:bodyPr/>
          <a:lstStyle/>
          <a:p>
            <a:fld id="{D47A9A36-4EB0-BF46-AE48-7CDA251B954B}" type="datetime1">
              <a:rPr lang="en-US" smtClean="0"/>
              <a:pPr/>
              <a:t>11/17/2025</a:t>
            </a:fld>
            <a:endParaRPr lang="en-US" dirty="0"/>
          </a:p>
        </p:txBody>
      </p:sp>
      <p:sp>
        <p:nvSpPr>
          <p:cNvPr id="5" name="Slide Number">
            <a:extLst>
              <a:ext uri="{FF2B5EF4-FFF2-40B4-BE49-F238E27FC236}">
                <a16:creationId xmlns:a16="http://schemas.microsoft.com/office/drawing/2014/main" id="{FFCAA48C-2045-8749-8754-B722B9DB8A5C}"/>
              </a:ext>
            </a:extLst>
          </p:cNvPr>
          <p:cNvSpPr>
            <a:spLocks noGrp="1"/>
          </p:cNvSpPr>
          <p:nvPr>
            <p:ph type="sldNum" sz="quarter" idx="12"/>
          </p:nvPr>
        </p:nvSpPr>
        <p:spPr/>
        <p:txBody>
          <a:bodyPr/>
          <a:lstStyle/>
          <a:p>
            <a:fld id="{8A7A6979-0714-4377-B894-6BE4C2D6E202}" type="slidenum">
              <a:rPr lang="en-US" smtClean="0"/>
              <a:pPr/>
              <a:t>1</a:t>
            </a:fld>
            <a:endParaRPr lang="en-US" dirty="0"/>
          </a:p>
        </p:txBody>
      </p:sp>
    </p:spTree>
    <p:extLst>
      <p:ext uri="{BB962C8B-B14F-4D97-AF65-F5344CB8AC3E}">
        <p14:creationId xmlns:p14="http://schemas.microsoft.com/office/powerpoint/2010/main" val="2708108178"/>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AFA91BE-3DE0-9C3F-087A-F7CD1F0CA4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7EE36B4-877D-B8E5-24E0-43CDC4222E46}"/>
              </a:ext>
            </a:extLst>
          </p:cNvPr>
          <p:cNvSpPr>
            <a:spLocks noGrp="1"/>
          </p:cNvSpPr>
          <p:nvPr>
            <p:ph type="ctrTitle"/>
          </p:nvPr>
        </p:nvSpPr>
        <p:spPr/>
        <p:txBody>
          <a:bodyPr/>
          <a:lstStyle/>
          <a:p>
            <a:r>
              <a:rPr lang="en-US" dirty="0"/>
              <a:t>Outline</a:t>
            </a:r>
          </a:p>
        </p:txBody>
      </p:sp>
      <p:sp>
        <p:nvSpPr>
          <p:cNvPr id="4" name="Text Placeholder 3">
            <a:extLst>
              <a:ext uri="{FF2B5EF4-FFF2-40B4-BE49-F238E27FC236}">
                <a16:creationId xmlns:a16="http://schemas.microsoft.com/office/drawing/2014/main" id="{54175B53-6506-346E-2A89-AD221024D778}"/>
              </a:ext>
            </a:extLst>
          </p:cNvPr>
          <p:cNvSpPr>
            <a:spLocks noGrp="1"/>
          </p:cNvSpPr>
          <p:nvPr>
            <p:ph type="body" sz="quarter" idx="14"/>
          </p:nvPr>
        </p:nvSpPr>
        <p:spPr>
          <a:xfrm>
            <a:off x="1828800" y="1917389"/>
            <a:ext cx="8755380" cy="3411537"/>
          </a:xfrm>
        </p:spPr>
        <p:txBody>
          <a:bodyPr>
            <a:normAutofit/>
          </a:bodyPr>
          <a:lstStyle/>
          <a:p>
            <a:r>
              <a:rPr lang="en-US" sz="2400" dirty="0"/>
              <a:t>Pricing Review</a:t>
            </a:r>
          </a:p>
          <a:p>
            <a:endParaRPr lang="en-US" sz="2400" dirty="0"/>
          </a:p>
          <a:p>
            <a:r>
              <a:rPr lang="en-US" sz="2400" dirty="0"/>
              <a:t>Network Effects</a:t>
            </a:r>
          </a:p>
          <a:p>
            <a:endParaRPr lang="en-US" sz="2400" dirty="0"/>
          </a:p>
          <a:p>
            <a:r>
              <a:rPr lang="en-US" sz="2400" dirty="0"/>
              <a:t>Platform Strategy – Launch</a:t>
            </a:r>
          </a:p>
          <a:p>
            <a:endParaRPr lang="en-US" sz="2400" dirty="0"/>
          </a:p>
          <a:p>
            <a:r>
              <a:rPr lang="en-US" sz="2400" dirty="0"/>
              <a:t>Platform Strategy – Monetization</a:t>
            </a:r>
          </a:p>
          <a:p>
            <a:pPr marL="0" indent="0">
              <a:buNone/>
            </a:pPr>
            <a:endParaRPr lang="en-US" sz="2400" dirty="0"/>
          </a:p>
        </p:txBody>
      </p:sp>
      <p:sp>
        <p:nvSpPr>
          <p:cNvPr id="5" name="Date Placeholder 4">
            <a:extLst>
              <a:ext uri="{FF2B5EF4-FFF2-40B4-BE49-F238E27FC236}">
                <a16:creationId xmlns:a16="http://schemas.microsoft.com/office/drawing/2014/main" id="{94C16404-2372-0160-B1E4-0FA07F17C405}"/>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1DB0BF96-FB46-5497-7F47-0719B43099D5}"/>
              </a:ext>
            </a:extLst>
          </p:cNvPr>
          <p:cNvSpPr>
            <a:spLocks noGrp="1"/>
          </p:cNvSpPr>
          <p:nvPr>
            <p:ph type="sldNum" sz="quarter" idx="12"/>
          </p:nvPr>
        </p:nvSpPr>
        <p:spPr/>
        <p:txBody>
          <a:bodyPr/>
          <a:lstStyle/>
          <a:p>
            <a:fld id="{8A7A6979-0714-4377-B894-6BE4C2D6E202}" type="slidenum">
              <a:rPr lang="en-US" smtClean="0"/>
              <a:pPr/>
              <a:t>2</a:t>
            </a:fld>
            <a:endParaRPr lang="en-US" dirty="0"/>
          </a:p>
        </p:txBody>
      </p:sp>
    </p:spTree>
    <p:extLst>
      <p:ext uri="{BB962C8B-B14F-4D97-AF65-F5344CB8AC3E}">
        <p14:creationId xmlns:p14="http://schemas.microsoft.com/office/powerpoint/2010/main" val="10581821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513637-DDAF-F6AE-13CB-A978FE00A02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56BB2C5-B4D5-20F5-8F82-D6278D2BBA4C}"/>
              </a:ext>
            </a:extLst>
          </p:cNvPr>
          <p:cNvSpPr>
            <a:spLocks noGrp="1"/>
          </p:cNvSpPr>
          <p:nvPr>
            <p:ph type="ctrTitle"/>
          </p:nvPr>
        </p:nvSpPr>
        <p:spPr>
          <a:xfrm>
            <a:off x="2647199" y="1501742"/>
            <a:ext cx="7300940" cy="664797"/>
          </a:xfrm>
        </p:spPr>
        <p:txBody>
          <a:bodyPr/>
          <a:lstStyle/>
          <a:p>
            <a:r>
              <a:rPr lang="en-US" dirty="0"/>
              <a:t>Pricing Review</a:t>
            </a:r>
          </a:p>
        </p:txBody>
      </p:sp>
      <p:sp>
        <p:nvSpPr>
          <p:cNvPr id="4" name="Date Placeholder 3">
            <a:extLst>
              <a:ext uri="{FF2B5EF4-FFF2-40B4-BE49-F238E27FC236}">
                <a16:creationId xmlns:a16="http://schemas.microsoft.com/office/drawing/2014/main" id="{6996589E-1CF7-5F95-AE0F-42E39FBD703F}"/>
              </a:ext>
            </a:extLst>
          </p:cNvPr>
          <p:cNvSpPr>
            <a:spLocks noGrp="1"/>
          </p:cNvSpPr>
          <p:nvPr>
            <p:ph type="dt" sz="half" idx="10"/>
          </p:nvPr>
        </p:nvSpPr>
        <p:spPr/>
        <p:txBody>
          <a:bodyPr/>
          <a:lstStyle/>
          <a:p>
            <a:fld id="{D47A9A36-4EB0-BF46-AE48-7CDA251B954B}" type="datetime1">
              <a:rPr lang="en-US" smtClean="0"/>
              <a:pPr/>
              <a:t>11/17/2025</a:t>
            </a:fld>
            <a:endParaRPr lang="en-US" dirty="0"/>
          </a:p>
        </p:txBody>
      </p:sp>
      <p:sp>
        <p:nvSpPr>
          <p:cNvPr id="5" name="Slide Number Placeholder 4">
            <a:extLst>
              <a:ext uri="{FF2B5EF4-FFF2-40B4-BE49-F238E27FC236}">
                <a16:creationId xmlns:a16="http://schemas.microsoft.com/office/drawing/2014/main" id="{2EEA834E-A062-9BC8-EBA8-D99445F99354}"/>
              </a:ext>
            </a:extLst>
          </p:cNvPr>
          <p:cNvSpPr>
            <a:spLocks noGrp="1"/>
          </p:cNvSpPr>
          <p:nvPr>
            <p:ph type="sldNum" sz="quarter" idx="12"/>
          </p:nvPr>
        </p:nvSpPr>
        <p:spPr/>
        <p:txBody>
          <a:bodyPr/>
          <a:lstStyle/>
          <a:p>
            <a:fld id="{8A7A6979-0714-4377-B894-6BE4C2D6E202}" type="slidenum">
              <a:rPr lang="en-US" smtClean="0"/>
              <a:pPr/>
              <a:t>3</a:t>
            </a:fld>
            <a:endParaRPr lang="en-US" dirty="0"/>
          </a:p>
        </p:txBody>
      </p:sp>
    </p:spTree>
    <p:extLst>
      <p:ext uri="{BB962C8B-B14F-4D97-AF65-F5344CB8AC3E}">
        <p14:creationId xmlns:p14="http://schemas.microsoft.com/office/powerpoint/2010/main" val="36175890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D8BDAF-162F-F9EB-1353-F437E4C983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2FAC0C9-5BB0-3D6B-0F14-7A8549A4441E}"/>
              </a:ext>
            </a:extLst>
          </p:cNvPr>
          <p:cNvSpPr>
            <a:spLocks noGrp="1"/>
          </p:cNvSpPr>
          <p:nvPr>
            <p:ph type="ctrTitle"/>
          </p:nvPr>
        </p:nvSpPr>
        <p:spPr/>
        <p:txBody>
          <a:bodyPr/>
          <a:lstStyle/>
          <a:p>
            <a:r>
              <a:rPr lang="en-US" dirty="0"/>
              <a:t>Pricing Strategies</a:t>
            </a:r>
          </a:p>
        </p:txBody>
      </p:sp>
      <p:sp>
        <p:nvSpPr>
          <p:cNvPr id="4" name="Text Placeholder 3">
            <a:extLst>
              <a:ext uri="{FF2B5EF4-FFF2-40B4-BE49-F238E27FC236}">
                <a16:creationId xmlns:a16="http://schemas.microsoft.com/office/drawing/2014/main" id="{42AB2B0D-3330-B58D-08F7-214D6B6C58C0}"/>
              </a:ext>
            </a:extLst>
          </p:cNvPr>
          <p:cNvSpPr>
            <a:spLocks noGrp="1"/>
          </p:cNvSpPr>
          <p:nvPr>
            <p:ph type="body" sz="quarter" idx="14"/>
          </p:nvPr>
        </p:nvSpPr>
        <p:spPr>
          <a:xfrm>
            <a:off x="1828800" y="1917389"/>
            <a:ext cx="8755380" cy="3411537"/>
          </a:xfrm>
        </p:spPr>
        <p:txBody>
          <a:bodyPr>
            <a:normAutofit/>
          </a:bodyPr>
          <a:lstStyle/>
          <a:p>
            <a:r>
              <a:rPr lang="en-US" sz="2400" dirty="0"/>
              <a:t>Cost-based pricing – Bad</a:t>
            </a:r>
          </a:p>
          <a:p>
            <a:r>
              <a:rPr lang="en-US" sz="2400" dirty="0"/>
              <a:t>Competition-based pricing – Bad</a:t>
            </a:r>
          </a:p>
          <a:p>
            <a:r>
              <a:rPr lang="en-US" sz="2400" dirty="0"/>
              <a:t>Customer-based pricing – Bad</a:t>
            </a:r>
          </a:p>
          <a:p>
            <a:endParaRPr lang="en-US" sz="2400" dirty="0"/>
          </a:p>
          <a:p>
            <a:r>
              <a:rPr lang="en-US" sz="2400" dirty="0"/>
              <a:t>Value based pricing – Good</a:t>
            </a:r>
          </a:p>
        </p:txBody>
      </p:sp>
      <p:sp>
        <p:nvSpPr>
          <p:cNvPr id="5" name="Date Placeholder 4">
            <a:extLst>
              <a:ext uri="{FF2B5EF4-FFF2-40B4-BE49-F238E27FC236}">
                <a16:creationId xmlns:a16="http://schemas.microsoft.com/office/drawing/2014/main" id="{C6812ECE-3E83-3F14-B9C0-3A563F378F41}"/>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440DF338-62CE-DB7C-AEA0-559743622A65}"/>
              </a:ext>
            </a:extLst>
          </p:cNvPr>
          <p:cNvSpPr>
            <a:spLocks noGrp="1"/>
          </p:cNvSpPr>
          <p:nvPr>
            <p:ph type="sldNum" sz="quarter" idx="12"/>
          </p:nvPr>
        </p:nvSpPr>
        <p:spPr/>
        <p:txBody>
          <a:bodyPr/>
          <a:lstStyle/>
          <a:p>
            <a:fld id="{8A7A6979-0714-4377-B894-6BE4C2D6E202}" type="slidenum">
              <a:rPr lang="en-US" smtClean="0"/>
              <a:pPr/>
              <a:t>4</a:t>
            </a:fld>
            <a:endParaRPr lang="en-US" dirty="0"/>
          </a:p>
        </p:txBody>
      </p:sp>
    </p:spTree>
    <p:extLst>
      <p:ext uri="{BB962C8B-B14F-4D97-AF65-F5344CB8AC3E}">
        <p14:creationId xmlns:p14="http://schemas.microsoft.com/office/powerpoint/2010/main" val="235988455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B423C9-AEE1-79A8-A8B5-86291246F2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E80A2F1-B9EA-CD65-DEF5-BEA89992A114}"/>
              </a:ext>
            </a:extLst>
          </p:cNvPr>
          <p:cNvSpPr>
            <a:spLocks noGrp="1"/>
          </p:cNvSpPr>
          <p:nvPr>
            <p:ph type="ctrTitle"/>
          </p:nvPr>
        </p:nvSpPr>
        <p:spPr/>
        <p:txBody>
          <a:bodyPr/>
          <a:lstStyle/>
          <a:p>
            <a:r>
              <a:rPr lang="en-US" dirty="0"/>
              <a:t>Value Based Pricing</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98817542-A375-26E2-7290-00A65886F5B0}"/>
                  </a:ext>
                </a:extLst>
              </p:cNvPr>
              <p:cNvSpPr>
                <a:spLocks noGrp="1"/>
              </p:cNvSpPr>
              <p:nvPr>
                <p:ph type="body" sz="quarter" idx="14"/>
              </p:nvPr>
            </p:nvSpPr>
            <p:spPr>
              <a:xfrm>
                <a:off x="1828800" y="1500189"/>
                <a:ext cx="8755380" cy="3828738"/>
              </a:xfrm>
            </p:spPr>
            <p:txBody>
              <a:bodyPr>
                <a:normAutofit/>
              </a:bodyPr>
              <a:lstStyle/>
              <a:p>
                <a:r>
                  <a:rPr lang="en-US" sz="2400" dirty="0"/>
                  <a:t>Estimate a demand curve</a:t>
                </a:r>
              </a:p>
              <a:p>
                <a:pPr lvl="1"/>
                <a:r>
                  <a:rPr lang="en-US" sz="2400" dirty="0"/>
                  <a:t>Demand is the quantity sold at a specific price </a:t>
                </a:r>
                <a14:m>
                  <m:oMath xmlns:m="http://schemas.openxmlformats.org/officeDocument/2006/math">
                    <m:r>
                      <a:rPr lang="en-US" sz="2400" b="0" i="1" smtClean="0">
                        <a:latin typeface="Cambria Math" panose="02040503050406030204" pitchFamily="18" charset="0"/>
                      </a:rPr>
                      <m:t>𝑄</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𝑃</m:t>
                        </m:r>
                      </m:e>
                    </m:d>
                  </m:oMath>
                </a14:m>
                <a:endParaRPr lang="en-US" sz="2400" dirty="0"/>
              </a:p>
              <a:p>
                <a:endParaRPr lang="en-US" sz="2400" dirty="0"/>
              </a:p>
              <a:p>
                <a:r>
                  <a:rPr lang="en-US" sz="2400" dirty="0"/>
                  <a:t>Economic theory: People purchase if their value for product exceeds the price</a:t>
                </a:r>
              </a:p>
              <a:p>
                <a:pPr lvl="1"/>
                <a:r>
                  <a:rPr lang="en-US" sz="2400" b="0" dirty="0"/>
                  <a:t>Demand aggregates individual valuations: </a:t>
                </a:r>
                <a14:m>
                  <m:oMath xmlns:m="http://schemas.openxmlformats.org/officeDocument/2006/math">
                    <m:r>
                      <a:rPr lang="en-US" sz="2400" b="0" i="1" smtClean="0">
                        <a:latin typeface="Cambria Math" panose="02040503050406030204" pitchFamily="18" charset="0"/>
                      </a:rPr>
                      <m:t>𝑄</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𝑃</m:t>
                        </m:r>
                      </m:e>
                    </m:d>
                    <m:r>
                      <a:rPr lang="en-US" sz="2400" b="0" i="1" smtClean="0">
                        <a:latin typeface="Cambria Math" panose="02040503050406030204" pitchFamily="18" charset="0"/>
                      </a:rPr>
                      <m:t>=</m:t>
                    </m:r>
                    <m:nary>
                      <m:naryPr>
                        <m:chr m:val="∑"/>
                        <m:supHide m:val="on"/>
                        <m:ctrlPr>
                          <a:rPr lang="en-US" sz="2400" b="0" i="1" smtClean="0">
                            <a:latin typeface="Cambria Math" panose="02040503050406030204" pitchFamily="18" charset="0"/>
                          </a:rPr>
                        </m:ctrlPr>
                      </m:naryPr>
                      <m:sub>
                        <m:r>
                          <a:rPr lang="en-US" sz="2400" b="0" i="1" smtClean="0">
                            <a:latin typeface="Cambria Math" panose="02040503050406030204" pitchFamily="18" charset="0"/>
                          </a:rPr>
                          <m:t>𝑖</m:t>
                        </m:r>
                      </m:sub>
                      <m:sup/>
                      <m:e>
                        <m:r>
                          <a:rPr lang="en-US" sz="2400" b="0" i="1" smtClean="0">
                            <a:latin typeface="Cambria Math" panose="02040503050406030204" pitchFamily="18" charset="0"/>
                          </a:rPr>
                          <m:t>1</m:t>
                        </m:r>
                        <m:d>
                          <m:dPr>
                            <m:begChr m:val="["/>
                            <m:endChr m:val="]"/>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&gt;</m:t>
                            </m:r>
                            <m:r>
                              <a:rPr lang="en-US" sz="2400" b="0" i="1" smtClean="0">
                                <a:latin typeface="Cambria Math" panose="02040503050406030204" pitchFamily="18" charset="0"/>
                              </a:rPr>
                              <m:t>𝑃</m:t>
                            </m:r>
                          </m:e>
                        </m:d>
                      </m:e>
                    </m:nary>
                  </m:oMath>
                </a14:m>
                <a:endParaRPr lang="en-US" sz="2400" dirty="0"/>
              </a:p>
              <a:p>
                <a:endParaRPr lang="en-US" sz="2400" dirty="0"/>
              </a:p>
              <a:p>
                <a:r>
                  <a:rPr lang="en-US" sz="2400" dirty="0"/>
                  <a:t>Set price to maximize profits:</a:t>
                </a:r>
              </a:p>
              <a:p>
                <a:pPr marL="0" indent="0">
                  <a:buNone/>
                </a:pPr>
                <a14:m>
                  <m:oMathPara xmlns:m="http://schemas.openxmlformats.org/officeDocument/2006/math">
                    <m:oMathParaPr>
                      <m:jc m:val="centerGroup"/>
                    </m:oMathParaPr>
                    <m:oMath xmlns:m="http://schemas.openxmlformats.org/officeDocument/2006/math">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𝑃</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arg</m:t>
                          </m:r>
                        </m:fName>
                        <m:e>
                          <m:func>
                            <m:funcPr>
                              <m:ctrlPr>
                                <a:rPr lang="en-US" sz="2400" b="0" i="1" smtClean="0">
                                  <a:latin typeface="Cambria Math" panose="02040503050406030204" pitchFamily="18" charset="0"/>
                                </a:rPr>
                              </m:ctrlPr>
                            </m:funcPr>
                            <m:fName>
                              <m:limLow>
                                <m:limLowPr>
                                  <m:ctrlPr>
                                    <a:rPr lang="en-US" sz="2400" b="0" i="1" smtClean="0">
                                      <a:latin typeface="Cambria Math" panose="02040503050406030204" pitchFamily="18" charset="0"/>
                                    </a:rPr>
                                  </m:ctrlPr>
                                </m:limLowPr>
                                <m:e>
                                  <m:r>
                                    <m:rPr>
                                      <m:sty m:val="p"/>
                                    </m:rPr>
                                    <a:rPr lang="en-US" sz="2400" b="0" i="0" smtClean="0">
                                      <a:latin typeface="Cambria Math" panose="02040503050406030204" pitchFamily="18" charset="0"/>
                                    </a:rPr>
                                    <m:t>max</m:t>
                                  </m:r>
                                </m:e>
                                <m:lim>
                                  <m:r>
                                    <a:rPr lang="en-US" sz="2400" b="0" i="1" smtClean="0">
                                      <a:latin typeface="Cambria Math" panose="02040503050406030204" pitchFamily="18" charset="0"/>
                                    </a:rPr>
                                    <m:t>𝑃</m:t>
                                  </m:r>
                                </m:lim>
                              </m:limLow>
                            </m:fName>
                            <m:e>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𝑄</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𝑃</m:t>
                                  </m:r>
                                </m:e>
                              </m:d>
                              <m:r>
                                <a:rPr lang="en-US" sz="2400" b="0" i="1" smtClean="0">
                                  <a:latin typeface="Cambria Math" panose="02040503050406030204" pitchFamily="18" charset="0"/>
                                </a:rPr>
                                <m:t>−</m:t>
                              </m:r>
                              <m:r>
                                <a:rPr lang="en-US" sz="2400" b="0" i="1" smtClean="0">
                                  <a:latin typeface="Cambria Math" panose="02040503050406030204" pitchFamily="18" charset="0"/>
                                </a:rPr>
                                <m:t>𝐶</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𝑄</m:t>
                                  </m:r>
                                  <m:d>
                                    <m:dPr>
                                      <m:ctrlPr>
                                        <a:rPr lang="en-US" sz="2400" b="0" i="1" smtClean="0">
                                          <a:latin typeface="Cambria Math" panose="02040503050406030204" pitchFamily="18" charset="0"/>
                                        </a:rPr>
                                      </m:ctrlPr>
                                    </m:dPr>
                                    <m:e>
                                      <m:r>
                                        <a:rPr lang="en-US" sz="2400" b="0" i="1" smtClean="0">
                                          <a:latin typeface="Cambria Math" panose="02040503050406030204" pitchFamily="18" charset="0"/>
                                        </a:rPr>
                                        <m:t>𝑃</m:t>
                                      </m:r>
                                    </m:e>
                                  </m:d>
                                </m:e>
                              </m:d>
                            </m:e>
                          </m:func>
                        </m:e>
                      </m:func>
                    </m:oMath>
                  </m:oMathPara>
                </a14:m>
                <a:endParaRPr lang="en-US" sz="2400" dirty="0"/>
              </a:p>
            </p:txBody>
          </p:sp>
        </mc:Choice>
        <mc:Fallback xmlns="">
          <p:sp>
            <p:nvSpPr>
              <p:cNvPr id="4" name="Text Placeholder 3">
                <a:extLst>
                  <a:ext uri="{FF2B5EF4-FFF2-40B4-BE49-F238E27FC236}">
                    <a16:creationId xmlns:a16="http://schemas.microsoft.com/office/drawing/2014/main" id="{98817542-A375-26E2-7290-00A65886F5B0}"/>
                  </a:ext>
                </a:extLst>
              </p:cNvPr>
              <p:cNvSpPr>
                <a:spLocks noGrp="1" noRot="1" noChangeAspect="1" noMove="1" noResize="1" noEditPoints="1" noAdjustHandles="1" noChangeArrowheads="1" noChangeShapeType="1" noTextEdit="1"/>
              </p:cNvSpPr>
              <p:nvPr>
                <p:ph type="body" sz="quarter" idx="14"/>
              </p:nvPr>
            </p:nvSpPr>
            <p:spPr>
              <a:xfrm>
                <a:off x="1828800" y="1500189"/>
                <a:ext cx="8755380" cy="3828738"/>
              </a:xfrm>
              <a:blipFill>
                <a:blip r:embed="rId3"/>
                <a:stretch>
                  <a:fillRect l="-2029" t="-2649"/>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81090BAB-52F0-3649-0D34-E545C2EAC406}"/>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90ADBC96-BFA7-8E84-DDCE-B05B11598CF8}"/>
              </a:ext>
            </a:extLst>
          </p:cNvPr>
          <p:cNvSpPr>
            <a:spLocks noGrp="1"/>
          </p:cNvSpPr>
          <p:nvPr>
            <p:ph type="sldNum" sz="quarter" idx="12"/>
          </p:nvPr>
        </p:nvSpPr>
        <p:spPr/>
        <p:txBody>
          <a:bodyPr/>
          <a:lstStyle/>
          <a:p>
            <a:fld id="{8A7A6979-0714-4377-B894-6BE4C2D6E202}" type="slidenum">
              <a:rPr lang="en-US" smtClean="0"/>
              <a:pPr/>
              <a:t>5</a:t>
            </a:fld>
            <a:endParaRPr lang="en-US" dirty="0"/>
          </a:p>
        </p:txBody>
      </p:sp>
    </p:spTree>
    <p:extLst>
      <p:ext uri="{BB962C8B-B14F-4D97-AF65-F5344CB8AC3E}">
        <p14:creationId xmlns:p14="http://schemas.microsoft.com/office/powerpoint/2010/main" val="128103295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294DFF-FEC0-0C48-A972-9E4ED3BA9D6E}"/>
              </a:ext>
            </a:extLst>
          </p:cNvPr>
          <p:cNvSpPr>
            <a:spLocks noGrp="1"/>
          </p:cNvSpPr>
          <p:nvPr>
            <p:ph type="ctrTitle"/>
          </p:nvPr>
        </p:nvSpPr>
        <p:spPr/>
        <p:txBody>
          <a:bodyPr/>
          <a:lstStyle/>
          <a:p>
            <a:r>
              <a:rPr lang="en-US" dirty="0"/>
              <a:t>Pricing with a Demand Curve</a:t>
            </a:r>
          </a:p>
        </p:txBody>
      </p:sp>
      <p:grpSp>
        <p:nvGrpSpPr>
          <p:cNvPr id="7" name="Group 6" descr="Diagram titled “Pricing with a Demand Curve” showing price (P) versus quantity (Q). A downward-sloping demand curve (D) intersects with a horizontal marginal cost (MC) line below the price level. The graph highlights consumer surplus (brown area), producer surplus (black area), and deadweight loss (DWL), illustrating inefficiency when price exceeds marginal cost.">
            <a:extLst>
              <a:ext uri="{FF2B5EF4-FFF2-40B4-BE49-F238E27FC236}">
                <a16:creationId xmlns:a16="http://schemas.microsoft.com/office/drawing/2014/main" id="{8E3A7840-5AC7-8B32-CE69-5D50C112DC97}"/>
              </a:ext>
            </a:extLst>
          </p:cNvPr>
          <p:cNvGrpSpPr/>
          <p:nvPr/>
        </p:nvGrpSpPr>
        <p:grpSpPr>
          <a:xfrm>
            <a:off x="2870201" y="1447800"/>
            <a:ext cx="6780213" cy="4600447"/>
            <a:chOff x="2870201" y="1447800"/>
            <a:chExt cx="6780213" cy="4600447"/>
          </a:xfrm>
        </p:grpSpPr>
        <p:sp>
          <p:nvSpPr>
            <p:cNvPr id="8" name="Line 3">
              <a:extLst>
                <a:ext uri="{FF2B5EF4-FFF2-40B4-BE49-F238E27FC236}">
                  <a16:creationId xmlns:a16="http://schemas.microsoft.com/office/drawing/2014/main" id="{183140B5-381D-76F5-6636-85E12B60931D}"/>
                </a:ext>
              </a:extLst>
            </p:cNvPr>
            <p:cNvSpPr>
              <a:spLocks noChangeShapeType="1"/>
            </p:cNvSpPr>
            <p:nvPr/>
          </p:nvSpPr>
          <p:spPr bwMode="auto">
            <a:xfrm>
              <a:off x="3886200" y="1600200"/>
              <a:ext cx="0" cy="3886200"/>
            </a:xfrm>
            <a:prstGeom prst="line">
              <a:avLst/>
            </a:prstGeom>
            <a:noFill/>
            <a:ln w="9525">
              <a:solidFill>
                <a:schemeClr val="tx1"/>
              </a:solidFill>
              <a:round/>
              <a:headEnd type="stealth" w="lg" len="lg"/>
              <a:tailEnd type="none" w="lg" len="lg"/>
            </a:ln>
            <a:extLst>
              <a:ext uri="{909E8E84-426E-40dd-AFC4-6F175D3DCCD1}">
                <a14:hiddenFill xmlns="" xmlns:a14="http://schemas.microsoft.com/office/drawing/2010/main">
                  <a:noFill/>
                </a14:hiddenFill>
              </a:ext>
            </a:extLst>
          </p:spPr>
          <p:txBody>
            <a:bodyPr/>
            <a:lstStyle/>
            <a:p>
              <a:endParaRPr lang="en-US"/>
            </a:p>
          </p:txBody>
        </p:sp>
        <p:sp>
          <p:nvSpPr>
            <p:cNvPr id="9" name="Line 4">
              <a:extLst>
                <a:ext uri="{FF2B5EF4-FFF2-40B4-BE49-F238E27FC236}">
                  <a16:creationId xmlns:a16="http://schemas.microsoft.com/office/drawing/2014/main" id="{1DDAC455-A47B-7224-ED39-2EFE8602ED93}"/>
                </a:ext>
              </a:extLst>
            </p:cNvPr>
            <p:cNvSpPr>
              <a:spLocks noChangeShapeType="1"/>
            </p:cNvSpPr>
            <p:nvPr/>
          </p:nvSpPr>
          <p:spPr bwMode="auto">
            <a:xfrm rot="-5400000">
              <a:off x="6362700" y="3009900"/>
              <a:ext cx="0" cy="4953000"/>
            </a:xfrm>
            <a:prstGeom prst="line">
              <a:avLst/>
            </a:prstGeom>
            <a:noFill/>
            <a:ln w="9525">
              <a:solidFill>
                <a:schemeClr val="tx1"/>
              </a:solidFill>
              <a:round/>
              <a:headEnd/>
              <a:tailEnd type="stealth" w="lg" len="lg"/>
            </a:ln>
            <a:extLst>
              <a:ext uri="{909E8E84-426E-40dd-AFC4-6F175D3DCCD1}">
                <a14:hiddenFill xmlns="" xmlns:a14="http://schemas.microsoft.com/office/drawing/2010/main">
                  <a:noFill/>
                </a14:hiddenFill>
              </a:ext>
            </a:extLst>
          </p:spPr>
          <p:txBody>
            <a:bodyPr/>
            <a:lstStyle/>
            <a:p>
              <a:endParaRPr lang="en-US"/>
            </a:p>
          </p:txBody>
        </p:sp>
        <p:sp>
          <p:nvSpPr>
            <p:cNvPr id="10" name="Text Box 6">
              <a:extLst>
                <a:ext uri="{FF2B5EF4-FFF2-40B4-BE49-F238E27FC236}">
                  <a16:creationId xmlns:a16="http://schemas.microsoft.com/office/drawing/2014/main" id="{93DDB6B6-B70E-D2D9-2869-C183ABB8037E}"/>
                </a:ext>
              </a:extLst>
            </p:cNvPr>
            <p:cNvSpPr txBox="1">
              <a:spLocks noChangeArrowheads="1"/>
            </p:cNvSpPr>
            <p:nvPr/>
          </p:nvSpPr>
          <p:spPr bwMode="auto">
            <a:xfrm>
              <a:off x="3276600" y="1447800"/>
              <a:ext cx="387350"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a:t>P</a:t>
              </a:r>
            </a:p>
          </p:txBody>
        </p:sp>
        <p:sp>
          <p:nvSpPr>
            <p:cNvPr id="11" name="Line 7">
              <a:extLst>
                <a:ext uri="{FF2B5EF4-FFF2-40B4-BE49-F238E27FC236}">
                  <a16:creationId xmlns:a16="http://schemas.microsoft.com/office/drawing/2014/main" id="{C6546F7F-F10C-B42E-D74C-762ACE372DC1}"/>
                </a:ext>
              </a:extLst>
            </p:cNvPr>
            <p:cNvSpPr>
              <a:spLocks noChangeShapeType="1"/>
            </p:cNvSpPr>
            <p:nvPr/>
          </p:nvSpPr>
          <p:spPr bwMode="auto">
            <a:xfrm>
              <a:off x="3886200" y="2057400"/>
              <a:ext cx="4419600" cy="342900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12" name="Line 8">
              <a:extLst>
                <a:ext uri="{FF2B5EF4-FFF2-40B4-BE49-F238E27FC236}">
                  <a16:creationId xmlns:a16="http://schemas.microsoft.com/office/drawing/2014/main" id="{6980D05C-2E9A-B7DD-36DA-A920D61BAD20}"/>
                </a:ext>
              </a:extLst>
            </p:cNvPr>
            <p:cNvSpPr>
              <a:spLocks noChangeShapeType="1"/>
            </p:cNvSpPr>
            <p:nvPr/>
          </p:nvSpPr>
          <p:spPr bwMode="auto">
            <a:xfrm>
              <a:off x="3886200" y="4815590"/>
              <a:ext cx="5105400" cy="0"/>
            </a:xfrm>
            <a:prstGeom prst="line">
              <a:avLst/>
            </a:prstGeom>
            <a:noFill/>
            <a:ln w="9525">
              <a:solidFill>
                <a:schemeClr val="tx1"/>
              </a:solidFill>
              <a:round/>
              <a:headEnd/>
              <a:tailEnd/>
            </a:ln>
            <a:extLst>
              <a:ext uri="{909E8E84-426E-40dd-AFC4-6F175D3DCCD1}">
                <a14:hiddenFill xmlns="" xmlns:a14="http://schemas.microsoft.com/office/drawing/2010/main">
                  <a:noFill/>
                </a14:hiddenFill>
              </a:ext>
            </a:extLst>
          </p:spPr>
          <p:txBody>
            <a:bodyPr/>
            <a:lstStyle/>
            <a:p>
              <a:endParaRPr lang="en-US"/>
            </a:p>
          </p:txBody>
        </p:sp>
        <p:sp>
          <p:nvSpPr>
            <p:cNvPr id="13" name="Text Box 9">
              <a:extLst>
                <a:ext uri="{FF2B5EF4-FFF2-40B4-BE49-F238E27FC236}">
                  <a16:creationId xmlns:a16="http://schemas.microsoft.com/office/drawing/2014/main" id="{EB35B29E-29E0-344F-ED82-6793E90A21AF}"/>
                </a:ext>
              </a:extLst>
            </p:cNvPr>
            <p:cNvSpPr txBox="1">
              <a:spLocks noChangeArrowheads="1"/>
            </p:cNvSpPr>
            <p:nvPr/>
          </p:nvSpPr>
          <p:spPr bwMode="auto">
            <a:xfrm>
              <a:off x="8991601" y="4586991"/>
              <a:ext cx="658813"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dirty="0"/>
                <a:t>MC</a:t>
              </a:r>
            </a:p>
          </p:txBody>
        </p:sp>
        <p:sp>
          <p:nvSpPr>
            <p:cNvPr id="14" name="Text Box 10">
              <a:extLst>
                <a:ext uri="{FF2B5EF4-FFF2-40B4-BE49-F238E27FC236}">
                  <a16:creationId xmlns:a16="http://schemas.microsoft.com/office/drawing/2014/main" id="{D52DD066-1F8F-F7A0-0AFF-FB6CC9E12B29}"/>
                </a:ext>
              </a:extLst>
            </p:cNvPr>
            <p:cNvSpPr txBox="1">
              <a:spLocks noChangeArrowheads="1"/>
            </p:cNvSpPr>
            <p:nvPr/>
          </p:nvSpPr>
          <p:spPr bwMode="auto">
            <a:xfrm>
              <a:off x="5218998" y="2653260"/>
              <a:ext cx="404812"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dirty="0"/>
                <a:t>D</a:t>
              </a:r>
            </a:p>
          </p:txBody>
        </p:sp>
        <p:sp>
          <p:nvSpPr>
            <p:cNvPr id="15" name="Text Box 5">
              <a:extLst>
                <a:ext uri="{FF2B5EF4-FFF2-40B4-BE49-F238E27FC236}">
                  <a16:creationId xmlns:a16="http://schemas.microsoft.com/office/drawing/2014/main" id="{CF588E4D-4A3D-D512-B8FD-1E21CFCC2B5F}"/>
                </a:ext>
              </a:extLst>
            </p:cNvPr>
            <p:cNvSpPr txBox="1">
              <a:spLocks noChangeArrowheads="1"/>
            </p:cNvSpPr>
            <p:nvPr/>
          </p:nvSpPr>
          <p:spPr bwMode="auto">
            <a:xfrm>
              <a:off x="7727798" y="5591047"/>
              <a:ext cx="420688"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dirty="0"/>
                <a:t>Q</a:t>
              </a:r>
            </a:p>
          </p:txBody>
        </p:sp>
        <p:sp>
          <p:nvSpPr>
            <p:cNvPr id="17" name="Rectangle 2">
              <a:extLst>
                <a:ext uri="{FF2B5EF4-FFF2-40B4-BE49-F238E27FC236}">
                  <a16:creationId xmlns:a16="http://schemas.microsoft.com/office/drawing/2014/main" id="{8DCD6EC4-90C4-C283-54CC-FA0BE2550B77}"/>
                </a:ext>
              </a:extLst>
            </p:cNvPr>
            <p:cNvSpPr>
              <a:spLocks noChangeArrowheads="1"/>
            </p:cNvSpPr>
            <p:nvPr/>
          </p:nvSpPr>
          <p:spPr bwMode="auto">
            <a:xfrm>
              <a:off x="3892550" y="4019550"/>
              <a:ext cx="2508250" cy="781050"/>
            </a:xfrm>
            <a:prstGeom prst="rect">
              <a:avLst/>
            </a:prstGeom>
            <a:solidFill>
              <a:schemeClr val="bg1">
                <a:lumMod val="50000"/>
              </a:schemeClr>
            </a:solidFill>
            <a:ln w="9525">
              <a:solidFill>
                <a:schemeClr val="tx1"/>
              </a:solidFill>
              <a:miter lim="800000"/>
              <a:headEnd/>
              <a:tailEnd/>
            </a:ln>
          </p:spPr>
          <p:txBody>
            <a:bodyPr wrap="none" anchor="ctr"/>
            <a:lstStyle/>
            <a:p>
              <a:r>
                <a:rPr lang="en-US" dirty="0">
                  <a:solidFill>
                    <a:schemeClr val="tx2"/>
                  </a:solidFill>
                </a:rPr>
                <a:t>Producer surplus</a:t>
              </a:r>
            </a:p>
          </p:txBody>
        </p:sp>
        <p:sp>
          <p:nvSpPr>
            <p:cNvPr id="18" name="Freeform 3">
              <a:extLst>
                <a:ext uri="{FF2B5EF4-FFF2-40B4-BE49-F238E27FC236}">
                  <a16:creationId xmlns:a16="http://schemas.microsoft.com/office/drawing/2014/main" id="{14605287-BCD5-AE0D-B9C3-07182191D2AB}"/>
                </a:ext>
              </a:extLst>
            </p:cNvPr>
            <p:cNvSpPr>
              <a:spLocks/>
            </p:cNvSpPr>
            <p:nvPr/>
          </p:nvSpPr>
          <p:spPr bwMode="auto">
            <a:xfrm>
              <a:off x="3892550" y="2076450"/>
              <a:ext cx="2489200" cy="1936750"/>
            </a:xfrm>
            <a:custGeom>
              <a:avLst/>
              <a:gdLst>
                <a:gd name="T0" fmla="*/ 0 w 1568"/>
                <a:gd name="T1" fmla="*/ 2147483647 h 1220"/>
                <a:gd name="T2" fmla="*/ 0 w 1568"/>
                <a:gd name="T3" fmla="*/ 0 h 1220"/>
                <a:gd name="T4" fmla="*/ 2147483647 w 1568"/>
                <a:gd name="T5" fmla="*/ 2147483647 h 1220"/>
                <a:gd name="T6" fmla="*/ 0 w 1568"/>
                <a:gd name="T7" fmla="*/ 2147483647 h 1220"/>
                <a:gd name="T8" fmla="*/ 0 60000 65536"/>
                <a:gd name="T9" fmla="*/ 0 60000 65536"/>
                <a:gd name="T10" fmla="*/ 0 60000 65536"/>
                <a:gd name="T11" fmla="*/ 0 60000 65536"/>
                <a:gd name="T12" fmla="*/ 0 w 1568"/>
                <a:gd name="T13" fmla="*/ 0 h 1220"/>
                <a:gd name="T14" fmla="*/ 1568 w 1568"/>
                <a:gd name="T15" fmla="*/ 1220 h 1220"/>
              </a:gdLst>
              <a:ahLst/>
              <a:cxnLst>
                <a:cxn ang="T8">
                  <a:pos x="T0" y="T1"/>
                </a:cxn>
                <a:cxn ang="T9">
                  <a:pos x="T2" y="T3"/>
                </a:cxn>
                <a:cxn ang="T10">
                  <a:pos x="T4" y="T5"/>
                </a:cxn>
                <a:cxn ang="T11">
                  <a:pos x="T6" y="T7"/>
                </a:cxn>
              </a:cxnLst>
              <a:rect l="T12" t="T13" r="T14" b="T15"/>
              <a:pathLst>
                <a:path w="1568" h="1220">
                  <a:moveTo>
                    <a:pt x="0" y="1220"/>
                  </a:moveTo>
                  <a:lnTo>
                    <a:pt x="0" y="0"/>
                  </a:lnTo>
                  <a:lnTo>
                    <a:pt x="1568" y="1220"/>
                  </a:lnTo>
                  <a:lnTo>
                    <a:pt x="0" y="1220"/>
                  </a:lnTo>
                  <a:close/>
                </a:path>
              </a:pathLst>
            </a:custGeom>
            <a:solidFill>
              <a:schemeClr val="accent1"/>
            </a:solidFill>
            <a:ln w="9525">
              <a:solidFill>
                <a:schemeClr val="tx1"/>
              </a:solidFill>
              <a:round/>
              <a:headEnd/>
              <a:tailEnd/>
            </a:ln>
          </p:spPr>
          <p:txBody>
            <a:bodyPr/>
            <a:lstStyle/>
            <a:p>
              <a:endParaRPr lang="en-US"/>
            </a:p>
          </p:txBody>
        </p:sp>
        <p:sp>
          <p:nvSpPr>
            <p:cNvPr id="19" name="Text Box 13">
              <a:extLst>
                <a:ext uri="{FF2B5EF4-FFF2-40B4-BE49-F238E27FC236}">
                  <a16:creationId xmlns:a16="http://schemas.microsoft.com/office/drawing/2014/main" id="{A843D022-01C0-B2A0-A515-B710FAC76524}"/>
                </a:ext>
              </a:extLst>
            </p:cNvPr>
            <p:cNvSpPr txBox="1">
              <a:spLocks noChangeArrowheads="1"/>
            </p:cNvSpPr>
            <p:nvPr/>
          </p:nvSpPr>
          <p:spPr bwMode="auto">
            <a:xfrm>
              <a:off x="3833612" y="3485602"/>
              <a:ext cx="2056973" cy="369332"/>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sz="1800" dirty="0"/>
                <a:t>Consumer surplus</a:t>
              </a:r>
            </a:p>
          </p:txBody>
        </p:sp>
        <p:sp>
          <p:nvSpPr>
            <p:cNvPr id="20" name="Text Box 17">
              <a:extLst>
                <a:ext uri="{FF2B5EF4-FFF2-40B4-BE49-F238E27FC236}">
                  <a16:creationId xmlns:a16="http://schemas.microsoft.com/office/drawing/2014/main" id="{CA025FE1-B9DA-C019-A036-B25AD529A30A}"/>
                </a:ext>
              </a:extLst>
            </p:cNvPr>
            <p:cNvSpPr txBox="1">
              <a:spLocks noChangeArrowheads="1"/>
            </p:cNvSpPr>
            <p:nvPr/>
          </p:nvSpPr>
          <p:spPr bwMode="auto">
            <a:xfrm>
              <a:off x="2870201" y="3779838"/>
              <a:ext cx="1039813"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dirty="0"/>
                <a:t>P&gt;MC</a:t>
              </a:r>
            </a:p>
          </p:txBody>
        </p:sp>
        <p:cxnSp>
          <p:nvCxnSpPr>
            <p:cNvPr id="22" name="Straight Connector 21">
              <a:extLst>
                <a:ext uri="{FF2B5EF4-FFF2-40B4-BE49-F238E27FC236}">
                  <a16:creationId xmlns:a16="http://schemas.microsoft.com/office/drawing/2014/main" id="{55B7BC78-2FCF-8B8A-885D-440E5C0813AE}"/>
                </a:ext>
              </a:extLst>
            </p:cNvPr>
            <p:cNvCxnSpPr>
              <a:cxnSpLocks/>
              <a:endCxn id="20" idx="3"/>
            </p:cNvCxnSpPr>
            <p:nvPr/>
          </p:nvCxnSpPr>
          <p:spPr>
            <a:xfrm flipH="1" flipV="1">
              <a:off x="3910014" y="4008438"/>
              <a:ext cx="2490786" cy="4762"/>
            </a:xfrm>
            <a:prstGeom prst="line">
              <a:avLst/>
            </a:prstGeom>
          </p:spPr>
          <p:style>
            <a:lnRef idx="1">
              <a:schemeClr val="accent1"/>
            </a:lnRef>
            <a:fillRef idx="0">
              <a:schemeClr val="accent1"/>
            </a:fillRef>
            <a:effectRef idx="0">
              <a:schemeClr val="accent1"/>
            </a:effectRef>
            <a:fontRef idx="minor">
              <a:schemeClr val="tx1"/>
            </a:fontRef>
          </p:style>
        </p:cxnSp>
        <p:sp>
          <p:nvSpPr>
            <p:cNvPr id="24" name="Line 15">
              <a:extLst>
                <a:ext uri="{FF2B5EF4-FFF2-40B4-BE49-F238E27FC236}">
                  <a16:creationId xmlns:a16="http://schemas.microsoft.com/office/drawing/2014/main" id="{2CEF753F-76B1-3297-BF26-56C9265BE214}"/>
                </a:ext>
              </a:extLst>
            </p:cNvPr>
            <p:cNvSpPr>
              <a:spLocks noChangeShapeType="1"/>
            </p:cNvSpPr>
            <p:nvPr/>
          </p:nvSpPr>
          <p:spPr bwMode="auto">
            <a:xfrm flipH="1">
              <a:off x="6684964" y="4070350"/>
              <a:ext cx="650875" cy="476250"/>
            </a:xfrm>
            <a:prstGeom prst="line">
              <a:avLst/>
            </a:prstGeom>
            <a:noFill/>
            <a:ln w="9525">
              <a:solidFill>
                <a:schemeClr val="tx1"/>
              </a:solidFill>
              <a:round/>
              <a:headEnd/>
              <a:tailEnd type="triangle" w="med" len="med"/>
            </a:ln>
            <a:extLst>
              <a:ext uri="{909E8E84-426E-40dd-AFC4-6F175D3DCCD1}">
                <a14:hiddenFill xmlns="" xmlns:a14="http://schemas.microsoft.com/office/drawing/2010/main">
                  <a:noFill/>
                </a14:hiddenFill>
              </a:ext>
            </a:extLst>
          </p:spPr>
          <p:txBody>
            <a:bodyPr/>
            <a:lstStyle/>
            <a:p>
              <a:endParaRPr lang="en-US"/>
            </a:p>
          </p:txBody>
        </p:sp>
        <p:sp>
          <p:nvSpPr>
            <p:cNvPr id="25" name="Text Box 16">
              <a:extLst>
                <a:ext uri="{FF2B5EF4-FFF2-40B4-BE49-F238E27FC236}">
                  <a16:creationId xmlns:a16="http://schemas.microsoft.com/office/drawing/2014/main" id="{DE09215A-BC02-DD13-BD6F-FA9EE175C79E}"/>
                </a:ext>
              </a:extLst>
            </p:cNvPr>
            <p:cNvSpPr txBox="1">
              <a:spLocks noChangeArrowheads="1"/>
            </p:cNvSpPr>
            <p:nvPr/>
          </p:nvSpPr>
          <p:spPr bwMode="auto">
            <a:xfrm>
              <a:off x="7305676" y="3692525"/>
              <a:ext cx="862013" cy="457200"/>
            </a:xfrm>
            <a:prstGeom prst="rect">
              <a:avLst/>
            </a:prstGeom>
            <a:noFill/>
            <a:ln>
              <a:noFill/>
            </a:ln>
            <a:extLst>
              <a:ext uri="{909E8E84-426E-40dd-AFC4-6F175D3DCCD1}">
                <a14:hiddenFill xmlns="" xmlns:a14="http://schemas.microsoft.com/office/drawing/2010/main">
                  <a:solidFill>
                    <a:srgbClr val="FFFFFF"/>
                  </a:solidFill>
                </a14:hiddenFill>
              </a:ext>
              <a:ext uri="{91240B29-F687-4f45-9708-019B960494DF}">
                <a14:hiddenLine xmlns="" xmlns:a14="http://schemas.microsoft.com/office/drawing/2010/main" w="9525">
                  <a:solidFill>
                    <a:srgbClr val="000000"/>
                  </a:solidFill>
                  <a:miter lim="800000"/>
                  <a:headEnd/>
                  <a:tailEnd/>
                </a14:hiddenLine>
              </a:ext>
            </a:extLst>
          </p:spPr>
          <p:txBody>
            <a:bodyPr wrap="none">
              <a:spAutoFit/>
            </a:bodyPr>
            <a:lstStyle>
              <a:lvl1pPr eaLnBrk="0" hangingPunct="0">
                <a:defRPr sz="2400">
                  <a:solidFill>
                    <a:schemeClr val="tx1"/>
                  </a:solidFill>
                  <a:latin typeface="Arial" charset="0"/>
                  <a:ea typeface="ＭＳ Ｐゴシック" charset="0"/>
                  <a:cs typeface="ＭＳ Ｐゴシック" charset="0"/>
                </a:defRPr>
              </a:lvl1pPr>
              <a:lvl2pPr marL="742950" indent="-285750" eaLnBrk="0" hangingPunct="0">
                <a:defRPr sz="2400">
                  <a:solidFill>
                    <a:schemeClr val="tx1"/>
                  </a:solidFill>
                  <a:latin typeface="Arial" charset="0"/>
                  <a:ea typeface="ＭＳ Ｐゴシック" charset="0"/>
                </a:defRPr>
              </a:lvl2pPr>
              <a:lvl3pPr marL="1143000" indent="-228600" eaLnBrk="0" hangingPunct="0">
                <a:defRPr sz="2400">
                  <a:solidFill>
                    <a:schemeClr val="tx1"/>
                  </a:solidFill>
                  <a:latin typeface="Arial" charset="0"/>
                  <a:ea typeface="ＭＳ Ｐゴシック" charset="0"/>
                </a:defRPr>
              </a:lvl3pPr>
              <a:lvl4pPr marL="1600200" indent="-228600" eaLnBrk="0" hangingPunct="0">
                <a:defRPr sz="2400">
                  <a:solidFill>
                    <a:schemeClr val="tx1"/>
                  </a:solidFill>
                  <a:latin typeface="Arial" charset="0"/>
                  <a:ea typeface="ＭＳ Ｐゴシック" charset="0"/>
                </a:defRPr>
              </a:lvl4pPr>
              <a:lvl5pPr marL="2057400" indent="-228600" eaLnBrk="0" hangingPunct="0">
                <a:defRPr sz="2400">
                  <a:solidFill>
                    <a:schemeClr val="tx1"/>
                  </a:solidFill>
                  <a:latin typeface="Arial" charset="0"/>
                  <a:ea typeface="ＭＳ Ｐゴシック" charset="0"/>
                </a:defRPr>
              </a:lvl5pPr>
              <a:lvl6pPr marL="2514600" indent="-228600" eaLnBrk="0" fontAlgn="base" hangingPunct="0">
                <a:spcBef>
                  <a:spcPct val="0"/>
                </a:spcBef>
                <a:spcAft>
                  <a:spcPct val="0"/>
                </a:spcAft>
                <a:defRPr sz="2400">
                  <a:solidFill>
                    <a:schemeClr val="tx1"/>
                  </a:solidFill>
                  <a:latin typeface="Arial" charset="0"/>
                  <a:ea typeface="ＭＳ Ｐゴシック" charset="0"/>
                </a:defRPr>
              </a:lvl6pPr>
              <a:lvl7pPr marL="2971800" indent="-228600" eaLnBrk="0" fontAlgn="base" hangingPunct="0">
                <a:spcBef>
                  <a:spcPct val="0"/>
                </a:spcBef>
                <a:spcAft>
                  <a:spcPct val="0"/>
                </a:spcAft>
                <a:defRPr sz="2400">
                  <a:solidFill>
                    <a:schemeClr val="tx1"/>
                  </a:solidFill>
                  <a:latin typeface="Arial" charset="0"/>
                  <a:ea typeface="ＭＳ Ｐゴシック" charset="0"/>
                </a:defRPr>
              </a:lvl7pPr>
              <a:lvl8pPr marL="3429000" indent="-228600" eaLnBrk="0" fontAlgn="base" hangingPunct="0">
                <a:spcBef>
                  <a:spcPct val="0"/>
                </a:spcBef>
                <a:spcAft>
                  <a:spcPct val="0"/>
                </a:spcAft>
                <a:defRPr sz="2400">
                  <a:solidFill>
                    <a:schemeClr val="tx1"/>
                  </a:solidFill>
                  <a:latin typeface="Arial" charset="0"/>
                  <a:ea typeface="ＭＳ Ｐゴシック" charset="0"/>
                </a:defRPr>
              </a:lvl8pPr>
              <a:lvl9pPr marL="3886200" indent="-228600" eaLnBrk="0" fontAlgn="base" hangingPunct="0">
                <a:spcBef>
                  <a:spcPct val="0"/>
                </a:spcBef>
                <a:spcAft>
                  <a:spcPct val="0"/>
                </a:spcAft>
                <a:defRPr sz="2400">
                  <a:solidFill>
                    <a:schemeClr val="tx1"/>
                  </a:solidFill>
                  <a:latin typeface="Arial" charset="0"/>
                  <a:ea typeface="ＭＳ Ｐゴシック" charset="0"/>
                </a:defRPr>
              </a:lvl9pPr>
            </a:lstStyle>
            <a:p>
              <a:pPr eaLnBrk="1" hangingPunct="1"/>
              <a:r>
                <a:rPr lang="en-US" dirty="0"/>
                <a:t>DWL</a:t>
              </a:r>
            </a:p>
          </p:txBody>
        </p:sp>
        <p:cxnSp>
          <p:nvCxnSpPr>
            <p:cNvPr id="26" name="Straight Connector 25">
              <a:extLst>
                <a:ext uri="{FF2B5EF4-FFF2-40B4-BE49-F238E27FC236}">
                  <a16:creationId xmlns:a16="http://schemas.microsoft.com/office/drawing/2014/main" id="{A2DD8D08-3912-D0AF-F20C-228630A771BF}"/>
                </a:ext>
              </a:extLst>
            </p:cNvPr>
            <p:cNvCxnSpPr>
              <a:cxnSpLocks/>
            </p:cNvCxnSpPr>
            <p:nvPr/>
          </p:nvCxnSpPr>
          <p:spPr>
            <a:xfrm>
              <a:off x="6400800" y="4008438"/>
              <a:ext cx="0" cy="1477962"/>
            </a:xfrm>
            <a:prstGeom prst="line">
              <a:avLst/>
            </a:prstGeom>
          </p:spPr>
          <p:style>
            <a:lnRef idx="1">
              <a:schemeClr val="accent1"/>
            </a:lnRef>
            <a:fillRef idx="0">
              <a:schemeClr val="accent1"/>
            </a:fillRef>
            <a:effectRef idx="0">
              <a:schemeClr val="accent1"/>
            </a:effectRef>
            <a:fontRef idx="minor">
              <a:schemeClr val="tx1"/>
            </a:fontRef>
          </p:style>
        </p:cxnSp>
      </p:grpSp>
      <p:sp>
        <p:nvSpPr>
          <p:cNvPr id="5" name="Date Placeholder 4">
            <a:extLst>
              <a:ext uri="{FF2B5EF4-FFF2-40B4-BE49-F238E27FC236}">
                <a16:creationId xmlns:a16="http://schemas.microsoft.com/office/drawing/2014/main" id="{95F12967-03CD-7942-8B49-F8DBFB56200B}"/>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E7486C51-25E8-4845-95A9-ABC45B4BC846}"/>
              </a:ext>
            </a:extLst>
          </p:cNvPr>
          <p:cNvSpPr>
            <a:spLocks noGrp="1"/>
          </p:cNvSpPr>
          <p:nvPr>
            <p:ph type="sldNum" sz="quarter" idx="12"/>
          </p:nvPr>
        </p:nvSpPr>
        <p:spPr/>
        <p:txBody>
          <a:bodyPr/>
          <a:lstStyle/>
          <a:p>
            <a:fld id="{8A7A6979-0714-4377-B894-6BE4C2D6E202}" type="slidenum">
              <a:rPr lang="en-US" smtClean="0"/>
              <a:pPr/>
              <a:t>6</a:t>
            </a:fld>
            <a:endParaRPr lang="en-US" dirty="0"/>
          </a:p>
        </p:txBody>
      </p:sp>
    </p:spTree>
    <p:extLst>
      <p:ext uri="{BB962C8B-B14F-4D97-AF65-F5344CB8AC3E}">
        <p14:creationId xmlns:p14="http://schemas.microsoft.com/office/powerpoint/2010/main" val="124386674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680B6B-E040-8A8D-D7F4-47A9169DA8E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90C9DBA-96B6-93A6-394A-00F0C7A71D27}"/>
              </a:ext>
            </a:extLst>
          </p:cNvPr>
          <p:cNvSpPr>
            <a:spLocks noGrp="1"/>
          </p:cNvSpPr>
          <p:nvPr>
            <p:ph type="ctrTitle"/>
          </p:nvPr>
        </p:nvSpPr>
        <p:spPr/>
        <p:txBody>
          <a:bodyPr/>
          <a:lstStyle/>
          <a:p>
            <a:r>
              <a:rPr lang="en-US" dirty="0"/>
              <a:t>Price Elasticity is a Key Quantity</a:t>
            </a:r>
          </a:p>
        </p:txBody>
      </p:sp>
      <mc:AlternateContent xmlns:mc="http://schemas.openxmlformats.org/markup-compatibility/2006" xmlns:a14="http://schemas.microsoft.com/office/drawing/2010/main">
        <mc:Choice Requires="a14">
          <p:sp>
            <p:nvSpPr>
              <p:cNvPr id="66" name="Text Placeholder 3">
                <a:extLst>
                  <a:ext uri="{FF2B5EF4-FFF2-40B4-BE49-F238E27FC236}">
                    <a16:creationId xmlns:a16="http://schemas.microsoft.com/office/drawing/2014/main" id="{CD00F711-BAF2-5834-7A40-F764B247D111}"/>
                  </a:ext>
                </a:extLst>
              </p:cNvPr>
              <p:cNvSpPr>
                <a:spLocks noGrp="1"/>
              </p:cNvSpPr>
              <p:nvPr>
                <p:ph type="body" sz="quarter" idx="14"/>
              </p:nvPr>
            </p:nvSpPr>
            <p:spPr>
              <a:xfrm>
                <a:off x="1828800" y="1500189"/>
                <a:ext cx="8755380" cy="3828738"/>
              </a:xfrm>
            </p:spPr>
            <p:txBody>
              <a:bodyPr>
                <a:normAutofit fontScale="92500"/>
              </a:bodyPr>
              <a:lstStyle/>
              <a:p>
                <a:r>
                  <a:rPr lang="en-US" sz="2400" dirty="0"/>
                  <a:t>Price elasticity of demand:</a:t>
                </a:r>
              </a:p>
              <a:p>
                <a:pPr marL="228600" lvl="1"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𝑑</m:t>
                          </m:r>
                        </m:sub>
                      </m:sSub>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 </m:t>
                          </m:r>
                          <m:r>
                            <a:rPr lang="en-US" sz="2400" b="0" i="1" smtClean="0">
                              <a:latin typeface="Cambria Math" panose="02040503050406030204" pitchFamily="18" charset="0"/>
                            </a:rPr>
                            <m:t>𝐶h𝑎𝑛𝑔𝑒</m:t>
                          </m:r>
                          <m:r>
                            <a:rPr lang="en-US" sz="2400" b="0" i="1" smtClean="0">
                              <a:latin typeface="Cambria Math" panose="02040503050406030204" pitchFamily="18" charset="0"/>
                            </a:rPr>
                            <m:t> </m:t>
                          </m:r>
                          <m:r>
                            <a:rPr lang="en-US" sz="2400" b="0" i="1" smtClean="0">
                              <a:latin typeface="Cambria Math" panose="02040503050406030204" pitchFamily="18" charset="0"/>
                            </a:rPr>
                            <m:t>𝑖𝑛</m:t>
                          </m:r>
                          <m:r>
                            <a:rPr lang="en-US" sz="2400" b="0" i="1" smtClean="0">
                              <a:latin typeface="Cambria Math" panose="02040503050406030204" pitchFamily="18" charset="0"/>
                            </a:rPr>
                            <m:t> </m:t>
                          </m:r>
                          <m:r>
                            <a:rPr lang="en-US" sz="2400" b="0" i="1" smtClean="0">
                              <a:latin typeface="Cambria Math" panose="02040503050406030204" pitchFamily="18" charset="0"/>
                            </a:rPr>
                            <m:t>𝑄𝑢𝑎𝑛𝑡𝑖𝑡𝑦</m:t>
                          </m:r>
                          <m:r>
                            <a:rPr lang="en-US" sz="2400" b="0" i="1" smtClean="0">
                              <a:latin typeface="Cambria Math" panose="02040503050406030204" pitchFamily="18" charset="0"/>
                            </a:rPr>
                            <m:t> </m:t>
                          </m:r>
                          <m:r>
                            <a:rPr lang="en-US" sz="2400" b="0" i="1" smtClean="0">
                              <a:latin typeface="Cambria Math" panose="02040503050406030204" pitchFamily="18" charset="0"/>
                            </a:rPr>
                            <m:t>𝐷𝑒𝑚𝑎𝑛𝑑𝑒𝑑</m:t>
                          </m:r>
                        </m:num>
                        <m:den>
                          <m:r>
                            <a:rPr lang="en-US" sz="2400" b="0" i="1" smtClean="0">
                              <a:latin typeface="Cambria Math" panose="02040503050406030204" pitchFamily="18" charset="0"/>
                            </a:rPr>
                            <m:t>% </m:t>
                          </m:r>
                          <m:r>
                            <a:rPr lang="en-US" sz="2400" b="0" i="1" smtClean="0">
                              <a:latin typeface="Cambria Math" panose="02040503050406030204" pitchFamily="18" charset="0"/>
                            </a:rPr>
                            <m:t>𝐶h𝑎𝑛𝑔𝑒</m:t>
                          </m:r>
                          <m:r>
                            <a:rPr lang="en-US" sz="2400" b="0" i="1" smtClean="0">
                              <a:latin typeface="Cambria Math" panose="02040503050406030204" pitchFamily="18" charset="0"/>
                            </a:rPr>
                            <m:t> </m:t>
                          </m:r>
                          <m:r>
                            <a:rPr lang="en-US" sz="2400" b="0" i="1" smtClean="0">
                              <a:latin typeface="Cambria Math" panose="02040503050406030204" pitchFamily="18" charset="0"/>
                            </a:rPr>
                            <m:t>𝑖𝑛</m:t>
                          </m:r>
                          <m:r>
                            <a:rPr lang="en-US" sz="2400" b="0" i="1" smtClean="0">
                              <a:latin typeface="Cambria Math" panose="02040503050406030204" pitchFamily="18" charset="0"/>
                            </a:rPr>
                            <m:t> </m:t>
                          </m:r>
                          <m:r>
                            <a:rPr lang="en-US" sz="2400" b="0" i="1" smtClean="0">
                              <a:latin typeface="Cambria Math" panose="02040503050406030204" pitchFamily="18" charset="0"/>
                            </a:rPr>
                            <m:t>𝑃𝑟𝑖𝑐𝑒</m:t>
                          </m:r>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𝑄</m:t>
                          </m:r>
                          <m:r>
                            <a:rPr lang="en-US" sz="2400" b="0" i="1" smtClean="0">
                              <a:latin typeface="Cambria Math" panose="02040503050406030204" pitchFamily="18" charset="0"/>
                            </a:rPr>
                            <m:t>/</m:t>
                          </m:r>
                          <m:r>
                            <a:rPr lang="en-US" sz="2400" b="0" i="1" smtClean="0">
                              <a:latin typeface="Cambria Math" panose="02040503050406030204" pitchFamily="18" charset="0"/>
                            </a:rPr>
                            <m:t>𝑄</m:t>
                          </m:r>
                        </m:num>
                        <m:den>
                          <m:r>
                            <m:rPr>
                              <m:sty m:val="p"/>
                            </m:rPr>
                            <a:rPr lang="en-US" sz="2400" b="0" i="0" smtClean="0">
                              <a:latin typeface="Cambria Math" panose="02040503050406030204" pitchFamily="18" charset="0"/>
                            </a:rPr>
                            <m:t>Δ</m:t>
                          </m:r>
                          <m:r>
                            <a:rPr lang="en-US" sz="2400" b="0" i="1" smtClean="0">
                              <a:latin typeface="Cambria Math" panose="02040503050406030204" pitchFamily="18" charset="0"/>
                            </a:rPr>
                            <m:t>𝑃</m:t>
                          </m:r>
                          <m:r>
                            <a:rPr lang="en-US" sz="2400" b="0" i="1" smtClean="0">
                              <a:latin typeface="Cambria Math" panose="02040503050406030204" pitchFamily="18" charset="0"/>
                            </a:rPr>
                            <m:t>/</m:t>
                          </m:r>
                          <m:r>
                            <a:rPr lang="en-US" sz="2400" b="0" i="1" smtClean="0">
                              <a:latin typeface="Cambria Math" panose="02040503050406030204" pitchFamily="18" charset="0"/>
                            </a:rPr>
                            <m:t>𝑃</m:t>
                          </m:r>
                        </m:den>
                      </m:f>
                    </m:oMath>
                  </m:oMathPara>
                </a14:m>
                <a:endParaRPr lang="en-US" sz="2400" dirty="0"/>
              </a:p>
              <a:p>
                <a:endParaRPr lang="en-US" sz="2400" dirty="0"/>
              </a:p>
              <a:p>
                <a:r>
                  <a:rPr lang="en-US" sz="2400" dirty="0"/>
                  <a:t>Under certain conditions:</a:t>
                </a:r>
              </a:p>
              <a:p>
                <a:pPr marL="0" indent="0">
                  <a:buNone/>
                </a:pPr>
                <a14:m>
                  <m:oMathPara xmlns:m="http://schemas.openxmlformats.org/officeDocument/2006/math">
                    <m:oMathParaPr>
                      <m:jc m:val="centerGroup"/>
                    </m:oMathParaPr>
                    <m:oMath xmlns:m="http://schemas.openxmlformats.org/officeDocument/2006/math">
                      <m:f>
                        <m:fPr>
                          <m:ctrlPr>
                            <a:rPr lang="en-US" sz="2400" b="0" i="1" smtClean="0">
                              <a:latin typeface="Cambria Math" panose="02040503050406030204" pitchFamily="18" charset="0"/>
                            </a:rPr>
                          </m:ctrlPr>
                        </m:fPr>
                        <m:num>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𝑃</m:t>
                              </m:r>
                            </m:e>
                            <m:sup>
                              <m:r>
                                <a:rPr lang="en-US" sz="2400" b="0" i="1" smtClean="0">
                                  <a:latin typeface="Cambria Math" panose="02040503050406030204" pitchFamily="18" charset="0"/>
                                </a:rPr>
                                <m:t>∗</m:t>
                              </m:r>
                            </m:sup>
                          </m:sSup>
                          <m:r>
                            <a:rPr lang="en-US" sz="2400" b="0" i="1" smtClean="0">
                              <a:latin typeface="Cambria Math" panose="02040503050406030204" pitchFamily="18" charset="0"/>
                            </a:rPr>
                            <m:t>−</m:t>
                          </m:r>
                          <m:r>
                            <a:rPr lang="en-US" sz="2400" b="0" i="1" smtClean="0">
                              <a:latin typeface="Cambria Math" panose="02040503050406030204" pitchFamily="18" charset="0"/>
                            </a:rPr>
                            <m:t>𝑀𝐶</m:t>
                          </m:r>
                        </m:num>
                        <m:den>
                          <m:sSup>
                            <m:sSupPr>
                              <m:ctrlPr>
                                <a:rPr lang="en-US" sz="2400" b="0" i="1" smtClean="0">
                                  <a:latin typeface="Cambria Math" panose="02040503050406030204" pitchFamily="18" charset="0"/>
                                </a:rPr>
                              </m:ctrlPr>
                            </m:sSupPr>
                            <m:e>
                              <m:r>
                                <a:rPr lang="en-US" sz="2400" b="0" i="1" smtClean="0">
                                  <a:latin typeface="Cambria Math" panose="02040503050406030204" pitchFamily="18" charset="0"/>
                                </a:rPr>
                                <m:t>𝑃</m:t>
                              </m:r>
                            </m:e>
                            <m:sup>
                              <m:r>
                                <a:rPr lang="en-US" sz="2400" b="0" i="1" smtClean="0">
                                  <a:latin typeface="Cambria Math" panose="02040503050406030204" pitchFamily="18" charset="0"/>
                                </a:rPr>
                                <m:t>∗</m:t>
                              </m:r>
                            </m:sup>
                          </m:sSup>
                        </m:den>
                      </m:f>
                      <m:r>
                        <a:rPr lang="en-US" sz="2400" b="0" i="1" smtClean="0">
                          <a:latin typeface="Cambria Math" panose="02040503050406030204" pitchFamily="18" charset="0"/>
                        </a:rPr>
                        <m:t>=−</m:t>
                      </m:r>
                      <m:f>
                        <m:fPr>
                          <m:ctrlPr>
                            <a:rPr lang="en-US" sz="2400" b="0" i="1" smtClean="0">
                              <a:latin typeface="Cambria Math" panose="02040503050406030204" pitchFamily="18" charset="0"/>
                            </a:rPr>
                          </m:ctrlPr>
                        </m:fPr>
                        <m:num>
                          <m:r>
                            <a:rPr lang="en-US" sz="2400" b="0" i="1" smtClean="0">
                              <a:latin typeface="Cambria Math" panose="02040503050406030204" pitchFamily="18" charset="0"/>
                            </a:rPr>
                            <m:t>1</m:t>
                          </m:r>
                        </m:num>
                        <m:den>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𝑑</m:t>
                              </m:r>
                            </m:sub>
                          </m:sSub>
                        </m:den>
                      </m:f>
                    </m:oMath>
                  </m:oMathPara>
                </a14:m>
                <a:endParaRPr lang="en-US" sz="2400" dirty="0"/>
              </a:p>
              <a:p>
                <a:r>
                  <a:rPr lang="en-US" sz="2400" dirty="0"/>
                  <a:t>Implications</a:t>
                </a:r>
              </a:p>
              <a:p>
                <a:pPr lvl="1"/>
                <a:r>
                  <a:rPr lang="en-US" sz="2400" dirty="0"/>
                  <a:t>If elasticity is close to 0, optimal markups can be large</a:t>
                </a:r>
              </a:p>
              <a:p>
                <a:pPr lvl="1"/>
                <a:r>
                  <a:rPr lang="en-US" sz="2400" dirty="0"/>
                  <a:t>If people are price elastic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𝐸</m:t>
                        </m:r>
                      </m:e>
                      <m:sub>
                        <m:r>
                          <a:rPr lang="en-US" sz="2400" b="0" i="1" smtClean="0">
                            <a:latin typeface="Cambria Math" panose="02040503050406030204" pitchFamily="18" charset="0"/>
                          </a:rPr>
                          <m:t>𝑑</m:t>
                        </m:r>
                      </m:sub>
                    </m:sSub>
                  </m:oMath>
                </a14:m>
                <a:r>
                  <a:rPr lang="en-US" sz="2400" dirty="0"/>
                  <a:t> very negative) optimal markups smaller</a:t>
                </a:r>
              </a:p>
              <a:p>
                <a:pPr lvl="1"/>
                <a:endParaRPr lang="en-US" sz="2400" dirty="0"/>
              </a:p>
              <a:p>
                <a:pPr marL="0" indent="0">
                  <a:buNone/>
                </a:pPr>
                <a:endParaRPr lang="en-US" sz="2400" dirty="0"/>
              </a:p>
              <a:p>
                <a:pPr marL="0" indent="0">
                  <a:buNone/>
                </a:pPr>
                <a:endParaRPr lang="en-US" sz="2400" dirty="0"/>
              </a:p>
            </p:txBody>
          </p:sp>
        </mc:Choice>
        <mc:Fallback xmlns="">
          <p:sp>
            <p:nvSpPr>
              <p:cNvPr id="66" name="Text Placeholder 3">
                <a:extLst>
                  <a:ext uri="{FF2B5EF4-FFF2-40B4-BE49-F238E27FC236}">
                    <a16:creationId xmlns:a16="http://schemas.microsoft.com/office/drawing/2014/main" id="{CD00F711-BAF2-5834-7A40-F764B247D111}"/>
                  </a:ext>
                </a:extLst>
              </p:cNvPr>
              <p:cNvSpPr>
                <a:spLocks noGrp="1" noRot="1" noChangeAspect="1" noMove="1" noResize="1" noEditPoints="1" noAdjustHandles="1" noChangeArrowheads="1" noChangeShapeType="1" noTextEdit="1"/>
              </p:cNvSpPr>
              <p:nvPr>
                <p:ph type="body" sz="quarter" idx="14"/>
              </p:nvPr>
            </p:nvSpPr>
            <p:spPr>
              <a:xfrm>
                <a:off x="1828800" y="1500189"/>
                <a:ext cx="8755380" cy="3828738"/>
              </a:xfrm>
              <a:blipFill>
                <a:blip r:embed="rId3"/>
                <a:stretch>
                  <a:fillRect l="-1739" t="-2318"/>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F7AF2E3D-ADD1-8578-15C3-EEEF71E956EB}"/>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6BCFC45E-937A-BB0F-5B42-E204573B398B}"/>
              </a:ext>
            </a:extLst>
          </p:cNvPr>
          <p:cNvSpPr>
            <a:spLocks noGrp="1"/>
          </p:cNvSpPr>
          <p:nvPr>
            <p:ph type="sldNum" sz="quarter" idx="12"/>
          </p:nvPr>
        </p:nvSpPr>
        <p:spPr/>
        <p:txBody>
          <a:bodyPr/>
          <a:lstStyle/>
          <a:p>
            <a:fld id="{8A7A6979-0714-4377-B894-6BE4C2D6E202}" type="slidenum">
              <a:rPr lang="en-US" smtClean="0"/>
              <a:pPr/>
              <a:t>7</a:t>
            </a:fld>
            <a:endParaRPr lang="en-US" dirty="0"/>
          </a:p>
        </p:txBody>
      </p:sp>
    </p:spTree>
    <p:extLst>
      <p:ext uri="{BB962C8B-B14F-4D97-AF65-F5344CB8AC3E}">
        <p14:creationId xmlns:p14="http://schemas.microsoft.com/office/powerpoint/2010/main" val="310120593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6">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66">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66">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66">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66">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0B8B195-3936-E6FA-A358-4592928811C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55EA774-B700-C583-1324-849B91E5B29E}"/>
              </a:ext>
            </a:extLst>
          </p:cNvPr>
          <p:cNvSpPr>
            <a:spLocks noGrp="1"/>
          </p:cNvSpPr>
          <p:nvPr>
            <p:ph type="ctrTitle"/>
          </p:nvPr>
        </p:nvSpPr>
        <p:spPr/>
        <p:txBody>
          <a:bodyPr/>
          <a:lstStyle/>
          <a:p>
            <a:r>
              <a:rPr lang="en-US" dirty="0"/>
              <a:t>Using Data to Segment Customers</a:t>
            </a:r>
          </a:p>
        </p:txBody>
      </p:sp>
      <p:sp>
        <p:nvSpPr>
          <p:cNvPr id="4" name="Text Placeholder 3">
            <a:extLst>
              <a:ext uri="{FF2B5EF4-FFF2-40B4-BE49-F238E27FC236}">
                <a16:creationId xmlns:a16="http://schemas.microsoft.com/office/drawing/2014/main" id="{1EFC83DA-149C-003F-CCB9-9DC3B10B64AC}"/>
              </a:ext>
            </a:extLst>
          </p:cNvPr>
          <p:cNvSpPr>
            <a:spLocks noGrp="1"/>
          </p:cNvSpPr>
          <p:nvPr>
            <p:ph type="body" sz="quarter" idx="14"/>
          </p:nvPr>
        </p:nvSpPr>
        <p:spPr>
          <a:xfrm>
            <a:off x="1828800" y="1500189"/>
            <a:ext cx="8755380" cy="4186236"/>
          </a:xfrm>
        </p:spPr>
        <p:txBody>
          <a:bodyPr>
            <a:normAutofit/>
          </a:bodyPr>
          <a:lstStyle/>
          <a:p>
            <a:r>
              <a:rPr lang="en-US" sz="2400" dirty="0"/>
              <a:t>We can also try to predict our high-value customers</a:t>
            </a:r>
          </a:p>
          <a:p>
            <a:pPr lvl="1"/>
            <a:r>
              <a:rPr lang="en-US" sz="2400" dirty="0"/>
              <a:t>Customers who value product a bunch</a:t>
            </a:r>
          </a:p>
          <a:p>
            <a:pPr lvl="1"/>
            <a:r>
              <a:rPr lang="en-US" sz="2400" dirty="0"/>
              <a:t>Also known as price-inelastic customers</a:t>
            </a:r>
          </a:p>
          <a:p>
            <a:pPr lvl="2"/>
            <a:r>
              <a:rPr lang="en-US" sz="2400" dirty="0"/>
              <a:t>If we raise prices, they still purchase</a:t>
            </a:r>
          </a:p>
          <a:p>
            <a:endParaRPr lang="en-US" sz="2400" dirty="0"/>
          </a:p>
          <a:p>
            <a:r>
              <a:rPr lang="en-US" sz="2400" dirty="0"/>
              <a:t>If we can identify these customers, potential to charge them a different price</a:t>
            </a:r>
          </a:p>
          <a:p>
            <a:pPr lvl="1"/>
            <a:r>
              <a:rPr lang="en-US" sz="2400" dirty="0"/>
              <a:t>Known as personalized pricing or “price discrimination”</a:t>
            </a:r>
          </a:p>
          <a:p>
            <a:pPr lvl="1"/>
            <a:r>
              <a:rPr lang="en-US" sz="2400" dirty="0"/>
              <a:t>Common methods: Student discount, changing prices over time</a:t>
            </a:r>
          </a:p>
        </p:txBody>
      </p:sp>
      <p:sp>
        <p:nvSpPr>
          <p:cNvPr id="5" name="Date Placeholder 4">
            <a:extLst>
              <a:ext uri="{FF2B5EF4-FFF2-40B4-BE49-F238E27FC236}">
                <a16:creationId xmlns:a16="http://schemas.microsoft.com/office/drawing/2014/main" id="{0E508319-644F-9A12-C6F3-2069EF0CD735}"/>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4B39AE9A-F09F-7F37-E9D6-0CD78B81E902}"/>
              </a:ext>
            </a:extLst>
          </p:cNvPr>
          <p:cNvSpPr>
            <a:spLocks noGrp="1"/>
          </p:cNvSpPr>
          <p:nvPr>
            <p:ph type="sldNum" sz="quarter" idx="12"/>
          </p:nvPr>
        </p:nvSpPr>
        <p:spPr/>
        <p:txBody>
          <a:bodyPr/>
          <a:lstStyle/>
          <a:p>
            <a:fld id="{8A7A6979-0714-4377-B894-6BE4C2D6E202}" type="slidenum">
              <a:rPr lang="en-US" smtClean="0"/>
              <a:pPr/>
              <a:t>8</a:t>
            </a:fld>
            <a:endParaRPr lang="en-US" dirty="0"/>
          </a:p>
        </p:txBody>
      </p:sp>
    </p:spTree>
    <p:extLst>
      <p:ext uri="{BB962C8B-B14F-4D97-AF65-F5344CB8AC3E}">
        <p14:creationId xmlns:p14="http://schemas.microsoft.com/office/powerpoint/2010/main" val="393704901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5" end="5"/>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6" end="6"/>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26953E-BBBC-70C5-0AE1-AA1799C3B1E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023EBD6-BF79-6691-D562-D349BD16797D}"/>
              </a:ext>
            </a:extLst>
          </p:cNvPr>
          <p:cNvSpPr>
            <a:spLocks noGrp="1"/>
          </p:cNvSpPr>
          <p:nvPr>
            <p:ph type="ctrTitle"/>
          </p:nvPr>
        </p:nvSpPr>
        <p:spPr/>
        <p:txBody>
          <a:bodyPr/>
          <a:lstStyle/>
          <a:p>
            <a:r>
              <a:rPr lang="en-US" dirty="0"/>
              <a:t>Bundling</a:t>
            </a:r>
          </a:p>
        </p:txBody>
      </p:sp>
      <p:sp>
        <p:nvSpPr>
          <p:cNvPr id="4" name="Text Placeholder 3">
            <a:extLst>
              <a:ext uri="{FF2B5EF4-FFF2-40B4-BE49-F238E27FC236}">
                <a16:creationId xmlns:a16="http://schemas.microsoft.com/office/drawing/2014/main" id="{2472DEDE-7755-E244-5AD0-DDFB6F26AF36}"/>
              </a:ext>
            </a:extLst>
          </p:cNvPr>
          <p:cNvSpPr>
            <a:spLocks noGrp="1"/>
          </p:cNvSpPr>
          <p:nvPr>
            <p:ph type="body" sz="quarter" idx="14"/>
          </p:nvPr>
        </p:nvSpPr>
        <p:spPr>
          <a:xfrm>
            <a:off x="1828800" y="1500189"/>
            <a:ext cx="8755380" cy="4186236"/>
          </a:xfrm>
        </p:spPr>
        <p:txBody>
          <a:bodyPr>
            <a:normAutofit/>
          </a:bodyPr>
          <a:lstStyle/>
          <a:p>
            <a:r>
              <a:rPr lang="en-US" sz="2400" dirty="0"/>
              <a:t>Bundling allows you to (potentially) extract value in a world with heterogeneous preferences</a:t>
            </a:r>
          </a:p>
          <a:p>
            <a:endParaRPr lang="en-US" sz="2400" dirty="0"/>
          </a:p>
          <a:p>
            <a:r>
              <a:rPr lang="en-US" sz="2400" dirty="0"/>
              <a:t>Idea is value for the bundle is often more stable than value of individual goods</a:t>
            </a:r>
          </a:p>
          <a:p>
            <a:pPr lvl="1"/>
            <a:r>
              <a:rPr lang="en-US" sz="2400" dirty="0"/>
              <a:t>Can be formalized using a law of large numbers argument</a:t>
            </a:r>
          </a:p>
          <a:p>
            <a:endParaRPr lang="en-US" sz="2400" dirty="0"/>
          </a:p>
          <a:p>
            <a:r>
              <a:rPr lang="en-US" sz="2400" dirty="0"/>
              <a:t>This allows bundling strategies to extract more value</a:t>
            </a:r>
          </a:p>
          <a:p>
            <a:pPr lvl="1"/>
            <a:r>
              <a:rPr lang="en-US" sz="2400" dirty="0"/>
              <a:t>Often relies on zero marginal costs and free disposal</a:t>
            </a:r>
          </a:p>
        </p:txBody>
      </p:sp>
      <p:sp>
        <p:nvSpPr>
          <p:cNvPr id="5" name="Date Placeholder 4">
            <a:extLst>
              <a:ext uri="{FF2B5EF4-FFF2-40B4-BE49-F238E27FC236}">
                <a16:creationId xmlns:a16="http://schemas.microsoft.com/office/drawing/2014/main" id="{BA108066-4897-F6D5-2D3A-E6DEB7576612}"/>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FB354987-0893-17AE-88E1-77C3AB49C98C}"/>
              </a:ext>
            </a:extLst>
          </p:cNvPr>
          <p:cNvSpPr>
            <a:spLocks noGrp="1"/>
          </p:cNvSpPr>
          <p:nvPr>
            <p:ph type="sldNum" sz="quarter" idx="12"/>
          </p:nvPr>
        </p:nvSpPr>
        <p:spPr/>
        <p:txBody>
          <a:bodyPr/>
          <a:lstStyle/>
          <a:p>
            <a:fld id="{8A7A6979-0714-4377-B894-6BE4C2D6E202}" type="slidenum">
              <a:rPr lang="en-US" smtClean="0"/>
              <a:pPr/>
              <a:t>9</a:t>
            </a:fld>
            <a:endParaRPr lang="en-US" dirty="0"/>
          </a:p>
        </p:txBody>
      </p:sp>
    </p:spTree>
    <p:extLst>
      <p:ext uri="{BB962C8B-B14F-4D97-AF65-F5344CB8AC3E}">
        <p14:creationId xmlns:p14="http://schemas.microsoft.com/office/powerpoint/2010/main" val="105103870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5" end="5"/>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E810DF5-DDA2-C769-F7DC-C95DF02C179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A0E1197-6F64-1879-3F7C-B7E32B0B97F6}"/>
              </a:ext>
            </a:extLst>
          </p:cNvPr>
          <p:cNvSpPr>
            <a:spLocks noGrp="1"/>
          </p:cNvSpPr>
          <p:nvPr>
            <p:ph type="ctrTitle"/>
          </p:nvPr>
        </p:nvSpPr>
        <p:spPr>
          <a:xfrm>
            <a:off x="2647199" y="1501742"/>
            <a:ext cx="7300940" cy="1329595"/>
          </a:xfrm>
        </p:spPr>
        <p:txBody>
          <a:bodyPr/>
          <a:lstStyle/>
          <a:p>
            <a:r>
              <a:rPr lang="en-US" dirty="0"/>
              <a:t>Motivation for studying platforms</a:t>
            </a:r>
          </a:p>
        </p:txBody>
      </p:sp>
      <p:sp>
        <p:nvSpPr>
          <p:cNvPr id="4" name="Date Placeholder 3">
            <a:extLst>
              <a:ext uri="{FF2B5EF4-FFF2-40B4-BE49-F238E27FC236}">
                <a16:creationId xmlns:a16="http://schemas.microsoft.com/office/drawing/2014/main" id="{57CAF454-7063-3C5B-7B01-AECF8C93CE6D}"/>
              </a:ext>
            </a:extLst>
          </p:cNvPr>
          <p:cNvSpPr>
            <a:spLocks noGrp="1"/>
          </p:cNvSpPr>
          <p:nvPr>
            <p:ph type="dt" sz="half" idx="10"/>
          </p:nvPr>
        </p:nvSpPr>
        <p:spPr/>
        <p:txBody>
          <a:bodyPr/>
          <a:lstStyle/>
          <a:p>
            <a:fld id="{D47A9A36-4EB0-BF46-AE48-7CDA251B954B}" type="datetime1">
              <a:rPr lang="en-US" smtClean="0"/>
              <a:pPr/>
              <a:t>11/17/2025</a:t>
            </a:fld>
            <a:endParaRPr lang="en-US" dirty="0"/>
          </a:p>
        </p:txBody>
      </p:sp>
      <p:sp>
        <p:nvSpPr>
          <p:cNvPr id="5" name="Slide Number Placeholder 4">
            <a:extLst>
              <a:ext uri="{FF2B5EF4-FFF2-40B4-BE49-F238E27FC236}">
                <a16:creationId xmlns:a16="http://schemas.microsoft.com/office/drawing/2014/main" id="{3200429F-1039-0775-B010-07C71A259BB5}"/>
              </a:ext>
            </a:extLst>
          </p:cNvPr>
          <p:cNvSpPr>
            <a:spLocks noGrp="1"/>
          </p:cNvSpPr>
          <p:nvPr>
            <p:ph type="sldNum" sz="quarter" idx="12"/>
          </p:nvPr>
        </p:nvSpPr>
        <p:spPr/>
        <p:txBody>
          <a:bodyPr/>
          <a:lstStyle/>
          <a:p>
            <a:fld id="{8A7A6979-0714-4377-B894-6BE4C2D6E202}" type="slidenum">
              <a:rPr lang="en-US" smtClean="0"/>
              <a:pPr/>
              <a:t>10</a:t>
            </a:fld>
            <a:endParaRPr lang="en-US" dirty="0"/>
          </a:p>
        </p:txBody>
      </p:sp>
    </p:spTree>
    <p:extLst>
      <p:ext uri="{BB962C8B-B14F-4D97-AF65-F5344CB8AC3E}">
        <p14:creationId xmlns:p14="http://schemas.microsoft.com/office/powerpoint/2010/main" val="64697661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F2440F-9499-2526-E89E-BD23838F69A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4CC75BC-8428-8C41-CA75-7E6FF5322635}"/>
              </a:ext>
            </a:extLst>
          </p:cNvPr>
          <p:cNvSpPr>
            <a:spLocks noGrp="1"/>
          </p:cNvSpPr>
          <p:nvPr>
            <p:ph type="ctrTitle"/>
          </p:nvPr>
        </p:nvSpPr>
        <p:spPr/>
        <p:txBody>
          <a:bodyPr/>
          <a:lstStyle/>
          <a:p>
            <a:r>
              <a:rPr lang="en-US" dirty="0"/>
              <a:t>Platforms</a:t>
            </a:r>
          </a:p>
        </p:txBody>
      </p:sp>
      <p:sp>
        <p:nvSpPr>
          <p:cNvPr id="4" name="Text Placeholder 3">
            <a:extLst>
              <a:ext uri="{FF2B5EF4-FFF2-40B4-BE49-F238E27FC236}">
                <a16:creationId xmlns:a16="http://schemas.microsoft.com/office/drawing/2014/main" id="{FD254652-1705-0F1F-90A0-FCE84506A39F}"/>
              </a:ext>
            </a:extLst>
          </p:cNvPr>
          <p:cNvSpPr>
            <a:spLocks noGrp="1"/>
          </p:cNvSpPr>
          <p:nvPr>
            <p:ph type="body" sz="quarter" idx="14"/>
          </p:nvPr>
        </p:nvSpPr>
        <p:spPr>
          <a:xfrm>
            <a:off x="1828800" y="1500189"/>
            <a:ext cx="8755380" cy="4186236"/>
          </a:xfrm>
        </p:spPr>
        <p:txBody>
          <a:bodyPr>
            <a:normAutofit/>
          </a:bodyPr>
          <a:lstStyle/>
          <a:p>
            <a:r>
              <a:rPr lang="en-US" sz="2400" dirty="0"/>
              <a:t>“A platform is a business based on enabling value-creating interactions between external producers and consumers.”</a:t>
            </a:r>
          </a:p>
          <a:p>
            <a:pPr marL="0" indent="0">
              <a:buNone/>
            </a:pPr>
            <a:r>
              <a:rPr lang="en-US" sz="2400" dirty="0"/>
              <a:t>							- Parker, Van Alstyne &amp; </a:t>
            </a:r>
            <a:r>
              <a:rPr lang="en-US" sz="2400" dirty="0" err="1"/>
              <a:t>Choudary</a:t>
            </a:r>
            <a:r>
              <a:rPr lang="en-US" sz="2400" dirty="0"/>
              <a:t> </a:t>
            </a:r>
          </a:p>
          <a:p>
            <a:pPr marL="0" indent="0">
              <a:buNone/>
            </a:pPr>
            <a:endParaRPr lang="en-US" sz="2400" dirty="0"/>
          </a:p>
          <a:p>
            <a:r>
              <a:rPr lang="en-US" sz="2400" dirty="0"/>
              <a:t>Platforms provide infrastructure &amp; governance</a:t>
            </a:r>
          </a:p>
          <a:p>
            <a:pPr lvl="1"/>
            <a:r>
              <a:rPr lang="en-US" sz="2400" dirty="0"/>
              <a:t>Anyone can participate within certain boundaries</a:t>
            </a:r>
          </a:p>
          <a:p>
            <a:pPr lvl="1"/>
            <a:r>
              <a:rPr lang="en-US" sz="2400" dirty="0"/>
              <a:t>Platform facilitates matches among participants</a:t>
            </a:r>
          </a:p>
        </p:txBody>
      </p:sp>
      <p:sp>
        <p:nvSpPr>
          <p:cNvPr id="5" name="Date Placeholder 4">
            <a:extLst>
              <a:ext uri="{FF2B5EF4-FFF2-40B4-BE49-F238E27FC236}">
                <a16:creationId xmlns:a16="http://schemas.microsoft.com/office/drawing/2014/main" id="{80728126-576E-D100-F621-4E8CF409262B}"/>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9EAEDEC3-3778-5012-B9FA-76009AB2D578}"/>
              </a:ext>
            </a:extLst>
          </p:cNvPr>
          <p:cNvSpPr>
            <a:spLocks noGrp="1"/>
          </p:cNvSpPr>
          <p:nvPr>
            <p:ph type="sldNum" sz="quarter" idx="12"/>
          </p:nvPr>
        </p:nvSpPr>
        <p:spPr/>
        <p:txBody>
          <a:bodyPr/>
          <a:lstStyle/>
          <a:p>
            <a:fld id="{8A7A6979-0714-4377-B894-6BE4C2D6E202}" type="slidenum">
              <a:rPr lang="en-US" smtClean="0"/>
              <a:pPr/>
              <a:t>11</a:t>
            </a:fld>
            <a:endParaRPr lang="en-US" dirty="0"/>
          </a:p>
        </p:txBody>
      </p:sp>
    </p:spTree>
    <p:extLst>
      <p:ext uri="{BB962C8B-B14F-4D97-AF65-F5344CB8AC3E}">
        <p14:creationId xmlns:p14="http://schemas.microsoft.com/office/powerpoint/2010/main" val="428973052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DB5CEB2-94E0-65F3-47A1-A218FF0EB91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21609D6-2792-5DF6-46C5-A6A55C95ECC6}"/>
              </a:ext>
            </a:extLst>
          </p:cNvPr>
          <p:cNvSpPr>
            <a:spLocks noGrp="1"/>
          </p:cNvSpPr>
          <p:nvPr>
            <p:ph type="ctrTitle"/>
          </p:nvPr>
        </p:nvSpPr>
        <p:spPr/>
        <p:txBody>
          <a:bodyPr/>
          <a:lstStyle/>
          <a:p>
            <a:r>
              <a:rPr lang="en-US" dirty="0"/>
              <a:t>Platform Companies Are Ubiquitous in Economy</a:t>
            </a:r>
          </a:p>
        </p:txBody>
      </p:sp>
      <p:graphicFrame>
        <p:nvGraphicFramePr>
          <p:cNvPr id="7" name="Table 6">
            <a:extLst>
              <a:ext uri="{FF2B5EF4-FFF2-40B4-BE49-F238E27FC236}">
                <a16:creationId xmlns:a16="http://schemas.microsoft.com/office/drawing/2014/main" id="{78385685-B599-105A-0461-835ECC3969BB}"/>
              </a:ext>
            </a:extLst>
          </p:cNvPr>
          <p:cNvGraphicFramePr>
            <a:graphicFrameLocks noGrp="1"/>
          </p:cNvGraphicFramePr>
          <p:nvPr>
            <p:extLst>
              <p:ext uri="{D42A27DB-BD31-4B8C-83A1-F6EECF244321}">
                <p14:modId xmlns:p14="http://schemas.microsoft.com/office/powerpoint/2010/main" val="1202761547"/>
              </p:ext>
            </p:extLst>
          </p:nvPr>
        </p:nvGraphicFramePr>
        <p:xfrm>
          <a:off x="2595245" y="1076930"/>
          <a:ext cx="7001510" cy="4704140"/>
        </p:xfrm>
        <a:graphic>
          <a:graphicData uri="http://schemas.openxmlformats.org/drawingml/2006/table">
            <a:tbl>
              <a:tblPr firstRow="1" bandRow="1">
                <a:tableStyleId>{5C22544A-7EE6-4342-B048-85BDC9FD1C3A}</a:tableStyleId>
              </a:tblPr>
              <a:tblGrid>
                <a:gridCol w="3500755">
                  <a:extLst>
                    <a:ext uri="{9D8B030D-6E8A-4147-A177-3AD203B41FA5}">
                      <a16:colId xmlns:a16="http://schemas.microsoft.com/office/drawing/2014/main" val="2817456865"/>
                    </a:ext>
                  </a:extLst>
                </a:gridCol>
                <a:gridCol w="3500755">
                  <a:extLst>
                    <a:ext uri="{9D8B030D-6E8A-4147-A177-3AD203B41FA5}">
                      <a16:colId xmlns:a16="http://schemas.microsoft.com/office/drawing/2014/main" val="1799165420"/>
                    </a:ext>
                  </a:extLst>
                </a:gridCol>
              </a:tblGrid>
              <a:tr h="319444">
                <a:tc>
                  <a:txBody>
                    <a:bodyPr/>
                    <a:lstStyle/>
                    <a:p>
                      <a:r>
                        <a:rPr lang="en-US" sz="1500" dirty="0"/>
                        <a:t>Industry</a:t>
                      </a:r>
                    </a:p>
                  </a:txBody>
                  <a:tcPr marL="78767" marR="78767" marT="39384" marB="39384"/>
                </a:tc>
                <a:tc>
                  <a:txBody>
                    <a:bodyPr/>
                    <a:lstStyle/>
                    <a:p>
                      <a:r>
                        <a:rPr lang="en-US" sz="1500" dirty="0"/>
                        <a:t>Examples</a:t>
                      </a:r>
                    </a:p>
                  </a:txBody>
                  <a:tcPr marL="78767" marR="78767" marT="39384" marB="39384"/>
                </a:tc>
                <a:extLst>
                  <a:ext uri="{0D108BD9-81ED-4DB2-BD59-A6C34878D82A}">
                    <a16:rowId xmlns:a16="http://schemas.microsoft.com/office/drawing/2014/main" val="2457213252"/>
                  </a:ext>
                </a:extLst>
              </a:tr>
              <a:tr h="319444">
                <a:tc>
                  <a:txBody>
                    <a:bodyPr/>
                    <a:lstStyle/>
                    <a:p>
                      <a:r>
                        <a:rPr lang="en-US" sz="1500" dirty="0"/>
                        <a:t>Communication &amp; Networking</a:t>
                      </a:r>
                    </a:p>
                  </a:txBody>
                  <a:tcPr marL="78767" marR="78767" marT="39384" marB="39384"/>
                </a:tc>
                <a:tc>
                  <a:txBody>
                    <a:bodyPr/>
                    <a:lstStyle/>
                    <a:p>
                      <a:r>
                        <a:rPr lang="en-US" sz="1500" dirty="0"/>
                        <a:t>LinkedIn, Facebook, Twitter, Tinder, …</a:t>
                      </a:r>
                    </a:p>
                  </a:txBody>
                  <a:tcPr marL="78767" marR="78767" marT="39384" marB="39384"/>
                </a:tc>
                <a:extLst>
                  <a:ext uri="{0D108BD9-81ED-4DB2-BD59-A6C34878D82A}">
                    <a16:rowId xmlns:a16="http://schemas.microsoft.com/office/drawing/2014/main" val="1956203753"/>
                  </a:ext>
                </a:extLst>
              </a:tr>
              <a:tr h="319444">
                <a:tc>
                  <a:txBody>
                    <a:bodyPr/>
                    <a:lstStyle/>
                    <a:p>
                      <a:r>
                        <a:rPr lang="en-US" sz="1500" dirty="0"/>
                        <a:t>Consumer Goods</a:t>
                      </a:r>
                    </a:p>
                  </a:txBody>
                  <a:tcPr marL="78767" marR="78767" marT="39384" marB="39384"/>
                </a:tc>
                <a:tc>
                  <a:txBody>
                    <a:bodyPr/>
                    <a:lstStyle/>
                    <a:p>
                      <a:r>
                        <a:rPr lang="en-US" sz="1500" dirty="0"/>
                        <a:t>Philips, McCormick Foods </a:t>
                      </a:r>
                      <a:r>
                        <a:rPr lang="en-US" sz="1500" dirty="0" err="1"/>
                        <a:t>FlavorPrint</a:t>
                      </a:r>
                      <a:endParaRPr lang="en-US" sz="1500" dirty="0"/>
                    </a:p>
                  </a:txBody>
                  <a:tcPr marL="78767" marR="78767" marT="39384" marB="39384"/>
                </a:tc>
                <a:extLst>
                  <a:ext uri="{0D108BD9-81ED-4DB2-BD59-A6C34878D82A}">
                    <a16:rowId xmlns:a16="http://schemas.microsoft.com/office/drawing/2014/main" val="3547433958"/>
                  </a:ext>
                </a:extLst>
              </a:tr>
              <a:tr h="319444">
                <a:tc>
                  <a:txBody>
                    <a:bodyPr/>
                    <a:lstStyle/>
                    <a:p>
                      <a:r>
                        <a:rPr lang="en-US" sz="1500" dirty="0"/>
                        <a:t>Education</a:t>
                      </a:r>
                    </a:p>
                  </a:txBody>
                  <a:tcPr marL="78767" marR="78767" marT="39384" marB="39384"/>
                </a:tc>
                <a:tc>
                  <a:txBody>
                    <a:bodyPr/>
                    <a:lstStyle/>
                    <a:p>
                      <a:r>
                        <a:rPr lang="en-US" sz="1500" dirty="0"/>
                        <a:t>Udemy, </a:t>
                      </a:r>
                      <a:r>
                        <a:rPr lang="en-US" sz="1500" dirty="0" err="1"/>
                        <a:t>Skillshare</a:t>
                      </a:r>
                      <a:r>
                        <a:rPr lang="en-US" sz="1500" dirty="0"/>
                        <a:t>, Coursera</a:t>
                      </a:r>
                    </a:p>
                  </a:txBody>
                  <a:tcPr marL="78767" marR="78767" marT="39384" marB="39384"/>
                </a:tc>
                <a:extLst>
                  <a:ext uri="{0D108BD9-81ED-4DB2-BD59-A6C34878D82A}">
                    <a16:rowId xmlns:a16="http://schemas.microsoft.com/office/drawing/2014/main" val="2728946483"/>
                  </a:ext>
                </a:extLst>
              </a:tr>
              <a:tr h="319444">
                <a:tc>
                  <a:txBody>
                    <a:bodyPr/>
                    <a:lstStyle/>
                    <a:p>
                      <a:r>
                        <a:rPr lang="en-US" sz="1500" dirty="0"/>
                        <a:t>Energy</a:t>
                      </a:r>
                    </a:p>
                  </a:txBody>
                  <a:tcPr marL="78767" marR="78767" marT="39384" marB="39384"/>
                </a:tc>
                <a:tc>
                  <a:txBody>
                    <a:bodyPr/>
                    <a:lstStyle/>
                    <a:p>
                      <a:r>
                        <a:rPr lang="en-US" sz="1500" dirty="0"/>
                        <a:t>Nest</a:t>
                      </a:r>
                    </a:p>
                  </a:txBody>
                  <a:tcPr marL="78767" marR="78767" marT="39384" marB="39384"/>
                </a:tc>
                <a:extLst>
                  <a:ext uri="{0D108BD9-81ED-4DB2-BD59-A6C34878D82A}">
                    <a16:rowId xmlns:a16="http://schemas.microsoft.com/office/drawing/2014/main" val="928787506"/>
                  </a:ext>
                </a:extLst>
              </a:tr>
              <a:tr h="319444">
                <a:tc>
                  <a:txBody>
                    <a:bodyPr/>
                    <a:lstStyle/>
                    <a:p>
                      <a:r>
                        <a:rPr lang="en-US" sz="1500" dirty="0"/>
                        <a:t>Finance</a:t>
                      </a:r>
                    </a:p>
                  </a:txBody>
                  <a:tcPr marL="78767" marR="78767" marT="39384" marB="39384"/>
                </a:tc>
                <a:tc>
                  <a:txBody>
                    <a:bodyPr/>
                    <a:lstStyle/>
                    <a:p>
                      <a:r>
                        <a:rPr lang="en-US" sz="1500" dirty="0"/>
                        <a:t>Bitcoin, Kickstarter</a:t>
                      </a:r>
                    </a:p>
                  </a:txBody>
                  <a:tcPr marL="78767" marR="78767" marT="39384" marB="39384"/>
                </a:tc>
                <a:extLst>
                  <a:ext uri="{0D108BD9-81ED-4DB2-BD59-A6C34878D82A}">
                    <a16:rowId xmlns:a16="http://schemas.microsoft.com/office/drawing/2014/main" val="1167449141"/>
                  </a:ext>
                </a:extLst>
              </a:tr>
              <a:tr h="551368">
                <a:tc>
                  <a:txBody>
                    <a:bodyPr/>
                    <a:lstStyle/>
                    <a:p>
                      <a:r>
                        <a:rPr lang="en-US" sz="1500" dirty="0"/>
                        <a:t>Health Care</a:t>
                      </a:r>
                    </a:p>
                  </a:txBody>
                  <a:tcPr marL="78767" marR="78767" marT="39384" marB="39384"/>
                </a:tc>
                <a:tc>
                  <a:txBody>
                    <a:bodyPr/>
                    <a:lstStyle/>
                    <a:p>
                      <a:r>
                        <a:rPr lang="en-US" sz="1500" dirty="0" err="1"/>
                        <a:t>Cohealo</a:t>
                      </a:r>
                      <a:r>
                        <a:rPr lang="en-US" sz="1500" dirty="0"/>
                        <a:t>, </a:t>
                      </a:r>
                      <a:r>
                        <a:rPr lang="en-US" sz="1500" dirty="0" err="1"/>
                        <a:t>SimplyInsured</a:t>
                      </a:r>
                      <a:r>
                        <a:rPr lang="en-US" sz="1500" dirty="0"/>
                        <a:t>, Kaiser Permanente</a:t>
                      </a:r>
                    </a:p>
                  </a:txBody>
                  <a:tcPr marL="78767" marR="78767" marT="39384" marB="39384"/>
                </a:tc>
                <a:extLst>
                  <a:ext uri="{0D108BD9-81ED-4DB2-BD59-A6C34878D82A}">
                    <a16:rowId xmlns:a16="http://schemas.microsoft.com/office/drawing/2014/main" val="2340355831"/>
                  </a:ext>
                </a:extLst>
              </a:tr>
              <a:tr h="319444">
                <a:tc>
                  <a:txBody>
                    <a:bodyPr/>
                    <a:lstStyle/>
                    <a:p>
                      <a:r>
                        <a:rPr lang="en-US" sz="1500" dirty="0"/>
                        <a:t>Gaming</a:t>
                      </a:r>
                    </a:p>
                  </a:txBody>
                  <a:tcPr marL="78767" marR="78767" marT="39384" marB="39384"/>
                </a:tc>
                <a:tc>
                  <a:txBody>
                    <a:bodyPr/>
                    <a:lstStyle/>
                    <a:p>
                      <a:r>
                        <a:rPr lang="en-US" sz="1500" dirty="0"/>
                        <a:t>Xbox, Nintendo, PlayStation</a:t>
                      </a:r>
                    </a:p>
                  </a:txBody>
                  <a:tcPr marL="78767" marR="78767" marT="39384" marB="39384"/>
                </a:tc>
                <a:extLst>
                  <a:ext uri="{0D108BD9-81ED-4DB2-BD59-A6C34878D82A}">
                    <a16:rowId xmlns:a16="http://schemas.microsoft.com/office/drawing/2014/main" val="3075168245"/>
                  </a:ext>
                </a:extLst>
              </a:tr>
              <a:tr h="319444">
                <a:tc>
                  <a:txBody>
                    <a:bodyPr/>
                    <a:lstStyle/>
                    <a:p>
                      <a:r>
                        <a:rPr lang="en-US" sz="1500" dirty="0"/>
                        <a:t>Labor</a:t>
                      </a:r>
                    </a:p>
                  </a:txBody>
                  <a:tcPr marL="78767" marR="78767" marT="39384" marB="39384"/>
                </a:tc>
                <a:tc>
                  <a:txBody>
                    <a:bodyPr/>
                    <a:lstStyle/>
                    <a:p>
                      <a:r>
                        <a:rPr lang="en-US" sz="1500" dirty="0"/>
                        <a:t>Upwork, Fiverr, …</a:t>
                      </a:r>
                    </a:p>
                  </a:txBody>
                  <a:tcPr marL="78767" marR="78767" marT="39384" marB="39384"/>
                </a:tc>
                <a:extLst>
                  <a:ext uri="{0D108BD9-81ED-4DB2-BD59-A6C34878D82A}">
                    <a16:rowId xmlns:a16="http://schemas.microsoft.com/office/drawing/2014/main" val="3208490591"/>
                  </a:ext>
                </a:extLst>
              </a:tr>
              <a:tr h="319444">
                <a:tc>
                  <a:txBody>
                    <a:bodyPr/>
                    <a:lstStyle/>
                    <a:p>
                      <a:r>
                        <a:rPr lang="en-US" sz="1500" dirty="0"/>
                        <a:t>Local Services</a:t>
                      </a:r>
                    </a:p>
                  </a:txBody>
                  <a:tcPr marL="78767" marR="78767" marT="39384" marB="39384"/>
                </a:tc>
                <a:tc>
                  <a:txBody>
                    <a:bodyPr/>
                    <a:lstStyle/>
                    <a:p>
                      <a:r>
                        <a:rPr lang="en-US" sz="1500" dirty="0"/>
                        <a:t>Yelp, Foursquare, Groupon</a:t>
                      </a:r>
                    </a:p>
                  </a:txBody>
                  <a:tcPr marL="78767" marR="78767" marT="39384" marB="39384"/>
                </a:tc>
                <a:extLst>
                  <a:ext uri="{0D108BD9-81ED-4DB2-BD59-A6C34878D82A}">
                    <a16:rowId xmlns:a16="http://schemas.microsoft.com/office/drawing/2014/main" val="1153869107"/>
                  </a:ext>
                </a:extLst>
              </a:tr>
              <a:tr h="319444">
                <a:tc>
                  <a:txBody>
                    <a:bodyPr/>
                    <a:lstStyle/>
                    <a:p>
                      <a:r>
                        <a:rPr lang="en-US" sz="1500" dirty="0"/>
                        <a:t>Media</a:t>
                      </a:r>
                    </a:p>
                  </a:txBody>
                  <a:tcPr marL="78767" marR="78767" marT="39384" marB="39384"/>
                </a:tc>
                <a:tc>
                  <a:txBody>
                    <a:bodyPr/>
                    <a:lstStyle/>
                    <a:p>
                      <a:r>
                        <a:rPr lang="en-US" sz="1500" dirty="0"/>
                        <a:t>Medium, YouTube, Wikipedia</a:t>
                      </a:r>
                    </a:p>
                  </a:txBody>
                  <a:tcPr marL="78767" marR="78767" marT="39384" marB="39384"/>
                </a:tc>
                <a:extLst>
                  <a:ext uri="{0D108BD9-81ED-4DB2-BD59-A6C34878D82A}">
                    <a16:rowId xmlns:a16="http://schemas.microsoft.com/office/drawing/2014/main" val="3381721442"/>
                  </a:ext>
                </a:extLst>
              </a:tr>
              <a:tr h="319444">
                <a:tc>
                  <a:txBody>
                    <a:bodyPr/>
                    <a:lstStyle/>
                    <a:p>
                      <a:r>
                        <a:rPr lang="en-US" sz="1500" dirty="0"/>
                        <a:t>OS</a:t>
                      </a:r>
                    </a:p>
                  </a:txBody>
                  <a:tcPr marL="78767" marR="78767" marT="39384" marB="39384"/>
                </a:tc>
                <a:tc>
                  <a:txBody>
                    <a:bodyPr/>
                    <a:lstStyle/>
                    <a:p>
                      <a:r>
                        <a:rPr lang="en-US" sz="1500" dirty="0"/>
                        <a:t>iOS, Android, MacOS, Windows</a:t>
                      </a:r>
                    </a:p>
                  </a:txBody>
                  <a:tcPr marL="78767" marR="78767" marT="39384" marB="39384"/>
                </a:tc>
                <a:extLst>
                  <a:ext uri="{0D108BD9-81ED-4DB2-BD59-A6C34878D82A}">
                    <a16:rowId xmlns:a16="http://schemas.microsoft.com/office/drawing/2014/main" val="295126779"/>
                  </a:ext>
                </a:extLst>
              </a:tr>
              <a:tr h="319444">
                <a:tc>
                  <a:txBody>
                    <a:bodyPr/>
                    <a:lstStyle/>
                    <a:p>
                      <a:r>
                        <a:rPr lang="en-US" sz="1500" dirty="0"/>
                        <a:t>Retail</a:t>
                      </a:r>
                    </a:p>
                  </a:txBody>
                  <a:tcPr marL="78767" marR="78767" marT="39384" marB="39384"/>
                </a:tc>
                <a:tc>
                  <a:txBody>
                    <a:bodyPr/>
                    <a:lstStyle/>
                    <a:p>
                      <a:r>
                        <a:rPr lang="en-US" sz="1500" dirty="0"/>
                        <a:t>Amazon, Alibaba, …</a:t>
                      </a:r>
                    </a:p>
                  </a:txBody>
                  <a:tcPr marL="78767" marR="78767" marT="39384" marB="39384"/>
                </a:tc>
                <a:extLst>
                  <a:ext uri="{0D108BD9-81ED-4DB2-BD59-A6C34878D82A}">
                    <a16:rowId xmlns:a16="http://schemas.microsoft.com/office/drawing/2014/main" val="3098883268"/>
                  </a:ext>
                </a:extLst>
              </a:tr>
              <a:tr h="319444">
                <a:tc>
                  <a:txBody>
                    <a:bodyPr/>
                    <a:lstStyle/>
                    <a:p>
                      <a:r>
                        <a:rPr lang="en-US" sz="1500" dirty="0"/>
                        <a:t>Transportation &amp; Travel</a:t>
                      </a:r>
                    </a:p>
                  </a:txBody>
                  <a:tcPr marL="78767" marR="78767" marT="39384" marB="39384"/>
                </a:tc>
                <a:tc>
                  <a:txBody>
                    <a:bodyPr/>
                    <a:lstStyle/>
                    <a:p>
                      <a:r>
                        <a:rPr lang="en-US" sz="1500" dirty="0"/>
                        <a:t>Uber, Airbnb, TripAdvisor</a:t>
                      </a:r>
                    </a:p>
                  </a:txBody>
                  <a:tcPr marL="78767" marR="78767" marT="39384" marB="39384"/>
                </a:tc>
                <a:extLst>
                  <a:ext uri="{0D108BD9-81ED-4DB2-BD59-A6C34878D82A}">
                    <a16:rowId xmlns:a16="http://schemas.microsoft.com/office/drawing/2014/main" val="2465013513"/>
                  </a:ext>
                </a:extLst>
              </a:tr>
            </a:tbl>
          </a:graphicData>
        </a:graphic>
      </p:graphicFrame>
      <p:sp>
        <p:nvSpPr>
          <p:cNvPr id="8" name="TextBox 7">
            <a:extLst>
              <a:ext uri="{FF2B5EF4-FFF2-40B4-BE49-F238E27FC236}">
                <a16:creationId xmlns:a16="http://schemas.microsoft.com/office/drawing/2014/main" id="{F892ADBA-265E-8E98-E860-BD55E4A67126}"/>
              </a:ext>
            </a:extLst>
          </p:cNvPr>
          <p:cNvSpPr txBox="1"/>
          <p:nvPr/>
        </p:nvSpPr>
        <p:spPr>
          <a:xfrm>
            <a:off x="4666208" y="5723241"/>
            <a:ext cx="4023537" cy="369332"/>
          </a:xfrm>
          <a:prstGeom prst="rect">
            <a:avLst/>
          </a:prstGeom>
          <a:noFill/>
        </p:spPr>
        <p:txBody>
          <a:bodyPr wrap="square" rtlCol="0">
            <a:spAutoFit/>
          </a:bodyPr>
          <a:lstStyle/>
          <a:p>
            <a:r>
              <a:rPr lang="en-US" dirty="0"/>
              <a:t>Source: Parker, Van Alstyne &amp; </a:t>
            </a:r>
            <a:r>
              <a:rPr lang="en-US" dirty="0" err="1"/>
              <a:t>Choudary</a:t>
            </a:r>
            <a:endParaRPr lang="en-US" dirty="0"/>
          </a:p>
        </p:txBody>
      </p:sp>
      <p:sp>
        <p:nvSpPr>
          <p:cNvPr id="5" name="Date Placeholder 4">
            <a:extLst>
              <a:ext uri="{FF2B5EF4-FFF2-40B4-BE49-F238E27FC236}">
                <a16:creationId xmlns:a16="http://schemas.microsoft.com/office/drawing/2014/main" id="{F0DBA25B-D571-706F-5B5B-575512329012}"/>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F3A07B32-12DB-1DCE-3734-BA8A1DD3253F}"/>
              </a:ext>
            </a:extLst>
          </p:cNvPr>
          <p:cNvSpPr>
            <a:spLocks noGrp="1"/>
          </p:cNvSpPr>
          <p:nvPr>
            <p:ph type="sldNum" sz="quarter" idx="12"/>
          </p:nvPr>
        </p:nvSpPr>
        <p:spPr/>
        <p:txBody>
          <a:bodyPr/>
          <a:lstStyle/>
          <a:p>
            <a:fld id="{8A7A6979-0714-4377-B894-6BE4C2D6E202}" type="slidenum">
              <a:rPr lang="en-US" smtClean="0"/>
              <a:pPr/>
              <a:t>12</a:t>
            </a:fld>
            <a:endParaRPr lang="en-US" dirty="0"/>
          </a:p>
        </p:txBody>
      </p:sp>
    </p:spTree>
    <p:extLst>
      <p:ext uri="{BB962C8B-B14F-4D97-AF65-F5344CB8AC3E}">
        <p14:creationId xmlns:p14="http://schemas.microsoft.com/office/powerpoint/2010/main" val="1416449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A1D5D9-91FB-C984-F826-4204F60BD4A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B583518-5E74-A25B-B812-C6934606C23C}"/>
              </a:ext>
            </a:extLst>
          </p:cNvPr>
          <p:cNvSpPr>
            <a:spLocks noGrp="1"/>
          </p:cNvSpPr>
          <p:nvPr>
            <p:ph type="ctrTitle"/>
          </p:nvPr>
        </p:nvSpPr>
        <p:spPr/>
        <p:txBody>
          <a:bodyPr/>
          <a:lstStyle/>
          <a:p>
            <a:r>
              <a:rPr lang="en-US" dirty="0"/>
              <a:t>Why Platforms Often Win</a:t>
            </a:r>
          </a:p>
        </p:txBody>
      </p:sp>
      <p:sp>
        <p:nvSpPr>
          <p:cNvPr id="4" name="Text Placeholder 3">
            <a:extLst>
              <a:ext uri="{FF2B5EF4-FFF2-40B4-BE49-F238E27FC236}">
                <a16:creationId xmlns:a16="http://schemas.microsoft.com/office/drawing/2014/main" id="{B4B24B2E-AD45-50F5-526C-3E6872E6D45F}"/>
              </a:ext>
            </a:extLst>
          </p:cNvPr>
          <p:cNvSpPr>
            <a:spLocks noGrp="1"/>
          </p:cNvSpPr>
          <p:nvPr>
            <p:ph type="body" sz="quarter" idx="14"/>
          </p:nvPr>
        </p:nvSpPr>
        <p:spPr>
          <a:xfrm>
            <a:off x="1828800" y="1500189"/>
            <a:ext cx="8755380" cy="4186236"/>
          </a:xfrm>
        </p:spPr>
        <p:txBody>
          <a:bodyPr>
            <a:normAutofit/>
          </a:bodyPr>
          <a:lstStyle/>
          <a:p>
            <a:r>
              <a:rPr lang="en-US" sz="2400" dirty="0"/>
              <a:t>Scale efficiently by removing gatekeepers</a:t>
            </a:r>
          </a:p>
          <a:p>
            <a:pPr lvl="1"/>
            <a:r>
              <a:rPr lang="en-US" sz="2400" dirty="0"/>
              <a:t>Example: Amazon’s Kindle platform allows anyone to publish &amp; replaces traditional gatekeepers with market signals</a:t>
            </a:r>
          </a:p>
          <a:p>
            <a:endParaRPr lang="en-US" sz="2400" dirty="0"/>
          </a:p>
          <a:p>
            <a:r>
              <a:rPr lang="en-US" sz="2400" dirty="0"/>
              <a:t>Unlock new sources of value creation &amp; supply</a:t>
            </a:r>
          </a:p>
          <a:p>
            <a:pPr lvl="1"/>
            <a:r>
              <a:rPr lang="en-US" sz="2400" dirty="0"/>
              <a:t>Example: Airbnb increases supply of short-term housing</a:t>
            </a:r>
          </a:p>
          <a:p>
            <a:endParaRPr lang="en-US" sz="2400" dirty="0"/>
          </a:p>
          <a:p>
            <a:r>
              <a:rPr lang="en-US" sz="2400" dirty="0"/>
              <a:t>Use data-driven tools to create community feedback loops</a:t>
            </a:r>
          </a:p>
          <a:p>
            <a:pPr lvl="1"/>
            <a:r>
              <a:rPr lang="en-US" sz="2400" dirty="0"/>
              <a:t>YouTube uses user-data to shape recommendations</a:t>
            </a:r>
          </a:p>
          <a:p>
            <a:pPr lvl="1"/>
            <a:r>
              <a:rPr lang="en-US" sz="2400" dirty="0"/>
              <a:t>Airbnb uses user feedback for reputation systems</a:t>
            </a:r>
          </a:p>
        </p:txBody>
      </p:sp>
      <p:sp>
        <p:nvSpPr>
          <p:cNvPr id="5" name="Date Placeholder 4">
            <a:extLst>
              <a:ext uri="{FF2B5EF4-FFF2-40B4-BE49-F238E27FC236}">
                <a16:creationId xmlns:a16="http://schemas.microsoft.com/office/drawing/2014/main" id="{9B5CF7D8-43DC-D192-0034-AF9BC1B97404}"/>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C92CB50F-DE01-1142-4613-8C901D8D5D7F}"/>
              </a:ext>
            </a:extLst>
          </p:cNvPr>
          <p:cNvSpPr>
            <a:spLocks noGrp="1"/>
          </p:cNvSpPr>
          <p:nvPr>
            <p:ph type="sldNum" sz="quarter" idx="12"/>
          </p:nvPr>
        </p:nvSpPr>
        <p:spPr/>
        <p:txBody>
          <a:bodyPr/>
          <a:lstStyle/>
          <a:p>
            <a:fld id="{8A7A6979-0714-4377-B894-6BE4C2D6E202}" type="slidenum">
              <a:rPr lang="en-US" smtClean="0"/>
              <a:pPr/>
              <a:t>13</a:t>
            </a:fld>
            <a:endParaRPr lang="en-US" dirty="0"/>
          </a:p>
        </p:txBody>
      </p:sp>
    </p:spTree>
    <p:extLst>
      <p:ext uri="{BB962C8B-B14F-4D97-AF65-F5344CB8AC3E}">
        <p14:creationId xmlns:p14="http://schemas.microsoft.com/office/powerpoint/2010/main" val="25589525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CBA834D-03C5-A233-7662-29038740578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6BA2A73-A571-D9BA-415E-B7B371D32536}"/>
              </a:ext>
            </a:extLst>
          </p:cNvPr>
          <p:cNvSpPr>
            <a:spLocks noGrp="1"/>
          </p:cNvSpPr>
          <p:nvPr>
            <p:ph type="ctrTitle"/>
          </p:nvPr>
        </p:nvSpPr>
        <p:spPr>
          <a:xfrm>
            <a:off x="2647199" y="1501742"/>
            <a:ext cx="7300940" cy="664797"/>
          </a:xfrm>
        </p:spPr>
        <p:txBody>
          <a:bodyPr/>
          <a:lstStyle/>
          <a:p>
            <a:r>
              <a:rPr lang="en-US" dirty="0"/>
              <a:t>Network Effects</a:t>
            </a:r>
          </a:p>
        </p:txBody>
      </p:sp>
      <p:sp>
        <p:nvSpPr>
          <p:cNvPr id="4" name="Date Placeholder 3">
            <a:extLst>
              <a:ext uri="{FF2B5EF4-FFF2-40B4-BE49-F238E27FC236}">
                <a16:creationId xmlns:a16="http://schemas.microsoft.com/office/drawing/2014/main" id="{5A43FA36-778A-9DB3-49C5-423241F398A5}"/>
              </a:ext>
            </a:extLst>
          </p:cNvPr>
          <p:cNvSpPr>
            <a:spLocks noGrp="1"/>
          </p:cNvSpPr>
          <p:nvPr>
            <p:ph type="dt" sz="half" idx="10"/>
          </p:nvPr>
        </p:nvSpPr>
        <p:spPr/>
        <p:txBody>
          <a:bodyPr/>
          <a:lstStyle/>
          <a:p>
            <a:fld id="{D47A9A36-4EB0-BF46-AE48-7CDA251B954B}" type="datetime1">
              <a:rPr lang="en-US" smtClean="0"/>
              <a:pPr/>
              <a:t>11/17/2025</a:t>
            </a:fld>
            <a:endParaRPr lang="en-US" dirty="0"/>
          </a:p>
        </p:txBody>
      </p:sp>
      <p:sp>
        <p:nvSpPr>
          <p:cNvPr id="5" name="Slide Number Placeholder 4">
            <a:extLst>
              <a:ext uri="{FF2B5EF4-FFF2-40B4-BE49-F238E27FC236}">
                <a16:creationId xmlns:a16="http://schemas.microsoft.com/office/drawing/2014/main" id="{C02F9EFA-7A2A-7BC7-374D-9C0E0337AEE6}"/>
              </a:ext>
            </a:extLst>
          </p:cNvPr>
          <p:cNvSpPr>
            <a:spLocks noGrp="1"/>
          </p:cNvSpPr>
          <p:nvPr>
            <p:ph type="sldNum" sz="quarter" idx="12"/>
          </p:nvPr>
        </p:nvSpPr>
        <p:spPr/>
        <p:txBody>
          <a:bodyPr/>
          <a:lstStyle/>
          <a:p>
            <a:fld id="{8A7A6979-0714-4377-B894-6BE4C2D6E202}" type="slidenum">
              <a:rPr lang="en-US" smtClean="0"/>
              <a:pPr/>
              <a:t>14</a:t>
            </a:fld>
            <a:endParaRPr lang="en-US" dirty="0"/>
          </a:p>
        </p:txBody>
      </p:sp>
    </p:spTree>
    <p:extLst>
      <p:ext uri="{BB962C8B-B14F-4D97-AF65-F5344CB8AC3E}">
        <p14:creationId xmlns:p14="http://schemas.microsoft.com/office/powerpoint/2010/main" val="1842848591"/>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A6F17E-126E-3223-60E2-9EE502EF44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66C960-29C3-7576-CFD2-E21BDF725BF6}"/>
              </a:ext>
            </a:extLst>
          </p:cNvPr>
          <p:cNvSpPr>
            <a:spLocks noGrp="1"/>
          </p:cNvSpPr>
          <p:nvPr>
            <p:ph type="ctrTitle"/>
          </p:nvPr>
        </p:nvSpPr>
        <p:spPr/>
        <p:txBody>
          <a:bodyPr/>
          <a:lstStyle/>
          <a:p>
            <a:r>
              <a:rPr lang="en-US" dirty="0"/>
              <a:t>Network Effects: Positive and Negative</a:t>
            </a:r>
          </a:p>
        </p:txBody>
      </p:sp>
      <p:sp>
        <p:nvSpPr>
          <p:cNvPr id="4" name="Text Placeholder 3">
            <a:extLst>
              <a:ext uri="{FF2B5EF4-FFF2-40B4-BE49-F238E27FC236}">
                <a16:creationId xmlns:a16="http://schemas.microsoft.com/office/drawing/2014/main" id="{A1B51E5D-B9D8-6747-C30E-7F6965B6DD95}"/>
              </a:ext>
            </a:extLst>
          </p:cNvPr>
          <p:cNvSpPr>
            <a:spLocks noGrp="1"/>
          </p:cNvSpPr>
          <p:nvPr>
            <p:ph type="body" sz="quarter" idx="14"/>
          </p:nvPr>
        </p:nvSpPr>
        <p:spPr>
          <a:xfrm>
            <a:off x="1828800" y="1500189"/>
            <a:ext cx="8755380" cy="4186236"/>
          </a:xfrm>
        </p:spPr>
        <p:txBody>
          <a:bodyPr>
            <a:normAutofit/>
          </a:bodyPr>
          <a:lstStyle/>
          <a:p>
            <a:r>
              <a:rPr lang="en-US" sz="2400" dirty="0"/>
              <a:t>Network effects refer to how the value derived from a good / service / platform depends on the usage of others</a:t>
            </a:r>
          </a:p>
          <a:p>
            <a:endParaRPr lang="en-US" sz="2400" dirty="0"/>
          </a:p>
          <a:p>
            <a:r>
              <a:rPr lang="en-US" sz="2400" dirty="0"/>
              <a:t>Positive network effects:</a:t>
            </a:r>
          </a:p>
          <a:p>
            <a:pPr lvl="1"/>
            <a:r>
              <a:rPr lang="en-US" sz="2400" dirty="0"/>
              <a:t>Friends’ participation on social media</a:t>
            </a:r>
          </a:p>
          <a:p>
            <a:pPr lvl="1"/>
            <a:r>
              <a:rPr lang="en-US" sz="2400" dirty="0"/>
              <a:t>More uber drivers =&gt; more value to riders</a:t>
            </a:r>
          </a:p>
          <a:p>
            <a:endParaRPr lang="en-US" sz="2400" dirty="0"/>
          </a:p>
          <a:p>
            <a:r>
              <a:rPr lang="en-US" sz="2400" dirty="0"/>
              <a:t>Negative network effects</a:t>
            </a:r>
          </a:p>
          <a:p>
            <a:pPr lvl="1"/>
            <a:r>
              <a:rPr lang="en-US" sz="2400" dirty="0"/>
              <a:t>Troll participation on social media</a:t>
            </a:r>
          </a:p>
          <a:p>
            <a:pPr lvl="1"/>
            <a:r>
              <a:rPr lang="en-US" sz="2400" dirty="0"/>
              <a:t>More uber riders =&gt; more congestion =&gt; less value to riders</a:t>
            </a:r>
          </a:p>
        </p:txBody>
      </p:sp>
      <p:sp>
        <p:nvSpPr>
          <p:cNvPr id="5" name="Date Placeholder 4">
            <a:extLst>
              <a:ext uri="{FF2B5EF4-FFF2-40B4-BE49-F238E27FC236}">
                <a16:creationId xmlns:a16="http://schemas.microsoft.com/office/drawing/2014/main" id="{DE9E5C8D-98C7-DB8F-AE2C-A2B635DC6D27}"/>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45F1972F-A519-E883-ADFE-BEEE5D1B984E}"/>
              </a:ext>
            </a:extLst>
          </p:cNvPr>
          <p:cNvSpPr>
            <a:spLocks noGrp="1"/>
          </p:cNvSpPr>
          <p:nvPr>
            <p:ph type="sldNum" sz="quarter" idx="12"/>
          </p:nvPr>
        </p:nvSpPr>
        <p:spPr/>
        <p:txBody>
          <a:bodyPr/>
          <a:lstStyle/>
          <a:p>
            <a:fld id="{8A7A6979-0714-4377-B894-6BE4C2D6E202}" type="slidenum">
              <a:rPr lang="en-US" smtClean="0"/>
              <a:pPr/>
              <a:t>15</a:t>
            </a:fld>
            <a:endParaRPr lang="en-US" dirty="0"/>
          </a:p>
        </p:txBody>
      </p:sp>
    </p:spTree>
    <p:extLst>
      <p:ext uri="{BB962C8B-B14F-4D97-AF65-F5344CB8AC3E}">
        <p14:creationId xmlns:p14="http://schemas.microsoft.com/office/powerpoint/2010/main" val="380865085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6C8F173-1B5F-A0BC-F8E0-D516BD4FA2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6263D9B-4639-C954-4129-4694DE235726}"/>
              </a:ext>
            </a:extLst>
          </p:cNvPr>
          <p:cNvSpPr>
            <a:spLocks noGrp="1"/>
          </p:cNvSpPr>
          <p:nvPr>
            <p:ph type="ctrTitle"/>
          </p:nvPr>
        </p:nvSpPr>
        <p:spPr/>
        <p:txBody>
          <a:bodyPr/>
          <a:lstStyle/>
          <a:p>
            <a:r>
              <a:rPr lang="en-US" dirty="0"/>
              <a:t>Two-Sided Network Effects</a:t>
            </a:r>
          </a:p>
        </p:txBody>
      </p:sp>
      <p:sp>
        <p:nvSpPr>
          <p:cNvPr id="4" name="Text Placeholder 3">
            <a:extLst>
              <a:ext uri="{FF2B5EF4-FFF2-40B4-BE49-F238E27FC236}">
                <a16:creationId xmlns:a16="http://schemas.microsoft.com/office/drawing/2014/main" id="{57ED9D71-F62E-E459-3AD8-4EC5CB415FFC}"/>
              </a:ext>
            </a:extLst>
          </p:cNvPr>
          <p:cNvSpPr>
            <a:spLocks noGrp="1"/>
          </p:cNvSpPr>
          <p:nvPr>
            <p:ph type="body" sz="quarter" idx="14"/>
          </p:nvPr>
        </p:nvSpPr>
        <p:spPr>
          <a:xfrm>
            <a:off x="1828800" y="1500189"/>
            <a:ext cx="8755380" cy="4186236"/>
          </a:xfrm>
        </p:spPr>
        <p:txBody>
          <a:bodyPr>
            <a:normAutofit fontScale="92500" lnSpcReduction="20000"/>
          </a:bodyPr>
          <a:lstStyle/>
          <a:p>
            <a:r>
              <a:rPr lang="en-US" sz="2400" dirty="0"/>
              <a:t>Platform often brings together two sides of a market</a:t>
            </a:r>
          </a:p>
          <a:p>
            <a:pPr lvl="1"/>
            <a:r>
              <a:rPr lang="en-US" sz="2400" dirty="0"/>
              <a:t>Buyers &amp; sellers, drivers &amp; riders, users &amp; advertisers</a:t>
            </a:r>
          </a:p>
          <a:p>
            <a:endParaRPr lang="en-US" sz="2400" dirty="0"/>
          </a:p>
          <a:p>
            <a:r>
              <a:rPr lang="en-US" sz="2400" dirty="0"/>
              <a:t>Same-side network effect: How usage of units on same side impact value </a:t>
            </a:r>
          </a:p>
          <a:p>
            <a:pPr lvl="1"/>
            <a:r>
              <a:rPr lang="en-US" sz="2400" dirty="0"/>
              <a:t>Often negative in a market settings</a:t>
            </a:r>
          </a:p>
          <a:p>
            <a:pPr lvl="1"/>
            <a:r>
              <a:rPr lang="en-US" sz="2400" dirty="0"/>
              <a:t>Sometimes positive: E.g. Facebook users get value from other users</a:t>
            </a:r>
          </a:p>
          <a:p>
            <a:endParaRPr lang="en-US" sz="2400" dirty="0"/>
          </a:p>
          <a:p>
            <a:r>
              <a:rPr lang="en-US" sz="2400" dirty="0"/>
              <a:t>Cross-side network effect: How usage of units on other side impact value</a:t>
            </a:r>
          </a:p>
          <a:p>
            <a:pPr lvl="1"/>
            <a:r>
              <a:rPr lang="en-US" sz="2400" dirty="0"/>
              <a:t>Positive: More drivers is good for riders</a:t>
            </a:r>
          </a:p>
          <a:p>
            <a:pPr lvl="1"/>
            <a:r>
              <a:rPr lang="en-US" sz="2400" dirty="0"/>
              <a:t>Negative: Some advertisements are annoying</a:t>
            </a:r>
          </a:p>
        </p:txBody>
      </p:sp>
      <p:sp>
        <p:nvSpPr>
          <p:cNvPr id="5" name="Date Placeholder 4">
            <a:extLst>
              <a:ext uri="{FF2B5EF4-FFF2-40B4-BE49-F238E27FC236}">
                <a16:creationId xmlns:a16="http://schemas.microsoft.com/office/drawing/2014/main" id="{9D968967-7990-33D5-BBC6-FFAAA62B2240}"/>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51303B8E-B8F3-BF5C-3F85-36E7D1D1B509}"/>
              </a:ext>
            </a:extLst>
          </p:cNvPr>
          <p:cNvSpPr>
            <a:spLocks noGrp="1"/>
          </p:cNvSpPr>
          <p:nvPr>
            <p:ph type="sldNum" sz="quarter" idx="12"/>
          </p:nvPr>
        </p:nvSpPr>
        <p:spPr/>
        <p:txBody>
          <a:bodyPr/>
          <a:lstStyle/>
          <a:p>
            <a:fld id="{8A7A6979-0714-4377-B894-6BE4C2D6E202}" type="slidenum">
              <a:rPr lang="en-US" smtClean="0"/>
              <a:pPr/>
              <a:t>16</a:t>
            </a:fld>
            <a:endParaRPr lang="en-US" dirty="0"/>
          </a:p>
        </p:txBody>
      </p:sp>
    </p:spTree>
    <p:extLst>
      <p:ext uri="{BB962C8B-B14F-4D97-AF65-F5344CB8AC3E}">
        <p14:creationId xmlns:p14="http://schemas.microsoft.com/office/powerpoint/2010/main" val="27140013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5" end="5"/>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8" end="8"/>
                                            </p:txEl>
                                          </p:spTgt>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7930653-8DF5-AF73-7846-F4A2BB59559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1E4EB28-AC17-3AFF-3C9E-CA98278E953A}"/>
              </a:ext>
            </a:extLst>
          </p:cNvPr>
          <p:cNvSpPr>
            <a:spLocks noGrp="1"/>
          </p:cNvSpPr>
          <p:nvPr>
            <p:ph type="ctrTitle"/>
          </p:nvPr>
        </p:nvSpPr>
        <p:spPr/>
        <p:txBody>
          <a:bodyPr/>
          <a:lstStyle/>
          <a:p>
            <a:r>
              <a:rPr lang="en-US" dirty="0"/>
              <a:t>Demand Economies of Scale</a:t>
            </a:r>
          </a:p>
        </p:txBody>
      </p:sp>
      <p:sp>
        <p:nvSpPr>
          <p:cNvPr id="4" name="Text Placeholder 3">
            <a:extLst>
              <a:ext uri="{FF2B5EF4-FFF2-40B4-BE49-F238E27FC236}">
                <a16:creationId xmlns:a16="http://schemas.microsoft.com/office/drawing/2014/main" id="{FFBCFEFA-CB50-3C1C-4251-3DD2E282419D}"/>
              </a:ext>
            </a:extLst>
          </p:cNvPr>
          <p:cNvSpPr>
            <a:spLocks noGrp="1"/>
          </p:cNvSpPr>
          <p:nvPr>
            <p:ph type="body" sz="quarter" idx="14"/>
          </p:nvPr>
        </p:nvSpPr>
        <p:spPr>
          <a:xfrm>
            <a:off x="1828800" y="1500189"/>
            <a:ext cx="8755380" cy="4186236"/>
          </a:xfrm>
        </p:spPr>
        <p:txBody>
          <a:bodyPr>
            <a:normAutofit/>
          </a:bodyPr>
          <a:lstStyle/>
          <a:p>
            <a:r>
              <a:rPr lang="en-US" sz="2400" dirty="0"/>
              <a:t>Many platform businesses have positive network effects</a:t>
            </a:r>
          </a:p>
          <a:p>
            <a:pPr lvl="1"/>
            <a:r>
              <a:rPr lang="en-US" sz="2400" dirty="0"/>
              <a:t>Value of platform is increasing in number of users</a:t>
            </a:r>
          </a:p>
          <a:p>
            <a:endParaRPr lang="en-US" sz="2400" dirty="0"/>
          </a:p>
          <a:p>
            <a:r>
              <a:rPr lang="en-US" sz="2400" dirty="0"/>
              <a:t>Demand economies of scale arise when bigger networks lead to more value created for users</a:t>
            </a:r>
          </a:p>
          <a:p>
            <a:pPr lvl="1"/>
            <a:r>
              <a:rPr lang="en-US" sz="2400" dirty="0"/>
              <a:t>Results in an important competitive advantage</a:t>
            </a:r>
          </a:p>
          <a:p>
            <a:endParaRPr lang="en-US" sz="2400" dirty="0"/>
          </a:p>
        </p:txBody>
      </p:sp>
      <p:sp>
        <p:nvSpPr>
          <p:cNvPr id="5" name="Date Placeholder 4">
            <a:extLst>
              <a:ext uri="{FF2B5EF4-FFF2-40B4-BE49-F238E27FC236}">
                <a16:creationId xmlns:a16="http://schemas.microsoft.com/office/drawing/2014/main" id="{12800E56-6452-B9C6-9148-34509DF9C662}"/>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1EAF8234-4E4A-16DE-4E46-608C44599B83}"/>
              </a:ext>
            </a:extLst>
          </p:cNvPr>
          <p:cNvSpPr>
            <a:spLocks noGrp="1"/>
          </p:cNvSpPr>
          <p:nvPr>
            <p:ph type="sldNum" sz="quarter" idx="12"/>
          </p:nvPr>
        </p:nvSpPr>
        <p:spPr/>
        <p:txBody>
          <a:bodyPr/>
          <a:lstStyle/>
          <a:p>
            <a:fld id="{8A7A6979-0714-4377-B894-6BE4C2D6E202}" type="slidenum">
              <a:rPr lang="en-US" smtClean="0"/>
              <a:pPr/>
              <a:t>17</a:t>
            </a:fld>
            <a:endParaRPr lang="en-US" dirty="0"/>
          </a:p>
        </p:txBody>
      </p:sp>
    </p:spTree>
    <p:extLst>
      <p:ext uri="{BB962C8B-B14F-4D97-AF65-F5344CB8AC3E}">
        <p14:creationId xmlns:p14="http://schemas.microsoft.com/office/powerpoint/2010/main" val="291552314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C67DC7-FA95-ED00-B25E-AE39534A49B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8B5BA8A-E201-3CB9-592D-F92862A84C7B}"/>
              </a:ext>
            </a:extLst>
          </p:cNvPr>
          <p:cNvSpPr>
            <a:spLocks noGrp="1"/>
          </p:cNvSpPr>
          <p:nvPr>
            <p:ph type="ctrTitle"/>
          </p:nvPr>
        </p:nvSpPr>
        <p:spPr/>
        <p:txBody>
          <a:bodyPr/>
          <a:lstStyle/>
          <a:p>
            <a:r>
              <a:rPr lang="en-US" dirty="0"/>
              <a:t>Metcalfe’s Law</a:t>
            </a:r>
          </a:p>
        </p:txBody>
      </p:sp>
      <p:sp>
        <p:nvSpPr>
          <p:cNvPr id="4" name="Text Placeholder 3">
            <a:extLst>
              <a:ext uri="{FF2B5EF4-FFF2-40B4-BE49-F238E27FC236}">
                <a16:creationId xmlns:a16="http://schemas.microsoft.com/office/drawing/2014/main" id="{1AD5F845-C960-A6D1-1311-D4136DA5A22D}"/>
              </a:ext>
            </a:extLst>
          </p:cNvPr>
          <p:cNvSpPr>
            <a:spLocks noGrp="1"/>
          </p:cNvSpPr>
          <p:nvPr>
            <p:ph type="body" sz="quarter" idx="14"/>
          </p:nvPr>
        </p:nvSpPr>
        <p:spPr>
          <a:xfrm>
            <a:off x="1828800" y="1500189"/>
            <a:ext cx="8755380" cy="4186236"/>
          </a:xfrm>
        </p:spPr>
        <p:txBody>
          <a:bodyPr>
            <a:normAutofit/>
          </a:bodyPr>
          <a:lstStyle/>
          <a:p>
            <a:r>
              <a:rPr lang="en-US" sz="2400" dirty="0"/>
              <a:t>Value of networks often grow non-linearly with the number of users. </a:t>
            </a:r>
          </a:p>
          <a:p>
            <a:endParaRPr lang="en-US" sz="2400" dirty="0"/>
          </a:p>
          <a:p>
            <a:r>
              <a:rPr lang="en-US" sz="2400" dirty="0"/>
              <a:t>Example: Telephone network</a:t>
            </a:r>
          </a:p>
          <a:p>
            <a:pPr lvl="1"/>
            <a:r>
              <a:rPr lang="en-US" sz="2400" dirty="0"/>
              <a:t>With 1 phone =&gt; No connections</a:t>
            </a:r>
          </a:p>
          <a:p>
            <a:pPr lvl="1"/>
            <a:r>
              <a:rPr lang="en-US" sz="2400" dirty="0"/>
              <a:t>With 2 phones =&gt; 1 connections</a:t>
            </a:r>
          </a:p>
          <a:p>
            <a:pPr lvl="1"/>
            <a:r>
              <a:rPr lang="en-US" sz="2400" dirty="0"/>
              <a:t>With 4 phones =&gt; 6 connections</a:t>
            </a:r>
          </a:p>
          <a:p>
            <a:pPr lvl="1"/>
            <a:r>
              <a:rPr lang="en-US" sz="2400" dirty="0"/>
              <a:t>With 100 phones =&gt; 4,950 connections</a:t>
            </a:r>
          </a:p>
        </p:txBody>
      </p:sp>
      <p:sp>
        <p:nvSpPr>
          <p:cNvPr id="5" name="Date Placeholder 4">
            <a:extLst>
              <a:ext uri="{FF2B5EF4-FFF2-40B4-BE49-F238E27FC236}">
                <a16:creationId xmlns:a16="http://schemas.microsoft.com/office/drawing/2014/main" id="{9B504EDD-472F-75E6-9B00-87DF46DF28DC}"/>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E26DC6F6-D72C-48EA-03F9-80A833CB8C2B}"/>
              </a:ext>
            </a:extLst>
          </p:cNvPr>
          <p:cNvSpPr>
            <a:spLocks noGrp="1"/>
          </p:cNvSpPr>
          <p:nvPr>
            <p:ph type="sldNum" sz="quarter" idx="12"/>
          </p:nvPr>
        </p:nvSpPr>
        <p:spPr/>
        <p:txBody>
          <a:bodyPr/>
          <a:lstStyle/>
          <a:p>
            <a:fld id="{8A7A6979-0714-4377-B894-6BE4C2D6E202}" type="slidenum">
              <a:rPr lang="en-US" smtClean="0"/>
              <a:pPr/>
              <a:t>18</a:t>
            </a:fld>
            <a:endParaRPr lang="en-US" dirty="0"/>
          </a:p>
        </p:txBody>
      </p:sp>
    </p:spTree>
    <p:extLst>
      <p:ext uri="{BB962C8B-B14F-4D97-AF65-F5344CB8AC3E}">
        <p14:creationId xmlns:p14="http://schemas.microsoft.com/office/powerpoint/2010/main" val="97886040"/>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B0DDB1-7DB7-62F5-A7E2-E7204F21663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B24B78A-896F-2865-D2C4-7C54BD95C9E2}"/>
              </a:ext>
            </a:extLst>
          </p:cNvPr>
          <p:cNvSpPr>
            <a:spLocks noGrp="1"/>
          </p:cNvSpPr>
          <p:nvPr>
            <p:ph type="ctrTitle"/>
          </p:nvPr>
        </p:nvSpPr>
        <p:spPr/>
        <p:txBody>
          <a:bodyPr/>
          <a:lstStyle/>
          <a:p>
            <a:r>
              <a:rPr lang="en-US" dirty="0"/>
              <a:t>A Model of Network Effects</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3EF19FCA-EF1F-185B-9955-D96AF515BB3E}"/>
                  </a:ext>
                </a:extLst>
              </p:cNvPr>
              <p:cNvSpPr>
                <a:spLocks noGrp="1"/>
              </p:cNvSpPr>
              <p:nvPr>
                <p:ph type="body" sz="quarter" idx="14"/>
              </p:nvPr>
            </p:nvSpPr>
            <p:spPr>
              <a:xfrm>
                <a:off x="1828800" y="1500189"/>
                <a:ext cx="8755380" cy="4186236"/>
              </a:xfrm>
            </p:spPr>
            <p:txBody>
              <a:bodyPr>
                <a:normAutofit/>
              </a:bodyPr>
              <a:lstStyle/>
              <a:p>
                <a:r>
                  <a:rPr lang="en-US" sz="2400" dirty="0"/>
                  <a:t>Value of product in market with network effects is given by</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𝑉</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𝛼</m:t>
                          </m:r>
                        </m:e>
                        <m:sub>
                          <m:r>
                            <a:rPr lang="en-US" sz="2400" b="0" i="1" smtClean="0">
                              <a:latin typeface="Cambria Math" panose="02040503050406030204" pitchFamily="18" charset="0"/>
                            </a:rPr>
                            <m:t>𝑖</m:t>
                          </m:r>
                        </m:sub>
                      </m:sSub>
                      <m:r>
                        <a:rPr lang="en-US" sz="2400" b="0" i="1" smtClean="0">
                          <a:latin typeface="Cambria Math" panose="02040503050406030204" pitchFamily="18" charset="0"/>
                        </a:rPr>
                        <m:t>+</m:t>
                      </m:r>
                      <m:r>
                        <a:rPr lang="en-US" sz="2400" b="0" i="1" smtClean="0">
                          <a:latin typeface="Cambria Math" panose="02040503050406030204" pitchFamily="18" charset="0"/>
                        </a:rPr>
                        <m:t>𝛾</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𝑍</m:t>
                          </m:r>
                        </m:e>
                        <m:sub>
                          <m:r>
                            <a:rPr lang="en-US" sz="2400" b="0" i="1" smtClean="0">
                              <a:latin typeface="Cambria Math" panose="02040503050406030204" pitchFamily="18" charset="0"/>
                            </a:rPr>
                            <m:t>𝑡</m:t>
                          </m:r>
                        </m:sub>
                      </m:sSub>
                    </m:oMath>
                  </m:oMathPara>
                </a14:m>
                <a:endParaRPr lang="en-US" sz="2400" dirty="0"/>
              </a:p>
              <a:p>
                <a:endParaRPr lang="en-US" sz="2400" dirty="0"/>
              </a:p>
              <a:p>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𝑍</m:t>
                        </m:r>
                      </m:e>
                      <m:sub>
                        <m:r>
                          <a:rPr lang="en-US" sz="2400" b="0" i="1" smtClean="0">
                            <a:latin typeface="Cambria Math" panose="02040503050406030204" pitchFamily="18" charset="0"/>
                          </a:rPr>
                          <m:t>𝑡</m:t>
                        </m:r>
                      </m:sub>
                    </m:sSub>
                  </m:oMath>
                </a14:m>
                <a:r>
                  <a:rPr lang="en-US" sz="2400" dirty="0"/>
                  <a:t>: Size of network at time </a:t>
                </a:r>
                <a14:m>
                  <m:oMath xmlns:m="http://schemas.openxmlformats.org/officeDocument/2006/math">
                    <m:r>
                      <a:rPr lang="en-US" sz="2400" b="0" i="1" smtClean="0">
                        <a:latin typeface="Cambria Math" panose="02040503050406030204" pitchFamily="18" charset="0"/>
                      </a:rPr>
                      <m:t>𝑡</m:t>
                    </m:r>
                  </m:oMath>
                </a14:m>
                <a:endParaRPr lang="en-US" sz="2400" dirty="0"/>
              </a:p>
              <a:p>
                <a:endParaRPr lang="en-US" sz="2400" dirty="0"/>
              </a:p>
              <a:p>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𝛼</m:t>
                        </m:r>
                      </m:e>
                      <m:sub>
                        <m:r>
                          <a:rPr lang="en-US" sz="2400" b="0" i="1" smtClean="0">
                            <a:latin typeface="Cambria Math" panose="02040503050406030204" pitchFamily="18" charset="0"/>
                          </a:rPr>
                          <m:t>𝑖</m:t>
                        </m:r>
                      </m:sub>
                    </m:sSub>
                  </m:oMath>
                </a14:m>
                <a:r>
                  <a:rPr lang="en-US" sz="2400" dirty="0"/>
                  <a:t>: Value of product to user </a:t>
                </a:r>
                <a14:m>
                  <m:oMath xmlns:m="http://schemas.openxmlformats.org/officeDocument/2006/math">
                    <m:r>
                      <a:rPr lang="en-US" sz="2400" b="0" i="1" smtClean="0">
                        <a:latin typeface="Cambria Math" panose="02040503050406030204" pitchFamily="18" charset="0"/>
                      </a:rPr>
                      <m:t>𝑖</m:t>
                    </m:r>
                  </m:oMath>
                </a14:m>
                <a:r>
                  <a:rPr lang="en-US" sz="2400" dirty="0"/>
                  <a:t> without network effects</a:t>
                </a:r>
              </a:p>
              <a:p>
                <a:endParaRPr lang="en-US" sz="2400" dirty="0"/>
              </a:p>
              <a:p>
                <a14:m>
                  <m:oMath xmlns:m="http://schemas.openxmlformats.org/officeDocument/2006/math">
                    <m:r>
                      <a:rPr lang="en-US" sz="2400" b="0" i="1" smtClean="0">
                        <a:latin typeface="Cambria Math" panose="02040503050406030204" pitchFamily="18" charset="0"/>
                      </a:rPr>
                      <m:t>𝛾</m:t>
                    </m:r>
                  </m:oMath>
                </a14:m>
                <a:r>
                  <a:rPr lang="en-US" sz="2400" dirty="0"/>
                  <a:t>: Parameter governing how important network effects are</a:t>
                </a:r>
              </a:p>
            </p:txBody>
          </p:sp>
        </mc:Choice>
        <mc:Fallback xmlns="">
          <p:sp>
            <p:nvSpPr>
              <p:cNvPr id="4" name="Text Placeholder 3">
                <a:extLst>
                  <a:ext uri="{FF2B5EF4-FFF2-40B4-BE49-F238E27FC236}">
                    <a16:creationId xmlns:a16="http://schemas.microsoft.com/office/drawing/2014/main" id="{3EF19FCA-EF1F-185B-9955-D96AF515BB3E}"/>
                  </a:ext>
                </a:extLst>
              </p:cNvPr>
              <p:cNvSpPr>
                <a:spLocks noGrp="1" noRot="1" noChangeAspect="1" noMove="1" noResize="1" noEditPoints="1" noAdjustHandles="1" noChangeArrowheads="1" noChangeShapeType="1" noTextEdit="1"/>
              </p:cNvSpPr>
              <p:nvPr>
                <p:ph type="body" sz="quarter" idx="14"/>
              </p:nvPr>
            </p:nvSpPr>
            <p:spPr>
              <a:xfrm>
                <a:off x="1828800" y="1500189"/>
                <a:ext cx="8755380" cy="4186236"/>
              </a:xfrm>
              <a:blipFill>
                <a:blip r:embed="rId3"/>
                <a:stretch>
                  <a:fillRect l="-2029" t="-242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9EC3F8AB-17CF-C1B9-CFE6-EC0B00396789}"/>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3B563EDC-2C21-1598-F465-A473F9D7F973}"/>
              </a:ext>
            </a:extLst>
          </p:cNvPr>
          <p:cNvSpPr>
            <a:spLocks noGrp="1"/>
          </p:cNvSpPr>
          <p:nvPr>
            <p:ph type="sldNum" sz="quarter" idx="12"/>
          </p:nvPr>
        </p:nvSpPr>
        <p:spPr/>
        <p:txBody>
          <a:bodyPr/>
          <a:lstStyle/>
          <a:p>
            <a:fld id="{8A7A6979-0714-4377-B894-6BE4C2D6E202}" type="slidenum">
              <a:rPr lang="en-US" smtClean="0"/>
              <a:pPr/>
              <a:t>19</a:t>
            </a:fld>
            <a:endParaRPr lang="en-US" dirty="0"/>
          </a:p>
        </p:txBody>
      </p:sp>
    </p:spTree>
    <p:extLst>
      <p:ext uri="{BB962C8B-B14F-4D97-AF65-F5344CB8AC3E}">
        <p14:creationId xmlns:p14="http://schemas.microsoft.com/office/powerpoint/2010/main" val="38867542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72C3E5-4FB9-57DA-EC0D-A08CD6A1D80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F6AAD54-A893-D49A-9B1D-737B87B6F974}"/>
              </a:ext>
            </a:extLst>
          </p:cNvPr>
          <p:cNvSpPr>
            <a:spLocks noGrp="1"/>
          </p:cNvSpPr>
          <p:nvPr>
            <p:ph type="ctrTitle"/>
          </p:nvPr>
        </p:nvSpPr>
        <p:spPr/>
        <p:txBody>
          <a:bodyPr/>
          <a:lstStyle/>
          <a:p>
            <a:r>
              <a:rPr lang="en-US" dirty="0"/>
              <a:t>Network Markets: History Matters</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2ACB6561-E85D-B999-4195-813249BF65AF}"/>
                  </a:ext>
                </a:extLst>
              </p:cNvPr>
              <p:cNvSpPr>
                <a:spLocks noGrp="1"/>
              </p:cNvSpPr>
              <p:nvPr>
                <p:ph type="body" sz="quarter" idx="14"/>
              </p:nvPr>
            </p:nvSpPr>
            <p:spPr>
              <a:xfrm>
                <a:off x="1828800" y="1500189"/>
                <a:ext cx="8755380" cy="4186236"/>
              </a:xfrm>
            </p:spPr>
            <p:txBody>
              <a:bodyPr>
                <a:normAutofit/>
              </a:bodyPr>
              <a:lstStyle/>
              <a:p>
                <a:r>
                  <a:rPr lang="en-US" sz="2400" dirty="0"/>
                  <a:t>Networks </a:t>
                </a:r>
                <a14:m>
                  <m:oMath xmlns:m="http://schemas.openxmlformats.org/officeDocument/2006/math">
                    <m:r>
                      <a:rPr lang="en-US" sz="2400" b="0" i="1" smtClean="0">
                        <a:latin typeface="Cambria Math" panose="02040503050406030204" pitchFamily="18" charset="0"/>
                      </a:rPr>
                      <m:t>𝐴</m:t>
                    </m:r>
                  </m:oMath>
                </a14:m>
                <a:r>
                  <a:rPr lang="en-US" sz="2400" dirty="0"/>
                  <a:t> and </a:t>
                </a:r>
                <a14:m>
                  <m:oMath xmlns:m="http://schemas.openxmlformats.org/officeDocument/2006/math">
                    <m:r>
                      <a:rPr lang="en-US" sz="2400" b="0" i="1" smtClean="0">
                        <a:latin typeface="Cambria Math" panose="02040503050406030204" pitchFamily="18" charset="0"/>
                      </a:rPr>
                      <m:t>𝐵</m:t>
                    </m:r>
                  </m:oMath>
                </a14:m>
                <a:r>
                  <a:rPr lang="en-US" sz="2400" dirty="0"/>
                  <a:t> are incompatible but have the same price</a:t>
                </a:r>
              </a:p>
              <a:p>
                <a:endParaRPr lang="en-US" sz="2400" dirty="0"/>
              </a:p>
              <a:p>
                <a14:m>
                  <m:oMath xmlns:m="http://schemas.openxmlformats.org/officeDocument/2006/math">
                    <m:r>
                      <a:rPr lang="en-US" sz="2400" b="0" i="1" smtClean="0">
                        <a:latin typeface="Cambria Math" panose="02040503050406030204" pitchFamily="18" charset="0"/>
                      </a:rPr>
                      <m:t>𝐴</m:t>
                    </m:r>
                  </m:oMath>
                </a14:m>
                <a:r>
                  <a:rPr lang="en-US" sz="2400" dirty="0"/>
                  <a:t> is available at time 0, </a:t>
                </a:r>
                <a14:m>
                  <m:oMath xmlns:m="http://schemas.openxmlformats.org/officeDocument/2006/math">
                    <m:r>
                      <a:rPr lang="en-US" sz="2400" b="0" i="1" smtClean="0">
                        <a:latin typeface="Cambria Math" panose="02040503050406030204" pitchFamily="18" charset="0"/>
                      </a:rPr>
                      <m:t>𝐵</m:t>
                    </m:r>
                  </m:oMath>
                </a14:m>
                <a:r>
                  <a:rPr lang="en-US" sz="2400" dirty="0"/>
                  <a:t> will be available at time </a:t>
                </a:r>
                <a14:m>
                  <m:oMath xmlns:m="http://schemas.openxmlformats.org/officeDocument/2006/math">
                    <m:r>
                      <a:rPr lang="en-US" sz="2400" b="0" i="1" smtClean="0">
                        <a:latin typeface="Cambria Math" panose="02040503050406030204" pitchFamily="18" charset="0"/>
                      </a:rPr>
                      <m:t>𝑡</m:t>
                    </m:r>
                  </m:oMath>
                </a14:m>
                <a:r>
                  <a:rPr lang="en-US" sz="2400" dirty="0"/>
                  <a:t> but customers do not anticipate its arrival</a:t>
                </a:r>
              </a:p>
              <a:p>
                <a:endParaRPr lang="en-US" sz="2400" dirty="0"/>
              </a:p>
              <a:p>
                <a14:m>
                  <m:oMath xmlns:m="http://schemas.openxmlformats.org/officeDocument/2006/math">
                    <m:r>
                      <a:rPr lang="en-US" sz="2400" b="0" i="1" smtClean="0">
                        <a:latin typeface="Cambria Math" panose="02040503050406030204" pitchFamily="18" charset="0"/>
                      </a:rPr>
                      <m:t>𝐴</m:t>
                    </m:r>
                  </m:oMath>
                </a14:m>
                <a:r>
                  <a:rPr lang="en-US" sz="2400" dirty="0"/>
                  <a:t> and </a:t>
                </a:r>
                <a14:m>
                  <m:oMath xmlns:m="http://schemas.openxmlformats.org/officeDocument/2006/math">
                    <m:r>
                      <a:rPr lang="en-US" sz="2400" b="0" i="1" smtClean="0">
                        <a:latin typeface="Cambria Math" panose="02040503050406030204" pitchFamily="18" charset="0"/>
                      </a:rPr>
                      <m:t>𝐵</m:t>
                    </m:r>
                  </m:oMath>
                </a14:m>
                <a:r>
                  <a:rPr lang="en-US" sz="2400" dirty="0"/>
                  <a:t> have intrinsic value of </a:t>
                </a:r>
                <a14:m>
                  <m:oMath xmlns:m="http://schemas.openxmlformats.org/officeDocument/2006/math">
                    <m:r>
                      <a:rPr lang="en-US" sz="2400" b="0" i="1" smtClean="0">
                        <a:latin typeface="Cambria Math" panose="02040503050406030204" pitchFamily="18" charset="0"/>
                      </a:rPr>
                      <m:t>𝑎</m:t>
                    </m:r>
                  </m:oMath>
                </a14:m>
                <a:r>
                  <a:rPr lang="en-US" sz="2400" dirty="0"/>
                  <a:t> and </a:t>
                </a:r>
                <a14:m>
                  <m:oMath xmlns:m="http://schemas.openxmlformats.org/officeDocument/2006/math">
                    <m:r>
                      <a:rPr lang="en-US" sz="2400" b="0" i="1" smtClean="0">
                        <a:latin typeface="Cambria Math" panose="02040503050406030204" pitchFamily="18" charset="0"/>
                      </a:rPr>
                      <m:t>𝑏</m:t>
                    </m:r>
                  </m:oMath>
                </a14:m>
                <a:r>
                  <a:rPr lang="en-US" sz="2400" dirty="0"/>
                  <a:t> respectively, </a:t>
                </a:r>
                <a14:m>
                  <m:oMath xmlns:m="http://schemas.openxmlformats.org/officeDocument/2006/math">
                    <m:r>
                      <a:rPr lang="en-US" sz="2400" b="0" i="1" smtClean="0">
                        <a:latin typeface="Cambria Math" panose="02040503050406030204" pitchFamily="18" charset="0"/>
                      </a:rPr>
                      <m:t>𝑏</m:t>
                    </m:r>
                    <m:r>
                      <a:rPr lang="en-US" sz="2400" b="0" i="1" smtClean="0">
                        <a:latin typeface="Cambria Math" panose="02040503050406030204" pitchFamily="18" charset="0"/>
                      </a:rPr>
                      <m:t>&gt;</m:t>
                    </m:r>
                    <m:r>
                      <a:rPr lang="en-US" sz="2400" b="0" i="1" smtClean="0">
                        <a:latin typeface="Cambria Math" panose="02040503050406030204" pitchFamily="18" charset="0"/>
                      </a:rPr>
                      <m:t>𝑎</m:t>
                    </m:r>
                    <m:r>
                      <a:rPr lang="en-US" sz="2400" b="0" i="1" smtClean="0">
                        <a:latin typeface="Cambria Math" panose="02040503050406030204" pitchFamily="18" charset="0"/>
                      </a:rPr>
                      <m:t>&gt;0</m:t>
                    </m:r>
                  </m:oMath>
                </a14:m>
                <a:endParaRPr lang="en-US" sz="2400" dirty="0"/>
              </a:p>
              <a:p>
                <a:endParaRPr lang="en-US" sz="2400" dirty="0"/>
              </a:p>
              <a:p>
                <a:r>
                  <a:rPr lang="en-US" sz="2400" dirty="0"/>
                  <a:t>One customer arrives per period</a:t>
                </a:r>
              </a:p>
            </p:txBody>
          </p:sp>
        </mc:Choice>
        <mc:Fallback xmlns="">
          <p:sp>
            <p:nvSpPr>
              <p:cNvPr id="4" name="Text Placeholder 3">
                <a:extLst>
                  <a:ext uri="{FF2B5EF4-FFF2-40B4-BE49-F238E27FC236}">
                    <a16:creationId xmlns:a16="http://schemas.microsoft.com/office/drawing/2014/main" id="{2ACB6561-E85D-B999-4195-813249BF65AF}"/>
                  </a:ext>
                </a:extLst>
              </p:cNvPr>
              <p:cNvSpPr>
                <a:spLocks noGrp="1" noRot="1" noChangeAspect="1" noMove="1" noResize="1" noEditPoints="1" noAdjustHandles="1" noChangeArrowheads="1" noChangeShapeType="1" noTextEdit="1"/>
              </p:cNvSpPr>
              <p:nvPr>
                <p:ph type="body" sz="quarter" idx="14"/>
              </p:nvPr>
            </p:nvSpPr>
            <p:spPr>
              <a:xfrm>
                <a:off x="1828800" y="1500189"/>
                <a:ext cx="8755380" cy="4186236"/>
              </a:xfrm>
              <a:blipFill>
                <a:blip r:embed="rId3"/>
                <a:stretch>
                  <a:fillRect l="-2029" t="-242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D9EC5AE0-DF6C-F46E-BA18-664ACCBE7C63}"/>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26BB38A5-D683-625A-35CD-117FEAED0C89}"/>
              </a:ext>
            </a:extLst>
          </p:cNvPr>
          <p:cNvSpPr>
            <a:spLocks noGrp="1"/>
          </p:cNvSpPr>
          <p:nvPr>
            <p:ph type="sldNum" sz="quarter" idx="12"/>
          </p:nvPr>
        </p:nvSpPr>
        <p:spPr/>
        <p:txBody>
          <a:bodyPr/>
          <a:lstStyle/>
          <a:p>
            <a:fld id="{8A7A6979-0714-4377-B894-6BE4C2D6E202}" type="slidenum">
              <a:rPr lang="en-US" smtClean="0"/>
              <a:pPr/>
              <a:t>20</a:t>
            </a:fld>
            <a:endParaRPr lang="en-US" dirty="0"/>
          </a:p>
        </p:txBody>
      </p:sp>
    </p:spTree>
    <p:extLst>
      <p:ext uri="{BB962C8B-B14F-4D97-AF65-F5344CB8AC3E}">
        <p14:creationId xmlns:p14="http://schemas.microsoft.com/office/powerpoint/2010/main" val="276159092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42DCED3-F490-A8FB-5FEE-617E3989D19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C42206-9439-4E82-E2CC-64E5AB6B49C1}"/>
              </a:ext>
            </a:extLst>
          </p:cNvPr>
          <p:cNvSpPr>
            <a:spLocks noGrp="1"/>
          </p:cNvSpPr>
          <p:nvPr>
            <p:ph type="ctrTitle"/>
          </p:nvPr>
        </p:nvSpPr>
        <p:spPr/>
        <p:txBody>
          <a:bodyPr/>
          <a:lstStyle/>
          <a:p>
            <a:r>
              <a:rPr lang="en-US" dirty="0"/>
              <a:t>Network Markets: History Matters, Part 2</a:t>
            </a:r>
          </a:p>
        </p:txBody>
      </p:sp>
      <p:grpSp>
        <p:nvGrpSpPr>
          <p:cNvPr id="7" name="Group 6" descr="Line graph illustrating two competing products in a network market over time. The solid line starts at value a and rises to a + γt at time t, while the dashed line starts lower at b and grows more slowly. At time t, the solid line’s value exceeds the dashed line’s, indicating that a new customer would adopt the solid-line product due to its higher network-driven value.">
            <a:extLst>
              <a:ext uri="{FF2B5EF4-FFF2-40B4-BE49-F238E27FC236}">
                <a16:creationId xmlns:a16="http://schemas.microsoft.com/office/drawing/2014/main" id="{4DE442BA-A7B0-C393-A06C-B4F101B41420}"/>
              </a:ext>
            </a:extLst>
          </p:cNvPr>
          <p:cNvGrpSpPr/>
          <p:nvPr/>
        </p:nvGrpSpPr>
        <p:grpSpPr>
          <a:xfrm>
            <a:off x="1471296" y="1171575"/>
            <a:ext cx="8597899" cy="3886200"/>
            <a:chOff x="1471296" y="1171575"/>
            <a:chExt cx="8597899" cy="3886200"/>
          </a:xfrm>
        </p:grpSpPr>
        <p:sp>
          <p:nvSpPr>
            <p:cNvPr id="21" name="Line 3">
              <a:extLst>
                <a:ext uri="{FF2B5EF4-FFF2-40B4-BE49-F238E27FC236}">
                  <a16:creationId xmlns:a16="http://schemas.microsoft.com/office/drawing/2014/main" id="{06FA9AA3-2087-7506-05E2-7CA296DEA1B6}"/>
                </a:ext>
              </a:extLst>
            </p:cNvPr>
            <p:cNvSpPr>
              <a:spLocks noChangeShapeType="1"/>
            </p:cNvSpPr>
            <p:nvPr/>
          </p:nvSpPr>
          <p:spPr bwMode="auto">
            <a:xfrm>
              <a:off x="2995295" y="4600575"/>
              <a:ext cx="6096000" cy="0"/>
            </a:xfrm>
            <a:prstGeom prst="line">
              <a:avLst/>
            </a:prstGeom>
            <a:noFill/>
            <a:ln w="9525">
              <a:solidFill>
                <a:schemeClr val="tx1"/>
              </a:solidFill>
              <a:round/>
              <a:headEnd/>
              <a:tailEnd type="arrow" w="med" len="med"/>
            </a:ln>
            <a:effectLst/>
          </p:spPr>
          <p:txBody>
            <a:bodyPr/>
            <a:lstStyle/>
            <a:p>
              <a:endParaRPr lang="en-US"/>
            </a:p>
          </p:txBody>
        </p:sp>
        <p:sp>
          <p:nvSpPr>
            <p:cNvPr id="22" name="Line 4">
              <a:extLst>
                <a:ext uri="{FF2B5EF4-FFF2-40B4-BE49-F238E27FC236}">
                  <a16:creationId xmlns:a16="http://schemas.microsoft.com/office/drawing/2014/main" id="{46523D04-49B1-25CF-79BA-99B44811A5A4}"/>
                </a:ext>
              </a:extLst>
            </p:cNvPr>
            <p:cNvSpPr>
              <a:spLocks noChangeShapeType="1"/>
            </p:cNvSpPr>
            <p:nvPr/>
          </p:nvSpPr>
          <p:spPr bwMode="auto">
            <a:xfrm flipV="1">
              <a:off x="2995295" y="1476375"/>
              <a:ext cx="0" cy="3124200"/>
            </a:xfrm>
            <a:prstGeom prst="line">
              <a:avLst/>
            </a:prstGeom>
            <a:noFill/>
            <a:ln w="9525">
              <a:solidFill>
                <a:schemeClr val="tx1"/>
              </a:solidFill>
              <a:round/>
              <a:headEnd/>
              <a:tailEnd type="arrow" w="med" len="med"/>
            </a:ln>
            <a:effectLst/>
          </p:spPr>
          <p:txBody>
            <a:bodyPr/>
            <a:lstStyle/>
            <a:p>
              <a:endParaRPr lang="en-US"/>
            </a:p>
          </p:txBody>
        </p:sp>
        <p:sp>
          <p:nvSpPr>
            <p:cNvPr id="23" name="Line 5">
              <a:extLst>
                <a:ext uri="{FF2B5EF4-FFF2-40B4-BE49-F238E27FC236}">
                  <a16:creationId xmlns:a16="http://schemas.microsoft.com/office/drawing/2014/main" id="{07D3CB50-2A94-5B69-D8F8-3E202763998F}"/>
                </a:ext>
              </a:extLst>
            </p:cNvPr>
            <p:cNvSpPr>
              <a:spLocks noChangeShapeType="1"/>
            </p:cNvSpPr>
            <p:nvPr/>
          </p:nvSpPr>
          <p:spPr bwMode="auto">
            <a:xfrm flipV="1">
              <a:off x="2995295" y="1704975"/>
              <a:ext cx="4495800" cy="1981200"/>
            </a:xfrm>
            <a:prstGeom prst="line">
              <a:avLst/>
            </a:prstGeom>
            <a:noFill/>
            <a:ln w="28575">
              <a:solidFill>
                <a:schemeClr val="tx1"/>
              </a:solidFill>
              <a:round/>
              <a:headEnd/>
              <a:tailEnd/>
            </a:ln>
            <a:effectLst/>
          </p:spPr>
          <p:txBody>
            <a:bodyPr/>
            <a:lstStyle/>
            <a:p>
              <a:endParaRPr lang="en-US"/>
            </a:p>
          </p:txBody>
        </p:sp>
        <p:sp>
          <p:nvSpPr>
            <p:cNvPr id="24" name="Line 6">
              <a:extLst>
                <a:ext uri="{FF2B5EF4-FFF2-40B4-BE49-F238E27FC236}">
                  <a16:creationId xmlns:a16="http://schemas.microsoft.com/office/drawing/2014/main" id="{C4CF18F0-8AF8-5E97-24E2-69589C6B78B1}"/>
                </a:ext>
              </a:extLst>
            </p:cNvPr>
            <p:cNvSpPr>
              <a:spLocks noChangeShapeType="1"/>
            </p:cNvSpPr>
            <p:nvPr/>
          </p:nvSpPr>
          <p:spPr bwMode="auto">
            <a:xfrm>
              <a:off x="5281295" y="1933575"/>
              <a:ext cx="0" cy="2667000"/>
            </a:xfrm>
            <a:prstGeom prst="line">
              <a:avLst/>
            </a:prstGeom>
            <a:noFill/>
            <a:ln w="9525" cap="rnd">
              <a:solidFill>
                <a:schemeClr val="tx1"/>
              </a:solidFill>
              <a:prstDash val="sysDot"/>
              <a:round/>
              <a:headEnd/>
              <a:tailEnd/>
            </a:ln>
            <a:effectLst/>
          </p:spPr>
          <p:txBody>
            <a:bodyPr/>
            <a:lstStyle/>
            <a:p>
              <a:endParaRPr lang="en-US"/>
            </a:p>
          </p:txBody>
        </p:sp>
        <p:sp>
          <p:nvSpPr>
            <p:cNvPr id="25" name="Line 7">
              <a:extLst>
                <a:ext uri="{FF2B5EF4-FFF2-40B4-BE49-F238E27FC236}">
                  <a16:creationId xmlns:a16="http://schemas.microsoft.com/office/drawing/2014/main" id="{9B593891-408C-4C5A-CEE5-C458E99EECCA}"/>
                </a:ext>
              </a:extLst>
            </p:cNvPr>
            <p:cNvSpPr>
              <a:spLocks noChangeShapeType="1"/>
            </p:cNvSpPr>
            <p:nvPr/>
          </p:nvSpPr>
          <p:spPr bwMode="auto">
            <a:xfrm flipV="1">
              <a:off x="5281295" y="2009775"/>
              <a:ext cx="2743200" cy="1143000"/>
            </a:xfrm>
            <a:prstGeom prst="line">
              <a:avLst/>
            </a:prstGeom>
            <a:noFill/>
            <a:ln w="28575">
              <a:solidFill>
                <a:schemeClr val="tx1"/>
              </a:solidFill>
              <a:prstDash val="dash"/>
              <a:round/>
              <a:headEnd/>
              <a:tailEnd/>
            </a:ln>
            <a:effectLst/>
          </p:spPr>
          <p:txBody>
            <a:bodyPr/>
            <a:lstStyle/>
            <a:p>
              <a:endParaRPr lang="en-US"/>
            </a:p>
          </p:txBody>
        </p:sp>
        <p:sp>
          <p:nvSpPr>
            <p:cNvPr id="26" name="Line 8">
              <a:extLst>
                <a:ext uri="{FF2B5EF4-FFF2-40B4-BE49-F238E27FC236}">
                  <a16:creationId xmlns:a16="http://schemas.microsoft.com/office/drawing/2014/main" id="{F4D9A635-1060-4939-372F-C50F12BD5BC6}"/>
                </a:ext>
              </a:extLst>
            </p:cNvPr>
            <p:cNvSpPr>
              <a:spLocks noChangeShapeType="1"/>
            </p:cNvSpPr>
            <p:nvPr/>
          </p:nvSpPr>
          <p:spPr bwMode="auto">
            <a:xfrm flipH="1">
              <a:off x="2995295" y="3152775"/>
              <a:ext cx="2286000" cy="0"/>
            </a:xfrm>
            <a:prstGeom prst="line">
              <a:avLst/>
            </a:prstGeom>
            <a:noFill/>
            <a:ln w="9525">
              <a:solidFill>
                <a:schemeClr val="tx1"/>
              </a:solidFill>
              <a:prstDash val="dashDot"/>
              <a:round/>
              <a:headEnd/>
              <a:tailEnd/>
            </a:ln>
            <a:effectLst/>
          </p:spPr>
          <p:txBody>
            <a:bodyPr/>
            <a:lstStyle/>
            <a:p>
              <a:endParaRPr lang="en-US"/>
            </a:p>
          </p:txBody>
        </p:sp>
        <p:sp>
          <p:nvSpPr>
            <p:cNvPr id="27" name="Line 9">
              <a:extLst>
                <a:ext uri="{FF2B5EF4-FFF2-40B4-BE49-F238E27FC236}">
                  <a16:creationId xmlns:a16="http://schemas.microsoft.com/office/drawing/2014/main" id="{DE288326-E4F4-F7E5-BE70-4E089F04C132}"/>
                </a:ext>
              </a:extLst>
            </p:cNvPr>
            <p:cNvSpPr>
              <a:spLocks noChangeShapeType="1"/>
            </p:cNvSpPr>
            <p:nvPr/>
          </p:nvSpPr>
          <p:spPr bwMode="auto">
            <a:xfrm flipH="1">
              <a:off x="2995295" y="2695575"/>
              <a:ext cx="2286000" cy="0"/>
            </a:xfrm>
            <a:prstGeom prst="line">
              <a:avLst/>
            </a:prstGeom>
            <a:noFill/>
            <a:ln w="9525">
              <a:solidFill>
                <a:schemeClr val="tx1"/>
              </a:solidFill>
              <a:prstDash val="dashDot"/>
              <a:round/>
              <a:headEnd/>
              <a:tailEnd/>
            </a:ln>
            <a:effectLst/>
          </p:spPr>
          <p:txBody>
            <a:bodyPr/>
            <a:lstStyle/>
            <a:p>
              <a:endParaRPr lang="en-US"/>
            </a:p>
          </p:txBody>
        </p:sp>
        <p:sp>
          <p:nvSpPr>
            <p:cNvPr id="28" name="Text Box 10">
              <a:extLst>
                <a:ext uri="{FF2B5EF4-FFF2-40B4-BE49-F238E27FC236}">
                  <a16:creationId xmlns:a16="http://schemas.microsoft.com/office/drawing/2014/main" id="{49154B20-D9FE-3B11-A684-42D6D96FE338}"/>
                </a:ext>
              </a:extLst>
            </p:cNvPr>
            <p:cNvSpPr txBox="1">
              <a:spLocks noChangeArrowheads="1"/>
            </p:cNvSpPr>
            <p:nvPr/>
          </p:nvSpPr>
          <p:spPr bwMode="auto">
            <a:xfrm>
              <a:off x="2614295" y="3457575"/>
              <a:ext cx="319088" cy="457200"/>
            </a:xfrm>
            <a:prstGeom prst="rect">
              <a:avLst/>
            </a:prstGeom>
            <a:noFill/>
            <a:ln w="9525">
              <a:noFill/>
              <a:miter lim="800000"/>
              <a:headEnd/>
              <a:tailEnd/>
            </a:ln>
            <a:effectLst/>
          </p:spPr>
          <p:txBody>
            <a:bodyPr wrap="none">
              <a:spAutoFit/>
            </a:bodyPr>
            <a:lstStyle/>
            <a:p>
              <a:pPr eaLnBrk="0" hangingPunct="0"/>
              <a:r>
                <a:rPr lang="en-US" sz="2400">
                  <a:solidFill>
                    <a:schemeClr val="tx1"/>
                  </a:solidFill>
                  <a:latin typeface="Times New Roman" pitchFamily="18" charset="0"/>
                </a:rPr>
                <a:t>a</a:t>
              </a:r>
            </a:p>
          </p:txBody>
        </p:sp>
        <p:sp>
          <p:nvSpPr>
            <p:cNvPr id="29" name="Text Box 11">
              <a:extLst>
                <a:ext uri="{FF2B5EF4-FFF2-40B4-BE49-F238E27FC236}">
                  <a16:creationId xmlns:a16="http://schemas.microsoft.com/office/drawing/2014/main" id="{1A8D35EA-A4C7-048C-6377-DF56C0788AEE}"/>
                </a:ext>
              </a:extLst>
            </p:cNvPr>
            <p:cNvSpPr txBox="1">
              <a:spLocks noChangeArrowheads="1"/>
            </p:cNvSpPr>
            <p:nvPr/>
          </p:nvSpPr>
          <p:spPr bwMode="auto">
            <a:xfrm>
              <a:off x="2614295" y="2924175"/>
              <a:ext cx="336550" cy="457200"/>
            </a:xfrm>
            <a:prstGeom prst="rect">
              <a:avLst/>
            </a:prstGeom>
            <a:noFill/>
            <a:ln w="9525">
              <a:noFill/>
              <a:miter lim="800000"/>
              <a:headEnd/>
              <a:tailEnd/>
            </a:ln>
            <a:effectLst/>
          </p:spPr>
          <p:txBody>
            <a:bodyPr wrap="none">
              <a:spAutoFit/>
            </a:bodyPr>
            <a:lstStyle/>
            <a:p>
              <a:pPr eaLnBrk="0" hangingPunct="0"/>
              <a:r>
                <a:rPr lang="en-US" sz="2400">
                  <a:solidFill>
                    <a:schemeClr val="tx1"/>
                  </a:solidFill>
                  <a:latin typeface="Times New Roman" pitchFamily="18" charset="0"/>
                </a:rPr>
                <a:t>b</a:t>
              </a:r>
            </a:p>
          </p:txBody>
        </p:sp>
        <mc:AlternateContent xmlns:mc="http://schemas.openxmlformats.org/markup-compatibility/2006" xmlns:a14="http://schemas.microsoft.com/office/drawing/2010/main">
          <mc:Choice Requires="a14">
            <p:sp>
              <p:nvSpPr>
                <p:cNvPr id="30" name="Text Box 12">
                  <a:extLst>
                    <a:ext uri="{FF2B5EF4-FFF2-40B4-BE49-F238E27FC236}">
                      <a16:creationId xmlns:a16="http://schemas.microsoft.com/office/drawing/2014/main" id="{B78D4BC3-258C-56A2-3EBC-E68FBDBE63D0}"/>
                    </a:ext>
                  </a:extLst>
                </p:cNvPr>
                <p:cNvSpPr txBox="1">
                  <a:spLocks noChangeArrowheads="1"/>
                </p:cNvSpPr>
                <p:nvPr/>
              </p:nvSpPr>
              <p:spPr bwMode="auto">
                <a:xfrm>
                  <a:off x="1471296" y="2464743"/>
                  <a:ext cx="1633537" cy="461665"/>
                </a:xfrm>
                <a:prstGeom prst="rect">
                  <a:avLst/>
                </a:prstGeom>
                <a:noFill/>
                <a:ln w="9525">
                  <a:noFill/>
                  <a:miter lim="800000"/>
                  <a:headEnd/>
                  <a:tailEnd/>
                </a:ln>
                <a:effectLst/>
              </p:spPr>
              <p:txBody>
                <a:bodyPr wrap="square">
                  <a:spAutoFit/>
                </a:bodyPr>
                <a:lstStyle/>
                <a:p>
                  <a:pPr eaLnBrk="0" hangingPunct="0"/>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𝑎</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𝛾</m:t>
                        </m:r>
                        <m:r>
                          <a:rPr lang="en-US" sz="2400" b="0" i="1" smtClean="0">
                            <a:solidFill>
                              <a:schemeClr val="tx1"/>
                            </a:solidFill>
                            <a:latin typeface="Cambria Math" panose="02040503050406030204" pitchFamily="18" charset="0"/>
                          </a:rPr>
                          <m:t>𝑡</m:t>
                        </m:r>
                      </m:oMath>
                    </m:oMathPara>
                  </a14:m>
                  <a:endParaRPr lang="en-US" sz="2400" dirty="0">
                    <a:solidFill>
                      <a:schemeClr val="tx1"/>
                    </a:solidFill>
                    <a:latin typeface="Times New Roman" pitchFamily="18" charset="0"/>
                  </a:endParaRPr>
                </a:p>
              </p:txBody>
            </p:sp>
          </mc:Choice>
          <mc:Fallback xmlns="">
            <p:sp>
              <p:nvSpPr>
                <p:cNvPr id="30" name="Text Box 12">
                  <a:extLst>
                    <a:ext uri="{FF2B5EF4-FFF2-40B4-BE49-F238E27FC236}">
                      <a16:creationId xmlns:a16="http://schemas.microsoft.com/office/drawing/2014/main" id="{B78D4BC3-258C-56A2-3EBC-E68FBDBE63D0}"/>
                    </a:ext>
                  </a:extLst>
                </p:cNvPr>
                <p:cNvSpPr txBox="1">
                  <a:spLocks noRot="1" noChangeAspect="1" noMove="1" noResize="1" noEditPoints="1" noAdjustHandles="1" noChangeArrowheads="1" noChangeShapeType="1" noTextEdit="1"/>
                </p:cNvSpPr>
                <p:nvPr/>
              </p:nvSpPr>
              <p:spPr bwMode="auto">
                <a:xfrm>
                  <a:off x="1471296" y="2464743"/>
                  <a:ext cx="1633537" cy="461665"/>
                </a:xfrm>
                <a:prstGeom prst="rect">
                  <a:avLst/>
                </a:prstGeom>
                <a:blipFill>
                  <a:blip r:embed="rId3"/>
                  <a:stretch>
                    <a:fillRect b="-13158"/>
                  </a:stretch>
                </a:blipFill>
                <a:ln w="9525">
                  <a:noFill/>
                  <a:miter lim="800000"/>
                  <a:headEnd/>
                  <a:tailEnd/>
                </a:ln>
                <a:effectLst/>
              </p:spPr>
              <p:txBody>
                <a:bodyPr/>
                <a:lstStyle/>
                <a:p>
                  <a:r>
                    <a:rPr lang="en-US">
                      <a:noFill/>
                    </a:rPr>
                    <a:t> </a:t>
                  </a:r>
                </a:p>
              </p:txBody>
            </p:sp>
          </mc:Fallback>
        </mc:AlternateContent>
        <p:sp>
          <p:nvSpPr>
            <p:cNvPr id="31" name="Text Box 13">
              <a:extLst>
                <a:ext uri="{FF2B5EF4-FFF2-40B4-BE49-F238E27FC236}">
                  <a16:creationId xmlns:a16="http://schemas.microsoft.com/office/drawing/2014/main" id="{CEC91711-D9E3-144C-CB7F-5FF155DABE05}"/>
                </a:ext>
              </a:extLst>
            </p:cNvPr>
            <p:cNvSpPr txBox="1">
              <a:spLocks noChangeArrowheads="1"/>
            </p:cNvSpPr>
            <p:nvPr/>
          </p:nvSpPr>
          <p:spPr bwMode="auto">
            <a:xfrm>
              <a:off x="5128895" y="4600575"/>
              <a:ext cx="268288" cy="457200"/>
            </a:xfrm>
            <a:prstGeom prst="rect">
              <a:avLst/>
            </a:prstGeom>
            <a:noFill/>
            <a:ln w="9525">
              <a:noFill/>
              <a:miter lim="800000"/>
              <a:headEnd/>
              <a:tailEnd/>
            </a:ln>
            <a:effectLst/>
          </p:spPr>
          <p:txBody>
            <a:bodyPr wrap="none">
              <a:spAutoFit/>
            </a:bodyPr>
            <a:lstStyle/>
            <a:p>
              <a:pPr eaLnBrk="0" hangingPunct="0"/>
              <a:r>
                <a:rPr lang="en-US" sz="2400">
                  <a:solidFill>
                    <a:schemeClr val="tx1"/>
                  </a:solidFill>
                  <a:latin typeface="Times New Roman" pitchFamily="18" charset="0"/>
                </a:rPr>
                <a:t>t</a:t>
              </a:r>
            </a:p>
          </p:txBody>
        </p:sp>
        <p:sp>
          <p:nvSpPr>
            <p:cNvPr id="32" name="Text Box 14">
              <a:extLst>
                <a:ext uri="{FF2B5EF4-FFF2-40B4-BE49-F238E27FC236}">
                  <a16:creationId xmlns:a16="http://schemas.microsoft.com/office/drawing/2014/main" id="{1A33EE17-8760-B2DD-B852-3377E2115420}"/>
                </a:ext>
              </a:extLst>
            </p:cNvPr>
            <p:cNvSpPr txBox="1">
              <a:spLocks noChangeArrowheads="1"/>
            </p:cNvSpPr>
            <p:nvPr/>
          </p:nvSpPr>
          <p:spPr bwMode="auto">
            <a:xfrm>
              <a:off x="2690495" y="4524375"/>
              <a:ext cx="336550" cy="457200"/>
            </a:xfrm>
            <a:prstGeom prst="rect">
              <a:avLst/>
            </a:prstGeom>
            <a:noFill/>
            <a:ln w="9525">
              <a:noFill/>
              <a:miter lim="800000"/>
              <a:headEnd/>
              <a:tailEnd/>
            </a:ln>
            <a:effectLst/>
          </p:spPr>
          <p:txBody>
            <a:bodyPr wrap="none">
              <a:spAutoFit/>
            </a:bodyPr>
            <a:lstStyle/>
            <a:p>
              <a:pPr eaLnBrk="0" hangingPunct="0"/>
              <a:r>
                <a:rPr lang="en-US" sz="2400">
                  <a:solidFill>
                    <a:schemeClr val="tx1"/>
                  </a:solidFill>
                  <a:latin typeface="Times New Roman" pitchFamily="18" charset="0"/>
                </a:rPr>
                <a:t>0</a:t>
              </a:r>
            </a:p>
          </p:txBody>
        </p:sp>
        <p:sp>
          <p:nvSpPr>
            <p:cNvPr id="33" name="Text Box 15">
              <a:extLst>
                <a:ext uri="{FF2B5EF4-FFF2-40B4-BE49-F238E27FC236}">
                  <a16:creationId xmlns:a16="http://schemas.microsoft.com/office/drawing/2014/main" id="{70BE49FE-B024-4AA1-27E7-9264E18D2A10}"/>
                </a:ext>
              </a:extLst>
            </p:cNvPr>
            <p:cNvSpPr txBox="1">
              <a:spLocks noChangeArrowheads="1"/>
            </p:cNvSpPr>
            <p:nvPr/>
          </p:nvSpPr>
          <p:spPr bwMode="auto">
            <a:xfrm>
              <a:off x="2080895" y="1171575"/>
              <a:ext cx="911225" cy="457200"/>
            </a:xfrm>
            <a:prstGeom prst="rect">
              <a:avLst/>
            </a:prstGeom>
            <a:noFill/>
            <a:ln w="9525">
              <a:noFill/>
              <a:miter lim="800000"/>
              <a:headEnd/>
              <a:tailEnd/>
            </a:ln>
            <a:effectLst/>
          </p:spPr>
          <p:txBody>
            <a:bodyPr wrap="none">
              <a:spAutoFit/>
            </a:bodyPr>
            <a:lstStyle/>
            <a:p>
              <a:pPr eaLnBrk="0" hangingPunct="0"/>
              <a:r>
                <a:rPr lang="en-US" sz="2400" dirty="0">
                  <a:solidFill>
                    <a:schemeClr val="tx1"/>
                  </a:solidFill>
                  <a:latin typeface="Times New Roman" pitchFamily="18" charset="0"/>
                </a:rPr>
                <a:t>Value</a:t>
              </a:r>
            </a:p>
          </p:txBody>
        </p:sp>
        <p:sp>
          <p:nvSpPr>
            <p:cNvPr id="34" name="Text Box 16">
              <a:extLst>
                <a:ext uri="{FF2B5EF4-FFF2-40B4-BE49-F238E27FC236}">
                  <a16:creationId xmlns:a16="http://schemas.microsoft.com/office/drawing/2014/main" id="{CC988500-4066-231D-7D7F-588E9731D373}"/>
                </a:ext>
              </a:extLst>
            </p:cNvPr>
            <p:cNvSpPr txBox="1">
              <a:spLocks noChangeArrowheads="1"/>
            </p:cNvSpPr>
            <p:nvPr/>
          </p:nvSpPr>
          <p:spPr bwMode="auto">
            <a:xfrm>
              <a:off x="9243695" y="4448175"/>
              <a:ext cx="825500" cy="457200"/>
            </a:xfrm>
            <a:prstGeom prst="rect">
              <a:avLst/>
            </a:prstGeom>
            <a:noFill/>
            <a:ln w="9525">
              <a:noFill/>
              <a:miter lim="800000"/>
              <a:headEnd/>
              <a:tailEnd/>
            </a:ln>
            <a:effectLst/>
          </p:spPr>
          <p:txBody>
            <a:bodyPr wrap="none">
              <a:spAutoFit/>
            </a:bodyPr>
            <a:lstStyle/>
            <a:p>
              <a:pPr eaLnBrk="0" hangingPunct="0"/>
              <a:r>
                <a:rPr lang="en-US" sz="2400" dirty="0">
                  <a:solidFill>
                    <a:schemeClr val="tx1"/>
                  </a:solidFill>
                  <a:latin typeface="Times New Roman" pitchFamily="18" charset="0"/>
                </a:rPr>
                <a:t>Time</a:t>
              </a:r>
            </a:p>
          </p:txBody>
        </p:sp>
      </p:grpSp>
      <p:sp>
        <p:nvSpPr>
          <p:cNvPr id="35" name="Text Box 17">
            <a:extLst>
              <a:ext uri="{FF2B5EF4-FFF2-40B4-BE49-F238E27FC236}">
                <a16:creationId xmlns:a16="http://schemas.microsoft.com/office/drawing/2014/main" id="{AB33593A-F761-1108-BFBF-434B0BD77CF6}"/>
              </a:ext>
            </a:extLst>
          </p:cNvPr>
          <p:cNvSpPr txBox="1">
            <a:spLocks noChangeArrowheads="1"/>
          </p:cNvSpPr>
          <p:nvPr/>
        </p:nvSpPr>
        <p:spPr bwMode="auto">
          <a:xfrm>
            <a:off x="1607820" y="5099050"/>
            <a:ext cx="8218488" cy="457200"/>
          </a:xfrm>
          <a:prstGeom prst="rect">
            <a:avLst/>
          </a:prstGeom>
          <a:noFill/>
          <a:ln w="9525">
            <a:noFill/>
            <a:miter lim="800000"/>
            <a:headEnd/>
            <a:tailEnd/>
          </a:ln>
          <a:effectLst/>
        </p:spPr>
        <p:txBody>
          <a:bodyPr wrap="none">
            <a:spAutoFit/>
          </a:bodyPr>
          <a:lstStyle/>
          <a:p>
            <a:pPr eaLnBrk="0" hangingPunct="0"/>
            <a:r>
              <a:rPr lang="en-US" sz="2400" b="1">
                <a:latin typeface="Times New Roman" pitchFamily="18" charset="0"/>
              </a:rPr>
              <a:t>Q: Which product will a new customer at time t adopt? Why?</a:t>
            </a:r>
          </a:p>
        </p:txBody>
      </p:sp>
      <p:sp>
        <p:nvSpPr>
          <p:cNvPr id="5" name="Date Placeholder 4">
            <a:extLst>
              <a:ext uri="{FF2B5EF4-FFF2-40B4-BE49-F238E27FC236}">
                <a16:creationId xmlns:a16="http://schemas.microsoft.com/office/drawing/2014/main" id="{CC492A1E-6519-B6D4-CEE9-8B051A6D9F38}"/>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81E330C6-79B3-15B3-E586-F1FD2A9E903B}"/>
              </a:ext>
            </a:extLst>
          </p:cNvPr>
          <p:cNvSpPr>
            <a:spLocks noGrp="1"/>
          </p:cNvSpPr>
          <p:nvPr>
            <p:ph type="sldNum" sz="quarter" idx="12"/>
          </p:nvPr>
        </p:nvSpPr>
        <p:spPr/>
        <p:txBody>
          <a:bodyPr/>
          <a:lstStyle/>
          <a:p>
            <a:fld id="{8A7A6979-0714-4377-B894-6BE4C2D6E202}" type="slidenum">
              <a:rPr lang="en-US" smtClean="0"/>
              <a:pPr/>
              <a:t>21</a:t>
            </a:fld>
            <a:endParaRPr lang="en-US" dirty="0"/>
          </a:p>
        </p:txBody>
      </p:sp>
    </p:spTree>
    <p:extLst>
      <p:ext uri="{BB962C8B-B14F-4D97-AF65-F5344CB8AC3E}">
        <p14:creationId xmlns:p14="http://schemas.microsoft.com/office/powerpoint/2010/main" val="1113580568"/>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108D766-34D0-DAC3-EF47-3112A0C6CD8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7D2A61-2AEF-D0D1-B7FE-D8BAA1D18E77}"/>
              </a:ext>
            </a:extLst>
          </p:cNvPr>
          <p:cNvSpPr>
            <a:spLocks noGrp="1"/>
          </p:cNvSpPr>
          <p:nvPr>
            <p:ph type="ctrTitle"/>
          </p:nvPr>
        </p:nvSpPr>
        <p:spPr/>
        <p:txBody>
          <a:bodyPr/>
          <a:lstStyle/>
          <a:p>
            <a:r>
              <a:rPr lang="en-US" dirty="0"/>
              <a:t>Network Markets: History Matters, Part 3</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84B19099-076C-BB1D-C0C9-5C025AD0D189}"/>
                  </a:ext>
                </a:extLst>
              </p:cNvPr>
              <p:cNvSpPr>
                <a:spLocks noGrp="1"/>
              </p:cNvSpPr>
              <p:nvPr>
                <p:ph type="body" sz="quarter" idx="14"/>
              </p:nvPr>
            </p:nvSpPr>
            <p:spPr>
              <a:xfrm>
                <a:off x="1828800" y="1500189"/>
                <a:ext cx="8755380" cy="4186236"/>
              </a:xfrm>
            </p:spPr>
            <p:txBody>
              <a:bodyPr>
                <a:normAutofit/>
              </a:bodyPr>
              <a:lstStyle/>
              <a:p>
                <a:r>
                  <a:rPr lang="en-US" sz="2400" dirty="0"/>
                  <a:t>The superior product </a:t>
                </a:r>
                <a14:m>
                  <m:oMath xmlns:m="http://schemas.openxmlformats.org/officeDocument/2006/math">
                    <m:r>
                      <a:rPr lang="en-US" sz="2400" b="0" i="1" smtClean="0">
                        <a:latin typeface="Cambria Math" panose="02040503050406030204" pitchFamily="18" charset="0"/>
                      </a:rPr>
                      <m:t>𝐵</m:t>
                    </m:r>
                  </m:oMath>
                </a14:m>
                <a:r>
                  <a:rPr lang="en-US" sz="2400" dirty="0"/>
                  <a:t> is not adopted</a:t>
                </a:r>
              </a:p>
              <a:p>
                <a:endParaRPr lang="en-US" sz="2400" dirty="0"/>
              </a:p>
              <a:p>
                <a:r>
                  <a:rPr lang="en-US" sz="2400" dirty="0"/>
                  <a:t>For network products, both intrinsic performance and installed base matter</a:t>
                </a:r>
              </a:p>
              <a:p>
                <a:endParaRPr lang="en-US" sz="2400" dirty="0"/>
              </a:p>
              <a:p>
                <a14:m>
                  <m:oMath xmlns:m="http://schemas.openxmlformats.org/officeDocument/2006/math">
                    <m:r>
                      <a:rPr lang="en-US" sz="2400" b="0" i="1" smtClean="0">
                        <a:latin typeface="Cambria Math" panose="02040503050406030204" pitchFamily="18" charset="0"/>
                      </a:rPr>
                      <m:t>𝐴</m:t>
                    </m:r>
                  </m:oMath>
                </a14:m>
                <a:r>
                  <a:rPr lang="en-US" sz="2400" dirty="0"/>
                  <a:t> has inferior product, but has an installed-base advantage by time </a:t>
                </a:r>
                <a14:m>
                  <m:oMath xmlns:m="http://schemas.openxmlformats.org/officeDocument/2006/math">
                    <m:r>
                      <a:rPr lang="en-US" sz="2400" b="0" i="1" smtClean="0">
                        <a:latin typeface="Cambria Math" panose="02040503050406030204" pitchFamily="18" charset="0"/>
                      </a:rPr>
                      <m:t>𝑡</m:t>
                    </m:r>
                  </m:oMath>
                </a14:m>
                <a:endParaRPr lang="en-US" sz="2400" dirty="0"/>
              </a:p>
            </p:txBody>
          </p:sp>
        </mc:Choice>
        <mc:Fallback xmlns="">
          <p:sp>
            <p:nvSpPr>
              <p:cNvPr id="4" name="Text Placeholder 3">
                <a:extLst>
                  <a:ext uri="{FF2B5EF4-FFF2-40B4-BE49-F238E27FC236}">
                    <a16:creationId xmlns:a16="http://schemas.microsoft.com/office/drawing/2014/main" id="{84B19099-076C-BB1D-C0C9-5C025AD0D189}"/>
                  </a:ext>
                </a:extLst>
              </p:cNvPr>
              <p:cNvSpPr>
                <a:spLocks noGrp="1" noRot="1" noChangeAspect="1" noMove="1" noResize="1" noEditPoints="1" noAdjustHandles="1" noChangeArrowheads="1" noChangeShapeType="1" noTextEdit="1"/>
              </p:cNvSpPr>
              <p:nvPr>
                <p:ph type="body" sz="quarter" idx="14"/>
              </p:nvPr>
            </p:nvSpPr>
            <p:spPr>
              <a:xfrm>
                <a:off x="1828800" y="1500189"/>
                <a:ext cx="8755380" cy="4186236"/>
              </a:xfrm>
              <a:blipFill>
                <a:blip r:embed="rId3"/>
                <a:stretch>
                  <a:fillRect l="-2029" t="-242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2DCD07FC-6A89-FB0D-3E77-C931858BD395}"/>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779AA2CF-E946-B219-4EE2-902598DC4F2D}"/>
              </a:ext>
            </a:extLst>
          </p:cNvPr>
          <p:cNvSpPr>
            <a:spLocks noGrp="1"/>
          </p:cNvSpPr>
          <p:nvPr>
            <p:ph type="sldNum" sz="quarter" idx="12"/>
          </p:nvPr>
        </p:nvSpPr>
        <p:spPr/>
        <p:txBody>
          <a:bodyPr/>
          <a:lstStyle/>
          <a:p>
            <a:fld id="{8A7A6979-0714-4377-B894-6BE4C2D6E202}" type="slidenum">
              <a:rPr lang="en-US" smtClean="0"/>
              <a:pPr/>
              <a:t>22</a:t>
            </a:fld>
            <a:endParaRPr lang="en-US" dirty="0"/>
          </a:p>
        </p:txBody>
      </p:sp>
    </p:spTree>
    <p:extLst>
      <p:ext uri="{BB962C8B-B14F-4D97-AF65-F5344CB8AC3E}">
        <p14:creationId xmlns:p14="http://schemas.microsoft.com/office/powerpoint/2010/main" val="1537738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F21C224-2A5A-FB85-5A4D-768121CBBB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F99E16B-7E65-812F-C852-49CF838C01D8}"/>
              </a:ext>
            </a:extLst>
          </p:cNvPr>
          <p:cNvSpPr>
            <a:spLocks noGrp="1"/>
          </p:cNvSpPr>
          <p:nvPr>
            <p:ph type="ctrTitle"/>
          </p:nvPr>
        </p:nvSpPr>
        <p:spPr/>
        <p:txBody>
          <a:bodyPr/>
          <a:lstStyle/>
          <a:p>
            <a:r>
              <a:rPr lang="en-US" dirty="0"/>
              <a:t>Network Markets: History Matters, Part 4</a:t>
            </a:r>
          </a:p>
        </p:txBody>
      </p:sp>
      <p:pic>
        <p:nvPicPr>
          <p:cNvPr id="1026" name="Picture 2" descr="Diagram of a keyboard layout showing the Dvorak Simplified Keyboard arrangement.">
            <a:extLst>
              <a:ext uri="{FF2B5EF4-FFF2-40B4-BE49-F238E27FC236}">
                <a16:creationId xmlns:a16="http://schemas.microsoft.com/office/drawing/2014/main" id="{A208B213-F435-8DE2-A336-BCD9B8EA51B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698449" y="1549400"/>
            <a:ext cx="9471660" cy="315722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1D40D342-DF58-5CDA-5575-AE154FE87ABC}"/>
              </a:ext>
            </a:extLst>
          </p:cNvPr>
          <p:cNvSpPr txBox="1"/>
          <p:nvPr/>
        </p:nvSpPr>
        <p:spPr>
          <a:xfrm>
            <a:off x="7132320" y="4937760"/>
            <a:ext cx="1930080" cy="369332"/>
          </a:xfrm>
          <a:prstGeom prst="rect">
            <a:avLst/>
          </a:prstGeom>
          <a:noFill/>
        </p:spPr>
        <p:txBody>
          <a:bodyPr wrap="none" rtlCol="0">
            <a:spAutoFit/>
          </a:bodyPr>
          <a:lstStyle/>
          <a:p>
            <a:r>
              <a:rPr lang="en-US" dirty="0"/>
              <a:t>Source: Wikipedia</a:t>
            </a:r>
          </a:p>
        </p:txBody>
      </p:sp>
      <p:sp>
        <p:nvSpPr>
          <p:cNvPr id="5" name="Date Placeholder 4">
            <a:extLst>
              <a:ext uri="{FF2B5EF4-FFF2-40B4-BE49-F238E27FC236}">
                <a16:creationId xmlns:a16="http://schemas.microsoft.com/office/drawing/2014/main" id="{5D22E99B-47C2-6137-4E7B-BEB49D212586}"/>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0BA095A7-8265-2222-E66A-1C035BDFAB67}"/>
              </a:ext>
            </a:extLst>
          </p:cNvPr>
          <p:cNvSpPr>
            <a:spLocks noGrp="1"/>
          </p:cNvSpPr>
          <p:nvPr>
            <p:ph type="sldNum" sz="quarter" idx="12"/>
          </p:nvPr>
        </p:nvSpPr>
        <p:spPr/>
        <p:txBody>
          <a:bodyPr/>
          <a:lstStyle/>
          <a:p>
            <a:fld id="{8A7A6979-0714-4377-B894-6BE4C2D6E202}" type="slidenum">
              <a:rPr lang="en-US" smtClean="0"/>
              <a:pPr/>
              <a:t>23</a:t>
            </a:fld>
            <a:endParaRPr lang="en-US" dirty="0"/>
          </a:p>
        </p:txBody>
      </p:sp>
    </p:spTree>
    <p:extLst>
      <p:ext uri="{BB962C8B-B14F-4D97-AF65-F5344CB8AC3E}">
        <p14:creationId xmlns:p14="http://schemas.microsoft.com/office/powerpoint/2010/main" val="112531004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34F64DE-D8BF-568A-31E5-1BEF6DF6303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1076632-F874-7A63-4C83-BEC7B8C5ECA1}"/>
              </a:ext>
            </a:extLst>
          </p:cNvPr>
          <p:cNvSpPr>
            <a:spLocks noGrp="1"/>
          </p:cNvSpPr>
          <p:nvPr>
            <p:ph type="ctrTitle"/>
          </p:nvPr>
        </p:nvSpPr>
        <p:spPr/>
        <p:txBody>
          <a:bodyPr/>
          <a:lstStyle/>
          <a:p>
            <a:r>
              <a:rPr lang="en-US" dirty="0"/>
              <a:t>Network Markets: Beliefs Matter + Multiple Equilibria</a:t>
            </a:r>
          </a:p>
        </p:txBody>
      </p:sp>
      <p:grpSp>
        <p:nvGrpSpPr>
          <p:cNvPr id="3" name="Group 2" descr="Line graph comparing two products in a network market where beliefs and multiple equilibria matter. The solid line starts at value a and grows to a + γt at time t, while the dashed line starts at b and increases more slowly. The question asks how the graph might change if customers are forward looking, implying that expectations about future network size could shift the perceived value trajectories of the two products.">
            <a:extLst>
              <a:ext uri="{FF2B5EF4-FFF2-40B4-BE49-F238E27FC236}">
                <a16:creationId xmlns:a16="http://schemas.microsoft.com/office/drawing/2014/main" id="{EBF7D51F-4D7D-A503-AE0E-66D9B37CCCA5}"/>
              </a:ext>
            </a:extLst>
          </p:cNvPr>
          <p:cNvGrpSpPr/>
          <p:nvPr/>
        </p:nvGrpSpPr>
        <p:grpSpPr>
          <a:xfrm>
            <a:off x="1471296" y="1171575"/>
            <a:ext cx="8597899" cy="3886200"/>
            <a:chOff x="1471296" y="1171575"/>
            <a:chExt cx="8597899" cy="3886200"/>
          </a:xfrm>
        </p:grpSpPr>
        <p:sp>
          <p:nvSpPr>
            <p:cNvPr id="21" name="Line 3">
              <a:extLst>
                <a:ext uri="{FF2B5EF4-FFF2-40B4-BE49-F238E27FC236}">
                  <a16:creationId xmlns:a16="http://schemas.microsoft.com/office/drawing/2014/main" id="{EE3FA820-84E9-1D23-F34E-398F676D820D}"/>
                </a:ext>
              </a:extLst>
            </p:cNvPr>
            <p:cNvSpPr>
              <a:spLocks noChangeShapeType="1"/>
            </p:cNvSpPr>
            <p:nvPr/>
          </p:nvSpPr>
          <p:spPr bwMode="auto">
            <a:xfrm>
              <a:off x="2995295" y="4600575"/>
              <a:ext cx="6096000" cy="0"/>
            </a:xfrm>
            <a:prstGeom prst="line">
              <a:avLst/>
            </a:prstGeom>
            <a:noFill/>
            <a:ln w="9525">
              <a:solidFill>
                <a:schemeClr val="tx1"/>
              </a:solidFill>
              <a:round/>
              <a:headEnd/>
              <a:tailEnd type="arrow" w="med" len="med"/>
            </a:ln>
            <a:effectLst/>
          </p:spPr>
          <p:txBody>
            <a:bodyPr/>
            <a:lstStyle/>
            <a:p>
              <a:endParaRPr lang="en-US"/>
            </a:p>
          </p:txBody>
        </p:sp>
        <p:sp>
          <p:nvSpPr>
            <p:cNvPr id="22" name="Line 4">
              <a:extLst>
                <a:ext uri="{FF2B5EF4-FFF2-40B4-BE49-F238E27FC236}">
                  <a16:creationId xmlns:a16="http://schemas.microsoft.com/office/drawing/2014/main" id="{0322F864-5CB4-FA5A-12FD-A95F761EAA04}"/>
                </a:ext>
              </a:extLst>
            </p:cNvPr>
            <p:cNvSpPr>
              <a:spLocks noChangeShapeType="1"/>
            </p:cNvSpPr>
            <p:nvPr/>
          </p:nvSpPr>
          <p:spPr bwMode="auto">
            <a:xfrm flipV="1">
              <a:off x="2995295" y="1476375"/>
              <a:ext cx="0" cy="3124200"/>
            </a:xfrm>
            <a:prstGeom prst="line">
              <a:avLst/>
            </a:prstGeom>
            <a:noFill/>
            <a:ln w="9525">
              <a:solidFill>
                <a:schemeClr val="tx1"/>
              </a:solidFill>
              <a:round/>
              <a:headEnd/>
              <a:tailEnd type="arrow" w="med" len="med"/>
            </a:ln>
            <a:effectLst/>
          </p:spPr>
          <p:txBody>
            <a:bodyPr/>
            <a:lstStyle/>
            <a:p>
              <a:endParaRPr lang="en-US"/>
            </a:p>
          </p:txBody>
        </p:sp>
        <p:sp>
          <p:nvSpPr>
            <p:cNvPr id="23" name="Line 5">
              <a:extLst>
                <a:ext uri="{FF2B5EF4-FFF2-40B4-BE49-F238E27FC236}">
                  <a16:creationId xmlns:a16="http://schemas.microsoft.com/office/drawing/2014/main" id="{F53D1A22-F88C-7490-DA88-A5D1C378F431}"/>
                </a:ext>
              </a:extLst>
            </p:cNvPr>
            <p:cNvSpPr>
              <a:spLocks noChangeShapeType="1"/>
            </p:cNvSpPr>
            <p:nvPr/>
          </p:nvSpPr>
          <p:spPr bwMode="auto">
            <a:xfrm flipV="1">
              <a:off x="2995295" y="1704975"/>
              <a:ext cx="4495800" cy="1981200"/>
            </a:xfrm>
            <a:prstGeom prst="line">
              <a:avLst/>
            </a:prstGeom>
            <a:noFill/>
            <a:ln w="28575">
              <a:solidFill>
                <a:schemeClr val="tx1"/>
              </a:solidFill>
              <a:round/>
              <a:headEnd/>
              <a:tailEnd/>
            </a:ln>
            <a:effectLst/>
          </p:spPr>
          <p:txBody>
            <a:bodyPr/>
            <a:lstStyle/>
            <a:p>
              <a:endParaRPr lang="en-US"/>
            </a:p>
          </p:txBody>
        </p:sp>
        <p:sp>
          <p:nvSpPr>
            <p:cNvPr id="24" name="Line 6">
              <a:extLst>
                <a:ext uri="{FF2B5EF4-FFF2-40B4-BE49-F238E27FC236}">
                  <a16:creationId xmlns:a16="http://schemas.microsoft.com/office/drawing/2014/main" id="{A1A9182C-80A2-E646-6533-7F42EF03D415}"/>
                </a:ext>
              </a:extLst>
            </p:cNvPr>
            <p:cNvSpPr>
              <a:spLocks noChangeShapeType="1"/>
            </p:cNvSpPr>
            <p:nvPr/>
          </p:nvSpPr>
          <p:spPr bwMode="auto">
            <a:xfrm>
              <a:off x="5281295" y="1933575"/>
              <a:ext cx="0" cy="2667000"/>
            </a:xfrm>
            <a:prstGeom prst="line">
              <a:avLst/>
            </a:prstGeom>
            <a:noFill/>
            <a:ln w="9525" cap="rnd">
              <a:solidFill>
                <a:schemeClr val="tx1"/>
              </a:solidFill>
              <a:prstDash val="sysDot"/>
              <a:round/>
              <a:headEnd/>
              <a:tailEnd/>
            </a:ln>
            <a:effectLst/>
          </p:spPr>
          <p:txBody>
            <a:bodyPr/>
            <a:lstStyle/>
            <a:p>
              <a:endParaRPr lang="en-US"/>
            </a:p>
          </p:txBody>
        </p:sp>
        <p:sp>
          <p:nvSpPr>
            <p:cNvPr id="25" name="Line 7">
              <a:extLst>
                <a:ext uri="{FF2B5EF4-FFF2-40B4-BE49-F238E27FC236}">
                  <a16:creationId xmlns:a16="http://schemas.microsoft.com/office/drawing/2014/main" id="{EDC2621C-7569-D292-7DA3-ABABA2B106B2}"/>
                </a:ext>
              </a:extLst>
            </p:cNvPr>
            <p:cNvSpPr>
              <a:spLocks noChangeShapeType="1"/>
            </p:cNvSpPr>
            <p:nvPr/>
          </p:nvSpPr>
          <p:spPr bwMode="auto">
            <a:xfrm flipV="1">
              <a:off x="5281295" y="2009775"/>
              <a:ext cx="2743200" cy="1143000"/>
            </a:xfrm>
            <a:prstGeom prst="line">
              <a:avLst/>
            </a:prstGeom>
            <a:noFill/>
            <a:ln w="28575">
              <a:solidFill>
                <a:schemeClr val="tx1"/>
              </a:solidFill>
              <a:prstDash val="dash"/>
              <a:round/>
              <a:headEnd/>
              <a:tailEnd/>
            </a:ln>
            <a:effectLst/>
          </p:spPr>
          <p:txBody>
            <a:bodyPr/>
            <a:lstStyle/>
            <a:p>
              <a:endParaRPr lang="en-US"/>
            </a:p>
          </p:txBody>
        </p:sp>
        <p:sp>
          <p:nvSpPr>
            <p:cNvPr id="26" name="Line 8">
              <a:extLst>
                <a:ext uri="{FF2B5EF4-FFF2-40B4-BE49-F238E27FC236}">
                  <a16:creationId xmlns:a16="http://schemas.microsoft.com/office/drawing/2014/main" id="{EE332FE2-5AE8-38D9-E20A-DE44725D8863}"/>
                </a:ext>
              </a:extLst>
            </p:cNvPr>
            <p:cNvSpPr>
              <a:spLocks noChangeShapeType="1"/>
            </p:cNvSpPr>
            <p:nvPr/>
          </p:nvSpPr>
          <p:spPr bwMode="auto">
            <a:xfrm flipH="1">
              <a:off x="2995295" y="3152775"/>
              <a:ext cx="2286000" cy="0"/>
            </a:xfrm>
            <a:prstGeom prst="line">
              <a:avLst/>
            </a:prstGeom>
            <a:noFill/>
            <a:ln w="9525">
              <a:solidFill>
                <a:schemeClr val="tx1"/>
              </a:solidFill>
              <a:prstDash val="dashDot"/>
              <a:round/>
              <a:headEnd/>
              <a:tailEnd/>
            </a:ln>
            <a:effectLst/>
          </p:spPr>
          <p:txBody>
            <a:bodyPr/>
            <a:lstStyle/>
            <a:p>
              <a:endParaRPr lang="en-US"/>
            </a:p>
          </p:txBody>
        </p:sp>
        <p:sp>
          <p:nvSpPr>
            <p:cNvPr id="27" name="Line 9">
              <a:extLst>
                <a:ext uri="{FF2B5EF4-FFF2-40B4-BE49-F238E27FC236}">
                  <a16:creationId xmlns:a16="http://schemas.microsoft.com/office/drawing/2014/main" id="{5C89E586-466D-2E02-7D23-4CB175333E8D}"/>
                </a:ext>
              </a:extLst>
            </p:cNvPr>
            <p:cNvSpPr>
              <a:spLocks noChangeShapeType="1"/>
            </p:cNvSpPr>
            <p:nvPr/>
          </p:nvSpPr>
          <p:spPr bwMode="auto">
            <a:xfrm flipH="1">
              <a:off x="2995295" y="2695575"/>
              <a:ext cx="2286000" cy="0"/>
            </a:xfrm>
            <a:prstGeom prst="line">
              <a:avLst/>
            </a:prstGeom>
            <a:noFill/>
            <a:ln w="9525">
              <a:solidFill>
                <a:schemeClr val="tx1"/>
              </a:solidFill>
              <a:prstDash val="dashDot"/>
              <a:round/>
              <a:headEnd/>
              <a:tailEnd/>
            </a:ln>
            <a:effectLst/>
          </p:spPr>
          <p:txBody>
            <a:bodyPr/>
            <a:lstStyle/>
            <a:p>
              <a:endParaRPr lang="en-US"/>
            </a:p>
          </p:txBody>
        </p:sp>
        <p:sp>
          <p:nvSpPr>
            <p:cNvPr id="28" name="Text Box 10">
              <a:extLst>
                <a:ext uri="{FF2B5EF4-FFF2-40B4-BE49-F238E27FC236}">
                  <a16:creationId xmlns:a16="http://schemas.microsoft.com/office/drawing/2014/main" id="{EBAB9A67-3F40-7E2E-98BC-8AB478887BFD}"/>
                </a:ext>
              </a:extLst>
            </p:cNvPr>
            <p:cNvSpPr txBox="1">
              <a:spLocks noChangeArrowheads="1"/>
            </p:cNvSpPr>
            <p:nvPr/>
          </p:nvSpPr>
          <p:spPr bwMode="auto">
            <a:xfrm>
              <a:off x="2614295" y="3457575"/>
              <a:ext cx="319088" cy="457200"/>
            </a:xfrm>
            <a:prstGeom prst="rect">
              <a:avLst/>
            </a:prstGeom>
            <a:noFill/>
            <a:ln w="9525">
              <a:noFill/>
              <a:miter lim="800000"/>
              <a:headEnd/>
              <a:tailEnd/>
            </a:ln>
            <a:effectLst/>
          </p:spPr>
          <p:txBody>
            <a:bodyPr wrap="none">
              <a:spAutoFit/>
            </a:bodyPr>
            <a:lstStyle/>
            <a:p>
              <a:pPr eaLnBrk="0" hangingPunct="0"/>
              <a:r>
                <a:rPr lang="en-US" sz="2400">
                  <a:solidFill>
                    <a:schemeClr val="tx1"/>
                  </a:solidFill>
                  <a:latin typeface="Times New Roman" pitchFamily="18" charset="0"/>
                </a:rPr>
                <a:t>a</a:t>
              </a:r>
            </a:p>
          </p:txBody>
        </p:sp>
        <p:sp>
          <p:nvSpPr>
            <p:cNvPr id="29" name="Text Box 11">
              <a:extLst>
                <a:ext uri="{FF2B5EF4-FFF2-40B4-BE49-F238E27FC236}">
                  <a16:creationId xmlns:a16="http://schemas.microsoft.com/office/drawing/2014/main" id="{EBDB0D46-3A4A-4DA5-8238-A4B1879C1852}"/>
                </a:ext>
              </a:extLst>
            </p:cNvPr>
            <p:cNvSpPr txBox="1">
              <a:spLocks noChangeArrowheads="1"/>
            </p:cNvSpPr>
            <p:nvPr/>
          </p:nvSpPr>
          <p:spPr bwMode="auto">
            <a:xfrm>
              <a:off x="2614295" y="2924175"/>
              <a:ext cx="336550" cy="457200"/>
            </a:xfrm>
            <a:prstGeom prst="rect">
              <a:avLst/>
            </a:prstGeom>
            <a:noFill/>
            <a:ln w="9525">
              <a:noFill/>
              <a:miter lim="800000"/>
              <a:headEnd/>
              <a:tailEnd/>
            </a:ln>
            <a:effectLst/>
          </p:spPr>
          <p:txBody>
            <a:bodyPr wrap="none">
              <a:spAutoFit/>
            </a:bodyPr>
            <a:lstStyle/>
            <a:p>
              <a:pPr eaLnBrk="0" hangingPunct="0"/>
              <a:r>
                <a:rPr lang="en-US" sz="2400">
                  <a:solidFill>
                    <a:schemeClr val="tx1"/>
                  </a:solidFill>
                  <a:latin typeface="Times New Roman" pitchFamily="18" charset="0"/>
                </a:rPr>
                <a:t>b</a:t>
              </a:r>
            </a:p>
          </p:txBody>
        </p:sp>
        <mc:AlternateContent xmlns:mc="http://schemas.openxmlformats.org/markup-compatibility/2006" xmlns:a14="http://schemas.microsoft.com/office/drawing/2010/main">
          <mc:Choice Requires="a14">
            <p:sp>
              <p:nvSpPr>
                <p:cNvPr id="30" name="Text Box 12">
                  <a:extLst>
                    <a:ext uri="{FF2B5EF4-FFF2-40B4-BE49-F238E27FC236}">
                      <a16:creationId xmlns:a16="http://schemas.microsoft.com/office/drawing/2014/main" id="{7834ECC7-76B4-B390-8F2F-35519CF4AE95}"/>
                    </a:ext>
                  </a:extLst>
                </p:cNvPr>
                <p:cNvSpPr txBox="1">
                  <a:spLocks noChangeArrowheads="1"/>
                </p:cNvSpPr>
                <p:nvPr/>
              </p:nvSpPr>
              <p:spPr bwMode="auto">
                <a:xfrm>
                  <a:off x="1471296" y="2464743"/>
                  <a:ext cx="1633537" cy="461665"/>
                </a:xfrm>
                <a:prstGeom prst="rect">
                  <a:avLst/>
                </a:prstGeom>
                <a:noFill/>
                <a:ln w="9525">
                  <a:noFill/>
                  <a:miter lim="800000"/>
                  <a:headEnd/>
                  <a:tailEnd/>
                </a:ln>
                <a:effectLst/>
              </p:spPr>
              <p:txBody>
                <a:bodyPr wrap="square">
                  <a:spAutoFit/>
                </a:bodyPr>
                <a:lstStyle/>
                <a:p>
                  <a:pPr eaLnBrk="0" hangingPunct="0"/>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𝑎</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𝛾</m:t>
                        </m:r>
                        <m:r>
                          <a:rPr lang="en-US" sz="2400" b="0" i="1" smtClean="0">
                            <a:solidFill>
                              <a:schemeClr val="tx1"/>
                            </a:solidFill>
                            <a:latin typeface="Cambria Math" panose="02040503050406030204" pitchFamily="18" charset="0"/>
                          </a:rPr>
                          <m:t>𝑡</m:t>
                        </m:r>
                      </m:oMath>
                    </m:oMathPara>
                  </a14:m>
                  <a:endParaRPr lang="en-US" sz="2400" dirty="0">
                    <a:solidFill>
                      <a:schemeClr val="tx1"/>
                    </a:solidFill>
                    <a:latin typeface="Times New Roman" pitchFamily="18" charset="0"/>
                  </a:endParaRPr>
                </a:p>
              </p:txBody>
            </p:sp>
          </mc:Choice>
          <mc:Fallback xmlns="">
            <p:sp>
              <p:nvSpPr>
                <p:cNvPr id="30" name="Text Box 12">
                  <a:extLst>
                    <a:ext uri="{FF2B5EF4-FFF2-40B4-BE49-F238E27FC236}">
                      <a16:creationId xmlns:a16="http://schemas.microsoft.com/office/drawing/2014/main" id="{7834ECC7-76B4-B390-8F2F-35519CF4AE95}"/>
                    </a:ext>
                  </a:extLst>
                </p:cNvPr>
                <p:cNvSpPr txBox="1">
                  <a:spLocks noRot="1" noChangeAspect="1" noMove="1" noResize="1" noEditPoints="1" noAdjustHandles="1" noChangeArrowheads="1" noChangeShapeType="1" noTextEdit="1"/>
                </p:cNvSpPr>
                <p:nvPr/>
              </p:nvSpPr>
              <p:spPr bwMode="auto">
                <a:xfrm>
                  <a:off x="1471296" y="2464743"/>
                  <a:ext cx="1633537" cy="461665"/>
                </a:xfrm>
                <a:prstGeom prst="rect">
                  <a:avLst/>
                </a:prstGeom>
                <a:blipFill>
                  <a:blip r:embed="rId3"/>
                  <a:stretch>
                    <a:fillRect b="-13158"/>
                  </a:stretch>
                </a:blipFill>
                <a:ln w="9525">
                  <a:noFill/>
                  <a:miter lim="800000"/>
                  <a:headEnd/>
                  <a:tailEnd/>
                </a:ln>
                <a:effectLst/>
              </p:spPr>
              <p:txBody>
                <a:bodyPr/>
                <a:lstStyle/>
                <a:p>
                  <a:r>
                    <a:rPr lang="en-US">
                      <a:noFill/>
                    </a:rPr>
                    <a:t> </a:t>
                  </a:r>
                </a:p>
              </p:txBody>
            </p:sp>
          </mc:Fallback>
        </mc:AlternateContent>
        <p:sp>
          <p:nvSpPr>
            <p:cNvPr id="31" name="Text Box 13">
              <a:extLst>
                <a:ext uri="{FF2B5EF4-FFF2-40B4-BE49-F238E27FC236}">
                  <a16:creationId xmlns:a16="http://schemas.microsoft.com/office/drawing/2014/main" id="{3A5031E7-7ED6-87C7-56FD-C1E7670B8E88}"/>
                </a:ext>
              </a:extLst>
            </p:cNvPr>
            <p:cNvSpPr txBox="1">
              <a:spLocks noChangeArrowheads="1"/>
            </p:cNvSpPr>
            <p:nvPr/>
          </p:nvSpPr>
          <p:spPr bwMode="auto">
            <a:xfrm>
              <a:off x="5128895" y="4600575"/>
              <a:ext cx="268288" cy="457200"/>
            </a:xfrm>
            <a:prstGeom prst="rect">
              <a:avLst/>
            </a:prstGeom>
            <a:noFill/>
            <a:ln w="9525">
              <a:noFill/>
              <a:miter lim="800000"/>
              <a:headEnd/>
              <a:tailEnd/>
            </a:ln>
            <a:effectLst/>
          </p:spPr>
          <p:txBody>
            <a:bodyPr wrap="none">
              <a:spAutoFit/>
            </a:bodyPr>
            <a:lstStyle/>
            <a:p>
              <a:pPr eaLnBrk="0" hangingPunct="0"/>
              <a:r>
                <a:rPr lang="en-US" sz="2400">
                  <a:solidFill>
                    <a:schemeClr val="tx1"/>
                  </a:solidFill>
                  <a:latin typeface="Times New Roman" pitchFamily="18" charset="0"/>
                </a:rPr>
                <a:t>t</a:t>
              </a:r>
            </a:p>
          </p:txBody>
        </p:sp>
        <p:sp>
          <p:nvSpPr>
            <p:cNvPr id="32" name="Text Box 14">
              <a:extLst>
                <a:ext uri="{FF2B5EF4-FFF2-40B4-BE49-F238E27FC236}">
                  <a16:creationId xmlns:a16="http://schemas.microsoft.com/office/drawing/2014/main" id="{A4DF3DB3-9835-A252-D137-F7103FB380A0}"/>
                </a:ext>
              </a:extLst>
            </p:cNvPr>
            <p:cNvSpPr txBox="1">
              <a:spLocks noChangeArrowheads="1"/>
            </p:cNvSpPr>
            <p:nvPr/>
          </p:nvSpPr>
          <p:spPr bwMode="auto">
            <a:xfrm>
              <a:off x="2690495" y="4524375"/>
              <a:ext cx="336550" cy="457200"/>
            </a:xfrm>
            <a:prstGeom prst="rect">
              <a:avLst/>
            </a:prstGeom>
            <a:noFill/>
            <a:ln w="9525">
              <a:noFill/>
              <a:miter lim="800000"/>
              <a:headEnd/>
              <a:tailEnd/>
            </a:ln>
            <a:effectLst/>
          </p:spPr>
          <p:txBody>
            <a:bodyPr wrap="none">
              <a:spAutoFit/>
            </a:bodyPr>
            <a:lstStyle/>
            <a:p>
              <a:pPr eaLnBrk="0" hangingPunct="0"/>
              <a:r>
                <a:rPr lang="en-US" sz="2400">
                  <a:solidFill>
                    <a:schemeClr val="tx1"/>
                  </a:solidFill>
                  <a:latin typeface="Times New Roman" pitchFamily="18" charset="0"/>
                </a:rPr>
                <a:t>0</a:t>
              </a:r>
            </a:p>
          </p:txBody>
        </p:sp>
        <p:sp>
          <p:nvSpPr>
            <p:cNvPr id="33" name="Text Box 15">
              <a:extLst>
                <a:ext uri="{FF2B5EF4-FFF2-40B4-BE49-F238E27FC236}">
                  <a16:creationId xmlns:a16="http://schemas.microsoft.com/office/drawing/2014/main" id="{1C8D1836-AA3E-666A-BBED-C79DC70815F9}"/>
                </a:ext>
              </a:extLst>
            </p:cNvPr>
            <p:cNvSpPr txBox="1">
              <a:spLocks noChangeArrowheads="1"/>
            </p:cNvSpPr>
            <p:nvPr/>
          </p:nvSpPr>
          <p:spPr bwMode="auto">
            <a:xfrm>
              <a:off x="2080895" y="1171575"/>
              <a:ext cx="911225" cy="457200"/>
            </a:xfrm>
            <a:prstGeom prst="rect">
              <a:avLst/>
            </a:prstGeom>
            <a:noFill/>
            <a:ln w="9525">
              <a:noFill/>
              <a:miter lim="800000"/>
              <a:headEnd/>
              <a:tailEnd/>
            </a:ln>
            <a:effectLst/>
          </p:spPr>
          <p:txBody>
            <a:bodyPr wrap="none">
              <a:spAutoFit/>
            </a:bodyPr>
            <a:lstStyle/>
            <a:p>
              <a:pPr eaLnBrk="0" hangingPunct="0"/>
              <a:r>
                <a:rPr lang="en-US" sz="2400">
                  <a:solidFill>
                    <a:schemeClr val="tx1"/>
                  </a:solidFill>
                  <a:latin typeface="Times New Roman" pitchFamily="18" charset="0"/>
                </a:rPr>
                <a:t>Value</a:t>
              </a:r>
            </a:p>
          </p:txBody>
        </p:sp>
        <p:sp>
          <p:nvSpPr>
            <p:cNvPr id="34" name="Text Box 16">
              <a:extLst>
                <a:ext uri="{FF2B5EF4-FFF2-40B4-BE49-F238E27FC236}">
                  <a16:creationId xmlns:a16="http://schemas.microsoft.com/office/drawing/2014/main" id="{4230FEB6-AB75-02CB-1D19-01B772DEAC3E}"/>
                </a:ext>
              </a:extLst>
            </p:cNvPr>
            <p:cNvSpPr txBox="1">
              <a:spLocks noChangeArrowheads="1"/>
            </p:cNvSpPr>
            <p:nvPr/>
          </p:nvSpPr>
          <p:spPr bwMode="auto">
            <a:xfrm>
              <a:off x="9243695" y="4448175"/>
              <a:ext cx="825500" cy="457200"/>
            </a:xfrm>
            <a:prstGeom prst="rect">
              <a:avLst/>
            </a:prstGeom>
            <a:noFill/>
            <a:ln w="9525">
              <a:noFill/>
              <a:miter lim="800000"/>
              <a:headEnd/>
              <a:tailEnd/>
            </a:ln>
            <a:effectLst/>
          </p:spPr>
          <p:txBody>
            <a:bodyPr wrap="none">
              <a:spAutoFit/>
            </a:bodyPr>
            <a:lstStyle/>
            <a:p>
              <a:pPr eaLnBrk="0" hangingPunct="0"/>
              <a:r>
                <a:rPr lang="en-US" sz="2400">
                  <a:solidFill>
                    <a:schemeClr val="tx1"/>
                  </a:solidFill>
                  <a:latin typeface="Times New Roman" pitchFamily="18" charset="0"/>
                </a:rPr>
                <a:t>Time</a:t>
              </a:r>
            </a:p>
          </p:txBody>
        </p:sp>
      </p:grpSp>
      <p:sp>
        <p:nvSpPr>
          <p:cNvPr id="35" name="Text Box 17">
            <a:extLst>
              <a:ext uri="{FF2B5EF4-FFF2-40B4-BE49-F238E27FC236}">
                <a16:creationId xmlns:a16="http://schemas.microsoft.com/office/drawing/2014/main" id="{59944D1E-BA22-3CE0-6E9A-8DF9F822859B}"/>
              </a:ext>
            </a:extLst>
          </p:cNvPr>
          <p:cNvSpPr txBox="1">
            <a:spLocks noChangeArrowheads="1"/>
          </p:cNvSpPr>
          <p:nvPr/>
        </p:nvSpPr>
        <p:spPr bwMode="auto">
          <a:xfrm>
            <a:off x="1607820" y="5099050"/>
            <a:ext cx="8249759" cy="400110"/>
          </a:xfrm>
          <a:prstGeom prst="rect">
            <a:avLst/>
          </a:prstGeom>
          <a:noFill/>
          <a:ln w="9525">
            <a:noFill/>
            <a:miter lim="800000"/>
            <a:headEnd/>
            <a:tailEnd/>
          </a:ln>
          <a:effectLst/>
        </p:spPr>
        <p:txBody>
          <a:bodyPr wrap="none">
            <a:spAutoFit/>
          </a:bodyPr>
          <a:lstStyle/>
          <a:p>
            <a:pPr eaLnBrk="0" hangingPunct="0"/>
            <a:r>
              <a:rPr lang="en-US" sz="2000" b="1" dirty="0">
                <a:latin typeface="Times New Roman" pitchFamily="18" charset="0"/>
              </a:rPr>
              <a:t>Q: How might this graph look different if customers are forward looking?</a:t>
            </a:r>
          </a:p>
        </p:txBody>
      </p:sp>
      <p:sp>
        <p:nvSpPr>
          <p:cNvPr id="5" name="Date Placeholder 4">
            <a:extLst>
              <a:ext uri="{FF2B5EF4-FFF2-40B4-BE49-F238E27FC236}">
                <a16:creationId xmlns:a16="http://schemas.microsoft.com/office/drawing/2014/main" id="{FCBC8F28-B49F-F41E-DED4-5CC5DBD330FD}"/>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5B07B20F-DA43-0F37-1E74-85184A7D46FB}"/>
              </a:ext>
            </a:extLst>
          </p:cNvPr>
          <p:cNvSpPr>
            <a:spLocks noGrp="1"/>
          </p:cNvSpPr>
          <p:nvPr>
            <p:ph type="sldNum" sz="quarter" idx="12"/>
          </p:nvPr>
        </p:nvSpPr>
        <p:spPr/>
        <p:txBody>
          <a:bodyPr/>
          <a:lstStyle/>
          <a:p>
            <a:fld id="{8A7A6979-0714-4377-B894-6BE4C2D6E202}" type="slidenum">
              <a:rPr lang="en-US" smtClean="0"/>
              <a:pPr/>
              <a:t>24</a:t>
            </a:fld>
            <a:endParaRPr lang="en-US" dirty="0"/>
          </a:p>
        </p:txBody>
      </p:sp>
    </p:spTree>
    <p:extLst>
      <p:ext uri="{BB962C8B-B14F-4D97-AF65-F5344CB8AC3E}">
        <p14:creationId xmlns:p14="http://schemas.microsoft.com/office/powerpoint/2010/main" val="4081499607"/>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6D024B-23EF-09C8-0403-6A570B56EC0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B9A1B54-A6C8-FEB4-55D2-3B15ED703AB5}"/>
              </a:ext>
            </a:extLst>
          </p:cNvPr>
          <p:cNvSpPr>
            <a:spLocks noGrp="1"/>
          </p:cNvSpPr>
          <p:nvPr>
            <p:ph type="ctrTitle"/>
          </p:nvPr>
        </p:nvSpPr>
        <p:spPr/>
        <p:txBody>
          <a:bodyPr/>
          <a:lstStyle/>
          <a:p>
            <a:r>
              <a:rPr lang="en-US" dirty="0"/>
              <a:t>Network Markets: Compatibility Matters</a:t>
            </a:r>
          </a:p>
        </p:txBody>
      </p:sp>
      <p:grpSp>
        <p:nvGrpSpPr>
          <p:cNvPr id="3" name="Group 2" descr="Line graph showing how compatibility affects value in a network market. The product’s value starts at a and increases linearly to a + γt at time t, while compatibility with an existing standard raises perceived value to b and ultimately b + γt. The figure highlights that at time t, new customers choose the compatible product because it delivers higher value driven by the installed base.">
            <a:extLst>
              <a:ext uri="{FF2B5EF4-FFF2-40B4-BE49-F238E27FC236}">
                <a16:creationId xmlns:a16="http://schemas.microsoft.com/office/drawing/2014/main" id="{4E8F0DA8-307F-58ED-B08B-53048F724453}"/>
              </a:ext>
            </a:extLst>
          </p:cNvPr>
          <p:cNvGrpSpPr/>
          <p:nvPr/>
        </p:nvGrpSpPr>
        <p:grpSpPr>
          <a:xfrm>
            <a:off x="1920243" y="1025575"/>
            <a:ext cx="8228001" cy="4038600"/>
            <a:chOff x="1920243" y="1025575"/>
            <a:chExt cx="8228001" cy="4038600"/>
          </a:xfrm>
        </p:grpSpPr>
        <p:sp>
          <p:nvSpPr>
            <p:cNvPr id="8" name="Line 4">
              <a:extLst>
                <a:ext uri="{FF2B5EF4-FFF2-40B4-BE49-F238E27FC236}">
                  <a16:creationId xmlns:a16="http://schemas.microsoft.com/office/drawing/2014/main" id="{3E7F6076-1616-1590-F0B1-25F93E331B9E}"/>
                </a:ext>
              </a:extLst>
            </p:cNvPr>
            <p:cNvSpPr>
              <a:spLocks noChangeShapeType="1"/>
            </p:cNvSpPr>
            <p:nvPr/>
          </p:nvSpPr>
          <p:spPr bwMode="auto">
            <a:xfrm>
              <a:off x="3074344" y="4606975"/>
              <a:ext cx="6096000" cy="0"/>
            </a:xfrm>
            <a:prstGeom prst="line">
              <a:avLst/>
            </a:prstGeom>
            <a:noFill/>
            <a:ln w="9525">
              <a:solidFill>
                <a:schemeClr val="tx1"/>
              </a:solidFill>
              <a:round/>
              <a:headEnd/>
              <a:tailEnd type="arrow" w="med" len="med"/>
            </a:ln>
            <a:effectLst/>
          </p:spPr>
          <p:txBody>
            <a:bodyPr/>
            <a:lstStyle/>
            <a:p>
              <a:endParaRPr lang="en-US"/>
            </a:p>
          </p:txBody>
        </p:sp>
        <p:sp>
          <p:nvSpPr>
            <p:cNvPr id="9" name="Line 5">
              <a:extLst>
                <a:ext uri="{FF2B5EF4-FFF2-40B4-BE49-F238E27FC236}">
                  <a16:creationId xmlns:a16="http://schemas.microsoft.com/office/drawing/2014/main" id="{5D3EA101-9421-54C5-F47F-5121597FB59E}"/>
                </a:ext>
              </a:extLst>
            </p:cNvPr>
            <p:cNvSpPr>
              <a:spLocks noChangeShapeType="1"/>
            </p:cNvSpPr>
            <p:nvPr/>
          </p:nvSpPr>
          <p:spPr bwMode="auto">
            <a:xfrm flipV="1">
              <a:off x="3074344" y="1482775"/>
              <a:ext cx="0" cy="3124200"/>
            </a:xfrm>
            <a:prstGeom prst="line">
              <a:avLst/>
            </a:prstGeom>
            <a:noFill/>
            <a:ln w="9525">
              <a:solidFill>
                <a:schemeClr val="tx1"/>
              </a:solidFill>
              <a:round/>
              <a:headEnd/>
              <a:tailEnd type="arrow" w="med" len="med"/>
            </a:ln>
            <a:effectLst/>
          </p:spPr>
          <p:txBody>
            <a:bodyPr/>
            <a:lstStyle/>
            <a:p>
              <a:endParaRPr lang="en-US"/>
            </a:p>
          </p:txBody>
        </p:sp>
        <p:sp>
          <p:nvSpPr>
            <p:cNvPr id="10" name="Line 6">
              <a:extLst>
                <a:ext uri="{FF2B5EF4-FFF2-40B4-BE49-F238E27FC236}">
                  <a16:creationId xmlns:a16="http://schemas.microsoft.com/office/drawing/2014/main" id="{EB57B7C1-A7C8-D894-1CEE-8F1CCF8F3BFA}"/>
                </a:ext>
              </a:extLst>
            </p:cNvPr>
            <p:cNvSpPr>
              <a:spLocks noChangeShapeType="1"/>
            </p:cNvSpPr>
            <p:nvPr/>
          </p:nvSpPr>
          <p:spPr bwMode="auto">
            <a:xfrm flipV="1">
              <a:off x="3074344" y="2701975"/>
              <a:ext cx="2286000" cy="990600"/>
            </a:xfrm>
            <a:prstGeom prst="line">
              <a:avLst/>
            </a:prstGeom>
            <a:noFill/>
            <a:ln w="28575">
              <a:solidFill>
                <a:schemeClr val="tx1"/>
              </a:solidFill>
              <a:round/>
              <a:headEnd/>
              <a:tailEnd/>
            </a:ln>
            <a:effectLst/>
          </p:spPr>
          <p:txBody>
            <a:bodyPr/>
            <a:lstStyle/>
            <a:p>
              <a:endParaRPr lang="en-US"/>
            </a:p>
          </p:txBody>
        </p:sp>
        <p:sp>
          <p:nvSpPr>
            <p:cNvPr id="11" name="Line 7">
              <a:extLst>
                <a:ext uri="{FF2B5EF4-FFF2-40B4-BE49-F238E27FC236}">
                  <a16:creationId xmlns:a16="http://schemas.microsoft.com/office/drawing/2014/main" id="{38674E6B-45FF-6B82-504C-839C566EC815}"/>
                </a:ext>
              </a:extLst>
            </p:cNvPr>
            <p:cNvSpPr>
              <a:spLocks noChangeShapeType="1"/>
            </p:cNvSpPr>
            <p:nvPr/>
          </p:nvSpPr>
          <p:spPr bwMode="auto">
            <a:xfrm>
              <a:off x="5360344" y="1939975"/>
              <a:ext cx="0" cy="2667000"/>
            </a:xfrm>
            <a:prstGeom prst="line">
              <a:avLst/>
            </a:prstGeom>
            <a:noFill/>
            <a:ln w="9525" cap="rnd">
              <a:solidFill>
                <a:schemeClr val="tx1"/>
              </a:solidFill>
              <a:prstDash val="sysDot"/>
              <a:round/>
              <a:headEnd/>
              <a:tailEnd/>
            </a:ln>
            <a:effectLst/>
          </p:spPr>
          <p:txBody>
            <a:bodyPr/>
            <a:lstStyle/>
            <a:p>
              <a:endParaRPr lang="en-US"/>
            </a:p>
          </p:txBody>
        </p:sp>
        <p:sp>
          <p:nvSpPr>
            <p:cNvPr id="12" name="Line 8">
              <a:extLst>
                <a:ext uri="{FF2B5EF4-FFF2-40B4-BE49-F238E27FC236}">
                  <a16:creationId xmlns:a16="http://schemas.microsoft.com/office/drawing/2014/main" id="{BA7E1F99-6AB5-EAB1-D084-03251266C9D5}"/>
                </a:ext>
              </a:extLst>
            </p:cNvPr>
            <p:cNvSpPr>
              <a:spLocks noChangeShapeType="1"/>
            </p:cNvSpPr>
            <p:nvPr/>
          </p:nvSpPr>
          <p:spPr bwMode="auto">
            <a:xfrm flipV="1">
              <a:off x="5360344" y="1025575"/>
              <a:ext cx="2743200" cy="1143000"/>
            </a:xfrm>
            <a:prstGeom prst="line">
              <a:avLst/>
            </a:prstGeom>
            <a:noFill/>
            <a:ln w="28575">
              <a:solidFill>
                <a:schemeClr val="tx1"/>
              </a:solidFill>
              <a:round/>
              <a:headEnd/>
              <a:tailEnd/>
            </a:ln>
            <a:effectLst/>
          </p:spPr>
          <p:txBody>
            <a:bodyPr/>
            <a:lstStyle/>
            <a:p>
              <a:endParaRPr lang="en-US"/>
            </a:p>
          </p:txBody>
        </p:sp>
        <p:sp>
          <p:nvSpPr>
            <p:cNvPr id="13" name="Line 9">
              <a:extLst>
                <a:ext uri="{FF2B5EF4-FFF2-40B4-BE49-F238E27FC236}">
                  <a16:creationId xmlns:a16="http://schemas.microsoft.com/office/drawing/2014/main" id="{732319AC-CE1B-FC20-51B4-305A72773D09}"/>
                </a:ext>
              </a:extLst>
            </p:cNvPr>
            <p:cNvSpPr>
              <a:spLocks noChangeShapeType="1"/>
            </p:cNvSpPr>
            <p:nvPr/>
          </p:nvSpPr>
          <p:spPr bwMode="auto">
            <a:xfrm flipH="1">
              <a:off x="3074344" y="3159175"/>
              <a:ext cx="2286000" cy="0"/>
            </a:xfrm>
            <a:prstGeom prst="line">
              <a:avLst/>
            </a:prstGeom>
            <a:noFill/>
            <a:ln w="9525">
              <a:solidFill>
                <a:schemeClr val="tx1"/>
              </a:solidFill>
              <a:prstDash val="dashDot"/>
              <a:round/>
              <a:headEnd/>
              <a:tailEnd/>
            </a:ln>
            <a:effectLst/>
          </p:spPr>
          <p:txBody>
            <a:bodyPr/>
            <a:lstStyle/>
            <a:p>
              <a:endParaRPr lang="en-US"/>
            </a:p>
          </p:txBody>
        </p:sp>
        <p:sp>
          <p:nvSpPr>
            <p:cNvPr id="14" name="Line 10">
              <a:extLst>
                <a:ext uri="{FF2B5EF4-FFF2-40B4-BE49-F238E27FC236}">
                  <a16:creationId xmlns:a16="http://schemas.microsoft.com/office/drawing/2014/main" id="{05DAEDBD-9388-237A-E8F8-7F6D69222D6F}"/>
                </a:ext>
              </a:extLst>
            </p:cNvPr>
            <p:cNvSpPr>
              <a:spLocks noChangeShapeType="1"/>
            </p:cNvSpPr>
            <p:nvPr/>
          </p:nvSpPr>
          <p:spPr bwMode="auto">
            <a:xfrm flipH="1">
              <a:off x="3074344" y="2701975"/>
              <a:ext cx="2286000" cy="0"/>
            </a:xfrm>
            <a:prstGeom prst="line">
              <a:avLst/>
            </a:prstGeom>
            <a:noFill/>
            <a:ln w="9525">
              <a:solidFill>
                <a:schemeClr val="tx1"/>
              </a:solidFill>
              <a:prstDash val="dashDot"/>
              <a:round/>
              <a:headEnd/>
              <a:tailEnd/>
            </a:ln>
            <a:effectLst/>
          </p:spPr>
          <p:txBody>
            <a:bodyPr/>
            <a:lstStyle/>
            <a:p>
              <a:endParaRPr lang="en-US"/>
            </a:p>
          </p:txBody>
        </p:sp>
        <p:sp>
          <p:nvSpPr>
            <p:cNvPr id="15" name="Text Box 11">
              <a:extLst>
                <a:ext uri="{FF2B5EF4-FFF2-40B4-BE49-F238E27FC236}">
                  <a16:creationId xmlns:a16="http://schemas.microsoft.com/office/drawing/2014/main" id="{CE8FDF05-1C37-9304-340E-5A9BE05688AA}"/>
                </a:ext>
              </a:extLst>
            </p:cNvPr>
            <p:cNvSpPr txBox="1">
              <a:spLocks noChangeArrowheads="1"/>
            </p:cNvSpPr>
            <p:nvPr/>
          </p:nvSpPr>
          <p:spPr bwMode="auto">
            <a:xfrm>
              <a:off x="2693344" y="3463975"/>
              <a:ext cx="319088" cy="457200"/>
            </a:xfrm>
            <a:prstGeom prst="rect">
              <a:avLst/>
            </a:prstGeom>
            <a:noFill/>
            <a:ln w="9525">
              <a:noFill/>
              <a:miter lim="800000"/>
              <a:headEnd/>
              <a:tailEnd/>
            </a:ln>
            <a:effectLst/>
          </p:spPr>
          <p:txBody>
            <a:bodyPr wrap="none">
              <a:spAutoFit/>
            </a:bodyPr>
            <a:lstStyle/>
            <a:p>
              <a:pPr eaLnBrk="0" hangingPunct="0"/>
              <a:r>
                <a:rPr lang="en-US" sz="2400">
                  <a:solidFill>
                    <a:schemeClr val="tx1"/>
                  </a:solidFill>
                  <a:latin typeface="Times New Roman" pitchFamily="18" charset="0"/>
                </a:rPr>
                <a:t>a</a:t>
              </a:r>
            </a:p>
          </p:txBody>
        </p:sp>
        <p:sp>
          <p:nvSpPr>
            <p:cNvPr id="16" name="Text Box 12">
              <a:extLst>
                <a:ext uri="{FF2B5EF4-FFF2-40B4-BE49-F238E27FC236}">
                  <a16:creationId xmlns:a16="http://schemas.microsoft.com/office/drawing/2014/main" id="{8A4C4472-B5EC-18CE-140E-A9C714AF6C6A}"/>
                </a:ext>
              </a:extLst>
            </p:cNvPr>
            <p:cNvSpPr txBox="1">
              <a:spLocks noChangeArrowheads="1"/>
            </p:cNvSpPr>
            <p:nvPr/>
          </p:nvSpPr>
          <p:spPr bwMode="auto">
            <a:xfrm>
              <a:off x="2693344" y="2930575"/>
              <a:ext cx="336550" cy="457200"/>
            </a:xfrm>
            <a:prstGeom prst="rect">
              <a:avLst/>
            </a:prstGeom>
            <a:noFill/>
            <a:ln w="9525">
              <a:noFill/>
              <a:miter lim="800000"/>
              <a:headEnd/>
              <a:tailEnd/>
            </a:ln>
            <a:effectLst/>
          </p:spPr>
          <p:txBody>
            <a:bodyPr wrap="none">
              <a:spAutoFit/>
            </a:bodyPr>
            <a:lstStyle/>
            <a:p>
              <a:pPr eaLnBrk="0" hangingPunct="0"/>
              <a:r>
                <a:rPr lang="en-US" sz="2400">
                  <a:solidFill>
                    <a:schemeClr val="tx1"/>
                  </a:solidFill>
                  <a:latin typeface="Times New Roman" pitchFamily="18" charset="0"/>
                </a:rPr>
                <a:t>b</a:t>
              </a:r>
            </a:p>
          </p:txBody>
        </p:sp>
        <mc:AlternateContent xmlns:mc="http://schemas.openxmlformats.org/markup-compatibility/2006" xmlns:a14="http://schemas.microsoft.com/office/drawing/2010/main">
          <mc:Choice Requires="a14">
            <p:sp>
              <p:nvSpPr>
                <p:cNvPr id="17" name="Text Box 13">
                  <a:extLst>
                    <a:ext uri="{FF2B5EF4-FFF2-40B4-BE49-F238E27FC236}">
                      <a16:creationId xmlns:a16="http://schemas.microsoft.com/office/drawing/2014/main" id="{36371921-F984-3DC9-EB44-42F9385914C4}"/>
                    </a:ext>
                  </a:extLst>
                </p:cNvPr>
                <p:cNvSpPr txBox="1">
                  <a:spLocks noChangeArrowheads="1"/>
                </p:cNvSpPr>
                <p:nvPr/>
              </p:nvSpPr>
              <p:spPr bwMode="auto">
                <a:xfrm>
                  <a:off x="1920243" y="1939975"/>
                  <a:ext cx="1111239" cy="461665"/>
                </a:xfrm>
                <a:prstGeom prst="rect">
                  <a:avLst/>
                </a:prstGeom>
                <a:noFill/>
                <a:ln w="9525">
                  <a:noFill/>
                  <a:miter lim="800000"/>
                  <a:headEnd/>
                  <a:tailEnd/>
                </a:ln>
                <a:effectLst/>
              </p:spPr>
              <p:txBody>
                <a:bodyPr wrap="square">
                  <a:spAutoFit/>
                </a:bodyPr>
                <a:lstStyle/>
                <a:p>
                  <a:pPr eaLnBrk="0" hangingPunct="0"/>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𝑏</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𝛾</m:t>
                        </m:r>
                        <m:r>
                          <a:rPr lang="en-US" sz="2400" b="0" i="1" smtClean="0">
                            <a:solidFill>
                              <a:schemeClr val="tx1"/>
                            </a:solidFill>
                            <a:latin typeface="Cambria Math" panose="02040503050406030204" pitchFamily="18" charset="0"/>
                          </a:rPr>
                          <m:t>𝑡</m:t>
                        </m:r>
                      </m:oMath>
                    </m:oMathPara>
                  </a14:m>
                  <a:endParaRPr lang="en-US" sz="2400" dirty="0">
                    <a:solidFill>
                      <a:schemeClr val="tx1"/>
                    </a:solidFill>
                    <a:latin typeface="Times New Roman" pitchFamily="18" charset="0"/>
                  </a:endParaRPr>
                </a:p>
              </p:txBody>
            </p:sp>
          </mc:Choice>
          <mc:Fallback xmlns="">
            <p:sp>
              <p:nvSpPr>
                <p:cNvPr id="17" name="Text Box 13">
                  <a:extLst>
                    <a:ext uri="{FF2B5EF4-FFF2-40B4-BE49-F238E27FC236}">
                      <a16:creationId xmlns:a16="http://schemas.microsoft.com/office/drawing/2014/main" id="{36371921-F984-3DC9-EB44-42F9385914C4}"/>
                    </a:ext>
                  </a:extLst>
                </p:cNvPr>
                <p:cNvSpPr txBox="1">
                  <a:spLocks noRot="1" noChangeAspect="1" noMove="1" noResize="1" noEditPoints="1" noAdjustHandles="1" noChangeArrowheads="1" noChangeShapeType="1" noTextEdit="1"/>
                </p:cNvSpPr>
                <p:nvPr/>
              </p:nvSpPr>
              <p:spPr bwMode="auto">
                <a:xfrm>
                  <a:off x="1920243" y="1939975"/>
                  <a:ext cx="1111239" cy="461665"/>
                </a:xfrm>
                <a:prstGeom prst="rect">
                  <a:avLst/>
                </a:prstGeom>
                <a:blipFill>
                  <a:blip r:embed="rId3"/>
                  <a:stretch>
                    <a:fillRect b="-13158"/>
                  </a:stretch>
                </a:blipFill>
                <a:ln w="9525">
                  <a:noFill/>
                  <a:miter lim="800000"/>
                  <a:headEnd/>
                  <a:tailEnd/>
                </a:ln>
                <a:effectLst/>
              </p:spPr>
              <p:txBody>
                <a:bodyPr/>
                <a:lstStyle/>
                <a:p>
                  <a:r>
                    <a:rPr lang="en-US">
                      <a:noFill/>
                    </a:rPr>
                    <a:t> </a:t>
                  </a:r>
                </a:p>
              </p:txBody>
            </p:sp>
          </mc:Fallback>
        </mc:AlternateContent>
        <p:sp>
          <p:nvSpPr>
            <p:cNvPr id="18" name="Text Box 14">
              <a:extLst>
                <a:ext uri="{FF2B5EF4-FFF2-40B4-BE49-F238E27FC236}">
                  <a16:creationId xmlns:a16="http://schemas.microsoft.com/office/drawing/2014/main" id="{B108F59F-7AB2-B994-0F3C-E39C757D7B2A}"/>
                </a:ext>
              </a:extLst>
            </p:cNvPr>
            <p:cNvSpPr txBox="1">
              <a:spLocks noChangeArrowheads="1"/>
            </p:cNvSpPr>
            <p:nvPr/>
          </p:nvSpPr>
          <p:spPr bwMode="auto">
            <a:xfrm>
              <a:off x="5207944" y="4606975"/>
              <a:ext cx="268288" cy="457200"/>
            </a:xfrm>
            <a:prstGeom prst="rect">
              <a:avLst/>
            </a:prstGeom>
            <a:noFill/>
            <a:ln w="9525">
              <a:noFill/>
              <a:miter lim="800000"/>
              <a:headEnd/>
              <a:tailEnd/>
            </a:ln>
            <a:effectLst/>
          </p:spPr>
          <p:txBody>
            <a:bodyPr wrap="none">
              <a:spAutoFit/>
            </a:bodyPr>
            <a:lstStyle/>
            <a:p>
              <a:pPr eaLnBrk="0" hangingPunct="0"/>
              <a:r>
                <a:rPr lang="en-US" sz="2400">
                  <a:solidFill>
                    <a:schemeClr val="tx1"/>
                  </a:solidFill>
                  <a:latin typeface="Times New Roman" pitchFamily="18" charset="0"/>
                </a:rPr>
                <a:t>t</a:t>
              </a:r>
            </a:p>
          </p:txBody>
        </p:sp>
        <p:sp>
          <p:nvSpPr>
            <p:cNvPr id="19" name="Text Box 15">
              <a:extLst>
                <a:ext uri="{FF2B5EF4-FFF2-40B4-BE49-F238E27FC236}">
                  <a16:creationId xmlns:a16="http://schemas.microsoft.com/office/drawing/2014/main" id="{ECAF2E25-2410-7476-4736-27D8AB8FFD38}"/>
                </a:ext>
              </a:extLst>
            </p:cNvPr>
            <p:cNvSpPr txBox="1">
              <a:spLocks noChangeArrowheads="1"/>
            </p:cNvSpPr>
            <p:nvPr/>
          </p:nvSpPr>
          <p:spPr bwMode="auto">
            <a:xfrm>
              <a:off x="2769544" y="4530775"/>
              <a:ext cx="336550" cy="457200"/>
            </a:xfrm>
            <a:prstGeom prst="rect">
              <a:avLst/>
            </a:prstGeom>
            <a:noFill/>
            <a:ln w="9525">
              <a:noFill/>
              <a:miter lim="800000"/>
              <a:headEnd/>
              <a:tailEnd/>
            </a:ln>
            <a:effectLst/>
          </p:spPr>
          <p:txBody>
            <a:bodyPr wrap="none">
              <a:spAutoFit/>
            </a:bodyPr>
            <a:lstStyle/>
            <a:p>
              <a:pPr eaLnBrk="0" hangingPunct="0"/>
              <a:r>
                <a:rPr lang="en-US" sz="2400">
                  <a:solidFill>
                    <a:schemeClr val="tx1"/>
                  </a:solidFill>
                  <a:latin typeface="Times New Roman" pitchFamily="18" charset="0"/>
                </a:rPr>
                <a:t>0</a:t>
              </a:r>
            </a:p>
          </p:txBody>
        </p:sp>
        <p:sp>
          <p:nvSpPr>
            <p:cNvPr id="20" name="Text Box 16">
              <a:extLst>
                <a:ext uri="{FF2B5EF4-FFF2-40B4-BE49-F238E27FC236}">
                  <a16:creationId xmlns:a16="http://schemas.microsoft.com/office/drawing/2014/main" id="{32765891-07D3-2CC0-32E1-4503BC3826F7}"/>
                </a:ext>
              </a:extLst>
            </p:cNvPr>
            <p:cNvSpPr txBox="1">
              <a:spLocks noChangeArrowheads="1"/>
            </p:cNvSpPr>
            <p:nvPr/>
          </p:nvSpPr>
          <p:spPr bwMode="auto">
            <a:xfrm>
              <a:off x="2159944" y="1177975"/>
              <a:ext cx="911225" cy="457200"/>
            </a:xfrm>
            <a:prstGeom prst="rect">
              <a:avLst/>
            </a:prstGeom>
            <a:noFill/>
            <a:ln w="9525">
              <a:noFill/>
              <a:miter lim="800000"/>
              <a:headEnd/>
              <a:tailEnd/>
            </a:ln>
            <a:effectLst/>
          </p:spPr>
          <p:txBody>
            <a:bodyPr wrap="none">
              <a:spAutoFit/>
            </a:bodyPr>
            <a:lstStyle/>
            <a:p>
              <a:pPr eaLnBrk="0" hangingPunct="0"/>
              <a:r>
                <a:rPr lang="en-US" sz="2400">
                  <a:solidFill>
                    <a:schemeClr val="tx1"/>
                  </a:solidFill>
                  <a:latin typeface="Times New Roman" pitchFamily="18" charset="0"/>
                </a:rPr>
                <a:t>Value</a:t>
              </a:r>
            </a:p>
          </p:txBody>
        </p:sp>
        <p:sp>
          <p:nvSpPr>
            <p:cNvPr id="36" name="Text Box 17">
              <a:extLst>
                <a:ext uri="{FF2B5EF4-FFF2-40B4-BE49-F238E27FC236}">
                  <a16:creationId xmlns:a16="http://schemas.microsoft.com/office/drawing/2014/main" id="{57B89079-0E79-E0E6-59AB-9C321CAE8E3E}"/>
                </a:ext>
              </a:extLst>
            </p:cNvPr>
            <p:cNvSpPr txBox="1">
              <a:spLocks noChangeArrowheads="1"/>
            </p:cNvSpPr>
            <p:nvPr/>
          </p:nvSpPr>
          <p:spPr bwMode="auto">
            <a:xfrm>
              <a:off x="9322744" y="4454575"/>
              <a:ext cx="825500" cy="457200"/>
            </a:xfrm>
            <a:prstGeom prst="rect">
              <a:avLst/>
            </a:prstGeom>
            <a:noFill/>
            <a:ln w="9525">
              <a:noFill/>
              <a:miter lim="800000"/>
              <a:headEnd/>
              <a:tailEnd/>
            </a:ln>
            <a:effectLst/>
          </p:spPr>
          <p:txBody>
            <a:bodyPr wrap="none">
              <a:spAutoFit/>
            </a:bodyPr>
            <a:lstStyle/>
            <a:p>
              <a:pPr eaLnBrk="0" hangingPunct="0"/>
              <a:r>
                <a:rPr lang="en-US" sz="2400">
                  <a:solidFill>
                    <a:schemeClr val="tx1"/>
                  </a:solidFill>
                  <a:latin typeface="Times New Roman" pitchFamily="18" charset="0"/>
                </a:rPr>
                <a:t>Time</a:t>
              </a:r>
            </a:p>
          </p:txBody>
        </p:sp>
        <mc:AlternateContent xmlns:mc="http://schemas.openxmlformats.org/markup-compatibility/2006" xmlns:a14="http://schemas.microsoft.com/office/drawing/2010/main">
          <mc:Choice Requires="a14">
            <p:sp>
              <p:nvSpPr>
                <p:cNvPr id="37" name="Text Box 19">
                  <a:extLst>
                    <a:ext uri="{FF2B5EF4-FFF2-40B4-BE49-F238E27FC236}">
                      <a16:creationId xmlns:a16="http://schemas.microsoft.com/office/drawing/2014/main" id="{025F9934-1583-01FC-BB76-9D72B8103C11}"/>
                    </a:ext>
                  </a:extLst>
                </p:cNvPr>
                <p:cNvSpPr txBox="1">
                  <a:spLocks noChangeArrowheads="1"/>
                </p:cNvSpPr>
                <p:nvPr/>
              </p:nvSpPr>
              <p:spPr bwMode="auto">
                <a:xfrm>
                  <a:off x="1920243" y="2473374"/>
                  <a:ext cx="1111239" cy="461665"/>
                </a:xfrm>
                <a:prstGeom prst="rect">
                  <a:avLst/>
                </a:prstGeom>
                <a:noFill/>
                <a:ln w="9525">
                  <a:noFill/>
                  <a:miter lim="800000"/>
                  <a:headEnd/>
                  <a:tailEnd/>
                </a:ln>
                <a:effectLst/>
              </p:spPr>
              <p:txBody>
                <a:bodyPr wrap="square">
                  <a:spAutoFit/>
                </a:bodyPr>
                <a:lstStyle/>
                <a:p>
                  <a:pPr eaLnBrk="0" hangingPunct="0"/>
                  <a14:m>
                    <m:oMathPara xmlns:m="http://schemas.openxmlformats.org/officeDocument/2006/math">
                      <m:oMathParaPr>
                        <m:jc m:val="centerGroup"/>
                      </m:oMathParaPr>
                      <m:oMath xmlns:m="http://schemas.openxmlformats.org/officeDocument/2006/math">
                        <m:r>
                          <a:rPr lang="en-US" sz="2400" b="0" i="1" smtClean="0">
                            <a:solidFill>
                              <a:schemeClr val="tx1"/>
                            </a:solidFill>
                            <a:latin typeface="Cambria Math" panose="02040503050406030204" pitchFamily="18" charset="0"/>
                          </a:rPr>
                          <m:t>𝑎</m:t>
                        </m:r>
                        <m:r>
                          <a:rPr lang="en-US" sz="2400" b="0" i="1" smtClean="0">
                            <a:solidFill>
                              <a:schemeClr val="tx1"/>
                            </a:solidFill>
                            <a:latin typeface="Cambria Math" panose="02040503050406030204" pitchFamily="18" charset="0"/>
                          </a:rPr>
                          <m:t>+</m:t>
                        </m:r>
                        <m:r>
                          <a:rPr lang="en-US" sz="2400" b="0" i="1" smtClean="0">
                            <a:solidFill>
                              <a:schemeClr val="tx1"/>
                            </a:solidFill>
                            <a:latin typeface="Cambria Math" panose="02040503050406030204" pitchFamily="18" charset="0"/>
                          </a:rPr>
                          <m:t>𝛾</m:t>
                        </m:r>
                        <m:r>
                          <a:rPr lang="en-US" sz="2400" b="0" i="1" smtClean="0">
                            <a:solidFill>
                              <a:schemeClr val="tx1"/>
                            </a:solidFill>
                            <a:latin typeface="Cambria Math" panose="02040503050406030204" pitchFamily="18" charset="0"/>
                          </a:rPr>
                          <m:t>𝑡</m:t>
                        </m:r>
                      </m:oMath>
                    </m:oMathPara>
                  </a14:m>
                  <a:endParaRPr lang="en-US" sz="2400" dirty="0">
                    <a:solidFill>
                      <a:schemeClr val="tx1"/>
                    </a:solidFill>
                    <a:latin typeface="Times New Roman" pitchFamily="18" charset="0"/>
                  </a:endParaRPr>
                </a:p>
              </p:txBody>
            </p:sp>
          </mc:Choice>
          <mc:Fallback xmlns="">
            <p:sp>
              <p:nvSpPr>
                <p:cNvPr id="37" name="Text Box 19">
                  <a:extLst>
                    <a:ext uri="{FF2B5EF4-FFF2-40B4-BE49-F238E27FC236}">
                      <a16:creationId xmlns:a16="http://schemas.microsoft.com/office/drawing/2014/main" id="{025F9934-1583-01FC-BB76-9D72B8103C11}"/>
                    </a:ext>
                  </a:extLst>
                </p:cNvPr>
                <p:cNvSpPr txBox="1">
                  <a:spLocks noRot="1" noChangeAspect="1" noMove="1" noResize="1" noEditPoints="1" noAdjustHandles="1" noChangeArrowheads="1" noChangeShapeType="1" noTextEdit="1"/>
                </p:cNvSpPr>
                <p:nvPr/>
              </p:nvSpPr>
              <p:spPr bwMode="auto">
                <a:xfrm>
                  <a:off x="1920243" y="2473374"/>
                  <a:ext cx="1111239" cy="461665"/>
                </a:xfrm>
                <a:prstGeom prst="rect">
                  <a:avLst/>
                </a:prstGeom>
                <a:blipFill>
                  <a:blip r:embed="rId4"/>
                  <a:stretch>
                    <a:fillRect b="-14667"/>
                  </a:stretch>
                </a:blipFill>
                <a:ln w="9525">
                  <a:noFill/>
                  <a:miter lim="800000"/>
                  <a:headEnd/>
                  <a:tailEnd/>
                </a:ln>
                <a:effectLst/>
              </p:spPr>
              <p:txBody>
                <a:bodyPr/>
                <a:lstStyle/>
                <a:p>
                  <a:r>
                    <a:rPr lang="en-US">
                      <a:noFill/>
                    </a:rPr>
                    <a:t> </a:t>
                  </a:r>
                </a:p>
              </p:txBody>
            </p:sp>
          </mc:Fallback>
        </mc:AlternateContent>
        <p:sp>
          <p:nvSpPr>
            <p:cNvPr id="38" name="Line 20">
              <a:extLst>
                <a:ext uri="{FF2B5EF4-FFF2-40B4-BE49-F238E27FC236}">
                  <a16:creationId xmlns:a16="http://schemas.microsoft.com/office/drawing/2014/main" id="{88267ABA-F192-B4FA-CE99-D0BF7EFEF147}"/>
                </a:ext>
              </a:extLst>
            </p:cNvPr>
            <p:cNvSpPr>
              <a:spLocks noChangeShapeType="1"/>
            </p:cNvSpPr>
            <p:nvPr/>
          </p:nvSpPr>
          <p:spPr bwMode="auto">
            <a:xfrm flipH="1">
              <a:off x="3074344" y="2168575"/>
              <a:ext cx="2286000" cy="0"/>
            </a:xfrm>
            <a:prstGeom prst="line">
              <a:avLst/>
            </a:prstGeom>
            <a:noFill/>
            <a:ln w="9525">
              <a:solidFill>
                <a:schemeClr val="tx1"/>
              </a:solidFill>
              <a:prstDash val="dashDot"/>
              <a:round/>
              <a:headEnd/>
              <a:tailEnd/>
            </a:ln>
            <a:effectLst/>
          </p:spPr>
          <p:txBody>
            <a:bodyPr/>
            <a:lstStyle/>
            <a:p>
              <a:endParaRPr lang="en-US"/>
            </a:p>
          </p:txBody>
        </p:sp>
      </p:grpSp>
      <mc:AlternateContent xmlns:mc="http://schemas.openxmlformats.org/markup-compatibility/2006" xmlns:a14="http://schemas.microsoft.com/office/drawing/2010/main">
        <mc:Choice Requires="a14">
          <p:sp>
            <p:nvSpPr>
              <p:cNvPr id="7" name="Text Placeholder 6">
                <a:extLst>
                  <a:ext uri="{FF2B5EF4-FFF2-40B4-BE49-F238E27FC236}">
                    <a16:creationId xmlns:a16="http://schemas.microsoft.com/office/drawing/2014/main" id="{2C945431-3356-0FE8-3B0B-9F9294D11E01}"/>
                  </a:ext>
                </a:extLst>
              </p:cNvPr>
              <p:cNvSpPr>
                <a:spLocks noGrp="1"/>
              </p:cNvSpPr>
              <p:nvPr>
                <p:ph type="body" sz="quarter" idx="14"/>
              </p:nvPr>
            </p:nvSpPr>
            <p:spPr>
              <a:xfrm>
                <a:off x="1905800" y="5088983"/>
                <a:ext cx="8380400" cy="962666"/>
              </a:xfrm>
            </p:spPr>
            <p:txBody>
              <a:bodyPr>
                <a:normAutofit/>
              </a:bodyPr>
              <a:lstStyle/>
              <a:p>
                <a:r>
                  <a:rPr lang="en-US" sz="2400" dirty="0"/>
                  <a:t>Question: What do new customers purchase at time </a:t>
                </a:r>
                <a14:m>
                  <m:oMath xmlns:m="http://schemas.openxmlformats.org/officeDocument/2006/math">
                    <m:r>
                      <a:rPr lang="en-US" sz="2400" b="0" i="1" smtClean="0">
                        <a:solidFill>
                          <a:schemeClr val="tx1"/>
                        </a:solidFill>
                        <a:latin typeface="Cambria Math" panose="02040503050406030204" pitchFamily="18" charset="0"/>
                      </a:rPr>
                      <m:t>𝑡</m:t>
                    </m:r>
                  </m:oMath>
                </a14:m>
                <a:r>
                  <a:rPr lang="en-US" sz="2400" dirty="0">
                    <a:solidFill>
                      <a:schemeClr val="tx1"/>
                    </a:solidFill>
                    <a:latin typeface="Times New Roman" pitchFamily="18" charset="0"/>
                  </a:rPr>
                  <a:t>? Why?</a:t>
                </a:r>
              </a:p>
              <a:p>
                <a:endParaRPr lang="en-US" sz="2400" dirty="0"/>
              </a:p>
            </p:txBody>
          </p:sp>
        </mc:Choice>
        <mc:Fallback xmlns="">
          <p:sp>
            <p:nvSpPr>
              <p:cNvPr id="7" name="Text Placeholder 6">
                <a:extLst>
                  <a:ext uri="{FF2B5EF4-FFF2-40B4-BE49-F238E27FC236}">
                    <a16:creationId xmlns:a16="http://schemas.microsoft.com/office/drawing/2014/main" id="{2C945431-3356-0FE8-3B0B-9F9294D11E01}"/>
                  </a:ext>
                </a:extLst>
              </p:cNvPr>
              <p:cNvSpPr>
                <a:spLocks noGrp="1" noRot="1" noChangeAspect="1" noMove="1" noResize="1" noEditPoints="1" noAdjustHandles="1" noChangeArrowheads="1" noChangeShapeType="1" noTextEdit="1"/>
              </p:cNvSpPr>
              <p:nvPr>
                <p:ph type="body" sz="quarter" idx="14"/>
              </p:nvPr>
            </p:nvSpPr>
            <p:spPr>
              <a:xfrm>
                <a:off x="1905800" y="5088983"/>
                <a:ext cx="8380400" cy="962666"/>
              </a:xfrm>
              <a:blipFill>
                <a:blip r:embed="rId5"/>
                <a:stretch>
                  <a:fillRect l="-2121" t="-9091"/>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4515135F-B57D-93A6-4251-296FC99E4A92}"/>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BDB1669D-DB1B-111D-3ACA-2987035CDA04}"/>
              </a:ext>
            </a:extLst>
          </p:cNvPr>
          <p:cNvSpPr>
            <a:spLocks noGrp="1"/>
          </p:cNvSpPr>
          <p:nvPr>
            <p:ph type="sldNum" sz="quarter" idx="12"/>
          </p:nvPr>
        </p:nvSpPr>
        <p:spPr/>
        <p:txBody>
          <a:bodyPr/>
          <a:lstStyle/>
          <a:p>
            <a:fld id="{8A7A6979-0714-4377-B894-6BE4C2D6E202}" type="slidenum">
              <a:rPr lang="en-US" smtClean="0"/>
              <a:pPr/>
              <a:t>25</a:t>
            </a:fld>
            <a:endParaRPr lang="en-US" dirty="0"/>
          </a:p>
        </p:txBody>
      </p:sp>
    </p:spTree>
    <p:extLst>
      <p:ext uri="{BB962C8B-B14F-4D97-AF65-F5344CB8AC3E}">
        <p14:creationId xmlns:p14="http://schemas.microsoft.com/office/powerpoint/2010/main" val="367791763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68419E-2BE8-29B6-55F2-5676161044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D57584-44FD-C63A-FEEA-F8CB7B45FB9B}"/>
              </a:ext>
            </a:extLst>
          </p:cNvPr>
          <p:cNvSpPr>
            <a:spLocks noGrp="1"/>
          </p:cNvSpPr>
          <p:nvPr>
            <p:ph type="ctrTitle"/>
          </p:nvPr>
        </p:nvSpPr>
        <p:spPr/>
        <p:txBody>
          <a:bodyPr/>
          <a:lstStyle/>
          <a:p>
            <a:r>
              <a:rPr lang="en-US" dirty="0"/>
              <a:t>Tradeoff: Openness vs Control</a:t>
            </a:r>
          </a:p>
        </p:txBody>
      </p:sp>
      <p:sp>
        <p:nvSpPr>
          <p:cNvPr id="4" name="Text Placeholder 3">
            <a:extLst>
              <a:ext uri="{FF2B5EF4-FFF2-40B4-BE49-F238E27FC236}">
                <a16:creationId xmlns:a16="http://schemas.microsoft.com/office/drawing/2014/main" id="{0F042F19-107B-A30F-820E-29CAB720B44F}"/>
              </a:ext>
            </a:extLst>
          </p:cNvPr>
          <p:cNvSpPr>
            <a:spLocks noGrp="1"/>
          </p:cNvSpPr>
          <p:nvPr>
            <p:ph type="body" sz="quarter" idx="14"/>
          </p:nvPr>
        </p:nvSpPr>
        <p:spPr>
          <a:xfrm>
            <a:off x="1828800" y="1500189"/>
            <a:ext cx="8755380" cy="4186236"/>
          </a:xfrm>
        </p:spPr>
        <p:txBody>
          <a:bodyPr>
            <a:normAutofit/>
          </a:bodyPr>
          <a:lstStyle/>
          <a:p>
            <a:r>
              <a:rPr lang="en-US" sz="2400" dirty="0"/>
              <a:t>A firm benefits from generating network effects if it</a:t>
            </a:r>
          </a:p>
          <a:p>
            <a:pPr lvl="1"/>
            <a:r>
              <a:rPr lang="en-US" sz="2400" dirty="0"/>
              <a:t>Is the only supplier of the product (control)</a:t>
            </a:r>
          </a:p>
          <a:p>
            <a:pPr lvl="1"/>
            <a:r>
              <a:rPr lang="en-US" sz="2400" dirty="0"/>
              <a:t>Achieves a large user base rapidly (openness)</a:t>
            </a:r>
          </a:p>
          <a:p>
            <a:endParaRPr lang="en-US" sz="2400" dirty="0"/>
          </a:p>
          <a:p>
            <a:r>
              <a:rPr lang="en-US" sz="2400" dirty="0"/>
              <a:t>Tradeoff:</a:t>
            </a:r>
          </a:p>
          <a:p>
            <a:pPr lvl="1"/>
            <a:r>
              <a:rPr lang="en-US" sz="2400" dirty="0"/>
              <a:t>Adoption is more rapid with open standards</a:t>
            </a:r>
          </a:p>
          <a:p>
            <a:pPr lvl="2"/>
            <a:r>
              <a:rPr lang="en-US" sz="2400" dirty="0"/>
              <a:t>E.g. Tesla charging standard</a:t>
            </a:r>
          </a:p>
          <a:p>
            <a:pPr lvl="1"/>
            <a:r>
              <a:rPr lang="en-US" sz="2400" dirty="0"/>
              <a:t>Profit margins are higher with proprietary standards </a:t>
            </a:r>
          </a:p>
          <a:p>
            <a:pPr lvl="2"/>
            <a:r>
              <a:rPr lang="en-US" sz="2400" dirty="0"/>
              <a:t>E.g. Social media, Reddit’s third party apps</a:t>
            </a:r>
          </a:p>
        </p:txBody>
      </p:sp>
      <p:sp>
        <p:nvSpPr>
          <p:cNvPr id="5" name="Date Placeholder 4">
            <a:extLst>
              <a:ext uri="{FF2B5EF4-FFF2-40B4-BE49-F238E27FC236}">
                <a16:creationId xmlns:a16="http://schemas.microsoft.com/office/drawing/2014/main" id="{DC1E3BD4-E2D4-BB57-9121-E153A5348652}"/>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7F6BFA72-1BE2-C6C3-7728-A4C2EFF192D2}"/>
              </a:ext>
            </a:extLst>
          </p:cNvPr>
          <p:cNvSpPr>
            <a:spLocks noGrp="1"/>
          </p:cNvSpPr>
          <p:nvPr>
            <p:ph type="sldNum" sz="quarter" idx="12"/>
          </p:nvPr>
        </p:nvSpPr>
        <p:spPr/>
        <p:txBody>
          <a:bodyPr/>
          <a:lstStyle/>
          <a:p>
            <a:fld id="{8A7A6979-0714-4377-B894-6BE4C2D6E202}" type="slidenum">
              <a:rPr lang="en-US" smtClean="0"/>
              <a:pPr/>
              <a:t>26</a:t>
            </a:fld>
            <a:endParaRPr lang="en-US" dirty="0"/>
          </a:p>
        </p:txBody>
      </p:sp>
    </p:spTree>
    <p:extLst>
      <p:ext uri="{BB962C8B-B14F-4D97-AF65-F5344CB8AC3E}">
        <p14:creationId xmlns:p14="http://schemas.microsoft.com/office/powerpoint/2010/main" val="83534808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nodeType="clickEffect">
                                  <p:stCondLst>
                                    <p:cond delay="0"/>
                                  </p:stCondLst>
                                  <p:childTnLst>
                                    <p:set>
                                      <p:cBhvr>
                                        <p:cTn id="20" dur="1" fill="hold">
                                          <p:stCondLst>
                                            <p:cond delay="0"/>
                                          </p:stCondLst>
                                        </p:cTn>
                                        <p:tgtEl>
                                          <p:spTgt spid="4">
                                            <p:txEl>
                                              <p:pRg st="7" end="7"/>
                                            </p:txEl>
                                          </p:spTgt>
                                        </p:tgtEl>
                                        <p:attrNameLst>
                                          <p:attrName>style.visibility</p:attrName>
                                        </p:attrNameLst>
                                      </p:cBhvr>
                                      <p:to>
                                        <p:strVal val="visible"/>
                                      </p:to>
                                    </p:set>
                                  </p:childTnLst>
                                </p:cTn>
                              </p:par>
                              <p:par>
                                <p:cTn id="21" presetID="1" presetClass="entr" presetSubtype="0" fill="hold" nodeType="withEffect">
                                  <p:stCondLst>
                                    <p:cond delay="0"/>
                                  </p:stCondLst>
                                  <p:childTnLst>
                                    <p:set>
                                      <p:cBhvr>
                                        <p:cTn id="22" dur="1" fill="hold">
                                          <p:stCondLst>
                                            <p:cond delay="0"/>
                                          </p:stCondLst>
                                        </p:cTn>
                                        <p:tgtEl>
                                          <p:spTgt spid="4">
                                            <p:txEl>
                                              <p:pRg st="8" end="8"/>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40F141-CF9A-589F-37D7-A04B4590C2D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A1D31DE-133E-5AD3-4632-C5B9BD4A3F43}"/>
              </a:ext>
            </a:extLst>
          </p:cNvPr>
          <p:cNvSpPr>
            <a:spLocks noGrp="1"/>
          </p:cNvSpPr>
          <p:nvPr>
            <p:ph type="ctrTitle"/>
          </p:nvPr>
        </p:nvSpPr>
        <p:spPr>
          <a:xfrm>
            <a:off x="2647199" y="1501742"/>
            <a:ext cx="7300940" cy="1329595"/>
          </a:xfrm>
        </p:spPr>
        <p:txBody>
          <a:bodyPr/>
          <a:lstStyle/>
          <a:p>
            <a:r>
              <a:rPr lang="en-US" dirty="0"/>
              <a:t>Platform strategy – Launch &amp; GTM</a:t>
            </a:r>
          </a:p>
        </p:txBody>
      </p:sp>
      <p:sp>
        <p:nvSpPr>
          <p:cNvPr id="4" name="Date Placeholder 3">
            <a:extLst>
              <a:ext uri="{FF2B5EF4-FFF2-40B4-BE49-F238E27FC236}">
                <a16:creationId xmlns:a16="http://schemas.microsoft.com/office/drawing/2014/main" id="{3D867975-5663-A7F5-459F-4FB838084A17}"/>
              </a:ext>
            </a:extLst>
          </p:cNvPr>
          <p:cNvSpPr>
            <a:spLocks noGrp="1"/>
          </p:cNvSpPr>
          <p:nvPr>
            <p:ph type="dt" sz="half" idx="10"/>
          </p:nvPr>
        </p:nvSpPr>
        <p:spPr/>
        <p:txBody>
          <a:bodyPr/>
          <a:lstStyle/>
          <a:p>
            <a:fld id="{D47A9A36-4EB0-BF46-AE48-7CDA251B954B}" type="datetime1">
              <a:rPr lang="en-US" smtClean="0"/>
              <a:pPr/>
              <a:t>11/17/2025</a:t>
            </a:fld>
            <a:endParaRPr lang="en-US" dirty="0"/>
          </a:p>
        </p:txBody>
      </p:sp>
      <p:sp>
        <p:nvSpPr>
          <p:cNvPr id="5" name="Slide Number Placeholder 4">
            <a:extLst>
              <a:ext uri="{FF2B5EF4-FFF2-40B4-BE49-F238E27FC236}">
                <a16:creationId xmlns:a16="http://schemas.microsoft.com/office/drawing/2014/main" id="{5F966BFE-9D4B-4FEF-603B-182F8C68D947}"/>
              </a:ext>
            </a:extLst>
          </p:cNvPr>
          <p:cNvSpPr>
            <a:spLocks noGrp="1"/>
          </p:cNvSpPr>
          <p:nvPr>
            <p:ph type="sldNum" sz="quarter" idx="12"/>
          </p:nvPr>
        </p:nvSpPr>
        <p:spPr/>
        <p:txBody>
          <a:bodyPr/>
          <a:lstStyle/>
          <a:p>
            <a:fld id="{8A7A6979-0714-4377-B894-6BE4C2D6E202}" type="slidenum">
              <a:rPr lang="en-US" smtClean="0"/>
              <a:pPr/>
              <a:t>27</a:t>
            </a:fld>
            <a:endParaRPr lang="en-US" dirty="0"/>
          </a:p>
        </p:txBody>
      </p:sp>
    </p:spTree>
    <p:extLst>
      <p:ext uri="{BB962C8B-B14F-4D97-AF65-F5344CB8AC3E}">
        <p14:creationId xmlns:p14="http://schemas.microsoft.com/office/powerpoint/2010/main" val="1688322829"/>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908993B-20F0-1593-F719-9B0BEABE7AF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8B80A33-D505-4311-7ABC-C8E0B00D942A}"/>
              </a:ext>
            </a:extLst>
          </p:cNvPr>
          <p:cNvSpPr>
            <a:spLocks noGrp="1"/>
          </p:cNvSpPr>
          <p:nvPr>
            <p:ph type="ctrTitle"/>
          </p:nvPr>
        </p:nvSpPr>
        <p:spPr/>
        <p:txBody>
          <a:bodyPr/>
          <a:lstStyle/>
          <a:p>
            <a:r>
              <a:rPr lang="en-US" dirty="0"/>
              <a:t>Launching Platforms</a:t>
            </a:r>
          </a:p>
        </p:txBody>
      </p:sp>
      <p:sp>
        <p:nvSpPr>
          <p:cNvPr id="4" name="Text Placeholder 3">
            <a:extLst>
              <a:ext uri="{FF2B5EF4-FFF2-40B4-BE49-F238E27FC236}">
                <a16:creationId xmlns:a16="http://schemas.microsoft.com/office/drawing/2014/main" id="{3DB65F22-0408-4D2F-BB13-FCBFA5DC31D6}"/>
              </a:ext>
            </a:extLst>
          </p:cNvPr>
          <p:cNvSpPr>
            <a:spLocks noGrp="1"/>
          </p:cNvSpPr>
          <p:nvPr>
            <p:ph type="body" sz="quarter" idx="14"/>
          </p:nvPr>
        </p:nvSpPr>
        <p:spPr>
          <a:xfrm>
            <a:off x="1828800" y="1500189"/>
            <a:ext cx="8755380" cy="4186236"/>
          </a:xfrm>
        </p:spPr>
        <p:txBody>
          <a:bodyPr>
            <a:normAutofit/>
          </a:bodyPr>
          <a:lstStyle/>
          <a:p>
            <a:pPr marL="0" indent="0">
              <a:buNone/>
            </a:pPr>
            <a:r>
              <a:rPr lang="en-US" sz="2400" dirty="0"/>
              <a:t>“Prize for greatest salesperson in history should go to whoever sold the first telephone”</a:t>
            </a:r>
          </a:p>
          <a:p>
            <a:pPr marL="0" indent="0">
              <a:buNone/>
            </a:pPr>
            <a:endParaRPr lang="en-US" sz="2400" dirty="0"/>
          </a:p>
          <a:p>
            <a:r>
              <a:rPr lang="en-US" sz="2400" dirty="0"/>
              <a:t>Platforms face a serious chicken &amp; egg problem</a:t>
            </a:r>
          </a:p>
          <a:p>
            <a:pPr lvl="1"/>
            <a:r>
              <a:rPr lang="en-US" sz="2400" dirty="0"/>
              <a:t>You need both sides of the market to make platform valuable</a:t>
            </a:r>
          </a:p>
          <a:p>
            <a:pPr lvl="1"/>
            <a:r>
              <a:rPr lang="en-US" sz="2400" dirty="0"/>
              <a:t>How to attract one side without the other, and what first?</a:t>
            </a:r>
          </a:p>
          <a:p>
            <a:pPr lvl="1"/>
            <a:endParaRPr lang="en-US" sz="2400" dirty="0"/>
          </a:p>
          <a:p>
            <a:r>
              <a:rPr lang="en-US" sz="2400" dirty="0"/>
              <a:t>Multiple equilibrium abound</a:t>
            </a:r>
          </a:p>
          <a:p>
            <a:pPr lvl="1"/>
            <a:r>
              <a:rPr lang="en-US" sz="2400" dirty="0"/>
              <a:t>Just because an idea is good, doesn’t mean it will work</a:t>
            </a:r>
          </a:p>
        </p:txBody>
      </p:sp>
      <p:sp>
        <p:nvSpPr>
          <p:cNvPr id="5" name="Date Placeholder 4">
            <a:extLst>
              <a:ext uri="{FF2B5EF4-FFF2-40B4-BE49-F238E27FC236}">
                <a16:creationId xmlns:a16="http://schemas.microsoft.com/office/drawing/2014/main" id="{7A2CEA50-2101-DCD1-A97C-4E9C20D2A0E4}"/>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99FCBCC1-3E47-99DD-8640-1DD36FF08805}"/>
              </a:ext>
            </a:extLst>
          </p:cNvPr>
          <p:cNvSpPr>
            <a:spLocks noGrp="1"/>
          </p:cNvSpPr>
          <p:nvPr>
            <p:ph type="sldNum" sz="quarter" idx="12"/>
          </p:nvPr>
        </p:nvSpPr>
        <p:spPr/>
        <p:txBody>
          <a:bodyPr/>
          <a:lstStyle/>
          <a:p>
            <a:fld id="{8A7A6979-0714-4377-B894-6BE4C2D6E202}" type="slidenum">
              <a:rPr lang="en-US" smtClean="0"/>
              <a:pPr/>
              <a:t>28</a:t>
            </a:fld>
            <a:endParaRPr lang="en-US" dirty="0"/>
          </a:p>
        </p:txBody>
      </p:sp>
    </p:spTree>
    <p:extLst>
      <p:ext uri="{BB962C8B-B14F-4D97-AF65-F5344CB8AC3E}">
        <p14:creationId xmlns:p14="http://schemas.microsoft.com/office/powerpoint/2010/main" val="21514303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2" end="2"/>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3" end="3"/>
                                            </p:txEl>
                                          </p:spTgt>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4">
                                            <p:txEl>
                                              <p:pRg st="6" end="6"/>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C8D1CC-ABE6-1397-A2CE-BBE860B69F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29A57D3-991F-A135-4501-35CF64F22917}"/>
              </a:ext>
            </a:extLst>
          </p:cNvPr>
          <p:cNvSpPr>
            <a:spLocks noGrp="1"/>
          </p:cNvSpPr>
          <p:nvPr>
            <p:ph type="ctrTitle"/>
          </p:nvPr>
        </p:nvSpPr>
        <p:spPr/>
        <p:txBody>
          <a:bodyPr/>
          <a:lstStyle/>
          <a:p>
            <a:r>
              <a:rPr lang="en-US" dirty="0"/>
              <a:t>Viral Growth</a:t>
            </a:r>
          </a:p>
        </p:txBody>
      </p:sp>
      <p:sp>
        <p:nvSpPr>
          <p:cNvPr id="4" name="Text Placeholder 3">
            <a:extLst>
              <a:ext uri="{FF2B5EF4-FFF2-40B4-BE49-F238E27FC236}">
                <a16:creationId xmlns:a16="http://schemas.microsoft.com/office/drawing/2014/main" id="{B45DACE0-AF3E-DC74-DC4B-610351E8E9F5}"/>
              </a:ext>
            </a:extLst>
          </p:cNvPr>
          <p:cNvSpPr>
            <a:spLocks noGrp="1"/>
          </p:cNvSpPr>
          <p:nvPr>
            <p:ph type="body" sz="quarter" idx="14"/>
          </p:nvPr>
        </p:nvSpPr>
        <p:spPr>
          <a:xfrm>
            <a:off x="1828800" y="1500189"/>
            <a:ext cx="8755380" cy="4186236"/>
          </a:xfrm>
        </p:spPr>
        <p:txBody>
          <a:bodyPr>
            <a:normAutofit/>
          </a:bodyPr>
          <a:lstStyle/>
          <a:p>
            <a:r>
              <a:rPr lang="en-US" sz="2400" dirty="0"/>
              <a:t>Traditional products rely on push strategies (e.g. advertising)</a:t>
            </a:r>
          </a:p>
          <a:p>
            <a:endParaRPr lang="en-US" sz="2400" dirty="0"/>
          </a:p>
          <a:p>
            <a:r>
              <a:rPr lang="en-US" sz="2400" dirty="0"/>
              <a:t>Pull strategies most effective for platforms</a:t>
            </a:r>
          </a:p>
          <a:p>
            <a:pPr lvl="1"/>
            <a:r>
              <a:rPr lang="en-US" sz="2400" dirty="0"/>
              <a:t>Need many participants to join and be active (not just sign up) to take advantage of network effects</a:t>
            </a:r>
          </a:p>
          <a:p>
            <a:endParaRPr lang="en-US" sz="2400" dirty="0"/>
          </a:p>
          <a:p>
            <a:endParaRPr lang="en-US" sz="2400" dirty="0"/>
          </a:p>
          <a:p>
            <a:endParaRPr lang="en-US" sz="2400" dirty="0"/>
          </a:p>
        </p:txBody>
      </p:sp>
      <p:sp>
        <p:nvSpPr>
          <p:cNvPr id="5" name="Date Placeholder 4">
            <a:extLst>
              <a:ext uri="{FF2B5EF4-FFF2-40B4-BE49-F238E27FC236}">
                <a16:creationId xmlns:a16="http://schemas.microsoft.com/office/drawing/2014/main" id="{21E2E9A8-CDE1-54E0-95B4-6E4A5A9F5A28}"/>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EE1C9A37-5F78-3533-6F84-A0F6DA48A980}"/>
              </a:ext>
            </a:extLst>
          </p:cNvPr>
          <p:cNvSpPr>
            <a:spLocks noGrp="1"/>
          </p:cNvSpPr>
          <p:nvPr>
            <p:ph type="sldNum" sz="quarter" idx="12"/>
          </p:nvPr>
        </p:nvSpPr>
        <p:spPr/>
        <p:txBody>
          <a:bodyPr/>
          <a:lstStyle/>
          <a:p>
            <a:fld id="{8A7A6979-0714-4377-B894-6BE4C2D6E202}" type="slidenum">
              <a:rPr lang="en-US" smtClean="0"/>
              <a:pPr/>
              <a:t>29</a:t>
            </a:fld>
            <a:endParaRPr lang="en-US" dirty="0"/>
          </a:p>
        </p:txBody>
      </p:sp>
    </p:spTree>
    <p:extLst>
      <p:ext uri="{BB962C8B-B14F-4D97-AF65-F5344CB8AC3E}">
        <p14:creationId xmlns:p14="http://schemas.microsoft.com/office/powerpoint/2010/main" val="3413755018"/>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EDBAA1-2730-180A-7592-F765CF893C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EF178B3-7FD8-968C-9FDD-1ABF5A272C2B}"/>
              </a:ext>
            </a:extLst>
          </p:cNvPr>
          <p:cNvSpPr>
            <a:spLocks noGrp="1"/>
          </p:cNvSpPr>
          <p:nvPr>
            <p:ph type="ctrTitle"/>
          </p:nvPr>
        </p:nvSpPr>
        <p:spPr/>
        <p:txBody>
          <a:bodyPr/>
          <a:lstStyle/>
          <a:p>
            <a:r>
              <a:rPr lang="en-US" dirty="0"/>
              <a:t>PayPal</a:t>
            </a:r>
          </a:p>
        </p:txBody>
      </p:sp>
      <p:sp>
        <p:nvSpPr>
          <p:cNvPr id="4" name="Text Placeholder 3">
            <a:extLst>
              <a:ext uri="{FF2B5EF4-FFF2-40B4-BE49-F238E27FC236}">
                <a16:creationId xmlns:a16="http://schemas.microsoft.com/office/drawing/2014/main" id="{24EBC2A8-9AFD-6241-2256-4634B7F55C83}"/>
              </a:ext>
            </a:extLst>
          </p:cNvPr>
          <p:cNvSpPr>
            <a:spLocks noGrp="1"/>
          </p:cNvSpPr>
          <p:nvPr>
            <p:ph type="body" sz="quarter" idx="14"/>
          </p:nvPr>
        </p:nvSpPr>
        <p:spPr>
          <a:xfrm>
            <a:off x="1828800" y="1500189"/>
            <a:ext cx="8755380" cy="4186236"/>
          </a:xfrm>
        </p:spPr>
        <p:txBody>
          <a:bodyPr>
            <a:normAutofit lnSpcReduction="10000"/>
          </a:bodyPr>
          <a:lstStyle/>
          <a:p>
            <a:r>
              <a:rPr lang="en-US" sz="2400" dirty="0"/>
              <a:t>Innovative new payment platform, all you need is an email + credit card</a:t>
            </a:r>
          </a:p>
          <a:p>
            <a:endParaRPr lang="en-US" sz="2400" dirty="0"/>
          </a:p>
          <a:p>
            <a:r>
              <a:rPr lang="en-US" sz="2400" dirty="0"/>
              <a:t>Advertising to potential sellers</a:t>
            </a:r>
          </a:p>
          <a:p>
            <a:pPr lvl="1"/>
            <a:r>
              <a:rPr lang="en-US" sz="2400" dirty="0"/>
              <a:t>Too expensive &amp; no demand</a:t>
            </a:r>
          </a:p>
          <a:p>
            <a:endParaRPr lang="en-US" sz="2400" dirty="0"/>
          </a:p>
          <a:p>
            <a:r>
              <a:rPr lang="en-US" sz="2400" dirty="0"/>
              <a:t>Business development (collaborate with banks) </a:t>
            </a:r>
          </a:p>
          <a:p>
            <a:pPr lvl="1"/>
            <a:r>
              <a:rPr lang="en-US" sz="2400" dirty="0"/>
              <a:t>Bureaucratic nightmare</a:t>
            </a:r>
          </a:p>
          <a:p>
            <a:endParaRPr lang="en-US" sz="2400" dirty="0"/>
          </a:p>
          <a:p>
            <a:r>
              <a:rPr lang="en-US" sz="2400" dirty="0"/>
              <a:t>Solution: Organic viral growth</a:t>
            </a:r>
          </a:p>
          <a:p>
            <a:pPr lvl="1"/>
            <a:r>
              <a:rPr lang="en-US" sz="2400" dirty="0"/>
              <a:t>Give people $10 for signing up and $10 for referring others</a:t>
            </a:r>
          </a:p>
          <a:p>
            <a:endParaRPr lang="en-US" sz="2400" dirty="0"/>
          </a:p>
          <a:p>
            <a:endParaRPr lang="en-US" sz="2400" dirty="0"/>
          </a:p>
        </p:txBody>
      </p:sp>
      <p:sp>
        <p:nvSpPr>
          <p:cNvPr id="5" name="Date Placeholder 4">
            <a:extLst>
              <a:ext uri="{FF2B5EF4-FFF2-40B4-BE49-F238E27FC236}">
                <a16:creationId xmlns:a16="http://schemas.microsoft.com/office/drawing/2014/main" id="{9E3F233A-BE58-8AFB-CFA3-531D8943F672}"/>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A0A6B7D8-7AC8-37C2-7FA7-9A86387E11A1}"/>
              </a:ext>
            </a:extLst>
          </p:cNvPr>
          <p:cNvSpPr>
            <a:spLocks noGrp="1"/>
          </p:cNvSpPr>
          <p:nvPr>
            <p:ph type="sldNum" sz="quarter" idx="12"/>
          </p:nvPr>
        </p:nvSpPr>
        <p:spPr/>
        <p:txBody>
          <a:bodyPr/>
          <a:lstStyle/>
          <a:p>
            <a:fld id="{8A7A6979-0714-4377-B894-6BE4C2D6E202}" type="slidenum">
              <a:rPr lang="en-US" smtClean="0"/>
              <a:pPr/>
              <a:t>30</a:t>
            </a:fld>
            <a:endParaRPr lang="en-US" dirty="0"/>
          </a:p>
        </p:txBody>
      </p:sp>
    </p:spTree>
    <p:extLst>
      <p:ext uri="{BB962C8B-B14F-4D97-AF65-F5344CB8AC3E}">
        <p14:creationId xmlns:p14="http://schemas.microsoft.com/office/powerpoint/2010/main" val="362963305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3E1B3CA-13CD-30B2-502D-B2ED7D81C8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C521226-6DD3-3E2C-5EA3-E29CB0740E63}"/>
              </a:ext>
            </a:extLst>
          </p:cNvPr>
          <p:cNvSpPr>
            <a:spLocks noGrp="1"/>
          </p:cNvSpPr>
          <p:nvPr>
            <p:ph type="ctrTitle"/>
          </p:nvPr>
        </p:nvSpPr>
        <p:spPr/>
        <p:txBody>
          <a:bodyPr/>
          <a:lstStyle/>
          <a:p>
            <a:r>
              <a:rPr lang="en-US" dirty="0"/>
              <a:t>Start as a Non-Platform Business</a:t>
            </a:r>
          </a:p>
        </p:txBody>
      </p:sp>
      <p:pic>
        <p:nvPicPr>
          <p:cNvPr id="2050" name="Picture 2" descr="Jeff Bezos Wore a Cowboy Hat to Space | GQ">
            <a:extLst>
              <a:ext uri="{FF2B5EF4-FFF2-40B4-BE49-F238E27FC236}">
                <a16:creationId xmlns:a16="http://schemas.microsoft.com/office/drawing/2014/main" id="{326CB0C6-6656-F357-3198-1AF4A3A20BCD}"/>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56560" y="1065673"/>
            <a:ext cx="6278880" cy="4709160"/>
          </a:xfrm>
          <a:prstGeom prst="rect">
            <a:avLst/>
          </a:prstGeom>
          <a:noFill/>
          <a:extLst>
            <a:ext uri="{909E8E84-426E-40DD-AFC4-6F175D3DCCD1}">
              <a14:hiddenFill xmlns:a14="http://schemas.microsoft.com/office/drawing/2010/main">
                <a:solidFill>
                  <a:srgbClr val="FFFFFF"/>
                </a:solidFill>
              </a14:hiddenFill>
            </a:ext>
          </a:extLst>
        </p:spPr>
      </p:pic>
      <p:sp>
        <p:nvSpPr>
          <p:cNvPr id="5" name="Date Placeholder 4">
            <a:extLst>
              <a:ext uri="{FF2B5EF4-FFF2-40B4-BE49-F238E27FC236}">
                <a16:creationId xmlns:a16="http://schemas.microsoft.com/office/drawing/2014/main" id="{C92F4038-CBFB-8B24-50D1-824FA784A4B0}"/>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156025EE-C183-831F-D78B-3202476A0342}"/>
              </a:ext>
            </a:extLst>
          </p:cNvPr>
          <p:cNvSpPr>
            <a:spLocks noGrp="1"/>
          </p:cNvSpPr>
          <p:nvPr>
            <p:ph type="sldNum" sz="quarter" idx="12"/>
          </p:nvPr>
        </p:nvSpPr>
        <p:spPr/>
        <p:txBody>
          <a:bodyPr/>
          <a:lstStyle/>
          <a:p>
            <a:fld id="{8A7A6979-0714-4377-B894-6BE4C2D6E202}" type="slidenum">
              <a:rPr lang="en-US" smtClean="0"/>
              <a:pPr/>
              <a:t>31</a:t>
            </a:fld>
            <a:endParaRPr lang="en-US" dirty="0"/>
          </a:p>
        </p:txBody>
      </p:sp>
    </p:spTree>
    <p:extLst>
      <p:ext uri="{BB962C8B-B14F-4D97-AF65-F5344CB8AC3E}">
        <p14:creationId xmlns:p14="http://schemas.microsoft.com/office/powerpoint/2010/main" val="303797531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39371FC-2A39-9959-6905-D6CE5F13C20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FBB960-F7A3-5895-5745-D6FAC821C893}"/>
              </a:ext>
            </a:extLst>
          </p:cNvPr>
          <p:cNvSpPr>
            <a:spLocks noGrp="1"/>
          </p:cNvSpPr>
          <p:nvPr>
            <p:ph type="ctrTitle"/>
          </p:nvPr>
        </p:nvSpPr>
        <p:spPr/>
        <p:txBody>
          <a:bodyPr/>
          <a:lstStyle/>
          <a:p>
            <a:r>
              <a:rPr lang="en-US" dirty="0"/>
              <a:t>Single-Side Strategy</a:t>
            </a:r>
          </a:p>
        </p:txBody>
      </p:sp>
      <p:pic>
        <p:nvPicPr>
          <p:cNvPr id="8" name="Picture 7" descr="Screenshot of the OpenTable reservation interface showing fields to select date, time, party size, and a search bar for location or restaurant.">
            <a:extLst>
              <a:ext uri="{FF2B5EF4-FFF2-40B4-BE49-F238E27FC236}">
                <a16:creationId xmlns:a16="http://schemas.microsoft.com/office/drawing/2014/main" id="{C90C261E-B75B-79D6-A8BF-5786B0F5D434}"/>
              </a:ext>
            </a:extLst>
          </p:cNvPr>
          <p:cNvPicPr>
            <a:picLocks noChangeAspect="1"/>
          </p:cNvPicPr>
          <p:nvPr/>
        </p:nvPicPr>
        <p:blipFill>
          <a:blip r:embed="rId3"/>
          <a:stretch>
            <a:fillRect/>
          </a:stretch>
        </p:blipFill>
        <p:spPr>
          <a:xfrm>
            <a:off x="2209800" y="1352895"/>
            <a:ext cx="7772400" cy="3334062"/>
          </a:xfrm>
          <a:prstGeom prst="rect">
            <a:avLst/>
          </a:prstGeom>
        </p:spPr>
      </p:pic>
      <p:sp>
        <p:nvSpPr>
          <p:cNvPr id="5" name="Date Placeholder 4">
            <a:extLst>
              <a:ext uri="{FF2B5EF4-FFF2-40B4-BE49-F238E27FC236}">
                <a16:creationId xmlns:a16="http://schemas.microsoft.com/office/drawing/2014/main" id="{E76AE900-DEF5-CEC1-B206-91304DBDE417}"/>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C6D83474-4211-AF89-4FF6-DA0601826EB6}"/>
              </a:ext>
            </a:extLst>
          </p:cNvPr>
          <p:cNvSpPr>
            <a:spLocks noGrp="1"/>
          </p:cNvSpPr>
          <p:nvPr>
            <p:ph type="sldNum" sz="quarter" idx="12"/>
          </p:nvPr>
        </p:nvSpPr>
        <p:spPr/>
        <p:txBody>
          <a:bodyPr/>
          <a:lstStyle/>
          <a:p>
            <a:fld id="{8A7A6979-0714-4377-B894-6BE4C2D6E202}" type="slidenum">
              <a:rPr lang="en-US" smtClean="0"/>
              <a:pPr/>
              <a:t>32</a:t>
            </a:fld>
            <a:endParaRPr lang="en-US" dirty="0"/>
          </a:p>
        </p:txBody>
      </p:sp>
    </p:spTree>
    <p:extLst>
      <p:ext uri="{BB962C8B-B14F-4D97-AF65-F5344CB8AC3E}">
        <p14:creationId xmlns:p14="http://schemas.microsoft.com/office/powerpoint/2010/main" val="388990212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FD88DD-7A8C-C8DD-6860-74A647797F1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921161-AF48-1552-4B32-91E14AA1C9E3}"/>
              </a:ext>
            </a:extLst>
          </p:cNvPr>
          <p:cNvSpPr>
            <a:spLocks noGrp="1"/>
          </p:cNvSpPr>
          <p:nvPr>
            <p:ph type="ctrTitle"/>
          </p:nvPr>
        </p:nvSpPr>
        <p:spPr/>
        <p:txBody>
          <a:bodyPr/>
          <a:lstStyle/>
          <a:p>
            <a:r>
              <a:rPr lang="en-US" dirty="0"/>
              <a:t>Piggyback Strategy</a:t>
            </a:r>
          </a:p>
        </p:txBody>
      </p:sp>
      <p:pic>
        <p:nvPicPr>
          <p:cNvPr id="8" name="Picture 7" descr="Screenshot of an eBay Customer Service page titled “Paying with PayPal,” showing navigation breadcrumbs for Buying to Payments.">
            <a:extLst>
              <a:ext uri="{FF2B5EF4-FFF2-40B4-BE49-F238E27FC236}">
                <a16:creationId xmlns:a16="http://schemas.microsoft.com/office/drawing/2014/main" id="{485BE35A-1230-F801-1A7F-EE04114C1DB8}"/>
              </a:ext>
            </a:extLst>
          </p:cNvPr>
          <p:cNvPicPr>
            <a:picLocks noChangeAspect="1"/>
          </p:cNvPicPr>
          <p:nvPr/>
        </p:nvPicPr>
        <p:blipFill>
          <a:blip r:embed="rId3"/>
          <a:stretch>
            <a:fillRect/>
          </a:stretch>
        </p:blipFill>
        <p:spPr>
          <a:xfrm>
            <a:off x="2159944" y="1436053"/>
            <a:ext cx="9075106" cy="3892873"/>
          </a:xfrm>
          <a:prstGeom prst="rect">
            <a:avLst/>
          </a:prstGeom>
        </p:spPr>
      </p:pic>
      <p:sp>
        <p:nvSpPr>
          <p:cNvPr id="5" name="Date Placeholder 4">
            <a:extLst>
              <a:ext uri="{FF2B5EF4-FFF2-40B4-BE49-F238E27FC236}">
                <a16:creationId xmlns:a16="http://schemas.microsoft.com/office/drawing/2014/main" id="{A542E51D-BBA1-0E33-DF5B-240F01E4B2BF}"/>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603623A2-E724-7991-BE7C-72C3830C1AF0}"/>
              </a:ext>
            </a:extLst>
          </p:cNvPr>
          <p:cNvSpPr>
            <a:spLocks noGrp="1"/>
          </p:cNvSpPr>
          <p:nvPr>
            <p:ph type="sldNum" sz="quarter" idx="12"/>
          </p:nvPr>
        </p:nvSpPr>
        <p:spPr/>
        <p:txBody>
          <a:bodyPr/>
          <a:lstStyle/>
          <a:p>
            <a:fld id="{8A7A6979-0714-4377-B894-6BE4C2D6E202}" type="slidenum">
              <a:rPr lang="en-US" smtClean="0"/>
              <a:pPr/>
              <a:t>33</a:t>
            </a:fld>
            <a:endParaRPr lang="en-US" dirty="0"/>
          </a:p>
        </p:txBody>
      </p:sp>
    </p:spTree>
    <p:extLst>
      <p:ext uri="{BB962C8B-B14F-4D97-AF65-F5344CB8AC3E}">
        <p14:creationId xmlns:p14="http://schemas.microsoft.com/office/powerpoint/2010/main" val="140386676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9E3FC50-52F4-A24B-8004-A482DDD388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B243CA-CB8B-5EC4-0823-20207221A9FA}"/>
              </a:ext>
            </a:extLst>
          </p:cNvPr>
          <p:cNvSpPr>
            <a:spLocks noGrp="1"/>
          </p:cNvSpPr>
          <p:nvPr>
            <p:ph type="ctrTitle"/>
          </p:nvPr>
        </p:nvSpPr>
        <p:spPr/>
        <p:txBody>
          <a:bodyPr/>
          <a:lstStyle/>
          <a:p>
            <a:r>
              <a:rPr lang="en-US" dirty="0"/>
              <a:t>Seeding Strategy</a:t>
            </a:r>
          </a:p>
        </p:txBody>
      </p:sp>
      <p:pic>
        <p:nvPicPr>
          <p:cNvPr id="8" name="Picture 7" descr="Screenshot of a 2008 announcement from the Android Developer Challenge titled “Android Developer Challenge Judges and Top 50 Details.”">
            <a:extLst>
              <a:ext uri="{FF2B5EF4-FFF2-40B4-BE49-F238E27FC236}">
                <a16:creationId xmlns:a16="http://schemas.microsoft.com/office/drawing/2014/main" id="{ED36A351-1BF9-27D2-B546-F9A44FD6175A}"/>
              </a:ext>
            </a:extLst>
          </p:cNvPr>
          <p:cNvPicPr>
            <a:picLocks noChangeAspect="1"/>
          </p:cNvPicPr>
          <p:nvPr/>
        </p:nvPicPr>
        <p:blipFill>
          <a:blip r:embed="rId3"/>
          <a:stretch>
            <a:fillRect/>
          </a:stretch>
        </p:blipFill>
        <p:spPr>
          <a:xfrm>
            <a:off x="3256765" y="1026114"/>
            <a:ext cx="5669483" cy="4805772"/>
          </a:xfrm>
          <a:prstGeom prst="rect">
            <a:avLst/>
          </a:prstGeom>
        </p:spPr>
      </p:pic>
      <p:sp>
        <p:nvSpPr>
          <p:cNvPr id="5" name="Date Placeholder 4">
            <a:extLst>
              <a:ext uri="{FF2B5EF4-FFF2-40B4-BE49-F238E27FC236}">
                <a16:creationId xmlns:a16="http://schemas.microsoft.com/office/drawing/2014/main" id="{111EFCB5-0E94-E6B1-D752-FA47CE6C1336}"/>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8EEFB9B0-3489-5413-4E5B-F6A6026BA81F}"/>
              </a:ext>
            </a:extLst>
          </p:cNvPr>
          <p:cNvSpPr>
            <a:spLocks noGrp="1"/>
          </p:cNvSpPr>
          <p:nvPr>
            <p:ph type="sldNum" sz="quarter" idx="12"/>
          </p:nvPr>
        </p:nvSpPr>
        <p:spPr/>
        <p:txBody>
          <a:bodyPr/>
          <a:lstStyle/>
          <a:p>
            <a:fld id="{8A7A6979-0714-4377-B894-6BE4C2D6E202}" type="slidenum">
              <a:rPr lang="en-US" smtClean="0"/>
              <a:pPr/>
              <a:t>34</a:t>
            </a:fld>
            <a:endParaRPr lang="en-US" dirty="0"/>
          </a:p>
        </p:txBody>
      </p:sp>
    </p:spTree>
    <p:extLst>
      <p:ext uri="{BB962C8B-B14F-4D97-AF65-F5344CB8AC3E}">
        <p14:creationId xmlns:p14="http://schemas.microsoft.com/office/powerpoint/2010/main" val="2178552300"/>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C1C6885-DAC1-0A00-8E7D-09C7E2F3546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96B97F70-B274-E528-D4B0-946F6C4B3C4F}"/>
              </a:ext>
            </a:extLst>
          </p:cNvPr>
          <p:cNvSpPr>
            <a:spLocks noGrp="1"/>
          </p:cNvSpPr>
          <p:nvPr>
            <p:ph type="ctrTitle"/>
          </p:nvPr>
        </p:nvSpPr>
        <p:spPr/>
        <p:txBody>
          <a:bodyPr/>
          <a:lstStyle/>
          <a:p>
            <a:r>
              <a:rPr lang="en-US" dirty="0"/>
              <a:t>Marquee Strategy</a:t>
            </a:r>
          </a:p>
        </p:txBody>
      </p:sp>
      <p:pic>
        <p:nvPicPr>
          <p:cNvPr id="4" name="Picture 3" descr="Promotional webpage for Halo Infinite on the Xbox site, featuring the iconic character Master Chief in a dramatic sci-fi landscape.">
            <a:extLst>
              <a:ext uri="{FF2B5EF4-FFF2-40B4-BE49-F238E27FC236}">
                <a16:creationId xmlns:a16="http://schemas.microsoft.com/office/drawing/2014/main" id="{933167EC-72D6-8D57-6BC2-1BED58FD63C5}"/>
              </a:ext>
            </a:extLst>
          </p:cNvPr>
          <p:cNvPicPr>
            <a:picLocks noChangeAspect="1"/>
          </p:cNvPicPr>
          <p:nvPr/>
        </p:nvPicPr>
        <p:blipFill>
          <a:blip r:embed="rId3"/>
          <a:stretch>
            <a:fillRect/>
          </a:stretch>
        </p:blipFill>
        <p:spPr>
          <a:xfrm>
            <a:off x="1848652" y="1178391"/>
            <a:ext cx="5390348" cy="4613521"/>
          </a:xfrm>
          <a:prstGeom prst="rect">
            <a:avLst/>
          </a:prstGeom>
        </p:spPr>
      </p:pic>
      <p:pic>
        <p:nvPicPr>
          <p:cNvPr id="10" name="Picture 9" descr="Collage of podcast stars Joe Rogan, Alex Cooper, and the Kelce brothers, featured alongside a headline about top hosts securing major deals.">
            <a:extLst>
              <a:ext uri="{FF2B5EF4-FFF2-40B4-BE49-F238E27FC236}">
                <a16:creationId xmlns:a16="http://schemas.microsoft.com/office/drawing/2014/main" id="{D1F9A6F7-399A-234A-673B-A13EE6741EC8}"/>
              </a:ext>
            </a:extLst>
          </p:cNvPr>
          <p:cNvPicPr>
            <a:picLocks noChangeAspect="1"/>
          </p:cNvPicPr>
          <p:nvPr/>
        </p:nvPicPr>
        <p:blipFill>
          <a:blip r:embed="rId4"/>
          <a:stretch>
            <a:fillRect/>
          </a:stretch>
        </p:blipFill>
        <p:spPr>
          <a:xfrm>
            <a:off x="7671027" y="1316396"/>
            <a:ext cx="3532332" cy="4613521"/>
          </a:xfrm>
          <a:prstGeom prst="rect">
            <a:avLst/>
          </a:prstGeom>
        </p:spPr>
      </p:pic>
      <p:sp>
        <p:nvSpPr>
          <p:cNvPr id="5" name="Date Placeholder 4">
            <a:extLst>
              <a:ext uri="{FF2B5EF4-FFF2-40B4-BE49-F238E27FC236}">
                <a16:creationId xmlns:a16="http://schemas.microsoft.com/office/drawing/2014/main" id="{E3027606-7711-E4E3-9235-D5AF808A98AF}"/>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7CDDF05C-1150-2171-6C75-3279A879FCFE}"/>
              </a:ext>
            </a:extLst>
          </p:cNvPr>
          <p:cNvSpPr>
            <a:spLocks noGrp="1"/>
          </p:cNvSpPr>
          <p:nvPr>
            <p:ph type="sldNum" sz="quarter" idx="12"/>
          </p:nvPr>
        </p:nvSpPr>
        <p:spPr/>
        <p:txBody>
          <a:bodyPr/>
          <a:lstStyle/>
          <a:p>
            <a:fld id="{8A7A6979-0714-4377-B894-6BE4C2D6E202}" type="slidenum">
              <a:rPr lang="en-US" smtClean="0"/>
              <a:pPr/>
              <a:t>35</a:t>
            </a:fld>
            <a:endParaRPr lang="en-US" dirty="0"/>
          </a:p>
        </p:txBody>
      </p:sp>
    </p:spTree>
    <p:extLst>
      <p:ext uri="{BB962C8B-B14F-4D97-AF65-F5344CB8AC3E}">
        <p14:creationId xmlns:p14="http://schemas.microsoft.com/office/powerpoint/2010/main" val="401706373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DC744E-0417-06DD-1E73-57BFF2CEE49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92BD15B-1908-B7C5-1088-BF8618C2D019}"/>
              </a:ext>
            </a:extLst>
          </p:cNvPr>
          <p:cNvSpPr>
            <a:spLocks noGrp="1"/>
          </p:cNvSpPr>
          <p:nvPr>
            <p:ph type="ctrTitle"/>
          </p:nvPr>
        </p:nvSpPr>
        <p:spPr/>
        <p:txBody>
          <a:bodyPr/>
          <a:lstStyle/>
          <a:p>
            <a:r>
              <a:rPr lang="en-US" dirty="0"/>
              <a:t>Big-Bang Strategy</a:t>
            </a:r>
          </a:p>
        </p:txBody>
      </p:sp>
      <p:pic>
        <p:nvPicPr>
          <p:cNvPr id="3" name="Picture 2" descr="Screenshot of an article titled “SXSW Helped Launch Twitter and They Never Looked Back,” describing how Twitter’s traffic surged during the 2006 SXSW festival and highlighting the platform’s rapid growth in the years that followed.">
            <a:extLst>
              <a:ext uri="{FF2B5EF4-FFF2-40B4-BE49-F238E27FC236}">
                <a16:creationId xmlns:a16="http://schemas.microsoft.com/office/drawing/2014/main" id="{AA427EF9-A5CF-54D3-3CF5-B898E5B1FA45}"/>
              </a:ext>
            </a:extLst>
          </p:cNvPr>
          <p:cNvPicPr>
            <a:picLocks noChangeAspect="1"/>
          </p:cNvPicPr>
          <p:nvPr/>
        </p:nvPicPr>
        <p:blipFill>
          <a:blip r:embed="rId3"/>
          <a:stretch>
            <a:fillRect/>
          </a:stretch>
        </p:blipFill>
        <p:spPr>
          <a:xfrm>
            <a:off x="2209800" y="1530698"/>
            <a:ext cx="7772400" cy="3796604"/>
          </a:xfrm>
          <a:prstGeom prst="rect">
            <a:avLst/>
          </a:prstGeom>
        </p:spPr>
      </p:pic>
      <p:sp>
        <p:nvSpPr>
          <p:cNvPr id="5" name="Date Placeholder 4">
            <a:extLst>
              <a:ext uri="{FF2B5EF4-FFF2-40B4-BE49-F238E27FC236}">
                <a16:creationId xmlns:a16="http://schemas.microsoft.com/office/drawing/2014/main" id="{5AB4F3CC-C905-5760-9E8B-B6B13DD17071}"/>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601554AE-8FE3-A5F3-7834-05FC5727E943}"/>
              </a:ext>
            </a:extLst>
          </p:cNvPr>
          <p:cNvSpPr>
            <a:spLocks noGrp="1"/>
          </p:cNvSpPr>
          <p:nvPr>
            <p:ph type="sldNum" sz="quarter" idx="12"/>
          </p:nvPr>
        </p:nvSpPr>
        <p:spPr/>
        <p:txBody>
          <a:bodyPr/>
          <a:lstStyle/>
          <a:p>
            <a:fld id="{8A7A6979-0714-4377-B894-6BE4C2D6E202}" type="slidenum">
              <a:rPr lang="en-US" smtClean="0"/>
              <a:pPr/>
              <a:t>36</a:t>
            </a:fld>
            <a:endParaRPr lang="en-US" dirty="0"/>
          </a:p>
        </p:txBody>
      </p:sp>
    </p:spTree>
    <p:extLst>
      <p:ext uri="{BB962C8B-B14F-4D97-AF65-F5344CB8AC3E}">
        <p14:creationId xmlns:p14="http://schemas.microsoft.com/office/powerpoint/2010/main" val="45702364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E6A962-10E2-2F5C-EC4B-040649DD357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5F16EF8-9065-2E3E-EA77-85BC92FC1C02}"/>
              </a:ext>
            </a:extLst>
          </p:cNvPr>
          <p:cNvSpPr>
            <a:spLocks noGrp="1"/>
          </p:cNvSpPr>
          <p:nvPr>
            <p:ph type="ctrTitle"/>
          </p:nvPr>
        </p:nvSpPr>
        <p:spPr/>
        <p:txBody>
          <a:bodyPr/>
          <a:lstStyle/>
          <a:p>
            <a:r>
              <a:rPr lang="en-US" dirty="0"/>
              <a:t>Micro-Market Strategy</a:t>
            </a:r>
          </a:p>
        </p:txBody>
      </p:sp>
      <p:pic>
        <p:nvPicPr>
          <p:cNvPr id="4" name="Picture 3" descr="Screenshot of a 2004 Harvard Crimson article titled “Hundreds Register for New Facebook Website,” reporting on Mark Zuckerberg’s launch of thefacebook.com and describing its early features for Harvard students.">
            <a:extLst>
              <a:ext uri="{FF2B5EF4-FFF2-40B4-BE49-F238E27FC236}">
                <a16:creationId xmlns:a16="http://schemas.microsoft.com/office/drawing/2014/main" id="{E52B9492-AAEC-B560-2A63-44937778C6EB}"/>
              </a:ext>
            </a:extLst>
          </p:cNvPr>
          <p:cNvPicPr>
            <a:picLocks noChangeAspect="1"/>
          </p:cNvPicPr>
          <p:nvPr/>
        </p:nvPicPr>
        <p:blipFill>
          <a:blip r:embed="rId3"/>
          <a:stretch>
            <a:fillRect/>
          </a:stretch>
        </p:blipFill>
        <p:spPr>
          <a:xfrm>
            <a:off x="2689971" y="1286828"/>
            <a:ext cx="6835973" cy="4402997"/>
          </a:xfrm>
          <a:prstGeom prst="rect">
            <a:avLst/>
          </a:prstGeom>
        </p:spPr>
      </p:pic>
      <p:sp>
        <p:nvSpPr>
          <p:cNvPr id="5" name="Date Placeholder 4">
            <a:extLst>
              <a:ext uri="{FF2B5EF4-FFF2-40B4-BE49-F238E27FC236}">
                <a16:creationId xmlns:a16="http://schemas.microsoft.com/office/drawing/2014/main" id="{9FF94420-6886-F780-FA9E-2041CA9003F3}"/>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127E1D1A-9C20-1B3E-1C4A-40268FAE4601}"/>
              </a:ext>
            </a:extLst>
          </p:cNvPr>
          <p:cNvSpPr>
            <a:spLocks noGrp="1"/>
          </p:cNvSpPr>
          <p:nvPr>
            <p:ph type="sldNum" sz="quarter" idx="12"/>
          </p:nvPr>
        </p:nvSpPr>
        <p:spPr/>
        <p:txBody>
          <a:bodyPr/>
          <a:lstStyle/>
          <a:p>
            <a:fld id="{8A7A6979-0714-4377-B894-6BE4C2D6E202}" type="slidenum">
              <a:rPr lang="en-US" smtClean="0"/>
              <a:pPr/>
              <a:t>37</a:t>
            </a:fld>
            <a:endParaRPr lang="en-US" dirty="0"/>
          </a:p>
        </p:txBody>
      </p:sp>
    </p:spTree>
    <p:extLst>
      <p:ext uri="{BB962C8B-B14F-4D97-AF65-F5344CB8AC3E}">
        <p14:creationId xmlns:p14="http://schemas.microsoft.com/office/powerpoint/2010/main" val="662109095"/>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21C032F-AF96-7AEE-D0B0-1E861A2C6F9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3C1E1CB-D6B6-7DAC-1B56-0C07D513CF32}"/>
              </a:ext>
            </a:extLst>
          </p:cNvPr>
          <p:cNvSpPr>
            <a:spLocks noGrp="1"/>
          </p:cNvSpPr>
          <p:nvPr>
            <p:ph type="ctrTitle"/>
          </p:nvPr>
        </p:nvSpPr>
        <p:spPr>
          <a:xfrm>
            <a:off x="2647199" y="1501742"/>
            <a:ext cx="7300940" cy="1329595"/>
          </a:xfrm>
        </p:spPr>
        <p:txBody>
          <a:bodyPr/>
          <a:lstStyle/>
          <a:p>
            <a:r>
              <a:rPr lang="en-US" dirty="0"/>
              <a:t>Platform strategy – Monetization</a:t>
            </a:r>
          </a:p>
        </p:txBody>
      </p:sp>
      <p:sp>
        <p:nvSpPr>
          <p:cNvPr id="4" name="Date Placeholder 3">
            <a:extLst>
              <a:ext uri="{FF2B5EF4-FFF2-40B4-BE49-F238E27FC236}">
                <a16:creationId xmlns:a16="http://schemas.microsoft.com/office/drawing/2014/main" id="{42DB7E71-C2E9-ECA3-0910-4ED876DCE35F}"/>
              </a:ext>
            </a:extLst>
          </p:cNvPr>
          <p:cNvSpPr>
            <a:spLocks noGrp="1"/>
          </p:cNvSpPr>
          <p:nvPr>
            <p:ph type="dt" sz="half" idx="10"/>
          </p:nvPr>
        </p:nvSpPr>
        <p:spPr/>
        <p:txBody>
          <a:bodyPr/>
          <a:lstStyle/>
          <a:p>
            <a:fld id="{D47A9A36-4EB0-BF46-AE48-7CDA251B954B}" type="datetime1">
              <a:rPr lang="en-US" smtClean="0"/>
              <a:pPr/>
              <a:t>11/17/2025</a:t>
            </a:fld>
            <a:endParaRPr lang="en-US" dirty="0"/>
          </a:p>
        </p:txBody>
      </p:sp>
      <p:sp>
        <p:nvSpPr>
          <p:cNvPr id="5" name="Slide Number Placeholder 4">
            <a:extLst>
              <a:ext uri="{FF2B5EF4-FFF2-40B4-BE49-F238E27FC236}">
                <a16:creationId xmlns:a16="http://schemas.microsoft.com/office/drawing/2014/main" id="{44210288-5EA1-DC51-A968-E7096DC807F0}"/>
              </a:ext>
            </a:extLst>
          </p:cNvPr>
          <p:cNvSpPr>
            <a:spLocks noGrp="1"/>
          </p:cNvSpPr>
          <p:nvPr>
            <p:ph type="sldNum" sz="quarter" idx="12"/>
          </p:nvPr>
        </p:nvSpPr>
        <p:spPr/>
        <p:txBody>
          <a:bodyPr/>
          <a:lstStyle/>
          <a:p>
            <a:fld id="{8A7A6979-0714-4377-B894-6BE4C2D6E202}" type="slidenum">
              <a:rPr lang="en-US" smtClean="0"/>
              <a:pPr/>
              <a:t>38</a:t>
            </a:fld>
            <a:endParaRPr lang="en-US" dirty="0"/>
          </a:p>
        </p:txBody>
      </p:sp>
    </p:spTree>
    <p:extLst>
      <p:ext uri="{BB962C8B-B14F-4D97-AF65-F5344CB8AC3E}">
        <p14:creationId xmlns:p14="http://schemas.microsoft.com/office/powerpoint/2010/main" val="2352753232"/>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693837E-3549-AD23-8B07-19A22BB9274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EFECB1B-B0D8-C745-4E01-C070C31594C3}"/>
              </a:ext>
            </a:extLst>
          </p:cNvPr>
          <p:cNvSpPr>
            <a:spLocks noGrp="1"/>
          </p:cNvSpPr>
          <p:nvPr>
            <p:ph type="ctrTitle"/>
          </p:nvPr>
        </p:nvSpPr>
        <p:spPr/>
        <p:txBody>
          <a:bodyPr/>
          <a:lstStyle/>
          <a:p>
            <a:r>
              <a:rPr lang="en-US" dirty="0"/>
              <a:t>How to Monetize</a:t>
            </a:r>
          </a:p>
        </p:txBody>
      </p:sp>
      <p:sp>
        <p:nvSpPr>
          <p:cNvPr id="4" name="Text Placeholder 3">
            <a:extLst>
              <a:ext uri="{FF2B5EF4-FFF2-40B4-BE49-F238E27FC236}">
                <a16:creationId xmlns:a16="http://schemas.microsoft.com/office/drawing/2014/main" id="{07DC2ADE-0AD3-435B-D1D6-E59DCC10A9BF}"/>
              </a:ext>
            </a:extLst>
          </p:cNvPr>
          <p:cNvSpPr>
            <a:spLocks noGrp="1"/>
          </p:cNvSpPr>
          <p:nvPr>
            <p:ph type="body" sz="quarter" idx="14"/>
          </p:nvPr>
        </p:nvSpPr>
        <p:spPr>
          <a:xfrm>
            <a:off x="1828800" y="1500189"/>
            <a:ext cx="8755380" cy="4186236"/>
          </a:xfrm>
        </p:spPr>
        <p:txBody>
          <a:bodyPr>
            <a:normAutofit/>
          </a:bodyPr>
          <a:lstStyle/>
          <a:p>
            <a:r>
              <a:rPr lang="en-US" sz="2400" dirty="0"/>
              <a:t>Transaction fee:</a:t>
            </a:r>
          </a:p>
          <a:p>
            <a:pPr lvl="1"/>
            <a:r>
              <a:rPr lang="en-US" sz="2400" dirty="0"/>
              <a:t>Avoids upfront cost of joining platform, only pay when value created</a:t>
            </a:r>
          </a:p>
          <a:p>
            <a:pPr lvl="1"/>
            <a:r>
              <a:rPr lang="en-US" sz="2400" dirty="0"/>
              <a:t>Sometimes hard to prevent transactions moving off platform</a:t>
            </a:r>
          </a:p>
          <a:p>
            <a:r>
              <a:rPr lang="en-US" sz="2400" dirty="0"/>
              <a:t>Charging for access / enhanced access:</a:t>
            </a:r>
          </a:p>
          <a:p>
            <a:pPr lvl="1"/>
            <a:r>
              <a:rPr lang="en-US" sz="2400" dirty="0"/>
              <a:t>Avoids incentive to take transactions off-platform</a:t>
            </a:r>
          </a:p>
          <a:p>
            <a:pPr lvl="1"/>
            <a:r>
              <a:rPr lang="en-US" sz="2400" dirty="0"/>
              <a:t>Risk of increasing “low-quality” contributions + barrier to initial signup</a:t>
            </a:r>
          </a:p>
          <a:p>
            <a:pPr lvl="1"/>
            <a:r>
              <a:rPr lang="en-US" sz="2400" dirty="0"/>
              <a:t>Advertising is a form of this (pay for promotion)</a:t>
            </a:r>
          </a:p>
          <a:p>
            <a:pPr lvl="1"/>
            <a:endParaRPr lang="en-US" sz="2400" dirty="0"/>
          </a:p>
          <a:p>
            <a:pPr lvl="1"/>
            <a:endParaRPr lang="en-US" sz="2400" dirty="0"/>
          </a:p>
        </p:txBody>
      </p:sp>
      <p:sp>
        <p:nvSpPr>
          <p:cNvPr id="5" name="Date Placeholder 4">
            <a:extLst>
              <a:ext uri="{FF2B5EF4-FFF2-40B4-BE49-F238E27FC236}">
                <a16:creationId xmlns:a16="http://schemas.microsoft.com/office/drawing/2014/main" id="{8D8EB22B-8C54-806E-D98E-EAB9F087C27D}"/>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88380E54-B7C7-9DD6-26FF-C51B6C3CE872}"/>
              </a:ext>
            </a:extLst>
          </p:cNvPr>
          <p:cNvSpPr>
            <a:spLocks noGrp="1"/>
          </p:cNvSpPr>
          <p:nvPr>
            <p:ph type="sldNum" sz="quarter" idx="12"/>
          </p:nvPr>
        </p:nvSpPr>
        <p:spPr/>
        <p:txBody>
          <a:bodyPr/>
          <a:lstStyle/>
          <a:p>
            <a:fld id="{8A7A6979-0714-4377-B894-6BE4C2D6E202}" type="slidenum">
              <a:rPr lang="en-US" smtClean="0"/>
              <a:pPr/>
              <a:t>39</a:t>
            </a:fld>
            <a:endParaRPr lang="en-US" dirty="0"/>
          </a:p>
        </p:txBody>
      </p:sp>
    </p:spTree>
    <p:extLst>
      <p:ext uri="{BB962C8B-B14F-4D97-AF65-F5344CB8AC3E}">
        <p14:creationId xmlns:p14="http://schemas.microsoft.com/office/powerpoint/2010/main" val="355773715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1" end="1"/>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2" end="2"/>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4" end="4"/>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5" end="5"/>
                                            </p:txEl>
                                          </p:spTgt>
                                        </p:tgtEl>
                                        <p:attrNameLst>
                                          <p:attrName>style.visibility</p:attrName>
                                        </p:attrNameLst>
                                      </p:cBhvr>
                                      <p:to>
                                        <p:strVal val="visible"/>
                                      </p:to>
                                    </p:set>
                                  </p:childTnLst>
                                </p:cTn>
                              </p:par>
                              <p:par>
                                <p:cTn id="15" presetID="1" presetClass="entr" presetSubtype="0" fill="hold" nodeType="withEffect">
                                  <p:stCondLst>
                                    <p:cond delay="0"/>
                                  </p:stCondLst>
                                  <p:childTnLst>
                                    <p:set>
                                      <p:cBhvr>
                                        <p:cTn id="16" dur="1" fill="hold">
                                          <p:stCondLst>
                                            <p:cond delay="0"/>
                                          </p:stCondLst>
                                        </p:cTn>
                                        <p:tgtEl>
                                          <p:spTgt spid="4">
                                            <p:txEl>
                                              <p:pRg st="6" end="6"/>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4129EE-1C7A-EBF4-61A6-0F91F903862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80A1FB3E-C6A0-3281-9E5A-E5304728544C}"/>
              </a:ext>
            </a:extLst>
          </p:cNvPr>
          <p:cNvSpPr>
            <a:spLocks noGrp="1"/>
          </p:cNvSpPr>
          <p:nvPr>
            <p:ph type="ctrTitle"/>
          </p:nvPr>
        </p:nvSpPr>
        <p:spPr/>
        <p:txBody>
          <a:bodyPr/>
          <a:lstStyle/>
          <a:p>
            <a:r>
              <a:rPr lang="en-US" dirty="0"/>
              <a:t>Exercise: Who to Monetize &amp; What to Charge</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E4D2B2B4-5B40-60A6-A7C4-980991C7BE9A}"/>
                  </a:ext>
                </a:extLst>
              </p:cNvPr>
              <p:cNvSpPr>
                <a:spLocks noGrp="1"/>
              </p:cNvSpPr>
              <p:nvPr>
                <p:ph type="body" sz="quarter" idx="14"/>
              </p:nvPr>
            </p:nvSpPr>
            <p:spPr>
              <a:xfrm>
                <a:off x="1828800" y="1500189"/>
                <a:ext cx="8755380" cy="4186236"/>
              </a:xfrm>
            </p:spPr>
            <p:txBody>
              <a:bodyPr>
                <a:normAutofit lnSpcReduction="10000"/>
              </a:bodyPr>
              <a:lstStyle/>
              <a:p>
                <a:r>
                  <a:rPr lang="en-US" sz="2400" dirty="0"/>
                  <a:t>We are a platform business bringing together users/consumers (C) and advertisers (A)</a:t>
                </a:r>
              </a:p>
              <a:p>
                <a:pPr lvl="1"/>
                <a:r>
                  <a:rPr lang="en-US" sz="2400" dirty="0"/>
                  <a:t>Example: Social media, content platforms, search</a:t>
                </a:r>
              </a:p>
              <a:p>
                <a:endParaRPr lang="en-US" sz="2400" dirty="0"/>
              </a:p>
              <a:p>
                <a:r>
                  <a:rPr lang="en-US" sz="2400" dirty="0"/>
                  <a:t>Consumer value does not depend on advertiser</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𝑞</m:t>
                          </m:r>
                        </m:e>
                        <m:sub>
                          <m:r>
                            <a:rPr lang="en-US" sz="2400" b="0" i="1" smtClean="0">
                              <a:latin typeface="Cambria Math" panose="02040503050406030204" pitchFamily="18" charset="0"/>
                            </a:rPr>
                            <m:t>𝐶</m:t>
                          </m:r>
                        </m:sub>
                      </m:sSub>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𝐶</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𝐴</m:t>
                              </m:r>
                            </m:sub>
                          </m:sSub>
                        </m:e>
                      </m:d>
                      <m:r>
                        <a:rPr lang="en-US" sz="2400" b="0" i="1" smtClean="0">
                          <a:latin typeface="Cambria Math" panose="02040503050406030204" pitchFamily="18" charset="0"/>
                        </a:rPr>
                        <m:t>=100−1.1∗</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𝐶</m:t>
                          </m:r>
                        </m:sub>
                      </m:sSub>
                    </m:oMath>
                  </m:oMathPara>
                </a14:m>
                <a:endParaRPr lang="en-US" sz="2400" dirty="0"/>
              </a:p>
              <a:p>
                <a:endParaRPr lang="en-US" sz="2400" dirty="0"/>
              </a:p>
              <a:p>
                <a:r>
                  <a:rPr lang="en-US" sz="2400" dirty="0"/>
                  <a:t>Advertiser value (and hence demand) depends on user base</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𝑞</m:t>
                          </m:r>
                        </m:e>
                        <m:sub>
                          <m:r>
                            <a:rPr lang="en-US" sz="2400" b="0" i="1" smtClean="0">
                              <a:latin typeface="Cambria Math" panose="02040503050406030204" pitchFamily="18" charset="0"/>
                            </a:rPr>
                            <m:t>𝐴</m:t>
                          </m:r>
                        </m:sub>
                      </m:sSub>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𝐶</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𝐴</m:t>
                              </m:r>
                            </m:sub>
                          </m:sSub>
                        </m:e>
                      </m:d>
                      <m:r>
                        <a:rPr lang="en-US" sz="2400" b="0" i="1" smtClean="0">
                          <a:latin typeface="Cambria Math" panose="02040503050406030204" pitchFamily="18" charset="0"/>
                        </a:rPr>
                        <m:t>=</m:t>
                      </m:r>
                      <m:r>
                        <a:rPr lang="en-US" sz="2400" b="0" i="1" smtClean="0">
                          <a:latin typeface="Cambria Math" panose="02040503050406030204" pitchFamily="18" charset="0"/>
                        </a:rPr>
                        <m:t>𝛾</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𝑞</m:t>
                          </m:r>
                        </m:e>
                        <m:sub>
                          <m:r>
                            <a:rPr lang="en-US" sz="2400" b="0" i="1" smtClean="0">
                              <a:latin typeface="Cambria Math" panose="02040503050406030204" pitchFamily="18" charset="0"/>
                            </a:rPr>
                            <m:t>𝐶</m:t>
                          </m:r>
                        </m:sub>
                      </m:sSub>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𝐶</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𝐴</m:t>
                              </m:r>
                            </m:sub>
                          </m:sSub>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𝐴</m:t>
                          </m:r>
                        </m:sub>
                      </m:sSub>
                    </m:oMath>
                  </m:oMathPara>
                </a14:m>
                <a:endParaRPr lang="en-US" sz="2400" dirty="0"/>
              </a:p>
              <a:p>
                <a:endParaRPr lang="en-US" sz="2400" dirty="0"/>
              </a:p>
              <a:p>
                <a:r>
                  <a:rPr lang="en-US" sz="2400" dirty="0"/>
                  <a:t>Zero marginal costs</a:t>
                </a:r>
              </a:p>
              <a:p>
                <a:r>
                  <a:rPr lang="en-US" sz="2400" dirty="0"/>
                  <a:t>Set </a:t>
                </a:r>
                <a14:m>
                  <m:oMath xmlns:m="http://schemas.openxmlformats.org/officeDocument/2006/math">
                    <m:r>
                      <a:rPr lang="en-US" sz="2400" b="0" i="1" smtClean="0">
                        <a:latin typeface="Cambria Math" panose="02040503050406030204" pitchFamily="18" charset="0"/>
                      </a:rPr>
                      <m:t>𝛾</m:t>
                    </m:r>
                    <m:r>
                      <a:rPr lang="en-US" sz="2400" b="0" i="1" smtClean="0">
                        <a:latin typeface="Cambria Math" panose="02040503050406030204" pitchFamily="18" charset="0"/>
                      </a:rPr>
                      <m:t>=1</m:t>
                    </m:r>
                  </m:oMath>
                </a14:m>
                <a:endParaRPr lang="en-US" sz="2400" dirty="0"/>
              </a:p>
              <a:p>
                <a:endParaRPr lang="en-US" sz="2400" dirty="0"/>
              </a:p>
              <a:p>
                <a:pPr lvl="1"/>
                <a:endParaRPr lang="en-US" sz="2400" dirty="0"/>
              </a:p>
              <a:p>
                <a:pPr lvl="1"/>
                <a:endParaRPr lang="en-US" sz="2400" dirty="0"/>
              </a:p>
            </p:txBody>
          </p:sp>
        </mc:Choice>
        <mc:Fallback xmlns="">
          <p:sp>
            <p:nvSpPr>
              <p:cNvPr id="4" name="Text Placeholder 3">
                <a:extLst>
                  <a:ext uri="{FF2B5EF4-FFF2-40B4-BE49-F238E27FC236}">
                    <a16:creationId xmlns:a16="http://schemas.microsoft.com/office/drawing/2014/main" id="{E4D2B2B4-5B40-60A6-A7C4-980991C7BE9A}"/>
                  </a:ext>
                </a:extLst>
              </p:cNvPr>
              <p:cNvSpPr>
                <a:spLocks noGrp="1" noRot="1" noChangeAspect="1" noMove="1" noResize="1" noEditPoints="1" noAdjustHandles="1" noChangeArrowheads="1" noChangeShapeType="1" noTextEdit="1"/>
              </p:cNvSpPr>
              <p:nvPr>
                <p:ph type="body" sz="quarter" idx="14"/>
              </p:nvPr>
            </p:nvSpPr>
            <p:spPr>
              <a:xfrm>
                <a:off x="1828800" y="1500189"/>
                <a:ext cx="8755380" cy="4186236"/>
              </a:xfrm>
              <a:blipFill>
                <a:blip r:embed="rId3"/>
                <a:stretch>
                  <a:fillRect l="-2029" t="-3333" b="-3636"/>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3BA07C12-9D0A-A139-87B1-0673B1119774}"/>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BF5B9657-6F5D-0DEE-9210-158A20C1300D}"/>
              </a:ext>
            </a:extLst>
          </p:cNvPr>
          <p:cNvSpPr>
            <a:spLocks noGrp="1"/>
          </p:cNvSpPr>
          <p:nvPr>
            <p:ph type="sldNum" sz="quarter" idx="12"/>
          </p:nvPr>
        </p:nvSpPr>
        <p:spPr/>
        <p:txBody>
          <a:bodyPr/>
          <a:lstStyle/>
          <a:p>
            <a:fld id="{8A7A6979-0714-4377-B894-6BE4C2D6E202}" type="slidenum">
              <a:rPr lang="en-US" smtClean="0"/>
              <a:pPr/>
              <a:t>40</a:t>
            </a:fld>
            <a:endParaRPr lang="en-US" dirty="0"/>
          </a:p>
        </p:txBody>
      </p:sp>
    </p:spTree>
    <p:extLst>
      <p:ext uri="{BB962C8B-B14F-4D97-AF65-F5344CB8AC3E}">
        <p14:creationId xmlns:p14="http://schemas.microsoft.com/office/powerpoint/2010/main" val="3868518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4">
                                            <p:txEl>
                                              <p:pRg st="9" end="9"/>
                                            </p:txEl>
                                          </p:spTgt>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nodeType="clickEffect">
                                  <p:stCondLst>
                                    <p:cond delay="0"/>
                                  </p:stCondLst>
                                  <p:childTnLst>
                                    <p:set>
                                      <p:cBhvr>
                                        <p:cTn id="22" dur="1" fill="hold">
                                          <p:stCondLst>
                                            <p:cond delay="0"/>
                                          </p:stCondLst>
                                        </p:cTn>
                                        <p:tgtEl>
                                          <p:spTgt spid="4">
                                            <p:txEl>
                                              <p:pRg st="10" end="10"/>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C787CA-CEB5-5A0C-F065-A5B2EAEAAC6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C671BC4-C391-F1D1-0406-90A90077AA73}"/>
              </a:ext>
            </a:extLst>
          </p:cNvPr>
          <p:cNvSpPr>
            <a:spLocks noGrp="1"/>
          </p:cNvSpPr>
          <p:nvPr>
            <p:ph type="ctrTitle"/>
          </p:nvPr>
        </p:nvSpPr>
        <p:spPr/>
        <p:txBody>
          <a:bodyPr/>
          <a:lstStyle/>
          <a:p>
            <a:r>
              <a:rPr lang="en-US" dirty="0"/>
              <a:t>Exercise: Treat Markets Independently</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A50941E6-3C7F-AC0D-119D-BD13B4DD17C8}"/>
                  </a:ext>
                </a:extLst>
              </p:cNvPr>
              <p:cNvSpPr>
                <a:spLocks noGrp="1"/>
              </p:cNvSpPr>
              <p:nvPr>
                <p:ph type="body" sz="quarter" idx="14"/>
              </p:nvPr>
            </p:nvSpPr>
            <p:spPr>
              <a:xfrm>
                <a:off x="1828800" y="1500189"/>
                <a:ext cx="8755380" cy="4186236"/>
              </a:xfrm>
            </p:spPr>
            <p:txBody>
              <a:bodyPr>
                <a:normAutofit/>
              </a:bodyPr>
              <a:lstStyle/>
              <a:p>
                <a:r>
                  <a:rPr lang="en-US" sz="2400" dirty="0"/>
                  <a:t>Consumer value does not depend on advertiser</a:t>
                </a:r>
              </a:p>
              <a:p>
                <a:pPr marL="0" indent="0">
                  <a:buNone/>
                </a:pPr>
                <a14:m>
                  <m:oMathPara xmlns:m="http://schemas.openxmlformats.org/officeDocument/2006/math">
                    <m:oMathParaPr>
                      <m:jc m:val="centerGroup"/>
                    </m:oMathParaPr>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𝑞</m:t>
                          </m:r>
                        </m:e>
                        <m:sub>
                          <m:r>
                            <a:rPr lang="en-US" sz="2400" b="0" i="1" smtClean="0">
                              <a:latin typeface="Cambria Math" panose="02040503050406030204" pitchFamily="18" charset="0"/>
                            </a:rPr>
                            <m:t>𝐶</m:t>
                          </m:r>
                        </m:sub>
                      </m:sSub>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𝐶</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𝐴</m:t>
                              </m:r>
                            </m:sub>
                          </m:sSub>
                        </m:e>
                      </m:d>
                      <m:r>
                        <a:rPr lang="en-US" sz="2400" b="0" i="1" smtClean="0">
                          <a:latin typeface="Cambria Math" panose="02040503050406030204" pitchFamily="18" charset="0"/>
                        </a:rPr>
                        <m:t>=100−1.1∗</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𝐶</m:t>
                          </m:r>
                        </m:sub>
                      </m:sSub>
                    </m:oMath>
                  </m:oMathPara>
                </a14:m>
                <a:endParaRPr lang="en-US" sz="2400" dirty="0"/>
              </a:p>
              <a:p>
                <a:endParaRPr lang="en-US" sz="2400" dirty="0"/>
              </a:p>
              <a:p>
                <a:r>
                  <a:rPr lang="en-US" sz="2400" dirty="0"/>
                  <a:t>Optimal price for consumers alone solves</a:t>
                </a:r>
              </a:p>
              <a:p>
                <a:pPr marL="0" indent="0">
                  <a:buNone/>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e>
                        <m:sub>
                          <m:r>
                            <a:rPr lang="en-US" sz="2400" b="0" i="1" dirty="0" smtClean="0">
                              <a:latin typeface="Cambria Math" panose="02040503050406030204" pitchFamily="18" charset="0"/>
                            </a:rPr>
                            <m:t>𝐶</m:t>
                          </m:r>
                        </m:sub>
                      </m:sSub>
                      <m:r>
                        <a:rPr lang="en-US" sz="2400" b="0" i="1" dirty="0"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arg</m:t>
                          </m:r>
                        </m:fName>
                        <m:e>
                          <m:func>
                            <m:funcPr>
                              <m:ctrlPr>
                                <a:rPr lang="en-US" sz="2400" b="0" i="1" smtClean="0">
                                  <a:latin typeface="Cambria Math" panose="02040503050406030204" pitchFamily="18" charset="0"/>
                                </a:rPr>
                              </m:ctrlPr>
                            </m:funcPr>
                            <m:fName>
                              <m:limLow>
                                <m:limLowPr>
                                  <m:ctrlPr>
                                    <a:rPr lang="en-US" sz="2400" b="0" i="1" smtClean="0">
                                      <a:latin typeface="Cambria Math" panose="02040503050406030204" pitchFamily="18" charset="0"/>
                                    </a:rPr>
                                  </m:ctrlPr>
                                </m:limLowPr>
                                <m:e>
                                  <m:r>
                                    <m:rPr>
                                      <m:sty m:val="p"/>
                                    </m:rPr>
                                    <a:rPr lang="en-US" sz="2400" b="0" i="0" smtClean="0">
                                      <a:latin typeface="Cambria Math" panose="02040503050406030204" pitchFamily="18" charset="0"/>
                                    </a:rPr>
                                    <m:t>max</m:t>
                                  </m:r>
                                </m:e>
                                <m:li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𝐶</m:t>
                                      </m:r>
                                    </m:sub>
                                  </m:sSub>
                                </m:lim>
                              </m:limLow>
                            </m:fNa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𝐶</m:t>
                                  </m:r>
                                </m:sub>
                              </m:sSub>
                              <m:r>
                                <a:rPr lang="en-US" sz="2400" b="0" i="1" smtClean="0">
                                  <a:latin typeface="Cambria Math" panose="02040503050406030204" pitchFamily="18" charset="0"/>
                                </a:rPr>
                                <m:t>(100−1.1∗</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𝑝</m:t>
                                  </m:r>
                                </m:e>
                                <m:sub>
                                  <m:r>
                                    <a:rPr lang="en-US" sz="2400" b="0" i="1" smtClean="0">
                                      <a:latin typeface="Cambria Math" panose="02040503050406030204" pitchFamily="18" charset="0"/>
                                    </a:rPr>
                                    <m:t>𝐶</m:t>
                                  </m:r>
                                </m:sub>
                              </m:sSub>
                              <m:r>
                                <a:rPr lang="en-US" sz="2400" b="0" i="1" smtClean="0">
                                  <a:latin typeface="Cambria Math" panose="02040503050406030204" pitchFamily="18" charset="0"/>
                                </a:rPr>
                                <m:t>)</m:t>
                              </m:r>
                            </m:e>
                          </m:func>
                        </m:e>
                      </m:func>
                    </m:oMath>
                  </m:oMathPara>
                </a14:m>
                <a:endParaRPr lang="en-US" sz="2400" dirty="0"/>
              </a:p>
              <a:p>
                <a:pPr marL="0" indent="0">
                  <a:buNone/>
                </a:pPr>
                <a:endParaRPr lang="en-US" sz="2400" dirty="0"/>
              </a:p>
              <a:p>
                <a:pPr marL="0" indent="0">
                  <a:buNone/>
                </a:pPr>
                <a:endParaRPr lang="en-US" sz="2400" dirty="0"/>
              </a:p>
              <a:p>
                <a:pPr marL="0" indent="0">
                  <a:buNone/>
                </a:pPr>
                <a:r>
                  <a:rPr lang="en-US" sz="2400" dirty="0"/>
                  <a:t>First calculate optimal price for consumers ignoring the advertiser side of the market. Create a function that takes price and returns profit.</a:t>
                </a:r>
              </a:p>
            </p:txBody>
          </p:sp>
        </mc:Choice>
        <mc:Fallback xmlns="">
          <p:sp>
            <p:nvSpPr>
              <p:cNvPr id="4" name="Text Placeholder 3">
                <a:extLst>
                  <a:ext uri="{FF2B5EF4-FFF2-40B4-BE49-F238E27FC236}">
                    <a16:creationId xmlns:a16="http://schemas.microsoft.com/office/drawing/2014/main" id="{A50941E6-3C7F-AC0D-119D-BD13B4DD17C8}"/>
                  </a:ext>
                </a:extLst>
              </p:cNvPr>
              <p:cNvSpPr>
                <a:spLocks noGrp="1" noRot="1" noChangeAspect="1" noMove="1" noResize="1" noEditPoints="1" noAdjustHandles="1" noChangeArrowheads="1" noChangeShapeType="1" noTextEdit="1"/>
              </p:cNvSpPr>
              <p:nvPr>
                <p:ph type="body" sz="quarter" idx="14"/>
              </p:nvPr>
            </p:nvSpPr>
            <p:spPr>
              <a:xfrm>
                <a:off x="1828800" y="1500189"/>
                <a:ext cx="8755380" cy="4186236"/>
              </a:xfrm>
              <a:blipFill>
                <a:blip r:embed="rId3"/>
                <a:stretch>
                  <a:fillRect l="-2174" t="-242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7ADA5596-B63D-DA23-2377-B18361045430}"/>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87822B33-5736-C803-457F-41EA98CC87E2}"/>
              </a:ext>
            </a:extLst>
          </p:cNvPr>
          <p:cNvSpPr>
            <a:spLocks noGrp="1"/>
          </p:cNvSpPr>
          <p:nvPr>
            <p:ph type="sldNum" sz="quarter" idx="12"/>
          </p:nvPr>
        </p:nvSpPr>
        <p:spPr/>
        <p:txBody>
          <a:bodyPr/>
          <a:lstStyle/>
          <a:p>
            <a:fld id="{8A7A6979-0714-4377-B894-6BE4C2D6E202}" type="slidenum">
              <a:rPr lang="en-US" smtClean="0"/>
              <a:pPr/>
              <a:t>41</a:t>
            </a:fld>
            <a:endParaRPr lang="en-US" dirty="0"/>
          </a:p>
        </p:txBody>
      </p:sp>
    </p:spTree>
    <p:extLst>
      <p:ext uri="{BB962C8B-B14F-4D97-AF65-F5344CB8AC3E}">
        <p14:creationId xmlns:p14="http://schemas.microsoft.com/office/powerpoint/2010/main" val="2777642796"/>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87FAFA4-9B24-42E9-61DD-EFB7E12F91B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70B7E59-4F61-5B4D-87C4-62057C10A77F}"/>
              </a:ext>
            </a:extLst>
          </p:cNvPr>
          <p:cNvSpPr>
            <a:spLocks noGrp="1"/>
          </p:cNvSpPr>
          <p:nvPr>
            <p:ph type="ctrTitle"/>
          </p:nvPr>
        </p:nvSpPr>
        <p:spPr/>
        <p:txBody>
          <a:bodyPr/>
          <a:lstStyle/>
          <a:p>
            <a:r>
              <a:rPr lang="en-US" dirty="0"/>
              <a:t>Consumer-Only Profits</a:t>
            </a:r>
          </a:p>
        </p:txBody>
      </p:sp>
      <p:pic>
        <p:nvPicPr>
          <p:cNvPr id="3" name="Picture 2" descr="Line graph showing consumer profits as a concave curve peaking around a price of 45, highlighted by a vertical red line. The title indicates maximum consumer profit of approximately 2272.7.">
            <a:extLst>
              <a:ext uri="{FF2B5EF4-FFF2-40B4-BE49-F238E27FC236}">
                <a16:creationId xmlns:a16="http://schemas.microsoft.com/office/drawing/2014/main" id="{12319292-FA11-C16B-6A7B-1116FE91012D}"/>
              </a:ext>
            </a:extLst>
          </p:cNvPr>
          <p:cNvPicPr>
            <a:picLocks noChangeAspect="1"/>
          </p:cNvPicPr>
          <p:nvPr/>
        </p:nvPicPr>
        <p:blipFill>
          <a:blip r:embed="rId3"/>
          <a:stretch>
            <a:fillRect/>
          </a:stretch>
        </p:blipFill>
        <p:spPr>
          <a:xfrm>
            <a:off x="3601480" y="1559337"/>
            <a:ext cx="4989040" cy="3871495"/>
          </a:xfrm>
          <a:prstGeom prst="rect">
            <a:avLst/>
          </a:prstGeom>
        </p:spPr>
      </p:pic>
      <p:sp>
        <p:nvSpPr>
          <p:cNvPr id="5" name="Date Placeholder 4">
            <a:extLst>
              <a:ext uri="{FF2B5EF4-FFF2-40B4-BE49-F238E27FC236}">
                <a16:creationId xmlns:a16="http://schemas.microsoft.com/office/drawing/2014/main" id="{ED6E7A36-A691-A6A3-C327-68D49E08C8F3}"/>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F5E29017-9174-B792-4B80-99EE6D50A34A}"/>
              </a:ext>
            </a:extLst>
          </p:cNvPr>
          <p:cNvSpPr>
            <a:spLocks noGrp="1"/>
          </p:cNvSpPr>
          <p:nvPr>
            <p:ph type="sldNum" sz="quarter" idx="12"/>
          </p:nvPr>
        </p:nvSpPr>
        <p:spPr/>
        <p:txBody>
          <a:bodyPr/>
          <a:lstStyle/>
          <a:p>
            <a:fld id="{8A7A6979-0714-4377-B894-6BE4C2D6E202}" type="slidenum">
              <a:rPr lang="en-US" smtClean="0"/>
              <a:pPr/>
              <a:t>42</a:t>
            </a:fld>
            <a:endParaRPr lang="en-US" dirty="0"/>
          </a:p>
        </p:txBody>
      </p:sp>
    </p:spTree>
    <p:extLst>
      <p:ext uri="{BB962C8B-B14F-4D97-AF65-F5344CB8AC3E}">
        <p14:creationId xmlns:p14="http://schemas.microsoft.com/office/powerpoint/2010/main" val="39949147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B3778-F3BF-A6D8-12D8-DFF94FA64042}"/>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BF8D27A-C240-985D-FAF9-775E3C1270E6}"/>
              </a:ext>
            </a:extLst>
          </p:cNvPr>
          <p:cNvSpPr>
            <a:spLocks noGrp="1"/>
          </p:cNvSpPr>
          <p:nvPr>
            <p:ph type="ctrTitle"/>
          </p:nvPr>
        </p:nvSpPr>
        <p:spPr/>
        <p:txBody>
          <a:bodyPr/>
          <a:lstStyle/>
          <a:p>
            <a:r>
              <a:rPr lang="en-US" dirty="0"/>
              <a:t>Exercise: Treat Markets Independently, Continued</a:t>
            </a:r>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0569F84B-9D2E-20B2-2077-1FEFF531A2F4}"/>
                  </a:ext>
                </a:extLst>
              </p:cNvPr>
              <p:cNvSpPr>
                <a:spLocks noGrp="1"/>
              </p:cNvSpPr>
              <p:nvPr>
                <p:ph type="body" sz="quarter" idx="14"/>
              </p:nvPr>
            </p:nvSpPr>
            <p:spPr>
              <a:xfrm>
                <a:off x="1828800" y="1500189"/>
                <a:ext cx="8755380" cy="4186236"/>
              </a:xfrm>
            </p:spPr>
            <p:txBody>
              <a:bodyPr>
                <a:normAutofit/>
              </a:bodyPr>
              <a:lstStyle/>
              <a:p>
                <a:r>
                  <a:rPr lang="en-US" sz="2400" dirty="0"/>
                  <a:t>Optimal price for consumers alone solves is </a:t>
                </a:r>
                <a14:m>
                  <m:oMath xmlns:m="http://schemas.openxmlformats.org/officeDocument/2006/math">
                    <m:sSub>
                      <m:sSubPr>
                        <m:ctrlPr>
                          <a:rPr lang="en-US" sz="2400" b="0" i="1" dirty="0"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e>
                      <m:sub>
                        <m:r>
                          <a:rPr lang="en-US" sz="2400" b="0" i="1" dirty="0" smtClean="0">
                            <a:latin typeface="Cambria Math" panose="02040503050406030204" pitchFamily="18" charset="0"/>
                          </a:rPr>
                          <m:t>𝐶</m:t>
                        </m:r>
                      </m:sub>
                    </m:sSub>
                    <m:r>
                      <a:rPr lang="en-US" sz="2400" b="0" i="1" dirty="0" smtClean="0">
                        <a:latin typeface="Cambria Math" panose="02040503050406030204" pitchFamily="18" charset="0"/>
                      </a:rPr>
                      <m:t>≈45.5</m:t>
                    </m:r>
                  </m:oMath>
                </a14:m>
                <a:endParaRPr lang="en-US" sz="2400" dirty="0"/>
              </a:p>
              <a:p>
                <a:endParaRPr lang="en-US" sz="2400" dirty="0"/>
              </a:p>
              <a:p>
                <a:r>
                  <a:rPr lang="en-US" sz="2400" dirty="0"/>
                  <a:t>Now let’s calculate the optimal price for advertisers, treating the consumer side as fixed</a:t>
                </a:r>
              </a:p>
              <a:p>
                <a:pPr marL="0" indent="0">
                  <a:buNone/>
                </a:pPr>
                <a14:m>
                  <m:oMathPara xmlns:m="http://schemas.openxmlformats.org/officeDocument/2006/math">
                    <m:oMathParaPr>
                      <m:jc m:val="centerGroup"/>
                    </m:oMathParaPr>
                    <m:oMath xmlns:m="http://schemas.openxmlformats.org/officeDocument/2006/math">
                      <m:sSub>
                        <m:sSubPr>
                          <m:ctrlPr>
                            <a:rPr lang="en-US" sz="2400" b="0" i="1" dirty="0" smtClean="0">
                              <a:latin typeface="Cambria Math" panose="02040503050406030204" pitchFamily="18" charset="0"/>
                            </a:rPr>
                          </m:ctrlPr>
                        </m:sSubPr>
                        <m:e>
                          <m:acc>
                            <m:accPr>
                              <m:chr m:val="̃"/>
                              <m:ctrlPr>
                                <a:rPr lang="en-US" sz="2400" b="0" i="1" smtClean="0">
                                  <a:latin typeface="Cambria Math" panose="02040503050406030204" pitchFamily="18" charset="0"/>
                                </a:rPr>
                              </m:ctrlPr>
                            </m:accPr>
                            <m:e>
                              <m:r>
                                <a:rPr lang="en-US" sz="2400" b="0" i="1" smtClean="0">
                                  <a:latin typeface="Cambria Math" panose="02040503050406030204" pitchFamily="18" charset="0"/>
                                </a:rPr>
                                <m:t>𝑝</m:t>
                              </m:r>
                            </m:e>
                          </m:acc>
                        </m:e>
                        <m:sub>
                          <m:r>
                            <a:rPr lang="en-US" sz="2400" b="0" i="1" dirty="0" smtClean="0">
                              <a:latin typeface="Cambria Math" panose="02040503050406030204" pitchFamily="18" charset="0"/>
                            </a:rPr>
                            <m:t>𝐴</m:t>
                          </m:r>
                        </m:sub>
                      </m:sSub>
                      <m:r>
                        <a:rPr lang="en-US" sz="2400" b="0" i="1" dirty="0" smtClean="0">
                          <a:latin typeface="Cambria Math" panose="02040503050406030204" pitchFamily="18" charset="0"/>
                        </a:rPr>
                        <m:t>=</m:t>
                      </m:r>
                      <m:func>
                        <m:funcPr>
                          <m:ctrlPr>
                            <a:rPr lang="en-US" sz="2400" b="0" i="1" dirty="0" smtClean="0">
                              <a:latin typeface="Cambria Math" panose="02040503050406030204" pitchFamily="18" charset="0"/>
                            </a:rPr>
                          </m:ctrlPr>
                        </m:funcPr>
                        <m:fName>
                          <m:r>
                            <m:rPr>
                              <m:sty m:val="p"/>
                            </m:rPr>
                            <a:rPr lang="en-US" sz="2400" b="0" i="0" dirty="0" smtClean="0">
                              <a:latin typeface="Cambria Math" panose="02040503050406030204" pitchFamily="18" charset="0"/>
                            </a:rPr>
                            <m:t>arg</m:t>
                          </m:r>
                        </m:fName>
                        <m:e>
                          <m:func>
                            <m:funcPr>
                              <m:ctrlPr>
                                <a:rPr lang="en-US" sz="2400" b="0" i="1" dirty="0" smtClean="0">
                                  <a:latin typeface="Cambria Math" panose="02040503050406030204" pitchFamily="18" charset="0"/>
                                </a:rPr>
                              </m:ctrlPr>
                            </m:funcPr>
                            <m:fName>
                              <m:limLow>
                                <m:limLowPr>
                                  <m:ctrlPr>
                                    <a:rPr lang="en-US" sz="2400" b="0" i="1" dirty="0" smtClean="0">
                                      <a:latin typeface="Cambria Math" panose="02040503050406030204" pitchFamily="18" charset="0"/>
                                    </a:rPr>
                                  </m:ctrlPr>
                                </m:limLowPr>
                                <m:e>
                                  <m:r>
                                    <m:rPr>
                                      <m:sty m:val="p"/>
                                    </m:rPr>
                                    <a:rPr lang="en-US" sz="2400" b="0" i="0" dirty="0" smtClean="0">
                                      <a:latin typeface="Cambria Math" panose="02040503050406030204" pitchFamily="18" charset="0"/>
                                    </a:rPr>
                                    <m:t>max</m:t>
                                  </m:r>
                                </m:e>
                                <m:lim>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𝑃</m:t>
                                      </m:r>
                                    </m:e>
                                    <m:sub>
                                      <m:r>
                                        <a:rPr lang="en-US" sz="2400" b="0" i="1" dirty="0" smtClean="0">
                                          <a:latin typeface="Cambria Math" panose="02040503050406030204" pitchFamily="18" charset="0"/>
                                        </a:rPr>
                                        <m:t>𝐴</m:t>
                                      </m:r>
                                    </m:sub>
                                  </m:sSub>
                                </m:lim>
                              </m:limLow>
                            </m:fName>
                            <m:e>
                              <m:sSub>
                                <m:sSubPr>
                                  <m:ctrlPr>
                                    <a:rPr lang="en-US" sz="2400" b="0" i="1" dirty="0" smtClean="0">
                                      <a:latin typeface="Cambria Math" panose="02040503050406030204" pitchFamily="18" charset="0"/>
                                    </a:rPr>
                                  </m:ctrlPr>
                                </m:sSubPr>
                                <m:e>
                                  <m:r>
                                    <a:rPr lang="en-US" sz="2400" b="0" i="1" dirty="0" smtClean="0">
                                      <a:latin typeface="Cambria Math" panose="02040503050406030204" pitchFamily="18" charset="0"/>
                                    </a:rPr>
                                    <m:t>𝑃</m:t>
                                  </m:r>
                                </m:e>
                                <m:sub>
                                  <m:r>
                                    <a:rPr lang="en-US" sz="2400" b="0" i="1" dirty="0" smtClean="0">
                                      <a:latin typeface="Cambria Math" panose="02040503050406030204" pitchFamily="18" charset="0"/>
                                    </a:rPr>
                                    <m:t>𝐴</m:t>
                                  </m:r>
                                </m:sub>
                              </m:sSub>
                              <m:d>
                                <m:dPr>
                                  <m:ctrlPr>
                                    <a:rPr lang="en-US" sz="2400" b="0" i="1" dirty="0" smtClean="0">
                                      <a:latin typeface="Cambria Math" panose="02040503050406030204" pitchFamily="18" charset="0"/>
                                    </a:rPr>
                                  </m:ctrlPr>
                                </m:dPr>
                                <m:e>
                                  <m:r>
                                    <a:rPr lang="en-US" sz="2400" i="1">
                                      <a:latin typeface="Cambria Math" panose="02040503050406030204" pitchFamily="18" charset="0"/>
                                    </a:rPr>
                                    <m:t>𝛾</m:t>
                                  </m:r>
                                  <m:sSub>
                                    <m:sSubPr>
                                      <m:ctrlPr>
                                        <a:rPr lang="en-US" sz="2400" i="1">
                                          <a:latin typeface="Cambria Math" panose="02040503050406030204" pitchFamily="18" charset="0"/>
                                        </a:rPr>
                                      </m:ctrlPr>
                                    </m:sSubPr>
                                    <m:e>
                                      <m:r>
                                        <a:rPr lang="en-US" sz="2400" i="1">
                                          <a:latin typeface="Cambria Math" panose="02040503050406030204" pitchFamily="18" charset="0"/>
                                        </a:rPr>
                                        <m:t>𝑞</m:t>
                                      </m:r>
                                    </m:e>
                                    <m:sub>
                                      <m:r>
                                        <a:rPr lang="en-US" sz="2400" i="1">
                                          <a:latin typeface="Cambria Math" panose="02040503050406030204" pitchFamily="18" charset="0"/>
                                        </a:rPr>
                                        <m:t>𝐶</m:t>
                                      </m:r>
                                    </m:sub>
                                  </m:sSub>
                                  <m:d>
                                    <m:dPr>
                                      <m:ctrlPr>
                                        <a:rPr lang="en-US" sz="2400" i="1">
                                          <a:latin typeface="Cambria Math" panose="02040503050406030204" pitchFamily="18" charset="0"/>
                                        </a:rPr>
                                      </m:ctrlPr>
                                    </m:dPr>
                                    <m:e>
                                      <m:sSub>
                                        <m:sSubPr>
                                          <m:ctrlPr>
                                            <a:rPr lang="en-US" sz="2400" b="0" i="1" dirty="0" smtClean="0">
                                              <a:latin typeface="Cambria Math" panose="02040503050406030204" pitchFamily="18" charset="0"/>
                                            </a:rPr>
                                          </m:ctrlPr>
                                        </m:sSubPr>
                                        <m:e>
                                          <m:acc>
                                            <m:accPr>
                                              <m:chr m:val="̃"/>
                                              <m:ctrlPr>
                                                <a:rPr lang="en-US" sz="2400" b="0" i="1" dirty="0" smtClean="0">
                                                  <a:latin typeface="Cambria Math" panose="02040503050406030204" pitchFamily="18" charset="0"/>
                                                </a:rPr>
                                              </m:ctrlPr>
                                            </m:accPr>
                                            <m:e>
                                              <m:r>
                                                <a:rPr lang="en-US" sz="2400" b="0" i="1" dirty="0" smtClean="0">
                                                  <a:latin typeface="Cambria Math" panose="02040503050406030204" pitchFamily="18" charset="0"/>
                                                </a:rPr>
                                                <m:t>𝑝</m:t>
                                              </m:r>
                                            </m:e>
                                          </m:acc>
                                        </m:e>
                                        <m:sub>
                                          <m:r>
                                            <a:rPr lang="en-US" sz="2400" b="0" i="1" dirty="0" smtClean="0">
                                              <a:latin typeface="Cambria Math" panose="02040503050406030204" pitchFamily="18" charset="0"/>
                                            </a:rPr>
                                            <m:t>𝐶</m:t>
                                          </m:r>
                                        </m:sub>
                                      </m:sSub>
                                      <m:r>
                                        <a:rPr lang="en-US" sz="2400" i="1" smtClean="0">
                                          <a:latin typeface="Cambria Math" panose="02040503050406030204" pitchFamily="18" charset="0"/>
                                        </a:rPr>
                                        <m:t> </m:t>
                                      </m:r>
                                    </m:e>
                                  </m:d>
                                  <m:r>
                                    <a:rPr lang="en-US" sz="2400" i="1">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𝐴</m:t>
                                      </m:r>
                                    </m:sub>
                                  </m:sSub>
                                </m:e>
                              </m:d>
                            </m:e>
                          </m:func>
                        </m:e>
                      </m:func>
                    </m:oMath>
                  </m:oMathPara>
                </a14:m>
                <a:endParaRPr lang="en-US" sz="2400" dirty="0"/>
              </a:p>
              <a:p>
                <a:pPr marL="0" indent="0">
                  <a:buNone/>
                </a:pPr>
                <a:endParaRPr lang="en-US" sz="2400" dirty="0"/>
              </a:p>
              <a:p>
                <a:pPr marL="457200" indent="-457200">
                  <a:buFont typeface="+mj-lt"/>
                  <a:buAutoNum type="arabicPeriod"/>
                </a:pPr>
                <a:r>
                  <a:rPr lang="en-US" sz="2400" dirty="0"/>
                  <a:t>Calculate </a:t>
                </a:r>
                <a14:m>
                  <m:oMath xmlns:m="http://schemas.openxmlformats.org/officeDocument/2006/math">
                    <m:sSub>
                      <m:sSubPr>
                        <m:ctrlPr>
                          <a:rPr lang="en-US" sz="2400" i="1" smtClean="0">
                            <a:latin typeface="Cambria Math" panose="02040503050406030204" pitchFamily="18" charset="0"/>
                          </a:rPr>
                        </m:ctrlPr>
                      </m:sSubPr>
                      <m:e>
                        <m:r>
                          <a:rPr lang="en-US" sz="2400" i="1">
                            <a:latin typeface="Cambria Math" panose="02040503050406030204" pitchFamily="18" charset="0"/>
                          </a:rPr>
                          <m:t>𝑞</m:t>
                        </m:r>
                      </m:e>
                      <m:sub>
                        <m:r>
                          <a:rPr lang="en-US" sz="2400" i="1">
                            <a:latin typeface="Cambria Math" panose="02040503050406030204" pitchFamily="18" charset="0"/>
                          </a:rPr>
                          <m:t>𝐶</m:t>
                        </m:r>
                      </m:sub>
                    </m:sSub>
                    <m:d>
                      <m:dPr>
                        <m:ctrlPr>
                          <a:rPr lang="en-US" sz="2400" i="1">
                            <a:latin typeface="Cambria Math" panose="02040503050406030204" pitchFamily="18" charset="0"/>
                          </a:rPr>
                        </m:ctrlPr>
                      </m:dPr>
                      <m:e>
                        <m:sSub>
                          <m:sSubPr>
                            <m:ctrlPr>
                              <a:rPr lang="en-US" sz="2400" b="0" i="1" dirty="0" smtClean="0">
                                <a:latin typeface="Cambria Math" panose="02040503050406030204" pitchFamily="18" charset="0"/>
                              </a:rPr>
                            </m:ctrlPr>
                          </m:sSubPr>
                          <m:e>
                            <m:acc>
                              <m:accPr>
                                <m:chr m:val="̃"/>
                                <m:ctrlPr>
                                  <a:rPr lang="en-US" sz="2400" b="0" i="1" dirty="0" smtClean="0">
                                    <a:latin typeface="Cambria Math" panose="02040503050406030204" pitchFamily="18" charset="0"/>
                                  </a:rPr>
                                </m:ctrlPr>
                              </m:accPr>
                              <m:e>
                                <m:r>
                                  <a:rPr lang="en-US" sz="2400" b="0" i="1" dirty="0" smtClean="0">
                                    <a:latin typeface="Cambria Math" panose="02040503050406030204" pitchFamily="18" charset="0"/>
                                  </a:rPr>
                                  <m:t>𝑝</m:t>
                                </m:r>
                              </m:e>
                            </m:acc>
                          </m:e>
                          <m:sub>
                            <m:r>
                              <a:rPr lang="en-US" sz="2400" b="0" i="1" dirty="0" smtClean="0">
                                <a:latin typeface="Cambria Math" panose="02040503050406030204" pitchFamily="18" charset="0"/>
                              </a:rPr>
                              <m:t>𝐶</m:t>
                            </m:r>
                          </m:sub>
                        </m:sSub>
                        <m:r>
                          <a:rPr lang="en-US" sz="2400" i="1" smtClean="0">
                            <a:latin typeface="Cambria Math" panose="02040503050406030204" pitchFamily="18" charset="0"/>
                          </a:rPr>
                          <m:t> </m:t>
                        </m:r>
                      </m:e>
                    </m:d>
                  </m:oMath>
                </a14:m>
                <a:endParaRPr lang="en-US" sz="2400" dirty="0"/>
              </a:p>
              <a:p>
                <a:pPr marL="457200" indent="-457200">
                  <a:buFont typeface="+mj-lt"/>
                  <a:buAutoNum type="arabicPeriod"/>
                </a:pPr>
                <a:r>
                  <a:rPr lang="en-US" sz="2400" dirty="0"/>
                  <a:t>Solve for optimal </a:t>
                </a:r>
                <a14:m>
                  <m:oMath xmlns:m="http://schemas.openxmlformats.org/officeDocument/2006/math">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𝐴</m:t>
                        </m:r>
                      </m:sub>
                    </m:sSub>
                  </m:oMath>
                </a14:m>
                <a:endParaRPr lang="en-US" sz="2400" dirty="0"/>
              </a:p>
              <a:p>
                <a:pPr marL="0" indent="0">
                  <a:buNone/>
                </a:pPr>
                <a:endParaRPr lang="en-US" sz="2400" dirty="0"/>
              </a:p>
            </p:txBody>
          </p:sp>
        </mc:Choice>
        <mc:Fallback xmlns="">
          <p:sp>
            <p:nvSpPr>
              <p:cNvPr id="4" name="Text Placeholder 3">
                <a:extLst>
                  <a:ext uri="{FF2B5EF4-FFF2-40B4-BE49-F238E27FC236}">
                    <a16:creationId xmlns:a16="http://schemas.microsoft.com/office/drawing/2014/main" id="{0569F84B-9D2E-20B2-2077-1FEFF531A2F4}"/>
                  </a:ext>
                </a:extLst>
              </p:cNvPr>
              <p:cNvSpPr>
                <a:spLocks noGrp="1" noRot="1" noChangeAspect="1" noMove="1" noResize="1" noEditPoints="1" noAdjustHandles="1" noChangeArrowheads="1" noChangeShapeType="1" noTextEdit="1"/>
              </p:cNvSpPr>
              <p:nvPr>
                <p:ph type="body" sz="quarter" idx="14"/>
              </p:nvPr>
            </p:nvSpPr>
            <p:spPr>
              <a:xfrm>
                <a:off x="1828800" y="1500189"/>
                <a:ext cx="8755380" cy="4186236"/>
              </a:xfrm>
              <a:blipFill>
                <a:blip r:embed="rId3"/>
                <a:stretch>
                  <a:fillRect l="-2029" t="-2424"/>
                </a:stretch>
              </a:blipFill>
            </p:spPr>
            <p:txBody>
              <a:bodyPr/>
              <a:lstStyle/>
              <a:p>
                <a:r>
                  <a:rPr lang="en-US">
                    <a:noFill/>
                  </a:rPr>
                  <a:t> </a:t>
                </a:r>
              </a:p>
            </p:txBody>
          </p:sp>
        </mc:Fallback>
      </mc:AlternateContent>
      <p:sp>
        <p:nvSpPr>
          <p:cNvPr id="5" name="Date Placeholder 4">
            <a:extLst>
              <a:ext uri="{FF2B5EF4-FFF2-40B4-BE49-F238E27FC236}">
                <a16:creationId xmlns:a16="http://schemas.microsoft.com/office/drawing/2014/main" id="{5865188B-D829-6E4A-5F39-6580C5D5FE10}"/>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1AA27B61-4A98-B174-D5FD-55246D99975C}"/>
              </a:ext>
            </a:extLst>
          </p:cNvPr>
          <p:cNvSpPr>
            <a:spLocks noGrp="1"/>
          </p:cNvSpPr>
          <p:nvPr>
            <p:ph type="sldNum" sz="quarter" idx="12"/>
          </p:nvPr>
        </p:nvSpPr>
        <p:spPr/>
        <p:txBody>
          <a:bodyPr/>
          <a:lstStyle/>
          <a:p>
            <a:fld id="{8A7A6979-0714-4377-B894-6BE4C2D6E202}" type="slidenum">
              <a:rPr lang="en-US" smtClean="0"/>
              <a:pPr/>
              <a:t>43</a:t>
            </a:fld>
            <a:endParaRPr lang="en-US" dirty="0"/>
          </a:p>
        </p:txBody>
      </p:sp>
    </p:spTree>
    <p:extLst>
      <p:ext uri="{BB962C8B-B14F-4D97-AF65-F5344CB8AC3E}">
        <p14:creationId xmlns:p14="http://schemas.microsoft.com/office/powerpoint/2010/main" val="2152448052"/>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E4C985B-DB0F-4C04-B11B-0815CFD9DE0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3D1226B-4845-D921-D42D-D85BB2FEC3BB}"/>
              </a:ext>
            </a:extLst>
          </p:cNvPr>
          <p:cNvSpPr>
            <a:spLocks noGrp="1"/>
          </p:cNvSpPr>
          <p:nvPr>
            <p:ph type="ctrTitle"/>
          </p:nvPr>
        </p:nvSpPr>
        <p:spPr/>
        <p:txBody>
          <a:bodyPr/>
          <a:lstStyle/>
          <a:p>
            <a:r>
              <a:rPr lang="en-US" dirty="0"/>
              <a:t>Advertiser-Only Profits</a:t>
            </a:r>
          </a:p>
        </p:txBody>
      </p:sp>
      <p:pic>
        <p:nvPicPr>
          <p:cNvPr id="3" name="Picture 2" descr="Line graph of consumer profits forming an inverted U-shape, peaking at approximately 2272.7 when price is around 45, marked by a vertical red line.">
            <a:extLst>
              <a:ext uri="{FF2B5EF4-FFF2-40B4-BE49-F238E27FC236}">
                <a16:creationId xmlns:a16="http://schemas.microsoft.com/office/drawing/2014/main" id="{66B101D8-4591-1D29-48EB-0B553D1AF193}"/>
              </a:ext>
            </a:extLst>
          </p:cNvPr>
          <p:cNvPicPr>
            <a:picLocks noChangeAspect="1"/>
          </p:cNvPicPr>
          <p:nvPr/>
        </p:nvPicPr>
        <p:blipFill>
          <a:blip r:embed="rId3"/>
          <a:stretch>
            <a:fillRect/>
          </a:stretch>
        </p:blipFill>
        <p:spPr>
          <a:xfrm>
            <a:off x="1477212" y="1532494"/>
            <a:ext cx="4989040" cy="3871495"/>
          </a:xfrm>
          <a:prstGeom prst="rect">
            <a:avLst/>
          </a:prstGeom>
        </p:spPr>
      </p:pic>
      <p:pic>
        <p:nvPicPr>
          <p:cNvPr id="8" name="Picture 7" descr="Line graph of advertiser profits forming an inverted U-shape, peaking at approximately 625 when price is around 25–30, marked by a vertical red line.">
            <a:extLst>
              <a:ext uri="{FF2B5EF4-FFF2-40B4-BE49-F238E27FC236}">
                <a16:creationId xmlns:a16="http://schemas.microsoft.com/office/drawing/2014/main" id="{36A266CB-5C8E-17A2-16DC-3EFBC0F67270}"/>
              </a:ext>
            </a:extLst>
          </p:cNvPr>
          <p:cNvPicPr>
            <a:picLocks noChangeAspect="1"/>
          </p:cNvPicPr>
          <p:nvPr/>
        </p:nvPicPr>
        <p:blipFill>
          <a:blip r:embed="rId4"/>
          <a:stretch>
            <a:fillRect/>
          </a:stretch>
        </p:blipFill>
        <p:spPr>
          <a:xfrm>
            <a:off x="6538441" y="1595481"/>
            <a:ext cx="5131021" cy="3871495"/>
          </a:xfrm>
          <a:prstGeom prst="rect">
            <a:avLst/>
          </a:prstGeom>
        </p:spPr>
      </p:pic>
      <p:sp>
        <p:nvSpPr>
          <p:cNvPr id="5" name="Date Placeholder 4">
            <a:extLst>
              <a:ext uri="{FF2B5EF4-FFF2-40B4-BE49-F238E27FC236}">
                <a16:creationId xmlns:a16="http://schemas.microsoft.com/office/drawing/2014/main" id="{4971EA34-E265-E020-3106-936467D261D6}"/>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6F44837C-545F-E60C-98A9-E0260B5CDA8E}"/>
              </a:ext>
            </a:extLst>
          </p:cNvPr>
          <p:cNvSpPr>
            <a:spLocks noGrp="1"/>
          </p:cNvSpPr>
          <p:nvPr>
            <p:ph type="sldNum" sz="quarter" idx="12"/>
          </p:nvPr>
        </p:nvSpPr>
        <p:spPr/>
        <p:txBody>
          <a:bodyPr/>
          <a:lstStyle/>
          <a:p>
            <a:fld id="{8A7A6979-0714-4377-B894-6BE4C2D6E202}" type="slidenum">
              <a:rPr lang="en-US" smtClean="0"/>
              <a:pPr/>
              <a:t>44</a:t>
            </a:fld>
            <a:endParaRPr lang="en-US" dirty="0"/>
          </a:p>
        </p:txBody>
      </p:sp>
    </p:spTree>
    <p:extLst>
      <p:ext uri="{BB962C8B-B14F-4D97-AF65-F5344CB8AC3E}">
        <p14:creationId xmlns:p14="http://schemas.microsoft.com/office/powerpoint/2010/main" val="377181217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FB166C-06B6-D718-375F-4B73171B68D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5EE0B85-2EA8-1D7F-E66C-EB2D18B0DD48}"/>
              </a:ext>
            </a:extLst>
          </p:cNvPr>
          <p:cNvSpPr>
            <a:spLocks noGrp="1"/>
          </p:cNvSpPr>
          <p:nvPr>
            <p:ph type="ctrTitle"/>
          </p:nvPr>
        </p:nvSpPr>
        <p:spPr/>
        <p:txBody>
          <a:bodyPr/>
          <a:lstStyle/>
          <a:p>
            <a:r>
              <a:rPr lang="en-US" dirty="0"/>
              <a:t>Now Let’s Jointly Optimize</a:t>
            </a:r>
          </a:p>
        </p:txBody>
      </p:sp>
      <p:sp>
        <p:nvSpPr>
          <p:cNvPr id="5" name="Date Placeholder 4">
            <a:extLst>
              <a:ext uri="{FF2B5EF4-FFF2-40B4-BE49-F238E27FC236}">
                <a16:creationId xmlns:a16="http://schemas.microsoft.com/office/drawing/2014/main" id="{510F506B-A6F6-2056-1F39-4A5747F97D93}"/>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2817CFDB-CA67-EDCD-40BF-A1B267059E70}"/>
              </a:ext>
            </a:extLst>
          </p:cNvPr>
          <p:cNvSpPr>
            <a:spLocks noGrp="1"/>
          </p:cNvSpPr>
          <p:nvPr>
            <p:ph type="sldNum" sz="quarter" idx="12"/>
          </p:nvPr>
        </p:nvSpPr>
        <p:spPr/>
        <p:txBody>
          <a:bodyPr/>
          <a:lstStyle/>
          <a:p>
            <a:fld id="{8A7A6979-0714-4377-B894-6BE4C2D6E202}" type="slidenum">
              <a:rPr lang="en-US" smtClean="0"/>
              <a:pPr/>
              <a:t>45</a:t>
            </a:fld>
            <a:endParaRPr lang="en-US" dirty="0"/>
          </a:p>
        </p:txBody>
      </p:sp>
      <mc:AlternateContent xmlns:mc="http://schemas.openxmlformats.org/markup-compatibility/2006" xmlns:a14="http://schemas.microsoft.com/office/drawing/2010/main">
        <mc:Choice Requires="a14">
          <p:sp>
            <p:nvSpPr>
              <p:cNvPr id="4" name="Text Placeholder 3">
                <a:extLst>
                  <a:ext uri="{FF2B5EF4-FFF2-40B4-BE49-F238E27FC236}">
                    <a16:creationId xmlns:a16="http://schemas.microsoft.com/office/drawing/2014/main" id="{C5E9DC26-770C-A197-CB02-786B684D03D1}"/>
                  </a:ext>
                </a:extLst>
              </p:cNvPr>
              <p:cNvSpPr>
                <a:spLocks noGrp="1"/>
              </p:cNvSpPr>
              <p:nvPr>
                <p:ph type="body" sz="quarter" idx="14"/>
              </p:nvPr>
            </p:nvSpPr>
            <p:spPr>
              <a:xfrm>
                <a:off x="1828800" y="1500189"/>
                <a:ext cx="8755380" cy="4186236"/>
              </a:xfrm>
            </p:spPr>
            <p:txBody>
              <a:bodyPr>
                <a:normAutofit lnSpcReduction="10000"/>
              </a:bodyPr>
              <a:lstStyle/>
              <a:p>
                <a:r>
                  <a:rPr lang="en-US" sz="2400" dirty="0"/>
                  <a:t>Want to solve for the consumer and advertiser prices that maximize total profits:</a:t>
                </a:r>
              </a:p>
              <a:p>
                <a:pPr marL="0" indent="0">
                  <a:buNone/>
                </a:pPr>
                <a14:m>
                  <m:oMathPara xmlns:m="http://schemas.openxmlformats.org/officeDocument/2006/math">
                    <m:oMathParaPr>
                      <m:jc m:val="centerGroup"/>
                    </m:oMathParaPr>
                    <m:oMath xmlns:m="http://schemas.openxmlformats.org/officeDocument/2006/math">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𝑃</m:t>
                          </m:r>
                        </m:e>
                        <m:sub>
                          <m:r>
                            <a:rPr lang="en-US" sz="2400" b="0" i="1" smtClean="0">
                              <a:latin typeface="Cambria Math" panose="02040503050406030204" pitchFamily="18" charset="0"/>
                            </a:rPr>
                            <m:t>𝐴</m:t>
                          </m:r>
                        </m:sub>
                        <m:sup>
                          <m:r>
                            <a:rPr lang="en-US" sz="2400" b="0" i="1" smtClean="0">
                              <a:latin typeface="Cambria Math" panose="02040503050406030204" pitchFamily="18" charset="0"/>
                            </a:rPr>
                            <m:t>∗</m:t>
                          </m:r>
                        </m:sup>
                      </m:sSubSup>
                      <m:r>
                        <a:rPr lang="en-US" sz="2400" b="0" i="1" smtClean="0">
                          <a:latin typeface="Cambria Math" panose="02040503050406030204" pitchFamily="18" charset="0"/>
                        </a:rPr>
                        <m:t>,</m:t>
                      </m:r>
                      <m:sSubSup>
                        <m:sSubSupPr>
                          <m:ctrlPr>
                            <a:rPr lang="en-US" sz="2400" b="0" i="1" smtClean="0">
                              <a:latin typeface="Cambria Math" panose="02040503050406030204" pitchFamily="18" charset="0"/>
                            </a:rPr>
                          </m:ctrlPr>
                        </m:sSubSupPr>
                        <m:e>
                          <m:r>
                            <a:rPr lang="en-US" sz="2400" b="0" i="1" smtClean="0">
                              <a:latin typeface="Cambria Math" panose="02040503050406030204" pitchFamily="18" charset="0"/>
                            </a:rPr>
                            <m:t>𝑃</m:t>
                          </m:r>
                        </m:e>
                        <m:sub>
                          <m:r>
                            <a:rPr lang="en-US" sz="2400" b="0" i="1" smtClean="0">
                              <a:latin typeface="Cambria Math" panose="02040503050406030204" pitchFamily="18" charset="0"/>
                            </a:rPr>
                            <m:t>𝐶</m:t>
                          </m:r>
                        </m:sub>
                        <m:sup>
                          <m:r>
                            <a:rPr lang="en-US" sz="2400" b="0" i="1" smtClean="0">
                              <a:latin typeface="Cambria Math" panose="02040503050406030204" pitchFamily="18" charset="0"/>
                            </a:rPr>
                            <m:t>∗</m:t>
                          </m:r>
                        </m:sup>
                      </m:sSubSup>
                      <m:r>
                        <a:rPr lang="en-US" sz="2400" b="0" i="1" smtClean="0">
                          <a:latin typeface="Cambria Math" panose="02040503050406030204" pitchFamily="18" charset="0"/>
                        </a:rPr>
                        <m:t>=</m:t>
                      </m:r>
                      <m:func>
                        <m:funcPr>
                          <m:ctrlPr>
                            <a:rPr lang="en-US" sz="2400" b="0" i="1" smtClean="0">
                              <a:latin typeface="Cambria Math" panose="02040503050406030204" pitchFamily="18" charset="0"/>
                            </a:rPr>
                          </m:ctrlPr>
                        </m:funcPr>
                        <m:fName>
                          <m:r>
                            <m:rPr>
                              <m:sty m:val="p"/>
                            </m:rPr>
                            <a:rPr lang="en-US" sz="2400" b="0" i="0" smtClean="0">
                              <a:latin typeface="Cambria Math" panose="02040503050406030204" pitchFamily="18" charset="0"/>
                            </a:rPr>
                            <m:t>arg</m:t>
                          </m:r>
                        </m:fName>
                        <m:e>
                          <m:func>
                            <m:funcPr>
                              <m:ctrlPr>
                                <a:rPr lang="en-US" sz="2400" b="0" i="1" smtClean="0">
                                  <a:latin typeface="Cambria Math" panose="02040503050406030204" pitchFamily="18" charset="0"/>
                                </a:rPr>
                              </m:ctrlPr>
                            </m:funcPr>
                            <m:fName>
                              <m:limLow>
                                <m:limLowPr>
                                  <m:ctrlPr>
                                    <a:rPr lang="en-US" sz="2400" b="0" i="1" smtClean="0">
                                      <a:latin typeface="Cambria Math" panose="02040503050406030204" pitchFamily="18" charset="0"/>
                                    </a:rPr>
                                  </m:ctrlPr>
                                </m:limLowPr>
                                <m:e>
                                  <m:r>
                                    <m:rPr>
                                      <m:sty m:val="p"/>
                                    </m:rPr>
                                    <a:rPr lang="en-US" sz="2400" b="0" i="0" smtClean="0">
                                      <a:latin typeface="Cambria Math" panose="02040503050406030204" pitchFamily="18" charset="0"/>
                                    </a:rPr>
                                    <m:t>max</m:t>
                                  </m:r>
                                </m:e>
                                <m:lim>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𝐴</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𝐶</m:t>
                                      </m:r>
                                    </m:sub>
                                  </m:sSub>
                                </m:lim>
                              </m:limLow>
                            </m:fName>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𝐴</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𝑞</m:t>
                                  </m:r>
                                </m:e>
                                <m:sub>
                                  <m:r>
                                    <a:rPr lang="en-US" sz="2400" b="0" i="1" smtClean="0">
                                      <a:latin typeface="Cambria Math" panose="02040503050406030204" pitchFamily="18" charset="0"/>
                                    </a:rPr>
                                    <m:t>𝐴</m:t>
                                  </m:r>
                                </m:sub>
                              </m:sSub>
                              <m:d>
                                <m:dPr>
                                  <m:ctrlPr>
                                    <a:rPr lang="en-US" sz="2400" b="0" i="1" smtClean="0">
                                      <a:latin typeface="Cambria Math" panose="02040503050406030204" pitchFamily="18" charset="0"/>
                                    </a:rPr>
                                  </m:ctrlPr>
                                </m:dPr>
                                <m:e>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𝐴</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𝐶</m:t>
                                      </m:r>
                                    </m:sub>
                                  </m:sSub>
                                </m:e>
                              </m:d>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𝐶</m:t>
                                  </m:r>
                                </m:sub>
                              </m:sSub>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𝑞</m:t>
                                  </m:r>
                                </m:e>
                                <m:sub>
                                  <m:r>
                                    <a:rPr lang="en-US" sz="2400" b="0" i="1" smtClean="0">
                                      <a:latin typeface="Cambria Math" panose="02040503050406030204" pitchFamily="18" charset="0"/>
                                    </a:rPr>
                                    <m:t>𝐶</m:t>
                                  </m:r>
                                </m:sub>
                              </m:sSub>
                              <m:r>
                                <a:rPr lang="en-US" sz="2400" b="0" i="1" smtClean="0">
                                  <a:latin typeface="Cambria Math" panose="02040503050406030204" pitchFamily="18" charset="0"/>
                                </a:rPr>
                                <m:t>(</m:t>
                              </m:r>
                              <m:sSub>
                                <m:sSubPr>
                                  <m:ctrlPr>
                                    <a:rPr lang="en-US" sz="2400" b="0" i="1" smtClean="0">
                                      <a:latin typeface="Cambria Math" panose="02040503050406030204" pitchFamily="18" charset="0"/>
                                    </a:rPr>
                                  </m:ctrlPr>
                                </m:sSubPr>
                                <m:e>
                                  <m:r>
                                    <a:rPr lang="en-US" sz="2400" b="0" i="1" smtClean="0">
                                      <a:latin typeface="Cambria Math" panose="02040503050406030204" pitchFamily="18" charset="0"/>
                                    </a:rPr>
                                    <m:t>𝑃</m:t>
                                  </m:r>
                                </m:e>
                                <m:sub>
                                  <m:r>
                                    <a:rPr lang="en-US" sz="2400" b="0" i="1" smtClean="0">
                                      <a:latin typeface="Cambria Math" panose="02040503050406030204" pitchFamily="18" charset="0"/>
                                    </a:rPr>
                                    <m:t>𝐶</m:t>
                                  </m:r>
                                </m:sub>
                              </m:sSub>
                              <m:r>
                                <a:rPr lang="en-US" sz="2400" b="0" i="1" smtClean="0">
                                  <a:latin typeface="Cambria Math" panose="02040503050406030204" pitchFamily="18" charset="0"/>
                                </a:rPr>
                                <m:t>)</m:t>
                              </m:r>
                            </m:e>
                          </m:func>
                        </m:e>
                      </m:func>
                    </m:oMath>
                  </m:oMathPara>
                </a14:m>
                <a:endParaRPr lang="en-US" sz="2400" dirty="0"/>
              </a:p>
              <a:p>
                <a:pPr marL="0" indent="0">
                  <a:buNone/>
                </a:pPr>
                <a:r>
                  <a:rPr lang="en-US" sz="2400" dirty="0"/>
                  <a:t> </a:t>
                </a:r>
              </a:p>
              <a:p>
                <a:r>
                  <a:rPr lang="en-US" sz="2400" dirty="0"/>
                  <a:t>Write a function that calculates total profit as a function of prices</a:t>
                </a:r>
              </a:p>
              <a:p>
                <a:pPr lvl="1"/>
                <a:r>
                  <a:rPr lang="en-US" sz="2400" dirty="0"/>
                  <a:t>Helpful to break this down into sub-functions that calculate quantity for each side of the market</a:t>
                </a:r>
              </a:p>
              <a:p>
                <a:endParaRPr lang="en-US" sz="2400" dirty="0"/>
              </a:p>
              <a:p>
                <a:r>
                  <a:rPr lang="en-US" sz="2400" dirty="0"/>
                  <a:t>Try different values to see what maximizes profit</a:t>
                </a:r>
              </a:p>
              <a:p>
                <a:pPr lvl="1"/>
                <a:r>
                  <a:rPr lang="en-US" sz="2400" dirty="0"/>
                  <a:t>Optimal prices treating each market as independent are good place to start</a:t>
                </a:r>
              </a:p>
              <a:p>
                <a:pPr marL="0" indent="0">
                  <a:buNone/>
                </a:pPr>
                <a:endParaRPr lang="en-US" sz="2400" dirty="0"/>
              </a:p>
            </p:txBody>
          </p:sp>
        </mc:Choice>
        <mc:Fallback xmlns="">
          <p:sp>
            <p:nvSpPr>
              <p:cNvPr id="4" name="Text Placeholder 3">
                <a:extLst>
                  <a:ext uri="{FF2B5EF4-FFF2-40B4-BE49-F238E27FC236}">
                    <a16:creationId xmlns:a16="http://schemas.microsoft.com/office/drawing/2014/main" id="{C5E9DC26-770C-A197-CB02-786B684D03D1}"/>
                  </a:ext>
                </a:extLst>
              </p:cNvPr>
              <p:cNvSpPr>
                <a:spLocks noGrp="1" noRot="1" noChangeAspect="1" noMove="1" noResize="1" noEditPoints="1" noAdjustHandles="1" noChangeArrowheads="1" noChangeShapeType="1" noTextEdit="1"/>
              </p:cNvSpPr>
              <p:nvPr>
                <p:ph type="body" sz="quarter" idx="14"/>
              </p:nvPr>
            </p:nvSpPr>
            <p:spPr>
              <a:xfrm>
                <a:off x="1828800" y="1500189"/>
                <a:ext cx="8755380" cy="4186236"/>
              </a:xfrm>
              <a:blipFill>
                <a:blip r:embed="rId3"/>
                <a:stretch>
                  <a:fillRect l="-2029" t="-3333" r="-145" b="-2121"/>
                </a:stretch>
              </a:blipFill>
            </p:spPr>
            <p:txBody>
              <a:bodyPr/>
              <a:lstStyle/>
              <a:p>
                <a:r>
                  <a:rPr lang="en-US">
                    <a:noFill/>
                  </a:rPr>
                  <a:t> </a:t>
                </a:r>
              </a:p>
            </p:txBody>
          </p:sp>
        </mc:Fallback>
      </mc:AlternateContent>
    </p:spTree>
    <p:extLst>
      <p:ext uri="{BB962C8B-B14F-4D97-AF65-F5344CB8AC3E}">
        <p14:creationId xmlns:p14="http://schemas.microsoft.com/office/powerpoint/2010/main" val="355141971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xEl>
                                              <p:pRg st="3" end="3"/>
                                            </p:txEl>
                                          </p:spTgt>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4">
                                            <p:txEl>
                                              <p:pRg st="4" end="4"/>
                                            </p:txEl>
                                          </p:spTgt>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4">
                                            <p:txEl>
                                              <p:pRg st="6" end="6"/>
                                            </p:txEl>
                                          </p:spTgt>
                                        </p:tgtEl>
                                        <p:attrNameLst>
                                          <p:attrName>style.visibility</p:attrName>
                                        </p:attrNameLst>
                                      </p:cBhvr>
                                      <p:to>
                                        <p:strVal val="visible"/>
                                      </p:to>
                                    </p:set>
                                  </p:childTnLst>
                                </p:cTn>
                              </p:par>
                              <p:par>
                                <p:cTn id="13" presetID="1" presetClass="entr" presetSubtype="0" fill="hold" nodeType="withEffect">
                                  <p:stCondLst>
                                    <p:cond delay="0"/>
                                  </p:stCondLst>
                                  <p:childTnLst>
                                    <p:set>
                                      <p:cBhvr>
                                        <p:cTn id="14" dur="1" fill="hold">
                                          <p:stCondLst>
                                            <p:cond delay="0"/>
                                          </p:stCondLst>
                                        </p:cTn>
                                        <p:tgtEl>
                                          <p:spTgt spid="4">
                                            <p:txEl>
                                              <p:pRg st="7" end="7"/>
                                            </p:txEl>
                                          </p:spTgt>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287029-FB50-3593-22DF-C8ACB45CE3E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C6886F0-A270-A631-3868-5D610C56B7DD}"/>
              </a:ext>
            </a:extLst>
          </p:cNvPr>
          <p:cNvSpPr>
            <a:spLocks noGrp="1"/>
          </p:cNvSpPr>
          <p:nvPr>
            <p:ph type="ctrTitle"/>
          </p:nvPr>
        </p:nvSpPr>
        <p:spPr/>
        <p:txBody>
          <a:bodyPr/>
          <a:lstStyle/>
          <a:p>
            <a:r>
              <a:rPr lang="en-US" dirty="0"/>
              <a:t>Now Let’s Jointly Optimize, Continued</a:t>
            </a:r>
          </a:p>
        </p:txBody>
      </p:sp>
      <p:grpSp>
        <p:nvGrpSpPr>
          <p:cNvPr id="3" name="Group 2" descr="Heatmap of total profits across consumer and advertiser price combinations, with two star markers highlighting specific price pairs in the high-profit region.">
            <a:extLst>
              <a:ext uri="{FF2B5EF4-FFF2-40B4-BE49-F238E27FC236}">
                <a16:creationId xmlns:a16="http://schemas.microsoft.com/office/drawing/2014/main" id="{32A344FF-78F9-32AD-9B08-380C646D71EA}"/>
              </a:ext>
            </a:extLst>
          </p:cNvPr>
          <p:cNvGrpSpPr/>
          <p:nvPr/>
        </p:nvGrpSpPr>
        <p:grpSpPr>
          <a:xfrm>
            <a:off x="3802948" y="1643374"/>
            <a:ext cx="5069960" cy="4014470"/>
            <a:chOff x="3802948" y="1643374"/>
            <a:chExt cx="5069960" cy="4014470"/>
          </a:xfrm>
        </p:grpSpPr>
        <p:pic>
          <p:nvPicPr>
            <p:cNvPr id="8" name="Picture 7">
              <a:extLst>
                <a:ext uri="{FF2B5EF4-FFF2-40B4-BE49-F238E27FC236}">
                  <a16:creationId xmlns:a16="http://schemas.microsoft.com/office/drawing/2014/main" id="{39167235-5A70-F70D-492A-48FD166778B2}"/>
                </a:ext>
              </a:extLst>
            </p:cNvPr>
            <p:cNvPicPr>
              <a:picLocks noChangeAspect="1"/>
            </p:cNvPicPr>
            <p:nvPr/>
          </p:nvPicPr>
          <p:blipFill>
            <a:blip r:embed="rId3"/>
            <a:stretch>
              <a:fillRect/>
            </a:stretch>
          </p:blipFill>
          <p:spPr>
            <a:xfrm>
              <a:off x="3802948" y="1643374"/>
              <a:ext cx="5069960" cy="4014470"/>
            </a:xfrm>
            <a:prstGeom prst="rect">
              <a:avLst/>
            </a:prstGeom>
          </p:spPr>
        </p:pic>
        <p:sp>
          <p:nvSpPr>
            <p:cNvPr id="9" name="5-Point Star 8">
              <a:extLst>
                <a:ext uri="{FF2B5EF4-FFF2-40B4-BE49-F238E27FC236}">
                  <a16:creationId xmlns:a16="http://schemas.microsoft.com/office/drawing/2014/main" id="{B790C488-E428-281F-978D-4CA87D3875A6}"/>
                </a:ext>
              </a:extLst>
            </p:cNvPr>
            <p:cNvSpPr/>
            <p:nvPr/>
          </p:nvSpPr>
          <p:spPr>
            <a:xfrm>
              <a:off x="7382382" y="2799352"/>
              <a:ext cx="342900" cy="45720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5-Point Star 9">
              <a:extLst>
                <a:ext uri="{FF2B5EF4-FFF2-40B4-BE49-F238E27FC236}">
                  <a16:creationId xmlns:a16="http://schemas.microsoft.com/office/drawing/2014/main" id="{AAFE3C92-FAEB-6B16-9661-3DCA7DF0FBE3}"/>
                </a:ext>
              </a:extLst>
            </p:cNvPr>
            <p:cNvSpPr/>
            <p:nvPr/>
          </p:nvSpPr>
          <p:spPr>
            <a:xfrm>
              <a:off x="5924550" y="3429000"/>
              <a:ext cx="342900" cy="457200"/>
            </a:xfrm>
            <a:prstGeom prst="star5">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5" name="Date Placeholder 4">
            <a:extLst>
              <a:ext uri="{FF2B5EF4-FFF2-40B4-BE49-F238E27FC236}">
                <a16:creationId xmlns:a16="http://schemas.microsoft.com/office/drawing/2014/main" id="{BBFBE64B-6F26-2814-16EE-FE693120286D}"/>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AEE949E1-ED27-D7B2-56B0-AD24FE8A92F6}"/>
              </a:ext>
            </a:extLst>
          </p:cNvPr>
          <p:cNvSpPr>
            <a:spLocks noGrp="1"/>
          </p:cNvSpPr>
          <p:nvPr>
            <p:ph type="sldNum" sz="quarter" idx="12"/>
          </p:nvPr>
        </p:nvSpPr>
        <p:spPr/>
        <p:txBody>
          <a:bodyPr/>
          <a:lstStyle/>
          <a:p>
            <a:fld id="{8A7A6979-0714-4377-B894-6BE4C2D6E202}" type="slidenum">
              <a:rPr lang="en-US" smtClean="0"/>
              <a:pPr/>
              <a:t>46</a:t>
            </a:fld>
            <a:endParaRPr lang="en-US" dirty="0"/>
          </a:p>
        </p:txBody>
      </p:sp>
    </p:spTree>
    <p:extLst>
      <p:ext uri="{BB962C8B-B14F-4D97-AF65-F5344CB8AC3E}">
        <p14:creationId xmlns:p14="http://schemas.microsoft.com/office/powerpoint/2010/main" val="3164137238"/>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094A61-D757-9290-CFB2-FDAE25F3D1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A6FC6-FC60-02A4-229A-2ED6867FDDF6}"/>
              </a:ext>
            </a:extLst>
          </p:cNvPr>
          <p:cNvSpPr>
            <a:spLocks noGrp="1"/>
          </p:cNvSpPr>
          <p:nvPr>
            <p:ph type="ctrTitle"/>
          </p:nvPr>
        </p:nvSpPr>
        <p:spPr/>
        <p:txBody>
          <a:bodyPr/>
          <a:lstStyle/>
          <a:p>
            <a:r>
              <a:rPr lang="en-US" dirty="0"/>
              <a:t>Takeaways</a:t>
            </a:r>
          </a:p>
        </p:txBody>
      </p:sp>
      <p:sp>
        <p:nvSpPr>
          <p:cNvPr id="4" name="Text Placeholder 3">
            <a:extLst>
              <a:ext uri="{FF2B5EF4-FFF2-40B4-BE49-F238E27FC236}">
                <a16:creationId xmlns:a16="http://schemas.microsoft.com/office/drawing/2014/main" id="{4EF6E1DC-1213-4D73-FF3B-C9631A42727F}"/>
              </a:ext>
            </a:extLst>
          </p:cNvPr>
          <p:cNvSpPr>
            <a:spLocks noGrp="1"/>
          </p:cNvSpPr>
          <p:nvPr>
            <p:ph type="body" sz="quarter" idx="14"/>
          </p:nvPr>
        </p:nvSpPr>
        <p:spPr>
          <a:xfrm>
            <a:off x="1828800" y="1500189"/>
            <a:ext cx="8755380" cy="4186236"/>
          </a:xfrm>
        </p:spPr>
        <p:txBody>
          <a:bodyPr>
            <a:normAutofit fontScale="92500" lnSpcReduction="20000"/>
          </a:bodyPr>
          <a:lstStyle/>
          <a:p>
            <a:r>
              <a:rPr lang="en-US" sz="2400" dirty="0"/>
              <a:t>Network effects from consumers to advertisers </a:t>
            </a:r>
          </a:p>
          <a:p>
            <a:pPr lvl="1"/>
            <a:r>
              <a:rPr lang="en-US" sz="2400" dirty="0"/>
              <a:t>Subsidize consumers to encourage participation</a:t>
            </a:r>
          </a:p>
          <a:p>
            <a:pPr lvl="1"/>
            <a:r>
              <a:rPr lang="en-US" sz="2400" dirty="0"/>
              <a:t>Raise prices on advertisers to extract value</a:t>
            </a:r>
          </a:p>
          <a:p>
            <a:pPr lvl="1"/>
            <a:endParaRPr lang="en-US" sz="2400" dirty="0"/>
          </a:p>
          <a:p>
            <a:r>
              <a:rPr lang="en-US" sz="2400" dirty="0"/>
              <a:t>More generally:</a:t>
            </a:r>
          </a:p>
          <a:p>
            <a:pPr lvl="1"/>
            <a:r>
              <a:rPr lang="en-US" sz="2400" dirty="0"/>
              <a:t>Subsidize side that is (1) price elastic and (2) provides more positive network effects</a:t>
            </a:r>
          </a:p>
          <a:p>
            <a:endParaRPr lang="en-US" sz="2400" dirty="0"/>
          </a:p>
          <a:p>
            <a:r>
              <a:rPr lang="en-US" sz="2400" dirty="0"/>
              <a:t>Examples:</a:t>
            </a:r>
          </a:p>
          <a:p>
            <a:pPr lvl="1"/>
            <a:r>
              <a:rPr lang="en-US" sz="2400" dirty="0"/>
              <a:t>Social media, search, TV</a:t>
            </a:r>
          </a:p>
          <a:p>
            <a:endParaRPr lang="en-US" sz="2400" dirty="0"/>
          </a:p>
          <a:p>
            <a:r>
              <a:rPr lang="en-US" sz="2400" dirty="0"/>
              <a:t>If network effect large enough, can be optimal to charge 0 or negative price!</a:t>
            </a:r>
          </a:p>
          <a:p>
            <a:endParaRPr lang="en-US" sz="2400" dirty="0"/>
          </a:p>
          <a:p>
            <a:endParaRPr lang="en-US" sz="2400" dirty="0"/>
          </a:p>
        </p:txBody>
      </p:sp>
      <p:sp>
        <p:nvSpPr>
          <p:cNvPr id="5" name="Date Placeholder 4">
            <a:extLst>
              <a:ext uri="{FF2B5EF4-FFF2-40B4-BE49-F238E27FC236}">
                <a16:creationId xmlns:a16="http://schemas.microsoft.com/office/drawing/2014/main" id="{B056C850-A932-1C76-7ED4-51F67C305441}"/>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F7FF7962-949A-E556-A4AD-805096814680}"/>
              </a:ext>
            </a:extLst>
          </p:cNvPr>
          <p:cNvSpPr>
            <a:spLocks noGrp="1"/>
          </p:cNvSpPr>
          <p:nvPr>
            <p:ph type="sldNum" sz="quarter" idx="12"/>
          </p:nvPr>
        </p:nvSpPr>
        <p:spPr/>
        <p:txBody>
          <a:bodyPr/>
          <a:lstStyle/>
          <a:p>
            <a:fld id="{8A7A6979-0714-4377-B894-6BE4C2D6E202}" type="slidenum">
              <a:rPr lang="en-US" smtClean="0"/>
              <a:pPr/>
              <a:t>47</a:t>
            </a:fld>
            <a:endParaRPr lang="en-US" dirty="0"/>
          </a:p>
        </p:txBody>
      </p:sp>
    </p:spTree>
    <p:extLst>
      <p:ext uri="{BB962C8B-B14F-4D97-AF65-F5344CB8AC3E}">
        <p14:creationId xmlns:p14="http://schemas.microsoft.com/office/powerpoint/2010/main" val="192881899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F64770-3861-8E4D-74CD-821520C3FB61}"/>
            </a:ext>
          </a:extLst>
        </p:cNvPr>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2" name="Title 1">
                <a:extLst>
                  <a:ext uri="{FF2B5EF4-FFF2-40B4-BE49-F238E27FC236}">
                    <a16:creationId xmlns:a16="http://schemas.microsoft.com/office/drawing/2014/main" id="{C3498E56-4DC1-CBD4-30DA-7EDA32B22015}"/>
                  </a:ext>
                </a:extLst>
              </p:cNvPr>
              <p:cNvSpPr>
                <a:spLocks noGrp="1"/>
              </p:cNvSpPr>
              <p:nvPr>
                <p:ph type="ctrTitle"/>
              </p:nvPr>
            </p:nvSpPr>
            <p:spPr/>
            <p:txBody>
              <a:bodyPr/>
              <a:lstStyle/>
              <a:p>
                <a:r>
                  <a:rPr lang="en-US" dirty="0"/>
                  <a:t>What Happens If </a:t>
                </a:r>
                <a14:m>
                  <m:oMath xmlns:m="http://schemas.openxmlformats.org/officeDocument/2006/math">
                    <m:r>
                      <a:rPr lang="en-US" b="1" i="1" smtClean="0">
                        <a:latin typeface="Cambria Math" panose="02040503050406030204" pitchFamily="18" charset="0"/>
                      </a:rPr>
                      <m:t>𝜸</m:t>
                    </m:r>
                    <m:r>
                      <a:rPr lang="en-US" b="1" i="1" smtClean="0">
                        <a:latin typeface="Cambria Math" panose="02040503050406030204" pitchFamily="18" charset="0"/>
                      </a:rPr>
                      <m:t>=</m:t>
                    </m:r>
                    <m:r>
                      <a:rPr lang="en-US" b="1" i="1" smtClean="0">
                        <a:latin typeface="Cambria Math" panose="02040503050406030204" pitchFamily="18" charset="0"/>
                      </a:rPr>
                      <m:t>𝟏</m:t>
                    </m:r>
                    <m:r>
                      <a:rPr lang="en-US" b="1" i="1" smtClean="0">
                        <a:latin typeface="Cambria Math" panose="02040503050406030204" pitchFamily="18" charset="0"/>
                      </a:rPr>
                      <m:t>.</m:t>
                    </m:r>
                    <m:r>
                      <a:rPr lang="en-US" b="1" i="1" smtClean="0">
                        <a:latin typeface="Cambria Math" panose="02040503050406030204" pitchFamily="18" charset="0"/>
                      </a:rPr>
                      <m:t>𝟒</m:t>
                    </m:r>
                  </m:oMath>
                </a14:m>
                <a:r>
                  <a:rPr lang="en-US" dirty="0"/>
                  <a:t>?</a:t>
                </a:r>
              </a:p>
            </p:txBody>
          </p:sp>
        </mc:Choice>
        <mc:Fallback xmlns="">
          <p:sp>
            <p:nvSpPr>
              <p:cNvPr id="2" name="Title 1">
                <a:extLst>
                  <a:ext uri="{FF2B5EF4-FFF2-40B4-BE49-F238E27FC236}">
                    <a16:creationId xmlns:a16="http://schemas.microsoft.com/office/drawing/2014/main" id="{C3498E56-4DC1-CBD4-30DA-7EDA32B22015}"/>
                  </a:ext>
                </a:extLst>
              </p:cNvPr>
              <p:cNvSpPr>
                <a:spLocks noGrp="1" noRot="1" noChangeAspect="1" noMove="1" noResize="1" noEditPoints="1" noAdjustHandles="1" noChangeArrowheads="1" noChangeShapeType="1" noTextEdit="1"/>
              </p:cNvSpPr>
              <p:nvPr>
                <p:ph type="ctrTitle"/>
              </p:nvPr>
            </p:nvSpPr>
            <p:spPr>
              <a:blipFill>
                <a:blip r:embed="rId3"/>
                <a:stretch>
                  <a:fillRect l="-2385" t="-37037" b="-55556"/>
                </a:stretch>
              </a:blipFill>
            </p:spPr>
            <p:txBody>
              <a:bodyPr/>
              <a:lstStyle/>
              <a:p>
                <a:r>
                  <a:rPr lang="en-US">
                    <a:noFill/>
                  </a:rPr>
                  <a:t> </a:t>
                </a:r>
              </a:p>
            </p:txBody>
          </p:sp>
        </mc:Fallback>
      </mc:AlternateContent>
      <p:pic>
        <p:nvPicPr>
          <p:cNvPr id="8" name="Picture 7" descr="Line graph showing optimal consumer price declining as the parameter γ increases, eventually dropping below zero near γ = 1.4.">
            <a:extLst>
              <a:ext uri="{FF2B5EF4-FFF2-40B4-BE49-F238E27FC236}">
                <a16:creationId xmlns:a16="http://schemas.microsoft.com/office/drawing/2014/main" id="{F87CE775-532B-D4AA-FF13-49A0063EBAD1}"/>
              </a:ext>
            </a:extLst>
          </p:cNvPr>
          <p:cNvPicPr>
            <a:picLocks noChangeAspect="1"/>
          </p:cNvPicPr>
          <p:nvPr/>
        </p:nvPicPr>
        <p:blipFill>
          <a:blip r:embed="rId4"/>
          <a:stretch>
            <a:fillRect/>
          </a:stretch>
        </p:blipFill>
        <p:spPr>
          <a:xfrm>
            <a:off x="1651491" y="1545071"/>
            <a:ext cx="5170080" cy="3880161"/>
          </a:xfrm>
          <a:prstGeom prst="rect">
            <a:avLst/>
          </a:prstGeom>
        </p:spPr>
      </p:pic>
      <p:pic>
        <p:nvPicPr>
          <p:cNvPr id="9" name="Picture 8" descr="Microsoft Rewards promotional image featuring a laptop, smartphone, and Xbox controller on a blue-themed background, with text inviting users to sign in to earn reward points.">
            <a:extLst>
              <a:ext uri="{FF2B5EF4-FFF2-40B4-BE49-F238E27FC236}">
                <a16:creationId xmlns:a16="http://schemas.microsoft.com/office/drawing/2014/main" id="{10F67034-C6CA-B6C6-5E11-42CED99FF83E}"/>
              </a:ext>
            </a:extLst>
          </p:cNvPr>
          <p:cNvPicPr>
            <a:picLocks noChangeAspect="1"/>
          </p:cNvPicPr>
          <p:nvPr/>
        </p:nvPicPr>
        <p:blipFill>
          <a:blip r:embed="rId5"/>
          <a:stretch>
            <a:fillRect/>
          </a:stretch>
        </p:blipFill>
        <p:spPr>
          <a:xfrm>
            <a:off x="6583591" y="958694"/>
            <a:ext cx="5571980" cy="4940611"/>
          </a:xfrm>
          <a:prstGeom prst="rect">
            <a:avLst/>
          </a:prstGeom>
        </p:spPr>
      </p:pic>
      <p:sp>
        <p:nvSpPr>
          <p:cNvPr id="5" name="Date Placeholder 4">
            <a:extLst>
              <a:ext uri="{FF2B5EF4-FFF2-40B4-BE49-F238E27FC236}">
                <a16:creationId xmlns:a16="http://schemas.microsoft.com/office/drawing/2014/main" id="{E73639D0-D65A-987E-69C3-CED359CB3133}"/>
              </a:ext>
            </a:extLst>
          </p:cNvPr>
          <p:cNvSpPr>
            <a:spLocks noGrp="1"/>
          </p:cNvSpPr>
          <p:nvPr>
            <p:ph type="dt" sz="half" idx="10"/>
          </p:nvPr>
        </p:nvSpPr>
        <p:spPr/>
        <p:txBody>
          <a:bodyPr/>
          <a:lstStyle/>
          <a:p>
            <a:fld id="{D47A9A36-4EB0-BF46-AE48-7CDA251B954B}" type="datetime1">
              <a:rPr lang="en-US" smtClean="0"/>
              <a:t>11/17/2025</a:t>
            </a:fld>
            <a:endParaRPr lang="en-US" dirty="0"/>
          </a:p>
        </p:txBody>
      </p:sp>
      <p:sp>
        <p:nvSpPr>
          <p:cNvPr id="6" name="Slide Number Placeholder 5">
            <a:extLst>
              <a:ext uri="{FF2B5EF4-FFF2-40B4-BE49-F238E27FC236}">
                <a16:creationId xmlns:a16="http://schemas.microsoft.com/office/drawing/2014/main" id="{656C0005-35F9-6326-5CDC-B063059017A8}"/>
              </a:ext>
            </a:extLst>
          </p:cNvPr>
          <p:cNvSpPr>
            <a:spLocks noGrp="1"/>
          </p:cNvSpPr>
          <p:nvPr>
            <p:ph type="sldNum" sz="quarter" idx="12"/>
          </p:nvPr>
        </p:nvSpPr>
        <p:spPr/>
        <p:txBody>
          <a:bodyPr/>
          <a:lstStyle/>
          <a:p>
            <a:fld id="{8A7A6979-0714-4377-B894-6BE4C2D6E202}" type="slidenum">
              <a:rPr lang="en-US" smtClean="0"/>
              <a:pPr/>
              <a:t>48</a:t>
            </a:fld>
            <a:endParaRPr lang="en-US" dirty="0"/>
          </a:p>
        </p:txBody>
      </p:sp>
    </p:spTree>
    <p:extLst>
      <p:ext uri="{BB962C8B-B14F-4D97-AF65-F5344CB8AC3E}">
        <p14:creationId xmlns:p14="http://schemas.microsoft.com/office/powerpoint/2010/main" val="31060229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EB87CF-60C6-AED7-1061-A5DC30B85E6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796D9B1-3546-C792-0B9D-93D73E4F55BB}"/>
              </a:ext>
            </a:extLst>
          </p:cNvPr>
          <p:cNvSpPr>
            <a:spLocks noGrp="1"/>
          </p:cNvSpPr>
          <p:nvPr>
            <p:ph type="ctrTitle"/>
          </p:nvPr>
        </p:nvSpPr>
        <p:spPr>
          <a:xfrm>
            <a:off x="2647199" y="1501742"/>
            <a:ext cx="7300940" cy="664797"/>
          </a:xfrm>
        </p:spPr>
        <p:txBody>
          <a:bodyPr/>
          <a:lstStyle/>
          <a:p>
            <a:r>
              <a:rPr lang="en-US" dirty="0"/>
              <a:t>Questions</a:t>
            </a:r>
          </a:p>
        </p:txBody>
      </p:sp>
      <p:sp>
        <p:nvSpPr>
          <p:cNvPr id="4" name="Date Placeholder 3">
            <a:extLst>
              <a:ext uri="{FF2B5EF4-FFF2-40B4-BE49-F238E27FC236}">
                <a16:creationId xmlns:a16="http://schemas.microsoft.com/office/drawing/2014/main" id="{7EE5531E-BD54-B717-5AE8-53C8C0E4954D}"/>
              </a:ext>
            </a:extLst>
          </p:cNvPr>
          <p:cNvSpPr>
            <a:spLocks noGrp="1"/>
          </p:cNvSpPr>
          <p:nvPr>
            <p:ph type="dt" sz="half" idx="10"/>
          </p:nvPr>
        </p:nvSpPr>
        <p:spPr/>
        <p:txBody>
          <a:bodyPr/>
          <a:lstStyle/>
          <a:p>
            <a:fld id="{D47A9A36-4EB0-BF46-AE48-7CDA251B954B}" type="datetime1">
              <a:rPr lang="en-US" smtClean="0"/>
              <a:pPr/>
              <a:t>11/17/2025</a:t>
            </a:fld>
            <a:endParaRPr lang="en-US" dirty="0"/>
          </a:p>
        </p:txBody>
      </p:sp>
      <p:sp>
        <p:nvSpPr>
          <p:cNvPr id="5" name="Slide Number Placeholder 4">
            <a:extLst>
              <a:ext uri="{FF2B5EF4-FFF2-40B4-BE49-F238E27FC236}">
                <a16:creationId xmlns:a16="http://schemas.microsoft.com/office/drawing/2014/main" id="{1170862B-FF7E-0516-2678-204EEBF81403}"/>
              </a:ext>
            </a:extLst>
          </p:cNvPr>
          <p:cNvSpPr>
            <a:spLocks noGrp="1"/>
          </p:cNvSpPr>
          <p:nvPr>
            <p:ph type="sldNum" sz="quarter" idx="12"/>
          </p:nvPr>
        </p:nvSpPr>
        <p:spPr/>
        <p:txBody>
          <a:bodyPr/>
          <a:lstStyle/>
          <a:p>
            <a:fld id="{8A7A6979-0714-4377-B894-6BE4C2D6E202}" type="slidenum">
              <a:rPr lang="en-US" smtClean="0"/>
              <a:pPr/>
              <a:t>49</a:t>
            </a:fld>
            <a:endParaRPr lang="en-US" dirty="0"/>
          </a:p>
        </p:txBody>
      </p:sp>
    </p:spTree>
    <p:extLst>
      <p:ext uri="{BB962C8B-B14F-4D97-AF65-F5344CB8AC3E}">
        <p14:creationId xmlns:p14="http://schemas.microsoft.com/office/powerpoint/2010/main" val="3607647773"/>
      </p:ext>
    </p:extLst>
  </p:cSld>
  <p:clrMapOvr>
    <a:masterClrMapping/>
  </p:clrMapOvr>
</p:sld>
</file>

<file path=ppt/theme/theme1.xml><?xml version="1.0" encoding="utf-8"?>
<a:theme xmlns:a="http://schemas.openxmlformats.org/drawingml/2006/main" name="Purdue2">
  <a:themeElements>
    <a:clrScheme name="PurdueColors">
      <a:dk1>
        <a:srgbClr val="000000"/>
      </a:dk1>
      <a:lt1>
        <a:srgbClr val="000000"/>
      </a:lt1>
      <a:dk2>
        <a:srgbClr val="C4BFC0"/>
      </a:dk2>
      <a:lt2>
        <a:srgbClr val="C9B991"/>
      </a:lt2>
      <a:accent1>
        <a:srgbClr val="8E6F3E"/>
      </a:accent1>
      <a:accent2>
        <a:srgbClr val="555960"/>
      </a:accent2>
      <a:accent3>
        <a:srgbClr val="C9B991"/>
      </a:accent3>
      <a:accent4>
        <a:srgbClr val="FFFFFF"/>
      </a:accent4>
      <a:accent5>
        <a:srgbClr val="000000"/>
      </a:accent5>
      <a:accent6>
        <a:srgbClr val="555960"/>
      </a:accent6>
      <a:hlink>
        <a:srgbClr val="000000"/>
      </a:hlink>
      <a:folHlink>
        <a:srgbClr val="555960"/>
      </a:folHlink>
    </a:clrScheme>
    <a:fontScheme name="Franklin Gothic">
      <a:majorFont>
        <a:latin typeface="Franklin Gothic Medium" panose="020B0603020102020204"/>
        <a:ea typeface=""/>
        <a:cs typeface=""/>
        <a:font script="Jpan" typeface="HG創英角ｺﾞｼｯｸUB"/>
        <a:font script="Hang" typeface="돋움"/>
        <a:font script="Hans" typeface="隶书"/>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ajorFont>
      <a:minorFont>
        <a:latin typeface="Franklin Gothic Book" panose="020B0503020102020204"/>
        <a:ea typeface=""/>
        <a:cs typeface=""/>
        <a:font script="Jpan" typeface="HGｺﾞｼｯｸE"/>
        <a:font script="Hang" typeface="돋움"/>
        <a:font script="Hans" typeface="华文楷体"/>
        <a:font script="Hant" typeface="微軟正黑體"/>
        <a:font script="Arab" typeface="Tahoma"/>
        <a:font script="Hebr" typeface="Aharoni"/>
        <a:font script="Thai" typeface="Lily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inorFont>
    </a:fontScheme>
    <a:fmtScheme name="Parcel">
      <a:fillStyleLst>
        <a:solidFill>
          <a:schemeClr val="phClr"/>
        </a:solidFill>
        <a:gradFill rotWithShape="1">
          <a:gsLst>
            <a:gs pos="0">
              <a:schemeClr val="phClr">
                <a:tint val="80000"/>
                <a:satMod val="107000"/>
                <a:lumMod val="103000"/>
              </a:schemeClr>
            </a:gs>
            <a:gs pos="100000">
              <a:schemeClr val="phClr">
                <a:tint val="82000"/>
                <a:satMod val="109000"/>
                <a:lumMod val="103000"/>
              </a:schemeClr>
            </a:gs>
          </a:gsLst>
          <a:lin ang="5400000" scaled="0"/>
        </a:gradFill>
        <a:gradFill rotWithShape="1">
          <a:gsLst>
            <a:gs pos="0">
              <a:schemeClr val="phClr">
                <a:tint val="97000"/>
                <a:satMod val="100000"/>
                <a:lumMod val="102000"/>
              </a:schemeClr>
            </a:gs>
            <a:gs pos="50000">
              <a:schemeClr val="phClr">
                <a:shade val="100000"/>
                <a:satMod val="103000"/>
                <a:lumMod val="100000"/>
              </a:schemeClr>
            </a:gs>
            <a:gs pos="100000">
              <a:schemeClr val="phClr">
                <a:shade val="93000"/>
                <a:satMod val="110000"/>
                <a:lumMod val="99000"/>
              </a:schemeClr>
            </a:gs>
          </a:gsLst>
          <a:lin ang="5400000" scaled="0"/>
        </a:gradFill>
      </a:fillStyleLst>
      <a:lnStyleLst>
        <a:ln w="6350" cap="flat" cmpd="sng" algn="ctr">
          <a:solidFill>
            <a:schemeClr val="phClr"/>
          </a:solidFill>
          <a:prstDash val="solid"/>
        </a:ln>
        <a:ln w="12700" cap="flat" cmpd="sng" algn="ctr">
          <a:solidFill>
            <a:schemeClr val="phClr"/>
          </a:solidFill>
          <a:prstDash val="solid"/>
        </a:ln>
        <a:ln w="31750" cap="flat" cmpd="sng" algn="ctr">
          <a:solidFill>
            <a:schemeClr val="phClr"/>
          </a:solidFill>
          <a:prstDash val="solid"/>
        </a:ln>
      </a:lnStyleLst>
      <a:effectStyleLst>
        <a:effectStyle>
          <a:effectLst/>
        </a:effectStyle>
        <a:effectStyle>
          <a:effectLst/>
        </a:effectStyle>
        <a:effectStyle>
          <a:effectLst>
            <a:outerShdw blurRad="55880" dist="15240" dir="5400000" algn="ctr" rotWithShape="0">
              <a:srgbClr val="000000">
                <a:alpha val="45000"/>
              </a:srgbClr>
            </a:outerShdw>
          </a:effectLst>
          <a:scene3d>
            <a:camera prst="orthographicFront">
              <a:rot lat="0" lon="0" rev="0"/>
            </a:camera>
            <a:lightRig rig="brightRoom" dir="tl"/>
          </a:scene3d>
          <a:sp3d prstMaterial="dkEdge">
            <a:bevelT w="0" h="0"/>
          </a:sp3d>
        </a:effectStyle>
      </a:effectStyleLst>
      <a:bgFillStyleLst>
        <a:solidFill>
          <a:schemeClr val="phClr"/>
        </a:solidFill>
        <a:solidFill>
          <a:schemeClr val="phClr">
            <a:tint val="95000"/>
            <a:satMod val="170000"/>
          </a:schemeClr>
        </a:solidFill>
        <a:gradFill rotWithShape="1">
          <a:gsLst>
            <a:gs pos="0">
              <a:schemeClr val="phClr">
                <a:tint val="97000"/>
                <a:shade val="100000"/>
                <a:satMod val="185000"/>
                <a:lumMod val="120000"/>
              </a:schemeClr>
            </a:gs>
            <a:gs pos="100000">
              <a:schemeClr val="phClr">
                <a:tint val="96000"/>
                <a:shade val="95000"/>
                <a:satMod val="215000"/>
                <a:lumMod val="80000"/>
              </a:schemeClr>
            </a:gs>
          </a:gsLst>
          <a:path path="circle">
            <a:fillToRect l="50000" t="55000" r="125000" b="100000"/>
          </a:path>
        </a:gradFill>
      </a:bgFillStyleLst>
    </a:fmtScheme>
  </a:themeElements>
  <a:objectDefaults/>
  <a:extraClrSchemeLst/>
  <a:extLst>
    <a:ext uri="{05A4C25C-085E-4340-85A3-A5531E510DB2}">
      <thm15:themeFamily xmlns:thm15="http://schemas.microsoft.com/office/thememl/2012/main" name="Presentation1" id="{C3331F77-FEA5-BF47-A3F4-E4829FE02237}" vid="{60263B1E-E418-7448-9383-F855BEE649A2}"/>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Purdue2</Template>
  <TotalTime>25382</TotalTime>
  <Words>1900</Words>
  <Application>Microsoft Office PowerPoint</Application>
  <PresentationFormat>Widescreen</PresentationFormat>
  <Paragraphs>461</Paragraphs>
  <Slides>49</Slides>
  <Notes>48</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49</vt:i4>
      </vt:variant>
    </vt:vector>
  </HeadingPairs>
  <TitlesOfParts>
    <vt:vector size="61" baseType="lpstr">
      <vt:lpstr>Impact</vt:lpstr>
      <vt:lpstr>Acumin Pro</vt:lpstr>
      <vt:lpstr>Franklin Gothic Demi</vt:lpstr>
      <vt:lpstr>Arial</vt:lpstr>
      <vt:lpstr>Franklin Gothic Book</vt:lpstr>
      <vt:lpstr>Cambria Math</vt:lpstr>
      <vt:lpstr>Calibri</vt:lpstr>
      <vt:lpstr>Franklin Gothic Medium</vt:lpstr>
      <vt:lpstr>Wingdings</vt:lpstr>
      <vt:lpstr>Times New Roman</vt:lpstr>
      <vt:lpstr>United Sans Rg Md</vt:lpstr>
      <vt:lpstr>Purdue2</vt:lpstr>
      <vt:lpstr>Digital product design</vt:lpstr>
      <vt:lpstr>Outline</vt:lpstr>
      <vt:lpstr>Pricing Review</vt:lpstr>
      <vt:lpstr>Pricing Strategies</vt:lpstr>
      <vt:lpstr>Value Based Pricing</vt:lpstr>
      <vt:lpstr>Pricing with a Demand Curve</vt:lpstr>
      <vt:lpstr>Price Elasticity is a Key Quantity</vt:lpstr>
      <vt:lpstr>Using Data to Segment Customers</vt:lpstr>
      <vt:lpstr>Bundling</vt:lpstr>
      <vt:lpstr>Motivation for studying platforms</vt:lpstr>
      <vt:lpstr>Platforms</vt:lpstr>
      <vt:lpstr>Platform Companies Are Ubiquitous in Economy</vt:lpstr>
      <vt:lpstr>Why Platforms Often Win</vt:lpstr>
      <vt:lpstr>Network Effects</vt:lpstr>
      <vt:lpstr>Network Effects: Positive and Negative</vt:lpstr>
      <vt:lpstr>Two-Sided Network Effects</vt:lpstr>
      <vt:lpstr>Demand Economies of Scale</vt:lpstr>
      <vt:lpstr>Metcalfe’s Law</vt:lpstr>
      <vt:lpstr>A Model of Network Effects</vt:lpstr>
      <vt:lpstr>Network Markets: History Matters</vt:lpstr>
      <vt:lpstr>Network Markets: History Matters, Part 2</vt:lpstr>
      <vt:lpstr>Network Markets: History Matters, Part 3</vt:lpstr>
      <vt:lpstr>Network Markets: History Matters, Part 4</vt:lpstr>
      <vt:lpstr>Network Markets: Beliefs Matter + Multiple Equilibria</vt:lpstr>
      <vt:lpstr>Network Markets: Compatibility Matters</vt:lpstr>
      <vt:lpstr>Tradeoff: Openness vs Control</vt:lpstr>
      <vt:lpstr>Platform strategy – Launch &amp; GTM</vt:lpstr>
      <vt:lpstr>Launching Platforms</vt:lpstr>
      <vt:lpstr>Viral Growth</vt:lpstr>
      <vt:lpstr>PayPal</vt:lpstr>
      <vt:lpstr>Start as a Non-Platform Business</vt:lpstr>
      <vt:lpstr>Single-Side Strategy</vt:lpstr>
      <vt:lpstr>Piggyback Strategy</vt:lpstr>
      <vt:lpstr>Seeding Strategy</vt:lpstr>
      <vt:lpstr>Marquee Strategy</vt:lpstr>
      <vt:lpstr>Big-Bang Strategy</vt:lpstr>
      <vt:lpstr>Micro-Market Strategy</vt:lpstr>
      <vt:lpstr>Platform strategy – Monetization</vt:lpstr>
      <vt:lpstr>How to Monetize</vt:lpstr>
      <vt:lpstr>Exercise: Who to Monetize &amp; What to Charge</vt:lpstr>
      <vt:lpstr>Exercise: Treat Markets Independently</vt:lpstr>
      <vt:lpstr>Consumer-Only Profits</vt:lpstr>
      <vt:lpstr>Exercise: Treat Markets Independently, Continued</vt:lpstr>
      <vt:lpstr>Advertiser-Only Profits</vt:lpstr>
      <vt:lpstr>Now Let’s Jointly Optimize</vt:lpstr>
      <vt:lpstr>Now Let’s Jointly Optimize, Continued</vt:lpstr>
      <vt:lpstr>Takeaways</vt:lpstr>
      <vt:lpstr>What Happens If γ=1.4?</vt:lpstr>
      <vt:lpstr>Questions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Alex Vernon Moehring</dc:creator>
  <cp:lastModifiedBy>Liz Benson</cp:lastModifiedBy>
  <cp:revision>2517</cp:revision>
  <dcterms:created xsi:type="dcterms:W3CDTF">2024-07-15T17:50:06Z</dcterms:created>
  <dcterms:modified xsi:type="dcterms:W3CDTF">2025-11-17T17:02:41Z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MSIP_Label_4044bd30-2ed7-4c9d-9d12-46200872a97b_Enabled">
    <vt:lpwstr>true</vt:lpwstr>
  </property>
  <property fmtid="{D5CDD505-2E9C-101B-9397-08002B2CF9AE}" pid="3" name="MSIP_Label_4044bd30-2ed7-4c9d-9d12-46200872a97b_SetDate">
    <vt:lpwstr>2023-02-01T19:33:41Z</vt:lpwstr>
  </property>
  <property fmtid="{D5CDD505-2E9C-101B-9397-08002B2CF9AE}" pid="4" name="MSIP_Label_4044bd30-2ed7-4c9d-9d12-46200872a97b_Method">
    <vt:lpwstr>Standard</vt:lpwstr>
  </property>
  <property fmtid="{D5CDD505-2E9C-101B-9397-08002B2CF9AE}" pid="5" name="MSIP_Label_4044bd30-2ed7-4c9d-9d12-46200872a97b_Name">
    <vt:lpwstr>defa4170-0d19-0005-0004-bc88714345d2</vt:lpwstr>
  </property>
  <property fmtid="{D5CDD505-2E9C-101B-9397-08002B2CF9AE}" pid="6" name="MSIP_Label_4044bd30-2ed7-4c9d-9d12-46200872a97b_SiteId">
    <vt:lpwstr>4130bd39-7c53-419c-b1e5-8758d6d63f21</vt:lpwstr>
  </property>
  <property fmtid="{D5CDD505-2E9C-101B-9397-08002B2CF9AE}" pid="7" name="MSIP_Label_4044bd30-2ed7-4c9d-9d12-46200872a97b_ActionId">
    <vt:lpwstr>1fcd283c-6b68-4694-bc56-c77c15714632</vt:lpwstr>
  </property>
  <property fmtid="{D5CDD505-2E9C-101B-9397-08002B2CF9AE}" pid="8" name="MSIP_Label_4044bd30-2ed7-4c9d-9d12-46200872a97b_ContentBits">
    <vt:lpwstr>0</vt:lpwstr>
  </property>
</Properties>
</file>