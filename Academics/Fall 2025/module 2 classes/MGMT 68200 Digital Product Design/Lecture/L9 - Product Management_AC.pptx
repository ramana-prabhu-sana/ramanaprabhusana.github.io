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45"/>
  </p:notesMasterIdLst>
  <p:sldIdLst>
    <p:sldId id="257" r:id="rId2"/>
    <p:sldId id="840" r:id="rId3"/>
    <p:sldId id="777" r:id="rId4"/>
    <p:sldId id="841" r:id="rId5"/>
    <p:sldId id="846" r:id="rId6"/>
    <p:sldId id="843" r:id="rId7"/>
    <p:sldId id="845" r:id="rId8"/>
    <p:sldId id="890" r:id="rId9"/>
    <p:sldId id="892" r:id="rId10"/>
    <p:sldId id="891" r:id="rId11"/>
    <p:sldId id="893" r:id="rId12"/>
    <p:sldId id="847" r:id="rId13"/>
    <p:sldId id="831" r:id="rId14"/>
    <p:sldId id="849" r:id="rId15"/>
    <p:sldId id="853" r:id="rId16"/>
    <p:sldId id="857" r:id="rId17"/>
    <p:sldId id="866" r:id="rId18"/>
    <p:sldId id="867" r:id="rId19"/>
    <p:sldId id="868" r:id="rId20"/>
    <p:sldId id="869" r:id="rId21"/>
    <p:sldId id="858" r:id="rId22"/>
    <p:sldId id="860" r:id="rId23"/>
    <p:sldId id="861" r:id="rId24"/>
    <p:sldId id="862" r:id="rId25"/>
    <p:sldId id="863" r:id="rId26"/>
    <p:sldId id="864" r:id="rId27"/>
    <p:sldId id="865" r:id="rId28"/>
    <p:sldId id="871" r:id="rId29"/>
    <p:sldId id="852" r:id="rId30"/>
    <p:sldId id="872" r:id="rId31"/>
    <p:sldId id="870" r:id="rId32"/>
    <p:sldId id="876" r:id="rId33"/>
    <p:sldId id="878" r:id="rId34"/>
    <p:sldId id="877" r:id="rId35"/>
    <p:sldId id="888" r:id="rId36"/>
    <p:sldId id="889" r:id="rId37"/>
    <p:sldId id="879" r:id="rId38"/>
    <p:sldId id="880" r:id="rId39"/>
    <p:sldId id="884" r:id="rId40"/>
    <p:sldId id="882" r:id="rId41"/>
    <p:sldId id="887" r:id="rId42"/>
    <p:sldId id="895" r:id="rId43"/>
    <p:sldId id="894" r:id="rId44"/>
  </p:sldIdLst>
  <p:sldSz cx="12192000" cy="6858000"/>
  <p:notesSz cx="6858000" cy="9144000"/>
  <p:embeddedFontLst>
    <p:embeddedFont>
      <p:font typeface="Acumin Pro" panose="020B0604020202020204" charset="0"/>
      <p:regular r:id="rId46"/>
      <p:bold r:id="rId47"/>
      <p:italic r:id="rId48"/>
      <p:boldItalic r:id="rId49"/>
    </p:embeddedFont>
    <p:embeddedFont>
      <p:font typeface="Aptos Slab" panose="020B0004020202020204" pitchFamily="34" charset="0"/>
      <p:regular r:id="rId50"/>
      <p:bold r:id="rId51"/>
      <p:italic r:id="rId52"/>
      <p:boldItalic r:id="rId53"/>
    </p:embeddedFont>
    <p:embeddedFont>
      <p:font typeface="Cambria Math" panose="02040503050406030204" pitchFamily="18" charset="0"/>
      <p:regular r:id="rId54"/>
    </p:embeddedFont>
    <p:embeddedFont>
      <p:font typeface="Franklin Gothic Book" panose="020B0503020102020204" pitchFamily="34" charset="0"/>
      <p:regular r:id="rId55"/>
      <p:italic r:id="rId56"/>
    </p:embeddedFont>
    <p:embeddedFont>
      <p:font typeface="Franklin Gothic Demi" panose="020B0703020102020204" pitchFamily="34" charset="0"/>
      <p:regular r:id="rId57"/>
      <p:bold r:id="rId58"/>
      <p:italic r:id="rId59"/>
      <p:boldItalic r:id="rId60"/>
    </p:embeddedFont>
    <p:embeddedFont>
      <p:font typeface="Franklin Gothic Medium" panose="020B0603020102020204" pitchFamily="34" charset="0"/>
      <p:regular r:id="rId61"/>
      <p:italic r:id="rId62"/>
    </p:embeddedFont>
    <p:embeddedFont>
      <p:font typeface="Impact" panose="020B0806030902050204" pitchFamily="34" charset="0"/>
      <p:regular r:id="rId63"/>
    </p:embeddedFont>
    <p:embeddedFont>
      <p:font typeface="United Sans Rg Md" pitchFamily="50" charset="0"/>
      <p:regular r:id="rId6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62" autoAdjust="0"/>
    <p:restoredTop sz="95000" autoAdjust="0"/>
  </p:normalViewPr>
  <p:slideViewPr>
    <p:cSldViewPr snapToGrid="0" snapToObjects="1">
      <p:cViewPr varScale="1">
        <p:scale>
          <a:sx n="92" d="100"/>
          <a:sy n="92" d="100"/>
        </p:scale>
        <p:origin x="270" y="30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font" Target="fonts/font18.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4"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font" Target="fonts/font14.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font" Target="fonts/font15.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0CBF3-EFF4-1DA6-A319-7AF197FFB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D304C-3858-531C-5E40-71EBC12EA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02F20-63ED-9822-1791-BA9AB35B6C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494E91-89F8-8A15-A002-ACD2C4F6CA6E}"/>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3295868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1980A-791C-CF47-08F4-1A737AEB8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6C145-1900-AADD-580B-A73A827FCC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6C9C4-6FBA-A4C1-A2A3-775D32DE3B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18979F-33C0-6A8B-4C3C-0154094BF716}"/>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2171812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32FB0-9989-B922-D135-8A78F935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4BA03-F515-AA30-3EFD-6607B331D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27C82-C3C1-E4E9-72F8-9A0477FB40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8ABFB-65B2-1DF9-C6F0-E2A3A52E4786}"/>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455282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0BAFD-54DE-C13E-EEB0-017600992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C55F2-ACD7-6024-241A-D02673FDA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AF1DF-7ACF-DCFC-E47C-8E6B430E4D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79D38F-02B9-8A18-0F99-A703D8D7D272}"/>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1085892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80E5A-B12B-9673-8D77-495DC6C95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1E028-008F-A1D0-3503-B4DBD6273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5117C5-2880-0EF9-CE56-CF73E4B70A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D9BF0C-C634-66B5-99B8-263D51E5065B}"/>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821109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B46B4-565E-9CC4-5FA5-ACC9223C9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FF999-4C52-676F-DFEA-110F2D589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66FB3-4BFA-19DB-A0EE-3DC4788BBE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022E0-027F-0166-94C9-A7F73D5CB063}"/>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2914226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DAC74-1810-1AE9-2F5C-BE70DEBDF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1EF2B-F308-6C92-68B2-B612B8D51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97FA3D-1E2E-0354-C30E-422540AC77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628645-5E03-9FD6-343B-4F055BBE7820}"/>
              </a:ext>
            </a:extLst>
          </p:cNvPr>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1320154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94542-4815-FE3D-6788-DD19F8409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F96B9-4E32-5967-117E-D22A8EC2F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F3AD2-75C5-ED05-6EB5-670EB2A6ED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082980-F6F1-5577-FADC-A4999C61A65F}"/>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198154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EEDE3-8F7A-6509-554A-D287710BD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71F41-EF6B-61A9-B846-05A727F90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71003-4AA0-1DDE-A046-A2482BC09A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A89B18-2098-965F-FC1F-652CDB4B8553}"/>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3335151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D905A-2D85-6E73-38D5-8F5C2BD0C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CB140-CA23-DF3F-293E-92B006394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F2D35-AF68-FD46-5585-3BA3EA30ED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2726B-4E2D-EC97-182D-95250B2970B6}"/>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1213830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38F31-96CA-DB6B-2F97-966B583CD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5BE6E-DCD2-0071-6242-D01FA7B51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28D29-CC39-89B7-2F9D-E7E3FFF672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B1E398-C0E7-91D8-0BA2-F0702D45B5E9}"/>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1353963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CFF96-374C-E339-794B-113F888AF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88C99-1522-FFF3-A962-486BC4AD0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511E25-E89C-1492-A3FF-68CE4C11AC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231384-ACBB-36F5-95C9-79A9B5646B19}"/>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3706639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62F7-70CC-2090-9400-4DB4B149C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34B41-022C-AF4F-42D3-6F19016B97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38BF9F-ECAA-4E65-34DB-FD90D125F0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62A7AE-4E4F-9079-9882-7E4C8A52E3CF}"/>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4262751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CECD5-907C-EE19-ACE5-34A5ED9DD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5840B-C8DE-31DA-9776-ACE1F9DF1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C550C-5EBB-765A-01AF-A3C147075B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042099-E975-B181-2C44-6F7462AE37D3}"/>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482384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E77B2-A207-80EE-7DDD-F97D29FEF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3E7A5-F893-D7FF-6B4A-DCFC588F2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DD8AE-498D-A8A6-2530-A71AC28E6D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3D9A46-B1AC-24FE-EDA4-90B72ABE2051}"/>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8249992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260BB-F63A-E549-EBFB-A4034EB19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C7077-2413-1B0A-EFDF-D84C00649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2266F-5301-A588-42AB-220E6BD849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49423B-9F02-253B-DD24-E62C93DD3A5D}"/>
              </a:ext>
            </a:extLst>
          </p:cNvPr>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532479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D0B9B-4B27-4F42-C9CC-9DADA1EE6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01722-EDAA-2340-FF4C-7D92A9457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A093A-AC46-5609-EE56-44C52F8623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10E156-A8AA-AB9C-6180-4122BCAB06F4}"/>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18318693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A65C4-363F-71B0-4AEE-D31C5F672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A5504-08AE-0ADD-9231-37D2EDFE2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8F897-EEE8-7BEE-B7EF-73F4BB3BEB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1DF5E5-C99F-E743-CB8D-C49258D6CC08}"/>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2570449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050A4-C457-384F-720A-C95A6E678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EFD5A-2BD7-597A-036E-E7A467C33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558E0-E29A-8C3E-A7C6-663398153B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97472C-9D29-0434-2027-D1B1B5FB84AB}"/>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2592534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1D02-7FCF-6316-CC34-4C65E5233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531050-BC9A-38AA-030B-87C25E421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9DCD4-1469-3A16-A7BF-25F6D386A2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430C57-A818-9852-5C32-C339D4F8C8DB}"/>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697350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D6AA-A952-9274-483B-008095123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5BB41F-386C-A8F2-9661-23D6291AA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F92B4-9905-75A9-EEDD-061F217B05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5C09B8-86D2-D71C-B0F0-35DFE2C98F37}"/>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2617079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0E45-597F-D23B-47A3-60B5722F6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8BD3B-3530-C730-D9A9-84EF7D9E6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156A9-BDA1-6F00-8DD3-66FBFA8234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D659D5-2410-9F4B-EBE2-F578E53D7C26}"/>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3527927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6557E-4D6E-34B7-8AF7-43A3EA7D5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60089-8229-E012-3532-A2DD559DD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511D1-6B2C-0096-2CD6-0B6FC54125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7043B-CCC6-2009-7D2A-68016EAA7FF6}"/>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1435067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F8B1-CFDD-7405-8B99-CBDDCF3E8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A4344-2A95-CBA2-06EA-86951A0CA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22AE1-1A51-9E95-635D-109DEF25C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94623F-FB61-751C-0D83-A5D85CD099AD}"/>
              </a:ext>
            </a:extLst>
          </p:cNvPr>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12692013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60485-230F-D0F6-DD9B-C140D4522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DBA42-0E87-1716-68EF-6DE091FB2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9DDF7-34A3-0EAC-92B7-7FDA7B6592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F099CB-1D5F-B694-C238-AEAF57E1F695}"/>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19036168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30F5-0CA9-A353-92B6-BCF1C8E01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4508C-C771-B0FC-BE16-731E070B14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F6961-8261-499A-341D-58A893D41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841292-3545-CA8A-0934-30BE665B6F07}"/>
              </a:ext>
            </a:extLst>
          </p:cNvPr>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7968513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080CD-BB61-E1BF-4742-A301EA480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615E6-61B2-5516-F110-8836AFDAB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37945-7F1E-FD9A-4B82-F226F075F5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7117AA-7445-5DA4-59A1-14A7B5A05749}"/>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1520839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FFF44-8844-B2BB-7317-C799438FF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856BF-38B4-7B0E-4658-A5EE8359DC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DA82B-D631-1903-B3DC-6898142B91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1C30B0-5B5D-BDB1-F755-C15EC0565DC5}"/>
              </a:ext>
            </a:extLst>
          </p:cNvPr>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40874644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F9B4E-1809-B060-71B1-AA81902CD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0348B-ECA4-6138-7581-0C6725EAEA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343F8-4DFD-BD8F-3F55-C2751CBB61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795C7E-6DE0-468A-A958-59710A2EC6F4}"/>
              </a:ext>
            </a:extLst>
          </p:cNvPr>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15618498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2BBCC-4E22-9269-53EF-D5040C6D1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860E3-5DCC-FB02-AB61-DA8637C9D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46E6A-0125-99FC-216A-941EB9ED5F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CC9760-CB46-9341-5E05-4DCBE943972B}"/>
              </a:ext>
            </a:extLst>
          </p:cNvPr>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3002508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C1FD4-EBFD-70FC-DF73-1EA4D0609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4752B-7E13-419E-EBAC-6F813AF9D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F47C91-812D-4563-BF08-476D82E1DE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6ADFC5-ADEE-FB8D-FD34-51D488FA90E4}"/>
              </a:ext>
            </a:extLst>
          </p:cNvPr>
          <p:cNvSpPr>
            <a:spLocks noGrp="1"/>
          </p:cNvSpPr>
          <p:nvPr>
            <p:ph type="sldNum" sz="quarter" idx="5"/>
          </p:nvPr>
        </p:nvSpPr>
        <p:spPr/>
        <p:txBody>
          <a:bodyPr/>
          <a:lstStyle/>
          <a:p>
            <a:fld id="{988F3A2B-14A6-8F47-B753-A658CA12576A}" type="slidenum">
              <a:rPr lang="en-US" smtClean="0"/>
              <a:t>35</a:t>
            </a:fld>
            <a:endParaRPr lang="en-US"/>
          </a:p>
        </p:txBody>
      </p:sp>
    </p:spTree>
    <p:extLst>
      <p:ext uri="{BB962C8B-B14F-4D97-AF65-F5344CB8AC3E}">
        <p14:creationId xmlns:p14="http://schemas.microsoft.com/office/powerpoint/2010/main" val="39858671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42451-1921-E9BE-6ACD-EF7B09E09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CCB61-CDB5-3770-DD80-985469555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2D4CF-A761-44BC-285B-0D844C6E78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7D13B-ED4C-97B4-1A62-3883FBBD5EE1}"/>
              </a:ext>
            </a:extLst>
          </p:cNvPr>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19038133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B1D42-D129-C6FF-25AE-B4E8916A2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0EC17-113E-04A7-51D6-3B375C611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9B691-8970-0EFE-2A1D-C304C25930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EC24C0-6C8F-9F0B-7DA8-906951167B0C}"/>
              </a:ext>
            </a:extLst>
          </p:cNvPr>
          <p:cNvSpPr>
            <a:spLocks noGrp="1"/>
          </p:cNvSpPr>
          <p:nvPr>
            <p:ph type="sldNum" sz="quarter" idx="5"/>
          </p:nvPr>
        </p:nvSpPr>
        <p:spPr/>
        <p:txBody>
          <a:bodyPr/>
          <a:lstStyle/>
          <a:p>
            <a:fld id="{988F3A2B-14A6-8F47-B753-A658CA12576A}" type="slidenum">
              <a:rPr lang="en-US" smtClean="0"/>
              <a:t>37</a:t>
            </a:fld>
            <a:endParaRPr lang="en-US"/>
          </a:p>
        </p:txBody>
      </p:sp>
    </p:spTree>
    <p:extLst>
      <p:ext uri="{BB962C8B-B14F-4D97-AF65-F5344CB8AC3E}">
        <p14:creationId xmlns:p14="http://schemas.microsoft.com/office/powerpoint/2010/main" val="35267261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70F0-3CF4-659F-6D3F-863F5F5DE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3F10D-0C7E-D361-A6FF-E548FAB17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6090D-C809-8D6B-6320-C1D9A97062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FF7575-0411-1D98-2891-2BF4E8E6AF5B}"/>
              </a:ext>
            </a:extLst>
          </p:cNvPr>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17348757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A0422-0266-941D-4DF0-C0DCABFA9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6ACAF-7757-8098-7064-404A33B47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DC75B4-8326-3822-A808-D4B6CB1E15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7373B-5F63-C5C3-ADA5-25D4229B8883}"/>
              </a:ext>
            </a:extLst>
          </p:cNvPr>
          <p:cNvSpPr>
            <a:spLocks noGrp="1"/>
          </p:cNvSpPr>
          <p:nvPr>
            <p:ph type="sldNum" sz="quarter" idx="5"/>
          </p:nvPr>
        </p:nvSpPr>
        <p:spPr/>
        <p:txBody>
          <a:bodyPr/>
          <a:lstStyle/>
          <a:p>
            <a:fld id="{988F3A2B-14A6-8F47-B753-A658CA12576A}" type="slidenum">
              <a:rPr lang="en-US" smtClean="0"/>
              <a:t>39</a:t>
            </a:fld>
            <a:endParaRPr lang="en-US"/>
          </a:p>
        </p:txBody>
      </p:sp>
    </p:spTree>
    <p:extLst>
      <p:ext uri="{BB962C8B-B14F-4D97-AF65-F5344CB8AC3E}">
        <p14:creationId xmlns:p14="http://schemas.microsoft.com/office/powerpoint/2010/main" val="1004450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FB776-4E26-718E-51F2-0E42F0543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348EA-0665-5EFE-BA34-11FA852ED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3A3EA-1D9C-7899-BE26-C16CA1A00F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084953-8BBB-B218-30B9-32E6D8ECD2CB}"/>
              </a:ext>
            </a:extLst>
          </p:cNvPr>
          <p:cNvSpPr>
            <a:spLocks noGrp="1"/>
          </p:cNvSpPr>
          <p:nvPr>
            <p:ph type="sldNum" sz="quarter" idx="5"/>
          </p:nvPr>
        </p:nvSpPr>
        <p:spPr/>
        <p:txBody>
          <a:bodyPr/>
          <a:lstStyle/>
          <a:p>
            <a:fld id="{988F3A2B-14A6-8F47-B753-A658CA12576A}" type="slidenum">
              <a:rPr lang="en-US" smtClean="0"/>
              <a:t>40</a:t>
            </a:fld>
            <a:endParaRPr lang="en-US"/>
          </a:p>
        </p:txBody>
      </p:sp>
    </p:spTree>
    <p:extLst>
      <p:ext uri="{BB962C8B-B14F-4D97-AF65-F5344CB8AC3E}">
        <p14:creationId xmlns:p14="http://schemas.microsoft.com/office/powerpoint/2010/main" val="1513542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C9C17-AD1C-A069-4359-10618B19B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0746B-F4EC-7F56-1696-AE9E450FD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9E5C8-9029-8539-3837-3D75C0C6F0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59F6AA-8A5A-9195-2AE2-94218A217268}"/>
              </a:ext>
            </a:extLst>
          </p:cNvPr>
          <p:cNvSpPr>
            <a:spLocks noGrp="1"/>
          </p:cNvSpPr>
          <p:nvPr>
            <p:ph type="sldNum" sz="quarter" idx="5"/>
          </p:nvPr>
        </p:nvSpPr>
        <p:spPr/>
        <p:txBody>
          <a:bodyPr/>
          <a:lstStyle/>
          <a:p>
            <a:fld id="{988F3A2B-14A6-8F47-B753-A658CA12576A}" type="slidenum">
              <a:rPr lang="en-US" smtClean="0"/>
              <a:t>41</a:t>
            </a:fld>
            <a:endParaRPr lang="en-US"/>
          </a:p>
        </p:txBody>
      </p:sp>
    </p:spTree>
    <p:extLst>
      <p:ext uri="{BB962C8B-B14F-4D97-AF65-F5344CB8AC3E}">
        <p14:creationId xmlns:p14="http://schemas.microsoft.com/office/powerpoint/2010/main" val="20276184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F1379-0758-7302-C493-49BA06144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FF242-5F80-7C5C-9F14-05D93B873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006AB-AC0E-DE1B-85AD-0B421AA79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731793-E0A7-20A3-4DAD-195644AFAE7B}"/>
              </a:ext>
            </a:extLst>
          </p:cNvPr>
          <p:cNvSpPr>
            <a:spLocks noGrp="1"/>
          </p:cNvSpPr>
          <p:nvPr>
            <p:ph type="sldNum" sz="quarter" idx="5"/>
          </p:nvPr>
        </p:nvSpPr>
        <p:spPr/>
        <p:txBody>
          <a:bodyPr/>
          <a:lstStyle/>
          <a:p>
            <a:fld id="{988F3A2B-14A6-8F47-B753-A658CA12576A}" type="slidenum">
              <a:rPr lang="en-US" smtClean="0"/>
              <a:t>42</a:t>
            </a:fld>
            <a:endParaRPr lang="en-US"/>
          </a:p>
        </p:txBody>
      </p:sp>
    </p:spTree>
    <p:extLst>
      <p:ext uri="{BB962C8B-B14F-4D97-AF65-F5344CB8AC3E}">
        <p14:creationId xmlns:p14="http://schemas.microsoft.com/office/powerpoint/2010/main" val="28826107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B6A8A-5C5A-AAED-ADED-D3E0D5E9C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BA18A-431C-68D7-E1C2-CD057351A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70751-9564-664A-F83C-03E654BEB8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F55E96-A3B3-F2A1-F903-9C8DF96C95CE}"/>
              </a:ext>
            </a:extLst>
          </p:cNvPr>
          <p:cNvSpPr>
            <a:spLocks noGrp="1"/>
          </p:cNvSpPr>
          <p:nvPr>
            <p:ph type="sldNum" sz="quarter" idx="5"/>
          </p:nvPr>
        </p:nvSpPr>
        <p:spPr/>
        <p:txBody>
          <a:bodyPr/>
          <a:lstStyle/>
          <a:p>
            <a:fld id="{988F3A2B-14A6-8F47-B753-A658CA12576A}" type="slidenum">
              <a:rPr lang="en-US" smtClean="0"/>
              <a:t>43</a:t>
            </a:fld>
            <a:endParaRPr lang="en-US"/>
          </a:p>
        </p:txBody>
      </p:sp>
    </p:spTree>
    <p:extLst>
      <p:ext uri="{BB962C8B-B14F-4D97-AF65-F5344CB8AC3E}">
        <p14:creationId xmlns:p14="http://schemas.microsoft.com/office/powerpoint/2010/main" val="42147425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11/26/2025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11/26/2025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11/26/2025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11/26/2025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11/26/2025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11/26/2025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11/26/2025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11/26/2025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dirty="0">
                <a:latin typeface="Franklin Gothic Medium" panose="020B0603020102020204" pitchFamily="34" charset="0"/>
              </a:rPr>
              <a:t>Lecture 9: Algorithmic Decision Making</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11/26/2025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9D368-D626-97EB-4998-F795DD481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F5F98-68B1-8B15-A37A-DC09B4F6D2D9}"/>
              </a:ext>
            </a:extLst>
          </p:cNvPr>
          <p:cNvSpPr>
            <a:spLocks noGrp="1"/>
          </p:cNvSpPr>
          <p:nvPr>
            <p:ph type="ctrTitle"/>
          </p:nvPr>
        </p:nvSpPr>
        <p:spPr>
          <a:xfrm>
            <a:off x="2107520" y="437030"/>
            <a:ext cx="8476660" cy="332399"/>
          </a:xfrm>
        </p:spPr>
        <p:txBody>
          <a:bodyPr/>
          <a:lstStyle/>
          <a:p>
            <a:r>
              <a:rPr lang="en-US" dirty="0"/>
              <a:t>Outline</a:t>
            </a:r>
          </a:p>
        </p:txBody>
      </p:sp>
      <p:sp>
        <p:nvSpPr>
          <p:cNvPr id="4" name="Text Placeholder 3">
            <a:extLst>
              <a:ext uri="{FF2B5EF4-FFF2-40B4-BE49-F238E27FC236}">
                <a16:creationId xmlns:a16="http://schemas.microsoft.com/office/drawing/2014/main" id="{6C7A223E-5F9E-6C04-0F9C-C4B4564EF5A6}"/>
              </a:ext>
            </a:extLst>
          </p:cNvPr>
          <p:cNvSpPr>
            <a:spLocks noGrp="1"/>
          </p:cNvSpPr>
          <p:nvPr>
            <p:ph type="body" sz="quarter" idx="14"/>
          </p:nvPr>
        </p:nvSpPr>
        <p:spPr>
          <a:xfrm>
            <a:off x="1828800" y="1491343"/>
            <a:ext cx="8755379" cy="3837583"/>
          </a:xfrm>
        </p:spPr>
        <p:txBody>
          <a:bodyPr>
            <a:normAutofit/>
          </a:bodyPr>
          <a:lstStyle/>
          <a:p>
            <a:r>
              <a:rPr lang="en-US" sz="2400" dirty="0"/>
              <a:t>Relative strengths / weaknesses of humans &amp; algorithms</a:t>
            </a:r>
          </a:p>
          <a:p>
            <a:endParaRPr lang="en-US" sz="2400" dirty="0"/>
          </a:p>
          <a:p>
            <a:r>
              <a:rPr lang="en-US" sz="2400" dirty="0"/>
              <a:t>Promise of algorithmic decisions</a:t>
            </a:r>
          </a:p>
          <a:p>
            <a:endParaRPr lang="en-US" sz="2400" dirty="0"/>
          </a:p>
          <a:p>
            <a:r>
              <a:rPr lang="en-US" sz="2400" dirty="0"/>
              <a:t>Challenges with algorithmic decisions</a:t>
            </a:r>
          </a:p>
          <a:p>
            <a:endParaRPr lang="en-US" sz="2400" dirty="0"/>
          </a:p>
          <a:p>
            <a:r>
              <a:rPr lang="en-US" sz="2400" dirty="0"/>
              <a:t>Project update</a:t>
            </a:r>
          </a:p>
        </p:txBody>
      </p:sp>
      <p:sp>
        <p:nvSpPr>
          <p:cNvPr id="5" name="Date Placeholder 4">
            <a:extLst>
              <a:ext uri="{FF2B5EF4-FFF2-40B4-BE49-F238E27FC236}">
                <a16:creationId xmlns:a16="http://schemas.microsoft.com/office/drawing/2014/main" id="{5A595052-EE4D-0036-3986-3D7130DD2C50}"/>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403E9D29-CF5E-648C-1F2A-E71639A50B0D}"/>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08847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D845D-B83F-529F-53A5-4ACC1A204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D9A60-2475-7151-7FA8-D07FFF1D573E}"/>
              </a:ext>
            </a:extLst>
          </p:cNvPr>
          <p:cNvSpPr>
            <a:spLocks noGrp="1"/>
          </p:cNvSpPr>
          <p:nvPr>
            <p:ph type="ctrTitle"/>
          </p:nvPr>
        </p:nvSpPr>
        <p:spPr>
          <a:xfrm>
            <a:off x="2647199" y="1501742"/>
            <a:ext cx="7300940" cy="1329595"/>
          </a:xfrm>
        </p:spPr>
        <p:txBody>
          <a:bodyPr/>
          <a:lstStyle/>
          <a:p>
            <a:r>
              <a:rPr lang="en-US" dirty="0"/>
              <a:t>What makes for good decision making</a:t>
            </a:r>
          </a:p>
        </p:txBody>
      </p:sp>
      <p:sp>
        <p:nvSpPr>
          <p:cNvPr id="4" name="Date Placeholder 3">
            <a:extLst>
              <a:ext uri="{FF2B5EF4-FFF2-40B4-BE49-F238E27FC236}">
                <a16:creationId xmlns:a16="http://schemas.microsoft.com/office/drawing/2014/main" id="{02725DEA-BE0A-7C2F-BC2A-D4F1991834CB}"/>
              </a:ext>
            </a:extLst>
          </p:cNvPr>
          <p:cNvSpPr>
            <a:spLocks noGrp="1"/>
          </p:cNvSpPr>
          <p:nvPr>
            <p:ph type="dt" sz="half" idx="10"/>
          </p:nvPr>
        </p:nvSpPr>
        <p:spPr/>
        <p:txBody>
          <a:bodyPr/>
          <a:lstStyle/>
          <a:p>
            <a:fld id="{D47A9A36-4EB0-BF46-AE48-7CDA251B954B}" type="datetime1">
              <a:rPr lang="en-US" smtClean="0"/>
              <a:pPr/>
              <a:t>11/26/2025</a:t>
            </a:fld>
            <a:endParaRPr lang="en-US" dirty="0"/>
          </a:p>
        </p:txBody>
      </p:sp>
      <p:sp>
        <p:nvSpPr>
          <p:cNvPr id="5" name="Slide Number Placeholder 4">
            <a:extLst>
              <a:ext uri="{FF2B5EF4-FFF2-40B4-BE49-F238E27FC236}">
                <a16:creationId xmlns:a16="http://schemas.microsoft.com/office/drawing/2014/main" id="{FBD83CC1-350A-6863-B1B9-1065AEC3F5E7}"/>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152974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1700A-2C03-E40C-C0F6-04149A821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C5948-4B8D-EB25-2554-F7632FB50DE6}"/>
              </a:ext>
            </a:extLst>
          </p:cNvPr>
          <p:cNvSpPr>
            <a:spLocks noGrp="1"/>
          </p:cNvSpPr>
          <p:nvPr>
            <p:ph type="ctrTitle"/>
          </p:nvPr>
        </p:nvSpPr>
        <p:spPr/>
        <p:txBody>
          <a:bodyPr/>
          <a:lstStyle/>
          <a:p>
            <a:r>
              <a:rPr lang="en-US" dirty="0"/>
              <a:t>Promise of Algorithmic Decision Making</a:t>
            </a:r>
          </a:p>
        </p:txBody>
      </p:sp>
      <p:sp>
        <p:nvSpPr>
          <p:cNvPr id="4" name="Text Placeholder 3">
            <a:extLst>
              <a:ext uri="{FF2B5EF4-FFF2-40B4-BE49-F238E27FC236}">
                <a16:creationId xmlns:a16="http://schemas.microsoft.com/office/drawing/2014/main" id="{A375494A-7786-69FF-5BAA-A1F0A4F55221}"/>
              </a:ext>
            </a:extLst>
          </p:cNvPr>
          <p:cNvSpPr>
            <a:spLocks noGrp="1"/>
          </p:cNvSpPr>
          <p:nvPr>
            <p:ph type="body" sz="quarter" idx="14"/>
          </p:nvPr>
        </p:nvSpPr>
        <p:spPr>
          <a:xfrm>
            <a:off x="1828800" y="1491343"/>
            <a:ext cx="8755380" cy="3837583"/>
          </a:xfrm>
        </p:spPr>
        <p:txBody>
          <a:bodyPr>
            <a:normAutofit/>
          </a:bodyPr>
          <a:lstStyle/>
          <a:p>
            <a:r>
              <a:rPr lang="en-US" sz="2400" dirty="0"/>
              <a:t>We often want our decisions to be:</a:t>
            </a:r>
          </a:p>
          <a:p>
            <a:pPr lvl="1"/>
            <a:r>
              <a:rPr lang="en-US" sz="2400" dirty="0"/>
              <a:t>Fast</a:t>
            </a:r>
          </a:p>
          <a:p>
            <a:pPr lvl="1"/>
            <a:r>
              <a:rPr lang="en-US" sz="2400" dirty="0"/>
              <a:t>Taking full advantage of available data</a:t>
            </a:r>
          </a:p>
          <a:p>
            <a:pPr lvl="1"/>
            <a:r>
              <a:rPr lang="en-US" sz="2400" dirty="0"/>
              <a:t>Consistent</a:t>
            </a:r>
          </a:p>
          <a:p>
            <a:pPr lvl="1"/>
            <a:r>
              <a:rPr lang="en-US" sz="2400" dirty="0"/>
              <a:t>Aligned with our objectives</a:t>
            </a:r>
          </a:p>
          <a:p>
            <a:endParaRPr lang="en-US" sz="2400" dirty="0"/>
          </a:p>
          <a:p>
            <a:r>
              <a:rPr lang="en-US" sz="2400" dirty="0"/>
              <a:t>Humans struggle on many of these aspects</a:t>
            </a:r>
          </a:p>
        </p:txBody>
      </p:sp>
      <p:sp>
        <p:nvSpPr>
          <p:cNvPr id="5" name="Date Placeholder 4">
            <a:extLst>
              <a:ext uri="{FF2B5EF4-FFF2-40B4-BE49-F238E27FC236}">
                <a16:creationId xmlns:a16="http://schemas.microsoft.com/office/drawing/2014/main" id="{835E8738-D234-DE75-6A2A-5540E30B9272}"/>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5D42AA34-C17D-1211-8D94-A6D1C5D7803B}"/>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85518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9DE98-724D-CB02-2781-19E29B172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04B96-3951-0B49-521A-96C6F96C0F2F}"/>
              </a:ext>
            </a:extLst>
          </p:cNvPr>
          <p:cNvSpPr>
            <a:spLocks noGrp="1"/>
          </p:cNvSpPr>
          <p:nvPr>
            <p:ph type="ctrTitle"/>
          </p:nvPr>
        </p:nvSpPr>
        <p:spPr/>
        <p:txBody>
          <a:bodyPr/>
          <a:lstStyle/>
          <a:p>
            <a:r>
              <a:rPr lang="en-US" dirty="0"/>
              <a:t>Many Well-Documented Human Prediction Errors</a:t>
            </a:r>
          </a:p>
        </p:txBody>
      </p:sp>
      <p:sp>
        <p:nvSpPr>
          <p:cNvPr id="4" name="Text Placeholder 3">
            <a:extLst>
              <a:ext uri="{FF2B5EF4-FFF2-40B4-BE49-F238E27FC236}">
                <a16:creationId xmlns:a16="http://schemas.microsoft.com/office/drawing/2014/main" id="{86D13F06-0ADA-BF84-E444-1ACFC532E434}"/>
              </a:ext>
            </a:extLst>
          </p:cNvPr>
          <p:cNvSpPr>
            <a:spLocks noGrp="1"/>
          </p:cNvSpPr>
          <p:nvPr>
            <p:ph type="body" sz="quarter" idx="14"/>
          </p:nvPr>
        </p:nvSpPr>
        <p:spPr>
          <a:xfrm>
            <a:off x="1828800" y="1491343"/>
            <a:ext cx="3719945" cy="3837583"/>
          </a:xfrm>
        </p:spPr>
        <p:txBody>
          <a:bodyPr>
            <a:normAutofit/>
          </a:bodyPr>
          <a:lstStyle/>
          <a:p>
            <a:r>
              <a:rPr lang="en-US" sz="2400" dirty="0"/>
              <a:t>Representativeness</a:t>
            </a:r>
          </a:p>
          <a:p>
            <a:endParaRPr lang="en-US" sz="2400" dirty="0"/>
          </a:p>
          <a:p>
            <a:r>
              <a:rPr lang="en-US" sz="2400" dirty="0"/>
              <a:t>Conjunction Fallacy</a:t>
            </a:r>
          </a:p>
          <a:p>
            <a:endParaRPr lang="en-US" sz="2400" dirty="0"/>
          </a:p>
          <a:p>
            <a:r>
              <a:rPr lang="en-US" sz="2400" dirty="0"/>
              <a:t>Base Rate Fallacy</a:t>
            </a:r>
          </a:p>
          <a:p>
            <a:endParaRPr lang="en-US" sz="2400" dirty="0"/>
          </a:p>
          <a:p>
            <a:r>
              <a:rPr lang="en-US" sz="2400" dirty="0"/>
              <a:t>Confirmation Bias</a:t>
            </a:r>
          </a:p>
          <a:p>
            <a:endParaRPr lang="en-US" sz="2400" dirty="0"/>
          </a:p>
          <a:p>
            <a:r>
              <a:rPr lang="en-US" sz="2400" dirty="0"/>
              <a:t>Noisy Decisions</a:t>
            </a:r>
          </a:p>
          <a:p>
            <a:pPr lvl="1"/>
            <a:r>
              <a:rPr lang="en-US" sz="2400" dirty="0"/>
              <a:t>Mood, time of day, …</a:t>
            </a:r>
          </a:p>
        </p:txBody>
      </p:sp>
      <p:pic>
        <p:nvPicPr>
          <p:cNvPr id="7" name="Picture 6" descr="Four target diagrams illustrating accuracy, bias, and noise in measurement.">
            <a:extLst>
              <a:ext uri="{FF2B5EF4-FFF2-40B4-BE49-F238E27FC236}">
                <a16:creationId xmlns:a16="http://schemas.microsoft.com/office/drawing/2014/main" id="{B0D3DBD5-187A-2371-7B35-DBEC56B2F2CC}"/>
              </a:ext>
            </a:extLst>
          </p:cNvPr>
          <p:cNvPicPr>
            <a:picLocks noChangeAspect="1"/>
          </p:cNvPicPr>
          <p:nvPr/>
        </p:nvPicPr>
        <p:blipFill>
          <a:blip r:embed="rId3"/>
          <a:stretch>
            <a:fillRect/>
          </a:stretch>
        </p:blipFill>
        <p:spPr>
          <a:xfrm>
            <a:off x="6466966" y="1564616"/>
            <a:ext cx="3481173" cy="3860937"/>
          </a:xfrm>
          <a:prstGeom prst="rect">
            <a:avLst/>
          </a:prstGeom>
        </p:spPr>
      </p:pic>
      <p:sp>
        <p:nvSpPr>
          <p:cNvPr id="5" name="Date Placeholder 4">
            <a:extLst>
              <a:ext uri="{FF2B5EF4-FFF2-40B4-BE49-F238E27FC236}">
                <a16:creationId xmlns:a16="http://schemas.microsoft.com/office/drawing/2014/main" id="{CD0F30B7-27CC-932D-3439-2FDEE3E8F95E}"/>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2CBB22D8-074C-A9D7-FFBA-7661042160BB}"/>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933890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2A086-5E5F-D950-8C32-DF22E78CC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B84E2-D651-85A0-E328-DA7196874449}"/>
              </a:ext>
            </a:extLst>
          </p:cNvPr>
          <p:cNvSpPr>
            <a:spLocks noGrp="1"/>
          </p:cNvSpPr>
          <p:nvPr>
            <p:ph type="ctrTitle"/>
          </p:nvPr>
        </p:nvSpPr>
        <p:spPr/>
        <p:txBody>
          <a:bodyPr/>
          <a:lstStyle/>
          <a:p>
            <a:r>
              <a:rPr lang="en-US" dirty="0"/>
              <a:t>Human Prediction Errors: Conjunction Fallacy</a:t>
            </a:r>
          </a:p>
        </p:txBody>
      </p:sp>
      <p:sp>
        <p:nvSpPr>
          <p:cNvPr id="8" name="TextBox 7">
            <a:extLst>
              <a:ext uri="{FF2B5EF4-FFF2-40B4-BE49-F238E27FC236}">
                <a16:creationId xmlns:a16="http://schemas.microsoft.com/office/drawing/2014/main" id="{1B33239C-D935-CABE-7563-BED1235C832C}"/>
              </a:ext>
            </a:extLst>
          </p:cNvPr>
          <p:cNvSpPr txBox="1"/>
          <p:nvPr/>
        </p:nvSpPr>
        <p:spPr>
          <a:xfrm>
            <a:off x="2677390" y="2136338"/>
            <a:ext cx="6837219" cy="2585323"/>
          </a:xfrm>
          <a:prstGeom prst="rect">
            <a:avLst/>
          </a:prstGeom>
          <a:noFill/>
        </p:spPr>
        <p:txBody>
          <a:bodyPr wrap="square" rtlCol="0">
            <a:spAutoFit/>
          </a:bodyPr>
          <a:lstStyle/>
          <a:p>
            <a:r>
              <a:rPr lang="en-US" dirty="0">
                <a:latin typeface="Aptos Slab" panose="020F0502020204030204" pitchFamily="34" charset="0"/>
                <a:cs typeface="Times New Roman" panose="02020603050405020304" pitchFamily="18" charset="0"/>
              </a:rPr>
              <a:t>Linda is 31 years old, single, outspoken, and very bright. She majored in philosophy. As a student, she was deeply concerned with issues of discrimination and social justice and also participated in anti-nuclear demonstrations.</a:t>
            </a:r>
          </a:p>
          <a:p>
            <a:endParaRPr lang="en-US" dirty="0">
              <a:latin typeface="Aptos Slab" panose="020F0502020204030204" pitchFamily="34" charset="0"/>
              <a:cs typeface="Times New Roman" panose="02020603050405020304" pitchFamily="18" charset="0"/>
            </a:endParaRPr>
          </a:p>
          <a:p>
            <a:r>
              <a:rPr lang="en-US" dirty="0">
                <a:latin typeface="Aptos Slab" panose="020F0502020204030204" pitchFamily="34" charset="0"/>
                <a:cs typeface="Times New Roman" panose="02020603050405020304" pitchFamily="18" charset="0"/>
              </a:rPr>
              <a:t>Which is more probable?</a:t>
            </a:r>
          </a:p>
          <a:p>
            <a:endParaRPr lang="en-US" dirty="0">
              <a:latin typeface="Aptos Slab" panose="020F0502020204030204" pitchFamily="34" charset="0"/>
              <a:cs typeface="Times New Roman" panose="02020603050405020304" pitchFamily="18" charset="0"/>
            </a:endParaRPr>
          </a:p>
          <a:p>
            <a:pPr marL="342900" indent="-342900">
              <a:buAutoNum type="alphaLcParenBoth"/>
            </a:pPr>
            <a:r>
              <a:rPr lang="en-US" dirty="0">
                <a:latin typeface="Aptos Slab" panose="020F0502020204030204" pitchFamily="34" charset="0"/>
                <a:cs typeface="Times New Roman" panose="02020603050405020304" pitchFamily="18" charset="0"/>
              </a:rPr>
              <a:t>Linda is a bank teller.</a:t>
            </a:r>
          </a:p>
          <a:p>
            <a:pPr marL="342900" indent="-342900">
              <a:buAutoNum type="alphaLcParenBoth"/>
            </a:pPr>
            <a:r>
              <a:rPr lang="en-US" dirty="0">
                <a:latin typeface="Aptos Slab" panose="020F0502020204030204" pitchFamily="34" charset="0"/>
                <a:cs typeface="Times New Roman" panose="02020603050405020304" pitchFamily="18" charset="0"/>
              </a:rPr>
              <a:t>Linda is a bank teller and is active in the feminist movement.</a:t>
            </a:r>
          </a:p>
        </p:txBody>
      </p:sp>
      <p:sp>
        <p:nvSpPr>
          <p:cNvPr id="5" name="Date Placeholder 4">
            <a:extLst>
              <a:ext uri="{FF2B5EF4-FFF2-40B4-BE49-F238E27FC236}">
                <a16:creationId xmlns:a16="http://schemas.microsoft.com/office/drawing/2014/main" id="{664E8C0B-B863-B178-517B-CD2F77FB2309}"/>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F3B8C5D4-2497-82ED-5F11-FCDDD5CF26AC}"/>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4045980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2F22F-3151-DB62-3162-B59FAEE88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CFF89-099E-0B62-67E9-2A72BD82A6C1}"/>
              </a:ext>
            </a:extLst>
          </p:cNvPr>
          <p:cNvSpPr>
            <a:spLocks noGrp="1"/>
          </p:cNvSpPr>
          <p:nvPr>
            <p:ph type="ctrTitle"/>
          </p:nvPr>
        </p:nvSpPr>
        <p:spPr/>
        <p:txBody>
          <a:bodyPr/>
          <a:lstStyle/>
          <a:p>
            <a:r>
              <a:rPr lang="en-US" dirty="0"/>
              <a:t>Human Prediction Errors: Conjunction Fallacy, Continued</a:t>
            </a:r>
          </a:p>
        </p:txBody>
      </p:sp>
      <p:graphicFrame>
        <p:nvGraphicFramePr>
          <p:cNvPr id="9" name="Table 8">
            <a:extLst>
              <a:ext uri="{FF2B5EF4-FFF2-40B4-BE49-F238E27FC236}">
                <a16:creationId xmlns:a16="http://schemas.microsoft.com/office/drawing/2014/main" id="{7F5629DD-FDF6-4A14-AB92-FBB369E16B49}"/>
              </a:ext>
            </a:extLst>
          </p:cNvPr>
          <p:cNvGraphicFramePr>
            <a:graphicFrameLocks noGrp="1"/>
          </p:cNvGraphicFramePr>
          <p:nvPr>
            <p:extLst>
              <p:ext uri="{D42A27DB-BD31-4B8C-83A1-F6EECF244321}">
                <p14:modId xmlns:p14="http://schemas.microsoft.com/office/powerpoint/2010/main" val="1222634463"/>
              </p:ext>
            </p:extLst>
          </p:nvPr>
        </p:nvGraphicFramePr>
        <p:xfrm>
          <a:off x="2032000" y="1013069"/>
          <a:ext cx="8128000" cy="4707782"/>
        </p:xfrm>
        <a:graphic>
          <a:graphicData uri="http://schemas.openxmlformats.org/drawingml/2006/table">
            <a:tbl>
              <a:tblPr firstRow="1" bandRow="1">
                <a:tableStyleId>{00A15C55-8517-42AA-B614-E9B94910E393}</a:tableStyleId>
              </a:tblPr>
              <a:tblGrid>
                <a:gridCol w="3528533">
                  <a:extLst>
                    <a:ext uri="{9D8B030D-6E8A-4147-A177-3AD203B41FA5}">
                      <a16:colId xmlns:a16="http://schemas.microsoft.com/office/drawing/2014/main" val="1824199129"/>
                    </a:ext>
                  </a:extLst>
                </a:gridCol>
                <a:gridCol w="4599467">
                  <a:extLst>
                    <a:ext uri="{9D8B030D-6E8A-4147-A177-3AD203B41FA5}">
                      <a16:colId xmlns:a16="http://schemas.microsoft.com/office/drawing/2014/main" val="1216607246"/>
                    </a:ext>
                  </a:extLst>
                </a:gridCol>
              </a:tblGrid>
              <a:tr h="293565">
                <a:tc gridSpan="2">
                  <a:txBody>
                    <a:bodyPr/>
                    <a:lstStyle/>
                    <a:p>
                      <a:pPr algn="ctr"/>
                      <a:r>
                        <a:rPr lang="en-US" sz="1200" dirty="0">
                          <a:latin typeface="Times New Roman" panose="02020603050405020304" pitchFamily="18" charset="0"/>
                          <a:cs typeface="Times New Roman" panose="02020603050405020304" pitchFamily="18" charset="0"/>
                        </a:rPr>
                        <a:t>Table 1</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6805314"/>
                  </a:ext>
                </a:extLst>
              </a:tr>
              <a:tr h="370840">
                <a:tc gridSpan="2">
                  <a:txBody>
                    <a:bodyPr/>
                    <a:lstStyle/>
                    <a:p>
                      <a:pPr algn="ctr"/>
                      <a:r>
                        <a:rPr lang="en-US" sz="1200" dirty="0">
                          <a:latin typeface="Times New Roman" panose="02020603050405020304" pitchFamily="18" charset="0"/>
                          <a:cs typeface="Times New Roman" panose="02020603050405020304" pitchFamily="18" charset="0"/>
                        </a:rPr>
                        <a:t>Two Examples of Each Kind of Event Pairs Used in Experiments 1 and 2</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6109774"/>
                  </a:ext>
                </a:extLst>
              </a:tr>
              <a:tr h="294337">
                <a:tc>
                  <a:txBody>
                    <a:bodyPr/>
                    <a:lstStyle/>
                    <a:p>
                      <a:pPr algn="ctr"/>
                      <a:r>
                        <a:rPr lang="en-US" sz="1100" dirty="0">
                          <a:latin typeface="Times New Roman" panose="02020603050405020304" pitchFamily="18" charset="0"/>
                          <a:cs typeface="Times New Roman" panose="02020603050405020304" pitchFamily="18" charset="0"/>
                        </a:rPr>
                        <a:t>X</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i="0" dirty="0">
                          <a:latin typeface="Times New Roman" panose="02020603050405020304" pitchFamily="18" charset="0"/>
                          <a:cs typeface="Times New Roman" panose="02020603050405020304" pitchFamily="18" charset="0"/>
                        </a:rPr>
                        <a:t>Y </a:t>
                      </a:r>
                      <a:r>
                        <a:rPr lang="en-US" sz="1100" dirty="0">
                          <a:latin typeface="Times New Roman" panose="02020603050405020304" pitchFamily="18" charset="0"/>
                          <a:ea typeface="MS Gothic" panose="020B0609070205080204" pitchFamily="49" charset="-128"/>
                          <a:cs typeface="Times New Roman" panose="02020603050405020304" pitchFamily="18" charset="0"/>
                        </a:rPr>
                        <a:t>∧ X</a:t>
                      </a:r>
                      <a:endParaRPr lang="en-US" sz="1100" i="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0207839"/>
                  </a:ext>
                </a:extLst>
              </a:tr>
              <a:tr h="370840">
                <a:tc>
                  <a:txBody>
                    <a:bodyPr/>
                    <a:lstStyle/>
                    <a:p>
                      <a:r>
                        <a:rPr lang="en-US" sz="1100" dirty="0">
                          <a:latin typeface="Times New Roman" panose="02020603050405020304" pitchFamily="18" charset="0"/>
                          <a:cs typeface="Times New Roman" panose="02020603050405020304" pitchFamily="18" charset="0"/>
                        </a:rPr>
                        <a:t>The percentage of adolescent smokers in Texas will decrease at least 15% from current levels by September 1, 1999.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latin typeface="Times New Roman" panose="02020603050405020304" pitchFamily="18" charset="0"/>
                          <a:cs typeface="Times New Roman" panose="02020603050405020304" pitchFamily="18" charset="0"/>
                        </a:rPr>
                        <a:t>The cigarette tax in Texas will increase by $1.00 per pack and the percentage of adolescent smokers in Texas will decrease at least 15% from current levels by September 1, 1999.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35511908"/>
                  </a:ext>
                </a:extLst>
              </a:tr>
              <a:tr h="370840">
                <a:tc>
                  <a:txBody>
                    <a:bodyPr/>
                    <a:lstStyle/>
                    <a:p>
                      <a:r>
                        <a:rPr lang="en-US" sz="1100" dirty="0">
                          <a:latin typeface="Times New Roman" panose="02020603050405020304" pitchFamily="18" charset="0"/>
                          <a:cs typeface="Times New Roman" panose="02020603050405020304" pitchFamily="18" charset="0"/>
                        </a:rPr>
                        <a:t>By September 1, 1999, an experimental vaccine for childhood leukemia will be announced.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latin typeface="Times New Roman" panose="02020603050405020304" pitchFamily="18" charset="0"/>
                          <a:cs typeface="Times New Roman" panose="02020603050405020304" pitchFamily="18" charset="0"/>
                        </a:rPr>
                        <a:t>The National Institutes of Health (NIH) will increase spending on vaccine development by 50% in the first 9 months of 1999, and by September 1, 1999, an experimental vaccine for childhood leukemia will be announced.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94883525"/>
                  </a:ext>
                </a:extLst>
              </a:tr>
              <a:tr h="0">
                <a:tc>
                  <a:txBody>
                    <a:bodyPr/>
                    <a:lstStyle/>
                    <a:p>
                      <a:pPr algn="ctr"/>
                      <a:r>
                        <a:rPr lang="en-US" sz="1100" dirty="0">
                          <a:latin typeface="Times New Roman" panose="02020603050405020304" pitchFamily="18" charset="0"/>
                          <a:cs typeface="Times New Roman" panose="02020603050405020304" pitchFamily="18" charset="0"/>
                        </a:rPr>
                        <a:t>X</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0" dirty="0">
                          <a:latin typeface="Times New Roman" panose="02020603050405020304" pitchFamily="18" charset="0"/>
                          <a:cs typeface="Times New Roman" panose="02020603050405020304" pitchFamily="18" charset="0"/>
                        </a:rPr>
                        <a:t>Y </a:t>
                      </a:r>
                      <a:r>
                        <a:rPr lang="en-US" sz="1100" dirty="0">
                          <a:latin typeface="Times New Roman" panose="02020603050405020304" pitchFamily="18" charset="0"/>
                          <a:ea typeface="MS Gothic" panose="020B0609070205080204" pitchFamily="49" charset="-128"/>
                          <a:cs typeface="Times New Roman" panose="02020603050405020304" pitchFamily="18" charset="0"/>
                        </a:rPr>
                        <a:t>∧ Z</a:t>
                      </a:r>
                      <a:endParaRPr lang="en-US" sz="1100" i="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166053"/>
                  </a:ext>
                </a:extLst>
              </a:tr>
              <a:tr h="370840">
                <a:tc>
                  <a:txBody>
                    <a:bodyPr/>
                    <a:lstStyle/>
                    <a:p>
                      <a:r>
                        <a:rPr lang="en-US" sz="1100" dirty="0">
                          <a:latin typeface="Times New Roman" panose="02020603050405020304" pitchFamily="18" charset="0"/>
                          <a:cs typeface="Times New Roman" panose="02020603050405020304" pitchFamily="18" charset="0"/>
                        </a:rPr>
                        <a:t>The University of Houston Philosophy Department will hire 3 new faculty members by September 1, 1999.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latin typeface="Times New Roman" panose="02020603050405020304" pitchFamily="18" charset="0"/>
                          <a:cs typeface="Times New Roman" panose="02020603050405020304" pitchFamily="18" charset="0"/>
                        </a:rPr>
                        <a:t>The University of Houston writing department will be rated in the top 10% nationwide and will announce that it will expand its faculty by September 1, 1999.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38939"/>
                  </a:ext>
                </a:extLst>
              </a:tr>
              <a:tr h="370840">
                <a:tc>
                  <a:txBody>
                    <a:bodyPr/>
                    <a:lstStyle/>
                    <a:p>
                      <a:r>
                        <a:rPr lang="en-US" sz="1100" dirty="0">
                          <a:latin typeface="Times New Roman" panose="02020603050405020304" pitchFamily="18" charset="0"/>
                          <a:cs typeface="Times New Roman" panose="02020603050405020304" pitchFamily="18" charset="0"/>
                        </a:rPr>
                        <a:t>By September 1, 1999, Texas will require people to pass a literacy test before serving on a jury.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latin typeface="Times New Roman" panose="02020603050405020304" pitchFamily="18" charset="0"/>
                          <a:cs typeface="Times New Roman" panose="02020603050405020304" pitchFamily="18" charset="0"/>
                        </a:rPr>
                        <a:t>By September 1, 1999, Texas will start selecting jurors from a pool of licensed drivers rather than registered voters and the number of registered voters will increase by 10%.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181595"/>
                  </a:ext>
                </a:extLst>
              </a:tr>
              <a:tr h="247385">
                <a:tc>
                  <a:txBody>
                    <a:bodyPr/>
                    <a:lstStyle/>
                    <a:p>
                      <a:pPr algn="ctr"/>
                      <a:r>
                        <a:rPr lang="en-US" sz="1100" dirty="0">
                          <a:latin typeface="Times New Roman" panose="02020603050405020304" pitchFamily="18" charset="0"/>
                          <a:cs typeface="Times New Roman" panose="02020603050405020304" pitchFamily="18" charset="0"/>
                        </a:rPr>
                        <a:t>X</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2650226"/>
                  </a:ext>
                </a:extLst>
              </a:tr>
              <a:tr h="370840">
                <a:tc>
                  <a:txBody>
                    <a:bodyPr/>
                    <a:lstStyle/>
                    <a:p>
                      <a:r>
                        <a:rPr lang="en-US" sz="1100" dirty="0">
                          <a:latin typeface="Times New Roman" panose="02020603050405020304" pitchFamily="18" charset="0"/>
                          <a:cs typeface="Times New Roman" panose="02020603050405020304" pitchFamily="18" charset="0"/>
                        </a:rPr>
                        <a:t>Bill Clinton will announce his intention to seek a divorce before September 1, 1999.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latin typeface="Times New Roman" panose="02020603050405020304" pitchFamily="18" charset="0"/>
                          <a:cs typeface="Times New Roman" panose="02020603050405020304" pitchFamily="18" charset="0"/>
                        </a:rPr>
                        <a:t>By September 1, 1999, Janet Reno will announce her intention to run for the Presidency.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38507090"/>
                  </a:ext>
                </a:extLst>
              </a:tr>
              <a:tr h="370840">
                <a:tc>
                  <a:txBody>
                    <a:bodyPr/>
                    <a:lstStyle/>
                    <a:p>
                      <a:r>
                        <a:rPr lang="en-US" sz="1100" dirty="0">
                          <a:latin typeface="Times New Roman" panose="02020603050405020304" pitchFamily="18" charset="0"/>
                          <a:cs typeface="Times New Roman" panose="02020603050405020304" pitchFamily="18" charset="0"/>
                        </a:rPr>
                        <a:t>Fidel Castro will be removed from political power in Cuba by September 1, 1999.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latin typeface="Times New Roman" panose="02020603050405020304" pitchFamily="18" charset="0"/>
                          <a:cs typeface="Times New Roman" panose="02020603050405020304" pitchFamily="18" charset="0"/>
                        </a:rPr>
                        <a:t>U.S. forces will be sent to Havana, Cuba before September 1, 1999.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4372897"/>
                  </a:ext>
                </a:extLst>
              </a:tr>
            </a:tbl>
          </a:graphicData>
        </a:graphic>
      </p:graphicFrame>
      <p:sp>
        <p:nvSpPr>
          <p:cNvPr id="5" name="Date Placeholder 4">
            <a:extLst>
              <a:ext uri="{FF2B5EF4-FFF2-40B4-BE49-F238E27FC236}">
                <a16:creationId xmlns:a16="http://schemas.microsoft.com/office/drawing/2014/main" id="{507DF5D7-29FE-852D-4312-2214D143D680}"/>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F94893A5-C785-30E2-DC8E-DB615A369A0F}"/>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658840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70080-DF78-6A0F-1431-E86E71FA2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92451-FBCF-0A18-7251-81CC9CBF39DE}"/>
              </a:ext>
            </a:extLst>
          </p:cNvPr>
          <p:cNvSpPr>
            <a:spLocks noGrp="1"/>
          </p:cNvSpPr>
          <p:nvPr>
            <p:ph type="ctrTitle"/>
          </p:nvPr>
        </p:nvSpPr>
        <p:spPr/>
        <p:txBody>
          <a:bodyPr/>
          <a:lstStyle/>
          <a:p>
            <a:r>
              <a:rPr lang="en-US" dirty="0"/>
              <a:t>Human Prediction Errors: Base Rate Neglect</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5931C330-24BE-DCC6-6070-239E985516C9}"/>
                  </a:ext>
                </a:extLst>
              </p:cNvPr>
              <p:cNvSpPr>
                <a:spLocks noGrp="1"/>
              </p:cNvSpPr>
              <p:nvPr>
                <p:ph type="body" sz="quarter" idx="14"/>
              </p:nvPr>
            </p:nvSpPr>
            <p:spPr>
              <a:xfrm>
                <a:off x="1828800" y="1491343"/>
                <a:ext cx="8755380" cy="3837583"/>
              </a:xfrm>
            </p:spPr>
            <p:txBody>
              <a:bodyPr>
                <a:normAutofit/>
              </a:bodyPr>
              <a:lstStyle/>
              <a:p>
                <a:r>
                  <a:rPr lang="en-US" sz="2400" dirty="0"/>
                  <a:t>Humans can ignore base-rate when given new information</a:t>
                </a:r>
              </a:p>
              <a:p>
                <a:endParaRPr lang="en-US" sz="2400" dirty="0"/>
              </a:p>
              <a:p>
                <a:r>
                  <a:rPr lang="en-US" sz="2400" dirty="0"/>
                  <a:t>Suppose there is a medical test</a:t>
                </a:r>
              </a:p>
              <a:p>
                <a:pPr lvl="1"/>
                <a:r>
                  <a:rPr lang="en-US" sz="2400" dirty="0"/>
                  <a:t>Test has 5% FPR: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𝑝𝑜𝑠𝑖𝑡𝑖𝑣𝑒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e>
                      <m:e>
                        <m:r>
                          <a:rPr lang="en-US" sz="2400" b="0" i="1" smtClean="0">
                            <a:latin typeface="Cambria Math" panose="02040503050406030204" pitchFamily="18" charset="0"/>
                          </a:rPr>
                          <m:t>𝑛𝑜𝑡</m:t>
                        </m:r>
                        <m:r>
                          <a:rPr lang="en-US" sz="2400" b="0" i="1" smtClean="0">
                            <a:latin typeface="Cambria Math" panose="02040503050406030204" pitchFamily="18" charset="0"/>
                          </a:rPr>
                          <m:t> </m:t>
                        </m:r>
                        <m:r>
                          <a:rPr lang="en-US" sz="2400" b="0" i="1" smtClean="0">
                            <a:latin typeface="Cambria Math" panose="02040503050406030204" pitchFamily="18" charset="0"/>
                          </a:rPr>
                          <m:t>𝑠𝑖𝑐𝑘</m:t>
                        </m:r>
                      </m:e>
                    </m:d>
                    <m:r>
                      <a:rPr lang="en-US" sz="2400" b="0" i="1" smtClean="0">
                        <a:latin typeface="Cambria Math" panose="02040503050406030204" pitchFamily="18" charset="0"/>
                      </a:rPr>
                      <m:t>=0.05</m:t>
                    </m:r>
                  </m:oMath>
                </a14:m>
                <a:endParaRPr lang="en-US" sz="2400" dirty="0"/>
              </a:p>
              <a:p>
                <a:pPr lvl="1"/>
                <a:r>
                  <a:rPr lang="en-US" sz="2400" dirty="0"/>
                  <a:t>Test has 0% FNR: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𝑛𝑒𝑔𝑎𝑡𝑖𝑣𝑒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e>
                      <m:e>
                        <m:r>
                          <a:rPr lang="en-US" sz="2400" b="0" i="1" smtClean="0">
                            <a:latin typeface="Cambria Math" panose="02040503050406030204" pitchFamily="18" charset="0"/>
                          </a:rPr>
                          <m:t>𝑠𝑖𝑐𝑘</m:t>
                        </m:r>
                      </m:e>
                    </m:d>
                    <m:r>
                      <a:rPr lang="en-US" sz="2400" b="0" i="1" smtClean="0">
                        <a:latin typeface="Cambria Math" panose="02040503050406030204" pitchFamily="18" charset="0"/>
                      </a:rPr>
                      <m:t>=0</m:t>
                    </m:r>
                  </m:oMath>
                </a14:m>
                <a:endParaRPr lang="en-US" sz="2400" dirty="0"/>
              </a:p>
              <a:p>
                <a:pPr lvl="1"/>
                <a:r>
                  <a:rPr lang="en-US" sz="2400" dirty="0"/>
                  <a:t>1% of population has the disease</a:t>
                </a:r>
              </a:p>
              <a:p>
                <a:endParaRPr lang="en-US" sz="2400" dirty="0"/>
              </a:p>
              <a:p>
                <a:r>
                  <a:rPr lang="en-US" sz="2400" dirty="0"/>
                  <a:t>Question: I get a positive test, what is the probability I am sick?</a:t>
                </a:r>
              </a:p>
            </p:txBody>
          </p:sp>
        </mc:Choice>
        <mc:Fallback xmlns="">
          <p:sp>
            <p:nvSpPr>
              <p:cNvPr id="4" name="Text Placeholder 3">
                <a:extLst>
                  <a:ext uri="{FF2B5EF4-FFF2-40B4-BE49-F238E27FC236}">
                    <a16:creationId xmlns:a16="http://schemas.microsoft.com/office/drawing/2014/main" id="{5931C330-24BE-DCC6-6070-239E985516C9}"/>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2029" t="-264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BE1E0381-8AE6-4840-016F-985B1A536149}"/>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A139A891-73B4-B956-6B88-274ED77FC576}"/>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3864934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535DA-432E-0EC6-6D5D-87DC8A778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257AD-46AE-9EF1-A3F1-83A9628DA808}"/>
              </a:ext>
            </a:extLst>
          </p:cNvPr>
          <p:cNvSpPr>
            <a:spLocks noGrp="1"/>
          </p:cNvSpPr>
          <p:nvPr>
            <p:ph type="ctrTitle"/>
          </p:nvPr>
        </p:nvSpPr>
        <p:spPr/>
        <p:txBody>
          <a:bodyPr/>
          <a:lstStyle/>
          <a:p>
            <a:r>
              <a:rPr lang="en-US" dirty="0"/>
              <a:t>Bayes Rule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1B88895-7EF1-3133-67E9-41175B2D85EF}"/>
                  </a:ext>
                </a:extLst>
              </p:cNvPr>
              <p:cNvSpPr>
                <a:spLocks noGrp="1"/>
              </p:cNvSpPr>
              <p:nvPr>
                <p:ph type="body" sz="quarter" idx="14"/>
              </p:nvPr>
            </p:nvSpPr>
            <p:spPr>
              <a:xfrm>
                <a:off x="1828800" y="1491343"/>
                <a:ext cx="8755380" cy="3837583"/>
              </a:xfrm>
            </p:spPr>
            <p:txBody>
              <a:bodyPr>
                <a:normAutofit/>
              </a:bodyPr>
              <a:lstStyle/>
              <a:p>
                <a:r>
                  <a:rPr lang="en-US" sz="2400" dirty="0"/>
                  <a:t>Conditional probability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𝑎</m:t>
                        </m:r>
                      </m:e>
                      <m:e>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𝑏</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𝑏</m:t>
                            </m:r>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𝑏</m:t>
                            </m:r>
                          </m:e>
                        </m:d>
                      </m:den>
                    </m:f>
                  </m:oMath>
                </a14:m>
                <a:endParaRPr lang="en-US" sz="2400" dirty="0"/>
              </a:p>
              <a:p>
                <a:endParaRPr lang="en-US" sz="2400" dirty="0"/>
              </a:p>
              <a:p>
                <a:r>
                  <a:rPr lang="en-US" sz="2400" dirty="0"/>
                  <a:t>Bayes rule relates the quantities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e>
                        <m:r>
                          <a:rPr lang="en-US" sz="2400" b="0" i="1" smtClean="0">
                            <a:latin typeface="Cambria Math" panose="02040503050406030204" pitchFamily="18" charset="0"/>
                          </a:rPr>
                          <m:t>𝐵</m:t>
                        </m:r>
                      </m:e>
                    </m:d>
                  </m:oMath>
                </a14:m>
                <a:r>
                  <a:rPr lang="en-US" sz="2400" dirty="0"/>
                  <a:t> and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oMath>
                </a14:m>
                <a:r>
                  <a:rPr lang="en-US" sz="2400" dirty="0"/>
                  <a:t>:</a:t>
                </a:r>
              </a:p>
              <a:p>
                <a:pPr marL="0" indent="0">
                  <a:buNone/>
                </a:pP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e>
                          <m:r>
                            <a:rPr lang="en-US" sz="2400" b="0" i="1" smtClean="0">
                              <a:latin typeface="Cambria Math" panose="02040503050406030204" pitchFamily="18" charset="0"/>
                            </a:rPr>
                            <m:t>𝐵</m:t>
                          </m:r>
                        </m:e>
                      </m:d>
                      <m:r>
                        <a:rPr lang="en-US" sz="2400" i="1">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𝐵</m:t>
                          </m:r>
                        </m:e>
                        <m:e>
                          <m:r>
                            <a:rPr lang="en-US" sz="2400" i="1">
                              <a:latin typeface="Cambria Math" panose="02040503050406030204" pitchFamily="18" charset="0"/>
                            </a:rPr>
                            <m:t>𝐴</m:t>
                          </m:r>
                        </m:e>
                      </m:d>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𝐵</m:t>
                              </m:r>
                            </m:e>
                          </m:d>
                        </m:den>
                      </m:f>
                    </m:oMath>
                  </m:oMathPara>
                </a14:m>
                <a:endParaRPr lang="en-US" sz="2400" dirty="0"/>
              </a:p>
            </p:txBody>
          </p:sp>
        </mc:Choice>
        <mc:Fallback xmlns="">
          <p:sp>
            <p:nvSpPr>
              <p:cNvPr id="4" name="Text Placeholder 3">
                <a:extLst>
                  <a:ext uri="{FF2B5EF4-FFF2-40B4-BE49-F238E27FC236}">
                    <a16:creationId xmlns:a16="http://schemas.microsoft.com/office/drawing/2014/main" id="{01B88895-7EF1-3133-67E9-41175B2D85EF}"/>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202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40FA2612-A21B-101D-39B8-5913782A4C7F}"/>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16BD6E12-F3D0-E12A-08E6-DF2D7363074E}"/>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2992660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392FA-B427-76C5-6AA5-A3FD90CEF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1596B-D924-2EF1-FDCA-CDEE95C301C3}"/>
              </a:ext>
            </a:extLst>
          </p:cNvPr>
          <p:cNvSpPr>
            <a:spLocks noGrp="1"/>
          </p:cNvSpPr>
          <p:nvPr>
            <p:ph type="ctrTitle"/>
          </p:nvPr>
        </p:nvSpPr>
        <p:spPr/>
        <p:txBody>
          <a:bodyPr/>
          <a:lstStyle/>
          <a:p>
            <a:r>
              <a:rPr lang="en-US" dirty="0"/>
              <a:t>Human Prediction Errors: Base Rate Neglect, Continued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393F5E4-6DCD-56E8-3044-6C54BF96182C}"/>
                  </a:ext>
                </a:extLst>
              </p:cNvPr>
              <p:cNvSpPr>
                <a:spLocks noGrp="1"/>
              </p:cNvSpPr>
              <p:nvPr>
                <p:ph type="body" sz="quarter" idx="14"/>
              </p:nvPr>
            </p:nvSpPr>
            <p:spPr>
              <a:xfrm>
                <a:off x="1828800" y="1491343"/>
                <a:ext cx="8755380" cy="3837583"/>
              </a:xfrm>
            </p:spPr>
            <p:txBody>
              <a:bodyPr>
                <a:normAutofit fontScale="70000" lnSpcReduction="20000"/>
              </a:bodyPr>
              <a:lstStyle/>
              <a:p>
                <a:r>
                  <a:rPr lang="en-US" sz="2400" dirty="0"/>
                  <a:t>Question: I get a positive test, what is the probability I am sick?</a:t>
                </a:r>
              </a:p>
              <a:p>
                <a:pPr lvl="1"/>
                <a:r>
                  <a:rPr lang="en-US" sz="2400" dirty="0"/>
                  <a:t>Many people will say 95%</a:t>
                </a:r>
              </a:p>
              <a:p>
                <a:pPr lvl="1"/>
                <a:r>
                  <a:rPr lang="en-US" sz="2400" dirty="0"/>
                  <a:t>This confuses two different conditional probabilities</a:t>
                </a:r>
              </a:p>
              <a:p>
                <a:endParaRPr lang="en-US" sz="2400" dirty="0"/>
              </a:p>
              <a:p>
                <a:r>
                  <a:rPr lang="en-US" sz="2400" dirty="0"/>
                  <a:t>Answer uses Bayes rule: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𝑛𝑜𝑡</m:t>
                          </m:r>
                          <m:r>
                            <a:rPr lang="en-US" sz="2400" b="0" i="1" smtClean="0">
                              <a:latin typeface="Cambria Math" panose="02040503050406030204" pitchFamily="18" charset="0"/>
                            </a:rPr>
                            <m:t> </m:t>
                          </m:r>
                          <m:r>
                            <a:rPr lang="en-US" sz="2400" b="0" i="1" smtClean="0">
                              <a:latin typeface="Cambria Math" panose="02040503050406030204" pitchFamily="18" charset="0"/>
                            </a:rPr>
                            <m:t>𝑠𝑖𝑐𝑘</m:t>
                          </m:r>
                        </m:e>
                        <m:e>
                          <m:r>
                            <a:rPr lang="en-US" sz="2400" b="0" i="1" smtClean="0">
                              <a:latin typeface="Cambria Math" panose="02040503050406030204" pitchFamily="18" charset="0"/>
                            </a:rPr>
                            <m:t>𝑝𝑜𝑠𝑖𝑡𝑖𝑣𝑒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𝑛𝑜𝑡</m:t>
                              </m:r>
                              <m:r>
                                <a:rPr lang="en-US" sz="2400" b="0" i="1" smtClean="0">
                                  <a:latin typeface="Cambria Math" panose="02040503050406030204" pitchFamily="18" charset="0"/>
                                </a:rPr>
                                <m:t> </m:t>
                              </m:r>
                              <m:r>
                                <a:rPr lang="en-US" sz="2400" b="0" i="1" smtClean="0">
                                  <a:latin typeface="Cambria Math" panose="02040503050406030204" pitchFamily="18" charset="0"/>
                                </a:rPr>
                                <m:t>𝑠𝑖𝑐𝑘</m:t>
                              </m:r>
                              <m:r>
                                <a:rPr lang="en-US" sz="2400" b="0" i="1" smtClean="0">
                                  <a:latin typeface="Cambria Math" panose="02040503050406030204" pitchFamily="18" charset="0"/>
                                </a:rPr>
                                <m:t>,</m:t>
                              </m:r>
                              <m:r>
                                <a:rPr lang="en-US" sz="2400" b="0" i="1" smtClean="0">
                                  <a:latin typeface="Cambria Math" panose="02040503050406030204" pitchFamily="18" charset="0"/>
                                </a:rPr>
                                <m:t>𝑝𝑜𝑠𝑖𝑡𝑖𝑣𝑒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𝑝𝑜𝑠𝑖𝑡𝑖𝑣𝑒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e>
                          </m:d>
                        </m:den>
                      </m:f>
                    </m:oMath>
                  </m:oMathPara>
                </a14:m>
                <a:endParaRPr lang="en-US" sz="2400" dirty="0"/>
              </a:p>
              <a:p>
                <a:pPr marL="0" indent="0">
                  <a:buNone/>
                </a:pP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𝑝𝑜𝑠𝑖𝑡𝑖𝑣𝑒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r>
                                <a:rPr lang="en-US" sz="2400" b="0" i="1" smtClean="0">
                                  <a:latin typeface="Cambria Math" panose="02040503050406030204" pitchFamily="18" charset="0"/>
                                </a:rPr>
                                <m:t>|</m:t>
                              </m:r>
                              <m:r>
                                <a:rPr lang="en-US" sz="2400" b="0" i="1" smtClean="0">
                                  <a:latin typeface="Cambria Math" panose="02040503050406030204" pitchFamily="18" charset="0"/>
                                </a:rPr>
                                <m:t>𝑛𝑜𝑡</m:t>
                              </m:r>
                              <m:r>
                                <a:rPr lang="en-US" sz="2400" b="0" i="1" smtClean="0">
                                  <a:latin typeface="Cambria Math" panose="02040503050406030204" pitchFamily="18" charset="0"/>
                                </a:rPr>
                                <m:t> </m:t>
                              </m:r>
                              <m:r>
                                <a:rPr lang="en-US" sz="2400" b="0" i="1" smtClean="0">
                                  <a:latin typeface="Cambria Math" panose="02040503050406030204" pitchFamily="18" charset="0"/>
                                </a:rPr>
                                <m:t>𝑠𝑖𝑐𝑘</m:t>
                              </m:r>
                            </m:e>
                          </m:d>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𝑛𝑜𝑡</m:t>
                          </m:r>
                          <m:r>
                            <a:rPr lang="en-US" sz="2400" b="0" i="1" smtClean="0">
                              <a:latin typeface="Cambria Math" panose="02040503050406030204" pitchFamily="18" charset="0"/>
                            </a:rPr>
                            <m:t> </m:t>
                          </m:r>
                          <m:r>
                            <a:rPr lang="en-US" sz="2400" b="0" i="1" smtClean="0">
                              <a:latin typeface="Cambria Math" panose="02040503050406030204" pitchFamily="18" charset="0"/>
                            </a:rPr>
                            <m:t>𝑠𝑖𝑐𝑘</m:t>
                          </m:r>
                          <m:r>
                            <a:rPr lang="en-US" sz="2400" b="0" i="1" smtClean="0">
                              <a:latin typeface="Cambria Math" panose="02040503050406030204" pitchFamily="18" charset="0"/>
                            </a:rPr>
                            <m:t>)</m:t>
                          </m:r>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𝑝𝑜𝑠𝑖𝑡𝑖𝑣𝑒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e>
                          </m:d>
                        </m:den>
                      </m:f>
                    </m:oMath>
                  </m:oMathPara>
                </a14:m>
                <a:endParaRPr lang="en-US" sz="2400" b="0" dirty="0"/>
              </a:p>
              <a:p>
                <a:pPr marL="0" indent="0">
                  <a:buNone/>
                </a:pP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0.05×</m:t>
                          </m:r>
                          <m:r>
                            <a:rPr lang="en-US" sz="2400" b="0" i="1" smtClean="0">
                              <a:latin typeface="Cambria Math" panose="02040503050406030204" pitchFamily="18" charset="0"/>
                            </a:rPr>
                            <m:t>0.99</m:t>
                          </m:r>
                        </m:num>
                        <m:den>
                          <m:r>
                            <a:rPr lang="en-US" sz="2400" b="0" i="1" smtClean="0">
                              <a:latin typeface="Cambria Math" panose="02040503050406030204" pitchFamily="18" charset="0"/>
                            </a:rPr>
                            <m:t>1×0.01+0.99×0.05</m:t>
                          </m:r>
                        </m:den>
                      </m:f>
                      <m:r>
                        <a:rPr lang="en-US" sz="2400" b="0" i="1" smtClean="0">
                          <a:latin typeface="Cambria Math" panose="02040503050406030204" pitchFamily="18" charset="0"/>
                        </a:rPr>
                        <m:t>=83%</m:t>
                      </m:r>
                    </m:oMath>
                  </m:oMathPara>
                </a14:m>
                <a:endParaRPr lang="en-US" sz="2400" b="0" dirty="0"/>
              </a:p>
              <a:p>
                <a:pPr marL="0" indent="0">
                  <a:buNone/>
                </a:pP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𝑠𝑖𝑐𝑘</m:t>
                          </m:r>
                        </m:e>
                        <m:e>
                          <m:r>
                            <a:rPr lang="en-US" sz="2400" b="0" i="1" smtClean="0">
                              <a:latin typeface="Cambria Math" panose="02040503050406030204" pitchFamily="18" charset="0"/>
                            </a:rPr>
                            <m:t>𝑝𝑜𝑠𝑖𝑡𝑖𝑣𝑒</m:t>
                          </m:r>
                          <m:r>
                            <a:rPr lang="en-US" sz="2400" b="0" i="1" smtClean="0">
                              <a:latin typeface="Cambria Math" panose="02040503050406030204" pitchFamily="18" charset="0"/>
                            </a:rPr>
                            <m:t> </m:t>
                          </m:r>
                          <m:r>
                            <a:rPr lang="en-US" sz="2400" b="0" i="1" smtClean="0">
                              <a:latin typeface="Cambria Math" panose="02040503050406030204" pitchFamily="18" charset="0"/>
                            </a:rPr>
                            <m:t>𝑡𝑒𝑠𝑡</m:t>
                          </m:r>
                        </m:e>
                      </m:d>
                      <m:r>
                        <a:rPr lang="en-US" sz="2400" b="0" i="1" smtClean="0">
                          <a:latin typeface="Cambria Math" panose="02040503050406030204" pitchFamily="18" charset="0"/>
                        </a:rPr>
                        <m:t>=1−0.83=17%</m:t>
                      </m:r>
                    </m:oMath>
                  </m:oMathPara>
                </a14:m>
                <a:endParaRPr lang="en-US" sz="2400" dirty="0"/>
              </a:p>
              <a:p>
                <a:pPr marL="0" indent="0">
                  <a:buNone/>
                </a:pPr>
                <a:endParaRPr lang="en-US" sz="2400" b="0" dirty="0"/>
              </a:p>
              <a:p>
                <a:pPr marL="0" indent="0">
                  <a:buNone/>
                </a:pPr>
                <a:endParaRPr lang="en-US" sz="2400" dirty="0"/>
              </a:p>
              <a:p>
                <a:pPr lvl="1"/>
                <a:endParaRPr lang="en-US" sz="2400" dirty="0"/>
              </a:p>
            </p:txBody>
          </p:sp>
        </mc:Choice>
        <mc:Fallback xmlns="">
          <p:sp>
            <p:nvSpPr>
              <p:cNvPr id="4" name="Text Placeholder 3">
                <a:extLst>
                  <a:ext uri="{FF2B5EF4-FFF2-40B4-BE49-F238E27FC236}">
                    <a16:creationId xmlns:a16="http://schemas.microsoft.com/office/drawing/2014/main" id="{F393F5E4-6DCD-56E8-3044-6C54BF96182C}"/>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1449" t="-2970" b="-66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FE051D9E-FC72-14EE-2FBE-8A22FB5E1E97}"/>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DCE1475D-F4CA-07E9-D7EB-A05A83228C5A}"/>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607672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3CF93-95B4-D0A4-B6FC-9BE6F5325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D512F-8047-9730-830C-FAB726A24A64}"/>
              </a:ext>
            </a:extLst>
          </p:cNvPr>
          <p:cNvSpPr>
            <a:spLocks noGrp="1"/>
          </p:cNvSpPr>
          <p:nvPr>
            <p:ph type="ctrTitle"/>
          </p:nvPr>
        </p:nvSpPr>
        <p:spPr/>
        <p:txBody>
          <a:bodyPr/>
          <a:lstStyle/>
          <a:p>
            <a:r>
              <a:rPr lang="en-US" dirty="0"/>
              <a:t>Human Prediction Errors: Noise</a:t>
            </a:r>
          </a:p>
        </p:txBody>
      </p:sp>
      <p:pic>
        <p:nvPicPr>
          <p:cNvPr id="7" name="Picture 6" descr="Four target diagrams illustrating accuracy, bias, and noise in measurement.">
            <a:extLst>
              <a:ext uri="{FF2B5EF4-FFF2-40B4-BE49-F238E27FC236}">
                <a16:creationId xmlns:a16="http://schemas.microsoft.com/office/drawing/2014/main" id="{CFEE11DA-DE2F-6BA7-9E3E-FFDC43D1F8D8}"/>
              </a:ext>
            </a:extLst>
          </p:cNvPr>
          <p:cNvPicPr>
            <a:picLocks noChangeAspect="1"/>
          </p:cNvPicPr>
          <p:nvPr/>
        </p:nvPicPr>
        <p:blipFill>
          <a:blip r:embed="rId3"/>
          <a:stretch>
            <a:fillRect/>
          </a:stretch>
        </p:blipFill>
        <p:spPr>
          <a:xfrm>
            <a:off x="4465903" y="1467989"/>
            <a:ext cx="3481173" cy="3860937"/>
          </a:xfrm>
          <a:prstGeom prst="rect">
            <a:avLst/>
          </a:prstGeom>
        </p:spPr>
      </p:pic>
      <p:sp>
        <p:nvSpPr>
          <p:cNvPr id="5" name="Date Placeholder 4">
            <a:extLst>
              <a:ext uri="{FF2B5EF4-FFF2-40B4-BE49-F238E27FC236}">
                <a16:creationId xmlns:a16="http://schemas.microsoft.com/office/drawing/2014/main" id="{12C6E0ED-3639-6114-E98B-9A1A78352223}"/>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A4CB6418-3C10-45C9-D349-E9482CE36371}"/>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601485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1F3E-CD9E-344C-F048-A4DBD0CF9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D21E9-CDA7-3123-7589-F5E021295840}"/>
              </a:ext>
            </a:extLst>
          </p:cNvPr>
          <p:cNvSpPr>
            <a:spLocks noGrp="1"/>
          </p:cNvSpPr>
          <p:nvPr>
            <p:ph type="ctrTitle"/>
          </p:nvPr>
        </p:nvSpPr>
        <p:spPr/>
        <p:txBody>
          <a:bodyPr/>
          <a:lstStyle/>
          <a:p>
            <a:r>
              <a:rPr lang="en-US" dirty="0"/>
              <a:t>Human Prediction Noise: Emotional Judges</a:t>
            </a:r>
          </a:p>
        </p:txBody>
      </p:sp>
      <p:sp>
        <p:nvSpPr>
          <p:cNvPr id="4" name="Text Placeholder 3">
            <a:extLst>
              <a:ext uri="{FF2B5EF4-FFF2-40B4-BE49-F238E27FC236}">
                <a16:creationId xmlns:a16="http://schemas.microsoft.com/office/drawing/2014/main" id="{386E8610-6F88-B1CB-A861-DC01990F8C36}"/>
              </a:ext>
            </a:extLst>
          </p:cNvPr>
          <p:cNvSpPr>
            <a:spLocks noGrp="1"/>
          </p:cNvSpPr>
          <p:nvPr>
            <p:ph type="body" sz="quarter" idx="14"/>
          </p:nvPr>
        </p:nvSpPr>
        <p:spPr>
          <a:xfrm>
            <a:off x="1828800" y="1491344"/>
            <a:ext cx="8755380" cy="1796314"/>
          </a:xfrm>
        </p:spPr>
        <p:txBody>
          <a:bodyPr>
            <a:normAutofit/>
          </a:bodyPr>
          <a:lstStyle/>
          <a:p>
            <a:r>
              <a:rPr lang="en-US" sz="2400" dirty="0"/>
              <a:t>Upset loss by local college football team increases juvenile sentence lengths by 34 days</a:t>
            </a:r>
          </a:p>
        </p:txBody>
      </p:sp>
      <p:graphicFrame>
        <p:nvGraphicFramePr>
          <p:cNvPr id="8" name="Table 7">
            <a:extLst>
              <a:ext uri="{FF2B5EF4-FFF2-40B4-BE49-F238E27FC236}">
                <a16:creationId xmlns:a16="http://schemas.microsoft.com/office/drawing/2014/main" id="{868AF9E2-7D45-32BB-A00B-187191072858}"/>
              </a:ext>
            </a:extLst>
          </p:cNvPr>
          <p:cNvGraphicFramePr>
            <a:graphicFrameLocks noGrp="1"/>
          </p:cNvGraphicFramePr>
          <p:nvPr>
            <p:extLst>
              <p:ext uri="{D42A27DB-BD31-4B8C-83A1-F6EECF244321}">
                <p14:modId xmlns:p14="http://schemas.microsoft.com/office/powerpoint/2010/main" val="3535353368"/>
              </p:ext>
            </p:extLst>
          </p:nvPr>
        </p:nvGraphicFramePr>
        <p:xfrm>
          <a:off x="2032000" y="2687320"/>
          <a:ext cx="8128000" cy="1483360"/>
        </p:xfrm>
        <a:graphic>
          <a:graphicData uri="http://schemas.openxmlformats.org/drawingml/2006/table">
            <a:tbl>
              <a:tblPr firstRow="1" bandRow="1">
                <a:tableStyleId>{00A15C55-8517-42AA-B614-E9B94910E393}</a:tableStyleId>
              </a:tblPr>
              <a:tblGrid>
                <a:gridCol w="1625600">
                  <a:extLst>
                    <a:ext uri="{9D8B030D-6E8A-4147-A177-3AD203B41FA5}">
                      <a16:colId xmlns:a16="http://schemas.microsoft.com/office/drawing/2014/main" val="1104372202"/>
                    </a:ext>
                  </a:extLst>
                </a:gridCol>
                <a:gridCol w="1625600">
                  <a:extLst>
                    <a:ext uri="{9D8B030D-6E8A-4147-A177-3AD203B41FA5}">
                      <a16:colId xmlns:a16="http://schemas.microsoft.com/office/drawing/2014/main" val="1766044434"/>
                    </a:ext>
                  </a:extLst>
                </a:gridCol>
                <a:gridCol w="1625600">
                  <a:extLst>
                    <a:ext uri="{9D8B030D-6E8A-4147-A177-3AD203B41FA5}">
                      <a16:colId xmlns:a16="http://schemas.microsoft.com/office/drawing/2014/main" val="2983660421"/>
                    </a:ext>
                  </a:extLst>
                </a:gridCol>
                <a:gridCol w="1625600">
                  <a:extLst>
                    <a:ext uri="{9D8B030D-6E8A-4147-A177-3AD203B41FA5}">
                      <a16:colId xmlns:a16="http://schemas.microsoft.com/office/drawing/2014/main" val="2891038488"/>
                    </a:ext>
                  </a:extLst>
                </a:gridCol>
                <a:gridCol w="1625600">
                  <a:extLst>
                    <a:ext uri="{9D8B030D-6E8A-4147-A177-3AD203B41FA5}">
                      <a16:colId xmlns:a16="http://schemas.microsoft.com/office/drawing/2014/main" val="2506781064"/>
                    </a:ext>
                  </a:extLst>
                </a:gridCol>
              </a:tblGrid>
              <a:tr h="370840">
                <a:tc gridSpan="5">
                  <a:txBody>
                    <a:bodyPr/>
                    <a:lstStyle/>
                    <a:p>
                      <a:pPr algn="ctr"/>
                      <a:r>
                        <a:rPr lang="en-US" b="0" dirty="0">
                          <a:latin typeface="Times New Roman" panose="02020603050405020304" pitchFamily="18" charset="0"/>
                          <a:cs typeface="Times New Roman" panose="02020603050405020304" pitchFamily="18" charset="0"/>
                        </a:rPr>
                        <a:t>Sentence Length</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34373060"/>
                  </a:ext>
                </a:extLst>
              </a:tr>
              <a:tr h="370840">
                <a:tc>
                  <a:txBody>
                    <a:bodyPr/>
                    <a:lstStyle/>
                    <a:p>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(2)</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8327464"/>
                  </a:ext>
                </a:extLst>
              </a:tr>
              <a:tr h="370840">
                <a:tc>
                  <a:txBody>
                    <a:bodyPr/>
                    <a:lstStyle/>
                    <a:p>
                      <a:r>
                        <a:rPr lang="en-US" dirty="0">
                          <a:latin typeface="Times New Roman" panose="02020603050405020304" pitchFamily="18" charset="0"/>
                          <a:cs typeface="Times New Roman" panose="02020603050405020304" pitchFamily="18" charset="0"/>
                        </a:rPr>
                        <a:t>Upset Loss</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33.806</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37.003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37.654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31.683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87666353"/>
                  </a:ext>
                </a:extLst>
              </a:tr>
              <a:tr h="370840">
                <a:tc>
                  <a:txBody>
                    <a:bodyPr/>
                    <a:lstStyle/>
                    <a:p>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(18.483)</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(18.410)</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(18.282)</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Times New Roman" panose="02020603050405020304" pitchFamily="18" charset="0"/>
                          <a:cs typeface="Times New Roman" panose="02020603050405020304" pitchFamily="18" charset="0"/>
                        </a:rPr>
                        <a:t>(13.269)</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634668"/>
                  </a:ext>
                </a:extLst>
              </a:tr>
            </a:tbl>
          </a:graphicData>
        </a:graphic>
      </p:graphicFrame>
      <p:sp>
        <p:nvSpPr>
          <p:cNvPr id="11" name="TextBox 10">
            <a:extLst>
              <a:ext uri="{FF2B5EF4-FFF2-40B4-BE49-F238E27FC236}">
                <a16:creationId xmlns:a16="http://schemas.microsoft.com/office/drawing/2014/main" id="{73DEA7BD-4228-D725-1BAC-75DA8E44C9D9}"/>
              </a:ext>
            </a:extLst>
          </p:cNvPr>
          <p:cNvSpPr txBox="1"/>
          <p:nvPr/>
        </p:nvSpPr>
        <p:spPr>
          <a:xfrm>
            <a:off x="6951519" y="4301750"/>
            <a:ext cx="3293466" cy="369332"/>
          </a:xfrm>
          <a:prstGeom prst="rect">
            <a:avLst/>
          </a:prstGeom>
          <a:noFill/>
        </p:spPr>
        <p:txBody>
          <a:bodyPr wrap="none" rtlCol="0">
            <a:spAutoFit/>
          </a:bodyPr>
          <a:lstStyle/>
          <a:p>
            <a:r>
              <a:rPr lang="en-US" dirty="0"/>
              <a:t>Source: Eren and </a:t>
            </a:r>
            <a:r>
              <a:rPr lang="en-US" dirty="0" err="1"/>
              <a:t>Mocan</a:t>
            </a:r>
            <a:r>
              <a:rPr lang="en-US" dirty="0"/>
              <a:t> (2018)</a:t>
            </a:r>
          </a:p>
        </p:txBody>
      </p:sp>
      <p:sp>
        <p:nvSpPr>
          <p:cNvPr id="5" name="Date Placeholder 4">
            <a:extLst>
              <a:ext uri="{FF2B5EF4-FFF2-40B4-BE49-F238E27FC236}">
                <a16:creationId xmlns:a16="http://schemas.microsoft.com/office/drawing/2014/main" id="{EE4F6815-6283-CCB9-1B64-01A99111E089}"/>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AFA4D46B-FAD7-2850-6A22-22B7AFE4E17E}"/>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2431438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145DD-B491-2FE9-E96A-90951C709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31C6A-BC2E-9D60-2152-9BA7DA39AF77}"/>
              </a:ext>
            </a:extLst>
          </p:cNvPr>
          <p:cNvSpPr>
            <a:spLocks noGrp="1"/>
          </p:cNvSpPr>
          <p:nvPr>
            <p:ph type="ctrTitle"/>
          </p:nvPr>
        </p:nvSpPr>
        <p:spPr/>
        <p:txBody>
          <a:bodyPr/>
          <a:lstStyle/>
          <a:p>
            <a:r>
              <a:rPr lang="en-US" dirty="0"/>
              <a:t>Comparative Advantage of Humans vs Algorithm</a:t>
            </a:r>
          </a:p>
        </p:txBody>
      </p:sp>
      <p:sp>
        <p:nvSpPr>
          <p:cNvPr id="4" name="Text Placeholder 3">
            <a:extLst>
              <a:ext uri="{FF2B5EF4-FFF2-40B4-BE49-F238E27FC236}">
                <a16:creationId xmlns:a16="http://schemas.microsoft.com/office/drawing/2014/main" id="{9B7CA9CA-691C-4C62-018C-FE2B59CA29E5}"/>
              </a:ext>
            </a:extLst>
          </p:cNvPr>
          <p:cNvSpPr>
            <a:spLocks noGrp="1"/>
          </p:cNvSpPr>
          <p:nvPr>
            <p:ph type="body" sz="quarter" idx="14"/>
          </p:nvPr>
        </p:nvSpPr>
        <p:spPr>
          <a:xfrm>
            <a:off x="1828800" y="1491343"/>
            <a:ext cx="8755380" cy="3995057"/>
          </a:xfrm>
        </p:spPr>
        <p:txBody>
          <a:bodyPr>
            <a:normAutofit lnSpcReduction="10000"/>
          </a:bodyPr>
          <a:lstStyle/>
          <a:p>
            <a:r>
              <a:rPr lang="en-US" sz="2400" dirty="0"/>
              <a:t>Algorithmic decisions</a:t>
            </a:r>
          </a:p>
          <a:p>
            <a:pPr lvl="1"/>
            <a:r>
              <a:rPr lang="en-US" sz="2400" dirty="0"/>
              <a:t>Instantaneous</a:t>
            </a:r>
          </a:p>
          <a:p>
            <a:pPr lvl="1"/>
            <a:r>
              <a:rPr lang="en-US" sz="2400" dirty="0"/>
              <a:t>Consistent</a:t>
            </a:r>
          </a:p>
          <a:p>
            <a:pPr lvl="1"/>
            <a:r>
              <a:rPr lang="en-US" sz="2400" dirty="0"/>
              <a:t>Makes good use of training data</a:t>
            </a:r>
          </a:p>
          <a:p>
            <a:pPr lvl="1"/>
            <a:r>
              <a:rPr lang="en-US" sz="2400" dirty="0"/>
              <a:t>Objective is clear</a:t>
            </a:r>
          </a:p>
          <a:p>
            <a:endParaRPr lang="en-US" sz="2400" dirty="0"/>
          </a:p>
          <a:p>
            <a:r>
              <a:rPr lang="en-US" sz="2400" dirty="0"/>
              <a:t>Human decisions</a:t>
            </a:r>
          </a:p>
          <a:p>
            <a:pPr lvl="1"/>
            <a:r>
              <a:rPr lang="en-US" sz="2400" dirty="0"/>
              <a:t>Able to use additional data</a:t>
            </a:r>
          </a:p>
          <a:p>
            <a:pPr lvl="1"/>
            <a:r>
              <a:rPr lang="en-US" sz="2400" dirty="0"/>
              <a:t>More explainable?</a:t>
            </a:r>
          </a:p>
        </p:txBody>
      </p:sp>
      <p:sp>
        <p:nvSpPr>
          <p:cNvPr id="5" name="Date Placeholder 4">
            <a:extLst>
              <a:ext uri="{FF2B5EF4-FFF2-40B4-BE49-F238E27FC236}">
                <a16:creationId xmlns:a16="http://schemas.microsoft.com/office/drawing/2014/main" id="{1838C1BB-5970-8303-1E74-E923B90A0508}"/>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D45951FF-96D8-3BB9-5E87-1EBF733AFC48}"/>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77919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6A07A-1A62-43F6-1F21-E54F310E5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7A096-A5E7-657D-5A4A-51CF4060BEE1}"/>
              </a:ext>
            </a:extLst>
          </p:cNvPr>
          <p:cNvSpPr>
            <a:spLocks noGrp="1"/>
          </p:cNvSpPr>
          <p:nvPr>
            <p:ph type="ctrTitle"/>
          </p:nvPr>
        </p:nvSpPr>
        <p:spPr>
          <a:xfrm>
            <a:off x="2647199" y="1501742"/>
            <a:ext cx="7300940" cy="1329595"/>
          </a:xfrm>
        </p:spPr>
        <p:txBody>
          <a:bodyPr/>
          <a:lstStyle/>
          <a:p>
            <a:r>
              <a:rPr lang="en-US" dirty="0"/>
              <a:t>Promise of Algorithmic Decisions</a:t>
            </a:r>
          </a:p>
        </p:txBody>
      </p:sp>
      <p:sp>
        <p:nvSpPr>
          <p:cNvPr id="4" name="Date Placeholder 3">
            <a:extLst>
              <a:ext uri="{FF2B5EF4-FFF2-40B4-BE49-F238E27FC236}">
                <a16:creationId xmlns:a16="http://schemas.microsoft.com/office/drawing/2014/main" id="{2E400C61-79FB-A9AD-D853-491F6FAACC89}"/>
              </a:ext>
            </a:extLst>
          </p:cNvPr>
          <p:cNvSpPr>
            <a:spLocks noGrp="1"/>
          </p:cNvSpPr>
          <p:nvPr>
            <p:ph type="dt" sz="half" idx="10"/>
          </p:nvPr>
        </p:nvSpPr>
        <p:spPr/>
        <p:txBody>
          <a:bodyPr/>
          <a:lstStyle/>
          <a:p>
            <a:fld id="{D47A9A36-4EB0-BF46-AE48-7CDA251B954B}" type="datetime1">
              <a:rPr lang="en-US" smtClean="0"/>
              <a:pPr/>
              <a:t>11/26/2025</a:t>
            </a:fld>
            <a:endParaRPr lang="en-US" dirty="0"/>
          </a:p>
        </p:txBody>
      </p:sp>
      <p:sp>
        <p:nvSpPr>
          <p:cNvPr id="5" name="Slide Number Placeholder 4">
            <a:extLst>
              <a:ext uri="{FF2B5EF4-FFF2-40B4-BE49-F238E27FC236}">
                <a16:creationId xmlns:a16="http://schemas.microsoft.com/office/drawing/2014/main" id="{115CE855-D216-DEBE-6A86-57986B2C3B46}"/>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2991461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9286E-03B2-1F13-3FCC-E7E7B782B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273DB-F3C9-97C8-E09A-A91BFABEA645}"/>
              </a:ext>
            </a:extLst>
          </p:cNvPr>
          <p:cNvSpPr>
            <a:spLocks noGrp="1"/>
          </p:cNvSpPr>
          <p:nvPr>
            <p:ph type="ctrTitle"/>
          </p:nvPr>
        </p:nvSpPr>
        <p:spPr/>
        <p:txBody>
          <a:bodyPr/>
          <a:lstStyle/>
          <a:p>
            <a:r>
              <a:rPr lang="en-US" dirty="0"/>
              <a:t>Why Algorithmic Decisions?</a:t>
            </a:r>
          </a:p>
        </p:txBody>
      </p:sp>
      <p:sp>
        <p:nvSpPr>
          <p:cNvPr id="4" name="Text Placeholder 3">
            <a:extLst>
              <a:ext uri="{FF2B5EF4-FFF2-40B4-BE49-F238E27FC236}">
                <a16:creationId xmlns:a16="http://schemas.microsoft.com/office/drawing/2014/main" id="{CADF94C6-21FA-215E-37A4-B237CFEDA3EB}"/>
              </a:ext>
            </a:extLst>
          </p:cNvPr>
          <p:cNvSpPr>
            <a:spLocks noGrp="1"/>
          </p:cNvSpPr>
          <p:nvPr>
            <p:ph type="body" sz="quarter" idx="14"/>
          </p:nvPr>
        </p:nvSpPr>
        <p:spPr>
          <a:xfrm>
            <a:off x="1828800" y="1491343"/>
            <a:ext cx="8755380" cy="3837583"/>
          </a:xfrm>
        </p:spPr>
        <p:txBody>
          <a:bodyPr>
            <a:normAutofit/>
          </a:bodyPr>
          <a:lstStyle/>
          <a:p>
            <a:r>
              <a:rPr lang="en-US" sz="2400" dirty="0"/>
              <a:t>Scale &amp; speed requires automated decisions in many settings</a:t>
            </a:r>
          </a:p>
          <a:p>
            <a:pPr lvl="1"/>
            <a:r>
              <a:rPr lang="en-US" sz="2400" dirty="0"/>
              <a:t>E.g. Impossible to manually curate personalized recommendations for millions/billions of users</a:t>
            </a:r>
          </a:p>
          <a:p>
            <a:endParaRPr lang="en-US" sz="2400" dirty="0"/>
          </a:p>
          <a:p>
            <a:r>
              <a:rPr lang="en-US" sz="2400" dirty="0"/>
              <a:t>Other times we can rely on either human or algorithmic decisions</a:t>
            </a:r>
          </a:p>
          <a:p>
            <a:pPr lvl="1"/>
            <a:r>
              <a:rPr lang="en-US" sz="2400" dirty="0"/>
              <a:t>Growing empirical evidence that algorithms make “better” decisions than humans in many domains</a:t>
            </a:r>
          </a:p>
          <a:p>
            <a:pPr lvl="1"/>
            <a:r>
              <a:rPr lang="en-US" sz="2400" dirty="0"/>
              <a:t>Example application: Fintech automatic loan approval</a:t>
            </a:r>
          </a:p>
        </p:txBody>
      </p:sp>
      <p:sp>
        <p:nvSpPr>
          <p:cNvPr id="5" name="Date Placeholder 4">
            <a:extLst>
              <a:ext uri="{FF2B5EF4-FFF2-40B4-BE49-F238E27FC236}">
                <a16:creationId xmlns:a16="http://schemas.microsoft.com/office/drawing/2014/main" id="{CC122412-D7D0-3744-B4AE-FACCB44F7B27}"/>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F341347B-46FD-EA19-17CA-39AE9BF700AB}"/>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47896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429DF-DE87-651D-EEC7-10D4B7601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BAD0E-1745-DD65-F918-D6538210A227}"/>
              </a:ext>
            </a:extLst>
          </p:cNvPr>
          <p:cNvSpPr>
            <a:spLocks noGrp="1"/>
          </p:cNvSpPr>
          <p:nvPr>
            <p:ph type="ctrTitle"/>
          </p:nvPr>
        </p:nvSpPr>
        <p:spPr/>
        <p:txBody>
          <a:bodyPr/>
          <a:lstStyle/>
          <a:p>
            <a:r>
              <a:rPr lang="en-US" dirty="0"/>
              <a:t>How to Evaluate Decisions?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EC76BA8-728F-523C-969F-F1E6C0C5745E}"/>
                  </a:ext>
                </a:extLst>
              </p:cNvPr>
              <p:cNvSpPr>
                <a:spLocks noGrp="1"/>
              </p:cNvSpPr>
              <p:nvPr>
                <p:ph type="body" sz="quarter" idx="14"/>
              </p:nvPr>
            </p:nvSpPr>
            <p:spPr>
              <a:xfrm>
                <a:off x="1828800" y="1491343"/>
                <a:ext cx="8755380" cy="3837583"/>
              </a:xfrm>
            </p:spPr>
            <p:txBody>
              <a:bodyPr>
                <a:normAutofit fontScale="92500" lnSpcReduction="10000"/>
              </a:bodyPr>
              <a:lstStyle/>
              <a:p>
                <a:r>
                  <a:rPr lang="en-US" sz="2400" dirty="0"/>
                  <a:t>Model decision making as maximizing an expected payoff</a:t>
                </a: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𝑎</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max</m:t>
                                  </m:r>
                                </m:e>
                                <m:lim>
                                  <m:r>
                                    <a:rPr lang="en-US" sz="2400" b="0" i="1" smtClean="0">
                                      <a:latin typeface="Cambria Math" panose="02040503050406030204" pitchFamily="18" charset="0"/>
                                    </a:rPr>
                                    <m:t>𝑎</m:t>
                                  </m:r>
                                </m:lim>
                              </m:limLow>
                            </m:fName>
                            <m:e>
                              <m:r>
                                <a:rPr lang="en-US" sz="2400" i="1">
                                  <a:latin typeface="Cambria Math" panose="02040503050406030204" pitchFamily="18" charset="0"/>
                                </a:rPr>
                                <m:t>𝐸</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𝑢</m:t>
                                  </m:r>
                                  <m:d>
                                    <m:dPr>
                                      <m:ctrlPr>
                                        <a:rPr lang="en-US" sz="2400" i="1">
                                          <a:latin typeface="Cambria Math" panose="02040503050406030204" pitchFamily="18" charset="0"/>
                                        </a:rPr>
                                      </m:ctrlPr>
                                    </m:dPr>
                                    <m:e>
                                      <m:r>
                                        <a:rPr lang="en-US" sz="2400" i="1">
                                          <a:latin typeface="Cambria Math" panose="02040503050406030204" pitchFamily="18" charset="0"/>
                                        </a:rPr>
                                        <m:t>𝑎</m:t>
                                      </m:r>
                                      <m:r>
                                        <a:rPr lang="en-US" sz="2400" i="1">
                                          <a:latin typeface="Cambria Math" panose="02040503050406030204" pitchFamily="18" charset="0"/>
                                        </a:rPr>
                                        <m:t>,</m:t>
                                      </m:r>
                                      <m:r>
                                        <a:rPr lang="en-US" sz="2400" i="1">
                                          <a:latin typeface="Cambria Math" panose="02040503050406030204" pitchFamily="18" charset="0"/>
                                        </a:rPr>
                                        <m:t>𝜃</m:t>
                                      </m:r>
                                    </m:e>
                                  </m:d>
                                </m:e>
                              </m:d>
                            </m:e>
                          </m:func>
                        </m:e>
                      </m:func>
                    </m:oMath>
                  </m:oMathPara>
                </a14:m>
                <a:endParaRPr lang="en-US" sz="2400" dirty="0"/>
              </a:p>
              <a:p>
                <a:endParaRPr lang="en-US" sz="2400" dirty="0"/>
              </a:p>
              <a:p>
                <a:r>
                  <a:rPr lang="en-US" sz="2400" dirty="0"/>
                  <a:t>Evaluate decisions by calculating realized payoff over many decision scenarios</a:t>
                </a:r>
              </a:p>
              <a:p>
                <a:pPr lvl="1"/>
                <a:r>
                  <a:rPr lang="en-US" sz="2400" dirty="0"/>
                  <a:t>Hard to evaluate rare decision scenarios</a:t>
                </a:r>
              </a:p>
              <a:p>
                <a:pPr lvl="1"/>
                <a:r>
                  <a:rPr lang="en-US" sz="2400" dirty="0"/>
                  <a:t>Example: hard to evaluate VP picks in a campaign</a:t>
                </a:r>
              </a:p>
              <a:p>
                <a:endParaRPr lang="en-US" sz="2400" dirty="0"/>
              </a:p>
              <a:p>
                <a:r>
                  <a:rPr lang="en-US" sz="2400" dirty="0"/>
                  <a:t>This requires that we know </a:t>
                </a:r>
                <a14:m>
                  <m:oMath xmlns:m="http://schemas.openxmlformats.org/officeDocument/2006/math">
                    <m:r>
                      <a:rPr lang="en-US" sz="2400" i="1">
                        <a:latin typeface="Cambria Math" panose="02040503050406030204" pitchFamily="18" charset="0"/>
                      </a:rPr>
                      <m:t>𝑢</m:t>
                    </m:r>
                    <m:d>
                      <m:dPr>
                        <m:ctrlPr>
                          <a:rPr lang="en-US" sz="2400" i="1">
                            <a:latin typeface="Cambria Math" panose="02040503050406030204" pitchFamily="18" charset="0"/>
                          </a:rPr>
                        </m:ctrlPr>
                      </m:dPr>
                      <m:e>
                        <m:r>
                          <a:rPr lang="en-US" sz="2400" i="1">
                            <a:latin typeface="Cambria Math" panose="02040503050406030204" pitchFamily="18" charset="0"/>
                          </a:rPr>
                          <m:t>𝑎</m:t>
                        </m:r>
                        <m:r>
                          <a:rPr lang="en-US" sz="2400" i="1">
                            <a:latin typeface="Cambria Math" panose="02040503050406030204" pitchFamily="18" charset="0"/>
                          </a:rPr>
                          <m:t>,</m:t>
                        </m:r>
                        <m:r>
                          <a:rPr lang="en-US" sz="2400" i="1">
                            <a:latin typeface="Cambria Math" panose="02040503050406030204" pitchFamily="18" charset="0"/>
                          </a:rPr>
                          <m:t>𝜃</m:t>
                        </m:r>
                      </m:e>
                    </m:d>
                  </m:oMath>
                </a14:m>
                <a:endParaRPr lang="en-US" sz="2400" dirty="0"/>
              </a:p>
              <a:p>
                <a:endParaRPr lang="en-US" sz="2400" dirty="0"/>
              </a:p>
              <a:p>
                <a:r>
                  <a:rPr lang="en-US" sz="2400" dirty="0"/>
                  <a:t>Focus on settings where we can reliably evaluate decisions</a:t>
                </a:r>
              </a:p>
            </p:txBody>
          </p:sp>
        </mc:Choice>
        <mc:Fallback xmlns="">
          <p:sp>
            <p:nvSpPr>
              <p:cNvPr id="4" name="Text Placeholder 3">
                <a:extLst>
                  <a:ext uri="{FF2B5EF4-FFF2-40B4-BE49-F238E27FC236}">
                    <a16:creationId xmlns:a16="http://schemas.microsoft.com/office/drawing/2014/main" id="{BEC76BA8-728F-523C-969F-F1E6C0C5745E}"/>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1739" t="-2970" b="-99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256867D7-3049-C4D2-D95D-8DBEF4B7A62B}"/>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B3DA4786-94C7-7FF3-EFD6-F383EAB02F55}"/>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104551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E0A65-3078-3471-53A3-1D3DDBA8B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E1803-1463-D06F-DA0F-D48A3A33FEA2}"/>
              </a:ext>
            </a:extLst>
          </p:cNvPr>
          <p:cNvSpPr>
            <a:spLocks noGrp="1"/>
          </p:cNvSpPr>
          <p:nvPr>
            <p:ph type="ctrTitle"/>
          </p:nvPr>
        </p:nvSpPr>
        <p:spPr/>
        <p:txBody>
          <a:bodyPr/>
          <a:lstStyle/>
          <a:p>
            <a:r>
              <a:rPr lang="en-US" dirty="0"/>
              <a:t>Example 1: Medical Testing</a:t>
            </a:r>
          </a:p>
        </p:txBody>
      </p:sp>
      <p:sp>
        <p:nvSpPr>
          <p:cNvPr id="4" name="Text Placeholder 3">
            <a:extLst>
              <a:ext uri="{FF2B5EF4-FFF2-40B4-BE49-F238E27FC236}">
                <a16:creationId xmlns:a16="http://schemas.microsoft.com/office/drawing/2014/main" id="{11C5063D-7CDC-22E3-4A63-75DD7C52C7B6}"/>
              </a:ext>
            </a:extLst>
          </p:cNvPr>
          <p:cNvSpPr>
            <a:spLocks noGrp="1"/>
          </p:cNvSpPr>
          <p:nvPr>
            <p:ph type="body" sz="quarter" idx="14"/>
          </p:nvPr>
        </p:nvSpPr>
        <p:spPr>
          <a:xfrm>
            <a:off x="1828800" y="1491343"/>
            <a:ext cx="8755380" cy="4214513"/>
          </a:xfrm>
        </p:spPr>
        <p:txBody>
          <a:bodyPr>
            <a:normAutofit lnSpcReduction="10000"/>
          </a:bodyPr>
          <a:lstStyle/>
          <a:p>
            <a:r>
              <a:rPr lang="en-US" sz="2400" dirty="0"/>
              <a:t>A common situation in emergency department</a:t>
            </a:r>
          </a:p>
          <a:p>
            <a:endParaRPr lang="en-US" sz="2400" dirty="0"/>
          </a:p>
          <a:p>
            <a:r>
              <a:rPr lang="en-US" sz="2400" dirty="0"/>
              <a:t>Patient complains of chest pain, trouble breathing, nausea</a:t>
            </a:r>
          </a:p>
          <a:p>
            <a:endParaRPr lang="en-US" sz="2400" dirty="0"/>
          </a:p>
          <a:p>
            <a:r>
              <a:rPr lang="en-US" sz="2400" dirty="0"/>
              <a:t>Decide if person is having a heart attack</a:t>
            </a:r>
          </a:p>
          <a:p>
            <a:endParaRPr lang="en-US" sz="2400" dirty="0"/>
          </a:p>
          <a:p>
            <a:r>
              <a:rPr lang="en-US" sz="2400" dirty="0"/>
              <a:t>Important to decide quickly if we should test for heart attack</a:t>
            </a:r>
          </a:p>
          <a:p>
            <a:pPr lvl="1"/>
            <a:r>
              <a:rPr lang="en-US" sz="2400" dirty="0"/>
              <a:t>A missed heart attack greatly increases mortality</a:t>
            </a:r>
          </a:p>
          <a:p>
            <a:pPr lvl="1"/>
            <a:r>
              <a:rPr lang="en-US" sz="2400" dirty="0"/>
              <a:t>Definitive tests are costly and invasive</a:t>
            </a:r>
          </a:p>
          <a:p>
            <a:endParaRPr lang="en-US" sz="2400" dirty="0"/>
          </a:p>
          <a:p>
            <a:r>
              <a:rPr lang="en-US" sz="2400" dirty="0"/>
              <a:t>Challenging decision as symptoms correlated with benign conditions like acid reflux</a:t>
            </a:r>
          </a:p>
        </p:txBody>
      </p:sp>
      <p:sp>
        <p:nvSpPr>
          <p:cNvPr id="5" name="Date Placeholder 4">
            <a:extLst>
              <a:ext uri="{FF2B5EF4-FFF2-40B4-BE49-F238E27FC236}">
                <a16:creationId xmlns:a16="http://schemas.microsoft.com/office/drawing/2014/main" id="{A576A6FA-9403-2AB8-EA56-50FBF0A018D6}"/>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5CE77CD9-8E3E-8B29-E9A2-A32DA335509E}"/>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386377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F9D6-E2FE-6749-1930-DCA4B1196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EEC17-5E44-E9CC-25DD-F97784B6275D}"/>
              </a:ext>
            </a:extLst>
          </p:cNvPr>
          <p:cNvSpPr>
            <a:spLocks noGrp="1"/>
          </p:cNvSpPr>
          <p:nvPr>
            <p:ph type="ctrTitle"/>
          </p:nvPr>
        </p:nvSpPr>
        <p:spPr/>
        <p:txBody>
          <a:bodyPr/>
          <a:lstStyle/>
          <a:p>
            <a:r>
              <a:rPr lang="en-US" dirty="0"/>
              <a:t>Train Algorithm to Predict Positive Test</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57309ED4-4F70-30F1-E3EE-D06EDC5865B0}"/>
                  </a:ext>
                </a:extLst>
              </p:cNvPr>
              <p:cNvSpPr>
                <a:spLocks noGrp="1"/>
              </p:cNvSpPr>
              <p:nvPr>
                <p:ph type="body" sz="quarter" idx="14"/>
              </p:nvPr>
            </p:nvSpPr>
            <p:spPr>
              <a:xfrm>
                <a:off x="1828800" y="1491343"/>
                <a:ext cx="8755380" cy="4214513"/>
              </a:xfrm>
            </p:spPr>
            <p:txBody>
              <a:bodyPr>
                <a:normAutofit/>
              </a:bodyPr>
              <a:lstStyle/>
              <a:p>
                <a:r>
                  <a:rPr lang="en-US" sz="2400" dirty="0"/>
                  <a:t>Standard supervised ML algorithm:</a:t>
                </a:r>
              </a:p>
              <a:p>
                <a:pPr lvl="1"/>
                <a:r>
                  <a:rPr lang="en-US" sz="2400" dirty="0"/>
                  <a:t>Learn the function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oMath>
                </a14:m>
                <a:endParaRPr lang="en-US" sz="2400" dirty="0"/>
              </a:p>
              <a:p>
                <a:endParaRPr lang="en-US" sz="240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oMath>
                </a14:m>
                <a:r>
                  <a:rPr lang="en-US" sz="2400" dirty="0"/>
                  <a:t>: Observe patient characteristics</a:t>
                </a:r>
              </a:p>
              <a:p>
                <a:pPr lvl="1"/>
                <a:r>
                  <a:rPr lang="en-US" sz="2400" dirty="0"/>
                  <a:t>Lab work, EKG, demographics</a:t>
                </a:r>
              </a:p>
              <a:p>
                <a:endParaRPr lang="en-US" sz="240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r>
                      <a:rPr lang="en-US" sz="2400" b="0" i="0"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r>
                          <m:rPr>
                            <m:sty m:val="p"/>
                          </m:rPr>
                          <a:rPr lang="en-US" sz="2400" b="0" i="0" smtClean="0">
                            <a:latin typeface="Cambria Math" panose="02040503050406030204" pitchFamily="18" charset="0"/>
                          </a:rPr>
                          <m:t>positive</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test</m:t>
                        </m:r>
                      </m:e>
                    </m:d>
                  </m:oMath>
                </a14:m>
                <a:endParaRPr lang="en-US" sz="2400" dirty="0"/>
              </a:p>
            </p:txBody>
          </p:sp>
        </mc:Choice>
        <mc:Fallback xmlns="">
          <p:sp>
            <p:nvSpPr>
              <p:cNvPr id="4" name="Text Placeholder 3">
                <a:extLst>
                  <a:ext uri="{FF2B5EF4-FFF2-40B4-BE49-F238E27FC236}">
                    <a16:creationId xmlns:a16="http://schemas.microsoft.com/office/drawing/2014/main" id="{57309ED4-4F70-30F1-E3EE-D06EDC5865B0}"/>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214513"/>
              </a:xfrm>
              <a:blipFill>
                <a:blip r:embed="rId3"/>
                <a:stretch>
                  <a:fillRect l="-2029" t="-2402"/>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297CB178-44E0-E635-41DD-1CA8FABBEB15}"/>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789AA476-F3FC-7B7B-7BC0-61CCE39D7A4A}"/>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8991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D8CAE-D35D-78BE-E353-F214198B9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48525-605B-96B6-E3A8-6D1CAA29A3DA}"/>
              </a:ext>
            </a:extLst>
          </p:cNvPr>
          <p:cNvSpPr>
            <a:spLocks noGrp="1"/>
          </p:cNvSpPr>
          <p:nvPr>
            <p:ph type="ctrTitle"/>
          </p:nvPr>
        </p:nvSpPr>
        <p:spPr/>
        <p:txBody>
          <a:bodyPr/>
          <a:lstStyle/>
          <a:p>
            <a:r>
              <a:rPr lang="en-US" dirty="0"/>
              <a:t>Step 1: Show Algorithm Has Signal</a:t>
            </a:r>
          </a:p>
        </p:txBody>
      </p:sp>
      <p:pic>
        <p:nvPicPr>
          <p:cNvPr id="10" name="Picture 9" descr="Line chart showing yield rate over 10 days across deciles of predicted risk. Yield rates are near zero for the lowest deciles and increase steadily, rising sharply in the top risk deciles. A shaded confidence band surrounds the upward-sloping dashed line with point markers.">
            <a:extLst>
              <a:ext uri="{FF2B5EF4-FFF2-40B4-BE49-F238E27FC236}">
                <a16:creationId xmlns:a16="http://schemas.microsoft.com/office/drawing/2014/main" id="{BE0F057B-D4AB-0F91-AB64-50AC47CD45C1}"/>
              </a:ext>
            </a:extLst>
          </p:cNvPr>
          <p:cNvPicPr>
            <a:picLocks noChangeAspect="1"/>
          </p:cNvPicPr>
          <p:nvPr/>
        </p:nvPicPr>
        <p:blipFill rotWithShape="1">
          <a:blip r:embed="rId3"/>
          <a:srcRect t="7912" b="4291"/>
          <a:stretch/>
        </p:blipFill>
        <p:spPr>
          <a:xfrm>
            <a:off x="2932981" y="1147052"/>
            <a:ext cx="6504212" cy="3997379"/>
          </a:xfrm>
          <a:prstGeom prst="rect">
            <a:avLst/>
          </a:prstGeom>
        </p:spPr>
      </p:pic>
      <p:sp>
        <p:nvSpPr>
          <p:cNvPr id="11" name="TextBox 10">
            <a:extLst>
              <a:ext uri="{FF2B5EF4-FFF2-40B4-BE49-F238E27FC236}">
                <a16:creationId xmlns:a16="http://schemas.microsoft.com/office/drawing/2014/main" id="{15903D4B-33A4-1B11-05E9-5AB6FC1169B6}"/>
              </a:ext>
            </a:extLst>
          </p:cNvPr>
          <p:cNvSpPr txBox="1"/>
          <p:nvPr/>
        </p:nvSpPr>
        <p:spPr>
          <a:xfrm>
            <a:off x="6581140" y="5336524"/>
            <a:ext cx="4057842" cy="338554"/>
          </a:xfrm>
          <a:prstGeom prst="rect">
            <a:avLst/>
          </a:prstGeom>
          <a:noFill/>
        </p:spPr>
        <p:txBody>
          <a:bodyPr wrap="none" rtlCol="0">
            <a:spAutoFit/>
          </a:bodyPr>
          <a:lstStyle/>
          <a:p>
            <a:r>
              <a:rPr lang="en-US" sz="1600" dirty="0"/>
              <a:t>Source: Mullainathan and Obermeyer (2023)</a:t>
            </a:r>
          </a:p>
        </p:txBody>
      </p:sp>
      <p:sp>
        <p:nvSpPr>
          <p:cNvPr id="5" name="Date Placeholder 4">
            <a:extLst>
              <a:ext uri="{FF2B5EF4-FFF2-40B4-BE49-F238E27FC236}">
                <a16:creationId xmlns:a16="http://schemas.microsoft.com/office/drawing/2014/main" id="{4E3A4042-5093-BAF5-14CB-492F750A4D62}"/>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002AD29E-8667-A7ED-6A50-65896FF96D36}"/>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1273227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6CE93-5A2D-C989-D604-197175C3F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44BC3-3950-8731-03B4-61F53787B9D3}"/>
              </a:ext>
            </a:extLst>
          </p:cNvPr>
          <p:cNvSpPr>
            <a:spLocks noGrp="1"/>
          </p:cNvSpPr>
          <p:nvPr>
            <p:ph type="ctrTitle"/>
          </p:nvPr>
        </p:nvSpPr>
        <p:spPr/>
        <p:txBody>
          <a:bodyPr/>
          <a:lstStyle/>
          <a:p>
            <a:r>
              <a:rPr lang="en-US" dirty="0"/>
              <a:t>Step 2: Compare Algorithm Decisions to Human Decisions</a:t>
            </a:r>
          </a:p>
        </p:txBody>
      </p:sp>
      <p:sp>
        <p:nvSpPr>
          <p:cNvPr id="8" name="Text Placeholder 9">
            <a:extLst>
              <a:ext uri="{FF2B5EF4-FFF2-40B4-BE49-F238E27FC236}">
                <a16:creationId xmlns:a16="http://schemas.microsoft.com/office/drawing/2014/main" id="{B0C2F966-7738-C65F-50A6-CFD7CDDE09A5}"/>
              </a:ext>
            </a:extLst>
          </p:cNvPr>
          <p:cNvSpPr txBox="1">
            <a:spLocks/>
          </p:cNvSpPr>
          <p:nvPr/>
        </p:nvSpPr>
        <p:spPr>
          <a:xfrm>
            <a:off x="1957778" y="1447991"/>
            <a:ext cx="4333293" cy="3617786"/>
          </a:xfrm>
          <a:prstGeom prst="rect">
            <a:avLst/>
          </a:prstGeom>
        </p:spPr>
        <p:txBody>
          <a:bodyPr vert="horz" lIns="0" tIns="0" rIns="0" bIns="0" rtlCol="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kern="1200" normalizeH="0" baseline="0">
                <a:solidFill>
                  <a:schemeClr val="bg1"/>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2000" dirty="0"/>
              <a:t>Most risky patients:</a:t>
            </a:r>
          </a:p>
          <a:p>
            <a:pPr lvl="1"/>
            <a:r>
              <a:rPr lang="en-US" sz="2000" dirty="0"/>
              <a:t>43% yield rate on tests</a:t>
            </a:r>
          </a:p>
          <a:p>
            <a:pPr lvl="1"/>
            <a:r>
              <a:rPr lang="en-US" sz="2000" dirty="0"/>
              <a:t>Only 38% test rate</a:t>
            </a:r>
          </a:p>
          <a:p>
            <a:endParaRPr lang="en-US" sz="2000" dirty="0"/>
          </a:p>
          <a:p>
            <a:r>
              <a:rPr lang="en-US" sz="2000" dirty="0"/>
              <a:t>Prefer to shift tests from less risky patients to more risky patients</a:t>
            </a:r>
          </a:p>
          <a:p>
            <a:endParaRPr lang="en-US" sz="2000" dirty="0"/>
          </a:p>
          <a:p>
            <a:r>
              <a:rPr lang="en-US" sz="2000" dirty="0"/>
              <a:t>Evidence that humans rely on simple model that over weights representative signals </a:t>
            </a:r>
          </a:p>
        </p:txBody>
      </p:sp>
      <p:graphicFrame>
        <p:nvGraphicFramePr>
          <p:cNvPr id="9" name="Table 8">
            <a:extLst>
              <a:ext uri="{FF2B5EF4-FFF2-40B4-BE49-F238E27FC236}">
                <a16:creationId xmlns:a16="http://schemas.microsoft.com/office/drawing/2014/main" id="{D18B3530-0A00-4B1B-1396-CE7B4C70306B}"/>
              </a:ext>
            </a:extLst>
          </p:cNvPr>
          <p:cNvGraphicFramePr>
            <a:graphicFrameLocks noGrp="1"/>
          </p:cNvGraphicFramePr>
          <p:nvPr>
            <p:extLst>
              <p:ext uri="{D42A27DB-BD31-4B8C-83A1-F6EECF244321}">
                <p14:modId xmlns:p14="http://schemas.microsoft.com/office/powerpoint/2010/main" val="511259711"/>
              </p:ext>
            </p:extLst>
          </p:nvPr>
        </p:nvGraphicFramePr>
        <p:xfrm>
          <a:off x="6331088" y="1351357"/>
          <a:ext cx="4307894" cy="4028440"/>
        </p:xfrm>
        <a:graphic>
          <a:graphicData uri="http://schemas.openxmlformats.org/drawingml/2006/table">
            <a:tbl>
              <a:tblPr firstRow="1" bandRow="1">
                <a:tableStyleId>{00A15C55-8517-42AA-B614-E9B94910E393}</a:tableStyleId>
              </a:tblPr>
              <a:tblGrid>
                <a:gridCol w="1419032">
                  <a:extLst>
                    <a:ext uri="{9D8B030D-6E8A-4147-A177-3AD203B41FA5}">
                      <a16:colId xmlns:a16="http://schemas.microsoft.com/office/drawing/2014/main" val="2192663510"/>
                    </a:ext>
                  </a:extLst>
                </a:gridCol>
                <a:gridCol w="1444431">
                  <a:extLst>
                    <a:ext uri="{9D8B030D-6E8A-4147-A177-3AD203B41FA5}">
                      <a16:colId xmlns:a16="http://schemas.microsoft.com/office/drawing/2014/main" val="60013242"/>
                    </a:ext>
                  </a:extLst>
                </a:gridCol>
                <a:gridCol w="1444431">
                  <a:extLst>
                    <a:ext uri="{9D8B030D-6E8A-4147-A177-3AD203B41FA5}">
                      <a16:colId xmlns:a16="http://schemas.microsoft.com/office/drawing/2014/main" val="1793671682"/>
                    </a:ext>
                  </a:extLst>
                </a:gridCol>
              </a:tblGrid>
              <a:tr h="370840">
                <a:tc>
                  <a:txBody>
                    <a:bodyPr/>
                    <a:lstStyle/>
                    <a:p>
                      <a:pPr algn="ctr"/>
                      <a:endParaRPr lang="en-US" sz="12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en-US" sz="1200" b="0" dirty="0">
                          <a:latin typeface="Times New Roman" panose="02020603050405020304" pitchFamily="18" charset="0"/>
                          <a:cs typeface="Times New Roman" panose="02020603050405020304" pitchFamily="18" charset="0"/>
                        </a:rPr>
                        <a:t>Yield Rate</a:t>
                      </a:r>
                    </a:p>
                    <a:p>
                      <a:pPr algn="ctr"/>
                      <a:r>
                        <a:rPr lang="en-US" sz="1200" b="0" dirty="0">
                          <a:latin typeface="Times New Roman" panose="02020603050405020304" pitchFamily="18" charset="0"/>
                          <a:cs typeface="Times New Roman" panose="02020603050405020304" pitchFamily="18" charset="0"/>
                        </a:rPr>
                        <a:t>(SE)</a:t>
                      </a:r>
                    </a:p>
                    <a:p>
                      <a:pPr algn="ctr"/>
                      <a:r>
                        <a:rPr lang="en-US" sz="1200" b="0" dirty="0">
                          <a:latin typeface="Times New Roman" panose="02020603050405020304" pitchFamily="18" charset="0"/>
                          <a:cs typeface="Times New Roman" panose="02020603050405020304" pitchFamily="18" charset="0"/>
                        </a:rPr>
                        <a:t>(1)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0" dirty="0">
                          <a:latin typeface="Times New Roman" panose="02020603050405020304" pitchFamily="18" charset="0"/>
                          <a:cs typeface="Times New Roman" panose="02020603050405020304" pitchFamily="18" charset="0"/>
                        </a:rPr>
                        <a:t>Test Rate</a:t>
                      </a:r>
                    </a:p>
                    <a:p>
                      <a:pPr algn="ctr"/>
                      <a:r>
                        <a:rPr lang="en-US" sz="1200" b="0" dirty="0">
                          <a:latin typeface="Times New Roman" panose="02020603050405020304" pitchFamily="18" charset="0"/>
                          <a:cs typeface="Times New Roman" panose="02020603050405020304" pitchFamily="18" charset="0"/>
                        </a:rPr>
                        <a:t>(SE)</a:t>
                      </a:r>
                    </a:p>
                    <a:p>
                      <a:pPr algn="ctr"/>
                      <a:r>
                        <a:rPr lang="en-US" sz="1200" b="0" dirty="0">
                          <a:latin typeface="Times New Roman" panose="02020603050405020304" pitchFamily="18" charset="0"/>
                          <a:cs typeface="Times New Roman" panose="02020603050405020304" pitchFamily="18" charset="0"/>
                        </a:rPr>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1322792"/>
                  </a:ext>
                </a:extLst>
              </a:tr>
              <a:tr h="370840">
                <a:tc>
                  <a:txBody>
                    <a:bodyPr/>
                    <a:lstStyle/>
                    <a:p>
                      <a:pPr algn="ctr"/>
                      <a:r>
                        <a:rPr lang="en-US" sz="1200" i="1" dirty="0">
                          <a:latin typeface="Times New Roman" panose="02020603050405020304" pitchFamily="18" charset="0"/>
                          <a:cs typeface="Times New Roman" panose="02020603050405020304" pitchFamily="18" charset="0"/>
                        </a:rPr>
                        <a:t>Full Sample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0.146</a:t>
                      </a:r>
                    </a:p>
                    <a:p>
                      <a:pPr algn="ctr"/>
                      <a:r>
                        <a:rPr lang="en-US" sz="1200" dirty="0">
                          <a:latin typeface="Times New Roman" panose="02020603050405020304" pitchFamily="18" charset="0"/>
                          <a:cs typeface="Times New Roman" panose="02020603050405020304" pitchFamily="18" charset="0"/>
                        </a:rPr>
                        <a:t>(0.004)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0.029</a:t>
                      </a:r>
                    </a:p>
                    <a:p>
                      <a:pPr algn="ctr"/>
                      <a:r>
                        <a:rPr lang="en-US" sz="1200" dirty="0">
                          <a:latin typeface="Times New Roman" panose="02020603050405020304" pitchFamily="18" charset="0"/>
                          <a:cs typeface="Times New Roman" panose="02020603050405020304" pitchFamily="18" charset="0"/>
                        </a:rPr>
                        <a:t>(&lt;0.001)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4623431"/>
                  </a:ext>
                </a:extLst>
              </a:tr>
              <a:tr h="231812">
                <a:tc>
                  <a:txBody>
                    <a:bodyPr/>
                    <a:lstStyle/>
                    <a:p>
                      <a:pPr algn="ctr"/>
                      <a:r>
                        <a:rPr lang="en-US" sz="1200" i="1" dirty="0">
                          <a:latin typeface="Times New Roman" panose="02020603050405020304" pitchFamily="18" charset="0"/>
                          <a:cs typeface="Times New Roman" panose="02020603050405020304" pitchFamily="18" charset="0"/>
                        </a:rPr>
                        <a:t>By Risk Bin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94905023"/>
                  </a:ext>
                </a:extLst>
              </a:tr>
              <a:tr h="370840">
                <a:tc>
                  <a:txBody>
                    <a:bodyPr/>
                    <a:lstStyle/>
                    <a:p>
                      <a:pPr algn="ctr"/>
                      <a:r>
                        <a:rPr lang="en-US" sz="1200" dirty="0">
                          <a:latin typeface="Times New Roman" panose="02020603050405020304" pitchFamily="18" charset="0"/>
                          <a:cs typeface="Times New Roman" panose="02020603050405020304" pitchFamily="18"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0.011</a:t>
                      </a:r>
                    </a:p>
                    <a:p>
                      <a:pPr algn="ctr"/>
                      <a:r>
                        <a:rPr lang="en-US" sz="12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0.012</a:t>
                      </a:r>
                    </a:p>
                    <a:p>
                      <a:pPr algn="ctr"/>
                      <a:r>
                        <a:rPr lang="en-US" sz="1200" dirty="0">
                          <a:latin typeface="Times New Roman" panose="02020603050405020304" pitchFamily="18" charset="0"/>
                          <a:cs typeface="Times New Roman" panose="02020603050405020304" pitchFamily="18" charset="0"/>
                        </a:rPr>
                        <a:t>(&lt;0.001)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7120513"/>
                  </a:ext>
                </a:extLst>
              </a:tr>
              <a:tr h="370840">
                <a:tc>
                  <a:txBody>
                    <a:bodyPr/>
                    <a:lstStyle/>
                    <a:p>
                      <a:pPr algn="ctr"/>
                      <a:r>
                        <a:rPr lang="en-US" sz="1200" dirty="0">
                          <a:latin typeface="Times New Roman" panose="02020603050405020304" pitchFamily="18" charset="0"/>
                          <a:cs typeface="Times New Roman" panose="02020603050405020304" pitchFamily="18" charset="0"/>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0.036</a:t>
                      </a:r>
                    </a:p>
                    <a:p>
                      <a:pPr algn="ctr"/>
                      <a:r>
                        <a:rPr lang="en-US" sz="1200" dirty="0">
                          <a:latin typeface="Times New Roman" panose="02020603050405020304" pitchFamily="18" charset="0"/>
                          <a:cs typeface="Times New Roman" panose="02020603050405020304" pitchFamily="18" charset="0"/>
                        </a:rPr>
                        <a:t>(0.01)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0.017</a:t>
                      </a:r>
                    </a:p>
                    <a:p>
                      <a:pPr algn="ctr"/>
                      <a:r>
                        <a:rPr lang="en-US" sz="1200" dirty="0">
                          <a:latin typeface="Times New Roman" panose="02020603050405020304" pitchFamily="18" charset="0"/>
                          <a:cs typeface="Times New Roman" panose="02020603050405020304" pitchFamily="18" charset="0"/>
                        </a:rPr>
                        <a:t>(0.001)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8665159"/>
                  </a:ext>
                </a:extLst>
              </a:tr>
              <a:tr h="370840">
                <a:tc>
                  <a:txBody>
                    <a:bodyPr/>
                    <a:lstStyle/>
                    <a:p>
                      <a:pPr algn="ctr"/>
                      <a:r>
                        <a:rPr lang="en-US" sz="1200" dirty="0">
                          <a:latin typeface="Times New Roman" panose="02020603050405020304" pitchFamily="18" charset="0"/>
                          <a:cs typeface="Times New Roman" panose="02020603050405020304" pitchFamily="18" charset="0"/>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0.07</a:t>
                      </a:r>
                    </a:p>
                    <a:p>
                      <a:pPr algn="ctr"/>
                      <a:r>
                        <a:rPr lang="en-US" sz="1200" dirty="0">
                          <a:latin typeface="Times New Roman" panose="02020603050405020304" pitchFamily="18" charset="0"/>
                          <a:cs typeface="Times New Roman" panose="02020603050405020304" pitchFamily="18" charset="0"/>
                        </a:rPr>
                        <a:t>(0.014)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0.047</a:t>
                      </a:r>
                    </a:p>
                    <a:p>
                      <a:pPr algn="ctr"/>
                      <a:r>
                        <a:rPr lang="en-US" sz="1200" dirty="0">
                          <a:latin typeface="Times New Roman" panose="02020603050405020304" pitchFamily="18" charset="0"/>
                          <a:cs typeface="Times New Roman" panose="02020603050405020304" pitchFamily="18" charset="0"/>
                        </a:rPr>
                        <a:t>(0.002)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353793"/>
                  </a:ext>
                </a:extLst>
              </a:tr>
              <a:tr h="370840">
                <a:tc>
                  <a:txBody>
                    <a:bodyPr/>
                    <a:lstStyle/>
                    <a:p>
                      <a:pPr algn="ctr"/>
                      <a:r>
                        <a:rPr lang="en-US" sz="1200" dirty="0">
                          <a:latin typeface="Times New Roman" panose="02020603050405020304" pitchFamily="18" charset="0"/>
                          <a:cs typeface="Times New Roman" panose="02020603050405020304" pitchFamily="18" charset="0"/>
                        </a:rPr>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0.168</a:t>
                      </a:r>
                    </a:p>
                    <a:p>
                      <a:pPr algn="ctr"/>
                      <a:r>
                        <a:rPr lang="en-US" sz="1200" dirty="0">
                          <a:latin typeface="Times New Roman" panose="02020603050405020304" pitchFamily="18" charset="0"/>
                          <a:cs typeface="Times New Roman" panose="02020603050405020304" pitchFamily="18" charset="0"/>
                        </a:rPr>
                        <a:t>(0.02)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0.088</a:t>
                      </a:r>
                    </a:p>
                    <a:p>
                      <a:pPr algn="ctr"/>
                      <a:r>
                        <a:rPr lang="en-US" sz="1200" dirty="0">
                          <a:latin typeface="Times New Roman" panose="02020603050405020304" pitchFamily="18" charset="0"/>
                          <a:cs typeface="Times New Roman" panose="02020603050405020304" pitchFamily="18" charset="0"/>
                        </a:rPr>
                        <a:t>(0.004)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84708409"/>
                  </a:ext>
                </a:extLst>
              </a:tr>
              <a:tr h="370840">
                <a:tc>
                  <a:txBody>
                    <a:bodyPr/>
                    <a:lstStyle/>
                    <a:p>
                      <a:pPr algn="ctr"/>
                      <a:r>
                        <a:rPr lang="en-US" sz="1200" dirty="0">
                          <a:latin typeface="Times New Roman" panose="02020603050405020304" pitchFamily="18" charset="0"/>
                          <a:cs typeface="Times New Roman" panose="02020603050405020304" pitchFamily="18" charset="0"/>
                        </a:rPr>
                        <a:t>5</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0.429</a:t>
                      </a:r>
                    </a:p>
                    <a:p>
                      <a:pPr algn="ctr"/>
                      <a:r>
                        <a:rPr lang="en-US" sz="1200" dirty="0">
                          <a:latin typeface="Times New Roman" panose="02020603050405020304" pitchFamily="18" charset="0"/>
                          <a:cs typeface="Times New Roman" panose="02020603050405020304" pitchFamily="18" charset="0"/>
                        </a:rPr>
                        <a:t>(0.026)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0.383</a:t>
                      </a:r>
                    </a:p>
                    <a:p>
                      <a:pPr algn="ctr"/>
                      <a:r>
                        <a:rPr lang="en-US" sz="12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8259073"/>
                  </a:ext>
                </a:extLst>
              </a:tr>
              <a:tr h="370840">
                <a:tc>
                  <a:txBody>
                    <a:bodyPr/>
                    <a:lstStyle/>
                    <a:p>
                      <a:pPr algn="ctr"/>
                      <a:r>
                        <a:rPr lang="en-US" sz="1200" dirty="0">
                          <a:latin typeface="Times New Roman" panose="02020603050405020304" pitchFamily="18" charset="0"/>
                          <a:cs typeface="Times New Roman" panose="02020603050405020304" pitchFamily="18" charset="0"/>
                        </a:rPr>
                        <a:t>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1,784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Times New Roman" panose="02020603050405020304" pitchFamily="18" charset="0"/>
                          <a:cs typeface="Times New Roman" panose="02020603050405020304" pitchFamily="18" charset="0"/>
                        </a:rPr>
                        <a:t>61,965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3401479"/>
                  </a:ext>
                </a:extLst>
              </a:tr>
            </a:tbl>
          </a:graphicData>
        </a:graphic>
      </p:graphicFrame>
      <p:sp>
        <p:nvSpPr>
          <p:cNvPr id="11" name="TextBox 10">
            <a:extLst>
              <a:ext uri="{FF2B5EF4-FFF2-40B4-BE49-F238E27FC236}">
                <a16:creationId xmlns:a16="http://schemas.microsoft.com/office/drawing/2014/main" id="{C0414462-3CD2-F991-408B-098441C17552}"/>
              </a:ext>
            </a:extLst>
          </p:cNvPr>
          <p:cNvSpPr txBox="1"/>
          <p:nvPr/>
        </p:nvSpPr>
        <p:spPr>
          <a:xfrm>
            <a:off x="6581140" y="5336524"/>
            <a:ext cx="4057842" cy="338554"/>
          </a:xfrm>
          <a:prstGeom prst="rect">
            <a:avLst/>
          </a:prstGeom>
          <a:noFill/>
        </p:spPr>
        <p:txBody>
          <a:bodyPr wrap="none" rtlCol="0">
            <a:spAutoFit/>
          </a:bodyPr>
          <a:lstStyle/>
          <a:p>
            <a:r>
              <a:rPr lang="en-US" sz="1600" dirty="0"/>
              <a:t>Source: Mullainathan and Obermeyer (2023)</a:t>
            </a:r>
          </a:p>
        </p:txBody>
      </p:sp>
      <p:sp>
        <p:nvSpPr>
          <p:cNvPr id="5" name="Date Placeholder 4">
            <a:extLst>
              <a:ext uri="{FF2B5EF4-FFF2-40B4-BE49-F238E27FC236}">
                <a16:creationId xmlns:a16="http://schemas.microsoft.com/office/drawing/2014/main" id="{872F8231-EE03-ACAF-C6D3-05C2EAEA8E64}"/>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86C44721-1D0E-3E90-5128-35B02B1ED8CC}"/>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427318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863F6-35AD-1E67-CBEA-AD6C113BD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ED418-F583-F310-FF06-300BAA31B165}"/>
              </a:ext>
            </a:extLst>
          </p:cNvPr>
          <p:cNvSpPr>
            <a:spLocks noGrp="1"/>
          </p:cNvSpPr>
          <p:nvPr>
            <p:ph type="ctrTitle"/>
          </p:nvPr>
        </p:nvSpPr>
        <p:spPr/>
        <p:txBody>
          <a:bodyPr/>
          <a:lstStyle/>
          <a:p>
            <a:r>
              <a:rPr lang="en-US" dirty="0"/>
              <a:t>Example 2: Pre-trial Release Decision</a:t>
            </a:r>
          </a:p>
        </p:txBody>
      </p:sp>
      <p:sp>
        <p:nvSpPr>
          <p:cNvPr id="4" name="Text Placeholder 3">
            <a:extLst>
              <a:ext uri="{FF2B5EF4-FFF2-40B4-BE49-F238E27FC236}">
                <a16:creationId xmlns:a16="http://schemas.microsoft.com/office/drawing/2014/main" id="{C9FA53A0-5724-12CC-84CA-8A2A1099C5C8}"/>
              </a:ext>
            </a:extLst>
          </p:cNvPr>
          <p:cNvSpPr>
            <a:spLocks noGrp="1"/>
          </p:cNvSpPr>
          <p:nvPr>
            <p:ph type="body" sz="quarter" idx="14"/>
          </p:nvPr>
        </p:nvSpPr>
        <p:spPr>
          <a:xfrm>
            <a:off x="1828800" y="1491343"/>
            <a:ext cx="8755380" cy="3837583"/>
          </a:xfrm>
        </p:spPr>
        <p:txBody>
          <a:bodyPr>
            <a:normAutofit fontScale="92500" lnSpcReduction="10000"/>
          </a:bodyPr>
          <a:lstStyle/>
          <a:p>
            <a:r>
              <a:rPr lang="en-US" sz="2400" dirty="0"/>
              <a:t>There are ~12 million arrests in the US each year</a:t>
            </a:r>
          </a:p>
          <a:p>
            <a:endParaRPr lang="en-US" sz="2400" dirty="0"/>
          </a:p>
          <a:p>
            <a:r>
              <a:rPr lang="en-US" sz="2400" dirty="0"/>
              <a:t>Following an arrest, a judge decides:</a:t>
            </a:r>
          </a:p>
          <a:p>
            <a:pPr lvl="1"/>
            <a:r>
              <a:rPr lang="en-US" sz="2400" dirty="0"/>
              <a:t>If defendant will await trial at home (</a:t>
            </a:r>
            <a:r>
              <a:rPr lang="en-US" sz="2400" dirty="0" err="1"/>
              <a:t>i.e</a:t>
            </a:r>
            <a:r>
              <a:rPr lang="en-US" sz="2400" dirty="0"/>
              <a:t> on bail)</a:t>
            </a:r>
          </a:p>
          <a:p>
            <a:pPr lvl="1"/>
            <a:r>
              <a:rPr lang="en-US" sz="2400" dirty="0"/>
              <a:t>If defendant will be jailed until their trial</a:t>
            </a:r>
          </a:p>
          <a:p>
            <a:endParaRPr lang="en-US" sz="2400" dirty="0"/>
          </a:p>
          <a:p>
            <a:r>
              <a:rPr lang="en-US" sz="2400" dirty="0"/>
              <a:t>If jailed, defendants can be jailed for many months</a:t>
            </a:r>
          </a:p>
          <a:p>
            <a:pPr lvl="1"/>
            <a:r>
              <a:rPr lang="en-US" sz="2400" dirty="0"/>
              <a:t>Hugely consequential decision</a:t>
            </a:r>
          </a:p>
          <a:p>
            <a:endParaRPr lang="en-US" sz="2400" dirty="0"/>
          </a:p>
          <a:p>
            <a:r>
              <a:rPr lang="en-US" sz="2400" dirty="0"/>
              <a:t>Law dictates a judge should decide solely on prediction of whether a defendant will re-appear and not commit a new crime</a:t>
            </a:r>
          </a:p>
        </p:txBody>
      </p:sp>
      <p:sp>
        <p:nvSpPr>
          <p:cNvPr id="5" name="Date Placeholder 4">
            <a:extLst>
              <a:ext uri="{FF2B5EF4-FFF2-40B4-BE49-F238E27FC236}">
                <a16:creationId xmlns:a16="http://schemas.microsoft.com/office/drawing/2014/main" id="{BA1E8B0A-8DC0-9B01-DA94-94F6EAE35726}"/>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82F76063-B623-739E-1F9C-46B7FFD57BFF}"/>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152776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CA4A1-ED0C-4C1B-78BD-C250F6857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FB20A-BF93-8D15-7DB8-8FE234B51110}"/>
              </a:ext>
            </a:extLst>
          </p:cNvPr>
          <p:cNvSpPr>
            <a:spLocks noGrp="1"/>
          </p:cNvSpPr>
          <p:nvPr>
            <p:ph type="ctrTitle"/>
          </p:nvPr>
        </p:nvSpPr>
        <p:spPr/>
        <p:txBody>
          <a:bodyPr/>
          <a:lstStyle/>
          <a:p>
            <a:r>
              <a:rPr lang="en-US" dirty="0"/>
              <a:t>Train an Algorithm to Automate Judge Decision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6F2F59F-97DE-EE96-A090-C27B35F91E1B}"/>
                  </a:ext>
                </a:extLst>
              </p:cNvPr>
              <p:cNvSpPr>
                <a:spLocks noGrp="1"/>
              </p:cNvSpPr>
              <p:nvPr>
                <p:ph type="body" sz="quarter" idx="14"/>
              </p:nvPr>
            </p:nvSpPr>
            <p:spPr>
              <a:xfrm>
                <a:off x="1828800" y="1491343"/>
                <a:ext cx="8755380" cy="3837583"/>
              </a:xfrm>
            </p:spPr>
            <p:txBody>
              <a:bodyPr>
                <a:normAutofit fontScale="85000" lnSpcReduction="10000"/>
              </a:bodyPr>
              <a:lstStyle/>
              <a:p>
                <a:r>
                  <a:rPr lang="en-US" sz="2400" dirty="0"/>
                  <a:t>Kleinberg et al (2018) train an algorithm to automate the judge’s decision</a:t>
                </a:r>
              </a:p>
              <a:p>
                <a:endParaRPr lang="en-US" sz="2400" dirty="0"/>
              </a:p>
              <a:p>
                <a:r>
                  <a:rPr lang="en-US" sz="2400" dirty="0"/>
                  <a:t>Data contains </a:t>
                </a:r>
              </a:p>
              <a:p>
                <a:pPr lvl="1"/>
                <a:r>
                  <a:rPr lang="en-US" sz="2400" dirty="0"/>
                  <a:t>~750,000 cases</a:t>
                </a:r>
              </a:p>
              <a:p>
                <a:pPr lvl="1"/>
                <a:r>
                  <a:rPr lang="en-US" sz="2400" dirty="0"/>
                  <a:t>Defendant characteristics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oMath>
                </a14:m>
                <a:r>
                  <a:rPr lang="en-US" sz="2400" dirty="0"/>
                  <a:t>: arrest + conviction record, current charge</a:t>
                </a:r>
              </a:p>
              <a:p>
                <a:pPr lvl="1"/>
                <a:r>
                  <a:rPr lang="en-US" sz="2400" dirty="0"/>
                  <a:t>Outcome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oMath>
                </a14:m>
                <a:r>
                  <a:rPr lang="en-US" sz="2400" dirty="0"/>
                  <a:t>: Flight (failure to appear) or arrested for crime</a:t>
                </a:r>
              </a:p>
              <a:p>
                <a:pPr lvl="1"/>
                <a:r>
                  <a:rPr lang="en-US" sz="2400" dirty="0"/>
                  <a:t>Decision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m:t>
                        </m:r>
                      </m:sub>
                    </m:sSub>
                  </m:oMath>
                </a14:m>
                <a:r>
                  <a:rPr lang="en-US" sz="2400" dirty="0"/>
                  <a:t>: Release or detain</a:t>
                </a:r>
              </a:p>
              <a:p>
                <a:endParaRPr lang="en-US" sz="2400" dirty="0"/>
              </a:p>
              <a:p>
                <a:r>
                  <a:rPr lang="en-US" sz="2400" dirty="0"/>
                  <a:t>Standard supervised ML algorithm:</a:t>
                </a:r>
              </a:p>
              <a:p>
                <a:pPr lvl="1"/>
                <a:r>
                  <a:rPr lang="en-US" sz="2400" dirty="0"/>
                  <a:t>Learn the function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oMath>
                </a14:m>
                <a:endParaRPr lang="en-US" sz="2400" dirty="0"/>
              </a:p>
            </p:txBody>
          </p:sp>
        </mc:Choice>
        <mc:Fallback xmlns="">
          <p:sp>
            <p:nvSpPr>
              <p:cNvPr id="4" name="Text Placeholder 3">
                <a:extLst>
                  <a:ext uri="{FF2B5EF4-FFF2-40B4-BE49-F238E27FC236}">
                    <a16:creationId xmlns:a16="http://schemas.microsoft.com/office/drawing/2014/main" id="{C6F2F59F-97DE-EE96-A090-C27B35F91E1B}"/>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1739" t="-297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00D0602-8539-5F4D-669F-BE242AB696EA}"/>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931D979A-B76D-1BFD-EB7B-379BF3756932}"/>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52E63795-30AF-8997-2460-12D98DFB744F}"/>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3596527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89CD-322A-D8E6-EA46-1EFA667D2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C7CD1-8C4E-8B4F-4B9D-8DA6DF5EA4BF}"/>
              </a:ext>
            </a:extLst>
          </p:cNvPr>
          <p:cNvSpPr>
            <a:spLocks noGrp="1"/>
          </p:cNvSpPr>
          <p:nvPr>
            <p:ph type="ctrTitle"/>
          </p:nvPr>
        </p:nvSpPr>
        <p:spPr/>
        <p:txBody>
          <a:bodyPr/>
          <a:lstStyle/>
          <a:p>
            <a:r>
              <a:rPr lang="en-US" dirty="0"/>
              <a:t>Step 1: Show Algorithm Contains Some Signal Again</a:t>
            </a:r>
          </a:p>
        </p:txBody>
      </p:sp>
      <p:pic>
        <p:nvPicPr>
          <p:cNvPr id="11" name="Picture 10" descr="Left Image (Release Rate vs. Predicted Crime Risk):&#10;Scatterplot showing release rate on the vertical axis and predicted crime risk on the horizontal axis. Points slope downward, indicating that judges release fewer defendants as predicted risk increases.&#10;&#10;Right Image (Actual Crime Rate vs. Predicted Crime Risk):&#10;Scatterplot showing actual crime rate on the vertical axis and predicted crime risk on the horizontal axis. Points form an upward-sloping cloud, indicating that actual crime rates rise with predicted risk.">
            <a:extLst>
              <a:ext uri="{FF2B5EF4-FFF2-40B4-BE49-F238E27FC236}">
                <a16:creationId xmlns:a16="http://schemas.microsoft.com/office/drawing/2014/main" id="{6ED11A52-1D4D-903D-0EA7-C43ACBF69202}"/>
              </a:ext>
            </a:extLst>
          </p:cNvPr>
          <p:cNvPicPr>
            <a:picLocks noChangeAspect="1"/>
          </p:cNvPicPr>
          <p:nvPr/>
        </p:nvPicPr>
        <p:blipFill>
          <a:blip r:embed="rId3"/>
          <a:stretch>
            <a:fillRect/>
          </a:stretch>
        </p:blipFill>
        <p:spPr>
          <a:xfrm>
            <a:off x="2107520" y="958505"/>
            <a:ext cx="6570397" cy="5053293"/>
          </a:xfrm>
          <a:prstGeom prst="rect">
            <a:avLst/>
          </a:prstGeom>
        </p:spPr>
      </p:pic>
      <p:sp>
        <p:nvSpPr>
          <p:cNvPr id="18" name="TextBox 17">
            <a:extLst>
              <a:ext uri="{FF2B5EF4-FFF2-40B4-BE49-F238E27FC236}">
                <a16:creationId xmlns:a16="http://schemas.microsoft.com/office/drawing/2014/main" id="{4B8F00D8-CCC0-24BB-9889-C100387D558D}"/>
              </a:ext>
            </a:extLst>
          </p:cNvPr>
          <p:cNvSpPr txBox="1"/>
          <p:nvPr/>
        </p:nvSpPr>
        <p:spPr>
          <a:xfrm>
            <a:off x="8579284" y="4886100"/>
            <a:ext cx="2313134" cy="646331"/>
          </a:xfrm>
          <a:prstGeom prst="rect">
            <a:avLst/>
          </a:prstGeom>
          <a:noFill/>
        </p:spPr>
        <p:txBody>
          <a:bodyPr wrap="none" rtlCol="0">
            <a:spAutoFit/>
          </a:bodyPr>
          <a:lstStyle/>
          <a:p>
            <a:r>
              <a:rPr lang="en-US" dirty="0"/>
              <a:t>Source: </a:t>
            </a:r>
          </a:p>
          <a:p>
            <a:r>
              <a:rPr lang="en-US" dirty="0"/>
              <a:t>Kleinberg et al (2018)</a:t>
            </a:r>
          </a:p>
        </p:txBody>
      </p:sp>
      <p:sp>
        <p:nvSpPr>
          <p:cNvPr id="5" name="Date Placeholder 4">
            <a:extLst>
              <a:ext uri="{FF2B5EF4-FFF2-40B4-BE49-F238E27FC236}">
                <a16:creationId xmlns:a16="http://schemas.microsoft.com/office/drawing/2014/main" id="{84BAA2CC-FC4E-9C40-572B-0D52CA2B29D1}"/>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6826A33B-F631-8BBF-BB72-8BA232DDB340}"/>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3547012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BCD6A-331A-93EC-2C55-A4DCDBC44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24CA3-8D3E-7289-9E91-9BC68D08363C}"/>
              </a:ext>
            </a:extLst>
          </p:cNvPr>
          <p:cNvSpPr>
            <a:spLocks noGrp="1"/>
          </p:cNvSpPr>
          <p:nvPr>
            <p:ph type="ctrTitle"/>
          </p:nvPr>
        </p:nvSpPr>
        <p:spPr>
          <a:xfrm>
            <a:off x="2107520" y="437030"/>
            <a:ext cx="8755380" cy="664797"/>
          </a:xfrm>
        </p:spPr>
        <p:txBody>
          <a:bodyPr/>
          <a:lstStyle/>
          <a:p>
            <a:r>
              <a:rPr lang="en-US" dirty="0"/>
              <a:t>Step 2: Compare Algorithm Decisions to Human Decisions Again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452EB9A-084C-F3C1-8564-60BF4C0C12F2}"/>
                  </a:ext>
                </a:extLst>
              </p:cNvPr>
              <p:cNvSpPr>
                <a:spLocks noGrp="1"/>
              </p:cNvSpPr>
              <p:nvPr>
                <p:ph type="body" sz="quarter" idx="14"/>
              </p:nvPr>
            </p:nvSpPr>
            <p:spPr>
              <a:xfrm>
                <a:off x="1828800" y="1491343"/>
                <a:ext cx="8755380" cy="3837583"/>
              </a:xfrm>
            </p:spPr>
            <p:txBody>
              <a:bodyPr>
                <a:normAutofit/>
              </a:bodyPr>
              <a:lstStyle/>
              <a:p>
                <a:r>
                  <a:rPr lang="en-US" sz="2400" dirty="0"/>
                  <a:t>Algorithm forms a prediction </a:t>
                </a: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Pr</m:t>
                        </m:r>
                      </m:fName>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e>
                    </m:func>
                  </m:oMath>
                </a14:m>
                <a:endParaRPr lang="en-US" sz="2400" dirty="0"/>
              </a:p>
              <a:p>
                <a:endParaRPr lang="en-US" sz="2400" dirty="0"/>
              </a:p>
              <a:p>
                <a:r>
                  <a:rPr lang="en-US" sz="2400" dirty="0"/>
                  <a:t>Translate this to a decision using a cutoff rule: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𝑎</m:t>
                      </m:r>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Pr</m:t>
                              </m:r>
                            </m:fName>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e>
                          </m:func>
                          <m:r>
                            <a:rPr lang="en-US" sz="2400" b="0" i="1" smtClean="0">
                              <a:latin typeface="Cambria Math" panose="02040503050406030204" pitchFamily="18" charset="0"/>
                            </a:rPr>
                            <m:t>&lt;</m:t>
                          </m:r>
                          <m:r>
                            <a:rPr lang="en-US" sz="2400" b="0" i="1" smtClean="0">
                              <a:latin typeface="Cambria Math" panose="02040503050406030204" pitchFamily="18" charset="0"/>
                            </a:rPr>
                            <m:t>𝜏</m:t>
                          </m:r>
                        </m:e>
                      </m:d>
                    </m:oMath>
                  </m:oMathPara>
                </a14:m>
                <a:endParaRPr lang="en-US" sz="2400" dirty="0"/>
              </a:p>
              <a:p>
                <a:endParaRPr lang="en-US" sz="2400" i="1" dirty="0">
                  <a:latin typeface="Cambria Math" panose="02040503050406030204" pitchFamily="18" charset="0"/>
                </a:endParaRPr>
              </a:p>
              <a:p>
                <a14:m>
                  <m:oMath xmlns:m="http://schemas.openxmlformats.org/officeDocument/2006/math">
                    <m:r>
                      <a:rPr lang="en-US" sz="2400" b="0" i="1" smtClean="0">
                        <a:latin typeface="Cambria Math" panose="02040503050406030204" pitchFamily="18" charset="0"/>
                      </a:rPr>
                      <m:t>𝜏</m:t>
                    </m:r>
                  </m:oMath>
                </a14:m>
                <a:r>
                  <a:rPr lang="en-US" sz="2400" dirty="0"/>
                  <a:t> captures the relative cost of false positives and false negatives</a:t>
                </a:r>
              </a:p>
              <a:p>
                <a:pPr lvl="1"/>
                <a:r>
                  <a:rPr lang="en-US" sz="2400" dirty="0"/>
                  <a:t>False positive: Release someone who commits a new crime</a:t>
                </a:r>
              </a:p>
              <a:p>
                <a:pPr lvl="1"/>
                <a:r>
                  <a:rPr lang="en-US" sz="2400" dirty="0"/>
                  <a:t>False negative: Detain someone who would not have reoffended</a:t>
                </a:r>
              </a:p>
              <a:p>
                <a:pPr lvl="1"/>
                <a:endParaRPr lang="en-US" sz="2400" dirty="0"/>
              </a:p>
              <a:p>
                <a:pPr lvl="1"/>
                <a:endParaRPr lang="en-US" sz="2400" dirty="0"/>
              </a:p>
            </p:txBody>
          </p:sp>
        </mc:Choice>
        <mc:Fallback xmlns="">
          <p:sp>
            <p:nvSpPr>
              <p:cNvPr id="4" name="Text Placeholder 3">
                <a:extLst>
                  <a:ext uri="{FF2B5EF4-FFF2-40B4-BE49-F238E27FC236}">
                    <a16:creationId xmlns:a16="http://schemas.microsoft.com/office/drawing/2014/main" id="{D452EB9A-084C-F3C1-8564-60BF4C0C12F2}"/>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2029" t="-2640" r="-115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EAD1DA7-3C15-4F6B-FF92-827EDA8768F9}"/>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681209E1-2639-6503-7A62-E23DD64C41E6}"/>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F7011687-2606-1E1F-8812-DEBF11188CAF}"/>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600650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A6BF6-42C6-8208-03E4-6D94643C9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FF811-9AB2-5C02-A80D-D47798227903}"/>
              </a:ext>
            </a:extLst>
          </p:cNvPr>
          <p:cNvSpPr>
            <a:spLocks noGrp="1"/>
          </p:cNvSpPr>
          <p:nvPr>
            <p:ph type="ctrTitle"/>
          </p:nvPr>
        </p:nvSpPr>
        <p:spPr/>
        <p:txBody>
          <a:bodyPr/>
          <a:lstStyle/>
          <a:p>
            <a:r>
              <a:rPr lang="en-US" dirty="0"/>
              <a:t>Choosing A Release Threshold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F5F634D-C401-18ED-DF79-213BECB55978}"/>
                  </a:ext>
                </a:extLst>
              </p:cNvPr>
              <p:cNvSpPr>
                <a:spLocks noGrp="1"/>
              </p:cNvSpPr>
              <p:nvPr>
                <p:ph type="body" sz="quarter" idx="14"/>
              </p:nvPr>
            </p:nvSpPr>
            <p:spPr>
              <a:xfrm>
                <a:off x="1828800" y="1491343"/>
                <a:ext cx="8755380" cy="3837583"/>
              </a:xfrm>
            </p:spPr>
            <p:txBody>
              <a:bodyPr>
                <a:normAutofit lnSpcReduction="10000"/>
              </a:bodyPr>
              <a:lstStyle/>
              <a:p>
                <a:r>
                  <a:rPr lang="en-US" sz="2400" dirty="0"/>
                  <a:t>Model judge payoffs as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r>
                        <a:rPr lang="en-US" sz="2400" b="0" i="1" smtClean="0">
                          <a:latin typeface="Cambria Math" panose="02040503050406030204" pitchFamily="18" charset="0"/>
                        </a:rPr>
                        <m:t>𝑐</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𝑏</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m:t>
                              </m:r>
                            </m:sub>
                          </m:sSub>
                        </m:e>
                      </m:d>
                    </m:oMath>
                  </m:oMathPara>
                </a14:m>
                <a:endParaRPr lang="en-US" sz="2400" b="0" dirty="0"/>
              </a:p>
              <a:p>
                <a:pPr marL="0" indent="0">
                  <a:buNone/>
                </a:pPr>
                <a:endParaRPr lang="en-US" sz="2400" b="0" dirty="0"/>
              </a:p>
              <a:p>
                <a14:m>
                  <m:oMath xmlns:m="http://schemas.openxmlformats.org/officeDocument/2006/math">
                    <m:r>
                      <a:rPr lang="en-US" sz="2400" b="0" i="1" dirty="0" smtClean="0">
                        <a:latin typeface="Cambria Math" panose="02040503050406030204" pitchFamily="18" charset="0"/>
                      </a:rPr>
                      <m:t>𝑐</m:t>
                    </m:r>
                  </m:oMath>
                </a14:m>
                <a:r>
                  <a:rPr lang="en-US" sz="2400" dirty="0"/>
                  <a:t>: Cost of new crime</a:t>
                </a:r>
              </a:p>
              <a:p>
                <a14:m>
                  <m:oMath xmlns:m="http://schemas.openxmlformats.org/officeDocument/2006/math">
                    <m:r>
                      <a:rPr lang="en-US" sz="2400" b="0" i="1" smtClean="0">
                        <a:latin typeface="Cambria Math" panose="02040503050406030204" pitchFamily="18" charset="0"/>
                      </a:rPr>
                      <m:t>𝑏</m:t>
                    </m:r>
                  </m:oMath>
                </a14:m>
                <a:r>
                  <a:rPr lang="en-US" sz="2400" dirty="0"/>
                  <a:t>: Cost of jailing someone</a:t>
                </a:r>
              </a:p>
              <a:p>
                <a:endParaRPr lang="en-US" sz="2400" dirty="0"/>
              </a:p>
              <a:p>
                <a:r>
                  <a:rPr lang="en-US" sz="2400" dirty="0"/>
                  <a:t>Optimal action: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r>
                            <a:rPr lang="en-US" sz="2400" i="1">
                              <a:latin typeface="Cambria Math" panose="02040503050406030204" pitchFamily="18" charset="0"/>
                            </a:rPr>
                            <m:t>≥</m:t>
                          </m:r>
                          <m:r>
                            <a:rPr lang="en-US" sz="2400" i="1">
                              <a:latin typeface="Cambria Math" panose="02040503050406030204" pitchFamily="18" charset="0"/>
                            </a:rPr>
                            <m:t>𝐸</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𝑢</m:t>
                              </m:r>
                              <m:d>
                                <m:dPr>
                                  <m:ctrlPr>
                                    <a:rPr lang="en-US" sz="2400" i="1">
                                      <a:latin typeface="Cambria Math" panose="02040503050406030204" pitchFamily="18" charset="0"/>
                                    </a:rPr>
                                  </m:ctrlPr>
                                </m:dPr>
                                <m:e>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𝑖</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e>
                      </m:d>
                      <m:r>
                        <a:rPr lang="en-US" sz="2400" b="0" i="1" smtClean="0">
                          <a:latin typeface="Cambria Math" panose="02040503050406030204" pitchFamily="18" charset="0"/>
                        </a:rPr>
                        <m:t> </m:t>
                      </m:r>
                    </m:oMath>
                  </m:oMathPara>
                </a14:m>
                <a:endParaRPr lang="en-US" sz="2400" b="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𝑐𝑃𝑟</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𝑏</m:t>
                          </m:r>
                        </m:e>
                      </m:d>
                    </m:oMath>
                  </m:oMathPara>
                </a14:m>
                <a:endParaRPr lang="en-US" sz="2400" b="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𝜏</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𝑏</m:t>
                          </m:r>
                        </m:num>
                        <m:den>
                          <m:r>
                            <a:rPr lang="en-US" sz="2400" b="0" i="1" smtClean="0">
                              <a:latin typeface="Cambria Math" panose="02040503050406030204" pitchFamily="18" charset="0"/>
                            </a:rPr>
                            <m:t>𝑐</m:t>
                          </m:r>
                        </m:den>
                      </m:f>
                    </m:oMath>
                  </m:oMathPara>
                </a14:m>
                <a:endParaRPr lang="en-US" sz="2400" b="0" dirty="0"/>
              </a:p>
              <a:p>
                <a:pPr marL="0" indent="0">
                  <a:buNone/>
                </a:pPr>
                <a:endParaRPr lang="en-US" sz="2400" b="0" dirty="0"/>
              </a:p>
              <a:p>
                <a:pPr marL="0" indent="0">
                  <a:buNone/>
                </a:pPr>
                <a:endParaRPr lang="en-US" sz="2400" dirty="0"/>
              </a:p>
            </p:txBody>
          </p:sp>
        </mc:Choice>
        <mc:Fallback xmlns="">
          <p:sp>
            <p:nvSpPr>
              <p:cNvPr id="4" name="Text Placeholder 3">
                <a:extLst>
                  <a:ext uri="{FF2B5EF4-FFF2-40B4-BE49-F238E27FC236}">
                    <a16:creationId xmlns:a16="http://schemas.microsoft.com/office/drawing/2014/main" id="{DF5F634D-C401-18ED-DF79-213BECB55978}"/>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2029" t="-3300" b="-132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9533B54-C45B-1698-ABA7-4D250091A030}"/>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B6CF2B72-85BE-0AC3-0562-D3B88B094CD4}"/>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932A3D5F-D55B-2641-5BEE-86B2FC1D7DFC}"/>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137395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72714-E82B-501E-1F74-A05B6E903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B0A6-4B1C-A7E7-AA4D-B18D207B8029}"/>
              </a:ext>
            </a:extLst>
          </p:cNvPr>
          <p:cNvSpPr>
            <a:spLocks noGrp="1"/>
          </p:cNvSpPr>
          <p:nvPr>
            <p:ph type="ctrTitle"/>
          </p:nvPr>
        </p:nvSpPr>
        <p:spPr/>
        <p:txBody>
          <a:bodyPr/>
          <a:lstStyle/>
          <a:p>
            <a:r>
              <a:rPr lang="en-US" dirty="0"/>
              <a:t>Evaluating Algorithm Decisions</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21D92011-6BE3-83EF-A6B9-FD57AE8A0B0B}"/>
                  </a:ext>
                </a:extLst>
              </p:cNvPr>
              <p:cNvSpPr>
                <a:spLocks noGrp="1"/>
              </p:cNvSpPr>
              <p:nvPr>
                <p:ph type="body" sz="quarter" idx="14"/>
              </p:nvPr>
            </p:nvSpPr>
            <p:spPr>
              <a:xfrm>
                <a:off x="1957778" y="1447991"/>
                <a:ext cx="4333293" cy="3617786"/>
              </a:xfrm>
            </p:spPr>
            <p:txBody>
              <a:bodyPr>
                <a:normAutofit/>
              </a:bodyPr>
              <a:lstStyle/>
              <a:p>
                <a:r>
                  <a:rPr lang="en-US" sz="2000" dirty="0"/>
                  <a:t>For many values of </a:t>
                </a:r>
                <a14:m>
                  <m:oMath xmlns:m="http://schemas.openxmlformats.org/officeDocument/2006/math">
                    <m:r>
                      <a:rPr lang="en-US" sz="2000" b="0" i="1" smtClean="0">
                        <a:latin typeface="Cambria Math" panose="02040503050406030204" pitchFamily="18" charset="0"/>
                      </a:rPr>
                      <m:t>𝜏</m:t>
                    </m:r>
                  </m:oMath>
                </a14:m>
                <a:r>
                  <a:rPr lang="en-US" sz="2000" dirty="0"/>
                  <a:t>, plot:</a:t>
                </a:r>
              </a:p>
              <a:p>
                <a:endParaRPr lang="en-US" sz="2000" dirty="0"/>
              </a:p>
              <a:p>
                <a:r>
                  <a:rPr lang="en-US" sz="2000" dirty="0"/>
                  <a:t>x-axis: Share of defendants with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Pr</m:t>
                        </m:r>
                      </m:fName>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𝑖</m:t>
                                </m:r>
                              </m:sub>
                            </m:sSub>
                          </m:e>
                        </m:d>
                      </m:e>
                    </m:func>
                    <m:r>
                      <a:rPr lang="en-US" sz="2000" b="0" i="1" smtClean="0">
                        <a:latin typeface="Cambria Math" panose="02040503050406030204" pitchFamily="18" charset="0"/>
                      </a:rPr>
                      <m:t>&lt;</m:t>
                    </m:r>
                    <m:r>
                      <a:rPr lang="en-US" sz="2000" b="0" i="1" smtClean="0">
                        <a:latin typeface="Cambria Math" panose="02040503050406030204" pitchFamily="18" charset="0"/>
                      </a:rPr>
                      <m:t>𝜏</m:t>
                    </m:r>
                  </m:oMath>
                </a14:m>
                <a:endParaRPr lang="en-US" sz="2000" b="0" dirty="0"/>
              </a:p>
              <a:p>
                <a:pPr lvl="1"/>
                <a:endParaRPr lang="en-US" sz="2000" dirty="0"/>
              </a:p>
              <a:p>
                <a:r>
                  <a:rPr lang="en-US" sz="2000" dirty="0"/>
                  <a:t>y-axis: Average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oMath>
                </a14:m>
                <a:r>
                  <a:rPr lang="en-US" sz="2000" dirty="0"/>
                  <a:t> among released</a:t>
                </a:r>
              </a:p>
              <a:p>
                <a:endParaRPr lang="en-US" sz="2000" dirty="0"/>
              </a:p>
              <a:p>
                <a:r>
                  <a:rPr lang="en-US" sz="2000" dirty="0"/>
                  <a:t>Question: Why is this convex?</a:t>
                </a:r>
              </a:p>
              <a:p>
                <a:endParaRPr lang="en-US" sz="2000" dirty="0"/>
              </a:p>
              <a:p>
                <a:r>
                  <a:rPr lang="en-US" sz="2000" dirty="0"/>
                  <a:t>Is this better / worse than humans?</a:t>
                </a:r>
              </a:p>
            </p:txBody>
          </p:sp>
        </mc:Choice>
        <mc:Fallback xmlns="">
          <p:sp>
            <p:nvSpPr>
              <p:cNvPr id="10" name="Text Placeholder 9">
                <a:extLst>
                  <a:ext uri="{FF2B5EF4-FFF2-40B4-BE49-F238E27FC236}">
                    <a16:creationId xmlns:a16="http://schemas.microsoft.com/office/drawing/2014/main" id="{21D92011-6BE3-83EF-A6B9-FD57AE8A0B0B}"/>
                  </a:ext>
                </a:extLst>
              </p:cNvPr>
              <p:cNvSpPr>
                <a:spLocks noGrp="1" noRot="1" noChangeAspect="1" noMove="1" noResize="1" noEditPoints="1" noAdjustHandles="1" noChangeArrowheads="1" noChangeShapeType="1" noTextEdit="1"/>
              </p:cNvSpPr>
              <p:nvPr>
                <p:ph type="body" sz="quarter" idx="14"/>
              </p:nvPr>
            </p:nvSpPr>
            <p:spPr>
              <a:xfrm>
                <a:off x="1957778" y="1447991"/>
                <a:ext cx="4333293" cy="3617786"/>
              </a:xfrm>
              <a:blipFill>
                <a:blip r:embed="rId3"/>
                <a:stretch>
                  <a:fillRect l="-3216" t="-2105"/>
                </a:stretch>
              </a:blipFill>
            </p:spPr>
            <p:txBody>
              <a:bodyPr/>
              <a:lstStyle/>
              <a:p>
                <a:r>
                  <a:rPr lang="en-US">
                    <a:noFill/>
                  </a:rPr>
                  <a:t> </a:t>
                </a:r>
              </a:p>
            </p:txBody>
          </p:sp>
        </mc:Fallback>
      </mc:AlternateContent>
      <p:pic>
        <p:nvPicPr>
          <p:cNvPr id="19" name="Picture 18" descr="Line graph showing crime rate on the vertical axis and release rate on the horizontal axis. The curve slopes upward and becomes steeper at higher release rates, indicating that crime rates increase nonlinearly as more defendants are released. A point labeled ‘Algorithm’ appears near a high release rate and corresponding high crime rate on the curve.">
            <a:extLst>
              <a:ext uri="{FF2B5EF4-FFF2-40B4-BE49-F238E27FC236}">
                <a16:creationId xmlns:a16="http://schemas.microsoft.com/office/drawing/2014/main" id="{F61FB798-3E28-8A73-4B8D-F20188A01D73}"/>
              </a:ext>
            </a:extLst>
          </p:cNvPr>
          <p:cNvPicPr>
            <a:picLocks noChangeAspect="1"/>
          </p:cNvPicPr>
          <p:nvPr/>
        </p:nvPicPr>
        <p:blipFill>
          <a:blip r:embed="rId4"/>
          <a:stretch>
            <a:fillRect/>
          </a:stretch>
        </p:blipFill>
        <p:spPr>
          <a:xfrm>
            <a:off x="6624945" y="1707384"/>
            <a:ext cx="4917683" cy="3617786"/>
          </a:xfrm>
          <a:prstGeom prst="rect">
            <a:avLst/>
          </a:prstGeom>
        </p:spPr>
      </p:pic>
      <p:sp>
        <p:nvSpPr>
          <p:cNvPr id="21" name="TextBox 20">
            <a:extLst>
              <a:ext uri="{FF2B5EF4-FFF2-40B4-BE49-F238E27FC236}">
                <a16:creationId xmlns:a16="http://schemas.microsoft.com/office/drawing/2014/main" id="{0BB9F062-A6D4-93B8-C471-8FB9D5FD60DE}"/>
              </a:ext>
            </a:extLst>
          </p:cNvPr>
          <p:cNvSpPr txBox="1"/>
          <p:nvPr/>
        </p:nvSpPr>
        <p:spPr>
          <a:xfrm>
            <a:off x="6096000" y="5318963"/>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23BCF007-D4B6-5403-5866-944DE02473E1}"/>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E5759100-DBE6-84E5-30E0-EBF436BE5303}"/>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81285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AA0C8-37C9-1485-96DA-5F61C6157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A01C0-3162-9D27-F6FA-5FB81DE3D6CB}"/>
              </a:ext>
            </a:extLst>
          </p:cNvPr>
          <p:cNvSpPr>
            <a:spLocks noGrp="1"/>
          </p:cNvSpPr>
          <p:nvPr>
            <p:ph type="ctrTitle"/>
          </p:nvPr>
        </p:nvSpPr>
        <p:spPr/>
        <p:txBody>
          <a:bodyPr/>
          <a:lstStyle/>
          <a:p>
            <a:r>
              <a:rPr lang="en-US" dirty="0"/>
              <a:t>Evaluating Algorithm Decisions, Continued</a:t>
            </a:r>
          </a:p>
        </p:txBody>
      </p:sp>
      <p:sp>
        <p:nvSpPr>
          <p:cNvPr id="10" name="Text Placeholder 9">
            <a:extLst>
              <a:ext uri="{FF2B5EF4-FFF2-40B4-BE49-F238E27FC236}">
                <a16:creationId xmlns:a16="http://schemas.microsoft.com/office/drawing/2014/main" id="{337A1F74-B9BD-E13C-0C47-E73E6DFF81E7}"/>
              </a:ext>
            </a:extLst>
          </p:cNvPr>
          <p:cNvSpPr>
            <a:spLocks noGrp="1"/>
          </p:cNvSpPr>
          <p:nvPr>
            <p:ph type="body" sz="quarter" idx="14"/>
          </p:nvPr>
        </p:nvSpPr>
        <p:spPr>
          <a:xfrm>
            <a:off x="1957778" y="1447991"/>
            <a:ext cx="4333293" cy="3617786"/>
          </a:xfrm>
        </p:spPr>
        <p:txBody>
          <a:bodyPr>
            <a:normAutofit/>
          </a:bodyPr>
          <a:lstStyle/>
          <a:p>
            <a:r>
              <a:rPr lang="en-US" sz="2000" dirty="0"/>
              <a:t>Add performance of human judge</a:t>
            </a:r>
          </a:p>
          <a:p>
            <a:endParaRPr lang="en-US" sz="2000" dirty="0"/>
          </a:p>
          <a:p>
            <a:r>
              <a:rPr lang="en-US" sz="2000" dirty="0"/>
              <a:t>Keep jail population fixed</a:t>
            </a:r>
          </a:p>
          <a:p>
            <a:pPr lvl="1"/>
            <a:r>
              <a:rPr lang="en-US" sz="2000" dirty="0"/>
              <a:t>Reduce crime rate by 24%</a:t>
            </a:r>
          </a:p>
          <a:p>
            <a:endParaRPr lang="en-US" sz="2000" dirty="0"/>
          </a:p>
          <a:p>
            <a:r>
              <a:rPr lang="en-US" sz="2000" dirty="0"/>
              <a:t>Keep crime rate fixed, reduce jail population by 40%!</a:t>
            </a:r>
          </a:p>
          <a:p>
            <a:endParaRPr lang="en-US" sz="2000" dirty="0"/>
          </a:p>
          <a:p>
            <a:r>
              <a:rPr lang="en-US" sz="2000" dirty="0"/>
              <a:t>Algorithm seems to improve on human decisions!</a:t>
            </a:r>
          </a:p>
        </p:txBody>
      </p:sp>
      <p:pic>
        <p:nvPicPr>
          <p:cNvPr id="7" name="Picture 6" descr="Graph plotting crime rate against release rate with an upward-curving line.">
            <a:extLst>
              <a:ext uri="{FF2B5EF4-FFF2-40B4-BE49-F238E27FC236}">
                <a16:creationId xmlns:a16="http://schemas.microsoft.com/office/drawing/2014/main" id="{F1D11711-462F-48FC-4E25-5A59BE93B67C}"/>
              </a:ext>
            </a:extLst>
          </p:cNvPr>
          <p:cNvPicPr>
            <a:picLocks noChangeAspect="1"/>
          </p:cNvPicPr>
          <p:nvPr/>
        </p:nvPicPr>
        <p:blipFill>
          <a:blip r:embed="rId3"/>
          <a:stretch>
            <a:fillRect/>
          </a:stretch>
        </p:blipFill>
        <p:spPr>
          <a:xfrm>
            <a:off x="6096000" y="1159001"/>
            <a:ext cx="5558028" cy="4195766"/>
          </a:xfrm>
          <a:prstGeom prst="rect">
            <a:avLst/>
          </a:prstGeom>
        </p:spPr>
      </p:pic>
      <p:sp>
        <p:nvSpPr>
          <p:cNvPr id="9" name="TextBox 8">
            <a:extLst>
              <a:ext uri="{FF2B5EF4-FFF2-40B4-BE49-F238E27FC236}">
                <a16:creationId xmlns:a16="http://schemas.microsoft.com/office/drawing/2014/main" id="{35B30756-DE10-3AF4-A6F4-FBB7CD85118E}"/>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CAE92B0F-E7DB-7E07-BF21-30EF97D0D436}"/>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0E00B879-CFAA-C40E-AE06-6FF17A869304}"/>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765618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0C24C-FC73-8EBA-BC85-BB6B36E9F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0B342-5DA6-EF66-DC0F-FED11D6367CC}"/>
              </a:ext>
            </a:extLst>
          </p:cNvPr>
          <p:cNvSpPr>
            <a:spLocks noGrp="1"/>
          </p:cNvSpPr>
          <p:nvPr>
            <p:ph type="ctrTitle"/>
          </p:nvPr>
        </p:nvSpPr>
        <p:spPr>
          <a:xfrm>
            <a:off x="2107520" y="437030"/>
            <a:ext cx="8700688" cy="664797"/>
          </a:xfrm>
        </p:spPr>
        <p:txBody>
          <a:bodyPr/>
          <a:lstStyle/>
          <a:p>
            <a:r>
              <a:rPr lang="en-US" dirty="0"/>
              <a:t>Promise of Algorithmic Decision Making for Machine Decisions</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184498A4-7B42-8D03-281C-C22DCDB0EBC8}"/>
                  </a:ext>
                </a:extLst>
              </p:cNvPr>
              <p:cNvSpPr>
                <a:spLocks noGrp="1"/>
              </p:cNvSpPr>
              <p:nvPr>
                <p:ph type="body" sz="quarter" idx="14"/>
              </p:nvPr>
            </p:nvSpPr>
            <p:spPr>
              <a:xfrm>
                <a:off x="1957778" y="1447991"/>
                <a:ext cx="8850430" cy="3617786"/>
              </a:xfrm>
            </p:spPr>
            <p:txBody>
              <a:bodyPr>
                <a:normAutofit/>
              </a:bodyPr>
              <a:lstStyle/>
              <a:p>
                <a:r>
                  <a:rPr lang="en-US" sz="2000" dirty="0"/>
                  <a:t>Machines can learn flexible relationships to approximate true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e>
                        <m:r>
                          <a:rPr lang="en-US" sz="2000" b="0" i="1" smtClean="0">
                            <a:latin typeface="Cambria Math" panose="02040503050406030204" pitchFamily="18" charset="0"/>
                          </a:rPr>
                          <m:t>𝑋</m:t>
                        </m:r>
                      </m:e>
                    </m:d>
                  </m:oMath>
                </a14:m>
                <a:endParaRPr lang="en-US" sz="2000" dirty="0"/>
              </a:p>
              <a:p>
                <a:pPr lvl="1"/>
                <a:r>
                  <a:rPr lang="en-US" sz="2000" dirty="0"/>
                  <a:t>Humans approximate conditional expectation with imperfect models</a:t>
                </a:r>
              </a:p>
              <a:p>
                <a:pPr lvl="1"/>
                <a:r>
                  <a:rPr lang="en-US" sz="2000" dirty="0"/>
                  <a:t>Humans have cognitive noise resulting in imperfect decisions</a:t>
                </a:r>
              </a:p>
              <a:p>
                <a:endParaRPr lang="en-US" sz="2000" dirty="0"/>
              </a:p>
              <a:p>
                <a:r>
                  <a:rPr lang="en-US" sz="2000" dirty="0"/>
                  <a:t>Machine decisions are scalable</a:t>
                </a:r>
              </a:p>
              <a:p>
                <a:pPr lvl="1"/>
                <a:r>
                  <a:rPr lang="en-US" sz="2000" dirty="0"/>
                  <a:t>Marginal cost of machine decision ~$0</a:t>
                </a:r>
              </a:p>
              <a:p>
                <a:pPr lvl="1"/>
                <a:r>
                  <a:rPr lang="en-US" sz="2000" dirty="0"/>
                  <a:t>Marginal cost of human radiologist assessment &gt;$10</a:t>
                </a:r>
              </a:p>
              <a:p>
                <a:endParaRPr lang="en-US" sz="2000" dirty="0"/>
              </a:p>
              <a:p>
                <a:r>
                  <a:rPr lang="en-US" sz="2000" dirty="0"/>
                  <a:t>Lots of promising opportunities to scale expertise using ML</a:t>
                </a:r>
              </a:p>
            </p:txBody>
          </p:sp>
        </mc:Choice>
        <mc:Fallback xmlns="">
          <p:sp>
            <p:nvSpPr>
              <p:cNvPr id="10" name="Text Placeholder 9">
                <a:extLst>
                  <a:ext uri="{FF2B5EF4-FFF2-40B4-BE49-F238E27FC236}">
                    <a16:creationId xmlns:a16="http://schemas.microsoft.com/office/drawing/2014/main" id="{184498A4-7B42-8D03-281C-C22DCDB0EBC8}"/>
                  </a:ext>
                </a:extLst>
              </p:cNvPr>
              <p:cNvSpPr>
                <a:spLocks noGrp="1" noRot="1" noChangeAspect="1" noMove="1" noResize="1" noEditPoints="1" noAdjustHandles="1" noChangeArrowheads="1" noChangeShapeType="1" noTextEdit="1"/>
              </p:cNvSpPr>
              <p:nvPr>
                <p:ph type="body" sz="quarter" idx="14"/>
              </p:nvPr>
            </p:nvSpPr>
            <p:spPr>
              <a:xfrm>
                <a:off x="1957778" y="1447991"/>
                <a:ext cx="8850430" cy="3617786"/>
              </a:xfrm>
              <a:blipFill>
                <a:blip r:embed="rId3"/>
                <a:stretch>
                  <a:fillRect l="-1576" t="-2105"/>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86A57E14-14BD-E79F-1993-B5808BDA41EA}"/>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C12951C1-5B9C-D271-A57A-C5CBA5C95646}"/>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163748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A2F93-BB90-B689-3A8F-711F27ACB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1FAFA-39BA-6D98-4D8A-707252F6066E}"/>
              </a:ext>
            </a:extLst>
          </p:cNvPr>
          <p:cNvSpPr>
            <a:spLocks noGrp="1"/>
          </p:cNvSpPr>
          <p:nvPr>
            <p:ph type="ctrTitle"/>
          </p:nvPr>
        </p:nvSpPr>
        <p:spPr>
          <a:xfrm>
            <a:off x="2647199" y="1501742"/>
            <a:ext cx="7300940" cy="1329595"/>
          </a:xfrm>
        </p:spPr>
        <p:txBody>
          <a:bodyPr/>
          <a:lstStyle/>
          <a:p>
            <a:r>
              <a:rPr lang="en-US" dirty="0"/>
              <a:t>Challenges with algorithmic Decisions</a:t>
            </a:r>
          </a:p>
        </p:txBody>
      </p:sp>
      <p:sp>
        <p:nvSpPr>
          <p:cNvPr id="4" name="Date Placeholder 3">
            <a:extLst>
              <a:ext uri="{FF2B5EF4-FFF2-40B4-BE49-F238E27FC236}">
                <a16:creationId xmlns:a16="http://schemas.microsoft.com/office/drawing/2014/main" id="{E3BD1F34-1640-E72B-95C2-1A91C594E41D}"/>
              </a:ext>
            </a:extLst>
          </p:cNvPr>
          <p:cNvSpPr>
            <a:spLocks noGrp="1"/>
          </p:cNvSpPr>
          <p:nvPr>
            <p:ph type="dt" sz="half" idx="10"/>
          </p:nvPr>
        </p:nvSpPr>
        <p:spPr/>
        <p:txBody>
          <a:bodyPr/>
          <a:lstStyle/>
          <a:p>
            <a:fld id="{D47A9A36-4EB0-BF46-AE48-7CDA251B954B}" type="datetime1">
              <a:rPr lang="en-US" smtClean="0"/>
              <a:pPr/>
              <a:t>11/26/2025</a:t>
            </a:fld>
            <a:endParaRPr lang="en-US" dirty="0"/>
          </a:p>
        </p:txBody>
      </p:sp>
      <p:sp>
        <p:nvSpPr>
          <p:cNvPr id="5" name="Slide Number Placeholder 4">
            <a:extLst>
              <a:ext uri="{FF2B5EF4-FFF2-40B4-BE49-F238E27FC236}">
                <a16:creationId xmlns:a16="http://schemas.microsoft.com/office/drawing/2014/main" id="{4886D1D0-805C-B5B6-59DE-CF31252C3824}"/>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1831012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4BD82-20DA-64A9-EEAE-3C31B8297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E8B2C-4B9D-A42B-58AE-C4DF8CE5830D}"/>
              </a:ext>
            </a:extLst>
          </p:cNvPr>
          <p:cNvSpPr>
            <a:spLocks noGrp="1"/>
          </p:cNvSpPr>
          <p:nvPr>
            <p:ph type="ctrTitle"/>
          </p:nvPr>
        </p:nvSpPr>
        <p:spPr/>
        <p:txBody>
          <a:bodyPr/>
          <a:lstStyle/>
          <a:p>
            <a:r>
              <a:rPr lang="en-US" dirty="0"/>
              <a:t>List of Challenges with Algorithmic Decisions</a:t>
            </a:r>
          </a:p>
        </p:txBody>
      </p:sp>
      <p:sp>
        <p:nvSpPr>
          <p:cNvPr id="10" name="Text Placeholder 9">
            <a:extLst>
              <a:ext uri="{FF2B5EF4-FFF2-40B4-BE49-F238E27FC236}">
                <a16:creationId xmlns:a16="http://schemas.microsoft.com/office/drawing/2014/main" id="{8FEDA89C-B6DD-FED5-5C3C-D8E5BA1967E3}"/>
              </a:ext>
            </a:extLst>
          </p:cNvPr>
          <p:cNvSpPr>
            <a:spLocks noGrp="1"/>
          </p:cNvSpPr>
          <p:nvPr>
            <p:ph type="body" sz="quarter" idx="14"/>
          </p:nvPr>
        </p:nvSpPr>
        <p:spPr>
          <a:xfrm>
            <a:off x="1957778" y="1447991"/>
            <a:ext cx="8850430" cy="3617786"/>
          </a:xfrm>
        </p:spPr>
        <p:txBody>
          <a:bodyPr>
            <a:normAutofit/>
          </a:bodyPr>
          <a:lstStyle/>
          <a:p>
            <a:r>
              <a:rPr lang="en-US" sz="2000" dirty="0"/>
              <a:t>Fairness and algorithmic bias</a:t>
            </a:r>
          </a:p>
          <a:p>
            <a:pPr lvl="1"/>
            <a:r>
              <a:rPr lang="en-US" sz="2000" dirty="0"/>
              <a:t>We’ll talk about this in more detail</a:t>
            </a:r>
          </a:p>
          <a:p>
            <a:pPr marL="0" indent="0">
              <a:buNone/>
            </a:pPr>
            <a:endParaRPr lang="en-US" sz="2000" dirty="0"/>
          </a:p>
          <a:p>
            <a:r>
              <a:rPr lang="en-US" sz="2000" dirty="0"/>
              <a:t>Consumers more forgiving of humans than algorithms</a:t>
            </a:r>
          </a:p>
          <a:p>
            <a:pPr lvl="1"/>
            <a:endParaRPr lang="en-US" sz="2000" dirty="0"/>
          </a:p>
          <a:p>
            <a:r>
              <a:rPr lang="en-US" sz="2000" dirty="0"/>
              <a:t>Ignores human’s private information</a:t>
            </a:r>
          </a:p>
          <a:p>
            <a:endParaRPr lang="en-US" sz="2000" dirty="0"/>
          </a:p>
          <a:p>
            <a:r>
              <a:rPr lang="en-US" sz="2000" dirty="0"/>
              <a:t>Humans prefer explanations in some settings</a:t>
            </a:r>
          </a:p>
        </p:txBody>
      </p:sp>
      <p:sp>
        <p:nvSpPr>
          <p:cNvPr id="5" name="Date Placeholder 4">
            <a:extLst>
              <a:ext uri="{FF2B5EF4-FFF2-40B4-BE49-F238E27FC236}">
                <a16:creationId xmlns:a16="http://schemas.microsoft.com/office/drawing/2014/main" id="{A90496DF-E4F1-46DA-B5B5-FC055D0A27BC}"/>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D316982B-AF15-0062-E32E-46CCBCACE37C}"/>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1231599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99EEE-7528-F3B7-613B-EA3F82BD7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EF419-C5B3-A7B8-BE63-4C1C53729D58}"/>
              </a:ext>
            </a:extLst>
          </p:cNvPr>
          <p:cNvSpPr>
            <a:spLocks noGrp="1"/>
          </p:cNvSpPr>
          <p:nvPr>
            <p:ph type="ctrTitle"/>
          </p:nvPr>
        </p:nvSpPr>
        <p:spPr/>
        <p:txBody>
          <a:bodyPr/>
          <a:lstStyle/>
          <a:p>
            <a:r>
              <a:rPr lang="en-US" dirty="0"/>
              <a:t>Concerns Over Algorithmic Bias</a:t>
            </a:r>
          </a:p>
        </p:txBody>
      </p:sp>
      <p:sp>
        <p:nvSpPr>
          <p:cNvPr id="10" name="Text Placeholder 9">
            <a:extLst>
              <a:ext uri="{FF2B5EF4-FFF2-40B4-BE49-F238E27FC236}">
                <a16:creationId xmlns:a16="http://schemas.microsoft.com/office/drawing/2014/main" id="{B0BAC374-01A3-37F9-EDAF-589127293779}"/>
              </a:ext>
            </a:extLst>
          </p:cNvPr>
          <p:cNvSpPr>
            <a:spLocks noGrp="1"/>
          </p:cNvSpPr>
          <p:nvPr>
            <p:ph type="body" sz="quarter" idx="14"/>
          </p:nvPr>
        </p:nvSpPr>
        <p:spPr>
          <a:xfrm>
            <a:off x="1957778" y="1447991"/>
            <a:ext cx="8923582" cy="3617786"/>
          </a:xfrm>
        </p:spPr>
        <p:txBody>
          <a:bodyPr>
            <a:normAutofit/>
          </a:bodyPr>
          <a:lstStyle/>
          <a:p>
            <a:r>
              <a:rPr lang="en-US" sz="2000" dirty="0"/>
              <a:t>Many well documented situations where algorithms perform differently for different populations</a:t>
            </a:r>
          </a:p>
          <a:p>
            <a:endParaRPr lang="en-US" sz="2000" dirty="0"/>
          </a:p>
          <a:p>
            <a:r>
              <a:rPr lang="en-US" sz="2000" dirty="0"/>
              <a:t>This raises concerns that algorithmic decision-making reinforcing existing biases</a:t>
            </a:r>
          </a:p>
          <a:p>
            <a:endParaRPr lang="en-US" sz="2000" dirty="0"/>
          </a:p>
          <a:p>
            <a:r>
              <a:rPr lang="en-US" sz="2000" dirty="0"/>
              <a:t>These concerns are important</a:t>
            </a:r>
          </a:p>
          <a:p>
            <a:endParaRPr lang="en-US" sz="2000" dirty="0"/>
          </a:p>
          <a:p>
            <a:r>
              <a:rPr lang="en-US" sz="2000" dirty="0"/>
              <a:t>However, one benefit of algorithms is we can inspect and improve the process</a:t>
            </a:r>
          </a:p>
        </p:txBody>
      </p:sp>
      <p:sp>
        <p:nvSpPr>
          <p:cNvPr id="9" name="TextBox 8">
            <a:extLst>
              <a:ext uri="{FF2B5EF4-FFF2-40B4-BE49-F238E27FC236}">
                <a16:creationId xmlns:a16="http://schemas.microsoft.com/office/drawing/2014/main" id="{44AF7553-6DD1-5A9C-CCAD-1340FD751E6A}"/>
              </a:ext>
            </a:extLst>
          </p:cNvPr>
          <p:cNvSpPr txBox="1"/>
          <p:nvPr/>
        </p:nvSpPr>
        <p:spPr>
          <a:xfrm>
            <a:off x="7776599" y="5254062"/>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CBBD159A-DD27-34AD-4741-F6D325E69AD1}"/>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C067E942-BF61-36BF-13AD-4C5316420B11}"/>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Tree>
    <p:extLst>
      <p:ext uri="{BB962C8B-B14F-4D97-AF65-F5344CB8AC3E}">
        <p14:creationId xmlns:p14="http://schemas.microsoft.com/office/powerpoint/2010/main" val="74756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B0D7A-18CC-D685-3BFC-3191AB315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6DB9E-810F-0649-28C8-F277484D5FFC}"/>
              </a:ext>
            </a:extLst>
          </p:cNvPr>
          <p:cNvSpPr>
            <a:spLocks noGrp="1"/>
          </p:cNvSpPr>
          <p:nvPr>
            <p:ph type="ctrTitle"/>
          </p:nvPr>
        </p:nvSpPr>
        <p:spPr/>
        <p:txBody>
          <a:bodyPr/>
          <a:lstStyle/>
          <a:p>
            <a:r>
              <a:rPr lang="en-US" dirty="0"/>
              <a:t>Algorithms Can be Designed to Satisfy Fairness Criteria</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00718E3D-CD49-F782-858F-AE0500EFD548}"/>
                  </a:ext>
                </a:extLst>
              </p:cNvPr>
              <p:cNvSpPr>
                <a:spLocks noGrp="1"/>
              </p:cNvSpPr>
              <p:nvPr>
                <p:ph type="body" sz="quarter" idx="14"/>
              </p:nvPr>
            </p:nvSpPr>
            <p:spPr>
              <a:xfrm>
                <a:off x="1957778" y="1447991"/>
                <a:ext cx="8850430" cy="3617786"/>
              </a:xfrm>
            </p:spPr>
            <p:txBody>
              <a:bodyPr>
                <a:normAutofit/>
              </a:bodyPr>
              <a:lstStyle/>
              <a:p>
                <a:r>
                  <a:rPr lang="en-US" sz="2000" dirty="0"/>
                  <a:t>Idea: Train algorithm to predict </a:t>
                </a:r>
                <a14:m>
                  <m:oMath xmlns:m="http://schemas.openxmlformats.org/officeDocument/2006/math">
                    <m:r>
                      <a:rPr lang="en-US" sz="2000" b="0" i="1" smtClean="0">
                        <a:latin typeface="Cambria Math" panose="02040503050406030204" pitchFamily="18" charset="0"/>
                      </a:rPr>
                      <m:t>𝑌</m:t>
                    </m:r>
                  </m:oMath>
                </a14:m>
                <a:r>
                  <a:rPr lang="en-US" sz="2000" dirty="0"/>
                  <a:t> subject to some “fairness constraint”</a:t>
                </a:r>
              </a:p>
              <a:p>
                <a:pPr lvl="1"/>
                <a:r>
                  <a:rPr lang="en-US" sz="2000" dirty="0"/>
                  <a:t>Hard to do for human decision makers</a:t>
                </a:r>
              </a:p>
              <a:p>
                <a:endParaRPr lang="en-US" sz="2000" dirty="0"/>
              </a:p>
              <a:p>
                <a:r>
                  <a:rPr lang="en-US" sz="2000" dirty="0"/>
                  <a:t>Back to pre-trial release</a:t>
                </a:r>
              </a:p>
              <a:p>
                <a:pPr lvl="1"/>
                <a:r>
                  <a:rPr lang="en-US" sz="2000" dirty="0"/>
                  <a:t>Judges tend to detain Black &amp; Hispanic defendants at high rate</a:t>
                </a:r>
              </a:p>
              <a:p>
                <a:pPr lvl="1"/>
                <a:r>
                  <a:rPr lang="en-US" sz="2000" dirty="0"/>
                  <a:t>Do algorithms exacerbate this disparity?</a:t>
                </a:r>
              </a:p>
              <a:p>
                <a:endParaRPr lang="en-US" sz="2000" dirty="0"/>
              </a:p>
            </p:txBody>
          </p:sp>
        </mc:Choice>
        <mc:Fallback xmlns="">
          <p:sp>
            <p:nvSpPr>
              <p:cNvPr id="10" name="Text Placeholder 9">
                <a:extLst>
                  <a:ext uri="{FF2B5EF4-FFF2-40B4-BE49-F238E27FC236}">
                    <a16:creationId xmlns:a16="http://schemas.microsoft.com/office/drawing/2014/main" id="{00718E3D-CD49-F782-858F-AE0500EFD548}"/>
                  </a:ext>
                </a:extLst>
              </p:cNvPr>
              <p:cNvSpPr>
                <a:spLocks noGrp="1" noRot="1" noChangeAspect="1" noMove="1" noResize="1" noEditPoints="1" noAdjustHandles="1" noChangeArrowheads="1" noChangeShapeType="1" noTextEdit="1"/>
              </p:cNvSpPr>
              <p:nvPr>
                <p:ph type="body" sz="quarter" idx="14"/>
              </p:nvPr>
            </p:nvSpPr>
            <p:spPr>
              <a:xfrm>
                <a:off x="1957778" y="1447991"/>
                <a:ext cx="8850430" cy="3617786"/>
              </a:xfrm>
              <a:blipFill>
                <a:blip r:embed="rId3"/>
                <a:stretch>
                  <a:fillRect l="-1576" t="-2105"/>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8F7BBBF7-BB43-AD16-1882-4492A49A342C}"/>
              </a:ext>
            </a:extLst>
          </p:cNvPr>
          <p:cNvGraphicFramePr>
            <a:graphicFrameLocks noGrp="1"/>
          </p:cNvGraphicFramePr>
          <p:nvPr>
            <p:extLst>
              <p:ext uri="{D42A27DB-BD31-4B8C-83A1-F6EECF244321}">
                <p14:modId xmlns:p14="http://schemas.microsoft.com/office/powerpoint/2010/main" val="1139602235"/>
              </p:ext>
            </p:extLst>
          </p:nvPr>
        </p:nvGraphicFramePr>
        <p:xfrm>
          <a:off x="2318992" y="3691531"/>
          <a:ext cx="8128002" cy="1645920"/>
        </p:xfrm>
        <a:graphic>
          <a:graphicData uri="http://schemas.openxmlformats.org/drawingml/2006/table">
            <a:tbl>
              <a:tblPr firstRow="1" bandRow="1">
                <a:tableStyleId>{00A15C55-8517-42AA-B614-E9B94910E393}</a:tableStyleId>
              </a:tblPr>
              <a:tblGrid>
                <a:gridCol w="1354667">
                  <a:extLst>
                    <a:ext uri="{9D8B030D-6E8A-4147-A177-3AD203B41FA5}">
                      <a16:colId xmlns:a16="http://schemas.microsoft.com/office/drawing/2014/main" val="988386335"/>
                    </a:ext>
                  </a:extLst>
                </a:gridCol>
                <a:gridCol w="1354667">
                  <a:extLst>
                    <a:ext uri="{9D8B030D-6E8A-4147-A177-3AD203B41FA5}">
                      <a16:colId xmlns:a16="http://schemas.microsoft.com/office/drawing/2014/main" val="1332082014"/>
                    </a:ext>
                  </a:extLst>
                </a:gridCol>
                <a:gridCol w="1354667">
                  <a:extLst>
                    <a:ext uri="{9D8B030D-6E8A-4147-A177-3AD203B41FA5}">
                      <a16:colId xmlns:a16="http://schemas.microsoft.com/office/drawing/2014/main" val="1676092817"/>
                    </a:ext>
                  </a:extLst>
                </a:gridCol>
                <a:gridCol w="1354667">
                  <a:extLst>
                    <a:ext uri="{9D8B030D-6E8A-4147-A177-3AD203B41FA5}">
                      <a16:colId xmlns:a16="http://schemas.microsoft.com/office/drawing/2014/main" val="2360816984"/>
                    </a:ext>
                  </a:extLst>
                </a:gridCol>
                <a:gridCol w="1354667">
                  <a:extLst>
                    <a:ext uri="{9D8B030D-6E8A-4147-A177-3AD203B41FA5}">
                      <a16:colId xmlns:a16="http://schemas.microsoft.com/office/drawing/2014/main" val="2462584207"/>
                    </a:ext>
                  </a:extLst>
                </a:gridCol>
                <a:gridCol w="1354667">
                  <a:extLst>
                    <a:ext uri="{9D8B030D-6E8A-4147-A177-3AD203B41FA5}">
                      <a16:colId xmlns:a16="http://schemas.microsoft.com/office/drawing/2014/main" val="1698290064"/>
                    </a:ext>
                  </a:extLst>
                </a:gridCol>
              </a:tblGrid>
              <a:tr h="401131">
                <a:tc gridSpan="6">
                  <a:txBody>
                    <a:bodyPr/>
                    <a:lstStyle/>
                    <a:p>
                      <a:pPr algn="ctr"/>
                      <a:r>
                        <a:rPr lang="en-US" sz="1400" b="1" dirty="0">
                          <a:latin typeface="Times New Roman" panose="02020603050405020304" pitchFamily="18" charset="0"/>
                          <a:cs typeface="Times New Roman" panose="02020603050405020304" pitchFamily="18" charset="0"/>
                        </a:rPr>
                        <a:t>Table 7: Omitted Payoff Bias-Race</a:t>
                      </a:r>
                    </a:p>
                    <a:p>
                      <a:pPr algn="ctr"/>
                      <a:r>
                        <a:rPr lang="en-US" sz="1400" b="1" dirty="0">
                          <a:latin typeface="Times New Roman" panose="02020603050405020304" pitchFamily="18" charset="0"/>
                          <a:cs typeface="Times New Roman" panose="02020603050405020304" pitchFamily="18" charset="0"/>
                        </a:rPr>
                        <a:t>Disparate Impact of a Complete Re-ranking by Predicted Risk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790908247"/>
                  </a:ext>
                </a:extLst>
              </a:tr>
              <a:tr h="240679">
                <a:tc>
                  <a:txBody>
                    <a:bodyPr/>
                    <a:lstStyle/>
                    <a:p>
                      <a:endParaRPr lang="en-US" sz="14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n-US" sz="1400" dirty="0">
                          <a:latin typeface="Times New Roman" panose="02020603050405020304" pitchFamily="18" charset="0"/>
                          <a:cs typeface="Times New Roman" panose="02020603050405020304" pitchFamily="18" charset="0"/>
                        </a:rPr>
                        <a:t>Crime Rate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US" sz="1400" dirty="0">
                          <a:latin typeface="Times New Roman" panose="02020603050405020304" pitchFamily="18" charset="0"/>
                          <a:cs typeface="Times New Roman" panose="02020603050405020304" pitchFamily="18" charset="0"/>
                        </a:rPr>
                        <a:t>Drop Relative </a:t>
                      </a:r>
                    </a:p>
                    <a:p>
                      <a:pPr algn="ctr"/>
                      <a:r>
                        <a:rPr lang="en-US" sz="1400" dirty="0">
                          <a:latin typeface="Times New Roman" panose="02020603050405020304" pitchFamily="18" charset="0"/>
                          <a:cs typeface="Times New Roman" panose="02020603050405020304" pitchFamily="18" charset="0"/>
                        </a:rPr>
                        <a:t>to Judge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400" dirty="0">
                          <a:latin typeface="Times New Roman" panose="02020603050405020304" pitchFamily="18" charset="0"/>
                          <a:cs typeface="Times New Roman" panose="02020603050405020304" pitchFamily="18" charset="0"/>
                        </a:rPr>
                        <a:t>Detention Rate</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a:p>
                  </a:txBody>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2149317"/>
                  </a:ext>
                </a:extLst>
              </a:tr>
              <a:tr h="166415">
                <a:tc>
                  <a:txBody>
                    <a:bodyPr/>
                    <a:lstStyle/>
                    <a:p>
                      <a:r>
                        <a:rPr lang="en-US" sz="1400" dirty="0">
                          <a:latin typeface="Times New Roman" panose="02020603050405020304" pitchFamily="18" charset="0"/>
                          <a:cs typeface="Times New Roman" panose="02020603050405020304" pitchFamily="18" charset="0"/>
                        </a:rPr>
                        <a:t>Release Rule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sz="1200" dirty="0">
                        <a:latin typeface="Times New Roman" panose="02020603050405020304" pitchFamily="18" charset="0"/>
                        <a:cs typeface="Times New Roman" panose="02020603050405020304" pitchFamily="18" charset="0"/>
                      </a:endParaRPr>
                    </a:p>
                  </a:txBody>
                  <a:tcPr/>
                </a:tc>
                <a:tc vMerge="1">
                  <a:txBody>
                    <a:bodyPr/>
                    <a:lstStyle/>
                    <a:p>
                      <a:pPr algn="ctr"/>
                      <a:endParaRPr 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400" dirty="0">
                          <a:latin typeface="Times New Roman" panose="02020603050405020304" pitchFamily="18" charset="0"/>
                          <a:cs typeface="Times New Roman" panose="02020603050405020304" pitchFamily="18" charset="0"/>
                        </a:rPr>
                        <a:t>Black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Hispanic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Minority</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8253315"/>
                  </a:ext>
                </a:extLst>
              </a:tr>
              <a:tr h="401131">
                <a:tc>
                  <a:txBody>
                    <a:bodyPr/>
                    <a:lstStyle/>
                    <a:p>
                      <a:r>
                        <a:rPr lang="en-US" sz="1400" dirty="0">
                          <a:latin typeface="Times New Roman" panose="02020603050405020304" pitchFamily="18" charset="0"/>
                          <a:cs typeface="Times New Roman" panose="02020603050405020304" pitchFamily="18" charset="0"/>
                        </a:rPr>
                        <a:t>Judge</a:t>
                      </a:r>
                    </a:p>
                    <a:p>
                      <a:endParaRPr lang="en-US" sz="14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.1134</a:t>
                      </a:r>
                    </a:p>
                    <a:p>
                      <a:pPr algn="ctr"/>
                      <a:r>
                        <a:rPr lang="en-US" sz="1400" dirty="0">
                          <a:latin typeface="Times New Roman" panose="02020603050405020304" pitchFamily="18" charset="0"/>
                          <a:cs typeface="Times New Roman" panose="02020603050405020304" pitchFamily="18" charset="0"/>
                        </a:rPr>
                        <a:t>(.0010)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0%</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.3101</a:t>
                      </a:r>
                    </a:p>
                    <a:p>
                      <a:pPr algn="ctr"/>
                      <a:r>
                        <a:rPr lang="en-US" sz="14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.2515</a:t>
                      </a:r>
                    </a:p>
                    <a:p>
                      <a:pPr algn="ctr"/>
                      <a:r>
                        <a:rPr lang="en-US" sz="1400" dirty="0">
                          <a:latin typeface="Times New Roman" panose="02020603050405020304" pitchFamily="18" charset="0"/>
                          <a:cs typeface="Times New Roman" panose="02020603050405020304" pitchFamily="18" charset="0"/>
                        </a:rPr>
                        <a:t>(.0021)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.2863</a:t>
                      </a:r>
                    </a:p>
                    <a:p>
                      <a:pPr algn="ctr"/>
                      <a:r>
                        <a:rPr lang="en-US" sz="14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0329696"/>
                  </a:ext>
                </a:extLst>
              </a:tr>
            </a:tbl>
          </a:graphicData>
        </a:graphic>
      </p:graphicFrame>
      <p:sp>
        <p:nvSpPr>
          <p:cNvPr id="18" name="TextBox 17">
            <a:extLst>
              <a:ext uri="{FF2B5EF4-FFF2-40B4-BE49-F238E27FC236}">
                <a16:creationId xmlns:a16="http://schemas.microsoft.com/office/drawing/2014/main" id="{7ACD2DB8-0D76-C196-2460-8528832CBF48}"/>
              </a:ext>
            </a:extLst>
          </p:cNvPr>
          <p:cNvSpPr txBox="1"/>
          <p:nvPr/>
        </p:nvSpPr>
        <p:spPr>
          <a:xfrm>
            <a:off x="8139551" y="5428495"/>
            <a:ext cx="2787430" cy="338554"/>
          </a:xfrm>
          <a:prstGeom prst="rect">
            <a:avLst/>
          </a:prstGeom>
          <a:noFill/>
        </p:spPr>
        <p:txBody>
          <a:bodyPr wrap="none" rtlCol="0">
            <a:spAutoFit/>
          </a:bodyPr>
          <a:lstStyle/>
          <a:p>
            <a:r>
              <a:rPr lang="en-US" sz="1600" dirty="0"/>
              <a:t>Source: Kleinberg et al (2018)</a:t>
            </a:r>
          </a:p>
        </p:txBody>
      </p:sp>
      <p:sp>
        <p:nvSpPr>
          <p:cNvPr id="5" name="Date Placeholder 4">
            <a:extLst>
              <a:ext uri="{FF2B5EF4-FFF2-40B4-BE49-F238E27FC236}">
                <a16:creationId xmlns:a16="http://schemas.microsoft.com/office/drawing/2014/main" id="{DE12F6F6-66FE-98D4-DF01-C98483118040}"/>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441B6F18-F612-9A69-3685-263C03726C32}"/>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Tree>
    <p:extLst>
      <p:ext uri="{BB962C8B-B14F-4D97-AF65-F5344CB8AC3E}">
        <p14:creationId xmlns:p14="http://schemas.microsoft.com/office/powerpoint/2010/main" val="13074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E1A4-65BE-42F2-3E20-B194C7D65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05E6D-D5D7-CF02-BD44-C6560CBF8B2B}"/>
              </a:ext>
            </a:extLst>
          </p:cNvPr>
          <p:cNvSpPr>
            <a:spLocks noGrp="1"/>
          </p:cNvSpPr>
          <p:nvPr>
            <p:ph type="ctrTitle"/>
          </p:nvPr>
        </p:nvSpPr>
        <p:spPr/>
        <p:txBody>
          <a:bodyPr/>
          <a:lstStyle/>
          <a:p>
            <a:r>
              <a:rPr lang="en-US" dirty="0"/>
              <a:t>Recall Two Alternatives Considered</a:t>
            </a:r>
          </a:p>
        </p:txBody>
      </p:sp>
      <p:sp>
        <p:nvSpPr>
          <p:cNvPr id="10" name="Text Placeholder 9">
            <a:extLst>
              <a:ext uri="{FF2B5EF4-FFF2-40B4-BE49-F238E27FC236}">
                <a16:creationId xmlns:a16="http://schemas.microsoft.com/office/drawing/2014/main" id="{1B9E02FE-C9A0-FFE2-34A3-3BD6D57AE608}"/>
              </a:ext>
            </a:extLst>
          </p:cNvPr>
          <p:cNvSpPr>
            <a:spLocks noGrp="1"/>
          </p:cNvSpPr>
          <p:nvPr>
            <p:ph type="body" sz="quarter" idx="14"/>
          </p:nvPr>
        </p:nvSpPr>
        <p:spPr>
          <a:xfrm>
            <a:off x="1957778" y="1447991"/>
            <a:ext cx="4333293" cy="3617786"/>
          </a:xfrm>
        </p:spPr>
        <p:txBody>
          <a:bodyPr>
            <a:normAutofit/>
          </a:bodyPr>
          <a:lstStyle/>
          <a:p>
            <a:r>
              <a:rPr lang="en-US" sz="2000" dirty="0"/>
              <a:t>Keep jail population fixed</a:t>
            </a:r>
          </a:p>
          <a:p>
            <a:pPr lvl="1"/>
            <a:r>
              <a:rPr lang="en-US" sz="2000" dirty="0"/>
              <a:t>Reduce crime rate by 24%</a:t>
            </a:r>
          </a:p>
          <a:p>
            <a:endParaRPr lang="en-US" sz="2000" dirty="0"/>
          </a:p>
          <a:p>
            <a:r>
              <a:rPr lang="en-US" sz="2000" dirty="0"/>
              <a:t>Keep crime rate fixed, reduce jail population by 40%</a:t>
            </a:r>
          </a:p>
          <a:p>
            <a:endParaRPr lang="en-US" sz="2000" dirty="0"/>
          </a:p>
        </p:txBody>
      </p:sp>
      <p:pic>
        <p:nvPicPr>
          <p:cNvPr id="7" name="Picture 6" descr="Graph plotting crime rate against release rate with an upward-curving line.">
            <a:extLst>
              <a:ext uri="{FF2B5EF4-FFF2-40B4-BE49-F238E27FC236}">
                <a16:creationId xmlns:a16="http://schemas.microsoft.com/office/drawing/2014/main" id="{DFC1CD1E-E4B7-50AC-DFEC-BF872866CC45}"/>
              </a:ext>
            </a:extLst>
          </p:cNvPr>
          <p:cNvPicPr>
            <a:picLocks noChangeAspect="1"/>
          </p:cNvPicPr>
          <p:nvPr/>
        </p:nvPicPr>
        <p:blipFill>
          <a:blip r:embed="rId3"/>
          <a:stretch>
            <a:fillRect/>
          </a:stretch>
        </p:blipFill>
        <p:spPr>
          <a:xfrm>
            <a:off x="6096000" y="1159001"/>
            <a:ext cx="5558028" cy="4195766"/>
          </a:xfrm>
          <a:prstGeom prst="rect">
            <a:avLst/>
          </a:prstGeom>
        </p:spPr>
      </p:pic>
      <p:sp>
        <p:nvSpPr>
          <p:cNvPr id="9" name="TextBox 8">
            <a:extLst>
              <a:ext uri="{FF2B5EF4-FFF2-40B4-BE49-F238E27FC236}">
                <a16:creationId xmlns:a16="http://schemas.microsoft.com/office/drawing/2014/main" id="{E7BDA2E9-B1CD-901E-5F71-8CD77A45B1F1}"/>
              </a:ext>
            </a:extLst>
          </p:cNvPr>
          <p:cNvSpPr txBox="1"/>
          <p:nvPr/>
        </p:nvSpPr>
        <p:spPr>
          <a:xfrm>
            <a:off x="7884812" y="537500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2EE898A4-2BF6-9994-5A7D-530DD7E5EA56}"/>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AB8F1578-2846-3CB0-409E-631F55F77DC0}"/>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Tree>
    <p:extLst>
      <p:ext uri="{BB962C8B-B14F-4D97-AF65-F5344CB8AC3E}">
        <p14:creationId xmlns:p14="http://schemas.microsoft.com/office/powerpoint/2010/main" val="303197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4E977-E46C-1718-5ED0-C0BC5ECD0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05B50-62E1-3F3C-5075-B4C2B57AADE3}"/>
              </a:ext>
            </a:extLst>
          </p:cNvPr>
          <p:cNvSpPr>
            <a:spLocks noGrp="1"/>
          </p:cNvSpPr>
          <p:nvPr>
            <p:ph type="ctrTitle"/>
          </p:nvPr>
        </p:nvSpPr>
        <p:spPr>
          <a:xfrm>
            <a:off x="2107520" y="437030"/>
            <a:ext cx="8958798" cy="332399"/>
          </a:xfrm>
        </p:spPr>
        <p:txBody>
          <a:bodyPr/>
          <a:lstStyle/>
          <a:p>
            <a:r>
              <a:rPr lang="en-US" dirty="0"/>
              <a:t>Algorithms Can be Designed to Satisfy Fairness Criteria, Part 2</a:t>
            </a:r>
          </a:p>
        </p:txBody>
      </p:sp>
      <p:sp>
        <p:nvSpPr>
          <p:cNvPr id="10" name="Text Placeholder 9">
            <a:extLst>
              <a:ext uri="{FF2B5EF4-FFF2-40B4-BE49-F238E27FC236}">
                <a16:creationId xmlns:a16="http://schemas.microsoft.com/office/drawing/2014/main" id="{AEE470DD-9F65-ED9E-717A-00B419A18FD6}"/>
              </a:ext>
            </a:extLst>
          </p:cNvPr>
          <p:cNvSpPr>
            <a:spLocks noGrp="1"/>
          </p:cNvSpPr>
          <p:nvPr>
            <p:ph type="body" sz="quarter" idx="14"/>
          </p:nvPr>
        </p:nvSpPr>
        <p:spPr>
          <a:xfrm>
            <a:off x="1518168" y="1447991"/>
            <a:ext cx="3821864" cy="3617786"/>
          </a:xfrm>
        </p:spPr>
        <p:txBody>
          <a:bodyPr>
            <a:normAutofit/>
          </a:bodyPr>
          <a:lstStyle/>
          <a:p>
            <a:r>
              <a:rPr lang="en-US" sz="2000" dirty="0"/>
              <a:t>Reducing jailing rates has </a:t>
            </a:r>
            <a:r>
              <a:rPr lang="en-US" sz="2000" b="1" dirty="0"/>
              <a:t>biggest impact</a:t>
            </a:r>
            <a:r>
              <a:rPr lang="en-US" sz="2000" dirty="0"/>
              <a:t> on those who tend to be jailed by judges</a:t>
            </a:r>
          </a:p>
          <a:p>
            <a:endParaRPr lang="en-US" sz="2000" dirty="0"/>
          </a:p>
        </p:txBody>
      </p:sp>
      <p:graphicFrame>
        <p:nvGraphicFramePr>
          <p:cNvPr id="14" name="Table 13">
            <a:extLst>
              <a:ext uri="{FF2B5EF4-FFF2-40B4-BE49-F238E27FC236}">
                <a16:creationId xmlns:a16="http://schemas.microsoft.com/office/drawing/2014/main" id="{3868926B-6D2D-FC9D-EEA4-B108FB8488A6}"/>
              </a:ext>
            </a:extLst>
          </p:cNvPr>
          <p:cNvGraphicFramePr>
            <a:graphicFrameLocks noGrp="1"/>
          </p:cNvGraphicFramePr>
          <p:nvPr>
            <p:extLst>
              <p:ext uri="{D42A27DB-BD31-4B8C-83A1-F6EECF244321}">
                <p14:modId xmlns:p14="http://schemas.microsoft.com/office/powerpoint/2010/main" val="3043179915"/>
              </p:ext>
            </p:extLst>
          </p:nvPr>
        </p:nvGraphicFramePr>
        <p:xfrm>
          <a:off x="5039593" y="1446606"/>
          <a:ext cx="6856530" cy="1798320"/>
        </p:xfrm>
        <a:graphic>
          <a:graphicData uri="http://schemas.openxmlformats.org/drawingml/2006/table">
            <a:tbl>
              <a:tblPr firstRow="1" bandRow="1">
                <a:tableStyleId>{00A15C55-8517-42AA-B614-E9B94910E393}</a:tableStyleId>
              </a:tblPr>
              <a:tblGrid>
                <a:gridCol w="2807785">
                  <a:extLst>
                    <a:ext uri="{9D8B030D-6E8A-4147-A177-3AD203B41FA5}">
                      <a16:colId xmlns:a16="http://schemas.microsoft.com/office/drawing/2014/main" val="988386335"/>
                    </a:ext>
                  </a:extLst>
                </a:gridCol>
                <a:gridCol w="943332">
                  <a:extLst>
                    <a:ext uri="{9D8B030D-6E8A-4147-A177-3AD203B41FA5}">
                      <a16:colId xmlns:a16="http://schemas.microsoft.com/office/drawing/2014/main" val="1332082014"/>
                    </a:ext>
                  </a:extLst>
                </a:gridCol>
                <a:gridCol w="1028700">
                  <a:extLst>
                    <a:ext uri="{9D8B030D-6E8A-4147-A177-3AD203B41FA5}">
                      <a16:colId xmlns:a16="http://schemas.microsoft.com/office/drawing/2014/main" val="1676092817"/>
                    </a:ext>
                  </a:extLst>
                </a:gridCol>
                <a:gridCol w="602673">
                  <a:extLst>
                    <a:ext uri="{9D8B030D-6E8A-4147-A177-3AD203B41FA5}">
                      <a16:colId xmlns:a16="http://schemas.microsoft.com/office/drawing/2014/main" val="2360816984"/>
                    </a:ext>
                  </a:extLst>
                </a:gridCol>
                <a:gridCol w="789709">
                  <a:extLst>
                    <a:ext uri="{9D8B030D-6E8A-4147-A177-3AD203B41FA5}">
                      <a16:colId xmlns:a16="http://schemas.microsoft.com/office/drawing/2014/main" val="2462584207"/>
                    </a:ext>
                  </a:extLst>
                </a:gridCol>
                <a:gridCol w="684331">
                  <a:extLst>
                    <a:ext uri="{9D8B030D-6E8A-4147-A177-3AD203B41FA5}">
                      <a16:colId xmlns:a16="http://schemas.microsoft.com/office/drawing/2014/main" val="1698290064"/>
                    </a:ext>
                  </a:extLst>
                </a:gridCol>
              </a:tblGrid>
              <a:tr h="401131">
                <a:tc gridSpan="6">
                  <a:txBody>
                    <a:bodyPr/>
                    <a:lstStyle/>
                    <a:p>
                      <a:pPr algn="ctr"/>
                      <a:r>
                        <a:rPr lang="en-US" sz="1100" b="1" dirty="0">
                          <a:latin typeface="Times New Roman" panose="02020603050405020304" pitchFamily="18" charset="0"/>
                          <a:cs typeface="Times New Roman" panose="02020603050405020304" pitchFamily="18" charset="0"/>
                        </a:rPr>
                        <a:t>Table 7: Omitted Payoff Bias-Race</a:t>
                      </a:r>
                    </a:p>
                    <a:p>
                      <a:pPr algn="ctr"/>
                      <a:r>
                        <a:rPr lang="en-US" sz="1100" b="1" dirty="0">
                          <a:latin typeface="Times New Roman" panose="02020603050405020304" pitchFamily="18" charset="0"/>
                          <a:cs typeface="Times New Roman" panose="02020603050405020304" pitchFamily="18" charset="0"/>
                        </a:rPr>
                        <a:t>Disparate Impact of a Complete Re-ranking by Predicted Risk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790908247"/>
                  </a:ext>
                </a:extLst>
              </a:tr>
              <a:tr h="240679">
                <a:tc>
                  <a:txBody>
                    <a:bodyPr/>
                    <a:lstStyle/>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n-US" sz="1100" dirty="0">
                          <a:latin typeface="Times New Roman" panose="02020603050405020304" pitchFamily="18" charset="0"/>
                          <a:cs typeface="Times New Roman" panose="02020603050405020304" pitchFamily="18" charset="0"/>
                        </a:rPr>
                        <a:t>Crime Rate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US" sz="1100" dirty="0">
                          <a:latin typeface="Times New Roman" panose="02020603050405020304" pitchFamily="18" charset="0"/>
                          <a:cs typeface="Times New Roman" panose="02020603050405020304" pitchFamily="18" charset="0"/>
                        </a:rPr>
                        <a:t>Drop Relative </a:t>
                      </a:r>
                    </a:p>
                    <a:p>
                      <a:pPr algn="ctr"/>
                      <a:r>
                        <a:rPr lang="en-US" sz="1100" dirty="0">
                          <a:latin typeface="Times New Roman" panose="02020603050405020304" pitchFamily="18" charset="0"/>
                          <a:cs typeface="Times New Roman" panose="02020603050405020304" pitchFamily="18" charset="0"/>
                        </a:rPr>
                        <a:t>to Judge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100" dirty="0">
                          <a:latin typeface="Times New Roman" panose="02020603050405020304" pitchFamily="18" charset="0"/>
                          <a:cs typeface="Times New Roman" panose="02020603050405020304" pitchFamily="18" charset="0"/>
                        </a:rPr>
                        <a:t>Detention Rate</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a:p>
                  </a:txBody>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2149317"/>
                  </a:ext>
                </a:extLst>
              </a:tr>
              <a:tr h="166415">
                <a:tc>
                  <a:txBody>
                    <a:bodyPr/>
                    <a:lstStyle/>
                    <a:p>
                      <a:r>
                        <a:rPr lang="en-US" sz="1100" dirty="0">
                          <a:latin typeface="Times New Roman" panose="02020603050405020304" pitchFamily="18" charset="0"/>
                          <a:cs typeface="Times New Roman" panose="02020603050405020304" pitchFamily="18" charset="0"/>
                        </a:rPr>
                        <a:t>Release Rule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sz="1200" dirty="0">
                        <a:latin typeface="Times New Roman" panose="02020603050405020304" pitchFamily="18" charset="0"/>
                        <a:cs typeface="Times New Roman" panose="02020603050405020304" pitchFamily="18" charset="0"/>
                      </a:endParaRPr>
                    </a:p>
                  </a:txBody>
                  <a:tcPr/>
                </a:tc>
                <a:tc vMerge="1">
                  <a:txBody>
                    <a:bodyPr/>
                    <a:lstStyle/>
                    <a:p>
                      <a:pPr algn="ctr"/>
                      <a:endParaRPr 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100" dirty="0">
                          <a:latin typeface="Times New Roman" panose="02020603050405020304" pitchFamily="18" charset="0"/>
                          <a:cs typeface="Times New Roman" panose="02020603050405020304" pitchFamily="18" charset="0"/>
                        </a:rPr>
                        <a:t>Black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Hispanic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Minority</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8253315"/>
                  </a:ext>
                </a:extLst>
              </a:tr>
              <a:tr h="401131">
                <a:tc>
                  <a:txBody>
                    <a:bodyPr/>
                    <a:lstStyle/>
                    <a:p>
                      <a:r>
                        <a:rPr lang="en-US" sz="1100" dirty="0">
                          <a:latin typeface="Times New Roman" panose="02020603050405020304" pitchFamily="18" charset="0"/>
                          <a:cs typeface="Times New Roman" panose="02020603050405020304" pitchFamily="18" charset="0"/>
                        </a:rPr>
                        <a:t>Judge</a:t>
                      </a:r>
                    </a:p>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.1134</a:t>
                      </a:r>
                    </a:p>
                    <a:p>
                      <a:pPr algn="ctr"/>
                      <a:r>
                        <a:rPr lang="en-US" sz="1100" dirty="0">
                          <a:latin typeface="Times New Roman" panose="02020603050405020304" pitchFamily="18" charset="0"/>
                          <a:cs typeface="Times New Roman" panose="02020603050405020304" pitchFamily="18" charset="0"/>
                        </a:rPr>
                        <a:t>(.0010)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.3101</a:t>
                      </a:r>
                    </a:p>
                    <a:p>
                      <a:pPr algn="ctr"/>
                      <a:r>
                        <a:rPr lang="en-US" sz="11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.2515</a:t>
                      </a:r>
                    </a:p>
                    <a:p>
                      <a:pPr algn="ctr"/>
                      <a:r>
                        <a:rPr lang="en-US" sz="1100" dirty="0">
                          <a:latin typeface="Times New Roman" panose="02020603050405020304" pitchFamily="18" charset="0"/>
                          <a:cs typeface="Times New Roman" panose="02020603050405020304" pitchFamily="18" charset="0"/>
                        </a:rPr>
                        <a:t>(.0021)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.2863</a:t>
                      </a:r>
                    </a:p>
                    <a:p>
                      <a:pPr algn="ctr"/>
                      <a:r>
                        <a:rPr lang="en-US" sz="11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0329696"/>
                  </a:ext>
                </a:extLst>
              </a:tr>
              <a:tr h="401131">
                <a:tc>
                  <a:txBody>
                    <a:bodyPr/>
                    <a:lstStyle/>
                    <a:p>
                      <a:r>
                        <a:rPr lang="en-US" sz="1100" dirty="0">
                          <a:latin typeface="Times New Roman" panose="02020603050405020304" pitchFamily="18" charset="0"/>
                          <a:cs typeface="Times New Roman" panose="02020603050405020304" pitchFamily="18" charset="0"/>
                        </a:rPr>
                        <a:t>Algorithm at Judges’ Crime Rate</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.1134</a:t>
                      </a:r>
                    </a:p>
                    <a:p>
                      <a:pPr algn="ctr"/>
                      <a:r>
                        <a:rPr lang="en-US" sz="1100" dirty="0">
                          <a:latin typeface="Times New Roman" panose="02020603050405020304" pitchFamily="18" charset="0"/>
                          <a:cs typeface="Times New Roman" panose="02020603050405020304" pitchFamily="18" charset="0"/>
                        </a:rPr>
                        <a:t>(.0010)</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.1899</a:t>
                      </a:r>
                    </a:p>
                    <a:p>
                      <a:pPr algn="ctr"/>
                      <a:r>
                        <a:rPr lang="en-US" sz="1100" dirty="0">
                          <a:latin typeface="Times New Roman" panose="02020603050405020304" pitchFamily="18" charset="0"/>
                          <a:cs typeface="Times New Roman" panose="02020603050405020304" pitchFamily="18" charset="0"/>
                        </a:rPr>
                        <a:t>(.0013)</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.1393</a:t>
                      </a:r>
                    </a:p>
                    <a:p>
                      <a:pPr algn="ctr"/>
                      <a:r>
                        <a:rPr lang="en-US" sz="1100" dirty="0">
                          <a:latin typeface="Times New Roman" panose="02020603050405020304" pitchFamily="18" charset="0"/>
                          <a:cs typeface="Times New Roman" panose="02020603050405020304" pitchFamily="18" charset="0"/>
                        </a:rPr>
                        <a:t>(.0017)</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.1694</a:t>
                      </a:r>
                    </a:p>
                    <a:p>
                      <a:pPr algn="ctr"/>
                      <a:r>
                        <a:rPr lang="en-US" sz="1100" dirty="0">
                          <a:latin typeface="Times New Roman" panose="02020603050405020304" pitchFamily="18" charset="0"/>
                          <a:cs typeface="Times New Roman" panose="02020603050405020304" pitchFamily="18" charset="0"/>
                        </a:rPr>
                        <a:t>(.0005)</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14532130"/>
                  </a:ext>
                </a:extLst>
              </a:tr>
            </a:tbl>
          </a:graphicData>
        </a:graphic>
      </p:graphicFrame>
      <p:sp>
        <p:nvSpPr>
          <p:cNvPr id="15" name="Rectangle 14">
            <a:extLst>
              <a:ext uri="{FF2B5EF4-FFF2-40B4-BE49-F238E27FC236}">
                <a16:creationId xmlns:a16="http://schemas.microsoft.com/office/drawing/2014/main" id="{01CADEB6-C486-49E1-79C8-BF901FA5E23C}"/>
              </a:ext>
              <a:ext uri="{C183D7F6-B498-43B3-948B-1728B52AA6E4}">
                <adec:decorative xmlns:adec="http://schemas.microsoft.com/office/drawing/2017/decorative" val="1"/>
              </a:ext>
            </a:extLst>
          </p:cNvPr>
          <p:cNvSpPr/>
          <p:nvPr/>
        </p:nvSpPr>
        <p:spPr>
          <a:xfrm>
            <a:off x="9777846" y="2815936"/>
            <a:ext cx="2118277" cy="4289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110A89F-6D08-2C03-7F9C-B4323E143594}"/>
              </a:ext>
            </a:extLst>
          </p:cNvPr>
          <p:cNvSpPr txBox="1"/>
          <p:nvPr/>
        </p:nvSpPr>
        <p:spPr>
          <a:xfrm>
            <a:off x="7870957" y="5226728"/>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363EDA9D-93E6-F7E4-0BE9-045D19B945D0}"/>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6424F864-19DA-07E3-7E75-B017DC54E5DB}"/>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Tree>
    <p:extLst>
      <p:ext uri="{BB962C8B-B14F-4D97-AF65-F5344CB8AC3E}">
        <p14:creationId xmlns:p14="http://schemas.microsoft.com/office/powerpoint/2010/main" val="8314477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D3685-F395-67B0-5EF4-154ED686A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63740-6710-B46B-AFD1-26C2C896C6AE}"/>
              </a:ext>
            </a:extLst>
          </p:cNvPr>
          <p:cNvSpPr>
            <a:spLocks noGrp="1"/>
          </p:cNvSpPr>
          <p:nvPr>
            <p:ph type="ctrTitle"/>
          </p:nvPr>
        </p:nvSpPr>
        <p:spPr>
          <a:xfrm>
            <a:off x="2107519" y="437030"/>
            <a:ext cx="8476463" cy="332399"/>
          </a:xfrm>
        </p:spPr>
        <p:txBody>
          <a:bodyPr/>
          <a:lstStyle/>
          <a:p>
            <a:r>
              <a:rPr lang="en-US" dirty="0"/>
              <a:t>Algorithms Can be Designed to Satisfy Fairness Criteria, Part 3</a:t>
            </a:r>
          </a:p>
        </p:txBody>
      </p:sp>
      <p:sp>
        <p:nvSpPr>
          <p:cNvPr id="10" name="Text Placeholder 9">
            <a:extLst>
              <a:ext uri="{FF2B5EF4-FFF2-40B4-BE49-F238E27FC236}">
                <a16:creationId xmlns:a16="http://schemas.microsoft.com/office/drawing/2014/main" id="{7106AD5A-88D0-934D-E049-45A198FCED62}"/>
              </a:ext>
            </a:extLst>
          </p:cNvPr>
          <p:cNvSpPr>
            <a:spLocks noGrp="1"/>
          </p:cNvSpPr>
          <p:nvPr>
            <p:ph type="body" sz="quarter" idx="14"/>
          </p:nvPr>
        </p:nvSpPr>
        <p:spPr>
          <a:xfrm>
            <a:off x="1518168" y="1447991"/>
            <a:ext cx="3821864" cy="3617786"/>
          </a:xfrm>
        </p:spPr>
        <p:txBody>
          <a:bodyPr>
            <a:normAutofit/>
          </a:bodyPr>
          <a:lstStyle/>
          <a:p>
            <a:r>
              <a:rPr lang="en-US" sz="2000" dirty="0"/>
              <a:t>Reducing jailing rates has </a:t>
            </a:r>
            <a:r>
              <a:rPr lang="en-US" sz="2000" b="1" dirty="0"/>
              <a:t>biggest impact</a:t>
            </a:r>
            <a:r>
              <a:rPr lang="en-US" sz="2000" dirty="0"/>
              <a:t> on those who tend to be jailed by judges</a:t>
            </a:r>
          </a:p>
          <a:p>
            <a:endParaRPr lang="en-US" sz="2000" dirty="0"/>
          </a:p>
          <a:p>
            <a:r>
              <a:rPr lang="en-US" sz="2000" dirty="0"/>
              <a:t>Holding jailing rates constant, algorithm </a:t>
            </a:r>
            <a:r>
              <a:rPr lang="en-US" sz="2000" b="1" dirty="0"/>
              <a:t>increases</a:t>
            </a:r>
            <a:r>
              <a:rPr lang="en-US" sz="2000" dirty="0"/>
              <a:t> Black detention rate</a:t>
            </a:r>
          </a:p>
          <a:p>
            <a:endParaRPr lang="en-US" sz="2000" dirty="0"/>
          </a:p>
        </p:txBody>
      </p:sp>
      <p:graphicFrame>
        <p:nvGraphicFramePr>
          <p:cNvPr id="12" name="Table 11">
            <a:extLst>
              <a:ext uri="{FF2B5EF4-FFF2-40B4-BE49-F238E27FC236}">
                <a16:creationId xmlns:a16="http://schemas.microsoft.com/office/drawing/2014/main" id="{D1B3148A-18AE-ED52-9F56-C71C81C343AA}"/>
              </a:ext>
            </a:extLst>
          </p:cNvPr>
          <p:cNvGraphicFramePr>
            <a:graphicFrameLocks noGrp="1"/>
          </p:cNvGraphicFramePr>
          <p:nvPr>
            <p:extLst>
              <p:ext uri="{D42A27DB-BD31-4B8C-83A1-F6EECF244321}">
                <p14:modId xmlns:p14="http://schemas.microsoft.com/office/powerpoint/2010/main" val="2682560987"/>
              </p:ext>
            </p:extLst>
          </p:nvPr>
        </p:nvGraphicFramePr>
        <p:xfrm>
          <a:off x="5041674" y="1447991"/>
          <a:ext cx="6856530" cy="2438400"/>
        </p:xfrm>
        <a:graphic>
          <a:graphicData uri="http://schemas.openxmlformats.org/drawingml/2006/table">
            <a:tbl>
              <a:tblPr firstRow="1" bandRow="1">
                <a:tableStyleId>{00A15C55-8517-42AA-B614-E9B94910E393}</a:tableStyleId>
              </a:tblPr>
              <a:tblGrid>
                <a:gridCol w="2807785">
                  <a:extLst>
                    <a:ext uri="{9D8B030D-6E8A-4147-A177-3AD203B41FA5}">
                      <a16:colId xmlns:a16="http://schemas.microsoft.com/office/drawing/2014/main" val="988386335"/>
                    </a:ext>
                  </a:extLst>
                </a:gridCol>
                <a:gridCol w="943332">
                  <a:extLst>
                    <a:ext uri="{9D8B030D-6E8A-4147-A177-3AD203B41FA5}">
                      <a16:colId xmlns:a16="http://schemas.microsoft.com/office/drawing/2014/main" val="1332082014"/>
                    </a:ext>
                  </a:extLst>
                </a:gridCol>
                <a:gridCol w="1028700">
                  <a:extLst>
                    <a:ext uri="{9D8B030D-6E8A-4147-A177-3AD203B41FA5}">
                      <a16:colId xmlns:a16="http://schemas.microsoft.com/office/drawing/2014/main" val="1676092817"/>
                    </a:ext>
                  </a:extLst>
                </a:gridCol>
                <a:gridCol w="602673">
                  <a:extLst>
                    <a:ext uri="{9D8B030D-6E8A-4147-A177-3AD203B41FA5}">
                      <a16:colId xmlns:a16="http://schemas.microsoft.com/office/drawing/2014/main" val="2360816984"/>
                    </a:ext>
                  </a:extLst>
                </a:gridCol>
                <a:gridCol w="789709">
                  <a:extLst>
                    <a:ext uri="{9D8B030D-6E8A-4147-A177-3AD203B41FA5}">
                      <a16:colId xmlns:a16="http://schemas.microsoft.com/office/drawing/2014/main" val="2462584207"/>
                    </a:ext>
                  </a:extLst>
                </a:gridCol>
                <a:gridCol w="684331">
                  <a:extLst>
                    <a:ext uri="{9D8B030D-6E8A-4147-A177-3AD203B41FA5}">
                      <a16:colId xmlns:a16="http://schemas.microsoft.com/office/drawing/2014/main" val="1698290064"/>
                    </a:ext>
                  </a:extLst>
                </a:gridCol>
              </a:tblGrid>
              <a:tr h="401131">
                <a:tc gridSpan="6">
                  <a:txBody>
                    <a:bodyPr/>
                    <a:lstStyle/>
                    <a:p>
                      <a:pPr algn="ctr"/>
                      <a:r>
                        <a:rPr lang="en-US" sz="1100" b="1" dirty="0">
                          <a:latin typeface="Times New Roman" panose="02020603050405020304" pitchFamily="18" charset="0"/>
                          <a:cs typeface="Times New Roman" panose="02020603050405020304" pitchFamily="18" charset="0"/>
                        </a:rPr>
                        <a:t>Table 7: Omitted Payoff Bias-Race</a:t>
                      </a:r>
                    </a:p>
                    <a:p>
                      <a:pPr algn="ctr"/>
                      <a:r>
                        <a:rPr lang="en-US" sz="1100" b="1" dirty="0">
                          <a:latin typeface="Times New Roman" panose="02020603050405020304" pitchFamily="18" charset="0"/>
                          <a:cs typeface="Times New Roman" panose="02020603050405020304" pitchFamily="18" charset="0"/>
                        </a:rPr>
                        <a:t>Disparate Impact of a Complete Re-ranking by Predicted Risk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790908247"/>
                  </a:ext>
                </a:extLst>
              </a:tr>
              <a:tr h="240679">
                <a:tc>
                  <a:txBody>
                    <a:bodyPr/>
                    <a:lstStyle/>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n-US" sz="1100" dirty="0">
                          <a:latin typeface="Times New Roman" panose="02020603050405020304" pitchFamily="18" charset="0"/>
                          <a:cs typeface="Times New Roman" panose="02020603050405020304" pitchFamily="18" charset="0"/>
                        </a:rPr>
                        <a:t>Crime Rate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US" sz="1100" dirty="0">
                          <a:latin typeface="Times New Roman" panose="02020603050405020304" pitchFamily="18" charset="0"/>
                          <a:cs typeface="Times New Roman" panose="02020603050405020304" pitchFamily="18" charset="0"/>
                        </a:rPr>
                        <a:t>Drop Relative </a:t>
                      </a:r>
                    </a:p>
                    <a:p>
                      <a:pPr algn="ctr"/>
                      <a:r>
                        <a:rPr lang="en-US" sz="1100" dirty="0">
                          <a:latin typeface="Times New Roman" panose="02020603050405020304" pitchFamily="18" charset="0"/>
                          <a:cs typeface="Times New Roman" panose="02020603050405020304" pitchFamily="18" charset="0"/>
                        </a:rPr>
                        <a:t>to Judge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100" dirty="0">
                          <a:latin typeface="Times New Roman" panose="02020603050405020304" pitchFamily="18" charset="0"/>
                          <a:cs typeface="Times New Roman" panose="02020603050405020304" pitchFamily="18" charset="0"/>
                        </a:rPr>
                        <a:t>Detention Rate</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a:p>
                  </a:txBody>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2149317"/>
                  </a:ext>
                </a:extLst>
              </a:tr>
              <a:tr h="166415">
                <a:tc>
                  <a:txBody>
                    <a:bodyPr/>
                    <a:lstStyle/>
                    <a:p>
                      <a:r>
                        <a:rPr lang="en-US" sz="1100" dirty="0">
                          <a:latin typeface="Times New Roman" panose="02020603050405020304" pitchFamily="18" charset="0"/>
                          <a:cs typeface="Times New Roman" panose="02020603050405020304" pitchFamily="18" charset="0"/>
                        </a:rPr>
                        <a:t>Release Rule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sz="1200" dirty="0">
                        <a:latin typeface="Times New Roman" panose="02020603050405020304" pitchFamily="18" charset="0"/>
                        <a:cs typeface="Times New Roman" panose="02020603050405020304" pitchFamily="18" charset="0"/>
                      </a:endParaRPr>
                    </a:p>
                  </a:txBody>
                  <a:tcPr/>
                </a:tc>
                <a:tc vMerge="1">
                  <a:txBody>
                    <a:bodyPr/>
                    <a:lstStyle/>
                    <a:p>
                      <a:pPr algn="ctr"/>
                      <a:endParaRPr 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100" dirty="0">
                          <a:latin typeface="Times New Roman" panose="02020603050405020304" pitchFamily="18" charset="0"/>
                          <a:cs typeface="Times New Roman" panose="02020603050405020304" pitchFamily="18" charset="0"/>
                        </a:rPr>
                        <a:t>Black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Hispanic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Minority</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8253315"/>
                  </a:ext>
                </a:extLst>
              </a:tr>
              <a:tr h="401131">
                <a:tc>
                  <a:txBody>
                    <a:bodyPr/>
                    <a:lstStyle/>
                    <a:p>
                      <a:r>
                        <a:rPr lang="en-US" sz="1100" dirty="0">
                          <a:latin typeface="Times New Roman" panose="02020603050405020304" pitchFamily="18" charset="0"/>
                          <a:cs typeface="Times New Roman" panose="02020603050405020304" pitchFamily="18" charset="0"/>
                        </a:rPr>
                        <a:t>Judge</a:t>
                      </a:r>
                    </a:p>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.1134</a:t>
                      </a:r>
                    </a:p>
                    <a:p>
                      <a:pPr algn="ctr"/>
                      <a:r>
                        <a:rPr lang="en-US" sz="1100" dirty="0">
                          <a:latin typeface="Times New Roman" panose="02020603050405020304" pitchFamily="18" charset="0"/>
                          <a:cs typeface="Times New Roman" panose="02020603050405020304" pitchFamily="18" charset="0"/>
                        </a:rPr>
                        <a:t>(.0010)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.3101</a:t>
                      </a:r>
                    </a:p>
                    <a:p>
                      <a:pPr algn="ctr"/>
                      <a:r>
                        <a:rPr lang="en-US" sz="11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.2515</a:t>
                      </a:r>
                    </a:p>
                    <a:p>
                      <a:pPr algn="ctr"/>
                      <a:r>
                        <a:rPr lang="en-US" sz="1100" dirty="0">
                          <a:latin typeface="Times New Roman" panose="02020603050405020304" pitchFamily="18" charset="0"/>
                          <a:cs typeface="Times New Roman" panose="02020603050405020304" pitchFamily="18" charset="0"/>
                        </a:rPr>
                        <a:t>(.0021)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.2863</a:t>
                      </a:r>
                    </a:p>
                    <a:p>
                      <a:pPr algn="ctr"/>
                      <a:r>
                        <a:rPr lang="en-US" sz="11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0329696"/>
                  </a:ext>
                </a:extLst>
              </a:tr>
              <a:tr h="375113">
                <a:tc>
                  <a:txBody>
                    <a:bodyPr/>
                    <a:lstStyle/>
                    <a:p>
                      <a:r>
                        <a:rPr lang="en-US" sz="1100" dirty="0">
                          <a:latin typeface="Times New Roman" panose="02020603050405020304" pitchFamily="18" charset="0"/>
                          <a:cs typeface="Times New Roman" panose="02020603050405020304" pitchFamily="18" charset="0"/>
                        </a:rPr>
                        <a:t>Algorithm at Judges’ Crime Rate</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.1134</a:t>
                      </a:r>
                    </a:p>
                    <a:p>
                      <a:pPr algn="ctr"/>
                      <a:r>
                        <a:rPr lang="en-US" sz="1100" dirty="0">
                          <a:latin typeface="Times New Roman" panose="02020603050405020304" pitchFamily="18" charset="0"/>
                          <a:cs typeface="Times New Roman" panose="02020603050405020304" pitchFamily="18" charset="0"/>
                        </a:rPr>
                        <a:t>(.0010)</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.1899</a:t>
                      </a:r>
                    </a:p>
                    <a:p>
                      <a:pPr algn="ctr"/>
                      <a:r>
                        <a:rPr lang="en-US" sz="1100" dirty="0">
                          <a:latin typeface="Times New Roman" panose="02020603050405020304" pitchFamily="18" charset="0"/>
                          <a:cs typeface="Times New Roman" panose="02020603050405020304" pitchFamily="18" charset="0"/>
                        </a:rPr>
                        <a:t>(.0013)</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.1393</a:t>
                      </a:r>
                    </a:p>
                    <a:p>
                      <a:pPr algn="ctr"/>
                      <a:r>
                        <a:rPr lang="en-US" sz="1100" dirty="0">
                          <a:latin typeface="Times New Roman" panose="02020603050405020304" pitchFamily="18" charset="0"/>
                          <a:cs typeface="Times New Roman" panose="02020603050405020304" pitchFamily="18" charset="0"/>
                        </a:rPr>
                        <a:t>(.0017)</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.1694</a:t>
                      </a:r>
                    </a:p>
                    <a:p>
                      <a:pPr algn="ctr"/>
                      <a:r>
                        <a:rPr lang="en-US" sz="1100" dirty="0">
                          <a:latin typeface="Times New Roman" panose="02020603050405020304" pitchFamily="18" charset="0"/>
                          <a:cs typeface="Times New Roman" panose="02020603050405020304" pitchFamily="18" charset="0"/>
                        </a:rPr>
                        <a:t>(.0005)</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14532130"/>
                  </a:ext>
                </a:extLst>
              </a:tr>
              <a:tr h="126607">
                <a:tc>
                  <a:txBody>
                    <a:bodyPr/>
                    <a:lstStyle/>
                    <a:p>
                      <a:r>
                        <a:rPr lang="en-US" sz="1100" dirty="0">
                          <a:latin typeface="Times New Roman" panose="02020603050405020304" pitchFamily="18" charset="0"/>
                          <a:cs typeface="Times New Roman" panose="02020603050405020304" pitchFamily="18" charset="0"/>
                        </a:rPr>
                        <a:t>Algorithm at Judges’ Release Rate</a:t>
                      </a: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12081495"/>
                  </a:ext>
                </a:extLst>
              </a:tr>
              <a:tr h="401131">
                <a:tc>
                  <a:txBody>
                    <a:bodyPr/>
                    <a:lstStyle/>
                    <a:p>
                      <a:r>
                        <a:rPr lang="en-US" sz="1100" dirty="0">
                          <a:latin typeface="Times New Roman" panose="02020603050405020304" pitchFamily="18" charset="0"/>
                          <a:cs typeface="Times New Roman" panose="02020603050405020304" pitchFamily="18" charset="0"/>
                        </a:rPr>
                        <a:t>Usual Ranking Rule</a:t>
                      </a:r>
                    </a:p>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.0854</a:t>
                      </a:r>
                    </a:p>
                    <a:p>
                      <a:pPr algn="ctr"/>
                      <a:r>
                        <a:rPr lang="en-US" sz="1100" dirty="0">
                          <a:latin typeface="Times New Roman" panose="02020603050405020304" pitchFamily="18" charset="0"/>
                          <a:cs typeface="Times New Roman" panose="02020603050405020304" pitchFamily="18" charset="0"/>
                        </a:rPr>
                        <a:t>(.0008)</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-24.68%</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.3238</a:t>
                      </a:r>
                    </a:p>
                    <a:p>
                      <a:pPr algn="ctr"/>
                      <a:r>
                        <a:rPr lang="en-US" sz="11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.2404</a:t>
                      </a:r>
                    </a:p>
                    <a:p>
                      <a:pPr algn="ctr"/>
                      <a:r>
                        <a:rPr lang="en-US" sz="1100" dirty="0">
                          <a:latin typeface="Times New Roman" panose="02020603050405020304" pitchFamily="18" charset="0"/>
                          <a:cs typeface="Times New Roman" panose="02020603050405020304" pitchFamily="18" charset="0"/>
                        </a:rPr>
                        <a:t>(.0021)</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.2900</a:t>
                      </a:r>
                    </a:p>
                    <a:p>
                      <a:pPr algn="ctr"/>
                      <a:r>
                        <a:rPr lang="en-US" sz="11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62028692"/>
                  </a:ext>
                </a:extLst>
              </a:tr>
            </a:tbl>
          </a:graphicData>
        </a:graphic>
      </p:graphicFrame>
      <p:sp>
        <p:nvSpPr>
          <p:cNvPr id="14" name="Rectangle 13">
            <a:extLst>
              <a:ext uri="{FF2B5EF4-FFF2-40B4-BE49-F238E27FC236}">
                <a16:creationId xmlns:a16="http://schemas.microsoft.com/office/drawing/2014/main" id="{9E418EEB-FBFE-7EAD-FB3A-2D81F4C894CE}"/>
              </a:ext>
              <a:ext uri="{C183D7F6-B498-43B3-948B-1728B52AA6E4}">
                <adec:decorative xmlns:adec="http://schemas.microsoft.com/office/drawing/2017/decorative" val="1"/>
              </a:ext>
            </a:extLst>
          </p:cNvPr>
          <p:cNvSpPr/>
          <p:nvPr/>
        </p:nvSpPr>
        <p:spPr>
          <a:xfrm>
            <a:off x="9779927" y="2817321"/>
            <a:ext cx="2118277" cy="4289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B1A915-5607-BA56-A2C0-009EC6DBEF04}"/>
              </a:ext>
              <a:ext uri="{C183D7F6-B498-43B3-948B-1728B52AA6E4}">
                <adec:decorative xmlns:adec="http://schemas.microsoft.com/office/drawing/2017/decorative" val="1"/>
              </a:ext>
            </a:extLst>
          </p:cNvPr>
          <p:cNvSpPr/>
          <p:nvPr/>
        </p:nvSpPr>
        <p:spPr>
          <a:xfrm>
            <a:off x="9779927" y="3457401"/>
            <a:ext cx="2118277" cy="4289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0ECAED3-AB38-B350-BC96-99C8A31615AD}"/>
              </a:ext>
            </a:extLst>
          </p:cNvPr>
          <p:cNvSpPr txBox="1"/>
          <p:nvPr/>
        </p:nvSpPr>
        <p:spPr>
          <a:xfrm>
            <a:off x="7884812" y="5255721"/>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3CD5A6C9-A5A0-7949-19F3-92E98425BA45}"/>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E9C69D1C-C529-DEFC-1E38-22C10BAAB80B}"/>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3014622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917E-4986-F126-9AC0-5269BFB00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AC143-538A-4035-861D-925FF012C0C1}"/>
              </a:ext>
            </a:extLst>
          </p:cNvPr>
          <p:cNvSpPr>
            <a:spLocks noGrp="1"/>
          </p:cNvSpPr>
          <p:nvPr>
            <p:ph type="ctrTitle"/>
          </p:nvPr>
        </p:nvSpPr>
        <p:spPr>
          <a:xfrm>
            <a:off x="2107520" y="437030"/>
            <a:ext cx="8476660" cy="332399"/>
          </a:xfrm>
        </p:spPr>
        <p:txBody>
          <a:bodyPr/>
          <a:lstStyle/>
          <a:p>
            <a:r>
              <a:rPr lang="en-US" dirty="0"/>
              <a:t>Algorithms Can be Designed to Satisfy Fairness Criteria, Part 4</a:t>
            </a:r>
          </a:p>
        </p:txBody>
      </p:sp>
      <p:sp>
        <p:nvSpPr>
          <p:cNvPr id="10" name="Text Placeholder 9">
            <a:extLst>
              <a:ext uri="{FF2B5EF4-FFF2-40B4-BE49-F238E27FC236}">
                <a16:creationId xmlns:a16="http://schemas.microsoft.com/office/drawing/2014/main" id="{25A443CF-4217-1202-00B5-AD823C72BFE4}"/>
              </a:ext>
            </a:extLst>
          </p:cNvPr>
          <p:cNvSpPr>
            <a:spLocks noGrp="1"/>
          </p:cNvSpPr>
          <p:nvPr>
            <p:ph type="body" sz="quarter" idx="14"/>
          </p:nvPr>
        </p:nvSpPr>
        <p:spPr>
          <a:xfrm>
            <a:off x="1518168" y="1447991"/>
            <a:ext cx="3821864" cy="3617786"/>
          </a:xfrm>
        </p:spPr>
        <p:txBody>
          <a:bodyPr>
            <a:normAutofit lnSpcReduction="10000"/>
          </a:bodyPr>
          <a:lstStyle/>
          <a:p>
            <a:r>
              <a:rPr lang="en-US" sz="2000" dirty="0"/>
              <a:t>Reducing jailing rates has </a:t>
            </a:r>
            <a:r>
              <a:rPr lang="en-US" sz="2000" b="1" dirty="0"/>
              <a:t>biggest impact</a:t>
            </a:r>
            <a:r>
              <a:rPr lang="en-US" sz="2000" dirty="0"/>
              <a:t> on those who tend to be jailed by judges</a:t>
            </a:r>
          </a:p>
          <a:p>
            <a:endParaRPr lang="en-US" sz="2000" dirty="0"/>
          </a:p>
          <a:p>
            <a:r>
              <a:rPr lang="en-US" sz="2000" dirty="0"/>
              <a:t>Holding jailing rates constant, algorithm </a:t>
            </a:r>
            <a:r>
              <a:rPr lang="en-US" sz="2000" b="1" dirty="0"/>
              <a:t>increases</a:t>
            </a:r>
            <a:r>
              <a:rPr lang="en-US" sz="2000" dirty="0"/>
              <a:t> Black detention rate</a:t>
            </a:r>
          </a:p>
          <a:p>
            <a:endParaRPr lang="en-US" sz="2000" dirty="0"/>
          </a:p>
          <a:p>
            <a:r>
              <a:rPr lang="en-US" sz="2000" dirty="0"/>
              <a:t>However, we can design algorithm with equity </a:t>
            </a:r>
          </a:p>
          <a:p>
            <a:r>
              <a:rPr lang="en-US" sz="2000" dirty="0"/>
              <a:t>constraints to eliminate </a:t>
            </a:r>
          </a:p>
          <a:p>
            <a:r>
              <a:rPr lang="en-US" sz="2000" dirty="0"/>
              <a:t>inequity and reduce crime</a:t>
            </a:r>
          </a:p>
        </p:txBody>
      </p:sp>
      <p:graphicFrame>
        <p:nvGraphicFramePr>
          <p:cNvPr id="12" name="Table 11">
            <a:extLst>
              <a:ext uri="{FF2B5EF4-FFF2-40B4-BE49-F238E27FC236}">
                <a16:creationId xmlns:a16="http://schemas.microsoft.com/office/drawing/2014/main" id="{2913A71F-CBEA-749A-47A9-85DFE271407E}"/>
              </a:ext>
            </a:extLst>
          </p:cNvPr>
          <p:cNvGraphicFramePr>
            <a:graphicFrameLocks noGrp="1"/>
          </p:cNvGraphicFramePr>
          <p:nvPr>
            <p:extLst>
              <p:ext uri="{D42A27DB-BD31-4B8C-83A1-F6EECF244321}">
                <p14:modId xmlns:p14="http://schemas.microsoft.com/office/powerpoint/2010/main" val="3232198066"/>
              </p:ext>
            </p:extLst>
          </p:nvPr>
        </p:nvGraphicFramePr>
        <p:xfrm>
          <a:off x="5041674" y="1410082"/>
          <a:ext cx="6856530" cy="3006528"/>
        </p:xfrm>
        <a:graphic>
          <a:graphicData uri="http://schemas.openxmlformats.org/drawingml/2006/table">
            <a:tbl>
              <a:tblPr firstRow="1" bandRow="1">
                <a:tableStyleId>{00A15C55-8517-42AA-B614-E9B94910E393}</a:tableStyleId>
              </a:tblPr>
              <a:tblGrid>
                <a:gridCol w="2807785">
                  <a:extLst>
                    <a:ext uri="{9D8B030D-6E8A-4147-A177-3AD203B41FA5}">
                      <a16:colId xmlns:a16="http://schemas.microsoft.com/office/drawing/2014/main" val="988386335"/>
                    </a:ext>
                  </a:extLst>
                </a:gridCol>
                <a:gridCol w="943332">
                  <a:extLst>
                    <a:ext uri="{9D8B030D-6E8A-4147-A177-3AD203B41FA5}">
                      <a16:colId xmlns:a16="http://schemas.microsoft.com/office/drawing/2014/main" val="1332082014"/>
                    </a:ext>
                  </a:extLst>
                </a:gridCol>
                <a:gridCol w="1028700">
                  <a:extLst>
                    <a:ext uri="{9D8B030D-6E8A-4147-A177-3AD203B41FA5}">
                      <a16:colId xmlns:a16="http://schemas.microsoft.com/office/drawing/2014/main" val="1676092817"/>
                    </a:ext>
                  </a:extLst>
                </a:gridCol>
                <a:gridCol w="602673">
                  <a:extLst>
                    <a:ext uri="{9D8B030D-6E8A-4147-A177-3AD203B41FA5}">
                      <a16:colId xmlns:a16="http://schemas.microsoft.com/office/drawing/2014/main" val="2360816984"/>
                    </a:ext>
                  </a:extLst>
                </a:gridCol>
                <a:gridCol w="789709">
                  <a:extLst>
                    <a:ext uri="{9D8B030D-6E8A-4147-A177-3AD203B41FA5}">
                      <a16:colId xmlns:a16="http://schemas.microsoft.com/office/drawing/2014/main" val="2462584207"/>
                    </a:ext>
                  </a:extLst>
                </a:gridCol>
                <a:gridCol w="684331">
                  <a:extLst>
                    <a:ext uri="{9D8B030D-6E8A-4147-A177-3AD203B41FA5}">
                      <a16:colId xmlns:a16="http://schemas.microsoft.com/office/drawing/2014/main" val="1698290064"/>
                    </a:ext>
                  </a:extLst>
                </a:gridCol>
              </a:tblGrid>
              <a:tr h="401131">
                <a:tc gridSpan="6">
                  <a:txBody>
                    <a:bodyPr/>
                    <a:lstStyle/>
                    <a:p>
                      <a:pPr algn="ctr"/>
                      <a:r>
                        <a:rPr lang="en-US" sz="1100" b="1" dirty="0">
                          <a:latin typeface="Times New Roman" panose="02020603050405020304" pitchFamily="18" charset="0"/>
                          <a:cs typeface="Times New Roman" panose="02020603050405020304" pitchFamily="18" charset="0"/>
                        </a:rPr>
                        <a:t>Table 7: Omitted Payoff Bias-Race</a:t>
                      </a:r>
                    </a:p>
                    <a:p>
                      <a:pPr algn="ctr"/>
                      <a:r>
                        <a:rPr lang="en-US" sz="1100" b="1" dirty="0">
                          <a:latin typeface="Times New Roman" panose="02020603050405020304" pitchFamily="18" charset="0"/>
                          <a:cs typeface="Times New Roman" panose="02020603050405020304" pitchFamily="18" charset="0"/>
                        </a:rPr>
                        <a:t>Disparate Impact of a Complete Re-ranking by Predicted Risk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790908247"/>
                  </a:ext>
                </a:extLst>
              </a:tr>
              <a:tr h="240679">
                <a:tc>
                  <a:txBody>
                    <a:bodyPr/>
                    <a:lstStyle/>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n-US" sz="1100" dirty="0">
                          <a:latin typeface="Times New Roman" panose="02020603050405020304" pitchFamily="18" charset="0"/>
                          <a:cs typeface="Times New Roman" panose="02020603050405020304" pitchFamily="18" charset="0"/>
                        </a:rPr>
                        <a:t>Crime Rate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US" sz="1100" dirty="0">
                          <a:latin typeface="Times New Roman" panose="02020603050405020304" pitchFamily="18" charset="0"/>
                          <a:cs typeface="Times New Roman" panose="02020603050405020304" pitchFamily="18" charset="0"/>
                        </a:rPr>
                        <a:t>Drop Relative </a:t>
                      </a:r>
                    </a:p>
                    <a:p>
                      <a:pPr algn="ctr"/>
                      <a:r>
                        <a:rPr lang="en-US" sz="1100" dirty="0">
                          <a:latin typeface="Times New Roman" panose="02020603050405020304" pitchFamily="18" charset="0"/>
                          <a:cs typeface="Times New Roman" panose="02020603050405020304" pitchFamily="18" charset="0"/>
                        </a:rPr>
                        <a:t>to Judge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100" dirty="0">
                          <a:latin typeface="Times New Roman" panose="02020603050405020304" pitchFamily="18" charset="0"/>
                          <a:cs typeface="Times New Roman" panose="02020603050405020304" pitchFamily="18" charset="0"/>
                        </a:rPr>
                        <a:t>Detention Rate</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a:p>
                  </a:txBody>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2149317"/>
                  </a:ext>
                </a:extLst>
              </a:tr>
              <a:tr h="166415">
                <a:tc>
                  <a:txBody>
                    <a:bodyPr/>
                    <a:lstStyle/>
                    <a:p>
                      <a:r>
                        <a:rPr lang="en-US" sz="1100" dirty="0">
                          <a:latin typeface="Times New Roman" panose="02020603050405020304" pitchFamily="18" charset="0"/>
                          <a:cs typeface="Times New Roman" panose="02020603050405020304" pitchFamily="18" charset="0"/>
                        </a:rPr>
                        <a:t>Release Rule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sz="1200" dirty="0">
                        <a:latin typeface="Times New Roman" panose="02020603050405020304" pitchFamily="18" charset="0"/>
                        <a:cs typeface="Times New Roman" panose="02020603050405020304" pitchFamily="18" charset="0"/>
                      </a:endParaRPr>
                    </a:p>
                  </a:txBody>
                  <a:tcPr/>
                </a:tc>
                <a:tc vMerge="1">
                  <a:txBody>
                    <a:bodyPr/>
                    <a:lstStyle/>
                    <a:p>
                      <a:pPr algn="ctr"/>
                      <a:endParaRPr 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100" dirty="0">
                          <a:latin typeface="Times New Roman" panose="02020603050405020304" pitchFamily="18" charset="0"/>
                          <a:cs typeface="Times New Roman" panose="02020603050405020304" pitchFamily="18" charset="0"/>
                        </a:rPr>
                        <a:t>Black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Hispanic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Minority</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8253315"/>
                  </a:ext>
                </a:extLst>
              </a:tr>
              <a:tr h="401131">
                <a:tc>
                  <a:txBody>
                    <a:bodyPr/>
                    <a:lstStyle/>
                    <a:p>
                      <a:r>
                        <a:rPr lang="en-US" sz="1100" dirty="0">
                          <a:latin typeface="Times New Roman" panose="02020603050405020304" pitchFamily="18" charset="0"/>
                          <a:cs typeface="Times New Roman" panose="02020603050405020304" pitchFamily="18" charset="0"/>
                        </a:rPr>
                        <a:t>Judge</a:t>
                      </a:r>
                    </a:p>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.1134</a:t>
                      </a:r>
                    </a:p>
                    <a:p>
                      <a:pPr algn="ctr"/>
                      <a:r>
                        <a:rPr lang="en-US" sz="1100" dirty="0">
                          <a:latin typeface="Times New Roman" panose="02020603050405020304" pitchFamily="18" charset="0"/>
                          <a:cs typeface="Times New Roman" panose="02020603050405020304" pitchFamily="18" charset="0"/>
                        </a:rPr>
                        <a:t>(.0010)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.3101</a:t>
                      </a:r>
                    </a:p>
                    <a:p>
                      <a:pPr algn="ctr"/>
                      <a:r>
                        <a:rPr lang="en-US" sz="11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.2515</a:t>
                      </a:r>
                    </a:p>
                    <a:p>
                      <a:pPr algn="ctr"/>
                      <a:r>
                        <a:rPr lang="en-US" sz="1100" dirty="0">
                          <a:latin typeface="Times New Roman" panose="02020603050405020304" pitchFamily="18" charset="0"/>
                          <a:cs typeface="Times New Roman" panose="02020603050405020304" pitchFamily="18" charset="0"/>
                        </a:rPr>
                        <a:t>(.0021)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.2863</a:t>
                      </a:r>
                    </a:p>
                    <a:p>
                      <a:pPr algn="ctr"/>
                      <a:r>
                        <a:rPr lang="en-US" sz="11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0329696"/>
                  </a:ext>
                </a:extLst>
              </a:tr>
              <a:tr h="375113">
                <a:tc>
                  <a:txBody>
                    <a:bodyPr/>
                    <a:lstStyle/>
                    <a:p>
                      <a:r>
                        <a:rPr lang="en-US" sz="1100" dirty="0">
                          <a:latin typeface="Times New Roman" panose="02020603050405020304" pitchFamily="18" charset="0"/>
                          <a:cs typeface="Times New Roman" panose="02020603050405020304" pitchFamily="18" charset="0"/>
                        </a:rPr>
                        <a:t>Algorithm at Judges’ Crime Rate</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.1134</a:t>
                      </a:r>
                    </a:p>
                    <a:p>
                      <a:pPr algn="ctr"/>
                      <a:r>
                        <a:rPr lang="en-US" sz="1100" dirty="0">
                          <a:latin typeface="Times New Roman" panose="02020603050405020304" pitchFamily="18" charset="0"/>
                          <a:cs typeface="Times New Roman" panose="02020603050405020304" pitchFamily="18" charset="0"/>
                        </a:rPr>
                        <a:t>(.0010)</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.1899</a:t>
                      </a:r>
                    </a:p>
                    <a:p>
                      <a:pPr algn="ctr"/>
                      <a:r>
                        <a:rPr lang="en-US" sz="1100" dirty="0">
                          <a:latin typeface="Times New Roman" panose="02020603050405020304" pitchFamily="18" charset="0"/>
                          <a:cs typeface="Times New Roman" panose="02020603050405020304" pitchFamily="18" charset="0"/>
                        </a:rPr>
                        <a:t>(.0013)</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.1393</a:t>
                      </a:r>
                    </a:p>
                    <a:p>
                      <a:pPr algn="ctr"/>
                      <a:r>
                        <a:rPr lang="en-US" sz="1100" dirty="0">
                          <a:latin typeface="Times New Roman" panose="02020603050405020304" pitchFamily="18" charset="0"/>
                          <a:cs typeface="Times New Roman" panose="02020603050405020304" pitchFamily="18" charset="0"/>
                        </a:rPr>
                        <a:t>(.0017)</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.1694</a:t>
                      </a:r>
                    </a:p>
                    <a:p>
                      <a:pPr algn="ctr"/>
                      <a:r>
                        <a:rPr lang="en-US" sz="1100" dirty="0">
                          <a:latin typeface="Times New Roman" panose="02020603050405020304" pitchFamily="18" charset="0"/>
                          <a:cs typeface="Times New Roman" panose="02020603050405020304" pitchFamily="18" charset="0"/>
                        </a:rPr>
                        <a:t>(.0005)</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14532130"/>
                  </a:ext>
                </a:extLst>
              </a:tr>
              <a:tr h="126607">
                <a:tc>
                  <a:txBody>
                    <a:bodyPr/>
                    <a:lstStyle/>
                    <a:p>
                      <a:r>
                        <a:rPr lang="en-US" sz="1100" dirty="0">
                          <a:latin typeface="Times New Roman" panose="02020603050405020304" pitchFamily="18" charset="0"/>
                          <a:cs typeface="Times New Roman" panose="02020603050405020304" pitchFamily="18" charset="0"/>
                        </a:rPr>
                        <a:t>Algorithm at Judges’ Release Rate</a:t>
                      </a: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1100" dirty="0">
                        <a:latin typeface="Times New Roman" panose="02020603050405020304" pitchFamily="18" charset="0"/>
                        <a:cs typeface="Times New Roman" panose="02020603050405020304" pitchFamily="18" charset="0"/>
                      </a:endParaRPr>
                    </a:p>
                  </a:txBody>
                  <a:tcPr marB="0">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12081495"/>
                  </a:ext>
                </a:extLst>
              </a:tr>
              <a:tr h="568128">
                <a:tc>
                  <a:txBody>
                    <a:bodyPr/>
                    <a:lstStyle/>
                    <a:p>
                      <a:r>
                        <a:rPr lang="en-US" sz="1100" dirty="0">
                          <a:latin typeface="Times New Roman" panose="02020603050405020304" pitchFamily="18" charset="0"/>
                          <a:cs typeface="Times New Roman" panose="02020603050405020304" pitchFamily="18" charset="0"/>
                        </a:rPr>
                        <a:t>Usual Ranking Rule</a:t>
                      </a:r>
                    </a:p>
                    <a:p>
                      <a:endParaRPr lang="en-US" sz="1100"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.0854</a:t>
                      </a:r>
                    </a:p>
                    <a:p>
                      <a:pPr algn="ctr"/>
                      <a:r>
                        <a:rPr lang="en-US" sz="1100" dirty="0">
                          <a:latin typeface="Times New Roman" panose="02020603050405020304" pitchFamily="18" charset="0"/>
                          <a:cs typeface="Times New Roman" panose="02020603050405020304" pitchFamily="18" charset="0"/>
                        </a:rPr>
                        <a:t>(.0008)</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-24.68%</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.3238</a:t>
                      </a:r>
                    </a:p>
                    <a:p>
                      <a:pPr algn="ctr"/>
                      <a:r>
                        <a:rPr lang="en-US" sz="11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.2404</a:t>
                      </a:r>
                    </a:p>
                    <a:p>
                      <a:pPr algn="ctr"/>
                      <a:r>
                        <a:rPr lang="en-US" sz="1100" dirty="0">
                          <a:latin typeface="Times New Roman" panose="02020603050405020304" pitchFamily="18" charset="0"/>
                          <a:cs typeface="Times New Roman" panose="02020603050405020304" pitchFamily="18" charset="0"/>
                        </a:rPr>
                        <a:t>(.0021)</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.2900</a:t>
                      </a:r>
                    </a:p>
                    <a:p>
                      <a:pPr algn="ctr"/>
                      <a:r>
                        <a:rPr lang="en-US" sz="11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62028692"/>
                  </a:ext>
                </a:extLst>
              </a:tr>
              <a:tr h="401131">
                <a:tc>
                  <a:txBody>
                    <a:bodyPr/>
                    <a:lstStyle/>
                    <a:p>
                      <a:r>
                        <a:rPr lang="en-US" sz="1100" dirty="0">
                          <a:latin typeface="Times New Roman" panose="02020603050405020304" pitchFamily="18" charset="0"/>
                          <a:cs typeface="Times New Roman" panose="02020603050405020304" pitchFamily="18" charset="0"/>
                        </a:rPr>
                        <a:t>Equal Release Rates</a:t>
                      </a:r>
                    </a:p>
                    <a:p>
                      <a:r>
                        <a:rPr lang="en-US" sz="1100" dirty="0">
                          <a:latin typeface="Times New Roman" panose="02020603050405020304" pitchFamily="18" charset="0"/>
                          <a:cs typeface="Times New Roman" panose="02020603050405020304" pitchFamily="18" charset="0"/>
                        </a:rPr>
                        <a:t>for all Races</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.0873</a:t>
                      </a:r>
                    </a:p>
                    <a:p>
                      <a:pPr algn="ctr"/>
                      <a:r>
                        <a:rPr lang="en-US" sz="11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-23.02%</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.2639</a:t>
                      </a:r>
                    </a:p>
                    <a:p>
                      <a:pPr algn="ctr"/>
                      <a:r>
                        <a:rPr lang="en-US" sz="1100" dirty="0">
                          <a:latin typeface="Times New Roman" panose="02020603050405020304" pitchFamily="18" charset="0"/>
                          <a:cs typeface="Times New Roman" panose="02020603050405020304" pitchFamily="18" charset="0"/>
                        </a:rPr>
                        <a:t>(.0016)</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.2639</a:t>
                      </a:r>
                    </a:p>
                    <a:p>
                      <a:pPr algn="ctr"/>
                      <a:r>
                        <a:rPr lang="en-US" sz="1100" dirty="0">
                          <a:latin typeface="Times New Roman" panose="02020603050405020304" pitchFamily="18" charset="0"/>
                          <a:cs typeface="Times New Roman" panose="02020603050405020304" pitchFamily="18" charset="0"/>
                        </a:rPr>
                        <a:t>(.0021)</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latin typeface="Times New Roman" panose="02020603050405020304" pitchFamily="18" charset="0"/>
                          <a:cs typeface="Times New Roman" panose="02020603050405020304" pitchFamily="18" charset="0"/>
                        </a:rPr>
                        <a:t>.2639</a:t>
                      </a:r>
                    </a:p>
                    <a:p>
                      <a:pPr algn="ctr"/>
                      <a:r>
                        <a:rPr lang="en-US" sz="1100" dirty="0">
                          <a:latin typeface="Times New Roman" panose="02020603050405020304" pitchFamily="18" charset="0"/>
                          <a:cs typeface="Times New Roman" panose="02020603050405020304" pitchFamily="18" charset="0"/>
                        </a:rPr>
                        <a:t>(.0006)</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64475064"/>
                  </a:ext>
                </a:extLst>
              </a:tr>
            </a:tbl>
          </a:graphicData>
        </a:graphic>
      </p:graphicFrame>
      <p:sp>
        <p:nvSpPr>
          <p:cNvPr id="13" name="Rectangle 12">
            <a:extLst>
              <a:ext uri="{FF2B5EF4-FFF2-40B4-BE49-F238E27FC236}">
                <a16:creationId xmlns:a16="http://schemas.microsoft.com/office/drawing/2014/main" id="{81E659A2-E732-50DC-AFFA-4FC39DB3D7CA}"/>
              </a:ext>
              <a:ext uri="{C183D7F6-B498-43B3-948B-1728B52AA6E4}">
                <adec:decorative xmlns:adec="http://schemas.microsoft.com/office/drawing/2017/decorative" val="1"/>
              </a:ext>
            </a:extLst>
          </p:cNvPr>
          <p:cNvSpPr/>
          <p:nvPr/>
        </p:nvSpPr>
        <p:spPr>
          <a:xfrm>
            <a:off x="9779927" y="2779412"/>
            <a:ext cx="2118277" cy="4289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32DA9E-68C9-4039-F0FC-7751889836AC}"/>
              </a:ext>
              <a:ext uri="{C183D7F6-B498-43B3-948B-1728B52AA6E4}">
                <adec:decorative xmlns:adec="http://schemas.microsoft.com/office/drawing/2017/decorative" val="1"/>
              </a:ext>
            </a:extLst>
          </p:cNvPr>
          <p:cNvSpPr/>
          <p:nvPr/>
        </p:nvSpPr>
        <p:spPr>
          <a:xfrm>
            <a:off x="9779927" y="3419492"/>
            <a:ext cx="2118277" cy="4289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54413FA-534D-E733-D21E-AA46AC0594F1}"/>
              </a:ext>
              <a:ext uri="{C183D7F6-B498-43B3-948B-1728B52AA6E4}">
                <adec:decorative xmlns:adec="http://schemas.microsoft.com/office/drawing/2017/decorative" val="1"/>
              </a:ext>
            </a:extLst>
          </p:cNvPr>
          <p:cNvSpPr/>
          <p:nvPr/>
        </p:nvSpPr>
        <p:spPr>
          <a:xfrm>
            <a:off x="9773649" y="4014390"/>
            <a:ext cx="2118277" cy="4289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6221509-5CE5-2431-BE66-FD78CFA9A0FF}"/>
              </a:ext>
              <a:ext uri="{C183D7F6-B498-43B3-948B-1728B52AA6E4}">
                <adec:decorative xmlns:adec="http://schemas.microsoft.com/office/drawing/2017/decorative" val="1"/>
              </a:ext>
            </a:extLst>
          </p:cNvPr>
          <p:cNvSpPr/>
          <p:nvPr/>
        </p:nvSpPr>
        <p:spPr>
          <a:xfrm>
            <a:off x="8963533" y="4014390"/>
            <a:ext cx="658381" cy="4289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D80BF8F-ED2D-82B1-FE8B-4C60B384FE03}"/>
              </a:ext>
            </a:extLst>
          </p:cNvPr>
          <p:cNvSpPr txBox="1"/>
          <p:nvPr/>
        </p:nvSpPr>
        <p:spPr>
          <a:xfrm>
            <a:off x="7884812" y="5283280"/>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9160A9FD-AE02-4B52-182E-AC7AC5BF95AC}"/>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277D458A-36BB-F5EA-D8F4-9B841B4B8F24}"/>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34151929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76CBA-050C-4CD3-3F97-696022F04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625F3-101B-2D39-AFCE-CF8354DD8876}"/>
              </a:ext>
            </a:extLst>
          </p:cNvPr>
          <p:cNvSpPr>
            <a:spLocks noGrp="1"/>
          </p:cNvSpPr>
          <p:nvPr>
            <p:ph type="ctrTitle"/>
          </p:nvPr>
        </p:nvSpPr>
        <p:spPr/>
        <p:txBody>
          <a:bodyPr/>
          <a:lstStyle/>
          <a:p>
            <a:r>
              <a:rPr lang="en-US" dirty="0"/>
              <a:t>Formal Notions of Algorithmic Fairness</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297745C4-41A7-AEF7-9465-F73AF65EAA71}"/>
                  </a:ext>
                </a:extLst>
              </p:cNvPr>
              <p:cNvSpPr>
                <a:spLocks noGrp="1"/>
              </p:cNvSpPr>
              <p:nvPr>
                <p:ph type="body" sz="quarter" idx="14"/>
              </p:nvPr>
            </p:nvSpPr>
            <p:spPr>
              <a:xfrm>
                <a:off x="1957778" y="1447991"/>
                <a:ext cx="8923582" cy="3617786"/>
              </a:xfrm>
            </p:spPr>
            <p:txBody>
              <a:bodyPr>
                <a:normAutofit fontScale="92500" lnSpcReduction="20000"/>
              </a:bodyPr>
              <a:lstStyle/>
              <a:p>
                <a:r>
                  <a:rPr lang="en-US" sz="2000" dirty="0"/>
                  <a:t>Concrete example. </a:t>
                </a:r>
              </a:p>
              <a:p>
                <a:pPr lvl="1"/>
                <a:r>
                  <a:rPr lang="en-US" sz="2000" dirty="0"/>
                  <a:t>Two groups of individuals (group 1 and 2) applying for loan </a:t>
                </a:r>
              </a:p>
              <a:p>
                <a:pPr lvl="1"/>
                <a:r>
                  <a:rPr lang="en-US" sz="2000" dirty="0"/>
                  <a:t>Algorithm forms a risk score (</a:t>
                </a:r>
                <a14:m>
                  <m:oMath xmlns:m="http://schemas.openxmlformats.org/officeDocument/2006/math">
                    <m:r>
                      <a:rPr lang="en-US" sz="2000" b="0" i="1" smtClean="0">
                        <a:latin typeface="Cambria Math" panose="02040503050406030204" pitchFamily="18" charset="0"/>
                      </a:rPr>
                      <m:t>𝑟</m:t>
                    </m:r>
                  </m:oMath>
                </a14:m>
                <a:r>
                  <a:rPr lang="en-US" sz="2000" dirty="0"/>
                  <a:t>) based on individual features</a:t>
                </a:r>
              </a:p>
              <a:p>
                <a:endParaRPr lang="en-US" sz="2000" dirty="0"/>
              </a:p>
              <a:p>
                <a:r>
                  <a:rPr lang="en-US" sz="2000" dirty="0"/>
                  <a:t>Calibration within groups: Within (protected) groups, risk scores must be calibrated</a:t>
                </a:r>
              </a:p>
              <a:p>
                <a:pPr lvl="1"/>
                <a:r>
                  <a:rPr lang="en-US" sz="2000" dirty="0"/>
                  <a:t>Ensures algorithm treats two groups the same conditional on risk score</a:t>
                </a:r>
              </a:p>
              <a:p>
                <a:pPr lvl="1"/>
                <a:r>
                  <a:rPr lang="en-US" sz="2000" dirty="0" err="1"/>
                  <a:t>I.e</a:t>
                </a:r>
                <a:r>
                  <a:rPr lang="en-US" sz="2000" dirty="0"/>
                  <a:t> loan decision same for black and white applicant conditional on risk</a:t>
                </a:r>
              </a:p>
              <a:p>
                <a:endParaRPr lang="en-US" sz="2000" dirty="0"/>
              </a:p>
              <a:p>
                <a:r>
                  <a:rPr lang="en-US" sz="2000" dirty="0"/>
                  <a:t>Balance for negative class: Average score of group 1 individuals who are denied loan equals average score of group 2 individuals who are denied loan</a:t>
                </a:r>
              </a:p>
              <a:p>
                <a:endParaRPr lang="en-US" sz="2000" dirty="0"/>
              </a:p>
              <a:p>
                <a:r>
                  <a:rPr lang="en-US" sz="2000" dirty="0"/>
                  <a:t>Balance for positive class: Average score of group 1 individuals who are given loan equals average score of group 1 individuals who are given loan</a:t>
                </a:r>
              </a:p>
            </p:txBody>
          </p:sp>
        </mc:Choice>
        <mc:Fallback xmlns="">
          <p:sp>
            <p:nvSpPr>
              <p:cNvPr id="10" name="Text Placeholder 9">
                <a:extLst>
                  <a:ext uri="{FF2B5EF4-FFF2-40B4-BE49-F238E27FC236}">
                    <a16:creationId xmlns:a16="http://schemas.microsoft.com/office/drawing/2014/main" id="{297745C4-41A7-AEF7-9465-F73AF65EAA71}"/>
                  </a:ext>
                </a:extLst>
              </p:cNvPr>
              <p:cNvSpPr>
                <a:spLocks noGrp="1" noRot="1" noChangeAspect="1" noMove="1" noResize="1" noEditPoints="1" noAdjustHandles="1" noChangeArrowheads="1" noChangeShapeType="1" noTextEdit="1"/>
              </p:cNvSpPr>
              <p:nvPr>
                <p:ph type="body" sz="quarter" idx="14"/>
              </p:nvPr>
            </p:nvSpPr>
            <p:spPr>
              <a:xfrm>
                <a:off x="1957778" y="1447991"/>
                <a:ext cx="8923582" cy="3617786"/>
              </a:xfrm>
              <a:blipFill>
                <a:blip r:embed="rId3"/>
                <a:stretch>
                  <a:fillRect l="-1565" t="-3509" r="-853" b="-140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E7B53DE-EE69-09DF-10B5-FABD4A5C918F}"/>
              </a:ext>
            </a:extLst>
          </p:cNvPr>
          <p:cNvSpPr txBox="1"/>
          <p:nvPr/>
        </p:nvSpPr>
        <p:spPr>
          <a:xfrm>
            <a:off x="5640779" y="5590167"/>
            <a:ext cx="3098477" cy="369332"/>
          </a:xfrm>
          <a:prstGeom prst="rect">
            <a:avLst/>
          </a:prstGeom>
          <a:noFill/>
        </p:spPr>
        <p:txBody>
          <a:bodyPr wrap="none" rtlCol="0">
            <a:spAutoFit/>
          </a:bodyPr>
          <a:lstStyle/>
          <a:p>
            <a:r>
              <a:rPr lang="en-US" dirty="0"/>
              <a:t>Source: Kleinberg et al (2016)</a:t>
            </a:r>
          </a:p>
        </p:txBody>
      </p:sp>
      <p:sp>
        <p:nvSpPr>
          <p:cNvPr id="5" name="Date Placeholder 4">
            <a:extLst>
              <a:ext uri="{FF2B5EF4-FFF2-40B4-BE49-F238E27FC236}">
                <a16:creationId xmlns:a16="http://schemas.microsoft.com/office/drawing/2014/main" id="{00014389-B3CB-5471-99EF-92A453BB3F88}"/>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0280F6D6-4B7A-7982-9FBD-F9BCAD0CA645}"/>
              </a:ext>
            </a:extLst>
          </p:cNvPr>
          <p:cNvSpPr>
            <a:spLocks noGrp="1"/>
          </p:cNvSpPr>
          <p:nvPr>
            <p:ph type="sldNum" sz="quarter" idx="12"/>
          </p:nvPr>
        </p:nvSpPr>
        <p:spPr/>
        <p:txBody>
          <a:bodyPr/>
          <a:lstStyle/>
          <a:p>
            <a:fld id="{8A7A6979-0714-4377-B894-6BE4C2D6E202}" type="slidenum">
              <a:rPr lang="en-US" smtClean="0"/>
              <a:pPr/>
              <a:t>37</a:t>
            </a:fld>
            <a:endParaRPr lang="en-US" dirty="0"/>
          </a:p>
        </p:txBody>
      </p:sp>
    </p:spTree>
    <p:extLst>
      <p:ext uri="{BB962C8B-B14F-4D97-AF65-F5344CB8AC3E}">
        <p14:creationId xmlns:p14="http://schemas.microsoft.com/office/powerpoint/2010/main" val="54695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4D894-E5AB-B910-F2FB-E289EB4B7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B9C4A-F736-6752-141A-D0958A033F11}"/>
              </a:ext>
            </a:extLst>
          </p:cNvPr>
          <p:cNvSpPr>
            <a:spLocks noGrp="1"/>
          </p:cNvSpPr>
          <p:nvPr>
            <p:ph type="ctrTitle"/>
          </p:nvPr>
        </p:nvSpPr>
        <p:spPr/>
        <p:txBody>
          <a:bodyPr/>
          <a:lstStyle/>
          <a:p>
            <a:r>
              <a:rPr lang="en-US" dirty="0"/>
              <a:t>Theoretical Result</a:t>
            </a:r>
          </a:p>
        </p:txBody>
      </p:sp>
      <p:sp>
        <p:nvSpPr>
          <p:cNvPr id="10" name="Text Placeholder 9">
            <a:extLst>
              <a:ext uri="{FF2B5EF4-FFF2-40B4-BE49-F238E27FC236}">
                <a16:creationId xmlns:a16="http://schemas.microsoft.com/office/drawing/2014/main" id="{D97EE2F3-0334-54EF-71FD-BAA1AE94C8B3}"/>
              </a:ext>
            </a:extLst>
          </p:cNvPr>
          <p:cNvSpPr>
            <a:spLocks noGrp="1"/>
          </p:cNvSpPr>
          <p:nvPr>
            <p:ph type="body" sz="quarter" idx="14"/>
          </p:nvPr>
        </p:nvSpPr>
        <p:spPr>
          <a:xfrm>
            <a:off x="1957778" y="1447991"/>
            <a:ext cx="8923582" cy="3617786"/>
          </a:xfrm>
        </p:spPr>
        <p:txBody>
          <a:bodyPr>
            <a:normAutofit/>
          </a:bodyPr>
          <a:lstStyle/>
          <a:p>
            <a:r>
              <a:rPr lang="en-US" sz="2000" dirty="0"/>
              <a:t>Except in rare instances, there is no risk assignment (i.e. algorithm) that satisfies all three fairness conditions</a:t>
            </a:r>
          </a:p>
          <a:p>
            <a:endParaRPr lang="en-US" sz="2000" dirty="0"/>
          </a:p>
          <a:p>
            <a:r>
              <a:rPr lang="en-US" sz="2000" dirty="0"/>
              <a:t>Upshot is organization needs to decide how to implement fairness and real tradeoffs exist</a:t>
            </a:r>
          </a:p>
          <a:p>
            <a:pPr lvl="1"/>
            <a:r>
              <a:rPr lang="en-US" sz="2000" dirty="0"/>
              <a:t>This is a value </a:t>
            </a:r>
            <a:r>
              <a:rPr lang="en-US" sz="2000"/>
              <a:t>judgement by your </a:t>
            </a:r>
            <a:r>
              <a:rPr lang="en-US" sz="2000" dirty="0"/>
              <a:t>organization</a:t>
            </a:r>
          </a:p>
          <a:p>
            <a:endParaRPr lang="en-US" sz="2000" dirty="0"/>
          </a:p>
          <a:p>
            <a:r>
              <a:rPr lang="en-US" sz="2000" dirty="0"/>
              <a:t>This applies to human decision making as well</a:t>
            </a:r>
          </a:p>
        </p:txBody>
      </p:sp>
      <p:sp>
        <p:nvSpPr>
          <p:cNvPr id="9" name="TextBox 8">
            <a:extLst>
              <a:ext uri="{FF2B5EF4-FFF2-40B4-BE49-F238E27FC236}">
                <a16:creationId xmlns:a16="http://schemas.microsoft.com/office/drawing/2014/main" id="{EECB4DE2-D5F1-FA22-3924-DB208A6F7708}"/>
              </a:ext>
            </a:extLst>
          </p:cNvPr>
          <p:cNvSpPr txBox="1"/>
          <p:nvPr/>
        </p:nvSpPr>
        <p:spPr>
          <a:xfrm>
            <a:off x="5640779" y="5590167"/>
            <a:ext cx="3098477" cy="369332"/>
          </a:xfrm>
          <a:prstGeom prst="rect">
            <a:avLst/>
          </a:prstGeom>
          <a:noFill/>
        </p:spPr>
        <p:txBody>
          <a:bodyPr wrap="none" rtlCol="0">
            <a:spAutoFit/>
          </a:bodyPr>
          <a:lstStyle/>
          <a:p>
            <a:r>
              <a:rPr lang="en-US" dirty="0"/>
              <a:t>Source: Kleinberg et al (2016)</a:t>
            </a:r>
          </a:p>
        </p:txBody>
      </p:sp>
      <p:sp>
        <p:nvSpPr>
          <p:cNvPr id="5" name="Date Placeholder 4">
            <a:extLst>
              <a:ext uri="{FF2B5EF4-FFF2-40B4-BE49-F238E27FC236}">
                <a16:creationId xmlns:a16="http://schemas.microsoft.com/office/drawing/2014/main" id="{212E99DE-17DD-21D3-9380-B064463012BB}"/>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72A6B652-FA5B-3A57-0E06-F044A61E1A17}"/>
              </a:ext>
            </a:extLst>
          </p:cNvPr>
          <p:cNvSpPr>
            <a:spLocks noGrp="1"/>
          </p:cNvSpPr>
          <p:nvPr>
            <p:ph type="sldNum" sz="quarter" idx="12"/>
          </p:nvPr>
        </p:nvSpPr>
        <p:spPr/>
        <p:txBody>
          <a:bodyPr/>
          <a:lstStyle/>
          <a:p>
            <a:fld id="{8A7A6979-0714-4377-B894-6BE4C2D6E202}" type="slidenum">
              <a:rPr lang="en-US" smtClean="0"/>
              <a:pPr/>
              <a:t>38</a:t>
            </a:fld>
            <a:endParaRPr lang="en-US" dirty="0"/>
          </a:p>
        </p:txBody>
      </p:sp>
    </p:spTree>
    <p:extLst>
      <p:ext uri="{BB962C8B-B14F-4D97-AF65-F5344CB8AC3E}">
        <p14:creationId xmlns:p14="http://schemas.microsoft.com/office/powerpoint/2010/main" val="277401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4BAD-8F9B-EDEE-BAF0-21B507AA6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27931-00C6-03D3-448A-092C635CA457}"/>
              </a:ext>
            </a:extLst>
          </p:cNvPr>
          <p:cNvSpPr>
            <a:spLocks noGrp="1"/>
          </p:cNvSpPr>
          <p:nvPr>
            <p:ph type="ctrTitle"/>
          </p:nvPr>
        </p:nvSpPr>
        <p:spPr>
          <a:xfrm>
            <a:off x="2647199" y="1501742"/>
            <a:ext cx="7300940" cy="664797"/>
          </a:xfrm>
        </p:spPr>
        <p:txBody>
          <a:bodyPr/>
          <a:lstStyle/>
          <a:p>
            <a:r>
              <a:rPr lang="en-US" dirty="0"/>
              <a:t>Group exercise</a:t>
            </a:r>
          </a:p>
        </p:txBody>
      </p:sp>
      <p:sp>
        <p:nvSpPr>
          <p:cNvPr id="4" name="Date Placeholder 3">
            <a:extLst>
              <a:ext uri="{FF2B5EF4-FFF2-40B4-BE49-F238E27FC236}">
                <a16:creationId xmlns:a16="http://schemas.microsoft.com/office/drawing/2014/main" id="{CF7E3D73-C945-9654-65AE-6CCFF0238475}"/>
              </a:ext>
            </a:extLst>
          </p:cNvPr>
          <p:cNvSpPr>
            <a:spLocks noGrp="1"/>
          </p:cNvSpPr>
          <p:nvPr>
            <p:ph type="dt" sz="half" idx="10"/>
          </p:nvPr>
        </p:nvSpPr>
        <p:spPr/>
        <p:txBody>
          <a:bodyPr/>
          <a:lstStyle/>
          <a:p>
            <a:fld id="{D47A9A36-4EB0-BF46-AE48-7CDA251B954B}" type="datetime1">
              <a:rPr lang="en-US" smtClean="0"/>
              <a:pPr/>
              <a:t>11/26/2025</a:t>
            </a:fld>
            <a:endParaRPr lang="en-US" dirty="0"/>
          </a:p>
        </p:txBody>
      </p:sp>
      <p:sp>
        <p:nvSpPr>
          <p:cNvPr id="5" name="Slide Number Placeholder 4">
            <a:extLst>
              <a:ext uri="{FF2B5EF4-FFF2-40B4-BE49-F238E27FC236}">
                <a16:creationId xmlns:a16="http://schemas.microsoft.com/office/drawing/2014/main" id="{52A4D6E9-E315-3164-3613-EDBEAE829A3B}"/>
              </a:ext>
            </a:extLst>
          </p:cNvPr>
          <p:cNvSpPr>
            <a:spLocks noGrp="1"/>
          </p:cNvSpPr>
          <p:nvPr>
            <p:ph type="sldNum" sz="quarter" idx="12"/>
          </p:nvPr>
        </p:nvSpPr>
        <p:spPr/>
        <p:txBody>
          <a:bodyPr/>
          <a:lstStyle/>
          <a:p>
            <a:fld id="{8A7A6979-0714-4377-B894-6BE4C2D6E202}" type="slidenum">
              <a:rPr lang="en-US" smtClean="0"/>
              <a:pPr/>
              <a:t>39</a:t>
            </a:fld>
            <a:endParaRPr lang="en-US" dirty="0"/>
          </a:p>
        </p:txBody>
      </p:sp>
    </p:spTree>
    <p:extLst>
      <p:ext uri="{BB962C8B-B14F-4D97-AF65-F5344CB8AC3E}">
        <p14:creationId xmlns:p14="http://schemas.microsoft.com/office/powerpoint/2010/main" val="1774728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5F332-0AF2-DA3B-6364-F5264D470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DC500-725B-9B26-8EDB-9173CD335C94}"/>
              </a:ext>
            </a:extLst>
          </p:cNvPr>
          <p:cNvSpPr>
            <a:spLocks noGrp="1"/>
          </p:cNvSpPr>
          <p:nvPr>
            <p:ph type="ctrTitle"/>
          </p:nvPr>
        </p:nvSpPr>
        <p:spPr/>
        <p:txBody>
          <a:bodyPr/>
          <a:lstStyle/>
          <a:p>
            <a:r>
              <a:rPr lang="en-US" dirty="0"/>
              <a:t>Private Information vs. Information Processing</a:t>
            </a:r>
          </a:p>
        </p:txBody>
      </p:sp>
      <p:sp>
        <p:nvSpPr>
          <p:cNvPr id="10" name="Text Placeholder 9">
            <a:extLst>
              <a:ext uri="{FF2B5EF4-FFF2-40B4-BE49-F238E27FC236}">
                <a16:creationId xmlns:a16="http://schemas.microsoft.com/office/drawing/2014/main" id="{A995BCF5-8B08-BC91-4B47-E8AA2FEE038D}"/>
              </a:ext>
            </a:extLst>
          </p:cNvPr>
          <p:cNvSpPr>
            <a:spLocks noGrp="1"/>
          </p:cNvSpPr>
          <p:nvPr>
            <p:ph type="body" sz="quarter" idx="14"/>
          </p:nvPr>
        </p:nvSpPr>
        <p:spPr>
          <a:xfrm>
            <a:off x="1957778" y="1447990"/>
            <a:ext cx="8850430" cy="3986651"/>
          </a:xfrm>
        </p:spPr>
        <p:txBody>
          <a:bodyPr>
            <a:normAutofit/>
          </a:bodyPr>
          <a:lstStyle/>
          <a:p>
            <a:r>
              <a:rPr lang="en-US" sz="2000" dirty="0"/>
              <a:t>Humans often have access to information not included in algorithm</a:t>
            </a:r>
          </a:p>
          <a:p>
            <a:pPr lvl="1"/>
            <a:r>
              <a:rPr lang="en-US" sz="2000" dirty="0"/>
              <a:t>Experience, judgement, additional data sources (e.g. conversations)</a:t>
            </a:r>
          </a:p>
          <a:p>
            <a:endParaRPr lang="en-US" sz="2000" dirty="0"/>
          </a:p>
          <a:p>
            <a:r>
              <a:rPr lang="en-US" sz="2000" dirty="0"/>
              <a:t>Algorithms better at processing data than humans</a:t>
            </a:r>
          </a:p>
          <a:p>
            <a:endParaRPr lang="en-US" sz="2000" dirty="0"/>
          </a:p>
          <a:p>
            <a:r>
              <a:rPr lang="en-US" sz="2000" dirty="0"/>
              <a:t>Which wins is an empirical question and likely depends on the setting</a:t>
            </a:r>
          </a:p>
          <a:p>
            <a:endParaRPr lang="en-US" sz="2000" dirty="0"/>
          </a:p>
          <a:p>
            <a:r>
              <a:rPr lang="en-US" sz="2000" dirty="0"/>
              <a:t>List settings where:</a:t>
            </a:r>
          </a:p>
          <a:p>
            <a:pPr lvl="1"/>
            <a:r>
              <a:rPr lang="en-US" sz="2000" dirty="0"/>
              <a:t>You think humans have an advantage</a:t>
            </a:r>
          </a:p>
          <a:p>
            <a:pPr lvl="1"/>
            <a:r>
              <a:rPr lang="en-US" sz="2000" dirty="0"/>
              <a:t>You think algorithms have an advantage</a:t>
            </a:r>
          </a:p>
        </p:txBody>
      </p:sp>
      <p:sp>
        <p:nvSpPr>
          <p:cNvPr id="5" name="Date Placeholder 4">
            <a:extLst>
              <a:ext uri="{FF2B5EF4-FFF2-40B4-BE49-F238E27FC236}">
                <a16:creationId xmlns:a16="http://schemas.microsoft.com/office/drawing/2014/main" id="{769A3DB7-8B3C-4DA5-0471-E0C68011F7D2}"/>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1D666575-F09D-A011-6361-6718E13ABCBA}"/>
              </a:ext>
            </a:extLst>
          </p:cNvPr>
          <p:cNvSpPr>
            <a:spLocks noGrp="1"/>
          </p:cNvSpPr>
          <p:nvPr>
            <p:ph type="sldNum" sz="quarter" idx="12"/>
          </p:nvPr>
        </p:nvSpPr>
        <p:spPr/>
        <p:txBody>
          <a:bodyPr/>
          <a:lstStyle/>
          <a:p>
            <a:fld id="{8A7A6979-0714-4377-B894-6BE4C2D6E202}" type="slidenum">
              <a:rPr lang="en-US" smtClean="0"/>
              <a:pPr/>
              <a:t>40</a:t>
            </a:fld>
            <a:endParaRPr lang="en-US" dirty="0"/>
          </a:p>
        </p:txBody>
      </p:sp>
    </p:spTree>
    <p:extLst>
      <p:ext uri="{BB962C8B-B14F-4D97-AF65-F5344CB8AC3E}">
        <p14:creationId xmlns:p14="http://schemas.microsoft.com/office/powerpoint/2010/main" val="229900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83C4-2AE9-44F8-2E2E-C1CE7BA66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AC413-C29B-D8B2-5B68-3163927543F5}"/>
              </a:ext>
            </a:extLst>
          </p:cNvPr>
          <p:cNvSpPr>
            <a:spLocks noGrp="1"/>
          </p:cNvSpPr>
          <p:nvPr>
            <p:ph type="ctrTitle"/>
          </p:nvPr>
        </p:nvSpPr>
        <p:spPr/>
        <p:txBody>
          <a:bodyPr/>
          <a:lstStyle/>
          <a:p>
            <a:r>
              <a:rPr lang="en-US" dirty="0"/>
              <a:t>Can We Get Best of Both Worlds?</a:t>
            </a:r>
          </a:p>
        </p:txBody>
      </p:sp>
      <p:sp>
        <p:nvSpPr>
          <p:cNvPr id="10" name="Text Placeholder 9">
            <a:extLst>
              <a:ext uri="{FF2B5EF4-FFF2-40B4-BE49-F238E27FC236}">
                <a16:creationId xmlns:a16="http://schemas.microsoft.com/office/drawing/2014/main" id="{79D78EB6-33C5-23E0-D050-A546C26A2124}"/>
              </a:ext>
            </a:extLst>
          </p:cNvPr>
          <p:cNvSpPr>
            <a:spLocks noGrp="1"/>
          </p:cNvSpPr>
          <p:nvPr>
            <p:ph type="body" sz="quarter" idx="14"/>
          </p:nvPr>
        </p:nvSpPr>
        <p:spPr>
          <a:xfrm>
            <a:off x="1957778" y="1447990"/>
            <a:ext cx="8850430" cy="3986651"/>
          </a:xfrm>
        </p:spPr>
        <p:txBody>
          <a:bodyPr>
            <a:normAutofit/>
          </a:bodyPr>
          <a:lstStyle/>
          <a:p>
            <a:r>
              <a:rPr lang="en-US" sz="2000" dirty="0"/>
              <a:t>Ideally, we see humans and algorithms collaborate to capitalize on relative strengths of each</a:t>
            </a:r>
          </a:p>
          <a:p>
            <a:endParaRPr lang="en-US" sz="2000" dirty="0"/>
          </a:p>
          <a:p>
            <a:r>
              <a:rPr lang="en-US" sz="2000" dirty="0"/>
              <a:t>What would such a system look like?</a:t>
            </a:r>
          </a:p>
          <a:p>
            <a:endParaRPr lang="en-US" sz="2000" dirty="0"/>
          </a:p>
          <a:p>
            <a:r>
              <a:rPr lang="en-US" sz="2000" dirty="0"/>
              <a:t>We will cover this in detail next Thursday</a:t>
            </a:r>
          </a:p>
        </p:txBody>
      </p:sp>
      <p:sp>
        <p:nvSpPr>
          <p:cNvPr id="5" name="Date Placeholder 4">
            <a:extLst>
              <a:ext uri="{FF2B5EF4-FFF2-40B4-BE49-F238E27FC236}">
                <a16:creationId xmlns:a16="http://schemas.microsoft.com/office/drawing/2014/main" id="{142DB7E2-55A8-D376-A2C3-E27DB34F79EE}"/>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3F5E22CB-2D2E-B952-5902-7EBE307363A8}"/>
              </a:ext>
            </a:extLst>
          </p:cNvPr>
          <p:cNvSpPr>
            <a:spLocks noGrp="1"/>
          </p:cNvSpPr>
          <p:nvPr>
            <p:ph type="sldNum" sz="quarter" idx="12"/>
          </p:nvPr>
        </p:nvSpPr>
        <p:spPr/>
        <p:txBody>
          <a:bodyPr/>
          <a:lstStyle/>
          <a:p>
            <a:fld id="{8A7A6979-0714-4377-B894-6BE4C2D6E202}" type="slidenum">
              <a:rPr lang="en-US" smtClean="0"/>
              <a:pPr/>
              <a:t>41</a:t>
            </a:fld>
            <a:endParaRPr lang="en-US" dirty="0"/>
          </a:p>
        </p:txBody>
      </p:sp>
    </p:spTree>
    <p:extLst>
      <p:ext uri="{BB962C8B-B14F-4D97-AF65-F5344CB8AC3E}">
        <p14:creationId xmlns:p14="http://schemas.microsoft.com/office/powerpoint/2010/main" val="3694304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20632-A2E3-1944-71FC-E568ED701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2B63E-CD57-A195-E7AC-C32CC84509E5}"/>
              </a:ext>
            </a:extLst>
          </p:cNvPr>
          <p:cNvSpPr>
            <a:spLocks noGrp="1"/>
          </p:cNvSpPr>
          <p:nvPr>
            <p:ph type="ctrTitle"/>
          </p:nvPr>
        </p:nvSpPr>
        <p:spPr>
          <a:xfrm>
            <a:off x="2647199" y="1501742"/>
            <a:ext cx="7300940" cy="664797"/>
          </a:xfrm>
        </p:spPr>
        <p:txBody>
          <a:bodyPr/>
          <a:lstStyle/>
          <a:p>
            <a:r>
              <a:rPr lang="en-US" dirty="0"/>
              <a:t>Questions</a:t>
            </a:r>
          </a:p>
        </p:txBody>
      </p:sp>
      <p:sp>
        <p:nvSpPr>
          <p:cNvPr id="4" name="Date Placeholder 3">
            <a:extLst>
              <a:ext uri="{FF2B5EF4-FFF2-40B4-BE49-F238E27FC236}">
                <a16:creationId xmlns:a16="http://schemas.microsoft.com/office/drawing/2014/main" id="{BE193A8B-43B8-E1D4-EF65-399409336BAB}"/>
              </a:ext>
            </a:extLst>
          </p:cNvPr>
          <p:cNvSpPr>
            <a:spLocks noGrp="1"/>
          </p:cNvSpPr>
          <p:nvPr>
            <p:ph type="dt" sz="half" idx="10"/>
          </p:nvPr>
        </p:nvSpPr>
        <p:spPr/>
        <p:txBody>
          <a:bodyPr/>
          <a:lstStyle/>
          <a:p>
            <a:fld id="{D47A9A36-4EB0-BF46-AE48-7CDA251B954B}" type="datetime1">
              <a:rPr lang="en-US" smtClean="0"/>
              <a:pPr/>
              <a:t>11/26/2025</a:t>
            </a:fld>
            <a:endParaRPr lang="en-US" dirty="0"/>
          </a:p>
        </p:txBody>
      </p:sp>
      <p:sp>
        <p:nvSpPr>
          <p:cNvPr id="5" name="Slide Number Placeholder 4">
            <a:extLst>
              <a:ext uri="{FF2B5EF4-FFF2-40B4-BE49-F238E27FC236}">
                <a16:creationId xmlns:a16="http://schemas.microsoft.com/office/drawing/2014/main" id="{FAE1155F-C0B9-261E-0A2E-D3E898D44814}"/>
              </a:ext>
            </a:extLst>
          </p:cNvPr>
          <p:cNvSpPr>
            <a:spLocks noGrp="1"/>
          </p:cNvSpPr>
          <p:nvPr>
            <p:ph type="sldNum" sz="quarter" idx="12"/>
          </p:nvPr>
        </p:nvSpPr>
        <p:spPr/>
        <p:txBody>
          <a:bodyPr/>
          <a:lstStyle/>
          <a:p>
            <a:fld id="{8A7A6979-0714-4377-B894-6BE4C2D6E202}" type="slidenum">
              <a:rPr lang="en-US" smtClean="0"/>
              <a:pPr/>
              <a:t>42</a:t>
            </a:fld>
            <a:endParaRPr lang="en-US" dirty="0"/>
          </a:p>
        </p:txBody>
      </p:sp>
    </p:spTree>
    <p:extLst>
      <p:ext uri="{BB962C8B-B14F-4D97-AF65-F5344CB8AC3E}">
        <p14:creationId xmlns:p14="http://schemas.microsoft.com/office/powerpoint/2010/main" val="2869419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9BFCD-77BC-16D1-2F4A-7253B9BA2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84881-2088-A980-B614-CEBC3F4D5954}"/>
              </a:ext>
            </a:extLst>
          </p:cNvPr>
          <p:cNvSpPr>
            <a:spLocks noGrp="1"/>
          </p:cNvSpPr>
          <p:nvPr>
            <p:ph type="ctrTitle"/>
          </p:nvPr>
        </p:nvSpPr>
        <p:spPr/>
        <p:txBody>
          <a:bodyPr/>
          <a:lstStyle/>
          <a:p>
            <a:r>
              <a:rPr lang="en-US" dirty="0"/>
              <a:t>Administrative</a:t>
            </a:r>
          </a:p>
        </p:txBody>
      </p:sp>
      <p:sp>
        <p:nvSpPr>
          <p:cNvPr id="10" name="Text Placeholder 9">
            <a:extLst>
              <a:ext uri="{FF2B5EF4-FFF2-40B4-BE49-F238E27FC236}">
                <a16:creationId xmlns:a16="http://schemas.microsoft.com/office/drawing/2014/main" id="{2D87211E-87D0-64C7-ECB8-EBC04536663B}"/>
              </a:ext>
            </a:extLst>
          </p:cNvPr>
          <p:cNvSpPr>
            <a:spLocks noGrp="1"/>
          </p:cNvSpPr>
          <p:nvPr>
            <p:ph type="body" sz="quarter" idx="14"/>
          </p:nvPr>
        </p:nvSpPr>
        <p:spPr>
          <a:xfrm>
            <a:off x="1957778" y="1447990"/>
            <a:ext cx="8850430" cy="3986651"/>
          </a:xfrm>
        </p:spPr>
        <p:txBody>
          <a:bodyPr>
            <a:normAutofit/>
          </a:bodyPr>
          <a:lstStyle/>
          <a:p>
            <a:r>
              <a:rPr lang="en-US" sz="2000" dirty="0"/>
              <a:t>I will distribute surveys tomorrow morning</a:t>
            </a:r>
          </a:p>
          <a:p>
            <a:endParaRPr lang="en-US" sz="2000" dirty="0"/>
          </a:p>
          <a:p>
            <a:r>
              <a:rPr lang="en-US" sz="2000" dirty="0"/>
              <a:t>Please take them!</a:t>
            </a:r>
          </a:p>
          <a:p>
            <a:endParaRPr lang="en-US" sz="2000" dirty="0"/>
          </a:p>
          <a:p>
            <a:r>
              <a:rPr lang="en-US" sz="2000" dirty="0"/>
              <a:t>Have a great thanksgiving holiday!</a:t>
            </a:r>
          </a:p>
        </p:txBody>
      </p:sp>
      <p:sp>
        <p:nvSpPr>
          <p:cNvPr id="5" name="Date Placeholder 4">
            <a:extLst>
              <a:ext uri="{FF2B5EF4-FFF2-40B4-BE49-F238E27FC236}">
                <a16:creationId xmlns:a16="http://schemas.microsoft.com/office/drawing/2014/main" id="{9F45B2A7-9489-F4F4-5E7F-80756130FB06}"/>
              </a:ext>
            </a:extLst>
          </p:cNvPr>
          <p:cNvSpPr>
            <a:spLocks noGrp="1"/>
          </p:cNvSpPr>
          <p:nvPr>
            <p:ph type="dt" sz="half" idx="10"/>
          </p:nvPr>
        </p:nvSpPr>
        <p:spPr/>
        <p:txBody>
          <a:bodyPr/>
          <a:lstStyle/>
          <a:p>
            <a:fld id="{D47A9A36-4EB0-BF46-AE48-7CDA251B954B}" type="datetime1">
              <a:rPr lang="en-US" smtClean="0"/>
              <a:t>11/26/2025</a:t>
            </a:fld>
            <a:endParaRPr lang="en-US" dirty="0"/>
          </a:p>
        </p:txBody>
      </p:sp>
      <p:sp>
        <p:nvSpPr>
          <p:cNvPr id="6" name="Slide Number Placeholder 5">
            <a:extLst>
              <a:ext uri="{FF2B5EF4-FFF2-40B4-BE49-F238E27FC236}">
                <a16:creationId xmlns:a16="http://schemas.microsoft.com/office/drawing/2014/main" id="{59589A80-DA2F-526A-4FEC-0F1353F3E748}"/>
              </a:ext>
            </a:extLst>
          </p:cNvPr>
          <p:cNvSpPr>
            <a:spLocks noGrp="1"/>
          </p:cNvSpPr>
          <p:nvPr>
            <p:ph type="sldNum" sz="quarter" idx="12"/>
          </p:nvPr>
        </p:nvSpPr>
        <p:spPr/>
        <p:txBody>
          <a:bodyPr/>
          <a:lstStyle/>
          <a:p>
            <a:fld id="{8A7A6979-0714-4377-B894-6BE4C2D6E202}" type="slidenum">
              <a:rPr lang="en-US" smtClean="0"/>
              <a:pPr/>
              <a:t>43</a:t>
            </a:fld>
            <a:endParaRPr lang="en-US" dirty="0"/>
          </a:p>
        </p:txBody>
      </p:sp>
    </p:spTree>
    <p:extLst>
      <p:ext uri="{BB962C8B-B14F-4D97-AF65-F5344CB8AC3E}">
        <p14:creationId xmlns:p14="http://schemas.microsoft.com/office/powerpoint/2010/main" val="2752533497"/>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36930</TotalTime>
  <Words>2687</Words>
  <Application>Microsoft Office PowerPoint</Application>
  <PresentationFormat>Widescreen</PresentationFormat>
  <Paragraphs>651</Paragraphs>
  <Slides>43</Slides>
  <Notes>40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43</vt:i4>
      </vt:variant>
    </vt:vector>
  </HeadingPairs>
  <TitlesOfParts>
    <vt:vector size="56" baseType="lpstr">
      <vt:lpstr>Impact</vt:lpstr>
      <vt:lpstr>Franklin Gothic Medium</vt:lpstr>
      <vt:lpstr>Times New Roman</vt:lpstr>
      <vt:lpstr>Franklin Gothic Book</vt:lpstr>
      <vt:lpstr>Wingdings</vt:lpstr>
      <vt:lpstr>Calibri</vt:lpstr>
      <vt:lpstr>United Sans Rg Md</vt:lpstr>
      <vt:lpstr>Arial</vt:lpstr>
      <vt:lpstr>Franklin Gothic Demi</vt:lpstr>
      <vt:lpstr>Acumin Pro</vt:lpstr>
      <vt:lpstr>Aptos Slab</vt:lpstr>
      <vt:lpstr>Cambria Math</vt:lpstr>
      <vt:lpstr>Purdue2</vt:lpstr>
      <vt:lpstr>Digital product design</vt:lpstr>
      <vt:lpstr>Outline</vt:lpstr>
      <vt:lpstr>What makes for good decision making</vt:lpstr>
      <vt:lpstr>Promise of Algorithmic Decision Making</vt:lpstr>
      <vt:lpstr>Many Well-Documented Human Prediction Errors</vt:lpstr>
      <vt:lpstr>Human Prediction Errors: Conjunction Fallacy</vt:lpstr>
      <vt:lpstr>Human Prediction Errors: Conjunction Fallacy, Continued</vt:lpstr>
      <vt:lpstr>Human Prediction Errors: Base Rate Neglect</vt:lpstr>
      <vt:lpstr>Bayes Rule</vt:lpstr>
      <vt:lpstr>Human Prediction Errors: Base Rate Neglect, Continued</vt:lpstr>
      <vt:lpstr>Human Prediction Errors: Noise</vt:lpstr>
      <vt:lpstr>Human Prediction Noise: Emotional Judges</vt:lpstr>
      <vt:lpstr>Comparative Advantage of Humans vs Algorithm</vt:lpstr>
      <vt:lpstr>Promise of Algorithmic Decisions</vt:lpstr>
      <vt:lpstr>Why Algorithmic Decisions?</vt:lpstr>
      <vt:lpstr>How to Evaluate Decisions?</vt:lpstr>
      <vt:lpstr>Example 1: Medical Testing</vt:lpstr>
      <vt:lpstr>Train Algorithm to Predict Positive Test</vt:lpstr>
      <vt:lpstr>Step 1: Show Algorithm Has Signal</vt:lpstr>
      <vt:lpstr>Step 2: Compare Algorithm Decisions to Human Decisions</vt:lpstr>
      <vt:lpstr>Example 2: Pre-trial Release Decision</vt:lpstr>
      <vt:lpstr>Train an Algorithm to Automate Judge Decision</vt:lpstr>
      <vt:lpstr>Step 1: Show Algorithm Contains Some Signal Again</vt:lpstr>
      <vt:lpstr>Step 2: Compare Algorithm Decisions to Human Decisions Again</vt:lpstr>
      <vt:lpstr>Choosing A Release Threshold</vt:lpstr>
      <vt:lpstr>Evaluating Algorithm Decisions</vt:lpstr>
      <vt:lpstr>Evaluating Algorithm Decisions, Continued</vt:lpstr>
      <vt:lpstr>Promise of Algorithmic Decision Making for Machine Decisions</vt:lpstr>
      <vt:lpstr>Challenges with algorithmic Decisions</vt:lpstr>
      <vt:lpstr>List of Challenges with Algorithmic Decisions</vt:lpstr>
      <vt:lpstr>Concerns Over Algorithmic Bias</vt:lpstr>
      <vt:lpstr>Algorithms Can be Designed to Satisfy Fairness Criteria</vt:lpstr>
      <vt:lpstr>Recall Two Alternatives Considered</vt:lpstr>
      <vt:lpstr>Algorithms Can be Designed to Satisfy Fairness Criteria, Part 2</vt:lpstr>
      <vt:lpstr>Algorithms Can be Designed to Satisfy Fairness Criteria, Part 3</vt:lpstr>
      <vt:lpstr>Algorithms Can be Designed to Satisfy Fairness Criteria, Part 4</vt:lpstr>
      <vt:lpstr>Formal Notions of Algorithmic Fairness</vt:lpstr>
      <vt:lpstr>Theoretical Result</vt:lpstr>
      <vt:lpstr>Group exercise</vt:lpstr>
      <vt:lpstr>Private Information vs. Information Processing</vt:lpstr>
      <vt:lpstr>Can We Get Best of Both Worlds?</vt:lpstr>
      <vt:lpstr>Questions</vt:lpstr>
      <vt:lpstr>Administrative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4197</cp:revision>
  <dcterms:created xsi:type="dcterms:W3CDTF">2024-07-15T17:50:06Z</dcterms:created>
  <dcterms:modified xsi:type="dcterms:W3CDTF">2025-11-26T18:08:13Z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