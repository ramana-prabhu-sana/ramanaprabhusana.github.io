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45"/>
  </p:notesMasterIdLst>
  <p:sldIdLst>
    <p:sldId id="257" r:id="rId2"/>
    <p:sldId id="546" r:id="rId3"/>
    <p:sldId id="421" r:id="rId4"/>
    <p:sldId id="617" r:id="rId5"/>
    <p:sldId id="618" r:id="rId6"/>
    <p:sldId id="619" r:id="rId7"/>
    <p:sldId id="620" r:id="rId8"/>
    <p:sldId id="621" r:id="rId9"/>
    <p:sldId id="658" r:id="rId10"/>
    <p:sldId id="624" r:id="rId11"/>
    <p:sldId id="625" r:id="rId12"/>
    <p:sldId id="626" r:id="rId13"/>
    <p:sldId id="393" r:id="rId14"/>
    <p:sldId id="659" r:id="rId15"/>
    <p:sldId id="630" r:id="rId16"/>
    <p:sldId id="631" r:id="rId17"/>
    <p:sldId id="597" r:id="rId18"/>
    <p:sldId id="627" r:id="rId19"/>
    <p:sldId id="628" r:id="rId20"/>
    <p:sldId id="629" r:id="rId21"/>
    <p:sldId id="632" r:id="rId22"/>
    <p:sldId id="633" r:id="rId23"/>
    <p:sldId id="637" r:id="rId24"/>
    <p:sldId id="642" r:id="rId25"/>
    <p:sldId id="660" r:id="rId26"/>
    <p:sldId id="643" r:id="rId27"/>
    <p:sldId id="634" r:id="rId28"/>
    <p:sldId id="638" r:id="rId29"/>
    <p:sldId id="639" r:id="rId30"/>
    <p:sldId id="640" r:id="rId31"/>
    <p:sldId id="635" r:id="rId32"/>
    <p:sldId id="641" r:id="rId33"/>
    <p:sldId id="644" r:id="rId34"/>
    <p:sldId id="648" r:id="rId35"/>
    <p:sldId id="646" r:id="rId36"/>
    <p:sldId id="649" r:id="rId37"/>
    <p:sldId id="647" r:id="rId38"/>
    <p:sldId id="657" r:id="rId39"/>
    <p:sldId id="650" r:id="rId40"/>
    <p:sldId id="651" r:id="rId41"/>
    <p:sldId id="652" r:id="rId42"/>
    <p:sldId id="653" r:id="rId43"/>
    <p:sldId id="615" r:id="rId44"/>
  </p:sldIdLst>
  <p:sldSz cx="12192000" cy="6858000"/>
  <p:notesSz cx="6858000" cy="9144000"/>
  <p:embeddedFontLst>
    <p:embeddedFont>
      <p:font typeface="Acumin Pro" panose="020B0604020202020204" charset="0"/>
      <p:regular r:id="rId46"/>
      <p:bold r:id="rId47"/>
      <p:italic r:id="rId48"/>
      <p:boldItalic r:id="rId49"/>
    </p:embeddedFont>
    <p:embeddedFont>
      <p:font typeface="Cambria Math" panose="02040503050406030204" pitchFamily="18" charset="0"/>
      <p:regular r:id="rId50"/>
    </p:embeddedFont>
    <p:embeddedFont>
      <p:font typeface="Franklin Gothic Book" panose="020B0503020102020204" pitchFamily="34" charset="0"/>
      <p:regular r:id="rId51"/>
      <p:italic r:id="rId52"/>
    </p:embeddedFont>
    <p:embeddedFont>
      <p:font typeface="Franklin Gothic Demi" panose="020B0703020102020204" pitchFamily="34" charset="0"/>
      <p:regular r:id="rId53"/>
      <p:bold r:id="rId54"/>
      <p:italic r:id="rId55"/>
      <p:boldItalic r:id="rId56"/>
    </p:embeddedFont>
    <p:embeddedFont>
      <p:font typeface="Franklin Gothic Medium" panose="020B0603020102020204" pitchFamily="34" charset="0"/>
      <p:regular r:id="rId57"/>
      <p:italic r:id="rId58"/>
    </p:embeddedFont>
    <p:embeddedFont>
      <p:font typeface="Impact" panose="020B0806030902050204" pitchFamily="34" charset="0"/>
      <p:regular r:id="rId59"/>
    </p:embeddedFont>
    <p:embeddedFont>
      <p:font typeface="United Sans Rg Md" pitchFamily="50" charset="0"/>
      <p:regular r:id="rId6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260F91-3CF8-E94C-BCD6-AEBAF2922BBA}" v="126" dt="2025-11-11T14:20:10.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923" autoAdjust="0"/>
  </p:normalViewPr>
  <p:slideViewPr>
    <p:cSldViewPr snapToGrid="0">
      <p:cViewPr varScale="1">
        <p:scale>
          <a:sx n="60" d="100"/>
          <a:sy n="60" d="100"/>
        </p:scale>
        <p:origin x="2064" y="28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font" Target="fonts/font15.fntdata"/><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0DC1-84DB-23D1-69D6-0E4663B7C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9ECEE-90FE-B085-2E84-C82359BC6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A7858-951A-ED6D-E134-DCFF9C60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D5DB39-CE94-F7F7-E692-79D8ACF217F5}"/>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90994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35D1-AA1B-4381-9FA6-CA22F1535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92197-142F-8BA3-B2F6-AA3D17D3C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C9B19-7517-53A9-A65C-EB95B7A882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4F8D3D-A363-AB75-D4F7-E61E051D54C3}"/>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629920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71C7-3613-D2E9-A02E-F5BCEE57D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66358-4756-53F2-3181-A2B90D480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D73CF-7DA2-6125-98D8-B381783A04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283BA8-0E60-5838-59F2-4DF44D6E8AEF}"/>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8580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7A9E9-C56B-A146-3C2B-093367EB6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08737-683D-5FD3-9E9E-EB6C153AA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A2AE9-B23D-F6ED-46A1-A7A17190D22B}"/>
              </a:ext>
            </a:extLst>
          </p:cNvPr>
          <p:cNvSpPr>
            <a:spLocks noGrp="1"/>
          </p:cNvSpPr>
          <p:nvPr>
            <p:ph type="body" idx="1"/>
          </p:nvPr>
        </p:nvSpPr>
        <p:spPr/>
        <p:txBody>
          <a:bodyPr/>
          <a:lstStyle/>
          <a:p>
            <a:pPr>
              <a:buFont typeface="Arial" panose="020B0604020202020204" pitchFamily="34" charset="0"/>
              <a:buChar char="•"/>
            </a:pPr>
            <a:r>
              <a:rPr lang="en-US" sz="1800">
                <a:effectLst/>
                <a:latin typeface="Times New Roman" panose="02020603050405020304" pitchFamily="18" charset="0"/>
                <a:cs typeface="Times New Roman" panose="02020603050405020304" pitchFamily="18" charset="0"/>
              </a:rPr>
              <a:t>Pet Rocks were a 1970s fad conceived by Los Gatos, California advertising executive Gary Dahl. Pebbles, imported from </a:t>
            </a:r>
            <a:r>
              <a:rPr lang="en-US" sz="1800" err="1">
                <a:effectLst/>
                <a:latin typeface="Times New Roman" panose="02020603050405020304" pitchFamily="18" charset="0"/>
                <a:cs typeface="Times New Roman" panose="02020603050405020304" pitchFamily="18" charset="0"/>
              </a:rPr>
              <a:t>Rosarito</a:t>
            </a:r>
            <a:r>
              <a:rPr lang="en-US" sz="1800">
                <a:effectLst/>
                <a:latin typeface="Times New Roman" panose="02020603050405020304" pitchFamily="18" charset="0"/>
                <a:cs typeface="Times New Roman" panose="02020603050405020304" pitchFamily="18" charset="0"/>
              </a:rPr>
              <a:t> Beach in Baja California, Mexico, were swaddled in excelsior, nestled in a small cardboard box similar to a pet carrier, and included a ‘Pet Rock Training Manual.’ The cost was pennies. The fad peaked in the Christmas season in December 1975, but in its short run, the Pet Rock made Dahl a millionaire, by selling Pet Rocks at $3.95 each. Cost- based pricing would have missed the value created. </a:t>
            </a:r>
          </a:p>
          <a:p>
            <a:pPr>
              <a:buFont typeface="Arial" panose="020B0604020202020204" pitchFamily="34" charset="0"/>
              <a:buChar char="•"/>
            </a:pPr>
            <a:endParaRPr lang="en-US" sz="1800">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AA0D617-2F21-EBCA-BC16-6932326AF3A6}"/>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1248081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D70F-2937-6F70-2432-940953187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C6F9A-9ADB-D36A-9F5C-99C68818F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0B4B7-653C-51A0-FB7A-03C5BD77BA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92EA1F-C074-C04C-8421-68661A3A2A23}"/>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1768997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B1F99-0BA4-B967-F654-08F795505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AAA61-AC03-C17F-8EEF-88573C105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674EB-C177-95AE-47E6-3991D028AD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7F0B73-7FF4-E9C6-C2FE-1F7AED56FE64}"/>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162336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F9AA-F7E6-C4A3-7B26-4247DA02F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EB1A2-D965-00DF-758D-E5339718C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51C28-8C6E-35E8-0CD1-6154EE9DA6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6C32C0-D47A-1417-5DF6-3856709F03D5}"/>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3735545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50F63-F516-D97A-2999-1A5EA2E33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CE574-DB20-0531-337D-15E2F8DFF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36858-8DDD-71FC-02CA-6723ABB031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8F690F-316C-ADA8-E9ED-80435B4E1509}"/>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1186733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graph showing price (P) versus quantity (Q) with a downward-sloping demand curve (D) and a horizontal marginal cost (MC) line. The area above MC and below demand is divided into consumer surplus (brown), producer surplus (black), and deadweight loss (DWL), illustrating inefficiency when price exceeds marginal cost.</a:t>
            </a:r>
          </a:p>
        </p:txBody>
      </p:sp>
      <p:sp>
        <p:nvSpPr>
          <p:cNvPr id="4" name="Slide Number Placeholder 3"/>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169716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86245-5EB3-20B2-A1D3-1C3351F62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FA439-F0FE-C719-43D8-6EC1A653A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B3A9D-EF84-6356-8850-85379B04CE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42F76F-6AA9-2933-1B8D-71203A1EFD7B}"/>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4276787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169716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9916-897B-FCF8-1F09-B909AE0FB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1AC8A-8E45-62D7-E27C-647C3EA5A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393D6-2EE2-35B4-EF0A-2BB0BAC2E0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4367A8-5E8F-3CAD-D9C4-FC53BED034C7}"/>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987369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0B24F-3031-5C2B-4C73-2DD9F6D6E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11D80-6701-6AAC-E9E2-7CB358A0E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5EB5A-A3D4-021B-B3A4-EA54F18E10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0B2F28-779B-1E6F-4AB6-14B7E0EEC3C9}"/>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4063541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88F5A-B007-C706-673C-88EC90C81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CEDFF-FD8E-34D3-6615-CCD3789BF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D6E09-0E5B-0206-1EC9-B4261AE2D8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29CD88-4F61-23D6-052B-878173BFBCE6}"/>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478974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3278213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35C8-3083-AE1A-E55A-91BD545C8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CB320-0849-2E8B-C1A0-295FB2A32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09D2B-E86E-CF50-5CE0-6FC7DC4F7B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6CF0D6-11F1-9725-6470-C88A85356D2D}"/>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741812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4BD2-A65E-87F8-A3BB-E8A431758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B0019-C977-D536-A901-BF129753B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B6D0C-8036-5C65-62CA-5E2D87C129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259CA9-558C-C2A7-FD05-C07B743C0AB4}"/>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23988476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96A4-492D-08BF-8C03-32046D04A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CA0F4-EDBC-4104-FA6D-4AB613C43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EF4C3-13AC-651E-8047-CD14F00057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11AA6F-B733-4A53-1769-926BFD2643A6}"/>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2292758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FAF3-D66F-620A-C9FC-602114E5B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10694-74EE-49C6-12F2-31799AD3C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59D72-BFF5-6843-2016-C5B677EA04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78B186-F824-F83E-639C-A555D2ED7F67}"/>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2615011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7983-2A4B-DB8D-7156-C2174AA63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5BE0C-FAB1-56AF-0E2B-E241DF345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0829F-1718-E222-573C-DA9AD8A8B9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9685ED-9F34-E7BB-8F1D-D4999E2BF5F4}"/>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939479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36B2-FF77-383A-38E8-3F7323E4F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556E3-D72E-AA72-36A8-D54A77A70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E99C9-8EAA-E9F3-2B14-42F62BB9BF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6BAD1D-289E-C69E-AB96-3838EFE751A0}"/>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3509234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BE08-A85A-09C7-A5D5-33612C75E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8AC24-FE27-DBD4-DCD5-5027AEF01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4B2E2-0428-640C-58A0-AC54E7CA27A7}"/>
              </a:ext>
            </a:extLst>
          </p:cNvPr>
          <p:cNvSpPr>
            <a:spLocks noGrp="1"/>
          </p:cNvSpPr>
          <p:nvPr>
            <p:ph type="body" idx="1"/>
          </p:nvPr>
        </p:nvSpPr>
        <p:spPr/>
        <p:txBody>
          <a:bodyPr/>
          <a:lstStyle/>
          <a:p>
            <a:r>
              <a:rPr lang="en-US"/>
              <a:t>Exists offline too, hardcover then softcover books. First class vs economy. Easier online</a:t>
            </a:r>
          </a:p>
        </p:txBody>
      </p:sp>
      <p:sp>
        <p:nvSpPr>
          <p:cNvPr id="4" name="Slide Number Placeholder 3">
            <a:extLst>
              <a:ext uri="{FF2B5EF4-FFF2-40B4-BE49-F238E27FC236}">
                <a16:creationId xmlns:a16="http://schemas.microsoft.com/office/drawing/2014/main" id="{7ACE9908-FCDB-C9F9-F5B5-A300181078DC}"/>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1733481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991C-27EA-59EA-931B-E831872A4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D091B-3E76-B883-B85C-91856249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9B723-20F0-58E6-AA6A-E8DC17139756}"/>
              </a:ext>
            </a:extLst>
          </p:cNvPr>
          <p:cNvSpPr>
            <a:spLocks noGrp="1"/>
          </p:cNvSpPr>
          <p:nvPr>
            <p:ph type="body" idx="1"/>
          </p:nvPr>
        </p:nvSpPr>
        <p:spPr/>
        <p:txBody>
          <a:bodyPr/>
          <a:lstStyle/>
          <a:p>
            <a:r>
              <a:rPr lang="en-US"/>
              <a:t>Exists offline too, hardcover then softcover books. First class vs economy. Easier online</a:t>
            </a:r>
          </a:p>
        </p:txBody>
      </p:sp>
      <p:sp>
        <p:nvSpPr>
          <p:cNvPr id="4" name="Slide Number Placeholder 3">
            <a:extLst>
              <a:ext uri="{FF2B5EF4-FFF2-40B4-BE49-F238E27FC236}">
                <a16:creationId xmlns:a16="http://schemas.microsoft.com/office/drawing/2014/main" id="{60462387-D106-0A83-8037-F66DCC293EC5}"/>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1159959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476C-231A-E281-E864-EDEB46898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BA532-AAB5-9B18-F9CE-212C634E2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86553-FCBA-1EE0-E6F1-D22434B53272}"/>
              </a:ext>
            </a:extLst>
          </p:cNvPr>
          <p:cNvSpPr>
            <a:spLocks noGrp="1"/>
          </p:cNvSpPr>
          <p:nvPr>
            <p:ph type="body" idx="1"/>
          </p:nvPr>
        </p:nvSpPr>
        <p:spPr/>
        <p:txBody>
          <a:bodyPr/>
          <a:lstStyle/>
          <a:p>
            <a:r>
              <a:rPr lang="en-US"/>
              <a:t>Exists offline too, hardcover then softcover books. First class vs economy. Easier online</a:t>
            </a:r>
          </a:p>
        </p:txBody>
      </p:sp>
      <p:sp>
        <p:nvSpPr>
          <p:cNvPr id="4" name="Slide Number Placeholder 3">
            <a:extLst>
              <a:ext uri="{FF2B5EF4-FFF2-40B4-BE49-F238E27FC236}">
                <a16:creationId xmlns:a16="http://schemas.microsoft.com/office/drawing/2014/main" id="{8F9BB10A-717E-4D33-DEC0-00376A2B50D9}"/>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18012892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CC582-C009-6897-A816-D1926E277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9D8C3-DE22-C855-E8BD-25E0A437D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2952E5-29E4-273A-3B7D-2F72D65573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4E9BBC-06C0-4CF9-6007-21D7EAE498BF}"/>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1814157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FDB6B-CD91-FB2D-BBF6-CD9E6047E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9F111-1CF5-958C-37AB-A563013F5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A0534-DFA8-D18E-5F2F-B2DADFEF45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B639BC-7062-8CA7-EEF3-EFA9C1D71BA9}"/>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2572835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6475D-4851-653C-AF36-117B88D17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E86E7-A2FF-6ED8-5274-5333B62EF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6FCDF-2C24-A823-C639-30DC555C6B90}"/>
              </a:ext>
            </a:extLst>
          </p:cNvPr>
          <p:cNvSpPr>
            <a:spLocks noGrp="1"/>
          </p:cNvSpPr>
          <p:nvPr>
            <p:ph type="body" idx="1"/>
          </p:nvPr>
        </p:nvSpPr>
        <p:spPr/>
        <p:txBody>
          <a:bodyPr/>
          <a:lstStyle/>
          <a:p>
            <a:r>
              <a:rPr lang="en-US"/>
              <a:t>Sales go from 50/50 to 30/60/10</a:t>
            </a:r>
          </a:p>
        </p:txBody>
      </p:sp>
      <p:sp>
        <p:nvSpPr>
          <p:cNvPr id="4" name="Slide Number Placeholder 3">
            <a:extLst>
              <a:ext uri="{FF2B5EF4-FFF2-40B4-BE49-F238E27FC236}">
                <a16:creationId xmlns:a16="http://schemas.microsoft.com/office/drawing/2014/main" id="{708EE386-260E-8E22-8381-D356658DF55B}"/>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2206142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4F56-4386-E885-5965-00D7A2919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8763F-3BEE-1433-CC0F-7A8F18186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FBD8D4-6020-1952-2085-F6147162DDA4}"/>
              </a:ext>
            </a:extLst>
          </p:cNvPr>
          <p:cNvSpPr>
            <a:spLocks noGrp="1"/>
          </p:cNvSpPr>
          <p:nvPr>
            <p:ph type="body" idx="1"/>
          </p:nvPr>
        </p:nvSpPr>
        <p:spPr/>
        <p:txBody>
          <a:bodyPr/>
          <a:lstStyle/>
          <a:p>
            <a:r>
              <a:rPr lang="en-US"/>
              <a:t>Sales go from 50/50 to 30/60/10</a:t>
            </a:r>
          </a:p>
        </p:txBody>
      </p:sp>
      <p:sp>
        <p:nvSpPr>
          <p:cNvPr id="4" name="Slide Number Placeholder 3">
            <a:extLst>
              <a:ext uri="{FF2B5EF4-FFF2-40B4-BE49-F238E27FC236}">
                <a16:creationId xmlns:a16="http://schemas.microsoft.com/office/drawing/2014/main" id="{3B6E71E1-CCEF-F219-1AE2-160A4C4036EA}"/>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64828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F4AE-76FE-CB86-A330-9641CFD35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E84D9-951B-D66B-AAE2-7A27FAC5FE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FA653-9874-318C-1CCC-F33CCCFECB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6CB3E5-E18B-D05E-53C3-5058A82009D9}"/>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6190555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A4CC-D0D1-4243-A942-057228AF1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76915-804C-DE87-02E4-E7EEC2E5A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793DA-4638-7A9E-B3C3-877D609E7C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4AE74A-DD67-BE15-AC36-A7E0FE1B63FC}"/>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41397845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9889B-EF70-C393-ED9C-14D998D12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F0B7C-9ADA-FA60-52EC-C69FFFF36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3DFE0-4298-A9FB-4BBE-8AEA11D599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3B2056-10A2-A902-692C-6745A80389C7}"/>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35024242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E13B8-C45D-7BF8-B987-263933960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ABA65-D862-C037-0788-09DC40002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B72D4-BEB4-956C-2EDE-933BA5BD72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FE7C85-DD83-A0BE-27D5-359BC8734AF2}"/>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32890599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02E8A-87B3-68EE-F3B2-29A44CBA4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2A463-183A-81AC-0674-79FE0C976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76C76-A71C-9C8A-7C00-DEA2257D95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8AB729-2AEA-4741-47EC-0C70CF09F74C}"/>
              </a:ext>
            </a:extLst>
          </p:cNvPr>
          <p:cNvSpPr>
            <a:spLocks noGrp="1"/>
          </p:cNvSpPr>
          <p:nvPr>
            <p:ph type="sldNum" sz="quarter" idx="5"/>
          </p:nvPr>
        </p:nvSpPr>
        <p:spPr/>
        <p:txBody>
          <a:bodyPr/>
          <a:lstStyle/>
          <a:p>
            <a:fld id="{988F3A2B-14A6-8F47-B753-A658CA12576A}" type="slidenum">
              <a:rPr lang="en-US" smtClean="0"/>
              <a:t>35</a:t>
            </a:fld>
            <a:endParaRPr lang="en-US"/>
          </a:p>
        </p:txBody>
      </p:sp>
    </p:spTree>
    <p:extLst>
      <p:ext uri="{BB962C8B-B14F-4D97-AF65-F5344CB8AC3E}">
        <p14:creationId xmlns:p14="http://schemas.microsoft.com/office/powerpoint/2010/main" val="29100134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6DB20-65E8-604C-6D63-A8051B947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1E97E-C4C2-646C-D5AA-98A01AFEB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AEC3E-1802-2CF2-813C-F6ADD7AE71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2DF863-0726-B729-A237-1EC4D188A31F}"/>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41945386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1DB2A-0041-D545-3E91-1F42EAF2E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60FAA-D10D-67A2-1C20-E6BBFAC01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E18E1-EACF-963E-C824-D183DC4E99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DF0D3E-F305-494C-1F1E-6D6168108993}"/>
              </a:ext>
            </a:extLst>
          </p:cNvPr>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36263789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E490-70EE-65F6-9826-A72C07531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FD4EC-CE22-205E-65F1-24CFC4220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52BA1-FF59-9E8D-4472-3C71BFD7DF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82543A-7A83-C933-54F7-3C5F08622897}"/>
              </a:ext>
            </a:extLst>
          </p:cNvPr>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33466823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64D90-DD95-C845-7248-AACD867E1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D6D13-CEAE-E9B5-3EAE-7256DB3B5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5247F-4C61-A918-120D-893D7151BD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84C824-D2D8-0A64-CF05-2C8D7175DCE4}"/>
              </a:ext>
            </a:extLst>
          </p:cNvPr>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1864158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CE83-B671-7C37-6912-7C531EBB4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8175E-055B-C329-DB6C-82F83725F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16791-3642-9D8B-ED49-B2FCC85115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DCB596-2C2E-4746-5C40-4DB7BF8843FB}"/>
              </a:ext>
            </a:extLst>
          </p:cNvPr>
          <p:cNvSpPr>
            <a:spLocks noGrp="1"/>
          </p:cNvSpPr>
          <p:nvPr>
            <p:ph type="sldNum" sz="quarter" idx="5"/>
          </p:nvPr>
        </p:nvSpPr>
        <p:spPr/>
        <p:txBody>
          <a:bodyPr/>
          <a:lstStyle/>
          <a:p>
            <a:fld id="{988F3A2B-14A6-8F47-B753-A658CA12576A}" type="slidenum">
              <a:rPr lang="en-US" smtClean="0"/>
              <a:t>40</a:t>
            </a:fld>
            <a:endParaRPr lang="en-US"/>
          </a:p>
        </p:txBody>
      </p:sp>
    </p:spTree>
    <p:extLst>
      <p:ext uri="{BB962C8B-B14F-4D97-AF65-F5344CB8AC3E}">
        <p14:creationId xmlns:p14="http://schemas.microsoft.com/office/powerpoint/2010/main" val="40886607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27F3-1C6A-0270-2AA8-B03620354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7EB61-96C0-C9BF-4097-02E0EF2C4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0EF44-333E-14B1-4A6F-BC65DD4817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368084-E87E-B7F5-7E70-982DFC3FFA19}"/>
              </a:ext>
            </a:extLst>
          </p:cNvPr>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28913259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FAF7-1D50-ABAF-2FE8-9713EADCA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73CB5-103D-A55A-A0EC-7BA310D97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AD6BF-D1E6-2780-DED7-868506DE52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5D0954-6F5D-B122-2549-C228144B571D}"/>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11711945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88F3A2B-14A6-8F47-B753-A658CA12576A}" type="slidenum">
              <a:rPr lang="en-US" smtClean="0"/>
              <a:t>43</a:t>
            </a:fld>
            <a:endParaRPr lang="en-US"/>
          </a:p>
        </p:txBody>
      </p:sp>
    </p:spTree>
    <p:extLst>
      <p:ext uri="{BB962C8B-B14F-4D97-AF65-F5344CB8AC3E}">
        <p14:creationId xmlns:p14="http://schemas.microsoft.com/office/powerpoint/2010/main" val="2730681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a:solidFill>
                  <a:schemeClr val="accent1"/>
                </a:solidFill>
                <a:effectLst/>
                <a:latin typeface="Acumin Pro" panose="020B0504020202020204" pitchFamily="34" charset="77"/>
              </a:rPr>
              <a:t>https://</a:t>
            </a:r>
            <a:r>
              <a:rPr lang="en-US" err="1">
                <a:solidFill>
                  <a:schemeClr val="accent1"/>
                </a:solidFill>
                <a:effectLst/>
                <a:latin typeface="Acumin Pro" panose="020B0504020202020204" pitchFamily="34" charset="77"/>
              </a:rPr>
              <a:t>support.office.com</a:t>
            </a:r>
            <a:r>
              <a:rPr lang="en-US">
                <a:solidFill>
                  <a:schemeClr val="accent1"/>
                </a:solidFill>
                <a:effectLst/>
                <a:latin typeface="Acumin Pro" panose="020B0504020202020204" pitchFamily="34" charset="77"/>
              </a:rPr>
              <a:t>/</a:t>
            </a:r>
            <a:r>
              <a:rPr lang="en-US" err="1">
                <a:solidFill>
                  <a:schemeClr val="accent1"/>
                </a:solidFill>
                <a:effectLst/>
                <a:latin typeface="Acumin Pro" panose="020B0504020202020204" pitchFamily="34" charset="77"/>
              </a:rPr>
              <a:t>en</a:t>
            </a:r>
            <a:r>
              <a:rPr lang="en-US">
                <a:solidFill>
                  <a:schemeClr val="accent1"/>
                </a:solidFill>
                <a:effectLst/>
                <a:latin typeface="Acumin Pro" panose="020B0504020202020204" pitchFamily="34" charset="77"/>
              </a:rPr>
              <a:t>-us/article/Make-your-PowerPoint-presentations-accessible-6f7772b2-2f33-4bd2-8ca7-dae3b2b3ef25</a:t>
            </a:r>
            <a:endParaRPr lang="en-US">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11/12/2025</a:t>
            </a:fld>
            <a:endParaRPr lang="en-US"/>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11/12/2025</a:t>
            </a:fld>
            <a:endParaRPr lang="en-US"/>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a:t>Bulleted copy. Keep it short with bite-size chunks of information.</a:t>
            </a:r>
          </a:p>
          <a:p>
            <a:pPr lvl="0"/>
            <a:endParaRPr lang="en-US"/>
          </a:p>
          <a:p>
            <a:pPr lvl="0"/>
            <a:r>
              <a:rPr lang="en-US"/>
              <a:t>Bulleted copy. Keep it short with bite-size chunks of information.</a:t>
            </a:r>
          </a:p>
          <a:p>
            <a:pPr lvl="0"/>
            <a:endParaRPr lang="en-US"/>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a:t>Bulleted copy. Keep it short with bite-size chunks of information.</a:t>
            </a:r>
          </a:p>
          <a:p>
            <a:pPr lvl="0"/>
            <a:endParaRPr lang="en-US"/>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a:t>Bulleted copy. Keep it short with bite-size chunks of information.</a:t>
            </a:r>
          </a:p>
          <a:p>
            <a:pPr lvl="0"/>
            <a:endParaRPr lang="en-US"/>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11/12/2025</a:t>
            </a:fld>
            <a:endParaRPr lang="en-US"/>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a:t>Bulleted copy. Keep it short with bite-size chunks of information.</a:t>
            </a:r>
          </a:p>
          <a:p>
            <a:pPr lvl="0"/>
            <a:endParaRPr lang="en-US"/>
          </a:p>
          <a:p>
            <a:pPr lvl="0"/>
            <a:r>
              <a:rPr lang="en-US"/>
              <a:t>Bulleted copy. Keep it short with bite-size chunks of information.</a:t>
            </a:r>
          </a:p>
          <a:p>
            <a:pPr lvl="0"/>
            <a:endParaRPr lang="en-US"/>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a:t>Bulleted copy. Keep it short with bite-size chunks of information.</a:t>
            </a:r>
          </a:p>
          <a:p>
            <a:pPr lvl="0"/>
            <a:endParaRPr lang="en-US"/>
          </a:p>
          <a:p>
            <a:pPr lvl="0"/>
            <a:endParaRPr lang="en-US"/>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11/12/2025</a:t>
            </a:fld>
            <a:endParaRPr lang="en-US"/>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11/12/2025</a:t>
            </a:fld>
            <a:endParaRPr lang="en-US"/>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a:latin typeface="United Sans Rg Md" pitchFamily="50" charset="0"/>
              </a:rPr>
              <a:t>123</a:t>
            </a:r>
            <a:endParaRPr lang="en-US"/>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11/12/2025</a:t>
            </a:fld>
            <a:endParaRPr lang="en-US"/>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11/12/2025</a:t>
            </a:fld>
            <a:endParaRPr lang="en-US"/>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11/12/2025</a:t>
            </a:fld>
            <a:endParaRPr lang="en-US"/>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a:latin typeface="Franklin Gothic Medium" panose="020B0603020102020204" pitchFamily="34" charset="0"/>
              </a:rPr>
              <a:t>Lecture 5: Pricing</a:t>
            </a:r>
          </a:p>
          <a:p>
            <a:endParaRPr lang="en-US" b="0">
              <a:latin typeface="Franklin Gothic Medium" panose="020B0603020102020204" pitchFamily="34" charset="0"/>
            </a:endParaRPr>
          </a:p>
          <a:p>
            <a:r>
              <a:rPr lang="en-US" b="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11/12/2025</a:t>
            </a:fld>
            <a:endParaRPr lang="en-US"/>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91BE-3DE0-9C3F-087A-F7CD1F0C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36B4-877D-B8E5-24E0-43CDC4222E46}"/>
              </a:ext>
            </a:extLst>
          </p:cNvPr>
          <p:cNvSpPr>
            <a:spLocks noGrp="1"/>
          </p:cNvSpPr>
          <p:nvPr>
            <p:ph type="ctrTitle"/>
          </p:nvPr>
        </p:nvSpPr>
        <p:spPr/>
        <p:txBody>
          <a:bodyPr/>
          <a:lstStyle/>
          <a:p>
            <a:r>
              <a:rPr lang="en-US"/>
              <a:t>Outline</a:t>
            </a:r>
          </a:p>
        </p:txBody>
      </p:sp>
      <p:sp>
        <p:nvSpPr>
          <p:cNvPr id="4" name="Text Placeholder 3">
            <a:extLst>
              <a:ext uri="{FF2B5EF4-FFF2-40B4-BE49-F238E27FC236}">
                <a16:creationId xmlns:a16="http://schemas.microsoft.com/office/drawing/2014/main" id="{54175B53-6506-346E-2A89-AD221024D778}"/>
              </a:ext>
            </a:extLst>
          </p:cNvPr>
          <p:cNvSpPr>
            <a:spLocks noGrp="1"/>
          </p:cNvSpPr>
          <p:nvPr>
            <p:ph type="body" sz="quarter" idx="14"/>
          </p:nvPr>
        </p:nvSpPr>
        <p:spPr>
          <a:xfrm>
            <a:off x="1828800" y="1917389"/>
            <a:ext cx="8755380" cy="3411537"/>
          </a:xfrm>
        </p:spPr>
        <p:txBody>
          <a:bodyPr>
            <a:normAutofit/>
          </a:bodyPr>
          <a:lstStyle/>
          <a:p>
            <a:r>
              <a:rPr lang="en-US" sz="2400"/>
              <a:t>Pricing Strategies</a:t>
            </a:r>
          </a:p>
          <a:p>
            <a:endParaRPr lang="en-US" sz="2400"/>
          </a:p>
          <a:p>
            <a:r>
              <a:rPr lang="en-US" sz="2400"/>
              <a:t>Pricing Analytics</a:t>
            </a:r>
          </a:p>
          <a:p>
            <a:endParaRPr lang="en-US" sz="2400"/>
          </a:p>
          <a:p>
            <a:r>
              <a:rPr lang="en-US" sz="2400"/>
              <a:t>Pricing Digital Goods</a:t>
            </a:r>
          </a:p>
          <a:p>
            <a:endParaRPr lang="en-US" sz="2400"/>
          </a:p>
        </p:txBody>
      </p:sp>
      <p:sp>
        <p:nvSpPr>
          <p:cNvPr id="5" name="Date Placeholder 4">
            <a:extLst>
              <a:ext uri="{FF2B5EF4-FFF2-40B4-BE49-F238E27FC236}">
                <a16:creationId xmlns:a16="http://schemas.microsoft.com/office/drawing/2014/main" id="{94C16404-2372-0160-B1E4-0FA07F17C405}"/>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1DB0BF96-FB46-5497-7F47-0719B43099D5}"/>
              </a:ext>
            </a:extLst>
          </p:cNvPr>
          <p:cNvSpPr>
            <a:spLocks noGrp="1"/>
          </p:cNvSpPr>
          <p:nvPr>
            <p:ph type="sldNum" sz="quarter" idx="12"/>
          </p:nvPr>
        </p:nvSpPr>
        <p:spPr/>
        <p:txBody>
          <a:bodyPr/>
          <a:lstStyle/>
          <a:p>
            <a:fld id="{8A7A6979-0714-4377-B894-6BE4C2D6E202}" type="slidenum">
              <a:rPr lang="en-US" smtClean="0"/>
              <a:pPr/>
              <a:t>2</a:t>
            </a:fld>
            <a:endParaRPr lang="en-US"/>
          </a:p>
        </p:txBody>
      </p:sp>
    </p:spTree>
    <p:extLst>
      <p:ext uri="{BB962C8B-B14F-4D97-AF65-F5344CB8AC3E}">
        <p14:creationId xmlns:p14="http://schemas.microsoft.com/office/powerpoint/2010/main" val="105818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3637-DDAF-F6AE-13CB-A978FE00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BB2C5-B4D5-20F5-8F82-D6278D2BBA4C}"/>
              </a:ext>
            </a:extLst>
          </p:cNvPr>
          <p:cNvSpPr>
            <a:spLocks noGrp="1"/>
          </p:cNvSpPr>
          <p:nvPr>
            <p:ph type="ctrTitle"/>
          </p:nvPr>
        </p:nvSpPr>
        <p:spPr>
          <a:xfrm>
            <a:off x="2647199" y="1501742"/>
            <a:ext cx="7300940" cy="1329595"/>
          </a:xfrm>
        </p:spPr>
        <p:txBody>
          <a:bodyPr/>
          <a:lstStyle/>
          <a:p>
            <a:r>
              <a:rPr lang="en-US"/>
              <a:t>Common pricing strategies</a:t>
            </a:r>
          </a:p>
        </p:txBody>
      </p:sp>
      <p:sp>
        <p:nvSpPr>
          <p:cNvPr id="4" name="Date Placeholder 3">
            <a:extLst>
              <a:ext uri="{FF2B5EF4-FFF2-40B4-BE49-F238E27FC236}">
                <a16:creationId xmlns:a16="http://schemas.microsoft.com/office/drawing/2014/main" id="{6996589E-1CF7-5F95-AE0F-42E39FBD703F}"/>
              </a:ext>
            </a:extLst>
          </p:cNvPr>
          <p:cNvSpPr>
            <a:spLocks noGrp="1"/>
          </p:cNvSpPr>
          <p:nvPr>
            <p:ph type="dt" sz="half" idx="10"/>
          </p:nvPr>
        </p:nvSpPr>
        <p:spPr/>
        <p:txBody>
          <a:bodyPr/>
          <a:lstStyle/>
          <a:p>
            <a:fld id="{D47A9A36-4EB0-BF46-AE48-7CDA251B954B}" type="datetime1">
              <a:rPr lang="en-US" smtClean="0"/>
              <a:pPr/>
              <a:t>11/12/2025</a:t>
            </a:fld>
            <a:endParaRPr lang="en-US"/>
          </a:p>
        </p:txBody>
      </p:sp>
      <p:sp>
        <p:nvSpPr>
          <p:cNvPr id="5" name="Slide Number Placeholder 4">
            <a:extLst>
              <a:ext uri="{FF2B5EF4-FFF2-40B4-BE49-F238E27FC236}">
                <a16:creationId xmlns:a16="http://schemas.microsoft.com/office/drawing/2014/main" id="{2EEA834E-A062-9BC8-EBA8-D99445F99354}"/>
              </a:ext>
            </a:extLst>
          </p:cNvPr>
          <p:cNvSpPr>
            <a:spLocks noGrp="1"/>
          </p:cNvSpPr>
          <p:nvPr>
            <p:ph type="sldNum" sz="quarter" idx="12"/>
          </p:nvPr>
        </p:nvSpPr>
        <p:spPr/>
        <p:txBody>
          <a:bodyPr/>
          <a:lstStyle/>
          <a:p>
            <a:fld id="{8A7A6979-0714-4377-B894-6BE4C2D6E202}" type="slidenum">
              <a:rPr lang="en-US" smtClean="0"/>
              <a:pPr/>
              <a:t>3</a:t>
            </a:fld>
            <a:endParaRPr lang="en-US"/>
          </a:p>
        </p:txBody>
      </p:sp>
    </p:spTree>
    <p:extLst>
      <p:ext uri="{BB962C8B-B14F-4D97-AF65-F5344CB8AC3E}">
        <p14:creationId xmlns:p14="http://schemas.microsoft.com/office/powerpoint/2010/main" val="36175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BDAF-162F-F9EB-1353-F437E4C98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AC0C9-5BB0-3D6B-0F14-7A8549A4441E}"/>
              </a:ext>
            </a:extLst>
          </p:cNvPr>
          <p:cNvSpPr>
            <a:spLocks noGrp="1"/>
          </p:cNvSpPr>
          <p:nvPr>
            <p:ph type="ctrTitle"/>
          </p:nvPr>
        </p:nvSpPr>
        <p:spPr/>
        <p:txBody>
          <a:bodyPr/>
          <a:lstStyle/>
          <a:p>
            <a:r>
              <a:rPr lang="en-US"/>
              <a:t>Pricing Strategies</a:t>
            </a:r>
          </a:p>
        </p:txBody>
      </p:sp>
      <p:sp>
        <p:nvSpPr>
          <p:cNvPr id="4" name="Text Placeholder 3">
            <a:extLst>
              <a:ext uri="{FF2B5EF4-FFF2-40B4-BE49-F238E27FC236}">
                <a16:creationId xmlns:a16="http://schemas.microsoft.com/office/drawing/2014/main" id="{42AB2B0D-3330-B58D-08F7-214D6B6C58C0}"/>
              </a:ext>
            </a:extLst>
          </p:cNvPr>
          <p:cNvSpPr>
            <a:spLocks noGrp="1"/>
          </p:cNvSpPr>
          <p:nvPr>
            <p:ph type="body" sz="quarter" idx="14"/>
          </p:nvPr>
        </p:nvSpPr>
        <p:spPr>
          <a:xfrm>
            <a:off x="1828800" y="1917389"/>
            <a:ext cx="8755380" cy="3411537"/>
          </a:xfrm>
        </p:spPr>
        <p:txBody>
          <a:bodyPr>
            <a:normAutofit/>
          </a:bodyPr>
          <a:lstStyle/>
          <a:p>
            <a:r>
              <a:rPr lang="en-US" sz="2400"/>
              <a:t>Cost-based pricing – Bad</a:t>
            </a:r>
          </a:p>
          <a:p>
            <a:r>
              <a:rPr lang="en-US" sz="2400"/>
              <a:t>Competition-based pricing – Bad</a:t>
            </a:r>
          </a:p>
          <a:p>
            <a:r>
              <a:rPr lang="en-US" sz="2400"/>
              <a:t>Customer-based pricing – Bad</a:t>
            </a:r>
          </a:p>
          <a:p>
            <a:endParaRPr lang="en-US" sz="2400"/>
          </a:p>
          <a:p>
            <a:r>
              <a:rPr lang="en-US" sz="2400"/>
              <a:t>Value based pricing – Good</a:t>
            </a:r>
          </a:p>
        </p:txBody>
      </p:sp>
      <p:sp>
        <p:nvSpPr>
          <p:cNvPr id="5" name="Date Placeholder 4">
            <a:extLst>
              <a:ext uri="{FF2B5EF4-FFF2-40B4-BE49-F238E27FC236}">
                <a16:creationId xmlns:a16="http://schemas.microsoft.com/office/drawing/2014/main" id="{C6812ECE-3E83-3F14-B9C0-3A563F378F41}"/>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440DF338-62CE-DB7C-AEA0-559743622A65}"/>
              </a:ext>
            </a:extLst>
          </p:cNvPr>
          <p:cNvSpPr>
            <a:spLocks noGrp="1"/>
          </p:cNvSpPr>
          <p:nvPr>
            <p:ph type="sldNum" sz="quarter" idx="12"/>
          </p:nvPr>
        </p:nvSpPr>
        <p:spPr/>
        <p:txBody>
          <a:bodyPr/>
          <a:lstStyle/>
          <a:p>
            <a:fld id="{8A7A6979-0714-4377-B894-6BE4C2D6E202}" type="slidenum">
              <a:rPr lang="en-US" smtClean="0"/>
              <a:pPr/>
              <a:t>4</a:t>
            </a:fld>
            <a:endParaRPr lang="en-US"/>
          </a:p>
        </p:txBody>
      </p:sp>
    </p:spTree>
    <p:extLst>
      <p:ext uri="{BB962C8B-B14F-4D97-AF65-F5344CB8AC3E}">
        <p14:creationId xmlns:p14="http://schemas.microsoft.com/office/powerpoint/2010/main" val="2359884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26D9-F355-F524-82B4-170097261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2C798-CC52-7037-1E43-CF8F8ECFDB2F}"/>
              </a:ext>
            </a:extLst>
          </p:cNvPr>
          <p:cNvSpPr>
            <a:spLocks noGrp="1"/>
          </p:cNvSpPr>
          <p:nvPr>
            <p:ph type="ctrTitle"/>
          </p:nvPr>
        </p:nvSpPr>
        <p:spPr/>
        <p:txBody>
          <a:bodyPr/>
          <a:lstStyle/>
          <a:p>
            <a:r>
              <a:rPr lang="en-US"/>
              <a:t>Cost Based Pricing</a:t>
            </a:r>
          </a:p>
        </p:txBody>
      </p:sp>
      <p:sp>
        <p:nvSpPr>
          <p:cNvPr id="4" name="Text Placeholder 3">
            <a:extLst>
              <a:ext uri="{FF2B5EF4-FFF2-40B4-BE49-F238E27FC236}">
                <a16:creationId xmlns:a16="http://schemas.microsoft.com/office/drawing/2014/main" id="{55737167-1B50-2F8B-F4DC-13958A0C5DB6}"/>
              </a:ext>
            </a:extLst>
          </p:cNvPr>
          <p:cNvSpPr>
            <a:spLocks noGrp="1"/>
          </p:cNvSpPr>
          <p:nvPr>
            <p:ph type="body" sz="quarter" idx="14"/>
          </p:nvPr>
        </p:nvSpPr>
        <p:spPr>
          <a:xfrm>
            <a:off x="1828800" y="1917389"/>
            <a:ext cx="8755380" cy="3411537"/>
          </a:xfrm>
        </p:spPr>
        <p:txBody>
          <a:bodyPr>
            <a:normAutofit lnSpcReduction="10000"/>
          </a:bodyPr>
          <a:lstStyle/>
          <a:p>
            <a:r>
              <a:rPr lang="en-US" sz="2400" dirty="0"/>
              <a:t>Charge a markup over average cost</a:t>
            </a:r>
          </a:p>
          <a:p>
            <a:endParaRPr lang="en-US" sz="2400" dirty="0"/>
          </a:p>
          <a:p>
            <a:r>
              <a:rPr lang="en-US" sz="2400" dirty="0"/>
              <a:t>Problems</a:t>
            </a:r>
          </a:p>
          <a:p>
            <a:pPr lvl="1"/>
            <a:r>
              <a:rPr lang="en-US" sz="2400" dirty="0"/>
              <a:t>Hard to project costs</a:t>
            </a:r>
          </a:p>
          <a:p>
            <a:pPr lvl="2"/>
            <a:r>
              <a:rPr lang="en-US" sz="2400" dirty="0"/>
              <a:t>Costs depend on sales, which depend on prices</a:t>
            </a:r>
          </a:p>
          <a:p>
            <a:pPr lvl="1"/>
            <a:r>
              <a:rPr lang="en-US" sz="2400" dirty="0"/>
              <a:t>Backwards looking</a:t>
            </a:r>
          </a:p>
          <a:p>
            <a:pPr lvl="2"/>
            <a:r>
              <a:rPr lang="en-US" sz="2400" dirty="0"/>
              <a:t>When sales go down, average costs increase. Good time to raise prices?</a:t>
            </a:r>
          </a:p>
        </p:txBody>
      </p:sp>
      <p:sp>
        <p:nvSpPr>
          <p:cNvPr id="5" name="Date Placeholder 4">
            <a:extLst>
              <a:ext uri="{FF2B5EF4-FFF2-40B4-BE49-F238E27FC236}">
                <a16:creationId xmlns:a16="http://schemas.microsoft.com/office/drawing/2014/main" id="{0E0C19A2-E1C7-1FB0-DC5A-303926B1C384}"/>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E548E94E-3F41-24D6-88F8-E204BBEC46EB}"/>
              </a:ext>
            </a:extLst>
          </p:cNvPr>
          <p:cNvSpPr>
            <a:spLocks noGrp="1"/>
          </p:cNvSpPr>
          <p:nvPr>
            <p:ph type="sldNum" sz="quarter" idx="12"/>
          </p:nvPr>
        </p:nvSpPr>
        <p:spPr/>
        <p:txBody>
          <a:bodyPr/>
          <a:lstStyle/>
          <a:p>
            <a:fld id="{8A7A6979-0714-4377-B894-6BE4C2D6E202}" type="slidenum">
              <a:rPr lang="en-US" smtClean="0"/>
              <a:pPr/>
              <a:t>5</a:t>
            </a:fld>
            <a:endParaRPr lang="en-US"/>
          </a:p>
        </p:txBody>
      </p:sp>
    </p:spTree>
    <p:extLst>
      <p:ext uri="{BB962C8B-B14F-4D97-AF65-F5344CB8AC3E}">
        <p14:creationId xmlns:p14="http://schemas.microsoft.com/office/powerpoint/2010/main" val="288554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CC62A-DEC5-5BB4-5386-587BE3343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72B38-3A7A-F7E8-809F-225F13F7B5AB}"/>
              </a:ext>
            </a:extLst>
          </p:cNvPr>
          <p:cNvSpPr>
            <a:spLocks noGrp="1"/>
          </p:cNvSpPr>
          <p:nvPr>
            <p:ph type="ctrTitle"/>
          </p:nvPr>
        </p:nvSpPr>
        <p:spPr/>
        <p:txBody>
          <a:bodyPr/>
          <a:lstStyle/>
          <a:p>
            <a:r>
              <a:rPr lang="en-US"/>
              <a:t>Cost Based Pricing – Ignores Value Created</a:t>
            </a:r>
          </a:p>
        </p:txBody>
      </p:sp>
      <p:pic>
        <p:nvPicPr>
          <p:cNvPr id="8" name="Picture 7" descr="Screenshot of an Amazon product listing for “Pet Rock – The Original by Gary Dahl.”">
            <a:extLst>
              <a:ext uri="{FF2B5EF4-FFF2-40B4-BE49-F238E27FC236}">
                <a16:creationId xmlns:a16="http://schemas.microsoft.com/office/drawing/2014/main" id="{5F1EDFAE-18EC-83F9-D70F-25A479BC7F5F}"/>
              </a:ext>
            </a:extLst>
          </p:cNvPr>
          <p:cNvPicPr>
            <a:picLocks noChangeAspect="1"/>
          </p:cNvPicPr>
          <p:nvPr/>
        </p:nvPicPr>
        <p:blipFill>
          <a:blip r:embed="rId3"/>
          <a:stretch>
            <a:fillRect/>
          </a:stretch>
        </p:blipFill>
        <p:spPr>
          <a:xfrm>
            <a:off x="2324100" y="1864771"/>
            <a:ext cx="7772400" cy="3128457"/>
          </a:xfrm>
          <a:prstGeom prst="rect">
            <a:avLst/>
          </a:prstGeom>
        </p:spPr>
      </p:pic>
      <p:sp>
        <p:nvSpPr>
          <p:cNvPr id="5" name="Date Placeholder 4">
            <a:extLst>
              <a:ext uri="{FF2B5EF4-FFF2-40B4-BE49-F238E27FC236}">
                <a16:creationId xmlns:a16="http://schemas.microsoft.com/office/drawing/2014/main" id="{5B06A07B-6F1F-A697-EB38-DB8B4E8886E0}"/>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0D37CE4E-8A16-7707-6E9E-D9813AC19D72}"/>
              </a:ext>
            </a:extLst>
          </p:cNvPr>
          <p:cNvSpPr>
            <a:spLocks noGrp="1"/>
          </p:cNvSpPr>
          <p:nvPr>
            <p:ph type="sldNum" sz="quarter" idx="12"/>
          </p:nvPr>
        </p:nvSpPr>
        <p:spPr/>
        <p:txBody>
          <a:bodyPr/>
          <a:lstStyle/>
          <a:p>
            <a:fld id="{8A7A6979-0714-4377-B894-6BE4C2D6E202}" type="slidenum">
              <a:rPr lang="en-US" smtClean="0"/>
              <a:pPr/>
              <a:t>6</a:t>
            </a:fld>
            <a:endParaRPr lang="en-US"/>
          </a:p>
        </p:txBody>
      </p:sp>
    </p:spTree>
    <p:extLst>
      <p:ext uri="{BB962C8B-B14F-4D97-AF65-F5344CB8AC3E}">
        <p14:creationId xmlns:p14="http://schemas.microsoft.com/office/powerpoint/2010/main" val="1936560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8CFD7-2FEE-7917-6C58-3663FBA70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0AF67-DA27-B3E0-8C47-E9405AB81D16}"/>
              </a:ext>
            </a:extLst>
          </p:cNvPr>
          <p:cNvSpPr>
            <a:spLocks noGrp="1"/>
          </p:cNvSpPr>
          <p:nvPr>
            <p:ph type="ctrTitle"/>
          </p:nvPr>
        </p:nvSpPr>
        <p:spPr/>
        <p:txBody>
          <a:bodyPr/>
          <a:lstStyle/>
          <a:p>
            <a:r>
              <a:rPr lang="en-US"/>
              <a:t>Competition Based Pricing</a:t>
            </a:r>
          </a:p>
        </p:txBody>
      </p:sp>
      <p:sp>
        <p:nvSpPr>
          <p:cNvPr id="4" name="Text Placeholder 3">
            <a:extLst>
              <a:ext uri="{FF2B5EF4-FFF2-40B4-BE49-F238E27FC236}">
                <a16:creationId xmlns:a16="http://schemas.microsoft.com/office/drawing/2014/main" id="{8F275A8A-F636-92B2-F85D-3080DBE90217}"/>
              </a:ext>
            </a:extLst>
          </p:cNvPr>
          <p:cNvSpPr>
            <a:spLocks noGrp="1"/>
          </p:cNvSpPr>
          <p:nvPr>
            <p:ph type="body" sz="quarter" idx="14"/>
          </p:nvPr>
        </p:nvSpPr>
        <p:spPr>
          <a:xfrm>
            <a:off x="1828800" y="1500189"/>
            <a:ext cx="8755380" cy="3828738"/>
          </a:xfrm>
        </p:spPr>
        <p:txBody>
          <a:bodyPr>
            <a:normAutofit/>
          </a:bodyPr>
          <a:lstStyle/>
          <a:p>
            <a:r>
              <a:rPr lang="en-US" sz="2400"/>
              <a:t>Design product, find competitors price, set price at or below competitor</a:t>
            </a:r>
          </a:p>
          <a:p>
            <a:endParaRPr lang="en-US" sz="2400"/>
          </a:p>
          <a:p>
            <a:r>
              <a:rPr lang="en-US" sz="2400"/>
              <a:t>Problems</a:t>
            </a:r>
          </a:p>
          <a:p>
            <a:pPr lvl="1"/>
            <a:r>
              <a:rPr lang="en-US" sz="2400"/>
              <a:t>Ignores unique value proposition</a:t>
            </a:r>
          </a:p>
          <a:p>
            <a:pPr lvl="2"/>
            <a:r>
              <a:rPr lang="en-US" sz="2400"/>
              <a:t>Ideally, our product creates more value for our customers!</a:t>
            </a:r>
          </a:p>
          <a:p>
            <a:pPr lvl="1"/>
            <a:r>
              <a:rPr lang="en-US" sz="2400"/>
              <a:t>Ignores competitor response</a:t>
            </a:r>
          </a:p>
          <a:p>
            <a:pPr lvl="2"/>
            <a:r>
              <a:rPr lang="en-US" sz="2400"/>
              <a:t>If we undercut competitors, will they change their price?</a:t>
            </a:r>
          </a:p>
        </p:txBody>
      </p:sp>
      <p:sp>
        <p:nvSpPr>
          <p:cNvPr id="5" name="Date Placeholder 4">
            <a:extLst>
              <a:ext uri="{FF2B5EF4-FFF2-40B4-BE49-F238E27FC236}">
                <a16:creationId xmlns:a16="http://schemas.microsoft.com/office/drawing/2014/main" id="{2584369E-11EC-DE3C-9EB5-FEB09F1FDDDE}"/>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2A7C0B4B-C757-36D5-9291-FCD6B3BB5175}"/>
              </a:ext>
            </a:extLst>
          </p:cNvPr>
          <p:cNvSpPr>
            <a:spLocks noGrp="1"/>
          </p:cNvSpPr>
          <p:nvPr>
            <p:ph type="sldNum" sz="quarter" idx="12"/>
          </p:nvPr>
        </p:nvSpPr>
        <p:spPr/>
        <p:txBody>
          <a:bodyPr/>
          <a:lstStyle/>
          <a:p>
            <a:fld id="{8A7A6979-0714-4377-B894-6BE4C2D6E202}" type="slidenum">
              <a:rPr lang="en-US" smtClean="0"/>
              <a:pPr/>
              <a:t>7</a:t>
            </a:fld>
            <a:endParaRPr lang="en-US"/>
          </a:p>
        </p:txBody>
      </p:sp>
    </p:spTree>
    <p:extLst>
      <p:ext uri="{BB962C8B-B14F-4D97-AF65-F5344CB8AC3E}">
        <p14:creationId xmlns:p14="http://schemas.microsoft.com/office/powerpoint/2010/main" val="46234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0F7B-EBCA-343C-E66F-F900038A0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2178D-D227-B3DD-1205-4157B783A624}"/>
              </a:ext>
            </a:extLst>
          </p:cNvPr>
          <p:cNvSpPr>
            <a:spLocks noGrp="1"/>
          </p:cNvSpPr>
          <p:nvPr>
            <p:ph type="ctrTitle"/>
          </p:nvPr>
        </p:nvSpPr>
        <p:spPr/>
        <p:txBody>
          <a:bodyPr/>
          <a:lstStyle/>
          <a:p>
            <a:r>
              <a:rPr lang="en-US"/>
              <a:t>Customer Based Pricing</a:t>
            </a:r>
          </a:p>
        </p:txBody>
      </p:sp>
      <p:sp>
        <p:nvSpPr>
          <p:cNvPr id="4" name="Text Placeholder 3">
            <a:extLst>
              <a:ext uri="{FF2B5EF4-FFF2-40B4-BE49-F238E27FC236}">
                <a16:creationId xmlns:a16="http://schemas.microsoft.com/office/drawing/2014/main" id="{EB243932-54C6-93BE-EAB9-ACAA3781FAF8}"/>
              </a:ext>
            </a:extLst>
          </p:cNvPr>
          <p:cNvSpPr>
            <a:spLocks noGrp="1"/>
          </p:cNvSpPr>
          <p:nvPr>
            <p:ph type="body" sz="quarter" idx="14"/>
          </p:nvPr>
        </p:nvSpPr>
        <p:spPr>
          <a:xfrm>
            <a:off x="1828800" y="1500189"/>
            <a:ext cx="8755380" cy="3828738"/>
          </a:xfrm>
        </p:spPr>
        <p:txBody>
          <a:bodyPr>
            <a:normAutofit/>
          </a:bodyPr>
          <a:lstStyle/>
          <a:p>
            <a:r>
              <a:rPr lang="en-US" sz="2400"/>
              <a:t>Ask customers their valuation and set price based off average</a:t>
            </a:r>
          </a:p>
          <a:p>
            <a:endParaRPr lang="en-US" sz="2400"/>
          </a:p>
          <a:p>
            <a:r>
              <a:rPr lang="en-US" sz="2400"/>
              <a:t>Problems</a:t>
            </a:r>
          </a:p>
          <a:p>
            <a:pPr lvl="1"/>
            <a:r>
              <a:rPr lang="en-US" sz="2400"/>
              <a:t>Customers lie</a:t>
            </a:r>
          </a:p>
          <a:p>
            <a:pPr lvl="2"/>
            <a:r>
              <a:rPr lang="en-US" sz="2400"/>
              <a:t>Radiohead “pay what you want” album, 62% paid $0</a:t>
            </a:r>
          </a:p>
          <a:p>
            <a:pPr lvl="1"/>
            <a:r>
              <a:rPr lang="en-US" sz="2400"/>
              <a:t>Average valuation is uninformative</a:t>
            </a:r>
          </a:p>
          <a:p>
            <a:pPr lvl="2"/>
            <a:r>
              <a:rPr lang="en-US" sz="2400"/>
              <a:t>We care most about customers willing to pay high prices!</a:t>
            </a:r>
          </a:p>
        </p:txBody>
      </p:sp>
      <p:sp>
        <p:nvSpPr>
          <p:cNvPr id="5" name="Date Placeholder 4">
            <a:extLst>
              <a:ext uri="{FF2B5EF4-FFF2-40B4-BE49-F238E27FC236}">
                <a16:creationId xmlns:a16="http://schemas.microsoft.com/office/drawing/2014/main" id="{60343CBC-5EB7-131A-89CE-D61914321B3F}"/>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92D0FA02-8E0C-E638-328C-D70AD522DA22}"/>
              </a:ext>
            </a:extLst>
          </p:cNvPr>
          <p:cNvSpPr>
            <a:spLocks noGrp="1"/>
          </p:cNvSpPr>
          <p:nvPr>
            <p:ph type="sldNum" sz="quarter" idx="12"/>
          </p:nvPr>
        </p:nvSpPr>
        <p:spPr/>
        <p:txBody>
          <a:bodyPr/>
          <a:lstStyle/>
          <a:p>
            <a:fld id="{8A7A6979-0714-4377-B894-6BE4C2D6E202}" type="slidenum">
              <a:rPr lang="en-US" smtClean="0"/>
              <a:pPr/>
              <a:t>8</a:t>
            </a:fld>
            <a:endParaRPr lang="en-US"/>
          </a:p>
        </p:txBody>
      </p:sp>
    </p:spTree>
    <p:extLst>
      <p:ext uri="{BB962C8B-B14F-4D97-AF65-F5344CB8AC3E}">
        <p14:creationId xmlns:p14="http://schemas.microsoft.com/office/powerpoint/2010/main" val="3672734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A2EC-0FF0-2751-AFAB-076A3ADBE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F5E29-C2EB-48A6-54DD-95D6C9482CF1}"/>
              </a:ext>
            </a:extLst>
          </p:cNvPr>
          <p:cNvSpPr>
            <a:spLocks noGrp="1"/>
          </p:cNvSpPr>
          <p:nvPr>
            <p:ph type="ctrTitle"/>
          </p:nvPr>
        </p:nvSpPr>
        <p:spPr/>
        <p:txBody>
          <a:bodyPr/>
          <a:lstStyle/>
          <a:p>
            <a:r>
              <a:rPr lang="en-US"/>
              <a:t>Average Values can be Misleading</a:t>
            </a:r>
          </a:p>
        </p:txBody>
      </p:sp>
      <p:pic>
        <p:nvPicPr>
          <p:cNvPr id="1026" name="Picture 2" descr="Dual Bloomberg terminal monitors displaying financial data dashboards with stock prices, charts, market indices, and performance analytics.">
            <a:extLst>
              <a:ext uri="{FF2B5EF4-FFF2-40B4-BE49-F238E27FC236}">
                <a16:creationId xmlns:a16="http://schemas.microsoft.com/office/drawing/2014/main" id="{90EEBA9C-C2E9-4534-72B3-70EBC38BA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6056" y="1025575"/>
            <a:ext cx="7365204" cy="39751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BC3354E-59BD-08AA-5822-EAE18ED137B9}"/>
              </a:ext>
            </a:extLst>
          </p:cNvPr>
          <p:cNvSpPr txBox="1"/>
          <p:nvPr/>
        </p:nvSpPr>
        <p:spPr>
          <a:xfrm>
            <a:off x="7167716" y="5183607"/>
            <a:ext cx="2029466" cy="369332"/>
          </a:xfrm>
          <a:prstGeom prst="rect">
            <a:avLst/>
          </a:prstGeom>
          <a:noFill/>
        </p:spPr>
        <p:txBody>
          <a:bodyPr wrap="none" rtlCol="0">
            <a:spAutoFit/>
          </a:bodyPr>
          <a:lstStyle/>
          <a:p>
            <a:r>
              <a:rPr lang="en-US"/>
              <a:t>Source: Bloomberg</a:t>
            </a:r>
          </a:p>
        </p:txBody>
      </p:sp>
      <p:sp>
        <p:nvSpPr>
          <p:cNvPr id="5" name="Date Placeholder 4">
            <a:extLst>
              <a:ext uri="{FF2B5EF4-FFF2-40B4-BE49-F238E27FC236}">
                <a16:creationId xmlns:a16="http://schemas.microsoft.com/office/drawing/2014/main" id="{722F8124-BF33-2B36-8B4A-0EC1BE18B2F3}"/>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C732B3E0-1DB0-087A-4649-75A5A4430C6C}"/>
              </a:ext>
            </a:extLst>
          </p:cNvPr>
          <p:cNvSpPr>
            <a:spLocks noGrp="1"/>
          </p:cNvSpPr>
          <p:nvPr>
            <p:ph type="sldNum" sz="quarter" idx="12"/>
          </p:nvPr>
        </p:nvSpPr>
        <p:spPr/>
        <p:txBody>
          <a:bodyPr/>
          <a:lstStyle/>
          <a:p>
            <a:fld id="{8A7A6979-0714-4377-B894-6BE4C2D6E202}" type="slidenum">
              <a:rPr lang="en-US" smtClean="0"/>
              <a:pPr/>
              <a:t>9</a:t>
            </a:fld>
            <a:endParaRPr lang="en-US"/>
          </a:p>
        </p:txBody>
      </p:sp>
    </p:spTree>
    <p:extLst>
      <p:ext uri="{BB962C8B-B14F-4D97-AF65-F5344CB8AC3E}">
        <p14:creationId xmlns:p14="http://schemas.microsoft.com/office/powerpoint/2010/main" val="1552834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423C9-AEE1-79A8-A8B5-86291246F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0A2F1-B9EA-CD65-DEF5-BEA89992A114}"/>
              </a:ext>
            </a:extLst>
          </p:cNvPr>
          <p:cNvSpPr>
            <a:spLocks noGrp="1"/>
          </p:cNvSpPr>
          <p:nvPr>
            <p:ph type="ctrTitle"/>
          </p:nvPr>
        </p:nvSpPr>
        <p:spPr/>
        <p:txBody>
          <a:bodyPr/>
          <a:lstStyle/>
          <a:p>
            <a:r>
              <a:rPr lang="en-US"/>
              <a:t>Value Based Pricing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8817542-A375-26E2-7290-00A65886F5B0}"/>
                  </a:ext>
                </a:extLst>
              </p:cNvPr>
              <p:cNvSpPr>
                <a:spLocks noGrp="1"/>
              </p:cNvSpPr>
              <p:nvPr>
                <p:ph type="body" sz="quarter" idx="14"/>
              </p:nvPr>
            </p:nvSpPr>
            <p:spPr>
              <a:xfrm>
                <a:off x="1828800" y="1500189"/>
                <a:ext cx="8755380" cy="3828738"/>
              </a:xfrm>
            </p:spPr>
            <p:txBody>
              <a:bodyPr>
                <a:normAutofit/>
              </a:bodyPr>
              <a:lstStyle/>
              <a:p>
                <a:r>
                  <a:rPr lang="en-US" sz="2400" dirty="0"/>
                  <a:t>Estimate a demand curve</a:t>
                </a:r>
              </a:p>
              <a:p>
                <a:pPr lvl="1"/>
                <a:r>
                  <a:rPr lang="en-US" sz="2400" dirty="0"/>
                  <a:t>Demand is the quantity sold at a specific price </a:t>
                </a: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oMath>
                </a14:m>
                <a:endParaRPr lang="en-US" sz="2400" dirty="0"/>
              </a:p>
              <a:p>
                <a:endParaRPr lang="en-US" sz="2400" dirty="0"/>
              </a:p>
              <a:p>
                <a:r>
                  <a:rPr lang="en-US" sz="2400" dirty="0"/>
                  <a:t>Economic theory: People purchase if their value for product exceeds the price</a:t>
                </a:r>
              </a:p>
              <a:p>
                <a:pPr lvl="1"/>
                <a:r>
                  <a:rPr lang="en-US" sz="2400" b="0" dirty="0"/>
                  <a:t>Demand aggregates individual valuations: </a:t>
                </a: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𝑖</m:t>
                        </m:r>
                      </m:sub>
                      <m:sup/>
                      <m:e>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&gt;</m:t>
                            </m:r>
                            <m:r>
                              <a:rPr lang="en-US" sz="2400" b="0" i="1" smtClean="0">
                                <a:latin typeface="Cambria Math" panose="02040503050406030204" pitchFamily="18" charset="0"/>
                              </a:rPr>
                              <m:t>𝑃</m:t>
                            </m:r>
                          </m:e>
                        </m:d>
                      </m:e>
                    </m:nary>
                  </m:oMath>
                </a14:m>
                <a:endParaRPr lang="en-US" sz="2400" dirty="0"/>
              </a:p>
              <a:p>
                <a:endParaRPr lang="en-US" sz="2400" dirty="0"/>
              </a:p>
              <a:p>
                <a:r>
                  <a:rPr lang="en-US" sz="2400" dirty="0"/>
                  <a:t>Set price to maximize profits:</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r>
                                    <a:rPr lang="en-US" sz="2400" b="0" i="1" smtClean="0">
                                      <a:latin typeface="Cambria Math" panose="02040503050406030204" pitchFamily="18" charset="0"/>
                                    </a:rPr>
                                    <m:t>𝑃</m:t>
                                  </m:r>
                                </m:lim>
                              </m:limLow>
                            </m:fName>
                            <m:e>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e>
                              </m:d>
                            </m:e>
                          </m:func>
                        </m:e>
                      </m:func>
                    </m:oMath>
                  </m:oMathPara>
                </a14:m>
                <a:endParaRPr lang="en-US" sz="2400" dirty="0"/>
              </a:p>
            </p:txBody>
          </p:sp>
        </mc:Choice>
        <mc:Fallback xmlns="">
          <p:sp>
            <p:nvSpPr>
              <p:cNvPr id="4" name="Text Placeholder 3">
                <a:extLst>
                  <a:ext uri="{FF2B5EF4-FFF2-40B4-BE49-F238E27FC236}">
                    <a16:creationId xmlns:a16="http://schemas.microsoft.com/office/drawing/2014/main" id="{98817542-A375-26E2-7290-00A65886F5B0}"/>
                  </a:ext>
                </a:extLst>
              </p:cNvPr>
              <p:cNvSpPr>
                <a:spLocks noGrp="1" noRot="1" noChangeAspect="1" noMove="1" noResize="1" noEditPoints="1" noAdjustHandles="1" noChangeArrowheads="1" noChangeShapeType="1" noTextEdit="1"/>
              </p:cNvSpPr>
              <p:nvPr>
                <p:ph type="body" sz="quarter" idx="14"/>
              </p:nvPr>
            </p:nvSpPr>
            <p:spPr>
              <a:xfrm>
                <a:off x="1828800" y="1500189"/>
                <a:ext cx="8755380" cy="3828738"/>
              </a:xfrm>
              <a:blipFill>
                <a:blip r:embed="rId3"/>
                <a:stretch>
                  <a:fillRect l="-2029" t="-264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81090BAB-52F0-3649-0D34-E545C2EAC406}"/>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90ADBC96-BFA7-8E84-DDCE-B05B11598CF8}"/>
              </a:ext>
            </a:extLst>
          </p:cNvPr>
          <p:cNvSpPr>
            <a:spLocks noGrp="1"/>
          </p:cNvSpPr>
          <p:nvPr>
            <p:ph type="sldNum" sz="quarter" idx="12"/>
          </p:nvPr>
        </p:nvSpPr>
        <p:spPr/>
        <p:txBody>
          <a:bodyPr/>
          <a:lstStyle/>
          <a:p>
            <a:fld id="{8A7A6979-0714-4377-B894-6BE4C2D6E202}" type="slidenum">
              <a:rPr lang="en-US" smtClean="0"/>
              <a:pPr/>
              <a:t>10</a:t>
            </a:fld>
            <a:endParaRPr lang="en-US"/>
          </a:p>
        </p:txBody>
      </p:sp>
    </p:spTree>
    <p:extLst>
      <p:ext uri="{BB962C8B-B14F-4D97-AF65-F5344CB8AC3E}">
        <p14:creationId xmlns:p14="http://schemas.microsoft.com/office/powerpoint/2010/main" val="128103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a:t>Pricing with a Demand Curve</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11</a:t>
            </a:fld>
            <a:endParaRPr lang="en-US"/>
          </a:p>
        </p:txBody>
      </p:sp>
      <p:sp>
        <p:nvSpPr>
          <p:cNvPr id="8" name="Line 3">
            <a:extLst>
              <a:ext uri="{FF2B5EF4-FFF2-40B4-BE49-F238E27FC236}">
                <a16:creationId xmlns:a16="http://schemas.microsoft.com/office/drawing/2014/main" id="{183140B5-381D-76F5-6636-85E12B60931D}"/>
              </a:ext>
              <a:ext uri="{C183D7F6-B498-43B3-948B-1728B52AA6E4}">
                <adec:decorative xmlns:adec="http://schemas.microsoft.com/office/drawing/2017/decorative" val="1"/>
              </a:ext>
            </a:extLst>
          </p:cNvPr>
          <p:cNvSpPr>
            <a:spLocks noChangeShapeType="1"/>
          </p:cNvSpPr>
          <p:nvPr/>
        </p:nvSpPr>
        <p:spPr bwMode="auto">
          <a:xfrm>
            <a:off x="3886200" y="1600200"/>
            <a:ext cx="0" cy="3886200"/>
          </a:xfrm>
          <a:prstGeom prst="line">
            <a:avLst/>
          </a:prstGeom>
          <a:noFill/>
          <a:ln w="9525">
            <a:solidFill>
              <a:schemeClr val="tx1"/>
            </a:solidFill>
            <a:round/>
            <a:headEnd type="stealth" w="lg" len="lg"/>
            <a:tailEnd type="none" w="lg" len="lg"/>
          </a:ln>
          <a:extLst>
            <a:ext uri="{909E8E84-426E-40dd-AFC4-6F175D3DCCD1}">
              <a14:hiddenFill xmlns:a14="http://schemas.microsoft.com/office/drawing/2010/main" xmlns="">
                <a:noFill/>
              </a14:hiddenFill>
            </a:ext>
          </a:extLst>
        </p:spPr>
        <p:txBody>
          <a:bodyPr/>
          <a:lstStyle/>
          <a:p>
            <a:endParaRPr lang="en-US"/>
          </a:p>
        </p:txBody>
      </p:sp>
      <p:sp>
        <p:nvSpPr>
          <p:cNvPr id="9" name="Line 4">
            <a:extLst>
              <a:ext uri="{FF2B5EF4-FFF2-40B4-BE49-F238E27FC236}">
                <a16:creationId xmlns:a16="http://schemas.microsoft.com/office/drawing/2014/main" id="{1DDAC455-A47B-7224-ED39-2EFE8602ED93}"/>
              </a:ext>
              <a:ext uri="{C183D7F6-B498-43B3-948B-1728B52AA6E4}">
                <adec:decorative xmlns:adec="http://schemas.microsoft.com/office/drawing/2017/decorative" val="1"/>
              </a:ext>
            </a:extLst>
          </p:cNvPr>
          <p:cNvSpPr>
            <a:spLocks noChangeShapeType="1"/>
          </p:cNvSpPr>
          <p:nvPr/>
        </p:nvSpPr>
        <p:spPr bwMode="auto">
          <a:xfrm rot="-5400000">
            <a:off x="6362700" y="3009900"/>
            <a:ext cx="0" cy="4953000"/>
          </a:xfrm>
          <a:prstGeom prst="line">
            <a:avLst/>
          </a:prstGeom>
          <a:noFill/>
          <a:ln w="952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en-US"/>
          </a:p>
        </p:txBody>
      </p:sp>
      <p:sp>
        <p:nvSpPr>
          <p:cNvPr id="10" name="Text Box 6">
            <a:extLst>
              <a:ext uri="{FF2B5EF4-FFF2-40B4-BE49-F238E27FC236}">
                <a16:creationId xmlns:a16="http://schemas.microsoft.com/office/drawing/2014/main" id="{93DDB6B6-B70E-D2D9-2869-C183ABB8037E}"/>
              </a:ext>
              <a:ext uri="{C183D7F6-B498-43B3-948B-1728B52AA6E4}">
                <adec:decorative xmlns:adec="http://schemas.microsoft.com/office/drawing/2017/decorative" val="1"/>
              </a:ext>
            </a:extLst>
          </p:cNvPr>
          <p:cNvSpPr txBox="1">
            <a:spLocks noChangeArrowheads="1"/>
          </p:cNvSpPr>
          <p:nvPr/>
        </p:nvSpPr>
        <p:spPr bwMode="auto">
          <a:xfrm>
            <a:off x="3276600" y="1447800"/>
            <a:ext cx="3873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a:t>P</a:t>
            </a:r>
          </a:p>
        </p:txBody>
      </p:sp>
      <p:sp>
        <p:nvSpPr>
          <p:cNvPr id="11" name="Line 7">
            <a:extLst>
              <a:ext uri="{FF2B5EF4-FFF2-40B4-BE49-F238E27FC236}">
                <a16:creationId xmlns:a16="http://schemas.microsoft.com/office/drawing/2014/main" id="{C6546F7F-F10C-B42E-D74C-762ACE372DC1}"/>
              </a:ext>
              <a:ext uri="{C183D7F6-B498-43B3-948B-1728B52AA6E4}">
                <adec:decorative xmlns:adec="http://schemas.microsoft.com/office/drawing/2017/decorative" val="1"/>
              </a:ext>
            </a:extLst>
          </p:cNvPr>
          <p:cNvSpPr>
            <a:spLocks noChangeShapeType="1"/>
          </p:cNvSpPr>
          <p:nvPr/>
        </p:nvSpPr>
        <p:spPr bwMode="auto">
          <a:xfrm>
            <a:off x="3886200" y="2057400"/>
            <a:ext cx="4419600" cy="3429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 name="Line 8">
            <a:extLst>
              <a:ext uri="{FF2B5EF4-FFF2-40B4-BE49-F238E27FC236}">
                <a16:creationId xmlns:a16="http://schemas.microsoft.com/office/drawing/2014/main" id="{6980D05C-2E9A-B7DD-36DA-A920D61BAD20}"/>
              </a:ext>
              <a:ext uri="{C183D7F6-B498-43B3-948B-1728B52AA6E4}">
                <adec:decorative xmlns:adec="http://schemas.microsoft.com/office/drawing/2017/decorative" val="1"/>
              </a:ext>
            </a:extLst>
          </p:cNvPr>
          <p:cNvSpPr>
            <a:spLocks noChangeShapeType="1"/>
          </p:cNvSpPr>
          <p:nvPr/>
        </p:nvSpPr>
        <p:spPr bwMode="auto">
          <a:xfrm>
            <a:off x="3886200" y="4815590"/>
            <a:ext cx="5105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 name="Text Box 9">
            <a:extLst>
              <a:ext uri="{FF2B5EF4-FFF2-40B4-BE49-F238E27FC236}">
                <a16:creationId xmlns:a16="http://schemas.microsoft.com/office/drawing/2014/main" id="{EB35B29E-29E0-344F-ED82-6793E90A21AF}"/>
              </a:ext>
              <a:ext uri="{C183D7F6-B498-43B3-948B-1728B52AA6E4}">
                <adec:decorative xmlns:adec="http://schemas.microsoft.com/office/drawing/2017/decorative" val="1"/>
              </a:ext>
            </a:extLst>
          </p:cNvPr>
          <p:cNvSpPr txBox="1">
            <a:spLocks noChangeArrowheads="1"/>
          </p:cNvSpPr>
          <p:nvPr/>
        </p:nvSpPr>
        <p:spPr bwMode="auto">
          <a:xfrm>
            <a:off x="8991601" y="4586991"/>
            <a:ext cx="65881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a:t>MC</a:t>
            </a:r>
          </a:p>
        </p:txBody>
      </p:sp>
      <p:sp>
        <p:nvSpPr>
          <p:cNvPr id="14" name="Text Box 10">
            <a:extLst>
              <a:ext uri="{FF2B5EF4-FFF2-40B4-BE49-F238E27FC236}">
                <a16:creationId xmlns:a16="http://schemas.microsoft.com/office/drawing/2014/main" id="{D52DD066-1F8F-F7A0-0AFF-FB6CC9E12B29}"/>
              </a:ext>
              <a:ext uri="{C183D7F6-B498-43B3-948B-1728B52AA6E4}">
                <adec:decorative xmlns:adec="http://schemas.microsoft.com/office/drawing/2017/decorative" val="1"/>
              </a:ext>
            </a:extLst>
          </p:cNvPr>
          <p:cNvSpPr txBox="1">
            <a:spLocks noChangeArrowheads="1"/>
          </p:cNvSpPr>
          <p:nvPr/>
        </p:nvSpPr>
        <p:spPr bwMode="auto">
          <a:xfrm>
            <a:off x="5218998" y="2653260"/>
            <a:ext cx="404812"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a:t>D</a:t>
            </a:r>
          </a:p>
        </p:txBody>
      </p:sp>
      <p:sp>
        <p:nvSpPr>
          <p:cNvPr id="15" name="Text Box 5">
            <a:extLst>
              <a:ext uri="{FF2B5EF4-FFF2-40B4-BE49-F238E27FC236}">
                <a16:creationId xmlns:a16="http://schemas.microsoft.com/office/drawing/2014/main" id="{CF588E4D-4A3D-D512-B8FD-1E21CFCC2B5F}"/>
              </a:ext>
              <a:ext uri="{C183D7F6-B498-43B3-948B-1728B52AA6E4}">
                <adec:decorative xmlns:adec="http://schemas.microsoft.com/office/drawing/2017/decorative" val="1"/>
              </a:ext>
            </a:extLst>
          </p:cNvPr>
          <p:cNvSpPr txBox="1">
            <a:spLocks noChangeArrowheads="1"/>
          </p:cNvSpPr>
          <p:nvPr/>
        </p:nvSpPr>
        <p:spPr bwMode="auto">
          <a:xfrm>
            <a:off x="7727798" y="5591047"/>
            <a:ext cx="42068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a:t>Q</a:t>
            </a:r>
          </a:p>
        </p:txBody>
      </p:sp>
      <p:sp>
        <p:nvSpPr>
          <p:cNvPr id="17" name="Rectangle 2">
            <a:extLst>
              <a:ext uri="{FF2B5EF4-FFF2-40B4-BE49-F238E27FC236}">
                <a16:creationId xmlns:a16="http://schemas.microsoft.com/office/drawing/2014/main" id="{8DCD6EC4-90C4-C283-54CC-FA0BE2550B77}"/>
              </a:ext>
              <a:ext uri="{C183D7F6-B498-43B3-948B-1728B52AA6E4}">
                <adec:decorative xmlns:adec="http://schemas.microsoft.com/office/drawing/2017/decorative" val="1"/>
              </a:ext>
            </a:extLst>
          </p:cNvPr>
          <p:cNvSpPr>
            <a:spLocks noChangeArrowheads="1"/>
          </p:cNvSpPr>
          <p:nvPr/>
        </p:nvSpPr>
        <p:spPr bwMode="auto">
          <a:xfrm>
            <a:off x="3892550" y="4019550"/>
            <a:ext cx="2508250" cy="781050"/>
          </a:xfrm>
          <a:prstGeom prst="rect">
            <a:avLst/>
          </a:prstGeom>
          <a:solidFill>
            <a:schemeClr val="bg1">
              <a:lumMod val="50000"/>
            </a:schemeClr>
          </a:solidFill>
          <a:ln w="9525">
            <a:solidFill>
              <a:schemeClr val="tx1"/>
            </a:solidFill>
            <a:miter lim="800000"/>
            <a:headEnd/>
            <a:tailEnd/>
          </a:ln>
        </p:spPr>
        <p:txBody>
          <a:bodyPr wrap="none" anchor="ctr"/>
          <a:lstStyle/>
          <a:p>
            <a:r>
              <a:rPr lang="en-US">
                <a:solidFill>
                  <a:schemeClr val="tx2"/>
                </a:solidFill>
              </a:rPr>
              <a:t>Producer surplus</a:t>
            </a:r>
          </a:p>
        </p:txBody>
      </p:sp>
      <p:sp>
        <p:nvSpPr>
          <p:cNvPr id="18" name="Freeform 3">
            <a:extLst>
              <a:ext uri="{FF2B5EF4-FFF2-40B4-BE49-F238E27FC236}">
                <a16:creationId xmlns:a16="http://schemas.microsoft.com/office/drawing/2014/main" id="{14605287-BCD5-AE0D-B9C3-07182191D2AB}"/>
              </a:ext>
              <a:ext uri="{C183D7F6-B498-43B3-948B-1728B52AA6E4}">
                <adec:decorative xmlns:adec="http://schemas.microsoft.com/office/drawing/2017/decorative" val="1"/>
              </a:ext>
            </a:extLst>
          </p:cNvPr>
          <p:cNvSpPr>
            <a:spLocks/>
          </p:cNvSpPr>
          <p:nvPr/>
        </p:nvSpPr>
        <p:spPr bwMode="auto">
          <a:xfrm>
            <a:off x="3892550" y="2076450"/>
            <a:ext cx="2489200" cy="1936750"/>
          </a:xfrm>
          <a:custGeom>
            <a:avLst/>
            <a:gdLst>
              <a:gd name="T0" fmla="*/ 0 w 1568"/>
              <a:gd name="T1" fmla="*/ 2147483647 h 1220"/>
              <a:gd name="T2" fmla="*/ 0 w 1568"/>
              <a:gd name="T3" fmla="*/ 0 h 1220"/>
              <a:gd name="T4" fmla="*/ 2147483647 w 1568"/>
              <a:gd name="T5" fmla="*/ 2147483647 h 1220"/>
              <a:gd name="T6" fmla="*/ 0 w 1568"/>
              <a:gd name="T7" fmla="*/ 2147483647 h 1220"/>
              <a:gd name="T8" fmla="*/ 0 60000 65536"/>
              <a:gd name="T9" fmla="*/ 0 60000 65536"/>
              <a:gd name="T10" fmla="*/ 0 60000 65536"/>
              <a:gd name="T11" fmla="*/ 0 60000 65536"/>
              <a:gd name="T12" fmla="*/ 0 w 1568"/>
              <a:gd name="T13" fmla="*/ 0 h 1220"/>
              <a:gd name="T14" fmla="*/ 1568 w 1568"/>
              <a:gd name="T15" fmla="*/ 1220 h 1220"/>
            </a:gdLst>
            <a:ahLst/>
            <a:cxnLst>
              <a:cxn ang="T8">
                <a:pos x="T0" y="T1"/>
              </a:cxn>
              <a:cxn ang="T9">
                <a:pos x="T2" y="T3"/>
              </a:cxn>
              <a:cxn ang="T10">
                <a:pos x="T4" y="T5"/>
              </a:cxn>
              <a:cxn ang="T11">
                <a:pos x="T6" y="T7"/>
              </a:cxn>
            </a:cxnLst>
            <a:rect l="T12" t="T13" r="T14" b="T15"/>
            <a:pathLst>
              <a:path w="1568" h="1220">
                <a:moveTo>
                  <a:pt x="0" y="1220"/>
                </a:moveTo>
                <a:lnTo>
                  <a:pt x="0" y="0"/>
                </a:lnTo>
                <a:lnTo>
                  <a:pt x="1568" y="1220"/>
                </a:lnTo>
                <a:lnTo>
                  <a:pt x="0" y="1220"/>
                </a:lnTo>
                <a:close/>
              </a:path>
            </a:pathLst>
          </a:custGeom>
          <a:solidFill>
            <a:schemeClr val="accent1"/>
          </a:solidFill>
          <a:ln w="9525">
            <a:solidFill>
              <a:schemeClr val="tx1"/>
            </a:solidFill>
            <a:round/>
            <a:headEnd/>
            <a:tailEnd/>
          </a:ln>
        </p:spPr>
        <p:txBody>
          <a:bodyPr/>
          <a:lstStyle/>
          <a:p>
            <a:endParaRPr lang="en-US"/>
          </a:p>
        </p:txBody>
      </p:sp>
      <p:sp>
        <p:nvSpPr>
          <p:cNvPr id="19" name="Text Box 13">
            <a:extLst>
              <a:ext uri="{FF2B5EF4-FFF2-40B4-BE49-F238E27FC236}">
                <a16:creationId xmlns:a16="http://schemas.microsoft.com/office/drawing/2014/main" id="{A843D022-01C0-B2A0-A515-B710FAC76524}"/>
              </a:ext>
              <a:ext uri="{C183D7F6-B498-43B3-948B-1728B52AA6E4}">
                <adec:decorative xmlns:adec="http://schemas.microsoft.com/office/drawing/2017/decorative" val="1"/>
              </a:ext>
            </a:extLst>
          </p:cNvPr>
          <p:cNvSpPr txBox="1">
            <a:spLocks noChangeArrowheads="1"/>
          </p:cNvSpPr>
          <p:nvPr/>
        </p:nvSpPr>
        <p:spPr bwMode="auto">
          <a:xfrm>
            <a:off x="3833612" y="3485602"/>
            <a:ext cx="2056973"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Consumer surplus</a:t>
            </a:r>
          </a:p>
        </p:txBody>
      </p:sp>
      <p:sp>
        <p:nvSpPr>
          <p:cNvPr id="20" name="Text Box 17">
            <a:extLst>
              <a:ext uri="{FF2B5EF4-FFF2-40B4-BE49-F238E27FC236}">
                <a16:creationId xmlns:a16="http://schemas.microsoft.com/office/drawing/2014/main" id="{CA025FE1-B9DA-C019-A036-B25AD529A30A}"/>
              </a:ext>
              <a:ext uri="{C183D7F6-B498-43B3-948B-1728B52AA6E4}">
                <adec:decorative xmlns:adec="http://schemas.microsoft.com/office/drawing/2017/decorative" val="1"/>
              </a:ext>
            </a:extLst>
          </p:cNvPr>
          <p:cNvSpPr txBox="1">
            <a:spLocks noChangeArrowheads="1"/>
          </p:cNvSpPr>
          <p:nvPr/>
        </p:nvSpPr>
        <p:spPr bwMode="auto">
          <a:xfrm>
            <a:off x="2870201" y="3779838"/>
            <a:ext cx="103981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a:t>P&gt;MC</a:t>
            </a:r>
          </a:p>
        </p:txBody>
      </p:sp>
      <p:cxnSp>
        <p:nvCxnSpPr>
          <p:cNvPr id="22" name="Straight Connector 21">
            <a:extLst>
              <a:ext uri="{FF2B5EF4-FFF2-40B4-BE49-F238E27FC236}">
                <a16:creationId xmlns:a16="http://schemas.microsoft.com/office/drawing/2014/main" id="{55B7BC78-2FCF-8B8A-885D-440E5C0813AE}"/>
              </a:ext>
              <a:ext uri="{C183D7F6-B498-43B3-948B-1728B52AA6E4}">
                <adec:decorative xmlns:adec="http://schemas.microsoft.com/office/drawing/2017/decorative" val="1"/>
              </a:ext>
            </a:extLst>
          </p:cNvPr>
          <p:cNvCxnSpPr>
            <a:cxnSpLocks/>
            <a:endCxn id="20" idx="3"/>
          </p:cNvCxnSpPr>
          <p:nvPr/>
        </p:nvCxnSpPr>
        <p:spPr>
          <a:xfrm flipH="1" flipV="1">
            <a:off x="3910014" y="4008438"/>
            <a:ext cx="2490786" cy="4762"/>
          </a:xfrm>
          <a:prstGeom prst="line">
            <a:avLst/>
          </a:prstGeom>
        </p:spPr>
        <p:style>
          <a:lnRef idx="1">
            <a:schemeClr val="accent1"/>
          </a:lnRef>
          <a:fillRef idx="0">
            <a:schemeClr val="accent1"/>
          </a:fillRef>
          <a:effectRef idx="0">
            <a:schemeClr val="accent1"/>
          </a:effectRef>
          <a:fontRef idx="minor">
            <a:schemeClr val="tx1"/>
          </a:fontRef>
        </p:style>
      </p:cxnSp>
      <p:sp>
        <p:nvSpPr>
          <p:cNvPr id="24" name="Line 15">
            <a:extLst>
              <a:ext uri="{FF2B5EF4-FFF2-40B4-BE49-F238E27FC236}">
                <a16:creationId xmlns:a16="http://schemas.microsoft.com/office/drawing/2014/main" id="{2CEF753F-76B1-3297-BF26-56C9265BE214}"/>
              </a:ext>
              <a:ext uri="{C183D7F6-B498-43B3-948B-1728B52AA6E4}">
                <adec:decorative xmlns:adec="http://schemas.microsoft.com/office/drawing/2017/decorative" val="1"/>
              </a:ext>
            </a:extLst>
          </p:cNvPr>
          <p:cNvSpPr>
            <a:spLocks noChangeShapeType="1"/>
          </p:cNvSpPr>
          <p:nvPr/>
        </p:nvSpPr>
        <p:spPr bwMode="auto">
          <a:xfrm flipH="1">
            <a:off x="6684964" y="4070350"/>
            <a:ext cx="650875" cy="47625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5" name="Text Box 16">
            <a:extLst>
              <a:ext uri="{FF2B5EF4-FFF2-40B4-BE49-F238E27FC236}">
                <a16:creationId xmlns:a16="http://schemas.microsoft.com/office/drawing/2014/main" id="{DE09215A-BC02-DD13-BD6F-FA9EE175C79E}"/>
              </a:ext>
              <a:ext uri="{C183D7F6-B498-43B3-948B-1728B52AA6E4}">
                <adec:decorative xmlns:adec="http://schemas.microsoft.com/office/drawing/2017/decorative" val="1"/>
              </a:ext>
            </a:extLst>
          </p:cNvPr>
          <p:cNvSpPr txBox="1">
            <a:spLocks noChangeArrowheads="1"/>
          </p:cNvSpPr>
          <p:nvPr/>
        </p:nvSpPr>
        <p:spPr bwMode="auto">
          <a:xfrm>
            <a:off x="7305676" y="3692525"/>
            <a:ext cx="86201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dirty="0"/>
              <a:t>DWL</a:t>
            </a:r>
          </a:p>
        </p:txBody>
      </p:sp>
      <p:cxnSp>
        <p:nvCxnSpPr>
          <p:cNvPr id="26" name="Straight Connector 25">
            <a:extLst>
              <a:ext uri="{FF2B5EF4-FFF2-40B4-BE49-F238E27FC236}">
                <a16:creationId xmlns:a16="http://schemas.microsoft.com/office/drawing/2014/main" id="{A2DD8D08-3912-D0AF-F20C-228630A771BF}"/>
              </a:ext>
              <a:ext uri="{C183D7F6-B498-43B3-948B-1728B52AA6E4}">
                <adec:decorative xmlns:adec="http://schemas.microsoft.com/office/drawing/2017/decorative" val="1"/>
              </a:ext>
            </a:extLst>
          </p:cNvPr>
          <p:cNvCxnSpPr>
            <a:cxnSpLocks/>
          </p:cNvCxnSpPr>
          <p:nvPr/>
        </p:nvCxnSpPr>
        <p:spPr>
          <a:xfrm>
            <a:off x="6400800" y="4008438"/>
            <a:ext cx="0" cy="147796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86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p:bldP spid="24" grpId="0" animBg="1"/>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51B1A-51B5-78E9-C6FF-1568BFE28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14C07-17AB-1214-A302-BB60DC174092}"/>
              </a:ext>
            </a:extLst>
          </p:cNvPr>
          <p:cNvSpPr>
            <a:spLocks noGrp="1"/>
          </p:cNvSpPr>
          <p:nvPr>
            <p:ph type="ctrTitle"/>
          </p:nvPr>
        </p:nvSpPr>
        <p:spPr/>
        <p:txBody>
          <a:bodyPr/>
          <a:lstStyle/>
          <a:p>
            <a:r>
              <a:rPr lang="en-US"/>
              <a:t>Examples: How Price Impacts Profits</a:t>
            </a:r>
          </a:p>
        </p:txBody>
      </p:sp>
      <p:pic>
        <p:nvPicPr>
          <p:cNvPr id="16" name="Picture 15" descr="Line graph showing the relationship between price and quantity. The blue line represents the downward-sloping demand curve, the red line shows marginal cost (MC), and the green line shows price set above MC. The intersection between demand and price indicates the quantity sold and highlights how pricing above cost affects profit potential.">
            <a:extLst>
              <a:ext uri="{FF2B5EF4-FFF2-40B4-BE49-F238E27FC236}">
                <a16:creationId xmlns:a16="http://schemas.microsoft.com/office/drawing/2014/main" id="{499ED599-B477-8028-4A39-CF94704945FE}"/>
              </a:ext>
            </a:extLst>
          </p:cNvPr>
          <p:cNvPicPr>
            <a:picLocks noChangeAspect="1"/>
          </p:cNvPicPr>
          <p:nvPr/>
        </p:nvPicPr>
        <p:blipFill>
          <a:blip r:embed="rId3"/>
          <a:stretch>
            <a:fillRect/>
          </a:stretch>
        </p:blipFill>
        <p:spPr>
          <a:xfrm>
            <a:off x="1592262" y="2412409"/>
            <a:ext cx="2941996" cy="2165350"/>
          </a:xfrm>
          <a:prstGeom prst="rect">
            <a:avLst/>
          </a:prstGeom>
        </p:spPr>
      </p:pic>
      <p:pic>
        <p:nvPicPr>
          <p:cNvPr id="21" name="Picture 20" descr="Line graph showing the relationship between price and quantity with demand (blue), marginal cost (red), and price (green) lines. The green price line is set above marginal cost, and a vertical dashed line marks the quantity sold where the price intersects the demand curve, illustrating how higher pricing reduces quantity demanded but increases profit per unit.">
            <a:extLst>
              <a:ext uri="{FF2B5EF4-FFF2-40B4-BE49-F238E27FC236}">
                <a16:creationId xmlns:a16="http://schemas.microsoft.com/office/drawing/2014/main" id="{D5357C43-2988-B582-AC39-82198F47CEE0}"/>
              </a:ext>
            </a:extLst>
          </p:cNvPr>
          <p:cNvPicPr>
            <a:picLocks noChangeAspect="1"/>
          </p:cNvPicPr>
          <p:nvPr/>
        </p:nvPicPr>
        <p:blipFill>
          <a:blip r:embed="rId4"/>
          <a:stretch>
            <a:fillRect/>
          </a:stretch>
        </p:blipFill>
        <p:spPr>
          <a:xfrm>
            <a:off x="4867334" y="2412409"/>
            <a:ext cx="2941996" cy="2165350"/>
          </a:xfrm>
          <a:prstGeom prst="rect">
            <a:avLst/>
          </a:prstGeom>
        </p:spPr>
      </p:pic>
      <p:pic>
        <p:nvPicPr>
          <p:cNvPr id="23" name="Picture 22" descr="Line graph showing demand (blue), marginal cost (red), and price (green) lines. The price line is set high above marginal cost, with a dashed line marking a small quantity sold where price meets demand. The chart illustrates that very high prices reduce quantity demanded significantly, lowering total sales even as profit per unit rises.">
            <a:extLst>
              <a:ext uri="{FF2B5EF4-FFF2-40B4-BE49-F238E27FC236}">
                <a16:creationId xmlns:a16="http://schemas.microsoft.com/office/drawing/2014/main" id="{6EF4BC45-B538-5997-7505-ECC7645E205A}"/>
              </a:ext>
            </a:extLst>
          </p:cNvPr>
          <p:cNvPicPr>
            <a:picLocks noChangeAspect="1"/>
          </p:cNvPicPr>
          <p:nvPr/>
        </p:nvPicPr>
        <p:blipFill>
          <a:blip r:embed="rId5"/>
          <a:stretch>
            <a:fillRect/>
          </a:stretch>
        </p:blipFill>
        <p:spPr>
          <a:xfrm>
            <a:off x="7953435" y="2412409"/>
            <a:ext cx="2941996" cy="2165350"/>
          </a:xfrm>
          <a:prstGeom prst="rect">
            <a:avLst/>
          </a:prstGeom>
        </p:spPr>
      </p:pic>
      <p:sp>
        <p:nvSpPr>
          <p:cNvPr id="5" name="Date Placeholder 4">
            <a:extLst>
              <a:ext uri="{FF2B5EF4-FFF2-40B4-BE49-F238E27FC236}">
                <a16:creationId xmlns:a16="http://schemas.microsoft.com/office/drawing/2014/main" id="{EAF618F9-C252-CEC3-F646-E171A23CCD5C}"/>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072023B1-BEFB-E2EB-9FA4-20D98BAA1A44}"/>
              </a:ext>
            </a:extLst>
          </p:cNvPr>
          <p:cNvSpPr>
            <a:spLocks noGrp="1"/>
          </p:cNvSpPr>
          <p:nvPr>
            <p:ph type="sldNum" sz="quarter" idx="12"/>
          </p:nvPr>
        </p:nvSpPr>
        <p:spPr/>
        <p:txBody>
          <a:bodyPr/>
          <a:lstStyle/>
          <a:p>
            <a:fld id="{8A7A6979-0714-4377-B894-6BE4C2D6E202}" type="slidenum">
              <a:rPr lang="en-US" smtClean="0"/>
              <a:pPr/>
              <a:t>12</a:t>
            </a:fld>
            <a:endParaRPr lang="en-US"/>
          </a:p>
        </p:txBody>
      </p:sp>
    </p:spTree>
    <p:extLst>
      <p:ext uri="{BB962C8B-B14F-4D97-AF65-F5344CB8AC3E}">
        <p14:creationId xmlns:p14="http://schemas.microsoft.com/office/powerpoint/2010/main" val="376349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a:t>Quick Exercise</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13</a:t>
            </a:fld>
            <a:endParaRPr lang="en-US"/>
          </a:p>
        </p:txBody>
      </p:sp>
      <mc:AlternateContent xmlns:mc="http://schemas.openxmlformats.org/markup-compatibility/2006" xmlns:a14="http://schemas.microsoft.com/office/drawing/2010/main">
        <mc:Choice Requires="a14">
          <p:sp>
            <p:nvSpPr>
              <p:cNvPr id="66" name="Text Placeholder 3">
                <a:extLst>
                  <a:ext uri="{FF2B5EF4-FFF2-40B4-BE49-F238E27FC236}">
                    <a16:creationId xmlns:a16="http://schemas.microsoft.com/office/drawing/2014/main" id="{B84AA218-9AEA-113D-5B8D-4C98C8D221B7}"/>
                  </a:ext>
                </a:extLst>
              </p:cNvPr>
              <p:cNvSpPr>
                <a:spLocks noGrp="1"/>
              </p:cNvSpPr>
              <p:nvPr>
                <p:ph type="body" sz="quarter" idx="14"/>
              </p:nvPr>
            </p:nvSpPr>
            <p:spPr>
              <a:xfrm>
                <a:off x="1828800" y="1500189"/>
                <a:ext cx="8755380" cy="3828738"/>
              </a:xfrm>
            </p:spPr>
            <p:txBody>
              <a:bodyPr>
                <a:normAutofit/>
              </a:bodyPr>
              <a:lstStyle/>
              <a:p>
                <a:r>
                  <a:rPr lang="en-US" sz="2400" dirty="0"/>
                  <a:t>Example on previous slide: </a:t>
                </a: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=100−1.1∗</m:t>
                    </m:r>
                    <m:r>
                      <a:rPr lang="en-US" sz="2400" b="0" i="1" smtClean="0">
                        <a:latin typeface="Cambria Math" panose="02040503050406030204" pitchFamily="18" charset="0"/>
                      </a:rPr>
                      <m:t>𝑃</m:t>
                    </m:r>
                    <m:r>
                      <a:rPr lang="en-US" sz="2400" b="0" i="1" smtClean="0">
                        <a:latin typeface="Cambria Math" panose="02040503050406030204" pitchFamily="18" charset="0"/>
                      </a:rPr>
                      <m:t>, </m:t>
                    </m:r>
                    <m:r>
                      <a:rPr lang="en-US" sz="2400" b="0" i="1" smtClean="0">
                        <a:latin typeface="Cambria Math" panose="02040503050406030204" pitchFamily="18" charset="0"/>
                      </a:rPr>
                      <m:t>𝑀𝐶</m:t>
                    </m:r>
                    <m:r>
                      <a:rPr lang="en-US" sz="2400" b="0" i="1" smtClean="0">
                        <a:latin typeface="Cambria Math" panose="02040503050406030204" pitchFamily="18" charset="0"/>
                      </a:rPr>
                      <m:t>=20</m:t>
                    </m:r>
                  </m:oMath>
                </a14:m>
                <a:endParaRPr lang="en-US" sz="2400" dirty="0"/>
              </a:p>
              <a:p>
                <a:endParaRPr lang="en-US" sz="2400" dirty="0"/>
              </a:p>
              <a:p>
                <a:r>
                  <a:rPr lang="en-US" sz="2400" dirty="0"/>
                  <a:t>Question: Who can find the price closest to optimal?</a:t>
                </a:r>
              </a:p>
              <a:p>
                <a:pPr lvl="1"/>
                <a:r>
                  <a:rPr lang="en-US" sz="2400" dirty="0"/>
                  <a:t>Take 5-10 minutes and calculate price that maximizes profits</a:t>
                </a:r>
              </a:p>
              <a:p>
                <a:pPr lvl="1"/>
                <a:endParaRPr lang="en-US" sz="2400" dirty="0"/>
              </a:p>
              <a:p>
                <a:pPr marL="228600" lvl="1"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r>
                                    <a:rPr lang="en-US" sz="2400" b="0" i="1" smtClean="0">
                                      <a:latin typeface="Cambria Math" panose="02040503050406030204" pitchFamily="18" charset="0"/>
                                    </a:rPr>
                                    <m:t>𝑃</m:t>
                                  </m:r>
                                </m:lim>
                              </m:limLow>
                            </m:fName>
                            <m:e>
                              <m:r>
                                <a:rPr lang="en-US" sz="2400" b="0" i="1" smtClean="0">
                                  <a:latin typeface="Cambria Math" panose="02040503050406030204" pitchFamily="18" charset="0"/>
                                </a:rPr>
                                <m:t>𝑃𝑄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m:t>
                              </m:r>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m:t>
                              </m:r>
                              <m:r>
                                <a:rPr lang="en-US" sz="2400" b="0" i="1" smtClean="0">
                                  <a:latin typeface="Cambria Math" panose="02040503050406030204" pitchFamily="18" charset="0"/>
                                </a:rPr>
                                <m:t>𝑀𝐶</m:t>
                              </m:r>
                            </m:e>
                          </m:func>
                        </m:e>
                      </m:func>
                    </m:oMath>
                  </m:oMathPara>
                </a14:m>
                <a:endParaRPr lang="en-US" sz="2400" dirty="0"/>
              </a:p>
              <a:p>
                <a:endParaRPr lang="en-US" sz="2400" dirty="0"/>
              </a:p>
              <a:p>
                <a:r>
                  <a:rPr lang="en-US" sz="2400" dirty="0"/>
                  <a:t>Good strategy</a:t>
                </a:r>
              </a:p>
              <a:p>
                <a:pPr lvl="1"/>
                <a:r>
                  <a:rPr lang="en-US" sz="2400" dirty="0"/>
                  <a:t>Choose several prices, calculate profits</a:t>
                </a:r>
              </a:p>
            </p:txBody>
          </p:sp>
        </mc:Choice>
        <mc:Fallback xmlns="">
          <p:sp>
            <p:nvSpPr>
              <p:cNvPr id="66" name="Text Placeholder 3">
                <a:extLst>
                  <a:ext uri="{FF2B5EF4-FFF2-40B4-BE49-F238E27FC236}">
                    <a16:creationId xmlns:a16="http://schemas.microsoft.com/office/drawing/2014/main" id="{B84AA218-9AEA-113D-5B8D-4C98C8D221B7}"/>
                  </a:ext>
                </a:extLst>
              </p:cNvPr>
              <p:cNvSpPr>
                <a:spLocks noGrp="1" noRot="1" noChangeAspect="1" noMove="1" noResize="1" noEditPoints="1" noAdjustHandles="1" noChangeArrowheads="1" noChangeShapeType="1" noTextEdit="1"/>
              </p:cNvSpPr>
              <p:nvPr>
                <p:ph type="body" sz="quarter" idx="14"/>
              </p:nvPr>
            </p:nvSpPr>
            <p:spPr>
              <a:xfrm>
                <a:off x="1828800" y="1500189"/>
                <a:ext cx="8755380" cy="3828738"/>
              </a:xfrm>
              <a:blipFill>
                <a:blip r:embed="rId3"/>
                <a:stretch>
                  <a:fillRect l="-2029" t="-2649" b="-3974"/>
                </a:stretch>
              </a:blipFill>
            </p:spPr>
            <p:txBody>
              <a:bodyPr/>
              <a:lstStyle/>
              <a:p>
                <a:r>
                  <a:rPr lang="en-US">
                    <a:noFill/>
                  </a:rPr>
                  <a:t> </a:t>
                </a:r>
              </a:p>
            </p:txBody>
          </p:sp>
        </mc:Fallback>
      </mc:AlternateContent>
    </p:spTree>
    <p:extLst>
      <p:ext uri="{BB962C8B-B14F-4D97-AF65-F5344CB8AC3E}">
        <p14:creationId xmlns:p14="http://schemas.microsoft.com/office/powerpoint/2010/main" val="2966959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2E112-6099-F3F2-2622-4438B6ECD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0BA09-E9F7-313F-6D43-E06CAD34835E}"/>
              </a:ext>
            </a:extLst>
          </p:cNvPr>
          <p:cNvSpPr>
            <a:spLocks noGrp="1"/>
          </p:cNvSpPr>
          <p:nvPr>
            <p:ph type="ctrTitle"/>
          </p:nvPr>
        </p:nvSpPr>
        <p:spPr/>
        <p:txBody>
          <a:bodyPr/>
          <a:lstStyle/>
          <a:p>
            <a:r>
              <a:rPr lang="en-US" dirty="0"/>
              <a:t>Quick Exercise, Continued</a:t>
            </a:r>
          </a:p>
        </p:txBody>
      </p:sp>
      <p:pic>
        <p:nvPicPr>
          <p:cNvPr id="3" name="Picture 2" descr="Line graph showing profit (y-axis) as a function of price (x-axis). The blue curve rises, peaks around a price of $55, and then declines, forming an inverted U shape. A red dashed vertical line marks the profit-maximizing price where total profits reach their highest point.">
            <a:extLst>
              <a:ext uri="{FF2B5EF4-FFF2-40B4-BE49-F238E27FC236}">
                <a16:creationId xmlns:a16="http://schemas.microsoft.com/office/drawing/2014/main" id="{F8C5538B-64A9-CF5D-1224-F21699859BA9}"/>
              </a:ext>
            </a:extLst>
          </p:cNvPr>
          <p:cNvPicPr>
            <a:picLocks noChangeAspect="1"/>
          </p:cNvPicPr>
          <p:nvPr/>
        </p:nvPicPr>
        <p:blipFill>
          <a:blip r:embed="rId3"/>
          <a:stretch>
            <a:fillRect/>
          </a:stretch>
        </p:blipFill>
        <p:spPr>
          <a:xfrm>
            <a:off x="3016153" y="887637"/>
            <a:ext cx="6397199" cy="4781182"/>
          </a:xfrm>
          <a:prstGeom prst="rect">
            <a:avLst/>
          </a:prstGeom>
        </p:spPr>
      </p:pic>
      <p:sp>
        <p:nvSpPr>
          <p:cNvPr id="5" name="Date Placeholder 4">
            <a:extLst>
              <a:ext uri="{FF2B5EF4-FFF2-40B4-BE49-F238E27FC236}">
                <a16:creationId xmlns:a16="http://schemas.microsoft.com/office/drawing/2014/main" id="{F39389CB-AB3E-B27B-E2F3-B3EB3041B999}"/>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5A9A0FDE-E364-4EF9-DB73-DFC707B21A3B}"/>
              </a:ext>
            </a:extLst>
          </p:cNvPr>
          <p:cNvSpPr>
            <a:spLocks noGrp="1"/>
          </p:cNvSpPr>
          <p:nvPr>
            <p:ph type="sldNum" sz="quarter" idx="12"/>
          </p:nvPr>
        </p:nvSpPr>
        <p:spPr/>
        <p:txBody>
          <a:bodyPr/>
          <a:lstStyle/>
          <a:p>
            <a:fld id="{8A7A6979-0714-4377-B894-6BE4C2D6E202}" type="slidenum">
              <a:rPr lang="en-US" smtClean="0"/>
              <a:pPr/>
              <a:t>14</a:t>
            </a:fld>
            <a:endParaRPr lang="en-US"/>
          </a:p>
        </p:txBody>
      </p:sp>
    </p:spTree>
    <p:extLst>
      <p:ext uri="{BB962C8B-B14F-4D97-AF65-F5344CB8AC3E}">
        <p14:creationId xmlns:p14="http://schemas.microsoft.com/office/powerpoint/2010/main" val="227718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0B6B-E040-8A8D-D7F4-47A9169DA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C9DBA-96B6-93A6-394A-00F0C7A71D27}"/>
              </a:ext>
            </a:extLst>
          </p:cNvPr>
          <p:cNvSpPr>
            <a:spLocks noGrp="1"/>
          </p:cNvSpPr>
          <p:nvPr>
            <p:ph type="ctrTitle"/>
          </p:nvPr>
        </p:nvSpPr>
        <p:spPr/>
        <p:txBody>
          <a:bodyPr/>
          <a:lstStyle/>
          <a:p>
            <a:r>
              <a:rPr lang="en-US"/>
              <a:t>Price Elasticity is a Key Quantity</a:t>
            </a:r>
          </a:p>
        </p:txBody>
      </p:sp>
      <mc:AlternateContent xmlns:mc="http://schemas.openxmlformats.org/markup-compatibility/2006" xmlns:a14="http://schemas.microsoft.com/office/drawing/2010/main">
        <mc:Choice Requires="a14">
          <p:sp>
            <p:nvSpPr>
              <p:cNvPr id="66" name="Text Placeholder 3">
                <a:extLst>
                  <a:ext uri="{FF2B5EF4-FFF2-40B4-BE49-F238E27FC236}">
                    <a16:creationId xmlns:a16="http://schemas.microsoft.com/office/drawing/2014/main" id="{CD00F711-BAF2-5834-7A40-F764B247D111}"/>
                  </a:ext>
                </a:extLst>
              </p:cNvPr>
              <p:cNvSpPr>
                <a:spLocks noGrp="1"/>
              </p:cNvSpPr>
              <p:nvPr>
                <p:ph type="body" sz="quarter" idx="14"/>
              </p:nvPr>
            </p:nvSpPr>
            <p:spPr>
              <a:xfrm>
                <a:off x="1828800" y="1500189"/>
                <a:ext cx="8755380" cy="3828738"/>
              </a:xfrm>
            </p:spPr>
            <p:txBody>
              <a:bodyPr>
                <a:normAutofit fontScale="92500"/>
              </a:bodyPr>
              <a:lstStyle/>
              <a:p>
                <a:r>
                  <a:rPr lang="en-US" sz="2400" dirty="0"/>
                  <a:t>Price elasticity of demand:</a:t>
                </a:r>
              </a:p>
              <a:p>
                <a:pPr marL="228600" lvl="1"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 </m:t>
                          </m:r>
                          <m:r>
                            <a:rPr lang="en-US" sz="2400" b="0" i="1" smtClean="0">
                              <a:latin typeface="Cambria Math" panose="02040503050406030204" pitchFamily="18" charset="0"/>
                            </a:rPr>
                            <m:t>𝐶h𝑎𝑛𝑔𝑒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𝑄𝑢𝑎𝑛𝑡𝑖𝑡𝑦</m:t>
                          </m:r>
                          <m:r>
                            <a:rPr lang="en-US" sz="2400" b="0" i="1" smtClean="0">
                              <a:latin typeface="Cambria Math" panose="02040503050406030204" pitchFamily="18" charset="0"/>
                            </a:rPr>
                            <m:t> </m:t>
                          </m:r>
                          <m:r>
                            <a:rPr lang="en-US" sz="2400" b="0" i="1" smtClean="0">
                              <a:latin typeface="Cambria Math" panose="02040503050406030204" pitchFamily="18" charset="0"/>
                            </a:rPr>
                            <m:t>𝐷𝑒𝑚𝑎𝑛𝑑𝑒𝑑</m:t>
                          </m:r>
                        </m:num>
                        <m:den>
                          <m:r>
                            <a:rPr lang="en-US" sz="2400" b="0" i="1" smtClean="0">
                              <a:latin typeface="Cambria Math" panose="02040503050406030204" pitchFamily="18" charset="0"/>
                            </a:rPr>
                            <m:t>% </m:t>
                          </m:r>
                          <m:r>
                            <a:rPr lang="en-US" sz="2400" b="0" i="1" smtClean="0">
                              <a:latin typeface="Cambria Math" panose="02040503050406030204" pitchFamily="18" charset="0"/>
                            </a:rPr>
                            <m:t>𝐶h𝑎𝑛𝑔𝑒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𝑃𝑟𝑖𝑐𝑒</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𝑄</m:t>
                          </m:r>
                          <m:r>
                            <a:rPr lang="en-US" sz="2400" b="0" i="1" smtClean="0">
                              <a:latin typeface="Cambria Math" panose="02040503050406030204" pitchFamily="18" charset="0"/>
                            </a:rPr>
                            <m:t>/</m:t>
                          </m:r>
                          <m:r>
                            <a:rPr lang="en-US" sz="2400" b="0" i="1" smtClean="0">
                              <a:latin typeface="Cambria Math" panose="02040503050406030204" pitchFamily="18" charset="0"/>
                            </a:rPr>
                            <m:t>𝑄</m:t>
                          </m:r>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𝑃</m:t>
                          </m:r>
                        </m:den>
                      </m:f>
                    </m:oMath>
                  </m:oMathPara>
                </a14:m>
                <a:endParaRPr lang="en-US" sz="2400" dirty="0"/>
              </a:p>
              <a:p>
                <a:endParaRPr lang="en-US" sz="2400" dirty="0"/>
              </a:p>
              <a:p>
                <a:r>
                  <a:rPr lang="en-US" sz="2400" dirty="0"/>
                  <a:t>Under certain conditions: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𝑀𝐶</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den>
                      </m:f>
                    </m:oMath>
                  </m:oMathPara>
                </a14:m>
                <a:endParaRPr lang="en-US" sz="2400" dirty="0"/>
              </a:p>
              <a:p>
                <a:r>
                  <a:rPr lang="en-US" sz="2400" dirty="0"/>
                  <a:t>Implications</a:t>
                </a:r>
              </a:p>
              <a:p>
                <a:pPr lvl="1"/>
                <a:r>
                  <a:rPr lang="en-US" sz="2400" dirty="0"/>
                  <a:t>If elasticity is close to 0, optimal markups can be large</a:t>
                </a:r>
              </a:p>
              <a:p>
                <a:pPr lvl="1"/>
                <a:r>
                  <a:rPr lang="en-US" sz="2400" dirty="0"/>
                  <a:t>If people are price elastic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oMath>
                </a14:m>
                <a:r>
                  <a:rPr lang="en-US" sz="2400" dirty="0"/>
                  <a:t> very negative) optimal markups smaller</a:t>
                </a:r>
              </a:p>
              <a:p>
                <a:pPr lvl="1"/>
                <a:endParaRPr lang="en-US" sz="2400" dirty="0"/>
              </a:p>
              <a:p>
                <a:pPr marL="0" indent="0">
                  <a:buNone/>
                </a:pPr>
                <a:endParaRPr lang="en-US" sz="2400" dirty="0"/>
              </a:p>
              <a:p>
                <a:pPr marL="0" indent="0">
                  <a:buNone/>
                </a:pPr>
                <a:endParaRPr lang="en-US" sz="2400" dirty="0"/>
              </a:p>
            </p:txBody>
          </p:sp>
        </mc:Choice>
        <mc:Fallback xmlns="">
          <p:sp>
            <p:nvSpPr>
              <p:cNvPr id="66" name="Text Placeholder 3">
                <a:extLst>
                  <a:ext uri="{FF2B5EF4-FFF2-40B4-BE49-F238E27FC236}">
                    <a16:creationId xmlns:a16="http://schemas.microsoft.com/office/drawing/2014/main" id="{CD00F711-BAF2-5834-7A40-F764B247D111}"/>
                  </a:ext>
                </a:extLst>
              </p:cNvPr>
              <p:cNvSpPr>
                <a:spLocks noGrp="1" noRot="1" noChangeAspect="1" noMove="1" noResize="1" noEditPoints="1" noAdjustHandles="1" noChangeArrowheads="1" noChangeShapeType="1" noTextEdit="1"/>
              </p:cNvSpPr>
              <p:nvPr>
                <p:ph type="body" sz="quarter" idx="14"/>
              </p:nvPr>
            </p:nvSpPr>
            <p:spPr>
              <a:xfrm>
                <a:off x="1828800" y="1500189"/>
                <a:ext cx="8755380" cy="3828738"/>
              </a:xfrm>
              <a:blipFill>
                <a:blip r:embed="rId3"/>
                <a:stretch>
                  <a:fillRect l="-1739" t="-2318"/>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F7AF2E3D-ADD1-8578-15C3-EEEF71E956E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6BCFC45E-937A-BB0F-5B42-E204573B398B}"/>
              </a:ext>
            </a:extLst>
          </p:cNvPr>
          <p:cNvSpPr>
            <a:spLocks noGrp="1"/>
          </p:cNvSpPr>
          <p:nvPr>
            <p:ph type="sldNum" sz="quarter" idx="12"/>
          </p:nvPr>
        </p:nvSpPr>
        <p:spPr/>
        <p:txBody>
          <a:bodyPr/>
          <a:lstStyle/>
          <a:p>
            <a:fld id="{8A7A6979-0714-4377-B894-6BE4C2D6E202}" type="slidenum">
              <a:rPr lang="en-US" smtClean="0"/>
              <a:pPr/>
              <a:t>15</a:t>
            </a:fld>
            <a:endParaRPr lang="en-US"/>
          </a:p>
        </p:txBody>
      </p:sp>
    </p:spTree>
    <p:extLst>
      <p:ext uri="{BB962C8B-B14F-4D97-AF65-F5344CB8AC3E}">
        <p14:creationId xmlns:p14="http://schemas.microsoft.com/office/powerpoint/2010/main" val="310120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B7821-50E8-C3BF-72F9-2939858DE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24225-121E-FA8F-5D43-D5EA6F673476}"/>
              </a:ext>
            </a:extLst>
          </p:cNvPr>
          <p:cNvSpPr>
            <a:spLocks noGrp="1"/>
          </p:cNvSpPr>
          <p:nvPr>
            <p:ph type="ctrTitle"/>
          </p:nvPr>
        </p:nvSpPr>
        <p:spPr/>
        <p:txBody>
          <a:bodyPr/>
          <a:lstStyle/>
          <a:p>
            <a:r>
              <a:rPr lang="en-US"/>
              <a:t>Interpreting Elasticities</a:t>
            </a:r>
          </a:p>
        </p:txBody>
      </p:sp>
      <mc:AlternateContent xmlns:mc="http://schemas.openxmlformats.org/markup-compatibility/2006" xmlns:a14="http://schemas.microsoft.com/office/drawing/2010/main">
        <mc:Choice Requires="a14">
          <p:sp>
            <p:nvSpPr>
              <p:cNvPr id="66" name="Text Placeholder 3">
                <a:extLst>
                  <a:ext uri="{FF2B5EF4-FFF2-40B4-BE49-F238E27FC236}">
                    <a16:creationId xmlns:a16="http://schemas.microsoft.com/office/drawing/2014/main" id="{5EF73533-5571-EDDB-5F1F-853B815EB52E}"/>
                  </a:ext>
                </a:extLst>
              </p:cNvPr>
              <p:cNvSpPr>
                <a:spLocks noGrp="1"/>
              </p:cNvSpPr>
              <p:nvPr>
                <p:ph type="body" sz="quarter" idx="14"/>
              </p:nvPr>
            </p:nvSpPr>
            <p:spPr>
              <a:xfrm>
                <a:off x="1828800" y="1157288"/>
                <a:ext cx="8755380" cy="4171639"/>
              </a:xfrm>
            </p:spPr>
            <p:txBody>
              <a:bodyPr>
                <a:normAutofit fontScale="85000" lnSpcReduction="10000"/>
              </a:bodyPr>
              <a:lstStyle/>
              <a:p>
                <a:r>
                  <a:rPr lang="en-US" sz="2400"/>
                  <a:t>0&gt;</a:t>
                </a:r>
                <a:r>
                  <a:rPr lang="en-US" sz="2400" b="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oMath>
                </a14:m>
                <a:r>
                  <a:rPr lang="en-US" sz="2400"/>
                  <a:t>&gt;-1</a:t>
                </a:r>
              </a:p>
              <a:p>
                <a:pPr lvl="1"/>
                <a:r>
                  <a:rPr lang="en-US" sz="2400"/>
                  <a:t>Great, you have identified a segment of customers who love the product and are price inelastic. Consider raising prices</a:t>
                </a:r>
              </a:p>
              <a:p>
                <a:endParaRPr lang="en-US" sz="240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r>
                      <a:rPr lang="en-US" sz="2400" b="0" i="1" smtClean="0">
                        <a:latin typeface="Cambria Math" panose="02040503050406030204" pitchFamily="18" charset="0"/>
                      </a:rPr>
                      <m:t>&lt;−3</m:t>
                    </m:r>
                  </m:oMath>
                </a14:m>
                <a:endParaRPr lang="en-US" sz="2400"/>
              </a:p>
              <a:p>
                <a:pPr lvl="1"/>
                <a:r>
                  <a:rPr lang="en-US" sz="2400"/>
                  <a:t>Common reaction: Great, let’s lower prices to increase sales</a:t>
                </a:r>
              </a:p>
              <a:p>
                <a:pPr lvl="1"/>
                <a:r>
                  <a:rPr lang="en-US" sz="2400"/>
                  <a:t>Actuality: Customers price shopping, likely very competitive, reducing prices may cause competitors to respond</a:t>
                </a:r>
              </a:p>
              <a:p>
                <a:pPr lvl="1"/>
                <a:endParaRPr lang="en-US" sz="2400"/>
              </a:p>
              <a:p>
                <a14:m>
                  <m:oMath xmlns:m="http://schemas.openxmlformats.org/officeDocument/2006/math">
                    <m:r>
                      <a:rPr lang="en-US" sz="2400" b="0" i="1" smtClean="0">
                        <a:latin typeface="Cambria Math" panose="02040503050406030204" pitchFamily="18" charset="0"/>
                      </a:rPr>
                      <m:t>−1&gt;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r>
                      <a:rPr lang="en-US" sz="2400" b="0" i="1" smtClean="0">
                        <a:latin typeface="Cambria Math" panose="02040503050406030204" pitchFamily="18" charset="0"/>
                      </a:rPr>
                      <m:t>&gt;−3</m:t>
                    </m:r>
                  </m:oMath>
                </a14:m>
                <a:endParaRPr lang="en-US" sz="2400"/>
              </a:p>
              <a:p>
                <a:pPr lvl="1"/>
                <a:r>
                  <a:rPr lang="en-US" sz="2400"/>
                  <a:t>The most common situation. Effect of price change is ambiguous.</a:t>
                </a:r>
              </a:p>
              <a:p>
                <a:pPr lvl="1"/>
                <a:r>
                  <a:rPr lang="en-US" sz="2400"/>
                  <a:t>Likely shouldn’t lower prices, as competitors may respond. Possibility to raise.</a:t>
                </a:r>
              </a:p>
              <a:p>
                <a:pPr lvl="1"/>
                <a:endParaRPr lang="en-US" sz="2400"/>
              </a:p>
              <a:p>
                <a:pPr lvl="1"/>
                <a:endParaRPr lang="en-US" sz="2400"/>
              </a:p>
              <a:p>
                <a:pPr marL="0" indent="0">
                  <a:buNone/>
                </a:pPr>
                <a:endParaRPr lang="en-US" sz="2400"/>
              </a:p>
              <a:p>
                <a:pPr marL="0" indent="0">
                  <a:buNone/>
                </a:pPr>
                <a:endParaRPr lang="en-US" sz="2400"/>
              </a:p>
            </p:txBody>
          </p:sp>
        </mc:Choice>
        <mc:Fallback xmlns="">
          <p:sp>
            <p:nvSpPr>
              <p:cNvPr id="66" name="Text Placeholder 3">
                <a:extLst>
                  <a:ext uri="{FF2B5EF4-FFF2-40B4-BE49-F238E27FC236}">
                    <a16:creationId xmlns:a16="http://schemas.microsoft.com/office/drawing/2014/main" id="{5EF73533-5571-EDDB-5F1F-853B815EB52E}"/>
                  </a:ext>
                </a:extLst>
              </p:cNvPr>
              <p:cNvSpPr>
                <a:spLocks noGrp="1" noRot="1" noChangeAspect="1" noMove="1" noResize="1" noEditPoints="1" noAdjustHandles="1" noChangeArrowheads="1" noChangeShapeType="1" noTextEdit="1"/>
              </p:cNvSpPr>
              <p:nvPr>
                <p:ph type="body" sz="quarter" idx="14"/>
              </p:nvPr>
            </p:nvSpPr>
            <p:spPr>
              <a:xfrm>
                <a:off x="1828800" y="1157288"/>
                <a:ext cx="8755380" cy="4171639"/>
              </a:xfrm>
              <a:blipFill>
                <a:blip r:embed="rId3"/>
                <a:stretch>
                  <a:fillRect l="-1739" t="-2432" r="-1304" b="-243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17357129-DF7A-8197-1D6D-EEFC678F509F}"/>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76310B49-3B71-2AFE-A700-ADB4F21C5434}"/>
              </a:ext>
            </a:extLst>
          </p:cNvPr>
          <p:cNvSpPr>
            <a:spLocks noGrp="1"/>
          </p:cNvSpPr>
          <p:nvPr>
            <p:ph type="sldNum" sz="quarter" idx="12"/>
          </p:nvPr>
        </p:nvSpPr>
        <p:spPr/>
        <p:txBody>
          <a:bodyPr/>
          <a:lstStyle/>
          <a:p>
            <a:fld id="{8A7A6979-0714-4377-B894-6BE4C2D6E202}" type="slidenum">
              <a:rPr lang="en-US" smtClean="0"/>
              <a:pPr/>
              <a:t>16</a:t>
            </a:fld>
            <a:endParaRPr lang="en-US"/>
          </a:p>
        </p:txBody>
      </p:sp>
    </p:spTree>
    <p:extLst>
      <p:ext uri="{BB962C8B-B14F-4D97-AF65-F5344CB8AC3E}">
        <p14:creationId xmlns:p14="http://schemas.microsoft.com/office/powerpoint/2010/main" val="91948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0DF5-DDA2-C769-F7DC-C95DF02C1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E1197-6F64-1879-3F7C-B7E32B0B97F6}"/>
              </a:ext>
            </a:extLst>
          </p:cNvPr>
          <p:cNvSpPr>
            <a:spLocks noGrp="1"/>
          </p:cNvSpPr>
          <p:nvPr>
            <p:ph type="ctrTitle"/>
          </p:nvPr>
        </p:nvSpPr>
        <p:spPr>
          <a:xfrm>
            <a:off x="2647199" y="1501742"/>
            <a:ext cx="7300940" cy="664797"/>
          </a:xfrm>
        </p:spPr>
        <p:txBody>
          <a:bodyPr/>
          <a:lstStyle/>
          <a:p>
            <a:r>
              <a:rPr lang="en-US"/>
              <a:t>Pricing in practice</a:t>
            </a:r>
          </a:p>
        </p:txBody>
      </p:sp>
      <p:sp>
        <p:nvSpPr>
          <p:cNvPr id="4" name="Date Placeholder 3">
            <a:extLst>
              <a:ext uri="{FF2B5EF4-FFF2-40B4-BE49-F238E27FC236}">
                <a16:creationId xmlns:a16="http://schemas.microsoft.com/office/drawing/2014/main" id="{57CAF454-7063-3C5B-7B01-AECF8C93CE6D}"/>
              </a:ext>
            </a:extLst>
          </p:cNvPr>
          <p:cNvSpPr>
            <a:spLocks noGrp="1"/>
          </p:cNvSpPr>
          <p:nvPr>
            <p:ph type="dt" sz="half" idx="10"/>
          </p:nvPr>
        </p:nvSpPr>
        <p:spPr/>
        <p:txBody>
          <a:bodyPr/>
          <a:lstStyle/>
          <a:p>
            <a:fld id="{D47A9A36-4EB0-BF46-AE48-7CDA251B954B}" type="datetime1">
              <a:rPr lang="en-US" smtClean="0"/>
              <a:pPr/>
              <a:t>11/12/2025</a:t>
            </a:fld>
            <a:endParaRPr lang="en-US"/>
          </a:p>
        </p:txBody>
      </p:sp>
      <p:sp>
        <p:nvSpPr>
          <p:cNvPr id="5" name="Slide Number Placeholder 4">
            <a:extLst>
              <a:ext uri="{FF2B5EF4-FFF2-40B4-BE49-F238E27FC236}">
                <a16:creationId xmlns:a16="http://schemas.microsoft.com/office/drawing/2014/main" id="{3200429F-1039-0775-B010-07C71A259BB5}"/>
              </a:ext>
            </a:extLst>
          </p:cNvPr>
          <p:cNvSpPr>
            <a:spLocks noGrp="1"/>
          </p:cNvSpPr>
          <p:nvPr>
            <p:ph type="sldNum" sz="quarter" idx="12"/>
          </p:nvPr>
        </p:nvSpPr>
        <p:spPr/>
        <p:txBody>
          <a:bodyPr/>
          <a:lstStyle/>
          <a:p>
            <a:fld id="{8A7A6979-0714-4377-B894-6BE4C2D6E202}" type="slidenum">
              <a:rPr lang="en-US" smtClean="0"/>
              <a:pPr/>
              <a:t>17</a:t>
            </a:fld>
            <a:endParaRPr lang="en-US"/>
          </a:p>
        </p:txBody>
      </p:sp>
    </p:spTree>
    <p:extLst>
      <p:ext uri="{BB962C8B-B14F-4D97-AF65-F5344CB8AC3E}">
        <p14:creationId xmlns:p14="http://schemas.microsoft.com/office/powerpoint/2010/main" val="646976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13DF4-63AC-CFE6-978C-67C69DDD1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FB52B-0A1F-D581-066B-A619C162C675}"/>
              </a:ext>
            </a:extLst>
          </p:cNvPr>
          <p:cNvSpPr>
            <a:spLocks noGrp="1"/>
          </p:cNvSpPr>
          <p:nvPr>
            <p:ph type="ctrTitle"/>
          </p:nvPr>
        </p:nvSpPr>
        <p:spPr/>
        <p:txBody>
          <a:bodyPr/>
          <a:lstStyle/>
          <a:p>
            <a:r>
              <a:rPr lang="en-US" dirty="0"/>
              <a:t>Pricing in Practice, Continued</a:t>
            </a:r>
          </a:p>
        </p:txBody>
      </p:sp>
      <p:sp>
        <p:nvSpPr>
          <p:cNvPr id="4" name="Text Placeholder 3">
            <a:extLst>
              <a:ext uri="{FF2B5EF4-FFF2-40B4-BE49-F238E27FC236}">
                <a16:creationId xmlns:a16="http://schemas.microsoft.com/office/drawing/2014/main" id="{C6F842D8-0158-D1C7-42FA-786658A226F8}"/>
              </a:ext>
            </a:extLst>
          </p:cNvPr>
          <p:cNvSpPr>
            <a:spLocks noGrp="1"/>
          </p:cNvSpPr>
          <p:nvPr>
            <p:ph type="body" sz="quarter" idx="14"/>
          </p:nvPr>
        </p:nvSpPr>
        <p:spPr>
          <a:xfrm>
            <a:off x="1828800" y="1500189"/>
            <a:ext cx="8755380" cy="3828738"/>
          </a:xfrm>
        </p:spPr>
        <p:txBody>
          <a:bodyPr>
            <a:normAutofit/>
          </a:bodyPr>
          <a:lstStyle/>
          <a:p>
            <a:r>
              <a:rPr lang="en-US" sz="2400"/>
              <a:t>Given demand curve and costs, we can calculate optimal price</a:t>
            </a:r>
          </a:p>
          <a:p>
            <a:endParaRPr lang="en-US" sz="2400"/>
          </a:p>
          <a:p>
            <a:r>
              <a:rPr lang="en-US" sz="2400"/>
              <a:t>What do we need to do this?</a:t>
            </a:r>
          </a:p>
          <a:p>
            <a:pPr lvl="1"/>
            <a:r>
              <a:rPr lang="en-US" sz="2400"/>
              <a:t>Demand and costs!</a:t>
            </a:r>
          </a:p>
          <a:p>
            <a:pPr marL="0" indent="0">
              <a:buNone/>
            </a:pPr>
            <a:endParaRPr lang="en-US" sz="2400"/>
          </a:p>
          <a:p>
            <a:r>
              <a:rPr lang="en-US" sz="2400"/>
              <a:t>Important that these estimates are causal, need “good” variation in prices</a:t>
            </a:r>
          </a:p>
        </p:txBody>
      </p:sp>
      <p:sp>
        <p:nvSpPr>
          <p:cNvPr id="5" name="Date Placeholder 4">
            <a:extLst>
              <a:ext uri="{FF2B5EF4-FFF2-40B4-BE49-F238E27FC236}">
                <a16:creationId xmlns:a16="http://schemas.microsoft.com/office/drawing/2014/main" id="{EA7D9A77-D78F-D22D-AE77-4A0CF1E54277}"/>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5EA88660-D34B-08B1-6C60-B3EAAF306AEB}"/>
              </a:ext>
            </a:extLst>
          </p:cNvPr>
          <p:cNvSpPr>
            <a:spLocks noGrp="1"/>
          </p:cNvSpPr>
          <p:nvPr>
            <p:ph type="sldNum" sz="quarter" idx="12"/>
          </p:nvPr>
        </p:nvSpPr>
        <p:spPr/>
        <p:txBody>
          <a:bodyPr/>
          <a:lstStyle/>
          <a:p>
            <a:fld id="{8A7A6979-0714-4377-B894-6BE4C2D6E202}" type="slidenum">
              <a:rPr lang="en-US" smtClean="0"/>
              <a:pPr/>
              <a:t>18</a:t>
            </a:fld>
            <a:endParaRPr lang="en-US"/>
          </a:p>
        </p:txBody>
      </p:sp>
    </p:spTree>
    <p:extLst>
      <p:ext uri="{BB962C8B-B14F-4D97-AF65-F5344CB8AC3E}">
        <p14:creationId xmlns:p14="http://schemas.microsoft.com/office/powerpoint/2010/main" val="84176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BF815-5766-0BCE-20E8-4C441F200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3AB01-68BB-69BD-3968-D1342D9E882F}"/>
              </a:ext>
            </a:extLst>
          </p:cNvPr>
          <p:cNvSpPr>
            <a:spLocks noGrp="1"/>
          </p:cNvSpPr>
          <p:nvPr>
            <p:ph type="ctrTitle"/>
          </p:nvPr>
        </p:nvSpPr>
        <p:spPr/>
        <p:txBody>
          <a:bodyPr/>
          <a:lstStyle/>
          <a:p>
            <a:r>
              <a:rPr lang="en-US"/>
              <a:t>Estimating Demand in Historical Data</a:t>
            </a:r>
          </a:p>
        </p:txBody>
      </p:sp>
      <p:sp>
        <p:nvSpPr>
          <p:cNvPr id="4" name="Text Placeholder 3">
            <a:extLst>
              <a:ext uri="{FF2B5EF4-FFF2-40B4-BE49-F238E27FC236}">
                <a16:creationId xmlns:a16="http://schemas.microsoft.com/office/drawing/2014/main" id="{0BDF5380-0C97-1ED6-2DE1-797C8D8DF237}"/>
              </a:ext>
            </a:extLst>
          </p:cNvPr>
          <p:cNvSpPr>
            <a:spLocks noGrp="1"/>
          </p:cNvSpPr>
          <p:nvPr>
            <p:ph type="body" sz="quarter" idx="14"/>
          </p:nvPr>
        </p:nvSpPr>
        <p:spPr>
          <a:xfrm>
            <a:off x="1828800" y="1500189"/>
            <a:ext cx="8755380" cy="3828738"/>
          </a:xfrm>
        </p:spPr>
        <p:txBody>
          <a:bodyPr>
            <a:normAutofit/>
          </a:bodyPr>
          <a:lstStyle/>
          <a:p>
            <a:r>
              <a:rPr lang="en-US" sz="2400"/>
              <a:t>Key questions: </a:t>
            </a:r>
          </a:p>
          <a:p>
            <a:pPr lvl="1"/>
            <a:r>
              <a:rPr lang="en-US" sz="2400"/>
              <a:t>Has your firm changed prices?</a:t>
            </a:r>
          </a:p>
          <a:p>
            <a:pPr lvl="1"/>
            <a:r>
              <a:rPr lang="en-US" sz="2400"/>
              <a:t>Are these price changes un-correlated with other changes (i.e. demand)? </a:t>
            </a:r>
          </a:p>
          <a:p>
            <a:pPr lvl="1"/>
            <a:r>
              <a:rPr lang="en-US" sz="2400"/>
              <a:t>Have you run any pricing experiments?</a:t>
            </a:r>
          </a:p>
          <a:p>
            <a:pPr lvl="1"/>
            <a:endParaRPr lang="en-US" sz="2400"/>
          </a:p>
          <a:p>
            <a:r>
              <a:rPr lang="en-US" sz="2400"/>
              <a:t>If yes, ask your data scientists to estimate demand curve for you!</a:t>
            </a:r>
          </a:p>
        </p:txBody>
      </p:sp>
      <p:sp>
        <p:nvSpPr>
          <p:cNvPr id="5" name="Date Placeholder 4">
            <a:extLst>
              <a:ext uri="{FF2B5EF4-FFF2-40B4-BE49-F238E27FC236}">
                <a16:creationId xmlns:a16="http://schemas.microsoft.com/office/drawing/2014/main" id="{3230F238-A959-3DC0-1624-8F871050919C}"/>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9EB4B123-6388-F850-B21C-EA07D5D5C53F}"/>
              </a:ext>
            </a:extLst>
          </p:cNvPr>
          <p:cNvSpPr>
            <a:spLocks noGrp="1"/>
          </p:cNvSpPr>
          <p:nvPr>
            <p:ph type="sldNum" sz="quarter" idx="12"/>
          </p:nvPr>
        </p:nvSpPr>
        <p:spPr/>
        <p:txBody>
          <a:bodyPr/>
          <a:lstStyle/>
          <a:p>
            <a:fld id="{8A7A6979-0714-4377-B894-6BE4C2D6E202}" type="slidenum">
              <a:rPr lang="en-US" smtClean="0"/>
              <a:pPr/>
              <a:t>19</a:t>
            </a:fld>
            <a:endParaRPr lang="en-US"/>
          </a:p>
        </p:txBody>
      </p:sp>
    </p:spTree>
    <p:extLst>
      <p:ext uri="{BB962C8B-B14F-4D97-AF65-F5344CB8AC3E}">
        <p14:creationId xmlns:p14="http://schemas.microsoft.com/office/powerpoint/2010/main" val="2908460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E8796-9371-4097-6ADA-3C66B1752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26E1D-C24F-C65C-BD41-FA9C8BF0FDAD}"/>
              </a:ext>
            </a:extLst>
          </p:cNvPr>
          <p:cNvSpPr>
            <a:spLocks noGrp="1"/>
          </p:cNvSpPr>
          <p:nvPr>
            <p:ph type="ctrTitle"/>
          </p:nvPr>
        </p:nvSpPr>
        <p:spPr/>
        <p:txBody>
          <a:bodyPr/>
          <a:lstStyle/>
          <a:p>
            <a:r>
              <a:rPr lang="en-US"/>
              <a:t>Estimating Demand in New Data</a:t>
            </a:r>
          </a:p>
        </p:txBody>
      </p:sp>
      <p:sp>
        <p:nvSpPr>
          <p:cNvPr id="4" name="Text Placeholder 3">
            <a:extLst>
              <a:ext uri="{FF2B5EF4-FFF2-40B4-BE49-F238E27FC236}">
                <a16:creationId xmlns:a16="http://schemas.microsoft.com/office/drawing/2014/main" id="{CD3D6925-4BF4-72F8-B54B-36C1809DA865}"/>
              </a:ext>
            </a:extLst>
          </p:cNvPr>
          <p:cNvSpPr>
            <a:spLocks noGrp="1"/>
          </p:cNvSpPr>
          <p:nvPr>
            <p:ph type="body" sz="quarter" idx="14"/>
          </p:nvPr>
        </p:nvSpPr>
        <p:spPr>
          <a:xfrm>
            <a:off x="1828800" y="1500189"/>
            <a:ext cx="8755380" cy="4186236"/>
          </a:xfrm>
        </p:spPr>
        <p:txBody>
          <a:bodyPr>
            <a:normAutofit/>
          </a:bodyPr>
          <a:lstStyle/>
          <a:p>
            <a:r>
              <a:rPr lang="en-US" sz="2400"/>
              <a:t>Are we able to run pricing experiments?</a:t>
            </a:r>
          </a:p>
          <a:p>
            <a:pPr lvl="1"/>
            <a:r>
              <a:rPr lang="en-US" sz="2400"/>
              <a:t>If so, create good variation in prices and estimate demand curve</a:t>
            </a:r>
          </a:p>
          <a:p>
            <a:pPr lvl="1"/>
            <a:r>
              <a:rPr lang="en-US" sz="2400"/>
              <a:t>Can be risky if consumers see others paying different prices</a:t>
            </a:r>
          </a:p>
          <a:p>
            <a:endParaRPr lang="en-US" sz="2400"/>
          </a:p>
          <a:p>
            <a:r>
              <a:rPr lang="en-US" sz="2400"/>
              <a:t>Survey experiments next best thing</a:t>
            </a:r>
          </a:p>
          <a:p>
            <a:pPr lvl="1"/>
            <a:r>
              <a:rPr lang="en-US" sz="2400"/>
              <a:t>Ask potential customers if they would purchase in a hypothetical environment for a price that is randomly assigned</a:t>
            </a:r>
          </a:p>
          <a:p>
            <a:pPr lvl="1"/>
            <a:r>
              <a:rPr lang="en-US" sz="2400"/>
              <a:t>Important to make this as realistic as possible</a:t>
            </a:r>
          </a:p>
          <a:p>
            <a:pPr lvl="1"/>
            <a:r>
              <a:rPr lang="en-US" sz="2400"/>
              <a:t>Each person makes a single choice (purchase or not)</a:t>
            </a:r>
          </a:p>
          <a:p>
            <a:pPr lvl="1"/>
            <a:endParaRPr lang="en-US" sz="2400"/>
          </a:p>
        </p:txBody>
      </p:sp>
      <p:sp>
        <p:nvSpPr>
          <p:cNvPr id="5" name="Date Placeholder 4">
            <a:extLst>
              <a:ext uri="{FF2B5EF4-FFF2-40B4-BE49-F238E27FC236}">
                <a16:creationId xmlns:a16="http://schemas.microsoft.com/office/drawing/2014/main" id="{46DA1483-0B67-EF8E-63C4-0BF8BE371CC3}"/>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B4F2F288-2D6F-82AC-93FA-57F0ECDF1B95}"/>
              </a:ext>
            </a:extLst>
          </p:cNvPr>
          <p:cNvSpPr>
            <a:spLocks noGrp="1"/>
          </p:cNvSpPr>
          <p:nvPr>
            <p:ph type="sldNum" sz="quarter" idx="12"/>
          </p:nvPr>
        </p:nvSpPr>
        <p:spPr/>
        <p:txBody>
          <a:bodyPr/>
          <a:lstStyle/>
          <a:p>
            <a:fld id="{8A7A6979-0714-4377-B894-6BE4C2D6E202}" type="slidenum">
              <a:rPr lang="en-US" smtClean="0"/>
              <a:pPr/>
              <a:t>20</a:t>
            </a:fld>
            <a:endParaRPr lang="en-US"/>
          </a:p>
        </p:txBody>
      </p:sp>
    </p:spTree>
    <p:extLst>
      <p:ext uri="{BB962C8B-B14F-4D97-AF65-F5344CB8AC3E}">
        <p14:creationId xmlns:p14="http://schemas.microsoft.com/office/powerpoint/2010/main" val="327369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8B195-3936-E6FA-A358-459292881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EA774-B700-C583-1324-849B91E5B29E}"/>
              </a:ext>
            </a:extLst>
          </p:cNvPr>
          <p:cNvSpPr>
            <a:spLocks noGrp="1"/>
          </p:cNvSpPr>
          <p:nvPr>
            <p:ph type="ctrTitle"/>
          </p:nvPr>
        </p:nvSpPr>
        <p:spPr/>
        <p:txBody>
          <a:bodyPr/>
          <a:lstStyle/>
          <a:p>
            <a:r>
              <a:rPr lang="en-US"/>
              <a:t>Segmenting Customers</a:t>
            </a:r>
          </a:p>
        </p:txBody>
      </p:sp>
      <p:sp>
        <p:nvSpPr>
          <p:cNvPr id="4" name="Text Placeholder 3">
            <a:extLst>
              <a:ext uri="{FF2B5EF4-FFF2-40B4-BE49-F238E27FC236}">
                <a16:creationId xmlns:a16="http://schemas.microsoft.com/office/drawing/2014/main" id="{1EFC83DA-149C-003F-CCB9-9DC3B10B64AC}"/>
              </a:ext>
            </a:extLst>
          </p:cNvPr>
          <p:cNvSpPr>
            <a:spLocks noGrp="1"/>
          </p:cNvSpPr>
          <p:nvPr>
            <p:ph type="body" sz="quarter" idx="14"/>
          </p:nvPr>
        </p:nvSpPr>
        <p:spPr>
          <a:xfrm>
            <a:off x="1828800" y="1500189"/>
            <a:ext cx="8755380" cy="4186236"/>
          </a:xfrm>
        </p:spPr>
        <p:txBody>
          <a:bodyPr>
            <a:normAutofit/>
          </a:bodyPr>
          <a:lstStyle/>
          <a:p>
            <a:r>
              <a:rPr lang="en-US" sz="2400"/>
              <a:t>We can also try to predict our high-value customers</a:t>
            </a:r>
          </a:p>
          <a:p>
            <a:pPr lvl="1"/>
            <a:r>
              <a:rPr lang="en-US" sz="2400"/>
              <a:t>Customers who value product a bunch</a:t>
            </a:r>
          </a:p>
          <a:p>
            <a:pPr lvl="1"/>
            <a:r>
              <a:rPr lang="en-US" sz="2400"/>
              <a:t>Also known as price-inelastic customers</a:t>
            </a:r>
          </a:p>
          <a:p>
            <a:pPr lvl="2"/>
            <a:r>
              <a:rPr lang="en-US" sz="2400"/>
              <a:t>If we raise prices, they still purchase</a:t>
            </a:r>
          </a:p>
          <a:p>
            <a:endParaRPr lang="en-US" sz="2400"/>
          </a:p>
          <a:p>
            <a:r>
              <a:rPr lang="en-US" sz="2400"/>
              <a:t>If we can identify these customers, potential to charge them a different price</a:t>
            </a:r>
          </a:p>
          <a:p>
            <a:pPr lvl="1"/>
            <a:r>
              <a:rPr lang="en-US" sz="2400"/>
              <a:t>Known as personalized pricing or “price discrimination”</a:t>
            </a:r>
          </a:p>
          <a:p>
            <a:pPr lvl="1"/>
            <a:r>
              <a:rPr lang="en-US" sz="2400"/>
              <a:t>Common methods: Student discount, changing prices over time</a:t>
            </a:r>
          </a:p>
        </p:txBody>
      </p:sp>
      <p:sp>
        <p:nvSpPr>
          <p:cNvPr id="5" name="Date Placeholder 4">
            <a:extLst>
              <a:ext uri="{FF2B5EF4-FFF2-40B4-BE49-F238E27FC236}">
                <a16:creationId xmlns:a16="http://schemas.microsoft.com/office/drawing/2014/main" id="{0E508319-644F-9A12-C6F3-2069EF0CD735}"/>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4B39AE9A-F09F-7F37-E9D6-0CD78B81E902}"/>
              </a:ext>
            </a:extLst>
          </p:cNvPr>
          <p:cNvSpPr>
            <a:spLocks noGrp="1"/>
          </p:cNvSpPr>
          <p:nvPr>
            <p:ph type="sldNum" sz="quarter" idx="12"/>
          </p:nvPr>
        </p:nvSpPr>
        <p:spPr/>
        <p:txBody>
          <a:bodyPr/>
          <a:lstStyle/>
          <a:p>
            <a:fld id="{8A7A6979-0714-4377-B894-6BE4C2D6E202}" type="slidenum">
              <a:rPr lang="en-US" smtClean="0"/>
              <a:pPr/>
              <a:t>21</a:t>
            </a:fld>
            <a:endParaRPr lang="en-US"/>
          </a:p>
        </p:txBody>
      </p:sp>
    </p:spTree>
    <p:extLst>
      <p:ext uri="{BB962C8B-B14F-4D97-AF65-F5344CB8AC3E}">
        <p14:creationId xmlns:p14="http://schemas.microsoft.com/office/powerpoint/2010/main" val="397629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0DEE0-CCAA-AD1B-43C8-55690C433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9B6B3-C2C3-3F7B-938B-4839F190FC3A}"/>
              </a:ext>
            </a:extLst>
          </p:cNvPr>
          <p:cNvSpPr>
            <a:spLocks noGrp="1"/>
          </p:cNvSpPr>
          <p:nvPr>
            <p:ph type="ctrTitle"/>
          </p:nvPr>
        </p:nvSpPr>
        <p:spPr/>
        <p:txBody>
          <a:bodyPr/>
          <a:lstStyle/>
          <a:p>
            <a:r>
              <a:rPr lang="en-US"/>
              <a:t>Why do Airline Prices Rise Over Time?</a:t>
            </a:r>
          </a:p>
        </p:txBody>
      </p:sp>
      <p:pic>
        <p:nvPicPr>
          <p:cNvPr id="3" name="Picture 2" descr="Screenshot of a Google Flights price tracking graph for trips to Indianapolis. It notes that the cheapest time to book is typically 1–4 months before takeoff, with prices currently high at $607 compared to the usual $135–$310 range. A line graph below shows the price history, rising sharply in recent days from around $250 to over $600.">
            <a:extLst>
              <a:ext uri="{FF2B5EF4-FFF2-40B4-BE49-F238E27FC236}">
                <a16:creationId xmlns:a16="http://schemas.microsoft.com/office/drawing/2014/main" id="{29310FC7-F78F-117C-184B-81FC6C27F6BB}"/>
              </a:ext>
            </a:extLst>
          </p:cNvPr>
          <p:cNvPicPr>
            <a:picLocks noChangeAspect="1"/>
          </p:cNvPicPr>
          <p:nvPr/>
        </p:nvPicPr>
        <p:blipFill>
          <a:blip r:embed="rId3"/>
          <a:stretch>
            <a:fillRect/>
          </a:stretch>
        </p:blipFill>
        <p:spPr>
          <a:xfrm>
            <a:off x="2259656" y="1141684"/>
            <a:ext cx="7772400" cy="3601239"/>
          </a:xfrm>
          <a:prstGeom prst="rect">
            <a:avLst/>
          </a:prstGeom>
        </p:spPr>
      </p:pic>
      <p:sp>
        <p:nvSpPr>
          <p:cNvPr id="9" name="TextBox 8">
            <a:extLst>
              <a:ext uri="{FF2B5EF4-FFF2-40B4-BE49-F238E27FC236}">
                <a16:creationId xmlns:a16="http://schemas.microsoft.com/office/drawing/2014/main" id="{5AE15217-BA32-377C-5AC9-1410877AF005}"/>
              </a:ext>
            </a:extLst>
          </p:cNvPr>
          <p:cNvSpPr txBox="1"/>
          <p:nvPr/>
        </p:nvSpPr>
        <p:spPr>
          <a:xfrm>
            <a:off x="7742903" y="4984955"/>
            <a:ext cx="2350067" cy="369332"/>
          </a:xfrm>
          <a:prstGeom prst="rect">
            <a:avLst/>
          </a:prstGeom>
          <a:noFill/>
        </p:spPr>
        <p:txBody>
          <a:bodyPr wrap="none" rtlCol="0">
            <a:spAutoFit/>
          </a:bodyPr>
          <a:lstStyle/>
          <a:p>
            <a:r>
              <a:rPr lang="en-US"/>
              <a:t>Source: Google Flights</a:t>
            </a:r>
          </a:p>
        </p:txBody>
      </p:sp>
      <p:sp>
        <p:nvSpPr>
          <p:cNvPr id="5" name="Date Placeholder 4">
            <a:extLst>
              <a:ext uri="{FF2B5EF4-FFF2-40B4-BE49-F238E27FC236}">
                <a16:creationId xmlns:a16="http://schemas.microsoft.com/office/drawing/2014/main" id="{235ED4CB-0708-6D91-0ECF-4C4201DAC8F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6CCB1B49-50CC-EA37-30ED-1C23FF46D097}"/>
              </a:ext>
            </a:extLst>
          </p:cNvPr>
          <p:cNvSpPr>
            <a:spLocks noGrp="1"/>
          </p:cNvSpPr>
          <p:nvPr>
            <p:ph type="sldNum" sz="quarter" idx="12"/>
          </p:nvPr>
        </p:nvSpPr>
        <p:spPr/>
        <p:txBody>
          <a:bodyPr/>
          <a:lstStyle/>
          <a:p>
            <a:fld id="{8A7A6979-0714-4377-B894-6BE4C2D6E202}" type="slidenum">
              <a:rPr lang="en-US" smtClean="0"/>
              <a:pPr/>
              <a:t>22</a:t>
            </a:fld>
            <a:endParaRPr lang="en-US"/>
          </a:p>
        </p:txBody>
      </p:sp>
    </p:spTree>
    <p:extLst>
      <p:ext uri="{BB962C8B-B14F-4D97-AF65-F5344CB8AC3E}">
        <p14:creationId xmlns:p14="http://schemas.microsoft.com/office/powerpoint/2010/main" val="552710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AB8A5-5428-200E-F229-616E01484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9A6B9-BCF8-3549-DB95-603199D3BE46}"/>
              </a:ext>
            </a:extLst>
          </p:cNvPr>
          <p:cNvSpPr>
            <a:spLocks noGrp="1"/>
          </p:cNvSpPr>
          <p:nvPr>
            <p:ph type="ctrTitle"/>
          </p:nvPr>
        </p:nvSpPr>
        <p:spPr/>
        <p:txBody>
          <a:bodyPr/>
          <a:lstStyle/>
          <a:p>
            <a:r>
              <a:rPr lang="en-US"/>
              <a:t>Price Skimming</a:t>
            </a:r>
          </a:p>
        </p:txBody>
      </p:sp>
      <p:pic>
        <p:nvPicPr>
          <p:cNvPr id="4" name="Picture 3" descr="Line chart titled “Console Prices Over Time,” showing inflation-adjusted launch prices of major gaming consoles from 1975 to 2025. Each console’s price starts high and drops steeply after release, illustrating the concept of price skimming—initially targeting high-paying early adopters before lowering prices for broader market adoption.">
            <a:extLst>
              <a:ext uri="{FF2B5EF4-FFF2-40B4-BE49-F238E27FC236}">
                <a16:creationId xmlns:a16="http://schemas.microsoft.com/office/drawing/2014/main" id="{C84AFE7C-2144-8232-2438-441C7962EC42}"/>
              </a:ext>
            </a:extLst>
          </p:cNvPr>
          <p:cNvPicPr>
            <a:picLocks noChangeAspect="1"/>
          </p:cNvPicPr>
          <p:nvPr/>
        </p:nvPicPr>
        <p:blipFill>
          <a:blip r:embed="rId3"/>
          <a:stretch>
            <a:fillRect/>
          </a:stretch>
        </p:blipFill>
        <p:spPr>
          <a:xfrm>
            <a:off x="3338071" y="1287220"/>
            <a:ext cx="6103374" cy="4283560"/>
          </a:xfrm>
          <a:prstGeom prst="rect">
            <a:avLst/>
          </a:prstGeom>
        </p:spPr>
      </p:pic>
      <p:sp>
        <p:nvSpPr>
          <p:cNvPr id="7" name="TextBox 6">
            <a:extLst>
              <a:ext uri="{FF2B5EF4-FFF2-40B4-BE49-F238E27FC236}">
                <a16:creationId xmlns:a16="http://schemas.microsoft.com/office/drawing/2014/main" id="{9AE0AB5A-EAF0-2CA8-F7E8-77134CBD4199}"/>
              </a:ext>
            </a:extLst>
          </p:cNvPr>
          <p:cNvSpPr txBox="1"/>
          <p:nvPr/>
        </p:nvSpPr>
        <p:spPr>
          <a:xfrm>
            <a:off x="6666271" y="5719239"/>
            <a:ext cx="2036327" cy="369332"/>
          </a:xfrm>
          <a:prstGeom prst="rect">
            <a:avLst/>
          </a:prstGeom>
          <a:noFill/>
        </p:spPr>
        <p:txBody>
          <a:bodyPr wrap="none" rtlCol="0">
            <a:spAutoFit/>
          </a:bodyPr>
          <a:lstStyle/>
          <a:p>
            <a:r>
              <a:rPr lang="en-US"/>
              <a:t>Source: Ken Wilbur</a:t>
            </a:r>
          </a:p>
        </p:txBody>
      </p:sp>
      <p:sp>
        <p:nvSpPr>
          <p:cNvPr id="5" name="Date Placeholder 4">
            <a:extLst>
              <a:ext uri="{FF2B5EF4-FFF2-40B4-BE49-F238E27FC236}">
                <a16:creationId xmlns:a16="http://schemas.microsoft.com/office/drawing/2014/main" id="{A379FB4F-EDED-8EF2-140A-594A719779CD}"/>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D53283F7-6EAD-ACAD-A403-15A6A2C12A61}"/>
              </a:ext>
            </a:extLst>
          </p:cNvPr>
          <p:cNvSpPr>
            <a:spLocks noGrp="1"/>
          </p:cNvSpPr>
          <p:nvPr>
            <p:ph type="sldNum" sz="quarter" idx="12"/>
          </p:nvPr>
        </p:nvSpPr>
        <p:spPr/>
        <p:txBody>
          <a:bodyPr/>
          <a:lstStyle/>
          <a:p>
            <a:fld id="{8A7A6979-0714-4377-B894-6BE4C2D6E202}" type="slidenum">
              <a:rPr lang="en-US" smtClean="0"/>
              <a:pPr/>
              <a:t>23</a:t>
            </a:fld>
            <a:endParaRPr lang="en-US"/>
          </a:p>
        </p:txBody>
      </p:sp>
    </p:spTree>
    <p:extLst>
      <p:ext uri="{BB962C8B-B14F-4D97-AF65-F5344CB8AC3E}">
        <p14:creationId xmlns:p14="http://schemas.microsoft.com/office/powerpoint/2010/main" val="4086833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E5EC0-EA82-C820-03FC-16DED1F9E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41529-2177-52EF-2997-F40AB4CE3E0F}"/>
              </a:ext>
            </a:extLst>
          </p:cNvPr>
          <p:cNvSpPr>
            <a:spLocks noGrp="1"/>
          </p:cNvSpPr>
          <p:nvPr>
            <p:ph type="ctrTitle"/>
          </p:nvPr>
        </p:nvSpPr>
        <p:spPr/>
        <p:txBody>
          <a:bodyPr/>
          <a:lstStyle/>
          <a:p>
            <a:r>
              <a:rPr lang="en-US" dirty="0"/>
              <a:t>Versioning</a:t>
            </a:r>
          </a:p>
        </p:txBody>
      </p:sp>
      <p:pic>
        <p:nvPicPr>
          <p:cNvPr id="3" name="Picture 2" descr="Comparison chart showing three LinkedIn membership tiers illustrating tiered pricing and feature differentiation: LinkedIn Basic, Premium Career, Premium Business.">
            <a:extLst>
              <a:ext uri="{FF2B5EF4-FFF2-40B4-BE49-F238E27FC236}">
                <a16:creationId xmlns:a16="http://schemas.microsoft.com/office/drawing/2014/main" id="{97FF5303-4713-A036-8BD8-529E76E57A33}"/>
              </a:ext>
            </a:extLst>
          </p:cNvPr>
          <p:cNvPicPr>
            <a:picLocks noChangeAspect="1"/>
          </p:cNvPicPr>
          <p:nvPr/>
        </p:nvPicPr>
        <p:blipFill>
          <a:blip r:embed="rId3"/>
          <a:stretch>
            <a:fillRect/>
          </a:stretch>
        </p:blipFill>
        <p:spPr>
          <a:xfrm>
            <a:off x="2787444" y="1067258"/>
            <a:ext cx="7194755" cy="4372435"/>
          </a:xfrm>
          <a:prstGeom prst="rect">
            <a:avLst/>
          </a:prstGeom>
        </p:spPr>
      </p:pic>
      <p:sp>
        <p:nvSpPr>
          <p:cNvPr id="7" name="TextBox 6">
            <a:extLst>
              <a:ext uri="{FF2B5EF4-FFF2-40B4-BE49-F238E27FC236}">
                <a16:creationId xmlns:a16="http://schemas.microsoft.com/office/drawing/2014/main" id="{1065D898-CA3F-B589-7714-D4E339244905}"/>
              </a:ext>
            </a:extLst>
          </p:cNvPr>
          <p:cNvSpPr txBox="1"/>
          <p:nvPr/>
        </p:nvSpPr>
        <p:spPr>
          <a:xfrm>
            <a:off x="6666271" y="5719239"/>
            <a:ext cx="2036327" cy="369332"/>
          </a:xfrm>
          <a:prstGeom prst="rect">
            <a:avLst/>
          </a:prstGeom>
          <a:noFill/>
        </p:spPr>
        <p:txBody>
          <a:bodyPr wrap="none" rtlCol="0">
            <a:spAutoFit/>
          </a:bodyPr>
          <a:lstStyle/>
          <a:p>
            <a:r>
              <a:rPr lang="en-US"/>
              <a:t>Source: Ken Wilbur</a:t>
            </a:r>
          </a:p>
        </p:txBody>
      </p:sp>
      <p:sp>
        <p:nvSpPr>
          <p:cNvPr id="5" name="Date Placeholder 4">
            <a:extLst>
              <a:ext uri="{FF2B5EF4-FFF2-40B4-BE49-F238E27FC236}">
                <a16:creationId xmlns:a16="http://schemas.microsoft.com/office/drawing/2014/main" id="{97BC8E10-6B04-88D7-2CA2-F5C4092714CA}"/>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916F0DA9-51B9-3EB9-C0C4-FFA71977E97F}"/>
              </a:ext>
            </a:extLst>
          </p:cNvPr>
          <p:cNvSpPr>
            <a:spLocks noGrp="1"/>
          </p:cNvSpPr>
          <p:nvPr>
            <p:ph type="sldNum" sz="quarter" idx="12"/>
          </p:nvPr>
        </p:nvSpPr>
        <p:spPr/>
        <p:txBody>
          <a:bodyPr/>
          <a:lstStyle/>
          <a:p>
            <a:fld id="{8A7A6979-0714-4377-B894-6BE4C2D6E202}" type="slidenum">
              <a:rPr lang="en-US" smtClean="0"/>
              <a:pPr/>
              <a:t>24</a:t>
            </a:fld>
            <a:endParaRPr lang="en-US"/>
          </a:p>
        </p:txBody>
      </p:sp>
    </p:spTree>
    <p:extLst>
      <p:ext uri="{BB962C8B-B14F-4D97-AF65-F5344CB8AC3E}">
        <p14:creationId xmlns:p14="http://schemas.microsoft.com/office/powerpoint/2010/main" val="4140311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A990-5FB3-92FA-ED84-7FB2C9C5A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002D8-1AD7-31A3-5C85-31D763824C72}"/>
              </a:ext>
            </a:extLst>
          </p:cNvPr>
          <p:cNvSpPr>
            <a:spLocks noGrp="1"/>
          </p:cNvSpPr>
          <p:nvPr>
            <p:ph type="ctrTitle"/>
          </p:nvPr>
        </p:nvSpPr>
        <p:spPr/>
        <p:txBody>
          <a:bodyPr/>
          <a:lstStyle/>
          <a:p>
            <a:r>
              <a:rPr lang="en-US" dirty="0"/>
              <a:t>Versioning, Part 2</a:t>
            </a:r>
          </a:p>
        </p:txBody>
      </p:sp>
      <p:pic>
        <p:nvPicPr>
          <p:cNvPr id="4" name="Picture 3" descr="News article headline reading “BMW drops plan to charge a monthly fee for heated seats.” The caption notes that BMW removed heated seat subscriptions from its digital feature store, allowing customers to use them without recurring payments.">
            <a:extLst>
              <a:ext uri="{FF2B5EF4-FFF2-40B4-BE49-F238E27FC236}">
                <a16:creationId xmlns:a16="http://schemas.microsoft.com/office/drawing/2014/main" id="{B4AC0A3C-BB53-4678-A90E-B8166BEAD84D}"/>
              </a:ext>
            </a:extLst>
          </p:cNvPr>
          <p:cNvPicPr>
            <a:picLocks noChangeAspect="1"/>
          </p:cNvPicPr>
          <p:nvPr/>
        </p:nvPicPr>
        <p:blipFill>
          <a:blip r:embed="rId3"/>
          <a:stretch>
            <a:fillRect/>
          </a:stretch>
        </p:blipFill>
        <p:spPr>
          <a:xfrm>
            <a:off x="2209800" y="1215736"/>
            <a:ext cx="7772400" cy="4426527"/>
          </a:xfrm>
          <a:prstGeom prst="rect">
            <a:avLst/>
          </a:prstGeom>
        </p:spPr>
      </p:pic>
      <p:sp>
        <p:nvSpPr>
          <p:cNvPr id="7" name="TextBox 6">
            <a:extLst>
              <a:ext uri="{FF2B5EF4-FFF2-40B4-BE49-F238E27FC236}">
                <a16:creationId xmlns:a16="http://schemas.microsoft.com/office/drawing/2014/main" id="{446FF237-F7C3-E5FF-D9EF-B3AFEE75C418}"/>
              </a:ext>
            </a:extLst>
          </p:cNvPr>
          <p:cNvSpPr txBox="1"/>
          <p:nvPr/>
        </p:nvSpPr>
        <p:spPr>
          <a:xfrm>
            <a:off x="6666271" y="5719239"/>
            <a:ext cx="2036327" cy="369332"/>
          </a:xfrm>
          <a:prstGeom prst="rect">
            <a:avLst/>
          </a:prstGeom>
          <a:noFill/>
        </p:spPr>
        <p:txBody>
          <a:bodyPr wrap="none" rtlCol="0">
            <a:spAutoFit/>
          </a:bodyPr>
          <a:lstStyle/>
          <a:p>
            <a:r>
              <a:rPr lang="en-US"/>
              <a:t>Source: Ken Wilbur</a:t>
            </a:r>
          </a:p>
        </p:txBody>
      </p:sp>
      <p:sp>
        <p:nvSpPr>
          <p:cNvPr id="5" name="Date Placeholder 4">
            <a:extLst>
              <a:ext uri="{FF2B5EF4-FFF2-40B4-BE49-F238E27FC236}">
                <a16:creationId xmlns:a16="http://schemas.microsoft.com/office/drawing/2014/main" id="{9206D68D-0DAF-3E5E-A21D-2B62EACEFEA7}"/>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CB090856-08D8-770F-4549-C38CE62EF1B0}"/>
              </a:ext>
            </a:extLst>
          </p:cNvPr>
          <p:cNvSpPr>
            <a:spLocks noGrp="1"/>
          </p:cNvSpPr>
          <p:nvPr>
            <p:ph type="sldNum" sz="quarter" idx="12"/>
          </p:nvPr>
        </p:nvSpPr>
        <p:spPr/>
        <p:txBody>
          <a:bodyPr/>
          <a:lstStyle/>
          <a:p>
            <a:fld id="{8A7A6979-0714-4377-B894-6BE4C2D6E202}" type="slidenum">
              <a:rPr lang="en-US" smtClean="0"/>
              <a:pPr/>
              <a:t>25</a:t>
            </a:fld>
            <a:endParaRPr lang="en-US"/>
          </a:p>
        </p:txBody>
      </p:sp>
    </p:spTree>
    <p:extLst>
      <p:ext uri="{BB962C8B-B14F-4D97-AF65-F5344CB8AC3E}">
        <p14:creationId xmlns:p14="http://schemas.microsoft.com/office/powerpoint/2010/main" val="1938385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329F3-AD58-CE78-F7DC-2C16B0E46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CDD50-2C10-6B35-2E6A-65AB1AC66AAA}"/>
              </a:ext>
            </a:extLst>
          </p:cNvPr>
          <p:cNvSpPr>
            <a:spLocks noGrp="1"/>
          </p:cNvSpPr>
          <p:nvPr>
            <p:ph type="ctrTitle"/>
          </p:nvPr>
        </p:nvSpPr>
        <p:spPr/>
        <p:txBody>
          <a:bodyPr/>
          <a:lstStyle/>
          <a:p>
            <a:r>
              <a:rPr lang="en-US" dirty="0"/>
              <a:t>Versioning, Part 3</a:t>
            </a:r>
          </a:p>
        </p:txBody>
      </p:sp>
      <p:sp>
        <p:nvSpPr>
          <p:cNvPr id="4" name="Text Placeholder 3">
            <a:extLst>
              <a:ext uri="{FF2B5EF4-FFF2-40B4-BE49-F238E27FC236}">
                <a16:creationId xmlns:a16="http://schemas.microsoft.com/office/drawing/2014/main" id="{BB4B20D1-78C5-E8B0-C3E8-A32FBCC6CA05}"/>
              </a:ext>
            </a:extLst>
          </p:cNvPr>
          <p:cNvSpPr>
            <a:spLocks noGrp="1"/>
          </p:cNvSpPr>
          <p:nvPr>
            <p:ph type="body" sz="quarter" idx="14"/>
          </p:nvPr>
        </p:nvSpPr>
        <p:spPr>
          <a:xfrm>
            <a:off x="1828800" y="1500189"/>
            <a:ext cx="8755380" cy="4186236"/>
          </a:xfrm>
        </p:spPr>
        <p:txBody>
          <a:bodyPr>
            <a:normAutofit/>
          </a:bodyPr>
          <a:lstStyle/>
          <a:p>
            <a:r>
              <a:rPr lang="en-US" sz="2400" dirty="0"/>
              <a:t>Exists in both online and offline worlds</a:t>
            </a:r>
          </a:p>
          <a:p>
            <a:pPr lvl="1"/>
            <a:r>
              <a:rPr lang="en-US" sz="2400" dirty="0"/>
              <a:t>E.g. hardcover vs softcover books, first-class vs economy</a:t>
            </a:r>
          </a:p>
          <a:p>
            <a:endParaRPr lang="en-US" sz="2400" dirty="0"/>
          </a:p>
          <a:p>
            <a:r>
              <a:rPr lang="en-US" sz="2400" dirty="0"/>
              <a:t>Typically have 3 versions for software</a:t>
            </a:r>
          </a:p>
          <a:p>
            <a:pPr lvl="1"/>
            <a:r>
              <a:rPr lang="en-US" sz="2400" dirty="0"/>
              <a:t>Take advantage of the compromise effect (next section)</a:t>
            </a:r>
          </a:p>
          <a:p>
            <a:pPr lvl="1"/>
            <a:r>
              <a:rPr lang="en-US" sz="2400" dirty="0"/>
              <a:t>If low-end version has P=0, this can be a barrier to converting people to paying customers</a:t>
            </a:r>
          </a:p>
          <a:p>
            <a:endParaRPr lang="en-US" sz="2400" dirty="0"/>
          </a:p>
          <a:p>
            <a:endParaRPr lang="en-US" sz="2400" dirty="0"/>
          </a:p>
        </p:txBody>
      </p:sp>
      <p:sp>
        <p:nvSpPr>
          <p:cNvPr id="7" name="TextBox 6">
            <a:extLst>
              <a:ext uri="{FF2B5EF4-FFF2-40B4-BE49-F238E27FC236}">
                <a16:creationId xmlns:a16="http://schemas.microsoft.com/office/drawing/2014/main" id="{AD73DF64-EA29-239E-2C64-BCD939297EE6}"/>
              </a:ext>
            </a:extLst>
          </p:cNvPr>
          <p:cNvSpPr txBox="1"/>
          <p:nvPr/>
        </p:nvSpPr>
        <p:spPr>
          <a:xfrm>
            <a:off x="6666271" y="5719239"/>
            <a:ext cx="2036327" cy="369332"/>
          </a:xfrm>
          <a:prstGeom prst="rect">
            <a:avLst/>
          </a:prstGeom>
          <a:noFill/>
        </p:spPr>
        <p:txBody>
          <a:bodyPr wrap="none" rtlCol="0">
            <a:spAutoFit/>
          </a:bodyPr>
          <a:lstStyle/>
          <a:p>
            <a:r>
              <a:rPr lang="en-US"/>
              <a:t>Source: Ken Wilbur</a:t>
            </a:r>
          </a:p>
        </p:txBody>
      </p:sp>
      <p:sp>
        <p:nvSpPr>
          <p:cNvPr id="5" name="Date Placeholder 4">
            <a:extLst>
              <a:ext uri="{FF2B5EF4-FFF2-40B4-BE49-F238E27FC236}">
                <a16:creationId xmlns:a16="http://schemas.microsoft.com/office/drawing/2014/main" id="{D39AA043-D586-EFF0-E8AD-47B48DAB388E}"/>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55DC3A70-6852-E6D5-ED0F-A477FCBB6E6F}"/>
              </a:ext>
            </a:extLst>
          </p:cNvPr>
          <p:cNvSpPr>
            <a:spLocks noGrp="1"/>
          </p:cNvSpPr>
          <p:nvPr>
            <p:ph type="sldNum" sz="quarter" idx="12"/>
          </p:nvPr>
        </p:nvSpPr>
        <p:spPr/>
        <p:txBody>
          <a:bodyPr/>
          <a:lstStyle/>
          <a:p>
            <a:fld id="{8A7A6979-0714-4377-B894-6BE4C2D6E202}" type="slidenum">
              <a:rPr lang="en-US" smtClean="0"/>
              <a:pPr/>
              <a:t>26</a:t>
            </a:fld>
            <a:endParaRPr lang="en-US"/>
          </a:p>
        </p:txBody>
      </p:sp>
    </p:spTree>
    <p:extLst>
      <p:ext uri="{BB962C8B-B14F-4D97-AF65-F5344CB8AC3E}">
        <p14:creationId xmlns:p14="http://schemas.microsoft.com/office/powerpoint/2010/main" val="2096722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B8FFF-C822-160C-8C0E-A0089CDE5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4D792-0C36-63C8-1D96-214382E8B1CC}"/>
              </a:ext>
            </a:extLst>
          </p:cNvPr>
          <p:cNvSpPr>
            <a:spLocks noGrp="1"/>
          </p:cNvSpPr>
          <p:nvPr>
            <p:ph type="ctrTitle"/>
          </p:nvPr>
        </p:nvSpPr>
        <p:spPr>
          <a:xfrm>
            <a:off x="2647199" y="1501742"/>
            <a:ext cx="7300940" cy="664797"/>
          </a:xfrm>
        </p:spPr>
        <p:txBody>
          <a:bodyPr/>
          <a:lstStyle/>
          <a:p>
            <a:r>
              <a:rPr lang="en-US"/>
              <a:t>Behavioral Pricing</a:t>
            </a:r>
          </a:p>
        </p:txBody>
      </p:sp>
      <p:sp>
        <p:nvSpPr>
          <p:cNvPr id="4" name="Date Placeholder 3">
            <a:extLst>
              <a:ext uri="{FF2B5EF4-FFF2-40B4-BE49-F238E27FC236}">
                <a16:creationId xmlns:a16="http://schemas.microsoft.com/office/drawing/2014/main" id="{4C0106E3-CD66-4135-0B43-8795F303016F}"/>
              </a:ext>
            </a:extLst>
          </p:cNvPr>
          <p:cNvSpPr>
            <a:spLocks noGrp="1"/>
          </p:cNvSpPr>
          <p:nvPr>
            <p:ph type="dt" sz="half" idx="10"/>
          </p:nvPr>
        </p:nvSpPr>
        <p:spPr/>
        <p:txBody>
          <a:bodyPr/>
          <a:lstStyle/>
          <a:p>
            <a:fld id="{D47A9A36-4EB0-BF46-AE48-7CDA251B954B}" type="datetime1">
              <a:rPr lang="en-US" smtClean="0"/>
              <a:pPr/>
              <a:t>11/12/2025</a:t>
            </a:fld>
            <a:endParaRPr lang="en-US"/>
          </a:p>
        </p:txBody>
      </p:sp>
      <p:sp>
        <p:nvSpPr>
          <p:cNvPr id="5" name="Slide Number Placeholder 4">
            <a:extLst>
              <a:ext uri="{FF2B5EF4-FFF2-40B4-BE49-F238E27FC236}">
                <a16:creationId xmlns:a16="http://schemas.microsoft.com/office/drawing/2014/main" id="{A033EEB3-154F-533C-B768-D65B3B1E9F6A}"/>
              </a:ext>
            </a:extLst>
          </p:cNvPr>
          <p:cNvSpPr>
            <a:spLocks noGrp="1"/>
          </p:cNvSpPr>
          <p:nvPr>
            <p:ph type="sldNum" sz="quarter" idx="12"/>
          </p:nvPr>
        </p:nvSpPr>
        <p:spPr/>
        <p:txBody>
          <a:bodyPr/>
          <a:lstStyle/>
          <a:p>
            <a:fld id="{8A7A6979-0714-4377-B894-6BE4C2D6E202}" type="slidenum">
              <a:rPr lang="en-US" smtClean="0"/>
              <a:pPr/>
              <a:t>27</a:t>
            </a:fld>
            <a:endParaRPr lang="en-US"/>
          </a:p>
        </p:txBody>
      </p:sp>
    </p:spTree>
    <p:extLst>
      <p:ext uri="{BB962C8B-B14F-4D97-AF65-F5344CB8AC3E}">
        <p14:creationId xmlns:p14="http://schemas.microsoft.com/office/powerpoint/2010/main" val="2680706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A13C1-0378-BCB2-4ABC-536E0B4D1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BCEFF-B379-0CF9-E616-E5FE10A45DEE}"/>
              </a:ext>
            </a:extLst>
          </p:cNvPr>
          <p:cNvSpPr>
            <a:spLocks noGrp="1"/>
          </p:cNvSpPr>
          <p:nvPr>
            <p:ph type="ctrTitle"/>
          </p:nvPr>
        </p:nvSpPr>
        <p:spPr/>
        <p:txBody>
          <a:bodyPr/>
          <a:lstStyle/>
          <a:p>
            <a:r>
              <a:rPr lang="en-US"/>
              <a:t>Demand Curves at Lyft – Left Digit Bias</a:t>
            </a:r>
          </a:p>
        </p:txBody>
      </p:sp>
      <p:pic>
        <p:nvPicPr>
          <p:cNvPr id="3" name="Picture 2" descr="Scatter plot titled “Conversion Rates by Standard Price” showing the relationship between standard price (x-axis, $10–$30) and the probability of no conversion (y-axis, 0.3–0.5). The upward trend indicates that as price increases, the likelihood of no conversion rises—demonstrating lower purchase rates at higher prices.">
            <a:extLst>
              <a:ext uri="{FF2B5EF4-FFF2-40B4-BE49-F238E27FC236}">
                <a16:creationId xmlns:a16="http://schemas.microsoft.com/office/drawing/2014/main" id="{304F3919-8721-68DA-1AF6-13C7541E6F70}"/>
              </a:ext>
            </a:extLst>
          </p:cNvPr>
          <p:cNvPicPr>
            <a:picLocks noChangeAspect="1"/>
          </p:cNvPicPr>
          <p:nvPr/>
        </p:nvPicPr>
        <p:blipFill>
          <a:blip r:embed="rId3"/>
          <a:stretch>
            <a:fillRect/>
          </a:stretch>
        </p:blipFill>
        <p:spPr>
          <a:xfrm>
            <a:off x="3194050" y="1500189"/>
            <a:ext cx="5803900" cy="3797300"/>
          </a:xfrm>
          <a:prstGeom prst="rect">
            <a:avLst/>
          </a:prstGeom>
        </p:spPr>
      </p:pic>
      <p:sp>
        <p:nvSpPr>
          <p:cNvPr id="7" name="TextBox 6">
            <a:extLst>
              <a:ext uri="{FF2B5EF4-FFF2-40B4-BE49-F238E27FC236}">
                <a16:creationId xmlns:a16="http://schemas.microsoft.com/office/drawing/2014/main" id="{44FB5C16-B068-8A09-0E75-D02F1B71FE13}"/>
              </a:ext>
            </a:extLst>
          </p:cNvPr>
          <p:cNvSpPr txBox="1"/>
          <p:nvPr/>
        </p:nvSpPr>
        <p:spPr>
          <a:xfrm>
            <a:off x="6096000" y="5580235"/>
            <a:ext cx="2531655" cy="369332"/>
          </a:xfrm>
          <a:prstGeom prst="rect">
            <a:avLst/>
          </a:prstGeom>
          <a:noFill/>
        </p:spPr>
        <p:txBody>
          <a:bodyPr wrap="none" rtlCol="0">
            <a:spAutoFit/>
          </a:bodyPr>
          <a:lstStyle/>
          <a:p>
            <a:r>
              <a:rPr lang="en-US"/>
              <a:t>Source: List et al (2023)</a:t>
            </a:r>
          </a:p>
        </p:txBody>
      </p:sp>
      <p:sp>
        <p:nvSpPr>
          <p:cNvPr id="5" name="Date Placeholder 4">
            <a:extLst>
              <a:ext uri="{FF2B5EF4-FFF2-40B4-BE49-F238E27FC236}">
                <a16:creationId xmlns:a16="http://schemas.microsoft.com/office/drawing/2014/main" id="{841396E3-1E32-D13D-F3B0-0FB073C6DE30}"/>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E4FCE5CB-86C7-8B73-8BFD-6CA6F0C79052}"/>
              </a:ext>
            </a:extLst>
          </p:cNvPr>
          <p:cNvSpPr>
            <a:spLocks noGrp="1"/>
          </p:cNvSpPr>
          <p:nvPr>
            <p:ph type="sldNum" sz="quarter" idx="12"/>
          </p:nvPr>
        </p:nvSpPr>
        <p:spPr/>
        <p:txBody>
          <a:bodyPr/>
          <a:lstStyle/>
          <a:p>
            <a:fld id="{8A7A6979-0714-4377-B894-6BE4C2D6E202}" type="slidenum">
              <a:rPr lang="en-US" smtClean="0"/>
              <a:pPr/>
              <a:t>28</a:t>
            </a:fld>
            <a:endParaRPr lang="en-US"/>
          </a:p>
        </p:txBody>
      </p:sp>
    </p:spTree>
    <p:extLst>
      <p:ext uri="{BB962C8B-B14F-4D97-AF65-F5344CB8AC3E}">
        <p14:creationId xmlns:p14="http://schemas.microsoft.com/office/powerpoint/2010/main" val="358555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D5FFA-D83E-9F1E-590C-6D92B2405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4E9FF-5B3F-4943-512B-4C862599FFBC}"/>
              </a:ext>
            </a:extLst>
          </p:cNvPr>
          <p:cNvSpPr>
            <a:spLocks noGrp="1"/>
          </p:cNvSpPr>
          <p:nvPr>
            <p:ph type="ctrTitle"/>
          </p:nvPr>
        </p:nvSpPr>
        <p:spPr/>
        <p:txBody>
          <a:bodyPr/>
          <a:lstStyle/>
          <a:p>
            <a:r>
              <a:rPr lang="en-US"/>
              <a:t>Compromise Effect</a:t>
            </a:r>
          </a:p>
        </p:txBody>
      </p:sp>
      <p:sp>
        <p:nvSpPr>
          <p:cNvPr id="5" name="Date Placeholder 4">
            <a:extLst>
              <a:ext uri="{FF2B5EF4-FFF2-40B4-BE49-F238E27FC236}">
                <a16:creationId xmlns:a16="http://schemas.microsoft.com/office/drawing/2014/main" id="{FFD78DC6-2EC5-36A4-2BA7-D40122F1B0E9}"/>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81227364-2858-C5D6-99A0-F3844E7BD173}"/>
              </a:ext>
            </a:extLst>
          </p:cNvPr>
          <p:cNvSpPr>
            <a:spLocks noGrp="1"/>
          </p:cNvSpPr>
          <p:nvPr>
            <p:ph type="sldNum" sz="quarter" idx="12"/>
          </p:nvPr>
        </p:nvSpPr>
        <p:spPr/>
        <p:txBody>
          <a:bodyPr/>
          <a:lstStyle/>
          <a:p>
            <a:fld id="{8A7A6979-0714-4377-B894-6BE4C2D6E202}" type="slidenum">
              <a:rPr lang="en-US" smtClean="0"/>
              <a:pPr/>
              <a:t>29</a:t>
            </a:fld>
            <a:endParaRPr lang="en-US"/>
          </a:p>
        </p:txBody>
      </p:sp>
      <p:sp>
        <p:nvSpPr>
          <p:cNvPr id="7" name="TextBox 6">
            <a:extLst>
              <a:ext uri="{FF2B5EF4-FFF2-40B4-BE49-F238E27FC236}">
                <a16:creationId xmlns:a16="http://schemas.microsoft.com/office/drawing/2014/main" id="{64E0517D-7B7F-CE8C-FFD0-6625B97FC88D}"/>
              </a:ext>
            </a:extLst>
          </p:cNvPr>
          <p:cNvSpPr txBox="1"/>
          <p:nvPr/>
        </p:nvSpPr>
        <p:spPr>
          <a:xfrm>
            <a:off x="8626339" y="5719238"/>
            <a:ext cx="2341731" cy="369332"/>
          </a:xfrm>
          <a:prstGeom prst="rect">
            <a:avLst/>
          </a:prstGeom>
          <a:noFill/>
        </p:spPr>
        <p:txBody>
          <a:bodyPr wrap="none" rtlCol="0">
            <a:spAutoFit/>
          </a:bodyPr>
          <a:lstStyle/>
          <a:p>
            <a:r>
              <a:rPr lang="en-US"/>
              <a:t>Source: Tucker (2023)</a:t>
            </a:r>
          </a:p>
        </p:txBody>
      </p:sp>
      <p:sp>
        <p:nvSpPr>
          <p:cNvPr id="9" name="Text Placeholder 8">
            <a:extLst>
              <a:ext uri="{FF2B5EF4-FFF2-40B4-BE49-F238E27FC236}">
                <a16:creationId xmlns:a16="http://schemas.microsoft.com/office/drawing/2014/main" id="{6BA19A92-9905-6674-F8D9-E8F532D758B5}"/>
              </a:ext>
            </a:extLst>
          </p:cNvPr>
          <p:cNvSpPr>
            <a:spLocks noGrp="1"/>
          </p:cNvSpPr>
          <p:nvPr>
            <p:ph type="body" sz="quarter" idx="14"/>
          </p:nvPr>
        </p:nvSpPr>
        <p:spPr/>
        <p:txBody>
          <a:bodyPr/>
          <a:lstStyle/>
          <a:p>
            <a:endParaRPr lang="en-US"/>
          </a:p>
        </p:txBody>
      </p:sp>
      <p:grpSp>
        <p:nvGrpSpPr>
          <p:cNvPr id="8" name="Group 7" descr="Promotional fast-food ad showing two cheeseburger options: a single for €1 and a double for €2. The burgers are displayed against a fiery background, emphasizing value-based tiered pricing.">
            <a:extLst>
              <a:ext uri="{FF2B5EF4-FFF2-40B4-BE49-F238E27FC236}">
                <a16:creationId xmlns:a16="http://schemas.microsoft.com/office/drawing/2014/main" id="{50E0BA31-7735-FA5A-F6E1-90A21DC69F97}"/>
              </a:ext>
            </a:extLst>
          </p:cNvPr>
          <p:cNvGrpSpPr/>
          <p:nvPr/>
        </p:nvGrpSpPr>
        <p:grpSpPr>
          <a:xfrm>
            <a:off x="2209800" y="1042988"/>
            <a:ext cx="7886700" cy="4676250"/>
            <a:chOff x="2209800" y="1042988"/>
            <a:chExt cx="7886700" cy="4676250"/>
          </a:xfrm>
        </p:grpSpPr>
        <p:pic>
          <p:nvPicPr>
            <p:cNvPr id="10" name="Picture 9">
              <a:extLst>
                <a:ext uri="{FF2B5EF4-FFF2-40B4-BE49-F238E27FC236}">
                  <a16:creationId xmlns:a16="http://schemas.microsoft.com/office/drawing/2014/main" id="{B68FA106-EEB9-CE98-C053-D2A6183973BB}"/>
                </a:ext>
              </a:extLst>
            </p:cNvPr>
            <p:cNvPicPr>
              <a:picLocks noChangeAspect="1"/>
            </p:cNvPicPr>
            <p:nvPr/>
          </p:nvPicPr>
          <p:blipFill>
            <a:blip r:embed="rId3"/>
            <a:stretch>
              <a:fillRect/>
            </a:stretch>
          </p:blipFill>
          <p:spPr>
            <a:xfrm>
              <a:off x="2209800" y="1248479"/>
              <a:ext cx="7772400" cy="4361041"/>
            </a:xfrm>
            <a:prstGeom prst="rect">
              <a:avLst/>
            </a:prstGeom>
          </p:spPr>
        </p:pic>
        <p:sp>
          <p:nvSpPr>
            <p:cNvPr id="3" name="Rectangle 2">
              <a:extLst>
                <a:ext uri="{FF2B5EF4-FFF2-40B4-BE49-F238E27FC236}">
                  <a16:creationId xmlns:a16="http://schemas.microsoft.com/office/drawing/2014/main" id="{A6C78EDF-0F00-B162-8378-E09BD9524C14}"/>
                </a:ext>
              </a:extLst>
            </p:cNvPr>
            <p:cNvSpPr/>
            <p:nvPr/>
          </p:nvSpPr>
          <p:spPr>
            <a:xfrm>
              <a:off x="6800850" y="1557338"/>
              <a:ext cx="3000375" cy="90011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55D7DEB-D313-4DEC-E892-00824430856F}"/>
                </a:ext>
              </a:extLst>
            </p:cNvPr>
            <p:cNvSpPr/>
            <p:nvPr/>
          </p:nvSpPr>
          <p:spPr>
            <a:xfrm>
              <a:off x="7686675" y="1042988"/>
              <a:ext cx="2409825" cy="467625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52914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CE312-3FE7-0474-AB71-A21B39A05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877EE-CE4C-F623-4DAA-B21CF16858EF}"/>
              </a:ext>
            </a:extLst>
          </p:cNvPr>
          <p:cNvSpPr>
            <a:spLocks noGrp="1"/>
          </p:cNvSpPr>
          <p:nvPr>
            <p:ph type="ctrTitle"/>
          </p:nvPr>
        </p:nvSpPr>
        <p:spPr/>
        <p:txBody>
          <a:bodyPr/>
          <a:lstStyle/>
          <a:p>
            <a:r>
              <a:rPr lang="en-US" dirty="0"/>
              <a:t>Compromise Effect, Continued</a:t>
            </a:r>
          </a:p>
        </p:txBody>
      </p:sp>
      <p:pic>
        <p:nvPicPr>
          <p:cNvPr id="10" name="Picture 9" descr="Promotional fast-food ad showing two cheeseburger options: a single for €1, a double for €2, and a triple for €3. The burgers are displayed against a fiery background, emphasizing value-based tiered pricing encouraging upgrades to larger portions.">
            <a:extLst>
              <a:ext uri="{FF2B5EF4-FFF2-40B4-BE49-F238E27FC236}">
                <a16:creationId xmlns:a16="http://schemas.microsoft.com/office/drawing/2014/main" id="{2A5B661E-8B0A-D42D-7A6A-C9AA39CE9379}"/>
              </a:ext>
            </a:extLst>
          </p:cNvPr>
          <p:cNvPicPr>
            <a:picLocks noChangeAspect="1"/>
          </p:cNvPicPr>
          <p:nvPr/>
        </p:nvPicPr>
        <p:blipFill>
          <a:blip r:embed="rId3"/>
          <a:stretch>
            <a:fillRect/>
          </a:stretch>
        </p:blipFill>
        <p:spPr>
          <a:xfrm>
            <a:off x="2209800" y="1248479"/>
            <a:ext cx="7772400" cy="4361041"/>
          </a:xfrm>
          <a:prstGeom prst="rect">
            <a:avLst/>
          </a:prstGeom>
        </p:spPr>
      </p:pic>
      <p:sp>
        <p:nvSpPr>
          <p:cNvPr id="7" name="TextBox 6">
            <a:extLst>
              <a:ext uri="{FF2B5EF4-FFF2-40B4-BE49-F238E27FC236}">
                <a16:creationId xmlns:a16="http://schemas.microsoft.com/office/drawing/2014/main" id="{94BA68A4-78B2-15C8-191D-A36F293282A6}"/>
              </a:ext>
            </a:extLst>
          </p:cNvPr>
          <p:cNvSpPr txBox="1"/>
          <p:nvPr/>
        </p:nvSpPr>
        <p:spPr>
          <a:xfrm>
            <a:off x="8626339" y="5719238"/>
            <a:ext cx="2341731" cy="369332"/>
          </a:xfrm>
          <a:prstGeom prst="rect">
            <a:avLst/>
          </a:prstGeom>
          <a:noFill/>
        </p:spPr>
        <p:txBody>
          <a:bodyPr wrap="none" rtlCol="0">
            <a:spAutoFit/>
          </a:bodyPr>
          <a:lstStyle/>
          <a:p>
            <a:r>
              <a:rPr lang="en-US"/>
              <a:t>Source: Tucker (2023)</a:t>
            </a:r>
          </a:p>
        </p:txBody>
      </p:sp>
      <p:sp>
        <p:nvSpPr>
          <p:cNvPr id="5" name="Date Placeholder 4">
            <a:extLst>
              <a:ext uri="{FF2B5EF4-FFF2-40B4-BE49-F238E27FC236}">
                <a16:creationId xmlns:a16="http://schemas.microsoft.com/office/drawing/2014/main" id="{43FD869A-B7E7-1F6B-818D-C081E38FF870}"/>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0DD19739-BF82-7637-E91A-313844885E0B}"/>
              </a:ext>
            </a:extLst>
          </p:cNvPr>
          <p:cNvSpPr>
            <a:spLocks noGrp="1"/>
          </p:cNvSpPr>
          <p:nvPr>
            <p:ph type="sldNum" sz="quarter" idx="12"/>
          </p:nvPr>
        </p:nvSpPr>
        <p:spPr/>
        <p:txBody>
          <a:bodyPr/>
          <a:lstStyle/>
          <a:p>
            <a:fld id="{8A7A6979-0714-4377-B894-6BE4C2D6E202}" type="slidenum">
              <a:rPr lang="en-US" smtClean="0"/>
              <a:pPr/>
              <a:t>30</a:t>
            </a:fld>
            <a:endParaRPr lang="en-US"/>
          </a:p>
        </p:txBody>
      </p:sp>
    </p:spTree>
    <p:extLst>
      <p:ext uri="{BB962C8B-B14F-4D97-AF65-F5344CB8AC3E}">
        <p14:creationId xmlns:p14="http://schemas.microsoft.com/office/powerpoint/2010/main" val="1070918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69FEA-5D6F-6589-D884-2B0225DA9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0ADA6-7C93-592A-96F7-980890823710}"/>
              </a:ext>
            </a:extLst>
          </p:cNvPr>
          <p:cNvSpPr>
            <a:spLocks noGrp="1"/>
          </p:cNvSpPr>
          <p:nvPr>
            <p:ph type="ctrTitle"/>
          </p:nvPr>
        </p:nvSpPr>
        <p:spPr>
          <a:xfrm>
            <a:off x="2647199" y="1501742"/>
            <a:ext cx="7300940" cy="664797"/>
          </a:xfrm>
        </p:spPr>
        <p:txBody>
          <a:bodyPr/>
          <a:lstStyle/>
          <a:p>
            <a:r>
              <a:rPr lang="en-US"/>
              <a:t>Pricing digital goods</a:t>
            </a:r>
          </a:p>
        </p:txBody>
      </p:sp>
      <p:sp>
        <p:nvSpPr>
          <p:cNvPr id="4" name="Date Placeholder 3">
            <a:extLst>
              <a:ext uri="{FF2B5EF4-FFF2-40B4-BE49-F238E27FC236}">
                <a16:creationId xmlns:a16="http://schemas.microsoft.com/office/drawing/2014/main" id="{0617A6A3-4FA9-9127-8B49-E4895E088704}"/>
              </a:ext>
            </a:extLst>
          </p:cNvPr>
          <p:cNvSpPr>
            <a:spLocks noGrp="1"/>
          </p:cNvSpPr>
          <p:nvPr>
            <p:ph type="dt" sz="half" idx="10"/>
          </p:nvPr>
        </p:nvSpPr>
        <p:spPr/>
        <p:txBody>
          <a:bodyPr/>
          <a:lstStyle/>
          <a:p>
            <a:fld id="{D47A9A36-4EB0-BF46-AE48-7CDA251B954B}" type="datetime1">
              <a:rPr lang="en-US" smtClean="0"/>
              <a:pPr/>
              <a:t>11/12/2025</a:t>
            </a:fld>
            <a:endParaRPr lang="en-US"/>
          </a:p>
        </p:txBody>
      </p:sp>
      <p:sp>
        <p:nvSpPr>
          <p:cNvPr id="5" name="Slide Number Placeholder 4">
            <a:extLst>
              <a:ext uri="{FF2B5EF4-FFF2-40B4-BE49-F238E27FC236}">
                <a16:creationId xmlns:a16="http://schemas.microsoft.com/office/drawing/2014/main" id="{7C90810E-A965-E003-5118-F6A8F1E047D9}"/>
              </a:ext>
            </a:extLst>
          </p:cNvPr>
          <p:cNvSpPr>
            <a:spLocks noGrp="1"/>
          </p:cNvSpPr>
          <p:nvPr>
            <p:ph type="sldNum" sz="quarter" idx="12"/>
          </p:nvPr>
        </p:nvSpPr>
        <p:spPr/>
        <p:txBody>
          <a:bodyPr/>
          <a:lstStyle/>
          <a:p>
            <a:fld id="{8A7A6979-0714-4377-B894-6BE4C2D6E202}" type="slidenum">
              <a:rPr lang="en-US" smtClean="0"/>
              <a:pPr/>
              <a:t>31</a:t>
            </a:fld>
            <a:endParaRPr lang="en-US"/>
          </a:p>
        </p:txBody>
      </p:sp>
    </p:spTree>
    <p:extLst>
      <p:ext uri="{BB962C8B-B14F-4D97-AF65-F5344CB8AC3E}">
        <p14:creationId xmlns:p14="http://schemas.microsoft.com/office/powerpoint/2010/main" val="3147125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FCE49-5DE0-2150-2B77-CC704A7C1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4F25A-067F-93B2-5955-3CEFC63342A3}"/>
              </a:ext>
            </a:extLst>
          </p:cNvPr>
          <p:cNvSpPr>
            <a:spLocks noGrp="1"/>
          </p:cNvSpPr>
          <p:nvPr>
            <p:ph type="ctrTitle"/>
          </p:nvPr>
        </p:nvSpPr>
        <p:spPr/>
        <p:txBody>
          <a:bodyPr/>
          <a:lstStyle/>
          <a:p>
            <a:r>
              <a:rPr lang="en-US"/>
              <a:t>Digital Goods are Unique</a:t>
            </a:r>
          </a:p>
        </p:txBody>
      </p:sp>
      <p:sp>
        <p:nvSpPr>
          <p:cNvPr id="4" name="Text Placeholder 3">
            <a:extLst>
              <a:ext uri="{FF2B5EF4-FFF2-40B4-BE49-F238E27FC236}">
                <a16:creationId xmlns:a16="http://schemas.microsoft.com/office/drawing/2014/main" id="{BBFBE721-9F7A-0968-B99F-4C2FB04CC5F4}"/>
              </a:ext>
            </a:extLst>
          </p:cNvPr>
          <p:cNvSpPr>
            <a:spLocks noGrp="1"/>
          </p:cNvSpPr>
          <p:nvPr>
            <p:ph type="body" sz="quarter" idx="14"/>
          </p:nvPr>
        </p:nvSpPr>
        <p:spPr>
          <a:xfrm>
            <a:off x="1828800" y="1500189"/>
            <a:ext cx="8755380" cy="4186236"/>
          </a:xfrm>
        </p:spPr>
        <p:txBody>
          <a:bodyPr>
            <a:normAutofit/>
          </a:bodyPr>
          <a:lstStyle/>
          <a:p>
            <a:r>
              <a:rPr lang="en-US" sz="2400" dirty="0"/>
              <a:t>Zero marginal cost</a:t>
            </a:r>
          </a:p>
          <a:p>
            <a:pPr lvl="1"/>
            <a:r>
              <a:rPr lang="en-US" sz="2400" dirty="0"/>
              <a:t>Marginal cost of replicating bits is ~0</a:t>
            </a:r>
          </a:p>
          <a:p>
            <a:endParaRPr lang="en-US" sz="2400" dirty="0"/>
          </a:p>
          <a:p>
            <a:r>
              <a:rPr lang="en-US" sz="2400" dirty="0"/>
              <a:t>Non-rival</a:t>
            </a:r>
          </a:p>
          <a:p>
            <a:pPr lvl="1"/>
            <a:r>
              <a:rPr lang="en-US" sz="2400" dirty="0"/>
              <a:t>Me watching a movie on Netflix does not preclude you from watching</a:t>
            </a:r>
          </a:p>
          <a:p>
            <a:endParaRPr lang="en-US" sz="2400" dirty="0"/>
          </a:p>
        </p:txBody>
      </p:sp>
      <p:sp>
        <p:nvSpPr>
          <p:cNvPr id="5" name="Date Placeholder 4">
            <a:extLst>
              <a:ext uri="{FF2B5EF4-FFF2-40B4-BE49-F238E27FC236}">
                <a16:creationId xmlns:a16="http://schemas.microsoft.com/office/drawing/2014/main" id="{3D8A655B-14C1-59D4-E8D3-AA600FB3F6F0}"/>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57A40AC5-6500-6972-79B8-EAF01FAB126F}"/>
              </a:ext>
            </a:extLst>
          </p:cNvPr>
          <p:cNvSpPr>
            <a:spLocks noGrp="1"/>
          </p:cNvSpPr>
          <p:nvPr>
            <p:ph type="sldNum" sz="quarter" idx="12"/>
          </p:nvPr>
        </p:nvSpPr>
        <p:spPr/>
        <p:txBody>
          <a:bodyPr/>
          <a:lstStyle/>
          <a:p>
            <a:fld id="{8A7A6979-0714-4377-B894-6BE4C2D6E202}" type="slidenum">
              <a:rPr lang="en-US" smtClean="0"/>
              <a:pPr/>
              <a:t>32</a:t>
            </a:fld>
            <a:endParaRPr lang="en-US"/>
          </a:p>
        </p:txBody>
      </p:sp>
    </p:spTree>
    <p:extLst>
      <p:ext uri="{BB962C8B-B14F-4D97-AF65-F5344CB8AC3E}">
        <p14:creationId xmlns:p14="http://schemas.microsoft.com/office/powerpoint/2010/main" val="234103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7476-3DB0-08CF-057B-633C77411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C955-E304-B5F9-7A7D-448931130524}"/>
              </a:ext>
            </a:extLst>
          </p:cNvPr>
          <p:cNvSpPr>
            <a:spLocks noGrp="1"/>
          </p:cNvSpPr>
          <p:nvPr>
            <p:ph type="ctrTitle"/>
          </p:nvPr>
        </p:nvSpPr>
        <p:spPr/>
        <p:txBody>
          <a:bodyPr/>
          <a:lstStyle/>
          <a:p>
            <a:r>
              <a:rPr lang="en-US"/>
              <a:t>Implications for Pricing – Bundling</a:t>
            </a:r>
          </a:p>
        </p:txBody>
      </p:sp>
      <p:sp>
        <p:nvSpPr>
          <p:cNvPr id="4" name="Text Placeholder 3">
            <a:extLst>
              <a:ext uri="{FF2B5EF4-FFF2-40B4-BE49-F238E27FC236}">
                <a16:creationId xmlns:a16="http://schemas.microsoft.com/office/drawing/2014/main" id="{163D1615-1724-5BB5-F45A-DEA90593AE7A}"/>
              </a:ext>
            </a:extLst>
          </p:cNvPr>
          <p:cNvSpPr>
            <a:spLocks noGrp="1"/>
          </p:cNvSpPr>
          <p:nvPr>
            <p:ph type="body" sz="quarter" idx="14"/>
          </p:nvPr>
        </p:nvSpPr>
        <p:spPr>
          <a:xfrm>
            <a:off x="1828800" y="1500189"/>
            <a:ext cx="8755380" cy="4186236"/>
          </a:xfrm>
        </p:spPr>
        <p:txBody>
          <a:bodyPr>
            <a:normAutofit/>
          </a:bodyPr>
          <a:lstStyle/>
          <a:p>
            <a:r>
              <a:rPr lang="en-US" sz="2400" dirty="0"/>
              <a:t>Bundling is rampant in digital markets, particularly in content</a:t>
            </a:r>
          </a:p>
          <a:p>
            <a:pPr lvl="1"/>
            <a:r>
              <a:rPr lang="en-US" sz="2400" dirty="0"/>
              <a:t>E.g. Netflix, YouTube premium, versioning</a:t>
            </a:r>
          </a:p>
          <a:p>
            <a:endParaRPr lang="en-US" sz="2400" dirty="0"/>
          </a:p>
          <a:p>
            <a:r>
              <a:rPr lang="en-US" sz="2400" dirty="0"/>
              <a:t>Bundling example: Three types of consumers</a:t>
            </a:r>
          </a:p>
          <a:p>
            <a:pPr lvl="1"/>
            <a:r>
              <a:rPr lang="en-US" sz="2400" dirty="0"/>
              <a:t>Sports lovers (40%): WTP $50 for ESPN only</a:t>
            </a:r>
          </a:p>
          <a:p>
            <a:pPr lvl="1"/>
            <a:r>
              <a:rPr lang="en-US" sz="2400" dirty="0"/>
              <a:t>Comedy lovers (40%): WTP $50 for Comedy Central (CC) only</a:t>
            </a:r>
          </a:p>
          <a:p>
            <a:pPr lvl="1"/>
            <a:r>
              <a:rPr lang="en-US" sz="2400" dirty="0"/>
              <a:t>Diverse preference (20%): WTP $30 for ESPN and $30 for CC</a:t>
            </a:r>
          </a:p>
          <a:p>
            <a:endParaRPr lang="en-US" sz="2400" dirty="0"/>
          </a:p>
        </p:txBody>
      </p:sp>
      <p:sp>
        <p:nvSpPr>
          <p:cNvPr id="5" name="Date Placeholder 4">
            <a:extLst>
              <a:ext uri="{FF2B5EF4-FFF2-40B4-BE49-F238E27FC236}">
                <a16:creationId xmlns:a16="http://schemas.microsoft.com/office/drawing/2014/main" id="{9A7C11A6-B119-8C11-9F77-BCE9B425CE3A}"/>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0AC09A4D-3108-7AC4-BA3E-C162F064966D}"/>
              </a:ext>
            </a:extLst>
          </p:cNvPr>
          <p:cNvSpPr>
            <a:spLocks noGrp="1"/>
          </p:cNvSpPr>
          <p:nvPr>
            <p:ph type="sldNum" sz="quarter" idx="12"/>
          </p:nvPr>
        </p:nvSpPr>
        <p:spPr/>
        <p:txBody>
          <a:bodyPr/>
          <a:lstStyle/>
          <a:p>
            <a:fld id="{8A7A6979-0714-4377-B894-6BE4C2D6E202}" type="slidenum">
              <a:rPr lang="en-US" smtClean="0"/>
              <a:pPr/>
              <a:t>33</a:t>
            </a:fld>
            <a:endParaRPr lang="en-US"/>
          </a:p>
        </p:txBody>
      </p:sp>
    </p:spTree>
    <p:extLst>
      <p:ext uri="{BB962C8B-B14F-4D97-AF65-F5344CB8AC3E}">
        <p14:creationId xmlns:p14="http://schemas.microsoft.com/office/powerpoint/2010/main" val="129467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6575-C064-4570-694E-89F2FFD5F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76D72-AC9E-0648-ECF9-6996C4FDCC47}"/>
              </a:ext>
            </a:extLst>
          </p:cNvPr>
          <p:cNvSpPr>
            <a:spLocks noGrp="1"/>
          </p:cNvSpPr>
          <p:nvPr>
            <p:ph type="ctrTitle"/>
          </p:nvPr>
        </p:nvSpPr>
        <p:spPr/>
        <p:txBody>
          <a:bodyPr/>
          <a:lstStyle/>
          <a:p>
            <a:r>
              <a:rPr lang="en-US" dirty="0"/>
              <a:t>Implications for Pricing – Bundling, Part 2</a:t>
            </a:r>
          </a:p>
        </p:txBody>
      </p:sp>
      <p:sp>
        <p:nvSpPr>
          <p:cNvPr id="4" name="Text Placeholder 3">
            <a:extLst>
              <a:ext uri="{FF2B5EF4-FFF2-40B4-BE49-F238E27FC236}">
                <a16:creationId xmlns:a16="http://schemas.microsoft.com/office/drawing/2014/main" id="{F53986F8-BC38-D79D-FD66-13EAFE1972C2}"/>
              </a:ext>
            </a:extLst>
          </p:cNvPr>
          <p:cNvSpPr>
            <a:spLocks noGrp="1"/>
          </p:cNvSpPr>
          <p:nvPr>
            <p:ph type="body" sz="quarter" idx="14"/>
          </p:nvPr>
        </p:nvSpPr>
        <p:spPr>
          <a:xfrm>
            <a:off x="1828800" y="1500189"/>
            <a:ext cx="8755380" cy="4186236"/>
          </a:xfrm>
        </p:spPr>
        <p:txBody>
          <a:bodyPr>
            <a:normAutofit/>
          </a:bodyPr>
          <a:lstStyle/>
          <a:p>
            <a:r>
              <a:rPr lang="en-US" sz="2400" dirty="0"/>
              <a:t>Question 1: What is best price to choose if we price ESPN &amp; CC separately?</a:t>
            </a:r>
          </a:p>
          <a:p>
            <a:endParaRPr lang="en-US" sz="2400" dirty="0"/>
          </a:p>
          <a:p>
            <a:endParaRPr lang="en-US" sz="2400" dirty="0"/>
          </a:p>
        </p:txBody>
      </p:sp>
      <p:sp>
        <p:nvSpPr>
          <p:cNvPr id="5" name="Date Placeholder 4">
            <a:extLst>
              <a:ext uri="{FF2B5EF4-FFF2-40B4-BE49-F238E27FC236}">
                <a16:creationId xmlns:a16="http://schemas.microsoft.com/office/drawing/2014/main" id="{21C1A355-7EA7-8CEA-CA8D-AE18DBD4022A}"/>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C9FC537F-554E-5540-C3A5-59A62A012A68}"/>
              </a:ext>
            </a:extLst>
          </p:cNvPr>
          <p:cNvSpPr>
            <a:spLocks noGrp="1"/>
          </p:cNvSpPr>
          <p:nvPr>
            <p:ph type="sldNum" sz="quarter" idx="12"/>
          </p:nvPr>
        </p:nvSpPr>
        <p:spPr/>
        <p:txBody>
          <a:bodyPr/>
          <a:lstStyle/>
          <a:p>
            <a:fld id="{8A7A6979-0714-4377-B894-6BE4C2D6E202}" type="slidenum">
              <a:rPr lang="en-US" smtClean="0"/>
              <a:pPr/>
              <a:t>34</a:t>
            </a:fld>
            <a:endParaRPr lang="en-US"/>
          </a:p>
        </p:txBody>
      </p:sp>
    </p:spTree>
    <p:extLst>
      <p:ext uri="{BB962C8B-B14F-4D97-AF65-F5344CB8AC3E}">
        <p14:creationId xmlns:p14="http://schemas.microsoft.com/office/powerpoint/2010/main" val="1147641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8D932-CA98-9B7B-D7E4-E32C6D162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CCD11-BB7A-5CCE-6ABF-0C79EAD5A412}"/>
              </a:ext>
            </a:extLst>
          </p:cNvPr>
          <p:cNvSpPr>
            <a:spLocks noGrp="1"/>
          </p:cNvSpPr>
          <p:nvPr>
            <p:ph type="ctrTitle"/>
          </p:nvPr>
        </p:nvSpPr>
        <p:spPr/>
        <p:txBody>
          <a:bodyPr/>
          <a:lstStyle/>
          <a:p>
            <a:r>
              <a:rPr lang="en-US"/>
              <a:t>Example – No Bundling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C3C2C0F-2840-54E8-2E4D-83264F51140C}"/>
                  </a:ext>
                </a:extLst>
              </p:cNvPr>
              <p:cNvSpPr>
                <a:spLocks noGrp="1"/>
              </p:cNvSpPr>
              <p:nvPr>
                <p:ph type="body" sz="quarter" idx="14"/>
              </p:nvPr>
            </p:nvSpPr>
            <p:spPr>
              <a:xfrm>
                <a:off x="1828800" y="1500189"/>
                <a:ext cx="8755380" cy="4186236"/>
              </a:xfrm>
            </p:spPr>
            <p:txBody>
              <a:bodyPr>
                <a:normAutofit/>
              </a:bodyPr>
              <a:lstStyle/>
              <a:p>
                <a:r>
                  <a:rPr lang="en-US" sz="2400"/>
                  <a:t>How do we set the price of ESPN alone?</a:t>
                </a:r>
              </a:p>
              <a:p>
                <a:pPr lvl="1"/>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≤$30</m:t>
                    </m:r>
                  </m:oMath>
                </a14:m>
                <a:r>
                  <a:rPr lang="en-US" sz="2400"/>
                  <a:t>: Profits = </a:t>
                </a:r>
                <a14:m>
                  <m:oMath xmlns:m="http://schemas.openxmlformats.org/officeDocument/2006/math">
                    <m:r>
                      <a:rPr lang="en-US" sz="2400" b="0" i="0" smtClean="0">
                        <a:latin typeface="Cambria Math" panose="02040503050406030204" pitchFamily="18" charset="0"/>
                      </a:rPr>
                      <m:t>0.6</m:t>
                    </m:r>
                    <m:r>
                      <a:rPr lang="en-US" sz="2400" b="0" i="1" smtClean="0">
                        <a:latin typeface="Cambria Math" panose="02040503050406030204" pitchFamily="18" charset="0"/>
                      </a:rPr>
                      <m:t>∗</m:t>
                    </m:r>
                    <m:r>
                      <a:rPr lang="en-US" sz="2400" b="0" i="1" smtClean="0">
                        <a:latin typeface="Cambria Math" panose="02040503050406030204" pitchFamily="18" charset="0"/>
                      </a:rPr>
                      <m:t>𝑃</m:t>
                    </m:r>
                  </m:oMath>
                </a14:m>
                <a:r>
                  <a:rPr lang="en-US" sz="2400"/>
                  <a:t>, ESPN + Diverse </a:t>
                </a:r>
                <a:r>
                  <a:rPr lang="en-US" sz="2400" err="1"/>
                  <a:t>Prefs</a:t>
                </a:r>
                <a:r>
                  <a:rPr lang="en-US" sz="2400"/>
                  <a:t> both purchase</a:t>
                </a:r>
              </a:p>
              <a:p>
                <a:pPr lvl="1"/>
                <a14:m>
                  <m:oMath xmlns:m="http://schemas.openxmlformats.org/officeDocument/2006/math">
                    <m:r>
                      <a:rPr lang="en-US" sz="2400" b="0" i="1" smtClean="0">
                        <a:latin typeface="Cambria Math" panose="02040503050406030204" pitchFamily="18" charset="0"/>
                      </a:rPr>
                      <m:t>$30&lt;</m:t>
                    </m:r>
                    <m:r>
                      <a:rPr lang="en-US" sz="2400" b="0" i="1" smtClean="0">
                        <a:latin typeface="Cambria Math" panose="02040503050406030204" pitchFamily="18" charset="0"/>
                      </a:rPr>
                      <m:t>𝑃</m:t>
                    </m:r>
                    <m:r>
                      <a:rPr lang="en-US" sz="2400" b="0" i="1" smtClean="0">
                        <a:latin typeface="Cambria Math" panose="02040503050406030204" pitchFamily="18" charset="0"/>
                      </a:rPr>
                      <m:t>≤$50</m:t>
                    </m:r>
                  </m:oMath>
                </a14:m>
                <a:r>
                  <a:rPr lang="en-US" sz="2400"/>
                  <a:t>: Profits= </a:t>
                </a:r>
                <a14:m>
                  <m:oMath xmlns:m="http://schemas.openxmlformats.org/officeDocument/2006/math">
                    <m:r>
                      <a:rPr lang="en-US" sz="2400" b="0" i="1" smtClean="0">
                        <a:latin typeface="Cambria Math" panose="02040503050406030204" pitchFamily="18" charset="0"/>
                      </a:rPr>
                      <m:t>0.4</m:t>
                    </m:r>
                    <m:r>
                      <a:rPr lang="en-US" sz="2400" b="0" i="1" smtClean="0">
                        <a:latin typeface="Cambria Math" panose="02040503050406030204" pitchFamily="18" charset="0"/>
                      </a:rPr>
                      <m:t>𝑃</m:t>
                    </m:r>
                  </m:oMath>
                </a14:m>
                <a:r>
                  <a:rPr lang="en-US" sz="2400"/>
                  <a:t>, Only ESPN lovers purchase</a:t>
                </a:r>
              </a:p>
              <a:p>
                <a:pPr lvl="1"/>
                <a14:m>
                  <m:oMath xmlns:m="http://schemas.openxmlformats.org/officeDocument/2006/math">
                    <m:r>
                      <a:rPr lang="en-US" sz="2400" b="0" i="1" smtClean="0">
                        <a:latin typeface="Cambria Math" panose="02040503050406030204" pitchFamily="18" charset="0"/>
                      </a:rPr>
                      <m:t>$50&lt;</m:t>
                    </m:r>
                    <m:r>
                      <a:rPr lang="en-US" sz="2400" b="0" i="1" smtClean="0">
                        <a:latin typeface="Cambria Math" panose="02040503050406030204" pitchFamily="18" charset="0"/>
                      </a:rPr>
                      <m:t>𝑃</m:t>
                    </m:r>
                  </m:oMath>
                </a14:m>
                <a:r>
                  <a:rPr lang="en-US" sz="2400"/>
                  <a:t>: Profits=0, Nobody purchases</a:t>
                </a:r>
              </a:p>
              <a:p>
                <a:endParaRPr lang="en-US" sz="2400"/>
              </a:p>
              <a:p>
                <a:r>
                  <a:rPr lang="en-US" sz="2400"/>
                  <a:t>Best we can do is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=50</m:t>
                    </m:r>
                  </m:oMath>
                </a14:m>
                <a:r>
                  <a:rPr lang="en-US" sz="2400"/>
                  <a:t> =&gt; Profits =$20</a:t>
                </a:r>
              </a:p>
              <a:p>
                <a:endParaRPr lang="en-US" sz="2400"/>
              </a:p>
              <a:p>
                <a:r>
                  <a:rPr lang="en-US" sz="2400"/>
                  <a:t>Same for CC alone</a:t>
                </a:r>
              </a:p>
              <a:p>
                <a:pPr lvl="1"/>
                <a:endParaRPr lang="en-US" sz="2400"/>
              </a:p>
              <a:p>
                <a:endParaRPr lang="en-US" sz="2400"/>
              </a:p>
            </p:txBody>
          </p:sp>
        </mc:Choice>
        <mc:Fallback xmlns="">
          <p:sp>
            <p:nvSpPr>
              <p:cNvPr id="4" name="Text Placeholder 3">
                <a:extLst>
                  <a:ext uri="{FF2B5EF4-FFF2-40B4-BE49-F238E27FC236}">
                    <a16:creationId xmlns:a16="http://schemas.microsoft.com/office/drawing/2014/main" id="{7C3C2C0F-2840-54E8-2E4D-83264F51140C}"/>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748975CB-EFC3-B686-AF02-B04A859EA76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716EA00B-B5B9-98B3-501E-A85721F35374}"/>
              </a:ext>
            </a:extLst>
          </p:cNvPr>
          <p:cNvSpPr>
            <a:spLocks noGrp="1"/>
          </p:cNvSpPr>
          <p:nvPr>
            <p:ph type="sldNum" sz="quarter" idx="12"/>
          </p:nvPr>
        </p:nvSpPr>
        <p:spPr/>
        <p:txBody>
          <a:bodyPr/>
          <a:lstStyle/>
          <a:p>
            <a:fld id="{8A7A6979-0714-4377-B894-6BE4C2D6E202}" type="slidenum">
              <a:rPr lang="en-US" smtClean="0"/>
              <a:pPr/>
              <a:t>35</a:t>
            </a:fld>
            <a:endParaRPr lang="en-US"/>
          </a:p>
        </p:txBody>
      </p:sp>
    </p:spTree>
    <p:extLst>
      <p:ext uri="{BB962C8B-B14F-4D97-AF65-F5344CB8AC3E}">
        <p14:creationId xmlns:p14="http://schemas.microsoft.com/office/powerpoint/2010/main" val="343345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C7857-8F89-ACC8-C69D-917389FC3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2194D-C439-554F-6E65-1BF4D565E99A}"/>
              </a:ext>
            </a:extLst>
          </p:cNvPr>
          <p:cNvSpPr>
            <a:spLocks noGrp="1"/>
          </p:cNvSpPr>
          <p:nvPr>
            <p:ph type="ctrTitle"/>
          </p:nvPr>
        </p:nvSpPr>
        <p:spPr/>
        <p:txBody>
          <a:bodyPr/>
          <a:lstStyle/>
          <a:p>
            <a:r>
              <a:rPr lang="en-US" dirty="0"/>
              <a:t>Implications for Pricing – Bundling, Part 3</a:t>
            </a:r>
          </a:p>
        </p:txBody>
      </p:sp>
      <p:sp>
        <p:nvSpPr>
          <p:cNvPr id="4" name="Text Placeholder 3">
            <a:extLst>
              <a:ext uri="{FF2B5EF4-FFF2-40B4-BE49-F238E27FC236}">
                <a16:creationId xmlns:a16="http://schemas.microsoft.com/office/drawing/2014/main" id="{CE4C3EE5-A3B6-01F9-7498-EEEAA4FA3DDA}"/>
              </a:ext>
            </a:extLst>
          </p:cNvPr>
          <p:cNvSpPr>
            <a:spLocks noGrp="1"/>
          </p:cNvSpPr>
          <p:nvPr>
            <p:ph type="body" sz="quarter" idx="14"/>
          </p:nvPr>
        </p:nvSpPr>
        <p:spPr>
          <a:xfrm>
            <a:off x="1828800" y="1500189"/>
            <a:ext cx="8755380" cy="4186236"/>
          </a:xfrm>
        </p:spPr>
        <p:txBody>
          <a:bodyPr>
            <a:normAutofit/>
          </a:bodyPr>
          <a:lstStyle/>
          <a:p>
            <a:r>
              <a:rPr lang="en-US" sz="2400"/>
              <a:t>Question 2: What is best price to choose if we price ESPN &amp; CC as a bundle?</a:t>
            </a:r>
          </a:p>
          <a:p>
            <a:pPr lvl="1"/>
            <a:r>
              <a:rPr lang="en-US" sz="2400"/>
              <a:t>Meaning we offer 1 price for access to both channels</a:t>
            </a:r>
          </a:p>
          <a:p>
            <a:pPr lvl="1"/>
            <a:r>
              <a:rPr lang="en-US" sz="2400"/>
              <a:t>Hint: Diverse preference types value bundle at $60</a:t>
            </a:r>
          </a:p>
          <a:p>
            <a:endParaRPr lang="en-US" sz="2400"/>
          </a:p>
          <a:p>
            <a:endParaRPr lang="en-US" sz="2400"/>
          </a:p>
        </p:txBody>
      </p:sp>
      <p:sp>
        <p:nvSpPr>
          <p:cNvPr id="5" name="Date Placeholder 4">
            <a:extLst>
              <a:ext uri="{FF2B5EF4-FFF2-40B4-BE49-F238E27FC236}">
                <a16:creationId xmlns:a16="http://schemas.microsoft.com/office/drawing/2014/main" id="{E419E113-6182-995C-9947-EF5C9BF65A07}"/>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21FDCAC4-1A51-8B84-27AD-B7237B1ADADE}"/>
              </a:ext>
            </a:extLst>
          </p:cNvPr>
          <p:cNvSpPr>
            <a:spLocks noGrp="1"/>
          </p:cNvSpPr>
          <p:nvPr>
            <p:ph type="sldNum" sz="quarter" idx="12"/>
          </p:nvPr>
        </p:nvSpPr>
        <p:spPr/>
        <p:txBody>
          <a:bodyPr/>
          <a:lstStyle/>
          <a:p>
            <a:fld id="{8A7A6979-0714-4377-B894-6BE4C2D6E202}" type="slidenum">
              <a:rPr lang="en-US" smtClean="0"/>
              <a:pPr/>
              <a:t>36</a:t>
            </a:fld>
            <a:endParaRPr lang="en-US"/>
          </a:p>
        </p:txBody>
      </p:sp>
    </p:spTree>
    <p:extLst>
      <p:ext uri="{BB962C8B-B14F-4D97-AF65-F5344CB8AC3E}">
        <p14:creationId xmlns:p14="http://schemas.microsoft.com/office/powerpoint/2010/main" val="5214918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96BB8-8DE8-CBB1-551C-F506D8CA1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6FE75-AFE9-B494-432F-1713D202217E}"/>
              </a:ext>
            </a:extLst>
          </p:cNvPr>
          <p:cNvSpPr>
            <a:spLocks noGrp="1"/>
          </p:cNvSpPr>
          <p:nvPr>
            <p:ph type="ctrTitle"/>
          </p:nvPr>
        </p:nvSpPr>
        <p:spPr/>
        <p:txBody>
          <a:bodyPr/>
          <a:lstStyle/>
          <a:p>
            <a:r>
              <a:rPr lang="en-US"/>
              <a:t>Example – Bundling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9F8FF57-5916-BD13-2674-36483165C4B2}"/>
                  </a:ext>
                </a:extLst>
              </p:cNvPr>
              <p:cNvSpPr>
                <a:spLocks noGrp="1"/>
              </p:cNvSpPr>
              <p:nvPr>
                <p:ph type="body" sz="quarter" idx="14"/>
              </p:nvPr>
            </p:nvSpPr>
            <p:spPr>
              <a:xfrm>
                <a:off x="1828800" y="1500189"/>
                <a:ext cx="8755380" cy="4186236"/>
              </a:xfrm>
            </p:spPr>
            <p:txBody>
              <a:bodyPr>
                <a:normAutofit/>
              </a:bodyPr>
              <a:lstStyle/>
              <a:p>
                <a:r>
                  <a:rPr lang="en-US" sz="2400"/>
                  <a:t>How do we set the price of a CC/ESPN bundle?</a:t>
                </a:r>
              </a:p>
              <a:p>
                <a:pPr lvl="1"/>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≤$50</m:t>
                    </m:r>
                  </m:oMath>
                </a14:m>
                <a:r>
                  <a:rPr lang="en-US" sz="2400"/>
                  <a:t>: Profits = </a:t>
                </a:r>
                <a14:m>
                  <m:oMath xmlns:m="http://schemas.openxmlformats.org/officeDocument/2006/math">
                    <m:r>
                      <a:rPr lang="en-US" sz="2400" b="0" i="1" smtClean="0">
                        <a:latin typeface="Cambria Math" panose="02040503050406030204" pitchFamily="18" charset="0"/>
                      </a:rPr>
                      <m:t>𝑃</m:t>
                    </m:r>
                  </m:oMath>
                </a14:m>
                <a:r>
                  <a:rPr lang="en-US" sz="2400"/>
                  <a:t>, Everyone purchases</a:t>
                </a:r>
              </a:p>
              <a:p>
                <a:pPr lvl="1"/>
                <a14:m>
                  <m:oMath xmlns:m="http://schemas.openxmlformats.org/officeDocument/2006/math">
                    <m:r>
                      <a:rPr lang="en-US" sz="2400" b="0" i="1" smtClean="0">
                        <a:latin typeface="Cambria Math" panose="02040503050406030204" pitchFamily="18" charset="0"/>
                      </a:rPr>
                      <m:t>$50&lt;</m:t>
                    </m:r>
                    <m:r>
                      <a:rPr lang="en-US" sz="2400" b="0" i="1" smtClean="0">
                        <a:latin typeface="Cambria Math" panose="02040503050406030204" pitchFamily="18" charset="0"/>
                      </a:rPr>
                      <m:t>𝑃</m:t>
                    </m:r>
                    <m:r>
                      <a:rPr lang="en-US" sz="2400" b="0" i="1" smtClean="0">
                        <a:latin typeface="Cambria Math" panose="02040503050406030204" pitchFamily="18" charset="0"/>
                      </a:rPr>
                      <m:t>≤$60</m:t>
                    </m:r>
                  </m:oMath>
                </a14:m>
                <a:r>
                  <a:rPr lang="en-US" sz="2400"/>
                  <a:t>: Profits= </a:t>
                </a:r>
                <a14:m>
                  <m:oMath xmlns:m="http://schemas.openxmlformats.org/officeDocument/2006/math">
                    <m:r>
                      <a:rPr lang="en-US" sz="2400" b="0" i="1" smtClean="0">
                        <a:latin typeface="Cambria Math" panose="02040503050406030204" pitchFamily="18" charset="0"/>
                      </a:rPr>
                      <m:t>0.2</m:t>
                    </m:r>
                    <m:r>
                      <a:rPr lang="en-US" sz="2400" b="0" i="1" smtClean="0">
                        <a:latin typeface="Cambria Math" panose="02040503050406030204" pitchFamily="18" charset="0"/>
                      </a:rPr>
                      <m:t>𝑃</m:t>
                    </m:r>
                  </m:oMath>
                </a14:m>
                <a:r>
                  <a:rPr lang="en-US" sz="2400"/>
                  <a:t>, Only diverse </a:t>
                </a:r>
                <a:r>
                  <a:rPr lang="en-US" sz="2400" err="1"/>
                  <a:t>prefs</a:t>
                </a:r>
                <a:r>
                  <a:rPr lang="en-US" sz="2400"/>
                  <a:t> purchase</a:t>
                </a:r>
              </a:p>
              <a:p>
                <a:pPr lvl="1"/>
                <a14:m>
                  <m:oMath xmlns:m="http://schemas.openxmlformats.org/officeDocument/2006/math">
                    <m:r>
                      <a:rPr lang="en-US" sz="2400" b="0" i="1" smtClean="0">
                        <a:latin typeface="Cambria Math" panose="02040503050406030204" pitchFamily="18" charset="0"/>
                      </a:rPr>
                      <m:t>$60&lt;</m:t>
                    </m:r>
                    <m:r>
                      <a:rPr lang="en-US" sz="2400" b="0" i="1" smtClean="0">
                        <a:latin typeface="Cambria Math" panose="02040503050406030204" pitchFamily="18" charset="0"/>
                      </a:rPr>
                      <m:t>𝑃</m:t>
                    </m:r>
                  </m:oMath>
                </a14:m>
                <a:r>
                  <a:rPr lang="en-US" sz="2400"/>
                  <a:t>: Profits=0, Nobody purchases</a:t>
                </a:r>
              </a:p>
              <a:p>
                <a:endParaRPr lang="en-US" sz="2400"/>
              </a:p>
              <a:p>
                <a:r>
                  <a:rPr lang="en-US" sz="2400"/>
                  <a:t>Best we can do is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=50</m:t>
                    </m:r>
                  </m:oMath>
                </a14:m>
                <a:r>
                  <a:rPr lang="en-US" sz="2400"/>
                  <a:t> =&gt; Profits = 50</a:t>
                </a:r>
              </a:p>
              <a:p>
                <a:endParaRPr lang="en-US" sz="2400"/>
              </a:p>
              <a:p>
                <a:r>
                  <a:rPr lang="en-US" sz="2400"/>
                  <a:t>Bundling substantially increases profits over pricing each good separately!</a:t>
                </a:r>
              </a:p>
              <a:p>
                <a:endParaRPr lang="en-US" sz="2400"/>
              </a:p>
            </p:txBody>
          </p:sp>
        </mc:Choice>
        <mc:Fallback xmlns="">
          <p:sp>
            <p:nvSpPr>
              <p:cNvPr id="4" name="Text Placeholder 3">
                <a:extLst>
                  <a:ext uri="{FF2B5EF4-FFF2-40B4-BE49-F238E27FC236}">
                    <a16:creationId xmlns:a16="http://schemas.microsoft.com/office/drawing/2014/main" id="{A9F8FF57-5916-BD13-2674-36483165C4B2}"/>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B865DE10-1EE5-74B1-FCE5-4128F169B38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A2357280-D63E-872E-8552-AB790BB7D173}"/>
              </a:ext>
            </a:extLst>
          </p:cNvPr>
          <p:cNvSpPr>
            <a:spLocks noGrp="1"/>
          </p:cNvSpPr>
          <p:nvPr>
            <p:ph type="sldNum" sz="quarter" idx="12"/>
          </p:nvPr>
        </p:nvSpPr>
        <p:spPr/>
        <p:txBody>
          <a:bodyPr/>
          <a:lstStyle/>
          <a:p>
            <a:fld id="{8A7A6979-0714-4377-B894-6BE4C2D6E202}" type="slidenum">
              <a:rPr lang="en-US" smtClean="0"/>
              <a:pPr/>
              <a:t>37</a:t>
            </a:fld>
            <a:endParaRPr lang="en-US"/>
          </a:p>
        </p:txBody>
      </p:sp>
    </p:spTree>
    <p:extLst>
      <p:ext uri="{BB962C8B-B14F-4D97-AF65-F5344CB8AC3E}">
        <p14:creationId xmlns:p14="http://schemas.microsoft.com/office/powerpoint/2010/main" val="3063737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8F23-6C5F-775E-9BDA-87A810E9A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922A1-7983-04BE-76FB-AD99BE6E246B}"/>
              </a:ext>
            </a:extLst>
          </p:cNvPr>
          <p:cNvSpPr>
            <a:spLocks noGrp="1"/>
          </p:cNvSpPr>
          <p:nvPr>
            <p:ph type="ctrTitle"/>
          </p:nvPr>
        </p:nvSpPr>
        <p:spPr>
          <a:xfrm>
            <a:off x="2107520" y="437030"/>
            <a:ext cx="7988980" cy="332399"/>
          </a:xfrm>
        </p:spPr>
        <p:txBody>
          <a:bodyPr/>
          <a:lstStyle/>
          <a:p>
            <a:r>
              <a:rPr lang="en-US"/>
              <a:t>Question: Why Bundling So Effective in Digital Goods?</a:t>
            </a:r>
          </a:p>
        </p:txBody>
      </p:sp>
      <p:sp>
        <p:nvSpPr>
          <p:cNvPr id="4" name="Text Placeholder 3">
            <a:extLst>
              <a:ext uri="{FF2B5EF4-FFF2-40B4-BE49-F238E27FC236}">
                <a16:creationId xmlns:a16="http://schemas.microsoft.com/office/drawing/2014/main" id="{B24D2281-C6FC-A00F-19CB-5048B24B4DE7}"/>
              </a:ext>
            </a:extLst>
          </p:cNvPr>
          <p:cNvSpPr>
            <a:spLocks noGrp="1"/>
          </p:cNvSpPr>
          <p:nvPr>
            <p:ph type="body" sz="quarter" idx="14"/>
          </p:nvPr>
        </p:nvSpPr>
        <p:spPr>
          <a:xfrm>
            <a:off x="1828800" y="1500189"/>
            <a:ext cx="8755380" cy="4186236"/>
          </a:xfrm>
        </p:spPr>
        <p:txBody>
          <a:bodyPr>
            <a:normAutofit/>
          </a:bodyPr>
          <a:lstStyle/>
          <a:p>
            <a:pPr marL="0" indent="0">
              <a:buNone/>
            </a:pPr>
            <a:endParaRPr lang="en-US" sz="2400"/>
          </a:p>
        </p:txBody>
      </p:sp>
      <p:sp>
        <p:nvSpPr>
          <p:cNvPr id="5" name="Date Placeholder 4">
            <a:extLst>
              <a:ext uri="{FF2B5EF4-FFF2-40B4-BE49-F238E27FC236}">
                <a16:creationId xmlns:a16="http://schemas.microsoft.com/office/drawing/2014/main" id="{60C5A183-580F-8402-E624-996EA7FBD820}"/>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DDF665B6-2D87-0159-20E5-869FA8A629BF}"/>
              </a:ext>
            </a:extLst>
          </p:cNvPr>
          <p:cNvSpPr>
            <a:spLocks noGrp="1"/>
          </p:cNvSpPr>
          <p:nvPr>
            <p:ph type="sldNum" sz="quarter" idx="12"/>
          </p:nvPr>
        </p:nvSpPr>
        <p:spPr/>
        <p:txBody>
          <a:bodyPr/>
          <a:lstStyle/>
          <a:p>
            <a:fld id="{8A7A6979-0714-4377-B894-6BE4C2D6E202}" type="slidenum">
              <a:rPr lang="en-US" smtClean="0"/>
              <a:pPr/>
              <a:t>38</a:t>
            </a:fld>
            <a:endParaRPr lang="en-US"/>
          </a:p>
        </p:txBody>
      </p:sp>
    </p:spTree>
    <p:extLst>
      <p:ext uri="{BB962C8B-B14F-4D97-AF65-F5344CB8AC3E}">
        <p14:creationId xmlns:p14="http://schemas.microsoft.com/office/powerpoint/2010/main" val="2207901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D58D-D670-2E34-A871-2F412FF9A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AD7CF-F663-081C-8A5D-CB08D6E27F8A}"/>
              </a:ext>
            </a:extLst>
          </p:cNvPr>
          <p:cNvSpPr>
            <a:spLocks noGrp="1"/>
          </p:cNvSpPr>
          <p:nvPr>
            <p:ph type="ctrTitle"/>
          </p:nvPr>
        </p:nvSpPr>
        <p:spPr/>
        <p:txBody>
          <a:bodyPr/>
          <a:lstStyle/>
          <a:p>
            <a:r>
              <a:rPr lang="en-US"/>
              <a:t>Example – Mixed Bundling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BF18C00-509E-8726-C381-42B1270060A7}"/>
                  </a:ext>
                </a:extLst>
              </p:cNvPr>
              <p:cNvSpPr>
                <a:spLocks noGrp="1"/>
              </p:cNvSpPr>
              <p:nvPr>
                <p:ph type="body" sz="quarter" idx="14"/>
              </p:nvPr>
            </p:nvSpPr>
            <p:spPr>
              <a:xfrm>
                <a:off x="1828800" y="1500189"/>
                <a:ext cx="8755380" cy="4186236"/>
              </a:xfrm>
            </p:spPr>
            <p:txBody>
              <a:bodyPr>
                <a:normAutofit lnSpcReduction="10000"/>
              </a:bodyPr>
              <a:lstStyle/>
              <a:p>
                <a:r>
                  <a:rPr lang="en-US" sz="2400"/>
                  <a:t>Mixed bundling occurs when we sell both the bundle and the individual components</a:t>
                </a:r>
              </a:p>
              <a:p>
                <a:endParaRPr lang="en-US" sz="2400"/>
              </a:p>
              <a:p>
                <a:r>
                  <a:rPr lang="en-US" sz="2400"/>
                  <a:t>Can further increase profits in this situation</a:t>
                </a:r>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𝐵</m:t>
                        </m:r>
                      </m:sub>
                    </m:sSub>
                    <m:r>
                      <a:rPr lang="en-US" sz="2400" b="0" i="1" smtClean="0">
                        <a:latin typeface="Cambria Math" panose="02040503050406030204" pitchFamily="18" charset="0"/>
                      </a:rPr>
                      <m:t>=$60</m:t>
                    </m:r>
                  </m:oMath>
                </a14:m>
                <a:r>
                  <a:rPr lang="en-US" sz="2400"/>
                  <a:t>, Diverse preferences purchase</a:t>
                </a:r>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𝐸𝑆𝑃𝑁</m:t>
                        </m:r>
                      </m:sub>
                    </m:sSub>
                    <m:r>
                      <a:rPr lang="en-US" sz="2400" b="0" i="1" smtClean="0">
                        <a:latin typeface="Cambria Math" panose="02040503050406030204" pitchFamily="18" charset="0"/>
                      </a:rPr>
                      <m:t>=$50</m:t>
                    </m:r>
                  </m:oMath>
                </a14:m>
                <a:r>
                  <a:rPr lang="en-US" sz="2400"/>
                  <a:t>, ESPN lovers purchase</a:t>
                </a:r>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𝐶𝐶</m:t>
                        </m:r>
                      </m:sub>
                    </m:sSub>
                    <m:r>
                      <a:rPr lang="en-US" sz="2400" b="0" i="1" smtClean="0">
                        <a:latin typeface="Cambria Math" panose="02040503050406030204" pitchFamily="18" charset="0"/>
                      </a:rPr>
                      <m:t>=$50</m:t>
                    </m:r>
                  </m:oMath>
                </a14:m>
                <a:r>
                  <a:rPr lang="en-US" sz="2400"/>
                  <a:t>, CC lovers purchase</a:t>
                </a:r>
              </a:p>
              <a:p>
                <a:endParaRPr lang="en-US" sz="2400"/>
              </a:p>
              <a:p>
                <a:r>
                  <a:rPr lang="en-US" sz="2400"/>
                  <a:t>Capture all the surplus</a:t>
                </a:r>
              </a:p>
              <a:p>
                <a:endParaRPr lang="en-US" sz="2400"/>
              </a:p>
              <a:p>
                <a:r>
                  <a:rPr lang="en-US" sz="2400"/>
                  <a:t>Tons of academic research studying different bundling strategies</a:t>
                </a:r>
              </a:p>
              <a:p>
                <a:endParaRPr lang="en-US" sz="2400"/>
              </a:p>
            </p:txBody>
          </p:sp>
        </mc:Choice>
        <mc:Fallback xmlns="">
          <p:sp>
            <p:nvSpPr>
              <p:cNvPr id="4" name="Text Placeholder 3">
                <a:extLst>
                  <a:ext uri="{FF2B5EF4-FFF2-40B4-BE49-F238E27FC236}">
                    <a16:creationId xmlns:a16="http://schemas.microsoft.com/office/drawing/2014/main" id="{5BF18C00-509E-8726-C381-42B1270060A7}"/>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3333" b="-303"/>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763B4117-2840-B279-5398-51BF9E9E3A72}"/>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587B3A9E-2259-2BFE-CE18-DA61C2E76199}"/>
              </a:ext>
            </a:extLst>
          </p:cNvPr>
          <p:cNvSpPr>
            <a:spLocks noGrp="1"/>
          </p:cNvSpPr>
          <p:nvPr>
            <p:ph type="sldNum" sz="quarter" idx="12"/>
          </p:nvPr>
        </p:nvSpPr>
        <p:spPr/>
        <p:txBody>
          <a:bodyPr/>
          <a:lstStyle/>
          <a:p>
            <a:fld id="{8A7A6979-0714-4377-B894-6BE4C2D6E202}" type="slidenum">
              <a:rPr lang="en-US" smtClean="0"/>
              <a:pPr/>
              <a:t>39</a:t>
            </a:fld>
            <a:endParaRPr lang="en-US"/>
          </a:p>
        </p:txBody>
      </p:sp>
    </p:spTree>
    <p:extLst>
      <p:ext uri="{BB962C8B-B14F-4D97-AF65-F5344CB8AC3E}">
        <p14:creationId xmlns:p14="http://schemas.microsoft.com/office/powerpoint/2010/main" val="110801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B07C2-0A66-7C48-5159-8D582EE81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65997-165A-0782-11D8-E1583DA8B0B3}"/>
              </a:ext>
            </a:extLst>
          </p:cNvPr>
          <p:cNvSpPr>
            <a:spLocks noGrp="1"/>
          </p:cNvSpPr>
          <p:nvPr>
            <p:ph type="ctrTitle"/>
          </p:nvPr>
        </p:nvSpPr>
        <p:spPr/>
        <p:txBody>
          <a:bodyPr/>
          <a:lstStyle/>
          <a:p>
            <a:r>
              <a:rPr lang="en-US"/>
              <a:t>Increased Price Transparency?</a:t>
            </a:r>
          </a:p>
        </p:txBody>
      </p:sp>
      <p:sp>
        <p:nvSpPr>
          <p:cNvPr id="4" name="Text Placeholder 3">
            <a:extLst>
              <a:ext uri="{FF2B5EF4-FFF2-40B4-BE49-F238E27FC236}">
                <a16:creationId xmlns:a16="http://schemas.microsoft.com/office/drawing/2014/main" id="{40C61156-F806-9499-9977-8E19D9F23158}"/>
              </a:ext>
            </a:extLst>
          </p:cNvPr>
          <p:cNvSpPr>
            <a:spLocks noGrp="1"/>
          </p:cNvSpPr>
          <p:nvPr>
            <p:ph type="body" sz="quarter" idx="14"/>
          </p:nvPr>
        </p:nvSpPr>
        <p:spPr>
          <a:xfrm>
            <a:off x="1828800" y="1500189"/>
            <a:ext cx="8755380" cy="4186236"/>
          </a:xfrm>
        </p:spPr>
        <p:txBody>
          <a:bodyPr>
            <a:normAutofit lnSpcReduction="10000"/>
          </a:bodyPr>
          <a:lstStyle/>
          <a:p>
            <a:r>
              <a:rPr lang="en-US" sz="2400"/>
              <a:t>Many thought that internet would remove cost of comparing prices</a:t>
            </a:r>
          </a:p>
          <a:p>
            <a:endParaRPr lang="en-US" sz="2400"/>
          </a:p>
          <a:p>
            <a:r>
              <a:rPr lang="en-US" sz="2400"/>
              <a:t>Idea is this would increase competition, lowering prices and prices dispersion</a:t>
            </a:r>
          </a:p>
          <a:p>
            <a:endParaRPr lang="en-US" sz="2400"/>
          </a:p>
          <a:p>
            <a:r>
              <a:rPr lang="en-US" sz="2400"/>
              <a:t>Didn’t necessarily pan out as predicted</a:t>
            </a:r>
          </a:p>
          <a:p>
            <a:pPr lvl="1"/>
            <a:r>
              <a:rPr lang="en-US" sz="2400"/>
              <a:t>Price dispersion remains online</a:t>
            </a:r>
          </a:p>
          <a:p>
            <a:pPr lvl="1"/>
            <a:r>
              <a:rPr lang="en-US" sz="2400"/>
              <a:t>As search technology improves, so does ability to obfuscate prices</a:t>
            </a:r>
          </a:p>
          <a:p>
            <a:pPr lvl="2"/>
            <a:r>
              <a:rPr lang="en-US" sz="2400"/>
              <a:t>Add-on pricing, additional fees, </a:t>
            </a:r>
            <a:r>
              <a:rPr lang="en-US" sz="2400" err="1"/>
              <a:t>etc</a:t>
            </a:r>
            <a:endParaRPr lang="en-US" sz="2400"/>
          </a:p>
        </p:txBody>
      </p:sp>
      <p:sp>
        <p:nvSpPr>
          <p:cNvPr id="5" name="Date Placeholder 4">
            <a:extLst>
              <a:ext uri="{FF2B5EF4-FFF2-40B4-BE49-F238E27FC236}">
                <a16:creationId xmlns:a16="http://schemas.microsoft.com/office/drawing/2014/main" id="{771D1ED4-55BC-3992-4510-61579DD8CC33}"/>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3847EDB2-13C1-C6EB-C7F8-F2364C77A627}"/>
              </a:ext>
            </a:extLst>
          </p:cNvPr>
          <p:cNvSpPr>
            <a:spLocks noGrp="1"/>
          </p:cNvSpPr>
          <p:nvPr>
            <p:ph type="sldNum" sz="quarter" idx="12"/>
          </p:nvPr>
        </p:nvSpPr>
        <p:spPr/>
        <p:txBody>
          <a:bodyPr/>
          <a:lstStyle/>
          <a:p>
            <a:fld id="{8A7A6979-0714-4377-B894-6BE4C2D6E202}" type="slidenum">
              <a:rPr lang="en-US" smtClean="0"/>
              <a:pPr/>
              <a:t>40</a:t>
            </a:fld>
            <a:endParaRPr lang="en-US"/>
          </a:p>
        </p:txBody>
      </p:sp>
    </p:spTree>
    <p:extLst>
      <p:ext uri="{BB962C8B-B14F-4D97-AF65-F5344CB8AC3E}">
        <p14:creationId xmlns:p14="http://schemas.microsoft.com/office/powerpoint/2010/main" val="22466855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BD368-FF82-977F-8AD9-F85AAB715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44F89-1CBB-916E-859C-8220A561B904}"/>
              </a:ext>
            </a:extLst>
          </p:cNvPr>
          <p:cNvSpPr>
            <a:spLocks noGrp="1"/>
          </p:cNvSpPr>
          <p:nvPr>
            <p:ph type="ctrTitle"/>
          </p:nvPr>
        </p:nvSpPr>
        <p:spPr/>
        <p:txBody>
          <a:bodyPr/>
          <a:lstStyle/>
          <a:p>
            <a:r>
              <a:rPr lang="en-US"/>
              <a:t>Last Comment on Pricing</a:t>
            </a:r>
          </a:p>
        </p:txBody>
      </p:sp>
      <p:sp>
        <p:nvSpPr>
          <p:cNvPr id="4" name="Text Placeholder 3">
            <a:extLst>
              <a:ext uri="{FF2B5EF4-FFF2-40B4-BE49-F238E27FC236}">
                <a16:creationId xmlns:a16="http://schemas.microsoft.com/office/drawing/2014/main" id="{E3744163-42FA-8AF7-5170-FC8D3B0F9A62}"/>
              </a:ext>
            </a:extLst>
          </p:cNvPr>
          <p:cNvSpPr>
            <a:spLocks noGrp="1"/>
          </p:cNvSpPr>
          <p:nvPr>
            <p:ph type="body" sz="quarter" idx="14"/>
          </p:nvPr>
        </p:nvSpPr>
        <p:spPr>
          <a:xfrm>
            <a:off x="1828800" y="1500189"/>
            <a:ext cx="8755380" cy="4186236"/>
          </a:xfrm>
        </p:spPr>
        <p:txBody>
          <a:bodyPr>
            <a:normAutofit/>
          </a:bodyPr>
          <a:lstStyle/>
          <a:p>
            <a:r>
              <a:rPr lang="en-US" sz="2400"/>
              <a:t>Of all the topics covered, this is the most likely to put you in </a:t>
            </a:r>
            <a:r>
              <a:rPr lang="en-US" sz="2400" b="1" u="sng"/>
              <a:t>jail</a:t>
            </a:r>
          </a:p>
          <a:p>
            <a:endParaRPr lang="en-US" sz="2400"/>
          </a:p>
          <a:p>
            <a:r>
              <a:rPr lang="en-US" sz="2400"/>
              <a:t>Price fixing &amp; bid rigging (auctions) is illegal</a:t>
            </a:r>
          </a:p>
          <a:p>
            <a:pPr lvl="1"/>
            <a:r>
              <a:rPr lang="en-US" sz="2400"/>
              <a:t>This includes tacit collusion</a:t>
            </a:r>
          </a:p>
          <a:p>
            <a:endParaRPr lang="en-US" sz="2400"/>
          </a:p>
          <a:p>
            <a:r>
              <a:rPr lang="en-US" sz="2400"/>
              <a:t>Many examples of extremely wealthy people (with good lawyers) sentenced to jail time for such actions</a:t>
            </a:r>
          </a:p>
          <a:p>
            <a:endParaRPr lang="en-US" sz="2400"/>
          </a:p>
          <a:p>
            <a:r>
              <a:rPr lang="en-US" sz="2400"/>
              <a:t>Algorithmic pricing does not absolve you from risk</a:t>
            </a:r>
          </a:p>
        </p:txBody>
      </p:sp>
      <p:sp>
        <p:nvSpPr>
          <p:cNvPr id="5" name="Date Placeholder 4">
            <a:extLst>
              <a:ext uri="{FF2B5EF4-FFF2-40B4-BE49-F238E27FC236}">
                <a16:creationId xmlns:a16="http://schemas.microsoft.com/office/drawing/2014/main" id="{3A9F9EC2-1AF7-B42C-5B4A-F4D65ED96200}"/>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A0826FE8-4199-C9D8-E2C9-8C61577A58E4}"/>
              </a:ext>
            </a:extLst>
          </p:cNvPr>
          <p:cNvSpPr>
            <a:spLocks noGrp="1"/>
          </p:cNvSpPr>
          <p:nvPr>
            <p:ph type="sldNum" sz="quarter" idx="12"/>
          </p:nvPr>
        </p:nvSpPr>
        <p:spPr/>
        <p:txBody>
          <a:bodyPr/>
          <a:lstStyle/>
          <a:p>
            <a:fld id="{8A7A6979-0714-4377-B894-6BE4C2D6E202}" type="slidenum">
              <a:rPr lang="en-US" smtClean="0"/>
              <a:pPr/>
              <a:t>41</a:t>
            </a:fld>
            <a:endParaRPr lang="en-US"/>
          </a:p>
        </p:txBody>
      </p:sp>
    </p:spTree>
    <p:extLst>
      <p:ext uri="{BB962C8B-B14F-4D97-AF65-F5344CB8AC3E}">
        <p14:creationId xmlns:p14="http://schemas.microsoft.com/office/powerpoint/2010/main" val="881014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BAB6-B8AF-3869-6FAE-A8C7CE96E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67C53-BB28-653F-0E93-3585EB543BC1}"/>
              </a:ext>
            </a:extLst>
          </p:cNvPr>
          <p:cNvSpPr>
            <a:spLocks noGrp="1"/>
          </p:cNvSpPr>
          <p:nvPr>
            <p:ph type="ctrTitle"/>
          </p:nvPr>
        </p:nvSpPr>
        <p:spPr/>
        <p:txBody>
          <a:bodyPr/>
          <a:lstStyle/>
          <a:p>
            <a:r>
              <a:rPr lang="en-US" dirty="0"/>
              <a:t>Last Comment on Pricing, Continued</a:t>
            </a:r>
          </a:p>
        </p:txBody>
      </p:sp>
      <p:pic>
        <p:nvPicPr>
          <p:cNvPr id="8" name="Picture 7" descr="Screenshot of an article titled “Price fixing by algorithm is still price fixing,” published March 1, 2024, by Hannah Garden-Monheit and Ken Merber. The text explains that landlords and property managers cannot collude on rental prices, and using algorithms for pricing does not exempt them from antitrust laws—the same legal standards apply as if a person set the prices.">
            <a:extLst>
              <a:ext uri="{FF2B5EF4-FFF2-40B4-BE49-F238E27FC236}">
                <a16:creationId xmlns:a16="http://schemas.microsoft.com/office/drawing/2014/main" id="{3DFC9917-AA45-4B6C-E75A-8178B4BFFD80}"/>
              </a:ext>
            </a:extLst>
          </p:cNvPr>
          <p:cNvPicPr>
            <a:picLocks noChangeAspect="1"/>
          </p:cNvPicPr>
          <p:nvPr/>
        </p:nvPicPr>
        <p:blipFill>
          <a:blip r:embed="rId3"/>
          <a:stretch>
            <a:fillRect/>
          </a:stretch>
        </p:blipFill>
        <p:spPr>
          <a:xfrm>
            <a:off x="1881468" y="1661243"/>
            <a:ext cx="8702712" cy="3411537"/>
          </a:xfrm>
          <a:prstGeom prst="rect">
            <a:avLst/>
          </a:prstGeom>
        </p:spPr>
      </p:pic>
      <p:sp>
        <p:nvSpPr>
          <p:cNvPr id="5" name="Date Placeholder 4">
            <a:extLst>
              <a:ext uri="{FF2B5EF4-FFF2-40B4-BE49-F238E27FC236}">
                <a16:creationId xmlns:a16="http://schemas.microsoft.com/office/drawing/2014/main" id="{0A7CF041-96F9-1BF3-E4B2-1E26F4563B4B}"/>
              </a:ext>
            </a:extLst>
          </p:cNvPr>
          <p:cNvSpPr>
            <a:spLocks noGrp="1"/>
          </p:cNvSpPr>
          <p:nvPr>
            <p:ph type="dt" sz="half" idx="10"/>
          </p:nvPr>
        </p:nvSpPr>
        <p:spPr/>
        <p:txBody>
          <a:bodyPr/>
          <a:lstStyle/>
          <a:p>
            <a:fld id="{D47A9A36-4EB0-BF46-AE48-7CDA251B954B}" type="datetime1">
              <a:rPr lang="en-US" smtClean="0"/>
              <a:t>11/12/2025</a:t>
            </a:fld>
            <a:endParaRPr lang="en-US"/>
          </a:p>
        </p:txBody>
      </p:sp>
      <p:sp>
        <p:nvSpPr>
          <p:cNvPr id="6" name="Slide Number Placeholder 5">
            <a:extLst>
              <a:ext uri="{FF2B5EF4-FFF2-40B4-BE49-F238E27FC236}">
                <a16:creationId xmlns:a16="http://schemas.microsoft.com/office/drawing/2014/main" id="{84AEB0A8-74D7-C9D2-CAD4-9801421A69D4}"/>
              </a:ext>
            </a:extLst>
          </p:cNvPr>
          <p:cNvSpPr>
            <a:spLocks noGrp="1"/>
          </p:cNvSpPr>
          <p:nvPr>
            <p:ph type="sldNum" sz="quarter" idx="12"/>
          </p:nvPr>
        </p:nvSpPr>
        <p:spPr/>
        <p:txBody>
          <a:bodyPr/>
          <a:lstStyle/>
          <a:p>
            <a:fld id="{8A7A6979-0714-4377-B894-6BE4C2D6E202}" type="slidenum">
              <a:rPr lang="en-US" smtClean="0"/>
              <a:pPr/>
              <a:t>42</a:t>
            </a:fld>
            <a:endParaRPr lang="en-US"/>
          </a:p>
        </p:txBody>
      </p:sp>
    </p:spTree>
    <p:extLst>
      <p:ext uri="{BB962C8B-B14F-4D97-AF65-F5344CB8AC3E}">
        <p14:creationId xmlns:p14="http://schemas.microsoft.com/office/powerpoint/2010/main" val="3821565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834D-03C5-A233-7662-290387405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A2A73-A571-D9BA-415E-B7B371D32536}"/>
              </a:ext>
            </a:extLst>
          </p:cNvPr>
          <p:cNvSpPr>
            <a:spLocks noGrp="1"/>
          </p:cNvSpPr>
          <p:nvPr>
            <p:ph type="ctrTitle"/>
          </p:nvPr>
        </p:nvSpPr>
        <p:spPr>
          <a:xfrm>
            <a:off x="2647199" y="1501742"/>
            <a:ext cx="7300940" cy="664797"/>
          </a:xfrm>
        </p:spPr>
        <p:txBody>
          <a:bodyPr/>
          <a:lstStyle/>
          <a:p>
            <a:r>
              <a:rPr lang="en-US"/>
              <a:t>Questions</a:t>
            </a:r>
          </a:p>
        </p:txBody>
      </p:sp>
      <p:sp>
        <p:nvSpPr>
          <p:cNvPr id="4" name="Date Placeholder 3">
            <a:extLst>
              <a:ext uri="{FF2B5EF4-FFF2-40B4-BE49-F238E27FC236}">
                <a16:creationId xmlns:a16="http://schemas.microsoft.com/office/drawing/2014/main" id="{5A43FA36-778A-9DB3-49C5-423241F398A5}"/>
              </a:ext>
            </a:extLst>
          </p:cNvPr>
          <p:cNvSpPr>
            <a:spLocks noGrp="1"/>
          </p:cNvSpPr>
          <p:nvPr>
            <p:ph type="dt" sz="half" idx="10"/>
          </p:nvPr>
        </p:nvSpPr>
        <p:spPr/>
        <p:txBody>
          <a:bodyPr/>
          <a:lstStyle/>
          <a:p>
            <a:fld id="{D47A9A36-4EB0-BF46-AE48-7CDA251B954B}" type="datetime1">
              <a:rPr lang="en-US" smtClean="0"/>
              <a:pPr/>
              <a:t>11/12/2025</a:t>
            </a:fld>
            <a:endParaRPr lang="en-US"/>
          </a:p>
        </p:txBody>
      </p:sp>
      <p:sp>
        <p:nvSpPr>
          <p:cNvPr id="5" name="Slide Number Placeholder 4">
            <a:extLst>
              <a:ext uri="{FF2B5EF4-FFF2-40B4-BE49-F238E27FC236}">
                <a16:creationId xmlns:a16="http://schemas.microsoft.com/office/drawing/2014/main" id="{C02F9EFA-7A2A-7BC7-374D-9C0E0337AEE6}"/>
              </a:ext>
            </a:extLst>
          </p:cNvPr>
          <p:cNvSpPr>
            <a:spLocks noGrp="1"/>
          </p:cNvSpPr>
          <p:nvPr>
            <p:ph type="sldNum" sz="quarter" idx="12"/>
          </p:nvPr>
        </p:nvSpPr>
        <p:spPr/>
        <p:txBody>
          <a:bodyPr/>
          <a:lstStyle/>
          <a:p>
            <a:fld id="{8A7A6979-0714-4377-B894-6BE4C2D6E202}" type="slidenum">
              <a:rPr lang="en-US" smtClean="0"/>
              <a:pPr/>
              <a:t>43</a:t>
            </a:fld>
            <a:endParaRPr lang="en-US"/>
          </a:p>
        </p:txBody>
      </p:sp>
    </p:spTree>
    <p:extLst>
      <p:ext uri="{BB962C8B-B14F-4D97-AF65-F5344CB8AC3E}">
        <p14:creationId xmlns:p14="http://schemas.microsoft.com/office/powerpoint/2010/main" val="1842848591"/>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110</TotalTime>
  <Words>1690</Words>
  <Application>Microsoft Office PowerPoint</Application>
  <PresentationFormat>Widescreen</PresentationFormat>
  <Paragraphs>359</Paragraphs>
  <Slides>43</Slides>
  <Notes>42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Calibri</vt:lpstr>
      <vt:lpstr>Cambria Math</vt:lpstr>
      <vt:lpstr>Acumin Pro</vt:lpstr>
      <vt:lpstr>Impact</vt:lpstr>
      <vt:lpstr>United Sans Rg Md</vt:lpstr>
      <vt:lpstr>Franklin Gothic Medium</vt:lpstr>
      <vt:lpstr>Wingdings</vt:lpstr>
      <vt:lpstr>Franklin Gothic Demi</vt:lpstr>
      <vt:lpstr>Franklin Gothic Book</vt:lpstr>
      <vt:lpstr>Times New Roman</vt:lpstr>
      <vt:lpstr>Arial</vt:lpstr>
      <vt:lpstr>Purdue2</vt:lpstr>
      <vt:lpstr>Digital product design</vt:lpstr>
      <vt:lpstr>Outline</vt:lpstr>
      <vt:lpstr>Common pricing strategies</vt:lpstr>
      <vt:lpstr>Pricing Strategies</vt:lpstr>
      <vt:lpstr>Cost Based Pricing</vt:lpstr>
      <vt:lpstr>Cost Based Pricing – Ignores Value Created</vt:lpstr>
      <vt:lpstr>Competition Based Pricing</vt:lpstr>
      <vt:lpstr>Customer Based Pricing</vt:lpstr>
      <vt:lpstr>Average Values can be Misleading</vt:lpstr>
      <vt:lpstr>Value Based Pricing</vt:lpstr>
      <vt:lpstr>Pricing with a Demand Curve</vt:lpstr>
      <vt:lpstr>Examples: How Price Impacts Profits</vt:lpstr>
      <vt:lpstr>Quick Exercise</vt:lpstr>
      <vt:lpstr>Quick Exercise, Continued</vt:lpstr>
      <vt:lpstr>Price Elasticity is a Key Quantity</vt:lpstr>
      <vt:lpstr>Interpreting Elasticities</vt:lpstr>
      <vt:lpstr>Pricing in practice</vt:lpstr>
      <vt:lpstr>Pricing in Practice, Continued</vt:lpstr>
      <vt:lpstr>Estimating Demand in Historical Data</vt:lpstr>
      <vt:lpstr>Estimating Demand in New Data</vt:lpstr>
      <vt:lpstr>Segmenting Customers</vt:lpstr>
      <vt:lpstr>Why do Airline Prices Rise Over Time?</vt:lpstr>
      <vt:lpstr>Price Skimming</vt:lpstr>
      <vt:lpstr>Versioning</vt:lpstr>
      <vt:lpstr>Versioning, Part 2</vt:lpstr>
      <vt:lpstr>Versioning, Part 3</vt:lpstr>
      <vt:lpstr>Behavioral Pricing</vt:lpstr>
      <vt:lpstr>Demand Curves at Lyft – Left Digit Bias</vt:lpstr>
      <vt:lpstr>Compromise Effect</vt:lpstr>
      <vt:lpstr>Compromise Effect, Continued</vt:lpstr>
      <vt:lpstr>Pricing digital goods</vt:lpstr>
      <vt:lpstr>Digital Goods are Unique</vt:lpstr>
      <vt:lpstr>Implications for Pricing – Bundling</vt:lpstr>
      <vt:lpstr>Implications for Pricing – Bundling, Part 2</vt:lpstr>
      <vt:lpstr>Example – No Bundling</vt:lpstr>
      <vt:lpstr>Implications for Pricing – Bundling, Part 3</vt:lpstr>
      <vt:lpstr>Example – Bundling</vt:lpstr>
      <vt:lpstr>Question: Why Bundling So Effective in Digital Goods?</vt:lpstr>
      <vt:lpstr>Example – Mixed Bundling</vt:lpstr>
      <vt:lpstr>Increased Price Transparency?</vt:lpstr>
      <vt:lpstr>Last Comment on Pricing</vt:lpstr>
      <vt:lpstr>Last Comment on Pricing, Continued</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12</cp:revision>
  <dcterms:created xsi:type="dcterms:W3CDTF">2024-07-15T17:50:06Z</dcterms:created>
  <dcterms:modified xsi:type="dcterms:W3CDTF">2025-11-12T20:19:45Z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