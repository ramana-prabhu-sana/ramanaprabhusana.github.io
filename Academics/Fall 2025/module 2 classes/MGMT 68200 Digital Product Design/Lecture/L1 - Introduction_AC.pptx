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08" r:id="rId1"/>
  </p:sldMasterIdLst>
  <p:notesMasterIdLst>
    <p:notesMasterId r:id="rId38"/>
  </p:notesMasterIdLst>
  <p:sldIdLst>
    <p:sldId id="257" r:id="rId2"/>
    <p:sldId id="546" r:id="rId3"/>
    <p:sldId id="684" r:id="rId4"/>
    <p:sldId id="686" r:id="rId5"/>
    <p:sldId id="268" r:id="rId6"/>
    <p:sldId id="296" r:id="rId7"/>
    <p:sldId id="297" r:id="rId8"/>
    <p:sldId id="298" r:id="rId9"/>
    <p:sldId id="299" r:id="rId10"/>
    <p:sldId id="300" r:id="rId11"/>
    <p:sldId id="668" r:id="rId12"/>
    <p:sldId id="685" r:id="rId13"/>
    <p:sldId id="669" r:id="rId14"/>
    <p:sldId id="670" r:id="rId15"/>
    <p:sldId id="421" r:id="rId16"/>
    <p:sldId id="617" r:id="rId17"/>
    <p:sldId id="672" r:id="rId18"/>
    <p:sldId id="671" r:id="rId19"/>
    <p:sldId id="673" r:id="rId20"/>
    <p:sldId id="674" r:id="rId21"/>
    <p:sldId id="675" r:id="rId22"/>
    <p:sldId id="676" r:id="rId23"/>
    <p:sldId id="677" r:id="rId24"/>
    <p:sldId id="678" r:id="rId25"/>
    <p:sldId id="679" r:id="rId26"/>
    <p:sldId id="660" r:id="rId27"/>
    <p:sldId id="277" r:id="rId28"/>
    <p:sldId id="278" r:id="rId29"/>
    <p:sldId id="287" r:id="rId30"/>
    <p:sldId id="288" r:id="rId31"/>
    <p:sldId id="680" r:id="rId32"/>
    <p:sldId id="281" r:id="rId33"/>
    <p:sldId id="654" r:id="rId34"/>
    <p:sldId id="681" r:id="rId35"/>
    <p:sldId id="682" r:id="rId36"/>
    <p:sldId id="683" r:id="rId37"/>
  </p:sldIdLst>
  <p:sldSz cx="12192000" cy="6858000"/>
  <p:notesSz cx="6858000" cy="9144000"/>
  <p:embeddedFontLst>
    <p:embeddedFont>
      <p:font typeface="Acumin Pro" panose="020B0604020202020204" charset="0"/>
      <p:regular r:id="rId39"/>
      <p:bold r:id="rId40"/>
      <p:italic r:id="rId41"/>
      <p:boldItalic r:id="rId42"/>
    </p:embeddedFont>
    <p:embeddedFont>
      <p:font typeface="Cambria Math" panose="02040503050406030204" pitchFamily="18" charset="0"/>
      <p:regular r:id="rId43"/>
    </p:embeddedFont>
    <p:embeddedFont>
      <p:font typeface="Franklin Gothic Book" panose="020B0503020102020204" pitchFamily="34" charset="0"/>
      <p:regular r:id="rId44"/>
      <p:italic r:id="rId45"/>
    </p:embeddedFont>
    <p:embeddedFont>
      <p:font typeface="Franklin Gothic Demi" panose="020B0703020102020204" pitchFamily="34" charset="0"/>
      <p:regular r:id="rId46"/>
      <p:italic r:id="rId47"/>
    </p:embeddedFont>
    <p:embeddedFont>
      <p:font typeface="Franklin Gothic Medium" panose="020B0603020102020204" pitchFamily="34" charset="0"/>
      <p:regular r:id="rId48"/>
      <p:italic r:id="rId49"/>
    </p:embeddedFont>
    <p:embeddedFont>
      <p:font typeface="Impact" panose="020B0806030902050204" pitchFamily="34" charset="0"/>
      <p:regular r:id="rId50"/>
    </p:embeddedFont>
    <p:embeddedFont>
      <p:font typeface="United Sans Rg Md" pitchFamily="50" charset="0"/>
      <p:regular r:id="rId5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CDEA94-754C-DEF3-860E-4B3A8073B2EA}" v="85" dt="2025-10-27T15:40:16.14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48" autoAdjust="0"/>
    <p:restoredTop sz="96149" autoAdjust="0"/>
  </p:normalViewPr>
  <p:slideViewPr>
    <p:cSldViewPr snapToGrid="0" snapToObjects="1">
      <p:cViewPr varScale="1">
        <p:scale>
          <a:sx n="95" d="100"/>
          <a:sy n="95" d="100"/>
        </p:scale>
        <p:origin x="510" y="306"/>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font" Target="fonts/font12.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45" Type="http://schemas.openxmlformats.org/officeDocument/2006/relationships/font" Target="fonts/font7.fntdata"/><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6.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48" Type="http://schemas.openxmlformats.org/officeDocument/2006/relationships/font" Target="fonts/font10.fntdata"/><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font" Target="fonts/font1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font" Target="fonts/font3.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A55EAA-D64B-A54D-9AD6-840407C79D5E}" type="datetimeFigureOut">
              <a:rPr lang="en-US" smtClean="0"/>
              <a:t>10/27/2025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8F3A2B-14A6-8F47-B753-A658CA12576A}" type="slidenum">
              <a:rPr lang="en-US" smtClean="0"/>
              <a:t>‹#›</a:t>
            </a:fld>
            <a:endParaRPr lang="en-US"/>
          </a:p>
        </p:txBody>
      </p:sp>
    </p:spTree>
    <p:extLst>
      <p:ext uri="{BB962C8B-B14F-4D97-AF65-F5344CB8AC3E}">
        <p14:creationId xmlns:p14="http://schemas.microsoft.com/office/powerpoint/2010/main" val="16179004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1</a:t>
            </a:fld>
            <a:endParaRPr lang="en-US"/>
          </a:p>
        </p:txBody>
      </p:sp>
    </p:spTree>
    <p:extLst>
      <p:ext uri="{BB962C8B-B14F-4D97-AF65-F5344CB8AC3E}">
        <p14:creationId xmlns:p14="http://schemas.microsoft.com/office/powerpoint/2010/main" val="11699727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90DC1-84DB-23D1-69D6-0E4663B7C8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39ECEE-90FE-B085-2E84-C82359BC6E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CA7858-951A-ED6D-E134-DCFF9C60D3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D5DB39-CE94-F7F7-E692-79D8ACF217F5}"/>
              </a:ext>
            </a:extLst>
          </p:cNvPr>
          <p:cNvSpPr>
            <a:spLocks noGrp="1"/>
          </p:cNvSpPr>
          <p:nvPr>
            <p:ph type="sldNum" sz="quarter" idx="5"/>
          </p:nvPr>
        </p:nvSpPr>
        <p:spPr/>
        <p:txBody>
          <a:bodyPr/>
          <a:lstStyle/>
          <a:p>
            <a:fld id="{988F3A2B-14A6-8F47-B753-A658CA12576A}" type="slidenum">
              <a:rPr lang="en-US" smtClean="0"/>
              <a:t>2</a:t>
            </a:fld>
            <a:endParaRPr lang="en-US"/>
          </a:p>
        </p:txBody>
      </p:sp>
    </p:spTree>
    <p:extLst>
      <p:ext uri="{BB962C8B-B14F-4D97-AF65-F5344CB8AC3E}">
        <p14:creationId xmlns:p14="http://schemas.microsoft.com/office/powerpoint/2010/main" val="19099403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93DB8-6208-9E01-FE71-E2B65A3E37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8D4D53-97E7-82D8-5F15-70D02FFDD9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E2F783-62FE-1E1B-2C3C-BEB680A5AF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EA38D4-C8B1-CA33-9AFD-0986638CD384}"/>
              </a:ext>
            </a:extLst>
          </p:cNvPr>
          <p:cNvSpPr>
            <a:spLocks noGrp="1"/>
          </p:cNvSpPr>
          <p:nvPr>
            <p:ph type="sldNum" sz="quarter" idx="5"/>
          </p:nvPr>
        </p:nvSpPr>
        <p:spPr/>
        <p:txBody>
          <a:bodyPr/>
          <a:lstStyle/>
          <a:p>
            <a:fld id="{988F3A2B-14A6-8F47-B753-A658CA12576A}" type="slidenum">
              <a:rPr lang="en-US" smtClean="0"/>
              <a:t>3</a:t>
            </a:fld>
            <a:endParaRPr lang="en-US"/>
          </a:p>
        </p:txBody>
      </p:sp>
    </p:spTree>
    <p:extLst>
      <p:ext uri="{BB962C8B-B14F-4D97-AF65-F5344CB8AC3E}">
        <p14:creationId xmlns:p14="http://schemas.microsoft.com/office/powerpoint/2010/main" val="21166895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23919-522E-CBCC-E93A-495AF553DA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554B51-4062-B63F-CBFD-D775C831CC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69511A-4D5A-04B0-ACF9-3CD0AE3CCB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9FC48E-4343-2E2F-AF0E-D7BF2ABDCEA3}"/>
              </a:ext>
            </a:extLst>
          </p:cNvPr>
          <p:cNvSpPr>
            <a:spLocks noGrp="1"/>
          </p:cNvSpPr>
          <p:nvPr>
            <p:ph type="sldNum" sz="quarter" idx="5"/>
          </p:nvPr>
        </p:nvSpPr>
        <p:spPr/>
        <p:txBody>
          <a:bodyPr/>
          <a:lstStyle/>
          <a:p>
            <a:fld id="{988F3A2B-14A6-8F47-B753-A658CA12576A}" type="slidenum">
              <a:rPr lang="en-US" smtClean="0"/>
              <a:t>4</a:t>
            </a:fld>
            <a:endParaRPr lang="en-US"/>
          </a:p>
        </p:txBody>
      </p:sp>
    </p:spTree>
    <p:extLst>
      <p:ext uri="{BB962C8B-B14F-4D97-AF65-F5344CB8AC3E}">
        <p14:creationId xmlns:p14="http://schemas.microsoft.com/office/powerpoint/2010/main" val="37321174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6A678-9078-6090-7A12-E5E7A51374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B66C0A-310D-994F-277A-3D7E40DDD1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2598EF-6DD9-EC43-614E-D08495CD3E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35AA5B-2A1A-F779-3630-623543641F14}"/>
              </a:ext>
            </a:extLst>
          </p:cNvPr>
          <p:cNvSpPr>
            <a:spLocks noGrp="1"/>
          </p:cNvSpPr>
          <p:nvPr>
            <p:ph type="sldNum" sz="quarter" idx="5"/>
          </p:nvPr>
        </p:nvSpPr>
        <p:spPr/>
        <p:txBody>
          <a:bodyPr/>
          <a:lstStyle/>
          <a:p>
            <a:fld id="{988F3A2B-14A6-8F47-B753-A658CA12576A}" type="slidenum">
              <a:rPr lang="en-US" smtClean="0"/>
              <a:t>6</a:t>
            </a:fld>
            <a:endParaRPr lang="en-US"/>
          </a:p>
        </p:txBody>
      </p:sp>
    </p:spTree>
    <p:extLst>
      <p:ext uri="{BB962C8B-B14F-4D97-AF65-F5344CB8AC3E}">
        <p14:creationId xmlns:p14="http://schemas.microsoft.com/office/powerpoint/2010/main" val="637577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2464C-4F23-0F87-9C2B-CB2C89A70E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E7B72F-379F-2ABE-1A5A-2206DA2804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D52297-FF04-829D-05C1-0ACD295D9B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A973C2-1109-140A-65BC-82F599329485}"/>
              </a:ext>
            </a:extLst>
          </p:cNvPr>
          <p:cNvSpPr>
            <a:spLocks noGrp="1"/>
          </p:cNvSpPr>
          <p:nvPr>
            <p:ph type="sldNum" sz="quarter" idx="5"/>
          </p:nvPr>
        </p:nvSpPr>
        <p:spPr/>
        <p:txBody>
          <a:bodyPr/>
          <a:lstStyle/>
          <a:p>
            <a:fld id="{988F3A2B-14A6-8F47-B753-A658CA12576A}" type="slidenum">
              <a:rPr lang="en-US" smtClean="0"/>
              <a:t>7</a:t>
            </a:fld>
            <a:endParaRPr lang="en-US"/>
          </a:p>
        </p:txBody>
      </p:sp>
    </p:spTree>
    <p:extLst>
      <p:ext uri="{BB962C8B-B14F-4D97-AF65-F5344CB8AC3E}">
        <p14:creationId xmlns:p14="http://schemas.microsoft.com/office/powerpoint/2010/main" val="31200188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502BE-D956-6C30-9065-CB2F87DA7F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29B534-90F1-00AD-ABD8-CB38DE27BE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EFA969-6D9D-4F0E-8CD3-D479FF3067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E44C95-C703-8DE5-8A06-9CA0E856D9C5}"/>
              </a:ext>
            </a:extLst>
          </p:cNvPr>
          <p:cNvSpPr>
            <a:spLocks noGrp="1"/>
          </p:cNvSpPr>
          <p:nvPr>
            <p:ph type="sldNum" sz="quarter" idx="5"/>
          </p:nvPr>
        </p:nvSpPr>
        <p:spPr/>
        <p:txBody>
          <a:bodyPr/>
          <a:lstStyle/>
          <a:p>
            <a:fld id="{988F3A2B-14A6-8F47-B753-A658CA12576A}" type="slidenum">
              <a:rPr lang="en-US" smtClean="0"/>
              <a:t>8</a:t>
            </a:fld>
            <a:endParaRPr lang="en-US"/>
          </a:p>
        </p:txBody>
      </p:sp>
    </p:spTree>
    <p:extLst>
      <p:ext uri="{BB962C8B-B14F-4D97-AF65-F5344CB8AC3E}">
        <p14:creationId xmlns:p14="http://schemas.microsoft.com/office/powerpoint/2010/main" val="32267938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9E27E-92A8-C9B7-1152-DE538DEDE6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1B4E5A-CB95-2ED2-CE62-8EA672DFD5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9FB38B-C90A-EB34-BD76-4B0FA52361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9026FB-2265-6435-39D9-D846FDF443D8}"/>
              </a:ext>
            </a:extLst>
          </p:cNvPr>
          <p:cNvSpPr>
            <a:spLocks noGrp="1"/>
          </p:cNvSpPr>
          <p:nvPr>
            <p:ph type="sldNum" sz="quarter" idx="5"/>
          </p:nvPr>
        </p:nvSpPr>
        <p:spPr/>
        <p:txBody>
          <a:bodyPr/>
          <a:lstStyle/>
          <a:p>
            <a:fld id="{988F3A2B-14A6-8F47-B753-A658CA12576A}" type="slidenum">
              <a:rPr lang="en-US" smtClean="0"/>
              <a:t>9</a:t>
            </a:fld>
            <a:endParaRPr lang="en-US"/>
          </a:p>
        </p:txBody>
      </p:sp>
    </p:spTree>
    <p:extLst>
      <p:ext uri="{BB962C8B-B14F-4D97-AF65-F5344CB8AC3E}">
        <p14:creationId xmlns:p14="http://schemas.microsoft.com/office/powerpoint/2010/main" val="11513703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61230-3488-8895-C10D-D8B191CD95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31C505-C245-1CE5-690F-E4403D18C1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EAC46D-2D73-C3F2-F97F-534D9CDE12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7A7783-0A8C-E1A5-4AE9-012B28C63CD0}"/>
              </a:ext>
            </a:extLst>
          </p:cNvPr>
          <p:cNvSpPr>
            <a:spLocks noGrp="1"/>
          </p:cNvSpPr>
          <p:nvPr>
            <p:ph type="sldNum" sz="quarter" idx="5"/>
          </p:nvPr>
        </p:nvSpPr>
        <p:spPr/>
        <p:txBody>
          <a:bodyPr/>
          <a:lstStyle/>
          <a:p>
            <a:fld id="{988F3A2B-14A6-8F47-B753-A658CA12576A}" type="slidenum">
              <a:rPr lang="en-US" smtClean="0"/>
              <a:t>10</a:t>
            </a:fld>
            <a:endParaRPr lang="en-US"/>
          </a:p>
        </p:txBody>
      </p:sp>
    </p:spTree>
    <p:extLst>
      <p:ext uri="{BB962C8B-B14F-4D97-AF65-F5344CB8AC3E}">
        <p14:creationId xmlns:p14="http://schemas.microsoft.com/office/powerpoint/2010/main" val="16597059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06D81-6232-080F-67EA-4E4312A966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3DDBFC-0DE8-FC29-00A2-97B7BA6FDD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C34226-672B-8445-9A39-E90DA69451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2D1E2D-A759-1B35-A04A-46D7FCFA9F16}"/>
              </a:ext>
            </a:extLst>
          </p:cNvPr>
          <p:cNvSpPr>
            <a:spLocks noGrp="1"/>
          </p:cNvSpPr>
          <p:nvPr>
            <p:ph type="sldNum" sz="quarter" idx="5"/>
          </p:nvPr>
        </p:nvSpPr>
        <p:spPr/>
        <p:txBody>
          <a:bodyPr/>
          <a:lstStyle/>
          <a:p>
            <a:fld id="{988F3A2B-14A6-8F47-B753-A658CA12576A}" type="slidenum">
              <a:rPr lang="en-US" smtClean="0"/>
              <a:t>11</a:t>
            </a:fld>
            <a:endParaRPr lang="en-US"/>
          </a:p>
        </p:txBody>
      </p:sp>
    </p:spTree>
    <p:extLst>
      <p:ext uri="{BB962C8B-B14F-4D97-AF65-F5344CB8AC3E}">
        <p14:creationId xmlns:p14="http://schemas.microsoft.com/office/powerpoint/2010/main" val="41469790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72131-3C56-7658-2213-93B33196A2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86AEF9-9C69-CED4-3639-939B078D89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C73ED8-3EE8-E97B-A96D-25BDACE089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4D41D5-FCE7-7EA3-2A37-8227B38F9ACF}"/>
              </a:ext>
            </a:extLst>
          </p:cNvPr>
          <p:cNvSpPr>
            <a:spLocks noGrp="1"/>
          </p:cNvSpPr>
          <p:nvPr>
            <p:ph type="sldNum" sz="quarter" idx="5"/>
          </p:nvPr>
        </p:nvSpPr>
        <p:spPr/>
        <p:txBody>
          <a:bodyPr/>
          <a:lstStyle/>
          <a:p>
            <a:fld id="{988F3A2B-14A6-8F47-B753-A658CA12576A}" type="slidenum">
              <a:rPr lang="en-US" smtClean="0"/>
              <a:t>12</a:t>
            </a:fld>
            <a:endParaRPr lang="en-US"/>
          </a:p>
        </p:txBody>
      </p:sp>
    </p:spTree>
    <p:extLst>
      <p:ext uri="{BB962C8B-B14F-4D97-AF65-F5344CB8AC3E}">
        <p14:creationId xmlns:p14="http://schemas.microsoft.com/office/powerpoint/2010/main" val="12297659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0EC64-8357-F3A6-5D4D-0C122F0100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413DCC-D117-790D-A60C-A2A71B74BB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B52019-437D-1B29-4CE8-28D83A2AD2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5C115FA-83FD-24AC-D595-45521ADB4807}"/>
              </a:ext>
            </a:extLst>
          </p:cNvPr>
          <p:cNvSpPr>
            <a:spLocks noGrp="1"/>
          </p:cNvSpPr>
          <p:nvPr>
            <p:ph type="sldNum" sz="quarter" idx="5"/>
          </p:nvPr>
        </p:nvSpPr>
        <p:spPr/>
        <p:txBody>
          <a:bodyPr/>
          <a:lstStyle/>
          <a:p>
            <a:fld id="{988F3A2B-14A6-8F47-B753-A658CA12576A}" type="slidenum">
              <a:rPr lang="en-US" smtClean="0"/>
              <a:t>13</a:t>
            </a:fld>
            <a:endParaRPr lang="en-US"/>
          </a:p>
        </p:txBody>
      </p:sp>
    </p:spTree>
    <p:extLst>
      <p:ext uri="{BB962C8B-B14F-4D97-AF65-F5344CB8AC3E}">
        <p14:creationId xmlns:p14="http://schemas.microsoft.com/office/powerpoint/2010/main" val="17415854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80B34-4627-FE5F-C880-18EEE4543D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A869BB-406F-C432-707B-0C6F477B61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AB5D08-DA0D-A5D2-4727-6BB1D16625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0D2B23-18B3-3EA2-E5E0-AFEDD95BA37E}"/>
              </a:ext>
            </a:extLst>
          </p:cNvPr>
          <p:cNvSpPr>
            <a:spLocks noGrp="1"/>
          </p:cNvSpPr>
          <p:nvPr>
            <p:ph type="sldNum" sz="quarter" idx="5"/>
          </p:nvPr>
        </p:nvSpPr>
        <p:spPr/>
        <p:txBody>
          <a:bodyPr/>
          <a:lstStyle/>
          <a:p>
            <a:fld id="{988F3A2B-14A6-8F47-B753-A658CA12576A}" type="slidenum">
              <a:rPr lang="en-US" smtClean="0"/>
              <a:t>14</a:t>
            </a:fld>
            <a:endParaRPr lang="en-US"/>
          </a:p>
        </p:txBody>
      </p:sp>
    </p:spTree>
    <p:extLst>
      <p:ext uri="{BB962C8B-B14F-4D97-AF65-F5344CB8AC3E}">
        <p14:creationId xmlns:p14="http://schemas.microsoft.com/office/powerpoint/2010/main" val="6932725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235D1-AA1B-4381-9FA6-CA22F15358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392197-142F-8BA3-B2F6-AA3D17D3CB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CC9B19-7517-53A9-A65C-EB95B7A882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4F8D3D-A363-AB75-D4F7-E61E051D54C3}"/>
              </a:ext>
            </a:extLst>
          </p:cNvPr>
          <p:cNvSpPr>
            <a:spLocks noGrp="1"/>
          </p:cNvSpPr>
          <p:nvPr>
            <p:ph type="sldNum" sz="quarter" idx="5"/>
          </p:nvPr>
        </p:nvSpPr>
        <p:spPr/>
        <p:txBody>
          <a:bodyPr/>
          <a:lstStyle/>
          <a:p>
            <a:fld id="{988F3A2B-14A6-8F47-B753-A658CA12576A}" type="slidenum">
              <a:rPr lang="en-US" smtClean="0"/>
              <a:t>16</a:t>
            </a:fld>
            <a:endParaRPr lang="en-US"/>
          </a:p>
        </p:txBody>
      </p:sp>
    </p:spTree>
    <p:extLst>
      <p:ext uri="{BB962C8B-B14F-4D97-AF65-F5344CB8AC3E}">
        <p14:creationId xmlns:p14="http://schemas.microsoft.com/office/powerpoint/2010/main" val="6299201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2B2DC-EF4E-30AE-2A90-1A126C0572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97FF40-7872-0287-5123-A00E3756F5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239C9D-527A-52B8-54EF-898B929606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66859AF-FB5E-8C12-47E9-7FBD3F2AEE06}"/>
              </a:ext>
            </a:extLst>
          </p:cNvPr>
          <p:cNvSpPr>
            <a:spLocks noGrp="1"/>
          </p:cNvSpPr>
          <p:nvPr>
            <p:ph type="sldNum" sz="quarter" idx="5"/>
          </p:nvPr>
        </p:nvSpPr>
        <p:spPr/>
        <p:txBody>
          <a:bodyPr/>
          <a:lstStyle/>
          <a:p>
            <a:fld id="{988F3A2B-14A6-8F47-B753-A658CA12576A}" type="slidenum">
              <a:rPr lang="en-US" smtClean="0"/>
              <a:t>17</a:t>
            </a:fld>
            <a:endParaRPr lang="en-US"/>
          </a:p>
        </p:txBody>
      </p:sp>
    </p:spTree>
    <p:extLst>
      <p:ext uri="{BB962C8B-B14F-4D97-AF65-F5344CB8AC3E}">
        <p14:creationId xmlns:p14="http://schemas.microsoft.com/office/powerpoint/2010/main" val="26674587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AC489-662C-B002-F4A0-07522BB17B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419A63-56D7-744D-73F0-1B15A182A9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AA6D4E-E0CA-2BF7-3071-F74135646E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A71466-A94F-566F-AB3A-491FC87F0C19}"/>
              </a:ext>
            </a:extLst>
          </p:cNvPr>
          <p:cNvSpPr>
            <a:spLocks noGrp="1"/>
          </p:cNvSpPr>
          <p:nvPr>
            <p:ph type="sldNum" sz="quarter" idx="5"/>
          </p:nvPr>
        </p:nvSpPr>
        <p:spPr/>
        <p:txBody>
          <a:bodyPr/>
          <a:lstStyle/>
          <a:p>
            <a:fld id="{988F3A2B-14A6-8F47-B753-A658CA12576A}" type="slidenum">
              <a:rPr lang="en-US" smtClean="0"/>
              <a:t>18</a:t>
            </a:fld>
            <a:endParaRPr lang="en-US"/>
          </a:p>
        </p:txBody>
      </p:sp>
    </p:spTree>
    <p:extLst>
      <p:ext uri="{BB962C8B-B14F-4D97-AF65-F5344CB8AC3E}">
        <p14:creationId xmlns:p14="http://schemas.microsoft.com/office/powerpoint/2010/main" val="37488725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DD5E5-4378-76BB-7B00-B542BD14CF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8C11FD-2D1A-E2AA-5355-290208DEA5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8A7ED8-38D2-8B24-655A-72B5B696B6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80F8A2-A2BF-F169-A198-2AF67B960F4E}"/>
              </a:ext>
            </a:extLst>
          </p:cNvPr>
          <p:cNvSpPr>
            <a:spLocks noGrp="1"/>
          </p:cNvSpPr>
          <p:nvPr>
            <p:ph type="sldNum" sz="quarter" idx="5"/>
          </p:nvPr>
        </p:nvSpPr>
        <p:spPr/>
        <p:txBody>
          <a:bodyPr/>
          <a:lstStyle/>
          <a:p>
            <a:fld id="{988F3A2B-14A6-8F47-B753-A658CA12576A}" type="slidenum">
              <a:rPr lang="en-US" smtClean="0"/>
              <a:t>19</a:t>
            </a:fld>
            <a:endParaRPr lang="en-US"/>
          </a:p>
        </p:txBody>
      </p:sp>
    </p:spTree>
    <p:extLst>
      <p:ext uri="{BB962C8B-B14F-4D97-AF65-F5344CB8AC3E}">
        <p14:creationId xmlns:p14="http://schemas.microsoft.com/office/powerpoint/2010/main" val="14357685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20</a:t>
            </a:fld>
            <a:endParaRPr lang="en-US"/>
          </a:p>
        </p:txBody>
      </p:sp>
    </p:spTree>
    <p:extLst>
      <p:ext uri="{BB962C8B-B14F-4D97-AF65-F5344CB8AC3E}">
        <p14:creationId xmlns:p14="http://schemas.microsoft.com/office/powerpoint/2010/main" val="20091114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A991E-B12F-DACC-0EC3-C803ACD409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EDBBF1-3276-5823-29A5-21973FB81E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B52C3E-F02F-BA98-A22A-F3D7EF5955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1FBD9A-F920-B889-747D-47221E9F49CC}"/>
              </a:ext>
            </a:extLst>
          </p:cNvPr>
          <p:cNvSpPr>
            <a:spLocks noGrp="1"/>
          </p:cNvSpPr>
          <p:nvPr>
            <p:ph type="sldNum" sz="quarter" idx="5"/>
          </p:nvPr>
        </p:nvSpPr>
        <p:spPr/>
        <p:txBody>
          <a:bodyPr/>
          <a:lstStyle/>
          <a:p>
            <a:fld id="{988F3A2B-14A6-8F47-B753-A658CA12576A}" type="slidenum">
              <a:rPr lang="en-US" smtClean="0"/>
              <a:t>21</a:t>
            </a:fld>
            <a:endParaRPr lang="en-US"/>
          </a:p>
        </p:txBody>
      </p:sp>
    </p:spTree>
    <p:extLst>
      <p:ext uri="{BB962C8B-B14F-4D97-AF65-F5344CB8AC3E}">
        <p14:creationId xmlns:p14="http://schemas.microsoft.com/office/powerpoint/2010/main" val="34481345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A8535-32A4-B9D3-BCEC-45147EFCF3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B54DE0-279B-8F90-9CFA-FC582871D3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D07644-D3FC-6E15-C3D0-F7D2D2FE5E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581E1F6-D76E-C231-279E-499C11075A03}"/>
              </a:ext>
            </a:extLst>
          </p:cNvPr>
          <p:cNvSpPr>
            <a:spLocks noGrp="1"/>
          </p:cNvSpPr>
          <p:nvPr>
            <p:ph type="sldNum" sz="quarter" idx="5"/>
          </p:nvPr>
        </p:nvSpPr>
        <p:spPr/>
        <p:txBody>
          <a:bodyPr/>
          <a:lstStyle/>
          <a:p>
            <a:fld id="{988F3A2B-14A6-8F47-B753-A658CA12576A}" type="slidenum">
              <a:rPr lang="en-US" smtClean="0"/>
              <a:t>22</a:t>
            </a:fld>
            <a:endParaRPr lang="en-US"/>
          </a:p>
        </p:txBody>
      </p:sp>
    </p:spTree>
    <p:extLst>
      <p:ext uri="{BB962C8B-B14F-4D97-AF65-F5344CB8AC3E}">
        <p14:creationId xmlns:p14="http://schemas.microsoft.com/office/powerpoint/2010/main" val="28260265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6C4F8-9B26-764A-DEDE-1717E0C9DB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CDB5DE-EDD9-9B30-39D5-64EFD2F041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6F8134-8B2E-00CD-72A9-8760061E5C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FF2C30-4F13-CCC2-EC01-49F3436EB42B}"/>
              </a:ext>
            </a:extLst>
          </p:cNvPr>
          <p:cNvSpPr>
            <a:spLocks noGrp="1"/>
          </p:cNvSpPr>
          <p:nvPr>
            <p:ph type="sldNum" sz="quarter" idx="5"/>
          </p:nvPr>
        </p:nvSpPr>
        <p:spPr/>
        <p:txBody>
          <a:bodyPr/>
          <a:lstStyle/>
          <a:p>
            <a:fld id="{988F3A2B-14A6-8F47-B753-A658CA12576A}" type="slidenum">
              <a:rPr lang="en-US" smtClean="0"/>
              <a:t>23</a:t>
            </a:fld>
            <a:endParaRPr lang="en-US"/>
          </a:p>
        </p:txBody>
      </p:sp>
    </p:spTree>
    <p:extLst>
      <p:ext uri="{BB962C8B-B14F-4D97-AF65-F5344CB8AC3E}">
        <p14:creationId xmlns:p14="http://schemas.microsoft.com/office/powerpoint/2010/main" val="4813843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6B1B8-7B9A-8624-2A28-D21FCCCE3A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B746AA-7FE4-68AF-BA6B-D5BAF0263E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CAD0B5-5270-F71A-A1D9-2913524F44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EE25C0-FAA9-27F0-504B-43EBA2D77D9F}"/>
              </a:ext>
            </a:extLst>
          </p:cNvPr>
          <p:cNvSpPr>
            <a:spLocks noGrp="1"/>
          </p:cNvSpPr>
          <p:nvPr>
            <p:ph type="sldNum" sz="quarter" idx="5"/>
          </p:nvPr>
        </p:nvSpPr>
        <p:spPr/>
        <p:txBody>
          <a:bodyPr/>
          <a:lstStyle/>
          <a:p>
            <a:fld id="{988F3A2B-14A6-8F47-B753-A658CA12576A}" type="slidenum">
              <a:rPr lang="en-US" smtClean="0"/>
              <a:t>24</a:t>
            </a:fld>
            <a:endParaRPr lang="en-US"/>
          </a:p>
        </p:txBody>
      </p:sp>
    </p:spTree>
    <p:extLst>
      <p:ext uri="{BB962C8B-B14F-4D97-AF65-F5344CB8AC3E}">
        <p14:creationId xmlns:p14="http://schemas.microsoft.com/office/powerpoint/2010/main" val="13883769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68727-6770-E707-B3E8-0E94F2070F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8F7F1C-6315-870E-5392-BA47A793BB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7606AC-BCCA-9E1E-33AB-CC581C5D69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C15273-F382-B82F-879C-6F7F3FD0B034}"/>
              </a:ext>
            </a:extLst>
          </p:cNvPr>
          <p:cNvSpPr>
            <a:spLocks noGrp="1"/>
          </p:cNvSpPr>
          <p:nvPr>
            <p:ph type="sldNum" sz="quarter" idx="5"/>
          </p:nvPr>
        </p:nvSpPr>
        <p:spPr/>
        <p:txBody>
          <a:bodyPr/>
          <a:lstStyle/>
          <a:p>
            <a:fld id="{988F3A2B-14A6-8F47-B753-A658CA12576A}" type="slidenum">
              <a:rPr lang="en-US" smtClean="0"/>
              <a:t>25</a:t>
            </a:fld>
            <a:endParaRPr lang="en-US"/>
          </a:p>
        </p:txBody>
      </p:sp>
    </p:spTree>
    <p:extLst>
      <p:ext uri="{BB962C8B-B14F-4D97-AF65-F5344CB8AC3E}">
        <p14:creationId xmlns:p14="http://schemas.microsoft.com/office/powerpoint/2010/main" val="38837278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C37D4-B541-2CF5-CAF1-1F42DBCBE7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02D73B-9171-1C60-10D8-D55FF4126F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CF7E74-5D95-56D7-075E-0B02898BFC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9D976E-0B6D-AD2F-4322-8687C6E6C378}"/>
              </a:ext>
            </a:extLst>
          </p:cNvPr>
          <p:cNvSpPr>
            <a:spLocks noGrp="1"/>
          </p:cNvSpPr>
          <p:nvPr>
            <p:ph type="sldNum" sz="quarter" idx="5"/>
          </p:nvPr>
        </p:nvSpPr>
        <p:spPr/>
        <p:txBody>
          <a:bodyPr/>
          <a:lstStyle/>
          <a:p>
            <a:fld id="{988F3A2B-14A6-8F47-B753-A658CA12576A}" type="slidenum">
              <a:rPr lang="en-US" smtClean="0"/>
              <a:t>26</a:t>
            </a:fld>
            <a:endParaRPr lang="en-US"/>
          </a:p>
        </p:txBody>
      </p:sp>
    </p:spTree>
    <p:extLst>
      <p:ext uri="{BB962C8B-B14F-4D97-AF65-F5344CB8AC3E}">
        <p14:creationId xmlns:p14="http://schemas.microsoft.com/office/powerpoint/2010/main" val="30642348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30</a:t>
            </a:fld>
            <a:endParaRPr lang="en-US"/>
          </a:p>
        </p:txBody>
      </p:sp>
    </p:spTree>
    <p:extLst>
      <p:ext uri="{BB962C8B-B14F-4D97-AF65-F5344CB8AC3E}">
        <p14:creationId xmlns:p14="http://schemas.microsoft.com/office/powerpoint/2010/main" val="15473911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498E1-A91A-F1F3-812E-ACC81C1EC5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748311-272F-7CF1-EC54-D8BD84597D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AB228D-1CC2-6217-220D-D2B597C1EF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838E8F-BF08-FA64-6911-8FDA5C2B6D5B}"/>
              </a:ext>
            </a:extLst>
          </p:cNvPr>
          <p:cNvSpPr>
            <a:spLocks noGrp="1"/>
          </p:cNvSpPr>
          <p:nvPr>
            <p:ph type="sldNum" sz="quarter" idx="5"/>
          </p:nvPr>
        </p:nvSpPr>
        <p:spPr/>
        <p:txBody>
          <a:bodyPr/>
          <a:lstStyle/>
          <a:p>
            <a:fld id="{988F3A2B-14A6-8F47-B753-A658CA12576A}" type="slidenum">
              <a:rPr lang="en-US" smtClean="0"/>
              <a:t>31</a:t>
            </a:fld>
            <a:endParaRPr lang="en-US"/>
          </a:p>
        </p:txBody>
      </p:sp>
    </p:spTree>
    <p:extLst>
      <p:ext uri="{BB962C8B-B14F-4D97-AF65-F5344CB8AC3E}">
        <p14:creationId xmlns:p14="http://schemas.microsoft.com/office/powerpoint/2010/main" val="314050765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Resource Page - PPT Accessibility">
    <p:bg>
      <p:bgPr>
        <a:solidFill>
          <a:schemeClr val="accent4"/>
        </a:solidFill>
        <a:effectLst/>
      </p:bgPr>
    </p:bg>
    <p:spTree>
      <p:nvGrpSpPr>
        <p:cNvPr id="1" name=""/>
        <p:cNvGrpSpPr/>
        <p:nvPr/>
      </p:nvGrpSpPr>
      <p:grpSpPr>
        <a:xfrm>
          <a:off x="0" y="0"/>
          <a:ext cx="0" cy="0"/>
          <a:chOff x="0" y="0"/>
          <a:chExt cx="0" cy="0"/>
        </a:xfrm>
      </p:grpSpPr>
      <p:sp>
        <p:nvSpPr>
          <p:cNvPr id="3" name="PPT Accessibility"/>
          <p:cNvSpPr>
            <a:spLocks noGrp="1"/>
          </p:cNvSpPr>
          <p:nvPr>
            <p:ph type="subTitle" idx="1" hasCustomPrompt="1"/>
          </p:nvPr>
        </p:nvSpPr>
        <p:spPr>
          <a:xfrm>
            <a:off x="2667000" y="1597306"/>
            <a:ext cx="6581494" cy="1477328"/>
          </a:xfrm>
          <a:noFill/>
        </p:spPr>
        <p:txBody>
          <a:bodyPr wrap="square" lIns="0" tIns="0" rIns="0" bIns="0" anchor="t" anchorCtr="0">
            <a:spAutoFit/>
          </a:bodyPr>
          <a:lstStyle>
            <a:lvl1pPr marL="0" indent="0" algn="l">
              <a:buNone/>
              <a:defRPr lang="en-US" b="0" baseline="0" smtClean="0">
                <a:solidFill>
                  <a:schemeClr val="bg1"/>
                </a:solidFill>
                <a:effectLst/>
                <a:latin typeface="Franklin Gothic Book" panose="020B05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effectLst/>
                <a:latin typeface="Acumin Pro" panose="020B0504020202020204" pitchFamily="34" charset="77"/>
              </a:rPr>
              <a:t>Support the Purdue University brand in your presentations by using a brand-friendly template. This template uses an accessible master layout. Please note that some changes  to the PowerPoint template could impact accessibility by those with disabilities. Follow the instructions provided by Microsoft Office to ensure that your PowerPoint presentations are accessible to all users:</a:t>
            </a:r>
          </a:p>
        </p:txBody>
      </p:sp>
      <p:sp>
        <p:nvSpPr>
          <p:cNvPr id="10" name="PPT Accessibility URL" descr="PPT Accessibility URL">
            <a:extLst>
              <a:ext uri="{FF2B5EF4-FFF2-40B4-BE49-F238E27FC236}">
                <a16:creationId xmlns:a16="http://schemas.microsoft.com/office/drawing/2014/main" id="{E7B0FF2D-DA7C-7D4D-A32C-27DF18CCFBFD}"/>
              </a:ext>
            </a:extLst>
          </p:cNvPr>
          <p:cNvSpPr>
            <a:spLocks noGrp="1"/>
          </p:cNvSpPr>
          <p:nvPr>
            <p:ph type="body" sz="quarter" idx="14" hasCustomPrompt="1"/>
          </p:nvPr>
        </p:nvSpPr>
        <p:spPr>
          <a:xfrm>
            <a:off x="2667001" y="3813008"/>
            <a:ext cx="6725194" cy="602238"/>
          </a:xfrm>
        </p:spPr>
        <p:txBody>
          <a:bodyPr lIns="0" tIns="0" rIns="0" bIns="0">
            <a:normAutofit/>
          </a:bodyPr>
          <a:lstStyle>
            <a:lvl1pPr marL="0" marR="0" indent="0" algn="l" defTabSz="457200" rtl="0" eaLnBrk="1" fontAlgn="auto" latinLnBrk="0" hangingPunct="1">
              <a:lnSpc>
                <a:spcPct val="100000"/>
              </a:lnSpc>
              <a:spcBef>
                <a:spcPts val="0"/>
              </a:spcBef>
              <a:spcAft>
                <a:spcPts val="0"/>
              </a:spcAft>
              <a:buClrTx/>
              <a:buSzTx/>
              <a:buFontTx/>
              <a:buNone/>
              <a:tabLst/>
              <a:defRPr sz="1800" b="0" i="0" normalizeH="0" baseline="0">
                <a:solidFill>
                  <a:schemeClr val="bg1"/>
                </a:solidFill>
                <a:latin typeface="Acumin Pro" panose="020B0504020202020204" pitchFamily="34" charset="77"/>
              </a:defRPr>
            </a:lvl1pPr>
          </a:lstStyle>
          <a:p>
            <a:r>
              <a:rPr lang="en-US" dirty="0">
                <a:solidFill>
                  <a:schemeClr val="accent1"/>
                </a:solidFill>
                <a:effectLst/>
                <a:latin typeface="Acumin Pro" panose="020B0504020202020204" pitchFamily="34" charset="77"/>
              </a:rPr>
              <a:t>https://</a:t>
            </a:r>
            <a:r>
              <a:rPr lang="en-US" dirty="0" err="1">
                <a:solidFill>
                  <a:schemeClr val="accent1"/>
                </a:solidFill>
                <a:effectLst/>
                <a:latin typeface="Acumin Pro" panose="020B0504020202020204" pitchFamily="34" charset="77"/>
              </a:rPr>
              <a:t>support.office.com</a:t>
            </a:r>
            <a:r>
              <a:rPr lang="en-US" dirty="0">
                <a:solidFill>
                  <a:schemeClr val="accent1"/>
                </a:solidFill>
                <a:effectLst/>
                <a:latin typeface="Acumin Pro" panose="020B0504020202020204" pitchFamily="34" charset="77"/>
              </a:rPr>
              <a:t>/</a:t>
            </a:r>
            <a:r>
              <a:rPr lang="en-US" dirty="0" err="1">
                <a:solidFill>
                  <a:schemeClr val="accent1"/>
                </a:solidFill>
                <a:effectLst/>
                <a:latin typeface="Acumin Pro" panose="020B0504020202020204" pitchFamily="34" charset="77"/>
              </a:rPr>
              <a:t>en</a:t>
            </a:r>
            <a:r>
              <a:rPr lang="en-US" dirty="0">
                <a:solidFill>
                  <a:schemeClr val="accent1"/>
                </a:solidFill>
                <a:effectLst/>
                <a:latin typeface="Acumin Pro" panose="020B0504020202020204" pitchFamily="34" charset="77"/>
              </a:rPr>
              <a:t>-us/article/Make-your-PowerPoint-presentations-accessible-6f7772b2-2f33-4bd2-8ca7-dae3b2b3ef25</a:t>
            </a:r>
            <a:endParaRPr lang="en-US" dirty="0">
              <a:solidFill>
                <a:schemeClr val="accent1"/>
              </a:solidFill>
            </a:endParaRPr>
          </a:p>
        </p:txBody>
      </p:sp>
      <p:sp>
        <p:nvSpPr>
          <p:cNvPr id="7" name="Date"/>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10/27/2025</a:t>
            </a:fld>
            <a:endParaRPr lang="en-US" dirty="0"/>
          </a:p>
        </p:txBody>
      </p:sp>
      <p:sp>
        <p:nvSpPr>
          <p:cNvPr id="9" name="Slide Number"/>
          <p:cNvSpPr>
            <a:spLocks noGrp="1"/>
          </p:cNvSpPr>
          <p:nvPr>
            <p:ph type="sldNum" sz="quarter" idx="12"/>
          </p:nvPr>
        </p:nvSpPr>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13" name="Line 1">
            <a:extLst>
              <a:ext uri="{FF2B5EF4-FFF2-40B4-BE49-F238E27FC236}">
                <a16:creationId xmlns:a16="http://schemas.microsoft.com/office/drawing/2014/main" id="{A746CD05-A191-A442-A002-3AD9F5CCAD2A}"/>
              </a:ext>
            </a:extLst>
          </p:cNvPr>
          <p:cNvCxnSpPr/>
          <p:nvPr/>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Line 2">
            <a:extLst>
              <a:ext uri="{FF2B5EF4-FFF2-40B4-BE49-F238E27FC236}">
                <a16:creationId xmlns:a16="http://schemas.microsoft.com/office/drawing/2014/main" id="{28D7FFFF-8236-024F-9988-3350427826A4}"/>
              </a:ext>
            </a:extLst>
          </p:cNvPr>
          <p:cNvCxnSpPr>
            <a:cxnSpLocks/>
          </p:cNvCxnSpPr>
          <p:nvPr/>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Line 3">
            <a:extLst>
              <a:ext uri="{FF2B5EF4-FFF2-40B4-BE49-F238E27FC236}">
                <a16:creationId xmlns:a16="http://schemas.microsoft.com/office/drawing/2014/main" id="{7AA55D00-5647-D94E-B9DD-67ABB620C647}"/>
              </a:ext>
            </a:extLst>
          </p:cNvPr>
          <p:cNvCxnSpPr>
            <a:cxnSpLocks/>
          </p:cNvCxnSpPr>
          <p:nvPr/>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urdue CoBrand">
            <a:extLst>
              <a:ext uri="{FF2B5EF4-FFF2-40B4-BE49-F238E27FC236}">
                <a16:creationId xmlns:a16="http://schemas.microsoft.com/office/drawing/2014/main" id="{C9CD174E-FD96-2241-A6F9-04DEE0EA8DCE}"/>
              </a:ext>
            </a:extLst>
          </p:cNvPr>
          <p:cNvPicPr>
            <a:picLocks noChangeAspect="1"/>
          </p:cNvPicPr>
          <p:nvPr userDrawn="1"/>
        </p:nvPicPr>
        <p:blipFill>
          <a:blip r:embed="rId2"/>
          <a:srcRect/>
          <a:stretch/>
        </p:blipFill>
        <p:spPr>
          <a:xfrm>
            <a:off x="1811903" y="5987080"/>
            <a:ext cx="4243984" cy="449363"/>
          </a:xfrm>
          <a:prstGeom prst="rect">
            <a:avLst/>
          </a:prstGeom>
        </p:spPr>
      </p:pic>
    </p:spTree>
    <p:extLst>
      <p:ext uri="{BB962C8B-B14F-4D97-AF65-F5344CB8AC3E}">
        <p14:creationId xmlns:p14="http://schemas.microsoft.com/office/powerpoint/2010/main" val="19730699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4032" userDrawn="1">
          <p15:clr>
            <a:srgbClr val="FBAE40"/>
          </p15:clr>
        </p15:guide>
        <p15:guide id="4" pos="5496" userDrawn="1">
          <p15:clr>
            <a:srgbClr val="FBAE40"/>
          </p15:clr>
        </p15:guide>
        <p15:guide id="5" pos="6848" userDrawn="1">
          <p15:clr>
            <a:srgbClr val="FBAE40"/>
          </p15:clr>
        </p15:guide>
        <p15:guide id="6" orient="horz" pos="4080" userDrawn="1">
          <p15:clr>
            <a:srgbClr val="FBAE40"/>
          </p15:clr>
        </p15:guide>
        <p15:guide id="7" pos="1312" userDrawn="1">
          <p15:clr>
            <a:srgbClr val="FBAE40"/>
          </p15:clr>
        </p15:guide>
        <p15:guide id="8" pos="1680" userDrawn="1">
          <p15:clr>
            <a:srgbClr val="FBAE40"/>
          </p15:clr>
        </p15:guide>
        <p15:guide id="9" pos="6264" userDrawn="1">
          <p15:clr>
            <a:srgbClr val="FBAE40"/>
          </p15:clr>
        </p15:guide>
        <p15:guide id="10" pos="6360" userDrawn="1">
          <p15:clr>
            <a:srgbClr val="FBAE40"/>
          </p15:clr>
        </p15:guide>
        <p15:guide id="11" orient="horz" pos="100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accent4"/>
        </a:solidFill>
        <a:effectLst/>
      </p:bgPr>
    </p:bg>
    <p:spTree>
      <p:nvGrpSpPr>
        <p:cNvPr id="1" name=""/>
        <p:cNvGrpSpPr/>
        <p:nvPr/>
      </p:nvGrpSpPr>
      <p:grpSpPr>
        <a:xfrm>
          <a:off x="0" y="0"/>
          <a:ext cx="0" cy="0"/>
          <a:chOff x="0" y="0"/>
          <a:chExt cx="0" cy="0"/>
        </a:xfrm>
      </p:grpSpPr>
      <p:sp>
        <p:nvSpPr>
          <p:cNvPr id="20" name="Black Background">
            <a:extLst>
              <a:ext uri="{FF2B5EF4-FFF2-40B4-BE49-F238E27FC236}">
                <a16:creationId xmlns:a16="http://schemas.microsoft.com/office/drawing/2014/main" id="{EACB2F0C-1C3D-CD48-AD13-7B5AD683F7C7}"/>
              </a:ext>
            </a:extLst>
          </p:cNvPr>
          <p:cNvSpPr/>
          <p:nvPr/>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p:cNvSpPr>
            <a:spLocks noGrp="1"/>
          </p:cNvSpPr>
          <p:nvPr>
            <p:ph type="ctrTitle" hasCustomPrompt="1"/>
          </p:nvPr>
        </p:nvSpPr>
        <p:spPr bwMode="blackWhite">
          <a:xfrm>
            <a:off x="2647199" y="1501742"/>
            <a:ext cx="6801602" cy="664797"/>
          </a:xfrm>
          <a:prstGeom prst="rect">
            <a:avLst/>
          </a:prstGeom>
          <a:noFill/>
          <a:ln w="38100">
            <a:noFill/>
          </a:ln>
        </p:spPr>
        <p:txBody>
          <a:bodyPr wrap="square" lIns="0" tIns="0" rIns="0" bIns="0" anchor="t" anchorCtr="0">
            <a:spAutoFit/>
          </a:bodyPr>
          <a:lstStyle>
            <a:lvl1pPr algn="l">
              <a:defRPr sz="4800" b="1" i="1" spc="0" baseline="0">
                <a:solidFill>
                  <a:schemeClr val="tx2"/>
                </a:solidFill>
                <a:latin typeface="Franklin Gothic Book" panose="020B0503020102020204" pitchFamily="34" charset="0"/>
              </a:defRPr>
            </a:lvl1pPr>
          </a:lstStyle>
          <a:p>
            <a:r>
              <a:rPr lang="en-US" dirty="0"/>
              <a:t>Title</a:t>
            </a:r>
          </a:p>
        </p:txBody>
      </p:sp>
      <p:sp>
        <p:nvSpPr>
          <p:cNvPr id="3" name="Subtitle"/>
          <p:cNvSpPr>
            <a:spLocks noGrp="1"/>
          </p:cNvSpPr>
          <p:nvPr>
            <p:ph type="subTitle" idx="1" hasCustomPrompt="1"/>
          </p:nvPr>
        </p:nvSpPr>
        <p:spPr>
          <a:xfrm>
            <a:off x="2647199" y="3429000"/>
            <a:ext cx="6801603" cy="336015"/>
          </a:xfrm>
          <a:noFill/>
        </p:spPr>
        <p:txBody>
          <a:bodyPr wrap="square" lIns="0" tIns="0" rIns="0" bIns="0" anchor="t" anchorCtr="0">
            <a:spAutoFit/>
          </a:bodyPr>
          <a:lstStyle>
            <a:lvl1pPr marL="0" indent="0" algn="l">
              <a:buNone/>
              <a:defRPr sz="2200" b="1" i="0" baseline="0">
                <a:solidFill>
                  <a:schemeClr val="accent4"/>
                </a:solidFill>
                <a:latin typeface="Franklin Gothic Demi" panose="020B06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p>
        </p:txBody>
      </p:sp>
      <p:sp>
        <p:nvSpPr>
          <p:cNvPr id="12" name="Date">
            <a:extLst>
              <a:ext uri="{FF2B5EF4-FFF2-40B4-BE49-F238E27FC236}">
                <a16:creationId xmlns:a16="http://schemas.microsoft.com/office/drawing/2014/main" id="{569EEC58-EAB4-064A-8F4A-AFD41D2C52E3}"/>
              </a:ext>
            </a:extLst>
          </p:cNvPr>
          <p:cNvSpPr>
            <a:spLocks noGrp="1"/>
          </p:cNvSpPr>
          <p:nvPr>
            <p:ph type="dt" sz="half" idx="10"/>
          </p:nvPr>
        </p:nvSpPr>
        <p:spPr>
          <a:xfrm>
            <a:off x="8926248" y="6220740"/>
            <a:ext cx="1021891" cy="323968"/>
          </a:xfrm>
        </p:spPr>
        <p:txBody>
          <a:bodyPr/>
          <a:lstStyle>
            <a:lvl1pPr>
              <a:defRPr>
                <a:solidFill>
                  <a:schemeClr val="accent4">
                    <a:alpha val="70000"/>
                  </a:schemeClr>
                </a:solidFill>
              </a:defRPr>
            </a:lvl1pPr>
          </a:lstStyle>
          <a:p>
            <a:fld id="{D47A9A36-4EB0-BF46-AE48-7CDA251B954B}" type="datetime1">
              <a:rPr lang="en-US" smtClean="0"/>
              <a:pPr/>
              <a:t>10/27/2025</a:t>
            </a:fld>
            <a:endParaRPr lang="en-US" dirty="0"/>
          </a:p>
        </p:txBody>
      </p:sp>
      <p:sp>
        <p:nvSpPr>
          <p:cNvPr id="14" name="Slide Number">
            <a:extLst>
              <a:ext uri="{FF2B5EF4-FFF2-40B4-BE49-F238E27FC236}">
                <a16:creationId xmlns:a16="http://schemas.microsoft.com/office/drawing/2014/main" id="{F5536D05-EE19-B94F-AEFA-CBB9C74BE38E}"/>
              </a:ext>
            </a:extLst>
          </p:cNvPr>
          <p:cNvSpPr>
            <a:spLocks noGrp="1"/>
          </p:cNvSpPr>
          <p:nvPr>
            <p:ph type="sldNum" sz="quarter" idx="12"/>
          </p:nvPr>
        </p:nvSpPr>
        <p:spPr>
          <a:xfrm>
            <a:off x="10096500" y="6200875"/>
            <a:ext cx="487680" cy="365760"/>
          </a:xfrm>
        </p:spPr>
        <p:txBody>
          <a:bodyPr/>
          <a:lstStyle>
            <a:lvl1pPr>
              <a:defRPr>
                <a:solidFill>
                  <a:schemeClr val="accent4"/>
                </a:solidFill>
              </a:defRPr>
            </a:lvl1pPr>
          </a:lstStyle>
          <a:p>
            <a:fld id="{8A7A6979-0714-4377-B894-6BE4C2D6E202}" type="slidenum">
              <a:rPr lang="en-US" smtClean="0"/>
              <a:pPr/>
              <a:t>‹#›</a:t>
            </a:fld>
            <a:endParaRPr lang="en-US" dirty="0"/>
          </a:p>
        </p:txBody>
      </p:sp>
      <p:cxnSp>
        <p:nvCxnSpPr>
          <p:cNvPr id="16" name="Line 1">
            <a:extLst>
              <a:ext uri="{FF2B5EF4-FFF2-40B4-BE49-F238E27FC236}">
                <a16:creationId xmlns:a16="http://schemas.microsoft.com/office/drawing/2014/main" id="{6A4A8F82-5B38-7048-AC2C-C6614B1C1F87}"/>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 name="Line 2">
            <a:extLst>
              <a:ext uri="{FF2B5EF4-FFF2-40B4-BE49-F238E27FC236}">
                <a16:creationId xmlns:a16="http://schemas.microsoft.com/office/drawing/2014/main" id="{8D8B04B8-2399-454A-B669-A05BD4291FE0}"/>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Line 3">
            <a:extLst>
              <a:ext uri="{FF2B5EF4-FFF2-40B4-BE49-F238E27FC236}">
                <a16:creationId xmlns:a16="http://schemas.microsoft.com/office/drawing/2014/main" id="{E7D4788F-092F-E04C-9AB1-9F6377412706}"/>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0" name="Purdue CoBrand">
            <a:extLst>
              <a:ext uri="{FF2B5EF4-FFF2-40B4-BE49-F238E27FC236}">
                <a16:creationId xmlns:a16="http://schemas.microsoft.com/office/drawing/2014/main" id="{35863FF8-FC78-8245-B0B0-E1D4313A3AF5}"/>
              </a:ext>
            </a:extLst>
          </p:cNvPr>
          <p:cNvPicPr>
            <a:picLocks noChangeAspect="1"/>
          </p:cNvPicPr>
          <p:nvPr userDrawn="1"/>
        </p:nvPicPr>
        <p:blipFill>
          <a:blip r:embed="rId2"/>
          <a:srcRect/>
          <a:stretch/>
        </p:blipFill>
        <p:spPr>
          <a:xfrm>
            <a:off x="1811903" y="5987081"/>
            <a:ext cx="4243984" cy="449363"/>
          </a:xfrm>
          <a:prstGeom prst="rect">
            <a:avLst/>
          </a:prstGeom>
        </p:spPr>
      </p:pic>
    </p:spTree>
    <p:extLst>
      <p:ext uri="{BB962C8B-B14F-4D97-AF65-F5344CB8AC3E}">
        <p14:creationId xmlns:p14="http://schemas.microsoft.com/office/powerpoint/2010/main" val="246350217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guide id="7" pos="165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Slide - Copy">
    <p:bg>
      <p:bgPr>
        <a:solidFill>
          <a:schemeClr val="accent4"/>
        </a:solidFill>
        <a:effectLst/>
      </p:bgPr>
    </p:bg>
    <p:spTree>
      <p:nvGrpSpPr>
        <p:cNvPr id="1" name=""/>
        <p:cNvGrpSpPr/>
        <p:nvPr/>
      </p:nvGrpSpPr>
      <p:grpSpPr>
        <a:xfrm>
          <a:off x="0" y="0"/>
          <a:ext cx="0" cy="0"/>
          <a:chOff x="0" y="0"/>
          <a:chExt cx="0" cy="0"/>
        </a:xfrm>
      </p:grpSpPr>
      <p:sp>
        <p:nvSpPr>
          <p:cNvPr id="26" name="Black Bar">
            <a:extLst>
              <a:ext uri="{FF2B5EF4-FFF2-40B4-BE49-F238E27FC236}">
                <a16:creationId xmlns:a16="http://schemas.microsoft.com/office/drawing/2014/main" id="{A66A797F-CC2D-F24E-8D26-8632FDB68C4C}"/>
              </a:ext>
            </a:extLst>
          </p:cNvPr>
          <p:cNvSpPr/>
          <p:nvPr userDrawn="1"/>
        </p:nvSpPr>
        <p:spPr>
          <a:xfrm>
            <a:off x="1773864" y="0"/>
            <a:ext cx="9884736" cy="9081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p:cNvSpPr>
            <a:spLocks noGrp="1"/>
          </p:cNvSpPr>
          <p:nvPr>
            <p:ph type="ctrTitle" hasCustomPrompt="1"/>
          </p:nvPr>
        </p:nvSpPr>
        <p:spPr bwMode="blackWhite">
          <a:xfrm>
            <a:off x="2107520" y="437030"/>
            <a:ext cx="7988980" cy="332399"/>
          </a:xfrm>
          <a:prstGeom prst="rect">
            <a:avLst/>
          </a:prstGeom>
          <a:noFill/>
          <a:ln w="38100">
            <a:noFill/>
          </a:ln>
        </p:spPr>
        <p:txBody>
          <a:bodyPr wrap="square" lIns="0" tIns="0" rIns="0" bIns="0" anchor="t" anchorCtr="0">
            <a:spAutoFit/>
          </a:bodyPr>
          <a:lstStyle>
            <a:lvl1pPr algn="l">
              <a:defRPr sz="2400" b="1" i="1" cap="none" spc="0" baseline="0">
                <a:solidFill>
                  <a:schemeClr val="tx2"/>
                </a:solidFill>
                <a:latin typeface="Franklin Gothic Book" panose="020B0503020102020204" pitchFamily="34" charset="0"/>
              </a:defRPr>
            </a:lvl1pPr>
          </a:lstStyle>
          <a:p>
            <a:r>
              <a:rPr lang="en-US" dirty="0"/>
              <a:t>Title</a:t>
            </a:r>
          </a:p>
        </p:txBody>
      </p:sp>
      <p:sp>
        <p:nvSpPr>
          <p:cNvPr id="3" name="Subhead"/>
          <p:cNvSpPr>
            <a:spLocks noGrp="1"/>
          </p:cNvSpPr>
          <p:nvPr>
            <p:ph type="subTitle" idx="1" hasCustomPrompt="1"/>
          </p:nvPr>
        </p:nvSpPr>
        <p:spPr>
          <a:xfrm>
            <a:off x="2107518" y="1345167"/>
            <a:ext cx="7988982" cy="276999"/>
          </a:xfrm>
          <a:noFill/>
        </p:spPr>
        <p:txBody>
          <a:bodyPr wrap="square" lIns="0" tIns="0" rIns="0" bIns="0" anchor="t" anchorCtr="0">
            <a:spAutoFit/>
          </a:bodyPr>
          <a:lstStyle>
            <a:lvl1pPr marL="0" indent="0" algn="l">
              <a:buNone/>
              <a:defRPr sz="1800" b="1" i="0" baseline="0">
                <a:solidFill>
                  <a:schemeClr val="accent2"/>
                </a:solidFill>
                <a:latin typeface="Franklin Gothic Book" panose="020B05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a:t>
            </a:r>
          </a:p>
        </p:txBody>
      </p:sp>
      <p:sp>
        <p:nvSpPr>
          <p:cNvPr id="25" name="Body Text">
            <a:extLst>
              <a:ext uri="{FF2B5EF4-FFF2-40B4-BE49-F238E27FC236}">
                <a16:creationId xmlns:a16="http://schemas.microsoft.com/office/drawing/2014/main" id="{9F798712-4535-8340-942F-27FFD5E3FE9B}"/>
              </a:ext>
            </a:extLst>
          </p:cNvPr>
          <p:cNvSpPr>
            <a:spLocks noGrp="1"/>
          </p:cNvSpPr>
          <p:nvPr>
            <p:ph type="body" sz="quarter" idx="14" hasCustomPrompt="1"/>
          </p:nvPr>
        </p:nvSpPr>
        <p:spPr>
          <a:xfrm>
            <a:off x="2666056" y="1917389"/>
            <a:ext cx="7366000" cy="3411537"/>
          </a:xfrm>
        </p:spPr>
        <p:txBody>
          <a:bodyPr lIns="0" tIns="0" rIns="0" bIns="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600" b="0" i="0" normalizeH="0" baseline="0">
                <a:solidFill>
                  <a:schemeClr val="bg1"/>
                </a:solidFill>
                <a:latin typeface="Franklin Gothic Book" panose="020B0503020102020204" pitchFamily="34" charset="0"/>
              </a:defRPr>
            </a:lvl1pPr>
          </a:lstStyle>
          <a:p>
            <a:pPr lvl="0"/>
            <a:r>
              <a:rPr lang="en-US" dirty="0"/>
              <a:t>Bulleted copy. Keep it short with bite-size chunks of information.</a:t>
            </a:r>
          </a:p>
          <a:p>
            <a:pPr lvl="0"/>
            <a:endParaRPr lang="en-US" dirty="0"/>
          </a:p>
          <a:p>
            <a:pPr lvl="0"/>
            <a:r>
              <a:rPr lang="en-US" dirty="0"/>
              <a:t>Bulleted copy.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Keep it short with bite-size chunks of information.</a:t>
            </a:r>
          </a:p>
          <a:p>
            <a:pPr lvl="0"/>
            <a:endParaRPr lang="en-US" dirty="0"/>
          </a:p>
        </p:txBody>
      </p:sp>
      <p:sp>
        <p:nvSpPr>
          <p:cNvPr id="16" name="Date">
            <a:extLst>
              <a:ext uri="{FF2B5EF4-FFF2-40B4-BE49-F238E27FC236}">
                <a16:creationId xmlns:a16="http://schemas.microsoft.com/office/drawing/2014/main" id="{714077B3-45FB-7B43-8C19-3B82C49646B4}"/>
              </a:ext>
            </a:extLst>
          </p:cNvPr>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10/27/2025</a:t>
            </a:fld>
            <a:endParaRPr lang="en-US" dirty="0"/>
          </a:p>
        </p:txBody>
      </p:sp>
      <p:sp>
        <p:nvSpPr>
          <p:cNvPr id="17" name="Slide Number">
            <a:extLst>
              <a:ext uri="{FF2B5EF4-FFF2-40B4-BE49-F238E27FC236}">
                <a16:creationId xmlns:a16="http://schemas.microsoft.com/office/drawing/2014/main" id="{9877984E-7F57-E649-B9D9-2C2240989518}"/>
              </a:ext>
            </a:extLst>
          </p:cNvPr>
          <p:cNvSpPr>
            <a:spLocks noGrp="1"/>
          </p:cNvSpPr>
          <p:nvPr>
            <p:ph type="sldNum" sz="quarter" idx="12"/>
          </p:nvPr>
        </p:nvSpPr>
        <p:spPr>
          <a:xfrm>
            <a:off x="10096500" y="6200875"/>
            <a:ext cx="487680" cy="365760"/>
          </a:xfrm>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19" name="Line 1">
            <a:extLst>
              <a:ext uri="{FF2B5EF4-FFF2-40B4-BE49-F238E27FC236}">
                <a16:creationId xmlns:a16="http://schemas.microsoft.com/office/drawing/2014/main" id="{8936B9D4-1725-3C46-A32F-C28623BAF26E}"/>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Line 2">
            <a:extLst>
              <a:ext uri="{FF2B5EF4-FFF2-40B4-BE49-F238E27FC236}">
                <a16:creationId xmlns:a16="http://schemas.microsoft.com/office/drawing/2014/main" id="{A8A4F2E5-6CC0-B242-9D18-2446C1D7DE8A}"/>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Line 3">
            <a:extLst>
              <a:ext uri="{FF2B5EF4-FFF2-40B4-BE49-F238E27FC236}">
                <a16:creationId xmlns:a16="http://schemas.microsoft.com/office/drawing/2014/main" id="{C07B1E83-E1FB-094B-9F1A-D5DE2767524D}"/>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urdue CoBrand">
            <a:extLst>
              <a:ext uri="{FF2B5EF4-FFF2-40B4-BE49-F238E27FC236}">
                <a16:creationId xmlns:a16="http://schemas.microsoft.com/office/drawing/2014/main" id="{7819D8BA-413A-6641-B706-270206BA2A7C}"/>
              </a:ext>
            </a:extLst>
          </p:cNvPr>
          <p:cNvPicPr>
            <a:picLocks noChangeAspect="1"/>
          </p:cNvPicPr>
          <p:nvPr userDrawn="1"/>
        </p:nvPicPr>
        <p:blipFill>
          <a:blip r:embed="rId2"/>
          <a:srcRect/>
          <a:stretch/>
        </p:blipFill>
        <p:spPr>
          <a:xfrm>
            <a:off x="1811903" y="5987080"/>
            <a:ext cx="4243984" cy="449363"/>
          </a:xfrm>
          <a:prstGeom prst="rect">
            <a:avLst/>
          </a:prstGeom>
        </p:spPr>
      </p:pic>
    </p:spTree>
    <p:extLst>
      <p:ext uri="{BB962C8B-B14F-4D97-AF65-F5344CB8AC3E}">
        <p14:creationId xmlns:p14="http://schemas.microsoft.com/office/powerpoint/2010/main" val="1406754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guide id="7" pos="1104">
          <p15:clr>
            <a:srgbClr val="FBAE40"/>
          </p15:clr>
        </p15:guide>
        <p15:guide id="8" pos="16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 Copy &amp; Pic/Chart">
    <p:bg>
      <p:bgPr>
        <a:solidFill>
          <a:schemeClr val="accent4"/>
        </a:solidFill>
        <a:effectLst/>
      </p:bgPr>
    </p:bg>
    <p:spTree>
      <p:nvGrpSpPr>
        <p:cNvPr id="1" name=""/>
        <p:cNvGrpSpPr/>
        <p:nvPr/>
      </p:nvGrpSpPr>
      <p:grpSpPr>
        <a:xfrm>
          <a:off x="0" y="0"/>
          <a:ext cx="0" cy="0"/>
          <a:chOff x="0" y="0"/>
          <a:chExt cx="0" cy="0"/>
        </a:xfrm>
      </p:grpSpPr>
      <p:sp>
        <p:nvSpPr>
          <p:cNvPr id="24" name="Black Bar">
            <a:extLst>
              <a:ext uri="{FF2B5EF4-FFF2-40B4-BE49-F238E27FC236}">
                <a16:creationId xmlns:a16="http://schemas.microsoft.com/office/drawing/2014/main" id="{0AE71379-F4D3-D147-9F20-2FE1D74B2D32}"/>
              </a:ext>
            </a:extLst>
          </p:cNvPr>
          <p:cNvSpPr/>
          <p:nvPr userDrawn="1"/>
        </p:nvSpPr>
        <p:spPr>
          <a:xfrm>
            <a:off x="1773864" y="0"/>
            <a:ext cx="9884736" cy="9081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5" name="Title">
            <a:extLst>
              <a:ext uri="{FF2B5EF4-FFF2-40B4-BE49-F238E27FC236}">
                <a16:creationId xmlns:a16="http://schemas.microsoft.com/office/drawing/2014/main" id="{D4CA7DB8-4B5A-E34E-9870-26F61BD3E47D}"/>
              </a:ext>
            </a:extLst>
          </p:cNvPr>
          <p:cNvSpPr>
            <a:spLocks noGrp="1"/>
          </p:cNvSpPr>
          <p:nvPr>
            <p:ph type="ctrTitle" hasCustomPrompt="1"/>
          </p:nvPr>
        </p:nvSpPr>
        <p:spPr bwMode="blackWhite">
          <a:xfrm>
            <a:off x="2107520" y="437030"/>
            <a:ext cx="7988978" cy="332399"/>
          </a:xfrm>
          <a:prstGeom prst="rect">
            <a:avLst/>
          </a:prstGeom>
          <a:noFill/>
          <a:ln w="38100">
            <a:noFill/>
          </a:ln>
        </p:spPr>
        <p:txBody>
          <a:bodyPr wrap="square" lIns="0" tIns="0" rIns="0" bIns="0" anchor="t" anchorCtr="0">
            <a:spAutoFit/>
          </a:bodyPr>
          <a:lstStyle>
            <a:lvl1pPr algn="l">
              <a:defRPr sz="2400" b="1" i="1" cap="none" spc="0" baseline="0">
                <a:solidFill>
                  <a:schemeClr val="tx2"/>
                </a:solidFill>
                <a:latin typeface="Franklin Gothic Book" panose="020B0503020102020204" pitchFamily="34" charset="0"/>
              </a:defRPr>
            </a:lvl1pPr>
          </a:lstStyle>
          <a:p>
            <a:r>
              <a:rPr lang="en-US" dirty="0"/>
              <a:t>Title</a:t>
            </a:r>
          </a:p>
        </p:txBody>
      </p:sp>
      <p:sp>
        <p:nvSpPr>
          <p:cNvPr id="26" name="Subhead">
            <a:extLst>
              <a:ext uri="{FF2B5EF4-FFF2-40B4-BE49-F238E27FC236}">
                <a16:creationId xmlns:a16="http://schemas.microsoft.com/office/drawing/2014/main" id="{1DF492DD-020D-4A41-BFE4-1758A1DC7221}"/>
              </a:ext>
            </a:extLst>
          </p:cNvPr>
          <p:cNvSpPr>
            <a:spLocks noGrp="1"/>
          </p:cNvSpPr>
          <p:nvPr>
            <p:ph type="subTitle" idx="1" hasCustomPrompt="1"/>
          </p:nvPr>
        </p:nvSpPr>
        <p:spPr>
          <a:xfrm>
            <a:off x="2107518" y="1345167"/>
            <a:ext cx="7988980" cy="276999"/>
          </a:xfrm>
          <a:noFill/>
        </p:spPr>
        <p:txBody>
          <a:bodyPr wrap="square" lIns="0" tIns="0" rIns="0" bIns="0" anchor="t" anchorCtr="0">
            <a:spAutoFit/>
          </a:bodyPr>
          <a:lstStyle>
            <a:lvl1pPr marL="0" indent="0" algn="l">
              <a:buNone/>
              <a:defRPr sz="1800" b="1" i="0" baseline="0">
                <a:solidFill>
                  <a:schemeClr val="accent2"/>
                </a:solidFill>
                <a:latin typeface="Franklin Gothic Book" panose="020B05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a:t>
            </a:r>
          </a:p>
        </p:txBody>
      </p:sp>
      <p:sp>
        <p:nvSpPr>
          <p:cNvPr id="19" name="Body Text">
            <a:extLst>
              <a:ext uri="{FF2B5EF4-FFF2-40B4-BE49-F238E27FC236}">
                <a16:creationId xmlns:a16="http://schemas.microsoft.com/office/drawing/2014/main" id="{4B5CCD19-DE21-294C-8B0B-3103725AE082}"/>
              </a:ext>
            </a:extLst>
          </p:cNvPr>
          <p:cNvSpPr>
            <a:spLocks noGrp="1"/>
          </p:cNvSpPr>
          <p:nvPr>
            <p:ph type="body" sz="quarter" idx="14" hasCustomPrompt="1"/>
          </p:nvPr>
        </p:nvSpPr>
        <p:spPr>
          <a:xfrm>
            <a:off x="2665914" y="1917389"/>
            <a:ext cx="4081046" cy="3411537"/>
          </a:xfrm>
        </p:spPr>
        <p:txBody>
          <a:bodyPr lIns="0" tIns="0" rIns="0" bIns="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600" b="0" i="0" normalizeH="0" baseline="0">
                <a:solidFill>
                  <a:schemeClr val="bg1"/>
                </a:solidFill>
                <a:latin typeface="Franklin Gothic Book" panose="020B0503020102020204" pitchFamily="34" charset="0"/>
              </a:defRPr>
            </a:lvl1pPr>
          </a:lstStyle>
          <a:p>
            <a:pPr lvl="0"/>
            <a:r>
              <a:rPr lang="en-US" dirty="0"/>
              <a:t>Bulleted copy. Keep it short with bite-size chunks of information.</a:t>
            </a:r>
          </a:p>
          <a:p>
            <a:pPr lvl="0"/>
            <a:endParaRPr lang="en-US" dirty="0"/>
          </a:p>
          <a:p>
            <a:pPr lvl="0"/>
            <a:r>
              <a:rPr lang="en-US" dirty="0"/>
              <a:t>Bulleted copy.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Keep it short with bite-size chunks of information.</a:t>
            </a:r>
          </a:p>
          <a:p>
            <a:pPr lvl="0"/>
            <a:endParaRPr lang="en-US" dirty="0"/>
          </a:p>
          <a:p>
            <a:pPr lvl="0"/>
            <a:endParaRPr lang="en-US" dirty="0"/>
          </a:p>
        </p:txBody>
      </p:sp>
      <p:cxnSp>
        <p:nvCxnSpPr>
          <p:cNvPr id="23" name="Line 3">
            <a:extLst>
              <a:ext uri="{FF2B5EF4-FFF2-40B4-BE49-F238E27FC236}">
                <a16:creationId xmlns:a16="http://schemas.microsoft.com/office/drawing/2014/main" id="{3DD2E154-C016-6747-BDF9-C46FDA8D5574}"/>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Picture or Chart" descr="Picture or Chart">
            <a:extLst>
              <a:ext uri="{FF2B5EF4-FFF2-40B4-BE49-F238E27FC236}">
                <a16:creationId xmlns:a16="http://schemas.microsoft.com/office/drawing/2014/main" id="{699BD747-48B6-2547-8F7C-25A44594F612}"/>
              </a:ext>
            </a:extLst>
          </p:cNvPr>
          <p:cNvSpPr>
            <a:spLocks noGrp="1"/>
          </p:cNvSpPr>
          <p:nvPr>
            <p:ph sz="quarter" idx="13" hasCustomPrompt="1"/>
          </p:nvPr>
        </p:nvSpPr>
        <p:spPr>
          <a:xfrm>
            <a:off x="7093131" y="1920876"/>
            <a:ext cx="4561597" cy="2982913"/>
          </a:xfrm>
          <a:solidFill>
            <a:schemeClr val="accent4"/>
          </a:solidFill>
        </p:spPr>
        <p:txBody>
          <a:bodyPr lIns="0" tIns="0" rIns="0" bIns="0" anchor="ctr" anchorCtr="0"/>
          <a:lstStyle>
            <a:lvl1pPr algn="ctr">
              <a:defRPr b="0" i="0">
                <a:solidFill>
                  <a:schemeClr val="bg1"/>
                </a:solidFill>
                <a:latin typeface="Acumin Pro" panose="020B0504020202020204" pitchFamily="34" charset="77"/>
              </a:defRPr>
            </a:lvl1pPr>
            <a:lvl4pPr marL="685800" indent="0" algn="ctr">
              <a:buNone/>
              <a:defRPr>
                <a:solidFill>
                  <a:schemeClr val="bg1"/>
                </a:solidFill>
              </a:defRPr>
            </a:lvl4pPr>
          </a:lstStyle>
          <a:p>
            <a:pPr lvl="0"/>
            <a:r>
              <a:rPr lang="en-US" dirty="0"/>
              <a:t>Insert picture or chart here</a:t>
            </a:r>
          </a:p>
        </p:txBody>
      </p:sp>
      <p:sp>
        <p:nvSpPr>
          <p:cNvPr id="16" name="Date">
            <a:extLst>
              <a:ext uri="{FF2B5EF4-FFF2-40B4-BE49-F238E27FC236}">
                <a16:creationId xmlns:a16="http://schemas.microsoft.com/office/drawing/2014/main" id="{C8365B71-1339-9448-BF22-95AA51DA73FB}"/>
              </a:ext>
            </a:extLst>
          </p:cNvPr>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10/27/2025</a:t>
            </a:fld>
            <a:endParaRPr lang="en-US" dirty="0"/>
          </a:p>
        </p:txBody>
      </p:sp>
      <p:sp>
        <p:nvSpPr>
          <p:cNvPr id="17" name="Slide Number">
            <a:extLst>
              <a:ext uri="{FF2B5EF4-FFF2-40B4-BE49-F238E27FC236}">
                <a16:creationId xmlns:a16="http://schemas.microsoft.com/office/drawing/2014/main" id="{90CEF399-1C96-2B44-8CD0-34997E7B715B}"/>
              </a:ext>
            </a:extLst>
          </p:cNvPr>
          <p:cNvSpPr>
            <a:spLocks noGrp="1"/>
          </p:cNvSpPr>
          <p:nvPr>
            <p:ph type="sldNum" sz="quarter" idx="12"/>
          </p:nvPr>
        </p:nvSpPr>
        <p:spPr>
          <a:xfrm>
            <a:off x="10096500" y="6200875"/>
            <a:ext cx="487680" cy="365760"/>
          </a:xfrm>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21" name="Line 1">
            <a:extLst>
              <a:ext uri="{FF2B5EF4-FFF2-40B4-BE49-F238E27FC236}">
                <a16:creationId xmlns:a16="http://schemas.microsoft.com/office/drawing/2014/main" id="{CADA4B44-4E54-AC4F-B94D-753D8198844A}"/>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Line 2">
            <a:extLst>
              <a:ext uri="{FF2B5EF4-FFF2-40B4-BE49-F238E27FC236}">
                <a16:creationId xmlns:a16="http://schemas.microsoft.com/office/drawing/2014/main" id="{FC7C8D95-DE0A-F44D-8875-2ED2F195BB2F}"/>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2" name="Purdue CoBrand">
            <a:extLst>
              <a:ext uri="{FF2B5EF4-FFF2-40B4-BE49-F238E27FC236}">
                <a16:creationId xmlns:a16="http://schemas.microsoft.com/office/drawing/2014/main" id="{F8D8386B-0D43-664A-B6B7-C474C0595C63}"/>
              </a:ext>
            </a:extLst>
          </p:cNvPr>
          <p:cNvPicPr>
            <a:picLocks noChangeAspect="1"/>
          </p:cNvPicPr>
          <p:nvPr userDrawn="1"/>
        </p:nvPicPr>
        <p:blipFill>
          <a:blip r:embed="rId2"/>
          <a:srcRect/>
          <a:stretch/>
        </p:blipFill>
        <p:spPr>
          <a:xfrm>
            <a:off x="1811903" y="5987080"/>
            <a:ext cx="4243984" cy="449363"/>
          </a:xfrm>
          <a:prstGeom prst="rect">
            <a:avLst/>
          </a:prstGeom>
        </p:spPr>
      </p:pic>
    </p:spTree>
    <p:extLst>
      <p:ext uri="{BB962C8B-B14F-4D97-AF65-F5344CB8AC3E}">
        <p14:creationId xmlns:p14="http://schemas.microsoft.com/office/powerpoint/2010/main" val="18154640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4032">
          <p15:clr>
            <a:srgbClr val="FBAE40"/>
          </p15:clr>
        </p15:guide>
        <p15:guide id="4" pos="7344">
          <p15:clr>
            <a:srgbClr val="FBAE40"/>
          </p15:clr>
        </p15:guide>
        <p15:guide id="5" pos="6848">
          <p15:clr>
            <a:srgbClr val="FBAE40"/>
          </p15:clr>
        </p15:guide>
        <p15:guide id="6" orient="horz" pos="4080">
          <p15:clr>
            <a:srgbClr val="FBAE40"/>
          </p15:clr>
        </p15:guide>
        <p15:guide id="7" pos="1104">
          <p15:clr>
            <a:srgbClr val="FBAE40"/>
          </p15:clr>
        </p15:guide>
        <p15:guide id="8" pos="16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Slide - Picture">
    <p:bg>
      <p:bgPr>
        <a:solidFill>
          <a:schemeClr val="accent4"/>
        </a:solidFill>
        <a:effectLst/>
      </p:bgPr>
    </p:bg>
    <p:spTree>
      <p:nvGrpSpPr>
        <p:cNvPr id="1" name=""/>
        <p:cNvGrpSpPr/>
        <p:nvPr/>
      </p:nvGrpSpPr>
      <p:grpSpPr>
        <a:xfrm>
          <a:off x="0" y="0"/>
          <a:ext cx="0" cy="0"/>
          <a:chOff x="0" y="0"/>
          <a:chExt cx="0" cy="0"/>
        </a:xfrm>
      </p:grpSpPr>
      <p:sp>
        <p:nvSpPr>
          <p:cNvPr id="17" name="Picture" descr="Picture Description">
            <a:extLst>
              <a:ext uri="{FF2B5EF4-FFF2-40B4-BE49-F238E27FC236}">
                <a16:creationId xmlns:a16="http://schemas.microsoft.com/office/drawing/2014/main" id="{B6A7C9B5-3617-0144-A4ED-16186741E8C3}"/>
              </a:ext>
            </a:extLst>
          </p:cNvPr>
          <p:cNvSpPr>
            <a:spLocks noGrp="1"/>
          </p:cNvSpPr>
          <p:nvPr>
            <p:ph type="pic" sz="quarter" idx="13"/>
          </p:nvPr>
        </p:nvSpPr>
        <p:spPr>
          <a:xfrm>
            <a:off x="0" y="0"/>
            <a:ext cx="12192000" cy="6858000"/>
          </a:xfrm>
        </p:spPr>
        <p:txBody>
          <a:bodyPr anchor="ctr" anchorCtr="1"/>
          <a:lstStyle>
            <a:lvl1pPr marL="0" indent="0" algn="ctr">
              <a:buFontTx/>
              <a:buNone/>
              <a:defRPr baseline="0">
                <a:solidFill>
                  <a:schemeClr val="bg1"/>
                </a:solidFill>
                <a:latin typeface="Acumin Pro" panose="020B0504020202020204" pitchFamily="34" charset="77"/>
              </a:defRPr>
            </a:lvl1pPr>
          </a:lstStyle>
          <a:p>
            <a:r>
              <a:rPr lang="en-US"/>
              <a:t>Click icon to add picture</a:t>
            </a:r>
            <a:endParaRPr lang="en-US" dirty="0"/>
          </a:p>
        </p:txBody>
      </p:sp>
      <p:sp>
        <p:nvSpPr>
          <p:cNvPr id="3" name="Photo caption"/>
          <p:cNvSpPr>
            <a:spLocks noGrp="1"/>
          </p:cNvSpPr>
          <p:nvPr>
            <p:ph type="subTitle" idx="1" hasCustomPrompt="1"/>
          </p:nvPr>
        </p:nvSpPr>
        <p:spPr>
          <a:xfrm>
            <a:off x="7301170" y="219206"/>
            <a:ext cx="3574087" cy="738664"/>
          </a:xfrm>
          <a:noFill/>
        </p:spPr>
        <p:txBody>
          <a:bodyPr wrap="square" lIns="0" tIns="0" rIns="0" bIns="0" anchor="t" anchorCtr="0">
            <a:spAutoFit/>
          </a:bodyPr>
          <a:lstStyle>
            <a:lvl1pPr marL="0" indent="0" algn="l">
              <a:buNone/>
              <a:defRPr sz="1600" b="1" i="0" baseline="0">
                <a:solidFill>
                  <a:schemeClr val="bg1"/>
                </a:solidFill>
                <a:latin typeface="Franklin Gothic Book" panose="020B05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Brief photo caption. Place in top left or right corner. Make text black or white for legibility.</a:t>
            </a:r>
          </a:p>
        </p:txBody>
      </p:sp>
      <p:sp>
        <p:nvSpPr>
          <p:cNvPr id="11" name="Date">
            <a:extLst>
              <a:ext uri="{FF2B5EF4-FFF2-40B4-BE49-F238E27FC236}">
                <a16:creationId xmlns:a16="http://schemas.microsoft.com/office/drawing/2014/main" id="{F330C439-AFA6-B840-9D2A-258668D35CA5}"/>
              </a:ext>
            </a:extLst>
          </p:cNvPr>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10/27/2025</a:t>
            </a:fld>
            <a:endParaRPr lang="en-US" dirty="0"/>
          </a:p>
        </p:txBody>
      </p:sp>
      <p:sp>
        <p:nvSpPr>
          <p:cNvPr id="14" name="Slide Number">
            <a:extLst>
              <a:ext uri="{FF2B5EF4-FFF2-40B4-BE49-F238E27FC236}">
                <a16:creationId xmlns:a16="http://schemas.microsoft.com/office/drawing/2014/main" id="{ACC80B6D-3922-3742-99F9-101C945C2B33}"/>
              </a:ext>
            </a:extLst>
          </p:cNvPr>
          <p:cNvSpPr>
            <a:spLocks noGrp="1"/>
          </p:cNvSpPr>
          <p:nvPr>
            <p:ph type="sldNum" sz="quarter" idx="12"/>
          </p:nvPr>
        </p:nvSpPr>
        <p:spPr>
          <a:xfrm>
            <a:off x="10096500" y="6200875"/>
            <a:ext cx="487680" cy="365760"/>
          </a:xfrm>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16" name="Line 1">
            <a:extLst>
              <a:ext uri="{FF2B5EF4-FFF2-40B4-BE49-F238E27FC236}">
                <a16:creationId xmlns:a16="http://schemas.microsoft.com/office/drawing/2014/main" id="{C3371811-B9A9-444C-B8E2-DFC8B92FFA90}"/>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Line 2">
            <a:extLst>
              <a:ext uri="{FF2B5EF4-FFF2-40B4-BE49-F238E27FC236}">
                <a16:creationId xmlns:a16="http://schemas.microsoft.com/office/drawing/2014/main" id="{E3D41B36-C946-AA44-BFF4-3F3A6A8607A2}"/>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Line 3">
            <a:extLst>
              <a:ext uri="{FF2B5EF4-FFF2-40B4-BE49-F238E27FC236}">
                <a16:creationId xmlns:a16="http://schemas.microsoft.com/office/drawing/2014/main" id="{A246739C-3DD5-DF4C-BFF4-0B3AF76695B4}"/>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9" name="Purdue CoBrand">
            <a:extLst>
              <a:ext uri="{FF2B5EF4-FFF2-40B4-BE49-F238E27FC236}">
                <a16:creationId xmlns:a16="http://schemas.microsoft.com/office/drawing/2014/main" id="{B1FB8C0C-65BE-BE4A-9624-20705F2A16B6}"/>
              </a:ext>
            </a:extLst>
          </p:cNvPr>
          <p:cNvPicPr>
            <a:picLocks noChangeAspect="1"/>
          </p:cNvPicPr>
          <p:nvPr userDrawn="1"/>
        </p:nvPicPr>
        <p:blipFill>
          <a:blip r:embed="rId2"/>
          <a:srcRect/>
          <a:stretch/>
        </p:blipFill>
        <p:spPr>
          <a:xfrm>
            <a:off x="1811903" y="5987080"/>
            <a:ext cx="4243984" cy="449363"/>
          </a:xfrm>
          <a:prstGeom prst="rect">
            <a:avLst/>
          </a:prstGeom>
        </p:spPr>
      </p:pic>
    </p:spTree>
    <p:extLst>
      <p:ext uri="{BB962C8B-B14F-4D97-AF65-F5344CB8AC3E}">
        <p14:creationId xmlns:p14="http://schemas.microsoft.com/office/powerpoint/2010/main" val="418625800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Slide - Fact/Highlight">
    <p:bg>
      <p:bgPr>
        <a:solidFill>
          <a:schemeClr val="accent4"/>
        </a:solidFill>
        <a:effectLst/>
      </p:bgPr>
    </p:bg>
    <p:spTree>
      <p:nvGrpSpPr>
        <p:cNvPr id="1" name=""/>
        <p:cNvGrpSpPr/>
        <p:nvPr/>
      </p:nvGrpSpPr>
      <p:grpSpPr>
        <a:xfrm>
          <a:off x="0" y="0"/>
          <a:ext cx="0" cy="0"/>
          <a:chOff x="0" y="0"/>
          <a:chExt cx="0" cy="0"/>
        </a:xfrm>
      </p:grpSpPr>
      <p:sp>
        <p:nvSpPr>
          <p:cNvPr id="6" name="Gold Background">
            <a:extLst>
              <a:ext uri="{FF2B5EF4-FFF2-40B4-BE49-F238E27FC236}">
                <a16:creationId xmlns:a16="http://schemas.microsoft.com/office/drawing/2014/main" id="{5CCAEC11-865D-CB4B-88E8-5AF51FB37FBE}"/>
              </a:ext>
            </a:extLst>
          </p:cNvPr>
          <p:cNvSpPr/>
          <p:nvPr/>
        </p:nvSpPr>
        <p:spPr>
          <a:xfrm>
            <a:off x="1" y="0"/>
            <a:ext cx="12191999" cy="685221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Heading"/>
          <p:cNvSpPr>
            <a:spLocks noGrp="1"/>
          </p:cNvSpPr>
          <p:nvPr>
            <p:ph type="ctrTitle" hasCustomPrompt="1"/>
          </p:nvPr>
        </p:nvSpPr>
        <p:spPr bwMode="blackWhite">
          <a:xfrm>
            <a:off x="2886334" y="1614576"/>
            <a:ext cx="6419331" cy="1007712"/>
          </a:xfrm>
          <a:prstGeom prst="rect">
            <a:avLst/>
          </a:prstGeom>
          <a:noFill/>
          <a:ln w="38100">
            <a:noFill/>
          </a:ln>
        </p:spPr>
        <p:txBody>
          <a:bodyPr wrap="square" lIns="0" tIns="0" rIns="0" bIns="0" anchor="t" anchorCtr="0">
            <a:spAutoFit/>
          </a:bodyPr>
          <a:lstStyle>
            <a:lvl1pPr algn="ctr">
              <a:defRPr sz="7200" b="1" i="0" cap="none" spc="300" baseline="0">
                <a:solidFill>
                  <a:schemeClr val="accent2"/>
                </a:solidFill>
                <a:latin typeface="Impact" panose="020B0806030902050204" pitchFamily="34" charset="0"/>
              </a:defRPr>
            </a:lvl1pPr>
          </a:lstStyle>
          <a:p>
            <a:r>
              <a:rPr lang="en-US" spc="0" dirty="0">
                <a:latin typeface="United Sans Rg Md" pitchFamily="50" charset="0"/>
              </a:rPr>
              <a:t>123</a:t>
            </a:r>
            <a:endParaRPr lang="en-US" dirty="0"/>
          </a:p>
        </p:txBody>
      </p:sp>
      <p:sp>
        <p:nvSpPr>
          <p:cNvPr id="20" name="Black Bar">
            <a:extLst>
              <a:ext uri="{FF2B5EF4-FFF2-40B4-BE49-F238E27FC236}">
                <a16:creationId xmlns:a16="http://schemas.microsoft.com/office/drawing/2014/main" id="{EACB2F0C-1C3D-CD48-AD13-7B5AD683F7C7}"/>
              </a:ext>
            </a:extLst>
          </p:cNvPr>
          <p:cNvSpPr/>
          <p:nvPr/>
        </p:nvSpPr>
        <p:spPr>
          <a:xfrm>
            <a:off x="2648277" y="2744421"/>
            <a:ext cx="6905456" cy="4409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Subhead"/>
          <p:cNvSpPr>
            <a:spLocks noGrp="1"/>
          </p:cNvSpPr>
          <p:nvPr>
            <p:ph type="subTitle" idx="1" hasCustomPrompt="1"/>
          </p:nvPr>
        </p:nvSpPr>
        <p:spPr>
          <a:xfrm>
            <a:off x="2648276" y="2706475"/>
            <a:ext cx="6895463" cy="492443"/>
          </a:xfrm>
          <a:noFill/>
        </p:spPr>
        <p:txBody>
          <a:bodyPr wrap="square" lIns="0" tIns="0" rIns="0" bIns="0" anchor="t" anchorCtr="0">
            <a:spAutoFit/>
          </a:bodyPr>
          <a:lstStyle>
            <a:lvl1pPr marL="0" indent="0" algn="ctr">
              <a:buNone/>
              <a:defRPr sz="3200" b="0" i="0" spc="300" baseline="0">
                <a:solidFill>
                  <a:schemeClr val="accent4"/>
                </a:solidFill>
                <a:latin typeface="Impact" panose="020B080603090205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TOPIC OR TITLE</a:t>
            </a:r>
          </a:p>
        </p:txBody>
      </p:sp>
      <p:sp>
        <p:nvSpPr>
          <p:cNvPr id="23" name="Body Text">
            <a:extLst>
              <a:ext uri="{FF2B5EF4-FFF2-40B4-BE49-F238E27FC236}">
                <a16:creationId xmlns:a16="http://schemas.microsoft.com/office/drawing/2014/main" id="{BD416322-CF1A-F143-B2A9-844B608C50DA}"/>
              </a:ext>
            </a:extLst>
          </p:cNvPr>
          <p:cNvSpPr>
            <a:spLocks noGrp="1"/>
          </p:cNvSpPr>
          <p:nvPr>
            <p:ph type="body" sz="quarter" idx="14" hasCustomPrompt="1"/>
          </p:nvPr>
        </p:nvSpPr>
        <p:spPr>
          <a:xfrm>
            <a:off x="2875268" y="3540352"/>
            <a:ext cx="6678467" cy="1122744"/>
          </a:xfrm>
        </p:spPr>
        <p:txBody>
          <a:bodyPr lIns="0" tIns="0" rIns="0" bIns="0">
            <a:noAutofit/>
          </a:bodyPr>
          <a:lstStyle>
            <a:lvl1pPr marL="0" marR="0" indent="0" algn="l" defTabSz="457200" rtl="0" eaLnBrk="1" fontAlgn="auto" latinLnBrk="0" hangingPunct="1">
              <a:lnSpc>
                <a:spcPct val="100000"/>
              </a:lnSpc>
              <a:spcBef>
                <a:spcPts val="0"/>
              </a:spcBef>
              <a:spcAft>
                <a:spcPts val="0"/>
              </a:spcAft>
              <a:buClrTx/>
              <a:buSzTx/>
              <a:buFontTx/>
              <a:buNone/>
              <a:tabLst/>
              <a:defRPr sz="2400" b="0" i="0" normalizeH="0" baseline="0">
                <a:solidFill>
                  <a:schemeClr val="bg1"/>
                </a:solidFill>
                <a:latin typeface="Franklin Gothic Book" panose="020B0503020102020204" pitchFamily="34" charset="0"/>
              </a:defRPr>
            </a:lvl1pPr>
          </a:lstStyle>
          <a:p>
            <a:pPr lvl="0"/>
            <a:r>
              <a:rPr lang="en-US" dirty="0"/>
              <a:t>Fact or highlight. Keep it short with bite-size chunks of information.</a:t>
            </a:r>
          </a:p>
        </p:txBody>
      </p:sp>
      <p:sp>
        <p:nvSpPr>
          <p:cNvPr id="16" name="Date">
            <a:extLst>
              <a:ext uri="{FF2B5EF4-FFF2-40B4-BE49-F238E27FC236}">
                <a16:creationId xmlns:a16="http://schemas.microsoft.com/office/drawing/2014/main" id="{D5F83FDC-674A-8F42-A488-884B2867DCC3}"/>
              </a:ext>
            </a:extLst>
          </p:cNvPr>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10/27/2025</a:t>
            </a:fld>
            <a:endParaRPr lang="en-US" dirty="0"/>
          </a:p>
        </p:txBody>
      </p:sp>
      <p:sp>
        <p:nvSpPr>
          <p:cNvPr id="17" name="Slide Number">
            <a:extLst>
              <a:ext uri="{FF2B5EF4-FFF2-40B4-BE49-F238E27FC236}">
                <a16:creationId xmlns:a16="http://schemas.microsoft.com/office/drawing/2014/main" id="{DF9C56DA-C412-B14C-8168-05E55A21B5E5}"/>
              </a:ext>
            </a:extLst>
          </p:cNvPr>
          <p:cNvSpPr>
            <a:spLocks noGrp="1"/>
          </p:cNvSpPr>
          <p:nvPr>
            <p:ph type="sldNum" sz="quarter" idx="12"/>
          </p:nvPr>
        </p:nvSpPr>
        <p:spPr>
          <a:xfrm>
            <a:off x="10096500" y="6200875"/>
            <a:ext cx="487680" cy="365760"/>
          </a:xfrm>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21" name="Line 1">
            <a:extLst>
              <a:ext uri="{FF2B5EF4-FFF2-40B4-BE49-F238E27FC236}">
                <a16:creationId xmlns:a16="http://schemas.microsoft.com/office/drawing/2014/main" id="{DE31DD2C-32F5-F345-872B-C1CCC72846EE}"/>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Line 2">
            <a:extLst>
              <a:ext uri="{FF2B5EF4-FFF2-40B4-BE49-F238E27FC236}">
                <a16:creationId xmlns:a16="http://schemas.microsoft.com/office/drawing/2014/main" id="{18A2134F-0116-6740-AD2E-82D54002455E}"/>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4" name="Line 3">
            <a:extLst>
              <a:ext uri="{FF2B5EF4-FFF2-40B4-BE49-F238E27FC236}">
                <a16:creationId xmlns:a16="http://schemas.microsoft.com/office/drawing/2014/main" id="{7E7A5392-EE7B-7141-B159-172DDE0D6824}"/>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3" name="Purdue CoBrand">
            <a:extLst>
              <a:ext uri="{FF2B5EF4-FFF2-40B4-BE49-F238E27FC236}">
                <a16:creationId xmlns:a16="http://schemas.microsoft.com/office/drawing/2014/main" id="{C956BC4A-6335-2245-B16C-D97B7C359084}"/>
              </a:ext>
            </a:extLst>
          </p:cNvPr>
          <p:cNvPicPr>
            <a:picLocks noChangeAspect="1"/>
          </p:cNvPicPr>
          <p:nvPr userDrawn="1"/>
        </p:nvPicPr>
        <p:blipFill>
          <a:blip r:embed="rId2"/>
          <a:srcRect/>
          <a:stretch/>
        </p:blipFill>
        <p:spPr>
          <a:xfrm>
            <a:off x="1811903" y="5987080"/>
            <a:ext cx="4243984" cy="449363"/>
          </a:xfrm>
          <a:prstGeom prst="rect">
            <a:avLst/>
          </a:prstGeom>
        </p:spPr>
      </p:pic>
    </p:spTree>
    <p:extLst>
      <p:ext uri="{BB962C8B-B14F-4D97-AF65-F5344CB8AC3E}">
        <p14:creationId xmlns:p14="http://schemas.microsoft.com/office/powerpoint/2010/main" val="270739352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guide id="7" orient="horz" pos="1008">
          <p15:clr>
            <a:srgbClr val="FBAE40"/>
          </p15:clr>
        </p15:guide>
        <p15:guide id="8" orient="horz" pos="1488">
          <p15:clr>
            <a:srgbClr val="FBAE40"/>
          </p15:clr>
        </p15:guide>
        <p15:guide id="9" orient="horz" pos="86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losing Slide">
    <p:bg>
      <p:bgPr>
        <a:solidFill>
          <a:schemeClr val="accent4"/>
        </a:solidFill>
        <a:effectLst/>
      </p:bgPr>
    </p:bg>
    <p:spTree>
      <p:nvGrpSpPr>
        <p:cNvPr id="1" name=""/>
        <p:cNvGrpSpPr/>
        <p:nvPr/>
      </p:nvGrpSpPr>
      <p:grpSpPr>
        <a:xfrm>
          <a:off x="0" y="0"/>
          <a:ext cx="0" cy="0"/>
          <a:chOff x="0" y="0"/>
          <a:chExt cx="0" cy="0"/>
        </a:xfrm>
      </p:grpSpPr>
      <p:sp>
        <p:nvSpPr>
          <p:cNvPr id="20" name="Black Background">
            <a:extLst>
              <a:ext uri="{FF2B5EF4-FFF2-40B4-BE49-F238E27FC236}">
                <a16:creationId xmlns:a16="http://schemas.microsoft.com/office/drawing/2014/main" id="{EACB2F0C-1C3D-CD48-AD13-7B5AD683F7C7}"/>
              </a:ext>
            </a:extLst>
          </p:cNvPr>
          <p:cNvSpPr/>
          <p:nvPr/>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Heading"/>
          <p:cNvSpPr>
            <a:spLocks noGrp="1"/>
          </p:cNvSpPr>
          <p:nvPr>
            <p:ph type="ctrTitle" hasCustomPrompt="1"/>
          </p:nvPr>
        </p:nvSpPr>
        <p:spPr bwMode="blackWhite">
          <a:xfrm>
            <a:off x="2628902" y="1521334"/>
            <a:ext cx="6347458" cy="609398"/>
          </a:xfrm>
          <a:prstGeom prst="rect">
            <a:avLst/>
          </a:prstGeom>
          <a:noFill/>
          <a:ln w="38100">
            <a:noFill/>
          </a:ln>
        </p:spPr>
        <p:txBody>
          <a:bodyPr wrap="square" lIns="0" tIns="0" rIns="0" bIns="0" anchor="t" anchorCtr="0">
            <a:spAutoFit/>
          </a:bodyPr>
          <a:lstStyle>
            <a:lvl1pPr algn="l">
              <a:defRPr sz="4400" b="1" i="1" spc="0" baseline="0">
                <a:solidFill>
                  <a:schemeClr val="tx2"/>
                </a:solidFill>
                <a:latin typeface="Franklin Gothic Book" panose="020B0503020102020204" pitchFamily="34" charset="0"/>
              </a:defRPr>
            </a:lvl1pPr>
          </a:lstStyle>
          <a:p>
            <a:r>
              <a:rPr lang="en-US" dirty="0"/>
              <a:t>Thank You</a:t>
            </a:r>
          </a:p>
        </p:txBody>
      </p:sp>
      <p:sp>
        <p:nvSpPr>
          <p:cNvPr id="16" name="Body Text">
            <a:extLst>
              <a:ext uri="{FF2B5EF4-FFF2-40B4-BE49-F238E27FC236}">
                <a16:creationId xmlns:a16="http://schemas.microsoft.com/office/drawing/2014/main" id="{900775FC-E9E4-FF46-A522-92CC39196093}"/>
              </a:ext>
            </a:extLst>
          </p:cNvPr>
          <p:cNvSpPr>
            <a:spLocks noGrp="1"/>
          </p:cNvSpPr>
          <p:nvPr>
            <p:ph type="body" sz="quarter" idx="14" hasCustomPrompt="1"/>
          </p:nvPr>
        </p:nvSpPr>
        <p:spPr>
          <a:xfrm>
            <a:off x="2628900" y="2548210"/>
            <a:ext cx="6347460" cy="880790"/>
          </a:xfrm>
        </p:spPr>
        <p:txBody>
          <a:bodyPr lIns="0" tIns="0" rIns="0" bIns="0">
            <a:noAutofit/>
          </a:bodyPr>
          <a:lstStyle>
            <a:lvl1pPr marL="0" marR="0" indent="0" algn="l" defTabSz="457200" rtl="0" eaLnBrk="1" fontAlgn="auto" latinLnBrk="0" hangingPunct="1">
              <a:lnSpc>
                <a:spcPct val="100000"/>
              </a:lnSpc>
              <a:spcBef>
                <a:spcPts val="0"/>
              </a:spcBef>
              <a:spcAft>
                <a:spcPts val="0"/>
              </a:spcAft>
              <a:buClrTx/>
              <a:buSzTx/>
              <a:buFontTx/>
              <a:buNone/>
              <a:tabLst/>
              <a:defRPr sz="1600" b="0" i="0" normalizeH="0" baseline="0">
                <a:solidFill>
                  <a:schemeClr val="accent4"/>
                </a:solidFill>
                <a:latin typeface="Franklin Gothic Book" panose="020B0503020102020204" pitchFamily="34" charset="0"/>
              </a:defRPr>
            </a:lvl1pPr>
          </a:lstStyle>
          <a:p>
            <a:pPr lvl="0"/>
            <a:r>
              <a:rPr lang="en-US" dirty="0"/>
              <a:t>Conclusion, call to action or contact information. </a:t>
            </a:r>
          </a:p>
        </p:txBody>
      </p:sp>
      <p:sp>
        <p:nvSpPr>
          <p:cNvPr id="12" name="Date">
            <a:extLst>
              <a:ext uri="{FF2B5EF4-FFF2-40B4-BE49-F238E27FC236}">
                <a16:creationId xmlns:a16="http://schemas.microsoft.com/office/drawing/2014/main" id="{E7D56F3A-D0B6-8A49-81C9-B6A0051C7E73}"/>
              </a:ext>
            </a:extLst>
          </p:cNvPr>
          <p:cNvSpPr>
            <a:spLocks noGrp="1"/>
          </p:cNvSpPr>
          <p:nvPr>
            <p:ph type="dt" sz="half" idx="10"/>
          </p:nvPr>
        </p:nvSpPr>
        <p:spPr>
          <a:xfrm>
            <a:off x="8926248" y="6220740"/>
            <a:ext cx="1021891" cy="323968"/>
          </a:xfrm>
        </p:spPr>
        <p:txBody>
          <a:bodyPr/>
          <a:lstStyle>
            <a:lvl1pPr>
              <a:defRPr>
                <a:solidFill>
                  <a:schemeClr val="accent4">
                    <a:alpha val="70000"/>
                  </a:schemeClr>
                </a:solidFill>
              </a:defRPr>
            </a:lvl1pPr>
          </a:lstStyle>
          <a:p>
            <a:fld id="{D47A9A36-4EB0-BF46-AE48-7CDA251B954B}" type="datetime1">
              <a:rPr lang="en-US" smtClean="0"/>
              <a:pPr/>
              <a:t>10/27/2025</a:t>
            </a:fld>
            <a:endParaRPr lang="en-US" dirty="0"/>
          </a:p>
        </p:txBody>
      </p:sp>
      <p:sp>
        <p:nvSpPr>
          <p:cNvPr id="14" name="Slide Number">
            <a:extLst>
              <a:ext uri="{FF2B5EF4-FFF2-40B4-BE49-F238E27FC236}">
                <a16:creationId xmlns:a16="http://schemas.microsoft.com/office/drawing/2014/main" id="{DED03763-61BB-3343-B3CC-0623CC8EAA03}"/>
              </a:ext>
            </a:extLst>
          </p:cNvPr>
          <p:cNvSpPr>
            <a:spLocks noGrp="1"/>
          </p:cNvSpPr>
          <p:nvPr>
            <p:ph type="sldNum" sz="quarter" idx="12"/>
          </p:nvPr>
        </p:nvSpPr>
        <p:spPr>
          <a:xfrm>
            <a:off x="10096500" y="6200875"/>
            <a:ext cx="487680" cy="365760"/>
          </a:xfrm>
        </p:spPr>
        <p:txBody>
          <a:bodyPr/>
          <a:lstStyle>
            <a:lvl1pPr>
              <a:defRPr>
                <a:solidFill>
                  <a:schemeClr val="accent4"/>
                </a:solidFill>
              </a:defRPr>
            </a:lvl1pPr>
          </a:lstStyle>
          <a:p>
            <a:fld id="{8A7A6979-0714-4377-B894-6BE4C2D6E202}" type="slidenum">
              <a:rPr lang="en-US" smtClean="0"/>
              <a:pPr/>
              <a:t>‹#›</a:t>
            </a:fld>
            <a:endParaRPr lang="en-US" dirty="0"/>
          </a:p>
        </p:txBody>
      </p:sp>
      <p:cxnSp>
        <p:nvCxnSpPr>
          <p:cNvPr id="17" name="Line 1">
            <a:extLst>
              <a:ext uri="{FF2B5EF4-FFF2-40B4-BE49-F238E27FC236}">
                <a16:creationId xmlns:a16="http://schemas.microsoft.com/office/drawing/2014/main" id="{9B9CC658-FCDB-754D-83A8-E72E62847F53}"/>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Line 2">
            <a:extLst>
              <a:ext uri="{FF2B5EF4-FFF2-40B4-BE49-F238E27FC236}">
                <a16:creationId xmlns:a16="http://schemas.microsoft.com/office/drawing/2014/main" id="{52700362-C315-8A41-8A37-D1C4D5A0E238}"/>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Line 3">
            <a:extLst>
              <a:ext uri="{FF2B5EF4-FFF2-40B4-BE49-F238E27FC236}">
                <a16:creationId xmlns:a16="http://schemas.microsoft.com/office/drawing/2014/main" id="{14A431DC-9C67-D94C-982A-8D0C2E3D10D8}"/>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0" name="Purdue CoBrand">
            <a:extLst>
              <a:ext uri="{FF2B5EF4-FFF2-40B4-BE49-F238E27FC236}">
                <a16:creationId xmlns:a16="http://schemas.microsoft.com/office/drawing/2014/main" id="{176AE897-D878-964C-8095-7884DE87DB08}"/>
              </a:ext>
            </a:extLst>
          </p:cNvPr>
          <p:cNvPicPr>
            <a:picLocks noChangeAspect="1"/>
          </p:cNvPicPr>
          <p:nvPr userDrawn="1"/>
        </p:nvPicPr>
        <p:blipFill>
          <a:blip r:embed="rId2"/>
          <a:srcRect/>
          <a:stretch/>
        </p:blipFill>
        <p:spPr>
          <a:xfrm>
            <a:off x="1811903" y="5987081"/>
            <a:ext cx="4243984" cy="449363"/>
          </a:xfrm>
          <a:prstGeom prst="rect">
            <a:avLst/>
          </a:prstGeom>
        </p:spPr>
      </p:pic>
    </p:spTree>
    <p:extLst>
      <p:ext uri="{BB962C8B-B14F-4D97-AF65-F5344CB8AC3E}">
        <p14:creationId xmlns:p14="http://schemas.microsoft.com/office/powerpoint/2010/main" val="6953237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guide id="7" pos="165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141394" y="964692"/>
            <a:ext cx="7917007"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141394" y="2638046"/>
            <a:ext cx="7917007"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744769" y="6227670"/>
            <a:ext cx="1161231" cy="323968"/>
          </a:xfrm>
          <a:prstGeom prst="rect">
            <a:avLst/>
          </a:prstGeom>
        </p:spPr>
        <p:txBody>
          <a:bodyPr vert="horz" lIns="91440" tIns="45720" rIns="91440" bIns="45720" rtlCol="0" anchor="ctr"/>
          <a:lstStyle>
            <a:lvl1pPr algn="r">
              <a:defRPr sz="1000" b="0" i="0" baseline="0">
                <a:solidFill>
                  <a:schemeClr val="tx1">
                    <a:alpha val="70000"/>
                  </a:schemeClr>
                </a:solidFill>
                <a:latin typeface="Franklin Gothic Book" panose="020B0503020102020204" pitchFamily="34" charset="0"/>
              </a:defRPr>
            </a:lvl1pPr>
          </a:lstStyle>
          <a:p>
            <a:fld id="{E0C8DACD-4E35-4E4C-AC75-C3DE50F04E7E}" type="datetime1">
              <a:rPr lang="en-US" smtClean="0"/>
              <a:pPr/>
              <a:t>10/27/2025</a:t>
            </a:fld>
            <a:endParaRPr lang="en-US" dirty="0"/>
          </a:p>
        </p:txBody>
      </p:sp>
      <p:sp>
        <p:nvSpPr>
          <p:cNvPr id="6" name="Slide Number Placeholder 5"/>
          <p:cNvSpPr>
            <a:spLocks noGrp="1"/>
          </p:cNvSpPr>
          <p:nvPr>
            <p:ph type="sldNum" sz="quarter" idx="4"/>
          </p:nvPr>
        </p:nvSpPr>
        <p:spPr>
          <a:xfrm>
            <a:off x="10096500" y="6200875"/>
            <a:ext cx="487680" cy="365760"/>
          </a:xfrm>
          <a:prstGeom prst="ellipse">
            <a:avLst/>
          </a:prstGeom>
          <a:noFill/>
        </p:spPr>
        <p:txBody>
          <a:bodyPr vert="horz" lIns="18288" tIns="45720" rIns="18288" bIns="45720" rtlCol="0" anchor="ctr">
            <a:noAutofit/>
          </a:bodyPr>
          <a:lstStyle>
            <a:lvl1pPr algn="ctr">
              <a:defRPr sz="1000" b="1" i="0" spc="0" baseline="0">
                <a:solidFill>
                  <a:schemeClr val="tx1"/>
                </a:solidFill>
                <a:latin typeface="Franklin Gothic Book" panose="020B0503020102020204" pitchFamily="34" charset="0"/>
              </a:defRPr>
            </a:lvl1pPr>
          </a:lstStyle>
          <a:p>
            <a:fld id="{8A7A6979-0714-4377-B894-6BE4C2D6E202}" type="slidenum">
              <a:rPr lang="en-US" smtClean="0"/>
              <a:pPr/>
              <a:t>‹#›</a:t>
            </a:fld>
            <a:endParaRPr lang="en-US" dirty="0"/>
          </a:p>
        </p:txBody>
      </p:sp>
      <p:sp>
        <p:nvSpPr>
          <p:cNvPr id="7" name="Footer Placeholder 4">
            <a:extLst>
              <a:ext uri="{FF2B5EF4-FFF2-40B4-BE49-F238E27FC236}">
                <a16:creationId xmlns:a16="http://schemas.microsoft.com/office/drawing/2014/main" id="{F51272EC-C1E6-1240-AF69-43B2679C2CD3}"/>
              </a:ext>
            </a:extLst>
          </p:cNvPr>
          <p:cNvSpPr>
            <a:spLocks noGrp="1"/>
          </p:cNvSpPr>
          <p:nvPr>
            <p:ph type="ftr" sz="quarter" idx="3"/>
          </p:nvPr>
        </p:nvSpPr>
        <p:spPr>
          <a:xfrm>
            <a:off x="1137845" y="6219163"/>
            <a:ext cx="6075552" cy="320040"/>
          </a:xfrm>
          <a:prstGeom prst="rect">
            <a:avLst/>
          </a:prstGeom>
        </p:spPr>
        <p:txBody>
          <a:bodyPr vert="horz" lIns="91440" tIns="45720" rIns="91440" bIns="45720" rtlCol="0" anchor="ctr"/>
          <a:lstStyle>
            <a:lvl1pPr algn="l">
              <a:defRPr sz="1000">
                <a:solidFill>
                  <a:schemeClr val="tx1">
                    <a:alpha val="70000"/>
                  </a:schemeClr>
                </a:solidFill>
              </a:defRPr>
            </a:lvl1pPr>
          </a:lstStyle>
          <a:p>
            <a:endParaRPr lang="en-US" dirty="0"/>
          </a:p>
        </p:txBody>
      </p:sp>
    </p:spTree>
    <p:extLst>
      <p:ext uri="{BB962C8B-B14F-4D97-AF65-F5344CB8AC3E}">
        <p14:creationId xmlns:p14="http://schemas.microsoft.com/office/powerpoint/2010/main" val="3595336832"/>
      </p:ext>
    </p:extLst>
  </p:cSld>
  <p:clrMap bg1="lt1" tx1="dk1" bg2="lt2" tx2="dk2" accent1="accent1" accent2="accent2" accent3="accent3" accent4="accent4" accent5="accent5" accent6="accent6" hlink="hlink" folHlink="folHlink"/>
  <p:sldLayoutIdLst>
    <p:sldLayoutId id="2147483725" r:id="rId1"/>
    <p:sldLayoutId id="2147483709" r:id="rId2"/>
    <p:sldLayoutId id="2147483720" r:id="rId3"/>
    <p:sldLayoutId id="2147483721" r:id="rId4"/>
    <p:sldLayoutId id="2147483722" r:id="rId5"/>
    <p:sldLayoutId id="2147483723" r:id="rId6"/>
    <p:sldLayoutId id="2147483724" r:id="rId7"/>
  </p:sldLayoutIdLst>
  <p:hf hdr="0" ftr="0"/>
  <p:txStyles>
    <p:titleStyle>
      <a:lvl1pPr algn="ctr" defTabSz="914400" rtl="0" eaLnBrk="1" latinLnBrk="0" hangingPunct="1">
        <a:lnSpc>
          <a:spcPct val="90000"/>
        </a:lnSpc>
        <a:spcBef>
          <a:spcPct val="0"/>
        </a:spcBef>
        <a:buNone/>
        <a:defRPr sz="2600" b="1" i="0" kern="1200" cap="all" spc="200" baseline="0">
          <a:solidFill>
            <a:srgbClr val="262626"/>
          </a:solidFill>
          <a:latin typeface="Franklin Gothic Book" panose="020B0503020102020204" pitchFamily="34" charset="0"/>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4056">
          <p15:clr>
            <a:srgbClr val="F26B43"/>
          </p15:clr>
        </p15:guide>
        <p15:guide id="4" pos="6240">
          <p15:clr>
            <a:srgbClr val="F26B43"/>
          </p15:clr>
        </p15:guide>
        <p15:guide id="5" pos="636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png"/><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5.tiff"/></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hyperlink" Target="http://www.alexmoehring.com/" TargetMode="Externa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image" Target="../media/image13.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4EA7F14-B9DE-164B-9F38-47D5668D2586}"/>
              </a:ext>
            </a:extLst>
          </p:cNvPr>
          <p:cNvSpPr>
            <a:spLocks noGrp="1"/>
          </p:cNvSpPr>
          <p:nvPr>
            <p:ph type="ctrTitle"/>
          </p:nvPr>
        </p:nvSpPr>
        <p:spPr>
          <a:xfrm>
            <a:off x="2647198" y="1501742"/>
            <a:ext cx="7547389" cy="664797"/>
          </a:xfrm>
        </p:spPr>
        <p:txBody>
          <a:bodyPr/>
          <a:lstStyle/>
          <a:p>
            <a:r>
              <a:rPr lang="en-US" sz="4800" b="0" dirty="0">
                <a:latin typeface="Franklin Gothic Medium" panose="020B0603020102020204" pitchFamily="34" charset="0"/>
              </a:rPr>
              <a:t>Digital product design</a:t>
            </a:r>
          </a:p>
        </p:txBody>
      </p:sp>
      <p:sp>
        <p:nvSpPr>
          <p:cNvPr id="3" name="Subtitle">
            <a:extLst>
              <a:ext uri="{FF2B5EF4-FFF2-40B4-BE49-F238E27FC236}">
                <a16:creationId xmlns:a16="http://schemas.microsoft.com/office/drawing/2014/main" id="{25E23969-B503-C04E-9B40-020A6AB945EA}"/>
              </a:ext>
            </a:extLst>
          </p:cNvPr>
          <p:cNvSpPr>
            <a:spLocks noGrp="1"/>
          </p:cNvSpPr>
          <p:nvPr>
            <p:ph type="subTitle" idx="1"/>
          </p:nvPr>
        </p:nvSpPr>
        <p:spPr>
          <a:xfrm>
            <a:off x="2647198" y="2909686"/>
            <a:ext cx="6801603" cy="1272143"/>
          </a:xfrm>
        </p:spPr>
        <p:txBody>
          <a:bodyPr/>
          <a:lstStyle/>
          <a:p>
            <a:r>
              <a:rPr lang="en-US" b="0" dirty="0">
                <a:latin typeface="Franklin Gothic Medium" panose="020B0603020102020204" pitchFamily="34" charset="0"/>
              </a:rPr>
              <a:t>Lecture 1: Introduction and Course Overview</a:t>
            </a:r>
          </a:p>
          <a:p>
            <a:endParaRPr lang="en-US" b="0" dirty="0">
              <a:latin typeface="Franklin Gothic Medium" panose="020B0603020102020204" pitchFamily="34" charset="0"/>
            </a:endParaRPr>
          </a:p>
          <a:p>
            <a:r>
              <a:rPr lang="en-US" b="0" dirty="0">
                <a:latin typeface="Franklin Gothic Medium" panose="020B0603020102020204" pitchFamily="34" charset="0"/>
              </a:rPr>
              <a:t>Alex Moehring</a:t>
            </a:r>
          </a:p>
        </p:txBody>
      </p:sp>
      <p:sp>
        <p:nvSpPr>
          <p:cNvPr id="4" name="Date">
            <a:extLst>
              <a:ext uri="{FF2B5EF4-FFF2-40B4-BE49-F238E27FC236}">
                <a16:creationId xmlns:a16="http://schemas.microsoft.com/office/drawing/2014/main" id="{7488F1B0-19AE-FE4B-A8CD-0F44AB281CC5}"/>
              </a:ext>
            </a:extLst>
          </p:cNvPr>
          <p:cNvSpPr>
            <a:spLocks noGrp="1"/>
          </p:cNvSpPr>
          <p:nvPr>
            <p:ph type="dt" sz="half" idx="10"/>
          </p:nvPr>
        </p:nvSpPr>
        <p:spPr/>
        <p:txBody>
          <a:bodyPr/>
          <a:lstStyle/>
          <a:p>
            <a:fld id="{D47A9A36-4EB0-BF46-AE48-7CDA251B954B}" type="datetime1">
              <a:rPr lang="en-US" smtClean="0"/>
              <a:pPr/>
              <a:t>10/27/2025</a:t>
            </a:fld>
            <a:endParaRPr lang="en-US" dirty="0"/>
          </a:p>
        </p:txBody>
      </p:sp>
      <p:sp>
        <p:nvSpPr>
          <p:cNvPr id="5" name="Slide Number">
            <a:extLst>
              <a:ext uri="{FF2B5EF4-FFF2-40B4-BE49-F238E27FC236}">
                <a16:creationId xmlns:a16="http://schemas.microsoft.com/office/drawing/2014/main" id="{FFCAA48C-2045-8749-8754-B722B9DB8A5C}"/>
              </a:ext>
            </a:extLst>
          </p:cNvPr>
          <p:cNvSpPr>
            <a:spLocks noGrp="1"/>
          </p:cNvSpPr>
          <p:nvPr>
            <p:ph type="sldNum" sz="quarter" idx="12"/>
          </p:nvPr>
        </p:nvSpPr>
        <p:spPr/>
        <p:txBody>
          <a:bodyPr/>
          <a:lstStyle/>
          <a:p>
            <a:fld id="{8A7A6979-0714-4377-B894-6BE4C2D6E202}" type="slidenum">
              <a:rPr lang="en-US" smtClean="0"/>
              <a:pPr/>
              <a:t>1</a:t>
            </a:fld>
            <a:endParaRPr lang="en-US" dirty="0"/>
          </a:p>
        </p:txBody>
      </p:sp>
    </p:spTree>
    <p:extLst>
      <p:ext uri="{BB962C8B-B14F-4D97-AF65-F5344CB8AC3E}">
        <p14:creationId xmlns:p14="http://schemas.microsoft.com/office/powerpoint/2010/main" val="2708108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A91BE-3DE0-9C3F-087A-F7CD1F0CA4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EE36B4-877D-B8E5-24E0-43CDC4222E46}"/>
              </a:ext>
            </a:extLst>
          </p:cNvPr>
          <p:cNvSpPr>
            <a:spLocks noGrp="1"/>
          </p:cNvSpPr>
          <p:nvPr>
            <p:ph type="ctrTitle"/>
          </p:nvPr>
        </p:nvSpPr>
        <p:spPr/>
        <p:txBody>
          <a:bodyPr/>
          <a:lstStyle/>
          <a:p>
            <a:r>
              <a:rPr lang="en-US" dirty="0"/>
              <a:t>Classroom Logistics</a:t>
            </a:r>
          </a:p>
        </p:txBody>
      </p:sp>
      <p:sp>
        <p:nvSpPr>
          <p:cNvPr id="4" name="Text Placeholder 3">
            <a:extLst>
              <a:ext uri="{FF2B5EF4-FFF2-40B4-BE49-F238E27FC236}">
                <a16:creationId xmlns:a16="http://schemas.microsoft.com/office/drawing/2014/main" id="{54175B53-6506-346E-2A89-AD221024D778}"/>
              </a:ext>
            </a:extLst>
          </p:cNvPr>
          <p:cNvSpPr>
            <a:spLocks noGrp="1"/>
          </p:cNvSpPr>
          <p:nvPr>
            <p:ph type="body" sz="quarter" idx="14"/>
          </p:nvPr>
        </p:nvSpPr>
        <p:spPr>
          <a:xfrm>
            <a:off x="1828800" y="1571625"/>
            <a:ext cx="8755380" cy="3757301"/>
          </a:xfrm>
        </p:spPr>
        <p:txBody>
          <a:bodyPr>
            <a:normAutofit/>
          </a:bodyPr>
          <a:lstStyle/>
          <a:p>
            <a:r>
              <a:rPr lang="en-US" sz="2400" dirty="0"/>
              <a:t>Participation: </a:t>
            </a:r>
          </a:p>
          <a:p>
            <a:pPr lvl="1"/>
            <a:r>
              <a:rPr lang="en-US" sz="2400" dirty="0"/>
              <a:t>Press and hold microphone for in class participants</a:t>
            </a:r>
          </a:p>
          <a:p>
            <a:pPr lvl="1"/>
            <a:r>
              <a:rPr lang="en-US" sz="2400" dirty="0"/>
              <a:t>Virtual participants raise your zoom hand</a:t>
            </a:r>
          </a:p>
          <a:p>
            <a:pPr lvl="2"/>
            <a:r>
              <a:rPr lang="en-US" sz="2400" dirty="0"/>
              <a:t>Chat will not be monitored</a:t>
            </a:r>
          </a:p>
          <a:p>
            <a:pPr lvl="1"/>
            <a:endParaRPr lang="en-US" sz="2400" dirty="0"/>
          </a:p>
          <a:p>
            <a:pPr marL="0" indent="0">
              <a:buNone/>
            </a:pPr>
            <a:endParaRPr lang="en-US" sz="2400" dirty="0"/>
          </a:p>
        </p:txBody>
      </p:sp>
      <p:sp>
        <p:nvSpPr>
          <p:cNvPr id="5" name="Date Placeholder 4">
            <a:extLst>
              <a:ext uri="{FF2B5EF4-FFF2-40B4-BE49-F238E27FC236}">
                <a16:creationId xmlns:a16="http://schemas.microsoft.com/office/drawing/2014/main" id="{94C16404-2372-0160-B1E4-0FA07F17C405}"/>
              </a:ext>
            </a:extLst>
          </p:cNvPr>
          <p:cNvSpPr>
            <a:spLocks noGrp="1"/>
          </p:cNvSpPr>
          <p:nvPr>
            <p:ph type="dt" sz="half" idx="10"/>
          </p:nvPr>
        </p:nvSpPr>
        <p:spPr/>
        <p:txBody>
          <a:bodyPr/>
          <a:lstStyle/>
          <a:p>
            <a:fld id="{D47A9A36-4EB0-BF46-AE48-7CDA251B954B}" type="datetime1">
              <a:rPr lang="en-US" smtClean="0"/>
              <a:t>10/27/2025</a:t>
            </a:fld>
            <a:endParaRPr lang="en-US" dirty="0"/>
          </a:p>
        </p:txBody>
      </p:sp>
      <p:sp>
        <p:nvSpPr>
          <p:cNvPr id="6" name="Slide Number Placeholder 5">
            <a:extLst>
              <a:ext uri="{FF2B5EF4-FFF2-40B4-BE49-F238E27FC236}">
                <a16:creationId xmlns:a16="http://schemas.microsoft.com/office/drawing/2014/main" id="{1DB0BF96-FB46-5497-7F47-0719B43099D5}"/>
              </a:ext>
            </a:extLst>
          </p:cNvPr>
          <p:cNvSpPr>
            <a:spLocks noGrp="1"/>
          </p:cNvSpPr>
          <p:nvPr>
            <p:ph type="sldNum" sz="quarter" idx="12"/>
          </p:nvPr>
        </p:nvSpPr>
        <p:spPr/>
        <p:txBody>
          <a:bodyPr/>
          <a:lstStyle/>
          <a:p>
            <a:fld id="{8A7A6979-0714-4377-B894-6BE4C2D6E202}" type="slidenum">
              <a:rPr lang="en-US" smtClean="0"/>
              <a:pPr/>
              <a:t>2</a:t>
            </a:fld>
            <a:endParaRPr lang="en-US" dirty="0"/>
          </a:p>
        </p:txBody>
      </p:sp>
    </p:spTree>
    <p:extLst>
      <p:ext uri="{BB962C8B-B14F-4D97-AF65-F5344CB8AC3E}">
        <p14:creationId xmlns:p14="http://schemas.microsoft.com/office/powerpoint/2010/main" val="10581821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8191D-8711-7850-BDA2-AD5BDAA452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0A4EE6-C36F-1AD9-342D-8CFE6D39C843}"/>
              </a:ext>
            </a:extLst>
          </p:cNvPr>
          <p:cNvSpPr>
            <a:spLocks noGrp="1"/>
          </p:cNvSpPr>
          <p:nvPr>
            <p:ph type="ctrTitle"/>
          </p:nvPr>
        </p:nvSpPr>
        <p:spPr/>
        <p:txBody>
          <a:bodyPr/>
          <a:lstStyle/>
          <a:p>
            <a:r>
              <a:rPr lang="en-US" dirty="0"/>
              <a:t>Attendance</a:t>
            </a:r>
          </a:p>
        </p:txBody>
      </p:sp>
      <p:sp>
        <p:nvSpPr>
          <p:cNvPr id="4" name="Text Placeholder 3">
            <a:extLst>
              <a:ext uri="{FF2B5EF4-FFF2-40B4-BE49-F238E27FC236}">
                <a16:creationId xmlns:a16="http://schemas.microsoft.com/office/drawing/2014/main" id="{70D77C1C-4EC0-40D4-EB28-4AB546B2B108}"/>
              </a:ext>
            </a:extLst>
          </p:cNvPr>
          <p:cNvSpPr>
            <a:spLocks noGrp="1"/>
          </p:cNvSpPr>
          <p:nvPr>
            <p:ph type="body" sz="quarter" idx="14"/>
          </p:nvPr>
        </p:nvSpPr>
        <p:spPr>
          <a:xfrm>
            <a:off x="1828800" y="1610139"/>
            <a:ext cx="8755380" cy="3718787"/>
          </a:xfrm>
        </p:spPr>
        <p:txBody>
          <a:bodyPr>
            <a:normAutofit fontScale="92500" lnSpcReduction="10000"/>
          </a:bodyPr>
          <a:lstStyle/>
          <a:p>
            <a:r>
              <a:rPr lang="en-US" sz="2400" dirty="0"/>
              <a:t>Classroom has limited capacity and you have heterogeneous preferences</a:t>
            </a:r>
          </a:p>
          <a:p>
            <a:endParaRPr lang="en-US" sz="2400" dirty="0"/>
          </a:p>
          <a:p>
            <a:r>
              <a:rPr lang="en-US" sz="2400" dirty="0"/>
              <a:t>I will send a Brightspace survey asking your preferred modality</a:t>
            </a:r>
          </a:p>
          <a:p>
            <a:endParaRPr lang="en-US" sz="2400" dirty="0"/>
          </a:p>
          <a:p>
            <a:r>
              <a:rPr lang="en-US" sz="2400" dirty="0"/>
              <a:t>I have to give MBT students priority given this is a required course</a:t>
            </a:r>
          </a:p>
          <a:p>
            <a:pPr lvl="1"/>
            <a:r>
              <a:rPr lang="en-US" sz="2400" dirty="0"/>
              <a:t>I will randomly allocate remaining in-person seats to those wanting to attend in person</a:t>
            </a:r>
          </a:p>
          <a:p>
            <a:endParaRPr lang="en-US" sz="2400" dirty="0"/>
          </a:p>
          <a:p>
            <a:r>
              <a:rPr lang="en-US" sz="2400" dirty="0"/>
              <a:t>Goal is to allocate spots in classroom to those who prefer to attend in person</a:t>
            </a:r>
          </a:p>
        </p:txBody>
      </p:sp>
      <p:sp>
        <p:nvSpPr>
          <p:cNvPr id="5" name="Date Placeholder 4">
            <a:extLst>
              <a:ext uri="{FF2B5EF4-FFF2-40B4-BE49-F238E27FC236}">
                <a16:creationId xmlns:a16="http://schemas.microsoft.com/office/drawing/2014/main" id="{6F82ADDF-BCCD-7897-F736-57C2DF1D3B44}"/>
              </a:ext>
            </a:extLst>
          </p:cNvPr>
          <p:cNvSpPr>
            <a:spLocks noGrp="1"/>
          </p:cNvSpPr>
          <p:nvPr>
            <p:ph type="dt" sz="half" idx="10"/>
          </p:nvPr>
        </p:nvSpPr>
        <p:spPr/>
        <p:txBody>
          <a:bodyPr/>
          <a:lstStyle/>
          <a:p>
            <a:fld id="{D47A9A36-4EB0-BF46-AE48-7CDA251B954B}" type="datetime1">
              <a:rPr lang="en-US" smtClean="0"/>
              <a:t>10/27/2025</a:t>
            </a:fld>
            <a:endParaRPr lang="en-US" dirty="0"/>
          </a:p>
        </p:txBody>
      </p:sp>
      <p:sp>
        <p:nvSpPr>
          <p:cNvPr id="6" name="Slide Number Placeholder 5">
            <a:extLst>
              <a:ext uri="{FF2B5EF4-FFF2-40B4-BE49-F238E27FC236}">
                <a16:creationId xmlns:a16="http://schemas.microsoft.com/office/drawing/2014/main" id="{8A6963B1-94FB-FF0A-C7F4-85EFBB2FD0FA}"/>
              </a:ext>
            </a:extLst>
          </p:cNvPr>
          <p:cNvSpPr>
            <a:spLocks noGrp="1"/>
          </p:cNvSpPr>
          <p:nvPr>
            <p:ph type="sldNum" sz="quarter" idx="12"/>
          </p:nvPr>
        </p:nvSpPr>
        <p:spPr/>
        <p:txBody>
          <a:bodyPr/>
          <a:lstStyle/>
          <a:p>
            <a:fld id="{8A7A6979-0714-4377-B894-6BE4C2D6E202}" type="slidenum">
              <a:rPr lang="en-US" smtClean="0"/>
              <a:pPr/>
              <a:t>3</a:t>
            </a:fld>
            <a:endParaRPr lang="en-US" dirty="0"/>
          </a:p>
        </p:txBody>
      </p:sp>
    </p:spTree>
    <p:extLst>
      <p:ext uri="{BB962C8B-B14F-4D97-AF65-F5344CB8AC3E}">
        <p14:creationId xmlns:p14="http://schemas.microsoft.com/office/powerpoint/2010/main" val="6724574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9E34F-C333-85BA-43F6-6FA20D0D9B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DBE4B1-8422-E075-BEF0-8537112E3464}"/>
              </a:ext>
            </a:extLst>
          </p:cNvPr>
          <p:cNvSpPr>
            <a:spLocks noGrp="1"/>
          </p:cNvSpPr>
          <p:nvPr>
            <p:ph type="ctrTitle"/>
          </p:nvPr>
        </p:nvSpPr>
        <p:spPr/>
        <p:txBody>
          <a:bodyPr/>
          <a:lstStyle/>
          <a:p>
            <a:r>
              <a:rPr lang="en-US" dirty="0"/>
              <a:t>Outline</a:t>
            </a:r>
          </a:p>
        </p:txBody>
      </p:sp>
      <p:sp>
        <p:nvSpPr>
          <p:cNvPr id="4" name="Text Placeholder 3">
            <a:extLst>
              <a:ext uri="{FF2B5EF4-FFF2-40B4-BE49-F238E27FC236}">
                <a16:creationId xmlns:a16="http://schemas.microsoft.com/office/drawing/2014/main" id="{2E76B157-DAEE-798A-F912-B383F108F044}"/>
              </a:ext>
            </a:extLst>
          </p:cNvPr>
          <p:cNvSpPr>
            <a:spLocks noGrp="1"/>
          </p:cNvSpPr>
          <p:nvPr>
            <p:ph type="body" sz="quarter" idx="14"/>
          </p:nvPr>
        </p:nvSpPr>
        <p:spPr>
          <a:xfrm>
            <a:off x="1828800" y="1571625"/>
            <a:ext cx="8755380" cy="3757301"/>
          </a:xfrm>
        </p:spPr>
        <p:txBody>
          <a:bodyPr>
            <a:normAutofit/>
          </a:bodyPr>
          <a:lstStyle/>
          <a:p>
            <a:r>
              <a:rPr lang="en-US" sz="2400" dirty="0"/>
              <a:t>Motivation</a:t>
            </a:r>
          </a:p>
          <a:p>
            <a:pPr lvl="1"/>
            <a:r>
              <a:rPr lang="en-US" sz="2400" dirty="0"/>
              <a:t>What is different about digital products?</a:t>
            </a:r>
          </a:p>
          <a:p>
            <a:endParaRPr lang="en-US" sz="2400" dirty="0"/>
          </a:p>
          <a:p>
            <a:r>
              <a:rPr lang="en-US" sz="2400" dirty="0"/>
              <a:t>Overview of course, what course is and is not</a:t>
            </a:r>
          </a:p>
          <a:p>
            <a:endParaRPr lang="en-US" sz="2400" dirty="0"/>
          </a:p>
          <a:p>
            <a:r>
              <a:rPr lang="en-US" sz="2400" dirty="0"/>
              <a:t>Details of course</a:t>
            </a:r>
          </a:p>
          <a:p>
            <a:endParaRPr lang="en-US" sz="2400" dirty="0"/>
          </a:p>
          <a:p>
            <a:r>
              <a:rPr lang="en-US" sz="2400" dirty="0"/>
              <a:t>Introductions</a:t>
            </a:r>
          </a:p>
          <a:p>
            <a:pPr marL="0" indent="0">
              <a:buNone/>
            </a:pPr>
            <a:endParaRPr lang="en-US" sz="2400" dirty="0"/>
          </a:p>
        </p:txBody>
      </p:sp>
      <p:sp>
        <p:nvSpPr>
          <p:cNvPr id="5" name="Date Placeholder 4">
            <a:extLst>
              <a:ext uri="{FF2B5EF4-FFF2-40B4-BE49-F238E27FC236}">
                <a16:creationId xmlns:a16="http://schemas.microsoft.com/office/drawing/2014/main" id="{F12C2BA6-46C3-2D93-8EE2-3E1BB50173F2}"/>
              </a:ext>
            </a:extLst>
          </p:cNvPr>
          <p:cNvSpPr>
            <a:spLocks noGrp="1"/>
          </p:cNvSpPr>
          <p:nvPr>
            <p:ph type="dt" sz="half" idx="10"/>
          </p:nvPr>
        </p:nvSpPr>
        <p:spPr/>
        <p:txBody>
          <a:bodyPr/>
          <a:lstStyle/>
          <a:p>
            <a:fld id="{D47A9A36-4EB0-BF46-AE48-7CDA251B954B}" type="datetime1">
              <a:rPr lang="en-US" smtClean="0"/>
              <a:t>10/27/2025</a:t>
            </a:fld>
            <a:endParaRPr lang="en-US" dirty="0"/>
          </a:p>
        </p:txBody>
      </p:sp>
      <p:sp>
        <p:nvSpPr>
          <p:cNvPr id="6" name="Slide Number Placeholder 5">
            <a:extLst>
              <a:ext uri="{FF2B5EF4-FFF2-40B4-BE49-F238E27FC236}">
                <a16:creationId xmlns:a16="http://schemas.microsoft.com/office/drawing/2014/main" id="{603A5610-B5DA-E938-FD8F-EF745798C81A}"/>
              </a:ext>
            </a:extLst>
          </p:cNvPr>
          <p:cNvSpPr>
            <a:spLocks noGrp="1"/>
          </p:cNvSpPr>
          <p:nvPr>
            <p:ph type="sldNum" sz="quarter" idx="12"/>
          </p:nvPr>
        </p:nvSpPr>
        <p:spPr/>
        <p:txBody>
          <a:bodyPr/>
          <a:lstStyle/>
          <a:p>
            <a:fld id="{8A7A6979-0714-4377-B894-6BE4C2D6E202}" type="slidenum">
              <a:rPr lang="en-US" smtClean="0"/>
              <a:pPr/>
              <a:t>4</a:t>
            </a:fld>
            <a:endParaRPr lang="en-US" dirty="0"/>
          </a:p>
        </p:txBody>
      </p:sp>
    </p:spTree>
    <p:extLst>
      <p:ext uri="{BB962C8B-B14F-4D97-AF65-F5344CB8AC3E}">
        <p14:creationId xmlns:p14="http://schemas.microsoft.com/office/powerpoint/2010/main" val="5557752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72BD0-0429-3448-AF88-85B4774FB2C5}"/>
              </a:ext>
            </a:extLst>
          </p:cNvPr>
          <p:cNvSpPr>
            <a:spLocks noGrp="1"/>
          </p:cNvSpPr>
          <p:nvPr>
            <p:ph type="ctrTitle"/>
          </p:nvPr>
        </p:nvSpPr>
        <p:spPr>
          <a:xfrm>
            <a:off x="2647199" y="1501742"/>
            <a:ext cx="6801602" cy="1329595"/>
          </a:xfrm>
        </p:spPr>
        <p:txBody>
          <a:bodyPr/>
          <a:lstStyle/>
          <a:p>
            <a:r>
              <a:rPr lang="en-US" dirty="0"/>
              <a:t>Introduction to digital products</a:t>
            </a:r>
          </a:p>
        </p:txBody>
      </p:sp>
      <p:sp>
        <p:nvSpPr>
          <p:cNvPr id="4" name="Date Placeholder 3">
            <a:extLst>
              <a:ext uri="{FF2B5EF4-FFF2-40B4-BE49-F238E27FC236}">
                <a16:creationId xmlns:a16="http://schemas.microsoft.com/office/drawing/2014/main" id="{392F96BD-670E-514F-A5F2-973DF3CCAB38}"/>
              </a:ext>
            </a:extLst>
          </p:cNvPr>
          <p:cNvSpPr>
            <a:spLocks noGrp="1"/>
          </p:cNvSpPr>
          <p:nvPr>
            <p:ph type="dt" sz="half" idx="10"/>
          </p:nvPr>
        </p:nvSpPr>
        <p:spPr/>
        <p:txBody>
          <a:bodyPr/>
          <a:lstStyle/>
          <a:p>
            <a:fld id="{D47A9A36-4EB0-BF46-AE48-7CDA251B954B}" type="datetime1">
              <a:rPr lang="en-US" smtClean="0"/>
              <a:pPr/>
              <a:t>10/27/2025</a:t>
            </a:fld>
            <a:endParaRPr lang="en-US" dirty="0"/>
          </a:p>
        </p:txBody>
      </p:sp>
      <p:sp>
        <p:nvSpPr>
          <p:cNvPr id="5" name="Slide Number Placeholder 4">
            <a:extLst>
              <a:ext uri="{FF2B5EF4-FFF2-40B4-BE49-F238E27FC236}">
                <a16:creationId xmlns:a16="http://schemas.microsoft.com/office/drawing/2014/main" id="{058CC335-C19F-384A-BAA8-CB7EC492ADEB}"/>
              </a:ext>
            </a:extLst>
          </p:cNvPr>
          <p:cNvSpPr>
            <a:spLocks noGrp="1"/>
          </p:cNvSpPr>
          <p:nvPr>
            <p:ph type="sldNum" sz="quarter" idx="12"/>
          </p:nvPr>
        </p:nvSpPr>
        <p:spPr/>
        <p:txBody>
          <a:bodyPr/>
          <a:lstStyle/>
          <a:p>
            <a:fld id="{8A7A6979-0714-4377-B894-6BE4C2D6E202}" type="slidenum">
              <a:rPr lang="en-US" smtClean="0"/>
              <a:pPr/>
              <a:t>5</a:t>
            </a:fld>
            <a:endParaRPr lang="en-US" dirty="0"/>
          </a:p>
        </p:txBody>
      </p:sp>
    </p:spTree>
    <p:extLst>
      <p:ext uri="{BB962C8B-B14F-4D97-AF65-F5344CB8AC3E}">
        <p14:creationId xmlns:p14="http://schemas.microsoft.com/office/powerpoint/2010/main" val="10577802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5B040A-8B99-F271-37D1-97D53866DE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E99724-A64A-D75A-4439-D6C45661B074}"/>
              </a:ext>
            </a:extLst>
          </p:cNvPr>
          <p:cNvSpPr>
            <a:spLocks noGrp="1"/>
          </p:cNvSpPr>
          <p:nvPr>
            <p:ph type="ctrTitle"/>
          </p:nvPr>
        </p:nvSpPr>
        <p:spPr/>
        <p:txBody>
          <a:bodyPr/>
          <a:lstStyle/>
          <a:p>
            <a:r>
              <a:rPr lang="en-US" dirty="0"/>
              <a:t>Something Has Changed in the Economy</a:t>
            </a:r>
          </a:p>
        </p:txBody>
      </p:sp>
      <p:graphicFrame>
        <p:nvGraphicFramePr>
          <p:cNvPr id="8" name="Table 7" descr="Firm Market Capital Table">
            <a:extLst>
              <a:ext uri="{FF2B5EF4-FFF2-40B4-BE49-F238E27FC236}">
                <a16:creationId xmlns:a16="http://schemas.microsoft.com/office/drawing/2014/main" id="{926DDA8B-403A-CB3D-4ED3-EE7870571550}"/>
              </a:ext>
            </a:extLst>
          </p:cNvPr>
          <p:cNvGraphicFramePr>
            <a:graphicFrameLocks noGrp="1"/>
          </p:cNvGraphicFramePr>
          <p:nvPr>
            <p:extLst>
              <p:ext uri="{D42A27DB-BD31-4B8C-83A1-F6EECF244321}">
                <p14:modId xmlns:p14="http://schemas.microsoft.com/office/powerpoint/2010/main" val="3664690679"/>
              </p:ext>
            </p:extLst>
          </p:nvPr>
        </p:nvGraphicFramePr>
        <p:xfrm>
          <a:off x="2159944" y="1837266"/>
          <a:ext cx="8128000" cy="259588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739361340"/>
                    </a:ext>
                  </a:extLst>
                </a:gridCol>
                <a:gridCol w="2032000">
                  <a:extLst>
                    <a:ext uri="{9D8B030D-6E8A-4147-A177-3AD203B41FA5}">
                      <a16:colId xmlns:a16="http://schemas.microsoft.com/office/drawing/2014/main" val="2616597361"/>
                    </a:ext>
                  </a:extLst>
                </a:gridCol>
                <a:gridCol w="2032000">
                  <a:extLst>
                    <a:ext uri="{9D8B030D-6E8A-4147-A177-3AD203B41FA5}">
                      <a16:colId xmlns:a16="http://schemas.microsoft.com/office/drawing/2014/main" val="1591637098"/>
                    </a:ext>
                  </a:extLst>
                </a:gridCol>
                <a:gridCol w="2032000">
                  <a:extLst>
                    <a:ext uri="{9D8B030D-6E8A-4147-A177-3AD203B41FA5}">
                      <a16:colId xmlns:a16="http://schemas.microsoft.com/office/drawing/2014/main" val="1812824402"/>
                    </a:ext>
                  </a:extLst>
                </a:gridCol>
              </a:tblGrid>
              <a:tr h="370840">
                <a:tc>
                  <a:txBody>
                    <a:bodyPr/>
                    <a:lstStyle/>
                    <a:p>
                      <a:r>
                        <a:rPr lang="en-US" dirty="0"/>
                        <a:t>Firm</a:t>
                      </a:r>
                    </a:p>
                  </a:txBody>
                  <a:tcPr/>
                </a:tc>
                <a:tc>
                  <a:txBody>
                    <a:bodyPr/>
                    <a:lstStyle/>
                    <a:p>
                      <a:r>
                        <a:rPr lang="en-US" dirty="0"/>
                        <a:t>Year Founded</a:t>
                      </a:r>
                    </a:p>
                  </a:txBody>
                  <a:tcPr/>
                </a:tc>
                <a:tc>
                  <a:txBody>
                    <a:bodyPr/>
                    <a:lstStyle/>
                    <a:p>
                      <a:r>
                        <a:rPr lang="en-US" dirty="0"/>
                        <a:t>Employees</a:t>
                      </a:r>
                    </a:p>
                  </a:txBody>
                  <a:tcPr/>
                </a:tc>
                <a:tc>
                  <a:txBody>
                    <a:bodyPr/>
                    <a:lstStyle/>
                    <a:p>
                      <a:r>
                        <a:rPr lang="en-US" dirty="0"/>
                        <a:t>Mkt Cap</a:t>
                      </a:r>
                    </a:p>
                  </a:txBody>
                  <a:tcPr/>
                </a:tc>
                <a:extLst>
                  <a:ext uri="{0D108BD9-81ED-4DB2-BD59-A6C34878D82A}">
                    <a16:rowId xmlns:a16="http://schemas.microsoft.com/office/drawing/2014/main" val="1666737026"/>
                  </a:ext>
                </a:extLst>
              </a:tr>
              <a:tr h="370840">
                <a:tc>
                  <a:txBody>
                    <a:bodyPr/>
                    <a:lstStyle/>
                    <a:p>
                      <a:r>
                        <a:rPr lang="en-US" dirty="0"/>
                        <a:t>BMW</a:t>
                      </a:r>
                    </a:p>
                  </a:txBody>
                  <a:tcPr/>
                </a:tc>
                <a:tc>
                  <a:txBody>
                    <a:bodyPr/>
                    <a:lstStyle/>
                    <a:p>
                      <a:r>
                        <a:rPr lang="en-US" dirty="0"/>
                        <a:t>1916</a:t>
                      </a:r>
                    </a:p>
                  </a:txBody>
                  <a:tcPr/>
                </a:tc>
                <a:tc>
                  <a:txBody>
                    <a:bodyPr/>
                    <a:lstStyle/>
                    <a:p>
                      <a:r>
                        <a:rPr lang="en-US" dirty="0"/>
                        <a:t>116,000</a:t>
                      </a:r>
                    </a:p>
                  </a:txBody>
                  <a:tcPr/>
                </a:tc>
                <a:tc>
                  <a:txBody>
                    <a:bodyPr/>
                    <a:lstStyle/>
                    <a:p>
                      <a:r>
                        <a:rPr lang="en-US" dirty="0"/>
                        <a:t>$53B</a:t>
                      </a:r>
                    </a:p>
                  </a:txBody>
                  <a:tcPr/>
                </a:tc>
                <a:extLst>
                  <a:ext uri="{0D108BD9-81ED-4DB2-BD59-A6C34878D82A}">
                    <a16:rowId xmlns:a16="http://schemas.microsoft.com/office/drawing/2014/main" val="4013671704"/>
                  </a:ext>
                </a:extLst>
              </a:tr>
              <a:tr h="370840">
                <a:tc>
                  <a:txBody>
                    <a:bodyPr/>
                    <a:lstStyle/>
                    <a:p>
                      <a:r>
                        <a:rPr lang="en-US" dirty="0"/>
                        <a:t>Uber</a:t>
                      </a:r>
                    </a:p>
                  </a:txBody>
                  <a:tcPr/>
                </a:tc>
                <a:tc>
                  <a:txBody>
                    <a:bodyPr/>
                    <a:lstStyle/>
                    <a:p>
                      <a:r>
                        <a:rPr lang="en-US" dirty="0"/>
                        <a:t>2009</a:t>
                      </a:r>
                    </a:p>
                  </a:txBody>
                  <a:tcPr/>
                </a:tc>
                <a:tc>
                  <a:txBody>
                    <a:bodyPr/>
                    <a:lstStyle/>
                    <a:p>
                      <a:r>
                        <a:rPr lang="en-US" dirty="0"/>
                        <a:t>7,000</a:t>
                      </a:r>
                    </a:p>
                  </a:txBody>
                  <a:tcPr/>
                </a:tc>
                <a:tc>
                  <a:txBody>
                    <a:bodyPr/>
                    <a:lstStyle/>
                    <a:p>
                      <a:r>
                        <a:rPr lang="en-US" dirty="0"/>
                        <a:t>$78B</a:t>
                      </a:r>
                    </a:p>
                  </a:txBody>
                  <a:tcPr/>
                </a:tc>
                <a:extLst>
                  <a:ext uri="{0D108BD9-81ED-4DB2-BD59-A6C34878D82A}">
                    <a16:rowId xmlns:a16="http://schemas.microsoft.com/office/drawing/2014/main" val="2801472517"/>
                  </a:ext>
                </a:extLst>
              </a:tr>
              <a:tr h="370840">
                <a:tc>
                  <a:txBody>
                    <a:bodyPr/>
                    <a:lstStyle/>
                    <a:p>
                      <a:r>
                        <a:rPr lang="en-US" dirty="0" err="1"/>
                        <a:t>Mariott</a:t>
                      </a:r>
                      <a:endParaRPr lang="en-US" dirty="0"/>
                    </a:p>
                  </a:txBody>
                  <a:tcPr/>
                </a:tc>
                <a:tc>
                  <a:txBody>
                    <a:bodyPr/>
                    <a:lstStyle/>
                    <a:p>
                      <a:r>
                        <a:rPr lang="en-US" dirty="0"/>
                        <a:t>1927</a:t>
                      </a:r>
                    </a:p>
                  </a:txBody>
                  <a:tcPr/>
                </a:tc>
                <a:tc>
                  <a:txBody>
                    <a:bodyPr/>
                    <a:lstStyle/>
                    <a:p>
                      <a:r>
                        <a:rPr lang="en-US" dirty="0"/>
                        <a:t>200,000</a:t>
                      </a:r>
                    </a:p>
                  </a:txBody>
                  <a:tcPr/>
                </a:tc>
                <a:tc>
                  <a:txBody>
                    <a:bodyPr/>
                    <a:lstStyle/>
                    <a:p>
                      <a:r>
                        <a:rPr lang="en-US" dirty="0"/>
                        <a:t>$17B</a:t>
                      </a:r>
                    </a:p>
                  </a:txBody>
                  <a:tcPr/>
                </a:tc>
                <a:extLst>
                  <a:ext uri="{0D108BD9-81ED-4DB2-BD59-A6C34878D82A}">
                    <a16:rowId xmlns:a16="http://schemas.microsoft.com/office/drawing/2014/main" val="2094134504"/>
                  </a:ext>
                </a:extLst>
              </a:tr>
              <a:tr h="370840">
                <a:tc>
                  <a:txBody>
                    <a:bodyPr/>
                    <a:lstStyle/>
                    <a:p>
                      <a:r>
                        <a:rPr lang="en-US" dirty="0" err="1"/>
                        <a:t>AirBNB</a:t>
                      </a:r>
                      <a:endParaRPr lang="en-US" dirty="0"/>
                    </a:p>
                  </a:txBody>
                  <a:tcPr/>
                </a:tc>
                <a:tc>
                  <a:txBody>
                    <a:bodyPr/>
                    <a:lstStyle/>
                    <a:p>
                      <a:r>
                        <a:rPr lang="en-US" dirty="0"/>
                        <a:t>2008</a:t>
                      </a:r>
                    </a:p>
                  </a:txBody>
                  <a:tcPr/>
                </a:tc>
                <a:tc>
                  <a:txBody>
                    <a:bodyPr/>
                    <a:lstStyle/>
                    <a:p>
                      <a:r>
                        <a:rPr lang="en-US" dirty="0"/>
                        <a:t>5,000</a:t>
                      </a:r>
                    </a:p>
                  </a:txBody>
                  <a:tcPr/>
                </a:tc>
                <a:tc>
                  <a:txBody>
                    <a:bodyPr/>
                    <a:lstStyle/>
                    <a:p>
                      <a:r>
                        <a:rPr lang="en-US" dirty="0"/>
                        <a:t>$31B</a:t>
                      </a:r>
                    </a:p>
                  </a:txBody>
                  <a:tcPr/>
                </a:tc>
                <a:extLst>
                  <a:ext uri="{0D108BD9-81ED-4DB2-BD59-A6C34878D82A}">
                    <a16:rowId xmlns:a16="http://schemas.microsoft.com/office/drawing/2014/main" val="3290516928"/>
                  </a:ext>
                </a:extLst>
              </a:tr>
              <a:tr h="370840">
                <a:tc>
                  <a:txBody>
                    <a:bodyPr/>
                    <a:lstStyle/>
                    <a:p>
                      <a:r>
                        <a:rPr lang="en-US" dirty="0"/>
                        <a:t>Walt Disney</a:t>
                      </a:r>
                    </a:p>
                  </a:txBody>
                  <a:tcPr/>
                </a:tc>
                <a:tc>
                  <a:txBody>
                    <a:bodyPr/>
                    <a:lstStyle/>
                    <a:p>
                      <a:r>
                        <a:rPr lang="en-US" dirty="0"/>
                        <a:t>1923</a:t>
                      </a:r>
                    </a:p>
                  </a:txBody>
                  <a:tcPr/>
                </a:tc>
                <a:tc>
                  <a:txBody>
                    <a:bodyPr/>
                    <a:lstStyle/>
                    <a:p>
                      <a:r>
                        <a:rPr lang="en-US" dirty="0"/>
                        <a:t>185,000</a:t>
                      </a:r>
                    </a:p>
                  </a:txBody>
                  <a:tcPr/>
                </a:tc>
                <a:tc>
                  <a:txBody>
                    <a:bodyPr/>
                    <a:lstStyle/>
                    <a:p>
                      <a:r>
                        <a:rPr lang="en-US" dirty="0"/>
                        <a:t>$260B</a:t>
                      </a:r>
                    </a:p>
                  </a:txBody>
                  <a:tcPr/>
                </a:tc>
                <a:extLst>
                  <a:ext uri="{0D108BD9-81ED-4DB2-BD59-A6C34878D82A}">
                    <a16:rowId xmlns:a16="http://schemas.microsoft.com/office/drawing/2014/main" val="1046439713"/>
                  </a:ext>
                </a:extLst>
              </a:tr>
              <a:tr h="370840">
                <a:tc>
                  <a:txBody>
                    <a:bodyPr/>
                    <a:lstStyle/>
                    <a:p>
                      <a:r>
                        <a:rPr lang="en-US" dirty="0"/>
                        <a:t>Facebook</a:t>
                      </a:r>
                    </a:p>
                  </a:txBody>
                  <a:tcPr/>
                </a:tc>
                <a:tc>
                  <a:txBody>
                    <a:bodyPr/>
                    <a:lstStyle/>
                    <a:p>
                      <a:r>
                        <a:rPr lang="en-US" dirty="0"/>
                        <a:t>2004</a:t>
                      </a:r>
                    </a:p>
                  </a:txBody>
                  <a:tcPr/>
                </a:tc>
                <a:tc>
                  <a:txBody>
                    <a:bodyPr/>
                    <a:lstStyle/>
                    <a:p>
                      <a:r>
                        <a:rPr lang="en-US" dirty="0"/>
                        <a:t>12,691</a:t>
                      </a:r>
                    </a:p>
                  </a:txBody>
                  <a:tcPr/>
                </a:tc>
                <a:tc>
                  <a:txBody>
                    <a:bodyPr/>
                    <a:lstStyle/>
                    <a:p>
                      <a:r>
                        <a:rPr lang="en-US" dirty="0"/>
                        <a:t>$783B</a:t>
                      </a:r>
                    </a:p>
                  </a:txBody>
                  <a:tcPr/>
                </a:tc>
                <a:extLst>
                  <a:ext uri="{0D108BD9-81ED-4DB2-BD59-A6C34878D82A}">
                    <a16:rowId xmlns:a16="http://schemas.microsoft.com/office/drawing/2014/main" val="1280947068"/>
                  </a:ext>
                </a:extLst>
              </a:tr>
            </a:tbl>
          </a:graphicData>
        </a:graphic>
      </p:graphicFrame>
      <p:sp>
        <p:nvSpPr>
          <p:cNvPr id="5" name="Date Placeholder 4">
            <a:extLst>
              <a:ext uri="{FF2B5EF4-FFF2-40B4-BE49-F238E27FC236}">
                <a16:creationId xmlns:a16="http://schemas.microsoft.com/office/drawing/2014/main" id="{EB12549B-D00B-0DC7-2BF7-253A19B1EEF0}"/>
              </a:ext>
              <a:ext uri="{C183D7F6-B498-43B3-948B-1728B52AA6E4}">
                <adec:decorative xmlns:adec="http://schemas.microsoft.com/office/drawing/2017/decorative" val="1"/>
              </a:ext>
            </a:extLst>
          </p:cNvPr>
          <p:cNvSpPr>
            <a:spLocks noGrp="1"/>
          </p:cNvSpPr>
          <p:nvPr>
            <p:ph type="dt" sz="half" idx="10"/>
          </p:nvPr>
        </p:nvSpPr>
        <p:spPr/>
        <p:txBody>
          <a:bodyPr/>
          <a:lstStyle/>
          <a:p>
            <a:fld id="{D47A9A36-4EB0-BF46-AE48-7CDA251B954B}" type="datetime1">
              <a:rPr lang="en-US" smtClean="0"/>
              <a:t>10/27/2025</a:t>
            </a:fld>
            <a:endParaRPr lang="en-US" dirty="0"/>
          </a:p>
        </p:txBody>
      </p:sp>
      <p:sp>
        <p:nvSpPr>
          <p:cNvPr id="6" name="Slide Number Placeholder 5">
            <a:extLst>
              <a:ext uri="{FF2B5EF4-FFF2-40B4-BE49-F238E27FC236}">
                <a16:creationId xmlns:a16="http://schemas.microsoft.com/office/drawing/2014/main" id="{4CA918D2-6AAE-DEFF-5749-36C174479648}"/>
              </a:ext>
              <a:ext uri="{C183D7F6-B498-43B3-948B-1728B52AA6E4}">
                <adec:decorative xmlns:adec="http://schemas.microsoft.com/office/drawing/2017/decorative" val="1"/>
              </a:ext>
            </a:extLst>
          </p:cNvPr>
          <p:cNvSpPr>
            <a:spLocks noGrp="1"/>
          </p:cNvSpPr>
          <p:nvPr>
            <p:ph type="sldNum" sz="quarter" idx="12"/>
          </p:nvPr>
        </p:nvSpPr>
        <p:spPr/>
        <p:txBody>
          <a:bodyPr/>
          <a:lstStyle/>
          <a:p>
            <a:fld id="{8A7A6979-0714-4377-B894-6BE4C2D6E202}" type="slidenum">
              <a:rPr lang="en-US" smtClean="0"/>
              <a:pPr/>
              <a:t>6</a:t>
            </a:fld>
            <a:endParaRPr lang="en-US" dirty="0"/>
          </a:p>
        </p:txBody>
      </p:sp>
    </p:spTree>
    <p:extLst>
      <p:ext uri="{BB962C8B-B14F-4D97-AF65-F5344CB8AC3E}">
        <p14:creationId xmlns:p14="http://schemas.microsoft.com/office/powerpoint/2010/main" val="1689644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B2CD7-90D0-7493-EBA7-818DFAB6B9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CD05A0-B148-6A59-5AC1-50A7D08763FF}"/>
              </a:ext>
            </a:extLst>
          </p:cNvPr>
          <p:cNvSpPr>
            <a:spLocks noGrp="1"/>
          </p:cNvSpPr>
          <p:nvPr>
            <p:ph type="ctrTitle"/>
          </p:nvPr>
        </p:nvSpPr>
        <p:spPr/>
        <p:txBody>
          <a:bodyPr/>
          <a:lstStyle/>
          <a:p>
            <a:r>
              <a:rPr lang="en-US" dirty="0"/>
              <a:t>Something Has Changed in the Economy, Part 2</a:t>
            </a:r>
          </a:p>
        </p:txBody>
      </p:sp>
      <p:sp>
        <p:nvSpPr>
          <p:cNvPr id="5" name="Date Placeholder 4">
            <a:extLst>
              <a:ext uri="{FF2B5EF4-FFF2-40B4-BE49-F238E27FC236}">
                <a16:creationId xmlns:a16="http://schemas.microsoft.com/office/drawing/2014/main" id="{7F5A8C7C-6C56-2989-F7E5-68017E1E6C15}"/>
              </a:ext>
            </a:extLst>
          </p:cNvPr>
          <p:cNvSpPr>
            <a:spLocks noGrp="1"/>
          </p:cNvSpPr>
          <p:nvPr>
            <p:ph type="dt" sz="half" idx="10"/>
          </p:nvPr>
        </p:nvSpPr>
        <p:spPr/>
        <p:txBody>
          <a:bodyPr/>
          <a:lstStyle/>
          <a:p>
            <a:fld id="{D47A9A36-4EB0-BF46-AE48-7CDA251B954B}" type="datetime1">
              <a:rPr lang="en-US" smtClean="0"/>
              <a:t>10/27/2025</a:t>
            </a:fld>
            <a:endParaRPr lang="en-US" dirty="0"/>
          </a:p>
        </p:txBody>
      </p:sp>
      <p:sp>
        <p:nvSpPr>
          <p:cNvPr id="6" name="Slide Number Placeholder 5">
            <a:extLst>
              <a:ext uri="{FF2B5EF4-FFF2-40B4-BE49-F238E27FC236}">
                <a16:creationId xmlns:a16="http://schemas.microsoft.com/office/drawing/2014/main" id="{E972C2A7-2E94-942B-B690-87948242CF0C}"/>
              </a:ext>
            </a:extLst>
          </p:cNvPr>
          <p:cNvSpPr>
            <a:spLocks noGrp="1"/>
          </p:cNvSpPr>
          <p:nvPr>
            <p:ph type="sldNum" sz="quarter" idx="12"/>
          </p:nvPr>
        </p:nvSpPr>
        <p:spPr/>
        <p:txBody>
          <a:bodyPr/>
          <a:lstStyle/>
          <a:p>
            <a:fld id="{8A7A6979-0714-4377-B894-6BE4C2D6E202}" type="slidenum">
              <a:rPr lang="en-US" smtClean="0"/>
              <a:pPr/>
              <a:t>7</a:t>
            </a:fld>
            <a:endParaRPr lang="en-US" dirty="0"/>
          </a:p>
        </p:txBody>
      </p:sp>
      <p:pic>
        <p:nvPicPr>
          <p:cNvPr id="4" name="Evolution Of The Desk" descr="A short video clip demonstrating &quot;The Evolution of the Desk,&quot; showing how items that used to be found on every desk (books, calendars, phones) have moved to digital solutions (Adobe PDFs, Gmail, Zoom calls) throughout the years.">
            <a:hlinkClick r:id="" action="ppaction://media"/>
            <a:extLst>
              <a:ext uri="{FF2B5EF4-FFF2-40B4-BE49-F238E27FC236}">
                <a16:creationId xmlns:a16="http://schemas.microsoft.com/office/drawing/2014/main" id="{518DBDB2-FD57-6404-39E2-79C649C39475}"/>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800872" y="1014846"/>
            <a:ext cx="8783308" cy="4940611"/>
          </a:xfrm>
          <a:prstGeom prst="rect">
            <a:avLst/>
          </a:prstGeom>
        </p:spPr>
      </p:pic>
    </p:spTree>
    <p:extLst>
      <p:ext uri="{BB962C8B-B14F-4D97-AF65-F5344CB8AC3E}">
        <p14:creationId xmlns:p14="http://schemas.microsoft.com/office/powerpoint/2010/main" val="1021976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5009"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vol="80000">
                <p:cTn id="12" fill="hold" display="0">
                  <p:stCondLst>
                    <p:cond delay="indefinite"/>
                  </p:stCondLst>
                </p:cTn>
                <p:tgtEl>
                  <p:spTgt spid="4"/>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B6D68-6F38-8770-147F-3DE59356E0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3A0B56-03A4-9C89-2E95-DBD183D30D10}"/>
              </a:ext>
            </a:extLst>
          </p:cNvPr>
          <p:cNvSpPr>
            <a:spLocks noGrp="1"/>
          </p:cNvSpPr>
          <p:nvPr>
            <p:ph type="ctrTitle"/>
          </p:nvPr>
        </p:nvSpPr>
        <p:spPr/>
        <p:txBody>
          <a:bodyPr/>
          <a:lstStyle/>
          <a:p>
            <a:r>
              <a:rPr lang="en-US" dirty="0"/>
              <a:t>Something Has Changed in the Economy, Part 3</a:t>
            </a:r>
          </a:p>
        </p:txBody>
      </p:sp>
      <p:sp>
        <p:nvSpPr>
          <p:cNvPr id="5" name="Date Placeholder 4">
            <a:extLst>
              <a:ext uri="{FF2B5EF4-FFF2-40B4-BE49-F238E27FC236}">
                <a16:creationId xmlns:a16="http://schemas.microsoft.com/office/drawing/2014/main" id="{3443F346-A1FF-BB4C-508A-ACF0868021B3}"/>
              </a:ext>
            </a:extLst>
          </p:cNvPr>
          <p:cNvSpPr>
            <a:spLocks noGrp="1"/>
          </p:cNvSpPr>
          <p:nvPr>
            <p:ph type="dt" sz="half" idx="10"/>
          </p:nvPr>
        </p:nvSpPr>
        <p:spPr/>
        <p:txBody>
          <a:bodyPr/>
          <a:lstStyle/>
          <a:p>
            <a:fld id="{D47A9A36-4EB0-BF46-AE48-7CDA251B954B}" type="datetime1">
              <a:rPr lang="en-US" smtClean="0"/>
              <a:t>10/27/2025</a:t>
            </a:fld>
            <a:endParaRPr lang="en-US" dirty="0"/>
          </a:p>
        </p:txBody>
      </p:sp>
      <p:sp>
        <p:nvSpPr>
          <p:cNvPr id="6" name="Slide Number Placeholder 5">
            <a:extLst>
              <a:ext uri="{FF2B5EF4-FFF2-40B4-BE49-F238E27FC236}">
                <a16:creationId xmlns:a16="http://schemas.microsoft.com/office/drawing/2014/main" id="{A8FFEA7F-00F3-5B5A-06C2-AD28240040A8}"/>
              </a:ext>
            </a:extLst>
          </p:cNvPr>
          <p:cNvSpPr>
            <a:spLocks noGrp="1"/>
          </p:cNvSpPr>
          <p:nvPr>
            <p:ph type="sldNum" sz="quarter" idx="12"/>
          </p:nvPr>
        </p:nvSpPr>
        <p:spPr/>
        <p:txBody>
          <a:bodyPr/>
          <a:lstStyle/>
          <a:p>
            <a:fld id="{8A7A6979-0714-4377-B894-6BE4C2D6E202}" type="slidenum">
              <a:rPr lang="en-US" smtClean="0"/>
              <a:pPr/>
              <a:t>8</a:t>
            </a:fld>
            <a:endParaRPr lang="en-US" dirty="0"/>
          </a:p>
        </p:txBody>
      </p:sp>
      <p:pic>
        <p:nvPicPr>
          <p:cNvPr id="3" name="Picture 2" descr="An old magazine ad for RadioShack featuring various offers for items like VHS players, tape players, phones and computer accessories.">
            <a:extLst>
              <a:ext uri="{FF2B5EF4-FFF2-40B4-BE49-F238E27FC236}">
                <a16:creationId xmlns:a16="http://schemas.microsoft.com/office/drawing/2014/main" id="{6B9153FD-DF9D-3702-3AB5-9488EA78EB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0144" y="1295506"/>
            <a:ext cx="3225386" cy="4442031"/>
          </a:xfrm>
          <a:prstGeom prst="rect">
            <a:avLst/>
          </a:prstGeom>
        </p:spPr>
      </p:pic>
      <p:sp>
        <p:nvSpPr>
          <p:cNvPr id="4" name="Right Arrow 3">
            <a:extLst>
              <a:ext uri="{FF2B5EF4-FFF2-40B4-BE49-F238E27FC236}">
                <a16:creationId xmlns:a16="http://schemas.microsoft.com/office/drawing/2014/main" id="{49A0CCEE-F202-235E-15DA-7D622F8E00F9}"/>
              </a:ext>
              <a:ext uri="{C183D7F6-B498-43B3-948B-1728B52AA6E4}">
                <adec:decorative xmlns:adec="http://schemas.microsoft.com/office/drawing/2017/decorative" val="1"/>
              </a:ext>
            </a:extLst>
          </p:cNvPr>
          <p:cNvSpPr/>
          <p:nvPr/>
        </p:nvSpPr>
        <p:spPr>
          <a:xfrm>
            <a:off x="6591657" y="3229857"/>
            <a:ext cx="1491523" cy="81275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9" name="Picture 8" descr="An iPhone homescreen">
            <a:extLst>
              <a:ext uri="{FF2B5EF4-FFF2-40B4-BE49-F238E27FC236}">
                <a16:creationId xmlns:a16="http://schemas.microsoft.com/office/drawing/2014/main" id="{CB34931A-30EE-E30C-3B52-0D47887B74DD}"/>
              </a:ext>
            </a:extLst>
          </p:cNvPr>
          <p:cNvPicPr>
            <a:picLocks noChangeAspect="1"/>
          </p:cNvPicPr>
          <p:nvPr/>
        </p:nvPicPr>
        <p:blipFill>
          <a:blip r:embed="rId4"/>
          <a:stretch>
            <a:fillRect/>
          </a:stretch>
        </p:blipFill>
        <p:spPr>
          <a:xfrm>
            <a:off x="8840369" y="2204325"/>
            <a:ext cx="1538915" cy="3160696"/>
          </a:xfrm>
          <a:prstGeom prst="rect">
            <a:avLst/>
          </a:prstGeom>
        </p:spPr>
      </p:pic>
    </p:spTree>
    <p:extLst>
      <p:ext uri="{BB962C8B-B14F-4D97-AF65-F5344CB8AC3E}">
        <p14:creationId xmlns:p14="http://schemas.microsoft.com/office/powerpoint/2010/main" val="2215085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AA60F-9CD8-BEA3-B78C-476680D46C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A96A0C-0BE6-734C-CA8F-DB09011EDDFF}"/>
              </a:ext>
            </a:extLst>
          </p:cNvPr>
          <p:cNvSpPr>
            <a:spLocks noGrp="1"/>
          </p:cNvSpPr>
          <p:nvPr>
            <p:ph type="ctrTitle"/>
          </p:nvPr>
        </p:nvSpPr>
        <p:spPr/>
        <p:txBody>
          <a:bodyPr/>
          <a:lstStyle/>
          <a:p>
            <a:r>
              <a:rPr lang="en-US" dirty="0"/>
              <a:t>Something Has Changed in the Economy, Part 4</a:t>
            </a:r>
          </a:p>
        </p:txBody>
      </p:sp>
      <p:pic>
        <p:nvPicPr>
          <p:cNvPr id="8" name="Picture 7" descr="This table compares the cost of eleven devices from their original release years to their 2018 equivalents, showing that a modern smartphone combines around $1.2 million worth of technology—including GPS, video conferencing, music player, and encyclopedia functions—into a single free device.">
            <a:extLst>
              <a:ext uri="{FF2B5EF4-FFF2-40B4-BE49-F238E27FC236}">
                <a16:creationId xmlns:a16="http://schemas.microsoft.com/office/drawing/2014/main" id="{408B3DD8-105B-C938-14D6-BCCA34103F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2421" y="1289792"/>
            <a:ext cx="8711759" cy="4278415"/>
          </a:xfrm>
          <a:prstGeom prst="rect">
            <a:avLst/>
          </a:prstGeom>
        </p:spPr>
      </p:pic>
      <p:sp>
        <p:nvSpPr>
          <p:cNvPr id="10" name="TextBox 9">
            <a:extLst>
              <a:ext uri="{FF2B5EF4-FFF2-40B4-BE49-F238E27FC236}">
                <a16:creationId xmlns:a16="http://schemas.microsoft.com/office/drawing/2014/main" id="{823368BB-EA73-0EEE-6C24-4CA5F6226A57}"/>
              </a:ext>
            </a:extLst>
          </p:cNvPr>
          <p:cNvSpPr txBox="1"/>
          <p:nvPr/>
        </p:nvSpPr>
        <p:spPr>
          <a:xfrm>
            <a:off x="6521116" y="5751095"/>
            <a:ext cx="1970539" cy="369332"/>
          </a:xfrm>
          <a:prstGeom prst="rect">
            <a:avLst/>
          </a:prstGeom>
          <a:noFill/>
        </p:spPr>
        <p:txBody>
          <a:bodyPr wrap="none" rtlCol="0">
            <a:spAutoFit/>
          </a:bodyPr>
          <a:lstStyle/>
          <a:p>
            <a:r>
              <a:rPr lang="en-US" dirty="0"/>
              <a:t>Source: @</a:t>
            </a:r>
            <a:r>
              <a:rPr lang="en-US" dirty="0" err="1"/>
              <a:t>rakwong</a:t>
            </a:r>
            <a:endParaRPr lang="en-US" dirty="0"/>
          </a:p>
        </p:txBody>
      </p:sp>
      <p:sp>
        <p:nvSpPr>
          <p:cNvPr id="5" name="Date Placeholder 4">
            <a:extLst>
              <a:ext uri="{FF2B5EF4-FFF2-40B4-BE49-F238E27FC236}">
                <a16:creationId xmlns:a16="http://schemas.microsoft.com/office/drawing/2014/main" id="{DD66D508-A056-C0D3-0622-1F9D2EA1A3E1}"/>
              </a:ext>
              <a:ext uri="{C183D7F6-B498-43B3-948B-1728B52AA6E4}">
                <adec:decorative xmlns:adec="http://schemas.microsoft.com/office/drawing/2017/decorative" val="1"/>
              </a:ext>
            </a:extLst>
          </p:cNvPr>
          <p:cNvSpPr>
            <a:spLocks noGrp="1"/>
          </p:cNvSpPr>
          <p:nvPr>
            <p:ph type="dt" sz="half" idx="10"/>
          </p:nvPr>
        </p:nvSpPr>
        <p:spPr/>
        <p:txBody>
          <a:bodyPr/>
          <a:lstStyle/>
          <a:p>
            <a:fld id="{D47A9A36-4EB0-BF46-AE48-7CDA251B954B}" type="datetime1">
              <a:rPr lang="en-US" smtClean="0"/>
              <a:t>10/27/2025</a:t>
            </a:fld>
            <a:endParaRPr lang="en-US" dirty="0"/>
          </a:p>
        </p:txBody>
      </p:sp>
      <p:sp>
        <p:nvSpPr>
          <p:cNvPr id="6" name="Slide Number Placeholder 5">
            <a:extLst>
              <a:ext uri="{FF2B5EF4-FFF2-40B4-BE49-F238E27FC236}">
                <a16:creationId xmlns:a16="http://schemas.microsoft.com/office/drawing/2014/main" id="{3D34D8D5-3265-E2D6-4962-3E944436AAA7}"/>
              </a:ext>
              <a:ext uri="{C183D7F6-B498-43B3-948B-1728B52AA6E4}">
                <adec:decorative xmlns:adec="http://schemas.microsoft.com/office/drawing/2017/decorative" val="1"/>
              </a:ext>
            </a:extLst>
          </p:cNvPr>
          <p:cNvSpPr>
            <a:spLocks noGrp="1"/>
          </p:cNvSpPr>
          <p:nvPr>
            <p:ph type="sldNum" sz="quarter" idx="12"/>
          </p:nvPr>
        </p:nvSpPr>
        <p:spPr/>
        <p:txBody>
          <a:bodyPr/>
          <a:lstStyle/>
          <a:p>
            <a:fld id="{8A7A6979-0714-4377-B894-6BE4C2D6E202}" type="slidenum">
              <a:rPr lang="en-US" smtClean="0"/>
              <a:pPr/>
              <a:t>9</a:t>
            </a:fld>
            <a:endParaRPr lang="en-US" dirty="0"/>
          </a:p>
        </p:txBody>
      </p:sp>
    </p:spTree>
    <p:extLst>
      <p:ext uri="{BB962C8B-B14F-4D97-AF65-F5344CB8AC3E}">
        <p14:creationId xmlns:p14="http://schemas.microsoft.com/office/powerpoint/2010/main" val="24759433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3D9BB-E5EA-07CA-491A-F8C856EABB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64BECC-AF7A-8B50-A559-EE9FC6AF6C10}"/>
              </a:ext>
            </a:extLst>
          </p:cNvPr>
          <p:cNvSpPr>
            <a:spLocks noGrp="1"/>
          </p:cNvSpPr>
          <p:nvPr>
            <p:ph type="ctrTitle"/>
          </p:nvPr>
        </p:nvSpPr>
        <p:spPr/>
        <p:txBody>
          <a:bodyPr/>
          <a:lstStyle/>
          <a:p>
            <a:r>
              <a:rPr lang="en-US" dirty="0"/>
              <a:t>What is Different When Goods Become Digital?</a:t>
            </a:r>
          </a:p>
        </p:txBody>
      </p:sp>
      <p:sp>
        <p:nvSpPr>
          <p:cNvPr id="5" name="Date Placeholder 4">
            <a:extLst>
              <a:ext uri="{FF2B5EF4-FFF2-40B4-BE49-F238E27FC236}">
                <a16:creationId xmlns:a16="http://schemas.microsoft.com/office/drawing/2014/main" id="{707D071A-A1EF-7979-BEEA-7EDF07DF2B7F}"/>
              </a:ext>
            </a:extLst>
          </p:cNvPr>
          <p:cNvSpPr>
            <a:spLocks noGrp="1"/>
          </p:cNvSpPr>
          <p:nvPr>
            <p:ph type="dt" sz="half" idx="10"/>
          </p:nvPr>
        </p:nvSpPr>
        <p:spPr/>
        <p:txBody>
          <a:bodyPr/>
          <a:lstStyle/>
          <a:p>
            <a:fld id="{D47A9A36-4EB0-BF46-AE48-7CDA251B954B}" type="datetime1">
              <a:rPr lang="en-US" smtClean="0"/>
              <a:t>10/27/2025</a:t>
            </a:fld>
            <a:endParaRPr lang="en-US" dirty="0"/>
          </a:p>
        </p:txBody>
      </p:sp>
      <p:sp>
        <p:nvSpPr>
          <p:cNvPr id="6" name="Slide Number Placeholder 5">
            <a:extLst>
              <a:ext uri="{FF2B5EF4-FFF2-40B4-BE49-F238E27FC236}">
                <a16:creationId xmlns:a16="http://schemas.microsoft.com/office/drawing/2014/main" id="{FFF3DC56-51CB-C38E-87D8-9D11EAFE38F7}"/>
              </a:ext>
            </a:extLst>
          </p:cNvPr>
          <p:cNvSpPr>
            <a:spLocks noGrp="1"/>
          </p:cNvSpPr>
          <p:nvPr>
            <p:ph type="sldNum" sz="quarter" idx="12"/>
          </p:nvPr>
        </p:nvSpPr>
        <p:spPr/>
        <p:txBody>
          <a:bodyPr/>
          <a:lstStyle/>
          <a:p>
            <a:fld id="{8A7A6979-0714-4377-B894-6BE4C2D6E202}" type="slidenum">
              <a:rPr lang="en-US" smtClean="0"/>
              <a:pPr/>
              <a:t>10</a:t>
            </a:fld>
            <a:endParaRPr lang="en-US" dirty="0"/>
          </a:p>
        </p:txBody>
      </p:sp>
      <p:sp>
        <p:nvSpPr>
          <p:cNvPr id="7" name="Text Placeholder 6">
            <a:extLst>
              <a:ext uri="{FF2B5EF4-FFF2-40B4-BE49-F238E27FC236}">
                <a16:creationId xmlns:a16="http://schemas.microsoft.com/office/drawing/2014/main" id="{CEDA9AC2-84BE-F0BE-88F2-96D1AD8CA8BA}"/>
              </a:ext>
            </a:extLst>
          </p:cNvPr>
          <p:cNvSpPr>
            <a:spLocks noGrp="1"/>
          </p:cNvSpPr>
          <p:nvPr>
            <p:ph type="body" sz="quarter" idx="14"/>
          </p:nvPr>
        </p:nvSpPr>
        <p:spPr>
          <a:xfrm>
            <a:off x="2107520" y="1612233"/>
            <a:ext cx="7924536" cy="3953680"/>
          </a:xfrm>
        </p:spPr>
        <p:txBody>
          <a:bodyPr>
            <a:normAutofit/>
          </a:bodyPr>
          <a:lstStyle/>
          <a:p>
            <a:r>
              <a:rPr lang="en-US" sz="2400" dirty="0"/>
              <a:t>Physical goods: Atoms are costly to (re)produce</a:t>
            </a:r>
          </a:p>
          <a:p>
            <a:endParaRPr lang="en-US" sz="2400" dirty="0"/>
          </a:p>
          <a:p>
            <a:r>
              <a:rPr lang="en-US" sz="2400" dirty="0"/>
              <a:t>Digital goods: Bits are cheap to reproduce</a:t>
            </a:r>
          </a:p>
          <a:p>
            <a:pPr lvl="1"/>
            <a:r>
              <a:rPr lang="en-US" sz="2400" dirty="0"/>
              <a:t>Free, perfect, instant</a:t>
            </a:r>
          </a:p>
          <a:p>
            <a:pPr lvl="1"/>
            <a:r>
              <a:rPr lang="en-US" sz="2400" dirty="0"/>
              <a:t>Zero transportation costs</a:t>
            </a:r>
          </a:p>
          <a:p>
            <a:endParaRPr lang="en-US" sz="2400" dirty="0"/>
          </a:p>
          <a:p>
            <a:r>
              <a:rPr lang="en-US" sz="2400" dirty="0"/>
              <a:t>Implications</a:t>
            </a:r>
          </a:p>
          <a:p>
            <a:pPr lvl="1"/>
            <a:r>
              <a:rPr lang="en-US" sz="2400" dirty="0"/>
              <a:t>Costs shift to fixed rather than variable costs</a:t>
            </a:r>
          </a:p>
          <a:p>
            <a:pPr lvl="1"/>
            <a:r>
              <a:rPr lang="en-US" sz="2400" dirty="0"/>
              <a:t>Substantial economies of scale</a:t>
            </a:r>
          </a:p>
        </p:txBody>
      </p:sp>
    </p:spTree>
    <p:extLst>
      <p:ext uri="{BB962C8B-B14F-4D97-AF65-F5344CB8AC3E}">
        <p14:creationId xmlns:p14="http://schemas.microsoft.com/office/powerpoint/2010/main" val="3726395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9B20B-9266-2972-D077-29CD0AD7D0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01B286-01E9-4883-14E1-F4E8238C8387}"/>
              </a:ext>
            </a:extLst>
          </p:cNvPr>
          <p:cNvSpPr>
            <a:spLocks noGrp="1"/>
          </p:cNvSpPr>
          <p:nvPr>
            <p:ph type="ctrTitle"/>
          </p:nvPr>
        </p:nvSpPr>
        <p:spPr/>
        <p:txBody>
          <a:bodyPr/>
          <a:lstStyle/>
          <a:p>
            <a:r>
              <a:rPr lang="en-US" dirty="0"/>
              <a:t>What is Different When Goods Become Digital? Part 2</a:t>
            </a:r>
          </a:p>
        </p:txBody>
      </p:sp>
      <p:sp>
        <p:nvSpPr>
          <p:cNvPr id="7" name="Text Placeholder 6">
            <a:extLst>
              <a:ext uri="{FF2B5EF4-FFF2-40B4-BE49-F238E27FC236}">
                <a16:creationId xmlns:a16="http://schemas.microsoft.com/office/drawing/2014/main" id="{0E7F4478-5759-7FAD-1181-A4A2BEDFFC54}"/>
              </a:ext>
            </a:extLst>
          </p:cNvPr>
          <p:cNvSpPr>
            <a:spLocks noGrp="1"/>
          </p:cNvSpPr>
          <p:nvPr>
            <p:ph type="body" sz="quarter" idx="14"/>
          </p:nvPr>
        </p:nvSpPr>
        <p:spPr>
          <a:xfrm>
            <a:off x="2107520" y="1612233"/>
            <a:ext cx="7924536" cy="3953680"/>
          </a:xfrm>
        </p:spPr>
        <p:txBody>
          <a:bodyPr>
            <a:normAutofit/>
          </a:bodyPr>
          <a:lstStyle/>
          <a:p>
            <a:r>
              <a:rPr lang="en-US" sz="2400" dirty="0"/>
              <a:t>Vast data collected by user interactions with our product</a:t>
            </a:r>
          </a:p>
          <a:p>
            <a:pPr marL="457200" lvl="2" indent="0">
              <a:buNone/>
            </a:pPr>
            <a:endParaRPr lang="en-US" sz="2400" dirty="0"/>
          </a:p>
          <a:p>
            <a:r>
              <a:rPr lang="en-US" sz="2400" dirty="0"/>
              <a:t>How can we leverage this data to make better products?</a:t>
            </a:r>
          </a:p>
          <a:p>
            <a:pPr lvl="1"/>
            <a:endParaRPr lang="en-US" sz="2400" dirty="0"/>
          </a:p>
          <a:p>
            <a:r>
              <a:rPr lang="en-US" sz="2400" dirty="0"/>
              <a:t>Data are great, but need principled analysis to understand and extract insights</a:t>
            </a:r>
          </a:p>
          <a:p>
            <a:pPr lvl="1"/>
            <a:r>
              <a:rPr lang="en-US" sz="2400" dirty="0"/>
              <a:t>Expertise is often the constraint, not data</a:t>
            </a:r>
          </a:p>
        </p:txBody>
      </p:sp>
      <p:sp>
        <p:nvSpPr>
          <p:cNvPr id="5" name="Date Placeholder 4">
            <a:extLst>
              <a:ext uri="{FF2B5EF4-FFF2-40B4-BE49-F238E27FC236}">
                <a16:creationId xmlns:a16="http://schemas.microsoft.com/office/drawing/2014/main" id="{8624A49C-9FDE-01D4-36E9-6D6BBF24E502}"/>
              </a:ext>
              <a:ext uri="{C183D7F6-B498-43B3-948B-1728B52AA6E4}">
                <adec:decorative xmlns:adec="http://schemas.microsoft.com/office/drawing/2017/decorative" val="1"/>
              </a:ext>
            </a:extLst>
          </p:cNvPr>
          <p:cNvSpPr>
            <a:spLocks noGrp="1"/>
          </p:cNvSpPr>
          <p:nvPr>
            <p:ph type="dt" sz="half" idx="10"/>
          </p:nvPr>
        </p:nvSpPr>
        <p:spPr/>
        <p:txBody>
          <a:bodyPr/>
          <a:lstStyle/>
          <a:p>
            <a:fld id="{D47A9A36-4EB0-BF46-AE48-7CDA251B954B}" type="datetime1">
              <a:rPr lang="en-US" smtClean="0"/>
              <a:t>10/27/2025</a:t>
            </a:fld>
            <a:endParaRPr lang="en-US" dirty="0"/>
          </a:p>
        </p:txBody>
      </p:sp>
      <p:sp>
        <p:nvSpPr>
          <p:cNvPr id="6" name="Slide Number Placeholder 5">
            <a:extLst>
              <a:ext uri="{FF2B5EF4-FFF2-40B4-BE49-F238E27FC236}">
                <a16:creationId xmlns:a16="http://schemas.microsoft.com/office/drawing/2014/main" id="{D4C59336-B2B0-4BC9-FC3C-DD5741459F52}"/>
              </a:ext>
              <a:ext uri="{C183D7F6-B498-43B3-948B-1728B52AA6E4}">
                <adec:decorative xmlns:adec="http://schemas.microsoft.com/office/drawing/2017/decorative" val="1"/>
              </a:ext>
            </a:extLst>
          </p:cNvPr>
          <p:cNvSpPr>
            <a:spLocks noGrp="1"/>
          </p:cNvSpPr>
          <p:nvPr>
            <p:ph type="sldNum" sz="quarter" idx="12"/>
          </p:nvPr>
        </p:nvSpPr>
        <p:spPr/>
        <p:txBody>
          <a:bodyPr/>
          <a:lstStyle/>
          <a:p>
            <a:fld id="{8A7A6979-0714-4377-B894-6BE4C2D6E202}" type="slidenum">
              <a:rPr lang="en-US" smtClean="0"/>
              <a:pPr/>
              <a:t>11</a:t>
            </a:fld>
            <a:endParaRPr lang="en-US" dirty="0"/>
          </a:p>
        </p:txBody>
      </p:sp>
    </p:spTree>
    <p:extLst>
      <p:ext uri="{BB962C8B-B14F-4D97-AF65-F5344CB8AC3E}">
        <p14:creationId xmlns:p14="http://schemas.microsoft.com/office/powerpoint/2010/main" val="18298987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DA8D2-6AEE-1924-4FCE-C9CEE68A62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E326D0-0659-3582-AFE2-59991C1D4AAF}"/>
              </a:ext>
            </a:extLst>
          </p:cNvPr>
          <p:cNvSpPr>
            <a:spLocks noGrp="1"/>
          </p:cNvSpPr>
          <p:nvPr>
            <p:ph type="ctrTitle"/>
          </p:nvPr>
        </p:nvSpPr>
        <p:spPr/>
        <p:txBody>
          <a:bodyPr/>
          <a:lstStyle/>
          <a:p>
            <a:r>
              <a:rPr lang="en-US" dirty="0"/>
              <a:t>What is Different When Goods Become Digital? Part 3</a:t>
            </a:r>
          </a:p>
        </p:txBody>
      </p:sp>
      <p:sp>
        <p:nvSpPr>
          <p:cNvPr id="5" name="Date Placeholder 4">
            <a:extLst>
              <a:ext uri="{FF2B5EF4-FFF2-40B4-BE49-F238E27FC236}">
                <a16:creationId xmlns:a16="http://schemas.microsoft.com/office/drawing/2014/main" id="{2B630587-7C02-C995-5BF5-57E9FF97ECD7}"/>
              </a:ext>
            </a:extLst>
          </p:cNvPr>
          <p:cNvSpPr>
            <a:spLocks noGrp="1"/>
          </p:cNvSpPr>
          <p:nvPr>
            <p:ph type="dt" sz="half" idx="10"/>
          </p:nvPr>
        </p:nvSpPr>
        <p:spPr/>
        <p:txBody>
          <a:bodyPr/>
          <a:lstStyle/>
          <a:p>
            <a:fld id="{D47A9A36-4EB0-BF46-AE48-7CDA251B954B}" type="datetime1">
              <a:rPr lang="en-US" smtClean="0"/>
              <a:t>10/27/2025</a:t>
            </a:fld>
            <a:endParaRPr lang="en-US" dirty="0"/>
          </a:p>
        </p:txBody>
      </p:sp>
      <p:sp>
        <p:nvSpPr>
          <p:cNvPr id="6" name="Slide Number Placeholder 5">
            <a:extLst>
              <a:ext uri="{FF2B5EF4-FFF2-40B4-BE49-F238E27FC236}">
                <a16:creationId xmlns:a16="http://schemas.microsoft.com/office/drawing/2014/main" id="{E02729A9-B281-5750-CA8F-EF86098ED137}"/>
              </a:ext>
            </a:extLst>
          </p:cNvPr>
          <p:cNvSpPr>
            <a:spLocks noGrp="1"/>
          </p:cNvSpPr>
          <p:nvPr>
            <p:ph type="sldNum" sz="quarter" idx="12"/>
          </p:nvPr>
        </p:nvSpPr>
        <p:spPr/>
        <p:txBody>
          <a:bodyPr/>
          <a:lstStyle/>
          <a:p>
            <a:fld id="{8A7A6979-0714-4377-B894-6BE4C2D6E202}" type="slidenum">
              <a:rPr lang="en-US" smtClean="0"/>
              <a:pPr/>
              <a:t>12</a:t>
            </a:fld>
            <a:endParaRPr lang="en-US" dirty="0"/>
          </a:p>
        </p:txBody>
      </p:sp>
      <p:sp>
        <p:nvSpPr>
          <p:cNvPr id="7" name="Text Placeholder 6">
            <a:extLst>
              <a:ext uri="{FF2B5EF4-FFF2-40B4-BE49-F238E27FC236}">
                <a16:creationId xmlns:a16="http://schemas.microsoft.com/office/drawing/2014/main" id="{0B4E81E2-35BD-783B-BFF7-BCE8169FAFF5}"/>
              </a:ext>
            </a:extLst>
          </p:cNvPr>
          <p:cNvSpPr>
            <a:spLocks noGrp="1"/>
          </p:cNvSpPr>
          <p:nvPr>
            <p:ph type="body" sz="quarter" idx="14"/>
          </p:nvPr>
        </p:nvSpPr>
        <p:spPr>
          <a:xfrm>
            <a:off x="2107520" y="1612233"/>
            <a:ext cx="7924536" cy="3953680"/>
          </a:xfrm>
        </p:spPr>
        <p:txBody>
          <a:bodyPr>
            <a:normAutofit/>
          </a:bodyPr>
          <a:lstStyle/>
          <a:p>
            <a:pPr marL="0" indent="0">
              <a:buNone/>
            </a:pPr>
            <a:r>
              <a:rPr lang="en-US" sz="2400" dirty="0"/>
              <a:t>“If you are looking for a career where your services will be in high demand, you should find something where you provide a scarce, complementary service to something that is getting ubiquitous and cheap. So what’s getting ubiquitous and cheap? Data. And what is complementary to data? Analysis.”</a:t>
            </a:r>
          </a:p>
          <a:p>
            <a:pPr marL="0" indent="0">
              <a:buNone/>
            </a:pPr>
            <a:endParaRPr lang="en-US" sz="2400" dirty="0"/>
          </a:p>
          <a:p>
            <a:pPr>
              <a:buFontTx/>
              <a:buChar char="-"/>
            </a:pPr>
            <a:r>
              <a:rPr lang="en-US" sz="2400" dirty="0"/>
              <a:t>Hal Varian, Google Chief Economist</a:t>
            </a:r>
          </a:p>
          <a:p>
            <a:pPr>
              <a:buFontTx/>
              <a:buChar char="-"/>
            </a:pPr>
            <a:endParaRPr lang="en-US" sz="2400" dirty="0"/>
          </a:p>
          <a:p>
            <a:pPr marL="0" indent="0">
              <a:buNone/>
            </a:pPr>
            <a:r>
              <a:rPr lang="en-US" sz="2400" b="1" dirty="0"/>
              <a:t>Question: What else is getting cheap? What is the scarce complement?</a:t>
            </a:r>
          </a:p>
        </p:txBody>
      </p:sp>
    </p:spTree>
    <p:extLst>
      <p:ext uri="{BB962C8B-B14F-4D97-AF65-F5344CB8AC3E}">
        <p14:creationId xmlns:p14="http://schemas.microsoft.com/office/powerpoint/2010/main" val="1947885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CC775-681E-C154-8BFA-7590F0A4CC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D5D152-45FD-4D68-004D-D452CBB93F84}"/>
              </a:ext>
            </a:extLst>
          </p:cNvPr>
          <p:cNvSpPr>
            <a:spLocks noGrp="1"/>
          </p:cNvSpPr>
          <p:nvPr>
            <p:ph type="ctrTitle"/>
          </p:nvPr>
        </p:nvSpPr>
        <p:spPr/>
        <p:txBody>
          <a:bodyPr/>
          <a:lstStyle/>
          <a:p>
            <a:r>
              <a:rPr lang="en-US" dirty="0"/>
              <a:t>Digital Goods Are Easier to Modify / Reconfigure</a:t>
            </a:r>
          </a:p>
        </p:txBody>
      </p:sp>
      <p:sp>
        <p:nvSpPr>
          <p:cNvPr id="9" name="TextBox 8">
            <a:extLst>
              <a:ext uri="{FF2B5EF4-FFF2-40B4-BE49-F238E27FC236}">
                <a16:creationId xmlns:a16="http://schemas.microsoft.com/office/drawing/2014/main" id="{5631F8F1-51BB-1C92-B603-29FC3BC7638E}"/>
              </a:ext>
            </a:extLst>
          </p:cNvPr>
          <p:cNvSpPr txBox="1"/>
          <p:nvPr/>
        </p:nvSpPr>
        <p:spPr>
          <a:xfrm>
            <a:off x="4134678" y="1053548"/>
            <a:ext cx="3457037" cy="369332"/>
          </a:xfrm>
          <a:prstGeom prst="rect">
            <a:avLst/>
          </a:prstGeom>
          <a:noFill/>
        </p:spPr>
        <p:txBody>
          <a:bodyPr wrap="none" rtlCol="0">
            <a:spAutoFit/>
          </a:bodyPr>
          <a:lstStyle/>
          <a:p>
            <a:r>
              <a:rPr lang="en-US" dirty="0"/>
              <a:t>Twenty Different Logos for Purdue</a:t>
            </a:r>
          </a:p>
        </p:txBody>
      </p:sp>
      <p:pic>
        <p:nvPicPr>
          <p:cNvPr id="8" name="Picture 7" descr="A chart showing multiple versions of the Purdue University logo and mascot that could be sold on shirts. The logos vary from the Purdue &quot;P&quot;, the mascots Purdue Pete and the Boilermaker Special, and Purdue written in various fonts.">
            <a:extLst>
              <a:ext uri="{FF2B5EF4-FFF2-40B4-BE49-F238E27FC236}">
                <a16:creationId xmlns:a16="http://schemas.microsoft.com/office/drawing/2014/main" id="{CCFFDB97-7704-E8C4-CF99-F605A2609864}"/>
              </a:ext>
            </a:extLst>
          </p:cNvPr>
          <p:cNvPicPr>
            <a:picLocks noChangeAspect="1"/>
          </p:cNvPicPr>
          <p:nvPr/>
        </p:nvPicPr>
        <p:blipFill>
          <a:blip r:embed="rId3"/>
          <a:stretch>
            <a:fillRect/>
          </a:stretch>
        </p:blipFill>
        <p:spPr>
          <a:xfrm>
            <a:off x="2107520" y="1529074"/>
            <a:ext cx="7772400" cy="2184254"/>
          </a:xfrm>
          <a:prstGeom prst="rect">
            <a:avLst/>
          </a:prstGeom>
        </p:spPr>
      </p:pic>
      <p:sp>
        <p:nvSpPr>
          <p:cNvPr id="4" name="Text Placeholder 3">
            <a:extLst>
              <a:ext uri="{FF2B5EF4-FFF2-40B4-BE49-F238E27FC236}">
                <a16:creationId xmlns:a16="http://schemas.microsoft.com/office/drawing/2014/main" id="{54C62C4E-E256-1371-1E66-990FDDEA5BC9}"/>
              </a:ext>
            </a:extLst>
          </p:cNvPr>
          <p:cNvSpPr>
            <a:spLocks noGrp="1"/>
          </p:cNvSpPr>
          <p:nvPr>
            <p:ph type="body" sz="quarter" idx="14"/>
          </p:nvPr>
        </p:nvSpPr>
        <p:spPr>
          <a:xfrm>
            <a:off x="2259656" y="3924688"/>
            <a:ext cx="7620264" cy="1398634"/>
          </a:xfrm>
        </p:spPr>
        <p:txBody>
          <a:bodyPr>
            <a:normAutofit lnSpcReduction="10000"/>
          </a:bodyPr>
          <a:lstStyle/>
          <a:p>
            <a:pPr marL="0" indent="0">
              <a:buNone/>
            </a:pPr>
            <a:r>
              <a:rPr lang="en-US" sz="2000" b="1" dirty="0"/>
              <a:t>Question: How would you go about selecting the logo that sells best on a shirt in a physical store?</a:t>
            </a:r>
          </a:p>
          <a:p>
            <a:pPr marL="0" indent="0">
              <a:buNone/>
            </a:pPr>
            <a:endParaRPr lang="en-US" sz="2000" b="1" dirty="0"/>
          </a:p>
          <a:p>
            <a:pPr marL="0" indent="0">
              <a:buNone/>
            </a:pPr>
            <a:r>
              <a:rPr lang="en-US" sz="2000" b="1" dirty="0"/>
              <a:t>Question: How would you go about selecting the logo that sells best on a shirt in an online store?</a:t>
            </a:r>
          </a:p>
          <a:p>
            <a:pPr marL="0" indent="0">
              <a:buNone/>
            </a:pPr>
            <a:endParaRPr lang="en-US" sz="2000" b="1" dirty="0"/>
          </a:p>
        </p:txBody>
      </p:sp>
      <p:sp>
        <p:nvSpPr>
          <p:cNvPr id="5" name="Date Placeholder 4">
            <a:extLst>
              <a:ext uri="{FF2B5EF4-FFF2-40B4-BE49-F238E27FC236}">
                <a16:creationId xmlns:a16="http://schemas.microsoft.com/office/drawing/2014/main" id="{B947C125-3A9F-243E-55AC-46C64ABB3396}"/>
              </a:ext>
              <a:ext uri="{C183D7F6-B498-43B3-948B-1728B52AA6E4}">
                <adec:decorative xmlns:adec="http://schemas.microsoft.com/office/drawing/2017/decorative" val="1"/>
              </a:ext>
            </a:extLst>
          </p:cNvPr>
          <p:cNvSpPr>
            <a:spLocks noGrp="1"/>
          </p:cNvSpPr>
          <p:nvPr>
            <p:ph type="dt" sz="half" idx="10"/>
          </p:nvPr>
        </p:nvSpPr>
        <p:spPr/>
        <p:txBody>
          <a:bodyPr/>
          <a:lstStyle/>
          <a:p>
            <a:fld id="{D47A9A36-4EB0-BF46-AE48-7CDA251B954B}" type="datetime1">
              <a:rPr lang="en-US" smtClean="0"/>
              <a:t>10/27/2025</a:t>
            </a:fld>
            <a:endParaRPr lang="en-US" dirty="0"/>
          </a:p>
        </p:txBody>
      </p:sp>
      <p:sp>
        <p:nvSpPr>
          <p:cNvPr id="6" name="Slide Number Placeholder 5">
            <a:extLst>
              <a:ext uri="{FF2B5EF4-FFF2-40B4-BE49-F238E27FC236}">
                <a16:creationId xmlns:a16="http://schemas.microsoft.com/office/drawing/2014/main" id="{5004DC23-C1F1-2E1A-1D52-552FE558B77C}"/>
              </a:ext>
              <a:ext uri="{C183D7F6-B498-43B3-948B-1728B52AA6E4}">
                <adec:decorative xmlns:adec="http://schemas.microsoft.com/office/drawing/2017/decorative" val="1"/>
              </a:ext>
            </a:extLst>
          </p:cNvPr>
          <p:cNvSpPr>
            <a:spLocks noGrp="1"/>
          </p:cNvSpPr>
          <p:nvPr>
            <p:ph type="sldNum" sz="quarter" idx="12"/>
          </p:nvPr>
        </p:nvSpPr>
        <p:spPr/>
        <p:txBody>
          <a:bodyPr/>
          <a:lstStyle/>
          <a:p>
            <a:fld id="{8A7A6979-0714-4377-B894-6BE4C2D6E202}" type="slidenum">
              <a:rPr lang="en-US" smtClean="0"/>
              <a:pPr/>
              <a:t>13</a:t>
            </a:fld>
            <a:endParaRPr lang="en-US" dirty="0"/>
          </a:p>
        </p:txBody>
      </p:sp>
    </p:spTree>
    <p:extLst>
      <p:ext uri="{BB962C8B-B14F-4D97-AF65-F5344CB8AC3E}">
        <p14:creationId xmlns:p14="http://schemas.microsoft.com/office/powerpoint/2010/main" val="2716747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1034A-BA29-E469-2D98-4F3E2EEEB4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2002FC-1F75-CEB2-C53D-6D90C8C9F30C}"/>
              </a:ext>
            </a:extLst>
          </p:cNvPr>
          <p:cNvSpPr>
            <a:spLocks noGrp="1"/>
          </p:cNvSpPr>
          <p:nvPr>
            <p:ph type="ctrTitle"/>
          </p:nvPr>
        </p:nvSpPr>
        <p:spPr/>
        <p:txBody>
          <a:bodyPr/>
          <a:lstStyle/>
          <a:p>
            <a:r>
              <a:rPr lang="en-US" dirty="0"/>
              <a:t>Digital Goods Are Easy to Modify / Reconfigure</a:t>
            </a:r>
          </a:p>
        </p:txBody>
      </p:sp>
      <p:sp>
        <p:nvSpPr>
          <p:cNvPr id="7" name="Text Placeholder 6">
            <a:extLst>
              <a:ext uri="{FF2B5EF4-FFF2-40B4-BE49-F238E27FC236}">
                <a16:creationId xmlns:a16="http://schemas.microsoft.com/office/drawing/2014/main" id="{D93D60D1-4DA5-CF97-BC80-2558EFD13494}"/>
              </a:ext>
            </a:extLst>
          </p:cNvPr>
          <p:cNvSpPr>
            <a:spLocks noGrp="1"/>
          </p:cNvSpPr>
          <p:nvPr>
            <p:ph type="body" sz="quarter" idx="14"/>
          </p:nvPr>
        </p:nvSpPr>
        <p:spPr>
          <a:xfrm>
            <a:off x="2107520" y="1612233"/>
            <a:ext cx="7924536" cy="3953680"/>
          </a:xfrm>
        </p:spPr>
        <p:txBody>
          <a:bodyPr>
            <a:normAutofit/>
          </a:bodyPr>
          <a:lstStyle/>
          <a:p>
            <a:r>
              <a:rPr lang="en-US" sz="2400" dirty="0"/>
              <a:t>It is often easy to randomize what version of a digital good a user interacts with</a:t>
            </a:r>
          </a:p>
          <a:p>
            <a:pPr lvl="1"/>
            <a:r>
              <a:rPr lang="en-US" sz="2400" dirty="0"/>
              <a:t>This is an A/B test</a:t>
            </a:r>
          </a:p>
          <a:p>
            <a:endParaRPr lang="en-US" sz="2400" dirty="0"/>
          </a:p>
          <a:p>
            <a:r>
              <a:rPr lang="en-US" sz="2400" dirty="0"/>
              <a:t>We can then test empirically what version is best</a:t>
            </a:r>
          </a:p>
          <a:p>
            <a:endParaRPr lang="en-US" sz="2400" dirty="0"/>
          </a:p>
          <a:p>
            <a:r>
              <a:rPr lang="en-US" sz="2400" dirty="0"/>
              <a:t>Harder to do in an offline environment</a:t>
            </a:r>
          </a:p>
          <a:p>
            <a:endParaRPr lang="en-US" sz="2400" dirty="0"/>
          </a:p>
          <a:p>
            <a:r>
              <a:rPr lang="en-US" sz="2400" dirty="0"/>
              <a:t>In this class we will learn how to design and analyze A/B tests to improve our products</a:t>
            </a:r>
          </a:p>
        </p:txBody>
      </p:sp>
      <p:sp>
        <p:nvSpPr>
          <p:cNvPr id="5" name="Date Placeholder 4">
            <a:extLst>
              <a:ext uri="{FF2B5EF4-FFF2-40B4-BE49-F238E27FC236}">
                <a16:creationId xmlns:a16="http://schemas.microsoft.com/office/drawing/2014/main" id="{31740CBB-AEA5-5196-2AF7-0B19673BD81E}"/>
              </a:ext>
              <a:ext uri="{C183D7F6-B498-43B3-948B-1728B52AA6E4}">
                <adec:decorative xmlns:adec="http://schemas.microsoft.com/office/drawing/2017/decorative" val="1"/>
              </a:ext>
            </a:extLst>
          </p:cNvPr>
          <p:cNvSpPr>
            <a:spLocks noGrp="1"/>
          </p:cNvSpPr>
          <p:nvPr>
            <p:ph type="dt" sz="half" idx="10"/>
          </p:nvPr>
        </p:nvSpPr>
        <p:spPr/>
        <p:txBody>
          <a:bodyPr/>
          <a:lstStyle/>
          <a:p>
            <a:fld id="{D47A9A36-4EB0-BF46-AE48-7CDA251B954B}" type="datetime1">
              <a:rPr lang="en-US" smtClean="0"/>
              <a:t>10/27/2025</a:t>
            </a:fld>
            <a:endParaRPr lang="en-US" dirty="0"/>
          </a:p>
        </p:txBody>
      </p:sp>
      <p:sp>
        <p:nvSpPr>
          <p:cNvPr id="6" name="Slide Number Placeholder 5">
            <a:extLst>
              <a:ext uri="{FF2B5EF4-FFF2-40B4-BE49-F238E27FC236}">
                <a16:creationId xmlns:a16="http://schemas.microsoft.com/office/drawing/2014/main" id="{6D542B06-9875-9A46-A319-40A597B3BC2A}"/>
              </a:ext>
              <a:ext uri="{C183D7F6-B498-43B3-948B-1728B52AA6E4}">
                <adec:decorative xmlns:adec="http://schemas.microsoft.com/office/drawing/2017/decorative" val="1"/>
              </a:ext>
            </a:extLst>
          </p:cNvPr>
          <p:cNvSpPr>
            <a:spLocks noGrp="1"/>
          </p:cNvSpPr>
          <p:nvPr>
            <p:ph type="sldNum" sz="quarter" idx="12"/>
          </p:nvPr>
        </p:nvSpPr>
        <p:spPr/>
        <p:txBody>
          <a:bodyPr/>
          <a:lstStyle/>
          <a:p>
            <a:fld id="{8A7A6979-0714-4377-B894-6BE4C2D6E202}" type="slidenum">
              <a:rPr lang="en-US" smtClean="0"/>
              <a:pPr/>
              <a:t>14</a:t>
            </a:fld>
            <a:endParaRPr lang="en-US" dirty="0"/>
          </a:p>
        </p:txBody>
      </p:sp>
    </p:spTree>
    <p:extLst>
      <p:ext uri="{BB962C8B-B14F-4D97-AF65-F5344CB8AC3E}">
        <p14:creationId xmlns:p14="http://schemas.microsoft.com/office/powerpoint/2010/main" val="3887056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13637-DDAF-F6AE-13CB-A978FE00A0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6BB2C5-B4D5-20F5-8F82-D6278D2BBA4C}"/>
              </a:ext>
            </a:extLst>
          </p:cNvPr>
          <p:cNvSpPr>
            <a:spLocks noGrp="1"/>
          </p:cNvSpPr>
          <p:nvPr>
            <p:ph type="ctrTitle"/>
          </p:nvPr>
        </p:nvSpPr>
        <p:spPr>
          <a:xfrm>
            <a:off x="2647199" y="1501742"/>
            <a:ext cx="7300940" cy="664797"/>
          </a:xfrm>
        </p:spPr>
        <p:txBody>
          <a:bodyPr/>
          <a:lstStyle/>
          <a:p>
            <a:r>
              <a:rPr lang="en-US" dirty="0"/>
              <a:t>Course overview</a:t>
            </a:r>
          </a:p>
        </p:txBody>
      </p:sp>
      <p:sp>
        <p:nvSpPr>
          <p:cNvPr id="3" name="TextBox 2">
            <a:extLst>
              <a:ext uri="{FF2B5EF4-FFF2-40B4-BE49-F238E27FC236}">
                <a16:creationId xmlns:a16="http://schemas.microsoft.com/office/drawing/2014/main" id="{6387CF39-23F6-2946-37C3-5D144FE97BFA}"/>
              </a:ext>
            </a:extLst>
          </p:cNvPr>
          <p:cNvSpPr txBox="1"/>
          <p:nvPr/>
        </p:nvSpPr>
        <p:spPr>
          <a:xfrm>
            <a:off x="2647199" y="5033092"/>
            <a:ext cx="3119252" cy="646331"/>
          </a:xfrm>
          <a:prstGeom prst="rect">
            <a:avLst/>
          </a:prstGeom>
          <a:noFill/>
        </p:spPr>
        <p:txBody>
          <a:bodyPr wrap="none" rtlCol="0">
            <a:spAutoFit/>
          </a:bodyPr>
          <a:lstStyle/>
          <a:p>
            <a:r>
              <a:rPr lang="en-US" b="0" dirty="0">
                <a:solidFill>
                  <a:schemeClr val="accent4"/>
                </a:solidFill>
                <a:latin typeface="Franklin Gothic Medium" panose="020B0603020102020204" pitchFamily="34" charset="0"/>
              </a:rPr>
              <a:t>* Ulrich &amp; Eppinger Chapter 3</a:t>
            </a:r>
          </a:p>
          <a:p>
            <a:endParaRPr lang="en-US" dirty="0">
              <a:solidFill>
                <a:schemeClr val="accent4"/>
              </a:solidFill>
            </a:endParaRPr>
          </a:p>
        </p:txBody>
      </p:sp>
      <p:sp>
        <p:nvSpPr>
          <p:cNvPr id="4" name="Date Placeholder 3">
            <a:extLst>
              <a:ext uri="{FF2B5EF4-FFF2-40B4-BE49-F238E27FC236}">
                <a16:creationId xmlns:a16="http://schemas.microsoft.com/office/drawing/2014/main" id="{6996589E-1CF7-5F95-AE0F-42E39FBD703F}"/>
              </a:ext>
              <a:ext uri="{C183D7F6-B498-43B3-948B-1728B52AA6E4}">
                <adec:decorative xmlns:adec="http://schemas.microsoft.com/office/drawing/2017/decorative" val="1"/>
              </a:ext>
            </a:extLst>
          </p:cNvPr>
          <p:cNvSpPr>
            <a:spLocks noGrp="1"/>
          </p:cNvSpPr>
          <p:nvPr>
            <p:ph type="dt" sz="half" idx="10"/>
          </p:nvPr>
        </p:nvSpPr>
        <p:spPr/>
        <p:txBody>
          <a:bodyPr/>
          <a:lstStyle/>
          <a:p>
            <a:fld id="{D47A9A36-4EB0-BF46-AE48-7CDA251B954B}" type="datetime1">
              <a:rPr lang="en-US" smtClean="0"/>
              <a:pPr/>
              <a:t>10/27/2025</a:t>
            </a:fld>
            <a:endParaRPr lang="en-US" dirty="0"/>
          </a:p>
        </p:txBody>
      </p:sp>
      <p:sp>
        <p:nvSpPr>
          <p:cNvPr id="5" name="Slide Number Placeholder 4">
            <a:extLst>
              <a:ext uri="{FF2B5EF4-FFF2-40B4-BE49-F238E27FC236}">
                <a16:creationId xmlns:a16="http://schemas.microsoft.com/office/drawing/2014/main" id="{2EEA834E-A062-9BC8-EBA8-D99445F99354}"/>
              </a:ext>
              <a:ext uri="{C183D7F6-B498-43B3-948B-1728B52AA6E4}">
                <adec:decorative xmlns:adec="http://schemas.microsoft.com/office/drawing/2017/decorative" val="1"/>
              </a:ext>
            </a:extLst>
          </p:cNvPr>
          <p:cNvSpPr>
            <a:spLocks noGrp="1"/>
          </p:cNvSpPr>
          <p:nvPr>
            <p:ph type="sldNum" sz="quarter" idx="12"/>
          </p:nvPr>
        </p:nvSpPr>
        <p:spPr/>
        <p:txBody>
          <a:bodyPr/>
          <a:lstStyle/>
          <a:p>
            <a:fld id="{8A7A6979-0714-4377-B894-6BE4C2D6E202}" type="slidenum">
              <a:rPr lang="en-US" smtClean="0"/>
              <a:pPr/>
              <a:t>15</a:t>
            </a:fld>
            <a:endParaRPr lang="en-US" dirty="0"/>
          </a:p>
        </p:txBody>
      </p:sp>
    </p:spTree>
    <p:extLst>
      <p:ext uri="{BB962C8B-B14F-4D97-AF65-F5344CB8AC3E}">
        <p14:creationId xmlns:p14="http://schemas.microsoft.com/office/powerpoint/2010/main" val="3617589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8BDAF-162F-F9EB-1353-F437E4C983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FAC0C9-5BB0-3D6B-0F14-7A8549A4441E}"/>
              </a:ext>
            </a:extLst>
          </p:cNvPr>
          <p:cNvSpPr>
            <a:spLocks noGrp="1"/>
          </p:cNvSpPr>
          <p:nvPr>
            <p:ph type="ctrTitle"/>
          </p:nvPr>
        </p:nvSpPr>
        <p:spPr/>
        <p:txBody>
          <a:bodyPr/>
          <a:lstStyle/>
          <a:p>
            <a:r>
              <a:rPr lang="en-US" dirty="0"/>
              <a:t>High-Level Overview</a:t>
            </a:r>
          </a:p>
        </p:txBody>
      </p:sp>
      <p:sp>
        <p:nvSpPr>
          <p:cNvPr id="4" name="Text Placeholder 3">
            <a:extLst>
              <a:ext uri="{FF2B5EF4-FFF2-40B4-BE49-F238E27FC236}">
                <a16:creationId xmlns:a16="http://schemas.microsoft.com/office/drawing/2014/main" id="{42AB2B0D-3330-B58D-08F7-214D6B6C58C0}"/>
              </a:ext>
            </a:extLst>
          </p:cNvPr>
          <p:cNvSpPr>
            <a:spLocks noGrp="1"/>
          </p:cNvSpPr>
          <p:nvPr>
            <p:ph type="body" sz="quarter" idx="14"/>
          </p:nvPr>
        </p:nvSpPr>
        <p:spPr>
          <a:xfrm>
            <a:off x="1828800" y="1610139"/>
            <a:ext cx="8755380" cy="3718787"/>
          </a:xfrm>
        </p:spPr>
        <p:txBody>
          <a:bodyPr>
            <a:normAutofit/>
          </a:bodyPr>
          <a:lstStyle/>
          <a:p>
            <a:r>
              <a:rPr lang="en-US" sz="2400" dirty="0"/>
              <a:t>Digital products are fundamentally different from physical goods</a:t>
            </a:r>
          </a:p>
          <a:p>
            <a:pPr lvl="1"/>
            <a:r>
              <a:rPr lang="en-US" sz="2400" dirty="0"/>
              <a:t>But economic principles still apply</a:t>
            </a:r>
          </a:p>
          <a:p>
            <a:endParaRPr lang="en-US" sz="2400" dirty="0"/>
          </a:p>
          <a:p>
            <a:r>
              <a:rPr lang="en-US" sz="2400" dirty="0"/>
              <a:t>There is no magic formula to digital product design</a:t>
            </a:r>
          </a:p>
          <a:p>
            <a:pPr lvl="1"/>
            <a:r>
              <a:rPr lang="en-US" sz="2400" dirty="0"/>
              <a:t>If I could teach you how to generate and execute on a billion dollar idea, I would be a billionaire myself (I am not)</a:t>
            </a:r>
          </a:p>
          <a:p>
            <a:endParaRPr lang="en-US" sz="2400" dirty="0"/>
          </a:p>
          <a:p>
            <a:r>
              <a:rPr lang="en-US" sz="2400" dirty="0"/>
              <a:t>Focus instead on techniques to help you along in the process</a:t>
            </a:r>
          </a:p>
          <a:p>
            <a:pPr marL="0" indent="0">
              <a:buNone/>
            </a:pPr>
            <a:endParaRPr lang="en-US" sz="2400" dirty="0"/>
          </a:p>
        </p:txBody>
      </p:sp>
      <p:sp>
        <p:nvSpPr>
          <p:cNvPr id="5" name="Date Placeholder 4">
            <a:extLst>
              <a:ext uri="{FF2B5EF4-FFF2-40B4-BE49-F238E27FC236}">
                <a16:creationId xmlns:a16="http://schemas.microsoft.com/office/drawing/2014/main" id="{C6812ECE-3E83-3F14-B9C0-3A563F378F41}"/>
              </a:ext>
            </a:extLst>
          </p:cNvPr>
          <p:cNvSpPr>
            <a:spLocks noGrp="1"/>
          </p:cNvSpPr>
          <p:nvPr>
            <p:ph type="dt" sz="half" idx="10"/>
          </p:nvPr>
        </p:nvSpPr>
        <p:spPr/>
        <p:txBody>
          <a:bodyPr/>
          <a:lstStyle/>
          <a:p>
            <a:fld id="{D47A9A36-4EB0-BF46-AE48-7CDA251B954B}" type="datetime1">
              <a:rPr lang="en-US" smtClean="0"/>
              <a:t>10/27/2025</a:t>
            </a:fld>
            <a:endParaRPr lang="en-US" dirty="0"/>
          </a:p>
        </p:txBody>
      </p:sp>
      <p:sp>
        <p:nvSpPr>
          <p:cNvPr id="6" name="Slide Number Placeholder 5">
            <a:extLst>
              <a:ext uri="{FF2B5EF4-FFF2-40B4-BE49-F238E27FC236}">
                <a16:creationId xmlns:a16="http://schemas.microsoft.com/office/drawing/2014/main" id="{440DF338-62CE-DB7C-AEA0-559743622A65}"/>
              </a:ext>
            </a:extLst>
          </p:cNvPr>
          <p:cNvSpPr>
            <a:spLocks noGrp="1"/>
          </p:cNvSpPr>
          <p:nvPr>
            <p:ph type="sldNum" sz="quarter" idx="12"/>
          </p:nvPr>
        </p:nvSpPr>
        <p:spPr/>
        <p:txBody>
          <a:bodyPr/>
          <a:lstStyle/>
          <a:p>
            <a:fld id="{8A7A6979-0714-4377-B894-6BE4C2D6E202}" type="slidenum">
              <a:rPr lang="en-US" smtClean="0"/>
              <a:pPr/>
              <a:t>16</a:t>
            </a:fld>
            <a:endParaRPr lang="en-US" dirty="0"/>
          </a:p>
        </p:txBody>
      </p:sp>
    </p:spTree>
    <p:extLst>
      <p:ext uri="{BB962C8B-B14F-4D97-AF65-F5344CB8AC3E}">
        <p14:creationId xmlns:p14="http://schemas.microsoft.com/office/powerpoint/2010/main" val="23598845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DC179-3D21-CC51-EA07-1447CE0C90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B71EBD-E35F-B369-404C-A1A5EFA2A1A8}"/>
              </a:ext>
            </a:extLst>
          </p:cNvPr>
          <p:cNvSpPr>
            <a:spLocks noGrp="1"/>
          </p:cNvSpPr>
          <p:nvPr>
            <p:ph type="ctrTitle"/>
          </p:nvPr>
        </p:nvSpPr>
        <p:spPr/>
        <p:txBody>
          <a:bodyPr/>
          <a:lstStyle/>
          <a:p>
            <a:r>
              <a:rPr lang="en-US" dirty="0"/>
              <a:t>What this Course is Not</a:t>
            </a:r>
          </a:p>
        </p:txBody>
      </p:sp>
      <p:sp>
        <p:nvSpPr>
          <p:cNvPr id="4" name="Text Placeholder 3">
            <a:extLst>
              <a:ext uri="{FF2B5EF4-FFF2-40B4-BE49-F238E27FC236}">
                <a16:creationId xmlns:a16="http://schemas.microsoft.com/office/drawing/2014/main" id="{AFFBA221-40A8-708A-A14F-15C5E6514577}"/>
              </a:ext>
            </a:extLst>
          </p:cNvPr>
          <p:cNvSpPr>
            <a:spLocks noGrp="1"/>
          </p:cNvSpPr>
          <p:nvPr>
            <p:ph type="body" sz="quarter" idx="14"/>
          </p:nvPr>
        </p:nvSpPr>
        <p:spPr>
          <a:xfrm>
            <a:off x="1828800" y="1610139"/>
            <a:ext cx="8755380" cy="4239118"/>
          </a:xfrm>
        </p:spPr>
        <p:txBody>
          <a:bodyPr>
            <a:normAutofit/>
          </a:bodyPr>
          <a:lstStyle/>
          <a:p>
            <a:r>
              <a:rPr lang="en-US" sz="2400" dirty="0"/>
              <a:t>A product management course</a:t>
            </a:r>
          </a:p>
          <a:p>
            <a:pPr lvl="1"/>
            <a:r>
              <a:rPr lang="en-US" sz="2400" dirty="0"/>
              <a:t>A lot of the techniques we discuss are relevant to PMs</a:t>
            </a:r>
          </a:p>
          <a:p>
            <a:pPr lvl="1"/>
            <a:r>
              <a:rPr lang="en-US" sz="2400" dirty="0"/>
              <a:t>DevOps is a nice complement to this course</a:t>
            </a:r>
          </a:p>
          <a:p>
            <a:pPr marL="228600" lvl="1" indent="0">
              <a:buNone/>
            </a:pPr>
            <a:endParaRPr lang="en-US" sz="2400" dirty="0"/>
          </a:p>
          <a:p>
            <a:r>
              <a:rPr lang="en-US" sz="2400" dirty="0"/>
              <a:t>A course on web design</a:t>
            </a:r>
          </a:p>
          <a:p>
            <a:pPr lvl="1"/>
            <a:r>
              <a:rPr lang="en-US" sz="2400" dirty="0"/>
              <a:t>Though we will learn how to evaluate our designs</a:t>
            </a:r>
          </a:p>
          <a:p>
            <a:pPr lvl="1"/>
            <a:endParaRPr lang="en-US" sz="2400" dirty="0"/>
          </a:p>
          <a:p>
            <a:r>
              <a:rPr lang="en-US" sz="2400" dirty="0"/>
              <a:t>A course about designing physical goods using digital tools</a:t>
            </a:r>
          </a:p>
          <a:p>
            <a:pPr lvl="1"/>
            <a:r>
              <a:rPr lang="en-US" sz="2400" dirty="0"/>
              <a:t>This is not a course on CAD</a:t>
            </a:r>
          </a:p>
          <a:p>
            <a:pPr lvl="1"/>
            <a:endParaRPr lang="en-US" sz="2400" dirty="0"/>
          </a:p>
          <a:p>
            <a:endParaRPr lang="en-US" sz="2400" dirty="0"/>
          </a:p>
          <a:p>
            <a:endParaRPr lang="en-US" sz="2400" dirty="0"/>
          </a:p>
          <a:p>
            <a:endParaRPr lang="en-US" sz="2400" dirty="0"/>
          </a:p>
        </p:txBody>
      </p:sp>
      <p:sp>
        <p:nvSpPr>
          <p:cNvPr id="5" name="Date Placeholder 4">
            <a:extLst>
              <a:ext uri="{FF2B5EF4-FFF2-40B4-BE49-F238E27FC236}">
                <a16:creationId xmlns:a16="http://schemas.microsoft.com/office/drawing/2014/main" id="{FA2D87FF-C67D-D49A-FB3B-9B1EFC0BAB2C}"/>
              </a:ext>
            </a:extLst>
          </p:cNvPr>
          <p:cNvSpPr>
            <a:spLocks noGrp="1"/>
          </p:cNvSpPr>
          <p:nvPr>
            <p:ph type="dt" sz="half" idx="10"/>
          </p:nvPr>
        </p:nvSpPr>
        <p:spPr/>
        <p:txBody>
          <a:bodyPr/>
          <a:lstStyle/>
          <a:p>
            <a:fld id="{D47A9A36-4EB0-BF46-AE48-7CDA251B954B}" type="datetime1">
              <a:rPr lang="en-US" smtClean="0"/>
              <a:t>10/27/2025</a:t>
            </a:fld>
            <a:endParaRPr lang="en-US" dirty="0"/>
          </a:p>
        </p:txBody>
      </p:sp>
      <p:sp>
        <p:nvSpPr>
          <p:cNvPr id="6" name="Slide Number Placeholder 5">
            <a:extLst>
              <a:ext uri="{FF2B5EF4-FFF2-40B4-BE49-F238E27FC236}">
                <a16:creationId xmlns:a16="http://schemas.microsoft.com/office/drawing/2014/main" id="{CF20F048-651B-7CD9-CC7A-82E226940555}"/>
              </a:ext>
            </a:extLst>
          </p:cNvPr>
          <p:cNvSpPr>
            <a:spLocks noGrp="1"/>
          </p:cNvSpPr>
          <p:nvPr>
            <p:ph type="sldNum" sz="quarter" idx="12"/>
          </p:nvPr>
        </p:nvSpPr>
        <p:spPr/>
        <p:txBody>
          <a:bodyPr/>
          <a:lstStyle/>
          <a:p>
            <a:fld id="{8A7A6979-0714-4377-B894-6BE4C2D6E202}" type="slidenum">
              <a:rPr lang="en-US" smtClean="0"/>
              <a:pPr/>
              <a:t>17</a:t>
            </a:fld>
            <a:endParaRPr lang="en-US" dirty="0"/>
          </a:p>
        </p:txBody>
      </p:sp>
    </p:spTree>
    <p:extLst>
      <p:ext uri="{BB962C8B-B14F-4D97-AF65-F5344CB8AC3E}">
        <p14:creationId xmlns:p14="http://schemas.microsoft.com/office/powerpoint/2010/main" val="42796253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EE020-EBE5-F8AF-E2B1-820BF54F15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021C12-0A5F-EA33-B4C0-5862F93DAFB9}"/>
              </a:ext>
            </a:extLst>
          </p:cNvPr>
          <p:cNvSpPr>
            <a:spLocks noGrp="1"/>
          </p:cNvSpPr>
          <p:nvPr>
            <p:ph type="ctrTitle"/>
          </p:nvPr>
        </p:nvSpPr>
        <p:spPr/>
        <p:txBody>
          <a:bodyPr/>
          <a:lstStyle/>
          <a:p>
            <a:r>
              <a:rPr lang="en-US" dirty="0"/>
              <a:t>In this Course We Will Learn:</a:t>
            </a:r>
          </a:p>
        </p:txBody>
      </p:sp>
      <p:sp>
        <p:nvSpPr>
          <p:cNvPr id="4" name="Text Placeholder 3">
            <a:extLst>
              <a:ext uri="{FF2B5EF4-FFF2-40B4-BE49-F238E27FC236}">
                <a16:creationId xmlns:a16="http://schemas.microsoft.com/office/drawing/2014/main" id="{3EA697DF-ED76-A15C-490C-11084C2D89ED}"/>
              </a:ext>
            </a:extLst>
          </p:cNvPr>
          <p:cNvSpPr>
            <a:spLocks noGrp="1"/>
          </p:cNvSpPr>
          <p:nvPr>
            <p:ph type="body" sz="quarter" idx="14"/>
          </p:nvPr>
        </p:nvSpPr>
        <p:spPr>
          <a:xfrm>
            <a:off x="1828800" y="1610139"/>
            <a:ext cx="8755380" cy="3718787"/>
          </a:xfrm>
        </p:spPr>
        <p:txBody>
          <a:bodyPr>
            <a:normAutofit fontScale="92500" lnSpcReduction="20000"/>
          </a:bodyPr>
          <a:lstStyle/>
          <a:p>
            <a:r>
              <a:rPr lang="en-US" sz="2400" dirty="0"/>
              <a:t>How to generate and assess new opportunities</a:t>
            </a:r>
          </a:p>
          <a:p>
            <a:endParaRPr lang="en-US" sz="2400" dirty="0"/>
          </a:p>
          <a:p>
            <a:r>
              <a:rPr lang="en-US" sz="2400" dirty="0"/>
              <a:t>How to identify customer needs and measure what consumers value</a:t>
            </a:r>
          </a:p>
          <a:p>
            <a:endParaRPr lang="en-US" sz="2400" dirty="0"/>
          </a:p>
          <a:p>
            <a:r>
              <a:rPr lang="en-US" sz="2400" dirty="0"/>
              <a:t>How to assess the competitive landscape and price our offering</a:t>
            </a:r>
          </a:p>
          <a:p>
            <a:endParaRPr lang="en-US" sz="2400" dirty="0"/>
          </a:p>
          <a:p>
            <a:r>
              <a:rPr lang="en-US" sz="2400" dirty="0"/>
              <a:t>Launch and go-to market strategies</a:t>
            </a:r>
          </a:p>
          <a:p>
            <a:endParaRPr lang="en-US" sz="2400" dirty="0"/>
          </a:p>
          <a:p>
            <a:r>
              <a:rPr lang="en-US" sz="2400" dirty="0"/>
              <a:t>How to assess the performance of our product</a:t>
            </a:r>
          </a:p>
          <a:p>
            <a:endParaRPr lang="en-US" sz="2400" dirty="0"/>
          </a:p>
          <a:p>
            <a:r>
              <a:rPr lang="en-US" sz="2400" dirty="0"/>
              <a:t>How to continually modify and improve the product</a:t>
            </a:r>
          </a:p>
          <a:p>
            <a:endParaRPr lang="en-US" sz="2400" dirty="0"/>
          </a:p>
          <a:p>
            <a:r>
              <a:rPr lang="en-US" sz="2400" dirty="0"/>
              <a:t>How to incorporate algorithms into digital products</a:t>
            </a:r>
          </a:p>
          <a:p>
            <a:endParaRPr lang="en-US" sz="2400" dirty="0"/>
          </a:p>
        </p:txBody>
      </p:sp>
      <p:sp>
        <p:nvSpPr>
          <p:cNvPr id="5" name="Date Placeholder 4">
            <a:extLst>
              <a:ext uri="{FF2B5EF4-FFF2-40B4-BE49-F238E27FC236}">
                <a16:creationId xmlns:a16="http://schemas.microsoft.com/office/drawing/2014/main" id="{045B9124-406E-230D-BAE3-BABC1F96F59F}"/>
              </a:ext>
            </a:extLst>
          </p:cNvPr>
          <p:cNvSpPr>
            <a:spLocks noGrp="1"/>
          </p:cNvSpPr>
          <p:nvPr>
            <p:ph type="dt" sz="half" idx="10"/>
          </p:nvPr>
        </p:nvSpPr>
        <p:spPr/>
        <p:txBody>
          <a:bodyPr/>
          <a:lstStyle/>
          <a:p>
            <a:fld id="{D47A9A36-4EB0-BF46-AE48-7CDA251B954B}" type="datetime1">
              <a:rPr lang="en-US" smtClean="0"/>
              <a:t>10/27/2025</a:t>
            </a:fld>
            <a:endParaRPr lang="en-US" dirty="0"/>
          </a:p>
        </p:txBody>
      </p:sp>
      <p:sp>
        <p:nvSpPr>
          <p:cNvPr id="6" name="Slide Number Placeholder 5">
            <a:extLst>
              <a:ext uri="{FF2B5EF4-FFF2-40B4-BE49-F238E27FC236}">
                <a16:creationId xmlns:a16="http://schemas.microsoft.com/office/drawing/2014/main" id="{5E96A9CA-104C-5C52-D1A8-476C5C2ED4E3}"/>
              </a:ext>
            </a:extLst>
          </p:cNvPr>
          <p:cNvSpPr>
            <a:spLocks noGrp="1"/>
          </p:cNvSpPr>
          <p:nvPr>
            <p:ph type="sldNum" sz="quarter" idx="12"/>
          </p:nvPr>
        </p:nvSpPr>
        <p:spPr/>
        <p:txBody>
          <a:bodyPr/>
          <a:lstStyle/>
          <a:p>
            <a:fld id="{8A7A6979-0714-4377-B894-6BE4C2D6E202}" type="slidenum">
              <a:rPr lang="en-US" smtClean="0"/>
              <a:pPr/>
              <a:t>18</a:t>
            </a:fld>
            <a:endParaRPr lang="en-US" dirty="0"/>
          </a:p>
        </p:txBody>
      </p:sp>
    </p:spTree>
    <p:extLst>
      <p:ext uri="{BB962C8B-B14F-4D97-AF65-F5344CB8AC3E}">
        <p14:creationId xmlns:p14="http://schemas.microsoft.com/office/powerpoint/2010/main" val="24152401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9E9A8-B656-FC5C-EAF4-12A4CA1283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734E59-1441-3869-55A4-7166CA26509F}"/>
              </a:ext>
            </a:extLst>
          </p:cNvPr>
          <p:cNvSpPr>
            <a:spLocks noGrp="1"/>
          </p:cNvSpPr>
          <p:nvPr>
            <p:ph type="ctrTitle"/>
          </p:nvPr>
        </p:nvSpPr>
        <p:spPr/>
        <p:txBody>
          <a:bodyPr/>
          <a:lstStyle/>
          <a:p>
            <a:r>
              <a:rPr lang="en-US" dirty="0"/>
              <a:t>Designing Algorithms</a:t>
            </a:r>
          </a:p>
        </p:txBody>
      </p:sp>
      <p:sp>
        <p:nvSpPr>
          <p:cNvPr id="4" name="Text Placeholder 3">
            <a:extLst>
              <a:ext uri="{FF2B5EF4-FFF2-40B4-BE49-F238E27FC236}">
                <a16:creationId xmlns:a16="http://schemas.microsoft.com/office/drawing/2014/main" id="{2B9D23A4-B1CD-63AE-FCC8-1F0FF3C67C2D}"/>
              </a:ext>
            </a:extLst>
          </p:cNvPr>
          <p:cNvSpPr>
            <a:spLocks noGrp="1"/>
          </p:cNvSpPr>
          <p:nvPr>
            <p:ph type="body" sz="quarter" idx="14"/>
          </p:nvPr>
        </p:nvSpPr>
        <p:spPr>
          <a:xfrm>
            <a:off x="1828800" y="1610139"/>
            <a:ext cx="8755380" cy="3718787"/>
          </a:xfrm>
        </p:spPr>
        <p:txBody>
          <a:bodyPr>
            <a:normAutofit/>
          </a:bodyPr>
          <a:lstStyle/>
          <a:p>
            <a:r>
              <a:rPr lang="en-US" sz="2400" dirty="0"/>
              <a:t>Algorithms play an increasingly large role in digital products</a:t>
            </a:r>
          </a:p>
          <a:p>
            <a:pPr lvl="1"/>
            <a:r>
              <a:rPr lang="en-US" sz="2400" dirty="0"/>
              <a:t>Recommendation systems, personalization, automated decision making, human-AI collaboration, …</a:t>
            </a:r>
          </a:p>
          <a:p>
            <a:endParaRPr lang="en-US" sz="2400" dirty="0"/>
          </a:p>
          <a:p>
            <a:r>
              <a:rPr lang="en-US" sz="2400" dirty="0"/>
              <a:t>The last few lectures will be devoted to frameworks to design algorithms in digital products</a:t>
            </a:r>
          </a:p>
          <a:p>
            <a:endParaRPr lang="en-US" sz="2400" dirty="0"/>
          </a:p>
          <a:p>
            <a:r>
              <a:rPr lang="en-US" sz="2400" dirty="0"/>
              <a:t>This will emphasize recent research on the topics as we actively try to understand such new tools</a:t>
            </a:r>
          </a:p>
        </p:txBody>
      </p:sp>
      <p:sp>
        <p:nvSpPr>
          <p:cNvPr id="5" name="Date Placeholder 4">
            <a:extLst>
              <a:ext uri="{FF2B5EF4-FFF2-40B4-BE49-F238E27FC236}">
                <a16:creationId xmlns:a16="http://schemas.microsoft.com/office/drawing/2014/main" id="{BA28348F-3B87-CD99-E123-B8706B58614F}"/>
              </a:ext>
            </a:extLst>
          </p:cNvPr>
          <p:cNvSpPr>
            <a:spLocks noGrp="1"/>
          </p:cNvSpPr>
          <p:nvPr>
            <p:ph type="dt" sz="half" idx="10"/>
          </p:nvPr>
        </p:nvSpPr>
        <p:spPr/>
        <p:txBody>
          <a:bodyPr/>
          <a:lstStyle/>
          <a:p>
            <a:fld id="{D47A9A36-4EB0-BF46-AE48-7CDA251B954B}" type="datetime1">
              <a:rPr lang="en-US" smtClean="0"/>
              <a:t>10/27/2025</a:t>
            </a:fld>
            <a:endParaRPr lang="en-US" dirty="0"/>
          </a:p>
        </p:txBody>
      </p:sp>
      <p:sp>
        <p:nvSpPr>
          <p:cNvPr id="6" name="Slide Number Placeholder 5">
            <a:extLst>
              <a:ext uri="{FF2B5EF4-FFF2-40B4-BE49-F238E27FC236}">
                <a16:creationId xmlns:a16="http://schemas.microsoft.com/office/drawing/2014/main" id="{B355404A-5A62-27E8-3666-1E12C82F7ADB}"/>
              </a:ext>
            </a:extLst>
          </p:cNvPr>
          <p:cNvSpPr>
            <a:spLocks noGrp="1"/>
          </p:cNvSpPr>
          <p:nvPr>
            <p:ph type="sldNum" sz="quarter" idx="12"/>
          </p:nvPr>
        </p:nvSpPr>
        <p:spPr/>
        <p:txBody>
          <a:bodyPr/>
          <a:lstStyle/>
          <a:p>
            <a:fld id="{8A7A6979-0714-4377-B894-6BE4C2D6E202}" type="slidenum">
              <a:rPr lang="en-US" smtClean="0"/>
              <a:pPr/>
              <a:t>19</a:t>
            </a:fld>
            <a:endParaRPr lang="en-US" dirty="0"/>
          </a:p>
        </p:txBody>
      </p:sp>
    </p:spTree>
    <p:extLst>
      <p:ext uri="{BB962C8B-B14F-4D97-AF65-F5344CB8AC3E}">
        <p14:creationId xmlns:p14="http://schemas.microsoft.com/office/powerpoint/2010/main" val="32402870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E9A6B-0959-3A7F-C89D-6664A836A2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5177DE-4982-9400-C0CE-7072D48A431B}"/>
              </a:ext>
            </a:extLst>
          </p:cNvPr>
          <p:cNvSpPr>
            <a:spLocks noGrp="1"/>
          </p:cNvSpPr>
          <p:nvPr>
            <p:ph type="ctrTitle"/>
          </p:nvPr>
        </p:nvSpPr>
        <p:spPr>
          <a:xfrm>
            <a:off x="2647199" y="1501742"/>
            <a:ext cx="7300940" cy="664797"/>
          </a:xfrm>
        </p:spPr>
        <p:txBody>
          <a:bodyPr/>
          <a:lstStyle/>
          <a:p>
            <a:r>
              <a:rPr lang="en-US" dirty="0"/>
              <a:t>Course Structure</a:t>
            </a:r>
          </a:p>
        </p:txBody>
      </p:sp>
      <p:sp>
        <p:nvSpPr>
          <p:cNvPr id="3" name="TextBox 2">
            <a:extLst>
              <a:ext uri="{FF2B5EF4-FFF2-40B4-BE49-F238E27FC236}">
                <a16:creationId xmlns:a16="http://schemas.microsoft.com/office/drawing/2014/main" id="{33888C31-CD34-F8E8-EA03-6B81DBC88F27}"/>
              </a:ext>
            </a:extLst>
          </p:cNvPr>
          <p:cNvSpPr txBox="1"/>
          <p:nvPr/>
        </p:nvSpPr>
        <p:spPr>
          <a:xfrm>
            <a:off x="2647199" y="5033092"/>
            <a:ext cx="3119252" cy="646331"/>
          </a:xfrm>
          <a:prstGeom prst="rect">
            <a:avLst/>
          </a:prstGeom>
          <a:noFill/>
        </p:spPr>
        <p:txBody>
          <a:bodyPr wrap="none" rtlCol="0">
            <a:spAutoFit/>
          </a:bodyPr>
          <a:lstStyle/>
          <a:p>
            <a:r>
              <a:rPr lang="en-US" b="0" dirty="0">
                <a:solidFill>
                  <a:schemeClr val="accent4"/>
                </a:solidFill>
                <a:latin typeface="Franklin Gothic Medium" panose="020B0603020102020204" pitchFamily="34" charset="0"/>
              </a:rPr>
              <a:t>* Ulrich &amp; Eppinger Chapter 3</a:t>
            </a:r>
          </a:p>
          <a:p>
            <a:endParaRPr lang="en-US" dirty="0">
              <a:solidFill>
                <a:schemeClr val="accent4"/>
              </a:solidFill>
            </a:endParaRPr>
          </a:p>
        </p:txBody>
      </p:sp>
      <p:sp>
        <p:nvSpPr>
          <p:cNvPr id="4" name="Date Placeholder 3">
            <a:extLst>
              <a:ext uri="{FF2B5EF4-FFF2-40B4-BE49-F238E27FC236}">
                <a16:creationId xmlns:a16="http://schemas.microsoft.com/office/drawing/2014/main" id="{C086012C-3C65-F091-DDC9-2686CF7BC4BC}"/>
              </a:ext>
            </a:extLst>
          </p:cNvPr>
          <p:cNvSpPr>
            <a:spLocks noGrp="1"/>
          </p:cNvSpPr>
          <p:nvPr>
            <p:ph type="dt" sz="half" idx="10"/>
          </p:nvPr>
        </p:nvSpPr>
        <p:spPr/>
        <p:txBody>
          <a:bodyPr/>
          <a:lstStyle/>
          <a:p>
            <a:fld id="{D47A9A36-4EB0-BF46-AE48-7CDA251B954B}" type="datetime1">
              <a:rPr lang="en-US" smtClean="0"/>
              <a:pPr/>
              <a:t>10/27/2025</a:t>
            </a:fld>
            <a:endParaRPr lang="en-US" dirty="0"/>
          </a:p>
        </p:txBody>
      </p:sp>
      <p:sp>
        <p:nvSpPr>
          <p:cNvPr id="5" name="Slide Number Placeholder 4">
            <a:extLst>
              <a:ext uri="{FF2B5EF4-FFF2-40B4-BE49-F238E27FC236}">
                <a16:creationId xmlns:a16="http://schemas.microsoft.com/office/drawing/2014/main" id="{18994334-3456-DBB7-8209-B609723D7B75}"/>
              </a:ext>
            </a:extLst>
          </p:cNvPr>
          <p:cNvSpPr>
            <a:spLocks noGrp="1"/>
          </p:cNvSpPr>
          <p:nvPr>
            <p:ph type="sldNum" sz="quarter" idx="12"/>
          </p:nvPr>
        </p:nvSpPr>
        <p:spPr/>
        <p:txBody>
          <a:bodyPr/>
          <a:lstStyle/>
          <a:p>
            <a:fld id="{8A7A6979-0714-4377-B894-6BE4C2D6E202}" type="slidenum">
              <a:rPr lang="en-US" smtClean="0"/>
              <a:pPr/>
              <a:t>20</a:t>
            </a:fld>
            <a:endParaRPr lang="en-US" dirty="0"/>
          </a:p>
        </p:txBody>
      </p:sp>
    </p:spTree>
    <p:extLst>
      <p:ext uri="{BB962C8B-B14F-4D97-AF65-F5344CB8AC3E}">
        <p14:creationId xmlns:p14="http://schemas.microsoft.com/office/powerpoint/2010/main" val="15651420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FE291-A221-F911-5F20-9CA9FEFE26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75303A-6441-6692-03E1-A3BC19A93F7D}"/>
              </a:ext>
            </a:extLst>
          </p:cNvPr>
          <p:cNvSpPr>
            <a:spLocks noGrp="1"/>
          </p:cNvSpPr>
          <p:nvPr>
            <p:ph type="ctrTitle"/>
          </p:nvPr>
        </p:nvSpPr>
        <p:spPr/>
        <p:txBody>
          <a:bodyPr/>
          <a:lstStyle/>
          <a:p>
            <a:r>
              <a:rPr lang="en-US" dirty="0"/>
              <a:t>Course Format</a:t>
            </a:r>
          </a:p>
        </p:txBody>
      </p:sp>
      <p:sp>
        <p:nvSpPr>
          <p:cNvPr id="4" name="Text Placeholder 3">
            <a:extLst>
              <a:ext uri="{FF2B5EF4-FFF2-40B4-BE49-F238E27FC236}">
                <a16:creationId xmlns:a16="http://schemas.microsoft.com/office/drawing/2014/main" id="{3EB0D2A0-4668-CD79-F6D4-B9DDF182A94D}"/>
              </a:ext>
            </a:extLst>
          </p:cNvPr>
          <p:cNvSpPr>
            <a:spLocks noGrp="1"/>
          </p:cNvSpPr>
          <p:nvPr>
            <p:ph type="body" sz="quarter" idx="14"/>
          </p:nvPr>
        </p:nvSpPr>
        <p:spPr>
          <a:xfrm>
            <a:off x="1828800" y="1610139"/>
            <a:ext cx="8755380" cy="3718787"/>
          </a:xfrm>
        </p:spPr>
        <p:txBody>
          <a:bodyPr>
            <a:normAutofit/>
          </a:bodyPr>
          <a:lstStyle/>
          <a:p>
            <a:r>
              <a:rPr lang="en-US" sz="2400" dirty="0"/>
              <a:t>Lectures: Tu/Th 4:30-5:45pm</a:t>
            </a:r>
          </a:p>
          <a:p>
            <a:pPr marL="0" indent="0">
              <a:buNone/>
            </a:pPr>
            <a:endParaRPr lang="en-US" sz="2400" dirty="0"/>
          </a:p>
          <a:p>
            <a:r>
              <a:rPr lang="en-US" sz="2400" dirty="0"/>
              <a:t>Participation is important</a:t>
            </a:r>
          </a:p>
          <a:p>
            <a:pPr lvl="1"/>
            <a:r>
              <a:rPr lang="en-US" sz="2400" dirty="0"/>
              <a:t>You all have unique experiences to share &amp; contribute</a:t>
            </a:r>
          </a:p>
          <a:p>
            <a:endParaRPr lang="en-US" sz="2400" dirty="0"/>
          </a:p>
          <a:p>
            <a:r>
              <a:rPr lang="en-US" sz="2400" dirty="0"/>
              <a:t>There are optional readings in the syllabus, class should be self-contained</a:t>
            </a:r>
          </a:p>
          <a:p>
            <a:pPr lvl="1"/>
            <a:r>
              <a:rPr lang="en-US" sz="1800" dirty="0">
                <a:latin typeface="Times New Roman" panose="02020603050405020304" pitchFamily="18" charset="0"/>
                <a:ea typeface="Times New Roman" panose="02020603050405020304" pitchFamily="18" charset="0"/>
              </a:rPr>
              <a:t>Ulrich and Eppinger. Product Design and Development</a:t>
            </a:r>
          </a:p>
          <a:p>
            <a:pPr lvl="1"/>
            <a:r>
              <a:rPr lang="en-US" sz="1800" dirty="0" err="1">
                <a:latin typeface="Times New Roman" panose="02020603050405020304" pitchFamily="18" charset="0"/>
                <a:ea typeface="Times New Roman" panose="02020603050405020304" pitchFamily="18" charset="0"/>
              </a:rPr>
              <a:t>Kohavi</a:t>
            </a:r>
            <a:r>
              <a:rPr lang="en-US" sz="1800" dirty="0">
                <a:latin typeface="Times New Roman" panose="02020603050405020304" pitchFamily="18" charset="0"/>
                <a:ea typeface="Times New Roman" panose="02020603050405020304" pitchFamily="18" charset="0"/>
              </a:rPr>
              <a:t>, Tang, and Xu. Trustworthy Online Controlled Experiments</a:t>
            </a:r>
          </a:p>
          <a:p>
            <a:endParaRPr lang="en-US" sz="2400" dirty="0"/>
          </a:p>
          <a:p>
            <a:pPr marL="0" indent="0">
              <a:buNone/>
            </a:pPr>
            <a:endParaRPr lang="en-US" sz="2400" dirty="0"/>
          </a:p>
          <a:p>
            <a:endParaRPr lang="en-US" sz="2400" dirty="0"/>
          </a:p>
          <a:p>
            <a:pPr marL="0" indent="0">
              <a:buNone/>
            </a:pPr>
            <a:endParaRPr lang="en-US" sz="2400" dirty="0"/>
          </a:p>
        </p:txBody>
      </p:sp>
      <p:sp>
        <p:nvSpPr>
          <p:cNvPr id="5" name="Date Placeholder 4">
            <a:extLst>
              <a:ext uri="{FF2B5EF4-FFF2-40B4-BE49-F238E27FC236}">
                <a16:creationId xmlns:a16="http://schemas.microsoft.com/office/drawing/2014/main" id="{D6E91AD1-B26E-B208-1BE0-D68DCDBC47F9}"/>
              </a:ext>
            </a:extLst>
          </p:cNvPr>
          <p:cNvSpPr>
            <a:spLocks noGrp="1"/>
          </p:cNvSpPr>
          <p:nvPr>
            <p:ph type="dt" sz="half" idx="10"/>
          </p:nvPr>
        </p:nvSpPr>
        <p:spPr/>
        <p:txBody>
          <a:bodyPr/>
          <a:lstStyle/>
          <a:p>
            <a:fld id="{D47A9A36-4EB0-BF46-AE48-7CDA251B954B}" type="datetime1">
              <a:rPr lang="en-US" smtClean="0"/>
              <a:t>10/27/2025</a:t>
            </a:fld>
            <a:endParaRPr lang="en-US" dirty="0"/>
          </a:p>
        </p:txBody>
      </p:sp>
      <p:sp>
        <p:nvSpPr>
          <p:cNvPr id="6" name="Slide Number Placeholder 5">
            <a:extLst>
              <a:ext uri="{FF2B5EF4-FFF2-40B4-BE49-F238E27FC236}">
                <a16:creationId xmlns:a16="http://schemas.microsoft.com/office/drawing/2014/main" id="{419E036C-4966-B95C-3E9D-76243D433411}"/>
              </a:ext>
            </a:extLst>
          </p:cNvPr>
          <p:cNvSpPr>
            <a:spLocks noGrp="1"/>
          </p:cNvSpPr>
          <p:nvPr>
            <p:ph type="sldNum" sz="quarter" idx="12"/>
          </p:nvPr>
        </p:nvSpPr>
        <p:spPr/>
        <p:txBody>
          <a:bodyPr/>
          <a:lstStyle/>
          <a:p>
            <a:fld id="{8A7A6979-0714-4377-B894-6BE4C2D6E202}" type="slidenum">
              <a:rPr lang="en-US" smtClean="0"/>
              <a:pPr/>
              <a:t>21</a:t>
            </a:fld>
            <a:endParaRPr lang="en-US" dirty="0"/>
          </a:p>
        </p:txBody>
      </p:sp>
    </p:spTree>
    <p:extLst>
      <p:ext uri="{BB962C8B-B14F-4D97-AF65-F5344CB8AC3E}">
        <p14:creationId xmlns:p14="http://schemas.microsoft.com/office/powerpoint/2010/main" val="20798137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F1536-ACE9-90B2-92C4-C2A766A89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861096-634F-77B7-299D-9768C39154C4}"/>
              </a:ext>
            </a:extLst>
          </p:cNvPr>
          <p:cNvSpPr>
            <a:spLocks noGrp="1"/>
          </p:cNvSpPr>
          <p:nvPr>
            <p:ph type="ctrTitle"/>
          </p:nvPr>
        </p:nvSpPr>
        <p:spPr/>
        <p:txBody>
          <a:bodyPr/>
          <a:lstStyle/>
          <a:p>
            <a:r>
              <a:rPr lang="en-US" dirty="0"/>
              <a:t>Grading</a:t>
            </a:r>
          </a:p>
        </p:txBody>
      </p:sp>
      <p:sp>
        <p:nvSpPr>
          <p:cNvPr id="4" name="Text Placeholder 3">
            <a:extLst>
              <a:ext uri="{FF2B5EF4-FFF2-40B4-BE49-F238E27FC236}">
                <a16:creationId xmlns:a16="http://schemas.microsoft.com/office/drawing/2014/main" id="{FA0B9C8E-2181-3281-6D37-CC6189566F4D}"/>
              </a:ext>
            </a:extLst>
          </p:cNvPr>
          <p:cNvSpPr>
            <a:spLocks noGrp="1"/>
          </p:cNvSpPr>
          <p:nvPr>
            <p:ph type="body" sz="quarter" idx="14"/>
          </p:nvPr>
        </p:nvSpPr>
        <p:spPr>
          <a:xfrm>
            <a:off x="1828800" y="1610139"/>
            <a:ext cx="8755380" cy="3718787"/>
          </a:xfrm>
        </p:spPr>
        <p:txBody>
          <a:bodyPr>
            <a:normAutofit/>
          </a:bodyPr>
          <a:lstStyle/>
          <a:p>
            <a:r>
              <a:rPr lang="en-US" sz="2400" dirty="0"/>
              <a:t>Participation (10%)</a:t>
            </a:r>
          </a:p>
          <a:p>
            <a:pPr lvl="1"/>
            <a:r>
              <a:rPr lang="en-US" sz="2400" dirty="0"/>
              <a:t>Come to class and contribute positively, hopefully everyone gets full credit here</a:t>
            </a:r>
          </a:p>
          <a:p>
            <a:pPr lvl="1"/>
            <a:r>
              <a:rPr lang="en-US" sz="2400" dirty="0"/>
              <a:t>Key is to not participate negatively</a:t>
            </a:r>
          </a:p>
          <a:p>
            <a:endParaRPr lang="en-US" sz="2400" dirty="0"/>
          </a:p>
          <a:p>
            <a:pPr marL="0" indent="0">
              <a:buNone/>
            </a:pPr>
            <a:endParaRPr lang="en-US" sz="2400" dirty="0"/>
          </a:p>
        </p:txBody>
      </p:sp>
      <p:sp>
        <p:nvSpPr>
          <p:cNvPr id="5" name="Date Placeholder 4">
            <a:extLst>
              <a:ext uri="{FF2B5EF4-FFF2-40B4-BE49-F238E27FC236}">
                <a16:creationId xmlns:a16="http://schemas.microsoft.com/office/drawing/2014/main" id="{F097C2D1-4481-D9C2-2565-62F7D3C55FC4}"/>
              </a:ext>
            </a:extLst>
          </p:cNvPr>
          <p:cNvSpPr>
            <a:spLocks noGrp="1"/>
          </p:cNvSpPr>
          <p:nvPr>
            <p:ph type="dt" sz="half" idx="10"/>
          </p:nvPr>
        </p:nvSpPr>
        <p:spPr/>
        <p:txBody>
          <a:bodyPr/>
          <a:lstStyle/>
          <a:p>
            <a:fld id="{D47A9A36-4EB0-BF46-AE48-7CDA251B954B}" type="datetime1">
              <a:rPr lang="en-US" smtClean="0"/>
              <a:t>10/27/2025</a:t>
            </a:fld>
            <a:endParaRPr lang="en-US" dirty="0"/>
          </a:p>
        </p:txBody>
      </p:sp>
      <p:sp>
        <p:nvSpPr>
          <p:cNvPr id="6" name="Slide Number Placeholder 5">
            <a:extLst>
              <a:ext uri="{FF2B5EF4-FFF2-40B4-BE49-F238E27FC236}">
                <a16:creationId xmlns:a16="http://schemas.microsoft.com/office/drawing/2014/main" id="{3AD6BAB6-DB6D-1306-C880-03C678F812CC}"/>
              </a:ext>
            </a:extLst>
          </p:cNvPr>
          <p:cNvSpPr>
            <a:spLocks noGrp="1"/>
          </p:cNvSpPr>
          <p:nvPr>
            <p:ph type="sldNum" sz="quarter" idx="12"/>
          </p:nvPr>
        </p:nvSpPr>
        <p:spPr/>
        <p:txBody>
          <a:bodyPr/>
          <a:lstStyle/>
          <a:p>
            <a:fld id="{8A7A6979-0714-4377-B894-6BE4C2D6E202}" type="slidenum">
              <a:rPr lang="en-US" smtClean="0"/>
              <a:pPr/>
              <a:t>22</a:t>
            </a:fld>
            <a:endParaRPr lang="en-US" dirty="0"/>
          </a:p>
        </p:txBody>
      </p:sp>
    </p:spTree>
    <p:extLst>
      <p:ext uri="{BB962C8B-B14F-4D97-AF65-F5344CB8AC3E}">
        <p14:creationId xmlns:p14="http://schemas.microsoft.com/office/powerpoint/2010/main" val="19775178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C9739-197E-77CB-2405-7D811175CA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62E29B-91CC-1C59-E93E-E0C6413B50C4}"/>
              </a:ext>
            </a:extLst>
          </p:cNvPr>
          <p:cNvSpPr>
            <a:spLocks noGrp="1"/>
          </p:cNvSpPr>
          <p:nvPr>
            <p:ph type="ctrTitle"/>
          </p:nvPr>
        </p:nvSpPr>
        <p:spPr/>
        <p:txBody>
          <a:bodyPr/>
          <a:lstStyle/>
          <a:p>
            <a:r>
              <a:rPr lang="en-US" dirty="0"/>
              <a:t>Grading, Part 2</a:t>
            </a:r>
          </a:p>
        </p:txBody>
      </p:sp>
      <p:sp>
        <p:nvSpPr>
          <p:cNvPr id="4" name="Text Placeholder 3">
            <a:extLst>
              <a:ext uri="{FF2B5EF4-FFF2-40B4-BE49-F238E27FC236}">
                <a16:creationId xmlns:a16="http://schemas.microsoft.com/office/drawing/2014/main" id="{DB6E655D-3293-7F18-ECFC-C2DDCE46D240}"/>
              </a:ext>
            </a:extLst>
          </p:cNvPr>
          <p:cNvSpPr>
            <a:spLocks noGrp="1"/>
          </p:cNvSpPr>
          <p:nvPr>
            <p:ph type="body" sz="quarter" idx="14"/>
          </p:nvPr>
        </p:nvSpPr>
        <p:spPr>
          <a:xfrm>
            <a:off x="1828800" y="1610139"/>
            <a:ext cx="8755380" cy="3718787"/>
          </a:xfrm>
        </p:spPr>
        <p:txBody>
          <a:bodyPr>
            <a:normAutofit/>
          </a:bodyPr>
          <a:lstStyle/>
          <a:p>
            <a:r>
              <a:rPr lang="en-US" sz="2400" dirty="0"/>
              <a:t>Individual assignments (40%)</a:t>
            </a:r>
          </a:p>
          <a:p>
            <a:pPr lvl="1"/>
            <a:r>
              <a:rPr lang="en-US" sz="2400" dirty="0"/>
              <a:t>Three individual assignments intended on reinforcing the concepts we learn in class. These will be empirical but can be done without any programming</a:t>
            </a:r>
          </a:p>
          <a:p>
            <a:endParaRPr lang="en-US" sz="2400" dirty="0"/>
          </a:p>
          <a:p>
            <a:pPr lvl="1"/>
            <a:endParaRPr lang="en-US" sz="2400" dirty="0"/>
          </a:p>
          <a:p>
            <a:pPr marL="0" indent="0">
              <a:buNone/>
            </a:pPr>
            <a:endParaRPr lang="en-US" sz="2400" dirty="0"/>
          </a:p>
        </p:txBody>
      </p:sp>
      <p:sp>
        <p:nvSpPr>
          <p:cNvPr id="5" name="Date Placeholder 4">
            <a:extLst>
              <a:ext uri="{FF2B5EF4-FFF2-40B4-BE49-F238E27FC236}">
                <a16:creationId xmlns:a16="http://schemas.microsoft.com/office/drawing/2014/main" id="{02E81816-9CD7-767E-AF2A-B3BAAFAC8B0A}"/>
              </a:ext>
            </a:extLst>
          </p:cNvPr>
          <p:cNvSpPr>
            <a:spLocks noGrp="1"/>
          </p:cNvSpPr>
          <p:nvPr>
            <p:ph type="dt" sz="half" idx="10"/>
          </p:nvPr>
        </p:nvSpPr>
        <p:spPr/>
        <p:txBody>
          <a:bodyPr/>
          <a:lstStyle/>
          <a:p>
            <a:fld id="{D47A9A36-4EB0-BF46-AE48-7CDA251B954B}" type="datetime1">
              <a:rPr lang="en-US" smtClean="0"/>
              <a:t>10/27/2025</a:t>
            </a:fld>
            <a:endParaRPr lang="en-US" dirty="0"/>
          </a:p>
        </p:txBody>
      </p:sp>
      <p:sp>
        <p:nvSpPr>
          <p:cNvPr id="6" name="Slide Number Placeholder 5">
            <a:extLst>
              <a:ext uri="{FF2B5EF4-FFF2-40B4-BE49-F238E27FC236}">
                <a16:creationId xmlns:a16="http://schemas.microsoft.com/office/drawing/2014/main" id="{64D4DF88-BFD3-23AF-5287-1BE6BD24A363}"/>
              </a:ext>
            </a:extLst>
          </p:cNvPr>
          <p:cNvSpPr>
            <a:spLocks noGrp="1"/>
          </p:cNvSpPr>
          <p:nvPr>
            <p:ph type="sldNum" sz="quarter" idx="12"/>
          </p:nvPr>
        </p:nvSpPr>
        <p:spPr/>
        <p:txBody>
          <a:bodyPr/>
          <a:lstStyle/>
          <a:p>
            <a:fld id="{8A7A6979-0714-4377-B894-6BE4C2D6E202}" type="slidenum">
              <a:rPr lang="en-US" smtClean="0"/>
              <a:pPr/>
              <a:t>23</a:t>
            </a:fld>
            <a:endParaRPr lang="en-US" dirty="0"/>
          </a:p>
        </p:txBody>
      </p:sp>
    </p:spTree>
    <p:extLst>
      <p:ext uri="{BB962C8B-B14F-4D97-AF65-F5344CB8AC3E}">
        <p14:creationId xmlns:p14="http://schemas.microsoft.com/office/powerpoint/2010/main" val="337060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BAB64-5853-0E6F-A2D4-9B6D2D82AE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FD94FA-847A-F294-8A89-C72D6604EE54}"/>
              </a:ext>
            </a:extLst>
          </p:cNvPr>
          <p:cNvSpPr>
            <a:spLocks noGrp="1"/>
          </p:cNvSpPr>
          <p:nvPr>
            <p:ph type="ctrTitle"/>
          </p:nvPr>
        </p:nvSpPr>
        <p:spPr/>
        <p:txBody>
          <a:bodyPr/>
          <a:lstStyle/>
          <a:p>
            <a:r>
              <a:rPr lang="en-US" dirty="0"/>
              <a:t>Team Project (50%)</a:t>
            </a:r>
          </a:p>
        </p:txBody>
      </p:sp>
      <p:sp>
        <p:nvSpPr>
          <p:cNvPr id="4" name="Text Placeholder 3">
            <a:extLst>
              <a:ext uri="{FF2B5EF4-FFF2-40B4-BE49-F238E27FC236}">
                <a16:creationId xmlns:a16="http://schemas.microsoft.com/office/drawing/2014/main" id="{587EE31D-E0B0-4E14-06F8-B1D1FFE83521}"/>
              </a:ext>
            </a:extLst>
          </p:cNvPr>
          <p:cNvSpPr>
            <a:spLocks noGrp="1"/>
          </p:cNvSpPr>
          <p:nvPr>
            <p:ph type="body" sz="quarter" idx="14"/>
          </p:nvPr>
        </p:nvSpPr>
        <p:spPr>
          <a:xfrm>
            <a:off x="1828800" y="1610139"/>
            <a:ext cx="8755380" cy="3718787"/>
          </a:xfrm>
        </p:spPr>
        <p:txBody>
          <a:bodyPr>
            <a:normAutofit fontScale="92500"/>
          </a:bodyPr>
          <a:lstStyle/>
          <a:p>
            <a:r>
              <a:rPr lang="en-US" sz="2400" dirty="0"/>
              <a:t>Create a proposal for a digital product with a team of 4</a:t>
            </a:r>
          </a:p>
          <a:p>
            <a:endParaRPr lang="en-US" sz="2400" dirty="0"/>
          </a:p>
          <a:p>
            <a:r>
              <a:rPr lang="en-US" sz="2400" dirty="0"/>
              <a:t>Apply the concepts we learned in the class to improve the proposal</a:t>
            </a:r>
          </a:p>
          <a:p>
            <a:endParaRPr lang="en-US" sz="2400" dirty="0"/>
          </a:p>
          <a:p>
            <a:r>
              <a:rPr lang="en-US" sz="2400" dirty="0"/>
              <a:t>Example:</a:t>
            </a:r>
          </a:p>
          <a:p>
            <a:pPr lvl="1"/>
            <a:r>
              <a:rPr lang="en-US" sz="2400" dirty="0"/>
              <a:t>Apply survey techniques to learn what users value, set a price</a:t>
            </a:r>
          </a:p>
          <a:p>
            <a:pPr lvl="1"/>
            <a:r>
              <a:rPr lang="en-US" sz="2400" dirty="0"/>
              <a:t>Run an A/B test to refine a prototype</a:t>
            </a:r>
          </a:p>
          <a:p>
            <a:pPr lvl="1"/>
            <a:r>
              <a:rPr lang="en-US" sz="2400" dirty="0"/>
              <a:t>Do an analysis to refine the metrics you use to measure performance</a:t>
            </a:r>
          </a:p>
          <a:p>
            <a:pPr lvl="1"/>
            <a:r>
              <a:rPr lang="en-US" sz="2400" dirty="0"/>
              <a:t>…</a:t>
            </a:r>
          </a:p>
          <a:p>
            <a:pPr marL="0" indent="0">
              <a:buNone/>
            </a:pPr>
            <a:endParaRPr lang="en-US" sz="2400" dirty="0"/>
          </a:p>
        </p:txBody>
      </p:sp>
      <p:sp>
        <p:nvSpPr>
          <p:cNvPr id="5" name="Date Placeholder 4">
            <a:extLst>
              <a:ext uri="{FF2B5EF4-FFF2-40B4-BE49-F238E27FC236}">
                <a16:creationId xmlns:a16="http://schemas.microsoft.com/office/drawing/2014/main" id="{C14E021C-1B87-8B07-137B-0040EB81D098}"/>
              </a:ext>
            </a:extLst>
          </p:cNvPr>
          <p:cNvSpPr>
            <a:spLocks noGrp="1"/>
          </p:cNvSpPr>
          <p:nvPr>
            <p:ph type="dt" sz="half" idx="10"/>
          </p:nvPr>
        </p:nvSpPr>
        <p:spPr/>
        <p:txBody>
          <a:bodyPr/>
          <a:lstStyle/>
          <a:p>
            <a:fld id="{D47A9A36-4EB0-BF46-AE48-7CDA251B954B}" type="datetime1">
              <a:rPr lang="en-US" smtClean="0"/>
              <a:t>10/27/2025</a:t>
            </a:fld>
            <a:endParaRPr lang="en-US" dirty="0"/>
          </a:p>
        </p:txBody>
      </p:sp>
      <p:sp>
        <p:nvSpPr>
          <p:cNvPr id="6" name="Slide Number Placeholder 5">
            <a:extLst>
              <a:ext uri="{FF2B5EF4-FFF2-40B4-BE49-F238E27FC236}">
                <a16:creationId xmlns:a16="http://schemas.microsoft.com/office/drawing/2014/main" id="{55850DEE-71CE-B79C-673C-F91982249A3E}"/>
              </a:ext>
            </a:extLst>
          </p:cNvPr>
          <p:cNvSpPr>
            <a:spLocks noGrp="1"/>
          </p:cNvSpPr>
          <p:nvPr>
            <p:ph type="sldNum" sz="quarter" idx="12"/>
          </p:nvPr>
        </p:nvSpPr>
        <p:spPr/>
        <p:txBody>
          <a:bodyPr/>
          <a:lstStyle/>
          <a:p>
            <a:fld id="{8A7A6979-0714-4377-B894-6BE4C2D6E202}" type="slidenum">
              <a:rPr lang="en-US" smtClean="0"/>
              <a:pPr/>
              <a:t>24</a:t>
            </a:fld>
            <a:endParaRPr lang="en-US" dirty="0"/>
          </a:p>
        </p:txBody>
      </p:sp>
    </p:spTree>
    <p:extLst>
      <p:ext uri="{BB962C8B-B14F-4D97-AF65-F5344CB8AC3E}">
        <p14:creationId xmlns:p14="http://schemas.microsoft.com/office/powerpoint/2010/main" val="33270291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4C752-241C-1B3C-D0B0-335614B2B6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6E6275-8746-7EFB-4EF5-7FE8E0F7350E}"/>
              </a:ext>
            </a:extLst>
          </p:cNvPr>
          <p:cNvSpPr>
            <a:spLocks noGrp="1"/>
          </p:cNvSpPr>
          <p:nvPr>
            <p:ph type="ctrTitle"/>
          </p:nvPr>
        </p:nvSpPr>
        <p:spPr/>
        <p:txBody>
          <a:bodyPr/>
          <a:lstStyle/>
          <a:p>
            <a:r>
              <a:rPr lang="en-US" dirty="0"/>
              <a:t>Team Project (50%), Continued</a:t>
            </a:r>
          </a:p>
        </p:txBody>
      </p:sp>
      <p:sp>
        <p:nvSpPr>
          <p:cNvPr id="4" name="Text Placeholder 3">
            <a:extLst>
              <a:ext uri="{FF2B5EF4-FFF2-40B4-BE49-F238E27FC236}">
                <a16:creationId xmlns:a16="http://schemas.microsoft.com/office/drawing/2014/main" id="{66C6D8B7-D677-AE6C-0608-0ABF4D2CB333}"/>
              </a:ext>
            </a:extLst>
          </p:cNvPr>
          <p:cNvSpPr>
            <a:spLocks noGrp="1"/>
          </p:cNvSpPr>
          <p:nvPr>
            <p:ph type="body" sz="quarter" idx="14"/>
          </p:nvPr>
        </p:nvSpPr>
        <p:spPr>
          <a:xfrm>
            <a:off x="1828800" y="1610139"/>
            <a:ext cx="8755380" cy="3718787"/>
          </a:xfrm>
        </p:spPr>
        <p:txBody>
          <a:bodyPr>
            <a:normAutofit/>
          </a:bodyPr>
          <a:lstStyle/>
          <a:p>
            <a:r>
              <a:rPr lang="en-US" sz="2400" dirty="0"/>
              <a:t>Best projects come from things you care about</a:t>
            </a:r>
          </a:p>
          <a:p>
            <a:pPr lvl="1"/>
            <a:r>
              <a:rPr lang="en-US" sz="2400" dirty="0"/>
              <a:t>Business / community org / club you are involved in</a:t>
            </a:r>
          </a:p>
          <a:p>
            <a:pPr lvl="1"/>
            <a:r>
              <a:rPr lang="en-US" sz="2400" dirty="0"/>
              <a:t>Can also be hypothetical (i.e. a new product)</a:t>
            </a:r>
          </a:p>
          <a:p>
            <a:endParaRPr lang="en-US" sz="2400" dirty="0"/>
          </a:p>
          <a:p>
            <a:r>
              <a:rPr lang="en-US" sz="2400" dirty="0"/>
              <a:t>Key Dates</a:t>
            </a:r>
          </a:p>
          <a:p>
            <a:pPr lvl="1"/>
            <a:r>
              <a:rPr lang="en-US" sz="2400" dirty="0"/>
              <a:t>10/31: Team formed and product selected (email me your team)</a:t>
            </a:r>
          </a:p>
          <a:p>
            <a:pPr lvl="1"/>
            <a:r>
              <a:rPr lang="en-US" sz="2400" dirty="0"/>
              <a:t>11/6: Midpoint check-ins</a:t>
            </a:r>
          </a:p>
          <a:p>
            <a:pPr lvl="1"/>
            <a:r>
              <a:rPr lang="en-US" sz="2400" dirty="0"/>
              <a:t>12/9-12/11: Final project presentations + final report due</a:t>
            </a:r>
          </a:p>
          <a:p>
            <a:pPr lvl="1"/>
            <a:endParaRPr lang="en-US" sz="2400" dirty="0"/>
          </a:p>
          <a:p>
            <a:pPr marL="0" indent="0">
              <a:buNone/>
            </a:pPr>
            <a:endParaRPr lang="en-US" sz="2400" dirty="0"/>
          </a:p>
        </p:txBody>
      </p:sp>
      <p:sp>
        <p:nvSpPr>
          <p:cNvPr id="5" name="Date Placeholder 4">
            <a:extLst>
              <a:ext uri="{FF2B5EF4-FFF2-40B4-BE49-F238E27FC236}">
                <a16:creationId xmlns:a16="http://schemas.microsoft.com/office/drawing/2014/main" id="{63274658-A34B-E4A3-CA90-35D36668CC33}"/>
              </a:ext>
            </a:extLst>
          </p:cNvPr>
          <p:cNvSpPr>
            <a:spLocks noGrp="1"/>
          </p:cNvSpPr>
          <p:nvPr>
            <p:ph type="dt" sz="half" idx="10"/>
          </p:nvPr>
        </p:nvSpPr>
        <p:spPr/>
        <p:txBody>
          <a:bodyPr/>
          <a:lstStyle/>
          <a:p>
            <a:fld id="{D47A9A36-4EB0-BF46-AE48-7CDA251B954B}" type="datetime1">
              <a:rPr lang="en-US" smtClean="0"/>
              <a:t>10/27/2025</a:t>
            </a:fld>
            <a:endParaRPr lang="en-US" dirty="0"/>
          </a:p>
        </p:txBody>
      </p:sp>
      <p:sp>
        <p:nvSpPr>
          <p:cNvPr id="6" name="Slide Number Placeholder 5">
            <a:extLst>
              <a:ext uri="{FF2B5EF4-FFF2-40B4-BE49-F238E27FC236}">
                <a16:creationId xmlns:a16="http://schemas.microsoft.com/office/drawing/2014/main" id="{F80B7CDE-A61E-EBF9-FB0C-F7C8B39D7D7F}"/>
              </a:ext>
            </a:extLst>
          </p:cNvPr>
          <p:cNvSpPr>
            <a:spLocks noGrp="1"/>
          </p:cNvSpPr>
          <p:nvPr>
            <p:ph type="sldNum" sz="quarter" idx="12"/>
          </p:nvPr>
        </p:nvSpPr>
        <p:spPr/>
        <p:txBody>
          <a:bodyPr/>
          <a:lstStyle/>
          <a:p>
            <a:fld id="{8A7A6979-0714-4377-B894-6BE4C2D6E202}" type="slidenum">
              <a:rPr lang="en-US" smtClean="0"/>
              <a:pPr/>
              <a:t>25</a:t>
            </a:fld>
            <a:endParaRPr lang="en-US" dirty="0"/>
          </a:p>
        </p:txBody>
      </p:sp>
    </p:spTree>
    <p:extLst>
      <p:ext uri="{BB962C8B-B14F-4D97-AF65-F5344CB8AC3E}">
        <p14:creationId xmlns:p14="http://schemas.microsoft.com/office/powerpoint/2010/main" val="34911195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89579-BF89-782D-51AA-506D7DDEE2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81750E-3397-64D9-56DF-BCD9ADB22953}"/>
              </a:ext>
            </a:extLst>
          </p:cNvPr>
          <p:cNvSpPr>
            <a:spLocks noGrp="1"/>
          </p:cNvSpPr>
          <p:nvPr>
            <p:ph type="ctrTitle"/>
          </p:nvPr>
        </p:nvSpPr>
        <p:spPr>
          <a:xfrm>
            <a:off x="2647199" y="1501742"/>
            <a:ext cx="7300940" cy="1329595"/>
          </a:xfrm>
        </p:spPr>
        <p:txBody>
          <a:bodyPr/>
          <a:lstStyle/>
          <a:p>
            <a:r>
              <a:rPr lang="en-US" dirty="0"/>
              <a:t>Introductions:</a:t>
            </a:r>
            <a:br>
              <a:rPr lang="en-US" dirty="0"/>
            </a:br>
            <a:r>
              <a:rPr lang="en-US" dirty="0"/>
              <a:t>about me</a:t>
            </a:r>
          </a:p>
        </p:txBody>
      </p:sp>
      <p:sp>
        <p:nvSpPr>
          <p:cNvPr id="4" name="Date Placeholder 3">
            <a:extLst>
              <a:ext uri="{FF2B5EF4-FFF2-40B4-BE49-F238E27FC236}">
                <a16:creationId xmlns:a16="http://schemas.microsoft.com/office/drawing/2014/main" id="{A66CEE54-5A40-08DA-9F6B-2F0EBA8E9B95}"/>
              </a:ext>
              <a:ext uri="{C183D7F6-B498-43B3-948B-1728B52AA6E4}">
                <adec:decorative xmlns:adec="http://schemas.microsoft.com/office/drawing/2017/decorative" val="1"/>
              </a:ext>
            </a:extLst>
          </p:cNvPr>
          <p:cNvSpPr>
            <a:spLocks noGrp="1"/>
          </p:cNvSpPr>
          <p:nvPr>
            <p:ph type="dt" sz="half" idx="10"/>
          </p:nvPr>
        </p:nvSpPr>
        <p:spPr/>
        <p:txBody>
          <a:bodyPr/>
          <a:lstStyle/>
          <a:p>
            <a:fld id="{D47A9A36-4EB0-BF46-AE48-7CDA251B954B}" type="datetime1">
              <a:rPr lang="en-US" smtClean="0"/>
              <a:pPr/>
              <a:t>10/27/2025</a:t>
            </a:fld>
            <a:endParaRPr lang="en-US" dirty="0"/>
          </a:p>
        </p:txBody>
      </p:sp>
      <p:sp>
        <p:nvSpPr>
          <p:cNvPr id="5" name="Slide Number Placeholder 4">
            <a:extLst>
              <a:ext uri="{FF2B5EF4-FFF2-40B4-BE49-F238E27FC236}">
                <a16:creationId xmlns:a16="http://schemas.microsoft.com/office/drawing/2014/main" id="{C6E77B3E-1DEE-DA4C-FB63-2FCE15FB849D}"/>
              </a:ext>
              <a:ext uri="{C183D7F6-B498-43B3-948B-1728B52AA6E4}">
                <adec:decorative xmlns:adec="http://schemas.microsoft.com/office/drawing/2017/decorative" val="1"/>
              </a:ext>
            </a:extLst>
          </p:cNvPr>
          <p:cNvSpPr>
            <a:spLocks noGrp="1"/>
          </p:cNvSpPr>
          <p:nvPr>
            <p:ph type="sldNum" sz="quarter" idx="12"/>
          </p:nvPr>
        </p:nvSpPr>
        <p:spPr/>
        <p:txBody>
          <a:bodyPr/>
          <a:lstStyle/>
          <a:p>
            <a:fld id="{8A7A6979-0714-4377-B894-6BE4C2D6E202}" type="slidenum">
              <a:rPr lang="en-US" smtClean="0"/>
              <a:pPr/>
              <a:t>26</a:t>
            </a:fld>
            <a:endParaRPr lang="en-US" dirty="0"/>
          </a:p>
        </p:txBody>
      </p:sp>
    </p:spTree>
    <p:extLst>
      <p:ext uri="{BB962C8B-B14F-4D97-AF65-F5344CB8AC3E}">
        <p14:creationId xmlns:p14="http://schemas.microsoft.com/office/powerpoint/2010/main" val="38481117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9E996-4AA3-655E-F84C-9868DF7E91BE}"/>
              </a:ext>
            </a:extLst>
          </p:cNvPr>
          <p:cNvSpPr>
            <a:spLocks noGrp="1"/>
          </p:cNvSpPr>
          <p:nvPr>
            <p:ph type="ctrTitle"/>
          </p:nvPr>
        </p:nvSpPr>
        <p:spPr/>
        <p:txBody>
          <a:bodyPr/>
          <a:lstStyle/>
          <a:p>
            <a:r>
              <a:rPr lang="en-US" dirty="0"/>
              <a:t>Alex Moehring</a:t>
            </a:r>
          </a:p>
        </p:txBody>
      </p:sp>
      <p:pic>
        <p:nvPicPr>
          <p:cNvPr id="8" name="Picture 7" descr="A photo of the instructor, Alex Moehring.">
            <a:extLst>
              <a:ext uri="{FF2B5EF4-FFF2-40B4-BE49-F238E27FC236}">
                <a16:creationId xmlns:a16="http://schemas.microsoft.com/office/drawing/2014/main" id="{DE2CB3E6-D736-D90E-3DFA-542F05751EBF}"/>
              </a:ext>
            </a:extLst>
          </p:cNvPr>
          <p:cNvPicPr>
            <a:picLocks noChangeAspect="1"/>
          </p:cNvPicPr>
          <p:nvPr/>
        </p:nvPicPr>
        <p:blipFill>
          <a:blip r:embed="rId2"/>
          <a:stretch>
            <a:fillRect/>
          </a:stretch>
        </p:blipFill>
        <p:spPr>
          <a:xfrm>
            <a:off x="7623375" y="2318560"/>
            <a:ext cx="2473125" cy="3029578"/>
          </a:xfrm>
          <a:prstGeom prst="rect">
            <a:avLst/>
          </a:prstGeom>
        </p:spPr>
      </p:pic>
      <p:sp>
        <p:nvSpPr>
          <p:cNvPr id="9" name="Rounded Rectangle 8" descr="Undergrad at UNC Chapel Hill">
            <a:extLst>
              <a:ext uri="{FF2B5EF4-FFF2-40B4-BE49-F238E27FC236}">
                <a16:creationId xmlns:a16="http://schemas.microsoft.com/office/drawing/2014/main" id="{C37C64E8-67D0-C25F-680A-988C074A5D9D}"/>
              </a:ext>
              <a:ext uri="{C183D7F6-B498-43B3-948B-1728B52AA6E4}">
                <adec:decorative xmlns:adec="http://schemas.microsoft.com/office/drawing/2017/decorative" val="0"/>
              </a:ext>
            </a:extLst>
          </p:cNvPr>
          <p:cNvSpPr/>
          <p:nvPr/>
        </p:nvSpPr>
        <p:spPr>
          <a:xfrm>
            <a:off x="2512088" y="1778558"/>
            <a:ext cx="3657600" cy="41934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Undergrad at UNC Chapel Hill</a:t>
            </a:r>
          </a:p>
        </p:txBody>
      </p:sp>
      <p:sp>
        <p:nvSpPr>
          <p:cNvPr id="10" name="Rounded Rectangle 9">
            <a:extLst>
              <a:ext uri="{FF2B5EF4-FFF2-40B4-BE49-F238E27FC236}">
                <a16:creationId xmlns:a16="http://schemas.microsoft.com/office/drawing/2014/main" id="{A29333F3-6C9F-3F9B-6E85-5AB504BD7009}"/>
              </a:ext>
            </a:extLst>
          </p:cNvPr>
          <p:cNvSpPr/>
          <p:nvPr/>
        </p:nvSpPr>
        <p:spPr>
          <a:xfrm>
            <a:off x="2627644" y="2592475"/>
            <a:ext cx="3426488"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Industry Experience:</a:t>
            </a:r>
            <a:br>
              <a:rPr lang="en-US" dirty="0"/>
            </a:br>
            <a:r>
              <a:rPr lang="en-US" dirty="0"/>
              <a:t>Wells Fargo Securities</a:t>
            </a:r>
          </a:p>
          <a:p>
            <a:pPr algn="ctr"/>
            <a:r>
              <a:rPr lang="en-US" dirty="0"/>
              <a:t>Microsoft Research</a:t>
            </a:r>
          </a:p>
        </p:txBody>
      </p:sp>
      <p:sp>
        <p:nvSpPr>
          <p:cNvPr id="11" name="Rounded Rectangle 10">
            <a:extLst>
              <a:ext uri="{FF2B5EF4-FFF2-40B4-BE49-F238E27FC236}">
                <a16:creationId xmlns:a16="http://schemas.microsoft.com/office/drawing/2014/main" id="{D2864607-07CF-9A37-D5BB-BF37B530EFCA}"/>
              </a:ext>
            </a:extLst>
          </p:cNvPr>
          <p:cNvSpPr/>
          <p:nvPr/>
        </p:nvSpPr>
        <p:spPr>
          <a:xfrm>
            <a:off x="3195376" y="3833349"/>
            <a:ext cx="2291024" cy="46734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PhD at MIT Sloan</a:t>
            </a:r>
          </a:p>
        </p:txBody>
      </p:sp>
      <p:sp>
        <p:nvSpPr>
          <p:cNvPr id="12" name="Rounded Rectangle 11">
            <a:extLst>
              <a:ext uri="{FF2B5EF4-FFF2-40B4-BE49-F238E27FC236}">
                <a16:creationId xmlns:a16="http://schemas.microsoft.com/office/drawing/2014/main" id="{18841C5E-A953-DFE2-CF4F-FA316CDB9DFD}"/>
              </a:ext>
            </a:extLst>
          </p:cNvPr>
          <p:cNvSpPr/>
          <p:nvPr/>
        </p:nvSpPr>
        <p:spPr>
          <a:xfrm>
            <a:off x="2386483" y="4767846"/>
            <a:ext cx="3908809" cy="46734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Assistant Professor at Purdue Daniels</a:t>
            </a:r>
          </a:p>
        </p:txBody>
      </p:sp>
      <p:sp>
        <p:nvSpPr>
          <p:cNvPr id="6" name="Slide Number Placeholder 5">
            <a:extLst>
              <a:ext uri="{FF2B5EF4-FFF2-40B4-BE49-F238E27FC236}">
                <a16:creationId xmlns:a16="http://schemas.microsoft.com/office/drawing/2014/main" id="{EB0E7CD8-9AF0-FAB0-81E4-D0FDDCB3EC9A}"/>
              </a:ext>
              <a:ext uri="{C183D7F6-B498-43B3-948B-1728B52AA6E4}">
                <adec:decorative xmlns:adec="http://schemas.microsoft.com/office/drawing/2017/decorative" val="0"/>
              </a:ext>
            </a:extLst>
          </p:cNvPr>
          <p:cNvSpPr>
            <a:spLocks noGrp="1"/>
          </p:cNvSpPr>
          <p:nvPr>
            <p:ph type="sldNum" sz="quarter" idx="12"/>
          </p:nvPr>
        </p:nvSpPr>
        <p:spPr/>
        <p:txBody>
          <a:bodyPr/>
          <a:lstStyle/>
          <a:p>
            <a:fld id="{8A7A6979-0714-4377-B894-6BE4C2D6E202}" type="slidenum">
              <a:rPr lang="en-US" smtClean="0"/>
              <a:pPr/>
              <a:t>27</a:t>
            </a:fld>
            <a:endParaRPr lang="en-US" dirty="0"/>
          </a:p>
        </p:txBody>
      </p:sp>
      <p:sp>
        <p:nvSpPr>
          <p:cNvPr id="5" name="Date Placeholder 4">
            <a:extLst>
              <a:ext uri="{FF2B5EF4-FFF2-40B4-BE49-F238E27FC236}">
                <a16:creationId xmlns:a16="http://schemas.microsoft.com/office/drawing/2014/main" id="{F9EA5E3D-57FF-CC4E-604A-1D351EFDEFE4}"/>
              </a:ext>
              <a:ext uri="{C183D7F6-B498-43B3-948B-1728B52AA6E4}">
                <adec:decorative xmlns:adec="http://schemas.microsoft.com/office/drawing/2017/decorative" val="0"/>
              </a:ext>
            </a:extLst>
          </p:cNvPr>
          <p:cNvSpPr>
            <a:spLocks noGrp="1"/>
          </p:cNvSpPr>
          <p:nvPr>
            <p:ph type="dt" sz="half" idx="10"/>
          </p:nvPr>
        </p:nvSpPr>
        <p:spPr/>
        <p:txBody>
          <a:bodyPr/>
          <a:lstStyle/>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1713483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9E996-4AA3-655E-F84C-9868DF7E91BE}"/>
              </a:ext>
            </a:extLst>
          </p:cNvPr>
          <p:cNvSpPr>
            <a:spLocks noGrp="1"/>
          </p:cNvSpPr>
          <p:nvPr>
            <p:ph type="ctrTitle"/>
          </p:nvPr>
        </p:nvSpPr>
        <p:spPr/>
        <p:txBody>
          <a:bodyPr/>
          <a:lstStyle/>
          <a:p>
            <a:r>
              <a:rPr lang="en-US" dirty="0"/>
              <a:t>My Research</a:t>
            </a:r>
          </a:p>
        </p:txBody>
      </p:sp>
      <p:sp>
        <p:nvSpPr>
          <p:cNvPr id="4" name="Text Placeholder 3">
            <a:extLst>
              <a:ext uri="{FF2B5EF4-FFF2-40B4-BE49-F238E27FC236}">
                <a16:creationId xmlns:a16="http://schemas.microsoft.com/office/drawing/2014/main" id="{6CFB388B-2B96-8A5A-AB30-50ECE4525A0D}"/>
              </a:ext>
            </a:extLst>
          </p:cNvPr>
          <p:cNvSpPr>
            <a:spLocks noGrp="1"/>
          </p:cNvSpPr>
          <p:nvPr>
            <p:ph type="body" sz="quarter" idx="14"/>
          </p:nvPr>
        </p:nvSpPr>
        <p:spPr>
          <a:xfrm>
            <a:off x="2542233" y="1868993"/>
            <a:ext cx="7489823" cy="3459933"/>
          </a:xfrm>
        </p:spPr>
        <p:txBody>
          <a:bodyPr>
            <a:normAutofit/>
          </a:bodyPr>
          <a:lstStyle/>
          <a:p>
            <a:pPr marL="342900" indent="-342900">
              <a:buFont typeface="+mj-lt"/>
              <a:buAutoNum type="arabicPeriod"/>
            </a:pPr>
            <a:r>
              <a:rPr lang="en-US" sz="2400" dirty="0"/>
              <a:t>Ranking algorithms on social media </a:t>
            </a:r>
          </a:p>
          <a:p>
            <a:pPr marL="342900" indent="-342900">
              <a:buFont typeface="+mj-lt"/>
              <a:buAutoNum type="arabicPeriod"/>
            </a:pPr>
            <a:endParaRPr lang="en-US" sz="2400" dirty="0"/>
          </a:p>
          <a:p>
            <a:pPr marL="342900" indent="-342900">
              <a:buFont typeface="+mj-lt"/>
              <a:buAutoNum type="arabicPeriod"/>
            </a:pPr>
            <a:r>
              <a:rPr lang="en-US" sz="2400" dirty="0"/>
              <a:t>Human-AI collaboration</a:t>
            </a:r>
          </a:p>
          <a:p>
            <a:pPr marL="342900" indent="-342900">
              <a:buFont typeface="+mj-lt"/>
              <a:buAutoNum type="arabicPeriod"/>
            </a:pPr>
            <a:endParaRPr lang="en-US" sz="2400" dirty="0"/>
          </a:p>
          <a:p>
            <a:pPr marL="342900" indent="-342900">
              <a:buFont typeface="+mj-lt"/>
              <a:buAutoNum type="arabicPeriod"/>
            </a:pPr>
            <a:r>
              <a:rPr lang="en-US" sz="2400" dirty="0"/>
              <a:t>Social influence</a:t>
            </a:r>
          </a:p>
          <a:p>
            <a:pPr marL="342900" indent="-342900">
              <a:buFont typeface="+mj-lt"/>
              <a:buAutoNum type="arabicPeriod"/>
            </a:pPr>
            <a:endParaRPr lang="en-US" sz="2400" dirty="0"/>
          </a:p>
          <a:p>
            <a:pPr marL="342900" indent="-342900">
              <a:buFont typeface="+mj-lt"/>
              <a:buAutoNum type="arabicPeriod"/>
            </a:pPr>
            <a:endParaRPr lang="en-US" sz="2400" dirty="0"/>
          </a:p>
          <a:p>
            <a:pPr marL="342900" indent="-342900">
              <a:buFont typeface="+mj-lt"/>
              <a:buAutoNum type="arabicPeriod"/>
            </a:pPr>
            <a:endParaRPr lang="en-US" sz="2400" dirty="0"/>
          </a:p>
          <a:p>
            <a:pPr marL="0" indent="0">
              <a:buNone/>
            </a:pPr>
            <a:r>
              <a:rPr lang="en-US" dirty="0"/>
              <a:t>All papers available at </a:t>
            </a:r>
            <a:r>
              <a:rPr lang="en-US" dirty="0">
                <a:hlinkClick r:id="rId2"/>
              </a:rPr>
              <a:t>www.alexmoehring.com</a:t>
            </a:r>
            <a:r>
              <a:rPr lang="en-US" dirty="0"/>
              <a:t> </a:t>
            </a:r>
          </a:p>
        </p:txBody>
      </p:sp>
      <p:sp>
        <p:nvSpPr>
          <p:cNvPr id="5" name="Date Placeholder 4">
            <a:extLst>
              <a:ext uri="{FF2B5EF4-FFF2-40B4-BE49-F238E27FC236}">
                <a16:creationId xmlns:a16="http://schemas.microsoft.com/office/drawing/2014/main" id="{F9EA5E3D-57FF-CC4E-604A-1D351EFDEFE4}"/>
              </a:ext>
              <a:ext uri="{C183D7F6-B498-43B3-948B-1728B52AA6E4}">
                <adec:decorative xmlns:adec="http://schemas.microsoft.com/office/drawing/2017/decorative" val="1"/>
              </a:ext>
            </a:extLst>
          </p:cNvPr>
          <p:cNvSpPr>
            <a:spLocks noGrp="1"/>
          </p:cNvSpPr>
          <p:nvPr>
            <p:ph type="dt" sz="half" idx="10"/>
          </p:nvPr>
        </p:nvSpPr>
        <p:spPr/>
        <p:txBody>
          <a:bodyPr/>
          <a:lstStyle/>
          <a:p>
            <a:fld id="{D47A9A36-4EB0-BF46-AE48-7CDA251B954B}" type="datetime1">
              <a:rPr lang="en-US" smtClean="0"/>
              <a:t>10/27/2025</a:t>
            </a:fld>
            <a:endParaRPr lang="en-US" dirty="0"/>
          </a:p>
        </p:txBody>
      </p:sp>
      <p:sp>
        <p:nvSpPr>
          <p:cNvPr id="6" name="Slide Number Placeholder 5">
            <a:extLst>
              <a:ext uri="{FF2B5EF4-FFF2-40B4-BE49-F238E27FC236}">
                <a16:creationId xmlns:a16="http://schemas.microsoft.com/office/drawing/2014/main" id="{EB0E7CD8-9AF0-FAB0-81E4-D0FDDCB3EC9A}"/>
              </a:ext>
              <a:ext uri="{C183D7F6-B498-43B3-948B-1728B52AA6E4}">
                <adec:decorative xmlns:adec="http://schemas.microsoft.com/office/drawing/2017/decorative" val="1"/>
              </a:ext>
            </a:extLst>
          </p:cNvPr>
          <p:cNvSpPr>
            <a:spLocks noGrp="1"/>
          </p:cNvSpPr>
          <p:nvPr>
            <p:ph type="sldNum" sz="quarter" idx="12"/>
          </p:nvPr>
        </p:nvSpPr>
        <p:spPr/>
        <p:txBody>
          <a:bodyPr/>
          <a:lstStyle/>
          <a:p>
            <a:fld id="{8A7A6979-0714-4377-B894-6BE4C2D6E202}" type="slidenum">
              <a:rPr lang="en-US" smtClean="0"/>
              <a:pPr/>
              <a:t>28</a:t>
            </a:fld>
            <a:endParaRPr lang="en-US" dirty="0"/>
          </a:p>
        </p:txBody>
      </p:sp>
    </p:spTree>
    <p:extLst>
      <p:ext uri="{BB962C8B-B14F-4D97-AF65-F5344CB8AC3E}">
        <p14:creationId xmlns:p14="http://schemas.microsoft.com/office/powerpoint/2010/main" val="26864041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9E996-4AA3-655E-F84C-9868DF7E91BE}"/>
              </a:ext>
            </a:extLst>
          </p:cNvPr>
          <p:cNvSpPr>
            <a:spLocks noGrp="1"/>
          </p:cNvSpPr>
          <p:nvPr>
            <p:ph type="ctrTitle"/>
          </p:nvPr>
        </p:nvSpPr>
        <p:spPr/>
        <p:txBody>
          <a:bodyPr/>
          <a:lstStyle/>
          <a:p>
            <a:r>
              <a:rPr lang="en-US" dirty="0"/>
              <a:t>Ranking Algorithms on Social Media</a:t>
            </a:r>
          </a:p>
        </p:txBody>
      </p:sp>
      <p:pic>
        <p:nvPicPr>
          <p:cNvPr id="9" name="Picture 8" descr="The abstract of &quot;Personalization, Engagement, and Content Quality on Social Media: An Evaluation on Reddit's News Feed&quot; by Alex Moehring.">
            <a:extLst>
              <a:ext uri="{FF2B5EF4-FFF2-40B4-BE49-F238E27FC236}">
                <a16:creationId xmlns:a16="http://schemas.microsoft.com/office/drawing/2014/main" id="{1C8AE915-457D-6AAC-B117-9D397094E0E4}"/>
              </a:ext>
            </a:extLst>
          </p:cNvPr>
          <p:cNvPicPr>
            <a:picLocks noChangeAspect="1"/>
          </p:cNvPicPr>
          <p:nvPr/>
        </p:nvPicPr>
        <p:blipFill>
          <a:blip r:embed="rId2"/>
          <a:stretch>
            <a:fillRect/>
          </a:stretch>
        </p:blipFill>
        <p:spPr>
          <a:xfrm>
            <a:off x="1772520" y="1555613"/>
            <a:ext cx="4323480" cy="3437301"/>
          </a:xfrm>
          <a:prstGeom prst="rect">
            <a:avLst/>
          </a:prstGeom>
        </p:spPr>
      </p:pic>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F7ED492E-C9A4-7EAD-302E-40478A6793E3}"/>
                  </a:ext>
                </a:extLst>
              </p:cNvPr>
              <p:cNvSpPr txBox="1"/>
              <p:nvPr/>
            </p:nvSpPr>
            <p:spPr>
              <a:xfrm>
                <a:off x="6561942" y="1612990"/>
                <a:ext cx="4323480" cy="425501"/>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𝑑</m:t>
                          </m:r>
                        </m:e>
                        <m:sub>
                          <m:r>
                            <a:rPr lang="en-US" sz="2400" b="0" i="1" smtClean="0">
                              <a:latin typeface="Cambria Math" panose="02040503050406030204" pitchFamily="18" charset="0"/>
                            </a:rPr>
                            <m:t>𝑖𝑗𝑡</m:t>
                          </m:r>
                        </m:sub>
                      </m:sSub>
                      <m:r>
                        <a:rPr lang="en-US" sz="2400" b="0" i="1" smtClean="0">
                          <a:latin typeface="Cambria Math" panose="02040503050406030204" pitchFamily="18" charset="0"/>
                        </a:rPr>
                        <m:t>=1</m:t>
                      </m:r>
                      <m:d>
                        <m:dPr>
                          <m:begChr m:val="["/>
                          <m:endChr m:val="]"/>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𝑖𝑗𝑡</m:t>
                              </m:r>
                            </m:sub>
                          </m:sSub>
                          <m:r>
                            <a:rPr lang="en-US" sz="2400" b="0" i="1" smtClean="0">
                              <a:latin typeface="Cambria Math" panose="02040503050406030204" pitchFamily="18" charset="0"/>
                            </a:rPr>
                            <m:t>=1</m:t>
                          </m:r>
                        </m:e>
                      </m:d>
                      <m:r>
                        <a:rPr lang="en-US" sz="2400" b="0" i="1" smtClean="0">
                          <a:latin typeface="Cambria Math" panose="02040503050406030204" pitchFamily="18" charset="0"/>
                        </a:rPr>
                        <m:t>1[</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𝑢</m:t>
                          </m:r>
                        </m:e>
                        <m:sub>
                          <m:r>
                            <a:rPr lang="en-US" sz="2400" b="0" i="1" smtClean="0">
                              <a:latin typeface="Cambria Math" panose="02040503050406030204" pitchFamily="18" charset="0"/>
                            </a:rPr>
                            <m:t>𝑖𝑗𝑡</m:t>
                          </m:r>
                        </m:sub>
                      </m:sSub>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𝑢</m:t>
                          </m:r>
                        </m:e>
                        <m:sub>
                          <m:r>
                            <a:rPr lang="en-US" sz="2400" b="0" i="1" smtClean="0">
                              <a:latin typeface="Cambria Math" panose="02040503050406030204" pitchFamily="18" charset="0"/>
                              <a:ea typeface="Cambria Math" panose="02040503050406030204" pitchFamily="18" charset="0"/>
                            </a:rPr>
                            <m:t>𝑖</m:t>
                          </m:r>
                          <m:r>
                            <a:rPr lang="en-US" sz="2400" b="0" i="1" smtClean="0">
                              <a:latin typeface="Cambria Math" panose="02040503050406030204" pitchFamily="18" charset="0"/>
                              <a:ea typeface="Cambria Math" panose="02040503050406030204" pitchFamily="18" charset="0"/>
                            </a:rPr>
                            <m:t>0</m:t>
                          </m:r>
                          <m:r>
                            <a:rPr lang="en-US" sz="2400" b="0" i="1" smtClean="0">
                              <a:latin typeface="Cambria Math" panose="02040503050406030204" pitchFamily="18" charset="0"/>
                              <a:ea typeface="Cambria Math" panose="02040503050406030204" pitchFamily="18" charset="0"/>
                            </a:rPr>
                            <m:t>𝑡</m:t>
                          </m:r>
                        </m:sub>
                      </m:sSub>
                      <m:r>
                        <a:rPr lang="en-US" sz="2400" b="0" i="1" smtClean="0">
                          <a:latin typeface="Cambria Math" panose="02040503050406030204" pitchFamily="18" charset="0"/>
                          <a:ea typeface="Cambria Math" panose="02040503050406030204" pitchFamily="18" charset="0"/>
                        </a:rPr>
                        <m:t>]</m:t>
                      </m:r>
                    </m:oMath>
                  </m:oMathPara>
                </a14:m>
                <a:endParaRPr lang="en-US" sz="2400" dirty="0"/>
              </a:p>
            </p:txBody>
          </p:sp>
        </mc:Choice>
        <mc:Fallback>
          <p:sp>
            <p:nvSpPr>
              <p:cNvPr id="3" name="TextBox 2">
                <a:extLst>
                  <a:ext uri="{FF2B5EF4-FFF2-40B4-BE49-F238E27FC236}">
                    <a16:creationId xmlns:a16="http://schemas.microsoft.com/office/drawing/2014/main" id="{F7ED492E-C9A4-7EAD-302E-40478A6793E3}"/>
                  </a:ext>
                </a:extLst>
              </p:cNvPr>
              <p:cNvSpPr txBox="1">
                <a:spLocks noRot="1" noChangeAspect="1" noMove="1" noResize="1" noEditPoints="1" noAdjustHandles="1" noChangeArrowheads="1" noChangeShapeType="1" noTextEdit="1"/>
              </p:cNvSpPr>
              <p:nvPr/>
            </p:nvSpPr>
            <p:spPr>
              <a:xfrm>
                <a:off x="6561942" y="1612990"/>
                <a:ext cx="4323480" cy="425501"/>
              </a:xfrm>
              <a:prstGeom prst="rect">
                <a:avLst/>
              </a:prstGeom>
              <a:blipFill>
                <a:blip r:embed="rId3"/>
                <a:stretch>
                  <a:fillRect/>
                </a:stretch>
              </a:blipFill>
            </p:spPr>
            <p:txBody>
              <a:bodyPr/>
              <a:lstStyle/>
              <a:p>
                <a:r>
                  <a:rPr lang="en-US">
                    <a:noFill/>
                  </a:rPr>
                  <a:t> </a:t>
                </a:r>
              </a:p>
            </p:txBody>
          </p:sp>
        </mc:Fallback>
      </mc:AlternateContent>
      <p:pic>
        <p:nvPicPr>
          <p:cNvPr id="10" name="Picture 9" descr="Figure 7, titled “Engagement-Quality Frontier,” shows a downward-sloping relationship between credibility and average engagement. The chart compares personalized and non-personalized algorithms, illustrating that personalization increases engagement but tends to reduce content credibility.">
            <a:extLst>
              <a:ext uri="{FF2B5EF4-FFF2-40B4-BE49-F238E27FC236}">
                <a16:creationId xmlns:a16="http://schemas.microsoft.com/office/drawing/2014/main" id="{C88FD5EB-DE32-6F87-1746-9784EBC0959F}"/>
              </a:ext>
            </a:extLst>
          </p:cNvPr>
          <p:cNvPicPr>
            <a:picLocks noChangeAspect="1"/>
          </p:cNvPicPr>
          <p:nvPr/>
        </p:nvPicPr>
        <p:blipFill>
          <a:blip r:embed="rId4"/>
          <a:stretch>
            <a:fillRect/>
          </a:stretch>
        </p:blipFill>
        <p:spPr>
          <a:xfrm>
            <a:off x="6458858" y="2234166"/>
            <a:ext cx="4018600" cy="3345533"/>
          </a:xfrm>
          <a:prstGeom prst="rect">
            <a:avLst/>
          </a:prstGeom>
        </p:spPr>
      </p:pic>
      <p:sp>
        <p:nvSpPr>
          <p:cNvPr id="6" name="Slide Number Placeholder 5">
            <a:extLst>
              <a:ext uri="{FF2B5EF4-FFF2-40B4-BE49-F238E27FC236}">
                <a16:creationId xmlns:a16="http://schemas.microsoft.com/office/drawing/2014/main" id="{EB0E7CD8-9AF0-FAB0-81E4-D0FDDCB3EC9A}"/>
              </a:ext>
              <a:ext uri="{C183D7F6-B498-43B3-948B-1728B52AA6E4}">
                <adec:decorative xmlns:adec="http://schemas.microsoft.com/office/drawing/2017/decorative" val="1"/>
              </a:ext>
            </a:extLst>
          </p:cNvPr>
          <p:cNvSpPr>
            <a:spLocks noGrp="1"/>
          </p:cNvSpPr>
          <p:nvPr>
            <p:ph type="sldNum" sz="quarter" idx="12"/>
          </p:nvPr>
        </p:nvSpPr>
        <p:spPr/>
        <p:txBody>
          <a:bodyPr/>
          <a:lstStyle/>
          <a:p>
            <a:fld id="{8A7A6979-0714-4377-B894-6BE4C2D6E202}" type="slidenum">
              <a:rPr lang="en-US" smtClean="0"/>
              <a:pPr/>
              <a:t>29</a:t>
            </a:fld>
            <a:endParaRPr lang="en-US" dirty="0"/>
          </a:p>
        </p:txBody>
      </p:sp>
      <p:sp>
        <p:nvSpPr>
          <p:cNvPr id="5" name="Date Placeholder 4">
            <a:extLst>
              <a:ext uri="{FF2B5EF4-FFF2-40B4-BE49-F238E27FC236}">
                <a16:creationId xmlns:a16="http://schemas.microsoft.com/office/drawing/2014/main" id="{F9EA5E3D-57FF-CC4E-604A-1D351EFDEFE4}"/>
              </a:ext>
              <a:ext uri="{C183D7F6-B498-43B3-948B-1728B52AA6E4}">
                <adec:decorative xmlns:adec="http://schemas.microsoft.com/office/drawing/2017/decorative" val="1"/>
              </a:ext>
            </a:extLst>
          </p:cNvPr>
          <p:cNvSpPr>
            <a:spLocks noGrp="1"/>
          </p:cNvSpPr>
          <p:nvPr>
            <p:ph type="dt" sz="half" idx="10"/>
          </p:nvPr>
        </p:nvSpPr>
        <p:spPr/>
        <p:txBody>
          <a:bodyPr/>
          <a:lstStyle/>
          <a:p>
            <a:fld id="{D47A9A36-4EB0-BF46-AE48-7CDA251B954B}" type="datetime1">
              <a:rPr lang="en-US" smtClean="0"/>
              <a:t>10/27/2025</a:t>
            </a:fld>
            <a:endParaRPr lang="en-US" dirty="0"/>
          </a:p>
        </p:txBody>
      </p:sp>
    </p:spTree>
    <p:extLst>
      <p:ext uri="{BB962C8B-B14F-4D97-AF65-F5344CB8AC3E}">
        <p14:creationId xmlns:p14="http://schemas.microsoft.com/office/powerpoint/2010/main" val="3400584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9E996-4AA3-655E-F84C-9868DF7E91BE}"/>
              </a:ext>
            </a:extLst>
          </p:cNvPr>
          <p:cNvSpPr>
            <a:spLocks noGrp="1"/>
          </p:cNvSpPr>
          <p:nvPr>
            <p:ph type="ctrTitle"/>
          </p:nvPr>
        </p:nvSpPr>
        <p:spPr/>
        <p:txBody>
          <a:bodyPr/>
          <a:lstStyle/>
          <a:p>
            <a:r>
              <a:rPr lang="en-US" dirty="0"/>
              <a:t>Human-AI Collaboration</a:t>
            </a:r>
          </a:p>
        </p:txBody>
      </p:sp>
      <p:pic>
        <p:nvPicPr>
          <p:cNvPr id="3" name="Picture 2" descr="The abstract of &quot;Combining Human Expertise with Artificial Intelligence: Experimental Evidence from Radiology&quot; by Agarwal, Moehring, Rajpurkar, and Salz.">
            <a:extLst>
              <a:ext uri="{FF2B5EF4-FFF2-40B4-BE49-F238E27FC236}">
                <a16:creationId xmlns:a16="http://schemas.microsoft.com/office/drawing/2014/main" id="{462FE7B3-004F-5705-FFD9-CE79050C673B}"/>
              </a:ext>
            </a:extLst>
          </p:cNvPr>
          <p:cNvPicPr>
            <a:picLocks noChangeAspect="1"/>
          </p:cNvPicPr>
          <p:nvPr/>
        </p:nvPicPr>
        <p:blipFill>
          <a:blip r:embed="rId3"/>
          <a:stretch>
            <a:fillRect/>
          </a:stretch>
        </p:blipFill>
        <p:spPr>
          <a:xfrm>
            <a:off x="1333101" y="1756233"/>
            <a:ext cx="4865536" cy="3345533"/>
          </a:xfrm>
          <a:prstGeom prst="rect">
            <a:avLst/>
          </a:prstGeom>
        </p:spPr>
      </p:pic>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C7A99051-3BA4-21FC-486E-8DCA20FC788F}"/>
                  </a:ext>
                </a:extLst>
              </p:cNvPr>
              <p:cNvSpPr txBox="1"/>
              <p:nvPr/>
            </p:nvSpPr>
            <p:spPr>
              <a:xfrm>
                <a:off x="6478039" y="1860243"/>
                <a:ext cx="4287392" cy="604846"/>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𝑢</m:t>
                          </m:r>
                        </m:e>
                        <m:sub>
                          <m:r>
                            <a:rPr lang="en-US" sz="1200" b="0" i="1" smtClean="0">
                              <a:latin typeface="Cambria Math" panose="02040503050406030204" pitchFamily="18" charset="0"/>
                            </a:rPr>
                            <m:t>h</m:t>
                          </m:r>
                        </m:sub>
                      </m:sSub>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𝑎</m:t>
                          </m:r>
                          <m:r>
                            <a:rPr lang="en-US" sz="1200" b="0" i="1" smtClean="0">
                              <a:latin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𝜔</m:t>
                          </m:r>
                        </m:e>
                      </m:d>
                      <m:r>
                        <a:rPr lang="en-US" sz="1200" b="0" i="1" smtClean="0">
                          <a:latin typeface="Cambria Math" panose="02040503050406030204" pitchFamily="18" charset="0"/>
                        </a:rPr>
                        <m:t>=−1</m:t>
                      </m:r>
                      <m:r>
                        <a:rPr lang="en-US" sz="1200" b="0" i="1" smtClean="0">
                          <a:latin typeface="Cambria Math" panose="02040503050406030204" pitchFamily="18" charset="0"/>
                          <a:ea typeface="Cambria Math" panose="02040503050406030204" pitchFamily="18" charset="0"/>
                        </a:rPr>
                        <m:t>∙</m:t>
                      </m:r>
                      <m:d>
                        <m:dPr>
                          <m:begChr m:val="{"/>
                          <m:endChr m:val="}"/>
                          <m:ctrlPr>
                            <a:rPr lang="en-US" sz="1200" b="0" i="1" smtClean="0">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𝑎</m:t>
                          </m:r>
                          <m:r>
                            <a:rPr lang="en-US" sz="1200" b="0" i="1" smtClean="0">
                              <a:latin typeface="Cambria Math" panose="02040503050406030204" pitchFamily="18" charset="0"/>
                              <a:ea typeface="Cambria Math" panose="02040503050406030204" pitchFamily="18" charset="0"/>
                            </a:rPr>
                            <m:t>=1,</m:t>
                          </m:r>
                          <m:r>
                            <a:rPr lang="en-US" sz="1200" b="0" i="1" smtClean="0">
                              <a:latin typeface="Cambria Math" panose="02040503050406030204" pitchFamily="18" charset="0"/>
                              <a:ea typeface="Cambria Math" panose="02040503050406030204" pitchFamily="18" charset="0"/>
                            </a:rPr>
                            <m:t>𝜔</m:t>
                          </m:r>
                          <m:r>
                            <a:rPr lang="en-US" sz="1200" b="0" i="1" smtClean="0">
                              <a:latin typeface="Cambria Math" panose="02040503050406030204" pitchFamily="18" charset="0"/>
                              <a:ea typeface="Cambria Math" panose="02040503050406030204" pitchFamily="18" charset="0"/>
                            </a:rPr>
                            <m:t>=0</m:t>
                          </m:r>
                        </m:e>
                      </m:d>
                      <m:r>
                        <a:rPr lang="en-US" sz="1200" b="0" i="1" smtClean="0">
                          <a:latin typeface="Cambria Math" panose="02040503050406030204" pitchFamily="18" charset="0"/>
                          <a:ea typeface="Cambria Math" panose="02040503050406030204" pitchFamily="18" charset="0"/>
                        </a:rPr>
                        <m:t>∙</m:t>
                      </m:r>
                      <m:sSub>
                        <m:sSubPr>
                          <m:ctrlPr>
                            <a:rPr lang="en-US" sz="1200" b="0" i="1" smtClean="0">
                              <a:latin typeface="Cambria Math" panose="02040503050406030204" pitchFamily="18" charset="0"/>
                              <a:ea typeface="Cambria Math" panose="02040503050406030204" pitchFamily="18" charset="0"/>
                            </a:rPr>
                          </m:ctrlPr>
                        </m:sSubPr>
                        <m:e>
                          <m:r>
                            <a:rPr lang="en-US" sz="1200" b="0" i="1" smtClean="0">
                              <a:latin typeface="Cambria Math" panose="02040503050406030204" pitchFamily="18" charset="0"/>
                              <a:ea typeface="Cambria Math" panose="02040503050406030204" pitchFamily="18" charset="0"/>
                            </a:rPr>
                            <m:t>𝑐</m:t>
                          </m:r>
                        </m:e>
                        <m:sub>
                          <m:r>
                            <a:rPr lang="en-US" sz="1200" b="0" i="1" smtClean="0">
                              <a:latin typeface="Cambria Math" panose="02040503050406030204" pitchFamily="18" charset="0"/>
                              <a:ea typeface="Cambria Math" panose="02040503050406030204" pitchFamily="18" charset="0"/>
                            </a:rPr>
                            <m:t>𝐹𝑃</m:t>
                          </m:r>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h</m:t>
                          </m:r>
                        </m:sub>
                      </m:sSub>
                      <m:r>
                        <a:rPr lang="en-US" sz="1200" b="0" i="1" smtClean="0">
                          <a:latin typeface="Cambria Math" panose="02040503050406030204" pitchFamily="18" charset="0"/>
                          <a:ea typeface="Cambria Math" panose="02040503050406030204" pitchFamily="18" charset="0"/>
                        </a:rPr>
                        <m:t>−1∙</m:t>
                      </m:r>
                      <m:d>
                        <m:dPr>
                          <m:begChr m:val="{"/>
                          <m:endChr m:val="}"/>
                          <m:ctrlPr>
                            <a:rPr lang="en-US" sz="1200" b="0" i="1" smtClean="0">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𝑎</m:t>
                          </m:r>
                          <m:r>
                            <a:rPr lang="en-US" sz="1200" b="0" i="1" smtClean="0">
                              <a:latin typeface="Cambria Math" panose="02040503050406030204" pitchFamily="18" charset="0"/>
                              <a:ea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𝜔</m:t>
                          </m:r>
                          <m:r>
                            <a:rPr lang="en-US" sz="1200" b="0" i="1" smtClean="0">
                              <a:latin typeface="Cambria Math" panose="02040503050406030204" pitchFamily="18" charset="0"/>
                              <a:ea typeface="Cambria Math" panose="02040503050406030204" pitchFamily="18" charset="0"/>
                            </a:rPr>
                            <m:t>=1</m:t>
                          </m:r>
                        </m:e>
                      </m:d>
                      <m:r>
                        <a:rPr lang="en-US" sz="1200" b="0" i="1" smtClean="0">
                          <a:latin typeface="Cambria Math" panose="02040503050406030204" pitchFamily="18" charset="0"/>
                          <a:ea typeface="Cambria Math" panose="02040503050406030204" pitchFamily="18" charset="0"/>
                        </a:rPr>
                        <m:t>∙</m:t>
                      </m:r>
                      <m:sSub>
                        <m:sSubPr>
                          <m:ctrlPr>
                            <a:rPr lang="en-US" sz="1200" b="0" i="1" smtClean="0">
                              <a:latin typeface="Cambria Math" panose="02040503050406030204" pitchFamily="18" charset="0"/>
                              <a:ea typeface="Cambria Math" panose="02040503050406030204" pitchFamily="18" charset="0"/>
                            </a:rPr>
                          </m:ctrlPr>
                        </m:sSubPr>
                        <m:e>
                          <m:r>
                            <a:rPr lang="en-US" sz="1200" b="0" i="1" smtClean="0">
                              <a:latin typeface="Cambria Math" panose="02040503050406030204" pitchFamily="18" charset="0"/>
                              <a:ea typeface="Cambria Math" panose="02040503050406030204" pitchFamily="18" charset="0"/>
                            </a:rPr>
                            <m:t>𝑐</m:t>
                          </m:r>
                        </m:e>
                        <m:sub>
                          <m:r>
                            <a:rPr lang="en-US" sz="1200" b="0" i="1" smtClean="0">
                              <a:latin typeface="Cambria Math" panose="02040503050406030204" pitchFamily="18" charset="0"/>
                              <a:ea typeface="Cambria Math" panose="02040503050406030204" pitchFamily="18" charset="0"/>
                            </a:rPr>
                            <m:t>𝐹𝑁</m:t>
                          </m:r>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h</m:t>
                          </m:r>
                          <m:r>
                            <a:rPr lang="en-US" sz="1200" b="0" i="1" smtClean="0">
                              <a:latin typeface="Cambria Math" panose="02040503050406030204" pitchFamily="18" charset="0"/>
                              <a:ea typeface="Cambria Math" panose="02040503050406030204" pitchFamily="18" charset="0"/>
                            </a:rPr>
                            <m:t>∙</m:t>
                          </m:r>
                        </m:sub>
                      </m:sSub>
                    </m:oMath>
                  </m:oMathPara>
                </a14:m>
                <a:endParaRPr lang="en-US" sz="1200" b="0" i="1" dirty="0">
                  <a:latin typeface="Cambria Math" panose="02040503050406030204" pitchFamily="18" charset="0"/>
                  <a:ea typeface="Cambria Math" panose="02040503050406030204" pitchFamily="18" charset="0"/>
                </a:endParaRPr>
              </a:p>
              <a:p>
                <a14:m>
                  <m:oMathPara xmlns:m="http://schemas.openxmlformats.org/officeDocument/2006/math">
                    <m:oMathParaPr>
                      <m:jc m:val="centerGroup"/>
                    </m:oMathParaPr>
                    <m:oMath xmlns:m="http://schemas.openxmlformats.org/officeDocument/2006/math">
                      <m:sSubSup>
                        <m:sSubSupPr>
                          <m:ctrlPr>
                            <a:rPr lang="en-US" sz="1200" b="0" i="1" smtClean="0">
                              <a:latin typeface="Cambria Math" panose="02040503050406030204" pitchFamily="18" charset="0"/>
                              <a:ea typeface="Cambria Math" panose="02040503050406030204" pitchFamily="18" charset="0"/>
                            </a:rPr>
                          </m:ctrlPr>
                        </m:sSubSupPr>
                        <m:e>
                          <m:r>
                            <a:rPr lang="en-US" sz="1200" b="0" i="1" smtClean="0">
                              <a:latin typeface="Cambria Math" panose="02040503050406030204" pitchFamily="18" charset="0"/>
                              <a:ea typeface="Cambria Math" panose="02040503050406030204" pitchFamily="18" charset="0"/>
                            </a:rPr>
                            <m:t>𝑎</m:t>
                          </m:r>
                        </m:e>
                        <m:sub>
                          <m:r>
                            <a:rPr lang="en-US" sz="1200" b="0" i="1" smtClean="0">
                              <a:latin typeface="Cambria Math" panose="02040503050406030204" pitchFamily="18" charset="0"/>
                              <a:ea typeface="Cambria Math" panose="02040503050406030204" pitchFamily="18" charset="0"/>
                            </a:rPr>
                            <m:t>h</m:t>
                          </m:r>
                        </m:sub>
                        <m:sup>
                          <m:r>
                            <a:rPr lang="en-US" sz="1200" b="0" i="1" smtClean="0">
                              <a:latin typeface="Cambria Math" panose="02040503050406030204" pitchFamily="18" charset="0"/>
                              <a:ea typeface="Cambria Math" panose="02040503050406030204" pitchFamily="18" charset="0"/>
                            </a:rPr>
                            <m:t>∗</m:t>
                          </m:r>
                        </m:sup>
                      </m:sSubSup>
                      <m:d>
                        <m:dPr>
                          <m:ctrlPr>
                            <a:rPr lang="en-US" sz="1200" b="0" i="1" smtClean="0">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𝑠</m:t>
                          </m:r>
                          <m:r>
                            <a:rPr lang="en-US" sz="1200" b="0" i="1" smtClean="0">
                              <a:latin typeface="Cambria Math" panose="02040503050406030204" pitchFamily="18" charset="0"/>
                              <a:ea typeface="Cambria Math" panose="02040503050406030204" pitchFamily="18" charset="0"/>
                            </a:rPr>
                            <m:t>;</m:t>
                          </m:r>
                          <m:sSub>
                            <m:sSubPr>
                              <m:ctrlPr>
                                <a:rPr lang="en-US" sz="1200" b="0" i="1" smtClean="0">
                                  <a:latin typeface="Cambria Math" panose="02040503050406030204" pitchFamily="18" charset="0"/>
                                  <a:ea typeface="Cambria Math" panose="02040503050406030204" pitchFamily="18" charset="0"/>
                                </a:rPr>
                              </m:ctrlPr>
                            </m:sSubPr>
                            <m:e>
                              <m:r>
                                <a:rPr lang="en-US" sz="1200" b="0" i="1" smtClean="0">
                                  <a:latin typeface="Cambria Math" panose="02040503050406030204" pitchFamily="18" charset="0"/>
                                  <a:ea typeface="Cambria Math" panose="02040503050406030204" pitchFamily="18" charset="0"/>
                                </a:rPr>
                                <m:t>𝑝</m:t>
                              </m:r>
                            </m:e>
                            <m:sub>
                              <m:r>
                                <a:rPr lang="en-US" sz="1200" b="0" i="1" smtClean="0">
                                  <a:latin typeface="Cambria Math" panose="02040503050406030204" pitchFamily="18" charset="0"/>
                                  <a:ea typeface="Cambria Math" panose="02040503050406030204" pitchFamily="18" charset="0"/>
                                </a:rPr>
                                <m:t>h</m:t>
                              </m:r>
                            </m:sub>
                          </m:sSub>
                        </m:e>
                      </m:d>
                      <m:r>
                        <a:rPr lang="en-US" sz="1200" b="0" i="1" smtClean="0">
                          <a:latin typeface="Cambria Math" panose="02040503050406030204" pitchFamily="18" charset="0"/>
                          <a:ea typeface="Cambria Math" panose="02040503050406030204" pitchFamily="18" charset="0"/>
                        </a:rPr>
                        <m:t>=1∙</m:t>
                      </m:r>
                      <m:d>
                        <m:dPr>
                          <m:begChr m:val="{"/>
                          <m:endChr m:val="}"/>
                          <m:ctrlPr>
                            <a:rPr lang="en-US" sz="1200" b="0" i="1" smtClean="0">
                              <a:latin typeface="Cambria Math" panose="02040503050406030204" pitchFamily="18" charset="0"/>
                              <a:ea typeface="Cambria Math" panose="02040503050406030204" pitchFamily="18" charset="0"/>
                            </a:rPr>
                          </m:ctrlPr>
                        </m:dPr>
                        <m:e>
                          <m:f>
                            <m:fPr>
                              <m:ctrlPr>
                                <a:rPr lang="en-US" sz="1200" i="1">
                                  <a:latin typeface="Cambria Math" panose="02040503050406030204" pitchFamily="18" charset="0"/>
                                  <a:ea typeface="Cambria Math" panose="02040503050406030204" pitchFamily="18" charset="0"/>
                                </a:rPr>
                              </m:ctrlPr>
                            </m:fPr>
                            <m:num>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𝑝</m:t>
                                  </m:r>
                                </m:e>
                                <m:sub>
                                  <m:r>
                                    <a:rPr lang="en-US" sz="1200" i="1">
                                      <a:latin typeface="Cambria Math" panose="02040503050406030204" pitchFamily="18" charset="0"/>
                                      <a:ea typeface="Cambria Math" panose="02040503050406030204" pitchFamily="18" charset="0"/>
                                    </a:rPr>
                                    <m:t>h</m:t>
                                  </m:r>
                                </m:sub>
                              </m:sSub>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𝜔</m:t>
                              </m:r>
                              <m:r>
                                <a:rPr lang="en-US" sz="1200" i="1">
                                  <a:latin typeface="Cambria Math" panose="02040503050406030204" pitchFamily="18" charset="0"/>
                                  <a:ea typeface="Cambria Math" panose="02040503050406030204" pitchFamily="18" charset="0"/>
                                </a:rPr>
                                <m:t>=1|</m:t>
                              </m:r>
                              <m:r>
                                <a:rPr lang="en-US" sz="1200" i="1">
                                  <a:latin typeface="Cambria Math" panose="02040503050406030204" pitchFamily="18" charset="0"/>
                                  <a:ea typeface="Cambria Math" panose="02040503050406030204" pitchFamily="18" charset="0"/>
                                </a:rPr>
                                <m:t>𝑠</m:t>
                              </m:r>
                              <m:r>
                                <a:rPr lang="en-US" sz="1200" i="1">
                                  <a:latin typeface="Cambria Math" panose="02040503050406030204" pitchFamily="18" charset="0"/>
                                  <a:ea typeface="Cambria Math" panose="02040503050406030204" pitchFamily="18" charset="0"/>
                                </a:rPr>
                                <m:t>)</m:t>
                              </m:r>
                            </m:num>
                            <m:den>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𝑝</m:t>
                                  </m:r>
                                </m:e>
                                <m:sub>
                                  <m:r>
                                    <a:rPr lang="en-US" sz="1200" i="1">
                                      <a:latin typeface="Cambria Math" panose="02040503050406030204" pitchFamily="18" charset="0"/>
                                      <a:ea typeface="Cambria Math" panose="02040503050406030204" pitchFamily="18" charset="0"/>
                                    </a:rPr>
                                    <m:t>h</m:t>
                                  </m:r>
                                </m:sub>
                              </m:sSub>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𝜔</m:t>
                              </m:r>
                              <m:r>
                                <a:rPr lang="en-US" sz="1200" i="1">
                                  <a:latin typeface="Cambria Math" panose="02040503050406030204" pitchFamily="18" charset="0"/>
                                  <a:ea typeface="Cambria Math" panose="02040503050406030204" pitchFamily="18" charset="0"/>
                                </a:rPr>
                                <m:t>=0|</m:t>
                              </m:r>
                              <m:r>
                                <a:rPr lang="en-US" sz="1200" i="1">
                                  <a:latin typeface="Cambria Math" panose="02040503050406030204" pitchFamily="18" charset="0"/>
                                  <a:ea typeface="Cambria Math" panose="02040503050406030204" pitchFamily="18" charset="0"/>
                                </a:rPr>
                                <m:t>𝑠</m:t>
                              </m:r>
                              <m:r>
                                <a:rPr lang="en-US" sz="1200" i="1">
                                  <a:latin typeface="Cambria Math" panose="02040503050406030204" pitchFamily="18" charset="0"/>
                                  <a:ea typeface="Cambria Math" panose="02040503050406030204" pitchFamily="18" charset="0"/>
                                </a:rPr>
                                <m:t>)</m:t>
                              </m:r>
                            </m:den>
                          </m:f>
                          <m:r>
                            <a:rPr lang="en-US" sz="1200" i="1" smtClean="0">
                              <a:latin typeface="Cambria Math" panose="02040503050406030204" pitchFamily="18" charset="0"/>
                              <a:ea typeface="Cambria Math" panose="02040503050406030204" pitchFamily="18" charset="0"/>
                            </a:rPr>
                            <m:t>&gt;</m:t>
                          </m:r>
                          <m:sSub>
                            <m:sSubPr>
                              <m:ctrlPr>
                                <a:rPr lang="en-US" sz="1200" i="1" smtClean="0">
                                  <a:latin typeface="Cambria Math" panose="02040503050406030204" pitchFamily="18" charset="0"/>
                                  <a:ea typeface="Cambria Math" panose="02040503050406030204" pitchFamily="18" charset="0"/>
                                </a:rPr>
                              </m:ctrlPr>
                            </m:sSubPr>
                            <m:e>
                              <m:r>
                                <a:rPr lang="en-US" sz="1200" b="0" i="1" smtClean="0">
                                  <a:latin typeface="Cambria Math" panose="02040503050406030204" pitchFamily="18" charset="0"/>
                                  <a:ea typeface="Cambria Math" panose="02040503050406030204" pitchFamily="18" charset="0"/>
                                </a:rPr>
                                <m:t>𝑐</m:t>
                              </m:r>
                            </m:e>
                            <m:sub>
                              <m:r>
                                <a:rPr lang="en-US" sz="1200" b="0" i="1" smtClean="0">
                                  <a:latin typeface="Cambria Math" panose="02040503050406030204" pitchFamily="18" charset="0"/>
                                  <a:ea typeface="Cambria Math" panose="02040503050406030204" pitchFamily="18" charset="0"/>
                                </a:rPr>
                                <m:t>𝑟𝑒𝑙</m:t>
                              </m:r>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h</m:t>
                              </m:r>
                            </m:sub>
                          </m:sSub>
                          <m:r>
                            <a:rPr lang="en-US" sz="1200" i="1" smtClean="0">
                              <a:latin typeface="Cambria Math" panose="02040503050406030204" pitchFamily="18" charset="0"/>
                              <a:ea typeface="Cambria Math" panose="02040503050406030204" pitchFamily="18" charset="0"/>
                            </a:rPr>
                            <m:t>≡</m:t>
                          </m:r>
                          <m:f>
                            <m:fPr>
                              <m:ctrlPr>
                                <a:rPr lang="en-US" sz="1200" i="1" smtClean="0">
                                  <a:latin typeface="Cambria Math" panose="02040503050406030204" pitchFamily="18" charset="0"/>
                                  <a:ea typeface="Cambria Math" panose="02040503050406030204" pitchFamily="18" charset="0"/>
                                </a:rPr>
                              </m:ctrlPr>
                            </m:fPr>
                            <m:num>
                              <m:sSub>
                                <m:sSubPr>
                                  <m:ctrlPr>
                                    <a:rPr lang="en-US" sz="1200" i="1" smtClean="0">
                                      <a:latin typeface="Cambria Math" panose="02040503050406030204" pitchFamily="18" charset="0"/>
                                      <a:ea typeface="Cambria Math" panose="02040503050406030204" pitchFamily="18" charset="0"/>
                                    </a:rPr>
                                  </m:ctrlPr>
                                </m:sSubPr>
                                <m:e>
                                  <m:r>
                                    <a:rPr lang="en-US" sz="1200" b="0" i="1" smtClean="0">
                                      <a:latin typeface="Cambria Math" panose="02040503050406030204" pitchFamily="18" charset="0"/>
                                      <a:ea typeface="Cambria Math" panose="02040503050406030204" pitchFamily="18" charset="0"/>
                                    </a:rPr>
                                    <m:t>𝑐</m:t>
                                  </m:r>
                                </m:e>
                                <m:sub>
                                  <m:r>
                                    <a:rPr lang="en-US" sz="1200" b="0" i="1" smtClean="0">
                                      <a:latin typeface="Cambria Math" panose="02040503050406030204" pitchFamily="18" charset="0"/>
                                      <a:ea typeface="Cambria Math" panose="02040503050406030204" pitchFamily="18" charset="0"/>
                                    </a:rPr>
                                    <m:t>𝐹𝑃</m:t>
                                  </m:r>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h</m:t>
                                  </m:r>
                                </m:sub>
                              </m:sSub>
                            </m:num>
                            <m:den>
                              <m:sSub>
                                <m:sSubPr>
                                  <m:ctrlPr>
                                    <a:rPr lang="en-US" sz="1200" i="1" smtClean="0">
                                      <a:latin typeface="Cambria Math" panose="02040503050406030204" pitchFamily="18" charset="0"/>
                                      <a:ea typeface="Cambria Math" panose="02040503050406030204" pitchFamily="18" charset="0"/>
                                    </a:rPr>
                                  </m:ctrlPr>
                                </m:sSubPr>
                                <m:e>
                                  <m:r>
                                    <a:rPr lang="en-US" sz="1200" b="0" i="1" smtClean="0">
                                      <a:latin typeface="Cambria Math" panose="02040503050406030204" pitchFamily="18" charset="0"/>
                                      <a:ea typeface="Cambria Math" panose="02040503050406030204" pitchFamily="18" charset="0"/>
                                    </a:rPr>
                                    <m:t>𝑐</m:t>
                                  </m:r>
                                </m:e>
                                <m:sub>
                                  <m:r>
                                    <a:rPr lang="en-US" sz="1200" b="0" i="1" smtClean="0">
                                      <a:latin typeface="Cambria Math" panose="02040503050406030204" pitchFamily="18" charset="0"/>
                                      <a:ea typeface="Cambria Math" panose="02040503050406030204" pitchFamily="18" charset="0"/>
                                    </a:rPr>
                                    <m:t>𝐹𝑁</m:t>
                                  </m:r>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h</m:t>
                                  </m:r>
                                </m:sub>
                              </m:sSub>
                            </m:den>
                          </m:f>
                        </m:e>
                      </m:d>
                      <m:r>
                        <a:rPr lang="en-US" sz="1200" b="0" i="1" smtClean="0">
                          <a:latin typeface="Cambria Math" panose="02040503050406030204" pitchFamily="18" charset="0"/>
                          <a:ea typeface="Cambria Math" panose="02040503050406030204" pitchFamily="18" charset="0"/>
                        </a:rPr>
                        <m:t>∙</m:t>
                      </m:r>
                    </m:oMath>
                  </m:oMathPara>
                </a14:m>
                <a:endParaRPr lang="en-US" sz="1200" dirty="0"/>
              </a:p>
            </p:txBody>
          </p:sp>
        </mc:Choice>
        <mc:Fallback>
          <p:sp>
            <p:nvSpPr>
              <p:cNvPr id="8" name="TextBox 7">
                <a:extLst>
                  <a:ext uri="{FF2B5EF4-FFF2-40B4-BE49-F238E27FC236}">
                    <a16:creationId xmlns:a16="http://schemas.microsoft.com/office/drawing/2014/main" id="{C7A99051-3BA4-21FC-486E-8DCA20FC788F}"/>
                  </a:ext>
                </a:extLst>
              </p:cNvPr>
              <p:cNvSpPr txBox="1">
                <a:spLocks noRot="1" noChangeAspect="1" noMove="1" noResize="1" noEditPoints="1" noAdjustHandles="1" noChangeArrowheads="1" noChangeShapeType="1" noTextEdit="1"/>
              </p:cNvSpPr>
              <p:nvPr/>
            </p:nvSpPr>
            <p:spPr>
              <a:xfrm>
                <a:off x="6478039" y="1860243"/>
                <a:ext cx="4287392" cy="604846"/>
              </a:xfrm>
              <a:prstGeom prst="rect">
                <a:avLst/>
              </a:prstGeom>
              <a:blipFill>
                <a:blip r:embed="rId4"/>
                <a:stretch>
                  <a:fillRect l="-142" b="-11111"/>
                </a:stretch>
              </a:blipFill>
            </p:spPr>
            <p:txBody>
              <a:bodyPr/>
              <a:lstStyle/>
              <a:p>
                <a:r>
                  <a:rPr lang="en-US">
                    <a:noFill/>
                  </a:rPr>
                  <a:t> </a:t>
                </a:r>
              </a:p>
            </p:txBody>
          </p:sp>
        </mc:Fallback>
      </mc:AlternateContent>
      <p:pic>
        <p:nvPicPr>
          <p:cNvPr id="11" name="Picture 10" descr="Figure 10, titled “Loss-time frontier,” shows a downward-sloping curve comparing relative mean decision loss to mean time spent per case. The chart illustrates that optimal human-AI collaboration achieves lower decision loss with less time compared to AI-only or human-only approaches.">
            <a:extLst>
              <a:ext uri="{FF2B5EF4-FFF2-40B4-BE49-F238E27FC236}">
                <a16:creationId xmlns:a16="http://schemas.microsoft.com/office/drawing/2014/main" id="{613A99DA-A00B-A89E-6D37-310E254371F6}"/>
              </a:ext>
            </a:extLst>
          </p:cNvPr>
          <p:cNvPicPr>
            <a:picLocks noChangeAspect="1"/>
          </p:cNvPicPr>
          <p:nvPr/>
        </p:nvPicPr>
        <p:blipFill>
          <a:blip r:embed="rId5"/>
          <a:stretch>
            <a:fillRect/>
          </a:stretch>
        </p:blipFill>
        <p:spPr>
          <a:xfrm>
            <a:off x="6714131" y="2649920"/>
            <a:ext cx="4051300" cy="3201157"/>
          </a:xfrm>
          <a:prstGeom prst="rect">
            <a:avLst/>
          </a:prstGeom>
        </p:spPr>
      </p:pic>
      <p:sp>
        <p:nvSpPr>
          <p:cNvPr id="6" name="Slide Number Placeholder 5">
            <a:extLst>
              <a:ext uri="{FF2B5EF4-FFF2-40B4-BE49-F238E27FC236}">
                <a16:creationId xmlns:a16="http://schemas.microsoft.com/office/drawing/2014/main" id="{EB0E7CD8-9AF0-FAB0-81E4-D0FDDCB3EC9A}"/>
              </a:ext>
            </a:extLst>
          </p:cNvPr>
          <p:cNvSpPr>
            <a:spLocks noGrp="1"/>
          </p:cNvSpPr>
          <p:nvPr>
            <p:ph type="sldNum" sz="quarter" idx="12"/>
          </p:nvPr>
        </p:nvSpPr>
        <p:spPr/>
        <p:txBody>
          <a:bodyPr/>
          <a:lstStyle/>
          <a:p>
            <a:fld id="{8A7A6979-0714-4377-B894-6BE4C2D6E202}" type="slidenum">
              <a:rPr lang="en-US" smtClean="0"/>
              <a:pPr/>
              <a:t>30</a:t>
            </a:fld>
            <a:endParaRPr lang="en-US" dirty="0"/>
          </a:p>
        </p:txBody>
      </p:sp>
      <p:sp>
        <p:nvSpPr>
          <p:cNvPr id="5" name="Date Placeholder 4">
            <a:extLst>
              <a:ext uri="{FF2B5EF4-FFF2-40B4-BE49-F238E27FC236}">
                <a16:creationId xmlns:a16="http://schemas.microsoft.com/office/drawing/2014/main" id="{F9EA5E3D-57FF-CC4E-604A-1D351EFDEFE4}"/>
              </a:ext>
            </a:extLst>
          </p:cNvPr>
          <p:cNvSpPr>
            <a:spLocks noGrp="1"/>
          </p:cNvSpPr>
          <p:nvPr>
            <p:ph type="dt" sz="half" idx="10"/>
          </p:nvPr>
        </p:nvSpPr>
        <p:spPr/>
        <p:txBody>
          <a:bodyPr/>
          <a:lstStyle/>
          <a:p>
            <a:fld id="{D47A9A36-4EB0-BF46-AE48-7CDA251B954B}" type="datetime1">
              <a:rPr lang="en-US" smtClean="0"/>
              <a:t>10/27/2025</a:t>
            </a:fld>
            <a:endParaRPr lang="en-US" dirty="0"/>
          </a:p>
        </p:txBody>
      </p:sp>
    </p:spTree>
    <p:extLst>
      <p:ext uri="{BB962C8B-B14F-4D97-AF65-F5344CB8AC3E}">
        <p14:creationId xmlns:p14="http://schemas.microsoft.com/office/powerpoint/2010/main" val="330175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7604B-F218-B234-AA83-A90BCAD831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773DEA-81C0-E72A-86DC-3E29863F367C}"/>
              </a:ext>
            </a:extLst>
          </p:cNvPr>
          <p:cNvSpPr>
            <a:spLocks noGrp="1"/>
          </p:cNvSpPr>
          <p:nvPr>
            <p:ph type="ctrTitle"/>
          </p:nvPr>
        </p:nvSpPr>
        <p:spPr/>
        <p:txBody>
          <a:bodyPr/>
          <a:lstStyle/>
          <a:p>
            <a:r>
              <a:rPr lang="en-US" dirty="0"/>
              <a:t>Additional Work</a:t>
            </a:r>
          </a:p>
        </p:txBody>
      </p:sp>
      <p:sp>
        <p:nvSpPr>
          <p:cNvPr id="8" name="Text Placeholder 3">
            <a:extLst>
              <a:ext uri="{FF2B5EF4-FFF2-40B4-BE49-F238E27FC236}">
                <a16:creationId xmlns:a16="http://schemas.microsoft.com/office/drawing/2014/main" id="{DAEA6C8A-D957-6D26-1F17-E3FDB3E520E4}"/>
              </a:ext>
            </a:extLst>
          </p:cNvPr>
          <p:cNvSpPr>
            <a:spLocks noGrp="1"/>
          </p:cNvSpPr>
          <p:nvPr>
            <p:ph type="body" sz="quarter" idx="14"/>
          </p:nvPr>
        </p:nvSpPr>
        <p:spPr>
          <a:xfrm>
            <a:off x="1947370" y="1699033"/>
            <a:ext cx="7489823" cy="3459933"/>
          </a:xfrm>
        </p:spPr>
        <p:txBody>
          <a:bodyPr>
            <a:normAutofit/>
          </a:bodyPr>
          <a:lstStyle/>
          <a:p>
            <a:r>
              <a:rPr lang="en-US" sz="2400" dirty="0"/>
              <a:t>Social influence online</a:t>
            </a:r>
          </a:p>
          <a:p>
            <a:pPr lvl="1"/>
            <a:r>
              <a:rPr lang="en-US" sz="2400" dirty="0"/>
              <a:t>How do social norms influence health behaviors</a:t>
            </a:r>
          </a:p>
          <a:p>
            <a:pPr lvl="1"/>
            <a:r>
              <a:rPr lang="en-US" sz="2400" dirty="0"/>
              <a:t>How do social image concerns impact online behaviors</a:t>
            </a:r>
          </a:p>
          <a:p>
            <a:endParaRPr lang="en-US" sz="2400" dirty="0"/>
          </a:p>
          <a:p>
            <a:r>
              <a:rPr lang="en-US" sz="2400" dirty="0"/>
              <a:t>Ongoing work: Human-AI collaboration</a:t>
            </a:r>
          </a:p>
          <a:p>
            <a:pPr lvl="1"/>
            <a:r>
              <a:rPr lang="en-US" sz="2400" dirty="0"/>
              <a:t>How to design human-AI collaboration accounting for endogenous human responses</a:t>
            </a:r>
          </a:p>
        </p:txBody>
      </p:sp>
      <p:sp>
        <p:nvSpPr>
          <p:cNvPr id="6" name="Slide Number Placeholder 5">
            <a:extLst>
              <a:ext uri="{FF2B5EF4-FFF2-40B4-BE49-F238E27FC236}">
                <a16:creationId xmlns:a16="http://schemas.microsoft.com/office/drawing/2014/main" id="{BA534197-EEFD-4C6D-4B45-F745B04B73D0}"/>
              </a:ext>
            </a:extLst>
          </p:cNvPr>
          <p:cNvSpPr>
            <a:spLocks noGrp="1"/>
          </p:cNvSpPr>
          <p:nvPr>
            <p:ph type="sldNum" sz="quarter" idx="12"/>
          </p:nvPr>
        </p:nvSpPr>
        <p:spPr/>
        <p:txBody>
          <a:bodyPr/>
          <a:lstStyle/>
          <a:p>
            <a:fld id="{8A7A6979-0714-4377-B894-6BE4C2D6E202}" type="slidenum">
              <a:rPr lang="en-US" smtClean="0"/>
              <a:pPr/>
              <a:t>31</a:t>
            </a:fld>
            <a:endParaRPr lang="en-US" dirty="0"/>
          </a:p>
        </p:txBody>
      </p:sp>
      <p:sp>
        <p:nvSpPr>
          <p:cNvPr id="5" name="Date Placeholder 4">
            <a:extLst>
              <a:ext uri="{FF2B5EF4-FFF2-40B4-BE49-F238E27FC236}">
                <a16:creationId xmlns:a16="http://schemas.microsoft.com/office/drawing/2014/main" id="{580545C8-8190-0E77-F4B6-11EBB9A73860}"/>
              </a:ext>
            </a:extLst>
          </p:cNvPr>
          <p:cNvSpPr>
            <a:spLocks noGrp="1"/>
          </p:cNvSpPr>
          <p:nvPr>
            <p:ph type="dt" sz="half" idx="10"/>
          </p:nvPr>
        </p:nvSpPr>
        <p:spPr/>
        <p:txBody>
          <a:bodyPr/>
          <a:lstStyle/>
          <a:p>
            <a:fld id="{D47A9A36-4EB0-BF46-AE48-7CDA251B954B}" type="datetime1">
              <a:rPr lang="en-US" smtClean="0"/>
              <a:t>10/27/2025</a:t>
            </a:fld>
            <a:endParaRPr lang="en-US" dirty="0"/>
          </a:p>
        </p:txBody>
      </p:sp>
    </p:spTree>
    <p:extLst>
      <p:ext uri="{BB962C8B-B14F-4D97-AF65-F5344CB8AC3E}">
        <p14:creationId xmlns:p14="http://schemas.microsoft.com/office/powerpoint/2010/main" val="39979580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9E996-4AA3-655E-F84C-9868DF7E91BE}"/>
              </a:ext>
            </a:extLst>
          </p:cNvPr>
          <p:cNvSpPr>
            <a:spLocks noGrp="1"/>
          </p:cNvSpPr>
          <p:nvPr>
            <p:ph type="ctrTitle"/>
          </p:nvPr>
        </p:nvSpPr>
        <p:spPr/>
        <p:txBody>
          <a:bodyPr/>
          <a:lstStyle/>
          <a:p>
            <a:r>
              <a:rPr lang="en-US" dirty="0"/>
              <a:t>Office Hours + Contacting Me</a:t>
            </a:r>
          </a:p>
        </p:txBody>
      </p:sp>
      <p:sp>
        <p:nvSpPr>
          <p:cNvPr id="4" name="Text Placeholder 3">
            <a:extLst>
              <a:ext uri="{FF2B5EF4-FFF2-40B4-BE49-F238E27FC236}">
                <a16:creationId xmlns:a16="http://schemas.microsoft.com/office/drawing/2014/main" id="{6CFB388B-2B96-8A5A-AB30-50ECE4525A0D}"/>
              </a:ext>
            </a:extLst>
          </p:cNvPr>
          <p:cNvSpPr>
            <a:spLocks noGrp="1"/>
          </p:cNvSpPr>
          <p:nvPr>
            <p:ph type="body" sz="quarter" idx="14"/>
          </p:nvPr>
        </p:nvSpPr>
        <p:spPr/>
        <p:txBody>
          <a:bodyPr>
            <a:normAutofit/>
          </a:bodyPr>
          <a:lstStyle/>
          <a:p>
            <a:r>
              <a:rPr lang="en-US" sz="2000" dirty="0"/>
              <a:t>My office is Kran 540</a:t>
            </a:r>
          </a:p>
          <a:p>
            <a:endParaRPr lang="en-US" sz="2000" dirty="0"/>
          </a:p>
          <a:p>
            <a:r>
              <a:rPr lang="en-US" sz="2000" dirty="0"/>
              <a:t>Office hours Tuesdays 6-7pm or by appointment</a:t>
            </a:r>
          </a:p>
          <a:p>
            <a:endParaRPr lang="en-US" sz="2000" dirty="0"/>
          </a:p>
          <a:p>
            <a:r>
              <a:rPr lang="en-US" sz="2000" dirty="0"/>
              <a:t>Happy to discuss course content, advanced topics, applications, research, … </a:t>
            </a:r>
          </a:p>
          <a:p>
            <a:endParaRPr lang="en-US" sz="2000" dirty="0"/>
          </a:p>
          <a:p>
            <a:r>
              <a:rPr lang="en-US" sz="2000" dirty="0"/>
              <a:t>Email guidelines (</a:t>
            </a:r>
            <a:r>
              <a:rPr lang="en-US" sz="2000" dirty="0" err="1"/>
              <a:t>moehring@purdue.edu</a:t>
            </a:r>
            <a:r>
              <a:rPr lang="en-US" sz="2000" dirty="0"/>
              <a:t>)</a:t>
            </a:r>
          </a:p>
          <a:p>
            <a:pPr lvl="1"/>
            <a:r>
              <a:rPr lang="en-US" sz="2000" dirty="0"/>
              <a:t>MGMT 682: [[Informative summary]]</a:t>
            </a:r>
          </a:p>
          <a:p>
            <a:pPr lvl="1"/>
            <a:r>
              <a:rPr lang="en-US" sz="2000" dirty="0"/>
              <a:t>Follow–up if I don’t respond within 1 business day</a:t>
            </a:r>
          </a:p>
        </p:txBody>
      </p:sp>
      <p:sp>
        <p:nvSpPr>
          <p:cNvPr id="6" name="Slide Number Placeholder 5">
            <a:extLst>
              <a:ext uri="{FF2B5EF4-FFF2-40B4-BE49-F238E27FC236}">
                <a16:creationId xmlns:a16="http://schemas.microsoft.com/office/drawing/2014/main" id="{EB0E7CD8-9AF0-FAB0-81E4-D0FDDCB3EC9A}"/>
              </a:ext>
            </a:extLst>
          </p:cNvPr>
          <p:cNvSpPr>
            <a:spLocks noGrp="1"/>
          </p:cNvSpPr>
          <p:nvPr>
            <p:ph type="sldNum" sz="quarter" idx="12"/>
          </p:nvPr>
        </p:nvSpPr>
        <p:spPr/>
        <p:txBody>
          <a:bodyPr/>
          <a:lstStyle/>
          <a:p>
            <a:fld id="{8A7A6979-0714-4377-B894-6BE4C2D6E202}" type="slidenum">
              <a:rPr lang="en-US" smtClean="0"/>
              <a:pPr/>
              <a:t>32</a:t>
            </a:fld>
            <a:endParaRPr lang="en-US" dirty="0"/>
          </a:p>
        </p:txBody>
      </p:sp>
      <p:sp>
        <p:nvSpPr>
          <p:cNvPr id="5" name="Date Placeholder 4">
            <a:extLst>
              <a:ext uri="{FF2B5EF4-FFF2-40B4-BE49-F238E27FC236}">
                <a16:creationId xmlns:a16="http://schemas.microsoft.com/office/drawing/2014/main" id="{F9EA5E3D-57FF-CC4E-604A-1D351EFDEFE4}"/>
              </a:ext>
            </a:extLst>
          </p:cNvPr>
          <p:cNvSpPr>
            <a:spLocks noGrp="1"/>
          </p:cNvSpPr>
          <p:nvPr>
            <p:ph type="dt" sz="half" idx="10"/>
          </p:nvPr>
        </p:nvSpPr>
        <p:spPr/>
        <p:txBody>
          <a:bodyPr/>
          <a:lstStyle/>
          <a:p>
            <a:fld id="{D47A9A36-4EB0-BF46-AE48-7CDA251B954B}" type="datetime1">
              <a:rPr lang="en-US" smtClean="0"/>
              <a:t>10/27/2025</a:t>
            </a:fld>
            <a:endParaRPr lang="en-US" dirty="0"/>
          </a:p>
        </p:txBody>
      </p:sp>
    </p:spTree>
    <p:extLst>
      <p:ext uri="{BB962C8B-B14F-4D97-AF65-F5344CB8AC3E}">
        <p14:creationId xmlns:p14="http://schemas.microsoft.com/office/powerpoint/2010/main" val="18940257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A42AF-1E60-6721-2747-79A4DDB764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FC5A39-52DA-EA01-5FC2-6EF854AB74B6}"/>
              </a:ext>
            </a:extLst>
          </p:cNvPr>
          <p:cNvSpPr>
            <a:spLocks noGrp="1"/>
          </p:cNvSpPr>
          <p:nvPr>
            <p:ph type="ctrTitle"/>
          </p:nvPr>
        </p:nvSpPr>
        <p:spPr>
          <a:xfrm>
            <a:off x="2647199" y="1501742"/>
            <a:ext cx="7300940" cy="1329595"/>
          </a:xfrm>
        </p:spPr>
        <p:txBody>
          <a:bodyPr/>
          <a:lstStyle/>
          <a:p>
            <a:r>
              <a:rPr lang="en-US" dirty="0"/>
              <a:t>Introductions:</a:t>
            </a:r>
            <a:br>
              <a:rPr lang="en-US" dirty="0"/>
            </a:br>
            <a:r>
              <a:rPr lang="en-US" dirty="0"/>
              <a:t>About you</a:t>
            </a:r>
          </a:p>
        </p:txBody>
      </p:sp>
      <p:sp>
        <p:nvSpPr>
          <p:cNvPr id="5" name="Slide Number Placeholder 4">
            <a:extLst>
              <a:ext uri="{FF2B5EF4-FFF2-40B4-BE49-F238E27FC236}">
                <a16:creationId xmlns:a16="http://schemas.microsoft.com/office/drawing/2014/main" id="{A74EEA43-1B5D-C6C4-6E02-3ED03AE6D286}"/>
              </a:ext>
            </a:extLst>
          </p:cNvPr>
          <p:cNvSpPr>
            <a:spLocks noGrp="1"/>
          </p:cNvSpPr>
          <p:nvPr>
            <p:ph type="sldNum" sz="quarter" idx="12"/>
          </p:nvPr>
        </p:nvSpPr>
        <p:spPr/>
        <p:txBody>
          <a:bodyPr/>
          <a:lstStyle/>
          <a:p>
            <a:fld id="{8A7A6979-0714-4377-B894-6BE4C2D6E202}" type="slidenum">
              <a:rPr lang="en-US" smtClean="0"/>
              <a:pPr/>
              <a:t>33</a:t>
            </a:fld>
            <a:endParaRPr lang="en-US" dirty="0"/>
          </a:p>
        </p:txBody>
      </p:sp>
      <p:sp>
        <p:nvSpPr>
          <p:cNvPr id="4" name="Date Placeholder 3">
            <a:extLst>
              <a:ext uri="{FF2B5EF4-FFF2-40B4-BE49-F238E27FC236}">
                <a16:creationId xmlns:a16="http://schemas.microsoft.com/office/drawing/2014/main" id="{716A2566-4274-E433-734B-8A2696DAE27D}"/>
              </a:ext>
            </a:extLst>
          </p:cNvPr>
          <p:cNvSpPr>
            <a:spLocks noGrp="1"/>
          </p:cNvSpPr>
          <p:nvPr>
            <p:ph type="dt" sz="half" idx="10"/>
          </p:nvPr>
        </p:nvSpPr>
        <p:spPr/>
        <p:txBody>
          <a:bodyPr/>
          <a:lstStyle/>
          <a:p>
            <a:fld id="{D47A9A36-4EB0-BF46-AE48-7CDA251B954B}" type="datetime1">
              <a:rPr lang="en-US" smtClean="0"/>
              <a:pPr/>
              <a:t>10/27/2025</a:t>
            </a:fld>
            <a:endParaRPr lang="en-US" dirty="0"/>
          </a:p>
        </p:txBody>
      </p:sp>
    </p:spTree>
    <p:extLst>
      <p:ext uri="{BB962C8B-B14F-4D97-AF65-F5344CB8AC3E}">
        <p14:creationId xmlns:p14="http://schemas.microsoft.com/office/powerpoint/2010/main" val="6283829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89C3F-4E52-CB66-0AFC-689BD371E8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B0C3F1-6092-F91C-1D81-6995357324BB}"/>
              </a:ext>
            </a:extLst>
          </p:cNvPr>
          <p:cNvSpPr>
            <a:spLocks noGrp="1"/>
          </p:cNvSpPr>
          <p:nvPr>
            <p:ph type="ctrTitle"/>
          </p:nvPr>
        </p:nvSpPr>
        <p:spPr/>
        <p:txBody>
          <a:bodyPr/>
          <a:lstStyle/>
          <a:p>
            <a:r>
              <a:rPr lang="en-US" dirty="0"/>
              <a:t>Introductions</a:t>
            </a:r>
          </a:p>
        </p:txBody>
      </p:sp>
      <p:sp>
        <p:nvSpPr>
          <p:cNvPr id="4" name="Text Placeholder 3">
            <a:extLst>
              <a:ext uri="{FF2B5EF4-FFF2-40B4-BE49-F238E27FC236}">
                <a16:creationId xmlns:a16="http://schemas.microsoft.com/office/drawing/2014/main" id="{F1DDC844-46AB-4162-F800-042E4516FEEC}"/>
              </a:ext>
            </a:extLst>
          </p:cNvPr>
          <p:cNvSpPr>
            <a:spLocks noGrp="1"/>
          </p:cNvSpPr>
          <p:nvPr>
            <p:ph type="body" sz="quarter" idx="14"/>
          </p:nvPr>
        </p:nvSpPr>
        <p:spPr>
          <a:xfrm>
            <a:off x="2071193" y="1723231"/>
            <a:ext cx="7366000" cy="3411537"/>
          </a:xfrm>
        </p:spPr>
        <p:txBody>
          <a:bodyPr>
            <a:normAutofit/>
          </a:bodyPr>
          <a:lstStyle/>
          <a:p>
            <a:r>
              <a:rPr lang="en-US" sz="2000" dirty="0"/>
              <a:t>Name</a:t>
            </a:r>
          </a:p>
          <a:p>
            <a:endParaRPr lang="en-US" sz="2000" dirty="0"/>
          </a:p>
          <a:p>
            <a:r>
              <a:rPr lang="en-US" sz="2000" dirty="0"/>
              <a:t>Program</a:t>
            </a:r>
          </a:p>
          <a:p>
            <a:endParaRPr lang="en-US" sz="2000" dirty="0"/>
          </a:p>
          <a:p>
            <a:r>
              <a:rPr lang="en-US" sz="2000" dirty="0"/>
              <a:t>Why you took the course / what you hope to learn</a:t>
            </a:r>
          </a:p>
          <a:p>
            <a:endParaRPr lang="en-US" sz="2000" dirty="0"/>
          </a:p>
          <a:p>
            <a:r>
              <a:rPr lang="en-US" sz="2000" dirty="0"/>
              <a:t>What industry you worked in previously or hope to work in after Purdue</a:t>
            </a:r>
          </a:p>
          <a:p>
            <a:endParaRPr lang="en-US" sz="2000" dirty="0"/>
          </a:p>
          <a:p>
            <a:r>
              <a:rPr lang="en-US" sz="2000" dirty="0"/>
              <a:t>Project pitches: If you have a product you’d like to study in your project, make a pitch to classmates to join you!</a:t>
            </a:r>
          </a:p>
          <a:p>
            <a:endParaRPr lang="en-US" sz="2000" dirty="0"/>
          </a:p>
          <a:p>
            <a:endParaRPr lang="en-US" sz="2000" dirty="0"/>
          </a:p>
        </p:txBody>
      </p:sp>
      <p:sp>
        <p:nvSpPr>
          <p:cNvPr id="6" name="Slide Number Placeholder 5">
            <a:extLst>
              <a:ext uri="{FF2B5EF4-FFF2-40B4-BE49-F238E27FC236}">
                <a16:creationId xmlns:a16="http://schemas.microsoft.com/office/drawing/2014/main" id="{0E4AD4B1-4322-864D-1A4F-693E5E414AAD}"/>
              </a:ext>
            </a:extLst>
          </p:cNvPr>
          <p:cNvSpPr>
            <a:spLocks noGrp="1"/>
          </p:cNvSpPr>
          <p:nvPr>
            <p:ph type="sldNum" sz="quarter" idx="12"/>
          </p:nvPr>
        </p:nvSpPr>
        <p:spPr/>
        <p:txBody>
          <a:bodyPr/>
          <a:lstStyle/>
          <a:p>
            <a:fld id="{8A7A6979-0714-4377-B894-6BE4C2D6E202}" type="slidenum">
              <a:rPr lang="en-US" smtClean="0"/>
              <a:pPr/>
              <a:t>34</a:t>
            </a:fld>
            <a:endParaRPr lang="en-US" dirty="0"/>
          </a:p>
        </p:txBody>
      </p:sp>
      <p:sp>
        <p:nvSpPr>
          <p:cNvPr id="5" name="Date Placeholder 4">
            <a:extLst>
              <a:ext uri="{FF2B5EF4-FFF2-40B4-BE49-F238E27FC236}">
                <a16:creationId xmlns:a16="http://schemas.microsoft.com/office/drawing/2014/main" id="{1A2942A4-8BD1-93EC-C730-ED444198289A}"/>
              </a:ext>
            </a:extLst>
          </p:cNvPr>
          <p:cNvSpPr>
            <a:spLocks noGrp="1"/>
          </p:cNvSpPr>
          <p:nvPr>
            <p:ph type="dt" sz="half" idx="10"/>
          </p:nvPr>
        </p:nvSpPr>
        <p:spPr/>
        <p:txBody>
          <a:bodyPr/>
          <a:lstStyle/>
          <a:p>
            <a:fld id="{D47A9A36-4EB0-BF46-AE48-7CDA251B954B}" type="datetime1">
              <a:rPr lang="en-US" smtClean="0"/>
              <a:t>10/27/2025</a:t>
            </a:fld>
            <a:endParaRPr lang="en-US" dirty="0"/>
          </a:p>
        </p:txBody>
      </p:sp>
    </p:spTree>
    <p:extLst>
      <p:ext uri="{BB962C8B-B14F-4D97-AF65-F5344CB8AC3E}">
        <p14:creationId xmlns:p14="http://schemas.microsoft.com/office/powerpoint/2010/main" val="31618930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5A599-1460-964A-9E1E-8C6B80B2B7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8FB238-A551-109F-9E24-A06C0373427C}"/>
              </a:ext>
            </a:extLst>
          </p:cNvPr>
          <p:cNvSpPr>
            <a:spLocks noGrp="1"/>
          </p:cNvSpPr>
          <p:nvPr>
            <p:ph type="ctrTitle"/>
          </p:nvPr>
        </p:nvSpPr>
        <p:spPr>
          <a:xfrm>
            <a:off x="2647199" y="1501742"/>
            <a:ext cx="7300940" cy="664797"/>
          </a:xfrm>
        </p:spPr>
        <p:txBody>
          <a:bodyPr/>
          <a:lstStyle/>
          <a:p>
            <a:r>
              <a:rPr lang="en-US" dirty="0"/>
              <a:t>Questions</a:t>
            </a:r>
          </a:p>
        </p:txBody>
      </p:sp>
      <p:sp>
        <p:nvSpPr>
          <p:cNvPr id="4" name="Date Placeholder 3">
            <a:extLst>
              <a:ext uri="{FF2B5EF4-FFF2-40B4-BE49-F238E27FC236}">
                <a16:creationId xmlns:a16="http://schemas.microsoft.com/office/drawing/2014/main" id="{7BC35B16-1D76-63D6-F817-16EC7C31D554}"/>
              </a:ext>
            </a:extLst>
          </p:cNvPr>
          <p:cNvSpPr>
            <a:spLocks noGrp="1"/>
          </p:cNvSpPr>
          <p:nvPr>
            <p:ph type="dt" sz="half" idx="10"/>
          </p:nvPr>
        </p:nvSpPr>
        <p:spPr/>
        <p:txBody>
          <a:bodyPr/>
          <a:lstStyle/>
          <a:p>
            <a:fld id="{D47A9A36-4EB0-BF46-AE48-7CDA251B954B}" type="datetime1">
              <a:rPr lang="en-US" smtClean="0"/>
              <a:pPr/>
              <a:t>10/27/2025</a:t>
            </a:fld>
            <a:endParaRPr lang="en-US" dirty="0"/>
          </a:p>
        </p:txBody>
      </p:sp>
      <p:sp>
        <p:nvSpPr>
          <p:cNvPr id="5" name="Slide Number Placeholder 4">
            <a:extLst>
              <a:ext uri="{FF2B5EF4-FFF2-40B4-BE49-F238E27FC236}">
                <a16:creationId xmlns:a16="http://schemas.microsoft.com/office/drawing/2014/main" id="{3638EF7F-C025-4BA5-330E-EFDBC0B3164B}"/>
              </a:ext>
            </a:extLst>
          </p:cNvPr>
          <p:cNvSpPr>
            <a:spLocks noGrp="1"/>
          </p:cNvSpPr>
          <p:nvPr>
            <p:ph type="sldNum" sz="quarter" idx="12"/>
          </p:nvPr>
        </p:nvSpPr>
        <p:spPr/>
        <p:txBody>
          <a:bodyPr/>
          <a:lstStyle/>
          <a:p>
            <a:fld id="{8A7A6979-0714-4377-B894-6BE4C2D6E202}" type="slidenum">
              <a:rPr lang="en-US" smtClean="0"/>
              <a:pPr/>
              <a:t>35</a:t>
            </a:fld>
            <a:endParaRPr lang="en-US" dirty="0"/>
          </a:p>
        </p:txBody>
      </p:sp>
    </p:spTree>
    <p:extLst>
      <p:ext uri="{BB962C8B-B14F-4D97-AF65-F5344CB8AC3E}">
        <p14:creationId xmlns:p14="http://schemas.microsoft.com/office/powerpoint/2010/main" val="843649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A3A5D-D24C-F346-B5DC-B566F00844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0C60D2-E3F1-8A06-82BF-2ADF0E45E952}"/>
              </a:ext>
            </a:extLst>
          </p:cNvPr>
          <p:cNvSpPr>
            <a:spLocks noGrp="1"/>
          </p:cNvSpPr>
          <p:nvPr>
            <p:ph type="ctrTitle"/>
          </p:nvPr>
        </p:nvSpPr>
        <p:spPr/>
        <p:txBody>
          <a:bodyPr/>
          <a:lstStyle/>
          <a:p>
            <a:r>
              <a:rPr lang="en-US" dirty="0"/>
              <a:t>Next Time</a:t>
            </a:r>
          </a:p>
        </p:txBody>
      </p:sp>
      <p:sp>
        <p:nvSpPr>
          <p:cNvPr id="4" name="Text Placeholder 3">
            <a:extLst>
              <a:ext uri="{FF2B5EF4-FFF2-40B4-BE49-F238E27FC236}">
                <a16:creationId xmlns:a16="http://schemas.microsoft.com/office/drawing/2014/main" id="{A3591FB3-A0BE-9106-F648-1EEA4EA6DDD2}"/>
              </a:ext>
            </a:extLst>
          </p:cNvPr>
          <p:cNvSpPr>
            <a:spLocks noGrp="1"/>
          </p:cNvSpPr>
          <p:nvPr>
            <p:ph type="body" sz="quarter" idx="14"/>
          </p:nvPr>
        </p:nvSpPr>
        <p:spPr>
          <a:xfrm>
            <a:off x="2071193" y="1723231"/>
            <a:ext cx="7366000" cy="3411537"/>
          </a:xfrm>
        </p:spPr>
        <p:txBody>
          <a:bodyPr>
            <a:normAutofit/>
          </a:bodyPr>
          <a:lstStyle/>
          <a:p>
            <a:r>
              <a:rPr lang="en-US" sz="2000" dirty="0"/>
              <a:t>Ideation &amp; Opportunity Development</a:t>
            </a:r>
          </a:p>
          <a:p>
            <a:pPr marL="0" indent="0">
              <a:buNone/>
            </a:pPr>
            <a:endParaRPr lang="en-US" sz="2000" dirty="0"/>
          </a:p>
        </p:txBody>
      </p:sp>
      <p:sp>
        <p:nvSpPr>
          <p:cNvPr id="5" name="Date Placeholder 4">
            <a:extLst>
              <a:ext uri="{FF2B5EF4-FFF2-40B4-BE49-F238E27FC236}">
                <a16:creationId xmlns:a16="http://schemas.microsoft.com/office/drawing/2014/main" id="{2467984D-A6BE-9C7C-1CCF-17238FB0358A}"/>
              </a:ext>
            </a:extLst>
          </p:cNvPr>
          <p:cNvSpPr>
            <a:spLocks noGrp="1"/>
          </p:cNvSpPr>
          <p:nvPr>
            <p:ph type="dt" sz="half" idx="10"/>
          </p:nvPr>
        </p:nvSpPr>
        <p:spPr/>
        <p:txBody>
          <a:bodyPr/>
          <a:lstStyle/>
          <a:p>
            <a:fld id="{D47A9A36-4EB0-BF46-AE48-7CDA251B954B}" type="datetime1">
              <a:rPr lang="en-US" smtClean="0"/>
              <a:t>10/27/2025</a:t>
            </a:fld>
            <a:endParaRPr lang="en-US" dirty="0"/>
          </a:p>
        </p:txBody>
      </p:sp>
      <p:sp>
        <p:nvSpPr>
          <p:cNvPr id="6" name="Slide Number Placeholder 5">
            <a:extLst>
              <a:ext uri="{FF2B5EF4-FFF2-40B4-BE49-F238E27FC236}">
                <a16:creationId xmlns:a16="http://schemas.microsoft.com/office/drawing/2014/main" id="{07DD39CC-7F96-809E-2121-3AB02B09F955}"/>
              </a:ext>
            </a:extLst>
          </p:cNvPr>
          <p:cNvSpPr>
            <a:spLocks noGrp="1"/>
          </p:cNvSpPr>
          <p:nvPr>
            <p:ph type="sldNum" sz="quarter" idx="12"/>
          </p:nvPr>
        </p:nvSpPr>
        <p:spPr/>
        <p:txBody>
          <a:bodyPr/>
          <a:lstStyle/>
          <a:p>
            <a:fld id="{8A7A6979-0714-4377-B894-6BE4C2D6E202}" type="slidenum">
              <a:rPr lang="en-US" smtClean="0"/>
              <a:pPr/>
              <a:t>36</a:t>
            </a:fld>
            <a:endParaRPr lang="en-US" dirty="0"/>
          </a:p>
        </p:txBody>
      </p:sp>
    </p:spTree>
    <p:extLst>
      <p:ext uri="{BB962C8B-B14F-4D97-AF65-F5344CB8AC3E}">
        <p14:creationId xmlns:p14="http://schemas.microsoft.com/office/powerpoint/2010/main" val="847120293"/>
      </p:ext>
    </p:extLst>
  </p:cSld>
  <p:clrMapOvr>
    <a:masterClrMapping/>
  </p:clrMapOvr>
</p:sld>
</file>

<file path=ppt/theme/theme1.xml><?xml version="1.0" encoding="utf-8"?>
<a:theme xmlns:a="http://schemas.openxmlformats.org/drawingml/2006/main" name="Purdue2">
  <a:themeElements>
    <a:clrScheme name="PurdueColors">
      <a:dk1>
        <a:srgbClr val="000000"/>
      </a:dk1>
      <a:lt1>
        <a:srgbClr val="000000"/>
      </a:lt1>
      <a:dk2>
        <a:srgbClr val="C4BFC0"/>
      </a:dk2>
      <a:lt2>
        <a:srgbClr val="C9B991"/>
      </a:lt2>
      <a:accent1>
        <a:srgbClr val="8E6F3E"/>
      </a:accent1>
      <a:accent2>
        <a:srgbClr val="555960"/>
      </a:accent2>
      <a:accent3>
        <a:srgbClr val="C9B991"/>
      </a:accent3>
      <a:accent4>
        <a:srgbClr val="FFFFFF"/>
      </a:accent4>
      <a:accent5>
        <a:srgbClr val="000000"/>
      </a:accent5>
      <a:accent6>
        <a:srgbClr val="555960"/>
      </a:accent6>
      <a:hlink>
        <a:srgbClr val="000000"/>
      </a:hlink>
      <a:folHlink>
        <a:srgbClr val="555960"/>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resentation1" id="{C3331F77-FEA5-BF47-A3F4-E4829FE02237}" vid="{60263B1E-E418-7448-9383-F855BEE649A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Purdue2</Template>
  <TotalTime>25636</TotalTime>
  <Words>1340</Words>
  <Application>Microsoft Office PowerPoint</Application>
  <PresentationFormat>Widescreen</PresentationFormat>
  <Paragraphs>333</Paragraphs>
  <Slides>36</Slides>
  <Notes>26</Notes>
  <HiddenSlides>0</HiddenSlides>
  <MMClips>1</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36</vt:i4>
      </vt:variant>
    </vt:vector>
  </HeadingPairs>
  <TitlesOfParts>
    <vt:vector size="48" baseType="lpstr">
      <vt:lpstr>Acumin Pro</vt:lpstr>
      <vt:lpstr>United Sans Rg Md</vt:lpstr>
      <vt:lpstr>Calibri</vt:lpstr>
      <vt:lpstr>Cambria Math</vt:lpstr>
      <vt:lpstr>Impact</vt:lpstr>
      <vt:lpstr>Franklin Gothic Medium</vt:lpstr>
      <vt:lpstr>Wingdings</vt:lpstr>
      <vt:lpstr>Franklin Gothic Demi</vt:lpstr>
      <vt:lpstr>Franklin Gothic Book</vt:lpstr>
      <vt:lpstr>Times New Roman</vt:lpstr>
      <vt:lpstr>Arial</vt:lpstr>
      <vt:lpstr>Purdue2</vt:lpstr>
      <vt:lpstr>Digital product design</vt:lpstr>
      <vt:lpstr>Classroom Logistics</vt:lpstr>
      <vt:lpstr>Attendance</vt:lpstr>
      <vt:lpstr>Outline</vt:lpstr>
      <vt:lpstr>Introduction to digital products</vt:lpstr>
      <vt:lpstr>Something Has Changed in the Economy</vt:lpstr>
      <vt:lpstr>Something Has Changed in the Economy, Part 2</vt:lpstr>
      <vt:lpstr>Something Has Changed in the Economy, Part 3</vt:lpstr>
      <vt:lpstr>Something Has Changed in the Economy, Part 4</vt:lpstr>
      <vt:lpstr>What is Different When Goods Become Digital?</vt:lpstr>
      <vt:lpstr>What is Different When Goods Become Digital? Part 2</vt:lpstr>
      <vt:lpstr>What is Different When Goods Become Digital? Part 3</vt:lpstr>
      <vt:lpstr>Digital Goods Are Easier to Modify / Reconfigure</vt:lpstr>
      <vt:lpstr>Digital Goods Are Easy to Modify / Reconfigure</vt:lpstr>
      <vt:lpstr>Course overview</vt:lpstr>
      <vt:lpstr>High-Level Overview</vt:lpstr>
      <vt:lpstr>What this Course is Not</vt:lpstr>
      <vt:lpstr>In this Course We Will Learn:</vt:lpstr>
      <vt:lpstr>Designing Algorithms</vt:lpstr>
      <vt:lpstr>Course Structure</vt:lpstr>
      <vt:lpstr>Course Format</vt:lpstr>
      <vt:lpstr>Grading</vt:lpstr>
      <vt:lpstr>Grading, Part 2</vt:lpstr>
      <vt:lpstr>Team Project (50%)</vt:lpstr>
      <vt:lpstr>Team Project (50%), Continued</vt:lpstr>
      <vt:lpstr>Introductions: about me</vt:lpstr>
      <vt:lpstr>Alex Moehring</vt:lpstr>
      <vt:lpstr>My Research</vt:lpstr>
      <vt:lpstr>Ranking Algorithms on Social Media</vt:lpstr>
      <vt:lpstr>Human-AI Collaboration</vt:lpstr>
      <vt:lpstr>Additional Work</vt:lpstr>
      <vt:lpstr>Office Hours + Contacting Me</vt:lpstr>
      <vt:lpstr>Introductions: About you</vt:lpstr>
      <vt:lpstr>Introductions</vt:lpstr>
      <vt:lpstr>Questions</vt:lpstr>
      <vt:lpstr>Next Time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Alex Vernon Moehring</dc:creator>
  <cp:lastModifiedBy>Liz Benson</cp:lastModifiedBy>
  <cp:revision>2539</cp:revision>
  <dcterms:created xsi:type="dcterms:W3CDTF">2024-07-15T17:50:06Z</dcterms:created>
  <dcterms:modified xsi:type="dcterms:W3CDTF">2025-10-27T19:14:34Z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044bd30-2ed7-4c9d-9d12-46200872a97b_Enabled">
    <vt:lpwstr>true</vt:lpwstr>
  </property>
  <property fmtid="{D5CDD505-2E9C-101B-9397-08002B2CF9AE}" pid="3" name="MSIP_Label_4044bd30-2ed7-4c9d-9d12-46200872a97b_SetDate">
    <vt:lpwstr>2023-02-01T19:33:41Z</vt:lpwstr>
  </property>
  <property fmtid="{D5CDD505-2E9C-101B-9397-08002B2CF9AE}" pid="4" name="MSIP_Label_4044bd30-2ed7-4c9d-9d12-46200872a97b_Method">
    <vt:lpwstr>Standard</vt:lpwstr>
  </property>
  <property fmtid="{D5CDD505-2E9C-101B-9397-08002B2CF9AE}" pid="5" name="MSIP_Label_4044bd30-2ed7-4c9d-9d12-46200872a97b_Name">
    <vt:lpwstr>defa4170-0d19-0005-0004-bc88714345d2</vt:lpwstr>
  </property>
  <property fmtid="{D5CDD505-2E9C-101B-9397-08002B2CF9AE}" pid="6" name="MSIP_Label_4044bd30-2ed7-4c9d-9d12-46200872a97b_SiteId">
    <vt:lpwstr>4130bd39-7c53-419c-b1e5-8758d6d63f21</vt:lpwstr>
  </property>
  <property fmtid="{D5CDD505-2E9C-101B-9397-08002B2CF9AE}" pid="7" name="MSIP_Label_4044bd30-2ed7-4c9d-9d12-46200872a97b_ActionId">
    <vt:lpwstr>1fcd283c-6b68-4694-bc56-c77c15714632</vt:lpwstr>
  </property>
  <property fmtid="{D5CDD505-2E9C-101B-9397-08002B2CF9AE}" pid="8" name="MSIP_Label_4044bd30-2ed7-4c9d-9d12-46200872a97b_ContentBits">
    <vt:lpwstr>0</vt:lpwstr>
  </property>
</Properties>
</file>