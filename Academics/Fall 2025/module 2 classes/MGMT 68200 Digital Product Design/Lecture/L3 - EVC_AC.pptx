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708" r:id="rId1"/>
  </p:sldMasterIdLst>
  <p:notesMasterIdLst>
    <p:notesMasterId r:id="rId32"/>
  </p:notesMasterIdLst>
  <p:sldIdLst>
    <p:sldId id="257" r:id="rId2"/>
    <p:sldId id="409" r:id="rId3"/>
    <p:sldId id="805" r:id="rId4"/>
    <p:sldId id="447" r:id="rId5"/>
    <p:sldId id="777" r:id="rId6"/>
    <p:sldId id="804" r:id="rId7"/>
    <p:sldId id="778" r:id="rId8"/>
    <p:sldId id="779" r:id="rId9"/>
    <p:sldId id="780" r:id="rId10"/>
    <p:sldId id="781" r:id="rId11"/>
    <p:sldId id="782" r:id="rId12"/>
    <p:sldId id="783" r:id="rId13"/>
    <p:sldId id="784" r:id="rId14"/>
    <p:sldId id="785" r:id="rId15"/>
    <p:sldId id="786" r:id="rId16"/>
    <p:sldId id="787" r:id="rId17"/>
    <p:sldId id="790" r:id="rId18"/>
    <p:sldId id="791" r:id="rId19"/>
    <p:sldId id="410" r:id="rId20"/>
    <p:sldId id="792" r:id="rId21"/>
    <p:sldId id="789" r:id="rId22"/>
    <p:sldId id="800" r:id="rId23"/>
    <p:sldId id="802" r:id="rId24"/>
    <p:sldId id="803" r:id="rId25"/>
    <p:sldId id="801" r:id="rId26"/>
    <p:sldId id="798" r:id="rId27"/>
    <p:sldId id="799" r:id="rId28"/>
    <p:sldId id="487" r:id="rId29"/>
    <p:sldId id="488" r:id="rId30"/>
    <p:sldId id="679" r:id="rId31"/>
  </p:sldIdLst>
  <p:sldSz cx="12192000" cy="6858000"/>
  <p:notesSz cx="6858000" cy="9144000"/>
  <p:embeddedFontLst>
    <p:embeddedFont>
      <p:font typeface="Acumin Pro" panose="020B0604020202020204" charset="0"/>
      <p:regular r:id="rId33"/>
      <p:bold r:id="rId34"/>
      <p:italic r:id="rId35"/>
      <p:boldItalic r:id="rId36"/>
    </p:embeddedFont>
    <p:embeddedFont>
      <p:font typeface="Cambria Math" panose="02040503050406030204" pitchFamily="18" charset="0"/>
      <p:regular r:id="rId37"/>
    </p:embeddedFont>
    <p:embeddedFont>
      <p:font typeface="Franklin Gothic Book" panose="020B0503020102020204" pitchFamily="34" charset="0"/>
      <p:regular r:id="rId38"/>
      <p:italic r:id="rId39"/>
    </p:embeddedFont>
    <p:embeddedFont>
      <p:font typeface="Franklin Gothic Demi" panose="020B0703020102020204" pitchFamily="34" charset="0"/>
      <p:regular r:id="rId40"/>
      <p:bold r:id="rId41"/>
      <p:italic r:id="rId42"/>
      <p:boldItalic r:id="rId43"/>
    </p:embeddedFont>
    <p:embeddedFont>
      <p:font typeface="Franklin Gothic Medium" panose="020B0603020102020204" pitchFamily="34" charset="0"/>
      <p:regular r:id="rId44"/>
      <p:italic r:id="rId45"/>
    </p:embeddedFont>
    <p:embeddedFont>
      <p:font typeface="Impact" panose="020B0806030902050204" pitchFamily="34" charset="0"/>
      <p:regular r:id="rId46"/>
    </p:embeddedFont>
    <p:embeddedFont>
      <p:font typeface="United Sans Rg Md" pitchFamily="50" charset="0"/>
      <p:regular r:id="rId47"/>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285" autoAdjust="0"/>
    <p:restoredTop sz="65616"/>
  </p:normalViewPr>
  <p:slideViewPr>
    <p:cSldViewPr snapToGrid="0" snapToObjects="1">
      <p:cViewPr varScale="1">
        <p:scale>
          <a:sx n="62" d="100"/>
          <a:sy n="62" d="100"/>
        </p:scale>
        <p:origin x="2202" y="282"/>
      </p:cViewPr>
      <p:guideLst/>
    </p:cSldViewPr>
  </p:slideViewPr>
  <p:outlineViewPr>
    <p:cViewPr>
      <p:scale>
        <a:sx n="33" d="100"/>
        <a:sy n="33" d="100"/>
      </p:scale>
      <p:origin x="0" y="0"/>
    </p:cViewPr>
  </p:outlineViewPr>
  <p:notesTextViewPr>
    <p:cViewPr>
      <p:scale>
        <a:sx n="66" d="100"/>
        <a:sy n="66" d="100"/>
      </p:scale>
      <p:origin x="0" y="0"/>
    </p:cViewPr>
  </p:notesTextViewPr>
  <p:notesViewPr>
    <p:cSldViewPr snapToGrid="0" snapToObjects="1">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7.fntdata"/><Relationship Id="rId21" Type="http://schemas.openxmlformats.org/officeDocument/2006/relationships/slide" Target="slides/slide20.xml"/><Relationship Id="rId34" Type="http://schemas.openxmlformats.org/officeDocument/2006/relationships/font" Target="fonts/font2.fntdata"/><Relationship Id="rId42" Type="http://schemas.openxmlformats.org/officeDocument/2006/relationships/font" Target="fonts/font10.fntdata"/><Relationship Id="rId47" Type="http://schemas.openxmlformats.org/officeDocument/2006/relationships/font" Target="fonts/font15.fntdata"/><Relationship Id="rId50"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openxmlformats.org/officeDocument/2006/relationships/font" Target="fonts/font5.fntdata"/><Relationship Id="rId40" Type="http://schemas.openxmlformats.org/officeDocument/2006/relationships/font" Target="fonts/font8.fntdata"/><Relationship Id="rId45" Type="http://schemas.openxmlformats.org/officeDocument/2006/relationships/font" Target="fonts/font13.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4.fntdata"/><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1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3.fntdata"/><Relationship Id="rId43" Type="http://schemas.openxmlformats.org/officeDocument/2006/relationships/font" Target="fonts/font11.fntdata"/><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1.fntdata"/><Relationship Id="rId38" Type="http://schemas.openxmlformats.org/officeDocument/2006/relationships/font" Target="fonts/font6.fntdata"/><Relationship Id="rId46" Type="http://schemas.openxmlformats.org/officeDocument/2006/relationships/font" Target="fonts/font14.fntdata"/><Relationship Id="rId20" Type="http://schemas.openxmlformats.org/officeDocument/2006/relationships/slide" Target="slides/slide19.xml"/><Relationship Id="rId41" Type="http://schemas.openxmlformats.org/officeDocument/2006/relationships/font" Target="fonts/font9.fntdata"/><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8A55EAA-D64B-A54D-9AD6-840407C79D5E}" type="datetimeFigureOut">
              <a:rPr lang="en-US" smtClean="0"/>
              <a:t>10/31/2025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88F3A2B-14A6-8F47-B753-A658CA12576A}" type="slidenum">
              <a:rPr lang="en-US" smtClean="0"/>
              <a:t>‹#›</a:t>
            </a:fld>
            <a:endParaRPr lang="en-US"/>
          </a:p>
        </p:txBody>
      </p:sp>
    </p:spTree>
    <p:extLst>
      <p:ext uri="{BB962C8B-B14F-4D97-AF65-F5344CB8AC3E}">
        <p14:creationId xmlns:p14="http://schemas.microsoft.com/office/powerpoint/2010/main" val="16179004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88F3A2B-14A6-8F47-B753-A658CA12576A}" type="slidenum">
              <a:rPr lang="en-US" smtClean="0"/>
              <a:t>1</a:t>
            </a:fld>
            <a:endParaRPr lang="en-US"/>
          </a:p>
        </p:txBody>
      </p:sp>
    </p:spTree>
    <p:extLst>
      <p:ext uri="{BB962C8B-B14F-4D97-AF65-F5344CB8AC3E}">
        <p14:creationId xmlns:p14="http://schemas.microsoft.com/office/powerpoint/2010/main" val="116997275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88F3A2B-14A6-8F47-B753-A658CA12576A}" type="slidenum">
              <a:rPr lang="en-US" smtClean="0"/>
              <a:t>2</a:t>
            </a:fld>
            <a:endParaRPr lang="en-US"/>
          </a:p>
        </p:txBody>
      </p:sp>
    </p:spTree>
    <p:extLst>
      <p:ext uri="{BB962C8B-B14F-4D97-AF65-F5344CB8AC3E}">
        <p14:creationId xmlns:p14="http://schemas.microsoft.com/office/powerpoint/2010/main" val="123191997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88F3A2B-14A6-8F47-B753-A658CA12576A}" type="slidenum">
              <a:rPr lang="en-US" smtClean="0"/>
              <a:t>4</a:t>
            </a:fld>
            <a:endParaRPr lang="en-US"/>
          </a:p>
        </p:txBody>
      </p:sp>
    </p:spTree>
    <p:extLst>
      <p:ext uri="{BB962C8B-B14F-4D97-AF65-F5344CB8AC3E}">
        <p14:creationId xmlns:p14="http://schemas.microsoft.com/office/powerpoint/2010/main" val="238523887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07F846-7B3A-275B-F26F-DA86091FDFB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A17ABC6-3E59-96D2-E0DC-C5FB80E37E3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E4B7F11-AD42-39F3-C7A2-4A2E5EA3F1F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A2FDD68-9D9A-FCA9-BD73-9B5F6D5AE571}"/>
              </a:ext>
            </a:extLst>
          </p:cNvPr>
          <p:cNvSpPr>
            <a:spLocks noGrp="1"/>
          </p:cNvSpPr>
          <p:nvPr>
            <p:ph type="sldNum" sz="quarter" idx="5"/>
          </p:nvPr>
        </p:nvSpPr>
        <p:spPr/>
        <p:txBody>
          <a:bodyPr/>
          <a:lstStyle/>
          <a:p>
            <a:fld id="{988F3A2B-14A6-8F47-B753-A658CA12576A}" type="slidenum">
              <a:rPr lang="en-US" smtClean="0"/>
              <a:t>5</a:t>
            </a:fld>
            <a:endParaRPr lang="en-US"/>
          </a:p>
        </p:txBody>
      </p:sp>
    </p:spTree>
    <p:extLst>
      <p:ext uri="{BB962C8B-B14F-4D97-AF65-F5344CB8AC3E}">
        <p14:creationId xmlns:p14="http://schemas.microsoft.com/office/powerpoint/2010/main" val="423950608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0C6388-89EB-C05F-F0A2-CEC12408A06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3A922E4-FCC7-EBC8-061B-B1EAD604494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A14587D-12E5-97DB-F099-81A2AF4EA08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CF53B4E-EA84-F75B-7748-942838128C41}"/>
              </a:ext>
            </a:extLst>
          </p:cNvPr>
          <p:cNvSpPr>
            <a:spLocks noGrp="1"/>
          </p:cNvSpPr>
          <p:nvPr>
            <p:ph type="sldNum" sz="quarter" idx="5"/>
          </p:nvPr>
        </p:nvSpPr>
        <p:spPr/>
        <p:txBody>
          <a:bodyPr/>
          <a:lstStyle/>
          <a:p>
            <a:fld id="{988F3A2B-14A6-8F47-B753-A658CA12576A}" type="slidenum">
              <a:rPr lang="en-US" smtClean="0"/>
              <a:t>6</a:t>
            </a:fld>
            <a:endParaRPr lang="en-US"/>
          </a:p>
        </p:txBody>
      </p:sp>
    </p:spTree>
    <p:extLst>
      <p:ext uri="{BB962C8B-B14F-4D97-AF65-F5344CB8AC3E}">
        <p14:creationId xmlns:p14="http://schemas.microsoft.com/office/powerpoint/2010/main" val="234456093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A2B367-4FEA-C319-BB73-D820DD54627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14BF947-A501-38A1-B265-6791B63395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70F0A04-998E-59B4-C216-3E7D4F97ACC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DD4544F-744C-1FF5-1298-ADE05D173CAC}"/>
              </a:ext>
            </a:extLst>
          </p:cNvPr>
          <p:cNvSpPr>
            <a:spLocks noGrp="1"/>
          </p:cNvSpPr>
          <p:nvPr>
            <p:ph type="sldNum" sz="quarter" idx="5"/>
          </p:nvPr>
        </p:nvSpPr>
        <p:spPr/>
        <p:txBody>
          <a:bodyPr/>
          <a:lstStyle/>
          <a:p>
            <a:fld id="{988F3A2B-14A6-8F47-B753-A658CA12576A}" type="slidenum">
              <a:rPr lang="en-US" smtClean="0"/>
              <a:t>7</a:t>
            </a:fld>
            <a:endParaRPr lang="en-US"/>
          </a:p>
        </p:txBody>
      </p:sp>
    </p:spTree>
    <p:extLst>
      <p:ext uri="{BB962C8B-B14F-4D97-AF65-F5344CB8AC3E}">
        <p14:creationId xmlns:p14="http://schemas.microsoft.com/office/powerpoint/2010/main" val="281159020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280D23-1D3A-14FA-93A4-FA018CC238F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79929E6-88E1-A938-E0D5-1329B6ADD72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990FCBD-83FE-C727-5B98-EC5859219A7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703805A-EBE2-3765-39EA-44968F3BF59B}"/>
              </a:ext>
            </a:extLst>
          </p:cNvPr>
          <p:cNvSpPr>
            <a:spLocks noGrp="1"/>
          </p:cNvSpPr>
          <p:nvPr>
            <p:ph type="sldNum" sz="quarter" idx="5"/>
          </p:nvPr>
        </p:nvSpPr>
        <p:spPr/>
        <p:txBody>
          <a:bodyPr/>
          <a:lstStyle/>
          <a:p>
            <a:fld id="{988F3A2B-14A6-8F47-B753-A658CA12576A}" type="slidenum">
              <a:rPr lang="en-US" smtClean="0"/>
              <a:t>8</a:t>
            </a:fld>
            <a:endParaRPr lang="en-US"/>
          </a:p>
        </p:txBody>
      </p:sp>
    </p:spTree>
    <p:extLst>
      <p:ext uri="{BB962C8B-B14F-4D97-AF65-F5344CB8AC3E}">
        <p14:creationId xmlns:p14="http://schemas.microsoft.com/office/powerpoint/2010/main" val="345849141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6691AF-E0CD-D3EE-250E-C9919246A31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D14B0FA-6E8E-BE3B-D48C-5872D59105A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CAA1433-C623-2252-1F79-DE965A4BECD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4A65FA9-400F-B6A3-267B-6DF99C80BB36}"/>
              </a:ext>
            </a:extLst>
          </p:cNvPr>
          <p:cNvSpPr>
            <a:spLocks noGrp="1"/>
          </p:cNvSpPr>
          <p:nvPr>
            <p:ph type="sldNum" sz="quarter" idx="5"/>
          </p:nvPr>
        </p:nvSpPr>
        <p:spPr/>
        <p:txBody>
          <a:bodyPr/>
          <a:lstStyle/>
          <a:p>
            <a:fld id="{988F3A2B-14A6-8F47-B753-A658CA12576A}" type="slidenum">
              <a:rPr lang="en-US" smtClean="0"/>
              <a:t>9</a:t>
            </a:fld>
            <a:endParaRPr lang="en-US"/>
          </a:p>
        </p:txBody>
      </p:sp>
    </p:spTree>
    <p:extLst>
      <p:ext uri="{BB962C8B-B14F-4D97-AF65-F5344CB8AC3E}">
        <p14:creationId xmlns:p14="http://schemas.microsoft.com/office/powerpoint/2010/main" val="78202293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78935C-1A1C-5FD3-13E8-B9BB88B90AC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FF9AF46-1FFB-818D-18AF-8FE65D6512D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7F92959-083E-F154-E327-35170F76398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FD0D8FD-7622-30F0-BB5E-153BBDDE2171}"/>
              </a:ext>
            </a:extLst>
          </p:cNvPr>
          <p:cNvSpPr>
            <a:spLocks noGrp="1"/>
          </p:cNvSpPr>
          <p:nvPr>
            <p:ph type="sldNum" sz="quarter" idx="5"/>
          </p:nvPr>
        </p:nvSpPr>
        <p:spPr/>
        <p:txBody>
          <a:bodyPr/>
          <a:lstStyle/>
          <a:p>
            <a:fld id="{988F3A2B-14A6-8F47-B753-A658CA12576A}" type="slidenum">
              <a:rPr lang="en-US" smtClean="0"/>
              <a:t>10</a:t>
            </a:fld>
            <a:endParaRPr lang="en-US"/>
          </a:p>
        </p:txBody>
      </p:sp>
    </p:spTree>
    <p:extLst>
      <p:ext uri="{BB962C8B-B14F-4D97-AF65-F5344CB8AC3E}">
        <p14:creationId xmlns:p14="http://schemas.microsoft.com/office/powerpoint/2010/main" val="190921612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8B07C3-1F24-FDED-0655-D57864193B1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C69F0E3-6B66-DF7B-8D47-D1E7A84A95F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37C4B1D-6B99-BFA2-B4CD-88A8B847690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FA63156-E8A5-0B22-93DC-2FE3ED5D3445}"/>
              </a:ext>
            </a:extLst>
          </p:cNvPr>
          <p:cNvSpPr>
            <a:spLocks noGrp="1"/>
          </p:cNvSpPr>
          <p:nvPr>
            <p:ph type="sldNum" sz="quarter" idx="5"/>
          </p:nvPr>
        </p:nvSpPr>
        <p:spPr/>
        <p:txBody>
          <a:bodyPr/>
          <a:lstStyle/>
          <a:p>
            <a:fld id="{988F3A2B-14A6-8F47-B753-A658CA12576A}" type="slidenum">
              <a:rPr lang="en-US" smtClean="0"/>
              <a:t>11</a:t>
            </a:fld>
            <a:endParaRPr lang="en-US"/>
          </a:p>
        </p:txBody>
      </p:sp>
    </p:spTree>
    <p:extLst>
      <p:ext uri="{BB962C8B-B14F-4D97-AF65-F5344CB8AC3E}">
        <p14:creationId xmlns:p14="http://schemas.microsoft.com/office/powerpoint/2010/main" val="166919086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BE1E5E-3CD3-F21A-54AB-EC05B292EC7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C79ABD8-8BC8-C4F5-80F1-F3666CD9BFF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4ECEDCD-6B7A-A192-DA2E-D4849DEF86C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E193AAB-0C77-1A75-F7DF-D16FED54856F}"/>
              </a:ext>
            </a:extLst>
          </p:cNvPr>
          <p:cNvSpPr>
            <a:spLocks noGrp="1"/>
          </p:cNvSpPr>
          <p:nvPr>
            <p:ph type="sldNum" sz="quarter" idx="5"/>
          </p:nvPr>
        </p:nvSpPr>
        <p:spPr/>
        <p:txBody>
          <a:bodyPr/>
          <a:lstStyle/>
          <a:p>
            <a:fld id="{988F3A2B-14A6-8F47-B753-A658CA12576A}" type="slidenum">
              <a:rPr lang="en-US" smtClean="0"/>
              <a:t>12</a:t>
            </a:fld>
            <a:endParaRPr lang="en-US"/>
          </a:p>
        </p:txBody>
      </p:sp>
    </p:spTree>
    <p:extLst>
      <p:ext uri="{BB962C8B-B14F-4D97-AF65-F5344CB8AC3E}">
        <p14:creationId xmlns:p14="http://schemas.microsoft.com/office/powerpoint/2010/main" val="64945173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949EBE-DBEF-6149-6893-89FB457CCF0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9E783AB-91A7-02C2-569A-98CCBA2DF47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03D474B-627C-0ED2-4650-2ED8BA4BFC18}"/>
              </a:ext>
            </a:extLst>
          </p:cNvPr>
          <p:cNvSpPr>
            <a:spLocks noGrp="1"/>
          </p:cNvSpPr>
          <p:nvPr>
            <p:ph type="body" idx="1"/>
          </p:nvPr>
        </p:nvSpPr>
        <p:spPr/>
        <p:txBody>
          <a:bodyPr/>
          <a:lstStyle/>
          <a:p>
            <a:r>
              <a:rPr lang="en-US" dirty="0"/>
              <a:t>Zoom’s closest competitor is skype or telephone for most customers, not the $80k video-conferencing room</a:t>
            </a:r>
          </a:p>
        </p:txBody>
      </p:sp>
      <p:sp>
        <p:nvSpPr>
          <p:cNvPr id="4" name="Slide Number Placeholder 3">
            <a:extLst>
              <a:ext uri="{FF2B5EF4-FFF2-40B4-BE49-F238E27FC236}">
                <a16:creationId xmlns:a16="http://schemas.microsoft.com/office/drawing/2014/main" id="{F6E39E51-D7FE-7970-E728-53DAD8075514}"/>
              </a:ext>
            </a:extLst>
          </p:cNvPr>
          <p:cNvSpPr>
            <a:spLocks noGrp="1"/>
          </p:cNvSpPr>
          <p:nvPr>
            <p:ph type="sldNum" sz="quarter" idx="5"/>
          </p:nvPr>
        </p:nvSpPr>
        <p:spPr/>
        <p:txBody>
          <a:bodyPr/>
          <a:lstStyle/>
          <a:p>
            <a:fld id="{988F3A2B-14A6-8F47-B753-A658CA12576A}" type="slidenum">
              <a:rPr lang="en-US" smtClean="0"/>
              <a:t>13</a:t>
            </a:fld>
            <a:endParaRPr lang="en-US"/>
          </a:p>
        </p:txBody>
      </p:sp>
    </p:spTree>
    <p:extLst>
      <p:ext uri="{BB962C8B-B14F-4D97-AF65-F5344CB8AC3E}">
        <p14:creationId xmlns:p14="http://schemas.microsoft.com/office/powerpoint/2010/main" val="246567116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B4BCF3-AF1E-A598-FA5E-6C7A0FB2A53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EB7EA9B-694A-E880-EBED-090260992DA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A0B5925-E710-8246-DF9E-778D43A188E4}"/>
              </a:ext>
            </a:extLst>
          </p:cNvPr>
          <p:cNvSpPr>
            <a:spLocks noGrp="1"/>
          </p:cNvSpPr>
          <p:nvPr>
            <p:ph type="body" idx="1"/>
          </p:nvPr>
        </p:nvSpPr>
        <p:spPr/>
        <p:txBody>
          <a:bodyPr/>
          <a:lstStyle/>
          <a:p>
            <a:r>
              <a:rPr lang="en-US" dirty="0"/>
              <a:t>EVC can look overly optimistic if you use competitor’s sticker price in industries where discounts are rampant</a:t>
            </a:r>
          </a:p>
          <a:p>
            <a:endParaRPr lang="en-US" dirty="0"/>
          </a:p>
          <a:p>
            <a:r>
              <a:rPr lang="en-US" dirty="0"/>
              <a:t>Very important in enterprise software sales, pricing is super opaques. </a:t>
            </a:r>
          </a:p>
        </p:txBody>
      </p:sp>
      <p:sp>
        <p:nvSpPr>
          <p:cNvPr id="4" name="Slide Number Placeholder 3">
            <a:extLst>
              <a:ext uri="{FF2B5EF4-FFF2-40B4-BE49-F238E27FC236}">
                <a16:creationId xmlns:a16="http://schemas.microsoft.com/office/drawing/2014/main" id="{41B24CC1-3AA7-5C7C-1A14-C5E3B78E4EB1}"/>
              </a:ext>
            </a:extLst>
          </p:cNvPr>
          <p:cNvSpPr>
            <a:spLocks noGrp="1"/>
          </p:cNvSpPr>
          <p:nvPr>
            <p:ph type="sldNum" sz="quarter" idx="5"/>
          </p:nvPr>
        </p:nvSpPr>
        <p:spPr/>
        <p:txBody>
          <a:bodyPr/>
          <a:lstStyle/>
          <a:p>
            <a:fld id="{988F3A2B-14A6-8F47-B753-A658CA12576A}" type="slidenum">
              <a:rPr lang="en-US" smtClean="0"/>
              <a:t>14</a:t>
            </a:fld>
            <a:endParaRPr lang="en-US"/>
          </a:p>
        </p:txBody>
      </p:sp>
    </p:spTree>
    <p:extLst>
      <p:ext uri="{BB962C8B-B14F-4D97-AF65-F5344CB8AC3E}">
        <p14:creationId xmlns:p14="http://schemas.microsoft.com/office/powerpoint/2010/main" val="1529867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7C913E-DA81-91D8-DD0F-DD96492E4EC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6827B3C-062B-BD8C-7B8F-1A162B82218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26EBB92-4EA8-42E7-C2D6-358EB5754FA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1986069-52DB-236B-3AB6-28771261DC72}"/>
              </a:ext>
            </a:extLst>
          </p:cNvPr>
          <p:cNvSpPr>
            <a:spLocks noGrp="1"/>
          </p:cNvSpPr>
          <p:nvPr>
            <p:ph type="sldNum" sz="quarter" idx="5"/>
          </p:nvPr>
        </p:nvSpPr>
        <p:spPr/>
        <p:txBody>
          <a:bodyPr/>
          <a:lstStyle/>
          <a:p>
            <a:fld id="{988F3A2B-14A6-8F47-B753-A658CA12576A}" type="slidenum">
              <a:rPr lang="en-US" smtClean="0"/>
              <a:t>15</a:t>
            </a:fld>
            <a:endParaRPr lang="en-US"/>
          </a:p>
        </p:txBody>
      </p:sp>
    </p:spTree>
    <p:extLst>
      <p:ext uri="{BB962C8B-B14F-4D97-AF65-F5344CB8AC3E}">
        <p14:creationId xmlns:p14="http://schemas.microsoft.com/office/powerpoint/2010/main" val="214547351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7C49EE-BB31-FAC5-ED6C-8FF16AE4782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E49412A-817F-9212-DB3E-8FE66EF050B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092FABD-745D-626C-40F4-5CAE6B02546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42B61DE-3457-9E83-B855-6647ED305F39}"/>
              </a:ext>
            </a:extLst>
          </p:cNvPr>
          <p:cNvSpPr>
            <a:spLocks noGrp="1"/>
          </p:cNvSpPr>
          <p:nvPr>
            <p:ph type="sldNum" sz="quarter" idx="5"/>
          </p:nvPr>
        </p:nvSpPr>
        <p:spPr/>
        <p:txBody>
          <a:bodyPr/>
          <a:lstStyle/>
          <a:p>
            <a:fld id="{988F3A2B-14A6-8F47-B753-A658CA12576A}" type="slidenum">
              <a:rPr lang="en-US" smtClean="0"/>
              <a:t>16</a:t>
            </a:fld>
            <a:endParaRPr lang="en-US"/>
          </a:p>
        </p:txBody>
      </p:sp>
    </p:spTree>
    <p:extLst>
      <p:ext uri="{BB962C8B-B14F-4D97-AF65-F5344CB8AC3E}">
        <p14:creationId xmlns:p14="http://schemas.microsoft.com/office/powerpoint/2010/main" val="12256059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F12237-45D8-463F-9FB7-EEF279E83FC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3E9A7F8-0CBB-73D3-DC96-FD6F1C9CC37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E7AC1BD-DF9D-2C4C-0755-30ED27FD70E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D89D0A0-2FDE-2095-125E-DDDDABC1A398}"/>
              </a:ext>
            </a:extLst>
          </p:cNvPr>
          <p:cNvSpPr>
            <a:spLocks noGrp="1"/>
          </p:cNvSpPr>
          <p:nvPr>
            <p:ph type="sldNum" sz="quarter" idx="5"/>
          </p:nvPr>
        </p:nvSpPr>
        <p:spPr/>
        <p:txBody>
          <a:bodyPr/>
          <a:lstStyle/>
          <a:p>
            <a:fld id="{988F3A2B-14A6-8F47-B753-A658CA12576A}" type="slidenum">
              <a:rPr lang="en-US" smtClean="0"/>
              <a:t>17</a:t>
            </a:fld>
            <a:endParaRPr lang="en-US"/>
          </a:p>
        </p:txBody>
      </p:sp>
    </p:spTree>
    <p:extLst>
      <p:ext uri="{BB962C8B-B14F-4D97-AF65-F5344CB8AC3E}">
        <p14:creationId xmlns:p14="http://schemas.microsoft.com/office/powerpoint/2010/main" val="327714827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A167F6-973C-7077-B9B1-7CE68E7F572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41A077F-4392-DBA6-3ED4-A2784F05A3C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22684EA-D26E-A66A-78D4-592C06BB290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CF00F36-A1C5-A0E3-4DE1-C1535FB2080B}"/>
              </a:ext>
            </a:extLst>
          </p:cNvPr>
          <p:cNvSpPr>
            <a:spLocks noGrp="1"/>
          </p:cNvSpPr>
          <p:nvPr>
            <p:ph type="sldNum" sz="quarter" idx="5"/>
          </p:nvPr>
        </p:nvSpPr>
        <p:spPr/>
        <p:txBody>
          <a:bodyPr/>
          <a:lstStyle/>
          <a:p>
            <a:fld id="{988F3A2B-14A6-8F47-B753-A658CA12576A}" type="slidenum">
              <a:rPr lang="en-US" smtClean="0"/>
              <a:t>18</a:t>
            </a:fld>
            <a:endParaRPr lang="en-US"/>
          </a:p>
        </p:txBody>
      </p:sp>
    </p:spTree>
    <p:extLst>
      <p:ext uri="{BB962C8B-B14F-4D97-AF65-F5344CB8AC3E}">
        <p14:creationId xmlns:p14="http://schemas.microsoft.com/office/powerpoint/2010/main" val="248259056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88F3A2B-14A6-8F47-B753-A658CA12576A}" type="slidenum">
              <a:rPr lang="en-US" smtClean="0"/>
              <a:t>19</a:t>
            </a:fld>
            <a:endParaRPr lang="en-US"/>
          </a:p>
        </p:txBody>
      </p:sp>
    </p:spTree>
    <p:extLst>
      <p:ext uri="{BB962C8B-B14F-4D97-AF65-F5344CB8AC3E}">
        <p14:creationId xmlns:p14="http://schemas.microsoft.com/office/powerpoint/2010/main" val="131762835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526204-5170-DB4C-E91C-198829F4D94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207869D-A209-C00D-39E5-632F08E3CCC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2E6722B-D39C-7263-4EB7-8C6D3B0636B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E6DEDEC-BCAE-B9ED-33E2-DA7B2887A84E}"/>
              </a:ext>
            </a:extLst>
          </p:cNvPr>
          <p:cNvSpPr>
            <a:spLocks noGrp="1"/>
          </p:cNvSpPr>
          <p:nvPr>
            <p:ph type="sldNum" sz="quarter" idx="5"/>
          </p:nvPr>
        </p:nvSpPr>
        <p:spPr/>
        <p:txBody>
          <a:bodyPr/>
          <a:lstStyle/>
          <a:p>
            <a:fld id="{988F3A2B-14A6-8F47-B753-A658CA12576A}" type="slidenum">
              <a:rPr lang="en-US" smtClean="0"/>
              <a:t>20</a:t>
            </a:fld>
            <a:endParaRPr lang="en-US"/>
          </a:p>
        </p:txBody>
      </p:sp>
    </p:spTree>
    <p:extLst>
      <p:ext uri="{BB962C8B-B14F-4D97-AF65-F5344CB8AC3E}">
        <p14:creationId xmlns:p14="http://schemas.microsoft.com/office/powerpoint/2010/main" val="310597753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05B6F4-94F8-5291-249D-5F504B17DC3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B7A282-43AF-2E1B-F843-577DA1B4DB4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0273943-0A82-06BD-51A3-34A4A953963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5E6555D-3E1E-607A-8A28-CBA12D569C15}"/>
              </a:ext>
            </a:extLst>
          </p:cNvPr>
          <p:cNvSpPr>
            <a:spLocks noGrp="1"/>
          </p:cNvSpPr>
          <p:nvPr>
            <p:ph type="sldNum" sz="quarter" idx="5"/>
          </p:nvPr>
        </p:nvSpPr>
        <p:spPr/>
        <p:txBody>
          <a:bodyPr/>
          <a:lstStyle/>
          <a:p>
            <a:fld id="{988F3A2B-14A6-8F47-B753-A658CA12576A}" type="slidenum">
              <a:rPr lang="en-US" smtClean="0"/>
              <a:t>21</a:t>
            </a:fld>
            <a:endParaRPr lang="en-US"/>
          </a:p>
        </p:txBody>
      </p:sp>
    </p:spTree>
    <p:extLst>
      <p:ext uri="{BB962C8B-B14F-4D97-AF65-F5344CB8AC3E}">
        <p14:creationId xmlns:p14="http://schemas.microsoft.com/office/powerpoint/2010/main" val="156743475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8250F5-B19A-4EA1-8EB0-DE58B819432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3337E21-45D5-4EF3-B23C-D000D67D12C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8D4E86E-4DEE-9288-A2FD-2DB46E900DE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0CE9823-F506-077B-6D01-0A63892D8941}"/>
              </a:ext>
            </a:extLst>
          </p:cNvPr>
          <p:cNvSpPr>
            <a:spLocks noGrp="1"/>
          </p:cNvSpPr>
          <p:nvPr>
            <p:ph type="sldNum" sz="quarter" idx="5"/>
          </p:nvPr>
        </p:nvSpPr>
        <p:spPr/>
        <p:txBody>
          <a:bodyPr/>
          <a:lstStyle/>
          <a:p>
            <a:fld id="{988F3A2B-14A6-8F47-B753-A658CA12576A}" type="slidenum">
              <a:rPr lang="en-US" smtClean="0"/>
              <a:t>22</a:t>
            </a:fld>
            <a:endParaRPr lang="en-US"/>
          </a:p>
        </p:txBody>
      </p:sp>
    </p:spTree>
    <p:extLst>
      <p:ext uri="{BB962C8B-B14F-4D97-AF65-F5344CB8AC3E}">
        <p14:creationId xmlns:p14="http://schemas.microsoft.com/office/powerpoint/2010/main" val="225467433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D3A108-D6FA-5A73-FD78-827A6C04802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6E9B65F-91D2-362B-D96A-FE59E5E41B3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A8FFDD2-B0CA-BD1A-FEDD-7A745174148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1DFC307-A65A-6F86-1E43-95094EC53E23}"/>
              </a:ext>
            </a:extLst>
          </p:cNvPr>
          <p:cNvSpPr>
            <a:spLocks noGrp="1"/>
          </p:cNvSpPr>
          <p:nvPr>
            <p:ph type="sldNum" sz="quarter" idx="5"/>
          </p:nvPr>
        </p:nvSpPr>
        <p:spPr/>
        <p:txBody>
          <a:bodyPr/>
          <a:lstStyle/>
          <a:p>
            <a:fld id="{988F3A2B-14A6-8F47-B753-A658CA12576A}" type="slidenum">
              <a:rPr lang="en-US" smtClean="0"/>
              <a:t>23</a:t>
            </a:fld>
            <a:endParaRPr lang="en-US"/>
          </a:p>
        </p:txBody>
      </p:sp>
    </p:spTree>
    <p:extLst>
      <p:ext uri="{BB962C8B-B14F-4D97-AF65-F5344CB8AC3E}">
        <p14:creationId xmlns:p14="http://schemas.microsoft.com/office/powerpoint/2010/main" val="76217626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7D8A7A-4480-414E-A2B6-44163A8B0D9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EF32A28-6DD7-9804-F3C8-4130A974E22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315D71A-3F2D-DFCB-0CD6-799EE258F82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2238974-21FE-9DE1-393A-B1B6E7AC7F6C}"/>
              </a:ext>
            </a:extLst>
          </p:cNvPr>
          <p:cNvSpPr>
            <a:spLocks noGrp="1"/>
          </p:cNvSpPr>
          <p:nvPr>
            <p:ph type="sldNum" sz="quarter" idx="5"/>
          </p:nvPr>
        </p:nvSpPr>
        <p:spPr/>
        <p:txBody>
          <a:bodyPr/>
          <a:lstStyle/>
          <a:p>
            <a:fld id="{988F3A2B-14A6-8F47-B753-A658CA12576A}" type="slidenum">
              <a:rPr lang="en-US" smtClean="0"/>
              <a:t>24</a:t>
            </a:fld>
            <a:endParaRPr lang="en-US"/>
          </a:p>
        </p:txBody>
      </p:sp>
    </p:spTree>
    <p:extLst>
      <p:ext uri="{BB962C8B-B14F-4D97-AF65-F5344CB8AC3E}">
        <p14:creationId xmlns:p14="http://schemas.microsoft.com/office/powerpoint/2010/main" val="63664448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B70116-9EAC-9500-D4A8-E0EE0DC4343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D6FAA85-1026-8346-7967-54320091143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42B780A-436B-5B2B-7F7C-87FB048C3C1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6511FED-D7B1-84B6-D8AF-E3D2CF8CE5C1}"/>
              </a:ext>
            </a:extLst>
          </p:cNvPr>
          <p:cNvSpPr>
            <a:spLocks noGrp="1"/>
          </p:cNvSpPr>
          <p:nvPr>
            <p:ph type="sldNum" sz="quarter" idx="5"/>
          </p:nvPr>
        </p:nvSpPr>
        <p:spPr/>
        <p:txBody>
          <a:bodyPr/>
          <a:lstStyle/>
          <a:p>
            <a:fld id="{988F3A2B-14A6-8F47-B753-A658CA12576A}" type="slidenum">
              <a:rPr lang="en-US" smtClean="0"/>
              <a:t>25</a:t>
            </a:fld>
            <a:endParaRPr lang="en-US"/>
          </a:p>
        </p:txBody>
      </p:sp>
    </p:spTree>
    <p:extLst>
      <p:ext uri="{BB962C8B-B14F-4D97-AF65-F5344CB8AC3E}">
        <p14:creationId xmlns:p14="http://schemas.microsoft.com/office/powerpoint/2010/main" val="267181389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A91CC1-EAAF-FED4-5B2C-EC339508829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A458129-B452-164B-677A-76D0DBCAA53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6DA5CBA-BB9B-079C-B13C-FF186C76590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5BA50CF-BF57-FDD5-2E67-9374A84F0002}"/>
              </a:ext>
            </a:extLst>
          </p:cNvPr>
          <p:cNvSpPr>
            <a:spLocks noGrp="1"/>
          </p:cNvSpPr>
          <p:nvPr>
            <p:ph type="sldNum" sz="quarter" idx="5"/>
          </p:nvPr>
        </p:nvSpPr>
        <p:spPr/>
        <p:txBody>
          <a:bodyPr/>
          <a:lstStyle/>
          <a:p>
            <a:fld id="{988F3A2B-14A6-8F47-B753-A658CA12576A}" type="slidenum">
              <a:rPr lang="en-US" smtClean="0"/>
              <a:t>26</a:t>
            </a:fld>
            <a:endParaRPr lang="en-US"/>
          </a:p>
        </p:txBody>
      </p:sp>
    </p:spTree>
    <p:extLst>
      <p:ext uri="{BB962C8B-B14F-4D97-AF65-F5344CB8AC3E}">
        <p14:creationId xmlns:p14="http://schemas.microsoft.com/office/powerpoint/2010/main" val="216491282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F95AEE-2959-57E8-33FB-D366DE85D71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00DFFA5-1165-BB2D-F0AE-C5B6007DECA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9FBE893-1163-53D7-C127-37D7E7B191F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371FD88-3AAC-5B0C-2D4D-2539A68A2762}"/>
              </a:ext>
            </a:extLst>
          </p:cNvPr>
          <p:cNvSpPr>
            <a:spLocks noGrp="1"/>
          </p:cNvSpPr>
          <p:nvPr>
            <p:ph type="sldNum" sz="quarter" idx="5"/>
          </p:nvPr>
        </p:nvSpPr>
        <p:spPr/>
        <p:txBody>
          <a:bodyPr/>
          <a:lstStyle/>
          <a:p>
            <a:fld id="{988F3A2B-14A6-8F47-B753-A658CA12576A}" type="slidenum">
              <a:rPr lang="en-US" smtClean="0"/>
              <a:t>27</a:t>
            </a:fld>
            <a:endParaRPr lang="en-US"/>
          </a:p>
        </p:txBody>
      </p:sp>
    </p:spTree>
    <p:extLst>
      <p:ext uri="{BB962C8B-B14F-4D97-AF65-F5344CB8AC3E}">
        <p14:creationId xmlns:p14="http://schemas.microsoft.com/office/powerpoint/2010/main" val="96538071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88F3A2B-14A6-8F47-B753-A658CA12576A}" type="slidenum">
              <a:rPr lang="en-US" smtClean="0"/>
              <a:t>28</a:t>
            </a:fld>
            <a:endParaRPr lang="en-US"/>
          </a:p>
        </p:txBody>
      </p:sp>
    </p:spTree>
    <p:extLst>
      <p:ext uri="{BB962C8B-B14F-4D97-AF65-F5344CB8AC3E}">
        <p14:creationId xmlns:p14="http://schemas.microsoft.com/office/powerpoint/2010/main" val="167707568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88F3A2B-14A6-8F47-B753-A658CA12576A}" type="slidenum">
              <a:rPr lang="en-US" smtClean="0"/>
              <a:t>29</a:t>
            </a:fld>
            <a:endParaRPr lang="en-US"/>
          </a:p>
        </p:txBody>
      </p:sp>
    </p:spTree>
    <p:extLst>
      <p:ext uri="{BB962C8B-B14F-4D97-AF65-F5344CB8AC3E}">
        <p14:creationId xmlns:p14="http://schemas.microsoft.com/office/powerpoint/2010/main" val="309985116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568727-6770-E707-B3E8-0E94F2070F6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A8F7F1C-6315-870E-5392-BA47A793BBB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47606AC-BCCA-9E1E-33AB-CC581C5D697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5C15273-F382-B82F-879C-6F7F3FD0B034}"/>
              </a:ext>
            </a:extLst>
          </p:cNvPr>
          <p:cNvSpPr>
            <a:spLocks noGrp="1"/>
          </p:cNvSpPr>
          <p:nvPr>
            <p:ph type="sldNum" sz="quarter" idx="5"/>
          </p:nvPr>
        </p:nvSpPr>
        <p:spPr/>
        <p:txBody>
          <a:bodyPr/>
          <a:lstStyle/>
          <a:p>
            <a:fld id="{988F3A2B-14A6-8F47-B753-A658CA12576A}" type="slidenum">
              <a:rPr lang="en-US" smtClean="0"/>
              <a:t>30</a:t>
            </a:fld>
            <a:endParaRPr lang="en-US"/>
          </a:p>
        </p:txBody>
      </p:sp>
    </p:spTree>
    <p:extLst>
      <p:ext uri="{BB962C8B-B14F-4D97-AF65-F5344CB8AC3E}">
        <p14:creationId xmlns:p14="http://schemas.microsoft.com/office/powerpoint/2010/main" val="388372780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Resource Page - PPT Accessibility">
    <p:bg>
      <p:bgPr>
        <a:solidFill>
          <a:schemeClr val="accent4"/>
        </a:solidFill>
        <a:effectLst/>
      </p:bgPr>
    </p:bg>
    <p:spTree>
      <p:nvGrpSpPr>
        <p:cNvPr id="1" name=""/>
        <p:cNvGrpSpPr/>
        <p:nvPr/>
      </p:nvGrpSpPr>
      <p:grpSpPr>
        <a:xfrm>
          <a:off x="0" y="0"/>
          <a:ext cx="0" cy="0"/>
          <a:chOff x="0" y="0"/>
          <a:chExt cx="0" cy="0"/>
        </a:xfrm>
      </p:grpSpPr>
      <p:sp>
        <p:nvSpPr>
          <p:cNvPr id="3" name="PPT Accessibility"/>
          <p:cNvSpPr>
            <a:spLocks noGrp="1"/>
          </p:cNvSpPr>
          <p:nvPr>
            <p:ph type="subTitle" idx="1" hasCustomPrompt="1"/>
          </p:nvPr>
        </p:nvSpPr>
        <p:spPr>
          <a:xfrm>
            <a:off x="2667000" y="1597306"/>
            <a:ext cx="6581494" cy="1477328"/>
          </a:xfrm>
          <a:noFill/>
        </p:spPr>
        <p:txBody>
          <a:bodyPr wrap="square" lIns="0" tIns="0" rIns="0" bIns="0" anchor="t" anchorCtr="0">
            <a:spAutoFit/>
          </a:bodyPr>
          <a:lstStyle>
            <a:lvl1pPr marL="0" indent="0" algn="l">
              <a:buNone/>
              <a:defRPr lang="en-US" b="0" baseline="0" smtClean="0">
                <a:solidFill>
                  <a:schemeClr val="bg1"/>
                </a:solidFill>
                <a:effectLst/>
                <a:latin typeface="Franklin Gothic Book" panose="020B0503020102020204" pitchFamily="34" charset="0"/>
              </a:defRPr>
            </a:lvl1pPr>
            <a:lvl2pPr marL="457200" indent="0" algn="ctr">
              <a:buNone/>
              <a:defRPr sz="19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effectLst/>
                <a:latin typeface="Acumin Pro" panose="020B0504020202020204" pitchFamily="34" charset="77"/>
              </a:rPr>
              <a:t>Support the Purdue University brand in your presentations by using a brand-friendly template. This template uses an accessible master layout. Please note that some changes  to the PowerPoint template could impact accessibility by those with disabilities. Follow the instructions provided by Microsoft Office to ensure that your PowerPoint presentations are accessible to all users:</a:t>
            </a:r>
          </a:p>
        </p:txBody>
      </p:sp>
      <p:sp>
        <p:nvSpPr>
          <p:cNvPr id="10" name="PPT Accessibility URL" descr="PPT Accessibility URL">
            <a:extLst>
              <a:ext uri="{FF2B5EF4-FFF2-40B4-BE49-F238E27FC236}">
                <a16:creationId xmlns:a16="http://schemas.microsoft.com/office/drawing/2014/main" id="{E7B0FF2D-DA7C-7D4D-A32C-27DF18CCFBFD}"/>
              </a:ext>
            </a:extLst>
          </p:cNvPr>
          <p:cNvSpPr>
            <a:spLocks noGrp="1"/>
          </p:cNvSpPr>
          <p:nvPr>
            <p:ph type="body" sz="quarter" idx="14" hasCustomPrompt="1"/>
          </p:nvPr>
        </p:nvSpPr>
        <p:spPr>
          <a:xfrm>
            <a:off x="2667001" y="3813008"/>
            <a:ext cx="6725194" cy="602238"/>
          </a:xfrm>
        </p:spPr>
        <p:txBody>
          <a:bodyPr lIns="0" tIns="0" rIns="0" bIns="0">
            <a:normAutofit/>
          </a:bodyPr>
          <a:lstStyle>
            <a:lvl1pPr marL="0" marR="0" indent="0" algn="l" defTabSz="457200" rtl="0" eaLnBrk="1" fontAlgn="auto" latinLnBrk="0" hangingPunct="1">
              <a:lnSpc>
                <a:spcPct val="100000"/>
              </a:lnSpc>
              <a:spcBef>
                <a:spcPts val="0"/>
              </a:spcBef>
              <a:spcAft>
                <a:spcPts val="0"/>
              </a:spcAft>
              <a:buClrTx/>
              <a:buSzTx/>
              <a:buFontTx/>
              <a:buNone/>
              <a:tabLst/>
              <a:defRPr sz="1800" b="0" i="0" normalizeH="0" baseline="0">
                <a:solidFill>
                  <a:schemeClr val="bg1"/>
                </a:solidFill>
                <a:latin typeface="Acumin Pro" panose="020B0504020202020204" pitchFamily="34" charset="77"/>
              </a:defRPr>
            </a:lvl1pPr>
          </a:lstStyle>
          <a:p>
            <a:r>
              <a:rPr lang="en-US" dirty="0">
                <a:solidFill>
                  <a:schemeClr val="accent1"/>
                </a:solidFill>
                <a:effectLst/>
                <a:latin typeface="Acumin Pro" panose="020B0504020202020204" pitchFamily="34" charset="77"/>
              </a:rPr>
              <a:t>https://</a:t>
            </a:r>
            <a:r>
              <a:rPr lang="en-US" dirty="0" err="1">
                <a:solidFill>
                  <a:schemeClr val="accent1"/>
                </a:solidFill>
                <a:effectLst/>
                <a:latin typeface="Acumin Pro" panose="020B0504020202020204" pitchFamily="34" charset="77"/>
              </a:rPr>
              <a:t>support.office.com</a:t>
            </a:r>
            <a:r>
              <a:rPr lang="en-US" dirty="0">
                <a:solidFill>
                  <a:schemeClr val="accent1"/>
                </a:solidFill>
                <a:effectLst/>
                <a:latin typeface="Acumin Pro" panose="020B0504020202020204" pitchFamily="34" charset="77"/>
              </a:rPr>
              <a:t>/</a:t>
            </a:r>
            <a:r>
              <a:rPr lang="en-US" dirty="0" err="1">
                <a:solidFill>
                  <a:schemeClr val="accent1"/>
                </a:solidFill>
                <a:effectLst/>
                <a:latin typeface="Acumin Pro" panose="020B0504020202020204" pitchFamily="34" charset="77"/>
              </a:rPr>
              <a:t>en</a:t>
            </a:r>
            <a:r>
              <a:rPr lang="en-US" dirty="0">
                <a:solidFill>
                  <a:schemeClr val="accent1"/>
                </a:solidFill>
                <a:effectLst/>
                <a:latin typeface="Acumin Pro" panose="020B0504020202020204" pitchFamily="34" charset="77"/>
              </a:rPr>
              <a:t>-us/article/Make-your-PowerPoint-presentations-accessible-6f7772b2-2f33-4bd2-8ca7-dae3b2b3ef25</a:t>
            </a:r>
            <a:endParaRPr lang="en-US" dirty="0">
              <a:solidFill>
                <a:schemeClr val="accent1"/>
              </a:solidFill>
            </a:endParaRPr>
          </a:p>
        </p:txBody>
      </p:sp>
      <p:sp>
        <p:nvSpPr>
          <p:cNvPr id="7" name="Date"/>
          <p:cNvSpPr>
            <a:spLocks noGrp="1"/>
          </p:cNvSpPr>
          <p:nvPr>
            <p:ph type="dt" sz="half" idx="10"/>
          </p:nvPr>
        </p:nvSpPr>
        <p:spPr>
          <a:xfrm>
            <a:off x="8926248" y="6220740"/>
            <a:ext cx="1021891" cy="323968"/>
          </a:xfrm>
        </p:spPr>
        <p:txBody>
          <a:bodyPr/>
          <a:lstStyle>
            <a:lvl1pPr>
              <a:defRPr>
                <a:solidFill>
                  <a:schemeClr val="bg1">
                    <a:alpha val="70000"/>
                  </a:schemeClr>
                </a:solidFill>
              </a:defRPr>
            </a:lvl1pPr>
          </a:lstStyle>
          <a:p>
            <a:fld id="{D47A9A36-4EB0-BF46-AE48-7CDA251B954B}" type="datetime1">
              <a:rPr lang="en-US" smtClean="0"/>
              <a:t>10/31/2025</a:t>
            </a:fld>
            <a:endParaRPr lang="en-US" dirty="0"/>
          </a:p>
        </p:txBody>
      </p:sp>
      <p:sp>
        <p:nvSpPr>
          <p:cNvPr id="9" name="Slide Number"/>
          <p:cNvSpPr>
            <a:spLocks noGrp="1"/>
          </p:cNvSpPr>
          <p:nvPr>
            <p:ph type="sldNum" sz="quarter" idx="12"/>
          </p:nvPr>
        </p:nvSpPr>
        <p:spPr/>
        <p:txBody>
          <a:bodyPr/>
          <a:lstStyle>
            <a:lvl1pPr>
              <a:defRPr>
                <a:solidFill>
                  <a:schemeClr val="bg1"/>
                </a:solidFill>
              </a:defRPr>
            </a:lvl1pPr>
          </a:lstStyle>
          <a:p>
            <a:fld id="{8A7A6979-0714-4377-B894-6BE4C2D6E202}" type="slidenum">
              <a:rPr lang="en-US" smtClean="0"/>
              <a:pPr/>
              <a:t>‹#›</a:t>
            </a:fld>
            <a:endParaRPr lang="en-US" dirty="0"/>
          </a:p>
        </p:txBody>
      </p:sp>
      <p:cxnSp>
        <p:nvCxnSpPr>
          <p:cNvPr id="13" name="Line 1">
            <a:extLst>
              <a:ext uri="{FF2B5EF4-FFF2-40B4-BE49-F238E27FC236}">
                <a16:creationId xmlns:a16="http://schemas.microsoft.com/office/drawing/2014/main" id="{A746CD05-A191-A442-A002-3AD9F5CCAD2A}"/>
              </a:ext>
            </a:extLst>
          </p:cNvPr>
          <p:cNvCxnSpPr/>
          <p:nvPr/>
        </p:nvCxnSpPr>
        <p:spPr>
          <a:xfrm>
            <a:off x="1281648" y="5789"/>
            <a:ext cx="0" cy="6464461"/>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8" name="Line 2">
            <a:extLst>
              <a:ext uri="{FF2B5EF4-FFF2-40B4-BE49-F238E27FC236}">
                <a16:creationId xmlns:a16="http://schemas.microsoft.com/office/drawing/2014/main" id="{28D7FFFF-8236-024F-9988-3350427826A4}"/>
              </a:ext>
            </a:extLst>
          </p:cNvPr>
          <p:cNvCxnSpPr>
            <a:cxnSpLocks/>
          </p:cNvCxnSpPr>
          <p:nvPr/>
        </p:nvCxnSpPr>
        <p:spPr>
          <a:xfrm>
            <a:off x="8724900" y="5735256"/>
            <a:ext cx="0" cy="1122744"/>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5" name="Line 3">
            <a:extLst>
              <a:ext uri="{FF2B5EF4-FFF2-40B4-BE49-F238E27FC236}">
                <a16:creationId xmlns:a16="http://schemas.microsoft.com/office/drawing/2014/main" id="{7AA55D00-5647-D94E-B9DD-67ABB620C647}"/>
              </a:ext>
            </a:extLst>
          </p:cNvPr>
          <p:cNvCxnSpPr>
            <a:cxnSpLocks/>
          </p:cNvCxnSpPr>
          <p:nvPr/>
        </p:nvCxnSpPr>
        <p:spPr>
          <a:xfrm>
            <a:off x="10880901" y="1597306"/>
            <a:ext cx="0" cy="5260694"/>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11" name="Purdue CoBrand">
            <a:extLst>
              <a:ext uri="{FF2B5EF4-FFF2-40B4-BE49-F238E27FC236}">
                <a16:creationId xmlns:a16="http://schemas.microsoft.com/office/drawing/2014/main" id="{C9CD174E-FD96-2241-A6F9-04DEE0EA8DCE}"/>
              </a:ext>
            </a:extLst>
          </p:cNvPr>
          <p:cNvPicPr>
            <a:picLocks noChangeAspect="1"/>
          </p:cNvPicPr>
          <p:nvPr userDrawn="1"/>
        </p:nvPicPr>
        <p:blipFill>
          <a:blip r:embed="rId2"/>
          <a:srcRect/>
          <a:stretch/>
        </p:blipFill>
        <p:spPr>
          <a:xfrm>
            <a:off x="1811903" y="5987080"/>
            <a:ext cx="4243984" cy="449363"/>
          </a:xfrm>
          <a:prstGeom prst="rect">
            <a:avLst/>
          </a:prstGeom>
        </p:spPr>
      </p:pic>
    </p:spTree>
    <p:extLst>
      <p:ext uri="{BB962C8B-B14F-4D97-AF65-F5344CB8AC3E}">
        <p14:creationId xmlns:p14="http://schemas.microsoft.com/office/powerpoint/2010/main" val="197306990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guide id="3" orient="horz" pos="4032" userDrawn="1">
          <p15:clr>
            <a:srgbClr val="FBAE40"/>
          </p15:clr>
        </p15:guide>
        <p15:guide id="4" pos="5496" userDrawn="1">
          <p15:clr>
            <a:srgbClr val="FBAE40"/>
          </p15:clr>
        </p15:guide>
        <p15:guide id="5" pos="6848" userDrawn="1">
          <p15:clr>
            <a:srgbClr val="FBAE40"/>
          </p15:clr>
        </p15:guide>
        <p15:guide id="6" orient="horz" pos="4080" userDrawn="1">
          <p15:clr>
            <a:srgbClr val="FBAE40"/>
          </p15:clr>
        </p15:guide>
        <p15:guide id="7" pos="1312" userDrawn="1">
          <p15:clr>
            <a:srgbClr val="FBAE40"/>
          </p15:clr>
        </p15:guide>
        <p15:guide id="8" pos="1680" userDrawn="1">
          <p15:clr>
            <a:srgbClr val="FBAE40"/>
          </p15:clr>
        </p15:guide>
        <p15:guide id="9" pos="6264" userDrawn="1">
          <p15:clr>
            <a:srgbClr val="FBAE40"/>
          </p15:clr>
        </p15:guide>
        <p15:guide id="10" pos="6360" userDrawn="1">
          <p15:clr>
            <a:srgbClr val="FBAE40"/>
          </p15:clr>
        </p15:guide>
        <p15:guide id="11" orient="horz" pos="1008"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Slide">
    <p:bg>
      <p:bgPr>
        <a:solidFill>
          <a:schemeClr val="accent4"/>
        </a:solidFill>
        <a:effectLst/>
      </p:bgPr>
    </p:bg>
    <p:spTree>
      <p:nvGrpSpPr>
        <p:cNvPr id="1" name=""/>
        <p:cNvGrpSpPr/>
        <p:nvPr/>
      </p:nvGrpSpPr>
      <p:grpSpPr>
        <a:xfrm>
          <a:off x="0" y="0"/>
          <a:ext cx="0" cy="0"/>
          <a:chOff x="0" y="0"/>
          <a:chExt cx="0" cy="0"/>
        </a:xfrm>
      </p:grpSpPr>
      <p:sp>
        <p:nvSpPr>
          <p:cNvPr id="20" name="Black Background">
            <a:extLst>
              <a:ext uri="{FF2B5EF4-FFF2-40B4-BE49-F238E27FC236}">
                <a16:creationId xmlns:a16="http://schemas.microsoft.com/office/drawing/2014/main" id="{EACB2F0C-1C3D-CD48-AD13-7B5AD683F7C7}"/>
              </a:ext>
            </a:extLst>
          </p:cNvPr>
          <p:cNvSpPr/>
          <p:nvPr/>
        </p:nvSpPr>
        <p:spPr>
          <a:xfrm>
            <a:off x="0" y="0"/>
            <a:ext cx="12192000" cy="68580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 name="Title"/>
          <p:cNvSpPr>
            <a:spLocks noGrp="1"/>
          </p:cNvSpPr>
          <p:nvPr>
            <p:ph type="ctrTitle" hasCustomPrompt="1"/>
          </p:nvPr>
        </p:nvSpPr>
        <p:spPr bwMode="blackWhite">
          <a:xfrm>
            <a:off x="2647199" y="1501742"/>
            <a:ext cx="6801602" cy="664797"/>
          </a:xfrm>
          <a:prstGeom prst="rect">
            <a:avLst/>
          </a:prstGeom>
          <a:noFill/>
          <a:ln w="38100">
            <a:noFill/>
          </a:ln>
        </p:spPr>
        <p:txBody>
          <a:bodyPr wrap="square" lIns="0" tIns="0" rIns="0" bIns="0" anchor="t" anchorCtr="0">
            <a:spAutoFit/>
          </a:bodyPr>
          <a:lstStyle>
            <a:lvl1pPr algn="l">
              <a:defRPr sz="4800" b="1" i="1" spc="0" baseline="0">
                <a:solidFill>
                  <a:schemeClr val="tx2"/>
                </a:solidFill>
                <a:latin typeface="Franklin Gothic Book" panose="020B0503020102020204" pitchFamily="34" charset="0"/>
              </a:defRPr>
            </a:lvl1pPr>
          </a:lstStyle>
          <a:p>
            <a:r>
              <a:rPr lang="en-US" dirty="0"/>
              <a:t>Title</a:t>
            </a:r>
          </a:p>
        </p:txBody>
      </p:sp>
      <p:sp>
        <p:nvSpPr>
          <p:cNvPr id="3" name="Subtitle"/>
          <p:cNvSpPr>
            <a:spLocks noGrp="1"/>
          </p:cNvSpPr>
          <p:nvPr>
            <p:ph type="subTitle" idx="1" hasCustomPrompt="1"/>
          </p:nvPr>
        </p:nvSpPr>
        <p:spPr>
          <a:xfrm>
            <a:off x="2647199" y="3429000"/>
            <a:ext cx="6801603" cy="336015"/>
          </a:xfrm>
          <a:noFill/>
        </p:spPr>
        <p:txBody>
          <a:bodyPr wrap="square" lIns="0" tIns="0" rIns="0" bIns="0" anchor="t" anchorCtr="0">
            <a:spAutoFit/>
          </a:bodyPr>
          <a:lstStyle>
            <a:lvl1pPr marL="0" indent="0" algn="l">
              <a:buNone/>
              <a:defRPr sz="2200" b="1" i="0" baseline="0">
                <a:solidFill>
                  <a:schemeClr val="accent4"/>
                </a:solidFill>
                <a:latin typeface="Franklin Gothic Demi" panose="020B0603020102020204" pitchFamily="34" charset="0"/>
              </a:defRPr>
            </a:lvl1pPr>
            <a:lvl2pPr marL="457200" indent="0" algn="ctr">
              <a:buNone/>
              <a:defRPr sz="19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Subtitle</a:t>
            </a:r>
          </a:p>
        </p:txBody>
      </p:sp>
      <p:sp>
        <p:nvSpPr>
          <p:cNvPr id="12" name="Date">
            <a:extLst>
              <a:ext uri="{FF2B5EF4-FFF2-40B4-BE49-F238E27FC236}">
                <a16:creationId xmlns:a16="http://schemas.microsoft.com/office/drawing/2014/main" id="{569EEC58-EAB4-064A-8F4A-AFD41D2C52E3}"/>
              </a:ext>
            </a:extLst>
          </p:cNvPr>
          <p:cNvSpPr>
            <a:spLocks noGrp="1"/>
          </p:cNvSpPr>
          <p:nvPr>
            <p:ph type="dt" sz="half" idx="10"/>
          </p:nvPr>
        </p:nvSpPr>
        <p:spPr>
          <a:xfrm>
            <a:off x="8926248" y="6220740"/>
            <a:ext cx="1021891" cy="323968"/>
          </a:xfrm>
        </p:spPr>
        <p:txBody>
          <a:bodyPr/>
          <a:lstStyle>
            <a:lvl1pPr>
              <a:defRPr>
                <a:solidFill>
                  <a:schemeClr val="accent4">
                    <a:alpha val="70000"/>
                  </a:schemeClr>
                </a:solidFill>
              </a:defRPr>
            </a:lvl1pPr>
          </a:lstStyle>
          <a:p>
            <a:fld id="{D47A9A36-4EB0-BF46-AE48-7CDA251B954B}" type="datetime1">
              <a:rPr lang="en-US" smtClean="0"/>
              <a:pPr/>
              <a:t>10/31/2025</a:t>
            </a:fld>
            <a:endParaRPr lang="en-US" dirty="0"/>
          </a:p>
        </p:txBody>
      </p:sp>
      <p:sp>
        <p:nvSpPr>
          <p:cNvPr id="14" name="Slide Number">
            <a:extLst>
              <a:ext uri="{FF2B5EF4-FFF2-40B4-BE49-F238E27FC236}">
                <a16:creationId xmlns:a16="http://schemas.microsoft.com/office/drawing/2014/main" id="{F5536D05-EE19-B94F-AEFA-CBB9C74BE38E}"/>
              </a:ext>
            </a:extLst>
          </p:cNvPr>
          <p:cNvSpPr>
            <a:spLocks noGrp="1"/>
          </p:cNvSpPr>
          <p:nvPr>
            <p:ph type="sldNum" sz="quarter" idx="12"/>
          </p:nvPr>
        </p:nvSpPr>
        <p:spPr>
          <a:xfrm>
            <a:off x="10096500" y="6200875"/>
            <a:ext cx="487680" cy="365760"/>
          </a:xfrm>
        </p:spPr>
        <p:txBody>
          <a:bodyPr/>
          <a:lstStyle>
            <a:lvl1pPr>
              <a:defRPr>
                <a:solidFill>
                  <a:schemeClr val="accent4"/>
                </a:solidFill>
              </a:defRPr>
            </a:lvl1pPr>
          </a:lstStyle>
          <a:p>
            <a:fld id="{8A7A6979-0714-4377-B894-6BE4C2D6E202}" type="slidenum">
              <a:rPr lang="en-US" smtClean="0"/>
              <a:pPr/>
              <a:t>‹#›</a:t>
            </a:fld>
            <a:endParaRPr lang="en-US" dirty="0"/>
          </a:p>
        </p:txBody>
      </p:sp>
      <p:cxnSp>
        <p:nvCxnSpPr>
          <p:cNvPr id="16" name="Line 1">
            <a:extLst>
              <a:ext uri="{FF2B5EF4-FFF2-40B4-BE49-F238E27FC236}">
                <a16:creationId xmlns:a16="http://schemas.microsoft.com/office/drawing/2014/main" id="{6A4A8F82-5B38-7048-AC2C-C6614B1C1F87}"/>
              </a:ext>
            </a:extLst>
          </p:cNvPr>
          <p:cNvCxnSpPr/>
          <p:nvPr userDrawn="1"/>
        </p:nvCxnSpPr>
        <p:spPr>
          <a:xfrm>
            <a:off x="1281648" y="5789"/>
            <a:ext cx="0" cy="6464461"/>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7" name="Line 2">
            <a:extLst>
              <a:ext uri="{FF2B5EF4-FFF2-40B4-BE49-F238E27FC236}">
                <a16:creationId xmlns:a16="http://schemas.microsoft.com/office/drawing/2014/main" id="{8D8B04B8-2399-454A-B669-A05BD4291FE0}"/>
              </a:ext>
            </a:extLst>
          </p:cNvPr>
          <p:cNvCxnSpPr>
            <a:cxnSpLocks/>
          </p:cNvCxnSpPr>
          <p:nvPr userDrawn="1"/>
        </p:nvCxnSpPr>
        <p:spPr>
          <a:xfrm>
            <a:off x="8724900" y="5735256"/>
            <a:ext cx="0" cy="1122744"/>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9" name="Line 3">
            <a:extLst>
              <a:ext uri="{FF2B5EF4-FFF2-40B4-BE49-F238E27FC236}">
                <a16:creationId xmlns:a16="http://schemas.microsoft.com/office/drawing/2014/main" id="{E7D4788F-092F-E04C-9AB1-9F6377412706}"/>
              </a:ext>
            </a:extLst>
          </p:cNvPr>
          <p:cNvCxnSpPr>
            <a:cxnSpLocks/>
          </p:cNvCxnSpPr>
          <p:nvPr userDrawn="1"/>
        </p:nvCxnSpPr>
        <p:spPr>
          <a:xfrm>
            <a:off x="10880901" y="1597306"/>
            <a:ext cx="0" cy="5260694"/>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10" name="Purdue CoBrand">
            <a:extLst>
              <a:ext uri="{FF2B5EF4-FFF2-40B4-BE49-F238E27FC236}">
                <a16:creationId xmlns:a16="http://schemas.microsoft.com/office/drawing/2014/main" id="{35863FF8-FC78-8245-B0B0-E1D4313A3AF5}"/>
              </a:ext>
            </a:extLst>
          </p:cNvPr>
          <p:cNvPicPr>
            <a:picLocks noChangeAspect="1"/>
          </p:cNvPicPr>
          <p:nvPr userDrawn="1"/>
        </p:nvPicPr>
        <p:blipFill>
          <a:blip r:embed="rId2"/>
          <a:srcRect/>
          <a:stretch/>
        </p:blipFill>
        <p:spPr>
          <a:xfrm>
            <a:off x="1811903" y="5987081"/>
            <a:ext cx="4243984" cy="449363"/>
          </a:xfrm>
          <a:prstGeom prst="rect">
            <a:avLst/>
          </a:prstGeom>
        </p:spPr>
      </p:pic>
    </p:spTree>
    <p:extLst>
      <p:ext uri="{BB962C8B-B14F-4D97-AF65-F5344CB8AC3E}">
        <p14:creationId xmlns:p14="http://schemas.microsoft.com/office/powerpoint/2010/main" val="246350217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orient="horz" pos="3960">
          <p15:clr>
            <a:srgbClr val="FBAE40"/>
          </p15:clr>
        </p15:guide>
        <p15:guide id="4" pos="5952">
          <p15:clr>
            <a:srgbClr val="FBAE40"/>
          </p15:clr>
        </p15:guide>
        <p15:guide id="5" pos="6848">
          <p15:clr>
            <a:srgbClr val="FBAE40"/>
          </p15:clr>
        </p15:guide>
        <p15:guide id="6" orient="horz" pos="4080">
          <p15:clr>
            <a:srgbClr val="FBAE40"/>
          </p15:clr>
        </p15:guide>
        <p15:guide id="7" pos="1656">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Slide - Copy">
    <p:bg>
      <p:bgPr>
        <a:solidFill>
          <a:schemeClr val="accent4"/>
        </a:solidFill>
        <a:effectLst/>
      </p:bgPr>
    </p:bg>
    <p:spTree>
      <p:nvGrpSpPr>
        <p:cNvPr id="1" name=""/>
        <p:cNvGrpSpPr/>
        <p:nvPr/>
      </p:nvGrpSpPr>
      <p:grpSpPr>
        <a:xfrm>
          <a:off x="0" y="0"/>
          <a:ext cx="0" cy="0"/>
          <a:chOff x="0" y="0"/>
          <a:chExt cx="0" cy="0"/>
        </a:xfrm>
      </p:grpSpPr>
      <p:sp>
        <p:nvSpPr>
          <p:cNvPr id="26" name="Black Bar">
            <a:extLst>
              <a:ext uri="{FF2B5EF4-FFF2-40B4-BE49-F238E27FC236}">
                <a16:creationId xmlns:a16="http://schemas.microsoft.com/office/drawing/2014/main" id="{A66A797F-CC2D-F24E-8D26-8632FDB68C4C}"/>
              </a:ext>
            </a:extLst>
          </p:cNvPr>
          <p:cNvSpPr/>
          <p:nvPr userDrawn="1"/>
        </p:nvSpPr>
        <p:spPr>
          <a:xfrm>
            <a:off x="1773864" y="0"/>
            <a:ext cx="9884736" cy="90813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 name="Title"/>
          <p:cNvSpPr>
            <a:spLocks noGrp="1"/>
          </p:cNvSpPr>
          <p:nvPr>
            <p:ph type="ctrTitle" hasCustomPrompt="1"/>
          </p:nvPr>
        </p:nvSpPr>
        <p:spPr bwMode="blackWhite">
          <a:xfrm>
            <a:off x="2107520" y="437030"/>
            <a:ext cx="7988980" cy="332399"/>
          </a:xfrm>
          <a:prstGeom prst="rect">
            <a:avLst/>
          </a:prstGeom>
          <a:noFill/>
          <a:ln w="38100">
            <a:noFill/>
          </a:ln>
        </p:spPr>
        <p:txBody>
          <a:bodyPr wrap="square" lIns="0" tIns="0" rIns="0" bIns="0" anchor="t" anchorCtr="0">
            <a:spAutoFit/>
          </a:bodyPr>
          <a:lstStyle>
            <a:lvl1pPr algn="l">
              <a:defRPr sz="2400" b="1" i="1" cap="none" spc="0" baseline="0">
                <a:solidFill>
                  <a:schemeClr val="tx2"/>
                </a:solidFill>
                <a:latin typeface="Franklin Gothic Book" panose="020B0503020102020204" pitchFamily="34" charset="0"/>
              </a:defRPr>
            </a:lvl1pPr>
          </a:lstStyle>
          <a:p>
            <a:r>
              <a:rPr lang="en-US" dirty="0"/>
              <a:t>Title</a:t>
            </a:r>
          </a:p>
        </p:txBody>
      </p:sp>
      <p:sp>
        <p:nvSpPr>
          <p:cNvPr id="3" name="Subhead"/>
          <p:cNvSpPr>
            <a:spLocks noGrp="1"/>
          </p:cNvSpPr>
          <p:nvPr>
            <p:ph type="subTitle" idx="1" hasCustomPrompt="1"/>
          </p:nvPr>
        </p:nvSpPr>
        <p:spPr>
          <a:xfrm>
            <a:off x="2107518" y="1345167"/>
            <a:ext cx="7988982" cy="276999"/>
          </a:xfrm>
          <a:noFill/>
        </p:spPr>
        <p:txBody>
          <a:bodyPr wrap="square" lIns="0" tIns="0" rIns="0" bIns="0" anchor="t" anchorCtr="0">
            <a:spAutoFit/>
          </a:bodyPr>
          <a:lstStyle>
            <a:lvl1pPr marL="0" indent="0" algn="l">
              <a:buNone/>
              <a:defRPr sz="1800" b="1" i="0" baseline="0">
                <a:solidFill>
                  <a:schemeClr val="accent2"/>
                </a:solidFill>
                <a:latin typeface="Franklin Gothic Book" panose="020B0503020102020204" pitchFamily="34" charset="0"/>
              </a:defRPr>
            </a:lvl1pPr>
            <a:lvl2pPr marL="457200" indent="0" algn="ctr">
              <a:buNone/>
              <a:defRPr sz="19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Subhead</a:t>
            </a:r>
          </a:p>
        </p:txBody>
      </p:sp>
      <p:sp>
        <p:nvSpPr>
          <p:cNvPr id="25" name="Body Text">
            <a:extLst>
              <a:ext uri="{FF2B5EF4-FFF2-40B4-BE49-F238E27FC236}">
                <a16:creationId xmlns:a16="http://schemas.microsoft.com/office/drawing/2014/main" id="{9F798712-4535-8340-942F-27FFD5E3FE9B}"/>
              </a:ext>
            </a:extLst>
          </p:cNvPr>
          <p:cNvSpPr>
            <a:spLocks noGrp="1"/>
          </p:cNvSpPr>
          <p:nvPr>
            <p:ph type="body" sz="quarter" idx="14" hasCustomPrompt="1"/>
          </p:nvPr>
        </p:nvSpPr>
        <p:spPr>
          <a:xfrm>
            <a:off x="2666056" y="1917389"/>
            <a:ext cx="7366000" cy="3411537"/>
          </a:xfrm>
        </p:spPr>
        <p:txBody>
          <a:bodyPr lIns="0" tIns="0" rIns="0" bIns="0">
            <a:normAutofit/>
          </a:bodyPr>
          <a:lstStyle>
            <a:lvl1pPr marL="274320" marR="0" indent="-274320" algn="l" defTabSz="457200" rtl="0" eaLnBrk="1" fontAlgn="auto" latinLnBrk="0" hangingPunct="1">
              <a:lnSpc>
                <a:spcPct val="100000"/>
              </a:lnSpc>
              <a:spcBef>
                <a:spcPts val="0"/>
              </a:spcBef>
              <a:spcAft>
                <a:spcPts val="0"/>
              </a:spcAft>
              <a:buClrTx/>
              <a:buSzTx/>
              <a:buFont typeface="Wingdings" charset="2"/>
              <a:buChar char="§"/>
              <a:tabLst/>
              <a:defRPr sz="1600" b="0" i="0" normalizeH="0" baseline="0">
                <a:solidFill>
                  <a:schemeClr val="bg1"/>
                </a:solidFill>
                <a:latin typeface="Franklin Gothic Book" panose="020B0503020102020204" pitchFamily="34" charset="0"/>
              </a:defRPr>
            </a:lvl1pPr>
          </a:lstStyle>
          <a:p>
            <a:pPr lvl="0"/>
            <a:r>
              <a:rPr lang="en-US" dirty="0"/>
              <a:t>Bulleted copy. Keep it short with bite-size chunks of information.</a:t>
            </a:r>
          </a:p>
          <a:p>
            <a:pPr lvl="0"/>
            <a:endParaRPr lang="en-US" dirty="0"/>
          </a:p>
          <a:p>
            <a:pPr lvl="0"/>
            <a:r>
              <a:rPr lang="en-US" dirty="0"/>
              <a:t>Bulleted copy. Keep it short with bite-size chunks of information.</a:t>
            </a:r>
          </a:p>
          <a:p>
            <a:pPr lvl="0"/>
            <a:endParaRPr lang="en-US" dirty="0"/>
          </a:p>
          <a:p>
            <a:pPr marL="274320" marR="0" lvl="0" indent="-274320" algn="l" defTabSz="457200" rtl="0" eaLnBrk="1" fontAlgn="auto" latinLnBrk="0" hangingPunct="1">
              <a:lnSpc>
                <a:spcPct val="100000"/>
              </a:lnSpc>
              <a:spcBef>
                <a:spcPts val="0"/>
              </a:spcBef>
              <a:spcAft>
                <a:spcPts val="0"/>
              </a:spcAft>
              <a:buClrTx/>
              <a:buSzTx/>
              <a:buFont typeface="Wingdings" charset="2"/>
              <a:buChar char="§"/>
              <a:tabLst/>
              <a:defRPr/>
            </a:pPr>
            <a:r>
              <a:rPr lang="en-US" dirty="0"/>
              <a:t>Bulleted copy. Keep it short with bite-size chunks of information.</a:t>
            </a:r>
          </a:p>
          <a:p>
            <a:pPr lvl="0"/>
            <a:endParaRPr lang="en-US" dirty="0"/>
          </a:p>
          <a:p>
            <a:pPr marL="274320" marR="0" lvl="0" indent="-274320" algn="l" defTabSz="457200" rtl="0" eaLnBrk="1" fontAlgn="auto" latinLnBrk="0" hangingPunct="1">
              <a:lnSpc>
                <a:spcPct val="100000"/>
              </a:lnSpc>
              <a:spcBef>
                <a:spcPts val="0"/>
              </a:spcBef>
              <a:spcAft>
                <a:spcPts val="0"/>
              </a:spcAft>
              <a:buClrTx/>
              <a:buSzTx/>
              <a:buFont typeface="Wingdings" charset="2"/>
              <a:buChar char="§"/>
              <a:tabLst/>
              <a:defRPr/>
            </a:pPr>
            <a:r>
              <a:rPr lang="en-US" dirty="0"/>
              <a:t>Bulleted copy. Keep it short with bite-size chunks of information.</a:t>
            </a:r>
          </a:p>
          <a:p>
            <a:pPr lvl="0"/>
            <a:endParaRPr lang="en-US" dirty="0"/>
          </a:p>
        </p:txBody>
      </p:sp>
      <p:sp>
        <p:nvSpPr>
          <p:cNvPr id="16" name="Date">
            <a:extLst>
              <a:ext uri="{FF2B5EF4-FFF2-40B4-BE49-F238E27FC236}">
                <a16:creationId xmlns:a16="http://schemas.microsoft.com/office/drawing/2014/main" id="{714077B3-45FB-7B43-8C19-3B82C49646B4}"/>
              </a:ext>
            </a:extLst>
          </p:cNvPr>
          <p:cNvSpPr>
            <a:spLocks noGrp="1"/>
          </p:cNvSpPr>
          <p:nvPr>
            <p:ph type="dt" sz="half" idx="10"/>
          </p:nvPr>
        </p:nvSpPr>
        <p:spPr>
          <a:xfrm>
            <a:off x="8926248" y="6220740"/>
            <a:ext cx="1021891" cy="323968"/>
          </a:xfrm>
        </p:spPr>
        <p:txBody>
          <a:bodyPr/>
          <a:lstStyle>
            <a:lvl1pPr>
              <a:defRPr>
                <a:solidFill>
                  <a:schemeClr val="bg1">
                    <a:alpha val="70000"/>
                  </a:schemeClr>
                </a:solidFill>
              </a:defRPr>
            </a:lvl1pPr>
          </a:lstStyle>
          <a:p>
            <a:fld id="{D47A9A36-4EB0-BF46-AE48-7CDA251B954B}" type="datetime1">
              <a:rPr lang="en-US" smtClean="0"/>
              <a:t>10/31/2025</a:t>
            </a:fld>
            <a:endParaRPr lang="en-US" dirty="0"/>
          </a:p>
        </p:txBody>
      </p:sp>
      <p:sp>
        <p:nvSpPr>
          <p:cNvPr id="17" name="Slide Number">
            <a:extLst>
              <a:ext uri="{FF2B5EF4-FFF2-40B4-BE49-F238E27FC236}">
                <a16:creationId xmlns:a16="http://schemas.microsoft.com/office/drawing/2014/main" id="{9877984E-7F57-E649-B9D9-2C2240989518}"/>
              </a:ext>
            </a:extLst>
          </p:cNvPr>
          <p:cNvSpPr>
            <a:spLocks noGrp="1"/>
          </p:cNvSpPr>
          <p:nvPr>
            <p:ph type="sldNum" sz="quarter" idx="12"/>
          </p:nvPr>
        </p:nvSpPr>
        <p:spPr>
          <a:xfrm>
            <a:off x="10096500" y="6200875"/>
            <a:ext cx="487680" cy="365760"/>
          </a:xfrm>
        </p:spPr>
        <p:txBody>
          <a:bodyPr/>
          <a:lstStyle>
            <a:lvl1pPr>
              <a:defRPr>
                <a:solidFill>
                  <a:schemeClr val="bg1"/>
                </a:solidFill>
              </a:defRPr>
            </a:lvl1pPr>
          </a:lstStyle>
          <a:p>
            <a:fld id="{8A7A6979-0714-4377-B894-6BE4C2D6E202}" type="slidenum">
              <a:rPr lang="en-US" smtClean="0"/>
              <a:pPr/>
              <a:t>‹#›</a:t>
            </a:fld>
            <a:endParaRPr lang="en-US" dirty="0"/>
          </a:p>
        </p:txBody>
      </p:sp>
      <p:cxnSp>
        <p:nvCxnSpPr>
          <p:cNvPr id="19" name="Line 1">
            <a:extLst>
              <a:ext uri="{FF2B5EF4-FFF2-40B4-BE49-F238E27FC236}">
                <a16:creationId xmlns:a16="http://schemas.microsoft.com/office/drawing/2014/main" id="{8936B9D4-1725-3C46-A32F-C28623BAF26E}"/>
              </a:ext>
            </a:extLst>
          </p:cNvPr>
          <p:cNvCxnSpPr/>
          <p:nvPr userDrawn="1"/>
        </p:nvCxnSpPr>
        <p:spPr>
          <a:xfrm>
            <a:off x="1281648" y="5789"/>
            <a:ext cx="0" cy="6464461"/>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1" name="Line 2">
            <a:extLst>
              <a:ext uri="{FF2B5EF4-FFF2-40B4-BE49-F238E27FC236}">
                <a16:creationId xmlns:a16="http://schemas.microsoft.com/office/drawing/2014/main" id="{A8A4F2E5-6CC0-B242-9D18-2446C1D7DE8A}"/>
              </a:ext>
            </a:extLst>
          </p:cNvPr>
          <p:cNvCxnSpPr>
            <a:cxnSpLocks/>
          </p:cNvCxnSpPr>
          <p:nvPr userDrawn="1"/>
        </p:nvCxnSpPr>
        <p:spPr>
          <a:xfrm>
            <a:off x="8724900" y="5735256"/>
            <a:ext cx="0" cy="1122744"/>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2" name="Line 3">
            <a:extLst>
              <a:ext uri="{FF2B5EF4-FFF2-40B4-BE49-F238E27FC236}">
                <a16:creationId xmlns:a16="http://schemas.microsoft.com/office/drawing/2014/main" id="{C07B1E83-E1FB-094B-9F1A-D5DE2767524D}"/>
              </a:ext>
            </a:extLst>
          </p:cNvPr>
          <p:cNvCxnSpPr>
            <a:cxnSpLocks/>
          </p:cNvCxnSpPr>
          <p:nvPr userDrawn="1"/>
        </p:nvCxnSpPr>
        <p:spPr>
          <a:xfrm>
            <a:off x="10880901" y="1597306"/>
            <a:ext cx="0" cy="5260694"/>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11" name="Purdue CoBrand">
            <a:extLst>
              <a:ext uri="{FF2B5EF4-FFF2-40B4-BE49-F238E27FC236}">
                <a16:creationId xmlns:a16="http://schemas.microsoft.com/office/drawing/2014/main" id="{7819D8BA-413A-6641-B706-270206BA2A7C}"/>
              </a:ext>
            </a:extLst>
          </p:cNvPr>
          <p:cNvPicPr>
            <a:picLocks noChangeAspect="1"/>
          </p:cNvPicPr>
          <p:nvPr userDrawn="1"/>
        </p:nvPicPr>
        <p:blipFill>
          <a:blip r:embed="rId2"/>
          <a:srcRect/>
          <a:stretch/>
        </p:blipFill>
        <p:spPr>
          <a:xfrm>
            <a:off x="1811903" y="5987080"/>
            <a:ext cx="4243984" cy="449363"/>
          </a:xfrm>
          <a:prstGeom prst="rect">
            <a:avLst/>
          </a:prstGeom>
        </p:spPr>
      </p:pic>
    </p:spTree>
    <p:extLst>
      <p:ext uri="{BB962C8B-B14F-4D97-AF65-F5344CB8AC3E}">
        <p14:creationId xmlns:p14="http://schemas.microsoft.com/office/powerpoint/2010/main" val="140675489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orient="horz" pos="3960">
          <p15:clr>
            <a:srgbClr val="FBAE40"/>
          </p15:clr>
        </p15:guide>
        <p15:guide id="4" pos="5952">
          <p15:clr>
            <a:srgbClr val="FBAE40"/>
          </p15:clr>
        </p15:guide>
        <p15:guide id="5" pos="6848">
          <p15:clr>
            <a:srgbClr val="FBAE40"/>
          </p15:clr>
        </p15:guide>
        <p15:guide id="6" orient="horz" pos="4080">
          <p15:clr>
            <a:srgbClr val="FBAE40"/>
          </p15:clr>
        </p15:guide>
        <p15:guide id="7" pos="1104">
          <p15:clr>
            <a:srgbClr val="FBAE40"/>
          </p15:clr>
        </p15:guide>
        <p15:guide id="8" pos="168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ntent Slide - Copy &amp; Pic/Chart">
    <p:bg>
      <p:bgPr>
        <a:solidFill>
          <a:schemeClr val="accent4"/>
        </a:solidFill>
        <a:effectLst/>
      </p:bgPr>
    </p:bg>
    <p:spTree>
      <p:nvGrpSpPr>
        <p:cNvPr id="1" name=""/>
        <p:cNvGrpSpPr/>
        <p:nvPr/>
      </p:nvGrpSpPr>
      <p:grpSpPr>
        <a:xfrm>
          <a:off x="0" y="0"/>
          <a:ext cx="0" cy="0"/>
          <a:chOff x="0" y="0"/>
          <a:chExt cx="0" cy="0"/>
        </a:xfrm>
      </p:grpSpPr>
      <p:sp>
        <p:nvSpPr>
          <p:cNvPr id="24" name="Black Bar">
            <a:extLst>
              <a:ext uri="{FF2B5EF4-FFF2-40B4-BE49-F238E27FC236}">
                <a16:creationId xmlns:a16="http://schemas.microsoft.com/office/drawing/2014/main" id="{0AE71379-F4D3-D147-9F20-2FE1D74B2D32}"/>
              </a:ext>
            </a:extLst>
          </p:cNvPr>
          <p:cNvSpPr/>
          <p:nvPr userDrawn="1"/>
        </p:nvSpPr>
        <p:spPr>
          <a:xfrm>
            <a:off x="1773864" y="0"/>
            <a:ext cx="9884736" cy="90813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5" name="Title">
            <a:extLst>
              <a:ext uri="{FF2B5EF4-FFF2-40B4-BE49-F238E27FC236}">
                <a16:creationId xmlns:a16="http://schemas.microsoft.com/office/drawing/2014/main" id="{D4CA7DB8-4B5A-E34E-9870-26F61BD3E47D}"/>
              </a:ext>
            </a:extLst>
          </p:cNvPr>
          <p:cNvSpPr>
            <a:spLocks noGrp="1"/>
          </p:cNvSpPr>
          <p:nvPr>
            <p:ph type="ctrTitle" hasCustomPrompt="1"/>
          </p:nvPr>
        </p:nvSpPr>
        <p:spPr bwMode="blackWhite">
          <a:xfrm>
            <a:off x="2107520" y="437030"/>
            <a:ext cx="7988978" cy="332399"/>
          </a:xfrm>
          <a:prstGeom prst="rect">
            <a:avLst/>
          </a:prstGeom>
          <a:noFill/>
          <a:ln w="38100">
            <a:noFill/>
          </a:ln>
        </p:spPr>
        <p:txBody>
          <a:bodyPr wrap="square" lIns="0" tIns="0" rIns="0" bIns="0" anchor="t" anchorCtr="0">
            <a:spAutoFit/>
          </a:bodyPr>
          <a:lstStyle>
            <a:lvl1pPr algn="l">
              <a:defRPr sz="2400" b="1" i="1" cap="none" spc="0" baseline="0">
                <a:solidFill>
                  <a:schemeClr val="tx2"/>
                </a:solidFill>
                <a:latin typeface="Franklin Gothic Book" panose="020B0503020102020204" pitchFamily="34" charset="0"/>
              </a:defRPr>
            </a:lvl1pPr>
          </a:lstStyle>
          <a:p>
            <a:r>
              <a:rPr lang="en-US" dirty="0"/>
              <a:t>Title</a:t>
            </a:r>
          </a:p>
        </p:txBody>
      </p:sp>
      <p:sp>
        <p:nvSpPr>
          <p:cNvPr id="26" name="Subhead">
            <a:extLst>
              <a:ext uri="{FF2B5EF4-FFF2-40B4-BE49-F238E27FC236}">
                <a16:creationId xmlns:a16="http://schemas.microsoft.com/office/drawing/2014/main" id="{1DF492DD-020D-4A41-BFE4-1758A1DC7221}"/>
              </a:ext>
            </a:extLst>
          </p:cNvPr>
          <p:cNvSpPr>
            <a:spLocks noGrp="1"/>
          </p:cNvSpPr>
          <p:nvPr>
            <p:ph type="subTitle" idx="1" hasCustomPrompt="1"/>
          </p:nvPr>
        </p:nvSpPr>
        <p:spPr>
          <a:xfrm>
            <a:off x="2107518" y="1345167"/>
            <a:ext cx="7988980" cy="276999"/>
          </a:xfrm>
          <a:noFill/>
        </p:spPr>
        <p:txBody>
          <a:bodyPr wrap="square" lIns="0" tIns="0" rIns="0" bIns="0" anchor="t" anchorCtr="0">
            <a:spAutoFit/>
          </a:bodyPr>
          <a:lstStyle>
            <a:lvl1pPr marL="0" indent="0" algn="l">
              <a:buNone/>
              <a:defRPr sz="1800" b="1" i="0" baseline="0">
                <a:solidFill>
                  <a:schemeClr val="accent2"/>
                </a:solidFill>
                <a:latin typeface="Franklin Gothic Book" panose="020B0503020102020204" pitchFamily="34" charset="0"/>
              </a:defRPr>
            </a:lvl1pPr>
            <a:lvl2pPr marL="457200" indent="0" algn="ctr">
              <a:buNone/>
              <a:defRPr sz="19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Subhead</a:t>
            </a:r>
          </a:p>
        </p:txBody>
      </p:sp>
      <p:sp>
        <p:nvSpPr>
          <p:cNvPr id="19" name="Body Text">
            <a:extLst>
              <a:ext uri="{FF2B5EF4-FFF2-40B4-BE49-F238E27FC236}">
                <a16:creationId xmlns:a16="http://schemas.microsoft.com/office/drawing/2014/main" id="{4B5CCD19-DE21-294C-8B0B-3103725AE082}"/>
              </a:ext>
            </a:extLst>
          </p:cNvPr>
          <p:cNvSpPr>
            <a:spLocks noGrp="1"/>
          </p:cNvSpPr>
          <p:nvPr>
            <p:ph type="body" sz="quarter" idx="14" hasCustomPrompt="1"/>
          </p:nvPr>
        </p:nvSpPr>
        <p:spPr>
          <a:xfrm>
            <a:off x="2665914" y="1917389"/>
            <a:ext cx="4081046" cy="3411537"/>
          </a:xfrm>
        </p:spPr>
        <p:txBody>
          <a:bodyPr lIns="0" tIns="0" rIns="0" bIns="0">
            <a:normAutofit/>
          </a:bodyPr>
          <a:lstStyle>
            <a:lvl1pPr marL="274320" marR="0" indent="-274320" algn="l" defTabSz="457200" rtl="0" eaLnBrk="1" fontAlgn="auto" latinLnBrk="0" hangingPunct="1">
              <a:lnSpc>
                <a:spcPct val="100000"/>
              </a:lnSpc>
              <a:spcBef>
                <a:spcPts val="0"/>
              </a:spcBef>
              <a:spcAft>
                <a:spcPts val="0"/>
              </a:spcAft>
              <a:buClrTx/>
              <a:buSzTx/>
              <a:buFont typeface="Wingdings" charset="2"/>
              <a:buChar char="§"/>
              <a:tabLst/>
              <a:defRPr sz="1600" b="0" i="0" normalizeH="0" baseline="0">
                <a:solidFill>
                  <a:schemeClr val="bg1"/>
                </a:solidFill>
                <a:latin typeface="Franklin Gothic Book" panose="020B0503020102020204" pitchFamily="34" charset="0"/>
              </a:defRPr>
            </a:lvl1pPr>
          </a:lstStyle>
          <a:p>
            <a:pPr lvl="0"/>
            <a:r>
              <a:rPr lang="en-US" dirty="0"/>
              <a:t>Bulleted copy. Keep it short with bite-size chunks of information.</a:t>
            </a:r>
          </a:p>
          <a:p>
            <a:pPr lvl="0"/>
            <a:endParaRPr lang="en-US" dirty="0"/>
          </a:p>
          <a:p>
            <a:pPr lvl="0"/>
            <a:r>
              <a:rPr lang="en-US" dirty="0"/>
              <a:t>Bulleted copy. Keep it short with bite-size chunks of information.</a:t>
            </a:r>
          </a:p>
          <a:p>
            <a:pPr lvl="0"/>
            <a:endParaRPr lang="en-US" dirty="0"/>
          </a:p>
          <a:p>
            <a:pPr marL="274320" marR="0" lvl="0" indent="-274320" algn="l" defTabSz="457200" rtl="0" eaLnBrk="1" fontAlgn="auto" latinLnBrk="0" hangingPunct="1">
              <a:lnSpc>
                <a:spcPct val="100000"/>
              </a:lnSpc>
              <a:spcBef>
                <a:spcPts val="0"/>
              </a:spcBef>
              <a:spcAft>
                <a:spcPts val="0"/>
              </a:spcAft>
              <a:buClrTx/>
              <a:buSzTx/>
              <a:buFont typeface="Wingdings" charset="2"/>
              <a:buChar char="§"/>
              <a:tabLst/>
              <a:defRPr/>
            </a:pPr>
            <a:r>
              <a:rPr lang="en-US" dirty="0"/>
              <a:t>Bulleted copy. Keep it short with bite-size chunks of information.</a:t>
            </a:r>
          </a:p>
          <a:p>
            <a:pPr lvl="0"/>
            <a:endParaRPr lang="en-US" dirty="0"/>
          </a:p>
          <a:p>
            <a:pPr lvl="0"/>
            <a:endParaRPr lang="en-US" dirty="0"/>
          </a:p>
        </p:txBody>
      </p:sp>
      <p:cxnSp>
        <p:nvCxnSpPr>
          <p:cNvPr id="23" name="Line 3">
            <a:extLst>
              <a:ext uri="{FF2B5EF4-FFF2-40B4-BE49-F238E27FC236}">
                <a16:creationId xmlns:a16="http://schemas.microsoft.com/office/drawing/2014/main" id="{3DD2E154-C016-6747-BDF9-C46FDA8D5574}"/>
              </a:ext>
            </a:extLst>
          </p:cNvPr>
          <p:cNvCxnSpPr>
            <a:cxnSpLocks/>
          </p:cNvCxnSpPr>
          <p:nvPr userDrawn="1"/>
        </p:nvCxnSpPr>
        <p:spPr>
          <a:xfrm>
            <a:off x="10880901" y="1597306"/>
            <a:ext cx="0" cy="5260694"/>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0" name="Picture or Chart" descr="Picture or Chart">
            <a:extLst>
              <a:ext uri="{FF2B5EF4-FFF2-40B4-BE49-F238E27FC236}">
                <a16:creationId xmlns:a16="http://schemas.microsoft.com/office/drawing/2014/main" id="{699BD747-48B6-2547-8F7C-25A44594F612}"/>
              </a:ext>
            </a:extLst>
          </p:cNvPr>
          <p:cNvSpPr>
            <a:spLocks noGrp="1"/>
          </p:cNvSpPr>
          <p:nvPr>
            <p:ph sz="quarter" idx="13" hasCustomPrompt="1"/>
          </p:nvPr>
        </p:nvSpPr>
        <p:spPr>
          <a:xfrm>
            <a:off x="7093131" y="1920876"/>
            <a:ext cx="4561597" cy="2982913"/>
          </a:xfrm>
          <a:solidFill>
            <a:schemeClr val="accent4"/>
          </a:solidFill>
        </p:spPr>
        <p:txBody>
          <a:bodyPr lIns="0" tIns="0" rIns="0" bIns="0" anchor="ctr" anchorCtr="0"/>
          <a:lstStyle>
            <a:lvl1pPr algn="ctr">
              <a:defRPr b="0" i="0">
                <a:solidFill>
                  <a:schemeClr val="bg1"/>
                </a:solidFill>
                <a:latin typeface="Acumin Pro" panose="020B0504020202020204" pitchFamily="34" charset="77"/>
              </a:defRPr>
            </a:lvl1pPr>
            <a:lvl4pPr marL="685800" indent="0" algn="ctr">
              <a:buNone/>
              <a:defRPr>
                <a:solidFill>
                  <a:schemeClr val="bg1"/>
                </a:solidFill>
              </a:defRPr>
            </a:lvl4pPr>
          </a:lstStyle>
          <a:p>
            <a:pPr lvl="0"/>
            <a:r>
              <a:rPr lang="en-US" dirty="0"/>
              <a:t>Insert picture or chart here</a:t>
            </a:r>
          </a:p>
        </p:txBody>
      </p:sp>
      <p:sp>
        <p:nvSpPr>
          <p:cNvPr id="16" name="Date">
            <a:extLst>
              <a:ext uri="{FF2B5EF4-FFF2-40B4-BE49-F238E27FC236}">
                <a16:creationId xmlns:a16="http://schemas.microsoft.com/office/drawing/2014/main" id="{C8365B71-1339-9448-BF22-95AA51DA73FB}"/>
              </a:ext>
            </a:extLst>
          </p:cNvPr>
          <p:cNvSpPr>
            <a:spLocks noGrp="1"/>
          </p:cNvSpPr>
          <p:nvPr>
            <p:ph type="dt" sz="half" idx="10"/>
          </p:nvPr>
        </p:nvSpPr>
        <p:spPr>
          <a:xfrm>
            <a:off x="8926248" y="6220740"/>
            <a:ext cx="1021891" cy="323968"/>
          </a:xfrm>
        </p:spPr>
        <p:txBody>
          <a:bodyPr/>
          <a:lstStyle>
            <a:lvl1pPr>
              <a:defRPr>
                <a:solidFill>
                  <a:schemeClr val="bg1">
                    <a:alpha val="70000"/>
                  </a:schemeClr>
                </a:solidFill>
              </a:defRPr>
            </a:lvl1pPr>
          </a:lstStyle>
          <a:p>
            <a:fld id="{D47A9A36-4EB0-BF46-AE48-7CDA251B954B}" type="datetime1">
              <a:rPr lang="en-US" smtClean="0"/>
              <a:t>10/31/2025</a:t>
            </a:fld>
            <a:endParaRPr lang="en-US" dirty="0"/>
          </a:p>
        </p:txBody>
      </p:sp>
      <p:sp>
        <p:nvSpPr>
          <p:cNvPr id="17" name="Slide Number">
            <a:extLst>
              <a:ext uri="{FF2B5EF4-FFF2-40B4-BE49-F238E27FC236}">
                <a16:creationId xmlns:a16="http://schemas.microsoft.com/office/drawing/2014/main" id="{90CEF399-1C96-2B44-8CD0-34997E7B715B}"/>
              </a:ext>
            </a:extLst>
          </p:cNvPr>
          <p:cNvSpPr>
            <a:spLocks noGrp="1"/>
          </p:cNvSpPr>
          <p:nvPr>
            <p:ph type="sldNum" sz="quarter" idx="12"/>
          </p:nvPr>
        </p:nvSpPr>
        <p:spPr>
          <a:xfrm>
            <a:off x="10096500" y="6200875"/>
            <a:ext cx="487680" cy="365760"/>
          </a:xfrm>
        </p:spPr>
        <p:txBody>
          <a:bodyPr/>
          <a:lstStyle>
            <a:lvl1pPr>
              <a:defRPr>
                <a:solidFill>
                  <a:schemeClr val="bg1"/>
                </a:solidFill>
              </a:defRPr>
            </a:lvl1pPr>
          </a:lstStyle>
          <a:p>
            <a:fld id="{8A7A6979-0714-4377-B894-6BE4C2D6E202}" type="slidenum">
              <a:rPr lang="en-US" smtClean="0"/>
              <a:pPr/>
              <a:t>‹#›</a:t>
            </a:fld>
            <a:endParaRPr lang="en-US" dirty="0"/>
          </a:p>
        </p:txBody>
      </p:sp>
      <p:cxnSp>
        <p:nvCxnSpPr>
          <p:cNvPr id="21" name="Line 1">
            <a:extLst>
              <a:ext uri="{FF2B5EF4-FFF2-40B4-BE49-F238E27FC236}">
                <a16:creationId xmlns:a16="http://schemas.microsoft.com/office/drawing/2014/main" id="{CADA4B44-4E54-AC4F-B94D-753D8198844A}"/>
              </a:ext>
            </a:extLst>
          </p:cNvPr>
          <p:cNvCxnSpPr/>
          <p:nvPr userDrawn="1"/>
        </p:nvCxnSpPr>
        <p:spPr>
          <a:xfrm>
            <a:off x="1281648" y="5789"/>
            <a:ext cx="0" cy="6464461"/>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2" name="Line 2">
            <a:extLst>
              <a:ext uri="{FF2B5EF4-FFF2-40B4-BE49-F238E27FC236}">
                <a16:creationId xmlns:a16="http://schemas.microsoft.com/office/drawing/2014/main" id="{FC7C8D95-DE0A-F44D-8875-2ED2F195BB2F}"/>
              </a:ext>
            </a:extLst>
          </p:cNvPr>
          <p:cNvCxnSpPr>
            <a:cxnSpLocks/>
          </p:cNvCxnSpPr>
          <p:nvPr userDrawn="1"/>
        </p:nvCxnSpPr>
        <p:spPr>
          <a:xfrm>
            <a:off x="8724900" y="5735256"/>
            <a:ext cx="0" cy="1122744"/>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12" name="Purdue CoBrand">
            <a:extLst>
              <a:ext uri="{FF2B5EF4-FFF2-40B4-BE49-F238E27FC236}">
                <a16:creationId xmlns:a16="http://schemas.microsoft.com/office/drawing/2014/main" id="{F8D8386B-0D43-664A-B6B7-C474C0595C63}"/>
              </a:ext>
            </a:extLst>
          </p:cNvPr>
          <p:cNvPicPr>
            <a:picLocks noChangeAspect="1"/>
          </p:cNvPicPr>
          <p:nvPr userDrawn="1"/>
        </p:nvPicPr>
        <p:blipFill>
          <a:blip r:embed="rId2"/>
          <a:srcRect/>
          <a:stretch/>
        </p:blipFill>
        <p:spPr>
          <a:xfrm>
            <a:off x="1811903" y="5987080"/>
            <a:ext cx="4243984" cy="449363"/>
          </a:xfrm>
          <a:prstGeom prst="rect">
            <a:avLst/>
          </a:prstGeom>
        </p:spPr>
      </p:pic>
    </p:spTree>
    <p:extLst>
      <p:ext uri="{BB962C8B-B14F-4D97-AF65-F5344CB8AC3E}">
        <p14:creationId xmlns:p14="http://schemas.microsoft.com/office/powerpoint/2010/main" val="181546405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orient="horz" pos="4032">
          <p15:clr>
            <a:srgbClr val="FBAE40"/>
          </p15:clr>
        </p15:guide>
        <p15:guide id="4" pos="7344">
          <p15:clr>
            <a:srgbClr val="FBAE40"/>
          </p15:clr>
        </p15:guide>
        <p15:guide id="5" pos="6848">
          <p15:clr>
            <a:srgbClr val="FBAE40"/>
          </p15:clr>
        </p15:guide>
        <p15:guide id="6" orient="horz" pos="4080">
          <p15:clr>
            <a:srgbClr val="FBAE40"/>
          </p15:clr>
        </p15:guide>
        <p15:guide id="7" pos="1104">
          <p15:clr>
            <a:srgbClr val="FBAE40"/>
          </p15:clr>
        </p15:guide>
        <p15:guide id="8" pos="168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ntent Slide - Picture">
    <p:bg>
      <p:bgPr>
        <a:solidFill>
          <a:schemeClr val="accent4"/>
        </a:solidFill>
        <a:effectLst/>
      </p:bgPr>
    </p:bg>
    <p:spTree>
      <p:nvGrpSpPr>
        <p:cNvPr id="1" name=""/>
        <p:cNvGrpSpPr/>
        <p:nvPr/>
      </p:nvGrpSpPr>
      <p:grpSpPr>
        <a:xfrm>
          <a:off x="0" y="0"/>
          <a:ext cx="0" cy="0"/>
          <a:chOff x="0" y="0"/>
          <a:chExt cx="0" cy="0"/>
        </a:xfrm>
      </p:grpSpPr>
      <p:sp>
        <p:nvSpPr>
          <p:cNvPr id="17" name="Picture" descr="Picture Description">
            <a:extLst>
              <a:ext uri="{FF2B5EF4-FFF2-40B4-BE49-F238E27FC236}">
                <a16:creationId xmlns:a16="http://schemas.microsoft.com/office/drawing/2014/main" id="{B6A7C9B5-3617-0144-A4ED-16186741E8C3}"/>
              </a:ext>
            </a:extLst>
          </p:cNvPr>
          <p:cNvSpPr>
            <a:spLocks noGrp="1"/>
          </p:cNvSpPr>
          <p:nvPr>
            <p:ph type="pic" sz="quarter" idx="13"/>
          </p:nvPr>
        </p:nvSpPr>
        <p:spPr>
          <a:xfrm>
            <a:off x="0" y="0"/>
            <a:ext cx="12192000" cy="6858000"/>
          </a:xfrm>
        </p:spPr>
        <p:txBody>
          <a:bodyPr anchor="ctr" anchorCtr="1"/>
          <a:lstStyle>
            <a:lvl1pPr marL="0" indent="0" algn="ctr">
              <a:buFontTx/>
              <a:buNone/>
              <a:defRPr baseline="0">
                <a:solidFill>
                  <a:schemeClr val="bg1"/>
                </a:solidFill>
                <a:latin typeface="Acumin Pro" panose="020B0504020202020204" pitchFamily="34" charset="77"/>
              </a:defRPr>
            </a:lvl1pPr>
          </a:lstStyle>
          <a:p>
            <a:r>
              <a:rPr lang="en-US"/>
              <a:t>Click icon to add picture</a:t>
            </a:r>
            <a:endParaRPr lang="en-US" dirty="0"/>
          </a:p>
        </p:txBody>
      </p:sp>
      <p:sp>
        <p:nvSpPr>
          <p:cNvPr id="3" name="Photo caption"/>
          <p:cNvSpPr>
            <a:spLocks noGrp="1"/>
          </p:cNvSpPr>
          <p:nvPr>
            <p:ph type="subTitle" idx="1" hasCustomPrompt="1"/>
          </p:nvPr>
        </p:nvSpPr>
        <p:spPr>
          <a:xfrm>
            <a:off x="7301170" y="219206"/>
            <a:ext cx="3574087" cy="738664"/>
          </a:xfrm>
          <a:noFill/>
        </p:spPr>
        <p:txBody>
          <a:bodyPr wrap="square" lIns="0" tIns="0" rIns="0" bIns="0" anchor="t" anchorCtr="0">
            <a:spAutoFit/>
          </a:bodyPr>
          <a:lstStyle>
            <a:lvl1pPr marL="0" indent="0" algn="l">
              <a:buNone/>
              <a:defRPr sz="1600" b="1" i="0" baseline="0">
                <a:solidFill>
                  <a:schemeClr val="bg1"/>
                </a:solidFill>
                <a:latin typeface="Franklin Gothic Book" panose="020B0503020102020204" pitchFamily="34" charset="0"/>
              </a:defRPr>
            </a:lvl1pPr>
            <a:lvl2pPr marL="457200" indent="0" algn="ctr">
              <a:buNone/>
              <a:defRPr sz="19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Brief photo caption. Place in top left or right corner. Make text black or white for legibility.</a:t>
            </a:r>
          </a:p>
        </p:txBody>
      </p:sp>
      <p:sp>
        <p:nvSpPr>
          <p:cNvPr id="11" name="Date">
            <a:extLst>
              <a:ext uri="{FF2B5EF4-FFF2-40B4-BE49-F238E27FC236}">
                <a16:creationId xmlns:a16="http://schemas.microsoft.com/office/drawing/2014/main" id="{F330C439-AFA6-B840-9D2A-258668D35CA5}"/>
              </a:ext>
            </a:extLst>
          </p:cNvPr>
          <p:cNvSpPr>
            <a:spLocks noGrp="1"/>
          </p:cNvSpPr>
          <p:nvPr>
            <p:ph type="dt" sz="half" idx="10"/>
          </p:nvPr>
        </p:nvSpPr>
        <p:spPr>
          <a:xfrm>
            <a:off x="8926248" y="6220740"/>
            <a:ext cx="1021891" cy="323968"/>
          </a:xfrm>
        </p:spPr>
        <p:txBody>
          <a:bodyPr/>
          <a:lstStyle>
            <a:lvl1pPr>
              <a:defRPr>
                <a:solidFill>
                  <a:schemeClr val="bg1">
                    <a:alpha val="70000"/>
                  </a:schemeClr>
                </a:solidFill>
              </a:defRPr>
            </a:lvl1pPr>
          </a:lstStyle>
          <a:p>
            <a:fld id="{D47A9A36-4EB0-BF46-AE48-7CDA251B954B}" type="datetime1">
              <a:rPr lang="en-US" smtClean="0"/>
              <a:t>10/31/2025</a:t>
            </a:fld>
            <a:endParaRPr lang="en-US" dirty="0"/>
          </a:p>
        </p:txBody>
      </p:sp>
      <p:sp>
        <p:nvSpPr>
          <p:cNvPr id="14" name="Slide Number">
            <a:extLst>
              <a:ext uri="{FF2B5EF4-FFF2-40B4-BE49-F238E27FC236}">
                <a16:creationId xmlns:a16="http://schemas.microsoft.com/office/drawing/2014/main" id="{ACC80B6D-3922-3742-99F9-101C945C2B33}"/>
              </a:ext>
            </a:extLst>
          </p:cNvPr>
          <p:cNvSpPr>
            <a:spLocks noGrp="1"/>
          </p:cNvSpPr>
          <p:nvPr>
            <p:ph type="sldNum" sz="quarter" idx="12"/>
          </p:nvPr>
        </p:nvSpPr>
        <p:spPr>
          <a:xfrm>
            <a:off x="10096500" y="6200875"/>
            <a:ext cx="487680" cy="365760"/>
          </a:xfrm>
        </p:spPr>
        <p:txBody>
          <a:bodyPr/>
          <a:lstStyle>
            <a:lvl1pPr>
              <a:defRPr>
                <a:solidFill>
                  <a:schemeClr val="bg1"/>
                </a:solidFill>
              </a:defRPr>
            </a:lvl1pPr>
          </a:lstStyle>
          <a:p>
            <a:fld id="{8A7A6979-0714-4377-B894-6BE4C2D6E202}" type="slidenum">
              <a:rPr lang="en-US" smtClean="0"/>
              <a:pPr/>
              <a:t>‹#›</a:t>
            </a:fld>
            <a:endParaRPr lang="en-US" dirty="0"/>
          </a:p>
        </p:txBody>
      </p:sp>
      <p:cxnSp>
        <p:nvCxnSpPr>
          <p:cNvPr id="16" name="Line 1">
            <a:extLst>
              <a:ext uri="{FF2B5EF4-FFF2-40B4-BE49-F238E27FC236}">
                <a16:creationId xmlns:a16="http://schemas.microsoft.com/office/drawing/2014/main" id="{C3371811-B9A9-444C-B8E2-DFC8B92FFA90}"/>
              </a:ext>
            </a:extLst>
          </p:cNvPr>
          <p:cNvCxnSpPr/>
          <p:nvPr userDrawn="1"/>
        </p:nvCxnSpPr>
        <p:spPr>
          <a:xfrm>
            <a:off x="1281648" y="5789"/>
            <a:ext cx="0" cy="6464461"/>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9" name="Line 2">
            <a:extLst>
              <a:ext uri="{FF2B5EF4-FFF2-40B4-BE49-F238E27FC236}">
                <a16:creationId xmlns:a16="http://schemas.microsoft.com/office/drawing/2014/main" id="{E3D41B36-C946-AA44-BFF4-3F3A6A8607A2}"/>
              </a:ext>
            </a:extLst>
          </p:cNvPr>
          <p:cNvCxnSpPr>
            <a:cxnSpLocks/>
          </p:cNvCxnSpPr>
          <p:nvPr userDrawn="1"/>
        </p:nvCxnSpPr>
        <p:spPr>
          <a:xfrm>
            <a:off x="8724900" y="5735256"/>
            <a:ext cx="0" cy="1122744"/>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0" name="Line 3">
            <a:extLst>
              <a:ext uri="{FF2B5EF4-FFF2-40B4-BE49-F238E27FC236}">
                <a16:creationId xmlns:a16="http://schemas.microsoft.com/office/drawing/2014/main" id="{A246739C-3DD5-DF4C-BFF4-0B3AF76695B4}"/>
              </a:ext>
            </a:extLst>
          </p:cNvPr>
          <p:cNvCxnSpPr>
            <a:cxnSpLocks/>
          </p:cNvCxnSpPr>
          <p:nvPr userDrawn="1"/>
        </p:nvCxnSpPr>
        <p:spPr>
          <a:xfrm>
            <a:off x="10880901" y="1597306"/>
            <a:ext cx="0" cy="5260694"/>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9" name="Purdue CoBrand">
            <a:extLst>
              <a:ext uri="{FF2B5EF4-FFF2-40B4-BE49-F238E27FC236}">
                <a16:creationId xmlns:a16="http://schemas.microsoft.com/office/drawing/2014/main" id="{B1FB8C0C-65BE-BE4A-9624-20705F2A16B6}"/>
              </a:ext>
            </a:extLst>
          </p:cNvPr>
          <p:cNvPicPr>
            <a:picLocks noChangeAspect="1"/>
          </p:cNvPicPr>
          <p:nvPr userDrawn="1"/>
        </p:nvPicPr>
        <p:blipFill>
          <a:blip r:embed="rId2"/>
          <a:srcRect/>
          <a:stretch/>
        </p:blipFill>
        <p:spPr>
          <a:xfrm>
            <a:off x="1811903" y="5987080"/>
            <a:ext cx="4243984" cy="449363"/>
          </a:xfrm>
          <a:prstGeom prst="rect">
            <a:avLst/>
          </a:prstGeom>
        </p:spPr>
      </p:pic>
    </p:spTree>
    <p:extLst>
      <p:ext uri="{BB962C8B-B14F-4D97-AF65-F5344CB8AC3E}">
        <p14:creationId xmlns:p14="http://schemas.microsoft.com/office/powerpoint/2010/main" val="418625800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orient="horz" pos="3960">
          <p15:clr>
            <a:srgbClr val="FBAE40"/>
          </p15:clr>
        </p15:guide>
        <p15:guide id="4" pos="5952">
          <p15:clr>
            <a:srgbClr val="FBAE40"/>
          </p15:clr>
        </p15:guide>
        <p15:guide id="5" pos="6848">
          <p15:clr>
            <a:srgbClr val="FBAE40"/>
          </p15:clr>
        </p15:guide>
        <p15:guide id="6" orient="horz" pos="408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Content Slide - Fact/Highlight">
    <p:bg>
      <p:bgPr>
        <a:solidFill>
          <a:schemeClr val="accent4"/>
        </a:solidFill>
        <a:effectLst/>
      </p:bgPr>
    </p:bg>
    <p:spTree>
      <p:nvGrpSpPr>
        <p:cNvPr id="1" name=""/>
        <p:cNvGrpSpPr/>
        <p:nvPr/>
      </p:nvGrpSpPr>
      <p:grpSpPr>
        <a:xfrm>
          <a:off x="0" y="0"/>
          <a:ext cx="0" cy="0"/>
          <a:chOff x="0" y="0"/>
          <a:chExt cx="0" cy="0"/>
        </a:xfrm>
      </p:grpSpPr>
      <p:sp>
        <p:nvSpPr>
          <p:cNvPr id="6" name="Gold Background">
            <a:extLst>
              <a:ext uri="{FF2B5EF4-FFF2-40B4-BE49-F238E27FC236}">
                <a16:creationId xmlns:a16="http://schemas.microsoft.com/office/drawing/2014/main" id="{5CCAEC11-865D-CB4B-88E8-5AF51FB37FBE}"/>
              </a:ext>
            </a:extLst>
          </p:cNvPr>
          <p:cNvSpPr/>
          <p:nvPr/>
        </p:nvSpPr>
        <p:spPr>
          <a:xfrm>
            <a:off x="1" y="0"/>
            <a:ext cx="12191999" cy="685221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 name="Heading"/>
          <p:cNvSpPr>
            <a:spLocks noGrp="1"/>
          </p:cNvSpPr>
          <p:nvPr>
            <p:ph type="ctrTitle" hasCustomPrompt="1"/>
          </p:nvPr>
        </p:nvSpPr>
        <p:spPr bwMode="blackWhite">
          <a:xfrm>
            <a:off x="2886334" y="1614576"/>
            <a:ext cx="6419331" cy="1007712"/>
          </a:xfrm>
          <a:prstGeom prst="rect">
            <a:avLst/>
          </a:prstGeom>
          <a:noFill/>
          <a:ln w="38100">
            <a:noFill/>
          </a:ln>
        </p:spPr>
        <p:txBody>
          <a:bodyPr wrap="square" lIns="0" tIns="0" rIns="0" bIns="0" anchor="t" anchorCtr="0">
            <a:spAutoFit/>
          </a:bodyPr>
          <a:lstStyle>
            <a:lvl1pPr algn="ctr">
              <a:defRPr sz="7200" b="1" i="0" cap="none" spc="300" baseline="0">
                <a:solidFill>
                  <a:schemeClr val="accent2"/>
                </a:solidFill>
                <a:latin typeface="Impact" panose="020B0806030902050204" pitchFamily="34" charset="0"/>
              </a:defRPr>
            </a:lvl1pPr>
          </a:lstStyle>
          <a:p>
            <a:r>
              <a:rPr lang="en-US" spc="0" dirty="0">
                <a:latin typeface="United Sans Rg Md" pitchFamily="50" charset="0"/>
              </a:rPr>
              <a:t>123</a:t>
            </a:r>
            <a:endParaRPr lang="en-US" dirty="0"/>
          </a:p>
        </p:txBody>
      </p:sp>
      <p:sp>
        <p:nvSpPr>
          <p:cNvPr id="20" name="Black Bar">
            <a:extLst>
              <a:ext uri="{FF2B5EF4-FFF2-40B4-BE49-F238E27FC236}">
                <a16:creationId xmlns:a16="http://schemas.microsoft.com/office/drawing/2014/main" id="{EACB2F0C-1C3D-CD48-AD13-7B5AD683F7C7}"/>
              </a:ext>
            </a:extLst>
          </p:cNvPr>
          <p:cNvSpPr/>
          <p:nvPr/>
        </p:nvSpPr>
        <p:spPr>
          <a:xfrm>
            <a:off x="2648277" y="2744421"/>
            <a:ext cx="6905456" cy="44099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3" name="Subhead"/>
          <p:cNvSpPr>
            <a:spLocks noGrp="1"/>
          </p:cNvSpPr>
          <p:nvPr>
            <p:ph type="subTitle" idx="1" hasCustomPrompt="1"/>
          </p:nvPr>
        </p:nvSpPr>
        <p:spPr>
          <a:xfrm>
            <a:off x="2648276" y="2706475"/>
            <a:ext cx="6895463" cy="492443"/>
          </a:xfrm>
          <a:noFill/>
        </p:spPr>
        <p:txBody>
          <a:bodyPr wrap="square" lIns="0" tIns="0" rIns="0" bIns="0" anchor="t" anchorCtr="0">
            <a:spAutoFit/>
          </a:bodyPr>
          <a:lstStyle>
            <a:lvl1pPr marL="0" indent="0" algn="ctr">
              <a:buNone/>
              <a:defRPr sz="3200" b="0" i="0" spc="300" baseline="0">
                <a:solidFill>
                  <a:schemeClr val="accent4"/>
                </a:solidFill>
                <a:latin typeface="Impact" panose="020B0806030902050204" pitchFamily="34" charset="0"/>
              </a:defRPr>
            </a:lvl1pPr>
            <a:lvl2pPr marL="457200" indent="0" algn="ctr">
              <a:buNone/>
              <a:defRPr sz="19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TOPIC OR TITLE</a:t>
            </a:r>
          </a:p>
        </p:txBody>
      </p:sp>
      <p:sp>
        <p:nvSpPr>
          <p:cNvPr id="23" name="Body Text">
            <a:extLst>
              <a:ext uri="{FF2B5EF4-FFF2-40B4-BE49-F238E27FC236}">
                <a16:creationId xmlns:a16="http://schemas.microsoft.com/office/drawing/2014/main" id="{BD416322-CF1A-F143-B2A9-844B608C50DA}"/>
              </a:ext>
            </a:extLst>
          </p:cNvPr>
          <p:cNvSpPr>
            <a:spLocks noGrp="1"/>
          </p:cNvSpPr>
          <p:nvPr>
            <p:ph type="body" sz="quarter" idx="14" hasCustomPrompt="1"/>
          </p:nvPr>
        </p:nvSpPr>
        <p:spPr>
          <a:xfrm>
            <a:off x="2875268" y="3540352"/>
            <a:ext cx="6678467" cy="1122744"/>
          </a:xfrm>
        </p:spPr>
        <p:txBody>
          <a:bodyPr lIns="0" tIns="0" rIns="0" bIns="0">
            <a:noAutofit/>
          </a:bodyPr>
          <a:lstStyle>
            <a:lvl1pPr marL="0" marR="0" indent="0" algn="l" defTabSz="457200" rtl="0" eaLnBrk="1" fontAlgn="auto" latinLnBrk="0" hangingPunct="1">
              <a:lnSpc>
                <a:spcPct val="100000"/>
              </a:lnSpc>
              <a:spcBef>
                <a:spcPts val="0"/>
              </a:spcBef>
              <a:spcAft>
                <a:spcPts val="0"/>
              </a:spcAft>
              <a:buClrTx/>
              <a:buSzTx/>
              <a:buFontTx/>
              <a:buNone/>
              <a:tabLst/>
              <a:defRPr sz="2400" b="0" i="0" normalizeH="0" baseline="0">
                <a:solidFill>
                  <a:schemeClr val="bg1"/>
                </a:solidFill>
                <a:latin typeface="Franklin Gothic Book" panose="020B0503020102020204" pitchFamily="34" charset="0"/>
              </a:defRPr>
            </a:lvl1pPr>
          </a:lstStyle>
          <a:p>
            <a:pPr lvl="0"/>
            <a:r>
              <a:rPr lang="en-US" dirty="0"/>
              <a:t>Fact or highlight. Keep it short with bite-size chunks of information.</a:t>
            </a:r>
          </a:p>
        </p:txBody>
      </p:sp>
      <p:sp>
        <p:nvSpPr>
          <p:cNvPr id="16" name="Date">
            <a:extLst>
              <a:ext uri="{FF2B5EF4-FFF2-40B4-BE49-F238E27FC236}">
                <a16:creationId xmlns:a16="http://schemas.microsoft.com/office/drawing/2014/main" id="{D5F83FDC-674A-8F42-A488-884B2867DCC3}"/>
              </a:ext>
            </a:extLst>
          </p:cNvPr>
          <p:cNvSpPr>
            <a:spLocks noGrp="1"/>
          </p:cNvSpPr>
          <p:nvPr>
            <p:ph type="dt" sz="half" idx="10"/>
          </p:nvPr>
        </p:nvSpPr>
        <p:spPr>
          <a:xfrm>
            <a:off x="8926248" y="6220740"/>
            <a:ext cx="1021891" cy="323968"/>
          </a:xfrm>
        </p:spPr>
        <p:txBody>
          <a:bodyPr/>
          <a:lstStyle>
            <a:lvl1pPr>
              <a:defRPr>
                <a:solidFill>
                  <a:schemeClr val="bg1">
                    <a:alpha val="70000"/>
                  </a:schemeClr>
                </a:solidFill>
              </a:defRPr>
            </a:lvl1pPr>
          </a:lstStyle>
          <a:p>
            <a:fld id="{D47A9A36-4EB0-BF46-AE48-7CDA251B954B}" type="datetime1">
              <a:rPr lang="en-US" smtClean="0"/>
              <a:t>10/31/2025</a:t>
            </a:fld>
            <a:endParaRPr lang="en-US" dirty="0"/>
          </a:p>
        </p:txBody>
      </p:sp>
      <p:sp>
        <p:nvSpPr>
          <p:cNvPr id="17" name="Slide Number">
            <a:extLst>
              <a:ext uri="{FF2B5EF4-FFF2-40B4-BE49-F238E27FC236}">
                <a16:creationId xmlns:a16="http://schemas.microsoft.com/office/drawing/2014/main" id="{DF9C56DA-C412-B14C-8168-05E55A21B5E5}"/>
              </a:ext>
            </a:extLst>
          </p:cNvPr>
          <p:cNvSpPr>
            <a:spLocks noGrp="1"/>
          </p:cNvSpPr>
          <p:nvPr>
            <p:ph type="sldNum" sz="quarter" idx="12"/>
          </p:nvPr>
        </p:nvSpPr>
        <p:spPr>
          <a:xfrm>
            <a:off x="10096500" y="6200875"/>
            <a:ext cx="487680" cy="365760"/>
          </a:xfrm>
        </p:spPr>
        <p:txBody>
          <a:bodyPr/>
          <a:lstStyle>
            <a:lvl1pPr>
              <a:defRPr>
                <a:solidFill>
                  <a:schemeClr val="bg1"/>
                </a:solidFill>
              </a:defRPr>
            </a:lvl1pPr>
          </a:lstStyle>
          <a:p>
            <a:fld id="{8A7A6979-0714-4377-B894-6BE4C2D6E202}" type="slidenum">
              <a:rPr lang="en-US" smtClean="0"/>
              <a:pPr/>
              <a:t>‹#›</a:t>
            </a:fld>
            <a:endParaRPr lang="en-US" dirty="0"/>
          </a:p>
        </p:txBody>
      </p:sp>
      <p:cxnSp>
        <p:nvCxnSpPr>
          <p:cNvPr id="21" name="Line 1">
            <a:extLst>
              <a:ext uri="{FF2B5EF4-FFF2-40B4-BE49-F238E27FC236}">
                <a16:creationId xmlns:a16="http://schemas.microsoft.com/office/drawing/2014/main" id="{DE31DD2C-32F5-F345-872B-C1CCC72846EE}"/>
              </a:ext>
            </a:extLst>
          </p:cNvPr>
          <p:cNvCxnSpPr/>
          <p:nvPr userDrawn="1"/>
        </p:nvCxnSpPr>
        <p:spPr>
          <a:xfrm>
            <a:off x="1281648" y="5789"/>
            <a:ext cx="0" cy="6464461"/>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2" name="Line 2">
            <a:extLst>
              <a:ext uri="{FF2B5EF4-FFF2-40B4-BE49-F238E27FC236}">
                <a16:creationId xmlns:a16="http://schemas.microsoft.com/office/drawing/2014/main" id="{18A2134F-0116-6740-AD2E-82D54002455E}"/>
              </a:ext>
            </a:extLst>
          </p:cNvPr>
          <p:cNvCxnSpPr>
            <a:cxnSpLocks/>
          </p:cNvCxnSpPr>
          <p:nvPr userDrawn="1"/>
        </p:nvCxnSpPr>
        <p:spPr>
          <a:xfrm>
            <a:off x="8724900" y="5735256"/>
            <a:ext cx="0" cy="1122744"/>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4" name="Line 3">
            <a:extLst>
              <a:ext uri="{FF2B5EF4-FFF2-40B4-BE49-F238E27FC236}">
                <a16:creationId xmlns:a16="http://schemas.microsoft.com/office/drawing/2014/main" id="{7E7A5392-EE7B-7141-B159-172DDE0D6824}"/>
              </a:ext>
            </a:extLst>
          </p:cNvPr>
          <p:cNvCxnSpPr>
            <a:cxnSpLocks/>
          </p:cNvCxnSpPr>
          <p:nvPr userDrawn="1"/>
        </p:nvCxnSpPr>
        <p:spPr>
          <a:xfrm>
            <a:off x="10880901" y="1597306"/>
            <a:ext cx="0" cy="5260694"/>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13" name="Purdue CoBrand">
            <a:extLst>
              <a:ext uri="{FF2B5EF4-FFF2-40B4-BE49-F238E27FC236}">
                <a16:creationId xmlns:a16="http://schemas.microsoft.com/office/drawing/2014/main" id="{C956BC4A-6335-2245-B16C-D97B7C359084}"/>
              </a:ext>
            </a:extLst>
          </p:cNvPr>
          <p:cNvPicPr>
            <a:picLocks noChangeAspect="1"/>
          </p:cNvPicPr>
          <p:nvPr userDrawn="1"/>
        </p:nvPicPr>
        <p:blipFill>
          <a:blip r:embed="rId2"/>
          <a:srcRect/>
          <a:stretch/>
        </p:blipFill>
        <p:spPr>
          <a:xfrm>
            <a:off x="1811903" y="5987080"/>
            <a:ext cx="4243984" cy="449363"/>
          </a:xfrm>
          <a:prstGeom prst="rect">
            <a:avLst/>
          </a:prstGeom>
        </p:spPr>
      </p:pic>
    </p:spTree>
    <p:extLst>
      <p:ext uri="{BB962C8B-B14F-4D97-AF65-F5344CB8AC3E}">
        <p14:creationId xmlns:p14="http://schemas.microsoft.com/office/powerpoint/2010/main" val="2707393526"/>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orient="horz" pos="3960">
          <p15:clr>
            <a:srgbClr val="FBAE40"/>
          </p15:clr>
        </p15:guide>
        <p15:guide id="4" pos="5952">
          <p15:clr>
            <a:srgbClr val="FBAE40"/>
          </p15:clr>
        </p15:guide>
        <p15:guide id="5" pos="6848">
          <p15:clr>
            <a:srgbClr val="FBAE40"/>
          </p15:clr>
        </p15:guide>
        <p15:guide id="6" orient="horz" pos="4080">
          <p15:clr>
            <a:srgbClr val="FBAE40"/>
          </p15:clr>
        </p15:guide>
        <p15:guide id="7" orient="horz" pos="1008">
          <p15:clr>
            <a:srgbClr val="FBAE40"/>
          </p15:clr>
        </p15:guide>
        <p15:guide id="8" orient="horz" pos="1488">
          <p15:clr>
            <a:srgbClr val="FBAE40"/>
          </p15:clr>
        </p15:guide>
        <p15:guide id="9" orient="horz" pos="864">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Closing Slide">
    <p:bg>
      <p:bgPr>
        <a:solidFill>
          <a:schemeClr val="accent4"/>
        </a:solidFill>
        <a:effectLst/>
      </p:bgPr>
    </p:bg>
    <p:spTree>
      <p:nvGrpSpPr>
        <p:cNvPr id="1" name=""/>
        <p:cNvGrpSpPr/>
        <p:nvPr/>
      </p:nvGrpSpPr>
      <p:grpSpPr>
        <a:xfrm>
          <a:off x="0" y="0"/>
          <a:ext cx="0" cy="0"/>
          <a:chOff x="0" y="0"/>
          <a:chExt cx="0" cy="0"/>
        </a:xfrm>
      </p:grpSpPr>
      <p:sp>
        <p:nvSpPr>
          <p:cNvPr id="20" name="Black Background">
            <a:extLst>
              <a:ext uri="{FF2B5EF4-FFF2-40B4-BE49-F238E27FC236}">
                <a16:creationId xmlns:a16="http://schemas.microsoft.com/office/drawing/2014/main" id="{EACB2F0C-1C3D-CD48-AD13-7B5AD683F7C7}"/>
              </a:ext>
            </a:extLst>
          </p:cNvPr>
          <p:cNvSpPr/>
          <p:nvPr/>
        </p:nvSpPr>
        <p:spPr>
          <a:xfrm>
            <a:off x="0" y="0"/>
            <a:ext cx="12192000" cy="68580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 name="Heading"/>
          <p:cNvSpPr>
            <a:spLocks noGrp="1"/>
          </p:cNvSpPr>
          <p:nvPr>
            <p:ph type="ctrTitle" hasCustomPrompt="1"/>
          </p:nvPr>
        </p:nvSpPr>
        <p:spPr bwMode="blackWhite">
          <a:xfrm>
            <a:off x="2628902" y="1521334"/>
            <a:ext cx="6347458" cy="609398"/>
          </a:xfrm>
          <a:prstGeom prst="rect">
            <a:avLst/>
          </a:prstGeom>
          <a:noFill/>
          <a:ln w="38100">
            <a:noFill/>
          </a:ln>
        </p:spPr>
        <p:txBody>
          <a:bodyPr wrap="square" lIns="0" tIns="0" rIns="0" bIns="0" anchor="t" anchorCtr="0">
            <a:spAutoFit/>
          </a:bodyPr>
          <a:lstStyle>
            <a:lvl1pPr algn="l">
              <a:defRPr sz="4400" b="1" i="1" spc="0" baseline="0">
                <a:solidFill>
                  <a:schemeClr val="tx2"/>
                </a:solidFill>
                <a:latin typeface="Franklin Gothic Book" panose="020B0503020102020204" pitchFamily="34" charset="0"/>
              </a:defRPr>
            </a:lvl1pPr>
          </a:lstStyle>
          <a:p>
            <a:r>
              <a:rPr lang="en-US" dirty="0"/>
              <a:t>Thank You</a:t>
            </a:r>
          </a:p>
        </p:txBody>
      </p:sp>
      <p:sp>
        <p:nvSpPr>
          <p:cNvPr id="16" name="Body Text">
            <a:extLst>
              <a:ext uri="{FF2B5EF4-FFF2-40B4-BE49-F238E27FC236}">
                <a16:creationId xmlns:a16="http://schemas.microsoft.com/office/drawing/2014/main" id="{900775FC-E9E4-FF46-A522-92CC39196093}"/>
              </a:ext>
            </a:extLst>
          </p:cNvPr>
          <p:cNvSpPr>
            <a:spLocks noGrp="1"/>
          </p:cNvSpPr>
          <p:nvPr>
            <p:ph type="body" sz="quarter" idx="14" hasCustomPrompt="1"/>
          </p:nvPr>
        </p:nvSpPr>
        <p:spPr>
          <a:xfrm>
            <a:off x="2628900" y="2548210"/>
            <a:ext cx="6347460" cy="880790"/>
          </a:xfrm>
        </p:spPr>
        <p:txBody>
          <a:bodyPr lIns="0" tIns="0" rIns="0" bIns="0">
            <a:noAutofit/>
          </a:bodyPr>
          <a:lstStyle>
            <a:lvl1pPr marL="0" marR="0" indent="0" algn="l" defTabSz="457200" rtl="0" eaLnBrk="1" fontAlgn="auto" latinLnBrk="0" hangingPunct="1">
              <a:lnSpc>
                <a:spcPct val="100000"/>
              </a:lnSpc>
              <a:spcBef>
                <a:spcPts val="0"/>
              </a:spcBef>
              <a:spcAft>
                <a:spcPts val="0"/>
              </a:spcAft>
              <a:buClrTx/>
              <a:buSzTx/>
              <a:buFontTx/>
              <a:buNone/>
              <a:tabLst/>
              <a:defRPr sz="1600" b="0" i="0" normalizeH="0" baseline="0">
                <a:solidFill>
                  <a:schemeClr val="accent4"/>
                </a:solidFill>
                <a:latin typeface="Franklin Gothic Book" panose="020B0503020102020204" pitchFamily="34" charset="0"/>
              </a:defRPr>
            </a:lvl1pPr>
          </a:lstStyle>
          <a:p>
            <a:pPr lvl="0"/>
            <a:r>
              <a:rPr lang="en-US" dirty="0"/>
              <a:t>Conclusion, call to action or contact information. </a:t>
            </a:r>
          </a:p>
        </p:txBody>
      </p:sp>
      <p:sp>
        <p:nvSpPr>
          <p:cNvPr id="12" name="Date">
            <a:extLst>
              <a:ext uri="{FF2B5EF4-FFF2-40B4-BE49-F238E27FC236}">
                <a16:creationId xmlns:a16="http://schemas.microsoft.com/office/drawing/2014/main" id="{E7D56F3A-D0B6-8A49-81C9-B6A0051C7E73}"/>
              </a:ext>
            </a:extLst>
          </p:cNvPr>
          <p:cNvSpPr>
            <a:spLocks noGrp="1"/>
          </p:cNvSpPr>
          <p:nvPr>
            <p:ph type="dt" sz="half" idx="10"/>
          </p:nvPr>
        </p:nvSpPr>
        <p:spPr>
          <a:xfrm>
            <a:off x="8926248" y="6220740"/>
            <a:ext cx="1021891" cy="323968"/>
          </a:xfrm>
        </p:spPr>
        <p:txBody>
          <a:bodyPr/>
          <a:lstStyle>
            <a:lvl1pPr>
              <a:defRPr>
                <a:solidFill>
                  <a:schemeClr val="accent4">
                    <a:alpha val="70000"/>
                  </a:schemeClr>
                </a:solidFill>
              </a:defRPr>
            </a:lvl1pPr>
          </a:lstStyle>
          <a:p>
            <a:fld id="{D47A9A36-4EB0-BF46-AE48-7CDA251B954B}" type="datetime1">
              <a:rPr lang="en-US" smtClean="0"/>
              <a:pPr/>
              <a:t>10/31/2025</a:t>
            </a:fld>
            <a:endParaRPr lang="en-US" dirty="0"/>
          </a:p>
        </p:txBody>
      </p:sp>
      <p:sp>
        <p:nvSpPr>
          <p:cNvPr id="14" name="Slide Number">
            <a:extLst>
              <a:ext uri="{FF2B5EF4-FFF2-40B4-BE49-F238E27FC236}">
                <a16:creationId xmlns:a16="http://schemas.microsoft.com/office/drawing/2014/main" id="{DED03763-61BB-3343-B3CC-0623CC8EAA03}"/>
              </a:ext>
            </a:extLst>
          </p:cNvPr>
          <p:cNvSpPr>
            <a:spLocks noGrp="1"/>
          </p:cNvSpPr>
          <p:nvPr>
            <p:ph type="sldNum" sz="quarter" idx="12"/>
          </p:nvPr>
        </p:nvSpPr>
        <p:spPr>
          <a:xfrm>
            <a:off x="10096500" y="6200875"/>
            <a:ext cx="487680" cy="365760"/>
          </a:xfrm>
        </p:spPr>
        <p:txBody>
          <a:bodyPr/>
          <a:lstStyle>
            <a:lvl1pPr>
              <a:defRPr>
                <a:solidFill>
                  <a:schemeClr val="accent4"/>
                </a:solidFill>
              </a:defRPr>
            </a:lvl1pPr>
          </a:lstStyle>
          <a:p>
            <a:fld id="{8A7A6979-0714-4377-B894-6BE4C2D6E202}" type="slidenum">
              <a:rPr lang="en-US" smtClean="0"/>
              <a:pPr/>
              <a:t>‹#›</a:t>
            </a:fld>
            <a:endParaRPr lang="en-US" dirty="0"/>
          </a:p>
        </p:txBody>
      </p:sp>
      <p:cxnSp>
        <p:nvCxnSpPr>
          <p:cNvPr id="17" name="Line 1">
            <a:extLst>
              <a:ext uri="{FF2B5EF4-FFF2-40B4-BE49-F238E27FC236}">
                <a16:creationId xmlns:a16="http://schemas.microsoft.com/office/drawing/2014/main" id="{9B9CC658-FCDB-754D-83A8-E72E62847F53}"/>
              </a:ext>
            </a:extLst>
          </p:cNvPr>
          <p:cNvCxnSpPr/>
          <p:nvPr userDrawn="1"/>
        </p:nvCxnSpPr>
        <p:spPr>
          <a:xfrm>
            <a:off x="1281648" y="5789"/>
            <a:ext cx="0" cy="6464461"/>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9" name="Line 2">
            <a:extLst>
              <a:ext uri="{FF2B5EF4-FFF2-40B4-BE49-F238E27FC236}">
                <a16:creationId xmlns:a16="http://schemas.microsoft.com/office/drawing/2014/main" id="{52700362-C315-8A41-8A37-D1C4D5A0E238}"/>
              </a:ext>
            </a:extLst>
          </p:cNvPr>
          <p:cNvCxnSpPr>
            <a:cxnSpLocks/>
          </p:cNvCxnSpPr>
          <p:nvPr userDrawn="1"/>
        </p:nvCxnSpPr>
        <p:spPr>
          <a:xfrm>
            <a:off x="8724900" y="5735256"/>
            <a:ext cx="0" cy="1122744"/>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1" name="Line 3">
            <a:extLst>
              <a:ext uri="{FF2B5EF4-FFF2-40B4-BE49-F238E27FC236}">
                <a16:creationId xmlns:a16="http://schemas.microsoft.com/office/drawing/2014/main" id="{14A431DC-9C67-D94C-982A-8D0C2E3D10D8}"/>
              </a:ext>
            </a:extLst>
          </p:cNvPr>
          <p:cNvCxnSpPr>
            <a:cxnSpLocks/>
          </p:cNvCxnSpPr>
          <p:nvPr userDrawn="1"/>
        </p:nvCxnSpPr>
        <p:spPr>
          <a:xfrm>
            <a:off x="10880901" y="1597306"/>
            <a:ext cx="0" cy="5260694"/>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10" name="Purdue CoBrand">
            <a:extLst>
              <a:ext uri="{FF2B5EF4-FFF2-40B4-BE49-F238E27FC236}">
                <a16:creationId xmlns:a16="http://schemas.microsoft.com/office/drawing/2014/main" id="{176AE897-D878-964C-8095-7884DE87DB08}"/>
              </a:ext>
            </a:extLst>
          </p:cNvPr>
          <p:cNvPicPr>
            <a:picLocks noChangeAspect="1"/>
          </p:cNvPicPr>
          <p:nvPr userDrawn="1"/>
        </p:nvPicPr>
        <p:blipFill>
          <a:blip r:embed="rId2"/>
          <a:srcRect/>
          <a:stretch/>
        </p:blipFill>
        <p:spPr>
          <a:xfrm>
            <a:off x="1811903" y="5987081"/>
            <a:ext cx="4243984" cy="449363"/>
          </a:xfrm>
          <a:prstGeom prst="rect">
            <a:avLst/>
          </a:prstGeom>
        </p:spPr>
      </p:pic>
    </p:spTree>
    <p:extLst>
      <p:ext uri="{BB962C8B-B14F-4D97-AF65-F5344CB8AC3E}">
        <p14:creationId xmlns:p14="http://schemas.microsoft.com/office/powerpoint/2010/main" val="69532377"/>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orient="horz" pos="3960">
          <p15:clr>
            <a:srgbClr val="FBAE40"/>
          </p15:clr>
        </p15:guide>
        <p15:guide id="4" pos="5952">
          <p15:clr>
            <a:srgbClr val="FBAE40"/>
          </p15:clr>
        </p15:guide>
        <p15:guide id="5" pos="6848">
          <p15:clr>
            <a:srgbClr val="FBAE40"/>
          </p15:clr>
        </p15:guide>
        <p15:guide id="6" orient="horz" pos="4080">
          <p15:clr>
            <a:srgbClr val="FBAE40"/>
          </p15:clr>
        </p15:guide>
        <p15:guide id="7" pos="1656">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4"/>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bwMode="black">
          <a:xfrm>
            <a:off x="2141394" y="964692"/>
            <a:ext cx="7917007" cy="1188720"/>
          </a:xfrm>
          <a:prstGeom prst="rect">
            <a:avLst/>
          </a:prstGeom>
          <a:solidFill>
            <a:srgbClr val="FFFFFF"/>
          </a:solidFill>
          <a:ln w="31750" cap="sq">
            <a:solidFill>
              <a:srgbClr val="404040"/>
            </a:solidFill>
            <a:miter lim="800000"/>
          </a:ln>
        </p:spPr>
        <p:txBody>
          <a:bodyPr vert="horz" lIns="182880" tIns="182880" rIns="182880" bIns="18288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2141394" y="2638046"/>
            <a:ext cx="7917007" cy="310198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744769" y="6227670"/>
            <a:ext cx="1161231" cy="323968"/>
          </a:xfrm>
          <a:prstGeom prst="rect">
            <a:avLst/>
          </a:prstGeom>
        </p:spPr>
        <p:txBody>
          <a:bodyPr vert="horz" lIns="91440" tIns="45720" rIns="91440" bIns="45720" rtlCol="0" anchor="ctr"/>
          <a:lstStyle>
            <a:lvl1pPr algn="r">
              <a:defRPr sz="1000" b="0" i="0" baseline="0">
                <a:solidFill>
                  <a:schemeClr val="tx1">
                    <a:alpha val="70000"/>
                  </a:schemeClr>
                </a:solidFill>
                <a:latin typeface="Franklin Gothic Book" panose="020B0503020102020204" pitchFamily="34" charset="0"/>
              </a:defRPr>
            </a:lvl1pPr>
          </a:lstStyle>
          <a:p>
            <a:fld id="{E0C8DACD-4E35-4E4C-AC75-C3DE50F04E7E}" type="datetime1">
              <a:rPr lang="en-US" smtClean="0"/>
              <a:pPr/>
              <a:t>10/31/2025</a:t>
            </a:fld>
            <a:endParaRPr lang="en-US" dirty="0"/>
          </a:p>
        </p:txBody>
      </p:sp>
      <p:sp>
        <p:nvSpPr>
          <p:cNvPr id="6" name="Slide Number Placeholder 5"/>
          <p:cNvSpPr>
            <a:spLocks noGrp="1"/>
          </p:cNvSpPr>
          <p:nvPr>
            <p:ph type="sldNum" sz="quarter" idx="4"/>
          </p:nvPr>
        </p:nvSpPr>
        <p:spPr>
          <a:xfrm>
            <a:off x="10096500" y="6200875"/>
            <a:ext cx="487680" cy="365760"/>
          </a:xfrm>
          <a:prstGeom prst="ellipse">
            <a:avLst/>
          </a:prstGeom>
          <a:noFill/>
        </p:spPr>
        <p:txBody>
          <a:bodyPr vert="horz" lIns="18288" tIns="45720" rIns="18288" bIns="45720" rtlCol="0" anchor="ctr">
            <a:noAutofit/>
          </a:bodyPr>
          <a:lstStyle>
            <a:lvl1pPr algn="ctr">
              <a:defRPr sz="1000" b="1" i="0" spc="0" baseline="0">
                <a:solidFill>
                  <a:schemeClr val="tx1"/>
                </a:solidFill>
                <a:latin typeface="Franklin Gothic Book" panose="020B0503020102020204" pitchFamily="34" charset="0"/>
              </a:defRPr>
            </a:lvl1pPr>
          </a:lstStyle>
          <a:p>
            <a:fld id="{8A7A6979-0714-4377-B894-6BE4C2D6E202}" type="slidenum">
              <a:rPr lang="en-US" smtClean="0"/>
              <a:pPr/>
              <a:t>‹#›</a:t>
            </a:fld>
            <a:endParaRPr lang="en-US" dirty="0"/>
          </a:p>
        </p:txBody>
      </p:sp>
      <p:sp>
        <p:nvSpPr>
          <p:cNvPr id="7" name="Footer Placeholder 4">
            <a:extLst>
              <a:ext uri="{FF2B5EF4-FFF2-40B4-BE49-F238E27FC236}">
                <a16:creationId xmlns:a16="http://schemas.microsoft.com/office/drawing/2014/main" id="{F51272EC-C1E6-1240-AF69-43B2679C2CD3}"/>
              </a:ext>
            </a:extLst>
          </p:cNvPr>
          <p:cNvSpPr>
            <a:spLocks noGrp="1"/>
          </p:cNvSpPr>
          <p:nvPr>
            <p:ph type="ftr" sz="quarter" idx="3"/>
          </p:nvPr>
        </p:nvSpPr>
        <p:spPr>
          <a:xfrm>
            <a:off x="1137845" y="6219163"/>
            <a:ext cx="6075552" cy="320040"/>
          </a:xfrm>
          <a:prstGeom prst="rect">
            <a:avLst/>
          </a:prstGeom>
        </p:spPr>
        <p:txBody>
          <a:bodyPr vert="horz" lIns="91440" tIns="45720" rIns="91440" bIns="45720" rtlCol="0" anchor="ctr"/>
          <a:lstStyle>
            <a:lvl1pPr algn="l">
              <a:defRPr sz="1000">
                <a:solidFill>
                  <a:schemeClr val="tx1">
                    <a:alpha val="70000"/>
                  </a:schemeClr>
                </a:solidFill>
              </a:defRPr>
            </a:lvl1pPr>
          </a:lstStyle>
          <a:p>
            <a:endParaRPr lang="en-US" dirty="0"/>
          </a:p>
        </p:txBody>
      </p:sp>
    </p:spTree>
    <p:extLst>
      <p:ext uri="{BB962C8B-B14F-4D97-AF65-F5344CB8AC3E}">
        <p14:creationId xmlns:p14="http://schemas.microsoft.com/office/powerpoint/2010/main" val="3595336832"/>
      </p:ext>
    </p:extLst>
  </p:cSld>
  <p:clrMap bg1="lt1" tx1="dk1" bg2="lt2" tx2="dk2" accent1="accent1" accent2="accent2" accent3="accent3" accent4="accent4" accent5="accent5" accent6="accent6" hlink="hlink" folHlink="folHlink"/>
  <p:sldLayoutIdLst>
    <p:sldLayoutId id="2147483725" r:id="rId1"/>
    <p:sldLayoutId id="2147483709" r:id="rId2"/>
    <p:sldLayoutId id="2147483720" r:id="rId3"/>
    <p:sldLayoutId id="2147483721" r:id="rId4"/>
    <p:sldLayoutId id="2147483722" r:id="rId5"/>
    <p:sldLayoutId id="2147483723" r:id="rId6"/>
    <p:sldLayoutId id="2147483724" r:id="rId7"/>
  </p:sldLayoutIdLst>
  <p:hf hdr="0" ftr="0"/>
  <p:txStyles>
    <p:titleStyle>
      <a:lvl1pPr algn="ctr" defTabSz="914400" rtl="0" eaLnBrk="1" latinLnBrk="0" hangingPunct="1">
        <a:lnSpc>
          <a:spcPct val="90000"/>
        </a:lnSpc>
        <a:spcBef>
          <a:spcPct val="0"/>
        </a:spcBef>
        <a:buNone/>
        <a:defRPr sz="2600" b="1" i="0" kern="1200" cap="all" spc="200" baseline="0">
          <a:solidFill>
            <a:srgbClr val="262626"/>
          </a:solidFill>
          <a:latin typeface="Franklin Gothic Book" panose="020B0503020102020204" pitchFamily="34" charset="0"/>
          <a:ea typeface="+mj-ea"/>
          <a:cs typeface="+mj-cs"/>
        </a:defRPr>
      </a:lvl1pPr>
    </p:titleStyle>
    <p:body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lumMod val="85000"/>
              <a:lumOff val="15000"/>
            </a:schemeClr>
          </a:solidFill>
          <a:latin typeface="Franklin Gothic Book" panose="020B0503020102020204" pitchFamily="34" charset="0"/>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lumMod val="85000"/>
              <a:lumOff val="15000"/>
            </a:schemeClr>
          </a:solidFill>
          <a:latin typeface="Franklin Gothic Book" panose="020B0503020102020204" pitchFamily="34" charset="0"/>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lumMod val="85000"/>
              <a:lumOff val="15000"/>
            </a:schemeClr>
          </a:solidFill>
          <a:latin typeface="Franklin Gothic Book" panose="020B0503020102020204" pitchFamily="34" charset="0"/>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lumMod val="85000"/>
              <a:lumOff val="15000"/>
            </a:schemeClr>
          </a:solidFill>
          <a:latin typeface="Franklin Gothic Book" panose="020B0503020102020204" pitchFamily="34" charset="0"/>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lumMod val="85000"/>
              <a:lumOff val="15000"/>
            </a:schemeClr>
          </a:solidFill>
          <a:latin typeface="Franklin Gothic Book" panose="020B0503020102020204" pitchFamily="34" charset="0"/>
          <a:ea typeface="+mn-ea"/>
          <a:cs typeface="+mn-cs"/>
        </a:defRPr>
      </a:lvl5pPr>
      <a:lvl6pPr marL="13144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59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28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guide id="3" orient="horz" pos="4056">
          <p15:clr>
            <a:srgbClr val="F26B43"/>
          </p15:clr>
        </p15:guide>
        <p15:guide id="4" pos="6240">
          <p15:clr>
            <a:srgbClr val="F26B43"/>
          </p15:clr>
        </p15:guide>
        <p15:guide id="5" pos="6360">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3.xml"/><Relationship Id="rId4" Type="http://schemas.openxmlformats.org/officeDocument/2006/relationships/image" Target="../media/image9.png"/></Relationships>
</file>

<file path=ppt/slides/_rels/slide14.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1.xml"/><Relationship Id="rId1" Type="http://schemas.openxmlformats.org/officeDocument/2006/relationships/slideLayout" Target="../slideLayouts/slideLayout3.xml"/><Relationship Id="rId4" Type="http://schemas.openxmlformats.org/officeDocument/2006/relationships/image" Target="../media/image13.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54EA7F14-B9DE-164B-9F38-47D5668D2586}"/>
              </a:ext>
            </a:extLst>
          </p:cNvPr>
          <p:cNvSpPr>
            <a:spLocks noGrp="1"/>
          </p:cNvSpPr>
          <p:nvPr>
            <p:ph type="ctrTitle"/>
          </p:nvPr>
        </p:nvSpPr>
        <p:spPr>
          <a:xfrm>
            <a:off x="2647198" y="1501742"/>
            <a:ext cx="7547389" cy="664797"/>
          </a:xfrm>
        </p:spPr>
        <p:txBody>
          <a:bodyPr/>
          <a:lstStyle/>
          <a:p>
            <a:r>
              <a:rPr lang="en-US" sz="4800" b="0" dirty="0">
                <a:latin typeface="Franklin Gothic Medium" panose="020B0603020102020204" pitchFamily="34" charset="0"/>
              </a:rPr>
              <a:t>Digital product design</a:t>
            </a:r>
          </a:p>
        </p:txBody>
      </p:sp>
      <p:sp>
        <p:nvSpPr>
          <p:cNvPr id="3" name="Subtitle">
            <a:extLst>
              <a:ext uri="{FF2B5EF4-FFF2-40B4-BE49-F238E27FC236}">
                <a16:creationId xmlns:a16="http://schemas.microsoft.com/office/drawing/2014/main" id="{25E23969-B503-C04E-9B40-020A6AB945EA}"/>
              </a:ext>
            </a:extLst>
          </p:cNvPr>
          <p:cNvSpPr>
            <a:spLocks noGrp="1"/>
          </p:cNvSpPr>
          <p:nvPr>
            <p:ph type="subTitle" idx="1"/>
          </p:nvPr>
        </p:nvSpPr>
        <p:spPr>
          <a:xfrm>
            <a:off x="2647198" y="2909686"/>
            <a:ext cx="6801603" cy="2580194"/>
          </a:xfrm>
        </p:spPr>
        <p:txBody>
          <a:bodyPr/>
          <a:lstStyle/>
          <a:p>
            <a:r>
              <a:rPr lang="en-US" b="0" dirty="0">
                <a:latin typeface="Franklin Gothic Medium" panose="020B0603020102020204" pitchFamily="34" charset="0"/>
              </a:rPr>
              <a:t>Lecture 3: EVC &amp; Market Analysis</a:t>
            </a:r>
          </a:p>
          <a:p>
            <a:endParaRPr lang="en-US" b="0" dirty="0">
              <a:latin typeface="Franklin Gothic Medium" panose="020B0603020102020204" pitchFamily="34" charset="0"/>
            </a:endParaRPr>
          </a:p>
          <a:p>
            <a:r>
              <a:rPr lang="en-US" b="0" dirty="0">
                <a:latin typeface="Franklin Gothic Medium" panose="020B0603020102020204" pitchFamily="34" charset="0"/>
              </a:rPr>
              <a:t>Alex Moehring</a:t>
            </a:r>
          </a:p>
          <a:p>
            <a:endParaRPr lang="en-US" b="0" dirty="0">
              <a:latin typeface="Franklin Gothic Medium" panose="020B0603020102020204" pitchFamily="34" charset="0"/>
            </a:endParaRPr>
          </a:p>
          <a:p>
            <a:endParaRPr lang="en-US" b="0" dirty="0">
              <a:latin typeface="Franklin Gothic Medium" panose="020B0603020102020204" pitchFamily="34" charset="0"/>
            </a:endParaRPr>
          </a:p>
          <a:p>
            <a:r>
              <a:rPr lang="en-US" sz="1600" b="0" dirty="0">
                <a:latin typeface="Franklin Gothic Medium" panose="020B0603020102020204" pitchFamily="34" charset="0"/>
              </a:rPr>
              <a:t>*Based on slides provided by Catherine Tucker</a:t>
            </a:r>
          </a:p>
        </p:txBody>
      </p:sp>
      <p:sp>
        <p:nvSpPr>
          <p:cNvPr id="4" name="Date">
            <a:extLst>
              <a:ext uri="{FF2B5EF4-FFF2-40B4-BE49-F238E27FC236}">
                <a16:creationId xmlns:a16="http://schemas.microsoft.com/office/drawing/2014/main" id="{7488F1B0-19AE-FE4B-A8CD-0F44AB281CC5}"/>
              </a:ext>
            </a:extLst>
          </p:cNvPr>
          <p:cNvSpPr>
            <a:spLocks noGrp="1"/>
          </p:cNvSpPr>
          <p:nvPr>
            <p:ph type="dt" sz="half" idx="10"/>
          </p:nvPr>
        </p:nvSpPr>
        <p:spPr/>
        <p:txBody>
          <a:bodyPr/>
          <a:lstStyle/>
          <a:p>
            <a:fld id="{D47A9A36-4EB0-BF46-AE48-7CDA251B954B}" type="datetime1">
              <a:rPr lang="en-US" smtClean="0"/>
              <a:pPr/>
              <a:t>10/31/2025</a:t>
            </a:fld>
            <a:endParaRPr lang="en-US" dirty="0"/>
          </a:p>
        </p:txBody>
      </p:sp>
      <p:sp>
        <p:nvSpPr>
          <p:cNvPr id="5" name="Slide Number">
            <a:extLst>
              <a:ext uri="{FF2B5EF4-FFF2-40B4-BE49-F238E27FC236}">
                <a16:creationId xmlns:a16="http://schemas.microsoft.com/office/drawing/2014/main" id="{FFCAA48C-2045-8749-8754-B722B9DB8A5C}"/>
              </a:ext>
            </a:extLst>
          </p:cNvPr>
          <p:cNvSpPr>
            <a:spLocks noGrp="1"/>
          </p:cNvSpPr>
          <p:nvPr>
            <p:ph type="sldNum" sz="quarter" idx="12"/>
          </p:nvPr>
        </p:nvSpPr>
        <p:spPr/>
        <p:txBody>
          <a:bodyPr/>
          <a:lstStyle/>
          <a:p>
            <a:fld id="{8A7A6979-0714-4377-B894-6BE4C2D6E202}" type="slidenum">
              <a:rPr lang="en-US" smtClean="0"/>
              <a:pPr/>
              <a:t>1</a:t>
            </a:fld>
            <a:endParaRPr lang="en-US" dirty="0"/>
          </a:p>
        </p:txBody>
      </p:sp>
    </p:spTree>
    <p:extLst>
      <p:ext uri="{BB962C8B-B14F-4D97-AF65-F5344CB8AC3E}">
        <p14:creationId xmlns:p14="http://schemas.microsoft.com/office/powerpoint/2010/main" val="27081081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294DFF-FEC0-0C48-A972-9E4ED3BA9D6E}"/>
              </a:ext>
            </a:extLst>
          </p:cNvPr>
          <p:cNvSpPr>
            <a:spLocks noGrp="1"/>
          </p:cNvSpPr>
          <p:nvPr>
            <p:ph type="ctrTitle"/>
          </p:nvPr>
        </p:nvSpPr>
        <p:spPr/>
        <p:txBody>
          <a:bodyPr/>
          <a:lstStyle/>
          <a:p>
            <a:r>
              <a:rPr lang="en-US" dirty="0"/>
              <a:t>Outline</a:t>
            </a:r>
          </a:p>
        </p:txBody>
      </p:sp>
      <p:sp>
        <p:nvSpPr>
          <p:cNvPr id="4" name="Text Placeholder 3">
            <a:extLst>
              <a:ext uri="{FF2B5EF4-FFF2-40B4-BE49-F238E27FC236}">
                <a16:creationId xmlns:a16="http://schemas.microsoft.com/office/drawing/2014/main" id="{B84FECDD-72B1-9A43-B7FF-10EB079D6814}"/>
              </a:ext>
            </a:extLst>
          </p:cNvPr>
          <p:cNvSpPr>
            <a:spLocks noGrp="1"/>
          </p:cNvSpPr>
          <p:nvPr>
            <p:ph type="body" sz="quarter" idx="14"/>
          </p:nvPr>
        </p:nvSpPr>
        <p:spPr>
          <a:xfrm>
            <a:off x="1828800" y="1917389"/>
            <a:ext cx="8755380" cy="3411537"/>
          </a:xfrm>
        </p:spPr>
        <p:txBody>
          <a:bodyPr>
            <a:normAutofit/>
          </a:bodyPr>
          <a:lstStyle/>
          <a:p>
            <a:pPr marL="0" indent="0">
              <a:buNone/>
            </a:pPr>
            <a:endParaRPr lang="en-US" sz="2400" dirty="0"/>
          </a:p>
          <a:p>
            <a:r>
              <a:rPr lang="en-US" sz="2400" dirty="0"/>
              <a:t>Ideation Review</a:t>
            </a:r>
          </a:p>
          <a:p>
            <a:endParaRPr lang="en-US" sz="2400" dirty="0"/>
          </a:p>
          <a:p>
            <a:r>
              <a:rPr lang="en-US" sz="2400" dirty="0"/>
              <a:t>Economic Value to the Customer</a:t>
            </a:r>
          </a:p>
          <a:p>
            <a:endParaRPr lang="en-US" sz="2400" dirty="0"/>
          </a:p>
          <a:p>
            <a:r>
              <a:rPr lang="en-US" sz="2400" dirty="0"/>
              <a:t>Competitive Analysis</a:t>
            </a:r>
          </a:p>
          <a:p>
            <a:endParaRPr lang="en-US" sz="2400" dirty="0"/>
          </a:p>
          <a:p>
            <a:r>
              <a:rPr lang="en-US" sz="2400" dirty="0"/>
              <a:t>EVC Calculations for Projects</a:t>
            </a:r>
          </a:p>
        </p:txBody>
      </p:sp>
      <p:sp>
        <p:nvSpPr>
          <p:cNvPr id="5" name="Date Placeholder 4">
            <a:extLst>
              <a:ext uri="{FF2B5EF4-FFF2-40B4-BE49-F238E27FC236}">
                <a16:creationId xmlns:a16="http://schemas.microsoft.com/office/drawing/2014/main" id="{95F12967-03CD-7942-8B49-F8DBFB56200B}"/>
              </a:ext>
            </a:extLst>
          </p:cNvPr>
          <p:cNvSpPr>
            <a:spLocks noGrp="1"/>
          </p:cNvSpPr>
          <p:nvPr>
            <p:ph type="dt" sz="half" idx="10"/>
          </p:nvPr>
        </p:nvSpPr>
        <p:spPr/>
        <p:txBody>
          <a:bodyPr/>
          <a:lstStyle/>
          <a:p>
            <a:fld id="{D47A9A36-4EB0-BF46-AE48-7CDA251B954B}" type="datetime1">
              <a:rPr lang="en-US" smtClean="0"/>
              <a:t>10/31/2025</a:t>
            </a:fld>
            <a:endParaRPr lang="en-US" dirty="0"/>
          </a:p>
        </p:txBody>
      </p:sp>
      <p:sp>
        <p:nvSpPr>
          <p:cNvPr id="6" name="Slide Number Placeholder 5">
            <a:extLst>
              <a:ext uri="{FF2B5EF4-FFF2-40B4-BE49-F238E27FC236}">
                <a16:creationId xmlns:a16="http://schemas.microsoft.com/office/drawing/2014/main" id="{E7486C51-25E8-4845-95A9-ABC45B4BC846}"/>
              </a:ext>
            </a:extLst>
          </p:cNvPr>
          <p:cNvSpPr>
            <a:spLocks noGrp="1"/>
          </p:cNvSpPr>
          <p:nvPr>
            <p:ph type="sldNum" sz="quarter" idx="12"/>
          </p:nvPr>
        </p:nvSpPr>
        <p:spPr/>
        <p:txBody>
          <a:bodyPr/>
          <a:lstStyle/>
          <a:p>
            <a:fld id="{8A7A6979-0714-4377-B894-6BE4C2D6E202}" type="slidenum">
              <a:rPr lang="en-US" smtClean="0"/>
              <a:pPr/>
              <a:t>2</a:t>
            </a:fld>
            <a:endParaRPr lang="en-US" dirty="0"/>
          </a:p>
        </p:txBody>
      </p:sp>
    </p:spTree>
    <p:extLst>
      <p:ext uri="{BB962C8B-B14F-4D97-AF65-F5344CB8AC3E}">
        <p14:creationId xmlns:p14="http://schemas.microsoft.com/office/powerpoint/2010/main" val="24073082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D77AF1-0B68-EEC0-E931-7994AB69A2B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75288D9-5A32-6412-6DAB-DC8C06F499BD}"/>
              </a:ext>
            </a:extLst>
          </p:cNvPr>
          <p:cNvSpPr>
            <a:spLocks noGrp="1"/>
          </p:cNvSpPr>
          <p:nvPr>
            <p:ph type="ctrTitle"/>
          </p:nvPr>
        </p:nvSpPr>
        <p:spPr>
          <a:xfrm>
            <a:off x="2647199" y="1501742"/>
            <a:ext cx="7300940" cy="1329595"/>
          </a:xfrm>
        </p:spPr>
        <p:txBody>
          <a:bodyPr/>
          <a:lstStyle/>
          <a:p>
            <a:r>
              <a:rPr lang="en-US" dirty="0"/>
              <a:t>Economic value to the customer</a:t>
            </a:r>
          </a:p>
        </p:txBody>
      </p:sp>
      <p:sp>
        <p:nvSpPr>
          <p:cNvPr id="4" name="Date Placeholder 3">
            <a:extLst>
              <a:ext uri="{FF2B5EF4-FFF2-40B4-BE49-F238E27FC236}">
                <a16:creationId xmlns:a16="http://schemas.microsoft.com/office/drawing/2014/main" id="{3A5891F7-E2C7-059D-4B16-8009DA57A7B9}"/>
              </a:ext>
            </a:extLst>
          </p:cNvPr>
          <p:cNvSpPr>
            <a:spLocks noGrp="1"/>
          </p:cNvSpPr>
          <p:nvPr>
            <p:ph type="dt" sz="half" idx="10"/>
          </p:nvPr>
        </p:nvSpPr>
        <p:spPr/>
        <p:txBody>
          <a:bodyPr/>
          <a:lstStyle/>
          <a:p>
            <a:fld id="{D47A9A36-4EB0-BF46-AE48-7CDA251B954B}" type="datetime1">
              <a:rPr lang="en-US" smtClean="0"/>
              <a:pPr/>
              <a:t>10/31/2025</a:t>
            </a:fld>
            <a:endParaRPr lang="en-US" dirty="0"/>
          </a:p>
        </p:txBody>
      </p:sp>
      <p:sp>
        <p:nvSpPr>
          <p:cNvPr id="5" name="Slide Number Placeholder 4">
            <a:extLst>
              <a:ext uri="{FF2B5EF4-FFF2-40B4-BE49-F238E27FC236}">
                <a16:creationId xmlns:a16="http://schemas.microsoft.com/office/drawing/2014/main" id="{3D7DB361-BC8A-358F-9741-C1848CFBBA3F}"/>
              </a:ext>
            </a:extLst>
          </p:cNvPr>
          <p:cNvSpPr>
            <a:spLocks noGrp="1"/>
          </p:cNvSpPr>
          <p:nvPr>
            <p:ph type="sldNum" sz="quarter" idx="12"/>
          </p:nvPr>
        </p:nvSpPr>
        <p:spPr/>
        <p:txBody>
          <a:bodyPr/>
          <a:lstStyle/>
          <a:p>
            <a:fld id="{8A7A6979-0714-4377-B894-6BE4C2D6E202}" type="slidenum">
              <a:rPr lang="en-US" smtClean="0"/>
              <a:pPr/>
              <a:t>3</a:t>
            </a:fld>
            <a:endParaRPr lang="en-US" dirty="0"/>
          </a:p>
        </p:txBody>
      </p:sp>
    </p:spTree>
    <p:extLst>
      <p:ext uri="{BB962C8B-B14F-4D97-AF65-F5344CB8AC3E}">
        <p14:creationId xmlns:p14="http://schemas.microsoft.com/office/powerpoint/2010/main" val="31359978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294DFF-FEC0-0C48-A972-9E4ED3BA9D6E}"/>
              </a:ext>
            </a:extLst>
          </p:cNvPr>
          <p:cNvSpPr>
            <a:spLocks noGrp="1"/>
          </p:cNvSpPr>
          <p:nvPr>
            <p:ph type="ctrTitle"/>
          </p:nvPr>
        </p:nvSpPr>
        <p:spPr/>
        <p:txBody>
          <a:bodyPr/>
          <a:lstStyle/>
          <a:p>
            <a:r>
              <a:rPr lang="en-US" dirty="0"/>
              <a:t>Economic Value to the Customer</a:t>
            </a:r>
          </a:p>
        </p:txBody>
      </p:sp>
      <mc:AlternateContent xmlns:mc="http://schemas.openxmlformats.org/markup-compatibility/2006">
        <mc:Choice xmlns:a14="http://schemas.microsoft.com/office/drawing/2010/main" Requires="a14">
          <p:sp>
            <p:nvSpPr>
              <p:cNvPr id="4" name="Text Placeholder 3">
                <a:extLst>
                  <a:ext uri="{FF2B5EF4-FFF2-40B4-BE49-F238E27FC236}">
                    <a16:creationId xmlns:a16="http://schemas.microsoft.com/office/drawing/2014/main" id="{B84FECDD-72B1-9A43-B7FF-10EB079D6814}"/>
                  </a:ext>
                </a:extLst>
              </p:cNvPr>
              <p:cNvSpPr>
                <a:spLocks noGrp="1"/>
              </p:cNvSpPr>
              <p:nvPr>
                <p:ph type="body" sz="quarter" idx="14"/>
              </p:nvPr>
            </p:nvSpPr>
            <p:spPr>
              <a:xfrm>
                <a:off x="1828800" y="1609007"/>
                <a:ext cx="8949128" cy="3749508"/>
              </a:xfrm>
            </p:spPr>
            <p:txBody>
              <a:bodyPr>
                <a:normAutofit/>
              </a:bodyPr>
              <a:lstStyle/>
              <a:p>
                <a:r>
                  <a:rPr lang="en-US" sz="2000" dirty="0"/>
                  <a:t>The </a:t>
                </a:r>
                <a:r>
                  <a:rPr lang="en-US" sz="2000" b="1" dirty="0"/>
                  <a:t>economic value to the customer</a:t>
                </a:r>
                <a:r>
                  <a:rPr lang="en-US" sz="2000" dirty="0"/>
                  <a:t> is the value created for the customer assuming they are fully informed about the product and competitors</a:t>
                </a:r>
              </a:p>
              <a:p>
                <a:endParaRPr lang="en-US" sz="2000" dirty="0"/>
              </a:p>
              <a:p>
                <a:r>
                  <a:rPr lang="en-US" sz="2000" dirty="0"/>
                  <a:t>Key idea: customer will purchase our product if the net value of our product exceeds net value of the competitors</a:t>
                </a:r>
              </a:p>
              <a:p>
                <a:pPr marL="0" indent="0">
                  <a:buNone/>
                </a:pPr>
                <a14:m>
                  <m:oMathPara xmlns:m="http://schemas.openxmlformats.org/officeDocument/2006/math">
                    <m:oMathParaPr>
                      <m:jc m:val="centerGroup"/>
                    </m:oMathParaPr>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𝑉</m:t>
                          </m:r>
                        </m:e>
                        <m:sub>
                          <m:r>
                            <a:rPr lang="en-US" sz="2000" b="0" i="1" smtClean="0">
                              <a:latin typeface="Cambria Math" panose="02040503050406030204" pitchFamily="18" charset="0"/>
                            </a:rPr>
                            <m:t>𝑜</m:t>
                          </m:r>
                        </m:sub>
                      </m:sSub>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𝑃</m:t>
                          </m:r>
                        </m:e>
                        <m:sub>
                          <m:r>
                            <a:rPr lang="en-US" sz="2000" b="0" i="1" smtClean="0">
                              <a:latin typeface="Cambria Math" panose="02040503050406030204" pitchFamily="18" charset="0"/>
                            </a:rPr>
                            <m:t>𝑜</m:t>
                          </m:r>
                        </m:sub>
                      </m:sSub>
                      <m:r>
                        <a:rPr lang="en-US" sz="2000" b="0" i="1" smtClean="0">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𝑉</m:t>
                          </m:r>
                        </m:e>
                        <m:sub>
                          <m:r>
                            <a:rPr lang="en-US" sz="2000" i="1">
                              <a:latin typeface="Cambria Math" panose="02040503050406030204" pitchFamily="18" charset="0"/>
                            </a:rPr>
                            <m:t>𝑐</m:t>
                          </m:r>
                        </m:sub>
                      </m:sSub>
                      <m:r>
                        <a:rPr lang="en-US" sz="2000" i="1">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𝑃</m:t>
                          </m:r>
                        </m:e>
                        <m:sub>
                          <m:r>
                            <a:rPr lang="en-US" sz="2000" i="1">
                              <a:latin typeface="Cambria Math" panose="02040503050406030204" pitchFamily="18" charset="0"/>
                            </a:rPr>
                            <m:t>𝑐</m:t>
                          </m:r>
                        </m:sub>
                      </m:sSub>
                    </m:oMath>
                  </m:oMathPara>
                </a14:m>
                <a:endParaRPr lang="en-US" sz="2000" dirty="0"/>
              </a:p>
              <a:p>
                <a14:m>
                  <m:oMath xmlns:m="http://schemas.openxmlformats.org/officeDocument/2006/math">
                    <m:sSub>
                      <m:sSubPr>
                        <m:ctrlPr>
                          <a:rPr lang="en-US" sz="2000" b="0" i="1" dirty="0" smtClean="0">
                            <a:latin typeface="Cambria Math" panose="02040503050406030204" pitchFamily="18" charset="0"/>
                          </a:rPr>
                        </m:ctrlPr>
                      </m:sSubPr>
                      <m:e>
                        <m:r>
                          <a:rPr lang="en-US" sz="2000" b="0" i="1" dirty="0" smtClean="0">
                            <a:latin typeface="Cambria Math" panose="02040503050406030204" pitchFamily="18" charset="0"/>
                          </a:rPr>
                          <m:t>𝑉</m:t>
                        </m:r>
                      </m:e>
                      <m:sub>
                        <m:r>
                          <a:rPr lang="en-US" sz="2000" b="0" i="1" dirty="0" smtClean="0">
                            <a:latin typeface="Cambria Math" panose="02040503050406030204" pitchFamily="18" charset="0"/>
                          </a:rPr>
                          <m:t>𝑜</m:t>
                        </m:r>
                      </m:sub>
                    </m:sSub>
                  </m:oMath>
                </a14:m>
                <a:r>
                  <a:rPr lang="en-US" sz="2000" dirty="0"/>
                  <a:t>: Value of our own product</a:t>
                </a:r>
              </a:p>
              <a:p>
                <a14:m>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𝑃</m:t>
                        </m:r>
                      </m:e>
                      <m:sub>
                        <m:r>
                          <a:rPr lang="en-US" sz="2000" b="0" i="1" smtClean="0">
                            <a:latin typeface="Cambria Math" panose="02040503050406030204" pitchFamily="18" charset="0"/>
                          </a:rPr>
                          <m:t>𝑜</m:t>
                        </m:r>
                      </m:sub>
                    </m:sSub>
                  </m:oMath>
                </a14:m>
                <a:r>
                  <a:rPr lang="en-US" sz="2000" dirty="0"/>
                  <a:t>: Price of our own product</a:t>
                </a:r>
              </a:p>
              <a:p>
                <a:endParaRPr lang="en-US" sz="2000" dirty="0"/>
              </a:p>
              <a:p>
                <a14:m>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𝑉</m:t>
                        </m:r>
                      </m:e>
                      <m:sub>
                        <m:r>
                          <a:rPr lang="en-US" sz="2000" b="0" i="1" smtClean="0">
                            <a:latin typeface="Cambria Math" panose="02040503050406030204" pitchFamily="18" charset="0"/>
                          </a:rPr>
                          <m:t>𝑐</m:t>
                        </m:r>
                      </m:sub>
                    </m:sSub>
                  </m:oMath>
                </a14:m>
                <a:r>
                  <a:rPr lang="en-US" sz="2000" dirty="0"/>
                  <a:t>: Value of competitor </a:t>
                </a:r>
                <a14:m>
                  <m:oMath xmlns:m="http://schemas.openxmlformats.org/officeDocument/2006/math">
                    <m:r>
                      <a:rPr lang="en-US" sz="2000" b="0" i="1" smtClean="0">
                        <a:latin typeface="Cambria Math" panose="02040503050406030204" pitchFamily="18" charset="0"/>
                      </a:rPr>
                      <m:t>𝑐</m:t>
                    </m:r>
                  </m:oMath>
                </a14:m>
                <a:endParaRPr lang="en-US" sz="2000" dirty="0"/>
              </a:p>
              <a:p>
                <a14:m>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𝑃</m:t>
                        </m:r>
                      </m:e>
                      <m:sub>
                        <m:r>
                          <a:rPr lang="en-US" sz="2000" b="0" i="1" smtClean="0">
                            <a:latin typeface="Cambria Math" panose="02040503050406030204" pitchFamily="18" charset="0"/>
                          </a:rPr>
                          <m:t>𝑐</m:t>
                        </m:r>
                      </m:sub>
                    </m:sSub>
                  </m:oMath>
                </a14:m>
                <a:r>
                  <a:rPr lang="en-US" sz="2000" dirty="0"/>
                  <a:t>: Price of competitor </a:t>
                </a:r>
                <a14:m>
                  <m:oMath xmlns:m="http://schemas.openxmlformats.org/officeDocument/2006/math">
                    <m:r>
                      <a:rPr lang="en-US" sz="2000" b="0" i="1" smtClean="0">
                        <a:latin typeface="Cambria Math" panose="02040503050406030204" pitchFamily="18" charset="0"/>
                      </a:rPr>
                      <m:t>𝑐</m:t>
                    </m:r>
                  </m:oMath>
                </a14:m>
                <a:endParaRPr lang="en-US" sz="2000" dirty="0"/>
              </a:p>
            </p:txBody>
          </p:sp>
        </mc:Choice>
        <mc:Fallback>
          <p:sp>
            <p:nvSpPr>
              <p:cNvPr id="4" name="Text Placeholder 3">
                <a:extLst>
                  <a:ext uri="{FF2B5EF4-FFF2-40B4-BE49-F238E27FC236}">
                    <a16:creationId xmlns:a16="http://schemas.microsoft.com/office/drawing/2014/main" id="{B84FECDD-72B1-9A43-B7FF-10EB079D6814}"/>
                  </a:ext>
                </a:extLst>
              </p:cNvPr>
              <p:cNvSpPr>
                <a:spLocks noGrp="1" noRot="1" noChangeAspect="1" noMove="1" noResize="1" noEditPoints="1" noAdjustHandles="1" noChangeArrowheads="1" noChangeShapeType="1" noTextEdit="1"/>
              </p:cNvSpPr>
              <p:nvPr>
                <p:ph type="body" sz="quarter" idx="14"/>
              </p:nvPr>
            </p:nvSpPr>
            <p:spPr>
              <a:xfrm>
                <a:off x="1828800" y="1609007"/>
                <a:ext cx="8949128" cy="3749508"/>
              </a:xfrm>
              <a:blipFill>
                <a:blip r:embed="rId3"/>
                <a:stretch>
                  <a:fillRect l="-1635" t="-2114"/>
                </a:stretch>
              </a:blipFill>
            </p:spPr>
            <p:txBody>
              <a:bodyPr/>
              <a:lstStyle/>
              <a:p>
                <a:r>
                  <a:rPr lang="en-US">
                    <a:noFill/>
                  </a:rPr>
                  <a:t> </a:t>
                </a:r>
              </a:p>
            </p:txBody>
          </p:sp>
        </mc:Fallback>
      </mc:AlternateContent>
      <p:sp>
        <p:nvSpPr>
          <p:cNvPr id="5" name="Date Placeholder 4">
            <a:extLst>
              <a:ext uri="{FF2B5EF4-FFF2-40B4-BE49-F238E27FC236}">
                <a16:creationId xmlns:a16="http://schemas.microsoft.com/office/drawing/2014/main" id="{95F12967-03CD-7942-8B49-F8DBFB56200B}"/>
              </a:ext>
            </a:extLst>
          </p:cNvPr>
          <p:cNvSpPr>
            <a:spLocks noGrp="1"/>
          </p:cNvSpPr>
          <p:nvPr>
            <p:ph type="dt" sz="half" idx="10"/>
          </p:nvPr>
        </p:nvSpPr>
        <p:spPr/>
        <p:txBody>
          <a:bodyPr/>
          <a:lstStyle/>
          <a:p>
            <a:fld id="{D47A9A36-4EB0-BF46-AE48-7CDA251B954B}" type="datetime1">
              <a:rPr lang="en-US" smtClean="0"/>
              <a:t>10/31/2025</a:t>
            </a:fld>
            <a:endParaRPr lang="en-US" dirty="0"/>
          </a:p>
        </p:txBody>
      </p:sp>
      <p:sp>
        <p:nvSpPr>
          <p:cNvPr id="6" name="Slide Number Placeholder 5">
            <a:extLst>
              <a:ext uri="{FF2B5EF4-FFF2-40B4-BE49-F238E27FC236}">
                <a16:creationId xmlns:a16="http://schemas.microsoft.com/office/drawing/2014/main" id="{E7486C51-25E8-4845-95A9-ABC45B4BC846}"/>
              </a:ext>
            </a:extLst>
          </p:cNvPr>
          <p:cNvSpPr>
            <a:spLocks noGrp="1"/>
          </p:cNvSpPr>
          <p:nvPr>
            <p:ph type="sldNum" sz="quarter" idx="12"/>
          </p:nvPr>
        </p:nvSpPr>
        <p:spPr/>
        <p:txBody>
          <a:bodyPr/>
          <a:lstStyle/>
          <a:p>
            <a:fld id="{8A7A6979-0714-4377-B894-6BE4C2D6E202}" type="slidenum">
              <a:rPr lang="en-US" smtClean="0"/>
              <a:pPr/>
              <a:t>4</a:t>
            </a:fld>
            <a:endParaRPr lang="en-US" dirty="0"/>
          </a:p>
        </p:txBody>
      </p:sp>
    </p:spTree>
    <p:extLst>
      <p:ext uri="{BB962C8B-B14F-4D97-AF65-F5344CB8AC3E}">
        <p14:creationId xmlns:p14="http://schemas.microsoft.com/office/powerpoint/2010/main" val="19849047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
                                            <p:txEl>
                                              <p:pRg st="5" end="5"/>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
                                            <p:txEl>
                                              <p:pRg st="7" end="7"/>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3C9B20-4408-9A8B-58E3-A6D075B6BD9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C513AD5-1FFF-D23A-B0BF-EE849B4B07A0}"/>
              </a:ext>
            </a:extLst>
          </p:cNvPr>
          <p:cNvSpPr>
            <a:spLocks noGrp="1"/>
          </p:cNvSpPr>
          <p:nvPr>
            <p:ph type="ctrTitle"/>
          </p:nvPr>
        </p:nvSpPr>
        <p:spPr/>
        <p:txBody>
          <a:bodyPr/>
          <a:lstStyle/>
          <a:p>
            <a:r>
              <a:rPr lang="en-US" dirty="0"/>
              <a:t>Economic Value to the Customer, Part 2</a:t>
            </a:r>
          </a:p>
        </p:txBody>
      </p:sp>
      <mc:AlternateContent xmlns:mc="http://schemas.openxmlformats.org/markup-compatibility/2006" xmlns:a14="http://schemas.microsoft.com/office/drawing/2010/main">
        <mc:Choice Requires="a14">
          <p:sp>
            <p:nvSpPr>
              <p:cNvPr id="4" name="Text Placeholder 3">
                <a:extLst>
                  <a:ext uri="{FF2B5EF4-FFF2-40B4-BE49-F238E27FC236}">
                    <a16:creationId xmlns:a16="http://schemas.microsoft.com/office/drawing/2014/main" id="{4717CAB7-6351-6BBF-A57D-29C621AD290C}"/>
                  </a:ext>
                </a:extLst>
              </p:cNvPr>
              <p:cNvSpPr>
                <a:spLocks noGrp="1"/>
              </p:cNvSpPr>
              <p:nvPr>
                <p:ph type="body" sz="quarter" idx="14"/>
              </p:nvPr>
            </p:nvSpPr>
            <p:spPr>
              <a:xfrm>
                <a:off x="1828800" y="1579419"/>
                <a:ext cx="8949128" cy="3749508"/>
              </a:xfrm>
            </p:spPr>
            <p:txBody>
              <a:bodyPr>
                <a:normAutofit/>
              </a:bodyPr>
              <a:lstStyle/>
              <a:p>
                <a:pPr marL="0" indent="0">
                  <a:buNone/>
                </a:pPr>
                <a14:m>
                  <m:oMathPara xmlns:m="http://schemas.openxmlformats.org/officeDocument/2006/math">
                    <m:oMathParaPr>
                      <m:jc m:val="centerGroup"/>
                    </m:oMathParaPr>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𝑉</m:t>
                          </m:r>
                        </m:e>
                        <m:sub>
                          <m:r>
                            <a:rPr lang="en-US" sz="2000" b="0" i="1" smtClean="0">
                              <a:latin typeface="Cambria Math" panose="02040503050406030204" pitchFamily="18" charset="0"/>
                            </a:rPr>
                            <m:t>𝑜</m:t>
                          </m:r>
                        </m:sub>
                      </m:sSub>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𝑃</m:t>
                          </m:r>
                        </m:e>
                        <m:sub>
                          <m:r>
                            <a:rPr lang="en-US" sz="2000" b="0" i="1" smtClean="0">
                              <a:latin typeface="Cambria Math" panose="02040503050406030204" pitchFamily="18" charset="0"/>
                            </a:rPr>
                            <m:t>𝑜</m:t>
                          </m:r>
                        </m:sub>
                      </m:sSub>
                      <m:r>
                        <a:rPr lang="en-US" sz="2000" b="0" i="1" smtClean="0">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𝑉</m:t>
                          </m:r>
                        </m:e>
                        <m:sub>
                          <m:r>
                            <a:rPr lang="en-US" sz="2000" i="1">
                              <a:latin typeface="Cambria Math" panose="02040503050406030204" pitchFamily="18" charset="0"/>
                            </a:rPr>
                            <m:t>𝑐</m:t>
                          </m:r>
                        </m:sub>
                      </m:sSub>
                      <m:r>
                        <a:rPr lang="en-US" sz="2000" i="1">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𝑃</m:t>
                          </m:r>
                        </m:e>
                        <m:sub>
                          <m:r>
                            <a:rPr lang="en-US" sz="2000" i="1">
                              <a:latin typeface="Cambria Math" panose="02040503050406030204" pitchFamily="18" charset="0"/>
                            </a:rPr>
                            <m:t>𝑐</m:t>
                          </m:r>
                        </m:sub>
                      </m:sSub>
                    </m:oMath>
                  </m:oMathPara>
                </a14:m>
                <a:endParaRPr lang="en-US" sz="2000" dirty="0"/>
              </a:p>
              <a:p>
                <a:endParaRPr lang="en-US" sz="2000" b="0" i="1" dirty="0">
                  <a:latin typeface="Cambria Math" panose="02040503050406030204" pitchFamily="18" charset="0"/>
                </a:endParaRPr>
              </a:p>
              <a:p>
                <a:endParaRPr lang="en-US" sz="2000" b="0" dirty="0"/>
              </a:p>
            </p:txBody>
          </p:sp>
        </mc:Choice>
        <mc:Fallback xmlns="">
          <p:sp>
            <p:nvSpPr>
              <p:cNvPr id="4" name="Text Placeholder 3">
                <a:extLst>
                  <a:ext uri="{FF2B5EF4-FFF2-40B4-BE49-F238E27FC236}">
                    <a16:creationId xmlns:a16="http://schemas.microsoft.com/office/drawing/2014/main" id="{4717CAB7-6351-6BBF-A57D-29C621AD290C}"/>
                  </a:ext>
                </a:extLst>
              </p:cNvPr>
              <p:cNvSpPr>
                <a:spLocks noGrp="1" noRot="1" noChangeAspect="1" noMove="1" noResize="1" noEditPoints="1" noAdjustHandles="1" noChangeArrowheads="1" noChangeShapeType="1" noTextEdit="1"/>
              </p:cNvSpPr>
              <p:nvPr>
                <p:ph type="body" sz="quarter" idx="14"/>
              </p:nvPr>
            </p:nvSpPr>
            <p:spPr>
              <a:xfrm>
                <a:off x="1828800" y="1579419"/>
                <a:ext cx="8949128" cy="3749508"/>
              </a:xfrm>
              <a:blipFill>
                <a:blip r:embed="rId3"/>
                <a:stretch>
                  <a:fillRect/>
                </a:stretch>
              </a:blipFill>
            </p:spPr>
            <p:txBody>
              <a:bodyPr/>
              <a:lstStyle/>
              <a:p>
                <a:r>
                  <a:rPr lang="en-US">
                    <a:noFill/>
                  </a:rPr>
                  <a:t> </a:t>
                </a:r>
              </a:p>
            </p:txBody>
          </p:sp>
        </mc:Fallback>
      </mc:AlternateContent>
      <p:sp>
        <p:nvSpPr>
          <p:cNvPr id="5" name="Date Placeholder 4">
            <a:extLst>
              <a:ext uri="{FF2B5EF4-FFF2-40B4-BE49-F238E27FC236}">
                <a16:creationId xmlns:a16="http://schemas.microsoft.com/office/drawing/2014/main" id="{2E034161-330D-2FB9-30E7-1DDA3047343E}"/>
              </a:ext>
            </a:extLst>
          </p:cNvPr>
          <p:cNvSpPr>
            <a:spLocks noGrp="1"/>
          </p:cNvSpPr>
          <p:nvPr>
            <p:ph type="dt" sz="half" idx="10"/>
          </p:nvPr>
        </p:nvSpPr>
        <p:spPr/>
        <p:txBody>
          <a:bodyPr/>
          <a:lstStyle/>
          <a:p>
            <a:fld id="{D47A9A36-4EB0-BF46-AE48-7CDA251B954B}" type="datetime1">
              <a:rPr lang="en-US" smtClean="0"/>
              <a:t>10/31/2025</a:t>
            </a:fld>
            <a:endParaRPr lang="en-US" dirty="0"/>
          </a:p>
        </p:txBody>
      </p:sp>
      <p:sp>
        <p:nvSpPr>
          <p:cNvPr id="6" name="Slide Number Placeholder 5">
            <a:extLst>
              <a:ext uri="{FF2B5EF4-FFF2-40B4-BE49-F238E27FC236}">
                <a16:creationId xmlns:a16="http://schemas.microsoft.com/office/drawing/2014/main" id="{BB6B928A-8802-F110-5923-243CFC405E90}"/>
              </a:ext>
            </a:extLst>
          </p:cNvPr>
          <p:cNvSpPr>
            <a:spLocks noGrp="1"/>
          </p:cNvSpPr>
          <p:nvPr>
            <p:ph type="sldNum" sz="quarter" idx="12"/>
          </p:nvPr>
        </p:nvSpPr>
        <p:spPr/>
        <p:txBody>
          <a:bodyPr/>
          <a:lstStyle/>
          <a:p>
            <a:fld id="{8A7A6979-0714-4377-B894-6BE4C2D6E202}" type="slidenum">
              <a:rPr lang="en-US" smtClean="0"/>
              <a:pPr/>
              <a:t>5</a:t>
            </a:fld>
            <a:endParaRPr lang="en-US" dirty="0"/>
          </a:p>
        </p:txBody>
      </p:sp>
    </p:spTree>
    <p:extLst>
      <p:ext uri="{BB962C8B-B14F-4D97-AF65-F5344CB8AC3E}">
        <p14:creationId xmlns:p14="http://schemas.microsoft.com/office/powerpoint/2010/main" val="346329331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E4686A-5389-7EA1-BB9E-C91CCBACBA1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B25845E-EE31-077A-68E0-348885F491F6}"/>
              </a:ext>
            </a:extLst>
          </p:cNvPr>
          <p:cNvSpPr>
            <a:spLocks noGrp="1"/>
          </p:cNvSpPr>
          <p:nvPr>
            <p:ph type="ctrTitle"/>
          </p:nvPr>
        </p:nvSpPr>
        <p:spPr/>
        <p:txBody>
          <a:bodyPr/>
          <a:lstStyle/>
          <a:p>
            <a:r>
              <a:rPr lang="en-US" dirty="0"/>
              <a:t>Economic Value to the Customer, Part 3</a:t>
            </a:r>
          </a:p>
        </p:txBody>
      </p:sp>
      <mc:AlternateContent xmlns:mc="http://schemas.openxmlformats.org/markup-compatibility/2006" xmlns:a14="http://schemas.microsoft.com/office/drawing/2010/main">
        <mc:Choice Requires="a14">
          <p:sp>
            <p:nvSpPr>
              <p:cNvPr id="4" name="Text Placeholder 3">
                <a:extLst>
                  <a:ext uri="{FF2B5EF4-FFF2-40B4-BE49-F238E27FC236}">
                    <a16:creationId xmlns:a16="http://schemas.microsoft.com/office/drawing/2014/main" id="{D8ECCB27-2356-E094-BEAD-D38C04664066}"/>
                  </a:ext>
                </a:extLst>
              </p:cNvPr>
              <p:cNvSpPr>
                <a:spLocks noGrp="1"/>
              </p:cNvSpPr>
              <p:nvPr>
                <p:ph type="body" sz="quarter" idx="14"/>
              </p:nvPr>
            </p:nvSpPr>
            <p:spPr>
              <a:xfrm>
                <a:off x="1828800" y="1579419"/>
                <a:ext cx="8949128" cy="3749508"/>
              </a:xfrm>
            </p:spPr>
            <p:txBody>
              <a:bodyPr>
                <a:normAutofit/>
              </a:bodyPr>
              <a:lstStyle/>
              <a:p>
                <a:r>
                  <a:rPr lang="en-US" sz="2000" dirty="0"/>
                  <a:t>Key idea: customer will purchase our product if value of our product exceeds value of the competitors</a:t>
                </a:r>
              </a:p>
              <a:p>
                <a:pPr marL="0" indent="0">
                  <a:buNone/>
                </a:pPr>
                <a14:m>
                  <m:oMathPara xmlns:m="http://schemas.openxmlformats.org/officeDocument/2006/math">
                    <m:oMathParaPr>
                      <m:jc m:val="centerGroup"/>
                    </m:oMathParaPr>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𝑉</m:t>
                          </m:r>
                        </m:e>
                        <m:sub>
                          <m:r>
                            <a:rPr lang="en-US" sz="2000" b="0" i="1" smtClean="0">
                              <a:latin typeface="Cambria Math" panose="02040503050406030204" pitchFamily="18" charset="0"/>
                            </a:rPr>
                            <m:t>𝑜</m:t>
                          </m:r>
                        </m:sub>
                      </m:sSub>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𝑃</m:t>
                          </m:r>
                        </m:e>
                        <m:sub>
                          <m:r>
                            <a:rPr lang="en-US" sz="2000" b="0" i="1" smtClean="0">
                              <a:latin typeface="Cambria Math" panose="02040503050406030204" pitchFamily="18" charset="0"/>
                            </a:rPr>
                            <m:t>𝑜</m:t>
                          </m:r>
                        </m:sub>
                      </m:sSub>
                      <m:r>
                        <a:rPr lang="en-US" sz="2000" b="0" i="1" smtClean="0">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𝑉</m:t>
                          </m:r>
                        </m:e>
                        <m:sub>
                          <m:r>
                            <a:rPr lang="en-US" sz="2000" i="1">
                              <a:latin typeface="Cambria Math" panose="02040503050406030204" pitchFamily="18" charset="0"/>
                            </a:rPr>
                            <m:t>𝑐</m:t>
                          </m:r>
                        </m:sub>
                      </m:sSub>
                      <m:r>
                        <a:rPr lang="en-US" sz="2000" i="1">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𝑃</m:t>
                          </m:r>
                        </m:e>
                        <m:sub>
                          <m:r>
                            <a:rPr lang="en-US" sz="2000" i="1">
                              <a:latin typeface="Cambria Math" panose="02040503050406030204" pitchFamily="18" charset="0"/>
                            </a:rPr>
                            <m:t>𝑐</m:t>
                          </m:r>
                        </m:sub>
                      </m:sSub>
                    </m:oMath>
                  </m:oMathPara>
                </a14:m>
                <a:endParaRPr lang="en-US" sz="2000" dirty="0"/>
              </a:p>
              <a:p>
                <a:endParaRPr lang="en-US" sz="2000" b="0" i="1" dirty="0">
                  <a:latin typeface="Cambria Math" panose="02040503050406030204" pitchFamily="18" charset="0"/>
                </a:endParaRPr>
              </a:p>
              <a:p>
                <a:r>
                  <a:rPr lang="en-US" sz="2000" b="0" dirty="0"/>
                  <a:t>Rearranging:</a:t>
                </a:r>
              </a:p>
              <a:p>
                <a:pPr marL="0" indent="0">
                  <a:buNone/>
                </a:pPr>
                <a14:m>
                  <m:oMathPara xmlns:m="http://schemas.openxmlformats.org/officeDocument/2006/math">
                    <m:oMathParaPr>
                      <m:jc m:val="centerGroup"/>
                    </m:oMathParaPr>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𝑃</m:t>
                          </m:r>
                        </m:e>
                        <m:sub>
                          <m:r>
                            <a:rPr lang="en-US" sz="2000" b="0" i="1" smtClean="0">
                              <a:latin typeface="Cambria Math" panose="02040503050406030204" pitchFamily="18" charset="0"/>
                            </a:rPr>
                            <m:t>𝑜</m:t>
                          </m:r>
                        </m:sub>
                      </m:sSub>
                      <m:r>
                        <a:rPr lang="en-US" sz="2000" b="0" i="1" smtClean="0">
                          <a:latin typeface="Cambria Math" panose="02040503050406030204" pitchFamily="18" charset="0"/>
                        </a:rPr>
                        <m:t>≤</m:t>
                      </m:r>
                      <m:d>
                        <m:dPr>
                          <m:begChr m:val="["/>
                          <m:endChr m:val="]"/>
                          <m:ctrlPr>
                            <a:rPr lang="en-US" sz="2000" b="0" i="1" smtClean="0">
                              <a:latin typeface="Cambria Math" panose="02040503050406030204" pitchFamily="18" charset="0"/>
                            </a:rPr>
                          </m:ctrlPr>
                        </m:dPr>
                        <m:e>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𝑉</m:t>
                              </m:r>
                            </m:e>
                            <m:sub>
                              <m:r>
                                <a:rPr lang="en-US" sz="2000" b="0" i="1" smtClean="0">
                                  <a:latin typeface="Cambria Math" panose="02040503050406030204" pitchFamily="18" charset="0"/>
                                </a:rPr>
                                <m:t>𝑜</m:t>
                              </m:r>
                            </m:sub>
                          </m:sSub>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𝑉</m:t>
                              </m:r>
                            </m:e>
                            <m:sub>
                              <m:r>
                                <a:rPr lang="en-US" sz="2000" b="0" i="1" smtClean="0">
                                  <a:latin typeface="Cambria Math" panose="02040503050406030204" pitchFamily="18" charset="0"/>
                                </a:rPr>
                                <m:t>𝑐</m:t>
                              </m:r>
                            </m:sub>
                          </m:sSub>
                        </m:e>
                      </m:d>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𝑃</m:t>
                          </m:r>
                        </m:e>
                        <m:sub>
                          <m:r>
                            <a:rPr lang="en-US" sz="2000" b="0" i="1" smtClean="0">
                              <a:latin typeface="Cambria Math" panose="02040503050406030204" pitchFamily="18" charset="0"/>
                            </a:rPr>
                            <m:t>𝑐</m:t>
                          </m:r>
                        </m:sub>
                      </m:sSub>
                    </m:oMath>
                  </m:oMathPara>
                </a14:m>
                <a:endParaRPr lang="en-US" sz="2000" dirty="0"/>
              </a:p>
              <a:p>
                <a:endParaRPr lang="en-US" sz="2000" dirty="0"/>
              </a:p>
              <a:p>
                <a14:m>
                  <m:oMath xmlns:m="http://schemas.openxmlformats.org/officeDocument/2006/math">
                    <m:d>
                      <m:dPr>
                        <m:begChr m:val="["/>
                        <m:endChr m:val="]"/>
                        <m:ctrlPr>
                          <a:rPr lang="en-US" sz="2000" b="0" i="1" smtClean="0">
                            <a:latin typeface="Cambria Math" panose="02040503050406030204" pitchFamily="18" charset="0"/>
                          </a:rPr>
                        </m:ctrlPr>
                      </m:dPr>
                      <m:e>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𝑉</m:t>
                            </m:r>
                          </m:e>
                          <m:sub>
                            <m:r>
                              <a:rPr lang="en-US" sz="2000" b="0" i="1" smtClean="0">
                                <a:latin typeface="Cambria Math" panose="02040503050406030204" pitchFamily="18" charset="0"/>
                              </a:rPr>
                              <m:t>𝑜</m:t>
                            </m:r>
                          </m:sub>
                        </m:sSub>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𝑉</m:t>
                            </m:r>
                          </m:e>
                          <m:sub>
                            <m:r>
                              <a:rPr lang="en-US" sz="2000" b="0" i="1" smtClean="0">
                                <a:latin typeface="Cambria Math" panose="02040503050406030204" pitchFamily="18" charset="0"/>
                              </a:rPr>
                              <m:t>𝑐</m:t>
                            </m:r>
                          </m:sub>
                        </m:sSub>
                      </m:e>
                    </m:d>
                  </m:oMath>
                </a14:m>
                <a:r>
                  <a:rPr lang="en-US" sz="2000" dirty="0"/>
                  <a:t>: Differentiation value of our product</a:t>
                </a:r>
              </a:p>
              <a:p>
                <a:endParaRPr lang="en-US" sz="2000" dirty="0"/>
              </a:p>
              <a:p>
                <a:r>
                  <a:rPr lang="en-US" sz="2000" dirty="0"/>
                  <a:t>Willing to pay up to:</a:t>
                </a:r>
              </a:p>
              <a:p>
                <a:pPr marL="0" indent="0">
                  <a:buNone/>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rPr>
                        <m:t>𝐸𝑐𝑜𝑛𝑜𝑚𝑖𝑐</m:t>
                      </m:r>
                      <m:r>
                        <a:rPr lang="en-US" sz="2000" b="0" i="1" smtClean="0">
                          <a:latin typeface="Cambria Math" panose="02040503050406030204" pitchFamily="18" charset="0"/>
                        </a:rPr>
                        <m:t> </m:t>
                      </m:r>
                      <m:r>
                        <a:rPr lang="en-US" sz="2000" b="0" i="1" smtClean="0">
                          <a:latin typeface="Cambria Math" panose="02040503050406030204" pitchFamily="18" charset="0"/>
                        </a:rPr>
                        <m:t>𝑉𝑎𝑙𝑢</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𝑒</m:t>
                          </m:r>
                        </m:e>
                        <m:sub>
                          <m:r>
                            <a:rPr lang="en-US" sz="2000" b="0" i="1" smtClean="0">
                              <a:latin typeface="Cambria Math" panose="02040503050406030204" pitchFamily="18" charset="0"/>
                            </a:rPr>
                            <m:t>𝑜</m:t>
                          </m:r>
                        </m:sub>
                      </m:sSub>
                      <m:r>
                        <a:rPr lang="en-US" sz="2000" b="0" i="1" smtClean="0">
                          <a:latin typeface="Cambria Math" panose="02040503050406030204" pitchFamily="18" charset="0"/>
                        </a:rPr>
                        <m:t>=</m:t>
                      </m:r>
                      <m:d>
                        <m:dPr>
                          <m:begChr m:val="["/>
                          <m:endChr m:val="]"/>
                          <m:ctrlPr>
                            <a:rPr lang="en-US" sz="2000" b="0" i="1" smtClean="0">
                              <a:latin typeface="Cambria Math" panose="02040503050406030204" pitchFamily="18" charset="0"/>
                            </a:rPr>
                          </m:ctrlPr>
                        </m:dPr>
                        <m:e>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𝑉</m:t>
                              </m:r>
                            </m:e>
                            <m:sub>
                              <m:r>
                                <a:rPr lang="en-US" sz="2000" b="0" i="1" smtClean="0">
                                  <a:latin typeface="Cambria Math" panose="02040503050406030204" pitchFamily="18" charset="0"/>
                                </a:rPr>
                                <m:t>𝑜</m:t>
                              </m:r>
                            </m:sub>
                          </m:sSub>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𝑉</m:t>
                              </m:r>
                            </m:e>
                            <m:sub>
                              <m:r>
                                <a:rPr lang="en-US" sz="2000" b="0" i="1" smtClean="0">
                                  <a:latin typeface="Cambria Math" panose="02040503050406030204" pitchFamily="18" charset="0"/>
                                </a:rPr>
                                <m:t>𝑐</m:t>
                              </m:r>
                            </m:sub>
                          </m:sSub>
                        </m:e>
                      </m:d>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𝑃</m:t>
                          </m:r>
                        </m:e>
                        <m:sub>
                          <m:r>
                            <a:rPr lang="en-US" sz="2000" b="0" i="1" smtClean="0">
                              <a:latin typeface="Cambria Math" panose="02040503050406030204" pitchFamily="18" charset="0"/>
                            </a:rPr>
                            <m:t>𝑐</m:t>
                          </m:r>
                        </m:sub>
                      </m:sSub>
                    </m:oMath>
                  </m:oMathPara>
                </a14:m>
                <a:endParaRPr lang="en-US" sz="2000" dirty="0"/>
              </a:p>
              <a:p>
                <a:pPr marL="0" indent="0">
                  <a:buNone/>
                </a:pPr>
                <a:endParaRPr lang="en-US" sz="2000" dirty="0"/>
              </a:p>
              <a:p>
                <a:endParaRPr lang="en-US" sz="2000" dirty="0"/>
              </a:p>
              <a:p>
                <a:endParaRPr lang="en-US" sz="2000" b="0" dirty="0"/>
              </a:p>
            </p:txBody>
          </p:sp>
        </mc:Choice>
        <mc:Fallback xmlns="">
          <p:sp>
            <p:nvSpPr>
              <p:cNvPr id="4" name="Text Placeholder 3">
                <a:extLst>
                  <a:ext uri="{FF2B5EF4-FFF2-40B4-BE49-F238E27FC236}">
                    <a16:creationId xmlns:a16="http://schemas.microsoft.com/office/drawing/2014/main" id="{D8ECCB27-2356-E094-BEAD-D38C04664066}"/>
                  </a:ext>
                </a:extLst>
              </p:cNvPr>
              <p:cNvSpPr>
                <a:spLocks noGrp="1" noRot="1" noChangeAspect="1" noMove="1" noResize="1" noEditPoints="1" noAdjustHandles="1" noChangeArrowheads="1" noChangeShapeType="1" noTextEdit="1"/>
              </p:cNvSpPr>
              <p:nvPr>
                <p:ph type="body" sz="quarter" idx="14"/>
              </p:nvPr>
            </p:nvSpPr>
            <p:spPr>
              <a:xfrm>
                <a:off x="1828800" y="1579419"/>
                <a:ext cx="8949128" cy="3749508"/>
              </a:xfrm>
              <a:blipFill>
                <a:blip r:embed="rId3"/>
                <a:stretch>
                  <a:fillRect l="-1702" t="-2027"/>
                </a:stretch>
              </a:blipFill>
            </p:spPr>
            <p:txBody>
              <a:bodyPr/>
              <a:lstStyle/>
              <a:p>
                <a:r>
                  <a:rPr lang="en-US">
                    <a:noFill/>
                  </a:rPr>
                  <a:t> </a:t>
                </a:r>
              </a:p>
            </p:txBody>
          </p:sp>
        </mc:Fallback>
      </mc:AlternateContent>
      <p:sp>
        <p:nvSpPr>
          <p:cNvPr id="5" name="Date Placeholder 4">
            <a:extLst>
              <a:ext uri="{FF2B5EF4-FFF2-40B4-BE49-F238E27FC236}">
                <a16:creationId xmlns:a16="http://schemas.microsoft.com/office/drawing/2014/main" id="{F303607C-BF5F-2970-DA08-1D6BB60B2357}"/>
              </a:ext>
            </a:extLst>
          </p:cNvPr>
          <p:cNvSpPr>
            <a:spLocks noGrp="1"/>
          </p:cNvSpPr>
          <p:nvPr>
            <p:ph type="dt" sz="half" idx="10"/>
          </p:nvPr>
        </p:nvSpPr>
        <p:spPr/>
        <p:txBody>
          <a:bodyPr/>
          <a:lstStyle/>
          <a:p>
            <a:fld id="{D47A9A36-4EB0-BF46-AE48-7CDA251B954B}" type="datetime1">
              <a:rPr lang="en-US" smtClean="0"/>
              <a:t>10/31/2025</a:t>
            </a:fld>
            <a:endParaRPr lang="en-US" dirty="0"/>
          </a:p>
        </p:txBody>
      </p:sp>
      <p:sp>
        <p:nvSpPr>
          <p:cNvPr id="6" name="Slide Number Placeholder 5">
            <a:extLst>
              <a:ext uri="{FF2B5EF4-FFF2-40B4-BE49-F238E27FC236}">
                <a16:creationId xmlns:a16="http://schemas.microsoft.com/office/drawing/2014/main" id="{690FED94-6FDA-FA78-26F9-0A2668ECF7F8}"/>
              </a:ext>
            </a:extLst>
          </p:cNvPr>
          <p:cNvSpPr>
            <a:spLocks noGrp="1"/>
          </p:cNvSpPr>
          <p:nvPr>
            <p:ph type="sldNum" sz="quarter" idx="12"/>
          </p:nvPr>
        </p:nvSpPr>
        <p:spPr/>
        <p:txBody>
          <a:bodyPr/>
          <a:lstStyle/>
          <a:p>
            <a:fld id="{8A7A6979-0714-4377-B894-6BE4C2D6E202}" type="slidenum">
              <a:rPr lang="en-US" smtClean="0"/>
              <a:pPr/>
              <a:t>6</a:t>
            </a:fld>
            <a:endParaRPr lang="en-US" dirty="0"/>
          </a:p>
        </p:txBody>
      </p:sp>
    </p:spTree>
    <p:extLst>
      <p:ext uri="{BB962C8B-B14F-4D97-AF65-F5344CB8AC3E}">
        <p14:creationId xmlns:p14="http://schemas.microsoft.com/office/powerpoint/2010/main" val="386991865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C34FFA-0197-FF58-9B4C-07F999B2C3B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133411-5C91-37F6-CD89-C800E776CEDB}"/>
              </a:ext>
            </a:extLst>
          </p:cNvPr>
          <p:cNvSpPr>
            <a:spLocks noGrp="1"/>
          </p:cNvSpPr>
          <p:nvPr>
            <p:ph type="ctrTitle"/>
          </p:nvPr>
        </p:nvSpPr>
        <p:spPr/>
        <p:txBody>
          <a:bodyPr/>
          <a:lstStyle/>
          <a:p>
            <a:r>
              <a:rPr lang="en-US" dirty="0"/>
              <a:t>Economic Value to the Customer, Part 4</a:t>
            </a:r>
          </a:p>
        </p:txBody>
      </p:sp>
      <p:sp>
        <p:nvSpPr>
          <p:cNvPr id="4" name="Text Placeholder 3">
            <a:extLst>
              <a:ext uri="{FF2B5EF4-FFF2-40B4-BE49-F238E27FC236}">
                <a16:creationId xmlns:a16="http://schemas.microsoft.com/office/drawing/2014/main" id="{25997535-4734-2B20-19EE-FD4A6413780B}"/>
              </a:ext>
            </a:extLst>
          </p:cNvPr>
          <p:cNvSpPr>
            <a:spLocks noGrp="1"/>
          </p:cNvSpPr>
          <p:nvPr>
            <p:ph type="body" sz="quarter" idx="14"/>
          </p:nvPr>
        </p:nvSpPr>
        <p:spPr>
          <a:xfrm>
            <a:off x="1828800" y="1579419"/>
            <a:ext cx="8949128" cy="3749508"/>
          </a:xfrm>
        </p:spPr>
        <p:txBody>
          <a:bodyPr>
            <a:normAutofit/>
          </a:bodyPr>
          <a:lstStyle/>
          <a:p>
            <a:r>
              <a:rPr lang="en-US" sz="2000" dirty="0"/>
              <a:t>Useful way to reason about the value our product creates for customers</a:t>
            </a:r>
          </a:p>
          <a:p>
            <a:pPr lvl="1"/>
            <a:r>
              <a:rPr lang="en-US" sz="2000" dirty="0"/>
              <a:t>How does this solve a problem better than competitor?</a:t>
            </a:r>
          </a:p>
          <a:p>
            <a:pPr lvl="1"/>
            <a:r>
              <a:rPr lang="en-US" sz="2000" dirty="0"/>
              <a:t>How does our competitors price impact the value of our offering?</a:t>
            </a:r>
          </a:p>
          <a:p>
            <a:endParaRPr lang="en-US" sz="2000" dirty="0"/>
          </a:p>
          <a:p>
            <a:r>
              <a:rPr lang="en-US" sz="2000" dirty="0"/>
              <a:t>EVC summarizes the value created by our offering</a:t>
            </a:r>
          </a:p>
          <a:p>
            <a:pPr lvl="1"/>
            <a:r>
              <a:rPr lang="en-US" sz="2000" dirty="0"/>
              <a:t>Corresponds to a theoretical upper bound of how much customer will pay</a:t>
            </a:r>
          </a:p>
          <a:p>
            <a:pPr marL="0" indent="0">
              <a:buNone/>
            </a:pPr>
            <a:endParaRPr lang="en-US" sz="2000" dirty="0"/>
          </a:p>
        </p:txBody>
      </p:sp>
      <p:sp>
        <p:nvSpPr>
          <p:cNvPr id="5" name="Date Placeholder 4">
            <a:extLst>
              <a:ext uri="{FF2B5EF4-FFF2-40B4-BE49-F238E27FC236}">
                <a16:creationId xmlns:a16="http://schemas.microsoft.com/office/drawing/2014/main" id="{3FEA340A-256B-585E-E996-96CAC18B536A}"/>
              </a:ext>
            </a:extLst>
          </p:cNvPr>
          <p:cNvSpPr>
            <a:spLocks noGrp="1"/>
          </p:cNvSpPr>
          <p:nvPr>
            <p:ph type="dt" sz="half" idx="10"/>
          </p:nvPr>
        </p:nvSpPr>
        <p:spPr/>
        <p:txBody>
          <a:bodyPr/>
          <a:lstStyle/>
          <a:p>
            <a:fld id="{D47A9A36-4EB0-BF46-AE48-7CDA251B954B}" type="datetime1">
              <a:rPr lang="en-US" smtClean="0"/>
              <a:t>10/31/2025</a:t>
            </a:fld>
            <a:endParaRPr lang="en-US" dirty="0"/>
          </a:p>
        </p:txBody>
      </p:sp>
      <p:sp>
        <p:nvSpPr>
          <p:cNvPr id="6" name="Slide Number Placeholder 5">
            <a:extLst>
              <a:ext uri="{FF2B5EF4-FFF2-40B4-BE49-F238E27FC236}">
                <a16:creationId xmlns:a16="http://schemas.microsoft.com/office/drawing/2014/main" id="{C233DF68-F99F-82CF-EC8B-153672D4DB92}"/>
              </a:ext>
            </a:extLst>
          </p:cNvPr>
          <p:cNvSpPr>
            <a:spLocks noGrp="1"/>
          </p:cNvSpPr>
          <p:nvPr>
            <p:ph type="sldNum" sz="quarter" idx="12"/>
          </p:nvPr>
        </p:nvSpPr>
        <p:spPr/>
        <p:txBody>
          <a:bodyPr/>
          <a:lstStyle/>
          <a:p>
            <a:fld id="{8A7A6979-0714-4377-B894-6BE4C2D6E202}" type="slidenum">
              <a:rPr lang="en-US" smtClean="0"/>
              <a:pPr/>
              <a:t>7</a:t>
            </a:fld>
            <a:endParaRPr lang="en-US" dirty="0"/>
          </a:p>
        </p:txBody>
      </p:sp>
    </p:spTree>
    <p:extLst>
      <p:ext uri="{BB962C8B-B14F-4D97-AF65-F5344CB8AC3E}">
        <p14:creationId xmlns:p14="http://schemas.microsoft.com/office/powerpoint/2010/main" val="156940071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D337E8-56D5-EC52-A52A-EEDA87C5B9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A05F959-B4E7-5118-2B77-8756F3DFAFF0}"/>
              </a:ext>
            </a:extLst>
          </p:cNvPr>
          <p:cNvSpPr>
            <a:spLocks noGrp="1"/>
          </p:cNvSpPr>
          <p:nvPr>
            <p:ph type="ctrTitle"/>
          </p:nvPr>
        </p:nvSpPr>
        <p:spPr/>
        <p:txBody>
          <a:bodyPr/>
          <a:lstStyle/>
          <a:p>
            <a:r>
              <a:rPr lang="en-US" dirty="0"/>
              <a:t>A Concrete Example – Hydroponic Tulips</a:t>
            </a:r>
          </a:p>
        </p:txBody>
      </p:sp>
      <p:sp>
        <p:nvSpPr>
          <p:cNvPr id="4" name="Text Placeholder 3">
            <a:extLst>
              <a:ext uri="{FF2B5EF4-FFF2-40B4-BE49-F238E27FC236}">
                <a16:creationId xmlns:a16="http://schemas.microsoft.com/office/drawing/2014/main" id="{C96374DE-7F8E-49C6-8AB1-63D40720AFE4}"/>
              </a:ext>
            </a:extLst>
          </p:cNvPr>
          <p:cNvSpPr>
            <a:spLocks noGrp="1"/>
          </p:cNvSpPr>
          <p:nvPr>
            <p:ph type="body" sz="quarter" idx="14"/>
          </p:nvPr>
        </p:nvSpPr>
        <p:spPr>
          <a:xfrm>
            <a:off x="1828801" y="1579419"/>
            <a:ext cx="4853354" cy="3749508"/>
          </a:xfrm>
        </p:spPr>
        <p:txBody>
          <a:bodyPr>
            <a:normAutofit/>
          </a:bodyPr>
          <a:lstStyle/>
          <a:p>
            <a:r>
              <a:rPr lang="en-US" sz="2000" dirty="0"/>
              <a:t>New container named </a:t>
            </a:r>
            <a:r>
              <a:rPr lang="en-US" sz="2000" dirty="0" err="1"/>
              <a:t>TulipBowl</a:t>
            </a:r>
            <a:r>
              <a:rPr lang="en-US" sz="2000" dirty="0"/>
              <a:t> allows tulip farmers to grow tulips hydroponically</a:t>
            </a:r>
          </a:p>
          <a:p>
            <a:pPr lvl="1"/>
            <a:r>
              <a:rPr lang="en-US" sz="2000" dirty="0"/>
              <a:t>Use water rather than soil to grow bulbs</a:t>
            </a:r>
          </a:p>
          <a:p>
            <a:endParaRPr lang="en-US" sz="2000" dirty="0"/>
          </a:p>
          <a:p>
            <a:r>
              <a:rPr lang="en-US" sz="2000" dirty="0"/>
              <a:t>Current tulip growing containers retail at $10 each</a:t>
            </a:r>
          </a:p>
          <a:p>
            <a:endParaRPr lang="en-US" sz="2000" dirty="0"/>
          </a:p>
          <a:p>
            <a:r>
              <a:rPr lang="en-US" sz="2000" dirty="0"/>
              <a:t>New container:</a:t>
            </a:r>
          </a:p>
          <a:p>
            <a:pPr lvl="1"/>
            <a:r>
              <a:rPr lang="en-US" sz="2000" dirty="0"/>
              <a:t>Increases yield (reduces waste)</a:t>
            </a:r>
          </a:p>
          <a:p>
            <a:pPr lvl="1"/>
            <a:r>
              <a:rPr lang="en-US" sz="2000" dirty="0"/>
              <a:t>Uses cheaper mineral nutrients vs pesticides</a:t>
            </a:r>
          </a:p>
        </p:txBody>
      </p:sp>
      <p:pic>
        <p:nvPicPr>
          <p:cNvPr id="7" name="Picture 6" descr="A modern hydroponic setup growing colorful tulips in a transparent rectangular container. The bulbs and roots are visible in water below, while colorful tulip flowers bloom under bright LED grow lights.">
            <a:extLst>
              <a:ext uri="{FF2B5EF4-FFF2-40B4-BE49-F238E27FC236}">
                <a16:creationId xmlns:a16="http://schemas.microsoft.com/office/drawing/2014/main" id="{1EFA1C36-2B41-52AB-F906-9262F902627E}"/>
              </a:ext>
            </a:extLst>
          </p:cNvPr>
          <p:cNvPicPr>
            <a:picLocks noChangeAspect="1"/>
          </p:cNvPicPr>
          <p:nvPr/>
        </p:nvPicPr>
        <p:blipFill>
          <a:blip r:embed="rId3"/>
          <a:stretch>
            <a:fillRect/>
          </a:stretch>
        </p:blipFill>
        <p:spPr>
          <a:xfrm>
            <a:off x="7105277" y="1169031"/>
            <a:ext cx="4663831" cy="4663831"/>
          </a:xfrm>
          <a:prstGeom prst="rect">
            <a:avLst/>
          </a:prstGeom>
        </p:spPr>
      </p:pic>
      <p:sp>
        <p:nvSpPr>
          <p:cNvPr id="5" name="Date Placeholder 4">
            <a:extLst>
              <a:ext uri="{FF2B5EF4-FFF2-40B4-BE49-F238E27FC236}">
                <a16:creationId xmlns:a16="http://schemas.microsoft.com/office/drawing/2014/main" id="{FAD1E8F5-D50B-0A6B-CFF7-267165680E21}"/>
              </a:ext>
            </a:extLst>
          </p:cNvPr>
          <p:cNvSpPr>
            <a:spLocks noGrp="1"/>
          </p:cNvSpPr>
          <p:nvPr>
            <p:ph type="dt" sz="half" idx="10"/>
          </p:nvPr>
        </p:nvSpPr>
        <p:spPr/>
        <p:txBody>
          <a:bodyPr/>
          <a:lstStyle/>
          <a:p>
            <a:fld id="{D47A9A36-4EB0-BF46-AE48-7CDA251B954B}" type="datetime1">
              <a:rPr lang="en-US" smtClean="0"/>
              <a:t>10/31/2025</a:t>
            </a:fld>
            <a:endParaRPr lang="en-US" dirty="0"/>
          </a:p>
        </p:txBody>
      </p:sp>
      <p:sp>
        <p:nvSpPr>
          <p:cNvPr id="6" name="Slide Number Placeholder 5">
            <a:extLst>
              <a:ext uri="{FF2B5EF4-FFF2-40B4-BE49-F238E27FC236}">
                <a16:creationId xmlns:a16="http://schemas.microsoft.com/office/drawing/2014/main" id="{C639C801-3FEA-415E-05FA-0270E944E55B}"/>
              </a:ext>
            </a:extLst>
          </p:cNvPr>
          <p:cNvSpPr>
            <a:spLocks noGrp="1"/>
          </p:cNvSpPr>
          <p:nvPr>
            <p:ph type="sldNum" sz="quarter" idx="12"/>
          </p:nvPr>
        </p:nvSpPr>
        <p:spPr/>
        <p:txBody>
          <a:bodyPr/>
          <a:lstStyle/>
          <a:p>
            <a:fld id="{8A7A6979-0714-4377-B894-6BE4C2D6E202}" type="slidenum">
              <a:rPr lang="en-US" smtClean="0"/>
              <a:pPr/>
              <a:t>8</a:t>
            </a:fld>
            <a:endParaRPr lang="en-US" dirty="0"/>
          </a:p>
        </p:txBody>
      </p:sp>
    </p:spTree>
    <p:extLst>
      <p:ext uri="{BB962C8B-B14F-4D97-AF65-F5344CB8AC3E}">
        <p14:creationId xmlns:p14="http://schemas.microsoft.com/office/powerpoint/2010/main" val="5132922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470BE2-34E3-8EA0-0015-B7A936F9CA0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EF09F67-5072-DE4B-F883-88C7C7EB8747}"/>
              </a:ext>
            </a:extLst>
          </p:cNvPr>
          <p:cNvSpPr>
            <a:spLocks noGrp="1"/>
          </p:cNvSpPr>
          <p:nvPr>
            <p:ph type="ctrTitle"/>
          </p:nvPr>
        </p:nvSpPr>
        <p:spPr/>
        <p:txBody>
          <a:bodyPr/>
          <a:lstStyle/>
          <a:p>
            <a:r>
              <a:rPr lang="en-US" dirty="0"/>
              <a:t>A Concrete Example – Hydroponic Tulips, Part 2</a:t>
            </a:r>
          </a:p>
        </p:txBody>
      </p:sp>
      <p:graphicFrame>
        <p:nvGraphicFramePr>
          <p:cNvPr id="8" name="Table 7">
            <a:extLst>
              <a:ext uri="{FF2B5EF4-FFF2-40B4-BE49-F238E27FC236}">
                <a16:creationId xmlns:a16="http://schemas.microsoft.com/office/drawing/2014/main" id="{116288E6-49A2-D4FE-06D6-B5CDA9315AAE}"/>
              </a:ext>
            </a:extLst>
          </p:cNvPr>
          <p:cNvGraphicFramePr>
            <a:graphicFrameLocks noGrp="1"/>
          </p:cNvGraphicFramePr>
          <p:nvPr>
            <p:extLst>
              <p:ext uri="{D42A27DB-BD31-4B8C-83A1-F6EECF244321}">
                <p14:modId xmlns:p14="http://schemas.microsoft.com/office/powerpoint/2010/main" val="3517768829"/>
              </p:ext>
            </p:extLst>
          </p:nvPr>
        </p:nvGraphicFramePr>
        <p:xfrm>
          <a:off x="3791540" y="1118110"/>
          <a:ext cx="5400431" cy="2931160"/>
        </p:xfrm>
        <a:graphic>
          <a:graphicData uri="http://schemas.openxmlformats.org/drawingml/2006/table">
            <a:tbl>
              <a:tblPr firstRow="1" bandRow="1">
                <a:tableStyleId>{5C22544A-7EE6-4342-B048-85BDC9FD1C3A}</a:tableStyleId>
              </a:tblPr>
              <a:tblGrid>
                <a:gridCol w="1180123">
                  <a:extLst>
                    <a:ext uri="{9D8B030D-6E8A-4147-A177-3AD203B41FA5}">
                      <a16:colId xmlns:a16="http://schemas.microsoft.com/office/drawing/2014/main" val="1335919889"/>
                    </a:ext>
                  </a:extLst>
                </a:gridCol>
                <a:gridCol w="1899139">
                  <a:extLst>
                    <a:ext uri="{9D8B030D-6E8A-4147-A177-3AD203B41FA5}">
                      <a16:colId xmlns:a16="http://schemas.microsoft.com/office/drawing/2014/main" val="376495446"/>
                    </a:ext>
                  </a:extLst>
                </a:gridCol>
                <a:gridCol w="1219200">
                  <a:extLst>
                    <a:ext uri="{9D8B030D-6E8A-4147-A177-3AD203B41FA5}">
                      <a16:colId xmlns:a16="http://schemas.microsoft.com/office/drawing/2014/main" val="2443106811"/>
                    </a:ext>
                  </a:extLst>
                </a:gridCol>
                <a:gridCol w="1101969">
                  <a:extLst>
                    <a:ext uri="{9D8B030D-6E8A-4147-A177-3AD203B41FA5}">
                      <a16:colId xmlns:a16="http://schemas.microsoft.com/office/drawing/2014/main" val="595018119"/>
                    </a:ext>
                  </a:extLst>
                </a:gridCol>
              </a:tblGrid>
              <a:tr h="370840">
                <a:tc>
                  <a:txBody>
                    <a:bodyPr/>
                    <a:lstStyle/>
                    <a:p>
                      <a:r>
                        <a:rPr lang="en-US" dirty="0"/>
                        <a:t>Feature</a:t>
                      </a:r>
                    </a:p>
                  </a:txBody>
                  <a:tcPr/>
                </a:tc>
                <a:tc>
                  <a:txBody>
                    <a:bodyPr/>
                    <a:lstStyle/>
                    <a:p>
                      <a:r>
                        <a:rPr lang="en-US" dirty="0"/>
                        <a:t>Existing Container</a:t>
                      </a:r>
                    </a:p>
                  </a:txBody>
                  <a:tcPr/>
                </a:tc>
                <a:tc>
                  <a:txBody>
                    <a:bodyPr/>
                    <a:lstStyle/>
                    <a:p>
                      <a:r>
                        <a:rPr lang="en-US" dirty="0"/>
                        <a:t>New Container</a:t>
                      </a:r>
                    </a:p>
                  </a:txBody>
                  <a:tcPr/>
                </a:tc>
                <a:tc>
                  <a:txBody>
                    <a:bodyPr/>
                    <a:lstStyle/>
                    <a:p>
                      <a:r>
                        <a:rPr lang="en-US" dirty="0"/>
                        <a:t>Diff Value</a:t>
                      </a:r>
                    </a:p>
                  </a:txBody>
                  <a:tcPr/>
                </a:tc>
                <a:extLst>
                  <a:ext uri="{0D108BD9-81ED-4DB2-BD59-A6C34878D82A}">
                    <a16:rowId xmlns:a16="http://schemas.microsoft.com/office/drawing/2014/main" val="3964719508"/>
                  </a:ext>
                </a:extLst>
              </a:tr>
              <a:tr h="370840">
                <a:tc>
                  <a:txBody>
                    <a:bodyPr/>
                    <a:lstStyle/>
                    <a:p>
                      <a:r>
                        <a:rPr lang="en-US" dirty="0"/>
                        <a:t>Pesticides</a:t>
                      </a:r>
                    </a:p>
                  </a:txBody>
                  <a:tcPr/>
                </a:tc>
                <a:tc>
                  <a:txBody>
                    <a:bodyPr/>
                    <a:lstStyle/>
                    <a:p>
                      <a:r>
                        <a:rPr lang="en-US" dirty="0"/>
                        <a:t>$2.50</a:t>
                      </a:r>
                    </a:p>
                  </a:txBody>
                  <a:tcPr/>
                </a:tc>
                <a:tc>
                  <a:txBody>
                    <a:bodyPr/>
                    <a:lstStyle/>
                    <a:p>
                      <a:r>
                        <a:rPr lang="en-US" dirty="0"/>
                        <a:t>0</a:t>
                      </a:r>
                    </a:p>
                  </a:txBody>
                  <a:tcPr/>
                </a:tc>
                <a:tc>
                  <a:txBody>
                    <a:bodyPr/>
                    <a:lstStyle/>
                    <a:p>
                      <a:r>
                        <a:rPr lang="en-US" dirty="0"/>
                        <a:t>$2.50</a:t>
                      </a:r>
                    </a:p>
                  </a:txBody>
                  <a:tcPr/>
                </a:tc>
                <a:extLst>
                  <a:ext uri="{0D108BD9-81ED-4DB2-BD59-A6C34878D82A}">
                    <a16:rowId xmlns:a16="http://schemas.microsoft.com/office/drawing/2014/main" val="515391742"/>
                  </a:ext>
                </a:extLst>
              </a:tr>
              <a:tr h="370840">
                <a:tc>
                  <a:txBody>
                    <a:bodyPr/>
                    <a:lstStyle/>
                    <a:p>
                      <a:r>
                        <a:rPr lang="en-US" dirty="0"/>
                        <a:t>Mineral Solution</a:t>
                      </a:r>
                    </a:p>
                  </a:txBody>
                  <a:tcPr/>
                </a:tc>
                <a:tc>
                  <a:txBody>
                    <a:bodyPr/>
                    <a:lstStyle/>
                    <a:p>
                      <a:r>
                        <a:rPr lang="en-US" dirty="0"/>
                        <a:t>0</a:t>
                      </a:r>
                    </a:p>
                  </a:txBody>
                  <a:tcPr/>
                </a:tc>
                <a:tc>
                  <a:txBody>
                    <a:bodyPr/>
                    <a:lstStyle/>
                    <a:p>
                      <a:r>
                        <a:rPr lang="en-US" dirty="0"/>
                        <a:t>$1.50</a:t>
                      </a:r>
                    </a:p>
                  </a:txBody>
                  <a:tcPr/>
                </a:tc>
                <a:tc>
                  <a:txBody>
                    <a:bodyPr/>
                    <a:lstStyle/>
                    <a:p>
                      <a:r>
                        <a:rPr lang="en-US" dirty="0"/>
                        <a:t>-$1.50</a:t>
                      </a:r>
                    </a:p>
                  </a:txBody>
                  <a:tcPr/>
                </a:tc>
                <a:extLst>
                  <a:ext uri="{0D108BD9-81ED-4DB2-BD59-A6C34878D82A}">
                    <a16:rowId xmlns:a16="http://schemas.microsoft.com/office/drawing/2014/main" val="2912584124"/>
                  </a:ext>
                </a:extLst>
              </a:tr>
              <a:tr h="370840">
                <a:tc>
                  <a:txBody>
                    <a:bodyPr/>
                    <a:lstStyle/>
                    <a:p>
                      <a:r>
                        <a:rPr lang="en-US" dirty="0"/>
                        <a:t>Reduces Disease</a:t>
                      </a:r>
                    </a:p>
                  </a:txBody>
                  <a:tcPr/>
                </a:tc>
                <a:tc>
                  <a:txBody>
                    <a:bodyPr/>
                    <a:lstStyle/>
                    <a:p>
                      <a:r>
                        <a:rPr lang="en-US" dirty="0"/>
                        <a:t>$80 if happens</a:t>
                      </a:r>
                    </a:p>
                    <a:p>
                      <a:r>
                        <a:rPr lang="en-US" dirty="0" err="1"/>
                        <a:t>Pr</a:t>
                      </a:r>
                      <a:r>
                        <a:rPr lang="en-US" dirty="0"/>
                        <a:t>(Disease)=0.1</a:t>
                      </a:r>
                    </a:p>
                  </a:txBody>
                  <a:tcPr/>
                </a:tc>
                <a:tc>
                  <a:txBody>
                    <a:bodyPr/>
                    <a:lstStyle/>
                    <a:p>
                      <a:r>
                        <a:rPr lang="en-US" dirty="0"/>
                        <a:t>0</a:t>
                      </a:r>
                    </a:p>
                  </a:txBody>
                  <a:tcPr/>
                </a:tc>
                <a:tc>
                  <a:txBody>
                    <a:bodyPr/>
                    <a:lstStyle/>
                    <a:p>
                      <a:r>
                        <a:rPr lang="en-US" dirty="0"/>
                        <a:t>$8</a:t>
                      </a:r>
                    </a:p>
                  </a:txBody>
                  <a:tcPr/>
                </a:tc>
                <a:extLst>
                  <a:ext uri="{0D108BD9-81ED-4DB2-BD59-A6C34878D82A}">
                    <a16:rowId xmlns:a16="http://schemas.microsoft.com/office/drawing/2014/main" val="3339129245"/>
                  </a:ext>
                </a:extLst>
              </a:tr>
              <a:tr h="370840">
                <a:tc>
                  <a:txBody>
                    <a:bodyPr/>
                    <a:lstStyle/>
                    <a:p>
                      <a:r>
                        <a:rPr lang="en-US" dirty="0"/>
                        <a:t>Total Diff Value</a:t>
                      </a:r>
                    </a:p>
                  </a:txBody>
                  <a:tcPr/>
                </a:tc>
                <a:tc>
                  <a:txBody>
                    <a:bodyPr/>
                    <a:lstStyle/>
                    <a:p>
                      <a:endParaRPr lang="en-US" dirty="0"/>
                    </a:p>
                  </a:txBody>
                  <a:tcPr/>
                </a:tc>
                <a:tc>
                  <a:txBody>
                    <a:bodyPr/>
                    <a:lstStyle/>
                    <a:p>
                      <a:endParaRPr lang="en-US" dirty="0"/>
                    </a:p>
                  </a:txBody>
                  <a:tcPr/>
                </a:tc>
                <a:tc>
                  <a:txBody>
                    <a:bodyPr/>
                    <a:lstStyle/>
                    <a:p>
                      <a:r>
                        <a:rPr lang="en-US" dirty="0"/>
                        <a:t>$9</a:t>
                      </a:r>
                    </a:p>
                  </a:txBody>
                  <a:tcPr/>
                </a:tc>
                <a:extLst>
                  <a:ext uri="{0D108BD9-81ED-4DB2-BD59-A6C34878D82A}">
                    <a16:rowId xmlns:a16="http://schemas.microsoft.com/office/drawing/2014/main" val="3594286199"/>
                  </a:ext>
                </a:extLst>
              </a:tr>
            </a:tbl>
          </a:graphicData>
        </a:graphic>
      </p:graphicFrame>
      <mc:AlternateContent xmlns:mc="http://schemas.openxmlformats.org/markup-compatibility/2006" xmlns:a14="http://schemas.microsoft.com/office/drawing/2010/main">
        <mc:Choice Requires="a14">
          <p:sp>
            <p:nvSpPr>
              <p:cNvPr id="4" name="Text Placeholder 3">
                <a:extLst>
                  <a:ext uri="{FF2B5EF4-FFF2-40B4-BE49-F238E27FC236}">
                    <a16:creationId xmlns:a16="http://schemas.microsoft.com/office/drawing/2014/main" id="{B8EBFE7C-BBFD-539F-AD31-273BE940B84A}"/>
                  </a:ext>
                </a:extLst>
              </p:cNvPr>
              <p:cNvSpPr>
                <a:spLocks noGrp="1"/>
              </p:cNvSpPr>
              <p:nvPr>
                <p:ph type="body" sz="quarter" idx="14"/>
              </p:nvPr>
            </p:nvSpPr>
            <p:spPr>
              <a:xfrm>
                <a:off x="1828800" y="4397950"/>
                <a:ext cx="9894145" cy="1341939"/>
              </a:xfrm>
            </p:spPr>
            <p:txBody>
              <a:bodyPr>
                <a:normAutofit/>
              </a:bodyPr>
              <a:lstStyle/>
              <a:p>
                <a:r>
                  <a:rPr lang="en-US" sz="2000" dirty="0"/>
                  <a:t>Total differentiation value: $9</a:t>
                </a:r>
              </a:p>
              <a:p>
                <a:endParaRPr lang="en-US" sz="2000" dirty="0"/>
              </a:p>
              <a:p>
                <a:r>
                  <a:rPr lang="en-US" sz="2000" dirty="0"/>
                  <a:t>Cost of alternative: $10</a:t>
                </a:r>
              </a:p>
              <a:p>
                <a:pPr marL="0" indent="0">
                  <a:buNone/>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rPr>
                        <m:t>𝐸𝑉𝐶</m:t>
                      </m:r>
                      <m:r>
                        <a:rPr lang="en-US" sz="2000" b="0" i="1" smtClean="0">
                          <a:latin typeface="Cambria Math" panose="02040503050406030204" pitchFamily="18" charset="0"/>
                        </a:rPr>
                        <m:t>=$9+$10=$19</m:t>
                      </m:r>
                    </m:oMath>
                  </m:oMathPara>
                </a14:m>
                <a:endParaRPr lang="en-US" sz="2000" dirty="0"/>
              </a:p>
            </p:txBody>
          </p:sp>
        </mc:Choice>
        <mc:Fallback xmlns="">
          <p:sp>
            <p:nvSpPr>
              <p:cNvPr id="4" name="Text Placeholder 3">
                <a:extLst>
                  <a:ext uri="{FF2B5EF4-FFF2-40B4-BE49-F238E27FC236}">
                    <a16:creationId xmlns:a16="http://schemas.microsoft.com/office/drawing/2014/main" id="{B8EBFE7C-BBFD-539F-AD31-273BE940B84A}"/>
                  </a:ext>
                </a:extLst>
              </p:cNvPr>
              <p:cNvSpPr>
                <a:spLocks noGrp="1" noRot="1" noChangeAspect="1" noMove="1" noResize="1" noEditPoints="1" noAdjustHandles="1" noChangeArrowheads="1" noChangeShapeType="1" noTextEdit="1"/>
              </p:cNvSpPr>
              <p:nvPr>
                <p:ph type="body" sz="quarter" idx="14"/>
              </p:nvPr>
            </p:nvSpPr>
            <p:spPr>
              <a:xfrm>
                <a:off x="1828800" y="4397950"/>
                <a:ext cx="9894145" cy="1341939"/>
              </a:xfrm>
              <a:blipFill>
                <a:blip r:embed="rId3"/>
                <a:stretch>
                  <a:fillRect l="-1538" t="-6542"/>
                </a:stretch>
              </a:blipFill>
            </p:spPr>
            <p:txBody>
              <a:bodyPr/>
              <a:lstStyle/>
              <a:p>
                <a:r>
                  <a:rPr lang="en-US">
                    <a:noFill/>
                  </a:rPr>
                  <a:t> </a:t>
                </a:r>
              </a:p>
            </p:txBody>
          </p:sp>
        </mc:Fallback>
      </mc:AlternateContent>
      <p:sp>
        <p:nvSpPr>
          <p:cNvPr id="5" name="Date Placeholder 4">
            <a:extLst>
              <a:ext uri="{FF2B5EF4-FFF2-40B4-BE49-F238E27FC236}">
                <a16:creationId xmlns:a16="http://schemas.microsoft.com/office/drawing/2014/main" id="{E73CD2E9-F497-9D34-0B55-54DD724C60C6}"/>
              </a:ext>
            </a:extLst>
          </p:cNvPr>
          <p:cNvSpPr>
            <a:spLocks noGrp="1"/>
          </p:cNvSpPr>
          <p:nvPr>
            <p:ph type="dt" sz="half" idx="10"/>
          </p:nvPr>
        </p:nvSpPr>
        <p:spPr/>
        <p:txBody>
          <a:bodyPr/>
          <a:lstStyle/>
          <a:p>
            <a:fld id="{D47A9A36-4EB0-BF46-AE48-7CDA251B954B}" type="datetime1">
              <a:rPr lang="en-US" smtClean="0"/>
              <a:t>10/31/2025</a:t>
            </a:fld>
            <a:endParaRPr lang="en-US" dirty="0"/>
          </a:p>
        </p:txBody>
      </p:sp>
      <p:sp>
        <p:nvSpPr>
          <p:cNvPr id="6" name="Slide Number Placeholder 5">
            <a:extLst>
              <a:ext uri="{FF2B5EF4-FFF2-40B4-BE49-F238E27FC236}">
                <a16:creationId xmlns:a16="http://schemas.microsoft.com/office/drawing/2014/main" id="{D814E09C-071A-2A5C-8587-65E820610146}"/>
              </a:ext>
            </a:extLst>
          </p:cNvPr>
          <p:cNvSpPr>
            <a:spLocks noGrp="1"/>
          </p:cNvSpPr>
          <p:nvPr>
            <p:ph type="sldNum" sz="quarter" idx="12"/>
          </p:nvPr>
        </p:nvSpPr>
        <p:spPr/>
        <p:txBody>
          <a:bodyPr/>
          <a:lstStyle/>
          <a:p>
            <a:fld id="{8A7A6979-0714-4377-B894-6BE4C2D6E202}" type="slidenum">
              <a:rPr lang="en-US" smtClean="0"/>
              <a:pPr/>
              <a:t>9</a:t>
            </a:fld>
            <a:endParaRPr lang="en-US" dirty="0"/>
          </a:p>
        </p:txBody>
      </p:sp>
    </p:spTree>
    <p:extLst>
      <p:ext uri="{BB962C8B-B14F-4D97-AF65-F5344CB8AC3E}">
        <p14:creationId xmlns:p14="http://schemas.microsoft.com/office/powerpoint/2010/main" val="5047441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7D2DEF-7982-7C99-E309-BF252D5AD3A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A36E7C8-0CB2-EB5F-6315-453C0A001ECC}"/>
              </a:ext>
            </a:extLst>
          </p:cNvPr>
          <p:cNvSpPr>
            <a:spLocks noGrp="1"/>
          </p:cNvSpPr>
          <p:nvPr>
            <p:ph type="ctrTitle"/>
          </p:nvPr>
        </p:nvSpPr>
        <p:spPr>
          <a:xfrm>
            <a:off x="2107520" y="437030"/>
            <a:ext cx="7988980" cy="332399"/>
          </a:xfrm>
        </p:spPr>
        <p:txBody>
          <a:bodyPr/>
          <a:lstStyle/>
          <a:p>
            <a:r>
              <a:rPr lang="en-US" dirty="0"/>
              <a:t>Step-by-Step Guide</a:t>
            </a:r>
          </a:p>
        </p:txBody>
      </p:sp>
      <p:sp>
        <p:nvSpPr>
          <p:cNvPr id="4" name="Text Placeholder 3">
            <a:extLst>
              <a:ext uri="{FF2B5EF4-FFF2-40B4-BE49-F238E27FC236}">
                <a16:creationId xmlns:a16="http://schemas.microsoft.com/office/drawing/2014/main" id="{2809209D-C0A4-267B-A22B-701462FF426B}"/>
              </a:ext>
            </a:extLst>
          </p:cNvPr>
          <p:cNvSpPr>
            <a:spLocks noGrp="1"/>
          </p:cNvSpPr>
          <p:nvPr>
            <p:ph type="body" sz="quarter" idx="14"/>
          </p:nvPr>
        </p:nvSpPr>
        <p:spPr>
          <a:xfrm>
            <a:off x="1828800" y="1579419"/>
            <a:ext cx="8949128" cy="3749508"/>
          </a:xfrm>
        </p:spPr>
        <p:txBody>
          <a:bodyPr>
            <a:normAutofit/>
          </a:bodyPr>
          <a:lstStyle/>
          <a:p>
            <a:pPr marL="457200" indent="-457200">
              <a:buFont typeface="+mj-lt"/>
              <a:buAutoNum type="arabicPeriod"/>
            </a:pPr>
            <a:r>
              <a:rPr lang="en-US" sz="2000" dirty="0"/>
              <a:t>Identify the end benefit</a:t>
            </a:r>
          </a:p>
          <a:p>
            <a:pPr marL="457200" indent="-457200">
              <a:buFont typeface="+mj-lt"/>
              <a:buAutoNum type="arabicPeriod"/>
            </a:pPr>
            <a:endParaRPr lang="en-US" sz="2000" dirty="0"/>
          </a:p>
          <a:p>
            <a:pPr marL="457200" indent="-457200">
              <a:buFont typeface="+mj-lt"/>
              <a:buAutoNum type="arabicPeriod"/>
            </a:pPr>
            <a:r>
              <a:rPr lang="en-US" sz="2000" dirty="0"/>
              <a:t>Identify the closest competitor</a:t>
            </a:r>
          </a:p>
          <a:p>
            <a:pPr marL="457200" indent="-457200">
              <a:buFont typeface="+mj-lt"/>
              <a:buAutoNum type="arabicPeriod"/>
            </a:pPr>
            <a:endParaRPr lang="en-US" sz="2000" dirty="0"/>
          </a:p>
          <a:p>
            <a:pPr marL="457200" indent="-457200">
              <a:buFont typeface="+mj-lt"/>
              <a:buAutoNum type="arabicPeriod"/>
            </a:pPr>
            <a:r>
              <a:rPr lang="en-US" sz="2000" dirty="0"/>
              <a:t>Identify closest competitor’s price</a:t>
            </a:r>
          </a:p>
          <a:p>
            <a:pPr marL="457200" indent="-457200">
              <a:buFont typeface="+mj-lt"/>
              <a:buAutoNum type="arabicPeriod"/>
            </a:pPr>
            <a:endParaRPr lang="en-US" sz="2000" dirty="0"/>
          </a:p>
          <a:p>
            <a:pPr marL="457200" indent="-457200">
              <a:buFont typeface="+mj-lt"/>
              <a:buAutoNum type="arabicPeriod"/>
            </a:pPr>
            <a:r>
              <a:rPr lang="en-US" sz="2000" dirty="0"/>
              <a:t>Measure differentiation values</a:t>
            </a:r>
          </a:p>
          <a:p>
            <a:pPr marL="457200" indent="-457200">
              <a:buFont typeface="+mj-lt"/>
              <a:buAutoNum type="arabicPeriod"/>
            </a:pPr>
            <a:endParaRPr lang="en-US" sz="2000" dirty="0"/>
          </a:p>
          <a:p>
            <a:pPr marL="457200" indent="-457200">
              <a:buFont typeface="+mj-lt"/>
              <a:buAutoNum type="arabicPeriod"/>
            </a:pPr>
            <a:r>
              <a:rPr lang="en-US" sz="2000" dirty="0"/>
              <a:t>Calculate EVC</a:t>
            </a:r>
          </a:p>
          <a:p>
            <a:pPr marL="457200" indent="-457200">
              <a:buFont typeface="+mj-lt"/>
              <a:buAutoNum type="arabicPeriod"/>
            </a:pPr>
            <a:endParaRPr lang="en-US" sz="2000" dirty="0"/>
          </a:p>
          <a:p>
            <a:pPr marL="457200" indent="-457200">
              <a:buFont typeface="+mj-lt"/>
              <a:buAutoNum type="arabicPeriod"/>
            </a:pPr>
            <a:r>
              <a:rPr lang="en-US" sz="2000" dirty="0"/>
              <a:t>Repeat for various configurations and customer segments</a:t>
            </a:r>
          </a:p>
        </p:txBody>
      </p:sp>
      <p:sp>
        <p:nvSpPr>
          <p:cNvPr id="5" name="Date Placeholder 4">
            <a:extLst>
              <a:ext uri="{FF2B5EF4-FFF2-40B4-BE49-F238E27FC236}">
                <a16:creationId xmlns:a16="http://schemas.microsoft.com/office/drawing/2014/main" id="{B59D4DFD-20B7-5907-1F1A-31CB1D301879}"/>
              </a:ext>
            </a:extLst>
          </p:cNvPr>
          <p:cNvSpPr>
            <a:spLocks noGrp="1"/>
          </p:cNvSpPr>
          <p:nvPr>
            <p:ph type="dt" sz="half" idx="10"/>
          </p:nvPr>
        </p:nvSpPr>
        <p:spPr/>
        <p:txBody>
          <a:bodyPr/>
          <a:lstStyle/>
          <a:p>
            <a:fld id="{D47A9A36-4EB0-BF46-AE48-7CDA251B954B}" type="datetime1">
              <a:rPr lang="en-US" smtClean="0"/>
              <a:t>10/31/2025</a:t>
            </a:fld>
            <a:endParaRPr lang="en-US" dirty="0"/>
          </a:p>
        </p:txBody>
      </p:sp>
      <p:sp>
        <p:nvSpPr>
          <p:cNvPr id="6" name="Slide Number Placeholder 5">
            <a:extLst>
              <a:ext uri="{FF2B5EF4-FFF2-40B4-BE49-F238E27FC236}">
                <a16:creationId xmlns:a16="http://schemas.microsoft.com/office/drawing/2014/main" id="{CB038277-FC14-31AC-8BD9-026856DA160A}"/>
              </a:ext>
            </a:extLst>
          </p:cNvPr>
          <p:cNvSpPr>
            <a:spLocks noGrp="1"/>
          </p:cNvSpPr>
          <p:nvPr>
            <p:ph type="sldNum" sz="quarter" idx="12"/>
          </p:nvPr>
        </p:nvSpPr>
        <p:spPr/>
        <p:txBody>
          <a:bodyPr/>
          <a:lstStyle/>
          <a:p>
            <a:fld id="{8A7A6979-0714-4377-B894-6BE4C2D6E202}" type="slidenum">
              <a:rPr lang="en-US" smtClean="0"/>
              <a:pPr/>
              <a:t>10</a:t>
            </a:fld>
            <a:endParaRPr lang="en-US" dirty="0"/>
          </a:p>
        </p:txBody>
      </p:sp>
    </p:spTree>
    <p:extLst>
      <p:ext uri="{BB962C8B-B14F-4D97-AF65-F5344CB8AC3E}">
        <p14:creationId xmlns:p14="http://schemas.microsoft.com/office/powerpoint/2010/main" val="26041474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AE11FF-6666-394F-DDEA-C1EC4ED23D9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7FF60AB-B8EA-A67A-9225-CFA961383CE1}"/>
              </a:ext>
            </a:extLst>
          </p:cNvPr>
          <p:cNvSpPr>
            <a:spLocks noGrp="1"/>
          </p:cNvSpPr>
          <p:nvPr>
            <p:ph type="ctrTitle"/>
          </p:nvPr>
        </p:nvSpPr>
        <p:spPr>
          <a:xfrm>
            <a:off x="2107520" y="437030"/>
            <a:ext cx="7988980" cy="332399"/>
          </a:xfrm>
        </p:spPr>
        <p:txBody>
          <a:bodyPr/>
          <a:lstStyle/>
          <a:p>
            <a:r>
              <a:rPr lang="en-US" dirty="0"/>
              <a:t>1. Identify the End Benefit</a:t>
            </a:r>
          </a:p>
        </p:txBody>
      </p:sp>
      <p:sp>
        <p:nvSpPr>
          <p:cNvPr id="4" name="Text Placeholder 3">
            <a:extLst>
              <a:ext uri="{FF2B5EF4-FFF2-40B4-BE49-F238E27FC236}">
                <a16:creationId xmlns:a16="http://schemas.microsoft.com/office/drawing/2014/main" id="{B0B3F35B-C98E-D2F7-2C77-48321C09F7B1}"/>
              </a:ext>
            </a:extLst>
          </p:cNvPr>
          <p:cNvSpPr>
            <a:spLocks noGrp="1"/>
          </p:cNvSpPr>
          <p:nvPr>
            <p:ph type="body" sz="quarter" idx="14"/>
          </p:nvPr>
        </p:nvSpPr>
        <p:spPr>
          <a:xfrm>
            <a:off x="1828800" y="1579419"/>
            <a:ext cx="8949128" cy="3749508"/>
          </a:xfrm>
        </p:spPr>
        <p:txBody>
          <a:bodyPr>
            <a:normAutofit/>
          </a:bodyPr>
          <a:lstStyle/>
          <a:p>
            <a:r>
              <a:rPr lang="en-US" sz="2000" dirty="0"/>
              <a:t>Hopefully we have a clear value proposition for our new product or feature</a:t>
            </a:r>
          </a:p>
          <a:p>
            <a:endParaRPr lang="en-US" sz="2000" dirty="0"/>
          </a:p>
          <a:p>
            <a:r>
              <a:rPr lang="en-US" sz="2000" dirty="0"/>
              <a:t>Ideation process is customer and solution oriented</a:t>
            </a:r>
          </a:p>
          <a:p>
            <a:endParaRPr lang="en-US" sz="2000" dirty="0"/>
          </a:p>
          <a:p>
            <a:r>
              <a:rPr lang="en-US" sz="2000" dirty="0"/>
              <a:t>Should have a clear thesis on how our product delivers value to end user</a:t>
            </a:r>
          </a:p>
          <a:p>
            <a:endParaRPr lang="en-US" sz="2000" dirty="0"/>
          </a:p>
          <a:p>
            <a:endParaRPr lang="en-US" sz="2000" dirty="0"/>
          </a:p>
        </p:txBody>
      </p:sp>
      <p:sp>
        <p:nvSpPr>
          <p:cNvPr id="5" name="Date Placeholder 4">
            <a:extLst>
              <a:ext uri="{FF2B5EF4-FFF2-40B4-BE49-F238E27FC236}">
                <a16:creationId xmlns:a16="http://schemas.microsoft.com/office/drawing/2014/main" id="{CB449321-A836-ECC2-77DF-F09A9554E0E3}"/>
              </a:ext>
            </a:extLst>
          </p:cNvPr>
          <p:cNvSpPr>
            <a:spLocks noGrp="1"/>
          </p:cNvSpPr>
          <p:nvPr>
            <p:ph type="dt" sz="half" idx="10"/>
          </p:nvPr>
        </p:nvSpPr>
        <p:spPr/>
        <p:txBody>
          <a:bodyPr/>
          <a:lstStyle/>
          <a:p>
            <a:fld id="{D47A9A36-4EB0-BF46-AE48-7CDA251B954B}" type="datetime1">
              <a:rPr lang="en-US" smtClean="0"/>
              <a:t>10/31/2025</a:t>
            </a:fld>
            <a:endParaRPr lang="en-US" dirty="0"/>
          </a:p>
        </p:txBody>
      </p:sp>
      <p:sp>
        <p:nvSpPr>
          <p:cNvPr id="6" name="Slide Number Placeholder 5">
            <a:extLst>
              <a:ext uri="{FF2B5EF4-FFF2-40B4-BE49-F238E27FC236}">
                <a16:creationId xmlns:a16="http://schemas.microsoft.com/office/drawing/2014/main" id="{E23F0104-552B-D6A3-D52A-370BBC3E03E6}"/>
              </a:ext>
            </a:extLst>
          </p:cNvPr>
          <p:cNvSpPr>
            <a:spLocks noGrp="1"/>
          </p:cNvSpPr>
          <p:nvPr>
            <p:ph type="sldNum" sz="quarter" idx="12"/>
          </p:nvPr>
        </p:nvSpPr>
        <p:spPr/>
        <p:txBody>
          <a:bodyPr/>
          <a:lstStyle/>
          <a:p>
            <a:fld id="{8A7A6979-0714-4377-B894-6BE4C2D6E202}" type="slidenum">
              <a:rPr lang="en-US" smtClean="0"/>
              <a:pPr/>
              <a:t>11</a:t>
            </a:fld>
            <a:endParaRPr lang="en-US" dirty="0"/>
          </a:p>
        </p:txBody>
      </p:sp>
    </p:spTree>
    <p:extLst>
      <p:ext uri="{BB962C8B-B14F-4D97-AF65-F5344CB8AC3E}">
        <p14:creationId xmlns:p14="http://schemas.microsoft.com/office/powerpoint/2010/main" val="57771509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F3A558-24B4-D588-4C70-684B2AA6312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BEEE5B5-A8D2-B044-4163-3E435BB43F4A}"/>
              </a:ext>
            </a:extLst>
          </p:cNvPr>
          <p:cNvSpPr>
            <a:spLocks noGrp="1"/>
          </p:cNvSpPr>
          <p:nvPr>
            <p:ph type="ctrTitle"/>
          </p:nvPr>
        </p:nvSpPr>
        <p:spPr>
          <a:xfrm>
            <a:off x="2107520" y="437030"/>
            <a:ext cx="7988980" cy="332399"/>
          </a:xfrm>
        </p:spPr>
        <p:txBody>
          <a:bodyPr/>
          <a:lstStyle/>
          <a:p>
            <a:r>
              <a:rPr lang="en-US" dirty="0"/>
              <a:t>2. Identify the Competitors</a:t>
            </a:r>
          </a:p>
        </p:txBody>
      </p:sp>
      <mc:AlternateContent xmlns:mc="http://schemas.openxmlformats.org/markup-compatibility/2006" xmlns:a14="http://schemas.microsoft.com/office/drawing/2010/main">
        <mc:Choice Requires="a14">
          <p:sp>
            <p:nvSpPr>
              <p:cNvPr id="4" name="Text Placeholder 3">
                <a:extLst>
                  <a:ext uri="{FF2B5EF4-FFF2-40B4-BE49-F238E27FC236}">
                    <a16:creationId xmlns:a16="http://schemas.microsoft.com/office/drawing/2014/main" id="{A4773A21-391B-31CC-AF02-C773C80C0A7C}"/>
                  </a:ext>
                </a:extLst>
              </p:cNvPr>
              <p:cNvSpPr>
                <a:spLocks noGrp="1"/>
              </p:cNvSpPr>
              <p:nvPr>
                <p:ph type="body" sz="quarter" idx="14"/>
              </p:nvPr>
            </p:nvSpPr>
            <p:spPr>
              <a:xfrm>
                <a:off x="1828800" y="1579418"/>
                <a:ext cx="8949128" cy="4211781"/>
              </a:xfrm>
            </p:spPr>
            <p:txBody>
              <a:bodyPr>
                <a:normAutofit lnSpcReduction="10000"/>
              </a:bodyPr>
              <a:lstStyle/>
              <a:p>
                <a:r>
                  <a:rPr lang="en-US" sz="2000" dirty="0"/>
                  <a:t>Sleight of hand in the definition of EVC</a:t>
                </a:r>
              </a:p>
              <a:p>
                <a:pPr marL="0" indent="0">
                  <a:buNone/>
                </a:pPr>
                <a14:m>
                  <m:oMathPara xmlns:m="http://schemas.openxmlformats.org/officeDocument/2006/math">
                    <m:oMathParaPr>
                      <m:jc m:val="centerGroup"/>
                    </m:oMathParaPr>
                    <m:oMath xmlns:m="http://schemas.openxmlformats.org/officeDocument/2006/math">
                      <m:sSub>
                        <m:sSubPr>
                          <m:ctrlPr>
                            <a:rPr lang="en-US" sz="2000" i="1">
                              <a:latin typeface="Cambria Math" panose="02040503050406030204" pitchFamily="18" charset="0"/>
                            </a:rPr>
                          </m:ctrlPr>
                        </m:sSubPr>
                        <m:e>
                          <m:r>
                            <a:rPr lang="en-US" sz="2000" i="1">
                              <a:latin typeface="Cambria Math" panose="02040503050406030204" pitchFamily="18" charset="0"/>
                            </a:rPr>
                            <m:t>𝑉</m:t>
                          </m:r>
                        </m:e>
                        <m:sub>
                          <m:r>
                            <a:rPr lang="en-US" sz="2000" i="1">
                              <a:latin typeface="Cambria Math" panose="02040503050406030204" pitchFamily="18" charset="0"/>
                            </a:rPr>
                            <m:t>𝑜</m:t>
                          </m:r>
                        </m:sub>
                      </m:sSub>
                      <m:r>
                        <a:rPr lang="en-US" sz="2000" i="1">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𝑃</m:t>
                          </m:r>
                        </m:e>
                        <m:sub>
                          <m:r>
                            <a:rPr lang="en-US" sz="2000" i="1">
                              <a:latin typeface="Cambria Math" panose="02040503050406030204" pitchFamily="18" charset="0"/>
                            </a:rPr>
                            <m:t>𝑜</m:t>
                          </m:r>
                        </m:sub>
                      </m:sSub>
                      <m:r>
                        <a:rPr lang="en-US" sz="2000" i="1">
                          <a:latin typeface="Cambria Math" panose="02040503050406030204" pitchFamily="18" charset="0"/>
                        </a:rPr>
                        <m:t>≥</m:t>
                      </m:r>
                      <m:func>
                        <m:funcPr>
                          <m:ctrlPr>
                            <a:rPr lang="en-US" sz="2000" b="0" i="1" smtClean="0">
                              <a:latin typeface="Cambria Math" panose="02040503050406030204" pitchFamily="18" charset="0"/>
                            </a:rPr>
                          </m:ctrlPr>
                        </m:funcPr>
                        <m:fName>
                          <m:limLow>
                            <m:limLowPr>
                              <m:ctrlPr>
                                <a:rPr lang="en-US" sz="2000" b="0" i="1" smtClean="0">
                                  <a:latin typeface="Cambria Math" panose="02040503050406030204" pitchFamily="18" charset="0"/>
                                </a:rPr>
                              </m:ctrlPr>
                            </m:limLowPr>
                            <m:e>
                              <m:r>
                                <m:rPr>
                                  <m:sty m:val="p"/>
                                </m:rPr>
                                <a:rPr lang="en-US" sz="2000" b="0" i="0" smtClean="0">
                                  <a:latin typeface="Cambria Math" panose="02040503050406030204" pitchFamily="18" charset="0"/>
                                </a:rPr>
                                <m:t>max</m:t>
                              </m:r>
                            </m:e>
                            <m:lim>
                              <m:r>
                                <a:rPr lang="en-US" sz="2000" b="0" i="1" smtClean="0">
                                  <a:latin typeface="Cambria Math" panose="02040503050406030204" pitchFamily="18" charset="0"/>
                                </a:rPr>
                                <m:t>𝑐</m:t>
                              </m:r>
                            </m:lim>
                          </m:limLow>
                        </m:fName>
                        <m:e>
                          <m:sSub>
                            <m:sSubPr>
                              <m:ctrlPr>
                                <a:rPr lang="en-US" sz="2000" i="1">
                                  <a:latin typeface="Cambria Math" panose="02040503050406030204" pitchFamily="18" charset="0"/>
                                </a:rPr>
                              </m:ctrlPr>
                            </m:sSubPr>
                            <m:e>
                              <m:r>
                                <a:rPr lang="en-US" sz="2000" i="1">
                                  <a:latin typeface="Cambria Math" panose="02040503050406030204" pitchFamily="18" charset="0"/>
                                </a:rPr>
                                <m:t>𝑉</m:t>
                              </m:r>
                            </m:e>
                            <m:sub>
                              <m:r>
                                <a:rPr lang="en-US" sz="2000" i="1">
                                  <a:latin typeface="Cambria Math" panose="02040503050406030204" pitchFamily="18" charset="0"/>
                                </a:rPr>
                                <m:t>𝑐</m:t>
                              </m:r>
                            </m:sub>
                          </m:sSub>
                          <m:r>
                            <a:rPr lang="en-US" sz="2000" i="1">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𝑃</m:t>
                              </m:r>
                            </m:e>
                            <m:sub>
                              <m:r>
                                <a:rPr lang="en-US" sz="2000" i="1">
                                  <a:latin typeface="Cambria Math" panose="02040503050406030204" pitchFamily="18" charset="0"/>
                                </a:rPr>
                                <m:t>𝑐</m:t>
                              </m:r>
                            </m:sub>
                          </m:sSub>
                        </m:e>
                      </m:func>
                    </m:oMath>
                  </m:oMathPara>
                </a14:m>
                <a:endParaRPr lang="en-US" sz="2000" dirty="0"/>
              </a:p>
              <a:p>
                <a:pPr lvl="1"/>
                <a:r>
                  <a:rPr lang="en-US" sz="2000" dirty="0"/>
                  <a:t>Customers will only purchase if value of our product exceeds value of all competitors</a:t>
                </a:r>
              </a:p>
              <a:p>
                <a:pPr lvl="1"/>
                <a:r>
                  <a:rPr lang="en-US" sz="2000" dirty="0"/>
                  <a:t>“Closest” competitor is the competitor that maximizes the right hand side</a:t>
                </a:r>
              </a:p>
              <a:p>
                <a:endParaRPr lang="en-US" sz="2000" dirty="0"/>
              </a:p>
              <a:p>
                <a:r>
                  <a:rPr lang="en-US" sz="2000" dirty="0"/>
                  <a:t>Good to identify many competitors</a:t>
                </a:r>
              </a:p>
              <a:p>
                <a:pPr lvl="1"/>
                <a:r>
                  <a:rPr lang="en-US" sz="2000" dirty="0"/>
                  <a:t>You can do this calculation for many competitors or alternatives</a:t>
                </a:r>
              </a:p>
              <a:p>
                <a:endParaRPr lang="en-US" sz="2000" dirty="0"/>
              </a:p>
              <a:p>
                <a:r>
                  <a:rPr lang="en-US" sz="2000" dirty="0"/>
                  <a:t>Important to be honest about competitors</a:t>
                </a:r>
              </a:p>
              <a:p>
                <a:pPr lvl="1"/>
                <a:r>
                  <a:rPr lang="en-US" sz="2000" dirty="0"/>
                  <a:t>Doing nothing is often the closest competitor (and doing nothing is free)</a:t>
                </a:r>
              </a:p>
              <a:p>
                <a:pPr lvl="1"/>
                <a:r>
                  <a:rPr lang="en-US" sz="2000" dirty="0"/>
                  <a:t>Risk of using aspirational closest competitor</a:t>
                </a:r>
              </a:p>
              <a:p>
                <a:endParaRPr lang="en-US" sz="2000" dirty="0"/>
              </a:p>
            </p:txBody>
          </p:sp>
        </mc:Choice>
        <mc:Fallback xmlns="">
          <p:sp>
            <p:nvSpPr>
              <p:cNvPr id="4" name="Text Placeholder 3">
                <a:extLst>
                  <a:ext uri="{FF2B5EF4-FFF2-40B4-BE49-F238E27FC236}">
                    <a16:creationId xmlns:a16="http://schemas.microsoft.com/office/drawing/2014/main" id="{A4773A21-391B-31CC-AF02-C773C80C0A7C}"/>
                  </a:ext>
                </a:extLst>
              </p:cNvPr>
              <p:cNvSpPr>
                <a:spLocks noGrp="1" noRot="1" noChangeAspect="1" noMove="1" noResize="1" noEditPoints="1" noAdjustHandles="1" noChangeArrowheads="1" noChangeShapeType="1" noTextEdit="1"/>
              </p:cNvSpPr>
              <p:nvPr>
                <p:ph type="body" sz="quarter" idx="14"/>
              </p:nvPr>
            </p:nvSpPr>
            <p:spPr>
              <a:xfrm>
                <a:off x="1828800" y="1579418"/>
                <a:ext cx="8949128" cy="4211781"/>
              </a:xfrm>
              <a:blipFill>
                <a:blip r:embed="rId3"/>
                <a:stretch>
                  <a:fillRect l="-1702" t="-2402"/>
                </a:stretch>
              </a:blipFill>
            </p:spPr>
            <p:txBody>
              <a:bodyPr/>
              <a:lstStyle/>
              <a:p>
                <a:r>
                  <a:rPr lang="en-US">
                    <a:noFill/>
                  </a:rPr>
                  <a:t> </a:t>
                </a:r>
              </a:p>
            </p:txBody>
          </p:sp>
        </mc:Fallback>
      </mc:AlternateContent>
      <p:sp>
        <p:nvSpPr>
          <p:cNvPr id="5" name="Date Placeholder 4">
            <a:extLst>
              <a:ext uri="{FF2B5EF4-FFF2-40B4-BE49-F238E27FC236}">
                <a16:creationId xmlns:a16="http://schemas.microsoft.com/office/drawing/2014/main" id="{4E1886E2-B795-96B0-8A02-9AE4E4AC1FCD}"/>
              </a:ext>
            </a:extLst>
          </p:cNvPr>
          <p:cNvSpPr>
            <a:spLocks noGrp="1"/>
          </p:cNvSpPr>
          <p:nvPr>
            <p:ph type="dt" sz="half" idx="10"/>
          </p:nvPr>
        </p:nvSpPr>
        <p:spPr/>
        <p:txBody>
          <a:bodyPr/>
          <a:lstStyle/>
          <a:p>
            <a:fld id="{D47A9A36-4EB0-BF46-AE48-7CDA251B954B}" type="datetime1">
              <a:rPr lang="en-US" smtClean="0"/>
              <a:t>10/31/2025</a:t>
            </a:fld>
            <a:endParaRPr lang="en-US" dirty="0"/>
          </a:p>
        </p:txBody>
      </p:sp>
      <p:sp>
        <p:nvSpPr>
          <p:cNvPr id="6" name="Slide Number Placeholder 5">
            <a:extLst>
              <a:ext uri="{FF2B5EF4-FFF2-40B4-BE49-F238E27FC236}">
                <a16:creationId xmlns:a16="http://schemas.microsoft.com/office/drawing/2014/main" id="{B31075BD-B3B0-6B5F-01FB-65E6B3CDD145}"/>
              </a:ext>
            </a:extLst>
          </p:cNvPr>
          <p:cNvSpPr>
            <a:spLocks noGrp="1"/>
          </p:cNvSpPr>
          <p:nvPr>
            <p:ph type="sldNum" sz="quarter" idx="12"/>
          </p:nvPr>
        </p:nvSpPr>
        <p:spPr/>
        <p:txBody>
          <a:bodyPr/>
          <a:lstStyle/>
          <a:p>
            <a:fld id="{8A7A6979-0714-4377-B894-6BE4C2D6E202}" type="slidenum">
              <a:rPr lang="en-US" smtClean="0"/>
              <a:pPr/>
              <a:t>12</a:t>
            </a:fld>
            <a:endParaRPr lang="en-US" dirty="0"/>
          </a:p>
        </p:txBody>
      </p:sp>
    </p:spTree>
    <p:extLst>
      <p:ext uri="{BB962C8B-B14F-4D97-AF65-F5344CB8AC3E}">
        <p14:creationId xmlns:p14="http://schemas.microsoft.com/office/powerpoint/2010/main" val="8350008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4">
                                            <p:txEl>
                                              <p:pRg st="8" end="8"/>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4">
                                            <p:txEl>
                                              <p:pRg st="9" end="9"/>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4">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C8A69B-A5EA-2E68-7FD5-AEDF621F66E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6B6975C-7634-5131-B2AA-C135E5276F89}"/>
              </a:ext>
            </a:extLst>
          </p:cNvPr>
          <p:cNvSpPr>
            <a:spLocks noGrp="1"/>
          </p:cNvSpPr>
          <p:nvPr>
            <p:ph type="ctrTitle"/>
          </p:nvPr>
        </p:nvSpPr>
        <p:spPr>
          <a:xfrm>
            <a:off x="2107520" y="437030"/>
            <a:ext cx="7988980" cy="332399"/>
          </a:xfrm>
        </p:spPr>
        <p:txBody>
          <a:bodyPr/>
          <a:lstStyle/>
          <a:p>
            <a:r>
              <a:rPr lang="en-US" dirty="0"/>
              <a:t>2. Identify the Competitors</a:t>
            </a:r>
          </a:p>
        </p:txBody>
      </p:sp>
      <p:pic>
        <p:nvPicPr>
          <p:cNvPr id="1026" name="Picture 2" descr="Icon of the Zoom logo">
            <a:extLst>
              <a:ext uri="{FF2B5EF4-FFF2-40B4-BE49-F238E27FC236}">
                <a16:creationId xmlns:a16="http://schemas.microsoft.com/office/drawing/2014/main" id="{C425174A-716E-864F-87E2-BFD08D69C46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22957" y="1529074"/>
            <a:ext cx="4281331" cy="4281331"/>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descr="A modern conference room featuring a sleek black table surrounded by white leather chairs, each with a laptop and notepads.">
            <a:extLst>
              <a:ext uri="{FF2B5EF4-FFF2-40B4-BE49-F238E27FC236}">
                <a16:creationId xmlns:a16="http://schemas.microsoft.com/office/drawing/2014/main" id="{28D441D4-5DF1-77A6-2999-5010E9ABAD55}"/>
              </a:ext>
            </a:extLst>
          </p:cNvPr>
          <p:cNvPicPr>
            <a:picLocks noChangeAspect="1"/>
          </p:cNvPicPr>
          <p:nvPr/>
        </p:nvPicPr>
        <p:blipFill>
          <a:blip r:embed="rId4"/>
          <a:stretch>
            <a:fillRect/>
          </a:stretch>
        </p:blipFill>
        <p:spPr>
          <a:xfrm>
            <a:off x="6747638" y="1529074"/>
            <a:ext cx="4281331" cy="4281331"/>
          </a:xfrm>
          <a:prstGeom prst="rect">
            <a:avLst/>
          </a:prstGeom>
        </p:spPr>
      </p:pic>
      <p:sp>
        <p:nvSpPr>
          <p:cNvPr id="5" name="Date Placeholder 4">
            <a:extLst>
              <a:ext uri="{FF2B5EF4-FFF2-40B4-BE49-F238E27FC236}">
                <a16:creationId xmlns:a16="http://schemas.microsoft.com/office/drawing/2014/main" id="{78924D36-B8A4-8DFE-4A84-5EB331A938E9}"/>
              </a:ext>
            </a:extLst>
          </p:cNvPr>
          <p:cNvSpPr>
            <a:spLocks noGrp="1"/>
          </p:cNvSpPr>
          <p:nvPr>
            <p:ph type="dt" sz="half" idx="10"/>
          </p:nvPr>
        </p:nvSpPr>
        <p:spPr/>
        <p:txBody>
          <a:bodyPr/>
          <a:lstStyle/>
          <a:p>
            <a:fld id="{D47A9A36-4EB0-BF46-AE48-7CDA251B954B}" type="datetime1">
              <a:rPr lang="en-US" smtClean="0"/>
              <a:t>10/31/2025</a:t>
            </a:fld>
            <a:endParaRPr lang="en-US" dirty="0"/>
          </a:p>
        </p:txBody>
      </p:sp>
      <p:sp>
        <p:nvSpPr>
          <p:cNvPr id="6" name="Slide Number Placeholder 5">
            <a:extLst>
              <a:ext uri="{FF2B5EF4-FFF2-40B4-BE49-F238E27FC236}">
                <a16:creationId xmlns:a16="http://schemas.microsoft.com/office/drawing/2014/main" id="{5F7876F6-A00B-ACB6-FAE5-559DAED17EBE}"/>
              </a:ext>
            </a:extLst>
          </p:cNvPr>
          <p:cNvSpPr>
            <a:spLocks noGrp="1"/>
          </p:cNvSpPr>
          <p:nvPr>
            <p:ph type="sldNum" sz="quarter" idx="12"/>
          </p:nvPr>
        </p:nvSpPr>
        <p:spPr/>
        <p:txBody>
          <a:bodyPr/>
          <a:lstStyle/>
          <a:p>
            <a:fld id="{8A7A6979-0714-4377-B894-6BE4C2D6E202}" type="slidenum">
              <a:rPr lang="en-US" smtClean="0"/>
              <a:pPr/>
              <a:t>13</a:t>
            </a:fld>
            <a:endParaRPr lang="en-US" dirty="0"/>
          </a:p>
        </p:txBody>
      </p:sp>
    </p:spTree>
    <p:extLst>
      <p:ext uri="{BB962C8B-B14F-4D97-AF65-F5344CB8AC3E}">
        <p14:creationId xmlns:p14="http://schemas.microsoft.com/office/powerpoint/2010/main" val="365564749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0E72C5-CED2-2880-3718-62A73224A5B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C3E7E70-C99F-410B-4978-97F2FFBBF663}"/>
              </a:ext>
            </a:extLst>
          </p:cNvPr>
          <p:cNvSpPr>
            <a:spLocks noGrp="1"/>
          </p:cNvSpPr>
          <p:nvPr>
            <p:ph type="ctrTitle"/>
          </p:nvPr>
        </p:nvSpPr>
        <p:spPr>
          <a:xfrm>
            <a:off x="2107520" y="437030"/>
            <a:ext cx="7988980" cy="332399"/>
          </a:xfrm>
        </p:spPr>
        <p:txBody>
          <a:bodyPr/>
          <a:lstStyle/>
          <a:p>
            <a:r>
              <a:rPr lang="en-US" dirty="0"/>
              <a:t>3. Identify the Competitor Prices</a:t>
            </a:r>
          </a:p>
        </p:txBody>
      </p:sp>
      <p:pic>
        <p:nvPicPr>
          <p:cNvPr id="2052" name="Picture 4" descr="Illustration of two men engaged in a tug-of-war over a car price. The consumer is on one end of the rope with a $9,000 price tag, while the care salesman with a $11,000 price tag pulls the other side.">
            <a:extLst>
              <a:ext uri="{FF2B5EF4-FFF2-40B4-BE49-F238E27FC236}">
                <a16:creationId xmlns:a16="http://schemas.microsoft.com/office/drawing/2014/main" id="{5840DAF2-97EE-ED16-3936-6ACF3242FEC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35339" y="1137138"/>
            <a:ext cx="8148841" cy="4583723"/>
          </a:xfrm>
          <a:prstGeom prst="rect">
            <a:avLst/>
          </a:prstGeom>
          <a:noFill/>
          <a:extLst>
            <a:ext uri="{909E8E84-426E-40DD-AFC4-6F175D3DCCD1}">
              <a14:hiddenFill xmlns:a14="http://schemas.microsoft.com/office/drawing/2010/main">
                <a:solidFill>
                  <a:srgbClr val="FFFFFF"/>
                </a:solidFill>
              </a14:hiddenFill>
            </a:ext>
          </a:extLst>
        </p:spPr>
      </p:pic>
      <p:sp>
        <p:nvSpPr>
          <p:cNvPr id="5" name="Date Placeholder 4">
            <a:extLst>
              <a:ext uri="{FF2B5EF4-FFF2-40B4-BE49-F238E27FC236}">
                <a16:creationId xmlns:a16="http://schemas.microsoft.com/office/drawing/2014/main" id="{5B2CA51E-A928-5E7B-C0FB-327B4D91FB16}"/>
              </a:ext>
            </a:extLst>
          </p:cNvPr>
          <p:cNvSpPr>
            <a:spLocks noGrp="1"/>
          </p:cNvSpPr>
          <p:nvPr>
            <p:ph type="dt" sz="half" idx="10"/>
          </p:nvPr>
        </p:nvSpPr>
        <p:spPr/>
        <p:txBody>
          <a:bodyPr/>
          <a:lstStyle/>
          <a:p>
            <a:fld id="{D47A9A36-4EB0-BF46-AE48-7CDA251B954B}" type="datetime1">
              <a:rPr lang="en-US" smtClean="0"/>
              <a:t>10/31/2025</a:t>
            </a:fld>
            <a:endParaRPr lang="en-US" dirty="0"/>
          </a:p>
        </p:txBody>
      </p:sp>
      <p:sp>
        <p:nvSpPr>
          <p:cNvPr id="6" name="Slide Number Placeholder 5">
            <a:extLst>
              <a:ext uri="{FF2B5EF4-FFF2-40B4-BE49-F238E27FC236}">
                <a16:creationId xmlns:a16="http://schemas.microsoft.com/office/drawing/2014/main" id="{B9330580-9596-131A-F7DD-DCD48E0019EF}"/>
              </a:ext>
            </a:extLst>
          </p:cNvPr>
          <p:cNvSpPr>
            <a:spLocks noGrp="1"/>
          </p:cNvSpPr>
          <p:nvPr>
            <p:ph type="sldNum" sz="quarter" idx="12"/>
          </p:nvPr>
        </p:nvSpPr>
        <p:spPr/>
        <p:txBody>
          <a:bodyPr/>
          <a:lstStyle/>
          <a:p>
            <a:fld id="{8A7A6979-0714-4377-B894-6BE4C2D6E202}" type="slidenum">
              <a:rPr lang="en-US" smtClean="0"/>
              <a:pPr/>
              <a:t>14</a:t>
            </a:fld>
            <a:endParaRPr lang="en-US" dirty="0"/>
          </a:p>
        </p:txBody>
      </p:sp>
    </p:spTree>
    <p:extLst>
      <p:ext uri="{BB962C8B-B14F-4D97-AF65-F5344CB8AC3E}">
        <p14:creationId xmlns:p14="http://schemas.microsoft.com/office/powerpoint/2010/main" val="56251949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7F0DCE-C201-F3B2-6192-A43824D61DC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DF3A550-FBE7-5AD8-4A5E-F7549FE26409}"/>
              </a:ext>
            </a:extLst>
          </p:cNvPr>
          <p:cNvSpPr>
            <a:spLocks noGrp="1"/>
          </p:cNvSpPr>
          <p:nvPr>
            <p:ph type="ctrTitle"/>
          </p:nvPr>
        </p:nvSpPr>
        <p:spPr>
          <a:xfrm>
            <a:off x="2107520" y="437030"/>
            <a:ext cx="7988980" cy="332399"/>
          </a:xfrm>
        </p:spPr>
        <p:txBody>
          <a:bodyPr/>
          <a:lstStyle/>
          <a:p>
            <a:r>
              <a:rPr lang="en-US" dirty="0"/>
              <a:t>4. Measure Differentiation Values</a:t>
            </a:r>
          </a:p>
        </p:txBody>
      </p:sp>
      <p:sp>
        <p:nvSpPr>
          <p:cNvPr id="4" name="Text Placeholder 3">
            <a:extLst>
              <a:ext uri="{FF2B5EF4-FFF2-40B4-BE49-F238E27FC236}">
                <a16:creationId xmlns:a16="http://schemas.microsoft.com/office/drawing/2014/main" id="{A2F65C7E-C66B-8B92-3CC7-F28A4F161A46}"/>
              </a:ext>
            </a:extLst>
          </p:cNvPr>
          <p:cNvSpPr>
            <a:spLocks noGrp="1"/>
          </p:cNvSpPr>
          <p:nvPr>
            <p:ph type="body" sz="quarter" idx="14"/>
          </p:nvPr>
        </p:nvSpPr>
        <p:spPr>
          <a:xfrm>
            <a:off x="1828800" y="1579418"/>
            <a:ext cx="8949128" cy="4211781"/>
          </a:xfrm>
        </p:spPr>
        <p:txBody>
          <a:bodyPr>
            <a:normAutofit/>
          </a:bodyPr>
          <a:lstStyle/>
          <a:p>
            <a:r>
              <a:rPr lang="en-US" sz="2000" dirty="0"/>
              <a:t>If product is developed, can do some field tests to assess value (e.g. A/B test)</a:t>
            </a:r>
          </a:p>
          <a:p>
            <a:pPr marL="0" indent="0">
              <a:buNone/>
            </a:pPr>
            <a:endParaRPr lang="en-US" sz="2000" dirty="0"/>
          </a:p>
          <a:p>
            <a:r>
              <a:rPr lang="en-US" sz="2000" dirty="0"/>
              <a:t>Use the results of survey analysis (e.g. conjoint feature values)</a:t>
            </a:r>
          </a:p>
          <a:p>
            <a:pPr lvl="1"/>
            <a:r>
              <a:rPr lang="en-US" sz="2000" dirty="0"/>
              <a:t>This gives us a dollar value for various features</a:t>
            </a:r>
          </a:p>
          <a:p>
            <a:pPr lvl="1"/>
            <a:r>
              <a:rPr lang="en-US" sz="2000" dirty="0"/>
              <a:t>Make sure survey respondents are representative of customer segment!</a:t>
            </a:r>
          </a:p>
          <a:p>
            <a:endParaRPr lang="en-US" sz="2000" dirty="0"/>
          </a:p>
          <a:p>
            <a:r>
              <a:rPr lang="en-US" sz="2000" dirty="0"/>
              <a:t>Also easy to do when your product saves the customer costs</a:t>
            </a:r>
          </a:p>
          <a:p>
            <a:pPr lvl="1"/>
            <a:r>
              <a:rPr lang="en-US" sz="2000" dirty="0"/>
              <a:t>Example: Automation software, medical devices, reducing waste</a:t>
            </a:r>
          </a:p>
          <a:p>
            <a:endParaRPr lang="en-US" sz="2000" dirty="0"/>
          </a:p>
        </p:txBody>
      </p:sp>
      <p:sp>
        <p:nvSpPr>
          <p:cNvPr id="5" name="Date Placeholder 4">
            <a:extLst>
              <a:ext uri="{FF2B5EF4-FFF2-40B4-BE49-F238E27FC236}">
                <a16:creationId xmlns:a16="http://schemas.microsoft.com/office/drawing/2014/main" id="{9F960F7F-E036-0DCE-4DE7-7D749A1F5226}"/>
              </a:ext>
            </a:extLst>
          </p:cNvPr>
          <p:cNvSpPr>
            <a:spLocks noGrp="1"/>
          </p:cNvSpPr>
          <p:nvPr>
            <p:ph type="dt" sz="half" idx="10"/>
          </p:nvPr>
        </p:nvSpPr>
        <p:spPr/>
        <p:txBody>
          <a:bodyPr/>
          <a:lstStyle/>
          <a:p>
            <a:fld id="{D47A9A36-4EB0-BF46-AE48-7CDA251B954B}" type="datetime1">
              <a:rPr lang="en-US" smtClean="0"/>
              <a:t>10/31/2025</a:t>
            </a:fld>
            <a:endParaRPr lang="en-US" dirty="0"/>
          </a:p>
        </p:txBody>
      </p:sp>
      <p:sp>
        <p:nvSpPr>
          <p:cNvPr id="6" name="Slide Number Placeholder 5">
            <a:extLst>
              <a:ext uri="{FF2B5EF4-FFF2-40B4-BE49-F238E27FC236}">
                <a16:creationId xmlns:a16="http://schemas.microsoft.com/office/drawing/2014/main" id="{3D4C313D-31B3-6295-430A-F8BE64CD2F7D}"/>
              </a:ext>
            </a:extLst>
          </p:cNvPr>
          <p:cNvSpPr>
            <a:spLocks noGrp="1"/>
          </p:cNvSpPr>
          <p:nvPr>
            <p:ph type="sldNum" sz="quarter" idx="12"/>
          </p:nvPr>
        </p:nvSpPr>
        <p:spPr/>
        <p:txBody>
          <a:bodyPr/>
          <a:lstStyle/>
          <a:p>
            <a:fld id="{8A7A6979-0714-4377-B894-6BE4C2D6E202}" type="slidenum">
              <a:rPr lang="en-US" smtClean="0"/>
              <a:pPr/>
              <a:t>15</a:t>
            </a:fld>
            <a:endParaRPr lang="en-US" dirty="0"/>
          </a:p>
        </p:txBody>
      </p:sp>
    </p:spTree>
    <p:extLst>
      <p:ext uri="{BB962C8B-B14F-4D97-AF65-F5344CB8AC3E}">
        <p14:creationId xmlns:p14="http://schemas.microsoft.com/office/powerpoint/2010/main" val="24758166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4">
                                            <p:txEl>
                                              <p:pRg st="6" end="6"/>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F5C710-3333-5931-9322-9A2AD06AE98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80CBBAB-058E-E5CB-A106-B7982AFFCC9C}"/>
              </a:ext>
            </a:extLst>
          </p:cNvPr>
          <p:cNvSpPr>
            <a:spLocks noGrp="1"/>
          </p:cNvSpPr>
          <p:nvPr>
            <p:ph type="ctrTitle"/>
          </p:nvPr>
        </p:nvSpPr>
        <p:spPr>
          <a:xfrm>
            <a:off x="2107520" y="437030"/>
            <a:ext cx="7988980" cy="332399"/>
          </a:xfrm>
        </p:spPr>
        <p:txBody>
          <a:bodyPr/>
          <a:lstStyle/>
          <a:p>
            <a:r>
              <a:rPr lang="en-US" dirty="0"/>
              <a:t>4. Measure Differentiation Values</a:t>
            </a:r>
          </a:p>
        </p:txBody>
      </p:sp>
      <p:pic>
        <p:nvPicPr>
          <p:cNvPr id="9" name="Picture 8" descr="Screenshot of Cresta’s homepage promoting its “enterprise-grade generative AI” for contact centers.">
            <a:extLst>
              <a:ext uri="{FF2B5EF4-FFF2-40B4-BE49-F238E27FC236}">
                <a16:creationId xmlns:a16="http://schemas.microsoft.com/office/drawing/2014/main" id="{32A22579-3DF6-350E-00FD-4BB47D8AE636}"/>
              </a:ext>
            </a:extLst>
          </p:cNvPr>
          <p:cNvPicPr>
            <a:picLocks noChangeAspect="1"/>
          </p:cNvPicPr>
          <p:nvPr/>
        </p:nvPicPr>
        <p:blipFill>
          <a:blip r:embed="rId3"/>
          <a:stretch>
            <a:fillRect/>
          </a:stretch>
        </p:blipFill>
        <p:spPr>
          <a:xfrm>
            <a:off x="2209800" y="1376525"/>
            <a:ext cx="7772400" cy="4104950"/>
          </a:xfrm>
          <a:prstGeom prst="rect">
            <a:avLst/>
          </a:prstGeom>
        </p:spPr>
      </p:pic>
      <p:sp>
        <p:nvSpPr>
          <p:cNvPr id="5" name="Date Placeholder 4">
            <a:extLst>
              <a:ext uri="{FF2B5EF4-FFF2-40B4-BE49-F238E27FC236}">
                <a16:creationId xmlns:a16="http://schemas.microsoft.com/office/drawing/2014/main" id="{5C8023E3-5850-E2FA-EEBD-EB0216142213}"/>
              </a:ext>
            </a:extLst>
          </p:cNvPr>
          <p:cNvSpPr>
            <a:spLocks noGrp="1"/>
          </p:cNvSpPr>
          <p:nvPr>
            <p:ph type="dt" sz="half" idx="10"/>
          </p:nvPr>
        </p:nvSpPr>
        <p:spPr/>
        <p:txBody>
          <a:bodyPr/>
          <a:lstStyle/>
          <a:p>
            <a:fld id="{D47A9A36-4EB0-BF46-AE48-7CDA251B954B}" type="datetime1">
              <a:rPr lang="en-US" smtClean="0"/>
              <a:t>10/31/2025</a:t>
            </a:fld>
            <a:endParaRPr lang="en-US" dirty="0"/>
          </a:p>
        </p:txBody>
      </p:sp>
      <p:sp>
        <p:nvSpPr>
          <p:cNvPr id="6" name="Slide Number Placeholder 5">
            <a:extLst>
              <a:ext uri="{FF2B5EF4-FFF2-40B4-BE49-F238E27FC236}">
                <a16:creationId xmlns:a16="http://schemas.microsoft.com/office/drawing/2014/main" id="{4FF03B3F-4661-0FB2-7A1E-DF9E2EEC12D3}"/>
              </a:ext>
            </a:extLst>
          </p:cNvPr>
          <p:cNvSpPr>
            <a:spLocks noGrp="1"/>
          </p:cNvSpPr>
          <p:nvPr>
            <p:ph type="sldNum" sz="quarter" idx="12"/>
          </p:nvPr>
        </p:nvSpPr>
        <p:spPr/>
        <p:txBody>
          <a:bodyPr/>
          <a:lstStyle/>
          <a:p>
            <a:fld id="{8A7A6979-0714-4377-B894-6BE4C2D6E202}" type="slidenum">
              <a:rPr lang="en-US" smtClean="0"/>
              <a:pPr/>
              <a:t>16</a:t>
            </a:fld>
            <a:endParaRPr lang="en-US" dirty="0"/>
          </a:p>
        </p:txBody>
      </p:sp>
    </p:spTree>
    <p:extLst>
      <p:ext uri="{BB962C8B-B14F-4D97-AF65-F5344CB8AC3E}">
        <p14:creationId xmlns:p14="http://schemas.microsoft.com/office/powerpoint/2010/main" val="233801243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6E58C0-C3F0-4D2D-5950-FA709607593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5A6078F-4AF1-33C6-6912-17A795AEE595}"/>
              </a:ext>
            </a:extLst>
          </p:cNvPr>
          <p:cNvSpPr>
            <a:spLocks noGrp="1"/>
          </p:cNvSpPr>
          <p:nvPr>
            <p:ph type="ctrTitle"/>
          </p:nvPr>
        </p:nvSpPr>
        <p:spPr>
          <a:xfrm>
            <a:off x="2107520" y="437030"/>
            <a:ext cx="7988980" cy="332399"/>
          </a:xfrm>
        </p:spPr>
        <p:txBody>
          <a:bodyPr/>
          <a:lstStyle/>
          <a:p>
            <a:r>
              <a:rPr lang="en-US" dirty="0"/>
              <a:t>Calculate EVC for Various Segments</a:t>
            </a:r>
          </a:p>
        </p:txBody>
      </p:sp>
      <p:sp>
        <p:nvSpPr>
          <p:cNvPr id="4" name="Text Placeholder 3">
            <a:extLst>
              <a:ext uri="{FF2B5EF4-FFF2-40B4-BE49-F238E27FC236}">
                <a16:creationId xmlns:a16="http://schemas.microsoft.com/office/drawing/2014/main" id="{6AE895C6-4EA8-A624-610E-275FF5BE1F80}"/>
              </a:ext>
            </a:extLst>
          </p:cNvPr>
          <p:cNvSpPr>
            <a:spLocks noGrp="1"/>
          </p:cNvSpPr>
          <p:nvPr>
            <p:ph type="body" sz="quarter" idx="14"/>
          </p:nvPr>
        </p:nvSpPr>
        <p:spPr>
          <a:xfrm>
            <a:off x="1828800" y="1579418"/>
            <a:ext cx="8949128" cy="4211781"/>
          </a:xfrm>
        </p:spPr>
        <p:txBody>
          <a:bodyPr>
            <a:normAutofit/>
          </a:bodyPr>
          <a:lstStyle/>
          <a:p>
            <a:r>
              <a:rPr lang="en-US" sz="2000" dirty="0"/>
              <a:t>Once we have differentiation value and competitors price, easy to calculate EVC</a:t>
            </a:r>
          </a:p>
          <a:p>
            <a:endParaRPr lang="en-US" sz="2000" dirty="0"/>
          </a:p>
          <a:p>
            <a:r>
              <a:rPr lang="en-US" sz="2000" dirty="0"/>
              <a:t>EVC can vary widely by customer segment</a:t>
            </a:r>
          </a:p>
          <a:p>
            <a:pPr lvl="1"/>
            <a:r>
              <a:rPr lang="en-US" sz="2000" dirty="0"/>
              <a:t>Differentiation likely differs by segment</a:t>
            </a:r>
          </a:p>
          <a:p>
            <a:pPr lvl="1"/>
            <a:r>
              <a:rPr lang="en-US" sz="2000" dirty="0"/>
              <a:t>Closest competitor can differ for various segments</a:t>
            </a:r>
          </a:p>
        </p:txBody>
      </p:sp>
      <p:sp>
        <p:nvSpPr>
          <p:cNvPr id="5" name="Date Placeholder 4">
            <a:extLst>
              <a:ext uri="{FF2B5EF4-FFF2-40B4-BE49-F238E27FC236}">
                <a16:creationId xmlns:a16="http://schemas.microsoft.com/office/drawing/2014/main" id="{A3006212-EF47-BE4E-C621-C393C29CB574}"/>
              </a:ext>
            </a:extLst>
          </p:cNvPr>
          <p:cNvSpPr>
            <a:spLocks noGrp="1"/>
          </p:cNvSpPr>
          <p:nvPr>
            <p:ph type="dt" sz="half" idx="10"/>
          </p:nvPr>
        </p:nvSpPr>
        <p:spPr/>
        <p:txBody>
          <a:bodyPr/>
          <a:lstStyle/>
          <a:p>
            <a:fld id="{D47A9A36-4EB0-BF46-AE48-7CDA251B954B}" type="datetime1">
              <a:rPr lang="en-US" smtClean="0"/>
              <a:t>10/31/2025</a:t>
            </a:fld>
            <a:endParaRPr lang="en-US" dirty="0"/>
          </a:p>
        </p:txBody>
      </p:sp>
      <p:sp>
        <p:nvSpPr>
          <p:cNvPr id="6" name="Slide Number Placeholder 5">
            <a:extLst>
              <a:ext uri="{FF2B5EF4-FFF2-40B4-BE49-F238E27FC236}">
                <a16:creationId xmlns:a16="http://schemas.microsoft.com/office/drawing/2014/main" id="{7410F763-0344-B4EE-2674-F2165AD43939}"/>
              </a:ext>
            </a:extLst>
          </p:cNvPr>
          <p:cNvSpPr>
            <a:spLocks noGrp="1"/>
          </p:cNvSpPr>
          <p:nvPr>
            <p:ph type="sldNum" sz="quarter" idx="12"/>
          </p:nvPr>
        </p:nvSpPr>
        <p:spPr/>
        <p:txBody>
          <a:bodyPr/>
          <a:lstStyle/>
          <a:p>
            <a:fld id="{8A7A6979-0714-4377-B894-6BE4C2D6E202}" type="slidenum">
              <a:rPr lang="en-US" smtClean="0"/>
              <a:pPr/>
              <a:t>17</a:t>
            </a:fld>
            <a:endParaRPr lang="en-US" dirty="0"/>
          </a:p>
        </p:txBody>
      </p:sp>
    </p:spTree>
    <p:extLst>
      <p:ext uri="{BB962C8B-B14F-4D97-AF65-F5344CB8AC3E}">
        <p14:creationId xmlns:p14="http://schemas.microsoft.com/office/powerpoint/2010/main" val="415246696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2F4079-F7EB-E20C-8295-79407B49F6C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806D8E7-A860-C03B-865A-47D19E55056E}"/>
              </a:ext>
            </a:extLst>
          </p:cNvPr>
          <p:cNvSpPr>
            <a:spLocks noGrp="1"/>
          </p:cNvSpPr>
          <p:nvPr>
            <p:ph type="ctrTitle"/>
          </p:nvPr>
        </p:nvSpPr>
        <p:spPr>
          <a:xfrm>
            <a:off x="2107520" y="437030"/>
            <a:ext cx="7988980" cy="332399"/>
          </a:xfrm>
        </p:spPr>
        <p:txBody>
          <a:bodyPr/>
          <a:lstStyle/>
          <a:p>
            <a:r>
              <a:rPr lang="en-US" dirty="0"/>
              <a:t>Uses of EVC</a:t>
            </a:r>
          </a:p>
        </p:txBody>
      </p:sp>
      <p:sp>
        <p:nvSpPr>
          <p:cNvPr id="4" name="Text Placeholder 3">
            <a:extLst>
              <a:ext uri="{FF2B5EF4-FFF2-40B4-BE49-F238E27FC236}">
                <a16:creationId xmlns:a16="http://schemas.microsoft.com/office/drawing/2014/main" id="{73E531FA-68C5-2D7D-E9CF-E9A81CB9C430}"/>
              </a:ext>
            </a:extLst>
          </p:cNvPr>
          <p:cNvSpPr>
            <a:spLocks noGrp="1"/>
          </p:cNvSpPr>
          <p:nvPr>
            <p:ph type="body" sz="quarter" idx="14"/>
          </p:nvPr>
        </p:nvSpPr>
        <p:spPr>
          <a:xfrm>
            <a:off x="1828800" y="1579418"/>
            <a:ext cx="8949128" cy="4211781"/>
          </a:xfrm>
        </p:spPr>
        <p:txBody>
          <a:bodyPr>
            <a:normAutofit/>
          </a:bodyPr>
          <a:lstStyle/>
          <a:p>
            <a:r>
              <a:rPr lang="en-US" sz="2000" dirty="0"/>
              <a:t>EVC helps us understand the potential of a market</a:t>
            </a:r>
          </a:p>
          <a:p>
            <a:pPr lvl="1"/>
            <a:r>
              <a:rPr lang="en-US" sz="2000" dirty="0"/>
              <a:t>Can be done with very little data</a:t>
            </a:r>
          </a:p>
          <a:p>
            <a:pPr lvl="1"/>
            <a:r>
              <a:rPr lang="en-US" sz="2000" dirty="0"/>
              <a:t>As you collect more data, can refine estimates of differentiation value</a:t>
            </a:r>
          </a:p>
          <a:p>
            <a:endParaRPr lang="en-US" sz="2000" dirty="0"/>
          </a:p>
          <a:p>
            <a:r>
              <a:rPr lang="en-US" sz="2000" dirty="0"/>
              <a:t>Feature prioritization</a:t>
            </a:r>
          </a:p>
          <a:p>
            <a:pPr lvl="1"/>
            <a:r>
              <a:rPr lang="en-US" sz="2000" dirty="0"/>
              <a:t>What features differentiate our product from competitors?</a:t>
            </a:r>
          </a:p>
          <a:p>
            <a:endParaRPr lang="en-US" sz="2000" dirty="0"/>
          </a:p>
          <a:p>
            <a:r>
              <a:rPr lang="en-US" sz="2000" dirty="0"/>
              <a:t>Also frequently used in pricing</a:t>
            </a:r>
          </a:p>
          <a:p>
            <a:pPr lvl="1"/>
            <a:r>
              <a:rPr lang="en-US" sz="2000" dirty="0"/>
              <a:t>Gives a sense of the maximum you </a:t>
            </a:r>
            <a:r>
              <a:rPr lang="en-US" sz="2000" b="1" dirty="0"/>
              <a:t>can</a:t>
            </a:r>
            <a:r>
              <a:rPr lang="en-US" sz="2000" dirty="0"/>
              <a:t> charge</a:t>
            </a:r>
          </a:p>
          <a:p>
            <a:pPr lvl="1"/>
            <a:r>
              <a:rPr lang="en-US" sz="2000" dirty="0"/>
              <a:t>Best practice to discount off of EVC</a:t>
            </a:r>
          </a:p>
          <a:p>
            <a:pPr lvl="1"/>
            <a:r>
              <a:rPr lang="en-US" sz="2000" dirty="0"/>
              <a:t>Gives sales an answer to the question “How can you charge so much?!?”</a:t>
            </a:r>
          </a:p>
        </p:txBody>
      </p:sp>
      <p:sp>
        <p:nvSpPr>
          <p:cNvPr id="5" name="Date Placeholder 4">
            <a:extLst>
              <a:ext uri="{FF2B5EF4-FFF2-40B4-BE49-F238E27FC236}">
                <a16:creationId xmlns:a16="http://schemas.microsoft.com/office/drawing/2014/main" id="{25FFE961-AC90-8813-FD8B-C9178B5CD4A6}"/>
              </a:ext>
            </a:extLst>
          </p:cNvPr>
          <p:cNvSpPr>
            <a:spLocks noGrp="1"/>
          </p:cNvSpPr>
          <p:nvPr>
            <p:ph type="dt" sz="half" idx="10"/>
          </p:nvPr>
        </p:nvSpPr>
        <p:spPr/>
        <p:txBody>
          <a:bodyPr/>
          <a:lstStyle/>
          <a:p>
            <a:fld id="{D47A9A36-4EB0-BF46-AE48-7CDA251B954B}" type="datetime1">
              <a:rPr lang="en-US" smtClean="0"/>
              <a:t>10/31/2025</a:t>
            </a:fld>
            <a:endParaRPr lang="en-US" dirty="0"/>
          </a:p>
        </p:txBody>
      </p:sp>
      <p:sp>
        <p:nvSpPr>
          <p:cNvPr id="6" name="Slide Number Placeholder 5">
            <a:extLst>
              <a:ext uri="{FF2B5EF4-FFF2-40B4-BE49-F238E27FC236}">
                <a16:creationId xmlns:a16="http://schemas.microsoft.com/office/drawing/2014/main" id="{C16A1113-DC68-A2E0-28B5-B50826FE2058}"/>
              </a:ext>
            </a:extLst>
          </p:cNvPr>
          <p:cNvSpPr>
            <a:spLocks noGrp="1"/>
          </p:cNvSpPr>
          <p:nvPr>
            <p:ph type="sldNum" sz="quarter" idx="12"/>
          </p:nvPr>
        </p:nvSpPr>
        <p:spPr/>
        <p:txBody>
          <a:bodyPr/>
          <a:lstStyle/>
          <a:p>
            <a:fld id="{8A7A6979-0714-4377-B894-6BE4C2D6E202}" type="slidenum">
              <a:rPr lang="en-US" smtClean="0"/>
              <a:pPr/>
              <a:t>18</a:t>
            </a:fld>
            <a:endParaRPr lang="en-US" dirty="0"/>
          </a:p>
        </p:txBody>
      </p:sp>
    </p:spTree>
    <p:extLst>
      <p:ext uri="{BB962C8B-B14F-4D97-AF65-F5344CB8AC3E}">
        <p14:creationId xmlns:p14="http://schemas.microsoft.com/office/powerpoint/2010/main" val="17593737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4">
                                            <p:txEl>
                                              <p:pRg st="7" end="7"/>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
                                            <p:txEl>
                                              <p:pRg st="8" end="8"/>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
                                            <p:txEl>
                                              <p:pRg st="9" end="9"/>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A72BD0-0429-3448-AF88-85B4774FB2C5}"/>
              </a:ext>
            </a:extLst>
          </p:cNvPr>
          <p:cNvSpPr>
            <a:spLocks noGrp="1"/>
          </p:cNvSpPr>
          <p:nvPr>
            <p:ph type="ctrTitle"/>
          </p:nvPr>
        </p:nvSpPr>
        <p:spPr>
          <a:xfrm>
            <a:off x="2647199" y="1501742"/>
            <a:ext cx="7300940" cy="1329595"/>
          </a:xfrm>
        </p:spPr>
        <p:txBody>
          <a:bodyPr/>
          <a:lstStyle/>
          <a:p>
            <a:r>
              <a:rPr lang="en-US" dirty="0"/>
              <a:t>Competitive analysis and Game theory</a:t>
            </a:r>
          </a:p>
        </p:txBody>
      </p:sp>
      <p:sp>
        <p:nvSpPr>
          <p:cNvPr id="4" name="Date Placeholder 3">
            <a:extLst>
              <a:ext uri="{FF2B5EF4-FFF2-40B4-BE49-F238E27FC236}">
                <a16:creationId xmlns:a16="http://schemas.microsoft.com/office/drawing/2014/main" id="{392F96BD-670E-514F-A5F2-973DF3CCAB38}"/>
              </a:ext>
            </a:extLst>
          </p:cNvPr>
          <p:cNvSpPr>
            <a:spLocks noGrp="1"/>
          </p:cNvSpPr>
          <p:nvPr>
            <p:ph type="dt" sz="half" idx="10"/>
          </p:nvPr>
        </p:nvSpPr>
        <p:spPr/>
        <p:txBody>
          <a:bodyPr/>
          <a:lstStyle/>
          <a:p>
            <a:fld id="{D47A9A36-4EB0-BF46-AE48-7CDA251B954B}" type="datetime1">
              <a:rPr lang="en-US" smtClean="0"/>
              <a:pPr/>
              <a:t>10/31/2025</a:t>
            </a:fld>
            <a:endParaRPr lang="en-US" dirty="0"/>
          </a:p>
        </p:txBody>
      </p:sp>
      <p:sp>
        <p:nvSpPr>
          <p:cNvPr id="5" name="Slide Number Placeholder 4">
            <a:extLst>
              <a:ext uri="{FF2B5EF4-FFF2-40B4-BE49-F238E27FC236}">
                <a16:creationId xmlns:a16="http://schemas.microsoft.com/office/drawing/2014/main" id="{058CC335-C19F-384A-BAA8-CB7EC492ADEB}"/>
              </a:ext>
            </a:extLst>
          </p:cNvPr>
          <p:cNvSpPr>
            <a:spLocks noGrp="1"/>
          </p:cNvSpPr>
          <p:nvPr>
            <p:ph type="sldNum" sz="quarter" idx="12"/>
          </p:nvPr>
        </p:nvSpPr>
        <p:spPr/>
        <p:txBody>
          <a:bodyPr/>
          <a:lstStyle/>
          <a:p>
            <a:fld id="{8A7A6979-0714-4377-B894-6BE4C2D6E202}" type="slidenum">
              <a:rPr lang="en-US" smtClean="0"/>
              <a:pPr/>
              <a:t>19</a:t>
            </a:fld>
            <a:endParaRPr lang="en-US" dirty="0"/>
          </a:p>
        </p:txBody>
      </p:sp>
    </p:spTree>
    <p:extLst>
      <p:ext uri="{BB962C8B-B14F-4D97-AF65-F5344CB8AC3E}">
        <p14:creationId xmlns:p14="http://schemas.microsoft.com/office/powerpoint/2010/main" val="340636273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711A7E-2C3C-7861-8507-12A176C372A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4008DFE-376D-1C41-E555-9069C9D43076}"/>
              </a:ext>
            </a:extLst>
          </p:cNvPr>
          <p:cNvSpPr>
            <a:spLocks noGrp="1"/>
          </p:cNvSpPr>
          <p:nvPr>
            <p:ph type="ctrTitle"/>
          </p:nvPr>
        </p:nvSpPr>
        <p:spPr>
          <a:xfrm>
            <a:off x="2107520" y="437030"/>
            <a:ext cx="7988980" cy="332399"/>
          </a:xfrm>
        </p:spPr>
        <p:txBody>
          <a:bodyPr/>
          <a:lstStyle/>
          <a:p>
            <a:r>
              <a:rPr lang="en-US" dirty="0"/>
              <a:t>EVC Calculations Have a Strong Assumption</a:t>
            </a:r>
          </a:p>
        </p:txBody>
      </p:sp>
      <p:sp>
        <p:nvSpPr>
          <p:cNvPr id="4" name="Text Placeholder 3">
            <a:extLst>
              <a:ext uri="{FF2B5EF4-FFF2-40B4-BE49-F238E27FC236}">
                <a16:creationId xmlns:a16="http://schemas.microsoft.com/office/drawing/2014/main" id="{AC5886FC-BE59-EC00-CA5A-8B063B612F7D}"/>
              </a:ext>
            </a:extLst>
          </p:cNvPr>
          <p:cNvSpPr>
            <a:spLocks noGrp="1"/>
          </p:cNvSpPr>
          <p:nvPr>
            <p:ph type="body" sz="quarter" idx="14"/>
          </p:nvPr>
        </p:nvSpPr>
        <p:spPr>
          <a:xfrm>
            <a:off x="1828800" y="1579418"/>
            <a:ext cx="8949128" cy="4211781"/>
          </a:xfrm>
        </p:spPr>
        <p:txBody>
          <a:bodyPr>
            <a:normAutofit/>
          </a:bodyPr>
          <a:lstStyle/>
          <a:p>
            <a:r>
              <a:rPr lang="en-US" sz="2000" dirty="0"/>
              <a:t>Competitors respond to changes to the competitive landscape</a:t>
            </a:r>
          </a:p>
          <a:p>
            <a:endParaRPr lang="en-US" sz="2000" dirty="0"/>
          </a:p>
          <a:p>
            <a:r>
              <a:rPr lang="en-US" sz="2000" dirty="0"/>
              <a:t>How can competitors respond?</a:t>
            </a:r>
          </a:p>
          <a:p>
            <a:pPr lvl="1"/>
            <a:r>
              <a:rPr lang="en-US" sz="2000" dirty="0"/>
              <a:t>Reduce prices</a:t>
            </a:r>
          </a:p>
          <a:p>
            <a:pPr lvl="1"/>
            <a:r>
              <a:rPr lang="en-US" sz="2000" dirty="0"/>
              <a:t>Imitate product</a:t>
            </a:r>
          </a:p>
          <a:p>
            <a:pPr lvl="1"/>
            <a:r>
              <a:rPr lang="en-US" sz="2000" dirty="0"/>
              <a:t>Invest in new features</a:t>
            </a:r>
          </a:p>
          <a:p>
            <a:pPr lvl="1"/>
            <a:r>
              <a:rPr lang="en-US" sz="2000" dirty="0"/>
              <a:t>…</a:t>
            </a:r>
          </a:p>
          <a:p>
            <a:endParaRPr lang="en-US" sz="2000" dirty="0"/>
          </a:p>
          <a:p>
            <a:r>
              <a:rPr lang="en-US" sz="2000" dirty="0"/>
              <a:t>Game theory provides the tools to study strategic interactions between players</a:t>
            </a:r>
          </a:p>
          <a:p>
            <a:pPr lvl="1"/>
            <a:r>
              <a:rPr lang="en-US" sz="2000" dirty="0"/>
              <a:t>Players here are different firms (including us!)</a:t>
            </a:r>
          </a:p>
        </p:txBody>
      </p:sp>
      <p:sp>
        <p:nvSpPr>
          <p:cNvPr id="5" name="Date Placeholder 4">
            <a:extLst>
              <a:ext uri="{FF2B5EF4-FFF2-40B4-BE49-F238E27FC236}">
                <a16:creationId xmlns:a16="http://schemas.microsoft.com/office/drawing/2014/main" id="{F5D5CE4C-20EB-ACDD-5FB2-61DBF17BAA4F}"/>
              </a:ext>
            </a:extLst>
          </p:cNvPr>
          <p:cNvSpPr>
            <a:spLocks noGrp="1"/>
          </p:cNvSpPr>
          <p:nvPr>
            <p:ph type="dt" sz="half" idx="10"/>
          </p:nvPr>
        </p:nvSpPr>
        <p:spPr/>
        <p:txBody>
          <a:bodyPr/>
          <a:lstStyle/>
          <a:p>
            <a:fld id="{D47A9A36-4EB0-BF46-AE48-7CDA251B954B}" type="datetime1">
              <a:rPr lang="en-US" smtClean="0"/>
              <a:t>10/31/2025</a:t>
            </a:fld>
            <a:endParaRPr lang="en-US" dirty="0"/>
          </a:p>
        </p:txBody>
      </p:sp>
      <p:sp>
        <p:nvSpPr>
          <p:cNvPr id="6" name="Slide Number Placeholder 5">
            <a:extLst>
              <a:ext uri="{FF2B5EF4-FFF2-40B4-BE49-F238E27FC236}">
                <a16:creationId xmlns:a16="http://schemas.microsoft.com/office/drawing/2014/main" id="{06D4810C-BDB5-E919-E63C-8F6C8201C973}"/>
              </a:ext>
            </a:extLst>
          </p:cNvPr>
          <p:cNvSpPr>
            <a:spLocks noGrp="1"/>
          </p:cNvSpPr>
          <p:nvPr>
            <p:ph type="sldNum" sz="quarter" idx="12"/>
          </p:nvPr>
        </p:nvSpPr>
        <p:spPr/>
        <p:txBody>
          <a:bodyPr/>
          <a:lstStyle/>
          <a:p>
            <a:fld id="{8A7A6979-0714-4377-B894-6BE4C2D6E202}" type="slidenum">
              <a:rPr lang="en-US" smtClean="0"/>
              <a:pPr/>
              <a:t>20</a:t>
            </a:fld>
            <a:endParaRPr lang="en-US" dirty="0"/>
          </a:p>
        </p:txBody>
      </p:sp>
    </p:spTree>
    <p:extLst>
      <p:ext uri="{BB962C8B-B14F-4D97-AF65-F5344CB8AC3E}">
        <p14:creationId xmlns:p14="http://schemas.microsoft.com/office/powerpoint/2010/main" val="34482075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4">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8" end="8"/>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20A187-8D83-8686-B291-DCF3CEF2566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A12B81F-4006-1215-1E26-AB336685C57C}"/>
              </a:ext>
            </a:extLst>
          </p:cNvPr>
          <p:cNvSpPr>
            <a:spLocks noGrp="1"/>
          </p:cNvSpPr>
          <p:nvPr>
            <p:ph type="ctrTitle"/>
          </p:nvPr>
        </p:nvSpPr>
        <p:spPr>
          <a:xfrm>
            <a:off x="2107520" y="437030"/>
            <a:ext cx="7988980" cy="332399"/>
          </a:xfrm>
        </p:spPr>
        <p:txBody>
          <a:bodyPr/>
          <a:lstStyle/>
          <a:p>
            <a:r>
              <a:rPr lang="en-US" dirty="0"/>
              <a:t>Game Theory Key Ideas</a:t>
            </a:r>
          </a:p>
        </p:txBody>
      </p:sp>
      <p:sp>
        <p:nvSpPr>
          <p:cNvPr id="4" name="Text Placeholder 3">
            <a:extLst>
              <a:ext uri="{FF2B5EF4-FFF2-40B4-BE49-F238E27FC236}">
                <a16:creationId xmlns:a16="http://schemas.microsoft.com/office/drawing/2014/main" id="{360C29D8-F0DA-B991-8DB5-D9E2E7181667}"/>
              </a:ext>
            </a:extLst>
          </p:cNvPr>
          <p:cNvSpPr>
            <a:spLocks noGrp="1"/>
          </p:cNvSpPr>
          <p:nvPr>
            <p:ph type="body" sz="quarter" idx="14"/>
          </p:nvPr>
        </p:nvSpPr>
        <p:spPr>
          <a:xfrm>
            <a:off x="1828800" y="1579418"/>
            <a:ext cx="8949128" cy="4211781"/>
          </a:xfrm>
        </p:spPr>
        <p:txBody>
          <a:bodyPr>
            <a:normAutofit/>
          </a:bodyPr>
          <a:lstStyle/>
          <a:p>
            <a:r>
              <a:rPr lang="en-US" sz="2000" dirty="0"/>
              <a:t>Individuals acting strategically in their best interests taking into account other player’s strategies</a:t>
            </a:r>
          </a:p>
          <a:p>
            <a:pPr lvl="1"/>
            <a:r>
              <a:rPr lang="en-US" sz="2000" dirty="0"/>
              <a:t>If we change the game (i.e. market) by introducing a new feature / product, how will competitors respond?</a:t>
            </a:r>
          </a:p>
          <a:p>
            <a:endParaRPr lang="en-US" sz="2000" dirty="0"/>
          </a:p>
          <a:p>
            <a:r>
              <a:rPr lang="en-US" sz="2000" dirty="0"/>
              <a:t>Nash Equilibrium: No player can profit from a deviation given the strategies of others</a:t>
            </a:r>
          </a:p>
          <a:p>
            <a:endParaRPr lang="en-US" sz="2000" dirty="0"/>
          </a:p>
          <a:p>
            <a:r>
              <a:rPr lang="en-US" sz="2000" dirty="0"/>
              <a:t>Game theory is an incredibly rich field </a:t>
            </a:r>
          </a:p>
          <a:p>
            <a:pPr lvl="1"/>
            <a:r>
              <a:rPr lang="en-US" sz="2000" dirty="0"/>
              <a:t>Not possible to cover in a 6 week class, let alone half a class!</a:t>
            </a:r>
          </a:p>
          <a:p>
            <a:pPr lvl="1"/>
            <a:r>
              <a:rPr lang="en-US" sz="2000" dirty="0"/>
              <a:t>Without formal modeling, we can reason about equilibrium concepts</a:t>
            </a:r>
          </a:p>
          <a:p>
            <a:pPr lvl="2"/>
            <a:r>
              <a:rPr lang="en-US" sz="2000" dirty="0"/>
              <a:t>i.e. if we undercut our competitors’ price, how will they respond?</a:t>
            </a:r>
          </a:p>
          <a:p>
            <a:endParaRPr lang="en-US" sz="2000" dirty="0"/>
          </a:p>
        </p:txBody>
      </p:sp>
      <p:sp>
        <p:nvSpPr>
          <p:cNvPr id="5" name="Date Placeholder 4">
            <a:extLst>
              <a:ext uri="{FF2B5EF4-FFF2-40B4-BE49-F238E27FC236}">
                <a16:creationId xmlns:a16="http://schemas.microsoft.com/office/drawing/2014/main" id="{D3731A81-DA50-1617-4E6F-2F3228475094}"/>
              </a:ext>
            </a:extLst>
          </p:cNvPr>
          <p:cNvSpPr>
            <a:spLocks noGrp="1"/>
          </p:cNvSpPr>
          <p:nvPr>
            <p:ph type="dt" sz="half" idx="10"/>
          </p:nvPr>
        </p:nvSpPr>
        <p:spPr/>
        <p:txBody>
          <a:bodyPr/>
          <a:lstStyle/>
          <a:p>
            <a:fld id="{D47A9A36-4EB0-BF46-AE48-7CDA251B954B}" type="datetime1">
              <a:rPr lang="en-US" smtClean="0"/>
              <a:t>10/31/2025</a:t>
            </a:fld>
            <a:endParaRPr lang="en-US" dirty="0"/>
          </a:p>
        </p:txBody>
      </p:sp>
      <p:sp>
        <p:nvSpPr>
          <p:cNvPr id="6" name="Slide Number Placeholder 5">
            <a:extLst>
              <a:ext uri="{FF2B5EF4-FFF2-40B4-BE49-F238E27FC236}">
                <a16:creationId xmlns:a16="http://schemas.microsoft.com/office/drawing/2014/main" id="{66548539-BBA1-73B0-7462-366B4FA27BC0}"/>
              </a:ext>
            </a:extLst>
          </p:cNvPr>
          <p:cNvSpPr>
            <a:spLocks noGrp="1"/>
          </p:cNvSpPr>
          <p:nvPr>
            <p:ph type="sldNum" sz="quarter" idx="12"/>
          </p:nvPr>
        </p:nvSpPr>
        <p:spPr/>
        <p:txBody>
          <a:bodyPr/>
          <a:lstStyle/>
          <a:p>
            <a:fld id="{8A7A6979-0714-4377-B894-6BE4C2D6E202}" type="slidenum">
              <a:rPr lang="en-US" smtClean="0"/>
              <a:pPr/>
              <a:t>21</a:t>
            </a:fld>
            <a:endParaRPr lang="en-US" dirty="0"/>
          </a:p>
        </p:txBody>
      </p:sp>
    </p:spTree>
    <p:extLst>
      <p:ext uri="{BB962C8B-B14F-4D97-AF65-F5344CB8AC3E}">
        <p14:creationId xmlns:p14="http://schemas.microsoft.com/office/powerpoint/2010/main" val="3007869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5" end="5"/>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
                                            <p:txEl>
                                              <p:pRg st="6" end="6"/>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
                                            <p:txEl>
                                              <p:pRg st="7" end="7"/>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CC8FEF-D9CE-977B-4EB7-20E4F167178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D3E51B6-C561-95BA-A2AB-5004B5F24A9A}"/>
              </a:ext>
            </a:extLst>
          </p:cNvPr>
          <p:cNvSpPr>
            <a:spLocks noGrp="1"/>
          </p:cNvSpPr>
          <p:nvPr>
            <p:ph type="ctrTitle"/>
          </p:nvPr>
        </p:nvSpPr>
        <p:spPr>
          <a:xfrm>
            <a:off x="2107520" y="437030"/>
            <a:ext cx="7988980" cy="332399"/>
          </a:xfrm>
        </p:spPr>
        <p:txBody>
          <a:bodyPr/>
          <a:lstStyle/>
          <a:p>
            <a:r>
              <a:rPr lang="en-US" dirty="0"/>
              <a:t>Finding Equilibria</a:t>
            </a:r>
          </a:p>
        </p:txBody>
      </p:sp>
      <p:sp>
        <p:nvSpPr>
          <p:cNvPr id="4" name="Text Placeholder 3">
            <a:extLst>
              <a:ext uri="{FF2B5EF4-FFF2-40B4-BE49-F238E27FC236}">
                <a16:creationId xmlns:a16="http://schemas.microsoft.com/office/drawing/2014/main" id="{51BCCC47-8C3D-8E97-DFD9-6D854A4C3EAF}"/>
              </a:ext>
            </a:extLst>
          </p:cNvPr>
          <p:cNvSpPr>
            <a:spLocks noGrp="1"/>
          </p:cNvSpPr>
          <p:nvPr>
            <p:ph type="body" sz="quarter" idx="14"/>
          </p:nvPr>
        </p:nvSpPr>
        <p:spPr>
          <a:xfrm>
            <a:off x="1828800" y="1579418"/>
            <a:ext cx="8949128" cy="4211781"/>
          </a:xfrm>
        </p:spPr>
        <p:txBody>
          <a:bodyPr>
            <a:normAutofit/>
          </a:bodyPr>
          <a:lstStyle/>
          <a:p>
            <a:r>
              <a:rPr lang="en-US" sz="2000" dirty="0"/>
              <a:t>General idea: Calculate best-response functions of each player</a:t>
            </a:r>
          </a:p>
          <a:p>
            <a:pPr lvl="1"/>
            <a:r>
              <a:rPr lang="en-US" sz="2000" dirty="0"/>
              <a:t>This is function returns the best move you can make in response to the other players’ strategies</a:t>
            </a:r>
          </a:p>
          <a:p>
            <a:pPr lvl="1"/>
            <a:r>
              <a:rPr lang="en-US" sz="2000" dirty="0"/>
              <a:t>Equilibrium is when every player is best-responding to everyone else</a:t>
            </a:r>
          </a:p>
        </p:txBody>
      </p:sp>
      <p:pic>
        <p:nvPicPr>
          <p:cNvPr id="7" name="Picture 6" descr="A 2×2 payoff matrix illustrating the Prisoner’s Dilemma. When both players cooperate, each gets –1. If one defects while the other cooperates, the defector gets 0 and the cooperator gets –10. If both defect, each gets –5.">
            <a:extLst>
              <a:ext uri="{FF2B5EF4-FFF2-40B4-BE49-F238E27FC236}">
                <a16:creationId xmlns:a16="http://schemas.microsoft.com/office/drawing/2014/main" id="{FC406590-E06D-F45C-D993-A58E4DADEC5F}"/>
              </a:ext>
            </a:extLst>
          </p:cNvPr>
          <p:cNvPicPr>
            <a:picLocks noChangeAspect="1"/>
          </p:cNvPicPr>
          <p:nvPr/>
        </p:nvPicPr>
        <p:blipFill>
          <a:blip r:embed="rId3"/>
          <a:stretch>
            <a:fillRect/>
          </a:stretch>
        </p:blipFill>
        <p:spPr>
          <a:xfrm>
            <a:off x="1866900" y="3254660"/>
            <a:ext cx="3251200" cy="2286000"/>
          </a:xfrm>
          <a:prstGeom prst="rect">
            <a:avLst/>
          </a:prstGeom>
        </p:spPr>
      </p:pic>
      <p:pic>
        <p:nvPicPr>
          <p:cNvPr id="9" name="Picture 8" descr="A 2×2 payoff matrix representing the game of Chicken. If both players swerve, the result is “Tie, Tie.” If one goes straight while the other swerves, the straight player “Wins” and the other “Loses.” If both go straight, the outcome is “Crash, Crash,” illustrating mutual destruction from aggressive strategies.">
            <a:extLst>
              <a:ext uri="{FF2B5EF4-FFF2-40B4-BE49-F238E27FC236}">
                <a16:creationId xmlns:a16="http://schemas.microsoft.com/office/drawing/2014/main" id="{D654CBED-E3FA-EE99-5247-935F451E34C5}"/>
              </a:ext>
            </a:extLst>
          </p:cNvPr>
          <p:cNvPicPr>
            <a:picLocks noChangeAspect="1"/>
          </p:cNvPicPr>
          <p:nvPr/>
        </p:nvPicPr>
        <p:blipFill>
          <a:blip r:embed="rId4"/>
          <a:stretch>
            <a:fillRect/>
          </a:stretch>
        </p:blipFill>
        <p:spPr>
          <a:xfrm>
            <a:off x="6101453" y="3385699"/>
            <a:ext cx="3421392" cy="2023922"/>
          </a:xfrm>
          <a:prstGeom prst="rect">
            <a:avLst/>
          </a:prstGeom>
        </p:spPr>
      </p:pic>
      <p:sp>
        <p:nvSpPr>
          <p:cNvPr id="5" name="Date Placeholder 4">
            <a:extLst>
              <a:ext uri="{FF2B5EF4-FFF2-40B4-BE49-F238E27FC236}">
                <a16:creationId xmlns:a16="http://schemas.microsoft.com/office/drawing/2014/main" id="{B6F7A544-D643-C00A-F25C-B543998F180D}"/>
              </a:ext>
            </a:extLst>
          </p:cNvPr>
          <p:cNvSpPr>
            <a:spLocks noGrp="1"/>
          </p:cNvSpPr>
          <p:nvPr>
            <p:ph type="dt" sz="half" idx="10"/>
          </p:nvPr>
        </p:nvSpPr>
        <p:spPr/>
        <p:txBody>
          <a:bodyPr/>
          <a:lstStyle/>
          <a:p>
            <a:fld id="{D47A9A36-4EB0-BF46-AE48-7CDA251B954B}" type="datetime1">
              <a:rPr lang="en-US" smtClean="0"/>
              <a:t>10/31/2025</a:t>
            </a:fld>
            <a:endParaRPr lang="en-US" dirty="0"/>
          </a:p>
        </p:txBody>
      </p:sp>
      <p:sp>
        <p:nvSpPr>
          <p:cNvPr id="6" name="Slide Number Placeholder 5">
            <a:extLst>
              <a:ext uri="{FF2B5EF4-FFF2-40B4-BE49-F238E27FC236}">
                <a16:creationId xmlns:a16="http://schemas.microsoft.com/office/drawing/2014/main" id="{23E040C2-9E68-838C-74B2-1C68510C2731}"/>
              </a:ext>
            </a:extLst>
          </p:cNvPr>
          <p:cNvSpPr>
            <a:spLocks noGrp="1"/>
          </p:cNvSpPr>
          <p:nvPr>
            <p:ph type="sldNum" sz="quarter" idx="12"/>
          </p:nvPr>
        </p:nvSpPr>
        <p:spPr/>
        <p:txBody>
          <a:bodyPr/>
          <a:lstStyle/>
          <a:p>
            <a:fld id="{8A7A6979-0714-4377-B894-6BE4C2D6E202}" type="slidenum">
              <a:rPr lang="en-US" smtClean="0"/>
              <a:pPr/>
              <a:t>22</a:t>
            </a:fld>
            <a:endParaRPr lang="en-US" dirty="0"/>
          </a:p>
        </p:txBody>
      </p:sp>
    </p:spTree>
    <p:extLst>
      <p:ext uri="{BB962C8B-B14F-4D97-AF65-F5344CB8AC3E}">
        <p14:creationId xmlns:p14="http://schemas.microsoft.com/office/powerpoint/2010/main" val="23166530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23C097-A137-4BC3-9CA2-F62AF37813A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F81C653-0D90-7D48-A315-B4FBF7FF93DC}"/>
              </a:ext>
            </a:extLst>
          </p:cNvPr>
          <p:cNvSpPr>
            <a:spLocks noGrp="1"/>
          </p:cNvSpPr>
          <p:nvPr>
            <p:ph type="ctrTitle"/>
          </p:nvPr>
        </p:nvSpPr>
        <p:spPr>
          <a:xfrm>
            <a:off x="2107520" y="437030"/>
            <a:ext cx="7988980" cy="332399"/>
          </a:xfrm>
        </p:spPr>
        <p:txBody>
          <a:bodyPr/>
          <a:lstStyle/>
          <a:p>
            <a:r>
              <a:rPr lang="en-US" dirty="0"/>
              <a:t>Game Theory to Understand Competitive Response</a:t>
            </a:r>
          </a:p>
        </p:txBody>
      </p:sp>
      <p:sp>
        <p:nvSpPr>
          <p:cNvPr id="4" name="Text Placeholder 3">
            <a:extLst>
              <a:ext uri="{FF2B5EF4-FFF2-40B4-BE49-F238E27FC236}">
                <a16:creationId xmlns:a16="http://schemas.microsoft.com/office/drawing/2014/main" id="{2F6FB585-058D-B145-F673-95B622C8ADE3}"/>
              </a:ext>
            </a:extLst>
          </p:cNvPr>
          <p:cNvSpPr>
            <a:spLocks noGrp="1"/>
          </p:cNvSpPr>
          <p:nvPr>
            <p:ph type="body" sz="quarter" idx="14"/>
          </p:nvPr>
        </p:nvSpPr>
        <p:spPr>
          <a:xfrm>
            <a:off x="1828800" y="1579418"/>
            <a:ext cx="8949128" cy="4211781"/>
          </a:xfrm>
        </p:spPr>
        <p:txBody>
          <a:bodyPr>
            <a:normAutofit/>
          </a:bodyPr>
          <a:lstStyle/>
          <a:p>
            <a:r>
              <a:rPr lang="en-US" sz="2000" dirty="0"/>
              <a:t>If we enter the market with a new product or feature, how will competitor respond?</a:t>
            </a:r>
          </a:p>
          <a:p>
            <a:endParaRPr lang="en-US" sz="2000" dirty="0"/>
          </a:p>
          <a:p>
            <a:r>
              <a:rPr lang="en-US" sz="2000" dirty="0"/>
              <a:t>We can reason about their best-response to our new product / feature</a:t>
            </a:r>
          </a:p>
          <a:p>
            <a:pPr lvl="1"/>
            <a:r>
              <a:rPr lang="en-US" sz="2000" dirty="0"/>
              <a:t>Competitors notice a negative EVC of their product</a:t>
            </a:r>
          </a:p>
          <a:p>
            <a:endParaRPr lang="en-US" sz="2000" dirty="0"/>
          </a:p>
          <a:p>
            <a:r>
              <a:rPr lang="en-US" sz="2000" dirty="0"/>
              <a:t>Best response likely includes a combination of:</a:t>
            </a:r>
          </a:p>
          <a:p>
            <a:pPr lvl="1"/>
            <a:r>
              <a:rPr lang="en-US" sz="2000" dirty="0"/>
              <a:t>Price decreases to make competitor’s EVC calculations look more favorable</a:t>
            </a:r>
          </a:p>
          <a:p>
            <a:pPr lvl="1"/>
            <a:r>
              <a:rPr lang="en-US" sz="2000" dirty="0"/>
              <a:t>Imitation / investment to reduce the disparity in differentiation value</a:t>
            </a:r>
          </a:p>
          <a:p>
            <a:endParaRPr lang="en-US" sz="2000" dirty="0"/>
          </a:p>
        </p:txBody>
      </p:sp>
      <p:sp>
        <p:nvSpPr>
          <p:cNvPr id="5" name="Date Placeholder 4">
            <a:extLst>
              <a:ext uri="{FF2B5EF4-FFF2-40B4-BE49-F238E27FC236}">
                <a16:creationId xmlns:a16="http://schemas.microsoft.com/office/drawing/2014/main" id="{771C48DB-83B8-A38D-4D53-D4FFBC42A2BB}"/>
              </a:ext>
            </a:extLst>
          </p:cNvPr>
          <p:cNvSpPr>
            <a:spLocks noGrp="1"/>
          </p:cNvSpPr>
          <p:nvPr>
            <p:ph type="dt" sz="half" idx="10"/>
          </p:nvPr>
        </p:nvSpPr>
        <p:spPr/>
        <p:txBody>
          <a:bodyPr/>
          <a:lstStyle/>
          <a:p>
            <a:fld id="{D47A9A36-4EB0-BF46-AE48-7CDA251B954B}" type="datetime1">
              <a:rPr lang="en-US" smtClean="0"/>
              <a:t>10/31/2025</a:t>
            </a:fld>
            <a:endParaRPr lang="en-US" dirty="0"/>
          </a:p>
        </p:txBody>
      </p:sp>
      <p:sp>
        <p:nvSpPr>
          <p:cNvPr id="6" name="Slide Number Placeholder 5">
            <a:extLst>
              <a:ext uri="{FF2B5EF4-FFF2-40B4-BE49-F238E27FC236}">
                <a16:creationId xmlns:a16="http://schemas.microsoft.com/office/drawing/2014/main" id="{976890B5-C37D-8174-4A9F-C7F71E8BB39D}"/>
              </a:ext>
            </a:extLst>
          </p:cNvPr>
          <p:cNvSpPr>
            <a:spLocks noGrp="1"/>
          </p:cNvSpPr>
          <p:nvPr>
            <p:ph type="sldNum" sz="quarter" idx="12"/>
          </p:nvPr>
        </p:nvSpPr>
        <p:spPr/>
        <p:txBody>
          <a:bodyPr/>
          <a:lstStyle/>
          <a:p>
            <a:fld id="{8A7A6979-0714-4377-B894-6BE4C2D6E202}" type="slidenum">
              <a:rPr lang="en-US" smtClean="0"/>
              <a:pPr/>
              <a:t>23</a:t>
            </a:fld>
            <a:endParaRPr lang="en-US" dirty="0"/>
          </a:p>
        </p:txBody>
      </p:sp>
    </p:spTree>
    <p:extLst>
      <p:ext uri="{BB962C8B-B14F-4D97-AF65-F5344CB8AC3E}">
        <p14:creationId xmlns:p14="http://schemas.microsoft.com/office/powerpoint/2010/main" val="34405524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4">
                                            <p:txEl>
                                              <p:pRg st="5" end="5"/>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
                                            <p:txEl>
                                              <p:pRg st="6" end="6"/>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608521-B2DF-89BD-7BAC-30BEF4A2531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ABBC320-0D3B-6E73-2FE4-9060C27A7241}"/>
              </a:ext>
            </a:extLst>
          </p:cNvPr>
          <p:cNvSpPr>
            <a:spLocks noGrp="1"/>
          </p:cNvSpPr>
          <p:nvPr>
            <p:ph type="ctrTitle"/>
          </p:nvPr>
        </p:nvSpPr>
        <p:spPr>
          <a:xfrm>
            <a:off x="2107520" y="437030"/>
            <a:ext cx="7988980" cy="332399"/>
          </a:xfrm>
        </p:spPr>
        <p:txBody>
          <a:bodyPr/>
          <a:lstStyle/>
          <a:p>
            <a:r>
              <a:rPr lang="en-US" dirty="0"/>
              <a:t>Game Theory to Understand Competitive Response, Part 2</a:t>
            </a:r>
          </a:p>
        </p:txBody>
      </p:sp>
      <p:sp>
        <p:nvSpPr>
          <p:cNvPr id="4" name="Text Placeholder 3">
            <a:extLst>
              <a:ext uri="{FF2B5EF4-FFF2-40B4-BE49-F238E27FC236}">
                <a16:creationId xmlns:a16="http://schemas.microsoft.com/office/drawing/2014/main" id="{5671F660-3F52-759E-69CF-4CA082B57DA4}"/>
              </a:ext>
            </a:extLst>
          </p:cNvPr>
          <p:cNvSpPr>
            <a:spLocks noGrp="1"/>
          </p:cNvSpPr>
          <p:nvPr>
            <p:ph type="body" sz="quarter" idx="14"/>
          </p:nvPr>
        </p:nvSpPr>
        <p:spPr>
          <a:xfrm>
            <a:off x="1828800" y="1579418"/>
            <a:ext cx="8949128" cy="4211781"/>
          </a:xfrm>
        </p:spPr>
        <p:txBody>
          <a:bodyPr>
            <a:normAutofit/>
          </a:bodyPr>
          <a:lstStyle/>
          <a:p>
            <a:r>
              <a:rPr lang="en-US" sz="2000" dirty="0"/>
              <a:t>Important question at design phase: Is competitive advantage sustainable?</a:t>
            </a:r>
          </a:p>
          <a:p>
            <a:endParaRPr lang="en-US" sz="2000" dirty="0"/>
          </a:p>
          <a:p>
            <a:r>
              <a:rPr lang="en-US" sz="2000" dirty="0"/>
              <a:t>How will our EVC calculations change after the competitor responds by cutting prices or changing their product offering?</a:t>
            </a:r>
          </a:p>
          <a:p>
            <a:endParaRPr lang="en-US" sz="2000" dirty="0"/>
          </a:p>
          <a:p>
            <a:r>
              <a:rPr lang="en-US" sz="2000" dirty="0"/>
              <a:t>Two scenarios:</a:t>
            </a:r>
          </a:p>
          <a:p>
            <a:pPr lvl="1"/>
            <a:r>
              <a:rPr lang="en-US" sz="2000" dirty="0"/>
              <a:t>Large differentiation value: prevent competition from copying innovation?</a:t>
            </a:r>
          </a:p>
          <a:p>
            <a:pPr lvl="2"/>
            <a:r>
              <a:rPr lang="en-US" sz="2000" dirty="0"/>
              <a:t>Patents, proprietary technology, proprietary data, network effects, switching costs, …</a:t>
            </a:r>
          </a:p>
          <a:p>
            <a:pPr lvl="1"/>
            <a:r>
              <a:rPr lang="en-US" sz="2000" dirty="0"/>
              <a:t>Small differentiation value:</a:t>
            </a:r>
          </a:p>
          <a:p>
            <a:pPr lvl="2"/>
            <a:r>
              <a:rPr lang="en-US" sz="2000" dirty="0"/>
              <a:t>Price war has at most two winners: Customer and low-cost producer</a:t>
            </a:r>
          </a:p>
        </p:txBody>
      </p:sp>
      <p:sp>
        <p:nvSpPr>
          <p:cNvPr id="5" name="Date Placeholder 4">
            <a:extLst>
              <a:ext uri="{FF2B5EF4-FFF2-40B4-BE49-F238E27FC236}">
                <a16:creationId xmlns:a16="http://schemas.microsoft.com/office/drawing/2014/main" id="{A508B9A9-86BA-1C3A-BBE4-9844F82D349F}"/>
              </a:ext>
            </a:extLst>
          </p:cNvPr>
          <p:cNvSpPr>
            <a:spLocks noGrp="1"/>
          </p:cNvSpPr>
          <p:nvPr>
            <p:ph type="dt" sz="half" idx="10"/>
          </p:nvPr>
        </p:nvSpPr>
        <p:spPr/>
        <p:txBody>
          <a:bodyPr/>
          <a:lstStyle/>
          <a:p>
            <a:fld id="{D47A9A36-4EB0-BF46-AE48-7CDA251B954B}" type="datetime1">
              <a:rPr lang="en-US" smtClean="0"/>
              <a:t>10/31/2025</a:t>
            </a:fld>
            <a:endParaRPr lang="en-US" dirty="0"/>
          </a:p>
        </p:txBody>
      </p:sp>
      <p:sp>
        <p:nvSpPr>
          <p:cNvPr id="6" name="Slide Number Placeholder 5">
            <a:extLst>
              <a:ext uri="{FF2B5EF4-FFF2-40B4-BE49-F238E27FC236}">
                <a16:creationId xmlns:a16="http://schemas.microsoft.com/office/drawing/2014/main" id="{30AC14AF-B107-E216-814D-A27E47CF3DC6}"/>
              </a:ext>
            </a:extLst>
          </p:cNvPr>
          <p:cNvSpPr>
            <a:spLocks noGrp="1"/>
          </p:cNvSpPr>
          <p:nvPr>
            <p:ph type="sldNum" sz="quarter" idx="12"/>
          </p:nvPr>
        </p:nvSpPr>
        <p:spPr/>
        <p:txBody>
          <a:bodyPr/>
          <a:lstStyle/>
          <a:p>
            <a:fld id="{8A7A6979-0714-4377-B894-6BE4C2D6E202}" type="slidenum">
              <a:rPr lang="en-US" smtClean="0"/>
              <a:pPr/>
              <a:t>24</a:t>
            </a:fld>
            <a:endParaRPr lang="en-US" dirty="0"/>
          </a:p>
        </p:txBody>
      </p:sp>
    </p:spTree>
    <p:extLst>
      <p:ext uri="{BB962C8B-B14F-4D97-AF65-F5344CB8AC3E}">
        <p14:creationId xmlns:p14="http://schemas.microsoft.com/office/powerpoint/2010/main" val="22442712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4">
                                            <p:txEl>
                                              <p:pRg st="7" end="7"/>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6D57E7-77A0-E4F4-2666-E59879BF5F9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5C675D3-25F8-BEBF-4F2B-679B22129AFA}"/>
              </a:ext>
            </a:extLst>
          </p:cNvPr>
          <p:cNvSpPr>
            <a:spLocks noGrp="1"/>
          </p:cNvSpPr>
          <p:nvPr>
            <p:ph type="ctrTitle"/>
          </p:nvPr>
        </p:nvSpPr>
        <p:spPr>
          <a:xfrm>
            <a:off x="2647199" y="1501742"/>
            <a:ext cx="7300940" cy="664797"/>
          </a:xfrm>
        </p:spPr>
        <p:txBody>
          <a:bodyPr/>
          <a:lstStyle/>
          <a:p>
            <a:r>
              <a:rPr lang="en-US" dirty="0"/>
              <a:t>Practice EVC</a:t>
            </a:r>
          </a:p>
        </p:txBody>
      </p:sp>
      <p:sp>
        <p:nvSpPr>
          <p:cNvPr id="4" name="Date Placeholder 3">
            <a:extLst>
              <a:ext uri="{FF2B5EF4-FFF2-40B4-BE49-F238E27FC236}">
                <a16:creationId xmlns:a16="http://schemas.microsoft.com/office/drawing/2014/main" id="{0D47D665-FFBB-89C6-3A02-52F71F66A49F}"/>
              </a:ext>
            </a:extLst>
          </p:cNvPr>
          <p:cNvSpPr>
            <a:spLocks noGrp="1"/>
          </p:cNvSpPr>
          <p:nvPr>
            <p:ph type="dt" sz="half" idx="10"/>
          </p:nvPr>
        </p:nvSpPr>
        <p:spPr/>
        <p:txBody>
          <a:bodyPr/>
          <a:lstStyle/>
          <a:p>
            <a:fld id="{D47A9A36-4EB0-BF46-AE48-7CDA251B954B}" type="datetime1">
              <a:rPr lang="en-US" smtClean="0"/>
              <a:pPr/>
              <a:t>10/31/2025</a:t>
            </a:fld>
            <a:endParaRPr lang="en-US" dirty="0"/>
          </a:p>
        </p:txBody>
      </p:sp>
      <p:sp>
        <p:nvSpPr>
          <p:cNvPr id="5" name="Slide Number Placeholder 4">
            <a:extLst>
              <a:ext uri="{FF2B5EF4-FFF2-40B4-BE49-F238E27FC236}">
                <a16:creationId xmlns:a16="http://schemas.microsoft.com/office/drawing/2014/main" id="{EC99B0BF-D949-16B0-617F-0C7D2831A76F}"/>
              </a:ext>
            </a:extLst>
          </p:cNvPr>
          <p:cNvSpPr>
            <a:spLocks noGrp="1"/>
          </p:cNvSpPr>
          <p:nvPr>
            <p:ph type="sldNum" sz="quarter" idx="12"/>
          </p:nvPr>
        </p:nvSpPr>
        <p:spPr/>
        <p:txBody>
          <a:bodyPr/>
          <a:lstStyle/>
          <a:p>
            <a:fld id="{8A7A6979-0714-4377-B894-6BE4C2D6E202}" type="slidenum">
              <a:rPr lang="en-US" smtClean="0"/>
              <a:pPr/>
              <a:t>25</a:t>
            </a:fld>
            <a:endParaRPr lang="en-US" dirty="0"/>
          </a:p>
        </p:txBody>
      </p:sp>
    </p:spTree>
    <p:extLst>
      <p:ext uri="{BB962C8B-B14F-4D97-AF65-F5344CB8AC3E}">
        <p14:creationId xmlns:p14="http://schemas.microsoft.com/office/powerpoint/2010/main" val="155878757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C4A321-4E6F-82D5-07FB-479CB7E5085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11B46B3-EF5C-FA77-00F1-3473B2E8B13B}"/>
              </a:ext>
            </a:extLst>
          </p:cNvPr>
          <p:cNvSpPr>
            <a:spLocks noGrp="1"/>
          </p:cNvSpPr>
          <p:nvPr>
            <p:ph type="ctrTitle"/>
          </p:nvPr>
        </p:nvSpPr>
        <p:spPr>
          <a:xfrm>
            <a:off x="2107520" y="437030"/>
            <a:ext cx="7988980" cy="332399"/>
          </a:xfrm>
        </p:spPr>
        <p:txBody>
          <a:bodyPr/>
          <a:lstStyle/>
          <a:p>
            <a:r>
              <a:rPr lang="en-US" dirty="0"/>
              <a:t>Practice EVC</a:t>
            </a:r>
          </a:p>
        </p:txBody>
      </p:sp>
      <p:sp>
        <p:nvSpPr>
          <p:cNvPr id="4" name="Text Placeholder 3">
            <a:extLst>
              <a:ext uri="{FF2B5EF4-FFF2-40B4-BE49-F238E27FC236}">
                <a16:creationId xmlns:a16="http://schemas.microsoft.com/office/drawing/2014/main" id="{97F2B604-748D-C9D9-99D7-23CCAC24F507}"/>
              </a:ext>
            </a:extLst>
          </p:cNvPr>
          <p:cNvSpPr>
            <a:spLocks noGrp="1"/>
          </p:cNvSpPr>
          <p:nvPr>
            <p:ph type="body" sz="quarter" idx="14"/>
          </p:nvPr>
        </p:nvSpPr>
        <p:spPr>
          <a:xfrm>
            <a:off x="1828800" y="1579418"/>
            <a:ext cx="8949128" cy="4211781"/>
          </a:xfrm>
        </p:spPr>
        <p:txBody>
          <a:bodyPr>
            <a:normAutofit/>
          </a:bodyPr>
          <a:lstStyle/>
          <a:p>
            <a:r>
              <a:rPr lang="en-US" sz="2000" dirty="0"/>
              <a:t>Let’s do an EVC analysis for the product you are using in your project</a:t>
            </a:r>
          </a:p>
          <a:p>
            <a:endParaRPr lang="en-US" sz="2000" dirty="0"/>
          </a:p>
          <a:p>
            <a:r>
              <a:rPr lang="en-US" sz="2000" dirty="0"/>
              <a:t>Gather as a team, work through the various steps for the product</a:t>
            </a:r>
          </a:p>
        </p:txBody>
      </p:sp>
      <p:sp>
        <p:nvSpPr>
          <p:cNvPr id="5" name="Date Placeholder 4">
            <a:extLst>
              <a:ext uri="{FF2B5EF4-FFF2-40B4-BE49-F238E27FC236}">
                <a16:creationId xmlns:a16="http://schemas.microsoft.com/office/drawing/2014/main" id="{576ED1EE-F6D4-6DBE-7333-B3924AF46882}"/>
              </a:ext>
            </a:extLst>
          </p:cNvPr>
          <p:cNvSpPr>
            <a:spLocks noGrp="1"/>
          </p:cNvSpPr>
          <p:nvPr>
            <p:ph type="dt" sz="half" idx="10"/>
          </p:nvPr>
        </p:nvSpPr>
        <p:spPr/>
        <p:txBody>
          <a:bodyPr/>
          <a:lstStyle/>
          <a:p>
            <a:fld id="{D47A9A36-4EB0-BF46-AE48-7CDA251B954B}" type="datetime1">
              <a:rPr lang="en-US" smtClean="0"/>
              <a:t>10/31/2025</a:t>
            </a:fld>
            <a:endParaRPr lang="en-US" dirty="0"/>
          </a:p>
        </p:txBody>
      </p:sp>
      <p:sp>
        <p:nvSpPr>
          <p:cNvPr id="6" name="Slide Number Placeholder 5">
            <a:extLst>
              <a:ext uri="{FF2B5EF4-FFF2-40B4-BE49-F238E27FC236}">
                <a16:creationId xmlns:a16="http://schemas.microsoft.com/office/drawing/2014/main" id="{44268CC6-DD57-29A9-426B-A3A7EF9D28AA}"/>
              </a:ext>
            </a:extLst>
          </p:cNvPr>
          <p:cNvSpPr>
            <a:spLocks noGrp="1"/>
          </p:cNvSpPr>
          <p:nvPr>
            <p:ph type="sldNum" sz="quarter" idx="12"/>
          </p:nvPr>
        </p:nvSpPr>
        <p:spPr/>
        <p:txBody>
          <a:bodyPr/>
          <a:lstStyle/>
          <a:p>
            <a:fld id="{8A7A6979-0714-4377-B894-6BE4C2D6E202}" type="slidenum">
              <a:rPr lang="en-US" smtClean="0"/>
              <a:pPr/>
              <a:t>26</a:t>
            </a:fld>
            <a:endParaRPr lang="en-US" dirty="0"/>
          </a:p>
        </p:txBody>
      </p:sp>
    </p:spTree>
    <p:extLst>
      <p:ext uri="{BB962C8B-B14F-4D97-AF65-F5344CB8AC3E}">
        <p14:creationId xmlns:p14="http://schemas.microsoft.com/office/powerpoint/2010/main" val="27221591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1BD991-00A1-309F-48F0-BFAB2171D72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49AA445-A69D-13F4-2D8E-D93314AB88B5}"/>
              </a:ext>
            </a:extLst>
          </p:cNvPr>
          <p:cNvSpPr>
            <a:spLocks noGrp="1"/>
          </p:cNvSpPr>
          <p:nvPr>
            <p:ph type="ctrTitle"/>
          </p:nvPr>
        </p:nvSpPr>
        <p:spPr>
          <a:xfrm>
            <a:off x="2107520" y="437030"/>
            <a:ext cx="7988980" cy="332399"/>
          </a:xfrm>
        </p:spPr>
        <p:txBody>
          <a:bodyPr/>
          <a:lstStyle/>
          <a:p>
            <a:r>
              <a:rPr lang="en-US" dirty="0"/>
              <a:t>Step-by-Step Guide</a:t>
            </a:r>
          </a:p>
        </p:txBody>
      </p:sp>
      <p:sp>
        <p:nvSpPr>
          <p:cNvPr id="4" name="Text Placeholder 3">
            <a:extLst>
              <a:ext uri="{FF2B5EF4-FFF2-40B4-BE49-F238E27FC236}">
                <a16:creationId xmlns:a16="http://schemas.microsoft.com/office/drawing/2014/main" id="{F1A227D7-1E45-5974-66C9-56ECB34FCE86}"/>
              </a:ext>
            </a:extLst>
          </p:cNvPr>
          <p:cNvSpPr>
            <a:spLocks noGrp="1"/>
          </p:cNvSpPr>
          <p:nvPr>
            <p:ph type="body" sz="quarter" idx="14"/>
          </p:nvPr>
        </p:nvSpPr>
        <p:spPr>
          <a:xfrm>
            <a:off x="1828800" y="1579419"/>
            <a:ext cx="8949128" cy="3749508"/>
          </a:xfrm>
        </p:spPr>
        <p:txBody>
          <a:bodyPr>
            <a:normAutofit/>
          </a:bodyPr>
          <a:lstStyle/>
          <a:p>
            <a:pPr marL="457200" indent="-457200">
              <a:buFont typeface="+mj-lt"/>
              <a:buAutoNum type="arabicPeriod"/>
            </a:pPr>
            <a:r>
              <a:rPr lang="en-US" sz="2000" dirty="0"/>
              <a:t>Identify the end benefit</a:t>
            </a:r>
          </a:p>
          <a:p>
            <a:pPr marL="457200" indent="-457200">
              <a:buFont typeface="+mj-lt"/>
              <a:buAutoNum type="arabicPeriod"/>
            </a:pPr>
            <a:endParaRPr lang="en-US" sz="2000" dirty="0"/>
          </a:p>
          <a:p>
            <a:pPr marL="457200" indent="-457200">
              <a:buFont typeface="+mj-lt"/>
              <a:buAutoNum type="arabicPeriod"/>
            </a:pPr>
            <a:r>
              <a:rPr lang="en-US" sz="2000" dirty="0"/>
              <a:t>Identify the closest competitor</a:t>
            </a:r>
          </a:p>
          <a:p>
            <a:pPr marL="457200" indent="-457200">
              <a:buFont typeface="+mj-lt"/>
              <a:buAutoNum type="arabicPeriod"/>
            </a:pPr>
            <a:endParaRPr lang="en-US" sz="2000" dirty="0"/>
          </a:p>
          <a:p>
            <a:pPr marL="457200" indent="-457200">
              <a:buFont typeface="+mj-lt"/>
              <a:buAutoNum type="arabicPeriod"/>
            </a:pPr>
            <a:r>
              <a:rPr lang="en-US" sz="2000" dirty="0"/>
              <a:t>Identify closest competitor’s price</a:t>
            </a:r>
          </a:p>
          <a:p>
            <a:pPr marL="457200" indent="-457200">
              <a:buFont typeface="+mj-lt"/>
              <a:buAutoNum type="arabicPeriod"/>
            </a:pPr>
            <a:endParaRPr lang="en-US" sz="2000" dirty="0"/>
          </a:p>
          <a:p>
            <a:pPr marL="457200" indent="-457200">
              <a:buFont typeface="+mj-lt"/>
              <a:buAutoNum type="arabicPeriod"/>
            </a:pPr>
            <a:r>
              <a:rPr lang="en-US" sz="2000" dirty="0"/>
              <a:t>Measure differentiation values</a:t>
            </a:r>
          </a:p>
          <a:p>
            <a:pPr marL="457200" indent="-457200">
              <a:buFont typeface="+mj-lt"/>
              <a:buAutoNum type="arabicPeriod"/>
            </a:pPr>
            <a:endParaRPr lang="en-US" sz="2000" dirty="0"/>
          </a:p>
          <a:p>
            <a:pPr marL="457200" indent="-457200">
              <a:buFont typeface="+mj-lt"/>
              <a:buAutoNum type="arabicPeriod"/>
            </a:pPr>
            <a:r>
              <a:rPr lang="en-US" sz="2000" dirty="0"/>
              <a:t>Calculate EVC</a:t>
            </a:r>
          </a:p>
          <a:p>
            <a:pPr marL="457200" indent="-457200">
              <a:buFont typeface="+mj-lt"/>
              <a:buAutoNum type="arabicPeriod"/>
            </a:pPr>
            <a:endParaRPr lang="en-US" sz="2000" dirty="0"/>
          </a:p>
          <a:p>
            <a:pPr marL="457200" indent="-457200">
              <a:buFont typeface="+mj-lt"/>
              <a:buAutoNum type="arabicPeriod"/>
            </a:pPr>
            <a:r>
              <a:rPr lang="en-US" sz="2000" dirty="0"/>
              <a:t>Repeat for various configurations and customer segments</a:t>
            </a:r>
          </a:p>
        </p:txBody>
      </p:sp>
      <p:sp>
        <p:nvSpPr>
          <p:cNvPr id="5" name="Date Placeholder 4">
            <a:extLst>
              <a:ext uri="{FF2B5EF4-FFF2-40B4-BE49-F238E27FC236}">
                <a16:creationId xmlns:a16="http://schemas.microsoft.com/office/drawing/2014/main" id="{36F89828-A5DE-45C2-ACCC-730ABB03B710}"/>
              </a:ext>
            </a:extLst>
          </p:cNvPr>
          <p:cNvSpPr>
            <a:spLocks noGrp="1"/>
          </p:cNvSpPr>
          <p:nvPr>
            <p:ph type="dt" sz="half" idx="10"/>
          </p:nvPr>
        </p:nvSpPr>
        <p:spPr/>
        <p:txBody>
          <a:bodyPr/>
          <a:lstStyle/>
          <a:p>
            <a:fld id="{D47A9A36-4EB0-BF46-AE48-7CDA251B954B}" type="datetime1">
              <a:rPr lang="en-US" smtClean="0"/>
              <a:t>10/31/2025</a:t>
            </a:fld>
            <a:endParaRPr lang="en-US" dirty="0"/>
          </a:p>
        </p:txBody>
      </p:sp>
      <p:sp>
        <p:nvSpPr>
          <p:cNvPr id="6" name="Slide Number Placeholder 5">
            <a:extLst>
              <a:ext uri="{FF2B5EF4-FFF2-40B4-BE49-F238E27FC236}">
                <a16:creationId xmlns:a16="http://schemas.microsoft.com/office/drawing/2014/main" id="{7D1F307C-8F4E-EDB1-0735-84A6F3E7062F}"/>
              </a:ext>
            </a:extLst>
          </p:cNvPr>
          <p:cNvSpPr>
            <a:spLocks noGrp="1"/>
          </p:cNvSpPr>
          <p:nvPr>
            <p:ph type="sldNum" sz="quarter" idx="12"/>
          </p:nvPr>
        </p:nvSpPr>
        <p:spPr/>
        <p:txBody>
          <a:bodyPr/>
          <a:lstStyle/>
          <a:p>
            <a:fld id="{8A7A6979-0714-4377-B894-6BE4C2D6E202}" type="slidenum">
              <a:rPr lang="en-US" smtClean="0"/>
              <a:pPr/>
              <a:t>27</a:t>
            </a:fld>
            <a:endParaRPr lang="en-US" dirty="0"/>
          </a:p>
        </p:txBody>
      </p:sp>
    </p:spTree>
    <p:extLst>
      <p:ext uri="{BB962C8B-B14F-4D97-AF65-F5344CB8AC3E}">
        <p14:creationId xmlns:p14="http://schemas.microsoft.com/office/powerpoint/2010/main" val="72138038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A72BD0-0429-3448-AF88-85B4774FB2C5}"/>
              </a:ext>
            </a:extLst>
          </p:cNvPr>
          <p:cNvSpPr>
            <a:spLocks noGrp="1"/>
          </p:cNvSpPr>
          <p:nvPr>
            <p:ph type="ctrTitle"/>
          </p:nvPr>
        </p:nvSpPr>
        <p:spPr>
          <a:xfrm>
            <a:off x="2647199" y="1501742"/>
            <a:ext cx="7300940" cy="664797"/>
          </a:xfrm>
        </p:spPr>
        <p:txBody>
          <a:bodyPr/>
          <a:lstStyle/>
          <a:p>
            <a:r>
              <a:rPr lang="en-US" dirty="0"/>
              <a:t>Summary</a:t>
            </a:r>
          </a:p>
        </p:txBody>
      </p:sp>
      <p:sp>
        <p:nvSpPr>
          <p:cNvPr id="4" name="Date Placeholder 3">
            <a:extLst>
              <a:ext uri="{FF2B5EF4-FFF2-40B4-BE49-F238E27FC236}">
                <a16:creationId xmlns:a16="http://schemas.microsoft.com/office/drawing/2014/main" id="{392F96BD-670E-514F-A5F2-973DF3CCAB38}"/>
              </a:ext>
            </a:extLst>
          </p:cNvPr>
          <p:cNvSpPr>
            <a:spLocks noGrp="1"/>
          </p:cNvSpPr>
          <p:nvPr>
            <p:ph type="dt" sz="half" idx="10"/>
          </p:nvPr>
        </p:nvSpPr>
        <p:spPr/>
        <p:txBody>
          <a:bodyPr/>
          <a:lstStyle/>
          <a:p>
            <a:fld id="{D47A9A36-4EB0-BF46-AE48-7CDA251B954B}" type="datetime1">
              <a:rPr lang="en-US" smtClean="0"/>
              <a:pPr/>
              <a:t>10/31/2025</a:t>
            </a:fld>
            <a:endParaRPr lang="en-US" dirty="0"/>
          </a:p>
        </p:txBody>
      </p:sp>
      <p:sp>
        <p:nvSpPr>
          <p:cNvPr id="5" name="Slide Number Placeholder 4">
            <a:extLst>
              <a:ext uri="{FF2B5EF4-FFF2-40B4-BE49-F238E27FC236}">
                <a16:creationId xmlns:a16="http://schemas.microsoft.com/office/drawing/2014/main" id="{058CC335-C19F-384A-BAA8-CB7EC492ADEB}"/>
              </a:ext>
            </a:extLst>
          </p:cNvPr>
          <p:cNvSpPr>
            <a:spLocks noGrp="1"/>
          </p:cNvSpPr>
          <p:nvPr>
            <p:ph type="sldNum" sz="quarter" idx="12"/>
          </p:nvPr>
        </p:nvSpPr>
        <p:spPr/>
        <p:txBody>
          <a:bodyPr/>
          <a:lstStyle/>
          <a:p>
            <a:fld id="{8A7A6979-0714-4377-B894-6BE4C2D6E202}" type="slidenum">
              <a:rPr lang="en-US" smtClean="0"/>
              <a:pPr/>
              <a:t>28</a:t>
            </a:fld>
            <a:endParaRPr lang="en-US" dirty="0"/>
          </a:p>
        </p:txBody>
      </p:sp>
    </p:spTree>
    <p:extLst>
      <p:ext uri="{BB962C8B-B14F-4D97-AF65-F5344CB8AC3E}">
        <p14:creationId xmlns:p14="http://schemas.microsoft.com/office/powerpoint/2010/main" val="384527197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294DFF-FEC0-0C48-A972-9E4ED3BA9D6E}"/>
              </a:ext>
            </a:extLst>
          </p:cNvPr>
          <p:cNvSpPr>
            <a:spLocks noGrp="1"/>
          </p:cNvSpPr>
          <p:nvPr>
            <p:ph type="ctrTitle"/>
          </p:nvPr>
        </p:nvSpPr>
        <p:spPr/>
        <p:txBody>
          <a:bodyPr/>
          <a:lstStyle/>
          <a:p>
            <a:r>
              <a:rPr lang="en-US" dirty="0"/>
              <a:t>Recap</a:t>
            </a:r>
          </a:p>
        </p:txBody>
      </p:sp>
      <p:sp>
        <p:nvSpPr>
          <p:cNvPr id="4" name="Text Placeholder 3">
            <a:extLst>
              <a:ext uri="{FF2B5EF4-FFF2-40B4-BE49-F238E27FC236}">
                <a16:creationId xmlns:a16="http://schemas.microsoft.com/office/drawing/2014/main" id="{B84FECDD-72B1-9A43-B7FF-10EB079D6814}"/>
              </a:ext>
            </a:extLst>
          </p:cNvPr>
          <p:cNvSpPr>
            <a:spLocks noGrp="1"/>
          </p:cNvSpPr>
          <p:nvPr>
            <p:ph type="body" sz="quarter" idx="14"/>
          </p:nvPr>
        </p:nvSpPr>
        <p:spPr>
          <a:xfrm>
            <a:off x="1828800" y="1463041"/>
            <a:ext cx="8755380" cy="3865886"/>
          </a:xfrm>
        </p:spPr>
        <p:txBody>
          <a:bodyPr>
            <a:normAutofit/>
          </a:bodyPr>
          <a:lstStyle/>
          <a:p>
            <a:r>
              <a:rPr lang="en-US" sz="2000" dirty="0"/>
              <a:t>EVC helps us understand the potential of a market</a:t>
            </a:r>
          </a:p>
          <a:p>
            <a:pPr lvl="1"/>
            <a:r>
              <a:rPr lang="en-US" sz="2000" dirty="0"/>
              <a:t>Theoretical maximum willingness to pay for our product</a:t>
            </a:r>
          </a:p>
          <a:p>
            <a:endParaRPr lang="en-US" sz="2000" dirty="0"/>
          </a:p>
          <a:p>
            <a:r>
              <a:rPr lang="en-US" sz="2000" dirty="0"/>
              <a:t>Feature prioritization</a:t>
            </a:r>
          </a:p>
          <a:p>
            <a:pPr lvl="1"/>
            <a:r>
              <a:rPr lang="en-US" sz="2000" dirty="0"/>
              <a:t>What features differentiate our product from competitors?</a:t>
            </a:r>
          </a:p>
          <a:p>
            <a:endParaRPr lang="en-US" sz="2000" dirty="0"/>
          </a:p>
          <a:p>
            <a:r>
              <a:rPr lang="en-US" sz="2000" dirty="0"/>
              <a:t>Frequently used in pricing</a:t>
            </a:r>
          </a:p>
          <a:p>
            <a:endParaRPr lang="en-US" sz="2000" dirty="0"/>
          </a:p>
          <a:p>
            <a:r>
              <a:rPr lang="en-US" sz="2000" dirty="0"/>
              <a:t>Important to reason about how competitors will respond to our offering</a:t>
            </a:r>
          </a:p>
        </p:txBody>
      </p:sp>
      <p:sp>
        <p:nvSpPr>
          <p:cNvPr id="5" name="Date Placeholder 4">
            <a:extLst>
              <a:ext uri="{FF2B5EF4-FFF2-40B4-BE49-F238E27FC236}">
                <a16:creationId xmlns:a16="http://schemas.microsoft.com/office/drawing/2014/main" id="{95F12967-03CD-7942-8B49-F8DBFB56200B}"/>
              </a:ext>
            </a:extLst>
          </p:cNvPr>
          <p:cNvSpPr>
            <a:spLocks noGrp="1"/>
          </p:cNvSpPr>
          <p:nvPr>
            <p:ph type="dt" sz="half" idx="10"/>
          </p:nvPr>
        </p:nvSpPr>
        <p:spPr/>
        <p:txBody>
          <a:bodyPr/>
          <a:lstStyle/>
          <a:p>
            <a:fld id="{D47A9A36-4EB0-BF46-AE48-7CDA251B954B}" type="datetime1">
              <a:rPr lang="en-US" smtClean="0"/>
              <a:t>10/31/2025</a:t>
            </a:fld>
            <a:endParaRPr lang="en-US" dirty="0"/>
          </a:p>
        </p:txBody>
      </p:sp>
      <p:sp>
        <p:nvSpPr>
          <p:cNvPr id="6" name="Slide Number Placeholder 5">
            <a:extLst>
              <a:ext uri="{FF2B5EF4-FFF2-40B4-BE49-F238E27FC236}">
                <a16:creationId xmlns:a16="http://schemas.microsoft.com/office/drawing/2014/main" id="{E7486C51-25E8-4845-95A9-ABC45B4BC846}"/>
              </a:ext>
            </a:extLst>
          </p:cNvPr>
          <p:cNvSpPr>
            <a:spLocks noGrp="1"/>
          </p:cNvSpPr>
          <p:nvPr>
            <p:ph type="sldNum" sz="quarter" idx="12"/>
          </p:nvPr>
        </p:nvSpPr>
        <p:spPr/>
        <p:txBody>
          <a:bodyPr/>
          <a:lstStyle/>
          <a:p>
            <a:fld id="{8A7A6979-0714-4377-B894-6BE4C2D6E202}" type="slidenum">
              <a:rPr lang="en-US" smtClean="0"/>
              <a:pPr/>
              <a:t>29</a:t>
            </a:fld>
            <a:endParaRPr lang="en-US" dirty="0"/>
          </a:p>
        </p:txBody>
      </p:sp>
    </p:spTree>
    <p:extLst>
      <p:ext uri="{BB962C8B-B14F-4D97-AF65-F5344CB8AC3E}">
        <p14:creationId xmlns:p14="http://schemas.microsoft.com/office/powerpoint/2010/main" val="159522798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44C752-241C-1B3C-D0B0-335614B2B63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A6E6275-8746-7EFB-4EF5-7FE8E0F7350E}"/>
              </a:ext>
            </a:extLst>
          </p:cNvPr>
          <p:cNvSpPr>
            <a:spLocks noGrp="1"/>
          </p:cNvSpPr>
          <p:nvPr>
            <p:ph type="ctrTitle"/>
          </p:nvPr>
        </p:nvSpPr>
        <p:spPr/>
        <p:txBody>
          <a:bodyPr/>
          <a:lstStyle/>
          <a:p>
            <a:r>
              <a:rPr lang="en-US" dirty="0"/>
              <a:t>Project</a:t>
            </a:r>
          </a:p>
        </p:txBody>
      </p:sp>
      <p:sp>
        <p:nvSpPr>
          <p:cNvPr id="4" name="Text Placeholder 3">
            <a:extLst>
              <a:ext uri="{FF2B5EF4-FFF2-40B4-BE49-F238E27FC236}">
                <a16:creationId xmlns:a16="http://schemas.microsoft.com/office/drawing/2014/main" id="{66C6D8B7-D677-AE6C-0608-0ABF4D2CB333}"/>
              </a:ext>
            </a:extLst>
          </p:cNvPr>
          <p:cNvSpPr>
            <a:spLocks noGrp="1"/>
          </p:cNvSpPr>
          <p:nvPr>
            <p:ph type="body" sz="quarter" idx="14"/>
          </p:nvPr>
        </p:nvSpPr>
        <p:spPr>
          <a:xfrm>
            <a:off x="1828800" y="1610139"/>
            <a:ext cx="8755380" cy="3718787"/>
          </a:xfrm>
        </p:spPr>
        <p:txBody>
          <a:bodyPr>
            <a:normAutofit/>
          </a:bodyPr>
          <a:lstStyle/>
          <a:p>
            <a:r>
              <a:rPr lang="en-US" sz="2400" dirty="0"/>
              <a:t>Key Dates</a:t>
            </a:r>
          </a:p>
          <a:p>
            <a:pPr lvl="1"/>
            <a:r>
              <a:rPr lang="en-US" sz="2400" dirty="0"/>
              <a:t>10/31: Team formed and product selected (email me your team)</a:t>
            </a:r>
          </a:p>
          <a:p>
            <a:pPr lvl="2"/>
            <a:r>
              <a:rPr lang="en-US" sz="2400" dirty="0"/>
              <a:t>Also self-enroll for groups </a:t>
            </a:r>
            <a:r>
              <a:rPr lang="en-US" sz="2400"/>
              <a:t>on Brightspace!</a:t>
            </a:r>
          </a:p>
          <a:p>
            <a:pPr lvl="1"/>
            <a:r>
              <a:rPr lang="en-US" sz="2400"/>
              <a:t>11/6</a:t>
            </a:r>
            <a:r>
              <a:rPr lang="en-US" sz="2400" dirty="0"/>
              <a:t>: Midpoint check-ins</a:t>
            </a:r>
          </a:p>
          <a:p>
            <a:pPr lvl="1"/>
            <a:r>
              <a:rPr lang="en-US" sz="2400" dirty="0"/>
              <a:t>12/9-12/11: Final project presentations + final report due</a:t>
            </a:r>
          </a:p>
          <a:p>
            <a:pPr lvl="1"/>
            <a:endParaRPr lang="en-US" sz="2400" dirty="0"/>
          </a:p>
          <a:p>
            <a:pPr marL="0" indent="0">
              <a:buNone/>
            </a:pPr>
            <a:endParaRPr lang="en-US" sz="2400" dirty="0"/>
          </a:p>
        </p:txBody>
      </p:sp>
      <p:sp>
        <p:nvSpPr>
          <p:cNvPr id="5" name="Date Placeholder 4">
            <a:extLst>
              <a:ext uri="{FF2B5EF4-FFF2-40B4-BE49-F238E27FC236}">
                <a16:creationId xmlns:a16="http://schemas.microsoft.com/office/drawing/2014/main" id="{63274658-A34B-E4A3-CA90-35D36668CC33}"/>
              </a:ext>
            </a:extLst>
          </p:cNvPr>
          <p:cNvSpPr>
            <a:spLocks noGrp="1"/>
          </p:cNvSpPr>
          <p:nvPr>
            <p:ph type="dt" sz="half" idx="10"/>
          </p:nvPr>
        </p:nvSpPr>
        <p:spPr/>
        <p:txBody>
          <a:bodyPr/>
          <a:lstStyle/>
          <a:p>
            <a:fld id="{D47A9A36-4EB0-BF46-AE48-7CDA251B954B}" type="datetime1">
              <a:rPr lang="en-US" smtClean="0"/>
              <a:t>10/31/2025</a:t>
            </a:fld>
            <a:endParaRPr lang="en-US" dirty="0"/>
          </a:p>
        </p:txBody>
      </p:sp>
      <p:sp>
        <p:nvSpPr>
          <p:cNvPr id="6" name="Slide Number Placeholder 5">
            <a:extLst>
              <a:ext uri="{FF2B5EF4-FFF2-40B4-BE49-F238E27FC236}">
                <a16:creationId xmlns:a16="http://schemas.microsoft.com/office/drawing/2014/main" id="{F80B7CDE-A61E-EBF9-FB0C-F7C8B39D7D7F}"/>
              </a:ext>
            </a:extLst>
          </p:cNvPr>
          <p:cNvSpPr>
            <a:spLocks noGrp="1"/>
          </p:cNvSpPr>
          <p:nvPr>
            <p:ph type="sldNum" sz="quarter" idx="12"/>
          </p:nvPr>
        </p:nvSpPr>
        <p:spPr/>
        <p:txBody>
          <a:bodyPr/>
          <a:lstStyle/>
          <a:p>
            <a:fld id="{8A7A6979-0714-4377-B894-6BE4C2D6E202}" type="slidenum">
              <a:rPr lang="en-US" smtClean="0"/>
              <a:pPr/>
              <a:t>30</a:t>
            </a:fld>
            <a:endParaRPr lang="en-US" dirty="0"/>
          </a:p>
        </p:txBody>
      </p:sp>
    </p:spTree>
    <p:extLst>
      <p:ext uri="{BB962C8B-B14F-4D97-AF65-F5344CB8AC3E}">
        <p14:creationId xmlns:p14="http://schemas.microsoft.com/office/powerpoint/2010/main" val="3491119526"/>
      </p:ext>
    </p:extLst>
  </p:cSld>
  <p:clrMapOvr>
    <a:masterClrMapping/>
  </p:clrMapOvr>
</p:sld>
</file>

<file path=ppt/theme/theme1.xml><?xml version="1.0" encoding="utf-8"?>
<a:theme xmlns:a="http://schemas.openxmlformats.org/drawingml/2006/main" name="Purdue2">
  <a:themeElements>
    <a:clrScheme name="PurdueColors">
      <a:dk1>
        <a:srgbClr val="000000"/>
      </a:dk1>
      <a:lt1>
        <a:srgbClr val="000000"/>
      </a:lt1>
      <a:dk2>
        <a:srgbClr val="C4BFC0"/>
      </a:dk2>
      <a:lt2>
        <a:srgbClr val="C9B991"/>
      </a:lt2>
      <a:accent1>
        <a:srgbClr val="8E6F3E"/>
      </a:accent1>
      <a:accent2>
        <a:srgbClr val="555960"/>
      </a:accent2>
      <a:accent3>
        <a:srgbClr val="C9B991"/>
      </a:accent3>
      <a:accent4>
        <a:srgbClr val="FFFFFF"/>
      </a:accent4>
      <a:accent5>
        <a:srgbClr val="000000"/>
      </a:accent5>
      <a:accent6>
        <a:srgbClr val="555960"/>
      </a:accent6>
      <a:hlink>
        <a:srgbClr val="000000"/>
      </a:hlink>
      <a:folHlink>
        <a:srgbClr val="555960"/>
      </a:folHlink>
    </a:clrScheme>
    <a:fontScheme name="Franklin Gothic">
      <a:majorFont>
        <a:latin typeface="Franklin Gothic Medium" panose="020B0603020102020204"/>
        <a:ea typeface=""/>
        <a:cs typeface=""/>
        <a:font script="Jpan" typeface="HG創英角ｺﾞｼｯｸUB"/>
        <a:font script="Hang" typeface="돋움"/>
        <a:font script="Hans" typeface="隶书"/>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Franklin Gothic Book" panose="020B0503020102020204"/>
        <a:ea typeface=""/>
        <a:cs typeface=""/>
        <a:font script="Jpan" typeface="HGｺﾞｼｯｸE"/>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Parcel">
      <a:fillStyleLst>
        <a:solidFill>
          <a:schemeClr val="phClr"/>
        </a:solidFill>
        <a:gradFill rotWithShape="1">
          <a:gsLst>
            <a:gs pos="0">
              <a:schemeClr val="phClr">
                <a:tint val="80000"/>
                <a:satMod val="107000"/>
                <a:lumMod val="103000"/>
              </a:schemeClr>
            </a:gs>
            <a:gs pos="100000">
              <a:schemeClr val="phClr">
                <a:tint val="82000"/>
                <a:satMod val="109000"/>
                <a:lumMod val="103000"/>
              </a:schemeClr>
            </a:gs>
          </a:gsLst>
          <a:lin ang="5400000" scaled="0"/>
        </a:gradFill>
        <a:gradFill rotWithShape="1">
          <a:gsLst>
            <a:gs pos="0">
              <a:schemeClr val="phClr">
                <a:tint val="97000"/>
                <a:satMod val="100000"/>
                <a:lumMod val="102000"/>
              </a:schemeClr>
            </a:gs>
            <a:gs pos="50000">
              <a:schemeClr val="phClr">
                <a:shade val="100000"/>
                <a:satMod val="103000"/>
                <a:lumMod val="100000"/>
              </a:schemeClr>
            </a:gs>
            <a:gs pos="100000">
              <a:schemeClr val="phClr">
                <a:shade val="93000"/>
                <a:satMod val="110000"/>
                <a:lumMod val="9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31750" cap="flat" cmpd="sng" algn="ctr">
          <a:solidFill>
            <a:schemeClr val="phClr"/>
          </a:solidFill>
          <a:prstDash val="solid"/>
        </a:ln>
      </a:lnStyleLst>
      <a:effectStyleLst>
        <a:effectStyle>
          <a:effectLst/>
        </a:effectStyle>
        <a:effectStyle>
          <a:effectLst/>
        </a:effectStyle>
        <a:effectStyle>
          <a:effectLst>
            <a:outerShdw blurRad="55880" dist="15240" dir="5400000" algn="ctr" rotWithShape="0">
              <a:srgbClr val="000000">
                <a:alpha val="45000"/>
              </a:srgbClr>
            </a:outerShdw>
          </a:effectLst>
          <a:scene3d>
            <a:camera prst="orthographicFront">
              <a:rot lat="0" lon="0" rev="0"/>
            </a:camera>
            <a:lightRig rig="brightRoom" dir="tl"/>
          </a:scene3d>
          <a:sp3d prstMaterial="dkEdge">
            <a:bevelT w="0" h="0"/>
          </a:sp3d>
        </a:effectStyle>
      </a:effectStyleLst>
      <a:bgFillStyleLst>
        <a:solidFill>
          <a:schemeClr val="phClr"/>
        </a:solidFill>
        <a:solidFill>
          <a:schemeClr val="phClr">
            <a:tint val="95000"/>
            <a:satMod val="170000"/>
          </a:schemeClr>
        </a:solidFill>
        <a:gradFill rotWithShape="1">
          <a:gsLst>
            <a:gs pos="0">
              <a:schemeClr val="phClr">
                <a:tint val="97000"/>
                <a:shade val="100000"/>
                <a:satMod val="185000"/>
                <a:lumMod val="120000"/>
              </a:schemeClr>
            </a:gs>
            <a:gs pos="100000">
              <a:schemeClr val="phClr">
                <a:tint val="96000"/>
                <a:shade val="95000"/>
                <a:satMod val="215000"/>
                <a:lumMod val="80000"/>
              </a:schemeClr>
            </a:gs>
          </a:gsLst>
          <a:path path="circle">
            <a:fillToRect l="50000" t="55000" r="125000" b="100000"/>
          </a:path>
        </a:gradFill>
      </a:bgFillStyleLst>
    </a:fmtScheme>
  </a:themeElements>
  <a:objectDefaults/>
  <a:extraClrSchemeLst/>
  <a:extLst>
    <a:ext uri="{05A4C25C-085E-4340-85A3-A5531E510DB2}">
      <thm15:themeFamily xmlns:thm15="http://schemas.microsoft.com/office/thememl/2012/main" name="Presentation1" id="{C3331F77-FEA5-BF47-A3F4-E4829FE02237}" vid="{60263B1E-E418-7448-9383-F855BEE649A2}"/>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Purdue2</Template>
  <TotalTime>6094</TotalTime>
  <Words>1364</Words>
  <Application>Microsoft Office PowerPoint</Application>
  <PresentationFormat>Widescreen</PresentationFormat>
  <Paragraphs>313</Paragraphs>
  <Slides>30</Slides>
  <Notes>29</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30</vt:i4>
      </vt:variant>
    </vt:vector>
  </HeadingPairs>
  <TitlesOfParts>
    <vt:vector size="41" baseType="lpstr">
      <vt:lpstr>Impact</vt:lpstr>
      <vt:lpstr>Franklin Gothic Medium</vt:lpstr>
      <vt:lpstr>United Sans Rg Md</vt:lpstr>
      <vt:lpstr>Wingdings</vt:lpstr>
      <vt:lpstr>Franklin Gothic Demi</vt:lpstr>
      <vt:lpstr>Acumin Pro</vt:lpstr>
      <vt:lpstr>Franklin Gothic Book</vt:lpstr>
      <vt:lpstr>Arial</vt:lpstr>
      <vt:lpstr>Calibri</vt:lpstr>
      <vt:lpstr>Cambria Math</vt:lpstr>
      <vt:lpstr>Purdue2</vt:lpstr>
      <vt:lpstr>Digital product design</vt:lpstr>
      <vt:lpstr>Outline</vt:lpstr>
      <vt:lpstr>Economic value to the customer</vt:lpstr>
      <vt:lpstr>Economic Value to the Customer</vt:lpstr>
      <vt:lpstr>Economic Value to the Customer, Part 2</vt:lpstr>
      <vt:lpstr>Economic Value to the Customer, Part 3</vt:lpstr>
      <vt:lpstr>Economic Value to the Customer, Part 4</vt:lpstr>
      <vt:lpstr>A Concrete Example – Hydroponic Tulips</vt:lpstr>
      <vt:lpstr>A Concrete Example – Hydroponic Tulips, Part 2</vt:lpstr>
      <vt:lpstr>Step-by-Step Guide</vt:lpstr>
      <vt:lpstr>1. Identify the End Benefit</vt:lpstr>
      <vt:lpstr>2. Identify the Competitors</vt:lpstr>
      <vt:lpstr>2. Identify the Competitors</vt:lpstr>
      <vt:lpstr>3. Identify the Competitor Prices</vt:lpstr>
      <vt:lpstr>4. Measure Differentiation Values</vt:lpstr>
      <vt:lpstr>4. Measure Differentiation Values</vt:lpstr>
      <vt:lpstr>Calculate EVC for Various Segments</vt:lpstr>
      <vt:lpstr>Uses of EVC</vt:lpstr>
      <vt:lpstr>Competitive analysis and Game theory</vt:lpstr>
      <vt:lpstr>EVC Calculations Have a Strong Assumption</vt:lpstr>
      <vt:lpstr>Game Theory Key Ideas</vt:lpstr>
      <vt:lpstr>Finding Equilibria</vt:lpstr>
      <vt:lpstr>Game Theory to Understand Competitive Response</vt:lpstr>
      <vt:lpstr>Game Theory to Understand Competitive Response, Part 2</vt:lpstr>
      <vt:lpstr>Practice EVC</vt:lpstr>
      <vt:lpstr>Practice EVC</vt:lpstr>
      <vt:lpstr>Step-by-Step Guide</vt:lpstr>
      <vt:lpstr>Summary</vt:lpstr>
      <vt:lpstr>Recap</vt:lpstr>
      <vt:lpstr>Project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Alex Vernon Moehring</dc:creator>
  <cp:lastModifiedBy>Liz Benson</cp:lastModifiedBy>
  <cp:revision>755</cp:revision>
  <dcterms:created xsi:type="dcterms:W3CDTF">2024-07-15T17:50:06Z</dcterms:created>
  <dcterms:modified xsi:type="dcterms:W3CDTF">2025-10-31T18:46:18Z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4044bd30-2ed7-4c9d-9d12-46200872a97b_Enabled">
    <vt:lpwstr>true</vt:lpwstr>
  </property>
  <property fmtid="{D5CDD505-2E9C-101B-9397-08002B2CF9AE}" pid="3" name="MSIP_Label_4044bd30-2ed7-4c9d-9d12-46200872a97b_SetDate">
    <vt:lpwstr>2023-02-01T19:33:41Z</vt:lpwstr>
  </property>
  <property fmtid="{D5CDD505-2E9C-101B-9397-08002B2CF9AE}" pid="4" name="MSIP_Label_4044bd30-2ed7-4c9d-9d12-46200872a97b_Method">
    <vt:lpwstr>Standard</vt:lpwstr>
  </property>
  <property fmtid="{D5CDD505-2E9C-101B-9397-08002B2CF9AE}" pid="5" name="MSIP_Label_4044bd30-2ed7-4c9d-9d12-46200872a97b_Name">
    <vt:lpwstr>defa4170-0d19-0005-0004-bc88714345d2</vt:lpwstr>
  </property>
  <property fmtid="{D5CDD505-2E9C-101B-9397-08002B2CF9AE}" pid="6" name="MSIP_Label_4044bd30-2ed7-4c9d-9d12-46200872a97b_SiteId">
    <vt:lpwstr>4130bd39-7c53-419c-b1e5-8758d6d63f21</vt:lpwstr>
  </property>
  <property fmtid="{D5CDD505-2E9C-101B-9397-08002B2CF9AE}" pid="7" name="MSIP_Label_4044bd30-2ed7-4c9d-9d12-46200872a97b_ActionId">
    <vt:lpwstr>1fcd283c-6b68-4694-bc56-c77c15714632</vt:lpwstr>
  </property>
  <property fmtid="{D5CDD505-2E9C-101B-9397-08002B2CF9AE}" pid="8" name="MSIP_Label_4044bd30-2ed7-4c9d-9d12-46200872a97b_ContentBits">
    <vt:lpwstr>0</vt:lpwstr>
  </property>
</Properties>
</file>