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47"/>
  </p:notesMasterIdLst>
  <p:sldIdLst>
    <p:sldId id="257" r:id="rId2"/>
    <p:sldId id="409" r:id="rId3"/>
    <p:sldId id="774" r:id="rId4"/>
    <p:sldId id="447" r:id="rId5"/>
    <p:sldId id="410" r:id="rId6"/>
    <p:sldId id="408" r:id="rId7"/>
    <p:sldId id="414" r:id="rId8"/>
    <p:sldId id="455" r:id="rId9"/>
    <p:sldId id="456" r:id="rId10"/>
    <p:sldId id="457" r:id="rId11"/>
    <p:sldId id="460" r:id="rId12"/>
    <p:sldId id="458" r:id="rId13"/>
    <p:sldId id="459" r:id="rId14"/>
    <p:sldId id="411" r:id="rId15"/>
    <p:sldId id="461" r:id="rId16"/>
    <p:sldId id="462" r:id="rId17"/>
    <p:sldId id="463" r:id="rId18"/>
    <p:sldId id="464" r:id="rId19"/>
    <p:sldId id="465" r:id="rId20"/>
    <p:sldId id="467" r:id="rId21"/>
    <p:sldId id="466" r:id="rId22"/>
    <p:sldId id="415" r:id="rId23"/>
    <p:sldId id="469" r:id="rId24"/>
    <p:sldId id="470" r:id="rId25"/>
    <p:sldId id="471" r:id="rId26"/>
    <p:sldId id="472" r:id="rId27"/>
    <p:sldId id="473" r:id="rId28"/>
    <p:sldId id="474" r:id="rId29"/>
    <p:sldId id="416" r:id="rId30"/>
    <p:sldId id="476" r:id="rId31"/>
    <p:sldId id="477" r:id="rId32"/>
    <p:sldId id="478" r:id="rId33"/>
    <p:sldId id="480" r:id="rId34"/>
    <p:sldId id="484" r:id="rId35"/>
    <p:sldId id="475" r:id="rId36"/>
    <p:sldId id="417" r:id="rId37"/>
    <p:sldId id="481" r:id="rId38"/>
    <p:sldId id="482" r:id="rId39"/>
    <p:sldId id="485" r:id="rId40"/>
    <p:sldId id="483" r:id="rId41"/>
    <p:sldId id="490" r:id="rId42"/>
    <p:sldId id="775" r:id="rId43"/>
    <p:sldId id="486" r:id="rId44"/>
    <p:sldId id="487" r:id="rId45"/>
    <p:sldId id="488" r:id="rId46"/>
  </p:sldIdLst>
  <p:sldSz cx="12192000" cy="6858000"/>
  <p:notesSz cx="6858000" cy="9144000"/>
  <p:embeddedFontLst>
    <p:embeddedFont>
      <p:font typeface="Acumin Pro" panose="020B0604020202020204" charset="0"/>
      <p:regular r:id="rId48"/>
      <p:bold r:id="rId49"/>
      <p:italic r:id="rId50"/>
      <p:boldItalic r:id="rId51"/>
    </p:embeddedFont>
    <p:embeddedFont>
      <p:font typeface="Cambria Math" panose="02040503050406030204" pitchFamily="18" charset="0"/>
      <p:regular r:id="rId52"/>
    </p:embeddedFont>
    <p:embeddedFont>
      <p:font typeface="Franklin Gothic Book" panose="020B0503020102020204" pitchFamily="34" charset="0"/>
      <p:regular r:id="rId53"/>
      <p:italic r:id="rId54"/>
    </p:embeddedFont>
    <p:embeddedFont>
      <p:font typeface="Franklin Gothic Demi" panose="020B0703020102020204" pitchFamily="34" charset="0"/>
      <p:regular r:id="rId55"/>
      <p:bold r:id="rId56"/>
      <p:italic r:id="rId57"/>
      <p:boldItalic r:id="rId58"/>
    </p:embeddedFont>
    <p:embeddedFont>
      <p:font typeface="Franklin Gothic Medium" panose="020B0603020102020204" pitchFamily="34" charset="0"/>
      <p:regular r:id="rId59"/>
      <p:italic r:id="rId60"/>
    </p:embeddedFont>
    <p:embeddedFont>
      <p:font typeface="Impact" panose="020B0806030902050204" pitchFamily="34" charset="0"/>
      <p:regular r:id="rId61"/>
    </p:embeddedFont>
    <p:embeddedFont>
      <p:font typeface="United Sans Rg Md" pitchFamily="50" charset="0"/>
      <p:regular r:id="rId6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64" autoAdjust="0"/>
    <p:restoredTop sz="95616" autoAdjust="0"/>
  </p:normalViewPr>
  <p:slideViewPr>
    <p:cSldViewPr snapToGrid="0" snapToObjects="1">
      <p:cViewPr>
        <p:scale>
          <a:sx n="70" d="100"/>
          <a:sy n="70" d="100"/>
        </p:scale>
        <p:origin x="558" y="75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231919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4200283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3435241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1059306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12673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2189000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2671801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3524870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3249828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288760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2126199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4115797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1172635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1939040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1776195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1418731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447280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465175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2461995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2423070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490536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994370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2582017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Gameability</a:t>
            </a:r>
            <a:r>
              <a:rPr lang="en-US" dirty="0"/>
              <a:t> examples:</a:t>
            </a:r>
          </a:p>
          <a:p>
            <a:r>
              <a:rPr lang="en-US" dirty="0"/>
              <a:t>	- Bonuses paid to operations managers based on maintaining low inventory, resulted in parts shortage and shipping delays</a:t>
            </a:r>
          </a:p>
        </p:txBody>
      </p:sp>
      <p:sp>
        <p:nvSpPr>
          <p:cNvPr id="4" name="Slide Number Placeholder 3"/>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4239586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6068348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22957229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12903498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4023915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38389494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34826499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37</a:t>
            </a:fld>
            <a:endParaRPr lang="en-US"/>
          </a:p>
        </p:txBody>
      </p:sp>
    </p:spTree>
    <p:extLst>
      <p:ext uri="{BB962C8B-B14F-4D97-AF65-F5344CB8AC3E}">
        <p14:creationId xmlns:p14="http://schemas.microsoft.com/office/powerpoint/2010/main" val="12907714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12021295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39</a:t>
            </a:fld>
            <a:endParaRPr lang="en-US"/>
          </a:p>
        </p:txBody>
      </p:sp>
    </p:spTree>
    <p:extLst>
      <p:ext uri="{BB962C8B-B14F-4D97-AF65-F5344CB8AC3E}">
        <p14:creationId xmlns:p14="http://schemas.microsoft.com/office/powerpoint/2010/main" val="3676035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40</a:t>
            </a:fld>
            <a:endParaRPr lang="en-US"/>
          </a:p>
        </p:txBody>
      </p:sp>
    </p:spTree>
    <p:extLst>
      <p:ext uri="{BB962C8B-B14F-4D97-AF65-F5344CB8AC3E}">
        <p14:creationId xmlns:p14="http://schemas.microsoft.com/office/powerpoint/2010/main" val="11603090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41</a:t>
            </a:fld>
            <a:endParaRPr lang="en-US"/>
          </a:p>
        </p:txBody>
      </p:sp>
    </p:spTree>
    <p:extLst>
      <p:ext uri="{BB962C8B-B14F-4D97-AF65-F5344CB8AC3E}">
        <p14:creationId xmlns:p14="http://schemas.microsoft.com/office/powerpoint/2010/main" val="8374951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DEDB0-518F-FB7E-59FA-52079EB91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E6001-F1EF-936E-3D12-C700F87B3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EA4A4B-1766-0953-48D2-A43F0D760D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EE10C8-0FDC-06DC-F409-E4BC2971E5AF}"/>
              </a:ext>
            </a:extLst>
          </p:cNvPr>
          <p:cNvSpPr>
            <a:spLocks noGrp="1"/>
          </p:cNvSpPr>
          <p:nvPr>
            <p:ph type="sldNum" sz="quarter" idx="5"/>
          </p:nvPr>
        </p:nvSpPr>
        <p:spPr/>
        <p:txBody>
          <a:bodyPr/>
          <a:lstStyle/>
          <a:p>
            <a:fld id="{988F3A2B-14A6-8F47-B753-A658CA12576A}" type="slidenum">
              <a:rPr lang="en-US" smtClean="0"/>
              <a:t>42</a:t>
            </a:fld>
            <a:endParaRPr lang="en-US"/>
          </a:p>
        </p:txBody>
      </p:sp>
    </p:spTree>
    <p:extLst>
      <p:ext uri="{BB962C8B-B14F-4D97-AF65-F5344CB8AC3E}">
        <p14:creationId xmlns:p14="http://schemas.microsoft.com/office/powerpoint/2010/main" val="37905748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43</a:t>
            </a:fld>
            <a:endParaRPr lang="en-US"/>
          </a:p>
        </p:txBody>
      </p:sp>
    </p:spTree>
    <p:extLst>
      <p:ext uri="{BB962C8B-B14F-4D97-AF65-F5344CB8AC3E}">
        <p14:creationId xmlns:p14="http://schemas.microsoft.com/office/powerpoint/2010/main" val="20825039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44</a:t>
            </a:fld>
            <a:endParaRPr lang="en-US"/>
          </a:p>
        </p:txBody>
      </p:sp>
    </p:spTree>
    <p:extLst>
      <p:ext uri="{BB962C8B-B14F-4D97-AF65-F5344CB8AC3E}">
        <p14:creationId xmlns:p14="http://schemas.microsoft.com/office/powerpoint/2010/main" val="16770756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45</a:t>
            </a:fld>
            <a:endParaRPr lang="en-US"/>
          </a:p>
        </p:txBody>
      </p:sp>
    </p:spTree>
    <p:extLst>
      <p:ext uri="{BB962C8B-B14F-4D97-AF65-F5344CB8AC3E}">
        <p14:creationId xmlns:p14="http://schemas.microsoft.com/office/powerpoint/2010/main" val="30998511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11/19/2025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11/19/2025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11/19/2025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11/19/2025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11/19/2025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11/19/2025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11/19/2025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11/19/2025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dirty="0">
                <a:latin typeface="Franklin Gothic Medium" panose="020B0603020102020204" pitchFamily="34" charset="0"/>
              </a:rPr>
              <a:t>Lecture 7: Choosing Metrics</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11/19/2025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Outline</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502719"/>
            <a:ext cx="8755380" cy="3411537"/>
          </a:xfrm>
        </p:spPr>
        <p:txBody>
          <a:bodyPr>
            <a:normAutofit/>
          </a:bodyPr>
          <a:lstStyle/>
          <a:p>
            <a:r>
              <a:rPr lang="en-US" sz="2400" dirty="0"/>
              <a:t>Probability in 1 Slide</a:t>
            </a:r>
          </a:p>
          <a:p>
            <a:endParaRPr lang="en-US" sz="2400" dirty="0"/>
          </a:p>
          <a:p>
            <a:r>
              <a:rPr lang="en-US" sz="2400" dirty="0"/>
              <a:t>Organizational metrics</a:t>
            </a:r>
          </a:p>
          <a:p>
            <a:endParaRPr lang="en-US" sz="2400" dirty="0"/>
          </a:p>
          <a:p>
            <a:r>
              <a:rPr lang="en-US" sz="2400" dirty="0"/>
              <a:t>Combining Metrics</a:t>
            </a:r>
          </a:p>
          <a:p>
            <a:endParaRPr lang="en-US" sz="2400" dirty="0"/>
          </a:p>
          <a:p>
            <a:r>
              <a:rPr lang="en-US" sz="2400" dirty="0"/>
              <a:t>Targeting for Long Term Outcomes</a:t>
            </a:r>
          </a:p>
          <a:p>
            <a:endParaRPr lang="en-US" sz="2400" dirty="0"/>
          </a:p>
          <a:p>
            <a:r>
              <a:rPr lang="en-US" sz="2400" dirty="0"/>
              <a:t>Engagement as a Metric</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240730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C2142-B53F-F547-4C9F-0C0F20404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8F612-ACB7-A7F8-FC14-47087223EA7F}"/>
              </a:ext>
            </a:extLst>
          </p:cNvPr>
          <p:cNvSpPr>
            <a:spLocks noGrp="1"/>
          </p:cNvSpPr>
          <p:nvPr>
            <p:ph type="ctrTitle"/>
          </p:nvPr>
        </p:nvSpPr>
        <p:spPr>
          <a:xfrm>
            <a:off x="2647199" y="1501742"/>
            <a:ext cx="7300940" cy="664797"/>
          </a:xfrm>
        </p:spPr>
        <p:txBody>
          <a:bodyPr/>
          <a:lstStyle/>
          <a:p>
            <a:r>
              <a:rPr lang="en-US" dirty="0"/>
              <a:t>Probability in 1 slide</a:t>
            </a:r>
          </a:p>
        </p:txBody>
      </p:sp>
      <p:sp>
        <p:nvSpPr>
          <p:cNvPr id="4" name="Date Placeholder 3">
            <a:extLst>
              <a:ext uri="{FF2B5EF4-FFF2-40B4-BE49-F238E27FC236}">
                <a16:creationId xmlns:a16="http://schemas.microsoft.com/office/drawing/2014/main" id="{0B34B8DA-2FBE-91D1-5FE2-22D0D282B179}"/>
              </a:ext>
            </a:extLst>
          </p:cNvPr>
          <p:cNvSpPr>
            <a:spLocks noGrp="1"/>
          </p:cNvSpPr>
          <p:nvPr>
            <p:ph type="dt" sz="half" idx="10"/>
          </p:nvPr>
        </p:nvSpPr>
        <p:spPr/>
        <p:txBody>
          <a:bodyPr/>
          <a:lstStyle/>
          <a:p>
            <a:fld id="{D47A9A36-4EB0-BF46-AE48-7CDA251B954B}" type="datetime1">
              <a:rPr lang="en-US" smtClean="0"/>
              <a:pPr/>
              <a:t>11/19/2025</a:t>
            </a:fld>
            <a:endParaRPr lang="en-US" dirty="0"/>
          </a:p>
        </p:txBody>
      </p:sp>
      <p:sp>
        <p:nvSpPr>
          <p:cNvPr id="5" name="Slide Number Placeholder 4">
            <a:extLst>
              <a:ext uri="{FF2B5EF4-FFF2-40B4-BE49-F238E27FC236}">
                <a16:creationId xmlns:a16="http://schemas.microsoft.com/office/drawing/2014/main" id="{DE1BA562-317A-FC44-B4F2-269DEBC1F7A2}"/>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720987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Probability Review</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949128" cy="3411537"/>
              </a:xfrm>
            </p:spPr>
            <p:txBody>
              <a:bodyPr>
                <a:normAutofit lnSpcReduction="10000"/>
              </a:bodyPr>
              <a:lstStyle/>
              <a:p>
                <a:r>
                  <a:rPr lang="en-US" sz="1800" dirty="0"/>
                  <a:t>Random variable: </a:t>
                </a:r>
              </a:p>
              <a:p>
                <a:pPr lvl="1"/>
                <a:r>
                  <a:rPr lang="en-US" sz="1800" dirty="0"/>
                  <a:t>A variable whose value cannot be predicted exactly</a:t>
                </a:r>
              </a:p>
              <a:p>
                <a:endParaRPr lang="en-US" sz="1800" dirty="0"/>
              </a:p>
              <a:p>
                <a:r>
                  <a:rPr lang="en-US" sz="1800" dirty="0"/>
                  <a:t>Expected value (</a:t>
                </a:r>
                <a14:m>
                  <m:oMath xmlns:m="http://schemas.openxmlformats.org/officeDocument/2006/math">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e>
                    </m:d>
                  </m:oMath>
                </a14:m>
                <a:r>
                  <a:rPr lang="en-US" sz="1800" dirty="0"/>
                  <a:t>):</a:t>
                </a:r>
              </a:p>
              <a:p>
                <a:pPr lvl="1"/>
                <a:r>
                  <a:rPr lang="en-US" sz="1800" dirty="0"/>
                  <a:t> Average </a:t>
                </a:r>
                <a14:m>
                  <m:oMath xmlns:m="http://schemas.openxmlformats.org/officeDocument/2006/math">
                    <m:r>
                      <a:rPr lang="en-US" sz="1800" b="0" i="1" smtClean="0">
                        <a:latin typeface="Cambria Math" panose="02040503050406030204" pitchFamily="18" charset="0"/>
                      </a:rPr>
                      <m:t>𝑋</m:t>
                    </m:r>
                  </m:oMath>
                </a14:m>
                <a:r>
                  <a:rPr lang="en-US" sz="1800" dirty="0"/>
                  <a:t> in the population</a:t>
                </a:r>
              </a:p>
              <a:p>
                <a:endParaRPr lang="en-US" sz="1800" dirty="0"/>
              </a:p>
              <a:p>
                <a:r>
                  <a:rPr lang="en-US" sz="1800" dirty="0"/>
                  <a:t>Conditional probability (</a:t>
                </a:r>
                <a14:m>
                  <m:oMath xmlns:m="http://schemas.openxmlformats.org/officeDocument/2006/math">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Pr</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𝑌</m:t>
                            </m:r>
                            <m:r>
                              <a:rPr lang="en-US" sz="1800" b="0" i="1" smtClean="0">
                                <a:latin typeface="Cambria Math" panose="02040503050406030204" pitchFamily="18" charset="0"/>
                              </a:rPr>
                              <m:t>=</m:t>
                            </m:r>
                            <m:r>
                              <a:rPr lang="en-US" sz="1800" b="0" i="1" smtClean="0">
                                <a:latin typeface="Cambria Math" panose="02040503050406030204" pitchFamily="18" charset="0"/>
                              </a:rPr>
                              <m:t>𝑦</m:t>
                            </m:r>
                          </m:e>
                          <m:e>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𝑥</m:t>
                            </m:r>
                          </m:e>
                        </m:d>
                      </m:e>
                    </m:func>
                  </m:oMath>
                </a14:m>
                <a:r>
                  <a:rPr lang="en-US" sz="1800" dirty="0"/>
                  <a:t>): </a:t>
                </a:r>
              </a:p>
              <a:p>
                <a:pPr lvl="1"/>
                <a:r>
                  <a:rPr lang="en-US" sz="1800" dirty="0"/>
                  <a:t>An event’s likelihood (</a:t>
                </a:r>
                <a14:m>
                  <m:oMath xmlns:m="http://schemas.openxmlformats.org/officeDocument/2006/math">
                    <m:r>
                      <a:rPr lang="en-US" sz="1800" b="0" i="1" smtClean="0">
                        <a:latin typeface="Cambria Math" panose="02040503050406030204" pitchFamily="18" charset="0"/>
                      </a:rPr>
                      <m:t>𝑌</m:t>
                    </m:r>
                    <m:r>
                      <a:rPr lang="en-US" sz="1800" b="0" i="1" smtClean="0">
                        <a:latin typeface="Cambria Math" panose="02040503050406030204" pitchFamily="18" charset="0"/>
                      </a:rPr>
                      <m:t>=</m:t>
                    </m:r>
                    <m:r>
                      <a:rPr lang="en-US" sz="1800" b="0" i="1" smtClean="0">
                        <a:latin typeface="Cambria Math" panose="02040503050406030204" pitchFamily="18" charset="0"/>
                      </a:rPr>
                      <m:t>𝑦</m:t>
                    </m:r>
                  </m:oMath>
                </a14:m>
                <a:r>
                  <a:rPr lang="en-US" sz="1800" dirty="0"/>
                  <a:t>) given the realization of another random variable (</a:t>
                </a:r>
                <a14:m>
                  <m:oMath xmlns:m="http://schemas.openxmlformats.org/officeDocument/2006/math">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𝑥</m:t>
                    </m:r>
                  </m:oMath>
                </a14:m>
                <a:r>
                  <a:rPr lang="en-US" sz="1800" dirty="0"/>
                  <a:t>)</a:t>
                </a:r>
              </a:p>
              <a:p>
                <a:endParaRPr lang="en-US" sz="1800" dirty="0"/>
              </a:p>
              <a:p>
                <a:r>
                  <a:rPr lang="en-US" sz="1800" dirty="0"/>
                  <a:t>Conditional expectation </a:t>
                </a:r>
                <a14:m>
                  <m:oMath xmlns:m="http://schemas.openxmlformats.org/officeDocument/2006/math">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𝑌</m:t>
                        </m:r>
                      </m:e>
                      <m:e>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𝑥</m:t>
                        </m:r>
                      </m:e>
                    </m:d>
                    <m:r>
                      <a:rPr lang="en-US" sz="1800" b="0" i="1" smtClean="0">
                        <a:latin typeface="Cambria Math" panose="02040503050406030204" pitchFamily="18" charset="0"/>
                      </a:rPr>
                      <m:t> </m:t>
                    </m:r>
                  </m:oMath>
                </a14:m>
                <a:r>
                  <a:rPr lang="en-US" sz="1800" dirty="0"/>
                  <a:t>: </a:t>
                </a:r>
              </a:p>
              <a:p>
                <a:pPr lvl="1"/>
                <a:r>
                  <a:rPr lang="en-US" sz="1800" dirty="0"/>
                  <a:t>Average </a:t>
                </a:r>
                <a14:m>
                  <m:oMath xmlns:m="http://schemas.openxmlformats.org/officeDocument/2006/math">
                    <m:r>
                      <a:rPr lang="en-US" sz="1800" b="0" i="1" smtClean="0">
                        <a:latin typeface="Cambria Math" panose="02040503050406030204" pitchFamily="18" charset="0"/>
                      </a:rPr>
                      <m:t>𝑌</m:t>
                    </m:r>
                  </m:oMath>
                </a14:m>
                <a:r>
                  <a:rPr lang="en-US" sz="1800" dirty="0"/>
                  <a:t> in the subpopulation where </a:t>
                </a:r>
                <a14:m>
                  <m:oMath xmlns:m="http://schemas.openxmlformats.org/officeDocument/2006/math">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𝑥</m:t>
                    </m:r>
                  </m:oMath>
                </a14:m>
                <a:endParaRPr lang="en-US" sz="1800" dirty="0"/>
              </a:p>
              <a:p>
                <a:pPr marL="228600" lvl="1" indent="0">
                  <a:buNone/>
                </a:pPr>
                <a:endParaRPr lang="en-US" sz="1800" dirty="0"/>
              </a:p>
              <a:p>
                <a:endParaRPr lang="en-US" sz="1800" dirty="0"/>
              </a:p>
              <a:p>
                <a:endParaRPr lang="en-US" sz="1800" dirty="0"/>
              </a:p>
              <a:p>
                <a:endParaRPr lang="en-US" sz="1800" dirty="0"/>
              </a:p>
            </p:txBody>
          </p:sp>
        </mc:Choice>
        <mc:Fallback xmlns="">
          <p:sp>
            <p:nvSpPr>
              <p:cNvPr id="4" name="Text Placeholder 3">
                <a:extLst>
                  <a:ext uri="{FF2B5EF4-FFF2-40B4-BE49-F238E27FC236}">
                    <a16:creationId xmlns:a16="http://schemas.microsoft.com/office/drawing/2014/main" id="{B84FECDD-72B1-9A43-B7FF-10EB079D6814}"/>
                  </a:ext>
                </a:extLst>
              </p:cNvPr>
              <p:cNvSpPr>
                <a:spLocks noGrp="1" noRot="1" noChangeAspect="1" noMove="1" noResize="1" noEditPoints="1" noAdjustHandles="1" noChangeArrowheads="1" noChangeShapeType="1" noTextEdit="1"/>
              </p:cNvSpPr>
              <p:nvPr>
                <p:ph type="body" sz="quarter" idx="14"/>
              </p:nvPr>
            </p:nvSpPr>
            <p:spPr>
              <a:xfrm>
                <a:off x="1828800" y="1917389"/>
                <a:ext cx="8949128" cy="3411537"/>
              </a:xfrm>
              <a:blipFill>
                <a:blip r:embed="rId3"/>
                <a:stretch>
                  <a:fillRect l="-1560" t="-297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206475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7300940" cy="1578894"/>
          </a:xfrm>
        </p:spPr>
        <p:txBody>
          <a:bodyPr/>
          <a:lstStyle/>
          <a:p>
            <a:r>
              <a:rPr lang="en-US" dirty="0"/>
              <a:t>Organizational metrics</a:t>
            </a:r>
            <a:br>
              <a:rPr lang="en-US" dirty="0"/>
            </a:br>
            <a:r>
              <a:rPr lang="en-US" sz="1800" dirty="0" err="1"/>
              <a:t>Kohavi</a:t>
            </a:r>
            <a:r>
              <a:rPr lang="en-US" sz="1800" dirty="0"/>
              <a:t>, Tang, and Xu (2020)</a:t>
            </a:r>
            <a:endParaRPr lang="en-US" dirty="0"/>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11/19/2025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340636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What Are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dirty="0"/>
              <a:t>Metrics are what you measure</a:t>
            </a:r>
          </a:p>
          <a:p>
            <a:endParaRPr lang="en-US" sz="2400" dirty="0"/>
          </a:p>
          <a:p>
            <a:r>
              <a:rPr lang="en-US" sz="2400" dirty="0"/>
              <a:t>Good metrics proxy the long-term objective of the organization</a:t>
            </a:r>
          </a:p>
          <a:p>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748592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Types of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b="1" dirty="0"/>
              <a:t>Goal metrics</a:t>
            </a:r>
            <a:r>
              <a:rPr lang="en-US" sz="2400" dirty="0"/>
              <a:t>: Reflect what organization ultimately cares about</a:t>
            </a:r>
          </a:p>
          <a:p>
            <a:endParaRPr lang="en-US" sz="2400" b="1" dirty="0"/>
          </a:p>
          <a:p>
            <a:r>
              <a:rPr lang="en-US" sz="2400" b="1" dirty="0"/>
              <a:t>Driver metrics</a:t>
            </a:r>
            <a:r>
              <a:rPr lang="en-US" sz="2400" dirty="0"/>
              <a:t>: Short-term and more sensitive than goal metrics</a:t>
            </a:r>
          </a:p>
          <a:p>
            <a:pPr lvl="1"/>
            <a:r>
              <a:rPr lang="en-US" sz="2400" dirty="0"/>
              <a:t>Aka sign post metrics, surrogates, indirect</a:t>
            </a:r>
          </a:p>
          <a:p>
            <a:pPr lvl="1"/>
            <a:r>
              <a:rPr lang="en-US" sz="2400" dirty="0"/>
              <a:t>Reflect a causal model of what moves the goal metrics</a:t>
            </a:r>
          </a:p>
          <a:p>
            <a:r>
              <a:rPr lang="en-US" sz="2400" b="1" dirty="0"/>
              <a:t>Guardrail metrics</a:t>
            </a:r>
            <a:r>
              <a:rPr lang="en-US" sz="2400" dirty="0"/>
              <a:t>: Verify assumptions and protect organization</a:t>
            </a:r>
          </a:p>
          <a:p>
            <a:pPr lvl="1"/>
            <a:r>
              <a:rPr lang="en-US" sz="2400" dirty="0"/>
              <a:t>Examples include user-experience (page load) or trust / safety stats</a:t>
            </a:r>
          </a:p>
          <a:p>
            <a:endParaRPr lang="en-US" sz="2400" dirty="0"/>
          </a:p>
          <a:p>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27717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Goal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fontScale="92500" lnSpcReduction="10000"/>
          </a:bodyPr>
          <a:lstStyle/>
          <a:p>
            <a:r>
              <a:rPr lang="en-US" sz="2400" b="1" dirty="0"/>
              <a:t>Goal metrics</a:t>
            </a:r>
            <a:r>
              <a:rPr lang="en-US" sz="2400" dirty="0"/>
              <a:t>: Reflect what organization ultimately cares about</a:t>
            </a:r>
          </a:p>
          <a:p>
            <a:endParaRPr lang="en-US" sz="2400" dirty="0"/>
          </a:p>
          <a:p>
            <a:r>
              <a:rPr lang="en-US" sz="2400" dirty="0"/>
              <a:t>Directly related to organization’s mission</a:t>
            </a:r>
          </a:p>
          <a:p>
            <a:endParaRPr lang="en-US" sz="2400" dirty="0"/>
          </a:p>
          <a:p>
            <a:r>
              <a:rPr lang="en-US" sz="2400" dirty="0"/>
              <a:t>Often hard to measure in the short-run</a:t>
            </a:r>
          </a:p>
          <a:p>
            <a:endParaRPr lang="en-US" sz="2400" dirty="0"/>
          </a:p>
          <a:p>
            <a:r>
              <a:rPr lang="en-US" sz="2400" dirty="0"/>
              <a:t>Helpful to articulate organization’s mission in words and then proxy this goal with metrics</a:t>
            </a:r>
          </a:p>
          <a:p>
            <a:pPr lvl="1"/>
            <a:r>
              <a:rPr lang="en-US" sz="2400" dirty="0"/>
              <a:t>Proxy is often imperfect, constantly refine</a:t>
            </a:r>
          </a:p>
          <a:p>
            <a:pPr lvl="1"/>
            <a:r>
              <a:rPr lang="en-US" sz="2400" dirty="0"/>
              <a:t>Important to understand metrics are a proxy for this goal</a:t>
            </a:r>
          </a:p>
          <a:p>
            <a:pPr lvl="2"/>
            <a:endParaRPr lang="en-US" sz="2400" dirty="0"/>
          </a:p>
          <a:p>
            <a:pPr marL="0" indent="0">
              <a:buNone/>
            </a:pPr>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1195496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Driver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b="1" dirty="0"/>
              <a:t>Driver metrics</a:t>
            </a:r>
            <a:r>
              <a:rPr lang="en-US" sz="2400" dirty="0"/>
              <a:t>: Short-term and more sensitive than goal metrics</a:t>
            </a:r>
          </a:p>
          <a:p>
            <a:pPr lvl="1"/>
            <a:r>
              <a:rPr lang="en-US" sz="2400" dirty="0"/>
              <a:t>Aka sign post metrics, surrogates, indirect</a:t>
            </a:r>
          </a:p>
          <a:p>
            <a:endParaRPr lang="en-US" sz="2400" dirty="0"/>
          </a:p>
          <a:p>
            <a:r>
              <a:rPr lang="en-US" sz="2400" dirty="0"/>
              <a:t>Reflect a causal model of what moves the goal metrics</a:t>
            </a:r>
          </a:p>
          <a:p>
            <a:endParaRPr lang="en-US" sz="2400" dirty="0"/>
          </a:p>
          <a:p>
            <a:r>
              <a:rPr lang="en-US" sz="2400" dirty="0"/>
              <a:t>Often includes “up-the-funnel” metrics</a:t>
            </a:r>
          </a:p>
          <a:p>
            <a:pPr marL="0" indent="0">
              <a:buNone/>
            </a:pPr>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136771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Driver Metrics, Part 2</a:t>
            </a:r>
          </a:p>
        </p:txBody>
      </p:sp>
      <p:pic>
        <p:nvPicPr>
          <p:cNvPr id="7" name="Picture 6" descr="Diagram of an ecommerce conversion funnel.">
            <a:extLst>
              <a:ext uri="{FF2B5EF4-FFF2-40B4-BE49-F238E27FC236}">
                <a16:creationId xmlns:a16="http://schemas.microsoft.com/office/drawing/2014/main" id="{B2BDB28C-F089-B32E-2CC5-265091CDAA9D}"/>
              </a:ext>
            </a:extLst>
          </p:cNvPr>
          <p:cNvPicPr>
            <a:picLocks noChangeAspect="1"/>
          </p:cNvPicPr>
          <p:nvPr/>
        </p:nvPicPr>
        <p:blipFill>
          <a:blip r:embed="rId3"/>
          <a:stretch>
            <a:fillRect/>
          </a:stretch>
        </p:blipFill>
        <p:spPr>
          <a:xfrm>
            <a:off x="3994150" y="962824"/>
            <a:ext cx="4679950" cy="4932352"/>
          </a:xfrm>
          <a:prstGeom prst="rect">
            <a:avLst/>
          </a:prstGeom>
        </p:spPr>
      </p:pic>
      <p:sp>
        <p:nvSpPr>
          <p:cNvPr id="8" name="TextBox 7">
            <a:extLst>
              <a:ext uri="{FF2B5EF4-FFF2-40B4-BE49-F238E27FC236}">
                <a16:creationId xmlns:a16="http://schemas.microsoft.com/office/drawing/2014/main" id="{C740E214-C099-1CA9-07CE-3A5531BBE89B}"/>
              </a:ext>
            </a:extLst>
          </p:cNvPr>
          <p:cNvSpPr txBox="1"/>
          <p:nvPr/>
        </p:nvSpPr>
        <p:spPr>
          <a:xfrm>
            <a:off x="7033390" y="5242719"/>
            <a:ext cx="2588594" cy="276999"/>
          </a:xfrm>
          <a:prstGeom prst="rect">
            <a:avLst/>
          </a:prstGeom>
          <a:noFill/>
        </p:spPr>
        <p:txBody>
          <a:bodyPr wrap="none" rtlCol="0">
            <a:spAutoFit/>
          </a:bodyPr>
          <a:lstStyle/>
          <a:p>
            <a:r>
              <a:rPr lang="en-US" sz="1200" dirty="0"/>
              <a:t>Source: </a:t>
            </a:r>
            <a:r>
              <a:rPr lang="en-US" sz="1200" dirty="0" err="1"/>
              <a:t>Kohavi</a:t>
            </a:r>
            <a:r>
              <a:rPr lang="en-US" sz="1200" dirty="0"/>
              <a:t>, Tang, and Xu (2020) </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4055049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Driver Metrics, Part 3</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dirty="0"/>
              <a:t>Different teams may have different driver metrics</a:t>
            </a:r>
          </a:p>
          <a:p>
            <a:endParaRPr lang="en-US" sz="2400" dirty="0"/>
          </a:p>
          <a:p>
            <a:r>
              <a:rPr lang="en-US" sz="2400" dirty="0"/>
              <a:t>Example: Content business adopting the advertising revenue model wants to maximize long-term profits.</a:t>
            </a:r>
          </a:p>
          <a:p>
            <a:pPr lvl="1"/>
            <a:r>
              <a:rPr lang="en-US" sz="2400" dirty="0"/>
              <a:t>What is a good driver metric for the content team?</a:t>
            </a:r>
          </a:p>
          <a:p>
            <a:pPr lvl="1"/>
            <a:endParaRPr lang="en-US" sz="2400" dirty="0"/>
          </a:p>
          <a:p>
            <a:pPr lvl="1"/>
            <a:r>
              <a:rPr lang="en-US" sz="2400" dirty="0"/>
              <a:t>What is a good driver metric for the support team?</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509495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Guardrail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b="1" dirty="0"/>
              <a:t>Guardrail metrics</a:t>
            </a:r>
            <a:r>
              <a:rPr lang="en-US" sz="2400" dirty="0"/>
              <a:t>: Verify assumptions and protect organization</a:t>
            </a:r>
          </a:p>
          <a:p>
            <a:pPr lvl="1"/>
            <a:r>
              <a:rPr lang="en-US" sz="2400" dirty="0"/>
              <a:t>User-experience (page load time)</a:t>
            </a:r>
          </a:p>
          <a:p>
            <a:pPr lvl="1"/>
            <a:r>
              <a:rPr lang="en-US" sz="2400" dirty="0"/>
              <a:t>Trust / safety stats</a:t>
            </a:r>
          </a:p>
          <a:p>
            <a:pPr lvl="1"/>
            <a:r>
              <a:rPr lang="en-US" sz="2400" dirty="0"/>
              <a:t>Security often in conflict with ease of use</a:t>
            </a:r>
          </a:p>
          <a:p>
            <a:pPr lvl="1"/>
            <a:endParaRPr lang="en-US" sz="2400" dirty="0"/>
          </a:p>
          <a:p>
            <a:pPr marL="0" indent="0">
              <a:buNone/>
            </a:pPr>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3427040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Additional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dirty="0"/>
              <a:t>Useful to collect a suite of metrics related to key metrics</a:t>
            </a:r>
          </a:p>
          <a:p>
            <a:pPr lvl="1"/>
            <a:r>
              <a:rPr lang="en-US" sz="2400" dirty="0"/>
              <a:t>E.g. If CTR is a key metric, we might want to track where clicks happen on the page to understand what is moving the CTR</a:t>
            </a:r>
          </a:p>
          <a:p>
            <a:pPr lvl="1"/>
            <a:endParaRPr lang="en-US" sz="2400" dirty="0"/>
          </a:p>
          <a:p>
            <a:pPr marL="228600" lvl="1" indent="0">
              <a:buNone/>
            </a:pPr>
            <a:r>
              <a:rPr lang="en-US" sz="2400" b="1" dirty="0"/>
              <a:t>Question</a:t>
            </a:r>
            <a:r>
              <a:rPr lang="en-US" sz="2400" dirty="0"/>
              <a:t>: If revenue is a key metric, what other metrics might we want to track?</a:t>
            </a:r>
          </a:p>
          <a:p>
            <a:pPr lvl="1"/>
            <a:r>
              <a:rPr lang="en-US" sz="2400" dirty="0"/>
              <a:t>Extensive / intensive margin, category of sales, referral source</a:t>
            </a:r>
          </a:p>
          <a:p>
            <a:pPr lvl="1"/>
            <a:endParaRPr lang="en-US" sz="2400" dirty="0"/>
          </a:p>
          <a:p>
            <a:pPr marL="0" indent="0">
              <a:buNone/>
            </a:pPr>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2680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Challenges of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fontScale="85000" lnSpcReduction="20000"/>
          </a:bodyPr>
          <a:lstStyle/>
          <a:p>
            <a:r>
              <a:rPr lang="en-US" sz="2400" dirty="0"/>
              <a:t>Goal metrics:</a:t>
            </a:r>
          </a:p>
          <a:p>
            <a:pPr lvl="1"/>
            <a:r>
              <a:rPr lang="en-US" sz="2400" dirty="0"/>
              <a:t>Long-run and hard to move</a:t>
            </a:r>
          </a:p>
          <a:p>
            <a:endParaRPr lang="en-US" sz="2400" dirty="0"/>
          </a:p>
          <a:p>
            <a:r>
              <a:rPr lang="en-US" sz="2400" dirty="0"/>
              <a:t>Driver metrics:</a:t>
            </a:r>
          </a:p>
          <a:p>
            <a:pPr lvl="1"/>
            <a:r>
              <a:rPr lang="en-US" sz="2400" dirty="0"/>
              <a:t>Potentially distracting</a:t>
            </a:r>
          </a:p>
          <a:p>
            <a:pPr lvl="1"/>
            <a:r>
              <a:rPr lang="en-US" sz="2400" dirty="0"/>
              <a:t>Difficult to find good driver metrics</a:t>
            </a:r>
          </a:p>
          <a:p>
            <a:pPr lvl="1"/>
            <a:r>
              <a:rPr lang="en-US" sz="2400" dirty="0"/>
              <a:t>Potentially gameable</a:t>
            </a:r>
          </a:p>
          <a:p>
            <a:pPr lvl="1"/>
            <a:endParaRPr lang="en-US" sz="2400" dirty="0"/>
          </a:p>
          <a:p>
            <a:r>
              <a:rPr lang="en-US" sz="2400" dirty="0"/>
              <a:t>Guardrail metrics:</a:t>
            </a:r>
          </a:p>
          <a:p>
            <a:pPr lvl="1"/>
            <a:r>
              <a:rPr lang="en-US" sz="2400" dirty="0"/>
              <a:t>Easy to look past</a:t>
            </a:r>
          </a:p>
          <a:p>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521164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Defining Metrics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fontScale="92500" lnSpcReduction="10000"/>
          </a:bodyPr>
          <a:lstStyle/>
          <a:p>
            <a:r>
              <a:rPr lang="en-US" sz="2400" dirty="0"/>
              <a:t>Measure relationships between data you collect and goal metrics</a:t>
            </a:r>
          </a:p>
          <a:p>
            <a:pPr lvl="1"/>
            <a:endParaRPr lang="en-US" sz="2400" dirty="0"/>
          </a:p>
          <a:p>
            <a:r>
              <a:rPr lang="en-US" sz="2400" dirty="0"/>
              <a:t>Example: One of Netflix’s goal metrics is the retention rate of existing customers. This is a slow-moving target, what are possible driver metrics?</a:t>
            </a:r>
          </a:p>
          <a:p>
            <a:pPr lvl="1"/>
            <a:r>
              <a:rPr lang="en-US" sz="2400" dirty="0"/>
              <a:t>Streaming hours is correlated with retention</a:t>
            </a:r>
          </a:p>
          <a:p>
            <a:pPr lvl="1"/>
            <a:r>
              <a:rPr lang="en-US" sz="2400" dirty="0"/>
              <a:t>Relationship is non-linear</a:t>
            </a:r>
          </a:p>
          <a:p>
            <a:pPr lvl="1"/>
            <a:r>
              <a:rPr lang="en-US" sz="2400" dirty="0"/>
              <a:t>Most important to move light users to moderate users than heavy users to heavier users (Xie and </a:t>
            </a:r>
            <a:r>
              <a:rPr lang="en-US" sz="2400" dirty="0" err="1"/>
              <a:t>Aurisset</a:t>
            </a:r>
            <a:r>
              <a:rPr lang="en-US" sz="2400" dirty="0"/>
              <a:t>, 2016)</a:t>
            </a:r>
          </a:p>
          <a:p>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386283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Defining Metrics, Continued</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fontScale="85000" lnSpcReduction="10000"/>
          </a:bodyPr>
          <a:lstStyle/>
          <a:p>
            <a:r>
              <a:rPr lang="en-US" sz="2400" dirty="0"/>
              <a:t>Measure relationships between data you collect and goal metrics</a:t>
            </a:r>
          </a:p>
          <a:p>
            <a:pPr lvl="1"/>
            <a:endParaRPr lang="en-US" sz="2400" dirty="0"/>
          </a:p>
          <a:p>
            <a:r>
              <a:rPr lang="en-US" sz="2400" dirty="0"/>
              <a:t>Example: Facebook has a goal of showing content users like. How can we find driver metrics for this goal?</a:t>
            </a:r>
          </a:p>
          <a:p>
            <a:pPr lvl="1"/>
            <a:r>
              <a:rPr lang="en-US" sz="2400" dirty="0"/>
              <a:t>Rank content by predicted engagement</a:t>
            </a:r>
          </a:p>
          <a:p>
            <a:pPr lvl="2"/>
            <a:r>
              <a:rPr lang="en-US" sz="2400" dirty="0"/>
              <a:t>Assumption is that people engage with what they like</a:t>
            </a:r>
          </a:p>
          <a:p>
            <a:pPr lvl="1"/>
            <a:r>
              <a:rPr lang="en-US" sz="2400" dirty="0"/>
              <a:t>Survey users: “Is this post worth your time?” </a:t>
            </a:r>
            <a:r>
              <a:rPr lang="en-US" sz="1800" dirty="0"/>
              <a:t>(Gupta, 2021)</a:t>
            </a:r>
            <a:endParaRPr lang="en-US" sz="2400" dirty="0"/>
          </a:p>
          <a:p>
            <a:pPr lvl="2"/>
            <a:r>
              <a:rPr lang="en-US" sz="2400" dirty="0"/>
              <a:t>Is this scalable? </a:t>
            </a:r>
          </a:p>
          <a:p>
            <a:pPr lvl="2"/>
            <a:r>
              <a:rPr lang="en-US" sz="2400" dirty="0"/>
              <a:t>One way to scale: survey a subset of users and predict survey responses</a:t>
            </a:r>
          </a:p>
          <a:p>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4814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err="1"/>
              <a:t>Gameability</a:t>
            </a:r>
            <a:r>
              <a:rPr lang="en-US" dirty="0"/>
              <a:t> of Metrics – Vasily Alekseyev</a:t>
            </a:r>
          </a:p>
        </p:txBody>
      </p:sp>
      <p:sp>
        <p:nvSpPr>
          <p:cNvPr id="7" name="Text Placeholder 3">
            <a:extLst>
              <a:ext uri="{FF2B5EF4-FFF2-40B4-BE49-F238E27FC236}">
                <a16:creationId xmlns:a16="http://schemas.microsoft.com/office/drawing/2014/main" id="{B38439FC-5B79-C57C-8048-2631378A9406}"/>
              </a:ext>
            </a:extLst>
          </p:cNvPr>
          <p:cNvSpPr>
            <a:spLocks noGrp="1"/>
          </p:cNvSpPr>
          <p:nvPr>
            <p:ph type="body" sz="quarter" idx="14"/>
          </p:nvPr>
        </p:nvSpPr>
        <p:spPr>
          <a:xfrm>
            <a:off x="1828800" y="1375454"/>
            <a:ext cx="4856480" cy="3873811"/>
          </a:xfrm>
        </p:spPr>
        <p:txBody>
          <a:bodyPr>
            <a:normAutofit/>
          </a:bodyPr>
          <a:lstStyle/>
          <a:p>
            <a:r>
              <a:rPr lang="en-US" sz="2400" dirty="0"/>
              <a:t>Soviet government paid a bonus every time he broke a WR</a:t>
            </a:r>
          </a:p>
          <a:p>
            <a:endParaRPr lang="en-US" sz="2400" dirty="0"/>
          </a:p>
          <a:p>
            <a:r>
              <a:rPr lang="en-US" sz="2400" dirty="0"/>
              <a:t>What do you think happened?</a:t>
            </a:r>
          </a:p>
          <a:p>
            <a:endParaRPr lang="en-US" sz="2400" dirty="0"/>
          </a:p>
          <a:p>
            <a:r>
              <a:rPr lang="en-US" sz="2400" dirty="0"/>
              <a:t>He broke his own record ~80 times increasing WR by 1lb each time</a:t>
            </a:r>
          </a:p>
          <a:p>
            <a:endParaRPr lang="en-US" sz="2400" dirty="0"/>
          </a:p>
          <a:p>
            <a:endParaRPr lang="en-US" sz="2400" dirty="0"/>
          </a:p>
          <a:p>
            <a:pPr marL="0" indent="0">
              <a:buNone/>
            </a:pPr>
            <a:r>
              <a:rPr lang="en-US" dirty="0"/>
              <a:t>Source: Spitzer (2007), </a:t>
            </a:r>
            <a:r>
              <a:rPr lang="en-US" dirty="0" err="1"/>
              <a:t>Kohavi</a:t>
            </a:r>
            <a:r>
              <a:rPr lang="en-US" dirty="0"/>
              <a:t>, Tang, and Xu, (2020)</a:t>
            </a:r>
          </a:p>
          <a:p>
            <a:endParaRPr lang="en-US" sz="2400" dirty="0"/>
          </a:p>
        </p:txBody>
      </p:sp>
      <p:pic>
        <p:nvPicPr>
          <p:cNvPr id="1026" name="Picture 2" descr="An image of a muscular man in a red singlet bending over a heavily loaded barbell, appearing to adjust or grip the weight.">
            <a:extLst>
              <a:ext uri="{FF2B5EF4-FFF2-40B4-BE49-F238E27FC236}">
                <a16:creationId xmlns:a16="http://schemas.microsoft.com/office/drawing/2014/main" id="{F640CF31-B15A-2BDE-13E8-19EFBBB0D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880" y="1355134"/>
            <a:ext cx="2794000" cy="4279900"/>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227051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err="1"/>
              <a:t>Gameability</a:t>
            </a:r>
            <a:r>
              <a:rPr lang="en-US" dirty="0"/>
              <a:t> of Metrics – The Chicken KPI</a:t>
            </a:r>
          </a:p>
        </p:txBody>
      </p:sp>
      <p:sp>
        <p:nvSpPr>
          <p:cNvPr id="7" name="Text Placeholder 3">
            <a:extLst>
              <a:ext uri="{FF2B5EF4-FFF2-40B4-BE49-F238E27FC236}">
                <a16:creationId xmlns:a16="http://schemas.microsoft.com/office/drawing/2014/main" id="{B38439FC-5B79-C57C-8048-2631378A9406}"/>
              </a:ext>
            </a:extLst>
          </p:cNvPr>
          <p:cNvSpPr>
            <a:spLocks noGrp="1"/>
          </p:cNvSpPr>
          <p:nvPr>
            <p:ph type="body" sz="quarter" idx="14"/>
          </p:nvPr>
        </p:nvSpPr>
        <p:spPr>
          <a:xfrm>
            <a:off x="1828800" y="1375454"/>
            <a:ext cx="9326880" cy="3873811"/>
          </a:xfrm>
        </p:spPr>
        <p:txBody>
          <a:bodyPr>
            <a:normAutofit fontScale="92500" lnSpcReduction="10000"/>
          </a:bodyPr>
          <a:lstStyle/>
          <a:p>
            <a:r>
              <a:rPr lang="en-US" sz="2800" dirty="0"/>
              <a:t>Fried chicken chain evaluated managers based on the Chicken Efficiency Index (Chicken Sold / Chicken Cooked)</a:t>
            </a:r>
            <a:endParaRPr lang="en-US" sz="2400" dirty="0"/>
          </a:p>
          <a:p>
            <a:endParaRPr lang="en-US" sz="2400" dirty="0"/>
          </a:p>
          <a:p>
            <a:r>
              <a:rPr lang="en-US" sz="2800" i="1" dirty="0"/>
              <a:t>“Oh yeah we get tons of kids coming in here after baseball or soccer practices or games, families, and lots of people. I tell them I’m going to make their chicken to order and it will take 15-20 minutes.”</a:t>
            </a:r>
            <a:endParaRPr lang="en-US" sz="2800" dirty="0"/>
          </a:p>
          <a:p>
            <a:r>
              <a:rPr lang="en-US" sz="2800" i="1" dirty="0"/>
              <a:t>“they file right out the door and head off someplace else, but management doesn’t measure that.”</a:t>
            </a:r>
            <a:endParaRPr lang="en-US" sz="2800" dirty="0"/>
          </a:p>
          <a:p>
            <a:endParaRPr lang="en-US" sz="2400" dirty="0"/>
          </a:p>
          <a:p>
            <a:pPr marL="0" indent="0">
              <a:buNone/>
            </a:pPr>
            <a:r>
              <a:rPr lang="en-US" dirty="0"/>
              <a:t>Source: Spitzer (2007), Brown (2019), </a:t>
            </a:r>
            <a:r>
              <a:rPr lang="en-US" dirty="0" err="1"/>
              <a:t>Kohavi</a:t>
            </a:r>
            <a:r>
              <a:rPr lang="en-US" dirty="0"/>
              <a:t>, Tang, and Xu, (2020)</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387854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err="1"/>
              <a:t>Gameability</a:t>
            </a:r>
            <a:r>
              <a:rPr lang="en-US" dirty="0"/>
              <a:t> of Metrics – Hanoi Rat Bounty</a:t>
            </a:r>
          </a:p>
        </p:txBody>
      </p:sp>
      <p:sp>
        <p:nvSpPr>
          <p:cNvPr id="7" name="Text Placeholder 3">
            <a:extLst>
              <a:ext uri="{FF2B5EF4-FFF2-40B4-BE49-F238E27FC236}">
                <a16:creationId xmlns:a16="http://schemas.microsoft.com/office/drawing/2014/main" id="{B38439FC-5B79-C57C-8048-2631378A9406}"/>
              </a:ext>
            </a:extLst>
          </p:cNvPr>
          <p:cNvSpPr>
            <a:spLocks noGrp="1"/>
          </p:cNvSpPr>
          <p:nvPr>
            <p:ph type="body" sz="quarter" idx="14"/>
          </p:nvPr>
        </p:nvSpPr>
        <p:spPr>
          <a:xfrm>
            <a:off x="1828800" y="1375454"/>
            <a:ext cx="4267200" cy="3873811"/>
          </a:xfrm>
        </p:spPr>
        <p:txBody>
          <a:bodyPr>
            <a:normAutofit/>
          </a:bodyPr>
          <a:lstStyle/>
          <a:p>
            <a:r>
              <a:rPr lang="en-US" sz="2000" dirty="0"/>
              <a:t>There was a program in Hanoi paying a bounty for every rat tail handed in to control the rat population</a:t>
            </a:r>
          </a:p>
          <a:p>
            <a:endParaRPr lang="en-US" sz="2000" dirty="0"/>
          </a:p>
          <a:p>
            <a:r>
              <a:rPr lang="en-US" sz="2000" dirty="0"/>
              <a:t>Led to the growth of a small industry of breeding and raising rats</a:t>
            </a:r>
            <a:endParaRPr lang="en-US" sz="2800" dirty="0"/>
          </a:p>
          <a:p>
            <a:endParaRPr lang="en-US" sz="2000" dirty="0"/>
          </a:p>
          <a:p>
            <a:pPr marL="0" indent="0">
              <a:buNone/>
            </a:pPr>
            <a:r>
              <a:rPr lang="en-US" sz="1400" dirty="0"/>
              <a:t>Source: Wikipedia contributors, </a:t>
            </a:r>
            <a:r>
              <a:rPr lang="en-US" sz="1400" dirty="0" err="1"/>
              <a:t>Kohavi</a:t>
            </a:r>
            <a:r>
              <a:rPr lang="en-US" sz="1400" dirty="0"/>
              <a:t>, Tang, and Xu, (2020)</a:t>
            </a:r>
          </a:p>
        </p:txBody>
      </p:sp>
      <p:pic>
        <p:nvPicPr>
          <p:cNvPr id="3074" name="Picture 2" descr="A mother rat lying on a bed of wood shavings while nursing a large litter of newborn pups.">
            <a:extLst>
              <a:ext uri="{FF2B5EF4-FFF2-40B4-BE49-F238E27FC236}">
                <a16:creationId xmlns:a16="http://schemas.microsoft.com/office/drawing/2014/main" id="{17E2F14D-A082-21B6-E9A5-2B1024303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8800" y="1889760"/>
            <a:ext cx="3797300" cy="213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CC0503D-68A4-81A0-9521-49FDAE055A0D}"/>
              </a:ext>
            </a:extLst>
          </p:cNvPr>
          <p:cNvSpPr txBox="1"/>
          <p:nvPr/>
        </p:nvSpPr>
        <p:spPr>
          <a:xfrm>
            <a:off x="9727049" y="4023360"/>
            <a:ext cx="979051" cy="276999"/>
          </a:xfrm>
          <a:prstGeom prst="rect">
            <a:avLst/>
          </a:prstGeom>
          <a:noFill/>
        </p:spPr>
        <p:txBody>
          <a:bodyPr wrap="none" rtlCol="0">
            <a:spAutoFit/>
          </a:bodyPr>
          <a:lstStyle/>
          <a:p>
            <a:r>
              <a:rPr lang="en-US" sz="1200" dirty="0"/>
              <a:t>Source: ABC</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135825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pPr algn="just"/>
            <a:r>
              <a:rPr lang="en-US" dirty="0"/>
              <a:t>Takeaways</a:t>
            </a:r>
          </a:p>
        </p:txBody>
      </p:sp>
      <p:sp>
        <p:nvSpPr>
          <p:cNvPr id="7" name="Text Placeholder 3">
            <a:extLst>
              <a:ext uri="{FF2B5EF4-FFF2-40B4-BE49-F238E27FC236}">
                <a16:creationId xmlns:a16="http://schemas.microsoft.com/office/drawing/2014/main" id="{B38439FC-5B79-C57C-8048-2631378A9406}"/>
              </a:ext>
            </a:extLst>
          </p:cNvPr>
          <p:cNvSpPr>
            <a:spLocks noGrp="1"/>
          </p:cNvSpPr>
          <p:nvPr>
            <p:ph type="body" sz="quarter" idx="14"/>
          </p:nvPr>
        </p:nvSpPr>
        <p:spPr>
          <a:xfrm>
            <a:off x="1828800" y="1375454"/>
            <a:ext cx="8755380" cy="4334466"/>
          </a:xfrm>
        </p:spPr>
        <p:txBody>
          <a:bodyPr>
            <a:normAutofit/>
          </a:bodyPr>
          <a:lstStyle/>
          <a:p>
            <a:r>
              <a:rPr lang="en-US" sz="2000" dirty="0"/>
              <a:t>Finding good metrics is hard</a:t>
            </a:r>
          </a:p>
          <a:p>
            <a:pPr lvl="1"/>
            <a:r>
              <a:rPr lang="en-US" sz="2000" dirty="0"/>
              <a:t>Start with the organization’s mission, proxy this with goal metrics</a:t>
            </a:r>
          </a:p>
          <a:p>
            <a:pPr lvl="1"/>
            <a:r>
              <a:rPr lang="en-US" sz="2000" dirty="0"/>
              <a:t>Proxy goal metrics with short-term driver metrics</a:t>
            </a:r>
          </a:p>
          <a:p>
            <a:pPr lvl="1"/>
            <a:r>
              <a:rPr lang="en-US" sz="2000" dirty="0"/>
              <a:t>Set up effective guardrail metrics to protect the business</a:t>
            </a:r>
          </a:p>
          <a:p>
            <a:endParaRPr lang="en-US" sz="2000" dirty="0"/>
          </a:p>
          <a:p>
            <a:r>
              <a:rPr lang="en-US" sz="2000" dirty="0"/>
              <a:t>Avoid gameable metrics</a:t>
            </a:r>
          </a:p>
          <a:p>
            <a:pPr marL="228600" lvl="1" indent="0">
              <a:buNone/>
            </a:pPr>
            <a:r>
              <a:rPr lang="en-US" sz="2000" dirty="0"/>
              <a:t>	“Tell me how you measure me, and I will tell you how I will behave”</a:t>
            </a:r>
          </a:p>
          <a:p>
            <a:pPr marL="228600" lvl="1" indent="0">
              <a:buNone/>
            </a:pPr>
            <a:r>
              <a:rPr lang="en-US" sz="2000" dirty="0"/>
              <a:t>					- Goldratt (1990)</a:t>
            </a:r>
          </a:p>
          <a:p>
            <a:pPr marL="228600" lvl="1" indent="0" algn="ctr">
              <a:buNone/>
            </a:pPr>
            <a:r>
              <a:rPr lang="en-US" sz="2000" dirty="0"/>
              <a:t>“Show me the incentives, and I’ll show you the outcome”</a:t>
            </a:r>
          </a:p>
          <a:p>
            <a:pPr marL="228600" lvl="1" indent="0">
              <a:buNone/>
            </a:pPr>
            <a:r>
              <a:rPr lang="en-US" sz="2000" dirty="0"/>
              <a:t>					- Charlie Munger (1995)</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2669195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7300940" cy="1578894"/>
          </a:xfrm>
        </p:spPr>
        <p:txBody>
          <a:bodyPr/>
          <a:lstStyle/>
          <a:p>
            <a:r>
              <a:rPr lang="en-US" dirty="0"/>
              <a:t>Overall evaluation criteria</a:t>
            </a:r>
            <a:br>
              <a:rPr lang="en-US" dirty="0"/>
            </a:br>
            <a:r>
              <a:rPr lang="en-US" sz="1600" dirty="0" err="1"/>
              <a:t>Kohavi</a:t>
            </a:r>
            <a:r>
              <a:rPr lang="en-US" sz="1600" dirty="0"/>
              <a:t>, Tang, and Xu (2020)</a:t>
            </a:r>
            <a:endParaRPr lang="en-US" dirty="0"/>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11/19/2025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3801107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Metrics Useful for Decisions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lnSpcReduction="10000"/>
          </a:bodyPr>
          <a:lstStyle/>
          <a:p>
            <a:r>
              <a:rPr lang="en-US" sz="2400" dirty="0"/>
              <a:t>Data-driven organizations have goal, driver, and guardrail metrics to achieve their goals and align their efforts</a:t>
            </a:r>
          </a:p>
          <a:p>
            <a:endParaRPr lang="en-US" sz="2400" dirty="0"/>
          </a:p>
          <a:p>
            <a:r>
              <a:rPr lang="en-US" sz="2400" dirty="0"/>
              <a:t>These are not always useful for decision making</a:t>
            </a:r>
          </a:p>
          <a:p>
            <a:endParaRPr lang="en-US" sz="2400" dirty="0"/>
          </a:p>
          <a:p>
            <a:r>
              <a:rPr lang="en-US" sz="2400" dirty="0"/>
              <a:t>Metrics useful in decision making must be</a:t>
            </a:r>
          </a:p>
          <a:p>
            <a:pPr lvl="1"/>
            <a:r>
              <a:rPr lang="en-US" sz="2400" dirty="0"/>
              <a:t>Measurable in a scalable way</a:t>
            </a:r>
          </a:p>
          <a:p>
            <a:pPr lvl="1"/>
            <a:r>
              <a:rPr lang="en-US" sz="2400" dirty="0"/>
              <a:t>Sensitive &amp; timely</a:t>
            </a:r>
          </a:p>
          <a:p>
            <a:pPr lvl="2"/>
            <a:r>
              <a:rPr lang="en-US" sz="2400" dirty="0"/>
              <a:t>Stock price is insensitive to most decisions</a:t>
            </a:r>
          </a:p>
          <a:p>
            <a:pPr lvl="2"/>
            <a:r>
              <a:rPr lang="en-US" sz="2400" dirty="0"/>
              <a:t>Feature availability is sensitive</a:t>
            </a:r>
          </a:p>
          <a:p>
            <a:pPr lvl="1"/>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1070846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Metrics Useful for Decisions - Examples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a:bodyPr>
          <a:lstStyle/>
          <a:p>
            <a:r>
              <a:rPr lang="en-US" sz="2400" dirty="0"/>
              <a:t>User experience: Hard to measure user happiness</a:t>
            </a:r>
          </a:p>
          <a:p>
            <a:pPr lvl="1"/>
            <a:r>
              <a:rPr lang="en-US" sz="2400" dirty="0"/>
              <a:t>Proxy with behavioral data</a:t>
            </a:r>
          </a:p>
          <a:p>
            <a:endParaRPr lang="en-US" sz="2400" dirty="0"/>
          </a:p>
          <a:p>
            <a:r>
              <a:rPr lang="en-US" sz="2400" dirty="0"/>
              <a:t>Ad-revenue: Common for outliers with high CPC to affect revenue</a:t>
            </a:r>
          </a:p>
          <a:p>
            <a:pPr lvl="1"/>
            <a:r>
              <a:rPr lang="en-US" sz="2400" dirty="0"/>
              <a:t>CTR or truncated revenue could be more sensitive</a:t>
            </a:r>
          </a:p>
          <a:p>
            <a:endParaRPr lang="en-US" sz="2400" dirty="0"/>
          </a:p>
          <a:p>
            <a:r>
              <a:rPr lang="en-US" sz="2400" dirty="0"/>
              <a:t>Subscription: Metric moves with the renewal cycle</a:t>
            </a:r>
          </a:p>
          <a:p>
            <a:pPr lvl="1"/>
            <a:r>
              <a:rPr lang="en-US" sz="2400" dirty="0"/>
              <a:t>Perhaps shorter-term surrogates are more sensitive</a:t>
            </a:r>
          </a:p>
          <a:p>
            <a:pPr lvl="1"/>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1855157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Combining Key Metrics into an OEC</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fontScale="92500"/>
          </a:bodyPr>
          <a:lstStyle/>
          <a:p>
            <a:r>
              <a:rPr lang="en-US" sz="2400" dirty="0"/>
              <a:t>Organization has many metrics they care about</a:t>
            </a:r>
          </a:p>
          <a:p>
            <a:pPr lvl="1"/>
            <a:r>
              <a:rPr lang="en-US" sz="2400" dirty="0"/>
              <a:t>There is often a mental model of tradeoffs among these metrics</a:t>
            </a:r>
          </a:p>
          <a:p>
            <a:pPr lvl="1"/>
            <a:r>
              <a:rPr lang="en-US" sz="2400" dirty="0"/>
              <a:t>What drop in active users is acceptable for an increase rev per user?</a:t>
            </a:r>
          </a:p>
          <a:p>
            <a:endParaRPr lang="en-US" sz="2400" dirty="0"/>
          </a:p>
          <a:p>
            <a:r>
              <a:rPr lang="en-US" sz="2400" dirty="0"/>
              <a:t>Combining these metrics into an OEC (Overall Evaluation Criteria) allows you to codify tradeoffs and quantitatively define the objective</a:t>
            </a:r>
          </a:p>
          <a:p>
            <a:pPr lvl="1"/>
            <a:r>
              <a:rPr lang="en-US" sz="2400" dirty="0"/>
              <a:t>Often (but not necessarily) a weighted average of metrics</a:t>
            </a:r>
          </a:p>
          <a:p>
            <a:endParaRPr lang="en-US" sz="2400" dirty="0"/>
          </a:p>
          <a:p>
            <a:r>
              <a:rPr lang="en-US" sz="2400" dirty="0"/>
              <a:t>Aligns people in the org about tradeoff and what constitutes success</a:t>
            </a:r>
          </a:p>
          <a:p>
            <a:pPr lvl="1"/>
            <a:r>
              <a:rPr lang="en-US" sz="2400" dirty="0"/>
              <a:t>Results in more consistent decisions</a:t>
            </a:r>
          </a:p>
          <a:p>
            <a:pPr lvl="1"/>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257972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Deciding on the OEC</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a:bodyPr>
          <a:lstStyle/>
          <a:p>
            <a:r>
              <a:rPr lang="en-US" sz="2400" dirty="0"/>
              <a:t>This is very context dependent</a:t>
            </a:r>
          </a:p>
          <a:p>
            <a:pPr lvl="1"/>
            <a:r>
              <a:rPr lang="en-US" sz="2400" dirty="0"/>
              <a:t>Should proxy the highest goal metrics</a:t>
            </a:r>
          </a:p>
          <a:p>
            <a:endParaRPr lang="en-US" sz="2400" dirty="0"/>
          </a:p>
          <a:p>
            <a:r>
              <a:rPr lang="en-US" sz="2400" dirty="0"/>
              <a:t>This can (should) change over time</a:t>
            </a:r>
          </a:p>
          <a:p>
            <a:pPr lvl="1"/>
            <a:r>
              <a:rPr lang="en-US" sz="2400" dirty="0"/>
              <a:t>If the decision that maximizes the expected OEC seems wrong, revisit the OEC. What is missing?</a:t>
            </a:r>
          </a:p>
          <a:p>
            <a:pPr marL="228600" lvl="1"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1709122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OEC Case Study – Amazon Emails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a:bodyPr>
          <a:lstStyle/>
          <a:p>
            <a:r>
              <a:rPr lang="en-US" sz="2400" dirty="0"/>
              <a:t>Amazon evaluating a program to send emails to customers recommending new books</a:t>
            </a:r>
          </a:p>
          <a:p>
            <a:pPr lvl="1"/>
            <a:r>
              <a:rPr lang="en-US" sz="2400" dirty="0"/>
              <a:t>Initial OEC was short-term revenue</a:t>
            </a:r>
          </a:p>
          <a:p>
            <a:pPr lvl="1"/>
            <a:endParaRPr lang="en-US" sz="2400" dirty="0"/>
          </a:p>
          <a:p>
            <a:r>
              <a:rPr lang="en-US" sz="2400" dirty="0"/>
              <a:t>More emails =&gt; Weakly more short-term revenue</a:t>
            </a:r>
          </a:p>
          <a:p>
            <a:endParaRPr lang="en-US" sz="2400" dirty="0"/>
          </a:p>
          <a:p>
            <a:r>
              <a:rPr lang="en-US" sz="2400" dirty="0"/>
              <a:t>Complaints started to come in about spam emails</a:t>
            </a:r>
          </a:p>
          <a:p>
            <a:pPr lvl="1"/>
            <a:r>
              <a:rPr lang="en-US" sz="2400" dirty="0"/>
              <a:t>Annoyed users unsubscribe, lose potential for future emails</a:t>
            </a:r>
          </a:p>
          <a:p>
            <a:endParaRPr lang="en-US" sz="2400" dirty="0"/>
          </a:p>
          <a:p>
            <a:pPr marL="0" indent="0">
              <a:buNone/>
            </a:pPr>
            <a:endParaRPr lang="en-US" sz="2400" dirty="0"/>
          </a:p>
          <a:p>
            <a:pPr marL="228600" lvl="1"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206242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OEC Case Study – Amazon Emails, Continued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a:bodyPr>
              <a:lstStyle/>
              <a:p>
                <a:r>
                  <a:rPr lang="en-US" sz="2400" dirty="0"/>
                  <a:t>Refine the OEC:</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𝑂𝐸𝐶</m:t>
                      </m:r>
                      <m:r>
                        <a:rPr lang="en-US" sz="2400" b="0" i="1" smtClean="0">
                          <a:latin typeface="Cambria Math" panose="02040503050406030204" pitchFamily="18" charset="0"/>
                        </a:rPr>
                        <m:t>=</m:t>
                      </m:r>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𝑅𝑒𝑣𝑒𝑛𝑢𝑒</m:t>
                          </m:r>
                        </m:e>
                      </m:d>
                      <m:r>
                        <a:rPr lang="en-US" sz="2400" b="0" i="1" smtClean="0">
                          <a:latin typeface="Cambria Math" panose="02040503050406030204" pitchFamily="18" charset="0"/>
                        </a:rPr>
                        <m:t>−</m:t>
                      </m:r>
                      <m:r>
                        <a:rPr lang="en-US" sz="2400" b="0" i="1" smtClean="0">
                          <a:latin typeface="Cambria Math" panose="02040503050406030204" pitchFamily="18" charset="0"/>
                        </a:rPr>
                        <m:t>𝐿</m:t>
                      </m:r>
                      <m:r>
                        <a:rPr lang="en-US" sz="2400" b="0" i="1" smtClean="0">
                          <a:latin typeface="Cambria Math" panose="02040503050406030204" pitchFamily="18" charset="0"/>
                        </a:rPr>
                        <m:t>×</m:t>
                      </m:r>
                      <m:r>
                        <a:rPr lang="en-US" sz="2400" b="0" i="1" smtClean="0">
                          <a:latin typeface="Cambria Math" panose="02040503050406030204" pitchFamily="18" charset="0"/>
                        </a:rPr>
                        <m:t>𝑃𝑟</m:t>
                      </m:r>
                      <m:r>
                        <a:rPr lang="en-US" sz="2400" b="0" i="1" smtClean="0">
                          <a:latin typeface="Cambria Math" panose="02040503050406030204" pitchFamily="18" charset="0"/>
                        </a:rPr>
                        <m:t>(</m:t>
                      </m:r>
                      <m:r>
                        <a:rPr lang="en-US" sz="2400" b="0" i="1" smtClean="0">
                          <a:latin typeface="Cambria Math" panose="02040503050406030204" pitchFamily="18" charset="0"/>
                        </a:rPr>
                        <m:t>𝑈𝑛𝑠𝑢𝑏</m:t>
                      </m:r>
                      <m:r>
                        <a:rPr lang="en-US" sz="2400" b="0" i="1" smtClean="0">
                          <a:latin typeface="Cambria Math" panose="02040503050406030204" pitchFamily="18" charset="0"/>
                        </a:rPr>
                        <m:t>)</m:t>
                      </m:r>
                    </m:oMath>
                  </m:oMathPara>
                </a14:m>
                <a:endParaRPr lang="en-US" sz="2400" dirty="0"/>
              </a:p>
              <a:p>
                <a:r>
                  <a:rPr lang="en-US" sz="2400" dirty="0"/>
                  <a:t>Revenue: Revenue per user</a:t>
                </a:r>
              </a:p>
              <a:p>
                <a:r>
                  <a:rPr lang="en-US" sz="2400" dirty="0"/>
                  <a:t>Unsub: Whether a user unsubscribes</a:t>
                </a:r>
              </a:p>
              <a:p>
                <a:r>
                  <a:rPr lang="en-US" sz="2400" dirty="0"/>
                  <a:t>L: Dollar value of lost revenue due to unsubscribe</a:t>
                </a:r>
              </a:p>
              <a:p>
                <a:pPr marL="0" indent="0">
                  <a:buNone/>
                </a:pPr>
                <a:endParaRPr lang="en-US" sz="2400" dirty="0"/>
              </a:p>
              <a:p>
                <a:r>
                  <a:rPr lang="en-US" sz="2400" dirty="0"/>
                  <a:t>When implemented with even a small </a:t>
                </a:r>
                <a14:m>
                  <m:oMath xmlns:m="http://schemas.openxmlformats.org/officeDocument/2006/math">
                    <m:r>
                      <a:rPr lang="en-US" sz="2400" b="0" i="1" smtClean="0">
                        <a:latin typeface="Cambria Math" panose="02040503050406030204" pitchFamily="18" charset="0"/>
                      </a:rPr>
                      <m:t>𝐿</m:t>
                    </m:r>
                  </m:oMath>
                </a14:m>
                <a:r>
                  <a:rPr lang="en-US" sz="2400" dirty="0"/>
                  <a:t>, more than half of email campaigns were determined to be harmful</a:t>
                </a:r>
              </a:p>
              <a:p>
                <a:endParaRPr lang="en-US" sz="2400" dirty="0"/>
              </a:p>
              <a:p>
                <a:pPr marL="0" indent="0">
                  <a:buNone/>
                </a:pPr>
                <a:r>
                  <a:rPr lang="en-US" sz="1400" dirty="0"/>
                  <a:t>Source: </a:t>
                </a:r>
                <a:r>
                  <a:rPr lang="en-US" sz="1400" dirty="0" err="1"/>
                  <a:t>Kohavi</a:t>
                </a:r>
                <a:r>
                  <a:rPr lang="en-US" sz="1400" dirty="0"/>
                  <a:t>, Tang, and Xu (2020)</a:t>
                </a:r>
              </a:p>
            </p:txBody>
          </p:sp>
        </mc:Choice>
        <mc:Fallback xmlns="">
          <p:sp>
            <p:nvSpPr>
              <p:cNvPr id="4" name="Text Placeholder 3">
                <a:extLst>
                  <a:ext uri="{FF2B5EF4-FFF2-40B4-BE49-F238E27FC236}">
                    <a16:creationId xmlns:a16="http://schemas.microsoft.com/office/drawing/2014/main" id="{B84FECDD-72B1-9A43-B7FF-10EB079D6814}"/>
                  </a:ext>
                </a:extLst>
              </p:cNvPr>
              <p:cNvSpPr>
                <a:spLocks noGrp="1" noRot="1" noChangeAspect="1" noMove="1" noResize="1" noEditPoints="1" noAdjustHandles="1" noChangeArrowheads="1" noChangeShapeType="1" noTextEdit="1"/>
              </p:cNvSpPr>
              <p:nvPr>
                <p:ph type="body" sz="quarter" idx="14"/>
              </p:nvPr>
            </p:nvSpPr>
            <p:spPr>
              <a:xfrm>
                <a:off x="1828800" y="1463041"/>
                <a:ext cx="8755380" cy="3865886"/>
              </a:xfrm>
              <a:blipFill>
                <a:blip r:embed="rId3"/>
                <a:stretch>
                  <a:fillRect l="-2029" t="-2623"/>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248399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OEC Case Study – Bing Search</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lnSpcReduction="10000"/>
          </a:bodyPr>
          <a:lstStyle/>
          <a:p>
            <a:r>
              <a:rPr lang="en-US" sz="2400" dirty="0"/>
              <a:t>Bing introduced a bug that led to bad organic search results</a:t>
            </a:r>
          </a:p>
          <a:p>
            <a:endParaRPr lang="en-US" sz="2400" dirty="0"/>
          </a:p>
          <a:p>
            <a:r>
              <a:rPr lang="en-US" sz="2400" dirty="0"/>
              <a:t>Two metrics shot up: queries per user and revenue per user</a:t>
            </a:r>
          </a:p>
          <a:p>
            <a:pPr lvl="1"/>
            <a:r>
              <a:rPr lang="en-US" sz="2400" dirty="0"/>
              <a:t>Why?</a:t>
            </a:r>
          </a:p>
          <a:p>
            <a:pPr lvl="1"/>
            <a:endParaRPr lang="en-US" sz="2400" dirty="0"/>
          </a:p>
          <a:p>
            <a:r>
              <a:rPr lang="en-US" sz="2400" dirty="0"/>
              <a:t>Bing had to revise their OEC to include driver metrics that better proxy their goal metrics</a:t>
            </a:r>
          </a:p>
          <a:p>
            <a:pPr lvl="1"/>
            <a:r>
              <a:rPr lang="en-US" sz="2400" dirty="0"/>
              <a:t>Sessions per user became more important, as satisfied users are likely to return</a:t>
            </a:r>
          </a:p>
          <a:p>
            <a:endParaRPr lang="en-US" sz="2400" dirty="0"/>
          </a:p>
          <a:p>
            <a:pPr marL="0" indent="0">
              <a:buNone/>
            </a:pPr>
            <a:r>
              <a:rPr lang="en-US" sz="1400" dirty="0"/>
              <a:t>Source: </a:t>
            </a:r>
            <a:r>
              <a:rPr lang="en-US" sz="1400" dirty="0" err="1"/>
              <a:t>Kohavi</a:t>
            </a:r>
            <a:r>
              <a:rPr lang="en-US" sz="1400" dirty="0"/>
              <a:t>, Tang, and Xu (2020)</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369082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7300940" cy="941796"/>
          </a:xfrm>
        </p:spPr>
        <p:txBody>
          <a:bodyPr/>
          <a:lstStyle/>
          <a:p>
            <a:r>
              <a:rPr lang="en-US" dirty="0"/>
              <a:t>Boston globe</a:t>
            </a:r>
            <a:br>
              <a:rPr lang="en-US" dirty="0"/>
            </a:br>
            <a:r>
              <a:rPr lang="en-US" sz="2000" dirty="0"/>
              <a:t>Yang, Eckles, Dhillon, and Aral (2023)</a:t>
            </a:r>
            <a:endParaRPr lang="en-US" dirty="0"/>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11/19/2025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3282803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Boston Globe </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a:bodyPr>
          <a:lstStyle/>
          <a:p>
            <a:r>
              <a:rPr lang="en-US" sz="2000" dirty="0"/>
              <a:t>Newspapers increasingly turning to subscriptions for primary revenue source</a:t>
            </a:r>
          </a:p>
          <a:p>
            <a:endParaRPr lang="en-US" sz="2000" dirty="0"/>
          </a:p>
          <a:p>
            <a:r>
              <a:rPr lang="en-US" sz="2000" dirty="0"/>
              <a:t>Goal metric of long-term customer value (retention of existing customers)</a:t>
            </a:r>
          </a:p>
          <a:p>
            <a:endParaRPr lang="en-US" sz="2000" dirty="0"/>
          </a:p>
          <a:p>
            <a:r>
              <a:rPr lang="en-US" sz="2000" dirty="0"/>
              <a:t>Deciding how to target marketing interventions</a:t>
            </a:r>
          </a:p>
          <a:p>
            <a:pPr lvl="1"/>
            <a:r>
              <a:rPr lang="en-US" sz="2000" dirty="0"/>
              <a:t>Price discounts in this setting</a:t>
            </a:r>
          </a:p>
          <a:p>
            <a:endParaRPr lang="en-US" sz="2000" dirty="0"/>
          </a:p>
          <a:p>
            <a:r>
              <a:rPr lang="en-US" sz="2000" dirty="0"/>
              <a:t>Key problem: Long-term customer value is realized in long-term!</a:t>
            </a:r>
          </a:p>
          <a:p>
            <a:pPr lvl="1"/>
            <a:endParaRPr lang="en-US" sz="2000" dirty="0"/>
          </a:p>
          <a:p>
            <a:r>
              <a:rPr lang="en-US" sz="2000" dirty="0"/>
              <a:t>Solution 1: Try a policy, wait, update actions once you observe the outcome</a:t>
            </a:r>
          </a:p>
          <a:p>
            <a:r>
              <a:rPr lang="en-US" sz="2000" dirty="0"/>
              <a:t>Solution 2: Proxy goal metric with short-term driver metric and iterate faster</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138583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Methodology</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a:bodyPr>
              <a:lstStyle/>
              <a:p>
                <a:r>
                  <a:rPr lang="en-US" sz="2000" dirty="0"/>
                  <a:t>Estimate the long-term outcome in historical dataset using data observed in short-run</a:t>
                </a:r>
              </a:p>
              <a:p>
                <a:pPr lvl="1"/>
                <a:r>
                  <a:rPr lang="en-US" sz="2000" dirty="0"/>
                  <a:t>Estimate a conditional expectation: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e>
                        <m:r>
                          <a:rPr lang="en-US" sz="2000" b="0" i="1" smtClean="0">
                            <a:latin typeface="Cambria Math" panose="02040503050406030204" pitchFamily="18" charset="0"/>
                          </a:rPr>
                          <m:t>𝑋</m:t>
                        </m:r>
                      </m:e>
                    </m:d>
                  </m:oMath>
                </a14:m>
                <a:r>
                  <a:rPr lang="en-US" sz="2000" dirty="0"/>
                  <a:t>. What is </a:t>
                </a:r>
                <a14:m>
                  <m:oMath xmlns:m="http://schemas.openxmlformats.org/officeDocument/2006/math">
                    <m:r>
                      <a:rPr lang="en-US" sz="2000" b="0" i="1" smtClean="0">
                        <a:latin typeface="Cambria Math" panose="02040503050406030204" pitchFamily="18" charset="0"/>
                      </a:rPr>
                      <m:t>𝑌</m:t>
                    </m:r>
                  </m:oMath>
                </a14:m>
                <a:r>
                  <a:rPr lang="en-US" sz="2000" dirty="0"/>
                  <a:t>? What is </a:t>
                </a:r>
                <a14:m>
                  <m:oMath xmlns:m="http://schemas.openxmlformats.org/officeDocument/2006/math">
                    <m:r>
                      <a:rPr lang="en-US" sz="2000" b="0" i="1" smtClean="0">
                        <a:latin typeface="Cambria Math" panose="02040503050406030204" pitchFamily="18" charset="0"/>
                      </a:rPr>
                      <m:t>𝑋</m:t>
                    </m:r>
                  </m:oMath>
                </a14:m>
                <a:r>
                  <a:rPr lang="en-US" sz="2000" dirty="0"/>
                  <a:t>?</a:t>
                </a:r>
              </a:p>
              <a:p>
                <a:pPr lvl="1"/>
                <a:r>
                  <a:rPr lang="en-US" sz="2000" dirty="0"/>
                  <a:t>Key assumption: This represents a causal relationship (moving X actually affects Y)</a:t>
                </a:r>
              </a:p>
              <a:p>
                <a:pPr lvl="1"/>
                <a:r>
                  <a:rPr lang="en-US" sz="2000" dirty="0"/>
                  <a:t>Important features:</a:t>
                </a:r>
              </a:p>
              <a:p>
                <a:pPr lvl="2"/>
                <a:r>
                  <a:rPr lang="en-US" sz="2000" dirty="0"/>
                  <a:t>Recent engagement, CC expiration</a:t>
                </a:r>
              </a:p>
              <a:p>
                <a:endParaRPr lang="en-US" sz="2000" dirty="0"/>
              </a:p>
              <a:p>
                <a:endParaRPr lang="en-US" sz="2000" dirty="0"/>
              </a:p>
            </p:txBody>
          </p:sp>
        </mc:Choice>
        <mc:Fallback xmlns="">
          <p:sp>
            <p:nvSpPr>
              <p:cNvPr id="4" name="Text Placeholder 3">
                <a:extLst>
                  <a:ext uri="{FF2B5EF4-FFF2-40B4-BE49-F238E27FC236}">
                    <a16:creationId xmlns:a16="http://schemas.microsoft.com/office/drawing/2014/main" id="{B84FECDD-72B1-9A43-B7FF-10EB079D6814}"/>
                  </a:ext>
                </a:extLst>
              </p:cNvPr>
              <p:cNvSpPr>
                <a:spLocks noGrp="1" noRot="1" noChangeAspect="1" noMove="1" noResize="1" noEditPoints="1" noAdjustHandles="1" noChangeArrowheads="1" noChangeShapeType="1" noTextEdit="1"/>
              </p:cNvSpPr>
              <p:nvPr>
                <p:ph type="body" sz="quarter" idx="14"/>
              </p:nvPr>
            </p:nvSpPr>
            <p:spPr>
              <a:xfrm>
                <a:off x="1828800" y="1463041"/>
                <a:ext cx="8755380" cy="3865886"/>
              </a:xfrm>
              <a:blipFill>
                <a:blip r:embed="rId3"/>
                <a:stretch>
                  <a:fillRect l="-1739" t="-2295"/>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Tree>
    <p:extLst>
      <p:ext uri="{BB962C8B-B14F-4D97-AF65-F5344CB8AC3E}">
        <p14:creationId xmlns:p14="http://schemas.microsoft.com/office/powerpoint/2010/main" val="422854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Methodology, Continued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5303520" cy="3865886"/>
              </a:xfrm>
            </p:spPr>
            <p:txBody>
              <a:bodyPr>
                <a:normAutofit/>
              </a:bodyPr>
              <a:lstStyle/>
              <a:p>
                <a:r>
                  <a:rPr lang="en-US" sz="2000" dirty="0"/>
                  <a:t>Choose discount for each consumer to maximize predicted retention: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e>
                        <m:r>
                          <a:rPr lang="en-US" sz="2000" b="0" i="1" smtClean="0">
                            <a:latin typeface="Cambria Math" panose="02040503050406030204" pitchFamily="18" charset="0"/>
                          </a:rPr>
                          <m:t>𝑋</m:t>
                        </m:r>
                      </m:e>
                    </m:d>
                  </m:oMath>
                </a14:m>
                <a:endParaRPr lang="en-US" sz="2000" b="0" dirty="0"/>
              </a:p>
              <a:p>
                <a:pPr lvl="1"/>
                <a:r>
                  <a:rPr lang="en-US" sz="2000" dirty="0"/>
                  <a:t>I.e. the discount that maximizes expected long-term revenue</a:t>
                </a:r>
              </a:p>
            </p:txBody>
          </p:sp>
        </mc:Choice>
        <mc:Fallback xmlns="">
          <p:sp>
            <p:nvSpPr>
              <p:cNvPr id="4" name="Text Placeholder 3">
                <a:extLst>
                  <a:ext uri="{FF2B5EF4-FFF2-40B4-BE49-F238E27FC236}">
                    <a16:creationId xmlns:a16="http://schemas.microsoft.com/office/drawing/2014/main" id="{B84FECDD-72B1-9A43-B7FF-10EB079D6814}"/>
                  </a:ext>
                </a:extLst>
              </p:cNvPr>
              <p:cNvSpPr>
                <a:spLocks noGrp="1" noRot="1" noChangeAspect="1" noMove="1" noResize="1" noEditPoints="1" noAdjustHandles="1" noChangeArrowheads="1" noChangeShapeType="1" noTextEdit="1"/>
              </p:cNvSpPr>
              <p:nvPr>
                <p:ph type="body" sz="quarter" idx="14"/>
              </p:nvPr>
            </p:nvSpPr>
            <p:spPr>
              <a:xfrm>
                <a:off x="1828800" y="1463041"/>
                <a:ext cx="5303520" cy="3865886"/>
              </a:xfrm>
              <a:blipFill>
                <a:blip r:embed="rId3"/>
                <a:stretch>
                  <a:fillRect l="-2871" t="-2295"/>
                </a:stretch>
              </a:blipFill>
            </p:spPr>
            <p:txBody>
              <a:bodyPr/>
              <a:lstStyle/>
              <a:p>
                <a:r>
                  <a:rPr lang="en-US">
                    <a:noFill/>
                  </a:rPr>
                  <a:t> </a:t>
                </a:r>
              </a:p>
            </p:txBody>
          </p:sp>
        </mc:Fallback>
      </mc:AlternateContent>
      <p:pic>
        <p:nvPicPr>
          <p:cNvPr id="3" name="Picture 2" descr="A Boston Globe email with a large ‘Thank you’ banner at the top. Below, the message thanks a subscriber and offers a temporary reduced subscription rate for eight weeks.">
            <a:extLst>
              <a:ext uri="{FF2B5EF4-FFF2-40B4-BE49-F238E27FC236}">
                <a16:creationId xmlns:a16="http://schemas.microsoft.com/office/drawing/2014/main" id="{23A7E3D3-356E-223D-E63D-74F438BB2039}"/>
              </a:ext>
            </a:extLst>
          </p:cNvPr>
          <p:cNvPicPr>
            <a:picLocks noChangeAspect="1"/>
          </p:cNvPicPr>
          <p:nvPr/>
        </p:nvPicPr>
        <p:blipFill>
          <a:blip r:embed="rId4"/>
          <a:stretch>
            <a:fillRect/>
          </a:stretch>
        </p:blipFill>
        <p:spPr>
          <a:xfrm>
            <a:off x="7062057" y="1463041"/>
            <a:ext cx="3838645" cy="4084319"/>
          </a:xfrm>
          <a:prstGeom prst="rect">
            <a:avLst/>
          </a:prstGeom>
        </p:spPr>
      </p:pic>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Tree>
    <p:extLst>
      <p:ext uri="{BB962C8B-B14F-4D97-AF65-F5344CB8AC3E}">
        <p14:creationId xmlns:p14="http://schemas.microsoft.com/office/powerpoint/2010/main" val="1954752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Results</a:t>
            </a:r>
          </a:p>
        </p:txBody>
      </p:sp>
      <p:sp>
        <p:nvSpPr>
          <p:cNvPr id="12" name="TextBox 11">
            <a:extLst>
              <a:ext uri="{FF2B5EF4-FFF2-40B4-BE49-F238E27FC236}">
                <a16:creationId xmlns:a16="http://schemas.microsoft.com/office/drawing/2014/main" id="{8B6FD4DF-1909-ED7E-A167-ECD736805077}"/>
              </a:ext>
            </a:extLst>
          </p:cNvPr>
          <p:cNvSpPr txBox="1"/>
          <p:nvPr/>
        </p:nvSpPr>
        <p:spPr>
          <a:xfrm>
            <a:off x="2107520" y="1344408"/>
            <a:ext cx="3708579" cy="369332"/>
          </a:xfrm>
          <a:prstGeom prst="rect">
            <a:avLst/>
          </a:prstGeom>
          <a:noFill/>
        </p:spPr>
        <p:txBody>
          <a:bodyPr wrap="none" rtlCol="0">
            <a:spAutoFit/>
          </a:bodyPr>
          <a:lstStyle/>
          <a:p>
            <a:r>
              <a:rPr lang="en-US" dirty="0"/>
              <a:t>Policy Targeting Short-Term Revenue</a:t>
            </a:r>
          </a:p>
        </p:txBody>
      </p:sp>
      <p:pic>
        <p:nvPicPr>
          <p:cNvPr id="11" name="Picture 10" descr="Line chart titled Policy Targeting Short-Term Revenue. It shows the monthly difference in policy value over six months, with values fluctuating slightly above and below zero. Error bars extend vertically from each data point, indicating uncertainty.">
            <a:extLst>
              <a:ext uri="{FF2B5EF4-FFF2-40B4-BE49-F238E27FC236}">
                <a16:creationId xmlns:a16="http://schemas.microsoft.com/office/drawing/2014/main" id="{987818A1-2578-51FB-BC94-9C0B848FB216}"/>
              </a:ext>
            </a:extLst>
          </p:cNvPr>
          <p:cNvPicPr>
            <a:picLocks noChangeAspect="1"/>
          </p:cNvPicPr>
          <p:nvPr/>
        </p:nvPicPr>
        <p:blipFill>
          <a:blip r:embed="rId3"/>
          <a:stretch>
            <a:fillRect/>
          </a:stretch>
        </p:blipFill>
        <p:spPr>
          <a:xfrm>
            <a:off x="1851661" y="1768456"/>
            <a:ext cx="3812539" cy="3560470"/>
          </a:xfrm>
          <a:prstGeom prst="rect">
            <a:avLst/>
          </a:prstGeom>
        </p:spPr>
      </p:pic>
      <p:sp>
        <p:nvSpPr>
          <p:cNvPr id="13" name="TextBox 12">
            <a:extLst>
              <a:ext uri="{FF2B5EF4-FFF2-40B4-BE49-F238E27FC236}">
                <a16:creationId xmlns:a16="http://schemas.microsoft.com/office/drawing/2014/main" id="{3439A229-5DDA-3229-D6B2-7EF7CB43D388}"/>
              </a:ext>
            </a:extLst>
          </p:cNvPr>
          <p:cNvSpPr txBox="1"/>
          <p:nvPr/>
        </p:nvSpPr>
        <p:spPr>
          <a:xfrm>
            <a:off x="6349056" y="1324656"/>
            <a:ext cx="4596195" cy="369332"/>
          </a:xfrm>
          <a:prstGeom prst="rect">
            <a:avLst/>
          </a:prstGeom>
          <a:noFill/>
        </p:spPr>
        <p:txBody>
          <a:bodyPr wrap="none" rtlCol="0">
            <a:spAutoFit/>
          </a:bodyPr>
          <a:lstStyle/>
          <a:p>
            <a:r>
              <a:rPr lang="en-US" dirty="0"/>
              <a:t>Policy Targeting Expected Long-Term Revenue</a:t>
            </a:r>
          </a:p>
        </p:txBody>
      </p:sp>
      <p:pic>
        <p:nvPicPr>
          <p:cNvPr id="9" name="Picture 8" descr="Line chart titled Policy Targeting Expected Long-Term Revenue. It displays the monthly difference in policy value over six months, with all points well above zero and fluctuating around higher positive values. Error bars extend vertically from each point, reflecting variability.">
            <a:extLst>
              <a:ext uri="{FF2B5EF4-FFF2-40B4-BE49-F238E27FC236}">
                <a16:creationId xmlns:a16="http://schemas.microsoft.com/office/drawing/2014/main" id="{A51A5765-95DE-259D-06C1-47AD2BF0B972}"/>
              </a:ext>
            </a:extLst>
          </p:cNvPr>
          <p:cNvPicPr>
            <a:picLocks noChangeAspect="1"/>
          </p:cNvPicPr>
          <p:nvPr/>
        </p:nvPicPr>
        <p:blipFill>
          <a:blip r:embed="rId4"/>
          <a:stretch>
            <a:fillRect/>
          </a:stretch>
        </p:blipFill>
        <p:spPr>
          <a:xfrm>
            <a:off x="6545582" y="1768455"/>
            <a:ext cx="3812540" cy="3560471"/>
          </a:xfrm>
          <a:prstGeom prst="rect">
            <a:avLst/>
          </a:prstGeom>
        </p:spPr>
      </p:pic>
      <p:sp>
        <p:nvSpPr>
          <p:cNvPr id="8" name="Text Placeholder 7">
            <a:extLst>
              <a:ext uri="{FF2B5EF4-FFF2-40B4-BE49-F238E27FC236}">
                <a16:creationId xmlns:a16="http://schemas.microsoft.com/office/drawing/2014/main" id="{76F6DBE7-0A82-4CEC-4724-3160CA864056}"/>
              </a:ext>
            </a:extLst>
          </p:cNvPr>
          <p:cNvSpPr>
            <a:spLocks noGrp="1"/>
          </p:cNvSpPr>
          <p:nvPr>
            <p:ph type="body" sz="quarter" idx="14"/>
          </p:nvPr>
        </p:nvSpPr>
        <p:spPr>
          <a:xfrm>
            <a:off x="2319021" y="5301722"/>
            <a:ext cx="9093589" cy="838206"/>
          </a:xfrm>
        </p:spPr>
        <p:txBody>
          <a:bodyPr>
            <a:normAutofit/>
          </a:bodyPr>
          <a:lstStyle/>
          <a:p>
            <a:pPr marL="0" indent="0">
              <a:buNone/>
            </a:pPr>
            <a:r>
              <a:rPr lang="en-US" sz="2400" dirty="0"/>
              <a:t>Optimizing for LT proxies increased revenue by ~$5 million</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Tree>
    <p:extLst>
      <p:ext uri="{BB962C8B-B14F-4D97-AF65-F5344CB8AC3E}">
        <p14:creationId xmlns:p14="http://schemas.microsoft.com/office/powerpoint/2010/main" val="2316430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Recap</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fontScale="92500" lnSpcReduction="10000"/>
          </a:bodyPr>
          <a:lstStyle/>
          <a:p>
            <a:r>
              <a:rPr lang="en-US" sz="2400" dirty="0"/>
              <a:t>Targeting the right metrics are important</a:t>
            </a:r>
          </a:p>
          <a:p>
            <a:pPr lvl="1"/>
            <a:r>
              <a:rPr lang="en-US" sz="2400" dirty="0"/>
              <a:t>Can have real impact on bottom line</a:t>
            </a:r>
          </a:p>
          <a:p>
            <a:endParaRPr lang="en-US" sz="2400" dirty="0"/>
          </a:p>
          <a:p>
            <a:r>
              <a:rPr lang="en-US" sz="2400" dirty="0"/>
              <a:t>Pick driver metrics carefully</a:t>
            </a:r>
          </a:p>
          <a:p>
            <a:pPr lvl="1"/>
            <a:r>
              <a:rPr lang="en-US" sz="2400" dirty="0"/>
              <a:t>They should be on the causal path to ultimate goal metrics</a:t>
            </a:r>
          </a:p>
          <a:p>
            <a:pPr lvl="1"/>
            <a:r>
              <a:rPr lang="en-US" sz="2400" dirty="0"/>
              <a:t>Use data to find right driver metrics &amp; combine into an OEC</a:t>
            </a:r>
          </a:p>
          <a:p>
            <a:pPr lvl="1"/>
            <a:r>
              <a:rPr lang="en-US" sz="2400" dirty="0"/>
              <a:t>Question: What is the OEC in this case?</a:t>
            </a:r>
          </a:p>
          <a:p>
            <a:pPr lvl="1"/>
            <a:endParaRPr lang="en-US" sz="2400" dirty="0"/>
          </a:p>
          <a:p>
            <a:r>
              <a:rPr lang="en-US" sz="2400" dirty="0"/>
              <a:t>We can then use driver metrics / OEC to guide decisions more effectively</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Tree>
    <p:extLst>
      <p:ext uri="{BB962C8B-B14F-4D97-AF65-F5344CB8AC3E}">
        <p14:creationId xmlns:p14="http://schemas.microsoft.com/office/powerpoint/2010/main" val="3541026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7300940" cy="1329595"/>
          </a:xfrm>
        </p:spPr>
        <p:txBody>
          <a:bodyPr/>
          <a:lstStyle/>
          <a:p>
            <a:r>
              <a:rPr lang="en-US" dirty="0"/>
              <a:t>Engagement as a metric</a:t>
            </a:r>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11/19/2025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823033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Why Engagement as a Metric</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dirty="0"/>
              <a:t>Engagement often defined as clicks, likes, time spent, comments …</a:t>
            </a:r>
          </a:p>
          <a:p>
            <a:endParaRPr lang="en-US" sz="2400" dirty="0"/>
          </a:p>
          <a:p>
            <a:r>
              <a:rPr lang="en-US" sz="2400" dirty="0"/>
              <a:t>Many digital products measure success through engagement</a:t>
            </a:r>
          </a:p>
          <a:p>
            <a:pPr lvl="1"/>
            <a:r>
              <a:rPr lang="en-US" sz="2400" dirty="0"/>
              <a:t>In part due to the dominance of advertising revenue model</a:t>
            </a:r>
          </a:p>
          <a:p>
            <a:pPr marL="0" indent="0">
              <a:buNone/>
            </a:pPr>
            <a:endParaRPr lang="en-US" sz="2400" dirty="0"/>
          </a:p>
          <a:p>
            <a:r>
              <a:rPr lang="en-US" sz="2400" dirty="0"/>
              <a:t>Engagement signals are easy to collect and highly sensitive</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448517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Why Engagement as a Metric, Continued</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r>
              <a:rPr lang="en-US" sz="2400" dirty="0"/>
              <a:t>Engagement is related to customer value</a:t>
            </a:r>
          </a:p>
          <a:p>
            <a:pPr lvl="1"/>
            <a:r>
              <a:rPr lang="en-US" sz="2400" dirty="0"/>
              <a:t>Customers engage with things they like to engage with!</a:t>
            </a:r>
          </a:p>
          <a:p>
            <a:endParaRPr lang="en-US" sz="2400" dirty="0"/>
          </a:p>
          <a:p>
            <a:r>
              <a:rPr lang="en-US" sz="2400" dirty="0"/>
              <a:t>However, focus only on engagement can cause issues</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37</a:t>
            </a:fld>
            <a:endParaRPr lang="en-US" dirty="0"/>
          </a:p>
        </p:txBody>
      </p:sp>
    </p:spTree>
    <p:extLst>
      <p:ext uri="{BB962C8B-B14F-4D97-AF65-F5344CB8AC3E}">
        <p14:creationId xmlns:p14="http://schemas.microsoft.com/office/powerpoint/2010/main" val="413164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Concerns with Optimizing for Engagement</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fontScale="85000" lnSpcReduction="20000"/>
          </a:bodyPr>
          <a:lstStyle/>
          <a:p>
            <a:r>
              <a:rPr lang="en-US" sz="2400" dirty="0"/>
              <a:t>Could the user get the same value faster?</a:t>
            </a:r>
          </a:p>
          <a:p>
            <a:pPr lvl="1"/>
            <a:r>
              <a:rPr lang="en-US" sz="2400" dirty="0"/>
              <a:t>Does adding interstitial pages increase time? User value?</a:t>
            </a:r>
          </a:p>
          <a:p>
            <a:endParaRPr lang="en-US" sz="2400" dirty="0"/>
          </a:p>
          <a:p>
            <a:r>
              <a:rPr lang="en-US" sz="2400" dirty="0"/>
              <a:t>Does this incentivize temptation goods?</a:t>
            </a:r>
          </a:p>
          <a:p>
            <a:pPr lvl="1"/>
            <a:r>
              <a:rPr lang="en-US" sz="2400" dirty="0"/>
              <a:t>I eat more Cheetos than I’d like, I watch more YouTube than I like</a:t>
            </a:r>
          </a:p>
          <a:p>
            <a:endParaRPr lang="en-US" sz="2400" dirty="0"/>
          </a:p>
          <a:p>
            <a:r>
              <a:rPr lang="en-US" sz="2400" dirty="0"/>
              <a:t>Many human biases exist where our actions differ from our “true” preferences</a:t>
            </a:r>
          </a:p>
          <a:p>
            <a:pPr lvl="1"/>
            <a:r>
              <a:rPr lang="en-US" sz="2400" dirty="0"/>
              <a:t>How deliberative are you when you are scrolling through social media?</a:t>
            </a:r>
          </a:p>
          <a:p>
            <a:pPr lvl="1"/>
            <a:r>
              <a:rPr lang="en-US" sz="2400" dirty="0"/>
              <a:t>Unconscious bias when we don’t deliberate</a:t>
            </a:r>
          </a:p>
          <a:p>
            <a:pPr lvl="1"/>
            <a:endParaRPr lang="en-US" sz="2400" dirty="0"/>
          </a:p>
          <a:p>
            <a:r>
              <a:rPr lang="en-US" sz="2400" dirty="0"/>
              <a:t>Have you ever tried to “train” your social media algorithm?</a:t>
            </a:r>
          </a:p>
          <a:p>
            <a:pPr lvl="1"/>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38</a:t>
            </a:fld>
            <a:endParaRPr lang="en-US" dirty="0"/>
          </a:p>
        </p:txBody>
      </p:sp>
    </p:spTree>
    <p:extLst>
      <p:ext uri="{BB962C8B-B14F-4D97-AF65-F5344CB8AC3E}">
        <p14:creationId xmlns:p14="http://schemas.microsoft.com/office/powerpoint/2010/main" val="65140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Concerns with Optimizing for Engagement, Continued</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718310" y="1723231"/>
            <a:ext cx="8755380" cy="3411537"/>
          </a:xfrm>
        </p:spPr>
        <p:txBody>
          <a:bodyPr>
            <a:normAutofit/>
          </a:bodyPr>
          <a:lstStyle/>
          <a:p>
            <a:pPr marL="228600" lvl="1" indent="0">
              <a:buNone/>
            </a:pPr>
            <a:r>
              <a:rPr lang="en-US" sz="2400" dirty="0"/>
              <a:t>“One of the biggest issues social networks face is that, when left unchecked, people will engage disproportionately with more sensationalist and provocative content.</a:t>
            </a:r>
            <a:br>
              <a:rPr lang="en-US" sz="2400" dirty="0"/>
            </a:br>
            <a:r>
              <a:rPr lang="en-US" sz="2400" dirty="0"/>
              <a:t>...</a:t>
            </a:r>
            <a:br>
              <a:rPr lang="en-US" sz="2400" dirty="0"/>
            </a:br>
            <a:r>
              <a:rPr lang="en-US" sz="2400" dirty="0"/>
              <a:t>People consistently tell us these types of content make our services worse -- even though they engage with them.” </a:t>
            </a:r>
          </a:p>
          <a:p>
            <a:pPr marL="228600" lvl="1" indent="0">
              <a:buNone/>
            </a:pPr>
            <a:r>
              <a:rPr lang="en-US" sz="2400" dirty="0"/>
              <a:t>					— Mark Zuckerberg, 2018 </a:t>
            </a:r>
          </a:p>
          <a:p>
            <a:pPr marL="228600" lvl="1" indent="0">
              <a:buNone/>
            </a:pPr>
            <a:endParaRPr lang="en-US" sz="2400" dirty="0"/>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39</a:t>
            </a:fld>
            <a:endParaRPr lang="en-US" dirty="0"/>
          </a:p>
        </p:txBody>
      </p:sp>
    </p:spTree>
    <p:extLst>
      <p:ext uri="{BB962C8B-B14F-4D97-AF65-F5344CB8AC3E}">
        <p14:creationId xmlns:p14="http://schemas.microsoft.com/office/powerpoint/2010/main" val="41193462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Additional Concerns – Externalities Among Users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402080" y="1917389"/>
            <a:ext cx="3382571" cy="3411537"/>
          </a:xfrm>
        </p:spPr>
        <p:txBody>
          <a:bodyPr>
            <a:normAutofit/>
          </a:bodyPr>
          <a:lstStyle/>
          <a:p>
            <a:r>
              <a:rPr lang="en-US" sz="1800" dirty="0"/>
              <a:t>Are there externalities among users?</a:t>
            </a:r>
          </a:p>
          <a:p>
            <a:endParaRPr lang="en-US" sz="1800" dirty="0"/>
          </a:p>
          <a:p>
            <a:r>
              <a:rPr lang="en-US" sz="1800" dirty="0"/>
              <a:t>Certain types of content may be highly engaging to some users, but drive others away</a:t>
            </a:r>
          </a:p>
          <a:p>
            <a:pPr lvl="1"/>
            <a:endParaRPr lang="en-US" sz="1800" dirty="0"/>
          </a:p>
        </p:txBody>
      </p:sp>
      <p:pic>
        <p:nvPicPr>
          <p:cNvPr id="8" name="Picture 7" descr="A line graph labeled ‘Natural Engagement Pattern’ showing engagement on the y-axis and content type from allowed to prohibited on the x-axis. Engagement stays flat for allowed content, then sharply increases as content approaches a vertical ‘policy line,’ after which content is prohibited.">
            <a:extLst>
              <a:ext uri="{FF2B5EF4-FFF2-40B4-BE49-F238E27FC236}">
                <a16:creationId xmlns:a16="http://schemas.microsoft.com/office/drawing/2014/main" id="{A22CC8AA-9ADF-1040-F3D3-3C3BF59FD645}"/>
              </a:ext>
            </a:extLst>
          </p:cNvPr>
          <p:cNvPicPr>
            <a:picLocks noChangeAspect="1"/>
          </p:cNvPicPr>
          <p:nvPr/>
        </p:nvPicPr>
        <p:blipFill>
          <a:blip r:embed="rId3"/>
          <a:stretch>
            <a:fillRect/>
          </a:stretch>
        </p:blipFill>
        <p:spPr>
          <a:xfrm>
            <a:off x="5008171" y="1917389"/>
            <a:ext cx="5695950" cy="2991114"/>
          </a:xfrm>
          <a:prstGeom prst="rect">
            <a:avLst/>
          </a:prstGeom>
        </p:spPr>
      </p:pic>
      <p:sp>
        <p:nvSpPr>
          <p:cNvPr id="9" name="TextBox 8">
            <a:extLst>
              <a:ext uri="{FF2B5EF4-FFF2-40B4-BE49-F238E27FC236}">
                <a16:creationId xmlns:a16="http://schemas.microsoft.com/office/drawing/2014/main" id="{439CEED2-5AC4-2716-183A-F995A8C15141}"/>
              </a:ext>
            </a:extLst>
          </p:cNvPr>
          <p:cNvSpPr txBox="1"/>
          <p:nvPr/>
        </p:nvSpPr>
        <p:spPr>
          <a:xfrm>
            <a:off x="5671149" y="5429484"/>
            <a:ext cx="2788264" cy="369332"/>
          </a:xfrm>
          <a:prstGeom prst="rect">
            <a:avLst/>
          </a:prstGeom>
          <a:noFill/>
        </p:spPr>
        <p:txBody>
          <a:bodyPr wrap="none" rtlCol="0">
            <a:spAutoFit/>
          </a:bodyPr>
          <a:lstStyle/>
          <a:p>
            <a:r>
              <a:rPr lang="en-US" dirty="0"/>
              <a:t>Source: Zuckerberg (2018)</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40</a:t>
            </a:fld>
            <a:endParaRPr lang="en-US" dirty="0"/>
          </a:p>
        </p:txBody>
      </p:sp>
    </p:spTree>
    <p:extLst>
      <p:ext uri="{BB962C8B-B14F-4D97-AF65-F5344CB8AC3E}">
        <p14:creationId xmlns:p14="http://schemas.microsoft.com/office/powerpoint/2010/main" val="1380181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Exacerbating Biases</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273330" y="1390832"/>
            <a:ext cx="3735397" cy="4232867"/>
          </a:xfrm>
        </p:spPr>
        <p:txBody>
          <a:bodyPr>
            <a:normAutofit fontScale="92500"/>
          </a:bodyPr>
          <a:lstStyle/>
          <a:p>
            <a:pPr lvl="1"/>
            <a:r>
              <a:rPr lang="en-US" sz="2400" dirty="0"/>
              <a:t>Study comparing FB people you may know algorithm (PYMK) and the news feed</a:t>
            </a:r>
          </a:p>
          <a:p>
            <a:pPr lvl="1"/>
            <a:r>
              <a:rPr lang="en-US" sz="2400" dirty="0"/>
              <a:t>PYMK engagement decisions take much longer than news feed decisions</a:t>
            </a:r>
          </a:p>
          <a:p>
            <a:pPr lvl="1"/>
            <a:r>
              <a:rPr lang="en-US" sz="2400" dirty="0"/>
              <a:t>Evidence of out-group bias on news feed (e.g. White people less likely to see posts from Black friends) but not on PYMK</a:t>
            </a:r>
          </a:p>
          <a:p>
            <a:pPr lvl="1"/>
            <a:endParaRPr lang="en-US" sz="2400" dirty="0"/>
          </a:p>
        </p:txBody>
      </p:sp>
      <p:pic>
        <p:nvPicPr>
          <p:cNvPr id="3" name="Picture 2" descr="A cumulative distribution plot comparing decision speed in seconds for two features: an orange line for NewsFeed and a blue dashed line for People You May Know (PYMK). The NewsFeed curve rises faster, indicating users make decisions more quickly compared with PYMK.">
            <a:extLst>
              <a:ext uri="{FF2B5EF4-FFF2-40B4-BE49-F238E27FC236}">
                <a16:creationId xmlns:a16="http://schemas.microsoft.com/office/drawing/2014/main" id="{64861D72-6D02-E112-8EE5-0FABEEEF779A}"/>
              </a:ext>
            </a:extLst>
          </p:cNvPr>
          <p:cNvPicPr>
            <a:picLocks noChangeAspect="1"/>
          </p:cNvPicPr>
          <p:nvPr/>
        </p:nvPicPr>
        <p:blipFill>
          <a:blip r:embed="rId3"/>
          <a:stretch>
            <a:fillRect/>
          </a:stretch>
        </p:blipFill>
        <p:spPr>
          <a:xfrm>
            <a:off x="6044578" y="1723231"/>
            <a:ext cx="3887824" cy="3411537"/>
          </a:xfrm>
          <a:prstGeom prst="rect">
            <a:avLst/>
          </a:prstGeom>
        </p:spPr>
      </p:pic>
      <p:sp>
        <p:nvSpPr>
          <p:cNvPr id="8" name="TextBox 7">
            <a:extLst>
              <a:ext uri="{FF2B5EF4-FFF2-40B4-BE49-F238E27FC236}">
                <a16:creationId xmlns:a16="http://schemas.microsoft.com/office/drawing/2014/main" id="{3076A402-76E2-6932-49BB-E287613459A9}"/>
              </a:ext>
            </a:extLst>
          </p:cNvPr>
          <p:cNvSpPr txBox="1"/>
          <p:nvPr/>
        </p:nvSpPr>
        <p:spPr>
          <a:xfrm>
            <a:off x="6497621" y="5233603"/>
            <a:ext cx="3842719" cy="276999"/>
          </a:xfrm>
          <a:prstGeom prst="rect">
            <a:avLst/>
          </a:prstGeom>
          <a:noFill/>
        </p:spPr>
        <p:txBody>
          <a:bodyPr wrap="none" rtlCol="0">
            <a:spAutoFit/>
          </a:bodyPr>
          <a:lstStyle/>
          <a:p>
            <a:r>
              <a:rPr lang="en-US" sz="1200" dirty="0"/>
              <a:t>Source: </a:t>
            </a:r>
            <a:r>
              <a:rPr lang="en-US" sz="1200" dirty="0" err="1"/>
              <a:t>Agan</a:t>
            </a:r>
            <a:r>
              <a:rPr lang="en-US" sz="1200" dirty="0"/>
              <a:t>, Davenport, Ludwig &amp; Mullainathan (2023)</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41</a:t>
            </a:fld>
            <a:endParaRPr lang="en-US" dirty="0"/>
          </a:p>
        </p:txBody>
      </p:sp>
    </p:spTree>
    <p:extLst>
      <p:ext uri="{BB962C8B-B14F-4D97-AF65-F5344CB8AC3E}">
        <p14:creationId xmlns:p14="http://schemas.microsoft.com/office/powerpoint/2010/main" val="53975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C6391-831C-4DC1-A37B-B5331B2F8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71257-9C2B-3157-882B-8C9D27734AC7}"/>
              </a:ext>
            </a:extLst>
          </p:cNvPr>
          <p:cNvSpPr>
            <a:spLocks noGrp="1"/>
          </p:cNvSpPr>
          <p:nvPr>
            <p:ph type="ctrTitle"/>
          </p:nvPr>
        </p:nvSpPr>
        <p:spPr/>
        <p:txBody>
          <a:bodyPr/>
          <a:lstStyle/>
          <a:p>
            <a:r>
              <a:rPr lang="en-US" dirty="0"/>
              <a:t>Exacerbating Biases, Continued</a:t>
            </a:r>
          </a:p>
        </p:txBody>
      </p:sp>
      <p:sp>
        <p:nvSpPr>
          <p:cNvPr id="4" name="Text Placeholder 3">
            <a:extLst>
              <a:ext uri="{FF2B5EF4-FFF2-40B4-BE49-F238E27FC236}">
                <a16:creationId xmlns:a16="http://schemas.microsoft.com/office/drawing/2014/main" id="{AD0ACDBB-3B56-CE3F-0CC3-CB2CC11F6558}"/>
              </a:ext>
            </a:extLst>
          </p:cNvPr>
          <p:cNvSpPr>
            <a:spLocks noGrp="1"/>
          </p:cNvSpPr>
          <p:nvPr>
            <p:ph type="body" sz="quarter" idx="14"/>
          </p:nvPr>
        </p:nvSpPr>
        <p:spPr>
          <a:xfrm>
            <a:off x="1314273" y="1416888"/>
            <a:ext cx="3469247" cy="4232867"/>
          </a:xfrm>
        </p:spPr>
        <p:txBody>
          <a:bodyPr>
            <a:normAutofit fontScale="92500" lnSpcReduction="10000"/>
          </a:bodyPr>
          <a:lstStyle/>
          <a:p>
            <a:pPr lvl="1"/>
            <a:r>
              <a:rPr lang="en-US" sz="2400" dirty="0"/>
              <a:t>Study comparing FB people you may know algorithm (PYMK) and the news feed</a:t>
            </a:r>
          </a:p>
          <a:p>
            <a:pPr lvl="1"/>
            <a:r>
              <a:rPr lang="en-US" sz="2400" dirty="0"/>
              <a:t>PYMK engagement decisions take much longer than news feed decisions</a:t>
            </a:r>
          </a:p>
          <a:p>
            <a:pPr lvl="1"/>
            <a:r>
              <a:rPr lang="en-US" sz="2400" dirty="0"/>
              <a:t>Evidence of out-group bias on news feed (e.g. White people less likely to see posts from Black friends) but not on PYMK</a:t>
            </a:r>
          </a:p>
          <a:p>
            <a:pPr lvl="1"/>
            <a:endParaRPr lang="en-US" sz="2400" dirty="0"/>
          </a:p>
        </p:txBody>
      </p:sp>
      <p:pic>
        <p:nvPicPr>
          <p:cNvPr id="7" name="Picture 6" descr="Left: A line chart showing average news feed ranking across four user‐preference quartiles, comparing own-group (blue) and out-group (red) content. Both groups increase in ranking with preference, but own-group content is ranked slightly higher at most quartiles.&#10;&#10;Right: A line chart showing average “People You May Know” ranking across four familiarity quartiles, comparing own-group (blue) and out-group (red) connections. Ranking rises steeply with familiarity, with own-group and out-group lines tracking closely, diverging slightly at the highest quartile.">
            <a:extLst>
              <a:ext uri="{FF2B5EF4-FFF2-40B4-BE49-F238E27FC236}">
                <a16:creationId xmlns:a16="http://schemas.microsoft.com/office/drawing/2014/main" id="{C4C7E59E-E72E-DE8C-FCFF-D8ECBA3032CE}"/>
              </a:ext>
            </a:extLst>
          </p:cNvPr>
          <p:cNvPicPr>
            <a:picLocks noChangeAspect="1"/>
          </p:cNvPicPr>
          <p:nvPr/>
        </p:nvPicPr>
        <p:blipFill>
          <a:blip r:embed="rId3"/>
          <a:stretch>
            <a:fillRect/>
          </a:stretch>
        </p:blipFill>
        <p:spPr>
          <a:xfrm>
            <a:off x="4783521" y="1729219"/>
            <a:ext cx="5633720" cy="3556091"/>
          </a:xfrm>
          <a:prstGeom prst="rect">
            <a:avLst/>
          </a:prstGeom>
        </p:spPr>
      </p:pic>
      <p:sp>
        <p:nvSpPr>
          <p:cNvPr id="8" name="TextBox 7">
            <a:extLst>
              <a:ext uri="{FF2B5EF4-FFF2-40B4-BE49-F238E27FC236}">
                <a16:creationId xmlns:a16="http://schemas.microsoft.com/office/drawing/2014/main" id="{FB453FC4-6600-A6C5-F5FE-398B791DDA54}"/>
              </a:ext>
            </a:extLst>
          </p:cNvPr>
          <p:cNvSpPr txBox="1"/>
          <p:nvPr/>
        </p:nvSpPr>
        <p:spPr>
          <a:xfrm>
            <a:off x="6105420" y="5337526"/>
            <a:ext cx="3842719" cy="276999"/>
          </a:xfrm>
          <a:prstGeom prst="rect">
            <a:avLst/>
          </a:prstGeom>
          <a:noFill/>
        </p:spPr>
        <p:txBody>
          <a:bodyPr wrap="none" rtlCol="0">
            <a:spAutoFit/>
          </a:bodyPr>
          <a:lstStyle/>
          <a:p>
            <a:r>
              <a:rPr lang="en-US" sz="1200" dirty="0"/>
              <a:t>Source: </a:t>
            </a:r>
            <a:r>
              <a:rPr lang="en-US" sz="1200" dirty="0" err="1"/>
              <a:t>Agan</a:t>
            </a:r>
            <a:r>
              <a:rPr lang="en-US" sz="1200" dirty="0"/>
              <a:t>, Davenport, Ludwig &amp; Mullainathan (2023)</a:t>
            </a:r>
          </a:p>
        </p:txBody>
      </p:sp>
      <p:sp>
        <p:nvSpPr>
          <p:cNvPr id="5" name="Date Placeholder 4">
            <a:extLst>
              <a:ext uri="{FF2B5EF4-FFF2-40B4-BE49-F238E27FC236}">
                <a16:creationId xmlns:a16="http://schemas.microsoft.com/office/drawing/2014/main" id="{CF0366F4-7BFC-50EA-49C5-A500AFC8E4A3}"/>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2584C3FB-7805-1809-ED4D-542CB26FEA6D}"/>
              </a:ext>
            </a:extLst>
          </p:cNvPr>
          <p:cNvSpPr>
            <a:spLocks noGrp="1"/>
          </p:cNvSpPr>
          <p:nvPr>
            <p:ph type="sldNum" sz="quarter" idx="12"/>
          </p:nvPr>
        </p:nvSpPr>
        <p:spPr/>
        <p:txBody>
          <a:bodyPr/>
          <a:lstStyle/>
          <a:p>
            <a:fld id="{8A7A6979-0714-4377-B894-6BE4C2D6E202}" type="slidenum">
              <a:rPr lang="en-US" smtClean="0"/>
              <a:pPr/>
              <a:t>42</a:t>
            </a:fld>
            <a:endParaRPr lang="en-US" dirty="0"/>
          </a:p>
        </p:txBody>
      </p:sp>
    </p:spTree>
    <p:extLst>
      <p:ext uri="{BB962C8B-B14F-4D97-AF65-F5344CB8AC3E}">
        <p14:creationId xmlns:p14="http://schemas.microsoft.com/office/powerpoint/2010/main" val="192962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Additional Concerns – Short vs Long Term Engagement</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402080" y="1917389"/>
            <a:ext cx="4328160" cy="3411537"/>
          </a:xfrm>
        </p:spPr>
        <p:txBody>
          <a:bodyPr>
            <a:normAutofit fontScale="92500" lnSpcReduction="10000"/>
          </a:bodyPr>
          <a:lstStyle/>
          <a:p>
            <a:r>
              <a:rPr lang="en-US" sz="2400" dirty="0"/>
              <a:t>Many people express an interest in technology that limits their access to engagement-based services</a:t>
            </a:r>
          </a:p>
          <a:p>
            <a:endParaRPr lang="en-US" sz="2400" dirty="0"/>
          </a:p>
          <a:p>
            <a:r>
              <a:rPr lang="en-US" sz="2400" dirty="0"/>
              <a:t>This does not happen with standard goods</a:t>
            </a:r>
          </a:p>
          <a:p>
            <a:endParaRPr lang="en-US" sz="2400" dirty="0"/>
          </a:p>
          <a:p>
            <a:r>
              <a:rPr lang="en-US" sz="2400" dirty="0"/>
              <a:t>Many people take breaks from social media, requires uninstalling the app / deleting you account</a:t>
            </a:r>
          </a:p>
          <a:p>
            <a:pPr lvl="1"/>
            <a:endParaRPr lang="en-US" sz="2400" dirty="0"/>
          </a:p>
        </p:txBody>
      </p:sp>
      <p:pic>
        <p:nvPicPr>
          <p:cNvPr id="3" name="Picture 2" descr="A bar chart showing the fraction of survey respondents by their interest in setting limits: roughly one-third report no interest, the largest group reports slight interest, a smaller group reports moderate interest, and a very small fraction reports high interest.">
            <a:extLst>
              <a:ext uri="{FF2B5EF4-FFF2-40B4-BE49-F238E27FC236}">
                <a16:creationId xmlns:a16="http://schemas.microsoft.com/office/drawing/2014/main" id="{F4B75CB2-5A2D-C424-3305-7699A4DF3891}"/>
              </a:ext>
            </a:extLst>
          </p:cNvPr>
          <p:cNvPicPr>
            <a:picLocks noChangeAspect="1"/>
          </p:cNvPicPr>
          <p:nvPr/>
        </p:nvPicPr>
        <p:blipFill>
          <a:blip r:embed="rId3"/>
          <a:stretch>
            <a:fillRect/>
          </a:stretch>
        </p:blipFill>
        <p:spPr>
          <a:xfrm>
            <a:off x="6302322" y="1529074"/>
            <a:ext cx="4487598" cy="3662293"/>
          </a:xfrm>
          <a:prstGeom prst="rect">
            <a:avLst/>
          </a:prstGeom>
        </p:spPr>
      </p:pic>
      <p:sp>
        <p:nvSpPr>
          <p:cNvPr id="7" name="TextBox 6">
            <a:extLst>
              <a:ext uri="{FF2B5EF4-FFF2-40B4-BE49-F238E27FC236}">
                <a16:creationId xmlns:a16="http://schemas.microsoft.com/office/drawing/2014/main" id="{B316775D-9EFD-DAFA-BBEA-2DE7E1B374B0}"/>
              </a:ext>
            </a:extLst>
          </p:cNvPr>
          <p:cNvSpPr txBox="1"/>
          <p:nvPr/>
        </p:nvSpPr>
        <p:spPr>
          <a:xfrm>
            <a:off x="7130585" y="5152055"/>
            <a:ext cx="3659335" cy="369332"/>
          </a:xfrm>
          <a:prstGeom prst="rect">
            <a:avLst/>
          </a:prstGeom>
          <a:noFill/>
        </p:spPr>
        <p:txBody>
          <a:bodyPr wrap="none" rtlCol="0">
            <a:spAutoFit/>
          </a:bodyPr>
          <a:lstStyle/>
          <a:p>
            <a:r>
              <a:rPr lang="en-US" dirty="0"/>
              <a:t>Source: </a:t>
            </a:r>
            <a:r>
              <a:rPr lang="en-US" dirty="0" err="1"/>
              <a:t>Allcott</a:t>
            </a:r>
            <a:r>
              <a:rPr lang="en-US" dirty="0"/>
              <a:t>, Gentzkow, and Song</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43</a:t>
            </a:fld>
            <a:endParaRPr lang="en-US" dirty="0"/>
          </a:p>
        </p:txBody>
      </p:sp>
    </p:spTree>
    <p:extLst>
      <p:ext uri="{BB962C8B-B14F-4D97-AF65-F5344CB8AC3E}">
        <p14:creationId xmlns:p14="http://schemas.microsoft.com/office/powerpoint/2010/main" val="31158883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7300940" cy="664797"/>
          </a:xfrm>
        </p:spPr>
        <p:txBody>
          <a:bodyPr/>
          <a:lstStyle/>
          <a:p>
            <a:r>
              <a:rPr lang="en-US" dirty="0"/>
              <a:t>Summary</a:t>
            </a:r>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11/19/2025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44</a:t>
            </a:fld>
            <a:endParaRPr lang="en-US" dirty="0"/>
          </a:p>
        </p:txBody>
      </p:sp>
    </p:spTree>
    <p:extLst>
      <p:ext uri="{BB962C8B-B14F-4D97-AF65-F5344CB8AC3E}">
        <p14:creationId xmlns:p14="http://schemas.microsoft.com/office/powerpoint/2010/main" val="3845271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Engagement as a Metric Recap</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lnSpcReduction="10000"/>
          </a:bodyPr>
          <a:lstStyle/>
          <a:p>
            <a:r>
              <a:rPr lang="en-US" sz="2400" dirty="0"/>
              <a:t>Goal metrics proxy the mission</a:t>
            </a:r>
          </a:p>
          <a:p>
            <a:r>
              <a:rPr lang="en-US" sz="2400" dirty="0"/>
              <a:t>Driver metrics proxy the goal</a:t>
            </a:r>
          </a:p>
          <a:p>
            <a:r>
              <a:rPr lang="en-US" sz="2400" dirty="0"/>
              <a:t>Guardrail metrics protect the organization</a:t>
            </a:r>
          </a:p>
          <a:p>
            <a:endParaRPr lang="en-US" sz="2400" dirty="0"/>
          </a:p>
          <a:p>
            <a:r>
              <a:rPr lang="en-US" sz="2400" dirty="0"/>
              <a:t>Overall Evaluation Criteria encodes tradeoffs between metrics into an objective function</a:t>
            </a:r>
          </a:p>
          <a:p>
            <a:endParaRPr lang="en-US" sz="2400" dirty="0"/>
          </a:p>
          <a:p>
            <a:r>
              <a:rPr lang="en-US" sz="2400" dirty="0"/>
              <a:t>Careful selection of driver metrics has big payoffs (e.g. Boston Globe)</a:t>
            </a:r>
          </a:p>
          <a:p>
            <a:endParaRPr lang="en-US" sz="2400" dirty="0"/>
          </a:p>
          <a:p>
            <a:r>
              <a:rPr lang="en-US" sz="2400" dirty="0"/>
              <a:t>Engagement often a useful metric</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11/19/2025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45</a:t>
            </a:fld>
            <a:endParaRPr lang="en-US" dirty="0"/>
          </a:p>
        </p:txBody>
      </p:sp>
    </p:spTree>
    <p:extLst>
      <p:ext uri="{BB962C8B-B14F-4D97-AF65-F5344CB8AC3E}">
        <p14:creationId xmlns:p14="http://schemas.microsoft.com/office/powerpoint/2010/main" val="1595227985"/>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4385</TotalTime>
  <Words>2447</Words>
  <Application>Microsoft Office PowerPoint</Application>
  <PresentationFormat>Widescreen</PresentationFormat>
  <Paragraphs>452</Paragraphs>
  <Slides>45</Slides>
  <Notes>40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Cambria Math</vt:lpstr>
      <vt:lpstr>Impact</vt:lpstr>
      <vt:lpstr>Franklin Gothic Medium</vt:lpstr>
      <vt:lpstr>Franklin Gothic Book</vt:lpstr>
      <vt:lpstr>Acumin Pro</vt:lpstr>
      <vt:lpstr>Wingdings</vt:lpstr>
      <vt:lpstr>Calibri</vt:lpstr>
      <vt:lpstr>United Sans Rg Md</vt:lpstr>
      <vt:lpstr>Arial</vt:lpstr>
      <vt:lpstr>Franklin Gothic Demi</vt:lpstr>
      <vt:lpstr>Purdue2</vt:lpstr>
      <vt:lpstr>Digital product design</vt:lpstr>
      <vt:lpstr>Outline</vt:lpstr>
      <vt:lpstr>Probability in 1 slide</vt:lpstr>
      <vt:lpstr>Probability Review</vt:lpstr>
      <vt:lpstr>Organizational metrics Kohavi, Tang, and Xu (2020)</vt:lpstr>
      <vt:lpstr>What Are Metrics?</vt:lpstr>
      <vt:lpstr>Types of Metrics</vt:lpstr>
      <vt:lpstr>Goal Metrics</vt:lpstr>
      <vt:lpstr>Driver Metrics</vt:lpstr>
      <vt:lpstr>Driver Metrics, Part 2</vt:lpstr>
      <vt:lpstr>Driver Metrics, Part 3</vt:lpstr>
      <vt:lpstr>Guardrail Metrics</vt:lpstr>
      <vt:lpstr>Additional Metrics</vt:lpstr>
      <vt:lpstr>Challenges of Metrics</vt:lpstr>
      <vt:lpstr>Defining Metrics</vt:lpstr>
      <vt:lpstr>Defining Metrics, Continued</vt:lpstr>
      <vt:lpstr>Gameability of Metrics – Vasily Alekseyev</vt:lpstr>
      <vt:lpstr>Gameability of Metrics – The Chicken KPI</vt:lpstr>
      <vt:lpstr>Gameability of Metrics – Hanoi Rat Bounty</vt:lpstr>
      <vt:lpstr>Takeaways</vt:lpstr>
      <vt:lpstr>Overall evaluation criteria Kohavi, Tang, and Xu (2020)</vt:lpstr>
      <vt:lpstr>Metrics Useful for Decisions</vt:lpstr>
      <vt:lpstr>Metrics Useful for Decisions - Examples</vt:lpstr>
      <vt:lpstr>Combining Key Metrics into an OEC</vt:lpstr>
      <vt:lpstr>Deciding on the OEC</vt:lpstr>
      <vt:lpstr>OEC Case Study – Amazon Emails</vt:lpstr>
      <vt:lpstr>OEC Case Study – Amazon Emails, Continued</vt:lpstr>
      <vt:lpstr>OEC Case Study – Bing Search</vt:lpstr>
      <vt:lpstr>Boston globe Yang, Eckles, Dhillon, and Aral (2023)</vt:lpstr>
      <vt:lpstr>Boston Globe </vt:lpstr>
      <vt:lpstr>Methodology</vt:lpstr>
      <vt:lpstr>Methodology, Continued</vt:lpstr>
      <vt:lpstr>Results</vt:lpstr>
      <vt:lpstr>Recap</vt:lpstr>
      <vt:lpstr>Engagement as a metric</vt:lpstr>
      <vt:lpstr>Why Engagement as a Metric</vt:lpstr>
      <vt:lpstr>Why Engagement as a Metric, Continued</vt:lpstr>
      <vt:lpstr>Concerns with Optimizing for Engagement</vt:lpstr>
      <vt:lpstr>Concerns with Optimizing for Engagement, Continued</vt:lpstr>
      <vt:lpstr>Additional Concerns – Externalities Among Users</vt:lpstr>
      <vt:lpstr>Exacerbating Biases</vt:lpstr>
      <vt:lpstr>Exacerbating Biases, Continued</vt:lpstr>
      <vt:lpstr>Additional Concerns – Short vs Long Term Engagement</vt:lpstr>
      <vt:lpstr>Summary</vt:lpstr>
      <vt:lpstr>Engagement as a Metric 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485</cp:revision>
  <dcterms:created xsi:type="dcterms:W3CDTF">2024-07-15T17:50:06Z</dcterms:created>
  <dcterms:modified xsi:type="dcterms:W3CDTF">2025-11-19T18:19:57Z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