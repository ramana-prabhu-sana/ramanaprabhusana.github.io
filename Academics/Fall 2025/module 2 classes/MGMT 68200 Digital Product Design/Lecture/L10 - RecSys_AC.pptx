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57"/>
  </p:notesMasterIdLst>
  <p:sldIdLst>
    <p:sldId id="257" r:id="rId2"/>
    <p:sldId id="780" r:id="rId3"/>
    <p:sldId id="836" r:id="rId4"/>
    <p:sldId id="777" r:id="rId5"/>
    <p:sldId id="837" r:id="rId6"/>
    <p:sldId id="846" r:id="rId7"/>
    <p:sldId id="864" r:id="rId8"/>
    <p:sldId id="865" r:id="rId9"/>
    <p:sldId id="871" r:id="rId10"/>
    <p:sldId id="781" r:id="rId11"/>
    <p:sldId id="788" r:id="rId12"/>
    <p:sldId id="789" r:id="rId13"/>
    <p:sldId id="790" r:id="rId14"/>
    <p:sldId id="791" r:id="rId15"/>
    <p:sldId id="793" r:id="rId16"/>
    <p:sldId id="792" r:id="rId17"/>
    <p:sldId id="795" r:id="rId18"/>
    <p:sldId id="798" r:id="rId19"/>
    <p:sldId id="782" r:id="rId20"/>
    <p:sldId id="805" r:id="rId21"/>
    <p:sldId id="803" r:id="rId22"/>
    <p:sldId id="804" r:id="rId23"/>
    <p:sldId id="806" r:id="rId24"/>
    <p:sldId id="807" r:id="rId25"/>
    <p:sldId id="808" r:id="rId26"/>
    <p:sldId id="809" r:id="rId27"/>
    <p:sldId id="810" r:id="rId28"/>
    <p:sldId id="811" r:id="rId29"/>
    <p:sldId id="813" r:id="rId30"/>
    <p:sldId id="814" r:id="rId31"/>
    <p:sldId id="815" r:id="rId32"/>
    <p:sldId id="816" r:id="rId33"/>
    <p:sldId id="817" r:id="rId34"/>
    <p:sldId id="821" r:id="rId35"/>
    <p:sldId id="818" r:id="rId36"/>
    <p:sldId id="828" r:id="rId37"/>
    <p:sldId id="783" r:id="rId38"/>
    <p:sldId id="796" r:id="rId39"/>
    <p:sldId id="800" r:id="rId40"/>
    <p:sldId id="801" r:id="rId41"/>
    <p:sldId id="802" r:id="rId42"/>
    <p:sldId id="832" r:id="rId43"/>
    <p:sldId id="833" r:id="rId44"/>
    <p:sldId id="830" r:id="rId45"/>
    <p:sldId id="819" r:id="rId46"/>
    <p:sldId id="822" r:id="rId47"/>
    <p:sldId id="829" r:id="rId48"/>
    <p:sldId id="831" r:id="rId49"/>
    <p:sldId id="820" r:id="rId50"/>
    <p:sldId id="824" r:id="rId51"/>
    <p:sldId id="825" r:id="rId52"/>
    <p:sldId id="826" r:id="rId53"/>
    <p:sldId id="834" r:id="rId54"/>
    <p:sldId id="835" r:id="rId55"/>
    <p:sldId id="761" r:id="rId56"/>
  </p:sldIdLst>
  <p:sldSz cx="12192000" cy="6858000"/>
  <p:notesSz cx="6858000" cy="9144000"/>
  <p:embeddedFontLst>
    <p:embeddedFont>
      <p:font typeface="Acumin Pro" panose="020B0604020202020204" charset="0"/>
      <p:regular r:id="rId58"/>
      <p:bold r:id="rId59"/>
      <p:italic r:id="rId60"/>
      <p:boldItalic r:id="rId61"/>
    </p:embeddedFont>
    <p:embeddedFont>
      <p:font typeface="Cambria Math" panose="02040503050406030204" pitchFamily="18" charset="0"/>
      <p:regular r:id="rId62"/>
    </p:embeddedFont>
    <p:embeddedFont>
      <p:font typeface="Franklin Gothic Book" panose="020B0503020102020204" pitchFamily="34" charset="0"/>
      <p:regular r:id="rId63"/>
      <p:italic r:id="rId64"/>
    </p:embeddedFont>
    <p:embeddedFont>
      <p:font typeface="Franklin Gothic Demi" panose="020B0703020102020204" pitchFamily="34" charset="0"/>
      <p:regular r:id="rId65"/>
      <p:bold r:id="rId66"/>
      <p:italic r:id="rId67"/>
      <p:boldItalic r:id="rId68"/>
    </p:embeddedFont>
    <p:embeddedFont>
      <p:font typeface="Franklin Gothic Medium" panose="020B0603020102020204" pitchFamily="34" charset="0"/>
      <p:regular r:id="rId69"/>
      <p:italic r:id="rId70"/>
    </p:embeddedFont>
    <p:embeddedFont>
      <p:font typeface="Impact" panose="020B0806030902050204" pitchFamily="34" charset="0"/>
      <p:regular r:id="rId71"/>
    </p:embeddedFont>
    <p:embeddedFont>
      <p:font typeface="United Sans Rg Md" pitchFamily="50" charset="0"/>
      <p:regular r:id="rId7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45" autoAdjust="0"/>
    <p:restoredTop sz="91233" autoAdjust="0"/>
  </p:normalViewPr>
  <p:slideViewPr>
    <p:cSldViewPr snapToGrid="0" snapToObjects="1">
      <p:cViewPr varScale="1">
        <p:scale>
          <a:sx n="67" d="100"/>
          <a:sy n="67" d="100"/>
        </p:scale>
        <p:origin x="90" y="72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12/03/2025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DA897-B6DF-9B63-579B-7424F8230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FD4AC-2B46-14D4-C04D-C9AF3761CB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EBC3B6-AB71-818D-06D8-4230556699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31471-3DF2-418E-4016-82814774924D}"/>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120279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9E9B9-DBD2-6C02-6DC5-AA8D94591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1CFEB3-C155-FFC5-27D9-0D244261D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BB7EEF-CCB0-CF02-BD42-5CFF2433E0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29356B-D2BB-888A-E1B2-9724ED4F7E34}"/>
              </a:ext>
            </a:extLst>
          </p:cNvPr>
          <p:cNvSpPr>
            <a:spLocks noGrp="1"/>
          </p:cNvSpPr>
          <p:nvPr>
            <p:ph type="sldNum" sz="quarter" idx="5"/>
          </p:nvPr>
        </p:nvSpPr>
        <p:spPr/>
        <p:txBody>
          <a:bodyPr/>
          <a:lstStyle/>
          <a:p>
            <a:fld id="{988F3A2B-14A6-8F47-B753-A658CA12576A}" type="slidenum">
              <a:rPr lang="en-US" smtClean="0"/>
              <a:t>3</a:t>
            </a:fld>
            <a:endParaRPr lang="en-US"/>
          </a:p>
        </p:txBody>
      </p:sp>
    </p:spTree>
    <p:extLst>
      <p:ext uri="{BB962C8B-B14F-4D97-AF65-F5344CB8AC3E}">
        <p14:creationId xmlns:p14="http://schemas.microsoft.com/office/powerpoint/2010/main" val="2746417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38F31-96CA-DB6B-2F97-966B583CD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5BE6E-DCD2-0071-6242-D01FA7B51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728D29-CC39-89B7-2F9D-E7E3FFF67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B1E398-C0E7-91D8-0BA2-F0702D45B5E9}"/>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939759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32FB0-9989-B922-D135-8A78F935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4BA03-F515-AA30-3EFD-6607B331D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27C82-C3C1-E4E9-72F8-9A0477FB40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8ABFB-65B2-1DF9-C6F0-E2A3A52E4786}"/>
              </a:ext>
            </a:extLst>
          </p:cNvPr>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2925873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557E-4D6E-34B7-8AF7-43A3EA7D5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60089-8229-E012-3532-A2DD559DD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511D1-6B2C-0096-2CD6-0B6FC5412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7043B-CCC6-2009-7D2A-68016EAA7FF6}"/>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3280195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F8B1-CFDD-7405-8B99-CBDDCF3E8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A4344-2A95-CBA2-06EA-86951A0CA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E22AE1-1A51-9E95-635D-109DEF25C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94623F-FB61-751C-0D83-A5D85CD099AD}"/>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5091662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60485-230F-D0F6-DD9B-C140D4522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DBA42-0E87-1716-68EF-6DE091FB2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9DDF7-34A3-0EAC-92B7-7FDA7B6592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F099CB-1D5F-B694-C238-AEAF57E1F695}"/>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715877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DB05-9904-F414-6C30-0FDA11BB6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0AA18-80D7-3F05-EBAF-A8BA78A6B4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7897B-D5F1-B15B-E75A-83F7789319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F75C26-B56D-E7F3-D2D0-BBCFE132C11D}"/>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2212503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63F4D-B747-0CE4-5558-F0C004C5D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8A423-505F-BFF3-3257-B4FCC61C7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EA670-6789-C13C-5D1B-DDC4FF45FE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563AAE-D622-1F74-4499-14878BC6E52F}"/>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1042060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E8D3C-831C-1394-938A-E455558D0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B7FF0-33EF-70C2-049F-4B9FF31E6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9D751-A2A7-2306-7087-46E5F6B3C9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C50CC-98DE-139D-0F66-4ABC20DF370E}"/>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1699945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A510-2667-06DC-B73C-A4F75AD2D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F5D14-91F2-4C8B-59B3-495EA626B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21A17D-515F-483D-BC45-B7E2FD3A44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912697-8A76-4600-5BC5-C0D138E78BC3}"/>
              </a:ext>
            </a:extLst>
          </p:cNvPr>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9291386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3EDA8-3043-570B-4F34-551C30387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57F4D-3903-6B0D-F530-C850B912E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C0073-D364-CF91-7098-09F79E2379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BFB69F-B0B8-6F53-CA7A-F3ED9840B44B}"/>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26624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60F7D-A138-8582-4D39-BBFC7E0A3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97A383-4BDF-7C64-49CB-C1CE61EB9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A5F89-18D0-3374-C1B9-19F84CD94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5153DB-3DD0-F8AD-0188-A832759B18DB}"/>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1249456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37AC-A54E-FED7-D3FC-8783B41E6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D555A1-126B-8987-1D06-A2EFF300AC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B0039-2758-A50A-D6D3-D0E44B5E4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091735-F349-F236-D14E-7AEC56A52F8F}"/>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35797046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A0EA7-9B3D-C6FC-859D-34E86ED61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C98FA-D14C-D785-4769-1AC871FFF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526A3-094A-9E3F-4F38-F5AD062C88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0D3271-55B8-1A97-24BB-40FAF27D71A0}"/>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2040041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1FEB9-909C-12FA-65EE-2109290DA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B535A-F9C3-3A9B-3F64-14195EF1E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20249-422B-8306-8AEA-078F146914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D6DAA6-9ABA-0608-B409-D7F476739FC4}"/>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6972534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ADDE-45DB-E846-FD59-23DFDC62C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D610E-FEAA-6E65-6C75-33613FA992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B5FFB-F2A8-1336-9DBD-5619373A7B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CAEB00-A3C2-AA43-9B71-01E3D25919EF}"/>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33234047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36BC6-F77A-76A5-5B3E-526E37FC11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FE189-5662-9AB6-31B9-592C46FF5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3EC38-7F18-AEDA-B905-25E750CD87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9AA5B1-1A52-FF4A-CBC6-43636A3A8F6E}"/>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1751102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6963-BE38-1654-8D9D-36C9DEAFC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4F7B2-E07B-E0E5-059E-3B3282394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512D0-2386-72E8-29E6-2A9D161EE3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56F1CD-962C-DC71-A388-4E87D3F4B143}"/>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2726183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75F8A-7A3F-D7D9-A84D-358B98635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4EED4-AD0C-E013-29A5-976482030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CC9AF5-8D2B-BE11-5EAB-5EEB220670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166ED-6E2E-03CB-E872-E990A9D67E75}"/>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15549605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213D-B42F-0E88-3CCF-41DAF93A5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3293B-36C9-F49C-B270-ABF3CCBC8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1308F-667A-9D85-0771-D3D0A2C546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9A4137-51AA-295B-41A9-02559B17C4F3}"/>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503056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F4992-6D65-FC81-7700-15B6225C3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0F7C0-38F0-B146-6A6B-057540326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86FAC-D6AC-C7BE-F1B7-E83CC7E809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159F94-2228-7480-0095-00974C56A8E2}"/>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29958467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AE591-8A19-108E-CFBC-7980D1C0D6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7A432-6CC1-11DA-6F31-7E263FF92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87D52-44F1-4E57-C9C3-25A7F0B730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D00A2E-C0C7-1FCA-BDFB-64F4745871D4}"/>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17526018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F5BB5-5CC2-BFC1-0032-CD3B1C6F6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8B275-613D-CD06-8F04-813D01A7D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02E14-098C-B579-680E-A9A7BA5870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4CBBF2-72CF-6C34-4C06-F326691037D0}"/>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1818033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C9C1C-4BE4-7779-24DC-854196E4E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24E478-C5DD-67CD-BAE9-74F556BC5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99C41-C63B-A63E-8D69-8E959A201E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269DD-13E0-9B25-02AA-D24A1CAEFEB2}"/>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22272389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41869-E544-A713-5ACB-2092C5E9E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FBDA3-3623-1E6E-0020-566768811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7AE8E-C0E2-061D-CB5F-682CA3215A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9606AB-D2CF-4AA0-7EC3-CF528386895B}"/>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10830627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2A385-BB0C-B39C-1DDE-C9C9F1850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D27F7-EA84-ED86-C642-C80E4E8F6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3FCDD-C6AE-15C7-D4C8-4F7D7BD400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DEBC90-4C2E-DB6C-548D-C9FAB3766D8A}"/>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19652722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FAE6-D4BD-AC9E-DF1D-80FB2AABF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4C7DD2-1BAD-DDE0-BB9F-5C9CC6C11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E2ACF-0048-F01B-0E5B-590B05A053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D5982F-4D2E-3C69-1770-BF48783DC740}"/>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9935759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BB870-E13A-7EE7-A039-76C6BBDD1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C91E9-6299-B4F3-2A3D-156F5A1E7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F02A3-9A3F-62DE-7BA2-33C4AF360F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B50ED1-0857-63B9-BD50-9EB20A64B405}"/>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14415170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4F6A-4205-BBAE-14E2-732E12CFF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65438-00DA-E9E0-0F41-AFB247016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67312-9B12-8223-1550-14ADAE7C53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6DAFA8-DCF0-E35C-DAC1-0D0CB8FABC2D}"/>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324208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7D530-53BB-0A8A-92CB-C6C40B87E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16BFB5-433F-B63F-A17D-426A3E89D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2E294-3C1C-1F33-6865-EA8CEC5B8B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0E87C3-7CC5-F792-359C-DE283C45CEF0}"/>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32412240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28B8F-E52B-79CB-6B94-B5B47D6AF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25E6E-0767-7B02-DD49-CACE558CF1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CF14C6-D211-B6C7-4E2A-6485A01A73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BCCDD8-32C8-A711-ED4A-2B1F9C072EEE}"/>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1184390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0BB27-53C0-B2E1-45AB-56B3F9D4F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96B47-3314-7195-BE66-6EEE3DB5AF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A1DA7-52FF-2237-A88E-2C5A5B9DAF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A17710-E282-E27C-641A-7373433F79DA}"/>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79482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AD8A0-7DD8-B8FD-99F9-FCFC70C06E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41F6-09E7-113E-B403-042E4F8F8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D9668-25D7-B9DE-16F1-A6567B0FF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DFAED-786F-3735-D619-9E23C32B9635}"/>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27563333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995CE-900A-8D1E-21C6-F4DE803AD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5FEDA-AAFE-E70D-DE72-2FE3A6464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5B14E-CEEC-B74A-43B6-CA3871E97C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3384FB-51E7-529E-4FAC-E92E4FB3C205}"/>
              </a:ext>
            </a:extLst>
          </p:cNvPr>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36811807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AC74C-7041-846E-94F6-7A3EA5AB7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BE7B5-00C2-B5C8-7F0D-DF40497F4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2B2B1B-5948-3FF5-6C4D-76CE8A697E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453323-177A-0589-9745-46A7D122F040}"/>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10094200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856D-D8E7-591D-FE06-5B5521FFC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38767-F405-C7B7-9544-843E2141B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5AB9B-6B54-DC5A-73FB-0B8B8CA7C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CC3F0B-8D9E-9FAD-FD57-DFFFC43D32FA}"/>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12020031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E7714-6073-781C-512D-2D7EC0F6D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90400-A649-D226-05F0-FEF2673E3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02B7B-F6B6-F792-00D2-07F117B531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13ED93-BA66-81AA-E1AE-C90377600F50}"/>
              </a:ext>
            </a:extLst>
          </p:cNvPr>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20579860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9CE81-4B32-38D8-9382-967C5B246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CB31E-352C-5A43-5C54-4580A756D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74D83-F505-742B-E5C1-A24FE18B93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4442A7-D079-29D2-3D75-3B5B5D91665E}"/>
              </a:ext>
            </a:extLst>
          </p:cNvPr>
          <p:cNvSpPr>
            <a:spLocks noGrp="1"/>
          </p:cNvSpPr>
          <p:nvPr>
            <p:ph type="sldNum" sz="quarter" idx="5"/>
          </p:nvPr>
        </p:nvSpPr>
        <p:spPr/>
        <p:txBody>
          <a:bodyPr/>
          <a:lstStyle/>
          <a:p>
            <a:fld id="{988F3A2B-14A6-8F47-B753-A658CA12576A}" type="slidenum">
              <a:rPr lang="en-US" smtClean="0"/>
              <a:t>44</a:t>
            </a:fld>
            <a:endParaRPr lang="en-US"/>
          </a:p>
        </p:txBody>
      </p:sp>
    </p:spTree>
    <p:extLst>
      <p:ext uri="{BB962C8B-B14F-4D97-AF65-F5344CB8AC3E}">
        <p14:creationId xmlns:p14="http://schemas.microsoft.com/office/powerpoint/2010/main" val="37791878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286D6-4782-84DA-2AA2-E15872E5EF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6805A-C941-239E-B478-EBC84B93E8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7B6A8B-49FA-38BF-AA37-0A0CE6C4B4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AE77DE-2128-4CAB-8891-221C8F1A8447}"/>
              </a:ext>
            </a:extLst>
          </p:cNvPr>
          <p:cNvSpPr>
            <a:spLocks noGrp="1"/>
          </p:cNvSpPr>
          <p:nvPr>
            <p:ph type="sldNum" sz="quarter" idx="5"/>
          </p:nvPr>
        </p:nvSpPr>
        <p:spPr/>
        <p:txBody>
          <a:bodyPr/>
          <a:lstStyle/>
          <a:p>
            <a:fld id="{988F3A2B-14A6-8F47-B753-A658CA12576A}" type="slidenum">
              <a:rPr lang="en-US" smtClean="0"/>
              <a:t>46</a:t>
            </a:fld>
            <a:endParaRPr lang="en-US"/>
          </a:p>
        </p:txBody>
      </p:sp>
    </p:spTree>
    <p:extLst>
      <p:ext uri="{BB962C8B-B14F-4D97-AF65-F5344CB8AC3E}">
        <p14:creationId xmlns:p14="http://schemas.microsoft.com/office/powerpoint/2010/main" val="27553076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10DD3-0C8B-7FCA-47A1-F92E0DB89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8A9B7-7744-9B0B-1CCA-C037696C1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0AE5B-7D42-07E9-7D41-A0E7043B24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EBF249-7104-CD50-7979-DDA895A134D2}"/>
              </a:ext>
            </a:extLst>
          </p:cNvPr>
          <p:cNvSpPr>
            <a:spLocks noGrp="1"/>
          </p:cNvSpPr>
          <p:nvPr>
            <p:ph type="sldNum" sz="quarter" idx="5"/>
          </p:nvPr>
        </p:nvSpPr>
        <p:spPr/>
        <p:txBody>
          <a:bodyPr/>
          <a:lstStyle/>
          <a:p>
            <a:fld id="{988F3A2B-14A6-8F47-B753-A658CA12576A}" type="slidenum">
              <a:rPr lang="en-US" smtClean="0"/>
              <a:t>47</a:t>
            </a:fld>
            <a:endParaRPr lang="en-US"/>
          </a:p>
        </p:txBody>
      </p:sp>
    </p:spTree>
    <p:extLst>
      <p:ext uri="{BB962C8B-B14F-4D97-AF65-F5344CB8AC3E}">
        <p14:creationId xmlns:p14="http://schemas.microsoft.com/office/powerpoint/2010/main" val="362345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C565B-8621-730F-2E8A-6A58786AD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2E854-641A-2832-BB70-1EE4CA6AD0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F547B7-8288-9A95-5124-F2A339E837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0B77F5-AA52-9701-7461-8ACFFE2D0106}"/>
              </a:ext>
            </a:extLst>
          </p:cNvPr>
          <p:cNvSpPr>
            <a:spLocks noGrp="1"/>
          </p:cNvSpPr>
          <p:nvPr>
            <p:ph type="sldNum" sz="quarter" idx="5"/>
          </p:nvPr>
        </p:nvSpPr>
        <p:spPr/>
        <p:txBody>
          <a:bodyPr/>
          <a:lstStyle/>
          <a:p>
            <a:fld id="{988F3A2B-14A6-8F47-B753-A658CA12576A}" type="slidenum">
              <a:rPr lang="en-US" smtClean="0"/>
              <a:t>48</a:t>
            </a:fld>
            <a:endParaRPr lang="en-US"/>
          </a:p>
        </p:txBody>
      </p:sp>
    </p:spTree>
    <p:extLst>
      <p:ext uri="{BB962C8B-B14F-4D97-AF65-F5344CB8AC3E}">
        <p14:creationId xmlns:p14="http://schemas.microsoft.com/office/powerpoint/2010/main" val="27860104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95427-C910-43DB-ABBE-FE47AD3FF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CF658-F119-FF2B-4C3A-A12B8DD8D4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FD6B65-C901-3442-13BB-57C29E797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3B2BAB-929E-AC77-2C8E-6E0A908D7475}"/>
              </a:ext>
            </a:extLst>
          </p:cNvPr>
          <p:cNvSpPr>
            <a:spLocks noGrp="1"/>
          </p:cNvSpPr>
          <p:nvPr>
            <p:ph type="sldNum" sz="quarter" idx="5"/>
          </p:nvPr>
        </p:nvSpPr>
        <p:spPr/>
        <p:txBody>
          <a:bodyPr/>
          <a:lstStyle/>
          <a:p>
            <a:fld id="{988F3A2B-14A6-8F47-B753-A658CA12576A}" type="slidenum">
              <a:rPr lang="en-US" smtClean="0"/>
              <a:t>49</a:t>
            </a:fld>
            <a:endParaRPr lang="en-US"/>
          </a:p>
        </p:txBody>
      </p:sp>
    </p:spTree>
    <p:extLst>
      <p:ext uri="{BB962C8B-B14F-4D97-AF65-F5344CB8AC3E}">
        <p14:creationId xmlns:p14="http://schemas.microsoft.com/office/powerpoint/2010/main" val="4643776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4E187-7DEE-AC4F-9F2B-C6191FD18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D00347-C05E-EBBF-B54F-1F698654BD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B3E3F-B54C-469E-DD6B-B4EA318AAE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77914-EBE9-995C-5CCA-29442E3CEE5F}"/>
              </a:ext>
            </a:extLst>
          </p:cNvPr>
          <p:cNvSpPr>
            <a:spLocks noGrp="1"/>
          </p:cNvSpPr>
          <p:nvPr>
            <p:ph type="sldNum" sz="quarter" idx="5"/>
          </p:nvPr>
        </p:nvSpPr>
        <p:spPr/>
        <p:txBody>
          <a:bodyPr/>
          <a:lstStyle/>
          <a:p>
            <a:fld id="{988F3A2B-14A6-8F47-B753-A658CA12576A}" type="slidenum">
              <a:rPr lang="en-US" smtClean="0"/>
              <a:t>50</a:t>
            </a:fld>
            <a:endParaRPr lang="en-US"/>
          </a:p>
        </p:txBody>
      </p:sp>
    </p:spTree>
    <p:extLst>
      <p:ext uri="{BB962C8B-B14F-4D97-AF65-F5344CB8AC3E}">
        <p14:creationId xmlns:p14="http://schemas.microsoft.com/office/powerpoint/2010/main" val="35023239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9629-5081-068A-0355-1CA33ECCA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4C873-F6E4-3931-E72C-92F4804B5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0CC44-4149-F7DB-1045-61A27CB3E1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5EAA2-BDD3-476A-199B-DDE20932E7A2}"/>
              </a:ext>
            </a:extLst>
          </p:cNvPr>
          <p:cNvSpPr>
            <a:spLocks noGrp="1"/>
          </p:cNvSpPr>
          <p:nvPr>
            <p:ph type="sldNum" sz="quarter" idx="5"/>
          </p:nvPr>
        </p:nvSpPr>
        <p:spPr/>
        <p:txBody>
          <a:bodyPr/>
          <a:lstStyle/>
          <a:p>
            <a:fld id="{988F3A2B-14A6-8F47-B753-A658CA12576A}" type="slidenum">
              <a:rPr lang="en-US" smtClean="0"/>
              <a:t>51</a:t>
            </a:fld>
            <a:endParaRPr lang="en-US"/>
          </a:p>
        </p:txBody>
      </p:sp>
    </p:spTree>
    <p:extLst>
      <p:ext uri="{BB962C8B-B14F-4D97-AF65-F5344CB8AC3E}">
        <p14:creationId xmlns:p14="http://schemas.microsoft.com/office/powerpoint/2010/main" val="224333451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A6599-DD2B-C307-1A33-71AE8F89E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229FEC-1A03-3997-0461-A77B675E0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56D32-EEAA-04BE-2DAB-40E3ABF02C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DA07EA-5F2F-8B03-7D0C-0BA596F604EB}"/>
              </a:ext>
            </a:extLst>
          </p:cNvPr>
          <p:cNvSpPr>
            <a:spLocks noGrp="1"/>
          </p:cNvSpPr>
          <p:nvPr>
            <p:ph type="sldNum" sz="quarter" idx="5"/>
          </p:nvPr>
        </p:nvSpPr>
        <p:spPr/>
        <p:txBody>
          <a:bodyPr/>
          <a:lstStyle/>
          <a:p>
            <a:fld id="{988F3A2B-14A6-8F47-B753-A658CA12576A}" type="slidenum">
              <a:rPr lang="en-US" smtClean="0"/>
              <a:t>52</a:t>
            </a:fld>
            <a:endParaRPr lang="en-US"/>
          </a:p>
        </p:txBody>
      </p:sp>
    </p:spTree>
    <p:extLst>
      <p:ext uri="{BB962C8B-B14F-4D97-AF65-F5344CB8AC3E}">
        <p14:creationId xmlns:p14="http://schemas.microsoft.com/office/powerpoint/2010/main" val="41764007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C9325-2BE5-47AD-F651-2CA32124B9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B89F1D-9AB6-B50B-B4CA-ECC5CFDC6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6F38B4-5976-6D8D-F8B0-C0BAB904B0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ACD6DE-A49B-B5A6-824B-61C4960B1C65}"/>
              </a:ext>
            </a:extLst>
          </p:cNvPr>
          <p:cNvSpPr>
            <a:spLocks noGrp="1"/>
          </p:cNvSpPr>
          <p:nvPr>
            <p:ph type="sldNum" sz="quarter" idx="5"/>
          </p:nvPr>
        </p:nvSpPr>
        <p:spPr/>
        <p:txBody>
          <a:bodyPr/>
          <a:lstStyle/>
          <a:p>
            <a:fld id="{988F3A2B-14A6-8F47-B753-A658CA12576A}" type="slidenum">
              <a:rPr lang="en-US" smtClean="0"/>
              <a:t>53</a:t>
            </a:fld>
            <a:endParaRPr lang="en-US"/>
          </a:p>
        </p:txBody>
      </p:sp>
    </p:spTree>
    <p:extLst>
      <p:ext uri="{BB962C8B-B14F-4D97-AF65-F5344CB8AC3E}">
        <p14:creationId xmlns:p14="http://schemas.microsoft.com/office/powerpoint/2010/main" val="42711745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5D937-DBD5-C459-D422-C6BCEB340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67BF5-1307-4925-BDAA-59ADB69FA8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A34F1-339C-41E1-0A72-7B8BFBB1B6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8C3435-D129-3429-D092-99FB1EDFD710}"/>
              </a:ext>
            </a:extLst>
          </p:cNvPr>
          <p:cNvSpPr>
            <a:spLocks noGrp="1"/>
          </p:cNvSpPr>
          <p:nvPr>
            <p:ph type="sldNum" sz="quarter" idx="5"/>
          </p:nvPr>
        </p:nvSpPr>
        <p:spPr/>
        <p:txBody>
          <a:bodyPr/>
          <a:lstStyle/>
          <a:p>
            <a:fld id="{988F3A2B-14A6-8F47-B753-A658CA12576A}" type="slidenum">
              <a:rPr lang="en-US" smtClean="0"/>
              <a:t>54</a:t>
            </a:fld>
            <a:endParaRPr lang="en-US"/>
          </a:p>
        </p:txBody>
      </p:sp>
    </p:spTree>
    <p:extLst>
      <p:ext uri="{BB962C8B-B14F-4D97-AF65-F5344CB8AC3E}">
        <p14:creationId xmlns:p14="http://schemas.microsoft.com/office/powerpoint/2010/main" val="6712219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CE77-C1A8-80E5-8CED-270DBA727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56153-F828-D6D0-2120-B039653FB5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7975EE-20B6-4B19-053A-390B374705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53C140-FB6B-281F-E30E-0B4DD954492E}"/>
              </a:ext>
            </a:extLst>
          </p:cNvPr>
          <p:cNvSpPr>
            <a:spLocks noGrp="1"/>
          </p:cNvSpPr>
          <p:nvPr>
            <p:ph type="sldNum" sz="quarter" idx="5"/>
          </p:nvPr>
        </p:nvSpPr>
        <p:spPr/>
        <p:txBody>
          <a:bodyPr/>
          <a:lstStyle/>
          <a:p>
            <a:fld id="{988F3A2B-14A6-8F47-B753-A658CA12576A}" type="slidenum">
              <a:rPr lang="en-US" smtClean="0"/>
              <a:t>55</a:t>
            </a:fld>
            <a:endParaRPr lang="en-US"/>
          </a:p>
        </p:txBody>
      </p:sp>
    </p:spTree>
    <p:extLst>
      <p:ext uri="{BB962C8B-B14F-4D97-AF65-F5344CB8AC3E}">
        <p14:creationId xmlns:p14="http://schemas.microsoft.com/office/powerpoint/2010/main" val="561978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12/03/2025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12/03/2025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12/03/2025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12/03/2025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12/03/2025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12/03/2025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12/03/2025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12/03/2025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dirty="0">
                <a:latin typeface="Franklin Gothic Medium" panose="020B0603020102020204" pitchFamily="34" charset="0"/>
              </a:rPr>
              <a:t>Lecture 10: Designing Recommender Systems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5F9BE-A3FC-634B-BF9F-AD3626C84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003B1-8494-19C5-0C08-0B92127F3858}"/>
              </a:ext>
            </a:extLst>
          </p:cNvPr>
          <p:cNvSpPr>
            <a:spLocks noGrp="1"/>
          </p:cNvSpPr>
          <p:nvPr>
            <p:ph type="ctrTitle"/>
          </p:nvPr>
        </p:nvSpPr>
        <p:spPr/>
        <p:txBody>
          <a:bodyPr/>
          <a:lstStyle/>
          <a:p>
            <a:r>
              <a:rPr lang="en-US" dirty="0"/>
              <a:t>Administrative</a:t>
            </a:r>
          </a:p>
        </p:txBody>
      </p:sp>
      <p:sp>
        <p:nvSpPr>
          <p:cNvPr id="4" name="Text Placeholder 3">
            <a:extLst>
              <a:ext uri="{FF2B5EF4-FFF2-40B4-BE49-F238E27FC236}">
                <a16:creationId xmlns:a16="http://schemas.microsoft.com/office/drawing/2014/main" id="{4453D3C2-C7B3-86E6-5697-1E18AF5F4BB0}"/>
              </a:ext>
            </a:extLst>
          </p:cNvPr>
          <p:cNvSpPr>
            <a:spLocks noGrp="1"/>
          </p:cNvSpPr>
          <p:nvPr>
            <p:ph type="body" sz="quarter" idx="14"/>
          </p:nvPr>
        </p:nvSpPr>
        <p:spPr>
          <a:xfrm>
            <a:off x="1828800" y="1917389"/>
            <a:ext cx="8755380" cy="3411537"/>
          </a:xfrm>
        </p:spPr>
        <p:txBody>
          <a:bodyPr>
            <a:normAutofit/>
          </a:bodyPr>
          <a:lstStyle/>
          <a:p>
            <a:r>
              <a:rPr lang="en-US" sz="2400" dirty="0"/>
              <a:t>Project surveys distributed last week, please take them!</a:t>
            </a:r>
          </a:p>
          <a:p>
            <a:endParaRPr lang="en-US" sz="2400" dirty="0"/>
          </a:p>
          <a:p>
            <a:r>
              <a:rPr lang="en-US" sz="2400" dirty="0"/>
              <a:t>Final assignment due Friday</a:t>
            </a:r>
          </a:p>
          <a:p>
            <a:endParaRPr lang="en-US" sz="2400" dirty="0"/>
          </a:p>
        </p:txBody>
      </p:sp>
      <p:sp>
        <p:nvSpPr>
          <p:cNvPr id="5" name="Date Placeholder 4">
            <a:extLst>
              <a:ext uri="{FF2B5EF4-FFF2-40B4-BE49-F238E27FC236}">
                <a16:creationId xmlns:a16="http://schemas.microsoft.com/office/drawing/2014/main" id="{30B784BC-9F7E-41C6-E323-D4E1F6097AC7}"/>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A1A68899-A920-B168-0CD5-4BDF7EF77642}"/>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996717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91E27-3AAF-42A2-D07D-225826A9F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40E35-20AB-4CD7-84D5-5351CF244BA2}"/>
              </a:ext>
            </a:extLst>
          </p:cNvPr>
          <p:cNvSpPr>
            <a:spLocks noGrp="1"/>
          </p:cNvSpPr>
          <p:nvPr>
            <p:ph type="ctrTitle"/>
          </p:nvPr>
        </p:nvSpPr>
        <p:spPr/>
        <p:txBody>
          <a:bodyPr/>
          <a:lstStyle/>
          <a:p>
            <a:r>
              <a:rPr lang="en-US" dirty="0"/>
              <a:t>Overview</a:t>
            </a:r>
          </a:p>
        </p:txBody>
      </p:sp>
      <p:sp>
        <p:nvSpPr>
          <p:cNvPr id="4" name="Text Placeholder 3">
            <a:extLst>
              <a:ext uri="{FF2B5EF4-FFF2-40B4-BE49-F238E27FC236}">
                <a16:creationId xmlns:a16="http://schemas.microsoft.com/office/drawing/2014/main" id="{FF1390A1-3DA5-35CA-7D1E-5A0C91ABB9E6}"/>
              </a:ext>
            </a:extLst>
          </p:cNvPr>
          <p:cNvSpPr>
            <a:spLocks noGrp="1"/>
          </p:cNvSpPr>
          <p:nvPr>
            <p:ph type="body" sz="quarter" idx="14"/>
          </p:nvPr>
        </p:nvSpPr>
        <p:spPr>
          <a:xfrm>
            <a:off x="1828800" y="1917389"/>
            <a:ext cx="8755380" cy="3411537"/>
          </a:xfrm>
        </p:spPr>
        <p:txBody>
          <a:bodyPr>
            <a:normAutofit/>
          </a:bodyPr>
          <a:lstStyle/>
          <a:p>
            <a:r>
              <a:rPr lang="en-US" sz="2400" dirty="0"/>
              <a:t>Introduction to content platforms and recommender systems</a:t>
            </a:r>
          </a:p>
          <a:p>
            <a:pPr marL="0" indent="0">
              <a:buNone/>
            </a:pPr>
            <a:endParaRPr lang="en-US" sz="2400" dirty="0"/>
          </a:p>
          <a:p>
            <a:r>
              <a:rPr lang="en-US" sz="2400" dirty="0"/>
              <a:t>Technology behind recommender systems</a:t>
            </a:r>
          </a:p>
          <a:p>
            <a:endParaRPr lang="en-US" sz="2400" dirty="0"/>
          </a:p>
          <a:p>
            <a:r>
              <a:rPr lang="en-US" sz="2400" dirty="0"/>
              <a:t>Impact of recommender systems</a:t>
            </a:r>
          </a:p>
          <a:p>
            <a:endParaRPr lang="en-US" sz="2400" dirty="0"/>
          </a:p>
        </p:txBody>
      </p:sp>
      <p:sp>
        <p:nvSpPr>
          <p:cNvPr id="5" name="Date Placeholder 4">
            <a:extLst>
              <a:ext uri="{FF2B5EF4-FFF2-40B4-BE49-F238E27FC236}">
                <a16:creationId xmlns:a16="http://schemas.microsoft.com/office/drawing/2014/main" id="{8F5F1E2D-90F4-FAB2-24F1-C3ED09A680E2}"/>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7D57920-8417-F620-A589-BCE66E702704}"/>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3935578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845D-B83F-529F-53A5-4ACC1A204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D9A60-2475-7151-7FA8-D07FFF1D573E}"/>
              </a:ext>
            </a:extLst>
          </p:cNvPr>
          <p:cNvSpPr>
            <a:spLocks noGrp="1"/>
          </p:cNvSpPr>
          <p:nvPr>
            <p:ph type="ctrTitle"/>
          </p:nvPr>
        </p:nvSpPr>
        <p:spPr>
          <a:xfrm>
            <a:off x="2647199" y="1501742"/>
            <a:ext cx="7300940" cy="1329595"/>
          </a:xfrm>
        </p:spPr>
        <p:txBody>
          <a:bodyPr/>
          <a:lstStyle/>
          <a:p>
            <a:r>
              <a:rPr lang="en-US" dirty="0"/>
              <a:t>Human vs algorithmic decisions Review</a:t>
            </a:r>
          </a:p>
        </p:txBody>
      </p:sp>
      <p:sp>
        <p:nvSpPr>
          <p:cNvPr id="4" name="Date Placeholder 3">
            <a:extLst>
              <a:ext uri="{FF2B5EF4-FFF2-40B4-BE49-F238E27FC236}">
                <a16:creationId xmlns:a16="http://schemas.microsoft.com/office/drawing/2014/main" id="{02725DEA-BE0A-7C2F-BC2A-D4F1991834CB}"/>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FBD83CC1-350A-6863-B1B9-1065AEC3F5E7}"/>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1529740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145DD-B491-2FE9-E96A-90951C709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31C6A-BC2E-9D60-2152-9BA7DA39AF77}"/>
              </a:ext>
            </a:extLst>
          </p:cNvPr>
          <p:cNvSpPr>
            <a:spLocks noGrp="1"/>
          </p:cNvSpPr>
          <p:nvPr>
            <p:ph type="ctrTitle"/>
          </p:nvPr>
        </p:nvSpPr>
        <p:spPr/>
        <p:txBody>
          <a:bodyPr/>
          <a:lstStyle/>
          <a:p>
            <a:r>
              <a:rPr lang="en-US" dirty="0"/>
              <a:t>Comparative Advantage of Humans vs Algorithm</a:t>
            </a:r>
          </a:p>
        </p:txBody>
      </p:sp>
      <p:sp>
        <p:nvSpPr>
          <p:cNvPr id="4" name="Text Placeholder 3">
            <a:extLst>
              <a:ext uri="{FF2B5EF4-FFF2-40B4-BE49-F238E27FC236}">
                <a16:creationId xmlns:a16="http://schemas.microsoft.com/office/drawing/2014/main" id="{9B7CA9CA-691C-4C62-018C-FE2B59CA29E5}"/>
              </a:ext>
            </a:extLst>
          </p:cNvPr>
          <p:cNvSpPr>
            <a:spLocks noGrp="1"/>
          </p:cNvSpPr>
          <p:nvPr>
            <p:ph type="body" sz="quarter" idx="14"/>
          </p:nvPr>
        </p:nvSpPr>
        <p:spPr>
          <a:xfrm>
            <a:off x="1828800" y="1491343"/>
            <a:ext cx="8755380" cy="3995057"/>
          </a:xfrm>
        </p:spPr>
        <p:txBody>
          <a:bodyPr>
            <a:normAutofit lnSpcReduction="10000"/>
          </a:bodyPr>
          <a:lstStyle/>
          <a:p>
            <a:r>
              <a:rPr lang="en-US" sz="2400" dirty="0"/>
              <a:t>Algorithmic decisions</a:t>
            </a:r>
          </a:p>
          <a:p>
            <a:pPr lvl="1"/>
            <a:r>
              <a:rPr lang="en-US" sz="2400" dirty="0"/>
              <a:t>Instantaneous</a:t>
            </a:r>
          </a:p>
          <a:p>
            <a:pPr lvl="1"/>
            <a:r>
              <a:rPr lang="en-US" sz="2400" dirty="0"/>
              <a:t>Consistent</a:t>
            </a:r>
          </a:p>
          <a:p>
            <a:pPr lvl="1"/>
            <a:r>
              <a:rPr lang="en-US" sz="2400" dirty="0"/>
              <a:t>Makes good use of training data</a:t>
            </a:r>
          </a:p>
          <a:p>
            <a:pPr lvl="1"/>
            <a:r>
              <a:rPr lang="en-US" sz="2400" dirty="0"/>
              <a:t>Objective is clear</a:t>
            </a:r>
          </a:p>
          <a:p>
            <a:endParaRPr lang="en-US" sz="2400" dirty="0"/>
          </a:p>
          <a:p>
            <a:r>
              <a:rPr lang="en-US" sz="2400" dirty="0"/>
              <a:t>Human decisions</a:t>
            </a:r>
          </a:p>
          <a:p>
            <a:pPr lvl="1"/>
            <a:r>
              <a:rPr lang="en-US" sz="2400" dirty="0"/>
              <a:t>Able to use additional data</a:t>
            </a:r>
          </a:p>
          <a:p>
            <a:pPr lvl="1"/>
            <a:r>
              <a:rPr lang="en-US" sz="2400" dirty="0"/>
              <a:t>More explainable?</a:t>
            </a:r>
          </a:p>
        </p:txBody>
      </p:sp>
      <p:sp>
        <p:nvSpPr>
          <p:cNvPr id="5" name="Date Placeholder 4">
            <a:extLst>
              <a:ext uri="{FF2B5EF4-FFF2-40B4-BE49-F238E27FC236}">
                <a16:creationId xmlns:a16="http://schemas.microsoft.com/office/drawing/2014/main" id="{1838C1BB-5970-8303-1E74-E923B90A0508}"/>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D45951FF-96D8-3BB9-5E87-1EBF733AFC48}"/>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170687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9DE98-724D-CB02-2781-19E29B172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04B96-3951-0B49-521A-96C6F96C0F2F}"/>
              </a:ext>
            </a:extLst>
          </p:cNvPr>
          <p:cNvSpPr>
            <a:spLocks noGrp="1"/>
          </p:cNvSpPr>
          <p:nvPr>
            <p:ph type="ctrTitle"/>
          </p:nvPr>
        </p:nvSpPr>
        <p:spPr/>
        <p:txBody>
          <a:bodyPr/>
          <a:lstStyle/>
          <a:p>
            <a:r>
              <a:rPr lang="en-US" dirty="0"/>
              <a:t>Many Well-Documented Human Prediction Errors</a:t>
            </a:r>
          </a:p>
        </p:txBody>
      </p:sp>
      <p:sp>
        <p:nvSpPr>
          <p:cNvPr id="4" name="Text Placeholder 3">
            <a:extLst>
              <a:ext uri="{FF2B5EF4-FFF2-40B4-BE49-F238E27FC236}">
                <a16:creationId xmlns:a16="http://schemas.microsoft.com/office/drawing/2014/main" id="{86D13F06-0ADA-BF84-E444-1ACFC532E434}"/>
              </a:ext>
            </a:extLst>
          </p:cNvPr>
          <p:cNvSpPr>
            <a:spLocks noGrp="1"/>
          </p:cNvSpPr>
          <p:nvPr>
            <p:ph type="body" sz="quarter" idx="14"/>
          </p:nvPr>
        </p:nvSpPr>
        <p:spPr>
          <a:xfrm>
            <a:off x="1828800" y="1491343"/>
            <a:ext cx="3998563" cy="3837583"/>
          </a:xfrm>
        </p:spPr>
        <p:txBody>
          <a:bodyPr>
            <a:normAutofit/>
          </a:bodyPr>
          <a:lstStyle/>
          <a:p>
            <a:r>
              <a:rPr lang="en-US" sz="2400" dirty="0"/>
              <a:t>Representativeness</a:t>
            </a:r>
          </a:p>
          <a:p>
            <a:endParaRPr lang="en-US" sz="2400" dirty="0"/>
          </a:p>
          <a:p>
            <a:r>
              <a:rPr lang="en-US" sz="2400" dirty="0"/>
              <a:t>Conjunction Fallacy</a:t>
            </a:r>
          </a:p>
          <a:p>
            <a:endParaRPr lang="en-US" sz="2400" dirty="0"/>
          </a:p>
          <a:p>
            <a:r>
              <a:rPr lang="en-US" sz="2400" dirty="0"/>
              <a:t>Base Rate Fallacy</a:t>
            </a:r>
          </a:p>
          <a:p>
            <a:endParaRPr lang="en-US" sz="2400" dirty="0"/>
          </a:p>
          <a:p>
            <a:r>
              <a:rPr lang="en-US" sz="2400" dirty="0"/>
              <a:t>Confirmation Bias</a:t>
            </a:r>
          </a:p>
          <a:p>
            <a:endParaRPr lang="en-US" sz="2400" dirty="0"/>
          </a:p>
          <a:p>
            <a:r>
              <a:rPr lang="en-US" sz="2400" dirty="0"/>
              <a:t>Noisy Decisions</a:t>
            </a:r>
          </a:p>
          <a:p>
            <a:pPr lvl="1"/>
            <a:r>
              <a:rPr lang="en-US" sz="2400" dirty="0"/>
              <a:t>Mood, time of day, …</a:t>
            </a:r>
          </a:p>
        </p:txBody>
      </p:sp>
      <p:pic>
        <p:nvPicPr>
          <p:cNvPr id="7" name="Picture 6" descr="Four target diagrams illustrating accuracy, bias, and noise in measurement.">
            <a:extLst>
              <a:ext uri="{FF2B5EF4-FFF2-40B4-BE49-F238E27FC236}">
                <a16:creationId xmlns:a16="http://schemas.microsoft.com/office/drawing/2014/main" id="{B0D3DBD5-187A-2371-7B35-DBEC56B2F2CC}"/>
              </a:ext>
            </a:extLst>
          </p:cNvPr>
          <p:cNvPicPr>
            <a:picLocks noChangeAspect="1"/>
          </p:cNvPicPr>
          <p:nvPr/>
        </p:nvPicPr>
        <p:blipFill>
          <a:blip r:embed="rId3"/>
          <a:stretch>
            <a:fillRect/>
          </a:stretch>
        </p:blipFill>
        <p:spPr>
          <a:xfrm>
            <a:off x="5971650" y="1327236"/>
            <a:ext cx="3481173" cy="3860937"/>
          </a:xfrm>
          <a:prstGeom prst="rect">
            <a:avLst/>
          </a:prstGeom>
        </p:spPr>
      </p:pic>
      <p:sp>
        <p:nvSpPr>
          <p:cNvPr id="5" name="Date Placeholder 4">
            <a:extLst>
              <a:ext uri="{FF2B5EF4-FFF2-40B4-BE49-F238E27FC236}">
                <a16:creationId xmlns:a16="http://schemas.microsoft.com/office/drawing/2014/main" id="{CD0F30B7-27CC-932D-3439-2FDEE3E8F95E}"/>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2CBB22D8-074C-A9D7-FFBA-7661042160BB}"/>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2312027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72714-E82B-501E-1F74-A05B6E9036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8B0A6-4B1C-A7E7-AA4D-B18D207B8029}"/>
              </a:ext>
            </a:extLst>
          </p:cNvPr>
          <p:cNvSpPr>
            <a:spLocks noGrp="1"/>
          </p:cNvSpPr>
          <p:nvPr>
            <p:ph type="ctrTitle"/>
          </p:nvPr>
        </p:nvSpPr>
        <p:spPr/>
        <p:txBody>
          <a:bodyPr/>
          <a:lstStyle/>
          <a:p>
            <a:r>
              <a:rPr lang="en-US" dirty="0"/>
              <a:t>Evaluating Algorithm Decisions</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21D92011-6BE3-83EF-A6B9-FD57AE8A0B0B}"/>
                  </a:ext>
                </a:extLst>
              </p:cNvPr>
              <p:cNvSpPr>
                <a:spLocks noGrp="1"/>
              </p:cNvSpPr>
              <p:nvPr>
                <p:ph type="body" sz="quarter" idx="14"/>
              </p:nvPr>
            </p:nvSpPr>
            <p:spPr>
              <a:xfrm>
                <a:off x="1957778" y="1447991"/>
                <a:ext cx="4333293" cy="3617786"/>
              </a:xfrm>
            </p:spPr>
            <p:txBody>
              <a:bodyPr>
                <a:normAutofit/>
              </a:bodyPr>
              <a:lstStyle/>
              <a:p>
                <a:r>
                  <a:rPr lang="en-US" sz="2000" dirty="0"/>
                  <a:t>For many values of </a:t>
                </a:r>
                <a14:m>
                  <m:oMath xmlns:m="http://schemas.openxmlformats.org/officeDocument/2006/math">
                    <m:r>
                      <a:rPr lang="en-US" sz="2000" b="0" i="1" smtClean="0">
                        <a:latin typeface="Cambria Math" panose="02040503050406030204" pitchFamily="18" charset="0"/>
                      </a:rPr>
                      <m:t>𝜏</m:t>
                    </m:r>
                  </m:oMath>
                </a14:m>
                <a:r>
                  <a:rPr lang="en-US" sz="2000" dirty="0"/>
                  <a:t>, plot:</a:t>
                </a:r>
              </a:p>
              <a:p>
                <a:endParaRPr lang="en-US" sz="2000" dirty="0"/>
              </a:p>
              <a:p>
                <a:r>
                  <a:rPr lang="en-US" sz="2000" dirty="0"/>
                  <a:t>x-axis: Share of defendants with </a:t>
                </a:r>
                <a14:m>
                  <m:oMath xmlns:m="http://schemas.openxmlformats.org/officeDocument/2006/math">
                    <m:func>
                      <m:funcPr>
                        <m:ctrlPr>
                          <a:rPr lang="en-US" sz="2000" b="0" i="1" smtClean="0">
                            <a:latin typeface="Cambria Math" panose="02040503050406030204" pitchFamily="18" charset="0"/>
                          </a:rPr>
                        </m:ctrlPr>
                      </m:funcPr>
                      <m:fName>
                        <m:r>
                          <m:rPr>
                            <m:sty m:val="p"/>
                          </m:rPr>
                          <a:rPr lang="en-US" sz="2000" b="0" i="0" smtClean="0">
                            <a:latin typeface="Cambria Math" panose="02040503050406030204" pitchFamily="18" charset="0"/>
                          </a:rPr>
                          <m:t>Pr</m:t>
                        </m:r>
                      </m:fName>
                      <m:e>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𝑋</m:t>
                                </m:r>
                              </m:e>
                              <m:sub>
                                <m:r>
                                  <a:rPr lang="en-US" sz="2000" b="0" i="1" smtClean="0">
                                    <a:latin typeface="Cambria Math" panose="02040503050406030204" pitchFamily="18" charset="0"/>
                                  </a:rPr>
                                  <m:t>𝑖</m:t>
                                </m:r>
                              </m:sub>
                            </m:sSub>
                          </m:e>
                        </m:d>
                      </m:e>
                    </m:func>
                    <m:r>
                      <a:rPr lang="en-US" sz="2000" b="0" i="1" smtClean="0">
                        <a:latin typeface="Cambria Math" panose="02040503050406030204" pitchFamily="18" charset="0"/>
                      </a:rPr>
                      <m:t>&lt;</m:t>
                    </m:r>
                    <m:r>
                      <a:rPr lang="en-US" sz="2000" b="0" i="1" smtClean="0">
                        <a:latin typeface="Cambria Math" panose="02040503050406030204" pitchFamily="18" charset="0"/>
                      </a:rPr>
                      <m:t>𝜏</m:t>
                    </m:r>
                  </m:oMath>
                </a14:m>
                <a:endParaRPr lang="en-US" sz="2000" b="0" dirty="0"/>
              </a:p>
              <a:p>
                <a:pPr lvl="1"/>
                <a:endParaRPr lang="en-US" sz="2000" dirty="0"/>
              </a:p>
              <a:p>
                <a:r>
                  <a:rPr lang="en-US" sz="2000" dirty="0"/>
                  <a:t>y-axis: Average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𝑌</m:t>
                        </m:r>
                      </m:e>
                      <m:sub>
                        <m:r>
                          <a:rPr lang="en-US" sz="2000" b="0" i="1" smtClean="0">
                            <a:latin typeface="Cambria Math" panose="02040503050406030204" pitchFamily="18" charset="0"/>
                          </a:rPr>
                          <m:t>𝑖</m:t>
                        </m:r>
                      </m:sub>
                    </m:sSub>
                  </m:oMath>
                </a14:m>
                <a:r>
                  <a:rPr lang="en-US" sz="2000" dirty="0"/>
                  <a:t> among released</a:t>
                </a:r>
              </a:p>
              <a:p>
                <a:endParaRPr lang="en-US" sz="2000" dirty="0"/>
              </a:p>
              <a:p>
                <a:r>
                  <a:rPr lang="en-US" sz="2000" dirty="0"/>
                  <a:t>Question: Why is this convex?</a:t>
                </a:r>
              </a:p>
              <a:p>
                <a:endParaRPr lang="en-US" sz="2000" dirty="0"/>
              </a:p>
              <a:p>
                <a:r>
                  <a:rPr lang="en-US" sz="2000" dirty="0"/>
                  <a:t>Is this better / worse than humans?</a:t>
                </a:r>
              </a:p>
            </p:txBody>
          </p:sp>
        </mc:Choice>
        <mc:Fallback xmlns="">
          <p:sp>
            <p:nvSpPr>
              <p:cNvPr id="10" name="Text Placeholder 9">
                <a:extLst>
                  <a:ext uri="{FF2B5EF4-FFF2-40B4-BE49-F238E27FC236}">
                    <a16:creationId xmlns:a16="http://schemas.microsoft.com/office/drawing/2014/main" id="{21D92011-6BE3-83EF-A6B9-FD57AE8A0B0B}"/>
                  </a:ext>
                </a:extLst>
              </p:cNvPr>
              <p:cNvSpPr>
                <a:spLocks noGrp="1" noRot="1" noChangeAspect="1" noMove="1" noResize="1" noEditPoints="1" noAdjustHandles="1" noChangeArrowheads="1" noChangeShapeType="1" noTextEdit="1"/>
              </p:cNvSpPr>
              <p:nvPr>
                <p:ph type="body" sz="quarter" idx="14"/>
              </p:nvPr>
            </p:nvSpPr>
            <p:spPr>
              <a:xfrm>
                <a:off x="1957778" y="1447991"/>
                <a:ext cx="4333293" cy="3617786"/>
              </a:xfrm>
              <a:blipFill>
                <a:blip r:embed="rId3"/>
                <a:stretch>
                  <a:fillRect l="-3216" t="-2105"/>
                </a:stretch>
              </a:blipFill>
            </p:spPr>
            <p:txBody>
              <a:bodyPr/>
              <a:lstStyle/>
              <a:p>
                <a:r>
                  <a:rPr lang="en-US">
                    <a:noFill/>
                  </a:rPr>
                  <a:t> </a:t>
                </a:r>
              </a:p>
            </p:txBody>
          </p:sp>
        </mc:Fallback>
      </mc:AlternateContent>
      <p:pic>
        <p:nvPicPr>
          <p:cNvPr id="19" name="Picture 18" descr="Line graph showing crime rate rising non-linearly as the release rate increases from 0 to 1, with the curve steepening sharply at high release rates and a point labeled “Algorithm” near the upper right portion of the curve.">
            <a:extLst>
              <a:ext uri="{FF2B5EF4-FFF2-40B4-BE49-F238E27FC236}">
                <a16:creationId xmlns:a16="http://schemas.microsoft.com/office/drawing/2014/main" id="{F61FB798-3E28-8A73-4B8D-F20188A01D73}"/>
              </a:ext>
            </a:extLst>
          </p:cNvPr>
          <p:cNvPicPr>
            <a:picLocks noChangeAspect="1"/>
          </p:cNvPicPr>
          <p:nvPr/>
        </p:nvPicPr>
        <p:blipFill>
          <a:blip r:embed="rId4"/>
          <a:stretch>
            <a:fillRect/>
          </a:stretch>
        </p:blipFill>
        <p:spPr>
          <a:xfrm>
            <a:off x="6624945" y="1707384"/>
            <a:ext cx="4917683" cy="3617786"/>
          </a:xfrm>
          <a:prstGeom prst="rect">
            <a:avLst/>
          </a:prstGeom>
        </p:spPr>
      </p:pic>
      <p:sp>
        <p:nvSpPr>
          <p:cNvPr id="21" name="TextBox 20">
            <a:extLst>
              <a:ext uri="{FF2B5EF4-FFF2-40B4-BE49-F238E27FC236}">
                <a16:creationId xmlns:a16="http://schemas.microsoft.com/office/drawing/2014/main" id="{0BB9F062-A6D4-93B8-C471-8FB9D5FD60DE}"/>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23BCF007-D4B6-5403-5866-944DE02473E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E5759100-DBE6-84E5-30E0-EBF436BE5303}"/>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141750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AA0C8-37C9-1485-96DA-5F61C6157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A01C0-3162-9D27-F6FA-5FB81DE3D6CB}"/>
              </a:ext>
            </a:extLst>
          </p:cNvPr>
          <p:cNvSpPr>
            <a:spLocks noGrp="1"/>
          </p:cNvSpPr>
          <p:nvPr>
            <p:ph type="ctrTitle"/>
          </p:nvPr>
        </p:nvSpPr>
        <p:spPr/>
        <p:txBody>
          <a:bodyPr/>
          <a:lstStyle/>
          <a:p>
            <a:r>
              <a:rPr lang="en-US" dirty="0"/>
              <a:t>Evaluating Algorithm Decisions, Continued</a:t>
            </a:r>
          </a:p>
        </p:txBody>
      </p:sp>
      <p:sp>
        <p:nvSpPr>
          <p:cNvPr id="10" name="Text Placeholder 9">
            <a:extLst>
              <a:ext uri="{FF2B5EF4-FFF2-40B4-BE49-F238E27FC236}">
                <a16:creationId xmlns:a16="http://schemas.microsoft.com/office/drawing/2014/main" id="{337A1F74-B9BD-E13C-0C47-E73E6DFF81E7}"/>
              </a:ext>
            </a:extLst>
          </p:cNvPr>
          <p:cNvSpPr>
            <a:spLocks noGrp="1"/>
          </p:cNvSpPr>
          <p:nvPr>
            <p:ph type="body" sz="quarter" idx="14"/>
          </p:nvPr>
        </p:nvSpPr>
        <p:spPr>
          <a:xfrm>
            <a:off x="1957778" y="1447991"/>
            <a:ext cx="4333293" cy="3617786"/>
          </a:xfrm>
        </p:spPr>
        <p:txBody>
          <a:bodyPr>
            <a:normAutofit/>
          </a:bodyPr>
          <a:lstStyle/>
          <a:p>
            <a:r>
              <a:rPr lang="en-US" sz="2000" dirty="0"/>
              <a:t>Add performance of human judge</a:t>
            </a:r>
          </a:p>
          <a:p>
            <a:endParaRPr lang="en-US" sz="2000" dirty="0"/>
          </a:p>
          <a:p>
            <a:r>
              <a:rPr lang="en-US" sz="2000" dirty="0"/>
              <a:t>Keep jail population fixed</a:t>
            </a:r>
          </a:p>
          <a:p>
            <a:pPr lvl="1"/>
            <a:r>
              <a:rPr lang="en-US" sz="2000" dirty="0"/>
              <a:t>Reduce crime rate by 24%</a:t>
            </a:r>
          </a:p>
          <a:p>
            <a:endParaRPr lang="en-US" sz="2000" dirty="0"/>
          </a:p>
          <a:p>
            <a:r>
              <a:rPr lang="en-US" sz="2000" dirty="0"/>
              <a:t>Keep crime rate fixed, reduce jail population by 40%!</a:t>
            </a:r>
          </a:p>
          <a:p>
            <a:endParaRPr lang="en-US" sz="2000" dirty="0"/>
          </a:p>
          <a:p>
            <a:r>
              <a:rPr lang="en-US" sz="2000" dirty="0"/>
              <a:t>Algorithm seems to improve on human decisions!</a:t>
            </a:r>
          </a:p>
        </p:txBody>
      </p:sp>
      <p:pic>
        <p:nvPicPr>
          <p:cNvPr id="7" name="Picture 6" descr="Line graph showing crime rate increasing with release rate. Vertical and horizontal guide lines illustrate the differences in release rates and resulting crime rates between judge decisions and algorithmic recommendations.&#10;">
            <a:extLst>
              <a:ext uri="{FF2B5EF4-FFF2-40B4-BE49-F238E27FC236}">
                <a16:creationId xmlns:a16="http://schemas.microsoft.com/office/drawing/2014/main" id="{F1D11711-462F-48FC-4E25-5A59BE93B67C}"/>
              </a:ext>
            </a:extLst>
          </p:cNvPr>
          <p:cNvPicPr>
            <a:picLocks noChangeAspect="1"/>
          </p:cNvPicPr>
          <p:nvPr/>
        </p:nvPicPr>
        <p:blipFill>
          <a:blip r:embed="rId3"/>
          <a:stretch>
            <a:fillRect/>
          </a:stretch>
        </p:blipFill>
        <p:spPr>
          <a:xfrm>
            <a:off x="6096000" y="1159001"/>
            <a:ext cx="5558028" cy="4195766"/>
          </a:xfrm>
          <a:prstGeom prst="rect">
            <a:avLst/>
          </a:prstGeom>
        </p:spPr>
      </p:pic>
      <p:sp>
        <p:nvSpPr>
          <p:cNvPr id="9" name="TextBox 8">
            <a:extLst>
              <a:ext uri="{FF2B5EF4-FFF2-40B4-BE49-F238E27FC236}">
                <a16:creationId xmlns:a16="http://schemas.microsoft.com/office/drawing/2014/main" id="{35B30756-DE10-3AF4-A6F4-FBB7CD85118E}"/>
              </a:ext>
            </a:extLst>
          </p:cNvPr>
          <p:cNvSpPr txBox="1"/>
          <p:nvPr/>
        </p:nvSpPr>
        <p:spPr>
          <a:xfrm>
            <a:off x="5640779" y="5590167"/>
            <a:ext cx="3104761" cy="369332"/>
          </a:xfrm>
          <a:prstGeom prst="rect">
            <a:avLst/>
          </a:prstGeom>
          <a:noFill/>
        </p:spPr>
        <p:txBody>
          <a:bodyPr wrap="none" rtlCol="0">
            <a:spAutoFit/>
          </a:bodyPr>
          <a:lstStyle/>
          <a:p>
            <a:r>
              <a:rPr lang="en-US" dirty="0"/>
              <a:t>Source: Kleinberg et al (2018)</a:t>
            </a:r>
          </a:p>
        </p:txBody>
      </p:sp>
      <p:sp>
        <p:nvSpPr>
          <p:cNvPr id="5" name="Date Placeholder 4">
            <a:extLst>
              <a:ext uri="{FF2B5EF4-FFF2-40B4-BE49-F238E27FC236}">
                <a16:creationId xmlns:a16="http://schemas.microsoft.com/office/drawing/2014/main" id="{CAE92B0F-E7DB-7E07-BF21-30EF97D0D436}"/>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0E00B879-CFAA-C40E-AE06-6FF17A869304}"/>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427790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C24C-FC73-8EBA-BC85-BB6B36E9F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0B342-5DA6-EF66-DC0F-FED11D6367CC}"/>
              </a:ext>
            </a:extLst>
          </p:cNvPr>
          <p:cNvSpPr>
            <a:spLocks noGrp="1"/>
          </p:cNvSpPr>
          <p:nvPr>
            <p:ph type="ctrTitle"/>
          </p:nvPr>
        </p:nvSpPr>
        <p:spPr/>
        <p:txBody>
          <a:bodyPr/>
          <a:lstStyle/>
          <a:p>
            <a:r>
              <a:rPr lang="en-US" dirty="0"/>
              <a:t>Promise of Algorithmic Decision Making</a:t>
            </a:r>
          </a:p>
        </p:txBody>
      </p:sp>
      <mc:AlternateContent xmlns:mc="http://schemas.openxmlformats.org/markup-compatibility/2006" xmlns:a14="http://schemas.microsoft.com/office/drawing/2010/main">
        <mc:Choice Requires="a14">
          <p:sp>
            <p:nvSpPr>
              <p:cNvPr id="10" name="Text Placeholder 9">
                <a:extLst>
                  <a:ext uri="{FF2B5EF4-FFF2-40B4-BE49-F238E27FC236}">
                    <a16:creationId xmlns:a16="http://schemas.microsoft.com/office/drawing/2014/main" id="{184498A4-7B42-8D03-281C-C22DCDB0EBC8}"/>
                  </a:ext>
                </a:extLst>
              </p:cNvPr>
              <p:cNvSpPr>
                <a:spLocks noGrp="1"/>
              </p:cNvSpPr>
              <p:nvPr>
                <p:ph type="body" sz="quarter" idx="14"/>
              </p:nvPr>
            </p:nvSpPr>
            <p:spPr>
              <a:xfrm>
                <a:off x="1957778" y="1447991"/>
                <a:ext cx="8850430" cy="3617786"/>
              </a:xfrm>
            </p:spPr>
            <p:txBody>
              <a:bodyPr>
                <a:normAutofit/>
              </a:bodyPr>
              <a:lstStyle/>
              <a:p>
                <a:r>
                  <a:rPr lang="en-US" sz="2000" dirty="0"/>
                  <a:t>Machines can learn flexible relationships to approximate true </a:t>
                </a:r>
                <a14:m>
                  <m:oMath xmlns:m="http://schemas.openxmlformats.org/officeDocument/2006/math">
                    <m:r>
                      <a:rPr lang="en-US" sz="2000" b="0" i="1" smtClean="0">
                        <a:latin typeface="Cambria Math" panose="02040503050406030204" pitchFamily="18" charset="0"/>
                      </a:rPr>
                      <m:t>𝐸</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oMath>
                </a14:m>
                <a:endParaRPr lang="en-US" sz="2000" dirty="0"/>
              </a:p>
              <a:p>
                <a:pPr lvl="1"/>
                <a:r>
                  <a:rPr lang="en-US" sz="2000" dirty="0"/>
                  <a:t>Humans approximate conditional expectation with imperfect models</a:t>
                </a:r>
              </a:p>
              <a:p>
                <a:pPr lvl="1"/>
                <a:r>
                  <a:rPr lang="en-US" sz="2000" dirty="0"/>
                  <a:t>Humans have cognitive noise resulting in imperfect decisions</a:t>
                </a:r>
              </a:p>
              <a:p>
                <a:endParaRPr lang="en-US" sz="2000" dirty="0"/>
              </a:p>
              <a:p>
                <a:r>
                  <a:rPr lang="en-US" sz="2000" dirty="0"/>
                  <a:t>Machine decisions are scalable</a:t>
                </a:r>
              </a:p>
              <a:p>
                <a:pPr lvl="1"/>
                <a:r>
                  <a:rPr lang="en-US" sz="2000" dirty="0"/>
                  <a:t>Marginal cost of machine decision ~$0</a:t>
                </a:r>
              </a:p>
              <a:p>
                <a:pPr lvl="1"/>
                <a:r>
                  <a:rPr lang="en-US" sz="2000" dirty="0"/>
                  <a:t>Marginal cost of human radiologist assessment &gt;$10</a:t>
                </a:r>
              </a:p>
              <a:p>
                <a:endParaRPr lang="en-US" sz="2000" dirty="0"/>
              </a:p>
              <a:p>
                <a:r>
                  <a:rPr lang="en-US" sz="2000" dirty="0"/>
                  <a:t>Lots of opportunities to scale expertise using ML</a:t>
                </a:r>
              </a:p>
            </p:txBody>
          </p:sp>
        </mc:Choice>
        <mc:Fallback xmlns="">
          <p:sp>
            <p:nvSpPr>
              <p:cNvPr id="10" name="Text Placeholder 9">
                <a:extLst>
                  <a:ext uri="{FF2B5EF4-FFF2-40B4-BE49-F238E27FC236}">
                    <a16:creationId xmlns:a16="http://schemas.microsoft.com/office/drawing/2014/main" id="{184498A4-7B42-8D03-281C-C22DCDB0EBC8}"/>
                  </a:ext>
                </a:extLst>
              </p:cNvPr>
              <p:cNvSpPr>
                <a:spLocks noGrp="1" noRot="1" noChangeAspect="1" noMove="1" noResize="1" noEditPoints="1" noAdjustHandles="1" noChangeArrowheads="1" noChangeShapeType="1" noTextEdit="1"/>
              </p:cNvSpPr>
              <p:nvPr>
                <p:ph type="body" sz="quarter" idx="14"/>
              </p:nvPr>
            </p:nvSpPr>
            <p:spPr>
              <a:xfrm>
                <a:off x="1957778" y="1447991"/>
                <a:ext cx="8850430" cy="3617786"/>
              </a:xfrm>
              <a:blipFill>
                <a:blip r:embed="rId3"/>
                <a:stretch>
                  <a:fillRect l="-1576" t="-2105"/>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6A57E14-14BD-E79F-1993-B5808BDA41EA}"/>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C12951C1-5B9C-D271-A57A-C5CBA5C95646}"/>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3549349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247BE-0D4D-2B98-DA06-DF13D4351B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371F71-A76D-37A5-CD0F-BAA2C4DADF34}"/>
              </a:ext>
            </a:extLst>
          </p:cNvPr>
          <p:cNvSpPr>
            <a:spLocks noGrp="1"/>
          </p:cNvSpPr>
          <p:nvPr>
            <p:ph type="ctrTitle"/>
          </p:nvPr>
        </p:nvSpPr>
        <p:spPr>
          <a:xfrm>
            <a:off x="2647199" y="1501742"/>
            <a:ext cx="7300940" cy="1329595"/>
          </a:xfrm>
        </p:spPr>
        <p:txBody>
          <a:bodyPr/>
          <a:lstStyle/>
          <a:p>
            <a:r>
              <a:rPr lang="en-US" dirty="0"/>
              <a:t>Why recommender systems?</a:t>
            </a:r>
          </a:p>
        </p:txBody>
      </p:sp>
      <p:sp>
        <p:nvSpPr>
          <p:cNvPr id="4" name="Date Placeholder 3">
            <a:extLst>
              <a:ext uri="{FF2B5EF4-FFF2-40B4-BE49-F238E27FC236}">
                <a16:creationId xmlns:a16="http://schemas.microsoft.com/office/drawing/2014/main" id="{F1AD917A-6679-72F0-8215-5D633802BD9F}"/>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77955F4F-2215-F52C-4775-487846C49236}"/>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64556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E4B8A-CF44-5948-E501-D16D55E6B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31AB0-C739-989E-617E-E7F856B6F95D}"/>
              </a:ext>
            </a:extLst>
          </p:cNvPr>
          <p:cNvSpPr>
            <a:spLocks noGrp="1"/>
          </p:cNvSpPr>
          <p:nvPr>
            <p:ph type="ctrTitle"/>
          </p:nvPr>
        </p:nvSpPr>
        <p:spPr/>
        <p:txBody>
          <a:bodyPr/>
          <a:lstStyle/>
          <a:p>
            <a:r>
              <a:rPr lang="en-US" dirty="0"/>
              <a:t>Recommender Systems are Everywhere</a:t>
            </a:r>
          </a:p>
        </p:txBody>
      </p:sp>
      <p:pic>
        <p:nvPicPr>
          <p:cNvPr id="8" name="Picture 7" descr="Screenshot of the Netflix homepage displaying rows of recommended content.">
            <a:extLst>
              <a:ext uri="{FF2B5EF4-FFF2-40B4-BE49-F238E27FC236}">
                <a16:creationId xmlns:a16="http://schemas.microsoft.com/office/drawing/2014/main" id="{EDB8BA0B-4889-85E7-6428-9C216418FD23}"/>
              </a:ext>
            </a:extLst>
          </p:cNvPr>
          <p:cNvPicPr>
            <a:picLocks noChangeAspect="1"/>
          </p:cNvPicPr>
          <p:nvPr/>
        </p:nvPicPr>
        <p:blipFill>
          <a:blip r:embed="rId3"/>
          <a:stretch>
            <a:fillRect/>
          </a:stretch>
        </p:blipFill>
        <p:spPr>
          <a:xfrm>
            <a:off x="1828800" y="1169049"/>
            <a:ext cx="7772400" cy="2653780"/>
          </a:xfrm>
          <a:prstGeom prst="rect">
            <a:avLst/>
          </a:prstGeom>
        </p:spPr>
      </p:pic>
      <p:pic>
        <p:nvPicPr>
          <p:cNvPr id="9" name="Picture 8" descr="Screenshot of an Amazon recommendation carousel titled “Customers who viewed this item also viewed,” displaying a horizontal row of wireless computer mice in various colors and styles, each with star ratings, prices, and Prime eligibility.">
            <a:extLst>
              <a:ext uri="{FF2B5EF4-FFF2-40B4-BE49-F238E27FC236}">
                <a16:creationId xmlns:a16="http://schemas.microsoft.com/office/drawing/2014/main" id="{9D5A6E1B-D407-4823-4C51-3D1D997615FF}"/>
              </a:ext>
            </a:extLst>
          </p:cNvPr>
          <p:cNvPicPr>
            <a:picLocks noChangeAspect="1"/>
          </p:cNvPicPr>
          <p:nvPr/>
        </p:nvPicPr>
        <p:blipFill>
          <a:blip r:embed="rId4"/>
          <a:stretch>
            <a:fillRect/>
          </a:stretch>
        </p:blipFill>
        <p:spPr>
          <a:xfrm>
            <a:off x="4206617" y="3976170"/>
            <a:ext cx="6532918" cy="1762118"/>
          </a:xfrm>
          <a:prstGeom prst="rect">
            <a:avLst/>
          </a:prstGeom>
        </p:spPr>
      </p:pic>
      <p:sp>
        <p:nvSpPr>
          <p:cNvPr id="10" name="TextBox 9">
            <a:extLst>
              <a:ext uri="{FF2B5EF4-FFF2-40B4-BE49-F238E27FC236}">
                <a16:creationId xmlns:a16="http://schemas.microsoft.com/office/drawing/2014/main" id="{88634C57-6E48-F7ED-92EF-9B8EAA47013B}"/>
              </a:ext>
            </a:extLst>
          </p:cNvPr>
          <p:cNvSpPr txBox="1"/>
          <p:nvPr/>
        </p:nvSpPr>
        <p:spPr>
          <a:xfrm>
            <a:off x="5425998" y="5825625"/>
            <a:ext cx="3277244" cy="307777"/>
          </a:xfrm>
          <a:prstGeom prst="rect">
            <a:avLst/>
          </a:prstGeom>
          <a:noFill/>
        </p:spPr>
        <p:txBody>
          <a:bodyPr wrap="none" rtlCol="0">
            <a:spAutoFit/>
          </a:bodyPr>
          <a:lstStyle/>
          <a:p>
            <a:r>
              <a:rPr lang="en-US" sz="1400" dirty="0"/>
              <a:t>Based off slides provided by Shan Huang</a:t>
            </a:r>
          </a:p>
        </p:txBody>
      </p:sp>
      <p:sp>
        <p:nvSpPr>
          <p:cNvPr id="5" name="Date Placeholder 4">
            <a:extLst>
              <a:ext uri="{FF2B5EF4-FFF2-40B4-BE49-F238E27FC236}">
                <a16:creationId xmlns:a16="http://schemas.microsoft.com/office/drawing/2014/main" id="{83C82E46-107F-988C-7DD2-377A6AA16A88}"/>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9354A5E1-7DB6-41BB-9903-5C9E46142A07}"/>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391149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BB54-9361-C530-BC3C-82C0C3ABF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8181F-4A46-EB8D-FE69-266A5048FAAA}"/>
              </a:ext>
            </a:extLst>
          </p:cNvPr>
          <p:cNvSpPr>
            <a:spLocks noGrp="1"/>
          </p:cNvSpPr>
          <p:nvPr>
            <p:ph type="ctrTitle"/>
          </p:nvPr>
        </p:nvSpPr>
        <p:spPr/>
        <p:txBody>
          <a:bodyPr/>
          <a:lstStyle/>
          <a:p>
            <a:r>
              <a:rPr lang="en-US" dirty="0"/>
              <a:t>Recommender Systems are Everywhere, Part 2</a:t>
            </a:r>
          </a:p>
        </p:txBody>
      </p:sp>
      <p:pic>
        <p:nvPicPr>
          <p:cNvPr id="7" name="Picture 6" descr="Screenshot of a Facebook home page showing a user’s News Feed.">
            <a:extLst>
              <a:ext uri="{FF2B5EF4-FFF2-40B4-BE49-F238E27FC236}">
                <a16:creationId xmlns:a16="http://schemas.microsoft.com/office/drawing/2014/main" id="{ECAC8EFD-2398-5555-FBAD-5F706D40B73A}"/>
              </a:ext>
            </a:extLst>
          </p:cNvPr>
          <p:cNvPicPr>
            <a:picLocks noChangeAspect="1"/>
          </p:cNvPicPr>
          <p:nvPr/>
        </p:nvPicPr>
        <p:blipFill>
          <a:blip r:embed="rId3"/>
          <a:stretch>
            <a:fillRect/>
          </a:stretch>
        </p:blipFill>
        <p:spPr>
          <a:xfrm>
            <a:off x="3598949" y="1201301"/>
            <a:ext cx="4994101" cy="4455397"/>
          </a:xfrm>
          <a:prstGeom prst="rect">
            <a:avLst/>
          </a:prstGeom>
        </p:spPr>
      </p:pic>
      <p:sp>
        <p:nvSpPr>
          <p:cNvPr id="10" name="TextBox 9">
            <a:extLst>
              <a:ext uri="{FF2B5EF4-FFF2-40B4-BE49-F238E27FC236}">
                <a16:creationId xmlns:a16="http://schemas.microsoft.com/office/drawing/2014/main" id="{79A87147-8AD7-BC9E-8B32-635D5651CA0C}"/>
              </a:ext>
            </a:extLst>
          </p:cNvPr>
          <p:cNvSpPr txBox="1"/>
          <p:nvPr/>
        </p:nvSpPr>
        <p:spPr>
          <a:xfrm>
            <a:off x="5500643" y="6445373"/>
            <a:ext cx="3277244" cy="307777"/>
          </a:xfrm>
          <a:prstGeom prst="rect">
            <a:avLst/>
          </a:prstGeom>
          <a:noFill/>
        </p:spPr>
        <p:txBody>
          <a:bodyPr wrap="none" rtlCol="0">
            <a:spAutoFit/>
          </a:bodyPr>
          <a:lstStyle/>
          <a:p>
            <a:r>
              <a:rPr lang="en-US" sz="1400" dirty="0"/>
              <a:t>Based off slides provided by Shan Huang</a:t>
            </a:r>
          </a:p>
        </p:txBody>
      </p:sp>
      <p:sp>
        <p:nvSpPr>
          <p:cNvPr id="5" name="Date Placeholder 4">
            <a:extLst>
              <a:ext uri="{FF2B5EF4-FFF2-40B4-BE49-F238E27FC236}">
                <a16:creationId xmlns:a16="http://schemas.microsoft.com/office/drawing/2014/main" id="{A13B4CB4-3111-115C-BFFC-18363AA955A0}"/>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7CE8769-F5FB-0A8F-8453-9E5CE9B4E892}"/>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385468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815FF-C7EB-69C2-2B6E-BE7A5892B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803E0-BD94-BA60-6A9B-49CAF88F5F71}"/>
              </a:ext>
            </a:extLst>
          </p:cNvPr>
          <p:cNvSpPr>
            <a:spLocks noGrp="1"/>
          </p:cNvSpPr>
          <p:nvPr>
            <p:ph type="ctrTitle"/>
          </p:nvPr>
        </p:nvSpPr>
        <p:spPr/>
        <p:txBody>
          <a:bodyPr/>
          <a:lstStyle/>
          <a:p>
            <a:r>
              <a:rPr lang="en-US" dirty="0"/>
              <a:t>Recommender Systems are Everywhere, Part 3</a:t>
            </a:r>
          </a:p>
        </p:txBody>
      </p:sp>
      <p:pic>
        <p:nvPicPr>
          <p:cNvPr id="12" name="Picture 11" descr="Slide with a pink-to-orange gradient background displaying the Tinder logo and text that reads: “Personalized Recommendations at Tinder — The TinVec Approach.” The presenter’s name, Steve Liu, Chief Scientist, appears at the bottom.">
            <a:extLst>
              <a:ext uri="{FF2B5EF4-FFF2-40B4-BE49-F238E27FC236}">
                <a16:creationId xmlns:a16="http://schemas.microsoft.com/office/drawing/2014/main" id="{A5B96902-2B81-BD3E-E214-CB7BD149DB65}"/>
              </a:ext>
            </a:extLst>
          </p:cNvPr>
          <p:cNvPicPr>
            <a:picLocks noChangeAspect="1"/>
          </p:cNvPicPr>
          <p:nvPr/>
        </p:nvPicPr>
        <p:blipFill>
          <a:blip r:embed="rId3"/>
          <a:stretch>
            <a:fillRect/>
          </a:stretch>
        </p:blipFill>
        <p:spPr>
          <a:xfrm>
            <a:off x="3596640" y="1346200"/>
            <a:ext cx="4998720" cy="4165600"/>
          </a:xfrm>
          <a:prstGeom prst="rect">
            <a:avLst/>
          </a:prstGeom>
        </p:spPr>
      </p:pic>
      <p:sp>
        <p:nvSpPr>
          <p:cNvPr id="5" name="Date Placeholder 4">
            <a:extLst>
              <a:ext uri="{FF2B5EF4-FFF2-40B4-BE49-F238E27FC236}">
                <a16:creationId xmlns:a16="http://schemas.microsoft.com/office/drawing/2014/main" id="{0CC64894-9474-F2AB-6A47-0B5C5A53D36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11A61363-C923-146B-CDE7-33105A95FB20}"/>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4214122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764B3-ABA7-6DD6-095A-AF9DB8E52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3B62E-D9C3-8A2E-1718-9BEB18659003}"/>
              </a:ext>
            </a:extLst>
          </p:cNvPr>
          <p:cNvSpPr>
            <a:spLocks noGrp="1"/>
          </p:cNvSpPr>
          <p:nvPr>
            <p:ph type="ctrTitle"/>
          </p:nvPr>
        </p:nvSpPr>
        <p:spPr/>
        <p:txBody>
          <a:bodyPr/>
          <a:lstStyle/>
          <a:p>
            <a:r>
              <a:rPr lang="en-US" dirty="0"/>
              <a:t>Recommender Systems are Everywhere, Part 4</a:t>
            </a:r>
          </a:p>
        </p:txBody>
      </p:sp>
      <p:sp>
        <p:nvSpPr>
          <p:cNvPr id="4" name="Text Placeholder 3">
            <a:extLst>
              <a:ext uri="{FF2B5EF4-FFF2-40B4-BE49-F238E27FC236}">
                <a16:creationId xmlns:a16="http://schemas.microsoft.com/office/drawing/2014/main" id="{1114276D-A4BC-6603-0D8C-275C4E4E0F96}"/>
              </a:ext>
            </a:extLst>
          </p:cNvPr>
          <p:cNvSpPr>
            <a:spLocks noGrp="1"/>
          </p:cNvSpPr>
          <p:nvPr>
            <p:ph type="body" sz="quarter" idx="14"/>
          </p:nvPr>
        </p:nvSpPr>
        <p:spPr>
          <a:xfrm>
            <a:off x="1828800" y="1491343"/>
            <a:ext cx="8755380" cy="3837583"/>
          </a:xfrm>
        </p:spPr>
        <p:txBody>
          <a:bodyPr>
            <a:normAutofit lnSpcReduction="10000"/>
          </a:bodyPr>
          <a:lstStyle/>
          <a:p>
            <a:r>
              <a:rPr lang="en-US" sz="2400" dirty="0"/>
              <a:t>Recommender systems curate items for users</a:t>
            </a:r>
          </a:p>
          <a:p>
            <a:pPr lvl="1"/>
            <a:r>
              <a:rPr lang="en-US" sz="2400" dirty="0"/>
              <a:t>Could be content, people, products, jobs, …</a:t>
            </a:r>
          </a:p>
          <a:p>
            <a:endParaRPr lang="en-US" sz="2400" dirty="0"/>
          </a:p>
          <a:p>
            <a:r>
              <a:rPr lang="en-US" sz="2400" dirty="0"/>
              <a:t>Question: Why are recommender systems present in the digital economy?</a:t>
            </a:r>
          </a:p>
          <a:p>
            <a:endParaRPr lang="en-US" sz="2400" dirty="0"/>
          </a:p>
          <a:p>
            <a:r>
              <a:rPr lang="en-US" sz="2400" dirty="0"/>
              <a:t>Information overload</a:t>
            </a:r>
          </a:p>
          <a:p>
            <a:pPr lvl="1"/>
            <a:r>
              <a:rPr lang="en-US" sz="2400" dirty="0"/>
              <a:t>Too many items</a:t>
            </a:r>
          </a:p>
          <a:p>
            <a:pPr lvl="1"/>
            <a:r>
              <a:rPr lang="en-US" sz="2400" dirty="0"/>
              <a:t>Too much information for each item</a:t>
            </a:r>
          </a:p>
          <a:p>
            <a:pPr lvl="1"/>
            <a:r>
              <a:rPr lang="en-US" sz="2400" dirty="0"/>
              <a:t>Without recommender system, user is overwhelmed</a:t>
            </a:r>
          </a:p>
          <a:p>
            <a:endParaRPr lang="en-US" sz="2400" dirty="0"/>
          </a:p>
        </p:txBody>
      </p:sp>
      <p:sp>
        <p:nvSpPr>
          <p:cNvPr id="5" name="Date Placeholder 4">
            <a:extLst>
              <a:ext uri="{FF2B5EF4-FFF2-40B4-BE49-F238E27FC236}">
                <a16:creationId xmlns:a16="http://schemas.microsoft.com/office/drawing/2014/main" id="{2468BBE9-B3EB-456C-143A-0D37CC71C244}"/>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55316AFF-023C-45AD-A860-32A9C9C9CFC5}"/>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108132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86AEA-C885-3E66-1ED2-106138A3D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5FBF-A214-DE50-996A-3126D165FD96}"/>
              </a:ext>
            </a:extLst>
          </p:cNvPr>
          <p:cNvSpPr>
            <a:spLocks noGrp="1"/>
          </p:cNvSpPr>
          <p:nvPr>
            <p:ph type="ctrTitle"/>
          </p:nvPr>
        </p:nvSpPr>
        <p:spPr/>
        <p:txBody>
          <a:bodyPr/>
          <a:lstStyle/>
          <a:p>
            <a:r>
              <a:rPr lang="en-US" dirty="0"/>
              <a:t>Excessive Choice</a:t>
            </a:r>
          </a:p>
        </p:txBody>
      </p:sp>
      <p:sp>
        <p:nvSpPr>
          <p:cNvPr id="4" name="Text Placeholder 3">
            <a:extLst>
              <a:ext uri="{FF2B5EF4-FFF2-40B4-BE49-F238E27FC236}">
                <a16:creationId xmlns:a16="http://schemas.microsoft.com/office/drawing/2014/main" id="{D28A253D-A6F1-39D0-3E07-CF63D2292CCF}"/>
              </a:ext>
            </a:extLst>
          </p:cNvPr>
          <p:cNvSpPr>
            <a:spLocks noGrp="1"/>
          </p:cNvSpPr>
          <p:nvPr>
            <p:ph type="body" sz="quarter" idx="14"/>
          </p:nvPr>
        </p:nvSpPr>
        <p:spPr>
          <a:xfrm>
            <a:off x="1828800" y="1491343"/>
            <a:ext cx="8755380" cy="3939073"/>
          </a:xfrm>
        </p:spPr>
        <p:txBody>
          <a:bodyPr>
            <a:normAutofit lnSpcReduction="10000"/>
          </a:bodyPr>
          <a:lstStyle/>
          <a:p>
            <a:pPr marL="0" indent="0" algn="ctr">
              <a:buNone/>
            </a:pPr>
            <a:r>
              <a:rPr lang="en-US" sz="2400" dirty="0"/>
              <a:t>“On a regular day at a local food market, people would find a display table with 24 different kinds of jams. Then on another day, at that same food market, people were given only 6 different types of jam choices.” (Iyengar and Lepper, 2000)</a:t>
            </a:r>
          </a:p>
          <a:p>
            <a:pPr marL="0" indent="0">
              <a:buNone/>
            </a:pPr>
            <a:endParaRPr lang="en-US" sz="2400" dirty="0"/>
          </a:p>
          <a:p>
            <a:r>
              <a:rPr lang="en-US" sz="2400" dirty="0"/>
              <a:t>Results</a:t>
            </a:r>
          </a:p>
          <a:p>
            <a:pPr lvl="1"/>
            <a:r>
              <a:rPr lang="en-US" sz="2400" dirty="0"/>
              <a:t>Big display table (with 24 jams) generated more interest</a:t>
            </a:r>
          </a:p>
          <a:p>
            <a:pPr lvl="1"/>
            <a:r>
              <a:rPr lang="en-US" sz="2400" dirty="0"/>
              <a:t>People far less likely to purchase a jar of jam than in the case of the smaller display (about ten times less likely)</a:t>
            </a:r>
          </a:p>
          <a:p>
            <a:endParaRPr lang="en-US" sz="2400" dirty="0"/>
          </a:p>
          <a:p>
            <a:r>
              <a:rPr lang="en-US" sz="2400" dirty="0"/>
              <a:t>Too many options can overwhelm customers / users</a:t>
            </a:r>
          </a:p>
        </p:txBody>
      </p:sp>
      <p:sp>
        <p:nvSpPr>
          <p:cNvPr id="5" name="Date Placeholder 4">
            <a:extLst>
              <a:ext uri="{FF2B5EF4-FFF2-40B4-BE49-F238E27FC236}">
                <a16:creationId xmlns:a16="http://schemas.microsoft.com/office/drawing/2014/main" id="{D317F410-EA9C-20D0-D749-35A4168CE085}"/>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FEA5190E-C8AD-6DB5-2DE8-F98E8F37BBD5}"/>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87971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0C3B6-7D13-39FE-37A0-469FC0A05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AABDF-E7BB-5523-2D7D-C7B5A92D0D6B}"/>
              </a:ext>
            </a:extLst>
          </p:cNvPr>
          <p:cNvSpPr>
            <a:spLocks noGrp="1"/>
          </p:cNvSpPr>
          <p:nvPr>
            <p:ph type="ctrTitle"/>
          </p:nvPr>
        </p:nvSpPr>
        <p:spPr/>
        <p:txBody>
          <a:bodyPr/>
          <a:lstStyle/>
          <a:p>
            <a:r>
              <a:rPr lang="en-US" dirty="0"/>
              <a:t>Size of the “Item” Space</a:t>
            </a:r>
          </a:p>
        </p:txBody>
      </p:sp>
      <p:sp>
        <p:nvSpPr>
          <p:cNvPr id="4" name="Text Placeholder 3">
            <a:extLst>
              <a:ext uri="{FF2B5EF4-FFF2-40B4-BE49-F238E27FC236}">
                <a16:creationId xmlns:a16="http://schemas.microsoft.com/office/drawing/2014/main" id="{AD541355-0D37-04D7-112F-DC93D7B88C01}"/>
              </a:ext>
            </a:extLst>
          </p:cNvPr>
          <p:cNvSpPr>
            <a:spLocks noGrp="1"/>
          </p:cNvSpPr>
          <p:nvPr>
            <p:ph type="body" sz="quarter" idx="14"/>
          </p:nvPr>
        </p:nvSpPr>
        <p:spPr>
          <a:xfrm>
            <a:off x="1828800" y="1491343"/>
            <a:ext cx="8755380" cy="3837583"/>
          </a:xfrm>
        </p:spPr>
        <p:txBody>
          <a:bodyPr>
            <a:normAutofit/>
          </a:bodyPr>
          <a:lstStyle/>
          <a:p>
            <a:r>
              <a:rPr lang="en-US" sz="2400" dirty="0"/>
              <a:t>Number of new book titles grew from 122,000 in 2000 to 3.1 million in 2010</a:t>
            </a:r>
          </a:p>
          <a:p>
            <a:endParaRPr lang="en-US" sz="2400" dirty="0"/>
          </a:p>
          <a:p>
            <a:r>
              <a:rPr lang="en-US" sz="2400" dirty="0"/>
              <a:t>Number of new albums quadrupled from 2000 to 2010</a:t>
            </a:r>
          </a:p>
          <a:p>
            <a:endParaRPr lang="en-US" sz="2400" dirty="0"/>
          </a:p>
          <a:p>
            <a:r>
              <a:rPr lang="en-US" sz="2400" dirty="0"/>
              <a:t>300 hours of video uploaded to YouTube every minute</a:t>
            </a:r>
          </a:p>
          <a:p>
            <a:endParaRPr lang="en-US" sz="2400" dirty="0"/>
          </a:p>
          <a:p>
            <a:r>
              <a:rPr lang="en-US" sz="2400" dirty="0"/>
              <a:t>Recommender systems allow us to more efficiently search through this vast space</a:t>
            </a:r>
          </a:p>
        </p:txBody>
      </p:sp>
      <p:sp>
        <p:nvSpPr>
          <p:cNvPr id="5" name="Date Placeholder 4">
            <a:extLst>
              <a:ext uri="{FF2B5EF4-FFF2-40B4-BE49-F238E27FC236}">
                <a16:creationId xmlns:a16="http://schemas.microsoft.com/office/drawing/2014/main" id="{145EEA43-7715-9C79-62C9-7D6FAE7EF146}"/>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446C8EA-E726-2884-E85E-8F3AE498232D}"/>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4235576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F1B2-A515-E2C5-9D77-000AFBB8F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A2F690-4538-963B-53B5-C29C8A2CCC66}"/>
              </a:ext>
            </a:extLst>
          </p:cNvPr>
          <p:cNvSpPr>
            <a:spLocks noGrp="1"/>
          </p:cNvSpPr>
          <p:nvPr>
            <p:ph type="ctrTitle"/>
          </p:nvPr>
        </p:nvSpPr>
        <p:spPr>
          <a:xfrm>
            <a:off x="2107520" y="437030"/>
            <a:ext cx="8622684" cy="664797"/>
          </a:xfrm>
        </p:spPr>
        <p:txBody>
          <a:bodyPr/>
          <a:lstStyle/>
          <a:p>
            <a:r>
              <a:rPr lang="en-US" dirty="0"/>
              <a:t>Recommender Systems Increase Demand for Niche Products</a:t>
            </a:r>
          </a:p>
        </p:txBody>
      </p:sp>
      <p:pic>
        <p:nvPicPr>
          <p:cNvPr id="9" name="Picture 8" descr="Screenshot of the title page of the academic article “Goodbye Pareto Principle, Hello Long Tail: The Effect of Search Costs on the Concentration of Product Sales” by Erik Brynjolfsson, Yu (Jeffrey) Hu, and Duncan Simester.">
            <a:extLst>
              <a:ext uri="{FF2B5EF4-FFF2-40B4-BE49-F238E27FC236}">
                <a16:creationId xmlns:a16="http://schemas.microsoft.com/office/drawing/2014/main" id="{3898FDA0-53C4-312B-8DBE-F244C4FC4264}"/>
              </a:ext>
            </a:extLst>
          </p:cNvPr>
          <p:cNvPicPr>
            <a:picLocks noChangeAspect="1"/>
          </p:cNvPicPr>
          <p:nvPr/>
        </p:nvPicPr>
        <p:blipFill>
          <a:blip r:embed="rId3"/>
          <a:stretch>
            <a:fillRect/>
          </a:stretch>
        </p:blipFill>
        <p:spPr>
          <a:xfrm>
            <a:off x="3500684" y="1371702"/>
            <a:ext cx="5836355" cy="4114596"/>
          </a:xfrm>
          <a:prstGeom prst="rect">
            <a:avLst/>
          </a:prstGeom>
        </p:spPr>
      </p:pic>
      <p:sp>
        <p:nvSpPr>
          <p:cNvPr id="5" name="Date Placeholder 4">
            <a:extLst>
              <a:ext uri="{FF2B5EF4-FFF2-40B4-BE49-F238E27FC236}">
                <a16:creationId xmlns:a16="http://schemas.microsoft.com/office/drawing/2014/main" id="{FB43CFDB-4749-8944-2999-F0259462CA9A}"/>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80F5D4C5-7109-F147-BA3A-633F5F35CD09}"/>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3393832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B639-FA3C-B3FB-F616-89FE29620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DCB0D-0A94-D5B4-FA9A-28C29FEF9035}"/>
              </a:ext>
            </a:extLst>
          </p:cNvPr>
          <p:cNvSpPr>
            <a:spLocks noGrp="1"/>
          </p:cNvSpPr>
          <p:nvPr>
            <p:ph type="ctrTitle"/>
          </p:nvPr>
        </p:nvSpPr>
        <p:spPr>
          <a:xfrm>
            <a:off x="2107520" y="437030"/>
            <a:ext cx="8622684" cy="332399"/>
          </a:xfrm>
        </p:spPr>
        <p:txBody>
          <a:bodyPr/>
          <a:lstStyle/>
          <a:p>
            <a:r>
              <a:rPr lang="en-US" dirty="0"/>
              <a:t>Personalized Recommendations are Key Component</a:t>
            </a:r>
          </a:p>
        </p:txBody>
      </p:sp>
      <p:sp>
        <p:nvSpPr>
          <p:cNvPr id="4" name="Text Placeholder 3">
            <a:extLst>
              <a:ext uri="{FF2B5EF4-FFF2-40B4-BE49-F238E27FC236}">
                <a16:creationId xmlns:a16="http://schemas.microsoft.com/office/drawing/2014/main" id="{D6DCEB71-01F8-C80F-AE36-34B2E6293CEA}"/>
              </a:ext>
            </a:extLst>
          </p:cNvPr>
          <p:cNvSpPr>
            <a:spLocks noGrp="1"/>
          </p:cNvSpPr>
          <p:nvPr>
            <p:ph type="body" sz="quarter" idx="14"/>
          </p:nvPr>
        </p:nvSpPr>
        <p:spPr>
          <a:xfrm>
            <a:off x="1828800" y="1491343"/>
            <a:ext cx="8755380" cy="3837583"/>
          </a:xfrm>
        </p:spPr>
        <p:txBody>
          <a:bodyPr>
            <a:normAutofit/>
          </a:bodyPr>
          <a:lstStyle/>
          <a:p>
            <a:r>
              <a:rPr lang="en-US" sz="2400" dirty="0"/>
              <a:t>Recommendations are typically personalized</a:t>
            </a:r>
          </a:p>
          <a:p>
            <a:pPr lvl="1"/>
            <a:r>
              <a:rPr lang="en-US" sz="2400" dirty="0"/>
              <a:t>System will show different recommendations to different users depending on preferences / engagement patterns</a:t>
            </a:r>
          </a:p>
          <a:p>
            <a:endParaRPr lang="en-US" sz="2400" dirty="0"/>
          </a:p>
          <a:p>
            <a:r>
              <a:rPr lang="en-US" sz="2400" dirty="0"/>
              <a:t>Question: Why would non-personalized recommender not show many niche products?</a:t>
            </a:r>
          </a:p>
          <a:p>
            <a:pPr lvl="1"/>
            <a:r>
              <a:rPr lang="en-US" sz="2400" dirty="0"/>
              <a:t>Hint: Is a physical store personalized?</a:t>
            </a:r>
          </a:p>
        </p:txBody>
      </p:sp>
      <p:sp>
        <p:nvSpPr>
          <p:cNvPr id="5" name="Date Placeholder 4">
            <a:extLst>
              <a:ext uri="{FF2B5EF4-FFF2-40B4-BE49-F238E27FC236}">
                <a16:creationId xmlns:a16="http://schemas.microsoft.com/office/drawing/2014/main" id="{31B74290-02A6-4456-DEEC-D37F5C05C2B3}"/>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901C033F-0F5B-4ED6-9E0F-BDC10C4C37AC}"/>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1751829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1262C-7F4E-E164-0223-418E5B54D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AB821-1585-7398-58F6-9CBC013256C9}"/>
              </a:ext>
            </a:extLst>
          </p:cNvPr>
          <p:cNvSpPr>
            <a:spLocks noGrp="1"/>
          </p:cNvSpPr>
          <p:nvPr>
            <p:ph type="ctrTitle"/>
          </p:nvPr>
        </p:nvSpPr>
        <p:spPr>
          <a:xfrm>
            <a:off x="2647199" y="1501742"/>
            <a:ext cx="7300940" cy="1329595"/>
          </a:xfrm>
        </p:spPr>
        <p:txBody>
          <a:bodyPr/>
          <a:lstStyle/>
          <a:p>
            <a:r>
              <a:rPr lang="en-US" dirty="0"/>
              <a:t>Technology behind Recommender systems</a:t>
            </a:r>
          </a:p>
        </p:txBody>
      </p:sp>
      <p:sp>
        <p:nvSpPr>
          <p:cNvPr id="4" name="Date Placeholder 3">
            <a:extLst>
              <a:ext uri="{FF2B5EF4-FFF2-40B4-BE49-F238E27FC236}">
                <a16:creationId xmlns:a16="http://schemas.microsoft.com/office/drawing/2014/main" id="{10C972D2-F21D-2467-E77E-3F966C23857D}"/>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066907B8-8835-07EA-7B90-554F58DFCC3C}"/>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3125724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0C9B5-10E0-DAFC-D4EA-A497E2854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5E457-4573-CFC2-5BA1-7364BE2DC631}"/>
              </a:ext>
            </a:extLst>
          </p:cNvPr>
          <p:cNvSpPr>
            <a:spLocks noGrp="1"/>
          </p:cNvSpPr>
          <p:nvPr>
            <p:ph type="ctrTitle"/>
          </p:nvPr>
        </p:nvSpPr>
        <p:spPr>
          <a:xfrm>
            <a:off x="2107520" y="437030"/>
            <a:ext cx="8476660" cy="332399"/>
          </a:xfrm>
        </p:spPr>
        <p:txBody>
          <a:bodyPr/>
          <a:lstStyle/>
          <a:p>
            <a:r>
              <a:rPr lang="en-US" dirty="0"/>
              <a:t>Data for Recommender Systems</a:t>
            </a:r>
          </a:p>
        </p:txBody>
      </p:sp>
      <p:sp>
        <p:nvSpPr>
          <p:cNvPr id="4" name="Text Placeholder 3">
            <a:extLst>
              <a:ext uri="{FF2B5EF4-FFF2-40B4-BE49-F238E27FC236}">
                <a16:creationId xmlns:a16="http://schemas.microsoft.com/office/drawing/2014/main" id="{9533D70F-F487-0493-8663-3C75060D067F}"/>
              </a:ext>
            </a:extLst>
          </p:cNvPr>
          <p:cNvSpPr>
            <a:spLocks noGrp="1"/>
          </p:cNvSpPr>
          <p:nvPr>
            <p:ph type="body" sz="quarter" idx="14"/>
          </p:nvPr>
        </p:nvSpPr>
        <p:spPr>
          <a:xfrm>
            <a:off x="1828800" y="1491343"/>
            <a:ext cx="8755379" cy="3837583"/>
          </a:xfrm>
        </p:spPr>
        <p:txBody>
          <a:bodyPr>
            <a:normAutofit/>
          </a:bodyPr>
          <a:lstStyle/>
          <a:p>
            <a:r>
              <a:rPr lang="en-US" sz="2400" dirty="0"/>
              <a:t>Self-reported data: Characteristics, demographics, stated preferences</a:t>
            </a:r>
          </a:p>
          <a:p>
            <a:endParaRPr lang="en-US" sz="2400" dirty="0"/>
          </a:p>
          <a:p>
            <a:r>
              <a:rPr lang="en-US" sz="2400" dirty="0"/>
              <a:t>Behavioral data:</a:t>
            </a:r>
          </a:p>
          <a:p>
            <a:pPr lvl="1"/>
            <a:r>
              <a:rPr lang="en-US" sz="2400" dirty="0"/>
              <a:t>Explicit feedback: Ratings, likes</a:t>
            </a:r>
          </a:p>
          <a:p>
            <a:pPr lvl="1"/>
            <a:r>
              <a:rPr lang="en-US" sz="2400" dirty="0"/>
              <a:t>Implicit feedback: Clicks, completed movie, make a purchase</a:t>
            </a:r>
          </a:p>
          <a:p>
            <a:endParaRPr lang="en-US" sz="2400" dirty="0"/>
          </a:p>
          <a:p>
            <a:r>
              <a:rPr lang="en-US" sz="2400" dirty="0"/>
              <a:t>Content:</a:t>
            </a:r>
          </a:p>
          <a:p>
            <a:pPr lvl="1"/>
            <a:r>
              <a:rPr lang="en-US" sz="2400" dirty="0"/>
              <a:t>Manual or automated feature engineering</a:t>
            </a:r>
          </a:p>
          <a:p>
            <a:pPr lvl="1"/>
            <a:endParaRPr lang="en-US" sz="2400" dirty="0"/>
          </a:p>
        </p:txBody>
      </p:sp>
      <p:sp>
        <p:nvSpPr>
          <p:cNvPr id="5" name="Date Placeholder 4">
            <a:extLst>
              <a:ext uri="{FF2B5EF4-FFF2-40B4-BE49-F238E27FC236}">
                <a16:creationId xmlns:a16="http://schemas.microsoft.com/office/drawing/2014/main" id="{793DA3AD-0652-9F21-5980-42DECF85270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60987328-1CF7-74A3-8C9C-90F1BB157CB6}"/>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282586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F5B26-725F-0813-0E72-F330238C27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E0663-3D91-D718-27B2-796EE5DD2E12}"/>
              </a:ext>
            </a:extLst>
          </p:cNvPr>
          <p:cNvSpPr>
            <a:spLocks noGrp="1"/>
          </p:cNvSpPr>
          <p:nvPr>
            <p:ph type="ctrTitle"/>
          </p:nvPr>
        </p:nvSpPr>
        <p:spPr>
          <a:xfrm>
            <a:off x="2107520" y="437030"/>
            <a:ext cx="8476660" cy="332399"/>
          </a:xfrm>
        </p:spPr>
        <p:txBody>
          <a:bodyPr/>
          <a:lstStyle/>
          <a:p>
            <a:r>
              <a:rPr lang="en-US" dirty="0"/>
              <a:t>Types of Recommender Systems</a:t>
            </a:r>
          </a:p>
        </p:txBody>
      </p:sp>
      <p:sp>
        <p:nvSpPr>
          <p:cNvPr id="4" name="Text Placeholder 3">
            <a:extLst>
              <a:ext uri="{FF2B5EF4-FFF2-40B4-BE49-F238E27FC236}">
                <a16:creationId xmlns:a16="http://schemas.microsoft.com/office/drawing/2014/main" id="{84A141FE-DBFC-570C-2ED4-4055B26F0448}"/>
              </a:ext>
            </a:extLst>
          </p:cNvPr>
          <p:cNvSpPr>
            <a:spLocks noGrp="1"/>
          </p:cNvSpPr>
          <p:nvPr>
            <p:ph type="body" sz="quarter" idx="14"/>
          </p:nvPr>
        </p:nvSpPr>
        <p:spPr>
          <a:xfrm>
            <a:off x="1828800" y="1491343"/>
            <a:ext cx="8755379" cy="3837583"/>
          </a:xfrm>
        </p:spPr>
        <p:txBody>
          <a:bodyPr>
            <a:normAutofit/>
          </a:bodyPr>
          <a:lstStyle/>
          <a:p>
            <a:r>
              <a:rPr lang="en-US" sz="2400" dirty="0"/>
              <a:t>Use Netflix as a concrete example</a:t>
            </a:r>
          </a:p>
          <a:p>
            <a:pPr lvl="1"/>
            <a:r>
              <a:rPr lang="en-US" sz="2400" dirty="0"/>
              <a:t>Problem is to recommend movies to users that user will like!</a:t>
            </a:r>
          </a:p>
          <a:p>
            <a:endParaRPr lang="en-US" sz="2400" dirty="0"/>
          </a:p>
          <a:p>
            <a:r>
              <a:rPr lang="en-US" sz="2400" dirty="0"/>
              <a:t>How would you go about tackling this problem?</a:t>
            </a:r>
          </a:p>
          <a:p>
            <a:pPr lvl="1"/>
            <a:r>
              <a:rPr lang="en-US" sz="2400" dirty="0"/>
              <a:t>What challenges will you encounter?</a:t>
            </a:r>
          </a:p>
          <a:p>
            <a:endParaRPr lang="en-US" sz="2400" dirty="0"/>
          </a:p>
          <a:p>
            <a:r>
              <a:rPr lang="en-US" sz="2400" dirty="0"/>
              <a:t>Two dominant approaches</a:t>
            </a:r>
          </a:p>
          <a:p>
            <a:pPr lvl="1"/>
            <a:r>
              <a:rPr lang="en-US" sz="2400" dirty="0"/>
              <a:t>Content-based recommendations</a:t>
            </a:r>
          </a:p>
          <a:p>
            <a:pPr lvl="1"/>
            <a:r>
              <a:rPr lang="en-US" sz="2400" dirty="0"/>
              <a:t>Collaborative filtering</a:t>
            </a:r>
          </a:p>
        </p:txBody>
      </p:sp>
      <p:sp>
        <p:nvSpPr>
          <p:cNvPr id="5" name="Date Placeholder 4">
            <a:extLst>
              <a:ext uri="{FF2B5EF4-FFF2-40B4-BE49-F238E27FC236}">
                <a16:creationId xmlns:a16="http://schemas.microsoft.com/office/drawing/2014/main" id="{C2F432D4-913F-A7F2-2BAA-A2F3DBD3777B}"/>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924469FB-84FC-5C66-C8E8-2117EB096A72}"/>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3592492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17755-E059-4E92-7FB5-5A33D6A17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C4B9D-FC0A-A6EF-11D0-5D80C3C4AD94}"/>
              </a:ext>
            </a:extLst>
          </p:cNvPr>
          <p:cNvSpPr>
            <a:spLocks noGrp="1"/>
          </p:cNvSpPr>
          <p:nvPr>
            <p:ph type="ctrTitle"/>
          </p:nvPr>
        </p:nvSpPr>
        <p:spPr>
          <a:xfrm>
            <a:off x="2107520" y="437030"/>
            <a:ext cx="8476660" cy="332399"/>
          </a:xfrm>
        </p:spPr>
        <p:txBody>
          <a:bodyPr/>
          <a:lstStyle/>
          <a:p>
            <a:r>
              <a:rPr lang="en-US" dirty="0"/>
              <a:t>Content Based Recommendations</a:t>
            </a:r>
          </a:p>
        </p:txBody>
      </p:sp>
      <p:sp>
        <p:nvSpPr>
          <p:cNvPr id="4" name="Text Placeholder 3">
            <a:extLst>
              <a:ext uri="{FF2B5EF4-FFF2-40B4-BE49-F238E27FC236}">
                <a16:creationId xmlns:a16="http://schemas.microsoft.com/office/drawing/2014/main" id="{6694330B-7F1A-362E-4EB0-743D5A605C5D}"/>
              </a:ext>
            </a:extLst>
          </p:cNvPr>
          <p:cNvSpPr>
            <a:spLocks noGrp="1"/>
          </p:cNvSpPr>
          <p:nvPr>
            <p:ph type="body" sz="quarter" idx="14"/>
          </p:nvPr>
        </p:nvSpPr>
        <p:spPr>
          <a:xfrm>
            <a:off x="1828800" y="1491343"/>
            <a:ext cx="8755379" cy="3837583"/>
          </a:xfrm>
        </p:spPr>
        <p:txBody>
          <a:bodyPr>
            <a:normAutofit fontScale="92500" lnSpcReduction="10000"/>
          </a:bodyPr>
          <a:lstStyle/>
          <a:p>
            <a:r>
              <a:rPr lang="en-US" sz="2400" dirty="0"/>
              <a:t>Typical supervised machine learning problem</a:t>
            </a:r>
          </a:p>
          <a:p>
            <a:endParaRPr lang="en-US" sz="2400" dirty="0"/>
          </a:p>
          <a:p>
            <a:r>
              <a:rPr lang="en-US" sz="2400" dirty="0"/>
              <a:t>For each user, we observe movies they watched and their ratings</a:t>
            </a:r>
          </a:p>
          <a:p>
            <a:pPr lvl="1"/>
            <a:r>
              <a:rPr lang="en-US" sz="2400" dirty="0"/>
              <a:t>Or movies they choose to watch / didn’t watch</a:t>
            </a:r>
          </a:p>
          <a:p>
            <a:endParaRPr lang="en-US" sz="2400" dirty="0"/>
          </a:p>
          <a:p>
            <a:r>
              <a:rPr lang="en-US" sz="2400" dirty="0"/>
              <a:t>We can construct features for these movies</a:t>
            </a:r>
          </a:p>
          <a:p>
            <a:pPr lvl="1"/>
            <a:r>
              <a:rPr lang="en-US" sz="2400" dirty="0"/>
              <a:t>E.g. Genre, cast, length, language, …</a:t>
            </a:r>
          </a:p>
          <a:p>
            <a:endParaRPr lang="en-US" sz="2400" dirty="0"/>
          </a:p>
          <a:p>
            <a:r>
              <a:rPr lang="en-US" sz="2400" dirty="0"/>
              <a:t>Learn a function that maps features to ratings</a:t>
            </a:r>
          </a:p>
          <a:p>
            <a:pPr lvl="1"/>
            <a:r>
              <a:rPr lang="en-US" sz="2400" dirty="0"/>
              <a:t>Challenge 1: Each user has limited history</a:t>
            </a:r>
          </a:p>
          <a:p>
            <a:pPr lvl="1"/>
            <a:r>
              <a:rPr lang="en-US" sz="2400" dirty="0"/>
              <a:t>Challenge 2: Hard to manually construct rich feature space at scale</a:t>
            </a:r>
          </a:p>
        </p:txBody>
      </p:sp>
      <p:sp>
        <p:nvSpPr>
          <p:cNvPr id="5" name="Date Placeholder 4">
            <a:extLst>
              <a:ext uri="{FF2B5EF4-FFF2-40B4-BE49-F238E27FC236}">
                <a16:creationId xmlns:a16="http://schemas.microsoft.com/office/drawing/2014/main" id="{F4812F77-53A6-C8B3-0F0A-232051D50AC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17E6418C-9F9D-9D3D-7636-8D9C0133E576}"/>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3137581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22600-7FBC-2C1B-6D67-648DCE22F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F7956-F8A0-E42B-0C3B-427BF8D05895}"/>
              </a:ext>
            </a:extLst>
          </p:cNvPr>
          <p:cNvSpPr>
            <a:spLocks noGrp="1"/>
          </p:cNvSpPr>
          <p:nvPr>
            <p:ph type="ctrTitle"/>
          </p:nvPr>
        </p:nvSpPr>
        <p:spPr>
          <a:xfrm>
            <a:off x="2107520" y="437030"/>
            <a:ext cx="8476660" cy="332399"/>
          </a:xfrm>
        </p:spPr>
        <p:txBody>
          <a:bodyPr/>
          <a:lstStyle/>
          <a:p>
            <a:r>
              <a:rPr lang="en-US" dirty="0"/>
              <a:t>Collaborative Filtering</a:t>
            </a:r>
          </a:p>
        </p:txBody>
      </p:sp>
      <p:sp>
        <p:nvSpPr>
          <p:cNvPr id="4" name="Text Placeholder 3">
            <a:extLst>
              <a:ext uri="{FF2B5EF4-FFF2-40B4-BE49-F238E27FC236}">
                <a16:creationId xmlns:a16="http://schemas.microsoft.com/office/drawing/2014/main" id="{3CB6F97E-4A5A-B893-71BD-E038E5A75550}"/>
              </a:ext>
            </a:extLst>
          </p:cNvPr>
          <p:cNvSpPr>
            <a:spLocks noGrp="1"/>
          </p:cNvSpPr>
          <p:nvPr>
            <p:ph type="body" sz="quarter" idx="14"/>
          </p:nvPr>
        </p:nvSpPr>
        <p:spPr>
          <a:xfrm>
            <a:off x="1828800" y="1491343"/>
            <a:ext cx="8755379" cy="3837583"/>
          </a:xfrm>
        </p:spPr>
        <p:txBody>
          <a:bodyPr>
            <a:normAutofit lnSpcReduction="10000"/>
          </a:bodyPr>
          <a:lstStyle/>
          <a:p>
            <a:r>
              <a:rPr lang="en-US" sz="2400" dirty="0"/>
              <a:t>Ignore information about users and content</a:t>
            </a:r>
          </a:p>
          <a:p>
            <a:endParaRPr lang="en-US" sz="2400" dirty="0"/>
          </a:p>
          <a:p>
            <a:r>
              <a:rPr lang="en-US" sz="2400" dirty="0"/>
              <a:t>Use the behavioral data from historical users to predict what movies new users are likely to watch and/or rate highly</a:t>
            </a:r>
          </a:p>
          <a:p>
            <a:pPr lvl="1"/>
            <a:r>
              <a:rPr lang="en-US" sz="2400" dirty="0"/>
              <a:t>Borrows data across users / items</a:t>
            </a:r>
          </a:p>
          <a:p>
            <a:endParaRPr lang="en-US" sz="2400" dirty="0"/>
          </a:p>
          <a:p>
            <a:r>
              <a:rPr lang="en-US" sz="2400" dirty="0"/>
              <a:t>Main types:</a:t>
            </a:r>
          </a:p>
          <a:p>
            <a:pPr lvl="1"/>
            <a:r>
              <a:rPr lang="en-US" sz="2400" dirty="0"/>
              <a:t>User-User</a:t>
            </a:r>
          </a:p>
          <a:p>
            <a:pPr lvl="1"/>
            <a:r>
              <a:rPr lang="en-US" sz="2400" dirty="0"/>
              <a:t>Item-Item</a:t>
            </a:r>
          </a:p>
          <a:p>
            <a:pPr lvl="1"/>
            <a:r>
              <a:rPr lang="en-US" sz="2400" dirty="0"/>
              <a:t>Matrix Factorization</a:t>
            </a:r>
          </a:p>
          <a:p>
            <a:pPr lvl="1"/>
            <a:endParaRPr lang="en-US" sz="2400" dirty="0"/>
          </a:p>
        </p:txBody>
      </p:sp>
      <p:sp>
        <p:nvSpPr>
          <p:cNvPr id="5" name="Date Placeholder 4">
            <a:extLst>
              <a:ext uri="{FF2B5EF4-FFF2-40B4-BE49-F238E27FC236}">
                <a16:creationId xmlns:a16="http://schemas.microsoft.com/office/drawing/2014/main" id="{C1485960-CE12-296F-1463-075B89EFD383}"/>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2AB41EBC-68FC-0D00-9594-A022F1977640}"/>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2085362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741ED-4EC1-0012-3CF9-1DD913684A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CF5B4-EAB6-8FBA-B95A-15AD67BAFD65}"/>
              </a:ext>
            </a:extLst>
          </p:cNvPr>
          <p:cNvSpPr>
            <a:spLocks noGrp="1"/>
          </p:cNvSpPr>
          <p:nvPr>
            <p:ph type="ctrTitle"/>
          </p:nvPr>
        </p:nvSpPr>
        <p:spPr>
          <a:xfrm>
            <a:off x="2107520" y="437030"/>
            <a:ext cx="8476660" cy="332399"/>
          </a:xfrm>
        </p:spPr>
        <p:txBody>
          <a:bodyPr/>
          <a:lstStyle/>
          <a:p>
            <a:r>
              <a:rPr lang="en-US" dirty="0"/>
              <a:t>User-User Collaborative Filtering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5AC3A93C-6247-A73E-7488-331A561127FC}"/>
                  </a:ext>
                </a:extLst>
              </p:cNvPr>
              <p:cNvSpPr>
                <a:spLocks noGrp="1"/>
              </p:cNvSpPr>
              <p:nvPr>
                <p:ph type="body" sz="quarter" idx="14"/>
              </p:nvPr>
            </p:nvSpPr>
            <p:spPr>
              <a:xfrm>
                <a:off x="1828800" y="1491343"/>
                <a:ext cx="8755379" cy="3837583"/>
              </a:xfrm>
            </p:spPr>
            <p:txBody>
              <a:bodyPr>
                <a:normAutofit fontScale="92500" lnSpcReduction="10000"/>
              </a:bodyPr>
              <a:lstStyle/>
              <a:p>
                <a:r>
                  <a:rPr lang="en-US" sz="2400" dirty="0"/>
                  <a:t>Idea is to find similar users and recommend content these users watched / rated highly</a:t>
                </a:r>
              </a:p>
              <a:p>
                <a:pPr lvl="1"/>
                <a:endParaRPr lang="en-US" sz="2400" dirty="0"/>
              </a:p>
              <a:p>
                <a:r>
                  <a:rPr lang="en-US" sz="2400" dirty="0"/>
                  <a:t>Example:</a:t>
                </a:r>
              </a:p>
              <a:p>
                <a:pPr lvl="1"/>
                <a:r>
                  <a:rPr lang="en-US" sz="2400" b="0" dirty="0"/>
                  <a:t>User </a:t>
                </a:r>
                <a14:m>
                  <m:oMath xmlns:m="http://schemas.openxmlformats.org/officeDocument/2006/math">
                    <m:r>
                      <a:rPr lang="en-US" sz="2400" b="0" i="1" smtClean="0">
                        <a:latin typeface="Cambria Math" panose="02040503050406030204" pitchFamily="18" charset="0"/>
                      </a:rPr>
                      <m:t>𝑖</m:t>
                    </m:r>
                  </m:oMath>
                </a14:m>
                <a:r>
                  <a:rPr lang="en-US" sz="2400" dirty="0"/>
                  <a:t> watched movies 1,2,3</a:t>
                </a:r>
              </a:p>
              <a:p>
                <a:pPr lvl="1"/>
                <a:r>
                  <a:rPr lang="en-US" sz="2400" dirty="0"/>
                  <a:t>User </a:t>
                </a:r>
                <a14:m>
                  <m:oMath xmlns:m="http://schemas.openxmlformats.org/officeDocument/2006/math">
                    <m:r>
                      <a:rPr lang="en-US" sz="2400" b="0" i="1" smtClean="0">
                        <a:latin typeface="Cambria Math" panose="02040503050406030204" pitchFamily="18" charset="0"/>
                      </a:rPr>
                      <m:t>𝑗</m:t>
                    </m:r>
                  </m:oMath>
                </a14:m>
                <a:r>
                  <a:rPr lang="en-US" sz="2400" dirty="0"/>
                  <a:t> watched movie 2,3</a:t>
                </a:r>
              </a:p>
              <a:p>
                <a:pPr lvl="1"/>
                <a:r>
                  <a:rPr lang="en-US" sz="2400" dirty="0"/>
                  <a:t>User </a:t>
                </a:r>
                <a14:m>
                  <m:oMath xmlns:m="http://schemas.openxmlformats.org/officeDocument/2006/math">
                    <m:r>
                      <a:rPr lang="en-US" sz="2400" b="0" i="1" smtClean="0">
                        <a:latin typeface="Cambria Math" panose="02040503050406030204" pitchFamily="18" charset="0"/>
                      </a:rPr>
                      <m:t>𝑧</m:t>
                    </m:r>
                  </m:oMath>
                </a14:m>
                <a:r>
                  <a:rPr lang="en-US" sz="2400" dirty="0"/>
                  <a:t> watched movies 1,4,5</a:t>
                </a:r>
              </a:p>
              <a:p>
                <a:pPr lvl="1"/>
                <a:endParaRPr lang="en-US" sz="2400" dirty="0"/>
              </a:p>
              <a:p>
                <a:r>
                  <a:rPr lang="en-US" sz="2400" dirty="0"/>
                  <a:t>User </a:t>
                </a:r>
                <a14:m>
                  <m:oMath xmlns:m="http://schemas.openxmlformats.org/officeDocument/2006/math">
                    <m:r>
                      <a:rPr lang="en-US" sz="2400" b="0" i="1" smtClean="0">
                        <a:latin typeface="Cambria Math" panose="02040503050406030204" pitchFamily="18" charset="0"/>
                      </a:rPr>
                      <m:t>𝑖</m:t>
                    </m:r>
                  </m:oMath>
                </a14:m>
                <a:r>
                  <a:rPr lang="en-US" sz="2400" dirty="0"/>
                  <a:t> and User </a:t>
                </a:r>
                <a14:m>
                  <m:oMath xmlns:m="http://schemas.openxmlformats.org/officeDocument/2006/math">
                    <m:r>
                      <a:rPr lang="en-US" sz="2400" b="0" i="1" smtClean="0">
                        <a:latin typeface="Cambria Math" panose="02040503050406030204" pitchFamily="18" charset="0"/>
                      </a:rPr>
                      <m:t>𝑗</m:t>
                    </m:r>
                  </m:oMath>
                </a14:m>
                <a:r>
                  <a:rPr lang="en-US" sz="2400" dirty="0"/>
                  <a:t> are similar</a:t>
                </a:r>
              </a:p>
              <a:p>
                <a:pPr lvl="1"/>
                <a:r>
                  <a:rPr lang="en-US" sz="2400" dirty="0"/>
                  <a:t>Recommend movie 1 to user </a:t>
                </a:r>
                <a14:m>
                  <m:oMath xmlns:m="http://schemas.openxmlformats.org/officeDocument/2006/math">
                    <m:r>
                      <a:rPr lang="en-US" sz="2400" b="0" i="1" smtClean="0">
                        <a:latin typeface="Cambria Math" panose="02040503050406030204" pitchFamily="18" charset="0"/>
                      </a:rPr>
                      <m:t>𝑗</m:t>
                    </m:r>
                  </m:oMath>
                </a14:m>
                <a:endParaRPr lang="en-US" sz="2400" dirty="0"/>
              </a:p>
              <a:p>
                <a:pPr lvl="1"/>
                <a:endParaRPr lang="en-US" sz="2400" dirty="0"/>
              </a:p>
            </p:txBody>
          </p:sp>
        </mc:Choice>
        <mc:Fallback xmlns="">
          <p:sp>
            <p:nvSpPr>
              <p:cNvPr id="4" name="Text Placeholder 3">
                <a:extLst>
                  <a:ext uri="{FF2B5EF4-FFF2-40B4-BE49-F238E27FC236}">
                    <a16:creationId xmlns:a16="http://schemas.microsoft.com/office/drawing/2014/main" id="{5AC3A93C-6247-A73E-7488-331A561127FC}"/>
                  </a:ext>
                </a:extLst>
              </p:cNvPr>
              <p:cNvSpPr>
                <a:spLocks noGrp="1" noRot="1" noChangeAspect="1" noMove="1" noResize="1" noEditPoints="1" noAdjustHandles="1" noChangeArrowheads="1" noChangeShapeType="1" noTextEdit="1"/>
              </p:cNvSpPr>
              <p:nvPr>
                <p:ph type="body" sz="quarter" idx="14"/>
              </p:nvPr>
            </p:nvSpPr>
            <p:spPr>
              <a:xfrm>
                <a:off x="1828800" y="1491343"/>
                <a:ext cx="8755379" cy="3837583"/>
              </a:xfrm>
              <a:blipFill>
                <a:blip r:embed="rId3"/>
                <a:stretch>
                  <a:fillRect l="-1739" t="-2970" b="-297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D51883F-4156-E89F-1000-DBB909EE558F}"/>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DB2463AB-C969-C87F-30E2-190B510728C1}"/>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147131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ABD8A-F3BC-27BB-1561-85B8D5E69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5E652-8B62-E999-1346-33C9AB6F588B}"/>
              </a:ext>
            </a:extLst>
          </p:cNvPr>
          <p:cNvSpPr>
            <a:spLocks noGrp="1"/>
          </p:cNvSpPr>
          <p:nvPr>
            <p:ph type="ctrTitle"/>
          </p:nvPr>
        </p:nvSpPr>
        <p:spPr>
          <a:xfrm>
            <a:off x="2107520" y="437030"/>
            <a:ext cx="8476660" cy="332399"/>
          </a:xfrm>
        </p:spPr>
        <p:txBody>
          <a:bodyPr/>
          <a:lstStyle/>
          <a:p>
            <a:r>
              <a:rPr lang="en-US" dirty="0"/>
              <a:t>User-User Collaborative Filtering, Continued</a:t>
            </a:r>
          </a:p>
        </p:txBody>
      </p:sp>
      <p:sp>
        <p:nvSpPr>
          <p:cNvPr id="4" name="Text Placeholder 3">
            <a:extLst>
              <a:ext uri="{FF2B5EF4-FFF2-40B4-BE49-F238E27FC236}">
                <a16:creationId xmlns:a16="http://schemas.microsoft.com/office/drawing/2014/main" id="{861F3661-C375-5F41-1040-C3D382C7FF9E}"/>
              </a:ext>
            </a:extLst>
          </p:cNvPr>
          <p:cNvSpPr>
            <a:spLocks noGrp="1"/>
          </p:cNvSpPr>
          <p:nvPr>
            <p:ph type="body" sz="quarter" idx="14"/>
          </p:nvPr>
        </p:nvSpPr>
        <p:spPr>
          <a:xfrm>
            <a:off x="1828800" y="1491343"/>
            <a:ext cx="8755379" cy="3837583"/>
          </a:xfrm>
        </p:spPr>
        <p:txBody>
          <a:bodyPr>
            <a:normAutofit/>
          </a:bodyPr>
          <a:lstStyle/>
          <a:p>
            <a:r>
              <a:rPr lang="en-US" sz="2400" dirty="0"/>
              <a:t>How to find similar users?</a:t>
            </a:r>
          </a:p>
          <a:p>
            <a:endParaRPr lang="en-US" sz="2400" dirty="0"/>
          </a:p>
          <a:p>
            <a:r>
              <a:rPr lang="en-US" sz="2400" dirty="0"/>
              <a:t>Similar behaviors</a:t>
            </a:r>
          </a:p>
          <a:p>
            <a:pPr lvl="1"/>
            <a:r>
              <a:rPr lang="en-US" sz="2400" dirty="0"/>
              <a:t>Similar focal behaviors</a:t>
            </a:r>
          </a:p>
          <a:p>
            <a:pPr lvl="1"/>
            <a:r>
              <a:rPr lang="en-US" sz="2400" dirty="0"/>
              <a:t>Similar “other” behaviors (e.g. similar TV patterns if recommending movies)</a:t>
            </a:r>
          </a:p>
          <a:p>
            <a:endParaRPr lang="en-US" sz="2400" dirty="0"/>
          </a:p>
          <a:p>
            <a:r>
              <a:rPr lang="en-US" sz="2400" dirty="0"/>
              <a:t>Similar characteristics</a:t>
            </a:r>
          </a:p>
          <a:p>
            <a:pPr lvl="1"/>
            <a:r>
              <a:rPr lang="en-US" sz="2400" dirty="0"/>
              <a:t>Demographics, networks, expressed interests</a:t>
            </a:r>
          </a:p>
        </p:txBody>
      </p:sp>
      <p:sp>
        <p:nvSpPr>
          <p:cNvPr id="5" name="Date Placeholder 4">
            <a:extLst>
              <a:ext uri="{FF2B5EF4-FFF2-40B4-BE49-F238E27FC236}">
                <a16:creationId xmlns:a16="http://schemas.microsoft.com/office/drawing/2014/main" id="{EF80E1E4-8FAD-226E-80B6-1E9210BB49BE}"/>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1B4D3199-A7A5-4E85-1D60-1B58AA7767BA}"/>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4061487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11CEA-59B6-65F1-BF11-4F0A5DD37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6D761-1847-E97C-8060-C2540410C5D5}"/>
              </a:ext>
            </a:extLst>
          </p:cNvPr>
          <p:cNvSpPr>
            <a:spLocks noGrp="1"/>
          </p:cNvSpPr>
          <p:nvPr>
            <p:ph type="ctrTitle"/>
          </p:nvPr>
        </p:nvSpPr>
        <p:spPr>
          <a:xfrm>
            <a:off x="2107520" y="437030"/>
            <a:ext cx="8476660" cy="332399"/>
          </a:xfrm>
        </p:spPr>
        <p:txBody>
          <a:bodyPr/>
          <a:lstStyle/>
          <a:p>
            <a:r>
              <a:rPr lang="en-US" dirty="0"/>
              <a:t>Item-Item Collaborative Filtering</a:t>
            </a:r>
          </a:p>
        </p:txBody>
      </p:sp>
      <p:sp>
        <p:nvSpPr>
          <p:cNvPr id="4" name="Text Placeholder 3">
            <a:extLst>
              <a:ext uri="{FF2B5EF4-FFF2-40B4-BE49-F238E27FC236}">
                <a16:creationId xmlns:a16="http://schemas.microsoft.com/office/drawing/2014/main" id="{C3C58176-77E1-C03E-DECD-D6A52F00BB72}"/>
              </a:ext>
            </a:extLst>
          </p:cNvPr>
          <p:cNvSpPr>
            <a:spLocks noGrp="1"/>
          </p:cNvSpPr>
          <p:nvPr>
            <p:ph type="body" sz="quarter" idx="14"/>
          </p:nvPr>
        </p:nvSpPr>
        <p:spPr>
          <a:xfrm>
            <a:off x="1828800" y="1491343"/>
            <a:ext cx="6934199" cy="3837583"/>
          </a:xfrm>
        </p:spPr>
        <p:txBody>
          <a:bodyPr>
            <a:normAutofit/>
          </a:bodyPr>
          <a:lstStyle/>
          <a:p>
            <a:r>
              <a:rPr lang="en-US" sz="2400" dirty="0"/>
              <a:t>Idea is to find similar items and recommend similar items to those a user has viewed / rated highly</a:t>
            </a:r>
          </a:p>
          <a:p>
            <a:endParaRPr lang="en-US" sz="2400" dirty="0"/>
          </a:p>
          <a:p>
            <a:r>
              <a:rPr lang="en-US" sz="2400" dirty="0"/>
              <a:t>Since 90% of those who liked Star Wars also liked Independence Day, and you liked Star Wars</a:t>
            </a:r>
          </a:p>
          <a:p>
            <a:pPr lvl="1"/>
            <a:r>
              <a:rPr lang="en-US" sz="2400" dirty="0"/>
              <a:t>You may also like Independence Day</a:t>
            </a:r>
          </a:p>
          <a:p>
            <a:pPr lvl="1"/>
            <a:endParaRPr lang="en-US" sz="2400" dirty="0"/>
          </a:p>
        </p:txBody>
      </p:sp>
      <p:pic>
        <p:nvPicPr>
          <p:cNvPr id="7" name="Picture 6" descr="Movie posters for the movies Star Wars: The Force Awakens and Independence Day.">
            <a:extLst>
              <a:ext uri="{FF2B5EF4-FFF2-40B4-BE49-F238E27FC236}">
                <a16:creationId xmlns:a16="http://schemas.microsoft.com/office/drawing/2014/main" id="{F2546FE6-9222-ADE7-1F47-3CF69DF5C60E}"/>
              </a:ext>
            </a:extLst>
          </p:cNvPr>
          <p:cNvPicPr>
            <a:picLocks noChangeAspect="1"/>
          </p:cNvPicPr>
          <p:nvPr/>
        </p:nvPicPr>
        <p:blipFill>
          <a:blip r:embed="rId3"/>
          <a:stretch>
            <a:fillRect/>
          </a:stretch>
        </p:blipFill>
        <p:spPr>
          <a:xfrm>
            <a:off x="8763000" y="1353905"/>
            <a:ext cx="2667000" cy="1765300"/>
          </a:xfrm>
          <a:prstGeom prst="rect">
            <a:avLst/>
          </a:prstGeom>
        </p:spPr>
      </p:pic>
      <p:sp>
        <p:nvSpPr>
          <p:cNvPr id="5" name="Date Placeholder 4">
            <a:extLst>
              <a:ext uri="{FF2B5EF4-FFF2-40B4-BE49-F238E27FC236}">
                <a16:creationId xmlns:a16="http://schemas.microsoft.com/office/drawing/2014/main" id="{877D78D9-A199-1055-7D5D-C710F815E834}"/>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C517B79D-1834-DE3B-340E-16A533FE8CFC}"/>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2157164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35A74-2702-060C-BD27-9C21952F66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76868-AC9D-7F08-77E3-A4AC4A62EDD0}"/>
              </a:ext>
            </a:extLst>
          </p:cNvPr>
          <p:cNvSpPr>
            <a:spLocks noGrp="1"/>
          </p:cNvSpPr>
          <p:nvPr>
            <p:ph type="ctrTitle"/>
          </p:nvPr>
        </p:nvSpPr>
        <p:spPr>
          <a:xfrm>
            <a:off x="2107520" y="437030"/>
            <a:ext cx="8476660" cy="332399"/>
          </a:xfrm>
        </p:spPr>
        <p:txBody>
          <a:bodyPr/>
          <a:lstStyle/>
          <a:p>
            <a:r>
              <a:rPr lang="en-US" dirty="0"/>
              <a:t>Item-Item Collaborative Filtering, Continued</a:t>
            </a:r>
          </a:p>
        </p:txBody>
      </p:sp>
      <p:sp>
        <p:nvSpPr>
          <p:cNvPr id="4" name="Text Placeholder 3">
            <a:extLst>
              <a:ext uri="{FF2B5EF4-FFF2-40B4-BE49-F238E27FC236}">
                <a16:creationId xmlns:a16="http://schemas.microsoft.com/office/drawing/2014/main" id="{F66DF4C5-93B8-49E5-C520-54C83E3BE369}"/>
              </a:ext>
            </a:extLst>
          </p:cNvPr>
          <p:cNvSpPr>
            <a:spLocks noGrp="1"/>
          </p:cNvSpPr>
          <p:nvPr>
            <p:ph type="body" sz="quarter" idx="14"/>
          </p:nvPr>
        </p:nvSpPr>
        <p:spPr>
          <a:xfrm>
            <a:off x="1828800" y="1491343"/>
            <a:ext cx="8755380" cy="3837583"/>
          </a:xfrm>
        </p:spPr>
        <p:txBody>
          <a:bodyPr>
            <a:normAutofit/>
          </a:bodyPr>
          <a:lstStyle/>
          <a:p>
            <a:r>
              <a:rPr lang="en-US" sz="2400" dirty="0"/>
              <a:t>How to find similar items?</a:t>
            </a:r>
          </a:p>
          <a:p>
            <a:endParaRPr lang="en-US" sz="2400" dirty="0"/>
          </a:p>
          <a:p>
            <a:r>
              <a:rPr lang="en-US" sz="2400" dirty="0"/>
              <a:t>Use the “watch” network</a:t>
            </a:r>
          </a:p>
          <a:p>
            <a:pPr lvl="1"/>
            <a:r>
              <a:rPr lang="en-US" sz="2400" dirty="0"/>
              <a:t>Users who watched / liked Star Wars also watched / liked Independence Day</a:t>
            </a:r>
          </a:p>
          <a:p>
            <a:endParaRPr lang="en-US" sz="2400" dirty="0"/>
          </a:p>
          <a:p>
            <a:r>
              <a:rPr lang="en-US" sz="2400" dirty="0"/>
              <a:t>Use item features</a:t>
            </a:r>
          </a:p>
          <a:p>
            <a:pPr lvl="1"/>
            <a:r>
              <a:rPr lang="en-US" sz="2400" dirty="0"/>
              <a:t>Genre, actors, learned features (e.g. embeddings)</a:t>
            </a:r>
          </a:p>
        </p:txBody>
      </p:sp>
      <p:sp>
        <p:nvSpPr>
          <p:cNvPr id="5" name="Date Placeholder 4">
            <a:extLst>
              <a:ext uri="{FF2B5EF4-FFF2-40B4-BE49-F238E27FC236}">
                <a16:creationId xmlns:a16="http://schemas.microsoft.com/office/drawing/2014/main" id="{FA5E02BC-8747-EE51-AEC2-A25A871F83F4}"/>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4FF65F88-447D-44C6-15FD-1695D2C434F3}"/>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351660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28769-E635-D669-D355-1ED28B29E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1D8F9-02B0-6E9B-F5E2-02BF198CA0EE}"/>
              </a:ext>
            </a:extLst>
          </p:cNvPr>
          <p:cNvSpPr>
            <a:spLocks noGrp="1"/>
          </p:cNvSpPr>
          <p:nvPr>
            <p:ph type="ctrTitle"/>
          </p:nvPr>
        </p:nvSpPr>
        <p:spPr>
          <a:xfrm>
            <a:off x="2107520" y="437030"/>
            <a:ext cx="8476660" cy="332399"/>
          </a:xfrm>
        </p:spPr>
        <p:txBody>
          <a:bodyPr/>
          <a:lstStyle/>
          <a:p>
            <a:r>
              <a:rPr lang="en-US" dirty="0"/>
              <a:t>Comparing Them</a:t>
            </a:r>
          </a:p>
        </p:txBody>
      </p:sp>
      <p:sp>
        <p:nvSpPr>
          <p:cNvPr id="4" name="Text Placeholder 3">
            <a:extLst>
              <a:ext uri="{FF2B5EF4-FFF2-40B4-BE49-F238E27FC236}">
                <a16:creationId xmlns:a16="http://schemas.microsoft.com/office/drawing/2014/main" id="{05C53EC3-5BF1-D8FA-282F-7A3AA5466E85}"/>
              </a:ext>
            </a:extLst>
          </p:cNvPr>
          <p:cNvSpPr>
            <a:spLocks noGrp="1"/>
          </p:cNvSpPr>
          <p:nvPr>
            <p:ph type="body" sz="quarter" idx="14"/>
          </p:nvPr>
        </p:nvSpPr>
        <p:spPr>
          <a:xfrm>
            <a:off x="1828800" y="1491343"/>
            <a:ext cx="8755380" cy="3837583"/>
          </a:xfrm>
        </p:spPr>
        <p:txBody>
          <a:bodyPr>
            <a:normAutofit/>
          </a:bodyPr>
          <a:lstStyle/>
          <a:p>
            <a:r>
              <a:rPr lang="en-US" sz="2400" dirty="0"/>
              <a:t>Item-Item method is typically more stable than user-user method</a:t>
            </a:r>
          </a:p>
          <a:p>
            <a:endParaRPr lang="en-US" sz="2400" dirty="0"/>
          </a:p>
          <a:p>
            <a:r>
              <a:rPr lang="en-US" sz="2400" dirty="0"/>
              <a:t>Often fewer items than users, easier to learn relationships</a:t>
            </a:r>
          </a:p>
          <a:p>
            <a:endParaRPr lang="en-US" sz="2400" dirty="0"/>
          </a:p>
          <a:p>
            <a:r>
              <a:rPr lang="en-US" sz="2400" dirty="0"/>
              <a:t>Items often more stable over time while users come and go</a:t>
            </a:r>
          </a:p>
        </p:txBody>
      </p:sp>
      <p:sp>
        <p:nvSpPr>
          <p:cNvPr id="5" name="Date Placeholder 4">
            <a:extLst>
              <a:ext uri="{FF2B5EF4-FFF2-40B4-BE49-F238E27FC236}">
                <a16:creationId xmlns:a16="http://schemas.microsoft.com/office/drawing/2014/main" id="{C93851B1-B97A-A6C3-7CFF-28297F31872E}"/>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FE0A05B0-DA97-F37B-46E2-C314CFD2B5F5}"/>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2758719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060C-7A0F-CA7C-55C5-8617C3E5D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D831F-2391-4DCB-87F1-279A3E827312}"/>
              </a:ext>
            </a:extLst>
          </p:cNvPr>
          <p:cNvSpPr>
            <a:spLocks noGrp="1"/>
          </p:cNvSpPr>
          <p:nvPr>
            <p:ph type="ctrTitle"/>
          </p:nvPr>
        </p:nvSpPr>
        <p:spPr>
          <a:xfrm>
            <a:off x="2107520" y="437030"/>
            <a:ext cx="8476660" cy="332399"/>
          </a:xfrm>
        </p:spPr>
        <p:txBody>
          <a:bodyPr/>
          <a:lstStyle/>
          <a:p>
            <a:r>
              <a:rPr lang="en-US" dirty="0"/>
              <a:t>Putting these Together: Matrix Factorization</a:t>
            </a:r>
          </a:p>
        </p:txBody>
      </p:sp>
      <p:pic>
        <p:nvPicPr>
          <p:cNvPr id="9" name="Picture 8" descr="Slide showing the 2009 Netflix Prize winner, featuring the title “Matrix Factorization Techniques for Recommender Systems” in large red text. The authors (Yehuda Koren, Robert Bell, and Chris Volinsky) are listed below. A highlighted excerpt explains that matrix factorization outperforms classic nearest-neighbor methods by incorporating richer information.">
            <a:extLst>
              <a:ext uri="{FF2B5EF4-FFF2-40B4-BE49-F238E27FC236}">
                <a16:creationId xmlns:a16="http://schemas.microsoft.com/office/drawing/2014/main" id="{934CD383-7161-E40A-2A2C-EF8D5C525677}"/>
              </a:ext>
            </a:extLst>
          </p:cNvPr>
          <p:cNvPicPr>
            <a:picLocks noChangeAspect="1"/>
          </p:cNvPicPr>
          <p:nvPr/>
        </p:nvPicPr>
        <p:blipFill>
          <a:blip r:embed="rId3"/>
          <a:stretch>
            <a:fillRect/>
          </a:stretch>
        </p:blipFill>
        <p:spPr>
          <a:xfrm>
            <a:off x="2666056" y="918529"/>
            <a:ext cx="6716447" cy="5020942"/>
          </a:xfrm>
          <a:prstGeom prst="rect">
            <a:avLst/>
          </a:prstGeom>
        </p:spPr>
      </p:pic>
      <p:sp>
        <p:nvSpPr>
          <p:cNvPr id="5" name="Date Placeholder 4">
            <a:extLst>
              <a:ext uri="{FF2B5EF4-FFF2-40B4-BE49-F238E27FC236}">
                <a16:creationId xmlns:a16="http://schemas.microsoft.com/office/drawing/2014/main" id="{8BB209C6-623A-D126-CF92-30B6AB335617}"/>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A3473E2-0837-59E2-0B98-2CF3EF73D05A}"/>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20786679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DEFF-DC16-E428-F5A8-7F9E22E7D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04ACDA-C421-585A-6C36-A73293FA5B59}"/>
              </a:ext>
            </a:extLst>
          </p:cNvPr>
          <p:cNvSpPr>
            <a:spLocks noGrp="1"/>
          </p:cNvSpPr>
          <p:nvPr>
            <p:ph type="ctrTitle"/>
          </p:nvPr>
        </p:nvSpPr>
        <p:spPr>
          <a:xfrm>
            <a:off x="2107520" y="437030"/>
            <a:ext cx="8476660" cy="332399"/>
          </a:xfrm>
        </p:spPr>
        <p:txBody>
          <a:bodyPr/>
          <a:lstStyle/>
          <a:p>
            <a:r>
              <a:rPr lang="en-US" dirty="0"/>
              <a:t>Netflix Prize</a:t>
            </a:r>
          </a:p>
        </p:txBody>
      </p:sp>
      <p:sp>
        <p:nvSpPr>
          <p:cNvPr id="4" name="Text Placeholder 3">
            <a:extLst>
              <a:ext uri="{FF2B5EF4-FFF2-40B4-BE49-F238E27FC236}">
                <a16:creationId xmlns:a16="http://schemas.microsoft.com/office/drawing/2014/main" id="{C2BF2122-A8F5-FFB0-3821-0B121157EF95}"/>
              </a:ext>
            </a:extLst>
          </p:cNvPr>
          <p:cNvSpPr>
            <a:spLocks noGrp="1"/>
          </p:cNvSpPr>
          <p:nvPr>
            <p:ph type="body" sz="quarter" idx="14"/>
          </p:nvPr>
        </p:nvSpPr>
        <p:spPr>
          <a:xfrm>
            <a:off x="1828800" y="1491343"/>
            <a:ext cx="8755380" cy="3837583"/>
          </a:xfrm>
        </p:spPr>
        <p:txBody>
          <a:bodyPr>
            <a:normAutofit fontScale="92500" lnSpcReduction="10000"/>
          </a:bodyPr>
          <a:lstStyle/>
          <a:p>
            <a:r>
              <a:rPr lang="en-US" sz="2400" dirty="0"/>
              <a:t>Open competition for Best Recommendation Algorithm</a:t>
            </a:r>
          </a:p>
          <a:p>
            <a:pPr lvl="1"/>
            <a:r>
              <a:rPr lang="en-US" sz="2400" dirty="0"/>
              <a:t>Over 50,000 participants</a:t>
            </a:r>
          </a:p>
          <a:p>
            <a:endParaRPr lang="en-US" sz="2400" dirty="0"/>
          </a:p>
          <a:p>
            <a:r>
              <a:rPr lang="en-US" sz="2400" dirty="0"/>
              <a:t>Goal is to predict user ratings for films</a:t>
            </a:r>
          </a:p>
          <a:p>
            <a:endParaRPr lang="en-US" sz="2400" dirty="0"/>
          </a:p>
          <a:p>
            <a:r>
              <a:rPr lang="en-US" sz="2400" dirty="0"/>
              <a:t>Input data:</a:t>
            </a:r>
          </a:p>
          <a:p>
            <a:pPr lvl="1"/>
            <a:r>
              <a:rPr lang="en-US" sz="2400" dirty="0"/>
              <a:t>Previous ratings</a:t>
            </a:r>
          </a:p>
          <a:p>
            <a:pPr lvl="1"/>
            <a:r>
              <a:rPr lang="en-US" sz="2400" dirty="0"/>
              <a:t>Film titles &amp; year</a:t>
            </a:r>
          </a:p>
          <a:p>
            <a:endParaRPr lang="en-US" sz="2400" dirty="0"/>
          </a:p>
          <a:p>
            <a:r>
              <a:rPr lang="en-US" sz="2400" dirty="0"/>
              <a:t>Winner: 10% accuracy</a:t>
            </a:r>
          </a:p>
          <a:p>
            <a:pPr lvl="1"/>
            <a:r>
              <a:rPr lang="en-US" sz="2400" dirty="0"/>
              <a:t>Used a collaborative filtering algorithm to win</a:t>
            </a:r>
          </a:p>
        </p:txBody>
      </p:sp>
      <p:sp>
        <p:nvSpPr>
          <p:cNvPr id="5" name="Date Placeholder 4">
            <a:extLst>
              <a:ext uri="{FF2B5EF4-FFF2-40B4-BE49-F238E27FC236}">
                <a16:creationId xmlns:a16="http://schemas.microsoft.com/office/drawing/2014/main" id="{50F48AFA-A1E2-16A5-3263-5CC3FA5DE88A}"/>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16DBB112-9F8D-F979-CA6F-5AE82EA0D5B1}"/>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80032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9CA2-9AA6-8534-3FDD-22AA82EF35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308D-78DB-2D6F-769A-E5EE04831432}"/>
              </a:ext>
            </a:extLst>
          </p:cNvPr>
          <p:cNvSpPr>
            <a:spLocks noGrp="1"/>
          </p:cNvSpPr>
          <p:nvPr>
            <p:ph type="ctrTitle"/>
          </p:nvPr>
        </p:nvSpPr>
        <p:spPr>
          <a:xfrm>
            <a:off x="2107520" y="437030"/>
            <a:ext cx="8476660" cy="332399"/>
          </a:xfrm>
        </p:spPr>
        <p:txBody>
          <a:bodyPr/>
          <a:lstStyle/>
          <a:p>
            <a:r>
              <a:rPr lang="en-US" dirty="0"/>
              <a:t>Matrix Factorization</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C39CA07-BC4C-5E6B-93FB-4352ED925AEE}"/>
                  </a:ext>
                </a:extLst>
              </p:cNvPr>
              <p:cNvSpPr>
                <a:spLocks noGrp="1"/>
              </p:cNvSpPr>
              <p:nvPr>
                <p:ph type="body" sz="quarter" idx="14"/>
              </p:nvPr>
            </p:nvSpPr>
            <p:spPr>
              <a:xfrm>
                <a:off x="1828799" y="1491343"/>
                <a:ext cx="9069355" cy="3837583"/>
              </a:xfrm>
            </p:spPr>
            <p:txBody>
              <a:bodyPr>
                <a:normAutofit/>
              </a:bodyPr>
              <a:lstStyle/>
              <a:p>
                <a:r>
                  <a:rPr lang="en-US" sz="2400" dirty="0"/>
                  <a:t>Take advantage of both user and item similarity</a:t>
                </a:r>
              </a:p>
              <a:p>
                <a:endParaRPr lang="en-US" sz="2400" dirty="0"/>
              </a:p>
              <a:p>
                <a:r>
                  <a:rPr lang="en-US" sz="2400" dirty="0"/>
                  <a:t>Idea similar to what we discussed in consumer choice</a:t>
                </a:r>
              </a:p>
              <a:p>
                <a:pPr lvl="1"/>
                <a:r>
                  <a:rPr lang="en-US" sz="2400" dirty="0"/>
                  <a:t>Rating is a function of features and preferences</a:t>
                </a:r>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𝑖𝑗</m:t>
                        </m:r>
                      </m:sub>
                    </m:sSub>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𝑘</m:t>
                        </m:r>
                      </m:sub>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𝑖𝑘</m:t>
                            </m:r>
                          </m:sub>
                        </m:sSub>
                      </m:e>
                    </m:nary>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𝑗𝑘</m:t>
                        </m:r>
                      </m:sub>
                    </m:sSub>
                  </m:oMath>
                </a14:m>
                <a:r>
                  <a:rPr lang="en-US" sz="2400" dirty="0"/>
                  <a:t> where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𝑖𝑘</m:t>
                        </m:r>
                      </m:sub>
                    </m:sSub>
                  </m:oMath>
                </a14:m>
                <a:r>
                  <a:rPr lang="en-US" sz="2400" dirty="0"/>
                  <a:t> is user </a:t>
                </a:r>
                <a14:m>
                  <m:oMath xmlns:m="http://schemas.openxmlformats.org/officeDocument/2006/math">
                    <m:r>
                      <a:rPr lang="en-US" sz="2400" b="0" i="1" smtClean="0">
                        <a:latin typeface="Cambria Math" panose="02040503050406030204" pitchFamily="18" charset="0"/>
                      </a:rPr>
                      <m:t>𝑖</m:t>
                    </m:r>
                  </m:oMath>
                </a14:m>
                <a:r>
                  <a:rPr lang="en-US" sz="2400" dirty="0"/>
                  <a:t>’s preferences and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𝑗𝑘</m:t>
                        </m:r>
                      </m:sub>
                    </m:sSub>
                  </m:oMath>
                </a14:m>
                <a:r>
                  <a:rPr lang="en-US" sz="2400" dirty="0"/>
                  <a:t> is movie </a:t>
                </a:r>
                <a14:m>
                  <m:oMath xmlns:m="http://schemas.openxmlformats.org/officeDocument/2006/math">
                    <m:r>
                      <a:rPr lang="en-US" sz="2400" b="0" i="1" smtClean="0">
                        <a:latin typeface="Cambria Math" panose="02040503050406030204" pitchFamily="18" charset="0"/>
                      </a:rPr>
                      <m:t>𝑗</m:t>
                    </m:r>
                  </m:oMath>
                </a14:m>
                <a:r>
                  <a:rPr lang="en-US" sz="2400" dirty="0"/>
                  <a:t>’s features</a:t>
                </a:r>
              </a:p>
              <a:p>
                <a:endParaRPr lang="en-US" sz="2400" dirty="0"/>
              </a:p>
              <a:p>
                <a:r>
                  <a:rPr lang="en-US" sz="2400" dirty="0"/>
                  <a:t>Collaborative filtering algorithm learns both </a:t>
                </a:r>
                <a14:m>
                  <m:oMath xmlns:m="http://schemas.openxmlformats.org/officeDocument/2006/math">
                    <m:r>
                      <a:rPr lang="en-US" sz="2400" b="0" i="1" smtClean="0">
                        <a:latin typeface="Cambria Math" panose="02040503050406030204" pitchFamily="18" charset="0"/>
                      </a:rPr>
                      <m:t>𝛽</m:t>
                    </m:r>
                  </m:oMath>
                </a14:m>
                <a:r>
                  <a:rPr lang="en-US" sz="2400" dirty="0"/>
                  <a:t> and </a:t>
                </a:r>
                <a14:m>
                  <m:oMath xmlns:m="http://schemas.openxmlformats.org/officeDocument/2006/math">
                    <m:r>
                      <a:rPr lang="en-US" sz="2400" b="0" i="1" smtClean="0">
                        <a:latin typeface="Cambria Math" panose="02040503050406030204" pitchFamily="18" charset="0"/>
                      </a:rPr>
                      <m:t>𝑥</m:t>
                    </m:r>
                  </m:oMath>
                </a14:m>
                <a:r>
                  <a:rPr lang="en-US" sz="2400" dirty="0"/>
                  <a:t> from the data!</a:t>
                </a:r>
              </a:p>
              <a:p>
                <a:pPr lvl="1"/>
                <a:r>
                  <a:rPr lang="en-US" sz="2400" dirty="0"/>
                  <a:t>These are called latent features</a:t>
                </a:r>
              </a:p>
            </p:txBody>
          </p:sp>
        </mc:Choice>
        <mc:Fallback xmlns="">
          <p:sp>
            <p:nvSpPr>
              <p:cNvPr id="4" name="Text Placeholder 3">
                <a:extLst>
                  <a:ext uri="{FF2B5EF4-FFF2-40B4-BE49-F238E27FC236}">
                    <a16:creationId xmlns:a16="http://schemas.microsoft.com/office/drawing/2014/main" id="{3C39CA07-BC4C-5E6B-93FB-4352ED925AEE}"/>
                  </a:ext>
                </a:extLst>
              </p:cNvPr>
              <p:cNvSpPr>
                <a:spLocks noGrp="1" noRot="1" noChangeAspect="1" noMove="1" noResize="1" noEditPoints="1" noAdjustHandles="1" noChangeArrowheads="1" noChangeShapeType="1" noTextEdit="1"/>
              </p:cNvSpPr>
              <p:nvPr>
                <p:ph type="body" sz="quarter" idx="14"/>
              </p:nvPr>
            </p:nvSpPr>
            <p:spPr>
              <a:xfrm>
                <a:off x="1828799" y="1491343"/>
                <a:ext cx="9069355" cy="3837583"/>
              </a:xfrm>
              <a:blipFill>
                <a:blip r:embed="rId3"/>
                <a:stretch>
                  <a:fillRect l="-1958" t="-2640" r="-1259" b="-1650"/>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0AD44184-7CAC-AD47-85AE-BCD6F0C3DF88}"/>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456186F3-6A85-E4D2-34B7-76A025EE7B0D}"/>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159258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DDA67-3DA3-C393-261A-3AAD835A6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14FDF-5C69-2540-56FA-AE0B762C10C5}"/>
              </a:ext>
            </a:extLst>
          </p:cNvPr>
          <p:cNvSpPr>
            <a:spLocks noGrp="1"/>
          </p:cNvSpPr>
          <p:nvPr>
            <p:ph type="ctrTitle"/>
          </p:nvPr>
        </p:nvSpPr>
        <p:spPr>
          <a:xfrm>
            <a:off x="2107520" y="437030"/>
            <a:ext cx="8476660" cy="332399"/>
          </a:xfrm>
        </p:spPr>
        <p:txBody>
          <a:bodyPr/>
          <a:lstStyle/>
          <a:p>
            <a:r>
              <a:rPr lang="en-US" dirty="0"/>
              <a:t>Matrix Factorization, Part 2</a:t>
            </a:r>
          </a:p>
        </p:txBody>
      </p:sp>
      <p:pic>
        <p:nvPicPr>
          <p:cNvPr id="10" name="Picture 9" descr="Diagram illustrating how item features and user feature preferences translate into predicted ratings.">
            <a:extLst>
              <a:ext uri="{FF2B5EF4-FFF2-40B4-BE49-F238E27FC236}">
                <a16:creationId xmlns:a16="http://schemas.microsoft.com/office/drawing/2014/main" id="{59840A09-39F2-D3E9-5F80-EF647331DD76}"/>
              </a:ext>
            </a:extLst>
          </p:cNvPr>
          <p:cNvPicPr>
            <a:picLocks noChangeAspect="1"/>
          </p:cNvPicPr>
          <p:nvPr/>
        </p:nvPicPr>
        <p:blipFill>
          <a:blip r:embed="rId3"/>
          <a:stretch>
            <a:fillRect/>
          </a:stretch>
        </p:blipFill>
        <p:spPr>
          <a:xfrm>
            <a:off x="2987626" y="974681"/>
            <a:ext cx="6716447" cy="5020942"/>
          </a:xfrm>
          <a:prstGeom prst="rect">
            <a:avLst/>
          </a:prstGeom>
        </p:spPr>
      </p:pic>
      <p:sp>
        <p:nvSpPr>
          <p:cNvPr id="5" name="Date Placeholder 4">
            <a:extLst>
              <a:ext uri="{FF2B5EF4-FFF2-40B4-BE49-F238E27FC236}">
                <a16:creationId xmlns:a16="http://schemas.microsoft.com/office/drawing/2014/main" id="{384878E3-4CA6-BB06-848E-03E290191DF3}"/>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5C93F47D-AB76-42D7-6346-BE393B7FFE23}"/>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35850975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D14DE-AAB9-8FD6-F2EE-38F848AE4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AF31D-3B5D-E04E-AFBB-5FB08AEE9FAC}"/>
              </a:ext>
            </a:extLst>
          </p:cNvPr>
          <p:cNvSpPr>
            <a:spLocks noGrp="1"/>
          </p:cNvSpPr>
          <p:nvPr>
            <p:ph type="ctrTitle"/>
          </p:nvPr>
        </p:nvSpPr>
        <p:spPr>
          <a:xfrm>
            <a:off x="2107520" y="437030"/>
            <a:ext cx="8476660" cy="332399"/>
          </a:xfrm>
        </p:spPr>
        <p:txBody>
          <a:bodyPr/>
          <a:lstStyle/>
          <a:p>
            <a:r>
              <a:rPr lang="en-US" dirty="0"/>
              <a:t>Matrix Factorization, Part 3</a:t>
            </a:r>
          </a:p>
        </p:txBody>
      </p:sp>
      <p:pic>
        <p:nvPicPr>
          <p:cNvPr id="4" name="Picture 3" descr="Diagram illustrating matrix factorization using latent features.">
            <a:extLst>
              <a:ext uri="{FF2B5EF4-FFF2-40B4-BE49-F238E27FC236}">
                <a16:creationId xmlns:a16="http://schemas.microsoft.com/office/drawing/2014/main" id="{544487EF-8EDB-CFF0-9D0F-B5F01929BEA8}"/>
              </a:ext>
            </a:extLst>
          </p:cNvPr>
          <p:cNvPicPr>
            <a:picLocks noChangeAspect="1"/>
          </p:cNvPicPr>
          <p:nvPr/>
        </p:nvPicPr>
        <p:blipFill>
          <a:blip r:embed="rId3"/>
          <a:stretch>
            <a:fillRect/>
          </a:stretch>
        </p:blipFill>
        <p:spPr>
          <a:xfrm>
            <a:off x="3166279" y="1056870"/>
            <a:ext cx="6424580" cy="4802754"/>
          </a:xfrm>
          <a:prstGeom prst="rect">
            <a:avLst/>
          </a:prstGeom>
        </p:spPr>
      </p:pic>
      <p:sp>
        <p:nvSpPr>
          <p:cNvPr id="5" name="Date Placeholder 4">
            <a:extLst>
              <a:ext uri="{FF2B5EF4-FFF2-40B4-BE49-F238E27FC236}">
                <a16:creationId xmlns:a16="http://schemas.microsoft.com/office/drawing/2014/main" id="{A1874059-F6A6-3FEC-F5EB-B167095AC9D6}"/>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A3A4E159-05EB-D9D9-4DE9-D0DA31301E09}"/>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3857204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1430D-F80F-FFB2-2403-43A6ED5A52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4EB23-F954-893A-269A-179E05BDBAB8}"/>
              </a:ext>
            </a:extLst>
          </p:cNvPr>
          <p:cNvSpPr>
            <a:spLocks noGrp="1"/>
          </p:cNvSpPr>
          <p:nvPr>
            <p:ph type="ctrTitle"/>
          </p:nvPr>
        </p:nvSpPr>
        <p:spPr>
          <a:xfrm>
            <a:off x="2107520" y="437030"/>
            <a:ext cx="8476660" cy="332399"/>
          </a:xfrm>
        </p:spPr>
        <p:txBody>
          <a:bodyPr/>
          <a:lstStyle/>
          <a:p>
            <a:r>
              <a:rPr lang="en-US" dirty="0"/>
              <a:t>Collaborative Filtering Recap</a:t>
            </a:r>
          </a:p>
        </p:txBody>
      </p:sp>
      <p:sp>
        <p:nvSpPr>
          <p:cNvPr id="4" name="Text Placeholder 3">
            <a:extLst>
              <a:ext uri="{FF2B5EF4-FFF2-40B4-BE49-F238E27FC236}">
                <a16:creationId xmlns:a16="http://schemas.microsoft.com/office/drawing/2014/main" id="{CA4B3C60-C0B6-A3B5-590E-0AD29E2750FE}"/>
              </a:ext>
            </a:extLst>
          </p:cNvPr>
          <p:cNvSpPr>
            <a:spLocks noGrp="1"/>
          </p:cNvSpPr>
          <p:nvPr>
            <p:ph type="body" sz="quarter" idx="14"/>
          </p:nvPr>
        </p:nvSpPr>
        <p:spPr>
          <a:xfrm>
            <a:off x="1828799" y="1491343"/>
            <a:ext cx="9069355" cy="3837583"/>
          </a:xfrm>
        </p:spPr>
        <p:txBody>
          <a:bodyPr>
            <a:normAutofit lnSpcReduction="10000"/>
          </a:bodyPr>
          <a:lstStyle/>
          <a:p>
            <a:r>
              <a:rPr lang="en-US" sz="2400" dirty="0"/>
              <a:t>Recommend similar items to similar users</a:t>
            </a:r>
          </a:p>
          <a:p>
            <a:pPr lvl="1"/>
            <a:r>
              <a:rPr lang="en-US" sz="2400" dirty="0"/>
              <a:t>User-user: Recommend same items to similar users</a:t>
            </a:r>
          </a:p>
          <a:p>
            <a:pPr lvl="1"/>
            <a:r>
              <a:rPr lang="en-US" sz="2400" dirty="0"/>
              <a:t>Item-item: Recommend similar items to same users</a:t>
            </a:r>
          </a:p>
          <a:p>
            <a:pPr lvl="1"/>
            <a:r>
              <a:rPr lang="en-US" sz="2400" dirty="0"/>
              <a:t>Matrix factorization (most common): Take advantage of both similar users and similar items</a:t>
            </a:r>
          </a:p>
          <a:p>
            <a:endParaRPr lang="en-US" sz="2400" dirty="0"/>
          </a:p>
          <a:p>
            <a:r>
              <a:rPr lang="en-US" sz="2400" dirty="0"/>
              <a:t>These are different ways of predicting whether a user will:</a:t>
            </a:r>
          </a:p>
          <a:p>
            <a:pPr lvl="1"/>
            <a:r>
              <a:rPr lang="en-US" sz="2400" dirty="0"/>
              <a:t>Watch a movie </a:t>
            </a:r>
          </a:p>
          <a:p>
            <a:pPr lvl="1"/>
            <a:r>
              <a:rPr lang="en-US" sz="2400" dirty="0"/>
              <a:t>Rate the movie highly</a:t>
            </a:r>
          </a:p>
        </p:txBody>
      </p:sp>
      <p:sp>
        <p:nvSpPr>
          <p:cNvPr id="5" name="Date Placeholder 4">
            <a:extLst>
              <a:ext uri="{FF2B5EF4-FFF2-40B4-BE49-F238E27FC236}">
                <a16:creationId xmlns:a16="http://schemas.microsoft.com/office/drawing/2014/main" id="{4B554FC1-B504-0E27-AF18-E6FA4C9B4D65}"/>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264EAF27-8927-144C-1A3D-B4CF56FED6DF}"/>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2874534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DF3DC-F761-C993-3C9F-981EA026A5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2A1BF-AB45-6D1A-19C4-5DA30381754E}"/>
              </a:ext>
            </a:extLst>
          </p:cNvPr>
          <p:cNvSpPr>
            <a:spLocks noGrp="1"/>
          </p:cNvSpPr>
          <p:nvPr>
            <p:ph type="ctrTitle"/>
          </p:nvPr>
        </p:nvSpPr>
        <p:spPr>
          <a:xfrm>
            <a:off x="2107520" y="437030"/>
            <a:ext cx="8476660" cy="332399"/>
          </a:xfrm>
        </p:spPr>
        <p:txBody>
          <a:bodyPr/>
          <a:lstStyle/>
          <a:p>
            <a:r>
              <a:rPr lang="en-US" dirty="0"/>
              <a:t>Modern Algorithms Combine These</a:t>
            </a:r>
          </a:p>
        </p:txBody>
      </p:sp>
      <p:sp>
        <p:nvSpPr>
          <p:cNvPr id="4" name="Text Placeholder 3">
            <a:extLst>
              <a:ext uri="{FF2B5EF4-FFF2-40B4-BE49-F238E27FC236}">
                <a16:creationId xmlns:a16="http://schemas.microsoft.com/office/drawing/2014/main" id="{418BBF82-6695-1FFB-7EFB-69F00338E13C}"/>
              </a:ext>
            </a:extLst>
          </p:cNvPr>
          <p:cNvSpPr>
            <a:spLocks noGrp="1"/>
          </p:cNvSpPr>
          <p:nvPr>
            <p:ph type="body" sz="quarter" idx="14"/>
          </p:nvPr>
        </p:nvSpPr>
        <p:spPr>
          <a:xfrm>
            <a:off x="1828799" y="1491343"/>
            <a:ext cx="9069355" cy="3837583"/>
          </a:xfrm>
        </p:spPr>
        <p:txBody>
          <a:bodyPr>
            <a:normAutofit/>
          </a:bodyPr>
          <a:lstStyle/>
          <a:p>
            <a:r>
              <a:rPr lang="en-US" sz="2400" dirty="0"/>
              <a:t>Modern recommender systems often use complicated neural networks to predict ratings</a:t>
            </a:r>
          </a:p>
          <a:p>
            <a:endParaRPr lang="en-US" sz="2400" dirty="0"/>
          </a:p>
          <a:p>
            <a:r>
              <a:rPr lang="en-US" sz="2400" dirty="0"/>
              <a:t>Combine the benefits of content-based and collaborative filtering-based recommender systems</a:t>
            </a:r>
          </a:p>
          <a:p>
            <a:endParaRPr lang="en-US" sz="2400" dirty="0"/>
          </a:p>
          <a:p>
            <a:r>
              <a:rPr lang="en-US" sz="2400" dirty="0"/>
              <a:t>These are complicated systems that have the same output:</a:t>
            </a:r>
          </a:p>
          <a:p>
            <a:pPr lvl="1"/>
            <a:r>
              <a:rPr lang="en-US" sz="2400" dirty="0"/>
              <a:t>A prediction of how likely a user will watch or rate highly a piece of content</a:t>
            </a:r>
          </a:p>
        </p:txBody>
      </p:sp>
      <p:sp>
        <p:nvSpPr>
          <p:cNvPr id="5" name="Date Placeholder 4">
            <a:extLst>
              <a:ext uri="{FF2B5EF4-FFF2-40B4-BE49-F238E27FC236}">
                <a16:creationId xmlns:a16="http://schemas.microsoft.com/office/drawing/2014/main" id="{55923991-B765-FA1C-BD0D-A4F6599AF1DF}"/>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4731E0C4-7D85-4335-097F-3A9298FDC852}"/>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3282505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CD20C-C581-C09B-420F-32A6F2CA2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D2302-FDE2-6B86-8729-56321D5D84D7}"/>
              </a:ext>
            </a:extLst>
          </p:cNvPr>
          <p:cNvSpPr>
            <a:spLocks noGrp="1"/>
          </p:cNvSpPr>
          <p:nvPr>
            <p:ph type="ctrTitle"/>
          </p:nvPr>
        </p:nvSpPr>
        <p:spPr>
          <a:xfrm>
            <a:off x="2107520" y="437030"/>
            <a:ext cx="8476660" cy="332399"/>
          </a:xfrm>
        </p:spPr>
        <p:txBody>
          <a:bodyPr/>
          <a:lstStyle/>
          <a:p>
            <a:r>
              <a:rPr lang="en-US" dirty="0"/>
              <a:t>Modern Recommendations</a:t>
            </a:r>
          </a:p>
        </p:txBody>
      </p:sp>
      <p:pic>
        <p:nvPicPr>
          <p:cNvPr id="1026" name="Picture 2" descr="A flowchart illustrating a multi-stage recommendation pipeline.">
            <a:extLst>
              <a:ext uri="{FF2B5EF4-FFF2-40B4-BE49-F238E27FC236}">
                <a16:creationId xmlns:a16="http://schemas.microsoft.com/office/drawing/2014/main" id="{D21188EC-02A5-08AC-988C-B8564D62E3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7261" y="1263805"/>
            <a:ext cx="8890000" cy="398780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AD0F9CA3-5D67-8551-F84E-C74D6FB1A3E2}"/>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532A0B40-E2CB-BCC0-EC49-27A32289A6B6}"/>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4252563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C534-DF38-BF54-AA2E-3480B1041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10B2E-16D5-C355-4417-C4117BCAA1C1}"/>
              </a:ext>
            </a:extLst>
          </p:cNvPr>
          <p:cNvSpPr>
            <a:spLocks noGrp="1"/>
          </p:cNvSpPr>
          <p:nvPr>
            <p:ph type="ctrTitle"/>
          </p:nvPr>
        </p:nvSpPr>
        <p:spPr>
          <a:xfrm>
            <a:off x="2647199" y="1501742"/>
            <a:ext cx="7300940" cy="664797"/>
          </a:xfrm>
        </p:spPr>
        <p:txBody>
          <a:bodyPr/>
          <a:lstStyle/>
          <a:p>
            <a:r>
              <a:rPr lang="en-US" dirty="0"/>
              <a:t>Impact of Rec sys</a:t>
            </a:r>
          </a:p>
        </p:txBody>
      </p:sp>
      <p:sp>
        <p:nvSpPr>
          <p:cNvPr id="4" name="Date Placeholder 3">
            <a:extLst>
              <a:ext uri="{FF2B5EF4-FFF2-40B4-BE49-F238E27FC236}">
                <a16:creationId xmlns:a16="http://schemas.microsoft.com/office/drawing/2014/main" id="{8EB86181-7E8F-A5A5-43F2-19A29FE29283}"/>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A1B7A158-D434-4AB5-836E-C0A011D69318}"/>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3730101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C2086-3AC0-35A5-5E3F-A6A6E2D60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A7D83-ECDF-51F0-DCF1-E305A1226D88}"/>
              </a:ext>
            </a:extLst>
          </p:cNvPr>
          <p:cNvSpPr>
            <a:spLocks noGrp="1"/>
          </p:cNvSpPr>
          <p:nvPr>
            <p:ph type="ctrTitle"/>
          </p:nvPr>
        </p:nvSpPr>
        <p:spPr/>
        <p:txBody>
          <a:bodyPr/>
          <a:lstStyle/>
          <a:p>
            <a:r>
              <a:rPr lang="en-US" dirty="0"/>
              <a:t>Impact of Recommender Systems</a:t>
            </a:r>
          </a:p>
        </p:txBody>
      </p:sp>
      <p:sp>
        <p:nvSpPr>
          <p:cNvPr id="4" name="Text Placeholder 3">
            <a:extLst>
              <a:ext uri="{FF2B5EF4-FFF2-40B4-BE49-F238E27FC236}">
                <a16:creationId xmlns:a16="http://schemas.microsoft.com/office/drawing/2014/main" id="{9016FB80-46B5-F4F4-B18F-0A5364B3E4F2}"/>
              </a:ext>
            </a:extLst>
          </p:cNvPr>
          <p:cNvSpPr>
            <a:spLocks noGrp="1"/>
          </p:cNvSpPr>
          <p:nvPr>
            <p:ph type="body" sz="quarter" idx="14"/>
          </p:nvPr>
        </p:nvSpPr>
        <p:spPr>
          <a:xfrm>
            <a:off x="1828800" y="1491343"/>
            <a:ext cx="8755380" cy="3837583"/>
          </a:xfrm>
        </p:spPr>
        <p:txBody>
          <a:bodyPr>
            <a:normAutofit/>
          </a:bodyPr>
          <a:lstStyle/>
          <a:p>
            <a:r>
              <a:rPr lang="en-US" sz="2400" dirty="0"/>
              <a:t>Solid evidence that personalized recommendations have significant impacts on quantity of engagement / sales</a:t>
            </a:r>
          </a:p>
          <a:p>
            <a:endParaRPr lang="en-US" sz="2400" dirty="0"/>
          </a:p>
          <a:p>
            <a:r>
              <a:rPr lang="en-US" sz="2400" dirty="0"/>
              <a:t>Do </a:t>
            </a:r>
            <a:r>
              <a:rPr lang="en-US" sz="2400" dirty="0" err="1"/>
              <a:t>recsys</a:t>
            </a:r>
            <a:r>
              <a:rPr lang="en-US" sz="2400" dirty="0"/>
              <a:t> impact the type of items users tend to select?</a:t>
            </a:r>
          </a:p>
          <a:p>
            <a:pPr lvl="1"/>
            <a:r>
              <a:rPr lang="en-US" sz="2400" dirty="0"/>
              <a:t>Diversity of items</a:t>
            </a:r>
          </a:p>
          <a:p>
            <a:pPr lvl="1"/>
            <a:r>
              <a:rPr lang="en-US" sz="2400" dirty="0"/>
              <a:t>Quality of items</a:t>
            </a:r>
          </a:p>
          <a:p>
            <a:pPr lvl="1"/>
            <a:r>
              <a:rPr lang="en-US" sz="2400" dirty="0"/>
              <a:t>Prices</a:t>
            </a:r>
          </a:p>
          <a:p>
            <a:endParaRPr lang="en-US" sz="2400" dirty="0"/>
          </a:p>
          <a:p>
            <a:r>
              <a:rPr lang="en-US" sz="2400" dirty="0"/>
              <a:t>Do recommended creators respond?</a:t>
            </a:r>
          </a:p>
          <a:p>
            <a:endParaRPr lang="en-US" sz="2400" dirty="0"/>
          </a:p>
        </p:txBody>
      </p:sp>
      <p:sp>
        <p:nvSpPr>
          <p:cNvPr id="5" name="Date Placeholder 4">
            <a:extLst>
              <a:ext uri="{FF2B5EF4-FFF2-40B4-BE49-F238E27FC236}">
                <a16:creationId xmlns:a16="http://schemas.microsoft.com/office/drawing/2014/main" id="{BE66274C-FD6A-4E34-9C12-246CC14A92B0}"/>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EF85C47-621D-A900-A5F6-7F80DA17FCB7}"/>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2340121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42069-0613-7A73-16C7-4605860A1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2F932-57CF-1CBC-2A00-AAD2ADC0C00A}"/>
              </a:ext>
            </a:extLst>
          </p:cNvPr>
          <p:cNvSpPr>
            <a:spLocks noGrp="1"/>
          </p:cNvSpPr>
          <p:nvPr>
            <p:ph type="ctrTitle"/>
          </p:nvPr>
        </p:nvSpPr>
        <p:spPr>
          <a:xfrm>
            <a:off x="2107520" y="437030"/>
            <a:ext cx="8476660" cy="664797"/>
          </a:xfrm>
        </p:spPr>
        <p:txBody>
          <a:bodyPr/>
          <a:lstStyle/>
          <a:p>
            <a:r>
              <a:rPr lang="en-US" dirty="0"/>
              <a:t>How do Recommender Systems Impact Diversity of Content?</a:t>
            </a:r>
          </a:p>
        </p:txBody>
      </p:sp>
      <p:sp>
        <p:nvSpPr>
          <p:cNvPr id="4" name="Text Placeholder 3">
            <a:extLst>
              <a:ext uri="{FF2B5EF4-FFF2-40B4-BE49-F238E27FC236}">
                <a16:creationId xmlns:a16="http://schemas.microsoft.com/office/drawing/2014/main" id="{2732C6FD-35FE-90D3-2898-ABA70F6C0067}"/>
              </a:ext>
            </a:extLst>
          </p:cNvPr>
          <p:cNvSpPr>
            <a:spLocks noGrp="1"/>
          </p:cNvSpPr>
          <p:nvPr>
            <p:ph type="body" sz="quarter" idx="14"/>
          </p:nvPr>
        </p:nvSpPr>
        <p:spPr>
          <a:xfrm>
            <a:off x="1828801" y="1491343"/>
            <a:ext cx="4627984" cy="3837583"/>
          </a:xfrm>
        </p:spPr>
        <p:txBody>
          <a:bodyPr>
            <a:normAutofit/>
          </a:bodyPr>
          <a:lstStyle/>
          <a:p>
            <a:r>
              <a:rPr lang="en-US" sz="2400" dirty="0"/>
              <a:t>Experiment at Spotify introduced personalized recommendations for podcasts</a:t>
            </a:r>
          </a:p>
          <a:p>
            <a:endParaRPr lang="en-US" sz="2400" dirty="0"/>
          </a:p>
          <a:p>
            <a:r>
              <a:rPr lang="en-US" sz="2400" dirty="0"/>
              <a:t>Asked how recommender system impacted</a:t>
            </a:r>
          </a:p>
          <a:p>
            <a:pPr lvl="1"/>
            <a:r>
              <a:rPr lang="en-US" sz="2400" dirty="0"/>
              <a:t>Quantity of streams</a:t>
            </a:r>
          </a:p>
          <a:p>
            <a:pPr lvl="1"/>
            <a:r>
              <a:rPr lang="en-US" sz="2400" dirty="0"/>
              <a:t>Individual diversity of streams</a:t>
            </a:r>
          </a:p>
          <a:p>
            <a:pPr lvl="1"/>
            <a:r>
              <a:rPr lang="en-US" sz="2400" dirty="0"/>
              <a:t>Aggregated diversity of streams</a:t>
            </a:r>
          </a:p>
        </p:txBody>
      </p:sp>
      <p:pic>
        <p:nvPicPr>
          <p:cNvPr id="7" name="Picture 6" descr="Screenshot of user homepage on music streamer, Spotify, showing &quot;Podcasts to try&quot; and &quot;Jump back in&quot; sections.">
            <a:extLst>
              <a:ext uri="{FF2B5EF4-FFF2-40B4-BE49-F238E27FC236}">
                <a16:creationId xmlns:a16="http://schemas.microsoft.com/office/drawing/2014/main" id="{13F2C96D-54D3-5F7C-B7F6-932BC1329FDB}"/>
              </a:ext>
            </a:extLst>
          </p:cNvPr>
          <p:cNvPicPr>
            <a:picLocks noChangeAspect="1"/>
          </p:cNvPicPr>
          <p:nvPr/>
        </p:nvPicPr>
        <p:blipFill>
          <a:blip r:embed="rId3"/>
          <a:stretch>
            <a:fillRect/>
          </a:stretch>
        </p:blipFill>
        <p:spPr>
          <a:xfrm>
            <a:off x="8151052" y="1129522"/>
            <a:ext cx="2603541" cy="4598955"/>
          </a:xfrm>
          <a:prstGeom prst="rect">
            <a:avLst/>
          </a:prstGeom>
        </p:spPr>
      </p:pic>
      <p:sp>
        <p:nvSpPr>
          <p:cNvPr id="5" name="Date Placeholder 4">
            <a:extLst>
              <a:ext uri="{FF2B5EF4-FFF2-40B4-BE49-F238E27FC236}">
                <a16:creationId xmlns:a16="http://schemas.microsoft.com/office/drawing/2014/main" id="{4DE86C2F-F120-F046-21A2-F180B6C0982C}"/>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E38E7D8-7068-B22B-C795-70BF80D7F7FD}"/>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303948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E3354-9095-C788-18A0-AAF5BF783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EFC9E-B951-F402-234B-608465FB1B38}"/>
              </a:ext>
            </a:extLst>
          </p:cNvPr>
          <p:cNvSpPr>
            <a:spLocks noGrp="1"/>
          </p:cNvSpPr>
          <p:nvPr>
            <p:ph type="ctrTitle"/>
          </p:nvPr>
        </p:nvSpPr>
        <p:spPr>
          <a:xfrm>
            <a:off x="2107519" y="437030"/>
            <a:ext cx="8931541" cy="664797"/>
          </a:xfrm>
        </p:spPr>
        <p:txBody>
          <a:bodyPr/>
          <a:lstStyle/>
          <a:p>
            <a:r>
              <a:rPr lang="en-US" dirty="0"/>
              <a:t>How do Recommender Systems Impact Diversity of Content? (Cont.)</a:t>
            </a:r>
          </a:p>
        </p:txBody>
      </p:sp>
      <p:sp>
        <p:nvSpPr>
          <p:cNvPr id="4" name="Text Placeholder 3">
            <a:extLst>
              <a:ext uri="{FF2B5EF4-FFF2-40B4-BE49-F238E27FC236}">
                <a16:creationId xmlns:a16="http://schemas.microsoft.com/office/drawing/2014/main" id="{1EBA6588-9C01-9268-2F78-4E5CBC448FC4}"/>
              </a:ext>
            </a:extLst>
          </p:cNvPr>
          <p:cNvSpPr>
            <a:spLocks noGrp="1"/>
          </p:cNvSpPr>
          <p:nvPr>
            <p:ph type="body" sz="quarter" idx="14"/>
          </p:nvPr>
        </p:nvSpPr>
        <p:spPr>
          <a:xfrm>
            <a:off x="1828800" y="1491343"/>
            <a:ext cx="8755379" cy="3837583"/>
          </a:xfrm>
        </p:spPr>
        <p:txBody>
          <a:bodyPr>
            <a:normAutofit lnSpcReduction="10000"/>
          </a:bodyPr>
          <a:lstStyle/>
          <a:p>
            <a:r>
              <a:rPr lang="en-US" sz="2400" dirty="0"/>
              <a:t>Quantity of streams: Increased streams by ~30%</a:t>
            </a:r>
          </a:p>
          <a:p>
            <a:endParaRPr lang="en-US" sz="2400" dirty="0"/>
          </a:p>
          <a:p>
            <a:r>
              <a:rPr lang="en-US" sz="2400" dirty="0"/>
              <a:t>Individual diversity of streams: Individual diversity falls</a:t>
            </a:r>
          </a:p>
          <a:p>
            <a:pPr lvl="1"/>
            <a:r>
              <a:rPr lang="en-US" sz="2400" dirty="0"/>
              <a:t>Each person streams more similar types of content</a:t>
            </a:r>
          </a:p>
          <a:p>
            <a:pPr lvl="1"/>
            <a:r>
              <a:rPr lang="en-US" sz="2400" dirty="0"/>
              <a:t>Easy to see how this could happen on e.g. YouTube’s recommended videos</a:t>
            </a:r>
          </a:p>
          <a:p>
            <a:endParaRPr lang="en-US" sz="2400" dirty="0"/>
          </a:p>
          <a:p>
            <a:r>
              <a:rPr lang="en-US" sz="2400" dirty="0"/>
              <a:t>Aggregate diversity of streams: Increased aggregate diversity</a:t>
            </a:r>
          </a:p>
          <a:p>
            <a:pPr lvl="1"/>
            <a:r>
              <a:rPr lang="en-US" sz="2400" dirty="0"/>
              <a:t>Different people stream different types of podcasts</a:t>
            </a:r>
          </a:p>
          <a:p>
            <a:pPr lvl="1"/>
            <a:r>
              <a:rPr lang="en-US" sz="2400" dirty="0"/>
              <a:t>Evidence of recommendations increasing long-tail</a:t>
            </a:r>
          </a:p>
        </p:txBody>
      </p:sp>
      <p:sp>
        <p:nvSpPr>
          <p:cNvPr id="5" name="Date Placeholder 4">
            <a:extLst>
              <a:ext uri="{FF2B5EF4-FFF2-40B4-BE49-F238E27FC236}">
                <a16:creationId xmlns:a16="http://schemas.microsoft.com/office/drawing/2014/main" id="{BC324049-8EC7-5CC7-674D-D341FB78238A}"/>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93B0F71A-563A-046E-064C-0F88D024FE34}"/>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34907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69D67-9A8B-68FD-3157-AF83FB8ADF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6E2430-A77D-CDBC-BABC-AB42093A05C2}"/>
              </a:ext>
            </a:extLst>
          </p:cNvPr>
          <p:cNvSpPr>
            <a:spLocks noGrp="1"/>
          </p:cNvSpPr>
          <p:nvPr>
            <p:ph type="ctrTitle"/>
          </p:nvPr>
        </p:nvSpPr>
        <p:spPr>
          <a:xfrm>
            <a:off x="2107520" y="437030"/>
            <a:ext cx="8476660" cy="332399"/>
          </a:xfrm>
        </p:spPr>
        <p:txBody>
          <a:bodyPr/>
          <a:lstStyle/>
          <a:p>
            <a:r>
              <a:rPr lang="en-US" dirty="0"/>
              <a:t>How do Recommender Systems Impact Consumer Surplus?</a:t>
            </a:r>
          </a:p>
        </p:txBody>
      </p:sp>
      <p:sp>
        <p:nvSpPr>
          <p:cNvPr id="4" name="Text Placeholder 3">
            <a:extLst>
              <a:ext uri="{FF2B5EF4-FFF2-40B4-BE49-F238E27FC236}">
                <a16:creationId xmlns:a16="http://schemas.microsoft.com/office/drawing/2014/main" id="{7204CF79-532F-8413-72FB-181956D82344}"/>
              </a:ext>
            </a:extLst>
          </p:cNvPr>
          <p:cNvSpPr>
            <a:spLocks noGrp="1"/>
          </p:cNvSpPr>
          <p:nvPr>
            <p:ph type="body" sz="quarter" idx="14"/>
          </p:nvPr>
        </p:nvSpPr>
        <p:spPr>
          <a:xfrm>
            <a:off x="1828800" y="1491343"/>
            <a:ext cx="4267199" cy="3837583"/>
          </a:xfrm>
        </p:spPr>
        <p:txBody>
          <a:bodyPr>
            <a:normAutofit fontScale="92500"/>
          </a:bodyPr>
          <a:lstStyle/>
          <a:p>
            <a:r>
              <a:rPr lang="en-US" sz="2000" dirty="0"/>
              <a:t>First pass: Consumers see what they want, must be good for consumers!</a:t>
            </a:r>
          </a:p>
          <a:p>
            <a:endParaRPr lang="en-US" sz="2000" dirty="0"/>
          </a:p>
          <a:p>
            <a:endParaRPr lang="en-US" sz="2000" dirty="0"/>
          </a:p>
          <a:p>
            <a:r>
              <a:rPr lang="en-US" sz="2000" dirty="0"/>
              <a:t>Recent research: Personalization softens price competition</a:t>
            </a:r>
          </a:p>
          <a:p>
            <a:endParaRPr lang="en-US" sz="2000" dirty="0"/>
          </a:p>
          <a:p>
            <a:endParaRPr lang="en-US" sz="2000" dirty="0"/>
          </a:p>
          <a:p>
            <a:r>
              <a:rPr lang="en-US" sz="2000" dirty="0"/>
              <a:t>Tradeoff between relevance and competition</a:t>
            </a:r>
          </a:p>
          <a:p>
            <a:endParaRPr lang="en-US" sz="2000" dirty="0"/>
          </a:p>
          <a:p>
            <a:r>
              <a:rPr lang="en-US" sz="2000" dirty="0"/>
              <a:t>Intuition: Are you more price elastic for your favorite brand or a random brand?</a:t>
            </a:r>
          </a:p>
        </p:txBody>
      </p:sp>
      <p:pic>
        <p:nvPicPr>
          <p:cNvPr id="7" name="Picture 6" descr="Title page of an academic paper titled “The Personalization Paradox: Welfare Effects of Personalized Recommendations in Two-Sided Digital Markets” by Aaron P. Kaye (University of Michigan), dated September 28, 2024.">
            <a:extLst>
              <a:ext uri="{FF2B5EF4-FFF2-40B4-BE49-F238E27FC236}">
                <a16:creationId xmlns:a16="http://schemas.microsoft.com/office/drawing/2014/main" id="{EE04A8E3-F577-4D17-5D4B-D52E49638EC3}"/>
              </a:ext>
            </a:extLst>
          </p:cNvPr>
          <p:cNvPicPr>
            <a:picLocks noChangeAspect="1"/>
          </p:cNvPicPr>
          <p:nvPr/>
        </p:nvPicPr>
        <p:blipFill>
          <a:blip r:embed="rId3"/>
          <a:stretch>
            <a:fillRect/>
          </a:stretch>
        </p:blipFill>
        <p:spPr>
          <a:xfrm>
            <a:off x="6245513" y="1162722"/>
            <a:ext cx="5696114" cy="4624996"/>
          </a:xfrm>
          <a:prstGeom prst="rect">
            <a:avLst/>
          </a:prstGeom>
        </p:spPr>
      </p:pic>
      <p:sp>
        <p:nvSpPr>
          <p:cNvPr id="5" name="Date Placeholder 4">
            <a:extLst>
              <a:ext uri="{FF2B5EF4-FFF2-40B4-BE49-F238E27FC236}">
                <a16:creationId xmlns:a16="http://schemas.microsoft.com/office/drawing/2014/main" id="{77B9AD4C-4DC8-4FBD-228C-535D5F516A06}"/>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290C3F16-9359-7B54-3B05-4CEF265484D5}"/>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346916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3746C-BF3E-8154-9FDA-4F117405F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971BE-CC5E-365A-E224-9E9AE8A866D9}"/>
              </a:ext>
            </a:extLst>
          </p:cNvPr>
          <p:cNvSpPr>
            <a:spLocks noGrp="1"/>
          </p:cNvSpPr>
          <p:nvPr>
            <p:ph type="ctrTitle"/>
          </p:nvPr>
        </p:nvSpPr>
        <p:spPr>
          <a:xfrm>
            <a:off x="2107520" y="437030"/>
            <a:ext cx="8476660" cy="332399"/>
          </a:xfrm>
        </p:spPr>
        <p:txBody>
          <a:bodyPr/>
          <a:lstStyle/>
          <a:p>
            <a:r>
              <a:rPr lang="en-US" dirty="0"/>
              <a:t>How do creators respond to being recommended?</a:t>
            </a:r>
          </a:p>
        </p:txBody>
      </p:sp>
      <p:sp>
        <p:nvSpPr>
          <p:cNvPr id="4" name="Text Placeholder 3">
            <a:extLst>
              <a:ext uri="{FF2B5EF4-FFF2-40B4-BE49-F238E27FC236}">
                <a16:creationId xmlns:a16="http://schemas.microsoft.com/office/drawing/2014/main" id="{C4C3B395-5598-8D6C-AF65-8E22C81B39B3}"/>
              </a:ext>
            </a:extLst>
          </p:cNvPr>
          <p:cNvSpPr>
            <a:spLocks noGrp="1"/>
          </p:cNvSpPr>
          <p:nvPr>
            <p:ph type="body" sz="quarter" idx="14"/>
          </p:nvPr>
        </p:nvSpPr>
        <p:spPr>
          <a:xfrm>
            <a:off x="1828800" y="1491343"/>
            <a:ext cx="4667003" cy="3837583"/>
          </a:xfrm>
        </p:spPr>
        <p:txBody>
          <a:bodyPr>
            <a:normAutofit/>
          </a:bodyPr>
          <a:lstStyle/>
          <a:p>
            <a:r>
              <a:rPr lang="en-US" sz="2000" dirty="0"/>
              <a:t>Experiment on Twitter randomly boosted certain creators</a:t>
            </a:r>
          </a:p>
          <a:p>
            <a:endParaRPr lang="en-US" sz="2000" dirty="0"/>
          </a:p>
          <a:p>
            <a:r>
              <a:rPr lang="en-US" sz="2000" dirty="0"/>
              <a:t>Found most users have weak response to additional attention</a:t>
            </a:r>
          </a:p>
          <a:p>
            <a:endParaRPr lang="en-US" sz="2000" dirty="0"/>
          </a:p>
          <a:p>
            <a:r>
              <a:rPr lang="en-US" sz="2000" dirty="0"/>
              <a:t>A subset of inactive users have larger treatment effects</a:t>
            </a:r>
          </a:p>
          <a:p>
            <a:pPr lvl="1"/>
            <a:r>
              <a:rPr lang="en-US" sz="2000" dirty="0"/>
              <a:t>Suggests targeting these users a useful way to stimulate content production</a:t>
            </a:r>
          </a:p>
        </p:txBody>
      </p:sp>
      <p:pic>
        <p:nvPicPr>
          <p:cNvPr id="8" name="Picture 7" descr="Title page of an academic paper titled “How Do Content Producers Respond to Engagement on Social Media Platforms?” by Simha Mummalaneni, Hema Yoganarasimhan, and Varad Pathak, dated April 26, 2023.">
            <a:extLst>
              <a:ext uri="{FF2B5EF4-FFF2-40B4-BE49-F238E27FC236}">
                <a16:creationId xmlns:a16="http://schemas.microsoft.com/office/drawing/2014/main" id="{C094CB3E-C096-0707-A5A7-AA9EFCD32794}"/>
              </a:ext>
            </a:extLst>
          </p:cNvPr>
          <p:cNvPicPr>
            <a:picLocks noChangeAspect="1"/>
          </p:cNvPicPr>
          <p:nvPr/>
        </p:nvPicPr>
        <p:blipFill>
          <a:blip r:embed="rId3"/>
          <a:stretch>
            <a:fillRect/>
          </a:stretch>
        </p:blipFill>
        <p:spPr>
          <a:xfrm>
            <a:off x="6728054" y="1313213"/>
            <a:ext cx="4695508" cy="4530217"/>
          </a:xfrm>
          <a:prstGeom prst="rect">
            <a:avLst/>
          </a:prstGeom>
        </p:spPr>
      </p:pic>
      <p:sp>
        <p:nvSpPr>
          <p:cNvPr id="5" name="Date Placeholder 4">
            <a:extLst>
              <a:ext uri="{FF2B5EF4-FFF2-40B4-BE49-F238E27FC236}">
                <a16:creationId xmlns:a16="http://schemas.microsoft.com/office/drawing/2014/main" id="{DC623899-6660-30B0-5BBE-5516E9640CC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86895B50-B7E0-D94A-7856-1752B9822544}"/>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2020621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6EC94-E5CF-0983-A9B1-C89D0D95D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7E9C7-8245-F452-6E15-5C4BCE4889B9}"/>
              </a:ext>
            </a:extLst>
          </p:cNvPr>
          <p:cNvSpPr>
            <a:spLocks noGrp="1"/>
          </p:cNvSpPr>
          <p:nvPr>
            <p:ph type="ctrTitle"/>
          </p:nvPr>
        </p:nvSpPr>
        <p:spPr>
          <a:xfrm>
            <a:off x="2107520" y="437030"/>
            <a:ext cx="8476660" cy="332399"/>
          </a:xfrm>
        </p:spPr>
        <p:txBody>
          <a:bodyPr/>
          <a:lstStyle/>
          <a:p>
            <a:r>
              <a:rPr lang="en-US" dirty="0"/>
              <a:t>Incentivizing content via recommendations</a:t>
            </a:r>
          </a:p>
        </p:txBody>
      </p:sp>
      <p:pic>
        <p:nvPicPr>
          <p:cNvPr id="10" name="Picture 9" descr="Article titled “Incentivizing Creators to Invest in High-Quality and Accurate Content,” explaining that platforms encourage the creation of engaging, original material. A bulleted list highlights types of content being disincentivized: domains with limited original content, fact-checked misinformation, inauthentic sharing, links to pages with high “click-gap,” and unoriginal news articles.">
            <a:extLst>
              <a:ext uri="{FF2B5EF4-FFF2-40B4-BE49-F238E27FC236}">
                <a16:creationId xmlns:a16="http://schemas.microsoft.com/office/drawing/2014/main" id="{B0943FA4-CC91-885C-F7B9-67B5101EB699}"/>
              </a:ext>
            </a:extLst>
          </p:cNvPr>
          <p:cNvPicPr>
            <a:picLocks noChangeAspect="1"/>
          </p:cNvPicPr>
          <p:nvPr/>
        </p:nvPicPr>
        <p:blipFill>
          <a:blip r:embed="rId3"/>
          <a:stretch>
            <a:fillRect/>
          </a:stretch>
        </p:blipFill>
        <p:spPr>
          <a:xfrm>
            <a:off x="2698750" y="1212850"/>
            <a:ext cx="6794500" cy="4432300"/>
          </a:xfrm>
          <a:prstGeom prst="rect">
            <a:avLst/>
          </a:prstGeom>
        </p:spPr>
      </p:pic>
      <p:sp>
        <p:nvSpPr>
          <p:cNvPr id="5" name="Date Placeholder 4">
            <a:extLst>
              <a:ext uri="{FF2B5EF4-FFF2-40B4-BE49-F238E27FC236}">
                <a16:creationId xmlns:a16="http://schemas.microsoft.com/office/drawing/2014/main" id="{A98B6984-70FD-0D9E-1BB3-2BF76F4E88DD}"/>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CD9940F-C6DC-E080-BAB8-683FB0BA8C5F}"/>
              </a:ext>
            </a:extLst>
          </p:cNvPr>
          <p:cNvSpPr>
            <a:spLocks noGrp="1"/>
          </p:cNvSpPr>
          <p:nvPr>
            <p:ph type="sldNum" sz="quarter" idx="12"/>
          </p:nvPr>
        </p:nvSpPr>
        <p:spPr/>
        <p:txBody>
          <a:bodyPr/>
          <a:lstStyle/>
          <a:p>
            <a:fld id="{8A7A6979-0714-4377-B894-6BE4C2D6E202}" type="slidenum">
              <a:rPr lang="en-US" smtClean="0"/>
              <a:pPr/>
              <a:t>43</a:t>
            </a:fld>
            <a:endParaRPr lang="en-US" dirty="0"/>
          </a:p>
        </p:txBody>
      </p:sp>
    </p:spTree>
    <p:extLst>
      <p:ext uri="{BB962C8B-B14F-4D97-AF65-F5344CB8AC3E}">
        <p14:creationId xmlns:p14="http://schemas.microsoft.com/office/powerpoint/2010/main" val="17780576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3EFE-285E-D6C8-25FB-47C648924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4FE14-9C3E-B988-113B-A819489E4604}"/>
              </a:ext>
            </a:extLst>
          </p:cNvPr>
          <p:cNvSpPr>
            <a:spLocks noGrp="1"/>
          </p:cNvSpPr>
          <p:nvPr>
            <p:ph type="ctrTitle"/>
          </p:nvPr>
        </p:nvSpPr>
        <p:spPr/>
        <p:txBody>
          <a:bodyPr/>
          <a:lstStyle/>
          <a:p>
            <a:r>
              <a:rPr lang="en-US" dirty="0"/>
              <a:t>Impact of Recommender Systems, Continued</a:t>
            </a:r>
          </a:p>
        </p:txBody>
      </p:sp>
      <p:sp>
        <p:nvSpPr>
          <p:cNvPr id="4" name="Text Placeholder 3">
            <a:extLst>
              <a:ext uri="{FF2B5EF4-FFF2-40B4-BE49-F238E27FC236}">
                <a16:creationId xmlns:a16="http://schemas.microsoft.com/office/drawing/2014/main" id="{0D555F57-A208-A03B-4B31-ED29519A420B}"/>
              </a:ext>
            </a:extLst>
          </p:cNvPr>
          <p:cNvSpPr>
            <a:spLocks noGrp="1"/>
          </p:cNvSpPr>
          <p:nvPr>
            <p:ph type="body" sz="quarter" idx="14"/>
          </p:nvPr>
        </p:nvSpPr>
        <p:spPr>
          <a:xfrm>
            <a:off x="1828800" y="1491343"/>
            <a:ext cx="8755380" cy="3837583"/>
          </a:xfrm>
        </p:spPr>
        <p:txBody>
          <a:bodyPr>
            <a:normAutofit/>
          </a:bodyPr>
          <a:lstStyle/>
          <a:p>
            <a:r>
              <a:rPr lang="en-US" sz="2400" dirty="0"/>
              <a:t>Recommendations increase sales / engagement</a:t>
            </a:r>
          </a:p>
          <a:p>
            <a:endParaRPr lang="en-US" sz="2400" dirty="0"/>
          </a:p>
          <a:p>
            <a:r>
              <a:rPr lang="en-US" sz="2400" dirty="0"/>
              <a:t>Evidence that personalization decreases individual diversity</a:t>
            </a:r>
          </a:p>
          <a:p>
            <a:endParaRPr lang="en-US" sz="2400" dirty="0"/>
          </a:p>
          <a:p>
            <a:r>
              <a:rPr lang="en-US" sz="2400" dirty="0"/>
              <a:t>Evidence that recommendations soften price competition</a:t>
            </a:r>
          </a:p>
          <a:p>
            <a:endParaRPr lang="en-US" sz="2400" dirty="0"/>
          </a:p>
          <a:p>
            <a:r>
              <a:rPr lang="en-US" sz="2400" dirty="0"/>
              <a:t>Has an impact on creators</a:t>
            </a:r>
          </a:p>
          <a:p>
            <a:pPr lvl="1"/>
            <a:r>
              <a:rPr lang="en-US" sz="2400" dirty="0"/>
              <a:t>Can incentivize content production and different types of production</a:t>
            </a:r>
          </a:p>
        </p:txBody>
      </p:sp>
      <p:sp>
        <p:nvSpPr>
          <p:cNvPr id="5" name="Date Placeholder 4">
            <a:extLst>
              <a:ext uri="{FF2B5EF4-FFF2-40B4-BE49-F238E27FC236}">
                <a16:creationId xmlns:a16="http://schemas.microsoft.com/office/drawing/2014/main" id="{31AB3F7B-F1E4-326F-15C3-9E5AD4FD8B8E}"/>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A7E183D8-7CBB-828F-34C0-CA96C8B4CD1F}"/>
              </a:ext>
            </a:extLst>
          </p:cNvPr>
          <p:cNvSpPr>
            <a:spLocks noGrp="1"/>
          </p:cNvSpPr>
          <p:nvPr>
            <p:ph type="sldNum" sz="quarter" idx="12"/>
          </p:nvPr>
        </p:nvSpPr>
        <p:spPr/>
        <p:txBody>
          <a:bodyPr/>
          <a:lstStyle/>
          <a:p>
            <a:fld id="{8A7A6979-0714-4377-B894-6BE4C2D6E202}" type="slidenum">
              <a:rPr lang="en-US" smtClean="0"/>
              <a:pPr/>
              <a:t>44</a:t>
            </a:fld>
            <a:endParaRPr lang="en-US" dirty="0"/>
          </a:p>
        </p:txBody>
      </p:sp>
    </p:spTree>
    <p:extLst>
      <p:ext uri="{BB962C8B-B14F-4D97-AF65-F5344CB8AC3E}">
        <p14:creationId xmlns:p14="http://schemas.microsoft.com/office/powerpoint/2010/main" val="203859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6801B-19FF-BD4F-45DC-121F1C9B1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2FA9D-7B06-6B44-12F7-B0115A5202EA}"/>
              </a:ext>
            </a:extLst>
          </p:cNvPr>
          <p:cNvSpPr>
            <a:spLocks noGrp="1"/>
          </p:cNvSpPr>
          <p:nvPr>
            <p:ph type="ctrTitle"/>
          </p:nvPr>
        </p:nvSpPr>
        <p:spPr>
          <a:xfrm>
            <a:off x="2647199" y="1501742"/>
            <a:ext cx="7300940" cy="1329595"/>
          </a:xfrm>
        </p:spPr>
        <p:txBody>
          <a:bodyPr/>
          <a:lstStyle/>
          <a:p>
            <a:r>
              <a:rPr lang="en-US" dirty="0"/>
              <a:t>Designing recommendations</a:t>
            </a:r>
          </a:p>
        </p:txBody>
      </p:sp>
      <p:sp>
        <p:nvSpPr>
          <p:cNvPr id="4" name="Date Placeholder 3">
            <a:extLst>
              <a:ext uri="{FF2B5EF4-FFF2-40B4-BE49-F238E27FC236}">
                <a16:creationId xmlns:a16="http://schemas.microsoft.com/office/drawing/2014/main" id="{3E4FC3F1-85AF-6DAF-9D7C-52407E47241F}"/>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2BA28485-E9E0-1A77-B753-F5E619DA75E2}"/>
              </a:ext>
            </a:extLst>
          </p:cNvPr>
          <p:cNvSpPr>
            <a:spLocks noGrp="1"/>
          </p:cNvSpPr>
          <p:nvPr>
            <p:ph type="sldNum" sz="quarter" idx="12"/>
          </p:nvPr>
        </p:nvSpPr>
        <p:spPr/>
        <p:txBody>
          <a:bodyPr/>
          <a:lstStyle/>
          <a:p>
            <a:fld id="{8A7A6979-0714-4377-B894-6BE4C2D6E202}" type="slidenum">
              <a:rPr lang="en-US" smtClean="0"/>
              <a:pPr/>
              <a:t>45</a:t>
            </a:fld>
            <a:endParaRPr lang="en-US" dirty="0"/>
          </a:p>
        </p:txBody>
      </p:sp>
    </p:spTree>
    <p:extLst>
      <p:ext uri="{BB962C8B-B14F-4D97-AF65-F5344CB8AC3E}">
        <p14:creationId xmlns:p14="http://schemas.microsoft.com/office/powerpoint/2010/main" val="15362476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53882-CCF0-C77A-E1E3-4BD3A29E9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B3DEF1-F1CF-F8C6-2843-0D130B90932D}"/>
              </a:ext>
            </a:extLst>
          </p:cNvPr>
          <p:cNvSpPr>
            <a:spLocks noGrp="1"/>
          </p:cNvSpPr>
          <p:nvPr>
            <p:ph type="ctrTitle"/>
          </p:nvPr>
        </p:nvSpPr>
        <p:spPr>
          <a:xfrm>
            <a:off x="2107520" y="437030"/>
            <a:ext cx="8476660" cy="332399"/>
          </a:xfrm>
        </p:spPr>
        <p:txBody>
          <a:bodyPr/>
          <a:lstStyle/>
          <a:p>
            <a:r>
              <a:rPr lang="en-US" dirty="0"/>
              <a:t>Recommender Systems Recap</a:t>
            </a:r>
          </a:p>
        </p:txBody>
      </p:sp>
      <p:sp>
        <p:nvSpPr>
          <p:cNvPr id="4" name="Text Placeholder 3">
            <a:extLst>
              <a:ext uri="{FF2B5EF4-FFF2-40B4-BE49-F238E27FC236}">
                <a16:creationId xmlns:a16="http://schemas.microsoft.com/office/drawing/2014/main" id="{4E32B67A-276F-1E95-6A8A-6B3C68EE832E}"/>
              </a:ext>
            </a:extLst>
          </p:cNvPr>
          <p:cNvSpPr>
            <a:spLocks noGrp="1"/>
          </p:cNvSpPr>
          <p:nvPr>
            <p:ph type="body" sz="quarter" idx="14"/>
          </p:nvPr>
        </p:nvSpPr>
        <p:spPr>
          <a:xfrm>
            <a:off x="1828799" y="1491343"/>
            <a:ext cx="9069355" cy="3837583"/>
          </a:xfrm>
        </p:spPr>
        <p:txBody>
          <a:bodyPr>
            <a:normAutofit/>
          </a:bodyPr>
          <a:lstStyle/>
          <a:p>
            <a:r>
              <a:rPr lang="en-US" sz="2400" dirty="0"/>
              <a:t>We have an algorithm that generates a prediction of how likely a user will watch a movie, rate the movie highly, </a:t>
            </a:r>
            <a:r>
              <a:rPr lang="en-US" sz="2400" dirty="0" err="1"/>
              <a:t>etc</a:t>
            </a:r>
            <a:endParaRPr lang="en-US" sz="2400" dirty="0"/>
          </a:p>
          <a:p>
            <a:endParaRPr lang="en-US" sz="2400" dirty="0"/>
          </a:p>
          <a:p>
            <a:r>
              <a:rPr lang="en-US" sz="2400" dirty="0"/>
              <a:t>An important input for the recommendations we show users</a:t>
            </a:r>
          </a:p>
          <a:p>
            <a:pPr lvl="1"/>
            <a:r>
              <a:rPr lang="en-US" sz="2400" dirty="0"/>
              <a:t>But not the only input!</a:t>
            </a:r>
          </a:p>
          <a:p>
            <a:pPr lvl="1"/>
            <a:r>
              <a:rPr lang="en-US" sz="2400" dirty="0"/>
              <a:t>This would treat engagement as the sole objective</a:t>
            </a:r>
          </a:p>
          <a:p>
            <a:endParaRPr lang="en-US" sz="2400" dirty="0"/>
          </a:p>
          <a:p>
            <a:r>
              <a:rPr lang="en-US" sz="2400" dirty="0"/>
              <a:t>We talked about risks of engagement-based rankings</a:t>
            </a:r>
          </a:p>
        </p:txBody>
      </p:sp>
      <p:sp>
        <p:nvSpPr>
          <p:cNvPr id="5" name="Date Placeholder 4">
            <a:extLst>
              <a:ext uri="{FF2B5EF4-FFF2-40B4-BE49-F238E27FC236}">
                <a16:creationId xmlns:a16="http://schemas.microsoft.com/office/drawing/2014/main" id="{A80CBDDA-F734-A3FD-91D5-C313012FDB01}"/>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84008EEC-963C-29D0-8946-B5877A742128}"/>
              </a:ext>
            </a:extLst>
          </p:cNvPr>
          <p:cNvSpPr>
            <a:spLocks noGrp="1"/>
          </p:cNvSpPr>
          <p:nvPr>
            <p:ph type="sldNum" sz="quarter" idx="12"/>
          </p:nvPr>
        </p:nvSpPr>
        <p:spPr/>
        <p:txBody>
          <a:bodyPr/>
          <a:lstStyle/>
          <a:p>
            <a:fld id="{8A7A6979-0714-4377-B894-6BE4C2D6E202}" type="slidenum">
              <a:rPr lang="en-US" smtClean="0"/>
              <a:pPr/>
              <a:t>46</a:t>
            </a:fld>
            <a:endParaRPr lang="en-US" dirty="0"/>
          </a:p>
        </p:txBody>
      </p:sp>
    </p:spTree>
    <p:extLst>
      <p:ext uri="{BB962C8B-B14F-4D97-AF65-F5344CB8AC3E}">
        <p14:creationId xmlns:p14="http://schemas.microsoft.com/office/powerpoint/2010/main" val="401881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D23F5-1306-B33E-3968-9A61D31B8A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5B61B-C839-DE15-C710-426B8D4FD061}"/>
              </a:ext>
            </a:extLst>
          </p:cNvPr>
          <p:cNvSpPr>
            <a:spLocks noGrp="1"/>
          </p:cNvSpPr>
          <p:nvPr>
            <p:ph type="ctrTitle"/>
          </p:nvPr>
        </p:nvSpPr>
        <p:spPr>
          <a:xfrm>
            <a:off x="2107520" y="437030"/>
            <a:ext cx="8476660" cy="332399"/>
          </a:xfrm>
        </p:spPr>
        <p:txBody>
          <a:bodyPr/>
          <a:lstStyle/>
          <a:p>
            <a:r>
              <a:rPr lang="en-US" dirty="0"/>
              <a:t>Challenges of Engagement-Only Recommendations</a:t>
            </a:r>
          </a:p>
        </p:txBody>
      </p:sp>
      <p:pic>
        <p:nvPicPr>
          <p:cNvPr id="8" name="Picture 7" descr="Cover of the book The Filter Bubble by Eli Pariser">
            <a:extLst>
              <a:ext uri="{FF2B5EF4-FFF2-40B4-BE49-F238E27FC236}">
                <a16:creationId xmlns:a16="http://schemas.microsoft.com/office/drawing/2014/main" id="{8874B69C-DAC3-D34E-16DD-13E3675F45F4}"/>
              </a:ext>
            </a:extLst>
          </p:cNvPr>
          <p:cNvPicPr>
            <a:picLocks noChangeAspect="1"/>
          </p:cNvPicPr>
          <p:nvPr/>
        </p:nvPicPr>
        <p:blipFill>
          <a:blip r:embed="rId3"/>
          <a:stretch>
            <a:fillRect/>
          </a:stretch>
        </p:blipFill>
        <p:spPr>
          <a:xfrm>
            <a:off x="4563968" y="1042338"/>
            <a:ext cx="3064064" cy="4773323"/>
          </a:xfrm>
          <a:prstGeom prst="rect">
            <a:avLst/>
          </a:prstGeom>
        </p:spPr>
      </p:pic>
      <p:sp>
        <p:nvSpPr>
          <p:cNvPr id="5" name="Date Placeholder 4">
            <a:extLst>
              <a:ext uri="{FF2B5EF4-FFF2-40B4-BE49-F238E27FC236}">
                <a16:creationId xmlns:a16="http://schemas.microsoft.com/office/drawing/2014/main" id="{ACEE1F3F-DA61-EB73-6C41-BA65C1C3C5B5}"/>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C56E77B1-878B-2C81-11CF-182ED0257D86}"/>
              </a:ext>
            </a:extLst>
          </p:cNvPr>
          <p:cNvSpPr>
            <a:spLocks noGrp="1"/>
          </p:cNvSpPr>
          <p:nvPr>
            <p:ph type="sldNum" sz="quarter" idx="12"/>
          </p:nvPr>
        </p:nvSpPr>
        <p:spPr/>
        <p:txBody>
          <a:bodyPr/>
          <a:lstStyle/>
          <a:p>
            <a:fld id="{8A7A6979-0714-4377-B894-6BE4C2D6E202}" type="slidenum">
              <a:rPr lang="en-US" smtClean="0"/>
              <a:pPr/>
              <a:t>47</a:t>
            </a:fld>
            <a:endParaRPr lang="en-US" dirty="0"/>
          </a:p>
        </p:txBody>
      </p:sp>
    </p:spTree>
    <p:extLst>
      <p:ext uri="{BB962C8B-B14F-4D97-AF65-F5344CB8AC3E}">
        <p14:creationId xmlns:p14="http://schemas.microsoft.com/office/powerpoint/2010/main" val="6807028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8E27A-92BA-E6BD-62AA-BD780968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B1A84-9F78-E60F-5618-B6B8BA5DD253}"/>
              </a:ext>
            </a:extLst>
          </p:cNvPr>
          <p:cNvSpPr>
            <a:spLocks noGrp="1"/>
          </p:cNvSpPr>
          <p:nvPr>
            <p:ph type="ctrTitle"/>
          </p:nvPr>
        </p:nvSpPr>
        <p:spPr>
          <a:xfrm>
            <a:off x="2107520" y="437030"/>
            <a:ext cx="8476660" cy="332399"/>
          </a:xfrm>
        </p:spPr>
        <p:txBody>
          <a:bodyPr/>
          <a:lstStyle/>
          <a:p>
            <a:r>
              <a:rPr lang="en-US" dirty="0"/>
              <a:t>Challenges of Engagement-Only Recommendations, Continued</a:t>
            </a:r>
          </a:p>
        </p:txBody>
      </p:sp>
      <p:pic>
        <p:nvPicPr>
          <p:cNvPr id="4" name="Picture 3" descr="Screenshot of the title page and abstract of an academic paper titled Digital Addiction by Hunt Allcott, Matthew Gentzkow, and Lena Song, summarizing research on habit formation, self-control problems, and reduced social media use through randomized interventions.">
            <a:extLst>
              <a:ext uri="{FF2B5EF4-FFF2-40B4-BE49-F238E27FC236}">
                <a16:creationId xmlns:a16="http://schemas.microsoft.com/office/drawing/2014/main" id="{7E862402-5494-8968-DDE5-149F7BC7B92C}"/>
              </a:ext>
            </a:extLst>
          </p:cNvPr>
          <p:cNvPicPr>
            <a:picLocks noChangeAspect="1"/>
          </p:cNvPicPr>
          <p:nvPr/>
        </p:nvPicPr>
        <p:blipFill>
          <a:blip r:embed="rId3"/>
          <a:stretch>
            <a:fillRect/>
          </a:stretch>
        </p:blipFill>
        <p:spPr>
          <a:xfrm>
            <a:off x="3448366" y="1206707"/>
            <a:ext cx="5477882" cy="4444586"/>
          </a:xfrm>
          <a:prstGeom prst="rect">
            <a:avLst/>
          </a:prstGeom>
        </p:spPr>
      </p:pic>
      <p:sp>
        <p:nvSpPr>
          <p:cNvPr id="5" name="Date Placeholder 4">
            <a:extLst>
              <a:ext uri="{FF2B5EF4-FFF2-40B4-BE49-F238E27FC236}">
                <a16:creationId xmlns:a16="http://schemas.microsoft.com/office/drawing/2014/main" id="{E4027A2C-CCA2-EB56-9666-94C38E28A520}"/>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3F5061F4-7489-B36F-313A-9EED15ECA613}"/>
              </a:ext>
            </a:extLst>
          </p:cNvPr>
          <p:cNvSpPr>
            <a:spLocks noGrp="1"/>
          </p:cNvSpPr>
          <p:nvPr>
            <p:ph type="sldNum" sz="quarter" idx="12"/>
          </p:nvPr>
        </p:nvSpPr>
        <p:spPr/>
        <p:txBody>
          <a:bodyPr/>
          <a:lstStyle/>
          <a:p>
            <a:fld id="{8A7A6979-0714-4377-B894-6BE4C2D6E202}" type="slidenum">
              <a:rPr lang="en-US" smtClean="0"/>
              <a:pPr/>
              <a:t>48</a:t>
            </a:fld>
            <a:endParaRPr lang="en-US" dirty="0"/>
          </a:p>
        </p:txBody>
      </p:sp>
    </p:spTree>
    <p:extLst>
      <p:ext uri="{BB962C8B-B14F-4D97-AF65-F5344CB8AC3E}">
        <p14:creationId xmlns:p14="http://schemas.microsoft.com/office/powerpoint/2010/main" val="37631675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78E5C-9EA8-AC97-069D-74C68420A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857D77-E4D3-E862-2BAA-C9B95832FF55}"/>
              </a:ext>
            </a:extLst>
          </p:cNvPr>
          <p:cNvSpPr>
            <a:spLocks noGrp="1"/>
          </p:cNvSpPr>
          <p:nvPr>
            <p:ph type="ctrTitle"/>
          </p:nvPr>
        </p:nvSpPr>
        <p:spPr>
          <a:xfrm>
            <a:off x="2107520" y="437030"/>
            <a:ext cx="8476660" cy="332399"/>
          </a:xfrm>
        </p:spPr>
        <p:txBody>
          <a:bodyPr/>
          <a:lstStyle/>
          <a:p>
            <a:r>
              <a:rPr lang="en-US" dirty="0"/>
              <a:t>Designing Final Recommendations</a:t>
            </a:r>
          </a:p>
        </p:txBody>
      </p:sp>
      <p:sp>
        <p:nvSpPr>
          <p:cNvPr id="4" name="Text Placeholder 3">
            <a:extLst>
              <a:ext uri="{FF2B5EF4-FFF2-40B4-BE49-F238E27FC236}">
                <a16:creationId xmlns:a16="http://schemas.microsoft.com/office/drawing/2014/main" id="{48C01345-AB50-FEA1-71BA-1DE22F3F08EA}"/>
              </a:ext>
            </a:extLst>
          </p:cNvPr>
          <p:cNvSpPr>
            <a:spLocks noGrp="1"/>
          </p:cNvSpPr>
          <p:nvPr>
            <p:ph type="body" sz="quarter" idx="14"/>
          </p:nvPr>
        </p:nvSpPr>
        <p:spPr>
          <a:xfrm>
            <a:off x="1828799" y="1491343"/>
            <a:ext cx="9069355" cy="3837583"/>
          </a:xfrm>
        </p:spPr>
        <p:txBody>
          <a:bodyPr>
            <a:normAutofit fontScale="92500" lnSpcReduction="10000"/>
          </a:bodyPr>
          <a:lstStyle/>
          <a:p>
            <a:r>
              <a:rPr lang="en-US" sz="2400" dirty="0"/>
              <a:t>Often our OEC is different from </a:t>
            </a:r>
            <a:r>
              <a:rPr lang="en-US" sz="2400" u="sng" dirty="0"/>
              <a:t>just</a:t>
            </a:r>
            <a:r>
              <a:rPr lang="en-US" sz="2400" dirty="0"/>
              <a:t> engagement</a:t>
            </a:r>
          </a:p>
          <a:p>
            <a:endParaRPr lang="en-US" sz="2400" dirty="0"/>
          </a:p>
          <a:p>
            <a:r>
              <a:rPr lang="en-US" sz="2400" dirty="0"/>
              <a:t>Rank content to maximize the OEC rather than engagement alone</a:t>
            </a:r>
          </a:p>
          <a:p>
            <a:endParaRPr lang="en-US" sz="2400" dirty="0"/>
          </a:p>
          <a:p>
            <a:r>
              <a:rPr lang="en-US" sz="2400" dirty="0"/>
              <a:t>This often manifests as ranking by a linear combination of:</a:t>
            </a:r>
          </a:p>
          <a:p>
            <a:pPr lvl="1"/>
            <a:r>
              <a:rPr lang="en-US" sz="2400" dirty="0"/>
              <a:t>Predicted engagement / rating</a:t>
            </a:r>
          </a:p>
          <a:p>
            <a:pPr lvl="1"/>
            <a:r>
              <a:rPr lang="en-US" sz="2400" dirty="0"/>
              <a:t>Profit margin</a:t>
            </a:r>
          </a:p>
          <a:p>
            <a:pPr lvl="1"/>
            <a:r>
              <a:rPr lang="en-US" sz="2400" dirty="0"/>
              <a:t>Diversity of content</a:t>
            </a:r>
          </a:p>
          <a:p>
            <a:pPr lvl="1"/>
            <a:r>
              <a:rPr lang="en-US" sz="2400" dirty="0"/>
              <a:t>“Quality” of content</a:t>
            </a:r>
          </a:p>
          <a:p>
            <a:pPr lvl="1"/>
            <a:r>
              <a:rPr lang="en-US" sz="2400" dirty="0"/>
              <a:t>…</a:t>
            </a:r>
          </a:p>
        </p:txBody>
      </p:sp>
      <p:sp>
        <p:nvSpPr>
          <p:cNvPr id="5" name="Date Placeholder 4">
            <a:extLst>
              <a:ext uri="{FF2B5EF4-FFF2-40B4-BE49-F238E27FC236}">
                <a16:creationId xmlns:a16="http://schemas.microsoft.com/office/drawing/2014/main" id="{F36BDA45-8FD4-95C1-D5FE-E8C55E9D9803}"/>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A391E393-6189-EEE1-E3C5-8A6DA64B2505}"/>
              </a:ext>
            </a:extLst>
          </p:cNvPr>
          <p:cNvSpPr>
            <a:spLocks noGrp="1"/>
          </p:cNvSpPr>
          <p:nvPr>
            <p:ph type="sldNum" sz="quarter" idx="12"/>
          </p:nvPr>
        </p:nvSpPr>
        <p:spPr/>
        <p:txBody>
          <a:bodyPr/>
          <a:lstStyle/>
          <a:p>
            <a:fld id="{8A7A6979-0714-4377-B894-6BE4C2D6E202}" type="slidenum">
              <a:rPr lang="en-US" smtClean="0"/>
              <a:pPr/>
              <a:t>49</a:t>
            </a:fld>
            <a:endParaRPr lang="en-US" dirty="0"/>
          </a:p>
        </p:txBody>
      </p:sp>
    </p:spTree>
    <p:extLst>
      <p:ext uri="{BB962C8B-B14F-4D97-AF65-F5344CB8AC3E}">
        <p14:creationId xmlns:p14="http://schemas.microsoft.com/office/powerpoint/2010/main" val="181062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979DC-C3F6-39D2-0E8D-706569C91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64DD1-70A7-3000-22DC-A170265FF775}"/>
              </a:ext>
            </a:extLst>
          </p:cNvPr>
          <p:cNvSpPr>
            <a:spLocks noGrp="1"/>
          </p:cNvSpPr>
          <p:nvPr>
            <p:ph type="ctrTitle"/>
          </p:nvPr>
        </p:nvSpPr>
        <p:spPr>
          <a:xfrm>
            <a:off x="2107520" y="437030"/>
            <a:ext cx="8476660" cy="332399"/>
          </a:xfrm>
        </p:spPr>
        <p:txBody>
          <a:bodyPr/>
          <a:lstStyle/>
          <a:p>
            <a:r>
              <a:rPr lang="en-US" dirty="0"/>
              <a:t>An Encouraging Result</a:t>
            </a:r>
          </a:p>
        </p:txBody>
      </p:sp>
      <p:sp>
        <p:nvSpPr>
          <p:cNvPr id="4" name="Text Placeholder 3">
            <a:extLst>
              <a:ext uri="{FF2B5EF4-FFF2-40B4-BE49-F238E27FC236}">
                <a16:creationId xmlns:a16="http://schemas.microsoft.com/office/drawing/2014/main" id="{4F881675-95FD-7AED-8638-7041115DC2BE}"/>
              </a:ext>
            </a:extLst>
          </p:cNvPr>
          <p:cNvSpPr>
            <a:spLocks noGrp="1"/>
          </p:cNvSpPr>
          <p:nvPr>
            <p:ph type="body" sz="quarter" idx="14"/>
          </p:nvPr>
        </p:nvSpPr>
        <p:spPr>
          <a:xfrm>
            <a:off x="1828799" y="1491343"/>
            <a:ext cx="9069355" cy="3837583"/>
          </a:xfrm>
        </p:spPr>
        <p:txBody>
          <a:bodyPr>
            <a:normAutofit/>
          </a:bodyPr>
          <a:lstStyle/>
          <a:p>
            <a:r>
              <a:rPr lang="en-US" sz="2400" dirty="0"/>
              <a:t>Recent research has found putting weight on non-engagement outcome is not too costly for engagement</a:t>
            </a:r>
          </a:p>
          <a:p>
            <a:endParaRPr lang="en-US" sz="2400" dirty="0"/>
          </a:p>
          <a:p>
            <a:r>
              <a:rPr lang="en-US" sz="2400" dirty="0"/>
              <a:t>Implication: If we care about more than just short-term engagement, we can impact these metrics for small changes in engagement</a:t>
            </a:r>
          </a:p>
          <a:p>
            <a:pPr lvl="1"/>
            <a:r>
              <a:rPr lang="en-US" sz="2400" dirty="0"/>
              <a:t>Is it clear why this is an encouraging result?</a:t>
            </a:r>
          </a:p>
        </p:txBody>
      </p:sp>
      <p:sp>
        <p:nvSpPr>
          <p:cNvPr id="5" name="Date Placeholder 4">
            <a:extLst>
              <a:ext uri="{FF2B5EF4-FFF2-40B4-BE49-F238E27FC236}">
                <a16:creationId xmlns:a16="http://schemas.microsoft.com/office/drawing/2014/main" id="{091A6A44-2E27-BB2B-A5B9-68251FA32154}"/>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6676A5FB-1216-AB80-B88E-F0FE627D70A5}"/>
              </a:ext>
            </a:extLst>
          </p:cNvPr>
          <p:cNvSpPr>
            <a:spLocks noGrp="1"/>
          </p:cNvSpPr>
          <p:nvPr>
            <p:ph type="sldNum" sz="quarter" idx="12"/>
          </p:nvPr>
        </p:nvSpPr>
        <p:spPr/>
        <p:txBody>
          <a:bodyPr/>
          <a:lstStyle/>
          <a:p>
            <a:fld id="{8A7A6979-0714-4377-B894-6BE4C2D6E202}" type="slidenum">
              <a:rPr lang="en-US" smtClean="0"/>
              <a:pPr/>
              <a:t>50</a:t>
            </a:fld>
            <a:endParaRPr lang="en-US" dirty="0"/>
          </a:p>
        </p:txBody>
      </p:sp>
    </p:spTree>
    <p:extLst>
      <p:ext uri="{BB962C8B-B14F-4D97-AF65-F5344CB8AC3E}">
        <p14:creationId xmlns:p14="http://schemas.microsoft.com/office/powerpoint/2010/main" val="39163697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38A0F-9FE3-36B5-F155-8DD02DDBD6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C529CC-CB94-A2E8-E2E2-BAD00E7E97F6}"/>
              </a:ext>
            </a:extLst>
          </p:cNvPr>
          <p:cNvSpPr>
            <a:spLocks noGrp="1"/>
          </p:cNvSpPr>
          <p:nvPr>
            <p:ph type="ctrTitle"/>
          </p:nvPr>
        </p:nvSpPr>
        <p:spPr>
          <a:xfrm>
            <a:off x="2107520" y="437030"/>
            <a:ext cx="8476660" cy="332399"/>
          </a:xfrm>
        </p:spPr>
        <p:txBody>
          <a:bodyPr/>
          <a:lstStyle/>
          <a:p>
            <a:r>
              <a:rPr lang="en-US" dirty="0"/>
              <a:t>Example 1: Credibility of News Content</a:t>
            </a:r>
          </a:p>
        </p:txBody>
      </p:sp>
      <p:pic>
        <p:nvPicPr>
          <p:cNvPr id="14" name="Picture 13" descr="Line chart showing the relationship between credibility (x-axis) and average engagement (y-axis).">
            <a:extLst>
              <a:ext uri="{FF2B5EF4-FFF2-40B4-BE49-F238E27FC236}">
                <a16:creationId xmlns:a16="http://schemas.microsoft.com/office/drawing/2014/main" id="{40E4BA04-B424-9206-DCB0-5875DD770AD0}"/>
              </a:ext>
            </a:extLst>
          </p:cNvPr>
          <p:cNvPicPr>
            <a:picLocks noChangeAspect="1"/>
          </p:cNvPicPr>
          <p:nvPr/>
        </p:nvPicPr>
        <p:blipFill>
          <a:blip r:embed="rId3"/>
          <a:stretch>
            <a:fillRect/>
          </a:stretch>
        </p:blipFill>
        <p:spPr>
          <a:xfrm>
            <a:off x="2863850" y="1041400"/>
            <a:ext cx="6464300" cy="4775200"/>
          </a:xfrm>
          <a:prstGeom prst="rect">
            <a:avLst/>
          </a:prstGeom>
        </p:spPr>
      </p:pic>
      <p:sp>
        <p:nvSpPr>
          <p:cNvPr id="5" name="Date Placeholder 4">
            <a:extLst>
              <a:ext uri="{FF2B5EF4-FFF2-40B4-BE49-F238E27FC236}">
                <a16:creationId xmlns:a16="http://schemas.microsoft.com/office/drawing/2014/main" id="{8DBD91C1-223E-4E9D-9434-36B3BEAF4A99}"/>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0B9B0FE0-3154-0E7B-F838-05C06921EB83}"/>
              </a:ext>
            </a:extLst>
          </p:cNvPr>
          <p:cNvSpPr>
            <a:spLocks noGrp="1"/>
          </p:cNvSpPr>
          <p:nvPr>
            <p:ph type="sldNum" sz="quarter" idx="12"/>
          </p:nvPr>
        </p:nvSpPr>
        <p:spPr/>
        <p:txBody>
          <a:bodyPr/>
          <a:lstStyle/>
          <a:p>
            <a:fld id="{8A7A6979-0714-4377-B894-6BE4C2D6E202}" type="slidenum">
              <a:rPr lang="en-US" smtClean="0"/>
              <a:pPr/>
              <a:t>51</a:t>
            </a:fld>
            <a:endParaRPr lang="en-US" dirty="0"/>
          </a:p>
        </p:txBody>
      </p:sp>
    </p:spTree>
    <p:extLst>
      <p:ext uri="{BB962C8B-B14F-4D97-AF65-F5344CB8AC3E}">
        <p14:creationId xmlns:p14="http://schemas.microsoft.com/office/powerpoint/2010/main" val="2420429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30C8C-24F3-2714-D3BB-53AA2F224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72FBF-529B-F1AB-7E75-DEDCF850D1FF}"/>
              </a:ext>
            </a:extLst>
          </p:cNvPr>
          <p:cNvSpPr>
            <a:spLocks noGrp="1"/>
          </p:cNvSpPr>
          <p:nvPr>
            <p:ph type="ctrTitle"/>
          </p:nvPr>
        </p:nvSpPr>
        <p:spPr>
          <a:xfrm>
            <a:off x="2107520" y="437030"/>
            <a:ext cx="8476660" cy="332399"/>
          </a:xfrm>
        </p:spPr>
        <p:txBody>
          <a:bodyPr/>
          <a:lstStyle/>
          <a:p>
            <a:r>
              <a:rPr lang="en-US" dirty="0"/>
              <a:t>Example 2: Inclusive Recommendations at Pinterest</a:t>
            </a:r>
          </a:p>
        </p:txBody>
      </p:sp>
      <p:pic>
        <p:nvPicPr>
          <p:cNvPr id="4" name="Picture 3" descr="Scatter plot showing percentage change in treatment versus control across four outcome variables: Total Saves, Saves of Deeper ST Content, Shannon Entropy, and Saved All 4 ST (Binary).">
            <a:extLst>
              <a:ext uri="{FF2B5EF4-FFF2-40B4-BE49-F238E27FC236}">
                <a16:creationId xmlns:a16="http://schemas.microsoft.com/office/drawing/2014/main" id="{A9CD7BDE-805F-4512-22D9-37BBADB01D87}"/>
              </a:ext>
            </a:extLst>
          </p:cNvPr>
          <p:cNvPicPr>
            <a:picLocks noChangeAspect="1"/>
          </p:cNvPicPr>
          <p:nvPr/>
        </p:nvPicPr>
        <p:blipFill>
          <a:blip r:embed="rId3"/>
          <a:stretch>
            <a:fillRect/>
          </a:stretch>
        </p:blipFill>
        <p:spPr>
          <a:xfrm>
            <a:off x="2628900" y="1041400"/>
            <a:ext cx="6934200" cy="4775200"/>
          </a:xfrm>
          <a:prstGeom prst="rect">
            <a:avLst/>
          </a:prstGeom>
        </p:spPr>
      </p:pic>
      <p:sp>
        <p:nvSpPr>
          <p:cNvPr id="8" name="TextBox 7">
            <a:extLst>
              <a:ext uri="{FF2B5EF4-FFF2-40B4-BE49-F238E27FC236}">
                <a16:creationId xmlns:a16="http://schemas.microsoft.com/office/drawing/2014/main" id="{01D8F85D-883C-62B2-C3AF-41203FB741AB}"/>
              </a:ext>
            </a:extLst>
          </p:cNvPr>
          <p:cNvSpPr txBox="1"/>
          <p:nvPr/>
        </p:nvSpPr>
        <p:spPr>
          <a:xfrm>
            <a:off x="8025460" y="5481050"/>
            <a:ext cx="2823465" cy="369332"/>
          </a:xfrm>
          <a:prstGeom prst="rect">
            <a:avLst/>
          </a:prstGeom>
          <a:noFill/>
        </p:spPr>
        <p:txBody>
          <a:bodyPr wrap="none" rtlCol="0">
            <a:spAutoFit/>
          </a:bodyPr>
          <a:lstStyle/>
          <a:p>
            <a:r>
              <a:rPr lang="en-US" dirty="0"/>
              <a:t>Source: Kumar et al (2024)</a:t>
            </a:r>
          </a:p>
        </p:txBody>
      </p:sp>
      <p:sp>
        <p:nvSpPr>
          <p:cNvPr id="5" name="Date Placeholder 4">
            <a:extLst>
              <a:ext uri="{FF2B5EF4-FFF2-40B4-BE49-F238E27FC236}">
                <a16:creationId xmlns:a16="http://schemas.microsoft.com/office/drawing/2014/main" id="{5FFB12D7-C7EE-DAE3-0B24-6E23D1F4A0E3}"/>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9E4E1B87-4944-949E-FADA-658F7FEFF933}"/>
              </a:ext>
            </a:extLst>
          </p:cNvPr>
          <p:cNvSpPr>
            <a:spLocks noGrp="1"/>
          </p:cNvSpPr>
          <p:nvPr>
            <p:ph type="sldNum" sz="quarter" idx="12"/>
          </p:nvPr>
        </p:nvSpPr>
        <p:spPr/>
        <p:txBody>
          <a:bodyPr/>
          <a:lstStyle/>
          <a:p>
            <a:fld id="{8A7A6979-0714-4377-B894-6BE4C2D6E202}" type="slidenum">
              <a:rPr lang="en-US" smtClean="0"/>
              <a:pPr/>
              <a:t>52</a:t>
            </a:fld>
            <a:endParaRPr lang="en-US" dirty="0"/>
          </a:p>
        </p:txBody>
      </p:sp>
    </p:spTree>
    <p:extLst>
      <p:ext uri="{BB962C8B-B14F-4D97-AF65-F5344CB8AC3E}">
        <p14:creationId xmlns:p14="http://schemas.microsoft.com/office/powerpoint/2010/main" val="28314387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FDE9A-F179-6E2D-A4CA-B6EC6FA19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B0FC1-C797-E103-E4CA-EEB2F3AF68CD}"/>
              </a:ext>
            </a:extLst>
          </p:cNvPr>
          <p:cNvSpPr>
            <a:spLocks noGrp="1"/>
          </p:cNvSpPr>
          <p:nvPr>
            <p:ph type="ctrTitle"/>
          </p:nvPr>
        </p:nvSpPr>
        <p:spPr>
          <a:xfrm>
            <a:off x="2107520" y="437030"/>
            <a:ext cx="8476660" cy="332399"/>
          </a:xfrm>
        </p:spPr>
        <p:txBody>
          <a:bodyPr/>
          <a:lstStyle/>
          <a:p>
            <a:r>
              <a:rPr lang="en-US" dirty="0"/>
              <a:t>Question</a:t>
            </a:r>
          </a:p>
        </p:txBody>
      </p:sp>
      <p:sp>
        <p:nvSpPr>
          <p:cNvPr id="4" name="Text Placeholder 3">
            <a:extLst>
              <a:ext uri="{FF2B5EF4-FFF2-40B4-BE49-F238E27FC236}">
                <a16:creationId xmlns:a16="http://schemas.microsoft.com/office/drawing/2014/main" id="{23D38090-5C32-B96E-F6FF-B27AE562302F}"/>
              </a:ext>
            </a:extLst>
          </p:cNvPr>
          <p:cNvSpPr>
            <a:spLocks noGrp="1"/>
          </p:cNvSpPr>
          <p:nvPr>
            <p:ph type="body" sz="quarter" idx="14"/>
          </p:nvPr>
        </p:nvSpPr>
        <p:spPr>
          <a:xfrm>
            <a:off x="1828799" y="1491343"/>
            <a:ext cx="9069355" cy="3837583"/>
          </a:xfrm>
        </p:spPr>
        <p:txBody>
          <a:bodyPr>
            <a:normAutofit/>
          </a:bodyPr>
          <a:lstStyle/>
          <a:p>
            <a:pPr marL="0" indent="0" algn="ctr">
              <a:buNone/>
            </a:pPr>
            <a:endParaRPr lang="en-US" sz="2400" dirty="0"/>
          </a:p>
          <a:p>
            <a:pPr marL="0" indent="0" algn="ctr">
              <a:buNone/>
            </a:pPr>
            <a:endParaRPr lang="en-US" sz="2400" dirty="0"/>
          </a:p>
          <a:p>
            <a:pPr marL="0" indent="0" algn="ctr">
              <a:buNone/>
            </a:pPr>
            <a:endParaRPr lang="en-US" sz="2400" dirty="0"/>
          </a:p>
          <a:p>
            <a:pPr marL="0" indent="0" algn="ctr">
              <a:buNone/>
            </a:pPr>
            <a:r>
              <a:rPr lang="en-US" sz="2400" dirty="0"/>
              <a:t>You work at Amazon designing their recommendation system, what might your ranking objective function look like?</a:t>
            </a:r>
          </a:p>
        </p:txBody>
      </p:sp>
      <p:sp>
        <p:nvSpPr>
          <p:cNvPr id="5" name="Date Placeholder 4">
            <a:extLst>
              <a:ext uri="{FF2B5EF4-FFF2-40B4-BE49-F238E27FC236}">
                <a16:creationId xmlns:a16="http://schemas.microsoft.com/office/drawing/2014/main" id="{29CF3B65-1621-3F30-FAD1-A09D08AF91FE}"/>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E0D614F0-96A4-E013-AABE-66F71490C30E}"/>
              </a:ext>
            </a:extLst>
          </p:cNvPr>
          <p:cNvSpPr>
            <a:spLocks noGrp="1"/>
          </p:cNvSpPr>
          <p:nvPr>
            <p:ph type="sldNum" sz="quarter" idx="12"/>
          </p:nvPr>
        </p:nvSpPr>
        <p:spPr/>
        <p:txBody>
          <a:bodyPr/>
          <a:lstStyle/>
          <a:p>
            <a:fld id="{8A7A6979-0714-4377-B894-6BE4C2D6E202}" type="slidenum">
              <a:rPr lang="en-US" smtClean="0"/>
              <a:pPr/>
              <a:t>53</a:t>
            </a:fld>
            <a:endParaRPr lang="en-US" dirty="0"/>
          </a:p>
        </p:txBody>
      </p:sp>
    </p:spTree>
    <p:extLst>
      <p:ext uri="{BB962C8B-B14F-4D97-AF65-F5344CB8AC3E}">
        <p14:creationId xmlns:p14="http://schemas.microsoft.com/office/powerpoint/2010/main" val="3032220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73C4-1F66-2EF8-EED3-6C2C6014B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7A1B7-5DDC-BA39-579F-F38D310105C3}"/>
              </a:ext>
            </a:extLst>
          </p:cNvPr>
          <p:cNvSpPr>
            <a:spLocks noGrp="1"/>
          </p:cNvSpPr>
          <p:nvPr>
            <p:ph type="ctrTitle"/>
          </p:nvPr>
        </p:nvSpPr>
        <p:spPr>
          <a:xfrm>
            <a:off x="2107520" y="437030"/>
            <a:ext cx="8476660" cy="332399"/>
          </a:xfrm>
        </p:spPr>
        <p:txBody>
          <a:bodyPr/>
          <a:lstStyle/>
          <a:p>
            <a:r>
              <a:rPr lang="en-US" dirty="0"/>
              <a:t>Self-Preferencing</a:t>
            </a:r>
          </a:p>
        </p:txBody>
      </p:sp>
      <p:sp>
        <p:nvSpPr>
          <p:cNvPr id="4" name="Text Placeholder 3">
            <a:extLst>
              <a:ext uri="{FF2B5EF4-FFF2-40B4-BE49-F238E27FC236}">
                <a16:creationId xmlns:a16="http://schemas.microsoft.com/office/drawing/2014/main" id="{FA7957F7-EA3E-32E9-E8AE-FD39A3546F2C}"/>
              </a:ext>
            </a:extLst>
          </p:cNvPr>
          <p:cNvSpPr>
            <a:spLocks noGrp="1"/>
          </p:cNvSpPr>
          <p:nvPr>
            <p:ph type="body" sz="quarter" idx="14"/>
          </p:nvPr>
        </p:nvSpPr>
        <p:spPr>
          <a:xfrm>
            <a:off x="1828799" y="1491343"/>
            <a:ext cx="9069355" cy="3837583"/>
          </a:xfrm>
        </p:spPr>
        <p:txBody>
          <a:bodyPr>
            <a:normAutofit/>
          </a:bodyPr>
          <a:lstStyle/>
          <a:p>
            <a:r>
              <a:rPr lang="en-US" sz="2400" dirty="0"/>
              <a:t>Not permitted under the EU’s DMA</a:t>
            </a:r>
          </a:p>
          <a:p>
            <a:endParaRPr lang="en-US" sz="2400" dirty="0"/>
          </a:p>
        </p:txBody>
      </p:sp>
      <p:pic>
        <p:nvPicPr>
          <p:cNvPr id="10" name="Picture 9" descr="Article section with the following text: Gatekeeper platforms may no longer: treat services and products offered by the gatekeeper itself more favorably in ranking than similar services or products offered by third parties on the gatekeeper's platform...&quot;">
            <a:extLst>
              <a:ext uri="{FF2B5EF4-FFF2-40B4-BE49-F238E27FC236}">
                <a16:creationId xmlns:a16="http://schemas.microsoft.com/office/drawing/2014/main" id="{CD771B07-D7D6-CA09-34B7-9FAB0F70FDBA}"/>
              </a:ext>
            </a:extLst>
          </p:cNvPr>
          <p:cNvPicPr>
            <a:picLocks noChangeAspect="1"/>
          </p:cNvPicPr>
          <p:nvPr/>
        </p:nvPicPr>
        <p:blipFill>
          <a:blip r:embed="rId3"/>
          <a:stretch>
            <a:fillRect/>
          </a:stretch>
        </p:blipFill>
        <p:spPr>
          <a:xfrm>
            <a:off x="2209800" y="2124741"/>
            <a:ext cx="7772400" cy="1418914"/>
          </a:xfrm>
          <a:prstGeom prst="rect">
            <a:avLst/>
          </a:prstGeom>
        </p:spPr>
      </p:pic>
      <p:pic>
        <p:nvPicPr>
          <p:cNvPr id="11" name="Picture 10" descr="Article sections about the consequences of non-compliance.">
            <a:extLst>
              <a:ext uri="{FF2B5EF4-FFF2-40B4-BE49-F238E27FC236}">
                <a16:creationId xmlns:a16="http://schemas.microsoft.com/office/drawing/2014/main" id="{DEFC2CF2-5B77-830E-2D79-E24060A06FFA}"/>
              </a:ext>
            </a:extLst>
          </p:cNvPr>
          <p:cNvPicPr>
            <a:picLocks noChangeAspect="1"/>
          </p:cNvPicPr>
          <p:nvPr/>
        </p:nvPicPr>
        <p:blipFill>
          <a:blip r:embed="rId4"/>
          <a:stretch>
            <a:fillRect/>
          </a:stretch>
        </p:blipFill>
        <p:spPr>
          <a:xfrm>
            <a:off x="2572665" y="3384448"/>
            <a:ext cx="7046669" cy="2577876"/>
          </a:xfrm>
          <a:prstGeom prst="rect">
            <a:avLst/>
          </a:prstGeom>
        </p:spPr>
      </p:pic>
      <p:sp>
        <p:nvSpPr>
          <p:cNvPr id="5" name="Date Placeholder 4">
            <a:extLst>
              <a:ext uri="{FF2B5EF4-FFF2-40B4-BE49-F238E27FC236}">
                <a16:creationId xmlns:a16="http://schemas.microsoft.com/office/drawing/2014/main" id="{A3F9B7F0-B5CD-CBCF-031E-BA696E7C3D5F}"/>
              </a:ext>
            </a:extLst>
          </p:cNvPr>
          <p:cNvSpPr>
            <a:spLocks noGrp="1"/>
          </p:cNvSpPr>
          <p:nvPr>
            <p:ph type="dt" sz="half" idx="10"/>
          </p:nvPr>
        </p:nvSpPr>
        <p:spPr/>
        <p:txBody>
          <a:bodyPr/>
          <a:lstStyle/>
          <a:p>
            <a:fld id="{D47A9A36-4EB0-BF46-AE48-7CDA251B954B}" type="datetime1">
              <a:rPr lang="en-US" smtClean="0"/>
              <a:t>12/03/2025</a:t>
            </a:fld>
            <a:endParaRPr lang="en-US" dirty="0"/>
          </a:p>
        </p:txBody>
      </p:sp>
      <p:sp>
        <p:nvSpPr>
          <p:cNvPr id="6" name="Slide Number Placeholder 5">
            <a:extLst>
              <a:ext uri="{FF2B5EF4-FFF2-40B4-BE49-F238E27FC236}">
                <a16:creationId xmlns:a16="http://schemas.microsoft.com/office/drawing/2014/main" id="{16A3AA07-31EC-BDAD-DA25-0E3CA5AF22F5}"/>
              </a:ext>
            </a:extLst>
          </p:cNvPr>
          <p:cNvSpPr>
            <a:spLocks noGrp="1"/>
          </p:cNvSpPr>
          <p:nvPr>
            <p:ph type="sldNum" sz="quarter" idx="12"/>
          </p:nvPr>
        </p:nvSpPr>
        <p:spPr/>
        <p:txBody>
          <a:bodyPr/>
          <a:lstStyle/>
          <a:p>
            <a:fld id="{8A7A6979-0714-4377-B894-6BE4C2D6E202}" type="slidenum">
              <a:rPr lang="en-US" smtClean="0"/>
              <a:pPr/>
              <a:t>54</a:t>
            </a:fld>
            <a:endParaRPr lang="en-US" dirty="0"/>
          </a:p>
        </p:txBody>
      </p:sp>
    </p:spTree>
    <p:extLst>
      <p:ext uri="{BB962C8B-B14F-4D97-AF65-F5344CB8AC3E}">
        <p14:creationId xmlns:p14="http://schemas.microsoft.com/office/powerpoint/2010/main" val="20894045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15189-6901-FF52-F762-563816418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76B0C-9724-ECC7-9F56-C1EAC87C0818}"/>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8F4B301C-6AF8-0FFB-C17C-638089CBF958}"/>
              </a:ext>
            </a:extLst>
          </p:cNvPr>
          <p:cNvSpPr>
            <a:spLocks noGrp="1"/>
          </p:cNvSpPr>
          <p:nvPr>
            <p:ph type="dt" sz="half" idx="10"/>
          </p:nvPr>
        </p:nvSpPr>
        <p:spPr/>
        <p:txBody>
          <a:bodyPr/>
          <a:lstStyle/>
          <a:p>
            <a:fld id="{D47A9A36-4EB0-BF46-AE48-7CDA251B954B}" type="datetime1">
              <a:rPr lang="en-US" smtClean="0"/>
              <a:pPr/>
              <a:t>12/03/2025</a:t>
            </a:fld>
            <a:endParaRPr lang="en-US" dirty="0"/>
          </a:p>
        </p:txBody>
      </p:sp>
      <p:sp>
        <p:nvSpPr>
          <p:cNvPr id="5" name="Slide Number Placeholder 4">
            <a:extLst>
              <a:ext uri="{FF2B5EF4-FFF2-40B4-BE49-F238E27FC236}">
                <a16:creationId xmlns:a16="http://schemas.microsoft.com/office/drawing/2014/main" id="{7E87B898-ED0F-0419-CE8B-859B572BEA98}"/>
              </a:ext>
            </a:extLst>
          </p:cNvPr>
          <p:cNvSpPr>
            <a:spLocks noGrp="1"/>
          </p:cNvSpPr>
          <p:nvPr>
            <p:ph type="sldNum" sz="quarter" idx="12"/>
          </p:nvPr>
        </p:nvSpPr>
        <p:spPr/>
        <p:txBody>
          <a:bodyPr/>
          <a:lstStyle/>
          <a:p>
            <a:fld id="{8A7A6979-0714-4377-B894-6BE4C2D6E202}" type="slidenum">
              <a:rPr lang="en-US" smtClean="0"/>
              <a:pPr/>
              <a:t>55</a:t>
            </a:fld>
            <a:endParaRPr lang="en-US" dirty="0"/>
          </a:p>
        </p:txBody>
      </p:sp>
    </p:spTree>
    <p:extLst>
      <p:ext uri="{BB962C8B-B14F-4D97-AF65-F5344CB8AC3E}">
        <p14:creationId xmlns:p14="http://schemas.microsoft.com/office/powerpoint/2010/main" val="1147005988"/>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34485</TotalTime>
  <Words>1857</Words>
  <Application>Microsoft Office PowerPoint</Application>
  <PresentationFormat>Widescreen</PresentationFormat>
  <Paragraphs>479</Paragraphs>
  <Slides>55</Slides>
  <Notes>50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55</vt:i4>
      </vt:variant>
    </vt:vector>
  </HeadingPairs>
  <TitlesOfParts>
    <vt:vector size="66" baseType="lpstr">
      <vt:lpstr>United Sans Rg Md</vt:lpstr>
      <vt:lpstr>Franklin Gothic Book</vt:lpstr>
      <vt:lpstr>Wingdings</vt:lpstr>
      <vt:lpstr>Calibri</vt:lpstr>
      <vt:lpstr>Arial</vt:lpstr>
      <vt:lpstr>Franklin Gothic Demi</vt:lpstr>
      <vt:lpstr>Cambria Math</vt:lpstr>
      <vt:lpstr>Impact</vt:lpstr>
      <vt:lpstr>Franklin Gothic Medium</vt:lpstr>
      <vt:lpstr>Acumin Pro</vt:lpstr>
      <vt:lpstr>Purdue2</vt:lpstr>
      <vt:lpstr>Digital product design</vt:lpstr>
      <vt:lpstr>Administrative</vt:lpstr>
      <vt:lpstr>Overview</vt:lpstr>
      <vt:lpstr>Human vs algorithmic decisions Review</vt:lpstr>
      <vt:lpstr>Comparative Advantage of Humans vs Algorithm</vt:lpstr>
      <vt:lpstr>Many Well-Documented Human Prediction Errors</vt:lpstr>
      <vt:lpstr>Evaluating Algorithm Decisions</vt:lpstr>
      <vt:lpstr>Evaluating Algorithm Decisions, Continued</vt:lpstr>
      <vt:lpstr>Promise of Algorithmic Decision Making</vt:lpstr>
      <vt:lpstr>Why recommender systems?</vt:lpstr>
      <vt:lpstr>Recommender Systems are Everywhere</vt:lpstr>
      <vt:lpstr>Recommender Systems are Everywhere, Part 2</vt:lpstr>
      <vt:lpstr>Recommender Systems are Everywhere, Part 3</vt:lpstr>
      <vt:lpstr>Recommender Systems are Everywhere, Part 4</vt:lpstr>
      <vt:lpstr>Excessive Choice</vt:lpstr>
      <vt:lpstr>Size of the “Item” Space</vt:lpstr>
      <vt:lpstr>Recommender Systems Increase Demand for Niche Products</vt:lpstr>
      <vt:lpstr>Personalized Recommendations are Key Component</vt:lpstr>
      <vt:lpstr>Technology behind Recommender systems</vt:lpstr>
      <vt:lpstr>Data for Recommender Systems</vt:lpstr>
      <vt:lpstr>Types of Recommender Systems</vt:lpstr>
      <vt:lpstr>Content Based Recommendations</vt:lpstr>
      <vt:lpstr>Collaborative Filtering</vt:lpstr>
      <vt:lpstr>User-User Collaborative Filtering</vt:lpstr>
      <vt:lpstr>User-User Collaborative Filtering, Continued</vt:lpstr>
      <vt:lpstr>Item-Item Collaborative Filtering</vt:lpstr>
      <vt:lpstr>Item-Item Collaborative Filtering, Continued</vt:lpstr>
      <vt:lpstr>Comparing Them</vt:lpstr>
      <vt:lpstr>Putting these Together: Matrix Factorization</vt:lpstr>
      <vt:lpstr>Netflix Prize</vt:lpstr>
      <vt:lpstr>Matrix Factorization</vt:lpstr>
      <vt:lpstr>Matrix Factorization, Part 2</vt:lpstr>
      <vt:lpstr>Matrix Factorization, Part 3</vt:lpstr>
      <vt:lpstr>Collaborative Filtering Recap</vt:lpstr>
      <vt:lpstr>Modern Algorithms Combine These</vt:lpstr>
      <vt:lpstr>Modern Recommendations</vt:lpstr>
      <vt:lpstr>Impact of Rec sys</vt:lpstr>
      <vt:lpstr>Impact of Recommender Systems</vt:lpstr>
      <vt:lpstr>How do Recommender Systems Impact Diversity of Content?</vt:lpstr>
      <vt:lpstr>How do Recommender Systems Impact Diversity of Content? (Cont.)</vt:lpstr>
      <vt:lpstr>How do Recommender Systems Impact Consumer Surplus?</vt:lpstr>
      <vt:lpstr>How do creators respond to being recommended?</vt:lpstr>
      <vt:lpstr>Incentivizing content via recommendations</vt:lpstr>
      <vt:lpstr>Impact of Recommender Systems, Continued</vt:lpstr>
      <vt:lpstr>Designing recommendations</vt:lpstr>
      <vt:lpstr>Recommender Systems Recap</vt:lpstr>
      <vt:lpstr>Challenges of Engagement-Only Recommendations</vt:lpstr>
      <vt:lpstr>Challenges of Engagement-Only Recommendations, Continued</vt:lpstr>
      <vt:lpstr>Designing Final Recommendations</vt:lpstr>
      <vt:lpstr>An Encouraging Result</vt:lpstr>
      <vt:lpstr>Example 1: Credibility of News Content</vt:lpstr>
      <vt:lpstr>Example 2: Inclusive Recommendations at Pinterest</vt:lpstr>
      <vt:lpstr>Question</vt:lpstr>
      <vt:lpstr>Self-Preferencing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3528</cp:revision>
  <dcterms:created xsi:type="dcterms:W3CDTF">2024-07-15T17:50:06Z</dcterms:created>
  <dcterms:modified xsi:type="dcterms:W3CDTF">2025-12-03T19:51:13Z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