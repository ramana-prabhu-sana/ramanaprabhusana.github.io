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49"/>
  </p:notesMasterIdLst>
  <p:sldIdLst>
    <p:sldId id="257" r:id="rId2"/>
    <p:sldId id="840" r:id="rId3"/>
    <p:sldId id="777" r:id="rId4"/>
    <p:sldId id="831" r:id="rId5"/>
    <p:sldId id="846" r:id="rId6"/>
    <p:sldId id="864" r:id="rId7"/>
    <p:sldId id="865" r:id="rId8"/>
    <p:sldId id="871" r:id="rId9"/>
    <p:sldId id="895" r:id="rId10"/>
    <p:sldId id="898" r:id="rId11"/>
    <p:sldId id="899" r:id="rId12"/>
    <p:sldId id="901" r:id="rId13"/>
    <p:sldId id="902" r:id="rId14"/>
    <p:sldId id="903" r:id="rId15"/>
    <p:sldId id="904" r:id="rId16"/>
    <p:sldId id="905" r:id="rId17"/>
    <p:sldId id="906" r:id="rId18"/>
    <p:sldId id="896" r:id="rId19"/>
    <p:sldId id="907" r:id="rId20"/>
    <p:sldId id="908" r:id="rId21"/>
    <p:sldId id="909" r:id="rId22"/>
    <p:sldId id="910" r:id="rId23"/>
    <p:sldId id="911" r:id="rId24"/>
    <p:sldId id="912" r:id="rId25"/>
    <p:sldId id="913" r:id="rId26"/>
    <p:sldId id="914" r:id="rId27"/>
    <p:sldId id="897" r:id="rId28"/>
    <p:sldId id="916" r:id="rId29"/>
    <p:sldId id="918" r:id="rId30"/>
    <p:sldId id="917" r:id="rId31"/>
    <p:sldId id="920" r:id="rId32"/>
    <p:sldId id="930" r:id="rId33"/>
    <p:sldId id="921" r:id="rId34"/>
    <p:sldId id="922" r:id="rId35"/>
    <p:sldId id="923" r:id="rId36"/>
    <p:sldId id="924" r:id="rId37"/>
    <p:sldId id="925" r:id="rId38"/>
    <p:sldId id="926" r:id="rId39"/>
    <p:sldId id="927" r:id="rId40"/>
    <p:sldId id="915" r:id="rId41"/>
    <p:sldId id="928" r:id="rId42"/>
    <p:sldId id="929" r:id="rId43"/>
    <p:sldId id="931" r:id="rId44"/>
    <p:sldId id="932" r:id="rId45"/>
    <p:sldId id="933" r:id="rId46"/>
    <p:sldId id="894" r:id="rId47"/>
    <p:sldId id="934" r:id="rId48"/>
  </p:sldIdLst>
  <p:sldSz cx="12192000" cy="6858000"/>
  <p:notesSz cx="6858000" cy="9144000"/>
  <p:embeddedFontLst>
    <p:embeddedFont>
      <p:font typeface="Acumin Pro" panose="020B0604020202020204" charset="0"/>
      <p:regular r:id="rId50"/>
      <p:bold r:id="rId51"/>
      <p:italic r:id="rId52"/>
      <p:boldItalic r:id="rId53"/>
    </p:embeddedFont>
    <p:embeddedFont>
      <p:font typeface="Cambria Math" panose="02040503050406030204" pitchFamily="18" charset="0"/>
      <p:regular r:id="rId54"/>
    </p:embeddedFont>
    <p:embeddedFont>
      <p:font typeface="Franklin Gothic Book" panose="020B0503020102020204" pitchFamily="34" charset="0"/>
      <p:regular r:id="rId55"/>
      <p:italic r:id="rId56"/>
    </p:embeddedFont>
    <p:embeddedFont>
      <p:font typeface="Franklin Gothic Demi" panose="020B0703020102020204" pitchFamily="34" charset="0"/>
      <p:regular r:id="rId57"/>
      <p:bold r:id="rId58"/>
      <p:italic r:id="rId59"/>
      <p:boldItalic r:id="rId60"/>
    </p:embeddedFont>
    <p:embeddedFont>
      <p:font typeface="Franklin Gothic Medium" panose="020B0603020102020204" pitchFamily="34" charset="0"/>
      <p:regular r:id="rId61"/>
      <p:italic r:id="rId62"/>
    </p:embeddedFont>
    <p:embeddedFont>
      <p:font typeface="Impact" panose="020B0806030902050204" pitchFamily="34" charset="0"/>
      <p:regular r:id="rId63"/>
    </p:embeddedFont>
    <p:embeddedFont>
      <p:font typeface="United Sans Rg Md" pitchFamily="50" charset="0"/>
      <p:regular r:id="rId6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95" autoAdjust="0"/>
    <p:restoredTop sz="94797" autoAdjust="0"/>
  </p:normalViewPr>
  <p:slideViewPr>
    <p:cSldViewPr snapToGrid="0" snapToObjects="1">
      <p:cViewPr>
        <p:scale>
          <a:sx n="100" d="100"/>
          <a:sy n="100" d="100"/>
        </p:scale>
        <p:origin x="-966" y="-2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font" Target="fonts/font14.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12/09/2025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0CBF3-EFF4-1DA6-A319-7AF197FFB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D304C-3858-531C-5E40-71EBC12EA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102F20-63ED-9822-1791-BA9AB35B6C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494E91-89F8-8A15-A002-ACD2C4F6CA6E}"/>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3295868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38F31-96CA-DB6B-2F97-966B583CD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5BE6E-DCD2-0071-6242-D01FA7B51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728D29-CC39-89B7-2F9D-E7E3FFF672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B1E398-C0E7-91D8-0BA2-F0702D45B5E9}"/>
              </a:ext>
            </a:extLst>
          </p:cNvPr>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939759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32FB0-9989-B922-D135-8A78F935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4BA03-F515-AA30-3EFD-6607B331D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27C82-C3C1-E4E9-72F8-9A0477FB40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8ABFB-65B2-1DF9-C6F0-E2A3A52E4786}"/>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2925873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6557E-4D6E-34B7-8AF7-43A3EA7D5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60089-8229-E012-3532-A2DD559DD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511D1-6B2C-0096-2CD6-0B6FC54125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7043B-CCC6-2009-7D2A-68016EAA7FF6}"/>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3280195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2F8B1-CFDD-7405-8B99-CBDDCF3E8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A4344-2A95-CBA2-06EA-86951A0CA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22AE1-1A51-9E95-635D-109DEF25C9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94623F-FB61-751C-0D83-A5D85CD099AD}"/>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509166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60485-230F-D0F6-DD9B-C140D4522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DBA42-0E87-1716-68EF-6DE091FB2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9DDF7-34A3-0EAC-92B7-7FDA7B6592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F099CB-1D5F-B694-C238-AEAF57E1F695}"/>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715877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677F6-2797-A9E5-0B6C-BBC22B187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8049E-847C-6130-90F5-D7F17182A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5F231-CE78-5CCC-477A-F706846595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FA1C8E-B1FF-EAEF-7531-785661014B30}"/>
              </a:ext>
            </a:extLst>
          </p:cNvPr>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535895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13832-47FE-3CE4-D4E8-F8CC9C85C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C57FE-59CC-9EAB-CB52-337E5463E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272E4-AEB1-FF81-4EB8-16CF1651B7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135064-7286-5172-9E60-2EEB560A30D2}"/>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2369657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AADA0-DE40-2B08-4C5A-F41EB6167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7A6CC-5113-3C0D-50E2-6ED013F7E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81043-693A-3DE4-C056-CF48EF11A2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0E796C-4278-7948-4B7F-0D8C98CFC1B4}"/>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2132118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9104F-16B6-C59D-E639-F82B10C85C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1E3F3-B498-3E10-116F-03DB65907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91716-FF17-7974-CBD4-00CFB445B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57FBE8-1AC0-9B3B-9EA1-1C9D37C7164C}"/>
              </a:ext>
            </a:extLst>
          </p:cNvPr>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2369142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E2B3D-A085-BDB2-2651-5C6DCBD9EA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8E5A2-D76C-ACF4-6F28-195359861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3295D-7FE7-406E-89EE-A35142F3F6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E206DA-92A3-356E-7956-0A5E81BD1643}"/>
              </a:ext>
            </a:extLst>
          </p:cNvPr>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894812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9A2D2-14E1-8777-2FC1-1995E1ACD8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BA964-BAA6-5DD3-96CD-B3FD8D070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4FA55-0D38-A7FC-34F6-CD9CB1FC3B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ACD706-461D-D7F0-4AA9-15361519614F}"/>
              </a:ext>
            </a:extLst>
          </p:cNvPr>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2862474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91111-DF8B-4112-3BCC-F4CE744531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2BF6B-18AC-BDDB-BD7C-06AD87F00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7254E-884D-B905-8FFB-B2A494CDEC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DA3A9B-53E0-CC61-1751-698AE13FD77E}"/>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2481222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BA9DC-077C-036E-B330-AA1922F4F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9C67F-7E8E-0BD8-346E-32BB9C3AD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FC3FEE-886C-B12F-FEBC-95DB559841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C15B1E-5617-5AA2-A22E-56E43FB4B9A5}"/>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199803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F13E-845E-0BE4-F90D-390903FB7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6B1A2-A5DC-BC01-1805-149C90238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F454B-D31D-13DC-2883-A1E2F99E20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C26FF2-4EF2-4915-25AD-E88637779CF4}"/>
              </a:ext>
            </a:extLst>
          </p:cNvPr>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3425004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82970-AF09-9B9B-3DE5-A93AD181D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04B08-1320-8102-B2EE-2F20138F1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95A0B-D7C0-8BDD-2B78-66D8B3130A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1FBA61-2596-7BE1-1E84-0FA73187E7E0}"/>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1232550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149E7-BFB4-4DE9-D05D-A9D3A6ECC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C34A0-E22F-EAA8-22E6-6DAE58A267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E6C48-901D-9A61-AFE1-C0B296DFA4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FE8C2-EC4A-2531-B2FB-D2F2E4E97D9E}"/>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223526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0682C-A0DE-A407-3E32-BEA5308E8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A91F8-16CF-5F2C-5AF3-67904F204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BD3C4-878C-DC2A-074B-38D0451B6F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BA68CE-25DD-613C-3A63-2D0CFB2A5273}"/>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16396280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E39A3-75AE-64E1-1625-55A5266EA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38342-3F5D-F50A-4D19-9B381065B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BA3FA1-944E-90A0-0B3A-9FB55F4CAA16}"/>
              </a:ext>
            </a:extLst>
          </p:cNvPr>
          <p:cNvSpPr>
            <a:spLocks noGrp="1"/>
          </p:cNvSpPr>
          <p:nvPr>
            <p:ph type="body" idx="1"/>
          </p:nvPr>
        </p:nvSpPr>
        <p:spPr/>
        <p:txBody>
          <a:bodyPr/>
          <a:lstStyle/>
          <a:p>
            <a:r>
              <a:rPr lang="en-US" dirty="0"/>
              <a:t>Write regression on the board</a:t>
            </a:r>
          </a:p>
        </p:txBody>
      </p:sp>
      <p:sp>
        <p:nvSpPr>
          <p:cNvPr id="4" name="Slide Number Placeholder 3">
            <a:extLst>
              <a:ext uri="{FF2B5EF4-FFF2-40B4-BE49-F238E27FC236}">
                <a16:creationId xmlns:a16="http://schemas.microsoft.com/office/drawing/2014/main" id="{FACB20CF-7C9A-F626-0012-7B84A4519398}"/>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36933271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4E314-C1E8-9DCB-3BCE-189A62979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ED7BC-D9FF-E5BB-BF4C-AD0675682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75046-61B5-26CB-E6A0-BEA32FA957A4}"/>
              </a:ext>
            </a:extLst>
          </p:cNvPr>
          <p:cNvSpPr>
            <a:spLocks noGrp="1"/>
          </p:cNvSpPr>
          <p:nvPr>
            <p:ph type="body" idx="1"/>
          </p:nvPr>
        </p:nvSpPr>
        <p:spPr/>
        <p:txBody>
          <a:bodyPr/>
          <a:lstStyle/>
          <a:p>
            <a:r>
              <a:rPr lang="en-US" dirty="0"/>
              <a:t>Write regression on the board</a:t>
            </a:r>
          </a:p>
        </p:txBody>
      </p:sp>
      <p:sp>
        <p:nvSpPr>
          <p:cNvPr id="4" name="Slide Number Placeholder 3">
            <a:extLst>
              <a:ext uri="{FF2B5EF4-FFF2-40B4-BE49-F238E27FC236}">
                <a16:creationId xmlns:a16="http://schemas.microsoft.com/office/drawing/2014/main" id="{5F2A3E49-C9C3-2DE5-44CF-5CA592E3ACE5}"/>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4261863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14C7B-2C06-899B-3320-E6BCE0C30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DC6AB4-9C96-6355-CA0B-8AC93B6DA2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44D95-C09B-6BD6-94C3-95EF38454319}"/>
              </a:ext>
            </a:extLst>
          </p:cNvPr>
          <p:cNvSpPr>
            <a:spLocks noGrp="1"/>
          </p:cNvSpPr>
          <p:nvPr>
            <p:ph type="body" idx="1"/>
          </p:nvPr>
        </p:nvSpPr>
        <p:spPr/>
        <p:txBody>
          <a:bodyPr/>
          <a:lstStyle/>
          <a:p>
            <a:r>
              <a:rPr lang="en-US" dirty="0"/>
              <a:t>Write regression on the board</a:t>
            </a:r>
          </a:p>
        </p:txBody>
      </p:sp>
      <p:sp>
        <p:nvSpPr>
          <p:cNvPr id="4" name="Slide Number Placeholder 3">
            <a:extLst>
              <a:ext uri="{FF2B5EF4-FFF2-40B4-BE49-F238E27FC236}">
                <a16:creationId xmlns:a16="http://schemas.microsoft.com/office/drawing/2014/main" id="{45B1E818-6EB0-DA0C-364B-0E92AE14A5B1}"/>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13763035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38200-0A30-6364-2AB7-A3F579E35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DCDF9-41D2-8F9C-2567-C7546803C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630CF4-4C8F-6CE3-E674-915DBBDBD2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766E9A-20A8-BF5D-E0FD-91C22319AC21}"/>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39199674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4249496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B95B7-62D3-CFAA-5DCB-6FD33FB7A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E9E01-F729-8F0C-CAED-12586B53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9C6ED-A85F-2290-8E7F-32E14D3111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99BCF9-426F-7DA9-0D80-9475C6BB5285}"/>
              </a:ext>
            </a:extLst>
          </p:cNvPr>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1200681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0504D-CDEF-4DD3-DEFC-3AB6743DE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6F2F8-0592-B36F-3592-534D51878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EFF47-BF68-F6FA-52CA-AF3E7B3FA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AC3A5B-1BF9-3534-D55D-955AA6B10C37}"/>
              </a:ext>
            </a:extLst>
          </p:cNvPr>
          <p:cNvSpPr>
            <a:spLocks noGrp="1"/>
          </p:cNvSpPr>
          <p:nvPr>
            <p:ph type="sldNum" sz="quarter" idx="5"/>
          </p:nvPr>
        </p:nvSpPr>
        <p:spPr/>
        <p:txBody>
          <a:bodyPr/>
          <a:lstStyle/>
          <a:p>
            <a:fld id="{988F3A2B-14A6-8F47-B753-A658CA12576A}" type="slidenum">
              <a:rPr lang="en-US" smtClean="0"/>
              <a:t>29</a:t>
            </a:fld>
            <a:endParaRPr lang="en-US"/>
          </a:p>
        </p:txBody>
      </p:sp>
    </p:spTree>
    <p:extLst>
      <p:ext uri="{BB962C8B-B14F-4D97-AF65-F5344CB8AC3E}">
        <p14:creationId xmlns:p14="http://schemas.microsoft.com/office/powerpoint/2010/main" val="23259953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F21D2-B2BB-AE3D-39F4-764658B13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806B6-C126-C4FE-3D8D-69C34748D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9E953-7020-2D03-5127-F8914379BC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5F4F1C-B51E-E0A0-87C7-5903BB5065CB}"/>
              </a:ext>
            </a:extLst>
          </p:cNvPr>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9876197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2F52B-1309-8FE2-0D82-7F8875FC3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BAAFC-0307-9F9B-E81C-B7879A228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9494FC-70B1-EC1F-21BE-2598D3C0A3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F828D0-DA7C-6820-A4F3-6703591E2D34}"/>
              </a:ext>
            </a:extLst>
          </p:cNvPr>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32580342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E6DEF-F751-9808-5AB7-1493B5E0A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DA39C-A014-6317-327F-81C50A80F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0B89F-B413-708A-E86F-8ADF636B0C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A6333F-5E87-3F3B-5148-7C6C4765141D}"/>
              </a:ext>
            </a:extLst>
          </p:cNvPr>
          <p:cNvSpPr>
            <a:spLocks noGrp="1"/>
          </p:cNvSpPr>
          <p:nvPr>
            <p:ph type="sldNum" sz="quarter" idx="5"/>
          </p:nvPr>
        </p:nvSpPr>
        <p:spPr/>
        <p:txBody>
          <a:bodyPr/>
          <a:lstStyle/>
          <a:p>
            <a:fld id="{988F3A2B-14A6-8F47-B753-A658CA12576A}" type="slidenum">
              <a:rPr lang="en-US" smtClean="0"/>
              <a:t>32</a:t>
            </a:fld>
            <a:endParaRPr lang="en-US"/>
          </a:p>
        </p:txBody>
      </p:sp>
    </p:spTree>
    <p:extLst>
      <p:ext uri="{BB962C8B-B14F-4D97-AF65-F5344CB8AC3E}">
        <p14:creationId xmlns:p14="http://schemas.microsoft.com/office/powerpoint/2010/main" val="3510061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0148A-DAE8-C4C9-78E9-7B74E81CA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27A37-B08A-43E1-E337-16972E713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2F5AF-A3CC-9804-F1E7-B1033CC600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332767-E7A4-E354-C40F-1EA1E0D3BE9D}"/>
              </a:ext>
            </a:extLst>
          </p:cNvPr>
          <p:cNvSpPr>
            <a:spLocks noGrp="1"/>
          </p:cNvSpPr>
          <p:nvPr>
            <p:ph type="sldNum" sz="quarter" idx="5"/>
          </p:nvPr>
        </p:nvSpPr>
        <p:spPr/>
        <p:txBody>
          <a:bodyPr/>
          <a:lstStyle/>
          <a:p>
            <a:fld id="{988F3A2B-14A6-8F47-B753-A658CA12576A}" type="slidenum">
              <a:rPr lang="en-US" smtClean="0"/>
              <a:t>33</a:t>
            </a:fld>
            <a:endParaRPr lang="en-US"/>
          </a:p>
        </p:txBody>
      </p:sp>
    </p:spTree>
    <p:extLst>
      <p:ext uri="{BB962C8B-B14F-4D97-AF65-F5344CB8AC3E}">
        <p14:creationId xmlns:p14="http://schemas.microsoft.com/office/powerpoint/2010/main" val="20972115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CD649-13D6-8EA0-A682-B48D37248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1C3AF-AB72-08CA-B137-6498E1AEBC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4C198-5D4E-C0EE-2A56-D3C84220AA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AFA00D-4536-E2FD-5065-D09178159B97}"/>
              </a:ext>
            </a:extLst>
          </p:cNvPr>
          <p:cNvSpPr>
            <a:spLocks noGrp="1"/>
          </p:cNvSpPr>
          <p:nvPr>
            <p:ph type="sldNum" sz="quarter" idx="5"/>
          </p:nvPr>
        </p:nvSpPr>
        <p:spPr/>
        <p:txBody>
          <a:bodyPr/>
          <a:lstStyle/>
          <a:p>
            <a:fld id="{988F3A2B-14A6-8F47-B753-A658CA12576A}" type="slidenum">
              <a:rPr lang="en-US" smtClean="0"/>
              <a:t>34</a:t>
            </a:fld>
            <a:endParaRPr lang="en-US"/>
          </a:p>
        </p:txBody>
      </p:sp>
    </p:spTree>
    <p:extLst>
      <p:ext uri="{BB962C8B-B14F-4D97-AF65-F5344CB8AC3E}">
        <p14:creationId xmlns:p14="http://schemas.microsoft.com/office/powerpoint/2010/main" val="26843493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6286-0FE1-EBEB-E90E-668A36485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81A5C-9398-FCFD-43A0-C939264B1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C6080-50C3-3FED-B07D-A03FB4D031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64115A-AEA5-7C7E-7D38-CFAAAF3842F3}"/>
              </a:ext>
            </a:extLst>
          </p:cNvPr>
          <p:cNvSpPr>
            <a:spLocks noGrp="1"/>
          </p:cNvSpPr>
          <p:nvPr>
            <p:ph type="sldNum" sz="quarter" idx="5"/>
          </p:nvPr>
        </p:nvSpPr>
        <p:spPr/>
        <p:txBody>
          <a:bodyPr/>
          <a:lstStyle/>
          <a:p>
            <a:fld id="{988F3A2B-14A6-8F47-B753-A658CA12576A}" type="slidenum">
              <a:rPr lang="en-US" smtClean="0"/>
              <a:t>35</a:t>
            </a:fld>
            <a:endParaRPr lang="en-US"/>
          </a:p>
        </p:txBody>
      </p:sp>
    </p:spTree>
    <p:extLst>
      <p:ext uri="{BB962C8B-B14F-4D97-AF65-F5344CB8AC3E}">
        <p14:creationId xmlns:p14="http://schemas.microsoft.com/office/powerpoint/2010/main" val="9111681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0691-F418-448C-254A-C8C4B1537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CD948-8E04-BBA3-A073-BFA4DBFBB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EAD9F-CBFD-393F-D187-77D0FEDBC2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2E0F93-CB61-ADD7-D3B6-9D6274B95EF7}"/>
              </a:ext>
            </a:extLst>
          </p:cNvPr>
          <p:cNvSpPr>
            <a:spLocks noGrp="1"/>
          </p:cNvSpPr>
          <p:nvPr>
            <p:ph type="sldNum" sz="quarter" idx="5"/>
          </p:nvPr>
        </p:nvSpPr>
        <p:spPr/>
        <p:txBody>
          <a:bodyPr/>
          <a:lstStyle/>
          <a:p>
            <a:fld id="{988F3A2B-14A6-8F47-B753-A658CA12576A}" type="slidenum">
              <a:rPr lang="en-US" smtClean="0"/>
              <a:t>36</a:t>
            </a:fld>
            <a:endParaRPr lang="en-US"/>
          </a:p>
        </p:txBody>
      </p:sp>
    </p:spTree>
    <p:extLst>
      <p:ext uri="{BB962C8B-B14F-4D97-AF65-F5344CB8AC3E}">
        <p14:creationId xmlns:p14="http://schemas.microsoft.com/office/powerpoint/2010/main" val="23900170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C005B-32DA-BC7C-6671-992D019F0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01403-3F7E-25CD-6F66-D4FB4EF7A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C8FA47-CB8A-E5F6-08F8-1AB410FC29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799567-56B0-4115-AA2F-64EAF5291709}"/>
              </a:ext>
            </a:extLst>
          </p:cNvPr>
          <p:cNvSpPr>
            <a:spLocks noGrp="1"/>
          </p:cNvSpPr>
          <p:nvPr>
            <p:ph type="sldNum" sz="quarter" idx="5"/>
          </p:nvPr>
        </p:nvSpPr>
        <p:spPr/>
        <p:txBody>
          <a:bodyPr/>
          <a:lstStyle/>
          <a:p>
            <a:fld id="{988F3A2B-14A6-8F47-B753-A658CA12576A}" type="slidenum">
              <a:rPr lang="en-US" smtClean="0"/>
              <a:t>37</a:t>
            </a:fld>
            <a:endParaRPr lang="en-US"/>
          </a:p>
        </p:txBody>
      </p:sp>
    </p:spTree>
    <p:extLst>
      <p:ext uri="{BB962C8B-B14F-4D97-AF65-F5344CB8AC3E}">
        <p14:creationId xmlns:p14="http://schemas.microsoft.com/office/powerpoint/2010/main" val="17250639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F79B-41F7-BCA2-5014-87260A74C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770F9-2107-DE44-6513-27C694A476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41F284-7156-A47D-799A-2CFEBC90CA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023FA9-0364-4C64-FD07-DF630A38025B}"/>
              </a:ext>
            </a:extLst>
          </p:cNvPr>
          <p:cNvSpPr>
            <a:spLocks noGrp="1"/>
          </p:cNvSpPr>
          <p:nvPr>
            <p:ph type="sldNum" sz="quarter" idx="5"/>
          </p:nvPr>
        </p:nvSpPr>
        <p:spPr/>
        <p:txBody>
          <a:bodyPr/>
          <a:lstStyle/>
          <a:p>
            <a:fld id="{988F3A2B-14A6-8F47-B753-A658CA12576A}" type="slidenum">
              <a:rPr lang="en-US" smtClean="0"/>
              <a:t>38</a:t>
            </a:fld>
            <a:endParaRPr lang="en-US"/>
          </a:p>
        </p:txBody>
      </p:sp>
    </p:spTree>
    <p:extLst>
      <p:ext uri="{BB962C8B-B14F-4D97-AF65-F5344CB8AC3E}">
        <p14:creationId xmlns:p14="http://schemas.microsoft.com/office/powerpoint/2010/main" val="19925172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5DD9-EF9D-7534-7784-F3FFFC28A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56A691-F3D1-0597-D1F1-84C2C174B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6506D-3F40-229E-C3FF-948ABFDDAE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CAAC54-F768-253E-894A-2023F51F7C9F}"/>
              </a:ext>
            </a:extLst>
          </p:cNvPr>
          <p:cNvSpPr>
            <a:spLocks noGrp="1"/>
          </p:cNvSpPr>
          <p:nvPr>
            <p:ph type="sldNum" sz="quarter" idx="5"/>
          </p:nvPr>
        </p:nvSpPr>
        <p:spPr/>
        <p:txBody>
          <a:bodyPr/>
          <a:lstStyle/>
          <a:p>
            <a:fld id="{988F3A2B-14A6-8F47-B753-A658CA12576A}" type="slidenum">
              <a:rPr lang="en-US" smtClean="0"/>
              <a:t>39</a:t>
            </a:fld>
            <a:endParaRPr lang="en-US"/>
          </a:p>
        </p:txBody>
      </p:sp>
    </p:spTree>
    <p:extLst>
      <p:ext uri="{BB962C8B-B14F-4D97-AF65-F5344CB8AC3E}">
        <p14:creationId xmlns:p14="http://schemas.microsoft.com/office/powerpoint/2010/main" val="20726303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13C2C-F341-7CBB-DF31-4D2BC948E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256C5-3EDA-A8B3-DAE4-F09544779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7C79D-3E6F-0B4E-A2D8-CA0F035954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02CC4C-9123-A4C0-E0A6-C7070AFD2452}"/>
              </a:ext>
            </a:extLst>
          </p:cNvPr>
          <p:cNvSpPr>
            <a:spLocks noGrp="1"/>
          </p:cNvSpPr>
          <p:nvPr>
            <p:ph type="sldNum" sz="quarter" idx="5"/>
          </p:nvPr>
        </p:nvSpPr>
        <p:spPr/>
        <p:txBody>
          <a:bodyPr/>
          <a:lstStyle/>
          <a:p>
            <a:fld id="{988F3A2B-14A6-8F47-B753-A658CA12576A}" type="slidenum">
              <a:rPr lang="en-US" smtClean="0"/>
              <a:t>41</a:t>
            </a:fld>
            <a:endParaRPr lang="en-US"/>
          </a:p>
        </p:txBody>
      </p:sp>
    </p:spTree>
    <p:extLst>
      <p:ext uri="{BB962C8B-B14F-4D97-AF65-F5344CB8AC3E}">
        <p14:creationId xmlns:p14="http://schemas.microsoft.com/office/powerpoint/2010/main" val="8818770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34C88-9872-F6FB-D101-133D2FDD3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E6FE1-5D85-7FD6-29FC-052DF0407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9091A-790D-9AC4-5412-141B548AA2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1BCD3A-F69B-DBE4-F55A-4ACBA46F5BE0}"/>
              </a:ext>
            </a:extLst>
          </p:cNvPr>
          <p:cNvSpPr>
            <a:spLocks noGrp="1"/>
          </p:cNvSpPr>
          <p:nvPr>
            <p:ph type="sldNum" sz="quarter" idx="5"/>
          </p:nvPr>
        </p:nvSpPr>
        <p:spPr/>
        <p:txBody>
          <a:bodyPr/>
          <a:lstStyle/>
          <a:p>
            <a:fld id="{988F3A2B-14A6-8F47-B753-A658CA12576A}" type="slidenum">
              <a:rPr lang="en-US" smtClean="0"/>
              <a:t>42</a:t>
            </a:fld>
            <a:endParaRPr lang="en-US"/>
          </a:p>
        </p:txBody>
      </p:sp>
    </p:spTree>
    <p:extLst>
      <p:ext uri="{BB962C8B-B14F-4D97-AF65-F5344CB8AC3E}">
        <p14:creationId xmlns:p14="http://schemas.microsoft.com/office/powerpoint/2010/main" val="34066771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877DB-64A9-A200-7164-007B451C5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7CD5B-756C-32EC-42FF-DDC5AAC5A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4DC0A-70D3-8A40-2708-52E7CFCC8C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08E24F-E2C8-A6E9-E5D6-7091AD6331B5}"/>
              </a:ext>
            </a:extLst>
          </p:cNvPr>
          <p:cNvSpPr>
            <a:spLocks noGrp="1"/>
          </p:cNvSpPr>
          <p:nvPr>
            <p:ph type="sldNum" sz="quarter" idx="5"/>
          </p:nvPr>
        </p:nvSpPr>
        <p:spPr/>
        <p:txBody>
          <a:bodyPr/>
          <a:lstStyle/>
          <a:p>
            <a:fld id="{988F3A2B-14A6-8F47-B753-A658CA12576A}" type="slidenum">
              <a:rPr lang="en-US" smtClean="0"/>
              <a:t>43</a:t>
            </a:fld>
            <a:endParaRPr lang="en-US"/>
          </a:p>
        </p:txBody>
      </p:sp>
    </p:spTree>
    <p:extLst>
      <p:ext uri="{BB962C8B-B14F-4D97-AF65-F5344CB8AC3E}">
        <p14:creationId xmlns:p14="http://schemas.microsoft.com/office/powerpoint/2010/main" val="31447303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7081D-5B92-100C-C298-B6FA8F686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7D42A-3D46-00AD-C1AB-17EF2F136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BF02B-BE5E-54A9-5691-111FCBB969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F1B88E-9E6E-63D5-4CE8-A328C26D51B8}"/>
              </a:ext>
            </a:extLst>
          </p:cNvPr>
          <p:cNvSpPr>
            <a:spLocks noGrp="1"/>
          </p:cNvSpPr>
          <p:nvPr>
            <p:ph type="sldNum" sz="quarter" idx="5"/>
          </p:nvPr>
        </p:nvSpPr>
        <p:spPr/>
        <p:txBody>
          <a:bodyPr/>
          <a:lstStyle/>
          <a:p>
            <a:fld id="{988F3A2B-14A6-8F47-B753-A658CA12576A}" type="slidenum">
              <a:rPr lang="en-US" smtClean="0"/>
              <a:t>44</a:t>
            </a:fld>
            <a:endParaRPr lang="en-US"/>
          </a:p>
        </p:txBody>
      </p:sp>
    </p:spTree>
    <p:extLst>
      <p:ext uri="{BB962C8B-B14F-4D97-AF65-F5344CB8AC3E}">
        <p14:creationId xmlns:p14="http://schemas.microsoft.com/office/powerpoint/2010/main" val="29148002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E125B-01E9-04C5-63DD-DA448707A7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958E10-754F-A9D9-509B-9DD9293E4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FB379-CFB0-817E-2704-FD46BA9870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C371E8-3979-A445-550D-ADD1B9588BEE}"/>
              </a:ext>
            </a:extLst>
          </p:cNvPr>
          <p:cNvSpPr>
            <a:spLocks noGrp="1"/>
          </p:cNvSpPr>
          <p:nvPr>
            <p:ph type="sldNum" sz="quarter" idx="5"/>
          </p:nvPr>
        </p:nvSpPr>
        <p:spPr/>
        <p:txBody>
          <a:bodyPr/>
          <a:lstStyle/>
          <a:p>
            <a:fld id="{988F3A2B-14A6-8F47-B753-A658CA12576A}" type="slidenum">
              <a:rPr lang="en-US" smtClean="0"/>
              <a:t>45</a:t>
            </a:fld>
            <a:endParaRPr lang="en-US"/>
          </a:p>
        </p:txBody>
      </p:sp>
    </p:spTree>
    <p:extLst>
      <p:ext uri="{BB962C8B-B14F-4D97-AF65-F5344CB8AC3E}">
        <p14:creationId xmlns:p14="http://schemas.microsoft.com/office/powerpoint/2010/main" val="5868766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D6AE0-3521-6B68-15D0-5AE863F8C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E54D5-CED3-A5F4-0A40-990D3A405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39B41-1D4B-9E9D-1536-CC290C1413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E2932-13C3-FCCF-C16F-9EC0E9F807D7}"/>
              </a:ext>
            </a:extLst>
          </p:cNvPr>
          <p:cNvSpPr>
            <a:spLocks noGrp="1"/>
          </p:cNvSpPr>
          <p:nvPr>
            <p:ph type="sldNum" sz="quarter" idx="5"/>
          </p:nvPr>
        </p:nvSpPr>
        <p:spPr/>
        <p:txBody>
          <a:bodyPr/>
          <a:lstStyle/>
          <a:p>
            <a:fld id="{988F3A2B-14A6-8F47-B753-A658CA12576A}" type="slidenum">
              <a:rPr lang="en-US" smtClean="0"/>
              <a:t>47</a:t>
            </a:fld>
            <a:endParaRPr lang="en-US"/>
          </a:p>
        </p:txBody>
      </p:sp>
    </p:spTree>
    <p:extLst>
      <p:ext uri="{BB962C8B-B14F-4D97-AF65-F5344CB8AC3E}">
        <p14:creationId xmlns:p14="http://schemas.microsoft.com/office/powerpoint/2010/main" val="17919877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12/09/2025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12/09/2025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30460" y="5987081"/>
            <a:ext cx="4206868"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12/09/2025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12/09/2025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12/09/2025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12/09/2025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12/09/2025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12/09/2025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a:latin typeface="Franklin Gothic Medium" panose="020B0603020102020204" pitchFamily="34" charset="0"/>
              </a:rPr>
              <a:t>Lecture 11: </a:t>
            </a:r>
            <a:r>
              <a:rPr lang="en-US" b="0" dirty="0">
                <a:latin typeface="Franklin Gothic Medium" panose="020B0603020102020204" pitchFamily="34" charset="0"/>
              </a:rPr>
              <a:t>Designing Human-AI Collaboration</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12/09/2025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9D368-D626-97EB-4998-F795DD481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F5F98-68B1-8B15-A37A-DC09B4F6D2D9}"/>
              </a:ext>
            </a:extLst>
          </p:cNvPr>
          <p:cNvSpPr>
            <a:spLocks noGrp="1"/>
          </p:cNvSpPr>
          <p:nvPr>
            <p:ph type="ctrTitle"/>
          </p:nvPr>
        </p:nvSpPr>
        <p:spPr>
          <a:xfrm>
            <a:off x="2107520" y="437030"/>
            <a:ext cx="8476660" cy="332399"/>
          </a:xfrm>
        </p:spPr>
        <p:txBody>
          <a:bodyPr/>
          <a:lstStyle/>
          <a:p>
            <a:r>
              <a:rPr lang="en-US" dirty="0"/>
              <a:t>Outline</a:t>
            </a:r>
          </a:p>
        </p:txBody>
      </p:sp>
      <p:sp>
        <p:nvSpPr>
          <p:cNvPr id="4" name="Text Placeholder 3">
            <a:extLst>
              <a:ext uri="{FF2B5EF4-FFF2-40B4-BE49-F238E27FC236}">
                <a16:creationId xmlns:a16="http://schemas.microsoft.com/office/drawing/2014/main" id="{6C7A223E-5F9E-6C04-0F9C-C4B4564EF5A6}"/>
              </a:ext>
            </a:extLst>
          </p:cNvPr>
          <p:cNvSpPr>
            <a:spLocks noGrp="1"/>
          </p:cNvSpPr>
          <p:nvPr>
            <p:ph type="body" sz="quarter" idx="14"/>
          </p:nvPr>
        </p:nvSpPr>
        <p:spPr>
          <a:xfrm>
            <a:off x="1828800" y="1491343"/>
            <a:ext cx="8755379" cy="3837583"/>
          </a:xfrm>
        </p:spPr>
        <p:txBody>
          <a:bodyPr>
            <a:normAutofit/>
          </a:bodyPr>
          <a:lstStyle/>
          <a:p>
            <a:r>
              <a:rPr lang="en-US" sz="2400" dirty="0"/>
              <a:t>Review of automated decision making systems</a:t>
            </a:r>
          </a:p>
          <a:p>
            <a:endParaRPr lang="en-US" sz="2400" dirty="0"/>
          </a:p>
          <a:p>
            <a:r>
              <a:rPr lang="en-US" sz="2400" dirty="0"/>
              <a:t>Framework for human-ai collaboration</a:t>
            </a:r>
          </a:p>
          <a:p>
            <a:endParaRPr lang="en-US" sz="2400" dirty="0"/>
          </a:p>
          <a:p>
            <a:r>
              <a:rPr lang="en-US" sz="2400" dirty="0"/>
              <a:t>Empirical example</a:t>
            </a:r>
          </a:p>
          <a:p>
            <a:endParaRPr lang="en-US" sz="2400" dirty="0"/>
          </a:p>
          <a:p>
            <a:r>
              <a:rPr lang="en-US" sz="2400" dirty="0"/>
              <a:t>Implications for design of human-ai collaboration</a:t>
            </a:r>
          </a:p>
        </p:txBody>
      </p:sp>
      <p:sp>
        <p:nvSpPr>
          <p:cNvPr id="5" name="Date Placeholder 4">
            <a:extLst>
              <a:ext uri="{FF2B5EF4-FFF2-40B4-BE49-F238E27FC236}">
                <a16:creationId xmlns:a16="http://schemas.microsoft.com/office/drawing/2014/main" id="{5A595052-EE4D-0036-3986-3D7130DD2C50}"/>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403E9D29-CF5E-648C-1F2A-E71639A50B0D}"/>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1088479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D845D-B83F-529F-53A5-4ACC1A204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D9A60-2475-7151-7FA8-D07FFF1D573E}"/>
              </a:ext>
            </a:extLst>
          </p:cNvPr>
          <p:cNvSpPr>
            <a:spLocks noGrp="1"/>
          </p:cNvSpPr>
          <p:nvPr>
            <p:ph type="ctrTitle"/>
          </p:nvPr>
        </p:nvSpPr>
        <p:spPr>
          <a:xfrm>
            <a:off x="2647199" y="1501742"/>
            <a:ext cx="7300940" cy="1329595"/>
          </a:xfrm>
        </p:spPr>
        <p:txBody>
          <a:bodyPr/>
          <a:lstStyle/>
          <a:p>
            <a:r>
              <a:rPr lang="en-US" dirty="0"/>
              <a:t>Human vs algorithmic decisions</a:t>
            </a:r>
          </a:p>
        </p:txBody>
      </p:sp>
      <p:sp>
        <p:nvSpPr>
          <p:cNvPr id="4" name="Date Placeholder 3">
            <a:extLst>
              <a:ext uri="{FF2B5EF4-FFF2-40B4-BE49-F238E27FC236}">
                <a16:creationId xmlns:a16="http://schemas.microsoft.com/office/drawing/2014/main" id="{02725DEA-BE0A-7C2F-BC2A-D4F1991834CB}"/>
              </a:ext>
            </a:extLst>
          </p:cNvPr>
          <p:cNvSpPr>
            <a:spLocks noGrp="1"/>
          </p:cNvSpPr>
          <p:nvPr>
            <p:ph type="dt" sz="half" idx="10"/>
          </p:nvPr>
        </p:nvSpPr>
        <p:spPr/>
        <p:txBody>
          <a:bodyPr/>
          <a:lstStyle/>
          <a:p>
            <a:fld id="{D47A9A36-4EB0-BF46-AE48-7CDA251B954B}" type="datetime1">
              <a:rPr lang="en-US" smtClean="0"/>
              <a:pPr/>
              <a:t>12/09/2025</a:t>
            </a:fld>
            <a:endParaRPr lang="en-US" dirty="0"/>
          </a:p>
        </p:txBody>
      </p:sp>
      <p:sp>
        <p:nvSpPr>
          <p:cNvPr id="5" name="Slide Number Placeholder 4">
            <a:extLst>
              <a:ext uri="{FF2B5EF4-FFF2-40B4-BE49-F238E27FC236}">
                <a16:creationId xmlns:a16="http://schemas.microsoft.com/office/drawing/2014/main" id="{FBD83CC1-350A-6863-B1B9-1065AEC3F5E7}"/>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152974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145DD-B491-2FE9-E96A-90951C709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31C6A-BC2E-9D60-2152-9BA7DA39AF77}"/>
              </a:ext>
            </a:extLst>
          </p:cNvPr>
          <p:cNvSpPr>
            <a:spLocks noGrp="1"/>
          </p:cNvSpPr>
          <p:nvPr>
            <p:ph type="ctrTitle"/>
          </p:nvPr>
        </p:nvSpPr>
        <p:spPr/>
        <p:txBody>
          <a:bodyPr/>
          <a:lstStyle/>
          <a:p>
            <a:r>
              <a:rPr lang="en-US" dirty="0"/>
              <a:t>Comparative Advantage of Humans vs Algorithm</a:t>
            </a:r>
          </a:p>
        </p:txBody>
      </p:sp>
      <p:sp>
        <p:nvSpPr>
          <p:cNvPr id="4" name="Text Placeholder 3">
            <a:extLst>
              <a:ext uri="{FF2B5EF4-FFF2-40B4-BE49-F238E27FC236}">
                <a16:creationId xmlns:a16="http://schemas.microsoft.com/office/drawing/2014/main" id="{9B7CA9CA-691C-4C62-018C-FE2B59CA29E5}"/>
              </a:ext>
            </a:extLst>
          </p:cNvPr>
          <p:cNvSpPr>
            <a:spLocks noGrp="1"/>
          </p:cNvSpPr>
          <p:nvPr>
            <p:ph type="body" sz="quarter" idx="14"/>
          </p:nvPr>
        </p:nvSpPr>
        <p:spPr>
          <a:xfrm>
            <a:off x="1828800" y="1491343"/>
            <a:ext cx="8755380" cy="3995057"/>
          </a:xfrm>
        </p:spPr>
        <p:txBody>
          <a:bodyPr>
            <a:normAutofit lnSpcReduction="10000"/>
          </a:bodyPr>
          <a:lstStyle/>
          <a:p>
            <a:r>
              <a:rPr lang="en-US" sz="2400" dirty="0"/>
              <a:t>Algorithmic decisions</a:t>
            </a:r>
          </a:p>
          <a:p>
            <a:pPr lvl="1"/>
            <a:r>
              <a:rPr lang="en-US" sz="2400" dirty="0"/>
              <a:t>Instantaneous</a:t>
            </a:r>
          </a:p>
          <a:p>
            <a:pPr lvl="1"/>
            <a:r>
              <a:rPr lang="en-US" sz="2400" dirty="0"/>
              <a:t>Consistent</a:t>
            </a:r>
          </a:p>
          <a:p>
            <a:pPr lvl="1"/>
            <a:r>
              <a:rPr lang="en-US" sz="2400" dirty="0"/>
              <a:t>Makes good use of training data</a:t>
            </a:r>
          </a:p>
          <a:p>
            <a:pPr lvl="1"/>
            <a:r>
              <a:rPr lang="en-US" sz="2400" dirty="0"/>
              <a:t>Objective is clear</a:t>
            </a:r>
          </a:p>
          <a:p>
            <a:endParaRPr lang="en-US" sz="2400" dirty="0"/>
          </a:p>
          <a:p>
            <a:r>
              <a:rPr lang="en-US" sz="2400" dirty="0"/>
              <a:t>Human decisions</a:t>
            </a:r>
          </a:p>
          <a:p>
            <a:pPr lvl="1"/>
            <a:r>
              <a:rPr lang="en-US" sz="2400" dirty="0"/>
              <a:t>Able to use additional data</a:t>
            </a:r>
          </a:p>
          <a:p>
            <a:pPr lvl="1"/>
            <a:r>
              <a:rPr lang="en-US" sz="2400" dirty="0"/>
              <a:t>More explainable?</a:t>
            </a:r>
          </a:p>
        </p:txBody>
      </p:sp>
      <p:sp>
        <p:nvSpPr>
          <p:cNvPr id="5" name="Date Placeholder 4">
            <a:extLst>
              <a:ext uri="{FF2B5EF4-FFF2-40B4-BE49-F238E27FC236}">
                <a16:creationId xmlns:a16="http://schemas.microsoft.com/office/drawing/2014/main" id="{1838C1BB-5970-8303-1E74-E923B90A0508}"/>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D45951FF-96D8-3BB9-5E87-1EBF733AFC48}"/>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170687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9DE98-724D-CB02-2781-19E29B172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04B96-3951-0B49-521A-96C6F96C0F2F}"/>
              </a:ext>
            </a:extLst>
          </p:cNvPr>
          <p:cNvSpPr>
            <a:spLocks noGrp="1"/>
          </p:cNvSpPr>
          <p:nvPr>
            <p:ph type="ctrTitle"/>
          </p:nvPr>
        </p:nvSpPr>
        <p:spPr/>
        <p:txBody>
          <a:bodyPr/>
          <a:lstStyle/>
          <a:p>
            <a:r>
              <a:rPr lang="en-US" dirty="0"/>
              <a:t>Many Well-Documented Human Prediction Errors</a:t>
            </a:r>
          </a:p>
        </p:txBody>
      </p:sp>
      <p:sp>
        <p:nvSpPr>
          <p:cNvPr id="4" name="Text Placeholder 3">
            <a:extLst>
              <a:ext uri="{FF2B5EF4-FFF2-40B4-BE49-F238E27FC236}">
                <a16:creationId xmlns:a16="http://schemas.microsoft.com/office/drawing/2014/main" id="{86D13F06-0ADA-BF84-E444-1ACFC532E434}"/>
              </a:ext>
            </a:extLst>
          </p:cNvPr>
          <p:cNvSpPr>
            <a:spLocks noGrp="1"/>
          </p:cNvSpPr>
          <p:nvPr>
            <p:ph type="body" sz="quarter" idx="14"/>
          </p:nvPr>
        </p:nvSpPr>
        <p:spPr>
          <a:xfrm>
            <a:off x="1828800" y="1491343"/>
            <a:ext cx="8755380" cy="3837583"/>
          </a:xfrm>
        </p:spPr>
        <p:txBody>
          <a:bodyPr>
            <a:normAutofit/>
          </a:bodyPr>
          <a:lstStyle/>
          <a:p>
            <a:r>
              <a:rPr lang="en-US" sz="2400" dirty="0"/>
              <a:t>Representativeness</a:t>
            </a:r>
          </a:p>
          <a:p>
            <a:endParaRPr lang="en-US" sz="2400" dirty="0"/>
          </a:p>
          <a:p>
            <a:r>
              <a:rPr lang="en-US" sz="2400" dirty="0"/>
              <a:t>Conjunction Fallacy</a:t>
            </a:r>
          </a:p>
          <a:p>
            <a:endParaRPr lang="en-US" sz="2400" dirty="0"/>
          </a:p>
          <a:p>
            <a:r>
              <a:rPr lang="en-US" sz="2400" dirty="0"/>
              <a:t>Base Rate Fallacy</a:t>
            </a:r>
          </a:p>
          <a:p>
            <a:endParaRPr lang="en-US" sz="2400" dirty="0"/>
          </a:p>
          <a:p>
            <a:r>
              <a:rPr lang="en-US" sz="2400" dirty="0"/>
              <a:t>Confirmation Bias</a:t>
            </a:r>
          </a:p>
          <a:p>
            <a:endParaRPr lang="en-US" sz="2400" dirty="0"/>
          </a:p>
          <a:p>
            <a:r>
              <a:rPr lang="en-US" sz="2400" dirty="0"/>
              <a:t>Noisy Decisions</a:t>
            </a:r>
          </a:p>
          <a:p>
            <a:pPr lvl="1"/>
            <a:r>
              <a:rPr lang="en-US" sz="2400" dirty="0"/>
              <a:t>Mood, time of day, …</a:t>
            </a:r>
          </a:p>
        </p:txBody>
      </p:sp>
      <p:pic>
        <p:nvPicPr>
          <p:cNvPr id="7" name="Picture 6" descr="Four target diagrams illustrating accuracy, bias, and noise.">
            <a:extLst>
              <a:ext uri="{FF2B5EF4-FFF2-40B4-BE49-F238E27FC236}">
                <a16:creationId xmlns:a16="http://schemas.microsoft.com/office/drawing/2014/main" id="{B0D3DBD5-187A-2371-7B35-DBEC56B2F2CC}"/>
              </a:ext>
            </a:extLst>
          </p:cNvPr>
          <p:cNvPicPr>
            <a:picLocks noChangeAspect="1"/>
          </p:cNvPicPr>
          <p:nvPr/>
        </p:nvPicPr>
        <p:blipFill>
          <a:blip r:embed="rId3"/>
          <a:stretch>
            <a:fillRect/>
          </a:stretch>
        </p:blipFill>
        <p:spPr>
          <a:xfrm>
            <a:off x="5971650" y="1327236"/>
            <a:ext cx="3481173" cy="3860937"/>
          </a:xfrm>
          <a:prstGeom prst="rect">
            <a:avLst/>
          </a:prstGeom>
        </p:spPr>
      </p:pic>
      <p:sp>
        <p:nvSpPr>
          <p:cNvPr id="5" name="Date Placeholder 4">
            <a:extLst>
              <a:ext uri="{FF2B5EF4-FFF2-40B4-BE49-F238E27FC236}">
                <a16:creationId xmlns:a16="http://schemas.microsoft.com/office/drawing/2014/main" id="{CD0F30B7-27CC-932D-3439-2FDEE3E8F95E}"/>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2CBB22D8-074C-A9D7-FFBA-7661042160BB}"/>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2312027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72714-E82B-501E-1F74-A05B6E9036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B0A6-4B1C-A7E7-AA4D-B18D207B8029}"/>
              </a:ext>
            </a:extLst>
          </p:cNvPr>
          <p:cNvSpPr>
            <a:spLocks noGrp="1"/>
          </p:cNvSpPr>
          <p:nvPr>
            <p:ph type="ctrTitle"/>
          </p:nvPr>
        </p:nvSpPr>
        <p:spPr/>
        <p:txBody>
          <a:bodyPr/>
          <a:lstStyle/>
          <a:p>
            <a:r>
              <a:rPr lang="en-US" dirty="0"/>
              <a:t>Evaluating Algorithm Decisions</a:t>
            </a:r>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21D92011-6BE3-83EF-A6B9-FD57AE8A0B0B}"/>
                  </a:ext>
                </a:extLst>
              </p:cNvPr>
              <p:cNvSpPr>
                <a:spLocks noGrp="1"/>
              </p:cNvSpPr>
              <p:nvPr>
                <p:ph type="body" sz="quarter" idx="14"/>
              </p:nvPr>
            </p:nvSpPr>
            <p:spPr>
              <a:xfrm>
                <a:off x="1957778" y="1447991"/>
                <a:ext cx="4333293" cy="3617786"/>
              </a:xfrm>
            </p:spPr>
            <p:txBody>
              <a:bodyPr>
                <a:normAutofit/>
              </a:bodyPr>
              <a:lstStyle/>
              <a:p>
                <a:r>
                  <a:rPr lang="en-US" sz="2000" dirty="0"/>
                  <a:t>For many values of </a:t>
                </a:r>
                <a14:m>
                  <m:oMath xmlns:m="http://schemas.openxmlformats.org/officeDocument/2006/math">
                    <m:r>
                      <a:rPr lang="en-US" sz="2000" b="0" i="1" smtClean="0">
                        <a:latin typeface="Cambria Math" panose="02040503050406030204" pitchFamily="18" charset="0"/>
                      </a:rPr>
                      <m:t>𝜏</m:t>
                    </m:r>
                  </m:oMath>
                </a14:m>
                <a:r>
                  <a:rPr lang="en-US" sz="2000" dirty="0"/>
                  <a:t>, plot:</a:t>
                </a:r>
              </a:p>
              <a:p>
                <a:endParaRPr lang="en-US" sz="2000" dirty="0"/>
              </a:p>
              <a:p>
                <a:r>
                  <a:rPr lang="en-US" sz="2000" dirty="0"/>
                  <a:t>x-axis: Share of defendants with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Pr</m:t>
                        </m:r>
                      </m:fName>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𝑖</m:t>
                                </m:r>
                              </m:sub>
                            </m:sSub>
                          </m:e>
                        </m:d>
                      </m:e>
                    </m:func>
                    <m:r>
                      <a:rPr lang="en-US" sz="2000" b="0" i="1" smtClean="0">
                        <a:latin typeface="Cambria Math" panose="02040503050406030204" pitchFamily="18" charset="0"/>
                      </a:rPr>
                      <m:t>&lt;</m:t>
                    </m:r>
                    <m:r>
                      <a:rPr lang="en-US" sz="2000" b="0" i="1" smtClean="0">
                        <a:latin typeface="Cambria Math" panose="02040503050406030204" pitchFamily="18" charset="0"/>
                      </a:rPr>
                      <m:t>𝜏</m:t>
                    </m:r>
                  </m:oMath>
                </a14:m>
                <a:endParaRPr lang="en-US" sz="2000" b="0" dirty="0"/>
              </a:p>
              <a:p>
                <a:pPr lvl="1"/>
                <a:endParaRPr lang="en-US" sz="2000" dirty="0"/>
              </a:p>
              <a:p>
                <a:r>
                  <a:rPr lang="en-US" sz="2000" dirty="0"/>
                  <a:t>y-axis: Average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oMath>
                </a14:m>
                <a:r>
                  <a:rPr lang="en-US" sz="2000" dirty="0"/>
                  <a:t> among released</a:t>
                </a:r>
              </a:p>
              <a:p>
                <a:endParaRPr lang="en-US" sz="2000" dirty="0"/>
              </a:p>
              <a:p>
                <a:r>
                  <a:rPr lang="en-US" sz="2000" dirty="0"/>
                  <a:t>Question: Why is this convex?</a:t>
                </a:r>
              </a:p>
              <a:p>
                <a:endParaRPr lang="en-US" sz="2000" dirty="0"/>
              </a:p>
              <a:p>
                <a:r>
                  <a:rPr lang="en-US" sz="2000" dirty="0"/>
                  <a:t>Is this better / worse than humans?</a:t>
                </a:r>
              </a:p>
            </p:txBody>
          </p:sp>
        </mc:Choice>
        <mc:Fallback xmlns="">
          <p:sp>
            <p:nvSpPr>
              <p:cNvPr id="10" name="Text Placeholder 9">
                <a:extLst>
                  <a:ext uri="{FF2B5EF4-FFF2-40B4-BE49-F238E27FC236}">
                    <a16:creationId xmlns:a16="http://schemas.microsoft.com/office/drawing/2014/main" id="{21D92011-6BE3-83EF-A6B9-FD57AE8A0B0B}"/>
                  </a:ext>
                </a:extLst>
              </p:cNvPr>
              <p:cNvSpPr>
                <a:spLocks noGrp="1" noRot="1" noChangeAspect="1" noMove="1" noResize="1" noEditPoints="1" noAdjustHandles="1" noChangeArrowheads="1" noChangeShapeType="1" noTextEdit="1"/>
              </p:cNvSpPr>
              <p:nvPr>
                <p:ph type="body" sz="quarter" idx="14"/>
              </p:nvPr>
            </p:nvSpPr>
            <p:spPr>
              <a:xfrm>
                <a:off x="1957778" y="1447991"/>
                <a:ext cx="4333293" cy="3617786"/>
              </a:xfrm>
              <a:blipFill>
                <a:blip r:embed="rId3"/>
                <a:stretch>
                  <a:fillRect l="-3216" t="-2105"/>
                </a:stretch>
              </a:blipFill>
            </p:spPr>
            <p:txBody>
              <a:bodyPr/>
              <a:lstStyle/>
              <a:p>
                <a:r>
                  <a:rPr lang="en-US">
                    <a:noFill/>
                  </a:rPr>
                  <a:t> </a:t>
                </a:r>
              </a:p>
            </p:txBody>
          </p:sp>
        </mc:Fallback>
      </mc:AlternateContent>
      <p:pic>
        <p:nvPicPr>
          <p:cNvPr id="19" name="Picture 18" descr="Line graph showing crime rate on the vertical axis and release rate on the horizontal axis.">
            <a:extLst>
              <a:ext uri="{FF2B5EF4-FFF2-40B4-BE49-F238E27FC236}">
                <a16:creationId xmlns:a16="http://schemas.microsoft.com/office/drawing/2014/main" id="{F61FB798-3E28-8A73-4B8D-F20188A01D73}"/>
              </a:ext>
            </a:extLst>
          </p:cNvPr>
          <p:cNvPicPr>
            <a:picLocks noChangeAspect="1"/>
          </p:cNvPicPr>
          <p:nvPr/>
        </p:nvPicPr>
        <p:blipFill>
          <a:blip r:embed="rId4"/>
          <a:stretch>
            <a:fillRect/>
          </a:stretch>
        </p:blipFill>
        <p:spPr>
          <a:xfrm>
            <a:off x="6624945" y="1707384"/>
            <a:ext cx="4917683" cy="3617786"/>
          </a:xfrm>
          <a:prstGeom prst="rect">
            <a:avLst/>
          </a:prstGeom>
        </p:spPr>
      </p:pic>
      <p:sp>
        <p:nvSpPr>
          <p:cNvPr id="21" name="TextBox 20">
            <a:extLst>
              <a:ext uri="{FF2B5EF4-FFF2-40B4-BE49-F238E27FC236}">
                <a16:creationId xmlns:a16="http://schemas.microsoft.com/office/drawing/2014/main" id="{0BB9F062-A6D4-93B8-C471-8FB9D5FD60DE}"/>
              </a:ext>
            </a:extLst>
          </p:cNvPr>
          <p:cNvSpPr txBox="1"/>
          <p:nvPr/>
        </p:nvSpPr>
        <p:spPr>
          <a:xfrm>
            <a:off x="5640779" y="559016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23BCF007-D4B6-5403-5866-944DE02473E1}"/>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E5759100-DBE6-84E5-30E0-EBF436BE5303}"/>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141750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AA0C8-37C9-1485-96DA-5F61C6157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A01C0-3162-9D27-F6FA-5FB81DE3D6CB}"/>
              </a:ext>
            </a:extLst>
          </p:cNvPr>
          <p:cNvSpPr>
            <a:spLocks noGrp="1"/>
          </p:cNvSpPr>
          <p:nvPr>
            <p:ph type="ctrTitle"/>
          </p:nvPr>
        </p:nvSpPr>
        <p:spPr/>
        <p:txBody>
          <a:bodyPr/>
          <a:lstStyle/>
          <a:p>
            <a:r>
              <a:rPr lang="en-US" dirty="0"/>
              <a:t>Evaluating Algorithm Decisions, Continued</a:t>
            </a:r>
          </a:p>
        </p:txBody>
      </p:sp>
      <p:sp>
        <p:nvSpPr>
          <p:cNvPr id="10" name="Text Placeholder 9">
            <a:extLst>
              <a:ext uri="{FF2B5EF4-FFF2-40B4-BE49-F238E27FC236}">
                <a16:creationId xmlns:a16="http://schemas.microsoft.com/office/drawing/2014/main" id="{337A1F74-B9BD-E13C-0C47-E73E6DFF81E7}"/>
              </a:ext>
            </a:extLst>
          </p:cNvPr>
          <p:cNvSpPr>
            <a:spLocks noGrp="1"/>
          </p:cNvSpPr>
          <p:nvPr>
            <p:ph type="body" sz="quarter" idx="14"/>
          </p:nvPr>
        </p:nvSpPr>
        <p:spPr>
          <a:xfrm>
            <a:off x="1957778" y="1447991"/>
            <a:ext cx="4333293" cy="3617786"/>
          </a:xfrm>
        </p:spPr>
        <p:txBody>
          <a:bodyPr>
            <a:normAutofit/>
          </a:bodyPr>
          <a:lstStyle/>
          <a:p>
            <a:r>
              <a:rPr lang="en-US" sz="2000" dirty="0"/>
              <a:t>Add performance of human judge</a:t>
            </a:r>
          </a:p>
          <a:p>
            <a:endParaRPr lang="en-US" sz="2000" dirty="0"/>
          </a:p>
          <a:p>
            <a:r>
              <a:rPr lang="en-US" sz="2000" dirty="0"/>
              <a:t>Keep jail population fixed</a:t>
            </a:r>
          </a:p>
          <a:p>
            <a:pPr lvl="1"/>
            <a:r>
              <a:rPr lang="en-US" sz="2000" dirty="0"/>
              <a:t>Reduce crime rate by 24%</a:t>
            </a:r>
          </a:p>
          <a:p>
            <a:endParaRPr lang="en-US" sz="2000" dirty="0"/>
          </a:p>
          <a:p>
            <a:r>
              <a:rPr lang="en-US" sz="2000" dirty="0"/>
              <a:t>Keep crime rate fixed, reduce jail population by 40%!</a:t>
            </a:r>
          </a:p>
          <a:p>
            <a:endParaRPr lang="en-US" sz="2000" dirty="0"/>
          </a:p>
          <a:p>
            <a:r>
              <a:rPr lang="en-US" sz="2000" dirty="0"/>
              <a:t>Algorithm seems to improve on human decisions!</a:t>
            </a:r>
          </a:p>
        </p:txBody>
      </p:sp>
      <p:pic>
        <p:nvPicPr>
          <p:cNvPr id="7" name="Picture 6" descr="Graph plotting crime rate against release rate with an upward-curving line. Horizontal and vertical guide lines connect these points to their respective crime and release rate values, comparing judge decisions to algorithmic recommendations.">
            <a:extLst>
              <a:ext uri="{FF2B5EF4-FFF2-40B4-BE49-F238E27FC236}">
                <a16:creationId xmlns:a16="http://schemas.microsoft.com/office/drawing/2014/main" id="{F1D11711-462F-48FC-4E25-5A59BE93B67C}"/>
              </a:ext>
            </a:extLst>
          </p:cNvPr>
          <p:cNvPicPr>
            <a:picLocks noChangeAspect="1"/>
          </p:cNvPicPr>
          <p:nvPr/>
        </p:nvPicPr>
        <p:blipFill>
          <a:blip r:embed="rId3"/>
          <a:stretch>
            <a:fillRect/>
          </a:stretch>
        </p:blipFill>
        <p:spPr>
          <a:xfrm>
            <a:off x="6096000" y="1159001"/>
            <a:ext cx="5558028" cy="4195766"/>
          </a:xfrm>
          <a:prstGeom prst="rect">
            <a:avLst/>
          </a:prstGeom>
        </p:spPr>
      </p:pic>
      <p:sp>
        <p:nvSpPr>
          <p:cNvPr id="9" name="TextBox 8">
            <a:extLst>
              <a:ext uri="{FF2B5EF4-FFF2-40B4-BE49-F238E27FC236}">
                <a16:creationId xmlns:a16="http://schemas.microsoft.com/office/drawing/2014/main" id="{35B30756-DE10-3AF4-A6F4-FBB7CD85118E}"/>
              </a:ext>
            </a:extLst>
          </p:cNvPr>
          <p:cNvSpPr txBox="1"/>
          <p:nvPr/>
        </p:nvSpPr>
        <p:spPr>
          <a:xfrm>
            <a:off x="5640779" y="559016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CAE92B0F-E7DB-7E07-BF21-30EF97D0D436}"/>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0E00B879-CFAA-C40E-AE06-6FF17A869304}"/>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427790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0C24C-FC73-8EBA-BC85-BB6B36E9F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0B342-5DA6-EF66-DC0F-FED11D6367CC}"/>
              </a:ext>
            </a:extLst>
          </p:cNvPr>
          <p:cNvSpPr>
            <a:spLocks noGrp="1"/>
          </p:cNvSpPr>
          <p:nvPr>
            <p:ph type="ctrTitle"/>
          </p:nvPr>
        </p:nvSpPr>
        <p:spPr/>
        <p:txBody>
          <a:bodyPr/>
          <a:lstStyle/>
          <a:p>
            <a:r>
              <a:rPr lang="en-US" dirty="0"/>
              <a:t>Promise of Algorithmic Decision Making</a:t>
            </a:r>
          </a:p>
        </p:txBody>
      </p:sp>
      <p:sp>
        <p:nvSpPr>
          <p:cNvPr id="5" name="Date Placeholder 4">
            <a:extLst>
              <a:ext uri="{FF2B5EF4-FFF2-40B4-BE49-F238E27FC236}">
                <a16:creationId xmlns:a16="http://schemas.microsoft.com/office/drawing/2014/main" id="{86A57E14-14BD-E79F-1993-B5808BDA41E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C12951C1-5B9C-D271-A57A-C5CBA5C95646}"/>
              </a:ext>
            </a:extLst>
          </p:cNvPr>
          <p:cNvSpPr>
            <a:spLocks noGrp="1"/>
          </p:cNvSpPr>
          <p:nvPr>
            <p:ph type="sldNum" sz="quarter" idx="12"/>
          </p:nvPr>
        </p:nvSpPr>
        <p:spPr/>
        <p:txBody>
          <a:bodyPr/>
          <a:lstStyle/>
          <a:p>
            <a:fld id="{8A7A6979-0714-4377-B894-6BE4C2D6E202}" type="slidenum">
              <a:rPr lang="en-US" smtClean="0"/>
              <a:pPr/>
              <a:t>8</a:t>
            </a:fld>
            <a:endParaRPr lang="en-US" dirty="0"/>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184498A4-7B42-8D03-281C-C22DCDB0EBC8}"/>
                  </a:ext>
                </a:extLst>
              </p:cNvPr>
              <p:cNvSpPr>
                <a:spLocks noGrp="1"/>
              </p:cNvSpPr>
              <p:nvPr>
                <p:ph type="body" sz="quarter" idx="14"/>
              </p:nvPr>
            </p:nvSpPr>
            <p:spPr>
              <a:xfrm>
                <a:off x="1957778" y="1447991"/>
                <a:ext cx="8850430" cy="3617786"/>
              </a:xfrm>
            </p:spPr>
            <p:txBody>
              <a:bodyPr>
                <a:normAutofit/>
              </a:bodyPr>
              <a:lstStyle/>
              <a:p>
                <a:r>
                  <a:rPr lang="en-US" sz="2000" dirty="0"/>
                  <a:t>Machines can learn flexible relationships to approximate true </a:t>
                </a:r>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e>
                      <m:e>
                        <m:r>
                          <a:rPr lang="en-US" sz="2000" b="0" i="1" smtClean="0">
                            <a:latin typeface="Cambria Math" panose="02040503050406030204" pitchFamily="18" charset="0"/>
                          </a:rPr>
                          <m:t>𝑋</m:t>
                        </m:r>
                      </m:e>
                    </m:d>
                  </m:oMath>
                </a14:m>
                <a:endParaRPr lang="en-US" sz="2000" dirty="0"/>
              </a:p>
              <a:p>
                <a:pPr lvl="1"/>
                <a:r>
                  <a:rPr lang="en-US" sz="2000" dirty="0"/>
                  <a:t>Humans approximate conditional expectation with imperfect models</a:t>
                </a:r>
              </a:p>
              <a:p>
                <a:pPr lvl="1"/>
                <a:r>
                  <a:rPr lang="en-US" sz="2000" dirty="0"/>
                  <a:t>Humans have cognitive noise resulting in imperfect decisions</a:t>
                </a:r>
              </a:p>
              <a:p>
                <a:endParaRPr lang="en-US" sz="2000" dirty="0"/>
              </a:p>
              <a:p>
                <a:r>
                  <a:rPr lang="en-US" sz="2000" dirty="0"/>
                  <a:t>Machine decisions are scalable</a:t>
                </a:r>
              </a:p>
              <a:p>
                <a:pPr lvl="1"/>
                <a:r>
                  <a:rPr lang="en-US" sz="2000" dirty="0"/>
                  <a:t>Marginal cost of machine decision ~$0</a:t>
                </a:r>
              </a:p>
              <a:p>
                <a:pPr lvl="1"/>
                <a:r>
                  <a:rPr lang="en-US" sz="2000" dirty="0"/>
                  <a:t>Marginal cost of human radiologist assessment &gt;$10</a:t>
                </a:r>
              </a:p>
              <a:p>
                <a:endParaRPr lang="en-US" sz="2000" dirty="0"/>
              </a:p>
              <a:p>
                <a:r>
                  <a:rPr lang="en-US" sz="2000" dirty="0"/>
                  <a:t>Lots of opportunities to scale expertise using ML</a:t>
                </a:r>
              </a:p>
            </p:txBody>
          </p:sp>
        </mc:Choice>
        <mc:Fallback xmlns="">
          <p:sp>
            <p:nvSpPr>
              <p:cNvPr id="10" name="Text Placeholder 9">
                <a:extLst>
                  <a:ext uri="{FF2B5EF4-FFF2-40B4-BE49-F238E27FC236}">
                    <a16:creationId xmlns:a16="http://schemas.microsoft.com/office/drawing/2014/main" id="{184498A4-7B42-8D03-281C-C22DCDB0EBC8}"/>
                  </a:ext>
                </a:extLst>
              </p:cNvPr>
              <p:cNvSpPr>
                <a:spLocks noGrp="1" noRot="1" noChangeAspect="1" noMove="1" noResize="1" noEditPoints="1" noAdjustHandles="1" noChangeArrowheads="1" noChangeShapeType="1" noTextEdit="1"/>
              </p:cNvSpPr>
              <p:nvPr>
                <p:ph type="body" sz="quarter" idx="14"/>
              </p:nvPr>
            </p:nvSpPr>
            <p:spPr>
              <a:xfrm>
                <a:off x="1957778" y="1447991"/>
                <a:ext cx="8850430" cy="3617786"/>
              </a:xfrm>
              <a:blipFill>
                <a:blip r:embed="rId3"/>
                <a:stretch>
                  <a:fillRect l="-1576" t="-2105"/>
                </a:stretch>
              </a:blipFill>
            </p:spPr>
            <p:txBody>
              <a:bodyPr/>
              <a:lstStyle/>
              <a:p>
                <a:r>
                  <a:rPr lang="en-US">
                    <a:noFill/>
                  </a:rPr>
                  <a:t> </a:t>
                </a:r>
              </a:p>
            </p:txBody>
          </p:sp>
        </mc:Fallback>
      </mc:AlternateContent>
    </p:spTree>
    <p:extLst>
      <p:ext uri="{BB962C8B-B14F-4D97-AF65-F5344CB8AC3E}">
        <p14:creationId xmlns:p14="http://schemas.microsoft.com/office/powerpoint/2010/main" val="354934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C87FD-6820-91E7-D437-2AA3BB456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9F834-378A-DFA7-D3A4-466EAAC2FA28}"/>
              </a:ext>
            </a:extLst>
          </p:cNvPr>
          <p:cNvSpPr>
            <a:spLocks noGrp="1"/>
          </p:cNvSpPr>
          <p:nvPr>
            <p:ph type="ctrTitle"/>
          </p:nvPr>
        </p:nvSpPr>
        <p:spPr>
          <a:xfrm>
            <a:off x="2647199" y="1501742"/>
            <a:ext cx="7300940" cy="1329595"/>
          </a:xfrm>
        </p:spPr>
        <p:txBody>
          <a:bodyPr/>
          <a:lstStyle/>
          <a:p>
            <a:r>
              <a:rPr lang="en-US" dirty="0"/>
              <a:t>Humans + algorithmic decisions</a:t>
            </a:r>
          </a:p>
        </p:txBody>
      </p:sp>
      <p:sp>
        <p:nvSpPr>
          <p:cNvPr id="4" name="Date Placeholder 3">
            <a:extLst>
              <a:ext uri="{FF2B5EF4-FFF2-40B4-BE49-F238E27FC236}">
                <a16:creationId xmlns:a16="http://schemas.microsoft.com/office/drawing/2014/main" id="{47B2FB7F-F0CE-B031-F5DD-7F3BAC165A2B}"/>
              </a:ext>
            </a:extLst>
          </p:cNvPr>
          <p:cNvSpPr>
            <a:spLocks noGrp="1"/>
          </p:cNvSpPr>
          <p:nvPr>
            <p:ph type="dt" sz="half" idx="10"/>
          </p:nvPr>
        </p:nvSpPr>
        <p:spPr/>
        <p:txBody>
          <a:bodyPr/>
          <a:lstStyle/>
          <a:p>
            <a:fld id="{D47A9A36-4EB0-BF46-AE48-7CDA251B954B}" type="datetime1">
              <a:rPr lang="en-US" smtClean="0"/>
              <a:pPr/>
              <a:t>12/09/2025</a:t>
            </a:fld>
            <a:endParaRPr lang="en-US" dirty="0"/>
          </a:p>
        </p:txBody>
      </p:sp>
      <p:sp>
        <p:nvSpPr>
          <p:cNvPr id="5" name="Slide Number Placeholder 4">
            <a:extLst>
              <a:ext uri="{FF2B5EF4-FFF2-40B4-BE49-F238E27FC236}">
                <a16:creationId xmlns:a16="http://schemas.microsoft.com/office/drawing/2014/main" id="{08C8191F-EEAD-38A5-0E38-18E88AF20C30}"/>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361999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1673C-8D00-6492-37CF-9485A3078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A9975-7663-2D8D-6EFE-2D5EFCEB29D0}"/>
              </a:ext>
            </a:extLst>
          </p:cNvPr>
          <p:cNvSpPr>
            <a:spLocks noGrp="1"/>
          </p:cNvSpPr>
          <p:nvPr>
            <p:ph type="ctrTitle"/>
          </p:nvPr>
        </p:nvSpPr>
        <p:spPr/>
        <p:txBody>
          <a:bodyPr/>
          <a:lstStyle/>
          <a:p>
            <a:r>
              <a:rPr lang="en-US" dirty="0"/>
              <a:t>Motivation for Human-in-the-Loop Systems</a:t>
            </a:r>
          </a:p>
        </p:txBody>
      </p:sp>
      <p:sp>
        <p:nvSpPr>
          <p:cNvPr id="4" name="Text Placeholder 3">
            <a:extLst>
              <a:ext uri="{FF2B5EF4-FFF2-40B4-BE49-F238E27FC236}">
                <a16:creationId xmlns:a16="http://schemas.microsoft.com/office/drawing/2014/main" id="{6511C8F8-7374-BF3F-CA23-0A8D36F9872F}"/>
              </a:ext>
            </a:extLst>
          </p:cNvPr>
          <p:cNvSpPr>
            <a:spLocks noGrp="1"/>
          </p:cNvSpPr>
          <p:nvPr>
            <p:ph type="body" sz="quarter" idx="14"/>
          </p:nvPr>
        </p:nvSpPr>
        <p:spPr>
          <a:xfrm>
            <a:off x="1828800" y="1491343"/>
            <a:ext cx="8755380" cy="4152220"/>
          </a:xfrm>
        </p:spPr>
        <p:txBody>
          <a:bodyPr>
            <a:normAutofit/>
          </a:bodyPr>
          <a:lstStyle/>
          <a:p>
            <a:r>
              <a:rPr lang="en-US" sz="2400" dirty="0"/>
              <a:t>Situations where we want final decision made by human</a:t>
            </a:r>
          </a:p>
          <a:p>
            <a:pPr lvl="1"/>
            <a:r>
              <a:rPr lang="en-US" sz="2400" dirty="0"/>
              <a:t>Mitigate legal liability</a:t>
            </a:r>
          </a:p>
          <a:p>
            <a:pPr lvl="1"/>
            <a:r>
              <a:rPr lang="en-US" sz="2400" dirty="0"/>
              <a:t>Regulatory necessity</a:t>
            </a:r>
          </a:p>
          <a:p>
            <a:pPr lvl="1"/>
            <a:r>
              <a:rPr lang="en-US" sz="2400" dirty="0"/>
              <a:t>Customers prefer human interaction</a:t>
            </a:r>
          </a:p>
          <a:p>
            <a:endParaRPr lang="en-US" sz="2400" dirty="0"/>
          </a:p>
          <a:p>
            <a:r>
              <a:rPr lang="en-US" sz="2400" dirty="0"/>
              <a:t>Situations where humans have valuable information</a:t>
            </a:r>
          </a:p>
          <a:p>
            <a:pPr lvl="1"/>
            <a:r>
              <a:rPr lang="en-US" sz="2400" dirty="0"/>
              <a:t>Doctor’s conversation with patients</a:t>
            </a:r>
          </a:p>
          <a:p>
            <a:pPr lvl="1"/>
            <a:r>
              <a:rPr lang="en-US" sz="2400" dirty="0"/>
              <a:t>Experienced manager has intuition about demand conditions</a:t>
            </a:r>
          </a:p>
          <a:p>
            <a:pPr lvl="1"/>
            <a:r>
              <a:rPr lang="en-US" sz="2400" dirty="0"/>
              <a:t>…</a:t>
            </a:r>
          </a:p>
        </p:txBody>
      </p:sp>
      <p:sp>
        <p:nvSpPr>
          <p:cNvPr id="5" name="Date Placeholder 4">
            <a:extLst>
              <a:ext uri="{FF2B5EF4-FFF2-40B4-BE49-F238E27FC236}">
                <a16:creationId xmlns:a16="http://schemas.microsoft.com/office/drawing/2014/main" id="{A617F8CF-6249-2DF3-B531-0BF21369D27C}"/>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0A7FDC12-59D2-B415-24DE-8C276A299D8B}"/>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396728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9F2D2-5225-BF8E-7D80-235453119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061E8-1283-8AE7-80BB-148F5FC6EFE7}"/>
              </a:ext>
            </a:extLst>
          </p:cNvPr>
          <p:cNvSpPr>
            <a:spLocks noGrp="1"/>
          </p:cNvSpPr>
          <p:nvPr>
            <p:ph type="ctrTitle"/>
          </p:nvPr>
        </p:nvSpPr>
        <p:spPr/>
        <p:txBody>
          <a:bodyPr/>
          <a:lstStyle/>
          <a:p>
            <a:r>
              <a:rPr lang="en-US" dirty="0"/>
              <a:t>Motivation for Human-in-the-Loop Systems, Continued</a:t>
            </a:r>
          </a:p>
        </p:txBody>
      </p:sp>
      <p:sp>
        <p:nvSpPr>
          <p:cNvPr id="4" name="Text Placeholder 3">
            <a:extLst>
              <a:ext uri="{FF2B5EF4-FFF2-40B4-BE49-F238E27FC236}">
                <a16:creationId xmlns:a16="http://schemas.microsoft.com/office/drawing/2014/main" id="{8F98CC18-076A-3B06-EAB7-9D76B7533BBF}"/>
              </a:ext>
            </a:extLst>
          </p:cNvPr>
          <p:cNvSpPr>
            <a:spLocks noGrp="1"/>
          </p:cNvSpPr>
          <p:nvPr>
            <p:ph type="body" sz="quarter" idx="14"/>
          </p:nvPr>
        </p:nvSpPr>
        <p:spPr>
          <a:xfrm>
            <a:off x="1828800" y="1491343"/>
            <a:ext cx="8755380" cy="4152220"/>
          </a:xfrm>
        </p:spPr>
        <p:txBody>
          <a:bodyPr>
            <a:normAutofit/>
          </a:bodyPr>
          <a:lstStyle/>
          <a:p>
            <a:r>
              <a:rPr lang="en-US" sz="2400" dirty="0"/>
              <a:t>In such situations, human decisions are still often biased + noisy</a:t>
            </a:r>
          </a:p>
          <a:p>
            <a:endParaRPr lang="en-US" sz="2400" dirty="0"/>
          </a:p>
          <a:p>
            <a:r>
              <a:rPr lang="en-US" sz="2400" dirty="0"/>
              <a:t>Today we ask if we can improve human decisions by giving them access to algorithmic recommendations / predictions</a:t>
            </a:r>
          </a:p>
          <a:p>
            <a:endParaRPr lang="en-US" sz="2400" dirty="0"/>
          </a:p>
          <a:p>
            <a:r>
              <a:rPr lang="en-US" sz="2400" dirty="0"/>
              <a:t>Hope is we can get the best of both worlds</a:t>
            </a:r>
          </a:p>
          <a:p>
            <a:endParaRPr lang="en-US" sz="2400" dirty="0"/>
          </a:p>
          <a:p>
            <a:r>
              <a:rPr lang="en-US" sz="2400" dirty="0"/>
              <a:t>Concern is humans will mis-use the algorithm</a:t>
            </a:r>
          </a:p>
        </p:txBody>
      </p:sp>
      <p:sp>
        <p:nvSpPr>
          <p:cNvPr id="5" name="Date Placeholder 4">
            <a:extLst>
              <a:ext uri="{FF2B5EF4-FFF2-40B4-BE49-F238E27FC236}">
                <a16:creationId xmlns:a16="http://schemas.microsoft.com/office/drawing/2014/main" id="{FF3BAB37-FC4C-0403-0028-6FEDF7E68531}"/>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8C903404-AB73-7B92-7FDA-2FB51FF2023E}"/>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3357233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75CE8-6619-C7EE-D13D-6AAFAF079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D9972-1AF0-EC25-31FA-9E2344D2356E}"/>
              </a:ext>
            </a:extLst>
          </p:cNvPr>
          <p:cNvSpPr>
            <a:spLocks noGrp="1"/>
          </p:cNvSpPr>
          <p:nvPr>
            <p:ph type="ctrTitle"/>
          </p:nvPr>
        </p:nvSpPr>
        <p:spPr/>
        <p:txBody>
          <a:bodyPr/>
          <a:lstStyle/>
          <a:p>
            <a:r>
              <a:rPr lang="en-US" dirty="0"/>
              <a:t>Framework for Human-AI Collaboration</a:t>
            </a:r>
          </a:p>
        </p:txBody>
      </p:sp>
      <p:sp>
        <p:nvSpPr>
          <p:cNvPr id="4" name="Text Placeholder 3">
            <a:extLst>
              <a:ext uri="{FF2B5EF4-FFF2-40B4-BE49-F238E27FC236}">
                <a16:creationId xmlns:a16="http://schemas.microsoft.com/office/drawing/2014/main" id="{58F103EC-16FE-7B43-1E1F-27BCCADEF99A}"/>
              </a:ext>
            </a:extLst>
          </p:cNvPr>
          <p:cNvSpPr>
            <a:spLocks noGrp="1"/>
          </p:cNvSpPr>
          <p:nvPr>
            <p:ph type="body" sz="quarter" idx="14"/>
          </p:nvPr>
        </p:nvSpPr>
        <p:spPr>
          <a:xfrm>
            <a:off x="1828800" y="1491343"/>
            <a:ext cx="8755380" cy="4152220"/>
          </a:xfrm>
        </p:spPr>
        <p:txBody>
          <a:bodyPr>
            <a:normAutofit/>
          </a:bodyPr>
          <a:lstStyle/>
          <a:p>
            <a:r>
              <a:rPr lang="en-US" sz="2400" dirty="0"/>
              <a:t>Focus on binary classification problems</a:t>
            </a:r>
          </a:p>
          <a:p>
            <a:endParaRPr lang="en-US" sz="2400" dirty="0"/>
          </a:p>
          <a:p>
            <a:r>
              <a:rPr lang="en-US" sz="2400" dirty="0"/>
              <a:t>Examples: </a:t>
            </a:r>
          </a:p>
          <a:p>
            <a:pPr lvl="1"/>
            <a:r>
              <a:rPr lang="en-US" sz="2400" dirty="0"/>
              <a:t>Medical testing</a:t>
            </a:r>
          </a:p>
          <a:p>
            <a:pPr lvl="1"/>
            <a:r>
              <a:rPr lang="en-US" sz="2400" dirty="0"/>
              <a:t>Will defendant reoffend</a:t>
            </a:r>
          </a:p>
          <a:p>
            <a:pPr lvl="1"/>
            <a:r>
              <a:rPr lang="en-US" sz="2400" dirty="0"/>
              <a:t>Will applicant repay loan</a:t>
            </a:r>
          </a:p>
          <a:p>
            <a:pPr lvl="1"/>
            <a:r>
              <a:rPr lang="en-US" sz="2400" dirty="0"/>
              <a:t>HR recruiter screens (will manager hire)</a:t>
            </a:r>
          </a:p>
          <a:p>
            <a:endParaRPr lang="en-US" sz="2400" dirty="0"/>
          </a:p>
        </p:txBody>
      </p:sp>
      <p:sp>
        <p:nvSpPr>
          <p:cNvPr id="5" name="Date Placeholder 4">
            <a:extLst>
              <a:ext uri="{FF2B5EF4-FFF2-40B4-BE49-F238E27FC236}">
                <a16:creationId xmlns:a16="http://schemas.microsoft.com/office/drawing/2014/main" id="{9AD68DA0-E779-8611-05F2-E0118A86FBE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7F2AD3D4-FC54-D32A-5803-25598D4AD50E}"/>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132738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02EF8-4B29-7D5F-B1D9-595D39DB5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E74E1-0C1B-0EE3-9350-B17679106BA0}"/>
              </a:ext>
            </a:extLst>
          </p:cNvPr>
          <p:cNvSpPr>
            <a:spLocks noGrp="1"/>
          </p:cNvSpPr>
          <p:nvPr>
            <p:ph type="ctrTitle"/>
          </p:nvPr>
        </p:nvSpPr>
        <p:spPr/>
        <p:txBody>
          <a:bodyPr/>
          <a:lstStyle/>
          <a:p>
            <a:r>
              <a:rPr lang="en-US" dirty="0"/>
              <a:t>Framework for Human-AI Collaboration, Part 2</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B20E617-9882-3D3D-A389-79ADAF366CA6}"/>
                  </a:ext>
                </a:extLst>
              </p:cNvPr>
              <p:cNvSpPr>
                <a:spLocks noGrp="1"/>
              </p:cNvSpPr>
              <p:nvPr>
                <p:ph type="body" sz="quarter" idx="14"/>
              </p:nvPr>
            </p:nvSpPr>
            <p:spPr>
              <a:xfrm>
                <a:off x="1828800" y="1491343"/>
                <a:ext cx="8755380" cy="4152220"/>
              </a:xfrm>
            </p:spPr>
            <p:txBody>
              <a:bodyPr>
                <a:normAutofit fontScale="92500" lnSpcReduction="10000"/>
              </a:bodyPr>
              <a:lstStyle/>
              <a:p>
                <a:r>
                  <a:rPr lang="en-US" sz="2400" dirty="0"/>
                  <a:t>Let </a:t>
                </a:r>
                <a14:m>
                  <m:oMath xmlns:m="http://schemas.openxmlformats.org/officeDocument/2006/math">
                    <m:r>
                      <m:rPr>
                        <m:sty m:val="p"/>
                      </m:rPr>
                      <a:rPr lang="en-US" sz="2400" b="0" i="0" smtClean="0">
                        <a:latin typeface="Cambria Math" panose="02040503050406030204" pitchFamily="18" charset="0"/>
                      </a:rPr>
                      <m:t>Y</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oMath>
                </a14:m>
                <a:r>
                  <a:rPr lang="en-US" sz="2400" dirty="0"/>
                  <a:t> be the unknown underlying state of the world</a:t>
                </a:r>
              </a:p>
              <a:p>
                <a:endParaRPr lang="en-US" sz="2400" dirty="0"/>
              </a:p>
              <a:p>
                <a:r>
                  <a:rPr lang="en-US" sz="2400" dirty="0"/>
                  <a:t>Examples: </a:t>
                </a:r>
              </a:p>
              <a:p>
                <a:pPr lvl="1"/>
                <a:r>
                  <a:rPr lang="en-US" sz="2400" dirty="0"/>
                  <a:t>Medical testing: </a:t>
                </a:r>
                <a14:m>
                  <m:oMath xmlns:m="http://schemas.openxmlformats.org/officeDocument/2006/math">
                    <m:r>
                      <m:rPr>
                        <m:sty m:val="p"/>
                      </m:rPr>
                      <a:rPr lang="en-US" sz="2400" b="0" i="0" dirty="0" smtClean="0">
                        <a:latin typeface="Cambria Math" panose="02040503050406030204" pitchFamily="18" charset="0"/>
                      </a:rPr>
                      <m:t>Y</m:t>
                    </m:r>
                    <m:r>
                      <a:rPr lang="en-US" sz="2400" b="0" i="1" dirty="0" smtClean="0">
                        <a:latin typeface="Cambria Math" panose="02040503050406030204" pitchFamily="18" charset="0"/>
                      </a:rPr>
                      <m:t>=1</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𝑑𝑖𝑠𝑒𝑎𝑠𝑒</m:t>
                        </m:r>
                        <m:r>
                          <a:rPr lang="en-US" sz="2400" b="0" i="1" dirty="0" smtClean="0">
                            <a:latin typeface="Cambria Math" panose="02040503050406030204" pitchFamily="18" charset="0"/>
                          </a:rPr>
                          <m:t> </m:t>
                        </m:r>
                        <m:r>
                          <a:rPr lang="en-US" sz="2400" b="0" i="1" dirty="0" smtClean="0">
                            <a:latin typeface="Cambria Math" panose="02040503050406030204" pitchFamily="18" charset="0"/>
                          </a:rPr>
                          <m:t>𝑝𝑟𝑒𝑠𝑒𝑛𝑡</m:t>
                        </m:r>
                      </m:e>
                    </m:d>
                  </m:oMath>
                </a14:m>
                <a:endParaRPr lang="en-US" sz="2400" dirty="0"/>
              </a:p>
              <a:p>
                <a:pPr lvl="1"/>
                <a:r>
                  <a:rPr lang="en-US" sz="2400" dirty="0"/>
                  <a:t>Will defendant reoffend: </a:t>
                </a:r>
                <a14:m>
                  <m:oMath xmlns:m="http://schemas.openxmlformats.org/officeDocument/2006/math">
                    <m:r>
                      <m:rPr>
                        <m:sty m:val="p"/>
                      </m:rPr>
                      <a:rPr lang="en-US" sz="2400" b="0" i="0" dirty="0" smtClean="0">
                        <a:latin typeface="Cambria Math" panose="02040503050406030204" pitchFamily="18" charset="0"/>
                      </a:rPr>
                      <m:t>Y</m:t>
                    </m:r>
                    <m:r>
                      <a:rPr lang="en-US" sz="2400" b="0" i="1" dirty="0" smtClean="0">
                        <a:latin typeface="Cambria Math" panose="02040503050406030204" pitchFamily="18" charset="0"/>
                      </a:rPr>
                      <m:t>=1</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𝑟𝑒𝑜𝑓𝑓𝑒𝑛𝑑</m:t>
                        </m:r>
                      </m:e>
                    </m:d>
                  </m:oMath>
                </a14:m>
                <a:endParaRPr lang="en-US" sz="2400" dirty="0"/>
              </a:p>
              <a:p>
                <a:pPr lvl="1"/>
                <a:r>
                  <a:rPr lang="en-US" sz="2400" dirty="0"/>
                  <a:t>Will applicant repay loan: </a:t>
                </a:r>
                <a14:m>
                  <m:oMath xmlns:m="http://schemas.openxmlformats.org/officeDocument/2006/math">
                    <m:r>
                      <m:rPr>
                        <m:sty m:val="p"/>
                      </m:rPr>
                      <a:rPr lang="en-US" sz="2400" b="0" i="0" dirty="0" smtClean="0">
                        <a:latin typeface="Cambria Math" panose="02040503050406030204" pitchFamily="18" charset="0"/>
                      </a:rPr>
                      <m:t>Y</m:t>
                    </m:r>
                    <m:r>
                      <a:rPr lang="en-US" sz="2400" b="0" i="1" dirty="0" smtClean="0">
                        <a:latin typeface="Cambria Math" panose="02040503050406030204" pitchFamily="18" charset="0"/>
                      </a:rPr>
                      <m:t>=1</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𝑎𝑝𝑝𝑙𝑖𝑐𝑎𝑛𝑡</m:t>
                        </m:r>
                        <m:r>
                          <a:rPr lang="en-US" sz="2400" b="0" i="1" dirty="0" smtClean="0">
                            <a:latin typeface="Cambria Math" panose="02040503050406030204" pitchFamily="18" charset="0"/>
                          </a:rPr>
                          <m:t> </m:t>
                        </m:r>
                        <m:r>
                          <a:rPr lang="en-US" sz="2400" b="0" i="1" dirty="0" smtClean="0">
                            <a:latin typeface="Cambria Math" panose="02040503050406030204" pitchFamily="18" charset="0"/>
                          </a:rPr>
                          <m:t>𝑑𝑒𝑓𝑎𝑢𝑙𝑡𝑠</m:t>
                        </m:r>
                      </m:e>
                    </m:d>
                  </m:oMath>
                </a14:m>
                <a:endParaRPr lang="en-US" sz="2400" dirty="0"/>
              </a:p>
              <a:p>
                <a:pPr lvl="1"/>
                <a:r>
                  <a:rPr lang="en-US" sz="2400" dirty="0"/>
                  <a:t>HR recruiter screens (will manager hire): </a:t>
                </a:r>
                <a14:m>
                  <m:oMath xmlns:m="http://schemas.openxmlformats.org/officeDocument/2006/math">
                    <m:r>
                      <m:rPr>
                        <m:sty m:val="p"/>
                      </m:rPr>
                      <a:rPr lang="en-US" sz="2400" b="0" i="0" dirty="0" smtClean="0">
                        <a:latin typeface="Cambria Math" panose="02040503050406030204" pitchFamily="18" charset="0"/>
                      </a:rPr>
                      <m:t>Y</m:t>
                    </m:r>
                    <m:r>
                      <a:rPr lang="en-US" sz="2400" b="0" i="1" dirty="0" smtClean="0">
                        <a:latin typeface="Cambria Math" panose="02040503050406030204" pitchFamily="18" charset="0"/>
                      </a:rPr>
                      <m:t>=1</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h𝑖𝑟𝑒</m:t>
                        </m:r>
                      </m:e>
                    </m:d>
                  </m:oMath>
                </a14:m>
                <a:endParaRPr lang="en-US" sz="2400" dirty="0"/>
              </a:p>
              <a:p>
                <a:endParaRPr lang="en-US" sz="2400" dirty="0"/>
              </a:p>
              <a:p>
                <a:r>
                  <a:rPr lang="en-US" sz="2400" dirty="0"/>
                  <a:t>Human decision maker takes a binary action </a:t>
                </a:r>
                <a14:m>
                  <m:oMath xmlns:m="http://schemas.openxmlformats.org/officeDocument/2006/math">
                    <m:r>
                      <a:rPr lang="en-US" sz="2400" b="0" i="1" smtClean="0">
                        <a:latin typeface="Cambria Math" panose="02040503050406030204" pitchFamily="18" charset="0"/>
                      </a:rPr>
                      <m:t>𝑎</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oMath>
                </a14:m>
                <a:endParaRPr lang="en-US" sz="2400" dirty="0"/>
              </a:p>
              <a:p>
                <a:pPr lvl="1"/>
                <a:r>
                  <a:rPr lang="en-US" sz="2400" dirty="0"/>
                  <a:t>To be concrete, focus on medical testing. </a:t>
                </a:r>
              </a:p>
              <a:p>
                <a:pPr lvl="1"/>
                <a14:m>
                  <m:oMath xmlns:m="http://schemas.openxmlformats.org/officeDocument/2006/math">
                    <m:r>
                      <a:rPr lang="en-US" sz="2400" b="0" i="1" smtClean="0">
                        <a:latin typeface="Cambria Math" panose="02040503050406030204" pitchFamily="18" charset="0"/>
                      </a:rPr>
                      <m:t>𝑎</m:t>
                    </m:r>
                    <m:r>
                      <a:rPr lang="en-US" sz="2400" b="0" i="1" smtClean="0">
                        <a:latin typeface="Cambria Math" panose="02040503050406030204" pitchFamily="18" charset="0"/>
                      </a:rPr>
                      <m:t>=1</m:t>
                    </m:r>
                  </m:oMath>
                </a14:m>
                <a:r>
                  <a:rPr lang="en-US" sz="2400" dirty="0"/>
                  <a:t> corresponds to treatment</a:t>
                </a:r>
              </a:p>
            </p:txBody>
          </p:sp>
        </mc:Choice>
        <mc:Fallback xmlns="">
          <p:sp>
            <p:nvSpPr>
              <p:cNvPr id="4" name="Text Placeholder 3">
                <a:extLst>
                  <a:ext uri="{FF2B5EF4-FFF2-40B4-BE49-F238E27FC236}">
                    <a16:creationId xmlns:a16="http://schemas.microsoft.com/office/drawing/2014/main" id="{FB20E617-9882-3D3D-A389-79ADAF366CA6}"/>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152220"/>
              </a:xfrm>
              <a:blipFill>
                <a:blip r:embed="rId3"/>
                <a:stretch>
                  <a:fillRect l="-1739" t="-2744" b="-213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15343467-A936-31E5-8E5D-C40038EA6210}"/>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B147C5CA-CDB9-CD16-4891-E56D5D57A53F}"/>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2669386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ACE20-D29E-C7B9-B936-3EA8E75DF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39535-C078-FAB4-D68F-E51DCF5AA923}"/>
              </a:ext>
            </a:extLst>
          </p:cNvPr>
          <p:cNvSpPr>
            <a:spLocks noGrp="1"/>
          </p:cNvSpPr>
          <p:nvPr>
            <p:ph type="ctrTitle"/>
          </p:nvPr>
        </p:nvSpPr>
        <p:spPr/>
        <p:txBody>
          <a:bodyPr/>
          <a:lstStyle/>
          <a:p>
            <a:r>
              <a:rPr lang="en-US" dirty="0"/>
              <a:t>Framework for Human-AI Collaboration, Part 3</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779A207-BA05-6A1F-A583-B25FF2316A4A}"/>
                  </a:ext>
                </a:extLst>
              </p:cNvPr>
              <p:cNvSpPr>
                <a:spLocks noGrp="1"/>
              </p:cNvSpPr>
              <p:nvPr>
                <p:ph type="body" sz="quarter" idx="14"/>
              </p:nvPr>
            </p:nvSpPr>
            <p:spPr>
              <a:xfrm>
                <a:off x="1828800" y="1491343"/>
                <a:ext cx="8755380" cy="4152220"/>
              </a:xfrm>
            </p:spPr>
            <p:txBody>
              <a:bodyPr>
                <a:normAutofit fontScale="85000" lnSpcReduction="20000"/>
              </a:bodyPr>
              <a:lstStyle/>
              <a:p>
                <a:r>
                  <a:rPr lang="en-US" sz="2400" dirty="0"/>
                  <a:t>Let </a:t>
                </a:r>
                <a14:m>
                  <m:oMath xmlns:m="http://schemas.openxmlformats.org/officeDocument/2006/math">
                    <m:r>
                      <m:rPr>
                        <m:sty m:val="p"/>
                      </m:rPr>
                      <a:rPr lang="en-US" sz="2400" b="0" i="0" smtClean="0">
                        <a:latin typeface="Cambria Math" panose="02040503050406030204" pitchFamily="18" charset="0"/>
                      </a:rPr>
                      <m:t>Y</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oMath>
                </a14:m>
                <a:r>
                  <a:rPr lang="en-US" sz="2400" dirty="0"/>
                  <a:t> be the unknown underlying state of the world</a:t>
                </a:r>
              </a:p>
              <a:p>
                <a:pPr lvl="1"/>
                <a:r>
                  <a:rPr lang="en-US" sz="2400" dirty="0"/>
                  <a:t>If patient has the pathology</a:t>
                </a:r>
              </a:p>
              <a:p>
                <a:endParaRPr lang="en-US" sz="2400" dirty="0"/>
              </a:p>
              <a:p>
                <a:r>
                  <a:rPr lang="en-US" sz="2400" dirty="0"/>
                  <a:t>Human decision maker takes a binary action </a:t>
                </a:r>
                <a14:m>
                  <m:oMath xmlns:m="http://schemas.openxmlformats.org/officeDocument/2006/math">
                    <m:r>
                      <a:rPr lang="en-US" sz="2400" b="0" i="1" smtClean="0">
                        <a:latin typeface="Cambria Math" panose="02040503050406030204" pitchFamily="18" charset="0"/>
                      </a:rPr>
                      <m:t>𝑎</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0,1</m:t>
                        </m:r>
                      </m:e>
                    </m:d>
                  </m:oMath>
                </a14:m>
                <a:endParaRPr lang="en-US" sz="2400" b="0" dirty="0"/>
              </a:p>
              <a:p>
                <a:pPr lvl="1"/>
                <a:r>
                  <a:rPr lang="en-US" sz="2400" b="0" dirty="0"/>
                  <a:t>Decides to treat the pathology or not</a:t>
                </a:r>
              </a:p>
              <a:p>
                <a:endParaRPr lang="en-US" sz="2400" dirty="0"/>
              </a:p>
              <a:p>
                <a:r>
                  <a:rPr lang="en-US" sz="2400" dirty="0"/>
                  <a:t>Human payoffs:</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b="0" i="1" smtClean="0">
                              <a:latin typeface="Cambria Math" panose="02040503050406030204" pitchFamily="18" charset="0"/>
                            </a:rPr>
                            <m:t>𝑌</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𝐹𝑃</m:t>
                          </m:r>
                        </m:sub>
                      </m:sSub>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r>
                            <a:rPr lang="en-US" sz="2400" b="0" i="1" smtClean="0">
                              <a:latin typeface="Cambria Math" panose="02040503050406030204" pitchFamily="18" charset="0"/>
                            </a:rPr>
                            <m:t>=1,</m:t>
                          </m:r>
                          <m:r>
                            <a:rPr lang="en-US" sz="2400" b="0" i="1" smtClean="0">
                              <a:latin typeface="Cambria Math" panose="02040503050406030204" pitchFamily="18" charset="0"/>
                            </a:rPr>
                            <m:t>𝑌</m:t>
                          </m:r>
                          <m:r>
                            <a:rPr lang="en-US" sz="2400" b="0" i="1" smtClean="0">
                              <a:latin typeface="Cambria Math" panose="02040503050406030204" pitchFamily="18" charset="0"/>
                            </a:rPr>
                            <m:t>=0</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𝐹𝑁</m:t>
                          </m:r>
                        </m:sub>
                      </m:sSub>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r>
                            <a:rPr lang="en-US" sz="2400" b="0" i="1" smtClean="0">
                              <a:latin typeface="Cambria Math" panose="02040503050406030204" pitchFamily="18" charset="0"/>
                            </a:rPr>
                            <m:t>=0,</m:t>
                          </m:r>
                          <m:r>
                            <a:rPr lang="en-US" sz="2400" b="0" i="1" smtClean="0">
                              <a:latin typeface="Cambria Math" panose="02040503050406030204" pitchFamily="18" charset="0"/>
                            </a:rPr>
                            <m:t>𝑌</m:t>
                          </m:r>
                          <m:r>
                            <a:rPr lang="en-US" sz="2400" b="0" i="1" smtClean="0">
                              <a:latin typeface="Cambria Math" panose="02040503050406030204" pitchFamily="18" charset="0"/>
                            </a:rPr>
                            <m:t>=1</m:t>
                          </m:r>
                        </m:e>
                      </m:d>
                    </m:oMath>
                  </m:oMathPara>
                </a14:m>
                <a:endParaRPr lang="en-US" sz="2400" dirty="0"/>
              </a:p>
              <a:p>
                <a:endParaRPr lang="en-US" sz="2400" dirty="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𝐹𝑃</m:t>
                        </m:r>
                      </m:sub>
                    </m:sSub>
                  </m:oMath>
                </a14:m>
                <a:r>
                  <a:rPr lang="en-US" sz="2400" dirty="0"/>
                  <a:t>: Cost of a false positive</a:t>
                </a:r>
              </a:p>
              <a:p>
                <a:pPr lvl="1"/>
                <a:r>
                  <a:rPr lang="en-US" sz="2400" dirty="0"/>
                  <a:t>Cost of treating a negative case</a:t>
                </a:r>
              </a:p>
              <a:p>
                <a:pPr lvl="1"/>
                <a:endParaRPr lang="en-US" sz="2400" dirty="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𝐹𝑁</m:t>
                        </m:r>
                      </m:sub>
                    </m:sSub>
                  </m:oMath>
                </a14:m>
                <a:r>
                  <a:rPr lang="en-US" sz="2400" dirty="0"/>
                  <a:t>: Cost of a false negative</a:t>
                </a:r>
              </a:p>
              <a:p>
                <a:pPr lvl="1"/>
                <a:r>
                  <a:rPr lang="en-US" sz="2400" dirty="0"/>
                  <a:t>Cost of missed diagnosis</a:t>
                </a:r>
              </a:p>
            </p:txBody>
          </p:sp>
        </mc:Choice>
        <mc:Fallback xmlns="">
          <p:sp>
            <p:nvSpPr>
              <p:cNvPr id="4" name="Text Placeholder 3">
                <a:extLst>
                  <a:ext uri="{FF2B5EF4-FFF2-40B4-BE49-F238E27FC236}">
                    <a16:creationId xmlns:a16="http://schemas.microsoft.com/office/drawing/2014/main" id="{C779A207-BA05-6A1F-A583-B25FF2316A4A}"/>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152220"/>
              </a:xfrm>
              <a:blipFill>
                <a:blip r:embed="rId3"/>
                <a:stretch>
                  <a:fillRect l="-1739" t="-3049" b="-274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C347326D-36C4-5FAD-9B55-9C163B2CAAA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D63A380A-B2FB-C5F3-AE8A-456B241E6DBC}"/>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163989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FEB93-F72F-98E5-8C17-C19BCDB42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D321F-8768-5863-8427-53AC663BE01C}"/>
              </a:ext>
            </a:extLst>
          </p:cNvPr>
          <p:cNvSpPr>
            <a:spLocks noGrp="1"/>
          </p:cNvSpPr>
          <p:nvPr>
            <p:ph type="ctrTitle"/>
          </p:nvPr>
        </p:nvSpPr>
        <p:spPr/>
        <p:txBody>
          <a:bodyPr/>
          <a:lstStyle/>
          <a:p>
            <a:r>
              <a:rPr lang="en-US" dirty="0"/>
              <a:t>Information Structure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D665CEBA-303B-F383-0995-B4144B4A6587}"/>
                  </a:ext>
                </a:extLst>
              </p:cNvPr>
              <p:cNvSpPr>
                <a:spLocks noGrp="1"/>
              </p:cNvSpPr>
              <p:nvPr>
                <p:ph type="body" sz="quarter" idx="14"/>
              </p:nvPr>
            </p:nvSpPr>
            <p:spPr>
              <a:xfrm>
                <a:off x="1828800" y="1491343"/>
                <a:ext cx="8755380" cy="4152220"/>
              </a:xfrm>
            </p:spPr>
            <p:txBody>
              <a:bodyPr>
                <a:normAutofit/>
              </a:bodyPr>
              <a:lstStyle/>
              <a:p>
                <a:r>
                  <a:rPr lang="en-US" sz="2400" dirty="0"/>
                  <a:t>Human observes a signal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oMath>
                </a14:m>
                <a:r>
                  <a:rPr lang="en-US" sz="2400" dirty="0"/>
                  <a:t> that is informative of the patient’s true health status</a:t>
                </a:r>
              </a:p>
              <a:p>
                <a:endParaRPr lang="en-US" sz="2400" dirty="0"/>
              </a:p>
              <a:p>
                <a:r>
                  <a:rPr lang="en-US" sz="2400" dirty="0"/>
                  <a:t>Algorithm provides a signal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oMath>
                </a14:m>
                <a:r>
                  <a:rPr lang="en-US" sz="2400" dirty="0"/>
                  <a:t> that is correlated with the patient’s true health status</a:t>
                </a:r>
              </a:p>
              <a:p>
                <a:endParaRPr lang="en-US" sz="2400" dirty="0"/>
              </a:p>
              <a:p>
                <a:r>
                  <a:rPr lang="en-US" sz="2400" dirty="0"/>
                  <a:t>Humans form an assessment of likelihood a pathology is present</a:t>
                </a:r>
              </a:p>
              <a:p>
                <a:pPr lvl="1"/>
                <a:r>
                  <a:rPr lang="en-US" sz="2400" dirty="0"/>
                  <a:t>Without AI: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oMath>
                </a14:m>
                <a:endParaRPr lang="en-US" sz="2400" dirty="0"/>
              </a:p>
              <a:p>
                <a:pPr lvl="1"/>
                <a:r>
                  <a:rPr lang="en-US" sz="2400" dirty="0"/>
                  <a:t>With AI: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e>
                    </m:d>
                  </m:oMath>
                </a14:m>
                <a:endParaRPr lang="en-US" sz="2400" dirty="0"/>
              </a:p>
            </p:txBody>
          </p:sp>
        </mc:Choice>
        <mc:Fallback xmlns="">
          <p:sp>
            <p:nvSpPr>
              <p:cNvPr id="4" name="Text Placeholder 3">
                <a:extLst>
                  <a:ext uri="{FF2B5EF4-FFF2-40B4-BE49-F238E27FC236}">
                    <a16:creationId xmlns:a16="http://schemas.microsoft.com/office/drawing/2014/main" id="{D665CEBA-303B-F383-0995-B4144B4A6587}"/>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152220"/>
              </a:xfrm>
              <a:blipFill>
                <a:blip r:embed="rId3"/>
                <a:stretch>
                  <a:fillRect l="-2029" t="-2439" r="-159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110E03AC-D352-0884-8248-A58C17EAFFDE}"/>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B43499E1-0943-070A-6EEA-B02832F807FC}"/>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77342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D369A-B38A-071D-01FD-6D40D4F63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AE17C-1F38-B682-4533-DBE0B21C507C}"/>
              </a:ext>
            </a:extLst>
          </p:cNvPr>
          <p:cNvSpPr>
            <a:spLocks noGrp="1"/>
          </p:cNvSpPr>
          <p:nvPr>
            <p:ph type="ctrTitle"/>
          </p:nvPr>
        </p:nvSpPr>
        <p:spPr/>
        <p:txBody>
          <a:bodyPr/>
          <a:lstStyle/>
          <a:p>
            <a:r>
              <a:rPr lang="en-US" dirty="0"/>
              <a:t>Optimal Action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C851B4F-6ABD-B439-73BF-3A2AE1A06B6B}"/>
                  </a:ext>
                </a:extLst>
              </p:cNvPr>
              <p:cNvSpPr>
                <a:spLocks noGrp="1"/>
              </p:cNvSpPr>
              <p:nvPr>
                <p:ph type="body" sz="quarter" idx="14"/>
              </p:nvPr>
            </p:nvSpPr>
            <p:spPr>
              <a:xfrm>
                <a:off x="1828800" y="1491343"/>
                <a:ext cx="8755380" cy="4152220"/>
              </a:xfrm>
            </p:spPr>
            <p:txBody>
              <a:bodyPr>
                <a:normAutofit fontScale="92500" lnSpcReduction="20000"/>
              </a:bodyPr>
              <a:lstStyle/>
              <a:p>
                <a:r>
                  <a:rPr lang="en-US" sz="2400" dirty="0"/>
                  <a:t>Human payoffs:</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b="0" i="1" smtClean="0">
                              <a:latin typeface="Cambria Math" panose="02040503050406030204" pitchFamily="18" charset="0"/>
                            </a:rPr>
                            <m:t>𝑌</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𝐹𝑃</m:t>
                          </m:r>
                        </m:sub>
                      </m:sSub>
                      <m:r>
                        <a:rPr lang="en-US" sz="2400" b="0" i="1" smtClean="0">
                          <a:latin typeface="Cambria Math" panose="02040503050406030204" pitchFamily="18" charset="0"/>
                        </a:rPr>
                        <m:t> ×</m:t>
                      </m:r>
                      <m:r>
                        <a:rPr lang="en-US" sz="2400" b="0" i="1" smtClean="0">
                          <a:latin typeface="Cambria Math" panose="02040503050406030204" pitchFamily="18" charset="0"/>
                        </a:rPr>
                        <m:t>𝑎</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𝑌</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𝐹𝑁</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𝑎</m:t>
                          </m:r>
                        </m:e>
                      </m:d>
                      <m:r>
                        <a:rPr lang="en-US" sz="2400" b="0" i="1" smtClean="0">
                          <a:latin typeface="Cambria Math" panose="02040503050406030204" pitchFamily="18" charset="0"/>
                        </a:rPr>
                        <m:t>×</m:t>
                      </m:r>
                      <m:r>
                        <a:rPr lang="en-US" sz="2400" b="0" i="1" smtClean="0">
                          <a:latin typeface="Cambria Math" panose="02040503050406030204" pitchFamily="18" charset="0"/>
                        </a:rPr>
                        <m:t>𝑌</m:t>
                      </m:r>
                    </m:oMath>
                  </m:oMathPara>
                </a14:m>
                <a:endParaRPr lang="en-US" sz="2400" dirty="0"/>
              </a:p>
              <a:p>
                <a:endParaRPr lang="en-US" sz="2400" dirty="0"/>
              </a:p>
              <a:p>
                <a:r>
                  <a:rPr lang="en-US" sz="2400" dirty="0"/>
                  <a:t>Human assessment: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r>
                          <a:rPr lang="en-US" sz="2400" b="0" i="1" smtClean="0">
                            <a:latin typeface="Cambria Math" panose="02040503050406030204" pitchFamily="18" charset="0"/>
                          </a:rPr>
                          <m:t>𝑠</m:t>
                        </m:r>
                      </m:e>
                    </m:d>
                  </m:oMath>
                </a14:m>
                <a:endParaRPr lang="en-US" sz="2400" dirty="0"/>
              </a:p>
              <a:p>
                <a:pPr lvl="1"/>
                <a:r>
                  <a:rPr lang="en-US" sz="2400" dirty="0"/>
                  <a:t>For either </a:t>
                </a:r>
                <a14:m>
                  <m:oMath xmlns:m="http://schemas.openxmlformats.org/officeDocument/2006/math">
                    <m:r>
                      <a:rPr lang="en-US" sz="2400" b="0" i="1" smtClean="0">
                        <a:latin typeface="Cambria Math" panose="02040503050406030204" pitchFamily="18" charset="0"/>
                      </a:rPr>
                      <m:t>𝑠</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r>
                      <a:rPr lang="en-US" sz="2400" b="0" i="1" smtClean="0">
                        <a:latin typeface="Cambria Math" panose="02040503050406030204" pitchFamily="18" charset="0"/>
                      </a:rPr>
                      <m:t>}</m:t>
                    </m:r>
                  </m:oMath>
                </a14:m>
                <a:r>
                  <a:rPr lang="en-US" sz="2400" dirty="0"/>
                  <a:t> or </a:t>
                </a:r>
                <a14:m>
                  <m:oMath xmlns:m="http://schemas.openxmlformats.org/officeDocument/2006/math">
                    <m:r>
                      <a:rPr lang="en-US" sz="2400" b="0" i="1" smtClean="0">
                        <a:latin typeface="Cambria Math" panose="02040503050406030204" pitchFamily="18" charset="0"/>
                      </a:rPr>
                      <m:t>𝑠</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e>
                    </m:d>
                  </m:oMath>
                </a14:m>
                <a:endParaRPr lang="en-US" sz="2400" dirty="0"/>
              </a:p>
              <a:p>
                <a:endParaRPr lang="en-US" sz="2400" dirty="0"/>
              </a:p>
              <a:p>
                <a:r>
                  <a:rPr lang="en-US" sz="2400" dirty="0"/>
                  <a:t>Optimal action:</a:t>
                </a: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𝑎</m:t>
                          </m:r>
                        </m:e>
                        <m:sup>
                          <m:r>
                            <a:rPr lang="en-US" sz="2400" b="0" i="1" smtClean="0">
                              <a:latin typeface="Cambria Math" panose="02040503050406030204" pitchFamily="18" charset="0"/>
                            </a:rPr>
                            <m:t>∗</m:t>
                          </m:r>
                        </m:sup>
                      </m:s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𝑌</m:t>
                                  </m:r>
                                </m:e>
                              </m:d>
                              <m:r>
                                <a:rPr lang="en-US" sz="2400" b="0" i="1" smtClean="0">
                                  <a:latin typeface="Cambria Math" panose="02040503050406030204" pitchFamily="18" charset="0"/>
                                </a:rPr>
                                <m:t>|</m:t>
                              </m:r>
                              <m:r>
                                <a:rPr lang="en-US" sz="2400" b="0" i="1" smtClean="0">
                                  <a:latin typeface="Cambria Math" panose="02040503050406030204" pitchFamily="18" charset="0"/>
                                </a:rPr>
                                <m:t>𝑠</m:t>
                              </m:r>
                            </m:e>
                          </m:d>
                          <m:r>
                            <a:rPr lang="en-US" sz="2400" b="0" i="1" smtClean="0">
                              <a:latin typeface="Cambria Math" panose="02040503050406030204" pitchFamily="18" charset="0"/>
                            </a:rPr>
                            <m:t>&gt;</m:t>
                          </m:r>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0,</m:t>
                                  </m:r>
                                  <m:r>
                                    <a:rPr lang="en-US" sz="2400" b="0" i="1" smtClean="0">
                                      <a:latin typeface="Cambria Math" panose="02040503050406030204" pitchFamily="18" charset="0"/>
                                    </a:rPr>
                                    <m:t>𝑌</m:t>
                                  </m:r>
                                </m:e>
                              </m:d>
                            </m:e>
                          </m:d>
                        </m:e>
                      </m:d>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r>
                                    <a:rPr lang="en-US" sz="2400" b="0" i="1" smtClean="0">
                                      <a:latin typeface="Cambria Math" panose="02040503050406030204" pitchFamily="18" charset="0"/>
                                    </a:rPr>
                                    <m:t>𝑠</m:t>
                                  </m:r>
                                </m:e>
                              </m:d>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=0</m:t>
                                  </m:r>
                                </m:e>
                                <m:e>
                                  <m:r>
                                    <a:rPr lang="en-US" sz="2400" b="0" i="1" smtClean="0">
                                      <a:latin typeface="Cambria Math" panose="02040503050406030204" pitchFamily="18" charset="0"/>
                                    </a:rPr>
                                    <m:t>𝑠</m:t>
                                  </m:r>
                                </m:e>
                              </m:d>
                            </m:den>
                          </m:f>
                          <m:r>
                            <a:rPr lang="en-US" sz="2400" b="0" i="1" smtClean="0">
                              <a:latin typeface="Cambria Math" panose="02040503050406030204" pitchFamily="18" charset="0"/>
                            </a:rPr>
                            <m:t>&gt;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𝑟𝑒𝑙</m:t>
                              </m:r>
                            </m:sub>
                          </m:sSub>
                        </m:e>
                      </m:d>
                    </m:oMath>
                  </m:oMathPara>
                </a14:m>
                <a:endParaRPr lang="en-US" sz="2400" b="0" dirty="0"/>
              </a:p>
              <a:p>
                <a:pPr marL="0" indent="0">
                  <a:buNone/>
                </a:pPr>
                <a:endParaRPr lang="en-US" sz="2400" dirty="0"/>
              </a:p>
              <a:p>
                <a14:m>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𝑐</m:t>
                        </m:r>
                      </m:e>
                      <m:sub>
                        <m:r>
                          <a:rPr lang="en-US" sz="2400" b="0" i="1" dirty="0" smtClean="0">
                            <a:latin typeface="Cambria Math" panose="02040503050406030204" pitchFamily="18" charset="0"/>
                          </a:rPr>
                          <m:t>𝑟𝑒𝑙</m:t>
                        </m:r>
                      </m:sub>
                    </m:sSub>
                  </m:oMath>
                </a14:m>
                <a:r>
                  <a:rPr lang="en-US" sz="2400" dirty="0"/>
                  <a:t>: Relative cost of false positives to false negatives</a:t>
                </a:r>
              </a:p>
              <a:p>
                <a:endParaRPr lang="en-US" sz="2400" dirty="0"/>
              </a:p>
              <a:p>
                <a:r>
                  <a:rPr lang="en-US" sz="2400" dirty="0"/>
                  <a:t>Odds ratio is a key quantity</a:t>
                </a:r>
              </a:p>
              <a:p>
                <a:endParaRPr lang="en-US" sz="2400" dirty="0"/>
              </a:p>
              <a:p>
                <a:pPr marL="0" indent="0">
                  <a:buNone/>
                </a:pPr>
                <a:endParaRPr lang="en-US" sz="2400" b="0" dirty="0"/>
              </a:p>
              <a:p>
                <a:pPr marL="0" indent="0">
                  <a:buNone/>
                </a:pPr>
                <a:endParaRPr lang="en-US" sz="2400" dirty="0"/>
              </a:p>
            </p:txBody>
          </p:sp>
        </mc:Choice>
        <mc:Fallback xmlns="">
          <p:sp>
            <p:nvSpPr>
              <p:cNvPr id="4" name="Text Placeholder 3">
                <a:extLst>
                  <a:ext uri="{FF2B5EF4-FFF2-40B4-BE49-F238E27FC236}">
                    <a16:creationId xmlns:a16="http://schemas.microsoft.com/office/drawing/2014/main" id="{BC851B4F-6ABD-B439-73BF-3A2AE1A06B6B}"/>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152220"/>
              </a:xfrm>
              <a:blipFill>
                <a:blip r:embed="rId3"/>
                <a:stretch>
                  <a:fillRect l="-1739" t="-3659"/>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D80BB502-BB1F-FD3E-E519-FF2BECC5329C}"/>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FFFDFCD3-EDC9-5A8A-2D25-671493EA0DAD}"/>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609546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4E9A6-A409-B0D0-DAA0-65A8C706E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45BEF-6573-A2D0-812E-FFB27CC4A21D}"/>
              </a:ext>
            </a:extLst>
          </p:cNvPr>
          <p:cNvSpPr>
            <a:spLocks noGrp="1"/>
          </p:cNvSpPr>
          <p:nvPr>
            <p:ph type="ctrTitle"/>
          </p:nvPr>
        </p:nvSpPr>
        <p:spPr/>
        <p:txBody>
          <a:bodyPr/>
          <a:lstStyle/>
          <a:p>
            <a:r>
              <a:rPr lang="en-US" dirty="0"/>
              <a:t>Key Questions</a:t>
            </a:r>
          </a:p>
        </p:txBody>
      </p:sp>
      <p:sp>
        <p:nvSpPr>
          <p:cNvPr id="4" name="Text Placeholder 3">
            <a:extLst>
              <a:ext uri="{FF2B5EF4-FFF2-40B4-BE49-F238E27FC236}">
                <a16:creationId xmlns:a16="http://schemas.microsoft.com/office/drawing/2014/main" id="{285B2209-D9B8-DCCF-29D0-136FED7FF3DC}"/>
              </a:ext>
            </a:extLst>
          </p:cNvPr>
          <p:cNvSpPr>
            <a:spLocks noGrp="1"/>
          </p:cNvSpPr>
          <p:nvPr>
            <p:ph type="body" sz="quarter" idx="14"/>
          </p:nvPr>
        </p:nvSpPr>
        <p:spPr>
          <a:xfrm>
            <a:off x="1828800" y="1491343"/>
            <a:ext cx="8755380" cy="4152220"/>
          </a:xfrm>
        </p:spPr>
        <p:txBody>
          <a:bodyPr>
            <a:normAutofit/>
          </a:bodyPr>
          <a:lstStyle/>
          <a:p>
            <a:r>
              <a:rPr lang="en-US" sz="2400" dirty="0"/>
              <a:t>How does algorithm information impact quality of assessments?</a:t>
            </a:r>
          </a:p>
          <a:p>
            <a:endParaRPr lang="en-US" sz="2400" dirty="0"/>
          </a:p>
          <a:p>
            <a:r>
              <a:rPr lang="en-US" sz="2400" dirty="0"/>
              <a:t>How does additional private info impact quality of assessments?</a:t>
            </a:r>
          </a:p>
          <a:p>
            <a:endParaRPr lang="en-US" sz="2400" dirty="0"/>
          </a:p>
          <a:p>
            <a:r>
              <a:rPr lang="en-US" sz="2400" dirty="0"/>
              <a:t>How do humans update beliefs in response to new information?</a:t>
            </a:r>
          </a:p>
          <a:p>
            <a:endParaRPr lang="en-US" sz="2400" dirty="0"/>
          </a:p>
          <a:p>
            <a:r>
              <a:rPr lang="en-US" sz="2400" dirty="0"/>
              <a:t>Ideal setting: An A/B test where we randomize if a case is assessed with or without algorithm assistance</a:t>
            </a:r>
          </a:p>
          <a:p>
            <a:pPr lvl="1"/>
            <a:endParaRPr lang="en-US" sz="2400" dirty="0"/>
          </a:p>
          <a:p>
            <a:endParaRPr lang="en-US" sz="2400" dirty="0"/>
          </a:p>
          <a:p>
            <a:endParaRPr lang="en-US" sz="2400" dirty="0"/>
          </a:p>
        </p:txBody>
      </p:sp>
      <p:sp>
        <p:nvSpPr>
          <p:cNvPr id="5" name="Date Placeholder 4">
            <a:extLst>
              <a:ext uri="{FF2B5EF4-FFF2-40B4-BE49-F238E27FC236}">
                <a16:creationId xmlns:a16="http://schemas.microsoft.com/office/drawing/2014/main" id="{0DC3CF8E-588D-F731-1E03-0388AC27B975}"/>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9F862FBE-A6CB-5C20-C946-924985C85F67}"/>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300612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5C90B-E722-1611-2FF7-5102644C7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80FD8-983D-3C53-B2D7-D6F48A850909}"/>
              </a:ext>
            </a:extLst>
          </p:cNvPr>
          <p:cNvSpPr>
            <a:spLocks noGrp="1"/>
          </p:cNvSpPr>
          <p:nvPr>
            <p:ph type="ctrTitle"/>
          </p:nvPr>
        </p:nvSpPr>
        <p:spPr>
          <a:xfrm>
            <a:off x="2647199" y="1501742"/>
            <a:ext cx="7300940" cy="1329595"/>
          </a:xfrm>
        </p:spPr>
        <p:txBody>
          <a:bodyPr/>
          <a:lstStyle/>
          <a:p>
            <a:r>
              <a:rPr lang="en-US" dirty="0"/>
              <a:t>Empirical example:</a:t>
            </a:r>
            <a:br>
              <a:rPr lang="en-US" dirty="0"/>
            </a:br>
            <a:r>
              <a:rPr lang="en-US" dirty="0"/>
              <a:t>Radiology</a:t>
            </a:r>
          </a:p>
        </p:txBody>
      </p:sp>
      <p:sp>
        <p:nvSpPr>
          <p:cNvPr id="4" name="Date Placeholder 3">
            <a:extLst>
              <a:ext uri="{FF2B5EF4-FFF2-40B4-BE49-F238E27FC236}">
                <a16:creationId xmlns:a16="http://schemas.microsoft.com/office/drawing/2014/main" id="{4C510EEF-D3A5-56B4-BB84-C85DFE8F4EC8}"/>
              </a:ext>
            </a:extLst>
          </p:cNvPr>
          <p:cNvSpPr>
            <a:spLocks noGrp="1"/>
          </p:cNvSpPr>
          <p:nvPr>
            <p:ph type="dt" sz="half" idx="10"/>
          </p:nvPr>
        </p:nvSpPr>
        <p:spPr/>
        <p:txBody>
          <a:bodyPr/>
          <a:lstStyle/>
          <a:p>
            <a:fld id="{D47A9A36-4EB0-BF46-AE48-7CDA251B954B}" type="datetime1">
              <a:rPr lang="en-US" smtClean="0"/>
              <a:pPr/>
              <a:t>12/09/2025</a:t>
            </a:fld>
            <a:endParaRPr lang="en-US" dirty="0"/>
          </a:p>
        </p:txBody>
      </p:sp>
      <p:sp>
        <p:nvSpPr>
          <p:cNvPr id="5" name="Slide Number Placeholder 4">
            <a:extLst>
              <a:ext uri="{FF2B5EF4-FFF2-40B4-BE49-F238E27FC236}">
                <a16:creationId xmlns:a16="http://schemas.microsoft.com/office/drawing/2014/main" id="{9786E246-44BB-ACB3-AEB4-CFBEA08B1861}"/>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2893198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0B460-6AC9-4069-F5D1-F5B111E5F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8ED2D-6965-8321-F993-3784D05C63C3}"/>
              </a:ext>
            </a:extLst>
          </p:cNvPr>
          <p:cNvSpPr>
            <a:spLocks noGrp="1"/>
          </p:cNvSpPr>
          <p:nvPr>
            <p:ph type="ctrTitle"/>
          </p:nvPr>
        </p:nvSpPr>
        <p:spPr/>
        <p:txBody>
          <a:bodyPr/>
          <a:lstStyle/>
          <a:p>
            <a:r>
              <a:rPr lang="en-US" dirty="0"/>
              <a:t>Our Experiment</a:t>
            </a:r>
          </a:p>
        </p:txBody>
      </p:sp>
      <p:sp>
        <p:nvSpPr>
          <p:cNvPr id="4" name="Text Placeholder 3">
            <a:extLst>
              <a:ext uri="{FF2B5EF4-FFF2-40B4-BE49-F238E27FC236}">
                <a16:creationId xmlns:a16="http://schemas.microsoft.com/office/drawing/2014/main" id="{F9BB58FD-3C81-CFD6-DB44-A7B749DB531C}"/>
              </a:ext>
            </a:extLst>
          </p:cNvPr>
          <p:cNvSpPr>
            <a:spLocks noGrp="1"/>
          </p:cNvSpPr>
          <p:nvPr>
            <p:ph type="body" sz="quarter" idx="14"/>
          </p:nvPr>
        </p:nvSpPr>
        <p:spPr>
          <a:xfrm>
            <a:off x="1828800" y="1491343"/>
            <a:ext cx="4972568" cy="4152220"/>
          </a:xfrm>
        </p:spPr>
        <p:txBody>
          <a:bodyPr>
            <a:normAutofit/>
          </a:bodyPr>
          <a:lstStyle/>
          <a:p>
            <a:r>
              <a:rPr lang="en-US" sz="2400" dirty="0"/>
              <a:t>Recruit professional radiologists to read actual chest x-rays</a:t>
            </a:r>
          </a:p>
          <a:p>
            <a:endParaRPr lang="en-US" sz="2400" dirty="0"/>
          </a:p>
          <a:p>
            <a:r>
              <a:rPr lang="en-US" sz="2400" dirty="0"/>
              <a:t>Manipulate their information environment</a:t>
            </a:r>
          </a:p>
        </p:txBody>
      </p:sp>
      <p:pic>
        <p:nvPicPr>
          <p:cNvPr id="10" name="Picture 9" descr="A chest X-ray displayed in a medical viewer interface.">
            <a:extLst>
              <a:ext uri="{FF2B5EF4-FFF2-40B4-BE49-F238E27FC236}">
                <a16:creationId xmlns:a16="http://schemas.microsoft.com/office/drawing/2014/main" id="{74268DC3-F562-8C5E-BEBE-379692B3B079}"/>
              </a:ext>
            </a:extLst>
          </p:cNvPr>
          <p:cNvPicPr>
            <a:picLocks noChangeAspect="1"/>
          </p:cNvPicPr>
          <p:nvPr/>
        </p:nvPicPr>
        <p:blipFill>
          <a:blip r:embed="rId3"/>
          <a:stretch>
            <a:fillRect/>
          </a:stretch>
        </p:blipFill>
        <p:spPr>
          <a:xfrm>
            <a:off x="6551158" y="1491343"/>
            <a:ext cx="4972568" cy="4152220"/>
          </a:xfrm>
          <a:prstGeom prst="rect">
            <a:avLst/>
          </a:prstGeom>
        </p:spPr>
      </p:pic>
      <p:sp>
        <p:nvSpPr>
          <p:cNvPr id="5" name="Date Placeholder 4">
            <a:extLst>
              <a:ext uri="{FF2B5EF4-FFF2-40B4-BE49-F238E27FC236}">
                <a16:creationId xmlns:a16="http://schemas.microsoft.com/office/drawing/2014/main" id="{E50621E7-518E-FE19-37AD-2E6CD915148D}"/>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D4670E01-371E-6C04-72EA-B5EA27C3237F}"/>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1408341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DA453-4843-3D18-C627-FD830E795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1AEB0-ADBC-6F87-6C52-3C06A4E782E2}"/>
              </a:ext>
            </a:extLst>
          </p:cNvPr>
          <p:cNvSpPr>
            <a:spLocks noGrp="1"/>
          </p:cNvSpPr>
          <p:nvPr>
            <p:ph type="ctrTitle"/>
          </p:nvPr>
        </p:nvSpPr>
        <p:spPr/>
        <p:txBody>
          <a:bodyPr/>
          <a:lstStyle/>
          <a:p>
            <a:r>
              <a:rPr lang="en-US" dirty="0"/>
              <a:t>Treatment 1: AI Algorithm</a:t>
            </a:r>
          </a:p>
        </p:txBody>
      </p:sp>
      <p:sp>
        <p:nvSpPr>
          <p:cNvPr id="4" name="Text Placeholder 3">
            <a:extLst>
              <a:ext uri="{FF2B5EF4-FFF2-40B4-BE49-F238E27FC236}">
                <a16:creationId xmlns:a16="http://schemas.microsoft.com/office/drawing/2014/main" id="{BB93D4AB-7874-8269-6047-C1F2D3A5BB35}"/>
              </a:ext>
            </a:extLst>
          </p:cNvPr>
          <p:cNvSpPr>
            <a:spLocks noGrp="1"/>
          </p:cNvSpPr>
          <p:nvPr>
            <p:ph type="body" sz="quarter" idx="14"/>
          </p:nvPr>
        </p:nvSpPr>
        <p:spPr>
          <a:xfrm>
            <a:off x="1828800" y="1491343"/>
            <a:ext cx="4972568" cy="4152220"/>
          </a:xfrm>
        </p:spPr>
        <p:txBody>
          <a:bodyPr>
            <a:normAutofit/>
          </a:bodyPr>
          <a:lstStyle/>
          <a:p>
            <a:r>
              <a:rPr lang="en-US" sz="2400" dirty="0"/>
              <a:t>Provide </a:t>
            </a:r>
            <a:r>
              <a:rPr lang="en-US" sz="2400" dirty="0" err="1"/>
              <a:t>CheXperT</a:t>
            </a:r>
            <a:r>
              <a:rPr lang="en-US" sz="2400" dirty="0"/>
              <a:t> algorithm on subset of assessments</a:t>
            </a:r>
          </a:p>
          <a:p>
            <a:endParaRPr lang="en-US" sz="2400" dirty="0"/>
          </a:p>
          <a:p>
            <a:r>
              <a:rPr lang="en-US" sz="2400" dirty="0"/>
              <a:t>Convolutional neural net trained on &gt;200,000 x-rays with labels</a:t>
            </a:r>
          </a:p>
          <a:p>
            <a:endParaRPr lang="en-US" sz="2400" dirty="0"/>
          </a:p>
          <a:p>
            <a:r>
              <a:rPr lang="en-US" sz="2400" dirty="0"/>
              <a:t>Performance matches that of Stanford radiologists</a:t>
            </a:r>
          </a:p>
          <a:p>
            <a:endParaRPr lang="en-US" sz="2400" dirty="0"/>
          </a:p>
        </p:txBody>
      </p:sp>
      <p:pic>
        <p:nvPicPr>
          <p:cNvPr id="7" name="Picture 6" descr="A ROC curve shows model performance. Points are plotted by false positive rate on the x-axis and true positive rate on the y-axis, with Rad2 appearing highest and furthest left among readers. ">
            <a:extLst>
              <a:ext uri="{FF2B5EF4-FFF2-40B4-BE49-F238E27FC236}">
                <a16:creationId xmlns:a16="http://schemas.microsoft.com/office/drawing/2014/main" id="{D3BF344E-90C5-DDC5-372C-582D02962297}"/>
              </a:ext>
            </a:extLst>
          </p:cNvPr>
          <p:cNvPicPr>
            <a:picLocks noChangeAspect="1"/>
          </p:cNvPicPr>
          <p:nvPr/>
        </p:nvPicPr>
        <p:blipFill>
          <a:blip r:embed="rId3"/>
          <a:stretch>
            <a:fillRect/>
          </a:stretch>
        </p:blipFill>
        <p:spPr>
          <a:xfrm>
            <a:off x="6801368" y="1546761"/>
            <a:ext cx="3949484" cy="3764478"/>
          </a:xfrm>
          <a:prstGeom prst="rect">
            <a:avLst/>
          </a:prstGeom>
        </p:spPr>
      </p:pic>
      <p:sp>
        <p:nvSpPr>
          <p:cNvPr id="5" name="Date Placeholder 4">
            <a:extLst>
              <a:ext uri="{FF2B5EF4-FFF2-40B4-BE49-F238E27FC236}">
                <a16:creationId xmlns:a16="http://schemas.microsoft.com/office/drawing/2014/main" id="{6498C30B-30E3-68A8-22FC-2223234FE110}"/>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35EBA502-BE39-C99E-D7EB-682403541312}"/>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2791301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76B9-FFD5-B503-ADC5-4E915B87A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E25C6-EB01-AB4C-9B26-E545D8EDE5EC}"/>
              </a:ext>
            </a:extLst>
          </p:cNvPr>
          <p:cNvSpPr>
            <a:spLocks noGrp="1"/>
          </p:cNvSpPr>
          <p:nvPr>
            <p:ph type="ctrTitle"/>
          </p:nvPr>
        </p:nvSpPr>
        <p:spPr/>
        <p:txBody>
          <a:bodyPr/>
          <a:lstStyle/>
          <a:p>
            <a:r>
              <a:rPr lang="en-US" dirty="0"/>
              <a:t>Treatment 2: Clinical History</a:t>
            </a:r>
          </a:p>
        </p:txBody>
      </p:sp>
      <p:pic>
        <p:nvPicPr>
          <p:cNvPr id="8" name="Picture 7" descr="A medical summary displays a patient indication and vital signs.">
            <a:extLst>
              <a:ext uri="{FF2B5EF4-FFF2-40B4-BE49-F238E27FC236}">
                <a16:creationId xmlns:a16="http://schemas.microsoft.com/office/drawing/2014/main" id="{CEAA999D-A670-B107-DF5E-606341433895}"/>
              </a:ext>
            </a:extLst>
          </p:cNvPr>
          <p:cNvPicPr>
            <a:picLocks noChangeAspect="1"/>
          </p:cNvPicPr>
          <p:nvPr/>
        </p:nvPicPr>
        <p:blipFill>
          <a:blip r:embed="rId3"/>
          <a:stretch>
            <a:fillRect/>
          </a:stretch>
        </p:blipFill>
        <p:spPr>
          <a:xfrm>
            <a:off x="4130033" y="987538"/>
            <a:ext cx="3736691" cy="5159829"/>
          </a:xfrm>
          <a:prstGeom prst="rect">
            <a:avLst/>
          </a:prstGeom>
        </p:spPr>
      </p:pic>
      <p:sp>
        <p:nvSpPr>
          <p:cNvPr id="5" name="Date Placeholder 4">
            <a:extLst>
              <a:ext uri="{FF2B5EF4-FFF2-40B4-BE49-F238E27FC236}">
                <a16:creationId xmlns:a16="http://schemas.microsoft.com/office/drawing/2014/main" id="{FB85EAB6-1E72-B4B1-EAC8-230EBCBE7B57}"/>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436188C6-2BF8-6117-1AC3-6B2E77020C93}"/>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2649263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17879-48C2-18ED-15E3-AC0C0B5A2A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E8F74-C7BC-5162-794B-D8ABE070E181}"/>
              </a:ext>
            </a:extLst>
          </p:cNvPr>
          <p:cNvSpPr>
            <a:spLocks noGrp="1"/>
          </p:cNvSpPr>
          <p:nvPr>
            <p:ph type="ctrTitle"/>
          </p:nvPr>
        </p:nvSpPr>
        <p:spPr/>
        <p:txBody>
          <a:bodyPr/>
          <a:lstStyle/>
          <a:p>
            <a:r>
              <a:rPr lang="en-US" dirty="0"/>
              <a:t>AI Assessment More Accurate than Majority of Radiologists</a:t>
            </a:r>
          </a:p>
        </p:txBody>
      </p:sp>
      <p:pic>
        <p:nvPicPr>
          <p:cNvPr id="7" name="Picture 6" descr="Two histograms compare radiologists’ performance distributions to an AI benchmark.&#10;Left panel: Histogram of radiologist RMSE scores, with most values clustered around 0.30–0.40. A vertical dashed line marks the AI model’s RMSE at roughly the 10th percentile of radiologist performance.&#10;Right panel: Histogram of radiologist AUC scores, concentrated around 0.75–0.85. A vertical dashed line marks the AI model’s AUC at approximately the 78th percentile of radiologists. Both plots use “Share of radiologists” on the y-axis.">
            <a:extLst>
              <a:ext uri="{FF2B5EF4-FFF2-40B4-BE49-F238E27FC236}">
                <a16:creationId xmlns:a16="http://schemas.microsoft.com/office/drawing/2014/main" id="{08BDC634-26EE-D07A-949B-59855A8C88AA}"/>
              </a:ext>
            </a:extLst>
          </p:cNvPr>
          <p:cNvPicPr>
            <a:picLocks noChangeAspect="1"/>
          </p:cNvPicPr>
          <p:nvPr/>
        </p:nvPicPr>
        <p:blipFill>
          <a:blip r:embed="rId3"/>
          <a:stretch>
            <a:fillRect/>
          </a:stretch>
        </p:blipFill>
        <p:spPr>
          <a:xfrm>
            <a:off x="1461654" y="1602632"/>
            <a:ext cx="9870348" cy="3652736"/>
          </a:xfrm>
          <a:prstGeom prst="rect">
            <a:avLst/>
          </a:prstGeom>
        </p:spPr>
      </p:pic>
      <p:sp>
        <p:nvSpPr>
          <p:cNvPr id="5" name="Date Placeholder 4">
            <a:extLst>
              <a:ext uri="{FF2B5EF4-FFF2-40B4-BE49-F238E27FC236}">
                <a16:creationId xmlns:a16="http://schemas.microsoft.com/office/drawing/2014/main" id="{E5E1B3F3-200F-32C6-B4EF-94F1BECEDA0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93D8C620-633C-2F0D-FDD6-D4BED1EB9798}"/>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2502752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9FA8E-48F3-4CCE-B2AB-C0D881BFE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6B513-4415-DDB2-CF48-534A23147C37}"/>
              </a:ext>
            </a:extLst>
          </p:cNvPr>
          <p:cNvSpPr>
            <a:spLocks noGrp="1"/>
          </p:cNvSpPr>
          <p:nvPr>
            <p:ph type="ctrTitle"/>
          </p:nvPr>
        </p:nvSpPr>
        <p:spPr/>
        <p:txBody>
          <a:bodyPr/>
          <a:lstStyle/>
          <a:p>
            <a:r>
              <a:rPr lang="en-US" dirty="0"/>
              <a:t>Treatment Effects – Deviation from Diagnostic Standard</a:t>
            </a:r>
          </a:p>
        </p:txBody>
      </p:sp>
      <p:pic>
        <p:nvPicPr>
          <p:cNvPr id="8" name="Picture 7" descr="A dot-and-whisker plot shows average treatment effects for three groups: AI, CH, and AI×CH.">
            <a:extLst>
              <a:ext uri="{FF2B5EF4-FFF2-40B4-BE49-F238E27FC236}">
                <a16:creationId xmlns:a16="http://schemas.microsoft.com/office/drawing/2014/main" id="{BE383FA7-FF1C-BCC0-5041-CF02EA25018F}"/>
              </a:ext>
            </a:extLst>
          </p:cNvPr>
          <p:cNvPicPr>
            <a:picLocks noChangeAspect="1"/>
          </p:cNvPicPr>
          <p:nvPr/>
        </p:nvPicPr>
        <p:blipFill>
          <a:blip r:embed="rId3"/>
          <a:stretch>
            <a:fillRect/>
          </a:stretch>
        </p:blipFill>
        <p:spPr>
          <a:xfrm>
            <a:off x="2786213" y="1099933"/>
            <a:ext cx="7022805" cy="4485220"/>
          </a:xfrm>
          <a:prstGeom prst="rect">
            <a:avLst/>
          </a:prstGeom>
        </p:spPr>
      </p:pic>
      <p:sp>
        <p:nvSpPr>
          <p:cNvPr id="5" name="Date Placeholder 4">
            <a:extLst>
              <a:ext uri="{FF2B5EF4-FFF2-40B4-BE49-F238E27FC236}">
                <a16:creationId xmlns:a16="http://schemas.microsoft.com/office/drawing/2014/main" id="{521F326F-B075-86F1-D969-ABE6CD69144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ED9B9DF9-EBE5-5940-FFCB-F3E7629BDACC}"/>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515805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558F5-FF36-5C70-D48A-CAED87282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E0E876-0AB3-3EAB-3AD3-EBACA5093868}"/>
              </a:ext>
            </a:extLst>
          </p:cNvPr>
          <p:cNvSpPr>
            <a:spLocks noGrp="1"/>
          </p:cNvSpPr>
          <p:nvPr>
            <p:ph type="ctrTitle"/>
          </p:nvPr>
        </p:nvSpPr>
        <p:spPr/>
        <p:txBody>
          <a:bodyPr/>
          <a:lstStyle/>
          <a:p>
            <a:r>
              <a:rPr lang="en-US" dirty="0"/>
              <a:t>Treatment Effects – Deviation from AI</a:t>
            </a:r>
          </a:p>
        </p:txBody>
      </p:sp>
      <p:pic>
        <p:nvPicPr>
          <p:cNvPr id="7" name="Picture 6" descr="A dot-and-whisker plot shows average treatment effects for three groups: AI, CH, and AI×CH.">
            <a:extLst>
              <a:ext uri="{FF2B5EF4-FFF2-40B4-BE49-F238E27FC236}">
                <a16:creationId xmlns:a16="http://schemas.microsoft.com/office/drawing/2014/main" id="{B942145A-D823-CBD2-28EF-B41B793B88F8}"/>
              </a:ext>
            </a:extLst>
          </p:cNvPr>
          <p:cNvPicPr>
            <a:picLocks noChangeAspect="1"/>
          </p:cNvPicPr>
          <p:nvPr/>
        </p:nvPicPr>
        <p:blipFill>
          <a:blip r:embed="rId3"/>
          <a:stretch>
            <a:fillRect/>
          </a:stretch>
        </p:blipFill>
        <p:spPr>
          <a:xfrm>
            <a:off x="3415604" y="1491343"/>
            <a:ext cx="5889701" cy="3761546"/>
          </a:xfrm>
          <a:prstGeom prst="rect">
            <a:avLst/>
          </a:prstGeom>
        </p:spPr>
      </p:pic>
      <p:sp>
        <p:nvSpPr>
          <p:cNvPr id="5" name="Date Placeholder 4">
            <a:extLst>
              <a:ext uri="{FF2B5EF4-FFF2-40B4-BE49-F238E27FC236}">
                <a16:creationId xmlns:a16="http://schemas.microsoft.com/office/drawing/2014/main" id="{ED2253F4-B0B5-8EA5-74E7-D01A89C8A327}"/>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B4796299-18FF-ADB6-8FF1-8EACADA00425}"/>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618998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12FB-D236-1587-09F7-9FC5A11B7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3B95D-C45F-45B5-8983-42E95C40FC25}"/>
              </a:ext>
            </a:extLst>
          </p:cNvPr>
          <p:cNvSpPr>
            <a:spLocks noGrp="1"/>
          </p:cNvSpPr>
          <p:nvPr>
            <p:ph type="ctrTitle"/>
          </p:nvPr>
        </p:nvSpPr>
        <p:spPr>
          <a:xfrm>
            <a:off x="2107520" y="437030"/>
            <a:ext cx="7988980" cy="332399"/>
          </a:xfrm>
        </p:spPr>
        <p:txBody>
          <a:bodyPr/>
          <a:lstStyle/>
          <a:p>
            <a:r>
              <a:rPr lang="en-US" dirty="0"/>
              <a:t>Heterogeneous Treatment Effects – Deviation from DS</a:t>
            </a:r>
          </a:p>
        </p:txBody>
      </p:sp>
      <p:pic>
        <p:nvPicPr>
          <p:cNvPr id="8" name="Picture 7" descr="A dot-and-whisker plot shows average treatment effects across five AI-prediction bins.">
            <a:extLst>
              <a:ext uri="{FF2B5EF4-FFF2-40B4-BE49-F238E27FC236}">
                <a16:creationId xmlns:a16="http://schemas.microsoft.com/office/drawing/2014/main" id="{CCB2B9AB-6204-6449-B794-1D98014F158C}"/>
              </a:ext>
            </a:extLst>
          </p:cNvPr>
          <p:cNvPicPr>
            <a:picLocks noChangeAspect="1"/>
          </p:cNvPicPr>
          <p:nvPr/>
        </p:nvPicPr>
        <p:blipFill>
          <a:blip r:embed="rId3"/>
          <a:stretch>
            <a:fillRect/>
          </a:stretch>
        </p:blipFill>
        <p:spPr>
          <a:xfrm>
            <a:off x="2209800" y="947020"/>
            <a:ext cx="7772400" cy="4963960"/>
          </a:xfrm>
          <a:prstGeom prst="rect">
            <a:avLst/>
          </a:prstGeom>
        </p:spPr>
      </p:pic>
      <p:sp>
        <p:nvSpPr>
          <p:cNvPr id="5" name="Date Placeholder 4">
            <a:extLst>
              <a:ext uri="{FF2B5EF4-FFF2-40B4-BE49-F238E27FC236}">
                <a16:creationId xmlns:a16="http://schemas.microsoft.com/office/drawing/2014/main" id="{956512D3-6D39-1CF8-0379-36133CC631CE}"/>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1A95B21C-18AB-7B45-F1E6-0BDDDA6BC191}"/>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3692524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E135-AF42-1AF5-B942-A885AE275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A2C94-9E4E-F63E-460E-3A4F15F78A44}"/>
              </a:ext>
            </a:extLst>
          </p:cNvPr>
          <p:cNvSpPr>
            <a:spLocks noGrp="1"/>
          </p:cNvSpPr>
          <p:nvPr>
            <p:ph type="ctrTitle"/>
          </p:nvPr>
        </p:nvSpPr>
        <p:spPr/>
        <p:txBody>
          <a:bodyPr/>
          <a:lstStyle/>
          <a:p>
            <a:r>
              <a:rPr lang="en-US" dirty="0"/>
              <a:t>Takeaways from Radiology Example</a:t>
            </a:r>
          </a:p>
        </p:txBody>
      </p:sp>
      <p:sp>
        <p:nvSpPr>
          <p:cNvPr id="4" name="Text Placeholder 3">
            <a:extLst>
              <a:ext uri="{FF2B5EF4-FFF2-40B4-BE49-F238E27FC236}">
                <a16:creationId xmlns:a16="http://schemas.microsoft.com/office/drawing/2014/main" id="{1074B197-DFBA-2CEE-085E-E96ABD98C384}"/>
              </a:ext>
            </a:extLst>
          </p:cNvPr>
          <p:cNvSpPr>
            <a:spLocks noGrp="1"/>
          </p:cNvSpPr>
          <p:nvPr>
            <p:ph type="body" sz="quarter" idx="14"/>
          </p:nvPr>
        </p:nvSpPr>
        <p:spPr>
          <a:xfrm>
            <a:off x="1828800" y="1491343"/>
            <a:ext cx="8755380" cy="4152220"/>
          </a:xfrm>
        </p:spPr>
        <p:txBody>
          <a:bodyPr>
            <a:normAutofit/>
          </a:bodyPr>
          <a:lstStyle/>
          <a:p>
            <a:r>
              <a:rPr lang="en-US" sz="2400" dirty="0"/>
              <a:t>Human’s private information is valuable</a:t>
            </a:r>
          </a:p>
          <a:p>
            <a:pPr lvl="1"/>
            <a:r>
              <a:rPr lang="en-US" sz="2400" dirty="0"/>
              <a:t>Want to incorporate human information in decisions</a:t>
            </a:r>
          </a:p>
          <a:p>
            <a:endParaRPr lang="en-US" sz="2400" dirty="0"/>
          </a:p>
          <a:p>
            <a:r>
              <a:rPr lang="en-US" sz="2400" dirty="0"/>
              <a:t>Human decisions do not get more accurate with AI</a:t>
            </a:r>
          </a:p>
          <a:p>
            <a:pPr lvl="1"/>
            <a:r>
              <a:rPr lang="en-US" sz="2400" dirty="0"/>
              <a:t>Because of heterogeneous effect</a:t>
            </a:r>
          </a:p>
          <a:p>
            <a:pPr lvl="1"/>
            <a:r>
              <a:rPr lang="en-US" sz="2400" dirty="0"/>
              <a:t>Human assessments worsening with AI implies they are not behaving optimally</a:t>
            </a:r>
          </a:p>
          <a:p>
            <a:endParaRPr lang="en-US" sz="2400" dirty="0"/>
          </a:p>
          <a:p>
            <a:r>
              <a:rPr lang="en-US" sz="2400" dirty="0"/>
              <a:t>What mistakes are humans making?</a:t>
            </a:r>
          </a:p>
          <a:p>
            <a:endParaRPr lang="en-US" sz="2400" dirty="0"/>
          </a:p>
        </p:txBody>
      </p:sp>
      <p:sp>
        <p:nvSpPr>
          <p:cNvPr id="5" name="Date Placeholder 4">
            <a:extLst>
              <a:ext uri="{FF2B5EF4-FFF2-40B4-BE49-F238E27FC236}">
                <a16:creationId xmlns:a16="http://schemas.microsoft.com/office/drawing/2014/main" id="{F434A23C-1473-428B-B7D4-995A5BCA7157}"/>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B5287781-8990-F21E-933E-48AF23586679}"/>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231265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2573A-FCB2-451E-5318-141272451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52B15-18AE-A46C-A136-E0E21047AC38}"/>
              </a:ext>
            </a:extLst>
          </p:cNvPr>
          <p:cNvSpPr>
            <a:spLocks noGrp="1"/>
          </p:cNvSpPr>
          <p:nvPr>
            <p:ph type="ctrTitle"/>
          </p:nvPr>
        </p:nvSpPr>
        <p:spPr>
          <a:xfrm>
            <a:off x="2647199" y="1501742"/>
            <a:ext cx="7300940" cy="664797"/>
          </a:xfrm>
        </p:spPr>
        <p:txBody>
          <a:bodyPr/>
          <a:lstStyle/>
          <a:p>
            <a:r>
              <a:rPr lang="en-US" dirty="0"/>
              <a:t>Biased belief updating</a:t>
            </a:r>
          </a:p>
        </p:txBody>
      </p:sp>
      <p:sp>
        <p:nvSpPr>
          <p:cNvPr id="4" name="Date Placeholder 3">
            <a:extLst>
              <a:ext uri="{FF2B5EF4-FFF2-40B4-BE49-F238E27FC236}">
                <a16:creationId xmlns:a16="http://schemas.microsoft.com/office/drawing/2014/main" id="{F68E2F10-5FE0-F0D0-32A1-77E98B7ABC35}"/>
              </a:ext>
            </a:extLst>
          </p:cNvPr>
          <p:cNvSpPr>
            <a:spLocks noGrp="1"/>
          </p:cNvSpPr>
          <p:nvPr>
            <p:ph type="dt" sz="half" idx="10"/>
          </p:nvPr>
        </p:nvSpPr>
        <p:spPr/>
        <p:txBody>
          <a:bodyPr/>
          <a:lstStyle/>
          <a:p>
            <a:fld id="{D47A9A36-4EB0-BF46-AE48-7CDA251B954B}" type="datetime1">
              <a:rPr lang="en-US" smtClean="0"/>
              <a:pPr/>
              <a:t>12/09/2025</a:t>
            </a:fld>
            <a:endParaRPr lang="en-US" dirty="0"/>
          </a:p>
        </p:txBody>
      </p:sp>
      <p:sp>
        <p:nvSpPr>
          <p:cNvPr id="5" name="Slide Number Placeholder 4">
            <a:extLst>
              <a:ext uri="{FF2B5EF4-FFF2-40B4-BE49-F238E27FC236}">
                <a16:creationId xmlns:a16="http://schemas.microsoft.com/office/drawing/2014/main" id="{45DECC98-9A71-4744-7EFC-E43BC9DF186A}"/>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3388158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5978D-F1C5-BB33-A45B-E6AA62133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F8722-9F42-3E37-FD0C-EFA08F994A69}"/>
              </a:ext>
            </a:extLst>
          </p:cNvPr>
          <p:cNvSpPr>
            <a:spLocks noGrp="1"/>
          </p:cNvSpPr>
          <p:nvPr>
            <p:ph type="ctrTitle"/>
          </p:nvPr>
        </p:nvSpPr>
        <p:spPr/>
        <p:txBody>
          <a:bodyPr/>
          <a:lstStyle/>
          <a:p>
            <a:r>
              <a:rPr lang="en-US" dirty="0"/>
              <a:t>Bayes Rule Revisited</a:t>
            </a:r>
          </a:p>
        </p:txBody>
      </p:sp>
      <p:sp>
        <p:nvSpPr>
          <p:cNvPr id="4" name="Text Placeholder 3">
            <a:extLst>
              <a:ext uri="{FF2B5EF4-FFF2-40B4-BE49-F238E27FC236}">
                <a16:creationId xmlns:a16="http://schemas.microsoft.com/office/drawing/2014/main" id="{20353DD7-BF1E-C5F2-7F1E-A2C6C7335C8C}"/>
              </a:ext>
            </a:extLst>
          </p:cNvPr>
          <p:cNvSpPr>
            <a:spLocks noGrp="1"/>
          </p:cNvSpPr>
          <p:nvPr>
            <p:ph type="body" sz="quarter" idx="14"/>
          </p:nvPr>
        </p:nvSpPr>
        <p:spPr>
          <a:xfrm>
            <a:off x="1828800" y="1491343"/>
            <a:ext cx="8755380" cy="4152220"/>
          </a:xfrm>
        </p:spPr>
        <p:txBody>
          <a:bodyPr>
            <a:normAutofit/>
          </a:bodyPr>
          <a:lstStyle/>
          <a:p>
            <a:r>
              <a:rPr lang="en-US" sz="2400" dirty="0"/>
              <a:t>Remember Bayes rule tells us how to update beliefs given new information</a:t>
            </a:r>
          </a:p>
          <a:p>
            <a:pPr lvl="1"/>
            <a:r>
              <a:rPr lang="en-US" sz="2400" dirty="0"/>
              <a:t>Re-writing definition of conditional probability</a:t>
            </a:r>
          </a:p>
          <a:p>
            <a:endParaRPr lang="en-US" sz="2400" dirty="0"/>
          </a:p>
          <a:p>
            <a:r>
              <a:rPr lang="en-US" sz="2400" dirty="0"/>
              <a:t>Deviations from Bayes rule suggests humans make an error</a:t>
            </a:r>
          </a:p>
          <a:p>
            <a:endParaRPr lang="en-US" sz="2400" dirty="0"/>
          </a:p>
          <a:p>
            <a:r>
              <a:rPr lang="en-US" sz="2400" dirty="0"/>
              <a:t>Next we try to unpack what mistakes humans are making, and what can be done to fix this</a:t>
            </a:r>
          </a:p>
        </p:txBody>
      </p:sp>
      <p:sp>
        <p:nvSpPr>
          <p:cNvPr id="5" name="Date Placeholder 4">
            <a:extLst>
              <a:ext uri="{FF2B5EF4-FFF2-40B4-BE49-F238E27FC236}">
                <a16:creationId xmlns:a16="http://schemas.microsoft.com/office/drawing/2014/main" id="{42904104-B995-4CAC-3730-D0CB3C66A302}"/>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F259282A-0953-F381-AA66-FBEE41FFB773}"/>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277355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BFCE4-B036-D702-94D3-1F736F80D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97CEEC-7A7D-AEA8-5C1F-657B1CDA4946}"/>
              </a:ext>
            </a:extLst>
          </p:cNvPr>
          <p:cNvSpPr>
            <a:spLocks noGrp="1"/>
          </p:cNvSpPr>
          <p:nvPr>
            <p:ph type="ctrTitle"/>
          </p:nvPr>
        </p:nvSpPr>
        <p:spPr/>
        <p:txBody>
          <a:bodyPr/>
          <a:lstStyle/>
          <a:p>
            <a:r>
              <a:rPr lang="en-US" dirty="0"/>
              <a:t>Bayes Rule Revisited, Part 2</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718F3C1C-3D6B-8CBB-205E-C9DC8775FF10}"/>
                  </a:ext>
                </a:extLst>
              </p:cNvPr>
              <p:cNvSpPr>
                <a:spLocks noGrp="1"/>
              </p:cNvSpPr>
              <p:nvPr>
                <p:ph type="body" sz="quarter" idx="14"/>
              </p:nvPr>
            </p:nvSpPr>
            <p:spPr>
              <a:xfrm>
                <a:off x="1828800" y="1491343"/>
                <a:ext cx="8755380" cy="4152220"/>
              </a:xfrm>
            </p:spPr>
            <p:txBody>
              <a:bodyPr>
                <a:normAutofit/>
              </a:bodyPr>
              <a:lstStyle/>
              <a:p>
                <a:r>
                  <a:rPr lang="en-US" sz="2400" dirty="0"/>
                  <a:t>Recall Bayes rule:</a:t>
                </a:r>
              </a:p>
              <a:p>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e>
                          <m:r>
                            <a:rPr lang="en-US" sz="2400" b="0" i="1" smtClean="0">
                              <a:latin typeface="Cambria Math" panose="02040503050406030204" pitchFamily="18" charset="0"/>
                            </a:rPr>
                            <m:t>𝐵</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𝐵</m:t>
                              </m:r>
                            </m:e>
                            <m:e>
                              <m:r>
                                <a:rPr lang="en-US" sz="2400" b="0" i="1" smtClean="0">
                                  <a:latin typeface="Cambria Math" panose="02040503050406030204" pitchFamily="18" charset="0"/>
                                </a:rPr>
                                <m:t>𝐴</m:t>
                              </m:r>
                            </m:e>
                          </m:d>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d>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𝐵</m:t>
                              </m:r>
                            </m:e>
                          </m:d>
                        </m:den>
                      </m:f>
                    </m:oMath>
                  </m:oMathPara>
                </a14:m>
                <a:endParaRPr lang="en-US" sz="2400" dirty="0"/>
              </a:p>
              <a:p>
                <a:endParaRPr lang="en-US" sz="2400" dirty="0"/>
              </a:p>
              <a:p>
                <a:endParaRPr lang="en-US" sz="2400" dirty="0"/>
              </a:p>
              <a:p>
                <a:r>
                  <a:rPr lang="en-US" sz="2400" dirty="0"/>
                  <a:t>Bayes rule also implies:</a:t>
                </a:r>
              </a:p>
              <a:p>
                <a:pPr marL="0" indent="0">
                  <a:buNone/>
                </a:pPr>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e>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𝐶</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𝐵</m:t>
                              </m:r>
                            </m:e>
                            <m:e>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𝐶</m:t>
                              </m:r>
                            </m:e>
                          </m:d>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e>
                              <m:r>
                                <a:rPr lang="en-US" sz="2400" b="0" i="1" smtClean="0">
                                  <a:latin typeface="Cambria Math" panose="02040503050406030204" pitchFamily="18" charset="0"/>
                                </a:rPr>
                                <m:t>𝐶</m:t>
                              </m:r>
                            </m:e>
                          </m:d>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𝐵</m:t>
                              </m:r>
                            </m:e>
                            <m:e>
                              <m:r>
                                <a:rPr lang="en-US" sz="2400" b="0" i="1" smtClean="0">
                                  <a:latin typeface="Cambria Math" panose="02040503050406030204" pitchFamily="18" charset="0"/>
                                </a:rPr>
                                <m:t>𝐶</m:t>
                              </m:r>
                            </m:e>
                          </m:d>
                        </m:den>
                      </m:f>
                    </m:oMath>
                  </m:oMathPara>
                </a14:m>
                <a:endParaRPr lang="en-US" sz="2400" dirty="0"/>
              </a:p>
            </p:txBody>
          </p:sp>
        </mc:Choice>
        <mc:Fallback xmlns="">
          <p:sp>
            <p:nvSpPr>
              <p:cNvPr id="4" name="Text Placeholder 3">
                <a:extLst>
                  <a:ext uri="{FF2B5EF4-FFF2-40B4-BE49-F238E27FC236}">
                    <a16:creationId xmlns:a16="http://schemas.microsoft.com/office/drawing/2014/main" id="{718F3C1C-3D6B-8CBB-205E-C9DC8775FF10}"/>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152220"/>
              </a:xfrm>
              <a:blipFill>
                <a:blip r:embed="rId3"/>
                <a:stretch>
                  <a:fillRect l="-2029" t="-2439"/>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B2312611-29E2-57F8-CA05-555020A43BF0}"/>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C19E3977-1CA9-DB0B-E6D3-C2A439C48785}"/>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2841628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9044F-B078-E00F-A646-0BACD5D57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66AEF-2A69-03C9-2295-79819DD611C5}"/>
              </a:ext>
            </a:extLst>
          </p:cNvPr>
          <p:cNvSpPr>
            <a:spLocks noGrp="1"/>
          </p:cNvSpPr>
          <p:nvPr>
            <p:ph type="ctrTitle"/>
          </p:nvPr>
        </p:nvSpPr>
        <p:spPr/>
        <p:txBody>
          <a:bodyPr/>
          <a:lstStyle/>
          <a:p>
            <a:r>
              <a:rPr lang="en-US" dirty="0"/>
              <a:t>Bayes Rule Revisited, Part 3</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3BA591D4-B404-3560-591E-F6877F1CF7E7}"/>
                  </a:ext>
                </a:extLst>
              </p:cNvPr>
              <p:cNvSpPr>
                <a:spLocks noGrp="1"/>
              </p:cNvSpPr>
              <p:nvPr>
                <p:ph type="body" sz="quarter" idx="14"/>
              </p:nvPr>
            </p:nvSpPr>
            <p:spPr>
              <a:xfrm>
                <a:off x="1828800" y="1491343"/>
                <a:ext cx="8755380" cy="4152220"/>
              </a:xfrm>
            </p:spPr>
            <p:txBody>
              <a:bodyPr>
                <a:normAutofit/>
              </a:bodyPr>
              <a:lstStyle/>
              <a:p>
                <a:r>
                  <a:rPr lang="en-US" sz="2400" dirty="0"/>
                  <a:t>With AI, humans report their assessment: </a:t>
                </a:r>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oMath>
                </a14:m>
                <a:endParaRPr lang="en-US" sz="2400" dirty="0"/>
              </a:p>
              <a:p>
                <a:endParaRPr lang="en-US" sz="2400" dirty="0"/>
              </a:p>
              <a:p>
                <a:r>
                  <a:rPr lang="en-US" sz="2400" dirty="0"/>
                  <a:t>Bayes rule tells us what this should look like: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e>
                            <m:e>
                              <m:r>
                                <a:rPr lang="en-US" sz="2400" b="0" i="1" smtClean="0">
                                  <a:latin typeface="Cambria Math" panose="02040503050406030204" pitchFamily="18" charset="0"/>
                                </a:rPr>
                                <m:t>𝑌</m:t>
                              </m:r>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den>
                      </m:f>
                    </m:oMath>
                  </m:oMathPara>
                </a14:m>
                <a:endParaRPr lang="en-US" sz="2400" dirty="0"/>
              </a:p>
              <a:p>
                <a:pPr marL="0" indent="0">
                  <a:buNone/>
                </a:pPr>
                <a:endParaRPr lang="en-US" sz="2400" dirty="0"/>
              </a:p>
              <a:p>
                <a:r>
                  <a:rPr lang="en-US" sz="2400" dirty="0"/>
                  <a:t>Simplifying:</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num>
                        <m:den>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=0</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𝐴</m:t>
                                  </m:r>
                                </m:sub>
                              </m:sSub>
                            </m:e>
                            <m:e>
                              <m:r>
                                <a:rPr lang="en-US" sz="2400" b="0" i="1" smtClean="0">
                                  <a:latin typeface="Cambria Math" panose="02040503050406030204" pitchFamily="18" charset="0"/>
                                </a:rPr>
                                <m:t>𝑌</m:t>
                              </m:r>
                              <m:r>
                                <a:rPr lang="en-US" sz="2400" b="0" i="1" smtClean="0">
                                  <a:latin typeface="Cambria Math" panose="02040503050406030204" pitchFamily="18" charset="0"/>
                                </a:rPr>
                                <m:t>=1,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r>
                                <a:rPr lang="en-US" sz="2400" b="0" i="1" smtClean="0">
                                  <a:latin typeface="Cambria Math" panose="02040503050406030204" pitchFamily="18" charset="0"/>
                                </a:rPr>
                                <m:t>=1</m:t>
                              </m:r>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oMath>
                  </m:oMathPara>
                </a14:m>
                <a:endParaRPr lang="en-US" sz="2400" dirty="0"/>
              </a:p>
            </p:txBody>
          </p:sp>
        </mc:Choice>
        <mc:Fallback xmlns="">
          <p:sp>
            <p:nvSpPr>
              <p:cNvPr id="4" name="Text Placeholder 3">
                <a:extLst>
                  <a:ext uri="{FF2B5EF4-FFF2-40B4-BE49-F238E27FC236}">
                    <a16:creationId xmlns:a16="http://schemas.microsoft.com/office/drawing/2014/main" id="{3BA591D4-B404-3560-591E-F6877F1CF7E7}"/>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152220"/>
              </a:xfrm>
              <a:blipFill>
                <a:blip r:embed="rId3"/>
                <a:stretch>
                  <a:fillRect l="-2029" t="-2439"/>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65C4F3AD-2EB0-9466-1397-82390C3B1E25}"/>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B08655C9-E77B-88D7-4ADE-F6B327A5DE37}"/>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202244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B7005-2899-D325-D3C4-A309BF93B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15800-905F-69EA-068E-C4B8DB251D0A}"/>
              </a:ext>
            </a:extLst>
          </p:cNvPr>
          <p:cNvSpPr>
            <a:spLocks noGrp="1"/>
          </p:cNvSpPr>
          <p:nvPr>
            <p:ph type="ctrTitle"/>
          </p:nvPr>
        </p:nvSpPr>
        <p:spPr/>
        <p:txBody>
          <a:bodyPr/>
          <a:lstStyle/>
          <a:p>
            <a:r>
              <a:rPr lang="en-US" dirty="0"/>
              <a:t>Modeling Human Belief Updating</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A012C789-9EED-5952-79F4-4BC61BE4472C}"/>
                  </a:ext>
                </a:extLst>
              </p:cNvPr>
              <p:cNvSpPr>
                <a:spLocks noGrp="1"/>
              </p:cNvSpPr>
              <p:nvPr>
                <p:ph type="body" sz="quarter" idx="14"/>
              </p:nvPr>
            </p:nvSpPr>
            <p:spPr>
              <a:xfrm>
                <a:off x="1828800" y="1491343"/>
                <a:ext cx="8755380" cy="4152220"/>
              </a:xfrm>
            </p:spPr>
            <p:txBody>
              <a:bodyPr>
                <a:normAutofit/>
              </a:bodyPr>
              <a:lstStyle/>
              <a:p>
                <a:r>
                  <a:rPr lang="en-US" sz="2400" dirty="0"/>
                  <a:t>Bayes rule implies:</a:t>
                </a:r>
              </a:p>
              <a:p>
                <a:endParaRPr lang="en-US" sz="2400" dirty="0"/>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oMath>
                  </m:oMathPara>
                </a14:m>
                <a:endParaRPr lang="en-US" sz="2400" dirty="0"/>
              </a:p>
              <a:p>
                <a:endParaRPr lang="en-US" sz="2400" dirty="0"/>
              </a:p>
              <a:p>
                <a:pPr marL="0" indent="0">
                  <a:buNone/>
                </a:pPr>
                <a:endParaRPr lang="en-US" sz="2400" dirty="0"/>
              </a:p>
              <a:p>
                <a:pPr marL="0" indent="0">
                  <a:buNone/>
                </a:pPr>
                <a:endParaRPr lang="en-US" sz="2200" dirty="0">
                  <a:latin typeface="+mn-lt"/>
                </a:endParaRPr>
              </a:p>
              <a:p>
                <a:r>
                  <a:rPr lang="en-US" sz="2200" dirty="0">
                    <a:latin typeface="+mn-lt"/>
                  </a:rPr>
                  <a:t>If radiologists were </a:t>
                </a:r>
                <a:r>
                  <a:rPr lang="en-US" sz="2200" dirty="0">
                    <a:solidFill>
                      <a:schemeClr val="accent1"/>
                    </a:solidFill>
                    <a:latin typeface="+mn-lt"/>
                  </a:rPr>
                  <a:t>Bayesian with correctly specified beliefs</a:t>
                </a:r>
                <a:r>
                  <a:rPr lang="en-US" sz="2200" dirty="0">
                    <a:latin typeface="+mn-lt"/>
                  </a:rPr>
                  <a:t>, then the provision of algorithmic predictions should weakly improve the accuracy of their diagnoses, no matter the algorithmic prediction.</a:t>
                </a:r>
              </a:p>
              <a:p>
                <a:endParaRPr lang="en-US" sz="2400" dirty="0">
                  <a:latin typeface="+mn-lt"/>
                </a:endParaRPr>
              </a:p>
              <a:p>
                <a:endParaRPr lang="en-US" sz="2400" dirty="0"/>
              </a:p>
            </p:txBody>
          </p:sp>
        </mc:Choice>
        <mc:Fallback xmlns="">
          <p:sp>
            <p:nvSpPr>
              <p:cNvPr id="4" name="Text Placeholder 3">
                <a:extLst>
                  <a:ext uri="{FF2B5EF4-FFF2-40B4-BE49-F238E27FC236}">
                    <a16:creationId xmlns:a16="http://schemas.microsoft.com/office/drawing/2014/main" id="{A012C789-9EED-5952-79F4-4BC61BE4472C}"/>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152220"/>
              </a:xfrm>
              <a:blipFill>
                <a:blip r:embed="rId3"/>
                <a:stretch>
                  <a:fillRect l="-2029" t="-2439" r="-1739"/>
                </a:stretch>
              </a:blipFill>
            </p:spPr>
            <p:txBody>
              <a:bodyPr/>
              <a:lstStyle/>
              <a:p>
                <a:r>
                  <a:rPr lang="en-US">
                    <a:noFill/>
                  </a:rPr>
                  <a:t> </a:t>
                </a:r>
              </a:p>
            </p:txBody>
          </p:sp>
        </mc:Fallback>
      </mc:AlternateContent>
      <p:sp>
        <p:nvSpPr>
          <p:cNvPr id="17" name="Left Brace 16">
            <a:extLst>
              <a:ext uri="{FF2B5EF4-FFF2-40B4-BE49-F238E27FC236}">
                <a16:creationId xmlns:a16="http://schemas.microsoft.com/office/drawing/2014/main" id="{88141DFF-4160-5E54-E06C-B6554D220C7A}"/>
              </a:ext>
              <a:ext uri="{C183D7F6-B498-43B3-948B-1728B52AA6E4}">
                <adec:decorative xmlns:adec="http://schemas.microsoft.com/office/drawing/2017/decorative" val="1"/>
              </a:ext>
            </a:extLst>
          </p:cNvPr>
          <p:cNvSpPr/>
          <p:nvPr/>
        </p:nvSpPr>
        <p:spPr>
          <a:xfrm rot="16200000">
            <a:off x="3568143" y="1831071"/>
            <a:ext cx="414733" cy="252864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DEF5C3EA-07AE-1DFA-3606-2E72DA6D1D6C}"/>
              </a:ext>
            </a:extLst>
          </p:cNvPr>
          <p:cNvSpPr txBox="1"/>
          <p:nvPr/>
        </p:nvSpPr>
        <p:spPr>
          <a:xfrm>
            <a:off x="1934801" y="3305188"/>
            <a:ext cx="3487478" cy="646331"/>
          </a:xfrm>
          <a:prstGeom prst="rect">
            <a:avLst/>
          </a:prstGeom>
          <a:noFill/>
        </p:spPr>
        <p:txBody>
          <a:bodyPr wrap="square" rtlCol="0">
            <a:spAutoFit/>
          </a:bodyPr>
          <a:lstStyle/>
          <a:p>
            <a:pPr algn="ctr"/>
            <a:r>
              <a:rPr lang="en-US" dirty="0"/>
              <a:t>Posterior beliefs after seeing algorithmic predictions</a:t>
            </a:r>
          </a:p>
        </p:txBody>
      </p:sp>
      <p:sp>
        <p:nvSpPr>
          <p:cNvPr id="19" name="Left Brace 18">
            <a:extLst>
              <a:ext uri="{FF2B5EF4-FFF2-40B4-BE49-F238E27FC236}">
                <a16:creationId xmlns:a16="http://schemas.microsoft.com/office/drawing/2014/main" id="{AF2EC3DF-88D5-E875-C42A-17A4BE2E71AA}"/>
              </a:ext>
              <a:ext uri="{C183D7F6-B498-43B3-948B-1728B52AA6E4}">
                <adec:decorative xmlns:adec="http://schemas.microsoft.com/office/drawing/2017/decorative" val="1"/>
              </a:ext>
            </a:extLst>
          </p:cNvPr>
          <p:cNvSpPr/>
          <p:nvPr/>
        </p:nvSpPr>
        <p:spPr>
          <a:xfrm rot="16200000">
            <a:off x="6326072" y="2263249"/>
            <a:ext cx="624743" cy="1926719"/>
          </a:xfrm>
          <a:prstGeom prst="leftBrace">
            <a:avLst>
              <a:gd name="adj1" fmla="val 8333"/>
              <a:gd name="adj2" fmla="val 4858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73C45D05-A7BF-7655-2486-CB8602A054A5}"/>
              </a:ext>
            </a:extLst>
          </p:cNvPr>
          <p:cNvSpPr txBox="1"/>
          <p:nvPr/>
        </p:nvSpPr>
        <p:spPr>
          <a:xfrm>
            <a:off x="5276588" y="3305692"/>
            <a:ext cx="2466756" cy="646331"/>
          </a:xfrm>
          <a:prstGeom prst="rect">
            <a:avLst/>
          </a:prstGeom>
          <a:noFill/>
        </p:spPr>
        <p:txBody>
          <a:bodyPr wrap="square" rtlCol="0">
            <a:spAutoFit/>
          </a:bodyPr>
          <a:lstStyle/>
          <a:p>
            <a:pPr algn="ctr"/>
            <a:r>
              <a:rPr lang="en-US" dirty="0"/>
              <a:t>Informativeness of algorithmic prediction</a:t>
            </a:r>
          </a:p>
        </p:txBody>
      </p:sp>
      <p:sp>
        <p:nvSpPr>
          <p:cNvPr id="18" name="Left Brace 17">
            <a:extLst>
              <a:ext uri="{FF2B5EF4-FFF2-40B4-BE49-F238E27FC236}">
                <a16:creationId xmlns:a16="http://schemas.microsoft.com/office/drawing/2014/main" id="{22B2D671-DA65-7E99-582E-6217B6575BF9}"/>
              </a:ext>
              <a:ext uri="{C183D7F6-B498-43B3-948B-1728B52AA6E4}">
                <adec:decorative xmlns:adec="http://schemas.microsoft.com/office/drawing/2017/decorative" val="1"/>
              </a:ext>
            </a:extLst>
          </p:cNvPr>
          <p:cNvSpPr/>
          <p:nvPr/>
        </p:nvSpPr>
        <p:spPr>
          <a:xfrm rot="16200000">
            <a:off x="9002902" y="2302350"/>
            <a:ext cx="503571" cy="158013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F9B03086-2A21-9DAC-5C55-6C55520FBAE6}"/>
              </a:ext>
            </a:extLst>
          </p:cNvPr>
          <p:cNvSpPr txBox="1"/>
          <p:nvPr/>
        </p:nvSpPr>
        <p:spPr>
          <a:xfrm>
            <a:off x="7952181" y="3385375"/>
            <a:ext cx="2466756" cy="646331"/>
          </a:xfrm>
          <a:prstGeom prst="rect">
            <a:avLst/>
          </a:prstGeom>
          <a:noFill/>
        </p:spPr>
        <p:txBody>
          <a:bodyPr wrap="square" rtlCol="0">
            <a:spAutoFit/>
          </a:bodyPr>
          <a:lstStyle/>
          <a:p>
            <a:pPr algn="ctr"/>
            <a:r>
              <a:rPr lang="en-US" dirty="0"/>
              <a:t>Prior beliefs based on own signals</a:t>
            </a:r>
          </a:p>
        </p:txBody>
      </p:sp>
      <p:sp>
        <p:nvSpPr>
          <p:cNvPr id="5" name="Date Placeholder 4">
            <a:extLst>
              <a:ext uri="{FF2B5EF4-FFF2-40B4-BE49-F238E27FC236}">
                <a16:creationId xmlns:a16="http://schemas.microsoft.com/office/drawing/2014/main" id="{C6790F33-8A5B-54FB-94AC-D784C9A9A71F}"/>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88B244A4-67DE-13F6-53E6-ECDC3BFF0880}"/>
              </a:ext>
            </a:extLst>
          </p:cNvPr>
          <p:cNvSpPr>
            <a:spLocks noGrp="1"/>
          </p:cNvSpPr>
          <p:nvPr>
            <p:ph type="sldNum" sz="quarter" idx="12"/>
          </p:nvPr>
        </p:nvSpPr>
        <p:spPr/>
        <p:txBody>
          <a:bodyPr/>
          <a:lstStyle/>
          <a:p>
            <a:fld id="{8A7A6979-0714-4377-B894-6BE4C2D6E202}" type="slidenum">
              <a:rPr lang="en-US" smtClean="0"/>
              <a:pPr/>
              <a:t>31</a:t>
            </a:fld>
            <a:endParaRPr lang="en-US" dirty="0"/>
          </a:p>
        </p:txBody>
      </p:sp>
    </p:spTree>
    <p:extLst>
      <p:ext uri="{BB962C8B-B14F-4D97-AF65-F5344CB8AC3E}">
        <p14:creationId xmlns:p14="http://schemas.microsoft.com/office/powerpoint/2010/main" val="1703082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01E96-E24E-5242-A009-2EFDB43B8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3F3C5-D4FF-B258-95CE-F71311007C1E}"/>
              </a:ext>
            </a:extLst>
          </p:cNvPr>
          <p:cNvSpPr>
            <a:spLocks noGrp="1"/>
          </p:cNvSpPr>
          <p:nvPr>
            <p:ph type="ctrTitle"/>
          </p:nvPr>
        </p:nvSpPr>
        <p:spPr/>
        <p:txBody>
          <a:bodyPr/>
          <a:lstStyle/>
          <a:p>
            <a:r>
              <a:rPr lang="en-US" dirty="0"/>
              <a:t>Modeling Human Belief Updating, Part 2</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19F5FF6-25EB-4014-79F2-3AB24149DD62}"/>
                  </a:ext>
                </a:extLst>
              </p:cNvPr>
              <p:cNvSpPr>
                <a:spLocks noGrp="1"/>
              </p:cNvSpPr>
              <p:nvPr>
                <p:ph type="body" sz="quarter" idx="14"/>
              </p:nvPr>
            </p:nvSpPr>
            <p:spPr>
              <a:xfrm>
                <a:off x="1828800" y="1491343"/>
                <a:ext cx="8755380" cy="4152220"/>
              </a:xfrm>
            </p:spPr>
            <p:txBody>
              <a:bodyPr>
                <a:normAutofit/>
              </a:bodyPr>
              <a:lstStyle/>
              <a:p>
                <a:endParaRPr lang="en-US" sz="2400" dirty="0"/>
              </a:p>
              <a:p>
                <a:pPr marL="0" indent="0">
                  <a:buNone/>
                </a:pPr>
                <a:endParaRPr lang="en-US" sz="2400" dirty="0"/>
              </a:p>
              <a:p>
                <a:r>
                  <a:rPr lang="en-US" sz="2400" dirty="0"/>
                  <a:t>Allow humans to deviate from Bayesian updating</a:t>
                </a:r>
              </a:p>
              <a:p>
                <a:pPr marL="0" indent="0">
                  <a:buNone/>
                </a:pPr>
                <a:endParaRPr lang="en-US" sz="2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r>
                        <a:rPr lang="en-US" sz="2400" b="0" i="1" smtClean="0">
                          <a:latin typeface="Cambria Math" panose="02040503050406030204" pitchFamily="18" charset="0"/>
                        </a:rPr>
                        <m:t>=</m:t>
                      </m:r>
                      <m:r>
                        <a:rPr lang="en-US" sz="2400" b="0" i="1" smtClean="0">
                          <a:latin typeface="Cambria Math" panose="02040503050406030204" pitchFamily="18" charset="0"/>
                        </a:rPr>
                        <m:t>𝑏</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r>
                        <a:rPr lang="en-US" sz="2400" b="0" i="1" smtClean="0">
                          <a:latin typeface="Cambria Math" panose="02040503050406030204" pitchFamily="18" charset="0"/>
                        </a:rPr>
                        <m:t>+</m:t>
                      </m:r>
                      <m:r>
                        <a:rPr lang="en-US" sz="2400" b="0" i="1" smtClean="0">
                          <a:latin typeface="Cambria Math" panose="02040503050406030204" pitchFamily="18" charset="0"/>
                        </a:rPr>
                        <m:t>𝑑</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oMath>
                  </m:oMathPara>
                </a14:m>
                <a:endParaRPr lang="en-US" sz="2400" dirty="0"/>
              </a:p>
              <a:p>
                <a:pPr marL="0" indent="0">
                  <a:buNone/>
                </a:pPr>
                <a:endParaRPr lang="en-US" sz="2400" dirty="0"/>
              </a:p>
              <a:p>
                <a14:m>
                  <m:oMath xmlns:m="http://schemas.openxmlformats.org/officeDocument/2006/math">
                    <m:r>
                      <a:rPr lang="en-US" sz="2400" b="0" i="1" smtClean="0">
                        <a:latin typeface="Cambria Math" panose="02040503050406030204" pitchFamily="18" charset="0"/>
                      </a:rPr>
                      <m:t>𝑏</m:t>
                    </m:r>
                    <m:r>
                      <a:rPr lang="en-US" sz="2400" b="0" i="1" smtClean="0">
                        <a:latin typeface="Cambria Math" panose="02040503050406030204" pitchFamily="18" charset="0"/>
                      </a:rPr>
                      <m:t>&lt;</m:t>
                    </m:r>
                    <m:r>
                      <a:rPr lang="en-US" sz="2400" b="0" i="1" smtClean="0">
                        <a:latin typeface="Cambria Math" panose="02040503050406030204" pitchFamily="18" charset="0"/>
                      </a:rPr>
                      <m:t>𝑑</m:t>
                    </m:r>
                  </m:oMath>
                </a14:m>
                <a:r>
                  <a:rPr lang="en-US" sz="2400" dirty="0"/>
                  <a:t>: Automation neglect</a:t>
                </a:r>
              </a:p>
              <a:p>
                <a14:m>
                  <m:oMath xmlns:m="http://schemas.openxmlformats.org/officeDocument/2006/math">
                    <m:r>
                      <a:rPr lang="en-US" sz="2400" b="0" i="1" smtClean="0">
                        <a:latin typeface="Cambria Math" panose="02040503050406030204" pitchFamily="18" charset="0"/>
                      </a:rPr>
                      <m:t>𝑏</m:t>
                    </m:r>
                    <m:r>
                      <a:rPr lang="en-US" sz="2400" b="0" i="1" smtClean="0">
                        <a:latin typeface="Cambria Math" panose="02040503050406030204" pitchFamily="18" charset="0"/>
                      </a:rPr>
                      <m:t>&gt;</m:t>
                    </m:r>
                    <m:r>
                      <a:rPr lang="en-US" sz="2400" b="0" i="1" smtClean="0">
                        <a:latin typeface="Cambria Math" panose="02040503050406030204" pitchFamily="18" charset="0"/>
                      </a:rPr>
                      <m:t>𝑑</m:t>
                    </m:r>
                  </m:oMath>
                </a14:m>
                <a:r>
                  <a:rPr lang="en-US" sz="2400" dirty="0"/>
                  <a:t>: Automation bias</a:t>
                </a:r>
              </a:p>
              <a:p>
                <a:endParaRPr lang="en-US" sz="2400" dirty="0"/>
              </a:p>
            </p:txBody>
          </p:sp>
        </mc:Choice>
        <mc:Fallback xmlns="">
          <p:sp>
            <p:nvSpPr>
              <p:cNvPr id="4" name="Text Placeholder 3">
                <a:extLst>
                  <a:ext uri="{FF2B5EF4-FFF2-40B4-BE49-F238E27FC236}">
                    <a16:creationId xmlns:a16="http://schemas.microsoft.com/office/drawing/2014/main" id="{219F5FF6-25EB-4014-79F2-3AB24149DD62}"/>
                  </a:ext>
                </a:extLst>
              </p:cNvPr>
              <p:cNvSpPr>
                <a:spLocks noGrp="1" noRot="1" noChangeAspect="1" noMove="1" noResize="1" noEditPoints="1" noAdjustHandles="1" noChangeArrowheads="1" noChangeShapeType="1" noTextEdit="1"/>
              </p:cNvSpPr>
              <p:nvPr>
                <p:ph type="body" sz="quarter" idx="14"/>
              </p:nvPr>
            </p:nvSpPr>
            <p:spPr>
              <a:xfrm>
                <a:off x="1828800" y="1491343"/>
                <a:ext cx="8755380" cy="4152220"/>
              </a:xfrm>
              <a:blipFill>
                <a:blip r:embed="rId3"/>
                <a:stretch>
                  <a:fillRect l="-2029"/>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AA4BF3C-2658-77DF-3417-A1D8D775C037}"/>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73512E2A-9511-B83B-8A2A-F64C6F036609}"/>
              </a:ext>
            </a:extLst>
          </p:cNvPr>
          <p:cNvSpPr>
            <a:spLocks noGrp="1"/>
          </p:cNvSpPr>
          <p:nvPr>
            <p:ph type="sldNum" sz="quarter" idx="12"/>
          </p:nvPr>
        </p:nvSpPr>
        <p:spPr/>
        <p:txBody>
          <a:bodyPr/>
          <a:lstStyle/>
          <a:p>
            <a:fld id="{8A7A6979-0714-4377-B894-6BE4C2D6E202}" type="slidenum">
              <a:rPr lang="en-US" smtClean="0"/>
              <a:pPr/>
              <a:t>32</a:t>
            </a:fld>
            <a:endParaRPr lang="en-US" dirty="0"/>
          </a:p>
        </p:txBody>
      </p:sp>
    </p:spTree>
    <p:extLst>
      <p:ext uri="{BB962C8B-B14F-4D97-AF65-F5344CB8AC3E}">
        <p14:creationId xmlns:p14="http://schemas.microsoft.com/office/powerpoint/2010/main" val="101764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FC50B-E743-957A-7BD0-A6623F1D5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BD6C1-5545-68BF-BE5C-83C288C7F062}"/>
              </a:ext>
            </a:extLst>
          </p:cNvPr>
          <p:cNvSpPr>
            <a:spLocks noGrp="1"/>
          </p:cNvSpPr>
          <p:nvPr>
            <p:ph type="ctrTitle"/>
          </p:nvPr>
        </p:nvSpPr>
        <p:spPr/>
        <p:txBody>
          <a:bodyPr/>
          <a:lstStyle/>
          <a:p>
            <a:r>
              <a:rPr lang="en-US" dirty="0"/>
              <a:t>Modeling Human Belief Updating, Part 3</a:t>
            </a:r>
          </a:p>
        </p:txBody>
      </p:sp>
      <p:sp>
        <p:nvSpPr>
          <p:cNvPr id="4" name="Text Placeholder 3">
            <a:extLst>
              <a:ext uri="{FF2B5EF4-FFF2-40B4-BE49-F238E27FC236}">
                <a16:creationId xmlns:a16="http://schemas.microsoft.com/office/drawing/2014/main" id="{AF7EA080-E671-88DB-690E-066F9AA7AE83}"/>
              </a:ext>
            </a:extLst>
          </p:cNvPr>
          <p:cNvSpPr>
            <a:spLocks noGrp="1"/>
          </p:cNvSpPr>
          <p:nvPr>
            <p:ph type="body" sz="quarter" idx="14"/>
          </p:nvPr>
        </p:nvSpPr>
        <p:spPr>
          <a:xfrm>
            <a:off x="1828800" y="1491343"/>
            <a:ext cx="4845132" cy="4152220"/>
          </a:xfrm>
        </p:spPr>
        <p:txBody>
          <a:bodyPr>
            <a:normAutofit/>
          </a:bodyPr>
          <a:lstStyle/>
          <a:p>
            <a:r>
              <a:rPr lang="en-US" sz="2400" dirty="0"/>
              <a:t>Find robust evidence of automation neglect</a:t>
            </a:r>
          </a:p>
          <a:p>
            <a:endParaRPr lang="en-US" sz="2400" dirty="0"/>
          </a:p>
          <a:p>
            <a:r>
              <a:rPr lang="en-US" sz="2400" dirty="0"/>
              <a:t>Humans underweight AI signal</a:t>
            </a:r>
          </a:p>
          <a:p>
            <a:pPr lvl="1"/>
            <a:r>
              <a:rPr lang="en-US" sz="2400" dirty="0"/>
              <a:t>I.e. humans are overconfident in their own information</a:t>
            </a:r>
          </a:p>
          <a:p>
            <a:endParaRPr lang="en-US" sz="2400" dirty="0"/>
          </a:p>
          <a:p>
            <a:r>
              <a:rPr lang="en-US" sz="2400" dirty="0"/>
              <a:t>How well does this fit the data?</a:t>
            </a:r>
          </a:p>
        </p:txBody>
      </p:sp>
      <p:grpSp>
        <p:nvGrpSpPr>
          <p:cNvPr id="10" name="Group 9" descr="A table displays estimated coefficients for three variables.">
            <a:extLst>
              <a:ext uri="{FF2B5EF4-FFF2-40B4-BE49-F238E27FC236}">
                <a16:creationId xmlns:a16="http://schemas.microsoft.com/office/drawing/2014/main" id="{97A1ED89-C388-3E7C-B1BF-4383F74860FB}"/>
              </a:ext>
            </a:extLst>
          </p:cNvPr>
          <p:cNvGrpSpPr/>
          <p:nvPr/>
        </p:nvGrpSpPr>
        <p:grpSpPr>
          <a:xfrm>
            <a:off x="7134821" y="2188353"/>
            <a:ext cx="3796798" cy="2150577"/>
            <a:chOff x="7134821" y="2188353"/>
            <a:chExt cx="3796798" cy="2150577"/>
          </a:xfrm>
        </p:grpSpPr>
        <p:pic>
          <p:nvPicPr>
            <p:cNvPr id="7" name="Picture 6">
              <a:extLst>
                <a:ext uri="{FF2B5EF4-FFF2-40B4-BE49-F238E27FC236}">
                  <a16:creationId xmlns:a16="http://schemas.microsoft.com/office/drawing/2014/main" id="{DF02A4D3-6757-E618-5739-77A02AA6C4D3}"/>
                </a:ext>
              </a:extLst>
            </p:cNvPr>
            <p:cNvPicPr>
              <a:picLocks noChangeAspect="1"/>
            </p:cNvPicPr>
            <p:nvPr/>
          </p:nvPicPr>
          <p:blipFill>
            <a:blip r:embed="rId3"/>
            <a:stretch>
              <a:fillRect/>
            </a:stretch>
          </p:blipFill>
          <p:spPr>
            <a:xfrm>
              <a:off x="7134821" y="2188353"/>
              <a:ext cx="2923695" cy="2138703"/>
            </a:xfrm>
            <a:prstGeom prst="rect">
              <a:avLst/>
            </a:prstGeom>
          </p:spPr>
        </p:pic>
        <p:pic>
          <p:nvPicPr>
            <p:cNvPr id="8" name="Picture 7">
              <a:extLst>
                <a:ext uri="{FF2B5EF4-FFF2-40B4-BE49-F238E27FC236}">
                  <a16:creationId xmlns:a16="http://schemas.microsoft.com/office/drawing/2014/main" id="{4A7901BE-C0AD-AC46-1086-7490AF92CAC8}"/>
                </a:ext>
              </a:extLst>
            </p:cNvPr>
            <p:cNvPicPr>
              <a:picLocks noChangeAspect="1"/>
            </p:cNvPicPr>
            <p:nvPr/>
          </p:nvPicPr>
          <p:blipFill>
            <a:blip r:embed="rId4"/>
            <a:stretch>
              <a:fillRect/>
            </a:stretch>
          </p:blipFill>
          <p:spPr>
            <a:xfrm>
              <a:off x="10058516" y="2200227"/>
              <a:ext cx="873103" cy="2138703"/>
            </a:xfrm>
            <a:prstGeom prst="rect">
              <a:avLst/>
            </a:prstGeom>
          </p:spPr>
        </p:pic>
      </p:grpSp>
      <p:sp>
        <p:nvSpPr>
          <p:cNvPr id="5" name="Date Placeholder 4">
            <a:extLst>
              <a:ext uri="{FF2B5EF4-FFF2-40B4-BE49-F238E27FC236}">
                <a16:creationId xmlns:a16="http://schemas.microsoft.com/office/drawing/2014/main" id="{8CC03F12-6B33-E9B0-1D92-1E4C97BA6A0B}"/>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B365CEDD-A4C2-C8BE-1A6F-23342B8A529B}"/>
              </a:ext>
            </a:extLst>
          </p:cNvPr>
          <p:cNvSpPr>
            <a:spLocks noGrp="1"/>
          </p:cNvSpPr>
          <p:nvPr>
            <p:ph type="sldNum" sz="quarter" idx="12"/>
          </p:nvPr>
        </p:nvSpPr>
        <p:spPr/>
        <p:txBody>
          <a:bodyPr/>
          <a:lstStyle/>
          <a:p>
            <a:fld id="{8A7A6979-0714-4377-B894-6BE4C2D6E202}" type="slidenum">
              <a:rPr lang="en-US" smtClean="0"/>
              <a:pPr/>
              <a:t>33</a:t>
            </a:fld>
            <a:endParaRPr lang="en-US" dirty="0"/>
          </a:p>
        </p:txBody>
      </p:sp>
    </p:spTree>
    <p:extLst>
      <p:ext uri="{BB962C8B-B14F-4D97-AF65-F5344CB8AC3E}">
        <p14:creationId xmlns:p14="http://schemas.microsoft.com/office/powerpoint/2010/main" val="45709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F25E-D37F-D1C6-3065-294462B03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17298-E88A-B09F-8B48-28984D4F7F9D}"/>
              </a:ext>
            </a:extLst>
          </p:cNvPr>
          <p:cNvSpPr>
            <a:spLocks noGrp="1"/>
          </p:cNvSpPr>
          <p:nvPr>
            <p:ph type="ctrTitle"/>
          </p:nvPr>
        </p:nvSpPr>
        <p:spPr/>
        <p:txBody>
          <a:bodyPr/>
          <a:lstStyle/>
          <a:p>
            <a:r>
              <a:rPr lang="en-US" dirty="0"/>
              <a:t>Modeling Human Belief Updating, Part 4</a:t>
            </a:r>
          </a:p>
        </p:txBody>
      </p:sp>
      <p:pic>
        <p:nvPicPr>
          <p:cNvPr id="11" name="Picture 10" descr="A dot-and-error-bar plot shows the average treatment effect (ATE) of AI on deviation from the diagnostic standard across five AI prediction bins.">
            <a:extLst>
              <a:ext uri="{FF2B5EF4-FFF2-40B4-BE49-F238E27FC236}">
                <a16:creationId xmlns:a16="http://schemas.microsoft.com/office/drawing/2014/main" id="{CA743B4B-4B6A-1B4D-4941-0FFC5A820C8A}"/>
              </a:ext>
            </a:extLst>
          </p:cNvPr>
          <p:cNvPicPr>
            <a:picLocks noChangeAspect="1"/>
          </p:cNvPicPr>
          <p:nvPr/>
        </p:nvPicPr>
        <p:blipFill>
          <a:blip r:embed="rId3"/>
          <a:stretch>
            <a:fillRect/>
          </a:stretch>
        </p:blipFill>
        <p:spPr>
          <a:xfrm>
            <a:off x="2951513" y="1106272"/>
            <a:ext cx="6288974" cy="4645455"/>
          </a:xfrm>
          <a:prstGeom prst="rect">
            <a:avLst/>
          </a:prstGeom>
        </p:spPr>
      </p:pic>
      <p:sp>
        <p:nvSpPr>
          <p:cNvPr id="5" name="Date Placeholder 4">
            <a:extLst>
              <a:ext uri="{FF2B5EF4-FFF2-40B4-BE49-F238E27FC236}">
                <a16:creationId xmlns:a16="http://schemas.microsoft.com/office/drawing/2014/main" id="{24E1E50B-357D-A093-C9AB-F15EA60CC518}"/>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73915F2D-07F0-5840-1B06-F901AEAD1011}"/>
              </a:ext>
            </a:extLst>
          </p:cNvPr>
          <p:cNvSpPr>
            <a:spLocks noGrp="1"/>
          </p:cNvSpPr>
          <p:nvPr>
            <p:ph type="sldNum" sz="quarter" idx="12"/>
          </p:nvPr>
        </p:nvSpPr>
        <p:spPr/>
        <p:txBody>
          <a:bodyPr/>
          <a:lstStyle/>
          <a:p>
            <a:fld id="{8A7A6979-0714-4377-B894-6BE4C2D6E202}" type="slidenum">
              <a:rPr lang="en-US" smtClean="0"/>
              <a:pPr/>
              <a:t>34</a:t>
            </a:fld>
            <a:endParaRPr lang="en-US" dirty="0"/>
          </a:p>
        </p:txBody>
      </p:sp>
    </p:spTree>
    <p:extLst>
      <p:ext uri="{BB962C8B-B14F-4D97-AF65-F5344CB8AC3E}">
        <p14:creationId xmlns:p14="http://schemas.microsoft.com/office/powerpoint/2010/main" val="3877470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EA645-9F9C-047E-C3B1-F00522701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5B372-FDD6-83A4-7729-B5081F4C0F60}"/>
              </a:ext>
            </a:extLst>
          </p:cNvPr>
          <p:cNvSpPr>
            <a:spLocks noGrp="1"/>
          </p:cNvSpPr>
          <p:nvPr>
            <p:ph type="ctrTitle"/>
          </p:nvPr>
        </p:nvSpPr>
        <p:spPr/>
        <p:txBody>
          <a:bodyPr/>
          <a:lstStyle/>
          <a:p>
            <a:r>
              <a:rPr lang="en-US" dirty="0"/>
              <a:t>Modeling Human Belief Updating, Part 5</a:t>
            </a:r>
          </a:p>
        </p:txBody>
      </p:sp>
      <p:pic>
        <p:nvPicPr>
          <p:cNvPr id="4" name="Picture 3" descr="A plot displays the average treatment effect (ATE) of AI on deviation from the diagnostic standard across five AI prediction bins.">
            <a:extLst>
              <a:ext uri="{FF2B5EF4-FFF2-40B4-BE49-F238E27FC236}">
                <a16:creationId xmlns:a16="http://schemas.microsoft.com/office/drawing/2014/main" id="{9BE29BE2-821F-5287-5D61-3D9A5023D3D9}"/>
              </a:ext>
            </a:extLst>
          </p:cNvPr>
          <p:cNvPicPr>
            <a:picLocks noChangeAspect="1"/>
          </p:cNvPicPr>
          <p:nvPr/>
        </p:nvPicPr>
        <p:blipFill>
          <a:blip r:embed="rId3"/>
          <a:stretch>
            <a:fillRect/>
          </a:stretch>
        </p:blipFill>
        <p:spPr>
          <a:xfrm>
            <a:off x="3209369" y="1192085"/>
            <a:ext cx="6279373" cy="4638363"/>
          </a:xfrm>
          <a:prstGeom prst="rect">
            <a:avLst/>
          </a:prstGeom>
        </p:spPr>
      </p:pic>
      <p:sp>
        <p:nvSpPr>
          <p:cNvPr id="5" name="Date Placeholder 4">
            <a:extLst>
              <a:ext uri="{FF2B5EF4-FFF2-40B4-BE49-F238E27FC236}">
                <a16:creationId xmlns:a16="http://schemas.microsoft.com/office/drawing/2014/main" id="{CD51E4EF-B247-12FD-3AE1-0C281B61D8F5}"/>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97CE4EC0-B515-D493-4BDF-D9FD66F5F49C}"/>
              </a:ext>
            </a:extLst>
          </p:cNvPr>
          <p:cNvSpPr>
            <a:spLocks noGrp="1"/>
          </p:cNvSpPr>
          <p:nvPr>
            <p:ph type="sldNum" sz="quarter" idx="12"/>
          </p:nvPr>
        </p:nvSpPr>
        <p:spPr/>
        <p:txBody>
          <a:bodyPr/>
          <a:lstStyle/>
          <a:p>
            <a:fld id="{8A7A6979-0714-4377-B894-6BE4C2D6E202}" type="slidenum">
              <a:rPr lang="en-US" smtClean="0"/>
              <a:pPr/>
              <a:t>35</a:t>
            </a:fld>
            <a:endParaRPr lang="en-US" dirty="0"/>
          </a:p>
        </p:txBody>
      </p:sp>
    </p:spTree>
    <p:extLst>
      <p:ext uri="{BB962C8B-B14F-4D97-AF65-F5344CB8AC3E}">
        <p14:creationId xmlns:p14="http://schemas.microsoft.com/office/powerpoint/2010/main" val="17966382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C239D-6EA3-0722-6FA2-30DDE9B83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209C9-93D9-4A50-30AA-5401424F1053}"/>
              </a:ext>
            </a:extLst>
          </p:cNvPr>
          <p:cNvSpPr>
            <a:spLocks noGrp="1"/>
          </p:cNvSpPr>
          <p:nvPr>
            <p:ph type="ctrTitle"/>
          </p:nvPr>
        </p:nvSpPr>
        <p:spPr/>
        <p:txBody>
          <a:bodyPr/>
          <a:lstStyle/>
          <a:p>
            <a:r>
              <a:rPr lang="en-US" dirty="0"/>
              <a:t>Modeling Human Belief Updating, Part 6</a:t>
            </a:r>
          </a:p>
        </p:txBody>
      </p:sp>
      <p:sp>
        <p:nvSpPr>
          <p:cNvPr id="4" name="Text Placeholder 3">
            <a:extLst>
              <a:ext uri="{FF2B5EF4-FFF2-40B4-BE49-F238E27FC236}">
                <a16:creationId xmlns:a16="http://schemas.microsoft.com/office/drawing/2014/main" id="{BA3F9EFE-2AA4-2A2F-18E7-D839991C9CCB}"/>
              </a:ext>
            </a:extLst>
          </p:cNvPr>
          <p:cNvSpPr>
            <a:spLocks noGrp="1"/>
          </p:cNvSpPr>
          <p:nvPr>
            <p:ph type="body" sz="quarter" idx="14"/>
          </p:nvPr>
        </p:nvSpPr>
        <p:spPr>
          <a:xfrm>
            <a:off x="1828800" y="1491343"/>
            <a:ext cx="8858992" cy="4152220"/>
          </a:xfrm>
        </p:spPr>
        <p:txBody>
          <a:bodyPr>
            <a:normAutofit/>
          </a:bodyPr>
          <a:lstStyle/>
          <a:p>
            <a:r>
              <a:rPr lang="en-US" sz="2400" dirty="0"/>
              <a:t>Automation neglect alone does not explain treatment effect patterns</a:t>
            </a:r>
          </a:p>
          <a:p>
            <a:endParaRPr lang="en-US" sz="2400" dirty="0"/>
          </a:p>
          <a:p>
            <a:r>
              <a:rPr lang="en-US" sz="2400" dirty="0"/>
              <a:t>With only automation neglect, humans always weakly better with AI</a:t>
            </a:r>
          </a:p>
          <a:p>
            <a:endParaRPr lang="en-US" sz="2400" dirty="0"/>
          </a:p>
          <a:p>
            <a:r>
              <a:rPr lang="en-US" sz="2400" dirty="0"/>
              <a:t>Signal dependence neglect explains the remaining gap</a:t>
            </a:r>
          </a:p>
        </p:txBody>
      </p:sp>
      <p:sp>
        <p:nvSpPr>
          <p:cNvPr id="5" name="Date Placeholder 4">
            <a:extLst>
              <a:ext uri="{FF2B5EF4-FFF2-40B4-BE49-F238E27FC236}">
                <a16:creationId xmlns:a16="http://schemas.microsoft.com/office/drawing/2014/main" id="{3A9E1805-B433-9656-EE10-77451325BA91}"/>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173EE8AF-598E-9ABD-6E99-B0A248330172}"/>
              </a:ext>
            </a:extLst>
          </p:cNvPr>
          <p:cNvSpPr>
            <a:spLocks noGrp="1"/>
          </p:cNvSpPr>
          <p:nvPr>
            <p:ph type="sldNum" sz="quarter" idx="12"/>
          </p:nvPr>
        </p:nvSpPr>
        <p:spPr/>
        <p:txBody>
          <a:bodyPr/>
          <a:lstStyle/>
          <a:p>
            <a:fld id="{8A7A6979-0714-4377-B894-6BE4C2D6E202}" type="slidenum">
              <a:rPr lang="en-US" smtClean="0"/>
              <a:pPr/>
              <a:t>36</a:t>
            </a:fld>
            <a:endParaRPr lang="en-US" dirty="0"/>
          </a:p>
        </p:txBody>
      </p:sp>
    </p:spTree>
    <p:extLst>
      <p:ext uri="{BB962C8B-B14F-4D97-AF65-F5344CB8AC3E}">
        <p14:creationId xmlns:p14="http://schemas.microsoft.com/office/powerpoint/2010/main" val="646039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38404-F4F2-A443-1B0B-E610CEB65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C569C-6F14-D332-929E-6159675F8915}"/>
              </a:ext>
            </a:extLst>
          </p:cNvPr>
          <p:cNvSpPr>
            <a:spLocks noGrp="1"/>
          </p:cNvSpPr>
          <p:nvPr>
            <p:ph type="ctrTitle"/>
          </p:nvPr>
        </p:nvSpPr>
        <p:spPr/>
        <p:txBody>
          <a:bodyPr/>
          <a:lstStyle/>
          <a:p>
            <a:r>
              <a:rPr lang="en-US" dirty="0"/>
              <a:t>Signal Dependence Neglect</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1C84127-98C0-12C6-D847-730B6D642394}"/>
                  </a:ext>
                </a:extLst>
              </p:cNvPr>
              <p:cNvSpPr>
                <a:spLocks noGrp="1"/>
              </p:cNvSpPr>
              <p:nvPr>
                <p:ph type="body" sz="quarter" idx="14"/>
              </p:nvPr>
            </p:nvSpPr>
            <p:spPr>
              <a:xfrm>
                <a:off x="1828800" y="1491343"/>
                <a:ext cx="8858992" cy="4152220"/>
              </a:xfrm>
            </p:spPr>
            <p:txBody>
              <a:bodyPr>
                <a:normAutofit lnSpcReduction="10000"/>
              </a:bodyPr>
              <a:lstStyle/>
              <a:p>
                <a:r>
                  <a:rPr lang="en-US" sz="2400" dirty="0"/>
                  <a:t>Existing model:</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r>
                        <a:rPr lang="en-US" sz="2400" b="0" i="1" smtClean="0">
                          <a:latin typeface="Cambria Math" panose="02040503050406030204" pitchFamily="18" charset="0"/>
                        </a:rPr>
                        <m:t>=</m:t>
                      </m:r>
                      <m:r>
                        <a:rPr lang="en-US" sz="2400" b="0" i="1" smtClean="0">
                          <a:latin typeface="Cambria Math" panose="02040503050406030204" pitchFamily="18" charset="0"/>
                        </a:rPr>
                        <m:t>𝑏</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=0,</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r>
                        <a:rPr lang="en-US" sz="2400" b="0" i="1" smtClean="0">
                          <a:latin typeface="Cambria Math" panose="02040503050406030204" pitchFamily="18" charset="0"/>
                        </a:rPr>
                        <m:t>+</m:t>
                      </m:r>
                      <m:r>
                        <a:rPr lang="en-US" sz="2400" b="0" i="1" smtClean="0">
                          <a:latin typeface="Cambria Math" panose="02040503050406030204" pitchFamily="18" charset="0"/>
                        </a:rPr>
                        <m:t>𝑑</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oMath>
                  </m:oMathPara>
                </a14:m>
                <a:endParaRPr lang="en-US" sz="2400" dirty="0"/>
              </a:p>
              <a:p>
                <a:endParaRPr lang="en-US" sz="2400" dirty="0"/>
              </a:p>
              <a:p>
                <a:r>
                  <a:rPr lang="en-US" sz="2400" dirty="0"/>
                  <a:t>Slight modification:</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r>
                        <a:rPr lang="en-US" sz="2400" b="0" i="1" smtClean="0">
                          <a:latin typeface="Cambria Math" panose="02040503050406030204" pitchFamily="18" charset="0"/>
                        </a:rPr>
                        <m:t>=</m:t>
                      </m:r>
                      <m:r>
                        <a:rPr lang="en-US" sz="2400" b="0" i="1" smtClean="0">
                          <a:latin typeface="Cambria Math" panose="02040503050406030204" pitchFamily="18" charset="0"/>
                        </a:rPr>
                        <m:t>𝑏</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=1</m:t>
                                  </m:r>
                                </m:e>
                              </m:d>
                            </m:num>
                            <m:den>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sub>
                                  </m:sSub>
                                </m:e>
                                <m:e>
                                  <m:r>
                                    <a:rPr lang="en-US" sz="2400" i="1">
                                      <a:latin typeface="Cambria Math" panose="02040503050406030204" pitchFamily="18" charset="0"/>
                                    </a:rPr>
                                    <m:t>𝑌</m:t>
                                  </m:r>
                                  <m:r>
                                    <a:rPr lang="en-US" sz="2400" i="1">
                                      <a:latin typeface="Cambria Math" panose="02040503050406030204" pitchFamily="18" charset="0"/>
                                    </a:rPr>
                                    <m:t>=0</m:t>
                                  </m:r>
                                </m:e>
                              </m:d>
                            </m:den>
                          </m:f>
                        </m:e>
                      </m:func>
                      <m:r>
                        <a:rPr lang="en-US" sz="2400" b="0" i="1" smtClean="0">
                          <a:latin typeface="Cambria Math" panose="02040503050406030204" pitchFamily="18" charset="0"/>
                        </a:rPr>
                        <m:t>+</m:t>
                      </m:r>
                      <m:r>
                        <a:rPr lang="en-US" sz="2400" b="0" i="1" smtClean="0">
                          <a:latin typeface="Cambria Math" panose="02040503050406030204" pitchFamily="18" charset="0"/>
                        </a:rPr>
                        <m:t>𝑑</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=1</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𝑌</m:t>
                                  </m:r>
                                  <m:r>
                                    <a:rPr lang="en-US" sz="2400" i="1">
                                      <a:latin typeface="Cambria Math" panose="02040503050406030204" pitchFamily="18" charset="0"/>
                                    </a:rPr>
                                    <m:t>=0</m:t>
                                  </m:r>
                                </m:e>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𝐻</m:t>
                                      </m:r>
                                    </m:sub>
                                  </m:sSub>
                                </m:e>
                              </m:d>
                            </m:den>
                          </m:f>
                        </m:e>
                      </m:func>
                    </m:oMath>
                  </m:oMathPara>
                </a14:m>
                <a:endParaRPr lang="en-US" sz="2400" dirty="0"/>
              </a:p>
              <a:p>
                <a:endParaRPr lang="en-US" sz="2400" dirty="0"/>
              </a:p>
              <a:p>
                <a:r>
                  <a:rPr lang="en-US" sz="2400" dirty="0"/>
                  <a:t>This model treats the AI and human signals as independent conditional on the true state</a:t>
                </a:r>
              </a:p>
              <a:p>
                <a:pPr lvl="1"/>
                <a:r>
                  <a:rPr lang="en-US" sz="2400" dirty="0"/>
                  <a:t>This is not the case here, both human and AI look at x-ray!</a:t>
                </a:r>
              </a:p>
            </p:txBody>
          </p:sp>
        </mc:Choice>
        <mc:Fallback xmlns="">
          <p:sp>
            <p:nvSpPr>
              <p:cNvPr id="4" name="Text Placeholder 3">
                <a:extLst>
                  <a:ext uri="{FF2B5EF4-FFF2-40B4-BE49-F238E27FC236}">
                    <a16:creationId xmlns:a16="http://schemas.microsoft.com/office/drawing/2014/main" id="{21C84127-98C0-12C6-D847-730B6D642394}"/>
                  </a:ext>
                </a:extLst>
              </p:cNvPr>
              <p:cNvSpPr>
                <a:spLocks noGrp="1" noRot="1" noChangeAspect="1" noMove="1" noResize="1" noEditPoints="1" noAdjustHandles="1" noChangeArrowheads="1" noChangeShapeType="1" noTextEdit="1"/>
              </p:cNvSpPr>
              <p:nvPr>
                <p:ph type="body" sz="quarter" idx="14"/>
              </p:nvPr>
            </p:nvSpPr>
            <p:spPr>
              <a:xfrm>
                <a:off x="1828800" y="1491343"/>
                <a:ext cx="8858992" cy="4152220"/>
              </a:xfrm>
              <a:blipFill>
                <a:blip r:embed="rId3"/>
                <a:stretch>
                  <a:fillRect l="-2006" t="-3049"/>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B106AF2E-EF64-A6EC-7531-A5ACD4CA70A4}"/>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1B3B709F-4DF3-3EF5-7B61-EB57EE4197AD}"/>
              </a:ext>
            </a:extLst>
          </p:cNvPr>
          <p:cNvSpPr>
            <a:spLocks noGrp="1"/>
          </p:cNvSpPr>
          <p:nvPr>
            <p:ph type="sldNum" sz="quarter" idx="12"/>
          </p:nvPr>
        </p:nvSpPr>
        <p:spPr/>
        <p:txBody>
          <a:bodyPr/>
          <a:lstStyle/>
          <a:p>
            <a:fld id="{8A7A6979-0714-4377-B894-6BE4C2D6E202}" type="slidenum">
              <a:rPr lang="en-US" smtClean="0"/>
              <a:pPr/>
              <a:t>37</a:t>
            </a:fld>
            <a:endParaRPr lang="en-US" dirty="0"/>
          </a:p>
        </p:txBody>
      </p:sp>
    </p:spTree>
    <p:extLst>
      <p:ext uri="{BB962C8B-B14F-4D97-AF65-F5344CB8AC3E}">
        <p14:creationId xmlns:p14="http://schemas.microsoft.com/office/powerpoint/2010/main" val="72115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1D92F-5952-FCAA-22C3-4E93D3FA1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BACBA-6FD7-3E1E-D0D1-3F953F127BD0}"/>
              </a:ext>
            </a:extLst>
          </p:cNvPr>
          <p:cNvSpPr>
            <a:spLocks noGrp="1"/>
          </p:cNvSpPr>
          <p:nvPr>
            <p:ph type="ctrTitle"/>
          </p:nvPr>
        </p:nvSpPr>
        <p:spPr/>
        <p:txBody>
          <a:bodyPr/>
          <a:lstStyle/>
          <a:p>
            <a:r>
              <a:rPr lang="en-US" dirty="0"/>
              <a:t>Signal Dependence Neglect, Continued</a:t>
            </a:r>
          </a:p>
        </p:txBody>
      </p:sp>
      <p:pic>
        <p:nvPicPr>
          <p:cNvPr id="7" name="Picture 6" descr="A plot shows the average treatment effect (ATE) of AI on deviation from the diagnostic standard across five AI-prediction bins.">
            <a:extLst>
              <a:ext uri="{FF2B5EF4-FFF2-40B4-BE49-F238E27FC236}">
                <a16:creationId xmlns:a16="http://schemas.microsoft.com/office/drawing/2014/main" id="{0DF9BA5B-2AC2-B8D4-CA51-D21994DE86C8}"/>
              </a:ext>
            </a:extLst>
          </p:cNvPr>
          <p:cNvPicPr>
            <a:picLocks noChangeAspect="1"/>
          </p:cNvPicPr>
          <p:nvPr/>
        </p:nvPicPr>
        <p:blipFill>
          <a:blip r:embed="rId3"/>
          <a:stretch>
            <a:fillRect/>
          </a:stretch>
        </p:blipFill>
        <p:spPr>
          <a:xfrm>
            <a:off x="3136344" y="1158039"/>
            <a:ext cx="6300849" cy="4654226"/>
          </a:xfrm>
          <a:prstGeom prst="rect">
            <a:avLst/>
          </a:prstGeom>
        </p:spPr>
      </p:pic>
      <p:sp>
        <p:nvSpPr>
          <p:cNvPr id="5" name="Date Placeholder 4">
            <a:extLst>
              <a:ext uri="{FF2B5EF4-FFF2-40B4-BE49-F238E27FC236}">
                <a16:creationId xmlns:a16="http://schemas.microsoft.com/office/drawing/2014/main" id="{A92E076E-8434-6D50-91F2-C015FC33D886}"/>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338727FA-E5FA-F373-D6A2-25C38BC80CA3}"/>
              </a:ext>
            </a:extLst>
          </p:cNvPr>
          <p:cNvSpPr>
            <a:spLocks noGrp="1"/>
          </p:cNvSpPr>
          <p:nvPr>
            <p:ph type="sldNum" sz="quarter" idx="12"/>
          </p:nvPr>
        </p:nvSpPr>
        <p:spPr/>
        <p:txBody>
          <a:bodyPr/>
          <a:lstStyle/>
          <a:p>
            <a:fld id="{8A7A6979-0714-4377-B894-6BE4C2D6E202}" type="slidenum">
              <a:rPr lang="en-US" smtClean="0"/>
              <a:pPr/>
              <a:t>38</a:t>
            </a:fld>
            <a:endParaRPr lang="en-US" dirty="0"/>
          </a:p>
        </p:txBody>
      </p:sp>
    </p:spTree>
    <p:extLst>
      <p:ext uri="{BB962C8B-B14F-4D97-AF65-F5344CB8AC3E}">
        <p14:creationId xmlns:p14="http://schemas.microsoft.com/office/powerpoint/2010/main" val="1464545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DC577-C6D2-49B4-824E-587BCD37D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CD8F0-CCEE-02CB-E970-6F928644D725}"/>
              </a:ext>
            </a:extLst>
          </p:cNvPr>
          <p:cNvSpPr>
            <a:spLocks noGrp="1"/>
          </p:cNvSpPr>
          <p:nvPr>
            <p:ph type="ctrTitle"/>
          </p:nvPr>
        </p:nvSpPr>
        <p:spPr/>
        <p:txBody>
          <a:bodyPr/>
          <a:lstStyle/>
          <a:p>
            <a:r>
              <a:rPr lang="en-US" dirty="0"/>
              <a:t>Takeaways, Biased Belief Updating</a:t>
            </a:r>
          </a:p>
        </p:txBody>
      </p:sp>
      <p:sp>
        <p:nvSpPr>
          <p:cNvPr id="4" name="Text Placeholder 3">
            <a:extLst>
              <a:ext uri="{FF2B5EF4-FFF2-40B4-BE49-F238E27FC236}">
                <a16:creationId xmlns:a16="http://schemas.microsoft.com/office/drawing/2014/main" id="{F69FE971-507B-F479-A19F-B957F5F7150F}"/>
              </a:ext>
            </a:extLst>
          </p:cNvPr>
          <p:cNvSpPr>
            <a:spLocks noGrp="1"/>
          </p:cNvSpPr>
          <p:nvPr>
            <p:ph type="body" sz="quarter" idx="14"/>
          </p:nvPr>
        </p:nvSpPr>
        <p:spPr>
          <a:xfrm>
            <a:off x="1828800" y="1491343"/>
            <a:ext cx="8858992" cy="4152220"/>
          </a:xfrm>
        </p:spPr>
        <p:txBody>
          <a:bodyPr>
            <a:normAutofit fontScale="92500" lnSpcReduction="20000"/>
          </a:bodyPr>
          <a:lstStyle/>
          <a:p>
            <a:r>
              <a:rPr lang="en-US" sz="2400" dirty="0"/>
              <a:t>Humans incorrectly incorporate AI information in their assessment</a:t>
            </a:r>
          </a:p>
          <a:p>
            <a:pPr lvl="1"/>
            <a:r>
              <a:rPr lang="en-US" sz="2400" dirty="0"/>
              <a:t>Underweight the AI relative to their own information</a:t>
            </a:r>
          </a:p>
          <a:p>
            <a:pPr lvl="1"/>
            <a:r>
              <a:rPr lang="en-US" sz="2400" dirty="0"/>
              <a:t>Treat the AI as conditionally independent of their own information</a:t>
            </a:r>
            <a:br>
              <a:rPr lang="en-US" sz="2400" dirty="0"/>
            </a:br>
            <a:r>
              <a:rPr lang="en-US" sz="2400" dirty="0"/>
              <a:t>	</a:t>
            </a:r>
          </a:p>
          <a:p>
            <a:r>
              <a:rPr lang="en-US" sz="2400" dirty="0"/>
              <a:t>Results in human assessments being </a:t>
            </a:r>
            <a:r>
              <a:rPr lang="en-US" sz="2400" b="1" dirty="0"/>
              <a:t>worse</a:t>
            </a:r>
            <a:r>
              <a:rPr lang="en-US" sz="2400" dirty="0"/>
              <a:t> with AI when the AI is uncertain!</a:t>
            </a:r>
          </a:p>
          <a:p>
            <a:endParaRPr lang="en-US" sz="2400" dirty="0"/>
          </a:p>
          <a:p>
            <a:r>
              <a:rPr lang="en-US" sz="2400" dirty="0"/>
              <a:t>These biases limit the benefit of giving humans access to AI tools</a:t>
            </a:r>
          </a:p>
          <a:p>
            <a:pPr lvl="1"/>
            <a:r>
              <a:rPr lang="en-US" sz="2400" dirty="0"/>
              <a:t>If you want human to make final decision =&gt; Design AI for humans!</a:t>
            </a:r>
          </a:p>
          <a:p>
            <a:endParaRPr lang="en-US" sz="2400" dirty="0"/>
          </a:p>
          <a:p>
            <a:r>
              <a:rPr lang="en-US" sz="2400" dirty="0"/>
              <a:t>Question: Is there anything else we can do?</a:t>
            </a:r>
          </a:p>
          <a:p>
            <a:pPr lvl="1"/>
            <a:r>
              <a:rPr lang="en-US" sz="2400" dirty="0"/>
              <a:t>Give the human signal to the AI algorithm as an input</a:t>
            </a:r>
          </a:p>
          <a:p>
            <a:pPr lvl="1"/>
            <a:r>
              <a:rPr lang="en-US" sz="2400" dirty="0"/>
              <a:t>Train a new algorithm to decide when to delegate to humans / AI</a:t>
            </a:r>
          </a:p>
        </p:txBody>
      </p:sp>
      <p:sp>
        <p:nvSpPr>
          <p:cNvPr id="5" name="Date Placeholder 4">
            <a:extLst>
              <a:ext uri="{FF2B5EF4-FFF2-40B4-BE49-F238E27FC236}">
                <a16:creationId xmlns:a16="http://schemas.microsoft.com/office/drawing/2014/main" id="{581A01D0-5ABD-6D0C-B78F-4E8E9710D5A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CEC506E1-F427-FA8A-03F7-E181B2B5C0B8}"/>
              </a:ext>
            </a:extLst>
          </p:cNvPr>
          <p:cNvSpPr>
            <a:spLocks noGrp="1"/>
          </p:cNvSpPr>
          <p:nvPr>
            <p:ph type="sldNum" sz="quarter" idx="12"/>
          </p:nvPr>
        </p:nvSpPr>
        <p:spPr/>
        <p:txBody>
          <a:bodyPr/>
          <a:lstStyle/>
          <a:p>
            <a:fld id="{8A7A6979-0714-4377-B894-6BE4C2D6E202}" type="slidenum">
              <a:rPr lang="en-US" smtClean="0"/>
              <a:pPr/>
              <a:t>39</a:t>
            </a:fld>
            <a:endParaRPr lang="en-US" dirty="0"/>
          </a:p>
        </p:txBody>
      </p:sp>
    </p:spTree>
    <p:extLst>
      <p:ext uri="{BB962C8B-B14F-4D97-AF65-F5344CB8AC3E}">
        <p14:creationId xmlns:p14="http://schemas.microsoft.com/office/powerpoint/2010/main" val="191939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F3468-E415-BC0B-C9F5-A46CFAAB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4FFAC-A503-2CAE-3809-CAD743A8109F}"/>
              </a:ext>
            </a:extLst>
          </p:cNvPr>
          <p:cNvSpPr>
            <a:spLocks noGrp="1"/>
          </p:cNvSpPr>
          <p:nvPr>
            <p:ph type="ctrTitle"/>
          </p:nvPr>
        </p:nvSpPr>
        <p:spPr>
          <a:xfrm>
            <a:off x="2647199" y="1501742"/>
            <a:ext cx="7300940" cy="1329595"/>
          </a:xfrm>
        </p:spPr>
        <p:txBody>
          <a:bodyPr/>
          <a:lstStyle/>
          <a:p>
            <a:r>
              <a:rPr lang="en-US" dirty="0"/>
              <a:t>Delegation vs collaboration</a:t>
            </a:r>
          </a:p>
        </p:txBody>
      </p:sp>
      <p:sp>
        <p:nvSpPr>
          <p:cNvPr id="4" name="Date Placeholder 3">
            <a:extLst>
              <a:ext uri="{FF2B5EF4-FFF2-40B4-BE49-F238E27FC236}">
                <a16:creationId xmlns:a16="http://schemas.microsoft.com/office/drawing/2014/main" id="{E972FA0C-8647-D09B-93AF-9558C7453321}"/>
              </a:ext>
            </a:extLst>
          </p:cNvPr>
          <p:cNvSpPr>
            <a:spLocks noGrp="1"/>
          </p:cNvSpPr>
          <p:nvPr>
            <p:ph type="dt" sz="half" idx="10"/>
          </p:nvPr>
        </p:nvSpPr>
        <p:spPr/>
        <p:txBody>
          <a:bodyPr/>
          <a:lstStyle/>
          <a:p>
            <a:fld id="{D47A9A36-4EB0-BF46-AE48-7CDA251B954B}" type="datetime1">
              <a:rPr lang="en-US" smtClean="0"/>
              <a:pPr/>
              <a:t>12/09/2025</a:t>
            </a:fld>
            <a:endParaRPr lang="en-US" dirty="0"/>
          </a:p>
        </p:txBody>
      </p:sp>
      <p:sp>
        <p:nvSpPr>
          <p:cNvPr id="5" name="Slide Number Placeholder 4">
            <a:extLst>
              <a:ext uri="{FF2B5EF4-FFF2-40B4-BE49-F238E27FC236}">
                <a16:creationId xmlns:a16="http://schemas.microsoft.com/office/drawing/2014/main" id="{93ADB711-5D56-51F5-65F9-92EBEBB49399}"/>
              </a:ext>
            </a:extLst>
          </p:cNvPr>
          <p:cNvSpPr>
            <a:spLocks noGrp="1"/>
          </p:cNvSpPr>
          <p:nvPr>
            <p:ph type="sldNum" sz="quarter" idx="12"/>
          </p:nvPr>
        </p:nvSpPr>
        <p:spPr/>
        <p:txBody>
          <a:bodyPr/>
          <a:lstStyle/>
          <a:p>
            <a:fld id="{8A7A6979-0714-4377-B894-6BE4C2D6E202}" type="slidenum">
              <a:rPr lang="en-US" smtClean="0"/>
              <a:pPr/>
              <a:t>40</a:t>
            </a:fld>
            <a:endParaRPr lang="en-US" dirty="0"/>
          </a:p>
        </p:txBody>
      </p:sp>
    </p:spTree>
    <p:extLst>
      <p:ext uri="{BB962C8B-B14F-4D97-AF65-F5344CB8AC3E}">
        <p14:creationId xmlns:p14="http://schemas.microsoft.com/office/powerpoint/2010/main" val="23278198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4E75B-8DC1-1BCF-E75C-344328572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69ABC-46CD-3102-71F4-ED1B0E610EB6}"/>
              </a:ext>
            </a:extLst>
          </p:cNvPr>
          <p:cNvSpPr>
            <a:spLocks noGrp="1"/>
          </p:cNvSpPr>
          <p:nvPr>
            <p:ph type="ctrTitle"/>
          </p:nvPr>
        </p:nvSpPr>
        <p:spPr/>
        <p:txBody>
          <a:bodyPr/>
          <a:lstStyle/>
          <a:p>
            <a:r>
              <a:rPr lang="en-US" dirty="0"/>
              <a:t>Learning to Delegate</a:t>
            </a:r>
          </a:p>
        </p:txBody>
      </p:sp>
      <p:sp>
        <p:nvSpPr>
          <p:cNvPr id="4" name="Text Placeholder 3">
            <a:extLst>
              <a:ext uri="{FF2B5EF4-FFF2-40B4-BE49-F238E27FC236}">
                <a16:creationId xmlns:a16="http://schemas.microsoft.com/office/drawing/2014/main" id="{2EB14C38-2962-CD5F-7E53-6D39BB648999}"/>
              </a:ext>
            </a:extLst>
          </p:cNvPr>
          <p:cNvSpPr>
            <a:spLocks noGrp="1"/>
          </p:cNvSpPr>
          <p:nvPr>
            <p:ph type="body" sz="quarter" idx="14"/>
          </p:nvPr>
        </p:nvSpPr>
        <p:spPr>
          <a:xfrm>
            <a:off x="1828800" y="1491343"/>
            <a:ext cx="8858992" cy="4152220"/>
          </a:xfrm>
        </p:spPr>
        <p:txBody>
          <a:bodyPr>
            <a:normAutofit/>
          </a:bodyPr>
          <a:lstStyle/>
          <a:p>
            <a:r>
              <a:rPr lang="en-US" sz="2400" dirty="0"/>
              <a:t>Question: How would you design a system to take advantage of the strengths of both humans and AI?</a:t>
            </a:r>
          </a:p>
          <a:p>
            <a:pPr lvl="1"/>
            <a:r>
              <a:rPr lang="en-US" sz="2400" dirty="0"/>
              <a:t>Hint: We can observe the AI signal for free</a:t>
            </a:r>
          </a:p>
          <a:p>
            <a:endParaRPr lang="en-US" sz="2400" dirty="0"/>
          </a:p>
          <a:p>
            <a:r>
              <a:rPr lang="en-US" sz="2400" dirty="0"/>
              <a:t>Our approach: Design a “delegator” that chooses whether to have a case assessed by:</a:t>
            </a:r>
          </a:p>
          <a:p>
            <a:pPr lvl="1"/>
            <a:r>
              <a:rPr lang="en-US" sz="2400" dirty="0"/>
              <a:t>Human alone</a:t>
            </a:r>
          </a:p>
          <a:p>
            <a:pPr lvl="1"/>
            <a:r>
              <a:rPr lang="en-US" sz="2400" dirty="0"/>
              <a:t>Human with access to AI</a:t>
            </a:r>
          </a:p>
          <a:p>
            <a:pPr lvl="1"/>
            <a:r>
              <a:rPr lang="en-US" sz="2400" dirty="0"/>
              <a:t>Fully automate the case </a:t>
            </a:r>
          </a:p>
        </p:txBody>
      </p:sp>
      <p:sp>
        <p:nvSpPr>
          <p:cNvPr id="5" name="Date Placeholder 4">
            <a:extLst>
              <a:ext uri="{FF2B5EF4-FFF2-40B4-BE49-F238E27FC236}">
                <a16:creationId xmlns:a16="http://schemas.microsoft.com/office/drawing/2014/main" id="{D7EE8185-3853-ABCF-8123-72C7CF4D33E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984C0BD3-4A2D-741F-BA69-F2164CED520F}"/>
              </a:ext>
            </a:extLst>
          </p:cNvPr>
          <p:cNvSpPr>
            <a:spLocks noGrp="1"/>
          </p:cNvSpPr>
          <p:nvPr>
            <p:ph type="sldNum" sz="quarter" idx="12"/>
          </p:nvPr>
        </p:nvSpPr>
        <p:spPr/>
        <p:txBody>
          <a:bodyPr/>
          <a:lstStyle/>
          <a:p>
            <a:fld id="{8A7A6979-0714-4377-B894-6BE4C2D6E202}" type="slidenum">
              <a:rPr lang="en-US" smtClean="0"/>
              <a:pPr/>
              <a:t>41</a:t>
            </a:fld>
            <a:endParaRPr lang="en-US" dirty="0"/>
          </a:p>
        </p:txBody>
      </p:sp>
    </p:spTree>
    <p:extLst>
      <p:ext uri="{BB962C8B-B14F-4D97-AF65-F5344CB8AC3E}">
        <p14:creationId xmlns:p14="http://schemas.microsoft.com/office/powerpoint/2010/main" val="2739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38F7B-1F7A-1502-96AE-0465F3671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7C7BF-F15D-DCEA-D109-6D7B660B01A9}"/>
              </a:ext>
            </a:extLst>
          </p:cNvPr>
          <p:cNvSpPr>
            <a:spLocks noGrp="1"/>
          </p:cNvSpPr>
          <p:nvPr>
            <p:ph type="ctrTitle"/>
          </p:nvPr>
        </p:nvSpPr>
        <p:spPr/>
        <p:txBody>
          <a:bodyPr/>
          <a:lstStyle/>
          <a:p>
            <a:r>
              <a:rPr lang="en-US" dirty="0"/>
              <a:t>Delegation Problem</a:t>
            </a:r>
          </a:p>
        </p:txBody>
      </p:sp>
      <p:sp>
        <p:nvSpPr>
          <p:cNvPr id="4" name="Text Placeholder 3">
            <a:extLst>
              <a:ext uri="{FF2B5EF4-FFF2-40B4-BE49-F238E27FC236}">
                <a16:creationId xmlns:a16="http://schemas.microsoft.com/office/drawing/2014/main" id="{92E9EC5F-49F1-899C-7C85-D7DFC44E597B}"/>
              </a:ext>
            </a:extLst>
          </p:cNvPr>
          <p:cNvSpPr>
            <a:spLocks noGrp="1"/>
          </p:cNvSpPr>
          <p:nvPr>
            <p:ph type="body" sz="quarter" idx="14"/>
          </p:nvPr>
        </p:nvSpPr>
        <p:spPr>
          <a:xfrm>
            <a:off x="1828800" y="1491343"/>
            <a:ext cx="8858992" cy="656497"/>
          </a:xfrm>
        </p:spPr>
        <p:txBody>
          <a:bodyPr>
            <a:normAutofit/>
          </a:bodyPr>
          <a:lstStyle/>
          <a:p>
            <a:r>
              <a:rPr lang="en-US" sz="2400" dirty="0"/>
              <a:t>Choose the modality (H, H+AI, AI) that minimizes expected loss:</a:t>
            </a:r>
          </a:p>
          <a:p>
            <a:pPr marL="0" indent="0">
              <a:buNone/>
            </a:pPr>
            <a:endParaRPr lang="en-US" sz="2400" dirty="0"/>
          </a:p>
          <a:p>
            <a:pPr marL="0" indent="0">
              <a:buNone/>
            </a:pPr>
            <a:endParaRPr lang="en-US" sz="2400" dirty="0"/>
          </a:p>
        </p:txBody>
      </p:sp>
      <p:sp>
        <p:nvSpPr>
          <p:cNvPr id="14" name="TextBox 13">
            <a:extLst>
              <a:ext uri="{FF2B5EF4-FFF2-40B4-BE49-F238E27FC236}">
                <a16:creationId xmlns:a16="http://schemas.microsoft.com/office/drawing/2014/main" id="{7033504E-A2E3-AA7D-BB80-F2535448E797}"/>
              </a:ext>
            </a:extLst>
          </p:cNvPr>
          <p:cNvSpPr txBox="1"/>
          <p:nvPr/>
        </p:nvSpPr>
        <p:spPr>
          <a:xfrm>
            <a:off x="4865994" y="2135580"/>
            <a:ext cx="1755609" cy="338554"/>
          </a:xfrm>
          <a:prstGeom prst="rect">
            <a:avLst/>
          </a:prstGeom>
          <a:noFill/>
        </p:spPr>
        <p:txBody>
          <a:bodyPr wrap="none" rtlCol="0">
            <a:spAutoFit/>
          </a:bodyPr>
          <a:lstStyle/>
          <a:p>
            <a:r>
              <a:rPr lang="en-US" sz="1600" dirty="0"/>
              <a:t>Decision Loss in $</a:t>
            </a:r>
          </a:p>
        </p:txBody>
      </p:sp>
      <p:sp>
        <p:nvSpPr>
          <p:cNvPr id="12" name="Left Brace 11">
            <a:extLst>
              <a:ext uri="{FF2B5EF4-FFF2-40B4-BE49-F238E27FC236}">
                <a16:creationId xmlns:a16="http://schemas.microsoft.com/office/drawing/2014/main" id="{DF628AEE-2B53-B46A-1F0C-670F7600E663}"/>
              </a:ext>
              <a:ext uri="{C183D7F6-B498-43B3-948B-1728B52AA6E4}">
                <adec:decorative xmlns:adec="http://schemas.microsoft.com/office/drawing/2017/decorative" val="1"/>
              </a:ext>
            </a:extLst>
          </p:cNvPr>
          <p:cNvSpPr/>
          <p:nvPr/>
        </p:nvSpPr>
        <p:spPr>
          <a:xfrm rot="5400000">
            <a:off x="5694048" y="1996111"/>
            <a:ext cx="188263" cy="10918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85507A3-394C-CCB4-6D6B-F3F9B8D62ECB}"/>
                  </a:ext>
                </a:extLst>
              </p:cNvPr>
              <p:cNvSpPr txBox="1"/>
              <p:nvPr/>
            </p:nvSpPr>
            <p:spPr>
              <a:xfrm>
                <a:off x="4607459" y="2564391"/>
                <a:ext cx="1813893" cy="52841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limLow>
                            <m:limLowPr>
                              <m:ctrlPr>
                                <a:rPr lang="en-US" sz="2400" i="1" smtClean="0">
                                  <a:latin typeface="Cambria Math" panose="02040503050406030204" pitchFamily="18" charset="0"/>
                                </a:rPr>
                              </m:ctrlPr>
                            </m:limLowPr>
                            <m:e>
                              <m:r>
                                <m:rPr>
                                  <m:sty m:val="p"/>
                                </m:rPr>
                                <a:rPr lang="en-US" sz="2400" i="0" smtClean="0">
                                  <a:latin typeface="Cambria Math" panose="02040503050406030204" pitchFamily="18" charset="0"/>
                                </a:rPr>
                                <m:t>min</m:t>
                              </m:r>
                            </m:e>
                            <m:lim>
                              <m:r>
                                <a:rPr lang="en-US" sz="2400" i="1" smtClean="0">
                                  <a:latin typeface="Cambria Math" panose="02040503050406030204" pitchFamily="18" charset="0"/>
                                  <a:ea typeface="Cambria Math" panose="02040503050406030204" pitchFamily="18" charset="0"/>
                                </a:rPr>
                                <m:t>𝜏</m:t>
                              </m:r>
                              <m:r>
                                <a:rPr lang="en-US" sz="2400" b="0" i="1" smtClean="0">
                                  <a:latin typeface="Cambria Math" panose="02040503050406030204" pitchFamily="18" charset="0"/>
                                  <a:ea typeface="Cambria Math" panose="02040503050406030204" pitchFamily="18" charset="0"/>
                                </a:rPr>
                                <m:t>(∙)</m:t>
                              </m:r>
                            </m:lim>
                          </m:limLow>
                        </m:fName>
                        <m:e>
                          <m:r>
                            <a:rPr lang="en-US" sz="2400" b="0" i="1" smtClean="0">
                              <a:latin typeface="Cambria Math" panose="02040503050406030204" pitchFamily="18" charset="0"/>
                            </a:rPr>
                            <m:t>𝑚</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𝜏</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𝑠</m:t>
                                  </m:r>
                                </m:e>
                                <m:sub>
                                  <m:r>
                                    <a:rPr lang="en-US" sz="2400" b="0" i="1" smtClean="0">
                                      <a:latin typeface="Cambria Math" panose="02040503050406030204" pitchFamily="18" charset="0"/>
                                      <a:ea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sub>
                              </m:sSub>
                              <m:r>
                                <a:rPr lang="en-US" sz="2400" b="0" i="1" smtClean="0">
                                  <a:latin typeface="Cambria Math" panose="02040503050406030204" pitchFamily="18" charset="0"/>
                                  <a:ea typeface="Cambria Math" panose="02040503050406030204" pitchFamily="18" charset="0"/>
                                </a:rPr>
                                <m:t>)</m:t>
                              </m:r>
                            </m:sub>
                          </m:sSub>
                        </m:e>
                      </m:func>
                    </m:oMath>
                  </m:oMathPara>
                </a14:m>
                <a:endParaRPr lang="en-US" sz="2400" dirty="0"/>
              </a:p>
            </p:txBody>
          </p:sp>
        </mc:Choice>
        <mc:Fallback>
          <p:sp>
            <p:nvSpPr>
              <p:cNvPr id="10" name="TextBox 9">
                <a:extLst>
                  <a:ext uri="{FF2B5EF4-FFF2-40B4-BE49-F238E27FC236}">
                    <a16:creationId xmlns:a16="http://schemas.microsoft.com/office/drawing/2014/main" id="{485507A3-394C-CCB4-6D6B-F3F9B8D62ECB}"/>
                  </a:ext>
                </a:extLst>
              </p:cNvPr>
              <p:cNvSpPr txBox="1">
                <a:spLocks noRot="1" noChangeAspect="1" noMove="1" noResize="1" noEditPoints="1" noAdjustHandles="1" noChangeArrowheads="1" noChangeShapeType="1" noTextEdit="1"/>
              </p:cNvSpPr>
              <p:nvPr/>
            </p:nvSpPr>
            <p:spPr>
              <a:xfrm>
                <a:off x="4607459" y="2564391"/>
                <a:ext cx="1813893" cy="528414"/>
              </a:xfrm>
              <a:prstGeom prst="rect">
                <a:avLst/>
              </a:prstGeom>
              <a:blipFill>
                <a:blip r:embed="rId3"/>
                <a:stretch>
                  <a:fillRect l="-3030" r="-2694" b="-19767"/>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1560B42-8B27-E0D7-74E1-02997899FA77}"/>
              </a:ext>
            </a:extLst>
          </p:cNvPr>
          <p:cNvSpPr txBox="1"/>
          <p:nvPr/>
        </p:nvSpPr>
        <p:spPr>
          <a:xfrm>
            <a:off x="6621603" y="2142694"/>
            <a:ext cx="1477712" cy="338554"/>
          </a:xfrm>
          <a:prstGeom prst="rect">
            <a:avLst/>
          </a:prstGeom>
          <a:noFill/>
        </p:spPr>
        <p:txBody>
          <a:bodyPr wrap="none" rtlCol="0">
            <a:spAutoFit/>
          </a:bodyPr>
          <a:lstStyle/>
          <a:p>
            <a:r>
              <a:rPr lang="en-US" sz="1600" dirty="0"/>
              <a:t>Effort Cost in $</a:t>
            </a:r>
          </a:p>
        </p:txBody>
      </p:sp>
      <p:sp>
        <p:nvSpPr>
          <p:cNvPr id="13" name="Left Brace 12">
            <a:extLst>
              <a:ext uri="{FF2B5EF4-FFF2-40B4-BE49-F238E27FC236}">
                <a16:creationId xmlns:a16="http://schemas.microsoft.com/office/drawing/2014/main" id="{05D37E38-E955-0FF5-F156-CC325581FB88}"/>
              </a:ext>
              <a:ext uri="{C183D7F6-B498-43B3-948B-1728B52AA6E4}">
                <adec:decorative xmlns:adec="http://schemas.microsoft.com/office/drawing/2017/decorative" val="1"/>
              </a:ext>
            </a:extLst>
          </p:cNvPr>
          <p:cNvSpPr/>
          <p:nvPr/>
        </p:nvSpPr>
        <p:spPr>
          <a:xfrm rot="5400000">
            <a:off x="7218538" y="1938159"/>
            <a:ext cx="169528" cy="12265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B4BF881-75AE-800F-59D2-228C1D8450B8}"/>
                  </a:ext>
                </a:extLst>
              </p:cNvPr>
              <p:cNvSpPr txBox="1"/>
              <p:nvPr/>
            </p:nvSpPr>
            <p:spPr>
              <a:xfrm>
                <a:off x="6421352" y="2564391"/>
                <a:ext cx="1495218" cy="49007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en-US" sz="2400" b="0" i="1" smtClean="0">
                          <a:latin typeface="Cambria Math" panose="02040503050406030204" pitchFamily="18" charset="0"/>
                        </a:rPr>
                        <m:t> </m:t>
                      </m:r>
                      <m:r>
                        <a:rPr lang="en-US" sz="2400" i="1">
                          <a:latin typeface="Cambria Math" panose="02040503050406030204" pitchFamily="18" charset="0"/>
                        </a:rPr>
                        <m:t>𝑤</m:t>
                      </m:r>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𝑖</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𝜏</m:t>
                              </m:r>
                            </m:e>
                            <m: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𝐴</m:t>
                                  </m:r>
                                  <m:r>
                                    <a:rPr lang="en-US" sz="2400" i="1">
                                      <a:latin typeface="Cambria Math" panose="02040503050406030204" pitchFamily="18" charset="0"/>
                                    </a:rPr>
                                    <m:t>,</m:t>
                                  </m:r>
                                  <m:r>
                                    <a:rPr lang="en-US" sz="2400" i="1">
                                      <a:latin typeface="Cambria Math" panose="02040503050406030204" pitchFamily="18" charset="0"/>
                                    </a:rPr>
                                    <m:t>𝑖</m:t>
                                  </m:r>
                                </m:sub>
                              </m:sSub>
                              <m:r>
                                <a:rPr lang="en-US" sz="2400" i="1">
                                  <a:latin typeface="Cambria Math" panose="02040503050406030204" pitchFamily="18" charset="0"/>
                                </a:rPr>
                                <m:t>)</m:t>
                              </m:r>
                            </m:sub>
                          </m:sSub>
                        </m:sub>
                      </m:sSub>
                    </m:oMath>
                  </m:oMathPara>
                </a14:m>
                <a:endParaRPr lang="en-US" sz="2400" dirty="0"/>
              </a:p>
            </p:txBody>
          </p:sp>
        </mc:Choice>
        <mc:Fallback>
          <p:sp>
            <p:nvSpPr>
              <p:cNvPr id="11" name="TextBox 10">
                <a:extLst>
                  <a:ext uri="{FF2B5EF4-FFF2-40B4-BE49-F238E27FC236}">
                    <a16:creationId xmlns:a16="http://schemas.microsoft.com/office/drawing/2014/main" id="{2B4BF881-75AE-800F-59D2-228C1D8450B8}"/>
                  </a:ext>
                </a:extLst>
              </p:cNvPr>
              <p:cNvSpPr txBox="1">
                <a:spLocks noRot="1" noChangeAspect="1" noMove="1" noResize="1" noEditPoints="1" noAdjustHandles="1" noChangeArrowheads="1" noChangeShapeType="1" noTextEdit="1"/>
              </p:cNvSpPr>
              <p:nvPr/>
            </p:nvSpPr>
            <p:spPr>
              <a:xfrm>
                <a:off x="6421352" y="2564391"/>
                <a:ext cx="1495218" cy="490071"/>
              </a:xfrm>
              <a:prstGeom prst="rect">
                <a:avLst/>
              </a:prstGeom>
              <a:blipFill>
                <a:blip r:embed="rId4"/>
                <a:stretch>
                  <a:fillRect l="-3659" r="-1220" b="-87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A9B13F9-7615-F81F-FE4A-F87E8AF0F2B6}"/>
                  </a:ext>
                  <a:ext uri="{C183D7F6-B498-43B3-948B-1728B52AA6E4}">
                    <adec:decorative xmlns:adec="http://schemas.microsoft.com/office/drawing/2017/decorative" val="0"/>
                  </a:ext>
                </a:extLst>
              </p:cNvPr>
              <p:cNvSpPr txBox="1"/>
              <p:nvPr/>
            </p:nvSpPr>
            <p:spPr>
              <a:xfrm>
                <a:off x="2107520" y="3285186"/>
                <a:ext cx="8669418" cy="1938992"/>
              </a:xfrm>
              <a:prstGeom prst="rect">
                <a:avLst/>
              </a:prstGeom>
              <a:noFill/>
            </p:spPr>
            <p:txBody>
              <a:bodyPr wrap="square">
                <a:spAutoFit/>
              </a:bodyPr>
              <a:lstStyle/>
              <a:p>
                <a14:m>
                  <m:oMath xmlns:m="http://schemas.openxmlformats.org/officeDocument/2006/math">
                    <m:sSub>
                      <m:sSubPr>
                        <m:ctrlPr>
                          <a:rPr lang="en-US" sz="2400" b="0" i="1" smtClean="0"/>
                        </m:ctrlPr>
                      </m:sSubPr>
                      <m:e>
                        <m:r>
                          <a:rPr lang="en-US" sz="2400" b="0" i="1" smtClean="0"/>
                          <m:t>𝑉</m:t>
                        </m:r>
                      </m:e>
                      <m:sub>
                        <m:r>
                          <a:rPr lang="en-US" sz="2400" b="0" i="1" smtClean="0"/>
                          <m:t>𝑖</m:t>
                        </m:r>
                        <m:r>
                          <a:rPr lang="en-US" sz="2400" b="0" i="1" smtClean="0"/>
                          <m:t>𝜏</m:t>
                        </m:r>
                      </m:sub>
                    </m:sSub>
                    <m:d>
                      <m:dPr>
                        <m:ctrlPr>
                          <a:rPr lang="en-US" sz="2400" b="0" i="1" smtClean="0"/>
                        </m:ctrlPr>
                      </m:dPr>
                      <m:e>
                        <m:sSub>
                          <m:sSubPr>
                            <m:ctrlPr>
                              <a:rPr lang="en-US" sz="2400" b="0" i="1" smtClean="0"/>
                            </m:ctrlPr>
                          </m:sSubPr>
                          <m:e>
                            <m:r>
                              <a:rPr lang="en-US" sz="2400" b="0" i="1" smtClean="0"/>
                              <m:t>𝑠</m:t>
                            </m:r>
                          </m:e>
                          <m:sub>
                            <m:r>
                              <a:rPr lang="en-US" sz="2400" b="0" i="1" smtClean="0"/>
                              <m:t>𝐴</m:t>
                            </m:r>
                          </m:sub>
                        </m:sSub>
                      </m:e>
                    </m:d>
                    <m:r>
                      <a:rPr lang="en-US" sz="2400" b="0" i="1" smtClean="0"/>
                      <m:t>=</m:t>
                    </m:r>
                    <m:r>
                      <a:rPr lang="en-US" sz="2400" b="0" i="1" smtClean="0"/>
                      <m:t>𝐸</m:t>
                    </m:r>
                    <m:d>
                      <m:dPr>
                        <m:begChr m:val="["/>
                        <m:endChr m:val="]"/>
                        <m:ctrlPr>
                          <a:rPr lang="en-US" sz="2400" b="0" i="1" smtClean="0"/>
                        </m:ctrlPr>
                      </m:dPr>
                      <m:e>
                        <m:r>
                          <a:rPr lang="en-US" sz="2400" b="0" i="1" smtClean="0"/>
                          <m:t>−</m:t>
                        </m:r>
                        <m:r>
                          <a:rPr lang="en-US" sz="2400" b="0" i="1" smtClean="0"/>
                          <m:t>𝑢</m:t>
                        </m:r>
                        <m:d>
                          <m:dPr>
                            <m:ctrlPr>
                              <a:rPr lang="en-US" sz="2400" b="0" i="1" smtClean="0"/>
                            </m:ctrlPr>
                          </m:dPr>
                          <m:e>
                            <m:sSup>
                              <m:sSupPr>
                                <m:ctrlPr>
                                  <a:rPr lang="en-US" sz="2400" b="0" i="1" smtClean="0"/>
                                </m:ctrlPr>
                              </m:sSupPr>
                              <m:e>
                                <m:r>
                                  <a:rPr lang="en-US" sz="2400" b="0" i="1" smtClean="0"/>
                                  <m:t>𝑎</m:t>
                                </m:r>
                              </m:e>
                              <m:sup>
                                <m:r>
                                  <a:rPr lang="en-US" sz="2400" b="0" i="1" smtClean="0"/>
                                  <m:t>𝜏</m:t>
                                </m:r>
                              </m:sup>
                            </m:sSup>
                            <m:r>
                              <a:rPr lang="en-US" sz="2400" b="0" i="1" smtClean="0"/>
                              <m:t>,</m:t>
                            </m:r>
                            <m:r>
                              <a:rPr lang="en-US" sz="2400" b="0" i="1" smtClean="0"/>
                              <m:t>𝑌</m:t>
                            </m:r>
                          </m:e>
                        </m:d>
                      </m:e>
                      <m:e>
                        <m:sSub>
                          <m:sSubPr>
                            <m:ctrlPr>
                              <a:rPr lang="en-US" sz="2400" b="0" i="1" smtClean="0"/>
                            </m:ctrlPr>
                          </m:sSubPr>
                          <m:e>
                            <m:r>
                              <a:rPr lang="en-US" sz="2400" b="0" i="1" smtClean="0"/>
                              <m:t>𝑠</m:t>
                            </m:r>
                          </m:e>
                          <m:sub>
                            <m:r>
                              <a:rPr lang="en-US" sz="2400" b="0" i="1" smtClean="0"/>
                              <m:t>𝐴</m:t>
                            </m:r>
                          </m:sub>
                        </m:sSub>
                      </m:e>
                    </m:d>
                  </m:oMath>
                </a14:m>
                <a:r>
                  <a:rPr lang="en-US" sz="2400" dirty="0"/>
                  <a:t> =&gt; Expected utility of modality </a:t>
                </a:r>
                <a14:m>
                  <m:oMath xmlns:m="http://schemas.openxmlformats.org/officeDocument/2006/math">
                    <m:r>
                      <a:rPr lang="en-US" sz="2400" b="0" i="1" smtClean="0"/>
                      <m:t>𝜏</m:t>
                    </m:r>
                  </m:oMath>
                </a14:m>
                <a:endParaRPr lang="en-US" sz="2400" dirty="0"/>
              </a:p>
              <a:p>
                <a14:m>
                  <m:oMath xmlns:m="http://schemas.openxmlformats.org/officeDocument/2006/math">
                    <m:r>
                      <a:rPr lang="en-US" sz="2400" b="0" i="1" smtClean="0"/>
                      <m:t>𝑚</m:t>
                    </m:r>
                  </m:oMath>
                </a14:m>
                <a:r>
                  <a:rPr lang="en-US" sz="2400" dirty="0"/>
                  <a:t>: Exchange rate between “utils” and dollars (unknown)</a:t>
                </a:r>
              </a:p>
              <a:p>
                <a:endParaRPr lang="en-US" sz="2400" dirty="0"/>
              </a:p>
              <a:p>
                <a14:m>
                  <m:oMath xmlns:m="http://schemas.openxmlformats.org/officeDocument/2006/math">
                    <m:r>
                      <a:rPr lang="en-US" sz="2400" b="0" i="1" smtClean="0"/>
                      <m:t>𝑤</m:t>
                    </m:r>
                  </m:oMath>
                </a14:m>
                <a:r>
                  <a:rPr lang="en-US" sz="2400" dirty="0"/>
                  <a:t>: Radiologist wage ($4 per minute)</a:t>
                </a:r>
              </a:p>
              <a:p>
                <a14:m>
                  <m:oMath xmlns:m="http://schemas.openxmlformats.org/officeDocument/2006/math">
                    <m:sSub>
                      <m:sSubPr>
                        <m:ctrlPr>
                          <a:rPr lang="en-US" sz="2400" b="0" i="1" smtClean="0"/>
                        </m:ctrlPr>
                      </m:sSubPr>
                      <m:e>
                        <m:r>
                          <a:rPr lang="en-US" sz="2400" b="0" i="1" smtClean="0"/>
                          <m:t>𝐶</m:t>
                        </m:r>
                      </m:e>
                      <m:sub>
                        <m:r>
                          <a:rPr lang="en-US" sz="2400" b="0" i="1" smtClean="0"/>
                          <m:t>𝑖</m:t>
                        </m:r>
                        <m:r>
                          <a:rPr lang="en-US" sz="2400" b="0" i="1" smtClean="0"/>
                          <m:t>𝜏</m:t>
                        </m:r>
                      </m:sub>
                    </m:sSub>
                    <m:d>
                      <m:dPr>
                        <m:ctrlPr>
                          <a:rPr lang="en-US" sz="2400" b="0" i="1" smtClean="0"/>
                        </m:ctrlPr>
                      </m:dPr>
                      <m:e>
                        <m:sSub>
                          <m:sSubPr>
                            <m:ctrlPr>
                              <a:rPr lang="en-US" sz="2400" b="0" i="1" smtClean="0"/>
                            </m:ctrlPr>
                          </m:sSubPr>
                          <m:e>
                            <m:r>
                              <a:rPr lang="en-US" sz="2400" b="0" i="1" smtClean="0"/>
                              <m:t>𝑠</m:t>
                            </m:r>
                          </m:e>
                          <m:sub>
                            <m:r>
                              <a:rPr lang="en-US" sz="2400" b="0" i="1" smtClean="0"/>
                              <m:t>𝐴</m:t>
                            </m:r>
                          </m:sub>
                        </m:sSub>
                      </m:e>
                    </m:d>
                  </m:oMath>
                </a14:m>
                <a:r>
                  <a:rPr lang="en-US" sz="2400" dirty="0"/>
                  <a:t>: Expected time of modality </a:t>
                </a:r>
                <a14:m>
                  <m:oMath xmlns:m="http://schemas.openxmlformats.org/officeDocument/2006/math">
                    <m:r>
                      <a:rPr lang="en-US" sz="2400" b="0" i="1" smtClean="0"/>
                      <m:t>𝜏</m:t>
                    </m:r>
                  </m:oMath>
                </a14:m>
                <a:endParaRPr lang="en-US" sz="2400" dirty="0"/>
              </a:p>
            </p:txBody>
          </p:sp>
        </mc:Choice>
        <mc:Fallback>
          <p:sp>
            <p:nvSpPr>
              <p:cNvPr id="9" name="TextBox 8">
                <a:extLst>
                  <a:ext uri="{FF2B5EF4-FFF2-40B4-BE49-F238E27FC236}">
                    <a16:creationId xmlns:a16="http://schemas.microsoft.com/office/drawing/2014/main" id="{6A9B13F9-7615-F81F-FE4A-F87E8AF0F2B6}"/>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107520" y="3285186"/>
                <a:ext cx="8669418" cy="1938992"/>
              </a:xfrm>
              <a:prstGeom prst="rect">
                <a:avLst/>
              </a:prstGeom>
              <a:blipFill>
                <a:blip r:embed="rId5"/>
                <a:stretch>
                  <a:fillRect l="-211" t="-2201" b="-660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C76B40E3-11F2-10FF-AC0A-A47C76BBF684}"/>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38276E64-04A9-F030-5DDE-E2BC69B02CCC}"/>
              </a:ext>
            </a:extLst>
          </p:cNvPr>
          <p:cNvSpPr>
            <a:spLocks noGrp="1"/>
          </p:cNvSpPr>
          <p:nvPr>
            <p:ph type="sldNum" sz="quarter" idx="12"/>
          </p:nvPr>
        </p:nvSpPr>
        <p:spPr/>
        <p:txBody>
          <a:bodyPr/>
          <a:lstStyle/>
          <a:p>
            <a:fld id="{8A7A6979-0714-4377-B894-6BE4C2D6E202}" type="slidenum">
              <a:rPr lang="en-US" smtClean="0"/>
              <a:pPr/>
              <a:t>42</a:t>
            </a:fld>
            <a:endParaRPr lang="en-US" dirty="0"/>
          </a:p>
        </p:txBody>
      </p:sp>
    </p:spTree>
    <p:extLst>
      <p:ext uri="{BB962C8B-B14F-4D97-AF65-F5344CB8AC3E}">
        <p14:creationId xmlns:p14="http://schemas.microsoft.com/office/powerpoint/2010/main" val="7819717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035D-C13A-8E03-0261-AAD677F31B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DCC01-CE39-A137-9EE5-BE1C0288ED48}"/>
              </a:ext>
            </a:extLst>
          </p:cNvPr>
          <p:cNvSpPr>
            <a:spLocks noGrp="1"/>
          </p:cNvSpPr>
          <p:nvPr>
            <p:ph type="ctrTitle"/>
          </p:nvPr>
        </p:nvSpPr>
        <p:spPr/>
        <p:txBody>
          <a:bodyPr/>
          <a:lstStyle/>
          <a:p>
            <a:r>
              <a:rPr lang="en-US" dirty="0"/>
              <a:t>Delegation Solution – Actual Humans</a:t>
            </a:r>
          </a:p>
        </p:txBody>
      </p:sp>
      <p:pic>
        <p:nvPicPr>
          <p:cNvPr id="10" name="Picture 9" descr="A plot shows the share of cases for which AI, Human, or Human+AI minimizes expected loss as the social cost of a false negative increases on a log scale from 1 to 10,000 dollars.">
            <a:extLst>
              <a:ext uri="{FF2B5EF4-FFF2-40B4-BE49-F238E27FC236}">
                <a16:creationId xmlns:a16="http://schemas.microsoft.com/office/drawing/2014/main" id="{B18884CA-0D61-B835-9D00-45627D857518}"/>
              </a:ext>
            </a:extLst>
          </p:cNvPr>
          <p:cNvPicPr>
            <a:picLocks noChangeAspect="1"/>
          </p:cNvPicPr>
          <p:nvPr/>
        </p:nvPicPr>
        <p:blipFill>
          <a:blip r:embed="rId3"/>
          <a:stretch>
            <a:fillRect/>
          </a:stretch>
        </p:blipFill>
        <p:spPr>
          <a:xfrm>
            <a:off x="2946400" y="1123950"/>
            <a:ext cx="6299200" cy="4610100"/>
          </a:xfrm>
          <a:prstGeom prst="rect">
            <a:avLst/>
          </a:prstGeom>
        </p:spPr>
      </p:pic>
      <p:sp>
        <p:nvSpPr>
          <p:cNvPr id="5" name="Date Placeholder 4">
            <a:extLst>
              <a:ext uri="{FF2B5EF4-FFF2-40B4-BE49-F238E27FC236}">
                <a16:creationId xmlns:a16="http://schemas.microsoft.com/office/drawing/2014/main" id="{4E0DCE7B-7F8E-0FEE-8A51-223E6DDD822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98DA3F2E-10B5-9AA9-3D6E-E9129C96CBDF}"/>
              </a:ext>
            </a:extLst>
          </p:cNvPr>
          <p:cNvSpPr>
            <a:spLocks noGrp="1"/>
          </p:cNvSpPr>
          <p:nvPr>
            <p:ph type="sldNum" sz="quarter" idx="12"/>
          </p:nvPr>
        </p:nvSpPr>
        <p:spPr/>
        <p:txBody>
          <a:bodyPr/>
          <a:lstStyle/>
          <a:p>
            <a:fld id="{8A7A6979-0714-4377-B894-6BE4C2D6E202}" type="slidenum">
              <a:rPr lang="en-US" smtClean="0"/>
              <a:pPr/>
              <a:t>43</a:t>
            </a:fld>
            <a:endParaRPr lang="en-US" dirty="0"/>
          </a:p>
        </p:txBody>
      </p:sp>
    </p:spTree>
    <p:extLst>
      <p:ext uri="{BB962C8B-B14F-4D97-AF65-F5344CB8AC3E}">
        <p14:creationId xmlns:p14="http://schemas.microsoft.com/office/powerpoint/2010/main" val="364128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7601F-F488-5FE8-6837-51003BAEC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4A69E0-B333-052B-7E7A-20E4151F32FF}"/>
              </a:ext>
            </a:extLst>
          </p:cNvPr>
          <p:cNvSpPr>
            <a:spLocks noGrp="1"/>
          </p:cNvSpPr>
          <p:nvPr>
            <p:ph type="ctrTitle"/>
          </p:nvPr>
        </p:nvSpPr>
        <p:spPr/>
        <p:txBody>
          <a:bodyPr/>
          <a:lstStyle/>
          <a:p>
            <a:r>
              <a:rPr lang="en-US" dirty="0"/>
              <a:t>Delegation </a:t>
            </a:r>
            <a:r>
              <a:rPr lang="en-US"/>
              <a:t>Solution – Humans w/o Biases</a:t>
            </a:r>
            <a:endParaRPr lang="en-US" dirty="0"/>
          </a:p>
        </p:txBody>
      </p:sp>
      <p:pic>
        <p:nvPicPr>
          <p:cNvPr id="7" name="Picture 6" descr="A plot shows which decision-maker—AI, Human, or Human+AI—minimizes expected loss as the social cost of a false negative increases from $1 to $10,000 on a log scale.">
            <a:extLst>
              <a:ext uri="{FF2B5EF4-FFF2-40B4-BE49-F238E27FC236}">
                <a16:creationId xmlns:a16="http://schemas.microsoft.com/office/drawing/2014/main" id="{98AB2CD7-6994-65C2-1308-C92189CAAD24}"/>
              </a:ext>
            </a:extLst>
          </p:cNvPr>
          <p:cNvPicPr>
            <a:picLocks noChangeAspect="1"/>
          </p:cNvPicPr>
          <p:nvPr/>
        </p:nvPicPr>
        <p:blipFill>
          <a:blip r:embed="rId3"/>
          <a:stretch>
            <a:fillRect/>
          </a:stretch>
        </p:blipFill>
        <p:spPr>
          <a:xfrm>
            <a:off x="2946400" y="1123950"/>
            <a:ext cx="6299200" cy="4610100"/>
          </a:xfrm>
          <a:prstGeom prst="rect">
            <a:avLst/>
          </a:prstGeom>
        </p:spPr>
      </p:pic>
      <p:sp>
        <p:nvSpPr>
          <p:cNvPr id="5" name="Date Placeholder 4">
            <a:extLst>
              <a:ext uri="{FF2B5EF4-FFF2-40B4-BE49-F238E27FC236}">
                <a16:creationId xmlns:a16="http://schemas.microsoft.com/office/drawing/2014/main" id="{BE6681C7-24B2-B4B1-74F9-F910B5EAEF55}"/>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7ABD6173-BA98-17FF-97B8-A558AC17594F}"/>
              </a:ext>
            </a:extLst>
          </p:cNvPr>
          <p:cNvSpPr>
            <a:spLocks noGrp="1"/>
          </p:cNvSpPr>
          <p:nvPr>
            <p:ph type="sldNum" sz="quarter" idx="12"/>
          </p:nvPr>
        </p:nvSpPr>
        <p:spPr/>
        <p:txBody>
          <a:bodyPr/>
          <a:lstStyle/>
          <a:p>
            <a:fld id="{8A7A6979-0714-4377-B894-6BE4C2D6E202}" type="slidenum">
              <a:rPr lang="en-US" smtClean="0"/>
              <a:pPr/>
              <a:t>44</a:t>
            </a:fld>
            <a:endParaRPr lang="en-US" dirty="0"/>
          </a:p>
        </p:txBody>
      </p:sp>
    </p:spTree>
    <p:extLst>
      <p:ext uri="{BB962C8B-B14F-4D97-AF65-F5344CB8AC3E}">
        <p14:creationId xmlns:p14="http://schemas.microsoft.com/office/powerpoint/2010/main" val="4171668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7D523-9163-F5C9-D01A-DE5E93D91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B4691-BCA2-3E8D-095A-296DFFA9EBBB}"/>
              </a:ext>
            </a:extLst>
          </p:cNvPr>
          <p:cNvSpPr>
            <a:spLocks noGrp="1"/>
          </p:cNvSpPr>
          <p:nvPr>
            <p:ph type="ctrTitle"/>
          </p:nvPr>
        </p:nvSpPr>
        <p:spPr/>
        <p:txBody>
          <a:bodyPr/>
          <a:lstStyle/>
          <a:p>
            <a:r>
              <a:rPr lang="en-US" dirty="0"/>
              <a:t>Takeaways, Delegation vs. Collaboration</a:t>
            </a:r>
          </a:p>
        </p:txBody>
      </p:sp>
      <p:sp>
        <p:nvSpPr>
          <p:cNvPr id="4" name="Text Placeholder 3">
            <a:extLst>
              <a:ext uri="{FF2B5EF4-FFF2-40B4-BE49-F238E27FC236}">
                <a16:creationId xmlns:a16="http://schemas.microsoft.com/office/drawing/2014/main" id="{F647FFF9-8AE5-9023-CCF1-24E43D29DF62}"/>
              </a:ext>
            </a:extLst>
          </p:cNvPr>
          <p:cNvSpPr>
            <a:spLocks noGrp="1"/>
          </p:cNvSpPr>
          <p:nvPr>
            <p:ph type="body" sz="quarter" idx="14"/>
          </p:nvPr>
        </p:nvSpPr>
        <p:spPr>
          <a:xfrm>
            <a:off x="1828800" y="1491343"/>
            <a:ext cx="8858992" cy="4152220"/>
          </a:xfrm>
        </p:spPr>
        <p:txBody>
          <a:bodyPr>
            <a:normAutofit lnSpcReduction="10000"/>
          </a:bodyPr>
          <a:lstStyle/>
          <a:p>
            <a:r>
              <a:rPr lang="en-US" sz="2400" dirty="0"/>
              <a:t>Humans work alongside AI rather than collaborating with AI</a:t>
            </a:r>
          </a:p>
          <a:p>
            <a:pPr lvl="1"/>
            <a:r>
              <a:rPr lang="en-US" sz="2400" dirty="0"/>
              <a:t>This is because of humans inefficiently combine their own information with that of the AI</a:t>
            </a:r>
          </a:p>
          <a:p>
            <a:endParaRPr lang="en-US" sz="2400" dirty="0"/>
          </a:p>
          <a:p>
            <a:r>
              <a:rPr lang="en-US" sz="2400" dirty="0"/>
              <a:t>Substitutes on specific cases, complements overall</a:t>
            </a:r>
          </a:p>
          <a:p>
            <a:endParaRPr lang="en-US" sz="2400" dirty="0"/>
          </a:p>
          <a:p>
            <a:r>
              <a:rPr lang="en-US" sz="2400" dirty="0"/>
              <a:t>Question: How to approach the Bayesian solution?</a:t>
            </a:r>
          </a:p>
          <a:p>
            <a:pPr lvl="1"/>
            <a:r>
              <a:rPr lang="en-US" sz="2400" dirty="0">
                <a:effectLst/>
              </a:rPr>
              <a:t>Training?</a:t>
            </a:r>
          </a:p>
          <a:p>
            <a:pPr lvl="1"/>
            <a:r>
              <a:rPr lang="en-US" sz="2400" dirty="0"/>
              <a:t>AI that is designed for humans</a:t>
            </a:r>
          </a:p>
          <a:p>
            <a:pPr lvl="1"/>
            <a:r>
              <a:rPr lang="en-US" sz="2400" dirty="0">
                <a:effectLst/>
              </a:rPr>
              <a:t>Add </a:t>
            </a:r>
            <a:r>
              <a:rPr lang="en-US" sz="2400" dirty="0"/>
              <a:t>human signal as an input to the algorithm</a:t>
            </a:r>
            <a:endParaRPr lang="en-US" sz="2400" dirty="0">
              <a:effectLst/>
            </a:endParaRPr>
          </a:p>
          <a:p>
            <a:endParaRPr lang="en-US" sz="2400" dirty="0"/>
          </a:p>
        </p:txBody>
      </p:sp>
      <p:sp>
        <p:nvSpPr>
          <p:cNvPr id="5" name="Date Placeholder 4">
            <a:extLst>
              <a:ext uri="{FF2B5EF4-FFF2-40B4-BE49-F238E27FC236}">
                <a16:creationId xmlns:a16="http://schemas.microsoft.com/office/drawing/2014/main" id="{2020C990-0FC9-4C6B-BF72-8886F63EF000}"/>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A5196C9C-062D-7F9B-1612-72CE50AAD72B}"/>
              </a:ext>
            </a:extLst>
          </p:cNvPr>
          <p:cNvSpPr>
            <a:spLocks noGrp="1"/>
          </p:cNvSpPr>
          <p:nvPr>
            <p:ph type="sldNum" sz="quarter" idx="12"/>
          </p:nvPr>
        </p:nvSpPr>
        <p:spPr/>
        <p:txBody>
          <a:bodyPr/>
          <a:lstStyle/>
          <a:p>
            <a:fld id="{8A7A6979-0714-4377-B894-6BE4C2D6E202}" type="slidenum">
              <a:rPr lang="en-US" smtClean="0"/>
              <a:pPr/>
              <a:t>45</a:t>
            </a:fld>
            <a:endParaRPr lang="en-US" dirty="0"/>
          </a:p>
        </p:txBody>
      </p:sp>
    </p:spTree>
    <p:extLst>
      <p:ext uri="{BB962C8B-B14F-4D97-AF65-F5344CB8AC3E}">
        <p14:creationId xmlns:p14="http://schemas.microsoft.com/office/powerpoint/2010/main" val="150504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79F0-DCC1-C72E-1DB7-8F43CE2D5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C19CD-1895-DCF2-C822-F43772E6D32B}"/>
              </a:ext>
            </a:extLst>
          </p:cNvPr>
          <p:cNvSpPr>
            <a:spLocks noGrp="1"/>
          </p:cNvSpPr>
          <p:nvPr>
            <p:ph type="ctrTitle"/>
          </p:nvPr>
        </p:nvSpPr>
        <p:spPr>
          <a:xfrm>
            <a:off x="2647199" y="1501742"/>
            <a:ext cx="7300940" cy="664797"/>
          </a:xfrm>
        </p:spPr>
        <p:txBody>
          <a:bodyPr/>
          <a:lstStyle/>
          <a:p>
            <a:r>
              <a:rPr lang="en-US" dirty="0"/>
              <a:t>Project</a:t>
            </a:r>
          </a:p>
        </p:txBody>
      </p:sp>
      <p:sp>
        <p:nvSpPr>
          <p:cNvPr id="4" name="Date Placeholder 3">
            <a:extLst>
              <a:ext uri="{FF2B5EF4-FFF2-40B4-BE49-F238E27FC236}">
                <a16:creationId xmlns:a16="http://schemas.microsoft.com/office/drawing/2014/main" id="{A2B3DB78-B071-CC0A-0D02-0690BDACB9B0}"/>
              </a:ext>
            </a:extLst>
          </p:cNvPr>
          <p:cNvSpPr>
            <a:spLocks noGrp="1"/>
          </p:cNvSpPr>
          <p:nvPr>
            <p:ph type="dt" sz="half" idx="10"/>
          </p:nvPr>
        </p:nvSpPr>
        <p:spPr/>
        <p:txBody>
          <a:bodyPr/>
          <a:lstStyle/>
          <a:p>
            <a:fld id="{D47A9A36-4EB0-BF46-AE48-7CDA251B954B}" type="datetime1">
              <a:rPr lang="en-US" smtClean="0"/>
              <a:pPr/>
              <a:t>12/09/2025</a:t>
            </a:fld>
            <a:endParaRPr lang="en-US" dirty="0"/>
          </a:p>
        </p:txBody>
      </p:sp>
      <p:sp>
        <p:nvSpPr>
          <p:cNvPr id="5" name="Slide Number Placeholder 4">
            <a:extLst>
              <a:ext uri="{FF2B5EF4-FFF2-40B4-BE49-F238E27FC236}">
                <a16:creationId xmlns:a16="http://schemas.microsoft.com/office/drawing/2014/main" id="{FCBC919F-8720-4192-4D0D-66904A939869}"/>
              </a:ext>
            </a:extLst>
          </p:cNvPr>
          <p:cNvSpPr>
            <a:spLocks noGrp="1"/>
          </p:cNvSpPr>
          <p:nvPr>
            <p:ph type="sldNum" sz="quarter" idx="12"/>
          </p:nvPr>
        </p:nvSpPr>
        <p:spPr/>
        <p:txBody>
          <a:bodyPr/>
          <a:lstStyle/>
          <a:p>
            <a:fld id="{8A7A6979-0714-4377-B894-6BE4C2D6E202}" type="slidenum">
              <a:rPr lang="en-US" smtClean="0"/>
              <a:pPr/>
              <a:t>46</a:t>
            </a:fld>
            <a:endParaRPr lang="en-US" dirty="0"/>
          </a:p>
        </p:txBody>
      </p:sp>
    </p:spTree>
    <p:extLst>
      <p:ext uri="{BB962C8B-B14F-4D97-AF65-F5344CB8AC3E}">
        <p14:creationId xmlns:p14="http://schemas.microsoft.com/office/powerpoint/2010/main" val="1711980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0F3E2-8ED7-4C2E-0B36-321794320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5E343-B8F7-546B-2B93-129DFE93C86C}"/>
              </a:ext>
            </a:extLst>
          </p:cNvPr>
          <p:cNvSpPr>
            <a:spLocks noGrp="1"/>
          </p:cNvSpPr>
          <p:nvPr>
            <p:ph type="ctrTitle"/>
          </p:nvPr>
        </p:nvSpPr>
        <p:spPr/>
        <p:txBody>
          <a:bodyPr/>
          <a:lstStyle/>
          <a:p>
            <a:r>
              <a:rPr lang="en-US" dirty="0"/>
              <a:t>Project Details</a:t>
            </a:r>
          </a:p>
        </p:txBody>
      </p:sp>
      <p:sp>
        <p:nvSpPr>
          <p:cNvPr id="4" name="Text Placeholder 3">
            <a:extLst>
              <a:ext uri="{FF2B5EF4-FFF2-40B4-BE49-F238E27FC236}">
                <a16:creationId xmlns:a16="http://schemas.microsoft.com/office/drawing/2014/main" id="{48D9676A-D996-770A-9F03-C13AFE2B2360}"/>
              </a:ext>
            </a:extLst>
          </p:cNvPr>
          <p:cNvSpPr>
            <a:spLocks noGrp="1"/>
          </p:cNvSpPr>
          <p:nvPr>
            <p:ph type="body" sz="quarter" idx="14"/>
          </p:nvPr>
        </p:nvSpPr>
        <p:spPr>
          <a:xfrm>
            <a:off x="1828800" y="1491343"/>
            <a:ext cx="8858992" cy="4152220"/>
          </a:xfrm>
        </p:spPr>
        <p:txBody>
          <a:bodyPr>
            <a:normAutofit/>
          </a:bodyPr>
          <a:lstStyle/>
          <a:p>
            <a:r>
              <a:rPr lang="en-US" sz="2400" dirty="0"/>
              <a:t>Remember: Project presentations next week</a:t>
            </a:r>
          </a:p>
          <a:p>
            <a:pPr lvl="1"/>
            <a:r>
              <a:rPr lang="en-US" sz="2400" dirty="0"/>
              <a:t>I will send out details by Saturday (waiting on distance section to specify their preferences for live vs recorded presentations)</a:t>
            </a:r>
          </a:p>
          <a:p>
            <a:endParaRPr lang="en-US" sz="2400" dirty="0"/>
          </a:p>
          <a:p>
            <a:r>
              <a:rPr lang="en-US" sz="2400" dirty="0"/>
              <a:t>Expect about 12 minute presentation + </a:t>
            </a:r>
            <a:r>
              <a:rPr lang="en-US" sz="2400" dirty="0" err="1"/>
              <a:t>q&amp;a</a:t>
            </a:r>
            <a:endParaRPr lang="en-US" sz="2400" dirty="0"/>
          </a:p>
        </p:txBody>
      </p:sp>
      <p:sp>
        <p:nvSpPr>
          <p:cNvPr id="5" name="Date Placeholder 4">
            <a:extLst>
              <a:ext uri="{FF2B5EF4-FFF2-40B4-BE49-F238E27FC236}">
                <a16:creationId xmlns:a16="http://schemas.microsoft.com/office/drawing/2014/main" id="{32A11E52-CC0B-4418-125D-EAAFD00D710A}"/>
              </a:ext>
            </a:extLst>
          </p:cNvPr>
          <p:cNvSpPr>
            <a:spLocks noGrp="1"/>
          </p:cNvSpPr>
          <p:nvPr>
            <p:ph type="dt" sz="half" idx="10"/>
          </p:nvPr>
        </p:nvSpPr>
        <p:spPr/>
        <p:txBody>
          <a:bodyPr/>
          <a:lstStyle/>
          <a:p>
            <a:fld id="{D47A9A36-4EB0-BF46-AE48-7CDA251B954B}" type="datetime1">
              <a:rPr lang="en-US" smtClean="0"/>
              <a:t>12/09/2025</a:t>
            </a:fld>
            <a:endParaRPr lang="en-US" dirty="0"/>
          </a:p>
        </p:txBody>
      </p:sp>
      <p:sp>
        <p:nvSpPr>
          <p:cNvPr id="6" name="Slide Number Placeholder 5">
            <a:extLst>
              <a:ext uri="{FF2B5EF4-FFF2-40B4-BE49-F238E27FC236}">
                <a16:creationId xmlns:a16="http://schemas.microsoft.com/office/drawing/2014/main" id="{26F22B67-4E0B-6637-BA9E-530081A2E9EB}"/>
              </a:ext>
            </a:extLst>
          </p:cNvPr>
          <p:cNvSpPr>
            <a:spLocks noGrp="1"/>
          </p:cNvSpPr>
          <p:nvPr>
            <p:ph type="sldNum" sz="quarter" idx="12"/>
          </p:nvPr>
        </p:nvSpPr>
        <p:spPr/>
        <p:txBody>
          <a:bodyPr/>
          <a:lstStyle/>
          <a:p>
            <a:fld id="{8A7A6979-0714-4377-B894-6BE4C2D6E202}" type="slidenum">
              <a:rPr lang="en-US" smtClean="0"/>
              <a:pPr/>
              <a:t>47</a:t>
            </a:fld>
            <a:endParaRPr lang="en-US" dirty="0"/>
          </a:p>
        </p:txBody>
      </p:sp>
    </p:spTree>
    <p:extLst>
      <p:ext uri="{BB962C8B-B14F-4D97-AF65-F5344CB8AC3E}">
        <p14:creationId xmlns:p14="http://schemas.microsoft.com/office/powerpoint/2010/main" val="1255555403"/>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38242</TotalTime>
  <Words>1669</Words>
  <Application>Microsoft Office PowerPoint</Application>
  <PresentationFormat>Widescreen</PresentationFormat>
  <Paragraphs>434</Paragraphs>
  <Slides>47</Slides>
  <Notes>42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Franklin Gothic Book</vt:lpstr>
      <vt:lpstr>Wingdings</vt:lpstr>
      <vt:lpstr>Calibri</vt:lpstr>
      <vt:lpstr>United Sans Rg Md</vt:lpstr>
      <vt:lpstr>Arial</vt:lpstr>
      <vt:lpstr>Franklin Gothic Demi</vt:lpstr>
      <vt:lpstr>Cambria Math</vt:lpstr>
      <vt:lpstr>Impact</vt:lpstr>
      <vt:lpstr>Franklin Gothic Medium</vt:lpstr>
      <vt:lpstr>Acumin Pro</vt:lpstr>
      <vt:lpstr>Purdue2</vt:lpstr>
      <vt:lpstr>Digital product design</vt:lpstr>
      <vt:lpstr>Outline</vt:lpstr>
      <vt:lpstr>Human vs algorithmic decisions</vt:lpstr>
      <vt:lpstr>Comparative Advantage of Humans vs Algorithm</vt:lpstr>
      <vt:lpstr>Many Well-Documented Human Prediction Errors</vt:lpstr>
      <vt:lpstr>Evaluating Algorithm Decisions</vt:lpstr>
      <vt:lpstr>Evaluating Algorithm Decisions, Continued</vt:lpstr>
      <vt:lpstr>Promise of Algorithmic Decision Making</vt:lpstr>
      <vt:lpstr>Humans + algorithmic decisions</vt:lpstr>
      <vt:lpstr>Motivation for Human-in-the-Loop Systems</vt:lpstr>
      <vt:lpstr>Motivation for Human-in-the-Loop Systems, Continued</vt:lpstr>
      <vt:lpstr>Framework for Human-AI Collaboration</vt:lpstr>
      <vt:lpstr>Framework for Human-AI Collaboration, Part 2</vt:lpstr>
      <vt:lpstr>Framework for Human-AI Collaboration, Part 3</vt:lpstr>
      <vt:lpstr>Information Structure</vt:lpstr>
      <vt:lpstr>Optimal Action</vt:lpstr>
      <vt:lpstr>Key Questions</vt:lpstr>
      <vt:lpstr>Empirical example: Radiology</vt:lpstr>
      <vt:lpstr>Our Experiment</vt:lpstr>
      <vt:lpstr>Treatment 1: AI Algorithm</vt:lpstr>
      <vt:lpstr>Treatment 2: Clinical History</vt:lpstr>
      <vt:lpstr>AI Assessment More Accurate than Majority of Radiologists</vt:lpstr>
      <vt:lpstr>Treatment Effects – Deviation from Diagnostic Standard</vt:lpstr>
      <vt:lpstr>Treatment Effects – Deviation from AI</vt:lpstr>
      <vt:lpstr>Heterogeneous Treatment Effects – Deviation from DS</vt:lpstr>
      <vt:lpstr>Takeaways from Radiology Example</vt:lpstr>
      <vt:lpstr>Biased belief updating</vt:lpstr>
      <vt:lpstr>Bayes Rule Revisited</vt:lpstr>
      <vt:lpstr>Bayes Rule Revisited, Part 2</vt:lpstr>
      <vt:lpstr>Bayes Rule Revisited, Part 3</vt:lpstr>
      <vt:lpstr>Modeling Human Belief Updating</vt:lpstr>
      <vt:lpstr>Modeling Human Belief Updating, Part 2</vt:lpstr>
      <vt:lpstr>Modeling Human Belief Updating, Part 3</vt:lpstr>
      <vt:lpstr>Modeling Human Belief Updating, Part 4</vt:lpstr>
      <vt:lpstr>Modeling Human Belief Updating, Part 5</vt:lpstr>
      <vt:lpstr>Modeling Human Belief Updating, Part 6</vt:lpstr>
      <vt:lpstr>Signal Dependence Neglect</vt:lpstr>
      <vt:lpstr>Signal Dependence Neglect, Continued</vt:lpstr>
      <vt:lpstr>Takeaways, Biased Belief Updating</vt:lpstr>
      <vt:lpstr>Delegation vs collaboration</vt:lpstr>
      <vt:lpstr>Learning to Delegate</vt:lpstr>
      <vt:lpstr>Delegation Problem</vt:lpstr>
      <vt:lpstr>Delegation Solution – Actual Humans</vt:lpstr>
      <vt:lpstr>Delegation Solution – Humans w/o Biases</vt:lpstr>
      <vt:lpstr>Takeaways, Delegation vs. Collaboration</vt:lpstr>
      <vt:lpstr>Project</vt:lpstr>
      <vt:lpstr>Project Details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4480</cp:revision>
  <dcterms:created xsi:type="dcterms:W3CDTF">2024-07-15T17:50:06Z</dcterms:created>
  <dcterms:modified xsi:type="dcterms:W3CDTF">2025-12-09T19:29:19Z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