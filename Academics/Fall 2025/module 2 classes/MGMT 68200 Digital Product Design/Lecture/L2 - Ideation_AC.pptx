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08" r:id="rId1"/>
  </p:sldMasterIdLst>
  <p:notesMasterIdLst>
    <p:notesMasterId r:id="rId32"/>
  </p:notesMasterIdLst>
  <p:sldIdLst>
    <p:sldId id="257" r:id="rId2"/>
    <p:sldId id="546" r:id="rId3"/>
    <p:sldId id="421" r:id="rId4"/>
    <p:sldId id="617" r:id="rId5"/>
    <p:sldId id="655" r:id="rId6"/>
    <p:sldId id="657" r:id="rId7"/>
    <p:sldId id="659" r:id="rId8"/>
    <p:sldId id="681" r:id="rId9"/>
    <p:sldId id="675" r:id="rId10"/>
    <p:sldId id="674" r:id="rId11"/>
    <p:sldId id="667" r:id="rId12"/>
    <p:sldId id="670" r:id="rId13"/>
    <p:sldId id="671" r:id="rId14"/>
    <p:sldId id="680" r:id="rId15"/>
    <p:sldId id="669" r:id="rId16"/>
    <p:sldId id="672" r:id="rId17"/>
    <p:sldId id="673" r:id="rId18"/>
    <p:sldId id="683" r:id="rId19"/>
    <p:sldId id="615" r:id="rId20"/>
    <p:sldId id="676" r:id="rId21"/>
    <p:sldId id="661" r:id="rId22"/>
    <p:sldId id="662" r:id="rId23"/>
    <p:sldId id="663" r:id="rId24"/>
    <p:sldId id="664" r:id="rId25"/>
    <p:sldId id="665" r:id="rId26"/>
    <p:sldId id="666" r:id="rId27"/>
    <p:sldId id="654" r:id="rId28"/>
    <p:sldId id="668" r:id="rId29"/>
    <p:sldId id="682" r:id="rId30"/>
    <p:sldId id="679" r:id="rId31"/>
  </p:sldIdLst>
  <p:sldSz cx="12192000" cy="6858000"/>
  <p:notesSz cx="6858000" cy="9144000"/>
  <p:embeddedFontLst>
    <p:embeddedFont>
      <p:font typeface="Acumin Pro" panose="020B0604020202020204" charset="0"/>
      <p:regular r:id="rId33"/>
      <p:bold r:id="rId34"/>
      <p:italic r:id="rId35"/>
      <p:boldItalic r:id="rId36"/>
    </p:embeddedFont>
    <p:embeddedFont>
      <p:font typeface="Cambria Math" panose="02040503050406030204" pitchFamily="18" charset="0"/>
      <p:regular r:id="rId37"/>
    </p:embeddedFont>
    <p:embeddedFont>
      <p:font typeface="Franklin Gothic Book" panose="020B0503020102020204" pitchFamily="34" charset="0"/>
      <p:regular r:id="rId38"/>
      <p:italic r:id="rId39"/>
    </p:embeddedFont>
    <p:embeddedFont>
      <p:font typeface="Franklin Gothic Demi" panose="020B0703020102020204" pitchFamily="34" charset="0"/>
      <p:regular r:id="rId40"/>
      <p:bold r:id="rId41"/>
      <p:italic r:id="rId42"/>
      <p:boldItalic r:id="rId43"/>
    </p:embeddedFont>
    <p:embeddedFont>
      <p:font typeface="Franklin Gothic Medium" panose="020B0603020102020204" pitchFamily="34" charset="0"/>
      <p:regular r:id="rId44"/>
      <p:italic r:id="rId45"/>
    </p:embeddedFont>
    <p:embeddedFont>
      <p:font typeface="Impact" panose="020B0806030902050204" pitchFamily="34" charset="0"/>
      <p:regular r:id="rId46"/>
    </p:embeddedFont>
    <p:embeddedFont>
      <p:font typeface="United Sans Rg Md" pitchFamily="50" charset="0"/>
      <p:regular r:id="rId4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210" autoAdjust="0"/>
    <p:restoredTop sz="71096"/>
  </p:normalViewPr>
  <p:slideViewPr>
    <p:cSldViewPr snapToGrid="0" snapToObjects="1">
      <p:cViewPr varScale="1">
        <p:scale>
          <a:sx n="68" d="100"/>
          <a:sy n="68" d="100"/>
        </p:scale>
        <p:origin x="348" y="288"/>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A55EAA-D64B-A54D-9AD6-840407C79D5E}" type="datetimeFigureOut">
              <a:rPr lang="en-US" smtClean="0"/>
              <a:t>10/29/2025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8F3A2B-14A6-8F47-B753-A658CA12576A}" type="slidenum">
              <a:rPr lang="en-US" smtClean="0"/>
              <a:t>‹#›</a:t>
            </a:fld>
            <a:endParaRPr lang="en-US"/>
          </a:p>
        </p:txBody>
      </p:sp>
    </p:spTree>
    <p:extLst>
      <p:ext uri="{BB962C8B-B14F-4D97-AF65-F5344CB8AC3E}">
        <p14:creationId xmlns:p14="http://schemas.microsoft.com/office/powerpoint/2010/main" val="1617900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1</a:t>
            </a:fld>
            <a:endParaRPr lang="en-US"/>
          </a:p>
        </p:txBody>
      </p:sp>
    </p:spTree>
    <p:extLst>
      <p:ext uri="{BB962C8B-B14F-4D97-AF65-F5344CB8AC3E}">
        <p14:creationId xmlns:p14="http://schemas.microsoft.com/office/powerpoint/2010/main" val="1169972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90DC1-84DB-23D1-69D6-0E4663B7C8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39ECEE-90FE-B085-2E84-C82359BC6E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CA7858-951A-ED6D-E134-DCFF9C60D3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D5DB39-CE94-F7F7-E692-79D8ACF217F5}"/>
              </a:ext>
            </a:extLst>
          </p:cNvPr>
          <p:cNvSpPr>
            <a:spLocks noGrp="1"/>
          </p:cNvSpPr>
          <p:nvPr>
            <p:ph type="sldNum" sz="quarter" idx="5"/>
          </p:nvPr>
        </p:nvSpPr>
        <p:spPr/>
        <p:txBody>
          <a:bodyPr/>
          <a:lstStyle/>
          <a:p>
            <a:fld id="{988F3A2B-14A6-8F47-B753-A658CA12576A}" type="slidenum">
              <a:rPr lang="en-US" smtClean="0"/>
              <a:t>2</a:t>
            </a:fld>
            <a:endParaRPr lang="en-US"/>
          </a:p>
        </p:txBody>
      </p:sp>
    </p:spTree>
    <p:extLst>
      <p:ext uri="{BB962C8B-B14F-4D97-AF65-F5344CB8AC3E}">
        <p14:creationId xmlns:p14="http://schemas.microsoft.com/office/powerpoint/2010/main" val="19099403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3</a:t>
            </a:fld>
            <a:endParaRPr lang="en-US"/>
          </a:p>
        </p:txBody>
      </p:sp>
    </p:spTree>
    <p:extLst>
      <p:ext uri="{BB962C8B-B14F-4D97-AF65-F5344CB8AC3E}">
        <p14:creationId xmlns:p14="http://schemas.microsoft.com/office/powerpoint/2010/main" val="22427911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235D1-AA1B-4381-9FA6-CA22F15358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392197-142F-8BA3-B2F6-AA3D17D3CB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CC9B19-7517-53A9-A65C-EB95B7A882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4F8D3D-A363-AB75-D4F7-E61E051D54C3}"/>
              </a:ext>
            </a:extLst>
          </p:cNvPr>
          <p:cNvSpPr>
            <a:spLocks noGrp="1"/>
          </p:cNvSpPr>
          <p:nvPr>
            <p:ph type="sldNum" sz="quarter" idx="5"/>
          </p:nvPr>
        </p:nvSpPr>
        <p:spPr/>
        <p:txBody>
          <a:bodyPr/>
          <a:lstStyle/>
          <a:p>
            <a:fld id="{988F3A2B-14A6-8F47-B753-A658CA12576A}" type="slidenum">
              <a:rPr lang="en-US" smtClean="0"/>
              <a:t>4</a:t>
            </a:fld>
            <a:endParaRPr lang="en-US"/>
          </a:p>
        </p:txBody>
      </p:sp>
    </p:spTree>
    <p:extLst>
      <p:ext uri="{BB962C8B-B14F-4D97-AF65-F5344CB8AC3E}">
        <p14:creationId xmlns:p14="http://schemas.microsoft.com/office/powerpoint/2010/main" val="6299201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254B4-9429-814E-57B7-967277652D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1EDDD6-F14B-CD5F-3FC4-E249447B89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C344FC-585C-8DDE-2679-3D5E502CEA61}"/>
              </a:ext>
            </a:extLst>
          </p:cNvPr>
          <p:cNvSpPr>
            <a:spLocks noGrp="1"/>
          </p:cNvSpPr>
          <p:nvPr>
            <p:ph type="body" idx="1"/>
          </p:nvPr>
        </p:nvSpPr>
        <p:spPr/>
        <p:txBody>
          <a:bodyPr/>
          <a:lstStyle/>
          <a:p>
            <a:r>
              <a:rPr lang="en-US" dirty="0"/>
              <a:t>Horizon 1 opportunity: Tweaks to our current products / solutions or cost reductions</a:t>
            </a:r>
          </a:p>
          <a:p>
            <a:r>
              <a:rPr lang="en-US" dirty="0"/>
              <a:t>Horizon 2 opportunity: Push into less known territory on one or more dimensions</a:t>
            </a:r>
          </a:p>
          <a:p>
            <a:r>
              <a:rPr lang="en-US" dirty="0"/>
              <a:t>Horizon 3 opportunity: Most uncertain, trying to either introduce new technologies to market or solve a new need (or both!)</a:t>
            </a:r>
          </a:p>
        </p:txBody>
      </p:sp>
      <p:sp>
        <p:nvSpPr>
          <p:cNvPr id="4" name="Slide Number Placeholder 3">
            <a:extLst>
              <a:ext uri="{FF2B5EF4-FFF2-40B4-BE49-F238E27FC236}">
                <a16:creationId xmlns:a16="http://schemas.microsoft.com/office/drawing/2014/main" id="{E2279490-BBE3-BBDC-13C2-5A6D9478A513}"/>
              </a:ext>
            </a:extLst>
          </p:cNvPr>
          <p:cNvSpPr>
            <a:spLocks noGrp="1"/>
          </p:cNvSpPr>
          <p:nvPr>
            <p:ph type="sldNum" sz="quarter" idx="5"/>
          </p:nvPr>
        </p:nvSpPr>
        <p:spPr/>
        <p:txBody>
          <a:bodyPr/>
          <a:lstStyle/>
          <a:p>
            <a:fld id="{988F3A2B-14A6-8F47-B753-A658CA12576A}" type="slidenum">
              <a:rPr lang="en-US" smtClean="0"/>
              <a:t>5</a:t>
            </a:fld>
            <a:endParaRPr lang="en-US"/>
          </a:p>
        </p:txBody>
      </p:sp>
    </p:spTree>
    <p:extLst>
      <p:ext uri="{BB962C8B-B14F-4D97-AF65-F5344CB8AC3E}">
        <p14:creationId xmlns:p14="http://schemas.microsoft.com/office/powerpoint/2010/main" val="16246465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8C360-02B5-43E9-662F-D691023D3F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10FEC6-99A4-86EB-E378-19928A5DE5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BCDA8B-3DAE-EB82-7049-6F3B015F98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C6850C-4DE1-6011-20C1-391DDD14831C}"/>
              </a:ext>
            </a:extLst>
          </p:cNvPr>
          <p:cNvSpPr>
            <a:spLocks noGrp="1"/>
          </p:cNvSpPr>
          <p:nvPr>
            <p:ph type="sldNum" sz="quarter" idx="5"/>
          </p:nvPr>
        </p:nvSpPr>
        <p:spPr/>
        <p:txBody>
          <a:bodyPr/>
          <a:lstStyle/>
          <a:p>
            <a:fld id="{988F3A2B-14A6-8F47-B753-A658CA12576A}" type="slidenum">
              <a:rPr lang="en-US" smtClean="0"/>
              <a:t>6</a:t>
            </a:fld>
            <a:endParaRPr lang="en-US"/>
          </a:p>
        </p:txBody>
      </p:sp>
    </p:spTree>
    <p:extLst>
      <p:ext uri="{BB962C8B-B14F-4D97-AF65-F5344CB8AC3E}">
        <p14:creationId xmlns:p14="http://schemas.microsoft.com/office/powerpoint/2010/main" val="12458953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D4054-AF68-347B-050D-F6343789C4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AE1B97-A04D-5506-0BF2-1702346680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977A02-5300-743D-1B59-164D331352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2430B3-9733-7790-2440-BCFB0C6F6330}"/>
              </a:ext>
            </a:extLst>
          </p:cNvPr>
          <p:cNvSpPr>
            <a:spLocks noGrp="1"/>
          </p:cNvSpPr>
          <p:nvPr>
            <p:ph type="sldNum" sz="quarter" idx="5"/>
          </p:nvPr>
        </p:nvSpPr>
        <p:spPr/>
        <p:txBody>
          <a:bodyPr/>
          <a:lstStyle/>
          <a:p>
            <a:fld id="{988F3A2B-14A6-8F47-B753-A658CA12576A}" type="slidenum">
              <a:rPr lang="en-US" smtClean="0"/>
              <a:t>7</a:t>
            </a:fld>
            <a:endParaRPr lang="en-US"/>
          </a:p>
        </p:txBody>
      </p:sp>
    </p:spTree>
    <p:extLst>
      <p:ext uri="{BB962C8B-B14F-4D97-AF65-F5344CB8AC3E}">
        <p14:creationId xmlns:p14="http://schemas.microsoft.com/office/powerpoint/2010/main" val="28749611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1BA79-89A7-B3E1-F230-AEDCD898D8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59E419-9EF4-6DCA-C1DD-19B2427E8C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54768-ACC1-6DD9-4EAB-D6F266A713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530B08-B721-F642-60D7-51895F537E23}"/>
              </a:ext>
            </a:extLst>
          </p:cNvPr>
          <p:cNvSpPr>
            <a:spLocks noGrp="1"/>
          </p:cNvSpPr>
          <p:nvPr>
            <p:ph type="sldNum" sz="quarter" idx="5"/>
          </p:nvPr>
        </p:nvSpPr>
        <p:spPr/>
        <p:txBody>
          <a:bodyPr/>
          <a:lstStyle/>
          <a:p>
            <a:fld id="{988F3A2B-14A6-8F47-B753-A658CA12576A}" type="slidenum">
              <a:rPr lang="en-US" smtClean="0"/>
              <a:t>8</a:t>
            </a:fld>
            <a:endParaRPr lang="en-US"/>
          </a:p>
        </p:txBody>
      </p:sp>
    </p:spTree>
    <p:extLst>
      <p:ext uri="{BB962C8B-B14F-4D97-AF65-F5344CB8AC3E}">
        <p14:creationId xmlns:p14="http://schemas.microsoft.com/office/powerpoint/2010/main" val="1599996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8D491-9D33-8545-A784-CB08F58140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20FA89-4263-C65B-C6AB-FC6A769608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4029B4-3DBB-1D4F-F075-7BAA0ADB1B4C}"/>
              </a:ext>
            </a:extLst>
          </p:cNvPr>
          <p:cNvSpPr>
            <a:spLocks noGrp="1"/>
          </p:cNvSpPr>
          <p:nvPr>
            <p:ph type="body" idx="1"/>
          </p:nvPr>
        </p:nvSpPr>
        <p:spPr/>
        <p:txBody>
          <a:bodyPr/>
          <a:lstStyle/>
          <a:p>
            <a:r>
              <a:rPr lang="en-US" dirty="0"/>
              <a:t>Sample 10,000 draws from MVN distribution with K elements and calculate the max. This plots the standard deviation of the max</a:t>
            </a:r>
          </a:p>
        </p:txBody>
      </p:sp>
      <p:sp>
        <p:nvSpPr>
          <p:cNvPr id="4" name="Slide Number Placeholder 3">
            <a:extLst>
              <a:ext uri="{FF2B5EF4-FFF2-40B4-BE49-F238E27FC236}">
                <a16:creationId xmlns:a16="http://schemas.microsoft.com/office/drawing/2014/main" id="{017B4B21-FC2C-5D44-2CE8-2FC3570F57BA}"/>
              </a:ext>
            </a:extLst>
          </p:cNvPr>
          <p:cNvSpPr>
            <a:spLocks noGrp="1"/>
          </p:cNvSpPr>
          <p:nvPr>
            <p:ph type="sldNum" sz="quarter" idx="5"/>
          </p:nvPr>
        </p:nvSpPr>
        <p:spPr/>
        <p:txBody>
          <a:bodyPr/>
          <a:lstStyle/>
          <a:p>
            <a:fld id="{988F3A2B-14A6-8F47-B753-A658CA12576A}" type="slidenum">
              <a:rPr lang="en-US" smtClean="0"/>
              <a:t>9</a:t>
            </a:fld>
            <a:endParaRPr lang="en-US"/>
          </a:p>
        </p:txBody>
      </p:sp>
    </p:spTree>
    <p:extLst>
      <p:ext uri="{BB962C8B-B14F-4D97-AF65-F5344CB8AC3E}">
        <p14:creationId xmlns:p14="http://schemas.microsoft.com/office/powerpoint/2010/main" val="27151511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117AD-E155-435F-8B34-D5B7B74312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A9A4D8-DC6E-EB52-802C-7B9F603504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3F3914-FB4D-37F1-43C8-00D64B24F8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F433CA-A7D1-68C3-8F79-746A7E61454C}"/>
              </a:ext>
            </a:extLst>
          </p:cNvPr>
          <p:cNvSpPr>
            <a:spLocks noGrp="1"/>
          </p:cNvSpPr>
          <p:nvPr>
            <p:ph type="sldNum" sz="quarter" idx="5"/>
          </p:nvPr>
        </p:nvSpPr>
        <p:spPr/>
        <p:txBody>
          <a:bodyPr/>
          <a:lstStyle/>
          <a:p>
            <a:fld id="{988F3A2B-14A6-8F47-B753-A658CA12576A}" type="slidenum">
              <a:rPr lang="en-US" smtClean="0"/>
              <a:t>10</a:t>
            </a:fld>
            <a:endParaRPr lang="en-US"/>
          </a:p>
        </p:txBody>
      </p:sp>
    </p:spTree>
    <p:extLst>
      <p:ext uri="{BB962C8B-B14F-4D97-AF65-F5344CB8AC3E}">
        <p14:creationId xmlns:p14="http://schemas.microsoft.com/office/powerpoint/2010/main" val="29290508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E9436-3BF9-6CC8-461B-A4F1D9CF9D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63CB85-302A-8308-74E4-297904BA52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BB446C-B0E4-27BD-80EA-C7868AB58D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10F8A6-D49D-0A8C-2E57-668A6241208D}"/>
              </a:ext>
            </a:extLst>
          </p:cNvPr>
          <p:cNvSpPr>
            <a:spLocks noGrp="1"/>
          </p:cNvSpPr>
          <p:nvPr>
            <p:ph type="sldNum" sz="quarter" idx="5"/>
          </p:nvPr>
        </p:nvSpPr>
        <p:spPr/>
        <p:txBody>
          <a:bodyPr/>
          <a:lstStyle/>
          <a:p>
            <a:fld id="{988F3A2B-14A6-8F47-B753-A658CA12576A}" type="slidenum">
              <a:rPr lang="en-US" smtClean="0"/>
              <a:t>11</a:t>
            </a:fld>
            <a:endParaRPr lang="en-US"/>
          </a:p>
        </p:txBody>
      </p:sp>
    </p:spTree>
    <p:extLst>
      <p:ext uri="{BB962C8B-B14F-4D97-AF65-F5344CB8AC3E}">
        <p14:creationId xmlns:p14="http://schemas.microsoft.com/office/powerpoint/2010/main" val="1527139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02178-223E-1D49-6A1D-15874B35F5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AC35C1-3262-296E-7E82-7D577A406E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176F51-5224-4E30-6C38-B0EB2BF243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60D9D2-57DF-A082-655C-EC63B00D1E36}"/>
              </a:ext>
            </a:extLst>
          </p:cNvPr>
          <p:cNvSpPr>
            <a:spLocks noGrp="1"/>
          </p:cNvSpPr>
          <p:nvPr>
            <p:ph type="sldNum" sz="quarter" idx="5"/>
          </p:nvPr>
        </p:nvSpPr>
        <p:spPr/>
        <p:txBody>
          <a:bodyPr/>
          <a:lstStyle/>
          <a:p>
            <a:fld id="{988F3A2B-14A6-8F47-B753-A658CA12576A}" type="slidenum">
              <a:rPr lang="en-US" smtClean="0"/>
              <a:t>12</a:t>
            </a:fld>
            <a:endParaRPr lang="en-US"/>
          </a:p>
        </p:txBody>
      </p:sp>
    </p:spTree>
    <p:extLst>
      <p:ext uri="{BB962C8B-B14F-4D97-AF65-F5344CB8AC3E}">
        <p14:creationId xmlns:p14="http://schemas.microsoft.com/office/powerpoint/2010/main" val="30441994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2923F-292C-9547-79F4-4CF94AFD6B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5FFF58-F7F2-D054-D73C-B48451F66E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E6994A-09D2-3BC4-59E1-D243134F29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E8C59A-E299-B6B2-CB2E-0D97806293C1}"/>
              </a:ext>
            </a:extLst>
          </p:cNvPr>
          <p:cNvSpPr>
            <a:spLocks noGrp="1"/>
          </p:cNvSpPr>
          <p:nvPr>
            <p:ph type="sldNum" sz="quarter" idx="5"/>
          </p:nvPr>
        </p:nvSpPr>
        <p:spPr/>
        <p:txBody>
          <a:bodyPr/>
          <a:lstStyle/>
          <a:p>
            <a:fld id="{988F3A2B-14A6-8F47-B753-A658CA12576A}" type="slidenum">
              <a:rPr lang="en-US" smtClean="0"/>
              <a:t>13</a:t>
            </a:fld>
            <a:endParaRPr lang="en-US"/>
          </a:p>
        </p:txBody>
      </p:sp>
    </p:spTree>
    <p:extLst>
      <p:ext uri="{BB962C8B-B14F-4D97-AF65-F5344CB8AC3E}">
        <p14:creationId xmlns:p14="http://schemas.microsoft.com/office/powerpoint/2010/main" val="24373552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7D6FD-E560-7748-2724-5875D51F04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3208AB-EDE3-3E5C-4B97-48B2707204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DC1F97-505C-172D-A6A3-B90780809183}"/>
              </a:ext>
            </a:extLst>
          </p:cNvPr>
          <p:cNvSpPr>
            <a:spLocks noGrp="1"/>
          </p:cNvSpPr>
          <p:nvPr>
            <p:ph type="body" idx="1"/>
          </p:nvPr>
        </p:nvSpPr>
        <p:spPr/>
        <p:txBody>
          <a:bodyPr/>
          <a:lstStyle/>
          <a:p>
            <a:r>
              <a:rPr lang="en-US" dirty="0"/>
              <a:t>This plots </a:t>
            </a:r>
          </a:p>
        </p:txBody>
      </p:sp>
      <p:sp>
        <p:nvSpPr>
          <p:cNvPr id="4" name="Slide Number Placeholder 3">
            <a:extLst>
              <a:ext uri="{FF2B5EF4-FFF2-40B4-BE49-F238E27FC236}">
                <a16:creationId xmlns:a16="http://schemas.microsoft.com/office/drawing/2014/main" id="{2AEC3710-FC92-957F-31DC-33827793EE6B}"/>
              </a:ext>
            </a:extLst>
          </p:cNvPr>
          <p:cNvSpPr>
            <a:spLocks noGrp="1"/>
          </p:cNvSpPr>
          <p:nvPr>
            <p:ph type="sldNum" sz="quarter" idx="5"/>
          </p:nvPr>
        </p:nvSpPr>
        <p:spPr/>
        <p:txBody>
          <a:bodyPr/>
          <a:lstStyle/>
          <a:p>
            <a:fld id="{988F3A2B-14A6-8F47-B753-A658CA12576A}" type="slidenum">
              <a:rPr lang="en-US" smtClean="0"/>
              <a:t>14</a:t>
            </a:fld>
            <a:endParaRPr lang="en-US"/>
          </a:p>
        </p:txBody>
      </p:sp>
    </p:spTree>
    <p:extLst>
      <p:ext uri="{BB962C8B-B14F-4D97-AF65-F5344CB8AC3E}">
        <p14:creationId xmlns:p14="http://schemas.microsoft.com/office/powerpoint/2010/main" val="26726394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797FE-D5DB-9753-C64F-D53F4864FB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30549B-CC13-B0F6-0418-9A6E8D13D4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7751C3-D864-657A-C5EA-14B72C9F2B05}"/>
              </a:ext>
            </a:extLst>
          </p:cNvPr>
          <p:cNvSpPr>
            <a:spLocks noGrp="1"/>
          </p:cNvSpPr>
          <p:nvPr>
            <p:ph type="body" idx="1"/>
          </p:nvPr>
        </p:nvSpPr>
        <p:spPr/>
        <p:txBody>
          <a:bodyPr/>
          <a:lstStyle/>
          <a:p>
            <a:r>
              <a:rPr lang="en-US" dirty="0"/>
              <a:t>This plots </a:t>
            </a:r>
          </a:p>
        </p:txBody>
      </p:sp>
      <p:sp>
        <p:nvSpPr>
          <p:cNvPr id="4" name="Slide Number Placeholder 3">
            <a:extLst>
              <a:ext uri="{FF2B5EF4-FFF2-40B4-BE49-F238E27FC236}">
                <a16:creationId xmlns:a16="http://schemas.microsoft.com/office/drawing/2014/main" id="{9257DB86-C56B-83E5-F207-F03A82EB6D0A}"/>
              </a:ext>
            </a:extLst>
          </p:cNvPr>
          <p:cNvSpPr>
            <a:spLocks noGrp="1"/>
          </p:cNvSpPr>
          <p:nvPr>
            <p:ph type="sldNum" sz="quarter" idx="5"/>
          </p:nvPr>
        </p:nvSpPr>
        <p:spPr/>
        <p:txBody>
          <a:bodyPr/>
          <a:lstStyle/>
          <a:p>
            <a:fld id="{988F3A2B-14A6-8F47-B753-A658CA12576A}" type="slidenum">
              <a:rPr lang="en-US" smtClean="0"/>
              <a:t>15</a:t>
            </a:fld>
            <a:endParaRPr lang="en-US"/>
          </a:p>
        </p:txBody>
      </p:sp>
    </p:spTree>
    <p:extLst>
      <p:ext uri="{BB962C8B-B14F-4D97-AF65-F5344CB8AC3E}">
        <p14:creationId xmlns:p14="http://schemas.microsoft.com/office/powerpoint/2010/main" val="37883595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E4EF4-504A-1E44-651F-9054A5B591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CC3F24-ED65-E15D-AFA5-3E6761FA7B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FFA1D0-65BD-4BCF-5849-425FBD9AD433}"/>
              </a:ext>
            </a:extLst>
          </p:cNvPr>
          <p:cNvSpPr>
            <a:spLocks noGrp="1"/>
          </p:cNvSpPr>
          <p:nvPr>
            <p:ph type="body" idx="1"/>
          </p:nvPr>
        </p:nvSpPr>
        <p:spPr/>
        <p:txBody>
          <a:bodyPr/>
          <a:lstStyle/>
          <a:p>
            <a:r>
              <a:rPr lang="en-US" dirty="0"/>
              <a:t>This plots </a:t>
            </a:r>
          </a:p>
        </p:txBody>
      </p:sp>
      <p:sp>
        <p:nvSpPr>
          <p:cNvPr id="4" name="Slide Number Placeholder 3">
            <a:extLst>
              <a:ext uri="{FF2B5EF4-FFF2-40B4-BE49-F238E27FC236}">
                <a16:creationId xmlns:a16="http://schemas.microsoft.com/office/drawing/2014/main" id="{75299E4C-2B2A-A7D6-20F1-665490909FA9}"/>
              </a:ext>
            </a:extLst>
          </p:cNvPr>
          <p:cNvSpPr>
            <a:spLocks noGrp="1"/>
          </p:cNvSpPr>
          <p:nvPr>
            <p:ph type="sldNum" sz="quarter" idx="5"/>
          </p:nvPr>
        </p:nvSpPr>
        <p:spPr/>
        <p:txBody>
          <a:bodyPr/>
          <a:lstStyle/>
          <a:p>
            <a:fld id="{988F3A2B-14A6-8F47-B753-A658CA12576A}" type="slidenum">
              <a:rPr lang="en-US" smtClean="0"/>
              <a:t>16</a:t>
            </a:fld>
            <a:endParaRPr lang="en-US"/>
          </a:p>
        </p:txBody>
      </p:sp>
    </p:spTree>
    <p:extLst>
      <p:ext uri="{BB962C8B-B14F-4D97-AF65-F5344CB8AC3E}">
        <p14:creationId xmlns:p14="http://schemas.microsoft.com/office/powerpoint/2010/main" val="33427358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F667E-113B-99FC-8FBF-4479ABB0E4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59F9E3-88B4-1A04-7687-1560A8F610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E2B764-76FD-C6B9-B2C8-169A89248502}"/>
              </a:ext>
            </a:extLst>
          </p:cNvPr>
          <p:cNvSpPr>
            <a:spLocks noGrp="1"/>
          </p:cNvSpPr>
          <p:nvPr>
            <p:ph type="body" idx="1"/>
          </p:nvPr>
        </p:nvSpPr>
        <p:spPr/>
        <p:txBody>
          <a:bodyPr/>
          <a:lstStyle/>
          <a:p>
            <a:r>
              <a:rPr lang="en-US" dirty="0"/>
              <a:t>This plots </a:t>
            </a:r>
          </a:p>
        </p:txBody>
      </p:sp>
      <p:sp>
        <p:nvSpPr>
          <p:cNvPr id="4" name="Slide Number Placeholder 3">
            <a:extLst>
              <a:ext uri="{FF2B5EF4-FFF2-40B4-BE49-F238E27FC236}">
                <a16:creationId xmlns:a16="http://schemas.microsoft.com/office/drawing/2014/main" id="{8D46FF08-271B-967E-CABB-717B96351E45}"/>
              </a:ext>
            </a:extLst>
          </p:cNvPr>
          <p:cNvSpPr>
            <a:spLocks noGrp="1"/>
          </p:cNvSpPr>
          <p:nvPr>
            <p:ph type="sldNum" sz="quarter" idx="5"/>
          </p:nvPr>
        </p:nvSpPr>
        <p:spPr/>
        <p:txBody>
          <a:bodyPr/>
          <a:lstStyle/>
          <a:p>
            <a:fld id="{988F3A2B-14A6-8F47-B753-A658CA12576A}" type="slidenum">
              <a:rPr lang="en-US" smtClean="0"/>
              <a:t>17</a:t>
            </a:fld>
            <a:endParaRPr lang="en-US"/>
          </a:p>
        </p:txBody>
      </p:sp>
    </p:spTree>
    <p:extLst>
      <p:ext uri="{BB962C8B-B14F-4D97-AF65-F5344CB8AC3E}">
        <p14:creationId xmlns:p14="http://schemas.microsoft.com/office/powerpoint/2010/main" val="33486232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44326-B171-592E-1EB5-757BF5EBD4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33078B-68A2-8736-D98F-4C461363BD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815797-FB06-4240-9EC3-5C080A603A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E2D4CD-65AA-6C03-9BCE-E6139005CE4D}"/>
              </a:ext>
            </a:extLst>
          </p:cNvPr>
          <p:cNvSpPr>
            <a:spLocks noGrp="1"/>
          </p:cNvSpPr>
          <p:nvPr>
            <p:ph type="sldNum" sz="quarter" idx="5"/>
          </p:nvPr>
        </p:nvSpPr>
        <p:spPr/>
        <p:txBody>
          <a:bodyPr/>
          <a:lstStyle/>
          <a:p>
            <a:fld id="{988F3A2B-14A6-8F47-B753-A658CA12576A}" type="slidenum">
              <a:rPr lang="en-US" smtClean="0"/>
              <a:t>18</a:t>
            </a:fld>
            <a:endParaRPr lang="en-US"/>
          </a:p>
        </p:txBody>
      </p:sp>
    </p:spTree>
    <p:extLst>
      <p:ext uri="{BB962C8B-B14F-4D97-AF65-F5344CB8AC3E}">
        <p14:creationId xmlns:p14="http://schemas.microsoft.com/office/powerpoint/2010/main" val="1837099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19</a:t>
            </a:fld>
            <a:endParaRPr lang="en-US"/>
          </a:p>
        </p:txBody>
      </p:sp>
    </p:spTree>
    <p:extLst>
      <p:ext uri="{BB962C8B-B14F-4D97-AF65-F5344CB8AC3E}">
        <p14:creationId xmlns:p14="http://schemas.microsoft.com/office/powerpoint/2010/main" val="2730681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41F68-625B-DD02-0724-0E777FA8B5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461A75-03D0-5B9B-CE44-E8B8E188E4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2CA8E3-7CC7-E591-D4F0-04339B56BF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65C3F8-5B67-2864-B8A1-4817D823A543}"/>
              </a:ext>
            </a:extLst>
          </p:cNvPr>
          <p:cNvSpPr>
            <a:spLocks noGrp="1"/>
          </p:cNvSpPr>
          <p:nvPr>
            <p:ph type="sldNum" sz="quarter" idx="5"/>
          </p:nvPr>
        </p:nvSpPr>
        <p:spPr/>
        <p:txBody>
          <a:bodyPr/>
          <a:lstStyle/>
          <a:p>
            <a:fld id="{988F3A2B-14A6-8F47-B753-A658CA12576A}" type="slidenum">
              <a:rPr lang="en-US" smtClean="0"/>
              <a:t>20</a:t>
            </a:fld>
            <a:endParaRPr lang="en-US"/>
          </a:p>
        </p:txBody>
      </p:sp>
    </p:spTree>
    <p:extLst>
      <p:ext uri="{BB962C8B-B14F-4D97-AF65-F5344CB8AC3E}">
        <p14:creationId xmlns:p14="http://schemas.microsoft.com/office/powerpoint/2010/main" val="7051274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ED58D-1796-E94E-3FE8-A523EFED97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898021-B71A-98FE-0835-DE1545BA63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3145FA-D1B5-13AD-8F40-A0B3E9002E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C4C3F7-C432-92BC-C315-E51B694174CA}"/>
              </a:ext>
            </a:extLst>
          </p:cNvPr>
          <p:cNvSpPr>
            <a:spLocks noGrp="1"/>
          </p:cNvSpPr>
          <p:nvPr>
            <p:ph type="sldNum" sz="quarter" idx="5"/>
          </p:nvPr>
        </p:nvSpPr>
        <p:spPr/>
        <p:txBody>
          <a:bodyPr/>
          <a:lstStyle/>
          <a:p>
            <a:fld id="{988F3A2B-14A6-8F47-B753-A658CA12576A}" type="slidenum">
              <a:rPr lang="en-US" smtClean="0"/>
              <a:t>21</a:t>
            </a:fld>
            <a:endParaRPr lang="en-US"/>
          </a:p>
        </p:txBody>
      </p:sp>
    </p:spTree>
    <p:extLst>
      <p:ext uri="{BB962C8B-B14F-4D97-AF65-F5344CB8AC3E}">
        <p14:creationId xmlns:p14="http://schemas.microsoft.com/office/powerpoint/2010/main" val="623293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6BE53-1326-2789-1D27-3F840B31D7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8BC7C4-965F-8DD2-676E-F0EA50E57E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86C486-E952-B84E-3922-668EF7602E3B}"/>
              </a:ext>
            </a:extLst>
          </p:cNvPr>
          <p:cNvSpPr>
            <a:spLocks noGrp="1"/>
          </p:cNvSpPr>
          <p:nvPr>
            <p:ph type="body" idx="1"/>
          </p:nvPr>
        </p:nvSpPr>
        <p:spPr/>
        <p:txBody>
          <a:bodyPr/>
          <a:lstStyle/>
          <a:p>
            <a:r>
              <a:rPr lang="en-US" dirty="0"/>
              <a:t>Examples:</a:t>
            </a:r>
          </a:p>
          <a:p>
            <a:r>
              <a:rPr lang="en-US" dirty="0"/>
              <a:t>	- Study customers: Shimano bikes initially interviewed customers who were avid bikers. They wanted fancier more sophisticated bike components.  They eventually interviewed non-customers who prefer simple components, and this opened up a new market for them</a:t>
            </a:r>
          </a:p>
          <a:p>
            <a:r>
              <a:rPr lang="en-US" dirty="0"/>
              <a:t>	- Imitate: Howard Schultz reportedly started </a:t>
            </a:r>
            <a:r>
              <a:rPr lang="en-US" dirty="0" err="1"/>
              <a:t>starbucks</a:t>
            </a:r>
            <a:r>
              <a:rPr lang="en-US" dirty="0"/>
              <a:t> after visiting </a:t>
            </a:r>
            <a:r>
              <a:rPr lang="en-US" dirty="0" err="1"/>
              <a:t>milan</a:t>
            </a:r>
            <a:r>
              <a:rPr lang="en-US" dirty="0"/>
              <a:t> and seeing its café culture</a:t>
            </a:r>
          </a:p>
        </p:txBody>
      </p:sp>
      <p:sp>
        <p:nvSpPr>
          <p:cNvPr id="4" name="Slide Number Placeholder 3">
            <a:extLst>
              <a:ext uri="{FF2B5EF4-FFF2-40B4-BE49-F238E27FC236}">
                <a16:creationId xmlns:a16="http://schemas.microsoft.com/office/drawing/2014/main" id="{688B426A-EE8B-19B6-C61E-1E8A5443710D}"/>
              </a:ext>
            </a:extLst>
          </p:cNvPr>
          <p:cNvSpPr>
            <a:spLocks noGrp="1"/>
          </p:cNvSpPr>
          <p:nvPr>
            <p:ph type="sldNum" sz="quarter" idx="5"/>
          </p:nvPr>
        </p:nvSpPr>
        <p:spPr/>
        <p:txBody>
          <a:bodyPr/>
          <a:lstStyle/>
          <a:p>
            <a:fld id="{988F3A2B-14A6-8F47-B753-A658CA12576A}" type="slidenum">
              <a:rPr lang="en-US" smtClean="0"/>
              <a:t>22</a:t>
            </a:fld>
            <a:endParaRPr lang="en-US"/>
          </a:p>
        </p:txBody>
      </p:sp>
    </p:spTree>
    <p:extLst>
      <p:ext uri="{BB962C8B-B14F-4D97-AF65-F5344CB8AC3E}">
        <p14:creationId xmlns:p14="http://schemas.microsoft.com/office/powerpoint/2010/main" val="5558100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DAC93-F714-F5D3-7B2B-7F1425F895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4DB7E1-D12B-52FA-02C7-3E88C60AD3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313DA0-0276-19D7-E511-0CABDE1E5E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F798C9-83DE-A394-F6C6-121509F6E2CD}"/>
              </a:ext>
            </a:extLst>
          </p:cNvPr>
          <p:cNvSpPr>
            <a:spLocks noGrp="1"/>
          </p:cNvSpPr>
          <p:nvPr>
            <p:ph type="sldNum" sz="quarter" idx="5"/>
          </p:nvPr>
        </p:nvSpPr>
        <p:spPr/>
        <p:txBody>
          <a:bodyPr/>
          <a:lstStyle/>
          <a:p>
            <a:fld id="{988F3A2B-14A6-8F47-B753-A658CA12576A}" type="slidenum">
              <a:rPr lang="en-US" smtClean="0"/>
              <a:t>23</a:t>
            </a:fld>
            <a:endParaRPr lang="en-US"/>
          </a:p>
        </p:txBody>
      </p:sp>
    </p:spTree>
    <p:extLst>
      <p:ext uri="{BB962C8B-B14F-4D97-AF65-F5344CB8AC3E}">
        <p14:creationId xmlns:p14="http://schemas.microsoft.com/office/powerpoint/2010/main" val="1580675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DC672-517C-B18C-566D-AF3F055F37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36B9DD-071E-3D70-CD2E-3643B170D1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0EB503-DE33-0D0D-960E-06E3EF766A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5EDF14-9D0A-B852-B3F8-0A6B39EDFFD7}"/>
              </a:ext>
            </a:extLst>
          </p:cNvPr>
          <p:cNvSpPr>
            <a:spLocks noGrp="1"/>
          </p:cNvSpPr>
          <p:nvPr>
            <p:ph type="sldNum" sz="quarter" idx="5"/>
          </p:nvPr>
        </p:nvSpPr>
        <p:spPr/>
        <p:txBody>
          <a:bodyPr/>
          <a:lstStyle/>
          <a:p>
            <a:fld id="{988F3A2B-14A6-8F47-B753-A658CA12576A}" type="slidenum">
              <a:rPr lang="en-US" smtClean="0"/>
              <a:t>24</a:t>
            </a:fld>
            <a:endParaRPr lang="en-US"/>
          </a:p>
        </p:txBody>
      </p:sp>
    </p:spTree>
    <p:extLst>
      <p:ext uri="{BB962C8B-B14F-4D97-AF65-F5344CB8AC3E}">
        <p14:creationId xmlns:p14="http://schemas.microsoft.com/office/powerpoint/2010/main" val="10597085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79B35-BACF-C178-0F5D-DD02F0D951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F6B5D1-8F2A-C599-1377-0F51305E77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3C24B4-75FC-138C-5053-9038EEDE2A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34D21E-20F1-91B2-47DF-B77720D19E0E}"/>
              </a:ext>
            </a:extLst>
          </p:cNvPr>
          <p:cNvSpPr>
            <a:spLocks noGrp="1"/>
          </p:cNvSpPr>
          <p:nvPr>
            <p:ph type="sldNum" sz="quarter" idx="5"/>
          </p:nvPr>
        </p:nvSpPr>
        <p:spPr/>
        <p:txBody>
          <a:bodyPr/>
          <a:lstStyle/>
          <a:p>
            <a:fld id="{988F3A2B-14A6-8F47-B753-A658CA12576A}" type="slidenum">
              <a:rPr lang="en-US" smtClean="0"/>
              <a:t>25</a:t>
            </a:fld>
            <a:endParaRPr lang="en-US"/>
          </a:p>
        </p:txBody>
      </p:sp>
    </p:spTree>
    <p:extLst>
      <p:ext uri="{BB962C8B-B14F-4D97-AF65-F5344CB8AC3E}">
        <p14:creationId xmlns:p14="http://schemas.microsoft.com/office/powerpoint/2010/main" val="16397865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6C865-66FE-99BC-C0E4-0761BFBDCE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1EE3CE-0007-6468-75FF-D5B758EBD8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B6B05D-718E-2430-8FE5-A259533606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139B29-F7CA-7C68-3A9D-261655B27B90}"/>
              </a:ext>
            </a:extLst>
          </p:cNvPr>
          <p:cNvSpPr>
            <a:spLocks noGrp="1"/>
          </p:cNvSpPr>
          <p:nvPr>
            <p:ph type="sldNum" sz="quarter" idx="5"/>
          </p:nvPr>
        </p:nvSpPr>
        <p:spPr/>
        <p:txBody>
          <a:bodyPr/>
          <a:lstStyle/>
          <a:p>
            <a:fld id="{988F3A2B-14A6-8F47-B753-A658CA12576A}" type="slidenum">
              <a:rPr lang="en-US" smtClean="0"/>
              <a:t>26</a:t>
            </a:fld>
            <a:endParaRPr lang="en-US"/>
          </a:p>
        </p:txBody>
      </p:sp>
    </p:spTree>
    <p:extLst>
      <p:ext uri="{BB962C8B-B14F-4D97-AF65-F5344CB8AC3E}">
        <p14:creationId xmlns:p14="http://schemas.microsoft.com/office/powerpoint/2010/main" val="42467254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25AFC-9504-3557-6658-C77B81AF8B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6F9354-4773-312A-DDD0-949029A6EA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E638E5-611E-1E79-AD80-2EB4804EE6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E49CB6-4BB2-BB87-AF33-DE04D749FBA2}"/>
              </a:ext>
            </a:extLst>
          </p:cNvPr>
          <p:cNvSpPr>
            <a:spLocks noGrp="1"/>
          </p:cNvSpPr>
          <p:nvPr>
            <p:ph type="sldNum" sz="quarter" idx="5"/>
          </p:nvPr>
        </p:nvSpPr>
        <p:spPr/>
        <p:txBody>
          <a:bodyPr/>
          <a:lstStyle/>
          <a:p>
            <a:fld id="{988F3A2B-14A6-8F47-B753-A658CA12576A}" type="slidenum">
              <a:rPr lang="en-US" smtClean="0"/>
              <a:t>28</a:t>
            </a:fld>
            <a:endParaRPr lang="en-US"/>
          </a:p>
        </p:txBody>
      </p:sp>
    </p:spTree>
    <p:extLst>
      <p:ext uri="{BB962C8B-B14F-4D97-AF65-F5344CB8AC3E}">
        <p14:creationId xmlns:p14="http://schemas.microsoft.com/office/powerpoint/2010/main" val="26812648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276AA-93C0-C0DE-B659-C55B47311B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D69318-D9E7-A221-E187-77BDEB288A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0CD9E0-B033-2083-F00D-7224E75ED3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A37DAB-FCA3-7139-7764-76AB282B3A61}"/>
              </a:ext>
            </a:extLst>
          </p:cNvPr>
          <p:cNvSpPr>
            <a:spLocks noGrp="1"/>
          </p:cNvSpPr>
          <p:nvPr>
            <p:ph type="sldNum" sz="quarter" idx="5"/>
          </p:nvPr>
        </p:nvSpPr>
        <p:spPr/>
        <p:txBody>
          <a:bodyPr/>
          <a:lstStyle/>
          <a:p>
            <a:fld id="{988F3A2B-14A6-8F47-B753-A658CA12576A}" type="slidenum">
              <a:rPr lang="en-US" smtClean="0"/>
              <a:t>29</a:t>
            </a:fld>
            <a:endParaRPr lang="en-US"/>
          </a:p>
        </p:txBody>
      </p:sp>
    </p:spTree>
    <p:extLst>
      <p:ext uri="{BB962C8B-B14F-4D97-AF65-F5344CB8AC3E}">
        <p14:creationId xmlns:p14="http://schemas.microsoft.com/office/powerpoint/2010/main" val="24399424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esource Page - PPT Accessibility">
    <p:bg>
      <p:bgPr>
        <a:solidFill>
          <a:schemeClr val="accent4"/>
        </a:solidFill>
        <a:effectLst/>
      </p:bgPr>
    </p:bg>
    <p:spTree>
      <p:nvGrpSpPr>
        <p:cNvPr id="1" name=""/>
        <p:cNvGrpSpPr/>
        <p:nvPr/>
      </p:nvGrpSpPr>
      <p:grpSpPr>
        <a:xfrm>
          <a:off x="0" y="0"/>
          <a:ext cx="0" cy="0"/>
          <a:chOff x="0" y="0"/>
          <a:chExt cx="0" cy="0"/>
        </a:xfrm>
      </p:grpSpPr>
      <p:sp>
        <p:nvSpPr>
          <p:cNvPr id="3" name="PPT Accessibility"/>
          <p:cNvSpPr>
            <a:spLocks noGrp="1"/>
          </p:cNvSpPr>
          <p:nvPr>
            <p:ph type="subTitle" idx="1" hasCustomPrompt="1"/>
          </p:nvPr>
        </p:nvSpPr>
        <p:spPr>
          <a:xfrm>
            <a:off x="2667000" y="1597306"/>
            <a:ext cx="6581494" cy="1477328"/>
          </a:xfrm>
          <a:noFill/>
        </p:spPr>
        <p:txBody>
          <a:bodyPr wrap="square" lIns="0" tIns="0" rIns="0" bIns="0" anchor="t" anchorCtr="0">
            <a:spAutoFit/>
          </a:bodyPr>
          <a:lstStyle>
            <a:lvl1pPr marL="0" indent="0" algn="l">
              <a:buNone/>
              <a:defRPr lang="en-US" b="0" baseline="0" smtClean="0">
                <a:solidFill>
                  <a:schemeClr val="bg1"/>
                </a:solidFill>
                <a:effectLst/>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effectLst/>
                <a:latin typeface="Acumin Pro" panose="020B0504020202020204" pitchFamily="34" charset="77"/>
              </a:rPr>
              <a:t>Support the Purdue University brand in your presentations by using a brand-friendly template. This template uses an accessible master layout. Please note that some changes  to the PowerPoint template could impact accessibility by those with disabilities. Follow the instructions provided by Microsoft Office to ensure that your PowerPoint presentations are accessible to all users:</a:t>
            </a:r>
          </a:p>
        </p:txBody>
      </p:sp>
      <p:sp>
        <p:nvSpPr>
          <p:cNvPr id="10" name="PPT Accessibility URL" descr="PPT Accessibility URL">
            <a:extLst>
              <a:ext uri="{FF2B5EF4-FFF2-40B4-BE49-F238E27FC236}">
                <a16:creationId xmlns:a16="http://schemas.microsoft.com/office/drawing/2014/main" id="{E7B0FF2D-DA7C-7D4D-A32C-27DF18CCFBFD}"/>
              </a:ext>
            </a:extLst>
          </p:cNvPr>
          <p:cNvSpPr>
            <a:spLocks noGrp="1"/>
          </p:cNvSpPr>
          <p:nvPr>
            <p:ph type="body" sz="quarter" idx="14" hasCustomPrompt="1"/>
          </p:nvPr>
        </p:nvSpPr>
        <p:spPr>
          <a:xfrm>
            <a:off x="2667001" y="3813008"/>
            <a:ext cx="6725194" cy="602238"/>
          </a:xfrm>
        </p:spPr>
        <p:txBody>
          <a:bodyPr lIns="0" tIns="0" rIns="0" bIns="0">
            <a:normAutofit/>
          </a:bodyPr>
          <a:lstStyle>
            <a:lvl1pPr marL="0" marR="0" indent="0" algn="l" defTabSz="457200" rtl="0" eaLnBrk="1" fontAlgn="auto" latinLnBrk="0" hangingPunct="1">
              <a:lnSpc>
                <a:spcPct val="100000"/>
              </a:lnSpc>
              <a:spcBef>
                <a:spcPts val="0"/>
              </a:spcBef>
              <a:spcAft>
                <a:spcPts val="0"/>
              </a:spcAft>
              <a:buClrTx/>
              <a:buSzTx/>
              <a:buFontTx/>
              <a:buNone/>
              <a:tabLst/>
              <a:defRPr sz="1800" b="0" i="0" normalizeH="0" baseline="0">
                <a:solidFill>
                  <a:schemeClr val="bg1"/>
                </a:solidFill>
                <a:latin typeface="Acumin Pro" panose="020B0504020202020204" pitchFamily="34" charset="77"/>
              </a:defRPr>
            </a:lvl1pPr>
          </a:lstStyle>
          <a:p>
            <a:r>
              <a:rPr lang="en-US" dirty="0">
                <a:solidFill>
                  <a:schemeClr val="accent1"/>
                </a:solidFill>
                <a:effectLst/>
                <a:latin typeface="Acumin Pro" panose="020B0504020202020204" pitchFamily="34" charset="77"/>
              </a:rPr>
              <a:t>https://</a:t>
            </a:r>
            <a:r>
              <a:rPr lang="en-US" dirty="0" err="1">
                <a:solidFill>
                  <a:schemeClr val="accent1"/>
                </a:solidFill>
                <a:effectLst/>
                <a:latin typeface="Acumin Pro" panose="020B0504020202020204" pitchFamily="34" charset="77"/>
              </a:rPr>
              <a:t>support.office.com</a:t>
            </a:r>
            <a:r>
              <a:rPr lang="en-US" dirty="0">
                <a:solidFill>
                  <a:schemeClr val="accent1"/>
                </a:solidFill>
                <a:effectLst/>
                <a:latin typeface="Acumin Pro" panose="020B0504020202020204" pitchFamily="34" charset="77"/>
              </a:rPr>
              <a:t>/</a:t>
            </a:r>
            <a:r>
              <a:rPr lang="en-US" dirty="0" err="1">
                <a:solidFill>
                  <a:schemeClr val="accent1"/>
                </a:solidFill>
                <a:effectLst/>
                <a:latin typeface="Acumin Pro" panose="020B0504020202020204" pitchFamily="34" charset="77"/>
              </a:rPr>
              <a:t>en</a:t>
            </a:r>
            <a:r>
              <a:rPr lang="en-US" dirty="0">
                <a:solidFill>
                  <a:schemeClr val="accent1"/>
                </a:solidFill>
                <a:effectLst/>
                <a:latin typeface="Acumin Pro" panose="020B0504020202020204" pitchFamily="34" charset="77"/>
              </a:rPr>
              <a:t>-us/article/Make-your-PowerPoint-presentations-accessible-6f7772b2-2f33-4bd2-8ca7-dae3b2b3ef25</a:t>
            </a:r>
            <a:endParaRPr lang="en-US" dirty="0">
              <a:solidFill>
                <a:schemeClr val="accent1"/>
              </a:solidFill>
            </a:endParaRPr>
          </a:p>
        </p:txBody>
      </p:sp>
      <p:sp>
        <p:nvSpPr>
          <p:cNvPr id="7" name="Date"/>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10/29/2025</a:t>
            </a:fld>
            <a:endParaRPr lang="en-US" dirty="0"/>
          </a:p>
        </p:txBody>
      </p:sp>
      <p:sp>
        <p:nvSpPr>
          <p:cNvPr id="9" name="Slide Number"/>
          <p:cNvSpPr>
            <a:spLocks noGrp="1"/>
          </p:cNvSpPr>
          <p:nvPr>
            <p:ph type="sldNum" sz="quarter" idx="12"/>
          </p:nvPr>
        </p:nvSpPr>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13" name="Line 1">
            <a:extLst>
              <a:ext uri="{FF2B5EF4-FFF2-40B4-BE49-F238E27FC236}">
                <a16:creationId xmlns:a16="http://schemas.microsoft.com/office/drawing/2014/main" id="{A746CD05-A191-A442-A002-3AD9F5CCAD2A}"/>
              </a:ext>
            </a:extLst>
          </p:cNvPr>
          <p:cNvCxnSpPr/>
          <p:nvPr/>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Line 2">
            <a:extLst>
              <a:ext uri="{FF2B5EF4-FFF2-40B4-BE49-F238E27FC236}">
                <a16:creationId xmlns:a16="http://schemas.microsoft.com/office/drawing/2014/main" id="{28D7FFFF-8236-024F-9988-3350427826A4}"/>
              </a:ext>
            </a:extLst>
          </p:cNvPr>
          <p:cNvCxnSpPr>
            <a:cxnSpLocks/>
          </p:cNvCxnSpPr>
          <p:nvPr/>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Line 3">
            <a:extLst>
              <a:ext uri="{FF2B5EF4-FFF2-40B4-BE49-F238E27FC236}">
                <a16:creationId xmlns:a16="http://schemas.microsoft.com/office/drawing/2014/main" id="{7AA55D00-5647-D94E-B9DD-67ABB620C647}"/>
              </a:ext>
            </a:extLst>
          </p:cNvPr>
          <p:cNvCxnSpPr>
            <a:cxnSpLocks/>
          </p:cNvCxnSpPr>
          <p:nvPr/>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urdue CoBrand">
            <a:extLst>
              <a:ext uri="{FF2B5EF4-FFF2-40B4-BE49-F238E27FC236}">
                <a16:creationId xmlns:a16="http://schemas.microsoft.com/office/drawing/2014/main" id="{C9CD174E-FD96-2241-A6F9-04DEE0EA8DCE}"/>
              </a:ext>
            </a:extLst>
          </p:cNvPr>
          <p:cNvPicPr>
            <a:picLocks noChangeAspect="1"/>
          </p:cNvPicPr>
          <p:nvPr userDrawn="1"/>
        </p:nvPicPr>
        <p:blipFill>
          <a:blip r:embed="rId2"/>
          <a:srcRect/>
          <a:stretch/>
        </p:blipFill>
        <p:spPr>
          <a:xfrm>
            <a:off x="1811903" y="5987080"/>
            <a:ext cx="4243984" cy="449363"/>
          </a:xfrm>
          <a:prstGeom prst="rect">
            <a:avLst/>
          </a:prstGeom>
        </p:spPr>
      </p:pic>
    </p:spTree>
    <p:extLst>
      <p:ext uri="{BB962C8B-B14F-4D97-AF65-F5344CB8AC3E}">
        <p14:creationId xmlns:p14="http://schemas.microsoft.com/office/powerpoint/2010/main" val="19730699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4032" userDrawn="1">
          <p15:clr>
            <a:srgbClr val="FBAE40"/>
          </p15:clr>
        </p15:guide>
        <p15:guide id="4" pos="5496" userDrawn="1">
          <p15:clr>
            <a:srgbClr val="FBAE40"/>
          </p15:clr>
        </p15:guide>
        <p15:guide id="5" pos="6848" userDrawn="1">
          <p15:clr>
            <a:srgbClr val="FBAE40"/>
          </p15:clr>
        </p15:guide>
        <p15:guide id="6" orient="horz" pos="4080" userDrawn="1">
          <p15:clr>
            <a:srgbClr val="FBAE40"/>
          </p15:clr>
        </p15:guide>
        <p15:guide id="7" pos="1312" userDrawn="1">
          <p15:clr>
            <a:srgbClr val="FBAE40"/>
          </p15:clr>
        </p15:guide>
        <p15:guide id="8" pos="1680" userDrawn="1">
          <p15:clr>
            <a:srgbClr val="FBAE40"/>
          </p15:clr>
        </p15:guide>
        <p15:guide id="9" pos="6264" userDrawn="1">
          <p15:clr>
            <a:srgbClr val="FBAE40"/>
          </p15:clr>
        </p15:guide>
        <p15:guide id="10" pos="6360" userDrawn="1">
          <p15:clr>
            <a:srgbClr val="FBAE40"/>
          </p15:clr>
        </p15:guide>
        <p15:guide id="11" orient="horz" pos="10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accent4"/>
        </a:solidFill>
        <a:effectLst/>
      </p:bgPr>
    </p:bg>
    <p:spTree>
      <p:nvGrpSpPr>
        <p:cNvPr id="1" name=""/>
        <p:cNvGrpSpPr/>
        <p:nvPr/>
      </p:nvGrpSpPr>
      <p:grpSpPr>
        <a:xfrm>
          <a:off x="0" y="0"/>
          <a:ext cx="0" cy="0"/>
          <a:chOff x="0" y="0"/>
          <a:chExt cx="0" cy="0"/>
        </a:xfrm>
      </p:grpSpPr>
      <p:sp>
        <p:nvSpPr>
          <p:cNvPr id="20" name="Black Background">
            <a:extLst>
              <a:ext uri="{FF2B5EF4-FFF2-40B4-BE49-F238E27FC236}">
                <a16:creationId xmlns:a16="http://schemas.microsoft.com/office/drawing/2014/main" id="{EACB2F0C-1C3D-CD48-AD13-7B5AD683F7C7}"/>
              </a:ext>
            </a:extLst>
          </p:cNvPr>
          <p:cNvSpPr/>
          <p:nvPr/>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cNvSpPr>
            <a:spLocks noGrp="1"/>
          </p:cNvSpPr>
          <p:nvPr>
            <p:ph type="ctrTitle" hasCustomPrompt="1"/>
          </p:nvPr>
        </p:nvSpPr>
        <p:spPr bwMode="blackWhite">
          <a:xfrm>
            <a:off x="2647199" y="1501742"/>
            <a:ext cx="6801602" cy="664797"/>
          </a:xfrm>
          <a:prstGeom prst="rect">
            <a:avLst/>
          </a:prstGeom>
          <a:noFill/>
          <a:ln w="38100">
            <a:noFill/>
          </a:ln>
        </p:spPr>
        <p:txBody>
          <a:bodyPr wrap="square" lIns="0" tIns="0" rIns="0" bIns="0" anchor="t" anchorCtr="0">
            <a:spAutoFit/>
          </a:bodyPr>
          <a:lstStyle>
            <a:lvl1pPr algn="l">
              <a:defRPr sz="4800" b="1" i="1" spc="0" baseline="0">
                <a:solidFill>
                  <a:schemeClr val="tx2"/>
                </a:solidFill>
                <a:latin typeface="Franklin Gothic Book" panose="020B0503020102020204" pitchFamily="34" charset="0"/>
              </a:defRPr>
            </a:lvl1pPr>
          </a:lstStyle>
          <a:p>
            <a:r>
              <a:rPr lang="en-US" dirty="0"/>
              <a:t>Title</a:t>
            </a:r>
          </a:p>
        </p:txBody>
      </p:sp>
      <p:sp>
        <p:nvSpPr>
          <p:cNvPr id="3" name="Subtitle"/>
          <p:cNvSpPr>
            <a:spLocks noGrp="1"/>
          </p:cNvSpPr>
          <p:nvPr>
            <p:ph type="subTitle" idx="1" hasCustomPrompt="1"/>
          </p:nvPr>
        </p:nvSpPr>
        <p:spPr>
          <a:xfrm>
            <a:off x="2647199" y="3429000"/>
            <a:ext cx="6801603" cy="336015"/>
          </a:xfrm>
          <a:noFill/>
        </p:spPr>
        <p:txBody>
          <a:bodyPr wrap="square" lIns="0" tIns="0" rIns="0" bIns="0" anchor="t" anchorCtr="0">
            <a:spAutoFit/>
          </a:bodyPr>
          <a:lstStyle>
            <a:lvl1pPr marL="0" indent="0" algn="l">
              <a:buNone/>
              <a:defRPr sz="2200" b="1" i="0" baseline="0">
                <a:solidFill>
                  <a:schemeClr val="accent4"/>
                </a:solidFill>
                <a:latin typeface="Franklin Gothic Demi" panose="020B06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sp>
        <p:nvSpPr>
          <p:cNvPr id="12" name="Date">
            <a:extLst>
              <a:ext uri="{FF2B5EF4-FFF2-40B4-BE49-F238E27FC236}">
                <a16:creationId xmlns:a16="http://schemas.microsoft.com/office/drawing/2014/main" id="{569EEC58-EAB4-064A-8F4A-AFD41D2C52E3}"/>
              </a:ext>
            </a:extLst>
          </p:cNvPr>
          <p:cNvSpPr>
            <a:spLocks noGrp="1"/>
          </p:cNvSpPr>
          <p:nvPr>
            <p:ph type="dt" sz="half" idx="10"/>
          </p:nvPr>
        </p:nvSpPr>
        <p:spPr>
          <a:xfrm>
            <a:off x="8926248" y="6220740"/>
            <a:ext cx="1021891" cy="323968"/>
          </a:xfrm>
        </p:spPr>
        <p:txBody>
          <a:bodyPr/>
          <a:lstStyle>
            <a:lvl1pPr>
              <a:defRPr>
                <a:solidFill>
                  <a:schemeClr val="accent4">
                    <a:alpha val="70000"/>
                  </a:schemeClr>
                </a:solidFill>
              </a:defRPr>
            </a:lvl1pPr>
          </a:lstStyle>
          <a:p>
            <a:fld id="{D47A9A36-4EB0-BF46-AE48-7CDA251B954B}" type="datetime1">
              <a:rPr lang="en-US" smtClean="0"/>
              <a:pPr/>
              <a:t>10/29/2025</a:t>
            </a:fld>
            <a:endParaRPr lang="en-US" dirty="0"/>
          </a:p>
        </p:txBody>
      </p:sp>
      <p:sp>
        <p:nvSpPr>
          <p:cNvPr id="14" name="Slide Number">
            <a:extLst>
              <a:ext uri="{FF2B5EF4-FFF2-40B4-BE49-F238E27FC236}">
                <a16:creationId xmlns:a16="http://schemas.microsoft.com/office/drawing/2014/main" id="{F5536D05-EE19-B94F-AEFA-CBB9C74BE38E}"/>
              </a:ext>
            </a:extLst>
          </p:cNvPr>
          <p:cNvSpPr>
            <a:spLocks noGrp="1"/>
          </p:cNvSpPr>
          <p:nvPr>
            <p:ph type="sldNum" sz="quarter" idx="12"/>
          </p:nvPr>
        </p:nvSpPr>
        <p:spPr>
          <a:xfrm>
            <a:off x="10096500" y="6200875"/>
            <a:ext cx="487680" cy="365760"/>
          </a:xfrm>
        </p:spPr>
        <p:txBody>
          <a:bodyPr/>
          <a:lstStyle>
            <a:lvl1pPr>
              <a:defRPr>
                <a:solidFill>
                  <a:schemeClr val="accent4"/>
                </a:solidFill>
              </a:defRPr>
            </a:lvl1pPr>
          </a:lstStyle>
          <a:p>
            <a:fld id="{8A7A6979-0714-4377-B894-6BE4C2D6E202}" type="slidenum">
              <a:rPr lang="en-US" smtClean="0"/>
              <a:pPr/>
              <a:t>‹#›</a:t>
            </a:fld>
            <a:endParaRPr lang="en-US" dirty="0"/>
          </a:p>
        </p:txBody>
      </p:sp>
      <p:cxnSp>
        <p:nvCxnSpPr>
          <p:cNvPr id="16" name="Line 1">
            <a:extLst>
              <a:ext uri="{FF2B5EF4-FFF2-40B4-BE49-F238E27FC236}">
                <a16:creationId xmlns:a16="http://schemas.microsoft.com/office/drawing/2014/main" id="{6A4A8F82-5B38-7048-AC2C-C6614B1C1F87}"/>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Line 2">
            <a:extLst>
              <a:ext uri="{FF2B5EF4-FFF2-40B4-BE49-F238E27FC236}">
                <a16:creationId xmlns:a16="http://schemas.microsoft.com/office/drawing/2014/main" id="{8D8B04B8-2399-454A-B669-A05BD4291FE0}"/>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Line 3">
            <a:extLst>
              <a:ext uri="{FF2B5EF4-FFF2-40B4-BE49-F238E27FC236}">
                <a16:creationId xmlns:a16="http://schemas.microsoft.com/office/drawing/2014/main" id="{E7D4788F-092F-E04C-9AB1-9F6377412706}"/>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Purdue CoBrand">
            <a:extLst>
              <a:ext uri="{FF2B5EF4-FFF2-40B4-BE49-F238E27FC236}">
                <a16:creationId xmlns:a16="http://schemas.microsoft.com/office/drawing/2014/main" id="{35863FF8-FC78-8245-B0B0-E1D4313A3AF5}"/>
              </a:ext>
            </a:extLst>
          </p:cNvPr>
          <p:cNvPicPr>
            <a:picLocks noChangeAspect="1"/>
          </p:cNvPicPr>
          <p:nvPr userDrawn="1"/>
        </p:nvPicPr>
        <p:blipFill>
          <a:blip r:embed="rId2"/>
          <a:srcRect/>
          <a:stretch/>
        </p:blipFill>
        <p:spPr>
          <a:xfrm>
            <a:off x="1811903" y="5987081"/>
            <a:ext cx="4243984" cy="449363"/>
          </a:xfrm>
          <a:prstGeom prst="rect">
            <a:avLst/>
          </a:prstGeom>
        </p:spPr>
      </p:pic>
    </p:spTree>
    <p:extLst>
      <p:ext uri="{BB962C8B-B14F-4D97-AF65-F5344CB8AC3E}">
        <p14:creationId xmlns:p14="http://schemas.microsoft.com/office/powerpoint/2010/main" val="24635021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pos="165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Slide - Copy">
    <p:bg>
      <p:bgPr>
        <a:solidFill>
          <a:schemeClr val="accent4"/>
        </a:solidFill>
        <a:effectLst/>
      </p:bgPr>
    </p:bg>
    <p:spTree>
      <p:nvGrpSpPr>
        <p:cNvPr id="1" name=""/>
        <p:cNvGrpSpPr/>
        <p:nvPr/>
      </p:nvGrpSpPr>
      <p:grpSpPr>
        <a:xfrm>
          <a:off x="0" y="0"/>
          <a:ext cx="0" cy="0"/>
          <a:chOff x="0" y="0"/>
          <a:chExt cx="0" cy="0"/>
        </a:xfrm>
      </p:grpSpPr>
      <p:sp>
        <p:nvSpPr>
          <p:cNvPr id="26" name="Black Bar">
            <a:extLst>
              <a:ext uri="{FF2B5EF4-FFF2-40B4-BE49-F238E27FC236}">
                <a16:creationId xmlns:a16="http://schemas.microsoft.com/office/drawing/2014/main" id="{A66A797F-CC2D-F24E-8D26-8632FDB68C4C}"/>
              </a:ext>
            </a:extLst>
          </p:cNvPr>
          <p:cNvSpPr/>
          <p:nvPr userDrawn="1"/>
        </p:nvSpPr>
        <p:spPr>
          <a:xfrm>
            <a:off x="1773864" y="0"/>
            <a:ext cx="9884736" cy="9081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cNvSpPr>
            <a:spLocks noGrp="1"/>
          </p:cNvSpPr>
          <p:nvPr>
            <p:ph type="ctrTitle" hasCustomPrompt="1"/>
          </p:nvPr>
        </p:nvSpPr>
        <p:spPr bwMode="blackWhite">
          <a:xfrm>
            <a:off x="2107520" y="437030"/>
            <a:ext cx="7988980" cy="332399"/>
          </a:xfrm>
          <a:prstGeom prst="rect">
            <a:avLst/>
          </a:prstGeom>
          <a:noFill/>
          <a:ln w="38100">
            <a:noFill/>
          </a:ln>
        </p:spPr>
        <p:txBody>
          <a:bodyPr wrap="square" lIns="0" tIns="0" rIns="0" bIns="0" anchor="t" anchorCtr="0">
            <a:spAutoFit/>
          </a:bodyPr>
          <a:lstStyle>
            <a:lvl1pPr algn="l">
              <a:defRPr sz="2400" b="1" i="1" cap="none" spc="0" baseline="0">
                <a:solidFill>
                  <a:schemeClr val="tx2"/>
                </a:solidFill>
                <a:latin typeface="Franklin Gothic Book" panose="020B0503020102020204" pitchFamily="34" charset="0"/>
              </a:defRPr>
            </a:lvl1pPr>
          </a:lstStyle>
          <a:p>
            <a:r>
              <a:rPr lang="en-US" dirty="0"/>
              <a:t>Title</a:t>
            </a:r>
          </a:p>
        </p:txBody>
      </p:sp>
      <p:sp>
        <p:nvSpPr>
          <p:cNvPr id="3" name="Subhead"/>
          <p:cNvSpPr>
            <a:spLocks noGrp="1"/>
          </p:cNvSpPr>
          <p:nvPr>
            <p:ph type="subTitle" idx="1" hasCustomPrompt="1"/>
          </p:nvPr>
        </p:nvSpPr>
        <p:spPr>
          <a:xfrm>
            <a:off x="2107518" y="1345167"/>
            <a:ext cx="7988982" cy="276999"/>
          </a:xfrm>
          <a:noFill/>
        </p:spPr>
        <p:txBody>
          <a:bodyPr wrap="square" lIns="0" tIns="0" rIns="0" bIns="0" anchor="t" anchorCtr="0">
            <a:spAutoFit/>
          </a:bodyPr>
          <a:lstStyle>
            <a:lvl1pPr marL="0" indent="0" algn="l">
              <a:buNone/>
              <a:defRPr sz="1800" b="1" i="0" baseline="0">
                <a:solidFill>
                  <a:schemeClr val="accent2"/>
                </a:solidFill>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a:t>
            </a:r>
          </a:p>
        </p:txBody>
      </p:sp>
      <p:sp>
        <p:nvSpPr>
          <p:cNvPr id="25" name="Body Text">
            <a:extLst>
              <a:ext uri="{FF2B5EF4-FFF2-40B4-BE49-F238E27FC236}">
                <a16:creationId xmlns:a16="http://schemas.microsoft.com/office/drawing/2014/main" id="{9F798712-4535-8340-942F-27FFD5E3FE9B}"/>
              </a:ext>
            </a:extLst>
          </p:cNvPr>
          <p:cNvSpPr>
            <a:spLocks noGrp="1"/>
          </p:cNvSpPr>
          <p:nvPr>
            <p:ph type="body" sz="quarter" idx="14" hasCustomPrompt="1"/>
          </p:nvPr>
        </p:nvSpPr>
        <p:spPr>
          <a:xfrm>
            <a:off x="2666056" y="1917389"/>
            <a:ext cx="7366000"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600" b="0" i="0" normalizeH="0" baseline="0">
                <a:solidFill>
                  <a:schemeClr val="bg1"/>
                </a:solidFill>
                <a:latin typeface="Franklin Gothic Book" panose="020B0503020102020204" pitchFamily="34" charset="0"/>
              </a:defRPr>
            </a:lvl1pPr>
          </a:lstStyle>
          <a:p>
            <a:pPr lvl="0"/>
            <a:r>
              <a:rPr lang="en-US" dirty="0"/>
              <a:t>Bulleted copy. Keep it short with bite-size chunks of information.</a:t>
            </a:r>
          </a:p>
          <a:p>
            <a:pPr lvl="0"/>
            <a:endParaRPr lang="en-US" dirty="0"/>
          </a:p>
          <a:p>
            <a:pPr lvl="0"/>
            <a:r>
              <a:rPr lang="en-US" dirty="0"/>
              <a:t>Bulleted copy.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Keep it short with bite-size chunks of information.</a:t>
            </a:r>
          </a:p>
          <a:p>
            <a:pPr lvl="0"/>
            <a:endParaRPr lang="en-US" dirty="0"/>
          </a:p>
        </p:txBody>
      </p:sp>
      <p:sp>
        <p:nvSpPr>
          <p:cNvPr id="16" name="Date">
            <a:extLst>
              <a:ext uri="{FF2B5EF4-FFF2-40B4-BE49-F238E27FC236}">
                <a16:creationId xmlns:a16="http://schemas.microsoft.com/office/drawing/2014/main" id="{714077B3-45FB-7B43-8C19-3B82C49646B4}"/>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10/29/2025</a:t>
            </a:fld>
            <a:endParaRPr lang="en-US" dirty="0"/>
          </a:p>
        </p:txBody>
      </p:sp>
      <p:sp>
        <p:nvSpPr>
          <p:cNvPr id="17" name="Slide Number">
            <a:extLst>
              <a:ext uri="{FF2B5EF4-FFF2-40B4-BE49-F238E27FC236}">
                <a16:creationId xmlns:a16="http://schemas.microsoft.com/office/drawing/2014/main" id="{9877984E-7F57-E649-B9D9-2C2240989518}"/>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19" name="Line 1">
            <a:extLst>
              <a:ext uri="{FF2B5EF4-FFF2-40B4-BE49-F238E27FC236}">
                <a16:creationId xmlns:a16="http://schemas.microsoft.com/office/drawing/2014/main" id="{8936B9D4-1725-3C46-A32F-C28623BAF26E}"/>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Line 2">
            <a:extLst>
              <a:ext uri="{FF2B5EF4-FFF2-40B4-BE49-F238E27FC236}">
                <a16:creationId xmlns:a16="http://schemas.microsoft.com/office/drawing/2014/main" id="{A8A4F2E5-6CC0-B242-9D18-2446C1D7DE8A}"/>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Line 3">
            <a:extLst>
              <a:ext uri="{FF2B5EF4-FFF2-40B4-BE49-F238E27FC236}">
                <a16:creationId xmlns:a16="http://schemas.microsoft.com/office/drawing/2014/main" id="{C07B1E83-E1FB-094B-9F1A-D5DE2767524D}"/>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urdue CoBrand">
            <a:extLst>
              <a:ext uri="{FF2B5EF4-FFF2-40B4-BE49-F238E27FC236}">
                <a16:creationId xmlns:a16="http://schemas.microsoft.com/office/drawing/2014/main" id="{7819D8BA-413A-6641-B706-270206BA2A7C}"/>
              </a:ext>
            </a:extLst>
          </p:cNvPr>
          <p:cNvPicPr>
            <a:picLocks noChangeAspect="1"/>
          </p:cNvPicPr>
          <p:nvPr userDrawn="1"/>
        </p:nvPicPr>
        <p:blipFill>
          <a:blip r:embed="rId2"/>
          <a:srcRect/>
          <a:stretch/>
        </p:blipFill>
        <p:spPr>
          <a:xfrm>
            <a:off x="1811903" y="5987080"/>
            <a:ext cx="4243984" cy="449363"/>
          </a:xfrm>
          <a:prstGeom prst="rect">
            <a:avLst/>
          </a:prstGeom>
        </p:spPr>
      </p:pic>
    </p:spTree>
    <p:extLst>
      <p:ext uri="{BB962C8B-B14F-4D97-AF65-F5344CB8AC3E}">
        <p14:creationId xmlns:p14="http://schemas.microsoft.com/office/powerpoint/2010/main" val="140675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pos="1104">
          <p15:clr>
            <a:srgbClr val="FBAE40"/>
          </p15:clr>
        </p15:guide>
        <p15:guide id="8" pos="16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 Copy &amp; Pic/Chart">
    <p:bg>
      <p:bgPr>
        <a:solidFill>
          <a:schemeClr val="accent4"/>
        </a:solidFill>
        <a:effectLst/>
      </p:bgPr>
    </p:bg>
    <p:spTree>
      <p:nvGrpSpPr>
        <p:cNvPr id="1" name=""/>
        <p:cNvGrpSpPr/>
        <p:nvPr/>
      </p:nvGrpSpPr>
      <p:grpSpPr>
        <a:xfrm>
          <a:off x="0" y="0"/>
          <a:ext cx="0" cy="0"/>
          <a:chOff x="0" y="0"/>
          <a:chExt cx="0" cy="0"/>
        </a:xfrm>
      </p:grpSpPr>
      <p:sp>
        <p:nvSpPr>
          <p:cNvPr id="24" name="Black Bar">
            <a:extLst>
              <a:ext uri="{FF2B5EF4-FFF2-40B4-BE49-F238E27FC236}">
                <a16:creationId xmlns:a16="http://schemas.microsoft.com/office/drawing/2014/main" id="{0AE71379-F4D3-D147-9F20-2FE1D74B2D32}"/>
              </a:ext>
            </a:extLst>
          </p:cNvPr>
          <p:cNvSpPr/>
          <p:nvPr userDrawn="1"/>
        </p:nvSpPr>
        <p:spPr>
          <a:xfrm>
            <a:off x="1773864" y="0"/>
            <a:ext cx="9884736" cy="9081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5" name="Title">
            <a:extLst>
              <a:ext uri="{FF2B5EF4-FFF2-40B4-BE49-F238E27FC236}">
                <a16:creationId xmlns:a16="http://schemas.microsoft.com/office/drawing/2014/main" id="{D4CA7DB8-4B5A-E34E-9870-26F61BD3E47D}"/>
              </a:ext>
            </a:extLst>
          </p:cNvPr>
          <p:cNvSpPr>
            <a:spLocks noGrp="1"/>
          </p:cNvSpPr>
          <p:nvPr>
            <p:ph type="ctrTitle" hasCustomPrompt="1"/>
          </p:nvPr>
        </p:nvSpPr>
        <p:spPr bwMode="blackWhite">
          <a:xfrm>
            <a:off x="2107520" y="437030"/>
            <a:ext cx="7988978" cy="332399"/>
          </a:xfrm>
          <a:prstGeom prst="rect">
            <a:avLst/>
          </a:prstGeom>
          <a:noFill/>
          <a:ln w="38100">
            <a:noFill/>
          </a:ln>
        </p:spPr>
        <p:txBody>
          <a:bodyPr wrap="square" lIns="0" tIns="0" rIns="0" bIns="0" anchor="t" anchorCtr="0">
            <a:spAutoFit/>
          </a:bodyPr>
          <a:lstStyle>
            <a:lvl1pPr algn="l">
              <a:defRPr sz="2400" b="1" i="1" cap="none" spc="0" baseline="0">
                <a:solidFill>
                  <a:schemeClr val="tx2"/>
                </a:solidFill>
                <a:latin typeface="Franklin Gothic Book" panose="020B0503020102020204" pitchFamily="34" charset="0"/>
              </a:defRPr>
            </a:lvl1pPr>
          </a:lstStyle>
          <a:p>
            <a:r>
              <a:rPr lang="en-US" dirty="0"/>
              <a:t>Title</a:t>
            </a:r>
          </a:p>
        </p:txBody>
      </p:sp>
      <p:sp>
        <p:nvSpPr>
          <p:cNvPr id="26" name="Subhead">
            <a:extLst>
              <a:ext uri="{FF2B5EF4-FFF2-40B4-BE49-F238E27FC236}">
                <a16:creationId xmlns:a16="http://schemas.microsoft.com/office/drawing/2014/main" id="{1DF492DD-020D-4A41-BFE4-1758A1DC7221}"/>
              </a:ext>
            </a:extLst>
          </p:cNvPr>
          <p:cNvSpPr>
            <a:spLocks noGrp="1"/>
          </p:cNvSpPr>
          <p:nvPr>
            <p:ph type="subTitle" idx="1" hasCustomPrompt="1"/>
          </p:nvPr>
        </p:nvSpPr>
        <p:spPr>
          <a:xfrm>
            <a:off x="2107518" y="1345167"/>
            <a:ext cx="7988980" cy="276999"/>
          </a:xfrm>
          <a:noFill/>
        </p:spPr>
        <p:txBody>
          <a:bodyPr wrap="square" lIns="0" tIns="0" rIns="0" bIns="0" anchor="t" anchorCtr="0">
            <a:spAutoFit/>
          </a:bodyPr>
          <a:lstStyle>
            <a:lvl1pPr marL="0" indent="0" algn="l">
              <a:buNone/>
              <a:defRPr sz="1800" b="1" i="0" baseline="0">
                <a:solidFill>
                  <a:schemeClr val="accent2"/>
                </a:solidFill>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a:t>
            </a:r>
          </a:p>
        </p:txBody>
      </p:sp>
      <p:sp>
        <p:nvSpPr>
          <p:cNvPr id="19" name="Body Text">
            <a:extLst>
              <a:ext uri="{FF2B5EF4-FFF2-40B4-BE49-F238E27FC236}">
                <a16:creationId xmlns:a16="http://schemas.microsoft.com/office/drawing/2014/main" id="{4B5CCD19-DE21-294C-8B0B-3103725AE082}"/>
              </a:ext>
            </a:extLst>
          </p:cNvPr>
          <p:cNvSpPr>
            <a:spLocks noGrp="1"/>
          </p:cNvSpPr>
          <p:nvPr>
            <p:ph type="body" sz="quarter" idx="14" hasCustomPrompt="1"/>
          </p:nvPr>
        </p:nvSpPr>
        <p:spPr>
          <a:xfrm>
            <a:off x="2665914" y="1917389"/>
            <a:ext cx="4081046"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600" b="0" i="0" normalizeH="0" baseline="0">
                <a:solidFill>
                  <a:schemeClr val="bg1"/>
                </a:solidFill>
                <a:latin typeface="Franklin Gothic Book" panose="020B0503020102020204" pitchFamily="34" charset="0"/>
              </a:defRPr>
            </a:lvl1pPr>
          </a:lstStyle>
          <a:p>
            <a:pPr lvl="0"/>
            <a:r>
              <a:rPr lang="en-US" dirty="0"/>
              <a:t>Bulleted copy. Keep it short with bite-size chunks of information.</a:t>
            </a:r>
          </a:p>
          <a:p>
            <a:pPr lvl="0"/>
            <a:endParaRPr lang="en-US" dirty="0"/>
          </a:p>
          <a:p>
            <a:pPr lvl="0"/>
            <a:r>
              <a:rPr lang="en-US" dirty="0"/>
              <a:t>Bulleted copy.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Keep it short with bite-size chunks of information.</a:t>
            </a:r>
          </a:p>
          <a:p>
            <a:pPr lvl="0"/>
            <a:endParaRPr lang="en-US" dirty="0"/>
          </a:p>
          <a:p>
            <a:pPr lvl="0"/>
            <a:endParaRPr lang="en-US" dirty="0"/>
          </a:p>
        </p:txBody>
      </p:sp>
      <p:cxnSp>
        <p:nvCxnSpPr>
          <p:cNvPr id="23" name="Line 3">
            <a:extLst>
              <a:ext uri="{FF2B5EF4-FFF2-40B4-BE49-F238E27FC236}">
                <a16:creationId xmlns:a16="http://schemas.microsoft.com/office/drawing/2014/main" id="{3DD2E154-C016-6747-BDF9-C46FDA8D5574}"/>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Picture or Chart" descr="Picture or Chart">
            <a:extLst>
              <a:ext uri="{FF2B5EF4-FFF2-40B4-BE49-F238E27FC236}">
                <a16:creationId xmlns:a16="http://schemas.microsoft.com/office/drawing/2014/main" id="{699BD747-48B6-2547-8F7C-25A44594F612}"/>
              </a:ext>
            </a:extLst>
          </p:cNvPr>
          <p:cNvSpPr>
            <a:spLocks noGrp="1"/>
          </p:cNvSpPr>
          <p:nvPr>
            <p:ph sz="quarter" idx="13" hasCustomPrompt="1"/>
          </p:nvPr>
        </p:nvSpPr>
        <p:spPr>
          <a:xfrm>
            <a:off x="7093131" y="1920876"/>
            <a:ext cx="4561597" cy="2982913"/>
          </a:xfrm>
          <a:solidFill>
            <a:schemeClr val="accent4"/>
          </a:solidFill>
        </p:spPr>
        <p:txBody>
          <a:bodyPr lIns="0" tIns="0" rIns="0" bIns="0" anchor="ctr" anchorCtr="0"/>
          <a:lstStyle>
            <a:lvl1pPr algn="ctr">
              <a:defRPr b="0" i="0">
                <a:solidFill>
                  <a:schemeClr val="bg1"/>
                </a:solidFill>
                <a:latin typeface="Acumin Pro" panose="020B0504020202020204" pitchFamily="34" charset="77"/>
              </a:defRPr>
            </a:lvl1pPr>
            <a:lvl4pPr marL="685800" indent="0" algn="ctr">
              <a:buNone/>
              <a:defRPr>
                <a:solidFill>
                  <a:schemeClr val="bg1"/>
                </a:solidFill>
              </a:defRPr>
            </a:lvl4pPr>
          </a:lstStyle>
          <a:p>
            <a:pPr lvl="0"/>
            <a:r>
              <a:rPr lang="en-US" dirty="0"/>
              <a:t>Insert picture or chart here</a:t>
            </a:r>
          </a:p>
        </p:txBody>
      </p:sp>
      <p:sp>
        <p:nvSpPr>
          <p:cNvPr id="16" name="Date">
            <a:extLst>
              <a:ext uri="{FF2B5EF4-FFF2-40B4-BE49-F238E27FC236}">
                <a16:creationId xmlns:a16="http://schemas.microsoft.com/office/drawing/2014/main" id="{C8365B71-1339-9448-BF22-95AA51DA73FB}"/>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10/29/2025</a:t>
            </a:fld>
            <a:endParaRPr lang="en-US" dirty="0"/>
          </a:p>
        </p:txBody>
      </p:sp>
      <p:sp>
        <p:nvSpPr>
          <p:cNvPr id="17" name="Slide Number">
            <a:extLst>
              <a:ext uri="{FF2B5EF4-FFF2-40B4-BE49-F238E27FC236}">
                <a16:creationId xmlns:a16="http://schemas.microsoft.com/office/drawing/2014/main" id="{90CEF399-1C96-2B44-8CD0-34997E7B715B}"/>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21" name="Line 1">
            <a:extLst>
              <a:ext uri="{FF2B5EF4-FFF2-40B4-BE49-F238E27FC236}">
                <a16:creationId xmlns:a16="http://schemas.microsoft.com/office/drawing/2014/main" id="{CADA4B44-4E54-AC4F-B94D-753D8198844A}"/>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Line 2">
            <a:extLst>
              <a:ext uri="{FF2B5EF4-FFF2-40B4-BE49-F238E27FC236}">
                <a16:creationId xmlns:a16="http://schemas.microsoft.com/office/drawing/2014/main" id="{FC7C8D95-DE0A-F44D-8875-2ED2F195BB2F}"/>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2" name="Purdue CoBrand">
            <a:extLst>
              <a:ext uri="{FF2B5EF4-FFF2-40B4-BE49-F238E27FC236}">
                <a16:creationId xmlns:a16="http://schemas.microsoft.com/office/drawing/2014/main" id="{F8D8386B-0D43-664A-B6B7-C474C0595C63}"/>
              </a:ext>
            </a:extLst>
          </p:cNvPr>
          <p:cNvPicPr>
            <a:picLocks noChangeAspect="1"/>
          </p:cNvPicPr>
          <p:nvPr userDrawn="1"/>
        </p:nvPicPr>
        <p:blipFill>
          <a:blip r:embed="rId2"/>
          <a:srcRect/>
          <a:stretch/>
        </p:blipFill>
        <p:spPr>
          <a:xfrm>
            <a:off x="1811903" y="5987080"/>
            <a:ext cx="4243984" cy="449363"/>
          </a:xfrm>
          <a:prstGeom prst="rect">
            <a:avLst/>
          </a:prstGeom>
        </p:spPr>
      </p:pic>
    </p:spTree>
    <p:extLst>
      <p:ext uri="{BB962C8B-B14F-4D97-AF65-F5344CB8AC3E}">
        <p14:creationId xmlns:p14="http://schemas.microsoft.com/office/powerpoint/2010/main" val="18154640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4032">
          <p15:clr>
            <a:srgbClr val="FBAE40"/>
          </p15:clr>
        </p15:guide>
        <p15:guide id="4" pos="7344">
          <p15:clr>
            <a:srgbClr val="FBAE40"/>
          </p15:clr>
        </p15:guide>
        <p15:guide id="5" pos="6848">
          <p15:clr>
            <a:srgbClr val="FBAE40"/>
          </p15:clr>
        </p15:guide>
        <p15:guide id="6" orient="horz" pos="4080">
          <p15:clr>
            <a:srgbClr val="FBAE40"/>
          </p15:clr>
        </p15:guide>
        <p15:guide id="7" pos="1104">
          <p15:clr>
            <a:srgbClr val="FBAE40"/>
          </p15:clr>
        </p15:guide>
        <p15:guide id="8" pos="16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Slide - Picture">
    <p:bg>
      <p:bgPr>
        <a:solidFill>
          <a:schemeClr val="accent4"/>
        </a:solidFill>
        <a:effectLst/>
      </p:bgPr>
    </p:bg>
    <p:spTree>
      <p:nvGrpSpPr>
        <p:cNvPr id="1" name=""/>
        <p:cNvGrpSpPr/>
        <p:nvPr/>
      </p:nvGrpSpPr>
      <p:grpSpPr>
        <a:xfrm>
          <a:off x="0" y="0"/>
          <a:ext cx="0" cy="0"/>
          <a:chOff x="0" y="0"/>
          <a:chExt cx="0" cy="0"/>
        </a:xfrm>
      </p:grpSpPr>
      <p:sp>
        <p:nvSpPr>
          <p:cNvPr id="17" name="Picture" descr="Picture Description">
            <a:extLst>
              <a:ext uri="{FF2B5EF4-FFF2-40B4-BE49-F238E27FC236}">
                <a16:creationId xmlns:a16="http://schemas.microsoft.com/office/drawing/2014/main" id="{B6A7C9B5-3617-0144-A4ED-16186741E8C3}"/>
              </a:ext>
            </a:extLst>
          </p:cNvPr>
          <p:cNvSpPr>
            <a:spLocks noGrp="1"/>
          </p:cNvSpPr>
          <p:nvPr>
            <p:ph type="pic" sz="quarter" idx="13"/>
          </p:nvPr>
        </p:nvSpPr>
        <p:spPr>
          <a:xfrm>
            <a:off x="0" y="0"/>
            <a:ext cx="12192000" cy="6858000"/>
          </a:xfrm>
        </p:spPr>
        <p:txBody>
          <a:bodyPr anchor="ctr" anchorCtr="1"/>
          <a:lstStyle>
            <a:lvl1pPr marL="0" indent="0" algn="ctr">
              <a:buFontTx/>
              <a:buNone/>
              <a:defRPr baseline="0">
                <a:solidFill>
                  <a:schemeClr val="bg1"/>
                </a:solidFill>
                <a:latin typeface="Acumin Pro" panose="020B0504020202020204" pitchFamily="34" charset="77"/>
              </a:defRPr>
            </a:lvl1pPr>
          </a:lstStyle>
          <a:p>
            <a:r>
              <a:rPr lang="en-US"/>
              <a:t>Click icon to add picture</a:t>
            </a:r>
            <a:endParaRPr lang="en-US" dirty="0"/>
          </a:p>
        </p:txBody>
      </p:sp>
      <p:sp>
        <p:nvSpPr>
          <p:cNvPr id="3" name="Photo caption"/>
          <p:cNvSpPr>
            <a:spLocks noGrp="1"/>
          </p:cNvSpPr>
          <p:nvPr>
            <p:ph type="subTitle" idx="1" hasCustomPrompt="1"/>
          </p:nvPr>
        </p:nvSpPr>
        <p:spPr>
          <a:xfrm>
            <a:off x="7301170" y="219206"/>
            <a:ext cx="3574087" cy="738664"/>
          </a:xfrm>
          <a:noFill/>
        </p:spPr>
        <p:txBody>
          <a:bodyPr wrap="square" lIns="0" tIns="0" rIns="0" bIns="0" anchor="t" anchorCtr="0">
            <a:spAutoFit/>
          </a:bodyPr>
          <a:lstStyle>
            <a:lvl1pPr marL="0" indent="0" algn="l">
              <a:buNone/>
              <a:defRPr sz="1600" b="1" i="0" baseline="0">
                <a:solidFill>
                  <a:schemeClr val="bg1"/>
                </a:solidFill>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Brief photo caption. Place in top left or right corner. Make text black or white for legibility.</a:t>
            </a:r>
          </a:p>
        </p:txBody>
      </p:sp>
      <p:sp>
        <p:nvSpPr>
          <p:cNvPr id="11" name="Date">
            <a:extLst>
              <a:ext uri="{FF2B5EF4-FFF2-40B4-BE49-F238E27FC236}">
                <a16:creationId xmlns:a16="http://schemas.microsoft.com/office/drawing/2014/main" id="{F330C439-AFA6-B840-9D2A-258668D35CA5}"/>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10/29/2025</a:t>
            </a:fld>
            <a:endParaRPr lang="en-US" dirty="0"/>
          </a:p>
        </p:txBody>
      </p:sp>
      <p:sp>
        <p:nvSpPr>
          <p:cNvPr id="14" name="Slide Number">
            <a:extLst>
              <a:ext uri="{FF2B5EF4-FFF2-40B4-BE49-F238E27FC236}">
                <a16:creationId xmlns:a16="http://schemas.microsoft.com/office/drawing/2014/main" id="{ACC80B6D-3922-3742-99F9-101C945C2B33}"/>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16" name="Line 1">
            <a:extLst>
              <a:ext uri="{FF2B5EF4-FFF2-40B4-BE49-F238E27FC236}">
                <a16:creationId xmlns:a16="http://schemas.microsoft.com/office/drawing/2014/main" id="{C3371811-B9A9-444C-B8E2-DFC8B92FFA90}"/>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Line 2">
            <a:extLst>
              <a:ext uri="{FF2B5EF4-FFF2-40B4-BE49-F238E27FC236}">
                <a16:creationId xmlns:a16="http://schemas.microsoft.com/office/drawing/2014/main" id="{E3D41B36-C946-AA44-BFF4-3F3A6A8607A2}"/>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Line 3">
            <a:extLst>
              <a:ext uri="{FF2B5EF4-FFF2-40B4-BE49-F238E27FC236}">
                <a16:creationId xmlns:a16="http://schemas.microsoft.com/office/drawing/2014/main" id="{A246739C-3DD5-DF4C-BFF4-0B3AF76695B4}"/>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9" name="Purdue CoBrand">
            <a:extLst>
              <a:ext uri="{FF2B5EF4-FFF2-40B4-BE49-F238E27FC236}">
                <a16:creationId xmlns:a16="http://schemas.microsoft.com/office/drawing/2014/main" id="{B1FB8C0C-65BE-BE4A-9624-20705F2A16B6}"/>
              </a:ext>
            </a:extLst>
          </p:cNvPr>
          <p:cNvPicPr>
            <a:picLocks noChangeAspect="1"/>
          </p:cNvPicPr>
          <p:nvPr userDrawn="1"/>
        </p:nvPicPr>
        <p:blipFill>
          <a:blip r:embed="rId2"/>
          <a:srcRect/>
          <a:stretch/>
        </p:blipFill>
        <p:spPr>
          <a:xfrm>
            <a:off x="1811903" y="5987080"/>
            <a:ext cx="4243984" cy="449363"/>
          </a:xfrm>
          <a:prstGeom prst="rect">
            <a:avLst/>
          </a:prstGeom>
        </p:spPr>
      </p:pic>
    </p:spTree>
    <p:extLst>
      <p:ext uri="{BB962C8B-B14F-4D97-AF65-F5344CB8AC3E}">
        <p14:creationId xmlns:p14="http://schemas.microsoft.com/office/powerpoint/2010/main" val="41862580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Slide - Fact/Highlight">
    <p:bg>
      <p:bgPr>
        <a:solidFill>
          <a:schemeClr val="accent4"/>
        </a:solidFill>
        <a:effectLst/>
      </p:bgPr>
    </p:bg>
    <p:spTree>
      <p:nvGrpSpPr>
        <p:cNvPr id="1" name=""/>
        <p:cNvGrpSpPr/>
        <p:nvPr/>
      </p:nvGrpSpPr>
      <p:grpSpPr>
        <a:xfrm>
          <a:off x="0" y="0"/>
          <a:ext cx="0" cy="0"/>
          <a:chOff x="0" y="0"/>
          <a:chExt cx="0" cy="0"/>
        </a:xfrm>
      </p:grpSpPr>
      <p:sp>
        <p:nvSpPr>
          <p:cNvPr id="6" name="Gold Background">
            <a:extLst>
              <a:ext uri="{FF2B5EF4-FFF2-40B4-BE49-F238E27FC236}">
                <a16:creationId xmlns:a16="http://schemas.microsoft.com/office/drawing/2014/main" id="{5CCAEC11-865D-CB4B-88E8-5AF51FB37FBE}"/>
              </a:ext>
            </a:extLst>
          </p:cNvPr>
          <p:cNvSpPr/>
          <p:nvPr/>
        </p:nvSpPr>
        <p:spPr>
          <a:xfrm>
            <a:off x="1" y="0"/>
            <a:ext cx="12191999" cy="68522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Heading"/>
          <p:cNvSpPr>
            <a:spLocks noGrp="1"/>
          </p:cNvSpPr>
          <p:nvPr>
            <p:ph type="ctrTitle" hasCustomPrompt="1"/>
          </p:nvPr>
        </p:nvSpPr>
        <p:spPr bwMode="blackWhite">
          <a:xfrm>
            <a:off x="2886334" y="1614576"/>
            <a:ext cx="6419331" cy="1007712"/>
          </a:xfrm>
          <a:prstGeom prst="rect">
            <a:avLst/>
          </a:prstGeom>
          <a:noFill/>
          <a:ln w="38100">
            <a:noFill/>
          </a:ln>
        </p:spPr>
        <p:txBody>
          <a:bodyPr wrap="square" lIns="0" tIns="0" rIns="0" bIns="0" anchor="t" anchorCtr="0">
            <a:spAutoFit/>
          </a:bodyPr>
          <a:lstStyle>
            <a:lvl1pPr algn="ctr">
              <a:defRPr sz="7200" b="1" i="0" cap="none" spc="300" baseline="0">
                <a:solidFill>
                  <a:schemeClr val="accent2"/>
                </a:solidFill>
                <a:latin typeface="Impact" panose="020B0806030902050204" pitchFamily="34" charset="0"/>
              </a:defRPr>
            </a:lvl1pPr>
          </a:lstStyle>
          <a:p>
            <a:r>
              <a:rPr lang="en-US" spc="0" dirty="0">
                <a:latin typeface="United Sans Rg Md" pitchFamily="50" charset="0"/>
              </a:rPr>
              <a:t>123</a:t>
            </a:r>
            <a:endParaRPr lang="en-US" dirty="0"/>
          </a:p>
        </p:txBody>
      </p:sp>
      <p:sp>
        <p:nvSpPr>
          <p:cNvPr id="20" name="Black Bar">
            <a:extLst>
              <a:ext uri="{FF2B5EF4-FFF2-40B4-BE49-F238E27FC236}">
                <a16:creationId xmlns:a16="http://schemas.microsoft.com/office/drawing/2014/main" id="{EACB2F0C-1C3D-CD48-AD13-7B5AD683F7C7}"/>
              </a:ext>
            </a:extLst>
          </p:cNvPr>
          <p:cNvSpPr/>
          <p:nvPr/>
        </p:nvSpPr>
        <p:spPr>
          <a:xfrm>
            <a:off x="2648277" y="2744421"/>
            <a:ext cx="6905456" cy="4409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Subhead"/>
          <p:cNvSpPr>
            <a:spLocks noGrp="1"/>
          </p:cNvSpPr>
          <p:nvPr>
            <p:ph type="subTitle" idx="1" hasCustomPrompt="1"/>
          </p:nvPr>
        </p:nvSpPr>
        <p:spPr>
          <a:xfrm>
            <a:off x="2648276" y="2706475"/>
            <a:ext cx="6895463" cy="492443"/>
          </a:xfrm>
          <a:noFill/>
        </p:spPr>
        <p:txBody>
          <a:bodyPr wrap="square" lIns="0" tIns="0" rIns="0" bIns="0" anchor="t" anchorCtr="0">
            <a:spAutoFit/>
          </a:bodyPr>
          <a:lstStyle>
            <a:lvl1pPr marL="0" indent="0" algn="ctr">
              <a:buNone/>
              <a:defRPr sz="3200" b="0" i="0" spc="300" baseline="0">
                <a:solidFill>
                  <a:schemeClr val="accent4"/>
                </a:solidFill>
                <a:latin typeface="Impact" panose="020B080603090205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TOPIC OR TITLE</a:t>
            </a:r>
          </a:p>
        </p:txBody>
      </p:sp>
      <p:sp>
        <p:nvSpPr>
          <p:cNvPr id="23" name="Body Text">
            <a:extLst>
              <a:ext uri="{FF2B5EF4-FFF2-40B4-BE49-F238E27FC236}">
                <a16:creationId xmlns:a16="http://schemas.microsoft.com/office/drawing/2014/main" id="{BD416322-CF1A-F143-B2A9-844B608C50DA}"/>
              </a:ext>
            </a:extLst>
          </p:cNvPr>
          <p:cNvSpPr>
            <a:spLocks noGrp="1"/>
          </p:cNvSpPr>
          <p:nvPr>
            <p:ph type="body" sz="quarter" idx="14" hasCustomPrompt="1"/>
          </p:nvPr>
        </p:nvSpPr>
        <p:spPr>
          <a:xfrm>
            <a:off x="2875268" y="3540352"/>
            <a:ext cx="6678467" cy="1122744"/>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2400" b="0" i="0" normalizeH="0" baseline="0">
                <a:solidFill>
                  <a:schemeClr val="bg1"/>
                </a:solidFill>
                <a:latin typeface="Franklin Gothic Book" panose="020B0503020102020204" pitchFamily="34" charset="0"/>
              </a:defRPr>
            </a:lvl1pPr>
          </a:lstStyle>
          <a:p>
            <a:pPr lvl="0"/>
            <a:r>
              <a:rPr lang="en-US" dirty="0"/>
              <a:t>Fact or highlight. Keep it short with bite-size chunks of information.</a:t>
            </a:r>
          </a:p>
        </p:txBody>
      </p:sp>
      <p:sp>
        <p:nvSpPr>
          <p:cNvPr id="16" name="Date">
            <a:extLst>
              <a:ext uri="{FF2B5EF4-FFF2-40B4-BE49-F238E27FC236}">
                <a16:creationId xmlns:a16="http://schemas.microsoft.com/office/drawing/2014/main" id="{D5F83FDC-674A-8F42-A488-884B2867DCC3}"/>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10/29/2025</a:t>
            </a:fld>
            <a:endParaRPr lang="en-US" dirty="0"/>
          </a:p>
        </p:txBody>
      </p:sp>
      <p:sp>
        <p:nvSpPr>
          <p:cNvPr id="17" name="Slide Number">
            <a:extLst>
              <a:ext uri="{FF2B5EF4-FFF2-40B4-BE49-F238E27FC236}">
                <a16:creationId xmlns:a16="http://schemas.microsoft.com/office/drawing/2014/main" id="{DF9C56DA-C412-B14C-8168-05E55A21B5E5}"/>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21" name="Line 1">
            <a:extLst>
              <a:ext uri="{FF2B5EF4-FFF2-40B4-BE49-F238E27FC236}">
                <a16:creationId xmlns:a16="http://schemas.microsoft.com/office/drawing/2014/main" id="{DE31DD2C-32F5-F345-872B-C1CCC72846EE}"/>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Line 2">
            <a:extLst>
              <a:ext uri="{FF2B5EF4-FFF2-40B4-BE49-F238E27FC236}">
                <a16:creationId xmlns:a16="http://schemas.microsoft.com/office/drawing/2014/main" id="{18A2134F-0116-6740-AD2E-82D54002455E}"/>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Line 3">
            <a:extLst>
              <a:ext uri="{FF2B5EF4-FFF2-40B4-BE49-F238E27FC236}">
                <a16:creationId xmlns:a16="http://schemas.microsoft.com/office/drawing/2014/main" id="{7E7A5392-EE7B-7141-B159-172DDE0D6824}"/>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3" name="Purdue CoBrand">
            <a:extLst>
              <a:ext uri="{FF2B5EF4-FFF2-40B4-BE49-F238E27FC236}">
                <a16:creationId xmlns:a16="http://schemas.microsoft.com/office/drawing/2014/main" id="{C956BC4A-6335-2245-B16C-D97B7C359084}"/>
              </a:ext>
            </a:extLst>
          </p:cNvPr>
          <p:cNvPicPr>
            <a:picLocks noChangeAspect="1"/>
          </p:cNvPicPr>
          <p:nvPr userDrawn="1"/>
        </p:nvPicPr>
        <p:blipFill>
          <a:blip r:embed="rId2"/>
          <a:srcRect/>
          <a:stretch/>
        </p:blipFill>
        <p:spPr>
          <a:xfrm>
            <a:off x="1811903" y="5987080"/>
            <a:ext cx="4243984" cy="449363"/>
          </a:xfrm>
          <a:prstGeom prst="rect">
            <a:avLst/>
          </a:prstGeom>
        </p:spPr>
      </p:pic>
    </p:spTree>
    <p:extLst>
      <p:ext uri="{BB962C8B-B14F-4D97-AF65-F5344CB8AC3E}">
        <p14:creationId xmlns:p14="http://schemas.microsoft.com/office/powerpoint/2010/main" val="27073935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orient="horz" pos="1008">
          <p15:clr>
            <a:srgbClr val="FBAE40"/>
          </p15:clr>
        </p15:guide>
        <p15:guide id="8" orient="horz" pos="1488">
          <p15:clr>
            <a:srgbClr val="FBAE40"/>
          </p15:clr>
        </p15:guide>
        <p15:guide id="9" orient="horz" pos="86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losing Slide">
    <p:bg>
      <p:bgPr>
        <a:solidFill>
          <a:schemeClr val="accent4"/>
        </a:solidFill>
        <a:effectLst/>
      </p:bgPr>
    </p:bg>
    <p:spTree>
      <p:nvGrpSpPr>
        <p:cNvPr id="1" name=""/>
        <p:cNvGrpSpPr/>
        <p:nvPr/>
      </p:nvGrpSpPr>
      <p:grpSpPr>
        <a:xfrm>
          <a:off x="0" y="0"/>
          <a:ext cx="0" cy="0"/>
          <a:chOff x="0" y="0"/>
          <a:chExt cx="0" cy="0"/>
        </a:xfrm>
      </p:grpSpPr>
      <p:sp>
        <p:nvSpPr>
          <p:cNvPr id="20" name="Black Background">
            <a:extLst>
              <a:ext uri="{FF2B5EF4-FFF2-40B4-BE49-F238E27FC236}">
                <a16:creationId xmlns:a16="http://schemas.microsoft.com/office/drawing/2014/main" id="{EACB2F0C-1C3D-CD48-AD13-7B5AD683F7C7}"/>
              </a:ext>
            </a:extLst>
          </p:cNvPr>
          <p:cNvSpPr/>
          <p:nvPr/>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Heading"/>
          <p:cNvSpPr>
            <a:spLocks noGrp="1"/>
          </p:cNvSpPr>
          <p:nvPr>
            <p:ph type="ctrTitle" hasCustomPrompt="1"/>
          </p:nvPr>
        </p:nvSpPr>
        <p:spPr bwMode="blackWhite">
          <a:xfrm>
            <a:off x="2628902" y="1521334"/>
            <a:ext cx="6347458" cy="609398"/>
          </a:xfrm>
          <a:prstGeom prst="rect">
            <a:avLst/>
          </a:prstGeom>
          <a:noFill/>
          <a:ln w="38100">
            <a:noFill/>
          </a:ln>
        </p:spPr>
        <p:txBody>
          <a:bodyPr wrap="square" lIns="0" tIns="0" rIns="0" bIns="0" anchor="t" anchorCtr="0">
            <a:spAutoFit/>
          </a:bodyPr>
          <a:lstStyle>
            <a:lvl1pPr algn="l">
              <a:defRPr sz="4400" b="1" i="1" spc="0" baseline="0">
                <a:solidFill>
                  <a:schemeClr val="tx2"/>
                </a:solidFill>
                <a:latin typeface="Franklin Gothic Book" panose="020B0503020102020204" pitchFamily="34" charset="0"/>
              </a:defRPr>
            </a:lvl1pPr>
          </a:lstStyle>
          <a:p>
            <a:r>
              <a:rPr lang="en-US" dirty="0"/>
              <a:t>Thank You</a:t>
            </a:r>
          </a:p>
        </p:txBody>
      </p:sp>
      <p:sp>
        <p:nvSpPr>
          <p:cNvPr id="16" name="Body Text">
            <a:extLst>
              <a:ext uri="{FF2B5EF4-FFF2-40B4-BE49-F238E27FC236}">
                <a16:creationId xmlns:a16="http://schemas.microsoft.com/office/drawing/2014/main" id="{900775FC-E9E4-FF46-A522-92CC39196093}"/>
              </a:ext>
            </a:extLst>
          </p:cNvPr>
          <p:cNvSpPr>
            <a:spLocks noGrp="1"/>
          </p:cNvSpPr>
          <p:nvPr>
            <p:ph type="body" sz="quarter" idx="14" hasCustomPrompt="1"/>
          </p:nvPr>
        </p:nvSpPr>
        <p:spPr>
          <a:xfrm>
            <a:off x="2628900" y="2548210"/>
            <a:ext cx="6347460" cy="880790"/>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1600" b="0" i="0" normalizeH="0" baseline="0">
                <a:solidFill>
                  <a:schemeClr val="accent4"/>
                </a:solidFill>
                <a:latin typeface="Franklin Gothic Book" panose="020B0503020102020204" pitchFamily="34" charset="0"/>
              </a:defRPr>
            </a:lvl1pPr>
          </a:lstStyle>
          <a:p>
            <a:pPr lvl="0"/>
            <a:r>
              <a:rPr lang="en-US" dirty="0"/>
              <a:t>Conclusion, call to action or contact information. </a:t>
            </a:r>
          </a:p>
        </p:txBody>
      </p:sp>
      <p:sp>
        <p:nvSpPr>
          <p:cNvPr id="12" name="Date">
            <a:extLst>
              <a:ext uri="{FF2B5EF4-FFF2-40B4-BE49-F238E27FC236}">
                <a16:creationId xmlns:a16="http://schemas.microsoft.com/office/drawing/2014/main" id="{E7D56F3A-D0B6-8A49-81C9-B6A0051C7E73}"/>
              </a:ext>
            </a:extLst>
          </p:cNvPr>
          <p:cNvSpPr>
            <a:spLocks noGrp="1"/>
          </p:cNvSpPr>
          <p:nvPr>
            <p:ph type="dt" sz="half" idx="10"/>
          </p:nvPr>
        </p:nvSpPr>
        <p:spPr>
          <a:xfrm>
            <a:off x="8926248" y="6220740"/>
            <a:ext cx="1021891" cy="323968"/>
          </a:xfrm>
        </p:spPr>
        <p:txBody>
          <a:bodyPr/>
          <a:lstStyle>
            <a:lvl1pPr>
              <a:defRPr>
                <a:solidFill>
                  <a:schemeClr val="accent4">
                    <a:alpha val="70000"/>
                  </a:schemeClr>
                </a:solidFill>
              </a:defRPr>
            </a:lvl1pPr>
          </a:lstStyle>
          <a:p>
            <a:fld id="{D47A9A36-4EB0-BF46-AE48-7CDA251B954B}" type="datetime1">
              <a:rPr lang="en-US" smtClean="0"/>
              <a:pPr/>
              <a:t>10/29/2025</a:t>
            </a:fld>
            <a:endParaRPr lang="en-US" dirty="0"/>
          </a:p>
        </p:txBody>
      </p:sp>
      <p:sp>
        <p:nvSpPr>
          <p:cNvPr id="14" name="Slide Number">
            <a:extLst>
              <a:ext uri="{FF2B5EF4-FFF2-40B4-BE49-F238E27FC236}">
                <a16:creationId xmlns:a16="http://schemas.microsoft.com/office/drawing/2014/main" id="{DED03763-61BB-3343-B3CC-0623CC8EAA03}"/>
              </a:ext>
            </a:extLst>
          </p:cNvPr>
          <p:cNvSpPr>
            <a:spLocks noGrp="1"/>
          </p:cNvSpPr>
          <p:nvPr>
            <p:ph type="sldNum" sz="quarter" idx="12"/>
          </p:nvPr>
        </p:nvSpPr>
        <p:spPr>
          <a:xfrm>
            <a:off x="10096500" y="6200875"/>
            <a:ext cx="487680" cy="365760"/>
          </a:xfrm>
        </p:spPr>
        <p:txBody>
          <a:bodyPr/>
          <a:lstStyle>
            <a:lvl1pPr>
              <a:defRPr>
                <a:solidFill>
                  <a:schemeClr val="accent4"/>
                </a:solidFill>
              </a:defRPr>
            </a:lvl1pPr>
          </a:lstStyle>
          <a:p>
            <a:fld id="{8A7A6979-0714-4377-B894-6BE4C2D6E202}" type="slidenum">
              <a:rPr lang="en-US" smtClean="0"/>
              <a:pPr/>
              <a:t>‹#›</a:t>
            </a:fld>
            <a:endParaRPr lang="en-US" dirty="0"/>
          </a:p>
        </p:txBody>
      </p:sp>
      <p:cxnSp>
        <p:nvCxnSpPr>
          <p:cNvPr id="17" name="Line 1">
            <a:extLst>
              <a:ext uri="{FF2B5EF4-FFF2-40B4-BE49-F238E27FC236}">
                <a16:creationId xmlns:a16="http://schemas.microsoft.com/office/drawing/2014/main" id="{9B9CC658-FCDB-754D-83A8-E72E62847F53}"/>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Line 2">
            <a:extLst>
              <a:ext uri="{FF2B5EF4-FFF2-40B4-BE49-F238E27FC236}">
                <a16:creationId xmlns:a16="http://schemas.microsoft.com/office/drawing/2014/main" id="{52700362-C315-8A41-8A37-D1C4D5A0E238}"/>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Line 3">
            <a:extLst>
              <a:ext uri="{FF2B5EF4-FFF2-40B4-BE49-F238E27FC236}">
                <a16:creationId xmlns:a16="http://schemas.microsoft.com/office/drawing/2014/main" id="{14A431DC-9C67-D94C-982A-8D0C2E3D10D8}"/>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Purdue CoBrand">
            <a:extLst>
              <a:ext uri="{FF2B5EF4-FFF2-40B4-BE49-F238E27FC236}">
                <a16:creationId xmlns:a16="http://schemas.microsoft.com/office/drawing/2014/main" id="{176AE897-D878-964C-8095-7884DE87DB08}"/>
              </a:ext>
            </a:extLst>
          </p:cNvPr>
          <p:cNvPicPr>
            <a:picLocks noChangeAspect="1"/>
          </p:cNvPicPr>
          <p:nvPr userDrawn="1"/>
        </p:nvPicPr>
        <p:blipFill>
          <a:blip r:embed="rId2"/>
          <a:srcRect/>
          <a:stretch/>
        </p:blipFill>
        <p:spPr>
          <a:xfrm>
            <a:off x="1811903" y="5987081"/>
            <a:ext cx="4243984" cy="449363"/>
          </a:xfrm>
          <a:prstGeom prst="rect">
            <a:avLst/>
          </a:prstGeom>
        </p:spPr>
      </p:pic>
    </p:spTree>
    <p:extLst>
      <p:ext uri="{BB962C8B-B14F-4D97-AF65-F5344CB8AC3E}">
        <p14:creationId xmlns:p14="http://schemas.microsoft.com/office/powerpoint/2010/main" val="695323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pos="165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141394" y="964692"/>
            <a:ext cx="7917007"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141394" y="2638046"/>
            <a:ext cx="7917007"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744769" y="6227670"/>
            <a:ext cx="1161231" cy="323968"/>
          </a:xfrm>
          <a:prstGeom prst="rect">
            <a:avLst/>
          </a:prstGeom>
        </p:spPr>
        <p:txBody>
          <a:bodyPr vert="horz" lIns="91440" tIns="45720" rIns="91440" bIns="45720" rtlCol="0" anchor="ctr"/>
          <a:lstStyle>
            <a:lvl1pPr algn="r">
              <a:defRPr sz="1000" b="0" i="0" baseline="0">
                <a:solidFill>
                  <a:schemeClr val="tx1">
                    <a:alpha val="70000"/>
                  </a:schemeClr>
                </a:solidFill>
                <a:latin typeface="Franklin Gothic Book" panose="020B0503020102020204" pitchFamily="34" charset="0"/>
              </a:defRPr>
            </a:lvl1pPr>
          </a:lstStyle>
          <a:p>
            <a:fld id="{E0C8DACD-4E35-4E4C-AC75-C3DE50F04E7E}" type="datetime1">
              <a:rPr lang="en-US" smtClean="0"/>
              <a:pPr/>
              <a:t>10/29/2025</a:t>
            </a:fld>
            <a:endParaRPr lang="en-US" dirty="0"/>
          </a:p>
        </p:txBody>
      </p:sp>
      <p:sp>
        <p:nvSpPr>
          <p:cNvPr id="6" name="Slide Number Placeholder 5"/>
          <p:cNvSpPr>
            <a:spLocks noGrp="1"/>
          </p:cNvSpPr>
          <p:nvPr>
            <p:ph type="sldNum" sz="quarter" idx="4"/>
          </p:nvPr>
        </p:nvSpPr>
        <p:spPr>
          <a:xfrm>
            <a:off x="10096500" y="6200875"/>
            <a:ext cx="487680" cy="365760"/>
          </a:xfrm>
          <a:prstGeom prst="ellipse">
            <a:avLst/>
          </a:prstGeom>
          <a:noFill/>
        </p:spPr>
        <p:txBody>
          <a:bodyPr vert="horz" lIns="18288" tIns="45720" rIns="18288" bIns="45720" rtlCol="0" anchor="ctr">
            <a:noAutofit/>
          </a:bodyPr>
          <a:lstStyle>
            <a:lvl1pPr algn="ctr">
              <a:defRPr sz="1000" b="1" i="0" spc="0" baseline="0">
                <a:solidFill>
                  <a:schemeClr val="tx1"/>
                </a:solidFill>
                <a:latin typeface="Franklin Gothic Book" panose="020B0503020102020204" pitchFamily="34" charset="0"/>
              </a:defRPr>
            </a:lvl1pPr>
          </a:lstStyle>
          <a:p>
            <a:fld id="{8A7A6979-0714-4377-B894-6BE4C2D6E202}" type="slidenum">
              <a:rPr lang="en-US" smtClean="0"/>
              <a:pPr/>
              <a:t>‹#›</a:t>
            </a:fld>
            <a:endParaRPr lang="en-US" dirty="0"/>
          </a:p>
        </p:txBody>
      </p:sp>
      <p:sp>
        <p:nvSpPr>
          <p:cNvPr id="7" name="Footer Placeholder 4">
            <a:extLst>
              <a:ext uri="{FF2B5EF4-FFF2-40B4-BE49-F238E27FC236}">
                <a16:creationId xmlns:a16="http://schemas.microsoft.com/office/drawing/2014/main" id="{F51272EC-C1E6-1240-AF69-43B2679C2CD3}"/>
              </a:ext>
            </a:extLst>
          </p:cNvPr>
          <p:cNvSpPr>
            <a:spLocks noGrp="1"/>
          </p:cNvSpPr>
          <p:nvPr>
            <p:ph type="ftr" sz="quarter" idx="3"/>
          </p:nvPr>
        </p:nvSpPr>
        <p:spPr>
          <a:xfrm>
            <a:off x="1137845" y="6219163"/>
            <a:ext cx="6075552" cy="320040"/>
          </a:xfrm>
          <a:prstGeom prst="rect">
            <a:avLst/>
          </a:prstGeom>
        </p:spPr>
        <p:txBody>
          <a:bodyPr vert="horz" lIns="91440" tIns="45720" rIns="91440" bIns="45720" rtlCol="0" anchor="ctr"/>
          <a:lstStyle>
            <a:lvl1pPr algn="l">
              <a:defRPr sz="1000">
                <a:solidFill>
                  <a:schemeClr val="tx1">
                    <a:alpha val="70000"/>
                  </a:schemeClr>
                </a:solidFill>
              </a:defRPr>
            </a:lvl1pPr>
          </a:lstStyle>
          <a:p>
            <a:endParaRPr lang="en-US" dirty="0"/>
          </a:p>
        </p:txBody>
      </p: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5" r:id="rId1"/>
    <p:sldLayoutId id="2147483709" r:id="rId2"/>
    <p:sldLayoutId id="2147483720" r:id="rId3"/>
    <p:sldLayoutId id="2147483721" r:id="rId4"/>
    <p:sldLayoutId id="2147483722" r:id="rId5"/>
    <p:sldLayoutId id="2147483723" r:id="rId6"/>
    <p:sldLayoutId id="2147483724" r:id="rId7"/>
  </p:sldLayoutIdLst>
  <p:hf hdr="0" ftr="0"/>
  <p:txStyles>
    <p:titleStyle>
      <a:lvl1pPr algn="ctr" defTabSz="914400" rtl="0" eaLnBrk="1" latinLnBrk="0" hangingPunct="1">
        <a:lnSpc>
          <a:spcPct val="90000"/>
        </a:lnSpc>
        <a:spcBef>
          <a:spcPct val="0"/>
        </a:spcBef>
        <a:buNone/>
        <a:defRPr sz="2600" b="1" i="0" kern="1200" cap="all" spc="200" baseline="0">
          <a:solidFill>
            <a:srgbClr val="262626"/>
          </a:solidFill>
          <a:latin typeface="Franklin Gothic Book" panose="020B0503020102020204" pitchFamily="34" charset="0"/>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4056">
          <p15:clr>
            <a:srgbClr val="F26B43"/>
          </p15:clr>
        </p15:guide>
        <p15:guide id="4" pos="6240">
          <p15:clr>
            <a:srgbClr val="F26B43"/>
          </p15:clr>
        </p15:guide>
        <p15:guide id="5" pos="63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4EA7F14-B9DE-164B-9F38-47D5668D2586}"/>
              </a:ext>
            </a:extLst>
          </p:cNvPr>
          <p:cNvSpPr>
            <a:spLocks noGrp="1"/>
          </p:cNvSpPr>
          <p:nvPr>
            <p:ph type="ctrTitle"/>
          </p:nvPr>
        </p:nvSpPr>
        <p:spPr>
          <a:xfrm>
            <a:off x="2647198" y="1501742"/>
            <a:ext cx="7547389" cy="664797"/>
          </a:xfrm>
        </p:spPr>
        <p:txBody>
          <a:bodyPr/>
          <a:lstStyle/>
          <a:p>
            <a:r>
              <a:rPr lang="en-US" sz="4800" b="0" dirty="0">
                <a:latin typeface="Franklin Gothic Medium" panose="020B0603020102020204" pitchFamily="34" charset="0"/>
              </a:rPr>
              <a:t>Digital Product design</a:t>
            </a:r>
          </a:p>
        </p:txBody>
      </p:sp>
      <p:sp>
        <p:nvSpPr>
          <p:cNvPr id="3" name="Subtitle">
            <a:extLst>
              <a:ext uri="{FF2B5EF4-FFF2-40B4-BE49-F238E27FC236}">
                <a16:creationId xmlns:a16="http://schemas.microsoft.com/office/drawing/2014/main" id="{25E23969-B503-C04E-9B40-020A6AB945EA}"/>
              </a:ext>
            </a:extLst>
          </p:cNvPr>
          <p:cNvSpPr>
            <a:spLocks noGrp="1"/>
          </p:cNvSpPr>
          <p:nvPr>
            <p:ph type="subTitle" idx="1"/>
          </p:nvPr>
        </p:nvSpPr>
        <p:spPr>
          <a:xfrm>
            <a:off x="2647198" y="2909686"/>
            <a:ext cx="6801603" cy="1272143"/>
          </a:xfrm>
        </p:spPr>
        <p:txBody>
          <a:bodyPr/>
          <a:lstStyle/>
          <a:p>
            <a:r>
              <a:rPr lang="en-US" b="0" dirty="0">
                <a:latin typeface="Franklin Gothic Medium" panose="020B0603020102020204" pitchFamily="34" charset="0"/>
              </a:rPr>
              <a:t>Lecture 2: Ideation and Hypothesis Development</a:t>
            </a:r>
          </a:p>
          <a:p>
            <a:endParaRPr lang="en-US" b="0" dirty="0">
              <a:latin typeface="Franklin Gothic Medium" panose="020B0603020102020204" pitchFamily="34" charset="0"/>
            </a:endParaRPr>
          </a:p>
          <a:p>
            <a:r>
              <a:rPr lang="en-US" b="0" dirty="0">
                <a:latin typeface="Franklin Gothic Medium" panose="020B0603020102020204" pitchFamily="34" charset="0"/>
              </a:rPr>
              <a:t>Alex Moehring</a:t>
            </a:r>
          </a:p>
        </p:txBody>
      </p:sp>
      <p:sp>
        <p:nvSpPr>
          <p:cNvPr id="4" name="Date">
            <a:extLst>
              <a:ext uri="{FF2B5EF4-FFF2-40B4-BE49-F238E27FC236}">
                <a16:creationId xmlns:a16="http://schemas.microsoft.com/office/drawing/2014/main" id="{7488F1B0-19AE-FE4B-A8CD-0F44AB281CC5}"/>
              </a:ext>
            </a:extLst>
          </p:cNvPr>
          <p:cNvSpPr>
            <a:spLocks noGrp="1"/>
          </p:cNvSpPr>
          <p:nvPr>
            <p:ph type="dt" sz="half" idx="10"/>
          </p:nvPr>
        </p:nvSpPr>
        <p:spPr/>
        <p:txBody>
          <a:bodyPr/>
          <a:lstStyle/>
          <a:p>
            <a:fld id="{D47A9A36-4EB0-BF46-AE48-7CDA251B954B}" type="datetime1">
              <a:rPr lang="en-US" smtClean="0"/>
              <a:pPr/>
              <a:t>10/29/2025</a:t>
            </a:fld>
            <a:endParaRPr lang="en-US" dirty="0"/>
          </a:p>
        </p:txBody>
      </p:sp>
      <p:sp>
        <p:nvSpPr>
          <p:cNvPr id="5" name="Slide Number">
            <a:extLst>
              <a:ext uri="{FF2B5EF4-FFF2-40B4-BE49-F238E27FC236}">
                <a16:creationId xmlns:a16="http://schemas.microsoft.com/office/drawing/2014/main" id="{FFCAA48C-2045-8749-8754-B722B9DB8A5C}"/>
              </a:ext>
            </a:extLst>
          </p:cNvPr>
          <p:cNvSpPr>
            <a:spLocks noGrp="1"/>
          </p:cNvSpPr>
          <p:nvPr>
            <p:ph type="sldNum" sz="quarter" idx="12"/>
          </p:nvPr>
        </p:nvSpPr>
        <p:spPr/>
        <p:txBody>
          <a:bodyPr/>
          <a:lstStyle/>
          <a:p>
            <a:fld id="{8A7A6979-0714-4377-B894-6BE4C2D6E202}" type="slidenum">
              <a:rPr lang="en-US" smtClean="0"/>
              <a:pPr/>
              <a:t>1</a:t>
            </a:fld>
            <a:endParaRPr lang="en-US" dirty="0"/>
          </a:p>
        </p:txBody>
      </p:sp>
    </p:spTree>
    <p:extLst>
      <p:ext uri="{BB962C8B-B14F-4D97-AF65-F5344CB8AC3E}">
        <p14:creationId xmlns:p14="http://schemas.microsoft.com/office/powerpoint/2010/main" val="2708108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A91BE-3DE0-9C3F-087A-F7CD1F0CA4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EE36B4-877D-B8E5-24E0-43CDC4222E46}"/>
              </a:ext>
            </a:extLst>
          </p:cNvPr>
          <p:cNvSpPr>
            <a:spLocks noGrp="1"/>
          </p:cNvSpPr>
          <p:nvPr>
            <p:ph type="ctrTitle"/>
          </p:nvPr>
        </p:nvSpPr>
        <p:spPr/>
        <p:txBody>
          <a:bodyPr/>
          <a:lstStyle/>
          <a:p>
            <a:r>
              <a:rPr lang="en-US" dirty="0"/>
              <a:t>Outline</a:t>
            </a:r>
          </a:p>
        </p:txBody>
      </p:sp>
      <p:sp>
        <p:nvSpPr>
          <p:cNvPr id="4" name="Text Placeholder 3">
            <a:extLst>
              <a:ext uri="{FF2B5EF4-FFF2-40B4-BE49-F238E27FC236}">
                <a16:creationId xmlns:a16="http://schemas.microsoft.com/office/drawing/2014/main" id="{54175B53-6506-346E-2A89-AD221024D778}"/>
              </a:ext>
            </a:extLst>
          </p:cNvPr>
          <p:cNvSpPr>
            <a:spLocks noGrp="1"/>
          </p:cNvSpPr>
          <p:nvPr>
            <p:ph type="body" sz="quarter" idx="14"/>
          </p:nvPr>
        </p:nvSpPr>
        <p:spPr>
          <a:xfrm>
            <a:off x="1828800" y="1917389"/>
            <a:ext cx="8755380" cy="3411537"/>
          </a:xfrm>
        </p:spPr>
        <p:txBody>
          <a:bodyPr>
            <a:normAutofit/>
          </a:bodyPr>
          <a:lstStyle/>
          <a:p>
            <a:r>
              <a:rPr lang="en-US" sz="2400" dirty="0"/>
              <a:t>Theory of ideation + opportunity development</a:t>
            </a:r>
          </a:p>
          <a:p>
            <a:endParaRPr lang="en-US" sz="2400" dirty="0"/>
          </a:p>
          <a:p>
            <a:r>
              <a:rPr lang="en-US" sz="2400" dirty="0"/>
              <a:t>Ideation &amp; refinement process</a:t>
            </a:r>
          </a:p>
          <a:p>
            <a:endParaRPr lang="en-US" sz="2400" dirty="0"/>
          </a:p>
          <a:p>
            <a:r>
              <a:rPr lang="en-US" sz="2400" dirty="0"/>
              <a:t>Project matching + ideation</a:t>
            </a:r>
          </a:p>
          <a:p>
            <a:pPr lvl="1"/>
            <a:r>
              <a:rPr lang="en-US" sz="2400" dirty="0"/>
              <a:t>Goal is to have a team, product / problem, and ideas </a:t>
            </a:r>
            <a:r>
              <a:rPr lang="en-US" sz="2400"/>
              <a:t>to improve</a:t>
            </a:r>
            <a:endParaRPr lang="en-US" sz="2400" dirty="0"/>
          </a:p>
        </p:txBody>
      </p:sp>
      <p:sp>
        <p:nvSpPr>
          <p:cNvPr id="5" name="Date Placeholder 4">
            <a:extLst>
              <a:ext uri="{FF2B5EF4-FFF2-40B4-BE49-F238E27FC236}">
                <a16:creationId xmlns:a16="http://schemas.microsoft.com/office/drawing/2014/main" id="{94C16404-2372-0160-B1E4-0FA07F17C405}"/>
              </a:ext>
            </a:extLst>
          </p:cNvPr>
          <p:cNvSpPr>
            <a:spLocks noGrp="1"/>
          </p:cNvSpPr>
          <p:nvPr>
            <p:ph type="dt" sz="half" idx="10"/>
          </p:nvPr>
        </p:nvSpPr>
        <p:spPr/>
        <p:txBody>
          <a:bodyPr/>
          <a:lstStyle/>
          <a:p>
            <a:fld id="{D47A9A36-4EB0-BF46-AE48-7CDA251B954B}" type="datetime1">
              <a:rPr lang="en-US" smtClean="0"/>
              <a:t>10/29/2025</a:t>
            </a:fld>
            <a:endParaRPr lang="en-US" dirty="0"/>
          </a:p>
        </p:txBody>
      </p:sp>
      <p:sp>
        <p:nvSpPr>
          <p:cNvPr id="6" name="Slide Number Placeholder 5">
            <a:extLst>
              <a:ext uri="{FF2B5EF4-FFF2-40B4-BE49-F238E27FC236}">
                <a16:creationId xmlns:a16="http://schemas.microsoft.com/office/drawing/2014/main" id="{1DB0BF96-FB46-5497-7F47-0719B43099D5}"/>
              </a:ext>
            </a:extLst>
          </p:cNvPr>
          <p:cNvSpPr>
            <a:spLocks noGrp="1"/>
          </p:cNvSpPr>
          <p:nvPr>
            <p:ph type="sldNum" sz="quarter" idx="12"/>
          </p:nvPr>
        </p:nvSpPr>
        <p:spPr/>
        <p:txBody>
          <a:bodyPr/>
          <a:lstStyle/>
          <a:p>
            <a:fld id="{8A7A6979-0714-4377-B894-6BE4C2D6E202}" type="slidenum">
              <a:rPr lang="en-US" smtClean="0"/>
              <a:pPr/>
              <a:t>2</a:t>
            </a:fld>
            <a:endParaRPr lang="en-US" dirty="0"/>
          </a:p>
        </p:txBody>
      </p:sp>
    </p:spTree>
    <p:extLst>
      <p:ext uri="{BB962C8B-B14F-4D97-AF65-F5344CB8AC3E}">
        <p14:creationId xmlns:p14="http://schemas.microsoft.com/office/powerpoint/2010/main" val="1058182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13637-DDAF-F6AE-13CB-A978FE00A0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6BB2C5-B4D5-20F5-8F82-D6278D2BBA4C}"/>
              </a:ext>
            </a:extLst>
          </p:cNvPr>
          <p:cNvSpPr>
            <a:spLocks noGrp="1"/>
          </p:cNvSpPr>
          <p:nvPr>
            <p:ph type="ctrTitle"/>
          </p:nvPr>
        </p:nvSpPr>
        <p:spPr>
          <a:xfrm>
            <a:off x="2647199" y="1501742"/>
            <a:ext cx="7300940" cy="1329595"/>
          </a:xfrm>
        </p:spPr>
        <p:txBody>
          <a:bodyPr/>
          <a:lstStyle/>
          <a:p>
            <a:r>
              <a:rPr lang="en-US" dirty="0"/>
              <a:t>Opportunity identification</a:t>
            </a:r>
          </a:p>
        </p:txBody>
      </p:sp>
      <p:sp>
        <p:nvSpPr>
          <p:cNvPr id="3" name="TextBox 2">
            <a:extLst>
              <a:ext uri="{FF2B5EF4-FFF2-40B4-BE49-F238E27FC236}">
                <a16:creationId xmlns:a16="http://schemas.microsoft.com/office/drawing/2014/main" id="{6387CF39-23F6-2946-37C3-5D144FE97BFA}"/>
              </a:ext>
            </a:extLst>
          </p:cNvPr>
          <p:cNvSpPr txBox="1"/>
          <p:nvPr/>
        </p:nvSpPr>
        <p:spPr>
          <a:xfrm>
            <a:off x="2647199" y="5033092"/>
            <a:ext cx="3119252" cy="646331"/>
          </a:xfrm>
          <a:prstGeom prst="rect">
            <a:avLst/>
          </a:prstGeom>
          <a:noFill/>
        </p:spPr>
        <p:txBody>
          <a:bodyPr wrap="none" rtlCol="0">
            <a:spAutoFit/>
          </a:bodyPr>
          <a:lstStyle/>
          <a:p>
            <a:r>
              <a:rPr lang="en-US" b="0" dirty="0">
                <a:solidFill>
                  <a:schemeClr val="accent4"/>
                </a:solidFill>
                <a:latin typeface="Franklin Gothic Medium" panose="020B0603020102020204" pitchFamily="34" charset="0"/>
              </a:rPr>
              <a:t>* Ulrich &amp; Eppinger Chapter 3</a:t>
            </a:r>
          </a:p>
          <a:p>
            <a:endParaRPr lang="en-US" dirty="0">
              <a:solidFill>
                <a:schemeClr val="accent4"/>
              </a:solidFill>
            </a:endParaRPr>
          </a:p>
        </p:txBody>
      </p:sp>
      <p:sp>
        <p:nvSpPr>
          <p:cNvPr id="4" name="Date Placeholder 3">
            <a:extLst>
              <a:ext uri="{FF2B5EF4-FFF2-40B4-BE49-F238E27FC236}">
                <a16:creationId xmlns:a16="http://schemas.microsoft.com/office/drawing/2014/main" id="{6996589E-1CF7-5F95-AE0F-42E39FBD703F}"/>
              </a:ext>
            </a:extLst>
          </p:cNvPr>
          <p:cNvSpPr>
            <a:spLocks noGrp="1"/>
          </p:cNvSpPr>
          <p:nvPr>
            <p:ph type="dt" sz="half" idx="10"/>
          </p:nvPr>
        </p:nvSpPr>
        <p:spPr/>
        <p:txBody>
          <a:bodyPr/>
          <a:lstStyle/>
          <a:p>
            <a:fld id="{D47A9A36-4EB0-BF46-AE48-7CDA251B954B}" type="datetime1">
              <a:rPr lang="en-US" smtClean="0"/>
              <a:pPr/>
              <a:t>10/29/2025</a:t>
            </a:fld>
            <a:endParaRPr lang="en-US" dirty="0"/>
          </a:p>
        </p:txBody>
      </p:sp>
      <p:sp>
        <p:nvSpPr>
          <p:cNvPr id="5" name="Slide Number Placeholder 4">
            <a:extLst>
              <a:ext uri="{FF2B5EF4-FFF2-40B4-BE49-F238E27FC236}">
                <a16:creationId xmlns:a16="http://schemas.microsoft.com/office/drawing/2014/main" id="{2EEA834E-A062-9BC8-EBA8-D99445F99354}"/>
              </a:ext>
            </a:extLst>
          </p:cNvPr>
          <p:cNvSpPr>
            <a:spLocks noGrp="1"/>
          </p:cNvSpPr>
          <p:nvPr>
            <p:ph type="sldNum" sz="quarter" idx="12"/>
          </p:nvPr>
        </p:nvSpPr>
        <p:spPr/>
        <p:txBody>
          <a:bodyPr/>
          <a:lstStyle/>
          <a:p>
            <a:fld id="{8A7A6979-0714-4377-B894-6BE4C2D6E202}" type="slidenum">
              <a:rPr lang="en-US" smtClean="0"/>
              <a:pPr/>
              <a:t>3</a:t>
            </a:fld>
            <a:endParaRPr lang="en-US" dirty="0"/>
          </a:p>
        </p:txBody>
      </p:sp>
    </p:spTree>
    <p:extLst>
      <p:ext uri="{BB962C8B-B14F-4D97-AF65-F5344CB8AC3E}">
        <p14:creationId xmlns:p14="http://schemas.microsoft.com/office/powerpoint/2010/main" val="361758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8BDAF-162F-F9EB-1353-F437E4C983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FAC0C9-5BB0-3D6B-0F14-7A8549A4441E}"/>
              </a:ext>
            </a:extLst>
          </p:cNvPr>
          <p:cNvSpPr>
            <a:spLocks noGrp="1"/>
          </p:cNvSpPr>
          <p:nvPr>
            <p:ph type="ctrTitle"/>
          </p:nvPr>
        </p:nvSpPr>
        <p:spPr/>
        <p:txBody>
          <a:bodyPr/>
          <a:lstStyle/>
          <a:p>
            <a:r>
              <a:rPr lang="en-US" dirty="0"/>
              <a:t>What is an Opportunity?</a:t>
            </a:r>
          </a:p>
        </p:txBody>
      </p:sp>
      <p:sp>
        <p:nvSpPr>
          <p:cNvPr id="4" name="Text Placeholder 3">
            <a:extLst>
              <a:ext uri="{FF2B5EF4-FFF2-40B4-BE49-F238E27FC236}">
                <a16:creationId xmlns:a16="http://schemas.microsoft.com/office/drawing/2014/main" id="{42AB2B0D-3330-B58D-08F7-214D6B6C58C0}"/>
              </a:ext>
            </a:extLst>
          </p:cNvPr>
          <p:cNvSpPr>
            <a:spLocks noGrp="1"/>
          </p:cNvSpPr>
          <p:nvPr>
            <p:ph type="body" sz="quarter" idx="14"/>
          </p:nvPr>
        </p:nvSpPr>
        <p:spPr>
          <a:xfrm>
            <a:off x="1828800" y="1917389"/>
            <a:ext cx="8755380" cy="3411537"/>
          </a:xfrm>
        </p:spPr>
        <p:txBody>
          <a:bodyPr>
            <a:normAutofit/>
          </a:bodyPr>
          <a:lstStyle/>
          <a:p>
            <a:r>
              <a:rPr lang="en-US" sz="2400" dirty="0"/>
              <a:t>An </a:t>
            </a:r>
            <a:r>
              <a:rPr lang="en-US" sz="2400" b="1" dirty="0"/>
              <a:t>opportunity </a:t>
            </a:r>
            <a:r>
              <a:rPr lang="en-US" sz="2400" dirty="0"/>
              <a:t>is an idea for a new product</a:t>
            </a:r>
          </a:p>
          <a:p>
            <a:pPr lvl="1"/>
            <a:r>
              <a:rPr lang="en-US" sz="2400" dirty="0"/>
              <a:t>A rough match for a customer need and a possible solution</a:t>
            </a:r>
          </a:p>
          <a:p>
            <a:pPr lvl="1"/>
            <a:r>
              <a:rPr lang="en-US" sz="2400" dirty="0"/>
              <a:t>A hypothesis about how value may be created</a:t>
            </a:r>
          </a:p>
          <a:p>
            <a:endParaRPr lang="en-US" sz="2400" dirty="0"/>
          </a:p>
          <a:p>
            <a:r>
              <a:rPr lang="en-US" sz="2400" dirty="0"/>
              <a:t>A simple taxonomy of opportunities</a:t>
            </a:r>
          </a:p>
          <a:p>
            <a:pPr lvl="1"/>
            <a:r>
              <a:rPr lang="en-US" sz="2400" dirty="0"/>
              <a:t>How familiar is your team with the technology?</a:t>
            </a:r>
          </a:p>
          <a:p>
            <a:pPr lvl="1"/>
            <a:r>
              <a:rPr lang="en-US" sz="2400" dirty="0"/>
              <a:t>How familiar is your team with the market &amp; customers?</a:t>
            </a:r>
          </a:p>
        </p:txBody>
      </p:sp>
      <p:sp>
        <p:nvSpPr>
          <p:cNvPr id="5" name="Date Placeholder 4">
            <a:extLst>
              <a:ext uri="{FF2B5EF4-FFF2-40B4-BE49-F238E27FC236}">
                <a16:creationId xmlns:a16="http://schemas.microsoft.com/office/drawing/2014/main" id="{C6812ECE-3E83-3F14-B9C0-3A563F378F41}"/>
              </a:ext>
            </a:extLst>
          </p:cNvPr>
          <p:cNvSpPr>
            <a:spLocks noGrp="1"/>
          </p:cNvSpPr>
          <p:nvPr>
            <p:ph type="dt" sz="half" idx="10"/>
          </p:nvPr>
        </p:nvSpPr>
        <p:spPr/>
        <p:txBody>
          <a:bodyPr/>
          <a:lstStyle/>
          <a:p>
            <a:fld id="{D47A9A36-4EB0-BF46-AE48-7CDA251B954B}" type="datetime1">
              <a:rPr lang="en-US" smtClean="0"/>
              <a:t>10/29/2025</a:t>
            </a:fld>
            <a:endParaRPr lang="en-US" dirty="0"/>
          </a:p>
        </p:txBody>
      </p:sp>
      <p:sp>
        <p:nvSpPr>
          <p:cNvPr id="6" name="Slide Number Placeholder 5">
            <a:extLst>
              <a:ext uri="{FF2B5EF4-FFF2-40B4-BE49-F238E27FC236}">
                <a16:creationId xmlns:a16="http://schemas.microsoft.com/office/drawing/2014/main" id="{440DF338-62CE-DB7C-AEA0-559743622A65}"/>
              </a:ext>
            </a:extLst>
          </p:cNvPr>
          <p:cNvSpPr>
            <a:spLocks noGrp="1"/>
          </p:cNvSpPr>
          <p:nvPr>
            <p:ph type="sldNum" sz="quarter" idx="12"/>
          </p:nvPr>
        </p:nvSpPr>
        <p:spPr/>
        <p:txBody>
          <a:bodyPr/>
          <a:lstStyle/>
          <a:p>
            <a:fld id="{8A7A6979-0714-4377-B894-6BE4C2D6E202}" type="slidenum">
              <a:rPr lang="en-US" smtClean="0"/>
              <a:pPr/>
              <a:t>4</a:t>
            </a:fld>
            <a:endParaRPr lang="en-US" dirty="0"/>
          </a:p>
        </p:txBody>
      </p:sp>
    </p:spTree>
    <p:extLst>
      <p:ext uri="{BB962C8B-B14F-4D97-AF65-F5344CB8AC3E}">
        <p14:creationId xmlns:p14="http://schemas.microsoft.com/office/powerpoint/2010/main" val="2359884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DF54C-842B-9110-3B9F-43BF9AB39E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AE67CC-9D7F-ACDE-7410-D378810D59CD}"/>
              </a:ext>
            </a:extLst>
          </p:cNvPr>
          <p:cNvSpPr>
            <a:spLocks noGrp="1"/>
          </p:cNvSpPr>
          <p:nvPr>
            <p:ph type="ctrTitle"/>
          </p:nvPr>
        </p:nvSpPr>
        <p:spPr/>
        <p:txBody>
          <a:bodyPr/>
          <a:lstStyle/>
          <a:p>
            <a:r>
              <a:rPr lang="en-US" dirty="0"/>
              <a:t>Types of Opportunities</a:t>
            </a:r>
          </a:p>
        </p:txBody>
      </p:sp>
      <p:pic>
        <p:nvPicPr>
          <p:cNvPr id="8" name="Picture 7" descr="A two-axis diagram showing “Knowledge of Need” versus “Knowledge of Solution,” divided into three zones labeled Horizon 1, Horizon 2, and Horizon 3 Opportunities. Horizon 1 covers small improvements and cost reductions to existing products, Horizon 2 represents adjacent growth with next-generation products in somewhat unfamiliar markets, and Horizon 3 involves exploring new technologies or unmet needs in entirely new markets.">
            <a:extLst>
              <a:ext uri="{FF2B5EF4-FFF2-40B4-BE49-F238E27FC236}">
                <a16:creationId xmlns:a16="http://schemas.microsoft.com/office/drawing/2014/main" id="{93E35C99-24A8-7350-3C0B-A6446D375886}"/>
              </a:ext>
            </a:extLst>
          </p:cNvPr>
          <p:cNvPicPr>
            <a:picLocks noChangeAspect="1"/>
          </p:cNvPicPr>
          <p:nvPr/>
        </p:nvPicPr>
        <p:blipFill>
          <a:blip r:embed="rId3"/>
          <a:stretch>
            <a:fillRect/>
          </a:stretch>
        </p:blipFill>
        <p:spPr>
          <a:xfrm>
            <a:off x="3321824" y="1084508"/>
            <a:ext cx="5548352" cy="4688983"/>
          </a:xfrm>
          <a:prstGeom prst="rect">
            <a:avLst/>
          </a:prstGeom>
        </p:spPr>
      </p:pic>
      <p:sp>
        <p:nvSpPr>
          <p:cNvPr id="9" name="TextBox 8">
            <a:extLst>
              <a:ext uri="{FF2B5EF4-FFF2-40B4-BE49-F238E27FC236}">
                <a16:creationId xmlns:a16="http://schemas.microsoft.com/office/drawing/2014/main" id="{916C1DFB-1664-C9AA-F76F-8F7FA33297AB}"/>
              </a:ext>
            </a:extLst>
          </p:cNvPr>
          <p:cNvSpPr txBox="1"/>
          <p:nvPr/>
        </p:nvSpPr>
        <p:spPr>
          <a:xfrm>
            <a:off x="5848422" y="5840128"/>
            <a:ext cx="2659446" cy="369332"/>
          </a:xfrm>
          <a:prstGeom prst="rect">
            <a:avLst/>
          </a:prstGeom>
          <a:noFill/>
        </p:spPr>
        <p:txBody>
          <a:bodyPr wrap="none" rtlCol="0">
            <a:spAutoFit/>
          </a:bodyPr>
          <a:lstStyle/>
          <a:p>
            <a:r>
              <a:rPr lang="en-US" dirty="0"/>
              <a:t>Source: Ulrich &amp; Eppinger</a:t>
            </a:r>
          </a:p>
        </p:txBody>
      </p:sp>
      <p:sp>
        <p:nvSpPr>
          <p:cNvPr id="5" name="Date Placeholder 4">
            <a:extLst>
              <a:ext uri="{FF2B5EF4-FFF2-40B4-BE49-F238E27FC236}">
                <a16:creationId xmlns:a16="http://schemas.microsoft.com/office/drawing/2014/main" id="{28CF8F9C-A3DF-1BEF-D7AF-1B27D5FB51B9}"/>
              </a:ext>
            </a:extLst>
          </p:cNvPr>
          <p:cNvSpPr>
            <a:spLocks noGrp="1"/>
          </p:cNvSpPr>
          <p:nvPr>
            <p:ph type="dt" sz="half" idx="10"/>
          </p:nvPr>
        </p:nvSpPr>
        <p:spPr/>
        <p:txBody>
          <a:bodyPr/>
          <a:lstStyle/>
          <a:p>
            <a:fld id="{D47A9A36-4EB0-BF46-AE48-7CDA251B954B}" type="datetime1">
              <a:rPr lang="en-US" smtClean="0"/>
              <a:t>10/29/2025</a:t>
            </a:fld>
            <a:endParaRPr lang="en-US" dirty="0"/>
          </a:p>
        </p:txBody>
      </p:sp>
      <p:sp>
        <p:nvSpPr>
          <p:cNvPr id="6" name="Slide Number Placeholder 5">
            <a:extLst>
              <a:ext uri="{FF2B5EF4-FFF2-40B4-BE49-F238E27FC236}">
                <a16:creationId xmlns:a16="http://schemas.microsoft.com/office/drawing/2014/main" id="{7C06D114-B558-F6D0-873B-511122946570}"/>
              </a:ext>
            </a:extLst>
          </p:cNvPr>
          <p:cNvSpPr>
            <a:spLocks noGrp="1"/>
          </p:cNvSpPr>
          <p:nvPr>
            <p:ph type="sldNum" sz="quarter" idx="12"/>
          </p:nvPr>
        </p:nvSpPr>
        <p:spPr/>
        <p:txBody>
          <a:bodyPr/>
          <a:lstStyle/>
          <a:p>
            <a:fld id="{8A7A6979-0714-4377-B894-6BE4C2D6E202}" type="slidenum">
              <a:rPr lang="en-US" smtClean="0"/>
              <a:pPr/>
              <a:t>5</a:t>
            </a:fld>
            <a:endParaRPr lang="en-US" dirty="0"/>
          </a:p>
        </p:txBody>
      </p:sp>
    </p:spTree>
    <p:extLst>
      <p:ext uri="{BB962C8B-B14F-4D97-AF65-F5344CB8AC3E}">
        <p14:creationId xmlns:p14="http://schemas.microsoft.com/office/powerpoint/2010/main" val="2081348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DAE25-C38E-9488-712A-A72998AF31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DC9CD3-7F71-23BE-CF48-ADEDC95C59A2}"/>
              </a:ext>
            </a:extLst>
          </p:cNvPr>
          <p:cNvSpPr>
            <a:spLocks noGrp="1"/>
          </p:cNvSpPr>
          <p:nvPr>
            <p:ph type="ctrTitle"/>
          </p:nvPr>
        </p:nvSpPr>
        <p:spPr/>
        <p:txBody>
          <a:bodyPr/>
          <a:lstStyle/>
          <a:p>
            <a:r>
              <a:rPr lang="en-US" dirty="0"/>
              <a:t>Opportunity Portfolio</a:t>
            </a:r>
          </a:p>
        </p:txBody>
      </p:sp>
      <p:sp>
        <p:nvSpPr>
          <p:cNvPr id="4" name="Text Placeholder 3">
            <a:extLst>
              <a:ext uri="{FF2B5EF4-FFF2-40B4-BE49-F238E27FC236}">
                <a16:creationId xmlns:a16="http://schemas.microsoft.com/office/drawing/2014/main" id="{725881E1-40A5-7921-DD09-BBECD80B6CC9}"/>
              </a:ext>
            </a:extLst>
          </p:cNvPr>
          <p:cNvSpPr>
            <a:spLocks noGrp="1"/>
          </p:cNvSpPr>
          <p:nvPr>
            <p:ph type="body" sz="quarter" idx="14"/>
          </p:nvPr>
        </p:nvSpPr>
        <p:spPr>
          <a:xfrm>
            <a:off x="1828800" y="1917389"/>
            <a:ext cx="8755380" cy="3411537"/>
          </a:xfrm>
        </p:spPr>
        <p:txBody>
          <a:bodyPr>
            <a:normAutofit/>
          </a:bodyPr>
          <a:lstStyle/>
          <a:p>
            <a:r>
              <a:rPr lang="en-US" sz="2400" dirty="0"/>
              <a:t>Opportunities are uncertain</a:t>
            </a:r>
          </a:p>
          <a:p>
            <a:pPr lvl="1"/>
            <a:r>
              <a:rPr lang="en-US" sz="2400" dirty="0"/>
              <a:t>What types of opportunities are more / less uncertain?</a:t>
            </a:r>
          </a:p>
          <a:p>
            <a:endParaRPr lang="en-US" sz="2400" dirty="0"/>
          </a:p>
          <a:p>
            <a:r>
              <a:rPr lang="en-US" sz="2400" dirty="0"/>
              <a:t>Useful to develop several ideas in parallel</a:t>
            </a:r>
          </a:p>
          <a:p>
            <a:endParaRPr lang="en-US" sz="2400" dirty="0"/>
          </a:p>
          <a:p>
            <a:r>
              <a:rPr lang="en-US" sz="2400" dirty="0"/>
              <a:t>Initial goal is to generate many opportunities and winnow down as uncertainty is resolved throughout the process</a:t>
            </a:r>
          </a:p>
          <a:p>
            <a:endParaRPr lang="en-US" sz="2400" dirty="0"/>
          </a:p>
        </p:txBody>
      </p:sp>
      <p:sp>
        <p:nvSpPr>
          <p:cNvPr id="5" name="Date Placeholder 4">
            <a:extLst>
              <a:ext uri="{FF2B5EF4-FFF2-40B4-BE49-F238E27FC236}">
                <a16:creationId xmlns:a16="http://schemas.microsoft.com/office/drawing/2014/main" id="{4300AA39-AD17-7A22-5F46-FEC6C0369A3B}"/>
              </a:ext>
            </a:extLst>
          </p:cNvPr>
          <p:cNvSpPr>
            <a:spLocks noGrp="1"/>
          </p:cNvSpPr>
          <p:nvPr>
            <p:ph type="dt" sz="half" idx="10"/>
          </p:nvPr>
        </p:nvSpPr>
        <p:spPr/>
        <p:txBody>
          <a:bodyPr/>
          <a:lstStyle/>
          <a:p>
            <a:fld id="{D47A9A36-4EB0-BF46-AE48-7CDA251B954B}" type="datetime1">
              <a:rPr lang="en-US" smtClean="0"/>
              <a:t>10/29/2025</a:t>
            </a:fld>
            <a:endParaRPr lang="en-US" dirty="0"/>
          </a:p>
        </p:txBody>
      </p:sp>
      <p:sp>
        <p:nvSpPr>
          <p:cNvPr id="6" name="Slide Number Placeholder 5">
            <a:extLst>
              <a:ext uri="{FF2B5EF4-FFF2-40B4-BE49-F238E27FC236}">
                <a16:creationId xmlns:a16="http://schemas.microsoft.com/office/drawing/2014/main" id="{8F577BD5-A229-AE8C-7CE2-1798BB2042EC}"/>
              </a:ext>
            </a:extLst>
          </p:cNvPr>
          <p:cNvSpPr>
            <a:spLocks noGrp="1"/>
          </p:cNvSpPr>
          <p:nvPr>
            <p:ph type="sldNum" sz="quarter" idx="12"/>
          </p:nvPr>
        </p:nvSpPr>
        <p:spPr/>
        <p:txBody>
          <a:bodyPr/>
          <a:lstStyle/>
          <a:p>
            <a:fld id="{8A7A6979-0714-4377-B894-6BE4C2D6E202}" type="slidenum">
              <a:rPr lang="en-US" smtClean="0"/>
              <a:pPr/>
              <a:t>6</a:t>
            </a:fld>
            <a:endParaRPr lang="en-US" dirty="0"/>
          </a:p>
        </p:txBody>
      </p:sp>
    </p:spTree>
    <p:extLst>
      <p:ext uri="{BB962C8B-B14F-4D97-AF65-F5344CB8AC3E}">
        <p14:creationId xmlns:p14="http://schemas.microsoft.com/office/powerpoint/2010/main" val="1749480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A90D1-036C-E115-2957-70C29B7D0A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453DF5-E68E-01CD-B889-DDC025414A7D}"/>
              </a:ext>
            </a:extLst>
          </p:cNvPr>
          <p:cNvSpPr>
            <a:spLocks noGrp="1"/>
          </p:cNvSpPr>
          <p:nvPr>
            <p:ph type="ctrTitle"/>
          </p:nvPr>
        </p:nvSpPr>
        <p:spPr/>
        <p:txBody>
          <a:bodyPr/>
          <a:lstStyle/>
          <a:p>
            <a:r>
              <a:rPr lang="en-US" dirty="0"/>
              <a:t>Implications of Uncertainty in Payoffs</a:t>
            </a:r>
          </a:p>
        </p:txBody>
      </p:sp>
      <p:sp>
        <p:nvSpPr>
          <p:cNvPr id="4" name="Text Placeholder 3">
            <a:extLst>
              <a:ext uri="{FF2B5EF4-FFF2-40B4-BE49-F238E27FC236}">
                <a16:creationId xmlns:a16="http://schemas.microsoft.com/office/drawing/2014/main" id="{50CF0900-8952-38F4-8B2E-721FBB186B00}"/>
              </a:ext>
            </a:extLst>
          </p:cNvPr>
          <p:cNvSpPr>
            <a:spLocks noGrp="1"/>
          </p:cNvSpPr>
          <p:nvPr>
            <p:ph type="body" sz="quarter" idx="14"/>
          </p:nvPr>
        </p:nvSpPr>
        <p:spPr>
          <a:xfrm>
            <a:off x="1828800" y="1917389"/>
            <a:ext cx="8755380" cy="3411537"/>
          </a:xfrm>
        </p:spPr>
        <p:txBody>
          <a:bodyPr>
            <a:normAutofit/>
          </a:bodyPr>
          <a:lstStyle/>
          <a:p>
            <a:r>
              <a:rPr lang="en-US" sz="2400" dirty="0"/>
              <a:t>Generate many ideas</a:t>
            </a:r>
          </a:p>
          <a:p>
            <a:pPr lvl="1"/>
            <a:r>
              <a:rPr lang="en-US" sz="2400" dirty="0"/>
              <a:t>Increases the likelihood of finding an exceptional idea</a:t>
            </a:r>
          </a:p>
          <a:p>
            <a:endParaRPr lang="en-US" sz="2400" dirty="0"/>
          </a:p>
          <a:p>
            <a:r>
              <a:rPr lang="en-US" sz="2400" dirty="0"/>
              <a:t>Increase variance in ideas</a:t>
            </a:r>
          </a:p>
          <a:p>
            <a:pPr lvl="1"/>
            <a:r>
              <a:rPr lang="en-US" sz="2400" dirty="0"/>
              <a:t>1000 ideas that tweak the color of the website are highly correlated</a:t>
            </a:r>
          </a:p>
          <a:p>
            <a:pPr lvl="1"/>
            <a:r>
              <a:rPr lang="en-US" sz="2400" dirty="0"/>
              <a:t>Payoff of choosing among many uncorrelated ideas higher than payoff of choosing among many correlated ideas</a:t>
            </a:r>
          </a:p>
        </p:txBody>
      </p:sp>
      <p:sp>
        <p:nvSpPr>
          <p:cNvPr id="5" name="Date Placeholder 4">
            <a:extLst>
              <a:ext uri="{FF2B5EF4-FFF2-40B4-BE49-F238E27FC236}">
                <a16:creationId xmlns:a16="http://schemas.microsoft.com/office/drawing/2014/main" id="{02AFC698-23D8-E74B-B8A5-CE2D49C38559}"/>
              </a:ext>
            </a:extLst>
          </p:cNvPr>
          <p:cNvSpPr>
            <a:spLocks noGrp="1"/>
          </p:cNvSpPr>
          <p:nvPr>
            <p:ph type="dt" sz="half" idx="10"/>
          </p:nvPr>
        </p:nvSpPr>
        <p:spPr/>
        <p:txBody>
          <a:bodyPr/>
          <a:lstStyle/>
          <a:p>
            <a:fld id="{D47A9A36-4EB0-BF46-AE48-7CDA251B954B}" type="datetime1">
              <a:rPr lang="en-US" smtClean="0"/>
              <a:t>10/29/2025</a:t>
            </a:fld>
            <a:endParaRPr lang="en-US" dirty="0"/>
          </a:p>
        </p:txBody>
      </p:sp>
      <p:sp>
        <p:nvSpPr>
          <p:cNvPr id="6" name="Slide Number Placeholder 5">
            <a:extLst>
              <a:ext uri="{FF2B5EF4-FFF2-40B4-BE49-F238E27FC236}">
                <a16:creationId xmlns:a16="http://schemas.microsoft.com/office/drawing/2014/main" id="{4FCF9518-B018-54EE-D934-920B2F8C2826}"/>
              </a:ext>
            </a:extLst>
          </p:cNvPr>
          <p:cNvSpPr>
            <a:spLocks noGrp="1"/>
          </p:cNvSpPr>
          <p:nvPr>
            <p:ph type="sldNum" sz="quarter" idx="12"/>
          </p:nvPr>
        </p:nvSpPr>
        <p:spPr/>
        <p:txBody>
          <a:bodyPr/>
          <a:lstStyle/>
          <a:p>
            <a:fld id="{8A7A6979-0714-4377-B894-6BE4C2D6E202}" type="slidenum">
              <a:rPr lang="en-US" smtClean="0"/>
              <a:pPr/>
              <a:t>7</a:t>
            </a:fld>
            <a:endParaRPr lang="en-US" dirty="0"/>
          </a:p>
        </p:txBody>
      </p:sp>
    </p:spTree>
    <p:extLst>
      <p:ext uri="{BB962C8B-B14F-4D97-AF65-F5344CB8AC3E}">
        <p14:creationId xmlns:p14="http://schemas.microsoft.com/office/powerpoint/2010/main" val="3224234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E7EDE-F2D1-8F22-2649-5636BDC9C9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739604-4392-C7A9-541F-FA5D8E3CC288}"/>
              </a:ext>
            </a:extLst>
          </p:cNvPr>
          <p:cNvSpPr>
            <a:spLocks noGrp="1"/>
          </p:cNvSpPr>
          <p:nvPr>
            <p:ph type="ctrTitle"/>
          </p:nvPr>
        </p:nvSpPr>
        <p:spPr/>
        <p:txBody>
          <a:bodyPr/>
          <a:lstStyle/>
          <a:p>
            <a:r>
              <a:rPr lang="en-US" dirty="0"/>
              <a:t>Proof-by-Simulation</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B3C193E2-B6DC-B240-65EA-80C4C72F19FA}"/>
                  </a:ext>
                </a:extLst>
              </p:cNvPr>
              <p:cNvSpPr>
                <a:spLocks noGrp="1"/>
              </p:cNvSpPr>
              <p:nvPr>
                <p:ph type="body" sz="quarter" idx="14"/>
              </p:nvPr>
            </p:nvSpPr>
            <p:spPr>
              <a:xfrm>
                <a:off x="1828800" y="1415845"/>
                <a:ext cx="8755380" cy="3913081"/>
              </a:xfrm>
            </p:spPr>
            <p:txBody>
              <a:bodyPr>
                <a:normAutofit/>
              </a:bodyPr>
              <a:lstStyle/>
              <a:p>
                <a:r>
                  <a:rPr lang="en-US" sz="2400" dirty="0"/>
                  <a:t>Sample from </a:t>
                </a:r>
                <a14:m>
                  <m:oMath xmlns:m="http://schemas.openxmlformats.org/officeDocument/2006/math">
                    <m:r>
                      <a:rPr lang="en-US" sz="2400" b="0" i="1" smtClean="0">
                        <a:latin typeface="Cambria Math" panose="02040503050406030204" pitchFamily="18" charset="0"/>
                      </a:rPr>
                      <m:t>𝑁</m:t>
                    </m:r>
                  </m:oMath>
                </a14:m>
                <a:r>
                  <a:rPr lang="en-US" sz="2400" dirty="0"/>
                  <a:t>-dimension multivariate normal distribution</a:t>
                </a:r>
              </a:p>
              <a:p>
                <a:pPr lvl="1"/>
                <a14:m>
                  <m:oMath xmlns:m="http://schemas.openxmlformats.org/officeDocument/2006/math">
                    <m:r>
                      <a:rPr lang="en-US" sz="2400" b="0" i="1" smtClean="0">
                        <a:latin typeface="Cambria Math" panose="02040503050406030204" pitchFamily="18" charset="0"/>
                      </a:rPr>
                      <m:t>𝑁</m:t>
                    </m:r>
                  </m:oMath>
                </a14:m>
                <a:r>
                  <a:rPr lang="en-US" sz="2400" dirty="0"/>
                  <a:t>: Number of ideas</a:t>
                </a:r>
              </a:p>
              <a:p>
                <a:pPr lvl="1"/>
                <a14:m>
                  <m:oMath xmlns:m="http://schemas.openxmlformats.org/officeDocument/2006/math">
                    <m:r>
                      <a:rPr lang="en-US" sz="2400" b="0" i="1" smtClean="0">
                        <a:latin typeface="Cambria Math" panose="02040503050406030204" pitchFamily="18" charset="0"/>
                      </a:rPr>
                      <m:t>𝛾</m:t>
                    </m:r>
                  </m:oMath>
                </a14:m>
                <a:r>
                  <a:rPr lang="en-US" sz="2400" dirty="0"/>
                  <a:t>: Correlation between the draws</a:t>
                </a:r>
              </a:p>
              <a:p>
                <a:endParaRPr lang="en-US" sz="2400" dirty="0"/>
              </a:p>
              <a:p>
                <a:r>
                  <a:rPr lang="en-US" sz="2400" dirty="0"/>
                  <a:t>Calculate maximum of the vector (payoff of best idea)</a:t>
                </a:r>
              </a:p>
              <a:p>
                <a:endParaRPr lang="en-US" sz="2400" dirty="0"/>
              </a:p>
              <a:p>
                <a:r>
                  <a:rPr lang="en-US" sz="2400" dirty="0"/>
                  <a:t>Repeat this 10,000 times for various values of </a:t>
                </a:r>
                <a14:m>
                  <m:oMath xmlns:m="http://schemas.openxmlformats.org/officeDocument/2006/math">
                    <m:r>
                      <a:rPr lang="en-US" sz="2400" b="0" i="1" smtClean="0">
                        <a:latin typeface="Cambria Math" panose="02040503050406030204" pitchFamily="18" charset="0"/>
                      </a:rPr>
                      <m:t>𝑁</m:t>
                    </m:r>
                  </m:oMath>
                </a14:m>
                <a:r>
                  <a:rPr lang="en-US" sz="2400" dirty="0"/>
                  <a:t> and </a:t>
                </a:r>
                <a14:m>
                  <m:oMath xmlns:m="http://schemas.openxmlformats.org/officeDocument/2006/math">
                    <m:r>
                      <a:rPr lang="en-US" sz="2400" b="0" i="1" smtClean="0">
                        <a:latin typeface="Cambria Math" panose="02040503050406030204" pitchFamily="18" charset="0"/>
                      </a:rPr>
                      <m:t>𝛾</m:t>
                    </m:r>
                  </m:oMath>
                </a14:m>
                <a:endParaRPr lang="en-US" sz="2400" dirty="0"/>
              </a:p>
            </p:txBody>
          </p:sp>
        </mc:Choice>
        <mc:Fallback xmlns="">
          <p:sp>
            <p:nvSpPr>
              <p:cNvPr id="4" name="Text Placeholder 3">
                <a:extLst>
                  <a:ext uri="{FF2B5EF4-FFF2-40B4-BE49-F238E27FC236}">
                    <a16:creationId xmlns:a16="http://schemas.microsoft.com/office/drawing/2014/main" id="{B3C193E2-B6DC-B240-65EA-80C4C72F19FA}"/>
                  </a:ext>
                </a:extLst>
              </p:cNvPr>
              <p:cNvSpPr>
                <a:spLocks noGrp="1" noRot="1" noChangeAspect="1" noMove="1" noResize="1" noEditPoints="1" noAdjustHandles="1" noChangeArrowheads="1" noChangeShapeType="1" noTextEdit="1"/>
              </p:cNvSpPr>
              <p:nvPr>
                <p:ph type="body" sz="quarter" idx="14"/>
              </p:nvPr>
            </p:nvSpPr>
            <p:spPr>
              <a:xfrm>
                <a:off x="1828800" y="1415845"/>
                <a:ext cx="8755380" cy="3913081"/>
              </a:xfrm>
              <a:blipFill>
                <a:blip r:embed="rId3"/>
                <a:stretch>
                  <a:fillRect l="-2029" t="-2265"/>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8BC9B4BE-8A20-FB4F-8FD0-1874CD0DF122}"/>
              </a:ext>
            </a:extLst>
          </p:cNvPr>
          <p:cNvSpPr>
            <a:spLocks noGrp="1"/>
          </p:cNvSpPr>
          <p:nvPr>
            <p:ph type="dt" sz="half" idx="10"/>
          </p:nvPr>
        </p:nvSpPr>
        <p:spPr/>
        <p:txBody>
          <a:bodyPr/>
          <a:lstStyle/>
          <a:p>
            <a:fld id="{D47A9A36-4EB0-BF46-AE48-7CDA251B954B}" type="datetime1">
              <a:rPr lang="en-US" smtClean="0"/>
              <a:t>10/29/2025</a:t>
            </a:fld>
            <a:endParaRPr lang="en-US" dirty="0"/>
          </a:p>
        </p:txBody>
      </p:sp>
      <p:sp>
        <p:nvSpPr>
          <p:cNvPr id="6" name="Slide Number Placeholder 5">
            <a:extLst>
              <a:ext uri="{FF2B5EF4-FFF2-40B4-BE49-F238E27FC236}">
                <a16:creationId xmlns:a16="http://schemas.microsoft.com/office/drawing/2014/main" id="{A254D5C2-C142-77D7-49D9-A058A8BC14EC}"/>
              </a:ext>
            </a:extLst>
          </p:cNvPr>
          <p:cNvSpPr>
            <a:spLocks noGrp="1"/>
          </p:cNvSpPr>
          <p:nvPr>
            <p:ph type="sldNum" sz="quarter" idx="12"/>
          </p:nvPr>
        </p:nvSpPr>
        <p:spPr/>
        <p:txBody>
          <a:bodyPr/>
          <a:lstStyle/>
          <a:p>
            <a:fld id="{8A7A6979-0714-4377-B894-6BE4C2D6E202}" type="slidenum">
              <a:rPr lang="en-US" smtClean="0"/>
              <a:pPr/>
              <a:t>8</a:t>
            </a:fld>
            <a:endParaRPr lang="en-US" dirty="0"/>
          </a:p>
        </p:txBody>
      </p:sp>
    </p:spTree>
    <p:extLst>
      <p:ext uri="{BB962C8B-B14F-4D97-AF65-F5344CB8AC3E}">
        <p14:creationId xmlns:p14="http://schemas.microsoft.com/office/powerpoint/2010/main" val="1579542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AA0A4-401F-EAD0-BB17-D62FD2F25A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76E955-CB50-4B2A-BBEC-876D71CF5F7B}"/>
              </a:ext>
            </a:extLst>
          </p:cNvPr>
          <p:cNvSpPr>
            <a:spLocks noGrp="1"/>
          </p:cNvSpPr>
          <p:nvPr>
            <p:ph type="ctrTitle"/>
          </p:nvPr>
        </p:nvSpPr>
        <p:spPr/>
        <p:txBody>
          <a:bodyPr/>
          <a:lstStyle/>
          <a:p>
            <a:r>
              <a:rPr lang="en-US" dirty="0"/>
              <a:t>Prefer Uncorrelated Ideas: Traditional Diversification</a:t>
            </a:r>
          </a:p>
        </p:txBody>
      </p:sp>
      <p:pic>
        <p:nvPicPr>
          <p:cNvPr id="3" name="Picture 2" descr="Line chart of the standard deviation of the maximum payoff from 10,000 MVN simulations as the number of draws increases (x-axis). Variance falls sharply with more draws when ideas are less correlated (ρ=0.0→0.8), but stays roughly constant at ~1.0 under perfect correlation (ρ=1.0), showing that uncorrelated ideas reduce uncertainty in the “best” payoff.">
            <a:extLst>
              <a:ext uri="{FF2B5EF4-FFF2-40B4-BE49-F238E27FC236}">
                <a16:creationId xmlns:a16="http://schemas.microsoft.com/office/drawing/2014/main" id="{C83EAA74-E8B4-D03B-1DF1-A82D8E69217B}"/>
              </a:ext>
            </a:extLst>
          </p:cNvPr>
          <p:cNvPicPr>
            <a:picLocks noChangeAspect="1"/>
          </p:cNvPicPr>
          <p:nvPr/>
        </p:nvPicPr>
        <p:blipFill>
          <a:blip r:embed="rId3"/>
          <a:stretch>
            <a:fillRect/>
          </a:stretch>
        </p:blipFill>
        <p:spPr>
          <a:xfrm>
            <a:off x="3072130" y="1010218"/>
            <a:ext cx="6302459" cy="4837563"/>
          </a:xfrm>
          <a:prstGeom prst="rect">
            <a:avLst/>
          </a:prstGeom>
        </p:spPr>
      </p:pic>
      <p:sp>
        <p:nvSpPr>
          <p:cNvPr id="5" name="Date Placeholder 4">
            <a:extLst>
              <a:ext uri="{FF2B5EF4-FFF2-40B4-BE49-F238E27FC236}">
                <a16:creationId xmlns:a16="http://schemas.microsoft.com/office/drawing/2014/main" id="{2F3CCA22-3DC6-6028-9D2C-5DAE9F6D8E49}"/>
              </a:ext>
            </a:extLst>
          </p:cNvPr>
          <p:cNvSpPr>
            <a:spLocks noGrp="1"/>
          </p:cNvSpPr>
          <p:nvPr>
            <p:ph type="dt" sz="half" idx="10"/>
          </p:nvPr>
        </p:nvSpPr>
        <p:spPr/>
        <p:txBody>
          <a:bodyPr/>
          <a:lstStyle/>
          <a:p>
            <a:fld id="{D47A9A36-4EB0-BF46-AE48-7CDA251B954B}" type="datetime1">
              <a:rPr lang="en-US" smtClean="0"/>
              <a:t>10/29/2025</a:t>
            </a:fld>
            <a:endParaRPr lang="en-US" dirty="0"/>
          </a:p>
        </p:txBody>
      </p:sp>
      <p:sp>
        <p:nvSpPr>
          <p:cNvPr id="6" name="Slide Number Placeholder 5">
            <a:extLst>
              <a:ext uri="{FF2B5EF4-FFF2-40B4-BE49-F238E27FC236}">
                <a16:creationId xmlns:a16="http://schemas.microsoft.com/office/drawing/2014/main" id="{FA228EAC-693A-D4F0-C604-8F46F730E7C4}"/>
              </a:ext>
            </a:extLst>
          </p:cNvPr>
          <p:cNvSpPr>
            <a:spLocks noGrp="1"/>
          </p:cNvSpPr>
          <p:nvPr>
            <p:ph type="sldNum" sz="quarter" idx="12"/>
          </p:nvPr>
        </p:nvSpPr>
        <p:spPr/>
        <p:txBody>
          <a:bodyPr/>
          <a:lstStyle/>
          <a:p>
            <a:fld id="{8A7A6979-0714-4377-B894-6BE4C2D6E202}" type="slidenum">
              <a:rPr lang="en-US" smtClean="0"/>
              <a:pPr/>
              <a:t>9</a:t>
            </a:fld>
            <a:endParaRPr lang="en-US" dirty="0"/>
          </a:p>
        </p:txBody>
      </p:sp>
    </p:spTree>
    <p:extLst>
      <p:ext uri="{BB962C8B-B14F-4D97-AF65-F5344CB8AC3E}">
        <p14:creationId xmlns:p14="http://schemas.microsoft.com/office/powerpoint/2010/main" val="20383533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C872B-008C-E38B-21A4-A6BE6D9219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E63675-DC34-5588-C7E8-7D59DC0523D3}"/>
              </a:ext>
            </a:extLst>
          </p:cNvPr>
          <p:cNvSpPr>
            <a:spLocks noGrp="1"/>
          </p:cNvSpPr>
          <p:nvPr>
            <p:ph type="ctrTitle"/>
          </p:nvPr>
        </p:nvSpPr>
        <p:spPr/>
        <p:txBody>
          <a:bodyPr/>
          <a:lstStyle/>
          <a:p>
            <a:r>
              <a:rPr lang="en-US" dirty="0"/>
              <a:t>Prefer Uncorrelated Ideas: Order Statistics</a:t>
            </a:r>
          </a:p>
        </p:txBody>
      </p:sp>
      <p:pic>
        <p:nvPicPr>
          <p:cNvPr id="9" name="Picture 8" descr="Line chart showing the expected maximum payoff from 10,000 multivariate normal simulations as the number of draws increases. Payoff rises with more draws, but less steeply as correlation between ideas increases. When correlation is 1.0, the payoff remains flat, illustrating that exploring uncorrelated ideas yields higher potential returns.">
            <a:extLst>
              <a:ext uri="{FF2B5EF4-FFF2-40B4-BE49-F238E27FC236}">
                <a16:creationId xmlns:a16="http://schemas.microsoft.com/office/drawing/2014/main" id="{3552566A-109A-2B05-C771-AF6267B6627C}"/>
              </a:ext>
            </a:extLst>
          </p:cNvPr>
          <p:cNvPicPr>
            <a:picLocks noChangeAspect="1"/>
          </p:cNvPicPr>
          <p:nvPr/>
        </p:nvPicPr>
        <p:blipFill>
          <a:blip r:embed="rId3"/>
          <a:stretch>
            <a:fillRect/>
          </a:stretch>
        </p:blipFill>
        <p:spPr>
          <a:xfrm>
            <a:off x="3051084" y="1091820"/>
            <a:ext cx="6569166" cy="5042279"/>
          </a:xfrm>
          <a:prstGeom prst="rect">
            <a:avLst/>
          </a:prstGeom>
        </p:spPr>
      </p:pic>
      <p:sp>
        <p:nvSpPr>
          <p:cNvPr id="5" name="Date Placeholder 4">
            <a:extLst>
              <a:ext uri="{FF2B5EF4-FFF2-40B4-BE49-F238E27FC236}">
                <a16:creationId xmlns:a16="http://schemas.microsoft.com/office/drawing/2014/main" id="{E85B7EBC-429E-FDC4-CABB-F913728F3056}"/>
              </a:ext>
            </a:extLst>
          </p:cNvPr>
          <p:cNvSpPr>
            <a:spLocks noGrp="1"/>
          </p:cNvSpPr>
          <p:nvPr>
            <p:ph type="dt" sz="half" idx="10"/>
          </p:nvPr>
        </p:nvSpPr>
        <p:spPr/>
        <p:txBody>
          <a:bodyPr/>
          <a:lstStyle/>
          <a:p>
            <a:fld id="{D47A9A36-4EB0-BF46-AE48-7CDA251B954B}" type="datetime1">
              <a:rPr lang="en-US" smtClean="0"/>
              <a:t>10/29/2025</a:t>
            </a:fld>
            <a:endParaRPr lang="en-US" dirty="0"/>
          </a:p>
        </p:txBody>
      </p:sp>
      <p:sp>
        <p:nvSpPr>
          <p:cNvPr id="6" name="Slide Number Placeholder 5">
            <a:extLst>
              <a:ext uri="{FF2B5EF4-FFF2-40B4-BE49-F238E27FC236}">
                <a16:creationId xmlns:a16="http://schemas.microsoft.com/office/drawing/2014/main" id="{0AD344C7-9567-C8C6-9BD6-7553AE2DC664}"/>
              </a:ext>
            </a:extLst>
          </p:cNvPr>
          <p:cNvSpPr>
            <a:spLocks noGrp="1"/>
          </p:cNvSpPr>
          <p:nvPr>
            <p:ph type="sldNum" sz="quarter" idx="12"/>
          </p:nvPr>
        </p:nvSpPr>
        <p:spPr/>
        <p:txBody>
          <a:bodyPr/>
          <a:lstStyle/>
          <a:p>
            <a:fld id="{8A7A6979-0714-4377-B894-6BE4C2D6E202}" type="slidenum">
              <a:rPr lang="en-US" smtClean="0"/>
              <a:pPr/>
              <a:t>10</a:t>
            </a:fld>
            <a:endParaRPr lang="en-US" dirty="0"/>
          </a:p>
        </p:txBody>
      </p:sp>
    </p:spTree>
    <p:extLst>
      <p:ext uri="{BB962C8B-B14F-4D97-AF65-F5344CB8AC3E}">
        <p14:creationId xmlns:p14="http://schemas.microsoft.com/office/powerpoint/2010/main" val="42423606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EA953-CB04-1D75-0DC8-DD006643E5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157C2A-8726-FB84-7B0A-B933D96D3ADA}"/>
              </a:ext>
            </a:extLst>
          </p:cNvPr>
          <p:cNvSpPr>
            <a:spLocks noGrp="1"/>
          </p:cNvSpPr>
          <p:nvPr>
            <p:ph type="ctrTitle"/>
          </p:nvPr>
        </p:nvSpPr>
        <p:spPr/>
        <p:txBody>
          <a:bodyPr/>
          <a:lstStyle/>
          <a:p>
            <a:r>
              <a:rPr lang="en-US" dirty="0"/>
              <a:t>Fat-Tailed Distributions</a:t>
            </a:r>
          </a:p>
        </p:txBody>
      </p:sp>
      <p:sp>
        <p:nvSpPr>
          <p:cNvPr id="4" name="Text Placeholder 3">
            <a:extLst>
              <a:ext uri="{FF2B5EF4-FFF2-40B4-BE49-F238E27FC236}">
                <a16:creationId xmlns:a16="http://schemas.microsoft.com/office/drawing/2014/main" id="{BA3293F6-8A28-2D12-3B04-F23A05AB7389}"/>
              </a:ext>
            </a:extLst>
          </p:cNvPr>
          <p:cNvSpPr>
            <a:spLocks noGrp="1"/>
          </p:cNvSpPr>
          <p:nvPr>
            <p:ph type="body" sz="quarter" idx="14"/>
          </p:nvPr>
        </p:nvSpPr>
        <p:spPr>
          <a:xfrm>
            <a:off x="1828800" y="1528763"/>
            <a:ext cx="8755380" cy="4114800"/>
          </a:xfrm>
        </p:spPr>
        <p:txBody>
          <a:bodyPr>
            <a:normAutofit/>
          </a:bodyPr>
          <a:lstStyle/>
          <a:p>
            <a:r>
              <a:rPr lang="en-US" sz="2400" dirty="0"/>
              <a:t>Thin tailed distributions: The average value provides a useful measure of the central tendency</a:t>
            </a:r>
          </a:p>
          <a:p>
            <a:pPr lvl="1"/>
            <a:r>
              <a:rPr lang="en-US" sz="2400" dirty="0"/>
              <a:t>Examples: Height, speed of cars, temperature</a:t>
            </a:r>
          </a:p>
          <a:p>
            <a:pPr lvl="1"/>
            <a:r>
              <a:rPr lang="en-US" sz="2400" dirty="0"/>
              <a:t>“Large” deviations from the mean are rare</a:t>
            </a:r>
          </a:p>
          <a:p>
            <a:endParaRPr lang="en-US" sz="2400" dirty="0"/>
          </a:p>
          <a:p>
            <a:r>
              <a:rPr lang="en-US" sz="2400" dirty="0"/>
              <a:t>Fat tailed distributions: Outlier events are likely and the mean is less useful as a measure of central tendency</a:t>
            </a:r>
          </a:p>
          <a:p>
            <a:pPr lvl="1"/>
            <a:r>
              <a:rPr lang="en-US" sz="2400" dirty="0"/>
              <a:t>Example: Average US city population in 2000 was ~8,000</a:t>
            </a:r>
          </a:p>
          <a:p>
            <a:pPr lvl="1"/>
            <a:r>
              <a:rPr lang="en-US" sz="2400" dirty="0"/>
              <a:t>In digital markets, many examples of fat-tailed distributions</a:t>
            </a:r>
          </a:p>
        </p:txBody>
      </p:sp>
      <p:sp>
        <p:nvSpPr>
          <p:cNvPr id="5" name="Date Placeholder 4">
            <a:extLst>
              <a:ext uri="{FF2B5EF4-FFF2-40B4-BE49-F238E27FC236}">
                <a16:creationId xmlns:a16="http://schemas.microsoft.com/office/drawing/2014/main" id="{03B1A41F-BA5B-9FA0-1E27-B8088C652AE8}"/>
              </a:ext>
            </a:extLst>
          </p:cNvPr>
          <p:cNvSpPr>
            <a:spLocks noGrp="1"/>
          </p:cNvSpPr>
          <p:nvPr>
            <p:ph type="dt" sz="half" idx="10"/>
          </p:nvPr>
        </p:nvSpPr>
        <p:spPr/>
        <p:txBody>
          <a:bodyPr/>
          <a:lstStyle/>
          <a:p>
            <a:fld id="{D47A9A36-4EB0-BF46-AE48-7CDA251B954B}" type="datetime1">
              <a:rPr lang="en-US" smtClean="0"/>
              <a:t>10/29/2025</a:t>
            </a:fld>
            <a:endParaRPr lang="en-US" dirty="0"/>
          </a:p>
        </p:txBody>
      </p:sp>
      <p:sp>
        <p:nvSpPr>
          <p:cNvPr id="6" name="Slide Number Placeholder 5">
            <a:extLst>
              <a:ext uri="{FF2B5EF4-FFF2-40B4-BE49-F238E27FC236}">
                <a16:creationId xmlns:a16="http://schemas.microsoft.com/office/drawing/2014/main" id="{D4B1556E-A0FB-6399-C0C9-DDD0F9C6DCFD}"/>
              </a:ext>
            </a:extLst>
          </p:cNvPr>
          <p:cNvSpPr>
            <a:spLocks noGrp="1"/>
          </p:cNvSpPr>
          <p:nvPr>
            <p:ph type="sldNum" sz="quarter" idx="12"/>
          </p:nvPr>
        </p:nvSpPr>
        <p:spPr/>
        <p:txBody>
          <a:bodyPr/>
          <a:lstStyle/>
          <a:p>
            <a:fld id="{8A7A6979-0714-4377-B894-6BE4C2D6E202}" type="slidenum">
              <a:rPr lang="en-US" smtClean="0"/>
              <a:pPr/>
              <a:t>11</a:t>
            </a:fld>
            <a:endParaRPr lang="en-US" dirty="0"/>
          </a:p>
        </p:txBody>
      </p:sp>
    </p:spTree>
    <p:extLst>
      <p:ext uri="{BB962C8B-B14F-4D97-AF65-F5344CB8AC3E}">
        <p14:creationId xmlns:p14="http://schemas.microsoft.com/office/powerpoint/2010/main" val="1136816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66156-4B99-A3AD-7460-F0F678F28A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203B71-3BF6-03AC-29C8-F6914955E778}"/>
              </a:ext>
            </a:extLst>
          </p:cNvPr>
          <p:cNvSpPr>
            <a:spLocks noGrp="1"/>
          </p:cNvSpPr>
          <p:nvPr>
            <p:ph type="ctrTitle"/>
          </p:nvPr>
        </p:nvSpPr>
        <p:spPr/>
        <p:txBody>
          <a:bodyPr/>
          <a:lstStyle/>
          <a:p>
            <a:r>
              <a:rPr lang="en-US" dirty="0"/>
              <a:t>Power Laws and Fat Tails</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E7B69A12-F529-6CF4-E21B-8281D53D5028}"/>
                  </a:ext>
                </a:extLst>
              </p:cNvPr>
              <p:cNvSpPr>
                <a:spLocks noGrp="1"/>
              </p:cNvSpPr>
              <p:nvPr>
                <p:ph type="body" sz="quarter" idx="14"/>
              </p:nvPr>
            </p:nvSpPr>
            <p:spPr>
              <a:xfrm>
                <a:off x="1828800" y="1528763"/>
                <a:ext cx="8755380" cy="4114800"/>
              </a:xfrm>
            </p:spPr>
            <p:txBody>
              <a:bodyPr>
                <a:normAutofit lnSpcReduction="10000"/>
              </a:bodyPr>
              <a:lstStyle/>
              <a:p>
                <a:r>
                  <a:rPr lang="en-US" sz="2400" dirty="0"/>
                  <a:t>Power law describes a distribution where: </a:t>
                </a:r>
                <a14:m>
                  <m:oMath xmlns:m="http://schemas.openxmlformats.org/officeDocument/2006/math">
                    <m:r>
                      <m:rPr>
                        <m:sty m:val="p"/>
                      </m:rPr>
                      <a:rPr lang="en-US" sz="2400" b="0" i="0" smtClean="0">
                        <a:latin typeface="Cambria Math" panose="02040503050406030204" pitchFamily="18" charset="0"/>
                      </a:rPr>
                      <m:t>P</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r>
                          <a:rPr lang="en-US" sz="2400" b="0" i="1" smtClean="0">
                            <a:latin typeface="Cambria Math" panose="02040503050406030204" pitchFamily="18" charset="0"/>
                          </a:rPr>
                          <m:t>=</m:t>
                        </m:r>
                        <m:r>
                          <a:rPr lang="en-US" sz="2400" b="0" i="1" smtClean="0">
                            <a:latin typeface="Cambria Math" panose="02040503050406030204" pitchFamily="18" charset="0"/>
                          </a:rPr>
                          <m:t>𝑥</m:t>
                        </m:r>
                      </m:e>
                    </m:d>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𝑥</m:t>
                        </m:r>
                      </m:e>
                      <m:sup>
                        <m:r>
                          <a:rPr lang="en-US" sz="2400" b="0" i="1" smtClean="0">
                            <a:latin typeface="Cambria Math" panose="02040503050406030204" pitchFamily="18" charset="0"/>
                          </a:rPr>
                          <m:t>−</m:t>
                        </m:r>
                        <m:r>
                          <a:rPr lang="en-US" sz="2400" b="0" i="1" smtClean="0">
                            <a:latin typeface="Cambria Math" panose="02040503050406030204" pitchFamily="18" charset="0"/>
                          </a:rPr>
                          <m:t>𝛼</m:t>
                        </m:r>
                      </m:sup>
                    </m:sSup>
                  </m:oMath>
                </a14:m>
                <a:endParaRPr lang="en-US" sz="2400" dirty="0"/>
              </a:p>
              <a:p>
                <a:endParaRPr lang="en-US" sz="2400" dirty="0"/>
              </a:p>
              <a:p>
                <a:r>
                  <a:rPr lang="en-US" sz="2400" dirty="0"/>
                  <a:t>Exponential describes a distribution where </a:t>
                </a:r>
                <a14:m>
                  <m:oMath xmlns:m="http://schemas.openxmlformats.org/officeDocument/2006/math">
                    <m:r>
                      <m:rPr>
                        <m:sty m:val="p"/>
                      </m:rPr>
                      <a:rPr lang="en-US" sz="2400" b="0" i="0" smtClean="0">
                        <a:latin typeface="Cambria Math" panose="02040503050406030204" pitchFamily="18" charset="0"/>
                      </a:rPr>
                      <m:t>P</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r>
                          <a:rPr lang="en-US" sz="2400" b="0" i="1" smtClean="0">
                            <a:latin typeface="Cambria Math" panose="02040503050406030204" pitchFamily="18" charset="0"/>
                          </a:rPr>
                          <m:t>=</m:t>
                        </m:r>
                        <m:r>
                          <a:rPr lang="en-US" sz="2400" b="0" i="1" smtClean="0">
                            <a:latin typeface="Cambria Math" panose="02040503050406030204" pitchFamily="18" charset="0"/>
                          </a:rPr>
                          <m:t>𝑥</m:t>
                        </m:r>
                      </m:e>
                    </m:d>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𝑒</m:t>
                        </m:r>
                      </m:e>
                      <m:sup>
                        <m:r>
                          <a:rPr lang="en-US" sz="2400" b="0" i="1" smtClean="0">
                            <a:latin typeface="Cambria Math" panose="02040503050406030204" pitchFamily="18" charset="0"/>
                          </a:rPr>
                          <m:t>−</m:t>
                        </m:r>
                        <m:r>
                          <a:rPr lang="en-US" sz="2400" b="0" i="1" smtClean="0">
                            <a:latin typeface="Cambria Math" panose="02040503050406030204" pitchFamily="18" charset="0"/>
                          </a:rPr>
                          <m:t>𝛼</m:t>
                        </m:r>
                        <m:r>
                          <a:rPr lang="en-US" sz="2400" b="0" i="1" smtClean="0">
                            <a:latin typeface="Cambria Math" panose="02040503050406030204" pitchFamily="18" charset="0"/>
                          </a:rPr>
                          <m:t>𝑥</m:t>
                        </m:r>
                      </m:sup>
                    </m:sSup>
                  </m:oMath>
                </a14:m>
                <a:endParaRPr lang="en-US" sz="2400" dirty="0"/>
              </a:p>
              <a:p>
                <a:pPr lvl="1"/>
                <a:endParaRPr lang="en-US" sz="2400" i="1" dirty="0">
                  <a:latin typeface="Cambria Math" panose="02040503050406030204" pitchFamily="18" charset="0"/>
                </a:endParaRPr>
              </a:p>
              <a:p>
                <a14:m>
                  <m:oMath xmlns:m="http://schemas.openxmlformats.org/officeDocument/2006/math">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log</m:t>
                        </m:r>
                      </m:fName>
                      <m:e>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i="1">
                                    <a:latin typeface="Cambria Math" panose="02040503050406030204" pitchFamily="18" charset="0"/>
                                  </a:rPr>
                                  <m:t>−</m:t>
                                </m:r>
                                <m:r>
                                  <a:rPr lang="en-US" sz="2400" i="1">
                                    <a:latin typeface="Cambria Math" panose="02040503050406030204" pitchFamily="18" charset="0"/>
                                  </a:rPr>
                                  <m:t>𝛼</m:t>
                                </m:r>
                              </m:sup>
                            </m:sSup>
                          </m:num>
                          <m:den>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r>
                                  <a:rPr lang="en-US" sz="2400" b="0" i="1" smtClean="0">
                                    <a:latin typeface="Cambria Math" panose="02040503050406030204" pitchFamily="18" charset="0"/>
                                  </a:rPr>
                                  <m:t>𝛽</m:t>
                                </m:r>
                                <m:r>
                                  <a:rPr lang="en-US" sz="2400" i="1">
                                    <a:latin typeface="Cambria Math" panose="02040503050406030204" pitchFamily="18" charset="0"/>
                                  </a:rPr>
                                  <m:t>𝑥</m:t>
                                </m:r>
                              </m:sup>
                            </m:sSup>
                          </m:den>
                        </m:f>
                      </m:e>
                    </m:func>
                    <m:r>
                      <a:rPr lang="en-US" sz="2400" i="1">
                        <a:latin typeface="Cambria Math" panose="02040503050406030204" pitchFamily="18" charset="0"/>
                      </a:rPr>
                      <m:t> </m:t>
                    </m:r>
                    <m:r>
                      <a:rPr lang="en-US" sz="2400" b="0" i="1" smtClean="0">
                        <a:latin typeface="Cambria Math" panose="02040503050406030204" pitchFamily="18" charset="0"/>
                      </a:rPr>
                      <m:t>=−</m:t>
                    </m:r>
                    <m:r>
                      <a:rPr lang="en-US" sz="2400" b="0" i="1" smtClean="0">
                        <a:latin typeface="Cambria Math" panose="02040503050406030204" pitchFamily="18" charset="0"/>
                      </a:rPr>
                      <m:t>𝛼</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log</m:t>
                        </m:r>
                      </m:fName>
                      <m:e>
                        <m:r>
                          <a:rPr lang="en-US" sz="2400" b="0" i="1" smtClean="0">
                            <a:latin typeface="Cambria Math" panose="02040503050406030204" pitchFamily="18" charset="0"/>
                          </a:rPr>
                          <m:t>𝑥</m:t>
                        </m:r>
                      </m:e>
                    </m:func>
                    <m:r>
                      <a:rPr lang="en-US" sz="2400" b="0" i="1" smtClean="0">
                        <a:latin typeface="Cambria Math" panose="02040503050406030204" pitchFamily="18" charset="0"/>
                      </a:rPr>
                      <m:t>+</m:t>
                    </m:r>
                    <m:r>
                      <a:rPr lang="en-US" sz="2400" b="0" i="1" smtClean="0">
                        <a:latin typeface="Cambria Math" panose="02040503050406030204" pitchFamily="18" charset="0"/>
                      </a:rPr>
                      <m:t>𝛽</m:t>
                    </m:r>
                    <m:r>
                      <a:rPr lang="en-US" sz="2400" b="0" i="1" smtClean="0">
                        <a:latin typeface="Cambria Math" panose="02040503050406030204" pitchFamily="18" charset="0"/>
                      </a:rPr>
                      <m:t>𝑥</m:t>
                    </m:r>
                  </m:oMath>
                </a14:m>
                <a:endParaRPr lang="en-US" sz="2400" dirty="0"/>
              </a:p>
              <a:p>
                <a:pPr lvl="1"/>
                <a:r>
                  <a:rPr lang="en-US" sz="2400" dirty="0"/>
                  <a:t>Power law has more mass in the tails</a:t>
                </a:r>
              </a:p>
              <a:p>
                <a:pPr marL="0" indent="0">
                  <a:buNone/>
                </a:pPr>
                <a:endParaRPr lang="en-US" sz="2400" dirty="0"/>
              </a:p>
              <a:p>
                <a:r>
                  <a:rPr lang="en-US" sz="2400" dirty="0"/>
                  <a:t>Power laws </a:t>
                </a:r>
              </a:p>
              <a:p>
                <a:pPr lvl="1"/>
                <a:r>
                  <a:rPr lang="en-US" sz="2400" dirty="0"/>
                  <a:t>Implies </a:t>
                </a:r>
                <a14:m>
                  <m:oMath xmlns:m="http://schemas.openxmlformats.org/officeDocument/2006/math">
                    <m:r>
                      <m:rPr>
                        <m:sty m:val="p"/>
                      </m:rPr>
                      <a:rPr lang="en-US" sz="2400">
                        <a:latin typeface="Cambria Math" panose="02040503050406030204" pitchFamily="18" charset="0"/>
                      </a:rPr>
                      <m:t>l</m:t>
                    </m:r>
                    <m:r>
                      <m:rPr>
                        <m:sty m:val="p"/>
                      </m:rPr>
                      <a:rPr lang="en-US" sz="2400" b="0" i="0" smtClean="0">
                        <a:latin typeface="Cambria Math" panose="02040503050406030204" pitchFamily="18" charset="0"/>
                      </a:rPr>
                      <m:t>og</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P</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r>
                          <a:rPr lang="en-US" sz="2400" b="0" i="1" smtClean="0">
                            <a:latin typeface="Cambria Math" panose="02040503050406030204" pitchFamily="18" charset="0"/>
                          </a:rPr>
                          <m:t>=</m:t>
                        </m:r>
                        <m:r>
                          <a:rPr lang="en-US" sz="2400" b="0" i="1" smtClean="0">
                            <a:latin typeface="Cambria Math" panose="02040503050406030204" pitchFamily="18" charset="0"/>
                          </a:rPr>
                          <m:t>𝑥</m:t>
                        </m:r>
                      </m:e>
                    </m:d>
                    <m:r>
                      <a:rPr lang="en-US" sz="2400" b="0" i="1" smtClean="0">
                        <a:latin typeface="Cambria Math" panose="02040503050406030204" pitchFamily="18" charset="0"/>
                      </a:rPr>
                      <m:t>=</m:t>
                    </m:r>
                    <m:r>
                      <a:rPr lang="en-US" sz="2400" b="0" i="1" smtClean="0">
                        <a:latin typeface="Cambria Math" panose="02040503050406030204" pitchFamily="18" charset="0"/>
                      </a:rPr>
                      <m:t>𝐶</m:t>
                    </m:r>
                    <m:r>
                      <a:rPr lang="en-US" sz="2400" b="0" i="1" smtClean="0">
                        <a:latin typeface="Cambria Math" panose="02040503050406030204" pitchFamily="18" charset="0"/>
                      </a:rPr>
                      <m:t>−</m:t>
                    </m:r>
                    <m:r>
                      <a:rPr lang="en-US" sz="2400" b="0" i="1" smtClean="0">
                        <a:latin typeface="Cambria Math" panose="02040503050406030204" pitchFamily="18" charset="0"/>
                      </a:rPr>
                      <m:t>𝛼</m:t>
                    </m:r>
                    <m:r>
                      <a:rPr lang="en-US" sz="2400" b="0" i="1" smtClean="0">
                        <a:latin typeface="Cambria Math" panose="02040503050406030204" pitchFamily="18" charset="0"/>
                      </a:rPr>
                      <m:t>∗</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log</m:t>
                        </m:r>
                      </m:fName>
                      <m:e>
                        <m:r>
                          <a:rPr lang="en-US" sz="2400" b="0" i="1" smtClean="0">
                            <a:latin typeface="Cambria Math" panose="02040503050406030204" pitchFamily="18" charset="0"/>
                          </a:rPr>
                          <m:t>𝑥</m:t>
                        </m:r>
                      </m:e>
                    </m:func>
                  </m:oMath>
                </a14:m>
                <a:endParaRPr lang="en-US" sz="2400" dirty="0"/>
              </a:p>
              <a:p>
                <a:pPr lvl="1"/>
                <a:r>
                  <a:rPr lang="en-US" sz="2400" dirty="0"/>
                  <a:t>Motivates the use of log-log plots to identify power laws</a:t>
                </a:r>
              </a:p>
              <a:p>
                <a:endParaRPr lang="en-US" sz="2400" dirty="0"/>
              </a:p>
            </p:txBody>
          </p:sp>
        </mc:Choice>
        <mc:Fallback xmlns="">
          <p:sp>
            <p:nvSpPr>
              <p:cNvPr id="4" name="Text Placeholder 3">
                <a:extLst>
                  <a:ext uri="{FF2B5EF4-FFF2-40B4-BE49-F238E27FC236}">
                    <a16:creationId xmlns:a16="http://schemas.microsoft.com/office/drawing/2014/main" id="{E7B69A12-F529-6CF4-E21B-8281D53D5028}"/>
                  </a:ext>
                </a:extLst>
              </p:cNvPr>
              <p:cNvSpPr>
                <a:spLocks noGrp="1" noRot="1" noChangeAspect="1" noMove="1" noResize="1" noEditPoints="1" noAdjustHandles="1" noChangeArrowheads="1" noChangeShapeType="1" noTextEdit="1"/>
              </p:cNvSpPr>
              <p:nvPr>
                <p:ph type="body" sz="quarter" idx="14"/>
              </p:nvPr>
            </p:nvSpPr>
            <p:spPr>
              <a:xfrm>
                <a:off x="1828800" y="1528763"/>
                <a:ext cx="8755380" cy="4114800"/>
              </a:xfrm>
              <a:blipFill>
                <a:blip r:embed="rId3"/>
                <a:stretch>
                  <a:fillRect l="-2029" t="-3385" b="-2462"/>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8ABCC3D3-001A-1523-098E-05BF3E2570BD}"/>
              </a:ext>
            </a:extLst>
          </p:cNvPr>
          <p:cNvSpPr>
            <a:spLocks noGrp="1"/>
          </p:cNvSpPr>
          <p:nvPr>
            <p:ph type="dt" sz="half" idx="10"/>
          </p:nvPr>
        </p:nvSpPr>
        <p:spPr/>
        <p:txBody>
          <a:bodyPr/>
          <a:lstStyle/>
          <a:p>
            <a:fld id="{D47A9A36-4EB0-BF46-AE48-7CDA251B954B}" type="datetime1">
              <a:rPr lang="en-US" smtClean="0"/>
              <a:t>10/29/2025</a:t>
            </a:fld>
            <a:endParaRPr lang="en-US" dirty="0"/>
          </a:p>
        </p:txBody>
      </p:sp>
      <p:sp>
        <p:nvSpPr>
          <p:cNvPr id="6" name="Slide Number Placeholder 5">
            <a:extLst>
              <a:ext uri="{FF2B5EF4-FFF2-40B4-BE49-F238E27FC236}">
                <a16:creationId xmlns:a16="http://schemas.microsoft.com/office/drawing/2014/main" id="{4C93F783-05AC-B03C-230A-B56CB7249A78}"/>
              </a:ext>
            </a:extLst>
          </p:cNvPr>
          <p:cNvSpPr>
            <a:spLocks noGrp="1"/>
          </p:cNvSpPr>
          <p:nvPr>
            <p:ph type="sldNum" sz="quarter" idx="12"/>
          </p:nvPr>
        </p:nvSpPr>
        <p:spPr/>
        <p:txBody>
          <a:bodyPr/>
          <a:lstStyle/>
          <a:p>
            <a:fld id="{8A7A6979-0714-4377-B894-6BE4C2D6E202}" type="slidenum">
              <a:rPr lang="en-US" smtClean="0"/>
              <a:pPr/>
              <a:t>12</a:t>
            </a:fld>
            <a:endParaRPr lang="en-US" dirty="0"/>
          </a:p>
        </p:txBody>
      </p:sp>
    </p:spTree>
    <p:extLst>
      <p:ext uri="{BB962C8B-B14F-4D97-AF65-F5344CB8AC3E}">
        <p14:creationId xmlns:p14="http://schemas.microsoft.com/office/powerpoint/2010/main" val="3811228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1A818-8721-8673-A4AD-0BCB8DD640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24966F-5BEB-A899-0BF2-1D4A8CF5CC32}"/>
              </a:ext>
            </a:extLst>
          </p:cNvPr>
          <p:cNvSpPr>
            <a:spLocks noGrp="1"/>
          </p:cNvSpPr>
          <p:nvPr>
            <p:ph type="ctrTitle"/>
          </p:nvPr>
        </p:nvSpPr>
        <p:spPr/>
        <p:txBody>
          <a:bodyPr/>
          <a:lstStyle/>
          <a:p>
            <a:r>
              <a:rPr lang="en-US" dirty="0"/>
              <a:t>Power Laws and Fat Tails, Continued</a:t>
            </a:r>
          </a:p>
        </p:txBody>
      </p:sp>
      <p:pic>
        <p:nvPicPr>
          <p:cNvPr id="3" name="Picture 2" descr="Log–log plot comparing Gamma and Pareto distributions. Gamma curves (blue and orange) drop off steeply, showing thin tails, while Pareto curves (green and red) decline slowly, showing heavy or “fat” tails—indicating a higher probability of extreme values in Pareto distributions.">
            <a:extLst>
              <a:ext uri="{FF2B5EF4-FFF2-40B4-BE49-F238E27FC236}">
                <a16:creationId xmlns:a16="http://schemas.microsoft.com/office/drawing/2014/main" id="{3A55D617-ED75-C860-4DC5-088B73A2D3DC}"/>
              </a:ext>
            </a:extLst>
          </p:cNvPr>
          <p:cNvPicPr>
            <a:picLocks noChangeAspect="1"/>
          </p:cNvPicPr>
          <p:nvPr/>
        </p:nvPicPr>
        <p:blipFill>
          <a:blip r:embed="rId3"/>
          <a:stretch>
            <a:fillRect/>
          </a:stretch>
        </p:blipFill>
        <p:spPr>
          <a:xfrm>
            <a:off x="2990541" y="1129662"/>
            <a:ext cx="6210918" cy="4598676"/>
          </a:xfrm>
          <a:prstGeom prst="rect">
            <a:avLst/>
          </a:prstGeom>
        </p:spPr>
      </p:pic>
      <p:sp>
        <p:nvSpPr>
          <p:cNvPr id="5" name="Date Placeholder 4">
            <a:extLst>
              <a:ext uri="{FF2B5EF4-FFF2-40B4-BE49-F238E27FC236}">
                <a16:creationId xmlns:a16="http://schemas.microsoft.com/office/drawing/2014/main" id="{365213A9-6E86-9B68-8A07-BA838581606C}"/>
              </a:ext>
            </a:extLst>
          </p:cNvPr>
          <p:cNvSpPr>
            <a:spLocks noGrp="1"/>
          </p:cNvSpPr>
          <p:nvPr>
            <p:ph type="dt" sz="half" idx="10"/>
          </p:nvPr>
        </p:nvSpPr>
        <p:spPr/>
        <p:txBody>
          <a:bodyPr/>
          <a:lstStyle/>
          <a:p>
            <a:fld id="{D47A9A36-4EB0-BF46-AE48-7CDA251B954B}" type="datetime1">
              <a:rPr lang="en-US" smtClean="0"/>
              <a:t>10/29/2025</a:t>
            </a:fld>
            <a:endParaRPr lang="en-US" dirty="0"/>
          </a:p>
        </p:txBody>
      </p:sp>
      <p:sp>
        <p:nvSpPr>
          <p:cNvPr id="6" name="Slide Number Placeholder 5">
            <a:extLst>
              <a:ext uri="{FF2B5EF4-FFF2-40B4-BE49-F238E27FC236}">
                <a16:creationId xmlns:a16="http://schemas.microsoft.com/office/drawing/2014/main" id="{554EF554-4CE3-E248-1790-538FC837B647}"/>
              </a:ext>
            </a:extLst>
          </p:cNvPr>
          <p:cNvSpPr>
            <a:spLocks noGrp="1"/>
          </p:cNvSpPr>
          <p:nvPr>
            <p:ph type="sldNum" sz="quarter" idx="12"/>
          </p:nvPr>
        </p:nvSpPr>
        <p:spPr/>
        <p:txBody>
          <a:bodyPr/>
          <a:lstStyle/>
          <a:p>
            <a:fld id="{8A7A6979-0714-4377-B894-6BE4C2D6E202}" type="slidenum">
              <a:rPr lang="en-US" smtClean="0"/>
              <a:pPr/>
              <a:t>13</a:t>
            </a:fld>
            <a:endParaRPr lang="en-US" dirty="0"/>
          </a:p>
        </p:txBody>
      </p:sp>
    </p:spTree>
    <p:extLst>
      <p:ext uri="{BB962C8B-B14F-4D97-AF65-F5344CB8AC3E}">
        <p14:creationId xmlns:p14="http://schemas.microsoft.com/office/powerpoint/2010/main" val="24642710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82E2F-1999-8015-492C-F4A1939D99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9DE509-403D-E281-0F74-C7C1B425B4E9}"/>
              </a:ext>
            </a:extLst>
          </p:cNvPr>
          <p:cNvSpPr>
            <a:spLocks noGrp="1"/>
          </p:cNvSpPr>
          <p:nvPr>
            <p:ph type="ctrTitle"/>
          </p:nvPr>
        </p:nvSpPr>
        <p:spPr/>
        <p:txBody>
          <a:bodyPr/>
          <a:lstStyle/>
          <a:p>
            <a:r>
              <a:rPr lang="en-US" dirty="0"/>
              <a:t>Fat-Tails in Venture Capital</a:t>
            </a:r>
          </a:p>
        </p:txBody>
      </p:sp>
      <p:pic>
        <p:nvPicPr>
          <p:cNvPr id="7" name="Picture 6" descr="Screenshot of an article titled “How to Win in Venture Capital: Focus on the Fat Tails” by The Quantified VC on Medium. It includes a highlighted quote from Albert Allen Bartlett: “The greatest shortcoming of the human race is our inability to understand the exponential function,” followed by a quote from Peter Thiel: &quot;The biggest secret in venture capital is that the best investment in a successful fund equals or outperforms the entire rest of the fund combined.&quot;">
            <a:extLst>
              <a:ext uri="{FF2B5EF4-FFF2-40B4-BE49-F238E27FC236}">
                <a16:creationId xmlns:a16="http://schemas.microsoft.com/office/drawing/2014/main" id="{D9743D8B-1C5D-0630-2287-EF3DB8AA1C1E}"/>
              </a:ext>
            </a:extLst>
          </p:cNvPr>
          <p:cNvPicPr>
            <a:picLocks noChangeAspect="1"/>
          </p:cNvPicPr>
          <p:nvPr/>
        </p:nvPicPr>
        <p:blipFill>
          <a:blip r:embed="rId3"/>
          <a:stretch>
            <a:fillRect/>
          </a:stretch>
        </p:blipFill>
        <p:spPr>
          <a:xfrm>
            <a:off x="4014562" y="1119673"/>
            <a:ext cx="4380374" cy="4580552"/>
          </a:xfrm>
          <a:prstGeom prst="rect">
            <a:avLst/>
          </a:prstGeom>
        </p:spPr>
      </p:pic>
      <p:sp>
        <p:nvSpPr>
          <p:cNvPr id="9" name="TextBox 8">
            <a:extLst>
              <a:ext uri="{FF2B5EF4-FFF2-40B4-BE49-F238E27FC236}">
                <a16:creationId xmlns:a16="http://schemas.microsoft.com/office/drawing/2014/main" id="{99D7C1BB-B1A7-AEE5-556C-A617B9EFED00}"/>
              </a:ext>
            </a:extLst>
          </p:cNvPr>
          <p:cNvSpPr txBox="1"/>
          <p:nvPr/>
        </p:nvSpPr>
        <p:spPr>
          <a:xfrm>
            <a:off x="7124131" y="5823031"/>
            <a:ext cx="2990499" cy="369332"/>
          </a:xfrm>
          <a:prstGeom prst="rect">
            <a:avLst/>
          </a:prstGeom>
          <a:noFill/>
        </p:spPr>
        <p:txBody>
          <a:bodyPr wrap="none" rtlCol="0">
            <a:spAutoFit/>
          </a:bodyPr>
          <a:lstStyle/>
          <a:p>
            <a:r>
              <a:rPr lang="en-US" dirty="0"/>
              <a:t>Source: Azevedo et al (2020)</a:t>
            </a:r>
          </a:p>
        </p:txBody>
      </p:sp>
      <p:sp>
        <p:nvSpPr>
          <p:cNvPr id="5" name="Date Placeholder 4">
            <a:extLst>
              <a:ext uri="{FF2B5EF4-FFF2-40B4-BE49-F238E27FC236}">
                <a16:creationId xmlns:a16="http://schemas.microsoft.com/office/drawing/2014/main" id="{C410A4FD-EABD-AAB8-A018-7492307F8AA1}"/>
              </a:ext>
            </a:extLst>
          </p:cNvPr>
          <p:cNvSpPr>
            <a:spLocks noGrp="1"/>
          </p:cNvSpPr>
          <p:nvPr>
            <p:ph type="dt" sz="half" idx="10"/>
          </p:nvPr>
        </p:nvSpPr>
        <p:spPr/>
        <p:txBody>
          <a:bodyPr/>
          <a:lstStyle/>
          <a:p>
            <a:fld id="{D47A9A36-4EB0-BF46-AE48-7CDA251B954B}" type="datetime1">
              <a:rPr lang="en-US" smtClean="0"/>
              <a:t>10/29/2025</a:t>
            </a:fld>
            <a:endParaRPr lang="en-US" dirty="0"/>
          </a:p>
        </p:txBody>
      </p:sp>
      <p:sp>
        <p:nvSpPr>
          <p:cNvPr id="6" name="Slide Number Placeholder 5">
            <a:extLst>
              <a:ext uri="{FF2B5EF4-FFF2-40B4-BE49-F238E27FC236}">
                <a16:creationId xmlns:a16="http://schemas.microsoft.com/office/drawing/2014/main" id="{FC98D475-07A6-2C21-D4B7-054283C96893}"/>
              </a:ext>
            </a:extLst>
          </p:cNvPr>
          <p:cNvSpPr>
            <a:spLocks noGrp="1"/>
          </p:cNvSpPr>
          <p:nvPr>
            <p:ph type="sldNum" sz="quarter" idx="12"/>
          </p:nvPr>
        </p:nvSpPr>
        <p:spPr/>
        <p:txBody>
          <a:bodyPr/>
          <a:lstStyle/>
          <a:p>
            <a:fld id="{8A7A6979-0714-4377-B894-6BE4C2D6E202}" type="slidenum">
              <a:rPr lang="en-US" smtClean="0"/>
              <a:pPr/>
              <a:t>14</a:t>
            </a:fld>
            <a:endParaRPr lang="en-US" dirty="0"/>
          </a:p>
        </p:txBody>
      </p:sp>
    </p:spTree>
    <p:extLst>
      <p:ext uri="{BB962C8B-B14F-4D97-AF65-F5344CB8AC3E}">
        <p14:creationId xmlns:p14="http://schemas.microsoft.com/office/powerpoint/2010/main" val="22939633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212E2-0A96-8D3E-A308-A7C1BB8D5E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5CF486-691C-96BF-F159-476580E82E07}"/>
              </a:ext>
            </a:extLst>
          </p:cNvPr>
          <p:cNvSpPr>
            <a:spLocks noGrp="1"/>
          </p:cNvSpPr>
          <p:nvPr>
            <p:ph type="ctrTitle"/>
          </p:nvPr>
        </p:nvSpPr>
        <p:spPr/>
        <p:txBody>
          <a:bodyPr/>
          <a:lstStyle/>
          <a:p>
            <a:r>
              <a:rPr lang="en-US" dirty="0"/>
              <a:t>Fat-Tails in Academic Citations</a:t>
            </a:r>
          </a:p>
        </p:txBody>
      </p:sp>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FF74E486-162D-6446-08FD-1D7AC1EDE34B}"/>
                  </a:ext>
                </a:extLst>
              </p:cNvPr>
              <p:cNvSpPr>
                <a:spLocks noGrp="1"/>
              </p:cNvSpPr>
              <p:nvPr>
                <p:ph type="body" sz="quarter" idx="14"/>
              </p:nvPr>
            </p:nvSpPr>
            <p:spPr>
              <a:xfrm>
                <a:off x="1847190" y="1562547"/>
                <a:ext cx="4248810" cy="3528068"/>
              </a:xfrm>
            </p:spPr>
            <p:txBody>
              <a:bodyPr>
                <a:normAutofit/>
              </a:bodyPr>
              <a:lstStyle/>
              <a:p>
                <a:r>
                  <a:rPr lang="en-US" sz="2000" dirty="0"/>
                  <a:t>N(x) = Number of papers with x citations</a:t>
                </a:r>
              </a:p>
              <a:p>
                <a:endParaRPr lang="en-US" sz="2000" dirty="0"/>
              </a:p>
              <a:p>
                <a:endParaRPr lang="en-US" sz="2000" dirty="0"/>
              </a:p>
              <a:p>
                <a:r>
                  <a:rPr lang="en-US" sz="2000" dirty="0"/>
                  <a:t>Solid line: </a:t>
                </a:r>
                <a14:m>
                  <m:oMath xmlns:m="http://schemas.openxmlformats.org/officeDocument/2006/math">
                    <m:r>
                      <a:rPr lang="en-US" sz="2000" b="0" i="1" smtClean="0">
                        <a:latin typeface="Cambria Math" panose="02040503050406030204" pitchFamily="18" charset="0"/>
                      </a:rPr>
                      <m:t>𝑁</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−3</m:t>
                        </m:r>
                      </m:sup>
                    </m:sSup>
                  </m:oMath>
                </a14:m>
                <a:endParaRPr lang="en-US" sz="2000" dirty="0"/>
              </a:p>
              <a:p>
                <a:endParaRPr lang="en-US" sz="2000" dirty="0"/>
              </a:p>
              <a:p>
                <a:endParaRPr lang="en-US" sz="2000" dirty="0"/>
              </a:p>
              <a:p>
                <a:r>
                  <a:rPr lang="en-US" sz="2000" dirty="0"/>
                  <a:t>Tail of distributions follows power law</a:t>
                </a:r>
              </a:p>
              <a:p>
                <a:pPr lvl="1"/>
                <a:r>
                  <a:rPr lang="en-US" sz="2000" dirty="0"/>
                  <a:t>Implies fat-tails in citations</a:t>
                </a:r>
              </a:p>
            </p:txBody>
          </p:sp>
        </mc:Choice>
        <mc:Fallback xmlns="">
          <p:sp>
            <p:nvSpPr>
              <p:cNvPr id="7" name="Text Placeholder 6">
                <a:extLst>
                  <a:ext uri="{FF2B5EF4-FFF2-40B4-BE49-F238E27FC236}">
                    <a16:creationId xmlns:a16="http://schemas.microsoft.com/office/drawing/2014/main" id="{FF74E486-162D-6446-08FD-1D7AC1EDE34B}"/>
                  </a:ext>
                </a:extLst>
              </p:cNvPr>
              <p:cNvSpPr>
                <a:spLocks noGrp="1" noRot="1" noChangeAspect="1" noMove="1" noResize="1" noEditPoints="1" noAdjustHandles="1" noChangeArrowheads="1" noChangeShapeType="1" noTextEdit="1"/>
              </p:cNvSpPr>
              <p:nvPr>
                <p:ph type="body" sz="quarter" idx="14"/>
              </p:nvPr>
            </p:nvSpPr>
            <p:spPr>
              <a:xfrm>
                <a:off x="1847190" y="1562547"/>
                <a:ext cx="4248810" cy="3528068"/>
              </a:xfrm>
              <a:blipFill>
                <a:blip r:embed="rId3"/>
                <a:stretch>
                  <a:fillRect l="-3274" t="-2151" r="-2976"/>
                </a:stretch>
              </a:blipFill>
            </p:spPr>
            <p:txBody>
              <a:bodyPr/>
              <a:lstStyle/>
              <a:p>
                <a:r>
                  <a:rPr lang="en-US">
                    <a:noFill/>
                  </a:rPr>
                  <a:t> </a:t>
                </a:r>
              </a:p>
            </p:txBody>
          </p:sp>
        </mc:Fallback>
      </mc:AlternateContent>
      <p:pic>
        <p:nvPicPr>
          <p:cNvPr id="8" name="Picture 7" descr="Log–log plot showing 𝑁(𝑥) versus 𝑥, illustrating a power-law distribution. The data points (triangles and circles) form nearly straight lines on the log–log scale, demonstrating that the frequency of large events declines slowly, consistent with fat-tailed behavior typical of citation or patent distributions.">
            <a:extLst>
              <a:ext uri="{FF2B5EF4-FFF2-40B4-BE49-F238E27FC236}">
                <a16:creationId xmlns:a16="http://schemas.microsoft.com/office/drawing/2014/main" id="{CFCAB8EA-1EF9-0832-E0DD-3F7F64DB1954}"/>
              </a:ext>
            </a:extLst>
          </p:cNvPr>
          <p:cNvPicPr>
            <a:picLocks noChangeAspect="1"/>
          </p:cNvPicPr>
          <p:nvPr/>
        </p:nvPicPr>
        <p:blipFill>
          <a:blip r:embed="rId4"/>
          <a:stretch>
            <a:fillRect/>
          </a:stretch>
        </p:blipFill>
        <p:spPr>
          <a:xfrm>
            <a:off x="6096000" y="1282700"/>
            <a:ext cx="5016500" cy="4292600"/>
          </a:xfrm>
          <a:prstGeom prst="rect">
            <a:avLst/>
          </a:prstGeom>
        </p:spPr>
      </p:pic>
      <p:sp>
        <p:nvSpPr>
          <p:cNvPr id="9" name="TextBox 8">
            <a:extLst>
              <a:ext uri="{FF2B5EF4-FFF2-40B4-BE49-F238E27FC236}">
                <a16:creationId xmlns:a16="http://schemas.microsoft.com/office/drawing/2014/main" id="{594E8548-8805-BD50-6AAD-F139E4843D9B}"/>
              </a:ext>
            </a:extLst>
          </p:cNvPr>
          <p:cNvSpPr txBox="1"/>
          <p:nvPr/>
        </p:nvSpPr>
        <p:spPr>
          <a:xfrm>
            <a:off x="7137779" y="5430329"/>
            <a:ext cx="2407197" cy="369332"/>
          </a:xfrm>
          <a:prstGeom prst="rect">
            <a:avLst/>
          </a:prstGeom>
          <a:noFill/>
        </p:spPr>
        <p:txBody>
          <a:bodyPr wrap="none" rtlCol="0">
            <a:spAutoFit/>
          </a:bodyPr>
          <a:lstStyle/>
          <a:p>
            <a:r>
              <a:rPr lang="en-US" dirty="0"/>
              <a:t>Source: Redner (1998)</a:t>
            </a:r>
          </a:p>
        </p:txBody>
      </p:sp>
      <p:sp>
        <p:nvSpPr>
          <p:cNvPr id="5" name="Date Placeholder 4">
            <a:extLst>
              <a:ext uri="{FF2B5EF4-FFF2-40B4-BE49-F238E27FC236}">
                <a16:creationId xmlns:a16="http://schemas.microsoft.com/office/drawing/2014/main" id="{503229A2-2134-AFA7-882F-4273EDA5C9B1}"/>
              </a:ext>
            </a:extLst>
          </p:cNvPr>
          <p:cNvSpPr>
            <a:spLocks noGrp="1"/>
          </p:cNvSpPr>
          <p:nvPr>
            <p:ph type="dt" sz="half" idx="10"/>
          </p:nvPr>
        </p:nvSpPr>
        <p:spPr/>
        <p:txBody>
          <a:bodyPr/>
          <a:lstStyle/>
          <a:p>
            <a:fld id="{D47A9A36-4EB0-BF46-AE48-7CDA251B954B}" type="datetime1">
              <a:rPr lang="en-US" smtClean="0"/>
              <a:t>10/29/2025</a:t>
            </a:fld>
            <a:endParaRPr lang="en-US" dirty="0"/>
          </a:p>
        </p:txBody>
      </p:sp>
      <p:sp>
        <p:nvSpPr>
          <p:cNvPr id="6" name="Slide Number Placeholder 5">
            <a:extLst>
              <a:ext uri="{FF2B5EF4-FFF2-40B4-BE49-F238E27FC236}">
                <a16:creationId xmlns:a16="http://schemas.microsoft.com/office/drawing/2014/main" id="{9AC80462-F888-4B0F-0770-B23AAE717E8D}"/>
              </a:ext>
            </a:extLst>
          </p:cNvPr>
          <p:cNvSpPr>
            <a:spLocks noGrp="1"/>
          </p:cNvSpPr>
          <p:nvPr>
            <p:ph type="sldNum" sz="quarter" idx="12"/>
          </p:nvPr>
        </p:nvSpPr>
        <p:spPr/>
        <p:txBody>
          <a:bodyPr/>
          <a:lstStyle/>
          <a:p>
            <a:fld id="{8A7A6979-0714-4377-B894-6BE4C2D6E202}" type="slidenum">
              <a:rPr lang="en-US" smtClean="0"/>
              <a:pPr/>
              <a:t>15</a:t>
            </a:fld>
            <a:endParaRPr lang="en-US" dirty="0"/>
          </a:p>
        </p:txBody>
      </p:sp>
    </p:spTree>
    <p:extLst>
      <p:ext uri="{BB962C8B-B14F-4D97-AF65-F5344CB8AC3E}">
        <p14:creationId xmlns:p14="http://schemas.microsoft.com/office/powerpoint/2010/main" val="13541665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C8A0B-0AD5-1CC0-53D8-3EEA1C03E0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4A8A94-A609-FF43-6063-37FD7E566567}"/>
              </a:ext>
            </a:extLst>
          </p:cNvPr>
          <p:cNvSpPr>
            <a:spLocks noGrp="1"/>
          </p:cNvSpPr>
          <p:nvPr>
            <p:ph type="ctrTitle"/>
          </p:nvPr>
        </p:nvSpPr>
        <p:spPr/>
        <p:txBody>
          <a:bodyPr/>
          <a:lstStyle/>
          <a:p>
            <a:r>
              <a:rPr lang="en-US" dirty="0"/>
              <a:t>Fat-Tails in Patent Citations</a:t>
            </a:r>
          </a:p>
        </p:txBody>
      </p:sp>
      <p:pic>
        <p:nvPicPr>
          <p:cNvPr id="10" name="Picture 9" descr="Log–log Pareto plot showing the right cumulative frequency of EPO 1989 patent citations versus the number of citations. The line slopes downward, illustrating a fat-tailed distribution where most patents receive few citations while a small number receive very many.">
            <a:extLst>
              <a:ext uri="{FF2B5EF4-FFF2-40B4-BE49-F238E27FC236}">
                <a16:creationId xmlns:a16="http://schemas.microsoft.com/office/drawing/2014/main" id="{7C06FBF9-7359-7567-C7A0-DAF97E6680AA}"/>
              </a:ext>
            </a:extLst>
          </p:cNvPr>
          <p:cNvPicPr>
            <a:picLocks noChangeAspect="1"/>
          </p:cNvPicPr>
          <p:nvPr/>
        </p:nvPicPr>
        <p:blipFill>
          <a:blip r:embed="rId3"/>
          <a:stretch>
            <a:fillRect/>
          </a:stretch>
        </p:blipFill>
        <p:spPr>
          <a:xfrm>
            <a:off x="3706279" y="1468871"/>
            <a:ext cx="5028004" cy="4032561"/>
          </a:xfrm>
          <a:prstGeom prst="rect">
            <a:avLst/>
          </a:prstGeom>
        </p:spPr>
      </p:pic>
      <p:sp>
        <p:nvSpPr>
          <p:cNvPr id="9" name="TextBox 8">
            <a:extLst>
              <a:ext uri="{FF2B5EF4-FFF2-40B4-BE49-F238E27FC236}">
                <a16:creationId xmlns:a16="http://schemas.microsoft.com/office/drawing/2014/main" id="{0E639DCE-32F1-83F4-F2D2-A3C3BFFC2695}"/>
              </a:ext>
            </a:extLst>
          </p:cNvPr>
          <p:cNvSpPr txBox="1"/>
          <p:nvPr/>
        </p:nvSpPr>
        <p:spPr>
          <a:xfrm>
            <a:off x="7137779" y="5430329"/>
            <a:ext cx="3953455" cy="369332"/>
          </a:xfrm>
          <a:prstGeom prst="rect">
            <a:avLst/>
          </a:prstGeom>
          <a:noFill/>
        </p:spPr>
        <p:txBody>
          <a:bodyPr wrap="none" rtlCol="0">
            <a:spAutoFit/>
          </a:bodyPr>
          <a:lstStyle/>
          <a:p>
            <a:r>
              <a:rPr lang="en-US" dirty="0"/>
              <a:t>Source: Silverberg &amp; </a:t>
            </a:r>
            <a:r>
              <a:rPr lang="en-US" dirty="0" err="1"/>
              <a:t>Verspagen</a:t>
            </a:r>
            <a:r>
              <a:rPr lang="en-US" dirty="0"/>
              <a:t> (2007)</a:t>
            </a:r>
          </a:p>
        </p:txBody>
      </p:sp>
      <p:sp>
        <p:nvSpPr>
          <p:cNvPr id="5" name="Date Placeholder 4">
            <a:extLst>
              <a:ext uri="{FF2B5EF4-FFF2-40B4-BE49-F238E27FC236}">
                <a16:creationId xmlns:a16="http://schemas.microsoft.com/office/drawing/2014/main" id="{37214BAC-0B16-6177-B300-960DAF2AAB15}"/>
              </a:ext>
            </a:extLst>
          </p:cNvPr>
          <p:cNvSpPr>
            <a:spLocks noGrp="1"/>
          </p:cNvSpPr>
          <p:nvPr>
            <p:ph type="dt" sz="half" idx="10"/>
          </p:nvPr>
        </p:nvSpPr>
        <p:spPr/>
        <p:txBody>
          <a:bodyPr/>
          <a:lstStyle/>
          <a:p>
            <a:fld id="{D47A9A36-4EB0-BF46-AE48-7CDA251B954B}" type="datetime1">
              <a:rPr lang="en-US" smtClean="0"/>
              <a:t>10/29/2025</a:t>
            </a:fld>
            <a:endParaRPr lang="en-US" dirty="0"/>
          </a:p>
        </p:txBody>
      </p:sp>
      <p:sp>
        <p:nvSpPr>
          <p:cNvPr id="6" name="Slide Number Placeholder 5">
            <a:extLst>
              <a:ext uri="{FF2B5EF4-FFF2-40B4-BE49-F238E27FC236}">
                <a16:creationId xmlns:a16="http://schemas.microsoft.com/office/drawing/2014/main" id="{3E26FFE7-2327-4F3D-E857-0F7B2261338F}"/>
              </a:ext>
            </a:extLst>
          </p:cNvPr>
          <p:cNvSpPr>
            <a:spLocks noGrp="1"/>
          </p:cNvSpPr>
          <p:nvPr>
            <p:ph type="sldNum" sz="quarter" idx="12"/>
          </p:nvPr>
        </p:nvSpPr>
        <p:spPr/>
        <p:txBody>
          <a:bodyPr/>
          <a:lstStyle/>
          <a:p>
            <a:fld id="{8A7A6979-0714-4377-B894-6BE4C2D6E202}" type="slidenum">
              <a:rPr lang="en-US" smtClean="0"/>
              <a:pPr/>
              <a:t>16</a:t>
            </a:fld>
            <a:endParaRPr lang="en-US" dirty="0"/>
          </a:p>
        </p:txBody>
      </p:sp>
    </p:spTree>
    <p:extLst>
      <p:ext uri="{BB962C8B-B14F-4D97-AF65-F5344CB8AC3E}">
        <p14:creationId xmlns:p14="http://schemas.microsoft.com/office/powerpoint/2010/main" val="2589655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5D119-6A45-1EFD-845D-3BF6FC079D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2FEEE2-3318-C809-8E9E-E97DBAA399B0}"/>
              </a:ext>
            </a:extLst>
          </p:cNvPr>
          <p:cNvSpPr>
            <a:spLocks noGrp="1"/>
          </p:cNvSpPr>
          <p:nvPr>
            <p:ph type="ctrTitle"/>
          </p:nvPr>
        </p:nvSpPr>
        <p:spPr/>
        <p:txBody>
          <a:bodyPr/>
          <a:lstStyle/>
          <a:p>
            <a:r>
              <a:rPr lang="en-US" dirty="0"/>
              <a:t>Fat-Tails in Bing Experiments</a:t>
            </a:r>
          </a:p>
        </p:txBody>
      </p:sp>
      <p:pic>
        <p:nvPicPr>
          <p:cNvPr id="3" name="Picture 2" descr="Six log–log scatterplots showing rank versus absolute value of delta for long-run and short-run performance metrics. Each panel has a negative slope, indicating a fat-tailed distribution where a few experiments show very large effects. The slopes differ across metrics, suggesting variation in how strongly extreme outcomes appear in long- versus short-term measures.">
            <a:extLst>
              <a:ext uri="{FF2B5EF4-FFF2-40B4-BE49-F238E27FC236}">
                <a16:creationId xmlns:a16="http://schemas.microsoft.com/office/drawing/2014/main" id="{20F0E6DB-6D59-83BE-8B60-44AD74FFB315}"/>
              </a:ext>
            </a:extLst>
          </p:cNvPr>
          <p:cNvPicPr>
            <a:picLocks noChangeAspect="1"/>
          </p:cNvPicPr>
          <p:nvPr/>
        </p:nvPicPr>
        <p:blipFill>
          <a:blip r:embed="rId3"/>
          <a:stretch>
            <a:fillRect/>
          </a:stretch>
        </p:blipFill>
        <p:spPr>
          <a:xfrm>
            <a:off x="2209800" y="1023615"/>
            <a:ext cx="7772400" cy="4810769"/>
          </a:xfrm>
          <a:prstGeom prst="rect">
            <a:avLst/>
          </a:prstGeom>
        </p:spPr>
      </p:pic>
      <p:sp>
        <p:nvSpPr>
          <p:cNvPr id="9" name="TextBox 8">
            <a:extLst>
              <a:ext uri="{FF2B5EF4-FFF2-40B4-BE49-F238E27FC236}">
                <a16:creationId xmlns:a16="http://schemas.microsoft.com/office/drawing/2014/main" id="{F5E82CEE-1DA6-E2D7-1CCE-915D14320044}"/>
              </a:ext>
            </a:extLst>
          </p:cNvPr>
          <p:cNvSpPr txBox="1"/>
          <p:nvPr/>
        </p:nvSpPr>
        <p:spPr>
          <a:xfrm>
            <a:off x="7124131" y="5823031"/>
            <a:ext cx="2990499" cy="369332"/>
          </a:xfrm>
          <a:prstGeom prst="rect">
            <a:avLst/>
          </a:prstGeom>
          <a:noFill/>
        </p:spPr>
        <p:txBody>
          <a:bodyPr wrap="none" rtlCol="0">
            <a:spAutoFit/>
          </a:bodyPr>
          <a:lstStyle/>
          <a:p>
            <a:r>
              <a:rPr lang="en-US" dirty="0"/>
              <a:t>Source: Azevedo et al (2020)</a:t>
            </a:r>
          </a:p>
        </p:txBody>
      </p:sp>
      <p:sp>
        <p:nvSpPr>
          <p:cNvPr id="5" name="Date Placeholder 4">
            <a:extLst>
              <a:ext uri="{FF2B5EF4-FFF2-40B4-BE49-F238E27FC236}">
                <a16:creationId xmlns:a16="http://schemas.microsoft.com/office/drawing/2014/main" id="{EBE7E1E9-B37F-7A08-8710-E60C0C715369}"/>
              </a:ext>
            </a:extLst>
          </p:cNvPr>
          <p:cNvSpPr>
            <a:spLocks noGrp="1"/>
          </p:cNvSpPr>
          <p:nvPr>
            <p:ph type="dt" sz="half" idx="10"/>
          </p:nvPr>
        </p:nvSpPr>
        <p:spPr/>
        <p:txBody>
          <a:bodyPr/>
          <a:lstStyle/>
          <a:p>
            <a:fld id="{D47A9A36-4EB0-BF46-AE48-7CDA251B954B}" type="datetime1">
              <a:rPr lang="en-US" smtClean="0"/>
              <a:t>10/29/2025</a:t>
            </a:fld>
            <a:endParaRPr lang="en-US" dirty="0"/>
          </a:p>
        </p:txBody>
      </p:sp>
      <p:sp>
        <p:nvSpPr>
          <p:cNvPr id="6" name="Slide Number Placeholder 5">
            <a:extLst>
              <a:ext uri="{FF2B5EF4-FFF2-40B4-BE49-F238E27FC236}">
                <a16:creationId xmlns:a16="http://schemas.microsoft.com/office/drawing/2014/main" id="{D56B437E-44AE-66E0-7854-F6CD674E89B1}"/>
              </a:ext>
            </a:extLst>
          </p:cNvPr>
          <p:cNvSpPr>
            <a:spLocks noGrp="1"/>
          </p:cNvSpPr>
          <p:nvPr>
            <p:ph type="sldNum" sz="quarter" idx="12"/>
          </p:nvPr>
        </p:nvSpPr>
        <p:spPr/>
        <p:txBody>
          <a:bodyPr/>
          <a:lstStyle/>
          <a:p>
            <a:fld id="{8A7A6979-0714-4377-B894-6BE4C2D6E202}" type="slidenum">
              <a:rPr lang="en-US" smtClean="0"/>
              <a:pPr/>
              <a:t>17</a:t>
            </a:fld>
            <a:endParaRPr lang="en-US" dirty="0"/>
          </a:p>
        </p:txBody>
      </p:sp>
    </p:spTree>
    <p:extLst>
      <p:ext uri="{BB962C8B-B14F-4D97-AF65-F5344CB8AC3E}">
        <p14:creationId xmlns:p14="http://schemas.microsoft.com/office/powerpoint/2010/main" val="30441875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5DCF0-D6DC-217A-31B2-5538CBB979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8F604B-2AAC-0DBD-83B3-451F0D4B9C0B}"/>
              </a:ext>
            </a:extLst>
          </p:cNvPr>
          <p:cNvSpPr>
            <a:spLocks noGrp="1"/>
          </p:cNvSpPr>
          <p:nvPr>
            <p:ph type="ctrTitle"/>
          </p:nvPr>
        </p:nvSpPr>
        <p:spPr/>
        <p:txBody>
          <a:bodyPr/>
          <a:lstStyle/>
          <a:p>
            <a:r>
              <a:rPr lang="en-US" dirty="0"/>
              <a:t>Takeaways</a:t>
            </a:r>
          </a:p>
        </p:txBody>
      </p:sp>
      <p:sp>
        <p:nvSpPr>
          <p:cNvPr id="4" name="Text Placeholder 3">
            <a:extLst>
              <a:ext uri="{FF2B5EF4-FFF2-40B4-BE49-F238E27FC236}">
                <a16:creationId xmlns:a16="http://schemas.microsoft.com/office/drawing/2014/main" id="{17A3DB83-12F2-80B3-62C7-3840747834F3}"/>
              </a:ext>
            </a:extLst>
          </p:cNvPr>
          <p:cNvSpPr>
            <a:spLocks noGrp="1"/>
          </p:cNvSpPr>
          <p:nvPr>
            <p:ph type="body" sz="quarter" idx="14"/>
          </p:nvPr>
        </p:nvSpPr>
        <p:spPr>
          <a:xfrm>
            <a:off x="1828800" y="1528763"/>
            <a:ext cx="8755380" cy="4114800"/>
          </a:xfrm>
        </p:spPr>
        <p:txBody>
          <a:bodyPr>
            <a:normAutofit/>
          </a:bodyPr>
          <a:lstStyle/>
          <a:p>
            <a:r>
              <a:rPr lang="en-US" sz="2400" dirty="0"/>
              <a:t>When your ideas have fat-tailed payoffs, there is a ton of value in identifying the outlier ideas</a:t>
            </a:r>
          </a:p>
          <a:p>
            <a:endParaRPr lang="en-US" sz="2400" dirty="0"/>
          </a:p>
          <a:p>
            <a:r>
              <a:rPr lang="en-US" sz="2400" dirty="0"/>
              <a:t>We prefer uncorrelated ideas to reduce variance of payoff and increase average payoff</a:t>
            </a:r>
          </a:p>
          <a:p>
            <a:endParaRPr lang="en-US" sz="2400" dirty="0"/>
          </a:p>
          <a:p>
            <a:r>
              <a:rPr lang="en-US" sz="2400" dirty="0"/>
              <a:t>Takeaway: Generate many ideas in the ideation process</a:t>
            </a:r>
          </a:p>
        </p:txBody>
      </p:sp>
      <p:sp>
        <p:nvSpPr>
          <p:cNvPr id="5" name="Date Placeholder 4">
            <a:extLst>
              <a:ext uri="{FF2B5EF4-FFF2-40B4-BE49-F238E27FC236}">
                <a16:creationId xmlns:a16="http://schemas.microsoft.com/office/drawing/2014/main" id="{ED3DF921-416C-791D-FA22-D501B5BCBB76}"/>
              </a:ext>
            </a:extLst>
          </p:cNvPr>
          <p:cNvSpPr>
            <a:spLocks noGrp="1"/>
          </p:cNvSpPr>
          <p:nvPr>
            <p:ph type="dt" sz="half" idx="10"/>
          </p:nvPr>
        </p:nvSpPr>
        <p:spPr/>
        <p:txBody>
          <a:bodyPr/>
          <a:lstStyle/>
          <a:p>
            <a:fld id="{D47A9A36-4EB0-BF46-AE48-7CDA251B954B}" type="datetime1">
              <a:rPr lang="en-US" smtClean="0"/>
              <a:t>10/29/2025</a:t>
            </a:fld>
            <a:endParaRPr lang="en-US" dirty="0"/>
          </a:p>
        </p:txBody>
      </p:sp>
      <p:sp>
        <p:nvSpPr>
          <p:cNvPr id="6" name="Slide Number Placeholder 5">
            <a:extLst>
              <a:ext uri="{FF2B5EF4-FFF2-40B4-BE49-F238E27FC236}">
                <a16:creationId xmlns:a16="http://schemas.microsoft.com/office/drawing/2014/main" id="{ED46873C-2069-4107-E13E-5B7321D1CD43}"/>
              </a:ext>
            </a:extLst>
          </p:cNvPr>
          <p:cNvSpPr>
            <a:spLocks noGrp="1"/>
          </p:cNvSpPr>
          <p:nvPr>
            <p:ph type="sldNum" sz="quarter" idx="12"/>
          </p:nvPr>
        </p:nvSpPr>
        <p:spPr/>
        <p:txBody>
          <a:bodyPr/>
          <a:lstStyle/>
          <a:p>
            <a:fld id="{8A7A6979-0714-4377-B894-6BE4C2D6E202}" type="slidenum">
              <a:rPr lang="en-US" smtClean="0"/>
              <a:pPr/>
              <a:t>18</a:t>
            </a:fld>
            <a:endParaRPr lang="en-US" dirty="0"/>
          </a:p>
        </p:txBody>
      </p:sp>
    </p:spTree>
    <p:extLst>
      <p:ext uri="{BB962C8B-B14F-4D97-AF65-F5344CB8AC3E}">
        <p14:creationId xmlns:p14="http://schemas.microsoft.com/office/powerpoint/2010/main" val="15948019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A834D-03C5-A233-7662-2903874057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BA2A73-A571-D9BA-415E-B7B371D32536}"/>
              </a:ext>
            </a:extLst>
          </p:cNvPr>
          <p:cNvSpPr>
            <a:spLocks noGrp="1"/>
          </p:cNvSpPr>
          <p:nvPr>
            <p:ph type="ctrTitle"/>
          </p:nvPr>
        </p:nvSpPr>
        <p:spPr>
          <a:xfrm>
            <a:off x="2647199" y="1501742"/>
            <a:ext cx="7300940" cy="1329595"/>
          </a:xfrm>
        </p:spPr>
        <p:txBody>
          <a:bodyPr/>
          <a:lstStyle/>
          <a:p>
            <a:r>
              <a:rPr lang="en-US" dirty="0"/>
              <a:t>Opportunity identification process</a:t>
            </a:r>
          </a:p>
        </p:txBody>
      </p:sp>
      <p:sp>
        <p:nvSpPr>
          <p:cNvPr id="3" name="TextBox 2">
            <a:extLst>
              <a:ext uri="{FF2B5EF4-FFF2-40B4-BE49-F238E27FC236}">
                <a16:creationId xmlns:a16="http://schemas.microsoft.com/office/drawing/2014/main" id="{FD2C7B3C-7C27-AF03-1BFA-ED225E873508}"/>
              </a:ext>
            </a:extLst>
          </p:cNvPr>
          <p:cNvSpPr txBox="1"/>
          <p:nvPr/>
        </p:nvSpPr>
        <p:spPr>
          <a:xfrm>
            <a:off x="2647199" y="5033092"/>
            <a:ext cx="3119252" cy="646331"/>
          </a:xfrm>
          <a:prstGeom prst="rect">
            <a:avLst/>
          </a:prstGeom>
          <a:noFill/>
        </p:spPr>
        <p:txBody>
          <a:bodyPr wrap="none" rtlCol="0">
            <a:spAutoFit/>
          </a:bodyPr>
          <a:lstStyle/>
          <a:p>
            <a:r>
              <a:rPr lang="en-US" b="0" dirty="0">
                <a:solidFill>
                  <a:schemeClr val="accent4"/>
                </a:solidFill>
                <a:latin typeface="Franklin Gothic Medium" panose="020B0603020102020204" pitchFamily="34" charset="0"/>
              </a:rPr>
              <a:t>* Ulrich &amp; Eppinger Chapter 3</a:t>
            </a:r>
          </a:p>
          <a:p>
            <a:endParaRPr lang="en-US" dirty="0">
              <a:solidFill>
                <a:schemeClr val="accent4"/>
              </a:solidFill>
            </a:endParaRPr>
          </a:p>
        </p:txBody>
      </p:sp>
      <p:sp>
        <p:nvSpPr>
          <p:cNvPr id="4" name="Date Placeholder 3">
            <a:extLst>
              <a:ext uri="{FF2B5EF4-FFF2-40B4-BE49-F238E27FC236}">
                <a16:creationId xmlns:a16="http://schemas.microsoft.com/office/drawing/2014/main" id="{5A43FA36-778A-9DB3-49C5-423241F398A5}"/>
              </a:ext>
            </a:extLst>
          </p:cNvPr>
          <p:cNvSpPr>
            <a:spLocks noGrp="1"/>
          </p:cNvSpPr>
          <p:nvPr>
            <p:ph type="dt" sz="half" idx="10"/>
          </p:nvPr>
        </p:nvSpPr>
        <p:spPr/>
        <p:txBody>
          <a:bodyPr/>
          <a:lstStyle/>
          <a:p>
            <a:fld id="{D47A9A36-4EB0-BF46-AE48-7CDA251B954B}" type="datetime1">
              <a:rPr lang="en-US" smtClean="0"/>
              <a:pPr/>
              <a:t>10/29/2025</a:t>
            </a:fld>
            <a:endParaRPr lang="en-US" dirty="0"/>
          </a:p>
        </p:txBody>
      </p:sp>
      <p:sp>
        <p:nvSpPr>
          <p:cNvPr id="5" name="Slide Number Placeholder 4">
            <a:extLst>
              <a:ext uri="{FF2B5EF4-FFF2-40B4-BE49-F238E27FC236}">
                <a16:creationId xmlns:a16="http://schemas.microsoft.com/office/drawing/2014/main" id="{C02F9EFA-7A2A-7BC7-374D-9C0E0337AEE6}"/>
              </a:ext>
            </a:extLst>
          </p:cNvPr>
          <p:cNvSpPr>
            <a:spLocks noGrp="1"/>
          </p:cNvSpPr>
          <p:nvPr>
            <p:ph type="sldNum" sz="quarter" idx="12"/>
          </p:nvPr>
        </p:nvSpPr>
        <p:spPr/>
        <p:txBody>
          <a:bodyPr/>
          <a:lstStyle/>
          <a:p>
            <a:fld id="{8A7A6979-0714-4377-B894-6BE4C2D6E202}" type="slidenum">
              <a:rPr lang="en-US" smtClean="0"/>
              <a:pPr/>
              <a:t>19</a:t>
            </a:fld>
            <a:endParaRPr lang="en-US" dirty="0"/>
          </a:p>
        </p:txBody>
      </p:sp>
    </p:spTree>
    <p:extLst>
      <p:ext uri="{BB962C8B-B14F-4D97-AF65-F5344CB8AC3E}">
        <p14:creationId xmlns:p14="http://schemas.microsoft.com/office/powerpoint/2010/main" val="18428485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78A44-5E50-FC8A-7431-739CAD7773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025A97-7381-EF3A-2DEC-764161C4ADB0}"/>
              </a:ext>
            </a:extLst>
          </p:cNvPr>
          <p:cNvSpPr>
            <a:spLocks noGrp="1"/>
          </p:cNvSpPr>
          <p:nvPr>
            <p:ph type="ctrTitle"/>
          </p:nvPr>
        </p:nvSpPr>
        <p:spPr/>
        <p:txBody>
          <a:bodyPr/>
          <a:lstStyle/>
          <a:p>
            <a:r>
              <a:rPr lang="en-US" dirty="0"/>
              <a:t>Overview of Opportunity Identification Process</a:t>
            </a:r>
          </a:p>
        </p:txBody>
      </p:sp>
      <p:sp>
        <p:nvSpPr>
          <p:cNvPr id="4" name="Text Placeholder 3">
            <a:extLst>
              <a:ext uri="{FF2B5EF4-FFF2-40B4-BE49-F238E27FC236}">
                <a16:creationId xmlns:a16="http://schemas.microsoft.com/office/drawing/2014/main" id="{ED6BA80A-88DC-D259-1E1C-73D6384A0662}"/>
              </a:ext>
            </a:extLst>
          </p:cNvPr>
          <p:cNvSpPr>
            <a:spLocks noGrp="1"/>
          </p:cNvSpPr>
          <p:nvPr>
            <p:ph type="body" sz="quarter" idx="14"/>
          </p:nvPr>
        </p:nvSpPr>
        <p:spPr>
          <a:xfrm>
            <a:off x="1828800" y="1528763"/>
            <a:ext cx="8755380" cy="4114800"/>
          </a:xfrm>
        </p:spPr>
        <p:txBody>
          <a:bodyPr>
            <a:normAutofit/>
          </a:bodyPr>
          <a:lstStyle/>
          <a:p>
            <a:r>
              <a:rPr lang="en-US" sz="2400" dirty="0"/>
              <a:t>Theoretical understanding of this process is limited</a:t>
            </a:r>
          </a:p>
          <a:p>
            <a:pPr lvl="1"/>
            <a:r>
              <a:rPr lang="en-US" sz="2400" dirty="0"/>
              <a:t>Often more art than science</a:t>
            </a:r>
          </a:p>
          <a:p>
            <a:endParaRPr lang="en-US" sz="2400" dirty="0"/>
          </a:p>
          <a:p>
            <a:r>
              <a:rPr lang="en-US" sz="2400" dirty="0"/>
              <a:t>Main understanding is:</a:t>
            </a:r>
          </a:p>
          <a:p>
            <a:pPr lvl="1"/>
            <a:r>
              <a:rPr lang="en-US" sz="2400" dirty="0"/>
              <a:t>Payoffs are uncertain and fat tailed</a:t>
            </a:r>
          </a:p>
          <a:p>
            <a:pPr lvl="1"/>
            <a:r>
              <a:rPr lang="en-US" sz="2400" dirty="0"/>
              <a:t>Implication is to generate and evaluate as many opportunities as possible</a:t>
            </a:r>
          </a:p>
          <a:p>
            <a:endParaRPr lang="en-US" sz="2400" dirty="0"/>
          </a:p>
        </p:txBody>
      </p:sp>
      <p:sp>
        <p:nvSpPr>
          <p:cNvPr id="5" name="Date Placeholder 4">
            <a:extLst>
              <a:ext uri="{FF2B5EF4-FFF2-40B4-BE49-F238E27FC236}">
                <a16:creationId xmlns:a16="http://schemas.microsoft.com/office/drawing/2014/main" id="{45452D3D-20D9-3D21-2F10-7D31472EA17E}"/>
              </a:ext>
            </a:extLst>
          </p:cNvPr>
          <p:cNvSpPr>
            <a:spLocks noGrp="1"/>
          </p:cNvSpPr>
          <p:nvPr>
            <p:ph type="dt" sz="half" idx="10"/>
          </p:nvPr>
        </p:nvSpPr>
        <p:spPr/>
        <p:txBody>
          <a:bodyPr/>
          <a:lstStyle/>
          <a:p>
            <a:fld id="{D47A9A36-4EB0-BF46-AE48-7CDA251B954B}" type="datetime1">
              <a:rPr lang="en-US" smtClean="0"/>
              <a:t>10/29/2025</a:t>
            </a:fld>
            <a:endParaRPr lang="en-US" dirty="0"/>
          </a:p>
        </p:txBody>
      </p:sp>
      <p:sp>
        <p:nvSpPr>
          <p:cNvPr id="6" name="Slide Number Placeholder 5">
            <a:extLst>
              <a:ext uri="{FF2B5EF4-FFF2-40B4-BE49-F238E27FC236}">
                <a16:creationId xmlns:a16="http://schemas.microsoft.com/office/drawing/2014/main" id="{83B47F98-440D-E8B1-2045-9DB0CFDB68E3}"/>
              </a:ext>
            </a:extLst>
          </p:cNvPr>
          <p:cNvSpPr>
            <a:spLocks noGrp="1"/>
          </p:cNvSpPr>
          <p:nvPr>
            <p:ph type="sldNum" sz="quarter" idx="12"/>
          </p:nvPr>
        </p:nvSpPr>
        <p:spPr/>
        <p:txBody>
          <a:bodyPr/>
          <a:lstStyle/>
          <a:p>
            <a:fld id="{8A7A6979-0714-4377-B894-6BE4C2D6E202}" type="slidenum">
              <a:rPr lang="en-US" smtClean="0"/>
              <a:pPr/>
              <a:t>20</a:t>
            </a:fld>
            <a:endParaRPr lang="en-US" dirty="0"/>
          </a:p>
        </p:txBody>
      </p:sp>
    </p:spTree>
    <p:extLst>
      <p:ext uri="{BB962C8B-B14F-4D97-AF65-F5344CB8AC3E}">
        <p14:creationId xmlns:p14="http://schemas.microsoft.com/office/powerpoint/2010/main" val="27532394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05914-1702-821D-3CB0-5E92C07253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B386D3-2F8C-E4C0-91D2-8886C30CFF84}"/>
              </a:ext>
            </a:extLst>
          </p:cNvPr>
          <p:cNvSpPr>
            <a:spLocks noGrp="1"/>
          </p:cNvSpPr>
          <p:nvPr>
            <p:ph type="ctrTitle"/>
          </p:nvPr>
        </p:nvSpPr>
        <p:spPr/>
        <p:txBody>
          <a:bodyPr/>
          <a:lstStyle/>
          <a:p>
            <a:r>
              <a:rPr lang="en-US" dirty="0"/>
              <a:t>Step 1 – Set Boundaries</a:t>
            </a:r>
          </a:p>
        </p:txBody>
      </p:sp>
      <p:sp>
        <p:nvSpPr>
          <p:cNvPr id="4" name="Text Placeholder 3">
            <a:extLst>
              <a:ext uri="{FF2B5EF4-FFF2-40B4-BE49-F238E27FC236}">
                <a16:creationId xmlns:a16="http://schemas.microsoft.com/office/drawing/2014/main" id="{7B3FEB53-0743-C078-2D63-A24044807D01}"/>
              </a:ext>
            </a:extLst>
          </p:cNvPr>
          <p:cNvSpPr>
            <a:spLocks noGrp="1"/>
          </p:cNvSpPr>
          <p:nvPr>
            <p:ph type="body" sz="quarter" idx="14"/>
          </p:nvPr>
        </p:nvSpPr>
        <p:spPr>
          <a:xfrm>
            <a:off x="1828800" y="1528763"/>
            <a:ext cx="8755380" cy="4114800"/>
          </a:xfrm>
        </p:spPr>
        <p:txBody>
          <a:bodyPr>
            <a:normAutofit fontScale="85000" lnSpcReduction="20000"/>
          </a:bodyPr>
          <a:lstStyle/>
          <a:p>
            <a:r>
              <a:rPr lang="en-US" sz="2400" dirty="0"/>
              <a:t>Helpful to set boundaries for what we’re trying to accomplish</a:t>
            </a:r>
          </a:p>
          <a:p>
            <a:endParaRPr lang="en-US" sz="2400" dirty="0"/>
          </a:p>
          <a:p>
            <a:r>
              <a:rPr lang="en-US" sz="2400" dirty="0"/>
              <a:t>Boundaries should be broad</a:t>
            </a:r>
          </a:p>
          <a:p>
            <a:pPr lvl="1"/>
            <a:r>
              <a:rPr lang="en-US" sz="2400" dirty="0"/>
              <a:t>Type of good (physical / digital good)</a:t>
            </a:r>
          </a:p>
          <a:p>
            <a:pPr lvl="1"/>
            <a:r>
              <a:rPr lang="en-US" sz="2400" dirty="0"/>
              <a:t>Market / problem we to address</a:t>
            </a:r>
          </a:p>
          <a:p>
            <a:pPr lvl="2"/>
            <a:r>
              <a:rPr lang="en-US" sz="2400" dirty="0"/>
              <a:t>E.g. professional networking  </a:t>
            </a:r>
          </a:p>
          <a:p>
            <a:pPr lvl="1"/>
            <a:r>
              <a:rPr lang="en-US" sz="2400" dirty="0"/>
              <a:t>Timeline</a:t>
            </a:r>
          </a:p>
          <a:p>
            <a:pPr lvl="2"/>
            <a:r>
              <a:rPr lang="en-US" sz="2400" dirty="0"/>
              <a:t>E.g. Launch within 12 months</a:t>
            </a:r>
          </a:p>
          <a:p>
            <a:pPr lvl="1"/>
            <a:endParaRPr lang="en-US" sz="2400" dirty="0"/>
          </a:p>
          <a:p>
            <a:r>
              <a:rPr lang="en-US" sz="2400" dirty="0"/>
              <a:t>A tension between generating many uncorrelated ideas and having a more focused search for opportunities</a:t>
            </a:r>
          </a:p>
          <a:p>
            <a:pPr lvl="1"/>
            <a:r>
              <a:rPr lang="en-US" sz="2400" dirty="0"/>
              <a:t>Often good to err on side of too broad rather than too narrow</a:t>
            </a:r>
          </a:p>
        </p:txBody>
      </p:sp>
      <p:sp>
        <p:nvSpPr>
          <p:cNvPr id="5" name="Date Placeholder 4">
            <a:extLst>
              <a:ext uri="{FF2B5EF4-FFF2-40B4-BE49-F238E27FC236}">
                <a16:creationId xmlns:a16="http://schemas.microsoft.com/office/drawing/2014/main" id="{2A77FBCB-2166-261B-7B33-48F516564C6A}"/>
              </a:ext>
            </a:extLst>
          </p:cNvPr>
          <p:cNvSpPr>
            <a:spLocks noGrp="1"/>
          </p:cNvSpPr>
          <p:nvPr>
            <p:ph type="dt" sz="half" idx="10"/>
          </p:nvPr>
        </p:nvSpPr>
        <p:spPr/>
        <p:txBody>
          <a:bodyPr/>
          <a:lstStyle/>
          <a:p>
            <a:fld id="{D47A9A36-4EB0-BF46-AE48-7CDA251B954B}" type="datetime1">
              <a:rPr lang="en-US" smtClean="0"/>
              <a:t>10/29/2025</a:t>
            </a:fld>
            <a:endParaRPr lang="en-US" dirty="0"/>
          </a:p>
        </p:txBody>
      </p:sp>
      <p:sp>
        <p:nvSpPr>
          <p:cNvPr id="6" name="Slide Number Placeholder 5">
            <a:extLst>
              <a:ext uri="{FF2B5EF4-FFF2-40B4-BE49-F238E27FC236}">
                <a16:creationId xmlns:a16="http://schemas.microsoft.com/office/drawing/2014/main" id="{98318BA9-B513-5795-9FDB-5C2ACB0378B1}"/>
              </a:ext>
            </a:extLst>
          </p:cNvPr>
          <p:cNvSpPr>
            <a:spLocks noGrp="1"/>
          </p:cNvSpPr>
          <p:nvPr>
            <p:ph type="sldNum" sz="quarter" idx="12"/>
          </p:nvPr>
        </p:nvSpPr>
        <p:spPr/>
        <p:txBody>
          <a:bodyPr/>
          <a:lstStyle/>
          <a:p>
            <a:fld id="{8A7A6979-0714-4377-B894-6BE4C2D6E202}" type="slidenum">
              <a:rPr lang="en-US" smtClean="0"/>
              <a:pPr/>
              <a:t>21</a:t>
            </a:fld>
            <a:endParaRPr lang="en-US" dirty="0"/>
          </a:p>
        </p:txBody>
      </p:sp>
    </p:spTree>
    <p:extLst>
      <p:ext uri="{BB962C8B-B14F-4D97-AF65-F5344CB8AC3E}">
        <p14:creationId xmlns:p14="http://schemas.microsoft.com/office/powerpoint/2010/main" val="30636634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235AD-C7A1-C770-7FC8-252F89CA1A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E117A4-846B-6D2E-B00D-C3578E31C845}"/>
              </a:ext>
            </a:extLst>
          </p:cNvPr>
          <p:cNvSpPr>
            <a:spLocks noGrp="1"/>
          </p:cNvSpPr>
          <p:nvPr>
            <p:ph type="ctrTitle"/>
          </p:nvPr>
        </p:nvSpPr>
        <p:spPr/>
        <p:txBody>
          <a:bodyPr/>
          <a:lstStyle/>
          <a:p>
            <a:r>
              <a:rPr lang="en-US" dirty="0"/>
              <a:t>Step 2 – Generate Ideas</a:t>
            </a:r>
          </a:p>
        </p:txBody>
      </p:sp>
      <p:sp>
        <p:nvSpPr>
          <p:cNvPr id="4" name="Text Placeholder 3">
            <a:extLst>
              <a:ext uri="{FF2B5EF4-FFF2-40B4-BE49-F238E27FC236}">
                <a16:creationId xmlns:a16="http://schemas.microsoft.com/office/drawing/2014/main" id="{A39555CF-721F-342C-AC31-BDEE450A11A3}"/>
              </a:ext>
            </a:extLst>
          </p:cNvPr>
          <p:cNvSpPr>
            <a:spLocks noGrp="1"/>
          </p:cNvSpPr>
          <p:nvPr>
            <p:ph type="body" sz="quarter" idx="14"/>
          </p:nvPr>
        </p:nvSpPr>
        <p:spPr>
          <a:xfrm>
            <a:off x="1828800" y="1528763"/>
            <a:ext cx="8755380" cy="4114800"/>
          </a:xfrm>
        </p:spPr>
        <p:txBody>
          <a:bodyPr>
            <a:normAutofit fontScale="92500"/>
          </a:bodyPr>
          <a:lstStyle/>
          <a:p>
            <a:r>
              <a:rPr lang="en-US" sz="2400" dirty="0"/>
              <a:t>Draw on personal experiences / passions</a:t>
            </a:r>
          </a:p>
          <a:p>
            <a:endParaRPr lang="en-US" sz="2400" dirty="0"/>
          </a:p>
          <a:p>
            <a:r>
              <a:rPr lang="en-US" sz="2400" dirty="0"/>
              <a:t>Make a list of pain points you encounter in your life</a:t>
            </a:r>
          </a:p>
          <a:p>
            <a:endParaRPr lang="en-US" sz="2400" dirty="0"/>
          </a:p>
          <a:p>
            <a:r>
              <a:rPr lang="en-US" sz="2400" dirty="0"/>
              <a:t>Study customers and identify latent needs</a:t>
            </a:r>
          </a:p>
          <a:p>
            <a:pPr lvl="1"/>
            <a:r>
              <a:rPr lang="en-US" sz="2400" dirty="0"/>
              <a:t>Interview target customer segment (both customers &amp; non-customers)</a:t>
            </a:r>
          </a:p>
          <a:p>
            <a:pPr lvl="1"/>
            <a:r>
              <a:rPr lang="en-US" sz="2400" dirty="0"/>
              <a:t>Dig through bug reports / feature requests</a:t>
            </a:r>
          </a:p>
          <a:p>
            <a:endParaRPr lang="en-US" sz="2400" dirty="0"/>
          </a:p>
          <a:p>
            <a:r>
              <a:rPr lang="en-US" sz="2400" dirty="0"/>
              <a:t>Imitate</a:t>
            </a:r>
          </a:p>
          <a:p>
            <a:pPr lvl="1"/>
            <a:r>
              <a:rPr lang="en-US" sz="2400" dirty="0"/>
              <a:t>Tweak existing innovations, push local innovations global, imitate across industries</a:t>
            </a:r>
          </a:p>
        </p:txBody>
      </p:sp>
      <p:sp>
        <p:nvSpPr>
          <p:cNvPr id="5" name="Date Placeholder 4">
            <a:extLst>
              <a:ext uri="{FF2B5EF4-FFF2-40B4-BE49-F238E27FC236}">
                <a16:creationId xmlns:a16="http://schemas.microsoft.com/office/drawing/2014/main" id="{5694F53D-CE17-2C04-C417-8569708F637C}"/>
              </a:ext>
            </a:extLst>
          </p:cNvPr>
          <p:cNvSpPr>
            <a:spLocks noGrp="1"/>
          </p:cNvSpPr>
          <p:nvPr>
            <p:ph type="dt" sz="half" idx="10"/>
          </p:nvPr>
        </p:nvSpPr>
        <p:spPr/>
        <p:txBody>
          <a:bodyPr/>
          <a:lstStyle/>
          <a:p>
            <a:fld id="{D47A9A36-4EB0-BF46-AE48-7CDA251B954B}" type="datetime1">
              <a:rPr lang="en-US" smtClean="0"/>
              <a:t>10/29/2025</a:t>
            </a:fld>
            <a:endParaRPr lang="en-US" dirty="0"/>
          </a:p>
        </p:txBody>
      </p:sp>
      <p:sp>
        <p:nvSpPr>
          <p:cNvPr id="6" name="Slide Number Placeholder 5">
            <a:extLst>
              <a:ext uri="{FF2B5EF4-FFF2-40B4-BE49-F238E27FC236}">
                <a16:creationId xmlns:a16="http://schemas.microsoft.com/office/drawing/2014/main" id="{9605A016-F5F7-1A1B-51A6-7CE92CD50A97}"/>
              </a:ext>
            </a:extLst>
          </p:cNvPr>
          <p:cNvSpPr>
            <a:spLocks noGrp="1"/>
          </p:cNvSpPr>
          <p:nvPr>
            <p:ph type="sldNum" sz="quarter" idx="12"/>
          </p:nvPr>
        </p:nvSpPr>
        <p:spPr/>
        <p:txBody>
          <a:bodyPr/>
          <a:lstStyle/>
          <a:p>
            <a:fld id="{8A7A6979-0714-4377-B894-6BE4C2D6E202}" type="slidenum">
              <a:rPr lang="en-US" smtClean="0"/>
              <a:pPr/>
              <a:t>22</a:t>
            </a:fld>
            <a:endParaRPr lang="en-US" dirty="0"/>
          </a:p>
        </p:txBody>
      </p:sp>
    </p:spTree>
    <p:extLst>
      <p:ext uri="{BB962C8B-B14F-4D97-AF65-F5344CB8AC3E}">
        <p14:creationId xmlns:p14="http://schemas.microsoft.com/office/powerpoint/2010/main" val="4937354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E57E4-7741-094C-38F2-21C7A60D83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351141-6946-6374-8131-73F3DCD41AA7}"/>
              </a:ext>
            </a:extLst>
          </p:cNvPr>
          <p:cNvSpPr>
            <a:spLocks noGrp="1"/>
          </p:cNvSpPr>
          <p:nvPr>
            <p:ph type="ctrTitle"/>
          </p:nvPr>
        </p:nvSpPr>
        <p:spPr/>
        <p:txBody>
          <a:bodyPr/>
          <a:lstStyle/>
          <a:p>
            <a:r>
              <a:rPr lang="en-US" dirty="0"/>
              <a:t>Step 3 – Screen Opportunities</a:t>
            </a:r>
          </a:p>
        </p:txBody>
      </p:sp>
      <p:sp>
        <p:nvSpPr>
          <p:cNvPr id="4" name="Text Placeholder 3">
            <a:extLst>
              <a:ext uri="{FF2B5EF4-FFF2-40B4-BE49-F238E27FC236}">
                <a16:creationId xmlns:a16="http://schemas.microsoft.com/office/drawing/2014/main" id="{ACE45796-84A4-2F82-9C96-B5CC1DF1E5EA}"/>
              </a:ext>
            </a:extLst>
          </p:cNvPr>
          <p:cNvSpPr>
            <a:spLocks noGrp="1"/>
          </p:cNvSpPr>
          <p:nvPr>
            <p:ph type="body" sz="quarter" idx="14"/>
          </p:nvPr>
        </p:nvSpPr>
        <p:spPr>
          <a:xfrm>
            <a:off x="1828800" y="1528763"/>
            <a:ext cx="8755380" cy="4114800"/>
          </a:xfrm>
        </p:spPr>
        <p:txBody>
          <a:bodyPr>
            <a:normAutofit fontScale="92500" lnSpcReduction="20000"/>
          </a:bodyPr>
          <a:lstStyle/>
          <a:p>
            <a:r>
              <a:rPr lang="en-US" sz="2400" dirty="0"/>
              <a:t>Solicit feedback internally and externally</a:t>
            </a:r>
          </a:p>
          <a:p>
            <a:pPr lvl="1"/>
            <a:r>
              <a:rPr lang="en-US" sz="2400" dirty="0"/>
              <a:t>Vote internally, ask your friends + family</a:t>
            </a:r>
          </a:p>
          <a:p>
            <a:endParaRPr lang="en-US" sz="2400" dirty="0"/>
          </a:p>
          <a:p>
            <a:r>
              <a:rPr lang="en-US" sz="2400" dirty="0"/>
              <a:t>Goal here is to remove opportunities that are not promising</a:t>
            </a:r>
          </a:p>
          <a:p>
            <a:pPr lvl="1"/>
            <a:r>
              <a:rPr lang="en-US" sz="2400" dirty="0"/>
              <a:t>Remove “losers” rather than identify the “winner”</a:t>
            </a:r>
          </a:p>
          <a:p>
            <a:endParaRPr lang="en-US" sz="2400" dirty="0"/>
          </a:p>
          <a:p>
            <a:r>
              <a:rPr lang="en-US" sz="2400" dirty="0"/>
              <a:t>Don’t remove ideas that are polarizing</a:t>
            </a:r>
          </a:p>
          <a:p>
            <a:pPr lvl="1"/>
            <a:r>
              <a:rPr lang="en-US" sz="2400" dirty="0"/>
              <a:t>Strong opinions often suggest a promising opportunity</a:t>
            </a:r>
          </a:p>
          <a:p>
            <a:endParaRPr lang="en-US" sz="2400" dirty="0"/>
          </a:p>
          <a:p>
            <a:r>
              <a:rPr lang="en-US" sz="2400" dirty="0"/>
              <a:t>Be thoughtful with how you aggregate opinions</a:t>
            </a:r>
          </a:p>
          <a:p>
            <a:pPr lvl="1"/>
            <a:r>
              <a:rPr lang="en-US" sz="2400" dirty="0"/>
              <a:t>Anonymous / online voting can encourage participation and expression of diverse viewpoints</a:t>
            </a:r>
          </a:p>
        </p:txBody>
      </p:sp>
      <p:sp>
        <p:nvSpPr>
          <p:cNvPr id="5" name="Date Placeholder 4">
            <a:extLst>
              <a:ext uri="{FF2B5EF4-FFF2-40B4-BE49-F238E27FC236}">
                <a16:creationId xmlns:a16="http://schemas.microsoft.com/office/drawing/2014/main" id="{B9C78D40-2478-2272-3BF9-3F76B73F4649}"/>
              </a:ext>
            </a:extLst>
          </p:cNvPr>
          <p:cNvSpPr>
            <a:spLocks noGrp="1"/>
          </p:cNvSpPr>
          <p:nvPr>
            <p:ph type="dt" sz="half" idx="10"/>
          </p:nvPr>
        </p:nvSpPr>
        <p:spPr/>
        <p:txBody>
          <a:bodyPr/>
          <a:lstStyle/>
          <a:p>
            <a:fld id="{D47A9A36-4EB0-BF46-AE48-7CDA251B954B}" type="datetime1">
              <a:rPr lang="en-US" smtClean="0"/>
              <a:t>10/29/2025</a:t>
            </a:fld>
            <a:endParaRPr lang="en-US" dirty="0"/>
          </a:p>
        </p:txBody>
      </p:sp>
      <p:sp>
        <p:nvSpPr>
          <p:cNvPr id="6" name="Slide Number Placeholder 5">
            <a:extLst>
              <a:ext uri="{FF2B5EF4-FFF2-40B4-BE49-F238E27FC236}">
                <a16:creationId xmlns:a16="http://schemas.microsoft.com/office/drawing/2014/main" id="{89DE8F23-B3FD-5835-C738-0AB7475E54A4}"/>
              </a:ext>
            </a:extLst>
          </p:cNvPr>
          <p:cNvSpPr>
            <a:spLocks noGrp="1"/>
          </p:cNvSpPr>
          <p:nvPr>
            <p:ph type="sldNum" sz="quarter" idx="12"/>
          </p:nvPr>
        </p:nvSpPr>
        <p:spPr/>
        <p:txBody>
          <a:bodyPr/>
          <a:lstStyle/>
          <a:p>
            <a:fld id="{8A7A6979-0714-4377-B894-6BE4C2D6E202}" type="slidenum">
              <a:rPr lang="en-US" smtClean="0"/>
              <a:pPr/>
              <a:t>23</a:t>
            </a:fld>
            <a:endParaRPr lang="en-US" dirty="0"/>
          </a:p>
        </p:txBody>
      </p:sp>
    </p:spTree>
    <p:extLst>
      <p:ext uri="{BB962C8B-B14F-4D97-AF65-F5344CB8AC3E}">
        <p14:creationId xmlns:p14="http://schemas.microsoft.com/office/powerpoint/2010/main" val="3506452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3D758-1F80-A07B-4215-1DD8CC9400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2605DD-34B1-EDC2-8F11-B89C389AF1AA}"/>
              </a:ext>
            </a:extLst>
          </p:cNvPr>
          <p:cNvSpPr>
            <a:spLocks noGrp="1"/>
          </p:cNvSpPr>
          <p:nvPr>
            <p:ph type="ctrTitle"/>
          </p:nvPr>
        </p:nvSpPr>
        <p:spPr/>
        <p:txBody>
          <a:bodyPr/>
          <a:lstStyle/>
          <a:p>
            <a:r>
              <a:rPr lang="en-US" dirty="0"/>
              <a:t>Step 4 – Develop Opportunities</a:t>
            </a:r>
          </a:p>
        </p:txBody>
      </p:sp>
      <p:sp>
        <p:nvSpPr>
          <p:cNvPr id="4" name="Text Placeholder 3">
            <a:extLst>
              <a:ext uri="{FF2B5EF4-FFF2-40B4-BE49-F238E27FC236}">
                <a16:creationId xmlns:a16="http://schemas.microsoft.com/office/drawing/2014/main" id="{A231C564-112F-E963-F396-937C03DD2F5C}"/>
              </a:ext>
            </a:extLst>
          </p:cNvPr>
          <p:cNvSpPr>
            <a:spLocks noGrp="1"/>
          </p:cNvSpPr>
          <p:nvPr>
            <p:ph type="body" sz="quarter" idx="14"/>
          </p:nvPr>
        </p:nvSpPr>
        <p:spPr>
          <a:xfrm>
            <a:off x="1828800" y="1528763"/>
            <a:ext cx="8755380" cy="4114800"/>
          </a:xfrm>
        </p:spPr>
        <p:txBody>
          <a:bodyPr>
            <a:normAutofit fontScale="92500" lnSpcReduction="10000"/>
          </a:bodyPr>
          <a:lstStyle/>
          <a:p>
            <a:r>
              <a:rPr lang="en-US" sz="2400" dirty="0"/>
              <a:t>Market research &amp; trends</a:t>
            </a:r>
          </a:p>
          <a:p>
            <a:pPr lvl="1"/>
            <a:r>
              <a:rPr lang="en-US" sz="2400" dirty="0"/>
              <a:t>How big is the market? Is it growing / shrinking? What is the competitive landscape?</a:t>
            </a:r>
          </a:p>
          <a:p>
            <a:endParaRPr lang="en-US" sz="2400" dirty="0"/>
          </a:p>
          <a:p>
            <a:r>
              <a:rPr lang="en-US" sz="2400" dirty="0"/>
              <a:t>Interview potential customers</a:t>
            </a:r>
          </a:p>
          <a:p>
            <a:pPr lvl="1"/>
            <a:r>
              <a:rPr lang="en-US" sz="2400" dirty="0"/>
              <a:t>Is there excitement about the opportunity?</a:t>
            </a:r>
          </a:p>
          <a:p>
            <a:pPr lvl="1"/>
            <a:r>
              <a:rPr lang="en-US" sz="2400" dirty="0"/>
              <a:t>Formal survey techniques (e.g. conjoint analysis)</a:t>
            </a:r>
          </a:p>
          <a:p>
            <a:endParaRPr lang="en-US" sz="2400" dirty="0"/>
          </a:p>
          <a:p>
            <a:r>
              <a:rPr lang="en-US" sz="2400" dirty="0"/>
              <a:t>Analyze feasibility</a:t>
            </a:r>
          </a:p>
          <a:p>
            <a:pPr lvl="1"/>
            <a:r>
              <a:rPr lang="en-US" sz="2400" dirty="0"/>
              <a:t>Estimate cost (in dollars and time) of development / production</a:t>
            </a:r>
          </a:p>
          <a:p>
            <a:pPr lvl="1"/>
            <a:r>
              <a:rPr lang="en-US" sz="2400" dirty="0"/>
              <a:t>Is our innovation patentable / proprietary / easily replicable?</a:t>
            </a:r>
          </a:p>
          <a:p>
            <a:pPr marL="0" indent="0">
              <a:buNone/>
            </a:pPr>
            <a:endParaRPr lang="en-US" sz="2400" dirty="0"/>
          </a:p>
          <a:p>
            <a:endParaRPr lang="en-US" sz="2400" dirty="0"/>
          </a:p>
        </p:txBody>
      </p:sp>
      <p:sp>
        <p:nvSpPr>
          <p:cNvPr id="5" name="Date Placeholder 4">
            <a:extLst>
              <a:ext uri="{FF2B5EF4-FFF2-40B4-BE49-F238E27FC236}">
                <a16:creationId xmlns:a16="http://schemas.microsoft.com/office/drawing/2014/main" id="{A6B68F4B-3BD5-8403-CE63-600D0D245381}"/>
              </a:ext>
            </a:extLst>
          </p:cNvPr>
          <p:cNvSpPr>
            <a:spLocks noGrp="1"/>
          </p:cNvSpPr>
          <p:nvPr>
            <p:ph type="dt" sz="half" idx="10"/>
          </p:nvPr>
        </p:nvSpPr>
        <p:spPr/>
        <p:txBody>
          <a:bodyPr/>
          <a:lstStyle/>
          <a:p>
            <a:fld id="{D47A9A36-4EB0-BF46-AE48-7CDA251B954B}" type="datetime1">
              <a:rPr lang="en-US" smtClean="0"/>
              <a:t>10/29/2025</a:t>
            </a:fld>
            <a:endParaRPr lang="en-US" dirty="0"/>
          </a:p>
        </p:txBody>
      </p:sp>
      <p:sp>
        <p:nvSpPr>
          <p:cNvPr id="6" name="Slide Number Placeholder 5">
            <a:extLst>
              <a:ext uri="{FF2B5EF4-FFF2-40B4-BE49-F238E27FC236}">
                <a16:creationId xmlns:a16="http://schemas.microsoft.com/office/drawing/2014/main" id="{86810432-AD3E-7427-B103-CB88F6464E2F}"/>
              </a:ext>
            </a:extLst>
          </p:cNvPr>
          <p:cNvSpPr>
            <a:spLocks noGrp="1"/>
          </p:cNvSpPr>
          <p:nvPr>
            <p:ph type="sldNum" sz="quarter" idx="12"/>
          </p:nvPr>
        </p:nvSpPr>
        <p:spPr/>
        <p:txBody>
          <a:bodyPr/>
          <a:lstStyle/>
          <a:p>
            <a:fld id="{8A7A6979-0714-4377-B894-6BE4C2D6E202}" type="slidenum">
              <a:rPr lang="en-US" smtClean="0"/>
              <a:pPr/>
              <a:t>24</a:t>
            </a:fld>
            <a:endParaRPr lang="en-US" dirty="0"/>
          </a:p>
        </p:txBody>
      </p:sp>
    </p:spTree>
    <p:extLst>
      <p:ext uri="{BB962C8B-B14F-4D97-AF65-F5344CB8AC3E}">
        <p14:creationId xmlns:p14="http://schemas.microsoft.com/office/powerpoint/2010/main" val="896113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98066-0415-D708-770D-719E0F88EA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2C07E1-682C-27D2-5F2E-AB4B9B8817F5}"/>
              </a:ext>
            </a:extLst>
          </p:cNvPr>
          <p:cNvSpPr>
            <a:spLocks noGrp="1"/>
          </p:cNvSpPr>
          <p:nvPr>
            <p:ph type="ctrTitle"/>
          </p:nvPr>
        </p:nvSpPr>
        <p:spPr/>
        <p:txBody>
          <a:bodyPr/>
          <a:lstStyle/>
          <a:p>
            <a:r>
              <a:rPr lang="en-US" dirty="0"/>
              <a:t>Step 5 – Select Exceptional Opportunities</a:t>
            </a:r>
          </a:p>
        </p:txBody>
      </p:sp>
      <p:sp>
        <p:nvSpPr>
          <p:cNvPr id="4" name="Text Placeholder 3">
            <a:extLst>
              <a:ext uri="{FF2B5EF4-FFF2-40B4-BE49-F238E27FC236}">
                <a16:creationId xmlns:a16="http://schemas.microsoft.com/office/drawing/2014/main" id="{B32FFF4C-9878-F754-D5A3-F3A25F436FC7}"/>
              </a:ext>
            </a:extLst>
          </p:cNvPr>
          <p:cNvSpPr>
            <a:spLocks noGrp="1"/>
          </p:cNvSpPr>
          <p:nvPr>
            <p:ph type="body" sz="quarter" idx="14"/>
          </p:nvPr>
        </p:nvSpPr>
        <p:spPr>
          <a:xfrm>
            <a:off x="1828800" y="1528763"/>
            <a:ext cx="8755380" cy="4114800"/>
          </a:xfrm>
        </p:spPr>
        <p:txBody>
          <a:bodyPr>
            <a:normAutofit fontScale="92500"/>
          </a:bodyPr>
          <a:lstStyle/>
          <a:p>
            <a:r>
              <a:rPr lang="en-US" sz="2400" dirty="0"/>
              <a:t>We now have the information needed to identify best opportunities</a:t>
            </a:r>
          </a:p>
          <a:p>
            <a:endParaRPr lang="en-US" sz="2400" dirty="0"/>
          </a:p>
          <a:p>
            <a:r>
              <a:rPr lang="en-US" sz="2400" dirty="0"/>
              <a:t>Many, many, many frameworks that can be applied</a:t>
            </a:r>
          </a:p>
          <a:p>
            <a:endParaRPr lang="en-US" sz="2400" dirty="0"/>
          </a:p>
          <a:p>
            <a:r>
              <a:rPr lang="en-US" sz="2400" dirty="0"/>
              <a:t>One example: Real-Win-Worth it</a:t>
            </a:r>
          </a:p>
          <a:p>
            <a:pPr lvl="1"/>
            <a:r>
              <a:rPr lang="en-US" sz="2400" dirty="0"/>
              <a:t>Is the opportunity real? Does the market exist and will our opportunity address the need in the market?</a:t>
            </a:r>
          </a:p>
          <a:p>
            <a:pPr lvl="1"/>
            <a:r>
              <a:rPr lang="en-US" sz="2400" dirty="0"/>
              <a:t>Can you win? Can you create a sustainable competitive advantage through patents / technology / network effects / know-how?</a:t>
            </a:r>
          </a:p>
          <a:p>
            <a:pPr lvl="1"/>
            <a:r>
              <a:rPr lang="en-US" sz="2400" dirty="0"/>
              <a:t>Is the opportunity worth it financially?</a:t>
            </a:r>
          </a:p>
        </p:txBody>
      </p:sp>
      <p:sp>
        <p:nvSpPr>
          <p:cNvPr id="5" name="Date Placeholder 4">
            <a:extLst>
              <a:ext uri="{FF2B5EF4-FFF2-40B4-BE49-F238E27FC236}">
                <a16:creationId xmlns:a16="http://schemas.microsoft.com/office/drawing/2014/main" id="{43F940C3-BE53-1A1C-9D53-DE51EA45045B}"/>
              </a:ext>
            </a:extLst>
          </p:cNvPr>
          <p:cNvSpPr>
            <a:spLocks noGrp="1"/>
          </p:cNvSpPr>
          <p:nvPr>
            <p:ph type="dt" sz="half" idx="10"/>
          </p:nvPr>
        </p:nvSpPr>
        <p:spPr/>
        <p:txBody>
          <a:bodyPr/>
          <a:lstStyle/>
          <a:p>
            <a:fld id="{D47A9A36-4EB0-BF46-AE48-7CDA251B954B}" type="datetime1">
              <a:rPr lang="en-US" smtClean="0"/>
              <a:t>10/29/2025</a:t>
            </a:fld>
            <a:endParaRPr lang="en-US" dirty="0"/>
          </a:p>
        </p:txBody>
      </p:sp>
      <p:sp>
        <p:nvSpPr>
          <p:cNvPr id="6" name="Slide Number Placeholder 5">
            <a:extLst>
              <a:ext uri="{FF2B5EF4-FFF2-40B4-BE49-F238E27FC236}">
                <a16:creationId xmlns:a16="http://schemas.microsoft.com/office/drawing/2014/main" id="{9FE3B0FE-0D16-E599-BC5F-B70CB220EB15}"/>
              </a:ext>
            </a:extLst>
          </p:cNvPr>
          <p:cNvSpPr>
            <a:spLocks noGrp="1"/>
          </p:cNvSpPr>
          <p:nvPr>
            <p:ph type="sldNum" sz="quarter" idx="12"/>
          </p:nvPr>
        </p:nvSpPr>
        <p:spPr/>
        <p:txBody>
          <a:bodyPr/>
          <a:lstStyle/>
          <a:p>
            <a:fld id="{8A7A6979-0714-4377-B894-6BE4C2D6E202}" type="slidenum">
              <a:rPr lang="en-US" smtClean="0"/>
              <a:pPr/>
              <a:t>25</a:t>
            </a:fld>
            <a:endParaRPr lang="en-US" dirty="0"/>
          </a:p>
        </p:txBody>
      </p:sp>
    </p:spTree>
    <p:extLst>
      <p:ext uri="{BB962C8B-B14F-4D97-AF65-F5344CB8AC3E}">
        <p14:creationId xmlns:p14="http://schemas.microsoft.com/office/powerpoint/2010/main" val="34374801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2FBA5-9328-75E7-C8BD-189966AFB9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9282D0-4814-B8EB-A7D6-B7B673B7A077}"/>
              </a:ext>
            </a:extLst>
          </p:cNvPr>
          <p:cNvSpPr>
            <a:spLocks noGrp="1"/>
          </p:cNvSpPr>
          <p:nvPr>
            <p:ph type="ctrTitle"/>
          </p:nvPr>
        </p:nvSpPr>
        <p:spPr/>
        <p:txBody>
          <a:bodyPr/>
          <a:lstStyle/>
          <a:p>
            <a:r>
              <a:rPr lang="en-US" dirty="0"/>
              <a:t>Step 6 – Reflect</a:t>
            </a:r>
          </a:p>
        </p:txBody>
      </p:sp>
      <p:sp>
        <p:nvSpPr>
          <p:cNvPr id="4" name="Text Placeholder 3">
            <a:extLst>
              <a:ext uri="{FF2B5EF4-FFF2-40B4-BE49-F238E27FC236}">
                <a16:creationId xmlns:a16="http://schemas.microsoft.com/office/drawing/2014/main" id="{1519BB9E-9982-3E82-A3B6-3F2B609ECB8C}"/>
              </a:ext>
            </a:extLst>
          </p:cNvPr>
          <p:cNvSpPr>
            <a:spLocks noGrp="1"/>
          </p:cNvSpPr>
          <p:nvPr>
            <p:ph type="body" sz="quarter" idx="14"/>
          </p:nvPr>
        </p:nvSpPr>
        <p:spPr>
          <a:xfrm>
            <a:off x="1828800" y="1528763"/>
            <a:ext cx="8755380" cy="4114800"/>
          </a:xfrm>
        </p:spPr>
        <p:txBody>
          <a:bodyPr>
            <a:normAutofit/>
          </a:bodyPr>
          <a:lstStyle/>
          <a:p>
            <a:r>
              <a:rPr lang="en-US" sz="2400" dirty="0"/>
              <a:t>Did we do a good job in generating and selecting opportunities?</a:t>
            </a:r>
          </a:p>
          <a:p>
            <a:endParaRPr lang="en-US" sz="2400" dirty="0"/>
          </a:p>
          <a:p>
            <a:r>
              <a:rPr lang="en-US" sz="2400" dirty="0"/>
              <a:t>Do we feel good about the outcomes?</a:t>
            </a:r>
          </a:p>
          <a:p>
            <a:endParaRPr lang="en-US" sz="2400" dirty="0"/>
          </a:p>
          <a:p>
            <a:r>
              <a:rPr lang="en-US" sz="2400" dirty="0"/>
              <a:t>If we’re not excited about the opportunity, who will be?</a:t>
            </a:r>
          </a:p>
        </p:txBody>
      </p:sp>
      <p:sp>
        <p:nvSpPr>
          <p:cNvPr id="5" name="Date Placeholder 4">
            <a:extLst>
              <a:ext uri="{FF2B5EF4-FFF2-40B4-BE49-F238E27FC236}">
                <a16:creationId xmlns:a16="http://schemas.microsoft.com/office/drawing/2014/main" id="{77F8C17F-5D5A-A6F8-0F4D-D65E37AABD55}"/>
              </a:ext>
            </a:extLst>
          </p:cNvPr>
          <p:cNvSpPr>
            <a:spLocks noGrp="1"/>
          </p:cNvSpPr>
          <p:nvPr>
            <p:ph type="dt" sz="half" idx="10"/>
          </p:nvPr>
        </p:nvSpPr>
        <p:spPr/>
        <p:txBody>
          <a:bodyPr/>
          <a:lstStyle/>
          <a:p>
            <a:fld id="{D47A9A36-4EB0-BF46-AE48-7CDA251B954B}" type="datetime1">
              <a:rPr lang="en-US" smtClean="0"/>
              <a:t>10/29/2025</a:t>
            </a:fld>
            <a:endParaRPr lang="en-US" dirty="0"/>
          </a:p>
        </p:txBody>
      </p:sp>
      <p:sp>
        <p:nvSpPr>
          <p:cNvPr id="6" name="Slide Number Placeholder 5">
            <a:extLst>
              <a:ext uri="{FF2B5EF4-FFF2-40B4-BE49-F238E27FC236}">
                <a16:creationId xmlns:a16="http://schemas.microsoft.com/office/drawing/2014/main" id="{B1EFECBB-8A28-A5D5-B1A8-559FB2D55CC8}"/>
              </a:ext>
            </a:extLst>
          </p:cNvPr>
          <p:cNvSpPr>
            <a:spLocks noGrp="1"/>
          </p:cNvSpPr>
          <p:nvPr>
            <p:ph type="sldNum" sz="quarter" idx="12"/>
          </p:nvPr>
        </p:nvSpPr>
        <p:spPr/>
        <p:txBody>
          <a:bodyPr/>
          <a:lstStyle/>
          <a:p>
            <a:fld id="{8A7A6979-0714-4377-B894-6BE4C2D6E202}" type="slidenum">
              <a:rPr lang="en-US" smtClean="0"/>
              <a:pPr/>
              <a:t>26</a:t>
            </a:fld>
            <a:endParaRPr lang="en-US" dirty="0"/>
          </a:p>
        </p:txBody>
      </p:sp>
    </p:spTree>
    <p:extLst>
      <p:ext uri="{BB962C8B-B14F-4D97-AF65-F5344CB8AC3E}">
        <p14:creationId xmlns:p14="http://schemas.microsoft.com/office/powerpoint/2010/main" val="42590631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A42AF-1E60-6721-2747-79A4DDB764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FC5A39-52DA-EA01-5FC2-6EF854AB74B6}"/>
              </a:ext>
            </a:extLst>
          </p:cNvPr>
          <p:cNvSpPr>
            <a:spLocks noGrp="1"/>
          </p:cNvSpPr>
          <p:nvPr>
            <p:ph type="ctrTitle"/>
          </p:nvPr>
        </p:nvSpPr>
        <p:spPr>
          <a:xfrm>
            <a:off x="2647199" y="1501742"/>
            <a:ext cx="7300940" cy="664797"/>
          </a:xfrm>
        </p:spPr>
        <p:txBody>
          <a:bodyPr/>
          <a:lstStyle/>
          <a:p>
            <a:r>
              <a:rPr lang="en-US" dirty="0"/>
              <a:t>Project Matching</a:t>
            </a:r>
          </a:p>
        </p:txBody>
      </p:sp>
      <p:sp>
        <p:nvSpPr>
          <p:cNvPr id="4" name="Date Placeholder 3">
            <a:extLst>
              <a:ext uri="{FF2B5EF4-FFF2-40B4-BE49-F238E27FC236}">
                <a16:creationId xmlns:a16="http://schemas.microsoft.com/office/drawing/2014/main" id="{716A2566-4274-E433-734B-8A2696DAE27D}"/>
              </a:ext>
            </a:extLst>
          </p:cNvPr>
          <p:cNvSpPr>
            <a:spLocks noGrp="1"/>
          </p:cNvSpPr>
          <p:nvPr>
            <p:ph type="dt" sz="half" idx="10"/>
          </p:nvPr>
        </p:nvSpPr>
        <p:spPr/>
        <p:txBody>
          <a:bodyPr/>
          <a:lstStyle/>
          <a:p>
            <a:fld id="{D47A9A36-4EB0-BF46-AE48-7CDA251B954B}" type="datetime1">
              <a:rPr lang="en-US" smtClean="0"/>
              <a:pPr/>
              <a:t>10/29/2025</a:t>
            </a:fld>
            <a:endParaRPr lang="en-US" dirty="0"/>
          </a:p>
        </p:txBody>
      </p:sp>
      <p:sp>
        <p:nvSpPr>
          <p:cNvPr id="5" name="Slide Number Placeholder 4">
            <a:extLst>
              <a:ext uri="{FF2B5EF4-FFF2-40B4-BE49-F238E27FC236}">
                <a16:creationId xmlns:a16="http://schemas.microsoft.com/office/drawing/2014/main" id="{A74EEA43-1B5D-C6C4-6E02-3ED03AE6D286}"/>
              </a:ext>
            </a:extLst>
          </p:cNvPr>
          <p:cNvSpPr>
            <a:spLocks noGrp="1"/>
          </p:cNvSpPr>
          <p:nvPr>
            <p:ph type="sldNum" sz="quarter" idx="12"/>
          </p:nvPr>
        </p:nvSpPr>
        <p:spPr/>
        <p:txBody>
          <a:bodyPr/>
          <a:lstStyle/>
          <a:p>
            <a:fld id="{8A7A6979-0714-4377-B894-6BE4C2D6E202}" type="slidenum">
              <a:rPr lang="en-US" smtClean="0"/>
              <a:pPr/>
              <a:t>27</a:t>
            </a:fld>
            <a:endParaRPr lang="en-US" dirty="0"/>
          </a:p>
        </p:txBody>
      </p:sp>
    </p:spTree>
    <p:extLst>
      <p:ext uri="{BB962C8B-B14F-4D97-AF65-F5344CB8AC3E}">
        <p14:creationId xmlns:p14="http://schemas.microsoft.com/office/powerpoint/2010/main" val="6283829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F071E-FFA2-E9BC-851C-313D663117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5A3A81-3059-5D2A-2FAA-8DBD9188532F}"/>
              </a:ext>
            </a:extLst>
          </p:cNvPr>
          <p:cNvSpPr>
            <a:spLocks noGrp="1"/>
          </p:cNvSpPr>
          <p:nvPr>
            <p:ph type="ctrTitle"/>
          </p:nvPr>
        </p:nvSpPr>
        <p:spPr/>
        <p:txBody>
          <a:bodyPr/>
          <a:lstStyle/>
          <a:p>
            <a:r>
              <a:rPr lang="en-US" dirty="0"/>
              <a:t>Project Matching + Ideation</a:t>
            </a:r>
          </a:p>
        </p:txBody>
      </p:sp>
      <p:sp>
        <p:nvSpPr>
          <p:cNvPr id="4" name="Text Placeholder 3">
            <a:extLst>
              <a:ext uri="{FF2B5EF4-FFF2-40B4-BE49-F238E27FC236}">
                <a16:creationId xmlns:a16="http://schemas.microsoft.com/office/drawing/2014/main" id="{93CBCE1D-3171-6221-3F44-9FBCF2EAA6ED}"/>
              </a:ext>
            </a:extLst>
          </p:cNvPr>
          <p:cNvSpPr>
            <a:spLocks noGrp="1"/>
          </p:cNvSpPr>
          <p:nvPr>
            <p:ph type="body" sz="quarter" idx="14"/>
          </p:nvPr>
        </p:nvSpPr>
        <p:spPr>
          <a:xfrm>
            <a:off x="1828800" y="1528763"/>
            <a:ext cx="8755380" cy="4237856"/>
          </a:xfrm>
        </p:spPr>
        <p:txBody>
          <a:bodyPr>
            <a:normAutofit fontScale="92500" lnSpcReduction="10000"/>
          </a:bodyPr>
          <a:lstStyle/>
          <a:p>
            <a:r>
              <a:rPr lang="en-US" sz="2400" dirty="0"/>
              <a:t>If you have a product you want to use for project, stand at perimeter of class or raise your zoom hand</a:t>
            </a:r>
          </a:p>
          <a:p>
            <a:pPr lvl="1"/>
            <a:r>
              <a:rPr lang="en-US" sz="2400" dirty="0"/>
              <a:t>If online, introduce your product and note the breakout room</a:t>
            </a:r>
          </a:p>
          <a:p>
            <a:endParaRPr lang="en-US" sz="2400" dirty="0"/>
          </a:p>
          <a:p>
            <a:r>
              <a:rPr lang="en-US" sz="2400" dirty="0"/>
              <a:t>Spend 5 minutes talking with each other, forming teams of 4</a:t>
            </a:r>
          </a:p>
          <a:p>
            <a:endParaRPr lang="en-US" sz="2400" dirty="0"/>
          </a:p>
          <a:p>
            <a:r>
              <a:rPr lang="en-US" sz="2400" dirty="0"/>
              <a:t>Work through the opportunity identification process</a:t>
            </a:r>
          </a:p>
          <a:p>
            <a:pPr lvl="1"/>
            <a:r>
              <a:rPr lang="en-US" sz="2400" dirty="0"/>
              <a:t>Set boundaries for the process</a:t>
            </a:r>
          </a:p>
          <a:p>
            <a:pPr lvl="1"/>
            <a:r>
              <a:rPr lang="en-US" sz="2400" dirty="0"/>
              <a:t>Spend 10-15 minutes generating ideas</a:t>
            </a:r>
          </a:p>
          <a:p>
            <a:pPr lvl="1"/>
            <a:r>
              <a:rPr lang="en-US" sz="2400" dirty="0"/>
              <a:t>Cull the ideas to most promising</a:t>
            </a:r>
          </a:p>
          <a:p>
            <a:pPr lvl="1"/>
            <a:r>
              <a:rPr lang="en-US" sz="2400" dirty="0"/>
              <a:t>Develop the ideas (or think about how you would develop)</a:t>
            </a:r>
          </a:p>
          <a:p>
            <a:pPr lvl="1"/>
            <a:endParaRPr lang="en-US" sz="2400" dirty="0"/>
          </a:p>
        </p:txBody>
      </p:sp>
      <p:sp>
        <p:nvSpPr>
          <p:cNvPr id="5" name="Date Placeholder 4">
            <a:extLst>
              <a:ext uri="{FF2B5EF4-FFF2-40B4-BE49-F238E27FC236}">
                <a16:creationId xmlns:a16="http://schemas.microsoft.com/office/drawing/2014/main" id="{85F2625B-BB68-6644-F1B8-5EC2B0754AA3}"/>
              </a:ext>
            </a:extLst>
          </p:cNvPr>
          <p:cNvSpPr>
            <a:spLocks noGrp="1"/>
          </p:cNvSpPr>
          <p:nvPr>
            <p:ph type="dt" sz="half" idx="10"/>
          </p:nvPr>
        </p:nvSpPr>
        <p:spPr/>
        <p:txBody>
          <a:bodyPr/>
          <a:lstStyle/>
          <a:p>
            <a:fld id="{D47A9A36-4EB0-BF46-AE48-7CDA251B954B}" type="datetime1">
              <a:rPr lang="en-US" smtClean="0"/>
              <a:t>10/29/2025</a:t>
            </a:fld>
            <a:endParaRPr lang="en-US" dirty="0"/>
          </a:p>
        </p:txBody>
      </p:sp>
      <p:sp>
        <p:nvSpPr>
          <p:cNvPr id="6" name="Slide Number Placeholder 5">
            <a:extLst>
              <a:ext uri="{FF2B5EF4-FFF2-40B4-BE49-F238E27FC236}">
                <a16:creationId xmlns:a16="http://schemas.microsoft.com/office/drawing/2014/main" id="{93649667-6C7A-E7C3-1AB0-F8C21C45897B}"/>
              </a:ext>
            </a:extLst>
          </p:cNvPr>
          <p:cNvSpPr>
            <a:spLocks noGrp="1"/>
          </p:cNvSpPr>
          <p:nvPr>
            <p:ph type="sldNum" sz="quarter" idx="12"/>
          </p:nvPr>
        </p:nvSpPr>
        <p:spPr/>
        <p:txBody>
          <a:bodyPr/>
          <a:lstStyle/>
          <a:p>
            <a:fld id="{8A7A6979-0714-4377-B894-6BE4C2D6E202}" type="slidenum">
              <a:rPr lang="en-US" smtClean="0"/>
              <a:pPr/>
              <a:t>28</a:t>
            </a:fld>
            <a:endParaRPr lang="en-US" dirty="0"/>
          </a:p>
        </p:txBody>
      </p:sp>
    </p:spTree>
    <p:extLst>
      <p:ext uri="{BB962C8B-B14F-4D97-AF65-F5344CB8AC3E}">
        <p14:creationId xmlns:p14="http://schemas.microsoft.com/office/powerpoint/2010/main" val="7525058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8D5DC-8937-1C47-00BF-B1B70EEFF1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EBC4A0-7B52-CA8E-EB94-150CA0E1CA72}"/>
              </a:ext>
            </a:extLst>
          </p:cNvPr>
          <p:cNvSpPr>
            <a:spLocks noGrp="1"/>
          </p:cNvSpPr>
          <p:nvPr>
            <p:ph type="ctrTitle"/>
          </p:nvPr>
        </p:nvSpPr>
        <p:spPr/>
        <p:txBody>
          <a:bodyPr/>
          <a:lstStyle/>
          <a:p>
            <a:r>
              <a:rPr lang="en-US" dirty="0"/>
              <a:t>Share your Ideation Experience</a:t>
            </a:r>
          </a:p>
        </p:txBody>
      </p:sp>
      <p:sp>
        <p:nvSpPr>
          <p:cNvPr id="4" name="Text Placeholder 3">
            <a:extLst>
              <a:ext uri="{FF2B5EF4-FFF2-40B4-BE49-F238E27FC236}">
                <a16:creationId xmlns:a16="http://schemas.microsoft.com/office/drawing/2014/main" id="{6A03A866-396B-6F25-98A0-078AFEA9843F}"/>
              </a:ext>
            </a:extLst>
          </p:cNvPr>
          <p:cNvSpPr>
            <a:spLocks noGrp="1"/>
          </p:cNvSpPr>
          <p:nvPr>
            <p:ph type="body" sz="quarter" idx="14"/>
          </p:nvPr>
        </p:nvSpPr>
        <p:spPr>
          <a:xfrm>
            <a:off x="1828800" y="1528763"/>
            <a:ext cx="8755380" cy="4237856"/>
          </a:xfrm>
        </p:spPr>
        <p:txBody>
          <a:bodyPr>
            <a:normAutofit/>
          </a:bodyPr>
          <a:lstStyle/>
          <a:p>
            <a:r>
              <a:rPr lang="en-US" sz="2400" dirty="0"/>
              <a:t>What worked? </a:t>
            </a:r>
          </a:p>
          <a:p>
            <a:endParaRPr lang="en-US" sz="2400" dirty="0"/>
          </a:p>
          <a:p>
            <a:r>
              <a:rPr lang="en-US" sz="2400" dirty="0"/>
              <a:t>How many ideas did you generate? </a:t>
            </a:r>
          </a:p>
          <a:p>
            <a:pPr lvl="1"/>
            <a:r>
              <a:rPr lang="en-US" sz="2400" dirty="0"/>
              <a:t>Are they correlated?</a:t>
            </a:r>
          </a:p>
          <a:p>
            <a:endParaRPr lang="en-US" sz="2400" dirty="0"/>
          </a:p>
          <a:p>
            <a:r>
              <a:rPr lang="en-US" sz="2400" dirty="0"/>
              <a:t>What uncertainty remains?</a:t>
            </a:r>
          </a:p>
          <a:p>
            <a:endParaRPr lang="en-US" sz="2400" dirty="0"/>
          </a:p>
          <a:p>
            <a:r>
              <a:rPr lang="en-US" sz="2400" dirty="0"/>
              <a:t>Do you have a project that you are excited to work on?</a:t>
            </a:r>
          </a:p>
        </p:txBody>
      </p:sp>
      <p:sp>
        <p:nvSpPr>
          <p:cNvPr id="5" name="Date Placeholder 4">
            <a:extLst>
              <a:ext uri="{FF2B5EF4-FFF2-40B4-BE49-F238E27FC236}">
                <a16:creationId xmlns:a16="http://schemas.microsoft.com/office/drawing/2014/main" id="{031B4E53-527A-7F21-E0D1-55A16A4EA868}"/>
              </a:ext>
            </a:extLst>
          </p:cNvPr>
          <p:cNvSpPr>
            <a:spLocks noGrp="1"/>
          </p:cNvSpPr>
          <p:nvPr>
            <p:ph type="dt" sz="half" idx="10"/>
          </p:nvPr>
        </p:nvSpPr>
        <p:spPr/>
        <p:txBody>
          <a:bodyPr/>
          <a:lstStyle/>
          <a:p>
            <a:fld id="{D47A9A36-4EB0-BF46-AE48-7CDA251B954B}" type="datetime1">
              <a:rPr lang="en-US" smtClean="0"/>
              <a:t>10/29/2025</a:t>
            </a:fld>
            <a:endParaRPr lang="en-US" dirty="0"/>
          </a:p>
        </p:txBody>
      </p:sp>
      <p:sp>
        <p:nvSpPr>
          <p:cNvPr id="6" name="Slide Number Placeholder 5">
            <a:extLst>
              <a:ext uri="{FF2B5EF4-FFF2-40B4-BE49-F238E27FC236}">
                <a16:creationId xmlns:a16="http://schemas.microsoft.com/office/drawing/2014/main" id="{1F73FA11-B896-4C2D-3B4E-1AB25EFB56DE}"/>
              </a:ext>
            </a:extLst>
          </p:cNvPr>
          <p:cNvSpPr>
            <a:spLocks noGrp="1"/>
          </p:cNvSpPr>
          <p:nvPr>
            <p:ph type="sldNum" sz="quarter" idx="12"/>
          </p:nvPr>
        </p:nvSpPr>
        <p:spPr/>
        <p:txBody>
          <a:bodyPr/>
          <a:lstStyle/>
          <a:p>
            <a:fld id="{8A7A6979-0714-4377-B894-6BE4C2D6E202}" type="slidenum">
              <a:rPr lang="en-US" smtClean="0"/>
              <a:pPr/>
              <a:t>29</a:t>
            </a:fld>
            <a:endParaRPr lang="en-US" dirty="0"/>
          </a:p>
        </p:txBody>
      </p:sp>
    </p:spTree>
    <p:extLst>
      <p:ext uri="{BB962C8B-B14F-4D97-AF65-F5344CB8AC3E}">
        <p14:creationId xmlns:p14="http://schemas.microsoft.com/office/powerpoint/2010/main" val="27877564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2B344-2312-7E7D-D05D-1ADE393EE6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78FD66-FBE5-7079-1786-3677F6C8CFFC}"/>
              </a:ext>
            </a:extLst>
          </p:cNvPr>
          <p:cNvSpPr>
            <a:spLocks noGrp="1"/>
          </p:cNvSpPr>
          <p:nvPr>
            <p:ph type="ctrTitle"/>
          </p:nvPr>
        </p:nvSpPr>
        <p:spPr>
          <a:xfrm>
            <a:off x="2647199" y="1501742"/>
            <a:ext cx="7300940" cy="664797"/>
          </a:xfrm>
        </p:spPr>
        <p:txBody>
          <a:bodyPr/>
          <a:lstStyle/>
          <a:p>
            <a:r>
              <a:rPr lang="en-US" dirty="0"/>
              <a:t>Questions</a:t>
            </a:r>
          </a:p>
        </p:txBody>
      </p:sp>
      <p:sp>
        <p:nvSpPr>
          <p:cNvPr id="4" name="Date Placeholder 3">
            <a:extLst>
              <a:ext uri="{FF2B5EF4-FFF2-40B4-BE49-F238E27FC236}">
                <a16:creationId xmlns:a16="http://schemas.microsoft.com/office/drawing/2014/main" id="{9EC8370A-9C19-ABC6-64B6-883D26B20AFA}"/>
              </a:ext>
            </a:extLst>
          </p:cNvPr>
          <p:cNvSpPr>
            <a:spLocks noGrp="1"/>
          </p:cNvSpPr>
          <p:nvPr>
            <p:ph type="dt" sz="half" idx="10"/>
          </p:nvPr>
        </p:nvSpPr>
        <p:spPr/>
        <p:txBody>
          <a:bodyPr/>
          <a:lstStyle/>
          <a:p>
            <a:fld id="{D47A9A36-4EB0-BF46-AE48-7CDA251B954B}" type="datetime1">
              <a:rPr lang="en-US" smtClean="0"/>
              <a:pPr/>
              <a:t>10/29/2025</a:t>
            </a:fld>
            <a:endParaRPr lang="en-US" dirty="0"/>
          </a:p>
        </p:txBody>
      </p:sp>
      <p:sp>
        <p:nvSpPr>
          <p:cNvPr id="5" name="Slide Number Placeholder 4">
            <a:extLst>
              <a:ext uri="{FF2B5EF4-FFF2-40B4-BE49-F238E27FC236}">
                <a16:creationId xmlns:a16="http://schemas.microsoft.com/office/drawing/2014/main" id="{BBDA88AB-5714-FB64-8876-3777EAFFCB83}"/>
              </a:ext>
            </a:extLst>
          </p:cNvPr>
          <p:cNvSpPr>
            <a:spLocks noGrp="1"/>
          </p:cNvSpPr>
          <p:nvPr>
            <p:ph type="sldNum" sz="quarter" idx="12"/>
          </p:nvPr>
        </p:nvSpPr>
        <p:spPr/>
        <p:txBody>
          <a:bodyPr/>
          <a:lstStyle/>
          <a:p>
            <a:fld id="{8A7A6979-0714-4377-B894-6BE4C2D6E202}" type="slidenum">
              <a:rPr lang="en-US" smtClean="0"/>
              <a:pPr/>
              <a:t>30</a:t>
            </a:fld>
            <a:endParaRPr lang="en-US" dirty="0"/>
          </a:p>
        </p:txBody>
      </p:sp>
    </p:spTree>
    <p:extLst>
      <p:ext uri="{BB962C8B-B14F-4D97-AF65-F5344CB8AC3E}">
        <p14:creationId xmlns:p14="http://schemas.microsoft.com/office/powerpoint/2010/main" val="310573975"/>
      </p:ext>
    </p:extLst>
  </p:cSld>
  <p:clrMapOvr>
    <a:masterClrMapping/>
  </p:clrMapOvr>
</p:sld>
</file>

<file path=ppt/theme/theme1.xml><?xml version="1.0" encoding="utf-8"?>
<a:theme xmlns:a="http://schemas.openxmlformats.org/drawingml/2006/main" name="Purdue2">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resentation1" id="{C3331F77-FEA5-BF47-A3F4-E4829FE02237}" vid="{60263B1E-E418-7448-9383-F855BEE649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Purdue2</Template>
  <TotalTime>24436</TotalTime>
  <Words>1307</Words>
  <Application>Microsoft Office PowerPoint</Application>
  <PresentationFormat>Widescreen</PresentationFormat>
  <Paragraphs>280</Paragraphs>
  <Slides>30</Slides>
  <Notes>28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30</vt:i4>
      </vt:variant>
    </vt:vector>
  </HeadingPairs>
  <TitlesOfParts>
    <vt:vector size="41" baseType="lpstr">
      <vt:lpstr>Impact</vt:lpstr>
      <vt:lpstr>Franklin Gothic Medium</vt:lpstr>
      <vt:lpstr>Wingdings</vt:lpstr>
      <vt:lpstr>Franklin Gothic Demi</vt:lpstr>
      <vt:lpstr>Franklin Gothic Book</vt:lpstr>
      <vt:lpstr>Arial</vt:lpstr>
      <vt:lpstr>United Sans Rg Md</vt:lpstr>
      <vt:lpstr>Acumin Pro</vt:lpstr>
      <vt:lpstr>Calibri</vt:lpstr>
      <vt:lpstr>Cambria Math</vt:lpstr>
      <vt:lpstr>Purdue2</vt:lpstr>
      <vt:lpstr>Digital Product design</vt:lpstr>
      <vt:lpstr>Outline</vt:lpstr>
      <vt:lpstr>Opportunity identification</vt:lpstr>
      <vt:lpstr>What is an Opportunity?</vt:lpstr>
      <vt:lpstr>Types of Opportunities</vt:lpstr>
      <vt:lpstr>Opportunity Portfolio</vt:lpstr>
      <vt:lpstr>Implications of Uncertainty in Payoffs</vt:lpstr>
      <vt:lpstr>Proof-by-Simulation</vt:lpstr>
      <vt:lpstr>Prefer Uncorrelated Ideas: Traditional Diversification</vt:lpstr>
      <vt:lpstr>Prefer Uncorrelated Ideas: Order Statistics</vt:lpstr>
      <vt:lpstr>Fat-Tailed Distributions</vt:lpstr>
      <vt:lpstr>Power Laws and Fat Tails</vt:lpstr>
      <vt:lpstr>Power Laws and Fat Tails, Continued</vt:lpstr>
      <vt:lpstr>Fat-Tails in Venture Capital</vt:lpstr>
      <vt:lpstr>Fat-Tails in Academic Citations</vt:lpstr>
      <vt:lpstr>Fat-Tails in Patent Citations</vt:lpstr>
      <vt:lpstr>Fat-Tails in Bing Experiments</vt:lpstr>
      <vt:lpstr>Takeaways</vt:lpstr>
      <vt:lpstr>Opportunity identification process</vt:lpstr>
      <vt:lpstr>Overview of Opportunity Identification Process</vt:lpstr>
      <vt:lpstr>Step 1 – Set Boundaries</vt:lpstr>
      <vt:lpstr>Step 2 – Generate Ideas</vt:lpstr>
      <vt:lpstr>Step 3 – Screen Opportunities</vt:lpstr>
      <vt:lpstr>Step 4 – Develop Opportunities</vt:lpstr>
      <vt:lpstr>Step 5 – Select Exceptional Opportunities</vt:lpstr>
      <vt:lpstr>Step 6 – Reflect</vt:lpstr>
      <vt:lpstr>Project Matching</vt:lpstr>
      <vt:lpstr>Project Matching + Ideation</vt:lpstr>
      <vt:lpstr>Share your Ideation Experience</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 Vernon Moehring</dc:creator>
  <cp:lastModifiedBy>Liz Benson</cp:lastModifiedBy>
  <cp:revision>2392</cp:revision>
  <dcterms:created xsi:type="dcterms:W3CDTF">2024-07-15T17:50:06Z</dcterms:created>
  <dcterms:modified xsi:type="dcterms:W3CDTF">2025-10-29T14:44:18Z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2023-02-01T19:33:41Z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1fcd283c-6b68-4694-bc56-c77c15714632</vt:lpwstr>
  </property>
  <property fmtid="{D5CDD505-2E9C-101B-9397-08002B2CF9AE}" pid="8" name="MSIP_Label_4044bd30-2ed7-4c9d-9d12-46200872a97b_ContentBits">
    <vt:lpwstr>0</vt:lpwstr>
  </property>
</Properties>
</file>