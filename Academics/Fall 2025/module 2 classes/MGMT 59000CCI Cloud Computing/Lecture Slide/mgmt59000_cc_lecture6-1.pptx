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4.xml" ContentType="application/vnd.openxmlformats-officedocument.presentationml.tags+xml"/>
  <Override PartName="/ppt/notesSlides/notesSlide1.xml" ContentType="application/vnd.openxmlformats-officedocument.presentationml.notesSlide+xml"/>
  <Override PartName="/ppt/tags/tag55.xml" ContentType="application/vnd.openxmlformats-officedocument.presentationml.tags+xml"/>
  <Override PartName="/ppt/notesSlides/notesSlide2.xml" ContentType="application/vnd.openxmlformats-officedocument.presentationml.notesSlide+xml"/>
  <Override PartName="/ppt/tags/tag56.xml" ContentType="application/vnd.openxmlformats-officedocument.presentationml.tags+xml"/>
  <Override PartName="/ppt/notesSlides/notesSlide3.xml" ContentType="application/vnd.openxmlformats-officedocument.presentationml.notesSlide+xml"/>
  <Override PartName="/ppt/tags/tag57.xml" ContentType="application/vnd.openxmlformats-officedocument.presentationml.tags+xml"/>
  <Override PartName="/ppt/notesSlides/notesSlide4.xml" ContentType="application/vnd.openxmlformats-officedocument.presentationml.notesSlide+xml"/>
  <Override PartName="/ppt/tags/tag58.xml" ContentType="application/vnd.openxmlformats-officedocument.presentationml.tags+xml"/>
  <Override PartName="/ppt/notesSlides/notesSlide5.xml" ContentType="application/vnd.openxmlformats-officedocument.presentationml.notesSlide+xml"/>
  <Override PartName="/ppt/tags/tag59.xml" ContentType="application/vnd.openxmlformats-officedocument.presentationml.tags+xml"/>
  <Override PartName="/ppt/notesSlides/notesSlide6.xml" ContentType="application/vnd.openxmlformats-officedocument.presentationml.notesSlide+xml"/>
  <Override PartName="/ppt/tags/tag60.xml" ContentType="application/vnd.openxmlformats-officedocument.presentationml.tags+xml"/>
  <Override PartName="/ppt/notesSlides/notesSlide7.xml" ContentType="application/vnd.openxmlformats-officedocument.presentationml.notesSlide+xml"/>
  <Override PartName="/ppt/tags/tag61.xml" ContentType="application/vnd.openxmlformats-officedocument.presentationml.tags+xml"/>
  <Override PartName="/ppt/notesSlides/notesSlide8.xml" ContentType="application/vnd.openxmlformats-officedocument.presentationml.notesSlide+xml"/>
  <Override PartName="/ppt/tags/tag62.xml" ContentType="application/vnd.openxmlformats-officedocument.presentationml.tags+xml"/>
  <Override PartName="/ppt/notesSlides/notesSlide9.xml" ContentType="application/vnd.openxmlformats-officedocument.presentationml.notesSlide+xml"/>
  <Override PartName="/ppt/tags/tag63.xml" ContentType="application/vnd.openxmlformats-officedocument.presentationml.tags+xml"/>
  <Override PartName="/ppt/notesSlides/notesSlide10.xml" ContentType="application/vnd.openxmlformats-officedocument.presentationml.notesSlide+xml"/>
  <Override PartName="/ppt/tags/tag64.xml" ContentType="application/vnd.openxmlformats-officedocument.presentationml.tags+xml"/>
  <Override PartName="/ppt/notesSlides/notesSlide11.xml" ContentType="application/vnd.openxmlformats-officedocument.presentationml.notesSlide+xml"/>
  <Override PartName="/ppt/tags/tag65.xml" ContentType="application/vnd.openxmlformats-officedocument.presentationml.tags+xml"/>
  <Override PartName="/ppt/notesSlides/notesSlide12.xml" ContentType="application/vnd.openxmlformats-officedocument.presentationml.notesSlide+xml"/>
  <Override PartName="/ppt/tags/tag66.xml" ContentType="application/vnd.openxmlformats-officedocument.presentationml.tags+xml"/>
  <Override PartName="/ppt/notesSlides/notesSlide13.xml" ContentType="application/vnd.openxmlformats-officedocument.presentationml.notesSlide+xml"/>
  <Override PartName="/ppt/tags/tag67.xml" ContentType="application/vnd.openxmlformats-officedocument.presentationml.tags+xml"/>
  <Override PartName="/ppt/notesSlides/notesSlide14.xml" ContentType="application/vnd.openxmlformats-officedocument.presentationml.notesSlide+xml"/>
  <Override PartName="/ppt/tags/tag68.xml" ContentType="application/vnd.openxmlformats-officedocument.presentationml.tags+xml"/>
  <Override PartName="/ppt/notesSlides/notesSlide15.xml" ContentType="application/vnd.openxmlformats-officedocument.presentationml.notesSlide+xml"/>
  <Override PartName="/ppt/tags/tag69.xml" ContentType="application/vnd.openxmlformats-officedocument.presentationml.tags+xml"/>
  <Override PartName="/ppt/notesSlides/notesSlide16.xml" ContentType="application/vnd.openxmlformats-officedocument.presentationml.notesSlide+xml"/>
  <Override PartName="/ppt/tags/tag70.xml" ContentType="application/vnd.openxmlformats-officedocument.presentationml.tags+xml"/>
  <Override PartName="/ppt/notesSlides/notesSlide17.xml" ContentType="application/vnd.openxmlformats-officedocument.presentationml.notesSlide+xml"/>
  <Override PartName="/ppt/tags/tag71.xml" ContentType="application/vnd.openxmlformats-officedocument.presentationml.tags+xml"/>
  <Override PartName="/ppt/notesSlides/notesSlide18.xml" ContentType="application/vnd.openxmlformats-officedocument.presentationml.notesSlide+xml"/>
  <Override PartName="/ppt/tags/tag72.xml" ContentType="application/vnd.openxmlformats-officedocument.presentationml.tags+xml"/>
  <Override PartName="/ppt/notesSlides/notesSlide19.xml" ContentType="application/vnd.openxmlformats-officedocument.presentationml.notesSlide+xml"/>
  <Override PartName="/ppt/tags/tag73.xml" ContentType="application/vnd.openxmlformats-officedocument.presentationml.tags+xml"/>
  <Override PartName="/ppt/notesSlides/notesSlide20.xml" ContentType="application/vnd.openxmlformats-officedocument.presentationml.notesSlide+xml"/>
  <Override PartName="/ppt/tags/tag74.xml" ContentType="application/vnd.openxmlformats-officedocument.presentationml.tags+xml"/>
  <Override PartName="/ppt/notesSlides/notesSlide21.xml" ContentType="application/vnd.openxmlformats-officedocument.presentationml.notesSlide+xml"/>
  <Override PartName="/ppt/tags/tag75.xml" ContentType="application/vnd.openxmlformats-officedocument.presentationml.tags+xml"/>
  <Override PartName="/ppt/notesSlides/notesSlide22.xml" ContentType="application/vnd.openxmlformats-officedocument.presentationml.notesSlide+xml"/>
  <Override PartName="/ppt/tags/tag76.xml" ContentType="application/vnd.openxmlformats-officedocument.presentationml.tags+xml"/>
  <Override PartName="/ppt/notesSlides/notesSlide23.xml" ContentType="application/vnd.openxmlformats-officedocument.presentationml.notesSlide+xml"/>
  <Override PartName="/ppt/tags/tag77.xml" ContentType="application/vnd.openxmlformats-officedocument.presentationml.tags+xml"/>
  <Override PartName="/ppt/notesSlides/notesSlide24.xml" ContentType="application/vnd.openxmlformats-officedocument.presentationml.notesSlide+xml"/>
  <Override PartName="/ppt/tags/tag78.xml" ContentType="application/vnd.openxmlformats-officedocument.presentationml.tags+xml"/>
  <Override PartName="/ppt/notesSlides/notesSlide25.xml" ContentType="application/vnd.openxmlformats-officedocument.presentationml.notesSlide+xml"/>
  <Override PartName="/ppt/tags/tag79.xml" ContentType="application/vnd.openxmlformats-officedocument.presentationml.tags+xml"/>
  <Override PartName="/ppt/notesSlides/notesSlide26.xml" ContentType="application/vnd.openxmlformats-officedocument.presentationml.notesSlide+xml"/>
  <Override PartName="/ppt/tags/tag80.xml" ContentType="application/vnd.openxmlformats-officedocument.presentationml.tags+xml"/>
  <Override PartName="/ppt/notesSlides/notesSlide27.xml" ContentType="application/vnd.openxmlformats-officedocument.presentationml.notesSlide+xml"/>
  <Override PartName="/ppt/tags/tag81.xml" ContentType="application/vnd.openxmlformats-officedocument.presentationml.tags+xml"/>
  <Override PartName="/ppt/notesSlides/notesSlide28.xml" ContentType="application/vnd.openxmlformats-officedocument.presentationml.notesSlide+xml"/>
  <Override PartName="/ppt/tags/tag82.xml" ContentType="application/vnd.openxmlformats-officedocument.presentationml.tags+xml"/>
  <Override PartName="/ppt/notesSlides/notesSlide29.xml" ContentType="application/vnd.openxmlformats-officedocument.presentationml.notesSlide+xml"/>
  <Override PartName="/ppt/tags/tag83.xml" ContentType="application/vnd.openxmlformats-officedocument.presentationml.tags+xml"/>
  <Override PartName="/ppt/notesSlides/notesSlide30.xml" ContentType="application/vnd.openxmlformats-officedocument.presentationml.notesSlide+xml"/>
  <Override PartName="/ppt/tags/tag84.xml" ContentType="application/vnd.openxmlformats-officedocument.presentationml.tags+xml"/>
  <Override PartName="/ppt/notesSlides/notesSlide31.xml" ContentType="application/vnd.openxmlformats-officedocument.presentationml.notesSlide+xml"/>
  <Override PartName="/ppt/tags/tag85.xml" ContentType="application/vnd.openxmlformats-officedocument.presentationml.tags+xml"/>
  <Override PartName="/ppt/notesSlides/notesSlide32.xml" ContentType="application/vnd.openxmlformats-officedocument.presentationml.notesSlide+xml"/>
  <Override PartName="/ppt/tags/tag86.xml" ContentType="application/vnd.openxmlformats-officedocument.presentationml.tags+xml"/>
  <Override PartName="/ppt/notesSlides/notesSlide33.xml" ContentType="application/vnd.openxmlformats-officedocument.presentationml.notesSlide+xml"/>
  <Override PartName="/ppt/tags/tag87.xml" ContentType="application/vnd.openxmlformats-officedocument.presentationml.tags+xml"/>
  <Override PartName="/ppt/notesSlides/notesSlide34.xml" ContentType="application/vnd.openxmlformats-officedocument.presentationml.notesSlide+xml"/>
  <Override PartName="/ppt/tags/tag88.xml" ContentType="application/vnd.openxmlformats-officedocument.presentationml.tags+xml"/>
  <Override PartName="/ppt/notesSlides/notesSlide35.xml" ContentType="application/vnd.openxmlformats-officedocument.presentationml.notesSlide+xml"/>
  <Override PartName="/ppt/tags/tag89.xml" ContentType="application/vnd.openxmlformats-officedocument.presentationml.tags+xml"/>
  <Override PartName="/ppt/notesSlides/notesSlide36.xml" ContentType="application/vnd.openxmlformats-officedocument.presentationml.notesSlide+xml"/>
  <Override PartName="/ppt/tags/tag90.xml" ContentType="application/vnd.openxmlformats-officedocument.presentationml.tags+xml"/>
  <Override PartName="/ppt/notesSlides/notesSlide37.xml" ContentType="application/vnd.openxmlformats-officedocument.presentationml.notesSlide+xml"/>
  <Override PartName="/ppt/tags/tag91.xml" ContentType="application/vnd.openxmlformats-officedocument.presentationml.tags+xml"/>
  <Override PartName="/ppt/notesSlides/notesSlide38.xml" ContentType="application/vnd.openxmlformats-officedocument.presentationml.notesSlide+xml"/>
  <Override PartName="/ppt/tags/tag92.xml" ContentType="application/vnd.openxmlformats-officedocument.presentationml.tags+xml"/>
  <Override PartName="/ppt/notesSlides/notesSlide39.xml" ContentType="application/vnd.openxmlformats-officedocument.presentationml.notesSlide+xml"/>
  <Override PartName="/ppt/tags/tag93.xml" ContentType="application/vnd.openxmlformats-officedocument.presentationml.tags+xml"/>
  <Override PartName="/ppt/notesSlides/notesSlide40.xml" ContentType="application/vnd.openxmlformats-officedocument.presentationml.notesSlide+xml"/>
  <Override PartName="/ppt/tags/tag94.xml" ContentType="application/vnd.openxmlformats-officedocument.presentationml.tags+xml"/>
  <Override PartName="/ppt/notesSlides/notesSlide41.xml" ContentType="application/vnd.openxmlformats-officedocument.presentationml.notesSlide+xml"/>
  <Override PartName="/ppt/tags/tag95.xml" ContentType="application/vnd.openxmlformats-officedocument.presentationml.tags+xml"/>
  <Override PartName="/ppt/notesSlides/notesSlide42.xml" ContentType="application/vnd.openxmlformats-officedocument.presentationml.notesSlide+xml"/>
  <Override PartName="/ppt/tags/tag96.xml" ContentType="application/vnd.openxmlformats-officedocument.presentationml.tags+xml"/>
  <Override PartName="/ppt/notesSlides/notesSlide43.xml" ContentType="application/vnd.openxmlformats-officedocument.presentationml.notesSlide+xml"/>
  <Override PartName="/ppt/tags/tag97.xml" ContentType="application/vnd.openxmlformats-officedocument.presentationml.tags+xml"/>
  <Override PartName="/ppt/notesSlides/notesSlide44.xml" ContentType="application/vnd.openxmlformats-officedocument.presentationml.notesSlide+xml"/>
  <Override PartName="/ppt/tags/tag98.xml" ContentType="application/vnd.openxmlformats-officedocument.presentationml.tags+xml"/>
  <Override PartName="/ppt/notesSlides/notesSlide45.xml" ContentType="application/vnd.openxmlformats-officedocument.presentationml.notesSlide+xml"/>
  <Override PartName="/ppt/tags/tag99.xml" ContentType="application/vnd.openxmlformats-officedocument.presentationml.tags+xml"/>
  <Override PartName="/ppt/notesSlides/notesSlide46.xml" ContentType="application/vnd.openxmlformats-officedocument.presentationml.notesSlide+xml"/>
  <Override PartName="/ppt/tags/tag100.xml" ContentType="application/vnd.openxmlformats-officedocument.presentationml.tags+xml"/>
  <Override PartName="/ppt/notesSlides/notesSlide47.xml" ContentType="application/vnd.openxmlformats-officedocument.presentationml.notesSlide+xml"/>
  <Override PartName="/ppt/tags/tag101.xml" ContentType="application/vnd.openxmlformats-officedocument.presentationml.tags+xml"/>
  <Override PartName="/ppt/notesSlides/notesSlide48.xml" ContentType="application/vnd.openxmlformats-officedocument.presentationml.notesSlide+xml"/>
  <Override PartName="/ppt/tags/tag102.xml" ContentType="application/vnd.openxmlformats-officedocument.presentationml.tags+xml"/>
  <Override PartName="/ppt/notesSlides/notesSlide49.xml" ContentType="application/vnd.openxmlformats-officedocument.presentationml.notesSlide+xml"/>
  <Override PartName="/ppt/tags/tag103.xml" ContentType="application/vnd.openxmlformats-officedocument.presentationml.tags+xml"/>
  <Override PartName="/ppt/notesSlides/notesSlide50.xml" ContentType="application/vnd.openxmlformats-officedocument.presentationml.notesSlide+xml"/>
  <Override PartName="/ppt/tags/tag104.xml" ContentType="application/vnd.openxmlformats-officedocument.presentationml.tags+xml"/>
  <Override PartName="/ppt/notesSlides/notesSlide51.xml" ContentType="application/vnd.openxmlformats-officedocument.presentationml.notesSlide+xml"/>
  <Override PartName="/ppt/tags/tag105.xml" ContentType="application/vnd.openxmlformats-officedocument.presentationml.tags+xml"/>
  <Override PartName="/ppt/notesSlides/notesSlide52.xml" ContentType="application/vnd.openxmlformats-officedocument.presentationml.notesSlide+xml"/>
  <Override PartName="/ppt/tags/tag106.xml" ContentType="application/vnd.openxmlformats-officedocument.presentationml.tags+xml"/>
  <Override PartName="/ppt/notesSlides/notesSlide53.xml" ContentType="application/vnd.openxmlformats-officedocument.presentationml.notesSlide+xml"/>
  <Override PartName="/ppt/tags/tag107.xml" ContentType="application/vnd.openxmlformats-officedocument.presentationml.tags+xml"/>
  <Override PartName="/ppt/notesSlides/notesSlide54.xml" ContentType="application/vnd.openxmlformats-officedocument.presentationml.notesSlide+xml"/>
  <Override PartName="/ppt/tags/tag108.xml" ContentType="application/vnd.openxmlformats-officedocument.presentationml.tags+xml"/>
  <Override PartName="/ppt/notesSlides/notesSlide55.xml" ContentType="application/vnd.openxmlformats-officedocument.presentationml.notesSlide+xml"/>
  <Override PartName="/ppt/tags/tag109.xml" ContentType="application/vnd.openxmlformats-officedocument.presentationml.tags+xml"/>
  <Override PartName="/ppt/notesSlides/notesSlide56.xml" ContentType="application/vnd.openxmlformats-officedocument.presentationml.notesSlide+xml"/>
  <Override PartName="/ppt/tags/tag110.xml" ContentType="application/vnd.openxmlformats-officedocument.presentationml.tags+xml"/>
  <Override PartName="/ppt/notesSlides/notesSlide57.xml" ContentType="application/vnd.openxmlformats-officedocument.presentationml.notesSlide+xml"/>
  <Override PartName="/ppt/tags/tag111.xml" ContentType="application/vnd.openxmlformats-officedocument.presentationml.tags+xml"/>
  <Override PartName="/ppt/notesSlides/notesSlide58.xml" ContentType="application/vnd.openxmlformats-officedocument.presentationml.notesSlide+xml"/>
  <Override PartName="/ppt/tags/tag112.xml" ContentType="application/vnd.openxmlformats-officedocument.presentationml.tags+xml"/>
  <Override PartName="/ppt/notesSlides/notesSlide59.xml" ContentType="application/vnd.openxmlformats-officedocument.presentationml.notesSlide+xml"/>
  <Override PartName="/ppt/tags/tag113.xml" ContentType="application/vnd.openxmlformats-officedocument.presentationml.tags+xml"/>
  <Override PartName="/ppt/notesSlides/notesSlide60.xml" ContentType="application/vnd.openxmlformats-officedocument.presentationml.notesSlide+xml"/>
  <Override PartName="/ppt/tags/tag114.xml" ContentType="application/vnd.openxmlformats-officedocument.presentationml.tags+xml"/>
  <Override PartName="/ppt/notesSlides/notesSlide61.xml" ContentType="application/vnd.openxmlformats-officedocument.presentationml.notesSlide+xml"/>
  <Override PartName="/ppt/tags/tag115.xml" ContentType="application/vnd.openxmlformats-officedocument.presentationml.tags+xml"/>
  <Override PartName="/ppt/notesSlides/notesSlide62.xml" ContentType="application/vnd.openxmlformats-officedocument.presentationml.notesSlide+xml"/>
  <Override PartName="/ppt/tags/tag116.xml" ContentType="application/vnd.openxmlformats-officedocument.presentationml.tags+xml"/>
  <Override PartName="/ppt/notesSlides/notesSlide63.xml" ContentType="application/vnd.openxmlformats-officedocument.presentationml.notesSlide+xml"/>
  <Override PartName="/ppt/tags/tag117.xml" ContentType="application/vnd.openxmlformats-officedocument.presentationml.tags+xml"/>
  <Override PartName="/ppt/notesSlides/notesSlide64.xml" ContentType="application/vnd.openxmlformats-officedocument.presentationml.notesSlide+xml"/>
  <Override PartName="/ppt/tags/tag118.xml" ContentType="application/vnd.openxmlformats-officedocument.presentationml.tags+xml"/>
  <Override PartName="/ppt/notesSlides/notesSlide65.xml" ContentType="application/vnd.openxmlformats-officedocument.presentationml.notesSlide+xml"/>
  <Override PartName="/ppt/tags/tag119.xml" ContentType="application/vnd.openxmlformats-officedocument.presentationml.tags+xml"/>
  <Override PartName="/ppt/notesSlides/notesSlide66.xml" ContentType="application/vnd.openxmlformats-officedocument.presentationml.notesSlide+xml"/>
  <Override PartName="/ppt/tags/tag120.xml" ContentType="application/vnd.openxmlformats-officedocument.presentationml.tags+xml"/>
  <Override PartName="/ppt/notesSlides/notesSlide67.xml" ContentType="application/vnd.openxmlformats-officedocument.presentationml.notesSlide+xml"/>
  <Override PartName="/ppt/tags/tag121.xml" ContentType="application/vnd.openxmlformats-officedocument.presentationml.tags+xml"/>
  <Override PartName="/ppt/notesSlides/notesSlide68.xml" ContentType="application/vnd.openxmlformats-officedocument.presentationml.notesSlide+xml"/>
  <Override PartName="/ppt/tags/tag122.xml" ContentType="application/vnd.openxmlformats-officedocument.presentationml.tags+xml"/>
  <Override PartName="/ppt/notesSlides/notesSlide69.xml" ContentType="application/vnd.openxmlformats-officedocument.presentationml.notesSlide+xml"/>
  <Override PartName="/ppt/tags/tag123.xml" ContentType="application/vnd.openxmlformats-officedocument.presentationml.tags+xml"/>
  <Override PartName="/ppt/notesSlides/notesSlide70.xml" ContentType="application/vnd.openxmlformats-officedocument.presentationml.notesSlide+xml"/>
  <Override PartName="/ppt/tags/tag124.xml" ContentType="application/vnd.openxmlformats-officedocument.presentationml.tags+xml"/>
  <Override PartName="/ppt/notesSlides/notesSlide71.xml" ContentType="application/vnd.openxmlformats-officedocument.presentationml.notesSlide+xml"/>
  <Override PartName="/ppt/tags/tag125.xml" ContentType="application/vnd.openxmlformats-officedocument.presentationml.tags+xml"/>
  <Override PartName="/ppt/notesSlides/notesSlide72.xml" ContentType="application/vnd.openxmlformats-officedocument.presentationml.notesSlide+xml"/>
  <Override PartName="/ppt/tags/tag126.xml" ContentType="application/vnd.openxmlformats-officedocument.presentationml.tags+xml"/>
  <Override PartName="/ppt/notesSlides/notesSlide73.xml" ContentType="application/vnd.openxmlformats-officedocument.presentationml.notesSlide+xml"/>
  <Override PartName="/ppt/tags/tag127.xml" ContentType="application/vnd.openxmlformats-officedocument.presentationml.tags+xml"/>
  <Override PartName="/ppt/notesSlides/notesSlide74.xml" ContentType="application/vnd.openxmlformats-officedocument.presentationml.notesSlide+xml"/>
  <Override PartName="/ppt/tags/tag128.xml" ContentType="application/vnd.openxmlformats-officedocument.presentationml.tags+xml"/>
  <Override PartName="/ppt/notesSlides/notesSlide75.xml" ContentType="application/vnd.openxmlformats-officedocument.presentationml.notesSlide+xml"/>
  <Override PartName="/ppt/tags/tag129.xml" ContentType="application/vnd.openxmlformats-officedocument.presentationml.tags+xml"/>
  <Override PartName="/ppt/notesSlides/notesSlide76.xml" ContentType="application/vnd.openxmlformats-officedocument.presentationml.notesSlide+xml"/>
  <Override PartName="/ppt/tags/tag130.xml" ContentType="application/vnd.openxmlformats-officedocument.presentationml.tags+xml"/>
  <Override PartName="/ppt/notesSlides/notesSlide77.xml" ContentType="application/vnd.openxmlformats-officedocument.presentationml.notesSlide+xml"/>
  <Override PartName="/ppt/tags/tag131.xml" ContentType="application/vnd.openxmlformats-officedocument.presentationml.tags+xml"/>
  <Override PartName="/ppt/notesSlides/notesSlide78.xml" ContentType="application/vnd.openxmlformats-officedocument.presentationml.notesSlide+xml"/>
  <Override PartName="/ppt/tags/tag132.xml" ContentType="application/vnd.openxmlformats-officedocument.presentationml.tags+xml"/>
  <Override PartName="/ppt/notesSlides/notesSlide79.xml" ContentType="application/vnd.openxmlformats-officedocument.presentationml.notesSlide+xml"/>
  <Override PartName="/ppt/tags/tag133.xml" ContentType="application/vnd.openxmlformats-officedocument.presentationml.tags+xml"/>
  <Override PartName="/ppt/notesSlides/notesSlide80.xml" ContentType="application/vnd.openxmlformats-officedocument.presentationml.notesSlide+xml"/>
  <Override PartName="/ppt/tags/tag134.xml" ContentType="application/vnd.openxmlformats-officedocument.presentationml.tags+xml"/>
  <Override PartName="/ppt/notesSlides/notesSlide81.xml" ContentType="application/vnd.openxmlformats-officedocument.presentationml.notesSlide+xml"/>
  <Override PartName="/ppt/tags/tag135.xml" ContentType="application/vnd.openxmlformats-officedocument.presentationml.tags+xml"/>
  <Override PartName="/ppt/notesSlides/notesSlide82.xml" ContentType="application/vnd.openxmlformats-officedocument.presentationml.notesSlide+xml"/>
  <Override PartName="/ppt/tags/tag136.xml" ContentType="application/vnd.openxmlformats-officedocument.presentationml.tags+xml"/>
  <Override PartName="/ppt/notesSlides/notesSlide83.xml" ContentType="application/vnd.openxmlformats-officedocument.presentationml.notesSlide+xml"/>
  <Override PartName="/ppt/tags/tag137.xml" ContentType="application/vnd.openxmlformats-officedocument.presentationml.tags+xml"/>
  <Override PartName="/ppt/notesSlides/notesSlide84.xml" ContentType="application/vnd.openxmlformats-officedocument.presentationml.notesSlide+xml"/>
  <Override PartName="/ppt/tags/tag138.xml" ContentType="application/vnd.openxmlformats-officedocument.presentationml.tags+xml"/>
  <Override PartName="/ppt/notesSlides/notesSlide85.xml" ContentType="application/vnd.openxmlformats-officedocument.presentationml.notesSlide+xml"/>
  <Override PartName="/ppt/tags/tag139.xml" ContentType="application/vnd.openxmlformats-officedocument.presentationml.tags+xml"/>
  <Override PartName="/ppt/notesSlides/notesSlide8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8" r:id="rId4"/>
  </p:sldMasterIdLst>
  <p:notesMasterIdLst>
    <p:notesMasterId r:id="rId93"/>
  </p:notesMasterIdLst>
  <p:handoutMasterIdLst>
    <p:handoutMasterId r:id="rId94"/>
  </p:handoutMasterIdLst>
  <p:sldIdLst>
    <p:sldId id="430" r:id="rId5"/>
    <p:sldId id="635" r:id="rId6"/>
    <p:sldId id="624" r:id="rId7"/>
    <p:sldId id="313" r:id="rId8"/>
    <p:sldId id="630" r:id="rId9"/>
    <p:sldId id="319" r:id="rId10"/>
    <p:sldId id="320" r:id="rId11"/>
    <p:sldId id="321" r:id="rId12"/>
    <p:sldId id="322" r:id="rId13"/>
    <p:sldId id="323" r:id="rId14"/>
    <p:sldId id="625" r:id="rId15"/>
    <p:sldId id="633" r:id="rId16"/>
    <p:sldId id="314" r:id="rId17"/>
    <p:sldId id="369" r:id="rId18"/>
    <p:sldId id="526" r:id="rId19"/>
    <p:sldId id="840" r:id="rId20"/>
    <p:sldId id="626" r:id="rId21"/>
    <p:sldId id="509" r:id="rId22"/>
    <p:sldId id="510" r:id="rId23"/>
    <p:sldId id="511" r:id="rId24"/>
    <p:sldId id="371" r:id="rId25"/>
    <p:sldId id="317" r:id="rId26"/>
    <p:sldId id="425" r:id="rId27"/>
    <p:sldId id="627" r:id="rId28"/>
    <p:sldId id="647" r:id="rId29"/>
    <p:sldId id="637" r:id="rId30"/>
    <p:sldId id="324" r:id="rId31"/>
    <p:sldId id="325" r:id="rId32"/>
    <p:sldId id="326" r:id="rId33"/>
    <p:sldId id="328" r:id="rId34"/>
    <p:sldId id="327" r:id="rId35"/>
    <p:sldId id="648" r:id="rId36"/>
    <p:sldId id="904" r:id="rId37"/>
    <p:sldId id="638" r:id="rId38"/>
    <p:sldId id="329" r:id="rId39"/>
    <p:sldId id="330" r:id="rId40"/>
    <p:sldId id="373" r:id="rId41"/>
    <p:sldId id="374" r:id="rId42"/>
    <p:sldId id="515" r:id="rId43"/>
    <p:sldId id="331" r:id="rId44"/>
    <p:sldId id="516" r:id="rId45"/>
    <p:sldId id="649" r:id="rId46"/>
    <p:sldId id="863" r:id="rId47"/>
    <p:sldId id="345" r:id="rId48"/>
    <p:sldId id="869" r:id="rId49"/>
    <p:sldId id="629" r:id="rId50"/>
    <p:sldId id="870" r:id="rId51"/>
    <p:sldId id="631" r:id="rId52"/>
    <p:sldId id="333" r:id="rId53"/>
    <p:sldId id="871" r:id="rId54"/>
    <p:sldId id="522" r:id="rId55"/>
    <p:sldId id="872" r:id="rId56"/>
    <p:sldId id="542" r:id="rId57"/>
    <p:sldId id="523" r:id="rId58"/>
    <p:sldId id="488" r:id="rId59"/>
    <p:sldId id="489" r:id="rId60"/>
    <p:sldId id="490" r:id="rId61"/>
    <p:sldId id="888" r:id="rId62"/>
    <p:sldId id="492" r:id="rId63"/>
    <p:sldId id="437" r:id="rId64"/>
    <p:sldId id="335" r:id="rId65"/>
    <p:sldId id="642" r:id="rId66"/>
    <p:sldId id="632" r:id="rId67"/>
    <p:sldId id="410" r:id="rId68"/>
    <p:sldId id="884" r:id="rId69"/>
    <p:sldId id="556" r:id="rId70"/>
    <p:sldId id="441" r:id="rId71"/>
    <p:sldId id="442" r:id="rId72"/>
    <p:sldId id="894" r:id="rId73"/>
    <p:sldId id="895" r:id="rId74"/>
    <p:sldId id="530" r:id="rId75"/>
    <p:sldId id="531" r:id="rId76"/>
    <p:sldId id="534" r:id="rId77"/>
    <p:sldId id="535" r:id="rId78"/>
    <p:sldId id="536" r:id="rId79"/>
    <p:sldId id="532" r:id="rId80"/>
    <p:sldId id="538" r:id="rId81"/>
    <p:sldId id="896" r:id="rId82"/>
    <p:sldId id="634" r:id="rId83"/>
    <p:sldId id="885" r:id="rId84"/>
    <p:sldId id="541" r:id="rId85"/>
    <p:sldId id="544" r:id="rId86"/>
    <p:sldId id="641" r:id="rId87"/>
    <p:sldId id="537" r:id="rId88"/>
    <p:sldId id="905" r:id="rId89"/>
    <p:sldId id="883" r:id="rId90"/>
    <p:sldId id="899" r:id="rId91"/>
    <p:sldId id="903" r:id="rId92"/>
  </p:sldIdLst>
  <p:sldSz cx="12192000" cy="6858000"/>
  <p:notesSz cx="7772400" cy="10058400"/>
  <p:custDataLst>
    <p:tags r:id="rId95"/>
  </p:custDataLst>
  <p:defaultTextStyle>
    <a:defPPr>
      <a:defRPr lang="en-US"/>
    </a:defPPr>
    <a:lvl1pPr marL="0" algn="l" defTabSz="228600" rtl="0" eaLnBrk="1" latinLnBrk="0" hangingPunct="1">
      <a:defRPr sz="1800" kern="1200">
        <a:solidFill>
          <a:schemeClr val="tx1"/>
        </a:solidFill>
        <a:latin typeface="+mn-lt"/>
        <a:ea typeface="+mn-ea"/>
        <a:cs typeface="+mn-cs"/>
      </a:defRPr>
    </a:lvl1pPr>
    <a:lvl2pPr marL="228600" algn="l" defTabSz="228600" rtl="0" eaLnBrk="1" latinLnBrk="0" hangingPunct="1">
      <a:defRPr sz="1800" kern="1200">
        <a:solidFill>
          <a:schemeClr val="tx1"/>
        </a:solidFill>
        <a:latin typeface="+mn-lt"/>
        <a:ea typeface="+mn-ea"/>
        <a:cs typeface="+mn-cs"/>
      </a:defRPr>
    </a:lvl2pPr>
    <a:lvl3pPr marL="457200" algn="l" defTabSz="228600" rtl="0" eaLnBrk="1" latinLnBrk="0" hangingPunct="1">
      <a:defRPr sz="1800" kern="1200">
        <a:solidFill>
          <a:schemeClr val="tx1"/>
        </a:solidFill>
        <a:latin typeface="+mn-lt"/>
        <a:ea typeface="+mn-ea"/>
        <a:cs typeface="+mn-cs"/>
      </a:defRPr>
    </a:lvl3pPr>
    <a:lvl4pPr marL="685800" algn="l" defTabSz="228600" rtl="0" eaLnBrk="1" latinLnBrk="0" hangingPunct="1">
      <a:defRPr sz="1800" kern="1200">
        <a:solidFill>
          <a:schemeClr val="tx1"/>
        </a:solidFill>
        <a:latin typeface="+mn-lt"/>
        <a:ea typeface="+mn-ea"/>
        <a:cs typeface="+mn-cs"/>
      </a:defRPr>
    </a:lvl4pPr>
    <a:lvl5pPr marL="914400" algn="l" defTabSz="228600" rtl="0" eaLnBrk="1" latinLnBrk="0" hangingPunct="1">
      <a:defRPr sz="1800" kern="1200">
        <a:solidFill>
          <a:schemeClr val="tx1"/>
        </a:solidFill>
        <a:latin typeface="+mn-lt"/>
        <a:ea typeface="+mn-ea"/>
        <a:cs typeface="+mn-cs"/>
      </a:defRPr>
    </a:lvl5pPr>
    <a:lvl6pPr marL="1143000" algn="l" defTabSz="228600" rtl="0" eaLnBrk="1" latinLnBrk="0" hangingPunct="1">
      <a:defRPr sz="1800" kern="1200">
        <a:solidFill>
          <a:schemeClr val="tx1"/>
        </a:solidFill>
        <a:latin typeface="+mn-lt"/>
        <a:ea typeface="+mn-ea"/>
        <a:cs typeface="+mn-cs"/>
      </a:defRPr>
    </a:lvl6pPr>
    <a:lvl7pPr marL="1371600" algn="l" defTabSz="228600" rtl="0" eaLnBrk="1" latinLnBrk="0" hangingPunct="1">
      <a:defRPr sz="1800" kern="1200">
        <a:solidFill>
          <a:schemeClr val="tx1"/>
        </a:solidFill>
        <a:latin typeface="+mn-lt"/>
        <a:ea typeface="+mn-ea"/>
        <a:cs typeface="+mn-cs"/>
      </a:defRPr>
    </a:lvl7pPr>
    <a:lvl8pPr marL="1600200" algn="l" defTabSz="228600" rtl="0" eaLnBrk="1" latinLnBrk="0" hangingPunct="1">
      <a:defRPr sz="1800" kern="1200">
        <a:solidFill>
          <a:schemeClr val="tx1"/>
        </a:solidFill>
        <a:latin typeface="+mn-lt"/>
        <a:ea typeface="+mn-ea"/>
        <a:cs typeface="+mn-cs"/>
      </a:defRPr>
    </a:lvl8pPr>
    <a:lvl9pPr marL="1828800" algn="l" defTabSz="2286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Intro" id="{3DB1B1F6-80DB-48D7-AB4B-279C048000D5}">
          <p14:sldIdLst>
            <p14:sldId id="430"/>
            <p14:sldId id="635"/>
            <p14:sldId id="624"/>
            <p14:sldId id="313"/>
          </p14:sldIdLst>
        </p14:section>
        <p14:section name="Section 1: Amazon Elastic Block Store" id="{1224743F-B8BE-47A1-B41A-AC1C8AD5C9CA}">
          <p14:sldIdLst>
            <p14:sldId id="630"/>
            <p14:sldId id="319"/>
            <p14:sldId id="320"/>
            <p14:sldId id="321"/>
            <p14:sldId id="322"/>
            <p14:sldId id="323"/>
            <p14:sldId id="625"/>
          </p14:sldIdLst>
        </p14:section>
        <p14:section name="Section 2: Amazon Simple Storage Service" id="{25EE441D-4D5E-48D1-A6FE-2D146515A1D6}">
          <p14:sldIdLst>
            <p14:sldId id="633"/>
            <p14:sldId id="314"/>
            <p14:sldId id="369"/>
            <p14:sldId id="526"/>
            <p14:sldId id="840"/>
            <p14:sldId id="626"/>
            <p14:sldId id="509"/>
            <p14:sldId id="510"/>
            <p14:sldId id="511"/>
            <p14:sldId id="371"/>
            <p14:sldId id="317"/>
            <p14:sldId id="425"/>
            <p14:sldId id="627"/>
            <p14:sldId id="647"/>
          </p14:sldIdLst>
        </p14:section>
        <p14:section name="Section 3: Amazon Elastic File System" id="{4F98B8FD-D7AE-4755-8184-089A0B883F76}">
          <p14:sldIdLst>
            <p14:sldId id="637"/>
            <p14:sldId id="324"/>
            <p14:sldId id="325"/>
            <p14:sldId id="326"/>
            <p14:sldId id="328"/>
            <p14:sldId id="327"/>
            <p14:sldId id="648"/>
            <p14:sldId id="904"/>
          </p14:sldIdLst>
        </p14:section>
        <p14:section name="Section 4: Amazon Glacier" id="{F9D53ABB-2AF1-4CCF-AC9A-6EDDC5C45F49}">
          <p14:sldIdLst>
            <p14:sldId id="638"/>
            <p14:sldId id="329"/>
            <p14:sldId id="330"/>
            <p14:sldId id="373"/>
            <p14:sldId id="374"/>
            <p14:sldId id="515"/>
            <p14:sldId id="331"/>
            <p14:sldId id="516"/>
            <p14:sldId id="649"/>
          </p14:sldIdLst>
        </p14:section>
        <p14:section name="Module Wrap up" id="{1A863E8F-7CBF-400F-952E-8947646B9EAB}">
          <p14:sldIdLst>
            <p14:sldId id="863"/>
            <p14:sldId id="345"/>
            <p14:sldId id="869"/>
            <p14:sldId id="629"/>
            <p14:sldId id="870"/>
            <p14:sldId id="631"/>
            <p14:sldId id="333"/>
            <p14:sldId id="871"/>
            <p14:sldId id="522"/>
            <p14:sldId id="872"/>
            <p14:sldId id="542"/>
            <p14:sldId id="523"/>
            <p14:sldId id="488"/>
            <p14:sldId id="489"/>
            <p14:sldId id="490"/>
            <p14:sldId id="888"/>
            <p14:sldId id="492"/>
            <p14:sldId id="437"/>
            <p14:sldId id="335"/>
            <p14:sldId id="642"/>
            <p14:sldId id="632"/>
            <p14:sldId id="410"/>
            <p14:sldId id="884"/>
            <p14:sldId id="556"/>
            <p14:sldId id="441"/>
            <p14:sldId id="442"/>
            <p14:sldId id="894"/>
            <p14:sldId id="895"/>
            <p14:sldId id="530"/>
            <p14:sldId id="531"/>
            <p14:sldId id="534"/>
            <p14:sldId id="535"/>
            <p14:sldId id="536"/>
            <p14:sldId id="532"/>
            <p14:sldId id="538"/>
            <p14:sldId id="896"/>
            <p14:sldId id="634"/>
            <p14:sldId id="885"/>
            <p14:sldId id="541"/>
            <p14:sldId id="544"/>
            <p14:sldId id="641"/>
            <p14:sldId id="537"/>
            <p14:sldId id="905"/>
            <p14:sldId id="883"/>
            <p14:sldId id="899"/>
            <p14:sldId id="90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ing, Katrina" initials="SK" lastIdx="9" clrIdx="0">
    <p:extLst>
      <p:ext uri="{19B8F6BF-5375-455C-9EA6-DF929625EA0E}">
        <p15:presenceInfo xmlns:p15="http://schemas.microsoft.com/office/powerpoint/2012/main" userId="S-1-5-21-1407069837-2091007605-538272213-31813507" providerId="AD"/>
      </p:ext>
    </p:extLst>
  </p:cmAuthor>
  <p:cmAuthor id="2" name="Raymond, Patty" initials="RP" lastIdx="2" clrIdx="1">
    <p:extLst>
      <p:ext uri="{19B8F6BF-5375-455C-9EA6-DF929625EA0E}">
        <p15:presenceInfo xmlns:p15="http://schemas.microsoft.com/office/powerpoint/2012/main" userId="S-1-5-21-1407069837-2091007605-538272213-2935585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4AC9CB-8B56-FE41-A9C8-0412968908A7}" v="16" dt="2025-09-28T16:46:57.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9592" autoAdjust="0"/>
  </p:normalViewPr>
  <p:slideViewPr>
    <p:cSldViewPr snapToGrid="0">
      <p:cViewPr varScale="1">
        <p:scale>
          <a:sx n="73" d="100"/>
          <a:sy n="73" d="100"/>
        </p:scale>
        <p:origin x="2616" y="192"/>
      </p:cViewPr>
      <p:guideLst/>
    </p:cSldViewPr>
  </p:slideViewPr>
  <p:notesTextViewPr>
    <p:cViewPr>
      <p:scale>
        <a:sx n="1" d="1"/>
        <a:sy n="1" d="1"/>
      </p:scale>
      <p:origin x="0" y="0"/>
    </p:cViewPr>
  </p:notesTextViewPr>
  <p:notesViewPr>
    <p:cSldViewPr snapToGrid="0">
      <p:cViewPr>
        <p:scale>
          <a:sx n="100" d="100"/>
          <a:sy n="100" d="100"/>
        </p:scale>
        <p:origin x="1190" y="-284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ags" Target="tags/tag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handoutMaster" Target="handoutMasters/handoutMaster1.xml"/><Relationship Id="rId99" Type="http://schemas.openxmlformats.org/officeDocument/2006/relationships/theme" Target="theme/theme1.xml"/><Relationship Id="rId10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notesMaster" Target="notesMasters/notesMaster1.xml"/><Relationship Id="rId98" Type="http://schemas.openxmlformats.org/officeDocument/2006/relationships/viewProps" Target="viewProps.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C71C26-B7E3-40D9-AFFC-56E1F3330FC0}"/>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354C10F-87CF-4634-B8A1-405F2079FC0A}"/>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287BC065-D7D7-4497-9D0A-D0D4CA488C61}" type="datetimeFigureOut">
              <a:rPr lang="en-US" smtClean="0"/>
              <a:t>9/28/25</a:t>
            </a:fld>
            <a:endParaRPr lang="en-US"/>
          </a:p>
        </p:txBody>
      </p:sp>
      <p:sp>
        <p:nvSpPr>
          <p:cNvPr id="4" name="Footer Placeholder 3">
            <a:extLst>
              <a:ext uri="{FF2B5EF4-FFF2-40B4-BE49-F238E27FC236}">
                <a16:creationId xmlns:a16="http://schemas.microsoft.com/office/drawing/2014/main" id="{C12E5DC8-58CF-4AB2-B263-F2D72A48CB76}"/>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01750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0EC29ED2-9DB7-4FC7-8D07-964CD0E5B663}" type="datetimeFigureOut">
              <a:rPr lang="en-US" smtClean="0"/>
              <a:t>9/28/25</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B4B52809-B5B7-4F41-8876-28A8C75C3ECB}" type="slidenum">
              <a:rPr lang="en-US" smtClean="0"/>
              <a:t>‹#›</a:t>
            </a:fld>
            <a:endParaRPr lang="en-US"/>
          </a:p>
        </p:txBody>
      </p:sp>
    </p:spTree>
    <p:extLst>
      <p:ext uri="{BB962C8B-B14F-4D97-AF65-F5344CB8AC3E}">
        <p14:creationId xmlns:p14="http://schemas.microsoft.com/office/powerpoint/2010/main" val="336884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aws.amazon.com/AWSEC2/latest/UserGuide/ebs-volume-types.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aws.amazon.com/AmazonS3/latest/dev/storage-class-intro.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aws.amazon.com/s3/"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aws.amazon.com/efs/"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docs.aws.amazon.com/AmazonS3/latest/dev/object-lifecycle-mgmt.html"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aws.amazon.com/glacier/"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docs.aws.amazon.com/amazondynamodb/latest/developerguide/HowItWorks.CoreComponents.html#HowItWorks.CoreComponents.TablesItemsAttributes" TargetMode="External"/><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aws.amazon.com/redshift/" TargetMode="External"/><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3" Type="http://schemas.openxmlformats.org/officeDocument/2006/relationships/hyperlink" Target="https://aws.amazon.com/rds/aurora/" TargetMode="External"/><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Welcome to Module 7: Storage.</a:t>
            </a:r>
          </a:p>
        </p:txBody>
      </p:sp>
      <p:sp>
        <p:nvSpPr>
          <p:cNvPr id="5" name="Slide Image Placeholder 4">
            <a:extLst>
              <a:ext uri="{FF2B5EF4-FFF2-40B4-BE49-F238E27FC236}">
                <a16:creationId xmlns:a16="http://schemas.microsoft.com/office/drawing/2014/main" id="{C9D22231-F706-B783-423D-EB6679DAAB4C}"/>
              </a:ext>
            </a:extLst>
          </p:cNvPr>
          <p:cNvSpPr>
            <a:spLocks noGrp="1" noRot="1" noChangeAspect="1"/>
          </p:cNvSpPr>
          <p:nvPr>
            <p:ph type="sldImg"/>
          </p:nvPr>
        </p:nvSpPr>
        <p:spPr/>
      </p:sp>
    </p:spTree>
    <p:extLst>
      <p:ext uri="{BB962C8B-B14F-4D97-AF65-F5344CB8AC3E}">
        <p14:creationId xmlns:p14="http://schemas.microsoft.com/office/powerpoint/2010/main" val="1736860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627562"/>
          </a:xfrm>
        </p:spPr>
        <p:txBody>
          <a:bodyPr/>
          <a:lstStyle/>
          <a:p>
            <a:r>
              <a:rPr lang="en-US" dirty="0"/>
              <a:t>Cloud storage is typically more reliable, scalable, and secure than traditional on-premises storage systems. Cloud storage is a critical component of cloud computing because it holds the information that applications use. Big data analytics, data warehouses, the Internet of Things (IoT), databases, and backup and archive applications all rely on some form of data storage architecture. </a:t>
            </a:r>
          </a:p>
          <a:p>
            <a:endParaRPr lang="en-US" dirty="0"/>
          </a:p>
          <a:p>
            <a:r>
              <a:rPr lang="en-US" dirty="0"/>
              <a:t>This module addresses the following topics:</a:t>
            </a:r>
          </a:p>
          <a:p>
            <a:pPr marL="171450" indent="-171450">
              <a:buFont typeface="Arial" panose="020B0604020202020204" pitchFamily="34" charset="0"/>
              <a:buChar char="•"/>
            </a:pPr>
            <a:r>
              <a:rPr lang="en-US" dirty="0"/>
              <a:t>Amazon Elastic Block Store (Amazon EBS)</a:t>
            </a:r>
          </a:p>
          <a:p>
            <a:pPr marL="171450" indent="-171450">
              <a:buFont typeface="Arial" panose="020B0604020202020204" pitchFamily="34" charset="0"/>
              <a:buChar char="•"/>
            </a:pPr>
            <a:r>
              <a:rPr lang="en-US" dirty="0"/>
              <a:t>Amazon Simple Storage Service (Amazon S3)</a:t>
            </a:r>
          </a:p>
          <a:p>
            <a:pPr marL="171450" indent="-171450">
              <a:buFont typeface="Arial" panose="020B0604020202020204" pitchFamily="34" charset="0"/>
              <a:buChar char="•"/>
            </a:pPr>
            <a:r>
              <a:rPr lang="en-US" dirty="0"/>
              <a:t>Amazon Elastic File System (Amazon EFS)</a:t>
            </a:r>
          </a:p>
          <a:p>
            <a:pPr marL="171450" indent="-171450">
              <a:buFont typeface="Arial" panose="020B0604020202020204" pitchFamily="34" charset="0"/>
              <a:buChar char="•"/>
            </a:pPr>
            <a:r>
              <a:rPr lang="en-US" dirty="0"/>
              <a:t>Amazon Simple Storage Service Glacier</a:t>
            </a:r>
          </a:p>
          <a:p>
            <a:endParaRPr lang="en-US" dirty="0"/>
          </a:p>
          <a:p>
            <a:r>
              <a:rPr lang="en-US" dirty="0"/>
              <a:t>This module includes four recorded demonstrations that show you how to use the AWS Management Console to create storage solutions.</a:t>
            </a:r>
          </a:p>
          <a:p>
            <a:endParaRPr lang="en-US" dirty="0"/>
          </a:p>
          <a:p>
            <a:r>
              <a:rPr lang="en-US" dirty="0"/>
              <a:t>This module includes a hands-on lab where you create an Amazon EBS volume, and then attach it to an Amazon Elastic Compute Cloud (Amazon EC2) instance. You also create a snapshot of your volume and then use the snapshot to create a new volume.</a:t>
            </a:r>
          </a:p>
          <a:p>
            <a:pPr lvl="0"/>
            <a:endParaRPr lang="en-US" dirty="0"/>
          </a:p>
          <a:p>
            <a:pPr lvl="0"/>
            <a:r>
              <a:rPr lang="en-US" dirty="0"/>
              <a:t>This module includes an activity that challenges you to determine the best storage solution for a business case.</a:t>
            </a:r>
          </a:p>
          <a:p>
            <a:pPr lvl="0"/>
            <a:endParaRPr lang="en-US" dirty="0"/>
          </a:p>
          <a:p>
            <a:pPr lvl="0"/>
            <a:r>
              <a:rPr lang="en-US" dirty="0"/>
              <a:t>Finally, you are asked to complete a knowledge check that tests your understanding of the key concepts in this module.</a:t>
            </a:r>
          </a:p>
        </p:txBody>
      </p:sp>
      <p:sp>
        <p:nvSpPr>
          <p:cNvPr id="5" name="Slide Image Placeholder 4">
            <a:extLst>
              <a:ext uri="{FF2B5EF4-FFF2-40B4-BE49-F238E27FC236}">
                <a16:creationId xmlns:a16="http://schemas.microsoft.com/office/drawing/2014/main" id="{E9C63D81-7FF9-296F-F7EE-2BDAE0531A39}"/>
              </a:ext>
            </a:extLst>
          </p:cNvPr>
          <p:cNvSpPr>
            <a:spLocks noGrp="1" noRot="1" noChangeAspect="1"/>
          </p:cNvSpPr>
          <p:nvPr>
            <p:ph type="sldImg"/>
          </p:nvPr>
        </p:nvSpPr>
        <p:spPr/>
      </p:sp>
    </p:spTree>
    <p:extLst>
      <p:ext uri="{BB962C8B-B14F-4D97-AF65-F5344CB8AC3E}">
        <p14:creationId xmlns:p14="http://schemas.microsoft.com/office/powerpoint/2010/main" val="2522184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 goal of this module is to discover key concepts that relate to storage. You will learn about the different types of storage resources that are available and review the different pricing options so that you can understand how different choices affect your solution cost.</a:t>
            </a:r>
          </a:p>
          <a:p>
            <a:pPr lvl="0"/>
            <a:endParaRPr lang="en-US" dirty="0"/>
          </a:p>
          <a:p>
            <a:r>
              <a:rPr lang="en-US" dirty="0"/>
              <a:t>After completing this module, you should be able to:</a:t>
            </a:r>
          </a:p>
          <a:p>
            <a:pPr marL="171450" lvl="0" indent="-171450">
              <a:buFont typeface="Arial" panose="020B0604020202020204" pitchFamily="34" charset="0"/>
              <a:buChar char="•"/>
            </a:pPr>
            <a:r>
              <a:rPr lang="en-US" dirty="0"/>
              <a:t>Identify the different types of storage</a:t>
            </a:r>
          </a:p>
          <a:p>
            <a:pPr marL="171450" lvl="0" indent="-171450">
              <a:buFont typeface="Arial" panose="020B0604020202020204" pitchFamily="34" charset="0"/>
              <a:buChar char="•"/>
            </a:pPr>
            <a:r>
              <a:rPr lang="en-US" dirty="0"/>
              <a:t>Explain Amazon S3</a:t>
            </a:r>
          </a:p>
          <a:p>
            <a:pPr marL="171450" lvl="0" indent="-171450">
              <a:buFont typeface="Arial" panose="020B0604020202020204" pitchFamily="34" charset="0"/>
              <a:buChar char="•"/>
            </a:pPr>
            <a:r>
              <a:rPr lang="en-US" dirty="0"/>
              <a:t>Identify the functionality in Amazon S3</a:t>
            </a:r>
          </a:p>
          <a:p>
            <a:pPr marL="171450" lvl="0" indent="-171450">
              <a:buFont typeface="Arial" panose="020B0604020202020204" pitchFamily="34" charset="0"/>
              <a:buChar char="•"/>
            </a:pPr>
            <a:r>
              <a:rPr lang="en-US" dirty="0"/>
              <a:t>Explain Amazon EBS</a:t>
            </a:r>
          </a:p>
          <a:p>
            <a:pPr marL="171450" lvl="0" indent="-171450">
              <a:buFont typeface="Arial" panose="020B0604020202020204" pitchFamily="34" charset="0"/>
              <a:buChar char="•"/>
            </a:pPr>
            <a:r>
              <a:rPr lang="en-US" dirty="0"/>
              <a:t>Identify the functionality in Amazon EBS</a:t>
            </a:r>
          </a:p>
          <a:p>
            <a:pPr marL="171450" lvl="0" indent="-171450">
              <a:buFont typeface="Arial" panose="020B0604020202020204" pitchFamily="34" charset="0"/>
              <a:buChar char="•"/>
            </a:pPr>
            <a:r>
              <a:rPr lang="en-US" dirty="0"/>
              <a:t>Perform functions in Amazon EBS to build an Amazon EC2 storage solution </a:t>
            </a:r>
          </a:p>
          <a:p>
            <a:pPr marL="171450" lvl="0" indent="-171450">
              <a:buFont typeface="Arial" panose="020B0604020202020204" pitchFamily="34" charset="0"/>
              <a:buChar char="•"/>
            </a:pPr>
            <a:r>
              <a:rPr lang="en-US" dirty="0"/>
              <a:t>Explain Amazon EFS</a:t>
            </a:r>
          </a:p>
          <a:p>
            <a:pPr marL="171450" lvl="0" indent="-171450">
              <a:buFont typeface="Arial" panose="020B0604020202020204" pitchFamily="34" charset="0"/>
              <a:buChar char="•"/>
            </a:pPr>
            <a:r>
              <a:rPr lang="en-US" dirty="0"/>
              <a:t>Identify the functionality in Amazon EFS</a:t>
            </a:r>
          </a:p>
          <a:p>
            <a:pPr marL="171450" lvl="0" indent="-171450">
              <a:buFont typeface="Arial" panose="020B0604020202020204" pitchFamily="34" charset="0"/>
              <a:buChar char="•"/>
            </a:pPr>
            <a:r>
              <a:rPr lang="en-US" dirty="0"/>
              <a:t>Explain Amazon S3 Glacier</a:t>
            </a:r>
          </a:p>
          <a:p>
            <a:pPr marL="171450" lvl="0" indent="-171450">
              <a:buFont typeface="Arial" panose="020B0604020202020204" pitchFamily="34" charset="0"/>
              <a:buChar char="•"/>
            </a:pPr>
            <a:r>
              <a:rPr lang="en-US" dirty="0"/>
              <a:t>Identify the functionality in Amazon S3 Glacier</a:t>
            </a:r>
          </a:p>
          <a:p>
            <a:pPr marL="171450" lvl="0" indent="-171450">
              <a:buFont typeface="Arial" panose="020B0604020202020204" pitchFamily="34" charset="0"/>
              <a:buChar char="•"/>
            </a:pPr>
            <a:r>
              <a:rPr lang="en-US" dirty="0"/>
              <a:t>Differentiate between Amazon EBS, Amazon S3, Amazon EFS, and Amazon S3 Glacier</a:t>
            </a:r>
          </a:p>
          <a:p>
            <a:pPr lvl="0"/>
            <a:endParaRPr lang="en-US" dirty="0"/>
          </a:p>
        </p:txBody>
      </p:sp>
      <p:sp>
        <p:nvSpPr>
          <p:cNvPr id="5" name="Slide Image Placeholder 4">
            <a:extLst>
              <a:ext uri="{FF2B5EF4-FFF2-40B4-BE49-F238E27FC236}">
                <a16:creationId xmlns:a16="http://schemas.microsoft.com/office/drawing/2014/main" id="{081CA654-84C8-3D7E-7281-1D37C285C26F}"/>
              </a:ext>
            </a:extLst>
          </p:cNvPr>
          <p:cNvSpPr>
            <a:spLocks noGrp="1" noRot="1" noChangeAspect="1"/>
          </p:cNvSpPr>
          <p:nvPr>
            <p:ph type="sldImg"/>
          </p:nvPr>
        </p:nvSpPr>
        <p:spPr/>
      </p:sp>
    </p:spTree>
    <p:extLst>
      <p:ext uri="{BB962C8B-B14F-4D97-AF65-F5344CB8AC3E}">
        <p14:creationId xmlns:p14="http://schemas.microsoft.com/office/powerpoint/2010/main" val="1598326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Storage is another AWS core service category. Some broad categories of storage include: instance store (ephemeral storage), Amazon EBS, Amazon EFS, Amazon S3, and Amazon S3 Glacier.</a:t>
            </a:r>
          </a:p>
          <a:p>
            <a:pPr marL="171450" lvl="0" indent="-171450">
              <a:buFont typeface="Arial" panose="020B0604020202020204" pitchFamily="34" charset="0"/>
              <a:buChar char="•"/>
            </a:pPr>
            <a:r>
              <a:rPr lang="en-US" dirty="0"/>
              <a:t>Instance store, or ephemeral storage, is </a:t>
            </a:r>
            <a:r>
              <a:rPr lang="en-US" b="1" dirty="0"/>
              <a:t>temporary storage </a:t>
            </a:r>
            <a:r>
              <a:rPr lang="en-US" dirty="0"/>
              <a:t>that is added to your Amazon EC2 instance. </a:t>
            </a:r>
          </a:p>
          <a:p>
            <a:pPr marL="171450" lvl="0" indent="-171450">
              <a:buFont typeface="Arial" panose="020B0604020202020204" pitchFamily="34" charset="0"/>
              <a:buChar char="•"/>
            </a:pPr>
            <a:r>
              <a:rPr lang="en-US" dirty="0"/>
              <a:t>Amazon EBS is </a:t>
            </a:r>
            <a:r>
              <a:rPr lang="en-US" b="1" dirty="0"/>
              <a:t>persistent, mountable storage </a:t>
            </a:r>
            <a:r>
              <a:rPr lang="en-US" dirty="0"/>
              <a:t>that can be mounted as a device to an Amazon EC2 instance. Amazon EBS can be mounted to an Amazon EC2 instance only within the same Availability Zone. Only one Amazon EC2 instance at a time can mount an Amazon EBS volume.</a:t>
            </a:r>
          </a:p>
          <a:p>
            <a:pPr marL="171450" lvl="0" indent="-171450">
              <a:buFont typeface="Arial" panose="020B0604020202020204" pitchFamily="34" charset="0"/>
              <a:buChar char="•"/>
            </a:pPr>
            <a:r>
              <a:rPr lang="en-US" dirty="0"/>
              <a:t>Amazon EFS is a shared file system that multiple Amazon EC2 instances can mount at the same time. </a:t>
            </a:r>
          </a:p>
          <a:p>
            <a:pPr marL="171450" lvl="0" indent="-171450">
              <a:buFont typeface="Arial" panose="020B0604020202020204" pitchFamily="34" charset="0"/>
              <a:buChar char="•"/>
            </a:pPr>
            <a:r>
              <a:rPr lang="en-US" dirty="0"/>
              <a:t>Amazon S3 is persistent storage where each file becomes an object and is available through a Uniform Resource Locator (URL); it can be accessed from anywhere.</a:t>
            </a:r>
          </a:p>
          <a:p>
            <a:pPr marL="171450" lvl="0" indent="-171450">
              <a:buFont typeface="Arial" panose="020B0604020202020204" pitchFamily="34" charset="0"/>
              <a:buChar char="•"/>
            </a:pPr>
            <a:r>
              <a:rPr lang="en-US" dirty="0"/>
              <a:t>Amazon S3 Glacier is for cold storage for data that is not accessed frequently (for example, when you need long-term data storage for archival or compliance reasons).</a:t>
            </a:r>
          </a:p>
        </p:txBody>
      </p:sp>
      <p:sp>
        <p:nvSpPr>
          <p:cNvPr id="5" name="Slide Image Placeholder 4">
            <a:extLst>
              <a:ext uri="{FF2B5EF4-FFF2-40B4-BE49-F238E27FC236}">
                <a16:creationId xmlns:a16="http://schemas.microsoft.com/office/drawing/2014/main" id="{26A9AD57-08B8-2588-B719-6DE7153DC63D}"/>
              </a:ext>
            </a:extLst>
          </p:cNvPr>
          <p:cNvSpPr>
            <a:spLocks noGrp="1" noRot="1" noChangeAspect="1"/>
          </p:cNvSpPr>
          <p:nvPr>
            <p:ph type="sldImg"/>
          </p:nvPr>
        </p:nvSpPr>
        <p:spPr/>
      </p:sp>
    </p:spTree>
    <p:extLst>
      <p:ext uri="{BB962C8B-B14F-4D97-AF65-F5344CB8AC3E}">
        <p14:creationId xmlns:p14="http://schemas.microsoft.com/office/powerpoint/2010/main" val="3005402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Introduce Section 1: Amazon Elastic Block Store (Amazon EBS).</a:t>
            </a:r>
          </a:p>
        </p:txBody>
      </p:sp>
      <p:sp>
        <p:nvSpPr>
          <p:cNvPr id="5" name="Slide Image Placeholder 4">
            <a:extLst>
              <a:ext uri="{FF2B5EF4-FFF2-40B4-BE49-F238E27FC236}">
                <a16:creationId xmlns:a16="http://schemas.microsoft.com/office/drawing/2014/main" id="{C779F053-D199-EB36-B584-3C5CB3D683A9}"/>
              </a:ext>
            </a:extLst>
          </p:cNvPr>
          <p:cNvSpPr>
            <a:spLocks noGrp="1" noRot="1" noChangeAspect="1"/>
          </p:cNvSpPr>
          <p:nvPr>
            <p:ph type="sldImg"/>
          </p:nvPr>
        </p:nvSpPr>
        <p:spPr/>
      </p:sp>
    </p:spTree>
    <p:extLst>
      <p:ext uri="{BB962C8B-B14F-4D97-AF65-F5344CB8AC3E}">
        <p14:creationId xmlns:p14="http://schemas.microsoft.com/office/powerpoint/2010/main" val="2154124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Amazon EBS provides persistent block storage volumes for use with Amazon EC2 instances. Persistent storage is any data storage device that retains data after power to that device is shut off. It is also sometimes called non-volatile storage. </a:t>
            </a:r>
          </a:p>
          <a:p>
            <a:endParaRPr lang="en-US" dirty="0"/>
          </a:p>
          <a:p>
            <a:r>
              <a:rPr lang="en-US" dirty="0"/>
              <a:t>Each Amazon EBS volume is automatically replicated within its Availability Zone to protect you from component failure. It is designed for high availability and durability. Amazon EBS volumes provide the consistent and low-latency performance that is needed to run your workloads. </a:t>
            </a:r>
          </a:p>
          <a:p>
            <a:endParaRPr lang="en-US" dirty="0"/>
          </a:p>
          <a:p>
            <a:r>
              <a:rPr lang="en-US" dirty="0"/>
              <a:t>With Amazon EBS, you can scale your usage up or down within minutes, while paying a low price for only what you provision.</a:t>
            </a:r>
          </a:p>
          <a:p>
            <a:pPr lvl="1"/>
            <a:endParaRPr lang="en-US" dirty="0"/>
          </a:p>
          <a:p>
            <a:endParaRPr lang="en-US" dirty="0"/>
          </a:p>
        </p:txBody>
      </p:sp>
      <p:sp>
        <p:nvSpPr>
          <p:cNvPr id="5" name="Slide Image Placeholder 4">
            <a:extLst>
              <a:ext uri="{FF2B5EF4-FFF2-40B4-BE49-F238E27FC236}">
                <a16:creationId xmlns:a16="http://schemas.microsoft.com/office/drawing/2014/main" id="{03E20744-BBD2-3D7F-4982-BF296B6697CA}"/>
              </a:ext>
            </a:extLst>
          </p:cNvPr>
          <p:cNvSpPr>
            <a:spLocks noGrp="1" noRot="1" noChangeAspect="1"/>
          </p:cNvSpPr>
          <p:nvPr>
            <p:ph type="sldImg"/>
          </p:nvPr>
        </p:nvSpPr>
        <p:spPr/>
      </p:sp>
    </p:spTree>
    <p:extLst>
      <p:ext uri="{BB962C8B-B14F-4D97-AF65-F5344CB8AC3E}">
        <p14:creationId xmlns:p14="http://schemas.microsoft.com/office/powerpoint/2010/main" val="3243198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What happens if you want to change one character in a 1-GB file? With block storage, you change only the block that contains the character. With object storage, the entire file must be updated. </a:t>
            </a:r>
          </a:p>
          <a:p>
            <a:r>
              <a:rPr lang="en-US" dirty="0"/>
              <a:t> </a:t>
            </a:r>
          </a:p>
          <a:p>
            <a:r>
              <a:rPr lang="en-US" dirty="0"/>
              <a:t>One critical difference between some storage types is whether they offer block-level storage or object-level storage. </a:t>
            </a:r>
          </a:p>
          <a:p>
            <a:r>
              <a:rPr lang="en-US" dirty="0"/>
              <a:t> </a:t>
            </a:r>
          </a:p>
          <a:p>
            <a:r>
              <a:rPr lang="en-US" dirty="0"/>
              <a:t>This difference has a major effect on the throughput, latency, and cost of your storage solution. Block storage solutions are typically faster and use less bandwidth, but they can cost more than object-level storage.</a:t>
            </a:r>
          </a:p>
        </p:txBody>
      </p:sp>
      <p:sp>
        <p:nvSpPr>
          <p:cNvPr id="5" name="Slide Image Placeholder 4">
            <a:extLst>
              <a:ext uri="{FF2B5EF4-FFF2-40B4-BE49-F238E27FC236}">
                <a16:creationId xmlns:a16="http://schemas.microsoft.com/office/drawing/2014/main" id="{4BF04441-811C-2FF0-0B84-98639C96BC84}"/>
              </a:ext>
            </a:extLst>
          </p:cNvPr>
          <p:cNvSpPr>
            <a:spLocks noGrp="1" noRot="1" noChangeAspect="1"/>
          </p:cNvSpPr>
          <p:nvPr>
            <p:ph type="sldImg"/>
          </p:nvPr>
        </p:nvSpPr>
        <p:spPr/>
      </p:sp>
    </p:spTree>
    <p:extLst>
      <p:ext uri="{BB962C8B-B14F-4D97-AF65-F5344CB8AC3E}">
        <p14:creationId xmlns:p14="http://schemas.microsoft.com/office/powerpoint/2010/main" val="432423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941887"/>
          </a:xfrm>
        </p:spPr>
        <p:txBody>
          <a:bodyPr/>
          <a:lstStyle/>
          <a:p>
            <a:r>
              <a:rPr lang="en-US" dirty="0"/>
              <a:t>Amazon EBS enables you to create individual storage volumes and attach them to an Amazon EC2 instance. Amazon EBS offers block-level storage, where its volumes are automatically replicated within its Availability Zone. Amazon EBS is designed to provide durable, detachable, block-level storage (which is like an external hard drive) for your Amazon EC2 instances. Because they are directly attached to the instances, they can provide low latency between where the data is stored and where it might be used on the instance. </a:t>
            </a:r>
          </a:p>
          <a:p>
            <a:r>
              <a:rPr lang="en-US" dirty="0"/>
              <a:t> </a:t>
            </a:r>
          </a:p>
          <a:p>
            <a:r>
              <a:rPr lang="en-US" dirty="0"/>
              <a:t>For this reason, they can be used to run a database with an Amazon EC2 instance. Amazon EBS volumes are included as part of the backup of your instances into Amazon Machine Images (or AMIs). AMIs are stored in Amazon S3 and can be reused to create new Amazon EC2 instances later.</a:t>
            </a:r>
          </a:p>
          <a:p>
            <a:endParaRPr lang="en-US" dirty="0"/>
          </a:p>
          <a:p>
            <a:r>
              <a:rPr lang="en-US" dirty="0"/>
              <a:t>A backup of an Amazon EBS volume is called a snapshot. The first snapshot is called the baseline snapshot. Any other snapshot after the baseline captures only what is different from the previous snapshot. </a:t>
            </a:r>
          </a:p>
          <a:p>
            <a:r>
              <a:rPr lang="en-US" dirty="0"/>
              <a:t> </a:t>
            </a:r>
          </a:p>
          <a:p>
            <a:r>
              <a:rPr lang="en-US" dirty="0"/>
              <a:t>Amazon EBS volumes uses include: </a:t>
            </a:r>
          </a:p>
          <a:p>
            <a:pPr marL="171450" lvl="0" indent="-171450">
              <a:buFont typeface="Arial" panose="020B0604020202020204" pitchFamily="34" charset="0"/>
              <a:buChar char="•"/>
            </a:pPr>
            <a:r>
              <a:rPr lang="en-US" dirty="0"/>
              <a:t>Boot volumes and storage for Amazon EC2 instances</a:t>
            </a:r>
          </a:p>
          <a:p>
            <a:pPr marL="171450" lvl="0" indent="-171450">
              <a:buFont typeface="Arial" panose="020B0604020202020204" pitchFamily="34" charset="0"/>
              <a:buChar char="•"/>
            </a:pPr>
            <a:r>
              <a:rPr lang="en-US" dirty="0"/>
              <a:t>Data storage with a file system</a:t>
            </a:r>
          </a:p>
          <a:p>
            <a:pPr marL="171450" lvl="0" indent="-171450">
              <a:buFont typeface="Arial" panose="020B0604020202020204" pitchFamily="34" charset="0"/>
              <a:buChar char="•"/>
            </a:pPr>
            <a:r>
              <a:rPr lang="en-US" dirty="0"/>
              <a:t>Database hosts</a:t>
            </a:r>
          </a:p>
          <a:p>
            <a:pPr marL="171450" lvl="0" indent="-171450">
              <a:buFont typeface="Arial" panose="020B0604020202020204" pitchFamily="34" charset="0"/>
              <a:buChar char="•"/>
            </a:pPr>
            <a:r>
              <a:rPr lang="en-US" dirty="0"/>
              <a:t>Enterprise applications</a:t>
            </a:r>
          </a:p>
          <a:p>
            <a:endParaRPr lang="en-US" dirty="0"/>
          </a:p>
          <a:p>
            <a:endParaRPr lang="en-US" dirty="0"/>
          </a:p>
          <a:p>
            <a:endParaRPr lang="en-US" dirty="0"/>
          </a:p>
        </p:txBody>
      </p:sp>
      <p:sp>
        <p:nvSpPr>
          <p:cNvPr id="5" name="Slide Image Placeholder 4">
            <a:extLst>
              <a:ext uri="{FF2B5EF4-FFF2-40B4-BE49-F238E27FC236}">
                <a16:creationId xmlns:a16="http://schemas.microsoft.com/office/drawing/2014/main" id="{B11B51CA-4D33-4B0C-BC6C-6368E8578085}"/>
              </a:ext>
            </a:extLst>
          </p:cNvPr>
          <p:cNvSpPr>
            <a:spLocks noGrp="1" noRot="1" noChangeAspect="1"/>
          </p:cNvSpPr>
          <p:nvPr>
            <p:ph type="sldImg"/>
          </p:nvPr>
        </p:nvSpPr>
        <p:spPr/>
      </p:sp>
    </p:spTree>
    <p:extLst>
      <p:ext uri="{BB962C8B-B14F-4D97-AF65-F5344CB8AC3E}">
        <p14:creationId xmlns:p14="http://schemas.microsoft.com/office/powerpoint/2010/main" val="1363930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Matching the correct technology to your workload is a best practice for reducing storage costs. Provisioned IOPS SSD-backed Amazon EBS volumes can give you the highest performance. However, if your application doesn't require or won't use performance that high, General Purpose SSD is usually sufficient. Only SSDs can be used as boot volumes for EC2 instances. The lower-cost options might be a solution for additional storage or use cases other than boot volumes. </a:t>
            </a:r>
          </a:p>
          <a:p>
            <a:endParaRPr lang="en-US" dirty="0"/>
          </a:p>
          <a:p>
            <a:pPr lvl="0"/>
            <a:r>
              <a:rPr lang="en-US" dirty="0"/>
              <a:t>To learn more about Amazon EBS volume types, see </a:t>
            </a:r>
            <a:r>
              <a:rPr lang="en-GB" dirty="0">
                <a:hlinkClick r:id="rId3"/>
              </a:rPr>
              <a:t>https://</a:t>
            </a:r>
            <a:r>
              <a:rPr lang="en-GB" dirty="0" err="1">
                <a:hlinkClick r:id="rId3"/>
              </a:rPr>
              <a:t>docs.aws.amazon.com</a:t>
            </a:r>
            <a:r>
              <a:rPr lang="en-GB" dirty="0">
                <a:hlinkClick r:id="rId3"/>
              </a:rPr>
              <a:t>/</a:t>
            </a:r>
            <a:r>
              <a:rPr lang="en-GB" dirty="0" err="1">
                <a:hlinkClick r:id="rId3"/>
              </a:rPr>
              <a:t>AWSEC2</a:t>
            </a:r>
            <a:r>
              <a:rPr lang="en-GB" dirty="0">
                <a:hlinkClick r:id="rId3"/>
              </a:rPr>
              <a:t>/latest/</a:t>
            </a:r>
            <a:r>
              <a:rPr lang="en-GB" dirty="0" err="1">
                <a:hlinkClick r:id="rId3"/>
              </a:rPr>
              <a:t>UserGuide</a:t>
            </a:r>
            <a:r>
              <a:rPr lang="en-GB" dirty="0">
                <a:hlinkClick r:id="rId3"/>
              </a:rPr>
              <a:t>/</a:t>
            </a:r>
            <a:r>
              <a:rPr lang="en-GB" dirty="0" err="1">
                <a:hlinkClick r:id="rId3"/>
              </a:rPr>
              <a:t>ebs</a:t>
            </a:r>
            <a:r>
              <a:rPr lang="en-GB" dirty="0">
                <a:hlinkClick r:id="rId3"/>
              </a:rPr>
              <a:t>-volume-</a:t>
            </a:r>
            <a:r>
              <a:rPr lang="en-GB" dirty="0" err="1">
                <a:hlinkClick r:id="rId3"/>
              </a:rPr>
              <a:t>types.html</a:t>
            </a:r>
            <a:r>
              <a:rPr lang="en-US" dirty="0"/>
              <a:t>.</a:t>
            </a:r>
          </a:p>
          <a:p>
            <a:endParaRPr lang="en-US" dirty="0"/>
          </a:p>
        </p:txBody>
      </p:sp>
      <p:sp>
        <p:nvSpPr>
          <p:cNvPr id="5" name="Slide Image Placeholder 4">
            <a:extLst>
              <a:ext uri="{FF2B5EF4-FFF2-40B4-BE49-F238E27FC236}">
                <a16:creationId xmlns:a16="http://schemas.microsoft.com/office/drawing/2014/main" id="{6002AD06-6A44-3841-7ABF-2C3205410DB2}"/>
              </a:ext>
            </a:extLst>
          </p:cNvPr>
          <p:cNvSpPr>
            <a:spLocks noGrp="1" noRot="1" noChangeAspect="1"/>
          </p:cNvSpPr>
          <p:nvPr>
            <p:ph type="sldImg"/>
          </p:nvPr>
        </p:nvSpPr>
        <p:spPr/>
      </p:sp>
    </p:spTree>
    <p:extLst>
      <p:ext uri="{BB962C8B-B14F-4D97-AF65-F5344CB8AC3E}">
        <p14:creationId xmlns:p14="http://schemas.microsoft.com/office/powerpoint/2010/main" val="1412020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As mentioned previously an </a:t>
            </a:r>
            <a:r>
              <a:rPr lang="en-US" b="1" dirty="0"/>
              <a:t>Amazon EBS volume </a:t>
            </a:r>
            <a:r>
              <a:rPr lang="en-US" dirty="0"/>
              <a:t>is a durable, block-level storage device that you can attach to a single EC2 instance. You can use Amazon EBS volumes as primary storage for data that requires frequent updates, such as the system drive for an instance or storage for a database application. You can also use them for throughput-intensive applications that perform continuous disk scans. Amazon EBS volumes persist independently from the running life of an EC2 instance.</a:t>
            </a:r>
          </a:p>
          <a:p>
            <a:endParaRPr lang="en-US" dirty="0"/>
          </a:p>
          <a:p>
            <a:r>
              <a:rPr lang="en-US" dirty="0"/>
              <a:t>Use cases for EBS vary by the storage type used and whether you are using General </a:t>
            </a:r>
            <a:r>
              <a:rPr lang="en-US"/>
              <a:t>Purpose or </a:t>
            </a:r>
            <a:r>
              <a:rPr lang="en-US" dirty="0"/>
              <a:t>Provisioned </a:t>
            </a:r>
            <a:r>
              <a:rPr lang="en-US"/>
              <a:t>IOPS.</a:t>
            </a:r>
            <a:endParaRPr lang="en-US" dirty="0"/>
          </a:p>
        </p:txBody>
      </p:sp>
      <p:sp>
        <p:nvSpPr>
          <p:cNvPr id="5" name="Slide Image Placeholder 4">
            <a:extLst>
              <a:ext uri="{FF2B5EF4-FFF2-40B4-BE49-F238E27FC236}">
                <a16:creationId xmlns:a16="http://schemas.microsoft.com/office/drawing/2014/main" id="{7F1A3922-D942-B051-F5C7-E60D0FD7372E}"/>
              </a:ext>
            </a:extLst>
          </p:cNvPr>
          <p:cNvSpPr>
            <a:spLocks noGrp="1" noRot="1" noChangeAspect="1"/>
          </p:cNvSpPr>
          <p:nvPr>
            <p:ph type="sldImg"/>
          </p:nvPr>
        </p:nvSpPr>
        <p:spPr/>
      </p:sp>
    </p:spTree>
    <p:extLst>
      <p:ext uri="{BB962C8B-B14F-4D97-AF65-F5344CB8AC3E}">
        <p14:creationId xmlns:p14="http://schemas.microsoft.com/office/powerpoint/2010/main" val="4180000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To provide an even higher level of data durability, Amazon EBS enables you to create </a:t>
            </a:r>
            <a:r>
              <a:rPr lang="en-US" b="1" dirty="0"/>
              <a:t>point-in-time</a:t>
            </a:r>
            <a:r>
              <a:rPr lang="en-US" dirty="0"/>
              <a:t> snapshots of your volumes, and you can re-create a new volume from a snapshot at any time. You can also share snapshots or even copy snapshots to different AWS Regions for even greater </a:t>
            </a:r>
            <a:r>
              <a:rPr lang="en-US" b="1" dirty="0"/>
              <a:t>disaster recovery (DR) protection</a:t>
            </a:r>
            <a:r>
              <a:rPr lang="en-US" dirty="0"/>
              <a:t>. For example, you can encrypt and share your snapshots from Virginia in the US to Tokyo, Japan. </a:t>
            </a:r>
          </a:p>
          <a:p>
            <a:endParaRPr lang="en-US" dirty="0"/>
          </a:p>
          <a:p>
            <a:pPr lvl="0"/>
            <a:r>
              <a:rPr lang="en-US" dirty="0"/>
              <a:t>You can also have encrypted Amazon EBS volumes at no additional cost, so the data that moves between the EC2 instance and the EBS volume inside AWS data centers is encrypted in transit. </a:t>
            </a:r>
          </a:p>
          <a:p>
            <a:pPr lvl="0"/>
            <a:r>
              <a:rPr lang="en-US" dirty="0"/>
              <a:t> </a:t>
            </a:r>
          </a:p>
          <a:p>
            <a:pPr lvl="0"/>
            <a:r>
              <a:rPr lang="en-US" dirty="0"/>
              <a:t>As your company grows, the amount of data that is stored on your Amazon EBS volumes is also likely to grow. Amazon EBS volumes can increase capacity and change to different types, so you can change from hard disk drives (HDDs) to solid state drives (SSDs) or increase from a 50-GB volume to a 16-TB volume. For example, you can do this resize operation dynamically without needing to stop the instances. </a:t>
            </a:r>
          </a:p>
        </p:txBody>
      </p:sp>
      <p:sp>
        <p:nvSpPr>
          <p:cNvPr id="5" name="Slide Image Placeholder 4">
            <a:extLst>
              <a:ext uri="{FF2B5EF4-FFF2-40B4-BE49-F238E27FC236}">
                <a16:creationId xmlns:a16="http://schemas.microsoft.com/office/drawing/2014/main" id="{941628D1-4390-3751-0538-CC69A0509DE8}"/>
              </a:ext>
            </a:extLst>
          </p:cNvPr>
          <p:cNvSpPr>
            <a:spLocks noGrp="1" noRot="1" noChangeAspect="1"/>
          </p:cNvSpPr>
          <p:nvPr>
            <p:ph type="sldImg"/>
          </p:nvPr>
        </p:nvSpPr>
        <p:spPr/>
      </p:sp>
    </p:spTree>
    <p:extLst>
      <p:ext uri="{BB962C8B-B14F-4D97-AF65-F5344CB8AC3E}">
        <p14:creationId xmlns:p14="http://schemas.microsoft.com/office/powerpoint/2010/main" val="1208474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Introduce Section 3: Amazon Simple Storage Service.</a:t>
            </a:r>
          </a:p>
          <a:p>
            <a:endParaRPr lang="en-US" dirty="0"/>
          </a:p>
          <a:p>
            <a:pPr lvl="0"/>
            <a:r>
              <a:rPr lang="en-US" dirty="0"/>
              <a:t>Companies need the ability to simply and securely collect, store, and analyze their data on a massive scale. Amazon S3 is object storage that is built to store and retrieve any amount of data from anywhere: websites and mobile apps, corporate applications, and data from Internet of Things (IoT) sensors or devices.</a:t>
            </a:r>
          </a:p>
          <a:p>
            <a:endParaRPr lang="en-US" dirty="0"/>
          </a:p>
        </p:txBody>
      </p:sp>
      <p:sp>
        <p:nvSpPr>
          <p:cNvPr id="5" name="Slide Image Placeholder 4">
            <a:extLst>
              <a:ext uri="{FF2B5EF4-FFF2-40B4-BE49-F238E27FC236}">
                <a16:creationId xmlns:a16="http://schemas.microsoft.com/office/drawing/2014/main" id="{FFABDF1D-C628-000A-E72E-8C0A87FBC0EB}"/>
              </a:ext>
            </a:extLst>
          </p:cNvPr>
          <p:cNvSpPr>
            <a:spLocks noGrp="1" noRot="1" noChangeAspect="1"/>
          </p:cNvSpPr>
          <p:nvPr>
            <p:ph type="sldImg"/>
          </p:nvPr>
        </p:nvSpPr>
        <p:spPr/>
      </p:sp>
    </p:spTree>
    <p:extLst>
      <p:ext uri="{BB962C8B-B14F-4D97-AF65-F5344CB8AC3E}">
        <p14:creationId xmlns:p14="http://schemas.microsoft.com/office/powerpoint/2010/main" val="3016874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Amazon S3 is object-level storage, which means that if you want to change a part of a file, you must make the change and then re-upload the entire modified file. Amazon S3 stores data as objects within resources that are called </a:t>
            </a:r>
            <a:r>
              <a:rPr lang="en-US" b="1" dirty="0"/>
              <a:t>buckets</a:t>
            </a:r>
            <a:r>
              <a:rPr lang="en-US" dirty="0"/>
              <a:t>. </a:t>
            </a:r>
          </a:p>
          <a:p>
            <a:endParaRPr lang="en-US" dirty="0"/>
          </a:p>
          <a:p>
            <a:r>
              <a:rPr lang="en-US" dirty="0"/>
              <a:t>You will now learn more about Amazon S3.</a:t>
            </a:r>
          </a:p>
        </p:txBody>
      </p:sp>
      <p:sp>
        <p:nvSpPr>
          <p:cNvPr id="5" name="Slide Image Placeholder 4">
            <a:extLst>
              <a:ext uri="{FF2B5EF4-FFF2-40B4-BE49-F238E27FC236}">
                <a16:creationId xmlns:a16="http://schemas.microsoft.com/office/drawing/2014/main" id="{CDFD2976-DDBD-45A1-7F00-8A26F10765CB}"/>
              </a:ext>
            </a:extLst>
          </p:cNvPr>
          <p:cNvSpPr>
            <a:spLocks noGrp="1" noRot="1" noChangeAspect="1"/>
          </p:cNvSpPr>
          <p:nvPr>
            <p:ph type="sldImg"/>
          </p:nvPr>
        </p:nvSpPr>
        <p:spPr/>
      </p:sp>
    </p:spTree>
    <p:extLst>
      <p:ext uri="{BB962C8B-B14F-4D97-AF65-F5344CB8AC3E}">
        <p14:creationId xmlns:p14="http://schemas.microsoft.com/office/powerpoint/2010/main" val="2232628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551362"/>
          </a:xfrm>
        </p:spPr>
        <p:txBody>
          <a:bodyPr/>
          <a:lstStyle/>
          <a:p>
            <a:r>
              <a:rPr lang="en-US" dirty="0"/>
              <a:t>Amazon S3 is a managed cloud storage solution that is designed to scale seamlessly and provide 11 9s of durability. You can store virtually as many objects as you want in a bucket, and you can write, read, and delete objects in your bucket. Bucket names are universal and must be unique across all existing bucket names in Amazon S3. Objects can be up to 5 TB in size. By default, data in Amazon S3 is stored redundantly across multiple facilities and multiple devices in each facility.</a:t>
            </a:r>
          </a:p>
          <a:p>
            <a:endParaRPr lang="en-US" dirty="0"/>
          </a:p>
          <a:p>
            <a:r>
              <a:rPr lang="en-US" dirty="0"/>
              <a:t>The data that you store in Amazon S3 is not associated with any particular server, and you do not need manage any infrastructure yourself. You can put as many objects into Amazon S3 as you want. Amazon S3 holds trillions of objects and regularly peaks at millions of requests per second. </a:t>
            </a:r>
          </a:p>
          <a:p>
            <a:endParaRPr lang="en-US" dirty="0"/>
          </a:p>
          <a:p>
            <a:r>
              <a:rPr lang="en-US" dirty="0"/>
              <a:t>Objects can be almost any data file, such as images, videos, or server logs. Because Amazon S3 supports objects as large as several terabytes in size, you can even store database snapshots as objects. Amazon S3 also provides low-latency access to the data over the internet by Hypertext Transfer Protocol (HTTP) or Secure HTTP (HTTPS), so you can retrieve data anytime from anywhere. You can also access Amazon S3 privately through a virtual private cloud (VPC) endpoint. You get fine-grained control over who can access your data by using AWS Identity and Access Management (IAM) policies, Amazon S3 bucket policies, and even per-object access control lists. </a:t>
            </a:r>
          </a:p>
          <a:p>
            <a:endParaRPr lang="en-US" dirty="0"/>
          </a:p>
          <a:p>
            <a:r>
              <a:rPr lang="en-US" dirty="0"/>
              <a:t>By default, none of your data is shared publicly. You can also encrypt your data in transit and choose to enable server-side encryption on your objects. </a:t>
            </a:r>
          </a:p>
          <a:p>
            <a:r>
              <a:rPr lang="en-US" dirty="0"/>
              <a:t>You can access Amazon S3 through the web-based AWS Management Console; programmatically through the API and SDKs; or with third-party solutions, which use the API or the SDKs.</a:t>
            </a:r>
          </a:p>
          <a:p>
            <a:endParaRPr lang="en-US" dirty="0"/>
          </a:p>
          <a:p>
            <a:r>
              <a:rPr lang="en-US" dirty="0"/>
              <a:t>Amazon S3 includes event notifications that enable you to set up automatic notifications when certain events occur, such as when an object is uploaded to a bucket or deleted from a specific bucket. Those notifications can be sent to you, or they can be used to trigger other processes, such as AWS Lambda functions.</a:t>
            </a:r>
          </a:p>
          <a:p>
            <a:r>
              <a:rPr lang="en-US" dirty="0"/>
              <a:t>With storage class analysis, you can analyze storage access patterns and transition the right data to the right storage class. The Amazon S3 Analytics feature automatically identifies the optimal lifecycle policy to transition less frequently accessed storage to Amazon S3 Standard – Infrequent Access (Amazon S3 Standard-IA). You can configure a storage class analysis policy to monitor an entire bucket, a prefix, or an object tag. </a:t>
            </a:r>
          </a:p>
          <a:p>
            <a:r>
              <a:rPr lang="en-US" dirty="0"/>
              <a:t>When an infrequent access pattern is observed, you can easily create a new lifecycle age policy that is based on the results. Storage class analysis also provides daily visualizations of your storage usage in the AWS Management Console. You can export them to an Amazon S3 bucket to analyze by using the business intelligence (BI) tools of your choice, such as Amazon QuickSight.</a:t>
            </a:r>
          </a:p>
          <a:p>
            <a:endParaRPr lang="en-US" dirty="0"/>
          </a:p>
        </p:txBody>
      </p:sp>
      <p:sp>
        <p:nvSpPr>
          <p:cNvPr id="5" name="Slide Image Placeholder 4">
            <a:extLst>
              <a:ext uri="{FF2B5EF4-FFF2-40B4-BE49-F238E27FC236}">
                <a16:creationId xmlns:a16="http://schemas.microsoft.com/office/drawing/2014/main" id="{0EA55CCF-D9E4-8611-2EAA-4EEA01D75DC1}"/>
              </a:ext>
            </a:extLst>
          </p:cNvPr>
          <p:cNvSpPr>
            <a:spLocks noGrp="1" noRot="1" noChangeAspect="1"/>
          </p:cNvSpPr>
          <p:nvPr>
            <p:ph type="sldImg"/>
          </p:nvPr>
        </p:nvSpPr>
        <p:spPr/>
      </p:sp>
    </p:spTree>
    <p:extLst>
      <p:ext uri="{BB962C8B-B14F-4D97-AF65-F5344CB8AC3E}">
        <p14:creationId xmlns:p14="http://schemas.microsoft.com/office/powerpoint/2010/main" val="955773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789488"/>
          </a:xfrm>
        </p:spPr>
        <p:txBody>
          <a:bodyPr/>
          <a:lstStyle/>
          <a:p>
            <a:r>
              <a:rPr lang="en-US" dirty="0"/>
              <a:t>Amazon S3 offers a range of object-level storage classes that are designed for different use cases. These classes include:</a:t>
            </a:r>
          </a:p>
          <a:p>
            <a:pPr marL="171450" indent="-171450">
              <a:buFont typeface="Arial" panose="020B0604020202020204" pitchFamily="34" charset="0"/>
              <a:buChar char="•"/>
            </a:pPr>
            <a:r>
              <a:rPr lang="en-US" b="1" dirty="0"/>
              <a:t>Amazon S3 Standard </a:t>
            </a:r>
            <a:r>
              <a:rPr lang="en-US" dirty="0"/>
              <a:t>– Amazon S3 Standard is designed for high durability, availability, and performance object storage for frequently accessed data. Because it delivers low latency and high throughput, Amazon S3 Standard is appropriate for a variety of use cases, including cloud applications, dynamic websites, content distribution, mobile and gaming applications, and big data analytics.</a:t>
            </a:r>
          </a:p>
          <a:p>
            <a:pPr marL="171450" indent="-171450">
              <a:buFont typeface="Arial" panose="020B0604020202020204" pitchFamily="34" charset="0"/>
              <a:buChar char="•"/>
            </a:pPr>
            <a:r>
              <a:rPr lang="en-US" b="1" dirty="0"/>
              <a:t>Amazon S3 Intelligent-Tiering</a:t>
            </a:r>
            <a:r>
              <a:rPr lang="en-US" dirty="0"/>
              <a:t> – The Amazon S3 Intelligent-Tiering storage class is designed to optimize costs by automatically moving data to the most cost-effective access tier, without performance impact or operational overhead. For a small monthly monitoring and automation fee per object, Amazon S3 monitors access patterns of the objects in Amazon S3 Intelligent-Tiering, and moves the objects that have not been accessed for 30 consecutive days to the infrequent access tier. If an object in the infrequent access tier is accessed, it is automatically moved back to the frequent access tier. There are no retrieval fees when you use the Amazon S3 Intelligent-Tiering storage class, and no additional fees when objects are moved between access tiers. It works well for long-lived data with access patterns that are unknown or unpredictable.</a:t>
            </a:r>
          </a:p>
          <a:p>
            <a:pPr marL="171450" indent="-171450">
              <a:buFont typeface="Arial" panose="020B0604020202020204" pitchFamily="34" charset="0"/>
              <a:buChar char="•"/>
            </a:pPr>
            <a:r>
              <a:rPr lang="en-US" b="1" dirty="0"/>
              <a:t>Amazon S3 Standard-Infrequent Access (Amazon S3 Standard-IA) </a:t>
            </a:r>
            <a:r>
              <a:rPr lang="en-US" dirty="0"/>
              <a:t>– The Amazon S3 Standard-IA storage class is used for data that is accessed less frequently, but requires rapid access when needed. Amazon S3 Standard-IA is designed to provide the high durability, high throughput, and low latency of Amazon S3 Standard, with a low per-GB storage price and per-GB retrieval fee. This combination of low cost and high performance makes Amazon S3 Standard-IA good for long-term storage and backups, and as a data store for disaster recovery files. </a:t>
            </a:r>
          </a:p>
          <a:p>
            <a:pPr marL="171450" indent="-171450">
              <a:buFont typeface="Arial" panose="020B0604020202020204" pitchFamily="34" charset="0"/>
              <a:buChar char="•"/>
            </a:pPr>
            <a:r>
              <a:rPr lang="en-US" b="1" dirty="0"/>
              <a:t>Amazon S3 One Zone-Infrequent Access (Amazon S3 One Zone-IA) </a:t>
            </a:r>
            <a:r>
              <a:rPr lang="en-US" dirty="0"/>
              <a:t>– Amazon S3 One Zone-IA is for data that is accessed less frequently, but requires rapid access when needed. Unlike other Amazon S3 storage classes, which store data in a minimum of three Availability Zones, Amazon S3 One Zone-IA stores data in a single Availability Zone and it costs less than Amazon S3 Standard-IA. Amazon S3 One Zone-IA works well for customers who want a lower-cost option for infrequently accessed data, but do not require the availability and resilience of Amazon S3 Standard or Amazon S3 Standard-IA. It is a good choice for storing secondary backup copies of on-premises data or easily re-creatable data. You can also use it as cost-effective storage for data that is replicated from another AWS Region by using Amazon S3 Cross-Region Replication.</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Amazon S3 Glacier </a:t>
            </a:r>
            <a:r>
              <a:rPr lang="en-US" dirty="0"/>
              <a:t>– Amazon S3 Glacier is a secure, durable, and low-cost storage class for data archiving. You can reliably store any amount of data at costs that are competitive with—or cheaper than—on-premises solutions. To keep costs low yet suitable for varying needs, Amazon S3 Glacier provides three retrieval options that range from a few minutes to hours. You can upload objects directly to Amazon S3 Glacier, or use Amazon S3 lifecycle policies to transfer data between any of the Amazon S3 storage classes for active data (Amazon S3 Standard, Amazon S3 Intelligent-Tiering, Amazon S3 Standard-IA, and Amazon S3 One Zone-IA) and Amazon S3 Glacier.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Amazon S3 Glacier Deep Archive </a:t>
            </a:r>
            <a:r>
              <a:rPr lang="en-US" dirty="0"/>
              <a:t>– Amazon S3 Glacier Deep Archive is the lowest-cost storage class for Amazon S3. It supports long-term retention and digital preservation for data that might be accessed once or twice in a year. It is designed for customers — particularly customers in highly regulated industries, such as financial services, healthcare, and public sectors — that retain datasets for 7–10 years (or more) to meet regulatory compliance requirements. Amazon S3 Glacier Deep Archive can also be used for backup and disaster recovery use cases. It is a cost-effective and easy-to-manage alternative to magnetic tape systems, whether these tape systems are on-premises libraries or off-premises services. Amazon S3 Glacier Deep Archive complements Amazon S3 Glacier, and it is also designed to provide 11 9s of durability. All objects that are stored in Amazon S3 Glacier Deep Archive are replicated and stored across at least three geographically dispersed Availability Zones, and these objects can be restored within 12 hours.</a:t>
            </a:r>
          </a:p>
          <a:p>
            <a:pPr marL="171450" indent="-171450">
              <a:buFont typeface="Arial" panose="020B0604020202020204" pitchFamily="34" charset="0"/>
              <a:buChar char="•"/>
            </a:pPr>
            <a:endParaRPr lang="en-US" dirty="0"/>
          </a:p>
          <a:p>
            <a:pPr lvl="0"/>
            <a:r>
              <a:rPr lang="en-US" dirty="0"/>
              <a:t>For more information about Amazon </a:t>
            </a:r>
            <a:r>
              <a:rPr lang="en-US" dirty="0" err="1"/>
              <a:t>S3</a:t>
            </a:r>
            <a:r>
              <a:rPr lang="en-US" dirty="0"/>
              <a:t> storage classes, see </a:t>
            </a:r>
            <a:r>
              <a:rPr lang="en-GB" dirty="0">
                <a:hlinkClick r:id="rId3"/>
              </a:rPr>
              <a:t>https://</a:t>
            </a:r>
            <a:r>
              <a:rPr lang="en-GB" dirty="0" err="1">
                <a:hlinkClick r:id="rId3"/>
              </a:rPr>
              <a:t>docs.aws.amazon.com</a:t>
            </a:r>
            <a:r>
              <a:rPr lang="en-GB" dirty="0">
                <a:hlinkClick r:id="rId3"/>
              </a:rPr>
              <a:t>/</a:t>
            </a:r>
            <a:r>
              <a:rPr lang="en-GB" dirty="0" err="1">
                <a:hlinkClick r:id="rId3"/>
              </a:rPr>
              <a:t>AmazonS3</a:t>
            </a:r>
            <a:r>
              <a:rPr lang="en-GB" dirty="0">
                <a:hlinkClick r:id="rId3"/>
              </a:rPr>
              <a:t>/latest/dev/storage-class-</a:t>
            </a:r>
            <a:r>
              <a:rPr lang="en-GB" dirty="0" err="1">
                <a:hlinkClick r:id="rId3"/>
              </a:rPr>
              <a:t>intro.html</a:t>
            </a:r>
            <a:r>
              <a:rPr lang="en-US" dirty="0"/>
              <a:t>.</a:t>
            </a:r>
          </a:p>
        </p:txBody>
      </p:sp>
      <p:sp>
        <p:nvSpPr>
          <p:cNvPr id="5" name="Slide Image Placeholder 4">
            <a:extLst>
              <a:ext uri="{FF2B5EF4-FFF2-40B4-BE49-F238E27FC236}">
                <a16:creationId xmlns:a16="http://schemas.microsoft.com/office/drawing/2014/main" id="{EFFC00F9-69B7-4AC7-654D-DF7B343CD65E}"/>
              </a:ext>
            </a:extLst>
          </p:cNvPr>
          <p:cNvSpPr>
            <a:spLocks noGrp="1" noRot="1" noChangeAspect="1"/>
          </p:cNvSpPr>
          <p:nvPr>
            <p:ph type="sldImg"/>
          </p:nvPr>
        </p:nvSpPr>
        <p:spPr/>
      </p:sp>
    </p:spTree>
    <p:extLst>
      <p:ext uri="{BB962C8B-B14F-4D97-AF65-F5344CB8AC3E}">
        <p14:creationId xmlns:p14="http://schemas.microsoft.com/office/powerpoint/2010/main" val="819080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722812"/>
          </a:xfrm>
        </p:spPr>
        <p:txBody>
          <a:bodyPr/>
          <a:lstStyle/>
          <a:p>
            <a:r>
              <a:rPr lang="en-US" dirty="0"/>
              <a:t>To use Amazon S3 effectively, you must understand a few simple concepts. First, Amazon S3 stores data inside </a:t>
            </a:r>
            <a:r>
              <a:rPr lang="en-US" b="1" dirty="0"/>
              <a:t>buckets</a:t>
            </a:r>
            <a:r>
              <a:rPr lang="en-US" dirty="0"/>
              <a:t>. Buckets are essentially the prefix for a set of files, and must be uniquely named across all of Amazon S3 globally. Buckets are logical containers for objects. You can have one or more buckets in your account. You can control access for each bucket—who can create, delete, and list objects in the bucket. You can also view access logs for the bucket and its objects, and choose the geographical region where Amazon S3 stores the bucket and its contents. </a:t>
            </a:r>
          </a:p>
          <a:p>
            <a:r>
              <a:rPr lang="en-US" dirty="0"/>
              <a:t> </a:t>
            </a:r>
          </a:p>
          <a:p>
            <a:r>
              <a:rPr lang="en-US" dirty="0"/>
              <a:t>To upload your data (such as photos, videos, or documents), create a bucket in an AWS Region, and then upload almost any number of objects to the bucket. </a:t>
            </a:r>
          </a:p>
          <a:p>
            <a:r>
              <a:rPr lang="en-US" dirty="0"/>
              <a:t> </a:t>
            </a:r>
          </a:p>
          <a:p>
            <a:r>
              <a:rPr lang="en-US" dirty="0"/>
              <a:t>In the example, Amazon S3 was used to create a bucket in the Tokyo Region, which is identified within AWS formally by its Region code: ap-northeast-1</a:t>
            </a:r>
          </a:p>
          <a:p>
            <a:r>
              <a:rPr lang="en-US" dirty="0"/>
              <a:t> </a:t>
            </a:r>
          </a:p>
          <a:p>
            <a:r>
              <a:rPr lang="en-US" dirty="0"/>
              <a:t>The URL for a bucket is structured like the examples. You can use two different URL styles to refer to buckets. </a:t>
            </a:r>
          </a:p>
          <a:p>
            <a:endParaRPr lang="en-US" dirty="0"/>
          </a:p>
          <a:p>
            <a:r>
              <a:rPr lang="en-US" dirty="0"/>
              <a:t>Amazon S3 refers to files as objects. As soon as you have a bucket, you can store almost any number of objects inside it. An object is composed of data and any metadata that describes that file, including a URL. To store an object in Amazon S3, you upload the file that you want to store to a bucket. </a:t>
            </a:r>
          </a:p>
          <a:p>
            <a:endParaRPr lang="en-US" dirty="0"/>
          </a:p>
          <a:p>
            <a:r>
              <a:rPr lang="en-US" dirty="0"/>
              <a:t>When you upload a file, you can set permissions on the data and any metadata. </a:t>
            </a:r>
          </a:p>
          <a:p>
            <a:endParaRPr lang="en-US" dirty="0"/>
          </a:p>
          <a:p>
            <a:r>
              <a:rPr lang="en-US" dirty="0"/>
              <a:t>In this example, the object Preview2.mp4 is stored inside the bucket. The URL for the file includes the object name at the end.</a:t>
            </a:r>
          </a:p>
        </p:txBody>
      </p:sp>
      <p:sp>
        <p:nvSpPr>
          <p:cNvPr id="5" name="Slide Image Placeholder 4">
            <a:extLst>
              <a:ext uri="{FF2B5EF4-FFF2-40B4-BE49-F238E27FC236}">
                <a16:creationId xmlns:a16="http://schemas.microsoft.com/office/drawing/2014/main" id="{2DE83D6A-AF00-EBE1-78AC-B41EEA620440}"/>
              </a:ext>
            </a:extLst>
          </p:cNvPr>
          <p:cNvSpPr>
            <a:spLocks noGrp="1" noRot="1" noChangeAspect="1"/>
          </p:cNvSpPr>
          <p:nvPr>
            <p:ph type="sldImg"/>
          </p:nvPr>
        </p:nvSpPr>
        <p:spPr/>
      </p:sp>
    </p:spTree>
    <p:extLst>
      <p:ext uri="{BB962C8B-B14F-4D97-AF65-F5344CB8AC3E}">
        <p14:creationId xmlns:p14="http://schemas.microsoft.com/office/powerpoint/2010/main" val="4167319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When you create a bucket in Amazon S3, it is associated with a specific AWS Region. When you store data in the bucket, it is redundantly stored across multiple AWS facilities within your selected Region. </a:t>
            </a:r>
          </a:p>
          <a:p>
            <a:endParaRPr lang="en-US" dirty="0"/>
          </a:p>
          <a:p>
            <a:r>
              <a:rPr lang="en-US" dirty="0"/>
              <a:t>Amazon S3 is designed to durably store your data, even if there is concurrent data loss in two AWS facilities.</a:t>
            </a:r>
          </a:p>
        </p:txBody>
      </p:sp>
      <p:sp>
        <p:nvSpPr>
          <p:cNvPr id="5" name="Slide Image Placeholder 4">
            <a:extLst>
              <a:ext uri="{FF2B5EF4-FFF2-40B4-BE49-F238E27FC236}">
                <a16:creationId xmlns:a16="http://schemas.microsoft.com/office/drawing/2014/main" id="{09350110-5B09-1224-BEFC-6B1CA8617875}"/>
              </a:ext>
            </a:extLst>
          </p:cNvPr>
          <p:cNvSpPr>
            <a:spLocks noGrp="1" noRot="1" noChangeAspect="1"/>
          </p:cNvSpPr>
          <p:nvPr>
            <p:ph type="sldImg"/>
          </p:nvPr>
        </p:nvSpPr>
        <p:spPr/>
      </p:sp>
    </p:spTree>
    <p:extLst>
      <p:ext uri="{BB962C8B-B14F-4D97-AF65-F5344CB8AC3E}">
        <p14:creationId xmlns:p14="http://schemas.microsoft.com/office/powerpoint/2010/main" val="4229328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Amazon S3 automatically manages the storage behind your bucket while your data grows. You can get started immediately, and your data storage will grow with your application needs. </a:t>
            </a:r>
          </a:p>
          <a:p>
            <a:endParaRPr lang="en-US" dirty="0"/>
          </a:p>
          <a:p>
            <a:r>
              <a:rPr lang="en-US" dirty="0"/>
              <a:t>Amazon S3 also scales to handle a high volume of requests. You do not need to provision the storage or throughput, and you are billed only for what you use. </a:t>
            </a:r>
          </a:p>
        </p:txBody>
      </p:sp>
      <p:sp>
        <p:nvSpPr>
          <p:cNvPr id="5" name="Slide Image Placeholder 4">
            <a:extLst>
              <a:ext uri="{FF2B5EF4-FFF2-40B4-BE49-F238E27FC236}">
                <a16:creationId xmlns:a16="http://schemas.microsoft.com/office/drawing/2014/main" id="{5EE6C836-FCD3-4342-EE98-298DF9881178}"/>
              </a:ext>
            </a:extLst>
          </p:cNvPr>
          <p:cNvSpPr>
            <a:spLocks noGrp="1" noRot="1" noChangeAspect="1"/>
          </p:cNvSpPr>
          <p:nvPr>
            <p:ph type="sldImg"/>
          </p:nvPr>
        </p:nvSpPr>
        <p:spPr/>
      </p:sp>
    </p:spTree>
    <p:extLst>
      <p:ext uri="{BB962C8B-B14F-4D97-AF65-F5344CB8AC3E}">
        <p14:creationId xmlns:p14="http://schemas.microsoft.com/office/powerpoint/2010/main" val="4192140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You can access Amazon S3 through the console, AWS Command Line Interface (AWS CLI), or AWS SDK. You can also access the data in your bucket directly by using REST-based endpoints. </a:t>
            </a:r>
          </a:p>
          <a:p>
            <a:endParaRPr lang="en-US" dirty="0"/>
          </a:p>
          <a:p>
            <a:r>
              <a:rPr lang="en-US" dirty="0"/>
              <a:t>The endpoints support HTTP or HTTPS access. To support this type of URL-based access, Amazon S3 bucket names must be globally unique and Domain Name Server (DNS)-compliant. </a:t>
            </a:r>
          </a:p>
          <a:p>
            <a:endParaRPr lang="en-US" dirty="0"/>
          </a:p>
          <a:p>
            <a:r>
              <a:rPr lang="en-US" dirty="0"/>
              <a:t>Also, object keys should use characters that are safe for URLs. </a:t>
            </a:r>
          </a:p>
        </p:txBody>
      </p:sp>
      <p:sp>
        <p:nvSpPr>
          <p:cNvPr id="5" name="Slide Image Placeholder 4">
            <a:extLst>
              <a:ext uri="{FF2B5EF4-FFF2-40B4-BE49-F238E27FC236}">
                <a16:creationId xmlns:a16="http://schemas.microsoft.com/office/drawing/2014/main" id="{227FE257-48D1-6A75-4AEB-E1E4216B16E1}"/>
              </a:ext>
            </a:extLst>
          </p:cNvPr>
          <p:cNvSpPr>
            <a:spLocks noGrp="1" noRot="1" noChangeAspect="1"/>
          </p:cNvSpPr>
          <p:nvPr>
            <p:ph type="sldImg"/>
          </p:nvPr>
        </p:nvSpPr>
        <p:spPr/>
      </p:sp>
    </p:spTree>
    <p:extLst>
      <p:ext uri="{BB962C8B-B14F-4D97-AF65-F5344CB8AC3E}">
        <p14:creationId xmlns:p14="http://schemas.microsoft.com/office/powerpoint/2010/main" val="2851466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flexibility to store a virtually unlimited amount of data—and to access that data from anywhere—means that Amazon S3 is suitable for a variety of scenarios. You will now consider some use cases for Amazon </a:t>
            </a:r>
            <a:r>
              <a:rPr lang="en-US" dirty="0" err="1"/>
              <a:t>S3</a:t>
            </a:r>
            <a:r>
              <a:rPr lang="en-US" dirty="0"/>
              <a:t>:</a:t>
            </a:r>
          </a:p>
          <a:p>
            <a:pPr marL="171450" indent="-171450">
              <a:buFont typeface="Arial" panose="020B0604020202020204" pitchFamily="34" charset="0"/>
              <a:buChar char="•"/>
            </a:pPr>
            <a:r>
              <a:rPr lang="en-US" dirty="0"/>
              <a:t>As a location for any application data, Amazon S3 buckets provide a shared location for storing objects that any instances of your application can access—including applications on Amazon EC2 or even traditional servers. This feature can be useful for user-generated media files, server logs, or other files that your application must store in a common location. Also, because the content can be fetched directly over the internet, you can offload serving that content from your application and enable clients to directly fetch the data from Amazon S3 themselves. </a:t>
            </a:r>
          </a:p>
          <a:p>
            <a:pPr marL="171450" indent="-171450">
              <a:buFont typeface="Arial" panose="020B0604020202020204" pitchFamily="34" charset="0"/>
              <a:buChar char="•"/>
            </a:pPr>
            <a:r>
              <a:rPr lang="en-US" dirty="0"/>
              <a:t>For static web hosting, Amazon S3 buckets can serve the static contents of your website, including HTML, CSS, JavaScript, and other files. </a:t>
            </a:r>
          </a:p>
          <a:p>
            <a:pPr marL="171450" indent="-171450">
              <a:buFont typeface="Arial" panose="020B0604020202020204" pitchFamily="34" charset="0"/>
              <a:buChar char="•"/>
            </a:pPr>
            <a:r>
              <a:rPr lang="en-US" dirty="0"/>
              <a:t>The high durability of Amazon S3 makes it a good candidate for storing backups of your data. For greater availability and disaster recovery capability, Amazon S3 can even be configured to support cross-Region replication so that data in an Amazon S3 bucket in one Region can be automatically replicated to another Amazon S3 Region.</a:t>
            </a:r>
          </a:p>
        </p:txBody>
      </p:sp>
      <p:sp>
        <p:nvSpPr>
          <p:cNvPr id="5" name="Slide Image Placeholder 4">
            <a:extLst>
              <a:ext uri="{FF2B5EF4-FFF2-40B4-BE49-F238E27FC236}">
                <a16:creationId xmlns:a16="http://schemas.microsoft.com/office/drawing/2014/main" id="{8D0E0F51-38C0-AD04-2706-88893D0A46C4}"/>
              </a:ext>
            </a:extLst>
          </p:cNvPr>
          <p:cNvSpPr>
            <a:spLocks noGrp="1" noRot="1" noChangeAspect="1"/>
          </p:cNvSpPr>
          <p:nvPr>
            <p:ph type="sldImg"/>
          </p:nvPr>
        </p:nvSpPr>
        <p:spPr/>
      </p:sp>
    </p:spTree>
    <p:extLst>
      <p:ext uri="{BB962C8B-B14F-4D97-AF65-F5344CB8AC3E}">
        <p14:creationId xmlns:p14="http://schemas.microsoft.com/office/powerpoint/2010/main" val="685448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Backup and storage </a:t>
            </a:r>
            <a:r>
              <a:rPr lang="en-US" dirty="0"/>
              <a:t>– Provide data backup and storage services for others</a:t>
            </a:r>
          </a:p>
          <a:p>
            <a:endParaRPr lang="en-US" dirty="0"/>
          </a:p>
          <a:p>
            <a:r>
              <a:rPr lang="en-US" b="1" dirty="0"/>
              <a:t>Application hosting </a:t>
            </a:r>
            <a:r>
              <a:rPr lang="en-US" dirty="0"/>
              <a:t>– Provide services that deploy, install, and manage web applications</a:t>
            </a:r>
          </a:p>
          <a:p>
            <a:endParaRPr lang="en-US" dirty="0"/>
          </a:p>
          <a:p>
            <a:r>
              <a:rPr lang="en-US" b="1" dirty="0"/>
              <a:t>Media hosting </a:t>
            </a:r>
            <a:r>
              <a:rPr lang="en-US" dirty="0"/>
              <a:t>– Build a redundant, scalable, and highly available infrastructure that hosts video, photo, or music uploads and downloads</a:t>
            </a:r>
          </a:p>
          <a:p>
            <a:endParaRPr lang="en-US" dirty="0"/>
          </a:p>
          <a:p>
            <a:r>
              <a:rPr lang="en-US" b="1" dirty="0"/>
              <a:t>Software delivery </a:t>
            </a:r>
            <a:r>
              <a:rPr lang="en-US" dirty="0"/>
              <a:t>– Host your software applications that customers can download</a:t>
            </a:r>
          </a:p>
        </p:txBody>
      </p:sp>
      <p:sp>
        <p:nvSpPr>
          <p:cNvPr id="5" name="Slide Image Placeholder 4">
            <a:extLst>
              <a:ext uri="{FF2B5EF4-FFF2-40B4-BE49-F238E27FC236}">
                <a16:creationId xmlns:a16="http://schemas.microsoft.com/office/drawing/2014/main" id="{FB09A1E3-5EE1-07FC-0EAE-A60E1DF73734}"/>
              </a:ext>
            </a:extLst>
          </p:cNvPr>
          <p:cNvSpPr>
            <a:spLocks noGrp="1" noRot="1" noChangeAspect="1"/>
          </p:cNvSpPr>
          <p:nvPr>
            <p:ph type="sldImg"/>
          </p:nvPr>
        </p:nvSpPr>
        <p:spPr/>
      </p:sp>
    </p:spTree>
    <p:extLst>
      <p:ext uri="{BB962C8B-B14F-4D97-AF65-F5344CB8AC3E}">
        <p14:creationId xmlns:p14="http://schemas.microsoft.com/office/powerpoint/2010/main" val="3790124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With Amazon S3, specific costs vary depending on the Region and the specific requests that were made. You pay only for what you use, including gigabytes per month; transfer out of other Regions; and PUT, COPY, POST, LIST, and GET requests. </a:t>
            </a:r>
            <a:br>
              <a:rPr lang="en-US" dirty="0"/>
            </a:br>
            <a:br>
              <a:rPr lang="en-US" dirty="0"/>
            </a:br>
            <a:r>
              <a:rPr lang="en-US" dirty="0"/>
              <a:t>As a general rule, you pay only for transfers that cross the boundary of your Region, which means you do not pay for transfers in to Amazon S3 or transfers out from Amazon S3 to Amazon CloudFront edge locations within that same Region.</a:t>
            </a:r>
          </a:p>
        </p:txBody>
      </p:sp>
      <p:sp>
        <p:nvSpPr>
          <p:cNvPr id="5" name="Slide Image Placeholder 4">
            <a:extLst>
              <a:ext uri="{FF2B5EF4-FFF2-40B4-BE49-F238E27FC236}">
                <a16:creationId xmlns:a16="http://schemas.microsoft.com/office/drawing/2014/main" id="{AD66EBE2-903C-40DE-2801-FC6ADB40397A}"/>
              </a:ext>
            </a:extLst>
          </p:cNvPr>
          <p:cNvSpPr>
            <a:spLocks noGrp="1" noRot="1" noChangeAspect="1"/>
          </p:cNvSpPr>
          <p:nvPr>
            <p:ph type="sldImg"/>
          </p:nvPr>
        </p:nvSpPr>
        <p:spPr/>
      </p:sp>
    </p:spTree>
    <p:extLst>
      <p:ext uri="{BB962C8B-B14F-4D97-AF65-F5344CB8AC3E}">
        <p14:creationId xmlns:p14="http://schemas.microsoft.com/office/powerpoint/2010/main" val="3117933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When you begin to estimate the costs of Amazon S3, you must consider the following:</a:t>
            </a:r>
          </a:p>
          <a:p>
            <a:pPr marL="228600" lvl="0" indent="-228600">
              <a:buFont typeface="+mj-lt"/>
              <a:buAutoNum type="arabicPeriod"/>
            </a:pPr>
            <a:r>
              <a:rPr lang="en-US" b="1" dirty="0"/>
              <a:t>Storage class type </a:t>
            </a:r>
            <a:r>
              <a:rPr lang="en-US" dirty="0"/>
              <a:t>– </a:t>
            </a:r>
          </a:p>
          <a:p>
            <a:pPr marL="685800" lvl="1" indent="-228600">
              <a:buFont typeface="Arial" panose="020B0604020202020204" pitchFamily="34" charset="0"/>
              <a:buChar char="•"/>
            </a:pPr>
            <a:r>
              <a:rPr lang="en-US" b="1" dirty="0"/>
              <a:t>Standard storage </a:t>
            </a:r>
            <a:r>
              <a:rPr lang="en-US" dirty="0"/>
              <a:t>is designed to provide 11 9s of durability and four 9s of availability. </a:t>
            </a:r>
          </a:p>
          <a:p>
            <a:pPr marL="685800" lvl="1" indent="-228600">
              <a:buFont typeface="Arial" panose="020B0604020202020204" pitchFamily="34" charset="0"/>
              <a:buChar char="•"/>
            </a:pPr>
            <a:r>
              <a:rPr lang="en-US" b="1" dirty="0"/>
              <a:t>S3 Standard – Infrequent Access (S-IA)</a:t>
            </a:r>
            <a:r>
              <a:rPr lang="en-US" dirty="0"/>
              <a:t> is a storage option within Amazon S3 that you can use to reduce your costs by storing less frequently accessed data at slightly lower levels of redundancy than Amazon S3 standard storage. Standard – Infrequent Access is designed to provide the same 11 9s of durability as Amazon S3, with three 9s of availability in a given year. Each class has different rates.</a:t>
            </a:r>
          </a:p>
          <a:p>
            <a:pPr marL="228600" lvl="0" indent="-228600">
              <a:buFont typeface="+mj-lt"/>
              <a:buAutoNum type="arabicPeriod" startAt="2"/>
            </a:pPr>
            <a:r>
              <a:rPr lang="en-US" b="1" dirty="0"/>
              <a:t>Amount of storage </a:t>
            </a:r>
            <a:r>
              <a:rPr lang="en-US" dirty="0"/>
              <a:t>– The number and size of objects stored in your Amazon S3 buckets.</a:t>
            </a:r>
          </a:p>
          <a:p>
            <a:endParaRPr lang="en-US" dirty="0"/>
          </a:p>
        </p:txBody>
      </p:sp>
      <p:sp>
        <p:nvSpPr>
          <p:cNvPr id="5" name="Slide Image Placeholder 4">
            <a:extLst>
              <a:ext uri="{FF2B5EF4-FFF2-40B4-BE49-F238E27FC236}">
                <a16:creationId xmlns:a16="http://schemas.microsoft.com/office/drawing/2014/main" id="{75228B6B-F143-C78A-3E32-320DCF251D80}"/>
              </a:ext>
            </a:extLst>
          </p:cNvPr>
          <p:cNvSpPr>
            <a:spLocks noGrp="1" noRot="1" noChangeAspect="1"/>
          </p:cNvSpPr>
          <p:nvPr>
            <p:ph type="sldImg"/>
          </p:nvPr>
        </p:nvSpPr>
        <p:spPr/>
      </p:sp>
    </p:spTree>
    <p:extLst>
      <p:ext uri="{BB962C8B-B14F-4D97-AF65-F5344CB8AC3E}">
        <p14:creationId xmlns:p14="http://schemas.microsoft.com/office/powerpoint/2010/main" val="34751671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lvl="0" indent="-228600">
              <a:buFont typeface="+mj-lt"/>
              <a:buAutoNum type="arabicPeriod" startAt="3"/>
            </a:pPr>
            <a:r>
              <a:rPr lang="en-US" b="1" dirty="0"/>
              <a:t>Requests</a:t>
            </a:r>
            <a:r>
              <a:rPr lang="en-US" dirty="0"/>
              <a:t> – Consider the number and type of requests. GET requests incur charges at different rates than other requests, such as PUT and COPY requests.</a:t>
            </a:r>
          </a:p>
          <a:p>
            <a:pPr marL="685800" lvl="1" indent="-228600">
              <a:buFont typeface="Arial" panose="020B0604020202020204" pitchFamily="34" charset="0"/>
              <a:buChar char="•"/>
            </a:pPr>
            <a:r>
              <a:rPr lang="en-US" b="1" dirty="0"/>
              <a:t>GET</a:t>
            </a:r>
            <a:r>
              <a:rPr lang="en-US" dirty="0"/>
              <a:t> – Retrieves an object from Amazon S3. You must have READ access to use this operation.</a:t>
            </a:r>
          </a:p>
          <a:p>
            <a:pPr marL="685800" lvl="1" indent="-228600">
              <a:buFont typeface="Arial" panose="020B0604020202020204" pitchFamily="34" charset="0"/>
              <a:buChar char="•"/>
            </a:pPr>
            <a:r>
              <a:rPr lang="en-US" b="1" dirty="0"/>
              <a:t>PUT</a:t>
            </a:r>
            <a:r>
              <a:rPr lang="en-US" dirty="0"/>
              <a:t> – Adds an object to a bucket. You must have WRITE permissions on a bucket to add an object to it.</a:t>
            </a:r>
          </a:p>
          <a:p>
            <a:pPr marL="685800" lvl="1" indent="-228600">
              <a:buFont typeface="Arial" panose="020B0604020202020204" pitchFamily="34" charset="0"/>
              <a:buChar char="•"/>
            </a:pPr>
            <a:r>
              <a:rPr lang="en-US" b="1" dirty="0"/>
              <a:t>COPY</a:t>
            </a:r>
            <a:r>
              <a:rPr lang="en-US" dirty="0"/>
              <a:t> – Creates a copy of an object that is already stored in Amazon S3. A COPY operation is the same as performing a GET and then a PUT.</a:t>
            </a:r>
          </a:p>
          <a:p>
            <a:pPr marL="228600" lvl="0" indent="-228600">
              <a:buFont typeface="+mj-lt"/>
              <a:buAutoNum type="arabicPeriod" startAt="4"/>
            </a:pPr>
            <a:r>
              <a:rPr lang="en-US" b="1" dirty="0"/>
              <a:t>Data transfer </a:t>
            </a:r>
            <a:r>
              <a:rPr lang="en-US" dirty="0"/>
              <a:t>– Consider the amount of data that is transferred out of the Amazon S3 Region. Remember that data transfer in is free, but there is a charge for data transfer out.</a:t>
            </a:r>
          </a:p>
          <a:p>
            <a:endParaRPr lang="en-US" dirty="0"/>
          </a:p>
        </p:txBody>
      </p:sp>
      <p:sp>
        <p:nvSpPr>
          <p:cNvPr id="5" name="Slide Image Placeholder 4">
            <a:extLst>
              <a:ext uri="{FF2B5EF4-FFF2-40B4-BE49-F238E27FC236}">
                <a16:creationId xmlns:a16="http://schemas.microsoft.com/office/drawing/2014/main" id="{B8ED6C81-566D-9173-8011-6D175A6D2457}"/>
              </a:ext>
            </a:extLst>
          </p:cNvPr>
          <p:cNvSpPr>
            <a:spLocks noGrp="1" noRot="1" noChangeAspect="1"/>
          </p:cNvSpPr>
          <p:nvPr>
            <p:ph type="sldImg"/>
          </p:nvPr>
        </p:nvSpPr>
        <p:spPr/>
      </p:sp>
    </p:spTree>
    <p:extLst>
      <p:ext uri="{BB962C8B-B14F-4D97-AF65-F5344CB8AC3E}">
        <p14:creationId xmlns:p14="http://schemas.microsoft.com/office/powerpoint/2010/main" val="17537468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You have completed an introduction to Amazon S3, including key features and some common use cases. </a:t>
            </a:r>
          </a:p>
          <a:p>
            <a:endParaRPr lang="en-US" dirty="0"/>
          </a:p>
          <a:p>
            <a:pPr lvl="0"/>
            <a:r>
              <a:rPr lang="en-US" dirty="0"/>
              <a:t>To learn more about Amazon S3, see </a:t>
            </a:r>
            <a:r>
              <a:rPr lang="en-GB" dirty="0">
                <a:hlinkClick r:id="rId3"/>
              </a:rPr>
              <a:t>https://</a:t>
            </a:r>
            <a:r>
              <a:rPr lang="en-GB" dirty="0" err="1">
                <a:hlinkClick r:id="rId3"/>
              </a:rPr>
              <a:t>aws.amazon.com</a:t>
            </a:r>
            <a:r>
              <a:rPr lang="en-GB" dirty="0">
                <a:hlinkClick r:id="rId3"/>
              </a:rPr>
              <a:t>/</a:t>
            </a:r>
            <a:r>
              <a:rPr lang="en-GB" dirty="0" err="1">
                <a:hlinkClick r:id="rId3"/>
              </a:rPr>
              <a:t>s3</a:t>
            </a:r>
            <a:r>
              <a:rPr lang="en-GB" dirty="0">
                <a:hlinkClick r:id="rId3"/>
              </a:rPr>
              <a:t>/</a:t>
            </a:r>
            <a:r>
              <a:rPr lang="en-US" dirty="0"/>
              <a:t>. </a:t>
            </a:r>
          </a:p>
          <a:p>
            <a:endParaRPr lang="en-US" dirty="0"/>
          </a:p>
        </p:txBody>
      </p:sp>
      <p:sp>
        <p:nvSpPr>
          <p:cNvPr id="5" name="Slide Image Placeholder 4">
            <a:extLst>
              <a:ext uri="{FF2B5EF4-FFF2-40B4-BE49-F238E27FC236}">
                <a16:creationId xmlns:a16="http://schemas.microsoft.com/office/drawing/2014/main" id="{381DD281-1200-9B97-1737-04F73CC6328F}"/>
              </a:ext>
            </a:extLst>
          </p:cNvPr>
          <p:cNvSpPr>
            <a:spLocks noGrp="1" noRot="1" noChangeAspect="1"/>
          </p:cNvSpPr>
          <p:nvPr>
            <p:ph type="sldImg"/>
          </p:nvPr>
        </p:nvSpPr>
        <p:spPr/>
      </p:sp>
    </p:spTree>
    <p:extLst>
      <p:ext uri="{BB962C8B-B14F-4D97-AF65-F5344CB8AC3E}">
        <p14:creationId xmlns:p14="http://schemas.microsoft.com/office/powerpoint/2010/main" val="41347817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Introduce Section 3: Amazon Elastic File System (Amazon EFS)</a:t>
            </a:r>
          </a:p>
          <a:p>
            <a:pPr lvl="0"/>
            <a:endParaRPr lang="en-US" dirty="0"/>
          </a:p>
          <a:p>
            <a:pPr lvl="0"/>
            <a:r>
              <a:rPr lang="en-US" dirty="0"/>
              <a:t>Amazon EFS implements storage for EC2 instances that multiple virtual machines can access at the same time. It is implemented as a shared file system that uses the Network File System (NFS) protocol. </a:t>
            </a:r>
          </a:p>
          <a:p>
            <a:endParaRPr lang="en-US" dirty="0"/>
          </a:p>
        </p:txBody>
      </p:sp>
      <p:sp>
        <p:nvSpPr>
          <p:cNvPr id="5" name="Slide Image Placeholder 4">
            <a:extLst>
              <a:ext uri="{FF2B5EF4-FFF2-40B4-BE49-F238E27FC236}">
                <a16:creationId xmlns:a16="http://schemas.microsoft.com/office/drawing/2014/main" id="{04660409-F8B5-63D9-20BF-610FBCD8A370}"/>
              </a:ext>
            </a:extLst>
          </p:cNvPr>
          <p:cNvSpPr>
            <a:spLocks noGrp="1" noRot="1" noChangeAspect="1"/>
          </p:cNvSpPr>
          <p:nvPr>
            <p:ph type="sldImg"/>
          </p:nvPr>
        </p:nvSpPr>
        <p:spPr/>
      </p:sp>
    </p:spTree>
    <p:extLst>
      <p:ext uri="{BB962C8B-B14F-4D97-AF65-F5344CB8AC3E}">
        <p14:creationId xmlns:p14="http://schemas.microsoft.com/office/powerpoint/2010/main" val="327707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sv-SE" b="1" dirty="0"/>
              <a:t>Amazon Elastic File System (Amazon EFS)</a:t>
            </a:r>
            <a:r>
              <a:rPr lang="en-US" dirty="0"/>
              <a:t> provides simple, scalable, elastic file storage for use with AWS services and on-premises resources. It offers a simple interface that enables you to create and configure file systems quickly and easily. </a:t>
            </a:r>
          </a:p>
          <a:p>
            <a:pPr lvl="1"/>
            <a:endParaRPr lang="en-US" dirty="0"/>
          </a:p>
          <a:p>
            <a:r>
              <a:rPr lang="en-US" dirty="0"/>
              <a:t>Amazon EFS is built to dynamically scale on demand without disrupting applications—it will grow and shrink automatically as you add and remove files. It is designed so that your applications have the storage they need, when they need it.</a:t>
            </a:r>
          </a:p>
        </p:txBody>
      </p:sp>
      <p:sp>
        <p:nvSpPr>
          <p:cNvPr id="7" name="Slide Image Placeholder 6">
            <a:extLst>
              <a:ext uri="{FF2B5EF4-FFF2-40B4-BE49-F238E27FC236}">
                <a16:creationId xmlns:a16="http://schemas.microsoft.com/office/drawing/2014/main" id="{B5568D99-4542-F89C-EF2B-E5A6DB789FE3}"/>
              </a:ext>
            </a:extLst>
          </p:cNvPr>
          <p:cNvSpPr>
            <a:spLocks noGrp="1" noRot="1" noChangeAspect="1"/>
          </p:cNvSpPr>
          <p:nvPr>
            <p:ph type="sldImg"/>
          </p:nvPr>
        </p:nvSpPr>
        <p:spPr/>
      </p:sp>
    </p:spTree>
    <p:extLst>
      <p:ext uri="{BB962C8B-B14F-4D97-AF65-F5344CB8AC3E}">
        <p14:creationId xmlns:p14="http://schemas.microsoft.com/office/powerpoint/2010/main" val="17766687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Amazon EFS is a fully managed service that makes it easy to set up and scale file storage in the AWS Cloud. You can use Amazon EFS to build a file system for big data and analytics, media processing workflows, content management, web serving, and home directories. </a:t>
            </a:r>
          </a:p>
          <a:p>
            <a:pPr lvl="0"/>
            <a:endParaRPr lang="en-US" dirty="0"/>
          </a:p>
          <a:p>
            <a:pPr lvl="0"/>
            <a:r>
              <a:rPr lang="en-US" dirty="0"/>
              <a:t>You can create file systems that are accessible to Amazon EC2 instances through a file system interface (using standard operating system file I/O APIs). These file systems support full file system access semantics, such as strong consistency and file locking.</a:t>
            </a:r>
          </a:p>
          <a:p>
            <a:endParaRPr lang="en-US" dirty="0"/>
          </a:p>
          <a:p>
            <a:r>
              <a:rPr lang="en-US" dirty="0"/>
              <a:t>Amazon EFS file systems can automatically scale from gigabytes to petabytes of data without the need to provision storage. Thousands of Amazon EC2 instances can access an Amazon EFS file system at the same time, and Amazon EFS is designed to provide consistent performance to each Amazon EC2 instance. Amazon EFS is also designed to be highly durable and highly available. Amazon EFS requires no minimum fee or setup costs, and you pay only for the storage that you use.</a:t>
            </a:r>
          </a:p>
        </p:txBody>
      </p:sp>
      <p:sp>
        <p:nvSpPr>
          <p:cNvPr id="5" name="Slide Image Placeholder 4">
            <a:extLst>
              <a:ext uri="{FF2B5EF4-FFF2-40B4-BE49-F238E27FC236}">
                <a16:creationId xmlns:a16="http://schemas.microsoft.com/office/drawing/2014/main" id="{2DE69CE2-734A-D7E4-2473-02BEFBE0A704}"/>
              </a:ext>
            </a:extLst>
          </p:cNvPr>
          <p:cNvSpPr>
            <a:spLocks noGrp="1" noRot="1" noChangeAspect="1"/>
          </p:cNvSpPr>
          <p:nvPr>
            <p:ph type="sldImg"/>
          </p:nvPr>
        </p:nvSpPr>
        <p:spPr/>
      </p:sp>
    </p:spTree>
    <p:extLst>
      <p:ext uri="{BB962C8B-B14F-4D97-AF65-F5344CB8AC3E}">
        <p14:creationId xmlns:p14="http://schemas.microsoft.com/office/powerpoint/2010/main" val="33389274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Amazon EFS provides file storage in the cloud. With Amazon EFS, you can create a file system, mount the file system on an Amazon EC2 instance, and then read and write data from to and from your file system. You can mount an Amazon EFS file system in your VPC, through NFS versions 4.0 and 4.1 (NFSv4). </a:t>
            </a:r>
          </a:p>
          <a:p>
            <a:endParaRPr lang="en-US" dirty="0"/>
          </a:p>
          <a:p>
            <a:r>
              <a:rPr lang="en-US" dirty="0"/>
              <a:t>You can access your Amazon EFS file system concurrently from Amazon EC2 instances in your VPC, so applications that scale beyond a single connection can access a file system. Amazon EC2 instances that run in multiple Availability Zones within the same AWS Region can access the file system, so many users can access and share a common data source. </a:t>
            </a:r>
          </a:p>
          <a:p>
            <a:endParaRPr lang="en-US" dirty="0"/>
          </a:p>
          <a:p>
            <a:r>
              <a:rPr lang="en-US" dirty="0"/>
              <a:t>In the diagram, the VPC has three Availability Zones, and each Availability Zone has one mount target that was created in it. We recommend that you access the file system from a mount target within the same Availability Zone. One of the Availability Zones has two subnets. However, a mount target is created in only one of the subnets.</a:t>
            </a:r>
          </a:p>
        </p:txBody>
      </p:sp>
      <p:sp>
        <p:nvSpPr>
          <p:cNvPr id="5" name="Slide Image Placeholder 4">
            <a:extLst>
              <a:ext uri="{FF2B5EF4-FFF2-40B4-BE49-F238E27FC236}">
                <a16:creationId xmlns:a16="http://schemas.microsoft.com/office/drawing/2014/main" id="{47733D2A-BE3A-A55D-3EFA-D05BF9B7F9AB}"/>
              </a:ext>
            </a:extLst>
          </p:cNvPr>
          <p:cNvSpPr>
            <a:spLocks noGrp="1" noRot="1" noChangeAspect="1"/>
          </p:cNvSpPr>
          <p:nvPr>
            <p:ph type="sldImg"/>
          </p:nvPr>
        </p:nvSpPr>
        <p:spPr/>
      </p:sp>
    </p:spTree>
    <p:extLst>
      <p:ext uri="{BB962C8B-B14F-4D97-AF65-F5344CB8AC3E}">
        <p14:creationId xmlns:p14="http://schemas.microsoft.com/office/powerpoint/2010/main" val="3290562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You must complete five steps to create and use your first Amazon EFS file system, mount it on an Amazon EC2 instance in your VPC, and test the end-to-end setup: </a:t>
            </a:r>
          </a:p>
          <a:p>
            <a:pPr marL="228600" indent="-228600">
              <a:buFont typeface="+mj-lt"/>
              <a:buAutoNum type="arabicPeriod"/>
            </a:pPr>
            <a:r>
              <a:rPr lang="en-US" dirty="0"/>
              <a:t>Create your Amazon EC2 resources and launch your instance. (Before you can launch and connect to an Amazon EC2 instance, you must create a key pair, unless you already have one.)</a:t>
            </a:r>
          </a:p>
          <a:p>
            <a:pPr marL="228600" indent="-228600">
              <a:buFont typeface="+mj-lt"/>
              <a:buAutoNum type="arabicPeriod"/>
            </a:pPr>
            <a:r>
              <a:rPr lang="en-US" dirty="0"/>
              <a:t>Create your Amazon EFS file system.</a:t>
            </a:r>
          </a:p>
          <a:p>
            <a:pPr marL="228600" indent="-228600">
              <a:buFont typeface="+mj-lt"/>
              <a:buAutoNum type="arabicPeriod"/>
            </a:pPr>
            <a:r>
              <a:rPr lang="en-US" dirty="0"/>
              <a:t>In the appropriate subnets, create your mount targets.</a:t>
            </a:r>
          </a:p>
          <a:p>
            <a:pPr marL="228600" indent="-228600">
              <a:buFont typeface="+mj-lt"/>
              <a:buAutoNum type="arabicPeriod"/>
            </a:pPr>
            <a:r>
              <a:rPr lang="en-US" dirty="0"/>
              <a:t>Next, connect to your Amazon EC2 instance and mount the Amazon EFS file system.</a:t>
            </a:r>
          </a:p>
          <a:p>
            <a:pPr marL="228600" indent="-228600">
              <a:buFont typeface="+mj-lt"/>
              <a:buAutoNum type="arabicPeriod"/>
            </a:pPr>
            <a:r>
              <a:rPr lang="en-US" dirty="0"/>
              <a:t>Finally, clean up your resources and protect your AWS account.</a:t>
            </a:r>
          </a:p>
          <a:p>
            <a:endParaRPr lang="en-US" dirty="0"/>
          </a:p>
        </p:txBody>
      </p:sp>
      <p:sp>
        <p:nvSpPr>
          <p:cNvPr id="5" name="Slide Image Placeholder 4">
            <a:extLst>
              <a:ext uri="{FF2B5EF4-FFF2-40B4-BE49-F238E27FC236}">
                <a16:creationId xmlns:a16="http://schemas.microsoft.com/office/drawing/2014/main" id="{E586ECDC-F61A-5FEA-6B25-D730B0F1D42F}"/>
              </a:ext>
            </a:extLst>
          </p:cNvPr>
          <p:cNvSpPr>
            <a:spLocks noGrp="1" noRot="1" noChangeAspect="1"/>
          </p:cNvSpPr>
          <p:nvPr>
            <p:ph type="sldImg"/>
          </p:nvPr>
        </p:nvSpPr>
        <p:spPr/>
      </p:sp>
    </p:spTree>
    <p:extLst>
      <p:ext uri="{BB962C8B-B14F-4D97-AF65-F5344CB8AC3E}">
        <p14:creationId xmlns:p14="http://schemas.microsoft.com/office/powerpoint/2010/main" val="33115040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894262"/>
          </a:xfrm>
        </p:spPr>
        <p:txBody>
          <a:bodyPr/>
          <a:lstStyle/>
          <a:p>
            <a:r>
              <a:rPr lang="en-US" dirty="0"/>
              <a:t>In Amazon EFS, a file system is the primary resource. Each file system has properties such as:</a:t>
            </a:r>
          </a:p>
          <a:p>
            <a:pPr marL="171450" indent="-171450">
              <a:buFont typeface="Arial" panose="020B0604020202020204" pitchFamily="34" charset="0"/>
              <a:buChar char="•"/>
            </a:pPr>
            <a:r>
              <a:rPr lang="en-US" dirty="0"/>
              <a:t>ID</a:t>
            </a:r>
          </a:p>
          <a:p>
            <a:pPr marL="171450" indent="-171450">
              <a:buFont typeface="Arial" panose="020B0604020202020204" pitchFamily="34" charset="0"/>
              <a:buChar char="•"/>
            </a:pPr>
            <a:r>
              <a:rPr lang="en-US" dirty="0"/>
              <a:t>Creation token</a:t>
            </a:r>
          </a:p>
          <a:p>
            <a:pPr marL="171450" indent="-171450">
              <a:buFont typeface="Arial" panose="020B0604020202020204" pitchFamily="34" charset="0"/>
              <a:buChar char="•"/>
            </a:pPr>
            <a:r>
              <a:rPr lang="en-US" dirty="0"/>
              <a:t>Creation time</a:t>
            </a:r>
          </a:p>
          <a:p>
            <a:pPr marL="171450" indent="-171450">
              <a:buFont typeface="Arial" panose="020B0604020202020204" pitchFamily="34" charset="0"/>
              <a:buChar char="•"/>
            </a:pPr>
            <a:r>
              <a:rPr lang="en-US" dirty="0"/>
              <a:t>File system size in bytes</a:t>
            </a:r>
          </a:p>
          <a:p>
            <a:pPr marL="171450" indent="-171450">
              <a:buFont typeface="Arial" panose="020B0604020202020204" pitchFamily="34" charset="0"/>
              <a:buChar char="•"/>
            </a:pPr>
            <a:r>
              <a:rPr lang="en-US" dirty="0"/>
              <a:t>Number of mount targets that are created for the file system</a:t>
            </a:r>
          </a:p>
          <a:p>
            <a:pPr marL="171450" indent="-171450">
              <a:buFont typeface="Arial" panose="020B0604020202020204" pitchFamily="34" charset="0"/>
              <a:buChar char="•"/>
            </a:pPr>
            <a:r>
              <a:rPr lang="en-US" dirty="0"/>
              <a:t>File system state </a:t>
            </a:r>
          </a:p>
          <a:p>
            <a:endParaRPr lang="en-US" dirty="0"/>
          </a:p>
          <a:p>
            <a:r>
              <a:rPr lang="en-US" dirty="0"/>
              <a:t>Amazon EFS also supports other resources to configure the primary resource. These resources include mount targets and tags.</a:t>
            </a:r>
          </a:p>
          <a:p>
            <a:r>
              <a:rPr lang="en-US" dirty="0"/>
              <a:t> </a:t>
            </a:r>
          </a:p>
          <a:p>
            <a:r>
              <a:rPr lang="en-US" b="1" dirty="0"/>
              <a:t>Mount target: </a:t>
            </a:r>
            <a:r>
              <a:rPr lang="en-US" dirty="0"/>
              <a:t>To access your file system, you must create mount targets in your VPC. </a:t>
            </a:r>
          </a:p>
          <a:p>
            <a:r>
              <a:rPr lang="en-US" dirty="0"/>
              <a:t>Each mount target has the following properties: </a:t>
            </a:r>
          </a:p>
          <a:p>
            <a:pPr marL="171450" indent="-171450">
              <a:buFont typeface="Arial" panose="020B0604020202020204" pitchFamily="34" charset="0"/>
              <a:buChar char="•"/>
            </a:pPr>
            <a:r>
              <a:rPr lang="en-US" dirty="0"/>
              <a:t>The mount target ID</a:t>
            </a:r>
          </a:p>
          <a:p>
            <a:pPr marL="171450" indent="-171450">
              <a:buFont typeface="Arial" panose="020B0604020202020204" pitchFamily="34" charset="0"/>
              <a:buChar char="•"/>
            </a:pPr>
            <a:r>
              <a:rPr lang="en-US" dirty="0"/>
              <a:t>The subnet ID for the subnet where it was created</a:t>
            </a:r>
          </a:p>
          <a:p>
            <a:pPr marL="171450" indent="-171450">
              <a:buFont typeface="Arial" panose="020B0604020202020204" pitchFamily="34" charset="0"/>
              <a:buChar char="•"/>
            </a:pPr>
            <a:r>
              <a:rPr lang="en-US" dirty="0"/>
              <a:t>The file system ID for the file system where it was created</a:t>
            </a:r>
          </a:p>
          <a:p>
            <a:pPr marL="171450" indent="-171450">
              <a:buFont typeface="Arial" panose="020B0604020202020204" pitchFamily="34" charset="0"/>
              <a:buChar char="•"/>
            </a:pPr>
            <a:r>
              <a:rPr lang="en-US" dirty="0"/>
              <a:t>An IP address where the file system can be mounted</a:t>
            </a:r>
          </a:p>
          <a:p>
            <a:pPr marL="171450" indent="-171450">
              <a:buFont typeface="Arial" panose="020B0604020202020204" pitchFamily="34" charset="0"/>
              <a:buChar char="•"/>
            </a:pPr>
            <a:r>
              <a:rPr lang="en-US" dirty="0"/>
              <a:t>The mount target state</a:t>
            </a:r>
          </a:p>
          <a:p>
            <a:endParaRPr lang="en-US" dirty="0"/>
          </a:p>
          <a:p>
            <a:r>
              <a:rPr lang="en-US" dirty="0"/>
              <a:t>You can use the IP address or the Domain Name System (DNS) name in your mount command.</a:t>
            </a:r>
          </a:p>
          <a:p>
            <a:endParaRPr lang="en-US" dirty="0"/>
          </a:p>
          <a:p>
            <a:r>
              <a:rPr lang="en-US" b="1" dirty="0"/>
              <a:t>Tags:</a:t>
            </a:r>
            <a:r>
              <a:rPr lang="en-US" dirty="0"/>
              <a:t> To help organize your file systems, you can assign your own metadata to each of the file systems that you create. Each tag is a key-value pair. </a:t>
            </a:r>
          </a:p>
          <a:p>
            <a:endParaRPr lang="en-US" dirty="0"/>
          </a:p>
          <a:p>
            <a:r>
              <a:rPr lang="en-US" dirty="0"/>
              <a:t>Think of mount targets and tags as subresources that do not exist unless they are associated with a file system.</a:t>
            </a:r>
          </a:p>
        </p:txBody>
      </p:sp>
      <p:sp>
        <p:nvSpPr>
          <p:cNvPr id="5" name="Slide Image Placeholder 4">
            <a:extLst>
              <a:ext uri="{FF2B5EF4-FFF2-40B4-BE49-F238E27FC236}">
                <a16:creationId xmlns:a16="http://schemas.microsoft.com/office/drawing/2014/main" id="{5C909582-6E91-7A71-F437-EF8E50684308}"/>
              </a:ext>
            </a:extLst>
          </p:cNvPr>
          <p:cNvSpPr>
            <a:spLocks noGrp="1" noRot="1" noChangeAspect="1"/>
          </p:cNvSpPr>
          <p:nvPr>
            <p:ph type="sldImg"/>
          </p:nvPr>
        </p:nvSpPr>
        <p:spPr/>
      </p:sp>
    </p:spTree>
    <p:extLst>
      <p:ext uri="{BB962C8B-B14F-4D97-AF65-F5344CB8AC3E}">
        <p14:creationId xmlns:p14="http://schemas.microsoft.com/office/powerpoint/2010/main" val="7384260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endParaRPr lang="en-US" dirty="0"/>
          </a:p>
          <a:p>
            <a:r>
              <a:rPr lang="en-US" dirty="0"/>
              <a:t>You have completed an introduction to Amazon EFS, including key features and key resources. Amazon EFS provides file storage in the cloud that works well for big data and analytics, media processing workflows, content management, web serving, and home directories. </a:t>
            </a:r>
          </a:p>
          <a:p>
            <a:endParaRPr lang="en-US" dirty="0"/>
          </a:p>
          <a:p>
            <a:r>
              <a:rPr lang="en-US" dirty="0"/>
              <a:t>Amazon EFS scales up or down when files are added or removed, and you pay for only what you are using.</a:t>
            </a:r>
          </a:p>
          <a:p>
            <a:endParaRPr lang="en-US" dirty="0"/>
          </a:p>
          <a:p>
            <a:r>
              <a:rPr lang="en-US" dirty="0"/>
              <a:t>Amazon EFS is a fully managed service that is accessible from the console, an API, or the AWS CLI.</a:t>
            </a:r>
          </a:p>
          <a:p>
            <a:endParaRPr lang="en-US" dirty="0"/>
          </a:p>
          <a:p>
            <a:pPr lvl="0"/>
            <a:r>
              <a:rPr lang="en-US" dirty="0"/>
              <a:t>To learn more about Amazon EFS, see </a:t>
            </a:r>
            <a:r>
              <a:rPr lang="en-GB" dirty="0">
                <a:hlinkClick r:id="rId3"/>
              </a:rPr>
              <a:t>https://</a:t>
            </a:r>
            <a:r>
              <a:rPr lang="en-GB" dirty="0" err="1">
                <a:hlinkClick r:id="rId3"/>
              </a:rPr>
              <a:t>aws.amazon.com</a:t>
            </a:r>
            <a:r>
              <a:rPr lang="en-GB" dirty="0">
                <a:hlinkClick r:id="rId3"/>
              </a:rPr>
              <a:t>/</a:t>
            </a:r>
            <a:r>
              <a:rPr lang="en-GB" dirty="0" err="1">
                <a:hlinkClick r:id="rId3"/>
              </a:rPr>
              <a:t>efs</a:t>
            </a:r>
            <a:r>
              <a:rPr lang="en-GB" dirty="0">
                <a:hlinkClick r:id="rId3"/>
              </a:rPr>
              <a:t>/</a:t>
            </a:r>
            <a:endParaRPr lang="en-US" dirty="0"/>
          </a:p>
          <a:p>
            <a:endParaRPr lang="en-US" dirty="0"/>
          </a:p>
          <a:p>
            <a:endParaRPr lang="en-US" dirty="0"/>
          </a:p>
        </p:txBody>
      </p:sp>
      <p:sp>
        <p:nvSpPr>
          <p:cNvPr id="5" name="Slide Image Placeholder 4">
            <a:extLst>
              <a:ext uri="{FF2B5EF4-FFF2-40B4-BE49-F238E27FC236}">
                <a16:creationId xmlns:a16="http://schemas.microsoft.com/office/drawing/2014/main" id="{FDD8E324-4981-4720-375D-36A7B455892C}"/>
              </a:ext>
            </a:extLst>
          </p:cNvPr>
          <p:cNvSpPr>
            <a:spLocks noGrp="1" noRot="1" noChangeAspect="1"/>
          </p:cNvSpPr>
          <p:nvPr>
            <p:ph type="sldImg"/>
          </p:nvPr>
        </p:nvSpPr>
        <p:spPr/>
      </p:sp>
    </p:spTree>
    <p:extLst>
      <p:ext uri="{BB962C8B-B14F-4D97-AF65-F5344CB8AC3E}">
        <p14:creationId xmlns:p14="http://schemas.microsoft.com/office/powerpoint/2010/main" val="7705805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Introducing Section 4: Amazon S3 Glacier</a:t>
            </a:r>
          </a:p>
          <a:p>
            <a:endParaRPr lang="en-US" dirty="0"/>
          </a:p>
          <a:p>
            <a:pPr lvl="0"/>
            <a:r>
              <a:rPr lang="en-US" dirty="0"/>
              <a:t>Amazon S3 Glacier is a secure, durable, and extremely low-cost cloud storage service for data archiving and long-term backup. </a:t>
            </a:r>
          </a:p>
          <a:p>
            <a:pPr lvl="0"/>
            <a:endParaRPr lang="en-US" dirty="0"/>
          </a:p>
          <a:p>
            <a:pPr lvl="0"/>
            <a:endParaRPr lang="en-US" dirty="0"/>
          </a:p>
        </p:txBody>
      </p:sp>
      <p:sp>
        <p:nvSpPr>
          <p:cNvPr id="5" name="Slide Image Placeholder 4">
            <a:extLst>
              <a:ext uri="{FF2B5EF4-FFF2-40B4-BE49-F238E27FC236}">
                <a16:creationId xmlns:a16="http://schemas.microsoft.com/office/drawing/2014/main" id="{78C0F3D1-7999-94A8-F173-29B7170A0F4C}"/>
              </a:ext>
            </a:extLst>
          </p:cNvPr>
          <p:cNvSpPr>
            <a:spLocks noGrp="1" noRot="1" noChangeAspect="1"/>
          </p:cNvSpPr>
          <p:nvPr>
            <p:ph type="sldImg"/>
          </p:nvPr>
        </p:nvSpPr>
        <p:spPr/>
      </p:sp>
    </p:spTree>
    <p:extLst>
      <p:ext uri="{BB962C8B-B14F-4D97-AF65-F5344CB8AC3E}">
        <p14:creationId xmlns:p14="http://schemas.microsoft.com/office/powerpoint/2010/main" val="18561033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This section covers Amazon S3 Glacier.</a:t>
            </a:r>
          </a:p>
          <a:p>
            <a:endParaRPr lang="en-US" dirty="0"/>
          </a:p>
        </p:txBody>
      </p:sp>
      <p:sp>
        <p:nvSpPr>
          <p:cNvPr id="5" name="Slide Image Placeholder 4">
            <a:extLst>
              <a:ext uri="{FF2B5EF4-FFF2-40B4-BE49-F238E27FC236}">
                <a16:creationId xmlns:a16="http://schemas.microsoft.com/office/drawing/2014/main" id="{735A81A0-37DC-05D4-F95C-AA68ECFFC189}"/>
              </a:ext>
            </a:extLst>
          </p:cNvPr>
          <p:cNvSpPr>
            <a:spLocks noGrp="1" noRot="1" noChangeAspect="1"/>
          </p:cNvSpPr>
          <p:nvPr>
            <p:ph type="sldImg"/>
          </p:nvPr>
        </p:nvSpPr>
        <p:spPr/>
      </p:sp>
    </p:spTree>
    <p:extLst>
      <p:ext uri="{BB962C8B-B14F-4D97-AF65-F5344CB8AC3E}">
        <p14:creationId xmlns:p14="http://schemas.microsoft.com/office/powerpoint/2010/main" val="2735070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5094287"/>
          </a:xfrm>
        </p:spPr>
        <p:txBody>
          <a:bodyPr/>
          <a:lstStyle/>
          <a:p>
            <a:r>
              <a:rPr lang="en-US" dirty="0"/>
              <a:t>When you use Amazon S3 Glacier to archive data, you can store your data at an extremely low cost (even in comparison to Amazon S3), but you cannot retrieve your data immediately when you want it. </a:t>
            </a:r>
          </a:p>
          <a:p>
            <a:endParaRPr lang="en-US" dirty="0"/>
          </a:p>
          <a:p>
            <a:r>
              <a:rPr lang="en-US" dirty="0"/>
              <a:t>Data that is stored in Amazon S3 Glacier can take several hours to retrieve, which is why it works well for archiving.</a:t>
            </a:r>
          </a:p>
          <a:p>
            <a:endParaRPr lang="en-US" dirty="0"/>
          </a:p>
          <a:p>
            <a:r>
              <a:rPr lang="en-US" dirty="0"/>
              <a:t>There are three key Amazon S3 Glacier terms you should be familiar with:</a:t>
            </a:r>
          </a:p>
          <a:p>
            <a:pPr marL="171450" indent="-171450">
              <a:buFont typeface="Arial" panose="020B0604020202020204" pitchFamily="34" charset="0"/>
              <a:buChar char="•"/>
            </a:pPr>
            <a:r>
              <a:rPr lang="en-US" b="1" dirty="0"/>
              <a:t>Archive</a:t>
            </a:r>
            <a:r>
              <a:rPr lang="en-US" dirty="0"/>
              <a:t> – Any object (such as a photo, video, file, or document) that you store in Amazon S3 Glacier. It is the base unit of storage in Amazon S3 Glacier. Each archive has its own unique ID and it can also have a description.</a:t>
            </a:r>
          </a:p>
          <a:p>
            <a:pPr marL="171450" indent="-171450">
              <a:buFont typeface="Arial" panose="020B0604020202020204" pitchFamily="34" charset="0"/>
              <a:buChar char="•"/>
            </a:pPr>
            <a:r>
              <a:rPr lang="en-US" b="1" dirty="0"/>
              <a:t>Vault</a:t>
            </a:r>
            <a:r>
              <a:rPr lang="en-US" dirty="0"/>
              <a:t> – A container for storing archives. When you create a vault, you specify the vault name and the Region where you want to locate the vault.</a:t>
            </a:r>
          </a:p>
          <a:p>
            <a:pPr marL="171450" indent="-171450">
              <a:buFont typeface="Arial" panose="020B0604020202020204" pitchFamily="34" charset="0"/>
              <a:buChar char="•"/>
            </a:pPr>
            <a:r>
              <a:rPr lang="en-US" b="1" dirty="0"/>
              <a:t>Vault access policy </a:t>
            </a:r>
            <a:r>
              <a:rPr lang="en-US" dirty="0"/>
              <a:t>– Determine who can and cannot access the data that is stored in the vault, and what operations users can and cannot perform. One vault access permissions policy can be created for each vault to manage access permissions for that vault. You can also use a vault lock policy to make sure that a vault cannot be altered. Each vault can have one vault access policy and one vault lock policy that are attached to it.</a:t>
            </a:r>
          </a:p>
          <a:p>
            <a:endParaRPr lang="en-US" dirty="0"/>
          </a:p>
          <a:p>
            <a:r>
              <a:rPr lang="en-US" dirty="0"/>
              <a:t>You have three options for retrieving data, each with varying access times and cost:</a:t>
            </a:r>
          </a:p>
          <a:p>
            <a:pPr marL="171450" indent="-171450">
              <a:buFont typeface="Arial" panose="020B0604020202020204" pitchFamily="34" charset="0"/>
              <a:buChar char="•"/>
            </a:pPr>
            <a:r>
              <a:rPr lang="en-US" b="1" dirty="0"/>
              <a:t>Expedited</a:t>
            </a:r>
            <a:r>
              <a:rPr lang="en-US" dirty="0"/>
              <a:t> retrievals are typically made available within 1–5 minutes (highest cost).</a:t>
            </a:r>
          </a:p>
          <a:p>
            <a:pPr marL="171450" indent="-171450">
              <a:buFont typeface="Arial" panose="020B0604020202020204" pitchFamily="34" charset="0"/>
              <a:buChar char="•"/>
            </a:pPr>
            <a:r>
              <a:rPr lang="en-US" b="1" dirty="0"/>
              <a:t>Standard</a:t>
            </a:r>
            <a:r>
              <a:rPr lang="en-US" dirty="0"/>
              <a:t> retrievals typically complete within 3–5 hours (less time than expedited, more time than bulk).</a:t>
            </a:r>
          </a:p>
          <a:p>
            <a:pPr marL="171450" indent="-171450">
              <a:buFont typeface="Arial" panose="020B0604020202020204" pitchFamily="34" charset="0"/>
              <a:buChar char="•"/>
            </a:pPr>
            <a:r>
              <a:rPr lang="en-US" b="1" dirty="0"/>
              <a:t>Bulk</a:t>
            </a:r>
            <a:r>
              <a:rPr lang="en-US" dirty="0"/>
              <a:t> retrievals typically complete within 5–12 hours (lowest cost).</a:t>
            </a:r>
          </a:p>
          <a:p>
            <a:endParaRPr lang="en-US" dirty="0"/>
          </a:p>
          <a:p>
            <a:r>
              <a:rPr lang="en-US" dirty="0"/>
              <a:t>You might compare these options to choosing the cost for shipping a package by using the most economical method for your needs.</a:t>
            </a:r>
          </a:p>
        </p:txBody>
      </p:sp>
      <p:sp>
        <p:nvSpPr>
          <p:cNvPr id="5" name="Slide Image Placeholder 4">
            <a:extLst>
              <a:ext uri="{FF2B5EF4-FFF2-40B4-BE49-F238E27FC236}">
                <a16:creationId xmlns:a16="http://schemas.microsoft.com/office/drawing/2014/main" id="{A8037994-E26C-F112-CD23-9F72B1DC1789}"/>
              </a:ext>
            </a:extLst>
          </p:cNvPr>
          <p:cNvSpPr>
            <a:spLocks noGrp="1" noRot="1" noChangeAspect="1"/>
          </p:cNvSpPr>
          <p:nvPr>
            <p:ph type="sldImg"/>
          </p:nvPr>
        </p:nvSpPr>
        <p:spPr/>
      </p:sp>
    </p:spTree>
    <p:extLst>
      <p:ext uri="{BB962C8B-B14F-4D97-AF65-F5344CB8AC3E}">
        <p14:creationId xmlns:p14="http://schemas.microsoft.com/office/powerpoint/2010/main" val="36450181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5046662"/>
          </a:xfrm>
        </p:spPr>
        <p:txBody>
          <a:bodyPr/>
          <a:lstStyle/>
          <a:p>
            <a:r>
              <a:rPr lang="en-US" dirty="0"/>
              <a:t>Amazon S3 Glacier's data archiving means that although you can store your data at an extremely low cost (even in comparison to Amazon S3), you cannot retrieve your data immediately when you want it. </a:t>
            </a:r>
          </a:p>
          <a:p>
            <a:endParaRPr lang="en-US" dirty="0"/>
          </a:p>
          <a:p>
            <a:r>
              <a:rPr lang="en-US" dirty="0"/>
              <a:t>Data stored in Amazon S3 Glacier can take several hours to retrieve.</a:t>
            </a:r>
          </a:p>
          <a:p>
            <a:endParaRPr lang="en-US" dirty="0"/>
          </a:p>
          <a:p>
            <a:r>
              <a:rPr lang="en-US" dirty="0"/>
              <a:t>You should be familiar with three key Amazon S3 Glacier terms:</a:t>
            </a:r>
          </a:p>
          <a:p>
            <a:pPr marL="171450" indent="-171450">
              <a:buFont typeface="Arial" panose="020B0604020202020204" pitchFamily="34" charset="0"/>
              <a:buChar char="•"/>
            </a:pPr>
            <a:r>
              <a:rPr lang="en-US" b="1" dirty="0"/>
              <a:t>Archive:</a:t>
            </a:r>
            <a:r>
              <a:rPr lang="en-US" dirty="0"/>
              <a:t> Any object such as a photo, video, file, or document that you store in Amazon S3 Glacier. It is the base unit of storage in Amazon S3 Glacier. Each archive has its own unique ID and can also have a description.</a:t>
            </a:r>
          </a:p>
          <a:p>
            <a:pPr marL="171450" indent="-171450">
              <a:buFont typeface="Arial" panose="020B0604020202020204" pitchFamily="34" charset="0"/>
              <a:buChar char="•"/>
            </a:pPr>
            <a:r>
              <a:rPr lang="en-US" b="1" dirty="0"/>
              <a:t>Vault:</a:t>
            </a:r>
            <a:r>
              <a:rPr lang="en-US" dirty="0"/>
              <a:t> A container for storing archives. When you create a vault, you specify the vault name and the region in which you would like to locate the vault.</a:t>
            </a:r>
          </a:p>
          <a:p>
            <a:pPr marL="171450" indent="-171450">
              <a:buFont typeface="Arial" panose="020B0604020202020204" pitchFamily="34" charset="0"/>
              <a:buChar char="•"/>
            </a:pPr>
            <a:r>
              <a:rPr lang="en-US" b="1" dirty="0"/>
              <a:t>Vault Access Policy: </a:t>
            </a:r>
            <a:r>
              <a:rPr lang="en-US" dirty="0"/>
              <a:t>Determine who can and cannot access the data stored in the vault and what operations users can and cannot perform. One vault access policy can be created for each vault to manage access permissions for that vault. You can also use a vault lock policy to make sure a vault cannot be altered. Each vault can have one vault access policy and one vault lock policy that is attached to it.</a:t>
            </a:r>
          </a:p>
          <a:p>
            <a:endParaRPr lang="en-US" dirty="0"/>
          </a:p>
          <a:p>
            <a:r>
              <a:rPr lang="en-US" dirty="0"/>
              <a:t>Three options are available for retrieving data with varying access times and cost: expedited, standard, and bulk retrievals. They are listed as follows:</a:t>
            </a:r>
          </a:p>
          <a:p>
            <a:pPr marL="171450" indent="-171450">
              <a:buFont typeface="Arial" panose="020B0604020202020204" pitchFamily="34" charset="0"/>
              <a:buChar char="•"/>
            </a:pPr>
            <a:r>
              <a:rPr lang="en-US" b="1" dirty="0"/>
              <a:t>Expedited</a:t>
            </a:r>
            <a:r>
              <a:rPr lang="en-US" dirty="0"/>
              <a:t> retrievals are typically made available within 1 – 5 minutes (highest cost).</a:t>
            </a:r>
          </a:p>
          <a:p>
            <a:pPr marL="171450" indent="-171450">
              <a:buFont typeface="Arial" panose="020B0604020202020204" pitchFamily="34" charset="0"/>
              <a:buChar char="•"/>
            </a:pPr>
            <a:r>
              <a:rPr lang="en-US" b="1" dirty="0"/>
              <a:t>Standard</a:t>
            </a:r>
            <a:r>
              <a:rPr lang="en-US" dirty="0"/>
              <a:t> retrievals typically complete within 3 – 5 hours (less than expedited, more than bulk).</a:t>
            </a:r>
          </a:p>
          <a:p>
            <a:pPr marL="171450" indent="-171450">
              <a:buFont typeface="Arial" panose="020B0604020202020204" pitchFamily="34" charset="0"/>
              <a:buChar char="•"/>
            </a:pPr>
            <a:r>
              <a:rPr lang="en-US" b="1" dirty="0"/>
              <a:t>Bulk</a:t>
            </a:r>
            <a:r>
              <a:rPr lang="en-US" dirty="0"/>
              <a:t> retrievals typically complete within 5 – 12 hours (lowest cost).</a:t>
            </a:r>
          </a:p>
          <a:p>
            <a:endParaRPr lang="en-US" dirty="0"/>
          </a:p>
          <a:p>
            <a:r>
              <a:rPr lang="en-US" dirty="0"/>
              <a:t>Compare it to choosing the cost to most economically ship a package.</a:t>
            </a:r>
          </a:p>
        </p:txBody>
      </p:sp>
      <p:sp>
        <p:nvSpPr>
          <p:cNvPr id="5" name="Slide Image Placeholder 4">
            <a:extLst>
              <a:ext uri="{FF2B5EF4-FFF2-40B4-BE49-F238E27FC236}">
                <a16:creationId xmlns:a16="http://schemas.microsoft.com/office/drawing/2014/main" id="{7D066960-0F32-EF9A-BF88-1C53F05E2204}"/>
              </a:ext>
            </a:extLst>
          </p:cNvPr>
          <p:cNvSpPr>
            <a:spLocks noGrp="1" noRot="1" noChangeAspect="1"/>
          </p:cNvSpPr>
          <p:nvPr>
            <p:ph type="sldImg"/>
          </p:nvPr>
        </p:nvSpPr>
        <p:spPr/>
      </p:sp>
    </p:spTree>
    <p:extLst>
      <p:ext uri="{BB962C8B-B14F-4D97-AF65-F5344CB8AC3E}">
        <p14:creationId xmlns:p14="http://schemas.microsoft.com/office/powerpoint/2010/main" val="1786301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6037262"/>
          </a:xfrm>
        </p:spPr>
        <p:txBody>
          <a:bodyPr/>
          <a:lstStyle/>
          <a:p>
            <a:r>
              <a:rPr lang="en-US" b="1" dirty="0"/>
              <a:t>Media asset archiving</a:t>
            </a:r>
          </a:p>
          <a:p>
            <a:r>
              <a:rPr lang="en-US" dirty="0"/>
              <a:t>Media assets—such as video and news footage—require durable storage and can grow to many petabytes over time. Amazon S3 Glacier enables you to archive older media content affordably and then move it to Amazon S3 for distribution when it is needed.</a:t>
            </a:r>
          </a:p>
          <a:p>
            <a:endParaRPr lang="en-US" dirty="0"/>
          </a:p>
          <a:p>
            <a:r>
              <a:rPr lang="en-US" b="1" dirty="0"/>
              <a:t>Healthcare information archiving</a:t>
            </a:r>
          </a:p>
          <a:p>
            <a:r>
              <a:rPr lang="en-US" dirty="0"/>
              <a:t>To meet regulatory requirements, hospital systems must retain petabytes of patient records—such as Low-Income Subsidy (LIS) information, picture archiving and communication system (PACS) data, or Electronic Health Records (EHR)—for decades. Amazon S3 Glacier can help you reliably archive patient record data securely at a very low cost.</a:t>
            </a:r>
          </a:p>
          <a:p>
            <a:endParaRPr lang="en-US" dirty="0"/>
          </a:p>
          <a:p>
            <a:r>
              <a:rPr lang="en-US" b="1" dirty="0"/>
              <a:t>Regulatory and compliance archiving</a:t>
            </a:r>
          </a:p>
          <a:p>
            <a:r>
              <a:rPr lang="en-US" dirty="0"/>
              <a:t>Many enterprises, like those in financial services and healthcare, must retain regulatory and compliance archives for extended durations. Amazon S3 Glacier Vault Lock can help you set compliance controls so you can work towards meeting your compliance objectives, such as the U.S. Securities and Exchange Commission (SEC) Rule 17a-4(f).</a:t>
            </a:r>
          </a:p>
          <a:p>
            <a:endParaRPr lang="en-US" dirty="0"/>
          </a:p>
          <a:p>
            <a:r>
              <a:rPr lang="en-US" b="1" dirty="0"/>
              <a:t>Scientific data archiving</a:t>
            </a:r>
          </a:p>
          <a:p>
            <a:r>
              <a:rPr lang="en-US" dirty="0"/>
              <a:t>Research organizations generate, analyze, and archive large amounts of data. By using Amazon S3 Glacier, you can reduce the complexities of hardware and facility management and capacity planning.</a:t>
            </a:r>
          </a:p>
          <a:p>
            <a:endParaRPr lang="en-US" dirty="0"/>
          </a:p>
          <a:p>
            <a:r>
              <a:rPr lang="en-US" b="1" dirty="0"/>
              <a:t>Digital preservation</a:t>
            </a:r>
          </a:p>
          <a:p>
            <a:r>
              <a:rPr lang="en-US" dirty="0"/>
              <a:t>Libraries and government agencies must handle data integrity challenges in their digital preservation efforts. Unlike traditional systems—which can require laborious data verification and manual repair—Amazon S3 Glacier performs regular, systematic data integrity checks, and it is designed to be automatically self-healing.</a:t>
            </a:r>
          </a:p>
          <a:p>
            <a:endParaRPr lang="en-US" dirty="0"/>
          </a:p>
          <a:p>
            <a:r>
              <a:rPr lang="en-US" b="1" dirty="0"/>
              <a:t>Magnetic tape replacement</a:t>
            </a:r>
          </a:p>
          <a:p>
            <a:r>
              <a:rPr lang="en-US" dirty="0"/>
              <a:t>On-premises or offsite tape libraries can lower storage costs, but they can require large upfront investments and specialized maintenance. Amazon S3 Glacier has no upfront cost and reduces the cost and burden of maintenance.</a:t>
            </a:r>
          </a:p>
        </p:txBody>
      </p:sp>
      <p:sp>
        <p:nvSpPr>
          <p:cNvPr id="5" name="Slide Image Placeholder 4">
            <a:extLst>
              <a:ext uri="{FF2B5EF4-FFF2-40B4-BE49-F238E27FC236}">
                <a16:creationId xmlns:a16="http://schemas.microsoft.com/office/drawing/2014/main" id="{2DA11C85-E69F-B9F0-917B-8C10829FC33B}"/>
              </a:ext>
            </a:extLst>
          </p:cNvPr>
          <p:cNvSpPr>
            <a:spLocks noGrp="1" noRot="1" noChangeAspect="1"/>
          </p:cNvSpPr>
          <p:nvPr>
            <p:ph type="sldImg"/>
          </p:nvPr>
        </p:nvSpPr>
        <p:spPr/>
      </p:sp>
    </p:spTree>
    <p:extLst>
      <p:ext uri="{BB962C8B-B14F-4D97-AF65-F5344CB8AC3E}">
        <p14:creationId xmlns:p14="http://schemas.microsoft.com/office/powerpoint/2010/main" val="21507013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To store and access data in Amazon S3 Glacier, you can use the AWS Management Console. However, only a few operations—such as creating and deleting vaults, and creating and managing archive policies—are available in the console. </a:t>
            </a:r>
          </a:p>
          <a:p>
            <a:endParaRPr lang="en-US" dirty="0"/>
          </a:p>
          <a:p>
            <a:r>
              <a:rPr lang="en-US" dirty="0"/>
              <a:t>For almost all other operations and interactions with Amazon S3 Glacier, you must use either the Amazon S3 Glacier REST APIs, the AWS Java or .NET SDKs, or the AWS CLI.</a:t>
            </a:r>
          </a:p>
          <a:p>
            <a:endParaRPr lang="en-US" dirty="0"/>
          </a:p>
          <a:p>
            <a:r>
              <a:rPr lang="en-US" dirty="0"/>
              <a:t>You can also use lifecycle policies to archive data into Amazon S3 Glacier. Next, you will learn about lifecycle policies.</a:t>
            </a:r>
          </a:p>
          <a:p>
            <a:endParaRPr lang="en-US" dirty="0"/>
          </a:p>
        </p:txBody>
      </p:sp>
      <p:sp>
        <p:nvSpPr>
          <p:cNvPr id="5" name="Slide Image Placeholder 4">
            <a:extLst>
              <a:ext uri="{FF2B5EF4-FFF2-40B4-BE49-F238E27FC236}">
                <a16:creationId xmlns:a16="http://schemas.microsoft.com/office/drawing/2014/main" id="{ADDEC610-54FB-8F5E-35F6-6934788A8147}"/>
              </a:ext>
            </a:extLst>
          </p:cNvPr>
          <p:cNvSpPr>
            <a:spLocks noGrp="1" noRot="1" noChangeAspect="1"/>
          </p:cNvSpPr>
          <p:nvPr>
            <p:ph type="sldImg"/>
          </p:nvPr>
        </p:nvSpPr>
        <p:spPr/>
      </p:sp>
    </p:spTree>
    <p:extLst>
      <p:ext uri="{BB962C8B-B14F-4D97-AF65-F5344CB8AC3E}">
        <p14:creationId xmlns:p14="http://schemas.microsoft.com/office/powerpoint/2010/main" val="32940612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You should automate the lifecycle of the data that you store in Amazon S3. By using lifecycle policies, you can cycle data at regular intervals between different Amazon S3 storage types. This automation reduces your overall cost, because you pay less for data as it becomes less important with time.</a:t>
            </a:r>
          </a:p>
          <a:p>
            <a:endParaRPr lang="en-US" dirty="0"/>
          </a:p>
          <a:p>
            <a:r>
              <a:rPr lang="en-US" dirty="0"/>
              <a:t>In addition to setting lifecycle rules per object, you can also set lifecycle rules per bucket.</a:t>
            </a:r>
          </a:p>
          <a:p>
            <a:endParaRPr lang="en-US" dirty="0"/>
          </a:p>
          <a:p>
            <a:r>
              <a:rPr lang="en-US" dirty="0"/>
              <a:t>Consider an example of a lifecycle policy that moves data as it ages from </a:t>
            </a:r>
            <a:r>
              <a:rPr lang="en-US" b="1" dirty="0"/>
              <a:t>Amazon S3 Standard </a:t>
            </a:r>
            <a:r>
              <a:rPr lang="en-US" dirty="0"/>
              <a:t>to </a:t>
            </a:r>
            <a:r>
              <a:rPr lang="en-US" b="1" dirty="0"/>
              <a:t>Amazon S3 Standard – Infrequent Access</a:t>
            </a:r>
            <a:r>
              <a:rPr lang="en-US" dirty="0"/>
              <a:t>, and finally, into </a:t>
            </a:r>
            <a:r>
              <a:rPr lang="en-US" b="1" dirty="0"/>
              <a:t>Amazon S3 Glacier </a:t>
            </a:r>
            <a:r>
              <a:rPr lang="en-US" dirty="0"/>
              <a:t>before it is deleted. Suppose that a user uploads a video to your application and your application generates a thumbnail preview of the video. This video preview is stored to Amazon S3 Standard, because it is likely that the user wants to access it right away. </a:t>
            </a:r>
          </a:p>
          <a:p>
            <a:endParaRPr lang="en-US" dirty="0"/>
          </a:p>
          <a:p>
            <a:r>
              <a:rPr lang="en-US" dirty="0"/>
              <a:t>Your usage data indicates that most thumbnail previews are not accessed after 30 days. Your lifecycle policy takes these previews and moves them to Amazon S3 – Infrequent Access after 30 days. After another 30 days elapse, the preview is unlikely to be accessed again. The preview is then moved to Amazon S3 Glacier, where it remains for 1 year. After 1 year, the preview is deleted. The important thing is that the lifecycle policy manages all this movement automatically.</a:t>
            </a:r>
            <a:br>
              <a:rPr lang="en-US" dirty="0"/>
            </a:br>
            <a:endParaRPr lang="en-US" dirty="0"/>
          </a:p>
          <a:p>
            <a:pPr lvl="0"/>
            <a:r>
              <a:rPr lang="en-US" dirty="0"/>
              <a:t>To learn more about object lifecycle management, see </a:t>
            </a:r>
            <a:r>
              <a:rPr lang="en-GB" dirty="0">
                <a:hlinkClick r:id="rId3"/>
              </a:rPr>
              <a:t>http://</a:t>
            </a:r>
            <a:r>
              <a:rPr lang="en-GB" dirty="0" err="1">
                <a:hlinkClick r:id="rId3"/>
              </a:rPr>
              <a:t>docs.aws.amazon.com</a:t>
            </a:r>
            <a:r>
              <a:rPr lang="en-GB" dirty="0">
                <a:hlinkClick r:id="rId3"/>
              </a:rPr>
              <a:t>/</a:t>
            </a:r>
            <a:r>
              <a:rPr lang="en-GB" dirty="0" err="1">
                <a:hlinkClick r:id="rId3"/>
              </a:rPr>
              <a:t>AmazonS3</a:t>
            </a:r>
            <a:r>
              <a:rPr lang="en-GB" dirty="0">
                <a:hlinkClick r:id="rId3"/>
              </a:rPr>
              <a:t>/latest/dev/object-lifecycle-</a:t>
            </a:r>
            <a:r>
              <a:rPr lang="en-GB" dirty="0" err="1">
                <a:hlinkClick r:id="rId3"/>
              </a:rPr>
              <a:t>mgmt.html</a:t>
            </a:r>
            <a:endParaRPr lang="en-US" dirty="0"/>
          </a:p>
          <a:p>
            <a:endParaRPr lang="en-US" dirty="0"/>
          </a:p>
        </p:txBody>
      </p:sp>
      <p:sp>
        <p:nvSpPr>
          <p:cNvPr id="5" name="Slide Image Placeholder 4">
            <a:extLst>
              <a:ext uri="{FF2B5EF4-FFF2-40B4-BE49-F238E27FC236}">
                <a16:creationId xmlns:a16="http://schemas.microsoft.com/office/drawing/2014/main" id="{28FDE015-F95C-11A8-F174-242A126C75CD}"/>
              </a:ext>
            </a:extLst>
          </p:cNvPr>
          <p:cNvSpPr>
            <a:spLocks noGrp="1" noRot="1" noChangeAspect="1"/>
          </p:cNvSpPr>
          <p:nvPr>
            <p:ph type="sldImg"/>
          </p:nvPr>
        </p:nvSpPr>
        <p:spPr/>
      </p:sp>
    </p:spTree>
    <p:extLst>
      <p:ext uri="{BB962C8B-B14F-4D97-AF65-F5344CB8AC3E}">
        <p14:creationId xmlns:p14="http://schemas.microsoft.com/office/powerpoint/2010/main" val="31076147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While </a:t>
            </a:r>
            <a:r>
              <a:rPr lang="en-US" b="1" dirty="0"/>
              <a:t>Amazon S3</a:t>
            </a:r>
            <a:r>
              <a:rPr lang="en-US"/>
              <a:t> and </a:t>
            </a:r>
            <a:r>
              <a:rPr lang="en-US" b="1" dirty="0"/>
              <a:t>Amazon S3 Glacier</a:t>
            </a:r>
            <a:r>
              <a:rPr lang="en-US"/>
              <a:t> are both object storage solutions that enable you to store a virtually unlimited amount of data, they have some critical differences between them. The chart outlines some of these differences. </a:t>
            </a:r>
          </a:p>
          <a:p>
            <a:endParaRPr lang="en-US"/>
          </a:p>
          <a:p>
            <a:pPr marL="228600" indent="-228600">
              <a:buFont typeface="+mj-lt"/>
              <a:buAutoNum type="arabicPeriod"/>
            </a:pPr>
            <a:r>
              <a:rPr lang="en-US"/>
              <a:t>Be careful when you decide which storage solution is correct for your needs. These two services serve very different storage needs. Amazon S3 is designed for frequent, low-latency access to your data, but Amazon S3 Glacier is designed for low-cost, long-term storage of infrequently accessed data.</a:t>
            </a:r>
          </a:p>
          <a:p>
            <a:pPr marL="228600" indent="-228600">
              <a:buFont typeface="+mj-lt"/>
              <a:buAutoNum type="arabicPeriod"/>
            </a:pPr>
            <a:r>
              <a:rPr lang="en-US"/>
              <a:t>The maximum item size in Amazon S3 is 5 TB, but Amazon S3 Glacier can store items that are up to 40 TB.</a:t>
            </a:r>
          </a:p>
          <a:p>
            <a:pPr marL="228600" indent="-228600">
              <a:buFont typeface="+mj-lt"/>
              <a:buAutoNum type="arabicPeriod"/>
            </a:pPr>
            <a:r>
              <a:rPr lang="en-US"/>
              <a:t>Because Amazon S3 gives you faster access to your data, the storage cost per gigabyte is higher than it is with Amazon S3 Glacier. </a:t>
            </a:r>
          </a:p>
          <a:p>
            <a:pPr marL="228600" indent="-228600">
              <a:buFont typeface="+mj-lt"/>
              <a:buAutoNum type="arabicPeriod"/>
            </a:pPr>
            <a:r>
              <a:rPr lang="en-US"/>
              <a:t>While both services have per-request charges, Amazon S3 charges for </a:t>
            </a:r>
            <a:r>
              <a:rPr lang="en-US" b="1" dirty="0"/>
              <a:t>PUT, COPY, POST, LIST, GET </a:t>
            </a:r>
            <a:r>
              <a:rPr lang="en-US"/>
              <a:t>operations. In contrast, Amazon S3 Glacier charges for </a:t>
            </a:r>
            <a:r>
              <a:rPr lang="en-US" b="1" dirty="0"/>
              <a:t>UPLOAD</a:t>
            </a:r>
            <a:r>
              <a:rPr lang="en-US"/>
              <a:t> and </a:t>
            </a:r>
            <a:r>
              <a:rPr lang="en-US" b="1" dirty="0"/>
              <a:t>retrieval</a:t>
            </a:r>
            <a:r>
              <a:rPr lang="en-US"/>
              <a:t> operations.</a:t>
            </a:r>
          </a:p>
          <a:p>
            <a:pPr marL="228600" indent="-228600">
              <a:buFont typeface="+mj-lt"/>
              <a:buAutoNum type="arabicPeriod"/>
            </a:pPr>
            <a:r>
              <a:rPr lang="en-US"/>
              <a:t>Because Amazon S3 Glacier was designed for less-frequent access to data, it costs more for each retrieval request than Amazon S3. </a:t>
            </a:r>
          </a:p>
        </p:txBody>
      </p:sp>
      <p:sp>
        <p:nvSpPr>
          <p:cNvPr id="5" name="Slide Image Placeholder 4">
            <a:extLst>
              <a:ext uri="{FF2B5EF4-FFF2-40B4-BE49-F238E27FC236}">
                <a16:creationId xmlns:a16="http://schemas.microsoft.com/office/drawing/2014/main" id="{0893820F-5BD8-E566-0CF2-48E4BC2BEAC3}"/>
              </a:ext>
            </a:extLst>
          </p:cNvPr>
          <p:cNvSpPr>
            <a:spLocks noGrp="1" noRot="1" noChangeAspect="1"/>
          </p:cNvSpPr>
          <p:nvPr>
            <p:ph type="sldImg"/>
          </p:nvPr>
        </p:nvSpPr>
        <p:spPr/>
      </p:sp>
    </p:spTree>
    <p:extLst>
      <p:ext uri="{BB962C8B-B14F-4D97-AF65-F5344CB8AC3E}">
        <p14:creationId xmlns:p14="http://schemas.microsoft.com/office/powerpoint/2010/main" val="20562609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You have completed an introduction to Amazon S3 Glacier, which included key differences between Amazon S3 and Amazon S3 Glacier. </a:t>
            </a:r>
          </a:p>
          <a:p>
            <a:endParaRPr lang="en-US"/>
          </a:p>
          <a:p>
            <a:pPr lvl="0"/>
            <a:r>
              <a:rPr lang="en-US"/>
              <a:t>To learn more about Amazon S3 Glacier, see </a:t>
            </a:r>
            <a:r>
              <a:rPr lang="en-US">
                <a:hlinkClick r:id="rId3"/>
              </a:rPr>
              <a:t>Glacier</a:t>
            </a:r>
            <a:r>
              <a:rPr lang="en-US"/>
              <a:t>.</a:t>
            </a:r>
          </a:p>
          <a:p>
            <a:endParaRPr lang="en-US"/>
          </a:p>
          <a:p>
            <a:endParaRPr lang="en-US"/>
          </a:p>
        </p:txBody>
      </p:sp>
      <p:sp>
        <p:nvSpPr>
          <p:cNvPr id="5" name="Slide Image Placeholder 4">
            <a:extLst>
              <a:ext uri="{FF2B5EF4-FFF2-40B4-BE49-F238E27FC236}">
                <a16:creationId xmlns:a16="http://schemas.microsoft.com/office/drawing/2014/main" id="{440482A8-AC59-15BE-1000-07412AD5101E}"/>
              </a:ext>
            </a:extLst>
          </p:cNvPr>
          <p:cNvSpPr>
            <a:spLocks noGrp="1" noRot="1" noChangeAspect="1"/>
          </p:cNvSpPr>
          <p:nvPr>
            <p:ph type="sldImg"/>
          </p:nvPr>
        </p:nvSpPr>
        <p:spPr/>
      </p:sp>
    </p:spTree>
    <p:extLst>
      <p:ext uri="{BB962C8B-B14F-4D97-AF65-F5344CB8AC3E}">
        <p14:creationId xmlns:p14="http://schemas.microsoft.com/office/powerpoint/2010/main" val="1665649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a:t>It’s now time to review the module, and wrap up with a knowledge check and a discussion of a practice certification exam question.</a:t>
            </a:r>
          </a:p>
        </p:txBody>
      </p:sp>
      <p:sp>
        <p:nvSpPr>
          <p:cNvPr id="5" name="Slide Image Placeholder 4">
            <a:extLst>
              <a:ext uri="{FF2B5EF4-FFF2-40B4-BE49-F238E27FC236}">
                <a16:creationId xmlns:a16="http://schemas.microsoft.com/office/drawing/2014/main" id="{40708D21-C301-0021-748A-45F67BAA431C}"/>
              </a:ext>
            </a:extLst>
          </p:cNvPr>
          <p:cNvSpPr>
            <a:spLocks noGrp="1" noRot="1" noChangeAspect="1"/>
          </p:cNvSpPr>
          <p:nvPr>
            <p:ph type="sldImg"/>
          </p:nvPr>
        </p:nvSpPr>
        <p:spPr/>
      </p:sp>
    </p:spTree>
    <p:extLst>
      <p:ext uri="{BB962C8B-B14F-4D97-AF65-F5344CB8AC3E}">
        <p14:creationId xmlns:p14="http://schemas.microsoft.com/office/powerpoint/2010/main" val="4117551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In summary, in this module, you learned how to:</a:t>
            </a:r>
          </a:p>
          <a:p>
            <a:pPr marL="171450" lvl="0" indent="-171450">
              <a:buFont typeface="Arial" panose="020B0604020202020204" pitchFamily="34" charset="0"/>
              <a:buChar char="•"/>
            </a:pPr>
            <a:r>
              <a:rPr lang="en-US"/>
              <a:t>Identify the different types of storage</a:t>
            </a:r>
          </a:p>
          <a:p>
            <a:pPr marL="171450" lvl="0" indent="-171450">
              <a:buFont typeface="Arial" panose="020B0604020202020204" pitchFamily="34" charset="0"/>
              <a:buChar char="•"/>
            </a:pPr>
            <a:r>
              <a:rPr lang="en-US"/>
              <a:t>Explain Amazon S3</a:t>
            </a:r>
          </a:p>
          <a:p>
            <a:pPr marL="171450" lvl="0" indent="-171450">
              <a:buFont typeface="Arial" panose="020B0604020202020204" pitchFamily="34" charset="0"/>
              <a:buChar char="•"/>
            </a:pPr>
            <a:r>
              <a:rPr lang="en-US"/>
              <a:t>Identify the functionality in Amazon S3</a:t>
            </a:r>
          </a:p>
          <a:p>
            <a:pPr marL="171450" lvl="0" indent="-171450">
              <a:buFont typeface="Arial" panose="020B0604020202020204" pitchFamily="34" charset="0"/>
              <a:buChar char="•"/>
            </a:pPr>
            <a:r>
              <a:rPr lang="en-US"/>
              <a:t>Explain Amazon EBS</a:t>
            </a:r>
          </a:p>
          <a:p>
            <a:pPr marL="171450" lvl="0" indent="-171450">
              <a:buFont typeface="Arial" panose="020B0604020202020204" pitchFamily="34" charset="0"/>
              <a:buChar char="•"/>
            </a:pPr>
            <a:r>
              <a:rPr lang="en-US"/>
              <a:t>Identify the functionality in Amazon EBS</a:t>
            </a:r>
          </a:p>
          <a:p>
            <a:pPr marL="171450" lvl="0" indent="-171450">
              <a:buFont typeface="Arial" panose="020B0604020202020204" pitchFamily="34" charset="0"/>
              <a:buChar char="•"/>
            </a:pPr>
            <a:r>
              <a:rPr lang="en-US"/>
              <a:t>Perform functions in Amazon EBS to build an Amazon EC2 storage solution </a:t>
            </a:r>
          </a:p>
          <a:p>
            <a:pPr marL="171450" lvl="0" indent="-171450">
              <a:buFont typeface="Arial" panose="020B0604020202020204" pitchFamily="34" charset="0"/>
              <a:buChar char="•"/>
            </a:pPr>
            <a:r>
              <a:rPr lang="en-US"/>
              <a:t>Explain Amazon EFS</a:t>
            </a:r>
          </a:p>
          <a:p>
            <a:pPr marL="171450" lvl="0" indent="-171450">
              <a:buFont typeface="Arial" panose="020B0604020202020204" pitchFamily="34" charset="0"/>
              <a:buChar char="•"/>
            </a:pPr>
            <a:r>
              <a:rPr lang="en-US"/>
              <a:t>Identify the functionality in Amazon EFS</a:t>
            </a:r>
          </a:p>
          <a:p>
            <a:pPr marL="171450" lvl="0" indent="-171450">
              <a:buFont typeface="Arial" panose="020B0604020202020204" pitchFamily="34" charset="0"/>
              <a:buChar char="•"/>
            </a:pPr>
            <a:r>
              <a:rPr lang="en-US"/>
              <a:t>Explain Amazon S3 Glacier</a:t>
            </a:r>
          </a:p>
          <a:p>
            <a:pPr marL="171450" lvl="0" indent="-171450">
              <a:buFont typeface="Arial" panose="020B0604020202020204" pitchFamily="34" charset="0"/>
              <a:buChar char="•"/>
            </a:pPr>
            <a:r>
              <a:rPr lang="en-US"/>
              <a:t>Identify the functionality in Amazon S3 Glacier</a:t>
            </a:r>
          </a:p>
          <a:p>
            <a:pPr marL="171450" lvl="0" indent="-171450">
              <a:buFont typeface="Arial" panose="020B0604020202020204" pitchFamily="34" charset="0"/>
              <a:buChar char="•"/>
            </a:pPr>
            <a:r>
              <a:rPr lang="en-US"/>
              <a:t>Differentiate between Amazon EBS, Amazon S3, Amazon EFS, and Amazon S3 Glacier</a:t>
            </a:r>
          </a:p>
          <a:p>
            <a:pPr lvl="0"/>
            <a:endParaRPr lang="en-US"/>
          </a:p>
        </p:txBody>
      </p:sp>
      <p:sp>
        <p:nvSpPr>
          <p:cNvPr id="5" name="Slide Image Placeholder 4">
            <a:extLst>
              <a:ext uri="{FF2B5EF4-FFF2-40B4-BE49-F238E27FC236}">
                <a16:creationId xmlns:a16="http://schemas.microsoft.com/office/drawing/2014/main" id="{4CEA9B7F-B8FF-3A39-54BA-24D6CF1379C3}"/>
              </a:ext>
            </a:extLst>
          </p:cNvPr>
          <p:cNvSpPr>
            <a:spLocks noGrp="1" noRot="1" noChangeAspect="1"/>
          </p:cNvSpPr>
          <p:nvPr>
            <p:ph type="sldImg"/>
          </p:nvPr>
        </p:nvSpPr>
        <p:spPr/>
      </p:sp>
    </p:spTree>
    <p:extLst>
      <p:ext uri="{BB962C8B-B14F-4D97-AF65-F5344CB8AC3E}">
        <p14:creationId xmlns:p14="http://schemas.microsoft.com/office/powerpoint/2010/main" val="7185447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Welcom</a:t>
            </a:r>
            <a:r>
              <a:rPr lang="en-US" baseline="0"/>
              <a:t>e to Module 8: Databases</a:t>
            </a:r>
            <a:endParaRPr lang="en-US"/>
          </a:p>
        </p:txBody>
      </p:sp>
    </p:spTree>
    <p:extLst>
      <p:ext uri="{BB962C8B-B14F-4D97-AF65-F5344CB8AC3E}">
        <p14:creationId xmlns:p14="http://schemas.microsoft.com/office/powerpoint/2010/main" val="17368607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793758"/>
          </a:xfrm>
          <a:prstGeom prst="rect">
            <a:avLst/>
          </a:prstGeom>
        </p:spPr>
        <p:txBody>
          <a:bodyPr/>
          <a:lstStyle/>
          <a:p>
            <a:r>
              <a:rPr lang="en-US" kern="1200">
                <a:solidFill>
                  <a:schemeClr val="tx1"/>
                </a:solidFill>
                <a:effectLst/>
                <a:latin typeface="+mn-lt"/>
                <a:ea typeface="+mn-ea"/>
                <a:cs typeface="+mn-cs"/>
              </a:rPr>
              <a:t>The business world is constantly changing and evolving. By accurately recording, updating, and tracking data on an efficient and regular basis, companies can use the immense potential from the insights that they obtain from their data. Database management systems are the crucial link for managing this data. Like other cloud services, cloud databases offer significant cost advantages over traditional database strategies. </a:t>
            </a:r>
          </a:p>
          <a:p>
            <a:r>
              <a:rPr lang="en-US" kern="1200">
                <a:solidFill>
                  <a:schemeClr val="tx1"/>
                </a:solidFill>
                <a:effectLst/>
                <a:latin typeface="+mn-lt"/>
                <a:ea typeface="+mn-ea"/>
                <a:cs typeface="+mn-cs"/>
              </a:rPr>
              <a:t> </a:t>
            </a:r>
          </a:p>
          <a:p>
            <a:r>
              <a:rPr lang="en-US" kern="1200">
                <a:solidFill>
                  <a:schemeClr val="tx1"/>
                </a:solidFill>
                <a:effectLst/>
                <a:latin typeface="+mn-lt"/>
                <a:ea typeface="+mn-ea"/>
                <a:cs typeface="+mn-cs"/>
              </a:rPr>
              <a:t>In this module, you</a:t>
            </a:r>
            <a:r>
              <a:rPr lang="en-US" kern="1200" baseline="0">
                <a:solidFill>
                  <a:schemeClr val="tx1"/>
                </a:solidFill>
                <a:effectLst/>
                <a:latin typeface="+mn-lt"/>
                <a:ea typeface="+mn-ea"/>
                <a:cs typeface="+mn-cs"/>
              </a:rPr>
              <a:t> will learn about</a:t>
            </a:r>
            <a:r>
              <a:rPr lang="en-US" kern="1200">
                <a:solidFill>
                  <a:schemeClr val="tx1"/>
                </a:solidFill>
                <a:effectLst/>
                <a:latin typeface="+mn-lt"/>
                <a:ea typeface="+mn-ea"/>
                <a:cs typeface="+mn-cs"/>
              </a:rPr>
              <a:t> Amazon Relational Database Service (or Amazon RDS), Amazon DynamoDB, Amazon Redshift,</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and Amazon Aurora.</a:t>
            </a:r>
            <a:r>
              <a:rPr lang="en-US">
                <a:effectLst/>
              </a:rPr>
              <a:t> </a:t>
            </a:r>
            <a:endParaRPr lang="en-US" kern="1200">
              <a:solidFill>
                <a:schemeClr val="tx1"/>
              </a:solidFill>
              <a:effectLst/>
              <a:latin typeface="+mn-lt"/>
              <a:ea typeface="+mn-ea"/>
              <a:cs typeface="+mn-cs"/>
            </a:endParaRP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This module will address the following topics:</a:t>
            </a:r>
          </a:p>
          <a:p>
            <a:pPr marL="171450" indent="-171450">
              <a:buFont typeface="Arial" panose="020B0604020202020204" pitchFamily="34" charset="0"/>
              <a:buChar char="•"/>
            </a:pPr>
            <a:r>
              <a:rPr lang="en-US"/>
              <a:t>Amazon Relational Database Service (Amazon RDS)</a:t>
            </a:r>
          </a:p>
          <a:p>
            <a:pPr marL="171450" indent="-171450">
              <a:buFont typeface="Arial" panose="020B0604020202020204" pitchFamily="34" charset="0"/>
              <a:buChar char="•"/>
            </a:pPr>
            <a:r>
              <a:rPr lang="en-US"/>
              <a:t>Amazon DynamoDB</a:t>
            </a:r>
          </a:p>
          <a:p>
            <a:pPr marL="171450" indent="-171450">
              <a:buFont typeface="Arial" panose="020B0604020202020204" pitchFamily="34" charset="0"/>
              <a:buChar char="•"/>
            </a:pPr>
            <a:r>
              <a:rPr lang="en-US"/>
              <a:t>Amazon Redshift</a:t>
            </a:r>
          </a:p>
          <a:p>
            <a:pPr marL="171450" indent="-171450">
              <a:buFont typeface="Arial" panose="020B0604020202020204" pitchFamily="34" charset="0"/>
              <a:buChar char="•"/>
            </a:pPr>
            <a:r>
              <a:rPr lang="en-US"/>
              <a:t>Amazon Aurora</a:t>
            </a:r>
            <a:endParaRPr lang="en-US" kern="1200">
              <a:solidFill>
                <a:schemeClr val="tx1"/>
              </a:solidFill>
              <a:effectLst/>
              <a:latin typeface="+mn-lt"/>
              <a:ea typeface="+mn-ea"/>
              <a:cs typeface="+mn-cs"/>
            </a:endParaRPr>
          </a:p>
          <a:p>
            <a:pPr marL="0" indent="0">
              <a:buFont typeface="Arial" panose="020B0604020202020204" pitchFamily="34" charset="0"/>
              <a:buNone/>
            </a:pPr>
            <a:endParaRPr lang="en-US" kern="1200">
              <a:solidFill>
                <a:schemeClr val="tx1"/>
              </a:solidFill>
              <a:effectLst/>
              <a:latin typeface="+mn-lt"/>
              <a:ea typeface="+mn-ea"/>
              <a:cs typeface="+mn-cs"/>
            </a:endParaRPr>
          </a:p>
          <a:p>
            <a:pPr marL="0" indent="0">
              <a:buFont typeface="Arial" panose="020B0604020202020204" pitchFamily="34" charset="0"/>
              <a:buNone/>
            </a:pPr>
            <a:r>
              <a:rPr lang="en-US" kern="1200">
                <a:solidFill>
                  <a:schemeClr val="tx1"/>
                </a:solidFill>
                <a:effectLst/>
                <a:latin typeface="+mn-lt"/>
                <a:ea typeface="+mn-ea"/>
                <a:cs typeface="+mn-cs"/>
              </a:rPr>
              <a:t>The module includes two recorded demonstrations that will show you how to access and interact with Amazon RDS and Amazon DynamoDB by using the AWS Management</a:t>
            </a:r>
            <a:r>
              <a:rPr lang="en-US" kern="1200" baseline="0">
                <a:solidFill>
                  <a:schemeClr val="tx1"/>
                </a:solidFill>
                <a:effectLst/>
                <a:latin typeface="+mn-lt"/>
                <a:ea typeface="+mn-ea"/>
                <a:cs typeface="+mn-cs"/>
              </a:rPr>
              <a:t> C</a:t>
            </a:r>
            <a:r>
              <a:rPr lang="en-US" kern="1200">
                <a:solidFill>
                  <a:schemeClr val="tx1"/>
                </a:solidFill>
                <a:effectLst/>
                <a:latin typeface="+mn-lt"/>
                <a:ea typeface="+mn-ea"/>
                <a:cs typeface="+mn-cs"/>
              </a:rPr>
              <a:t>onsole. </a:t>
            </a:r>
          </a:p>
          <a:p>
            <a:pPr marL="0" indent="0">
              <a:buFont typeface="Arial" panose="020B0604020202020204" pitchFamily="34" charset="0"/>
              <a:buNone/>
            </a:pPr>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kern="1200">
                <a:solidFill>
                  <a:schemeClr val="tx1"/>
                </a:solidFill>
                <a:effectLst/>
                <a:latin typeface="+mn-lt"/>
                <a:ea typeface="+mn-ea"/>
                <a:cs typeface="+mn-cs"/>
              </a:rPr>
              <a:t>The module also includes a hands-on lab where you will set up an Amazon RDS database solution.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kern="1200">
                <a:solidFill>
                  <a:schemeClr val="tx1"/>
                </a:solidFill>
                <a:effectLst/>
                <a:latin typeface="+mn-lt"/>
                <a:ea typeface="+mn-ea"/>
                <a:cs typeface="+mn-cs"/>
              </a:rPr>
              <a:t>The module also includes an activity that challenges you to select the appropriate database service for a business case.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kern="1200">
                <a:solidFill>
                  <a:schemeClr val="tx1"/>
                </a:solidFill>
                <a:effectLst/>
                <a:latin typeface="+mn-lt"/>
                <a:ea typeface="+mn-ea"/>
                <a:cs typeface="+mn-cs"/>
              </a:rPr>
              <a:t>Finally, you will be asked to complete a knowledge check that</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will test your understanding of the key concepts that are covered in this module.</a:t>
            </a:r>
          </a:p>
          <a:p>
            <a:pPr marL="0" indent="0">
              <a:buFont typeface="Arial" panose="020B0604020202020204" pitchFamily="34" charset="0"/>
              <a:buNone/>
            </a:pPr>
            <a:endParaRPr lang="en-US" kern="1200">
              <a:solidFill>
                <a:schemeClr val="tx1"/>
              </a:solidFill>
              <a:effectLst/>
              <a:latin typeface="+mn-lt"/>
              <a:ea typeface="+mn-ea"/>
              <a:cs typeface="+mn-cs"/>
            </a:endParaRPr>
          </a:p>
        </p:txBody>
      </p:sp>
    </p:spTree>
    <p:extLst>
      <p:ext uri="{BB962C8B-B14F-4D97-AF65-F5344CB8AC3E}">
        <p14:creationId xmlns:p14="http://schemas.microsoft.com/office/powerpoint/2010/main" val="19150366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In this module, you</a:t>
            </a:r>
            <a:r>
              <a:rPr lang="en-US" kern="1200" baseline="0">
                <a:solidFill>
                  <a:schemeClr val="tx1"/>
                </a:solidFill>
                <a:effectLst/>
                <a:latin typeface="+mn-lt"/>
                <a:ea typeface="+mn-ea"/>
                <a:cs typeface="+mn-cs"/>
              </a:rPr>
              <a:t> will learn about</a:t>
            </a:r>
            <a:r>
              <a:rPr lang="en-US" kern="1200">
                <a:solidFill>
                  <a:schemeClr val="tx1"/>
                </a:solidFill>
                <a:effectLst/>
                <a:latin typeface="+mn-lt"/>
                <a:ea typeface="+mn-ea"/>
                <a:cs typeface="+mn-cs"/>
              </a:rPr>
              <a:t> key concepts that are related to database solutions, including: </a:t>
            </a:r>
          </a:p>
          <a:p>
            <a:pPr marL="171450" lvl="0" indent="-171450">
              <a:buFont typeface="Arial" panose="020B0604020202020204" pitchFamily="34" charset="0"/>
              <a:buChar char="•"/>
            </a:pPr>
            <a:r>
              <a:rPr lang="en-US" kern="1200">
                <a:solidFill>
                  <a:schemeClr val="tx1"/>
                </a:solidFill>
                <a:effectLst/>
                <a:latin typeface="+mn-lt"/>
                <a:ea typeface="+mn-ea"/>
                <a:cs typeface="+mn-cs"/>
              </a:rPr>
              <a:t>Understanding the different database services in the cloud.</a:t>
            </a:r>
          </a:p>
          <a:p>
            <a:pPr marL="171450" lvl="0" indent="-171450">
              <a:buFont typeface="Arial" panose="020B0604020202020204" pitchFamily="34" charset="0"/>
              <a:buChar char="•"/>
            </a:pPr>
            <a:r>
              <a:rPr lang="en-US" kern="1200">
                <a:solidFill>
                  <a:schemeClr val="tx1"/>
                </a:solidFill>
                <a:effectLst/>
                <a:latin typeface="+mn-lt"/>
                <a:ea typeface="+mn-ea"/>
                <a:cs typeface="+mn-cs"/>
              </a:rPr>
              <a:t>Discovering the differences between unmanaged and managed database solutions.</a:t>
            </a:r>
          </a:p>
          <a:p>
            <a:pPr marL="171450" lvl="0" indent="-171450">
              <a:buFont typeface="Arial" panose="020B0604020202020204" pitchFamily="34" charset="0"/>
              <a:buChar char="•"/>
            </a:pPr>
            <a:r>
              <a:rPr lang="en-US" kern="1200">
                <a:solidFill>
                  <a:schemeClr val="tx1"/>
                </a:solidFill>
                <a:effectLst/>
                <a:latin typeface="+mn-lt"/>
                <a:ea typeface="+mn-ea"/>
                <a:cs typeface="+mn-cs"/>
              </a:rPr>
              <a:t>Understanding the differences between Structured Query Language (or SQL) and NoSQL databases.</a:t>
            </a:r>
          </a:p>
          <a:p>
            <a:pPr marL="171450" lvl="0" indent="-171450">
              <a:buFont typeface="Arial" panose="020B0604020202020204" pitchFamily="34" charset="0"/>
              <a:buChar char="•"/>
            </a:pPr>
            <a:r>
              <a:rPr lang="en-US" kern="1200">
                <a:solidFill>
                  <a:schemeClr val="tx1"/>
                </a:solidFill>
                <a:effectLst/>
                <a:latin typeface="+mn-lt"/>
                <a:ea typeface="+mn-ea"/>
                <a:cs typeface="+mn-cs"/>
              </a:rPr>
              <a:t>Comparing the availability differences of alternative database solutions.</a:t>
            </a:r>
          </a:p>
          <a:p>
            <a:pPr lvl="0"/>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The goal of this module is to help you understand the database resources that are available to power your solution. You will also review the different service features that are available, so you can begin to understand how different choices impact things like solution availability</a:t>
            </a:r>
            <a:endParaRPr lang="en-US"/>
          </a:p>
          <a:p>
            <a:endParaRPr lang="en-US"/>
          </a:p>
          <a:p>
            <a:r>
              <a:rPr lang="en-US"/>
              <a:t>After completing this module, you should be able to:</a:t>
            </a:r>
          </a:p>
          <a:p>
            <a:pPr marL="171450" indent="-171450">
              <a:buFont typeface="Arial" panose="020B0604020202020204" pitchFamily="34" charset="0"/>
              <a:buChar char="•"/>
            </a:pPr>
            <a:r>
              <a:rPr lang="en-US"/>
              <a:t>Explain Amazon Relational Database Service (Amazon RDS)</a:t>
            </a:r>
          </a:p>
          <a:p>
            <a:pPr marL="171450" indent="-171450">
              <a:buFont typeface="Arial" panose="020B0604020202020204" pitchFamily="34" charset="0"/>
              <a:buChar char="•"/>
            </a:pPr>
            <a:r>
              <a:rPr lang="en-US"/>
              <a:t>Identify the functionality in Amazon RDS</a:t>
            </a:r>
          </a:p>
          <a:p>
            <a:pPr marL="171450" indent="-171450">
              <a:buFont typeface="Arial" panose="020B0604020202020204" pitchFamily="34" charset="0"/>
              <a:buChar char="•"/>
            </a:pPr>
            <a:r>
              <a:rPr lang="en-US"/>
              <a:t>Explain Amazon DynamoDB</a:t>
            </a:r>
          </a:p>
          <a:p>
            <a:pPr marL="171450" indent="-171450">
              <a:buFont typeface="Arial" panose="020B0604020202020204" pitchFamily="34" charset="0"/>
              <a:buChar char="•"/>
            </a:pPr>
            <a:r>
              <a:rPr lang="en-US"/>
              <a:t>Identify the functionality in Amazon DynamoDB</a:t>
            </a:r>
          </a:p>
          <a:p>
            <a:pPr marL="171450" indent="-171450">
              <a:buFont typeface="Arial" panose="020B0604020202020204" pitchFamily="34" charset="0"/>
              <a:buChar char="•"/>
            </a:pPr>
            <a:r>
              <a:rPr lang="en-US"/>
              <a:t>Explain Amazon Redshift</a:t>
            </a:r>
          </a:p>
          <a:p>
            <a:pPr marL="171450" indent="-171450">
              <a:buFont typeface="Arial" panose="020B0604020202020204" pitchFamily="34" charset="0"/>
              <a:buChar char="•"/>
            </a:pPr>
            <a:r>
              <a:rPr lang="en-US"/>
              <a:t>Explain Amazon Aurora</a:t>
            </a:r>
          </a:p>
          <a:p>
            <a:pPr marL="171450" indent="-171450">
              <a:buFont typeface="Arial" panose="020B0604020202020204" pitchFamily="34" charset="0"/>
              <a:buChar char="•"/>
            </a:pPr>
            <a:r>
              <a:rPr lang="en-US"/>
              <a:t>Perform tasks in an RDS database, such as launching, configuring, and interacting</a:t>
            </a:r>
          </a:p>
        </p:txBody>
      </p:sp>
    </p:spTree>
    <p:extLst>
      <p:ext uri="{BB962C8B-B14F-4D97-AF65-F5344CB8AC3E}">
        <p14:creationId xmlns:p14="http://schemas.microsoft.com/office/powerpoint/2010/main" val="38455019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Introducing Section 1:</a:t>
            </a:r>
            <a:r>
              <a:rPr lang="en-US" baseline="0"/>
              <a:t> </a:t>
            </a:r>
            <a:r>
              <a:rPr lang="en-US"/>
              <a:t>Amazon Relational Database Service.</a:t>
            </a:r>
          </a:p>
        </p:txBody>
      </p:sp>
    </p:spTree>
    <p:extLst>
      <p:ext uri="{BB962C8B-B14F-4D97-AF65-F5344CB8AC3E}">
        <p14:creationId xmlns:p14="http://schemas.microsoft.com/office/powerpoint/2010/main" val="16805189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Welcome to an introduction to the foundational database services that are available on Amazon Web Services (AWS). This module begins with Amazon Relational Database Service (Amazon</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RDS).</a:t>
            </a: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This section starts by reviewing the differences between a managed and unmanaged service in relation to Amazon RDS.</a:t>
            </a:r>
          </a:p>
        </p:txBody>
      </p:sp>
    </p:spTree>
    <p:extLst>
      <p:ext uri="{BB962C8B-B14F-4D97-AF65-F5344CB8AC3E}">
        <p14:creationId xmlns:p14="http://schemas.microsoft.com/office/powerpoint/2010/main" val="32909996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AWS solutions typically fall into one of two categories: unmanaged or managed.</a:t>
            </a:r>
          </a:p>
          <a:p>
            <a:r>
              <a:rPr lang="en-US" kern="1200">
                <a:solidFill>
                  <a:schemeClr val="tx1"/>
                </a:solidFill>
                <a:effectLst/>
                <a:latin typeface="+mn-lt"/>
                <a:ea typeface="+mn-ea"/>
                <a:cs typeface="+mn-cs"/>
              </a:rPr>
              <a:t> </a:t>
            </a:r>
          </a:p>
          <a:p>
            <a:r>
              <a:rPr lang="en-US" kern="1200">
                <a:solidFill>
                  <a:schemeClr val="tx1"/>
                </a:solidFill>
                <a:effectLst/>
                <a:latin typeface="+mn-lt"/>
                <a:ea typeface="+mn-ea"/>
                <a:cs typeface="+mn-cs"/>
              </a:rPr>
              <a:t>Unmanaged services are typically provisioned in discrete portions as specified by the user.</a:t>
            </a:r>
            <a:r>
              <a:rPr lang="en-US" kern="1200" baseline="0">
                <a:solidFill>
                  <a:schemeClr val="tx1"/>
                </a:solidFill>
                <a:effectLst/>
                <a:latin typeface="+mn-lt"/>
                <a:ea typeface="+mn-ea"/>
                <a:cs typeface="+mn-cs"/>
              </a:rPr>
              <a:t> You must </a:t>
            </a:r>
            <a:r>
              <a:rPr lang="en-US" kern="1200">
                <a:solidFill>
                  <a:schemeClr val="tx1"/>
                </a:solidFill>
                <a:effectLst/>
                <a:latin typeface="+mn-lt"/>
                <a:ea typeface="+mn-ea"/>
                <a:cs typeface="+mn-cs"/>
              </a:rPr>
              <a:t>manage how the service responds to changes in load, errors, and situations where resources become unavailable. Say that you launch a web server on an Amazon Elastic Compute Cloud (Amazon EC2) instance. Because Amazon EC2 is an unmanaged solution, that web server will not scale to handle increased traffic load or replace unhealthy instances with healthy ones</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unless you specify that it use a scaling solution, such as AWS Automatic Scaling. The benefit to using an unmanaged service is that you have more fine-tuned control over how your solution handles changes in load, errors, and situations where resources become unavailable.</a:t>
            </a:r>
          </a:p>
          <a:p>
            <a:r>
              <a:rPr lang="en-US" kern="1200">
                <a:solidFill>
                  <a:schemeClr val="tx1"/>
                </a:solidFill>
                <a:effectLst/>
                <a:latin typeface="+mn-lt"/>
                <a:ea typeface="+mn-ea"/>
                <a:cs typeface="+mn-cs"/>
              </a:rPr>
              <a:t> </a:t>
            </a:r>
          </a:p>
          <a:p>
            <a:r>
              <a:rPr lang="en-US" kern="1200">
                <a:solidFill>
                  <a:schemeClr val="tx1"/>
                </a:solidFill>
                <a:effectLst/>
                <a:latin typeface="+mn-lt"/>
                <a:ea typeface="+mn-ea"/>
                <a:cs typeface="+mn-cs"/>
              </a:rPr>
              <a:t>Managed services require the user to configure them. For example, you create</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an Amazon Simple Storage Service (Amazon S3) bucket and then set permissions for it. However, managed services typically require less configuration. Say that you</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have a static website that you</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host in a cloud-based storage solution, such as Amazon S3. The static</a:t>
            </a:r>
            <a:r>
              <a:rPr lang="en-US" kern="1200" baseline="0">
                <a:solidFill>
                  <a:schemeClr val="tx1"/>
                </a:solidFill>
                <a:effectLst/>
                <a:latin typeface="+mn-lt"/>
                <a:ea typeface="+mn-ea"/>
                <a:cs typeface="+mn-cs"/>
              </a:rPr>
              <a:t> website does not have a</a:t>
            </a:r>
            <a:r>
              <a:rPr lang="en-US" kern="1200">
                <a:solidFill>
                  <a:schemeClr val="tx1"/>
                </a:solidFill>
                <a:effectLst/>
                <a:latin typeface="+mn-lt"/>
                <a:ea typeface="+mn-ea"/>
                <a:cs typeface="+mn-cs"/>
              </a:rPr>
              <a:t> web server.</a:t>
            </a:r>
            <a:r>
              <a:rPr lang="en-US" kern="1200" baseline="0">
                <a:solidFill>
                  <a:schemeClr val="tx1"/>
                </a:solidFill>
                <a:effectLst/>
                <a:latin typeface="+mn-lt"/>
                <a:ea typeface="+mn-ea"/>
                <a:cs typeface="+mn-cs"/>
              </a:rPr>
              <a:t> However, because Amazon S3 is a managed solution,</a:t>
            </a:r>
            <a:r>
              <a:rPr lang="en-US" kern="1200">
                <a:solidFill>
                  <a:schemeClr val="tx1"/>
                </a:solidFill>
                <a:effectLst/>
                <a:latin typeface="+mn-lt"/>
                <a:ea typeface="+mn-ea"/>
                <a:cs typeface="+mn-cs"/>
              </a:rPr>
              <a:t> features</a:t>
            </a:r>
            <a:r>
              <a:rPr lang="en-US" kern="1200" baseline="0">
                <a:solidFill>
                  <a:schemeClr val="tx1"/>
                </a:solidFill>
                <a:effectLst/>
                <a:latin typeface="+mn-lt"/>
                <a:ea typeface="+mn-ea"/>
                <a:cs typeface="+mn-cs"/>
              </a:rPr>
              <a:t> such as </a:t>
            </a:r>
            <a:r>
              <a:rPr lang="en-US" kern="1200">
                <a:solidFill>
                  <a:schemeClr val="tx1"/>
                </a:solidFill>
                <a:effectLst/>
                <a:latin typeface="+mn-lt"/>
                <a:ea typeface="+mn-ea"/>
                <a:cs typeface="+mn-cs"/>
              </a:rPr>
              <a:t>scaling, fault-tolerance, and availability would be handled automatically and internally by Amazon S3. </a:t>
            </a:r>
          </a:p>
          <a:p>
            <a:r>
              <a:rPr lang="en-US" kern="1200">
                <a:solidFill>
                  <a:schemeClr val="tx1"/>
                </a:solidFill>
                <a:effectLst/>
                <a:latin typeface="+mn-lt"/>
                <a:ea typeface="+mn-ea"/>
                <a:cs typeface="+mn-cs"/>
              </a:rPr>
              <a:t> </a:t>
            </a:r>
          </a:p>
          <a:p>
            <a:r>
              <a:rPr lang="en-US" kern="1200">
                <a:solidFill>
                  <a:schemeClr val="tx1"/>
                </a:solidFill>
                <a:effectLst/>
                <a:latin typeface="+mn-lt"/>
                <a:ea typeface="+mn-ea"/>
                <a:cs typeface="+mn-cs"/>
              </a:rPr>
              <a:t>Now, you</a:t>
            </a:r>
            <a:r>
              <a:rPr lang="en-US" kern="1200" baseline="0">
                <a:solidFill>
                  <a:schemeClr val="tx1"/>
                </a:solidFill>
                <a:effectLst/>
                <a:latin typeface="+mn-lt"/>
                <a:ea typeface="+mn-ea"/>
                <a:cs typeface="+mn-cs"/>
              </a:rPr>
              <a:t> will </a:t>
            </a:r>
            <a:r>
              <a:rPr lang="en-US" kern="1200">
                <a:solidFill>
                  <a:schemeClr val="tx1"/>
                </a:solidFill>
                <a:effectLst/>
                <a:latin typeface="+mn-lt"/>
                <a:ea typeface="+mn-ea"/>
                <a:cs typeface="+mn-cs"/>
              </a:rPr>
              <a:t>look at the challenges of running an unmanaged, standalone relational database. Then, you will learn how Amazon RDS addresses these challenges.</a:t>
            </a:r>
          </a:p>
        </p:txBody>
      </p:sp>
    </p:spTree>
    <p:extLst>
      <p:ext uri="{BB962C8B-B14F-4D97-AF65-F5344CB8AC3E}">
        <p14:creationId xmlns:p14="http://schemas.microsoft.com/office/powerpoint/2010/main" val="14986944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When you run your own relational database, you are responsible for several administrative tasks, such as server maintenance and energy footprint, software, installation and patching, and database backups.</a:t>
            </a:r>
            <a:r>
              <a:rPr lang="en-US" kern="1200" baseline="0">
                <a:solidFill>
                  <a:schemeClr val="tx1"/>
                </a:solidFill>
                <a:effectLst/>
                <a:latin typeface="+mn-lt"/>
                <a:ea typeface="+mn-ea"/>
                <a:cs typeface="+mn-cs"/>
              </a:rPr>
              <a:t> You are also responsible for </a:t>
            </a:r>
            <a:r>
              <a:rPr lang="en-US" kern="1200">
                <a:solidFill>
                  <a:schemeClr val="tx1"/>
                </a:solidFill>
                <a:effectLst/>
                <a:latin typeface="+mn-lt"/>
                <a:ea typeface="+mn-ea"/>
                <a:cs typeface="+mn-cs"/>
              </a:rPr>
              <a:t>ensuring high availability, planning for scalability, data security, and operating system (OS) installation and patching. All these tasks take resources from other items on your to-do list, and require expertise in several areas. </a:t>
            </a:r>
          </a:p>
        </p:txBody>
      </p:sp>
    </p:spTree>
    <p:extLst>
      <p:ext uri="{BB962C8B-B14F-4D97-AF65-F5344CB8AC3E}">
        <p14:creationId xmlns:p14="http://schemas.microsoft.com/office/powerpoint/2010/main" val="34412870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Amazon RDS is a managed service that sets up and operates a relational database in the cloud. </a:t>
            </a: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To address the challenges of running an unmanaged, standalone relational database, AWS provides a service that sets up, operates, and scales the relational database without any ongoing administration. Amazon RDS provides cost-efficient and resizable capacity, while automating time-consuming administrative tasks. </a:t>
            </a: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Amazon RDS enables you to focus on your application, so you can give applications the performance, high availability, security, and compatibility that they need. With Amazon RDS, your primary focus is your data and optimizing your application.</a:t>
            </a:r>
          </a:p>
        </p:txBody>
      </p:sp>
    </p:spTree>
    <p:extLst>
      <p:ext uri="{BB962C8B-B14F-4D97-AF65-F5344CB8AC3E}">
        <p14:creationId xmlns:p14="http://schemas.microsoft.com/office/powerpoint/2010/main" val="12959194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ea typeface="+mn-ea"/>
                <a:cs typeface="+mn-cs"/>
              </a:rPr>
              <a:t>What does the term </a:t>
            </a:r>
            <a:r>
              <a:rPr lang="en-US" b="1" i="0" kern="1200">
                <a:solidFill>
                  <a:schemeClr val="tx1"/>
                </a:solidFill>
                <a:effectLst/>
                <a:ea typeface="+mn-ea"/>
                <a:cs typeface="+mn-cs"/>
              </a:rPr>
              <a:t>managed services</a:t>
            </a:r>
            <a:r>
              <a:rPr lang="en-US" b="0" i="0" kern="1200" baseline="0">
                <a:solidFill>
                  <a:schemeClr val="tx1"/>
                </a:solidFill>
                <a:effectLst/>
                <a:ea typeface="+mn-ea"/>
                <a:cs typeface="+mn-cs"/>
              </a:rPr>
              <a:t> mean?</a:t>
            </a:r>
            <a:r>
              <a:rPr lang="en-US" kern="1200">
                <a:solidFill>
                  <a:schemeClr val="tx1"/>
                </a:solidFill>
                <a:effectLst/>
                <a:ea typeface="+mn-ea"/>
                <a:cs typeface="+mn-cs"/>
              </a:rPr>
              <a:t> </a:t>
            </a:r>
          </a:p>
          <a:p>
            <a:endParaRPr lang="en-US" kern="1200">
              <a:solidFill>
                <a:schemeClr val="tx1"/>
              </a:solidFill>
              <a:effectLst/>
              <a:ea typeface="+mn-ea"/>
              <a:cs typeface="+mn-cs"/>
            </a:endParaRPr>
          </a:p>
          <a:p>
            <a:r>
              <a:rPr lang="en-US" kern="1200">
                <a:solidFill>
                  <a:schemeClr val="tx1"/>
                </a:solidFill>
                <a:effectLst/>
                <a:ea typeface="+mn-ea"/>
                <a:cs typeface="+mn-cs"/>
              </a:rPr>
              <a:t>When your database is on</a:t>
            </a:r>
            <a:r>
              <a:rPr lang="en-US" kern="1200" baseline="0">
                <a:solidFill>
                  <a:schemeClr val="tx1"/>
                </a:solidFill>
                <a:effectLst/>
                <a:ea typeface="+mn-ea"/>
                <a:cs typeface="+mn-cs"/>
              </a:rPr>
              <a:t> </a:t>
            </a:r>
            <a:r>
              <a:rPr lang="en-US" kern="1200">
                <a:solidFill>
                  <a:schemeClr val="tx1"/>
                </a:solidFill>
                <a:effectLst/>
                <a:ea typeface="+mn-ea"/>
                <a:cs typeface="+mn-cs"/>
              </a:rPr>
              <a:t>premises, the database administrator is responsible for everything.</a:t>
            </a:r>
            <a:r>
              <a:rPr lang="en-US" kern="1200" baseline="0">
                <a:solidFill>
                  <a:schemeClr val="tx1"/>
                </a:solidFill>
                <a:effectLst/>
                <a:ea typeface="+mn-ea"/>
                <a:cs typeface="+mn-cs"/>
              </a:rPr>
              <a:t> Database administration tasks include </a:t>
            </a:r>
            <a:r>
              <a:rPr lang="en-US" kern="1200">
                <a:solidFill>
                  <a:schemeClr val="tx1"/>
                </a:solidFill>
                <a:effectLst/>
                <a:ea typeface="+mn-ea"/>
                <a:cs typeface="+mn-cs"/>
              </a:rPr>
              <a:t>optimizing</a:t>
            </a:r>
            <a:r>
              <a:rPr lang="en-US" kern="1200" baseline="0">
                <a:solidFill>
                  <a:schemeClr val="tx1"/>
                </a:solidFill>
                <a:effectLst/>
                <a:ea typeface="+mn-ea"/>
                <a:cs typeface="+mn-cs"/>
              </a:rPr>
              <a:t> </a:t>
            </a:r>
            <a:r>
              <a:rPr lang="en-US" kern="1200">
                <a:solidFill>
                  <a:schemeClr val="tx1"/>
                </a:solidFill>
                <a:effectLst/>
                <a:ea typeface="+mn-ea"/>
                <a:cs typeface="+mn-cs"/>
              </a:rPr>
              <a:t>applications</a:t>
            </a:r>
            <a:r>
              <a:rPr lang="en-US" kern="1200" baseline="0">
                <a:solidFill>
                  <a:schemeClr val="tx1"/>
                </a:solidFill>
                <a:effectLst/>
                <a:ea typeface="+mn-ea"/>
                <a:cs typeface="+mn-cs"/>
              </a:rPr>
              <a:t> </a:t>
            </a:r>
            <a:r>
              <a:rPr lang="en-US" kern="1200">
                <a:solidFill>
                  <a:schemeClr val="tx1"/>
                </a:solidFill>
                <a:effectLst/>
                <a:ea typeface="+mn-ea"/>
                <a:cs typeface="+mn-cs"/>
              </a:rPr>
              <a:t>and queries; setting up the hardware; patching the hardware;</a:t>
            </a:r>
            <a:r>
              <a:rPr lang="en-US" kern="1200" baseline="0">
                <a:solidFill>
                  <a:schemeClr val="tx1"/>
                </a:solidFill>
                <a:effectLst/>
                <a:ea typeface="+mn-ea"/>
                <a:cs typeface="+mn-cs"/>
              </a:rPr>
              <a:t> </a:t>
            </a:r>
            <a:r>
              <a:rPr lang="en-US" kern="1200">
                <a:solidFill>
                  <a:schemeClr val="tx1"/>
                </a:solidFill>
                <a:effectLst/>
                <a:ea typeface="+mn-ea"/>
                <a:cs typeface="+mn-cs"/>
              </a:rPr>
              <a:t>setting up networking</a:t>
            </a:r>
            <a:r>
              <a:rPr lang="en-US" kern="1200" baseline="0">
                <a:solidFill>
                  <a:schemeClr val="tx1"/>
                </a:solidFill>
                <a:effectLst/>
                <a:ea typeface="+mn-ea"/>
                <a:cs typeface="+mn-cs"/>
              </a:rPr>
              <a:t> and </a:t>
            </a:r>
            <a:r>
              <a:rPr lang="en-US" kern="1200">
                <a:solidFill>
                  <a:schemeClr val="tx1"/>
                </a:solidFill>
                <a:effectLst/>
                <a:ea typeface="+mn-ea"/>
                <a:cs typeface="+mn-cs"/>
              </a:rPr>
              <a:t>power; and</a:t>
            </a:r>
            <a:r>
              <a:rPr lang="en-US" kern="1200" baseline="0">
                <a:solidFill>
                  <a:schemeClr val="tx1"/>
                </a:solidFill>
                <a:effectLst/>
                <a:ea typeface="+mn-ea"/>
                <a:cs typeface="+mn-cs"/>
              </a:rPr>
              <a:t> managing heating, ventilation, and air conditioning (</a:t>
            </a:r>
            <a:r>
              <a:rPr lang="en-US" kern="1200">
                <a:solidFill>
                  <a:schemeClr val="tx1"/>
                </a:solidFill>
                <a:effectLst/>
                <a:ea typeface="+mn-ea"/>
                <a:cs typeface="+mn-cs"/>
              </a:rPr>
              <a:t>HVAC). </a:t>
            </a:r>
          </a:p>
          <a:p>
            <a:endParaRPr lang="en-US" kern="1200">
              <a:solidFill>
                <a:schemeClr val="tx1"/>
              </a:solidFill>
              <a:effectLst/>
              <a:ea typeface="+mn-ea"/>
              <a:cs typeface="+mn-cs"/>
            </a:endParaRPr>
          </a:p>
          <a:p>
            <a:r>
              <a:rPr lang="en-US" kern="1200">
                <a:solidFill>
                  <a:schemeClr val="tx1"/>
                </a:solidFill>
                <a:effectLst/>
                <a:ea typeface="+mn-ea"/>
                <a:cs typeface="+mn-cs"/>
              </a:rPr>
              <a:t>If you move to a database that runs on an </a:t>
            </a:r>
            <a:r>
              <a:rPr lang="en-US" b="1" kern="1200">
                <a:solidFill>
                  <a:schemeClr val="tx1"/>
                </a:solidFill>
                <a:effectLst/>
                <a:ea typeface="+mn-ea"/>
                <a:cs typeface="+mn-cs"/>
              </a:rPr>
              <a:t>Amazon Elastic Compute Cloud</a:t>
            </a:r>
            <a:r>
              <a:rPr lang="en-US" b="1" kern="1200" baseline="0">
                <a:solidFill>
                  <a:schemeClr val="tx1"/>
                </a:solidFill>
                <a:effectLst/>
                <a:ea typeface="+mn-ea"/>
                <a:cs typeface="+mn-cs"/>
              </a:rPr>
              <a:t> (Amazon </a:t>
            </a:r>
            <a:r>
              <a:rPr lang="en-US" b="1" kern="1200">
                <a:solidFill>
                  <a:schemeClr val="tx1"/>
                </a:solidFill>
                <a:effectLst/>
                <a:ea typeface="+mn-ea"/>
                <a:cs typeface="+mn-cs"/>
              </a:rPr>
              <a:t>EC2) instance</a:t>
            </a:r>
            <a:r>
              <a:rPr lang="en-US" kern="1200">
                <a:solidFill>
                  <a:schemeClr val="tx1"/>
                </a:solidFill>
                <a:effectLst/>
                <a:ea typeface="+mn-ea"/>
                <a:cs typeface="+mn-cs"/>
              </a:rPr>
              <a:t>, you no longer need to manage the underlying hardware or handle data center operations. However, you</a:t>
            </a:r>
            <a:r>
              <a:rPr lang="en-US" kern="1200" baseline="0">
                <a:solidFill>
                  <a:schemeClr val="tx1"/>
                </a:solidFill>
                <a:effectLst/>
                <a:ea typeface="+mn-ea"/>
                <a:cs typeface="+mn-cs"/>
              </a:rPr>
              <a:t> a</a:t>
            </a:r>
            <a:r>
              <a:rPr lang="en-US" kern="1200">
                <a:solidFill>
                  <a:schemeClr val="tx1"/>
                </a:solidFill>
                <a:effectLst/>
                <a:ea typeface="+mn-ea"/>
                <a:cs typeface="+mn-cs"/>
              </a:rPr>
              <a:t>re still responsible for patching the OS and handling all software and backup operations. </a:t>
            </a:r>
          </a:p>
          <a:p>
            <a:endParaRPr lang="en-US" kern="1200">
              <a:solidFill>
                <a:schemeClr val="tx1"/>
              </a:solidFill>
              <a:effectLst/>
              <a:ea typeface="+mn-ea"/>
              <a:cs typeface="+mn-cs"/>
            </a:endParaRPr>
          </a:p>
          <a:p>
            <a:r>
              <a:rPr lang="en-US" kern="1200">
                <a:solidFill>
                  <a:schemeClr val="tx1"/>
                </a:solidFill>
                <a:effectLst/>
                <a:ea typeface="+mn-ea"/>
                <a:cs typeface="+mn-cs"/>
              </a:rPr>
              <a:t>If you set up your database on </a:t>
            </a:r>
            <a:r>
              <a:rPr lang="en-US" b="1" kern="1200">
                <a:solidFill>
                  <a:schemeClr val="tx1"/>
                </a:solidFill>
                <a:effectLst/>
                <a:ea typeface="+mn-ea"/>
                <a:cs typeface="+mn-cs"/>
              </a:rPr>
              <a:t>Amazon RDS</a:t>
            </a:r>
            <a:r>
              <a:rPr lang="en-US" b="0" kern="1200">
                <a:solidFill>
                  <a:schemeClr val="tx1"/>
                </a:solidFill>
                <a:effectLst/>
                <a:ea typeface="+mn-ea"/>
                <a:cs typeface="+mn-cs"/>
              </a:rPr>
              <a:t> or </a:t>
            </a:r>
            <a:r>
              <a:rPr lang="en-US" b="1" kern="1200">
                <a:solidFill>
                  <a:schemeClr val="tx1"/>
                </a:solidFill>
                <a:effectLst/>
                <a:ea typeface="+mn-ea"/>
                <a:cs typeface="+mn-cs"/>
              </a:rPr>
              <a:t>Amazon Aurora</a:t>
            </a:r>
            <a:r>
              <a:rPr lang="en-US" kern="1200">
                <a:solidFill>
                  <a:schemeClr val="tx1"/>
                </a:solidFill>
                <a:effectLst/>
                <a:ea typeface="+mn-ea"/>
                <a:cs typeface="+mn-cs"/>
              </a:rPr>
              <a:t>, you reduce your administrative responsibilities. By moving to the cloud, you can automatically scale your database, enable high availability, manage backups,</a:t>
            </a:r>
            <a:r>
              <a:rPr lang="en-US" kern="1200" baseline="0">
                <a:solidFill>
                  <a:schemeClr val="tx1"/>
                </a:solidFill>
                <a:effectLst/>
                <a:ea typeface="+mn-ea"/>
                <a:cs typeface="+mn-cs"/>
              </a:rPr>
              <a:t> </a:t>
            </a:r>
            <a:r>
              <a:rPr lang="en-US" kern="1200">
                <a:solidFill>
                  <a:schemeClr val="tx1"/>
                </a:solidFill>
                <a:effectLst/>
                <a:ea typeface="+mn-ea"/>
                <a:cs typeface="+mn-cs"/>
              </a:rPr>
              <a:t>and perform patching.</a:t>
            </a:r>
            <a:r>
              <a:rPr lang="en-US" kern="1200" baseline="0">
                <a:solidFill>
                  <a:schemeClr val="tx1"/>
                </a:solidFill>
                <a:effectLst/>
                <a:ea typeface="+mn-ea"/>
                <a:cs typeface="+mn-cs"/>
              </a:rPr>
              <a:t> Thus, </a:t>
            </a:r>
            <a:r>
              <a:rPr lang="en-US" kern="1200">
                <a:solidFill>
                  <a:schemeClr val="tx1"/>
                </a:solidFill>
                <a:effectLst/>
                <a:ea typeface="+mn-ea"/>
                <a:cs typeface="+mn-cs"/>
              </a:rPr>
              <a:t>you can focus on what really matters most—optimizing your application.</a:t>
            </a:r>
          </a:p>
        </p:txBody>
      </p:sp>
    </p:spTree>
    <p:extLst>
      <p:ext uri="{BB962C8B-B14F-4D97-AF65-F5344CB8AC3E}">
        <p14:creationId xmlns:p14="http://schemas.microsoft.com/office/powerpoint/2010/main" val="13326395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With Amazon RDS, you manage your application optimization.</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AWS manages installing and patching the operating system, installing and patching the database software, automatic backups, and high availability. </a:t>
            </a: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AWS also scales resources, manages power and servers, and performs maintenance. </a:t>
            </a: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Offloading these operations to the managed Amazon RDS service reduces your operational workload and the costs that are associated with your relational database. You will now</a:t>
            </a:r>
            <a:r>
              <a:rPr lang="en-US" kern="1200" baseline="0">
                <a:solidFill>
                  <a:schemeClr val="tx1"/>
                </a:solidFill>
                <a:effectLst/>
                <a:latin typeface="+mn-lt"/>
                <a:ea typeface="+mn-ea"/>
                <a:cs typeface="+mn-cs"/>
              </a:rPr>
              <a:t> go </a:t>
            </a:r>
            <a:r>
              <a:rPr lang="en-US" kern="1200">
                <a:solidFill>
                  <a:schemeClr val="tx1"/>
                </a:solidFill>
                <a:effectLst/>
                <a:latin typeface="+mn-lt"/>
                <a:ea typeface="+mn-ea"/>
                <a:cs typeface="+mn-cs"/>
              </a:rPr>
              <a:t>through a brief overview of the service and a few potential use cases. </a:t>
            </a:r>
          </a:p>
        </p:txBody>
      </p:sp>
    </p:spTree>
    <p:extLst>
      <p:ext uri="{BB962C8B-B14F-4D97-AF65-F5344CB8AC3E}">
        <p14:creationId xmlns:p14="http://schemas.microsoft.com/office/powerpoint/2010/main" val="26036204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The basic building block of Amazon RDS is the database instance. A </a:t>
            </a:r>
            <a:r>
              <a:rPr lang="en-US" b="1" i="0" kern="1200">
                <a:solidFill>
                  <a:schemeClr val="tx1"/>
                </a:solidFill>
                <a:effectLst/>
                <a:latin typeface="+mn-lt"/>
                <a:ea typeface="+mn-ea"/>
                <a:cs typeface="+mn-cs"/>
              </a:rPr>
              <a:t>database instance </a:t>
            </a:r>
            <a:r>
              <a:rPr lang="en-US" kern="1200">
                <a:solidFill>
                  <a:schemeClr val="tx1"/>
                </a:solidFill>
                <a:effectLst/>
                <a:latin typeface="+mn-lt"/>
                <a:ea typeface="+mn-ea"/>
                <a:cs typeface="+mn-cs"/>
              </a:rPr>
              <a:t>is an isolated database environment that can contain multiple user-created databases.</a:t>
            </a:r>
            <a:r>
              <a:rPr lang="en-US" kern="1200" baseline="0">
                <a:solidFill>
                  <a:schemeClr val="tx1"/>
                </a:solidFill>
                <a:effectLst/>
                <a:latin typeface="+mn-lt"/>
                <a:ea typeface="+mn-ea"/>
                <a:cs typeface="+mn-cs"/>
              </a:rPr>
              <a:t> It </a:t>
            </a:r>
            <a:r>
              <a:rPr lang="en-US" kern="1200">
                <a:solidFill>
                  <a:schemeClr val="tx1"/>
                </a:solidFill>
                <a:effectLst/>
                <a:latin typeface="+mn-lt"/>
                <a:ea typeface="+mn-ea"/>
                <a:cs typeface="+mn-cs"/>
              </a:rPr>
              <a:t>can be accessed by using the same tools and applications that you use with a standalone database instance. The resources in a database instance are determined by its database instance class, and the type of storage is dictated by the type of disks. </a:t>
            </a: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Database instances and storage differ in performance characteristics and price, which enable you to customize your performance and cost to the needs of your database. When you choose to create a database instance, you must first specify which database engine to run. Amazon RDS currently supports six databases: MySQL, Amazon Aurora, Microsoft SQL Server, PostgreSQL, MariaDB, and Oracle. </a:t>
            </a:r>
            <a:endParaRPr lang="en-US"/>
          </a:p>
        </p:txBody>
      </p:sp>
    </p:spTree>
    <p:extLst>
      <p:ext uri="{BB962C8B-B14F-4D97-AF65-F5344CB8AC3E}">
        <p14:creationId xmlns:p14="http://schemas.microsoft.com/office/powerpoint/2010/main" val="37942047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You can run an instance by using </a:t>
            </a:r>
            <a:r>
              <a:rPr lang="en-US" b="1" kern="1200">
                <a:solidFill>
                  <a:schemeClr val="tx1"/>
                </a:solidFill>
                <a:effectLst/>
                <a:latin typeface="+mn-lt"/>
                <a:ea typeface="+mn-ea"/>
                <a:cs typeface="+mn-cs"/>
              </a:rPr>
              <a:t>Amazon Virtual Private Cloud (Amazon VPC). </a:t>
            </a:r>
            <a:r>
              <a:rPr lang="en-US" kern="1200">
                <a:solidFill>
                  <a:schemeClr val="tx1"/>
                </a:solidFill>
                <a:effectLst/>
                <a:latin typeface="+mn-lt"/>
                <a:ea typeface="+mn-ea"/>
                <a:cs typeface="+mn-cs"/>
              </a:rPr>
              <a:t>When you use a</a:t>
            </a:r>
            <a:r>
              <a:rPr lang="en-US" kern="1200" baseline="0">
                <a:solidFill>
                  <a:schemeClr val="tx1"/>
                </a:solidFill>
                <a:effectLst/>
                <a:latin typeface="+mn-lt"/>
                <a:ea typeface="+mn-ea"/>
                <a:cs typeface="+mn-cs"/>
              </a:rPr>
              <a:t> virtual private cloud (</a:t>
            </a:r>
            <a:r>
              <a:rPr lang="en-US" kern="1200">
                <a:solidFill>
                  <a:schemeClr val="tx1"/>
                </a:solidFill>
                <a:effectLst/>
                <a:latin typeface="+mn-lt"/>
                <a:ea typeface="+mn-ea"/>
                <a:cs typeface="+mn-cs"/>
              </a:rPr>
              <a:t>VPC), you have control over your virtual networking environment.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You can select your own IP address range, create subnets, and configure routing and access control lists (ACLs). The basic functionality of Amazon RDS is the same whether or not it runs in a</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VPC. Usually, the database instance is isolated in a private subnet and is only made directly accessible to indicated application instances. Subnets in a</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VPC are associated with a single Availability Zone, so when you select the subnet, you</a:t>
            </a:r>
            <a:r>
              <a:rPr lang="en-US" kern="1200" baseline="0">
                <a:solidFill>
                  <a:schemeClr val="tx1"/>
                </a:solidFill>
                <a:effectLst/>
                <a:latin typeface="+mn-lt"/>
                <a:ea typeface="+mn-ea"/>
                <a:cs typeface="+mn-cs"/>
              </a:rPr>
              <a:t> are</a:t>
            </a:r>
            <a:r>
              <a:rPr lang="en-US" kern="1200">
                <a:solidFill>
                  <a:schemeClr val="tx1"/>
                </a:solidFill>
                <a:effectLst/>
                <a:latin typeface="+mn-lt"/>
                <a:ea typeface="+mn-ea"/>
                <a:cs typeface="+mn-cs"/>
              </a:rPr>
              <a:t> also choosing the Availability Zone (or physical location) for your database instance. </a:t>
            </a:r>
            <a:endParaRPr lang="en-US"/>
          </a:p>
        </p:txBody>
      </p:sp>
    </p:spTree>
    <p:extLst>
      <p:ext uri="{BB962C8B-B14F-4D97-AF65-F5344CB8AC3E}">
        <p14:creationId xmlns:p14="http://schemas.microsoft.com/office/powerpoint/2010/main" val="35027933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One of the most powerful features of Amazon RDS is the ability to configure your database instance for high availability with a Multi-AZ deployment. After a</a:t>
            </a:r>
            <a:r>
              <a:rPr lang="en-US" kern="1200" baseline="0">
                <a:solidFill>
                  <a:schemeClr val="tx1"/>
                </a:solidFill>
                <a:effectLst/>
                <a:latin typeface="+mn-lt"/>
                <a:ea typeface="+mn-ea"/>
                <a:cs typeface="+mn-cs"/>
              </a:rPr>
              <a:t> Multi-AZ deployment is</a:t>
            </a:r>
            <a:r>
              <a:rPr lang="en-US" kern="1200">
                <a:solidFill>
                  <a:schemeClr val="tx1"/>
                </a:solidFill>
                <a:effectLst/>
                <a:latin typeface="+mn-lt"/>
                <a:ea typeface="+mn-ea"/>
                <a:cs typeface="+mn-cs"/>
              </a:rPr>
              <a:t> configured, Amazon RDS automatically generates a standby copy of the database instance in another Availability Zone within the same VPC. After seeding the database copy, transactions are synchronously replicated to the standby copy. Running a database instance in a Multi-AZ</a:t>
            </a:r>
            <a:r>
              <a:rPr lang="en-US" kern="1200" baseline="0">
                <a:solidFill>
                  <a:schemeClr val="tx1"/>
                </a:solidFill>
                <a:effectLst/>
                <a:latin typeface="+mn-lt"/>
                <a:ea typeface="+mn-ea"/>
                <a:cs typeface="+mn-cs"/>
              </a:rPr>
              <a:t> deployment </a:t>
            </a:r>
            <a:r>
              <a:rPr lang="en-US" kern="1200">
                <a:solidFill>
                  <a:schemeClr val="tx1"/>
                </a:solidFill>
                <a:effectLst/>
                <a:latin typeface="+mn-lt"/>
                <a:ea typeface="+mn-ea"/>
                <a:cs typeface="+mn-cs"/>
              </a:rPr>
              <a:t>can enhance availability during planned system maintenance, and it can help protect your databases against database instance failure and Availability Zone disruption. </a:t>
            </a:r>
            <a:endParaRPr lang="en-US"/>
          </a:p>
        </p:txBody>
      </p:sp>
    </p:spTree>
    <p:extLst>
      <p:ext uri="{BB962C8B-B14F-4D97-AF65-F5344CB8AC3E}">
        <p14:creationId xmlns:p14="http://schemas.microsoft.com/office/powerpoint/2010/main" val="24169183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Therefore</a:t>
            </a:r>
            <a:r>
              <a:rPr lang="en-US" kern="1200" baseline="0">
                <a:solidFill>
                  <a:schemeClr val="tx1"/>
                </a:solidFill>
                <a:effectLst/>
                <a:latin typeface="+mn-lt"/>
                <a:ea typeface="+mn-ea"/>
                <a:cs typeface="+mn-cs"/>
              </a:rPr>
              <a:t>, i</a:t>
            </a:r>
            <a:r>
              <a:rPr lang="en-US" kern="1200">
                <a:solidFill>
                  <a:schemeClr val="tx1"/>
                </a:solidFill>
                <a:effectLst/>
                <a:latin typeface="+mn-lt"/>
                <a:ea typeface="+mn-ea"/>
                <a:cs typeface="+mn-cs"/>
              </a:rPr>
              <a:t>f the main database instance fails in a Multi-AZ</a:t>
            </a:r>
            <a:r>
              <a:rPr lang="en-US" kern="1200" baseline="0">
                <a:solidFill>
                  <a:schemeClr val="tx1"/>
                </a:solidFill>
                <a:effectLst/>
                <a:latin typeface="+mn-lt"/>
                <a:ea typeface="+mn-ea"/>
                <a:cs typeface="+mn-cs"/>
              </a:rPr>
              <a:t> deployment</a:t>
            </a:r>
            <a:r>
              <a:rPr lang="en-US" kern="1200">
                <a:solidFill>
                  <a:schemeClr val="tx1"/>
                </a:solidFill>
                <a:effectLst/>
                <a:latin typeface="+mn-lt"/>
                <a:ea typeface="+mn-ea"/>
                <a:cs typeface="+mn-cs"/>
              </a:rPr>
              <a:t>, Amazon RDS automatically brings the standby database instance online as the new main instance. The</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synchronous replication</a:t>
            </a:r>
            <a:r>
              <a:rPr lang="en-US" kern="1200" baseline="0">
                <a:solidFill>
                  <a:schemeClr val="tx1"/>
                </a:solidFill>
                <a:effectLst/>
                <a:latin typeface="+mn-lt"/>
                <a:ea typeface="+mn-ea"/>
                <a:cs typeface="+mn-cs"/>
              </a:rPr>
              <a:t> minimizes </a:t>
            </a:r>
            <a:r>
              <a:rPr lang="en-US" kern="1200">
                <a:solidFill>
                  <a:schemeClr val="tx1"/>
                </a:solidFill>
                <a:effectLst/>
                <a:latin typeface="+mn-lt"/>
                <a:ea typeface="+mn-ea"/>
                <a:cs typeface="+mn-cs"/>
              </a:rPr>
              <a:t>the potential for data loss. Because your applications reference the database by name by using the Amazon RDS Domain</a:t>
            </a:r>
            <a:r>
              <a:rPr lang="en-US" kern="1200" baseline="0">
                <a:solidFill>
                  <a:schemeClr val="tx1"/>
                </a:solidFill>
                <a:effectLst/>
                <a:latin typeface="+mn-lt"/>
                <a:ea typeface="+mn-ea"/>
                <a:cs typeface="+mn-cs"/>
              </a:rPr>
              <a:t> Name System (</a:t>
            </a:r>
            <a:r>
              <a:rPr lang="en-US" kern="1200">
                <a:solidFill>
                  <a:schemeClr val="tx1"/>
                </a:solidFill>
                <a:effectLst/>
                <a:latin typeface="+mn-lt"/>
                <a:ea typeface="+mn-ea"/>
                <a:cs typeface="+mn-cs"/>
              </a:rPr>
              <a:t>DNS) endpoint, you don't need to change anything in your application code to use the standby copy for failover. </a:t>
            </a:r>
            <a:endParaRPr lang="en-US"/>
          </a:p>
        </p:txBody>
      </p:sp>
    </p:spTree>
    <p:extLst>
      <p:ext uri="{BB962C8B-B14F-4D97-AF65-F5344CB8AC3E}">
        <p14:creationId xmlns:p14="http://schemas.microsoft.com/office/powerpoint/2010/main" val="35587761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Amazon RDS also supports the creation of read replicas for MySQL, MariaDB, PostgreSQL, and Amazon Aurora. Updates that are made to the source database instance are asynchronously copied to the read replica instance. You can reduce the load on your source database instance by routing read queries from your applications to the read replica. Using read replicas, you can also scale out beyond the capacity constraints of a single database instance for read-heavy database workloads. Read replicas can also be promoted to become the primary database instance, but this</a:t>
            </a:r>
            <a:r>
              <a:rPr lang="en-US" kern="1200" baseline="0">
                <a:solidFill>
                  <a:schemeClr val="tx1"/>
                </a:solidFill>
                <a:effectLst/>
                <a:latin typeface="+mn-lt"/>
                <a:ea typeface="+mn-ea"/>
                <a:cs typeface="+mn-cs"/>
              </a:rPr>
              <a:t> requires manual action because of </a:t>
            </a:r>
            <a:r>
              <a:rPr lang="en-US" kern="1200">
                <a:solidFill>
                  <a:schemeClr val="tx1"/>
                </a:solidFill>
                <a:effectLst/>
                <a:latin typeface="+mn-lt"/>
                <a:ea typeface="+mn-ea"/>
                <a:cs typeface="+mn-cs"/>
              </a:rPr>
              <a:t>asynchronous replication. </a:t>
            </a: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Read replicas can be created in a different Region than the primary database. This feature can help satisfy disaster recovery requirements or reduce latency by directing reads to a read replica that is closer to the user. </a:t>
            </a:r>
          </a:p>
          <a:p>
            <a:endParaRPr lang="en-US" kern="1200">
              <a:solidFill>
                <a:schemeClr val="tx1"/>
              </a:solidFill>
              <a:effectLst/>
              <a:latin typeface="+mn-lt"/>
              <a:ea typeface="+mn-ea"/>
              <a:cs typeface="+mn-cs"/>
            </a:endParaRPr>
          </a:p>
        </p:txBody>
      </p:sp>
    </p:spTree>
    <p:extLst>
      <p:ext uri="{BB962C8B-B14F-4D97-AF65-F5344CB8AC3E}">
        <p14:creationId xmlns:p14="http://schemas.microsoft.com/office/powerpoint/2010/main" val="7649655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Amazon RDS works well for web and mobile applications that need a database with high throughput, massive storage scalability, and high availability. Because Amazon RDS does not have any licensing constraints, it fits the variable usage pattern of these applications. For small and large ecommerce businesses, Amazon RDS provides a flexible, secure, and low-cost database solution for online sales and retailing. Mobile and online games require a database platform with high throughput and availability. Amazon RDS manages the database infrastructure, so game developers do</a:t>
            </a:r>
            <a:r>
              <a:rPr lang="en-US" kern="1200" baseline="0">
                <a:solidFill>
                  <a:schemeClr val="tx1"/>
                </a:solidFill>
                <a:effectLst/>
                <a:latin typeface="+mn-lt"/>
                <a:ea typeface="+mn-ea"/>
                <a:cs typeface="+mn-cs"/>
              </a:rPr>
              <a:t> no</a:t>
            </a:r>
            <a:r>
              <a:rPr lang="en-US" kern="1200">
                <a:solidFill>
                  <a:schemeClr val="tx1"/>
                </a:solidFill>
                <a:effectLst/>
                <a:latin typeface="+mn-lt"/>
                <a:ea typeface="+mn-ea"/>
                <a:cs typeface="+mn-cs"/>
              </a:rPr>
              <a:t>t need to worry about provisioning, scaling, or monitoring database servers. </a:t>
            </a:r>
          </a:p>
          <a:p>
            <a:endParaRPr lang="en-US" kern="1200">
              <a:solidFill>
                <a:schemeClr val="tx1"/>
              </a:solidFill>
              <a:effectLst/>
              <a:latin typeface="+mn-lt"/>
              <a:ea typeface="+mn-ea"/>
              <a:cs typeface="+mn-cs"/>
            </a:endParaRPr>
          </a:p>
        </p:txBody>
      </p:sp>
    </p:spTree>
    <p:extLst>
      <p:ext uri="{BB962C8B-B14F-4D97-AF65-F5344CB8AC3E}">
        <p14:creationId xmlns:p14="http://schemas.microsoft.com/office/powerpoint/2010/main" val="13505347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Use Amazon RDS when your application requires: </a:t>
            </a:r>
          </a:p>
          <a:p>
            <a:pPr marL="171450" lvl="0" indent="-171450">
              <a:buFont typeface="Arial" panose="020B0604020202020204" pitchFamily="34" charset="0"/>
              <a:buChar char="•"/>
            </a:pPr>
            <a:r>
              <a:rPr lang="en-US"/>
              <a:t>Complex transactions or complex queries</a:t>
            </a:r>
          </a:p>
          <a:p>
            <a:pPr marL="171450" lvl="0" indent="-171450">
              <a:buFont typeface="Arial" panose="020B0604020202020204" pitchFamily="34" charset="0"/>
              <a:buChar char="•"/>
            </a:pPr>
            <a:r>
              <a:rPr lang="en-US"/>
              <a:t>A medium to high query</a:t>
            </a:r>
            <a:r>
              <a:rPr lang="en-US" baseline="0"/>
              <a:t> or </a:t>
            </a:r>
            <a:r>
              <a:rPr lang="en-US"/>
              <a:t>write rate – up to 30,000 IOPS (15,000 reads + 15,000 writes)</a:t>
            </a:r>
          </a:p>
          <a:p>
            <a:pPr marL="171450" lvl="0" indent="-171450">
              <a:buFont typeface="Arial" panose="020B0604020202020204" pitchFamily="34" charset="0"/>
              <a:buChar char="•"/>
            </a:pPr>
            <a:r>
              <a:rPr lang="en-US"/>
              <a:t>No more than a single worker node</a:t>
            </a:r>
            <a:r>
              <a:rPr lang="en-US" baseline="0"/>
              <a:t> or </a:t>
            </a:r>
            <a:r>
              <a:rPr lang="en-US"/>
              <a:t>shard</a:t>
            </a:r>
          </a:p>
          <a:p>
            <a:pPr marL="171450" lvl="0" indent="-171450">
              <a:buFont typeface="Arial" panose="020B0604020202020204" pitchFamily="34" charset="0"/>
              <a:buChar char="•"/>
            </a:pPr>
            <a:r>
              <a:rPr lang="en-US"/>
              <a:t>High durability</a:t>
            </a:r>
          </a:p>
          <a:p>
            <a:r>
              <a:rPr lang="en-US"/>
              <a:t> </a:t>
            </a:r>
          </a:p>
          <a:p>
            <a:r>
              <a:rPr lang="en-US"/>
              <a:t>Do not use Amazon RDS when your application requires:</a:t>
            </a:r>
          </a:p>
          <a:p>
            <a:pPr marL="171450" lvl="0" indent="-171450">
              <a:buFont typeface="Arial" panose="020B0604020202020204" pitchFamily="34" charset="0"/>
              <a:buChar char="•"/>
            </a:pPr>
            <a:r>
              <a:rPr lang="en-US"/>
              <a:t>Massive read/write rates (for example 150,000 writes per second)</a:t>
            </a:r>
          </a:p>
          <a:p>
            <a:pPr marL="171450" lvl="0" indent="-171450">
              <a:buFont typeface="Arial" panose="020B0604020202020204" pitchFamily="34" charset="0"/>
              <a:buChar char="•"/>
            </a:pPr>
            <a:r>
              <a:rPr lang="en-US" err="1"/>
              <a:t>Sharding</a:t>
            </a:r>
            <a:r>
              <a:rPr lang="en-US"/>
              <a:t> due to high data size or throughput demands </a:t>
            </a:r>
          </a:p>
          <a:p>
            <a:pPr marL="171450" lvl="0" indent="-171450">
              <a:buFont typeface="Arial" panose="020B0604020202020204" pitchFamily="34" charset="0"/>
              <a:buChar char="•"/>
            </a:pPr>
            <a:r>
              <a:rPr lang="en-US"/>
              <a:t>Simple GET</a:t>
            </a:r>
            <a:r>
              <a:rPr lang="en-US" baseline="0"/>
              <a:t> or </a:t>
            </a:r>
            <a:r>
              <a:rPr lang="en-US"/>
              <a:t>PUT requests and queries that a NoSQL database can handle</a:t>
            </a:r>
          </a:p>
          <a:p>
            <a:pPr marL="171450" lvl="0" indent="-171450">
              <a:buFont typeface="Arial" panose="020B0604020202020204" pitchFamily="34" charset="0"/>
              <a:buChar char="•"/>
            </a:pPr>
            <a:r>
              <a:rPr lang="en-US"/>
              <a:t>Or, relational database management system (RDBMS) customization</a:t>
            </a:r>
          </a:p>
          <a:p>
            <a:r>
              <a:rPr lang="en-US"/>
              <a:t> </a:t>
            </a:r>
          </a:p>
          <a:p>
            <a:r>
              <a:rPr lang="en-US"/>
              <a:t>For circumstances when you should not use Amazon RDS, consider either using a NoSQL database solution</a:t>
            </a:r>
            <a:r>
              <a:rPr lang="en-US" baseline="0"/>
              <a:t> (</a:t>
            </a:r>
            <a:r>
              <a:rPr lang="en-US"/>
              <a:t>such as DynamoDB) or running your relational database engine on Amazon EC2 instances instead of Amazon RDS</a:t>
            </a:r>
            <a:r>
              <a:rPr lang="en-US" baseline="0"/>
              <a:t> (</a:t>
            </a:r>
            <a:r>
              <a:rPr lang="en-US"/>
              <a:t>which will provide you with more options for customizing your database).</a:t>
            </a:r>
          </a:p>
        </p:txBody>
      </p:sp>
    </p:spTree>
    <p:extLst>
      <p:ext uri="{BB962C8B-B14F-4D97-AF65-F5344CB8AC3E}">
        <p14:creationId xmlns:p14="http://schemas.microsoft.com/office/powerpoint/2010/main" val="31318258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Amazon RDS is a web service that makes it easy to set up, operate, and scale a relational database in the cloud. It provides cost-efficient and resizable capacity while managing time-consuming database administration tasks so you can focus on your applications and your business.</a:t>
            </a:r>
            <a:r>
              <a:rPr lang="en-US" baseline="0"/>
              <a:t> </a:t>
            </a:r>
            <a:r>
              <a:rPr lang="en-US"/>
              <a:t>Features include that it</a:t>
            </a:r>
            <a:r>
              <a:rPr lang="en-US" baseline="0"/>
              <a:t> is</a:t>
            </a:r>
            <a:r>
              <a:rPr lang="en-US"/>
              <a:t> a managed service,</a:t>
            </a:r>
            <a:r>
              <a:rPr lang="en-US" baseline="0"/>
              <a:t> and that it can be </a:t>
            </a:r>
            <a:r>
              <a:rPr lang="en-US"/>
              <a:t>accessed via the console, AWS Command</a:t>
            </a:r>
            <a:r>
              <a:rPr lang="en-US" baseline="0"/>
              <a:t> Line Interface (AWS </a:t>
            </a:r>
            <a:r>
              <a:rPr lang="en-US"/>
              <a:t>CLI), or application programming interface (API) calls. Amazon</a:t>
            </a:r>
            <a:r>
              <a:rPr lang="en-US" baseline="0"/>
              <a:t> RDS is</a:t>
            </a:r>
            <a:r>
              <a:rPr lang="en-US"/>
              <a:t> scalable for compute and storage, and automated redundancy and backup is available. Supported database engines include Amazon Aurora, PostgreSQL, MySQL, MariaDB, Oracle, and Microsoft SQL Server.</a:t>
            </a:r>
          </a:p>
          <a:p>
            <a:r>
              <a:rPr lang="en-US"/>
              <a:t> </a:t>
            </a:r>
          </a:p>
          <a:p>
            <a:r>
              <a:rPr lang="en-US"/>
              <a:t>Amazon RDS supports demanding database applications. You can choose between two solid state drive (SSD)-backed storage options: one option</a:t>
            </a:r>
            <a:r>
              <a:rPr lang="en-US" baseline="0"/>
              <a:t> is optimized</a:t>
            </a:r>
            <a:r>
              <a:rPr lang="en-US"/>
              <a:t> for high-performance Online Transactional</a:t>
            </a:r>
            <a:r>
              <a:rPr lang="en-US" baseline="0"/>
              <a:t> Processing</a:t>
            </a:r>
            <a:r>
              <a:rPr lang="en-US"/>
              <a:t> (OLTP) applications, and the other option</a:t>
            </a:r>
            <a:r>
              <a:rPr lang="en-US" baseline="0"/>
              <a:t> works well </a:t>
            </a:r>
            <a:r>
              <a:rPr lang="en-US"/>
              <a:t>for cost-effective, general-purpose use. </a:t>
            </a:r>
          </a:p>
          <a:p>
            <a:r>
              <a:rPr lang="en-US"/>
              <a:t> </a:t>
            </a:r>
          </a:p>
          <a:p>
            <a:r>
              <a:rPr lang="en-US"/>
              <a:t>With Amazon RDS, you can scale your database’s compute and storage resources with no downtime. Amazon RDS runs on the same highly reliable infrastructure that is used by other AWS services. It also enables you to run your database instances and Amazon VPC, which is designed to provide you with control and security. </a:t>
            </a:r>
          </a:p>
          <a:p>
            <a:pPr marL="0" indent="0">
              <a:buFont typeface="Arial" panose="020B0604020202020204" pitchFamily="34" charset="0"/>
              <a:buNone/>
            </a:pPr>
            <a:endParaRPr lang="en-US"/>
          </a:p>
        </p:txBody>
      </p:sp>
    </p:spTree>
    <p:extLst>
      <p:ext uri="{BB962C8B-B14F-4D97-AF65-F5344CB8AC3E}">
        <p14:creationId xmlns:p14="http://schemas.microsoft.com/office/powerpoint/2010/main" val="14367640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Welcome to Section 2: Amazon DynamoDB. </a:t>
            </a:r>
            <a:endParaRPr lang="en-US" b="0" i="0" kern="1200">
              <a:solidFill>
                <a:schemeClr val="tx1"/>
              </a:solidFill>
              <a:effectLst/>
              <a:latin typeface="+mn-lt"/>
              <a:ea typeface="+mn-ea"/>
              <a:cs typeface="+mn-cs"/>
            </a:endParaRPr>
          </a:p>
          <a:p>
            <a:endParaRPr lang="en-US"/>
          </a:p>
        </p:txBody>
      </p:sp>
    </p:spTree>
    <p:extLst>
      <p:ext uri="{BB962C8B-B14F-4D97-AF65-F5344CB8AC3E}">
        <p14:creationId xmlns:p14="http://schemas.microsoft.com/office/powerpoint/2010/main" val="41666851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a:solidFill>
                  <a:schemeClr val="tx1"/>
                </a:solidFill>
                <a:effectLst/>
                <a:latin typeface="+mn-lt"/>
                <a:ea typeface="+mn-ea"/>
                <a:cs typeface="+mn-cs"/>
              </a:rPr>
              <a:t>With DynamoDB, this module transitions from relational databases to non-relational databases. Here is a review of the differences between these two types of databases:</a:t>
            </a:r>
          </a:p>
          <a:p>
            <a:pPr marL="171450" indent="-171450" algn="l">
              <a:buFont typeface="Arial" panose="020B0604020202020204" pitchFamily="34" charset="0"/>
              <a:buChar char="•"/>
            </a:pPr>
            <a:endParaRPr lang="en-US" b="0" i="0" kern="1200">
              <a:solidFill>
                <a:schemeClr val="tx1"/>
              </a:solidFill>
              <a:effectLst/>
              <a:latin typeface="+mn-lt"/>
              <a:ea typeface="+mn-ea"/>
              <a:cs typeface="+mn-cs"/>
            </a:endParaRPr>
          </a:p>
          <a:p>
            <a:pPr marL="171450" indent="-171450" algn="l">
              <a:buFont typeface="Arial" panose="020B0604020202020204" pitchFamily="34" charset="0"/>
              <a:buChar char="•"/>
            </a:pPr>
            <a:r>
              <a:rPr lang="en-US" b="0" i="0" kern="1200">
                <a:solidFill>
                  <a:schemeClr val="tx1"/>
                </a:solidFill>
                <a:effectLst/>
                <a:latin typeface="+mn-lt"/>
                <a:ea typeface="+mn-ea"/>
                <a:cs typeface="+mn-cs"/>
              </a:rPr>
              <a:t>A </a:t>
            </a:r>
            <a:r>
              <a:rPr lang="en-US" b="1" i="0" kern="1200">
                <a:solidFill>
                  <a:schemeClr val="tx1"/>
                </a:solidFill>
                <a:effectLst/>
                <a:latin typeface="+mn-lt"/>
                <a:ea typeface="+mn-ea"/>
                <a:cs typeface="+mn-cs"/>
              </a:rPr>
              <a:t>relational database </a:t>
            </a:r>
            <a:r>
              <a:rPr lang="en-US" b="0" i="0" kern="1200">
                <a:solidFill>
                  <a:schemeClr val="tx1"/>
                </a:solidFill>
                <a:effectLst/>
                <a:latin typeface="+mn-lt"/>
                <a:ea typeface="+mn-ea"/>
                <a:cs typeface="+mn-cs"/>
              </a:rPr>
              <a:t>(RDB) works with structured data that is organized by tables, records, and columns. RDBs establish a well-defined relationship between database tables. RDBs use structured query language (SQL), which is a standard user application that provides a</a:t>
            </a:r>
            <a:r>
              <a:rPr lang="en-US" b="0" i="0" kern="1200" baseline="0">
                <a:solidFill>
                  <a:schemeClr val="tx1"/>
                </a:solidFill>
                <a:effectLst/>
                <a:latin typeface="+mn-lt"/>
                <a:ea typeface="+mn-ea"/>
                <a:cs typeface="+mn-cs"/>
              </a:rPr>
              <a:t> </a:t>
            </a:r>
            <a:r>
              <a:rPr lang="en-US" b="0" i="0" kern="1200">
                <a:solidFill>
                  <a:schemeClr val="tx1"/>
                </a:solidFill>
                <a:effectLst/>
                <a:latin typeface="+mn-lt"/>
                <a:ea typeface="+mn-ea"/>
                <a:cs typeface="+mn-cs"/>
              </a:rPr>
              <a:t>programming interface for database interaction. Relational databases might have difficulties scaling out horizontally</a:t>
            </a:r>
            <a:r>
              <a:rPr lang="en-US" b="0" i="0" kern="1200" baseline="0">
                <a:solidFill>
                  <a:schemeClr val="tx1"/>
                </a:solidFill>
                <a:effectLst/>
                <a:latin typeface="+mn-lt"/>
                <a:ea typeface="+mn-ea"/>
                <a:cs typeface="+mn-cs"/>
              </a:rPr>
              <a:t> or </a:t>
            </a:r>
            <a:r>
              <a:rPr lang="en-US" b="0" i="0" kern="1200">
                <a:solidFill>
                  <a:schemeClr val="tx1"/>
                </a:solidFill>
                <a:effectLst/>
                <a:latin typeface="+mn-lt"/>
                <a:ea typeface="+mn-ea"/>
                <a:cs typeface="+mn-cs"/>
              </a:rPr>
              <a:t>working with </a:t>
            </a:r>
            <a:r>
              <a:rPr lang="en-US" b="0" i="0" kern="1200" err="1">
                <a:solidFill>
                  <a:schemeClr val="tx1"/>
                </a:solidFill>
                <a:effectLst/>
                <a:latin typeface="+mn-lt"/>
                <a:ea typeface="+mn-ea"/>
                <a:cs typeface="+mn-cs"/>
              </a:rPr>
              <a:t>semistructured</a:t>
            </a:r>
            <a:r>
              <a:rPr lang="en-US" b="0" i="0" kern="1200">
                <a:solidFill>
                  <a:schemeClr val="tx1"/>
                </a:solidFill>
                <a:effectLst/>
                <a:latin typeface="+mn-lt"/>
                <a:ea typeface="+mn-ea"/>
                <a:cs typeface="+mn-cs"/>
              </a:rPr>
              <a:t> data, and might</a:t>
            </a:r>
            <a:r>
              <a:rPr lang="en-US" b="0" i="0" kern="1200" baseline="0">
                <a:solidFill>
                  <a:schemeClr val="tx1"/>
                </a:solidFill>
                <a:effectLst/>
                <a:latin typeface="+mn-lt"/>
                <a:ea typeface="+mn-ea"/>
                <a:cs typeface="+mn-cs"/>
              </a:rPr>
              <a:t> also </a:t>
            </a:r>
            <a:r>
              <a:rPr lang="en-US" b="0" i="0" kern="1200">
                <a:solidFill>
                  <a:schemeClr val="tx1"/>
                </a:solidFill>
                <a:effectLst/>
                <a:latin typeface="+mn-lt"/>
                <a:ea typeface="+mn-ea"/>
                <a:cs typeface="+mn-cs"/>
              </a:rPr>
              <a:t>require many joins for normalized data.</a:t>
            </a:r>
          </a:p>
          <a:p>
            <a:pPr algn="l"/>
            <a:endParaRPr lang="en-US" b="0" i="0" kern="1200">
              <a:solidFill>
                <a:schemeClr val="tx1"/>
              </a:solidFill>
              <a:effectLst/>
              <a:latin typeface="+mn-lt"/>
              <a:ea typeface="+mn-ea"/>
              <a:cs typeface="+mn-cs"/>
            </a:endParaRPr>
          </a:p>
          <a:p>
            <a:pPr marL="171450" indent="-171450" algn="l">
              <a:buFont typeface="Arial" panose="020B0604020202020204" pitchFamily="34" charset="0"/>
              <a:buChar char="•"/>
            </a:pPr>
            <a:r>
              <a:rPr lang="en-US" b="0" i="0" kern="1200">
                <a:solidFill>
                  <a:schemeClr val="tx1"/>
                </a:solidFill>
                <a:effectLst/>
                <a:latin typeface="+mn-lt"/>
                <a:ea typeface="+mn-ea"/>
                <a:cs typeface="+mn-cs"/>
              </a:rPr>
              <a:t>A</a:t>
            </a:r>
            <a:r>
              <a:rPr lang="en-US" b="1" i="0" kern="1200">
                <a:solidFill>
                  <a:schemeClr val="tx1"/>
                </a:solidFill>
                <a:effectLst/>
                <a:latin typeface="+mn-lt"/>
                <a:ea typeface="+mn-ea"/>
                <a:cs typeface="+mn-cs"/>
              </a:rPr>
              <a:t> non-relational database</a:t>
            </a:r>
            <a:r>
              <a:rPr lang="en-US" b="1" i="0" kern="1200" baseline="0">
                <a:solidFill>
                  <a:schemeClr val="tx1"/>
                </a:solidFill>
                <a:effectLst/>
                <a:latin typeface="+mn-lt"/>
                <a:ea typeface="+mn-ea"/>
                <a:cs typeface="+mn-cs"/>
              </a:rPr>
              <a:t> </a:t>
            </a:r>
            <a:r>
              <a:rPr lang="en-US" b="0" i="0" kern="1200">
                <a:solidFill>
                  <a:schemeClr val="tx1"/>
                </a:solidFill>
                <a:effectLst/>
                <a:latin typeface="+mn-lt"/>
                <a:ea typeface="+mn-ea"/>
                <a:cs typeface="+mn-cs"/>
              </a:rPr>
              <a:t>is any database that does not follow the relational model that is provided by traditional relational database management systems (RDBMS). Non-relational databases have grown in popularity because they were designed to overcome the limitations of relational databases for handling the demands of variable structured data. Non-relational databases scale out horizontally,</a:t>
            </a:r>
            <a:r>
              <a:rPr lang="en-US" b="0" i="0" kern="1200" baseline="0">
                <a:solidFill>
                  <a:schemeClr val="tx1"/>
                </a:solidFill>
                <a:effectLst/>
                <a:latin typeface="+mn-lt"/>
                <a:ea typeface="+mn-ea"/>
                <a:cs typeface="+mn-cs"/>
              </a:rPr>
              <a:t> </a:t>
            </a:r>
            <a:r>
              <a:rPr lang="en-US" b="0" i="0" kern="1200">
                <a:solidFill>
                  <a:schemeClr val="tx1"/>
                </a:solidFill>
                <a:effectLst/>
                <a:latin typeface="+mn-lt"/>
                <a:ea typeface="+mn-ea"/>
                <a:cs typeface="+mn-cs"/>
              </a:rPr>
              <a:t>and they can work with unstructured and </a:t>
            </a:r>
            <a:r>
              <a:rPr lang="en-US" b="0" i="0" kern="1200" err="1">
                <a:solidFill>
                  <a:schemeClr val="tx1"/>
                </a:solidFill>
                <a:effectLst/>
                <a:latin typeface="+mn-lt"/>
                <a:ea typeface="+mn-ea"/>
                <a:cs typeface="+mn-cs"/>
              </a:rPr>
              <a:t>semistructured</a:t>
            </a:r>
            <a:r>
              <a:rPr lang="en-US" b="0" i="0" kern="1200">
                <a:solidFill>
                  <a:schemeClr val="tx1"/>
                </a:solidFill>
                <a:effectLst/>
                <a:latin typeface="+mn-lt"/>
                <a:ea typeface="+mn-ea"/>
                <a:cs typeface="+mn-cs"/>
              </a:rPr>
              <a:t> data.</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a:solidFill>
                  <a:schemeClr val="tx1"/>
                </a:solidFill>
                <a:effectLst/>
                <a:latin typeface="+mn-lt"/>
                <a:ea typeface="+mn-ea"/>
                <a:cs typeface="+mn-cs"/>
              </a:rPr>
              <a:t>Here is a look at what DynamoDB offers.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Tree>
    <p:extLst>
      <p:ext uri="{BB962C8B-B14F-4D97-AF65-F5344CB8AC3E}">
        <p14:creationId xmlns:p14="http://schemas.microsoft.com/office/powerpoint/2010/main" val="20674673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7"/>
            <a:ext cx="6216650" cy="446197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a:solidFill>
                  <a:schemeClr val="tx1"/>
                </a:solidFill>
                <a:effectLst/>
                <a:latin typeface="+mn-lt"/>
                <a:ea typeface="+mn-ea"/>
                <a:cs typeface="+mn-cs"/>
              </a:rPr>
              <a:t>DynamoDB is a fast and flexible NoSQL database service for all applications that need consistent, single-digit-millisecond latency at any scale. </a:t>
            </a:r>
            <a:endParaRPr lang="en-US" kern="1200">
              <a:solidFill>
                <a:schemeClr val="tx1"/>
              </a:solidFill>
              <a:effectLst/>
              <a:latin typeface="+mn-lt"/>
              <a:ea typeface="+mn-ea"/>
              <a:cs typeface="+mn-cs"/>
            </a:endParaRP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Amazon manages all the underlying data infrastructure for this service and redundantly stores data across multiple facilities in a native US Region as part of the fault-tolerant architecture. With DynamoDB, you can create tables and items. You can add items to a table. The system automatically partitions your data and has table storage to meet workload requirements. There is no practical limit on the number of items that</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you can store in a table. For instance, some customers have production tables that contain billions of items. </a:t>
            </a: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One of the benefits of a NoSQL database is that items in the same table can have different attributes. This gives you the flexibility to add attributes as your application evolves. You can store newer format items side by side with older format items in the same table without needing to perform schema migrations.</a:t>
            </a:r>
          </a:p>
          <a:p>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As your application becomes more popular and as users continue to interact with it, your storage can grow with your application's needs. All the data in DynamoDB is stored on solid</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state drives (SSDs) and its simple query language enables consistent low-latency query performance. In addition to scaling storage, DynamoDB also enables you to provision the amount of read or write throughput that you need for your table. As the number of application users grows, DynamoDB tables can be scaled to handle the increased numbers of read/write requests with manual provisioning. Alternatively, you can enable automatic</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scaling so that DynamoDB monitors the load on the table and automatically increases or decreases the provisioned throughput.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Some additional key</a:t>
            </a:r>
            <a:r>
              <a:rPr lang="en-US" kern="1200" baseline="0">
                <a:solidFill>
                  <a:schemeClr val="tx1"/>
                </a:solidFill>
                <a:effectLst/>
                <a:latin typeface="+mn-lt"/>
                <a:ea typeface="+mn-ea"/>
                <a:cs typeface="+mn-cs"/>
              </a:rPr>
              <a:t> features include global tables that enable you to automatically replicate across your choice of AWS Regions, encryption at rest, and item Time-to-Live (TTL). </a:t>
            </a:r>
            <a:endParaRPr lang="en-US" kern="1200">
              <a:solidFill>
                <a:schemeClr val="tx1"/>
              </a:solidFill>
              <a:effectLst/>
              <a:latin typeface="+mn-lt"/>
              <a:ea typeface="+mn-ea"/>
              <a:cs typeface="+mn-cs"/>
            </a:endParaRPr>
          </a:p>
        </p:txBody>
      </p:sp>
    </p:spTree>
    <p:extLst>
      <p:ext uri="{BB962C8B-B14F-4D97-AF65-F5344CB8AC3E}">
        <p14:creationId xmlns:p14="http://schemas.microsoft.com/office/powerpoint/2010/main" val="97647851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The core DynamoDB components are tables, items, and attributes.</a:t>
            </a:r>
          </a:p>
          <a:p>
            <a:pPr marL="171450" indent="-171450">
              <a:buFont typeface="Arial" panose="020B0604020202020204" pitchFamily="34" charset="0"/>
              <a:buChar char="•"/>
            </a:pPr>
            <a:r>
              <a:rPr lang="en-US"/>
              <a:t>A table is a collection of data.</a:t>
            </a:r>
          </a:p>
          <a:p>
            <a:pPr marL="171450" indent="-171450">
              <a:buFont typeface="Arial" panose="020B0604020202020204" pitchFamily="34" charset="0"/>
              <a:buChar char="•"/>
            </a:pPr>
            <a:r>
              <a:rPr lang="en-US"/>
              <a:t>Items are a group of attributes that is uniquely identifiable among all the other items.</a:t>
            </a:r>
          </a:p>
          <a:p>
            <a:pPr marL="171450" indent="-171450">
              <a:buFont typeface="Arial" panose="020B0604020202020204" pitchFamily="34" charset="0"/>
              <a:buChar char="•"/>
            </a:pPr>
            <a:r>
              <a:rPr lang="en-US"/>
              <a:t>Attributes are a fundamental data element, something that does not need to be broken down any further.</a:t>
            </a:r>
          </a:p>
          <a:p>
            <a:r>
              <a:rPr lang="en-US"/>
              <a:t> </a:t>
            </a:r>
          </a:p>
          <a:p>
            <a:r>
              <a:rPr lang="en-US"/>
              <a:t>DynamoDB supports two different kinds of primary keys. </a:t>
            </a:r>
          </a:p>
          <a:p>
            <a:r>
              <a:rPr lang="en-US"/>
              <a:t>The </a:t>
            </a:r>
            <a:r>
              <a:rPr lang="en-US" b="1"/>
              <a:t>partition key </a:t>
            </a:r>
            <a:r>
              <a:rPr lang="en-US"/>
              <a:t>is a simple primary key, which is composed of one attribute called the </a:t>
            </a:r>
            <a:r>
              <a:rPr lang="en-US" b="1"/>
              <a:t>sort</a:t>
            </a:r>
            <a:r>
              <a:rPr lang="en-US"/>
              <a:t> key.</a:t>
            </a:r>
          </a:p>
          <a:p>
            <a:r>
              <a:rPr lang="en-US"/>
              <a:t>The partition key and sort key are also known as the </a:t>
            </a:r>
            <a:r>
              <a:rPr lang="en-US" b="1"/>
              <a:t>composite primary key</a:t>
            </a:r>
            <a:r>
              <a:rPr lang="en-US" b="0"/>
              <a:t>,</a:t>
            </a:r>
            <a:r>
              <a:rPr lang="en-US" b="1"/>
              <a:t> </a:t>
            </a:r>
            <a:r>
              <a:rPr lang="en-US"/>
              <a:t>which is composed of two attributes.</a:t>
            </a:r>
          </a:p>
          <a:p>
            <a:r>
              <a:rPr lang="en-US"/>
              <a:t> </a:t>
            </a:r>
          </a:p>
          <a:p>
            <a:r>
              <a:rPr lang="en-US"/>
              <a:t>To learn more about how DynamoDB works, see </a:t>
            </a:r>
            <a:r>
              <a:rPr lang="en-US">
                <a:ea typeface="Amazon Ember Light" panose="020B0403020204020204" pitchFamily="34" charset="0"/>
                <a:cs typeface="Amazon Ember Light" panose="020B0403020204020204" pitchFamily="34" charset="0"/>
              </a:rPr>
              <a:t>table item attributes at </a:t>
            </a:r>
            <a:r>
              <a:rPr lang="en-US">
                <a:ea typeface="Amazon Ember Light" panose="020B0403020204020204" pitchFamily="34" charset="0"/>
                <a:cs typeface="Amazon Ember Light" panose="020B0403020204020204" pitchFamily="34" charset="0"/>
                <a:hlinkClick r:id="rId3"/>
              </a:rPr>
              <a:t>https://docs.aws.amazon.com/amazondynamodb/latest/developerguide/HowItWorks.CoreComponents.html#HowItWorks.CoreComponents.TablesItemsAttributes</a:t>
            </a:r>
            <a:r>
              <a:rPr lang="en-US">
                <a:ea typeface="Amazon Ember Light" panose="020B0403020204020204" pitchFamily="34" charset="0"/>
                <a:cs typeface="Amazon Ember Light" panose="020B0403020204020204" pitchFamily="34" charset="0"/>
              </a:rPr>
              <a:t>.</a:t>
            </a:r>
          </a:p>
        </p:txBody>
      </p:sp>
    </p:spTree>
    <p:extLst>
      <p:ext uri="{BB962C8B-B14F-4D97-AF65-F5344CB8AC3E}">
        <p14:creationId xmlns:p14="http://schemas.microsoft.com/office/powerpoint/2010/main" val="159514073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As data grows, table data is partitioned and indexed by the primary key.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a:solidFill>
                  <a:schemeClr val="tx1"/>
                </a:solidFill>
                <a:effectLst/>
                <a:latin typeface="+mn-lt"/>
                <a:ea typeface="+mn-ea"/>
                <a:cs typeface="+mn-cs"/>
              </a:rPr>
              <a:t>You can retrieve data from a DynamoDB table in two different ways: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a:solidFill>
                  <a:schemeClr val="tx1"/>
                </a:solidFill>
                <a:effectLst/>
                <a:latin typeface="+mn-lt"/>
                <a:ea typeface="+mn-ea"/>
                <a:cs typeface="+mn-cs"/>
              </a:rPr>
              <a:t>In the first method, the query operation takes advantage of partitioning to effectively locate items by using the primary key.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a:solidFill>
                  <a:schemeClr val="tx1"/>
                </a:solidFill>
                <a:effectLst/>
                <a:latin typeface="+mn-lt"/>
                <a:ea typeface="+mn-ea"/>
                <a:cs typeface="+mn-cs"/>
              </a:rPr>
              <a:t>The second method is via a scan, which enables you to locate items in the table by matching conditions on non-key attributes. The second method gives you the flexibility to locate items by other attributes. However, the operation is less efficient</a:t>
            </a:r>
            <a:r>
              <a:rPr lang="en-US" kern="1200" baseline="0">
                <a:solidFill>
                  <a:schemeClr val="tx1"/>
                </a:solidFill>
                <a:effectLst/>
                <a:latin typeface="+mn-lt"/>
                <a:ea typeface="+mn-ea"/>
                <a:cs typeface="+mn-cs"/>
              </a:rPr>
              <a:t> because </a:t>
            </a:r>
            <a:r>
              <a:rPr lang="en-US" kern="1200">
                <a:solidFill>
                  <a:schemeClr val="tx1"/>
                </a:solidFill>
                <a:effectLst/>
                <a:latin typeface="+mn-lt"/>
                <a:ea typeface="+mn-ea"/>
                <a:cs typeface="+mn-cs"/>
              </a:rPr>
              <a:t>DynamoDB will scan through all the items in the table to find the ones that match your criteria.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b="1">
                <a:effectLst/>
                <a:latin typeface="Calibri" panose="020F0502020204030204" pitchFamily="34" charset="0"/>
                <a:ea typeface="Calibri" panose="020F0502020204030204" pitchFamily="34" charset="0"/>
              </a:rPr>
              <a:t>For accessibility:</a:t>
            </a:r>
            <a:r>
              <a:rPr lang="en-AU">
                <a:effectLst/>
                <a:latin typeface="Calibri" panose="020F0502020204030204" pitchFamily="34" charset="0"/>
                <a:ea typeface="Calibri" panose="020F0502020204030204" pitchFamily="34" charset="0"/>
              </a:rPr>
              <a:t> Partitioning allows large tables to be scanned and queried quickly. As data grows, table is partitioned by key. QUERY by Key to find items by any </a:t>
            </a:r>
            <a:r>
              <a:rPr lang="en-AU" err="1">
                <a:effectLst/>
                <a:latin typeface="Calibri" panose="020F0502020204030204" pitchFamily="34" charset="0"/>
                <a:ea typeface="Calibri" panose="020F0502020204030204" pitchFamily="34" charset="0"/>
              </a:rPr>
              <a:t>attribute</a:t>
            </a:r>
            <a:r>
              <a:rPr lang="en-AU">
                <a:effectLst/>
                <a:latin typeface="Calibri" panose="020F0502020204030204" pitchFamily="34" charset="0"/>
                <a:ea typeface="Calibri" panose="020F0502020204030204" pitchFamily="34" charset="0"/>
              </a:rPr>
              <a:t>. </a:t>
            </a:r>
            <a:r>
              <a:rPr lang="en-AU" b="1">
                <a:effectLst/>
                <a:latin typeface="Calibri" panose="020F0502020204030204" pitchFamily="34" charset="0"/>
                <a:ea typeface="Calibri" panose="020F0502020204030204" pitchFamily="34" charset="0"/>
              </a:rPr>
              <a:t>End of accessibility description.</a:t>
            </a:r>
            <a:endParaRPr lang="en-US"/>
          </a:p>
        </p:txBody>
      </p:sp>
    </p:spTree>
    <p:extLst>
      <p:ext uri="{BB962C8B-B14F-4D97-AF65-F5344CB8AC3E}">
        <p14:creationId xmlns:p14="http://schemas.microsoft.com/office/powerpoint/2010/main" val="82596406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latin typeface="+mn-lt"/>
                <a:ea typeface="+mn-ea"/>
                <a:cs typeface="+mn-cs"/>
              </a:rPr>
              <a:t>To take full advantage of query operations and DynamoDB, it's important to think about the key that you use</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to uniquely identify items in the DynamoDB table. You can set up a simple primary key that is based on a single attribute of the data values with a uniform distribution, such as the </a:t>
            </a:r>
            <a:r>
              <a:rPr lang="en-US" b="1" kern="1200">
                <a:solidFill>
                  <a:schemeClr val="tx1"/>
                </a:solidFill>
                <a:effectLst/>
                <a:latin typeface="+mn-lt"/>
                <a:ea typeface="+mn-ea"/>
                <a:cs typeface="+mn-cs"/>
              </a:rPr>
              <a:t>Globally Unique Identifier (GUID) </a:t>
            </a:r>
            <a:r>
              <a:rPr lang="en-US" kern="1200">
                <a:solidFill>
                  <a:schemeClr val="tx1"/>
                </a:solidFill>
                <a:effectLst/>
                <a:latin typeface="+mn-lt"/>
                <a:ea typeface="+mn-ea"/>
                <a:cs typeface="+mn-cs"/>
              </a:rPr>
              <a:t>or other random identifiers. </a:t>
            </a:r>
          </a:p>
          <a:p>
            <a:endParaRPr lang="en-US" kern="1200">
              <a:solidFill>
                <a:schemeClr val="tx1"/>
              </a:solidFill>
              <a:effectLst/>
              <a:latin typeface="+mn-lt"/>
              <a:ea typeface="+mn-ea"/>
              <a:cs typeface="+mn-cs"/>
            </a:endParaRPr>
          </a:p>
          <a:p>
            <a:r>
              <a:rPr lang="en-US" kern="1200">
                <a:solidFill>
                  <a:schemeClr val="tx1"/>
                </a:solidFill>
                <a:effectLst/>
                <a:latin typeface="+mn-lt"/>
                <a:ea typeface="+mn-ea"/>
                <a:cs typeface="+mn-cs"/>
              </a:rPr>
              <a:t>For example, if you wanted to model a table with products, you could use some attributes</a:t>
            </a:r>
            <a:r>
              <a:rPr lang="en-US" kern="1200" baseline="0">
                <a:solidFill>
                  <a:schemeClr val="tx1"/>
                </a:solidFill>
                <a:effectLst/>
                <a:latin typeface="+mn-lt"/>
                <a:ea typeface="+mn-ea"/>
                <a:cs typeface="+mn-cs"/>
              </a:rPr>
              <a:t> like </a:t>
            </a:r>
            <a:r>
              <a:rPr lang="en-US" kern="1200">
                <a:solidFill>
                  <a:schemeClr val="tx1"/>
                </a:solidFill>
                <a:effectLst/>
                <a:latin typeface="+mn-lt"/>
                <a:ea typeface="+mn-ea"/>
                <a:cs typeface="+mn-cs"/>
              </a:rPr>
              <a:t>the product ID. Alternatively, you can specify a compound key, which is composed of a partition key and a secondary key. In this example, if you had a table with books, you</a:t>
            </a:r>
            <a:r>
              <a:rPr lang="en-US" kern="1200" baseline="0">
                <a:solidFill>
                  <a:schemeClr val="tx1"/>
                </a:solidFill>
                <a:effectLst/>
                <a:latin typeface="+mn-lt"/>
                <a:ea typeface="+mn-ea"/>
                <a:cs typeface="+mn-cs"/>
              </a:rPr>
              <a:t> </a:t>
            </a:r>
            <a:r>
              <a:rPr lang="en-US" kern="1200">
                <a:solidFill>
                  <a:schemeClr val="tx1"/>
                </a:solidFill>
                <a:effectLst/>
                <a:latin typeface="+mn-lt"/>
                <a:ea typeface="+mn-ea"/>
                <a:cs typeface="+mn-cs"/>
              </a:rPr>
              <a:t>might use the combination of author and title to uniquely identify table items. This method could be useful if you expect to frequently look at books by author</a:t>
            </a:r>
            <a:r>
              <a:rPr lang="en-US" kern="1200" baseline="0">
                <a:solidFill>
                  <a:schemeClr val="tx1"/>
                </a:solidFill>
                <a:effectLst/>
                <a:latin typeface="+mn-lt"/>
                <a:ea typeface="+mn-ea"/>
                <a:cs typeface="+mn-cs"/>
              </a:rPr>
              <a:t> because you could</a:t>
            </a:r>
            <a:r>
              <a:rPr lang="en-US" kern="1200">
                <a:solidFill>
                  <a:schemeClr val="tx1"/>
                </a:solidFill>
                <a:effectLst/>
                <a:latin typeface="+mn-lt"/>
                <a:ea typeface="+mn-ea"/>
                <a:cs typeface="+mn-cs"/>
              </a:rPr>
              <a:t> then use query.</a:t>
            </a:r>
          </a:p>
          <a:p>
            <a:endParaRPr lang="en-US" kern="1200">
              <a:solidFill>
                <a:schemeClr val="tx1"/>
              </a:solidFill>
              <a:effectLst/>
              <a:latin typeface="+mn-lt"/>
              <a:ea typeface="+mn-ea"/>
              <a:cs typeface="+mn-cs"/>
            </a:endParaRPr>
          </a:p>
          <a:p>
            <a:r>
              <a:rPr lang="en-AU" b="1">
                <a:effectLst/>
                <a:latin typeface="Calibri" panose="020F0502020204030204" pitchFamily="34" charset="0"/>
                <a:ea typeface="Calibri" panose="020F0502020204030204" pitchFamily="34" charset="0"/>
              </a:rPr>
              <a:t>For accessibility:</a:t>
            </a:r>
            <a:r>
              <a:rPr lang="en-AU">
                <a:effectLst/>
                <a:latin typeface="Calibri" panose="020F0502020204030204" pitchFamily="34" charset="0"/>
                <a:ea typeface="Calibri" panose="020F0502020204030204" pitchFamily="34" charset="0"/>
              </a:rPr>
              <a:t> The two different types of keys. A single key means the data is identified by an item in the data that uniquely identifies each record. A compound key is made up of a partition key and a second key that can be used for sorting data. </a:t>
            </a:r>
            <a:r>
              <a:rPr lang="en-AU" b="1">
                <a:effectLst/>
                <a:latin typeface="Calibri" panose="020F0502020204030204" pitchFamily="34" charset="0"/>
                <a:ea typeface="Calibri" panose="020F0502020204030204" pitchFamily="34" charset="0"/>
              </a:rPr>
              <a:t>End of accessibility description.</a:t>
            </a:r>
            <a:endParaRPr lang="en-US"/>
          </a:p>
        </p:txBody>
      </p:sp>
    </p:spTree>
    <p:extLst>
      <p:ext uri="{BB962C8B-B14F-4D97-AF65-F5344CB8AC3E}">
        <p14:creationId xmlns:p14="http://schemas.microsoft.com/office/powerpoint/2010/main" val="148039600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DynamoDB runs exclusively on SSDs, and it supports document and key-value store models. </a:t>
            </a:r>
            <a:br>
              <a:rPr lang="en-US"/>
            </a:br>
            <a:endParaRPr lang="en-US"/>
          </a:p>
          <a:p>
            <a:r>
              <a:rPr lang="en-US"/>
              <a:t>DynamoDB works well for mobile, web, gaming, ad tech, and Internet of Things (IoT)</a:t>
            </a:r>
            <a:r>
              <a:rPr lang="en-US" baseline="0"/>
              <a:t> </a:t>
            </a:r>
            <a:r>
              <a:rPr lang="en-US"/>
              <a:t>applications.</a:t>
            </a:r>
          </a:p>
          <a:p>
            <a:r>
              <a:rPr lang="en-US"/>
              <a:t>It’s accessible via the console, the AWS CLI, and API calls. </a:t>
            </a:r>
          </a:p>
          <a:p>
            <a:r>
              <a:rPr lang="en-US"/>
              <a:t> </a:t>
            </a:r>
          </a:p>
          <a:p>
            <a:r>
              <a:rPr lang="en-US"/>
              <a:t>The ability to scale your tables in terms of both storage and provision throughput makes DynamoDB a good fit for structured data from the web, mobile, and IoT applications. For instance, you might have a large number of clients that continuously generate data and make large numbers of requests per second. In this case, the throughput scaling of DynamoDB enables consistent performance for your clients. DynamoDB is also used in latency-sensitive applications. The predictable query performance—even in large tables—makes it useful for cases where variable latency could cause significant impact to the user experience or to business goals, such as </a:t>
            </a:r>
            <a:r>
              <a:rPr lang="en-US" err="1"/>
              <a:t>adtech</a:t>
            </a:r>
            <a:r>
              <a:rPr lang="en-US"/>
              <a:t> or gaming. </a:t>
            </a:r>
          </a:p>
          <a:p>
            <a:r>
              <a:rPr lang="en-US"/>
              <a:t> </a:t>
            </a:r>
          </a:p>
          <a:p>
            <a:r>
              <a:rPr lang="en-US"/>
              <a:t>The DynamoDB Global Tables feature reduces the work of replicating data between Regions and resolving update conflicts. It replicates your DynamoDB tables automatically across your choice of AWS Regions. Global Tables can help applications stay available and performant for business continuity.</a:t>
            </a:r>
          </a:p>
        </p:txBody>
      </p:sp>
    </p:spTree>
    <p:extLst>
      <p:ext uri="{BB962C8B-B14F-4D97-AF65-F5344CB8AC3E}">
        <p14:creationId xmlns:p14="http://schemas.microsoft.com/office/powerpoint/2010/main" val="417198118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Welcome</a:t>
            </a:r>
            <a:r>
              <a:rPr lang="en-US" baseline="0"/>
              <a:t> to Section 3: </a:t>
            </a:r>
            <a:r>
              <a:rPr lang="en-US"/>
              <a:t>Amazon Redshift. </a:t>
            </a:r>
          </a:p>
          <a:p>
            <a:endParaRPr lang="en-US"/>
          </a:p>
        </p:txBody>
      </p:sp>
    </p:spTree>
    <p:extLst>
      <p:ext uri="{BB962C8B-B14F-4D97-AF65-F5344CB8AC3E}">
        <p14:creationId xmlns:p14="http://schemas.microsoft.com/office/powerpoint/2010/main" val="387757247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0" i="0" kern="1200">
                <a:solidFill>
                  <a:schemeClr val="tx1"/>
                </a:solidFill>
                <a:effectLst/>
                <a:latin typeface="+mn-lt"/>
                <a:ea typeface="+mn-ea"/>
                <a:cs typeface="+mn-cs"/>
              </a:rPr>
              <a:t>Amazon Redshift is a fast, fully managed data warehouse that makes it simple and cost-effective to analyze all your data by using standard SQL and your existing business intelligence (BI) tools. Here</a:t>
            </a:r>
            <a:r>
              <a:rPr lang="en-US" b="0" i="0" kern="1200" baseline="0">
                <a:solidFill>
                  <a:schemeClr val="tx1"/>
                </a:solidFill>
                <a:effectLst/>
                <a:latin typeface="+mn-lt"/>
                <a:ea typeface="+mn-ea"/>
                <a:cs typeface="+mn-cs"/>
              </a:rPr>
              <a:t> is </a:t>
            </a:r>
            <a:r>
              <a:rPr lang="en-US" b="0" i="0" kern="1200">
                <a:solidFill>
                  <a:schemeClr val="tx1"/>
                </a:solidFill>
                <a:effectLst/>
                <a:latin typeface="+mn-lt"/>
                <a:ea typeface="+mn-ea"/>
                <a:cs typeface="+mn-cs"/>
              </a:rPr>
              <a:t>a look at Amazon Redshift and how you can use it for analytic applications.</a:t>
            </a:r>
            <a:endParaRPr lang="en-US"/>
          </a:p>
        </p:txBody>
      </p:sp>
    </p:spTree>
    <p:extLst>
      <p:ext uri="{BB962C8B-B14F-4D97-AF65-F5344CB8AC3E}">
        <p14:creationId xmlns:p14="http://schemas.microsoft.com/office/powerpoint/2010/main" val="291936298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ea typeface="+mn-ea"/>
                <a:cs typeface="+mn-cs"/>
              </a:rPr>
              <a:t>Analytics is important for businesses today, but building a data warehouse is complex and expensive. Data warehouses can</a:t>
            </a:r>
            <a:r>
              <a:rPr lang="en-US" kern="1200" baseline="0">
                <a:solidFill>
                  <a:schemeClr val="tx1"/>
                </a:solidFill>
                <a:effectLst/>
                <a:ea typeface="+mn-ea"/>
                <a:cs typeface="+mn-cs"/>
              </a:rPr>
              <a:t> </a:t>
            </a:r>
            <a:r>
              <a:rPr lang="en-US" kern="1200">
                <a:solidFill>
                  <a:schemeClr val="tx1"/>
                </a:solidFill>
                <a:effectLst/>
                <a:ea typeface="+mn-ea"/>
                <a:cs typeface="+mn-cs"/>
              </a:rPr>
              <a:t>take months and significant financial resources to set up.</a:t>
            </a:r>
          </a:p>
          <a:p>
            <a:endParaRPr lang="en-US" kern="1200">
              <a:solidFill>
                <a:schemeClr val="tx1"/>
              </a:solidFill>
              <a:effectLst/>
              <a:ea typeface="+mn-ea"/>
              <a:cs typeface="+mn-cs"/>
            </a:endParaRPr>
          </a:p>
          <a:p>
            <a:r>
              <a:rPr lang="en-US" kern="1200">
                <a:solidFill>
                  <a:schemeClr val="tx1"/>
                </a:solidFill>
                <a:effectLst/>
                <a:ea typeface="+mn-ea"/>
                <a:cs typeface="+mn-cs"/>
              </a:rPr>
              <a:t>Amazon Redshift is a fast and powerful, fully</a:t>
            </a:r>
            <a:r>
              <a:rPr lang="en-US" kern="1200" baseline="0">
                <a:solidFill>
                  <a:schemeClr val="tx1"/>
                </a:solidFill>
                <a:effectLst/>
                <a:ea typeface="+mn-ea"/>
                <a:cs typeface="+mn-cs"/>
              </a:rPr>
              <a:t> </a:t>
            </a:r>
            <a:r>
              <a:rPr lang="en-US" kern="1200">
                <a:solidFill>
                  <a:schemeClr val="tx1"/>
                </a:solidFill>
                <a:effectLst/>
                <a:ea typeface="+mn-ea"/>
                <a:cs typeface="+mn-cs"/>
              </a:rPr>
              <a:t>managed data warehouse that is simple and cost-effective to set up, use, and scale. It enables you to run complex analytic queries against petabytes of structured data by using sophisticated query optimization, columnar storage on high-performance local disks, and massively parallel data processing. Most results come back in seconds.</a:t>
            </a:r>
          </a:p>
          <a:p>
            <a:endParaRPr lang="en-US" kern="1200">
              <a:solidFill>
                <a:schemeClr val="tx1"/>
              </a:solidFill>
              <a:effectLst/>
              <a:ea typeface="+mn-ea"/>
              <a:cs typeface="+mn-cs"/>
            </a:endParaRPr>
          </a:p>
          <a:p>
            <a:r>
              <a:rPr lang="en-US" kern="1200">
                <a:solidFill>
                  <a:schemeClr val="tx1"/>
                </a:solidFill>
                <a:effectLst/>
                <a:ea typeface="+mn-ea"/>
                <a:cs typeface="+mn-cs"/>
              </a:rPr>
              <a:t>You will next review a slightly more detailed exploration of key Amazon Redshift features and some common use cases.</a:t>
            </a:r>
          </a:p>
        </p:txBody>
      </p:sp>
    </p:spTree>
    <p:extLst>
      <p:ext uri="{BB962C8B-B14F-4D97-AF65-F5344CB8AC3E}">
        <p14:creationId xmlns:p14="http://schemas.microsoft.com/office/powerpoint/2010/main" val="28625043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The leader node manages communications with client programs and all communication with compute nodes. It parses and develops plans to carry out database operations—specifically, the series of steps that are needed to obtain results for complex queries. The leader node compiles code for individual elements of the plan and assigns the code to individual compute nodes. The compute nodes run the compiled code and send intermediate results back to the leader node for final aggregation.</a:t>
            </a:r>
          </a:p>
          <a:p>
            <a:r>
              <a:rPr lang="en-US"/>
              <a:t> </a:t>
            </a:r>
          </a:p>
          <a:p>
            <a:r>
              <a:rPr lang="en-US"/>
              <a:t>Like</a:t>
            </a:r>
            <a:r>
              <a:rPr lang="en-US" baseline="0"/>
              <a:t> other </a:t>
            </a:r>
            <a:r>
              <a:rPr lang="en-US"/>
              <a:t>AWS services, you only pay for what you use. You can get started for as little as 25 cents per hour and, at scale, Amazon Redshift can deliver storage and processing for approximately $1,000 dollars per terabyte per year (with 3-Year Partial</a:t>
            </a:r>
            <a:r>
              <a:rPr lang="en-US" baseline="0"/>
              <a:t> Upfront Reserved Instance pricing)</a:t>
            </a:r>
            <a:r>
              <a:rPr lang="en-US"/>
              <a:t>. </a:t>
            </a:r>
          </a:p>
          <a:p>
            <a:r>
              <a:rPr lang="en-US"/>
              <a:t> </a:t>
            </a:r>
          </a:p>
          <a:p>
            <a:r>
              <a:rPr lang="en-US"/>
              <a:t>The Amazon Redshift Spectrum feature enables you to run queries against exabytes of data directly in Amazon S3.</a:t>
            </a:r>
          </a:p>
        </p:txBody>
      </p:sp>
    </p:spTree>
    <p:extLst>
      <p:ext uri="{BB962C8B-B14F-4D97-AF65-F5344CB8AC3E}">
        <p14:creationId xmlns:p14="http://schemas.microsoft.com/office/powerpoint/2010/main" val="39294886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ea typeface="+mn-ea"/>
                <a:cs typeface="+mn-cs"/>
              </a:rPr>
              <a:t>It is straightforward to automate most of the common administrative tasks to manage, monitor, and scale your Amazon Redshift cluster—which</a:t>
            </a:r>
            <a:r>
              <a:rPr lang="en-US" kern="1200" baseline="0">
                <a:solidFill>
                  <a:schemeClr val="tx1"/>
                </a:solidFill>
                <a:effectLst/>
                <a:ea typeface="+mn-ea"/>
                <a:cs typeface="+mn-cs"/>
              </a:rPr>
              <a:t> enables </a:t>
            </a:r>
            <a:r>
              <a:rPr lang="en-US" kern="1200">
                <a:solidFill>
                  <a:schemeClr val="tx1"/>
                </a:solidFill>
                <a:effectLst/>
                <a:ea typeface="+mn-ea"/>
                <a:cs typeface="+mn-cs"/>
              </a:rPr>
              <a:t>you to focus on your data and your business. </a:t>
            </a:r>
          </a:p>
          <a:p>
            <a:endParaRPr lang="en-US" kern="1200">
              <a:solidFill>
                <a:schemeClr val="tx1"/>
              </a:solidFill>
              <a:effectLst/>
              <a:ea typeface="+mn-ea"/>
              <a:cs typeface="+mn-cs"/>
            </a:endParaRPr>
          </a:p>
          <a:p>
            <a:r>
              <a:rPr lang="en-US" kern="1200">
                <a:solidFill>
                  <a:schemeClr val="tx1"/>
                </a:solidFill>
                <a:effectLst/>
                <a:ea typeface="+mn-ea"/>
                <a:cs typeface="+mn-cs"/>
              </a:rPr>
              <a:t>Scalability is intrinsic in Amazon Redshift.</a:t>
            </a:r>
            <a:r>
              <a:rPr lang="en-US" kern="1200" baseline="0">
                <a:solidFill>
                  <a:schemeClr val="tx1"/>
                </a:solidFill>
                <a:effectLst/>
                <a:ea typeface="+mn-ea"/>
                <a:cs typeface="+mn-cs"/>
              </a:rPr>
              <a:t> </a:t>
            </a:r>
            <a:r>
              <a:rPr lang="en-US" kern="1200">
                <a:solidFill>
                  <a:schemeClr val="tx1"/>
                </a:solidFill>
                <a:effectLst/>
                <a:ea typeface="+mn-ea"/>
                <a:cs typeface="+mn-cs"/>
              </a:rPr>
              <a:t>Your cluster can be scaled up and down as your needs change with a few clicks in the console.</a:t>
            </a:r>
          </a:p>
          <a:p>
            <a:r>
              <a:rPr lang="en-US" kern="1200">
                <a:solidFill>
                  <a:schemeClr val="tx1"/>
                </a:solidFill>
                <a:effectLst/>
                <a:ea typeface="+mn-ea"/>
                <a:cs typeface="+mn-cs"/>
              </a:rPr>
              <a:t> </a:t>
            </a:r>
          </a:p>
          <a:p>
            <a:r>
              <a:rPr lang="en-US" kern="1200">
                <a:solidFill>
                  <a:schemeClr val="tx1"/>
                </a:solidFill>
                <a:effectLst/>
                <a:ea typeface="+mn-ea"/>
                <a:cs typeface="+mn-cs"/>
              </a:rPr>
              <a:t>Security is the highest priority for AWS. With Amazon Redshift, security is built</a:t>
            </a:r>
            <a:r>
              <a:rPr lang="en-US" kern="1200" baseline="0">
                <a:solidFill>
                  <a:schemeClr val="tx1"/>
                </a:solidFill>
                <a:effectLst/>
                <a:ea typeface="+mn-ea"/>
                <a:cs typeface="+mn-cs"/>
              </a:rPr>
              <a:t> </a:t>
            </a:r>
            <a:r>
              <a:rPr lang="en-US" kern="1200">
                <a:solidFill>
                  <a:schemeClr val="tx1"/>
                </a:solidFill>
                <a:effectLst/>
                <a:ea typeface="+mn-ea"/>
                <a:cs typeface="+mn-cs"/>
              </a:rPr>
              <a:t>in</a:t>
            </a:r>
            <a:r>
              <a:rPr lang="en-US" kern="1200" baseline="0">
                <a:solidFill>
                  <a:schemeClr val="tx1"/>
                </a:solidFill>
                <a:effectLst/>
                <a:ea typeface="+mn-ea"/>
                <a:cs typeface="+mn-cs"/>
              </a:rPr>
              <a:t>, </a:t>
            </a:r>
            <a:r>
              <a:rPr lang="en-US" kern="1200">
                <a:solidFill>
                  <a:schemeClr val="tx1"/>
                </a:solidFill>
                <a:effectLst/>
                <a:ea typeface="+mn-ea"/>
                <a:cs typeface="+mn-cs"/>
              </a:rPr>
              <a:t>and it is designed to provide strong encryption of your data both at rest and in transit. </a:t>
            </a:r>
          </a:p>
        </p:txBody>
      </p:sp>
    </p:spTree>
    <p:extLst>
      <p:ext uri="{BB962C8B-B14F-4D97-AF65-F5344CB8AC3E}">
        <p14:creationId xmlns:p14="http://schemas.microsoft.com/office/powerpoint/2010/main" val="21775353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ea typeface="+mn-ea"/>
                <a:cs typeface="+mn-cs"/>
              </a:rPr>
              <a:t>Finally, Amazon Redshift is compatible with the tools that you already know and use. Amazon Redshift supports standard SQL. It</a:t>
            </a:r>
            <a:r>
              <a:rPr lang="en-US" kern="1200" baseline="0">
                <a:solidFill>
                  <a:schemeClr val="tx1"/>
                </a:solidFill>
                <a:effectLst/>
                <a:ea typeface="+mn-ea"/>
                <a:cs typeface="+mn-cs"/>
              </a:rPr>
              <a:t> also </a:t>
            </a:r>
            <a:r>
              <a:rPr lang="en-US" kern="1200">
                <a:solidFill>
                  <a:schemeClr val="tx1"/>
                </a:solidFill>
                <a:effectLst/>
                <a:ea typeface="+mn-ea"/>
                <a:cs typeface="+mn-cs"/>
              </a:rPr>
              <a:t>provides high-performance Java Database Connectivity (JDBC) and Open Database Connectivity (ODBC) connectors, which enable you to use the SQL clients and BI tools of your choice.</a:t>
            </a:r>
          </a:p>
          <a:p>
            <a:endParaRPr lang="en-US" kern="1200">
              <a:solidFill>
                <a:schemeClr val="tx1"/>
              </a:solidFill>
              <a:effectLst/>
              <a:ea typeface="+mn-ea"/>
              <a:cs typeface="+mn-cs"/>
            </a:endParaRPr>
          </a:p>
          <a:p>
            <a:r>
              <a:rPr lang="en-US" kern="1200">
                <a:solidFill>
                  <a:schemeClr val="tx1"/>
                </a:solidFill>
                <a:effectLst/>
                <a:ea typeface="+mn-ea"/>
                <a:cs typeface="+mn-cs"/>
              </a:rPr>
              <a:t>Next, you will review some common Amazon Redshift use cases.</a:t>
            </a:r>
          </a:p>
          <a:p>
            <a:endParaRPr lang="en-US" kern="1200">
              <a:solidFill>
                <a:schemeClr val="tx1"/>
              </a:solidFill>
              <a:effectLst/>
              <a:ea typeface="+mn-ea"/>
              <a:cs typeface="+mn-cs"/>
            </a:endParaRPr>
          </a:p>
        </p:txBody>
      </p:sp>
    </p:spTree>
    <p:extLst>
      <p:ext uri="{BB962C8B-B14F-4D97-AF65-F5344CB8AC3E}">
        <p14:creationId xmlns:p14="http://schemas.microsoft.com/office/powerpoint/2010/main" val="96771574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This slide discusses some Amazon Redshift use cases. </a:t>
            </a:r>
          </a:p>
          <a:p>
            <a:endParaRPr lang="en-US" kern="1200">
              <a:solidFill>
                <a:schemeClr val="tx1"/>
              </a:solidFill>
              <a:effectLst/>
              <a:ea typeface="+mn-ea"/>
              <a:cs typeface="+mn-cs"/>
            </a:endParaRPr>
          </a:p>
          <a:p>
            <a:r>
              <a:rPr lang="en-US" kern="1200">
                <a:solidFill>
                  <a:schemeClr val="tx1"/>
                </a:solidFill>
                <a:effectLst/>
                <a:ea typeface="+mn-ea"/>
                <a:cs typeface="+mn-cs"/>
              </a:rPr>
              <a:t>Many customers migrate their traditional enterprise data warehouses to Amazon Redshift with the primary goal of agility. Customers can start at whatever scale they want and experiment with their data without needing to rely on complicated processes with their IT departments to procure and prepare their software.</a:t>
            </a:r>
          </a:p>
          <a:p>
            <a:endParaRPr lang="en-US" kern="1200">
              <a:solidFill>
                <a:schemeClr val="tx1"/>
              </a:solidFill>
              <a:effectLst/>
              <a:ea typeface="+mn-ea"/>
              <a:cs typeface="+mn-cs"/>
            </a:endParaRPr>
          </a:p>
          <a:p>
            <a:r>
              <a:rPr lang="en-US" kern="1200">
                <a:solidFill>
                  <a:schemeClr val="tx1"/>
                </a:solidFill>
                <a:effectLst/>
                <a:ea typeface="+mn-ea"/>
                <a:cs typeface="+mn-cs"/>
              </a:rPr>
              <a:t>Big data customers have one thing in common: massive amounts of data that stretch their existing systems to a breaking point. Smaller customers might not have the resources to</a:t>
            </a:r>
            <a:r>
              <a:rPr lang="en-US" kern="1200" baseline="0">
                <a:solidFill>
                  <a:schemeClr val="tx1"/>
                </a:solidFill>
                <a:effectLst/>
                <a:ea typeface="+mn-ea"/>
                <a:cs typeface="+mn-cs"/>
              </a:rPr>
              <a:t> procure </a:t>
            </a:r>
            <a:r>
              <a:rPr lang="en-US" kern="1200">
                <a:solidFill>
                  <a:schemeClr val="tx1"/>
                </a:solidFill>
                <a:effectLst/>
                <a:ea typeface="+mn-ea"/>
                <a:cs typeface="+mn-cs"/>
              </a:rPr>
              <a:t>the hardware and expertise that is needed to run these systems. With Amazon Redshift, smaller customers can quickly set up</a:t>
            </a:r>
            <a:r>
              <a:rPr lang="en-US" kern="1200" baseline="0">
                <a:solidFill>
                  <a:schemeClr val="tx1"/>
                </a:solidFill>
                <a:effectLst/>
                <a:ea typeface="+mn-ea"/>
                <a:cs typeface="+mn-cs"/>
              </a:rPr>
              <a:t> and use</a:t>
            </a:r>
            <a:r>
              <a:rPr lang="en-US" kern="1200">
                <a:solidFill>
                  <a:schemeClr val="tx1"/>
                </a:solidFill>
                <a:effectLst/>
                <a:ea typeface="+mn-ea"/>
                <a:cs typeface="+mn-cs"/>
              </a:rPr>
              <a:t> a</a:t>
            </a:r>
            <a:r>
              <a:rPr lang="en-US" kern="1200" baseline="0">
                <a:solidFill>
                  <a:schemeClr val="tx1"/>
                </a:solidFill>
                <a:effectLst/>
                <a:ea typeface="+mn-ea"/>
                <a:cs typeface="+mn-cs"/>
              </a:rPr>
              <a:t> </a:t>
            </a:r>
            <a:r>
              <a:rPr lang="en-US" kern="1200">
                <a:solidFill>
                  <a:schemeClr val="tx1"/>
                </a:solidFill>
                <a:effectLst/>
                <a:ea typeface="+mn-ea"/>
                <a:cs typeface="+mn-cs"/>
              </a:rPr>
              <a:t>data warehouse at a comparatively low price point.</a:t>
            </a:r>
          </a:p>
          <a:p>
            <a:endParaRPr lang="en-US" kern="1200">
              <a:solidFill>
                <a:schemeClr val="tx1"/>
              </a:solidFill>
              <a:effectLst/>
              <a:ea typeface="+mn-ea"/>
              <a:cs typeface="+mn-cs"/>
            </a:endParaRPr>
          </a:p>
          <a:p>
            <a:r>
              <a:rPr lang="en-US" kern="1200">
                <a:solidFill>
                  <a:schemeClr val="tx1"/>
                </a:solidFill>
                <a:effectLst/>
                <a:ea typeface="+mn-ea"/>
                <a:cs typeface="+mn-cs"/>
              </a:rPr>
              <a:t>As a managed service, Amazon Redshift handles many of the deployment and ongoing maintenance tasks that often require a database administrator. This enables</a:t>
            </a:r>
            <a:r>
              <a:rPr lang="en-US" kern="1200" baseline="0">
                <a:solidFill>
                  <a:schemeClr val="tx1"/>
                </a:solidFill>
                <a:effectLst/>
                <a:ea typeface="+mn-ea"/>
                <a:cs typeface="+mn-cs"/>
              </a:rPr>
              <a:t> customers</a:t>
            </a:r>
            <a:r>
              <a:rPr lang="en-US" kern="1200">
                <a:solidFill>
                  <a:schemeClr val="tx1"/>
                </a:solidFill>
                <a:effectLst/>
                <a:ea typeface="+mn-ea"/>
                <a:cs typeface="+mn-cs"/>
              </a:rPr>
              <a:t> to focus on querying and analyzing their data.</a:t>
            </a:r>
          </a:p>
        </p:txBody>
      </p:sp>
    </p:spTree>
    <p:extLst>
      <p:ext uri="{BB962C8B-B14F-4D97-AF65-F5344CB8AC3E}">
        <p14:creationId xmlns:p14="http://schemas.microsoft.com/office/powerpoint/2010/main" val="216814033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Software as a service (SaaS) customers can take advantage</a:t>
            </a:r>
            <a:r>
              <a:rPr lang="en-US" baseline="0"/>
              <a:t> of the </a:t>
            </a:r>
            <a:r>
              <a:rPr lang="en-US"/>
              <a:t>scalable, easy-to-manage features that Amazon Redshift provides. Some customers use the Amazon Redshift to provide analytic capabilities to their applications. Some users</a:t>
            </a:r>
            <a:r>
              <a:rPr lang="en-US" baseline="0"/>
              <a:t> </a:t>
            </a:r>
            <a:r>
              <a:rPr lang="en-US"/>
              <a:t>deploy a cluster per customer,</a:t>
            </a:r>
            <a:r>
              <a:rPr lang="en-US" baseline="0"/>
              <a:t> </a:t>
            </a:r>
            <a:r>
              <a:rPr lang="en-US"/>
              <a:t>and use tagging to simplify and manage their service level agreements (SLAs) and billing. Amazon Redshift can</a:t>
            </a:r>
            <a:r>
              <a:rPr lang="en-US" baseline="0"/>
              <a:t> help </a:t>
            </a:r>
            <a:r>
              <a:rPr lang="en-US"/>
              <a:t>you reduce hardware and software costs. </a:t>
            </a:r>
          </a:p>
        </p:txBody>
      </p:sp>
    </p:spTree>
    <p:extLst>
      <p:ext uri="{BB962C8B-B14F-4D97-AF65-F5344CB8AC3E}">
        <p14:creationId xmlns:p14="http://schemas.microsoft.com/office/powerpoint/2010/main" val="28138023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a:solidFill>
                  <a:schemeClr val="tx1"/>
                </a:solidFill>
                <a:effectLst/>
                <a:ea typeface="+mn-ea"/>
                <a:cs typeface="+mn-cs"/>
              </a:rPr>
              <a:t>In summary, Amazon Redshift is a fast, fully managed data warehouse service. As a business grows, you can easily scale with no downtime by adding more nodes. Amazon Redshift automatically adds the nodes to your cluster and redistributes the data for maximum performance.</a:t>
            </a:r>
          </a:p>
          <a:p>
            <a:endParaRPr lang="en-US" kern="1200">
              <a:solidFill>
                <a:schemeClr val="tx1"/>
              </a:solidFill>
              <a:effectLst/>
              <a:ea typeface="+mn-ea"/>
              <a:cs typeface="+mn-cs"/>
            </a:endParaRPr>
          </a:p>
          <a:p>
            <a:r>
              <a:rPr lang="en-US" kern="1200">
                <a:solidFill>
                  <a:schemeClr val="tx1"/>
                </a:solidFill>
                <a:effectLst/>
                <a:ea typeface="+mn-ea"/>
                <a:cs typeface="+mn-cs"/>
              </a:rPr>
              <a:t>Amazon</a:t>
            </a:r>
            <a:r>
              <a:rPr lang="en-US" kern="1200" baseline="0">
                <a:solidFill>
                  <a:schemeClr val="tx1"/>
                </a:solidFill>
                <a:effectLst/>
                <a:ea typeface="+mn-ea"/>
                <a:cs typeface="+mn-cs"/>
              </a:rPr>
              <a:t> Redshift is designed</a:t>
            </a:r>
            <a:r>
              <a:rPr lang="en-US" kern="1200">
                <a:solidFill>
                  <a:schemeClr val="tx1"/>
                </a:solidFill>
                <a:effectLst/>
                <a:ea typeface="+mn-ea"/>
                <a:cs typeface="+mn-cs"/>
              </a:rPr>
              <a:t> to consistently deliver high performance. Amazon Redshift uses columnar storage and a massively parallel processing architecture. These features parallelize and distribute data and queries across multiple nodes. Amazon</a:t>
            </a:r>
            <a:r>
              <a:rPr lang="en-US" kern="1200" baseline="0">
                <a:solidFill>
                  <a:schemeClr val="tx1"/>
                </a:solidFill>
                <a:effectLst/>
                <a:ea typeface="+mn-ea"/>
                <a:cs typeface="+mn-cs"/>
              </a:rPr>
              <a:t> Redshift </a:t>
            </a:r>
            <a:r>
              <a:rPr lang="en-US" kern="1200">
                <a:solidFill>
                  <a:schemeClr val="tx1"/>
                </a:solidFill>
                <a:effectLst/>
                <a:ea typeface="+mn-ea"/>
                <a:cs typeface="+mn-cs"/>
              </a:rPr>
              <a:t>also automatically monitors your cluster and backs up your data so that</a:t>
            </a:r>
            <a:r>
              <a:rPr lang="en-US" kern="1200" baseline="0">
                <a:solidFill>
                  <a:schemeClr val="tx1"/>
                </a:solidFill>
                <a:effectLst/>
                <a:ea typeface="+mn-ea"/>
                <a:cs typeface="+mn-cs"/>
              </a:rPr>
              <a:t> </a:t>
            </a:r>
            <a:r>
              <a:rPr lang="en-US" kern="1200">
                <a:solidFill>
                  <a:schemeClr val="tx1"/>
                </a:solidFill>
                <a:effectLst/>
                <a:ea typeface="+mn-ea"/>
                <a:cs typeface="+mn-cs"/>
              </a:rPr>
              <a:t>you can easily restore if needed. Encryption is built in—you only need to enable it.</a:t>
            </a:r>
          </a:p>
          <a:p>
            <a:endParaRPr lang="en-US" kern="1200">
              <a:solidFill>
                <a:schemeClr val="tx1"/>
              </a:solidFill>
              <a:effectLst/>
              <a:ea typeface="+mn-ea"/>
              <a:cs typeface="+mn-cs"/>
            </a:endParaRPr>
          </a:p>
          <a:p>
            <a:r>
              <a:rPr lang="en-US" kern="1200">
                <a:solidFill>
                  <a:schemeClr val="tx1"/>
                </a:solidFill>
                <a:effectLst/>
                <a:ea typeface="+mn-ea"/>
                <a:cs typeface="+mn-cs"/>
              </a:rPr>
              <a:t>To</a:t>
            </a:r>
            <a:r>
              <a:rPr lang="en-US" kern="1200" baseline="0">
                <a:solidFill>
                  <a:schemeClr val="tx1"/>
                </a:solidFill>
                <a:effectLst/>
                <a:ea typeface="+mn-ea"/>
                <a:cs typeface="+mn-cs"/>
              </a:rPr>
              <a:t> learn more </a:t>
            </a:r>
            <a:r>
              <a:rPr lang="en-US" kern="1200">
                <a:solidFill>
                  <a:schemeClr val="tx1"/>
                </a:solidFill>
                <a:effectLst/>
                <a:ea typeface="+mn-ea"/>
                <a:cs typeface="+mn-cs"/>
              </a:rPr>
              <a:t>about Amazon Redshift, see </a:t>
            </a:r>
            <a:r>
              <a:rPr lang="en-US" kern="1200">
                <a:solidFill>
                  <a:schemeClr val="tx1"/>
                </a:solidFill>
                <a:effectLst/>
                <a:ea typeface="+mn-ea"/>
                <a:cs typeface="+mn-cs"/>
                <a:hlinkClick r:id="rId3"/>
              </a:rPr>
              <a:t>https://aws.amazon.com/redshift/</a:t>
            </a:r>
            <a:r>
              <a:rPr lang="en-US" kern="1200">
                <a:solidFill>
                  <a:schemeClr val="tx1"/>
                </a:solidFill>
                <a:effectLst/>
                <a:ea typeface="+mn-ea"/>
                <a:cs typeface="+mn-cs"/>
              </a:rPr>
              <a:t>.</a:t>
            </a:r>
          </a:p>
        </p:txBody>
      </p:sp>
    </p:spTree>
    <p:extLst>
      <p:ext uri="{BB962C8B-B14F-4D97-AF65-F5344CB8AC3E}">
        <p14:creationId xmlns:p14="http://schemas.microsoft.com/office/powerpoint/2010/main" val="193296989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Introducing Section 4: Amazon Aurora.</a:t>
            </a:r>
            <a:endParaRPr lang="en-US" b="0" i="0" kern="1200">
              <a:solidFill>
                <a:schemeClr val="tx1"/>
              </a:solidFill>
              <a:effectLst/>
              <a:latin typeface="+mn-lt"/>
              <a:ea typeface="+mn-ea"/>
              <a:cs typeface="+mn-cs"/>
            </a:endParaRPr>
          </a:p>
          <a:p>
            <a:endParaRPr lang="en-US"/>
          </a:p>
        </p:txBody>
      </p:sp>
    </p:spTree>
    <p:extLst>
      <p:ext uri="{BB962C8B-B14F-4D97-AF65-F5344CB8AC3E}">
        <p14:creationId xmlns:p14="http://schemas.microsoft.com/office/powerpoint/2010/main" val="267322436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b="0" i="0" kern="1200">
                <a:solidFill>
                  <a:schemeClr val="tx1"/>
                </a:solidFill>
                <a:effectLst/>
                <a:latin typeface="+mn-lt"/>
                <a:ea typeface="+mn-ea"/>
                <a:cs typeface="+mn-cs"/>
              </a:rPr>
              <a:t>Amazon Aurora is a MySQL- and PostgreSQL-compatible relational database that is built for the cloud.</a:t>
            </a:r>
            <a:r>
              <a:rPr lang="en-US" b="0" i="0" kern="1200" baseline="0">
                <a:solidFill>
                  <a:schemeClr val="tx1"/>
                </a:solidFill>
                <a:effectLst/>
                <a:latin typeface="+mn-lt"/>
                <a:ea typeface="+mn-ea"/>
                <a:cs typeface="+mn-cs"/>
              </a:rPr>
              <a:t> It</a:t>
            </a:r>
            <a:r>
              <a:rPr lang="en-US" b="0" i="0" kern="1200">
                <a:solidFill>
                  <a:schemeClr val="tx1"/>
                </a:solidFill>
                <a:effectLst/>
                <a:latin typeface="+mn-lt"/>
                <a:ea typeface="+mn-ea"/>
                <a:cs typeface="+mn-cs"/>
              </a:rPr>
              <a:t> combines the performance and availability of high-end commercial databases with the simplicity and cost-effectiveness of open</a:t>
            </a:r>
            <a:r>
              <a:rPr lang="en-US" b="0" i="0" kern="1200" baseline="0">
                <a:solidFill>
                  <a:schemeClr val="tx1"/>
                </a:solidFill>
                <a:effectLst/>
                <a:latin typeface="+mn-lt"/>
                <a:ea typeface="+mn-ea"/>
                <a:cs typeface="+mn-cs"/>
              </a:rPr>
              <a:t>-</a:t>
            </a:r>
            <a:r>
              <a:rPr lang="en-US" b="0" i="0" kern="1200">
                <a:solidFill>
                  <a:schemeClr val="tx1"/>
                </a:solidFill>
                <a:effectLst/>
                <a:latin typeface="+mn-lt"/>
                <a:ea typeface="+mn-ea"/>
                <a:cs typeface="+mn-cs"/>
              </a:rPr>
              <a:t>source databases. Using Amazon Aurora can reduce your database costs while improving the reliability and availability of the database. As a fully managed service, Aurora is designed to</a:t>
            </a:r>
            <a:r>
              <a:rPr lang="en-US" b="0" i="0" kern="1200" baseline="0">
                <a:solidFill>
                  <a:schemeClr val="tx1"/>
                </a:solidFill>
                <a:effectLst/>
                <a:latin typeface="+mn-lt"/>
                <a:ea typeface="+mn-ea"/>
                <a:cs typeface="+mn-cs"/>
              </a:rPr>
              <a:t> </a:t>
            </a:r>
            <a:r>
              <a:rPr lang="en-US" b="0" i="0" kern="1200">
                <a:solidFill>
                  <a:schemeClr val="tx1"/>
                </a:solidFill>
                <a:effectLst/>
                <a:latin typeface="+mn-lt"/>
                <a:ea typeface="+mn-ea"/>
                <a:cs typeface="+mn-cs"/>
              </a:rPr>
              <a:t>automate time-consuming tasks like provisioning, patching, backup, recovery, failure detection, and repair.</a:t>
            </a:r>
          </a:p>
          <a:p>
            <a:endParaRPr lang="en-US"/>
          </a:p>
        </p:txBody>
      </p:sp>
    </p:spTree>
    <p:extLst>
      <p:ext uri="{BB962C8B-B14F-4D97-AF65-F5344CB8AC3E}">
        <p14:creationId xmlns:p14="http://schemas.microsoft.com/office/powerpoint/2010/main" val="221939491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This slide</a:t>
            </a:r>
            <a:r>
              <a:rPr lang="en-US" baseline="0"/>
              <a:t> covers </a:t>
            </a:r>
            <a:r>
              <a:rPr lang="en-US"/>
              <a:t>some of the benefits of Amazon Aurora. It is highly available and it offers a fast,</a:t>
            </a:r>
            <a:r>
              <a:rPr lang="en-US" baseline="0"/>
              <a:t> distributed</a:t>
            </a:r>
            <a:r>
              <a:rPr lang="en-US"/>
              <a:t> storage subsystem. Amazon Aurora is straightforward to set up and uses SQL queries. It is designed to have drop-in compatibility</a:t>
            </a:r>
            <a:r>
              <a:rPr lang="en-US" baseline="0"/>
              <a:t> </a:t>
            </a:r>
            <a:r>
              <a:rPr lang="en-US"/>
              <a:t>with MySQL and PostgreSQL database engines</a:t>
            </a:r>
            <a:r>
              <a:rPr lang="en-US" baseline="0"/>
              <a:t> so that you can use most of your existing database tools with little or no change.</a:t>
            </a:r>
            <a:endParaRPr lang="en-US"/>
          </a:p>
          <a:p>
            <a:r>
              <a:rPr lang="en-US"/>
              <a:t> </a:t>
            </a:r>
          </a:p>
          <a:p>
            <a:r>
              <a:rPr lang="en-US"/>
              <a:t>Amazon Aurora is a pay-as-you-go service, which means that you only pay for the services and features that you use. It’s a managed service that integrates with features such as AWS</a:t>
            </a:r>
            <a:r>
              <a:rPr lang="en-US" baseline="0"/>
              <a:t> D</a:t>
            </a:r>
            <a:r>
              <a:rPr lang="en-US"/>
              <a:t>atabase Migration Service (AWS DMS)</a:t>
            </a:r>
            <a:r>
              <a:rPr lang="en-US" baseline="0"/>
              <a:t> </a:t>
            </a:r>
            <a:r>
              <a:rPr lang="en-US"/>
              <a:t>and the AWS Schema Conversion Tool.</a:t>
            </a:r>
            <a:r>
              <a:rPr lang="en-US" baseline="0"/>
              <a:t> These features </a:t>
            </a:r>
            <a:r>
              <a:rPr lang="en-US"/>
              <a:t>are designed to help you move your dataset into Amazon Aurora.</a:t>
            </a:r>
          </a:p>
        </p:txBody>
      </p:sp>
    </p:spTree>
    <p:extLst>
      <p:ext uri="{BB962C8B-B14F-4D97-AF65-F5344CB8AC3E}">
        <p14:creationId xmlns:p14="http://schemas.microsoft.com/office/powerpoint/2010/main" val="265877463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kern="1200" dirty="0">
                <a:solidFill>
                  <a:schemeClr val="tx1"/>
                </a:solidFill>
                <a:effectLst/>
                <a:ea typeface="+mn-ea"/>
                <a:cs typeface="+mn-cs"/>
              </a:rPr>
              <a:t>Why might</a:t>
            </a:r>
            <a:r>
              <a:rPr lang="en-US" kern="1200" baseline="0" dirty="0">
                <a:solidFill>
                  <a:schemeClr val="tx1"/>
                </a:solidFill>
                <a:effectLst/>
                <a:ea typeface="+mn-ea"/>
                <a:cs typeface="+mn-cs"/>
              </a:rPr>
              <a:t> you </a:t>
            </a:r>
            <a:r>
              <a:rPr lang="en-US" kern="1200" dirty="0">
                <a:solidFill>
                  <a:schemeClr val="tx1"/>
                </a:solidFill>
                <a:effectLst/>
                <a:ea typeface="+mn-ea"/>
                <a:cs typeface="+mn-cs"/>
              </a:rPr>
              <a:t>use Amazon Aurora over other options, like SQL with Amazon RDS? Most of that decision involves the high availability and resilient design that Amazon Aurora offers.</a:t>
            </a:r>
          </a:p>
          <a:p>
            <a:endParaRPr lang="en-US" kern="1200" dirty="0">
              <a:solidFill>
                <a:schemeClr val="tx1"/>
              </a:solidFill>
              <a:effectLst/>
              <a:ea typeface="+mn-ea"/>
              <a:cs typeface="+mn-cs"/>
            </a:endParaRPr>
          </a:p>
          <a:p>
            <a:r>
              <a:rPr lang="en-US" kern="1200" dirty="0">
                <a:solidFill>
                  <a:schemeClr val="tx1"/>
                </a:solidFill>
                <a:effectLst/>
                <a:ea typeface="+mn-ea"/>
                <a:cs typeface="+mn-cs"/>
              </a:rPr>
              <a:t>Amazon Aurora is designed to be highly available:</a:t>
            </a:r>
            <a:r>
              <a:rPr lang="en-US" kern="1200" baseline="0" dirty="0">
                <a:solidFill>
                  <a:schemeClr val="tx1"/>
                </a:solidFill>
                <a:effectLst/>
                <a:ea typeface="+mn-ea"/>
                <a:cs typeface="+mn-cs"/>
              </a:rPr>
              <a:t> it</a:t>
            </a:r>
            <a:r>
              <a:rPr lang="en-US" kern="1200" dirty="0">
                <a:solidFill>
                  <a:schemeClr val="tx1"/>
                </a:solidFill>
                <a:effectLst/>
                <a:ea typeface="+mn-ea"/>
                <a:cs typeface="+mn-cs"/>
              </a:rPr>
              <a:t> stores multiple copies of your data across multiple Availability Zones with continuous backups to Amazon S3. Amazon</a:t>
            </a:r>
            <a:r>
              <a:rPr lang="en-US" kern="1200" baseline="0" dirty="0">
                <a:solidFill>
                  <a:schemeClr val="tx1"/>
                </a:solidFill>
                <a:effectLst/>
                <a:ea typeface="+mn-ea"/>
                <a:cs typeface="+mn-cs"/>
              </a:rPr>
              <a:t> Aurora can use up</a:t>
            </a:r>
            <a:r>
              <a:rPr lang="en-US" kern="1200" dirty="0">
                <a:solidFill>
                  <a:schemeClr val="tx1"/>
                </a:solidFill>
                <a:effectLst/>
                <a:ea typeface="+mn-ea"/>
                <a:cs typeface="+mn-cs"/>
              </a:rPr>
              <a:t> to 15 read replicas can be used to reduce the possibility of losing your data. Additionally, Amazon Aurora is designed for instant crash recovery if your primary database becomes unhealthy.</a:t>
            </a:r>
          </a:p>
        </p:txBody>
      </p:sp>
    </p:spTree>
    <p:extLst>
      <p:ext uri="{BB962C8B-B14F-4D97-AF65-F5344CB8AC3E}">
        <p14:creationId xmlns:p14="http://schemas.microsoft.com/office/powerpoint/2010/main" val="279503811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7"/>
            <a:ext cx="6216650" cy="4338881"/>
          </a:xfrm>
          <a:prstGeom prst="rect">
            <a:avLst/>
          </a:prstGeom>
        </p:spPr>
        <p:txBody>
          <a:bodyPr/>
          <a:lstStyle/>
          <a:p>
            <a:r>
              <a:rPr lang="en-US" kern="1200">
                <a:solidFill>
                  <a:schemeClr val="tx1"/>
                </a:solidFill>
                <a:effectLst/>
                <a:ea typeface="+mn-ea"/>
                <a:cs typeface="+mn-cs"/>
              </a:rPr>
              <a:t>In summary, Amazon Aurora is a highly available, performant,</a:t>
            </a:r>
            <a:r>
              <a:rPr lang="en-US" kern="1200" baseline="0">
                <a:solidFill>
                  <a:schemeClr val="tx1"/>
                </a:solidFill>
                <a:effectLst/>
                <a:ea typeface="+mn-ea"/>
                <a:cs typeface="+mn-cs"/>
              </a:rPr>
              <a:t> and </a:t>
            </a:r>
            <a:r>
              <a:rPr lang="en-US" kern="1200">
                <a:solidFill>
                  <a:schemeClr val="tx1"/>
                </a:solidFill>
                <a:effectLst/>
                <a:ea typeface="+mn-ea"/>
                <a:cs typeface="+mn-cs"/>
              </a:rPr>
              <a:t>cost-effective managed relational database.</a:t>
            </a:r>
          </a:p>
          <a:p>
            <a:endParaRPr lang="en-US" kern="1200">
              <a:solidFill>
                <a:schemeClr val="tx1"/>
              </a:solidFill>
              <a:effectLst/>
              <a:ea typeface="+mn-ea"/>
              <a:cs typeface="+mn-cs"/>
            </a:endParaRPr>
          </a:p>
          <a:p>
            <a:r>
              <a:rPr lang="en-US" b="0" i="0" kern="1200">
                <a:solidFill>
                  <a:schemeClr val="tx1"/>
                </a:solidFill>
                <a:effectLst/>
                <a:ea typeface="+mn-ea"/>
                <a:cs typeface="+mn-cs"/>
              </a:rPr>
              <a:t>Aurora </a:t>
            </a:r>
            <a:r>
              <a:rPr lang="en-US"/>
              <a:t>offers a </a:t>
            </a:r>
            <a:r>
              <a:rPr lang="en-US" baseline="0"/>
              <a:t>distributed,</a:t>
            </a:r>
            <a:r>
              <a:rPr lang="en-US"/>
              <a:t> high-performance storage subsystem</a:t>
            </a:r>
            <a:r>
              <a:rPr lang="en-US" baseline="0"/>
              <a:t>. </a:t>
            </a:r>
            <a:r>
              <a:rPr lang="en-US" b="0" i="0" kern="1200">
                <a:solidFill>
                  <a:schemeClr val="tx1"/>
                </a:solidFill>
                <a:effectLst/>
                <a:ea typeface="+mn-ea"/>
                <a:cs typeface="+mn-cs"/>
              </a:rPr>
              <a:t>Using Amazon Aurora can reduce your database costs while improving the reliability of the database. </a:t>
            </a:r>
            <a:endParaRPr lang="en-US" kern="1200">
              <a:solidFill>
                <a:schemeClr val="tx1"/>
              </a:solidFill>
              <a:effectLst/>
              <a:ea typeface="+mn-ea"/>
              <a:cs typeface="+mn-cs"/>
            </a:endParaRPr>
          </a:p>
          <a:p>
            <a:endParaRPr lang="en-US" kern="1200">
              <a:solidFill>
                <a:schemeClr val="tx1"/>
              </a:solidFill>
              <a:effectLst/>
              <a:ea typeface="+mn-ea"/>
              <a:cs typeface="+mn-cs"/>
            </a:endParaRPr>
          </a:p>
          <a:p>
            <a:r>
              <a:rPr lang="en-US" b="0" i="0" kern="1200">
                <a:solidFill>
                  <a:schemeClr val="tx1"/>
                </a:solidFill>
                <a:effectLst/>
                <a:ea typeface="+mn-ea"/>
                <a:cs typeface="+mn-cs"/>
              </a:rPr>
              <a:t>Aurora is</a:t>
            </a:r>
            <a:r>
              <a:rPr lang="en-US" b="0" i="0" kern="1200" baseline="0">
                <a:solidFill>
                  <a:schemeClr val="tx1"/>
                </a:solidFill>
                <a:effectLst/>
                <a:ea typeface="+mn-ea"/>
                <a:cs typeface="+mn-cs"/>
              </a:rPr>
              <a:t> also designed to be highly available</a:t>
            </a:r>
            <a:r>
              <a:rPr lang="en-US" b="0" i="0" kern="1200">
                <a:solidFill>
                  <a:schemeClr val="tx1"/>
                </a:solidFill>
                <a:effectLst/>
                <a:ea typeface="+mn-ea"/>
                <a:cs typeface="+mn-cs"/>
              </a:rPr>
              <a:t>. It has fault-tolerant and self-healing storage built for the cloud.</a:t>
            </a:r>
            <a:r>
              <a:rPr lang="en-US" b="0" i="0" kern="1200" baseline="0">
                <a:solidFill>
                  <a:schemeClr val="tx1"/>
                </a:solidFill>
                <a:effectLst/>
                <a:ea typeface="+mn-ea"/>
                <a:cs typeface="+mn-cs"/>
              </a:rPr>
              <a:t> Aurora </a:t>
            </a:r>
            <a:r>
              <a:rPr lang="en-US" b="0" i="0" kern="1200">
                <a:solidFill>
                  <a:schemeClr val="tx1"/>
                </a:solidFill>
                <a:effectLst/>
                <a:ea typeface="+mn-ea"/>
                <a:cs typeface="+mn-cs"/>
              </a:rPr>
              <a:t>replicates multiple copies of your data across multiple Availability Zones,</a:t>
            </a:r>
            <a:r>
              <a:rPr lang="en-US" b="0" i="0" kern="1200" baseline="0">
                <a:solidFill>
                  <a:schemeClr val="tx1"/>
                </a:solidFill>
                <a:effectLst/>
                <a:ea typeface="+mn-ea"/>
                <a:cs typeface="+mn-cs"/>
              </a:rPr>
              <a:t> and </a:t>
            </a:r>
            <a:r>
              <a:rPr lang="en-US" b="0" i="0" kern="1200">
                <a:solidFill>
                  <a:schemeClr val="tx1"/>
                </a:solidFill>
                <a:effectLst/>
                <a:ea typeface="+mn-ea"/>
                <a:cs typeface="+mn-cs"/>
              </a:rPr>
              <a:t>it continuously backs up your data to Amazon S3. </a:t>
            </a:r>
          </a:p>
          <a:p>
            <a:endParaRPr lang="en-US" b="0" i="0" kern="1200">
              <a:solidFill>
                <a:schemeClr val="tx1"/>
              </a:solidFill>
              <a:effectLst/>
              <a:ea typeface="+mn-ea"/>
              <a:cs typeface="+mn-cs"/>
            </a:endParaRPr>
          </a:p>
          <a:p>
            <a:r>
              <a:rPr lang="en-US" b="0" i="0" kern="1200">
                <a:solidFill>
                  <a:schemeClr val="tx1"/>
                </a:solidFill>
                <a:effectLst/>
                <a:ea typeface="+mn-ea"/>
                <a:cs typeface="+mn-cs"/>
              </a:rPr>
              <a:t>Multiple levels of security are available, including network isolation by</a:t>
            </a:r>
            <a:r>
              <a:rPr lang="en-US" b="0" i="0" kern="1200" baseline="0">
                <a:solidFill>
                  <a:schemeClr val="tx1"/>
                </a:solidFill>
                <a:effectLst/>
                <a:ea typeface="+mn-ea"/>
                <a:cs typeface="+mn-cs"/>
              </a:rPr>
              <a:t> </a:t>
            </a:r>
            <a:r>
              <a:rPr lang="en-US" b="0" i="0" kern="1200">
                <a:solidFill>
                  <a:schemeClr val="tx1"/>
                </a:solidFill>
                <a:effectLst/>
                <a:ea typeface="+mn-ea"/>
                <a:cs typeface="+mn-cs"/>
              </a:rPr>
              <a:t>using Amazon VPC; encryption at rest by using keys that you create and control through AWS Key Management Service (AWS KMS); and encryption of data in transit by using Secure Sockets Layer (SSL).</a:t>
            </a:r>
          </a:p>
          <a:p>
            <a:endParaRPr lang="en-US" b="0" i="0" kern="1200">
              <a:solidFill>
                <a:schemeClr val="tx1"/>
              </a:solidFill>
              <a:effectLst/>
              <a:ea typeface="+mn-ea"/>
              <a:cs typeface="+mn-cs"/>
            </a:endParaRPr>
          </a:p>
          <a:p>
            <a:r>
              <a:rPr lang="en-US" b="0" i="0" kern="1200">
                <a:solidFill>
                  <a:schemeClr val="tx1"/>
                </a:solidFill>
                <a:effectLst/>
                <a:ea typeface="+mn-ea"/>
                <a:cs typeface="+mn-cs"/>
              </a:rPr>
              <a:t>The Amazon Aurora database engine is compatible with existing MySQL and PostgreSQL open source databases, and adds compatibility for new releases regularly.</a:t>
            </a:r>
          </a:p>
          <a:p>
            <a:endParaRPr lang="en-US" b="0" i="0" kern="1200">
              <a:solidFill>
                <a:schemeClr val="tx1"/>
              </a:solidFill>
              <a:effectLst/>
              <a:ea typeface="+mn-ea"/>
              <a:cs typeface="+mn-cs"/>
            </a:endParaRPr>
          </a:p>
          <a:p>
            <a:r>
              <a:rPr lang="en-US" b="0" i="0" kern="1200">
                <a:solidFill>
                  <a:schemeClr val="tx1"/>
                </a:solidFill>
                <a:effectLst/>
                <a:ea typeface="+mn-ea"/>
                <a:cs typeface="+mn-cs"/>
              </a:rPr>
              <a:t>Finally, Amazon Aurora is fully managed by Amazon RDS. Aurora</a:t>
            </a:r>
            <a:r>
              <a:rPr lang="en-US" b="0" i="0" kern="1200" baseline="0">
                <a:solidFill>
                  <a:schemeClr val="tx1"/>
                </a:solidFill>
                <a:effectLst/>
                <a:ea typeface="+mn-ea"/>
                <a:cs typeface="+mn-cs"/>
              </a:rPr>
              <a:t> automates d</a:t>
            </a:r>
            <a:r>
              <a:rPr lang="en-US" b="0" i="0" kern="1200">
                <a:solidFill>
                  <a:schemeClr val="tx1"/>
                </a:solidFill>
                <a:effectLst/>
                <a:ea typeface="+mn-ea"/>
                <a:cs typeface="+mn-cs"/>
              </a:rPr>
              <a:t>atabase management tasks, such as hardware provisioning, software patching, setup, configuration, or backups.</a:t>
            </a:r>
            <a:endParaRPr lang="en-US" kern="1200">
              <a:solidFill>
                <a:schemeClr val="tx1"/>
              </a:solidFill>
              <a:effectLst/>
              <a:ea typeface="+mn-ea"/>
              <a:cs typeface="+mn-cs"/>
            </a:endParaRPr>
          </a:p>
          <a:p>
            <a:endParaRPr lang="en-US" kern="1200">
              <a:solidFill>
                <a:schemeClr val="tx1"/>
              </a:solidFill>
              <a:effectLst/>
              <a:ea typeface="+mn-ea"/>
              <a:cs typeface="+mn-cs"/>
            </a:endParaRPr>
          </a:p>
          <a:p>
            <a:r>
              <a:rPr lang="en-US" kern="1200">
                <a:solidFill>
                  <a:schemeClr val="tx1"/>
                </a:solidFill>
                <a:effectLst/>
                <a:ea typeface="+mn-ea"/>
                <a:cs typeface="+mn-cs"/>
              </a:rPr>
              <a:t>To learn more about Amazon Aurora, see</a:t>
            </a:r>
            <a:r>
              <a:rPr lang="en-US"/>
              <a:t> </a:t>
            </a:r>
            <a:r>
              <a:rPr lang="en-US">
                <a:hlinkClick r:id="rId3"/>
              </a:rPr>
              <a:t>https://aws.amazon.com/rds/aurora/</a:t>
            </a:r>
            <a:r>
              <a:rPr lang="en-US"/>
              <a:t>.</a:t>
            </a:r>
            <a:endParaRPr lang="en-US" kern="1200">
              <a:solidFill>
                <a:schemeClr val="tx1"/>
              </a:solidFill>
              <a:effectLst/>
              <a:ea typeface="+mn-ea"/>
              <a:cs typeface="+mn-cs"/>
            </a:endParaRPr>
          </a:p>
        </p:txBody>
      </p:sp>
    </p:spTree>
    <p:extLst>
      <p:ext uri="{BB962C8B-B14F-4D97-AF65-F5344CB8AC3E}">
        <p14:creationId xmlns:p14="http://schemas.microsoft.com/office/powerpoint/2010/main" val="127922146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solidFill>
                  <a:srgbClr val="000000"/>
                </a:solidFill>
              </a:rPr>
              <a:t>As you saw in this module,</a:t>
            </a:r>
            <a:r>
              <a:rPr lang="en-US"/>
              <a:t> the cloud continues to drive down the cost of storage and compute.</a:t>
            </a:r>
            <a:r>
              <a:rPr lang="en-US" baseline="0"/>
              <a:t> A</a:t>
            </a:r>
            <a:r>
              <a:rPr lang="en-US"/>
              <a:t> new </a:t>
            </a:r>
            <a:r>
              <a:rPr lang="en-US">
                <a:solidFill>
                  <a:srgbClr val="000000"/>
                </a:solidFill>
              </a:rPr>
              <a:t>generation of applications has</a:t>
            </a:r>
            <a:r>
              <a:rPr lang="en-US"/>
              <a:t> emerged, which created a new set of requirements for </a:t>
            </a:r>
            <a:r>
              <a:rPr lang="en-US">
                <a:solidFill>
                  <a:srgbClr val="000000"/>
                </a:solidFill>
              </a:rPr>
              <a:t>databases</a:t>
            </a:r>
            <a:r>
              <a:rPr lang="en-US"/>
              <a:t>. </a:t>
            </a:r>
            <a:r>
              <a:rPr lang="en-US">
                <a:solidFill>
                  <a:srgbClr val="000000"/>
                </a:solidFill>
              </a:rPr>
              <a:t>These</a:t>
            </a:r>
            <a:r>
              <a:rPr lang="en-US"/>
              <a:t> </a:t>
            </a:r>
            <a:r>
              <a:rPr lang="en-US">
                <a:solidFill>
                  <a:srgbClr val="000000"/>
                </a:solidFill>
              </a:rPr>
              <a:t>applications</a:t>
            </a:r>
            <a:r>
              <a:rPr lang="en-US"/>
              <a:t> need databases to store terabytes to petabytes of new </a:t>
            </a:r>
            <a:r>
              <a:rPr lang="en-US">
                <a:solidFill>
                  <a:srgbClr val="000000"/>
                </a:solidFill>
              </a:rPr>
              <a:t>types</a:t>
            </a:r>
            <a:r>
              <a:rPr lang="en-US"/>
              <a:t> of data, provide access to the data with millisecond latency, process millions of requests </a:t>
            </a:r>
            <a:r>
              <a:rPr lang="en-US">
                <a:solidFill>
                  <a:srgbClr val="000000"/>
                </a:solidFill>
              </a:rPr>
              <a:t>per</a:t>
            </a:r>
            <a:r>
              <a:rPr lang="en-US"/>
              <a:t> second, and scale to support millions of </a:t>
            </a:r>
            <a:r>
              <a:rPr lang="en-US">
                <a:solidFill>
                  <a:srgbClr val="000000"/>
                </a:solidFill>
              </a:rPr>
              <a:t>users</a:t>
            </a:r>
            <a:r>
              <a:rPr lang="en-US"/>
              <a:t> </a:t>
            </a:r>
            <a:r>
              <a:rPr lang="en-US">
                <a:solidFill>
                  <a:srgbClr val="000000"/>
                </a:solidFill>
              </a:rPr>
              <a:t>anywhere</a:t>
            </a:r>
            <a:r>
              <a:rPr lang="en-US"/>
              <a:t> in the </a:t>
            </a:r>
            <a:r>
              <a:rPr lang="en-US">
                <a:solidFill>
                  <a:srgbClr val="000000"/>
                </a:solidFill>
              </a:rPr>
              <a:t>world</a:t>
            </a:r>
            <a:r>
              <a:rPr lang="en-US"/>
              <a:t>. To support these requirements, you need both relational and non-relational databases that are purpose-built to handle the specific needs of your </a:t>
            </a:r>
            <a:r>
              <a:rPr lang="en-US">
                <a:solidFill>
                  <a:srgbClr val="000000"/>
                </a:solidFill>
              </a:rPr>
              <a:t>applications</a:t>
            </a:r>
            <a:r>
              <a:rPr lang="en-US"/>
              <a:t>. AWS offers a broad range of databases that</a:t>
            </a:r>
            <a:r>
              <a:rPr lang="en-US" baseline="0"/>
              <a:t> are built</a:t>
            </a:r>
            <a:r>
              <a:rPr lang="en-US"/>
              <a:t> for your specific </a:t>
            </a:r>
            <a:r>
              <a:rPr lang="en-US">
                <a:solidFill>
                  <a:srgbClr val="000000"/>
                </a:solidFill>
              </a:rPr>
              <a:t>application</a:t>
            </a:r>
            <a:r>
              <a:rPr lang="en-US"/>
              <a:t> use cases. </a:t>
            </a:r>
          </a:p>
        </p:txBody>
      </p:sp>
    </p:spTree>
    <p:extLst>
      <p:ext uri="{BB962C8B-B14F-4D97-AF65-F5344CB8AC3E}">
        <p14:creationId xmlns:p14="http://schemas.microsoft.com/office/powerpoint/2010/main" val="190520206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It’s now time to review the module, and wrap up with a knowledge check and discussion of a practice certification exam question.</a:t>
            </a:r>
          </a:p>
        </p:txBody>
      </p:sp>
    </p:spTree>
    <p:extLst>
      <p:ext uri="{BB962C8B-B14F-4D97-AF65-F5344CB8AC3E}">
        <p14:creationId xmlns:p14="http://schemas.microsoft.com/office/powerpoint/2010/main" val="22354085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2500" cy="3394075"/>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t>In summary, in this module, you learn how to:</a:t>
            </a:r>
          </a:p>
          <a:p>
            <a:pPr marL="171450" lvl="0" indent="-171450">
              <a:spcBef>
                <a:spcPts val="0"/>
              </a:spcBef>
              <a:buClr>
                <a:schemeClr val="tx1"/>
              </a:buClr>
              <a:buFont typeface="Arial" panose="020B0604020202020204" pitchFamily="34" charset="0"/>
              <a:buChar char="•"/>
              <a:tabLst>
                <a:tab pos="8461375" algn="r"/>
              </a:tabLst>
            </a:pPr>
            <a:r>
              <a:rPr lang="en-US"/>
              <a:t>Explain Amazon Relational Database Service (Amazon RDS)</a:t>
            </a:r>
          </a:p>
          <a:p>
            <a:pPr marL="171450" lvl="0" indent="-171450">
              <a:spcBef>
                <a:spcPts val="0"/>
              </a:spcBef>
              <a:buClr>
                <a:schemeClr val="tx1"/>
              </a:buClr>
              <a:buFont typeface="Arial" panose="020B0604020202020204" pitchFamily="34" charset="0"/>
              <a:buChar char="•"/>
              <a:tabLst>
                <a:tab pos="8461375" algn="r"/>
              </a:tabLst>
            </a:pPr>
            <a:r>
              <a:rPr lang="en-US"/>
              <a:t>Identify the functionality in Amazon RDS</a:t>
            </a:r>
          </a:p>
          <a:p>
            <a:pPr marL="171450" lvl="0" indent="-171450">
              <a:spcBef>
                <a:spcPts val="0"/>
              </a:spcBef>
              <a:buClr>
                <a:schemeClr val="tx1"/>
              </a:buClr>
              <a:buFont typeface="Arial" panose="020B0604020202020204" pitchFamily="34" charset="0"/>
              <a:buChar char="•"/>
              <a:tabLst>
                <a:tab pos="8461375" algn="r"/>
              </a:tabLst>
            </a:pPr>
            <a:r>
              <a:rPr lang="en-US"/>
              <a:t>Explain Amazon DynamoDB</a:t>
            </a:r>
          </a:p>
          <a:p>
            <a:pPr marL="171450" lvl="0" indent="-171450">
              <a:spcBef>
                <a:spcPts val="0"/>
              </a:spcBef>
              <a:buClr>
                <a:schemeClr val="tx1"/>
              </a:buClr>
              <a:buFont typeface="Arial" panose="020B0604020202020204" pitchFamily="34" charset="0"/>
              <a:buChar char="•"/>
              <a:tabLst>
                <a:tab pos="8461375" algn="r"/>
              </a:tabLst>
            </a:pPr>
            <a:r>
              <a:rPr lang="en-US"/>
              <a:t>Identify the functionality in Amazon DynamoDB</a:t>
            </a:r>
          </a:p>
          <a:p>
            <a:pPr marL="171450" lvl="0" indent="-171450">
              <a:spcBef>
                <a:spcPts val="0"/>
              </a:spcBef>
              <a:buClr>
                <a:schemeClr val="tx1"/>
              </a:buClr>
              <a:buFont typeface="Arial" panose="020B0604020202020204" pitchFamily="34" charset="0"/>
              <a:buChar char="•"/>
              <a:tabLst>
                <a:tab pos="8461375" algn="r"/>
              </a:tabLst>
            </a:pPr>
            <a:r>
              <a:rPr lang="en-US"/>
              <a:t>Explain Amazon Redshift</a:t>
            </a:r>
          </a:p>
          <a:p>
            <a:pPr marL="171450" lvl="0" indent="-171450">
              <a:spcBef>
                <a:spcPts val="0"/>
              </a:spcBef>
              <a:buClr>
                <a:schemeClr val="tx1"/>
              </a:buClr>
              <a:buFont typeface="Arial" panose="020B0604020202020204" pitchFamily="34" charset="0"/>
              <a:buChar char="•"/>
              <a:tabLst>
                <a:tab pos="8461375" algn="r"/>
              </a:tabLst>
            </a:pPr>
            <a:r>
              <a:rPr lang="en-US"/>
              <a:t>Explain Amazon Aurora</a:t>
            </a:r>
          </a:p>
          <a:p>
            <a:pPr marL="171450" lvl="0" indent="-171450">
              <a:spcBef>
                <a:spcPts val="0"/>
              </a:spcBef>
              <a:buClr>
                <a:schemeClr val="tx1"/>
              </a:buClr>
              <a:buFont typeface="Arial" panose="020B0604020202020204" pitchFamily="34" charset="0"/>
              <a:buChar char="•"/>
              <a:tabLst>
                <a:tab pos="8461375" algn="r"/>
              </a:tabLst>
            </a:pPr>
            <a:r>
              <a:rPr lang="en-US"/>
              <a:t>Perform tasks in an RDS database, such as launching, configuring, and interacting</a:t>
            </a:r>
          </a:p>
        </p:txBody>
      </p:sp>
    </p:spTree>
    <p:extLst>
      <p:ext uri="{BB962C8B-B14F-4D97-AF65-F5344CB8AC3E}">
        <p14:creationId xmlns:p14="http://schemas.microsoft.com/office/powerpoint/2010/main" val="71854473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69950" y="1257300"/>
            <a:ext cx="6035675" cy="3395663"/>
          </a:xfrm>
          <a:prstGeom prst="rect">
            <a:avLst/>
          </a:prstGeom>
        </p:spPr>
      </p:sp>
      <p:sp>
        <p:nvSpPr>
          <p:cNvPr id="3" name="Notes Placeholder 2"/>
          <p:cNvSpPr>
            <a:spLocks noGrp="1"/>
          </p:cNvSpPr>
          <p:nvPr>
            <p:ph type="body" idx="1"/>
          </p:nvPr>
        </p:nvSpPr>
        <p:spPr>
          <a:xfrm>
            <a:off x="777875" y="4840288"/>
            <a:ext cx="6216650" cy="3960812"/>
          </a:xfrm>
          <a:prstGeom prst="rect">
            <a:avLst/>
          </a:prstGeom>
        </p:spPr>
        <p:txBody>
          <a:bodyPr/>
          <a:lstStyle/>
          <a:p>
            <a:r>
              <a:rPr lang="en-US">
                <a:solidFill>
                  <a:srgbClr val="000000"/>
                </a:solidFill>
                <a:latin typeface="Calibri" panose="020F0502020204030204" pitchFamily="34" charset="0"/>
              </a:rPr>
              <a:t>Thank you for completing this module.</a:t>
            </a:r>
          </a:p>
        </p:txBody>
      </p:sp>
    </p:spTree>
    <p:extLst>
      <p:ext uri="{BB962C8B-B14F-4D97-AF65-F5344CB8AC3E}">
        <p14:creationId xmlns:p14="http://schemas.microsoft.com/office/powerpoint/2010/main" val="19768815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6.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5.svg"/><Relationship Id="rId5" Type="http://schemas.openxmlformats.org/officeDocument/2006/relationships/image" Target="../media/image4.png"/><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5.svg"/><Relationship Id="rId5" Type="http://schemas.openxmlformats.org/officeDocument/2006/relationships/image" Target="../media/image4.png"/><Relationship Id="rId4" Type="http://schemas.microsoft.com/office/2007/relationships/hdphoto" Target="../media/hdphoto3.wdp"/></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9.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9.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9.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9.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9.svg"/></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13.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1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structor Intro">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F3DBA0A-EF04-44BD-A704-1C36C47D2821}"/>
              </a:ext>
              <a:ext uri="{C183D7F6-B498-43B3-948B-1728B52AA6E4}">
                <adec:decorative xmlns:adec="http://schemas.microsoft.com/office/drawing/2017/decorative" val="1"/>
              </a:ext>
            </a:extLst>
          </p:cNvPr>
          <p:cNvGrpSpPr/>
          <p:nvPr/>
        </p:nvGrpSpPr>
        <p:grpSpPr>
          <a:xfrm>
            <a:off x="1" y="1"/>
            <a:ext cx="12004925" cy="6858000"/>
            <a:chOff x="1" y="1"/>
            <a:chExt cx="12004925" cy="6858000"/>
          </a:xfrm>
        </p:grpSpPr>
        <p:sp>
          <p:nvSpPr>
            <p:cNvPr id="93" name="BKG-LT">
              <a:extLst>
                <a:ext uri="{FF2B5EF4-FFF2-40B4-BE49-F238E27FC236}">
                  <a16:creationId xmlns:a16="http://schemas.microsoft.com/office/drawing/2014/main" id="{1636AFF1-562B-467D-8DC1-B38C08FBD4C3}"/>
                </a:ext>
                <a:ext uri="{C183D7F6-B498-43B3-948B-1728B52AA6E4}">
                  <adec:decorative xmlns:adec="http://schemas.microsoft.com/office/drawing/2017/decorative" val="1"/>
                </a:ext>
              </a:extLst>
            </p:cNvPr>
            <p:cNvSpPr/>
            <p:nvPr/>
          </p:nvSpPr>
          <p:spPr>
            <a:xfrm>
              <a:off x="1" y="1"/>
              <a:ext cx="590167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TrainingLine">
              <a:extLst>
                <a:ext uri="{FF2B5EF4-FFF2-40B4-BE49-F238E27FC236}">
                  <a16:creationId xmlns:a16="http://schemas.microsoft.com/office/drawing/2014/main" id="{D7310E2A-808D-407A-87D7-C505B238AAE6}"/>
                </a:ext>
                <a:ext uri="{C183D7F6-B498-43B3-948B-1728B52AA6E4}">
                  <adec:decorative xmlns:adec="http://schemas.microsoft.com/office/drawing/2017/decorative" val="1"/>
                </a:ext>
              </a:extLst>
            </p:cNvPr>
            <p:cNvCxnSpPr>
              <a:cxnSpLocks/>
            </p:cNvCxnSpPr>
            <p:nvPr/>
          </p:nvCxnSpPr>
          <p:spPr>
            <a:xfrm>
              <a:off x="198875" y="4775930"/>
              <a:ext cx="5503926" cy="0"/>
            </a:xfrm>
            <a:prstGeom prst="line">
              <a:avLst/>
            </a:prstGeom>
            <a:ln w="38100">
              <a:solidFill>
                <a:schemeClr val="bg2"/>
              </a:solidFill>
            </a:ln>
          </p:spPr>
          <p:style>
            <a:lnRef idx="3">
              <a:schemeClr val="accent3"/>
            </a:lnRef>
            <a:fillRef idx="0">
              <a:schemeClr val="accent3"/>
            </a:fillRef>
            <a:effectRef idx="2">
              <a:schemeClr val="accent3"/>
            </a:effectRef>
            <a:fontRef idx="minor">
              <a:schemeClr val="tx1"/>
            </a:fontRef>
          </p:style>
        </p:cxnSp>
        <p:sp>
          <p:nvSpPr>
            <p:cNvPr id="84" name="BKG-Photo">
              <a:extLst>
                <a:ext uri="{FF2B5EF4-FFF2-40B4-BE49-F238E27FC236}">
                  <a16:creationId xmlns:a16="http://schemas.microsoft.com/office/drawing/2014/main" id="{62D1E38E-9540-4F40-B30D-C4E76EF85FD1}"/>
                </a:ext>
                <a:ext uri="{C183D7F6-B498-43B3-948B-1728B52AA6E4}">
                  <adec:decorative xmlns:adec="http://schemas.microsoft.com/office/drawing/2017/decorative" val="1"/>
                </a:ext>
              </a:extLst>
            </p:cNvPr>
            <p:cNvSpPr/>
            <p:nvPr/>
          </p:nvSpPr>
          <p:spPr>
            <a:xfrm>
              <a:off x="6096000" y="412928"/>
              <a:ext cx="1636776" cy="1636776"/>
            </a:xfrm>
            <a:prstGeom prst="rect">
              <a:avLst/>
            </a:prstGeom>
            <a:solidFill>
              <a:schemeClr val="accent6"/>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InstructorLine">
              <a:extLst>
                <a:ext uri="{FF2B5EF4-FFF2-40B4-BE49-F238E27FC236}">
                  <a16:creationId xmlns:a16="http://schemas.microsoft.com/office/drawing/2014/main" id="{D2B179F5-8754-4804-B83A-9F86A1FABFC5}"/>
                </a:ext>
                <a:ext uri="{C183D7F6-B498-43B3-948B-1728B52AA6E4}">
                  <adec:decorative xmlns:adec="http://schemas.microsoft.com/office/drawing/2017/decorative" val="1"/>
                </a:ext>
              </a:extLst>
            </p:cNvPr>
            <p:cNvCxnSpPr>
              <a:cxnSpLocks/>
            </p:cNvCxnSpPr>
            <p:nvPr/>
          </p:nvCxnSpPr>
          <p:spPr>
            <a:xfrm>
              <a:off x="7715772" y="924231"/>
              <a:ext cx="4289154"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cxnSp>
          <p:nvCxnSpPr>
            <p:cNvPr id="85" name="ConnectLine">
              <a:extLst>
                <a:ext uri="{FF2B5EF4-FFF2-40B4-BE49-F238E27FC236}">
                  <a16:creationId xmlns:a16="http://schemas.microsoft.com/office/drawing/2014/main" id="{0C3C1B84-8505-4B24-973C-848AC60399A7}"/>
                </a:ext>
                <a:ext uri="{C183D7F6-B498-43B3-948B-1728B52AA6E4}">
                  <adec:decorative xmlns:adec="http://schemas.microsoft.com/office/drawing/2017/decorative" val="1"/>
                </a:ext>
              </a:extLst>
            </p:cNvPr>
            <p:cNvCxnSpPr>
              <a:cxnSpLocks/>
            </p:cNvCxnSpPr>
            <p:nvPr/>
          </p:nvCxnSpPr>
          <p:spPr>
            <a:xfrm>
              <a:off x="6096000" y="2841821"/>
              <a:ext cx="5908926"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pic>
          <p:nvPicPr>
            <p:cNvPr id="98" name="AWS Logo">
              <a:extLst>
                <a:ext uri="{FF2B5EF4-FFF2-40B4-BE49-F238E27FC236}">
                  <a16:creationId xmlns:a16="http://schemas.microsoft.com/office/drawing/2014/main" id="{EE68EF96-08A5-4475-A68D-AF69C928485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9" name="Copyright">
              <a:extLst>
                <a:ext uri="{FF2B5EF4-FFF2-40B4-BE49-F238E27FC236}">
                  <a16:creationId xmlns:a16="http://schemas.microsoft.com/office/drawing/2014/main" id="{0869739A-D862-4D7C-B7B5-2B689B100943}"/>
                </a:ext>
              </a:extLst>
            </p:cNvPr>
            <p:cNvSpPr txBox="1"/>
            <p:nvPr/>
          </p:nvSpPr>
          <p:spPr>
            <a:xfrm>
              <a:off x="876516" y="6423536"/>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20" name="Welcome">
            <a:extLst>
              <a:ext uri="{FF2B5EF4-FFF2-40B4-BE49-F238E27FC236}">
                <a16:creationId xmlns:a16="http://schemas.microsoft.com/office/drawing/2014/main" id="{440D7E67-8032-4F87-ACBA-58FA07AE3852}"/>
              </a:ext>
            </a:extLst>
          </p:cNvPr>
          <p:cNvSpPr txBox="1"/>
          <p:nvPr/>
        </p:nvSpPr>
        <p:spPr>
          <a:xfrm>
            <a:off x="1883879" y="587814"/>
            <a:ext cx="2133918" cy="523220"/>
          </a:xfrm>
          <a:prstGeom prst="rect">
            <a:avLst/>
          </a:prstGeom>
          <a:noFill/>
        </p:spPr>
        <p:txBody>
          <a:bodyPr wrap="none" rtlCol="0">
            <a:spAutoFit/>
          </a:bodyPr>
          <a:lstStyle/>
          <a:p>
            <a:pPr algn="ctr"/>
            <a:r>
              <a:rPr lang="en-US" sz="2800">
                <a:solidFill>
                  <a:schemeClr val="bg2"/>
                </a:solidFill>
                <a:latin typeface="+mn-lt"/>
                <a:ea typeface="Amazon Ember Light" panose="020B0403020204020204" pitchFamily="34" charset="0"/>
                <a:cs typeface="Amazon Ember Light" panose="020B0403020204020204" pitchFamily="34" charset="0"/>
              </a:rPr>
              <a:t>Welcome to</a:t>
            </a:r>
          </a:p>
        </p:txBody>
      </p:sp>
      <p:sp>
        <p:nvSpPr>
          <p:cNvPr id="2" name="Title">
            <a:extLst>
              <a:ext uri="{FF2B5EF4-FFF2-40B4-BE49-F238E27FC236}">
                <a16:creationId xmlns:a16="http://schemas.microsoft.com/office/drawing/2014/main" id="{7CF59815-B20B-41F2-B8C8-02A64BB4781A}"/>
              </a:ext>
            </a:extLst>
          </p:cNvPr>
          <p:cNvSpPr>
            <a:spLocks noGrp="1"/>
          </p:cNvSpPr>
          <p:nvPr>
            <p:ph type="title" hasCustomPrompt="1"/>
          </p:nvPr>
        </p:nvSpPr>
        <p:spPr>
          <a:xfrm>
            <a:off x="228606" y="1179326"/>
            <a:ext cx="5444465" cy="3404221"/>
          </a:xfrm>
        </p:spPr>
        <p:txBody>
          <a:bodyPr anchor="t">
            <a:noAutofit/>
          </a:bodyPr>
          <a:lstStyle>
            <a:lvl1pPr algn="ctr">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Enter </a:t>
            </a:r>
            <a:br>
              <a:rPr lang="en-US"/>
            </a:br>
            <a:r>
              <a:rPr lang="en-US"/>
              <a:t>course title</a:t>
            </a:r>
          </a:p>
        </p:txBody>
      </p:sp>
      <p:sp>
        <p:nvSpPr>
          <p:cNvPr id="21" name="Training Begins">
            <a:extLst>
              <a:ext uri="{FF2B5EF4-FFF2-40B4-BE49-F238E27FC236}">
                <a16:creationId xmlns:a16="http://schemas.microsoft.com/office/drawing/2014/main" id="{D506D4EE-3DBD-4D77-AEE2-0FF7128DE4BD}"/>
              </a:ext>
            </a:extLst>
          </p:cNvPr>
          <p:cNvSpPr txBox="1"/>
          <p:nvPr/>
        </p:nvSpPr>
        <p:spPr>
          <a:xfrm>
            <a:off x="977546" y="4848827"/>
            <a:ext cx="3985386" cy="523220"/>
          </a:xfrm>
          <a:prstGeom prst="rect">
            <a:avLst/>
          </a:prstGeom>
          <a:noFill/>
        </p:spPr>
        <p:txBody>
          <a:bodyPr wrap="none" rtlCol="0">
            <a:spAutoFit/>
          </a:bodyPr>
          <a:lstStyle/>
          <a:p>
            <a:pPr algn="ctr"/>
            <a:r>
              <a:rPr lang="en-US" sz="2800">
                <a:solidFill>
                  <a:schemeClr val="bg2"/>
                </a:solidFill>
                <a:latin typeface="Amazon Ember" panose="020B0603020204020204" pitchFamily="34" charset="0"/>
                <a:ea typeface="Amazon Ember" panose="020B0603020204020204" pitchFamily="34" charset="0"/>
                <a:cs typeface="Amazon Ember" panose="020B0603020204020204" pitchFamily="34" charset="0"/>
              </a:rPr>
              <a:t>This training will begin:</a:t>
            </a:r>
          </a:p>
        </p:txBody>
      </p:sp>
      <p:sp>
        <p:nvSpPr>
          <p:cNvPr id="3" name="TimeZone">
            <a:extLst>
              <a:ext uri="{FF2B5EF4-FFF2-40B4-BE49-F238E27FC236}">
                <a16:creationId xmlns:a16="http://schemas.microsoft.com/office/drawing/2014/main" id="{15FEBCEE-35B5-4CBC-BD60-FE197957D654}"/>
              </a:ext>
            </a:extLst>
          </p:cNvPr>
          <p:cNvSpPr>
            <a:spLocks noGrp="1"/>
          </p:cNvSpPr>
          <p:nvPr>
            <p:ph type="body" idx="1" hasCustomPrompt="1"/>
          </p:nvPr>
        </p:nvSpPr>
        <p:spPr>
          <a:xfrm>
            <a:off x="336114" y="5463827"/>
            <a:ext cx="5268251" cy="627245"/>
          </a:xfrm>
        </p:spPr>
        <p:txBody>
          <a:bodyPr anchor="t">
            <a:normAutofit/>
          </a:bodyPr>
          <a:lstStyle>
            <a:lvl1pPr marL="0" indent="0" algn="ctr">
              <a:buNone/>
              <a:defRPr sz="20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Enter the course start time and time zone</a:t>
            </a:r>
          </a:p>
        </p:txBody>
      </p:sp>
      <p:sp>
        <p:nvSpPr>
          <p:cNvPr id="22" name="Instructor Photo">
            <a:extLst>
              <a:ext uri="{FF2B5EF4-FFF2-40B4-BE49-F238E27FC236}">
                <a16:creationId xmlns:a16="http://schemas.microsoft.com/office/drawing/2014/main" id="{1271813C-5B30-4D24-8175-91D870333A95}"/>
              </a:ext>
              <a:ext uri="{C183D7F6-B498-43B3-948B-1728B52AA6E4}">
                <adec:decorative xmlns:adec="http://schemas.microsoft.com/office/drawing/2017/decorative" val="1"/>
              </a:ext>
            </a:extLst>
          </p:cNvPr>
          <p:cNvSpPr>
            <a:spLocks noGrp="1"/>
          </p:cNvSpPr>
          <p:nvPr>
            <p:ph idx="4" hasCustomPrompt="1"/>
          </p:nvPr>
        </p:nvSpPr>
        <p:spPr>
          <a:xfrm>
            <a:off x="6122226" y="440360"/>
            <a:ext cx="1584325" cy="1581912"/>
          </a:xfrm>
        </p:spPr>
        <p:txBody>
          <a:bodyPr>
            <a:normAutofit/>
          </a:bodyPr>
          <a:lstStyle>
            <a:lvl1pPr marL="0" indent="0" algn="ctr">
              <a:buNone/>
              <a:defRPr sz="2000">
                <a:solidFill>
                  <a:schemeClr val="bg1"/>
                </a:solidFill>
              </a:defRPr>
            </a:lvl1pPr>
          </a:lstStyle>
          <a:p>
            <a:r>
              <a:rPr lang="en-US"/>
              <a:t>Instructor photo</a:t>
            </a:r>
          </a:p>
        </p:txBody>
      </p:sp>
      <p:sp>
        <p:nvSpPr>
          <p:cNvPr id="23" name="Instructor title">
            <a:extLst>
              <a:ext uri="{FF2B5EF4-FFF2-40B4-BE49-F238E27FC236}">
                <a16:creationId xmlns:a16="http://schemas.microsoft.com/office/drawing/2014/main" id="{1E89B15E-5A77-464A-BFA6-2416D1566FA9}"/>
              </a:ext>
            </a:extLst>
          </p:cNvPr>
          <p:cNvSpPr txBox="1"/>
          <p:nvPr/>
        </p:nvSpPr>
        <p:spPr>
          <a:xfrm>
            <a:off x="7715773" y="412928"/>
            <a:ext cx="3060453" cy="523220"/>
          </a:xfrm>
          <a:prstGeom prst="rect">
            <a:avLst/>
          </a:prstGeom>
          <a:noFill/>
        </p:spPr>
        <p:txBody>
          <a:bodyPr wrap="none" rtlCol="0">
            <a:spAutoFit/>
          </a:bodyPr>
          <a:lstStyle/>
          <a:p>
            <a:r>
              <a:rPr lang="en-US" sz="2800">
                <a:solidFill>
                  <a:schemeClr val="tx2"/>
                </a:solidFill>
                <a:latin typeface="Amazon Ember" panose="020B0603020204020204" pitchFamily="34" charset="0"/>
                <a:ea typeface="Amazon Ember" panose="020B0603020204020204" pitchFamily="34" charset="0"/>
                <a:cs typeface="Amazon Ember" panose="020B0603020204020204" pitchFamily="34" charset="0"/>
              </a:rPr>
              <a:t>Your instructor is:</a:t>
            </a:r>
          </a:p>
        </p:txBody>
      </p:sp>
      <p:sp>
        <p:nvSpPr>
          <p:cNvPr id="7" name="Instructor Info">
            <a:extLst>
              <a:ext uri="{FF2B5EF4-FFF2-40B4-BE49-F238E27FC236}">
                <a16:creationId xmlns:a16="http://schemas.microsoft.com/office/drawing/2014/main" id="{09913C86-F9D2-40F4-BFE6-F0C9EF282B5E}"/>
              </a:ext>
            </a:extLst>
          </p:cNvPr>
          <p:cNvSpPr>
            <a:spLocks noGrp="1"/>
          </p:cNvSpPr>
          <p:nvPr>
            <p:ph type="body" idx="2" hasCustomPrompt="1"/>
          </p:nvPr>
        </p:nvSpPr>
        <p:spPr>
          <a:xfrm>
            <a:off x="7838662" y="1002529"/>
            <a:ext cx="4166263" cy="1021776"/>
          </a:xfrm>
        </p:spPr>
        <p:txBody>
          <a:bodyPr anchor="t">
            <a:normAutofit/>
          </a:bodyPr>
          <a:lstStyle>
            <a:lvl1pPr marL="0" indent="0" algn="l">
              <a:spcBef>
                <a:spcPts val="0"/>
              </a:spcBef>
              <a:spcAft>
                <a:spcPts val="0"/>
              </a:spcAft>
              <a:buNone/>
              <a:defRPr sz="20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Enter instructor name</a:t>
            </a:r>
            <a:br>
              <a:rPr lang="en-US"/>
            </a:br>
            <a:r>
              <a:rPr lang="en-US"/>
              <a:t>Instructor email address</a:t>
            </a:r>
            <a:br>
              <a:rPr lang="en-US"/>
            </a:br>
            <a:r>
              <a:rPr lang="en-US"/>
              <a:t>Instructor title</a:t>
            </a:r>
          </a:p>
        </p:txBody>
      </p:sp>
      <p:sp>
        <p:nvSpPr>
          <p:cNvPr id="24" name="Connection Title">
            <a:extLst>
              <a:ext uri="{FF2B5EF4-FFF2-40B4-BE49-F238E27FC236}">
                <a16:creationId xmlns:a16="http://schemas.microsoft.com/office/drawing/2014/main" id="{8EE8F574-4F92-4934-B4F0-90D055E5D8A2}"/>
              </a:ext>
            </a:extLst>
          </p:cNvPr>
          <p:cNvSpPr txBox="1"/>
          <p:nvPr/>
        </p:nvSpPr>
        <p:spPr>
          <a:xfrm>
            <a:off x="6447569" y="2330518"/>
            <a:ext cx="4328429" cy="523220"/>
          </a:xfrm>
          <a:prstGeom prst="rect">
            <a:avLst/>
          </a:prstGeom>
          <a:noFill/>
        </p:spPr>
        <p:txBody>
          <a:bodyPr wrap="none" rtlCol="0">
            <a:spAutoFit/>
          </a:bodyPr>
          <a:lstStyle/>
          <a:p>
            <a:r>
              <a:rPr lang="en-US" sz="2800">
                <a:solidFill>
                  <a:schemeClr val="tx2"/>
                </a:solidFill>
                <a:latin typeface="Amazon Ember" panose="020B0603020204020204" pitchFamily="34" charset="0"/>
                <a:ea typeface="Amazon Ember" panose="020B0603020204020204" pitchFamily="34" charset="0"/>
                <a:cs typeface="Amazon Ember" panose="020B0603020204020204" pitchFamily="34" charset="0"/>
              </a:rPr>
              <a:t>Connect to the following:</a:t>
            </a:r>
          </a:p>
        </p:txBody>
      </p:sp>
      <p:sp>
        <p:nvSpPr>
          <p:cNvPr id="8" name="Resources">
            <a:extLst>
              <a:ext uri="{FF2B5EF4-FFF2-40B4-BE49-F238E27FC236}">
                <a16:creationId xmlns:a16="http://schemas.microsoft.com/office/drawing/2014/main" id="{B7141889-281C-44C1-8554-B9EEA8D5FF40}"/>
              </a:ext>
            </a:extLst>
          </p:cNvPr>
          <p:cNvSpPr>
            <a:spLocks noGrp="1"/>
          </p:cNvSpPr>
          <p:nvPr>
            <p:ph type="body" idx="3" hasCustomPrompt="1"/>
          </p:nvPr>
        </p:nvSpPr>
        <p:spPr>
          <a:xfrm>
            <a:off x="6095999" y="2920118"/>
            <a:ext cx="5908925" cy="3497521"/>
          </a:xfrm>
        </p:spPr>
        <p:txBody>
          <a:bodyPr anchor="t">
            <a:normAutofit/>
          </a:bodyPr>
          <a:lstStyle>
            <a:lvl1pPr marL="0" indent="0" algn="l">
              <a:spcBef>
                <a:spcPts val="0"/>
              </a:spcBef>
              <a:spcAft>
                <a:spcPts val="0"/>
              </a:spcAft>
              <a:buNone/>
              <a:defRPr sz="1800" baseline="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Enter the information for </a:t>
            </a:r>
            <a:r>
              <a:rPr lang="en-US" err="1"/>
              <a:t>eVantage</a:t>
            </a:r>
            <a:r>
              <a:rPr lang="en-US"/>
              <a:t>, QwikLabs, and any other resources the student needs to have loaded</a:t>
            </a:r>
          </a:p>
        </p:txBody>
      </p:sp>
    </p:spTree>
    <p:custDataLst>
      <p:tags r:id="rId1"/>
    </p:custDataLst>
    <p:extLst>
      <p:ext uri="{BB962C8B-B14F-4D97-AF65-F5344CB8AC3E}">
        <p14:creationId xmlns:p14="http://schemas.microsoft.com/office/powerpoint/2010/main" val="1097160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ECE86FD8-F169-471F-88EA-8FF7FCC5008E}"/>
              </a:ext>
              <a:ext uri="{C183D7F6-B498-43B3-948B-1728B52AA6E4}">
                <adec:decorative xmlns:adec="http://schemas.microsoft.com/office/drawing/2017/decorative" val="1"/>
              </a:ext>
            </a:extLst>
          </p:cNvPr>
          <p:cNvGrpSpPr/>
          <p:nvPr/>
        </p:nvGrpSpPr>
        <p:grpSpPr>
          <a:xfrm>
            <a:off x="0" y="-1"/>
            <a:ext cx="12192000" cy="6858001"/>
            <a:chOff x="0" y="-1"/>
            <a:chExt cx="12192000" cy="6858001"/>
          </a:xfrm>
        </p:grpSpPr>
        <p:sp>
          <p:nvSpPr>
            <p:cNvPr id="89" name="BKG">
              <a:extLst>
                <a:ext uri="{FF2B5EF4-FFF2-40B4-BE49-F238E27FC236}">
                  <a16:creationId xmlns:a16="http://schemas.microsoft.com/office/drawing/2014/main" id="{027B77B7-F317-4AA6-A627-75F5AE2E7A5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97" name="CubeSide">
              <a:extLst>
                <a:ext uri="{FF2B5EF4-FFF2-40B4-BE49-F238E27FC236}">
                  <a16:creationId xmlns:a16="http://schemas.microsoft.com/office/drawing/2014/main" id="{30CD656D-5337-4244-BA3E-ABD963579911}"/>
                </a:ext>
                <a:ext uri="{C183D7F6-B498-43B3-948B-1728B52AA6E4}">
                  <adec:decorative xmlns:adec="http://schemas.microsoft.com/office/drawing/2017/decorative" val="1"/>
                </a:ext>
              </a:extLst>
            </p:cNvPr>
            <p:cNvSpPr/>
            <p:nvPr/>
          </p:nvSpPr>
          <p:spPr>
            <a:xfrm>
              <a:off x="5867400" y="0"/>
              <a:ext cx="2228850" cy="2295144"/>
            </a:xfrm>
            <a:custGeom>
              <a:avLst/>
              <a:gdLst>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2295144 h 2295144"/>
                <a:gd name="connsiteX4" fmla="*/ 0 w 2228850"/>
                <a:gd name="connsiteY4" fmla="*/ 0 h 2295144"/>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0 h 2295144"/>
              </a:gdLst>
              <a:ahLst/>
              <a:cxnLst>
                <a:cxn ang="0">
                  <a:pos x="connsiteX0" y="connsiteY0"/>
                </a:cxn>
                <a:cxn ang="0">
                  <a:pos x="connsiteX1" y="connsiteY1"/>
                </a:cxn>
                <a:cxn ang="0">
                  <a:pos x="connsiteX2" y="connsiteY2"/>
                </a:cxn>
                <a:cxn ang="0">
                  <a:pos x="connsiteX3" y="connsiteY3"/>
                </a:cxn>
              </a:cxnLst>
              <a:rect l="l" t="t" r="r" b="b"/>
              <a:pathLst>
                <a:path w="2228850" h="2295144">
                  <a:moveTo>
                    <a:pt x="0" y="0"/>
                  </a:moveTo>
                  <a:lnTo>
                    <a:pt x="2228850" y="0"/>
                  </a:lnTo>
                  <a:lnTo>
                    <a:pt x="2228850" y="229514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96" name="CubeFront">
              <a:extLst>
                <a:ext uri="{FF2B5EF4-FFF2-40B4-BE49-F238E27FC236}">
                  <a16:creationId xmlns:a16="http://schemas.microsoft.com/office/drawing/2014/main" id="{66A5F4A5-2CA3-4E34-97C1-74E113BA3D7E}"/>
                </a:ext>
                <a:ext uri="{C183D7F6-B498-43B3-948B-1728B52AA6E4}">
                  <adec:decorative xmlns:adec="http://schemas.microsoft.com/office/drawing/2017/decorative" val="1"/>
                </a:ext>
              </a:extLst>
            </p:cNvPr>
            <p:cNvSpPr/>
            <p:nvPr/>
          </p:nvSpPr>
          <p:spPr>
            <a:xfrm>
              <a:off x="8096250" y="-1"/>
              <a:ext cx="4095750" cy="22955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pic>
          <p:nvPicPr>
            <p:cNvPr id="98" name="AWS Logo">
              <a:extLst>
                <a:ext uri="{FF2B5EF4-FFF2-40B4-BE49-F238E27FC236}">
                  <a16:creationId xmlns:a16="http://schemas.microsoft.com/office/drawing/2014/main" id="{961F7EBA-6264-4D1A-BA90-2C8A61C69B3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585216" y="338328"/>
              <a:ext cx="1097280" cy="658368"/>
            </a:xfrm>
            <a:prstGeom prst="rect">
              <a:avLst/>
            </a:prstGeom>
          </p:spPr>
        </p:pic>
        <p:sp>
          <p:nvSpPr>
            <p:cNvPr id="9"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69B11573-292E-4F55-A77E-C7F70767BE6A}"/>
              </a:ext>
            </a:extLst>
          </p:cNvPr>
          <p:cNvSpPr>
            <a:spLocks noGrp="1"/>
          </p:cNvSpPr>
          <p:nvPr>
            <p:ph type="title"/>
          </p:nvPr>
        </p:nvSpPr>
        <p:spPr>
          <a:xfrm>
            <a:off x="365760" y="2295144"/>
            <a:ext cx="11567160" cy="1481328"/>
          </a:xfrm>
        </p:spPr>
        <p:txBody>
          <a:bodyPr anchor="b">
            <a:normAutofit/>
          </a:bodyPr>
          <a:lstStyle>
            <a:lvl1pPr>
              <a:defRPr sz="4400">
                <a:solidFill>
                  <a:schemeClr val="bg2"/>
                </a:solidFill>
              </a:defRPr>
            </a:lvl1pPr>
          </a:lstStyle>
          <a:p>
            <a:r>
              <a:rPr lang="en-US"/>
              <a:t>Click to edit Master title style</a:t>
            </a:r>
          </a:p>
        </p:txBody>
      </p:sp>
      <p:sp>
        <p:nvSpPr>
          <p:cNvPr id="3" name="Subtitle">
            <a:extLst>
              <a:ext uri="{FF2B5EF4-FFF2-40B4-BE49-F238E27FC236}">
                <a16:creationId xmlns:a16="http://schemas.microsoft.com/office/drawing/2014/main" id="{4720F438-6999-4AEE-ABDC-CA4496A582B0}"/>
              </a:ext>
            </a:extLst>
          </p:cNvPr>
          <p:cNvSpPr>
            <a:spLocks noGrp="1"/>
          </p:cNvSpPr>
          <p:nvPr>
            <p:ph type="subTitle" idx="1" hasCustomPrompt="1"/>
          </p:nvPr>
        </p:nvSpPr>
        <p:spPr>
          <a:xfrm>
            <a:off x="365760" y="3803904"/>
            <a:ext cx="11567160" cy="2267712"/>
          </a:xfrm>
        </p:spPr>
        <p:txBody>
          <a:bodyPr>
            <a:noAutofit/>
          </a:bodyPr>
          <a:lstStyle>
            <a:lvl1pPr marL="0" indent="0">
              <a:buNone/>
              <a:defRPr sz="3200">
                <a:solidFill>
                  <a:schemeClr val="bg2"/>
                </a:solidFill>
              </a:defRPr>
            </a:lvl1pPr>
          </a:lstStyle>
          <a:p>
            <a:pPr lvl="0"/>
            <a:r>
              <a:rPr lang="en-US"/>
              <a:t>Type subtitle here</a:t>
            </a:r>
          </a:p>
        </p:txBody>
      </p:sp>
    </p:spTree>
    <p:custDataLst>
      <p:tags r:id="rId1"/>
    </p:custDataLst>
    <p:extLst>
      <p:ext uri="{BB962C8B-B14F-4D97-AF65-F5344CB8AC3E}">
        <p14:creationId xmlns:p14="http://schemas.microsoft.com/office/powerpoint/2010/main" val="1668361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B3DCE0D-B1BB-4208-8FF4-6B7AC00DC28E}"/>
              </a:ext>
              <a:ext uri="{C183D7F6-B498-43B3-948B-1728B52AA6E4}">
                <adec:decorative xmlns:adec="http://schemas.microsoft.com/office/drawing/2017/decorative" val="1"/>
              </a:ext>
            </a:extLst>
          </p:cNvPr>
          <p:cNvGrpSpPr/>
          <p:nvPr/>
        </p:nvGrpSpPr>
        <p:grpSpPr>
          <a:xfrm>
            <a:off x="0" y="0"/>
            <a:ext cx="12192000" cy="6868287"/>
            <a:chOff x="0" y="0"/>
            <a:chExt cx="12192000" cy="6868287"/>
          </a:xfrm>
        </p:grpSpPr>
        <p:sp>
          <p:nvSpPr>
            <p:cNvPr id="92" name="BKG-TP">
              <a:extLst>
                <a:ext uri="{FF2B5EF4-FFF2-40B4-BE49-F238E27FC236}">
                  <a16:creationId xmlns:a16="http://schemas.microsoft.com/office/drawing/2014/main" id="{B149FB85-86EE-4435-AFFD-185416ABD0BC}"/>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F802EE88-1736-4DCA-8546-B833E1DC91F1}"/>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1909D555-A83A-43A3-ACF3-38A8D3D654E1}"/>
                </a:ext>
                <a:ext uri="{C183D7F6-B498-43B3-948B-1728B52AA6E4}">
                  <adec:decorative xmlns:adec="http://schemas.microsoft.com/office/drawing/2017/decorative" val="1"/>
                </a:ext>
              </a:extLst>
            </p:cNvPr>
            <p:cNvSpPr/>
            <p:nvPr/>
          </p:nvSpPr>
          <p:spPr>
            <a:xfrm>
              <a:off x="2552700" y="942975"/>
              <a:ext cx="9639300" cy="5925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F4EB4C23-6D3D-4AFD-8C20-ABBDE0E95555}"/>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585216" y="338328"/>
              <a:ext cx="1097280" cy="658368"/>
            </a:xfrm>
            <a:prstGeom prst="rect">
              <a:avLst/>
            </a:prstGeom>
          </p:spPr>
        </p:pic>
        <p:sp>
          <p:nvSpPr>
            <p:cNvPr id="10" name="Copyright">
              <a:extLst>
                <a:ext uri="{FF2B5EF4-FFF2-40B4-BE49-F238E27FC236}">
                  <a16:creationId xmlns:a16="http://schemas.microsoft.com/office/drawing/2014/main" id="{D18A8FFD-2A5D-4A49-85E4-97EFFB9C657F}"/>
                </a:ext>
              </a:extLst>
            </p:cNvPr>
            <p:cNvSpPr txBox="1"/>
            <p:nvPr/>
          </p:nvSpPr>
          <p:spPr>
            <a:xfrm>
              <a:off x="5039534" y="6568818"/>
              <a:ext cx="4659950" cy="261610"/>
            </a:xfrm>
            <a:prstGeom prst="rect">
              <a:avLst/>
            </a:prstGeom>
            <a:noFill/>
          </p:spPr>
          <p:txBody>
            <a:bodyPr wrap="square" rtlCol="0">
              <a:spAutoFit/>
            </a:bodyPr>
            <a:lstStyle/>
            <a:p>
              <a:pPr algn="ctr"/>
              <a:r>
                <a:rPr lang="en-US" sz="1100" kern="120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4033957-0EFE-4329-90FD-EA0B2493A7A5}"/>
              </a:ext>
            </a:extLst>
          </p:cNvPr>
          <p:cNvSpPr>
            <a:spLocks noGrp="1"/>
          </p:cNvSpPr>
          <p:nvPr>
            <p:ph type="ctrTitle" hasCustomPrompt="1"/>
          </p:nvPr>
        </p:nvSpPr>
        <p:spPr>
          <a:xfrm>
            <a:off x="2697480" y="1451250"/>
            <a:ext cx="9189490" cy="2325458"/>
          </a:xfrm>
        </p:spPr>
        <p:txBody>
          <a:bodyPr anchor="b"/>
          <a:lstStyle>
            <a:lvl1pPr algn="l">
              <a:lnSpc>
                <a:spcPct val="100000"/>
              </a:lnSpc>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3" name="Subtitle">
            <a:extLst>
              <a:ext uri="{FF2B5EF4-FFF2-40B4-BE49-F238E27FC236}">
                <a16:creationId xmlns:a16="http://schemas.microsoft.com/office/drawing/2014/main" id="{D880B134-6E98-45E8-A3FF-0D4A8170A59B}"/>
              </a:ext>
            </a:extLst>
          </p:cNvPr>
          <p:cNvSpPr>
            <a:spLocks noGrp="1"/>
          </p:cNvSpPr>
          <p:nvPr>
            <p:ph type="subTitle" idx="1" hasCustomPrompt="1"/>
          </p:nvPr>
        </p:nvSpPr>
        <p:spPr>
          <a:xfrm>
            <a:off x="2697480" y="3799920"/>
            <a:ext cx="9189490" cy="2325458"/>
          </a:xfrm>
        </p:spPr>
        <p:txBody>
          <a:bodyPr lIns="0"/>
          <a:lstStyle>
            <a:lvl1pPr marL="0" indent="0" algn="l">
              <a:lnSpc>
                <a:spcPct val="100000"/>
              </a:lnSpc>
              <a:buNone/>
              <a:defRPr sz="32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Type subtitle here</a:t>
            </a:r>
          </a:p>
        </p:txBody>
      </p:sp>
    </p:spTree>
    <p:custDataLst>
      <p:tags r:id="rId1"/>
    </p:custDataLst>
    <p:extLst>
      <p:ext uri="{BB962C8B-B14F-4D97-AF65-F5344CB8AC3E}">
        <p14:creationId xmlns:p14="http://schemas.microsoft.com/office/powerpoint/2010/main" val="1220641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60" y="366471"/>
            <a:ext cx="8768256" cy="2293938"/>
          </a:xfrm>
        </p:spPr>
        <p:txBody>
          <a:bodyPr anchor="b"/>
          <a:lstStyle>
            <a:lvl1pPr>
              <a:defRPr sz="4400">
                <a:solidFill>
                  <a:schemeClr val="tx2"/>
                </a:solidFill>
              </a:defRPr>
            </a:lvl1pPr>
          </a:lstStyle>
          <a:p>
            <a:r>
              <a:rPr lang="en-US"/>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60" y="2688190"/>
            <a:ext cx="8768256" cy="2098121"/>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Enter subtitle</a:t>
            </a:r>
          </a:p>
        </p:txBody>
      </p:sp>
      <p:grpSp>
        <p:nvGrpSpPr>
          <p:cNvPr id="12" name="Background">
            <a:extLst>
              <a:ext uri="{FF2B5EF4-FFF2-40B4-BE49-F238E27FC236}">
                <a16:creationId xmlns:a16="http://schemas.microsoft.com/office/drawing/2014/main" id="{08931424-66E6-477A-95D2-2C5E26F414C7}"/>
              </a:ext>
            </a:extLst>
          </p:cNvPr>
          <p:cNvGrpSpPr/>
          <p:nvPr/>
        </p:nvGrpSpPr>
        <p:grpSpPr>
          <a:xfrm>
            <a:off x="656659" y="-1"/>
            <a:ext cx="11535342" cy="6858001"/>
            <a:chOff x="656659" y="-1"/>
            <a:chExt cx="11535342" cy="6858001"/>
          </a:xfrm>
        </p:grpSpPr>
        <p:sp>
          <p:nvSpPr>
            <p:cNvPr id="14" name="CubeFront">
              <a:extLst>
                <a:ext uri="{FF2B5EF4-FFF2-40B4-BE49-F238E27FC236}">
                  <a16:creationId xmlns:a16="http://schemas.microsoft.com/office/drawing/2014/main" id="{1BDF6026-D674-4E63-8B3A-CBDFE9E787C1}"/>
                </a:ext>
                <a:ext uri="{C183D7F6-B498-43B3-948B-1728B52AA6E4}">
                  <adec:decorative xmlns:adec="http://schemas.microsoft.com/office/drawing/2017/decorative" val="1"/>
                </a:ext>
              </a:extLst>
            </p:cNvPr>
            <p:cNvSpPr/>
            <p:nvPr/>
          </p:nvSpPr>
          <p:spPr>
            <a:xfrm>
              <a:off x="672321" y="5917721"/>
              <a:ext cx="4282108" cy="9402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beTop">
              <a:extLst>
                <a:ext uri="{FF2B5EF4-FFF2-40B4-BE49-F238E27FC236}">
                  <a16:creationId xmlns:a16="http://schemas.microsoft.com/office/drawing/2014/main" id="{06BB4668-D264-4030-8700-4F9782A61534}"/>
                </a:ext>
                <a:ext uri="{C183D7F6-B498-43B3-948B-1728B52AA6E4}">
                  <adec:decorative xmlns:adec="http://schemas.microsoft.com/office/drawing/2017/decorative" val="1"/>
                </a:ext>
              </a:extLst>
            </p:cNvPr>
            <p:cNvSpPr/>
            <p:nvPr/>
          </p:nvSpPr>
          <p:spPr>
            <a:xfrm>
              <a:off x="656659" y="4071144"/>
              <a:ext cx="11535342" cy="2786856"/>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BKG-RT">
              <a:extLst>
                <a:ext uri="{FF2B5EF4-FFF2-40B4-BE49-F238E27FC236}">
                  <a16:creationId xmlns:a16="http://schemas.microsoft.com/office/drawing/2014/main" id="{8E17F594-599B-4FD9-8BCB-8E1C019CCB44}"/>
                </a:ext>
                <a:ext uri="{C183D7F6-B498-43B3-948B-1728B52AA6E4}">
                  <adec:decorative xmlns:adec="http://schemas.microsoft.com/office/drawing/2017/decorative" val="1"/>
                </a:ext>
              </a:extLst>
            </p:cNvPr>
            <p:cNvSpPr/>
            <p:nvPr/>
          </p:nvSpPr>
          <p:spPr>
            <a:xfrm>
              <a:off x="9175265" y="-1"/>
              <a:ext cx="3016735" cy="478631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0" y="393065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7" name="Icons">
              <a:extLst>
                <a:ext uri="{FF2B5EF4-FFF2-40B4-BE49-F238E27FC236}">
                  <a16:creationId xmlns:a16="http://schemas.microsoft.com/office/drawing/2014/main" id="{3826BD34-BA31-4D91-BFD2-6BBD94A51D24}"/>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tretch>
              <a:fillRect/>
            </a:stretch>
          </p:blipFill>
          <p:spPr>
            <a:xfrm>
              <a:off x="1017429" y="4011878"/>
              <a:ext cx="11174571" cy="2846121"/>
            </a:xfrm>
            <a:prstGeom prst="rect">
              <a:avLst/>
            </a:prstGeom>
          </p:spPr>
        </p:pic>
        <p:sp>
          <p:nvSpPr>
            <p:cNvPr id="18" name="CopyBackground">
              <a:extLst>
                <a:ext uri="{FF2B5EF4-FFF2-40B4-BE49-F238E27FC236}">
                  <a16:creationId xmlns:a16="http://schemas.microsoft.com/office/drawing/2014/main" id="{3994923B-6EFE-4BB7-A3B5-632436E91DB9}"/>
                </a:ext>
              </a:extLst>
            </p:cNvPr>
            <p:cNvSpPr/>
            <p:nvPr/>
          </p:nvSpPr>
          <p:spPr>
            <a:xfrm>
              <a:off x="7622849"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pyright">
              <a:extLst>
                <a:ext uri="{FF2B5EF4-FFF2-40B4-BE49-F238E27FC236}">
                  <a16:creationId xmlns:a16="http://schemas.microsoft.com/office/drawing/2014/main" id="{D87DDC37-6AB4-424A-BA07-3B0AF81A1053}"/>
                </a:ext>
              </a:extLst>
            </p:cNvPr>
            <p:cNvSpPr txBox="1"/>
            <p:nvPr/>
          </p:nvSpPr>
          <p:spPr>
            <a:xfrm>
              <a:off x="7538162" y="657989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Tree>
    <p:custDataLst>
      <p:tags r:id="rId1"/>
    </p:custDataLst>
    <p:extLst>
      <p:ext uri="{BB962C8B-B14F-4D97-AF65-F5344CB8AC3E}">
        <p14:creationId xmlns:p14="http://schemas.microsoft.com/office/powerpoint/2010/main" val="3167987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Variant">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8D6A50E3-62DD-469F-A4B4-2DC279107EB8}"/>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1" name="BKG-BM">
              <a:extLst>
                <a:ext uri="{FF2B5EF4-FFF2-40B4-BE49-F238E27FC236}">
                  <a16:creationId xmlns:a16="http://schemas.microsoft.com/office/drawing/2014/main" id="{165087FF-D0AD-4AD7-B899-B2227A662904}"/>
                </a:ext>
                <a:ext uri="{C183D7F6-B498-43B3-948B-1728B52AA6E4}">
                  <adec:decorative xmlns:adec="http://schemas.microsoft.com/office/drawing/2017/decorative" val="1"/>
                </a:ext>
              </a:extLst>
            </p:cNvPr>
            <p:cNvSpPr/>
            <p:nvPr/>
          </p:nvSpPr>
          <p:spPr>
            <a:xfrm>
              <a:off x="0" y="5576341"/>
              <a:ext cx="11062270" cy="12816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81DABB71-298F-46E6-9028-558C99DF72DF}"/>
                </a:ext>
                <a:ext uri="{C183D7F6-B498-43B3-948B-1728B52AA6E4}">
                  <adec:decorative xmlns:adec="http://schemas.microsoft.com/office/drawing/2017/decorative" val="1"/>
                </a:ext>
              </a:extLst>
            </p:cNvPr>
            <p:cNvSpPr/>
            <p:nvPr/>
          </p:nvSpPr>
          <p:spPr>
            <a:xfrm>
              <a:off x="9669645" y="0"/>
              <a:ext cx="2522355" cy="143198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31FFCCD2-46F8-4A8C-9D8D-34F0218F69C7}"/>
                </a:ext>
                <a:ext uri="{C183D7F6-B498-43B3-948B-1728B52AA6E4}">
                  <adec:decorative xmlns:adec="http://schemas.microsoft.com/office/drawing/2017/decorative" val="1"/>
                </a:ext>
              </a:extLst>
            </p:cNvPr>
            <p:cNvSpPr/>
            <p:nvPr/>
          </p:nvSpPr>
          <p:spPr>
            <a:xfrm>
              <a:off x="9519222" y="0"/>
              <a:ext cx="1543050" cy="6858000"/>
            </a:xfrm>
            <a:custGeom>
              <a:avLst/>
              <a:gdLst>
                <a:gd name="connsiteX0" fmla="*/ 0 w 1533524"/>
                <a:gd name="connsiteY0" fmla="*/ 0 h 6858000"/>
                <a:gd name="connsiteX1" fmla="*/ 1533524 w 1533524"/>
                <a:gd name="connsiteY1" fmla="*/ 0 h 6858000"/>
                <a:gd name="connsiteX2" fmla="*/ 1533524 w 1533524"/>
                <a:gd name="connsiteY2" fmla="*/ 6858000 h 6858000"/>
                <a:gd name="connsiteX3" fmla="*/ 0 w 1533524"/>
                <a:gd name="connsiteY3" fmla="*/ 6858000 h 6858000"/>
                <a:gd name="connsiteX4" fmla="*/ 0 w 1533524"/>
                <a:gd name="connsiteY4" fmla="*/ 0 h 6858000"/>
                <a:gd name="connsiteX0" fmla="*/ 0 w 1533524"/>
                <a:gd name="connsiteY0" fmla="*/ 0 h 6858000"/>
                <a:gd name="connsiteX1" fmla="*/ 190500 w 1533524"/>
                <a:gd name="connsiteY1" fmla="*/ 0 h 6858000"/>
                <a:gd name="connsiteX2" fmla="*/ 1533524 w 1533524"/>
                <a:gd name="connsiteY2" fmla="*/ 0 h 6858000"/>
                <a:gd name="connsiteX3" fmla="*/ 1533524 w 1533524"/>
                <a:gd name="connsiteY3" fmla="*/ 6858000 h 6858000"/>
                <a:gd name="connsiteX4" fmla="*/ 0 w 1533524"/>
                <a:gd name="connsiteY4" fmla="*/ 6858000 h 6858000"/>
                <a:gd name="connsiteX5" fmla="*/ 0 w 1533524"/>
                <a:gd name="connsiteY5"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0 w 1533525"/>
                <a:gd name="connsiteY5" fmla="*/ 6858000 h 6858000"/>
                <a:gd name="connsiteX6" fmla="*/ 0 w 1533525"/>
                <a:gd name="connsiteY6"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1333500 w 1533525"/>
                <a:gd name="connsiteY5" fmla="*/ 6858000 h 6858000"/>
                <a:gd name="connsiteX6" fmla="*/ 0 w 1533525"/>
                <a:gd name="connsiteY6" fmla="*/ 6858000 h 6858000"/>
                <a:gd name="connsiteX7" fmla="*/ 0 w 1533525"/>
                <a:gd name="connsiteY7"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9525 w 1543050"/>
                <a:gd name="connsiteY6" fmla="*/ 6858000 h 6858000"/>
                <a:gd name="connsiteX7" fmla="*/ 0 w 1543050"/>
                <a:gd name="connsiteY7" fmla="*/ 5591175 h 6858000"/>
                <a:gd name="connsiteX8" fmla="*/ 9525 w 1543050"/>
                <a:gd name="connsiteY8"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0 w 1543050"/>
                <a:gd name="connsiteY6" fmla="*/ 5591175 h 6858000"/>
                <a:gd name="connsiteX7" fmla="*/ 9525 w 1543050"/>
                <a:gd name="connsiteY7" fmla="*/ 0 h 6858000"/>
                <a:gd name="connsiteX0" fmla="*/ 9525 w 1543050"/>
                <a:gd name="connsiteY0" fmla="*/ 0 h 6858000"/>
                <a:gd name="connsiteX1" fmla="*/ 200025 w 1543050"/>
                <a:gd name="connsiteY1" fmla="*/ 0 h 6858000"/>
                <a:gd name="connsiteX2" fmla="*/ 1543050 w 1543050"/>
                <a:gd name="connsiteY2" fmla="*/ 1343025 h 6858000"/>
                <a:gd name="connsiteX3" fmla="*/ 1543049 w 1543050"/>
                <a:gd name="connsiteY3" fmla="*/ 6858000 h 6858000"/>
                <a:gd name="connsiteX4" fmla="*/ 1343025 w 1543050"/>
                <a:gd name="connsiteY4" fmla="*/ 6858000 h 6858000"/>
                <a:gd name="connsiteX5" fmla="*/ 0 w 1543050"/>
                <a:gd name="connsiteY5" fmla="*/ 5591175 h 6858000"/>
                <a:gd name="connsiteX6" fmla="*/ 9525 w 154305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3050" h="6858000">
                  <a:moveTo>
                    <a:pt x="9525" y="0"/>
                  </a:moveTo>
                  <a:lnTo>
                    <a:pt x="200025" y="0"/>
                  </a:lnTo>
                  <a:lnTo>
                    <a:pt x="1543050" y="1343025"/>
                  </a:lnTo>
                  <a:cubicBezTo>
                    <a:pt x="1543050" y="3181350"/>
                    <a:pt x="1543049" y="5019675"/>
                    <a:pt x="1543049" y="6858000"/>
                  </a:cubicBezTo>
                  <a:lnTo>
                    <a:pt x="1343025" y="6858000"/>
                  </a:lnTo>
                  <a:lnTo>
                    <a:pt x="0" y="5591175"/>
                  </a:lnTo>
                  <a:lnTo>
                    <a:pt x="952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7E222A23-E698-4993-93A7-9606CF977314}"/>
                </a:ext>
                <a:ext uri="{C183D7F6-B498-43B3-948B-1728B52AA6E4}">
                  <adec:decorative xmlns:adec="http://schemas.microsoft.com/office/drawing/2017/decorative" val="1"/>
                </a:ext>
              </a:extLst>
            </p:cNvPr>
            <p:cNvSpPr/>
            <p:nvPr/>
          </p:nvSpPr>
          <p:spPr>
            <a:xfrm>
              <a:off x="11062271" y="1339850"/>
              <a:ext cx="1129729" cy="551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2" name="Copyright">
              <a:extLst>
                <a:ext uri="{FF2B5EF4-FFF2-40B4-BE49-F238E27FC236}">
                  <a16:creationId xmlns:a16="http://schemas.microsoft.com/office/drawing/2014/main" id="{2BDDDA44-1049-4257-AA44-8A620E1B69F0}"/>
                </a:ext>
              </a:extLst>
            </p:cNvPr>
            <p:cNvSpPr txBox="1"/>
            <p:nvPr/>
          </p:nvSpPr>
          <p:spPr>
            <a:xfrm>
              <a:off x="342029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59" y="831163"/>
            <a:ext cx="9153461" cy="2293938"/>
          </a:xfrm>
        </p:spPr>
        <p:txBody>
          <a:bodyPr anchor="b"/>
          <a:lstStyle>
            <a:lvl1pPr>
              <a:defRPr sz="4400">
                <a:solidFill>
                  <a:schemeClr val="tx2"/>
                </a:solidFill>
              </a:defRPr>
            </a:lvl1pPr>
          </a:lstStyle>
          <a:p>
            <a:r>
              <a:rPr lang="en-US"/>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59" y="3152882"/>
            <a:ext cx="9153461" cy="2423459"/>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Enter subtitle</a:t>
            </a:r>
          </a:p>
        </p:txBody>
      </p:sp>
    </p:spTree>
    <p:custDataLst>
      <p:tags r:id="rId1"/>
    </p:custDataLst>
    <p:extLst>
      <p:ext uri="{BB962C8B-B14F-4D97-AF65-F5344CB8AC3E}">
        <p14:creationId xmlns:p14="http://schemas.microsoft.com/office/powerpoint/2010/main" val="389894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opic Introduction">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48DE57BE-35D1-43C9-81E8-26E8A5D23F6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243"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17" name="Picture">
            <a:extLst>
              <a:ext uri="{FF2B5EF4-FFF2-40B4-BE49-F238E27FC236}">
                <a16:creationId xmlns:a16="http://schemas.microsoft.com/office/drawing/2014/main" id="{F8F6CC5A-3CF0-480D-B25E-574EDC100323}"/>
              </a:ext>
              <a:ext uri="{C183D7F6-B498-43B3-948B-1728B52AA6E4}">
                <adec:decorative xmlns:adec="http://schemas.microsoft.com/office/drawing/2017/decorative" val="1"/>
              </a:ext>
            </a:extLst>
          </p:cNvPr>
          <p:cNvSpPr>
            <a:spLocks noGrp="1"/>
          </p:cNvSpPr>
          <p:nvPr>
            <p:ph idx="9" hasCustomPrompt="1"/>
          </p:nvPr>
        </p:nvSpPr>
        <p:spPr>
          <a:xfrm>
            <a:off x="394931" y="2434960"/>
            <a:ext cx="3657600" cy="3657600"/>
          </a:xfrm>
        </p:spPr>
        <p:txBody>
          <a:bodyPr anchor="t"/>
          <a:lstStyle>
            <a:lvl1pPr marL="0" indent="0" algn="ctr">
              <a:buNone/>
              <a:defRPr>
                <a:solidFill>
                  <a:schemeClr val="bg1"/>
                </a:solidFill>
              </a:defRPr>
            </a:lvl1pPr>
          </a:lstStyle>
          <a:p>
            <a:r>
              <a:rPr lang="en-US"/>
              <a:t>Click icon to add image</a:t>
            </a:r>
          </a:p>
        </p:txBody>
      </p:sp>
      <p:sp>
        <p:nvSpPr>
          <p:cNvPr id="9"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161368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b Introduction">
    <p:bg>
      <p:bgPr>
        <a:solidFill>
          <a:schemeClr val="bg1"/>
        </a:solidFill>
        <a:effectLst/>
      </p:bgPr>
    </p:bg>
    <p:spTree>
      <p:nvGrpSpPr>
        <p:cNvPr id="1" name=""/>
        <p:cNvGrpSpPr/>
        <p:nvPr/>
      </p:nvGrpSpPr>
      <p:grpSpPr>
        <a:xfrm>
          <a:off x="0" y="0"/>
          <a:ext cx="0" cy="0"/>
          <a:chOff x="0" y="0"/>
          <a:chExt cx="0" cy="0"/>
        </a:xfrm>
      </p:grpSpPr>
      <p:grpSp>
        <p:nvGrpSpPr>
          <p:cNvPr id="9" name="Background Images">
            <a:extLst>
              <a:ext uri="{FF2B5EF4-FFF2-40B4-BE49-F238E27FC236}">
                <a16:creationId xmlns:a16="http://schemas.microsoft.com/office/drawing/2014/main" id="{EF85A022-A363-4CD9-B810-5976000CBBC0}"/>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0" name="BKG-LT">
              <a:extLst>
                <a:ext uri="{FF2B5EF4-FFF2-40B4-BE49-F238E27FC236}">
                  <a16:creationId xmlns:a16="http://schemas.microsoft.com/office/drawing/2014/main" id="{2D6722E9-1C81-4073-B0F0-1BD01679C8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AWS Logo">
              <a:extLst>
                <a:ext uri="{FF2B5EF4-FFF2-40B4-BE49-F238E27FC236}">
                  <a16:creationId xmlns:a16="http://schemas.microsoft.com/office/drawing/2014/main" id="{E6ABDCA0-5043-47E4-83F1-F456F798534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3" name="Copyright">
              <a:extLst>
                <a:ext uri="{FF2B5EF4-FFF2-40B4-BE49-F238E27FC236}">
                  <a16:creationId xmlns:a16="http://schemas.microsoft.com/office/drawing/2014/main" id="{425BF081-3501-45D0-B151-25BF351B0599}"/>
                </a:ext>
              </a:extLst>
            </p:cNvPr>
            <p:cNvSpPr txBox="1"/>
            <p:nvPr/>
          </p:nvSpPr>
          <p:spPr>
            <a:xfrm>
              <a:off x="6025174"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165493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Introduction">
    <p:bg>
      <p:bgPr>
        <a:solidFill>
          <a:schemeClr val="bg1"/>
        </a:solidFill>
        <a:effectLst/>
      </p:bgPr>
    </p:bg>
    <p:spTree>
      <p:nvGrpSpPr>
        <p:cNvPr id="1" name=""/>
        <p:cNvGrpSpPr/>
        <p:nvPr/>
      </p:nvGrpSpPr>
      <p:grpSpPr>
        <a:xfrm>
          <a:off x="0" y="0"/>
          <a:ext cx="0" cy="0"/>
          <a:chOff x="0" y="0"/>
          <a:chExt cx="0" cy="0"/>
        </a:xfrm>
      </p:grpSpPr>
      <p:grpSp>
        <p:nvGrpSpPr>
          <p:cNvPr id="10" name="Background Images">
            <a:extLst>
              <a:ext uri="{FF2B5EF4-FFF2-40B4-BE49-F238E27FC236}">
                <a16:creationId xmlns:a16="http://schemas.microsoft.com/office/drawing/2014/main" id="{F30563F4-C022-4AE5-AB0E-380E2398A61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2" name="BKG-LT">
              <a:extLst>
                <a:ext uri="{FF2B5EF4-FFF2-40B4-BE49-F238E27FC236}">
                  <a16:creationId xmlns:a16="http://schemas.microsoft.com/office/drawing/2014/main" id="{E69D2142-6967-490F-8396-213F1FEE99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AWS Logo">
              <a:extLst>
                <a:ext uri="{FF2B5EF4-FFF2-40B4-BE49-F238E27FC236}">
                  <a16:creationId xmlns:a16="http://schemas.microsoft.com/office/drawing/2014/main" id="{9BFD0B48-1965-4206-B782-7E2FE7076B82}"/>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4" name="Copyright">
              <a:extLst>
                <a:ext uri="{FF2B5EF4-FFF2-40B4-BE49-F238E27FC236}">
                  <a16:creationId xmlns:a16="http://schemas.microsoft.com/office/drawing/2014/main" id="{D566E69F-D97F-48A7-90BB-52DA3859B7A7}"/>
                </a:ext>
              </a:extLst>
            </p:cNvPr>
            <p:cNvSpPr txBox="1"/>
            <p:nvPr/>
          </p:nvSpPr>
          <p:spPr>
            <a:xfrm>
              <a:off x="6025174"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a:t>Type title here</a:t>
            </a:r>
          </a:p>
        </p:txBody>
      </p:sp>
      <p:sp>
        <p:nvSpPr>
          <p:cNvPr id="8" name="Description">
            <a:extLst>
              <a:ext uri="{FF2B5EF4-FFF2-40B4-BE49-F238E27FC236}">
                <a16:creationId xmlns:a16="http://schemas.microsoft.com/office/drawing/2014/main" id="{AC3C5EEC-BB22-4195-B46B-9A90302F6B57}"/>
              </a:ext>
            </a:extLst>
          </p:cNvPr>
          <p:cNvSpPr>
            <a:spLocks noGrp="1"/>
          </p:cNvSpPr>
          <p:nvPr>
            <p:ph type="body" idx="2" hasCustomPrompt="1"/>
          </p:nvPr>
        </p:nvSpPr>
        <p:spPr>
          <a:xfrm>
            <a:off x="243681" y="2257424"/>
            <a:ext cx="3960813" cy="4177325"/>
          </a:xfrm>
        </p:spPr>
        <p:txBody>
          <a:bodyPr/>
          <a:lstStyle>
            <a:lvl1pPr marL="0" indent="0" algn="ctr">
              <a:buNone/>
              <a:defRPr>
                <a:solidFill>
                  <a:schemeClr val="bg1"/>
                </a:solidFill>
              </a:defRPr>
            </a:lvl1pPr>
          </a:lstStyle>
          <a:p>
            <a:r>
              <a:rPr lang="en-US" sz="2800"/>
              <a:t>Enter description</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744502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hank You">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A3DF3DE-0044-49A0-893D-4AE69524AE45}"/>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92" name="BKG-TP">
              <a:extLst>
                <a:ext uri="{FF2B5EF4-FFF2-40B4-BE49-F238E27FC236}">
                  <a16:creationId xmlns:a16="http://schemas.microsoft.com/office/drawing/2014/main" id="{80E539AA-5F27-4E27-A2EB-0002A460B024}"/>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0BD8C101-546C-4D96-9A74-D006A704F407}"/>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AEE440B8-B31E-487C-92A7-B1713A372E58}"/>
                </a:ext>
                <a:ext uri="{C183D7F6-B498-43B3-948B-1728B52AA6E4}">
                  <adec:decorative xmlns:adec="http://schemas.microsoft.com/office/drawing/2017/decorative" val="1"/>
                </a:ext>
              </a:extLst>
            </p:cNvPr>
            <p:cNvSpPr/>
            <p:nvPr/>
          </p:nvSpPr>
          <p:spPr>
            <a:xfrm>
              <a:off x="2552700" y="942975"/>
              <a:ext cx="9639300" cy="59150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7710" y="5789538"/>
              <a:ext cx="1097280" cy="656183"/>
            </a:xfrm>
            <a:prstGeom prst="rect">
              <a:avLst/>
            </a:prstGeom>
          </p:spPr>
        </p:pic>
        <p:sp>
          <p:nvSpPr>
            <p:cNvPr id="11" name="Copyright">
              <a:extLst>
                <a:ext uri="{FF2B5EF4-FFF2-40B4-BE49-F238E27FC236}">
                  <a16:creationId xmlns:a16="http://schemas.microsoft.com/office/drawing/2014/main" id="{DF9E4172-9EB6-4421-9EA3-78F3EDED9A1F}"/>
                </a:ext>
              </a:extLst>
            </p:cNvPr>
            <p:cNvSpPr txBox="1"/>
            <p:nvPr/>
          </p:nvSpPr>
          <p:spPr>
            <a:xfrm>
              <a:off x="506804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B23121D6-781A-4B6C-8D9B-3A8188A614AE}" type="slidenum">
              <a:rPr lang="en-US" smtClean="0"/>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2663862" y="1135062"/>
            <a:ext cx="9341063" cy="4049824"/>
          </a:xfrm>
        </p:spPr>
        <p:txBody>
          <a:bodyPr anchor="ctr"/>
          <a:lstStyle>
            <a:lvl1pPr>
              <a:defRPr sz="4400">
                <a:solidFill>
                  <a:schemeClr val="bg2"/>
                </a:solidFill>
              </a:defRPr>
            </a:lvl1pPr>
          </a:lstStyle>
          <a:p>
            <a:r>
              <a:rPr lang="en-US"/>
              <a:t>Thank you text</a:t>
            </a:r>
          </a:p>
        </p:txBody>
      </p:sp>
      <p:sp>
        <p:nvSpPr>
          <p:cNvPr id="5" name="Text Placeholder 4">
            <a:extLst>
              <a:ext uri="{FF2B5EF4-FFF2-40B4-BE49-F238E27FC236}">
                <a16:creationId xmlns:a16="http://schemas.microsoft.com/office/drawing/2014/main" id="{443878D9-CEC0-4A66-83CE-7ED3CE53FBDC}"/>
              </a:ext>
            </a:extLst>
          </p:cNvPr>
          <p:cNvSpPr>
            <a:spLocks noGrp="1"/>
          </p:cNvSpPr>
          <p:nvPr>
            <p:ph type="body" sz="quarter" idx="21"/>
          </p:nvPr>
        </p:nvSpPr>
        <p:spPr>
          <a:xfrm>
            <a:off x="2551176" y="5212080"/>
            <a:ext cx="9637776" cy="400110"/>
          </a:xfrm>
        </p:spPr>
        <p:txBody>
          <a:bodyPr>
            <a:spAutoFit/>
          </a:bodyPr>
          <a:lstStyle>
            <a:lvl1pPr marL="0" indent="0">
              <a:buNone/>
              <a:defRPr lang="en-US" sz="2000" kern="1200" dirty="0" smtClean="0">
                <a:solidFill>
                  <a:schemeClr val="bg2"/>
                </a:solidFill>
                <a:latin typeface="+mn-lt"/>
                <a:ea typeface="+mn-ea"/>
                <a:cs typeface="+mn-cs"/>
              </a:defRPr>
            </a:lvl1pPr>
            <a:lvl2pPr marL="227012" indent="0">
              <a:buNone/>
              <a:defRPr lang="en-US" sz="2000" kern="1200" dirty="0" smtClean="0">
                <a:solidFill>
                  <a:schemeClr val="bg2"/>
                </a:solidFill>
                <a:latin typeface="+mn-lt"/>
                <a:ea typeface="+mn-ea"/>
                <a:cs typeface="+mn-cs"/>
              </a:defRPr>
            </a:lvl2pPr>
            <a:lvl3pPr marL="455612" indent="0">
              <a:buNone/>
              <a:defRPr lang="en-US" sz="2000" kern="1200" dirty="0" smtClean="0">
                <a:solidFill>
                  <a:schemeClr val="bg2"/>
                </a:solidFill>
                <a:latin typeface="+mn-lt"/>
                <a:ea typeface="+mn-ea"/>
                <a:cs typeface="+mn-cs"/>
              </a:defRPr>
            </a:lvl3pPr>
            <a:lvl4pPr marL="684212" indent="0">
              <a:buNone/>
              <a:defRPr lang="en-US" sz="2000" kern="1200" dirty="0" smtClean="0">
                <a:solidFill>
                  <a:schemeClr val="bg2"/>
                </a:solidFill>
                <a:latin typeface="+mn-lt"/>
                <a:ea typeface="+mn-ea"/>
                <a:cs typeface="+mn-cs"/>
              </a:defRPr>
            </a:lvl4pPr>
            <a:lvl5pPr marL="912812" indent="0">
              <a:buNone/>
              <a:defRPr lang="en-US" sz="2000" kern="1200" dirty="0">
                <a:solidFill>
                  <a:schemeClr val="bg2"/>
                </a:solidFill>
                <a:latin typeface="+mn-lt"/>
                <a:ea typeface="+mn-ea"/>
                <a:cs typeface="+mn-cs"/>
              </a:defRPr>
            </a:lvl5pPr>
          </a:lstStyle>
          <a:p>
            <a:pPr lvl="0"/>
            <a:r>
              <a:rPr lang="en-US"/>
              <a:t>Edit Master text styles</a:t>
            </a:r>
          </a:p>
        </p:txBody>
      </p:sp>
    </p:spTree>
    <p:custDataLst>
      <p:tags r:id="rId1"/>
    </p:custDataLst>
    <p:extLst>
      <p:ext uri="{BB962C8B-B14F-4D97-AF65-F5344CB8AC3E}">
        <p14:creationId xmlns:p14="http://schemas.microsoft.com/office/powerpoint/2010/main" val="2330384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56064E0D-105A-4446-B967-229FA49D135D}"/>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08870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279CDF30-3118-4A2F-93E0-DACD532E91B1}"/>
                </a:ext>
                <a:ext uri="{C183D7F6-B498-43B3-948B-1728B52AA6E4}">
                  <adec:decorative xmlns:adec="http://schemas.microsoft.com/office/drawing/2017/decorative" val="1"/>
                </a:ext>
              </a:extLst>
            </p:cNvPr>
            <p:cNvSpPr/>
            <p:nvPr/>
          </p:nvSpPr>
          <p:spPr>
            <a:xfrm>
              <a:off x="0" y="4327524"/>
              <a:ext cx="1685925" cy="2530476"/>
            </a:xfrm>
            <a:custGeom>
              <a:avLst/>
              <a:gdLst>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0 h 2530475"/>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 name="connsiteX5" fmla="*/ 0 w 1685925"/>
                <a:gd name="connsiteY5" fmla="*/ 0 h 2530475"/>
                <a:gd name="connsiteX0" fmla="*/ 0 w 1685925"/>
                <a:gd name="connsiteY0" fmla="*/ 1673226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925" h="2530475">
                  <a:moveTo>
                    <a:pt x="0" y="1673226"/>
                  </a:moveTo>
                  <a:lnTo>
                    <a:pt x="1685925" y="0"/>
                  </a:lnTo>
                  <a:lnTo>
                    <a:pt x="1685925" y="2530475"/>
                  </a:lnTo>
                  <a:lnTo>
                    <a:pt x="0" y="2530475"/>
                  </a:lnTo>
                  <a:lnTo>
                    <a:pt x="0" y="167322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4E6250DE-D4BC-48A7-942E-7C927E2BAC70}"/>
                </a:ext>
                <a:ext uri="{C183D7F6-B498-43B3-948B-1728B52AA6E4}">
                  <adec:decorative xmlns:adec="http://schemas.microsoft.com/office/drawing/2017/decorative" val="1"/>
                </a:ext>
              </a:extLst>
            </p:cNvPr>
            <p:cNvSpPr/>
            <p:nvPr/>
          </p:nvSpPr>
          <p:spPr>
            <a:xfrm>
              <a:off x="1685544" y="4327525"/>
              <a:ext cx="10506456" cy="2530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88" name="Icons">
              <a:extLst>
                <a:ext uri="{FF2B5EF4-FFF2-40B4-BE49-F238E27FC236}">
                  <a16:creationId xmlns:a16="http://schemas.microsoft.com/office/drawing/2014/main" id="{2697E9D6-D133-4E57-BD63-82D9E5002F18}"/>
                </a:ext>
                <a:ext uri="{C183D7F6-B498-43B3-948B-1728B52AA6E4}">
                  <adec:decorative xmlns:adec="http://schemas.microsoft.com/office/drawing/2017/decorative" val="1"/>
                </a:ext>
              </a:extLst>
            </p:cNvPr>
            <p:cNvPicPr>
              <a:picLocks noChangeAspect="1"/>
            </p:cNvPicPr>
            <p:nvPr/>
          </p:nvPicPr>
          <p:blipFill rotWithShape="1">
            <a:blip r:embed="rId3" cstate="screen">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rcRect/>
            <a:stretch/>
          </p:blipFill>
          <p:spPr>
            <a:xfrm>
              <a:off x="1685544" y="4327524"/>
              <a:ext cx="10506456" cy="2530476"/>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3" name="CopyBackground">
              <a:extLst>
                <a:ext uri="{FF2B5EF4-FFF2-40B4-BE49-F238E27FC236}">
                  <a16:creationId xmlns:a16="http://schemas.microsoft.com/office/drawing/2014/main" id="{1A4014FF-ACF4-448A-8B91-F0495D354D3F}"/>
                </a:ext>
              </a:extLst>
            </p:cNvPr>
            <p:cNvSpPr/>
            <p:nvPr/>
          </p:nvSpPr>
          <p:spPr>
            <a:xfrm>
              <a:off x="4712264"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pyright">
              <a:extLst>
                <a:ext uri="{FF2B5EF4-FFF2-40B4-BE49-F238E27FC236}">
                  <a16:creationId xmlns:a16="http://schemas.microsoft.com/office/drawing/2014/main" id="{DFC9E3DE-5A7A-4B9A-94F3-0CC48D54301B}"/>
                </a:ext>
              </a:extLst>
            </p:cNvPr>
            <p:cNvSpPr txBox="1"/>
            <p:nvPr/>
          </p:nvSpPr>
          <p:spPr>
            <a:xfrm>
              <a:off x="4632211" y="657989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080843"/>
            <a:ext cx="10218737" cy="2081104"/>
          </a:xfrm>
        </p:spPr>
        <p:txBody>
          <a:bodyPr anchor="ctr"/>
          <a:lstStyle>
            <a:lvl1pPr>
              <a:defRPr sz="4400">
                <a:solidFill>
                  <a:schemeClr val="bg2"/>
                </a:solidFill>
              </a:defRPr>
            </a:lvl1pPr>
          </a:lstStyle>
          <a:p>
            <a:r>
              <a:rPr lang="en-US"/>
              <a:t>Thank you text</a:t>
            </a:r>
          </a:p>
        </p:txBody>
      </p:sp>
      <p:sp>
        <p:nvSpPr>
          <p:cNvPr id="7" name="Copyright">
            <a:extLst>
              <a:ext uri="{FF2B5EF4-FFF2-40B4-BE49-F238E27FC236}">
                <a16:creationId xmlns:a16="http://schemas.microsoft.com/office/drawing/2014/main" id="{9059CC6B-AB9C-4283-9882-8F50E8C832F7}"/>
              </a:ext>
            </a:extLst>
          </p:cNvPr>
          <p:cNvSpPr txBox="1"/>
          <p:nvPr/>
        </p:nvSpPr>
        <p:spPr>
          <a:xfrm>
            <a:off x="667750" y="3161947"/>
            <a:ext cx="10218737" cy="1154162"/>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sz="2300">
                <a:solidFill>
                  <a:schemeClr val="bg2"/>
                </a:solidFill>
              </a:rPr>
              <a:t>Corrections, feedback, or other questions? </a:t>
            </a:r>
            <a:br>
              <a:rPr lang="en-US" sz="2300">
                <a:solidFill>
                  <a:schemeClr val="bg2"/>
                </a:solidFill>
              </a:rPr>
            </a:br>
            <a:r>
              <a:rPr lang="en-US" sz="2300">
                <a:solidFill>
                  <a:schemeClr val="bg2"/>
                </a:solidFill>
              </a:rPr>
              <a:t>Contact us at </a:t>
            </a:r>
            <a:r>
              <a:rPr lang="en-US" sz="2300" u="sng">
                <a:solidFill>
                  <a:schemeClr val="bg2"/>
                </a:solidFill>
              </a:rPr>
              <a:t>https://support.aws.amazon.com/#/contacts/aws-training</a:t>
            </a:r>
            <a:r>
              <a:rPr lang="en-US" sz="2300">
                <a:solidFill>
                  <a:schemeClr val="bg2"/>
                </a:solidFill>
              </a:rPr>
              <a:t>. </a:t>
            </a:r>
            <a:br>
              <a:rPr lang="en-US" sz="2300">
                <a:solidFill>
                  <a:schemeClr val="bg2"/>
                </a:solidFill>
              </a:rPr>
            </a:br>
            <a:r>
              <a:rPr lang="en-US" sz="2300">
                <a:solidFill>
                  <a:schemeClr val="bg2"/>
                </a:solidFill>
              </a:rPr>
              <a:t>All trademarks are the property of their owners.</a:t>
            </a:r>
          </a:p>
        </p:txBody>
      </p:sp>
    </p:spTree>
    <p:custDataLst>
      <p:tags r:id="rId1"/>
    </p:custDataLst>
    <p:extLst>
      <p:ext uri="{BB962C8B-B14F-4D97-AF65-F5344CB8AC3E}">
        <p14:creationId xmlns:p14="http://schemas.microsoft.com/office/powerpoint/2010/main" val="392123623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C4FACA1-07DC-44B9-A79C-2B7C9D1B9221}"/>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CubeBack">
              <a:extLst>
                <a:ext uri="{FF2B5EF4-FFF2-40B4-BE49-F238E27FC236}">
                  <a16:creationId xmlns:a16="http://schemas.microsoft.com/office/drawing/2014/main" id="{9BA1593B-ADE5-482C-A193-F57F78F9B860}"/>
                </a:ext>
                <a:ext uri="{C183D7F6-B498-43B3-948B-1728B52AA6E4}">
                  <adec:decorative xmlns:adec="http://schemas.microsoft.com/office/drawing/2017/decorative" val="1"/>
                </a:ext>
              </a:extLst>
            </p:cNvPr>
            <p:cNvSpPr/>
            <p:nvPr/>
          </p:nvSpPr>
          <p:spPr>
            <a:xfrm>
              <a:off x="10547164" y="0"/>
              <a:ext cx="1644836" cy="516442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 name="connsiteX0" fmla="*/ 15888 w 3073872"/>
                <a:gd name="connsiteY0" fmla="*/ 0 h 4621213"/>
                <a:gd name="connsiteX1" fmla="*/ 3073414 w 3073872"/>
                <a:gd name="connsiteY1" fmla="*/ 0 h 4621213"/>
                <a:gd name="connsiteX2" fmla="*/ 3073414 w 3073872"/>
                <a:gd name="connsiteY2" fmla="*/ 4621213 h 4621213"/>
                <a:gd name="connsiteX3" fmla="*/ 0 w 3073872"/>
                <a:gd name="connsiteY3" fmla="*/ 4091237 h 4621213"/>
                <a:gd name="connsiteX4" fmla="*/ 15888 w 3073872"/>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7 w 3057984"/>
                <a:gd name="connsiteY3" fmla="*/ 4091237 h 4621213"/>
                <a:gd name="connsiteX4" fmla="*/ 0 w 3057984"/>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6 w 3057984"/>
                <a:gd name="connsiteY3" fmla="*/ 4114178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15886" y="4114178"/>
                  </a:lnTo>
                  <a:cubicBezTo>
                    <a:pt x="10590" y="2750432"/>
                    <a:pt x="5296" y="1363746"/>
                    <a:pt x="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6" name="CubeFront">
              <a:extLst>
                <a:ext uri="{FF2B5EF4-FFF2-40B4-BE49-F238E27FC236}">
                  <a16:creationId xmlns:a16="http://schemas.microsoft.com/office/drawing/2014/main" id="{A301667F-582A-4041-A2DA-F90362AE9A01}"/>
                </a:ext>
                <a:ext uri="{C183D7F6-B498-43B3-948B-1728B52AA6E4}">
                  <adec:decorative xmlns:adec="http://schemas.microsoft.com/office/drawing/2017/decorative" val="1"/>
                </a:ext>
              </a:extLst>
            </p:cNvPr>
            <p:cNvSpPr/>
            <p:nvPr/>
          </p:nvSpPr>
          <p:spPr>
            <a:xfrm>
              <a:off x="5944552" y="6094097"/>
              <a:ext cx="2303271" cy="7639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A99EDB1B-417F-40E6-B075-BDD46EDBA854}"/>
                </a:ext>
                <a:ext uri="{C183D7F6-B498-43B3-948B-1728B52AA6E4}">
                  <adec:decorative xmlns:adec="http://schemas.microsoft.com/office/drawing/2017/decorative" val="1"/>
                </a:ext>
              </a:extLst>
            </p:cNvPr>
            <p:cNvSpPr/>
            <p:nvPr/>
          </p:nvSpPr>
          <p:spPr>
            <a:xfrm>
              <a:off x="5942171" y="4579782"/>
              <a:ext cx="6249829" cy="2278218"/>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Icons">
              <a:extLst>
                <a:ext uri="{FF2B5EF4-FFF2-40B4-BE49-F238E27FC236}">
                  <a16:creationId xmlns:a16="http://schemas.microsoft.com/office/drawing/2014/main" id="{C128A75B-DB20-42AF-A3FD-12E5F3588ACE}"/>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tretch>
              <a:fillRect/>
            </a:stretch>
          </p:blipFill>
          <p:spPr>
            <a:xfrm>
              <a:off x="6472238" y="4694373"/>
              <a:ext cx="5719762" cy="2163627"/>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4" name="Copyright">
              <a:extLst>
                <a:ext uri="{FF2B5EF4-FFF2-40B4-BE49-F238E27FC236}">
                  <a16:creationId xmlns:a16="http://schemas.microsoft.com/office/drawing/2014/main" id="{6EB207FF-A323-40B5-B33E-59E364A7955B}"/>
                </a:ext>
              </a:extLst>
            </p:cNvPr>
            <p:cNvSpPr txBox="1"/>
            <p:nvPr/>
          </p:nvSpPr>
          <p:spPr>
            <a:xfrm>
              <a:off x="991688" y="6466266"/>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614746"/>
            <a:ext cx="9341063" cy="2293938"/>
          </a:xfrm>
        </p:spPr>
        <p:txBody>
          <a:bodyPr anchor="ctr"/>
          <a:lstStyle>
            <a:lvl1pPr>
              <a:defRPr sz="4400">
                <a:solidFill>
                  <a:schemeClr val="bg2"/>
                </a:solidFill>
              </a:defRPr>
            </a:lvl1pPr>
          </a:lstStyle>
          <a:p>
            <a:r>
              <a:rPr lang="en-US"/>
              <a:t>“Enter quote here.”</a:t>
            </a:r>
          </a:p>
        </p:txBody>
      </p:sp>
      <p:sp>
        <p:nvSpPr>
          <p:cNvPr id="3" name="Quoted person">
            <a:extLst>
              <a:ext uri="{FF2B5EF4-FFF2-40B4-BE49-F238E27FC236}">
                <a16:creationId xmlns:a16="http://schemas.microsoft.com/office/drawing/2014/main" id="{D420CCBA-88E9-490C-9819-C37D7A79FC0E}"/>
              </a:ext>
            </a:extLst>
          </p:cNvPr>
          <p:cNvSpPr>
            <a:spLocks noGrp="1"/>
          </p:cNvSpPr>
          <p:nvPr>
            <p:ph type="subTitle" idx="14" hasCustomPrompt="1"/>
          </p:nvPr>
        </p:nvSpPr>
        <p:spPr>
          <a:xfrm>
            <a:off x="666271" y="3922297"/>
            <a:ext cx="9340846" cy="2171799"/>
          </a:xfrm>
          <a:custGeom>
            <a:avLst/>
            <a:gdLst>
              <a:gd name="connsiteX0" fmla="*/ 0 w 9341062"/>
              <a:gd name="connsiteY0" fmla="*/ 2159767 h 2159767"/>
              <a:gd name="connsiteX1" fmla="*/ 539942 w 9341062"/>
              <a:gd name="connsiteY1" fmla="*/ 0 h 2159767"/>
              <a:gd name="connsiteX2" fmla="*/ 8801120 w 9341062"/>
              <a:gd name="connsiteY2" fmla="*/ 0 h 2159767"/>
              <a:gd name="connsiteX3" fmla="*/ 9341062 w 9341062"/>
              <a:gd name="connsiteY3" fmla="*/ 2159767 h 2159767"/>
              <a:gd name="connsiteX4" fmla="*/ 0 w 9341062"/>
              <a:gd name="connsiteY4" fmla="*/ 2159767 h 2159767"/>
              <a:gd name="connsiteX0" fmla="*/ 1479 w 9342541"/>
              <a:gd name="connsiteY0" fmla="*/ 2171799 h 2171799"/>
              <a:gd name="connsiteX1" fmla="*/ 0 w 9342541"/>
              <a:gd name="connsiteY1" fmla="*/ 0 h 2171799"/>
              <a:gd name="connsiteX2" fmla="*/ 8802599 w 9342541"/>
              <a:gd name="connsiteY2" fmla="*/ 12032 h 2171799"/>
              <a:gd name="connsiteX3" fmla="*/ 9342541 w 9342541"/>
              <a:gd name="connsiteY3" fmla="*/ 2171799 h 2171799"/>
              <a:gd name="connsiteX4" fmla="*/ 1479 w 9342541"/>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1479 w 9356052"/>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5132950 w 9356052"/>
              <a:gd name="connsiteY4" fmla="*/ 2165682 h 2171799"/>
              <a:gd name="connsiteX5" fmla="*/ 1479 w 9356052"/>
              <a:gd name="connsiteY5" fmla="*/ 2171799 h 2171799"/>
              <a:gd name="connsiteX0" fmla="*/ 1479 w 9356070"/>
              <a:gd name="connsiteY0" fmla="*/ 2171799 h 2171799"/>
              <a:gd name="connsiteX1" fmla="*/ 0 w 9356070"/>
              <a:gd name="connsiteY1" fmla="*/ 0 h 2171799"/>
              <a:gd name="connsiteX2" fmla="*/ 9356052 w 9356070"/>
              <a:gd name="connsiteY2" fmla="*/ 12032 h 2171799"/>
              <a:gd name="connsiteX3" fmla="*/ 9354572 w 9356070"/>
              <a:gd name="connsiteY3" fmla="*/ 740041 h 2171799"/>
              <a:gd name="connsiteX4" fmla="*/ 5132950 w 9356070"/>
              <a:gd name="connsiteY4" fmla="*/ 2165682 h 2171799"/>
              <a:gd name="connsiteX5" fmla="*/ 1479 w 9356070"/>
              <a:gd name="connsiteY5" fmla="*/ 2171799 h 2171799"/>
              <a:gd name="connsiteX0" fmla="*/ 1479 w 9475004"/>
              <a:gd name="connsiteY0" fmla="*/ 2171799 h 2171799"/>
              <a:gd name="connsiteX1" fmla="*/ 0 w 9475004"/>
              <a:gd name="connsiteY1" fmla="*/ 0 h 2171799"/>
              <a:gd name="connsiteX2" fmla="*/ 9356052 w 9475004"/>
              <a:gd name="connsiteY2" fmla="*/ 12032 h 2171799"/>
              <a:gd name="connsiteX3" fmla="*/ 9474888 w 9475004"/>
              <a:gd name="connsiteY3" fmla="*/ 703946 h 2171799"/>
              <a:gd name="connsiteX4" fmla="*/ 5132950 w 9475004"/>
              <a:gd name="connsiteY4" fmla="*/ 2165682 h 2171799"/>
              <a:gd name="connsiteX5" fmla="*/ 1479 w 9475004"/>
              <a:gd name="connsiteY5" fmla="*/ 2171799 h 2171799"/>
              <a:gd name="connsiteX0" fmla="*/ 1479 w 9474888"/>
              <a:gd name="connsiteY0" fmla="*/ 2171799 h 2171799"/>
              <a:gd name="connsiteX1" fmla="*/ 0 w 9474888"/>
              <a:gd name="connsiteY1" fmla="*/ 0 h 2171799"/>
              <a:gd name="connsiteX2" fmla="*/ 9356052 w 9474888"/>
              <a:gd name="connsiteY2" fmla="*/ 12032 h 2171799"/>
              <a:gd name="connsiteX3" fmla="*/ 9474888 w 9474888"/>
              <a:gd name="connsiteY3" fmla="*/ 703946 h 2171799"/>
              <a:gd name="connsiteX4" fmla="*/ 5132950 w 9474888"/>
              <a:gd name="connsiteY4" fmla="*/ 2165682 h 2171799"/>
              <a:gd name="connsiteX5" fmla="*/ 1479 w 9474888"/>
              <a:gd name="connsiteY5" fmla="*/ 2171799 h 2171799"/>
              <a:gd name="connsiteX0" fmla="*/ 1479 w 9366604"/>
              <a:gd name="connsiteY0" fmla="*/ 2171799 h 2171799"/>
              <a:gd name="connsiteX1" fmla="*/ 0 w 9366604"/>
              <a:gd name="connsiteY1" fmla="*/ 0 h 2171799"/>
              <a:gd name="connsiteX2" fmla="*/ 9356052 w 9366604"/>
              <a:gd name="connsiteY2" fmla="*/ 12032 h 2171799"/>
              <a:gd name="connsiteX3" fmla="*/ 9366604 w 9366604"/>
              <a:gd name="connsiteY3" fmla="*/ 728009 h 2171799"/>
              <a:gd name="connsiteX4" fmla="*/ 5132950 w 9366604"/>
              <a:gd name="connsiteY4" fmla="*/ 2165682 h 2171799"/>
              <a:gd name="connsiteX5" fmla="*/ 1479 w 9366604"/>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28009 h 2171799"/>
              <a:gd name="connsiteX4" fmla="*/ 5132950 w 9356052"/>
              <a:gd name="connsiteY4" fmla="*/ 2165682 h 2171799"/>
              <a:gd name="connsiteX5" fmla="*/ 1479 w 9356052"/>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64104 h 2171799"/>
              <a:gd name="connsiteX4" fmla="*/ 5132950 w 9356052"/>
              <a:gd name="connsiteY4" fmla="*/ 2165682 h 2171799"/>
              <a:gd name="connsiteX5" fmla="*/ 1479 w 9356052"/>
              <a:gd name="connsiteY5" fmla="*/ 2171799 h 2171799"/>
              <a:gd name="connsiteX0" fmla="*/ 1479 w 9342541"/>
              <a:gd name="connsiteY0" fmla="*/ 2171799 h 2171799"/>
              <a:gd name="connsiteX1" fmla="*/ 0 w 9342541"/>
              <a:gd name="connsiteY1" fmla="*/ 0 h 2171799"/>
              <a:gd name="connsiteX2" fmla="*/ 9331989 w 9342541"/>
              <a:gd name="connsiteY2" fmla="*/ 12032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4021"/>
              <a:gd name="connsiteY0" fmla="*/ 2171799 h 2171799"/>
              <a:gd name="connsiteX1" fmla="*/ 0 w 9344021"/>
              <a:gd name="connsiteY1" fmla="*/ 0 h 2171799"/>
              <a:gd name="connsiteX2" fmla="*/ 9344021 w 9344021"/>
              <a:gd name="connsiteY2" fmla="*/ 12032 h 2171799"/>
              <a:gd name="connsiteX3" fmla="*/ 9342541 w 9344021"/>
              <a:gd name="connsiteY3" fmla="*/ 764104 h 2171799"/>
              <a:gd name="connsiteX4" fmla="*/ 5132950 w 9344021"/>
              <a:gd name="connsiteY4" fmla="*/ 2165682 h 2171799"/>
              <a:gd name="connsiteX5" fmla="*/ 1479 w 9344021"/>
              <a:gd name="connsiteY5" fmla="*/ 2171799 h 2171799"/>
              <a:gd name="connsiteX0" fmla="*/ 1479 w 9342541"/>
              <a:gd name="connsiteY0" fmla="*/ 2171799 h 2171799"/>
              <a:gd name="connsiteX1" fmla="*/ 0 w 9342541"/>
              <a:gd name="connsiteY1" fmla="*/ 0 h 2171799"/>
              <a:gd name="connsiteX2" fmla="*/ 9340846 w 9342541"/>
              <a:gd name="connsiteY2" fmla="*/ 1520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0929 h 2171799"/>
              <a:gd name="connsiteX4" fmla="*/ 5132950 w 9342541"/>
              <a:gd name="connsiteY4" fmla="*/ 2165682 h 2171799"/>
              <a:gd name="connsiteX5" fmla="*/ 1479 w 9342541"/>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0846"/>
              <a:gd name="connsiteY0" fmla="*/ 2171799 h 2171799"/>
              <a:gd name="connsiteX1" fmla="*/ 0 w 9340846"/>
              <a:gd name="connsiteY1" fmla="*/ 0 h 2171799"/>
              <a:gd name="connsiteX2" fmla="*/ 9340846 w 9340846"/>
              <a:gd name="connsiteY2" fmla="*/ 8857 h 2171799"/>
              <a:gd name="connsiteX3" fmla="*/ 9339366 w 9340846"/>
              <a:gd name="connsiteY3" fmla="*/ 779979 h 2171799"/>
              <a:gd name="connsiteX4" fmla="*/ 5132950 w 9340846"/>
              <a:gd name="connsiteY4" fmla="*/ 2165682 h 2171799"/>
              <a:gd name="connsiteX5" fmla="*/ 1479 w 9340846"/>
              <a:gd name="connsiteY5" fmla="*/ 2171799 h 21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40846" h="2171799">
                <a:moveTo>
                  <a:pt x="1479" y="2171799"/>
                </a:moveTo>
                <a:lnTo>
                  <a:pt x="0" y="0"/>
                </a:lnTo>
                <a:lnTo>
                  <a:pt x="9340846" y="8857"/>
                </a:lnTo>
                <a:cubicBezTo>
                  <a:pt x="9336342" y="728779"/>
                  <a:pt x="9341363" y="742849"/>
                  <a:pt x="9339366" y="779979"/>
                </a:cubicBezTo>
                <a:lnTo>
                  <a:pt x="5132950" y="2165682"/>
                </a:lnTo>
                <a:lnTo>
                  <a:pt x="1479" y="2171799"/>
                </a:lnTo>
                <a:close/>
              </a:path>
            </a:pathLst>
          </a:custGeom>
        </p:spPr>
        <p:txBody>
          <a:bodyPr anchor="t"/>
          <a:lstStyle>
            <a:lvl1pPr marL="0" indent="0">
              <a:buNone/>
              <a:defRPr sz="2400" b="0">
                <a:solidFill>
                  <a:schemeClr val="bg2"/>
                </a:solidFill>
              </a:defRPr>
            </a:lvl1pPr>
          </a:lstStyle>
          <a:p>
            <a:pPr lvl="0"/>
            <a:r>
              <a:rPr lang="en-US"/>
              <a:t>Enter quoted person’s name</a:t>
            </a:r>
          </a:p>
        </p:txBody>
      </p:sp>
    </p:spTree>
    <p:custDataLst>
      <p:tags r:id="rId1"/>
    </p:custDataLst>
    <p:extLst>
      <p:ext uri="{BB962C8B-B14F-4D97-AF65-F5344CB8AC3E}">
        <p14:creationId xmlns:p14="http://schemas.microsoft.com/office/powerpoint/2010/main" val="3014638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6413890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d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p:txBody>
          <a:bodyPr/>
          <a:lstStyle>
            <a:lvl1pPr>
              <a:defRPr/>
            </a:lvl1pPr>
          </a:lstStyle>
          <a:p>
            <a:r>
              <a:rPr lang="en-US"/>
              <a:t>Title and code</a:t>
            </a:r>
          </a:p>
        </p:txBody>
      </p:sp>
      <p:sp>
        <p:nvSpPr>
          <p:cNvPr id="7" name="Code">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1156970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C3AAB48A-4CC9-410B-9FD0-0E32778B6BFF}"/>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1803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8240" y="2286000"/>
            <a:ext cx="2971800" cy="2971800"/>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393138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rvice intro">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Picture Placeholder 11">
            <a:extLst>
              <a:ext uri="{FF2B5EF4-FFF2-40B4-BE49-F238E27FC236}">
                <a16:creationId xmlns:a16="http://schemas.microsoft.com/office/drawing/2014/main" id="{A03FAA1E-A82F-4446-835A-A257B09471D5}"/>
              </a:ext>
            </a:extLst>
          </p:cNvPr>
          <p:cNvSpPr>
            <a:spLocks noGrp="1" noChangeAspect="1"/>
          </p:cNvSpPr>
          <p:nvPr>
            <p:ph type="pic" sz="quarter" idx="22" hasCustomPrompt="1"/>
          </p:nvPr>
        </p:nvSpPr>
        <p:spPr>
          <a:xfrm>
            <a:off x="9765792" y="1280160"/>
            <a:ext cx="1097280" cy="1097280"/>
          </a:xfrm>
        </p:spPr>
        <p:txBody>
          <a:bodyPr>
            <a:normAutofit/>
          </a:bodyPr>
          <a:lstStyle>
            <a:lvl1pPr marL="0" indent="0">
              <a:buNone/>
              <a:defRPr sz="1600"/>
            </a:lvl1pPr>
          </a:lstStyle>
          <a:p>
            <a:r>
              <a:rPr lang="en-US"/>
              <a:t>Service icon</a:t>
            </a:r>
          </a:p>
        </p:txBody>
      </p:sp>
      <p:sp>
        <p:nvSpPr>
          <p:cNvPr id="5" name="Text Placeholder 4">
            <a:extLst>
              <a:ext uri="{FF2B5EF4-FFF2-40B4-BE49-F238E27FC236}">
                <a16:creationId xmlns:a16="http://schemas.microsoft.com/office/drawing/2014/main" id="{68F19BB9-EC09-4DD0-97A5-BBF0110B770B}"/>
              </a:ext>
            </a:extLst>
          </p:cNvPr>
          <p:cNvSpPr>
            <a:spLocks noGrp="1"/>
          </p:cNvSpPr>
          <p:nvPr>
            <p:ph type="body" sz="quarter" idx="21" hasCustomPrompt="1"/>
          </p:nvPr>
        </p:nvSpPr>
        <p:spPr>
          <a:xfrm>
            <a:off x="9162288" y="2514600"/>
            <a:ext cx="2304288" cy="914400"/>
          </a:xfrm>
        </p:spPr>
        <p:txBody>
          <a:bodyPr>
            <a:noAutofit/>
          </a:bodyPr>
          <a:lstStyle>
            <a:lvl1pPr marL="0" indent="0" algn="ctr">
              <a:buNone/>
              <a:defRPr lang="en-US" sz="1800" dirty="0">
                <a:ea typeface="+mn-ea"/>
                <a:cs typeface="+mn-cs"/>
              </a:defRPr>
            </a:lvl1pPr>
          </a:lstStyle>
          <a:p>
            <a:pPr marL="230188" lvl="0" indent="-230188" algn="ctr"/>
            <a:r>
              <a:rPr lang="en-US"/>
              <a:t>Add service name here</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29712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487257" cy="731318"/>
          </a:xfrm>
        </p:spPr>
        <p:txBody>
          <a:bodyPr/>
          <a:lstStyle>
            <a:lvl1pPr>
              <a:lnSpc>
                <a:spcPct val="100000"/>
              </a:lnSpc>
              <a:defRPr/>
            </a:lvl1pPr>
          </a:lstStyle>
          <a:p>
            <a:r>
              <a:rPr lang="en-US"/>
              <a:t>Title, header, text, and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3311"/>
            <a:ext cx="11487257"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830355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5263" y="2516806"/>
            <a:ext cx="2971800" cy="2971800"/>
          </a:xfrm>
        </p:spPr>
        <p:txBody>
          <a:bodyPr anchor="t"/>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20196102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rvice Introduction">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Service Introduction Slide</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184073" y="1143000"/>
            <a:ext cx="7750896" cy="5291750"/>
          </a:xfrm>
        </p:spPr>
        <p:txBody>
          <a:bodyPr anchor="ctr">
            <a:noAutofit/>
          </a:bodyPr>
          <a:lstStyle>
            <a:lvl1pPr>
              <a:lnSpc>
                <a:spcPct val="100000"/>
              </a:lnSpc>
              <a:spcAft>
                <a:spcPts val="600"/>
              </a:spcAft>
              <a:defRPr sz="3200">
                <a:solidFill>
                  <a:schemeClr val="tx2"/>
                </a:solidFill>
              </a:defRPr>
            </a:lvl1pPr>
            <a:lvl2pPr marL="461963" indent="-228600">
              <a:lnSpc>
                <a:spcPct val="100000"/>
              </a:lnSpc>
              <a:spcAft>
                <a:spcPts val="600"/>
              </a:spcAft>
              <a:defRPr sz="2800">
                <a:solidFill>
                  <a:schemeClr val="tx2"/>
                </a:solidFill>
              </a:defRPr>
            </a:lvl2pPr>
            <a:lvl3pPr marL="684213" indent="-228600">
              <a:lnSpc>
                <a:spcPct val="100000"/>
              </a:lnSpc>
              <a:spcAft>
                <a:spcPts val="600"/>
              </a:spcAft>
              <a:defRPr sz="2400">
                <a:solidFill>
                  <a:schemeClr val="tx2"/>
                </a:solidFill>
              </a:defRPr>
            </a:lvl3pPr>
            <a:lvl4pPr marL="914400" indent="-228600">
              <a:lnSpc>
                <a:spcPct val="100000"/>
              </a:lnSpc>
              <a:spcAft>
                <a:spcPts val="600"/>
              </a:spcAft>
              <a:defRPr sz="2000">
                <a:solidFill>
                  <a:schemeClr val="tx2"/>
                </a:solidFill>
              </a:defRPr>
            </a:lvl4pPr>
            <a:lvl5pPr marL="1144588" indent="-228600">
              <a:lnSpc>
                <a:spcPct val="100000"/>
              </a:lnSpc>
              <a:spcAft>
                <a:spcPts val="600"/>
              </a:spcAft>
              <a:defRPr sz="20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Picture Placeholder 4">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sz="quarter" idx="21"/>
          </p:nvPr>
        </p:nvSpPr>
        <p:spPr>
          <a:xfrm>
            <a:off x="896802" y="2618443"/>
            <a:ext cx="2340864" cy="2340864"/>
          </a:xfrm>
        </p:spPr>
        <p:txBody>
          <a:bodyPr anchor="ctr"/>
          <a:lstStyle>
            <a:lvl1pPr marL="0" indent="0" algn="ctr">
              <a:buNone/>
              <a:defRPr/>
            </a:lvl1pPr>
          </a:lstStyle>
          <a:p>
            <a:r>
              <a:rPr lang="en-US"/>
              <a:t>Click icon to add picture</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32C43914-0D84-493F-9BEB-DF30C6FD4C97}"/>
              </a:ext>
              <a:ext uri="{C183D7F6-B498-43B3-948B-1728B52AA6E4}">
                <adec:decorative xmlns:adec="http://schemas.microsoft.com/office/drawing/2017/decorative" val="1"/>
              </a:ext>
            </a:extLst>
          </p:cNvPr>
          <p:cNvCxnSpPr/>
          <p:nvPr/>
        </p:nvCxnSpPr>
        <p:spPr>
          <a:xfrm>
            <a:off x="3732690" y="1239140"/>
            <a:ext cx="0" cy="5195610"/>
          </a:xfrm>
          <a:prstGeom prst="line">
            <a:avLst/>
          </a:prstGeom>
          <a:ln w="44450">
            <a:solidFill>
              <a:schemeClr val="hlink"/>
            </a:solidFill>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3127384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2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6265689"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692535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 uri="{C183D7F6-B498-43B3-948B-1728B52AA6E4}">
                <adec:decorative xmlns:adec="http://schemas.microsoft.com/office/drawing/2017/decorative" val="0"/>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2 code columns</a:t>
            </a:r>
          </a:p>
        </p:txBody>
      </p:sp>
      <p:sp>
        <p:nvSpPr>
          <p:cNvPr id="7" name="Code Left">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8" name="Code Right">
            <a:extLst>
              <a:ext uri="{FF2B5EF4-FFF2-40B4-BE49-F238E27FC236}">
                <a16:creationId xmlns:a16="http://schemas.microsoft.com/office/drawing/2014/main" id="{E8572E41-DF36-40C1-9453-10D94D9775B7}"/>
              </a:ext>
            </a:extLst>
          </p:cNvPr>
          <p:cNvSpPr>
            <a:spLocks noGrp="1"/>
          </p:cNvSpPr>
          <p:nvPr>
            <p:ph type="body" idx="2" hasCustomPrompt="1"/>
          </p:nvPr>
        </p:nvSpPr>
        <p:spPr>
          <a:xfrm>
            <a:off x="6265689"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839B152F-AE78-42AF-B8FB-09C753D41393}"/>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52271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1 Header,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1 header, and 2 text columns</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11569208"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642917229"/>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2 headers,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7321"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33189127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Header and Content Left, Full Height Pictur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header, content, and full height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a:extLst>
              <a:ext uri="{FF2B5EF4-FFF2-40B4-BE49-F238E27FC236}">
                <a16:creationId xmlns:a16="http://schemas.microsoft.com/office/drawing/2014/main" id="{EEA0232A-1E36-4B66-8855-7774205AD335}"/>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1"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idx="9" hasCustomPrompt="1"/>
          </p:nvPr>
        </p:nvSpPr>
        <p:spPr>
          <a:xfrm>
            <a:off x="6199632" y="1046819"/>
            <a:ext cx="5669280" cy="5387913"/>
          </a:xfrm>
        </p:spPr>
        <p:txBody>
          <a:bodyPr anchor="ctr"/>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8566184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2 pictures, 2 headers, and 2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noChangeAspect="1"/>
          </p:cNvSpPr>
          <p:nvPr>
            <p:ph idx="8" hasCustomPrompt="1"/>
          </p:nvPr>
        </p:nvSpPr>
        <p:spPr>
          <a:xfrm>
            <a:off x="2057400"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Picture Righ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noChangeAspect="1"/>
          </p:cNvSpPr>
          <p:nvPr>
            <p:ph idx="9" hasCustomPrompt="1"/>
          </p:nvPr>
        </p:nvSpPr>
        <p:spPr>
          <a:xfrm>
            <a:off x="7891272"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9632"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9632"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012127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3 Conten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3 text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Middle">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2519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9" name="Content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81381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849E56B7-246D-4386-B8C5-E253AD940C1B}"/>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31775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3 headers and 3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3455"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3455"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Content Header Right">
            <a:extLst>
              <a:ext uri="{FF2B5EF4-FFF2-40B4-BE49-F238E27FC236}">
                <a16:creationId xmlns:a16="http://schemas.microsoft.com/office/drawing/2014/main" id="{B3EBECE3-35F9-4AF4-A8A7-FD546C7C32D6}"/>
              </a:ext>
            </a:extLst>
          </p:cNvPr>
          <p:cNvSpPr>
            <a:spLocks noGrp="1"/>
          </p:cNvSpPr>
          <p:nvPr>
            <p:ph type="subTitle" idx="6" hasCustomPrompt="1"/>
          </p:nvPr>
        </p:nvSpPr>
        <p:spPr>
          <a:xfrm>
            <a:off x="814115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814115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4821907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3 Pictures, 3 Headers, and 3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3 picture3, 3 headers, and 3text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7" hasCustomPrompt="1"/>
          </p:nvPr>
        </p:nvSpPr>
        <p:spPr>
          <a:xfrm>
            <a:off x="10972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8" hasCustomPrompt="1"/>
          </p:nvPr>
        </p:nvSpPr>
        <p:spPr>
          <a:xfrm>
            <a:off x="49834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19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19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3"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9" hasCustomPrompt="1"/>
          </p:nvPr>
        </p:nvSpPr>
        <p:spPr>
          <a:xfrm>
            <a:off x="88696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5" name="Content Header Right">
            <a:extLst>
              <a:ext uri="{FF2B5EF4-FFF2-40B4-BE49-F238E27FC236}">
                <a16:creationId xmlns:a16="http://schemas.microsoft.com/office/drawing/2014/main" id="{CF01F87A-DBEF-4657-8500-6A751FF3BC24}"/>
              </a:ext>
            </a:extLst>
          </p:cNvPr>
          <p:cNvSpPr>
            <a:spLocks noGrp="1"/>
          </p:cNvSpPr>
          <p:nvPr>
            <p:ph type="subTitle" idx="6" hasCustomPrompt="1"/>
          </p:nvPr>
        </p:nvSpPr>
        <p:spPr>
          <a:xfrm>
            <a:off x="81381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81381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44789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a:t>Title and 4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8" name="Content Center Lef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326567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9" name="Content Center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616559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0" name="Content Right">
            <a:extLst>
              <a:ext uri="{FF2B5EF4-FFF2-40B4-BE49-F238E27FC236}">
                <a16:creationId xmlns:a16="http://schemas.microsoft.com/office/drawing/2014/main" id="{BC11431A-8924-465C-98E0-6E4655C69AA7}"/>
              </a:ext>
            </a:extLst>
          </p:cNvPr>
          <p:cNvSpPr>
            <a:spLocks noGrp="1"/>
          </p:cNvSpPr>
          <p:nvPr>
            <p:ph type="body" idx="4" hasCustomPrompt="1"/>
          </p:nvPr>
        </p:nvSpPr>
        <p:spPr>
          <a:xfrm>
            <a:off x="906550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1BFB2E0D-B82D-49CC-9802-AFB8BA6D0938}"/>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9467740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1"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4 headers, and 4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5" name="Content Header Center Right">
            <a:extLst>
              <a:ext uri="{FF2B5EF4-FFF2-40B4-BE49-F238E27FC236}">
                <a16:creationId xmlns:a16="http://schemas.microsoft.com/office/drawing/2014/main" id="{B3EBECE3-35F9-4AF4-A8A7-FD546C7C32D6}"/>
              </a:ext>
            </a:extLst>
          </p:cNvPr>
          <p:cNvSpPr>
            <a:spLocks noGrp="1"/>
          </p:cNvSpPr>
          <p:nvPr>
            <p:ph type="subTitle" idx="7" hasCustomPrompt="1"/>
          </p:nvPr>
        </p:nvSpPr>
        <p:spPr>
          <a:xfrm>
            <a:off x="6163056"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Center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6163056"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2" name="Content Header Right">
            <a:extLst>
              <a:ext uri="{FF2B5EF4-FFF2-40B4-BE49-F238E27FC236}">
                <a16:creationId xmlns:a16="http://schemas.microsoft.com/office/drawing/2014/main" id="{ED932AC6-C3A8-487A-A17E-48D0C368204C}"/>
              </a:ext>
            </a:extLst>
          </p:cNvPr>
          <p:cNvSpPr>
            <a:spLocks noGrp="1"/>
          </p:cNvSpPr>
          <p:nvPr>
            <p:ph type="subTitle" idx="8" hasCustomPrompt="1"/>
          </p:nvPr>
        </p:nvSpPr>
        <p:spPr>
          <a:xfrm>
            <a:off x="9061704"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0" name="Content Right">
            <a:extLst>
              <a:ext uri="{FF2B5EF4-FFF2-40B4-BE49-F238E27FC236}">
                <a16:creationId xmlns:a16="http://schemas.microsoft.com/office/drawing/2014/main" id="{7CF59EA0-9039-4A19-8197-DA073A0DB52B}"/>
              </a:ext>
            </a:extLst>
          </p:cNvPr>
          <p:cNvSpPr>
            <a:spLocks noGrp="1"/>
          </p:cNvSpPr>
          <p:nvPr>
            <p:ph type="body" idx="4" hasCustomPrompt="1"/>
          </p:nvPr>
        </p:nvSpPr>
        <p:spPr>
          <a:xfrm>
            <a:off x="9061704"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Tree>
    <p:custDataLst>
      <p:tags r:id="rId1"/>
    </p:custDataLst>
    <p:extLst>
      <p:ext uri="{BB962C8B-B14F-4D97-AF65-F5344CB8AC3E}">
        <p14:creationId xmlns:p14="http://schemas.microsoft.com/office/powerpoint/2010/main" val="26169270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4 Large Pictures,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4 large pictures, 4 headers, and 4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Content 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9" name="Content Center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6163056"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Content 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0" name="Content Right">
            <a:extLst>
              <a:ext uri="{FF2B5EF4-FFF2-40B4-BE49-F238E27FC236}">
                <a16:creationId xmlns:a16="http://schemas.microsoft.com/office/drawing/2014/main" id="{528A167E-DBEB-4BD8-B32A-B1DBF78AA248}"/>
              </a:ext>
            </a:extLst>
          </p:cNvPr>
          <p:cNvSpPr>
            <a:spLocks noGrp="1"/>
          </p:cNvSpPr>
          <p:nvPr>
            <p:ph type="body" idx="4" hasCustomPrompt="1"/>
          </p:nvPr>
        </p:nvSpPr>
        <p:spPr>
          <a:xfrm>
            <a:off x="9061704" y="4363105"/>
            <a:ext cx="2834640" cy="2071637"/>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26284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4 Small Pictures,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a:t>Title, 4 small pictures, 4 headers, and 4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9" hasCustomPrompt="1"/>
          </p:nvPr>
        </p:nvSpPr>
        <p:spPr>
          <a:xfrm>
            <a:off x="97790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5" hasCustomPrompt="1"/>
          </p:nvPr>
        </p:nvSpPr>
        <p:spPr>
          <a:xfrm>
            <a:off x="365760"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0" hasCustomPrompt="1"/>
          </p:nvPr>
        </p:nvSpPr>
        <p:spPr>
          <a:xfrm>
            <a:off x="381254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6" hasCustomPrompt="1"/>
          </p:nvPr>
        </p:nvSpPr>
        <p:spPr>
          <a:xfrm>
            <a:off x="3264408"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1" hasCustomPrompt="1"/>
          </p:nvPr>
        </p:nvSpPr>
        <p:spPr>
          <a:xfrm>
            <a:off x="664718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7" hasCustomPrompt="1"/>
          </p:nvPr>
        </p:nvSpPr>
        <p:spPr>
          <a:xfrm>
            <a:off x="6163056"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12" hasCustomPrompt="1"/>
          </p:nvPr>
        </p:nvSpPr>
        <p:spPr>
          <a:xfrm>
            <a:off x="948182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8" hasCustomPrompt="1"/>
          </p:nvPr>
        </p:nvSpPr>
        <p:spPr>
          <a:xfrm>
            <a:off x="9061704"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291839"/>
            <a:ext cx="2834640" cy="3142903"/>
          </a:xfrm>
        </p:spPr>
        <p:txBody>
          <a:bodyPr lIns="91440">
            <a:normAutofit/>
          </a:bodyPr>
          <a:lstStyle>
            <a:lvl1pPr marL="0" indent="0">
              <a:spcAft>
                <a:spcPts val="1200"/>
              </a:spcAft>
              <a:buNone/>
              <a:defRPr sz="20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5428753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4 Large Pictures,and 4 Header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a:t>Title, 4 large pictures, and 4 headers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1638149"/>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Title, text box, 6 Pictures, and 6 Text Boxe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a:t>1 text box, 6 Images, and 6 text boxes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1560576"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783336"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5306568"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4529328"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9064752"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8287512"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1560576"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783336"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5306568"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4529328"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9064752"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8287512"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618213"/>
      </p:ext>
    </p:extLst>
  </p:cSld>
  <p:clrMapOvr>
    <a:masterClrMapping/>
  </p:clrMapOvr>
  <p:hf hdr="0" ftr="0" dt="0"/>
  <p:extLst>
    <p:ext uri="{DCECCB84-F9BA-43D5-87BE-67443E8EF086}">
      <p15:sldGuideLst xmlns:p15="http://schemas.microsoft.com/office/powerpoint/2012/main">
        <p15:guide id="2" orient="horz" pos="10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8 Small Pictures, 8 Headers, and 8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a:t>Title, 8 pictures, 8 headers, and 8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365760"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9" hasCustomPrompt="1"/>
          </p:nvPr>
        </p:nvSpPr>
        <p:spPr>
          <a:xfrm>
            <a:off x="365760"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3264408"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10" hasCustomPrompt="1"/>
          </p:nvPr>
        </p:nvSpPr>
        <p:spPr>
          <a:xfrm>
            <a:off x="3264408"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6163056"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11" hasCustomPrompt="1"/>
          </p:nvPr>
        </p:nvSpPr>
        <p:spPr>
          <a:xfrm>
            <a:off x="6163056"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9061704"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12" hasCustomPrompt="1"/>
          </p:nvPr>
        </p:nvSpPr>
        <p:spPr>
          <a:xfrm>
            <a:off x="9061704"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365760"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1" name="Content Header 5">
            <a:extLst>
              <a:ext uri="{FF2B5EF4-FFF2-40B4-BE49-F238E27FC236}">
                <a16:creationId xmlns:a16="http://schemas.microsoft.com/office/drawing/2014/main" id="{E8024806-5459-4580-AA84-DFE98F18A5A3}"/>
              </a:ext>
            </a:extLst>
          </p:cNvPr>
          <p:cNvSpPr>
            <a:spLocks noGrp="1"/>
          </p:cNvSpPr>
          <p:nvPr>
            <p:ph type="subTitle" idx="13" hasCustomPrompt="1"/>
          </p:nvPr>
        </p:nvSpPr>
        <p:spPr>
          <a:xfrm>
            <a:off x="365760"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365760"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3264408"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4" name="Content Header 6">
            <a:extLst>
              <a:ext uri="{FF2B5EF4-FFF2-40B4-BE49-F238E27FC236}">
                <a16:creationId xmlns:a16="http://schemas.microsoft.com/office/drawing/2014/main" id="{484800A7-DA7A-48C2-BD82-C01F6FD9DB3E}"/>
              </a:ext>
            </a:extLst>
          </p:cNvPr>
          <p:cNvSpPr>
            <a:spLocks noGrp="1"/>
          </p:cNvSpPr>
          <p:nvPr>
            <p:ph type="subTitle" idx="14" hasCustomPrompt="1"/>
          </p:nvPr>
        </p:nvSpPr>
        <p:spPr>
          <a:xfrm>
            <a:off x="3264408"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3264408"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6" name="Picture 7">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idx="23" hasCustomPrompt="1"/>
          </p:nvPr>
        </p:nvSpPr>
        <p:spPr>
          <a:xfrm>
            <a:off x="6163056"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7" name="Content Header 7">
            <a:extLst>
              <a:ext uri="{FF2B5EF4-FFF2-40B4-BE49-F238E27FC236}">
                <a16:creationId xmlns:a16="http://schemas.microsoft.com/office/drawing/2014/main" id="{706046A5-A656-4648-BD39-64FA5E94B613}"/>
              </a:ext>
            </a:extLst>
          </p:cNvPr>
          <p:cNvSpPr>
            <a:spLocks noGrp="1"/>
          </p:cNvSpPr>
          <p:nvPr>
            <p:ph type="subTitle" idx="15" hasCustomPrompt="1"/>
          </p:nvPr>
        </p:nvSpPr>
        <p:spPr>
          <a:xfrm>
            <a:off x="6163056"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38" name="Content 7">
            <a:extLst>
              <a:ext uri="{FF2B5EF4-FFF2-40B4-BE49-F238E27FC236}">
                <a16:creationId xmlns:a16="http://schemas.microsoft.com/office/drawing/2014/main" id="{9B368858-C97D-421E-8EFA-7300741447EE}"/>
              </a:ext>
            </a:extLst>
          </p:cNvPr>
          <p:cNvSpPr>
            <a:spLocks noGrp="1"/>
          </p:cNvSpPr>
          <p:nvPr>
            <p:ph type="body" idx="7" hasCustomPrompt="1"/>
          </p:nvPr>
        </p:nvSpPr>
        <p:spPr>
          <a:xfrm>
            <a:off x="6163056"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39" name="Picture 8">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idx="24" hasCustomPrompt="1"/>
          </p:nvPr>
        </p:nvSpPr>
        <p:spPr>
          <a:xfrm>
            <a:off x="9061704"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40" name="Content Header 8">
            <a:extLst>
              <a:ext uri="{FF2B5EF4-FFF2-40B4-BE49-F238E27FC236}">
                <a16:creationId xmlns:a16="http://schemas.microsoft.com/office/drawing/2014/main" id="{DE6244C7-6311-4CE0-AB72-2F6B429380EE}"/>
              </a:ext>
            </a:extLst>
          </p:cNvPr>
          <p:cNvSpPr>
            <a:spLocks noGrp="1"/>
          </p:cNvSpPr>
          <p:nvPr>
            <p:ph type="subTitle" idx="16" hasCustomPrompt="1"/>
          </p:nvPr>
        </p:nvSpPr>
        <p:spPr>
          <a:xfrm>
            <a:off x="9061704"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a:t>Enter subtitle</a:t>
            </a:r>
          </a:p>
        </p:txBody>
      </p:sp>
      <p:sp>
        <p:nvSpPr>
          <p:cNvPr id="41" name="Content 8">
            <a:extLst>
              <a:ext uri="{FF2B5EF4-FFF2-40B4-BE49-F238E27FC236}">
                <a16:creationId xmlns:a16="http://schemas.microsoft.com/office/drawing/2014/main" id="{FD06B556-F6DC-4CCE-8B02-F0089954096F}"/>
              </a:ext>
            </a:extLst>
          </p:cNvPr>
          <p:cNvSpPr>
            <a:spLocks noGrp="1"/>
          </p:cNvSpPr>
          <p:nvPr>
            <p:ph type="body" idx="8" hasCustomPrompt="1"/>
          </p:nvPr>
        </p:nvSpPr>
        <p:spPr>
          <a:xfrm>
            <a:off x="9061704"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3130084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Title and Gallar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lvl1pPr>
          </a:lstStyle>
          <a:p>
            <a:r>
              <a:rPr lang="en-US"/>
              <a:t>Title and 8 pictures</a:t>
            </a:r>
          </a:p>
        </p:txBody>
      </p:sp>
      <p:sp>
        <p:nvSpPr>
          <p:cNvPr id="11" name="Picture 1">
            <a:extLst>
              <a:ext uri="{FF2B5EF4-FFF2-40B4-BE49-F238E27FC236}">
                <a16:creationId xmlns:a16="http://schemas.microsoft.com/office/drawing/2014/main" id="{01E0569B-0304-4CF2-95FE-74EEAC9AEC38}"/>
              </a:ext>
            </a:extLst>
          </p:cNvPr>
          <p:cNvSpPr>
            <a:spLocks noGrp="1"/>
          </p:cNvSpPr>
          <p:nvPr>
            <p:ph idx="1" hasCustomPrompt="1"/>
          </p:nvPr>
        </p:nvSpPr>
        <p:spPr>
          <a:xfrm>
            <a:off x="45122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2" name="Picture 2">
            <a:extLst>
              <a:ext uri="{FF2B5EF4-FFF2-40B4-BE49-F238E27FC236}">
                <a16:creationId xmlns:a16="http://schemas.microsoft.com/office/drawing/2014/main" id="{4E39BCC2-7E6B-49A6-88A7-4389D0876599}"/>
              </a:ext>
            </a:extLst>
          </p:cNvPr>
          <p:cNvSpPr>
            <a:spLocks noGrp="1"/>
          </p:cNvSpPr>
          <p:nvPr>
            <p:ph idx="2" hasCustomPrompt="1"/>
          </p:nvPr>
        </p:nvSpPr>
        <p:spPr>
          <a:xfrm>
            <a:off x="3348813"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3" name="Picture 3">
            <a:extLst>
              <a:ext uri="{FF2B5EF4-FFF2-40B4-BE49-F238E27FC236}">
                <a16:creationId xmlns:a16="http://schemas.microsoft.com/office/drawing/2014/main" id="{292A7B23-5883-4A03-AA9E-D7887267A0B5}"/>
              </a:ext>
            </a:extLst>
          </p:cNvPr>
          <p:cNvSpPr>
            <a:spLocks noGrp="1"/>
          </p:cNvSpPr>
          <p:nvPr>
            <p:ph idx="3" hasCustomPrompt="1"/>
          </p:nvPr>
        </p:nvSpPr>
        <p:spPr>
          <a:xfrm>
            <a:off x="6246406"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4" name="Picture 4">
            <a:extLst>
              <a:ext uri="{FF2B5EF4-FFF2-40B4-BE49-F238E27FC236}">
                <a16:creationId xmlns:a16="http://schemas.microsoft.com/office/drawing/2014/main" id="{871FBC72-3D16-49CE-BD02-AD416196D37A}"/>
              </a:ext>
            </a:extLst>
          </p:cNvPr>
          <p:cNvSpPr>
            <a:spLocks noGrp="1"/>
          </p:cNvSpPr>
          <p:nvPr>
            <p:ph idx="4" hasCustomPrompt="1"/>
          </p:nvPr>
        </p:nvSpPr>
        <p:spPr>
          <a:xfrm>
            <a:off x="914400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5" name="Picture 5">
            <a:extLst>
              <a:ext uri="{FF2B5EF4-FFF2-40B4-BE49-F238E27FC236}">
                <a16:creationId xmlns:a16="http://schemas.microsoft.com/office/drawing/2014/main" id="{CCC335E7-FA18-44DB-ACBC-F2DABE9FB384}"/>
              </a:ext>
            </a:extLst>
          </p:cNvPr>
          <p:cNvSpPr>
            <a:spLocks noGrp="1"/>
          </p:cNvSpPr>
          <p:nvPr>
            <p:ph idx="5" hasCustomPrompt="1"/>
          </p:nvPr>
        </p:nvSpPr>
        <p:spPr>
          <a:xfrm>
            <a:off x="45122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6" name="Picture 6">
            <a:extLst>
              <a:ext uri="{FF2B5EF4-FFF2-40B4-BE49-F238E27FC236}">
                <a16:creationId xmlns:a16="http://schemas.microsoft.com/office/drawing/2014/main" id="{BB740650-61A2-4FDC-8700-54D96F01FF5A}"/>
              </a:ext>
            </a:extLst>
          </p:cNvPr>
          <p:cNvSpPr>
            <a:spLocks noGrp="1"/>
          </p:cNvSpPr>
          <p:nvPr>
            <p:ph idx="6" hasCustomPrompt="1"/>
          </p:nvPr>
        </p:nvSpPr>
        <p:spPr>
          <a:xfrm>
            <a:off x="3348813"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7" name="Picture 7">
            <a:extLst>
              <a:ext uri="{FF2B5EF4-FFF2-40B4-BE49-F238E27FC236}">
                <a16:creationId xmlns:a16="http://schemas.microsoft.com/office/drawing/2014/main" id="{CA951A10-B648-4F4E-87FD-97FD8FEB4106}"/>
              </a:ext>
            </a:extLst>
          </p:cNvPr>
          <p:cNvSpPr>
            <a:spLocks noGrp="1"/>
          </p:cNvSpPr>
          <p:nvPr>
            <p:ph idx="7" hasCustomPrompt="1"/>
          </p:nvPr>
        </p:nvSpPr>
        <p:spPr>
          <a:xfrm>
            <a:off x="6246406"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8" name="Picture 8">
            <a:extLst>
              <a:ext uri="{FF2B5EF4-FFF2-40B4-BE49-F238E27FC236}">
                <a16:creationId xmlns:a16="http://schemas.microsoft.com/office/drawing/2014/main" id="{1F4C4007-9EA0-4D1F-938D-A38B105119E9}"/>
              </a:ext>
            </a:extLst>
          </p:cNvPr>
          <p:cNvSpPr>
            <a:spLocks noGrp="1"/>
          </p:cNvSpPr>
          <p:nvPr>
            <p:ph idx="8" hasCustomPrompt="1"/>
          </p:nvPr>
        </p:nvSpPr>
        <p:spPr>
          <a:xfrm>
            <a:off x="914400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61730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a:t>Title only layout</a:t>
            </a:r>
          </a:p>
        </p:txBody>
      </p:sp>
      <p:sp>
        <p:nvSpPr>
          <p:cNvPr id="19" name="Title Border">
            <a:extLst>
              <a:ext uri="{FF2B5EF4-FFF2-40B4-BE49-F238E27FC236}">
                <a16:creationId xmlns:a16="http://schemas.microsoft.com/office/drawing/2014/main" id="{5C923B7C-0930-466B-9A4C-4F269F22E021}"/>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972315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Only Blank">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a:t>Title only blank layout</a:t>
            </a:r>
          </a:p>
        </p:txBody>
      </p:sp>
    </p:spTree>
    <p:custDataLst>
      <p:tags r:id="rId1"/>
    </p:custDataLst>
    <p:extLst>
      <p:ext uri="{BB962C8B-B14F-4D97-AF65-F5344CB8AC3E}">
        <p14:creationId xmlns:p14="http://schemas.microsoft.com/office/powerpoint/2010/main" val="30636064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299526"/>
            <a:ext cx="11569209" cy="289591"/>
          </a:xfrm>
        </p:spPr>
        <p:txBody>
          <a:bodyPr>
            <a:normAutofit/>
          </a:bodyPr>
          <a:lstStyle>
            <a:lvl1pPr>
              <a:defRPr sz="1600"/>
            </a:lvl1pPr>
          </a:lstStyle>
          <a:p>
            <a:r>
              <a:rPr lang="en-US"/>
              <a:t>Architecture layout</a:t>
            </a:r>
          </a:p>
        </p:txBody>
      </p:sp>
    </p:spTree>
    <p:custDataLst>
      <p:tags r:id="rId1"/>
    </p:custDataLst>
    <p:extLst>
      <p:ext uri="{BB962C8B-B14F-4D97-AF65-F5344CB8AC3E}">
        <p14:creationId xmlns:p14="http://schemas.microsoft.com/office/powerpoint/2010/main" val="11707173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0" y="154244"/>
            <a:ext cx="12192000" cy="289591"/>
          </a:xfrm>
        </p:spPr>
        <p:txBody>
          <a:bodyPr>
            <a:normAutofit/>
          </a:bodyPr>
          <a:lstStyle>
            <a:lvl1pPr marL="228600">
              <a:defRPr sz="1600"/>
            </a:lvl1pPr>
          </a:lstStyle>
          <a:p>
            <a:r>
              <a:rPr lang="en-US"/>
              <a:t>Full Image layout</a:t>
            </a:r>
          </a:p>
        </p:txBody>
      </p:sp>
      <p:sp>
        <p:nvSpPr>
          <p:cNvPr id="11" name="Picture">
            <a:extLst>
              <a:ext uri="{FF2B5EF4-FFF2-40B4-BE49-F238E27FC236}">
                <a16:creationId xmlns:a16="http://schemas.microsoft.com/office/drawing/2014/main" id="{3725AF1B-6140-4505-81CD-922F8227415C}"/>
              </a:ext>
            </a:extLst>
          </p:cNvPr>
          <p:cNvSpPr>
            <a:spLocks noGrp="1"/>
          </p:cNvSpPr>
          <p:nvPr>
            <p:ph sz="quarter" idx="11" hasCustomPrompt="1"/>
          </p:nvPr>
        </p:nvSpPr>
        <p:spPr>
          <a:xfrm>
            <a:off x="0" y="444499"/>
            <a:ext cx="12192000" cy="5979265"/>
          </a:xfrm>
        </p:spPr>
        <p:txBody>
          <a:bodyPr anchor="ctr">
            <a:normAutofit/>
          </a:bodyPr>
          <a:lstStyle>
            <a:lvl1pPr marL="0" indent="0" algn="ctr">
              <a:buNone/>
              <a:defRPr sz="3600"/>
            </a:lvl1pPr>
          </a:lstStyle>
          <a:p>
            <a:r>
              <a:rPr lang="en-US"/>
              <a:t>Click icon to add image</a:t>
            </a:r>
          </a:p>
        </p:txBody>
      </p:sp>
    </p:spTree>
    <p:custDataLst>
      <p:tags r:id="rId1"/>
    </p:custDataLst>
    <p:extLst>
      <p:ext uri="{BB962C8B-B14F-4D97-AF65-F5344CB8AC3E}">
        <p14:creationId xmlns:p14="http://schemas.microsoft.com/office/powerpoint/2010/main" val="1263127036"/>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KC-Vertical-Question">
    <p:bg>
      <p:bgPr>
        <a:solidFill>
          <a:schemeClr val="bg1"/>
        </a:solidFill>
        <a:effectLst/>
      </p:bgPr>
    </p:bg>
    <p:spTree>
      <p:nvGrpSpPr>
        <p:cNvPr id="1" name=""/>
        <p:cNvGrpSpPr/>
        <p:nvPr/>
      </p:nvGrpSpPr>
      <p:grpSpPr>
        <a:xfrm>
          <a:off x="0" y="0"/>
          <a:ext cx="0" cy="0"/>
          <a:chOff x="0" y="0"/>
          <a:chExt cx="0" cy="0"/>
        </a:xfrm>
      </p:grpSpPr>
      <p:grpSp>
        <p:nvGrpSpPr>
          <p:cNvPr id="24" name="Background Images">
            <a:extLst>
              <a:ext uri="{FF2B5EF4-FFF2-40B4-BE49-F238E27FC236}">
                <a16:creationId xmlns:a16="http://schemas.microsoft.com/office/drawing/2014/main" id="{EE3862B2-782C-42D5-9515-66EBE7A19C9A}"/>
              </a:ext>
            </a:extLst>
          </p:cNvPr>
          <p:cNvGrpSpPr/>
          <p:nvPr/>
        </p:nvGrpSpPr>
        <p:grpSpPr>
          <a:xfrm>
            <a:off x="0" y="1"/>
            <a:ext cx="12192000" cy="6858000"/>
            <a:chOff x="0" y="1"/>
            <a:chExt cx="12192000" cy="6858000"/>
          </a:xfrm>
        </p:grpSpPr>
        <p:sp>
          <p:nvSpPr>
            <p:cNvPr id="25" name="BKG-TP">
              <a:extLst>
                <a:ext uri="{FF2B5EF4-FFF2-40B4-BE49-F238E27FC236}">
                  <a16:creationId xmlns:a16="http://schemas.microsoft.com/office/drawing/2014/main" id="{C6078C7F-2E33-426C-96FF-E7084DD86E7E}"/>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BKG-RT">
              <a:extLst>
                <a:ext uri="{FF2B5EF4-FFF2-40B4-BE49-F238E27FC236}">
                  <a16:creationId xmlns:a16="http://schemas.microsoft.com/office/drawing/2014/main" id="{5D3C4E6B-760F-4EC0-919D-D0EEACF9ACA9}"/>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28" name="AWS Logo">
              <a:extLst>
                <a:ext uri="{FF2B5EF4-FFF2-40B4-BE49-F238E27FC236}">
                  <a16:creationId xmlns:a16="http://schemas.microsoft.com/office/drawing/2014/main" id="{90E6AE4C-E744-4586-850E-BEDD7EE7AB8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29" name="Copyright">
              <a:extLst>
                <a:ext uri="{FF2B5EF4-FFF2-40B4-BE49-F238E27FC236}">
                  <a16:creationId xmlns:a16="http://schemas.microsoft.com/office/drawing/2014/main" id="{274AB020-3E40-43C9-A671-5C17FEE2F38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6"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2"/>
                </a:solidFill>
              </a:defRPr>
            </a:lvl1pPr>
          </a:lstStyle>
          <a:p>
            <a:r>
              <a:rPr lang="en-US"/>
              <a:t>Question and Responses</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7"/>
            <a:ext cx="4401650" cy="5429387"/>
          </a:xfrm>
          <a:solidFill>
            <a:schemeClr val="accent1"/>
          </a:solidFill>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400">
                <a:solidFill>
                  <a:schemeClr val="bg2"/>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t>
            </a:r>
            <a:br>
              <a:rPr lang="en-US"/>
            </a:br>
            <a:r>
              <a:rPr lang="en-US"/>
              <a:t>4 responses can only have 1 correct response</a:t>
            </a:r>
            <a:br>
              <a:rPr lang="en-US"/>
            </a:br>
            <a:r>
              <a:rPr lang="en-US"/>
              <a:t>5 responses must have 2 correct responses</a:t>
            </a:r>
            <a:br>
              <a:rPr lang="en-US"/>
            </a:br>
            <a:r>
              <a:rPr lang="en-US"/>
              <a:t>6 responses must have 3 correct responses.</a:t>
            </a:r>
          </a:p>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You can make this field wider if needed. The background color moves with this field. Simply adjust the placement of the response fields to the right to accommodate the wider question field.</a:t>
            </a:r>
          </a:p>
        </p:txBody>
      </p:sp>
      <p:sp>
        <p:nvSpPr>
          <p:cNvPr id="3" name="Choice Header">
            <a:extLst>
              <a:ext uri="{FF2B5EF4-FFF2-40B4-BE49-F238E27FC236}">
                <a16:creationId xmlns:a16="http://schemas.microsoft.com/office/drawing/2014/main" id="{94A86AAC-E12E-4379-82C3-110918D47BB2}"/>
              </a:ext>
            </a:extLst>
          </p:cNvPr>
          <p:cNvSpPr>
            <a:spLocks noGrp="1"/>
          </p:cNvSpPr>
          <p:nvPr>
            <p:ph type="subTitle" idx="13" hasCustomPrompt="1"/>
          </p:nvPr>
        </p:nvSpPr>
        <p:spPr>
          <a:xfrm>
            <a:off x="4581525" y="1008063"/>
            <a:ext cx="847725" cy="323850"/>
          </a:xfrm>
        </p:spPr>
        <p:txBody>
          <a:bodyPr lIns="0" rIns="0">
            <a:noAutofit/>
          </a:bodyPr>
          <a:lstStyle>
            <a:lvl1pPr marL="0" indent="0" algn="ctr">
              <a:buNone/>
              <a:defRPr sz="1800">
                <a:solidFill>
                  <a:schemeClr val="tx2"/>
                </a:solidFill>
              </a:defRPr>
            </a:lvl1pPr>
          </a:lstStyle>
          <a:p>
            <a:pPr lvl="0"/>
            <a:r>
              <a:rPr lang="en-US"/>
              <a:t>Choice</a:t>
            </a:r>
          </a:p>
        </p:txBody>
      </p:sp>
      <p:sp>
        <p:nvSpPr>
          <p:cNvPr id="4" name="Response Header">
            <a:extLst>
              <a:ext uri="{FF2B5EF4-FFF2-40B4-BE49-F238E27FC236}">
                <a16:creationId xmlns:a16="http://schemas.microsoft.com/office/drawing/2014/main" id="{49A546CD-B784-4C60-8DF1-04299A8BD8DC}"/>
              </a:ext>
            </a:extLst>
          </p:cNvPr>
          <p:cNvSpPr>
            <a:spLocks noGrp="1"/>
          </p:cNvSpPr>
          <p:nvPr>
            <p:ph type="subTitle" idx="14" hasCustomPrompt="1"/>
          </p:nvPr>
        </p:nvSpPr>
        <p:spPr>
          <a:xfrm>
            <a:off x="5429250" y="1008063"/>
            <a:ext cx="2457450" cy="323850"/>
          </a:xfrm>
        </p:spPr>
        <p:txBody>
          <a:bodyPr lIns="91440" rIns="0">
            <a:noAutofit/>
          </a:bodyPr>
          <a:lstStyle>
            <a:lvl1pPr marL="0" indent="0" algn="l">
              <a:buNone/>
              <a:defRPr sz="1800">
                <a:solidFill>
                  <a:schemeClr val="tx2"/>
                </a:solidFill>
              </a:defRPr>
            </a:lvl1pPr>
          </a:lstStyle>
          <a:p>
            <a:pPr lvl="0"/>
            <a:r>
              <a:rPr lang="en-US"/>
              <a:t>Response</a:t>
            </a:r>
          </a:p>
        </p:txBody>
      </p:sp>
      <p:sp>
        <p:nvSpPr>
          <p:cNvPr id="9" name="First Resp #">
            <a:extLst>
              <a:ext uri="{FF2B5EF4-FFF2-40B4-BE49-F238E27FC236}">
                <a16:creationId xmlns:a16="http://schemas.microsoft.com/office/drawing/2014/main" id="{DF65B8F8-C411-4217-9956-036774AA94F8}"/>
              </a:ext>
            </a:extLst>
          </p:cNvPr>
          <p:cNvSpPr>
            <a:spLocks noGrp="1"/>
          </p:cNvSpPr>
          <p:nvPr>
            <p:ph type="body" idx="2" hasCustomPrompt="1"/>
          </p:nvPr>
        </p:nvSpPr>
        <p:spPr>
          <a:xfrm>
            <a:off x="4584699" y="1344286"/>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8" name="First Resp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29250" y="1344286"/>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2" name="Second Resp #">
            <a:extLst>
              <a:ext uri="{FF2B5EF4-FFF2-40B4-BE49-F238E27FC236}">
                <a16:creationId xmlns:a16="http://schemas.microsoft.com/office/drawing/2014/main" id="{B27347F1-D178-4BA7-947D-9C3316CA7F55}"/>
              </a:ext>
            </a:extLst>
          </p:cNvPr>
          <p:cNvSpPr>
            <a:spLocks noGrp="1"/>
          </p:cNvSpPr>
          <p:nvPr>
            <p:ph type="body" idx="4" hasCustomPrompt="1"/>
          </p:nvPr>
        </p:nvSpPr>
        <p:spPr>
          <a:xfrm>
            <a:off x="4584699" y="2189689"/>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0" name="Second Resp Text">
            <a:extLst>
              <a:ext uri="{FF2B5EF4-FFF2-40B4-BE49-F238E27FC236}">
                <a16:creationId xmlns:a16="http://schemas.microsoft.com/office/drawing/2014/main" id="{9762E385-4F68-4D4A-BE57-EDA108A285B5}"/>
              </a:ext>
            </a:extLst>
          </p:cNvPr>
          <p:cNvSpPr>
            <a:spLocks noGrp="1"/>
          </p:cNvSpPr>
          <p:nvPr>
            <p:ph type="body" idx="5" hasCustomPrompt="1"/>
          </p:nvPr>
        </p:nvSpPr>
        <p:spPr>
          <a:xfrm>
            <a:off x="5429250" y="2189689"/>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8" name="Third Resp #">
            <a:extLst>
              <a:ext uri="{FF2B5EF4-FFF2-40B4-BE49-F238E27FC236}">
                <a16:creationId xmlns:a16="http://schemas.microsoft.com/office/drawing/2014/main" id="{2ACAFB9D-8E9C-4408-85E1-A3501374C2E9}"/>
              </a:ext>
            </a:extLst>
          </p:cNvPr>
          <p:cNvSpPr>
            <a:spLocks noGrp="1"/>
          </p:cNvSpPr>
          <p:nvPr>
            <p:ph type="body" idx="6" hasCustomPrompt="1"/>
          </p:nvPr>
        </p:nvSpPr>
        <p:spPr>
          <a:xfrm>
            <a:off x="4584699" y="3035092"/>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35" name="Third Resp Text">
            <a:extLst>
              <a:ext uri="{FF2B5EF4-FFF2-40B4-BE49-F238E27FC236}">
                <a16:creationId xmlns:a16="http://schemas.microsoft.com/office/drawing/2014/main" id="{22884D39-7004-49D5-8E88-C45BE1C9BFCB}"/>
              </a:ext>
            </a:extLst>
          </p:cNvPr>
          <p:cNvSpPr>
            <a:spLocks noGrp="1"/>
          </p:cNvSpPr>
          <p:nvPr>
            <p:ph type="body" idx="7" hasCustomPrompt="1"/>
          </p:nvPr>
        </p:nvSpPr>
        <p:spPr>
          <a:xfrm>
            <a:off x="5429250" y="3035092"/>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2" name="Fourth Resp #">
            <a:extLst>
              <a:ext uri="{FF2B5EF4-FFF2-40B4-BE49-F238E27FC236}">
                <a16:creationId xmlns:a16="http://schemas.microsoft.com/office/drawing/2014/main" id="{310C83DA-41AE-4CBA-AA96-EB5CB2226FCF}"/>
              </a:ext>
            </a:extLst>
          </p:cNvPr>
          <p:cNvSpPr>
            <a:spLocks noGrp="1"/>
          </p:cNvSpPr>
          <p:nvPr>
            <p:ph type="body" idx="8" hasCustomPrompt="1"/>
          </p:nvPr>
        </p:nvSpPr>
        <p:spPr>
          <a:xfrm>
            <a:off x="4584699" y="3880495"/>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1" name="Fourth Resp Text">
            <a:extLst>
              <a:ext uri="{FF2B5EF4-FFF2-40B4-BE49-F238E27FC236}">
                <a16:creationId xmlns:a16="http://schemas.microsoft.com/office/drawing/2014/main" id="{AEE05FA0-DD58-4D0B-A7E0-EAC7B789E7A7}"/>
              </a:ext>
            </a:extLst>
          </p:cNvPr>
          <p:cNvSpPr>
            <a:spLocks noGrp="1"/>
          </p:cNvSpPr>
          <p:nvPr>
            <p:ph type="body" idx="9" hasCustomPrompt="1"/>
          </p:nvPr>
        </p:nvSpPr>
        <p:spPr>
          <a:xfrm>
            <a:off x="5429250" y="3880495"/>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4" name="Fifth Resp #">
            <a:extLst>
              <a:ext uri="{FF2B5EF4-FFF2-40B4-BE49-F238E27FC236}">
                <a16:creationId xmlns:a16="http://schemas.microsoft.com/office/drawing/2014/main" id="{B6D2D170-961D-4140-B087-C6CFDF7BBD75}"/>
              </a:ext>
            </a:extLst>
          </p:cNvPr>
          <p:cNvSpPr>
            <a:spLocks noGrp="1"/>
          </p:cNvSpPr>
          <p:nvPr>
            <p:ph type="body" idx="10" hasCustomPrompt="1"/>
          </p:nvPr>
        </p:nvSpPr>
        <p:spPr>
          <a:xfrm>
            <a:off x="4584699" y="4725898"/>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3" name="Fifth Resp Text">
            <a:extLst>
              <a:ext uri="{FF2B5EF4-FFF2-40B4-BE49-F238E27FC236}">
                <a16:creationId xmlns:a16="http://schemas.microsoft.com/office/drawing/2014/main" id="{B428E384-92E9-495A-9CAE-E33E3164F939}"/>
              </a:ext>
            </a:extLst>
          </p:cNvPr>
          <p:cNvSpPr>
            <a:spLocks noGrp="1"/>
          </p:cNvSpPr>
          <p:nvPr>
            <p:ph type="body" idx="11" hasCustomPrompt="1"/>
          </p:nvPr>
        </p:nvSpPr>
        <p:spPr>
          <a:xfrm>
            <a:off x="5429250" y="4725898"/>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6" name="Sixth Resp #">
            <a:extLst>
              <a:ext uri="{FF2B5EF4-FFF2-40B4-BE49-F238E27FC236}">
                <a16:creationId xmlns:a16="http://schemas.microsoft.com/office/drawing/2014/main" id="{DC41B7B5-B438-4885-90AE-758ABF2CA9F9}"/>
              </a:ext>
            </a:extLst>
          </p:cNvPr>
          <p:cNvSpPr>
            <a:spLocks noGrp="1"/>
          </p:cNvSpPr>
          <p:nvPr>
            <p:ph type="body" idx="12" hasCustomPrompt="1"/>
          </p:nvPr>
        </p:nvSpPr>
        <p:spPr>
          <a:xfrm>
            <a:off x="4584699" y="5571303"/>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5" name="Sixth Resp Text">
            <a:extLst>
              <a:ext uri="{FF2B5EF4-FFF2-40B4-BE49-F238E27FC236}">
                <a16:creationId xmlns:a16="http://schemas.microsoft.com/office/drawing/2014/main" id="{09F72B28-4CF6-4FD1-BA4A-5A98215324E2}"/>
              </a:ext>
            </a:extLst>
          </p:cNvPr>
          <p:cNvSpPr>
            <a:spLocks noGrp="1"/>
          </p:cNvSpPr>
          <p:nvPr>
            <p:ph type="body" idx="13" hasCustomPrompt="1"/>
          </p:nvPr>
        </p:nvSpPr>
        <p:spPr>
          <a:xfrm>
            <a:off x="5429250" y="5571303"/>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36260643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KC-Vertical-Answer">
    <p:bg>
      <p:bgPr>
        <a:solidFill>
          <a:schemeClr val="bg1"/>
        </a:solidFill>
        <a:effectLst/>
      </p:bgPr>
    </p:bg>
    <p:spTree>
      <p:nvGrpSpPr>
        <p:cNvPr id="1" name=""/>
        <p:cNvGrpSpPr/>
        <p:nvPr/>
      </p:nvGrpSpPr>
      <p:grpSpPr>
        <a:xfrm>
          <a:off x="0" y="0"/>
          <a:ext cx="0" cy="0"/>
          <a:chOff x="0" y="0"/>
          <a:chExt cx="0" cy="0"/>
        </a:xfrm>
      </p:grpSpPr>
      <p:grpSp>
        <p:nvGrpSpPr>
          <p:cNvPr id="12" name="Background Images">
            <a:extLst>
              <a:ext uri="{FF2B5EF4-FFF2-40B4-BE49-F238E27FC236}">
                <a16:creationId xmlns:a16="http://schemas.microsoft.com/office/drawing/2014/main" id="{9D893736-31CD-4275-8671-3253868EBB81}"/>
              </a:ext>
            </a:extLst>
          </p:cNvPr>
          <p:cNvGrpSpPr/>
          <p:nvPr/>
        </p:nvGrpSpPr>
        <p:grpSpPr>
          <a:xfrm>
            <a:off x="0" y="1"/>
            <a:ext cx="12192000" cy="6858000"/>
            <a:chOff x="0" y="1"/>
            <a:chExt cx="12192000" cy="6858000"/>
          </a:xfrm>
        </p:grpSpPr>
        <p:sp>
          <p:nvSpPr>
            <p:cNvPr id="13" name="BKG-TP">
              <a:extLst>
                <a:ext uri="{FF2B5EF4-FFF2-40B4-BE49-F238E27FC236}">
                  <a16:creationId xmlns:a16="http://schemas.microsoft.com/office/drawing/2014/main" id="{BF122BEF-CA51-4B5F-A9D2-5B4722001489}"/>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BKG-RT">
              <a:extLst>
                <a:ext uri="{FF2B5EF4-FFF2-40B4-BE49-F238E27FC236}">
                  <a16:creationId xmlns:a16="http://schemas.microsoft.com/office/drawing/2014/main" id="{80E3899F-10AE-440C-9957-5E3536890A76}"/>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16" name="AWS Logo">
              <a:extLst>
                <a:ext uri="{FF2B5EF4-FFF2-40B4-BE49-F238E27FC236}">
                  <a16:creationId xmlns:a16="http://schemas.microsoft.com/office/drawing/2014/main" id="{AFED23B7-B88C-4046-B460-7E08C859BC7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17" name="Copyright">
              <a:extLst>
                <a:ext uri="{FF2B5EF4-FFF2-40B4-BE49-F238E27FC236}">
                  <a16:creationId xmlns:a16="http://schemas.microsoft.com/office/drawing/2014/main" id="{6102431F-55CF-4F10-BCE6-9666CEA4F8C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1"/>
                </a:solidFill>
              </a:defRPr>
            </a:lvl1pPr>
          </a:lstStyle>
          <a:p>
            <a:r>
              <a:rPr lang="en-US"/>
              <a:t>Answer and explanation</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6"/>
            <a:ext cx="4401650" cy="5429386"/>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3" name="AnswerHeader">
            <a:extLst>
              <a:ext uri="{FF2B5EF4-FFF2-40B4-BE49-F238E27FC236}">
                <a16:creationId xmlns:a16="http://schemas.microsoft.com/office/drawing/2014/main" id="{7C8472BF-3681-4E98-B87B-5FA7A5C19359}"/>
              </a:ext>
            </a:extLst>
          </p:cNvPr>
          <p:cNvSpPr>
            <a:spLocks noGrp="1"/>
          </p:cNvSpPr>
          <p:nvPr>
            <p:ph type="subTitle" idx="4" hasCustomPrompt="1"/>
          </p:nvPr>
        </p:nvSpPr>
        <p:spPr>
          <a:xfrm>
            <a:off x="4580888" y="1020685"/>
            <a:ext cx="7611111" cy="400050"/>
          </a:xfrm>
          <a:solidFill>
            <a:schemeClr val="accent2"/>
          </a:solidFill>
        </p:spPr>
        <p:txBody>
          <a:bodyPr lIns="91440">
            <a:noAutofit/>
          </a:bodyPr>
          <a:lstStyle>
            <a:lvl1pPr marL="0" indent="0">
              <a:buNone/>
              <a:defRPr sz="2000"/>
            </a:lvl1pPr>
          </a:lstStyle>
          <a:p>
            <a:pPr lvl="0"/>
            <a:r>
              <a:rPr lang="en-US"/>
              <a:t>Enter “The correct response is x”</a:t>
            </a:r>
          </a:p>
        </p:txBody>
      </p:sp>
      <p:sp>
        <p:nvSpPr>
          <p:cNvPr id="8" name="Answer Text">
            <a:extLst>
              <a:ext uri="{FF2B5EF4-FFF2-40B4-BE49-F238E27FC236}">
                <a16:creationId xmlns:a16="http://schemas.microsoft.com/office/drawing/2014/main" id="{FFCADE15-0CD9-4F7B-9FFC-6A2C71B4D226}"/>
              </a:ext>
            </a:extLst>
          </p:cNvPr>
          <p:cNvSpPr>
            <a:spLocks noGrp="1"/>
          </p:cNvSpPr>
          <p:nvPr>
            <p:ph type="body" idx="2" hasCustomPrompt="1"/>
          </p:nvPr>
        </p:nvSpPr>
        <p:spPr>
          <a:xfrm>
            <a:off x="4886326" y="1420597"/>
            <a:ext cx="7267614" cy="4955378"/>
          </a:xfrm>
          <a:solidFill>
            <a:schemeClr val="bg1"/>
          </a:solidFill>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4728949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A-Horizontal">
    <p:bg>
      <p:bgPr>
        <a:solidFill>
          <a:schemeClr val="bg1"/>
        </a:solidFill>
        <a:effectLst/>
      </p:bgPr>
    </p:bg>
    <p:spTree>
      <p:nvGrpSpPr>
        <p:cNvPr id="1" name=""/>
        <p:cNvGrpSpPr/>
        <p:nvPr/>
      </p:nvGrpSpPr>
      <p:grpSpPr>
        <a:xfrm>
          <a:off x="0" y="0"/>
          <a:ext cx="0" cy="0"/>
          <a:chOff x="0" y="0"/>
          <a:chExt cx="0" cy="0"/>
        </a:xfrm>
      </p:grpSpPr>
      <p:grpSp>
        <p:nvGrpSpPr>
          <p:cNvPr id="19" name="Background Images">
            <a:extLst>
              <a:ext uri="{FF2B5EF4-FFF2-40B4-BE49-F238E27FC236}">
                <a16:creationId xmlns:a16="http://schemas.microsoft.com/office/drawing/2014/main" id="{18C277CC-8FC8-4D78-AB63-9513759C0783}"/>
              </a:ext>
            </a:extLst>
          </p:cNvPr>
          <p:cNvGrpSpPr/>
          <p:nvPr/>
        </p:nvGrpSpPr>
        <p:grpSpPr>
          <a:xfrm>
            <a:off x="0" y="1"/>
            <a:ext cx="12192000" cy="6858000"/>
            <a:chOff x="0" y="1"/>
            <a:chExt cx="12192000" cy="6858000"/>
          </a:xfrm>
        </p:grpSpPr>
        <p:sp>
          <p:nvSpPr>
            <p:cNvPr id="20" name="BKG-TP">
              <a:extLst>
                <a:ext uri="{FF2B5EF4-FFF2-40B4-BE49-F238E27FC236}">
                  <a16:creationId xmlns:a16="http://schemas.microsoft.com/office/drawing/2014/main" id="{1C269943-78A1-4304-AE96-B1F32EC214E6}"/>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AWS Logo">
              <a:extLst>
                <a:ext uri="{FF2B5EF4-FFF2-40B4-BE49-F238E27FC236}">
                  <a16:creationId xmlns:a16="http://schemas.microsoft.com/office/drawing/2014/main" id="{A49D8E1E-772D-46F7-9ACE-C06929884B0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23" name="Copyright">
              <a:extLst>
                <a:ext uri="{FF2B5EF4-FFF2-40B4-BE49-F238E27FC236}">
                  <a16:creationId xmlns:a16="http://schemas.microsoft.com/office/drawing/2014/main" id="{2268572E-7A9B-498D-A37E-CFD2934B7AC2}"/>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11774410" cy="825473"/>
          </a:xfrm>
        </p:spPr>
        <p:txBody>
          <a:bodyPr/>
          <a:lstStyle>
            <a:lvl1pPr>
              <a:defRPr>
                <a:solidFill>
                  <a:schemeClr val="bg1"/>
                </a:solidFill>
              </a:defRPr>
            </a:lvl1pPr>
          </a:lstStyle>
          <a:p>
            <a:r>
              <a:rPr lang="en-US"/>
              <a:t>Answer and explanation</a:t>
            </a:r>
          </a:p>
        </p:txBody>
      </p:sp>
      <p:sp>
        <p:nvSpPr>
          <p:cNvPr id="7" name="Question 1">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8" y="118549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8" name="Answer Text 1">
            <a:extLst>
              <a:ext uri="{FF2B5EF4-FFF2-40B4-BE49-F238E27FC236}">
                <a16:creationId xmlns:a16="http://schemas.microsoft.com/office/drawing/2014/main" id="{FFCADE15-0CD9-4F7B-9FFC-6A2C71B4D226}"/>
              </a:ext>
            </a:extLst>
          </p:cNvPr>
          <p:cNvSpPr>
            <a:spLocks noGrp="1"/>
          </p:cNvSpPr>
          <p:nvPr>
            <p:ph type="body" idx="2" hasCustomPrompt="1"/>
          </p:nvPr>
        </p:nvSpPr>
        <p:spPr>
          <a:xfrm>
            <a:off x="5651500" y="118549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
        <p:nvSpPr>
          <p:cNvPr id="12" name="Question 2">
            <a:extLst>
              <a:ext uri="{FF2B5EF4-FFF2-40B4-BE49-F238E27FC236}">
                <a16:creationId xmlns:a16="http://schemas.microsoft.com/office/drawing/2014/main" id="{2733FE88-66AC-4110-B77F-059B3D638C2E}"/>
              </a:ext>
            </a:extLst>
          </p:cNvPr>
          <p:cNvSpPr>
            <a:spLocks noGrp="1"/>
          </p:cNvSpPr>
          <p:nvPr>
            <p:ph type="body" idx="21" hasCustomPrompt="1"/>
          </p:nvPr>
        </p:nvSpPr>
        <p:spPr>
          <a:xfrm>
            <a:off x="179237" y="2526456"/>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3" name="Answer Text 2">
            <a:extLst>
              <a:ext uri="{FF2B5EF4-FFF2-40B4-BE49-F238E27FC236}">
                <a16:creationId xmlns:a16="http://schemas.microsoft.com/office/drawing/2014/main" id="{E33DAA71-DCA3-491A-8A97-143BF1813197}"/>
              </a:ext>
            </a:extLst>
          </p:cNvPr>
          <p:cNvSpPr>
            <a:spLocks noGrp="1"/>
          </p:cNvSpPr>
          <p:nvPr>
            <p:ph type="body" idx="22" hasCustomPrompt="1"/>
          </p:nvPr>
        </p:nvSpPr>
        <p:spPr>
          <a:xfrm>
            <a:off x="5651499" y="2526456"/>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
        <p:nvSpPr>
          <p:cNvPr id="14" name="Question 3">
            <a:extLst>
              <a:ext uri="{FF2B5EF4-FFF2-40B4-BE49-F238E27FC236}">
                <a16:creationId xmlns:a16="http://schemas.microsoft.com/office/drawing/2014/main" id="{85011FB9-28FB-42F5-8639-AFB8DE09EDB0}"/>
              </a:ext>
            </a:extLst>
          </p:cNvPr>
          <p:cNvSpPr>
            <a:spLocks noGrp="1"/>
          </p:cNvSpPr>
          <p:nvPr>
            <p:ph type="body" idx="23" hasCustomPrompt="1"/>
          </p:nvPr>
        </p:nvSpPr>
        <p:spPr>
          <a:xfrm>
            <a:off x="179237" y="3883100"/>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6" name="Answer Text 3">
            <a:extLst>
              <a:ext uri="{FF2B5EF4-FFF2-40B4-BE49-F238E27FC236}">
                <a16:creationId xmlns:a16="http://schemas.microsoft.com/office/drawing/2014/main" id="{BBA625A9-591B-4F80-B2C0-C8B9B7ED58AF}"/>
              </a:ext>
            </a:extLst>
          </p:cNvPr>
          <p:cNvSpPr>
            <a:spLocks noGrp="1"/>
          </p:cNvSpPr>
          <p:nvPr>
            <p:ph type="body" idx="24" hasCustomPrompt="1"/>
          </p:nvPr>
        </p:nvSpPr>
        <p:spPr>
          <a:xfrm>
            <a:off x="5651499" y="3883100"/>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
        <p:nvSpPr>
          <p:cNvPr id="17" name="Question 4">
            <a:extLst>
              <a:ext uri="{FF2B5EF4-FFF2-40B4-BE49-F238E27FC236}">
                <a16:creationId xmlns:a16="http://schemas.microsoft.com/office/drawing/2014/main" id="{94FE6022-0B4D-44CE-B9CB-F3EF8689FC0E}"/>
              </a:ext>
            </a:extLst>
          </p:cNvPr>
          <p:cNvSpPr>
            <a:spLocks noGrp="1"/>
          </p:cNvSpPr>
          <p:nvPr>
            <p:ph type="body" idx="25" hasCustomPrompt="1"/>
          </p:nvPr>
        </p:nvSpPr>
        <p:spPr>
          <a:xfrm>
            <a:off x="179236" y="523955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again –</a:t>
            </a:r>
            <a:br>
              <a:rPr lang="en-US"/>
            </a:br>
            <a:r>
              <a:rPr lang="en-US"/>
              <a:t>Here you can explain why the responses are correct or incorrect.</a:t>
            </a:r>
          </a:p>
        </p:txBody>
      </p:sp>
      <p:sp>
        <p:nvSpPr>
          <p:cNvPr id="18" name="Answer Text 4">
            <a:extLst>
              <a:ext uri="{FF2B5EF4-FFF2-40B4-BE49-F238E27FC236}">
                <a16:creationId xmlns:a16="http://schemas.microsoft.com/office/drawing/2014/main" id="{A6B202E1-04E5-4362-96B3-ED5EF312171C}"/>
              </a:ext>
            </a:extLst>
          </p:cNvPr>
          <p:cNvSpPr>
            <a:spLocks noGrp="1"/>
          </p:cNvSpPr>
          <p:nvPr>
            <p:ph type="body" idx="26" hasCustomPrompt="1"/>
          </p:nvPr>
        </p:nvSpPr>
        <p:spPr>
          <a:xfrm>
            <a:off x="5651498" y="523955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1344222302"/>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KC-Horizontal-Question">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E9CD1AC9-3AAD-4061-9815-CA2A755752E2}"/>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E0B6FD1A-B839-4C89-A4D5-3B9A5AA24C31}"/>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BKG-BM">
              <a:extLst>
                <a:ext uri="{FF2B5EF4-FFF2-40B4-BE49-F238E27FC236}">
                  <a16:creationId xmlns:a16="http://schemas.microsoft.com/office/drawing/2014/main" id="{71CA29FE-029C-470F-8B2A-DE98B38B26DF}"/>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8B560738-A5A3-492F-8E11-B91E6716C30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9728"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a:t>Question and Responses</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3" name="Choice Header">
            <a:extLst>
              <a:ext uri="{FF2B5EF4-FFF2-40B4-BE49-F238E27FC236}">
                <a16:creationId xmlns:a16="http://schemas.microsoft.com/office/drawing/2014/main" id="{819C768D-12EC-41EC-9F85-ED13A7CA6D52}"/>
              </a:ext>
            </a:extLst>
          </p:cNvPr>
          <p:cNvSpPr>
            <a:spLocks noGrp="1"/>
          </p:cNvSpPr>
          <p:nvPr>
            <p:ph type="subTitle" idx="13" hasCustomPrompt="1"/>
          </p:nvPr>
        </p:nvSpPr>
        <p:spPr>
          <a:xfrm>
            <a:off x="0" y="2109788"/>
            <a:ext cx="887413" cy="317500"/>
          </a:xfrm>
          <a:solidFill>
            <a:schemeClr val="accent2"/>
          </a:solidFill>
          <a:ln>
            <a:noFill/>
          </a:ln>
        </p:spPr>
        <p:txBody>
          <a:bodyPr lIns="0" rIns="0">
            <a:noAutofit/>
          </a:bodyPr>
          <a:lstStyle>
            <a:lvl1pPr marL="0" indent="0" algn="ctr">
              <a:buNone/>
              <a:defRPr sz="1800">
                <a:solidFill>
                  <a:schemeClr val="tx2"/>
                </a:solidFill>
              </a:defRPr>
            </a:lvl1pPr>
          </a:lstStyle>
          <a:p>
            <a:pPr lvl="0"/>
            <a:r>
              <a:rPr lang="en-US"/>
              <a:t>Choice</a:t>
            </a:r>
          </a:p>
        </p:txBody>
      </p:sp>
      <p:sp>
        <p:nvSpPr>
          <p:cNvPr id="4" name="Response Header">
            <a:extLst>
              <a:ext uri="{FF2B5EF4-FFF2-40B4-BE49-F238E27FC236}">
                <a16:creationId xmlns:a16="http://schemas.microsoft.com/office/drawing/2014/main" id="{AFAAB670-BBCA-4429-9F6C-C9ABD61E6B0C}"/>
              </a:ext>
            </a:extLst>
          </p:cNvPr>
          <p:cNvSpPr>
            <a:spLocks noGrp="1"/>
          </p:cNvSpPr>
          <p:nvPr>
            <p:ph type="subTitle" idx="14" hasCustomPrompt="1"/>
          </p:nvPr>
        </p:nvSpPr>
        <p:spPr>
          <a:xfrm>
            <a:off x="907950" y="2109788"/>
            <a:ext cx="11284050" cy="317500"/>
          </a:xfrm>
          <a:solidFill>
            <a:schemeClr val="accent2"/>
          </a:solidFill>
          <a:ln>
            <a:noFill/>
          </a:ln>
        </p:spPr>
        <p:txBody>
          <a:bodyPr lIns="91440" rIns="0">
            <a:noAutofit/>
          </a:bodyPr>
          <a:lstStyle>
            <a:lvl1pPr marL="0" indent="0" algn="l">
              <a:buNone/>
              <a:defRPr sz="1800">
                <a:solidFill>
                  <a:schemeClr val="tx2"/>
                </a:solidFill>
              </a:defRPr>
            </a:lvl1pPr>
          </a:lstStyle>
          <a:p>
            <a:pPr lvl="0"/>
            <a:r>
              <a:rPr lang="en-US"/>
              <a:t>Response</a:t>
            </a:r>
          </a:p>
        </p:txBody>
      </p:sp>
      <p:sp>
        <p:nvSpPr>
          <p:cNvPr id="9" name="First Resp #">
            <a:extLst>
              <a:ext uri="{FF2B5EF4-FFF2-40B4-BE49-F238E27FC236}">
                <a16:creationId xmlns:a16="http://schemas.microsoft.com/office/drawing/2014/main" id="{B4EC449C-918E-4AF9-9E90-0E8D47CF3DD9}"/>
              </a:ext>
            </a:extLst>
          </p:cNvPr>
          <p:cNvSpPr>
            <a:spLocks noGrp="1"/>
          </p:cNvSpPr>
          <p:nvPr>
            <p:ph type="body" idx="2" hasCustomPrompt="1"/>
          </p:nvPr>
        </p:nvSpPr>
        <p:spPr>
          <a:xfrm>
            <a:off x="1" y="2427252"/>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8" name="First Resp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427252"/>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2" name="Second Resp #">
            <a:extLst>
              <a:ext uri="{FF2B5EF4-FFF2-40B4-BE49-F238E27FC236}">
                <a16:creationId xmlns:a16="http://schemas.microsoft.com/office/drawing/2014/main" id="{05FFB414-A546-4A6C-B7E8-B6D9C7AC88C9}"/>
              </a:ext>
            </a:extLst>
          </p:cNvPr>
          <p:cNvSpPr>
            <a:spLocks noGrp="1"/>
          </p:cNvSpPr>
          <p:nvPr>
            <p:ph type="body" idx="4" hasCustomPrompt="1"/>
          </p:nvPr>
        </p:nvSpPr>
        <p:spPr>
          <a:xfrm>
            <a:off x="1" y="310073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10" name="Second Resp Text">
            <a:extLst>
              <a:ext uri="{FF2B5EF4-FFF2-40B4-BE49-F238E27FC236}">
                <a16:creationId xmlns:a16="http://schemas.microsoft.com/office/drawing/2014/main" id="{840EA72F-053D-43C4-A0AA-4F71D345F1E1}"/>
              </a:ext>
            </a:extLst>
          </p:cNvPr>
          <p:cNvSpPr>
            <a:spLocks noGrp="1"/>
          </p:cNvSpPr>
          <p:nvPr>
            <p:ph type="body" idx="5" hasCustomPrompt="1"/>
          </p:nvPr>
        </p:nvSpPr>
        <p:spPr>
          <a:xfrm>
            <a:off x="907950" y="310073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38" name="Third Resp #">
            <a:extLst>
              <a:ext uri="{FF2B5EF4-FFF2-40B4-BE49-F238E27FC236}">
                <a16:creationId xmlns:a16="http://schemas.microsoft.com/office/drawing/2014/main" id="{F00955FE-A162-474C-BFF8-0AB0FBF10130}"/>
              </a:ext>
            </a:extLst>
          </p:cNvPr>
          <p:cNvSpPr>
            <a:spLocks noGrp="1"/>
          </p:cNvSpPr>
          <p:nvPr>
            <p:ph type="body" idx="6" hasCustomPrompt="1"/>
          </p:nvPr>
        </p:nvSpPr>
        <p:spPr>
          <a:xfrm>
            <a:off x="1" y="3774216"/>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35" name="Third Resp Text">
            <a:extLst>
              <a:ext uri="{FF2B5EF4-FFF2-40B4-BE49-F238E27FC236}">
                <a16:creationId xmlns:a16="http://schemas.microsoft.com/office/drawing/2014/main" id="{55974934-D7D0-4C4C-B76C-558C1028590E}"/>
              </a:ext>
            </a:extLst>
          </p:cNvPr>
          <p:cNvSpPr>
            <a:spLocks noGrp="1"/>
          </p:cNvSpPr>
          <p:nvPr>
            <p:ph type="body" idx="7" hasCustomPrompt="1"/>
          </p:nvPr>
        </p:nvSpPr>
        <p:spPr>
          <a:xfrm>
            <a:off x="907950" y="3774216"/>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2" name="Fourth Resp #">
            <a:extLst>
              <a:ext uri="{FF2B5EF4-FFF2-40B4-BE49-F238E27FC236}">
                <a16:creationId xmlns:a16="http://schemas.microsoft.com/office/drawing/2014/main" id="{9A682F4A-836A-42BD-B18F-482CDD9FE392}"/>
              </a:ext>
            </a:extLst>
          </p:cNvPr>
          <p:cNvSpPr>
            <a:spLocks noGrp="1"/>
          </p:cNvSpPr>
          <p:nvPr>
            <p:ph type="body" idx="8" hasCustomPrompt="1"/>
          </p:nvPr>
        </p:nvSpPr>
        <p:spPr>
          <a:xfrm>
            <a:off x="1" y="4447698"/>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1" name="Fourth Resp Text">
            <a:extLst>
              <a:ext uri="{FF2B5EF4-FFF2-40B4-BE49-F238E27FC236}">
                <a16:creationId xmlns:a16="http://schemas.microsoft.com/office/drawing/2014/main" id="{2A075B8F-DFA0-46B1-A70C-B12937892D4B}"/>
              </a:ext>
            </a:extLst>
          </p:cNvPr>
          <p:cNvSpPr>
            <a:spLocks noGrp="1"/>
          </p:cNvSpPr>
          <p:nvPr>
            <p:ph type="body" idx="9" hasCustomPrompt="1"/>
          </p:nvPr>
        </p:nvSpPr>
        <p:spPr>
          <a:xfrm>
            <a:off x="907950" y="4447698"/>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4" name="Fifth Resp #">
            <a:extLst>
              <a:ext uri="{FF2B5EF4-FFF2-40B4-BE49-F238E27FC236}">
                <a16:creationId xmlns:a16="http://schemas.microsoft.com/office/drawing/2014/main" id="{B3A4AC8A-DBAB-477E-8F79-6EFB6340CE48}"/>
              </a:ext>
            </a:extLst>
          </p:cNvPr>
          <p:cNvSpPr>
            <a:spLocks noGrp="1"/>
          </p:cNvSpPr>
          <p:nvPr>
            <p:ph type="body" idx="10" hasCustomPrompt="1"/>
          </p:nvPr>
        </p:nvSpPr>
        <p:spPr>
          <a:xfrm>
            <a:off x="1" y="5121180"/>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3" name="Fifth Resp Text">
            <a:extLst>
              <a:ext uri="{FF2B5EF4-FFF2-40B4-BE49-F238E27FC236}">
                <a16:creationId xmlns:a16="http://schemas.microsoft.com/office/drawing/2014/main" id="{0B4A450D-E822-44AA-8298-11D531D74483}"/>
              </a:ext>
            </a:extLst>
          </p:cNvPr>
          <p:cNvSpPr>
            <a:spLocks noGrp="1"/>
          </p:cNvSpPr>
          <p:nvPr>
            <p:ph type="body" idx="11" hasCustomPrompt="1"/>
          </p:nvPr>
        </p:nvSpPr>
        <p:spPr>
          <a:xfrm>
            <a:off x="907950" y="5121180"/>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
        <p:nvSpPr>
          <p:cNvPr id="46" name="Sixth Resp #">
            <a:extLst>
              <a:ext uri="{FF2B5EF4-FFF2-40B4-BE49-F238E27FC236}">
                <a16:creationId xmlns:a16="http://schemas.microsoft.com/office/drawing/2014/main" id="{4075988B-8657-4CA4-A4CB-EAEA7B298681}"/>
              </a:ext>
            </a:extLst>
          </p:cNvPr>
          <p:cNvSpPr>
            <a:spLocks noGrp="1"/>
          </p:cNvSpPr>
          <p:nvPr>
            <p:ph type="body" idx="12" hasCustomPrompt="1"/>
          </p:nvPr>
        </p:nvSpPr>
        <p:spPr>
          <a:xfrm>
            <a:off x="1" y="579466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a:t>#</a:t>
            </a:r>
          </a:p>
        </p:txBody>
      </p:sp>
      <p:sp>
        <p:nvSpPr>
          <p:cNvPr id="45" name="Sixth Resp Text">
            <a:extLst>
              <a:ext uri="{FF2B5EF4-FFF2-40B4-BE49-F238E27FC236}">
                <a16:creationId xmlns:a16="http://schemas.microsoft.com/office/drawing/2014/main" id="{327445DD-9D42-491C-969B-C7919BE2E3F0}"/>
              </a:ext>
            </a:extLst>
          </p:cNvPr>
          <p:cNvSpPr>
            <a:spLocks noGrp="1"/>
          </p:cNvSpPr>
          <p:nvPr>
            <p:ph type="body" idx="13" hasCustomPrompt="1"/>
          </p:nvPr>
        </p:nvSpPr>
        <p:spPr>
          <a:xfrm>
            <a:off x="907950" y="579466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Value</a:t>
            </a:r>
          </a:p>
        </p:txBody>
      </p:sp>
    </p:spTree>
    <p:custDataLst>
      <p:tags r:id="rId1"/>
    </p:custDataLst>
    <p:extLst>
      <p:ext uri="{BB962C8B-B14F-4D97-AF65-F5344CB8AC3E}">
        <p14:creationId xmlns:p14="http://schemas.microsoft.com/office/powerpoint/2010/main" val="390075568"/>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KC-Horizontal-Answer">
    <p:bg>
      <p:bgPr>
        <a:solidFill>
          <a:schemeClr val="bg1"/>
        </a:solidFill>
        <a:effectLst/>
      </p:bgPr>
    </p:bg>
    <p:spTree>
      <p:nvGrpSpPr>
        <p:cNvPr id="1" name=""/>
        <p:cNvGrpSpPr/>
        <p:nvPr/>
      </p:nvGrpSpPr>
      <p:grpSpPr>
        <a:xfrm>
          <a:off x="0" y="0"/>
          <a:ext cx="0" cy="0"/>
          <a:chOff x="0" y="0"/>
          <a:chExt cx="0" cy="0"/>
        </a:xfrm>
      </p:grpSpPr>
      <p:grpSp>
        <p:nvGrpSpPr>
          <p:cNvPr id="5" name="Background Images">
            <a:extLst>
              <a:ext uri="{FF2B5EF4-FFF2-40B4-BE49-F238E27FC236}">
                <a16:creationId xmlns:a16="http://schemas.microsoft.com/office/drawing/2014/main" id="{9AC63EDD-BEE2-404E-8399-2AA11023CDAB}"/>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7A68BE18-C9FD-4D64-BD55-20302868F06E}"/>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BKG-BM">
              <a:extLst>
                <a:ext uri="{FF2B5EF4-FFF2-40B4-BE49-F238E27FC236}">
                  <a16:creationId xmlns:a16="http://schemas.microsoft.com/office/drawing/2014/main" id="{31622DCA-CB0C-4601-9C65-55CE8CDC7503}"/>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AWS Logo">
              <a:extLst>
                <a:ext uri="{FF2B5EF4-FFF2-40B4-BE49-F238E27FC236}">
                  <a16:creationId xmlns:a16="http://schemas.microsoft.com/office/drawing/2014/main" id="{18A3C304-3B7F-434E-99A7-8B8C386B4EF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6233"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Answer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a:t>Answer and explanation</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a:t>Enter question – 4 responses can only have 1 correct response; 5 responses must have 2 correct responses; 6 responses must have 3 correct responses.</a:t>
            </a:r>
          </a:p>
        </p:txBody>
      </p:sp>
      <p:sp>
        <p:nvSpPr>
          <p:cNvPr id="3" name="Answer Header">
            <a:extLst>
              <a:ext uri="{FF2B5EF4-FFF2-40B4-BE49-F238E27FC236}">
                <a16:creationId xmlns:a16="http://schemas.microsoft.com/office/drawing/2014/main" id="{4CF18732-63A0-43A6-B5E9-C4F74190ED76}"/>
              </a:ext>
            </a:extLst>
          </p:cNvPr>
          <p:cNvSpPr>
            <a:spLocks noGrp="1"/>
          </p:cNvSpPr>
          <p:nvPr>
            <p:ph type="subTitle" idx="4" hasCustomPrompt="1"/>
          </p:nvPr>
        </p:nvSpPr>
        <p:spPr>
          <a:xfrm>
            <a:off x="0" y="2114550"/>
            <a:ext cx="12192000" cy="400050"/>
          </a:xfrm>
          <a:solidFill>
            <a:schemeClr val="accent2"/>
          </a:solidFill>
        </p:spPr>
        <p:txBody>
          <a:bodyPr lIns="228600">
            <a:noAutofit/>
          </a:bodyPr>
          <a:lstStyle>
            <a:lvl1pPr marL="0" indent="0">
              <a:buNone/>
              <a:defRPr sz="2000"/>
            </a:lvl1pPr>
          </a:lstStyle>
          <a:p>
            <a:pPr lvl="0"/>
            <a:r>
              <a:rPr lang="en-US"/>
              <a:t>Enter “The correct response is x”</a:t>
            </a:r>
          </a:p>
        </p:txBody>
      </p:sp>
      <p:sp>
        <p:nvSpPr>
          <p:cNvPr id="8" name="Answer Text">
            <a:extLst>
              <a:ext uri="{FF2B5EF4-FFF2-40B4-BE49-F238E27FC236}">
                <a16:creationId xmlns:a16="http://schemas.microsoft.com/office/drawing/2014/main" id="{35CD1FAE-5D7E-4F04-B017-89D4732E2444}"/>
              </a:ext>
            </a:extLst>
          </p:cNvPr>
          <p:cNvSpPr>
            <a:spLocks noGrp="1"/>
          </p:cNvSpPr>
          <p:nvPr>
            <p:ph type="body" idx="2" hasCustomPrompt="1"/>
          </p:nvPr>
        </p:nvSpPr>
        <p:spPr>
          <a:xfrm>
            <a:off x="907950" y="2427252"/>
            <a:ext cx="11245989" cy="4007816"/>
          </a:xfrm>
          <a:solidFill>
            <a:schemeClr val="bg1"/>
          </a:solidFill>
          <a:ln>
            <a:no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a:t>Enter a description of the correct and incorrect responses.</a:t>
            </a:r>
          </a:p>
        </p:txBody>
      </p:sp>
    </p:spTree>
    <p:custDataLst>
      <p:tags r:id="rId1"/>
    </p:custDataLst>
    <p:extLst>
      <p:ext uri="{BB962C8B-B14F-4D97-AF65-F5344CB8AC3E}">
        <p14:creationId xmlns:p14="http://schemas.microsoft.com/office/powerpoint/2010/main" val="38892894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 name="Copyright">
            <a:extLst>
              <a:ext uri="{FF2B5EF4-FFF2-40B4-BE49-F238E27FC236}">
                <a16:creationId xmlns:a16="http://schemas.microsoft.com/office/drawing/2014/main" id="{962C3F25-041D-4E5B-839E-FBB5D7B91A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solidFill>
                  <a:schemeClr val="tx2"/>
                </a:solidFill>
              </a:defRPr>
            </a:lvl1pPr>
          </a:lstStyle>
          <a:p>
            <a:r>
              <a:rPr lang="en-US"/>
              <a:t>Title and vertical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435716" y="1033070"/>
            <a:ext cx="11499253" cy="5389244"/>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7F823AF2-999D-4175-8C01-402CA4924585}"/>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160842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 name="Copyright">
            <a:extLst>
              <a:ext uri="{FF2B5EF4-FFF2-40B4-BE49-F238E27FC236}">
                <a16:creationId xmlns:a16="http://schemas.microsoft.com/office/drawing/2014/main" id="{962C3F25-041D-4E5B-839E-FBB5D7B91A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1FDB7DAC-24E1-411C-8D5F-3A7FDF188C1D}"/>
              </a:ext>
            </a:extLst>
          </p:cNvPr>
          <p:cNvSpPr>
            <a:spLocks noGrp="1"/>
          </p:cNvSpPr>
          <p:nvPr>
            <p:ph type="title" hasCustomPrompt="1"/>
          </p:nvPr>
        </p:nvSpPr>
        <p:spPr>
          <a:xfrm rot="5400000">
            <a:off x="8324028" y="2805126"/>
            <a:ext cx="6127095" cy="1132145"/>
          </a:xfrm>
        </p:spPr>
        <p:txBody>
          <a:bodyPr/>
          <a:lstStyle>
            <a:lvl1pPr marL="0" marR="0" indent="0" algn="l" defTabSz="914400" rtl="0" eaLnBrk="1" fontAlgn="auto" latinLnBrk="0" hangingPunct="1">
              <a:lnSpc>
                <a:spcPct val="100000"/>
              </a:lnSpc>
              <a:spcBef>
                <a:spcPct val="0"/>
              </a:spcBef>
              <a:spcAft>
                <a:spcPts val="0"/>
              </a:spcAft>
              <a:buClrTx/>
              <a:buSzTx/>
              <a:buFontTx/>
              <a:buNone/>
              <a:tabLst/>
              <a:defRPr>
                <a:solidFill>
                  <a:schemeClr val="tx2"/>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Vertical title and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365760" y="307649"/>
            <a:ext cx="10455743" cy="6127095"/>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sp>
        <p:nvSpPr>
          <p:cNvPr id="19" name="Title Border">
            <a:extLst>
              <a:ext uri="{FF2B5EF4-FFF2-40B4-BE49-F238E27FC236}">
                <a16:creationId xmlns:a16="http://schemas.microsoft.com/office/drawing/2014/main" id="{A9006E65-0AC6-4AEC-9676-8B754EE037E9}"/>
              </a:ext>
              <a:ext uri="{C183D7F6-B498-43B3-948B-1728B52AA6E4}">
                <adec:decorative xmlns:adec="http://schemas.microsoft.com/office/drawing/2017/decorative" val="1"/>
              </a:ext>
            </a:extLst>
          </p:cNvPr>
          <p:cNvSpPr/>
          <p:nvPr/>
        </p:nvSpPr>
        <p:spPr>
          <a:xfrm rot="5400000">
            <a:off x="7803983" y="3371504"/>
            <a:ext cx="60807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22889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29407129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0675093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04436209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28324236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spTree>
    <p:custDataLst>
      <p:tags r:id="rId1"/>
    </p:custDataLst>
    <p:extLst>
      <p:ext uri="{BB962C8B-B14F-4D97-AF65-F5344CB8AC3E}">
        <p14:creationId xmlns:p14="http://schemas.microsoft.com/office/powerpoint/2010/main" val="9663513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162436843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3.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4">
            <a:lum/>
          </a:blip>
          <a:srcRect/>
          <a:stretch>
            <a:fillRect/>
          </a:stretch>
        </a:blipFill>
        <a:effectLst/>
      </p:bgPr>
    </p:bg>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740ACF5A-6DEA-4283-95F3-28BFCB00D1FE}"/>
              </a:ext>
            </a:extLst>
          </p:cNvPr>
          <p:cNvSpPr>
            <a:spLocks noGrp="1"/>
          </p:cNvSpPr>
          <p:nvPr>
            <p:ph type="sldNum" sz="quarter" idx="4"/>
          </p:nvPr>
        </p:nvSpPr>
        <p:spPr>
          <a:xfrm>
            <a:off x="11469389" y="6445721"/>
            <a:ext cx="484261" cy="289591"/>
          </a:xfrm>
          <a:prstGeom prst="rect">
            <a:avLst/>
          </a:prstGeom>
        </p:spPr>
        <p:txBody>
          <a:bodyPr vert="horz" lIns="91440" tIns="45720" rIns="91440" bIns="45720" rtlCol="0" anchor="ctr"/>
          <a:lstStyle>
            <a:lvl1pPr algn="r">
              <a:defRPr sz="16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C6E65ACB-7BFD-4D12-ACB2-501576A6711D}"/>
              </a:ext>
            </a:extLst>
          </p:cNvPr>
          <p:cNvSpPr>
            <a:spLocks noGrp="1"/>
          </p:cNvSpPr>
          <p:nvPr>
            <p:ph type="title"/>
          </p:nvPr>
        </p:nvSpPr>
        <p:spPr>
          <a:xfrm>
            <a:off x="365760" y="299526"/>
            <a:ext cx="11569209" cy="731318"/>
          </a:xfrm>
          <a:prstGeom prst="rect">
            <a:avLst/>
          </a:prstGeom>
        </p:spPr>
        <p:txBody>
          <a:bodyPr vert="horz" lIns="91440" tIns="45720" rIns="91440" bIns="45720" rtlCol="0" anchor="ctr">
            <a:normAutofit/>
          </a:bodyPr>
          <a:lstStyle/>
          <a:p>
            <a:r>
              <a:rPr lang="en-US"/>
              <a:t>Click to edit Master title style</a:t>
            </a:r>
          </a:p>
        </p:txBody>
      </p:sp>
      <p:sp>
        <p:nvSpPr>
          <p:cNvPr id="3" name="Content">
            <a:extLst>
              <a:ext uri="{FF2B5EF4-FFF2-40B4-BE49-F238E27FC236}">
                <a16:creationId xmlns:a16="http://schemas.microsoft.com/office/drawing/2014/main" id="{BD9FB2C3-6E12-492D-B6C4-46373C49E3FD}"/>
              </a:ext>
            </a:extLst>
          </p:cNvPr>
          <p:cNvSpPr>
            <a:spLocks noGrp="1"/>
          </p:cNvSpPr>
          <p:nvPr>
            <p:ph type="body" idx="1"/>
          </p:nvPr>
        </p:nvSpPr>
        <p:spPr>
          <a:xfrm>
            <a:off x="365760" y="1143000"/>
            <a:ext cx="11569209" cy="5291750"/>
          </a:xfrm>
          <a:prstGeom prst="rect">
            <a:avLst/>
          </a:prstGeom>
        </p:spPr>
        <p:txBody>
          <a:bodyPr vert="horz" lIns="91440" tIns="45720" rIns="91440" bIns="45720" rtlCol="0">
            <a:normAutofit/>
          </a:bodyPr>
          <a:lstStyle/>
          <a:p>
            <a:pPr lvl="0"/>
            <a:r>
              <a:rPr lang="en-US"/>
              <a:t>Add content text</a:t>
            </a:r>
          </a:p>
          <a:p>
            <a:pPr lvl="1"/>
            <a:r>
              <a:rPr lang="en-US"/>
              <a:t>Second level</a:t>
            </a:r>
          </a:p>
          <a:p>
            <a:pPr lvl="2"/>
            <a:r>
              <a:rPr lang="en-US"/>
              <a:t>Third level</a:t>
            </a:r>
          </a:p>
          <a:p>
            <a:pPr lvl="3"/>
            <a:r>
              <a:rPr lang="en-US"/>
              <a:t>Avoid using fourth  level</a:t>
            </a:r>
          </a:p>
          <a:p>
            <a:pPr lvl="4"/>
            <a:r>
              <a:rPr lang="en-US"/>
              <a:t>Avoid using fifth level</a:t>
            </a:r>
          </a:p>
        </p:txBody>
      </p:sp>
      <p:pic>
        <p:nvPicPr>
          <p:cNvPr id="98" name="AWS Logo">
            <a:extLst>
              <a:ext uri="{FF2B5EF4-FFF2-40B4-BE49-F238E27FC236}">
                <a16:creationId xmlns:a16="http://schemas.microsoft.com/office/drawing/2014/main" id="{56ED120F-98B5-42C0-B16A-27FB0984653F}"/>
              </a:ext>
              <a:ext uri="{C183D7F6-B498-43B3-948B-1728B52AA6E4}">
                <adec:decorative xmlns:adec="http://schemas.microsoft.com/office/drawing/2017/decorative" val="1"/>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243599" y="6452308"/>
            <a:ext cx="366979" cy="219456"/>
          </a:xfrm>
          <a:prstGeom prst="rect">
            <a:avLst/>
          </a:prstGeom>
        </p:spPr>
      </p:pic>
    </p:spTree>
    <p:custDataLst>
      <p:tags r:id="rId53"/>
    </p:custDataLst>
    <p:extLst>
      <p:ext uri="{BB962C8B-B14F-4D97-AF65-F5344CB8AC3E}">
        <p14:creationId xmlns:p14="http://schemas.microsoft.com/office/powerpoint/2010/main" val="1924365284"/>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87" r:id="rId9"/>
    <p:sldLayoutId id="2147484008" r:id="rId10"/>
    <p:sldLayoutId id="2147484009" r:id="rId11"/>
    <p:sldLayoutId id="2147484010" r:id="rId12"/>
    <p:sldLayoutId id="2147484011" r:id="rId13"/>
    <p:sldLayoutId id="2147484012" r:id="rId14"/>
    <p:sldLayoutId id="2147484089" r:id="rId15"/>
    <p:sldLayoutId id="2147484013" r:id="rId16"/>
    <p:sldLayoutId id="2147484014" r:id="rId17"/>
    <p:sldLayoutId id="2147484015" r:id="rId18"/>
    <p:sldLayoutId id="2147484016" r:id="rId19"/>
    <p:sldLayoutId id="2147484017" r:id="rId20"/>
    <p:sldLayoutId id="2147484018" r:id="rId21"/>
    <p:sldLayoutId id="2147484019" r:id="rId22"/>
    <p:sldLayoutId id="2147484020" r:id="rId23"/>
    <p:sldLayoutId id="2147484021" r:id="rId24"/>
    <p:sldLayoutId id="2147484022" r:id="rId25"/>
    <p:sldLayoutId id="2147484023" r:id="rId26"/>
    <p:sldLayoutId id="2147484024" r:id="rId27"/>
    <p:sldLayoutId id="2147484025" r:id="rId28"/>
    <p:sldLayoutId id="2147484026" r:id="rId29"/>
    <p:sldLayoutId id="2147484027" r:id="rId30"/>
    <p:sldLayoutId id="2147484028" r:id="rId31"/>
    <p:sldLayoutId id="2147484029" r:id="rId32"/>
    <p:sldLayoutId id="2147484030" r:id="rId33"/>
    <p:sldLayoutId id="2147484031" r:id="rId34"/>
    <p:sldLayoutId id="2147484032" r:id="rId35"/>
    <p:sldLayoutId id="2147484033" r:id="rId36"/>
    <p:sldLayoutId id="2147484034" r:id="rId37"/>
    <p:sldLayoutId id="2147484035" r:id="rId38"/>
    <p:sldLayoutId id="2147484036" r:id="rId39"/>
    <p:sldLayoutId id="2147484037" r:id="rId40"/>
    <p:sldLayoutId id="2147484038" r:id="rId41"/>
    <p:sldLayoutId id="2147484039" r:id="rId42"/>
    <p:sldLayoutId id="2147484040" r:id="rId43"/>
    <p:sldLayoutId id="2147484041" r:id="rId44"/>
    <p:sldLayoutId id="2147484042" r:id="rId45"/>
    <p:sldLayoutId id="2147484090" r:id="rId46"/>
    <p:sldLayoutId id="2147484091" r:id="rId47"/>
    <p:sldLayoutId id="2147484093" r:id="rId48"/>
    <p:sldLayoutId id="2147484094" r:id="rId49"/>
    <p:sldLayoutId id="2147484095" r:id="rId50"/>
    <p:sldLayoutId id="2147484096" r:id="rId51"/>
  </p:sldLayoutIdLst>
  <p:hf hdr="0" ftr="0" dt="0"/>
  <p:txStyles>
    <p:titleStyle>
      <a:lvl1pPr algn="l" defTabSz="228600" rtl="0" eaLnBrk="1" latinLnBrk="0" hangingPunct="1">
        <a:lnSpc>
          <a:spcPct val="100000"/>
        </a:lnSpc>
        <a:spcBef>
          <a:spcPct val="0"/>
        </a:spcBef>
        <a:buNone/>
        <a:defRPr sz="3200" kern="1200">
          <a:solidFill>
            <a:schemeClr val="tx2"/>
          </a:solidFill>
          <a:latin typeface="Amazon Ember Heavy"/>
        </a:defRPr>
      </a:lvl1pPr>
    </p:titleStyle>
    <p:body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55.xml"/><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56.xml"/></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3" Type="http://schemas.openxmlformats.org/officeDocument/2006/relationships/notesSlide" Target="../notesSlides/notesSlide4.xml"/><Relationship Id="rId7" Type="http://schemas.openxmlformats.org/officeDocument/2006/relationships/image" Target="../media/image22.svg"/><Relationship Id="rId12" Type="http://schemas.openxmlformats.org/officeDocument/2006/relationships/image" Target="../media/image27.png"/><Relationship Id="rId2" Type="http://schemas.openxmlformats.org/officeDocument/2006/relationships/slideLayout" Target="../slideLayouts/slideLayout12.xml"/><Relationship Id="rId1" Type="http://schemas.openxmlformats.org/officeDocument/2006/relationships/tags" Target="../tags/tag57.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5" Type="http://schemas.openxmlformats.org/officeDocument/2006/relationships/image" Target="../media/image3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59.xml"/><Relationship Id="rId5" Type="http://schemas.openxmlformats.org/officeDocument/2006/relationships/image" Target="../media/image24.sv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60.xml"/><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tags" Target="../tags/tag6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6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6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6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6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66.xml"/><Relationship Id="rId5" Type="http://schemas.openxmlformats.org/officeDocument/2006/relationships/image" Target="../media/image26.sv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5.xml"/><Relationship Id="rId1" Type="http://schemas.openxmlformats.org/officeDocument/2006/relationships/tags" Target="../tags/tag67.xml"/><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68.xml"/></Relationships>
</file>

<file path=ppt/slides/_rels/slide1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notesSlide" Target="../notesSlides/notesSlide16.xml"/><Relationship Id="rId7" Type="http://schemas.openxmlformats.org/officeDocument/2006/relationships/image" Target="../media/image25.png"/><Relationship Id="rId2" Type="http://schemas.openxmlformats.org/officeDocument/2006/relationships/slideLayout" Target="../slideLayouts/slideLayout12.xml"/><Relationship Id="rId1" Type="http://schemas.openxmlformats.org/officeDocument/2006/relationships/tags" Target="../tags/tag69.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9" Type="http://schemas.openxmlformats.org/officeDocument/2006/relationships/hyperlink" Target="https://s3/"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17.xml"/><Relationship Id="rId7" Type="http://schemas.openxmlformats.org/officeDocument/2006/relationships/image" Target="../media/image38.svg"/><Relationship Id="rId2" Type="http://schemas.openxmlformats.org/officeDocument/2006/relationships/slideLayout" Target="../slideLayouts/slideLayout12.xml"/><Relationship Id="rId1" Type="http://schemas.openxmlformats.org/officeDocument/2006/relationships/tags" Target="../tags/tag70.xml"/><Relationship Id="rId6" Type="http://schemas.openxmlformats.org/officeDocument/2006/relationships/image" Target="../media/image37.png"/><Relationship Id="rId5" Type="http://schemas.openxmlformats.org/officeDocument/2006/relationships/image" Target="../media/image41.sv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notesSlide" Target="../notesSlides/notesSlide18.xml"/><Relationship Id="rId7" Type="http://schemas.openxmlformats.org/officeDocument/2006/relationships/image" Target="../media/image38.svg"/><Relationship Id="rId2" Type="http://schemas.openxmlformats.org/officeDocument/2006/relationships/slideLayout" Target="../slideLayouts/slideLayout12.xml"/><Relationship Id="rId1" Type="http://schemas.openxmlformats.org/officeDocument/2006/relationships/tags" Target="../tags/tag71.xml"/><Relationship Id="rId6" Type="http://schemas.openxmlformats.org/officeDocument/2006/relationships/image" Target="../media/image37.png"/><Relationship Id="rId5" Type="http://schemas.openxmlformats.org/officeDocument/2006/relationships/image" Target="../media/image44.svg"/><Relationship Id="rId4" Type="http://schemas.openxmlformats.org/officeDocument/2006/relationships/image" Target="../media/image43.png"/><Relationship Id="rId9" Type="http://schemas.openxmlformats.org/officeDocument/2006/relationships/image" Target="../media/image41.svg"/></Relationships>
</file>

<file path=ppt/slides/_rels/slide1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notesSlide" Target="../notesSlides/notesSlide19.xml"/><Relationship Id="rId7" Type="http://schemas.openxmlformats.org/officeDocument/2006/relationships/image" Target="../media/image48.svg"/><Relationship Id="rId2" Type="http://schemas.openxmlformats.org/officeDocument/2006/relationships/slideLayout" Target="../slideLayouts/slideLayout12.xml"/><Relationship Id="rId1" Type="http://schemas.openxmlformats.org/officeDocument/2006/relationships/tags" Target="../tags/tag72.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 Id="rId9" Type="http://schemas.openxmlformats.org/officeDocument/2006/relationships/image" Target="../media/image50.sv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tags" Target="../tags/tag73.xml"/><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21.xml"/><Relationship Id="rId7" Type="http://schemas.openxmlformats.org/officeDocument/2006/relationships/image" Target="../media/image54.svg"/><Relationship Id="rId2" Type="http://schemas.openxmlformats.org/officeDocument/2006/relationships/slideLayout" Target="../slideLayouts/slideLayout35.xml"/><Relationship Id="rId1" Type="http://schemas.openxmlformats.org/officeDocument/2006/relationships/tags" Target="../tags/tag74.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36.png"/><Relationship Id="rId9" Type="http://schemas.openxmlformats.org/officeDocument/2006/relationships/image" Target="../media/image5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7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7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tags" Target="../tags/tag7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78.xml"/><Relationship Id="rId4" Type="http://schemas.openxmlformats.org/officeDocument/2006/relationships/image" Target="../media/image59.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79.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80.xml"/><Relationship Id="rId5" Type="http://schemas.openxmlformats.org/officeDocument/2006/relationships/image" Target="../media/image20.sv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81.xml"/></Relationships>
</file>

<file path=ppt/slides/_rels/slide2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29.xml"/><Relationship Id="rId7" Type="http://schemas.openxmlformats.org/officeDocument/2006/relationships/image" Target="../media/image63.svg"/><Relationship Id="rId2" Type="http://schemas.openxmlformats.org/officeDocument/2006/relationships/slideLayout" Target="../slideLayouts/slideLayout12.xml"/><Relationship Id="rId1" Type="http://schemas.openxmlformats.org/officeDocument/2006/relationships/tags" Target="../tags/tag82.xml"/><Relationship Id="rId6" Type="http://schemas.openxmlformats.org/officeDocument/2006/relationships/image" Target="../media/image62.png"/><Relationship Id="rId5" Type="http://schemas.openxmlformats.org/officeDocument/2006/relationships/image" Target="../media/image61.svg"/><Relationship Id="rId4" Type="http://schemas.openxmlformats.org/officeDocument/2006/relationships/image" Target="../media/image60.png"/><Relationship Id="rId9" Type="http://schemas.openxmlformats.org/officeDocument/2006/relationships/image" Target="../media/image20.sv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xml"/><Relationship Id="rId1" Type="http://schemas.openxmlformats.org/officeDocument/2006/relationships/tags" Target="../tags/tag8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tags" Target="../tags/tag84.xml"/><Relationship Id="rId4" Type="http://schemas.openxmlformats.org/officeDocument/2006/relationships/image" Target="../media/image6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85.xml"/><Relationship Id="rId4" Type="http://schemas.openxmlformats.org/officeDocument/2006/relationships/image" Target="../media/image5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8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tags" Target="../tags/tag87.xml"/><Relationship Id="rId5" Type="http://schemas.openxmlformats.org/officeDocument/2006/relationships/image" Target="../media/image22.sv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tags" Target="../tags/tag88.xml"/></Relationships>
</file>

<file path=ppt/slides/_rels/slide37.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notesSlide" Target="../notesSlides/notesSlide36.xml"/><Relationship Id="rId7" Type="http://schemas.openxmlformats.org/officeDocument/2006/relationships/image" Target="../media/image66.svg"/><Relationship Id="rId2" Type="http://schemas.openxmlformats.org/officeDocument/2006/relationships/slideLayout" Target="../slideLayouts/slideLayout35.xml"/><Relationship Id="rId1" Type="http://schemas.openxmlformats.org/officeDocument/2006/relationships/tags" Target="../tags/tag89.xml"/><Relationship Id="rId6" Type="http://schemas.openxmlformats.org/officeDocument/2006/relationships/image" Target="../media/image65.png"/><Relationship Id="rId5" Type="http://schemas.openxmlformats.org/officeDocument/2006/relationships/image" Target="../media/image38.svg"/><Relationship Id="rId4" Type="http://schemas.openxmlformats.org/officeDocument/2006/relationships/image" Target="../media/image37.png"/><Relationship Id="rId9" Type="http://schemas.microsoft.com/office/2007/relationships/hdphoto" Target="../media/hdphoto4.wdp"/></Relationships>
</file>

<file path=ppt/slides/_rels/slide38.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notesSlide" Target="../notesSlides/notesSlide37.xml"/><Relationship Id="rId7" Type="http://schemas.openxmlformats.org/officeDocument/2006/relationships/image" Target="../media/image71.png"/><Relationship Id="rId2" Type="http://schemas.openxmlformats.org/officeDocument/2006/relationships/slideLayout" Target="../slideLayouts/slideLayout35.xml"/><Relationship Id="rId1" Type="http://schemas.openxmlformats.org/officeDocument/2006/relationships/tags" Target="../tags/tag90.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73.png"/></Relationships>
</file>

<file path=ppt/slides/_rels/slide3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38.xml"/><Relationship Id="rId7" Type="http://schemas.openxmlformats.org/officeDocument/2006/relationships/image" Target="../media/image50.svg"/><Relationship Id="rId2" Type="http://schemas.openxmlformats.org/officeDocument/2006/relationships/slideLayout" Target="../slideLayouts/slideLayout12.xml"/><Relationship Id="rId1" Type="http://schemas.openxmlformats.org/officeDocument/2006/relationships/tags" Target="../tags/tag91.xml"/><Relationship Id="rId6" Type="http://schemas.openxmlformats.org/officeDocument/2006/relationships/image" Target="../media/image49.png"/><Relationship Id="rId5" Type="http://schemas.openxmlformats.org/officeDocument/2006/relationships/image" Target="../media/image75.svg"/><Relationship Id="rId10" Type="http://schemas.openxmlformats.org/officeDocument/2006/relationships/image" Target="../media/image76.png"/><Relationship Id="rId4" Type="http://schemas.openxmlformats.org/officeDocument/2006/relationships/image" Target="../media/image74.png"/><Relationship Id="rId9" Type="http://schemas.openxmlformats.org/officeDocument/2006/relationships/image" Target="../media/image22.sv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xml"/><Relationship Id="rId1" Type="http://schemas.openxmlformats.org/officeDocument/2006/relationships/tags" Target="../tags/tag92.xml"/><Relationship Id="rId5" Type="http://schemas.openxmlformats.org/officeDocument/2006/relationships/image" Target="../media/image78.png"/><Relationship Id="rId4" Type="http://schemas.openxmlformats.org/officeDocument/2006/relationships/image" Target="../media/image77.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xml"/><Relationship Id="rId1" Type="http://schemas.openxmlformats.org/officeDocument/2006/relationships/tags" Target="../tags/tag9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ags" Target="../tags/tag94.xml"/><Relationship Id="rId4" Type="http://schemas.openxmlformats.org/officeDocument/2006/relationships/image" Target="../media/image59.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9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2.xml"/><Relationship Id="rId1" Type="http://schemas.openxmlformats.org/officeDocument/2006/relationships/tags" Target="../tags/tag96.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2.xml"/><Relationship Id="rId1" Type="http://schemas.openxmlformats.org/officeDocument/2006/relationships/tags" Target="../tags/tag98.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2.xml"/><Relationship Id="rId1" Type="http://schemas.openxmlformats.org/officeDocument/2006/relationships/tags" Target="../tags/tag99.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100.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tags" Target="../tags/tag101.xml"/><Relationship Id="rId5" Type="http://schemas.openxmlformats.org/officeDocument/2006/relationships/image" Target="../media/image28.svg"/><Relationship Id="rId4" Type="http://schemas.openxmlformats.org/officeDocument/2006/relationships/image" Target="../media/image27.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7" Type="http://schemas.openxmlformats.org/officeDocument/2006/relationships/image" Target="../media/image81.png"/><Relationship Id="rId2" Type="http://schemas.openxmlformats.org/officeDocument/2006/relationships/slideLayout" Target="../slideLayouts/slideLayout12.xml"/><Relationship Id="rId1" Type="http://schemas.openxmlformats.org/officeDocument/2006/relationships/tags" Target="../tags/tag102.xml"/><Relationship Id="rId6" Type="http://schemas.openxmlformats.org/officeDocument/2006/relationships/image" Target="../media/image31.png"/><Relationship Id="rId5" Type="http://schemas.openxmlformats.org/officeDocument/2006/relationships/image" Target="../media/image80.png"/><Relationship Id="rId4" Type="http://schemas.openxmlformats.org/officeDocument/2006/relationships/image" Target="../media/image79.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tags" Target="../tags/tag103.xml"/><Relationship Id="rId4" Type="http://schemas.openxmlformats.org/officeDocument/2006/relationships/image" Target="../media/image82.png"/></Relationships>
</file>

<file path=ppt/slides/_rels/slide5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51.xml"/><Relationship Id="rId7" Type="http://schemas.openxmlformats.org/officeDocument/2006/relationships/image" Target="../media/image84.svg"/><Relationship Id="rId2" Type="http://schemas.openxmlformats.org/officeDocument/2006/relationships/slideLayout" Target="../slideLayouts/slideLayout12.xml"/><Relationship Id="rId1" Type="http://schemas.openxmlformats.org/officeDocument/2006/relationships/tags" Target="../tags/tag104.xml"/><Relationship Id="rId6" Type="http://schemas.openxmlformats.org/officeDocument/2006/relationships/image" Target="../media/image83.png"/><Relationship Id="rId11" Type="http://schemas.openxmlformats.org/officeDocument/2006/relationships/image" Target="../media/image86.svg"/><Relationship Id="rId5" Type="http://schemas.openxmlformats.org/officeDocument/2006/relationships/image" Target="../media/image44.svg"/><Relationship Id="rId10" Type="http://schemas.openxmlformats.org/officeDocument/2006/relationships/image" Target="../media/image85.png"/><Relationship Id="rId4" Type="http://schemas.openxmlformats.org/officeDocument/2006/relationships/image" Target="../media/image43.png"/><Relationship Id="rId9" Type="http://schemas.openxmlformats.org/officeDocument/2006/relationships/image" Target="../media/image28.sv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2.xml"/><Relationship Id="rId1" Type="http://schemas.openxmlformats.org/officeDocument/2006/relationships/tags" Target="../tags/tag105.xml"/><Relationship Id="rId4" Type="http://schemas.openxmlformats.org/officeDocument/2006/relationships/image" Target="../media/image87.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2.xml"/><Relationship Id="rId1" Type="http://schemas.openxmlformats.org/officeDocument/2006/relationships/tags" Target="../tags/tag106.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88.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2.xml"/><Relationship Id="rId1" Type="http://schemas.openxmlformats.org/officeDocument/2006/relationships/tags" Target="../tags/tag107.xml"/><Relationship Id="rId5" Type="http://schemas.openxmlformats.org/officeDocument/2006/relationships/image" Target="../media/image28.svg"/><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63.svg"/><Relationship Id="rId18" Type="http://schemas.openxmlformats.org/officeDocument/2006/relationships/image" Target="../media/image85.png"/><Relationship Id="rId3" Type="http://schemas.openxmlformats.org/officeDocument/2006/relationships/notesSlide" Target="../notesSlides/notesSlide55.xml"/><Relationship Id="rId7" Type="http://schemas.openxmlformats.org/officeDocument/2006/relationships/image" Target="../media/image90.svg"/><Relationship Id="rId12" Type="http://schemas.openxmlformats.org/officeDocument/2006/relationships/image" Target="../media/image62.png"/><Relationship Id="rId17" Type="http://schemas.openxmlformats.org/officeDocument/2006/relationships/image" Target="../media/image98.svg"/><Relationship Id="rId2" Type="http://schemas.openxmlformats.org/officeDocument/2006/relationships/slideLayout" Target="../slideLayouts/slideLayout12.xml"/><Relationship Id="rId16" Type="http://schemas.openxmlformats.org/officeDocument/2006/relationships/image" Target="../media/image97.png"/><Relationship Id="rId1" Type="http://schemas.openxmlformats.org/officeDocument/2006/relationships/tags" Target="../tags/tag108.xml"/><Relationship Id="rId6" Type="http://schemas.openxmlformats.org/officeDocument/2006/relationships/image" Target="../media/image89.png"/><Relationship Id="rId11" Type="http://schemas.openxmlformats.org/officeDocument/2006/relationships/image" Target="../media/image94.svg"/><Relationship Id="rId5" Type="http://schemas.openxmlformats.org/officeDocument/2006/relationships/image" Target="../media/image44.svg"/><Relationship Id="rId15" Type="http://schemas.openxmlformats.org/officeDocument/2006/relationships/image" Target="../media/image96.svg"/><Relationship Id="rId10" Type="http://schemas.openxmlformats.org/officeDocument/2006/relationships/image" Target="../media/image93.png"/><Relationship Id="rId19" Type="http://schemas.openxmlformats.org/officeDocument/2006/relationships/image" Target="../media/image86.svg"/><Relationship Id="rId4" Type="http://schemas.openxmlformats.org/officeDocument/2006/relationships/image" Target="../media/image43.png"/><Relationship Id="rId9" Type="http://schemas.openxmlformats.org/officeDocument/2006/relationships/image" Target="../media/image92.svg"/><Relationship Id="rId14" Type="http://schemas.openxmlformats.org/officeDocument/2006/relationships/image" Target="../media/image95.png"/></Relationships>
</file>

<file path=ppt/slides/_rels/slide57.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63.svg"/><Relationship Id="rId3" Type="http://schemas.openxmlformats.org/officeDocument/2006/relationships/notesSlide" Target="../notesSlides/notesSlide56.xml"/><Relationship Id="rId7" Type="http://schemas.openxmlformats.org/officeDocument/2006/relationships/image" Target="../media/image92.svg"/><Relationship Id="rId12" Type="http://schemas.openxmlformats.org/officeDocument/2006/relationships/image" Target="../media/image62.png"/><Relationship Id="rId17" Type="http://schemas.openxmlformats.org/officeDocument/2006/relationships/image" Target="../media/image98.svg"/><Relationship Id="rId2" Type="http://schemas.openxmlformats.org/officeDocument/2006/relationships/slideLayout" Target="../slideLayouts/slideLayout12.xml"/><Relationship Id="rId16" Type="http://schemas.openxmlformats.org/officeDocument/2006/relationships/image" Target="../media/image97.png"/><Relationship Id="rId1" Type="http://schemas.openxmlformats.org/officeDocument/2006/relationships/tags" Target="../tags/tag109.xml"/><Relationship Id="rId6" Type="http://schemas.openxmlformats.org/officeDocument/2006/relationships/image" Target="../media/image91.png"/><Relationship Id="rId11" Type="http://schemas.openxmlformats.org/officeDocument/2006/relationships/image" Target="../media/image86.svg"/><Relationship Id="rId5" Type="http://schemas.openxmlformats.org/officeDocument/2006/relationships/image" Target="../media/image94.svg"/><Relationship Id="rId15" Type="http://schemas.openxmlformats.org/officeDocument/2006/relationships/image" Target="../media/image96.svg"/><Relationship Id="rId10" Type="http://schemas.openxmlformats.org/officeDocument/2006/relationships/image" Target="../media/image85.png"/><Relationship Id="rId4" Type="http://schemas.openxmlformats.org/officeDocument/2006/relationships/image" Target="../media/image93.png"/><Relationship Id="rId9" Type="http://schemas.openxmlformats.org/officeDocument/2006/relationships/image" Target="../media/image100.svg"/><Relationship Id="rId14" Type="http://schemas.openxmlformats.org/officeDocument/2006/relationships/image" Target="../media/image95.png"/></Relationships>
</file>

<file path=ppt/slides/_rels/slide58.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63.svg"/><Relationship Id="rId3" Type="http://schemas.openxmlformats.org/officeDocument/2006/relationships/notesSlide" Target="../notesSlides/notesSlide57.xml"/><Relationship Id="rId7" Type="http://schemas.openxmlformats.org/officeDocument/2006/relationships/image" Target="../media/image92.svg"/><Relationship Id="rId12" Type="http://schemas.openxmlformats.org/officeDocument/2006/relationships/image" Target="../media/image62.png"/><Relationship Id="rId17" Type="http://schemas.openxmlformats.org/officeDocument/2006/relationships/image" Target="../media/image98.svg"/><Relationship Id="rId2" Type="http://schemas.openxmlformats.org/officeDocument/2006/relationships/slideLayout" Target="../slideLayouts/slideLayout12.xml"/><Relationship Id="rId16" Type="http://schemas.openxmlformats.org/officeDocument/2006/relationships/image" Target="../media/image97.png"/><Relationship Id="rId1" Type="http://schemas.openxmlformats.org/officeDocument/2006/relationships/tags" Target="../tags/tag110.xml"/><Relationship Id="rId6" Type="http://schemas.openxmlformats.org/officeDocument/2006/relationships/image" Target="../media/image91.png"/><Relationship Id="rId11" Type="http://schemas.openxmlformats.org/officeDocument/2006/relationships/image" Target="../media/image86.svg"/><Relationship Id="rId5" Type="http://schemas.openxmlformats.org/officeDocument/2006/relationships/image" Target="../media/image94.svg"/><Relationship Id="rId15" Type="http://schemas.openxmlformats.org/officeDocument/2006/relationships/image" Target="../media/image96.svg"/><Relationship Id="rId10" Type="http://schemas.openxmlformats.org/officeDocument/2006/relationships/image" Target="../media/image85.png"/><Relationship Id="rId4" Type="http://schemas.openxmlformats.org/officeDocument/2006/relationships/image" Target="../media/image93.png"/><Relationship Id="rId9" Type="http://schemas.openxmlformats.org/officeDocument/2006/relationships/image" Target="../media/image100.svg"/><Relationship Id="rId14" Type="http://schemas.openxmlformats.org/officeDocument/2006/relationships/image" Target="../media/image95.png"/></Relationships>
</file>

<file path=ppt/slides/_rels/slide59.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6.svg"/><Relationship Id="rId3" Type="http://schemas.openxmlformats.org/officeDocument/2006/relationships/notesSlide" Target="../notesSlides/notesSlide58.xml"/><Relationship Id="rId7" Type="http://schemas.openxmlformats.org/officeDocument/2006/relationships/image" Target="../media/image100.svg"/><Relationship Id="rId12" Type="http://schemas.openxmlformats.org/officeDocument/2006/relationships/image" Target="../media/image95.png"/><Relationship Id="rId2" Type="http://schemas.openxmlformats.org/officeDocument/2006/relationships/slideLayout" Target="../slideLayouts/slideLayout12.xml"/><Relationship Id="rId1" Type="http://schemas.openxmlformats.org/officeDocument/2006/relationships/tags" Target="../tags/tag111.xml"/><Relationship Id="rId6" Type="http://schemas.openxmlformats.org/officeDocument/2006/relationships/image" Target="../media/image99.png"/><Relationship Id="rId11" Type="http://schemas.openxmlformats.org/officeDocument/2006/relationships/image" Target="../media/image63.svg"/><Relationship Id="rId5" Type="http://schemas.openxmlformats.org/officeDocument/2006/relationships/image" Target="../media/image94.svg"/><Relationship Id="rId15" Type="http://schemas.openxmlformats.org/officeDocument/2006/relationships/image" Target="../media/image98.svg"/><Relationship Id="rId10" Type="http://schemas.openxmlformats.org/officeDocument/2006/relationships/image" Target="../media/image62.png"/><Relationship Id="rId4" Type="http://schemas.openxmlformats.org/officeDocument/2006/relationships/image" Target="../media/image93.png"/><Relationship Id="rId9" Type="http://schemas.openxmlformats.org/officeDocument/2006/relationships/image" Target="../media/image86.svg"/><Relationship Id="rId14" Type="http://schemas.openxmlformats.org/officeDocument/2006/relationships/image" Target="../media/image97.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2.xml"/><Relationship Id="rId1" Type="http://schemas.openxmlformats.org/officeDocument/2006/relationships/tags" Target="../tags/tag11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2.xml"/><Relationship Id="rId1" Type="http://schemas.openxmlformats.org/officeDocument/2006/relationships/tags" Target="../tags/tag113.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8.xml"/><Relationship Id="rId1" Type="http://schemas.openxmlformats.org/officeDocument/2006/relationships/tags" Target="../tags/tag114.xml"/><Relationship Id="rId4" Type="http://schemas.openxmlformats.org/officeDocument/2006/relationships/image" Target="../media/image59.jpe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tags" Target="../tags/tag115.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2.xml"/><Relationship Id="rId1" Type="http://schemas.openxmlformats.org/officeDocument/2006/relationships/tags" Target="../tags/tag116.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2.xml"/><Relationship Id="rId1" Type="http://schemas.openxmlformats.org/officeDocument/2006/relationships/tags" Target="../tags/tag117.xml"/><Relationship Id="rId5" Type="http://schemas.openxmlformats.org/officeDocument/2006/relationships/image" Target="../media/image102.svg"/><Relationship Id="rId4" Type="http://schemas.openxmlformats.org/officeDocument/2006/relationships/image" Target="../media/image101.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2.xml"/><Relationship Id="rId1" Type="http://schemas.openxmlformats.org/officeDocument/2006/relationships/tags" Target="../tags/tag118.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2.xml"/><Relationship Id="rId1" Type="http://schemas.openxmlformats.org/officeDocument/2006/relationships/tags" Target="../tags/tag119.xml"/><Relationship Id="rId4" Type="http://schemas.openxmlformats.org/officeDocument/2006/relationships/image" Target="../media/image103.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2.xml"/><Relationship Id="rId1" Type="http://schemas.openxmlformats.org/officeDocument/2006/relationships/tags" Target="../tags/tag120.xml"/><Relationship Id="rId4" Type="http://schemas.openxmlformats.org/officeDocument/2006/relationships/image" Target="../media/image104.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8.xml"/><Relationship Id="rId1" Type="http://schemas.openxmlformats.org/officeDocument/2006/relationships/tags" Target="../tags/tag121.xml"/><Relationship Id="rId4" Type="http://schemas.openxmlformats.org/officeDocument/2006/relationships/image" Target="../media/image59.jpe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4.xml"/><Relationship Id="rId1" Type="http://schemas.openxmlformats.org/officeDocument/2006/relationships/tags" Target="../tags/tag12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2.xml"/><Relationship Id="rId1" Type="http://schemas.openxmlformats.org/officeDocument/2006/relationships/tags" Target="../tags/tag123.xml"/><Relationship Id="rId5" Type="http://schemas.openxmlformats.org/officeDocument/2006/relationships/image" Target="../media/image106.svg"/><Relationship Id="rId4" Type="http://schemas.openxmlformats.org/officeDocument/2006/relationships/image" Target="../media/image105.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2.xml"/><Relationship Id="rId1" Type="http://schemas.openxmlformats.org/officeDocument/2006/relationships/tags" Target="../tags/tag124.xml"/><Relationship Id="rId4" Type="http://schemas.openxmlformats.org/officeDocument/2006/relationships/image" Target="../media/image107.png"/></Relationships>
</file>

<file path=ppt/slides/_rels/slide7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72.xml"/><Relationship Id="rId7" Type="http://schemas.openxmlformats.org/officeDocument/2006/relationships/image" Target="../media/image109.svg"/><Relationship Id="rId2" Type="http://schemas.openxmlformats.org/officeDocument/2006/relationships/slideLayout" Target="../slideLayouts/slideLayout12.xml"/><Relationship Id="rId1" Type="http://schemas.openxmlformats.org/officeDocument/2006/relationships/tags" Target="../tags/tag125.xml"/><Relationship Id="rId6" Type="http://schemas.openxmlformats.org/officeDocument/2006/relationships/image" Target="../media/image108.png"/><Relationship Id="rId11" Type="http://schemas.openxmlformats.org/officeDocument/2006/relationships/image" Target="../media/image26.svg"/><Relationship Id="rId5" Type="http://schemas.openxmlformats.org/officeDocument/2006/relationships/image" Target="../media/image106.svg"/><Relationship Id="rId10" Type="http://schemas.openxmlformats.org/officeDocument/2006/relationships/image" Target="../media/image25.png"/><Relationship Id="rId4" Type="http://schemas.openxmlformats.org/officeDocument/2006/relationships/image" Target="../media/image105.png"/><Relationship Id="rId9" Type="http://schemas.openxmlformats.org/officeDocument/2006/relationships/image" Target="../media/image30.sv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2.xml"/><Relationship Id="rId1" Type="http://schemas.openxmlformats.org/officeDocument/2006/relationships/tags" Target="../tags/tag126.xml"/><Relationship Id="rId5" Type="http://schemas.openxmlformats.org/officeDocument/2006/relationships/image" Target="../media/image111.png"/><Relationship Id="rId4" Type="http://schemas.openxmlformats.org/officeDocument/2006/relationships/image" Target="../media/image110.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2.xml"/><Relationship Id="rId1" Type="http://schemas.openxmlformats.org/officeDocument/2006/relationships/tags" Target="../tags/tag127.xml"/><Relationship Id="rId4" Type="http://schemas.openxmlformats.org/officeDocument/2006/relationships/image" Target="../media/image112.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2.xml"/><Relationship Id="rId1" Type="http://schemas.openxmlformats.org/officeDocument/2006/relationships/tags" Target="../tags/tag128.xml"/><Relationship Id="rId4" Type="http://schemas.openxmlformats.org/officeDocument/2006/relationships/image" Target="../media/image113.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2.xml"/><Relationship Id="rId1" Type="http://schemas.openxmlformats.org/officeDocument/2006/relationships/tags" Target="../tags/tag129.xml"/><Relationship Id="rId4" Type="http://schemas.openxmlformats.org/officeDocument/2006/relationships/image" Target="../media/image114.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8.xml"/><Relationship Id="rId1" Type="http://schemas.openxmlformats.org/officeDocument/2006/relationships/tags" Target="../tags/tag130.xml"/><Relationship Id="rId4" Type="http://schemas.openxmlformats.org/officeDocument/2006/relationships/image" Target="../media/image59.jpe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4.xml"/><Relationship Id="rId1" Type="http://schemas.openxmlformats.org/officeDocument/2006/relationships/tags" Target="../tags/tag131.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2.xml"/><Relationship Id="rId1" Type="http://schemas.openxmlformats.org/officeDocument/2006/relationships/tags" Target="../tags/tag132.xml"/><Relationship Id="rId5" Type="http://schemas.openxmlformats.org/officeDocument/2006/relationships/image" Target="../media/image116.svg"/><Relationship Id="rId4" Type="http://schemas.openxmlformats.org/officeDocument/2006/relationships/image" Target="../media/image115.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2.xml"/><Relationship Id="rId1" Type="http://schemas.openxmlformats.org/officeDocument/2006/relationships/tags" Target="../tags/tag133.xml"/><Relationship Id="rId4" Type="http://schemas.openxmlformats.org/officeDocument/2006/relationships/image" Target="../media/image117.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2.xml"/><Relationship Id="rId1" Type="http://schemas.openxmlformats.org/officeDocument/2006/relationships/tags" Target="../tags/tag134.xml"/><Relationship Id="rId4" Type="http://schemas.openxmlformats.org/officeDocument/2006/relationships/image" Target="../media/image118.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8.xml"/><Relationship Id="rId1" Type="http://schemas.openxmlformats.org/officeDocument/2006/relationships/tags" Target="../tags/tag135.xml"/><Relationship Id="rId4" Type="http://schemas.openxmlformats.org/officeDocument/2006/relationships/image" Target="../media/image59.jpe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2.xml"/><Relationship Id="rId1" Type="http://schemas.openxmlformats.org/officeDocument/2006/relationships/tags" Target="../tags/tag13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4.xml"/><Relationship Id="rId1" Type="http://schemas.openxmlformats.org/officeDocument/2006/relationships/tags" Target="../tags/tag137.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2.xml"/><Relationship Id="rId1" Type="http://schemas.openxmlformats.org/officeDocument/2006/relationships/tags" Target="../tags/tag138.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9.xml"/><Relationship Id="rId1" Type="http://schemas.openxmlformats.org/officeDocument/2006/relationships/tags" Target="../tags/tag1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descr="Module 7: Storage."/>
          <p:cNvSpPr>
            <a:spLocks noGrp="1"/>
          </p:cNvSpPr>
          <p:nvPr>
            <p:ph type="title"/>
          </p:nvPr>
        </p:nvSpPr>
        <p:spPr/>
        <p:txBody>
          <a:bodyPr/>
          <a:lstStyle/>
          <a:p>
            <a:r>
              <a:rPr lang="en-US" sz="5400"/>
              <a:t>Module 7: Storage</a:t>
            </a:r>
          </a:p>
        </p:txBody>
      </p:sp>
      <p:sp>
        <p:nvSpPr>
          <p:cNvPr id="2" name="Text Placeholder 1" descr="AWS Academy Cloud Foundations.">
            <a:extLst>
              <a:ext uri="{FF2B5EF4-FFF2-40B4-BE49-F238E27FC236}">
                <a16:creationId xmlns:a16="http://schemas.microsoft.com/office/drawing/2014/main" id="{E8213009-50A0-5448-BFE6-30EFBA8DB8F6}"/>
              </a:ext>
            </a:extLst>
          </p:cNvPr>
          <p:cNvSpPr>
            <a:spLocks noGrp="1"/>
          </p:cNvSpPr>
          <p:nvPr>
            <p:ph type="subTitle" idx="1"/>
          </p:nvPr>
        </p:nvSpPr>
        <p:spPr/>
        <p:txBody>
          <a:bodyPr>
            <a:normAutofit/>
          </a:bodyPr>
          <a:lstStyle/>
          <a:p>
            <a:r>
              <a:rPr lang="en-US"/>
              <a:t>AWS Academy Cloud Foundations</a:t>
            </a:r>
          </a:p>
        </p:txBody>
      </p:sp>
    </p:spTree>
    <p:custDataLst>
      <p:tags r:id="rId1"/>
    </p:custDataLst>
    <p:extLst>
      <p:ext uri="{BB962C8B-B14F-4D97-AF65-F5344CB8AC3E}">
        <p14:creationId xmlns:p14="http://schemas.microsoft.com/office/powerpoint/2010/main" val="3562200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C183D7F6-B498-43B3-948B-1728B52AA6E4}">
                <adec:decorative xmlns:adec="http://schemas.microsoft.com/office/drawing/2017/decorative" val="0"/>
              </a:ext>
            </a:extLst>
          </p:cNvPr>
          <p:cNvSpPr>
            <a:spLocks noGrp="1"/>
          </p:cNvSpPr>
          <p:nvPr>
            <p:ph type="sldNum" sz="quarter" idx="20"/>
          </p:nvPr>
        </p:nvSpPr>
        <p:spPr>
          <a:xfrm>
            <a:off x="11469389" y="6582058"/>
            <a:ext cx="484261" cy="265176"/>
          </a:xfrm>
        </p:spPr>
        <p:txBody>
          <a:bodyPr/>
          <a:lstStyle/>
          <a:p>
            <a:fld id="{B6A95138-A96E-2F42-A959-2EFD44FE4AB7}" type="slidenum">
              <a:rPr lang="en-US" smtClean="0"/>
              <a:t>2</a:t>
            </a:fld>
            <a:endParaRPr lang="en-US"/>
          </a:p>
        </p:txBody>
      </p:sp>
      <p:sp>
        <p:nvSpPr>
          <p:cNvPr id="2" name="Title 1"/>
          <p:cNvSpPr>
            <a:spLocks noGrp="1"/>
          </p:cNvSpPr>
          <p:nvPr>
            <p:ph type="title"/>
          </p:nvPr>
        </p:nvSpPr>
        <p:spPr/>
        <p:txBody>
          <a:bodyPr/>
          <a:lstStyle/>
          <a:p>
            <a:r>
              <a:rPr lang="en-US"/>
              <a:t>Module overview</a:t>
            </a:r>
          </a:p>
        </p:txBody>
      </p:sp>
      <p:sp>
        <p:nvSpPr>
          <p:cNvPr id="5" name="Content Placeholder 4"/>
          <p:cNvSpPr>
            <a:spLocks noGrp="1"/>
          </p:cNvSpPr>
          <p:nvPr>
            <p:ph sz="quarter" idx="21"/>
          </p:nvPr>
        </p:nvSpPr>
        <p:spPr>
          <a:xfrm>
            <a:off x="365760" y="1143000"/>
            <a:ext cx="5559552" cy="5291750"/>
          </a:xfrm>
        </p:spPr>
        <p:txBody>
          <a:bodyPr>
            <a:noAutofit/>
          </a:bodyPr>
          <a:lstStyle/>
          <a:p>
            <a:pPr marL="0" indent="0">
              <a:spcBef>
                <a:spcPts val="1800"/>
              </a:spcBef>
              <a:buNone/>
            </a:pPr>
            <a:r>
              <a:rPr lang="en-US" b="1"/>
              <a:t>Topics</a:t>
            </a:r>
          </a:p>
          <a:p>
            <a:pPr marL="228600" lvl="1">
              <a:spcBef>
                <a:spcPts val="1000"/>
              </a:spcBef>
            </a:pPr>
            <a:r>
              <a:rPr lang="en-US"/>
              <a:t>Amazon Elastic Block Store (Amazon EBS)</a:t>
            </a:r>
          </a:p>
          <a:p>
            <a:pPr marL="228600" lvl="1">
              <a:spcBef>
                <a:spcPts val="1000"/>
              </a:spcBef>
            </a:pPr>
            <a:r>
              <a:rPr lang="en-US"/>
              <a:t>Amazon Simple Storage Service (Amazon S3)</a:t>
            </a:r>
          </a:p>
          <a:p>
            <a:pPr marL="228600" lvl="1">
              <a:spcBef>
                <a:spcPts val="1000"/>
              </a:spcBef>
            </a:pPr>
            <a:r>
              <a:rPr lang="en-US"/>
              <a:t>Amazon Elastic File System (Amazon EFS)</a:t>
            </a:r>
          </a:p>
          <a:p>
            <a:pPr marL="228600" lvl="1">
              <a:spcBef>
                <a:spcPts val="1000"/>
              </a:spcBef>
            </a:pPr>
            <a:r>
              <a:rPr lang="en-US"/>
              <a:t>Amazon Simple Storage Service Glacier</a:t>
            </a:r>
            <a:endParaRPr lang="en-US" sz="2400"/>
          </a:p>
          <a:p>
            <a:pPr marL="0" indent="0">
              <a:spcBef>
                <a:spcPts val="1800"/>
              </a:spcBef>
              <a:buNone/>
            </a:pPr>
            <a:endParaRPr lang="en-US"/>
          </a:p>
        </p:txBody>
      </p:sp>
      <p:sp>
        <p:nvSpPr>
          <p:cNvPr id="6" name="Content Placeholder 5">
            <a:extLst>
              <a:ext uri="{FF2B5EF4-FFF2-40B4-BE49-F238E27FC236}">
                <a16:creationId xmlns:a16="http://schemas.microsoft.com/office/drawing/2014/main" id="{79AB60CE-670C-974B-8C37-C3795121745F}"/>
              </a:ext>
            </a:extLst>
          </p:cNvPr>
          <p:cNvSpPr>
            <a:spLocks noGrp="1"/>
          </p:cNvSpPr>
          <p:nvPr>
            <p:ph idx="4294967295"/>
          </p:nvPr>
        </p:nvSpPr>
        <p:spPr>
          <a:xfrm>
            <a:off x="6108192" y="1143000"/>
            <a:ext cx="5559552" cy="4649788"/>
          </a:xfrm>
        </p:spPr>
        <p:txBody>
          <a:bodyPr>
            <a:normAutofit lnSpcReduction="10000"/>
          </a:bodyPr>
          <a:lstStyle/>
          <a:p>
            <a:pPr marL="0" indent="0">
              <a:buNone/>
            </a:pPr>
            <a:r>
              <a:rPr lang="en-US" b="1"/>
              <a:t>Demos</a:t>
            </a:r>
          </a:p>
          <a:p>
            <a:r>
              <a:rPr lang="en-US" sz="2400"/>
              <a:t>Amazon EBS console</a:t>
            </a:r>
          </a:p>
          <a:p>
            <a:r>
              <a:rPr lang="en-US" sz="2400"/>
              <a:t>Amazon S3 console</a:t>
            </a:r>
          </a:p>
          <a:p>
            <a:r>
              <a:rPr lang="en-US" sz="2400"/>
              <a:t>Amazon EFS console</a:t>
            </a:r>
          </a:p>
          <a:p>
            <a:r>
              <a:rPr lang="en-US" sz="2400"/>
              <a:t>Amazon S3 Glacier console</a:t>
            </a:r>
          </a:p>
          <a:p>
            <a:pPr marL="0" indent="0">
              <a:buNone/>
            </a:pPr>
            <a:r>
              <a:rPr lang="en-US" b="1"/>
              <a:t>Lab</a:t>
            </a:r>
          </a:p>
          <a:p>
            <a:r>
              <a:rPr lang="en-US" sz="2400"/>
              <a:t>Working with Amazon EBS</a:t>
            </a:r>
            <a:endParaRPr lang="en-US"/>
          </a:p>
          <a:p>
            <a:pPr marL="0" indent="0">
              <a:buNone/>
            </a:pPr>
            <a:r>
              <a:rPr lang="en-US" b="1"/>
              <a:t>Activities</a:t>
            </a:r>
          </a:p>
          <a:p>
            <a:r>
              <a:rPr lang="en-US" sz="2400"/>
              <a:t>Storage solution case study</a:t>
            </a:r>
          </a:p>
        </p:txBody>
      </p:sp>
      <p:grpSp>
        <p:nvGrpSpPr>
          <p:cNvPr id="7" name="Group 6" descr="Knowledge check">
            <a:extLst>
              <a:ext uri="{FF2B5EF4-FFF2-40B4-BE49-F238E27FC236}">
                <a16:creationId xmlns:a16="http://schemas.microsoft.com/office/drawing/2014/main" id="{5A386CF2-48DE-3E4F-B27A-6F6B12236D70}"/>
              </a:ext>
              <a:ext uri="{C183D7F6-B498-43B3-948B-1728B52AA6E4}">
                <adec:decorative xmlns:adec="http://schemas.microsoft.com/office/drawing/2017/decorative" val="0"/>
              </a:ext>
            </a:extLst>
          </p:cNvPr>
          <p:cNvGrpSpPr/>
          <p:nvPr/>
        </p:nvGrpSpPr>
        <p:grpSpPr>
          <a:xfrm>
            <a:off x="6272784" y="5850625"/>
            <a:ext cx="2734716" cy="532323"/>
            <a:chOff x="4082027" y="5385303"/>
            <a:chExt cx="2734716" cy="532323"/>
          </a:xfrm>
        </p:grpSpPr>
        <p:sp>
          <p:nvSpPr>
            <p:cNvPr id="8" name="TextBox 7">
              <a:extLst>
                <a:ext uri="{FF2B5EF4-FFF2-40B4-BE49-F238E27FC236}">
                  <a16:creationId xmlns:a16="http://schemas.microsoft.com/office/drawing/2014/main" id="{94F8C5C3-D9C4-4E4C-8D0B-BD50A1C962C5}"/>
                </a:ext>
              </a:extLst>
            </p:cNvPr>
            <p:cNvSpPr txBox="1"/>
            <p:nvPr/>
          </p:nvSpPr>
          <p:spPr>
            <a:xfrm>
              <a:off x="4516113" y="5491216"/>
              <a:ext cx="2300630" cy="400110"/>
            </a:xfrm>
            <a:prstGeom prst="rect">
              <a:avLst/>
            </a:prstGeom>
            <a:noFill/>
          </p:spPr>
          <p:txBody>
            <a:bodyPr wrap="none" rtlCol="0">
              <a:spAutoFit/>
            </a:bodyPr>
            <a:lstStyle/>
            <a:p>
              <a:r>
                <a:rPr lang="en-US" sz="2000" b="1">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9" name="Picture 8">
              <a:extLst>
                <a:ext uri="{FF2B5EF4-FFF2-40B4-BE49-F238E27FC236}">
                  <a16:creationId xmlns:a16="http://schemas.microsoft.com/office/drawing/2014/main" id="{7C7503A9-F744-2745-8305-1056CF885D90}"/>
                </a:ext>
                <a:ext uri="{C183D7F6-B498-43B3-948B-1728B52AA6E4}">
                  <adec:decorative xmlns:adec="http://schemas.microsoft.com/office/drawing/2017/decorative" val="1"/>
                </a:ext>
              </a:extLst>
            </p:cNvPr>
            <p:cNvPicPr>
              <a:picLocks noChangeAspect="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082027" y="5385303"/>
              <a:ext cx="532323" cy="532323"/>
            </a:xfrm>
            <a:prstGeom prst="rect">
              <a:avLst/>
            </a:prstGeom>
          </p:spPr>
        </p:pic>
      </p:grpSp>
    </p:spTree>
    <p:custDataLst>
      <p:tags r:id="rId1"/>
    </p:custDataLst>
    <p:extLst>
      <p:ext uri="{BB962C8B-B14F-4D97-AF65-F5344CB8AC3E}">
        <p14:creationId xmlns:p14="http://schemas.microsoft.com/office/powerpoint/2010/main" val="2247215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a:t>
            </a:fld>
            <a:endParaRPr lang="en-US"/>
          </a:p>
        </p:txBody>
      </p:sp>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a:t>Module objectives</a:t>
            </a:r>
          </a:p>
        </p:txBody>
      </p:sp>
      <p:sp>
        <p:nvSpPr>
          <p:cNvPr id="9" name="Content Placeholder 8"/>
          <p:cNvSpPr>
            <a:spLocks noGrp="1"/>
          </p:cNvSpPr>
          <p:nvPr>
            <p:ph sz="quarter" idx="21"/>
          </p:nvPr>
        </p:nvSpPr>
        <p:spPr/>
        <p:txBody>
          <a:bodyPr>
            <a:normAutofit lnSpcReduction="10000"/>
          </a:bodyPr>
          <a:lstStyle/>
          <a:p>
            <a:pPr marL="0" indent="0">
              <a:buNone/>
            </a:pPr>
            <a:r>
              <a:rPr lang="en-US" sz="2000"/>
              <a:t>After completing this module, you should be able to:</a:t>
            </a:r>
          </a:p>
          <a:p>
            <a:pPr lvl="0"/>
            <a:r>
              <a:rPr lang="en-US" sz="2000"/>
              <a:t>Identify the different types of storage</a:t>
            </a:r>
          </a:p>
          <a:p>
            <a:pPr lvl="0"/>
            <a:r>
              <a:rPr lang="en-US" sz="2000"/>
              <a:t>Explain Amazon S3</a:t>
            </a:r>
          </a:p>
          <a:p>
            <a:pPr lvl="0"/>
            <a:r>
              <a:rPr lang="en-US" sz="2000"/>
              <a:t>Identify the functionality in Amazon S3</a:t>
            </a:r>
          </a:p>
          <a:p>
            <a:pPr lvl="0"/>
            <a:r>
              <a:rPr lang="en-US" sz="2000"/>
              <a:t>Explain Amazon EBS</a:t>
            </a:r>
          </a:p>
          <a:p>
            <a:pPr lvl="0"/>
            <a:r>
              <a:rPr lang="en-US" sz="2000"/>
              <a:t>Identify the functionality in Amazon EBS</a:t>
            </a:r>
          </a:p>
          <a:p>
            <a:pPr lvl="0"/>
            <a:r>
              <a:rPr lang="en-US" sz="2000"/>
              <a:t>Perform functions in Amazon EBS to build an Amazon EC2 storage solution </a:t>
            </a:r>
          </a:p>
          <a:p>
            <a:pPr lvl="0"/>
            <a:r>
              <a:rPr lang="en-US" sz="2000"/>
              <a:t>Explain Amazon EFS</a:t>
            </a:r>
          </a:p>
          <a:p>
            <a:pPr lvl="0"/>
            <a:r>
              <a:rPr lang="en-US" sz="2000"/>
              <a:t>Identify the functionality in Amazon EFS</a:t>
            </a:r>
          </a:p>
          <a:p>
            <a:pPr lvl="0"/>
            <a:r>
              <a:rPr lang="en-US" sz="2000"/>
              <a:t>Explain Amazon S3 Glacier</a:t>
            </a:r>
          </a:p>
          <a:p>
            <a:pPr lvl="0"/>
            <a:r>
              <a:rPr lang="en-US" sz="2000"/>
              <a:t>Identify the functionality in Amazon S3 Glacier</a:t>
            </a:r>
          </a:p>
          <a:p>
            <a:pPr lvl="0"/>
            <a:r>
              <a:rPr lang="en-US" sz="2000"/>
              <a:t>Differentiate between Amazon EBS, Amazon S3, Amazon EFS, and Amazon S3 Glacier</a:t>
            </a:r>
          </a:p>
          <a:p>
            <a:endParaRPr lang="en-US" sz="2000"/>
          </a:p>
        </p:txBody>
      </p:sp>
    </p:spTree>
    <p:custDataLst>
      <p:tags r:id="rId1"/>
    </p:custDataLst>
    <p:extLst>
      <p:ext uri="{BB962C8B-B14F-4D97-AF65-F5344CB8AC3E}">
        <p14:creationId xmlns:p14="http://schemas.microsoft.com/office/powerpoint/2010/main" val="2583973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a:t>
            </a:fld>
            <a:endParaRPr lang="en-US"/>
          </a:p>
        </p:txBody>
      </p:sp>
      <p:sp>
        <p:nvSpPr>
          <p:cNvPr id="2" name="Title 1"/>
          <p:cNvSpPr>
            <a:spLocks noGrp="1"/>
          </p:cNvSpPr>
          <p:nvPr>
            <p:ph type="title"/>
          </p:nvPr>
        </p:nvSpPr>
        <p:spPr/>
        <p:txBody>
          <a:bodyPr/>
          <a:lstStyle/>
          <a:p>
            <a:r>
              <a:rPr lang="en-US">
                <a:latin typeface="+mj-lt"/>
              </a:rPr>
              <a:t>Core AWS services</a:t>
            </a:r>
          </a:p>
        </p:txBody>
      </p:sp>
      <p:sp>
        <p:nvSpPr>
          <p:cNvPr id="39" name="TextBox 21">
            <a:extLst>
              <a:ext uri="{C183D7F6-B498-43B3-948B-1728B52AA6E4}">
                <adec:decorative xmlns:adec="http://schemas.microsoft.com/office/drawing/2017/decorative" val="1"/>
              </a:ext>
            </a:extLst>
          </p:cNvPr>
          <p:cNvSpPr txBox="1"/>
          <p:nvPr/>
        </p:nvSpPr>
        <p:spPr>
          <a:xfrm>
            <a:off x="2053465" y="2769248"/>
            <a:ext cx="988541" cy="465219"/>
          </a:xfrm>
          <a:prstGeom prst="rect">
            <a:avLst/>
          </a:prstGeom>
          <a:noFill/>
        </p:spPr>
        <p:txBody>
          <a:bodyPr wrap="square" lIns="0" tIns="0" rIns="0" bIns="0" rtlCol="0" anchor="t">
            <a:noAutofit/>
          </a:bodyPr>
          <a:lstStyle/>
          <a:p>
            <a:pPr algn="ctr">
              <a:lnSpc>
                <a:spcPct val="90000"/>
              </a:lnSpc>
            </a:pPr>
            <a:r>
              <a:rPr lang="en-US" sz="1600">
                <a:ea typeface="Amazon Ember" panose="020B0603020204020204" pitchFamily="34" charset="0"/>
                <a:cs typeface="Amazon Ember" panose="020B0603020204020204" pitchFamily="34" charset="0"/>
              </a:rPr>
              <a:t>Amazon S3</a:t>
            </a:r>
          </a:p>
        </p:txBody>
      </p:sp>
      <p:sp>
        <p:nvSpPr>
          <p:cNvPr id="40" name="TextBox 31">
            <a:extLst>
              <a:ext uri="{C183D7F6-B498-43B3-948B-1728B52AA6E4}">
                <adec:decorative xmlns:adec="http://schemas.microsoft.com/office/drawing/2017/decorative" val="1"/>
              </a:ext>
            </a:extLst>
          </p:cNvPr>
          <p:cNvSpPr txBox="1"/>
          <p:nvPr/>
        </p:nvSpPr>
        <p:spPr>
          <a:xfrm>
            <a:off x="3207800" y="4347175"/>
            <a:ext cx="994209" cy="575359"/>
          </a:xfrm>
          <a:prstGeom prst="rect">
            <a:avLst/>
          </a:prstGeom>
          <a:noFill/>
        </p:spPr>
        <p:txBody>
          <a:bodyPr wrap="square" lIns="0" tIns="0" rIns="0" bIns="0" rtlCol="0" anchor="t">
            <a:noAutofit/>
          </a:bodyPr>
          <a:lstStyle/>
          <a:p>
            <a:pPr algn="ctr">
              <a:lnSpc>
                <a:spcPct val="90000"/>
              </a:lnSpc>
            </a:pPr>
            <a:r>
              <a:rPr lang="en-US" sz="1600">
                <a:ea typeface="Amazon Ember" panose="020B0603020204020204" pitchFamily="34" charset="0"/>
                <a:cs typeface="Amazon Ember" panose="020B0603020204020204" pitchFamily="34" charset="0"/>
              </a:rPr>
              <a:t>Amazon S3 Glacier</a:t>
            </a:r>
          </a:p>
        </p:txBody>
      </p:sp>
      <p:sp>
        <p:nvSpPr>
          <p:cNvPr id="41" name="TextBox 32">
            <a:extLst>
              <a:ext uri="{C183D7F6-B498-43B3-948B-1728B52AA6E4}">
                <adec:decorative xmlns:adec="http://schemas.microsoft.com/office/drawing/2017/decorative" val="1"/>
              </a:ext>
            </a:extLst>
          </p:cNvPr>
          <p:cNvSpPr txBox="1"/>
          <p:nvPr/>
        </p:nvSpPr>
        <p:spPr>
          <a:xfrm>
            <a:off x="3222296" y="2752839"/>
            <a:ext cx="965217" cy="646805"/>
          </a:xfrm>
          <a:prstGeom prst="rect">
            <a:avLst/>
          </a:prstGeom>
          <a:noFill/>
        </p:spPr>
        <p:txBody>
          <a:bodyPr wrap="square" lIns="0" tIns="0" rIns="0" bIns="0" rtlCol="0" anchor="t">
            <a:noAutofit/>
          </a:bodyPr>
          <a:lstStyle/>
          <a:p>
            <a:pPr algn="ctr">
              <a:lnSpc>
                <a:spcPct val="90000"/>
              </a:lnSpc>
            </a:pPr>
            <a:r>
              <a:rPr lang="en-US" sz="1600" dirty="0">
                <a:ea typeface="Amazon Ember" panose="020B0603020204020204" pitchFamily="34" charset="0"/>
                <a:cs typeface="Amazon Ember" panose="020B0603020204020204" pitchFamily="34" charset="0"/>
              </a:rPr>
              <a:t>Amazon EBS</a:t>
            </a:r>
          </a:p>
        </p:txBody>
      </p:sp>
      <p:sp>
        <p:nvSpPr>
          <p:cNvPr id="59" name="TextBox 58">
            <a:extLst>
              <a:ext uri="{C183D7F6-B498-43B3-948B-1728B52AA6E4}">
                <adec:decorative xmlns:adec="http://schemas.microsoft.com/office/drawing/2017/decorative" val="1"/>
              </a:ext>
            </a:extLst>
          </p:cNvPr>
          <p:cNvSpPr txBox="1"/>
          <p:nvPr/>
        </p:nvSpPr>
        <p:spPr>
          <a:xfrm>
            <a:off x="1894295" y="4339813"/>
            <a:ext cx="1306880" cy="520310"/>
          </a:xfrm>
          <a:prstGeom prst="rect">
            <a:avLst/>
          </a:prstGeom>
          <a:noFill/>
        </p:spPr>
        <p:txBody>
          <a:bodyPr wrap="square" lIns="0" tIns="0" rIns="0" bIns="0" rtlCol="0" anchor="t">
            <a:noAutofit/>
          </a:bodyPr>
          <a:lstStyle/>
          <a:p>
            <a:pPr algn="ctr">
              <a:lnSpc>
                <a:spcPct val="90000"/>
              </a:lnSpc>
            </a:pPr>
            <a:r>
              <a:rPr lang="en-US" sz="1600">
                <a:ea typeface="Amazon Ember" panose="020B0603020204020204" pitchFamily="34" charset="0"/>
                <a:cs typeface="Amazon Ember" panose="020B0603020204020204" pitchFamily="34" charset="0"/>
              </a:rPr>
              <a:t>Amazon </a:t>
            </a:r>
          </a:p>
          <a:p>
            <a:pPr algn="ctr">
              <a:lnSpc>
                <a:spcPct val="90000"/>
              </a:lnSpc>
            </a:pPr>
            <a:r>
              <a:rPr lang="en-US" sz="1600">
                <a:ea typeface="Amazon Ember" panose="020B0603020204020204" pitchFamily="34" charset="0"/>
                <a:cs typeface="Amazon Ember" panose="020B0603020204020204" pitchFamily="34" charset="0"/>
              </a:rPr>
              <a:t>EFS</a:t>
            </a:r>
          </a:p>
        </p:txBody>
      </p:sp>
      <p:sp>
        <p:nvSpPr>
          <p:cNvPr id="23" name="TextBox 3" descr="Storage.">
            <a:extLst>
              <a:ext uri="{FF2B5EF4-FFF2-40B4-BE49-F238E27FC236}">
                <a16:creationId xmlns:a16="http://schemas.microsoft.com/office/drawing/2014/main" id="{B7D15E15-7DB1-3347-9819-AE36FDCE02BC}"/>
              </a:ext>
            </a:extLst>
          </p:cNvPr>
          <p:cNvSpPr txBox="1"/>
          <p:nvPr/>
        </p:nvSpPr>
        <p:spPr>
          <a:xfrm>
            <a:off x="2124976" y="5077872"/>
            <a:ext cx="1865156" cy="369332"/>
          </a:xfrm>
          <a:prstGeom prst="rect">
            <a:avLst/>
          </a:prstGeom>
          <a:noFill/>
        </p:spPr>
        <p:txBody>
          <a:bodyPr wrap="square" lIns="0" tIns="0" rIns="0" bIns="0" rtlCol="0" anchor="t">
            <a:spAutoFit/>
          </a:bodyPr>
          <a:lstStyle/>
          <a:p>
            <a:pPr algn="ctr"/>
            <a:r>
              <a:rPr lang="en-US" sz="2400" b="1">
                <a:ea typeface="Amazon Ember" panose="020B0603020204020204" pitchFamily="34" charset="0"/>
                <a:cs typeface="Amazon Ember" panose="020B0603020204020204" pitchFamily="34" charset="0"/>
              </a:rPr>
              <a:t>Storage</a:t>
            </a:r>
          </a:p>
        </p:txBody>
      </p:sp>
      <p:pic>
        <p:nvPicPr>
          <p:cNvPr id="29" name="Graphic 28">
            <a:extLst>
              <a:ext uri="{FF2B5EF4-FFF2-40B4-BE49-F238E27FC236}">
                <a16:creationId xmlns:a16="http://schemas.microsoft.com/office/drawing/2014/main" id="{B370BD15-618E-48BF-B28B-4BA19F0321E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92135" y="3561736"/>
            <a:ext cx="711200" cy="711200"/>
          </a:xfrm>
          <a:prstGeom prst="rect">
            <a:avLst/>
          </a:prstGeom>
        </p:spPr>
      </p:pic>
      <p:pic>
        <p:nvPicPr>
          <p:cNvPr id="30" name="Graphic 29">
            <a:extLst>
              <a:ext uri="{FF2B5EF4-FFF2-40B4-BE49-F238E27FC236}">
                <a16:creationId xmlns:a16="http://schemas.microsoft.com/office/drawing/2014/main" id="{8C565046-E4AE-4044-9F5D-AF8739EF776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49304" y="3558946"/>
            <a:ext cx="711200" cy="711200"/>
          </a:xfrm>
          <a:prstGeom prst="rect">
            <a:avLst/>
          </a:prstGeom>
        </p:spPr>
      </p:pic>
      <p:pic>
        <p:nvPicPr>
          <p:cNvPr id="37" name="Graphic 36">
            <a:extLst>
              <a:ext uri="{FF2B5EF4-FFF2-40B4-BE49-F238E27FC236}">
                <a16:creationId xmlns:a16="http://schemas.microsoft.com/office/drawing/2014/main" id="{87D6F491-7B98-49CC-938D-210A2505D49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49304" y="1959703"/>
            <a:ext cx="711200" cy="711200"/>
          </a:xfrm>
          <a:prstGeom prst="rect">
            <a:avLst/>
          </a:prstGeom>
        </p:spPr>
      </p:pic>
      <p:pic>
        <p:nvPicPr>
          <p:cNvPr id="43" name="Graphic 42">
            <a:extLst>
              <a:ext uri="{FF2B5EF4-FFF2-40B4-BE49-F238E27FC236}">
                <a16:creationId xmlns:a16="http://schemas.microsoft.com/office/drawing/2014/main" id="{35978C94-8290-497B-8428-B94D4BFBF0EA}"/>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92135" y="1995450"/>
            <a:ext cx="711200" cy="711200"/>
          </a:xfrm>
          <a:prstGeom prst="rect">
            <a:avLst/>
          </a:prstGeom>
        </p:spPr>
      </p:pic>
      <p:sp>
        <p:nvSpPr>
          <p:cNvPr id="53" name="TextBox 35" descr="Amazon RDS."/>
          <p:cNvSpPr txBox="1"/>
          <p:nvPr/>
        </p:nvSpPr>
        <p:spPr>
          <a:xfrm>
            <a:off x="7058781" y="4394904"/>
            <a:ext cx="1865155" cy="465219"/>
          </a:xfrm>
          <a:prstGeom prst="rect">
            <a:avLst/>
          </a:prstGeom>
          <a:noFill/>
        </p:spPr>
        <p:txBody>
          <a:bodyPr wrap="square" lIns="0" tIns="0" rIns="0" bIns="0" rtlCol="0" anchor="t">
            <a:noAutofit/>
          </a:bodyPr>
          <a:lstStyle/>
          <a:p>
            <a:pPr algn="ctr">
              <a:lnSpc>
                <a:spcPct val="90000"/>
              </a:lnSpc>
            </a:pPr>
            <a:r>
              <a:rPr lang="en-US" sz="1600"/>
              <a:t>Amazon Relational</a:t>
            </a:r>
          </a:p>
          <a:p>
            <a:pPr algn="ctr">
              <a:lnSpc>
                <a:spcPct val="90000"/>
              </a:lnSpc>
            </a:pPr>
            <a:r>
              <a:rPr lang="en-US" sz="1600"/>
              <a:t>Database Service</a:t>
            </a:r>
          </a:p>
        </p:txBody>
      </p:sp>
      <p:sp>
        <p:nvSpPr>
          <p:cNvPr id="55" name="TextBox 36" descr="Amazon DynamoDB."/>
          <p:cNvSpPr txBox="1"/>
          <p:nvPr/>
        </p:nvSpPr>
        <p:spPr>
          <a:xfrm>
            <a:off x="9019574" y="4394904"/>
            <a:ext cx="1278131" cy="336971"/>
          </a:xfrm>
          <a:prstGeom prst="rect">
            <a:avLst/>
          </a:prstGeom>
          <a:noFill/>
        </p:spPr>
        <p:txBody>
          <a:bodyPr wrap="square" lIns="0" tIns="0" rIns="0" bIns="0" rtlCol="0" anchor="t">
            <a:noAutofit/>
          </a:bodyPr>
          <a:lstStyle/>
          <a:p>
            <a:pPr algn="ctr">
              <a:lnSpc>
                <a:spcPct val="90000"/>
              </a:lnSpc>
            </a:pPr>
            <a:r>
              <a:rPr lang="en-US" sz="1600">
                <a:ea typeface="Amazon Ember" panose="020B0603020204020204" pitchFamily="34" charset="0"/>
                <a:cs typeface="Amazon Ember" panose="020B0603020204020204" pitchFamily="34" charset="0"/>
              </a:rPr>
              <a:t>Amazon DynamoDB</a:t>
            </a:r>
          </a:p>
        </p:txBody>
      </p:sp>
      <p:sp>
        <p:nvSpPr>
          <p:cNvPr id="61" name="TextBox 3" descr="Database services."/>
          <p:cNvSpPr txBox="1"/>
          <p:nvPr/>
        </p:nvSpPr>
        <p:spPr>
          <a:xfrm>
            <a:off x="8035424" y="5076147"/>
            <a:ext cx="1865156" cy="369332"/>
          </a:xfrm>
          <a:prstGeom prst="rect">
            <a:avLst/>
          </a:prstGeom>
          <a:noFill/>
        </p:spPr>
        <p:txBody>
          <a:bodyPr wrap="square" lIns="0" tIns="0" rIns="0" bIns="0" rtlCol="0" anchor="t">
            <a:spAutoFit/>
          </a:bodyPr>
          <a:lstStyle/>
          <a:p>
            <a:pPr algn="ctr"/>
            <a:r>
              <a:rPr lang="en-US" sz="2400" b="1">
                <a:ea typeface="Amazon Ember" panose="020B0603020204020204" pitchFamily="34" charset="0"/>
                <a:cs typeface="Amazon Ember" panose="020B0603020204020204" pitchFamily="34" charset="0"/>
              </a:rPr>
              <a:t>Database</a:t>
            </a:r>
          </a:p>
        </p:txBody>
      </p:sp>
      <p:pic>
        <p:nvPicPr>
          <p:cNvPr id="26" name="Graphic 25">
            <a:extLst>
              <a:ext uri="{FF2B5EF4-FFF2-40B4-BE49-F238E27FC236}">
                <a16:creationId xmlns:a16="http://schemas.microsoft.com/office/drawing/2014/main" id="{4E7E13FC-88A3-4DF6-AA2B-150CF85E9B64}"/>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635758" y="3616827"/>
            <a:ext cx="711200" cy="711200"/>
          </a:xfrm>
          <a:prstGeom prst="rect">
            <a:avLst/>
          </a:prstGeom>
        </p:spPr>
      </p:pic>
      <p:pic>
        <p:nvPicPr>
          <p:cNvPr id="27" name="Graphic 26">
            <a:extLst>
              <a:ext uri="{FF2B5EF4-FFF2-40B4-BE49-F238E27FC236}">
                <a16:creationId xmlns:a16="http://schemas.microsoft.com/office/drawing/2014/main" id="{900D6818-3477-4849-AC82-917186F16BCF}"/>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315968" y="3616827"/>
            <a:ext cx="705765" cy="705765"/>
          </a:xfrm>
          <a:prstGeom prst="rect">
            <a:avLst/>
          </a:prstGeom>
        </p:spPr>
      </p:pic>
    </p:spTree>
    <p:custDataLst>
      <p:tags r:id="rId1"/>
    </p:custDataLst>
    <p:extLst>
      <p:ext uri="{BB962C8B-B14F-4D97-AF65-F5344CB8AC3E}">
        <p14:creationId xmlns:p14="http://schemas.microsoft.com/office/powerpoint/2010/main" val="468536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a:t>Section 1: Amazon Elastic Block Store (Amazon EBS)</a:t>
            </a:r>
          </a:p>
        </p:txBody>
      </p:sp>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t>Module 7: Storage</a:t>
            </a:r>
          </a:p>
        </p:txBody>
      </p:sp>
    </p:spTree>
    <p:custDataLst>
      <p:tags r:id="rId1"/>
    </p:custDataLst>
    <p:extLst>
      <p:ext uri="{BB962C8B-B14F-4D97-AF65-F5344CB8AC3E}">
        <p14:creationId xmlns:p14="http://schemas.microsoft.com/office/powerpoint/2010/main" val="1501831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6</a:t>
            </a:fld>
            <a:endParaRPr lang="en-US"/>
          </a:p>
        </p:txBody>
      </p:sp>
      <p:sp>
        <p:nvSpPr>
          <p:cNvPr id="2" name="Title 1"/>
          <p:cNvSpPr>
            <a:spLocks noGrp="1"/>
          </p:cNvSpPr>
          <p:nvPr>
            <p:ph type="title"/>
          </p:nvPr>
        </p:nvSpPr>
        <p:spPr/>
        <p:txBody>
          <a:bodyPr/>
          <a:lstStyle/>
          <a:p>
            <a:r>
              <a:rPr lang="en-US"/>
              <a:t>Storage</a:t>
            </a:r>
          </a:p>
        </p:txBody>
      </p:sp>
      <p:pic>
        <p:nvPicPr>
          <p:cNvPr id="5" name="Graphic 4">
            <a:extLst>
              <a:ext uri="{FF2B5EF4-FFF2-40B4-BE49-F238E27FC236}">
                <a16:creationId xmlns:a16="http://schemas.microsoft.com/office/drawing/2014/main" id="{7228C83A-AF88-4BC8-B110-0C8DBDFA33E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06177" y="2358046"/>
            <a:ext cx="1732748" cy="1732748"/>
          </a:xfrm>
          <a:prstGeom prst="rect">
            <a:avLst/>
          </a:prstGeom>
        </p:spPr>
      </p:pic>
      <p:sp>
        <p:nvSpPr>
          <p:cNvPr id="11" name="TextBox 10"/>
          <p:cNvSpPr txBox="1"/>
          <p:nvPr/>
        </p:nvSpPr>
        <p:spPr>
          <a:xfrm>
            <a:off x="3449783" y="4590329"/>
            <a:ext cx="5097188" cy="861774"/>
          </a:xfrm>
          <a:prstGeom prst="rect">
            <a:avLst/>
          </a:prstGeom>
          <a:noFill/>
        </p:spPr>
        <p:txBody>
          <a:bodyPr wrap="square" lIns="0" tIns="0" rIns="0" bIns="0" rtlCol="0" anchor="ctr">
            <a:spAutoFit/>
          </a:bodyPr>
          <a:lstStyle>
            <a:defPPr>
              <a:defRPr lang="en-US"/>
            </a:defPPr>
            <a:lvl1pPr algn="ctr">
              <a:defRPr sz="2800" b="1"/>
            </a:lvl1pPr>
          </a:lstStyle>
          <a:p>
            <a:r>
              <a:rPr lang="en-US" b="0"/>
              <a:t>Amazon Elastic Block Store (Amazon EBS)</a:t>
            </a:r>
          </a:p>
        </p:txBody>
      </p:sp>
    </p:spTree>
    <p:custDataLst>
      <p:tags r:id="rId1"/>
    </p:custDataLst>
    <p:extLst>
      <p:ext uri="{BB962C8B-B14F-4D97-AF65-F5344CB8AC3E}">
        <p14:creationId xmlns:p14="http://schemas.microsoft.com/office/powerpoint/2010/main" val="4168786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7</a:t>
            </a:fld>
            <a:endParaRPr lang="en-US"/>
          </a:p>
        </p:txBody>
      </p:sp>
      <p:sp>
        <p:nvSpPr>
          <p:cNvPr id="2" name="Title 1"/>
          <p:cNvSpPr>
            <a:spLocks noGrp="1"/>
          </p:cNvSpPr>
          <p:nvPr>
            <p:ph type="title"/>
          </p:nvPr>
        </p:nvSpPr>
        <p:spPr/>
        <p:txBody>
          <a:bodyPr>
            <a:noAutofit/>
          </a:bodyPr>
          <a:lstStyle/>
          <a:p>
            <a:r>
              <a:rPr lang="en-US"/>
              <a:t>AWS storage options: Block storage versus object storage</a:t>
            </a:r>
          </a:p>
        </p:txBody>
      </p:sp>
      <p:grpSp>
        <p:nvGrpSpPr>
          <p:cNvPr id="4" name="Group 7" descr="What if you want to change one character in a 1-GB file?"/>
          <p:cNvGrpSpPr/>
          <p:nvPr/>
        </p:nvGrpSpPr>
        <p:grpSpPr>
          <a:xfrm>
            <a:off x="320639" y="1406757"/>
            <a:ext cx="10052963" cy="829839"/>
            <a:chOff x="703236" y="2835131"/>
            <a:chExt cx="7205194" cy="622379"/>
          </a:xfrm>
        </p:grpSpPr>
        <p:grpSp>
          <p:nvGrpSpPr>
            <p:cNvPr id="20" name="Group 8"/>
            <p:cNvGrpSpPr/>
            <p:nvPr/>
          </p:nvGrpSpPr>
          <p:grpSpPr>
            <a:xfrm>
              <a:off x="703236" y="2835131"/>
              <a:ext cx="540451" cy="622379"/>
              <a:chOff x="3402623" y="3640015"/>
              <a:chExt cx="826477" cy="861647"/>
            </a:xfrm>
          </p:grpSpPr>
          <p:sp>
            <p:nvSpPr>
              <p:cNvPr id="14" name="Flowchart: Document 10"/>
              <p:cNvSpPr/>
              <p:nvPr/>
            </p:nvSpPr>
            <p:spPr>
              <a:xfrm>
                <a:off x="3402623" y="3640015"/>
                <a:ext cx="826477" cy="861647"/>
              </a:xfrm>
              <a:prstGeom prst="flowChartDocumen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16" name="Straight Connector 11"/>
              <p:cNvCxnSpPr/>
              <p:nvPr/>
            </p:nvCxnSpPr>
            <p:spPr>
              <a:xfrm>
                <a:off x="3464169" y="38070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7" name="Straight Connector 12"/>
              <p:cNvCxnSpPr/>
              <p:nvPr/>
            </p:nvCxnSpPr>
            <p:spPr>
              <a:xfrm>
                <a:off x="3464169" y="39594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8" name="Straight Connector 23"/>
              <p:cNvCxnSpPr/>
              <p:nvPr/>
            </p:nvCxnSpPr>
            <p:spPr>
              <a:xfrm>
                <a:off x="3464169" y="41118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9" name="Straight Connector 25"/>
              <p:cNvCxnSpPr/>
              <p:nvPr/>
            </p:nvCxnSpPr>
            <p:spPr>
              <a:xfrm>
                <a:off x="3464169" y="42642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38" name="TextBox 9"/>
            <p:cNvSpPr txBox="1"/>
            <p:nvPr/>
          </p:nvSpPr>
          <p:spPr>
            <a:xfrm>
              <a:off x="1309261" y="2932340"/>
              <a:ext cx="6599169" cy="346249"/>
            </a:xfrm>
            <a:prstGeom prst="rect">
              <a:avLst/>
            </a:prstGeom>
            <a:noFill/>
          </p:spPr>
          <p:txBody>
            <a:bodyPr wrap="square" rtlCol="0">
              <a:spAutoFit/>
            </a:bodyPr>
            <a:lstStyle/>
            <a:p>
              <a:r>
                <a:rPr lang="en-US" sz="2400">
                  <a:ea typeface="Amazon Ember Light" panose="020B0403020204020204" pitchFamily="34" charset="0"/>
                  <a:cs typeface="Amazon Ember Light" panose="020B0403020204020204" pitchFamily="34" charset="0"/>
                </a:rPr>
                <a:t>What if you want to </a:t>
              </a:r>
              <a:r>
                <a:rPr lang="en-US" sz="2400">
                  <a:ea typeface="Amazon Ember" panose="020B0603020204020204" pitchFamily="34" charset="0"/>
                  <a:cs typeface="Amazon Ember" panose="020B0603020204020204" pitchFamily="34" charset="0"/>
                </a:rPr>
                <a:t>change</a:t>
              </a:r>
              <a:r>
                <a:rPr lang="en-US" sz="2400">
                  <a:ea typeface="Amazon Ember Light" panose="020B0403020204020204" pitchFamily="34" charset="0"/>
                  <a:cs typeface="Amazon Ember Light" panose="020B0403020204020204" pitchFamily="34" charset="0"/>
                </a:rPr>
                <a:t> </a:t>
              </a:r>
              <a:r>
                <a:rPr lang="en-US" sz="2400" b="1">
                  <a:ea typeface="Amazon Ember Light" panose="020B0403020204020204" pitchFamily="34" charset="0"/>
                  <a:cs typeface="Amazon Ember Light" panose="020B0403020204020204" pitchFamily="34" charset="0"/>
                </a:rPr>
                <a:t>one character</a:t>
              </a:r>
              <a:r>
                <a:rPr lang="en-US" sz="2400">
                  <a:ea typeface="Amazon Ember Light" panose="020B0403020204020204" pitchFamily="34" charset="0"/>
                  <a:cs typeface="Amazon Ember Light" panose="020B0403020204020204" pitchFamily="34" charset="0"/>
                </a:rPr>
                <a:t> in a 1-GB file?</a:t>
              </a:r>
            </a:p>
          </p:txBody>
        </p:sp>
      </p:grpSp>
      <p:graphicFrame>
        <p:nvGraphicFramePr>
          <p:cNvPr id="26" name="Table 25">
            <a:extLs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2562053984"/>
              </p:ext>
            </p:extLst>
          </p:nvPr>
        </p:nvGraphicFramePr>
        <p:xfrm>
          <a:off x="2374187" y="2425416"/>
          <a:ext cx="1896663" cy="2156276"/>
        </p:xfrm>
        <a:graphic>
          <a:graphicData uri="http://schemas.openxmlformats.org/drawingml/2006/table">
            <a:tbl>
              <a:tblPr firstRow="1" bandRow="1"/>
              <a:tblGrid>
                <a:gridCol w="632221">
                  <a:extLst>
                    <a:ext uri="{9D8B030D-6E8A-4147-A177-3AD203B41FA5}">
                      <a16:colId xmlns:a16="http://schemas.microsoft.com/office/drawing/2014/main" val="20000"/>
                    </a:ext>
                  </a:extLst>
                </a:gridCol>
                <a:gridCol w="632221">
                  <a:extLst>
                    <a:ext uri="{9D8B030D-6E8A-4147-A177-3AD203B41FA5}">
                      <a16:colId xmlns:a16="http://schemas.microsoft.com/office/drawing/2014/main" val="20001"/>
                    </a:ext>
                  </a:extLst>
                </a:gridCol>
                <a:gridCol w="632221">
                  <a:extLst>
                    <a:ext uri="{9D8B030D-6E8A-4147-A177-3AD203B41FA5}">
                      <a16:colId xmlns:a16="http://schemas.microsoft.com/office/drawing/2014/main" val="20002"/>
                    </a:ext>
                  </a:extLst>
                </a:gridCol>
              </a:tblGrid>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0"/>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1"/>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2"/>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3"/>
                  </a:ext>
                </a:extLst>
              </a:tr>
            </a:tbl>
          </a:graphicData>
        </a:graphic>
      </p:graphicFrame>
      <p:sp>
        <p:nvSpPr>
          <p:cNvPr id="23" name="Content Placeholder 2"/>
          <p:cNvSpPr txBox="1">
            <a:spLocks/>
          </p:cNvSpPr>
          <p:nvPr/>
        </p:nvSpPr>
        <p:spPr>
          <a:xfrm>
            <a:off x="1404421" y="4747723"/>
            <a:ext cx="3961207" cy="620681"/>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rgbClr val="4D4D4C"/>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rgbClr val="4D4D4C"/>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rgbClr val="4D4D4C"/>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rgbClr val="4D4D4C"/>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4D4D4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lgn="ctr">
              <a:buNone/>
            </a:pPr>
            <a:r>
              <a:rPr lang="en-US" sz="3200">
                <a:solidFill>
                  <a:schemeClr val="tx1"/>
                </a:solidFill>
                <a:latin typeface="Amazon Ember" panose="020B0603020204020204" pitchFamily="34" charset="0"/>
                <a:ea typeface="Amazon Ember" panose="020B0603020204020204" pitchFamily="34" charset="0"/>
                <a:cs typeface="Amazon Ember" panose="020B0603020204020204" pitchFamily="34" charset="0"/>
              </a:rPr>
              <a:t>Block storage</a:t>
            </a:r>
          </a:p>
        </p:txBody>
      </p:sp>
      <p:sp>
        <p:nvSpPr>
          <p:cNvPr id="3" name="Content Placeholder 2"/>
          <p:cNvSpPr>
            <a:spLocks noGrp="1"/>
          </p:cNvSpPr>
          <p:nvPr>
            <p:ph sz="quarter" idx="21"/>
          </p:nvPr>
        </p:nvSpPr>
        <p:spPr>
          <a:xfrm>
            <a:off x="365760" y="5393494"/>
            <a:ext cx="6460614" cy="983506"/>
          </a:xfrm>
        </p:spPr>
        <p:txBody>
          <a:bodyPr>
            <a:noAutofit/>
          </a:bodyPr>
          <a:lstStyle/>
          <a:p>
            <a:pPr marL="0" lvl="1" indent="0" algn="ctr">
              <a:buNone/>
            </a:pPr>
            <a:r>
              <a:rPr lang="en-US">
                <a:latin typeface="+mn-lt"/>
              </a:rPr>
              <a:t>Change one block (piece of the file)</a:t>
            </a:r>
          </a:p>
          <a:p>
            <a:pPr marL="0" lvl="1" indent="0" algn="ctr">
              <a:buNone/>
            </a:pPr>
            <a:r>
              <a:rPr lang="en-US">
                <a:latin typeface="+mn-lt"/>
              </a:rPr>
              <a:t>that contains the character</a:t>
            </a:r>
          </a:p>
        </p:txBody>
      </p:sp>
      <p:sp>
        <p:nvSpPr>
          <p:cNvPr id="28" name="Rectangle 27">
            <a:extLst>
              <a:ext uri="{C183D7F6-B498-43B3-948B-1728B52AA6E4}">
                <adec:decorative xmlns:adec="http://schemas.microsoft.com/office/drawing/2017/decorative" val="1"/>
              </a:ext>
            </a:extLst>
          </p:cNvPr>
          <p:cNvSpPr/>
          <p:nvPr/>
        </p:nvSpPr>
        <p:spPr>
          <a:xfrm>
            <a:off x="3644914" y="2963310"/>
            <a:ext cx="618792" cy="542397"/>
          </a:xfrm>
          <a:prstGeom prst="rect">
            <a:avLst/>
          </a:prstGeom>
          <a:solidFill>
            <a:srgbClr val="0C67AE">
              <a:lumMod val="60000"/>
              <a:lumOff val="40000"/>
            </a:srgbClr>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aphicFrame>
        <p:nvGraphicFramePr>
          <p:cNvPr id="27" name="Table 26">
            <a:extLs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2540150301"/>
              </p:ext>
            </p:extLst>
          </p:nvPr>
        </p:nvGraphicFramePr>
        <p:xfrm>
          <a:off x="7864523" y="2432176"/>
          <a:ext cx="1896663" cy="2156276"/>
        </p:xfrm>
        <a:graphic>
          <a:graphicData uri="http://schemas.openxmlformats.org/drawingml/2006/table">
            <a:tbl>
              <a:tblPr firstRow="1" bandRow="1"/>
              <a:tblGrid>
                <a:gridCol w="632221">
                  <a:extLst>
                    <a:ext uri="{9D8B030D-6E8A-4147-A177-3AD203B41FA5}">
                      <a16:colId xmlns:a16="http://schemas.microsoft.com/office/drawing/2014/main" val="20000"/>
                    </a:ext>
                  </a:extLst>
                </a:gridCol>
                <a:gridCol w="632221">
                  <a:extLst>
                    <a:ext uri="{9D8B030D-6E8A-4147-A177-3AD203B41FA5}">
                      <a16:colId xmlns:a16="http://schemas.microsoft.com/office/drawing/2014/main" val="20001"/>
                    </a:ext>
                  </a:extLst>
                </a:gridCol>
                <a:gridCol w="632221">
                  <a:extLst>
                    <a:ext uri="{9D8B030D-6E8A-4147-A177-3AD203B41FA5}">
                      <a16:colId xmlns:a16="http://schemas.microsoft.com/office/drawing/2014/main" val="20002"/>
                    </a:ext>
                  </a:extLst>
                </a:gridCol>
              </a:tblGrid>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0"/>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1"/>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2"/>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3"/>
                  </a:ext>
                </a:extLst>
              </a:tr>
            </a:tbl>
          </a:graphicData>
        </a:graphic>
      </p:graphicFrame>
      <p:sp>
        <p:nvSpPr>
          <p:cNvPr id="21" name="Content Placeholder 2"/>
          <p:cNvSpPr txBox="1">
            <a:spLocks/>
          </p:cNvSpPr>
          <p:nvPr/>
        </p:nvSpPr>
        <p:spPr>
          <a:xfrm>
            <a:off x="7286947" y="4743692"/>
            <a:ext cx="3194501" cy="464673"/>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400" b="0" i="0">
                <a:solidFill>
                  <a:srgbClr val="4D4D4C"/>
                </a:solidFill>
                <a:latin typeface="Arial"/>
                <a:cs typeface="Arial"/>
              </a:defRPr>
            </a:lvl1pPr>
            <a:lvl2pPr marL="0" lvl="1" indent="0" algn="ctr" defTabSz="457200">
              <a:spcBef>
                <a:spcPct val="20000"/>
              </a:spcBef>
              <a:buFont typeface="Arial"/>
              <a:buNone/>
              <a:defRPr sz="2133" b="1" i="0">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defTabSz="457200">
              <a:spcBef>
                <a:spcPct val="20000"/>
              </a:spcBef>
              <a:buFont typeface="Arial"/>
              <a:buChar char="•"/>
              <a:defRPr b="0" i="0">
                <a:solidFill>
                  <a:srgbClr val="4D4D4C"/>
                </a:solidFill>
                <a:latin typeface="Arial"/>
                <a:cs typeface="Arial"/>
              </a:defRPr>
            </a:lvl3pPr>
            <a:lvl4pPr marL="1600200" indent="-228600" defTabSz="457200">
              <a:spcBef>
                <a:spcPct val="20000"/>
              </a:spcBef>
              <a:buFont typeface="Arial"/>
              <a:buChar char="–"/>
              <a:defRPr sz="1600" b="0" i="0">
                <a:solidFill>
                  <a:srgbClr val="4D4D4C"/>
                </a:solidFill>
                <a:latin typeface="Arial"/>
                <a:cs typeface="Arial"/>
              </a:defRPr>
            </a:lvl4pPr>
            <a:lvl5pPr marL="2057400" indent="-228600" defTabSz="457200">
              <a:spcBef>
                <a:spcPct val="20000"/>
              </a:spcBef>
              <a:buFont typeface="Arial"/>
              <a:buChar char="»"/>
              <a:defRPr sz="1600" b="0" i="0">
                <a:solidFill>
                  <a:srgbClr val="4D4D4C"/>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1"/>
            <a:r>
              <a:rPr lang="en-US" sz="3200" b="0"/>
              <a:t>Object storage</a:t>
            </a:r>
          </a:p>
        </p:txBody>
      </p:sp>
      <p:sp>
        <p:nvSpPr>
          <p:cNvPr id="5" name="Content Placeholder 2"/>
          <p:cNvSpPr txBox="1">
            <a:spLocks/>
          </p:cNvSpPr>
          <p:nvPr/>
        </p:nvSpPr>
        <p:spPr>
          <a:xfrm>
            <a:off x="6531721" y="5393494"/>
            <a:ext cx="4313371" cy="377193"/>
          </a:xfrm>
          <a:prstGeom prst="rect">
            <a:avLst/>
          </a:prstGeom>
        </p:spPr>
        <p:txBody>
          <a:bodyPr vert="horz" lIns="91440" tIns="45720" rIns="91440" bIns="45720" rtlCol="0">
            <a:noAutofit/>
          </a:bodyPr>
          <a:lstStyle>
            <a:lvl1pPr marL="228600" indent="-228600">
              <a:lnSpc>
                <a:spcPct val="90000"/>
              </a:lnSpc>
              <a:spcBef>
                <a:spcPts val="1000"/>
              </a:spcBef>
              <a:buFontTx/>
              <a:buBlip>
                <a:blip r:embed="rId4"/>
              </a:buBlip>
              <a:defRPr sz="2800" b="0" i="0">
                <a:latin typeface="Amazon Ember Light" charset="0"/>
                <a:ea typeface="Amazon Ember Light" charset="0"/>
                <a:cs typeface="Amazon Ember Light" charset="0"/>
              </a:defRPr>
            </a:lvl1pPr>
            <a:lvl2pPr marL="0" lvl="1" indent="0" algn="ctr">
              <a:lnSpc>
                <a:spcPct val="90000"/>
              </a:lnSpc>
              <a:spcBef>
                <a:spcPts val="500"/>
              </a:spcBef>
              <a:buFontTx/>
              <a:buNone/>
              <a:defRPr sz="1600" b="0" i="0">
                <a:latin typeface="Amazon Ember Light" charset="0"/>
                <a:ea typeface="Amazon Ember Light" charset="0"/>
                <a:cs typeface="Amazon Ember Light" charset="0"/>
              </a:defRPr>
            </a:lvl2pPr>
            <a:lvl3pPr marL="1143000" indent="-228600">
              <a:lnSpc>
                <a:spcPct val="90000"/>
              </a:lnSpc>
              <a:spcBef>
                <a:spcPts val="500"/>
              </a:spcBef>
              <a:buFontTx/>
              <a:buBlip>
                <a:blip r:embed="rId4"/>
              </a:buBlip>
              <a:defRPr sz="2000" b="0" i="0">
                <a:latin typeface="Amazon Ember Light" charset="0"/>
                <a:ea typeface="Amazon Ember Light" charset="0"/>
                <a:cs typeface="Amazon Ember Light" charset="0"/>
              </a:defRPr>
            </a:lvl3pPr>
            <a:lvl4pPr marL="1600200" indent="-228600">
              <a:lnSpc>
                <a:spcPct val="90000"/>
              </a:lnSpc>
              <a:spcBef>
                <a:spcPts val="500"/>
              </a:spcBef>
              <a:buFontTx/>
              <a:buBlip>
                <a:blip r:embed="rId4"/>
              </a:buBlip>
              <a:defRPr b="0" i="0">
                <a:latin typeface="Amazon Ember Light" charset="0"/>
                <a:ea typeface="Amazon Ember Light" charset="0"/>
                <a:cs typeface="Amazon Ember Light" charset="0"/>
              </a:defRPr>
            </a:lvl4pPr>
            <a:lvl5pPr marL="2057400" indent="-228600">
              <a:lnSpc>
                <a:spcPct val="90000"/>
              </a:lnSpc>
              <a:spcBef>
                <a:spcPts val="500"/>
              </a:spcBef>
              <a:buFontTx/>
              <a:buBlip>
                <a:blip r:embed="rId4"/>
              </a:buBlip>
              <a:defRPr b="0" i="0">
                <a:latin typeface="Amazon Ember Light" charset="0"/>
                <a:ea typeface="Amazon Ember Light" charset="0"/>
                <a:cs typeface="Amazon Ember Light" charset="0"/>
              </a:defRP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1"/>
            <a:r>
              <a:rPr lang="en-US" sz="2400">
                <a:latin typeface="+mn-lt"/>
              </a:rPr>
              <a:t>Entire file must be updated</a:t>
            </a:r>
          </a:p>
        </p:txBody>
      </p:sp>
    </p:spTree>
    <p:custDataLst>
      <p:tags r:id="rId1"/>
    </p:custDataLst>
    <p:extLst>
      <p:ext uri="{BB962C8B-B14F-4D97-AF65-F5344CB8AC3E}">
        <p14:creationId xmlns:p14="http://schemas.microsoft.com/office/powerpoint/2010/main" val="1981432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21">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8</a:t>
            </a:fld>
            <a:endParaRPr lang="en-US"/>
          </a:p>
        </p:txBody>
      </p:sp>
      <p:sp>
        <p:nvSpPr>
          <p:cNvPr id="2" name="Title 1"/>
          <p:cNvSpPr>
            <a:spLocks noGrp="1"/>
          </p:cNvSpPr>
          <p:nvPr>
            <p:ph type="title"/>
          </p:nvPr>
        </p:nvSpPr>
        <p:spPr/>
        <p:txBody>
          <a:bodyPr/>
          <a:lstStyle/>
          <a:p>
            <a:r>
              <a:rPr lang="en-US"/>
              <a:t>Amazon EBS</a:t>
            </a:r>
          </a:p>
        </p:txBody>
      </p:sp>
      <p:sp>
        <p:nvSpPr>
          <p:cNvPr id="3" name="Content Placeholder 2"/>
          <p:cNvSpPr>
            <a:spLocks noGrp="1"/>
          </p:cNvSpPr>
          <p:nvPr>
            <p:ph sz="quarter" idx="21"/>
          </p:nvPr>
        </p:nvSpPr>
        <p:spPr/>
        <p:txBody>
          <a:bodyPr>
            <a:normAutofit/>
          </a:bodyPr>
          <a:lstStyle/>
          <a:p>
            <a:pPr marL="0" indent="0">
              <a:buNone/>
            </a:pPr>
            <a:r>
              <a:rPr lang="en-US">
                <a:solidFill>
                  <a:srgbClr val="232F3E"/>
                </a:solidFill>
              </a:rPr>
              <a:t>Amazon</a:t>
            </a:r>
            <a:r>
              <a:rPr lang="en-US"/>
              <a:t> EBS enables you to </a:t>
            </a:r>
            <a:r>
              <a:rPr lang="en-US" b="1">
                <a:solidFill>
                  <a:srgbClr val="504BAB"/>
                </a:solidFill>
              </a:rPr>
              <a:t>create</a:t>
            </a:r>
            <a:r>
              <a:rPr lang="en-US" b="1">
                <a:solidFill>
                  <a:schemeClr val="accent5"/>
                </a:solidFill>
              </a:rPr>
              <a:t> </a:t>
            </a:r>
            <a:r>
              <a:rPr lang="en-US" b="1">
                <a:solidFill>
                  <a:srgbClr val="504BAB"/>
                </a:solidFill>
              </a:rPr>
              <a:t>individual</a:t>
            </a:r>
            <a:r>
              <a:rPr lang="en-US" b="1">
                <a:solidFill>
                  <a:schemeClr val="accent5"/>
                </a:solidFill>
              </a:rPr>
              <a:t> </a:t>
            </a:r>
            <a:r>
              <a:rPr lang="en-US" b="1">
                <a:solidFill>
                  <a:srgbClr val="504BAB"/>
                </a:solidFill>
              </a:rPr>
              <a:t>storage</a:t>
            </a:r>
            <a:r>
              <a:rPr lang="en-US" b="1">
                <a:solidFill>
                  <a:schemeClr val="accent5"/>
                </a:solidFill>
              </a:rPr>
              <a:t> </a:t>
            </a:r>
            <a:r>
              <a:rPr lang="en-US" b="1">
                <a:solidFill>
                  <a:srgbClr val="504BAB"/>
                </a:solidFill>
              </a:rPr>
              <a:t>volumes</a:t>
            </a:r>
            <a:r>
              <a:rPr lang="en-US" b="1">
                <a:solidFill>
                  <a:schemeClr val="accent5"/>
                </a:solidFill>
              </a:rPr>
              <a:t> </a:t>
            </a:r>
            <a:r>
              <a:rPr lang="en-US"/>
              <a:t>and </a:t>
            </a:r>
            <a:r>
              <a:rPr lang="en-US" b="1">
                <a:solidFill>
                  <a:srgbClr val="504BAB"/>
                </a:solidFill>
              </a:rPr>
              <a:t>attach</a:t>
            </a:r>
            <a:r>
              <a:rPr lang="en-US" b="1">
                <a:solidFill>
                  <a:schemeClr val="accent5"/>
                </a:solidFill>
              </a:rPr>
              <a:t> </a:t>
            </a:r>
            <a:r>
              <a:rPr lang="en-US" b="1">
                <a:solidFill>
                  <a:srgbClr val="504BAB"/>
                </a:solidFill>
              </a:rPr>
              <a:t>them</a:t>
            </a:r>
            <a:r>
              <a:rPr lang="en-US" b="1">
                <a:solidFill>
                  <a:schemeClr val="accent5"/>
                </a:solidFill>
              </a:rPr>
              <a:t> </a:t>
            </a:r>
            <a:r>
              <a:rPr lang="en-US"/>
              <a:t>to an Amazon EC2 instance:</a:t>
            </a:r>
          </a:p>
          <a:p>
            <a:r>
              <a:rPr lang="en-US"/>
              <a:t>Amazon EBS offers block-level storage.</a:t>
            </a:r>
          </a:p>
          <a:p>
            <a:r>
              <a:rPr lang="en-US"/>
              <a:t>Volumes are automatically replicated within its Availability Zone.</a:t>
            </a:r>
          </a:p>
          <a:p>
            <a:r>
              <a:rPr lang="en-US"/>
              <a:t>It can be backed up automatically to Amazon S3 through snapshots.</a:t>
            </a:r>
          </a:p>
          <a:p>
            <a:r>
              <a:rPr lang="en-US"/>
              <a:t>Uses include – </a:t>
            </a:r>
          </a:p>
          <a:p>
            <a:pPr lvl="1"/>
            <a:r>
              <a:rPr lang="en-US"/>
              <a:t>Boot volumes and storage for Amazon Elastic Compute Cloud (Amazon EC2) instances</a:t>
            </a:r>
          </a:p>
          <a:p>
            <a:pPr lvl="1"/>
            <a:r>
              <a:rPr lang="en-US"/>
              <a:t>Data storage with a file system</a:t>
            </a:r>
          </a:p>
          <a:p>
            <a:pPr lvl="1"/>
            <a:r>
              <a:rPr lang="en-US"/>
              <a:t>Database hosts</a:t>
            </a:r>
          </a:p>
          <a:p>
            <a:pPr lvl="1"/>
            <a:r>
              <a:rPr lang="en-US"/>
              <a:t>Enterprise applications</a:t>
            </a:r>
          </a:p>
        </p:txBody>
      </p:sp>
    </p:spTree>
    <p:custDataLst>
      <p:tags r:id="rId1"/>
    </p:custDataLst>
    <p:extLst>
      <p:ext uri="{BB962C8B-B14F-4D97-AF65-F5344CB8AC3E}">
        <p14:creationId xmlns:p14="http://schemas.microsoft.com/office/powerpoint/2010/main" val="3854759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9</a:t>
            </a:fld>
            <a:endParaRPr lang="en-US"/>
          </a:p>
        </p:txBody>
      </p:sp>
      <p:sp>
        <p:nvSpPr>
          <p:cNvPr id="2" name="Title 1"/>
          <p:cNvSpPr>
            <a:spLocks noGrp="1"/>
          </p:cNvSpPr>
          <p:nvPr>
            <p:ph type="title"/>
          </p:nvPr>
        </p:nvSpPr>
        <p:spPr/>
        <p:txBody>
          <a:bodyPr/>
          <a:lstStyle/>
          <a:p>
            <a:r>
              <a:rPr lang="en-US"/>
              <a:t>Amazon EBS volume types</a:t>
            </a:r>
          </a:p>
        </p:txBody>
      </p:sp>
      <p:graphicFrame>
        <p:nvGraphicFramePr>
          <p:cNvPr id="6" name="Content Placeholder 5" descr="Table">
            <a:extLst>
              <a:ext uri="{FF2B5EF4-FFF2-40B4-BE49-F238E27FC236}">
                <a16:creationId xmlns:a16="http://schemas.microsoft.com/office/drawing/2014/main" id="{5747B7E5-BEF9-1283-504C-A777C43A888E}"/>
              </a:ext>
            </a:extLst>
          </p:cNvPr>
          <p:cNvGraphicFramePr>
            <a:graphicFrameLocks/>
          </p:cNvGraphicFramePr>
          <p:nvPr>
            <p:extLst>
              <p:ext uri="{D42A27DB-BD31-4B8C-83A1-F6EECF244321}">
                <p14:modId xmlns:p14="http://schemas.microsoft.com/office/powerpoint/2010/main" val="1253921446"/>
              </p:ext>
            </p:extLst>
          </p:nvPr>
        </p:nvGraphicFramePr>
        <p:xfrm>
          <a:off x="365125" y="1361368"/>
          <a:ext cx="11588750" cy="2590800"/>
        </p:xfrm>
        <a:graphic>
          <a:graphicData uri="http://schemas.openxmlformats.org/drawingml/2006/table">
            <a:tbl>
              <a:tblPr firstRow="1" bandRow="1">
                <a:tableStyleId>{85BE263C-DBD7-4A20-BB59-AAB30ACAA65A}</a:tableStyleId>
              </a:tblPr>
              <a:tblGrid>
                <a:gridCol w="2978576">
                  <a:extLst>
                    <a:ext uri="{9D8B030D-6E8A-4147-A177-3AD203B41FA5}">
                      <a16:colId xmlns:a16="http://schemas.microsoft.com/office/drawing/2014/main" val="4208479291"/>
                    </a:ext>
                  </a:extLst>
                </a:gridCol>
                <a:gridCol w="2139223">
                  <a:extLst>
                    <a:ext uri="{9D8B030D-6E8A-4147-A177-3AD203B41FA5}">
                      <a16:colId xmlns:a16="http://schemas.microsoft.com/office/drawing/2014/main" val="3877621433"/>
                    </a:ext>
                  </a:extLst>
                </a:gridCol>
                <a:gridCol w="2139223">
                  <a:extLst>
                    <a:ext uri="{9D8B030D-6E8A-4147-A177-3AD203B41FA5}">
                      <a16:colId xmlns:a16="http://schemas.microsoft.com/office/drawing/2014/main" val="3049776241"/>
                    </a:ext>
                  </a:extLst>
                </a:gridCol>
                <a:gridCol w="2165864">
                  <a:extLst>
                    <a:ext uri="{9D8B030D-6E8A-4147-A177-3AD203B41FA5}">
                      <a16:colId xmlns:a16="http://schemas.microsoft.com/office/drawing/2014/main" val="1352277599"/>
                    </a:ext>
                  </a:extLst>
                </a:gridCol>
                <a:gridCol w="2165864">
                  <a:extLst>
                    <a:ext uri="{9D8B030D-6E8A-4147-A177-3AD203B41FA5}">
                      <a16:colId xmlns:a16="http://schemas.microsoft.com/office/drawing/2014/main" val="992764092"/>
                    </a:ext>
                  </a:extLst>
                </a:gridCol>
              </a:tblGrid>
              <a:tr h="370840">
                <a:tc>
                  <a:txBody>
                    <a:bodyPr/>
                    <a:lstStyle/>
                    <a:p>
                      <a:endParaRPr lang="en-US" b="0" i="0">
                        <a:latin typeface="Amazon Ember" panose="020B0603020204020204" pitchFamily="34" charset="0"/>
                        <a:ea typeface="Amazon Ember" panose="020B0603020204020204" pitchFamily="34" charset="0"/>
                        <a:cs typeface="Amazon Ember" panose="020B0603020204020204" pitchFamily="34" charset="0"/>
                      </a:endParaRPr>
                    </a:p>
                  </a:txBody>
                  <a:tcPr>
                    <a:lnL>
                      <a:noFill/>
                    </a:lnL>
                    <a:lnR w="12700" cap="flat" cmpd="sng" algn="ctr">
                      <a:solidFill>
                        <a:schemeClr val="tx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noFill/>
                  </a:tcPr>
                </a:tc>
                <a:tc gridSpan="2">
                  <a:txBody>
                    <a:bodyPr/>
                    <a:lstStyle/>
                    <a:p>
                      <a:pPr algn="ctr"/>
                      <a:r>
                        <a:rPr lang="en-US" sz="20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Solid State Drives (SSD)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tc hMerge="1">
                  <a:txBody>
                    <a:bodyPr/>
                    <a:lstStyle/>
                    <a:p>
                      <a:endParaRPr lang="en-GB"/>
                    </a:p>
                  </a:txBody>
                  <a:tcPr/>
                </a:tc>
                <a:tc gridSpan="2">
                  <a:txBody>
                    <a:bodyPr/>
                    <a:lstStyle/>
                    <a:p>
                      <a:pPr algn="ctr"/>
                      <a:r>
                        <a:rPr lang="en-US" sz="20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Hard Disk Drives (HDD)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tc>
                <a:extLst>
                  <a:ext uri="{0D108BD9-81ED-4DB2-BD59-A6C34878D82A}">
                    <a16:rowId xmlns:a16="http://schemas.microsoft.com/office/drawing/2014/main" val="3925313094"/>
                  </a:ext>
                </a:extLst>
              </a:tr>
              <a:tr h="355145">
                <a:tc>
                  <a:txBody>
                    <a:bodyPr/>
                    <a:lstStyle/>
                    <a:p>
                      <a:endParaRPr lang="en-US" sz="2000" b="0" i="0">
                        <a:latin typeface="Amazon Ember" panose="020B0603020204020204" pitchFamily="34" charset="0"/>
                        <a:ea typeface="Amazon Ember" panose="020B0603020204020204" pitchFamily="34" charset="0"/>
                        <a:cs typeface="Amazon Ember" panose="020B0603020204020204" pitchFamily="34" charset="0"/>
                      </a:endParaRPr>
                    </a:p>
                  </a:txBody>
                  <a:tcPr anchor="ctr">
                    <a:lnL>
                      <a:noFill/>
                    </a:lnL>
                    <a:lnR w="12700" cap="flat" cmpd="sng" algn="ctr">
                      <a:solidFill>
                        <a:schemeClr val="tx1"/>
                      </a:solidFill>
                      <a:prstDash val="solid"/>
                      <a:round/>
                      <a:headEnd type="none" w="med" len="med"/>
                      <a:tailEnd type="none" w="med" len="med"/>
                    </a:lnR>
                    <a:lnT w="25400" cmpd="sng">
                      <a:noFill/>
                    </a:lnT>
                    <a:lnB>
                      <a:noFill/>
                    </a:lnB>
                    <a:lnTlToBr w="12700" cmpd="sng">
                      <a:noFill/>
                      <a:prstDash val="solid"/>
                    </a:lnTlToBr>
                    <a:lnBlToTr w="12700" cmpd="sng">
                      <a:noFill/>
                      <a:prstDash val="solid"/>
                    </a:lnBlToTr>
                    <a:noFill/>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General 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Provisioned IOPS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Throughput-Optimized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Cold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extLst>
                  <a:ext uri="{0D108BD9-81ED-4DB2-BD59-A6C34878D82A}">
                    <a16:rowId xmlns:a16="http://schemas.microsoft.com/office/drawing/2014/main" val="3760860725"/>
                  </a:ext>
                </a:extLst>
              </a:tr>
              <a:tr h="370840">
                <a:tc>
                  <a:txBody>
                    <a:bodyPr/>
                    <a:lstStyle/>
                    <a:p>
                      <a:r>
                        <a:rPr lang="en-US" sz="2000" b="0" i="0">
                          <a:latin typeface="Amazon Ember" panose="020B0603020204020204" pitchFamily="34" charset="0"/>
                          <a:ea typeface="Amazon Ember" panose="020B0603020204020204" pitchFamily="34" charset="0"/>
                          <a:cs typeface="Amazon Ember" panose="020B0603020204020204" pitchFamily="34" charset="0"/>
                        </a:rPr>
                        <a:t>Maximum Volume Size</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16 TiB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16 TiB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16 TiB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16 TiB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9607568"/>
                  </a:ext>
                </a:extLst>
              </a:tr>
              <a:tr h="370840">
                <a:tc>
                  <a:txBody>
                    <a:bodyPr/>
                    <a:lstStyle/>
                    <a:p>
                      <a:r>
                        <a:rPr lang="en-US" sz="2000" b="0" i="0">
                          <a:latin typeface="Amazon Ember" panose="020B0603020204020204" pitchFamily="34" charset="0"/>
                          <a:ea typeface="Amazon Ember" panose="020B0603020204020204" pitchFamily="34" charset="0"/>
                          <a:cs typeface="Amazon Ember" panose="020B0603020204020204" pitchFamily="34" charset="0"/>
                        </a:rPr>
                        <a:t>Maximum IOPS/Volume</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16,000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64,000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500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0" i="0">
                          <a:latin typeface="Amazon Ember" panose="020B0603020204020204" pitchFamily="34" charset="0"/>
                          <a:ea typeface="Amazon Ember" panose="020B0603020204020204" pitchFamily="34" charset="0"/>
                          <a:cs typeface="Amazon Ember" panose="020B0603020204020204" pitchFamily="34" charset="0"/>
                        </a:rPr>
                        <a:t>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6810272"/>
                  </a:ext>
                </a:extLst>
              </a:tr>
              <a:tr h="370840">
                <a:tc>
                  <a:txBody>
                    <a:bodyPr/>
                    <a:lstStyle/>
                    <a:p>
                      <a:r>
                        <a:rPr lang="en-US" sz="2000" b="0" i="0">
                          <a:latin typeface="Amazon Ember" panose="020B0603020204020204" pitchFamily="34" charset="0"/>
                          <a:ea typeface="Amazon Ember" panose="020B0603020204020204" pitchFamily="34" charset="0"/>
                          <a:cs typeface="Amazon Ember" panose="020B0603020204020204" pitchFamily="34" charset="0"/>
                        </a:rPr>
                        <a:t>Maximum Throughput/Volume</a:t>
                      </a:r>
                    </a:p>
                  </a:txBody>
                  <a:tcPr anchor="ctr">
                    <a:lnL>
                      <a:noFill/>
                    </a:lnL>
                    <a:lnR w="12700" cap="flat" cmpd="sng" algn="ctr">
                      <a:solidFill>
                        <a:schemeClr val="tx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a:latin typeface="Amazon Ember" panose="020B0603020204020204" pitchFamily="34" charset="0"/>
                          <a:ea typeface="Amazon Ember" panose="020B0603020204020204" pitchFamily="34" charset="0"/>
                          <a:cs typeface="Amazon Ember" panose="020B0603020204020204" pitchFamily="34" charset="0"/>
                        </a:rPr>
                        <a:t>250 MiB/s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a:latin typeface="Amazon Ember" panose="020B0603020204020204" pitchFamily="34" charset="0"/>
                          <a:ea typeface="Amazon Ember" panose="020B0603020204020204" pitchFamily="34" charset="0"/>
                          <a:cs typeface="Amazon Ember" panose="020B0603020204020204" pitchFamily="34" charset="0"/>
                        </a:rPr>
                        <a:t>1,000 MiB/s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a:latin typeface="Amazon Ember" panose="020B0603020204020204" pitchFamily="34" charset="0"/>
                          <a:ea typeface="Amazon Ember" panose="020B0603020204020204" pitchFamily="34" charset="0"/>
                          <a:cs typeface="Amazon Ember" panose="020B0603020204020204" pitchFamily="34" charset="0"/>
                        </a:rPr>
                        <a:t>500 MiB/s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dirty="0">
                          <a:latin typeface="Amazon Ember" panose="020B0603020204020204" pitchFamily="34" charset="0"/>
                          <a:ea typeface="Amazon Ember" panose="020B0603020204020204" pitchFamily="34" charset="0"/>
                          <a:cs typeface="Amazon Ember" panose="020B0603020204020204" pitchFamily="34" charset="0"/>
                        </a:rPr>
                        <a:t>250 MiB/s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63636"/>
                  </a:ext>
                </a:extLst>
              </a:tr>
            </a:tbl>
          </a:graphicData>
        </a:graphic>
      </p:graphicFrame>
    </p:spTree>
    <p:custDataLst>
      <p:tags r:id="rId1"/>
    </p:custDataLst>
    <p:extLst>
      <p:ext uri="{BB962C8B-B14F-4D97-AF65-F5344CB8AC3E}">
        <p14:creationId xmlns:p14="http://schemas.microsoft.com/office/powerpoint/2010/main" val="2143473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10</a:t>
            </a:fld>
            <a:endParaRPr lang="en-US"/>
          </a:p>
        </p:txBody>
      </p:sp>
      <p:sp>
        <p:nvSpPr>
          <p:cNvPr id="2" name="Title 1"/>
          <p:cNvSpPr>
            <a:spLocks noGrp="1"/>
          </p:cNvSpPr>
          <p:nvPr>
            <p:ph type="title"/>
          </p:nvPr>
        </p:nvSpPr>
        <p:spPr/>
        <p:txBody>
          <a:bodyPr/>
          <a:lstStyle/>
          <a:p>
            <a:r>
              <a:rPr lang="en-US"/>
              <a:t>Amazon EBS volume type use cases</a:t>
            </a:r>
          </a:p>
        </p:txBody>
      </p:sp>
      <p:graphicFrame>
        <p:nvGraphicFramePr>
          <p:cNvPr id="6" name="Content Placeholder 5" descr="Table">
            <a:extLst>
              <a:ext uri="{FF2B5EF4-FFF2-40B4-BE49-F238E27FC236}">
                <a16:creationId xmlns:a16="http://schemas.microsoft.com/office/drawing/2014/main" id="{ADE060A5-98F3-AF4B-E762-AAD1D200D307}"/>
              </a:ext>
            </a:extLst>
          </p:cNvPr>
          <p:cNvGraphicFramePr>
            <a:graphicFrameLocks/>
          </p:cNvGraphicFramePr>
          <p:nvPr>
            <p:extLst>
              <p:ext uri="{D42A27DB-BD31-4B8C-83A1-F6EECF244321}">
                <p14:modId xmlns:p14="http://schemas.microsoft.com/office/powerpoint/2010/main" val="22618784"/>
              </p:ext>
            </p:extLst>
          </p:nvPr>
        </p:nvGraphicFramePr>
        <p:xfrm>
          <a:off x="365125" y="1143000"/>
          <a:ext cx="11385600" cy="4648200"/>
        </p:xfrm>
        <a:graphic>
          <a:graphicData uri="http://schemas.openxmlformats.org/drawingml/2006/table">
            <a:tbl>
              <a:tblPr firstRow="1" bandRow="1">
                <a:tableStyleId>{85BE263C-DBD7-4A20-BB59-AAB30ACAA65A}</a:tableStyleId>
              </a:tblPr>
              <a:tblGrid>
                <a:gridCol w="2846400">
                  <a:extLst>
                    <a:ext uri="{9D8B030D-6E8A-4147-A177-3AD203B41FA5}">
                      <a16:colId xmlns:a16="http://schemas.microsoft.com/office/drawing/2014/main" val="3877621433"/>
                    </a:ext>
                  </a:extLst>
                </a:gridCol>
                <a:gridCol w="2846400">
                  <a:extLst>
                    <a:ext uri="{9D8B030D-6E8A-4147-A177-3AD203B41FA5}">
                      <a16:colId xmlns:a16="http://schemas.microsoft.com/office/drawing/2014/main" val="1353630919"/>
                    </a:ext>
                  </a:extLst>
                </a:gridCol>
                <a:gridCol w="2846400">
                  <a:extLst>
                    <a:ext uri="{9D8B030D-6E8A-4147-A177-3AD203B41FA5}">
                      <a16:colId xmlns:a16="http://schemas.microsoft.com/office/drawing/2014/main" val="1352277599"/>
                    </a:ext>
                  </a:extLst>
                </a:gridCol>
                <a:gridCol w="2846400">
                  <a:extLst>
                    <a:ext uri="{9D8B030D-6E8A-4147-A177-3AD203B41FA5}">
                      <a16:colId xmlns:a16="http://schemas.microsoft.com/office/drawing/2014/main" val="494678068"/>
                    </a:ext>
                  </a:extLst>
                </a:gridCol>
              </a:tblGrid>
              <a:tr h="370840">
                <a:tc gridSpan="2">
                  <a:txBody>
                    <a:bodyPr/>
                    <a:lstStyle/>
                    <a:p>
                      <a:pPr algn="ctr"/>
                      <a:r>
                        <a:rPr lang="en-US" sz="16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Solid State Drives (SSD)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tc hMerge="1">
                  <a:txBody>
                    <a:bodyPr/>
                    <a:lstStyle/>
                    <a:p>
                      <a:endParaRPr lang="en-GB"/>
                    </a:p>
                  </a:txBody>
                  <a:tcPr/>
                </a:tc>
                <a:tc gridSpan="2">
                  <a:txBody>
                    <a:bodyPr/>
                    <a:lstStyle/>
                    <a:p>
                      <a:pPr algn="ctr"/>
                      <a:r>
                        <a:rPr lang="en-US" sz="16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Hard Disk Drives (HDD)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tc hMerge="1">
                  <a:txBody>
                    <a:bodyPr/>
                    <a:lstStyle/>
                    <a:p>
                      <a:endParaRPr lang="en-GB"/>
                    </a:p>
                  </a:txBody>
                  <a:tcPr/>
                </a:tc>
                <a:extLst>
                  <a:ext uri="{0D108BD9-81ED-4DB2-BD59-A6C34878D82A}">
                    <a16:rowId xmlns:a16="http://schemas.microsoft.com/office/drawing/2014/main" val="3925313094"/>
                  </a:ext>
                </a:extLst>
              </a:tr>
              <a:tr h="370840">
                <a:tc>
                  <a:txBody>
                    <a:bodyPr/>
                    <a:lstStyle/>
                    <a:p>
                      <a:pPr algn="ctr"/>
                      <a:r>
                        <a:rPr lang="en-US" sz="1600" b="0" i="0">
                          <a:latin typeface="Amazon Ember" panose="020B0603020204020204" pitchFamily="34" charset="0"/>
                          <a:ea typeface="Amazon Ember" panose="020B0603020204020204" pitchFamily="34" charset="0"/>
                          <a:cs typeface="Amazon Ember" panose="020B0603020204020204" pitchFamily="34" charset="0"/>
                        </a:rPr>
                        <a:t>General 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tc>
                  <a:txBody>
                    <a:bodyPr/>
                    <a:lstStyle/>
                    <a:p>
                      <a:pPr algn="ctr"/>
                      <a:r>
                        <a:rPr lang="en-US" sz="1600" b="0" i="0">
                          <a:latin typeface="Amazon Ember" panose="020B0603020204020204" pitchFamily="34" charset="0"/>
                          <a:ea typeface="Amazon Ember" panose="020B0603020204020204" pitchFamily="34" charset="0"/>
                          <a:cs typeface="Amazon Ember" panose="020B0603020204020204" pitchFamily="34" charset="0"/>
                        </a:rPr>
                        <a:t>Provisioned IOPS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tc>
                  <a:txBody>
                    <a:bodyPr/>
                    <a:lstStyle/>
                    <a:p>
                      <a:pPr algn="ctr"/>
                      <a:r>
                        <a:rPr lang="en-US" sz="1600" b="0" i="0">
                          <a:latin typeface="Amazon Ember" panose="020B0603020204020204" pitchFamily="34" charset="0"/>
                          <a:ea typeface="Amazon Ember" panose="020B0603020204020204" pitchFamily="34" charset="0"/>
                          <a:cs typeface="Amazon Ember" panose="020B0603020204020204" pitchFamily="34" charset="0"/>
                        </a:rPr>
                        <a:t>Throughput-Optimized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tc>
                  <a:txBody>
                    <a:bodyPr/>
                    <a:lstStyle/>
                    <a:p>
                      <a:pPr algn="ctr"/>
                      <a:r>
                        <a:rPr lang="en-US" sz="1600" b="0" i="0">
                          <a:latin typeface="Amazon Ember" panose="020B0603020204020204" pitchFamily="34" charset="0"/>
                          <a:ea typeface="Amazon Ember" panose="020B0603020204020204" pitchFamily="34" charset="0"/>
                          <a:cs typeface="Amazon Ember" panose="020B0603020204020204" pitchFamily="34" charset="0"/>
                        </a:rPr>
                        <a:t>Cold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6C2B4"/>
                    </a:solidFill>
                  </a:tcPr>
                </a:tc>
                <a:extLst>
                  <a:ext uri="{0D108BD9-81ED-4DB2-BD59-A6C34878D82A}">
                    <a16:rowId xmlns:a16="http://schemas.microsoft.com/office/drawing/2014/main" val="3760860725"/>
                  </a:ext>
                </a:extLst>
              </a:tr>
              <a:tr h="370840">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This type is recommended for most workloads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Critical business applications that require sustained IOPS performance, or more than 16,000 IOPS or 250 MiB/second of throughput per 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Streaming workloads that require consistent, fast throughput at a low price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Throughput-oriented storage for large volumes of data that is infrequently accessed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39607568"/>
                  </a:ext>
                </a:extLst>
              </a:tr>
              <a:tr h="370840">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System boot volumes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Large database workloads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Big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Scenarios where the lowest storage cost is important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536810272"/>
                  </a:ext>
                </a:extLst>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i="0">
                          <a:latin typeface="Amazon Ember" panose="020B0603020204020204" pitchFamily="34" charset="0"/>
                          <a:ea typeface="Amazon Ember" panose="020B0603020204020204" pitchFamily="34" charset="0"/>
                          <a:cs typeface="Amazon Ember" panose="020B0603020204020204" pitchFamily="34" charset="0"/>
                        </a:rPr>
                        <a:t>Virtual desktops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600" b="0" i="0">
                        <a:latin typeface="Amazon Ember" panose="020B0603020204020204" pitchFamily="34" charset="0"/>
                        <a:ea typeface="Amazon Ember" panose="020B0603020204020204" pitchFamily="34" charset="0"/>
                        <a:cs typeface="Amazon Ember" panose="020B06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i="0">
                          <a:latin typeface="Amazon Ember" panose="020B0603020204020204" pitchFamily="34" charset="0"/>
                          <a:ea typeface="Amazon Ember" panose="020B0603020204020204" pitchFamily="34" charset="0"/>
                          <a:cs typeface="Amazon Ember" panose="020B0603020204020204" pitchFamily="34" charset="0"/>
                        </a:rPr>
                        <a:t>Data warehouses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i="0">
                          <a:latin typeface="Amazon Ember" panose="020B0603020204020204" pitchFamily="34" charset="0"/>
                          <a:ea typeface="Amazon Ember" panose="020B0603020204020204" pitchFamily="34" charset="0"/>
                          <a:cs typeface="Amazon Ember" panose="020B0603020204020204" pitchFamily="34" charset="0"/>
                        </a:rPr>
                        <a:t>It cannot be a boot 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4863636"/>
                  </a:ext>
                </a:extLst>
              </a:tr>
              <a:tr h="370840">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Low-latency interactive applications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indent="-342900" algn="l">
                        <a:buFont typeface="Arial" panose="020B0604020202020204" pitchFamily="34" charset="0"/>
                        <a:buChar char="•"/>
                      </a:pPr>
                      <a:endParaRPr lang="en-US" sz="1600" b="0" i="0">
                        <a:latin typeface="Amazon Ember" panose="020B0603020204020204" pitchFamily="34" charset="0"/>
                        <a:ea typeface="Amazon Ember" panose="020B0603020204020204" pitchFamily="34" charset="0"/>
                        <a:cs typeface="Amazon Ember" panose="020B06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Log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342900" indent="-342900" algn="l">
                        <a:buFont typeface="Arial" panose="020B0604020202020204" pitchFamily="34" charset="0"/>
                        <a:buChar char="•"/>
                      </a:pPr>
                      <a:endParaRPr lang="en-US" sz="1600" b="0" i="0">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14348630"/>
                  </a:ext>
                </a:extLst>
              </a:tr>
              <a:tr h="0">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Development and test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a:buFont typeface="Arial" panose="020B0604020202020204" pitchFamily="34" charset="0"/>
                        <a:buChar char="•"/>
                      </a:pPr>
                      <a:endParaRPr lang="en-US" sz="1600" b="0" i="0">
                        <a:latin typeface="Amazon Ember" panose="020B0603020204020204" pitchFamily="34" charset="0"/>
                        <a:ea typeface="Amazon Ember" panose="020B0603020204020204" pitchFamily="34" charset="0"/>
                        <a:cs typeface="Amazon Ember" panose="020B06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a:buFont typeface="Arial" panose="020B0604020202020204" pitchFamily="34" charset="0"/>
                        <a:buChar char="•"/>
                      </a:pPr>
                      <a:r>
                        <a:rPr lang="en-US" sz="1600" b="0" i="0">
                          <a:latin typeface="Amazon Ember" panose="020B0603020204020204" pitchFamily="34" charset="0"/>
                          <a:ea typeface="Amazon Ember" panose="020B0603020204020204" pitchFamily="34" charset="0"/>
                          <a:cs typeface="Amazon Ember" panose="020B0603020204020204" pitchFamily="34" charset="0"/>
                        </a:rPr>
                        <a:t>It cannot be a boot volume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a:buFont typeface="Arial" panose="020B0604020202020204" pitchFamily="34" charset="0"/>
                        <a:buChar char="•"/>
                      </a:pPr>
                      <a:endParaRPr lang="en-US" sz="1600" b="0" i="0" dirty="0">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9685649"/>
                  </a:ext>
                </a:extLst>
              </a:tr>
            </a:tbl>
          </a:graphicData>
        </a:graphic>
      </p:graphicFrame>
    </p:spTree>
    <p:custDataLst>
      <p:tags r:id="rId1"/>
    </p:custDataLst>
    <p:extLst>
      <p:ext uri="{BB962C8B-B14F-4D97-AF65-F5344CB8AC3E}">
        <p14:creationId xmlns:p14="http://schemas.microsoft.com/office/powerpoint/2010/main" val="946515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11</a:t>
            </a:fld>
            <a:endParaRPr lang="en-US"/>
          </a:p>
        </p:txBody>
      </p:sp>
      <p:sp>
        <p:nvSpPr>
          <p:cNvPr id="3" name="Title 2"/>
          <p:cNvSpPr>
            <a:spLocks noGrp="1"/>
          </p:cNvSpPr>
          <p:nvPr>
            <p:ph type="title"/>
          </p:nvPr>
        </p:nvSpPr>
        <p:spPr/>
        <p:txBody>
          <a:bodyPr/>
          <a:lstStyle/>
          <a:p>
            <a:r>
              <a:rPr lang="en-US"/>
              <a:t>Amazon EBS features</a:t>
            </a:r>
          </a:p>
        </p:txBody>
      </p:sp>
      <p:sp>
        <p:nvSpPr>
          <p:cNvPr id="10" name="Content Placeholder 3">
            <a:extLst>
              <a:ext uri="{FF2B5EF4-FFF2-40B4-BE49-F238E27FC236}">
                <a16:creationId xmlns:a16="http://schemas.microsoft.com/office/drawing/2014/main" id="{526F38D6-6265-B441-975D-88B027AB9FBA}"/>
              </a:ext>
            </a:extLst>
          </p:cNvPr>
          <p:cNvSpPr>
            <a:spLocks noGrp="1"/>
          </p:cNvSpPr>
          <p:nvPr>
            <p:ph sz="quarter" idx="21"/>
          </p:nvPr>
        </p:nvSpPr>
        <p:spPr/>
        <p:txBody>
          <a:bodyPr/>
          <a:lstStyle/>
          <a:p>
            <a:r>
              <a:rPr lang="en-US"/>
              <a:t>Snapshots – </a:t>
            </a:r>
          </a:p>
          <a:p>
            <a:pPr lvl="1"/>
            <a:r>
              <a:rPr lang="en-US"/>
              <a:t>Point-in-time snapshots</a:t>
            </a:r>
          </a:p>
          <a:p>
            <a:pPr lvl="1"/>
            <a:r>
              <a:rPr lang="en-US"/>
              <a:t>Recreate a new volume at any time</a:t>
            </a:r>
          </a:p>
          <a:p>
            <a:r>
              <a:rPr lang="en-US"/>
              <a:t>Encryption – </a:t>
            </a:r>
          </a:p>
          <a:p>
            <a:pPr lvl="1"/>
            <a:r>
              <a:rPr lang="en-US"/>
              <a:t>Encrypted Amazon EBS volumes</a:t>
            </a:r>
          </a:p>
          <a:p>
            <a:pPr lvl="1"/>
            <a:r>
              <a:rPr lang="en-US"/>
              <a:t>No additional cost</a:t>
            </a:r>
          </a:p>
          <a:p>
            <a:r>
              <a:rPr lang="en-US"/>
              <a:t>Elasticity – </a:t>
            </a:r>
          </a:p>
          <a:p>
            <a:pPr lvl="1"/>
            <a:r>
              <a:rPr lang="en-US"/>
              <a:t>Increase capacity</a:t>
            </a:r>
          </a:p>
          <a:p>
            <a:pPr lvl="1"/>
            <a:r>
              <a:rPr lang="en-US"/>
              <a:t>Change to different types</a:t>
            </a:r>
          </a:p>
        </p:txBody>
      </p:sp>
      <p:pic>
        <p:nvPicPr>
          <p:cNvPr id="8" name="Picture 7">
            <a:extLst>
              <a:ext uri="{C183D7F6-B498-43B3-948B-1728B52AA6E4}">
                <adec:decorative xmlns:adec="http://schemas.microsoft.com/office/drawing/2017/decorative" val="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984946" y="1247631"/>
            <a:ext cx="1478280" cy="1163412"/>
          </a:xfrm>
          <a:prstGeom prst="rect">
            <a:avLst/>
          </a:prstGeom>
        </p:spPr>
      </p:pic>
      <p:pic>
        <p:nvPicPr>
          <p:cNvPr id="6" name="Picture 5">
            <a:extLs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744375" y="2411043"/>
            <a:ext cx="2104505" cy="2104505"/>
          </a:xfrm>
          <a:prstGeom prst="rect">
            <a:avLst/>
          </a:prstGeom>
        </p:spPr>
      </p:pic>
      <p:pic>
        <p:nvPicPr>
          <p:cNvPr id="5" name="Picture 4">
            <a:extLs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676755" y="4521759"/>
            <a:ext cx="1909009" cy="1909009"/>
          </a:xfrm>
          <a:prstGeom prst="rect">
            <a:avLst/>
          </a:prstGeom>
        </p:spPr>
      </p:pic>
    </p:spTree>
    <p:custDataLst>
      <p:tags r:id="rId1"/>
    </p:custDataLst>
    <p:extLst>
      <p:ext uri="{BB962C8B-B14F-4D97-AF65-F5344CB8AC3E}">
        <p14:creationId xmlns:p14="http://schemas.microsoft.com/office/powerpoint/2010/main" val="3020962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a:t>Section 2: Amazon Simple Storage Service (Amazon S3) </a:t>
            </a:r>
          </a:p>
        </p:txBody>
      </p:sp>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t>Module 7: Storage</a:t>
            </a:r>
          </a:p>
        </p:txBody>
      </p:sp>
    </p:spTree>
    <p:custDataLst>
      <p:tags r:id="rId1"/>
    </p:custDataLst>
    <p:extLst>
      <p:ext uri="{BB962C8B-B14F-4D97-AF65-F5344CB8AC3E}">
        <p14:creationId xmlns:p14="http://schemas.microsoft.com/office/powerpoint/2010/main" val="3937626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13</a:t>
            </a:fld>
            <a:endParaRPr lang="en-US"/>
          </a:p>
        </p:txBody>
      </p:sp>
      <p:sp>
        <p:nvSpPr>
          <p:cNvPr id="8" name="Title 1">
            <a:extLst>
              <a:ext uri="{FF2B5EF4-FFF2-40B4-BE49-F238E27FC236}">
                <a16:creationId xmlns:a16="http://schemas.microsoft.com/office/drawing/2014/main" id="{48556E65-852B-EB26-5FF1-D0A60DD2F15B}"/>
              </a:ext>
            </a:extLst>
          </p:cNvPr>
          <p:cNvSpPr txBox="1">
            <a:spLocks/>
          </p:cNvSpPr>
          <p:nvPr/>
        </p:nvSpPr>
        <p:spPr>
          <a:xfrm>
            <a:off x="365760" y="301752"/>
            <a:ext cx="11569209" cy="731318"/>
          </a:xfrm>
          <a:prstGeom prst="rect">
            <a:avLst/>
          </a:prstGeom>
        </p:spPr>
        <p:txBody>
          <a:bodyPr vert="horz" lIns="91440" tIns="45720" rIns="91440" bIns="45720" rtlCol="0" anchor="ctr">
            <a:normAutofit/>
          </a:bodyPr>
          <a:lstStyle>
            <a:lvl1pPr algn="l" defTabSz="228600" rtl="0" eaLnBrk="1" latinLnBrk="0" hangingPunct="1">
              <a:lnSpc>
                <a:spcPct val="100000"/>
              </a:lnSpc>
              <a:spcBef>
                <a:spcPct val="0"/>
              </a:spcBef>
              <a:buNone/>
              <a:defRPr sz="3200" kern="1200">
                <a:solidFill>
                  <a:schemeClr val="tx2"/>
                </a:solidFill>
                <a:latin typeface="Amazon Ember Heavy"/>
              </a:defRPr>
            </a:lvl1pPr>
          </a:lstStyle>
          <a:p>
            <a:r>
              <a:rPr lang="en-US" dirty="0"/>
              <a:t>Storage</a:t>
            </a:r>
          </a:p>
        </p:txBody>
      </p:sp>
      <p:pic>
        <p:nvPicPr>
          <p:cNvPr id="6" name="Graphic 5">
            <a:extLst>
              <a:ext uri="{FF2B5EF4-FFF2-40B4-BE49-F238E27FC236}">
                <a16:creationId xmlns:a16="http://schemas.microsoft.com/office/drawing/2014/main" id="{72206458-AEBB-4C80-B3D9-09A14B171AC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14008" y="2576294"/>
            <a:ext cx="2035432" cy="2035432"/>
          </a:xfrm>
          <a:prstGeom prst="rect">
            <a:avLst/>
          </a:prstGeom>
        </p:spPr>
      </p:pic>
      <p:sp>
        <p:nvSpPr>
          <p:cNvPr id="7" name="TextBox 6">
            <a:extLst>
              <a:ext uri="{FF2B5EF4-FFF2-40B4-BE49-F238E27FC236}">
                <a16:creationId xmlns:a16="http://schemas.microsoft.com/office/drawing/2014/main" id="{F6B5E4BC-5E07-441C-90B1-7C6345044B83}"/>
              </a:ext>
            </a:extLst>
          </p:cNvPr>
          <p:cNvSpPr txBox="1"/>
          <p:nvPr/>
        </p:nvSpPr>
        <p:spPr>
          <a:xfrm>
            <a:off x="3307126" y="4943981"/>
            <a:ext cx="5367146" cy="954107"/>
          </a:xfrm>
          <a:prstGeom prst="rect">
            <a:avLst/>
          </a:prstGeom>
          <a:noFill/>
        </p:spPr>
        <p:txBody>
          <a:bodyPr wrap="square" rtlCol="0">
            <a:spAutoFit/>
          </a:bodyPr>
          <a:lstStyle/>
          <a:p>
            <a:pPr algn="ctr"/>
            <a:r>
              <a:rPr lang="en-US" sz="2800"/>
              <a:t>Amazon Simple Storage Service (Amazon S3)</a:t>
            </a:r>
          </a:p>
        </p:txBody>
      </p:sp>
      <p:sp>
        <p:nvSpPr>
          <p:cNvPr id="2" name="Title 1">
            <a:extLst>
              <a:ext uri="{C183D7F6-B498-43B3-948B-1728B52AA6E4}">
                <adec:decorative xmlns:adec="http://schemas.microsoft.com/office/drawing/2017/decorative" val="1"/>
              </a:ext>
            </a:extLst>
          </p:cNvPr>
          <p:cNvSpPr>
            <a:spLocks noGrp="1"/>
          </p:cNvSpPr>
          <p:nvPr>
            <p:ph type="title"/>
          </p:nvPr>
        </p:nvSpPr>
        <p:spPr>
          <a:xfrm>
            <a:off x="384441" y="-1063598"/>
            <a:ext cx="11569209" cy="731318"/>
          </a:xfrm>
        </p:spPr>
        <p:txBody>
          <a:bodyPr/>
          <a:lstStyle/>
          <a:p>
            <a:r>
              <a:rPr lang="en-US" dirty="0"/>
              <a:t>Storage 1</a:t>
            </a:r>
          </a:p>
        </p:txBody>
      </p:sp>
    </p:spTree>
    <p:custDataLst>
      <p:tags r:id="rId1"/>
    </p:custDataLst>
    <p:extLst>
      <p:ext uri="{BB962C8B-B14F-4D97-AF65-F5344CB8AC3E}">
        <p14:creationId xmlns:p14="http://schemas.microsoft.com/office/powerpoint/2010/main" val="722646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2EA61A-72D7-E8DF-3C47-7A71F2A39CC9}"/>
              </a:ext>
            </a:extLst>
          </p:cNvPr>
          <p:cNvSpPr>
            <a:spLocks noGrp="1"/>
          </p:cNvSpPr>
          <p:nvPr>
            <p:ph type="sldNum" sz="quarter" idx="20"/>
          </p:nvPr>
        </p:nvSpPr>
        <p:spPr/>
        <p:txBody>
          <a:bodyPr/>
          <a:lstStyle/>
          <a:p>
            <a:fld id="{930176A1-BCF0-4712-97A6-6B495F55390B}" type="slidenum">
              <a:rPr lang="en-US" smtClean="0"/>
              <a:t>14</a:t>
            </a:fld>
            <a:endParaRPr lang="en-US"/>
          </a:p>
        </p:txBody>
      </p:sp>
      <p:sp>
        <p:nvSpPr>
          <p:cNvPr id="2" name="Title 1">
            <a:extLst>
              <a:ext uri="{C183D7F6-B498-43B3-948B-1728B52AA6E4}">
                <adec:decorative xmlns:adec="http://schemas.microsoft.com/office/drawing/2017/decorative" val="0"/>
              </a:ext>
            </a:extLst>
          </p:cNvPr>
          <p:cNvSpPr>
            <a:spLocks noGrp="1"/>
          </p:cNvSpPr>
          <p:nvPr>
            <p:ph type="title"/>
          </p:nvPr>
        </p:nvSpPr>
        <p:spPr/>
        <p:txBody>
          <a:bodyPr/>
          <a:lstStyle/>
          <a:p>
            <a:r>
              <a:rPr lang="en-US"/>
              <a:t>Amazon S3 overview</a:t>
            </a:r>
          </a:p>
        </p:txBody>
      </p:sp>
      <p:grpSp>
        <p:nvGrpSpPr>
          <p:cNvPr id="10" name="Group 9">
            <a:extLst>
              <a:ext uri="{FF2B5EF4-FFF2-40B4-BE49-F238E27FC236}">
                <a16:creationId xmlns:a16="http://schemas.microsoft.com/office/drawing/2014/main" id="{8D9FA559-BA4A-4FB7-A143-BE9A5C7716B6}"/>
              </a:ext>
              <a:ext uri="{C183D7F6-B498-43B3-948B-1728B52AA6E4}">
                <adec:decorative xmlns:adec="http://schemas.microsoft.com/office/drawing/2017/decorative" val="1"/>
              </a:ext>
            </a:extLst>
          </p:cNvPr>
          <p:cNvGrpSpPr/>
          <p:nvPr/>
        </p:nvGrpSpPr>
        <p:grpSpPr>
          <a:xfrm>
            <a:off x="1" y="1273084"/>
            <a:ext cx="12191999" cy="5105400"/>
            <a:chOff x="1" y="1273084"/>
            <a:chExt cx="12191999" cy="5105400"/>
          </a:xfrm>
        </p:grpSpPr>
        <p:grpSp>
          <p:nvGrpSpPr>
            <p:cNvPr id="9" name="Group 8">
              <a:extLst>
                <a:ext uri="{FF2B5EF4-FFF2-40B4-BE49-F238E27FC236}">
                  <a16:creationId xmlns:a16="http://schemas.microsoft.com/office/drawing/2014/main" id="{B4E35822-4B86-4035-925C-F608078F6551}"/>
                </a:ext>
              </a:extLst>
            </p:cNvPr>
            <p:cNvGrpSpPr/>
            <p:nvPr/>
          </p:nvGrpSpPr>
          <p:grpSpPr>
            <a:xfrm>
              <a:off x="1" y="1273084"/>
              <a:ext cx="12191999" cy="5105400"/>
              <a:chOff x="-30967" y="1273084"/>
              <a:chExt cx="12191999" cy="5105400"/>
            </a:xfrm>
          </p:grpSpPr>
          <p:pic>
            <p:nvPicPr>
              <p:cNvPr id="5" name="Picture 4">
                <a:extLst>
                  <a:ext uri="{C183D7F6-B498-43B3-948B-1728B52AA6E4}">
                    <adec:decorative xmlns:adec="http://schemas.microsoft.com/office/drawing/2017/decorative" val="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6889" b="11271"/>
              <a:stretch/>
            </p:blipFill>
            <p:spPr>
              <a:xfrm>
                <a:off x="-30967" y="1273084"/>
                <a:ext cx="12191999" cy="5105400"/>
              </a:xfrm>
              <a:prstGeom prst="rect">
                <a:avLst/>
              </a:prstGeom>
              <a:ln w="19050">
                <a:noFill/>
              </a:ln>
            </p:spPr>
          </p:pic>
          <p:sp>
            <p:nvSpPr>
              <p:cNvPr id="6" name="Rectangle 5">
                <a:extLst>
                  <a:ext uri="{C183D7F6-B498-43B3-948B-1728B52AA6E4}">
                    <adec:decorative xmlns:adec="http://schemas.microsoft.com/office/drawing/2017/decorative" val="1"/>
                  </a:ext>
                </a:extLst>
              </p:cNvPr>
              <p:cNvSpPr/>
              <p:nvPr/>
            </p:nvSpPr>
            <p:spPr bwMode="auto">
              <a:xfrm>
                <a:off x="-29444" y="1283544"/>
                <a:ext cx="12188952" cy="5081405"/>
              </a:xfrm>
              <a:prstGeom prst="rect">
                <a:avLst/>
              </a:prstGeom>
              <a:solidFill>
                <a:srgbClr val="FFFFFF">
                  <a:alpha val="80000"/>
                </a:srgbClr>
              </a:solidFill>
              <a:ln w="19050">
                <a:solidFill>
                  <a:schemeClr val="tx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pic>
          <p:nvPicPr>
            <p:cNvPr id="17"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1187" y="1965501"/>
              <a:ext cx="760824" cy="760824"/>
            </a:xfrm>
            <a:prstGeom prst="rect">
              <a:avLst/>
            </a:prstGeom>
          </p:spPr>
        </p:pic>
        <p:pic>
          <p:nvPicPr>
            <p:cNvPr id="18"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016506" y="2202925"/>
              <a:ext cx="760824" cy="760824"/>
            </a:xfrm>
            <a:prstGeom prst="rect">
              <a:avLst/>
            </a:prstGeom>
          </p:spPr>
        </p:pic>
        <p:pic>
          <p:nvPicPr>
            <p:cNvPr id="19"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052337" y="1833233"/>
              <a:ext cx="760824" cy="760824"/>
            </a:xfrm>
            <a:prstGeom prst="rect">
              <a:avLst/>
            </a:prstGeom>
          </p:spPr>
        </p:pic>
        <p:pic>
          <p:nvPicPr>
            <p:cNvPr id="20"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615705" y="2281800"/>
              <a:ext cx="760824" cy="760824"/>
            </a:xfrm>
            <a:prstGeom prst="rect">
              <a:avLst/>
            </a:prstGeom>
          </p:spPr>
        </p:pic>
        <p:pic>
          <p:nvPicPr>
            <p:cNvPr id="21"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17770" y="5197521"/>
              <a:ext cx="760824" cy="760824"/>
            </a:xfrm>
            <a:prstGeom prst="rect">
              <a:avLst/>
            </a:prstGeom>
          </p:spPr>
        </p:pic>
        <p:pic>
          <p:nvPicPr>
            <p:cNvPr id="22"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069592" y="5473564"/>
              <a:ext cx="760824" cy="760824"/>
            </a:xfrm>
            <a:prstGeom prst="rect">
              <a:avLst/>
            </a:prstGeom>
          </p:spPr>
        </p:pic>
        <p:pic>
          <p:nvPicPr>
            <p:cNvPr id="23"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417959" y="5180274"/>
              <a:ext cx="760824" cy="760824"/>
            </a:xfrm>
            <a:prstGeom prst="rect">
              <a:avLst/>
            </a:prstGeom>
          </p:spPr>
        </p:pic>
      </p:grpSp>
      <p:sp>
        <p:nvSpPr>
          <p:cNvPr id="12" name="Rounded Rectangle 11">
            <a:extLst>
              <a:ext uri="{C183D7F6-B498-43B3-948B-1728B52AA6E4}">
                <adec:decorative xmlns:adec="http://schemas.microsoft.com/office/drawing/2017/decorative" val="1"/>
              </a:ext>
            </a:extLst>
          </p:cNvPr>
          <p:cNvSpPr/>
          <p:nvPr/>
        </p:nvSpPr>
        <p:spPr bwMode="auto">
          <a:xfrm>
            <a:off x="2618782" y="2808412"/>
            <a:ext cx="6627572" cy="2296913"/>
          </a:xfrm>
          <a:prstGeom prst="roundRect">
            <a:avLst>
              <a:gd name="adj" fmla="val 9244"/>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13" name="Content Placeholder 3"/>
          <p:cNvSpPr txBox="1">
            <a:spLocks/>
          </p:cNvSpPr>
          <p:nvPr/>
        </p:nvSpPr>
        <p:spPr>
          <a:xfrm>
            <a:off x="2825953" y="2927532"/>
            <a:ext cx="6322429" cy="2054776"/>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indent="-457200">
              <a:lnSpc>
                <a:spcPct val="100000"/>
              </a:lnSpc>
              <a:buFont typeface="Arial" panose="020B0604020202020204" pitchFamily="34" charset="0"/>
              <a:buChar char="•"/>
            </a:pPr>
            <a:r>
              <a:rPr lang="en-US" sz="2400"/>
              <a:t>Data is stored as objects in buckets</a:t>
            </a:r>
          </a:p>
          <a:p>
            <a:pPr marL="457200" indent="-457200">
              <a:lnSpc>
                <a:spcPct val="100000"/>
              </a:lnSpc>
              <a:buFont typeface="Arial" panose="020B0604020202020204" pitchFamily="34" charset="0"/>
              <a:buChar char="•"/>
            </a:pPr>
            <a:r>
              <a:rPr lang="en-US" sz="2400"/>
              <a:t>Virtually unlimited storage</a:t>
            </a:r>
          </a:p>
          <a:p>
            <a:pPr marL="793343" lvl="1" indent="-457200">
              <a:lnSpc>
                <a:spcPct val="100000"/>
              </a:lnSpc>
              <a:buFont typeface="Arial" panose="020B0604020202020204" pitchFamily="34" charset="0"/>
              <a:buChar char="•"/>
            </a:pPr>
            <a:r>
              <a:rPr lang="en-US" sz="1800"/>
              <a:t>Single object is limited to 5 TB</a:t>
            </a:r>
          </a:p>
          <a:p>
            <a:pPr marL="457200" indent="-457200">
              <a:lnSpc>
                <a:spcPct val="100000"/>
              </a:lnSpc>
              <a:buFont typeface="Arial" panose="020B0604020202020204" pitchFamily="34" charset="0"/>
              <a:buChar char="•"/>
            </a:pPr>
            <a:r>
              <a:rPr lang="en-US" sz="2400"/>
              <a:t>Designed for 11 9s of durability</a:t>
            </a:r>
          </a:p>
          <a:p>
            <a:pPr marL="457200" indent="-457200">
              <a:lnSpc>
                <a:spcPct val="100000"/>
              </a:lnSpc>
              <a:buFont typeface="Arial" panose="020B0604020202020204" pitchFamily="34" charset="0"/>
              <a:buChar char="•"/>
            </a:pPr>
            <a:r>
              <a:rPr lang="en-US" sz="2400"/>
              <a:t>Granular access to bucket and objects </a:t>
            </a:r>
          </a:p>
        </p:txBody>
      </p:sp>
      <p:sp>
        <p:nvSpPr>
          <p:cNvPr id="4" name="Frame 3">
            <a:extLst>
              <a:ext uri="{FF2B5EF4-FFF2-40B4-BE49-F238E27FC236}">
                <a16:creationId xmlns:a16="http://schemas.microsoft.com/office/drawing/2014/main" id="{9F0BF088-4190-AA83-CFBD-EABE841391CC}"/>
              </a:ext>
            </a:extLst>
          </p:cNvPr>
          <p:cNvSpPr/>
          <p:nvPr/>
        </p:nvSpPr>
        <p:spPr>
          <a:xfrm>
            <a:off x="4818185" y="4109845"/>
            <a:ext cx="1019908" cy="527538"/>
          </a:xfrm>
          <a:prstGeom prst="fram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solidFill>
                <a:schemeClr val="tx1"/>
              </a:solidFill>
            </a:endParaRPr>
          </a:p>
        </p:txBody>
      </p:sp>
    </p:spTree>
    <p:custDataLst>
      <p:tags r:id="rId1"/>
    </p:custDataLst>
    <p:extLst>
      <p:ext uri="{BB962C8B-B14F-4D97-AF65-F5344CB8AC3E}">
        <p14:creationId xmlns:p14="http://schemas.microsoft.com/office/powerpoint/2010/main" val="646651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15</a:t>
            </a:fld>
            <a:endParaRPr lang="en-US"/>
          </a:p>
        </p:txBody>
      </p:sp>
      <p:sp>
        <p:nvSpPr>
          <p:cNvPr id="2" name="Title 1"/>
          <p:cNvSpPr>
            <a:spLocks noGrp="1"/>
          </p:cNvSpPr>
          <p:nvPr>
            <p:ph type="title"/>
          </p:nvPr>
        </p:nvSpPr>
        <p:spPr/>
        <p:txBody>
          <a:bodyPr/>
          <a:lstStyle/>
          <a:p>
            <a:r>
              <a:rPr lang="en-US" dirty="0"/>
              <a:t>Amazon </a:t>
            </a:r>
            <a:r>
              <a:rPr lang="en-US" dirty="0" err="1"/>
              <a:t>S3</a:t>
            </a:r>
            <a:r>
              <a:rPr lang="en-US" dirty="0"/>
              <a:t> storage classes</a:t>
            </a:r>
          </a:p>
        </p:txBody>
      </p:sp>
      <p:sp>
        <p:nvSpPr>
          <p:cNvPr id="3" name="Content Placeholder 2"/>
          <p:cNvSpPr>
            <a:spLocks noGrp="1"/>
          </p:cNvSpPr>
          <p:nvPr>
            <p:ph sz="quarter" idx="21"/>
          </p:nvPr>
        </p:nvSpPr>
        <p:spPr/>
        <p:txBody>
          <a:bodyPr>
            <a:normAutofit/>
          </a:bodyPr>
          <a:lstStyle/>
          <a:p>
            <a:pPr marL="0" lvl="1" indent="0">
              <a:lnSpc>
                <a:spcPct val="110000"/>
              </a:lnSpc>
              <a:spcBef>
                <a:spcPts val="1000"/>
              </a:spcBef>
              <a:spcAft>
                <a:spcPts val="800"/>
              </a:spcAft>
              <a:buNone/>
            </a:pPr>
            <a:r>
              <a:rPr lang="en-US" sz="3000"/>
              <a:t>Amazon S3 offers a range of object-level storage classes that are designed for different use cases:</a:t>
            </a:r>
          </a:p>
          <a:p>
            <a:pPr marL="914400" lvl="2" indent="-457200">
              <a:lnSpc>
                <a:spcPct val="110000"/>
              </a:lnSpc>
              <a:spcBef>
                <a:spcPts val="1000"/>
              </a:spcBef>
              <a:spcAft>
                <a:spcPts val="800"/>
              </a:spcAft>
            </a:pPr>
            <a:r>
              <a:rPr lang="en-US" sz="2600"/>
              <a:t>Amazon S3 Standard</a:t>
            </a:r>
          </a:p>
          <a:p>
            <a:pPr marL="914400" lvl="2" indent="-457200">
              <a:lnSpc>
                <a:spcPct val="110000"/>
              </a:lnSpc>
              <a:spcBef>
                <a:spcPts val="1000"/>
              </a:spcBef>
              <a:spcAft>
                <a:spcPts val="800"/>
              </a:spcAft>
            </a:pPr>
            <a:r>
              <a:rPr lang="en-US" sz="2600"/>
              <a:t>Amazon S3 Intelligent-Tiering</a:t>
            </a:r>
          </a:p>
          <a:p>
            <a:pPr marL="914400" lvl="2" indent="-457200">
              <a:lnSpc>
                <a:spcPct val="110000"/>
              </a:lnSpc>
              <a:spcBef>
                <a:spcPts val="1000"/>
              </a:spcBef>
              <a:spcAft>
                <a:spcPts val="800"/>
              </a:spcAft>
            </a:pPr>
            <a:r>
              <a:rPr lang="en-US" sz="2600"/>
              <a:t>Amazon S3 Standard-Infrequent Access (Amazon S3 Standard-IA)</a:t>
            </a:r>
          </a:p>
          <a:p>
            <a:pPr marL="914400" lvl="2" indent="-457200">
              <a:lnSpc>
                <a:spcPct val="110000"/>
              </a:lnSpc>
              <a:spcBef>
                <a:spcPts val="1000"/>
              </a:spcBef>
              <a:spcAft>
                <a:spcPts val="800"/>
              </a:spcAft>
            </a:pPr>
            <a:r>
              <a:rPr lang="en-US" sz="2600"/>
              <a:t>Amazon S3 One Zone-Infrequent Access (Amazon S3 One Zone-IA)</a:t>
            </a:r>
          </a:p>
          <a:p>
            <a:pPr marL="914400" lvl="2" indent="-457200">
              <a:lnSpc>
                <a:spcPct val="110000"/>
              </a:lnSpc>
              <a:spcBef>
                <a:spcPts val="1000"/>
              </a:spcBef>
              <a:spcAft>
                <a:spcPts val="800"/>
              </a:spcAft>
            </a:pPr>
            <a:r>
              <a:rPr lang="en-US" sz="2600"/>
              <a:t>Amazon S3 Glacier </a:t>
            </a:r>
          </a:p>
          <a:p>
            <a:pPr marL="914400" lvl="2" indent="-457200">
              <a:lnSpc>
                <a:spcPct val="110000"/>
              </a:lnSpc>
              <a:spcBef>
                <a:spcPts val="1000"/>
              </a:spcBef>
              <a:spcAft>
                <a:spcPts val="800"/>
              </a:spcAft>
            </a:pPr>
            <a:r>
              <a:rPr lang="en-US" sz="2600"/>
              <a:t>Amazon S3 Glacier Deep Archive</a:t>
            </a:r>
          </a:p>
        </p:txBody>
      </p:sp>
    </p:spTree>
    <p:custDataLst>
      <p:tags r:id="rId1"/>
    </p:custDataLst>
    <p:extLst>
      <p:ext uri="{BB962C8B-B14F-4D97-AF65-F5344CB8AC3E}">
        <p14:creationId xmlns:p14="http://schemas.microsoft.com/office/powerpoint/2010/main" val="1513413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16</a:t>
            </a:fld>
            <a:endParaRPr lang="en-US"/>
          </a:p>
        </p:txBody>
      </p:sp>
      <p:sp>
        <p:nvSpPr>
          <p:cNvPr id="2" name="Title 1"/>
          <p:cNvSpPr>
            <a:spLocks noGrp="1"/>
          </p:cNvSpPr>
          <p:nvPr>
            <p:ph type="title"/>
          </p:nvPr>
        </p:nvSpPr>
        <p:spPr/>
        <p:txBody>
          <a:bodyPr vert="horz" lIns="91440" tIns="45720" rIns="91440" bIns="45720" rtlCol="0" anchor="ctr">
            <a:normAutofit/>
          </a:bodyPr>
          <a:lstStyle/>
          <a:p>
            <a:r>
              <a:rPr lang="en-US"/>
              <a:t>Amazon S3 bucket URLs (two styles)</a:t>
            </a:r>
          </a:p>
        </p:txBody>
      </p:sp>
      <p:sp>
        <p:nvSpPr>
          <p:cNvPr id="29" name="Content Placeholder 2"/>
          <p:cNvSpPr>
            <a:spLocks noGrp="1"/>
          </p:cNvSpPr>
          <p:nvPr>
            <p:ph sz="quarter" idx="21"/>
          </p:nvPr>
        </p:nvSpPr>
        <p:spPr>
          <a:xfrm>
            <a:off x="2791168" y="1143000"/>
            <a:ext cx="9162482" cy="1870005"/>
          </a:xfrm>
        </p:spPr>
        <p:txBody>
          <a:bodyPr>
            <a:noAutofit/>
          </a:bodyPr>
          <a:lstStyle/>
          <a:p>
            <a:pPr marL="4233" lvl="1" indent="0">
              <a:spcBef>
                <a:spcPts val="1200"/>
              </a:spcBef>
              <a:buNone/>
            </a:pPr>
            <a:r>
              <a:rPr lang="en-US"/>
              <a:t>To upload your data: </a:t>
            </a:r>
          </a:p>
          <a:p>
            <a:pPr marL="766214" lvl="1" indent="-452955">
              <a:spcBef>
                <a:spcPts val="1200"/>
              </a:spcBef>
              <a:buSzPct val="100000"/>
              <a:buFont typeface="+mj-lt"/>
              <a:buAutoNum type="arabicPeriod"/>
            </a:pPr>
            <a:r>
              <a:rPr lang="en-US"/>
              <a:t>Create a </a:t>
            </a:r>
            <a:r>
              <a:rPr lang="en-US" b="1">
                <a:solidFill>
                  <a:srgbClr val="504BAB"/>
                </a:solidFill>
              </a:rPr>
              <a:t>bucket</a:t>
            </a:r>
            <a:r>
              <a:rPr lang="en-US"/>
              <a:t> in an AWS Region.</a:t>
            </a:r>
          </a:p>
          <a:p>
            <a:pPr marL="766214" lvl="1" indent="-452955">
              <a:spcBef>
                <a:spcPts val="1200"/>
              </a:spcBef>
              <a:buSzPct val="100000"/>
              <a:buFont typeface="+mj-lt"/>
              <a:buAutoNum type="arabicPeriod"/>
            </a:pPr>
            <a:r>
              <a:rPr lang="en-US"/>
              <a:t>Upload almost any number of </a:t>
            </a:r>
            <a:r>
              <a:rPr lang="en-US" b="1">
                <a:solidFill>
                  <a:srgbClr val="504BAB"/>
                </a:solidFill>
              </a:rPr>
              <a:t>objects</a:t>
            </a:r>
            <a:r>
              <a:rPr lang="en-US"/>
              <a:t> to the bucket.</a:t>
            </a:r>
          </a:p>
        </p:txBody>
      </p:sp>
      <p:grpSp>
        <p:nvGrpSpPr>
          <p:cNvPr id="8" name="Group 7">
            <a:extLst>
              <a:ext uri="{FF2B5EF4-FFF2-40B4-BE49-F238E27FC236}">
                <a16:creationId xmlns:a16="http://schemas.microsoft.com/office/drawing/2014/main" id="{ADC9CAF9-9149-42A6-9541-4194E2387FC7}"/>
              </a:ext>
              <a:ext uri="{C183D7F6-B498-43B3-948B-1728B52AA6E4}">
                <adec:decorative xmlns:adec="http://schemas.microsoft.com/office/drawing/2017/decorative" val="1"/>
              </a:ext>
            </a:extLst>
          </p:cNvPr>
          <p:cNvGrpSpPr/>
          <p:nvPr/>
        </p:nvGrpSpPr>
        <p:grpSpPr>
          <a:xfrm>
            <a:off x="854562" y="1297945"/>
            <a:ext cx="1734786" cy="5040328"/>
            <a:chOff x="854562" y="1297945"/>
            <a:chExt cx="1734786" cy="5040328"/>
          </a:xfrm>
        </p:grpSpPr>
        <p:pic>
          <p:nvPicPr>
            <p:cNvPr id="35" name="Graphic 34" descr="s3 bucket.">
              <a:extLst>
                <a:ext uri="{FF2B5EF4-FFF2-40B4-BE49-F238E27FC236}">
                  <a16:creationId xmlns:a16="http://schemas.microsoft.com/office/drawing/2014/main" id="{3D8E4413-387B-4D9A-A617-24DE97E1E0EB}"/>
                </a:ext>
                <a:ext uri="{C183D7F6-B498-43B3-948B-1728B52AA6E4}">
                  <adec:decorative xmlns:adec="http://schemas.microsoft.com/office/drawing/2017/decorative" val="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62785" y="3013005"/>
              <a:ext cx="731520" cy="731520"/>
            </a:xfrm>
            <a:prstGeom prst="rect">
              <a:avLst/>
            </a:prstGeom>
          </p:spPr>
        </p:pic>
        <p:sp>
          <p:nvSpPr>
            <p:cNvPr id="32" name="TextBox 46"/>
            <p:cNvSpPr txBox="1">
              <a:spLocks noChangeArrowheads="1"/>
            </p:cNvSpPr>
            <p:nvPr/>
          </p:nvSpPr>
          <p:spPr bwMode="auto">
            <a:xfrm>
              <a:off x="1019412" y="1297945"/>
              <a:ext cx="143513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cs typeface="Arial" charset="0"/>
                </a:rPr>
                <a:t>Amazon S3</a:t>
              </a:r>
            </a:p>
          </p:txBody>
        </p:sp>
        <p:sp>
          <p:nvSpPr>
            <p:cNvPr id="37" name="TextBox 52"/>
            <p:cNvSpPr txBox="1">
              <a:spLocks noChangeArrowheads="1"/>
            </p:cNvSpPr>
            <p:nvPr/>
          </p:nvSpPr>
          <p:spPr bwMode="auto">
            <a:xfrm>
              <a:off x="980301" y="3809807"/>
              <a:ext cx="1479497"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mn-lt"/>
                  <a:cs typeface="Arial" charset="0"/>
                </a:rPr>
                <a:t>[bucket name]</a:t>
              </a:r>
              <a:endParaRPr lang="en-US" sz="1867" i="1" dirty="0">
                <a:latin typeface="+mn-lt"/>
                <a:cs typeface="Arial" charset="0"/>
              </a:endParaRPr>
            </a:p>
          </p:txBody>
        </p:sp>
        <p:pic>
          <p:nvPicPr>
            <p:cNvPr id="45" name="Picture 44">
              <a:extLs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233334" y="4489737"/>
              <a:ext cx="975360" cy="975360"/>
            </a:xfrm>
            <a:prstGeom prst="rect">
              <a:avLst/>
            </a:prstGeom>
          </p:spPr>
        </p:pic>
        <p:sp>
          <p:nvSpPr>
            <p:cNvPr id="46" name="TextBox 52"/>
            <p:cNvSpPr txBox="1">
              <a:spLocks noChangeArrowheads="1"/>
            </p:cNvSpPr>
            <p:nvPr/>
          </p:nvSpPr>
          <p:spPr bwMode="auto">
            <a:xfrm>
              <a:off x="957962" y="5441050"/>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mn-lt"/>
                  <a:cs typeface="Arial" charset="0"/>
                </a:rPr>
                <a:t>Preview2.mp4</a:t>
              </a:r>
              <a:endParaRPr lang="en-US" sz="1867" i="1" dirty="0">
                <a:latin typeface="+mn-lt"/>
                <a:cs typeface="Arial" charset="0"/>
              </a:endParaRPr>
            </a:p>
          </p:txBody>
        </p:sp>
        <p:sp>
          <p:nvSpPr>
            <p:cNvPr id="48" name="TextBox 33"/>
            <p:cNvSpPr txBox="1">
              <a:spLocks noChangeArrowheads="1"/>
            </p:cNvSpPr>
            <p:nvPr/>
          </p:nvSpPr>
          <p:spPr bwMode="auto">
            <a:xfrm>
              <a:off x="854562" y="5753498"/>
              <a:ext cx="1730974" cy="584775"/>
            </a:xfrm>
            <a:prstGeom prst="rect">
              <a:avLst/>
            </a:prstGeom>
            <a:noFill/>
            <a:ln w="9525">
              <a:noFill/>
              <a:miter lim="800000"/>
              <a:headEnd/>
              <a:tailEnd/>
            </a:ln>
          </p:spPr>
          <p:txBody>
            <a:bodyPr wrap="square">
              <a:spAutoFit/>
            </a:bodyPr>
            <a:lstStyle/>
            <a:p>
              <a:pPr algn="ctr"/>
              <a:r>
                <a:rPr lang="en-US" sz="1600" dirty="0">
                  <a:ea typeface="Verdana" pitchFamily="34" charset="0"/>
                  <a:cs typeface="Helvetica Neue"/>
                </a:rPr>
                <a:t>Tokyo Region (ap-northeast-1)</a:t>
              </a:r>
            </a:p>
          </p:txBody>
        </p:sp>
        <p:cxnSp>
          <p:nvCxnSpPr>
            <p:cNvPr id="14" name="Straight Connector 13">
              <a:extLst>
                <a:ext uri="{C183D7F6-B498-43B3-948B-1728B52AA6E4}">
                  <adec:decorative xmlns:adec="http://schemas.microsoft.com/office/drawing/2017/decorative" val="1"/>
                </a:ext>
              </a:extLst>
            </p:cNvPr>
            <p:cNvCxnSpPr>
              <a:cxnSpLocks/>
            </p:cNvCxnSpPr>
            <p:nvPr/>
          </p:nvCxnSpPr>
          <p:spPr>
            <a:xfrm>
              <a:off x="1729658" y="2472012"/>
              <a:ext cx="3904" cy="446749"/>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C183D7F6-B498-43B3-948B-1728B52AA6E4}">
                  <adec:decorative xmlns:adec="http://schemas.microsoft.com/office/drawing/2017/decorative" val="1"/>
                </a:ext>
              </a:extLst>
            </p:cNvPr>
            <p:cNvCxnSpPr>
              <a:stCxn id="37" idx="2"/>
              <a:endCxn id="45" idx="0"/>
            </p:cNvCxnSpPr>
            <p:nvPr/>
          </p:nvCxnSpPr>
          <p:spPr>
            <a:xfrm>
              <a:off x="1720050" y="4056028"/>
              <a:ext cx="964" cy="433709"/>
            </a:xfrm>
            <a:prstGeom prst="line">
              <a:avLst/>
            </a:prstGeom>
            <a:ln w="28575"/>
          </p:spPr>
          <p:style>
            <a:lnRef idx="1">
              <a:schemeClr val="dk1"/>
            </a:lnRef>
            <a:fillRef idx="0">
              <a:schemeClr val="dk1"/>
            </a:fillRef>
            <a:effectRef idx="0">
              <a:schemeClr val="dk1"/>
            </a:effectRef>
            <a:fontRef idx="minor">
              <a:schemeClr val="tx1"/>
            </a:fontRef>
          </p:style>
        </p:cxnSp>
        <p:sp>
          <p:nvSpPr>
            <p:cNvPr id="47" name="Rounded Rectangle 46">
              <a:extLst>
                <a:ext uri="{C183D7F6-B498-43B3-948B-1728B52AA6E4}">
                  <adec:decorative xmlns:adec="http://schemas.microsoft.com/office/drawing/2017/decorative" val="1"/>
                </a:ext>
              </a:extLst>
            </p:cNvPr>
            <p:cNvSpPr/>
            <p:nvPr/>
          </p:nvSpPr>
          <p:spPr>
            <a:xfrm>
              <a:off x="864464" y="2716427"/>
              <a:ext cx="1724884" cy="3585468"/>
            </a:xfrm>
            <a:prstGeom prst="roundRect">
              <a:avLst>
                <a:gd name="adj" fmla="val 9818"/>
              </a:avLst>
            </a:prstGeom>
            <a:noFill/>
            <a:ln w="19050">
              <a:solidFill>
                <a:schemeClr val="tx1"/>
              </a:solidFill>
              <a:prstDash val="sysDot"/>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400" dirty="0">
                <a:solidFill>
                  <a:schemeClr val="tx1"/>
                </a:solidFill>
                <a:cs typeface="Helvetica Neue"/>
              </a:endParaRPr>
            </a:p>
          </p:txBody>
        </p:sp>
        <p:pic>
          <p:nvPicPr>
            <p:cNvPr id="26" name="Graphic 25" descr="Amazon Simple Storage Service icon.">
              <a:extLst>
                <a:ext uri="{FF2B5EF4-FFF2-40B4-BE49-F238E27FC236}">
                  <a16:creationId xmlns:a16="http://schemas.microsoft.com/office/drawing/2014/main" id="{DEA7F99F-A445-43E8-BF98-9EFD8D3C32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63750" y="1630899"/>
              <a:ext cx="754380" cy="754380"/>
            </a:xfrm>
            <a:prstGeom prst="rect">
              <a:avLst/>
            </a:prstGeom>
          </p:spPr>
        </p:pic>
      </p:grpSp>
      <p:sp>
        <p:nvSpPr>
          <p:cNvPr id="51" name="TextBox 52"/>
          <p:cNvSpPr txBox="1">
            <a:spLocks noChangeArrowheads="1"/>
          </p:cNvSpPr>
          <p:nvPr/>
        </p:nvSpPr>
        <p:spPr bwMode="auto">
          <a:xfrm>
            <a:off x="2839486" y="3190505"/>
            <a:ext cx="8579363"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dirty="0">
                <a:latin typeface="+mn-lt"/>
                <a:cs typeface="Arial" charset="0"/>
              </a:rPr>
              <a:t>Bucket path-style URL endpoint: </a:t>
            </a:r>
            <a:endParaRPr lang="en-US" sz="1867" dirty="0">
              <a:latin typeface="+mn-lt"/>
              <a:cs typeface="Arial" charset="0"/>
            </a:endParaRPr>
          </a:p>
        </p:txBody>
      </p:sp>
      <p:sp>
        <p:nvSpPr>
          <p:cNvPr id="58" name="TextBox 52">
            <a:extLst>
              <a:ext uri="{C183D7F6-B498-43B3-948B-1728B52AA6E4}">
                <adec:decorative xmlns:adec="http://schemas.microsoft.com/office/drawing/2017/decorative" val="0"/>
              </a:ext>
            </a:extLst>
          </p:cNvPr>
          <p:cNvSpPr txBox="1">
            <a:spLocks noChangeArrowheads="1"/>
          </p:cNvSpPr>
          <p:nvPr/>
        </p:nvSpPr>
        <p:spPr bwMode="auto">
          <a:xfrm>
            <a:off x="2839486" y="3695051"/>
            <a:ext cx="9276039" cy="2873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r>
              <a:rPr lang="en-US" sz="1867" b="1" i="1" dirty="0">
                <a:latin typeface="+mn-lt"/>
                <a:cs typeface="Arial" charset="0"/>
                <a:hlinkClick r:id="rId9">
                  <a:extLst>
                    <a:ext uri="{A12FA001-AC4F-418D-AE19-62706E023703}">
                      <ahyp:hlinkClr xmlns:ahyp="http://schemas.microsoft.com/office/drawing/2018/hyperlinkcolor" val="tx"/>
                    </a:ext>
                  </a:extLst>
                </a:hlinkClick>
              </a:rPr>
              <a:t>https://</a:t>
            </a:r>
            <a:r>
              <a:rPr lang="en-US" sz="1867" b="1" i="1" dirty="0">
                <a:latin typeface="+mn-lt"/>
                <a:cs typeface="Arial" charset="0"/>
              </a:rPr>
              <a:t>s3.</a:t>
            </a:r>
            <a:r>
              <a:rPr lang="en-US" sz="1867" b="1" i="1" dirty="0">
                <a:solidFill>
                  <a:srgbClr val="FF9933"/>
                </a:solidFill>
                <a:latin typeface="+mn-lt"/>
                <a:cs typeface="Arial" charset="0"/>
              </a:rPr>
              <a:t>ap-northeast-1</a:t>
            </a:r>
            <a:r>
              <a:rPr lang="en-US" sz="1867" b="1" i="1" dirty="0">
                <a:latin typeface="+mn-lt"/>
                <a:cs typeface="Arial" charset="0"/>
              </a:rPr>
              <a:t>.amazonaws.com/</a:t>
            </a:r>
            <a:r>
              <a:rPr lang="en-US" sz="1867" b="1" i="1" dirty="0">
                <a:solidFill>
                  <a:srgbClr val="FF9933"/>
                </a:solidFill>
                <a:latin typeface="+mn-lt"/>
                <a:cs typeface="Arial" charset="0"/>
              </a:rPr>
              <a:t>bucket-name</a:t>
            </a:r>
            <a:endParaRPr lang="en-US" sz="2133" b="1" i="1" dirty="0">
              <a:solidFill>
                <a:srgbClr val="FF9933"/>
              </a:solidFill>
              <a:latin typeface="+mn-lt"/>
              <a:cs typeface="Arial" charset="0"/>
            </a:endParaRPr>
          </a:p>
        </p:txBody>
      </p:sp>
      <p:sp>
        <p:nvSpPr>
          <p:cNvPr id="59" name="TextBox 52"/>
          <p:cNvSpPr txBox="1">
            <a:spLocks noChangeArrowheads="1"/>
          </p:cNvSpPr>
          <p:nvPr/>
        </p:nvSpPr>
        <p:spPr bwMode="auto">
          <a:xfrm>
            <a:off x="3915071" y="4445958"/>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Region code</a:t>
            </a:r>
            <a:endParaRPr lang="en-US" sz="1867" b="1" dirty="0">
              <a:solidFill>
                <a:schemeClr val="accent2"/>
              </a:solidFill>
              <a:latin typeface="+mn-lt"/>
              <a:cs typeface="Arial" charset="0"/>
            </a:endParaRPr>
          </a:p>
        </p:txBody>
      </p:sp>
      <p:sp>
        <p:nvSpPr>
          <p:cNvPr id="17" name="Right Brace 16">
            <a:extLst>
              <a:ext uri="{C183D7F6-B498-43B3-948B-1728B52AA6E4}">
                <adec:decorative xmlns:adec="http://schemas.microsoft.com/office/drawing/2017/decorative" val="1"/>
              </a:ext>
            </a:extLst>
          </p:cNvPr>
          <p:cNvSpPr/>
          <p:nvPr/>
        </p:nvSpPr>
        <p:spPr>
          <a:xfrm rot="5400000">
            <a:off x="4512720" y="3375972"/>
            <a:ext cx="367701" cy="1570601"/>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62" name="TextBox 52"/>
          <p:cNvSpPr txBox="1">
            <a:spLocks noChangeArrowheads="1"/>
          </p:cNvSpPr>
          <p:nvPr/>
        </p:nvSpPr>
        <p:spPr bwMode="auto">
          <a:xfrm>
            <a:off x="7217582" y="4437860"/>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Bucket name</a:t>
            </a:r>
            <a:endParaRPr lang="en-US" sz="1867" b="1" dirty="0">
              <a:solidFill>
                <a:schemeClr val="accent2"/>
              </a:solidFill>
              <a:latin typeface="+mn-lt"/>
              <a:cs typeface="Arial" charset="0"/>
            </a:endParaRPr>
          </a:p>
        </p:txBody>
      </p:sp>
      <p:sp>
        <p:nvSpPr>
          <p:cNvPr id="63" name="Right Brace 62">
            <a:extLst>
              <a:ext uri="{C183D7F6-B498-43B3-948B-1728B52AA6E4}">
                <adec:decorative xmlns:adec="http://schemas.microsoft.com/office/drawing/2017/decorative" val="1"/>
              </a:ext>
            </a:extLst>
          </p:cNvPr>
          <p:cNvSpPr/>
          <p:nvPr/>
        </p:nvSpPr>
        <p:spPr>
          <a:xfrm rot="5400000">
            <a:off x="7808516" y="3505858"/>
            <a:ext cx="369333" cy="1387233"/>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27" name="TextBox 52">
            <a:extLst>
              <a:ext uri="{FF2B5EF4-FFF2-40B4-BE49-F238E27FC236}">
                <a16:creationId xmlns:a16="http://schemas.microsoft.com/office/drawing/2014/main" id="{EC686093-95F1-444D-ABE6-36DBF6AFF662}"/>
              </a:ext>
            </a:extLst>
          </p:cNvPr>
          <p:cNvSpPr txBox="1">
            <a:spLocks noChangeArrowheads="1"/>
          </p:cNvSpPr>
          <p:nvPr/>
        </p:nvSpPr>
        <p:spPr bwMode="auto">
          <a:xfrm>
            <a:off x="2791168" y="4837156"/>
            <a:ext cx="612980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dirty="0">
                <a:latin typeface="+mn-lt"/>
                <a:cs typeface="Arial" charset="0"/>
              </a:rPr>
              <a:t>Bucket virtual hosted-style URL endpoint:</a:t>
            </a:r>
            <a:endParaRPr lang="en-US" sz="1867" dirty="0">
              <a:latin typeface="+mn-lt"/>
              <a:cs typeface="Arial" charset="0"/>
            </a:endParaRPr>
          </a:p>
        </p:txBody>
      </p:sp>
      <p:sp>
        <p:nvSpPr>
          <p:cNvPr id="28" name="TextBox 52">
            <a:extLst>
              <a:ext uri="{FF2B5EF4-FFF2-40B4-BE49-F238E27FC236}">
                <a16:creationId xmlns:a16="http://schemas.microsoft.com/office/drawing/2014/main" id="{48CC71B6-3221-AA42-BD4C-D2D4AC9A3295}"/>
              </a:ext>
              <a:ext uri="{C183D7F6-B498-43B3-948B-1728B52AA6E4}">
                <adec:decorative xmlns:adec="http://schemas.microsoft.com/office/drawing/2017/decorative" val="0"/>
              </a:ext>
            </a:extLst>
          </p:cNvPr>
          <p:cNvSpPr txBox="1">
            <a:spLocks noChangeArrowheads="1"/>
          </p:cNvSpPr>
          <p:nvPr/>
        </p:nvSpPr>
        <p:spPr bwMode="auto">
          <a:xfrm>
            <a:off x="3033052" y="5363809"/>
            <a:ext cx="9276039" cy="2873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r>
              <a:rPr lang="en-US" sz="1867" b="1" i="1" dirty="0">
                <a:latin typeface="+mn-lt"/>
                <a:cs typeface="Arial" charset="0"/>
                <a:hlinkClick r:id="rId9">
                  <a:extLst>
                    <a:ext uri="{A12FA001-AC4F-418D-AE19-62706E023703}">
                      <ahyp:hlinkClr xmlns:ahyp="http://schemas.microsoft.com/office/drawing/2018/hyperlinkcolor" val="tx"/>
                    </a:ext>
                  </a:extLst>
                </a:hlinkClick>
              </a:rPr>
              <a:t>https://</a:t>
            </a:r>
            <a:r>
              <a:rPr lang="en-US" sz="1867" b="1" i="1" dirty="0">
                <a:solidFill>
                  <a:srgbClr val="FF9933"/>
                </a:solidFill>
                <a:latin typeface="+mn-lt"/>
                <a:cs typeface="Arial" charset="0"/>
              </a:rPr>
              <a:t> bucket-name</a:t>
            </a:r>
            <a:r>
              <a:rPr lang="en-US" sz="1867" b="1" i="1" dirty="0">
                <a:latin typeface="+mn-lt"/>
                <a:cs typeface="Arial" charset="0"/>
              </a:rPr>
              <a:t>.s3-</a:t>
            </a:r>
            <a:r>
              <a:rPr lang="en-US" sz="1867" b="1" i="1" dirty="0">
                <a:solidFill>
                  <a:srgbClr val="FF9933"/>
                </a:solidFill>
                <a:latin typeface="+mn-lt"/>
                <a:cs typeface="Arial" charset="0"/>
              </a:rPr>
              <a:t>ap-northeast-1</a:t>
            </a:r>
            <a:r>
              <a:rPr lang="en-US" sz="1867" b="1" i="1" dirty="0">
                <a:latin typeface="+mn-lt"/>
                <a:cs typeface="Arial" charset="0"/>
              </a:rPr>
              <a:t>.amazonaws.com</a:t>
            </a:r>
            <a:endParaRPr lang="en-US" sz="2133" b="1" i="1" dirty="0">
              <a:solidFill>
                <a:srgbClr val="FF9933"/>
              </a:solidFill>
              <a:latin typeface="+mn-lt"/>
              <a:cs typeface="Arial" charset="0"/>
            </a:endParaRPr>
          </a:p>
        </p:txBody>
      </p:sp>
      <p:sp>
        <p:nvSpPr>
          <p:cNvPr id="33" name="TextBox 52">
            <a:extLst>
              <a:ext uri="{FF2B5EF4-FFF2-40B4-BE49-F238E27FC236}">
                <a16:creationId xmlns:a16="http://schemas.microsoft.com/office/drawing/2014/main" id="{ED7F6589-6F7C-3A45-A564-7E2F0B15914D}"/>
              </a:ext>
            </a:extLst>
          </p:cNvPr>
          <p:cNvSpPr txBox="1">
            <a:spLocks noChangeArrowheads="1"/>
          </p:cNvSpPr>
          <p:nvPr/>
        </p:nvSpPr>
        <p:spPr bwMode="auto">
          <a:xfrm>
            <a:off x="3771647" y="6093318"/>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Bucket name</a:t>
            </a:r>
            <a:endParaRPr lang="en-US" sz="1867" b="1" dirty="0">
              <a:solidFill>
                <a:schemeClr val="accent2"/>
              </a:solidFill>
              <a:latin typeface="+mn-lt"/>
              <a:cs typeface="Arial" charset="0"/>
            </a:endParaRPr>
          </a:p>
        </p:txBody>
      </p:sp>
      <p:sp>
        <p:nvSpPr>
          <p:cNvPr id="30" name="TextBox 52">
            <a:extLst>
              <a:ext uri="{FF2B5EF4-FFF2-40B4-BE49-F238E27FC236}">
                <a16:creationId xmlns:a16="http://schemas.microsoft.com/office/drawing/2014/main" id="{FE3B8F2B-15EB-A541-AE89-107F96B2DC1B}"/>
              </a:ext>
            </a:extLst>
          </p:cNvPr>
          <p:cNvSpPr txBox="1">
            <a:spLocks noChangeArrowheads="1"/>
          </p:cNvSpPr>
          <p:nvPr/>
        </p:nvSpPr>
        <p:spPr bwMode="auto">
          <a:xfrm>
            <a:off x="5596172" y="6093317"/>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Region code </a:t>
            </a:r>
            <a:endParaRPr lang="en-US" sz="1867" b="1" dirty="0">
              <a:solidFill>
                <a:schemeClr val="accent2"/>
              </a:solidFill>
              <a:latin typeface="+mn-lt"/>
              <a:cs typeface="Arial" charset="0"/>
            </a:endParaRPr>
          </a:p>
        </p:txBody>
      </p:sp>
      <p:sp>
        <p:nvSpPr>
          <p:cNvPr id="31" name="Right Brace 30">
            <a:extLst>
              <a:ext uri="{FF2B5EF4-FFF2-40B4-BE49-F238E27FC236}">
                <a16:creationId xmlns:a16="http://schemas.microsoft.com/office/drawing/2014/main" id="{DD2F4957-4EAF-E743-8E49-6C732E607B6D}"/>
              </a:ext>
              <a:ext uri="{C183D7F6-B498-43B3-948B-1728B52AA6E4}">
                <adec:decorative xmlns:adec="http://schemas.microsoft.com/office/drawing/2017/decorative" val="1"/>
              </a:ext>
            </a:extLst>
          </p:cNvPr>
          <p:cNvSpPr/>
          <p:nvPr/>
        </p:nvSpPr>
        <p:spPr>
          <a:xfrm rot="5400000">
            <a:off x="4343547" y="5165781"/>
            <a:ext cx="396326" cy="1312911"/>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34" name="Right Brace 33">
            <a:extLst>
              <a:ext uri="{FF2B5EF4-FFF2-40B4-BE49-F238E27FC236}">
                <a16:creationId xmlns:a16="http://schemas.microsoft.com/office/drawing/2014/main" id="{F65C1671-695E-ED4D-839C-65898017F4D2}"/>
              </a:ext>
              <a:ext uri="{C183D7F6-B498-43B3-948B-1728B52AA6E4}">
                <adec:decorative xmlns:adec="http://schemas.microsoft.com/office/drawing/2017/decorative" val="1"/>
              </a:ext>
            </a:extLst>
          </p:cNvPr>
          <p:cNvSpPr/>
          <p:nvPr/>
        </p:nvSpPr>
        <p:spPr>
          <a:xfrm rot="5400000">
            <a:off x="6176598" y="5070642"/>
            <a:ext cx="369333" cy="1530184"/>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Tree>
    <p:custDataLst>
      <p:tags r:id="rId1"/>
    </p:custDataLst>
    <p:extLst>
      <p:ext uri="{BB962C8B-B14F-4D97-AF65-F5344CB8AC3E}">
        <p14:creationId xmlns:p14="http://schemas.microsoft.com/office/powerpoint/2010/main" val="3254151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17</a:t>
            </a:fld>
            <a:endParaRPr lang="en-US"/>
          </a:p>
        </p:txBody>
      </p:sp>
      <p:sp>
        <p:nvSpPr>
          <p:cNvPr id="5" name="Title 4"/>
          <p:cNvSpPr>
            <a:spLocks noGrp="1"/>
          </p:cNvSpPr>
          <p:nvPr>
            <p:ph type="title"/>
          </p:nvPr>
        </p:nvSpPr>
        <p:spPr/>
        <p:txBody>
          <a:bodyPr>
            <a:normAutofit/>
          </a:bodyPr>
          <a:lstStyle/>
          <a:p>
            <a:r>
              <a:rPr lang="en-US"/>
              <a:t>Data is redundantly stored in the Region</a:t>
            </a:r>
          </a:p>
        </p:txBody>
      </p:sp>
      <p:grpSp>
        <p:nvGrpSpPr>
          <p:cNvPr id="2" name="Group 1" descr="Data is stored in three locations in a Region.">
            <a:extLst>
              <a:ext uri="{FF2B5EF4-FFF2-40B4-BE49-F238E27FC236}">
                <a16:creationId xmlns:a16="http://schemas.microsoft.com/office/drawing/2014/main" id="{E31E1976-5724-1300-B12B-36B5B2FEFE2D}"/>
              </a:ext>
            </a:extLst>
          </p:cNvPr>
          <p:cNvGrpSpPr/>
          <p:nvPr/>
        </p:nvGrpSpPr>
        <p:grpSpPr>
          <a:xfrm>
            <a:off x="2056725" y="1721804"/>
            <a:ext cx="7622941" cy="4498344"/>
            <a:chOff x="2056725" y="1721804"/>
            <a:chExt cx="7622941" cy="4498344"/>
          </a:xfrm>
        </p:grpSpPr>
        <p:pic>
          <p:nvPicPr>
            <p:cNvPr id="30" name="Graphic 29">
              <a:extLst>
                <a:ext uri="{FF2B5EF4-FFF2-40B4-BE49-F238E27FC236}">
                  <a16:creationId xmlns:a16="http://schemas.microsoft.com/office/drawing/2014/main" id="{C1615129-38BF-4B79-9946-7B7FADB7943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91222" y="1721804"/>
              <a:ext cx="666228" cy="666228"/>
            </a:xfrm>
            <a:prstGeom prst="rect">
              <a:avLst/>
            </a:prstGeom>
          </p:spPr>
        </p:pic>
        <p:sp>
          <p:nvSpPr>
            <p:cNvPr id="12" name="Rectangle 11">
              <a:extLst>
                <a:ext uri="{C183D7F6-B498-43B3-948B-1728B52AA6E4}">
                  <adec:decorative xmlns:adec="http://schemas.microsoft.com/office/drawing/2017/decorative" val="1"/>
                </a:ext>
              </a:extLst>
            </p:cNvPr>
            <p:cNvSpPr/>
            <p:nvPr/>
          </p:nvSpPr>
          <p:spPr>
            <a:xfrm>
              <a:off x="2056725" y="2374762"/>
              <a:ext cx="2387600" cy="41373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media/welcome.mp4</a:t>
              </a:r>
            </a:p>
          </p:txBody>
        </p:sp>
        <p:pic>
          <p:nvPicPr>
            <p:cNvPr id="29" name="Graphic 28">
              <a:extLst>
                <a:ext uri="{FF2B5EF4-FFF2-40B4-BE49-F238E27FC236}">
                  <a16:creationId xmlns:a16="http://schemas.microsoft.com/office/drawing/2014/main" id="{760491DC-E8DB-45AC-BEE0-405026A9C725}"/>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37432" y="2756167"/>
              <a:ext cx="826530" cy="826530"/>
            </a:xfrm>
            <a:prstGeom prst="rect">
              <a:avLst/>
            </a:prstGeom>
          </p:spPr>
        </p:pic>
        <p:sp>
          <p:nvSpPr>
            <p:cNvPr id="9" name="TextBox 8">
              <a:extLst>
                <a:ext uri="{FF2B5EF4-FFF2-40B4-BE49-F238E27FC236}">
                  <a16:creationId xmlns:a16="http://schemas.microsoft.com/office/drawing/2014/main" id="{3BA283AB-DDE1-4213-9999-D352465E5A4E}"/>
                </a:ext>
                <a:ext uri="{C183D7F6-B498-43B3-948B-1728B52AA6E4}">
                  <adec:decorative xmlns:adec="http://schemas.microsoft.com/office/drawing/2017/decorative" val="1"/>
                </a:ext>
              </a:extLst>
            </p:cNvPr>
            <p:cNvSpPr txBox="1"/>
            <p:nvPr/>
          </p:nvSpPr>
          <p:spPr>
            <a:xfrm>
              <a:off x="2228849" y="3802629"/>
              <a:ext cx="1981633" cy="369332"/>
            </a:xfrm>
            <a:prstGeom prst="rect">
              <a:avLst/>
            </a:prstGeom>
            <a:noFill/>
          </p:spPr>
          <p:txBody>
            <a:bodyPr wrap="none" rtlCol="0">
              <a:spAutoFit/>
            </a:bodyPr>
            <a:lstStyle/>
            <a:p>
              <a:r>
                <a:rPr lang="en-US">
                  <a:latin typeface="Amazon Ember" panose="020B0603020204020204" pitchFamily="34" charset="0"/>
                  <a:ea typeface="Amazon Ember" panose="020B0603020204020204" pitchFamily="34" charset="0"/>
                  <a:cs typeface="Amazon Ember" panose="020B0603020204020204" pitchFamily="34" charset="0"/>
                </a:rPr>
                <a:t>my-bucket-name</a:t>
              </a:r>
            </a:p>
          </p:txBody>
        </p:sp>
        <p:sp>
          <p:nvSpPr>
            <p:cNvPr id="6" name="Rounded Rectangle 5">
              <a:extLst>
                <a:ext uri="{FF2B5EF4-FFF2-40B4-BE49-F238E27FC236}">
                  <a16:creationId xmlns:a16="http://schemas.microsoft.com/office/drawing/2014/main" id="{A68EDEAA-B077-B64A-A10F-4467A5664469}"/>
                </a:ext>
                <a:ext uri="{C183D7F6-B498-43B3-948B-1728B52AA6E4}">
                  <adec:decorative xmlns:adec="http://schemas.microsoft.com/office/drawing/2017/decorative" val="1"/>
                </a:ext>
              </a:extLst>
            </p:cNvPr>
            <p:cNvSpPr/>
            <p:nvPr/>
          </p:nvSpPr>
          <p:spPr>
            <a:xfrm>
              <a:off x="4836121" y="2737894"/>
              <a:ext cx="1463040" cy="29374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54D2FB1-7EDC-3542-8A6F-0263B2AC909B}"/>
                </a:ext>
                <a:ext uri="{C183D7F6-B498-43B3-948B-1728B52AA6E4}">
                  <adec:decorative xmlns:adec="http://schemas.microsoft.com/office/drawing/2017/decorative" val="1"/>
                </a:ext>
              </a:extLst>
            </p:cNvPr>
            <p:cNvSpPr txBox="1"/>
            <p:nvPr/>
          </p:nvSpPr>
          <p:spPr>
            <a:xfrm>
              <a:off x="5042390" y="2746786"/>
              <a:ext cx="1095172" cy="369332"/>
            </a:xfrm>
            <a:prstGeom prst="rect">
              <a:avLst/>
            </a:prstGeom>
            <a:noFill/>
          </p:spPr>
          <p:txBody>
            <a:bodyPr wrap="none" rtlCol="0">
              <a:spAutoFit/>
            </a:bodyPr>
            <a:lstStyle/>
            <a:p>
              <a:r>
                <a:rPr lang="en-US"/>
                <a:t>Facility 1</a:t>
              </a:r>
            </a:p>
          </p:txBody>
        </p:sp>
        <p:pic>
          <p:nvPicPr>
            <p:cNvPr id="34" name="Picture 33">
              <a:extLst>
                <a:ext uri="{FF2B5EF4-FFF2-40B4-BE49-F238E27FC236}">
                  <a16:creationId xmlns:a16="http://schemas.microsoft.com/office/drawing/2014/main" id="{5CCC0B8C-E43A-485D-AE3C-F37F6406E083}"/>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916604" y="3128593"/>
              <a:ext cx="1347646" cy="2450961"/>
            </a:xfrm>
            <a:prstGeom prst="rect">
              <a:avLst/>
            </a:prstGeom>
          </p:spPr>
        </p:pic>
        <p:sp>
          <p:nvSpPr>
            <p:cNvPr id="22" name="Rounded Rectangle 21">
              <a:extLst>
                <a:ext uri="{FF2B5EF4-FFF2-40B4-BE49-F238E27FC236}">
                  <a16:creationId xmlns:a16="http://schemas.microsoft.com/office/drawing/2014/main" id="{7A887A76-379C-DA4B-9C29-D53B07ED24AE}"/>
                </a:ext>
                <a:ext uri="{C183D7F6-B498-43B3-948B-1728B52AA6E4}">
                  <adec:decorative xmlns:adec="http://schemas.microsoft.com/office/drawing/2017/decorative" val="1"/>
                </a:ext>
              </a:extLst>
            </p:cNvPr>
            <p:cNvSpPr/>
            <p:nvPr/>
          </p:nvSpPr>
          <p:spPr>
            <a:xfrm>
              <a:off x="6567934" y="2737894"/>
              <a:ext cx="1463040" cy="29374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0C976D8-FEEE-A64A-AA1C-46D5F4584FA5}"/>
                </a:ext>
                <a:ext uri="{C183D7F6-B498-43B3-948B-1728B52AA6E4}">
                  <adec:decorative xmlns:adec="http://schemas.microsoft.com/office/drawing/2017/decorative" val="1"/>
                </a:ext>
              </a:extLst>
            </p:cNvPr>
            <p:cNvSpPr txBox="1"/>
            <p:nvPr/>
          </p:nvSpPr>
          <p:spPr>
            <a:xfrm>
              <a:off x="6749543" y="2746786"/>
              <a:ext cx="1095172" cy="369332"/>
            </a:xfrm>
            <a:prstGeom prst="rect">
              <a:avLst/>
            </a:prstGeom>
            <a:noFill/>
          </p:spPr>
          <p:txBody>
            <a:bodyPr wrap="none" rtlCol="0">
              <a:spAutoFit/>
            </a:bodyPr>
            <a:lstStyle/>
            <a:p>
              <a:r>
                <a:rPr lang="en-US"/>
                <a:t>Facility 2</a:t>
              </a:r>
            </a:p>
          </p:txBody>
        </p:sp>
        <p:pic>
          <p:nvPicPr>
            <p:cNvPr id="33" name="Picture 32">
              <a:extLst>
                <a:ext uri="{FF2B5EF4-FFF2-40B4-BE49-F238E27FC236}">
                  <a16:creationId xmlns:a16="http://schemas.microsoft.com/office/drawing/2014/main" id="{A82A6A9F-E0F8-41E0-A287-C1AAE30E1A9E}"/>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646789" y="3105289"/>
              <a:ext cx="1347646" cy="2450961"/>
            </a:xfrm>
            <a:prstGeom prst="rect">
              <a:avLst/>
            </a:prstGeom>
          </p:spPr>
        </p:pic>
        <p:sp>
          <p:nvSpPr>
            <p:cNvPr id="23" name="Rounded Rectangle 22">
              <a:extLst>
                <a:ext uri="{FF2B5EF4-FFF2-40B4-BE49-F238E27FC236}">
                  <a16:creationId xmlns:a16="http://schemas.microsoft.com/office/drawing/2014/main" id="{5CF43031-D080-6241-A9E4-DC1B8CC15EE4}"/>
                </a:ext>
                <a:ext uri="{C183D7F6-B498-43B3-948B-1728B52AA6E4}">
                  <adec:decorative xmlns:adec="http://schemas.microsoft.com/office/drawing/2017/decorative" val="1"/>
                </a:ext>
              </a:extLst>
            </p:cNvPr>
            <p:cNvSpPr/>
            <p:nvPr/>
          </p:nvSpPr>
          <p:spPr>
            <a:xfrm>
              <a:off x="8216626" y="2737894"/>
              <a:ext cx="1463040" cy="29374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0477FBD-6D80-3B4F-AEA3-B3AD66785E00}"/>
                </a:ext>
                <a:ext uri="{C183D7F6-B498-43B3-948B-1728B52AA6E4}">
                  <adec:decorative xmlns:adec="http://schemas.microsoft.com/office/drawing/2017/decorative" val="1"/>
                </a:ext>
              </a:extLst>
            </p:cNvPr>
            <p:cNvSpPr txBox="1"/>
            <p:nvPr/>
          </p:nvSpPr>
          <p:spPr>
            <a:xfrm>
              <a:off x="8454350" y="2775581"/>
              <a:ext cx="1095172" cy="369332"/>
            </a:xfrm>
            <a:prstGeom prst="rect">
              <a:avLst/>
            </a:prstGeom>
            <a:noFill/>
          </p:spPr>
          <p:txBody>
            <a:bodyPr wrap="none" rtlCol="0">
              <a:spAutoFit/>
            </a:bodyPr>
            <a:lstStyle/>
            <a:p>
              <a:r>
                <a:rPr lang="en-US"/>
                <a:t>Facility 3</a:t>
              </a:r>
            </a:p>
          </p:txBody>
        </p:sp>
        <p:pic>
          <p:nvPicPr>
            <p:cNvPr id="35" name="Picture 34">
              <a:extLst>
                <a:ext uri="{FF2B5EF4-FFF2-40B4-BE49-F238E27FC236}">
                  <a16:creationId xmlns:a16="http://schemas.microsoft.com/office/drawing/2014/main" id="{96F48EBA-95B0-470F-97DA-A6EA1BE6C8D7}"/>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326779" y="3096326"/>
              <a:ext cx="1347646" cy="2450961"/>
            </a:xfrm>
            <a:prstGeom prst="rect">
              <a:avLst/>
            </a:prstGeom>
          </p:spPr>
        </p:pic>
        <p:sp>
          <p:nvSpPr>
            <p:cNvPr id="27" name="TextBox 26">
              <a:extLst>
                <a:ext uri="{C183D7F6-B498-43B3-948B-1728B52AA6E4}">
                  <adec:decorative xmlns:adec="http://schemas.microsoft.com/office/drawing/2017/decorative" val="1"/>
                </a:ext>
              </a:extLst>
            </p:cNvPr>
            <p:cNvSpPr txBox="1"/>
            <p:nvPr/>
          </p:nvSpPr>
          <p:spPr>
            <a:xfrm>
              <a:off x="8201173" y="5758483"/>
              <a:ext cx="1152880" cy="461665"/>
            </a:xfrm>
            <a:prstGeom prst="rect">
              <a:avLst/>
            </a:prstGeom>
            <a:noFill/>
          </p:spPr>
          <p:txBody>
            <a:bodyPr wrap="none" rtlCol="0">
              <a:spAutoFit/>
            </a:bodyPr>
            <a:lstStyle/>
            <a:p>
              <a:r>
                <a:rPr lang="en-US" sz="2400">
                  <a:latin typeface="Amazon Ember" panose="02000000000000000000" pitchFamily="2" charset="0"/>
                  <a:ea typeface="Amazon Ember" panose="02000000000000000000" pitchFamily="2" charset="0"/>
                </a:rPr>
                <a:t>Region</a:t>
              </a:r>
            </a:p>
          </p:txBody>
        </p:sp>
      </p:grpSp>
    </p:spTree>
    <p:custDataLst>
      <p:tags r:id="rId1"/>
    </p:custDataLst>
    <p:extLst>
      <p:ext uri="{BB962C8B-B14F-4D97-AF65-F5344CB8AC3E}">
        <p14:creationId xmlns:p14="http://schemas.microsoft.com/office/powerpoint/2010/main" val="2949935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18</a:t>
            </a:fld>
            <a:endParaRPr lang="en-US"/>
          </a:p>
        </p:txBody>
      </p:sp>
      <p:sp>
        <p:nvSpPr>
          <p:cNvPr id="5" name="Title 4"/>
          <p:cNvSpPr>
            <a:spLocks noGrp="1"/>
          </p:cNvSpPr>
          <p:nvPr>
            <p:ph type="title"/>
          </p:nvPr>
        </p:nvSpPr>
        <p:spPr/>
        <p:txBody>
          <a:bodyPr/>
          <a:lstStyle/>
          <a:p>
            <a:r>
              <a:rPr lang="en-US"/>
              <a:t>Designed for seamless scaling</a:t>
            </a:r>
          </a:p>
        </p:txBody>
      </p:sp>
      <p:grpSp>
        <p:nvGrpSpPr>
          <p:cNvPr id="9" name="Group 8">
            <a:extLst>
              <a:ext uri="{FF2B5EF4-FFF2-40B4-BE49-F238E27FC236}">
                <a16:creationId xmlns:a16="http://schemas.microsoft.com/office/drawing/2014/main" id="{40E4BAC5-63B9-4F03-B5FE-257D3C3F2654}"/>
              </a:ext>
              <a:ext uri="{C183D7F6-B498-43B3-948B-1728B52AA6E4}">
                <adec:decorative xmlns:adec="http://schemas.microsoft.com/office/drawing/2017/decorative" val="1"/>
              </a:ext>
            </a:extLst>
          </p:cNvPr>
          <p:cNvGrpSpPr/>
          <p:nvPr/>
        </p:nvGrpSpPr>
        <p:grpSpPr>
          <a:xfrm>
            <a:off x="358588" y="1642083"/>
            <a:ext cx="569431" cy="4202727"/>
            <a:chOff x="358588" y="1642083"/>
            <a:chExt cx="569431" cy="4202727"/>
          </a:xfrm>
        </p:grpSpPr>
        <p:pic>
          <p:nvPicPr>
            <p:cNvPr id="33" name="Graphic 32">
              <a:extLst>
                <a:ext uri="{FF2B5EF4-FFF2-40B4-BE49-F238E27FC236}">
                  <a16:creationId xmlns:a16="http://schemas.microsoft.com/office/drawing/2014/main" id="{7645E941-408B-47DE-BD05-81615960132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358588" y="1642083"/>
              <a:ext cx="483586" cy="469900"/>
            </a:xfrm>
            <a:prstGeom prst="rect">
              <a:avLst/>
            </a:prstGeom>
          </p:spPr>
        </p:pic>
        <p:pic>
          <p:nvPicPr>
            <p:cNvPr id="34" name="Graphic 33">
              <a:extLst>
                <a:ext uri="{FF2B5EF4-FFF2-40B4-BE49-F238E27FC236}">
                  <a16:creationId xmlns:a16="http://schemas.microsoft.com/office/drawing/2014/main" id="{E32630B0-5457-4882-A783-163EF2CCBE9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358588" y="2410319"/>
              <a:ext cx="483586" cy="469900"/>
            </a:xfrm>
            <a:prstGeom prst="rect">
              <a:avLst/>
            </a:prstGeom>
          </p:spPr>
        </p:pic>
        <p:pic>
          <p:nvPicPr>
            <p:cNvPr id="35" name="Graphic 34">
              <a:extLst>
                <a:ext uri="{FF2B5EF4-FFF2-40B4-BE49-F238E27FC236}">
                  <a16:creationId xmlns:a16="http://schemas.microsoft.com/office/drawing/2014/main" id="{50606100-F241-4FA8-B679-5EB8536E03A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399613" y="3178555"/>
              <a:ext cx="483586" cy="469900"/>
            </a:xfrm>
            <a:prstGeom prst="rect">
              <a:avLst/>
            </a:prstGeom>
          </p:spPr>
        </p:pic>
        <p:pic>
          <p:nvPicPr>
            <p:cNvPr id="36" name="Graphic 35">
              <a:extLst>
                <a:ext uri="{FF2B5EF4-FFF2-40B4-BE49-F238E27FC236}">
                  <a16:creationId xmlns:a16="http://schemas.microsoft.com/office/drawing/2014/main" id="{F0BC4CAF-E867-4DD1-B664-0BD33306174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403408" y="3838438"/>
              <a:ext cx="483586" cy="469900"/>
            </a:xfrm>
            <a:prstGeom prst="rect">
              <a:avLst/>
            </a:prstGeom>
          </p:spPr>
        </p:pic>
        <p:pic>
          <p:nvPicPr>
            <p:cNvPr id="37" name="Graphic 36">
              <a:extLst>
                <a:ext uri="{FF2B5EF4-FFF2-40B4-BE49-F238E27FC236}">
                  <a16:creationId xmlns:a16="http://schemas.microsoft.com/office/drawing/2014/main" id="{7BFC1F78-FF21-4D99-ABDC-4D880658BF2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403408" y="4606674"/>
              <a:ext cx="483586" cy="469900"/>
            </a:xfrm>
            <a:prstGeom prst="rect">
              <a:avLst/>
            </a:prstGeom>
          </p:spPr>
        </p:pic>
        <p:pic>
          <p:nvPicPr>
            <p:cNvPr id="38" name="Graphic 37">
              <a:extLst>
                <a:ext uri="{FF2B5EF4-FFF2-40B4-BE49-F238E27FC236}">
                  <a16:creationId xmlns:a16="http://schemas.microsoft.com/office/drawing/2014/main" id="{F0338B54-83C2-4E79-8803-64292C69D13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444433" y="5374910"/>
              <a:ext cx="483586" cy="469900"/>
            </a:xfrm>
            <a:prstGeom prst="rect">
              <a:avLst/>
            </a:prstGeom>
          </p:spPr>
        </p:pic>
      </p:grpSp>
      <p:grpSp>
        <p:nvGrpSpPr>
          <p:cNvPr id="8" name="Group 7" descr="A collection of files and one S3 bucket.">
            <a:extLst>
              <a:ext uri="{FF2B5EF4-FFF2-40B4-BE49-F238E27FC236}">
                <a16:creationId xmlns:a16="http://schemas.microsoft.com/office/drawing/2014/main" id="{F783649F-C9CF-40CA-868F-D35F199A9443}"/>
              </a:ext>
            </a:extLst>
          </p:cNvPr>
          <p:cNvGrpSpPr/>
          <p:nvPr/>
        </p:nvGrpSpPr>
        <p:grpSpPr>
          <a:xfrm>
            <a:off x="2623443" y="1893475"/>
            <a:ext cx="7915469" cy="3584455"/>
            <a:chOff x="2623443" y="1893475"/>
            <a:chExt cx="7915469" cy="3584455"/>
          </a:xfrm>
        </p:grpSpPr>
        <p:sp>
          <p:nvSpPr>
            <p:cNvPr id="15" name="TextBox 14">
              <a:extLst>
                <a:ext uri="{C183D7F6-B498-43B3-948B-1728B52AA6E4}">
                  <adec:decorative xmlns:adec="http://schemas.microsoft.com/office/drawing/2017/decorative" val="1"/>
                </a:ext>
              </a:extLst>
            </p:cNvPr>
            <p:cNvSpPr txBox="1"/>
            <p:nvPr/>
          </p:nvSpPr>
          <p:spPr>
            <a:xfrm>
              <a:off x="4416926" y="2759875"/>
              <a:ext cx="1914307" cy="307777"/>
            </a:xfrm>
            <a:prstGeom prst="rect">
              <a:avLst/>
            </a:prstGeom>
            <a:noFill/>
          </p:spPr>
          <p:txBody>
            <a:bodyPr wrap="none" rtlCol="0">
              <a:spAutoFit/>
            </a:bodyPr>
            <a:lstStyle/>
            <a:p>
              <a:r>
                <a:rPr lang="en-US" sz="1400">
                  <a:solidFill>
                    <a:srgbClr val="FF9900"/>
                  </a:solidFill>
                  <a:latin typeface="Amazon Ember" panose="02000000000000000000" pitchFamily="2" charset="0"/>
                  <a:ea typeface="Amazon Ember" panose="02000000000000000000" pitchFamily="2" charset="0"/>
                </a:rPr>
                <a:t>media/welcome.mp4</a:t>
              </a:r>
            </a:p>
          </p:txBody>
        </p:sp>
        <p:sp>
          <p:nvSpPr>
            <p:cNvPr id="16" name="TextBox 15">
              <a:extLst>
                <a:ext uri="{C183D7F6-B498-43B3-948B-1728B52AA6E4}">
                  <adec:decorative xmlns:adec="http://schemas.microsoft.com/office/drawing/2017/decorative" val="1"/>
                </a:ext>
              </a:extLst>
            </p:cNvPr>
            <p:cNvSpPr txBox="1"/>
            <p:nvPr/>
          </p:nvSpPr>
          <p:spPr>
            <a:xfrm>
              <a:off x="6253751" y="2759875"/>
              <a:ext cx="1090363" cy="307777"/>
            </a:xfrm>
            <a:prstGeom prst="rect">
              <a:avLst/>
            </a:prstGeom>
            <a:noFill/>
          </p:spPr>
          <p:txBody>
            <a:bodyPr wrap="non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prod2.mp4</a:t>
              </a:r>
            </a:p>
          </p:txBody>
        </p:sp>
        <p:sp>
          <p:nvSpPr>
            <p:cNvPr id="17" name="TextBox 16">
              <a:extLst>
                <a:ext uri="{C183D7F6-B498-43B3-948B-1728B52AA6E4}">
                  <adec:decorative xmlns:adec="http://schemas.microsoft.com/office/drawing/2017/decorative" val="1"/>
                </a:ext>
              </a:extLst>
            </p:cNvPr>
            <p:cNvSpPr txBox="1"/>
            <p:nvPr/>
          </p:nvSpPr>
          <p:spPr>
            <a:xfrm>
              <a:off x="7754894" y="2759875"/>
              <a:ext cx="1090363"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prod3.mp4</a:t>
              </a:r>
            </a:p>
          </p:txBody>
        </p:sp>
        <p:sp>
          <p:nvSpPr>
            <p:cNvPr id="18" name="TextBox 17">
              <a:extLst>
                <a:ext uri="{C183D7F6-B498-43B3-948B-1728B52AA6E4}">
                  <adec:decorative xmlns:adec="http://schemas.microsoft.com/office/drawing/2017/decorative" val="1"/>
                </a:ext>
              </a:extLst>
            </p:cNvPr>
            <p:cNvSpPr txBox="1"/>
            <p:nvPr/>
          </p:nvSpPr>
          <p:spPr>
            <a:xfrm>
              <a:off x="9217298" y="2759875"/>
              <a:ext cx="1090363"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prod4.mp4</a:t>
              </a:r>
            </a:p>
          </p:txBody>
        </p:sp>
        <p:sp>
          <p:nvSpPr>
            <p:cNvPr id="20" name="TextBox 19">
              <a:extLst>
                <a:ext uri="{C183D7F6-B498-43B3-948B-1728B52AA6E4}">
                  <adec:decorative xmlns:adec="http://schemas.microsoft.com/office/drawing/2017/decorative" val="1"/>
                </a:ext>
              </a:extLst>
            </p:cNvPr>
            <p:cNvSpPr txBox="1"/>
            <p:nvPr/>
          </p:nvSpPr>
          <p:spPr>
            <a:xfrm>
              <a:off x="4828899" y="3959986"/>
              <a:ext cx="1090363" cy="307777"/>
            </a:xfrm>
            <a:prstGeom prst="rect">
              <a:avLst/>
            </a:prstGeom>
            <a:noFill/>
          </p:spPr>
          <p:txBody>
            <a:bodyPr wrap="non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prod5.mp4</a:t>
              </a:r>
            </a:p>
          </p:txBody>
        </p:sp>
        <p:sp>
          <p:nvSpPr>
            <p:cNvPr id="21" name="TextBox 20">
              <a:extLst>
                <a:ext uri="{C183D7F6-B498-43B3-948B-1728B52AA6E4}">
                  <adec:decorative xmlns:adec="http://schemas.microsoft.com/office/drawing/2017/decorative" val="1"/>
                </a:ext>
              </a:extLst>
            </p:cNvPr>
            <p:cNvSpPr txBox="1"/>
            <p:nvPr/>
          </p:nvSpPr>
          <p:spPr>
            <a:xfrm>
              <a:off x="6253751" y="3959986"/>
              <a:ext cx="1090363" cy="307777"/>
            </a:xfrm>
            <a:prstGeom prst="rect">
              <a:avLst/>
            </a:prstGeom>
            <a:noFill/>
          </p:spPr>
          <p:txBody>
            <a:bodyPr wrap="non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prod6.mp4</a:t>
              </a:r>
            </a:p>
          </p:txBody>
        </p:sp>
        <p:sp>
          <p:nvSpPr>
            <p:cNvPr id="22" name="TextBox 21">
              <a:extLst>
                <a:ext uri="{C183D7F6-B498-43B3-948B-1728B52AA6E4}">
                  <adec:decorative xmlns:adec="http://schemas.microsoft.com/office/drawing/2017/decorative" val="1"/>
                </a:ext>
              </a:extLst>
            </p:cNvPr>
            <p:cNvSpPr txBox="1"/>
            <p:nvPr/>
          </p:nvSpPr>
          <p:spPr>
            <a:xfrm>
              <a:off x="7754894" y="3959986"/>
              <a:ext cx="1090363"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prod7.mp4</a:t>
              </a:r>
            </a:p>
          </p:txBody>
        </p:sp>
        <p:sp>
          <p:nvSpPr>
            <p:cNvPr id="23" name="TextBox 22">
              <a:extLst>
                <a:ext uri="{C183D7F6-B498-43B3-948B-1728B52AA6E4}">
                  <adec:decorative xmlns:adec="http://schemas.microsoft.com/office/drawing/2017/decorative" val="1"/>
                </a:ext>
              </a:extLst>
            </p:cNvPr>
            <p:cNvSpPr txBox="1"/>
            <p:nvPr/>
          </p:nvSpPr>
          <p:spPr>
            <a:xfrm>
              <a:off x="9217298" y="3959986"/>
              <a:ext cx="1090363"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prod8.mp4</a:t>
              </a:r>
            </a:p>
          </p:txBody>
        </p:sp>
        <p:sp>
          <p:nvSpPr>
            <p:cNvPr id="25" name="TextBox 24">
              <a:extLst>
                <a:ext uri="{C183D7F6-B498-43B3-948B-1728B52AA6E4}">
                  <adec:decorative xmlns:adec="http://schemas.microsoft.com/office/drawing/2017/decorative" val="1"/>
                </a:ext>
              </a:extLst>
            </p:cNvPr>
            <p:cNvSpPr txBox="1"/>
            <p:nvPr/>
          </p:nvSpPr>
          <p:spPr>
            <a:xfrm>
              <a:off x="4828899" y="5170153"/>
              <a:ext cx="1090363" cy="307777"/>
            </a:xfrm>
            <a:prstGeom prst="rect">
              <a:avLst/>
            </a:prstGeom>
            <a:noFill/>
          </p:spPr>
          <p:txBody>
            <a:bodyPr wrap="non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prod9.mp4</a:t>
              </a:r>
            </a:p>
          </p:txBody>
        </p:sp>
        <p:sp>
          <p:nvSpPr>
            <p:cNvPr id="26" name="TextBox 25">
              <a:extLst>
                <a:ext uri="{C183D7F6-B498-43B3-948B-1728B52AA6E4}">
                  <adec:decorative xmlns:adec="http://schemas.microsoft.com/office/drawing/2017/decorative" val="1"/>
                </a:ext>
              </a:extLst>
            </p:cNvPr>
            <p:cNvSpPr txBox="1"/>
            <p:nvPr/>
          </p:nvSpPr>
          <p:spPr>
            <a:xfrm>
              <a:off x="6200852" y="5170153"/>
              <a:ext cx="1196161" cy="307777"/>
            </a:xfrm>
            <a:prstGeom prst="rect">
              <a:avLst/>
            </a:prstGeom>
            <a:noFill/>
          </p:spPr>
          <p:txBody>
            <a:bodyPr wrap="non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prod10.mp4</a:t>
              </a:r>
            </a:p>
          </p:txBody>
        </p:sp>
        <p:sp>
          <p:nvSpPr>
            <p:cNvPr id="27" name="TextBox 26">
              <a:extLst>
                <a:ext uri="{C183D7F6-B498-43B3-948B-1728B52AA6E4}">
                  <adec:decorative xmlns:adec="http://schemas.microsoft.com/office/drawing/2017/decorative" val="1"/>
                </a:ext>
              </a:extLst>
            </p:cNvPr>
            <p:cNvSpPr txBox="1"/>
            <p:nvPr/>
          </p:nvSpPr>
          <p:spPr>
            <a:xfrm>
              <a:off x="7610458" y="5170153"/>
              <a:ext cx="1379236"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prod11.mp4</a:t>
              </a:r>
            </a:p>
          </p:txBody>
        </p:sp>
        <p:sp>
          <p:nvSpPr>
            <p:cNvPr id="28" name="TextBox 27">
              <a:extLst>
                <a:ext uri="{C183D7F6-B498-43B3-948B-1728B52AA6E4}">
                  <adec:decorative xmlns:adec="http://schemas.microsoft.com/office/drawing/2017/decorative" val="1"/>
                </a:ext>
              </a:extLst>
            </p:cNvPr>
            <p:cNvSpPr txBox="1"/>
            <p:nvPr/>
          </p:nvSpPr>
          <p:spPr>
            <a:xfrm>
              <a:off x="8986048" y="5170153"/>
              <a:ext cx="1552864" cy="307777"/>
            </a:xfrm>
            <a:prstGeom prst="rect">
              <a:avLst/>
            </a:prstGeom>
            <a:noFill/>
          </p:spPr>
          <p:txBody>
            <a:bodyPr wrap="square" rtlCol="0">
              <a:spAutoFit/>
            </a:bodyPr>
            <a:lstStyle/>
            <a:p>
              <a:pPr algn="ctr"/>
              <a:r>
                <a:rPr lang="en-US" sz="1400">
                  <a:solidFill>
                    <a:srgbClr val="FF9900"/>
                  </a:solidFill>
                  <a:latin typeface="Amazon Ember" panose="02000000000000000000" pitchFamily="2" charset="0"/>
                  <a:ea typeface="Amazon Ember" panose="02000000000000000000" pitchFamily="2" charset="0"/>
                </a:rPr>
                <a:t>prod12.mp4</a:t>
              </a:r>
            </a:p>
          </p:txBody>
        </p:sp>
        <p:sp>
          <p:nvSpPr>
            <p:cNvPr id="30" name="TextBox 29">
              <a:extLst>
                <a:ext uri="{C183D7F6-B498-43B3-948B-1728B52AA6E4}">
                  <adec:decorative xmlns:adec="http://schemas.microsoft.com/office/drawing/2017/decorative" val="1"/>
                </a:ext>
              </a:extLst>
            </p:cNvPr>
            <p:cNvSpPr txBox="1"/>
            <p:nvPr/>
          </p:nvSpPr>
          <p:spPr>
            <a:xfrm>
              <a:off x="2623443" y="4459996"/>
              <a:ext cx="1981633" cy="369332"/>
            </a:xfrm>
            <a:prstGeom prst="rect">
              <a:avLst/>
            </a:prstGeom>
            <a:noFill/>
          </p:spPr>
          <p:txBody>
            <a:bodyPr wrap="none" rtlCol="0">
              <a:spAutoFit/>
            </a:bodyPr>
            <a:lstStyle/>
            <a:p>
              <a:r>
                <a:rPr lang="en-US">
                  <a:latin typeface="Amazon Ember" panose="02000000000000000000" pitchFamily="2" charset="0"/>
                  <a:ea typeface="Amazon Ember" panose="02000000000000000000" pitchFamily="2" charset="0"/>
                </a:rPr>
                <a:t>my-bucket-name</a:t>
              </a:r>
            </a:p>
          </p:txBody>
        </p:sp>
        <p:pic>
          <p:nvPicPr>
            <p:cNvPr id="32" name="Graphic 31">
              <a:extLst>
                <a:ext uri="{FF2B5EF4-FFF2-40B4-BE49-F238E27FC236}">
                  <a16:creationId xmlns:a16="http://schemas.microsoft.com/office/drawing/2014/main" id="{8F07FC7D-28D1-4382-B3AC-E6492552703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55804" y="3421512"/>
              <a:ext cx="826530" cy="826530"/>
            </a:xfrm>
            <a:prstGeom prst="rect">
              <a:avLst/>
            </a:prstGeom>
          </p:spPr>
        </p:pic>
        <p:pic>
          <p:nvPicPr>
            <p:cNvPr id="39" name="Graphic 38">
              <a:extLst>
                <a:ext uri="{FF2B5EF4-FFF2-40B4-BE49-F238E27FC236}">
                  <a16:creationId xmlns:a16="http://schemas.microsoft.com/office/drawing/2014/main" id="{A5136D4D-0996-4635-9897-8E5EA81946D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40965" y="1893475"/>
              <a:ext cx="666228" cy="666228"/>
            </a:xfrm>
            <a:prstGeom prst="rect">
              <a:avLst/>
            </a:prstGeom>
          </p:spPr>
        </p:pic>
        <p:pic>
          <p:nvPicPr>
            <p:cNvPr id="40" name="Graphic 39">
              <a:extLst>
                <a:ext uri="{FF2B5EF4-FFF2-40B4-BE49-F238E27FC236}">
                  <a16:creationId xmlns:a16="http://schemas.microsoft.com/office/drawing/2014/main" id="{482D21BA-7F71-4CA0-8B27-BA2155DB2B2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12407" y="1909868"/>
              <a:ext cx="666228" cy="666228"/>
            </a:xfrm>
            <a:prstGeom prst="rect">
              <a:avLst/>
            </a:prstGeom>
          </p:spPr>
        </p:pic>
        <p:pic>
          <p:nvPicPr>
            <p:cNvPr id="41" name="Graphic 40">
              <a:extLst>
                <a:ext uri="{FF2B5EF4-FFF2-40B4-BE49-F238E27FC236}">
                  <a16:creationId xmlns:a16="http://schemas.microsoft.com/office/drawing/2014/main" id="{508EDA91-2CA6-4B92-9D85-176065DADF0A}"/>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6961" y="1909868"/>
              <a:ext cx="666228" cy="666228"/>
            </a:xfrm>
            <a:prstGeom prst="rect">
              <a:avLst/>
            </a:prstGeom>
          </p:spPr>
        </p:pic>
        <p:pic>
          <p:nvPicPr>
            <p:cNvPr id="42" name="Graphic 41">
              <a:extLst>
                <a:ext uri="{FF2B5EF4-FFF2-40B4-BE49-F238E27FC236}">
                  <a16:creationId xmlns:a16="http://schemas.microsoft.com/office/drawing/2014/main" id="{6B929336-9F17-4E39-A165-31D5D8FA85A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29365" y="1929424"/>
              <a:ext cx="666228" cy="666228"/>
            </a:xfrm>
            <a:prstGeom prst="rect">
              <a:avLst/>
            </a:prstGeom>
          </p:spPr>
        </p:pic>
        <p:pic>
          <p:nvPicPr>
            <p:cNvPr id="43" name="Graphic 42">
              <a:extLst>
                <a:ext uri="{FF2B5EF4-FFF2-40B4-BE49-F238E27FC236}">
                  <a16:creationId xmlns:a16="http://schemas.microsoft.com/office/drawing/2014/main" id="{C31C26E0-B1D6-41E0-BB42-AC1FA508638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40965" y="3121402"/>
              <a:ext cx="666228" cy="666228"/>
            </a:xfrm>
            <a:prstGeom prst="rect">
              <a:avLst/>
            </a:prstGeom>
          </p:spPr>
        </p:pic>
        <p:pic>
          <p:nvPicPr>
            <p:cNvPr id="44" name="Graphic 43">
              <a:extLst>
                <a:ext uri="{FF2B5EF4-FFF2-40B4-BE49-F238E27FC236}">
                  <a16:creationId xmlns:a16="http://schemas.microsoft.com/office/drawing/2014/main" id="{C83D9752-801B-413B-9327-4042FF508D6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12407" y="3137795"/>
              <a:ext cx="666228" cy="666228"/>
            </a:xfrm>
            <a:prstGeom prst="rect">
              <a:avLst/>
            </a:prstGeom>
          </p:spPr>
        </p:pic>
        <p:pic>
          <p:nvPicPr>
            <p:cNvPr id="45" name="Graphic 44">
              <a:extLst>
                <a:ext uri="{FF2B5EF4-FFF2-40B4-BE49-F238E27FC236}">
                  <a16:creationId xmlns:a16="http://schemas.microsoft.com/office/drawing/2014/main" id="{57BC5F81-2DF1-4393-A950-543AC940290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6961" y="3137795"/>
              <a:ext cx="666228" cy="666228"/>
            </a:xfrm>
            <a:prstGeom prst="rect">
              <a:avLst/>
            </a:prstGeom>
          </p:spPr>
        </p:pic>
        <p:pic>
          <p:nvPicPr>
            <p:cNvPr id="46" name="Graphic 45">
              <a:extLst>
                <a:ext uri="{FF2B5EF4-FFF2-40B4-BE49-F238E27FC236}">
                  <a16:creationId xmlns:a16="http://schemas.microsoft.com/office/drawing/2014/main" id="{F2D5BD1C-130F-4093-8BD0-0759E77BDC2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29365" y="3157351"/>
              <a:ext cx="666228" cy="666228"/>
            </a:xfrm>
            <a:prstGeom prst="rect">
              <a:avLst/>
            </a:prstGeom>
          </p:spPr>
        </p:pic>
        <p:pic>
          <p:nvPicPr>
            <p:cNvPr id="47" name="Graphic 46">
              <a:extLst>
                <a:ext uri="{FF2B5EF4-FFF2-40B4-BE49-F238E27FC236}">
                  <a16:creationId xmlns:a16="http://schemas.microsoft.com/office/drawing/2014/main" id="{536BBBB6-D98D-4E5F-8A87-A9AC2B1447C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40965" y="4423281"/>
              <a:ext cx="666228" cy="666228"/>
            </a:xfrm>
            <a:prstGeom prst="rect">
              <a:avLst/>
            </a:prstGeom>
          </p:spPr>
        </p:pic>
        <p:pic>
          <p:nvPicPr>
            <p:cNvPr id="48" name="Graphic 47">
              <a:extLst>
                <a:ext uri="{FF2B5EF4-FFF2-40B4-BE49-F238E27FC236}">
                  <a16:creationId xmlns:a16="http://schemas.microsoft.com/office/drawing/2014/main" id="{C8D33E85-326E-4AE8-9209-73EB30461EB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12407" y="4439674"/>
              <a:ext cx="666228" cy="666228"/>
            </a:xfrm>
            <a:prstGeom prst="rect">
              <a:avLst/>
            </a:prstGeom>
          </p:spPr>
        </p:pic>
        <p:pic>
          <p:nvPicPr>
            <p:cNvPr id="49" name="Graphic 48">
              <a:extLst>
                <a:ext uri="{FF2B5EF4-FFF2-40B4-BE49-F238E27FC236}">
                  <a16:creationId xmlns:a16="http://schemas.microsoft.com/office/drawing/2014/main" id="{504F20A4-BA34-40E9-B7A8-825A72149E09}"/>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6961" y="4439674"/>
              <a:ext cx="666228" cy="666228"/>
            </a:xfrm>
            <a:prstGeom prst="rect">
              <a:avLst/>
            </a:prstGeom>
          </p:spPr>
        </p:pic>
        <p:pic>
          <p:nvPicPr>
            <p:cNvPr id="50" name="Graphic 49">
              <a:extLst>
                <a:ext uri="{FF2B5EF4-FFF2-40B4-BE49-F238E27FC236}">
                  <a16:creationId xmlns:a16="http://schemas.microsoft.com/office/drawing/2014/main" id="{180F9523-EC25-4E11-B927-D269C85DDC69}"/>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29365" y="4459230"/>
              <a:ext cx="666228" cy="666228"/>
            </a:xfrm>
            <a:prstGeom prst="rect">
              <a:avLst/>
            </a:prstGeom>
          </p:spPr>
        </p:pic>
      </p:grpSp>
    </p:spTree>
    <p:custDataLst>
      <p:tags r:id="rId1"/>
    </p:custDataLst>
    <p:extLst>
      <p:ext uri="{BB962C8B-B14F-4D97-AF65-F5344CB8AC3E}">
        <p14:creationId xmlns:p14="http://schemas.microsoft.com/office/powerpoint/2010/main" val="3089907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19</a:t>
            </a:fld>
            <a:endParaRPr lang="en-US"/>
          </a:p>
        </p:txBody>
      </p:sp>
      <p:sp>
        <p:nvSpPr>
          <p:cNvPr id="5" name="Title 4"/>
          <p:cNvSpPr>
            <a:spLocks noGrp="1"/>
          </p:cNvSpPr>
          <p:nvPr>
            <p:ph type="title"/>
          </p:nvPr>
        </p:nvSpPr>
        <p:spPr/>
        <p:txBody>
          <a:bodyPr/>
          <a:lstStyle/>
          <a:p>
            <a:r>
              <a:rPr lang="en-US"/>
              <a:t>Access the data anywhere</a:t>
            </a:r>
          </a:p>
        </p:txBody>
      </p:sp>
      <p:pic>
        <p:nvPicPr>
          <p:cNvPr id="10" name="Graphic 9">
            <a:extLst>
              <a:ext uri="{FF2B5EF4-FFF2-40B4-BE49-F238E27FC236}">
                <a16:creationId xmlns:a16="http://schemas.microsoft.com/office/drawing/2014/main" id="{3181B0D5-7745-4738-AA2C-597DBB03A23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76979" y="2054028"/>
            <a:ext cx="1542908" cy="1542908"/>
          </a:xfrm>
          <a:prstGeom prst="rect">
            <a:avLst/>
          </a:prstGeom>
        </p:spPr>
      </p:pic>
      <p:sp>
        <p:nvSpPr>
          <p:cNvPr id="9" name="TextBox 8">
            <a:extLst>
              <a:ext uri="{FF2B5EF4-FFF2-40B4-BE49-F238E27FC236}">
                <a16:creationId xmlns:a16="http://schemas.microsoft.com/office/drawing/2014/main" id="{4ACAB173-A427-4824-BCA1-599203B7CD9A}"/>
              </a:ext>
            </a:extLst>
          </p:cNvPr>
          <p:cNvSpPr txBox="1"/>
          <p:nvPr/>
        </p:nvSpPr>
        <p:spPr>
          <a:xfrm>
            <a:off x="985890" y="3839158"/>
            <a:ext cx="2301904" cy="646331"/>
          </a:xfrm>
          <a:prstGeom prst="rect">
            <a:avLst/>
          </a:prstGeom>
          <a:noFill/>
        </p:spPr>
        <p:txBody>
          <a:bodyPr wrap="square" rtlCol="0">
            <a:spAutoFit/>
          </a:bodyPr>
          <a:lstStyle/>
          <a:p>
            <a:pPr algn="ctr"/>
            <a:r>
              <a:rPr lang="en-US"/>
              <a:t>AWS Management Console</a:t>
            </a:r>
          </a:p>
        </p:txBody>
      </p:sp>
      <p:pic>
        <p:nvPicPr>
          <p:cNvPr id="12" name="Graphic 11">
            <a:extLst>
              <a:ext uri="{FF2B5EF4-FFF2-40B4-BE49-F238E27FC236}">
                <a16:creationId xmlns:a16="http://schemas.microsoft.com/office/drawing/2014/main" id="{6E54A14A-805D-40C9-8DCD-178BCB8AEA3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87811" y="2054028"/>
            <a:ext cx="1542908" cy="1542910"/>
          </a:xfrm>
          <a:prstGeom prst="rect">
            <a:avLst/>
          </a:prstGeom>
        </p:spPr>
      </p:pic>
      <p:sp>
        <p:nvSpPr>
          <p:cNvPr id="11" name="TextBox 10">
            <a:extLst>
              <a:ext uri="{FF2B5EF4-FFF2-40B4-BE49-F238E27FC236}">
                <a16:creationId xmlns:a16="http://schemas.microsoft.com/office/drawing/2014/main" id="{4812CB34-5679-431F-9125-10F18DCF5036}"/>
              </a:ext>
            </a:extLst>
          </p:cNvPr>
          <p:cNvSpPr txBox="1"/>
          <p:nvPr/>
        </p:nvSpPr>
        <p:spPr>
          <a:xfrm>
            <a:off x="4591495" y="3967256"/>
            <a:ext cx="2743195" cy="646331"/>
          </a:xfrm>
          <a:prstGeom prst="rect">
            <a:avLst/>
          </a:prstGeom>
          <a:noFill/>
        </p:spPr>
        <p:txBody>
          <a:bodyPr wrap="square" rtlCol="0">
            <a:spAutoFit/>
          </a:bodyPr>
          <a:lstStyle/>
          <a:p>
            <a:pPr algn="ctr"/>
            <a:r>
              <a:rPr lang="en-US"/>
              <a:t>AWS Command Line Interface</a:t>
            </a:r>
          </a:p>
        </p:txBody>
      </p:sp>
      <p:pic>
        <p:nvPicPr>
          <p:cNvPr id="7" name="Graphic 6">
            <a:extLst>
              <a:ext uri="{FF2B5EF4-FFF2-40B4-BE49-F238E27FC236}">
                <a16:creationId xmlns:a16="http://schemas.microsoft.com/office/drawing/2014/main" id="{A9B819B8-CA31-4639-9883-E642F05F811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21987" y="1906743"/>
            <a:ext cx="1862924" cy="1862924"/>
          </a:xfrm>
          <a:prstGeom prst="rect">
            <a:avLst/>
          </a:prstGeom>
        </p:spPr>
      </p:pic>
      <p:sp>
        <p:nvSpPr>
          <p:cNvPr id="8" name="TextBox 7">
            <a:extLst>
              <a:ext uri="{FF2B5EF4-FFF2-40B4-BE49-F238E27FC236}">
                <a16:creationId xmlns:a16="http://schemas.microsoft.com/office/drawing/2014/main" id="{A626DBBA-AD86-4B2A-8DF8-EE1D0231833D}"/>
              </a:ext>
            </a:extLst>
          </p:cNvPr>
          <p:cNvSpPr txBox="1"/>
          <p:nvPr/>
        </p:nvSpPr>
        <p:spPr>
          <a:xfrm>
            <a:off x="8638391" y="3977658"/>
            <a:ext cx="2133802" cy="369332"/>
          </a:xfrm>
          <a:prstGeom prst="rect">
            <a:avLst/>
          </a:prstGeom>
          <a:noFill/>
        </p:spPr>
        <p:txBody>
          <a:bodyPr wrap="square" rtlCol="0">
            <a:spAutoFit/>
          </a:bodyPr>
          <a:lstStyle/>
          <a:p>
            <a:pPr algn="ctr"/>
            <a:r>
              <a:rPr lang="en-US">
                <a:solidFill>
                  <a:srgbClr val="232F3E"/>
                </a:solidFill>
              </a:rPr>
              <a:t>SDK</a:t>
            </a:r>
          </a:p>
        </p:txBody>
      </p:sp>
    </p:spTree>
    <p:custDataLst>
      <p:tags r:id="rId1"/>
    </p:custDataLst>
    <p:extLst>
      <p:ext uri="{BB962C8B-B14F-4D97-AF65-F5344CB8AC3E}">
        <p14:creationId xmlns:p14="http://schemas.microsoft.com/office/powerpoint/2010/main" val="3238808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20</a:t>
            </a:fld>
            <a:endParaRPr lang="en-US"/>
          </a:p>
        </p:txBody>
      </p:sp>
      <p:sp>
        <p:nvSpPr>
          <p:cNvPr id="5" name="Title 4"/>
          <p:cNvSpPr>
            <a:spLocks noGrp="1"/>
          </p:cNvSpPr>
          <p:nvPr>
            <p:ph type="title"/>
          </p:nvPr>
        </p:nvSpPr>
        <p:spPr/>
        <p:txBody>
          <a:bodyPr/>
          <a:lstStyle/>
          <a:p>
            <a:r>
              <a:rPr lang="en-US"/>
              <a:t>Common use cases</a:t>
            </a:r>
          </a:p>
        </p:txBody>
      </p:sp>
      <p:sp>
        <p:nvSpPr>
          <p:cNvPr id="6" name="Content Placeholder 3">
            <a:extLst>
              <a:ext uri="{FF2B5EF4-FFF2-40B4-BE49-F238E27FC236}">
                <a16:creationId xmlns:a16="http://schemas.microsoft.com/office/drawing/2014/main" id="{D0F37895-00DE-2B4D-8B0D-E08599D01643}"/>
              </a:ext>
            </a:extLst>
          </p:cNvPr>
          <p:cNvSpPr>
            <a:spLocks noGrp="1"/>
          </p:cNvSpPr>
          <p:nvPr>
            <p:ph sz="quarter" idx="21"/>
          </p:nvPr>
        </p:nvSpPr>
        <p:spPr/>
        <p:txBody>
          <a:bodyPr>
            <a:normAutofit/>
          </a:bodyPr>
          <a:lstStyle/>
          <a:p>
            <a:pPr marL="457200" indent="-457200" algn="just">
              <a:lnSpc>
                <a:spcPct val="110000"/>
              </a:lnSpc>
              <a:spcBef>
                <a:spcPts val="800"/>
              </a:spcBef>
            </a:pPr>
            <a:r>
              <a:rPr lang="en-US"/>
              <a:t>Storing application assets</a:t>
            </a:r>
          </a:p>
          <a:p>
            <a:pPr marL="457200" indent="-457200" algn="just">
              <a:lnSpc>
                <a:spcPct val="110000"/>
              </a:lnSpc>
              <a:spcBef>
                <a:spcPts val="800"/>
              </a:spcBef>
            </a:pPr>
            <a:r>
              <a:rPr lang="en-US"/>
              <a:t>Static web hosting</a:t>
            </a:r>
          </a:p>
          <a:p>
            <a:pPr marL="457200" indent="-457200" algn="just">
              <a:lnSpc>
                <a:spcPct val="110000"/>
              </a:lnSpc>
              <a:spcBef>
                <a:spcPts val="800"/>
              </a:spcBef>
            </a:pPr>
            <a:r>
              <a:rPr lang="en-US"/>
              <a:t>Backup and disaster recovery (DR)</a:t>
            </a:r>
          </a:p>
          <a:p>
            <a:pPr marL="457200" indent="-457200" algn="just">
              <a:lnSpc>
                <a:spcPct val="110000"/>
              </a:lnSpc>
              <a:spcBef>
                <a:spcPts val="800"/>
              </a:spcBef>
            </a:pPr>
            <a:r>
              <a:rPr lang="en-US"/>
              <a:t>Staging area for big data</a:t>
            </a:r>
          </a:p>
          <a:p>
            <a:pPr marL="457200" indent="-457200" algn="just">
              <a:lnSpc>
                <a:spcPct val="110000"/>
              </a:lnSpc>
              <a:spcBef>
                <a:spcPts val="800"/>
              </a:spcBef>
            </a:pPr>
            <a:r>
              <a:rPr lang="en-US" i="1"/>
              <a:t>Many more….</a:t>
            </a:r>
            <a:endParaRPr lang="en-US" sz="2600" i="1"/>
          </a:p>
        </p:txBody>
      </p:sp>
      <p:pic>
        <p:nvPicPr>
          <p:cNvPr id="7" name="Picture 6">
            <a:extLst>
              <a:ext uri="{C183D7F6-B498-43B3-948B-1728B52AA6E4}">
                <adec:decorative xmlns:adec="http://schemas.microsoft.com/office/drawing/2017/decorative" val="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682472" y="1908607"/>
            <a:ext cx="1650248" cy="1520393"/>
          </a:xfrm>
          <a:prstGeom prst="rect">
            <a:avLst/>
          </a:prstGeom>
        </p:spPr>
      </p:pic>
    </p:spTree>
    <p:custDataLst>
      <p:tags r:id="rId1"/>
    </p:custDataLst>
    <p:extLst>
      <p:ext uri="{BB962C8B-B14F-4D97-AF65-F5344CB8AC3E}">
        <p14:creationId xmlns:p14="http://schemas.microsoft.com/office/powerpoint/2010/main" val="506845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A9C8185-9109-C1F9-C2A8-A3C2067BDB37}"/>
              </a:ext>
            </a:extLst>
          </p:cNvPr>
          <p:cNvSpPr>
            <a:spLocks noGrp="1"/>
          </p:cNvSpPr>
          <p:nvPr>
            <p:ph type="sldNum" sz="quarter" idx="20"/>
          </p:nvPr>
        </p:nvSpPr>
        <p:spPr>
          <a:xfrm>
            <a:off x="11469389" y="6582058"/>
            <a:ext cx="484261" cy="265176"/>
          </a:xfrm>
        </p:spPr>
        <p:txBody>
          <a:bodyPr/>
          <a:lstStyle/>
          <a:p>
            <a:fld id="{930176A1-BCF0-4712-97A6-6B495F55390B}" type="slidenum">
              <a:rPr lang="en-US" smtClean="0"/>
              <a:t>21</a:t>
            </a:fld>
            <a:endParaRPr lang="en-US"/>
          </a:p>
        </p:txBody>
      </p:sp>
      <p:sp>
        <p:nvSpPr>
          <p:cNvPr id="2" name="Title 1"/>
          <p:cNvSpPr>
            <a:spLocks noGrp="1"/>
          </p:cNvSpPr>
          <p:nvPr>
            <p:ph type="title"/>
          </p:nvPr>
        </p:nvSpPr>
        <p:spPr>
          <a:xfrm>
            <a:off x="365760" y="299526"/>
            <a:ext cx="11569209" cy="731318"/>
          </a:xfrm>
        </p:spPr>
        <p:txBody>
          <a:bodyPr/>
          <a:lstStyle/>
          <a:p>
            <a:r>
              <a:rPr lang="en-US"/>
              <a:t>Amazon S3 common scenarios</a:t>
            </a:r>
          </a:p>
        </p:txBody>
      </p:sp>
      <p:sp>
        <p:nvSpPr>
          <p:cNvPr id="27" name="Rounded Rectangle 26">
            <a:extLst>
              <a:ext uri="{C183D7F6-B498-43B3-948B-1728B52AA6E4}">
                <adec:decorative xmlns:adec="http://schemas.microsoft.com/office/drawing/2017/decorative" val="1"/>
              </a:ext>
            </a:extLst>
          </p:cNvPr>
          <p:cNvSpPr/>
          <p:nvPr/>
        </p:nvSpPr>
        <p:spPr bwMode="auto">
          <a:xfrm>
            <a:off x="303410" y="2276023"/>
            <a:ext cx="3951744" cy="2937108"/>
          </a:xfrm>
          <a:prstGeom prst="roundRect">
            <a:avLst>
              <a:gd name="adj" fmla="val 9244"/>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4" name="Content Placeholder 3"/>
          <p:cNvSpPr>
            <a:spLocks noGrp="1"/>
          </p:cNvSpPr>
          <p:nvPr>
            <p:ph idx="4294967295"/>
          </p:nvPr>
        </p:nvSpPr>
        <p:spPr>
          <a:xfrm>
            <a:off x="340945" y="2279535"/>
            <a:ext cx="3876675" cy="3005137"/>
          </a:xfrm>
        </p:spPr>
        <p:txBody>
          <a:bodyPr>
            <a:normAutofit/>
          </a:bodyPr>
          <a:lstStyle/>
          <a:p>
            <a:pPr>
              <a:lnSpc>
                <a:spcPct val="150000"/>
              </a:lnSpc>
              <a:spcBef>
                <a:spcPts val="0"/>
              </a:spcBef>
            </a:pPr>
            <a:r>
              <a:rPr lang="en-US"/>
              <a:t>Backup and storage</a:t>
            </a:r>
          </a:p>
          <a:p>
            <a:pPr>
              <a:lnSpc>
                <a:spcPct val="150000"/>
              </a:lnSpc>
              <a:spcBef>
                <a:spcPts val="0"/>
              </a:spcBef>
            </a:pPr>
            <a:r>
              <a:rPr lang="en-US"/>
              <a:t>Application hosting</a:t>
            </a:r>
          </a:p>
          <a:p>
            <a:pPr>
              <a:lnSpc>
                <a:spcPct val="150000"/>
              </a:lnSpc>
              <a:spcBef>
                <a:spcPts val="0"/>
              </a:spcBef>
            </a:pPr>
            <a:r>
              <a:rPr lang="en-US"/>
              <a:t>Media hosting</a:t>
            </a:r>
          </a:p>
          <a:p>
            <a:pPr>
              <a:lnSpc>
                <a:spcPct val="150000"/>
              </a:lnSpc>
              <a:spcBef>
                <a:spcPts val="0"/>
              </a:spcBef>
            </a:pPr>
            <a:r>
              <a:rPr lang="en-US"/>
              <a:t>Software delivery</a:t>
            </a:r>
          </a:p>
        </p:txBody>
      </p:sp>
      <p:sp>
        <p:nvSpPr>
          <p:cNvPr id="5" name="Rounded Rectangle 4">
            <a:extLst>
              <a:ext uri="{C183D7F6-B498-43B3-948B-1728B52AA6E4}">
                <adec:decorative xmlns:adec="http://schemas.microsoft.com/office/drawing/2017/decorative" val="1"/>
              </a:ext>
            </a:extLst>
          </p:cNvPr>
          <p:cNvSpPr/>
          <p:nvPr/>
        </p:nvSpPr>
        <p:spPr bwMode="auto">
          <a:xfrm>
            <a:off x="5254104" y="2443061"/>
            <a:ext cx="5237399" cy="2841611"/>
          </a:xfrm>
          <a:prstGeom prst="roundRect">
            <a:avLst>
              <a:gd name="adj" fmla="val 12690"/>
            </a:avLst>
          </a:prstGeom>
          <a:solidFill>
            <a:srgbClr val="EFFBFB"/>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nvGrpSpPr>
          <p:cNvPr id="10" name="Group 9" descr="Four Amazon S3 buckets.">
            <a:extLst>
              <a:ext uri="{FF2B5EF4-FFF2-40B4-BE49-F238E27FC236}">
                <a16:creationId xmlns:a16="http://schemas.microsoft.com/office/drawing/2014/main" id="{7256C24B-2AB4-4E25-81DE-DEBDE7099B09}"/>
              </a:ext>
            </a:extLst>
          </p:cNvPr>
          <p:cNvGrpSpPr/>
          <p:nvPr/>
        </p:nvGrpSpPr>
        <p:grpSpPr>
          <a:xfrm>
            <a:off x="7091272" y="3066927"/>
            <a:ext cx="1784576" cy="1825811"/>
            <a:chOff x="7091272" y="3066927"/>
            <a:chExt cx="1784576" cy="1825811"/>
          </a:xfrm>
        </p:grpSpPr>
        <p:pic>
          <p:nvPicPr>
            <p:cNvPr id="32"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096722" y="3070801"/>
              <a:ext cx="760824" cy="760824"/>
            </a:xfrm>
            <a:prstGeom prst="rect">
              <a:avLst/>
            </a:prstGeom>
          </p:spPr>
        </p:pic>
        <p:pic>
          <p:nvPicPr>
            <p:cNvPr id="33"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15024" y="3066927"/>
              <a:ext cx="760824" cy="760824"/>
            </a:xfrm>
            <a:prstGeom prst="rect">
              <a:avLst/>
            </a:prstGeom>
          </p:spPr>
        </p:pic>
        <p:pic>
          <p:nvPicPr>
            <p:cNvPr id="40"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091272" y="4131914"/>
              <a:ext cx="760824" cy="760824"/>
            </a:xfrm>
            <a:prstGeom prst="rect">
              <a:avLst/>
            </a:prstGeom>
          </p:spPr>
        </p:pic>
        <p:pic>
          <p:nvPicPr>
            <p:cNvPr id="43"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15024" y="4131914"/>
              <a:ext cx="760824" cy="760824"/>
            </a:xfrm>
            <a:prstGeom prst="rect">
              <a:avLst/>
            </a:prstGeom>
          </p:spPr>
        </p:pic>
      </p:grpSp>
      <p:cxnSp>
        <p:nvCxnSpPr>
          <p:cNvPr id="45" name="Straight Arrow Connector 44">
            <a:extLst>
              <a:ext uri="{C183D7F6-B498-43B3-948B-1728B52AA6E4}">
                <adec:decorative xmlns:adec="http://schemas.microsoft.com/office/drawing/2017/decorative" val="1"/>
              </a:ext>
            </a:extLst>
          </p:cNvPr>
          <p:cNvCxnSpPr/>
          <p:nvPr/>
        </p:nvCxnSpPr>
        <p:spPr>
          <a:xfrm>
            <a:off x="5617595" y="2910369"/>
            <a:ext cx="1374830" cy="350810"/>
          </a:xfrm>
          <a:prstGeom prst="bentConnector3">
            <a:avLst>
              <a:gd name="adj1" fmla="val 50000"/>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8" name="Picture 17" descr="Security camera."/>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02648" y="1804878"/>
            <a:ext cx="1455329" cy="992049"/>
          </a:xfrm>
          <a:prstGeom prst="rect">
            <a:avLst/>
          </a:prstGeom>
        </p:spPr>
      </p:pic>
      <p:sp>
        <p:nvSpPr>
          <p:cNvPr id="15" name="TextBox 33">
            <a:extLst>
              <a:ext uri="{C183D7F6-B498-43B3-948B-1728B52AA6E4}">
                <adec:decorative xmlns:adec="http://schemas.microsoft.com/office/drawing/2017/decorative" val="1"/>
              </a:ext>
            </a:extLst>
          </p:cNvPr>
          <p:cNvSpPr txBox="1">
            <a:spLocks noChangeArrowheads="1"/>
          </p:cNvSpPr>
          <p:nvPr/>
        </p:nvSpPr>
        <p:spPr bwMode="auto">
          <a:xfrm>
            <a:off x="6667808" y="3802405"/>
            <a:ext cx="2499852" cy="338554"/>
          </a:xfrm>
          <a:prstGeom prst="rect">
            <a:avLst/>
          </a:prstGeom>
          <a:noFill/>
          <a:ln w="9525">
            <a:noFill/>
            <a:miter lim="800000"/>
            <a:headEnd/>
            <a:tailEnd/>
          </a:ln>
        </p:spPr>
        <p:txBody>
          <a:bodyPr wrap="square">
            <a:spAutoFit/>
          </a:bodyPr>
          <a:lstStyle/>
          <a:p>
            <a:pPr algn="ctr"/>
            <a:r>
              <a:rPr lang="en-US" sz="1600">
                <a:latin typeface="Amazon Ember" panose="02000000000000000000" pitchFamily="2" charset="0"/>
                <a:ea typeface="Amazon Ember" panose="02000000000000000000" pitchFamily="2" charset="0"/>
                <a:cs typeface="Helvetica Neue"/>
              </a:rPr>
              <a:t>Amazon S3 buckets</a:t>
            </a:r>
          </a:p>
        </p:txBody>
      </p:sp>
      <p:grpSp>
        <p:nvGrpSpPr>
          <p:cNvPr id="8" name="Group 7">
            <a:extLst>
              <a:ext uri="{FF2B5EF4-FFF2-40B4-BE49-F238E27FC236}">
                <a16:creationId xmlns:a16="http://schemas.microsoft.com/office/drawing/2014/main" id="{453DC9DA-BACE-4177-8925-9AD73BA02922}"/>
              </a:ext>
              <a:ext uri="{C183D7F6-B498-43B3-948B-1728B52AA6E4}">
                <adec:decorative xmlns:adec="http://schemas.microsoft.com/office/drawing/2017/decorative" val="1"/>
              </a:ext>
            </a:extLst>
          </p:cNvPr>
          <p:cNvGrpSpPr/>
          <p:nvPr/>
        </p:nvGrpSpPr>
        <p:grpSpPr>
          <a:xfrm>
            <a:off x="4436738" y="4215111"/>
            <a:ext cx="1125353" cy="1276393"/>
            <a:chOff x="4622685" y="4283351"/>
            <a:chExt cx="1125353" cy="1276393"/>
          </a:xfrm>
        </p:grpSpPr>
        <p:sp>
          <p:nvSpPr>
            <p:cNvPr id="7" name="Rectangle 6">
              <a:extLst>
                <a:ext uri="{FF2B5EF4-FFF2-40B4-BE49-F238E27FC236}">
                  <a16:creationId xmlns:a16="http://schemas.microsoft.com/office/drawing/2014/main" id="{027C4D62-B362-4064-8482-5D3851DCEF6C}"/>
                </a:ext>
              </a:extLst>
            </p:cNvPr>
            <p:cNvSpPr/>
            <p:nvPr/>
          </p:nvSpPr>
          <p:spPr>
            <a:xfrm>
              <a:off x="4622685" y="4283351"/>
              <a:ext cx="1125353" cy="1276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Graphic 41" descr="ec2 instances.">
              <a:extLst>
                <a:ext uri="{FF2B5EF4-FFF2-40B4-BE49-F238E27FC236}">
                  <a16:creationId xmlns:a16="http://schemas.microsoft.com/office/drawing/2014/main" id="{A31E17E6-07DF-4A22-A760-16D26A3328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36721" y="4372907"/>
              <a:ext cx="1097280" cy="1097280"/>
            </a:xfrm>
            <a:prstGeom prst="rect">
              <a:avLst/>
            </a:prstGeom>
          </p:spPr>
        </p:pic>
      </p:grpSp>
      <p:cxnSp>
        <p:nvCxnSpPr>
          <p:cNvPr id="25" name="Straight Arrow Connector 24">
            <a:extLst>
              <a:ext uri="{C183D7F6-B498-43B3-948B-1728B52AA6E4}">
                <adec:decorative xmlns:adec="http://schemas.microsoft.com/office/drawing/2017/decorative" val="1"/>
              </a:ext>
            </a:extLst>
          </p:cNvPr>
          <p:cNvCxnSpPr/>
          <p:nvPr/>
        </p:nvCxnSpPr>
        <p:spPr>
          <a:xfrm flipV="1">
            <a:off x="5629250" y="4283351"/>
            <a:ext cx="1374830" cy="350810"/>
          </a:xfrm>
          <a:prstGeom prst="bentConnector3">
            <a:avLst>
              <a:gd name="adj1" fmla="val 50000"/>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33"/>
          <p:cNvSpPr txBox="1">
            <a:spLocks noChangeArrowheads="1"/>
          </p:cNvSpPr>
          <p:nvPr/>
        </p:nvSpPr>
        <p:spPr bwMode="auto">
          <a:xfrm>
            <a:off x="4208031" y="5560990"/>
            <a:ext cx="1582767" cy="923330"/>
          </a:xfrm>
          <a:prstGeom prst="rect">
            <a:avLst/>
          </a:prstGeom>
          <a:noFill/>
          <a:ln w="9525">
            <a:noFill/>
            <a:miter lim="800000"/>
            <a:headEnd/>
            <a:tailEnd/>
          </a:ln>
        </p:spPr>
        <p:txBody>
          <a:bodyPr wrap="square">
            <a:spAutoFit/>
          </a:bodyPr>
          <a:lstStyle/>
          <a:p>
            <a:pPr algn="ctr"/>
            <a:r>
              <a:rPr lang="en-US">
                <a:latin typeface="Amazon Ember" panose="02000000000000000000" pitchFamily="2" charset="0"/>
                <a:ea typeface="Amazon Ember" panose="02000000000000000000" pitchFamily="2" charset="0"/>
                <a:cs typeface="Arial"/>
              </a:rPr>
              <a:t>Amazon </a:t>
            </a:r>
            <a:br>
              <a:rPr lang="en-US">
                <a:latin typeface="Amazon Ember" panose="02000000000000000000" pitchFamily="2" charset="0"/>
                <a:ea typeface="Amazon Ember" panose="02000000000000000000" pitchFamily="2" charset="0"/>
                <a:cs typeface="Arial"/>
              </a:rPr>
            </a:br>
            <a:r>
              <a:rPr lang="en-US">
                <a:latin typeface="Amazon Ember" panose="02000000000000000000" pitchFamily="2" charset="0"/>
                <a:ea typeface="Amazon Ember" panose="02000000000000000000" pitchFamily="2" charset="0"/>
                <a:cs typeface="Arial"/>
              </a:rPr>
              <a:t>EC2</a:t>
            </a:r>
            <a:br>
              <a:rPr lang="en-US">
                <a:latin typeface="Amazon Ember" panose="02000000000000000000" pitchFamily="2" charset="0"/>
                <a:ea typeface="Amazon Ember" panose="02000000000000000000" pitchFamily="2" charset="0"/>
                <a:cs typeface="Arial"/>
              </a:rPr>
            </a:br>
            <a:r>
              <a:rPr lang="en-US">
                <a:latin typeface="Amazon Ember" panose="02000000000000000000" pitchFamily="2" charset="0"/>
                <a:ea typeface="Amazon Ember" panose="02000000000000000000" pitchFamily="2" charset="0"/>
                <a:cs typeface="Arial"/>
              </a:rPr>
              <a:t>instances</a:t>
            </a:r>
          </a:p>
        </p:txBody>
      </p:sp>
      <p:grpSp>
        <p:nvGrpSpPr>
          <p:cNvPr id="41" name="Group 40" descr="Corporate data center."/>
          <p:cNvGrpSpPr/>
          <p:nvPr/>
        </p:nvGrpSpPr>
        <p:grpSpPr>
          <a:xfrm>
            <a:off x="5873317" y="4901011"/>
            <a:ext cx="2022803" cy="1673565"/>
            <a:chOff x="5647672" y="4937078"/>
            <a:chExt cx="1528127" cy="1371711"/>
          </a:xfrm>
        </p:grpSpPr>
        <p:sp>
          <p:nvSpPr>
            <p:cNvPr id="34" name="Rounded Rectangle 33"/>
            <p:cNvSpPr/>
            <p:nvPr/>
          </p:nvSpPr>
          <p:spPr>
            <a:xfrm>
              <a:off x="5695456" y="4937078"/>
              <a:ext cx="1432560" cy="1371711"/>
            </a:xfrm>
            <a:prstGeom prst="roundRect">
              <a:avLst>
                <a:gd name="adj" fmla="val 9818"/>
              </a:avLst>
            </a:prstGeom>
            <a:solidFill>
              <a:srgbClr val="EBF4FB"/>
            </a:solidFill>
            <a:ln w="28575">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tx1"/>
                </a:solidFill>
                <a:latin typeface="Arial"/>
                <a:cs typeface="Arial"/>
              </a:endParaRPr>
            </a:p>
          </p:txBody>
        </p:sp>
        <p:sp>
          <p:nvSpPr>
            <p:cNvPr id="35" name="TextBox 37">
              <a:extLst>
                <a:ext uri="{FF2B5EF4-FFF2-40B4-BE49-F238E27FC236}">
                  <a16:creationId xmlns:a16="http://schemas.microsoft.com/office/drawing/2014/main" id="{3DB32D29-E6FC-C441-85C5-1887B1C476A1}"/>
                </a:ext>
              </a:extLst>
            </p:cNvPr>
            <p:cNvSpPr txBox="1">
              <a:spLocks noChangeArrowheads="1"/>
            </p:cNvSpPr>
            <p:nvPr/>
          </p:nvSpPr>
          <p:spPr bwMode="auto">
            <a:xfrm>
              <a:off x="5647672" y="4991859"/>
              <a:ext cx="1528127" cy="529755"/>
            </a:xfrm>
            <a:prstGeom prst="rect">
              <a:avLst/>
            </a:prstGeom>
            <a:noFill/>
            <a:ln w="9525">
              <a:noFill/>
              <a:miter lim="800000"/>
              <a:headEnd/>
              <a:tailEnd/>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609585">
                <a:defRPr/>
              </a:pPr>
              <a:r>
                <a:rPr lang="en-US">
                  <a:latin typeface="Amazon Ember" panose="02000000000000000000" pitchFamily="2" charset="0"/>
                  <a:ea typeface="Amazon Ember" panose="02000000000000000000" pitchFamily="2" charset="0"/>
                  <a:cs typeface="Arial"/>
                </a:rPr>
                <a:t>Corporate</a:t>
              </a:r>
              <a:br>
                <a:rPr lang="en-US">
                  <a:latin typeface="Amazon Ember" panose="02000000000000000000" pitchFamily="2" charset="0"/>
                  <a:ea typeface="Amazon Ember" panose="02000000000000000000" pitchFamily="2" charset="0"/>
                  <a:cs typeface="Arial"/>
                </a:rPr>
              </a:br>
              <a:r>
                <a:rPr lang="en-US">
                  <a:latin typeface="Amazon Ember" panose="02000000000000000000" pitchFamily="2" charset="0"/>
                  <a:ea typeface="Amazon Ember" panose="02000000000000000000" pitchFamily="2" charset="0"/>
                  <a:cs typeface="Arial"/>
                </a:rPr>
                <a:t>data center</a:t>
              </a:r>
            </a:p>
          </p:txBody>
        </p:sp>
        <p:pic>
          <p:nvPicPr>
            <p:cNvPr id="36" name="Picture 35">
              <a:extLst>
                <a:ext uri="{C183D7F6-B498-43B3-948B-1728B52AA6E4}">
                  <adec:decorative xmlns:adec="http://schemas.microsoft.com/office/drawing/2017/decorative" val="1"/>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5940621" y="5447234"/>
              <a:ext cx="942230" cy="804266"/>
            </a:xfrm>
            <a:prstGeom prst="rect">
              <a:avLst/>
            </a:prstGeom>
          </p:spPr>
        </p:pic>
      </p:grpSp>
      <p:cxnSp>
        <p:nvCxnSpPr>
          <p:cNvPr id="44" name="Straight Arrow Connector 43">
            <a:extLst>
              <a:ext uri="{C183D7F6-B498-43B3-948B-1728B52AA6E4}">
                <adec:decorative xmlns:adec="http://schemas.microsoft.com/office/drawing/2017/decorative" val="1"/>
              </a:ext>
            </a:extLst>
          </p:cNvPr>
          <p:cNvCxnSpPr/>
          <p:nvPr/>
        </p:nvCxnSpPr>
        <p:spPr>
          <a:xfrm flipV="1">
            <a:off x="8997138" y="2919435"/>
            <a:ext cx="1374830" cy="350810"/>
          </a:xfrm>
          <a:prstGeom prst="bentConnector3">
            <a:avLst>
              <a:gd name="adj1" fmla="val 50000"/>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1" name="Group 10" descr="Collection of smart phone apps.">
            <a:extLst>
              <a:ext uri="{FF2B5EF4-FFF2-40B4-BE49-F238E27FC236}">
                <a16:creationId xmlns:a16="http://schemas.microsoft.com/office/drawing/2014/main" id="{80108303-8228-4FB7-B509-1323AAEA598D}"/>
              </a:ext>
            </a:extLst>
          </p:cNvPr>
          <p:cNvGrpSpPr/>
          <p:nvPr/>
        </p:nvGrpSpPr>
        <p:grpSpPr>
          <a:xfrm>
            <a:off x="9408431" y="1292644"/>
            <a:ext cx="2232142" cy="2404454"/>
            <a:chOff x="9408431" y="1415476"/>
            <a:chExt cx="2232142" cy="2404454"/>
          </a:xfrm>
        </p:grpSpPr>
        <p:pic>
          <p:nvPicPr>
            <p:cNvPr id="20" name="Picture 19">
              <a:extLs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408431" y="1415476"/>
              <a:ext cx="2148946" cy="1794370"/>
            </a:xfrm>
            <a:prstGeom prst="rect">
              <a:avLst/>
            </a:prstGeom>
          </p:spPr>
        </p:pic>
        <p:pic>
          <p:nvPicPr>
            <p:cNvPr id="17" name="Picture 16">
              <a:extLst>
                <a:ext uri="{C183D7F6-B498-43B3-948B-1728B52AA6E4}">
                  <adec:decorative xmlns:adec="http://schemas.microsoft.com/office/drawing/2017/decorative" val="1"/>
                </a:ext>
              </a:extLst>
            </p:cNvPr>
            <p:cNvPicPr>
              <a:picLocks noChangeAspect="1"/>
            </p:cNvPicPr>
            <p:nvPr/>
          </p:nvPicPr>
          <p:blipFill rotWithShape="1">
            <a:blip r:embed="rId10" cstate="screen">
              <a:extLst>
                <a:ext uri="{28A0092B-C50C-407E-A947-70E740481C1C}">
                  <a14:useLocalDpi xmlns:a14="http://schemas.microsoft.com/office/drawing/2010/main"/>
                </a:ext>
              </a:extLst>
            </a:blip>
            <a:srcRect l="38697" t="19801" r="34066" b="17723"/>
            <a:stretch/>
          </p:blipFill>
          <p:spPr>
            <a:xfrm>
              <a:off x="10491503" y="2282444"/>
              <a:ext cx="1149070" cy="1537486"/>
            </a:xfrm>
            <a:prstGeom prst="rect">
              <a:avLst/>
            </a:prstGeom>
          </p:spPr>
        </p:pic>
      </p:grpSp>
      <p:cxnSp>
        <p:nvCxnSpPr>
          <p:cNvPr id="46" name="Straight Arrow Connector 45">
            <a:extLst>
              <a:ext uri="{C183D7F6-B498-43B3-948B-1728B52AA6E4}">
                <adec:decorative xmlns:adec="http://schemas.microsoft.com/office/drawing/2017/decorative" val="1"/>
              </a:ext>
            </a:extLst>
          </p:cNvPr>
          <p:cNvCxnSpPr/>
          <p:nvPr/>
        </p:nvCxnSpPr>
        <p:spPr>
          <a:xfrm>
            <a:off x="8951647" y="4342332"/>
            <a:ext cx="1374830" cy="350810"/>
          </a:xfrm>
          <a:prstGeom prst="bentConnector3">
            <a:avLst>
              <a:gd name="adj1" fmla="val 50000"/>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1" name="Picture 20" descr="Compute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10120430" y="4155142"/>
            <a:ext cx="2008170" cy="2008170"/>
          </a:xfrm>
          <a:prstGeom prst="rect">
            <a:avLst/>
          </a:prstGeom>
        </p:spPr>
      </p:pic>
    </p:spTree>
    <p:custDataLst>
      <p:tags r:id="rId1"/>
    </p:custDataLst>
    <p:extLst>
      <p:ext uri="{BB962C8B-B14F-4D97-AF65-F5344CB8AC3E}">
        <p14:creationId xmlns:p14="http://schemas.microsoft.com/office/powerpoint/2010/main" val="3744291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22</a:t>
            </a:fld>
            <a:endParaRPr lang="en-US"/>
          </a:p>
        </p:txBody>
      </p:sp>
      <p:sp>
        <p:nvSpPr>
          <p:cNvPr id="2" name="Title 1"/>
          <p:cNvSpPr>
            <a:spLocks noGrp="1"/>
          </p:cNvSpPr>
          <p:nvPr>
            <p:ph type="title"/>
          </p:nvPr>
        </p:nvSpPr>
        <p:spPr/>
        <p:txBody>
          <a:bodyPr/>
          <a:lstStyle/>
          <a:p>
            <a:r>
              <a:rPr lang="en-US"/>
              <a:t>Amazon S3 pricing </a:t>
            </a:r>
          </a:p>
        </p:txBody>
      </p:sp>
      <p:sp>
        <p:nvSpPr>
          <p:cNvPr id="3" name="Content Placeholder 2"/>
          <p:cNvSpPr>
            <a:spLocks noGrp="1"/>
          </p:cNvSpPr>
          <p:nvPr>
            <p:ph sz="quarter" idx="21"/>
          </p:nvPr>
        </p:nvSpPr>
        <p:spPr/>
        <p:txBody>
          <a:bodyPr>
            <a:normAutofit/>
          </a:bodyPr>
          <a:lstStyle/>
          <a:p>
            <a:pPr marL="457200" indent="-457200" algn="just">
              <a:spcAft>
                <a:spcPts val="800"/>
              </a:spcAft>
            </a:pPr>
            <a:r>
              <a:rPr lang="en-US"/>
              <a:t>Pay only for what you use, including – </a:t>
            </a:r>
          </a:p>
          <a:p>
            <a:pPr marL="914400" lvl="1" indent="-457200">
              <a:lnSpc>
                <a:spcPct val="120000"/>
              </a:lnSpc>
              <a:spcBef>
                <a:spcPts val="0"/>
              </a:spcBef>
            </a:pPr>
            <a:r>
              <a:rPr lang="en-US"/>
              <a:t>GBs per month</a:t>
            </a:r>
          </a:p>
          <a:p>
            <a:pPr marL="914400" lvl="1" indent="-457200">
              <a:lnSpc>
                <a:spcPct val="120000"/>
              </a:lnSpc>
              <a:spcBef>
                <a:spcPts val="0"/>
              </a:spcBef>
            </a:pPr>
            <a:r>
              <a:rPr lang="en-US"/>
              <a:t>Transfer OUT to other Regions</a:t>
            </a:r>
          </a:p>
          <a:p>
            <a:pPr marL="914400" lvl="1" indent="-457200">
              <a:lnSpc>
                <a:spcPct val="120000"/>
              </a:lnSpc>
              <a:spcBef>
                <a:spcPts val="0"/>
              </a:spcBef>
            </a:pPr>
            <a:r>
              <a:rPr lang="en-US"/>
              <a:t>PUT, COPY, POST, LIST, and GET requests</a:t>
            </a:r>
          </a:p>
          <a:p>
            <a:pPr marL="234945" lvl="1" indent="0">
              <a:spcAft>
                <a:spcPts val="800"/>
              </a:spcAft>
              <a:buNone/>
            </a:pPr>
            <a:endParaRPr lang="en-US" sz="1333"/>
          </a:p>
          <a:p>
            <a:pPr indent="-457200">
              <a:spcAft>
                <a:spcPts val="800"/>
              </a:spcAft>
            </a:pPr>
            <a:r>
              <a:rPr lang="en-US"/>
              <a:t>You do not pay for – </a:t>
            </a:r>
          </a:p>
          <a:p>
            <a:pPr marL="914400" lvl="1" indent="-457200">
              <a:lnSpc>
                <a:spcPct val="120000"/>
              </a:lnSpc>
              <a:spcBef>
                <a:spcPts val="0"/>
              </a:spcBef>
            </a:pPr>
            <a:r>
              <a:rPr lang="en-US"/>
              <a:t>Transfers IN to Amazon S3</a:t>
            </a:r>
          </a:p>
          <a:p>
            <a:pPr marL="914400" lvl="1" indent="-457200">
              <a:lnSpc>
                <a:spcPct val="120000"/>
              </a:lnSpc>
              <a:spcBef>
                <a:spcPts val="0"/>
              </a:spcBef>
            </a:pPr>
            <a:r>
              <a:rPr lang="en-US"/>
              <a:t>Transfers OUT from Amazon S3 to Amazon CloudFront or Amazon EC2 in the same Region</a:t>
            </a:r>
          </a:p>
        </p:txBody>
      </p:sp>
    </p:spTree>
    <p:custDataLst>
      <p:tags r:id="rId1"/>
    </p:custDataLst>
    <p:extLst>
      <p:ext uri="{BB962C8B-B14F-4D97-AF65-F5344CB8AC3E}">
        <p14:creationId xmlns:p14="http://schemas.microsoft.com/office/powerpoint/2010/main" val="3051792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23</a:t>
            </a:fld>
            <a:endParaRPr lang="en-US"/>
          </a:p>
        </p:txBody>
      </p:sp>
      <p:sp>
        <p:nvSpPr>
          <p:cNvPr id="4" name="Title 1"/>
          <p:cNvSpPr>
            <a:spLocks noGrp="1"/>
          </p:cNvSpPr>
          <p:nvPr>
            <p:ph type="title"/>
          </p:nvPr>
        </p:nvSpPr>
        <p:spPr/>
        <p:txBody>
          <a:bodyPr/>
          <a:lstStyle/>
          <a:p>
            <a:r>
              <a:rPr lang="en-US"/>
              <a:t>Amazon S3: Storage pricing (1 of 2)</a:t>
            </a:r>
          </a:p>
        </p:txBody>
      </p:sp>
      <p:sp>
        <p:nvSpPr>
          <p:cNvPr id="5" name="Content Placeholder 2"/>
          <p:cNvSpPr>
            <a:spLocks noGrp="1"/>
          </p:cNvSpPr>
          <p:nvPr>
            <p:ph sz="quarter" idx="21"/>
          </p:nvPr>
        </p:nvSpPr>
        <p:spPr/>
        <p:txBody>
          <a:bodyPr>
            <a:normAutofit lnSpcReduction="10000"/>
          </a:bodyPr>
          <a:lstStyle/>
          <a:p>
            <a:pPr marL="0" indent="0">
              <a:buNone/>
            </a:pPr>
            <a:r>
              <a:rPr lang="en-US"/>
              <a:t>To estimate Amazon S3 costs, consider the following:</a:t>
            </a:r>
          </a:p>
          <a:p>
            <a:pPr marL="514350" indent="-514350">
              <a:buFont typeface="+mj-lt"/>
              <a:buAutoNum type="arabicPeriod"/>
            </a:pP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Storage class type – </a:t>
            </a:r>
          </a:p>
          <a:p>
            <a:pPr marL="922338" lvl="1" indent="-465138"/>
            <a:r>
              <a:rPr lang="en-US" sz="2800"/>
              <a:t>Standard storage is designed for:</a:t>
            </a:r>
          </a:p>
          <a:p>
            <a:pPr marL="1384300" lvl="2" indent="-469900"/>
            <a:r>
              <a:rPr lang="en-US" sz="2400"/>
              <a:t>11 9s of durability</a:t>
            </a:r>
          </a:p>
          <a:p>
            <a:pPr marL="1384300" lvl="2" indent="-469900"/>
            <a:r>
              <a:rPr lang="en-US" sz="2400"/>
              <a:t>Four 9s of availability</a:t>
            </a:r>
          </a:p>
          <a:p>
            <a:pPr marL="981075" lvl="1" indent="-523875"/>
            <a:r>
              <a:rPr lang="en-US" sz="2800"/>
              <a:t>S3 Standard-Infrequent Access (S-IA) is designed for:</a:t>
            </a:r>
          </a:p>
          <a:p>
            <a:pPr marL="1384300" lvl="2" indent="-469900"/>
            <a:r>
              <a:rPr lang="en-US" sz="2400"/>
              <a:t>11 9s of durability</a:t>
            </a:r>
          </a:p>
          <a:p>
            <a:pPr marL="1384300" lvl="2" indent="-469900"/>
            <a:r>
              <a:rPr lang="en-US" sz="2400"/>
              <a:t>Three 9s of availability</a:t>
            </a:r>
          </a:p>
          <a:p>
            <a:pPr marL="514350" indent="-514350">
              <a:buFont typeface="+mj-lt"/>
              <a:buAutoNum type="arabicPeriod"/>
            </a:pP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Amount of storage – </a:t>
            </a:r>
          </a:p>
          <a:p>
            <a:pPr marL="922338" lvl="1" indent="-465138"/>
            <a:r>
              <a:rPr lang="en-US"/>
              <a:t>The number and size of objects</a:t>
            </a:r>
          </a:p>
          <a:p>
            <a:pPr lvl="1"/>
            <a:endParaRPr lang="en-US"/>
          </a:p>
        </p:txBody>
      </p:sp>
    </p:spTree>
    <p:custDataLst>
      <p:tags r:id="rId1"/>
    </p:custDataLst>
    <p:extLst>
      <p:ext uri="{BB962C8B-B14F-4D97-AF65-F5344CB8AC3E}">
        <p14:creationId xmlns:p14="http://schemas.microsoft.com/office/powerpoint/2010/main" val="31706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0" end="0"/>
                                            </p:txEl>
                                          </p:spTgt>
                                        </p:tgtEl>
                                        <p:attrNameLst>
                                          <p:attrName>style.color</p:attrName>
                                        </p:attrNameLst>
                                      </p:cBhvr>
                                      <p:to>
                                        <p:clrVal>
                                          <a:schemeClr val="accent2"/>
                                        </p:clrVal>
                                      </p:to>
                                    </p:set>
                                    <p:set>
                                      <p:cBhvr>
                                        <p:cTn id="7" dur="500" fill="hold"/>
                                        <p:tgtEl>
                                          <p:spTgt spid="5">
                                            <p:txEl>
                                              <p:pRg st="0" end="0"/>
                                            </p:txEl>
                                          </p:spTgt>
                                        </p:tgtEl>
                                        <p:attrNameLst>
                                          <p:attrName>fillcolor</p:attrName>
                                        </p:attrNameLst>
                                      </p:cBhvr>
                                      <p:to>
                                        <p:clrVal>
                                          <a:schemeClr val="accent2"/>
                                        </p:clrVal>
                                      </p:to>
                                    </p:set>
                                    <p:set>
                                      <p:cBhvr>
                                        <p:cTn id="8" dur="500" fill="hold"/>
                                        <p:tgtEl>
                                          <p:spTgt spid="5">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1" end="1"/>
                                            </p:txEl>
                                          </p:spTgt>
                                        </p:tgtEl>
                                        <p:attrNameLst>
                                          <p:attrName>style.color</p:attrName>
                                        </p:attrNameLst>
                                      </p:cBhvr>
                                      <p:to>
                                        <p:clrVal>
                                          <a:schemeClr val="accent2"/>
                                        </p:clrVal>
                                      </p:to>
                                    </p:set>
                                    <p:set>
                                      <p:cBhvr>
                                        <p:cTn id="13" dur="500" fill="hold"/>
                                        <p:tgtEl>
                                          <p:spTgt spid="5">
                                            <p:txEl>
                                              <p:pRg st="1" end="1"/>
                                            </p:txEl>
                                          </p:spTgt>
                                        </p:tgtEl>
                                        <p:attrNameLst>
                                          <p:attrName>fillcolor</p:attrName>
                                        </p:attrNameLst>
                                      </p:cBhvr>
                                      <p:to>
                                        <p:clrVal>
                                          <a:schemeClr val="accent2"/>
                                        </p:clrVal>
                                      </p:to>
                                    </p:set>
                                    <p:set>
                                      <p:cBhvr>
                                        <p:cTn id="14" dur="500" fill="hold"/>
                                        <p:tgtEl>
                                          <p:spTgt spid="5">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2" end="2"/>
                                            </p:txEl>
                                          </p:spTgt>
                                        </p:tgtEl>
                                        <p:attrNameLst>
                                          <p:attrName>style.color</p:attrName>
                                        </p:attrNameLst>
                                      </p:cBhvr>
                                      <p:to>
                                        <p:clrVal>
                                          <a:schemeClr val="accent2"/>
                                        </p:clrVal>
                                      </p:to>
                                    </p:set>
                                    <p:set>
                                      <p:cBhvr>
                                        <p:cTn id="19" dur="500" fill="hold"/>
                                        <p:tgtEl>
                                          <p:spTgt spid="5">
                                            <p:txEl>
                                              <p:pRg st="2" end="2"/>
                                            </p:txEl>
                                          </p:spTgt>
                                        </p:tgtEl>
                                        <p:attrNameLst>
                                          <p:attrName>fillcolor</p:attrName>
                                        </p:attrNameLst>
                                      </p:cBhvr>
                                      <p:to>
                                        <p:clrVal>
                                          <a:schemeClr val="accent2"/>
                                        </p:clrVal>
                                      </p:to>
                                    </p:set>
                                    <p:set>
                                      <p:cBhvr>
                                        <p:cTn id="20" dur="500" fill="hold"/>
                                        <p:tgtEl>
                                          <p:spTgt spid="5">
                                            <p:txEl>
                                              <p:pRg st="2" end="2"/>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3" end="3"/>
                                            </p:txEl>
                                          </p:spTgt>
                                        </p:tgtEl>
                                        <p:attrNameLst>
                                          <p:attrName>style.color</p:attrName>
                                        </p:attrNameLst>
                                      </p:cBhvr>
                                      <p:to>
                                        <p:clrVal>
                                          <a:schemeClr val="accent2"/>
                                        </p:clrVal>
                                      </p:to>
                                    </p:set>
                                    <p:set>
                                      <p:cBhvr>
                                        <p:cTn id="25" dur="500" fill="hold"/>
                                        <p:tgtEl>
                                          <p:spTgt spid="5">
                                            <p:txEl>
                                              <p:pRg st="3" end="3"/>
                                            </p:txEl>
                                          </p:spTgt>
                                        </p:tgtEl>
                                        <p:attrNameLst>
                                          <p:attrName>fillcolor</p:attrName>
                                        </p:attrNameLst>
                                      </p:cBhvr>
                                      <p:to>
                                        <p:clrVal>
                                          <a:schemeClr val="accent2"/>
                                        </p:clrVal>
                                      </p:to>
                                    </p:set>
                                    <p:set>
                                      <p:cBhvr>
                                        <p:cTn id="26" dur="500" fill="hold"/>
                                        <p:tgtEl>
                                          <p:spTgt spid="5">
                                            <p:txEl>
                                              <p:pRg st="3" end="3"/>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4" end="4"/>
                                            </p:txEl>
                                          </p:spTgt>
                                        </p:tgtEl>
                                        <p:attrNameLst>
                                          <p:attrName>style.color</p:attrName>
                                        </p:attrNameLst>
                                      </p:cBhvr>
                                      <p:to>
                                        <p:clrVal>
                                          <a:schemeClr val="accent2"/>
                                        </p:clrVal>
                                      </p:to>
                                    </p:set>
                                    <p:set>
                                      <p:cBhvr>
                                        <p:cTn id="31" dur="500" fill="hold"/>
                                        <p:tgtEl>
                                          <p:spTgt spid="5">
                                            <p:txEl>
                                              <p:pRg st="4" end="4"/>
                                            </p:txEl>
                                          </p:spTgt>
                                        </p:tgtEl>
                                        <p:attrNameLst>
                                          <p:attrName>fillcolor</p:attrName>
                                        </p:attrNameLst>
                                      </p:cBhvr>
                                      <p:to>
                                        <p:clrVal>
                                          <a:schemeClr val="accent2"/>
                                        </p:clrVal>
                                      </p:to>
                                    </p:set>
                                    <p:set>
                                      <p:cBhvr>
                                        <p:cTn id="32" dur="500" fill="hold"/>
                                        <p:tgtEl>
                                          <p:spTgt spid="5">
                                            <p:txEl>
                                              <p:pRg st="4" end="4"/>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5">
                                            <p:txEl>
                                              <p:pRg st="5" end="5"/>
                                            </p:txEl>
                                          </p:spTgt>
                                        </p:tgtEl>
                                        <p:attrNameLst>
                                          <p:attrName>style.color</p:attrName>
                                        </p:attrNameLst>
                                      </p:cBhvr>
                                      <p:to>
                                        <p:clrVal>
                                          <a:schemeClr val="accent2"/>
                                        </p:clrVal>
                                      </p:to>
                                    </p:set>
                                    <p:set>
                                      <p:cBhvr>
                                        <p:cTn id="37" dur="500" fill="hold"/>
                                        <p:tgtEl>
                                          <p:spTgt spid="5">
                                            <p:txEl>
                                              <p:pRg st="5" end="5"/>
                                            </p:txEl>
                                          </p:spTgt>
                                        </p:tgtEl>
                                        <p:attrNameLst>
                                          <p:attrName>fillcolor</p:attrName>
                                        </p:attrNameLst>
                                      </p:cBhvr>
                                      <p:to>
                                        <p:clrVal>
                                          <a:schemeClr val="accent2"/>
                                        </p:clrVal>
                                      </p:to>
                                    </p:set>
                                    <p:set>
                                      <p:cBhvr>
                                        <p:cTn id="38" dur="500" fill="hold"/>
                                        <p:tgtEl>
                                          <p:spTgt spid="5">
                                            <p:txEl>
                                              <p:pRg st="5" end="5"/>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5">
                                            <p:txEl>
                                              <p:pRg st="6" end="6"/>
                                            </p:txEl>
                                          </p:spTgt>
                                        </p:tgtEl>
                                        <p:attrNameLst>
                                          <p:attrName>style.color</p:attrName>
                                        </p:attrNameLst>
                                      </p:cBhvr>
                                      <p:to>
                                        <p:clrVal>
                                          <a:schemeClr val="accent2"/>
                                        </p:clrVal>
                                      </p:to>
                                    </p:set>
                                    <p:set>
                                      <p:cBhvr>
                                        <p:cTn id="43" dur="500" fill="hold"/>
                                        <p:tgtEl>
                                          <p:spTgt spid="5">
                                            <p:txEl>
                                              <p:pRg st="6" end="6"/>
                                            </p:txEl>
                                          </p:spTgt>
                                        </p:tgtEl>
                                        <p:attrNameLst>
                                          <p:attrName>fillcolor</p:attrName>
                                        </p:attrNameLst>
                                      </p:cBhvr>
                                      <p:to>
                                        <p:clrVal>
                                          <a:schemeClr val="accent2"/>
                                        </p:clrVal>
                                      </p:to>
                                    </p:set>
                                    <p:set>
                                      <p:cBhvr>
                                        <p:cTn id="44" dur="500" fill="hold"/>
                                        <p:tgtEl>
                                          <p:spTgt spid="5">
                                            <p:txEl>
                                              <p:pRg st="6" end="6"/>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16" presetClass="emph" presetSubtype="0" fill="hold" nodeType="clickEffect">
                                  <p:stCondLst>
                                    <p:cond delay="0"/>
                                  </p:stCondLst>
                                  <p:iterate type="lt">
                                    <p:tmPct val="4000"/>
                                  </p:iterate>
                                  <p:childTnLst>
                                    <p:set>
                                      <p:cBhvr override="childStyle">
                                        <p:cTn id="48" dur="500" fill="hold"/>
                                        <p:tgtEl>
                                          <p:spTgt spid="5">
                                            <p:txEl>
                                              <p:pRg st="7" end="7"/>
                                            </p:txEl>
                                          </p:spTgt>
                                        </p:tgtEl>
                                        <p:attrNameLst>
                                          <p:attrName>style.color</p:attrName>
                                        </p:attrNameLst>
                                      </p:cBhvr>
                                      <p:to>
                                        <p:clrVal>
                                          <a:schemeClr val="accent2"/>
                                        </p:clrVal>
                                      </p:to>
                                    </p:set>
                                    <p:set>
                                      <p:cBhvr>
                                        <p:cTn id="49" dur="500" fill="hold"/>
                                        <p:tgtEl>
                                          <p:spTgt spid="5">
                                            <p:txEl>
                                              <p:pRg st="7" end="7"/>
                                            </p:txEl>
                                          </p:spTgt>
                                        </p:tgtEl>
                                        <p:attrNameLst>
                                          <p:attrName>fillcolor</p:attrName>
                                        </p:attrNameLst>
                                      </p:cBhvr>
                                      <p:to>
                                        <p:clrVal>
                                          <a:schemeClr val="accent2"/>
                                        </p:clrVal>
                                      </p:to>
                                    </p:set>
                                    <p:set>
                                      <p:cBhvr>
                                        <p:cTn id="50" dur="500" fill="hold"/>
                                        <p:tgtEl>
                                          <p:spTgt spid="5">
                                            <p:txEl>
                                              <p:pRg st="7" end="7"/>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16" presetClass="emph" presetSubtype="0" fill="hold" nodeType="clickEffect">
                                  <p:stCondLst>
                                    <p:cond delay="0"/>
                                  </p:stCondLst>
                                  <p:iterate type="lt">
                                    <p:tmPct val="4000"/>
                                  </p:iterate>
                                  <p:childTnLst>
                                    <p:set>
                                      <p:cBhvr override="childStyle">
                                        <p:cTn id="54" dur="500" fill="hold"/>
                                        <p:tgtEl>
                                          <p:spTgt spid="5">
                                            <p:txEl>
                                              <p:pRg st="8" end="8"/>
                                            </p:txEl>
                                          </p:spTgt>
                                        </p:tgtEl>
                                        <p:attrNameLst>
                                          <p:attrName>style.color</p:attrName>
                                        </p:attrNameLst>
                                      </p:cBhvr>
                                      <p:to>
                                        <p:clrVal>
                                          <a:schemeClr val="accent2"/>
                                        </p:clrVal>
                                      </p:to>
                                    </p:set>
                                    <p:set>
                                      <p:cBhvr>
                                        <p:cTn id="55" dur="500" fill="hold"/>
                                        <p:tgtEl>
                                          <p:spTgt spid="5">
                                            <p:txEl>
                                              <p:pRg st="8" end="8"/>
                                            </p:txEl>
                                          </p:spTgt>
                                        </p:tgtEl>
                                        <p:attrNameLst>
                                          <p:attrName>fillcolor</p:attrName>
                                        </p:attrNameLst>
                                      </p:cBhvr>
                                      <p:to>
                                        <p:clrVal>
                                          <a:schemeClr val="accent2"/>
                                        </p:clrVal>
                                      </p:to>
                                    </p:set>
                                    <p:set>
                                      <p:cBhvr>
                                        <p:cTn id="56" dur="500" fill="hold"/>
                                        <p:tgtEl>
                                          <p:spTgt spid="5">
                                            <p:txEl>
                                              <p:pRg st="8" end="8"/>
                                            </p:txEl>
                                          </p:spTgt>
                                        </p:tgtEl>
                                        <p:attrNameLst>
                                          <p:attrName>fill.type</p:attrName>
                                        </p:attrNameLst>
                                      </p:cBhvr>
                                      <p:to>
                                        <p:strVal val="solid"/>
                                      </p:to>
                                    </p:set>
                                  </p:childTnLst>
                                </p:cTn>
                              </p:par>
                            </p:childTnLst>
                          </p:cTn>
                        </p:par>
                      </p:childTnLst>
                    </p:cTn>
                  </p:par>
                  <p:par>
                    <p:cTn id="57" fill="hold">
                      <p:stCondLst>
                        <p:cond delay="indefinite"/>
                      </p:stCondLst>
                      <p:childTnLst>
                        <p:par>
                          <p:cTn id="58" fill="hold">
                            <p:stCondLst>
                              <p:cond delay="0"/>
                            </p:stCondLst>
                            <p:childTnLst>
                              <p:par>
                                <p:cTn id="59" presetID="16" presetClass="emph" presetSubtype="0" fill="hold" nodeType="clickEffect">
                                  <p:stCondLst>
                                    <p:cond delay="0"/>
                                  </p:stCondLst>
                                  <p:iterate type="lt">
                                    <p:tmPct val="4000"/>
                                  </p:iterate>
                                  <p:childTnLst>
                                    <p:set>
                                      <p:cBhvr override="childStyle">
                                        <p:cTn id="60" dur="500" fill="hold"/>
                                        <p:tgtEl>
                                          <p:spTgt spid="5">
                                            <p:txEl>
                                              <p:pRg st="9" end="9"/>
                                            </p:txEl>
                                          </p:spTgt>
                                        </p:tgtEl>
                                        <p:attrNameLst>
                                          <p:attrName>style.color</p:attrName>
                                        </p:attrNameLst>
                                      </p:cBhvr>
                                      <p:to>
                                        <p:clrVal>
                                          <a:schemeClr val="accent2"/>
                                        </p:clrVal>
                                      </p:to>
                                    </p:set>
                                    <p:set>
                                      <p:cBhvr>
                                        <p:cTn id="61" dur="500" fill="hold"/>
                                        <p:tgtEl>
                                          <p:spTgt spid="5">
                                            <p:txEl>
                                              <p:pRg st="9" end="9"/>
                                            </p:txEl>
                                          </p:spTgt>
                                        </p:tgtEl>
                                        <p:attrNameLst>
                                          <p:attrName>fillcolor</p:attrName>
                                        </p:attrNameLst>
                                      </p:cBhvr>
                                      <p:to>
                                        <p:clrVal>
                                          <a:schemeClr val="accent2"/>
                                        </p:clrVal>
                                      </p:to>
                                    </p:set>
                                    <p:set>
                                      <p:cBhvr>
                                        <p:cTn id="62" dur="500" fill="hold"/>
                                        <p:tgtEl>
                                          <p:spTgt spid="5">
                                            <p:txEl>
                                              <p:pRg st="9" end="9"/>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24</a:t>
            </a:fld>
            <a:endParaRPr lang="en-US"/>
          </a:p>
        </p:txBody>
      </p:sp>
      <p:sp>
        <p:nvSpPr>
          <p:cNvPr id="4" name="Title 1"/>
          <p:cNvSpPr>
            <a:spLocks noGrp="1"/>
          </p:cNvSpPr>
          <p:nvPr>
            <p:ph type="title"/>
          </p:nvPr>
        </p:nvSpPr>
        <p:spPr/>
        <p:txBody>
          <a:bodyPr/>
          <a:lstStyle/>
          <a:p>
            <a:r>
              <a:rPr lang="en-US"/>
              <a:t>Amazon S3: Storage pricing (2 of 2)</a:t>
            </a:r>
          </a:p>
        </p:txBody>
      </p:sp>
      <p:sp>
        <p:nvSpPr>
          <p:cNvPr id="5" name="Content Placeholder 2"/>
          <p:cNvSpPr>
            <a:spLocks noGrp="1"/>
          </p:cNvSpPr>
          <p:nvPr>
            <p:ph sz="quarter" idx="21"/>
          </p:nvPr>
        </p:nvSpPr>
        <p:spPr/>
        <p:txBody>
          <a:bodyPr>
            <a:normAutofit/>
          </a:bodyPr>
          <a:lstStyle/>
          <a:p>
            <a:pPr marL="514350" indent="-514350">
              <a:buFont typeface="+mj-lt"/>
              <a:buAutoNum type="arabicPeriod" startAt="3"/>
            </a:pP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Requests – </a:t>
            </a:r>
          </a:p>
          <a:p>
            <a:pPr marL="922338" lvl="1" indent="-465138"/>
            <a:r>
              <a:rPr lang="en-US" sz="2800"/>
              <a:t>The number and type of requests </a:t>
            </a:r>
            <a:r>
              <a:rPr lang="en-US" sz="2800" b="1"/>
              <a:t>(GET, PUT, COPY)</a:t>
            </a:r>
            <a:endParaRPr lang="en-US" sz="2800"/>
          </a:p>
          <a:p>
            <a:pPr marL="922338" lvl="1" indent="-465138"/>
            <a:r>
              <a:rPr lang="en-US" sz="2800"/>
              <a:t>Type of requests:</a:t>
            </a:r>
          </a:p>
          <a:p>
            <a:pPr marL="1379538" lvl="2" indent="-465138"/>
            <a:r>
              <a:rPr lang="en-US" sz="2400"/>
              <a:t>Different rates for GET requests than other requests.</a:t>
            </a:r>
          </a:p>
          <a:p>
            <a:pPr marL="514350" indent="-514350">
              <a:buFont typeface="+mj-lt"/>
              <a:buAutoNum type="arabicPeriod" startAt="3"/>
            </a:pP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Data transfer – </a:t>
            </a:r>
          </a:p>
          <a:p>
            <a:pPr marL="922338" lvl="1" indent="-465138"/>
            <a:r>
              <a:rPr lang="en-US" sz="2800"/>
              <a:t>Pricing is based on the amount of data that is transferred out of the Amazon S3 Region</a:t>
            </a:r>
          </a:p>
          <a:p>
            <a:pPr marL="1379538" lvl="2" indent="-465138"/>
            <a:r>
              <a:rPr lang="en-US" sz="2400"/>
              <a:t>Data transfer in is free, but you incur charges for data that is transferred out.</a:t>
            </a:r>
          </a:p>
        </p:txBody>
      </p:sp>
    </p:spTree>
    <p:custDataLst>
      <p:tags r:id="rId1"/>
    </p:custDataLst>
    <p:extLst>
      <p:ext uri="{BB962C8B-B14F-4D97-AF65-F5344CB8AC3E}">
        <p14:creationId xmlns:p14="http://schemas.microsoft.com/office/powerpoint/2010/main" val="238033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0" end="0"/>
                                            </p:txEl>
                                          </p:spTgt>
                                        </p:tgtEl>
                                        <p:attrNameLst>
                                          <p:attrName>style.color</p:attrName>
                                        </p:attrNameLst>
                                      </p:cBhvr>
                                      <p:to>
                                        <p:clrVal>
                                          <a:schemeClr val="accent2"/>
                                        </p:clrVal>
                                      </p:to>
                                    </p:set>
                                    <p:set>
                                      <p:cBhvr>
                                        <p:cTn id="7" dur="500" fill="hold"/>
                                        <p:tgtEl>
                                          <p:spTgt spid="5">
                                            <p:txEl>
                                              <p:pRg st="0" end="0"/>
                                            </p:txEl>
                                          </p:spTgt>
                                        </p:tgtEl>
                                        <p:attrNameLst>
                                          <p:attrName>fillcolor</p:attrName>
                                        </p:attrNameLst>
                                      </p:cBhvr>
                                      <p:to>
                                        <p:clrVal>
                                          <a:schemeClr val="accent2"/>
                                        </p:clrVal>
                                      </p:to>
                                    </p:set>
                                    <p:set>
                                      <p:cBhvr>
                                        <p:cTn id="8" dur="500" fill="hold"/>
                                        <p:tgtEl>
                                          <p:spTgt spid="5">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1" end="1"/>
                                            </p:txEl>
                                          </p:spTgt>
                                        </p:tgtEl>
                                        <p:attrNameLst>
                                          <p:attrName>style.color</p:attrName>
                                        </p:attrNameLst>
                                      </p:cBhvr>
                                      <p:to>
                                        <p:clrVal>
                                          <a:schemeClr val="accent2"/>
                                        </p:clrVal>
                                      </p:to>
                                    </p:set>
                                    <p:set>
                                      <p:cBhvr>
                                        <p:cTn id="13" dur="500" fill="hold"/>
                                        <p:tgtEl>
                                          <p:spTgt spid="5">
                                            <p:txEl>
                                              <p:pRg st="1" end="1"/>
                                            </p:txEl>
                                          </p:spTgt>
                                        </p:tgtEl>
                                        <p:attrNameLst>
                                          <p:attrName>fillcolor</p:attrName>
                                        </p:attrNameLst>
                                      </p:cBhvr>
                                      <p:to>
                                        <p:clrVal>
                                          <a:schemeClr val="accent2"/>
                                        </p:clrVal>
                                      </p:to>
                                    </p:set>
                                    <p:set>
                                      <p:cBhvr>
                                        <p:cTn id="14" dur="500" fill="hold"/>
                                        <p:tgtEl>
                                          <p:spTgt spid="5">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2" end="2"/>
                                            </p:txEl>
                                          </p:spTgt>
                                        </p:tgtEl>
                                        <p:attrNameLst>
                                          <p:attrName>style.color</p:attrName>
                                        </p:attrNameLst>
                                      </p:cBhvr>
                                      <p:to>
                                        <p:clrVal>
                                          <a:schemeClr val="accent2"/>
                                        </p:clrVal>
                                      </p:to>
                                    </p:set>
                                    <p:set>
                                      <p:cBhvr>
                                        <p:cTn id="19" dur="500" fill="hold"/>
                                        <p:tgtEl>
                                          <p:spTgt spid="5">
                                            <p:txEl>
                                              <p:pRg st="2" end="2"/>
                                            </p:txEl>
                                          </p:spTgt>
                                        </p:tgtEl>
                                        <p:attrNameLst>
                                          <p:attrName>fillcolor</p:attrName>
                                        </p:attrNameLst>
                                      </p:cBhvr>
                                      <p:to>
                                        <p:clrVal>
                                          <a:schemeClr val="accent2"/>
                                        </p:clrVal>
                                      </p:to>
                                    </p:set>
                                    <p:set>
                                      <p:cBhvr>
                                        <p:cTn id="20" dur="500" fill="hold"/>
                                        <p:tgtEl>
                                          <p:spTgt spid="5">
                                            <p:txEl>
                                              <p:pRg st="2" end="2"/>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3" end="3"/>
                                            </p:txEl>
                                          </p:spTgt>
                                        </p:tgtEl>
                                        <p:attrNameLst>
                                          <p:attrName>style.color</p:attrName>
                                        </p:attrNameLst>
                                      </p:cBhvr>
                                      <p:to>
                                        <p:clrVal>
                                          <a:schemeClr val="accent2"/>
                                        </p:clrVal>
                                      </p:to>
                                    </p:set>
                                    <p:set>
                                      <p:cBhvr>
                                        <p:cTn id="25" dur="500" fill="hold"/>
                                        <p:tgtEl>
                                          <p:spTgt spid="5">
                                            <p:txEl>
                                              <p:pRg st="3" end="3"/>
                                            </p:txEl>
                                          </p:spTgt>
                                        </p:tgtEl>
                                        <p:attrNameLst>
                                          <p:attrName>fillcolor</p:attrName>
                                        </p:attrNameLst>
                                      </p:cBhvr>
                                      <p:to>
                                        <p:clrVal>
                                          <a:schemeClr val="accent2"/>
                                        </p:clrVal>
                                      </p:to>
                                    </p:set>
                                    <p:set>
                                      <p:cBhvr>
                                        <p:cTn id="26" dur="500" fill="hold"/>
                                        <p:tgtEl>
                                          <p:spTgt spid="5">
                                            <p:txEl>
                                              <p:pRg st="3" end="3"/>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4" end="4"/>
                                            </p:txEl>
                                          </p:spTgt>
                                        </p:tgtEl>
                                        <p:attrNameLst>
                                          <p:attrName>style.color</p:attrName>
                                        </p:attrNameLst>
                                      </p:cBhvr>
                                      <p:to>
                                        <p:clrVal>
                                          <a:schemeClr val="accent2"/>
                                        </p:clrVal>
                                      </p:to>
                                    </p:set>
                                    <p:set>
                                      <p:cBhvr>
                                        <p:cTn id="31" dur="500" fill="hold"/>
                                        <p:tgtEl>
                                          <p:spTgt spid="5">
                                            <p:txEl>
                                              <p:pRg st="4" end="4"/>
                                            </p:txEl>
                                          </p:spTgt>
                                        </p:tgtEl>
                                        <p:attrNameLst>
                                          <p:attrName>fillcolor</p:attrName>
                                        </p:attrNameLst>
                                      </p:cBhvr>
                                      <p:to>
                                        <p:clrVal>
                                          <a:schemeClr val="accent2"/>
                                        </p:clrVal>
                                      </p:to>
                                    </p:set>
                                    <p:set>
                                      <p:cBhvr>
                                        <p:cTn id="32" dur="500" fill="hold"/>
                                        <p:tgtEl>
                                          <p:spTgt spid="5">
                                            <p:txEl>
                                              <p:pRg st="4" end="4"/>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5">
                                            <p:txEl>
                                              <p:pRg st="5" end="5"/>
                                            </p:txEl>
                                          </p:spTgt>
                                        </p:tgtEl>
                                        <p:attrNameLst>
                                          <p:attrName>style.color</p:attrName>
                                        </p:attrNameLst>
                                      </p:cBhvr>
                                      <p:to>
                                        <p:clrVal>
                                          <a:schemeClr val="accent2"/>
                                        </p:clrVal>
                                      </p:to>
                                    </p:set>
                                    <p:set>
                                      <p:cBhvr>
                                        <p:cTn id="37" dur="500" fill="hold"/>
                                        <p:tgtEl>
                                          <p:spTgt spid="5">
                                            <p:txEl>
                                              <p:pRg st="5" end="5"/>
                                            </p:txEl>
                                          </p:spTgt>
                                        </p:tgtEl>
                                        <p:attrNameLst>
                                          <p:attrName>fillcolor</p:attrName>
                                        </p:attrNameLst>
                                      </p:cBhvr>
                                      <p:to>
                                        <p:clrVal>
                                          <a:schemeClr val="accent2"/>
                                        </p:clrVal>
                                      </p:to>
                                    </p:set>
                                    <p:set>
                                      <p:cBhvr>
                                        <p:cTn id="38" dur="500" fill="hold"/>
                                        <p:tgtEl>
                                          <p:spTgt spid="5">
                                            <p:txEl>
                                              <p:pRg st="5" end="5"/>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5">
                                            <p:txEl>
                                              <p:pRg st="6" end="6"/>
                                            </p:txEl>
                                          </p:spTgt>
                                        </p:tgtEl>
                                        <p:attrNameLst>
                                          <p:attrName>style.color</p:attrName>
                                        </p:attrNameLst>
                                      </p:cBhvr>
                                      <p:to>
                                        <p:clrVal>
                                          <a:schemeClr val="accent2"/>
                                        </p:clrVal>
                                      </p:to>
                                    </p:set>
                                    <p:set>
                                      <p:cBhvr>
                                        <p:cTn id="43" dur="500" fill="hold"/>
                                        <p:tgtEl>
                                          <p:spTgt spid="5">
                                            <p:txEl>
                                              <p:pRg st="6" end="6"/>
                                            </p:txEl>
                                          </p:spTgt>
                                        </p:tgtEl>
                                        <p:attrNameLst>
                                          <p:attrName>fillcolor</p:attrName>
                                        </p:attrNameLst>
                                      </p:cBhvr>
                                      <p:to>
                                        <p:clrVal>
                                          <a:schemeClr val="accent2"/>
                                        </p:clrVal>
                                      </p:to>
                                    </p:set>
                                    <p:set>
                                      <p:cBhvr>
                                        <p:cTn id="44" dur="500" fill="hold"/>
                                        <p:tgtEl>
                                          <p:spTgt spid="5">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25</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t>Section 2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a:t>Amazon S3 is a fully managed cloud storage service.</a:t>
            </a:r>
          </a:p>
          <a:p>
            <a:r>
              <a:rPr lang="en-US"/>
              <a:t>You can store a virtually unlimited number of objects.</a:t>
            </a:r>
          </a:p>
          <a:p>
            <a:r>
              <a:rPr lang="en-US"/>
              <a:t>You pay for only what you use.</a:t>
            </a:r>
          </a:p>
          <a:p>
            <a:r>
              <a:rPr lang="en-US"/>
              <a:t>You can access Amazon S3 at any time from anywhere through a URL.</a:t>
            </a:r>
          </a:p>
          <a:p>
            <a:r>
              <a:rPr lang="en-US"/>
              <a:t>Amazon S3 offers rich security controls.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1278086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a:t>Section 3: Amazon Elastic File System (Amazon EFS) </a:t>
            </a:r>
          </a:p>
        </p:txBody>
      </p:sp>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t>Module 7: Storage</a:t>
            </a:r>
          </a:p>
        </p:txBody>
      </p:sp>
    </p:spTree>
    <p:custDataLst>
      <p:tags r:id="rId1"/>
    </p:custDataLst>
    <p:extLst>
      <p:ext uri="{BB962C8B-B14F-4D97-AF65-F5344CB8AC3E}">
        <p14:creationId xmlns:p14="http://schemas.microsoft.com/office/powerpoint/2010/main" val="1459162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27</a:t>
            </a:fld>
            <a:endParaRPr lang="en-US"/>
          </a:p>
        </p:txBody>
      </p:sp>
      <p:sp>
        <p:nvSpPr>
          <p:cNvPr id="6" name="Title 1">
            <a:extLst>
              <a:ext uri="{FF2B5EF4-FFF2-40B4-BE49-F238E27FC236}">
                <a16:creationId xmlns:a16="http://schemas.microsoft.com/office/drawing/2014/main" id="{E514F416-D2B5-E240-6968-1C7B7A1B3961}"/>
              </a:ext>
            </a:extLst>
          </p:cNvPr>
          <p:cNvSpPr txBox="1">
            <a:spLocks/>
          </p:cNvSpPr>
          <p:nvPr/>
        </p:nvSpPr>
        <p:spPr>
          <a:xfrm>
            <a:off x="365760" y="301752"/>
            <a:ext cx="11569209" cy="731318"/>
          </a:xfrm>
          <a:prstGeom prst="rect">
            <a:avLst/>
          </a:prstGeom>
        </p:spPr>
        <p:txBody>
          <a:bodyPr vert="horz" lIns="91440" tIns="45720" rIns="91440" bIns="45720" rtlCol="0" anchor="ctr">
            <a:normAutofit/>
          </a:bodyPr>
          <a:lstStyle>
            <a:lvl1pPr algn="l" defTabSz="228600" rtl="0" eaLnBrk="1" latinLnBrk="0" hangingPunct="1">
              <a:lnSpc>
                <a:spcPct val="100000"/>
              </a:lnSpc>
              <a:spcBef>
                <a:spcPct val="0"/>
              </a:spcBef>
              <a:buNone/>
              <a:defRPr sz="3200" kern="1200">
                <a:solidFill>
                  <a:schemeClr val="tx2"/>
                </a:solidFill>
                <a:latin typeface="Amazon Ember Heavy"/>
              </a:defRPr>
            </a:lvl1pPr>
          </a:lstStyle>
          <a:p>
            <a:r>
              <a:rPr lang="en-US" dirty="0"/>
              <a:t>Storage</a:t>
            </a:r>
          </a:p>
        </p:txBody>
      </p:sp>
      <p:sp>
        <p:nvSpPr>
          <p:cNvPr id="11" name="TextBox 10"/>
          <p:cNvSpPr txBox="1"/>
          <p:nvPr/>
        </p:nvSpPr>
        <p:spPr>
          <a:xfrm>
            <a:off x="3809573" y="5078037"/>
            <a:ext cx="4558107" cy="984885"/>
          </a:xfrm>
          <a:prstGeom prst="rect">
            <a:avLst/>
          </a:prstGeom>
          <a:noFill/>
        </p:spPr>
        <p:txBody>
          <a:bodyPr wrap="square" lIns="0" tIns="0" rIns="0" bIns="0" rtlCol="0" anchor="ctr">
            <a:spAutoFit/>
          </a:bodyPr>
          <a:lstStyle/>
          <a:p>
            <a:pPr algn="ctr"/>
            <a:r>
              <a:rPr lang="sv-SE" sz="3200"/>
              <a:t>Amazon Elastic File System (Amazon EFS)</a:t>
            </a:r>
            <a:endParaRPr lang="en-US" sz="320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7" name="Graphic 6">
            <a:extLst>
              <a:ext uri="{FF2B5EF4-FFF2-40B4-BE49-F238E27FC236}">
                <a16:creationId xmlns:a16="http://schemas.microsoft.com/office/drawing/2014/main" id="{C129356C-F763-41D1-8785-FF8BE3BC607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7216" y="2449318"/>
            <a:ext cx="1959364" cy="1959364"/>
          </a:xfrm>
          <a:prstGeom prst="rect">
            <a:avLst/>
          </a:prstGeom>
        </p:spPr>
      </p:pic>
      <p:sp>
        <p:nvSpPr>
          <p:cNvPr id="2" name="Title 1">
            <a:extLst>
              <a:ext uri="{C183D7F6-B498-43B3-948B-1728B52AA6E4}">
                <adec:decorative xmlns:adec="http://schemas.microsoft.com/office/drawing/2017/decorative" val="1"/>
              </a:ext>
            </a:extLst>
          </p:cNvPr>
          <p:cNvSpPr>
            <a:spLocks noGrp="1"/>
          </p:cNvSpPr>
          <p:nvPr>
            <p:ph type="title"/>
          </p:nvPr>
        </p:nvSpPr>
        <p:spPr>
          <a:xfrm>
            <a:off x="384441" y="-917301"/>
            <a:ext cx="11569209" cy="731318"/>
          </a:xfrm>
        </p:spPr>
        <p:txBody>
          <a:bodyPr/>
          <a:lstStyle/>
          <a:p>
            <a:r>
              <a:rPr lang="en-US" dirty="0"/>
              <a:t>Storage 2</a:t>
            </a:r>
          </a:p>
        </p:txBody>
      </p:sp>
    </p:spTree>
    <p:custDataLst>
      <p:tags r:id="rId1"/>
    </p:custDataLst>
    <p:extLst>
      <p:ext uri="{BB962C8B-B14F-4D97-AF65-F5344CB8AC3E}">
        <p14:creationId xmlns:p14="http://schemas.microsoft.com/office/powerpoint/2010/main" val="25389571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28</a:t>
            </a:fld>
            <a:endParaRPr lang="en-US"/>
          </a:p>
        </p:txBody>
      </p:sp>
      <p:sp>
        <p:nvSpPr>
          <p:cNvPr id="2" name="Title 1"/>
          <p:cNvSpPr>
            <a:spLocks noGrp="1"/>
          </p:cNvSpPr>
          <p:nvPr>
            <p:ph type="title"/>
          </p:nvPr>
        </p:nvSpPr>
        <p:spPr/>
        <p:txBody>
          <a:bodyPr/>
          <a:lstStyle/>
          <a:p>
            <a:r>
              <a:rPr lang="en-US"/>
              <a:t>Amazon EFS features</a:t>
            </a:r>
          </a:p>
        </p:txBody>
      </p:sp>
      <p:sp>
        <p:nvSpPr>
          <p:cNvPr id="5" name="Content Placeholder 2"/>
          <p:cNvSpPr>
            <a:spLocks noGrp="1"/>
          </p:cNvSpPr>
          <p:nvPr>
            <p:ph sz="quarter" idx="21"/>
          </p:nvPr>
        </p:nvSpPr>
        <p:spPr/>
        <p:txBody>
          <a:bodyPr>
            <a:normAutofit/>
          </a:bodyPr>
          <a:lstStyle/>
          <a:p>
            <a:pPr marL="457200" indent="-457200">
              <a:spcAft>
                <a:spcPts val="800"/>
              </a:spcAft>
            </a:pPr>
            <a:r>
              <a:rPr lang="en-US"/>
              <a:t>File storage in the AWS Cloud </a:t>
            </a:r>
          </a:p>
          <a:p>
            <a:pPr marL="457200" indent="-457200">
              <a:spcAft>
                <a:spcPts val="800"/>
              </a:spcAft>
            </a:pPr>
            <a:r>
              <a:rPr lang="en-US"/>
              <a:t>Works well for big data and analytics, media processing workflows, content management, web serving, and home directories</a:t>
            </a:r>
          </a:p>
          <a:p>
            <a:pPr marL="457200" indent="-457200">
              <a:spcAft>
                <a:spcPts val="800"/>
              </a:spcAft>
            </a:pPr>
            <a:r>
              <a:rPr lang="en-US"/>
              <a:t>Petabyte-scale, low-latency file system</a:t>
            </a:r>
          </a:p>
          <a:p>
            <a:pPr marL="457200" indent="-457200">
              <a:spcAft>
                <a:spcPts val="800"/>
              </a:spcAft>
            </a:pPr>
            <a:r>
              <a:rPr lang="en-US"/>
              <a:t>Shared storage</a:t>
            </a:r>
          </a:p>
          <a:p>
            <a:pPr marL="457200" indent="-457200">
              <a:spcAft>
                <a:spcPts val="800"/>
              </a:spcAft>
            </a:pPr>
            <a:r>
              <a:rPr lang="en-US"/>
              <a:t>Elastic capacity</a:t>
            </a:r>
          </a:p>
          <a:p>
            <a:pPr marL="457200" indent="-457200">
              <a:spcAft>
                <a:spcPts val="800"/>
              </a:spcAft>
            </a:pPr>
            <a:r>
              <a:rPr lang="en-US"/>
              <a:t>Supports Network File System (NFS) versions 4.0 and 4.1 (NFSv4)</a:t>
            </a:r>
          </a:p>
          <a:p>
            <a:pPr marL="457200" indent="-457200">
              <a:spcAft>
                <a:spcPts val="800"/>
              </a:spcAft>
            </a:pPr>
            <a:r>
              <a:rPr lang="en-US"/>
              <a:t>Compatible with all Linux-based AMIs for Amazon EC2</a:t>
            </a:r>
          </a:p>
        </p:txBody>
      </p:sp>
    </p:spTree>
    <p:custDataLst>
      <p:tags r:id="rId1"/>
    </p:custDataLst>
    <p:extLst>
      <p:ext uri="{BB962C8B-B14F-4D97-AF65-F5344CB8AC3E}">
        <p14:creationId xmlns:p14="http://schemas.microsoft.com/office/powerpoint/2010/main" val="1956147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29</a:t>
            </a:fld>
            <a:endParaRPr lang="en-US"/>
          </a:p>
        </p:txBody>
      </p:sp>
      <p:sp>
        <p:nvSpPr>
          <p:cNvPr id="2" name="Title 1"/>
          <p:cNvSpPr>
            <a:spLocks noGrp="1"/>
          </p:cNvSpPr>
          <p:nvPr>
            <p:ph type="title"/>
          </p:nvPr>
        </p:nvSpPr>
        <p:spPr/>
        <p:txBody>
          <a:bodyPr/>
          <a:lstStyle/>
          <a:p>
            <a:r>
              <a:rPr lang="en-US"/>
              <a:t>Amazon EFS architecture</a:t>
            </a:r>
          </a:p>
        </p:txBody>
      </p:sp>
      <p:grpSp>
        <p:nvGrpSpPr>
          <p:cNvPr id="11" name="Group 10" descr="Availability Zone A with Private subnet, two network interfaces, and a mount target network interface.">
            <a:extLst>
              <a:ext uri="{FF2B5EF4-FFF2-40B4-BE49-F238E27FC236}">
                <a16:creationId xmlns:a16="http://schemas.microsoft.com/office/drawing/2014/main" id="{FCE4CE0F-8183-C52B-8776-3FA3CDB27ABE}"/>
              </a:ext>
            </a:extLst>
          </p:cNvPr>
          <p:cNvGrpSpPr/>
          <p:nvPr/>
        </p:nvGrpSpPr>
        <p:grpSpPr>
          <a:xfrm>
            <a:off x="1563492" y="2017695"/>
            <a:ext cx="2466245" cy="3398143"/>
            <a:chOff x="1563492" y="2017695"/>
            <a:chExt cx="2466245" cy="3398143"/>
          </a:xfrm>
        </p:grpSpPr>
        <p:sp>
          <p:nvSpPr>
            <p:cNvPr id="101" name="Rectangle 100">
              <a:extLst>
                <a:ext uri="{FF2B5EF4-FFF2-40B4-BE49-F238E27FC236}">
                  <a16:creationId xmlns:a16="http://schemas.microsoft.com/office/drawing/2014/main" id="{B853AD0C-C2FB-40D1-99D4-E693522E6C1B}"/>
                </a:ext>
                <a:ext uri="{C183D7F6-B498-43B3-948B-1728B52AA6E4}">
                  <adec:decorative xmlns:adec="http://schemas.microsoft.com/office/drawing/2017/decorative" val="1"/>
                </a:ext>
              </a:extLst>
            </p:cNvPr>
            <p:cNvSpPr/>
            <p:nvPr/>
          </p:nvSpPr>
          <p:spPr>
            <a:xfrm>
              <a:off x="1563492" y="2380248"/>
              <a:ext cx="2466245" cy="3035590"/>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a:solidFill>
                    <a:srgbClr val="36C2B4"/>
                  </a:solidFill>
                  <a:latin typeface="Amazon Ember" panose="020B0603020204020204" pitchFamily="34" charset="0"/>
                  <a:ea typeface="Amazon Ember" panose="020B0603020204020204" pitchFamily="34" charset="0"/>
                  <a:cs typeface="Amazon Ember" panose="020B0603020204020204" pitchFamily="34" charset="0"/>
                </a:rPr>
                <a:t>Private subnet</a:t>
              </a:r>
            </a:p>
          </p:txBody>
        </p:sp>
        <p:pic>
          <p:nvPicPr>
            <p:cNvPr id="105" name="Graphic 104">
              <a:extLst>
                <a:ext uri="{FF2B5EF4-FFF2-40B4-BE49-F238E27FC236}">
                  <a16:creationId xmlns:a16="http://schemas.microsoft.com/office/drawing/2014/main" id="{3A299757-5771-494C-99DC-14E4D8EBB08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63492" y="2717040"/>
              <a:ext cx="1233122" cy="1107494"/>
            </a:xfrm>
            <a:prstGeom prst="rect">
              <a:avLst/>
            </a:prstGeom>
          </p:spPr>
        </p:pic>
        <p:pic>
          <p:nvPicPr>
            <p:cNvPr id="133" name="Graphic 132">
              <a:extLst>
                <a:ext uri="{FF2B5EF4-FFF2-40B4-BE49-F238E27FC236}">
                  <a16:creationId xmlns:a16="http://schemas.microsoft.com/office/drawing/2014/main" id="{192FF234-284A-41C2-BF2C-CFBD45911F4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6254" y="2718854"/>
              <a:ext cx="1233122" cy="1107494"/>
            </a:xfrm>
            <a:prstGeom prst="rect">
              <a:avLst/>
            </a:prstGeom>
          </p:spPr>
        </p:pic>
        <p:sp>
          <p:nvSpPr>
            <p:cNvPr id="9" name="TextBox 8">
              <a:extLst>
                <a:ext uri="{FF2B5EF4-FFF2-40B4-BE49-F238E27FC236}">
                  <a16:creationId xmlns:a16="http://schemas.microsoft.com/office/drawing/2014/main" id="{D621E7E1-4A36-4B94-AE03-1E70E5237B75}"/>
                </a:ext>
                <a:ext uri="{C183D7F6-B498-43B3-948B-1728B52AA6E4}">
                  <adec:decorative xmlns:adec="http://schemas.microsoft.com/office/drawing/2017/decorative" val="1"/>
                </a:ext>
              </a:extLst>
            </p:cNvPr>
            <p:cNvSpPr txBox="1"/>
            <p:nvPr/>
          </p:nvSpPr>
          <p:spPr>
            <a:xfrm>
              <a:off x="1825894" y="2017695"/>
              <a:ext cx="1983490" cy="342548"/>
            </a:xfrm>
            <a:prstGeom prst="rect">
              <a:avLst/>
            </a:prstGeom>
            <a:noFill/>
          </p:spPr>
          <p:txBody>
            <a:bodyPr wrap="none" rtlCol="0">
              <a:spAutoFit/>
            </a:bodyPr>
            <a:lstStyle/>
            <a:p>
              <a:r>
                <a:rPr lang="en-US" sz="1600">
                  <a:latin typeface="Amazon Ember" panose="020B0603020204020204" pitchFamily="34" charset="0"/>
                  <a:ea typeface="Amazon Ember" panose="020B0603020204020204" pitchFamily="34" charset="0"/>
                  <a:cs typeface="Amazon Ember" panose="020B0603020204020204" pitchFamily="34" charset="0"/>
                </a:rPr>
                <a:t>Availability Zone A</a:t>
              </a:r>
            </a:p>
          </p:txBody>
        </p:sp>
      </p:grpSp>
      <p:grpSp>
        <p:nvGrpSpPr>
          <p:cNvPr id="13" name="Group 12" descr="Availability Zone B with a private subnet and one mount target network interface/">
            <a:extLst>
              <a:ext uri="{FF2B5EF4-FFF2-40B4-BE49-F238E27FC236}">
                <a16:creationId xmlns:a16="http://schemas.microsoft.com/office/drawing/2014/main" id="{D9679B32-151D-3676-F52C-8166CB9FC29E}"/>
              </a:ext>
            </a:extLst>
          </p:cNvPr>
          <p:cNvGrpSpPr/>
          <p:nvPr/>
        </p:nvGrpSpPr>
        <p:grpSpPr>
          <a:xfrm>
            <a:off x="5127975" y="2084814"/>
            <a:ext cx="2466245" cy="3357969"/>
            <a:chOff x="5127975" y="2084814"/>
            <a:chExt cx="2466245" cy="3357969"/>
          </a:xfrm>
        </p:grpSpPr>
        <p:sp>
          <p:nvSpPr>
            <p:cNvPr id="102" name="Rectangle 101">
              <a:extLst>
                <a:ext uri="{FF2B5EF4-FFF2-40B4-BE49-F238E27FC236}">
                  <a16:creationId xmlns:a16="http://schemas.microsoft.com/office/drawing/2014/main" id="{D173B7F8-A9B4-4355-AE7A-E5AC7ABC379F}"/>
                </a:ext>
                <a:ext uri="{C183D7F6-B498-43B3-948B-1728B52AA6E4}">
                  <adec:decorative xmlns:adec="http://schemas.microsoft.com/office/drawing/2017/decorative" val="1"/>
                </a:ext>
              </a:extLst>
            </p:cNvPr>
            <p:cNvSpPr/>
            <p:nvPr/>
          </p:nvSpPr>
          <p:spPr>
            <a:xfrm>
              <a:off x="5127975" y="2407193"/>
              <a:ext cx="2466245" cy="3035590"/>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a:solidFill>
                    <a:srgbClr val="36C2B4"/>
                  </a:solidFill>
                  <a:latin typeface="Amazon Ember" panose="020B0603020204020204" pitchFamily="34" charset="0"/>
                  <a:ea typeface="Amazon Ember" panose="020B0603020204020204" pitchFamily="34" charset="0"/>
                  <a:cs typeface="Amazon Ember" panose="020B0603020204020204" pitchFamily="34" charset="0"/>
                </a:rPr>
                <a:t>Private subnet</a:t>
              </a:r>
            </a:p>
          </p:txBody>
        </p:sp>
        <p:sp>
          <p:nvSpPr>
            <p:cNvPr id="38" name="TextBox 37">
              <a:extLst>
                <a:ext uri="{FF2B5EF4-FFF2-40B4-BE49-F238E27FC236}">
                  <a16:creationId xmlns:a16="http://schemas.microsoft.com/office/drawing/2014/main" id="{1DD449E4-6081-4C82-AC4C-69051C1A2E47}"/>
                </a:ext>
                <a:ext uri="{C183D7F6-B498-43B3-948B-1728B52AA6E4}">
                  <adec:decorative xmlns:adec="http://schemas.microsoft.com/office/drawing/2017/decorative" val="1"/>
                </a:ext>
              </a:extLst>
            </p:cNvPr>
            <p:cNvSpPr txBox="1"/>
            <p:nvPr/>
          </p:nvSpPr>
          <p:spPr>
            <a:xfrm>
              <a:off x="5438242" y="2084814"/>
              <a:ext cx="1976868" cy="342548"/>
            </a:xfrm>
            <a:prstGeom prst="rect">
              <a:avLst/>
            </a:prstGeom>
            <a:noFill/>
          </p:spPr>
          <p:txBody>
            <a:bodyPr wrap="none" rtlCol="0">
              <a:spAutoFit/>
            </a:bodyPr>
            <a:lstStyle/>
            <a:p>
              <a:r>
                <a:rPr lang="en-US" sz="1600">
                  <a:latin typeface="Amazon Ember" panose="020B0603020204020204" pitchFamily="34" charset="0"/>
                  <a:ea typeface="Amazon Ember" panose="020B0603020204020204" pitchFamily="34" charset="0"/>
                  <a:cs typeface="Amazon Ember" panose="020B0603020204020204" pitchFamily="34" charset="0"/>
                </a:rPr>
                <a:t>Availability Zone B</a:t>
              </a:r>
            </a:p>
          </p:txBody>
        </p:sp>
      </p:grpSp>
      <p:grpSp>
        <p:nvGrpSpPr>
          <p:cNvPr id="14" name="Group 13" descr="Availability Zone C with a private subnet and one network interface and one mount target network interface.">
            <a:extLst>
              <a:ext uri="{FF2B5EF4-FFF2-40B4-BE49-F238E27FC236}">
                <a16:creationId xmlns:a16="http://schemas.microsoft.com/office/drawing/2014/main" id="{680D3A56-A102-67ED-F6CE-E9D9EF171600}"/>
              </a:ext>
            </a:extLst>
          </p:cNvPr>
          <p:cNvGrpSpPr/>
          <p:nvPr/>
        </p:nvGrpSpPr>
        <p:grpSpPr>
          <a:xfrm>
            <a:off x="8651448" y="2117468"/>
            <a:ext cx="2466245" cy="3298370"/>
            <a:chOff x="8651448" y="2117468"/>
            <a:chExt cx="2466245" cy="3298370"/>
          </a:xfrm>
        </p:grpSpPr>
        <p:sp>
          <p:nvSpPr>
            <p:cNvPr id="103" name="Rectangle 102">
              <a:extLst>
                <a:ext uri="{FF2B5EF4-FFF2-40B4-BE49-F238E27FC236}">
                  <a16:creationId xmlns:a16="http://schemas.microsoft.com/office/drawing/2014/main" id="{37330761-E8DF-4FCA-9009-355665985D19}"/>
                </a:ext>
                <a:ext uri="{C183D7F6-B498-43B3-948B-1728B52AA6E4}">
                  <adec:decorative xmlns:adec="http://schemas.microsoft.com/office/drawing/2017/decorative" val="1"/>
                </a:ext>
              </a:extLst>
            </p:cNvPr>
            <p:cNvSpPr/>
            <p:nvPr/>
          </p:nvSpPr>
          <p:spPr>
            <a:xfrm>
              <a:off x="8651448" y="2463430"/>
              <a:ext cx="2466245" cy="1361104"/>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a:solidFill>
                    <a:srgbClr val="36C2B4"/>
                  </a:solidFill>
                  <a:latin typeface="Amazon Ember" panose="020B0603020204020204" pitchFamily="34" charset="0"/>
                  <a:ea typeface="Amazon Ember" panose="020B0603020204020204" pitchFamily="34" charset="0"/>
                  <a:cs typeface="Amazon Ember" panose="020B0603020204020204" pitchFamily="34" charset="0"/>
                </a:rPr>
                <a:t>Private subnet</a:t>
              </a:r>
            </a:p>
          </p:txBody>
        </p:sp>
        <p:sp>
          <p:nvSpPr>
            <p:cNvPr id="104" name="Rectangle 103">
              <a:extLst>
                <a:ext uri="{FF2B5EF4-FFF2-40B4-BE49-F238E27FC236}">
                  <a16:creationId xmlns:a16="http://schemas.microsoft.com/office/drawing/2014/main" id="{46581731-63CF-4D22-80AB-4BA4BB90BFF9}"/>
                </a:ext>
                <a:ext uri="{C183D7F6-B498-43B3-948B-1728B52AA6E4}">
                  <adec:decorative xmlns:adec="http://schemas.microsoft.com/office/drawing/2017/decorative" val="1"/>
                </a:ext>
              </a:extLst>
            </p:cNvPr>
            <p:cNvSpPr/>
            <p:nvPr/>
          </p:nvSpPr>
          <p:spPr>
            <a:xfrm>
              <a:off x="8651448" y="3945885"/>
              <a:ext cx="2466245" cy="1469953"/>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a:solidFill>
                    <a:schemeClr val="accent3"/>
                  </a:solidFill>
                  <a:latin typeface="Amazon Ember" panose="020B0603020204020204" pitchFamily="34" charset="0"/>
                  <a:ea typeface="Amazon Ember" panose="020B0603020204020204" pitchFamily="34" charset="0"/>
                  <a:cs typeface="Amazon Ember" panose="020B0603020204020204" pitchFamily="34" charset="0"/>
                </a:rPr>
                <a:t>Private subnet</a:t>
              </a:r>
            </a:p>
          </p:txBody>
        </p:sp>
        <p:sp>
          <p:nvSpPr>
            <p:cNvPr id="39" name="TextBox 38">
              <a:extLst>
                <a:ext uri="{FF2B5EF4-FFF2-40B4-BE49-F238E27FC236}">
                  <a16:creationId xmlns:a16="http://schemas.microsoft.com/office/drawing/2014/main" id="{95F5BF64-A811-4851-A7BC-0C82DB3458A5}"/>
                </a:ext>
                <a:ext uri="{C183D7F6-B498-43B3-948B-1728B52AA6E4}">
                  <adec:decorative xmlns:adec="http://schemas.microsoft.com/office/drawing/2017/decorative" val="1"/>
                </a:ext>
              </a:extLst>
            </p:cNvPr>
            <p:cNvSpPr txBox="1"/>
            <p:nvPr/>
          </p:nvSpPr>
          <p:spPr>
            <a:xfrm>
              <a:off x="8993172" y="2117468"/>
              <a:ext cx="1976868" cy="342548"/>
            </a:xfrm>
            <a:prstGeom prst="rect">
              <a:avLst/>
            </a:prstGeom>
            <a:noFill/>
          </p:spPr>
          <p:txBody>
            <a:bodyPr wrap="none" rtlCol="0">
              <a:spAutoFit/>
            </a:bodyPr>
            <a:lstStyle/>
            <a:p>
              <a:r>
                <a:rPr lang="en-US" sz="1600">
                  <a:latin typeface="Amazon Ember" panose="020B0603020204020204" pitchFamily="34" charset="0"/>
                  <a:ea typeface="Amazon Ember" panose="020B0603020204020204" pitchFamily="34" charset="0"/>
                  <a:cs typeface="Amazon Ember" panose="020B0603020204020204" pitchFamily="34" charset="0"/>
                </a:rPr>
                <a:t>Availability Zone C</a:t>
              </a:r>
            </a:p>
          </p:txBody>
        </p:sp>
      </p:grpSp>
      <p:sp>
        <p:nvSpPr>
          <p:cNvPr id="42" name="Rectangle 41">
            <a:extLst>
              <a:ext uri="{FF2B5EF4-FFF2-40B4-BE49-F238E27FC236}">
                <a16:creationId xmlns:a16="http://schemas.microsoft.com/office/drawing/2014/main" id="{D21F8159-ACAF-41D2-9006-07739A924D03}"/>
              </a:ext>
              <a:ext uri="{C183D7F6-B498-43B3-948B-1728B52AA6E4}">
                <adec:decorative xmlns:adec="http://schemas.microsoft.com/office/drawing/2017/decorative" val="1"/>
              </a:ext>
            </a:extLst>
          </p:cNvPr>
          <p:cNvSpPr/>
          <p:nvPr/>
        </p:nvSpPr>
        <p:spPr>
          <a:xfrm>
            <a:off x="768808" y="1501866"/>
            <a:ext cx="10870741" cy="458665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mazon Ember" panose="020B0603020204020204" pitchFamily="34" charset="0"/>
                <a:ea typeface="Amazon Ember" panose="020B0603020204020204" pitchFamily="34" charset="0"/>
                <a:cs typeface="Amazon Ember" panose="020B0603020204020204" pitchFamily="34" charset="0"/>
              </a:rPr>
              <a:t> VPC</a:t>
            </a:r>
            <a:endParaRPr kumimoji="0" lang="en-US" sz="1200" b="0" i="0" u="none" strike="noStrike" kern="0" cap="none" spc="0" normalizeH="0" baseline="0" noProof="0">
              <a:ln w="0"/>
              <a:solidFill>
                <a:srgbClr val="1D8900"/>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pic>
        <p:nvPicPr>
          <p:cNvPr id="43" name="Graphic 42">
            <a:extLst>
              <a:ext uri="{FF2B5EF4-FFF2-40B4-BE49-F238E27FC236}">
                <a16:creationId xmlns:a16="http://schemas.microsoft.com/office/drawing/2014/main" id="{4A323B17-B6B3-47C8-BEEE-83954DE7216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8808" y="1501867"/>
            <a:ext cx="472142" cy="462594"/>
          </a:xfrm>
          <a:prstGeom prst="rect">
            <a:avLst/>
          </a:prstGeom>
        </p:spPr>
      </p:pic>
      <p:sp>
        <p:nvSpPr>
          <p:cNvPr id="5" name="Rectangle: Rounded Corners 4">
            <a:extLst>
              <a:ext uri="{FF2B5EF4-FFF2-40B4-BE49-F238E27FC236}">
                <a16:creationId xmlns:a16="http://schemas.microsoft.com/office/drawing/2014/main" id="{6E5C6BD3-CC82-46EA-9B01-38FD399E4F66}"/>
              </a:ext>
              <a:ext uri="{C183D7F6-B498-43B3-948B-1728B52AA6E4}">
                <adec:decorative xmlns:adec="http://schemas.microsoft.com/office/drawing/2017/decorative" val="1"/>
              </a:ext>
            </a:extLst>
          </p:cNvPr>
          <p:cNvSpPr/>
          <p:nvPr/>
        </p:nvSpPr>
        <p:spPr>
          <a:xfrm>
            <a:off x="2221393" y="4149634"/>
            <a:ext cx="1164011" cy="687166"/>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Amazon Ember" panose="020B0603020204020204" pitchFamily="34" charset="0"/>
                <a:ea typeface="Amazon Ember" panose="020B0603020204020204" pitchFamily="34" charset="0"/>
                <a:cs typeface="Amazon Ember" panose="020B0603020204020204" pitchFamily="34" charset="0"/>
              </a:rPr>
              <a:t>Network Interface</a:t>
            </a:r>
          </a:p>
        </p:txBody>
      </p:sp>
      <p:sp>
        <p:nvSpPr>
          <p:cNvPr id="7" name="Rectangle: Rounded Corners 6">
            <a:extLst>
              <a:ext uri="{FF2B5EF4-FFF2-40B4-BE49-F238E27FC236}">
                <a16:creationId xmlns:a16="http://schemas.microsoft.com/office/drawing/2014/main" id="{640065CB-B6BF-418E-A2FA-292617A5F12D}"/>
              </a:ext>
              <a:ext uri="{C183D7F6-B498-43B3-948B-1728B52AA6E4}">
                <adec:decorative xmlns:adec="http://schemas.microsoft.com/office/drawing/2017/decorative" val="1"/>
              </a:ext>
            </a:extLst>
          </p:cNvPr>
          <p:cNvSpPr/>
          <p:nvPr/>
        </p:nvSpPr>
        <p:spPr>
          <a:xfrm>
            <a:off x="2041187" y="4054735"/>
            <a:ext cx="1593175" cy="10541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8" name="TextBox 7">
            <a:extLst>
              <a:ext uri="{FF2B5EF4-FFF2-40B4-BE49-F238E27FC236}">
                <a16:creationId xmlns:a16="http://schemas.microsoft.com/office/drawing/2014/main" id="{AFC8156D-2D86-48F4-B9E8-1026223F07F9}"/>
              </a:ext>
              <a:ext uri="{C183D7F6-B498-43B3-948B-1728B52AA6E4}">
                <adec:decorative xmlns:adec="http://schemas.microsoft.com/office/drawing/2017/decorative" val="1"/>
              </a:ext>
            </a:extLst>
          </p:cNvPr>
          <p:cNvSpPr txBox="1"/>
          <p:nvPr/>
        </p:nvSpPr>
        <p:spPr>
          <a:xfrm>
            <a:off x="2093314" y="4813221"/>
            <a:ext cx="1760475" cy="373690"/>
          </a:xfrm>
          <a:prstGeom prst="rect">
            <a:avLst/>
          </a:prstGeom>
          <a:noFill/>
        </p:spPr>
        <p:txBody>
          <a:bodyPr wrap="square" rtlCol="0">
            <a:spAutoFit/>
          </a:bodyPr>
          <a:lstStyle/>
          <a:p>
            <a:r>
              <a:rPr lang="en-US">
                <a:latin typeface="Amazon Ember" panose="020B0603020204020204" pitchFamily="34" charset="0"/>
                <a:ea typeface="Amazon Ember" panose="020B0603020204020204" pitchFamily="34" charset="0"/>
                <a:cs typeface="Amazon Ember" panose="020B0603020204020204" pitchFamily="34" charset="0"/>
              </a:rPr>
              <a:t>Mount target</a:t>
            </a:r>
          </a:p>
        </p:txBody>
      </p:sp>
      <p:sp>
        <p:nvSpPr>
          <p:cNvPr id="116" name="Rectangle: Rounded Corners 115">
            <a:extLst>
              <a:ext uri="{FF2B5EF4-FFF2-40B4-BE49-F238E27FC236}">
                <a16:creationId xmlns:a16="http://schemas.microsoft.com/office/drawing/2014/main" id="{E2F14156-3F7C-4E2B-B749-337DB00076B3}"/>
              </a:ext>
              <a:ext uri="{C183D7F6-B498-43B3-948B-1728B52AA6E4}">
                <adec:decorative xmlns:adec="http://schemas.microsoft.com/office/drawing/2017/decorative" val="1"/>
              </a:ext>
            </a:extLst>
          </p:cNvPr>
          <p:cNvSpPr/>
          <p:nvPr/>
        </p:nvSpPr>
        <p:spPr>
          <a:xfrm>
            <a:off x="5722642" y="4173213"/>
            <a:ext cx="1164011" cy="696605"/>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Amazon Ember" panose="020B0603020204020204" pitchFamily="34" charset="0"/>
                <a:ea typeface="Amazon Ember" panose="020B0603020204020204" pitchFamily="34" charset="0"/>
                <a:cs typeface="Amazon Ember" panose="020B0603020204020204" pitchFamily="34" charset="0"/>
              </a:rPr>
              <a:t>Network Interface</a:t>
            </a:r>
          </a:p>
        </p:txBody>
      </p:sp>
      <p:sp>
        <p:nvSpPr>
          <p:cNvPr id="118" name="TextBox 117">
            <a:extLst>
              <a:ext uri="{FF2B5EF4-FFF2-40B4-BE49-F238E27FC236}">
                <a16:creationId xmlns:a16="http://schemas.microsoft.com/office/drawing/2014/main" id="{1229F2A5-CD4E-4928-B4AF-BC1DAC275886}"/>
              </a:ext>
              <a:ext uri="{C183D7F6-B498-43B3-948B-1728B52AA6E4}">
                <adec:decorative xmlns:adec="http://schemas.microsoft.com/office/drawing/2017/decorative" val="1"/>
              </a:ext>
            </a:extLst>
          </p:cNvPr>
          <p:cNvSpPr txBox="1"/>
          <p:nvPr/>
        </p:nvSpPr>
        <p:spPr>
          <a:xfrm>
            <a:off x="5594562" y="4836800"/>
            <a:ext cx="1760475" cy="373690"/>
          </a:xfrm>
          <a:prstGeom prst="rect">
            <a:avLst/>
          </a:prstGeom>
          <a:noFill/>
        </p:spPr>
        <p:txBody>
          <a:bodyPr wrap="square" rtlCol="0">
            <a:spAutoFit/>
          </a:bodyPr>
          <a:lstStyle/>
          <a:p>
            <a:r>
              <a:rPr lang="en-US">
                <a:latin typeface="Amazon Ember" panose="020B0603020204020204" pitchFamily="34" charset="0"/>
                <a:ea typeface="Amazon Ember" panose="020B0603020204020204" pitchFamily="34" charset="0"/>
                <a:cs typeface="Amazon Ember" panose="020B0603020204020204" pitchFamily="34" charset="0"/>
              </a:rPr>
              <a:t>Mount target</a:t>
            </a:r>
          </a:p>
        </p:txBody>
      </p:sp>
      <p:sp>
        <p:nvSpPr>
          <p:cNvPr id="119" name="Rectangle: Rounded Corners 118">
            <a:extLst>
              <a:ext uri="{FF2B5EF4-FFF2-40B4-BE49-F238E27FC236}">
                <a16:creationId xmlns:a16="http://schemas.microsoft.com/office/drawing/2014/main" id="{646221D7-A001-4E86-83A5-26B1408DC9D9}"/>
              </a:ext>
              <a:ext uri="{C183D7F6-B498-43B3-948B-1728B52AA6E4}">
                <adec:decorative xmlns:adec="http://schemas.microsoft.com/office/drawing/2017/decorative" val="1"/>
              </a:ext>
            </a:extLst>
          </p:cNvPr>
          <p:cNvSpPr/>
          <p:nvPr/>
        </p:nvSpPr>
        <p:spPr>
          <a:xfrm>
            <a:off x="9338411" y="4280931"/>
            <a:ext cx="1164011" cy="696605"/>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Amazon Ember" panose="020B0603020204020204" pitchFamily="34" charset="0"/>
                <a:ea typeface="Amazon Ember" panose="020B0603020204020204" pitchFamily="34" charset="0"/>
                <a:cs typeface="Amazon Ember" panose="020B0603020204020204" pitchFamily="34" charset="0"/>
              </a:rPr>
              <a:t>Network Interface</a:t>
            </a:r>
          </a:p>
        </p:txBody>
      </p:sp>
      <p:sp>
        <p:nvSpPr>
          <p:cNvPr id="127" name="Rectangle: Rounded Corners 126">
            <a:extLst>
              <a:ext uri="{FF2B5EF4-FFF2-40B4-BE49-F238E27FC236}">
                <a16:creationId xmlns:a16="http://schemas.microsoft.com/office/drawing/2014/main" id="{10EA998E-ED02-4FEA-A884-6402E33D7899}"/>
              </a:ext>
              <a:ext uri="{C183D7F6-B498-43B3-948B-1728B52AA6E4}">
                <adec:decorative xmlns:adec="http://schemas.microsoft.com/office/drawing/2017/decorative" val="1"/>
              </a:ext>
            </a:extLst>
          </p:cNvPr>
          <p:cNvSpPr/>
          <p:nvPr/>
        </p:nvSpPr>
        <p:spPr>
          <a:xfrm>
            <a:off x="9168041" y="4186032"/>
            <a:ext cx="1593175" cy="10541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129" name="TextBox 128">
            <a:extLst>
              <a:ext uri="{FF2B5EF4-FFF2-40B4-BE49-F238E27FC236}">
                <a16:creationId xmlns:a16="http://schemas.microsoft.com/office/drawing/2014/main" id="{071356BC-16FB-484D-9D34-39842506E399}"/>
              </a:ext>
              <a:ext uri="{C183D7F6-B498-43B3-948B-1728B52AA6E4}">
                <adec:decorative xmlns:adec="http://schemas.microsoft.com/office/drawing/2017/decorative" val="1"/>
              </a:ext>
            </a:extLst>
          </p:cNvPr>
          <p:cNvSpPr txBox="1"/>
          <p:nvPr/>
        </p:nvSpPr>
        <p:spPr>
          <a:xfrm>
            <a:off x="9210332" y="4944518"/>
            <a:ext cx="1760475" cy="373690"/>
          </a:xfrm>
          <a:prstGeom prst="rect">
            <a:avLst/>
          </a:prstGeom>
          <a:noFill/>
        </p:spPr>
        <p:txBody>
          <a:bodyPr wrap="square" rtlCol="0">
            <a:spAutoFit/>
          </a:bodyPr>
          <a:lstStyle/>
          <a:p>
            <a:r>
              <a:rPr lang="en-US">
                <a:latin typeface="Amazon Ember" panose="020B0603020204020204" pitchFamily="34" charset="0"/>
                <a:ea typeface="Amazon Ember" panose="020B0603020204020204" pitchFamily="34" charset="0"/>
                <a:cs typeface="Amazon Ember" panose="020B0603020204020204" pitchFamily="34" charset="0"/>
              </a:rPr>
              <a:t>Mount target</a:t>
            </a:r>
          </a:p>
        </p:txBody>
      </p:sp>
      <p:sp>
        <p:nvSpPr>
          <p:cNvPr id="132" name="Rectangle: Rounded Corners 131">
            <a:extLst>
              <a:ext uri="{FF2B5EF4-FFF2-40B4-BE49-F238E27FC236}">
                <a16:creationId xmlns:a16="http://schemas.microsoft.com/office/drawing/2014/main" id="{4F49B8BF-ED65-47DA-8EE8-F5EBBE3B7778}"/>
              </a:ext>
              <a:ext uri="{C183D7F6-B498-43B3-948B-1728B52AA6E4}">
                <adec:decorative xmlns:adec="http://schemas.microsoft.com/office/drawing/2017/decorative" val="1"/>
              </a:ext>
            </a:extLst>
          </p:cNvPr>
          <p:cNvSpPr/>
          <p:nvPr/>
        </p:nvSpPr>
        <p:spPr>
          <a:xfrm>
            <a:off x="1778334" y="2964437"/>
            <a:ext cx="811934" cy="577162"/>
          </a:xfrm>
          <a:prstGeom prst="roundRect">
            <a:avLst>
              <a:gd name="adj" fmla="val 14781"/>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Amazon Ember" panose="020B0603020204020204" pitchFamily="34" charset="0"/>
                <a:ea typeface="Amazon Ember" panose="020B0603020204020204" pitchFamily="34" charset="0"/>
                <a:cs typeface="Amazon Ember" panose="020B0603020204020204" pitchFamily="34" charset="0"/>
              </a:rPr>
              <a:t>Network Interface</a:t>
            </a:r>
          </a:p>
        </p:txBody>
      </p:sp>
      <p:sp>
        <p:nvSpPr>
          <p:cNvPr id="137" name="Rectangle: Rounded Corners 136">
            <a:extLst>
              <a:ext uri="{FF2B5EF4-FFF2-40B4-BE49-F238E27FC236}">
                <a16:creationId xmlns:a16="http://schemas.microsoft.com/office/drawing/2014/main" id="{D9092BB3-62EE-41C3-8C6A-B8583F41DCEF}"/>
              </a:ext>
              <a:ext uri="{C183D7F6-B498-43B3-948B-1728B52AA6E4}">
                <adec:decorative xmlns:adec="http://schemas.microsoft.com/office/drawing/2017/decorative" val="1"/>
              </a:ext>
            </a:extLst>
          </p:cNvPr>
          <p:cNvSpPr/>
          <p:nvPr/>
        </p:nvSpPr>
        <p:spPr>
          <a:xfrm>
            <a:off x="2991096" y="2966251"/>
            <a:ext cx="811934" cy="577162"/>
          </a:xfrm>
          <a:prstGeom prst="roundRect">
            <a:avLst>
              <a:gd name="adj" fmla="val 14781"/>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Amazon Ember" panose="020B0603020204020204" pitchFamily="34" charset="0"/>
                <a:ea typeface="Amazon Ember" panose="020B0603020204020204" pitchFamily="34" charset="0"/>
                <a:cs typeface="Amazon Ember" panose="020B0603020204020204" pitchFamily="34" charset="0"/>
              </a:rPr>
              <a:t>Network Interface</a:t>
            </a:r>
          </a:p>
        </p:txBody>
      </p:sp>
      <p:pic>
        <p:nvPicPr>
          <p:cNvPr id="138" name="Graphic 137">
            <a:extLst>
              <a:ext uri="{FF2B5EF4-FFF2-40B4-BE49-F238E27FC236}">
                <a16:creationId xmlns:a16="http://schemas.microsoft.com/office/drawing/2014/main" id="{28F82819-F1C7-4190-B765-9ECB2CD763B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96768" y="2740618"/>
            <a:ext cx="1233122" cy="1107494"/>
          </a:xfrm>
          <a:prstGeom prst="rect">
            <a:avLst/>
          </a:prstGeom>
        </p:spPr>
      </p:pic>
      <p:sp>
        <p:nvSpPr>
          <p:cNvPr id="139" name="Rectangle: Rounded Corners 138">
            <a:extLst>
              <a:ext uri="{FF2B5EF4-FFF2-40B4-BE49-F238E27FC236}">
                <a16:creationId xmlns:a16="http://schemas.microsoft.com/office/drawing/2014/main" id="{225A51EB-3539-4474-BAE3-4F0E4EA7CB71}"/>
              </a:ext>
              <a:ext uri="{C183D7F6-B498-43B3-948B-1728B52AA6E4}">
                <adec:decorative xmlns:adec="http://schemas.microsoft.com/office/drawing/2017/decorative" val="1"/>
              </a:ext>
            </a:extLst>
          </p:cNvPr>
          <p:cNvSpPr/>
          <p:nvPr/>
        </p:nvSpPr>
        <p:spPr>
          <a:xfrm>
            <a:off x="9492500" y="2989480"/>
            <a:ext cx="811934" cy="577162"/>
          </a:xfrm>
          <a:prstGeom prst="roundRect">
            <a:avLst>
              <a:gd name="adj" fmla="val 14781"/>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Amazon Ember" panose="020B0603020204020204" pitchFamily="34" charset="0"/>
                <a:ea typeface="Amazon Ember" panose="020B0603020204020204" pitchFamily="34" charset="0"/>
                <a:cs typeface="Amazon Ember" panose="020B0603020204020204" pitchFamily="34" charset="0"/>
              </a:rPr>
              <a:t>Network Interface</a:t>
            </a:r>
          </a:p>
        </p:txBody>
      </p:sp>
      <p:cxnSp>
        <p:nvCxnSpPr>
          <p:cNvPr id="149" name="Straight Arrow Connector 148">
            <a:extLst>
              <a:ext uri="{FF2B5EF4-FFF2-40B4-BE49-F238E27FC236}">
                <a16:creationId xmlns:a16="http://schemas.microsoft.com/office/drawing/2014/main" id="{B342FC70-C5CA-407B-B606-6D3A51E2C09E}"/>
              </a:ext>
              <a:ext uri="{C183D7F6-B498-43B3-948B-1728B52AA6E4}">
                <adec:decorative xmlns:adec="http://schemas.microsoft.com/office/drawing/2017/decorative" val="1"/>
              </a:ext>
            </a:extLst>
          </p:cNvPr>
          <p:cNvCxnSpPr>
            <a:cxnSpLocks/>
          </p:cNvCxnSpPr>
          <p:nvPr/>
        </p:nvCxnSpPr>
        <p:spPr>
          <a:xfrm>
            <a:off x="2104424" y="3722771"/>
            <a:ext cx="496954" cy="361554"/>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92B36C2D-D228-4568-9E1F-8D9EFEE556F8}"/>
              </a:ext>
              <a:ext uri="{C183D7F6-B498-43B3-948B-1728B52AA6E4}">
                <adec:decorative xmlns:adec="http://schemas.microsoft.com/office/drawing/2017/decorative" val="1"/>
              </a:ext>
            </a:extLst>
          </p:cNvPr>
          <p:cNvCxnSpPr>
            <a:cxnSpLocks/>
          </p:cNvCxnSpPr>
          <p:nvPr/>
        </p:nvCxnSpPr>
        <p:spPr>
          <a:xfrm flipH="1">
            <a:off x="3076200" y="3703123"/>
            <a:ext cx="400828" cy="37519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A2F7B282-C55D-40B5-B7D6-31AB47AB6D39}"/>
              </a:ext>
              <a:ext uri="{C183D7F6-B498-43B3-948B-1728B52AA6E4}">
                <adec:decorative xmlns:adec="http://schemas.microsoft.com/office/drawing/2017/decorative" val="1"/>
              </a:ext>
            </a:extLst>
          </p:cNvPr>
          <p:cNvCxnSpPr>
            <a:cxnSpLocks/>
          </p:cNvCxnSpPr>
          <p:nvPr/>
        </p:nvCxnSpPr>
        <p:spPr>
          <a:xfrm>
            <a:off x="9982183" y="3848112"/>
            <a:ext cx="7087" cy="277188"/>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20C6AEE9-1952-4436-8D40-0DD53F626883}"/>
              </a:ext>
              <a:ext uri="{C183D7F6-B498-43B3-948B-1728B52AA6E4}">
                <adec:decorative xmlns:adec="http://schemas.microsoft.com/office/drawing/2017/decorative" val="1"/>
              </a:ext>
            </a:extLst>
          </p:cNvPr>
          <p:cNvCxnSpPr>
            <a:cxnSpLocks/>
            <a:endCxn id="112" idx="0"/>
          </p:cNvCxnSpPr>
          <p:nvPr/>
        </p:nvCxnSpPr>
        <p:spPr>
          <a:xfrm>
            <a:off x="6348786" y="5157553"/>
            <a:ext cx="12312" cy="677259"/>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25770BDF-0021-4AE6-966E-B94F363C5367}"/>
              </a:ext>
              <a:ext uri="{C183D7F6-B498-43B3-948B-1728B52AA6E4}">
                <adec:decorative xmlns:adec="http://schemas.microsoft.com/office/drawing/2017/decorative" val="1"/>
              </a:ext>
            </a:extLst>
          </p:cNvPr>
          <p:cNvCxnSpPr>
            <a:stCxn id="112" idx="1"/>
            <a:endCxn id="101" idx="2"/>
          </p:cNvCxnSpPr>
          <p:nvPr/>
        </p:nvCxnSpPr>
        <p:spPr>
          <a:xfrm rot="10800000">
            <a:off x="2796616" y="5415839"/>
            <a:ext cx="3197261" cy="778770"/>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6BF3DE60-8942-4FD3-9B79-3AA898881E9A}"/>
              </a:ext>
              <a:ext uri="{C183D7F6-B498-43B3-948B-1728B52AA6E4}">
                <adec:decorative xmlns:adec="http://schemas.microsoft.com/office/drawing/2017/decorative" val="1"/>
              </a:ext>
            </a:extLst>
          </p:cNvPr>
          <p:cNvSpPr/>
          <p:nvPr/>
        </p:nvSpPr>
        <p:spPr>
          <a:xfrm>
            <a:off x="1196887" y="2017695"/>
            <a:ext cx="3221673" cy="3613677"/>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12" name="Graphic 111">
            <a:extLst>
              <a:ext uri="{FF2B5EF4-FFF2-40B4-BE49-F238E27FC236}">
                <a16:creationId xmlns:a16="http://schemas.microsoft.com/office/drawing/2014/main" id="{14945D8A-36C4-4F28-9164-A2C4FBA5220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93876" y="5834813"/>
            <a:ext cx="734443" cy="719591"/>
          </a:xfrm>
          <a:prstGeom prst="rect">
            <a:avLst/>
          </a:prstGeom>
        </p:spPr>
      </p:pic>
      <p:sp>
        <p:nvSpPr>
          <p:cNvPr id="4" name="TextBox 3">
            <a:extLst>
              <a:ext uri="{FF2B5EF4-FFF2-40B4-BE49-F238E27FC236}">
                <a16:creationId xmlns:a16="http://schemas.microsoft.com/office/drawing/2014/main" id="{B399C12D-4553-4967-96E4-907659D6C626}"/>
              </a:ext>
              <a:ext uri="{C183D7F6-B498-43B3-948B-1728B52AA6E4}">
                <adec:decorative xmlns:adec="http://schemas.microsoft.com/office/drawing/2017/decorative" val="1"/>
              </a:ext>
            </a:extLst>
          </p:cNvPr>
          <p:cNvSpPr txBox="1"/>
          <p:nvPr/>
        </p:nvSpPr>
        <p:spPr>
          <a:xfrm>
            <a:off x="6876754" y="6163579"/>
            <a:ext cx="2400647" cy="404831"/>
          </a:xfrm>
          <a:prstGeom prst="rect">
            <a:avLst/>
          </a:prstGeom>
          <a:noFill/>
        </p:spPr>
        <p:txBody>
          <a:bodyPr wrap="none" rtlCol="0">
            <a:spAutoFit/>
          </a:bodyPr>
          <a:lstStyle/>
          <a:p>
            <a:r>
              <a:rPr lang="en-US" sz="2000">
                <a:latin typeface="Amazon Ember" panose="020B0603020204020204" pitchFamily="34" charset="0"/>
                <a:ea typeface="Amazon Ember" panose="020B0603020204020204" pitchFamily="34" charset="0"/>
                <a:cs typeface="Amazon Ember" panose="020B0603020204020204" pitchFamily="34" charset="0"/>
              </a:rPr>
              <a:t>Elastic File System</a:t>
            </a:r>
          </a:p>
        </p:txBody>
      </p:sp>
      <p:sp>
        <p:nvSpPr>
          <p:cNvPr id="117" name="Rectangle: Rounded Corners 116">
            <a:extLst>
              <a:ext uri="{FF2B5EF4-FFF2-40B4-BE49-F238E27FC236}">
                <a16:creationId xmlns:a16="http://schemas.microsoft.com/office/drawing/2014/main" id="{A6D3EFF5-19A0-495C-A6A9-F2709A8DA9E5}"/>
              </a:ext>
              <a:ext uri="{C183D7F6-B498-43B3-948B-1728B52AA6E4}">
                <adec:decorative xmlns:adec="http://schemas.microsoft.com/office/drawing/2017/decorative" val="1"/>
              </a:ext>
            </a:extLst>
          </p:cNvPr>
          <p:cNvSpPr/>
          <p:nvPr/>
        </p:nvSpPr>
        <p:spPr>
          <a:xfrm>
            <a:off x="5542436" y="4078313"/>
            <a:ext cx="1593175" cy="10541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Rectangle 34">
            <a:extLst>
              <a:ext uri="{FF2B5EF4-FFF2-40B4-BE49-F238E27FC236}">
                <a16:creationId xmlns:a16="http://schemas.microsoft.com/office/drawing/2014/main" id="{0C6B7B10-DA06-45DC-885A-14D7BCEA241F}"/>
              </a:ext>
              <a:ext uri="{C183D7F6-B498-43B3-948B-1728B52AA6E4}">
                <adec:decorative xmlns:adec="http://schemas.microsoft.com/office/drawing/2017/decorative" val="1"/>
              </a:ext>
            </a:extLst>
          </p:cNvPr>
          <p:cNvSpPr/>
          <p:nvPr/>
        </p:nvSpPr>
        <p:spPr>
          <a:xfrm>
            <a:off x="4697912" y="2033233"/>
            <a:ext cx="3221673" cy="3613677"/>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6" name="Rectangle 35">
            <a:extLst>
              <a:ext uri="{FF2B5EF4-FFF2-40B4-BE49-F238E27FC236}">
                <a16:creationId xmlns:a16="http://schemas.microsoft.com/office/drawing/2014/main" id="{A3DC0A8F-02F0-4694-BE89-F0F26AB4ECF6}"/>
              </a:ext>
              <a:ext uri="{C183D7F6-B498-43B3-948B-1728B52AA6E4}">
                <adec:decorative xmlns:adec="http://schemas.microsoft.com/office/drawing/2017/decorative" val="1"/>
              </a:ext>
            </a:extLst>
          </p:cNvPr>
          <p:cNvSpPr/>
          <p:nvPr/>
        </p:nvSpPr>
        <p:spPr>
          <a:xfrm>
            <a:off x="8210046" y="2017694"/>
            <a:ext cx="3221673" cy="3613677"/>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1175504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30</a:t>
            </a:fld>
            <a:endParaRPr lang="en-US"/>
          </a:p>
        </p:txBody>
      </p:sp>
      <p:sp>
        <p:nvSpPr>
          <p:cNvPr id="2" name="Title 1"/>
          <p:cNvSpPr>
            <a:spLocks noGrp="1"/>
          </p:cNvSpPr>
          <p:nvPr>
            <p:ph type="title"/>
          </p:nvPr>
        </p:nvSpPr>
        <p:spPr/>
        <p:txBody>
          <a:bodyPr/>
          <a:lstStyle/>
          <a:p>
            <a:r>
              <a:rPr lang="en-US"/>
              <a:t>Amazon EFS implementation</a:t>
            </a:r>
          </a:p>
        </p:txBody>
      </p:sp>
      <p:sp>
        <p:nvSpPr>
          <p:cNvPr id="12" name="Content Placeholder 11">
            <a:extLst>
              <a:ext uri="{C183D7F6-B498-43B3-948B-1728B52AA6E4}">
                <adec:decorative xmlns:adec="http://schemas.microsoft.com/office/drawing/2017/decorative" val="1"/>
              </a:ext>
            </a:extLst>
          </p:cNvPr>
          <p:cNvSpPr>
            <a:spLocks noGrp="1"/>
          </p:cNvSpPr>
          <p:nvPr>
            <p:ph sz="quarter" idx="21"/>
          </p:nvPr>
        </p:nvSpPr>
        <p:spPr>
          <a:xfrm>
            <a:off x="1028700" y="1143000"/>
            <a:ext cx="10924950" cy="5291750"/>
          </a:xfrm>
        </p:spPr>
        <p:txBody>
          <a:bodyPr>
            <a:normAutofit/>
          </a:bodyPr>
          <a:lstStyle/>
          <a:p>
            <a:pPr marL="0" indent="0">
              <a:lnSpc>
                <a:spcPct val="93000"/>
              </a:lnSpc>
              <a:spcBef>
                <a:spcPts val="3200"/>
              </a:spcBef>
              <a:buNone/>
            </a:pPr>
            <a:r>
              <a:rPr lang="en-US" sz="2400"/>
              <a:t>Create your Amazon EC2 resources and launch your Amazon EC2 instance.</a:t>
            </a:r>
          </a:p>
          <a:p>
            <a:pPr marL="0" indent="0">
              <a:lnSpc>
                <a:spcPct val="93000"/>
              </a:lnSpc>
              <a:spcBef>
                <a:spcPts val="3200"/>
              </a:spcBef>
              <a:buNone/>
            </a:pPr>
            <a:r>
              <a:rPr lang="en-US" sz="2400"/>
              <a:t>Create your Amazon EFS file system.</a:t>
            </a:r>
          </a:p>
          <a:p>
            <a:pPr marL="0" indent="0">
              <a:lnSpc>
                <a:spcPct val="93000"/>
              </a:lnSpc>
              <a:spcBef>
                <a:spcPts val="3200"/>
              </a:spcBef>
              <a:buNone/>
              <a:tabLst>
                <a:tab pos="1528195" algn="l"/>
                <a:tab pos="1674242" algn="l"/>
              </a:tabLst>
            </a:pPr>
            <a:r>
              <a:rPr lang="en-US" sz="2400"/>
              <a:t>Create your mount targets in the appropriate subnets. </a:t>
            </a:r>
          </a:p>
          <a:p>
            <a:pPr marL="0" indent="0">
              <a:lnSpc>
                <a:spcPct val="93000"/>
              </a:lnSpc>
              <a:spcBef>
                <a:spcPts val="3200"/>
              </a:spcBef>
              <a:buNone/>
              <a:tabLst>
                <a:tab pos="1528195" algn="l"/>
                <a:tab pos="1674242" algn="l"/>
              </a:tabLst>
            </a:pPr>
            <a:r>
              <a:rPr lang="en-US" sz="2400"/>
              <a:t>Connect your Amazon EC2 instances to the mount targets.</a:t>
            </a:r>
          </a:p>
          <a:p>
            <a:pPr marL="0" indent="0">
              <a:lnSpc>
                <a:spcPct val="93000"/>
              </a:lnSpc>
              <a:spcBef>
                <a:spcPts val="3200"/>
              </a:spcBef>
              <a:buNone/>
              <a:tabLst>
                <a:tab pos="1528195" algn="l"/>
                <a:tab pos="1674242" algn="l"/>
              </a:tabLst>
            </a:pPr>
            <a:r>
              <a:rPr lang="en-US" sz="2400"/>
              <a:t>Verify the resources and protection of your AWS account.</a:t>
            </a:r>
          </a:p>
        </p:txBody>
      </p:sp>
      <p:sp>
        <p:nvSpPr>
          <p:cNvPr id="14" name="Oval 13">
            <a:extLst>
              <a:ext uri="{C183D7F6-B498-43B3-948B-1728B52AA6E4}">
                <adec:decorative xmlns:adec="http://schemas.microsoft.com/office/drawing/2017/decorative" val="1"/>
              </a:ext>
            </a:extLst>
          </p:cNvPr>
          <p:cNvSpPr>
            <a:spLocks noChangeAspect="1"/>
          </p:cNvSpPr>
          <p:nvPr/>
        </p:nvSpPr>
        <p:spPr>
          <a:xfrm>
            <a:off x="318541" y="1185069"/>
            <a:ext cx="408216" cy="408216"/>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133" b="1">
                <a:solidFill>
                  <a:schemeClr val="bg1">
                    <a:lumMod val="95000"/>
                  </a:schemeClr>
                </a:solidFill>
              </a:rPr>
              <a:t>1</a:t>
            </a:r>
          </a:p>
        </p:txBody>
      </p:sp>
      <p:sp>
        <p:nvSpPr>
          <p:cNvPr id="15" name="Oval 14">
            <a:extLst>
              <a:ext uri="{C183D7F6-B498-43B3-948B-1728B52AA6E4}">
                <adec:decorative xmlns:adec="http://schemas.microsoft.com/office/drawing/2017/decorative" val="1"/>
              </a:ext>
            </a:extLst>
          </p:cNvPr>
          <p:cNvSpPr>
            <a:spLocks noChangeAspect="1"/>
          </p:cNvSpPr>
          <p:nvPr/>
        </p:nvSpPr>
        <p:spPr>
          <a:xfrm>
            <a:off x="318541" y="1993471"/>
            <a:ext cx="408216" cy="408216"/>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133" b="1">
                <a:solidFill>
                  <a:schemeClr val="bg1">
                    <a:lumMod val="95000"/>
                  </a:schemeClr>
                </a:solidFill>
              </a:rPr>
              <a:t>2</a:t>
            </a:r>
          </a:p>
        </p:txBody>
      </p:sp>
      <p:sp>
        <p:nvSpPr>
          <p:cNvPr id="16" name="Oval 15">
            <a:extLst>
              <a:ext uri="{C183D7F6-B498-43B3-948B-1728B52AA6E4}">
                <adec:decorative xmlns:adec="http://schemas.microsoft.com/office/drawing/2017/decorative" val="1"/>
              </a:ext>
            </a:extLst>
          </p:cNvPr>
          <p:cNvSpPr>
            <a:spLocks noChangeAspect="1"/>
          </p:cNvSpPr>
          <p:nvPr/>
        </p:nvSpPr>
        <p:spPr>
          <a:xfrm>
            <a:off x="332852" y="2801873"/>
            <a:ext cx="408216" cy="408216"/>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133" b="1">
                <a:solidFill>
                  <a:schemeClr val="bg1">
                    <a:lumMod val="95000"/>
                  </a:schemeClr>
                </a:solidFill>
              </a:rPr>
              <a:t>3</a:t>
            </a:r>
          </a:p>
        </p:txBody>
      </p:sp>
      <p:sp>
        <p:nvSpPr>
          <p:cNvPr id="17" name="Oval 16">
            <a:extLst>
              <a:ext uri="{C183D7F6-B498-43B3-948B-1728B52AA6E4}">
                <adec:decorative xmlns:adec="http://schemas.microsoft.com/office/drawing/2017/decorative" val="1"/>
              </a:ext>
            </a:extLst>
          </p:cNvPr>
          <p:cNvSpPr>
            <a:spLocks noChangeAspect="1"/>
          </p:cNvSpPr>
          <p:nvPr/>
        </p:nvSpPr>
        <p:spPr>
          <a:xfrm>
            <a:off x="318541" y="3610275"/>
            <a:ext cx="408216" cy="408216"/>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133" b="1">
                <a:solidFill>
                  <a:schemeClr val="bg1">
                    <a:lumMod val="95000"/>
                  </a:schemeClr>
                </a:solidFill>
              </a:rPr>
              <a:t>4</a:t>
            </a:r>
          </a:p>
        </p:txBody>
      </p:sp>
      <p:sp>
        <p:nvSpPr>
          <p:cNvPr id="20" name="Oval 19">
            <a:extLst>
              <a:ext uri="{C183D7F6-B498-43B3-948B-1728B52AA6E4}">
                <adec:decorative xmlns:adec="http://schemas.microsoft.com/office/drawing/2017/decorative" val="1"/>
              </a:ext>
            </a:extLst>
          </p:cNvPr>
          <p:cNvSpPr>
            <a:spLocks noChangeAspect="1"/>
          </p:cNvSpPr>
          <p:nvPr/>
        </p:nvSpPr>
        <p:spPr>
          <a:xfrm>
            <a:off x="332852" y="4418676"/>
            <a:ext cx="408216" cy="408216"/>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133" b="1">
                <a:solidFill>
                  <a:schemeClr val="bg1">
                    <a:lumMod val="95000"/>
                  </a:schemeClr>
                </a:solidFill>
              </a:rPr>
              <a:t>5</a:t>
            </a:r>
          </a:p>
        </p:txBody>
      </p:sp>
    </p:spTree>
    <p:custDataLst>
      <p:tags r:id="rId1"/>
    </p:custDataLst>
    <p:extLst>
      <p:ext uri="{BB962C8B-B14F-4D97-AF65-F5344CB8AC3E}">
        <p14:creationId xmlns:p14="http://schemas.microsoft.com/office/powerpoint/2010/main" val="1388177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31</a:t>
            </a:fld>
            <a:endParaRPr lang="en-US"/>
          </a:p>
        </p:txBody>
      </p:sp>
      <p:sp>
        <p:nvSpPr>
          <p:cNvPr id="2" name="Title 1"/>
          <p:cNvSpPr>
            <a:spLocks noGrp="1"/>
          </p:cNvSpPr>
          <p:nvPr>
            <p:ph type="title"/>
          </p:nvPr>
        </p:nvSpPr>
        <p:spPr/>
        <p:txBody>
          <a:bodyPr/>
          <a:lstStyle/>
          <a:p>
            <a:r>
              <a:rPr lang="en-US"/>
              <a:t>Amazon EFS resources</a:t>
            </a:r>
          </a:p>
        </p:txBody>
      </p:sp>
      <p:sp>
        <p:nvSpPr>
          <p:cNvPr id="3" name="Content Placeholder 2"/>
          <p:cNvSpPr>
            <a:spLocks noGrp="1"/>
          </p:cNvSpPr>
          <p:nvPr>
            <p:ph sz="quarter" idx="21"/>
          </p:nvPr>
        </p:nvSpPr>
        <p:spPr/>
        <p:txBody>
          <a:bodyPr>
            <a:normAutofit fontScale="92500" lnSpcReduction="10000"/>
          </a:bodyPr>
          <a:lstStyle/>
          <a:p>
            <a:pPr marL="0" indent="0">
              <a:buNone/>
            </a:pPr>
            <a:r>
              <a:rPr lang="en-US" sz="3000"/>
              <a:t>File system</a:t>
            </a:r>
          </a:p>
          <a:p>
            <a:pPr marL="746125" lvl="1" indent="-457200" algn="just">
              <a:spcBef>
                <a:spcPts val="1000"/>
              </a:spcBef>
              <a:spcAft>
                <a:spcPts val="800"/>
              </a:spcAft>
            </a:pPr>
            <a:r>
              <a:rPr lang="en-US" sz="2600"/>
              <a:t>Mount target</a:t>
            </a:r>
          </a:p>
          <a:p>
            <a:pPr marL="1262063" lvl="1" indent="-457200">
              <a:lnSpc>
                <a:spcPct val="140000"/>
              </a:lnSpc>
              <a:spcBef>
                <a:spcPts val="0"/>
              </a:spcBef>
              <a:buClr>
                <a:schemeClr val="bg2">
                  <a:lumMod val="10000"/>
                </a:schemeClr>
              </a:buClr>
            </a:pPr>
            <a:r>
              <a:rPr lang="en-US" sz="2200"/>
              <a:t>Subnet ID</a:t>
            </a:r>
          </a:p>
          <a:p>
            <a:pPr marL="1262063" lvl="1" indent="-457200">
              <a:lnSpc>
                <a:spcPct val="150000"/>
              </a:lnSpc>
              <a:spcBef>
                <a:spcPts val="0"/>
              </a:spcBef>
              <a:buClr>
                <a:schemeClr val="bg2">
                  <a:lumMod val="10000"/>
                </a:schemeClr>
              </a:buClr>
            </a:pPr>
            <a:r>
              <a:rPr lang="en-US" sz="2200"/>
              <a:t>Security groups</a:t>
            </a:r>
          </a:p>
          <a:p>
            <a:pPr marL="1262063" lvl="1" indent="-457200">
              <a:lnSpc>
                <a:spcPct val="150000"/>
              </a:lnSpc>
              <a:spcBef>
                <a:spcPts val="0"/>
              </a:spcBef>
              <a:buClr>
                <a:schemeClr val="bg2">
                  <a:lumMod val="10000"/>
                </a:schemeClr>
              </a:buClr>
            </a:pPr>
            <a:r>
              <a:rPr lang="en-US" sz="2200"/>
              <a:t>One or more per file system</a:t>
            </a:r>
          </a:p>
          <a:p>
            <a:pPr marL="1262063" lvl="1" indent="-457200">
              <a:lnSpc>
                <a:spcPct val="150000"/>
              </a:lnSpc>
              <a:spcBef>
                <a:spcPts val="0"/>
              </a:spcBef>
              <a:buClr>
                <a:schemeClr val="bg2">
                  <a:lumMod val="10000"/>
                </a:schemeClr>
              </a:buClr>
            </a:pPr>
            <a:r>
              <a:rPr lang="en-US" sz="2200"/>
              <a:t>Create in a VPC subnet</a:t>
            </a:r>
          </a:p>
          <a:p>
            <a:pPr marL="1262063" lvl="1" indent="-457200">
              <a:lnSpc>
                <a:spcPct val="150000"/>
              </a:lnSpc>
              <a:spcBef>
                <a:spcPts val="0"/>
              </a:spcBef>
              <a:buClr>
                <a:schemeClr val="bg2">
                  <a:lumMod val="10000"/>
                </a:schemeClr>
              </a:buClr>
            </a:pPr>
            <a:r>
              <a:rPr lang="en-US" sz="2200"/>
              <a:t>One per Availability Zone</a:t>
            </a:r>
          </a:p>
          <a:p>
            <a:pPr marL="1262063" lvl="1" indent="-457200">
              <a:lnSpc>
                <a:spcPct val="150000"/>
              </a:lnSpc>
              <a:spcBef>
                <a:spcPts val="0"/>
              </a:spcBef>
              <a:buClr>
                <a:schemeClr val="bg2">
                  <a:lumMod val="10000"/>
                </a:schemeClr>
              </a:buClr>
            </a:pPr>
            <a:r>
              <a:rPr lang="en-US" sz="2200"/>
              <a:t>Must be in the same VPC</a:t>
            </a:r>
          </a:p>
          <a:p>
            <a:pPr marL="746125" lvl="1" indent="-457200" algn="just">
              <a:spcBef>
                <a:spcPts val="1000"/>
              </a:spcBef>
              <a:spcAft>
                <a:spcPts val="800"/>
              </a:spcAft>
            </a:pPr>
            <a:r>
              <a:rPr lang="en-US" sz="2600"/>
              <a:t>Tags</a:t>
            </a:r>
          </a:p>
          <a:p>
            <a:pPr marL="1262063" lvl="1" indent="-457200">
              <a:lnSpc>
                <a:spcPct val="150000"/>
              </a:lnSpc>
              <a:spcBef>
                <a:spcPts val="0"/>
              </a:spcBef>
              <a:buClr>
                <a:schemeClr val="bg2">
                  <a:lumMod val="10000"/>
                </a:schemeClr>
              </a:buClr>
            </a:pPr>
            <a:r>
              <a:rPr lang="en-US" sz="2200"/>
              <a:t>Key-value pairs</a:t>
            </a:r>
          </a:p>
        </p:txBody>
      </p:sp>
      <p:pic>
        <p:nvPicPr>
          <p:cNvPr id="20" name="Picture 19">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59941" y="2805005"/>
            <a:ext cx="3022600" cy="2527300"/>
          </a:xfrm>
          <a:prstGeom prst="rect">
            <a:avLst/>
          </a:prstGeom>
        </p:spPr>
      </p:pic>
    </p:spTree>
    <p:custDataLst>
      <p:tags r:id="rId1"/>
    </p:custDataLst>
    <p:extLst>
      <p:ext uri="{BB962C8B-B14F-4D97-AF65-F5344CB8AC3E}">
        <p14:creationId xmlns:p14="http://schemas.microsoft.com/office/powerpoint/2010/main" val="10756732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32</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t>Section 3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sz="2400"/>
              <a:t>Amazon EFS provides file storage over a network.</a:t>
            </a:r>
          </a:p>
          <a:p>
            <a:r>
              <a:rPr lang="en-US" sz="2400"/>
              <a:t>Perfect for big data and analytics, media processing workflows, content management, web serving, and home directories.</a:t>
            </a:r>
          </a:p>
          <a:p>
            <a:r>
              <a:rPr lang="en-US" sz="2400"/>
              <a:t>Fully managed service that eliminates storage administration tasks.</a:t>
            </a:r>
          </a:p>
          <a:p>
            <a:r>
              <a:rPr lang="en-US" sz="2400"/>
              <a:t>Accessible from the console, an API, or the CLI.</a:t>
            </a:r>
          </a:p>
          <a:p>
            <a:r>
              <a:rPr lang="en-US" sz="2400"/>
              <a:t>Scales up or down as files are added or removed and you pay for what you use.</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30679902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920E99-7586-D1A4-A04C-B7E39DACF1BE}"/>
              </a:ext>
            </a:extLst>
          </p:cNvPr>
          <p:cNvSpPr>
            <a:spLocks noGrp="1"/>
          </p:cNvSpPr>
          <p:nvPr>
            <p:ph type="sldNum" sz="quarter" idx="20"/>
          </p:nvPr>
        </p:nvSpPr>
        <p:spPr/>
        <p:txBody>
          <a:bodyPr/>
          <a:lstStyle/>
          <a:p>
            <a:fld id="{930176A1-BCF0-4712-97A6-6B495F55390B}" type="slidenum">
              <a:rPr lang="en-US" smtClean="0"/>
              <a:pPr/>
              <a:t>33</a:t>
            </a:fld>
            <a:endParaRPr lang="en-US"/>
          </a:p>
        </p:txBody>
      </p:sp>
      <p:sp>
        <p:nvSpPr>
          <p:cNvPr id="3" name="Title 2">
            <a:extLst>
              <a:ext uri="{FF2B5EF4-FFF2-40B4-BE49-F238E27FC236}">
                <a16:creationId xmlns:a16="http://schemas.microsoft.com/office/drawing/2014/main" id="{54856285-A5E0-AA3A-9B0D-71A5ED3EECAA}"/>
              </a:ext>
            </a:extLst>
          </p:cNvPr>
          <p:cNvSpPr>
            <a:spLocks noGrp="1"/>
          </p:cNvSpPr>
          <p:nvPr>
            <p:ph type="title"/>
          </p:nvPr>
        </p:nvSpPr>
        <p:spPr/>
        <p:txBody>
          <a:bodyPr/>
          <a:lstStyle/>
          <a:p>
            <a:r>
              <a:rPr lang="en-US" dirty="0"/>
              <a:t>EBS vs. EFS</a:t>
            </a:r>
          </a:p>
        </p:txBody>
      </p:sp>
      <p:sp>
        <p:nvSpPr>
          <p:cNvPr id="4" name="Subtitle 3">
            <a:extLst>
              <a:ext uri="{FF2B5EF4-FFF2-40B4-BE49-F238E27FC236}">
                <a16:creationId xmlns:a16="http://schemas.microsoft.com/office/drawing/2014/main" id="{C233A8CE-954C-6349-E676-2688DDB90708}"/>
              </a:ext>
            </a:extLst>
          </p:cNvPr>
          <p:cNvSpPr>
            <a:spLocks noGrp="1"/>
          </p:cNvSpPr>
          <p:nvPr>
            <p:ph type="subTitle" idx="3"/>
          </p:nvPr>
        </p:nvSpPr>
        <p:spPr/>
        <p:txBody>
          <a:bodyPr/>
          <a:lstStyle/>
          <a:p>
            <a:r>
              <a:rPr lang="en-US" dirty="0"/>
              <a:t>Know the difference!</a:t>
            </a:r>
          </a:p>
        </p:txBody>
      </p:sp>
      <p:sp>
        <p:nvSpPr>
          <p:cNvPr id="5" name="Text Placeholder 4">
            <a:extLst>
              <a:ext uri="{FF2B5EF4-FFF2-40B4-BE49-F238E27FC236}">
                <a16:creationId xmlns:a16="http://schemas.microsoft.com/office/drawing/2014/main" id="{F08C5BA2-9824-7934-B545-ED3AFD836A33}"/>
              </a:ext>
            </a:extLst>
          </p:cNvPr>
          <p:cNvSpPr>
            <a:spLocks noGrp="1"/>
          </p:cNvSpPr>
          <p:nvPr>
            <p:ph type="body" idx="1"/>
          </p:nvPr>
        </p:nvSpPr>
        <p:spPr>
          <a:xfrm>
            <a:off x="365760" y="1591056"/>
            <a:ext cx="5669280" cy="3420559"/>
          </a:xfrm>
        </p:spPr>
        <p:txBody>
          <a:bodyPr/>
          <a:lstStyle/>
          <a:p>
            <a:pPr marL="0" indent="0">
              <a:buNone/>
            </a:pPr>
            <a:r>
              <a:rPr lang="en-US" b="1" dirty="0"/>
              <a:t>EBS (Elastic Block Store)</a:t>
            </a:r>
          </a:p>
          <a:p>
            <a:r>
              <a:rPr lang="en-US" dirty="0"/>
              <a:t>Attached to a </a:t>
            </a:r>
            <a:r>
              <a:rPr lang="en-US" b="1" dirty="0"/>
              <a:t>single</a:t>
            </a:r>
            <a:r>
              <a:rPr lang="en-US" dirty="0"/>
              <a:t> EC2 instance at a time</a:t>
            </a:r>
          </a:p>
          <a:p>
            <a:r>
              <a:rPr lang="en-US" dirty="0"/>
              <a:t>Fixed size</a:t>
            </a:r>
          </a:p>
          <a:p>
            <a:r>
              <a:rPr lang="en-US" dirty="0"/>
              <a:t>Single availability zone</a:t>
            </a:r>
          </a:p>
          <a:p>
            <a:r>
              <a:rPr lang="en-US" dirty="0"/>
              <a:t>Stores "blocks" not "files"</a:t>
            </a:r>
          </a:p>
        </p:txBody>
      </p:sp>
      <p:sp>
        <p:nvSpPr>
          <p:cNvPr id="6" name="Text Placeholder 5">
            <a:extLst>
              <a:ext uri="{FF2B5EF4-FFF2-40B4-BE49-F238E27FC236}">
                <a16:creationId xmlns:a16="http://schemas.microsoft.com/office/drawing/2014/main" id="{548D4FC0-080E-1F1D-D867-ED470FA5707B}"/>
              </a:ext>
            </a:extLst>
          </p:cNvPr>
          <p:cNvSpPr>
            <a:spLocks noGrp="1"/>
          </p:cNvSpPr>
          <p:nvPr>
            <p:ph type="body" idx="2"/>
          </p:nvPr>
        </p:nvSpPr>
        <p:spPr>
          <a:xfrm>
            <a:off x="6197321" y="1591056"/>
            <a:ext cx="5669280" cy="3262298"/>
          </a:xfrm>
        </p:spPr>
        <p:txBody>
          <a:bodyPr/>
          <a:lstStyle/>
          <a:p>
            <a:pPr marL="0" indent="0">
              <a:buNone/>
            </a:pPr>
            <a:r>
              <a:rPr lang="en-US" b="1" dirty="0"/>
              <a:t>EFS (Elastic File Store)</a:t>
            </a:r>
          </a:p>
          <a:p>
            <a:r>
              <a:rPr lang="en-US" dirty="0"/>
              <a:t>Attached to multiple EC2 instances</a:t>
            </a:r>
          </a:p>
          <a:p>
            <a:r>
              <a:rPr lang="en-US" dirty="0"/>
              <a:t>Automatic scaling (elastic)</a:t>
            </a:r>
          </a:p>
          <a:p>
            <a:r>
              <a:rPr lang="en-US" dirty="0"/>
              <a:t>Multiple availability zones</a:t>
            </a:r>
          </a:p>
          <a:p>
            <a:r>
              <a:rPr lang="en-US" dirty="0"/>
              <a:t>Stores "files" not "blocks"</a:t>
            </a:r>
          </a:p>
        </p:txBody>
      </p:sp>
      <p:sp>
        <p:nvSpPr>
          <p:cNvPr id="7" name="Text Placeholder 4">
            <a:extLst>
              <a:ext uri="{FF2B5EF4-FFF2-40B4-BE49-F238E27FC236}">
                <a16:creationId xmlns:a16="http://schemas.microsoft.com/office/drawing/2014/main" id="{3770C342-5D6D-A383-3065-B3E92B047D2F}"/>
              </a:ext>
            </a:extLst>
          </p:cNvPr>
          <p:cNvSpPr txBox="1">
            <a:spLocks/>
          </p:cNvSpPr>
          <p:nvPr/>
        </p:nvSpPr>
        <p:spPr>
          <a:xfrm>
            <a:off x="365760" y="5011615"/>
            <a:ext cx="5669280" cy="3420559"/>
          </a:xfrm>
          <a:prstGeom prst="rect">
            <a:avLst/>
          </a:prstGeom>
        </p:spPr>
        <p:txBody>
          <a:bodyPr vert="horz" lIns="91440" tIns="45720" rIns="91440" bIns="45720" rtlCol="0">
            <a:no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61963" indent="-228600"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4213" indent="-228600"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28600"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4588" indent="-228600"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buFont typeface="Amazon Ember"/>
              <a:buNone/>
            </a:pPr>
            <a:r>
              <a:rPr lang="en-US" b="1" dirty="0"/>
              <a:t>Analogy: a virtual solid state drive</a:t>
            </a:r>
            <a:endParaRPr lang="en-US" dirty="0"/>
          </a:p>
        </p:txBody>
      </p:sp>
      <p:sp>
        <p:nvSpPr>
          <p:cNvPr id="8" name="Text Placeholder 4">
            <a:extLst>
              <a:ext uri="{FF2B5EF4-FFF2-40B4-BE49-F238E27FC236}">
                <a16:creationId xmlns:a16="http://schemas.microsoft.com/office/drawing/2014/main" id="{9A5C2EAD-7323-9110-F4D6-75BB872E1CAF}"/>
              </a:ext>
            </a:extLst>
          </p:cNvPr>
          <p:cNvSpPr txBox="1">
            <a:spLocks/>
          </p:cNvSpPr>
          <p:nvPr/>
        </p:nvSpPr>
        <p:spPr>
          <a:xfrm>
            <a:off x="6156962" y="5011615"/>
            <a:ext cx="5669280" cy="3420559"/>
          </a:xfrm>
          <a:prstGeom prst="rect">
            <a:avLst/>
          </a:prstGeom>
        </p:spPr>
        <p:txBody>
          <a:bodyPr vert="horz" lIns="91440" tIns="45720" rIns="91440" bIns="45720" rtlCol="0">
            <a:no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61963" indent="-228600"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4213" indent="-228600"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28600"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4588" indent="-228600"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buFont typeface="Amazon Ember"/>
              <a:buNone/>
            </a:pPr>
            <a:r>
              <a:rPr lang="en-US" b="1" dirty="0"/>
              <a:t>Analogy: a shared network drive</a:t>
            </a:r>
            <a:endParaRPr lang="en-US" dirty="0"/>
          </a:p>
        </p:txBody>
      </p:sp>
    </p:spTree>
    <p:extLst>
      <p:ext uri="{BB962C8B-B14F-4D97-AF65-F5344CB8AC3E}">
        <p14:creationId xmlns:p14="http://schemas.microsoft.com/office/powerpoint/2010/main" val="33843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a:t>Section 4: Amazon S3 Glacier </a:t>
            </a:r>
          </a:p>
        </p:txBody>
      </p:sp>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t>Module 7: Storage</a:t>
            </a:r>
          </a:p>
        </p:txBody>
      </p:sp>
    </p:spTree>
    <p:custDataLst>
      <p:tags r:id="rId1"/>
    </p:custDataLst>
    <p:extLst>
      <p:ext uri="{BB962C8B-B14F-4D97-AF65-F5344CB8AC3E}">
        <p14:creationId xmlns:p14="http://schemas.microsoft.com/office/powerpoint/2010/main" val="2141029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35</a:t>
            </a:fld>
            <a:endParaRPr lang="en-US"/>
          </a:p>
        </p:txBody>
      </p:sp>
      <p:sp>
        <p:nvSpPr>
          <p:cNvPr id="7" name="Title 1">
            <a:extLst>
              <a:ext uri="{FF2B5EF4-FFF2-40B4-BE49-F238E27FC236}">
                <a16:creationId xmlns:a16="http://schemas.microsoft.com/office/drawing/2014/main" id="{255F9017-8C17-8052-657E-8C425DC482D8}"/>
              </a:ext>
            </a:extLst>
          </p:cNvPr>
          <p:cNvSpPr txBox="1">
            <a:spLocks/>
          </p:cNvSpPr>
          <p:nvPr/>
        </p:nvSpPr>
        <p:spPr>
          <a:xfrm>
            <a:off x="365760" y="301752"/>
            <a:ext cx="11569209" cy="731318"/>
          </a:xfrm>
          <a:prstGeom prst="rect">
            <a:avLst/>
          </a:prstGeom>
        </p:spPr>
        <p:txBody>
          <a:bodyPr vert="horz" lIns="91440" tIns="45720" rIns="91440" bIns="45720" rtlCol="0" anchor="ctr">
            <a:normAutofit/>
          </a:bodyPr>
          <a:lstStyle>
            <a:lvl1pPr algn="l" defTabSz="228600" rtl="0" eaLnBrk="1" latinLnBrk="0" hangingPunct="1">
              <a:lnSpc>
                <a:spcPct val="100000"/>
              </a:lnSpc>
              <a:spcBef>
                <a:spcPct val="0"/>
              </a:spcBef>
              <a:buNone/>
              <a:defRPr sz="3200" kern="1200">
                <a:solidFill>
                  <a:schemeClr val="tx2"/>
                </a:solidFill>
                <a:latin typeface="Amazon Ember Heavy"/>
              </a:defRPr>
            </a:lvl1pPr>
          </a:lstStyle>
          <a:p>
            <a:r>
              <a:rPr lang="en-US" dirty="0"/>
              <a:t>Storage</a:t>
            </a:r>
          </a:p>
        </p:txBody>
      </p:sp>
      <p:sp>
        <p:nvSpPr>
          <p:cNvPr id="11" name="TextBox 10"/>
          <p:cNvSpPr txBox="1"/>
          <p:nvPr/>
        </p:nvSpPr>
        <p:spPr>
          <a:xfrm>
            <a:off x="3819900" y="5048646"/>
            <a:ext cx="4558107" cy="492443"/>
          </a:xfrm>
          <a:prstGeom prst="rect">
            <a:avLst/>
          </a:prstGeom>
          <a:noFill/>
        </p:spPr>
        <p:txBody>
          <a:bodyPr wrap="square" lIns="0" tIns="0" rIns="0" bIns="0" rtlCol="0" anchor="ctr">
            <a:spAutoFit/>
          </a:bodyPr>
          <a:lstStyle/>
          <a:p>
            <a:pPr algn="ctr"/>
            <a:r>
              <a:rPr lang="en-US" sz="3200">
                <a:ea typeface="Amazon Ember" panose="020B0603020204020204" pitchFamily="34" charset="0"/>
                <a:cs typeface="Amazon Ember" panose="020B0603020204020204" pitchFamily="34" charset="0"/>
              </a:rPr>
              <a:t>Amazon S3 Glacier</a:t>
            </a:r>
            <a:endParaRPr lang="en-US" sz="6600">
              <a:ea typeface="Amazon Ember" panose="020B0603020204020204" pitchFamily="34" charset="0"/>
              <a:cs typeface="Amazon Ember" panose="020B0603020204020204" pitchFamily="34" charset="0"/>
            </a:endParaRPr>
          </a:p>
        </p:txBody>
      </p:sp>
      <p:pic>
        <p:nvPicPr>
          <p:cNvPr id="5" name="Graphic 4">
            <a:extLst>
              <a:ext uri="{FF2B5EF4-FFF2-40B4-BE49-F238E27FC236}">
                <a16:creationId xmlns:a16="http://schemas.microsoft.com/office/drawing/2014/main" id="{750985AA-AD6D-4C9D-91C1-78A1E9514CD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50028" y="2531621"/>
            <a:ext cx="1933702" cy="1933702"/>
          </a:xfrm>
          <a:prstGeom prst="rect">
            <a:avLst/>
          </a:prstGeom>
        </p:spPr>
      </p:pic>
      <p:sp>
        <p:nvSpPr>
          <p:cNvPr id="2" name="Title 1">
            <a:extLst>
              <a:ext uri="{C183D7F6-B498-43B3-948B-1728B52AA6E4}">
                <adec:decorative xmlns:adec="http://schemas.microsoft.com/office/drawing/2017/decorative" val="1"/>
              </a:ext>
            </a:extLst>
          </p:cNvPr>
          <p:cNvSpPr>
            <a:spLocks noGrp="1"/>
          </p:cNvSpPr>
          <p:nvPr>
            <p:ph type="title"/>
          </p:nvPr>
        </p:nvSpPr>
        <p:spPr>
          <a:xfrm>
            <a:off x="311395" y="-1228613"/>
            <a:ext cx="11569209" cy="731318"/>
          </a:xfrm>
        </p:spPr>
        <p:txBody>
          <a:bodyPr/>
          <a:lstStyle/>
          <a:p>
            <a:r>
              <a:rPr lang="en-US" dirty="0"/>
              <a:t>Storage 3</a:t>
            </a:r>
          </a:p>
        </p:txBody>
      </p:sp>
    </p:spTree>
    <p:custDataLst>
      <p:tags r:id="rId1"/>
    </p:custDataLst>
    <p:extLst>
      <p:ext uri="{BB962C8B-B14F-4D97-AF65-F5344CB8AC3E}">
        <p14:creationId xmlns:p14="http://schemas.microsoft.com/office/powerpoint/2010/main" val="3058558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36</a:t>
            </a:fld>
            <a:endParaRPr lang="en-US"/>
          </a:p>
        </p:txBody>
      </p:sp>
      <p:sp>
        <p:nvSpPr>
          <p:cNvPr id="2" name="Title 1"/>
          <p:cNvSpPr>
            <a:spLocks noGrp="1"/>
          </p:cNvSpPr>
          <p:nvPr>
            <p:ph type="title"/>
          </p:nvPr>
        </p:nvSpPr>
        <p:spPr/>
        <p:txBody>
          <a:bodyPr/>
          <a:lstStyle/>
          <a:p>
            <a:r>
              <a:rPr lang="en-US"/>
              <a:t>Amazon S3 Glacier review</a:t>
            </a:r>
          </a:p>
        </p:txBody>
      </p:sp>
      <p:sp>
        <p:nvSpPr>
          <p:cNvPr id="3" name="Content Placeholder 2"/>
          <p:cNvSpPr>
            <a:spLocks noGrp="1"/>
          </p:cNvSpPr>
          <p:nvPr>
            <p:ph sz="quarter" idx="21"/>
          </p:nvPr>
        </p:nvSpPr>
        <p:spPr/>
        <p:txBody>
          <a:bodyPr>
            <a:normAutofit/>
          </a:bodyPr>
          <a:lstStyle/>
          <a:p>
            <a:pPr marL="0" indent="0">
              <a:lnSpc>
                <a:spcPct val="100000"/>
              </a:lnSpc>
              <a:spcBef>
                <a:spcPts val="1200"/>
              </a:spcBef>
              <a:spcAft>
                <a:spcPts val="800"/>
              </a:spcAft>
              <a:buNone/>
            </a:pPr>
            <a:r>
              <a:rPr lang="en-US"/>
              <a:t>Amazon S3 Glacier is a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data</a:t>
            </a:r>
            <a:r>
              <a:rPr lang="en-US">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archiving</a:t>
            </a:r>
            <a:r>
              <a:rPr lang="en-US">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service</a:t>
            </a:r>
            <a:r>
              <a:rPr lang="en-US">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 </a:t>
            </a:r>
            <a:r>
              <a:rPr lang="en-US"/>
              <a:t>that is designed for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security</a:t>
            </a:r>
            <a:r>
              <a:rPr lang="en-US"/>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durability</a:t>
            </a:r>
            <a:r>
              <a:rPr lang="en-US"/>
              <a:t>, and an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extremely</a:t>
            </a:r>
            <a:r>
              <a:rPr lang="en-US">
                <a:solidFill>
                  <a:schemeClr val="accent5"/>
                </a:solidFill>
                <a:latin typeface="Amazon Ember" panose="02000000000000000000" pitchFamily="2" charset="0"/>
                <a:ea typeface="Amazon Ember" panose="02000000000000000000" pitchFamily="2" charset="0"/>
              </a:rPr>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low</a:t>
            </a:r>
            <a:r>
              <a:rPr lang="en-US">
                <a:solidFill>
                  <a:schemeClr val="accent5"/>
                </a:solidFill>
                <a:latin typeface="Amazon Ember" panose="02000000000000000000" pitchFamily="2" charset="0"/>
                <a:ea typeface="Amazon Ember" panose="02000000000000000000" pitchFamily="2" charset="0"/>
              </a:rPr>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cost</a:t>
            </a:r>
            <a:r>
              <a:rPr lang="en-US"/>
              <a:t>.</a:t>
            </a:r>
          </a:p>
          <a:p>
            <a:pPr marL="457200" lvl="1" indent="-457200">
              <a:spcBef>
                <a:spcPts val="1200"/>
              </a:spcBef>
              <a:spcAft>
                <a:spcPts val="800"/>
              </a:spcAft>
            </a:pPr>
            <a:r>
              <a:rPr lang="en-US"/>
              <a:t>Amazon S3 Glacier is designed to provide 11 9s of durability for objects.</a:t>
            </a:r>
          </a:p>
          <a:p>
            <a:pPr marL="457200" lvl="1" indent="-457200">
              <a:spcBef>
                <a:spcPts val="1200"/>
              </a:spcBef>
              <a:spcAft>
                <a:spcPts val="800"/>
              </a:spcAft>
            </a:pPr>
            <a:r>
              <a:rPr lang="en-US"/>
              <a:t>It supports the encryption of data in transit and at rest through Secure Sockets Layer (SSL) or Transport Layer Security (TLS).</a:t>
            </a:r>
          </a:p>
          <a:p>
            <a:pPr marL="457200" lvl="1" indent="-457200">
              <a:spcBef>
                <a:spcPts val="1200"/>
              </a:spcBef>
              <a:spcAft>
                <a:spcPts val="800"/>
              </a:spcAft>
            </a:pPr>
            <a:r>
              <a:rPr lang="en-US"/>
              <a:t>The Vault Lock feature enforces compliance through a policy.</a:t>
            </a:r>
          </a:p>
          <a:p>
            <a:pPr marL="457200" lvl="1" indent="-457200">
              <a:spcBef>
                <a:spcPts val="1200"/>
              </a:spcBef>
              <a:spcAft>
                <a:spcPts val="800"/>
              </a:spcAft>
            </a:pPr>
            <a:r>
              <a:rPr lang="en-US"/>
              <a:t>Extremely low-cost design works well for long-term archiving.</a:t>
            </a:r>
          </a:p>
          <a:p>
            <a:pPr marL="914400" lvl="2" indent="-457200">
              <a:spcBef>
                <a:spcPts val="1200"/>
              </a:spcBef>
              <a:spcAft>
                <a:spcPts val="800"/>
              </a:spcAft>
            </a:pPr>
            <a:r>
              <a:rPr lang="en-US" sz="2200"/>
              <a:t>Provides three options for access to archives—expedited, standard, and bulk—retrieval times range from a few minutes to several hours.</a:t>
            </a:r>
          </a:p>
        </p:txBody>
      </p:sp>
    </p:spTree>
    <p:custDataLst>
      <p:tags r:id="rId1"/>
    </p:custDataLst>
    <p:extLst>
      <p:ext uri="{BB962C8B-B14F-4D97-AF65-F5344CB8AC3E}">
        <p14:creationId xmlns:p14="http://schemas.microsoft.com/office/powerpoint/2010/main" val="36957170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07C951-75D8-B840-9EE0-E24680A8AA5D}"/>
              </a:ext>
            </a:extLst>
          </p:cNvPr>
          <p:cNvSpPr>
            <a:spLocks noGrp="1"/>
          </p:cNvSpPr>
          <p:nvPr>
            <p:ph type="sldNum" sz="quarter" idx="20"/>
          </p:nvPr>
        </p:nvSpPr>
        <p:spPr/>
        <p:txBody>
          <a:bodyPr/>
          <a:lstStyle/>
          <a:p>
            <a:fld id="{930176A1-BCF0-4712-97A6-6B495F55390B}" type="slidenum">
              <a:rPr lang="en-US" smtClean="0"/>
              <a:t>37</a:t>
            </a:fld>
            <a:endParaRPr lang="en-US"/>
          </a:p>
        </p:txBody>
      </p:sp>
      <p:sp>
        <p:nvSpPr>
          <p:cNvPr id="2" name="Title 1"/>
          <p:cNvSpPr>
            <a:spLocks noGrp="1"/>
          </p:cNvSpPr>
          <p:nvPr>
            <p:ph type="title"/>
          </p:nvPr>
        </p:nvSpPr>
        <p:spPr/>
        <p:txBody>
          <a:bodyPr/>
          <a:lstStyle/>
          <a:p>
            <a:r>
              <a:rPr lang="en-US"/>
              <a:t>Amazon S3 Glacier</a:t>
            </a:r>
          </a:p>
        </p:txBody>
      </p:sp>
      <p:sp>
        <p:nvSpPr>
          <p:cNvPr id="28" name="Rounded Rectangle 27">
            <a:extLst>
              <a:ext uri="{C183D7F6-B498-43B3-948B-1728B52AA6E4}">
                <adec:decorative xmlns:adec="http://schemas.microsoft.com/office/drawing/2017/decorative" val="1"/>
              </a:ext>
            </a:extLst>
          </p:cNvPr>
          <p:cNvSpPr/>
          <p:nvPr/>
        </p:nvSpPr>
        <p:spPr bwMode="auto">
          <a:xfrm>
            <a:off x="451741" y="1610343"/>
            <a:ext cx="5389258" cy="4340138"/>
          </a:xfrm>
          <a:prstGeom prst="roundRect">
            <a:avLst>
              <a:gd name="adj" fmla="val 840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2"/>
          <p:cNvSpPr>
            <a:spLocks noGrp="1"/>
          </p:cNvSpPr>
          <p:nvPr>
            <p:ph idx="4294967295"/>
          </p:nvPr>
        </p:nvSpPr>
        <p:spPr>
          <a:xfrm>
            <a:off x="576681" y="1880327"/>
            <a:ext cx="5103813" cy="3783013"/>
          </a:xfrm>
        </p:spPr>
        <p:txBody>
          <a:bodyPr>
            <a:noAutofit/>
          </a:bodyPr>
          <a:lstStyle/>
          <a:p>
            <a:pPr>
              <a:lnSpc>
                <a:spcPct val="100000"/>
              </a:lnSpc>
              <a:spcBef>
                <a:spcPts val="600"/>
              </a:spcBef>
            </a:pPr>
            <a:r>
              <a:rPr lang="en-US" sz="2400"/>
              <a:t>Storage service for low-cost data archiving and long-term backup </a:t>
            </a:r>
          </a:p>
          <a:p>
            <a:pPr>
              <a:lnSpc>
                <a:spcPct val="100000"/>
              </a:lnSpc>
              <a:spcBef>
                <a:spcPts val="600"/>
              </a:spcBef>
            </a:pPr>
            <a:r>
              <a:rPr lang="en-US" sz="2400"/>
              <a:t>You can configure lifecycle archiving of Amazon S3 content to Amazon S3 Glacier</a:t>
            </a:r>
          </a:p>
          <a:p>
            <a:pPr>
              <a:lnSpc>
                <a:spcPct val="100000"/>
              </a:lnSpc>
              <a:spcBef>
                <a:spcPts val="600"/>
              </a:spcBef>
            </a:pPr>
            <a:r>
              <a:rPr lang="en-US" sz="2400"/>
              <a:t>Retrieval options – </a:t>
            </a:r>
          </a:p>
          <a:p>
            <a:pPr lvl="1">
              <a:lnSpc>
                <a:spcPct val="100000"/>
              </a:lnSpc>
              <a:spcBef>
                <a:spcPts val="600"/>
              </a:spcBef>
            </a:pPr>
            <a:r>
              <a:rPr lang="en-US" sz="2000"/>
              <a:t>Standard: 3–5 hours</a:t>
            </a:r>
          </a:p>
          <a:p>
            <a:pPr lvl="1">
              <a:lnSpc>
                <a:spcPct val="100000"/>
              </a:lnSpc>
              <a:spcBef>
                <a:spcPts val="600"/>
              </a:spcBef>
            </a:pPr>
            <a:r>
              <a:rPr lang="en-US" sz="2000"/>
              <a:t>Bulk: 5–12 hours</a:t>
            </a:r>
          </a:p>
          <a:p>
            <a:pPr lvl="1">
              <a:lnSpc>
                <a:spcPct val="100000"/>
              </a:lnSpc>
              <a:spcBef>
                <a:spcPts val="600"/>
              </a:spcBef>
            </a:pPr>
            <a:r>
              <a:rPr lang="en-US" sz="2000"/>
              <a:t>Expedited: 1–5 minutes</a:t>
            </a:r>
          </a:p>
        </p:txBody>
      </p:sp>
      <p:grpSp>
        <p:nvGrpSpPr>
          <p:cNvPr id="11" name="Group 10" descr="Move objects from S3 bucket to Amazon S3 Glacier Archive after 30 days. Delete objects from Amazon S3 Glacier Archive after five years.">
            <a:extLst>
              <a:ext uri="{FF2B5EF4-FFF2-40B4-BE49-F238E27FC236}">
                <a16:creationId xmlns:a16="http://schemas.microsoft.com/office/drawing/2014/main" id="{57E69DA4-D992-4250-931F-5079F3316230}"/>
              </a:ext>
            </a:extLst>
          </p:cNvPr>
          <p:cNvGrpSpPr/>
          <p:nvPr/>
        </p:nvGrpSpPr>
        <p:grpSpPr>
          <a:xfrm>
            <a:off x="6311250" y="1610343"/>
            <a:ext cx="5389258" cy="4340138"/>
            <a:chOff x="6311250" y="1610343"/>
            <a:chExt cx="5389258" cy="4340138"/>
          </a:xfrm>
        </p:grpSpPr>
        <p:sp>
          <p:nvSpPr>
            <p:cNvPr id="30" name="Rounded Rectangle 29" descr="illustrates Amazon S3 bucket sending data to archive in Amazon S3 Glacier."/>
            <p:cNvSpPr/>
            <p:nvPr/>
          </p:nvSpPr>
          <p:spPr bwMode="auto">
            <a:xfrm>
              <a:off x="6311250" y="1610343"/>
              <a:ext cx="5389258" cy="4340138"/>
            </a:xfrm>
            <a:prstGeom prst="roundRect">
              <a:avLst>
                <a:gd name="adj" fmla="val 840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a:extLst>
                <a:ext uri="{C183D7F6-B498-43B3-948B-1728B52AA6E4}">
                  <adec:decorative xmlns:adec="http://schemas.microsoft.com/office/drawing/2017/decorative" val="1"/>
                </a:ext>
              </a:extLst>
            </p:cNvPr>
            <p:cNvSpPr/>
            <p:nvPr/>
          </p:nvSpPr>
          <p:spPr>
            <a:xfrm>
              <a:off x="6578450" y="3904669"/>
              <a:ext cx="1488920" cy="3527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a:extLst>
                <a:ext uri="{FF2B5EF4-FFF2-40B4-BE49-F238E27FC236}">
                  <a16:creationId xmlns:a16="http://schemas.microsoft.com/office/drawing/2014/main" id="{AD8813A2-1DAD-45E3-B3B9-7953F83328A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93396" y="3210259"/>
              <a:ext cx="640080" cy="640080"/>
            </a:xfrm>
            <a:prstGeom prst="rect">
              <a:avLst/>
            </a:prstGeom>
          </p:spPr>
        </p:pic>
        <p:sp>
          <p:nvSpPr>
            <p:cNvPr id="38" name="TextBox 37">
              <a:extLst>
                <a:ext uri="{C183D7F6-B498-43B3-948B-1728B52AA6E4}">
                  <adec:decorative xmlns:adec="http://schemas.microsoft.com/office/drawing/2017/decorative" val="1"/>
                </a:ext>
              </a:extLst>
            </p:cNvPr>
            <p:cNvSpPr txBox="1"/>
            <p:nvPr/>
          </p:nvSpPr>
          <p:spPr>
            <a:xfrm>
              <a:off x="6662755" y="3876478"/>
              <a:ext cx="1101363" cy="584775"/>
            </a:xfrm>
            <a:prstGeom prst="rect">
              <a:avLst/>
            </a:prstGeom>
            <a:noFill/>
          </p:spPr>
          <p:txBody>
            <a:bodyPr wrap="square" rtlCol="0">
              <a:spAutoFit/>
            </a:bodyPr>
            <a:lstStyle/>
            <a:p>
              <a:pPr algn="ctr"/>
              <a:r>
                <a:rPr lang="en-US" sz="1600">
                  <a:solidFill>
                    <a:srgbClr val="504BAB"/>
                  </a:solidFill>
                  <a:latin typeface="Amazon Ember"/>
                  <a:ea typeface="Amazon Ember Medium" panose="020B0603020204030204" pitchFamily="34" charset="0"/>
                  <a:cs typeface="Arial" panose="020B0604020202020204" pitchFamily="34" charset="0"/>
                </a:rPr>
                <a:t>Amazon S3 bucket</a:t>
              </a:r>
            </a:p>
          </p:txBody>
        </p:sp>
        <p:sp>
          <p:nvSpPr>
            <p:cNvPr id="12" name="TextBox 11">
              <a:extLst>
                <a:ext uri="{C183D7F6-B498-43B3-948B-1728B52AA6E4}">
                  <adec:decorative xmlns:adec="http://schemas.microsoft.com/office/drawing/2017/decorative" val="1"/>
                </a:ext>
              </a:extLst>
            </p:cNvPr>
            <p:cNvSpPr txBox="1"/>
            <p:nvPr/>
          </p:nvSpPr>
          <p:spPr>
            <a:xfrm>
              <a:off x="7522272" y="3014342"/>
              <a:ext cx="1370728" cy="584775"/>
            </a:xfrm>
            <a:prstGeom prst="rect">
              <a:avLst/>
            </a:prstGeom>
            <a:noFill/>
          </p:spPr>
          <p:txBody>
            <a:bodyPr wrap="square" rtlCol="0">
              <a:spAutoFit/>
            </a:bodyPr>
            <a:lstStyle/>
            <a:p>
              <a:pPr algn="ctr"/>
              <a:r>
                <a:rPr lang="en-US" sz="1600">
                  <a:latin typeface="Amazon Ember"/>
                  <a:ea typeface="Amazon Ember Light" panose="020B0403020204020204" pitchFamily="34" charset="0"/>
                  <a:cs typeface="Amazon Ember Light" panose="020B0403020204020204" pitchFamily="34" charset="0"/>
                </a:rPr>
                <a:t>Archive after 30 days</a:t>
              </a:r>
            </a:p>
          </p:txBody>
        </p:sp>
        <p:cxnSp>
          <p:nvCxnSpPr>
            <p:cNvPr id="25" name="Straight Arrow Connector 24">
              <a:extLst>
                <a:ext uri="{FF2B5EF4-FFF2-40B4-BE49-F238E27FC236}">
                  <a16:creationId xmlns:a16="http://schemas.microsoft.com/office/drawing/2014/main" id="{4A8C0F5C-0446-8A40-A710-BE80A9E5A424}"/>
                </a:ext>
                <a:ext uri="{C183D7F6-B498-43B3-948B-1728B52AA6E4}">
                  <adec:decorative xmlns:adec="http://schemas.microsoft.com/office/drawing/2017/decorative" val="1"/>
                </a:ext>
              </a:extLst>
            </p:cNvPr>
            <p:cNvCxnSpPr/>
            <p:nvPr/>
          </p:nvCxnSpPr>
          <p:spPr>
            <a:xfrm>
              <a:off x="7563331" y="3592661"/>
              <a:ext cx="1288611" cy="0"/>
            </a:xfrm>
            <a:prstGeom prst="straightConnector1">
              <a:avLst/>
            </a:prstGeom>
            <a:ln w="12700">
              <a:solidFill>
                <a:srgbClr val="545B6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9FE3E175-E1C6-4533-88EA-5F0DF0EF74B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81006" y="3217522"/>
              <a:ext cx="640080" cy="640080"/>
            </a:xfrm>
            <a:prstGeom prst="rect">
              <a:avLst/>
            </a:prstGeom>
          </p:spPr>
        </p:pic>
        <p:sp>
          <p:nvSpPr>
            <p:cNvPr id="37" name="TextBox 36">
              <a:extLst>
                <a:ext uri="{C183D7F6-B498-43B3-948B-1728B52AA6E4}">
                  <adec:decorative xmlns:adec="http://schemas.microsoft.com/office/drawing/2017/decorative" val="1"/>
                </a:ext>
              </a:extLst>
            </p:cNvPr>
            <p:cNvSpPr txBox="1"/>
            <p:nvPr/>
          </p:nvSpPr>
          <p:spPr>
            <a:xfrm>
              <a:off x="8606686" y="3861557"/>
              <a:ext cx="1188720" cy="830997"/>
            </a:xfrm>
            <a:prstGeom prst="rect">
              <a:avLst/>
            </a:prstGeom>
            <a:noFill/>
          </p:spPr>
          <p:txBody>
            <a:bodyPr wrap="square" rtlCol="0">
              <a:spAutoFit/>
            </a:bodyPr>
            <a:lstStyle/>
            <a:p>
              <a:pPr algn="ctr"/>
              <a:r>
                <a:rPr lang="en-US" sz="1600">
                  <a:solidFill>
                    <a:srgbClr val="504BAB"/>
                  </a:solidFill>
                  <a:latin typeface="Amazon Ember"/>
                  <a:ea typeface="Amazon Ember Medium" panose="020B0603020204030204" pitchFamily="34" charset="0"/>
                  <a:cs typeface="Arial" panose="020B0604020202020204" pitchFamily="34" charset="0"/>
                </a:rPr>
                <a:t>Amazon S3 Glacier Archive</a:t>
              </a:r>
            </a:p>
          </p:txBody>
        </p:sp>
        <p:sp>
          <p:nvSpPr>
            <p:cNvPr id="31" name="TextBox 30">
              <a:extLst>
                <a:ext uri="{C183D7F6-B498-43B3-948B-1728B52AA6E4}">
                  <adec:decorative xmlns:adec="http://schemas.microsoft.com/office/drawing/2017/decorative" val="1"/>
                </a:ext>
              </a:extLst>
            </p:cNvPr>
            <p:cNvSpPr txBox="1"/>
            <p:nvPr/>
          </p:nvSpPr>
          <p:spPr>
            <a:xfrm>
              <a:off x="9430693" y="3014342"/>
              <a:ext cx="1370728" cy="584775"/>
            </a:xfrm>
            <a:prstGeom prst="rect">
              <a:avLst/>
            </a:prstGeom>
            <a:noFill/>
          </p:spPr>
          <p:txBody>
            <a:bodyPr wrap="square" rtlCol="0">
              <a:spAutoFit/>
            </a:bodyPr>
            <a:lstStyle/>
            <a:p>
              <a:pPr algn="ctr"/>
              <a:r>
                <a:rPr lang="en-US" sz="1600">
                  <a:latin typeface="Amazon Ember"/>
                  <a:ea typeface="Amazon Ember Light" panose="020B0403020204020204" pitchFamily="34" charset="0"/>
                  <a:cs typeface="Amazon Ember Light" panose="020B0403020204020204" pitchFamily="34" charset="0"/>
                </a:rPr>
                <a:t>Delete after 5 years</a:t>
              </a:r>
            </a:p>
          </p:txBody>
        </p:sp>
        <p:cxnSp>
          <p:nvCxnSpPr>
            <p:cNvPr id="26" name="Straight Arrow Connector 25">
              <a:extLst>
                <a:ext uri="{FF2B5EF4-FFF2-40B4-BE49-F238E27FC236}">
                  <a16:creationId xmlns:a16="http://schemas.microsoft.com/office/drawing/2014/main" id="{4A8C0F5C-0446-8A40-A710-BE80A9E5A424}"/>
                </a:ext>
                <a:ext uri="{C183D7F6-B498-43B3-948B-1728B52AA6E4}">
                  <adec:decorative xmlns:adec="http://schemas.microsoft.com/office/drawing/2017/decorative" val="1"/>
                </a:ext>
              </a:extLst>
            </p:cNvPr>
            <p:cNvCxnSpPr/>
            <p:nvPr/>
          </p:nvCxnSpPr>
          <p:spPr>
            <a:xfrm>
              <a:off x="9471752" y="3592661"/>
              <a:ext cx="1288611" cy="0"/>
            </a:xfrm>
            <a:prstGeom prst="straightConnector1">
              <a:avLst/>
            </a:prstGeom>
            <a:ln w="12700">
              <a:solidFill>
                <a:srgbClr val="545B6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9" name="Picture 8">
              <a:extLst>
                <a:ext uri="{C183D7F6-B498-43B3-948B-1728B52AA6E4}">
                  <adec:decorative xmlns:adec="http://schemas.microsoft.com/office/drawing/2017/decorative" val="1"/>
                </a:ext>
              </a:extLst>
            </p:cNvPr>
            <p:cNvPicPr>
              <a:picLocks noChangeAspect="1"/>
            </p:cNvPicPr>
            <p:nvPr/>
          </p:nvPicPr>
          <p:blipFill>
            <a:blip r:embed="rId8" cstate="screen">
              <a:extLst>
                <a:ext uri="{BEBA8EAE-BF5A-486C-A8C5-ECC9F3942E4B}">
                  <a14:imgProps xmlns:a14="http://schemas.microsoft.com/office/drawing/2010/main">
                    <a14:imgLayer r:embed="rId9">
                      <a14:imgEffect>
                        <a14:colorTemperature colorTemp="5900"/>
                      </a14:imgEffect>
                    </a14:imgLayer>
                  </a14:imgProps>
                </a:ext>
                <a:ext uri="{28A0092B-C50C-407E-A947-70E740481C1C}">
                  <a14:useLocalDpi xmlns:a14="http://schemas.microsoft.com/office/drawing/2010/main"/>
                </a:ext>
              </a:extLst>
            </a:blip>
            <a:stretch>
              <a:fillRect/>
            </a:stretch>
          </p:blipFill>
          <p:spPr>
            <a:xfrm>
              <a:off x="10640001" y="3196007"/>
              <a:ext cx="793308" cy="793308"/>
            </a:xfrm>
            <a:prstGeom prst="rect">
              <a:avLst/>
            </a:prstGeom>
          </p:spPr>
        </p:pic>
      </p:grpSp>
    </p:spTree>
    <p:custDataLst>
      <p:tags r:id="rId1"/>
    </p:custDataLst>
    <p:extLst>
      <p:ext uri="{BB962C8B-B14F-4D97-AF65-F5344CB8AC3E}">
        <p14:creationId xmlns:p14="http://schemas.microsoft.com/office/powerpoint/2010/main" val="13953446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268BE6DC-B032-74F8-0DB3-AB398313B596}"/>
              </a:ext>
            </a:extLst>
          </p:cNvPr>
          <p:cNvSpPr>
            <a:spLocks noGrp="1"/>
          </p:cNvSpPr>
          <p:nvPr>
            <p:ph type="sldNum" sz="quarter" idx="20"/>
          </p:nvPr>
        </p:nvSpPr>
        <p:spPr/>
        <p:txBody>
          <a:bodyPr/>
          <a:lstStyle/>
          <a:p>
            <a:fld id="{930176A1-BCF0-4712-97A6-6B495F55390B}" type="slidenum">
              <a:rPr lang="en-US" smtClean="0"/>
              <a:t>38</a:t>
            </a:fld>
            <a:endParaRPr lang="en-US"/>
          </a:p>
        </p:txBody>
      </p:sp>
      <p:sp>
        <p:nvSpPr>
          <p:cNvPr id="2" name="Title 1"/>
          <p:cNvSpPr>
            <a:spLocks noGrp="1"/>
          </p:cNvSpPr>
          <p:nvPr>
            <p:ph type="title"/>
          </p:nvPr>
        </p:nvSpPr>
        <p:spPr/>
        <p:txBody>
          <a:bodyPr/>
          <a:lstStyle/>
          <a:p>
            <a:r>
              <a:rPr lang="en-US"/>
              <a:t>Amazon S3 Glacier use cases</a:t>
            </a:r>
          </a:p>
        </p:txBody>
      </p:sp>
      <p:sp>
        <p:nvSpPr>
          <p:cNvPr id="14" name="Rounded Rectangle 13">
            <a:extLst>
              <a:ext uri="{C183D7F6-B498-43B3-948B-1728B52AA6E4}">
                <adec:decorative xmlns:adec="http://schemas.microsoft.com/office/drawing/2017/decorative" val="1"/>
              </a:ext>
            </a:extLst>
          </p:cNvPr>
          <p:cNvSpPr/>
          <p:nvPr/>
        </p:nvSpPr>
        <p:spPr bwMode="auto">
          <a:xfrm>
            <a:off x="2822220" y="1564200"/>
            <a:ext cx="6791971" cy="4422626"/>
          </a:xfrm>
          <a:prstGeom prst="roundRect">
            <a:avLst>
              <a:gd name="adj" fmla="val 13771"/>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Content Placeholder 2"/>
          <p:cNvSpPr>
            <a:spLocks noGrp="1"/>
          </p:cNvSpPr>
          <p:nvPr>
            <p:ph idx="4294967295"/>
          </p:nvPr>
        </p:nvSpPr>
        <p:spPr>
          <a:xfrm>
            <a:off x="4189133" y="1725330"/>
            <a:ext cx="5425058" cy="4261496"/>
          </a:xfrm>
        </p:spPr>
        <p:txBody>
          <a:bodyPr>
            <a:normAutofit lnSpcReduction="10000"/>
          </a:bodyPr>
          <a:lstStyle/>
          <a:p>
            <a:pPr marL="0" indent="0">
              <a:lnSpc>
                <a:spcPct val="150000"/>
              </a:lnSpc>
              <a:spcBef>
                <a:spcPts val="1200"/>
              </a:spcBef>
              <a:buNone/>
            </a:pPr>
            <a:r>
              <a:rPr lang="en-US" sz="2400"/>
              <a:t>Media asset archiving</a:t>
            </a:r>
          </a:p>
          <a:p>
            <a:pPr marL="0" indent="0">
              <a:lnSpc>
                <a:spcPct val="150000"/>
              </a:lnSpc>
              <a:spcBef>
                <a:spcPts val="1200"/>
              </a:spcBef>
              <a:buNone/>
            </a:pPr>
            <a:r>
              <a:rPr lang="en-US" sz="2400"/>
              <a:t>Healthcare information archiving</a:t>
            </a:r>
          </a:p>
          <a:p>
            <a:pPr marL="0" indent="0">
              <a:lnSpc>
                <a:spcPct val="150000"/>
              </a:lnSpc>
              <a:spcBef>
                <a:spcPts val="1200"/>
              </a:spcBef>
              <a:buNone/>
            </a:pPr>
            <a:r>
              <a:rPr lang="en-US" sz="2400"/>
              <a:t>Regulatory and compliance archiving</a:t>
            </a:r>
          </a:p>
          <a:p>
            <a:pPr marL="0" indent="0">
              <a:lnSpc>
                <a:spcPct val="150000"/>
              </a:lnSpc>
              <a:spcBef>
                <a:spcPts val="1200"/>
              </a:spcBef>
              <a:buNone/>
            </a:pPr>
            <a:r>
              <a:rPr lang="en-US" sz="2400"/>
              <a:t>Scientific data archiving</a:t>
            </a:r>
          </a:p>
          <a:p>
            <a:pPr marL="0" indent="0">
              <a:lnSpc>
                <a:spcPct val="150000"/>
              </a:lnSpc>
              <a:spcBef>
                <a:spcPts val="1200"/>
              </a:spcBef>
              <a:buNone/>
            </a:pPr>
            <a:r>
              <a:rPr lang="en-US" sz="2400"/>
              <a:t>Digital preservation</a:t>
            </a:r>
          </a:p>
          <a:p>
            <a:pPr marL="0" indent="0">
              <a:lnSpc>
                <a:spcPct val="150000"/>
              </a:lnSpc>
              <a:spcBef>
                <a:spcPts val="1200"/>
              </a:spcBef>
              <a:buNone/>
            </a:pPr>
            <a:r>
              <a:rPr lang="en-US" sz="2400"/>
              <a:t>Magnetic tape replacement</a:t>
            </a:r>
          </a:p>
        </p:txBody>
      </p:sp>
      <p:pic>
        <p:nvPicPr>
          <p:cNvPr id="4" name="Picture 3">
            <a:extLst>
              <a:ext uri="{C183D7F6-B498-43B3-948B-1728B52AA6E4}">
                <adec:decorative xmlns:adec="http://schemas.microsoft.com/office/drawing/2017/decorative" val="1"/>
              </a:ext>
            </a:extLst>
          </p:cNvPr>
          <p:cNvPicPr>
            <a:picLocks noChangeAspect="1"/>
          </p:cNvPicPr>
          <p:nvPr/>
        </p:nvPicPr>
        <p:blipFill>
          <a:blip r:embed="rId4"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3374345" y="1725331"/>
            <a:ext cx="782422" cy="778694"/>
          </a:xfrm>
          <a:prstGeom prst="rect">
            <a:avLst/>
          </a:prstGeom>
        </p:spPr>
      </p:pic>
      <p:pic>
        <p:nvPicPr>
          <p:cNvPr id="5" name="Picture 4">
            <a:extLst>
              <a:ext uri="{C183D7F6-B498-43B3-948B-1728B52AA6E4}">
                <adec:decorative xmlns:adec="http://schemas.microsoft.com/office/drawing/2017/decorative" val="1"/>
              </a:ext>
            </a:extLst>
          </p:cNvPr>
          <p:cNvPicPr>
            <a:picLocks noChangeAspect="1"/>
          </p:cNvPicPr>
          <p:nvPr/>
        </p:nvPicPr>
        <p:blipFill>
          <a:blip r:embed="rId5" cstate="screen">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3474151" y="2519799"/>
            <a:ext cx="582810" cy="582810"/>
          </a:xfrm>
          <a:prstGeom prst="rect">
            <a:avLst/>
          </a:prstGeom>
        </p:spPr>
      </p:pic>
      <p:pic>
        <p:nvPicPr>
          <p:cNvPr id="6" name="Picture 5">
            <a:extLst>
              <a:ext uri="{C183D7F6-B498-43B3-948B-1728B52AA6E4}">
                <adec:decorative xmlns:adec="http://schemas.microsoft.com/office/drawing/2017/decorative" val="1"/>
              </a:ext>
            </a:extLst>
          </p:cNvPr>
          <p:cNvPicPr>
            <a:picLocks noChangeAspect="1"/>
          </p:cNvPicPr>
          <p:nvPr/>
        </p:nvPicPr>
        <p:blipFill>
          <a:blip r:embed="rId6" cstate="screen">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a:off x="3452743" y="3131702"/>
            <a:ext cx="625626" cy="622646"/>
          </a:xfrm>
          <a:prstGeom prst="rect">
            <a:avLst/>
          </a:prstGeom>
        </p:spPr>
      </p:pic>
      <p:pic>
        <p:nvPicPr>
          <p:cNvPr id="7" name="Picture 6">
            <a:extLst>
              <a:ext uri="{C183D7F6-B498-43B3-948B-1728B52AA6E4}">
                <adec:decorative xmlns:adec="http://schemas.microsoft.com/office/drawing/2017/decorative" val="1"/>
              </a:ext>
            </a:extLst>
          </p:cNvPr>
          <p:cNvPicPr>
            <a:picLocks noChangeAspect="1"/>
          </p:cNvPicPr>
          <p:nvPr/>
        </p:nvPicPr>
        <p:blipFill>
          <a:blip r:embed="rId7" cstate="screen">
            <a:duotone>
              <a:prstClr val="black"/>
              <a:schemeClr val="accent2">
                <a:tint val="45000"/>
                <a:satMod val="400000"/>
              </a:schemeClr>
            </a:duotone>
            <a:extLst>
              <a:ext uri="{28A0092B-C50C-407E-A947-70E740481C1C}">
                <a14:useLocalDpi xmlns:a14="http://schemas.microsoft.com/office/drawing/2010/main"/>
              </a:ext>
            </a:extLst>
          </a:blip>
          <a:stretch>
            <a:fillRect/>
          </a:stretch>
        </p:blipFill>
        <p:spPr>
          <a:xfrm>
            <a:off x="3363387" y="3845194"/>
            <a:ext cx="804338" cy="804338"/>
          </a:xfrm>
          <a:prstGeom prst="rect">
            <a:avLst/>
          </a:prstGeom>
        </p:spPr>
      </p:pic>
      <p:pic>
        <p:nvPicPr>
          <p:cNvPr id="8" name="Picture 7">
            <a:extLst>
              <a:ext uri="{C183D7F6-B498-43B3-948B-1728B52AA6E4}">
                <adec:decorative xmlns:adec="http://schemas.microsoft.com/office/drawing/2017/decorative" val="1"/>
              </a:ext>
            </a:extLst>
          </p:cNvPr>
          <p:cNvPicPr>
            <a:picLocks noChangeAspect="1"/>
          </p:cNvPicPr>
          <p:nvPr/>
        </p:nvPicPr>
        <p:blipFill>
          <a:blip r:embed="rId8" cstate="screen">
            <a:duotone>
              <a:schemeClr val="accent5">
                <a:shade val="45000"/>
                <a:satMod val="135000"/>
              </a:schemeClr>
              <a:prstClr val="white"/>
            </a:duotone>
            <a:extLst>
              <a:ext uri="{28A0092B-C50C-407E-A947-70E740481C1C}">
                <a14:useLocalDpi xmlns:a14="http://schemas.microsoft.com/office/drawing/2010/main"/>
              </a:ext>
            </a:extLst>
          </a:blip>
          <a:stretch>
            <a:fillRect/>
          </a:stretch>
        </p:blipFill>
        <p:spPr>
          <a:xfrm>
            <a:off x="3474151" y="4649532"/>
            <a:ext cx="682616" cy="682616"/>
          </a:xfrm>
          <a:prstGeom prst="rect">
            <a:avLst/>
          </a:prstGeom>
        </p:spPr>
      </p:pic>
      <p:pic>
        <p:nvPicPr>
          <p:cNvPr id="10" name="Picture 9">
            <a:extLst>
              <a:ext uri="{C183D7F6-B498-43B3-948B-1728B52AA6E4}">
                <adec:decorative xmlns:adec="http://schemas.microsoft.com/office/drawing/2017/decorative" val="1"/>
              </a:ext>
            </a:extLst>
          </p:cNvPr>
          <p:cNvPicPr>
            <a:picLocks noChangeAspect="1"/>
          </p:cNvPicPr>
          <p:nvPr/>
        </p:nvPicPr>
        <p:blipFill>
          <a:blip r:embed="rId9" cstate="screen">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3385303" y="5361826"/>
            <a:ext cx="782422" cy="401642"/>
          </a:xfrm>
          <a:prstGeom prst="rect">
            <a:avLst/>
          </a:prstGeom>
        </p:spPr>
      </p:pic>
    </p:spTree>
    <p:custDataLst>
      <p:tags r:id="rId1"/>
    </p:custDataLst>
    <p:extLst>
      <p:ext uri="{BB962C8B-B14F-4D97-AF65-F5344CB8AC3E}">
        <p14:creationId xmlns:p14="http://schemas.microsoft.com/office/powerpoint/2010/main" val="16619174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39</a:t>
            </a:fld>
            <a:endParaRPr lang="en-US"/>
          </a:p>
        </p:txBody>
      </p:sp>
      <p:sp>
        <p:nvSpPr>
          <p:cNvPr id="2" name="Title 1"/>
          <p:cNvSpPr>
            <a:spLocks noGrp="1"/>
          </p:cNvSpPr>
          <p:nvPr>
            <p:ph type="title"/>
          </p:nvPr>
        </p:nvSpPr>
        <p:spPr/>
        <p:txBody>
          <a:bodyPr/>
          <a:lstStyle/>
          <a:p>
            <a:r>
              <a:rPr lang="en-US"/>
              <a:t>Using Amazon S3 Glacier</a:t>
            </a:r>
          </a:p>
        </p:txBody>
      </p:sp>
      <p:grpSp>
        <p:nvGrpSpPr>
          <p:cNvPr id="6" name="Group 5" descr="Access types for Amazon S3 glacier.">
            <a:extLst>
              <a:ext uri="{FF2B5EF4-FFF2-40B4-BE49-F238E27FC236}">
                <a16:creationId xmlns:a16="http://schemas.microsoft.com/office/drawing/2014/main" id="{D0B6BB2D-94AD-48FB-8BA0-BA40EE584D03}"/>
              </a:ext>
            </a:extLst>
          </p:cNvPr>
          <p:cNvGrpSpPr/>
          <p:nvPr/>
        </p:nvGrpSpPr>
        <p:grpSpPr>
          <a:xfrm>
            <a:off x="2002555" y="1699024"/>
            <a:ext cx="3636245" cy="3910096"/>
            <a:chOff x="2002555" y="1699024"/>
            <a:chExt cx="3636245" cy="3910096"/>
          </a:xfrm>
        </p:grpSpPr>
        <p:cxnSp>
          <p:nvCxnSpPr>
            <p:cNvPr id="16" name="Straight Arrow Connector 15">
              <a:extLst>
                <a:ext uri="{FF2B5EF4-FFF2-40B4-BE49-F238E27FC236}">
                  <a16:creationId xmlns:a16="http://schemas.microsoft.com/office/drawing/2014/main" id="{460318BC-AA55-4463-9881-553B04E75E2B}"/>
                </a:ext>
                <a:ext uri="{C183D7F6-B498-43B3-948B-1728B52AA6E4}">
                  <adec:decorative xmlns:adec="http://schemas.microsoft.com/office/drawing/2017/decorative" val="1"/>
                </a:ext>
              </a:extLst>
            </p:cNvPr>
            <p:cNvCxnSpPr>
              <a:cxnSpLocks/>
            </p:cNvCxnSpPr>
            <p:nvPr/>
          </p:nvCxnSpPr>
          <p:spPr>
            <a:xfrm>
              <a:off x="2713755" y="4188453"/>
              <a:ext cx="1917197" cy="709467"/>
            </a:xfrm>
            <a:prstGeom prst="bentConnector3">
              <a:avLst>
                <a:gd name="adj1" fmla="val 50000"/>
              </a:avLst>
            </a:prstGeom>
            <a:ln w="12700">
              <a:solidFill>
                <a:srgbClr val="545B64"/>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FDD5BB5-B197-4916-B73B-3E9727B77981}"/>
                </a:ext>
                <a:ext uri="{C183D7F6-B498-43B3-948B-1728B52AA6E4}">
                  <adec:decorative xmlns:adec="http://schemas.microsoft.com/office/drawing/2017/decorative" val="1"/>
                </a:ext>
              </a:extLst>
            </p:cNvPr>
            <p:cNvCxnSpPr>
              <a:cxnSpLocks/>
              <a:endCxn id="14" idx="1"/>
            </p:cNvCxnSpPr>
            <p:nvPr/>
          </p:nvCxnSpPr>
          <p:spPr>
            <a:xfrm flipV="1">
              <a:off x="2728156" y="3799001"/>
              <a:ext cx="1902796" cy="34718"/>
            </a:xfrm>
            <a:prstGeom prst="straightConnector1">
              <a:avLst/>
            </a:prstGeom>
            <a:ln w="12700">
              <a:solidFill>
                <a:srgbClr val="545B64"/>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43B835B8-06D3-4319-A494-2AD39A32AA3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45353" y="4897920"/>
              <a:ext cx="711200" cy="711200"/>
            </a:xfrm>
            <a:prstGeom prst="rect">
              <a:avLst/>
            </a:prstGeom>
          </p:spPr>
        </p:pic>
        <p:pic>
          <p:nvPicPr>
            <p:cNvPr id="14" name="Graphic 13">
              <a:extLst>
                <a:ext uri="{FF2B5EF4-FFF2-40B4-BE49-F238E27FC236}">
                  <a16:creationId xmlns:a16="http://schemas.microsoft.com/office/drawing/2014/main" id="{BD0BC488-BF92-406B-8C44-9A87B64268E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30952" y="3429000"/>
              <a:ext cx="740002" cy="740002"/>
            </a:xfrm>
            <a:prstGeom prst="rect">
              <a:avLst/>
            </a:prstGeom>
          </p:spPr>
        </p:pic>
        <p:pic>
          <p:nvPicPr>
            <p:cNvPr id="15" name="Graphic 14">
              <a:extLst>
                <a:ext uri="{FF2B5EF4-FFF2-40B4-BE49-F238E27FC236}">
                  <a16:creationId xmlns:a16="http://schemas.microsoft.com/office/drawing/2014/main" id="{10E576B7-9CD5-47D0-AF5A-1307DA53288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02555" y="3457802"/>
              <a:ext cx="711200" cy="711200"/>
            </a:xfrm>
            <a:prstGeom prst="rect">
              <a:avLst/>
            </a:prstGeom>
          </p:spPr>
        </p:pic>
        <p:pic>
          <p:nvPicPr>
            <p:cNvPr id="8" name="Picture 7">
              <a:extLst>
                <a:ext uri="{FF2B5EF4-FFF2-40B4-BE49-F238E27FC236}">
                  <a16:creationId xmlns:a16="http://schemas.microsoft.com/office/drawing/2014/main" id="{241E3C57-DEA0-418A-A15E-D864566BED7B}"/>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4154557" y="1699024"/>
              <a:ext cx="1484243" cy="1502125"/>
            </a:xfrm>
            <a:prstGeom prst="rect">
              <a:avLst/>
            </a:prstGeom>
          </p:spPr>
        </p:pic>
        <p:cxnSp>
          <p:nvCxnSpPr>
            <p:cNvPr id="34" name="Straight Arrow Connector 33">
              <a:extLst>
                <a:ext uri="{FF2B5EF4-FFF2-40B4-BE49-F238E27FC236}">
                  <a16:creationId xmlns:a16="http://schemas.microsoft.com/office/drawing/2014/main" id="{48169B05-50C2-45E1-81C6-2AF38CA30CFB}"/>
                </a:ext>
                <a:ext uri="{C183D7F6-B498-43B3-948B-1728B52AA6E4}">
                  <adec:decorative xmlns:adec="http://schemas.microsoft.com/office/drawing/2017/decorative" val="1"/>
                </a:ext>
              </a:extLst>
            </p:cNvPr>
            <p:cNvCxnSpPr>
              <a:cxnSpLocks/>
            </p:cNvCxnSpPr>
            <p:nvPr/>
          </p:nvCxnSpPr>
          <p:spPr>
            <a:xfrm flipV="1">
              <a:off x="2742557" y="2682426"/>
              <a:ext cx="1837950" cy="789291"/>
            </a:xfrm>
            <a:prstGeom prst="bentConnector3">
              <a:avLst>
                <a:gd name="adj1" fmla="val 50000"/>
              </a:avLst>
            </a:prstGeom>
            <a:ln w="12700">
              <a:solidFill>
                <a:srgbClr val="545B64"/>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sp>
        <p:nvSpPr>
          <p:cNvPr id="9" name="Rectangle 8" descr="Restful web services.">
            <a:extLst>
              <a:ext uri="{FF2B5EF4-FFF2-40B4-BE49-F238E27FC236}">
                <a16:creationId xmlns:a16="http://schemas.microsoft.com/office/drawing/2014/main" id="{DBD48BC5-2964-2447-AD62-230622BE6BE4}"/>
              </a:ext>
            </a:extLst>
          </p:cNvPr>
          <p:cNvSpPr/>
          <p:nvPr/>
        </p:nvSpPr>
        <p:spPr>
          <a:xfrm>
            <a:off x="7177468" y="2020317"/>
            <a:ext cx="2442869" cy="954107"/>
          </a:xfrm>
          <a:prstGeom prst="rect">
            <a:avLst/>
          </a:prstGeom>
        </p:spPr>
        <p:txBody>
          <a:bodyPr wrap="square">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RESTful</a:t>
            </a:r>
          </a:p>
          <a:p>
            <a:pPr algn="ctr"/>
            <a:r>
              <a:rPr lang="en-US" sz="2800">
                <a:latin typeface="Amazon Ember" panose="020B0603020204020204" pitchFamily="34" charset="0"/>
                <a:ea typeface="Amazon Ember" panose="020B0603020204020204" pitchFamily="34" charset="0"/>
                <a:cs typeface="Amazon Ember" panose="020B0603020204020204" pitchFamily="34" charset="0"/>
              </a:rPr>
              <a:t>web services</a:t>
            </a:r>
          </a:p>
        </p:txBody>
      </p:sp>
      <p:sp>
        <p:nvSpPr>
          <p:cNvPr id="10" name="Rectangle 9" descr="Java or .NET SDKs">
            <a:extLst>
              <a:ext uri="{FF2B5EF4-FFF2-40B4-BE49-F238E27FC236}">
                <a16:creationId xmlns:a16="http://schemas.microsoft.com/office/drawing/2014/main" id="{6167942A-F418-F046-BDB1-99327AE90473}"/>
              </a:ext>
            </a:extLst>
          </p:cNvPr>
          <p:cNvSpPr/>
          <p:nvPr/>
        </p:nvSpPr>
        <p:spPr>
          <a:xfrm>
            <a:off x="7349590" y="3336349"/>
            <a:ext cx="2442869" cy="954107"/>
          </a:xfrm>
          <a:prstGeom prst="rect">
            <a:avLst/>
          </a:prstGeom>
        </p:spPr>
        <p:txBody>
          <a:bodyPr wrap="square">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Java or .NET SDKs</a:t>
            </a:r>
          </a:p>
        </p:txBody>
      </p:sp>
      <p:sp>
        <p:nvSpPr>
          <p:cNvPr id="11" name="Rectangle 10" descr="Amazon S3 with lifecycle policies.">
            <a:extLst>
              <a:ext uri="{FF2B5EF4-FFF2-40B4-BE49-F238E27FC236}">
                <a16:creationId xmlns:a16="http://schemas.microsoft.com/office/drawing/2014/main" id="{C98B1267-C101-5440-BCF1-DC8D6684582D}"/>
              </a:ext>
            </a:extLst>
          </p:cNvPr>
          <p:cNvSpPr/>
          <p:nvPr/>
        </p:nvSpPr>
        <p:spPr>
          <a:xfrm>
            <a:off x="7133447" y="4835262"/>
            <a:ext cx="3111821" cy="954107"/>
          </a:xfrm>
          <a:prstGeom prst="rect">
            <a:avLst/>
          </a:prstGeom>
        </p:spPr>
        <p:txBody>
          <a:bodyPr wrap="square">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Amazon S3 with lifecycle policies</a:t>
            </a:r>
          </a:p>
        </p:txBody>
      </p:sp>
    </p:spTree>
    <p:custDataLst>
      <p:tags r:id="rId1"/>
    </p:custDataLst>
    <p:extLst>
      <p:ext uri="{BB962C8B-B14F-4D97-AF65-F5344CB8AC3E}">
        <p14:creationId xmlns:p14="http://schemas.microsoft.com/office/powerpoint/2010/main" val="2483093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40</a:t>
            </a:fld>
            <a:endParaRPr lang="en-US"/>
          </a:p>
        </p:txBody>
      </p:sp>
      <p:sp>
        <p:nvSpPr>
          <p:cNvPr id="2" name="Title 1"/>
          <p:cNvSpPr>
            <a:spLocks noGrp="1"/>
          </p:cNvSpPr>
          <p:nvPr>
            <p:ph type="title"/>
          </p:nvPr>
        </p:nvSpPr>
        <p:spPr/>
        <p:txBody>
          <a:bodyPr/>
          <a:lstStyle/>
          <a:p>
            <a:r>
              <a:rPr lang="en-US"/>
              <a:t>Lifecycle policies</a:t>
            </a:r>
          </a:p>
        </p:txBody>
      </p:sp>
      <p:sp>
        <p:nvSpPr>
          <p:cNvPr id="3" name="Content Placeholder 2"/>
          <p:cNvSpPr>
            <a:spLocks noGrp="1"/>
          </p:cNvSpPr>
          <p:nvPr>
            <p:ph sz="quarter" idx="21"/>
          </p:nvPr>
        </p:nvSpPr>
        <p:spPr/>
        <p:txBody>
          <a:bodyPr/>
          <a:lstStyle/>
          <a:p>
            <a:pPr marL="0" indent="0">
              <a:buNone/>
            </a:pP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Amazon</a:t>
            </a:r>
            <a:r>
              <a:rPr lang="en-US">
                <a:solidFill>
                  <a:srgbClr val="504BAB"/>
                </a:solidFill>
              </a:rPr>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S3</a:t>
            </a:r>
            <a:r>
              <a:rPr lang="en-US">
                <a:solidFill>
                  <a:srgbClr val="504BAB"/>
                </a:solidFill>
              </a:rPr>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lifecycle</a:t>
            </a:r>
            <a:r>
              <a:rPr lang="en-US">
                <a:solidFill>
                  <a:srgbClr val="504BAB"/>
                </a:solidFill>
              </a:rPr>
              <a:t> </a:t>
            </a:r>
            <a:r>
              <a:rPr lang="en-US">
                <a:solidFill>
                  <a:srgbClr val="504BAB"/>
                </a:solidFill>
                <a:latin typeface="Amazon Ember" panose="020B0603020204020204" pitchFamily="34" charset="0"/>
                <a:ea typeface="Amazon Ember" panose="020B0603020204020204" pitchFamily="34" charset="0"/>
                <a:cs typeface="Amazon Ember" panose="020B0603020204020204" pitchFamily="34" charset="0"/>
              </a:rPr>
              <a:t>policies</a:t>
            </a:r>
            <a:r>
              <a:rPr lang="en-US">
                <a:solidFill>
                  <a:srgbClr val="504BAB"/>
                </a:solidFill>
              </a:rPr>
              <a:t> </a:t>
            </a:r>
            <a:r>
              <a:rPr lang="en-US"/>
              <a:t>enable you to delete or move objects based on age.</a:t>
            </a:r>
          </a:p>
        </p:txBody>
      </p:sp>
      <p:sp>
        <p:nvSpPr>
          <p:cNvPr id="28" name="TextBox 52">
            <a:extLst>
              <a:ext uri="{C183D7F6-B498-43B3-948B-1728B52AA6E4}">
                <adec:decorative xmlns:adec="http://schemas.microsoft.com/office/drawing/2017/decorative" val="0"/>
              </a:ext>
            </a:extLst>
          </p:cNvPr>
          <p:cNvSpPr txBox="1">
            <a:spLocks noChangeArrowheads="1"/>
          </p:cNvSpPr>
          <p:nvPr/>
        </p:nvSpPr>
        <p:spPr bwMode="auto">
          <a:xfrm>
            <a:off x="945393" y="2832843"/>
            <a:ext cx="1683056" cy="2975293"/>
          </a:xfrm>
          <a:prstGeom prst="roundRect">
            <a:avLst/>
          </a:prstGeom>
          <a:noFill/>
          <a:ln w="28575">
            <a:solidFill>
              <a:schemeClr val="accent2"/>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Amazon S3 Standard</a:t>
            </a:r>
            <a:endParaRPr lang="en-US" sz="1867" b="1"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46" name="Picture 45">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83555" y="4013440"/>
            <a:ext cx="1192895" cy="1192895"/>
          </a:xfrm>
          <a:prstGeom prst="rect">
            <a:avLst/>
          </a:prstGeom>
        </p:spPr>
      </p:pic>
      <p:sp>
        <p:nvSpPr>
          <p:cNvPr id="48" name="TextBox 52">
            <a:extLst>
              <a:ext uri="{C183D7F6-B498-43B3-948B-1728B52AA6E4}">
                <adec:decorative xmlns:adec="http://schemas.microsoft.com/office/drawing/2017/decorative" val="0"/>
              </a:ext>
            </a:extLst>
          </p:cNvPr>
          <p:cNvSpPr txBox="1">
            <a:spLocks noChangeArrowheads="1"/>
          </p:cNvSpPr>
          <p:nvPr/>
        </p:nvSpPr>
        <p:spPr bwMode="auto">
          <a:xfrm>
            <a:off x="1004401" y="5125417"/>
            <a:ext cx="155120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Amazon Ember" panose="020B0603020204020204" pitchFamily="34" charset="0"/>
                <a:ea typeface="Amazon Ember" panose="020B0603020204020204" pitchFamily="34" charset="0"/>
                <a:cs typeface="Amazon Ember" panose="020B0603020204020204" pitchFamily="34" charset="0"/>
              </a:rPr>
              <a:t>Preview2.mp4</a:t>
            </a:r>
            <a:endParaRPr lang="en-US" sz="1867" i="1"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35" name="Group 34" descr="30 days arrow pointing to next text box.">
            <a:extLst>
              <a:ext uri="{C183D7F6-B498-43B3-948B-1728B52AA6E4}">
                <adec:decorative xmlns:adec="http://schemas.microsoft.com/office/drawing/2017/decorative" val="0"/>
              </a:ext>
            </a:extLst>
          </p:cNvPr>
          <p:cNvGrpSpPr/>
          <p:nvPr/>
        </p:nvGrpSpPr>
        <p:grpSpPr>
          <a:xfrm>
            <a:off x="2463538" y="4156658"/>
            <a:ext cx="1626109" cy="901172"/>
            <a:chOff x="1847653" y="2965826"/>
            <a:chExt cx="1219582" cy="675879"/>
          </a:xfrm>
          <a:solidFill>
            <a:schemeClr val="accent2"/>
          </a:solidFill>
        </p:grpSpPr>
        <p:sp>
          <p:nvSpPr>
            <p:cNvPr id="36" name="Right Arrow 35"/>
            <p:cNvSpPr/>
            <p:nvPr/>
          </p:nvSpPr>
          <p:spPr>
            <a:xfrm>
              <a:off x="1847653" y="2965826"/>
              <a:ext cx="1219582" cy="675879"/>
            </a:xfrm>
            <a:prstGeom prst="rightArrow">
              <a:avLst/>
            </a:prstGeom>
            <a:grp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7" name="TextBox 9"/>
            <p:cNvSpPr txBox="1"/>
            <p:nvPr/>
          </p:nvSpPr>
          <p:spPr>
            <a:xfrm>
              <a:off x="2069628" y="3166605"/>
              <a:ext cx="640080" cy="274320"/>
            </a:xfrm>
            <a:prstGeom prst="rect">
              <a:avLst/>
            </a:prstGeom>
            <a:grpFill/>
            <a:ln>
              <a:solidFill>
                <a:schemeClr val="accent2"/>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30 days</a:t>
              </a:r>
            </a:p>
          </p:txBody>
        </p:sp>
      </p:grpSp>
      <p:sp>
        <p:nvSpPr>
          <p:cNvPr id="29" name="TextBox 52">
            <a:extLst>
              <a:ext uri="{C183D7F6-B498-43B3-948B-1728B52AA6E4}">
                <adec:decorative xmlns:adec="http://schemas.microsoft.com/office/drawing/2017/decorative" val="0"/>
              </a:ext>
            </a:extLst>
          </p:cNvPr>
          <p:cNvSpPr txBox="1">
            <a:spLocks noChangeArrowheads="1"/>
          </p:cNvSpPr>
          <p:nvPr/>
        </p:nvSpPr>
        <p:spPr bwMode="auto">
          <a:xfrm>
            <a:off x="3830537" y="2832843"/>
            <a:ext cx="1683056" cy="2975293"/>
          </a:xfrm>
          <a:prstGeom prst="roundRect">
            <a:avLst/>
          </a:prstGeom>
          <a:noFill/>
          <a:ln w="28575">
            <a:solidFill>
              <a:schemeClr val="accent2">
                <a:lumMod val="60000"/>
                <a:lumOff val="40000"/>
              </a:schemeClr>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Amazon S3 Standard - Infrequent Access</a:t>
            </a:r>
          </a:p>
        </p:txBody>
      </p:sp>
      <p:pic>
        <p:nvPicPr>
          <p:cNvPr id="50" name="Picture 49">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89647" y="4013440"/>
            <a:ext cx="1192895" cy="1192895"/>
          </a:xfrm>
          <a:prstGeom prst="rect">
            <a:avLst/>
          </a:prstGeom>
        </p:spPr>
      </p:pic>
      <p:sp>
        <p:nvSpPr>
          <p:cNvPr id="64" name="TextBox 52">
            <a:extLst>
              <a:ext uri="{C183D7F6-B498-43B3-948B-1728B52AA6E4}">
                <adec:decorative xmlns:adec="http://schemas.microsoft.com/office/drawing/2017/decorative" val="0"/>
              </a:ext>
            </a:extLst>
          </p:cNvPr>
          <p:cNvSpPr txBox="1">
            <a:spLocks noChangeArrowheads="1"/>
          </p:cNvSpPr>
          <p:nvPr/>
        </p:nvSpPr>
        <p:spPr bwMode="auto">
          <a:xfrm>
            <a:off x="3910493" y="5125417"/>
            <a:ext cx="155120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Amazon Ember" panose="020B0603020204020204" pitchFamily="34" charset="0"/>
                <a:ea typeface="Amazon Ember" panose="020B0603020204020204" pitchFamily="34" charset="0"/>
                <a:cs typeface="Amazon Ember" panose="020B0603020204020204" pitchFamily="34" charset="0"/>
              </a:rPr>
              <a:t>Preview2.mp4</a:t>
            </a:r>
            <a:endParaRPr lang="en-US" sz="1867" i="1"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71" name="Group 70" descr="60 days arrow pointing to the next text box.">
            <a:extLst>
              <a:ext uri="{C183D7F6-B498-43B3-948B-1728B52AA6E4}">
                <adec:decorative xmlns:adec="http://schemas.microsoft.com/office/drawing/2017/decorative" val="0"/>
              </a:ext>
            </a:extLst>
          </p:cNvPr>
          <p:cNvGrpSpPr/>
          <p:nvPr/>
        </p:nvGrpSpPr>
        <p:grpSpPr>
          <a:xfrm>
            <a:off x="5340079" y="4164405"/>
            <a:ext cx="1626109" cy="901172"/>
            <a:chOff x="4012123" y="2971636"/>
            <a:chExt cx="1219582" cy="675879"/>
          </a:xfrm>
          <a:solidFill>
            <a:schemeClr val="accent2">
              <a:lumMod val="60000"/>
              <a:lumOff val="40000"/>
            </a:schemeClr>
          </a:solidFill>
        </p:grpSpPr>
        <p:sp>
          <p:nvSpPr>
            <p:cNvPr id="72" name="Right Arrow 71"/>
            <p:cNvSpPr/>
            <p:nvPr/>
          </p:nvSpPr>
          <p:spPr>
            <a:xfrm>
              <a:off x="4012123" y="2971636"/>
              <a:ext cx="1219582" cy="675879"/>
            </a:xfrm>
            <a:prstGeom prst="rightArrow">
              <a:avLst/>
            </a:prstGeom>
            <a:grp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3" name="TextBox 9"/>
            <p:cNvSpPr txBox="1"/>
            <p:nvPr/>
          </p:nvSpPr>
          <p:spPr>
            <a:xfrm>
              <a:off x="4218674" y="3169549"/>
              <a:ext cx="640080" cy="274320"/>
            </a:xfrm>
            <a:prstGeom prst="rect">
              <a:avLst/>
            </a:prstGeom>
            <a:grpFill/>
            <a:ln>
              <a:solidFill>
                <a:schemeClr val="accent2">
                  <a:lumMod val="60000"/>
                  <a:lumOff val="40000"/>
                </a:schemeClr>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60 days</a:t>
              </a:r>
            </a:p>
          </p:txBody>
        </p:sp>
      </p:grpSp>
      <p:sp>
        <p:nvSpPr>
          <p:cNvPr id="27" name="TextBox 52">
            <a:extLst>
              <a:ext uri="{C183D7F6-B498-43B3-948B-1728B52AA6E4}">
                <adec:decorative xmlns:adec="http://schemas.microsoft.com/office/drawing/2017/decorative" val="0"/>
              </a:ext>
            </a:extLst>
          </p:cNvPr>
          <p:cNvSpPr txBox="1">
            <a:spLocks noChangeArrowheads="1"/>
          </p:cNvSpPr>
          <p:nvPr/>
        </p:nvSpPr>
        <p:spPr bwMode="auto">
          <a:xfrm>
            <a:off x="6664597" y="2832843"/>
            <a:ext cx="1683056" cy="2975293"/>
          </a:xfrm>
          <a:prstGeom prst="roundRect">
            <a:avLst/>
          </a:prstGeom>
          <a:noFill/>
          <a:ln w="28575">
            <a:solidFill>
              <a:schemeClr val="accent2">
                <a:lumMod val="20000"/>
                <a:lumOff val="80000"/>
              </a:schemeClr>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Amazon </a:t>
            </a:r>
          </a:p>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S3 Glacier</a:t>
            </a:r>
            <a:endParaRPr lang="en-US" sz="1867" b="1"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65" name="Picture 64">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975607" y="4010798"/>
            <a:ext cx="1192895" cy="1192895"/>
          </a:xfrm>
          <a:prstGeom prst="rect">
            <a:avLst/>
          </a:prstGeom>
        </p:spPr>
      </p:pic>
      <p:sp>
        <p:nvSpPr>
          <p:cNvPr id="66" name="TextBox 52">
            <a:extLst>
              <a:ext uri="{C183D7F6-B498-43B3-948B-1728B52AA6E4}">
                <adec:decorative xmlns:adec="http://schemas.microsoft.com/office/drawing/2017/decorative" val="0"/>
              </a:ext>
            </a:extLst>
          </p:cNvPr>
          <p:cNvSpPr txBox="1">
            <a:spLocks noChangeArrowheads="1"/>
          </p:cNvSpPr>
          <p:nvPr/>
        </p:nvSpPr>
        <p:spPr bwMode="auto">
          <a:xfrm>
            <a:off x="6796453" y="5122776"/>
            <a:ext cx="155120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Amazon Ember" panose="020B0603020204020204" pitchFamily="34" charset="0"/>
                <a:ea typeface="Amazon Ember" panose="020B0603020204020204" pitchFamily="34" charset="0"/>
                <a:cs typeface="Amazon Ember" panose="020B0603020204020204" pitchFamily="34" charset="0"/>
              </a:rPr>
              <a:t>Preview2.mp4</a:t>
            </a:r>
            <a:endParaRPr lang="en-US" sz="1867" i="1" dirty="0">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74" name="Group 73" descr="365 day arrow pointing at a trash can.">
            <a:extLst>
              <a:ext uri="{C183D7F6-B498-43B3-948B-1728B52AA6E4}">
                <adec:decorative xmlns:adec="http://schemas.microsoft.com/office/drawing/2017/decorative" val="0"/>
              </a:ext>
            </a:extLst>
          </p:cNvPr>
          <p:cNvGrpSpPr/>
          <p:nvPr/>
        </p:nvGrpSpPr>
        <p:grpSpPr>
          <a:xfrm>
            <a:off x="8187340" y="4164405"/>
            <a:ext cx="1626109" cy="901172"/>
            <a:chOff x="6160441" y="2971635"/>
            <a:chExt cx="1219582" cy="675879"/>
          </a:xfrm>
          <a:solidFill>
            <a:schemeClr val="accent2">
              <a:lumMod val="20000"/>
              <a:lumOff val="80000"/>
            </a:schemeClr>
          </a:solidFill>
        </p:grpSpPr>
        <p:sp>
          <p:nvSpPr>
            <p:cNvPr id="75" name="Right Arrow 74"/>
            <p:cNvSpPr/>
            <p:nvPr/>
          </p:nvSpPr>
          <p:spPr>
            <a:xfrm>
              <a:off x="6160441" y="2971635"/>
              <a:ext cx="1219582" cy="675879"/>
            </a:xfrm>
            <a:prstGeom prst="rightArrow">
              <a:avLst/>
            </a:prstGeom>
            <a:grpFill/>
            <a:ln>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6" name="TextBox 9"/>
            <p:cNvSpPr txBox="1"/>
            <p:nvPr/>
          </p:nvSpPr>
          <p:spPr>
            <a:xfrm>
              <a:off x="6376138" y="3162134"/>
              <a:ext cx="640080" cy="274320"/>
            </a:xfrm>
            <a:prstGeom prst="rect">
              <a:avLst/>
            </a:prstGeom>
            <a:grpFill/>
            <a:ln>
              <a:solidFill>
                <a:schemeClr val="accent2">
                  <a:lumMod val="20000"/>
                  <a:lumOff val="80000"/>
                </a:schemeClr>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a:latin typeface="Amazon Ember Light" panose="020B0403020204020204" pitchFamily="34" charset="0"/>
                  <a:ea typeface="Amazon Ember Light" panose="020B0403020204020204" pitchFamily="34" charset="0"/>
                  <a:cs typeface="Amazon Ember Light" panose="020B0403020204020204" pitchFamily="34" charset="0"/>
                </a:rPr>
                <a:t>365 days</a:t>
              </a:r>
            </a:p>
          </p:txBody>
        </p:sp>
      </p:grpSp>
      <p:grpSp>
        <p:nvGrpSpPr>
          <p:cNvPr id="30" name="Group 29" descr="Delete.">
            <a:extLst>
              <a:ext uri="{C183D7F6-B498-43B3-948B-1728B52AA6E4}">
                <adec:decorative xmlns:adec="http://schemas.microsoft.com/office/drawing/2017/decorative" val="0"/>
              </a:ext>
            </a:extLst>
          </p:cNvPr>
          <p:cNvGrpSpPr/>
          <p:nvPr/>
        </p:nvGrpSpPr>
        <p:grpSpPr>
          <a:xfrm>
            <a:off x="9531768" y="2854136"/>
            <a:ext cx="1551200" cy="2690475"/>
            <a:chOff x="7148826" y="1800395"/>
            <a:chExt cx="1163400" cy="2017856"/>
          </a:xfrm>
        </p:grpSpPr>
        <p:pic>
          <p:nvPicPr>
            <p:cNvPr id="31" name="Picture 2" descr="Trash can."/>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238664" y="2793242"/>
              <a:ext cx="983724" cy="1025009"/>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52"/>
            <p:cNvSpPr txBox="1">
              <a:spLocks noChangeArrowheads="1"/>
            </p:cNvSpPr>
            <p:nvPr/>
          </p:nvSpPr>
          <p:spPr bwMode="auto">
            <a:xfrm>
              <a:off x="7148826" y="1800395"/>
              <a:ext cx="1163400" cy="1846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Delete</a:t>
              </a:r>
              <a:endParaRPr lang="en-US" sz="1867" b="1" dirty="0">
                <a:latin typeface="Amazon Ember" panose="020B0603020204020204" pitchFamily="34" charset="0"/>
                <a:ea typeface="Amazon Ember" panose="020B0603020204020204" pitchFamily="34" charset="0"/>
                <a:cs typeface="Amazon Ember" panose="020B0603020204020204" pitchFamily="34" charset="0"/>
              </a:endParaRPr>
            </a:p>
          </p:txBody>
        </p:sp>
      </p:grpSp>
    </p:spTree>
    <p:custDataLst>
      <p:tags r:id="rId1"/>
    </p:custDataLst>
    <p:extLst>
      <p:ext uri="{BB962C8B-B14F-4D97-AF65-F5344CB8AC3E}">
        <p14:creationId xmlns:p14="http://schemas.microsoft.com/office/powerpoint/2010/main" val="16451923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41</a:t>
            </a:fld>
            <a:endParaRPr lang="en-US"/>
          </a:p>
        </p:txBody>
      </p:sp>
      <p:sp>
        <p:nvSpPr>
          <p:cNvPr id="2" name="Title 1"/>
          <p:cNvSpPr>
            <a:spLocks noGrp="1"/>
          </p:cNvSpPr>
          <p:nvPr>
            <p:ph type="title"/>
          </p:nvPr>
        </p:nvSpPr>
        <p:spPr/>
        <p:txBody>
          <a:bodyPr/>
          <a:lstStyle/>
          <a:p>
            <a:r>
              <a:rPr lang="en-US"/>
              <a:t>Storage comparison</a:t>
            </a:r>
          </a:p>
        </p:txBody>
      </p:sp>
      <p:graphicFrame>
        <p:nvGraphicFramePr>
          <p:cNvPr id="6" name="Content Placeholder 5" descr="Table comparing Amazon S3 with Amazon Glacier. The criteria are data volume, average latency, item size, cost per GB per month, type of billed requests, and price for retrieving data.">
            <a:extLst>
              <a:ext uri="{FF2B5EF4-FFF2-40B4-BE49-F238E27FC236}">
                <a16:creationId xmlns:a16="http://schemas.microsoft.com/office/drawing/2014/main" id="{A2ABB4F0-7911-D14F-BA18-7852C010C810}"/>
              </a:ext>
            </a:extLst>
          </p:cNvPr>
          <p:cNvGraphicFramePr>
            <a:graphicFrameLocks noGrp="1"/>
          </p:cNvGraphicFramePr>
          <p:nvPr>
            <p:ph sz="quarter" idx="21"/>
            <p:extLst>
              <p:ext uri="{D42A27DB-BD31-4B8C-83A1-F6EECF244321}">
                <p14:modId xmlns:p14="http://schemas.microsoft.com/office/powerpoint/2010/main" val="2079487404"/>
              </p:ext>
            </p:extLst>
          </p:nvPr>
        </p:nvGraphicFramePr>
        <p:xfrm>
          <a:off x="365125" y="1143000"/>
          <a:ext cx="11588748" cy="4541520"/>
        </p:xfrm>
        <a:graphic>
          <a:graphicData uri="http://schemas.openxmlformats.org/drawingml/2006/table">
            <a:tbl>
              <a:tblPr firstRow="1" bandRow="1">
                <a:tableStyleId>{85BE263C-DBD7-4A20-BB59-AAB30ACAA65A}</a:tableStyleId>
              </a:tblPr>
              <a:tblGrid>
                <a:gridCol w="3825877">
                  <a:extLst>
                    <a:ext uri="{9D8B030D-6E8A-4147-A177-3AD203B41FA5}">
                      <a16:colId xmlns:a16="http://schemas.microsoft.com/office/drawing/2014/main" val="4208479291"/>
                    </a:ext>
                  </a:extLst>
                </a:gridCol>
                <a:gridCol w="3431144">
                  <a:extLst>
                    <a:ext uri="{9D8B030D-6E8A-4147-A177-3AD203B41FA5}">
                      <a16:colId xmlns:a16="http://schemas.microsoft.com/office/drawing/2014/main" val="3877621433"/>
                    </a:ext>
                  </a:extLst>
                </a:gridCol>
                <a:gridCol w="4331727">
                  <a:extLst>
                    <a:ext uri="{9D8B030D-6E8A-4147-A177-3AD203B41FA5}">
                      <a16:colId xmlns:a16="http://schemas.microsoft.com/office/drawing/2014/main" val="1352277599"/>
                    </a:ext>
                  </a:extLst>
                </a:gridCol>
              </a:tblGrid>
              <a:tr h="370840">
                <a:tc>
                  <a:txBody>
                    <a:bodyPr/>
                    <a:lstStyle/>
                    <a:p>
                      <a:endParaRPr lang="en-US" b="0" i="0">
                        <a:latin typeface="Amazon Ember" panose="020B0603020204020204" pitchFamily="34" charset="0"/>
                        <a:ea typeface="Amazon Ember" panose="020B0603020204020204" pitchFamily="34" charset="0"/>
                        <a:cs typeface="Amazon Ember" panose="020B0603020204020204" pitchFamily="34" charset="0"/>
                      </a:endParaRPr>
                    </a:p>
                  </a:txBody>
                  <a:tcPr>
                    <a:lnL>
                      <a:noFill/>
                    </a:lnL>
                    <a:lnR w="12700" cap="flat" cmpd="sng" algn="ctr">
                      <a:solidFill>
                        <a:schemeClr val="tx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noFill/>
                  </a:tcPr>
                </a:tc>
                <a:tc>
                  <a:txBody>
                    <a:bodyPr/>
                    <a:lstStyle/>
                    <a:p>
                      <a:pPr algn="ctr"/>
                      <a:r>
                        <a:rPr lang="en-US" sz="32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Amazon S3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tc>
                  <a:txBody>
                    <a:bodyPr/>
                    <a:lstStyle/>
                    <a:p>
                      <a:pPr algn="ctr"/>
                      <a:r>
                        <a:rPr lang="en-US" sz="32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Amazon S3 Glacier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313094"/>
                  </a:ext>
                </a:extLst>
              </a:tr>
              <a:tr h="370840">
                <a:tc>
                  <a:txBody>
                    <a:bodyPr/>
                    <a:lstStyle/>
                    <a:p>
                      <a:r>
                        <a:rPr lang="en-US" sz="2800" b="0" i="0">
                          <a:latin typeface="Amazon Ember" panose="020B0603020204020204" pitchFamily="34" charset="0"/>
                          <a:ea typeface="Amazon Ember" panose="020B0603020204020204" pitchFamily="34" charset="0"/>
                          <a:cs typeface="Amazon Ember" panose="020B0603020204020204" pitchFamily="34" charset="0"/>
                        </a:rPr>
                        <a:t>Data Volume</a:t>
                      </a:r>
                    </a:p>
                  </a:txBody>
                  <a:tcPr anchor="ctr">
                    <a:lnL>
                      <a:noFill/>
                    </a:lnL>
                    <a:lnR w="12700" cap="flat" cmpd="sng" algn="ctr">
                      <a:solidFill>
                        <a:schemeClr val="tx1"/>
                      </a:solidFill>
                      <a:prstDash val="solid"/>
                      <a:round/>
                      <a:headEnd type="none" w="med" len="med"/>
                      <a:tailEnd type="none" w="med" len="med"/>
                    </a:lnR>
                    <a:lnT w="25400" cmpd="sng">
                      <a:noFill/>
                    </a:lnT>
                    <a:lnB>
                      <a:noFill/>
                    </a:lnB>
                    <a:lnTlToBr w="12700" cmpd="sng">
                      <a:noFill/>
                      <a:prstDash val="solid"/>
                    </a:lnTlToBr>
                    <a:lnBlToTr w="12700" cmpd="sng">
                      <a:noFill/>
                      <a:prstDash val="solid"/>
                    </a:lnBlToTr>
                    <a:noFill/>
                  </a:tcPr>
                </a:tc>
                <a:tc>
                  <a:txBody>
                    <a:bodyPr/>
                    <a:lstStyle/>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No limit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No limit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760860725"/>
                  </a:ext>
                </a:extLst>
              </a:tr>
              <a:tr h="370840">
                <a:tc>
                  <a:txBody>
                    <a:bodyPr/>
                    <a:lstStyle/>
                    <a:p>
                      <a:r>
                        <a:rPr lang="en-US" sz="2800" b="0" i="0">
                          <a:latin typeface="Amazon Ember" panose="020B0603020204020204" pitchFamily="34" charset="0"/>
                          <a:ea typeface="Amazon Ember" panose="020B0603020204020204" pitchFamily="34" charset="0"/>
                          <a:cs typeface="Amazon Ember" panose="020B0603020204020204" pitchFamily="34" charset="0"/>
                        </a:rPr>
                        <a:t>Average Latency</a:t>
                      </a:r>
                    </a:p>
                  </a:txBody>
                  <a:tcPr anchor="ctr">
                    <a:lnR w="12700" cap="flat" cmpd="sng" algn="ctr">
                      <a:solidFill>
                        <a:schemeClr val="tx1"/>
                      </a:solidFill>
                      <a:prstDash val="solid"/>
                      <a:round/>
                      <a:headEnd type="none" w="med" len="med"/>
                      <a:tailEnd type="none" w="med" len="med"/>
                    </a:lnR>
                    <a:lnT>
                      <a:noFill/>
                    </a:lnT>
                    <a:noFill/>
                  </a:tcPr>
                </a:tc>
                <a:tc>
                  <a:txBody>
                    <a:bodyPr/>
                    <a:lstStyle/>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minutes/hours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39607568"/>
                  </a:ext>
                </a:extLst>
              </a:tr>
              <a:tr h="370840">
                <a:tc>
                  <a:txBody>
                    <a:bodyPr/>
                    <a:lstStyle/>
                    <a:p>
                      <a:r>
                        <a:rPr lang="en-US" sz="2800" b="0" i="0">
                          <a:latin typeface="Amazon Ember" panose="020B0603020204020204" pitchFamily="34" charset="0"/>
                          <a:ea typeface="Amazon Ember" panose="020B0603020204020204" pitchFamily="34" charset="0"/>
                          <a:cs typeface="Amazon Ember" panose="020B0603020204020204" pitchFamily="34" charset="0"/>
                        </a:rPr>
                        <a:t>Item Size</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5 TB maximum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40 TB maximum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536810272"/>
                  </a:ext>
                </a:extLst>
              </a:tr>
              <a:tr h="370840">
                <a:tc>
                  <a:txBody>
                    <a:bodyPr/>
                    <a:lstStyle/>
                    <a:p>
                      <a:r>
                        <a:rPr lang="en-US" sz="2800" b="0" i="0">
                          <a:latin typeface="Amazon Ember" panose="020B0603020204020204" pitchFamily="34" charset="0"/>
                          <a:ea typeface="Amazon Ember" panose="020B0603020204020204" pitchFamily="34" charset="0"/>
                          <a:cs typeface="Amazon Ember" panose="020B0603020204020204" pitchFamily="34" charset="0"/>
                        </a:rPr>
                        <a:t>Cost/GB per Month</a:t>
                      </a:r>
                    </a:p>
                  </a:txBody>
                  <a:tcPr anchor="ctr">
                    <a:lnR w="12700" cap="flat" cmpd="sng" algn="ctr">
                      <a:solidFill>
                        <a:schemeClr val="tx1"/>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i="0">
                          <a:latin typeface="Amazon Ember" panose="020B0603020204020204" pitchFamily="34" charset="0"/>
                          <a:ea typeface="Amazon Ember" panose="020B0603020204020204" pitchFamily="34" charset="0"/>
                          <a:cs typeface="Amazon Ember" panose="020B0603020204020204" pitchFamily="34" charset="0"/>
                        </a:rPr>
                        <a:t>Higher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i="0">
                          <a:latin typeface="Amazon Ember" panose="020B0603020204020204" pitchFamily="34" charset="0"/>
                          <a:ea typeface="Amazon Ember" panose="020B0603020204020204" pitchFamily="34" charset="0"/>
                          <a:cs typeface="Amazon Ember" panose="020B0603020204020204" pitchFamily="34" charset="0"/>
                        </a:rPr>
                        <a:t>Lower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4863636"/>
                  </a:ext>
                </a:extLst>
              </a:tr>
              <a:tr h="370840">
                <a:tc>
                  <a:txBody>
                    <a:bodyPr/>
                    <a:lstStyle/>
                    <a:p>
                      <a:r>
                        <a:rPr lang="en-US" sz="2800" b="0" i="0">
                          <a:latin typeface="Amazon Ember" panose="020B0603020204020204" pitchFamily="34" charset="0"/>
                          <a:ea typeface="Amazon Ember" panose="020B0603020204020204" pitchFamily="34" charset="0"/>
                          <a:cs typeface="Amazon Ember" panose="020B0603020204020204" pitchFamily="34" charset="0"/>
                        </a:rPr>
                        <a:t>Billed Requests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PUT, COPY, POST, LIST, and 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UPLOAD and retrieval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14348630"/>
                  </a:ext>
                </a:extLst>
              </a:tr>
              <a:tr h="370840">
                <a:tc>
                  <a:txBody>
                    <a:bodyPr/>
                    <a:lstStyle/>
                    <a:p>
                      <a:r>
                        <a:rPr lang="en-US" sz="2800" b="0" i="0">
                          <a:latin typeface="Amazon Ember" panose="020B0603020204020204" pitchFamily="34" charset="0"/>
                          <a:ea typeface="Amazon Ember" panose="020B0603020204020204" pitchFamily="34" charset="0"/>
                          <a:cs typeface="Amazon Ember" panose="020B0603020204020204" pitchFamily="34" charset="0"/>
                        </a:rPr>
                        <a:t>Retrieval Pricing</a:t>
                      </a:r>
                    </a:p>
                  </a:txBody>
                  <a:tcPr anchor="ctr">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 </a:t>
                      </a:r>
                    </a:p>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Per request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a:t>
                      </a:r>
                    </a:p>
                    <a:p>
                      <a:pPr algn="ctr"/>
                      <a:r>
                        <a:rPr lang="en-US" sz="2800" b="0" i="0">
                          <a:latin typeface="Amazon Ember" panose="020B0603020204020204" pitchFamily="34" charset="0"/>
                          <a:ea typeface="Amazon Ember" panose="020B0603020204020204" pitchFamily="34" charset="0"/>
                          <a:cs typeface="Amazon Ember" panose="020B0603020204020204" pitchFamily="34" charset="0"/>
                        </a:rPr>
                        <a:t>Per request and per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9685649"/>
                  </a:ext>
                </a:extLst>
              </a:tr>
            </a:tbl>
          </a:graphicData>
        </a:graphic>
      </p:graphicFrame>
    </p:spTree>
    <p:custDataLst>
      <p:tags r:id="rId1"/>
    </p:custDataLst>
    <p:extLst>
      <p:ext uri="{BB962C8B-B14F-4D97-AF65-F5344CB8AC3E}">
        <p14:creationId xmlns:p14="http://schemas.microsoft.com/office/powerpoint/2010/main" val="5234214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42</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t>Section 4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a:t>Amazon S3 Glacier is a data archiving service that is designed for security, durability, and an extremely low cost.</a:t>
            </a:r>
          </a:p>
          <a:p>
            <a:r>
              <a:rPr lang="en-US"/>
              <a:t>Amazon S3 Glacier pricing is based on Region.</a:t>
            </a:r>
          </a:p>
          <a:p>
            <a:r>
              <a:rPr lang="en-US"/>
              <a:t>Its extremely low-cost design works well for long-term archiving. </a:t>
            </a:r>
          </a:p>
          <a:p>
            <a:r>
              <a:rPr lang="en-US"/>
              <a:t>The service is designed to provide 11 9s of durability for objects.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18930930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DD3E1-B0BA-7941-ACF6-89F4C489A40A}"/>
              </a:ext>
            </a:extLst>
          </p:cNvPr>
          <p:cNvSpPr>
            <a:spLocks noGrp="1"/>
          </p:cNvSpPr>
          <p:nvPr>
            <p:ph type="title"/>
          </p:nvPr>
        </p:nvSpPr>
        <p:spPr/>
        <p:txBody>
          <a:bodyPr/>
          <a:lstStyle/>
          <a:p>
            <a:r>
              <a:rPr lang="en-US" sz="4000"/>
              <a:t>Module wrap-up</a:t>
            </a:r>
          </a:p>
        </p:txBody>
      </p:sp>
      <p:sp>
        <p:nvSpPr>
          <p:cNvPr id="3" name="Text Placeholder 2">
            <a:extLst>
              <a:ext uri="{FF2B5EF4-FFF2-40B4-BE49-F238E27FC236}">
                <a16:creationId xmlns:a16="http://schemas.microsoft.com/office/drawing/2014/main" id="{9705F87E-6E2F-D249-BE4B-4F176A6B5D76}"/>
              </a:ext>
            </a:extLst>
          </p:cNvPr>
          <p:cNvSpPr>
            <a:spLocks noGrp="1"/>
          </p:cNvSpPr>
          <p:nvPr>
            <p:ph type="subTitle" idx="1"/>
          </p:nvPr>
        </p:nvSpPr>
        <p:spPr/>
        <p:txBody>
          <a:bodyPr/>
          <a:lstStyle/>
          <a:p>
            <a:r>
              <a:rPr lang="en-US"/>
              <a:t>Module 7: Storage</a:t>
            </a:r>
          </a:p>
        </p:txBody>
      </p:sp>
    </p:spTree>
    <p:custDataLst>
      <p:tags r:id="rId1"/>
    </p:custDataLst>
    <p:extLst>
      <p:ext uri="{BB962C8B-B14F-4D97-AF65-F5344CB8AC3E}">
        <p14:creationId xmlns:p14="http://schemas.microsoft.com/office/powerpoint/2010/main" val="21860545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44</a:t>
            </a:fld>
            <a:endParaRPr lang="en-US"/>
          </a:p>
        </p:txBody>
      </p:sp>
      <p:sp>
        <p:nvSpPr>
          <p:cNvPr id="2" name="Title 1"/>
          <p:cNvSpPr>
            <a:spLocks noGrp="1"/>
          </p:cNvSpPr>
          <p:nvPr>
            <p:ph type="title"/>
          </p:nvPr>
        </p:nvSpPr>
        <p:spPr/>
        <p:txBody>
          <a:bodyPr>
            <a:noAutofit/>
          </a:bodyPr>
          <a:lstStyle/>
          <a:p>
            <a:r>
              <a:rPr lang="en-US">
                <a:latin typeface="+mj-lt"/>
              </a:rPr>
              <a:t>Module summary </a:t>
            </a:r>
          </a:p>
        </p:txBody>
      </p:sp>
      <p:sp>
        <p:nvSpPr>
          <p:cNvPr id="6" name="Content Placeholder 5">
            <a:extLst>
              <a:ext uri="{FF2B5EF4-FFF2-40B4-BE49-F238E27FC236}">
                <a16:creationId xmlns:a16="http://schemas.microsoft.com/office/drawing/2014/main" id="{96B1D8CB-247D-9047-BFCE-7C071A34030D}"/>
              </a:ext>
            </a:extLst>
          </p:cNvPr>
          <p:cNvSpPr>
            <a:spLocks noGrp="1"/>
          </p:cNvSpPr>
          <p:nvPr>
            <p:ph sz="quarter" idx="21"/>
          </p:nvPr>
        </p:nvSpPr>
        <p:spPr/>
        <p:txBody>
          <a:bodyPr>
            <a:normAutofit lnSpcReduction="10000"/>
          </a:bodyPr>
          <a:lstStyle/>
          <a:p>
            <a:pPr marL="0" indent="0">
              <a:buNone/>
            </a:pPr>
            <a:r>
              <a:rPr lang="en-US" sz="2000"/>
              <a:t>In summary, in this module, you learned how to:</a:t>
            </a:r>
          </a:p>
          <a:p>
            <a:pPr lvl="0"/>
            <a:r>
              <a:rPr lang="en-US" sz="2000"/>
              <a:t>Identify the different types of storage</a:t>
            </a:r>
          </a:p>
          <a:p>
            <a:pPr lvl="0"/>
            <a:r>
              <a:rPr lang="en-US" sz="2000"/>
              <a:t>Explain Amazon S3</a:t>
            </a:r>
          </a:p>
          <a:p>
            <a:pPr lvl="0"/>
            <a:r>
              <a:rPr lang="en-US" sz="2000"/>
              <a:t>Identify the functionality in Amazon S3</a:t>
            </a:r>
          </a:p>
          <a:p>
            <a:pPr lvl="0"/>
            <a:r>
              <a:rPr lang="en-US" sz="2000"/>
              <a:t>Explain Amazon EBS</a:t>
            </a:r>
          </a:p>
          <a:p>
            <a:pPr lvl="0"/>
            <a:r>
              <a:rPr lang="en-US" sz="2000"/>
              <a:t>Identify the functionality in Amazon EBS</a:t>
            </a:r>
          </a:p>
          <a:p>
            <a:pPr lvl="0"/>
            <a:r>
              <a:rPr lang="en-US" sz="2000"/>
              <a:t>Perform functions in Amazon EBS to build an Amazon EC2 storage solution </a:t>
            </a:r>
          </a:p>
          <a:p>
            <a:pPr lvl="0"/>
            <a:r>
              <a:rPr lang="en-US" sz="2000"/>
              <a:t>Explain Amazon EFS</a:t>
            </a:r>
          </a:p>
          <a:p>
            <a:pPr lvl="0"/>
            <a:r>
              <a:rPr lang="en-US" sz="2000"/>
              <a:t>Identify the functionality in Amazon EFS</a:t>
            </a:r>
          </a:p>
          <a:p>
            <a:pPr lvl="0"/>
            <a:r>
              <a:rPr lang="en-US" sz="2000"/>
              <a:t>Explain Amazon S3 Glacier</a:t>
            </a:r>
          </a:p>
          <a:p>
            <a:pPr lvl="0"/>
            <a:r>
              <a:rPr lang="en-US" sz="2000"/>
              <a:t>Identify the functionality in Amazon S3 Glacier</a:t>
            </a:r>
          </a:p>
          <a:p>
            <a:pPr lvl="0"/>
            <a:r>
              <a:rPr lang="en-US" sz="2000"/>
              <a:t>Differentiate between Amazon EBS, Amazon S3, Amazon EFS, and Amazon S3 Glacier</a:t>
            </a:r>
          </a:p>
          <a:p>
            <a:endParaRPr lang="en-US" sz="2000"/>
          </a:p>
        </p:txBody>
      </p:sp>
    </p:spTree>
    <p:custDataLst>
      <p:tags r:id="rId1"/>
    </p:custDataLst>
    <p:extLst>
      <p:ext uri="{BB962C8B-B14F-4D97-AF65-F5344CB8AC3E}">
        <p14:creationId xmlns:p14="http://schemas.microsoft.com/office/powerpoint/2010/main" val="27116608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213009-50A0-5448-BFE6-30EFBA8DB8F6}"/>
              </a:ext>
            </a:extLst>
          </p:cNvPr>
          <p:cNvSpPr>
            <a:spLocks noGrp="1"/>
          </p:cNvSpPr>
          <p:nvPr>
            <p:ph type="subTitle" idx="1"/>
          </p:nvPr>
        </p:nvSpPr>
        <p:spPr/>
        <p:txBody>
          <a:bodyPr>
            <a:normAutofit/>
          </a:bodyPr>
          <a:lstStyle/>
          <a:p>
            <a:r>
              <a:rPr lang="en-US"/>
              <a:t>AWS Academy Cloud Foundations</a:t>
            </a:r>
          </a:p>
        </p:txBody>
      </p:sp>
      <p:sp>
        <p:nvSpPr>
          <p:cNvPr id="6" name="Title 5"/>
          <p:cNvSpPr>
            <a:spLocks noGrp="1"/>
          </p:cNvSpPr>
          <p:nvPr>
            <p:ph type="title"/>
          </p:nvPr>
        </p:nvSpPr>
        <p:spPr/>
        <p:txBody>
          <a:bodyPr/>
          <a:lstStyle/>
          <a:p>
            <a:r>
              <a:rPr lang="en-US" sz="5400"/>
              <a:t>Module 8: Databases</a:t>
            </a:r>
          </a:p>
        </p:txBody>
      </p:sp>
    </p:spTree>
    <p:custDataLst>
      <p:tags r:id="rId1"/>
    </p:custDataLst>
    <p:extLst>
      <p:ext uri="{BB962C8B-B14F-4D97-AF65-F5344CB8AC3E}">
        <p14:creationId xmlns:p14="http://schemas.microsoft.com/office/powerpoint/2010/main" val="19303657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7933E2-EE90-C246-AEFF-135CA8848EB0}"/>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46</a:t>
            </a:fld>
            <a:endParaRPr lang="en-US"/>
          </a:p>
        </p:txBody>
      </p:sp>
      <p:sp>
        <p:nvSpPr>
          <p:cNvPr id="2" name="Title 1"/>
          <p:cNvSpPr>
            <a:spLocks noGrp="1"/>
          </p:cNvSpPr>
          <p:nvPr>
            <p:ph type="title"/>
          </p:nvPr>
        </p:nvSpPr>
        <p:spPr/>
        <p:txBody>
          <a:bodyPr/>
          <a:lstStyle/>
          <a:p>
            <a:r>
              <a:rPr lang="en-US"/>
              <a:t>Module overview</a:t>
            </a:r>
          </a:p>
        </p:txBody>
      </p:sp>
      <p:sp>
        <p:nvSpPr>
          <p:cNvPr id="5" name="Content Placeholder 4">
            <a:extLst>
              <a:ext uri="{C183D7F6-B498-43B3-948B-1728B52AA6E4}">
                <adec:decorative xmlns:adec="http://schemas.microsoft.com/office/drawing/2017/decorative" val="1"/>
              </a:ext>
            </a:extLst>
          </p:cNvPr>
          <p:cNvSpPr>
            <a:spLocks noGrp="1"/>
          </p:cNvSpPr>
          <p:nvPr>
            <p:ph sz="quarter" idx="21"/>
          </p:nvPr>
        </p:nvSpPr>
        <p:spPr>
          <a:xfrm>
            <a:off x="365760" y="1143000"/>
            <a:ext cx="5559552" cy="4645152"/>
          </a:xfrm>
        </p:spPr>
        <p:txBody>
          <a:bodyPr>
            <a:noAutofit/>
          </a:bodyPr>
          <a:lstStyle/>
          <a:p>
            <a:pPr marL="0" indent="0">
              <a:spcBef>
                <a:spcPts val="1800"/>
              </a:spcBef>
              <a:buNone/>
            </a:pPr>
            <a:r>
              <a:rPr lang="en-US" b="1"/>
              <a:t>Topics</a:t>
            </a:r>
          </a:p>
          <a:p>
            <a:r>
              <a:rPr lang="en-US" sz="2400"/>
              <a:t>Amazon Relational Database Service (Amazon RDS)</a:t>
            </a:r>
          </a:p>
          <a:p>
            <a:r>
              <a:rPr lang="en-US" sz="2400"/>
              <a:t>Amazon DynamoDB</a:t>
            </a:r>
          </a:p>
          <a:p>
            <a:r>
              <a:rPr lang="en-US" sz="2400"/>
              <a:t>Amazon Redshift</a:t>
            </a:r>
          </a:p>
          <a:p>
            <a:r>
              <a:rPr lang="en-US" sz="2400"/>
              <a:t>Amazon Aurora</a:t>
            </a:r>
          </a:p>
          <a:p>
            <a:pPr marL="0" indent="0">
              <a:buNone/>
            </a:pPr>
            <a:r>
              <a:rPr lang="en-US" b="1"/>
              <a:t>Demos</a:t>
            </a:r>
          </a:p>
          <a:p>
            <a:r>
              <a:rPr lang="en-US" sz="2400"/>
              <a:t>Amazon RDS console</a:t>
            </a:r>
          </a:p>
          <a:p>
            <a:r>
              <a:rPr lang="en-US" sz="2400"/>
              <a:t>Amazon DynamoDB console</a:t>
            </a:r>
          </a:p>
        </p:txBody>
      </p:sp>
      <p:sp>
        <p:nvSpPr>
          <p:cNvPr id="6" name="Content Placeholder 5">
            <a:extLst>
              <a:ext uri="{FF2B5EF4-FFF2-40B4-BE49-F238E27FC236}">
                <a16:creationId xmlns:a16="http://schemas.microsoft.com/office/drawing/2014/main" id="{79AB60CE-670C-974B-8C37-C3795121745F}"/>
              </a:ext>
              <a:ext uri="{C183D7F6-B498-43B3-948B-1728B52AA6E4}">
                <adec:decorative xmlns:adec="http://schemas.microsoft.com/office/drawing/2017/decorative" val="1"/>
              </a:ext>
            </a:extLst>
          </p:cNvPr>
          <p:cNvSpPr>
            <a:spLocks noGrp="1"/>
          </p:cNvSpPr>
          <p:nvPr>
            <p:ph idx="4294967295"/>
          </p:nvPr>
        </p:nvSpPr>
        <p:spPr>
          <a:xfrm>
            <a:off x="6099048" y="1143000"/>
            <a:ext cx="5559552" cy="4649788"/>
          </a:xfrm>
        </p:spPr>
        <p:txBody>
          <a:bodyPr/>
          <a:lstStyle/>
          <a:p>
            <a:pPr marL="0" indent="0">
              <a:buNone/>
            </a:pPr>
            <a:r>
              <a:rPr lang="en-US" b="1"/>
              <a:t>Lab</a:t>
            </a:r>
          </a:p>
          <a:p>
            <a:r>
              <a:rPr lang="en-US" sz="2400"/>
              <a:t>Lab 5: Build Your DB Server and Interact with Your DB Using an App</a:t>
            </a:r>
          </a:p>
          <a:p>
            <a:pPr marL="0" indent="0">
              <a:buNone/>
            </a:pPr>
            <a:r>
              <a:rPr lang="en-US" b="1"/>
              <a:t>Activity</a:t>
            </a:r>
          </a:p>
          <a:p>
            <a:r>
              <a:rPr lang="en-US" sz="2400"/>
              <a:t>Database case studies</a:t>
            </a:r>
          </a:p>
        </p:txBody>
      </p:sp>
      <p:grpSp>
        <p:nvGrpSpPr>
          <p:cNvPr id="7" name="Group 6" descr="Knowledge check.">
            <a:extLst>
              <a:ext uri="{FF2B5EF4-FFF2-40B4-BE49-F238E27FC236}">
                <a16:creationId xmlns:a16="http://schemas.microsoft.com/office/drawing/2014/main" id="{5A386CF2-48DE-3E4F-B27A-6F6B12236D70}"/>
              </a:ext>
              <a:ext uri="{C183D7F6-B498-43B3-948B-1728B52AA6E4}">
                <adec:decorative xmlns:adec="http://schemas.microsoft.com/office/drawing/2017/decorative" val="0"/>
              </a:ext>
            </a:extLst>
          </p:cNvPr>
          <p:cNvGrpSpPr/>
          <p:nvPr/>
        </p:nvGrpSpPr>
        <p:grpSpPr>
          <a:xfrm>
            <a:off x="6246312" y="5640693"/>
            <a:ext cx="2832953" cy="532323"/>
            <a:chOff x="4188879" y="4810544"/>
            <a:chExt cx="2832953" cy="532323"/>
          </a:xfrm>
        </p:grpSpPr>
        <p:sp>
          <p:nvSpPr>
            <p:cNvPr id="8" name="TextBox 7">
              <a:extLst>
                <a:ext uri="{FF2B5EF4-FFF2-40B4-BE49-F238E27FC236}">
                  <a16:creationId xmlns:a16="http://schemas.microsoft.com/office/drawing/2014/main" id="{94F8C5C3-D9C4-4E4C-8D0B-BD50A1C962C5}"/>
                </a:ext>
              </a:extLst>
            </p:cNvPr>
            <p:cNvSpPr txBox="1"/>
            <p:nvPr/>
          </p:nvSpPr>
          <p:spPr>
            <a:xfrm>
              <a:off x="4721202" y="4892040"/>
              <a:ext cx="2300630" cy="400110"/>
            </a:xfrm>
            <a:prstGeom prst="rect">
              <a:avLst/>
            </a:prstGeom>
            <a:noFill/>
          </p:spPr>
          <p:txBody>
            <a:bodyPr wrap="none" rtlCol="0">
              <a:spAutoFit/>
            </a:bodyPr>
            <a:lstStyle/>
            <a:p>
              <a:r>
                <a:rPr lang="en-US" sz="2000" b="1">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9" name="Picture 8">
              <a:extLst>
                <a:ext uri="{FF2B5EF4-FFF2-40B4-BE49-F238E27FC236}">
                  <a16:creationId xmlns:a16="http://schemas.microsoft.com/office/drawing/2014/main" id="{7C7503A9-F744-2745-8305-1056CF885D90}"/>
                </a:ext>
                <a:ext uri="{C183D7F6-B498-43B3-948B-1728B52AA6E4}">
                  <adec:decorative xmlns:adec="http://schemas.microsoft.com/office/drawing/2017/decorative" val="1"/>
                </a:ext>
              </a:extLst>
            </p:cNvPr>
            <p:cNvPicPr>
              <a:picLocks noChangeAspect="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4188879" y="4810544"/>
              <a:ext cx="532323" cy="532323"/>
            </a:xfrm>
            <a:prstGeom prst="rect">
              <a:avLst/>
            </a:prstGeom>
          </p:spPr>
        </p:pic>
      </p:grpSp>
    </p:spTree>
    <p:custDataLst>
      <p:tags r:id="rId1"/>
    </p:custDataLst>
    <p:extLst>
      <p:ext uri="{BB962C8B-B14F-4D97-AF65-F5344CB8AC3E}">
        <p14:creationId xmlns:p14="http://schemas.microsoft.com/office/powerpoint/2010/main" val="41652502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E9032A-B193-E649-B33A-8B2DE7FF0AB8}"/>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47</a:t>
            </a:fld>
            <a:endParaRPr lang="en-US"/>
          </a:p>
        </p:txBody>
      </p:sp>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a:t>Module objectives</a:t>
            </a:r>
          </a:p>
        </p:txBody>
      </p:sp>
      <p:sp>
        <p:nvSpPr>
          <p:cNvPr id="4" name="Content Placeholder 2">
            <a:extLst>
              <a:ext uri="{FF2B5EF4-FFF2-40B4-BE49-F238E27FC236}">
                <a16:creationId xmlns:a16="http://schemas.microsoft.com/office/drawing/2014/main" id="{AA03B58E-9CA1-F041-8923-2FE03FDDD563}"/>
              </a:ext>
            </a:extLst>
          </p:cNvPr>
          <p:cNvSpPr>
            <a:spLocks noGrp="1"/>
          </p:cNvSpPr>
          <p:nvPr>
            <p:ph sz="quarter" idx="21"/>
          </p:nvPr>
        </p:nvSpPr>
        <p:spPr/>
        <p:txBody>
          <a:bodyPr anchor="t">
            <a:noAutofit/>
          </a:bodyPr>
          <a:lstStyle/>
          <a:p>
            <a:pPr marL="219075" lvl="1" indent="0" defTabSz="342900">
              <a:lnSpc>
                <a:spcPct val="150000"/>
              </a:lnSpc>
              <a:spcBef>
                <a:spcPts val="0"/>
              </a:spcBef>
              <a:spcAft>
                <a:spcPts val="600"/>
              </a:spcAft>
              <a:buClr>
                <a:schemeClr val="accent1"/>
              </a:buClr>
              <a:buNone/>
              <a:tabLst>
                <a:tab pos="8461375" algn="r"/>
              </a:tabLst>
            </a:pPr>
            <a:r>
              <a:rPr lang="en-US" sz="2200"/>
              <a:t>After completing this module, you should be able to:</a:t>
            </a:r>
          </a:p>
          <a:p>
            <a:pPr marL="561975" lvl="1" indent="-342900" defTabSz="342900">
              <a:lnSpc>
                <a:spcPct val="150000"/>
              </a:lnSpc>
              <a:spcBef>
                <a:spcPts val="0"/>
              </a:spcBef>
              <a:spcAft>
                <a:spcPts val="600"/>
              </a:spcAft>
              <a:buClr>
                <a:schemeClr val="accent1"/>
              </a:buClr>
              <a:tabLst>
                <a:tab pos="8461375" algn="r"/>
              </a:tabLst>
            </a:pPr>
            <a:r>
              <a:rPr lang="en-US" sz="2200"/>
              <a:t>Explain Amazon Relational Database Service (Amazon RDS)</a:t>
            </a:r>
          </a:p>
          <a:p>
            <a:pPr marL="561975" lvl="1" indent="-342900" defTabSz="342900">
              <a:lnSpc>
                <a:spcPct val="150000"/>
              </a:lnSpc>
              <a:spcBef>
                <a:spcPts val="0"/>
              </a:spcBef>
              <a:spcAft>
                <a:spcPts val="600"/>
              </a:spcAft>
              <a:buClr>
                <a:schemeClr val="accent1"/>
              </a:buClr>
              <a:tabLst>
                <a:tab pos="8461375" algn="r"/>
              </a:tabLst>
            </a:pPr>
            <a:r>
              <a:rPr lang="en-US" sz="2200"/>
              <a:t>Identify the functionality in Amazon RDS</a:t>
            </a:r>
          </a:p>
          <a:p>
            <a:pPr marL="561975" lvl="1" indent="-342900" defTabSz="342900">
              <a:lnSpc>
                <a:spcPct val="150000"/>
              </a:lnSpc>
              <a:spcBef>
                <a:spcPts val="0"/>
              </a:spcBef>
              <a:spcAft>
                <a:spcPts val="600"/>
              </a:spcAft>
              <a:buClr>
                <a:schemeClr val="accent1"/>
              </a:buClr>
              <a:tabLst>
                <a:tab pos="8461375" algn="r"/>
              </a:tabLst>
            </a:pPr>
            <a:r>
              <a:rPr lang="en-US" sz="2200"/>
              <a:t>Explain Amazon DynamoDB</a:t>
            </a:r>
          </a:p>
          <a:p>
            <a:pPr marL="561975" lvl="1" indent="-342900" defTabSz="342900">
              <a:lnSpc>
                <a:spcPct val="150000"/>
              </a:lnSpc>
              <a:spcBef>
                <a:spcPts val="0"/>
              </a:spcBef>
              <a:spcAft>
                <a:spcPts val="600"/>
              </a:spcAft>
              <a:buClr>
                <a:schemeClr val="accent1"/>
              </a:buClr>
              <a:tabLst>
                <a:tab pos="8461375" algn="r"/>
              </a:tabLst>
            </a:pPr>
            <a:r>
              <a:rPr lang="en-US" sz="2200"/>
              <a:t>Identify the functionality in Amazon DynamoDB</a:t>
            </a:r>
          </a:p>
          <a:p>
            <a:pPr marL="561975" lvl="1" indent="-342900" defTabSz="342900">
              <a:lnSpc>
                <a:spcPct val="150000"/>
              </a:lnSpc>
              <a:spcBef>
                <a:spcPts val="0"/>
              </a:spcBef>
              <a:spcAft>
                <a:spcPts val="600"/>
              </a:spcAft>
              <a:buClr>
                <a:schemeClr val="accent1"/>
              </a:buClr>
              <a:tabLst>
                <a:tab pos="8461375" algn="r"/>
              </a:tabLst>
            </a:pPr>
            <a:r>
              <a:rPr lang="en-US" sz="2200"/>
              <a:t>Explain Amazon Redshift</a:t>
            </a:r>
          </a:p>
          <a:p>
            <a:pPr marL="561975" lvl="1" indent="-342900" defTabSz="342900">
              <a:lnSpc>
                <a:spcPct val="150000"/>
              </a:lnSpc>
              <a:spcBef>
                <a:spcPts val="0"/>
              </a:spcBef>
              <a:spcAft>
                <a:spcPts val="600"/>
              </a:spcAft>
              <a:buClr>
                <a:schemeClr val="accent1"/>
              </a:buClr>
              <a:tabLst>
                <a:tab pos="8461375" algn="r"/>
              </a:tabLst>
            </a:pPr>
            <a:r>
              <a:rPr lang="en-US" sz="2200"/>
              <a:t>Explain Amazon Aurora</a:t>
            </a:r>
          </a:p>
          <a:p>
            <a:pPr marL="561975" lvl="1" indent="-342900" defTabSz="342900">
              <a:lnSpc>
                <a:spcPct val="150000"/>
              </a:lnSpc>
              <a:spcBef>
                <a:spcPts val="0"/>
              </a:spcBef>
              <a:spcAft>
                <a:spcPts val="600"/>
              </a:spcAft>
              <a:buClr>
                <a:schemeClr val="accent1"/>
              </a:buClr>
              <a:tabLst>
                <a:tab pos="8461375" algn="r"/>
              </a:tabLst>
            </a:pPr>
            <a:r>
              <a:rPr lang="en-US" sz="2200"/>
              <a:t>Perform tasks in an RDS database, such as launching, configuring, and interacting</a:t>
            </a:r>
          </a:p>
        </p:txBody>
      </p:sp>
    </p:spTree>
    <p:custDataLst>
      <p:tags r:id="rId1"/>
    </p:custDataLst>
    <p:extLst>
      <p:ext uri="{BB962C8B-B14F-4D97-AF65-F5344CB8AC3E}">
        <p14:creationId xmlns:p14="http://schemas.microsoft.com/office/powerpoint/2010/main" val="28608523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t>Module 8: Databases</a:t>
            </a:r>
          </a:p>
        </p:txBody>
      </p:sp>
      <p:sp>
        <p:nvSpPr>
          <p:cNvPr id="2" name="Title 1"/>
          <p:cNvSpPr>
            <a:spLocks noGrp="1"/>
          </p:cNvSpPr>
          <p:nvPr>
            <p:ph type="title"/>
          </p:nvPr>
        </p:nvSpPr>
        <p:spPr/>
        <p:txBody>
          <a:bodyPr>
            <a:noAutofit/>
          </a:bodyPr>
          <a:lstStyle/>
          <a:p>
            <a:r>
              <a:rPr lang="en-US"/>
              <a:t>Section 1: Amazon Relational Database Service</a:t>
            </a:r>
          </a:p>
        </p:txBody>
      </p:sp>
    </p:spTree>
    <p:custDataLst>
      <p:tags r:id="rId1"/>
    </p:custDataLst>
    <p:extLst>
      <p:ext uri="{BB962C8B-B14F-4D97-AF65-F5344CB8AC3E}">
        <p14:creationId xmlns:p14="http://schemas.microsoft.com/office/powerpoint/2010/main" val="1360288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230499F-FE0C-4BC4-BAC9-05E12AFF978F}"/>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49</a:t>
            </a:fld>
            <a:endParaRPr lang="en-US"/>
          </a:p>
        </p:txBody>
      </p:sp>
      <p:sp>
        <p:nvSpPr>
          <p:cNvPr id="2" name="Title 1"/>
          <p:cNvSpPr>
            <a:spLocks noGrp="1"/>
          </p:cNvSpPr>
          <p:nvPr>
            <p:ph type="title"/>
          </p:nvPr>
        </p:nvSpPr>
        <p:spPr/>
        <p:txBody>
          <a:bodyPr/>
          <a:lstStyle/>
          <a:p>
            <a:r>
              <a:rPr lang="en-US"/>
              <a:t>Amazon Relational Database Service</a:t>
            </a:r>
          </a:p>
        </p:txBody>
      </p:sp>
      <p:pic>
        <p:nvPicPr>
          <p:cNvPr id="6" name="Graphic 5">
            <a:extLst>
              <a:ext uri="{FF2B5EF4-FFF2-40B4-BE49-F238E27FC236}">
                <a16:creationId xmlns:a16="http://schemas.microsoft.com/office/drawing/2014/main" id="{D56A1A3B-103B-424F-8676-F2D99E72692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63074" y="2636699"/>
            <a:ext cx="1865852" cy="1865852"/>
          </a:xfrm>
          <a:prstGeom prst="rect">
            <a:avLst/>
          </a:prstGeom>
        </p:spPr>
      </p:pic>
      <p:sp>
        <p:nvSpPr>
          <p:cNvPr id="11" name="TextBox 10"/>
          <p:cNvSpPr txBox="1"/>
          <p:nvPr/>
        </p:nvSpPr>
        <p:spPr>
          <a:xfrm>
            <a:off x="3766671" y="4943110"/>
            <a:ext cx="4658659" cy="861774"/>
          </a:xfrm>
          <a:prstGeom prst="rect">
            <a:avLst/>
          </a:prstGeom>
          <a:noFill/>
        </p:spPr>
        <p:txBody>
          <a:bodyPr wrap="square" lIns="0" tIns="0" rIns="0" bIns="0" rtlCol="0" anchor="ctr">
            <a:spAutoFit/>
          </a:bodyPr>
          <a:lstStyle/>
          <a:p>
            <a:pPr algn="ctr"/>
            <a:r>
              <a:rPr lang="en-US" sz="2800">
                <a:ea typeface="Amazon Ember" panose="020B0603020204020204" pitchFamily="34" charset="0"/>
                <a:cs typeface="Amazon Ember" panose="020B0603020204020204" pitchFamily="34" charset="0"/>
              </a:rPr>
              <a:t>Amazon </a:t>
            </a:r>
            <a:r>
              <a:rPr lang="en-US" sz="2800"/>
              <a:t>Relational Database Service (Amazon </a:t>
            </a:r>
            <a:r>
              <a:rPr lang="en-US" sz="2800">
                <a:ea typeface="Amazon Ember" panose="020B0603020204020204" pitchFamily="34" charset="0"/>
                <a:cs typeface="Amazon Ember" panose="020B0603020204020204" pitchFamily="34" charset="0"/>
              </a:rPr>
              <a:t>RDS)</a:t>
            </a:r>
            <a:endParaRPr lang="en-US" sz="600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11618892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939F248-E495-42D7-8B3A-55B00023C056}"/>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50</a:t>
            </a:fld>
            <a:endParaRPr lang="en-US"/>
          </a:p>
        </p:txBody>
      </p:sp>
      <p:sp>
        <p:nvSpPr>
          <p:cNvPr id="2" name="Title 1"/>
          <p:cNvSpPr>
            <a:spLocks noGrp="1"/>
          </p:cNvSpPr>
          <p:nvPr>
            <p:ph type="title"/>
          </p:nvPr>
        </p:nvSpPr>
        <p:spPr/>
        <p:txBody>
          <a:bodyPr>
            <a:noAutofit/>
          </a:bodyPr>
          <a:lstStyle/>
          <a:p>
            <a:r>
              <a:rPr lang="en-US"/>
              <a:t>Unmanaged versus managed services</a:t>
            </a:r>
          </a:p>
        </p:txBody>
      </p:sp>
      <p:sp>
        <p:nvSpPr>
          <p:cNvPr id="3" name="Content Placeholder 2"/>
          <p:cNvSpPr>
            <a:spLocks noGrp="1"/>
          </p:cNvSpPr>
          <p:nvPr>
            <p:ph sz="quarter" idx="21"/>
          </p:nvPr>
        </p:nvSpPr>
        <p:spPr>
          <a:xfrm>
            <a:off x="1837944" y="1536192"/>
            <a:ext cx="2441448" cy="612648"/>
          </a:xfrm>
        </p:spPr>
        <p:txBody>
          <a:bodyPr/>
          <a:lstStyle/>
          <a:p>
            <a:pPr marL="0" indent="0" algn="ctr">
              <a:buNone/>
            </a:pPr>
            <a:r>
              <a:rPr lang="en-US">
                <a:solidFill>
                  <a:srgbClr val="504BAB"/>
                </a:solidFill>
              </a:rPr>
              <a:t>Unmanaged</a:t>
            </a:r>
            <a:r>
              <a:rPr lang="en-US">
                <a:solidFill>
                  <a:srgbClr val="0070C0"/>
                </a:solidFill>
              </a:rPr>
              <a:t>:</a:t>
            </a:r>
          </a:p>
        </p:txBody>
      </p:sp>
      <p:sp>
        <p:nvSpPr>
          <p:cNvPr id="9" name="Content Placeholder 2"/>
          <p:cNvSpPr txBox="1">
            <a:spLocks/>
          </p:cNvSpPr>
          <p:nvPr/>
        </p:nvSpPr>
        <p:spPr>
          <a:xfrm>
            <a:off x="785234" y="2146045"/>
            <a:ext cx="4548131" cy="1387221"/>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4"/>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i="1">
                <a:latin typeface="Amazon Ember" panose="020B0603020204020204" pitchFamily="34" charset="0"/>
                <a:ea typeface="Amazon Ember" panose="020B0603020204020204" pitchFamily="34" charset="0"/>
                <a:cs typeface="Amazon Ember" panose="020B0603020204020204" pitchFamily="34" charset="0"/>
              </a:rPr>
              <a:t>Scaling, fault tolerance, and availability are managed by you.</a:t>
            </a:r>
          </a:p>
        </p:txBody>
      </p:sp>
      <p:pic>
        <p:nvPicPr>
          <p:cNvPr id="4" name="Picture 3" descr="Tools."/>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82307" y="3899529"/>
            <a:ext cx="2150198" cy="2046048"/>
          </a:xfrm>
          <a:prstGeom prst="rect">
            <a:avLst/>
          </a:prstGeom>
          <a:effectLst>
            <a:outerShdw blurRad="50800" dist="38100" dir="2700000" algn="tl" rotWithShape="0">
              <a:prstClr val="black">
                <a:alpha val="40000"/>
              </a:prstClr>
            </a:outerShdw>
          </a:effectLst>
        </p:spPr>
      </p:pic>
      <p:sp>
        <p:nvSpPr>
          <p:cNvPr id="6" name="Content Placeholder 2"/>
          <p:cNvSpPr txBox="1">
            <a:spLocks/>
          </p:cNvSpPr>
          <p:nvPr/>
        </p:nvSpPr>
        <p:spPr>
          <a:xfrm>
            <a:off x="7621800" y="1529594"/>
            <a:ext cx="2448985" cy="588460"/>
          </a:xfrm>
          <a:prstGeom prst="rect">
            <a:avLst/>
          </a:prstGeom>
        </p:spPr>
        <p:txBody>
          <a:bodyPr vert="horz" lIns="91440" tIns="45720" rIns="91440" bIns="45720" rtlCol="0">
            <a:normAutofit/>
          </a:bodyPr>
          <a:lstStyle>
            <a:lvl1pPr indent="0" algn="ctr">
              <a:lnSpc>
                <a:spcPct val="90000"/>
              </a:lnSpc>
              <a:spcBef>
                <a:spcPts val="1000"/>
              </a:spcBef>
              <a:buFontTx/>
              <a:buNone/>
              <a:defRPr sz="2800" b="0" i="0">
                <a:latin typeface="Amazon Ember Light" charset="0"/>
                <a:ea typeface="Amazon Ember Light" charset="0"/>
                <a:cs typeface="Amazon Ember Light" charset="0"/>
              </a:defRPr>
            </a:lvl1pPr>
            <a:lvl2pPr marL="685800" indent="-228600">
              <a:lnSpc>
                <a:spcPct val="90000"/>
              </a:lnSpc>
              <a:spcBef>
                <a:spcPts val="500"/>
              </a:spcBef>
              <a:buFontTx/>
              <a:buBlip>
                <a:blip r:embed="rId6"/>
              </a:buBlip>
              <a:defRPr sz="2400" b="0" i="0">
                <a:latin typeface="Amazon Ember Light" charset="0"/>
                <a:ea typeface="Amazon Ember Light" charset="0"/>
                <a:cs typeface="Amazon Ember Light" charset="0"/>
              </a:defRPr>
            </a:lvl2pPr>
            <a:lvl3pPr marL="1143000" indent="-228600">
              <a:lnSpc>
                <a:spcPct val="90000"/>
              </a:lnSpc>
              <a:spcBef>
                <a:spcPts val="500"/>
              </a:spcBef>
              <a:buFontTx/>
              <a:buBlip>
                <a:blip r:embed="rId6"/>
              </a:buBlip>
              <a:defRPr sz="2000" b="0" i="0">
                <a:latin typeface="Amazon Ember Light" charset="0"/>
                <a:ea typeface="Amazon Ember Light" charset="0"/>
                <a:cs typeface="Amazon Ember Light" charset="0"/>
              </a:defRPr>
            </a:lvl3pPr>
            <a:lvl4pPr marL="1600200" indent="-228600">
              <a:lnSpc>
                <a:spcPct val="90000"/>
              </a:lnSpc>
              <a:spcBef>
                <a:spcPts val="500"/>
              </a:spcBef>
              <a:buFontTx/>
              <a:buBlip>
                <a:blip r:embed="rId6"/>
              </a:buBlip>
              <a:defRPr b="0" i="0">
                <a:latin typeface="Amazon Ember Light" charset="0"/>
                <a:ea typeface="Amazon Ember Light" charset="0"/>
                <a:cs typeface="Amazon Ember Light" charset="0"/>
              </a:defRPr>
            </a:lvl4pPr>
            <a:lvl5pPr marL="2057400" indent="-228600">
              <a:lnSpc>
                <a:spcPct val="90000"/>
              </a:lnSpc>
              <a:spcBef>
                <a:spcPts val="500"/>
              </a:spcBef>
              <a:buFontTx/>
              <a:buBlip>
                <a:blip r:embed="rId6"/>
              </a:buBlip>
              <a:defRPr b="0" i="0">
                <a:latin typeface="Amazon Ember Light" charset="0"/>
                <a:ea typeface="Amazon Ember Light" charset="0"/>
                <a:cs typeface="Amazon Ember Light" charset="0"/>
              </a:defRP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r>
              <a:rPr lang="en-US" b="1">
                <a:solidFill>
                  <a:srgbClr val="504BAB"/>
                </a:solidFill>
              </a:rPr>
              <a:t>Managed</a:t>
            </a:r>
            <a:r>
              <a:rPr lang="en-US" b="1">
                <a:solidFill>
                  <a:srgbClr val="0070C0"/>
                </a:solidFill>
              </a:rPr>
              <a:t>:</a:t>
            </a:r>
          </a:p>
        </p:txBody>
      </p:sp>
      <p:sp>
        <p:nvSpPr>
          <p:cNvPr id="8" name="Content Placeholder 2"/>
          <p:cNvSpPr txBox="1">
            <a:spLocks/>
          </p:cNvSpPr>
          <p:nvPr/>
        </p:nvSpPr>
        <p:spPr>
          <a:xfrm>
            <a:off x="6572228" y="2146045"/>
            <a:ext cx="4548131" cy="1387221"/>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667" b="1" i="1">
                <a:latin typeface="Amazon Ember" panose="020B0603020204020204" pitchFamily="34" charset="0"/>
                <a:ea typeface="Amazon Ember" panose="020B0603020204020204" pitchFamily="34" charset="0"/>
                <a:cs typeface="Amazon Ember" panose="020B0603020204020204" pitchFamily="34" charset="0"/>
              </a:defRPr>
            </a:lvl1pPr>
            <a:lvl2pPr marL="344488" indent="-341313" defTabSz="457200">
              <a:spcBef>
                <a:spcPct val="20000"/>
              </a:spcBef>
              <a:buClr>
                <a:schemeClr val="accent1"/>
              </a:buClr>
              <a:buSzPct val="125000"/>
              <a:buFontTx/>
              <a:buBlip>
                <a:blip r:embed="rId4"/>
              </a:buBlip>
              <a:defRPr sz="2200" b="0" i="0">
                <a:latin typeface="Arial"/>
                <a:cs typeface="Arial"/>
              </a:defRPr>
            </a:lvl2pPr>
            <a:lvl3pPr marL="625475" indent="-282575" defTabSz="457200">
              <a:spcBef>
                <a:spcPct val="20000"/>
              </a:spcBef>
              <a:buClr>
                <a:schemeClr val="accent1"/>
              </a:buClr>
              <a:buFont typeface="Wingdings" panose="05000000000000000000" pitchFamily="2" charset="2"/>
              <a:buChar char="Ø"/>
              <a:defRPr sz="2000" b="0" i="0" baseline="0">
                <a:latin typeface="Arial"/>
                <a:cs typeface="Arial"/>
              </a:defRPr>
            </a:lvl3pPr>
            <a:lvl4pPr marL="914400" indent="-222250" defTabSz="457200">
              <a:spcBef>
                <a:spcPct val="20000"/>
              </a:spcBef>
              <a:buClr>
                <a:schemeClr val="accent1"/>
              </a:buClr>
              <a:buFont typeface="Arial" panose="020B0604020202020204" pitchFamily="34" charset="0"/>
              <a:buChar char="•"/>
              <a:defRPr b="0" i="0">
                <a:latin typeface="Arial"/>
                <a:cs typeface="Arial"/>
              </a:defRPr>
            </a:lvl4pPr>
            <a:lvl5pPr marL="2057400" indent="-228600" defTabSz="457200">
              <a:spcBef>
                <a:spcPct val="20000"/>
              </a:spcBef>
              <a:buFont typeface="Arial"/>
              <a:buChar char="»"/>
              <a:defRPr sz="1600" b="0" i="0">
                <a:solidFill>
                  <a:srgbClr val="595A5D"/>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algn="ctr"/>
            <a:r>
              <a:rPr lang="en-US" b="0"/>
              <a:t>Scaling, fault tolerance, and availability are typically built into the service.</a:t>
            </a:r>
          </a:p>
        </p:txBody>
      </p:sp>
      <p:pic>
        <p:nvPicPr>
          <p:cNvPr id="1028" name="Picture 4" descr="Key."/>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7389429" y="4236128"/>
            <a:ext cx="2913730" cy="145078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011834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702068-AC03-4FD3-8530-1CF1B9BD808A}"/>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51</a:t>
            </a:fld>
            <a:endParaRPr lang="en-US"/>
          </a:p>
        </p:txBody>
      </p:sp>
      <p:sp>
        <p:nvSpPr>
          <p:cNvPr id="2" name="Title 1"/>
          <p:cNvSpPr>
            <a:spLocks noGrp="1"/>
          </p:cNvSpPr>
          <p:nvPr>
            <p:ph type="title"/>
          </p:nvPr>
        </p:nvSpPr>
        <p:spPr/>
        <p:txBody>
          <a:bodyPr/>
          <a:lstStyle/>
          <a:p>
            <a:r>
              <a:rPr lang="en-US"/>
              <a:t>Challenges of relational databases</a:t>
            </a:r>
          </a:p>
        </p:txBody>
      </p:sp>
      <p:sp>
        <p:nvSpPr>
          <p:cNvPr id="5" name="Content Placeholder 2"/>
          <p:cNvSpPr>
            <a:spLocks noGrp="1"/>
          </p:cNvSpPr>
          <p:nvPr>
            <p:ph sz="quarter" idx="21"/>
          </p:nvPr>
        </p:nvSpPr>
        <p:spPr/>
        <p:txBody>
          <a:bodyPr>
            <a:normAutofit/>
          </a:bodyPr>
          <a:lstStyle/>
          <a:p>
            <a:pPr marL="457200" indent="-457200" algn="just">
              <a:spcAft>
                <a:spcPts val="800"/>
              </a:spcAft>
            </a:pPr>
            <a:r>
              <a:rPr lang="en-US"/>
              <a:t>Server maintenance and energy footprint</a:t>
            </a:r>
          </a:p>
          <a:p>
            <a:pPr marL="457200" indent="-457200" algn="just">
              <a:spcAft>
                <a:spcPts val="800"/>
              </a:spcAft>
            </a:pPr>
            <a:r>
              <a:rPr lang="en-US"/>
              <a:t>Software installation and patches</a:t>
            </a:r>
          </a:p>
          <a:p>
            <a:pPr marL="457200" indent="-457200" algn="just">
              <a:spcAft>
                <a:spcPts val="800"/>
              </a:spcAft>
            </a:pPr>
            <a:r>
              <a:rPr lang="en-US"/>
              <a:t>Database backups and high availability</a:t>
            </a:r>
          </a:p>
          <a:p>
            <a:pPr marL="457200" indent="-457200" algn="just">
              <a:spcAft>
                <a:spcPts val="800"/>
              </a:spcAft>
            </a:pPr>
            <a:r>
              <a:rPr lang="en-US"/>
              <a:t>Limits on scalability</a:t>
            </a:r>
          </a:p>
          <a:p>
            <a:pPr marL="457200" indent="-457200" algn="just">
              <a:spcAft>
                <a:spcPts val="800"/>
              </a:spcAft>
            </a:pPr>
            <a:r>
              <a:rPr lang="en-US"/>
              <a:t>Data security</a:t>
            </a:r>
          </a:p>
          <a:p>
            <a:pPr marL="457200" indent="-457200" algn="just">
              <a:spcAft>
                <a:spcPts val="800"/>
              </a:spcAft>
            </a:pPr>
            <a:r>
              <a:rPr lang="en-US"/>
              <a:t>Operating system (OS) installation and patches</a:t>
            </a:r>
          </a:p>
        </p:txBody>
      </p:sp>
      <p:pic>
        <p:nvPicPr>
          <p:cNvPr id="4" name="Picture 3">
            <a:extLst>
              <a:ext uri="{FF2B5EF4-FFF2-40B4-BE49-F238E27FC236}">
                <a16:creationId xmlns:a16="http://schemas.microsoft.com/office/drawing/2014/main" id="{6576A894-084C-EA4D-A699-473C9F15D4B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539024" y="1440305"/>
            <a:ext cx="3276600" cy="1778000"/>
          </a:xfrm>
          <a:prstGeom prst="rect">
            <a:avLst/>
          </a:prstGeom>
        </p:spPr>
      </p:pic>
    </p:spTree>
    <p:custDataLst>
      <p:tags r:id="rId1"/>
    </p:custDataLst>
    <p:extLst>
      <p:ext uri="{BB962C8B-B14F-4D97-AF65-F5344CB8AC3E}">
        <p14:creationId xmlns:p14="http://schemas.microsoft.com/office/powerpoint/2010/main" val="22775537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0D802A1-BC26-458B-9E4D-703CEA641197}"/>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52</a:t>
            </a:fld>
            <a:endParaRPr lang="en-US"/>
          </a:p>
        </p:txBody>
      </p:sp>
      <p:sp>
        <p:nvSpPr>
          <p:cNvPr id="3" name="Title 2"/>
          <p:cNvSpPr>
            <a:spLocks noGrp="1"/>
          </p:cNvSpPr>
          <p:nvPr>
            <p:ph type="title"/>
          </p:nvPr>
        </p:nvSpPr>
        <p:spPr/>
        <p:txBody>
          <a:bodyPr/>
          <a:lstStyle/>
          <a:p>
            <a:r>
              <a:rPr lang="en-US"/>
              <a:t>Amazon RDS</a:t>
            </a:r>
          </a:p>
        </p:txBody>
      </p:sp>
      <p:sp>
        <p:nvSpPr>
          <p:cNvPr id="5" name="TextBox 4">
            <a:extLst>
              <a:ext uri="{FF2B5EF4-FFF2-40B4-BE49-F238E27FC236}">
                <a16:creationId xmlns:a16="http://schemas.microsoft.com/office/drawing/2014/main" id="{E250ADD3-3AB9-6E4C-ABB7-F8302941F0E3}"/>
              </a:ext>
            </a:extLst>
          </p:cNvPr>
          <p:cNvSpPr txBox="1"/>
          <p:nvPr/>
        </p:nvSpPr>
        <p:spPr>
          <a:xfrm>
            <a:off x="663263" y="1599324"/>
            <a:ext cx="11297089" cy="954107"/>
          </a:xfrm>
          <a:prstGeom prst="rect">
            <a:avLst/>
          </a:prstGeom>
          <a:noFill/>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Managed service that sets up and operates a relational database in the cloud.</a:t>
            </a:r>
          </a:p>
        </p:txBody>
      </p:sp>
      <p:grpSp>
        <p:nvGrpSpPr>
          <p:cNvPr id="26" name="Group 25" descr="A diagram of users pointing to application servers, pointing to Amazon RDS.">
            <a:extLst>
              <a:ext uri="{FF2B5EF4-FFF2-40B4-BE49-F238E27FC236}">
                <a16:creationId xmlns:a16="http://schemas.microsoft.com/office/drawing/2014/main" id="{BC703AC7-353D-494E-9864-D322C37FFA42}"/>
              </a:ext>
              <a:ext uri="{C183D7F6-B498-43B3-948B-1728B52AA6E4}">
                <adec:decorative xmlns:adec="http://schemas.microsoft.com/office/drawing/2017/decorative" val="0"/>
              </a:ext>
            </a:extLst>
          </p:cNvPr>
          <p:cNvGrpSpPr/>
          <p:nvPr/>
        </p:nvGrpSpPr>
        <p:grpSpPr>
          <a:xfrm>
            <a:off x="1559281" y="3197241"/>
            <a:ext cx="8538199" cy="1634111"/>
            <a:chOff x="1559281" y="3197241"/>
            <a:chExt cx="8538199" cy="1634111"/>
          </a:xfrm>
        </p:grpSpPr>
        <p:grpSp>
          <p:nvGrpSpPr>
            <p:cNvPr id="25" name="Group 24">
              <a:extLst>
                <a:ext uri="{FF2B5EF4-FFF2-40B4-BE49-F238E27FC236}">
                  <a16:creationId xmlns:a16="http://schemas.microsoft.com/office/drawing/2014/main" id="{361FA67E-1FA0-450B-979A-6EC309A64BF1}"/>
                </a:ext>
                <a:ext uri="{C183D7F6-B498-43B3-948B-1728B52AA6E4}">
                  <adec:decorative xmlns:adec="http://schemas.microsoft.com/office/drawing/2017/decorative" val="1"/>
                </a:ext>
              </a:extLst>
            </p:cNvPr>
            <p:cNvGrpSpPr/>
            <p:nvPr/>
          </p:nvGrpSpPr>
          <p:grpSpPr>
            <a:xfrm>
              <a:off x="1559281" y="3545117"/>
              <a:ext cx="1072750" cy="910523"/>
              <a:chOff x="1559281" y="3545117"/>
              <a:chExt cx="1072750" cy="910523"/>
            </a:xfrm>
          </p:grpSpPr>
          <p:pic>
            <p:nvPicPr>
              <p:cNvPr id="9" name="Graphic 8">
                <a:extLst>
                  <a:ext uri="{FF2B5EF4-FFF2-40B4-BE49-F238E27FC236}">
                    <a16:creationId xmlns:a16="http://schemas.microsoft.com/office/drawing/2014/main" id="{A949E4D3-A8F9-4417-9F71-F7DFB2DF1FC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853863" y="3545117"/>
                <a:ext cx="483586" cy="469900"/>
              </a:xfrm>
              <a:prstGeom prst="rect">
                <a:avLst/>
              </a:prstGeom>
            </p:spPr>
          </p:pic>
          <p:sp>
            <p:nvSpPr>
              <p:cNvPr id="10" name="TextBox 9">
                <a:extLst>
                  <a:ext uri="{FF2B5EF4-FFF2-40B4-BE49-F238E27FC236}">
                    <a16:creationId xmlns:a16="http://schemas.microsoft.com/office/drawing/2014/main" id="{FFCCAACB-2653-409C-8E44-3C33923A720C}"/>
                  </a:ext>
                  <a:ext uri="{C183D7F6-B498-43B3-948B-1728B52AA6E4}">
                    <adec:decorative xmlns:adec="http://schemas.microsoft.com/office/drawing/2017/decorative" val="1"/>
                  </a:ext>
                </a:extLst>
              </p:cNvPr>
              <p:cNvSpPr txBox="1"/>
              <p:nvPr/>
            </p:nvSpPr>
            <p:spPr>
              <a:xfrm>
                <a:off x="1559281" y="4117086"/>
                <a:ext cx="1072750" cy="338554"/>
              </a:xfrm>
              <a:prstGeom prst="rect">
                <a:avLst/>
              </a:prstGeom>
              <a:noFill/>
            </p:spPr>
            <p:txBody>
              <a:bodyPr wrap="square" rtlCol="0">
                <a:spAutoFit/>
              </a:bodyPr>
              <a:lstStyle/>
              <a:p>
                <a:pPr algn="ctr"/>
                <a:r>
                  <a:rPr lang="en-US" sz="1600">
                    <a:solidFill>
                      <a:srgbClr val="232F3E"/>
                    </a:solidFill>
                    <a:latin typeface="+mj-lt"/>
                  </a:rPr>
                  <a:t>Users</a:t>
                </a:r>
              </a:p>
            </p:txBody>
          </p:sp>
        </p:grpSp>
        <p:cxnSp>
          <p:nvCxnSpPr>
            <p:cNvPr id="19" name="Straight Arrow Connector 18">
              <a:extLst>
                <a:ext uri="{FF2B5EF4-FFF2-40B4-BE49-F238E27FC236}">
                  <a16:creationId xmlns:a16="http://schemas.microsoft.com/office/drawing/2014/main" id="{8D05AEC4-4714-470E-B26C-ED6E71A8CA68}"/>
                </a:ext>
                <a:ext uri="{C183D7F6-B498-43B3-948B-1728B52AA6E4}">
                  <adec:decorative xmlns:adec="http://schemas.microsoft.com/office/drawing/2017/decorative" val="1"/>
                </a:ext>
              </a:extLst>
            </p:cNvPr>
            <p:cNvCxnSpPr/>
            <p:nvPr/>
          </p:nvCxnSpPr>
          <p:spPr>
            <a:xfrm>
              <a:off x="2902390" y="3768742"/>
              <a:ext cx="137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DDCFFB60-E530-4109-8AD3-949FE2DE55E1}"/>
                </a:ext>
                <a:ext uri="{C183D7F6-B498-43B3-948B-1728B52AA6E4}">
                  <adec:decorative xmlns:adec="http://schemas.microsoft.com/office/drawing/2017/decorative" val="1"/>
                </a:ext>
              </a:extLst>
            </p:cNvPr>
            <p:cNvGrpSpPr/>
            <p:nvPr/>
          </p:nvGrpSpPr>
          <p:grpSpPr>
            <a:xfrm>
              <a:off x="4544349" y="3298842"/>
              <a:ext cx="1338909" cy="1470957"/>
              <a:chOff x="4446478" y="3298842"/>
              <a:chExt cx="1338909" cy="1470957"/>
            </a:xfrm>
          </p:grpSpPr>
          <p:grpSp>
            <p:nvGrpSpPr>
              <p:cNvPr id="7" name="Group 6">
                <a:extLst>
                  <a:ext uri="{FF2B5EF4-FFF2-40B4-BE49-F238E27FC236}">
                    <a16:creationId xmlns:a16="http://schemas.microsoft.com/office/drawing/2014/main" id="{05753E9D-B13A-4552-82B4-6044BF6FE8F8}"/>
                  </a:ext>
                  <a:ext uri="{C183D7F6-B498-43B3-948B-1728B52AA6E4}">
                    <adec:decorative xmlns:adec="http://schemas.microsoft.com/office/drawing/2017/decorative" val="1"/>
                  </a:ext>
                </a:extLst>
              </p:cNvPr>
              <p:cNvGrpSpPr/>
              <p:nvPr/>
            </p:nvGrpSpPr>
            <p:grpSpPr>
              <a:xfrm>
                <a:off x="4446478" y="3298842"/>
                <a:ext cx="1338909" cy="774700"/>
                <a:chOff x="4446478" y="3298842"/>
                <a:chExt cx="1338909" cy="774700"/>
              </a:xfrm>
            </p:grpSpPr>
            <p:pic>
              <p:nvPicPr>
                <p:cNvPr id="11" name="Graphic 10">
                  <a:extLst>
                    <a:ext uri="{FF2B5EF4-FFF2-40B4-BE49-F238E27FC236}">
                      <a16:creationId xmlns:a16="http://schemas.microsoft.com/office/drawing/2014/main" id="{CFFB19BB-E201-4B05-91F3-1136D3349BB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46478" y="3298842"/>
                  <a:ext cx="469900" cy="469900"/>
                </a:xfrm>
                <a:prstGeom prst="rect">
                  <a:avLst/>
                </a:prstGeom>
              </p:spPr>
            </p:pic>
            <p:pic>
              <p:nvPicPr>
                <p:cNvPr id="12" name="Graphic 11">
                  <a:extLst>
                    <a:ext uri="{FF2B5EF4-FFF2-40B4-BE49-F238E27FC236}">
                      <a16:creationId xmlns:a16="http://schemas.microsoft.com/office/drawing/2014/main" id="{93F7EF8F-86EE-4E90-AA20-B88867417B2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80983" y="3451242"/>
                  <a:ext cx="469900" cy="469900"/>
                </a:xfrm>
                <a:prstGeom prst="rect">
                  <a:avLst/>
                </a:prstGeom>
              </p:spPr>
            </p:pic>
            <p:pic>
              <p:nvPicPr>
                <p:cNvPr id="13" name="Graphic 12">
                  <a:extLst>
                    <a:ext uri="{FF2B5EF4-FFF2-40B4-BE49-F238E27FC236}">
                      <a16:creationId xmlns:a16="http://schemas.microsoft.com/office/drawing/2014/main" id="{9FF2A9F5-AFE7-4689-838A-A22D99E7099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5487" y="3603642"/>
                  <a:ext cx="469900" cy="469900"/>
                </a:xfrm>
                <a:prstGeom prst="rect">
                  <a:avLst/>
                </a:prstGeom>
              </p:spPr>
            </p:pic>
          </p:grpSp>
          <p:sp>
            <p:nvSpPr>
              <p:cNvPr id="14" name="TextBox 13">
                <a:extLst>
                  <a:ext uri="{FF2B5EF4-FFF2-40B4-BE49-F238E27FC236}">
                    <a16:creationId xmlns:a16="http://schemas.microsoft.com/office/drawing/2014/main" id="{B29237E9-0D1D-4332-845B-7E840F7204CC}"/>
                  </a:ext>
                  <a:ext uri="{C183D7F6-B498-43B3-948B-1728B52AA6E4}">
                    <adec:decorative xmlns:adec="http://schemas.microsoft.com/office/drawing/2017/decorative" val="1"/>
                  </a:ext>
                </a:extLst>
              </p:cNvPr>
              <p:cNvSpPr txBox="1"/>
              <p:nvPr/>
            </p:nvSpPr>
            <p:spPr>
              <a:xfrm>
                <a:off x="4519455" y="4185024"/>
                <a:ext cx="1192955" cy="584775"/>
              </a:xfrm>
              <a:prstGeom prst="rect">
                <a:avLst/>
              </a:prstGeom>
              <a:noFill/>
            </p:spPr>
            <p:txBody>
              <a:bodyPr wrap="none" rtlCol="0">
                <a:spAutoFit/>
              </a:bodyPr>
              <a:lstStyle/>
              <a:p>
                <a:pPr algn="ctr"/>
                <a:r>
                  <a:rPr lang="en-US" sz="1600">
                    <a:latin typeface="+mj-lt"/>
                    <a:ea typeface="Amazon Ember Light" panose="020B0403020204020204" pitchFamily="34" charset="0"/>
                    <a:cs typeface="Amazon Ember Light" panose="020B0403020204020204" pitchFamily="34" charset="0"/>
                  </a:rPr>
                  <a:t>Application</a:t>
                </a:r>
              </a:p>
              <a:p>
                <a:pPr algn="ctr"/>
                <a:r>
                  <a:rPr lang="en-US" sz="1600">
                    <a:latin typeface="+mj-lt"/>
                    <a:ea typeface="Amazon Ember Light" panose="020B0403020204020204" pitchFamily="34" charset="0"/>
                    <a:cs typeface="Amazon Ember Light" panose="020B0403020204020204" pitchFamily="34" charset="0"/>
                  </a:rPr>
                  <a:t>Servers</a:t>
                </a:r>
              </a:p>
            </p:txBody>
          </p:sp>
        </p:grpSp>
        <p:cxnSp>
          <p:nvCxnSpPr>
            <p:cNvPr id="21" name="Straight Arrow Connector 20">
              <a:extLst>
                <a:ext uri="{FF2B5EF4-FFF2-40B4-BE49-F238E27FC236}">
                  <a16:creationId xmlns:a16="http://schemas.microsoft.com/office/drawing/2014/main" id="{5F77357D-2004-4281-8E38-2D1BE81EAB9B}"/>
                </a:ext>
                <a:ext uri="{C183D7F6-B498-43B3-948B-1728B52AA6E4}">
                  <adec:decorative xmlns:adec="http://schemas.microsoft.com/office/drawing/2017/decorative" val="1"/>
                </a:ext>
              </a:extLst>
            </p:cNvPr>
            <p:cNvCxnSpPr/>
            <p:nvPr/>
          </p:nvCxnSpPr>
          <p:spPr>
            <a:xfrm>
              <a:off x="6153617" y="3768742"/>
              <a:ext cx="1371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1B404088-5E11-4BD0-B6A4-26DA34127CA5}"/>
                </a:ext>
                <a:ext uri="{C183D7F6-B498-43B3-948B-1728B52AA6E4}">
                  <adec:decorative xmlns:adec="http://schemas.microsoft.com/office/drawing/2017/decorative" val="1"/>
                </a:ext>
              </a:extLst>
            </p:cNvPr>
            <p:cNvGrpSpPr/>
            <p:nvPr/>
          </p:nvGrpSpPr>
          <p:grpSpPr>
            <a:xfrm>
              <a:off x="7795576" y="3197241"/>
              <a:ext cx="2301904" cy="1634111"/>
              <a:chOff x="7795576" y="3197241"/>
              <a:chExt cx="2301904" cy="1634111"/>
            </a:xfrm>
          </p:grpSpPr>
          <p:pic>
            <p:nvPicPr>
              <p:cNvPr id="17" name="Graphic 16">
                <a:extLst>
                  <a:ext uri="{FF2B5EF4-FFF2-40B4-BE49-F238E27FC236}">
                    <a16:creationId xmlns:a16="http://schemas.microsoft.com/office/drawing/2014/main" id="{38A8BDA3-C21E-4A91-833D-AD21ADC5664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0928" y="3689844"/>
                <a:ext cx="711200" cy="711200"/>
              </a:xfrm>
              <a:prstGeom prst="rect">
                <a:avLst/>
              </a:prstGeom>
            </p:spPr>
          </p:pic>
          <p:sp>
            <p:nvSpPr>
              <p:cNvPr id="16" name="TextBox 15">
                <a:extLst>
                  <a:ext uri="{FF2B5EF4-FFF2-40B4-BE49-F238E27FC236}">
                    <a16:creationId xmlns:a16="http://schemas.microsoft.com/office/drawing/2014/main" id="{F4841233-CC48-4A8E-A4DE-41C67820F95A}"/>
                  </a:ext>
                  <a:ext uri="{C183D7F6-B498-43B3-948B-1728B52AA6E4}">
                    <adec:decorative xmlns:adec="http://schemas.microsoft.com/office/drawing/2017/decorative" val="1"/>
                  </a:ext>
                </a:extLst>
              </p:cNvPr>
              <p:cNvSpPr txBox="1"/>
              <p:nvPr/>
            </p:nvSpPr>
            <p:spPr>
              <a:xfrm>
                <a:off x="7795576" y="4485657"/>
                <a:ext cx="2301904" cy="338554"/>
              </a:xfrm>
              <a:prstGeom prst="rect">
                <a:avLst/>
              </a:prstGeom>
              <a:noFill/>
            </p:spPr>
            <p:txBody>
              <a:bodyPr wrap="square" rtlCol="0">
                <a:spAutoFit/>
              </a:bodyPr>
              <a:lstStyle/>
              <a:p>
                <a:pPr algn="ctr"/>
                <a:r>
                  <a:rPr lang="en-US" sz="1600"/>
                  <a:t>Amazon RDS</a:t>
                </a:r>
              </a:p>
            </p:txBody>
          </p:sp>
          <p:grpSp>
            <p:nvGrpSpPr>
              <p:cNvPr id="18" name="Group 17">
                <a:extLst>
                  <a:ext uri="{FF2B5EF4-FFF2-40B4-BE49-F238E27FC236}">
                    <a16:creationId xmlns:a16="http://schemas.microsoft.com/office/drawing/2014/main" id="{6685C532-4385-48CD-8A29-699FCE4E6FF0}"/>
                  </a:ext>
                  <a:ext uri="{C183D7F6-B498-43B3-948B-1728B52AA6E4}">
                    <adec:decorative xmlns:adec="http://schemas.microsoft.com/office/drawing/2017/decorative" val="1"/>
                  </a:ext>
                </a:extLst>
              </p:cNvPr>
              <p:cNvGrpSpPr/>
              <p:nvPr/>
            </p:nvGrpSpPr>
            <p:grpSpPr>
              <a:xfrm>
                <a:off x="7924880" y="3197241"/>
                <a:ext cx="2043296" cy="1634111"/>
                <a:chOff x="7894416" y="3197241"/>
                <a:chExt cx="2043296" cy="1634111"/>
              </a:xfrm>
            </p:grpSpPr>
            <p:sp>
              <p:nvSpPr>
                <p:cNvPr id="20" name="Rectangle 19">
                  <a:extLst>
                    <a:ext uri="{FF2B5EF4-FFF2-40B4-BE49-F238E27FC236}">
                      <a16:creationId xmlns:a16="http://schemas.microsoft.com/office/drawing/2014/main" id="{499EE4DD-9825-43B0-8ED2-FA8A9E07D4BB}"/>
                    </a:ext>
                    <a:ext uri="{C183D7F6-B498-43B3-948B-1728B52AA6E4}">
                      <adec:decorative xmlns:adec="http://schemas.microsoft.com/office/drawing/2017/decorative" val="1"/>
                    </a:ext>
                  </a:extLst>
                </p:cNvPr>
                <p:cNvSpPr/>
                <p:nvPr/>
              </p:nvSpPr>
              <p:spPr>
                <a:xfrm>
                  <a:off x="7894416" y="3197241"/>
                  <a:ext cx="2043296" cy="1634111"/>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ysClr val="windowText" lastClr="000000"/>
                      </a:solidFill>
                      <a:effectLst/>
                      <a:uLnTx/>
                      <a:uFillTx/>
                      <a:latin typeface="Arial" panose="020B0604020202020204"/>
                      <a:ea typeface="+mn-ea"/>
                      <a:cs typeface="+mn-cs"/>
                    </a:rPr>
                    <a:t> AWS Cloud</a:t>
                  </a:r>
                </a:p>
              </p:txBody>
            </p:sp>
            <p:pic>
              <p:nvPicPr>
                <p:cNvPr id="22" name="Graphic 21">
                  <a:extLst>
                    <a:ext uri="{FF2B5EF4-FFF2-40B4-BE49-F238E27FC236}">
                      <a16:creationId xmlns:a16="http://schemas.microsoft.com/office/drawing/2014/main" id="{8EBD5A43-9F65-4AC4-BA34-908228173856}"/>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894416" y="3197242"/>
                  <a:ext cx="457200" cy="457200"/>
                </a:xfrm>
                <a:prstGeom prst="rect">
                  <a:avLst/>
                </a:prstGeom>
              </p:spPr>
            </p:pic>
          </p:grpSp>
        </p:grpSp>
      </p:grpSp>
    </p:spTree>
    <p:custDataLst>
      <p:tags r:id="rId1"/>
    </p:custDataLst>
    <p:extLst>
      <p:ext uri="{BB962C8B-B14F-4D97-AF65-F5344CB8AC3E}">
        <p14:creationId xmlns:p14="http://schemas.microsoft.com/office/powerpoint/2010/main" val="36032368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1BDBC9-A750-4EA5-95CA-8D1B678F99F5}"/>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53</a:t>
            </a:fld>
            <a:endParaRPr lang="en-US"/>
          </a:p>
        </p:txBody>
      </p:sp>
      <p:sp>
        <p:nvSpPr>
          <p:cNvPr id="2" name="Title 1"/>
          <p:cNvSpPr>
            <a:spLocks noGrp="1"/>
          </p:cNvSpPr>
          <p:nvPr>
            <p:ph type="title"/>
          </p:nvPr>
        </p:nvSpPr>
        <p:spPr/>
        <p:txBody>
          <a:bodyPr>
            <a:normAutofit/>
          </a:bodyPr>
          <a:lstStyle/>
          <a:p>
            <a:r>
              <a:rPr lang="en-US"/>
              <a:t>From on-premises databases to Amazon RDS</a:t>
            </a:r>
          </a:p>
        </p:txBody>
      </p:sp>
      <p:sp>
        <p:nvSpPr>
          <p:cNvPr id="10" name="TextBox 9">
            <a:extLst>
              <a:ext uri="{FF2B5EF4-FFF2-40B4-BE49-F238E27FC236}">
                <a16:creationId xmlns:a16="http://schemas.microsoft.com/office/drawing/2014/main" id="{B6036A0F-C2FD-5C4F-A938-8AFCB5C1F050}"/>
              </a:ext>
            </a:extLst>
          </p:cNvPr>
          <p:cNvSpPr txBox="1"/>
          <p:nvPr/>
        </p:nvSpPr>
        <p:spPr>
          <a:xfrm>
            <a:off x="871221" y="1398074"/>
            <a:ext cx="2588974" cy="369332"/>
          </a:xfrm>
          <a:prstGeom prst="rect">
            <a:avLst/>
          </a:prstGeom>
          <a:noFill/>
        </p:spPr>
        <p:txBody>
          <a:bodyPr wrap="square" rtlCol="0">
            <a:spAutoFit/>
          </a:bodyPr>
          <a:lstStyle/>
          <a:p>
            <a:r>
              <a:rPr lang="en-US"/>
              <a:t>On-premises database</a:t>
            </a:r>
          </a:p>
        </p:txBody>
      </p:sp>
      <p:sp>
        <p:nvSpPr>
          <p:cNvPr id="6" name="Rectangle: Rounded Corners 5" descr="Compares services provided for on-premises databases with running a database on EC2 and Amazon RDS or Amazon Aurora.">
            <a:extLst>
              <a:ext uri="{FF2B5EF4-FFF2-40B4-BE49-F238E27FC236}">
                <a16:creationId xmlns:a16="http://schemas.microsoft.com/office/drawing/2014/main" id="{81235D6E-2D82-4819-831C-825FAB5EF2EE}"/>
              </a:ext>
              <a:ext uri="{C183D7F6-B498-43B3-948B-1728B52AA6E4}">
                <adec:decorative xmlns:adec="http://schemas.microsoft.com/office/drawing/2017/decorative" val="1"/>
              </a:ext>
            </a:extLst>
          </p:cNvPr>
          <p:cNvSpPr/>
          <p:nvPr/>
        </p:nvSpPr>
        <p:spPr>
          <a:xfrm>
            <a:off x="992459" y="1905906"/>
            <a:ext cx="2639134" cy="44283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descr="compares services provided for on-premises databases with running a database on EC2 and Amazon RDS or Amazon Aurora.">
            <a:extLst>
              <a:ext uri="{FF2B5EF4-FFF2-40B4-BE49-F238E27FC236}">
                <a16:creationId xmlns:a16="http://schemas.microsoft.com/office/drawing/2014/main" id="{32414289-969B-40A9-BA47-A0F31822B01C}"/>
              </a:ext>
            </a:extLst>
          </p:cNvPr>
          <p:cNvSpPr txBox="1"/>
          <p:nvPr/>
        </p:nvSpPr>
        <p:spPr>
          <a:xfrm>
            <a:off x="1127101" y="2326236"/>
            <a:ext cx="2504491" cy="3293209"/>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pic>
        <p:nvPicPr>
          <p:cNvPr id="14" name="Picture 13">
            <a:extLst>
              <a:ext uri="{FF2B5EF4-FFF2-40B4-BE49-F238E27FC236}">
                <a16:creationId xmlns:a16="http://schemas.microsoft.com/office/drawing/2014/main" id="{CDCD166F-1AE8-A546-8BE5-CF5BEA06E94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400517" y="1420204"/>
            <a:ext cx="917850" cy="325072"/>
          </a:xfrm>
          <a:prstGeom prst="rect">
            <a:avLst/>
          </a:prstGeom>
        </p:spPr>
      </p:pic>
      <p:sp>
        <p:nvSpPr>
          <p:cNvPr id="11" name="TextBox 10">
            <a:extLst>
              <a:ext uri="{FF2B5EF4-FFF2-40B4-BE49-F238E27FC236}">
                <a16:creationId xmlns:a16="http://schemas.microsoft.com/office/drawing/2014/main" id="{B6036A0F-C2FD-5C4F-A938-8AFCB5C1F050}"/>
              </a:ext>
            </a:extLst>
          </p:cNvPr>
          <p:cNvSpPr txBox="1"/>
          <p:nvPr/>
        </p:nvSpPr>
        <p:spPr>
          <a:xfrm>
            <a:off x="4298288" y="1106646"/>
            <a:ext cx="3290622" cy="646331"/>
          </a:xfrm>
          <a:prstGeom prst="rect">
            <a:avLst/>
          </a:prstGeom>
          <a:noFill/>
        </p:spPr>
        <p:txBody>
          <a:bodyPr wrap="square" rtlCol="0">
            <a:spAutoFit/>
          </a:bodyPr>
          <a:lstStyle/>
          <a:p>
            <a:pPr algn="ctr"/>
            <a:r>
              <a:rPr lang="en-US"/>
              <a:t>Database in Amazon Elastic Compute Cloud (Amazon EC2) </a:t>
            </a:r>
          </a:p>
        </p:txBody>
      </p:sp>
      <p:sp>
        <p:nvSpPr>
          <p:cNvPr id="16" name="Rectangle: Rounded Corners 15">
            <a:extLst>
              <a:ext uri="{FF2B5EF4-FFF2-40B4-BE49-F238E27FC236}">
                <a16:creationId xmlns:a16="http://schemas.microsoft.com/office/drawing/2014/main" id="{ED60E61A-2F24-4948-B18D-E53B00C572FD}"/>
              </a:ext>
              <a:ext uri="{C183D7F6-B498-43B3-948B-1728B52AA6E4}">
                <adec:decorative xmlns:adec="http://schemas.microsoft.com/office/drawing/2017/decorative" val="1"/>
              </a:ext>
            </a:extLst>
          </p:cNvPr>
          <p:cNvSpPr/>
          <p:nvPr/>
        </p:nvSpPr>
        <p:spPr>
          <a:xfrm>
            <a:off x="4624032" y="1913343"/>
            <a:ext cx="2639134" cy="44283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descr="compares services provided for on-premises databases with running a database on EC2 and Amazon RDS or Amazon Aurora.">
            <a:extLst>
              <a:ext uri="{FF2B5EF4-FFF2-40B4-BE49-F238E27FC236}">
                <a16:creationId xmlns:a16="http://schemas.microsoft.com/office/drawing/2014/main" id="{8F8F047D-3287-4218-BC4C-4C0A5C99CE5B}"/>
              </a:ext>
            </a:extLst>
          </p:cNvPr>
          <p:cNvSpPr txBox="1"/>
          <p:nvPr/>
        </p:nvSpPr>
        <p:spPr>
          <a:xfrm>
            <a:off x="3737729" y="4843413"/>
            <a:ext cx="942887" cy="584775"/>
          </a:xfrm>
          <a:prstGeom prst="rect">
            <a:avLst/>
          </a:prstGeom>
          <a:noFill/>
        </p:spPr>
        <p:txBody>
          <a:bodyPr wrap="none" rtlCol="0">
            <a:spAutoFit/>
          </a:bodyPr>
          <a:lstStyle/>
          <a:p>
            <a:pPr algn="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AWS</a:t>
            </a:r>
          </a:p>
          <a:p>
            <a:pPr algn="r"/>
            <a:r>
              <a:rPr lang="en-US" sz="1600">
                <a:latin typeface="Amazon Ember Light" panose="020B0403020204020204" pitchFamily="34" charset="0"/>
                <a:ea typeface="Amazon Ember Light" panose="020B0403020204020204" pitchFamily="34" charset="0"/>
                <a:cs typeface="Amazon Ember Light" panose="020B0403020204020204" pitchFamily="34" charset="0"/>
              </a:rPr>
              <a:t>provides</a:t>
            </a:r>
          </a:p>
        </p:txBody>
      </p:sp>
      <p:sp>
        <p:nvSpPr>
          <p:cNvPr id="8" name="Rectangle: Rounded Corners 7">
            <a:extLst>
              <a:ext uri="{FF2B5EF4-FFF2-40B4-BE49-F238E27FC236}">
                <a16:creationId xmlns:a16="http://schemas.microsoft.com/office/drawing/2014/main" id="{BBEAD904-7A00-417D-A4F4-ABF8C0F4EF8E}"/>
              </a:ext>
              <a:ext uri="{C183D7F6-B498-43B3-948B-1728B52AA6E4}">
                <adec:decorative xmlns:adec="http://schemas.microsoft.com/office/drawing/2017/decorative" val="1"/>
              </a:ext>
            </a:extLst>
          </p:cNvPr>
          <p:cNvSpPr/>
          <p:nvPr/>
        </p:nvSpPr>
        <p:spPr>
          <a:xfrm>
            <a:off x="4657485" y="4594302"/>
            <a:ext cx="2583378" cy="1025143"/>
          </a:xfrm>
          <a:prstGeom prst="roundRect">
            <a:avLst/>
          </a:prstGeom>
          <a:gradFill>
            <a:gsLst>
              <a:gs pos="0">
                <a:schemeClr val="accent5">
                  <a:alpha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descr="compares services provided for on-premises databases with running a database on EC2 and Amazon RDS or Amazon Aurora.">
            <a:extLst>
              <a:ext uri="{FF2B5EF4-FFF2-40B4-BE49-F238E27FC236}">
                <a16:creationId xmlns:a16="http://schemas.microsoft.com/office/drawing/2014/main" id="{C79D75DB-AAA9-46C6-A870-DDFBB1DFAF11}"/>
              </a:ext>
            </a:extLst>
          </p:cNvPr>
          <p:cNvSpPr txBox="1"/>
          <p:nvPr/>
        </p:nvSpPr>
        <p:spPr>
          <a:xfrm>
            <a:off x="4702919" y="2344824"/>
            <a:ext cx="2504491" cy="3293209"/>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pic>
        <p:nvPicPr>
          <p:cNvPr id="13" name="Picture 12">
            <a:extLst>
              <a:ext uri="{FF2B5EF4-FFF2-40B4-BE49-F238E27FC236}">
                <a16:creationId xmlns:a16="http://schemas.microsoft.com/office/drawing/2014/main" id="{FBE9623D-EF37-BB4D-9AB7-3B927610344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489633" y="1420204"/>
            <a:ext cx="917850" cy="325072"/>
          </a:xfrm>
          <a:prstGeom prst="rect">
            <a:avLst/>
          </a:prstGeom>
        </p:spPr>
      </p:pic>
      <p:sp>
        <p:nvSpPr>
          <p:cNvPr id="3" name="TextBox 2">
            <a:extLst>
              <a:ext uri="{FF2B5EF4-FFF2-40B4-BE49-F238E27FC236}">
                <a16:creationId xmlns:a16="http://schemas.microsoft.com/office/drawing/2014/main" id="{B6036A0F-C2FD-5C4F-A938-8AFCB5C1F050}"/>
              </a:ext>
            </a:extLst>
          </p:cNvPr>
          <p:cNvSpPr txBox="1"/>
          <p:nvPr/>
        </p:nvSpPr>
        <p:spPr>
          <a:xfrm>
            <a:off x="8347803" y="1259575"/>
            <a:ext cx="2855424" cy="646331"/>
          </a:xfrm>
          <a:prstGeom prst="rect">
            <a:avLst/>
          </a:prstGeom>
          <a:noFill/>
        </p:spPr>
        <p:txBody>
          <a:bodyPr wrap="square" rtlCol="0">
            <a:spAutoFit/>
          </a:bodyPr>
          <a:lstStyle/>
          <a:p>
            <a:pPr algn="ctr"/>
            <a:r>
              <a:rPr lang="en-US"/>
              <a:t>Database in Amazon RDS or Amazon Aurora</a:t>
            </a:r>
          </a:p>
        </p:txBody>
      </p:sp>
      <p:sp>
        <p:nvSpPr>
          <p:cNvPr id="26" name="TextBox 25" descr="compares services provided for on-premises databases with running a database on EC2 and Amazon RDS or Amazon Aurora.">
            <a:extLst>
              <a:ext uri="{FF2B5EF4-FFF2-40B4-BE49-F238E27FC236}">
                <a16:creationId xmlns:a16="http://schemas.microsoft.com/office/drawing/2014/main" id="{2CEEECB6-5C06-44C9-A46C-649EF00725B1}"/>
              </a:ext>
            </a:extLst>
          </p:cNvPr>
          <p:cNvSpPr txBox="1"/>
          <p:nvPr/>
        </p:nvSpPr>
        <p:spPr>
          <a:xfrm>
            <a:off x="7342053" y="3593397"/>
            <a:ext cx="942887" cy="584775"/>
          </a:xfrm>
          <a:prstGeom prst="rect">
            <a:avLst/>
          </a:prstGeom>
          <a:noFill/>
        </p:spPr>
        <p:txBody>
          <a:bodyPr wrap="none" rtlCol="0">
            <a:spAutoFit/>
          </a:bodyPr>
          <a:lstStyle/>
          <a:p>
            <a:pPr algn="r"/>
            <a:r>
              <a:rPr lang="en-US" sz="1600">
                <a:latin typeface="Amazon Ember Light" panose="020B0403020204020204" pitchFamily="34" charset="0"/>
                <a:ea typeface="Amazon Ember Light" panose="020B0403020204020204" pitchFamily="34" charset="0"/>
                <a:cs typeface="Amazon Ember Light" panose="020B0403020204020204" pitchFamily="34" charset="0"/>
              </a:rPr>
              <a:t>AWS</a:t>
            </a:r>
          </a:p>
          <a:p>
            <a:pPr algn="r"/>
            <a:r>
              <a:rPr lang="en-US" sz="1600">
                <a:latin typeface="Amazon Ember Light" panose="020B0403020204020204" pitchFamily="34" charset="0"/>
                <a:ea typeface="Amazon Ember Light" panose="020B0403020204020204" pitchFamily="34" charset="0"/>
                <a:cs typeface="Amazon Ember Light" panose="020B0403020204020204" pitchFamily="34" charset="0"/>
              </a:rPr>
              <a:t>provides</a:t>
            </a:r>
          </a:p>
        </p:txBody>
      </p:sp>
      <p:sp>
        <p:nvSpPr>
          <p:cNvPr id="17" name="Rectangle: Rounded Corners 16">
            <a:extLst>
              <a:ext uri="{FF2B5EF4-FFF2-40B4-BE49-F238E27FC236}">
                <a16:creationId xmlns:a16="http://schemas.microsoft.com/office/drawing/2014/main" id="{7254ACC3-2FD3-472D-B9E0-6633E3E97631}"/>
              </a:ext>
              <a:ext uri="{C183D7F6-B498-43B3-948B-1728B52AA6E4}">
                <adec:decorative xmlns:adec="http://schemas.microsoft.com/office/drawing/2017/decorative" val="1"/>
              </a:ext>
            </a:extLst>
          </p:cNvPr>
          <p:cNvSpPr/>
          <p:nvPr/>
        </p:nvSpPr>
        <p:spPr>
          <a:xfrm>
            <a:off x="8315086" y="1924494"/>
            <a:ext cx="2639134" cy="44283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1E5F9D01-ED71-4FC5-9CEA-75E42C1DE44E}"/>
              </a:ext>
              <a:ext uri="{C183D7F6-B498-43B3-948B-1728B52AA6E4}">
                <adec:decorative xmlns:adec="http://schemas.microsoft.com/office/drawing/2017/decorative" val="1"/>
              </a:ext>
            </a:extLst>
          </p:cNvPr>
          <p:cNvSpPr/>
          <p:nvPr/>
        </p:nvSpPr>
        <p:spPr>
          <a:xfrm>
            <a:off x="8407483" y="2542478"/>
            <a:ext cx="2431503" cy="3055947"/>
          </a:xfrm>
          <a:prstGeom prst="roundRect">
            <a:avLst/>
          </a:prstGeom>
          <a:gradFill>
            <a:gsLst>
              <a:gs pos="0">
                <a:schemeClr val="accent5">
                  <a:alpha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descr="compares services provided for on-premises databases with running a database on EC2 and Amazon RDS or Amazon Aurora.">
            <a:extLst>
              <a:ext uri="{FF2B5EF4-FFF2-40B4-BE49-F238E27FC236}">
                <a16:creationId xmlns:a16="http://schemas.microsoft.com/office/drawing/2014/main" id="{0DB00234-7610-4C94-BE98-C5F07F79CFAE}"/>
              </a:ext>
            </a:extLst>
          </p:cNvPr>
          <p:cNvSpPr txBox="1"/>
          <p:nvPr/>
        </p:nvSpPr>
        <p:spPr>
          <a:xfrm>
            <a:off x="8449729" y="2300220"/>
            <a:ext cx="2504491" cy="3293209"/>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 optimization</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Scaling</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High Availability</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backups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Database software installs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Operation system patches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Operating system install</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Server maintenance</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Rack and stack servers</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Power, HVAC, network</a:t>
            </a:r>
          </a:p>
        </p:txBody>
      </p:sp>
    </p:spTree>
    <p:custDataLst>
      <p:tags r:id="rId1"/>
    </p:custDataLst>
    <p:extLst>
      <p:ext uri="{BB962C8B-B14F-4D97-AF65-F5344CB8AC3E}">
        <p14:creationId xmlns:p14="http://schemas.microsoft.com/office/powerpoint/2010/main" val="22362453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10C22F-1499-4D68-BC9B-428CD89B36A8}"/>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54</a:t>
            </a:fld>
            <a:endParaRPr lang="en-US"/>
          </a:p>
        </p:txBody>
      </p:sp>
      <p:sp>
        <p:nvSpPr>
          <p:cNvPr id="2" name="Title 1"/>
          <p:cNvSpPr>
            <a:spLocks noGrp="1"/>
          </p:cNvSpPr>
          <p:nvPr>
            <p:ph type="title"/>
          </p:nvPr>
        </p:nvSpPr>
        <p:spPr/>
        <p:txBody>
          <a:bodyPr/>
          <a:lstStyle/>
          <a:p>
            <a:r>
              <a:rPr lang="en-US"/>
              <a:t>Managed services responsibilities</a:t>
            </a:r>
          </a:p>
        </p:txBody>
      </p:sp>
      <p:pic>
        <p:nvPicPr>
          <p:cNvPr id="6" name="Picture 5">
            <a:extLst>
              <a:ext uri="{FF2B5EF4-FFF2-40B4-BE49-F238E27FC236}">
                <a16:creationId xmlns:a16="http://schemas.microsoft.com/office/drawing/2014/main" id="{03AD659B-DEC1-5447-84EE-A91DCCEDE373}"/>
              </a:ext>
              <a:ext uri="{C183D7F6-B498-43B3-948B-1728B52AA6E4}">
                <adec:decorative xmlns:adec="http://schemas.microsoft.com/office/drawing/2017/decorative" val="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237744" y="1143000"/>
            <a:ext cx="6920702" cy="1269200"/>
          </a:xfrm>
          <a:prstGeom prst="rect">
            <a:avLst/>
          </a:prstGeom>
        </p:spPr>
      </p:pic>
      <p:sp>
        <p:nvSpPr>
          <p:cNvPr id="5" name="Content Placeholder 2">
            <a:extLst>
              <a:ext uri="{C183D7F6-B498-43B3-948B-1728B52AA6E4}">
                <adec:decorative xmlns:adec="http://schemas.microsoft.com/office/drawing/2017/decorative" val="1"/>
              </a:ext>
            </a:extLst>
          </p:cNvPr>
          <p:cNvSpPr>
            <a:spLocks noGrp="1"/>
          </p:cNvSpPr>
          <p:nvPr>
            <p:ph sz="quarter" idx="21"/>
          </p:nvPr>
        </p:nvSpPr>
        <p:spPr>
          <a:xfrm>
            <a:off x="237744" y="1143000"/>
            <a:ext cx="11347704" cy="4910328"/>
          </a:xfrm>
        </p:spPr>
        <p:txBody>
          <a:bodyPr>
            <a:normAutofit fontScale="77500" lnSpcReduction="20000"/>
          </a:bodyPr>
          <a:lstStyle/>
          <a:p>
            <a:pPr marL="0" indent="0" algn="just">
              <a:spcAft>
                <a:spcPts val="800"/>
              </a:spcAft>
              <a:buNone/>
            </a:pPr>
            <a:r>
              <a:rPr lang="en-US" b="1"/>
              <a:t>You manage: </a:t>
            </a:r>
          </a:p>
          <a:p>
            <a:pPr marL="457200" indent="-457200" algn="just">
              <a:spcAft>
                <a:spcPts val="800"/>
              </a:spcAft>
            </a:pPr>
            <a:r>
              <a:rPr lang="en-US"/>
              <a:t>Application optimization</a:t>
            </a:r>
          </a:p>
          <a:p>
            <a:pPr marL="0" indent="0" algn="just">
              <a:spcAft>
                <a:spcPts val="800"/>
              </a:spcAft>
              <a:buNone/>
            </a:pPr>
            <a:endParaRPr lang="en-US" sz="2300"/>
          </a:p>
          <a:p>
            <a:pPr marL="0" indent="0" algn="just">
              <a:spcAft>
                <a:spcPts val="800"/>
              </a:spcAft>
              <a:buNone/>
            </a:pPr>
            <a:r>
              <a:rPr lang="en-US" b="1"/>
              <a:t>AWS manages:</a:t>
            </a:r>
          </a:p>
          <a:p>
            <a:pPr marL="457200" indent="-457200" algn="just">
              <a:spcAft>
                <a:spcPts val="800"/>
              </a:spcAft>
            </a:pPr>
            <a:r>
              <a:rPr lang="en-US"/>
              <a:t>OS installation and patches</a:t>
            </a:r>
          </a:p>
          <a:p>
            <a:pPr marL="457200" indent="-457200" algn="just">
              <a:spcAft>
                <a:spcPts val="800"/>
              </a:spcAft>
            </a:pPr>
            <a:r>
              <a:rPr lang="en-US"/>
              <a:t>Database software installation and patches</a:t>
            </a:r>
          </a:p>
          <a:p>
            <a:pPr marL="457200" indent="-457200" algn="just">
              <a:spcAft>
                <a:spcPts val="800"/>
              </a:spcAft>
            </a:pPr>
            <a:r>
              <a:rPr lang="en-US"/>
              <a:t>Database backups</a:t>
            </a:r>
          </a:p>
          <a:p>
            <a:pPr marL="457200" indent="-457200" algn="just">
              <a:spcAft>
                <a:spcPts val="800"/>
              </a:spcAft>
            </a:pPr>
            <a:r>
              <a:rPr lang="en-US"/>
              <a:t>High availability</a:t>
            </a:r>
          </a:p>
          <a:p>
            <a:pPr marL="457200" indent="-457200" algn="just">
              <a:spcAft>
                <a:spcPts val="800"/>
              </a:spcAft>
            </a:pPr>
            <a:r>
              <a:rPr lang="en-US"/>
              <a:t>Scaling</a:t>
            </a:r>
          </a:p>
          <a:p>
            <a:pPr marL="457200" indent="-457200" algn="just">
              <a:spcAft>
                <a:spcPts val="800"/>
              </a:spcAft>
            </a:pPr>
            <a:r>
              <a:rPr lang="en-US"/>
              <a:t>Power and racking and stacking servers</a:t>
            </a:r>
          </a:p>
          <a:p>
            <a:pPr marL="457200" indent="-457200" algn="just">
              <a:spcAft>
                <a:spcPts val="800"/>
              </a:spcAft>
            </a:pPr>
            <a:r>
              <a:rPr lang="en-US"/>
              <a:t>Server maintenance</a:t>
            </a:r>
          </a:p>
        </p:txBody>
      </p:sp>
      <p:pic>
        <p:nvPicPr>
          <p:cNvPr id="7" name="Graphic 6">
            <a:extLst>
              <a:ext uri="{FF2B5EF4-FFF2-40B4-BE49-F238E27FC236}">
                <a16:creationId xmlns:a16="http://schemas.microsoft.com/office/drawing/2014/main" id="{2650DF05-85DD-4457-BA5A-BAB91C7F72D9}"/>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69611" y="3288782"/>
            <a:ext cx="1292538" cy="1292538"/>
          </a:xfrm>
          <a:prstGeom prst="rect">
            <a:avLst/>
          </a:prstGeom>
        </p:spPr>
      </p:pic>
      <p:sp>
        <p:nvSpPr>
          <p:cNvPr id="9" name="TextBox 8">
            <a:extLst>
              <a:ext uri="{FF2B5EF4-FFF2-40B4-BE49-F238E27FC236}">
                <a16:creationId xmlns:a16="http://schemas.microsoft.com/office/drawing/2014/main" id="{00849B53-48B3-3C40-ACB1-22E4ED6E7605}"/>
              </a:ext>
            </a:extLst>
          </p:cNvPr>
          <p:cNvSpPr txBox="1"/>
          <p:nvPr/>
        </p:nvSpPr>
        <p:spPr>
          <a:xfrm>
            <a:off x="7317854" y="4794794"/>
            <a:ext cx="4658659" cy="430887"/>
          </a:xfrm>
          <a:prstGeom prst="rect">
            <a:avLst/>
          </a:prstGeom>
          <a:noFill/>
        </p:spPr>
        <p:txBody>
          <a:bodyPr wrap="square" lIns="0" tIns="0" rIns="0" bIns="0" rtlCol="0" anchor="ctr">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Amazon</a:t>
            </a:r>
            <a:r>
              <a:rPr lang="en-US" sz="2800" b="1">
                <a:latin typeface="Amazon Ember" panose="020B0603020204020204" pitchFamily="34" charset="0"/>
                <a:ea typeface="Amazon Ember" panose="020B0603020204020204" pitchFamily="34" charset="0"/>
                <a:cs typeface="Amazon Ember" panose="020B0603020204020204" pitchFamily="34" charset="0"/>
              </a:rPr>
              <a:t> </a:t>
            </a:r>
            <a:r>
              <a:rPr lang="en-US" sz="2800">
                <a:latin typeface="Amazon Ember" panose="020B0603020204020204" pitchFamily="34" charset="0"/>
                <a:ea typeface="Amazon Ember" panose="020B0603020204020204" pitchFamily="34" charset="0"/>
                <a:cs typeface="Amazon Ember" panose="020B0603020204020204" pitchFamily="34" charset="0"/>
              </a:rPr>
              <a:t>RDS</a:t>
            </a:r>
            <a:endParaRPr lang="en-US" sz="6000">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41833238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13BCE6-0700-4832-B518-86A6BBE99706}"/>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55</a:t>
            </a:fld>
            <a:endParaRPr lang="en-US"/>
          </a:p>
        </p:txBody>
      </p:sp>
      <p:sp>
        <p:nvSpPr>
          <p:cNvPr id="3" name="Title 2"/>
          <p:cNvSpPr>
            <a:spLocks noGrp="1"/>
          </p:cNvSpPr>
          <p:nvPr>
            <p:ph type="title"/>
          </p:nvPr>
        </p:nvSpPr>
        <p:spPr/>
        <p:txBody>
          <a:bodyPr/>
          <a:lstStyle/>
          <a:p>
            <a:r>
              <a:rPr lang="en-US"/>
              <a:t>Amazon RDS DB instances</a:t>
            </a:r>
          </a:p>
        </p:txBody>
      </p:sp>
      <p:sp>
        <p:nvSpPr>
          <p:cNvPr id="17" name="TextBox 16"/>
          <p:cNvSpPr txBox="1"/>
          <p:nvPr/>
        </p:nvSpPr>
        <p:spPr>
          <a:xfrm>
            <a:off x="428170" y="1451628"/>
            <a:ext cx="1638300" cy="369332"/>
          </a:xfrm>
          <a:prstGeom prst="rect">
            <a:avLst/>
          </a:prstGeom>
          <a:noFill/>
        </p:spPr>
        <p:txBody>
          <a:bodyPr wrap="square" rtlCol="0">
            <a:spAutoFit/>
          </a:bodyPr>
          <a:lstStyle/>
          <a:p>
            <a:pPr algn="ctr"/>
            <a:r>
              <a:rPr lang="en-US">
                <a:ea typeface="Amazon Ember" panose="02000000000000000000" pitchFamily="2" charset="0"/>
              </a:rPr>
              <a:t>Amazon RDS</a:t>
            </a:r>
          </a:p>
        </p:txBody>
      </p:sp>
      <p:pic>
        <p:nvPicPr>
          <p:cNvPr id="24" name="Graphic 23">
            <a:extLst>
              <a:ext uri="{FF2B5EF4-FFF2-40B4-BE49-F238E27FC236}">
                <a16:creationId xmlns:a16="http://schemas.microsoft.com/office/drawing/2014/main" id="{09CD6CF3-A9FE-42D5-9EBF-BCDAE5E80FD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1720" y="1834025"/>
            <a:ext cx="711200" cy="711200"/>
          </a:xfrm>
          <a:prstGeom prst="rect">
            <a:avLst/>
          </a:prstGeom>
        </p:spPr>
      </p:pic>
      <p:sp>
        <p:nvSpPr>
          <p:cNvPr id="23" name="TextBox 22">
            <a:extLst>
              <a:ext uri="{C183D7F6-B498-43B3-948B-1728B52AA6E4}">
                <adec:decorative xmlns:adec="http://schemas.microsoft.com/office/drawing/2017/decorative" val="1"/>
              </a:ext>
            </a:extLst>
          </p:cNvPr>
          <p:cNvSpPr txBox="1"/>
          <p:nvPr/>
        </p:nvSpPr>
        <p:spPr>
          <a:xfrm>
            <a:off x="1441345" y="3136526"/>
            <a:ext cx="1012199" cy="929637"/>
          </a:xfrm>
          <a:prstGeom prst="rect">
            <a:avLst/>
          </a:prstGeom>
          <a:solidFill>
            <a:srgbClr val="3475B3"/>
          </a:solidFill>
        </p:spPr>
        <p:txBody>
          <a:bodyPr wrap="none" lIns="0" tIns="0" rIns="0" bIns="0" rtlCol="0" anchor="t" anchorCtr="1">
            <a:noAutofit/>
          </a:bodyPr>
          <a:lstStyle/>
          <a:p>
            <a:r>
              <a:rPr lang="en-US" sz="6600" b="1">
                <a:solidFill>
                  <a:schemeClr val="bg1"/>
                </a:solidFill>
                <a:ea typeface="Amazon Ember" panose="02000000000000000000" pitchFamily="2" charset="0"/>
              </a:rPr>
              <a:t>M</a:t>
            </a:r>
          </a:p>
        </p:txBody>
      </p:sp>
      <p:sp>
        <p:nvSpPr>
          <p:cNvPr id="20" name="TextBox 19"/>
          <p:cNvSpPr txBox="1"/>
          <p:nvPr/>
        </p:nvSpPr>
        <p:spPr>
          <a:xfrm>
            <a:off x="868478" y="4163803"/>
            <a:ext cx="1966518" cy="584775"/>
          </a:xfrm>
          <a:prstGeom prst="rect">
            <a:avLst/>
          </a:prstGeom>
          <a:noFill/>
        </p:spPr>
        <p:txBody>
          <a:bodyPr wrap="square" rtlCol="0">
            <a:spAutoFit/>
          </a:bodyPr>
          <a:lstStyle/>
          <a:p>
            <a:pPr algn="ctr"/>
            <a:r>
              <a:rPr lang="en-US" sz="1600">
                <a:ea typeface="Amazon Ember" panose="02000000000000000000" pitchFamily="2" charset="0"/>
              </a:rPr>
              <a:t>Amazon RDS DB main instance</a:t>
            </a:r>
          </a:p>
        </p:txBody>
      </p:sp>
      <p:sp>
        <p:nvSpPr>
          <p:cNvPr id="14" name="TextBox 13"/>
          <p:cNvSpPr txBox="1"/>
          <p:nvPr/>
        </p:nvSpPr>
        <p:spPr>
          <a:xfrm>
            <a:off x="3027503" y="2392572"/>
            <a:ext cx="5373587" cy="3108543"/>
          </a:xfrm>
          <a:prstGeom prst="rect">
            <a:avLst/>
          </a:prstGeom>
          <a:noFill/>
        </p:spPr>
        <p:txBody>
          <a:bodyPr wrap="none" rtlCol="0">
            <a:spAutoFit/>
          </a:bodyPr>
          <a:lstStyle/>
          <a:p>
            <a:r>
              <a:rPr lang="en-US" sz="2800">
                <a:solidFill>
                  <a:srgbClr val="504BAB"/>
                </a:solidFill>
                <a:ea typeface="Amazon Ember" panose="02000000000000000000" pitchFamily="2" charset="0"/>
              </a:rPr>
              <a:t>DB Instance Class</a:t>
            </a:r>
          </a:p>
          <a:p>
            <a:pPr marL="285750" indent="-285750">
              <a:buClr>
                <a:srgbClr val="3475B3"/>
              </a:buClr>
              <a:buFont typeface="Arial" panose="020B0604020202020204" pitchFamily="34" charset="0"/>
              <a:buChar char="•"/>
            </a:pPr>
            <a:r>
              <a:rPr lang="en-US" sz="2000">
                <a:ea typeface="Amazon Ember" panose="02000000000000000000" pitchFamily="2" charset="0"/>
              </a:rPr>
              <a:t>CPU</a:t>
            </a:r>
          </a:p>
          <a:p>
            <a:pPr marL="285750" indent="-285750">
              <a:buClr>
                <a:srgbClr val="3475B3"/>
              </a:buClr>
              <a:buFont typeface="Arial" panose="020B0604020202020204" pitchFamily="34" charset="0"/>
              <a:buChar char="•"/>
            </a:pPr>
            <a:r>
              <a:rPr lang="en-US" sz="2000">
                <a:ea typeface="Amazon Ember" panose="02000000000000000000" pitchFamily="2" charset="0"/>
              </a:rPr>
              <a:t>Memory</a:t>
            </a:r>
          </a:p>
          <a:p>
            <a:pPr marL="285750" indent="-285750">
              <a:buClr>
                <a:srgbClr val="3475B3"/>
              </a:buClr>
              <a:buFont typeface="Arial" panose="020B0604020202020204" pitchFamily="34" charset="0"/>
              <a:buChar char="•"/>
            </a:pPr>
            <a:r>
              <a:rPr lang="en-US" sz="2000">
                <a:ea typeface="Amazon Ember" panose="02000000000000000000" pitchFamily="2" charset="0"/>
              </a:rPr>
              <a:t>Network performance</a:t>
            </a:r>
          </a:p>
          <a:p>
            <a:endParaRPr lang="en-US" sz="2000">
              <a:ea typeface="Amazon Ember" panose="02000000000000000000" pitchFamily="2" charset="0"/>
            </a:endParaRPr>
          </a:p>
          <a:p>
            <a:r>
              <a:rPr lang="en-US" sz="2800">
                <a:solidFill>
                  <a:srgbClr val="504BAB"/>
                </a:solidFill>
                <a:ea typeface="Amazon Ember" panose="02000000000000000000" pitchFamily="2" charset="0"/>
              </a:rPr>
              <a:t>DB Instance Storage</a:t>
            </a:r>
          </a:p>
          <a:p>
            <a:pPr marL="285750" indent="-285750">
              <a:buClr>
                <a:srgbClr val="3475B3"/>
              </a:buClr>
              <a:buFont typeface="Arial" panose="020B0604020202020204" pitchFamily="34" charset="0"/>
              <a:buChar char="•"/>
            </a:pPr>
            <a:r>
              <a:rPr lang="en-US" sz="2000">
                <a:ea typeface="Amazon Ember" panose="02000000000000000000" pitchFamily="2" charset="0"/>
              </a:rPr>
              <a:t>Magnetic</a:t>
            </a:r>
          </a:p>
          <a:p>
            <a:pPr marL="285750" indent="-285750">
              <a:buClr>
                <a:srgbClr val="3475B3"/>
              </a:buClr>
              <a:buFont typeface="Arial" panose="020B0604020202020204" pitchFamily="34" charset="0"/>
              <a:buChar char="•"/>
            </a:pPr>
            <a:r>
              <a:rPr lang="en-US" sz="2000">
                <a:ea typeface="Amazon Ember" panose="02000000000000000000" pitchFamily="2" charset="0"/>
              </a:rPr>
              <a:t>General Purpose (solid state drive, or SSD)</a:t>
            </a:r>
          </a:p>
          <a:p>
            <a:pPr marL="285750" indent="-285750">
              <a:buClr>
                <a:srgbClr val="3475B3"/>
              </a:buClr>
              <a:buFont typeface="Arial" panose="020B0604020202020204" pitchFamily="34" charset="0"/>
              <a:buChar char="•"/>
            </a:pPr>
            <a:r>
              <a:rPr lang="en-US" sz="2000">
                <a:ea typeface="Amazon Ember" panose="02000000000000000000" pitchFamily="2" charset="0"/>
              </a:rPr>
              <a:t>Provisioned IOPS</a:t>
            </a:r>
          </a:p>
        </p:txBody>
      </p:sp>
      <p:sp>
        <p:nvSpPr>
          <p:cNvPr id="5" name="Rounded Rectangle 4" descr="The major components of an RDS installation are the DB Instance Class that specifies the type of CPU, amount of memory and network performance. You can select the type of storage the DB instance will use.">
            <a:extLst>
              <a:ext uri="{FF2B5EF4-FFF2-40B4-BE49-F238E27FC236}">
                <a16:creationId xmlns:a16="http://schemas.microsoft.com/office/drawing/2014/main" id="{D29E99A0-59A4-DD43-B628-6B4BE02FD510}"/>
              </a:ext>
            </a:extLst>
          </p:cNvPr>
          <p:cNvSpPr/>
          <p:nvPr/>
        </p:nvSpPr>
        <p:spPr>
          <a:xfrm>
            <a:off x="620677" y="2162147"/>
            <a:ext cx="7732463" cy="3813981"/>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nvGrpSpPr>
          <p:cNvPr id="10" name="Group 9" descr="Amazon RDS supported database engines including MySQL, Amazon Aurora, Microsoft SQL Server, PostgreSQL, MariaDB, and Oracle."/>
          <p:cNvGrpSpPr/>
          <p:nvPr/>
        </p:nvGrpSpPr>
        <p:grpSpPr>
          <a:xfrm>
            <a:off x="8844533" y="1638299"/>
            <a:ext cx="2820465" cy="4484032"/>
            <a:chOff x="8844533" y="1638299"/>
            <a:chExt cx="2820465" cy="4484032"/>
          </a:xfrm>
        </p:grpSpPr>
        <p:sp>
          <p:nvSpPr>
            <p:cNvPr id="29" name="Rectangle 28">
              <a:extLst>
                <a:ext uri="{FF2B5EF4-FFF2-40B4-BE49-F238E27FC236}">
                  <a16:creationId xmlns:a16="http://schemas.microsoft.com/office/drawing/2014/main" id="{CD792260-E20D-D048-9DB0-9B1D4017BF0D}"/>
                </a:ext>
              </a:extLst>
            </p:cNvPr>
            <p:cNvSpPr/>
            <p:nvPr/>
          </p:nvSpPr>
          <p:spPr>
            <a:xfrm>
              <a:off x="8844533" y="1638299"/>
              <a:ext cx="2820465" cy="4044703"/>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a:solidFill>
                    <a:schemeClr val="tx1"/>
                  </a:solidFill>
                </a:rPr>
                <a:t>=</a:t>
              </a:r>
            </a:p>
          </p:txBody>
        </p:sp>
        <p:sp>
          <p:nvSpPr>
            <p:cNvPr id="22" name="TextBox 21" descr="DB Engines"/>
            <p:cNvSpPr txBox="1"/>
            <p:nvPr/>
          </p:nvSpPr>
          <p:spPr>
            <a:xfrm>
              <a:off x="9577336" y="5752999"/>
              <a:ext cx="1354859" cy="369332"/>
            </a:xfrm>
            <a:prstGeom prst="rect">
              <a:avLst/>
            </a:prstGeom>
            <a:noFill/>
          </p:spPr>
          <p:txBody>
            <a:bodyPr wrap="none" rtlCol="0">
              <a:spAutoFit/>
            </a:bodyPr>
            <a:lstStyle/>
            <a:p>
              <a:pPr algn="ctr"/>
              <a:r>
                <a:rPr lang="en-US">
                  <a:latin typeface="Amazon Ember" panose="02000000000000000000" pitchFamily="2" charset="0"/>
                  <a:ea typeface="Amazon Ember" panose="02000000000000000000" pitchFamily="2" charset="0"/>
                </a:rPr>
                <a:t>DB engines</a:t>
              </a:r>
            </a:p>
          </p:txBody>
        </p:sp>
        <p:sp>
          <p:nvSpPr>
            <p:cNvPr id="8" name="TextBox 7"/>
            <p:cNvSpPr txBox="1"/>
            <p:nvPr/>
          </p:nvSpPr>
          <p:spPr>
            <a:xfrm>
              <a:off x="9759277" y="1789515"/>
              <a:ext cx="990977"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MySQL</a:t>
              </a:r>
            </a:p>
          </p:txBody>
        </p:sp>
        <p:sp>
          <p:nvSpPr>
            <p:cNvPr id="25" name="TextBox 24"/>
            <p:cNvSpPr txBox="1"/>
            <p:nvPr/>
          </p:nvSpPr>
          <p:spPr>
            <a:xfrm>
              <a:off x="9288796" y="2445611"/>
              <a:ext cx="1931939"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Amazon Aurora</a:t>
              </a:r>
            </a:p>
          </p:txBody>
        </p:sp>
        <p:sp>
          <p:nvSpPr>
            <p:cNvPr id="26" name="TextBox 25"/>
            <p:cNvSpPr txBox="1"/>
            <p:nvPr/>
          </p:nvSpPr>
          <p:spPr>
            <a:xfrm>
              <a:off x="8978614" y="3101707"/>
              <a:ext cx="2552302"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Microsoft SQL Server</a:t>
              </a:r>
            </a:p>
          </p:txBody>
        </p:sp>
        <p:sp>
          <p:nvSpPr>
            <p:cNvPr id="18" name="TextBox 17"/>
            <p:cNvSpPr txBox="1"/>
            <p:nvPr/>
          </p:nvSpPr>
          <p:spPr>
            <a:xfrm>
              <a:off x="9495583" y="3757803"/>
              <a:ext cx="1518364"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PostgreSQL</a:t>
              </a:r>
            </a:p>
          </p:txBody>
        </p:sp>
        <p:sp>
          <p:nvSpPr>
            <p:cNvPr id="27" name="TextBox 26"/>
            <p:cNvSpPr txBox="1"/>
            <p:nvPr/>
          </p:nvSpPr>
          <p:spPr>
            <a:xfrm>
              <a:off x="9692752" y="4413899"/>
              <a:ext cx="1124026"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MariaDB</a:t>
              </a:r>
            </a:p>
          </p:txBody>
        </p:sp>
        <p:sp>
          <p:nvSpPr>
            <p:cNvPr id="28" name="TextBox 27"/>
            <p:cNvSpPr txBox="1"/>
            <p:nvPr/>
          </p:nvSpPr>
          <p:spPr>
            <a:xfrm>
              <a:off x="9797749" y="5069994"/>
              <a:ext cx="914033" cy="400110"/>
            </a:xfrm>
            <a:prstGeom prst="rect">
              <a:avLst/>
            </a:prstGeom>
            <a:noFill/>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Oracle</a:t>
              </a:r>
            </a:p>
          </p:txBody>
        </p:sp>
      </p:grpSp>
    </p:spTree>
    <p:custDataLst>
      <p:tags r:id="rId1"/>
    </p:custDataLst>
    <p:extLst>
      <p:ext uri="{BB962C8B-B14F-4D97-AF65-F5344CB8AC3E}">
        <p14:creationId xmlns:p14="http://schemas.microsoft.com/office/powerpoint/2010/main" val="3235995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27AAF3-824D-4FD3-B4AB-C904D1275F2B}"/>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56</a:t>
            </a:fld>
            <a:endParaRPr lang="en-US"/>
          </a:p>
        </p:txBody>
      </p:sp>
      <p:sp>
        <p:nvSpPr>
          <p:cNvPr id="3" name="Title 2"/>
          <p:cNvSpPr>
            <a:spLocks noGrp="1"/>
          </p:cNvSpPr>
          <p:nvPr>
            <p:ph type="title"/>
          </p:nvPr>
        </p:nvSpPr>
        <p:spPr/>
        <p:txBody>
          <a:bodyPr>
            <a:normAutofit/>
          </a:bodyPr>
          <a:lstStyle/>
          <a:p>
            <a:r>
              <a:rPr lang="en-US"/>
              <a:t>Amazon RDS in a virtual private cloud (VPC)</a:t>
            </a:r>
          </a:p>
        </p:txBody>
      </p:sp>
      <p:grpSp>
        <p:nvGrpSpPr>
          <p:cNvPr id="35" name="Group 34" descr="Users connecting to EC2 instance in a VPC public subnet through an internet gateway. Amazon RDS in a VPC private subnet.">
            <a:extLst>
              <a:ext uri="{FF2B5EF4-FFF2-40B4-BE49-F238E27FC236}">
                <a16:creationId xmlns:a16="http://schemas.microsoft.com/office/drawing/2014/main" id="{1AD871DF-C593-431C-A022-A528B4569FF4}"/>
              </a:ext>
            </a:extLst>
          </p:cNvPr>
          <p:cNvGrpSpPr/>
          <p:nvPr/>
        </p:nvGrpSpPr>
        <p:grpSpPr>
          <a:xfrm>
            <a:off x="1792551" y="1399290"/>
            <a:ext cx="8606898" cy="4768044"/>
            <a:chOff x="1049683" y="1263105"/>
            <a:chExt cx="8606898" cy="4768044"/>
          </a:xfrm>
        </p:grpSpPr>
        <p:sp>
          <p:nvSpPr>
            <p:cNvPr id="24" name="Rectangle 23">
              <a:extLst>
                <a:ext uri="{FF2B5EF4-FFF2-40B4-BE49-F238E27FC236}">
                  <a16:creationId xmlns:a16="http://schemas.microsoft.com/office/drawing/2014/main" id="{784CE98B-EC4E-49DE-9B7F-D34689EF7A7A}"/>
                </a:ext>
                <a:ext uri="{C183D7F6-B498-43B3-948B-1728B52AA6E4}">
                  <adec:decorative xmlns:adec="http://schemas.microsoft.com/office/drawing/2017/decorative" val="1"/>
                </a:ext>
              </a:extLst>
            </p:cNvPr>
            <p:cNvSpPr/>
            <p:nvPr/>
          </p:nvSpPr>
          <p:spPr>
            <a:xfrm>
              <a:off x="5756337" y="2329492"/>
              <a:ext cx="2987004" cy="146304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a:t>
              </a:r>
            </a:p>
          </p:txBody>
        </p:sp>
        <p:sp>
          <p:nvSpPr>
            <p:cNvPr id="26" name="Rectangle 25">
              <a:extLst>
                <a:ext uri="{FF2B5EF4-FFF2-40B4-BE49-F238E27FC236}">
                  <a16:creationId xmlns:a16="http://schemas.microsoft.com/office/drawing/2014/main" id="{EB243E99-E3D7-45C2-BB63-9CFAF58A58CD}"/>
                </a:ext>
                <a:ext uri="{C183D7F6-B498-43B3-948B-1728B52AA6E4}">
                  <adec:decorative xmlns:adec="http://schemas.microsoft.com/office/drawing/2017/decorative" val="1"/>
                </a:ext>
              </a:extLst>
            </p:cNvPr>
            <p:cNvSpPr/>
            <p:nvPr/>
          </p:nvSpPr>
          <p:spPr>
            <a:xfrm>
              <a:off x="5756337" y="3894438"/>
              <a:ext cx="2987004" cy="146304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11" name="TextBox 10">
              <a:extLst>
                <a:ext uri="{FF2B5EF4-FFF2-40B4-BE49-F238E27FC236}">
                  <a16:creationId xmlns:a16="http://schemas.microsoft.com/office/drawing/2014/main" id="{CB84A054-5BE1-4670-BBB5-C9A48ED5EF93}"/>
                </a:ext>
                <a:ext uri="{C183D7F6-B498-43B3-948B-1728B52AA6E4}">
                  <adec:decorative xmlns:adec="http://schemas.microsoft.com/office/drawing/2017/decorative" val="1"/>
                </a:ext>
              </a:extLst>
            </p:cNvPr>
            <p:cNvSpPr txBox="1"/>
            <p:nvPr/>
          </p:nvSpPr>
          <p:spPr>
            <a:xfrm>
              <a:off x="1049683" y="3308010"/>
              <a:ext cx="1072750" cy="338554"/>
            </a:xfrm>
            <a:prstGeom prst="rect">
              <a:avLst/>
            </a:prstGeom>
            <a:noFill/>
          </p:spPr>
          <p:txBody>
            <a:bodyPr wrap="square" rtlCol="0">
              <a:spAutoFit/>
            </a:bodyPr>
            <a:lstStyle/>
            <a:p>
              <a:pPr algn="ctr"/>
              <a:r>
                <a:rPr lang="en-US" sz="1600">
                  <a:solidFill>
                    <a:srgbClr val="232F3E"/>
                  </a:solidFill>
                </a:rPr>
                <a:t>Users</a:t>
              </a:r>
            </a:p>
          </p:txBody>
        </p:sp>
        <p:sp>
          <p:nvSpPr>
            <p:cNvPr id="12" name="TextBox 11">
              <a:extLst>
                <a:ext uri="{FF2B5EF4-FFF2-40B4-BE49-F238E27FC236}">
                  <a16:creationId xmlns:a16="http://schemas.microsoft.com/office/drawing/2014/main" id="{CE4687B7-6629-4561-83BC-A4E65403DAE9}"/>
                </a:ext>
                <a:ext uri="{C183D7F6-B498-43B3-948B-1728B52AA6E4}">
                  <adec:decorative xmlns:adec="http://schemas.microsoft.com/office/drawing/2017/decorative" val="1"/>
                </a:ext>
              </a:extLst>
            </p:cNvPr>
            <p:cNvSpPr txBox="1"/>
            <p:nvPr/>
          </p:nvSpPr>
          <p:spPr>
            <a:xfrm>
              <a:off x="3264921" y="3162841"/>
              <a:ext cx="1259655" cy="584775"/>
            </a:xfrm>
            <a:prstGeom prst="rect">
              <a:avLst/>
            </a:prstGeom>
            <a:noFill/>
          </p:spPr>
          <p:txBody>
            <a:bodyPr wrap="square" rtlCol="0">
              <a:spAutoFit/>
            </a:bodyPr>
            <a:lstStyle/>
            <a:p>
              <a:pPr algn="ctr"/>
              <a:r>
                <a:rPr lang="en-US" sz="1600"/>
                <a:t>Internet gateway</a:t>
              </a:r>
            </a:p>
          </p:txBody>
        </p:sp>
        <p:sp>
          <p:nvSpPr>
            <p:cNvPr id="7" name="Rectangle 6">
              <a:extLst>
                <a:ext uri="{FF2B5EF4-FFF2-40B4-BE49-F238E27FC236}">
                  <a16:creationId xmlns:a16="http://schemas.microsoft.com/office/drawing/2014/main" id="{76E135B5-1EEC-45C6-95D5-8D0A665A7E40}"/>
                </a:ext>
                <a:ext uri="{C183D7F6-B498-43B3-948B-1728B52AA6E4}">
                  <adec:decorative xmlns:adec="http://schemas.microsoft.com/office/drawing/2017/decorative" val="1"/>
                </a:ext>
              </a:extLst>
            </p:cNvPr>
            <p:cNvSpPr/>
            <p:nvPr/>
          </p:nvSpPr>
          <p:spPr>
            <a:xfrm>
              <a:off x="5022281" y="1500522"/>
              <a:ext cx="4003008" cy="4238797"/>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a:t>
              </a:r>
            </a:p>
          </p:txBody>
        </p:sp>
        <p:pic>
          <p:nvPicPr>
            <p:cNvPr id="10" name="Graphic 9">
              <a:extLst>
                <a:ext uri="{FF2B5EF4-FFF2-40B4-BE49-F238E27FC236}">
                  <a16:creationId xmlns:a16="http://schemas.microsoft.com/office/drawing/2014/main" id="{4F9CAB15-F4A0-4963-A61E-CC77DDF5FAE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344265" y="2833316"/>
              <a:ext cx="483586" cy="469900"/>
            </a:xfrm>
            <a:prstGeom prst="rect">
              <a:avLst/>
            </a:prstGeom>
          </p:spPr>
        </p:pic>
        <p:pic>
          <p:nvPicPr>
            <p:cNvPr id="13" name="Graphic 12">
              <a:extLst>
                <a:ext uri="{FF2B5EF4-FFF2-40B4-BE49-F238E27FC236}">
                  <a16:creationId xmlns:a16="http://schemas.microsoft.com/office/drawing/2014/main" id="{A4A87487-7DCB-457B-81C0-9988F38BA615}"/>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59798" y="2794534"/>
              <a:ext cx="469900" cy="469900"/>
            </a:xfrm>
            <a:prstGeom prst="rect">
              <a:avLst/>
            </a:prstGeom>
          </p:spPr>
        </p:pic>
        <p:sp>
          <p:nvSpPr>
            <p:cNvPr id="14" name="TextBox 13">
              <a:extLst>
                <a:ext uri="{FF2B5EF4-FFF2-40B4-BE49-F238E27FC236}">
                  <a16:creationId xmlns:a16="http://schemas.microsoft.com/office/drawing/2014/main" id="{43790DAF-97A0-41A9-BB35-2AA73AC6423B}"/>
                </a:ext>
                <a:ext uri="{C183D7F6-B498-43B3-948B-1728B52AA6E4}">
                  <adec:decorative xmlns:adec="http://schemas.microsoft.com/office/drawing/2017/decorative" val="1"/>
                </a:ext>
              </a:extLst>
            </p:cNvPr>
            <p:cNvSpPr txBox="1"/>
            <p:nvPr/>
          </p:nvSpPr>
          <p:spPr>
            <a:xfrm>
              <a:off x="6723385" y="4975994"/>
              <a:ext cx="2301904" cy="338554"/>
            </a:xfrm>
            <a:prstGeom prst="rect">
              <a:avLst/>
            </a:prstGeom>
            <a:noFill/>
          </p:spPr>
          <p:txBody>
            <a:bodyPr wrap="square" rtlCol="0">
              <a:spAutoFit/>
            </a:bodyPr>
            <a:lstStyle/>
            <a:p>
              <a:pPr algn="ctr"/>
              <a:r>
                <a:rPr lang="en-US" sz="1600"/>
                <a:t>Amazon RDS</a:t>
              </a:r>
            </a:p>
          </p:txBody>
        </p:sp>
        <p:pic>
          <p:nvPicPr>
            <p:cNvPr id="15" name="Graphic 14">
              <a:extLst>
                <a:ext uri="{FF2B5EF4-FFF2-40B4-BE49-F238E27FC236}">
                  <a16:creationId xmlns:a16="http://schemas.microsoft.com/office/drawing/2014/main" id="{9D364D4C-F103-4C38-BA52-FDE8FFCEB1AD}"/>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18737" y="4281109"/>
              <a:ext cx="711200" cy="711200"/>
            </a:xfrm>
            <a:prstGeom prst="rect">
              <a:avLst/>
            </a:prstGeom>
          </p:spPr>
        </p:pic>
        <p:sp>
          <p:nvSpPr>
            <p:cNvPr id="16" name="TextBox 15">
              <a:extLst>
                <a:ext uri="{FF2B5EF4-FFF2-40B4-BE49-F238E27FC236}">
                  <a16:creationId xmlns:a16="http://schemas.microsoft.com/office/drawing/2014/main" id="{9D6CC597-F1BB-4BB6-BA54-4974ADEC8AAB}"/>
                </a:ext>
                <a:ext uri="{C183D7F6-B498-43B3-948B-1728B52AA6E4}">
                  <adec:decorative xmlns:adec="http://schemas.microsoft.com/office/drawing/2017/decorative" val="1"/>
                </a:ext>
              </a:extLst>
            </p:cNvPr>
            <p:cNvSpPr txBox="1"/>
            <p:nvPr/>
          </p:nvSpPr>
          <p:spPr>
            <a:xfrm>
              <a:off x="7039951" y="3333203"/>
              <a:ext cx="1513305" cy="338554"/>
            </a:xfrm>
            <a:prstGeom prst="rect">
              <a:avLst/>
            </a:prstGeom>
            <a:noFill/>
          </p:spPr>
          <p:txBody>
            <a:bodyPr wrap="square" rtlCol="0">
              <a:spAutoFit/>
            </a:bodyPr>
            <a:lstStyle/>
            <a:p>
              <a:pPr algn="ctr"/>
              <a:r>
                <a:rPr lang="en-US" sz="1600"/>
                <a:t>Amazon EC2</a:t>
              </a:r>
            </a:p>
          </p:txBody>
        </p:sp>
        <p:pic>
          <p:nvPicPr>
            <p:cNvPr id="17" name="Graphic 16">
              <a:extLst>
                <a:ext uri="{FF2B5EF4-FFF2-40B4-BE49-F238E27FC236}">
                  <a16:creationId xmlns:a16="http://schemas.microsoft.com/office/drawing/2014/main" id="{BD85BFC9-F75B-4BB9-BB8D-0808D5E0DCE5}"/>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97982" y="2628084"/>
              <a:ext cx="711200" cy="711200"/>
            </a:xfrm>
            <a:prstGeom prst="rect">
              <a:avLst/>
            </a:prstGeom>
          </p:spPr>
        </p:pic>
        <p:cxnSp>
          <p:nvCxnSpPr>
            <p:cNvPr id="22" name="Straight Arrow Connector 21">
              <a:extLst>
                <a:ext uri="{FF2B5EF4-FFF2-40B4-BE49-F238E27FC236}">
                  <a16:creationId xmlns:a16="http://schemas.microsoft.com/office/drawing/2014/main" id="{4AD8B2DB-CF4F-4F16-9354-07C63DC56C33}"/>
                </a:ext>
                <a:ext uri="{C183D7F6-B498-43B3-948B-1728B52AA6E4}">
                  <adec:decorative xmlns:adec="http://schemas.microsoft.com/office/drawing/2017/decorative" val="1"/>
                </a:ext>
              </a:extLst>
            </p:cNvPr>
            <p:cNvCxnSpPr>
              <a:cxnSpLocks/>
              <a:stCxn id="10" idx="1"/>
              <a:endCxn id="24" idx="1"/>
            </p:cNvCxnSpPr>
            <p:nvPr/>
          </p:nvCxnSpPr>
          <p:spPr>
            <a:xfrm flipV="1">
              <a:off x="1827851" y="3061012"/>
              <a:ext cx="39284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5478E2C2-2ADD-4A6F-98BE-CC46C62ABC3F}"/>
                </a:ext>
                <a:ext uri="{C183D7F6-B498-43B3-948B-1728B52AA6E4}">
                  <adec:decorative xmlns:adec="http://schemas.microsoft.com/office/drawing/2017/decorative" val="1"/>
                </a:ext>
              </a:extLst>
            </p:cNvPr>
            <p:cNvSpPr/>
            <p:nvPr/>
          </p:nvSpPr>
          <p:spPr>
            <a:xfrm>
              <a:off x="3889239" y="2017109"/>
              <a:ext cx="5437762" cy="3547112"/>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a:t>
              </a:r>
              <a:endParaRPr kumimoji="0" lang="en-US" sz="1200" b="0" i="0" u="none" strike="noStrike" kern="0" cap="none" spc="0" normalizeH="0" baseline="0" noProof="0">
                <a:ln w="0"/>
                <a:solidFill>
                  <a:srgbClr val="1D8900"/>
                </a:solidFill>
                <a:effectLst/>
                <a:uLnTx/>
                <a:uFillTx/>
                <a:latin typeface="Arial" panose="020B0604020202020204"/>
                <a:ea typeface="+mn-ea"/>
                <a:cs typeface="+mn-cs"/>
              </a:endParaRPr>
            </a:p>
          </p:txBody>
        </p:sp>
        <p:pic>
          <p:nvPicPr>
            <p:cNvPr id="23" name="Graphic 22">
              <a:extLst>
                <a:ext uri="{FF2B5EF4-FFF2-40B4-BE49-F238E27FC236}">
                  <a16:creationId xmlns:a16="http://schemas.microsoft.com/office/drawing/2014/main" id="{365187D5-F35A-42DE-A031-78B32F82F27D}"/>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889239" y="2017109"/>
              <a:ext cx="457200" cy="457200"/>
            </a:xfrm>
            <a:prstGeom prst="rect">
              <a:avLst/>
            </a:prstGeom>
          </p:spPr>
        </p:pic>
        <p:pic>
          <p:nvPicPr>
            <p:cNvPr id="25" name="Graphic 24">
              <a:extLst>
                <a:ext uri="{FF2B5EF4-FFF2-40B4-BE49-F238E27FC236}">
                  <a16:creationId xmlns:a16="http://schemas.microsoft.com/office/drawing/2014/main" id="{B6D96608-0E9C-4CD3-AEFA-2D603494727A}"/>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56337" y="2327133"/>
              <a:ext cx="457200" cy="457200"/>
            </a:xfrm>
            <a:prstGeom prst="rect">
              <a:avLst/>
            </a:prstGeom>
          </p:spPr>
        </p:pic>
        <p:pic>
          <p:nvPicPr>
            <p:cNvPr id="27" name="Graphic 26">
              <a:extLst>
                <a:ext uri="{FF2B5EF4-FFF2-40B4-BE49-F238E27FC236}">
                  <a16:creationId xmlns:a16="http://schemas.microsoft.com/office/drawing/2014/main" id="{AF74714E-C73E-4151-B10D-A7A3F506B5B2}"/>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756337" y="3892079"/>
              <a:ext cx="457200" cy="457200"/>
            </a:xfrm>
            <a:prstGeom prst="rect">
              <a:avLst/>
            </a:prstGeom>
          </p:spPr>
        </p:pic>
        <p:sp>
          <p:nvSpPr>
            <p:cNvPr id="29" name="Rectangle 28">
              <a:extLst>
                <a:ext uri="{FF2B5EF4-FFF2-40B4-BE49-F238E27FC236}">
                  <a16:creationId xmlns:a16="http://schemas.microsoft.com/office/drawing/2014/main" id="{22279CA6-02AE-48FD-9BAD-15D6DCB4EC90}"/>
                </a:ext>
                <a:ext uri="{C183D7F6-B498-43B3-948B-1728B52AA6E4}">
                  <adec:decorative xmlns:adec="http://schemas.microsoft.com/office/drawing/2017/decorative" val="1"/>
                </a:ext>
              </a:extLst>
            </p:cNvPr>
            <p:cNvSpPr/>
            <p:nvPr/>
          </p:nvSpPr>
          <p:spPr>
            <a:xfrm>
              <a:off x="2535419" y="1263105"/>
              <a:ext cx="7121162" cy="476804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30" name="Graphic 29">
              <a:extLst>
                <a:ext uri="{FF2B5EF4-FFF2-40B4-BE49-F238E27FC236}">
                  <a16:creationId xmlns:a16="http://schemas.microsoft.com/office/drawing/2014/main" id="{D28C2583-A2B4-4920-9E7E-A8ED67FCD980}"/>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535419" y="1263105"/>
              <a:ext cx="457200" cy="457200"/>
            </a:xfrm>
            <a:prstGeom prst="rect">
              <a:avLst/>
            </a:prstGeom>
          </p:spPr>
        </p:pic>
      </p:grpSp>
    </p:spTree>
    <p:custDataLst>
      <p:tags r:id="rId1"/>
    </p:custDataLst>
    <p:extLst>
      <p:ext uri="{BB962C8B-B14F-4D97-AF65-F5344CB8AC3E}">
        <p14:creationId xmlns:p14="http://schemas.microsoft.com/office/powerpoint/2010/main" val="21164036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44BA9E-8842-4295-8C19-DF4EE407FA32}"/>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57</a:t>
            </a:fld>
            <a:endParaRPr lang="en-US"/>
          </a:p>
        </p:txBody>
      </p:sp>
      <p:sp>
        <p:nvSpPr>
          <p:cNvPr id="3" name="Title 2"/>
          <p:cNvSpPr>
            <a:spLocks noGrp="1"/>
          </p:cNvSpPr>
          <p:nvPr>
            <p:ph type="title"/>
          </p:nvPr>
        </p:nvSpPr>
        <p:spPr/>
        <p:txBody>
          <a:bodyPr/>
          <a:lstStyle/>
          <a:p>
            <a:r>
              <a:rPr lang="en-US"/>
              <a:t>High availability with Multi-AZ deployment (1 of 2)</a:t>
            </a:r>
          </a:p>
        </p:txBody>
      </p:sp>
      <p:grpSp>
        <p:nvGrpSpPr>
          <p:cNvPr id="49" name="Group 48" descr="A highly available Amazon RDS installation described in notes.">
            <a:extLst>
              <a:ext uri="{FF2B5EF4-FFF2-40B4-BE49-F238E27FC236}">
                <a16:creationId xmlns:a16="http://schemas.microsoft.com/office/drawing/2014/main" id="{5D4D9B87-9726-4481-94D6-E72B6068257F}"/>
              </a:ext>
            </a:extLst>
          </p:cNvPr>
          <p:cNvGrpSpPr/>
          <p:nvPr/>
        </p:nvGrpSpPr>
        <p:grpSpPr>
          <a:xfrm>
            <a:off x="1074231" y="1285494"/>
            <a:ext cx="10043539" cy="5029200"/>
            <a:chOff x="481788" y="1285494"/>
            <a:chExt cx="10043539" cy="5029200"/>
          </a:xfrm>
        </p:grpSpPr>
        <p:sp>
          <p:nvSpPr>
            <p:cNvPr id="43" name="Rectangle 42">
              <a:extLst>
                <a:ext uri="{FF2B5EF4-FFF2-40B4-BE49-F238E27FC236}">
                  <a16:creationId xmlns:a16="http://schemas.microsoft.com/office/drawing/2014/main" id="{9455F131-57EC-4755-B3DF-3A7FC2512D34}"/>
                </a:ext>
                <a:ext uri="{C183D7F6-B498-43B3-948B-1728B52AA6E4}">
                  <adec:decorative xmlns:adec="http://schemas.microsoft.com/office/drawing/2017/decorative" val="1"/>
                </a:ext>
              </a:extLst>
            </p:cNvPr>
            <p:cNvSpPr/>
            <p:nvPr/>
          </p:nvSpPr>
          <p:spPr>
            <a:xfrm>
              <a:off x="3173417" y="2235275"/>
              <a:ext cx="2834640" cy="17373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a:t>
              </a:r>
            </a:p>
          </p:txBody>
        </p:sp>
        <p:sp>
          <p:nvSpPr>
            <p:cNvPr id="42" name="Rectangle 41">
              <a:extLst>
                <a:ext uri="{FF2B5EF4-FFF2-40B4-BE49-F238E27FC236}">
                  <a16:creationId xmlns:a16="http://schemas.microsoft.com/office/drawing/2014/main" id="{13D1BB49-83FE-4F55-93EA-953CF26F7A53}"/>
                </a:ext>
                <a:ext uri="{C183D7F6-B498-43B3-948B-1728B52AA6E4}">
                  <adec:decorative xmlns:adec="http://schemas.microsoft.com/office/drawing/2017/decorative" val="1"/>
                </a:ext>
              </a:extLst>
            </p:cNvPr>
            <p:cNvSpPr/>
            <p:nvPr/>
          </p:nvSpPr>
          <p:spPr>
            <a:xfrm>
              <a:off x="3190567"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46" name="Rectangle 45">
              <a:extLst>
                <a:ext uri="{FF2B5EF4-FFF2-40B4-BE49-F238E27FC236}">
                  <a16:creationId xmlns:a16="http://schemas.microsoft.com/office/drawing/2014/main" id="{066D2D6A-9803-407D-9702-C746F7FAE4B1}"/>
                </a:ext>
                <a:ext uri="{C183D7F6-B498-43B3-948B-1728B52AA6E4}">
                  <adec:decorative xmlns:adec="http://schemas.microsoft.com/office/drawing/2017/decorative" val="1"/>
                </a:ext>
              </a:extLst>
            </p:cNvPr>
            <p:cNvSpPr/>
            <p:nvPr/>
          </p:nvSpPr>
          <p:spPr>
            <a:xfrm>
              <a:off x="7085626"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7" name="Rectangle 6">
              <a:extLst>
                <a:ext uri="{FF2B5EF4-FFF2-40B4-BE49-F238E27FC236}">
                  <a16:creationId xmlns:a16="http://schemas.microsoft.com/office/drawing/2014/main" id="{CB3BD354-6E27-439B-8FF6-9CF902DE9991}"/>
                </a:ext>
                <a:ext uri="{C183D7F6-B498-43B3-948B-1728B52AA6E4}">
                  <adec:decorative xmlns:adec="http://schemas.microsoft.com/office/drawing/2017/decorative" val="1"/>
                </a:ext>
              </a:extLst>
            </p:cNvPr>
            <p:cNvSpPr/>
            <p:nvPr/>
          </p:nvSpPr>
          <p:spPr>
            <a:xfrm>
              <a:off x="2862940" y="1587224"/>
              <a:ext cx="3291840" cy="457200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1</a:t>
              </a:r>
            </a:p>
          </p:txBody>
        </p:sp>
        <p:sp>
          <p:nvSpPr>
            <p:cNvPr id="13" name="TextBox 12">
              <a:extLst>
                <a:ext uri="{FF2B5EF4-FFF2-40B4-BE49-F238E27FC236}">
                  <a16:creationId xmlns:a16="http://schemas.microsoft.com/office/drawing/2014/main" id="{7F509C97-4039-4E72-A2DB-943EA9C9E3D0}"/>
                </a:ext>
                <a:ext uri="{C183D7F6-B498-43B3-948B-1728B52AA6E4}">
                  <adec:decorative xmlns:adec="http://schemas.microsoft.com/office/drawing/2017/decorative" val="1"/>
                </a:ext>
              </a:extLst>
            </p:cNvPr>
            <p:cNvSpPr txBox="1"/>
            <p:nvPr/>
          </p:nvSpPr>
          <p:spPr>
            <a:xfrm>
              <a:off x="3286732" y="3386065"/>
              <a:ext cx="1513305" cy="338554"/>
            </a:xfrm>
            <a:prstGeom prst="rect">
              <a:avLst/>
            </a:prstGeom>
            <a:noFill/>
          </p:spPr>
          <p:txBody>
            <a:bodyPr wrap="square" rtlCol="0">
              <a:spAutoFit/>
            </a:bodyPr>
            <a:lstStyle/>
            <a:p>
              <a:pPr algn="ctr"/>
              <a:r>
                <a:rPr lang="en-US" sz="1600"/>
                <a:t>Amazon EC2</a:t>
              </a:r>
            </a:p>
          </p:txBody>
        </p:sp>
        <p:pic>
          <p:nvPicPr>
            <p:cNvPr id="14" name="Graphic 13">
              <a:extLst>
                <a:ext uri="{FF2B5EF4-FFF2-40B4-BE49-F238E27FC236}">
                  <a16:creationId xmlns:a16="http://schemas.microsoft.com/office/drawing/2014/main" id="{5EEDF96C-F99E-466A-8D6E-3A7CCEF6D90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58590" y="2794773"/>
              <a:ext cx="483546" cy="483546"/>
            </a:xfrm>
            <a:prstGeom prst="rect">
              <a:avLst/>
            </a:prstGeom>
          </p:spPr>
        </p:pic>
        <p:sp>
          <p:nvSpPr>
            <p:cNvPr id="16" name="Rectangle 15">
              <a:extLst>
                <a:ext uri="{FF2B5EF4-FFF2-40B4-BE49-F238E27FC236}">
                  <a16:creationId xmlns:a16="http://schemas.microsoft.com/office/drawing/2014/main" id="{2E957F3C-F1F2-413F-BBC7-0F5B00301EB1}"/>
                </a:ext>
                <a:ext uri="{C183D7F6-B498-43B3-948B-1728B52AA6E4}">
                  <adec:decorative xmlns:adec="http://schemas.microsoft.com/office/drawing/2017/decorative" val="1"/>
                </a:ext>
              </a:extLst>
            </p:cNvPr>
            <p:cNvSpPr/>
            <p:nvPr/>
          </p:nvSpPr>
          <p:spPr>
            <a:xfrm>
              <a:off x="6797996" y="1587223"/>
              <a:ext cx="3291840" cy="457200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2</a:t>
              </a:r>
            </a:p>
          </p:txBody>
        </p:sp>
        <p:sp>
          <p:nvSpPr>
            <p:cNvPr id="18" name="TextBox 17">
              <a:extLst>
                <a:ext uri="{FF2B5EF4-FFF2-40B4-BE49-F238E27FC236}">
                  <a16:creationId xmlns:a16="http://schemas.microsoft.com/office/drawing/2014/main" id="{2EFA3128-303E-4525-B238-4A89F29D1D90}"/>
                </a:ext>
                <a:ext uri="{C183D7F6-B498-43B3-948B-1728B52AA6E4}">
                  <adec:decorative xmlns:adec="http://schemas.microsoft.com/office/drawing/2017/decorative" val="1"/>
                </a:ext>
              </a:extLst>
            </p:cNvPr>
            <p:cNvSpPr txBox="1"/>
            <p:nvPr/>
          </p:nvSpPr>
          <p:spPr>
            <a:xfrm>
              <a:off x="3499212" y="5010871"/>
              <a:ext cx="1741310" cy="584775"/>
            </a:xfrm>
            <a:prstGeom prst="rect">
              <a:avLst/>
            </a:prstGeom>
            <a:noFill/>
          </p:spPr>
          <p:txBody>
            <a:bodyPr wrap="square" rtlCol="0">
              <a:spAutoFit/>
            </a:bodyPr>
            <a:lstStyle/>
            <a:p>
              <a:pPr algn="ctr"/>
              <a:r>
                <a:rPr lang="en-US" sz="1600"/>
                <a:t>Amazon RDS </a:t>
              </a:r>
            </a:p>
            <a:p>
              <a:pPr algn="ctr"/>
              <a:r>
                <a:rPr lang="en-US" sz="1600"/>
                <a:t>instance</a:t>
              </a:r>
            </a:p>
          </p:txBody>
        </p:sp>
        <p:pic>
          <p:nvPicPr>
            <p:cNvPr id="19" name="Graphic 18">
              <a:extLst>
                <a:ext uri="{FF2B5EF4-FFF2-40B4-BE49-F238E27FC236}">
                  <a16:creationId xmlns:a16="http://schemas.microsoft.com/office/drawing/2014/main" id="{D9934DEB-30C0-46E4-B3A1-69C2379BD26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23114" y="4477337"/>
              <a:ext cx="537998" cy="537998"/>
            </a:xfrm>
            <a:prstGeom prst="rect">
              <a:avLst/>
            </a:prstGeom>
          </p:spPr>
        </p:pic>
        <p:pic>
          <p:nvPicPr>
            <p:cNvPr id="21" name="Graphic 20">
              <a:extLst>
                <a:ext uri="{FF2B5EF4-FFF2-40B4-BE49-F238E27FC236}">
                  <a16:creationId xmlns:a16="http://schemas.microsoft.com/office/drawing/2014/main" id="{00DAF2D9-0409-4462-8A57-BB082492FA5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38924" y="4477337"/>
              <a:ext cx="537998" cy="537998"/>
            </a:xfrm>
            <a:prstGeom prst="rect">
              <a:avLst/>
            </a:prstGeom>
          </p:spPr>
        </p:pic>
        <p:sp>
          <p:nvSpPr>
            <p:cNvPr id="5" name="TextBox 4">
              <a:extLst>
                <a:ext uri="{FF2B5EF4-FFF2-40B4-BE49-F238E27FC236}">
                  <a16:creationId xmlns:a16="http://schemas.microsoft.com/office/drawing/2014/main" id="{44F34524-C9A9-4275-A8FF-EB18D52A4A5C}"/>
                </a:ext>
                <a:ext uri="{C183D7F6-B498-43B3-948B-1728B52AA6E4}">
                  <adec:decorative xmlns:adec="http://schemas.microsoft.com/office/drawing/2017/decorative" val="1"/>
                </a:ext>
              </a:extLst>
            </p:cNvPr>
            <p:cNvSpPr txBox="1"/>
            <p:nvPr/>
          </p:nvSpPr>
          <p:spPr>
            <a:xfrm>
              <a:off x="8230494" y="5115767"/>
              <a:ext cx="1354858" cy="584775"/>
            </a:xfrm>
            <a:prstGeom prst="rect">
              <a:avLst/>
            </a:prstGeom>
            <a:no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RDS Standby</a:t>
              </a:r>
            </a:p>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 instance</a:t>
              </a:r>
            </a:p>
          </p:txBody>
        </p:sp>
        <p:sp>
          <p:nvSpPr>
            <p:cNvPr id="24" name="Arrow: Right 23">
              <a:extLst>
                <a:ext uri="{FF2B5EF4-FFF2-40B4-BE49-F238E27FC236}">
                  <a16:creationId xmlns:a16="http://schemas.microsoft.com/office/drawing/2014/main" id="{3DC49E07-9B0F-423E-B6BD-3CE0BEF4D03E}"/>
                </a:ext>
                <a:ext uri="{C183D7F6-B498-43B3-948B-1728B52AA6E4}">
                  <adec:decorative xmlns:adec="http://schemas.microsoft.com/office/drawing/2017/decorative" val="1"/>
                </a:ext>
              </a:extLst>
            </p:cNvPr>
            <p:cNvSpPr/>
            <p:nvPr/>
          </p:nvSpPr>
          <p:spPr>
            <a:xfrm>
              <a:off x="5892800" y="4593365"/>
              <a:ext cx="1054100" cy="165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098B912-3263-44CA-83A3-7313F1005C65}"/>
                </a:ext>
                <a:ext uri="{C183D7F6-B498-43B3-948B-1728B52AA6E4}">
                  <adec:decorative xmlns:adec="http://schemas.microsoft.com/office/drawing/2017/decorative" val="1"/>
                </a:ext>
              </a:extLst>
            </p:cNvPr>
            <p:cNvSpPr txBox="1"/>
            <p:nvPr/>
          </p:nvSpPr>
          <p:spPr>
            <a:xfrm>
              <a:off x="5744934" y="4720690"/>
              <a:ext cx="1346844"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Synchronous</a:t>
              </a:r>
            </a:p>
          </p:txBody>
        </p:sp>
        <p:sp>
          <p:nvSpPr>
            <p:cNvPr id="27" name="Rectangle: Rounded Corners 26">
              <a:extLst>
                <a:ext uri="{FF2B5EF4-FFF2-40B4-BE49-F238E27FC236}">
                  <a16:creationId xmlns:a16="http://schemas.microsoft.com/office/drawing/2014/main" id="{E2C789F1-5B78-4F51-877D-228065DA0223}"/>
                </a:ext>
                <a:ext uri="{C183D7F6-B498-43B3-948B-1728B52AA6E4}">
                  <adec:decorative xmlns:adec="http://schemas.microsoft.com/office/drawing/2017/decorative" val="1"/>
                </a:ext>
              </a:extLst>
            </p:cNvPr>
            <p:cNvSpPr/>
            <p:nvPr/>
          </p:nvSpPr>
          <p:spPr>
            <a:xfrm>
              <a:off x="5163284" y="2781300"/>
              <a:ext cx="483546" cy="430116"/>
            </a:xfrm>
            <a:prstGeom prst="roundRect">
              <a:avLst/>
            </a:prstGeom>
            <a:solidFill>
              <a:schemeClr val="accent5"/>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B1BE309-3F10-4D67-8B1D-ECD92FC4BF46}"/>
                </a:ext>
                <a:ext uri="{C183D7F6-B498-43B3-948B-1728B52AA6E4}">
                  <adec:decorative xmlns:adec="http://schemas.microsoft.com/office/drawing/2017/decorative" val="1"/>
                </a:ext>
              </a:extLst>
            </p:cNvPr>
            <p:cNvSpPr txBox="1"/>
            <p:nvPr/>
          </p:nvSpPr>
          <p:spPr>
            <a:xfrm>
              <a:off x="4808580" y="3386065"/>
              <a:ext cx="1192955"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cxnSp>
          <p:nvCxnSpPr>
            <p:cNvPr id="31" name="Straight Arrow Connector 30">
              <a:extLst>
                <a:ext uri="{FF2B5EF4-FFF2-40B4-BE49-F238E27FC236}">
                  <a16:creationId xmlns:a16="http://schemas.microsoft.com/office/drawing/2014/main" id="{D0870AC5-D921-482E-9E1D-6FAFCAE81492}"/>
                </a:ext>
                <a:ext uri="{C183D7F6-B498-43B3-948B-1728B52AA6E4}">
                  <adec:decorative xmlns:adec="http://schemas.microsoft.com/office/drawing/2017/decorative" val="1"/>
                </a:ext>
              </a:extLst>
            </p:cNvPr>
            <p:cNvCxnSpPr>
              <a:cxnSpLocks/>
            </p:cNvCxnSpPr>
            <p:nvPr/>
          </p:nvCxnSpPr>
          <p:spPr>
            <a:xfrm>
              <a:off x="5372806" y="3737088"/>
              <a:ext cx="0" cy="629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20BBAAF5-4259-4917-B261-7458F6B6F552}"/>
                </a:ext>
                <a:ext uri="{C183D7F6-B498-43B3-948B-1728B52AA6E4}">
                  <adec:decorative xmlns:adec="http://schemas.microsoft.com/office/drawing/2017/decorative" val="1"/>
                </a:ext>
              </a:extLst>
            </p:cNvPr>
            <p:cNvGrpSpPr/>
            <p:nvPr/>
          </p:nvGrpSpPr>
          <p:grpSpPr>
            <a:xfrm>
              <a:off x="5088722" y="4477337"/>
              <a:ext cx="640080" cy="640080"/>
              <a:chOff x="5173782" y="4434743"/>
              <a:chExt cx="640080" cy="640080"/>
            </a:xfrm>
          </p:grpSpPr>
          <p:pic>
            <p:nvPicPr>
              <p:cNvPr id="22" name="Graphic 21">
                <a:extLst>
                  <a:ext uri="{FF2B5EF4-FFF2-40B4-BE49-F238E27FC236}">
                    <a16:creationId xmlns:a16="http://schemas.microsoft.com/office/drawing/2014/main" id="{6D5691E8-E7FB-4E5E-AA6C-2BAF3953EAE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73782" y="4434743"/>
                <a:ext cx="640080" cy="640080"/>
              </a:xfrm>
              <a:prstGeom prst="rect">
                <a:avLst/>
              </a:prstGeom>
            </p:spPr>
          </p:pic>
          <p:sp>
            <p:nvSpPr>
              <p:cNvPr id="32" name="TextBox 31">
                <a:extLst>
                  <a:ext uri="{FF2B5EF4-FFF2-40B4-BE49-F238E27FC236}">
                    <a16:creationId xmlns:a16="http://schemas.microsoft.com/office/drawing/2014/main" id="{926D40D9-716F-4C28-8B31-02F09D576A6B}"/>
                  </a:ext>
                  <a:ext uri="{C183D7F6-B498-43B3-948B-1728B52AA6E4}">
                    <adec:decorative xmlns:adec="http://schemas.microsoft.com/office/drawing/2017/decorative" val="1"/>
                  </a:ext>
                </a:extLst>
              </p:cNvPr>
              <p:cNvSpPr txBox="1"/>
              <p:nvPr/>
            </p:nvSpPr>
            <p:spPr>
              <a:xfrm>
                <a:off x="5317331" y="4656612"/>
                <a:ext cx="352982" cy="338554"/>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M</a:t>
                </a:r>
              </a:p>
            </p:txBody>
          </p:sp>
        </p:grpSp>
        <p:grpSp>
          <p:nvGrpSpPr>
            <p:cNvPr id="12" name="Group 11">
              <a:extLst>
                <a:ext uri="{FF2B5EF4-FFF2-40B4-BE49-F238E27FC236}">
                  <a16:creationId xmlns:a16="http://schemas.microsoft.com/office/drawing/2014/main" id="{0F00EAFB-55F9-417C-82E1-A0F49531EED2}"/>
                </a:ext>
                <a:ext uri="{C183D7F6-B498-43B3-948B-1728B52AA6E4}">
                  <adec:decorative xmlns:adec="http://schemas.microsoft.com/office/drawing/2017/decorative" val="1"/>
                </a:ext>
              </a:extLst>
            </p:cNvPr>
            <p:cNvGrpSpPr/>
            <p:nvPr/>
          </p:nvGrpSpPr>
          <p:grpSpPr>
            <a:xfrm>
              <a:off x="7497450" y="4477337"/>
              <a:ext cx="640080" cy="640080"/>
              <a:chOff x="7008355" y="4443120"/>
              <a:chExt cx="640080" cy="640080"/>
            </a:xfrm>
          </p:grpSpPr>
          <p:pic>
            <p:nvPicPr>
              <p:cNvPr id="23" name="Graphic 22">
                <a:extLst>
                  <a:ext uri="{FF2B5EF4-FFF2-40B4-BE49-F238E27FC236}">
                    <a16:creationId xmlns:a16="http://schemas.microsoft.com/office/drawing/2014/main" id="{D3624129-F22A-4711-808A-4C7C7E9F0A5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08355" y="4443120"/>
                <a:ext cx="640080" cy="640080"/>
              </a:xfrm>
              <a:prstGeom prst="rect">
                <a:avLst/>
              </a:prstGeom>
            </p:spPr>
          </p:pic>
          <p:sp>
            <p:nvSpPr>
              <p:cNvPr id="34" name="TextBox 33">
                <a:extLst>
                  <a:ext uri="{FF2B5EF4-FFF2-40B4-BE49-F238E27FC236}">
                    <a16:creationId xmlns:a16="http://schemas.microsoft.com/office/drawing/2014/main" id="{7D273392-65A6-45CE-9111-70AEF1348102}"/>
                  </a:ext>
                  <a:ext uri="{C183D7F6-B498-43B3-948B-1728B52AA6E4}">
                    <adec:decorative xmlns:adec="http://schemas.microsoft.com/office/drawing/2017/decorative" val="1"/>
                  </a:ext>
                </a:extLst>
              </p:cNvPr>
              <p:cNvSpPr txBox="1"/>
              <p:nvPr/>
            </p:nvSpPr>
            <p:spPr>
              <a:xfrm>
                <a:off x="7179155" y="4656612"/>
                <a:ext cx="298480"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a:t>
                </a:r>
              </a:p>
            </p:txBody>
          </p:sp>
        </p:grpSp>
        <p:sp>
          <p:nvSpPr>
            <p:cNvPr id="33" name="Rectangle 32">
              <a:extLst>
                <a:ext uri="{FF2B5EF4-FFF2-40B4-BE49-F238E27FC236}">
                  <a16:creationId xmlns:a16="http://schemas.microsoft.com/office/drawing/2014/main" id="{89655387-E100-442B-AD13-CF28670E13FE}"/>
                </a:ext>
                <a:ext uri="{C183D7F6-B498-43B3-948B-1728B52AA6E4}">
                  <adec:decorative xmlns:adec="http://schemas.microsoft.com/office/drawing/2017/decorative" val="1"/>
                </a:ext>
              </a:extLst>
            </p:cNvPr>
            <p:cNvSpPr/>
            <p:nvPr/>
          </p:nvSpPr>
          <p:spPr>
            <a:xfrm>
              <a:off x="481788" y="1285494"/>
              <a:ext cx="10043539" cy="50292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35" name="Graphic 34">
              <a:extLst>
                <a:ext uri="{FF2B5EF4-FFF2-40B4-BE49-F238E27FC236}">
                  <a16:creationId xmlns:a16="http://schemas.microsoft.com/office/drawing/2014/main" id="{17D7D8B7-8BEE-43FA-9AB1-7D5042ABD31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1789" y="1285494"/>
              <a:ext cx="457200" cy="457200"/>
            </a:xfrm>
            <a:prstGeom prst="rect">
              <a:avLst/>
            </a:prstGeom>
          </p:spPr>
        </p:pic>
        <p:pic>
          <p:nvPicPr>
            <p:cNvPr id="36" name="Graphic 35">
              <a:extLst>
                <a:ext uri="{FF2B5EF4-FFF2-40B4-BE49-F238E27FC236}">
                  <a16:creationId xmlns:a16="http://schemas.microsoft.com/office/drawing/2014/main" id="{185D30FF-3222-4893-8462-6AB6AE582253}"/>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799617" y="2026835"/>
              <a:ext cx="457200" cy="457200"/>
            </a:xfrm>
            <a:prstGeom prst="rect">
              <a:avLst/>
            </a:prstGeom>
          </p:spPr>
        </p:pic>
        <p:pic>
          <p:nvPicPr>
            <p:cNvPr id="44" name="Graphic 43">
              <a:extLst>
                <a:ext uri="{FF2B5EF4-FFF2-40B4-BE49-F238E27FC236}">
                  <a16:creationId xmlns:a16="http://schemas.microsoft.com/office/drawing/2014/main" id="{E019D1BE-2568-4D77-824C-AE7D19351FC2}"/>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173417" y="2232916"/>
              <a:ext cx="457200" cy="457200"/>
            </a:xfrm>
            <a:prstGeom prst="rect">
              <a:avLst/>
            </a:prstGeom>
          </p:spPr>
        </p:pic>
        <p:pic>
          <p:nvPicPr>
            <p:cNvPr id="45" name="Graphic 44">
              <a:extLst>
                <a:ext uri="{FF2B5EF4-FFF2-40B4-BE49-F238E27FC236}">
                  <a16:creationId xmlns:a16="http://schemas.microsoft.com/office/drawing/2014/main" id="{3887EBDD-B772-47E7-8B7F-AD34AB0E77B3}"/>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190567" y="4087465"/>
              <a:ext cx="457200" cy="457200"/>
            </a:xfrm>
            <a:prstGeom prst="rect">
              <a:avLst/>
            </a:prstGeom>
          </p:spPr>
        </p:pic>
        <p:pic>
          <p:nvPicPr>
            <p:cNvPr id="47" name="Graphic 46">
              <a:extLst>
                <a:ext uri="{FF2B5EF4-FFF2-40B4-BE49-F238E27FC236}">
                  <a16:creationId xmlns:a16="http://schemas.microsoft.com/office/drawing/2014/main" id="{2E37ACA7-EDB7-4EE4-85B2-27347A464E2C}"/>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85626" y="4087465"/>
              <a:ext cx="457200" cy="457200"/>
            </a:xfrm>
            <a:prstGeom prst="rect">
              <a:avLst/>
            </a:prstGeom>
          </p:spPr>
        </p:pic>
        <p:sp>
          <p:nvSpPr>
            <p:cNvPr id="48" name="Rectangle 47">
              <a:extLst>
                <a:ext uri="{FF2B5EF4-FFF2-40B4-BE49-F238E27FC236}">
                  <a16:creationId xmlns:a16="http://schemas.microsoft.com/office/drawing/2014/main" id="{C500A324-16E2-4EC0-87BA-F36B0282DDEC}"/>
                </a:ext>
                <a:ext uri="{C183D7F6-B498-43B3-948B-1728B52AA6E4}">
                  <adec:decorative xmlns:adec="http://schemas.microsoft.com/office/drawing/2017/decorative" val="1"/>
                </a:ext>
              </a:extLst>
            </p:cNvPr>
            <p:cNvSpPr/>
            <p:nvPr/>
          </p:nvSpPr>
          <p:spPr>
            <a:xfrm>
              <a:off x="1800524" y="2023222"/>
              <a:ext cx="8503920" cy="393123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a:t>
              </a:r>
            </a:p>
          </p:txBody>
        </p:sp>
      </p:grpSp>
    </p:spTree>
    <p:custDataLst>
      <p:tags r:id="rId1"/>
    </p:custDataLst>
    <p:extLst>
      <p:ext uri="{BB962C8B-B14F-4D97-AF65-F5344CB8AC3E}">
        <p14:creationId xmlns:p14="http://schemas.microsoft.com/office/powerpoint/2010/main" val="31999520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44BA9E-8842-4295-8C19-DF4EE407FA32}"/>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58</a:t>
            </a:fld>
            <a:endParaRPr lang="en-US"/>
          </a:p>
        </p:txBody>
      </p:sp>
      <p:sp>
        <p:nvSpPr>
          <p:cNvPr id="3" name="Title 2"/>
          <p:cNvSpPr>
            <a:spLocks noGrp="1"/>
          </p:cNvSpPr>
          <p:nvPr>
            <p:ph type="title"/>
          </p:nvPr>
        </p:nvSpPr>
        <p:spPr/>
        <p:txBody>
          <a:bodyPr/>
          <a:lstStyle/>
          <a:p>
            <a:r>
              <a:rPr lang="en-US"/>
              <a:t>High availability with Multi-AZ deployment (2 of 2)</a:t>
            </a:r>
          </a:p>
        </p:txBody>
      </p:sp>
      <p:grpSp>
        <p:nvGrpSpPr>
          <p:cNvPr id="72" name="Group 71" descr="A highly available Amazon RDS installation with RDS standby instance added.">
            <a:extLst>
              <a:ext uri="{FF2B5EF4-FFF2-40B4-BE49-F238E27FC236}">
                <a16:creationId xmlns:a16="http://schemas.microsoft.com/office/drawing/2014/main" id="{7863E492-8404-4830-BABE-0F046F53C602}"/>
              </a:ext>
            </a:extLst>
          </p:cNvPr>
          <p:cNvGrpSpPr/>
          <p:nvPr/>
        </p:nvGrpSpPr>
        <p:grpSpPr>
          <a:xfrm>
            <a:off x="1074231" y="1285494"/>
            <a:ext cx="10043539" cy="5029200"/>
            <a:chOff x="481788" y="1285494"/>
            <a:chExt cx="10043539" cy="5029200"/>
          </a:xfrm>
        </p:grpSpPr>
        <p:sp>
          <p:nvSpPr>
            <p:cNvPr id="73" name="Rectangle 72">
              <a:extLst>
                <a:ext uri="{FF2B5EF4-FFF2-40B4-BE49-F238E27FC236}">
                  <a16:creationId xmlns:a16="http://schemas.microsoft.com/office/drawing/2014/main" id="{FD391F98-7650-49C7-A14D-AA704B126158}"/>
                </a:ext>
                <a:ext uri="{C183D7F6-B498-43B3-948B-1728B52AA6E4}">
                  <adec:decorative xmlns:adec="http://schemas.microsoft.com/office/drawing/2017/decorative" val="1"/>
                </a:ext>
              </a:extLst>
            </p:cNvPr>
            <p:cNvSpPr/>
            <p:nvPr/>
          </p:nvSpPr>
          <p:spPr>
            <a:xfrm>
              <a:off x="3173417" y="2235275"/>
              <a:ext cx="2834640" cy="173736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a:t>
              </a:r>
            </a:p>
          </p:txBody>
        </p:sp>
        <p:sp>
          <p:nvSpPr>
            <p:cNvPr id="74" name="Rectangle 73">
              <a:extLst>
                <a:ext uri="{FF2B5EF4-FFF2-40B4-BE49-F238E27FC236}">
                  <a16:creationId xmlns:a16="http://schemas.microsoft.com/office/drawing/2014/main" id="{405B6E94-3202-475D-B9AB-86FDE20C6010}"/>
                </a:ext>
                <a:ext uri="{C183D7F6-B498-43B3-948B-1728B52AA6E4}">
                  <adec:decorative xmlns:adec="http://schemas.microsoft.com/office/drawing/2017/decorative" val="1"/>
                </a:ext>
              </a:extLst>
            </p:cNvPr>
            <p:cNvSpPr/>
            <p:nvPr/>
          </p:nvSpPr>
          <p:spPr>
            <a:xfrm>
              <a:off x="3190567"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75" name="Rectangle 74">
              <a:extLst>
                <a:ext uri="{FF2B5EF4-FFF2-40B4-BE49-F238E27FC236}">
                  <a16:creationId xmlns:a16="http://schemas.microsoft.com/office/drawing/2014/main" id="{2DF796BB-1B1D-4FE1-BA0C-D5632B5DAE91}"/>
                </a:ext>
                <a:ext uri="{C183D7F6-B498-43B3-948B-1728B52AA6E4}">
                  <adec:decorative xmlns:adec="http://schemas.microsoft.com/office/drawing/2017/decorative" val="1"/>
                </a:ext>
              </a:extLst>
            </p:cNvPr>
            <p:cNvSpPr/>
            <p:nvPr/>
          </p:nvSpPr>
          <p:spPr>
            <a:xfrm>
              <a:off x="7085626" y="4087465"/>
              <a:ext cx="2834640" cy="173736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76" name="Rectangle 75">
              <a:extLst>
                <a:ext uri="{FF2B5EF4-FFF2-40B4-BE49-F238E27FC236}">
                  <a16:creationId xmlns:a16="http://schemas.microsoft.com/office/drawing/2014/main" id="{321203B5-6250-4B34-8734-07862D1AB425}"/>
                </a:ext>
                <a:ext uri="{C183D7F6-B498-43B3-948B-1728B52AA6E4}">
                  <adec:decorative xmlns:adec="http://schemas.microsoft.com/office/drawing/2017/decorative" val="1"/>
                </a:ext>
              </a:extLst>
            </p:cNvPr>
            <p:cNvSpPr/>
            <p:nvPr/>
          </p:nvSpPr>
          <p:spPr>
            <a:xfrm>
              <a:off x="2862940" y="1587224"/>
              <a:ext cx="3291840" cy="457200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1</a:t>
              </a:r>
            </a:p>
          </p:txBody>
        </p:sp>
        <p:sp>
          <p:nvSpPr>
            <p:cNvPr id="77" name="TextBox 76">
              <a:extLst>
                <a:ext uri="{FF2B5EF4-FFF2-40B4-BE49-F238E27FC236}">
                  <a16:creationId xmlns:a16="http://schemas.microsoft.com/office/drawing/2014/main" id="{3F922F27-7505-4A2D-BE04-3A1C690FED9D}"/>
                </a:ext>
                <a:ext uri="{C183D7F6-B498-43B3-948B-1728B52AA6E4}">
                  <adec:decorative xmlns:adec="http://schemas.microsoft.com/office/drawing/2017/decorative" val="1"/>
                </a:ext>
              </a:extLst>
            </p:cNvPr>
            <p:cNvSpPr txBox="1"/>
            <p:nvPr/>
          </p:nvSpPr>
          <p:spPr>
            <a:xfrm>
              <a:off x="3286732" y="3386065"/>
              <a:ext cx="1513305" cy="338554"/>
            </a:xfrm>
            <a:prstGeom prst="rect">
              <a:avLst/>
            </a:prstGeom>
            <a:noFill/>
          </p:spPr>
          <p:txBody>
            <a:bodyPr wrap="square" rtlCol="0">
              <a:spAutoFit/>
            </a:bodyPr>
            <a:lstStyle/>
            <a:p>
              <a:pPr algn="ctr"/>
              <a:r>
                <a:rPr lang="en-US" sz="1600"/>
                <a:t>Amazon EC2</a:t>
              </a:r>
            </a:p>
          </p:txBody>
        </p:sp>
        <p:pic>
          <p:nvPicPr>
            <p:cNvPr id="78" name="Graphic 77">
              <a:extLst>
                <a:ext uri="{FF2B5EF4-FFF2-40B4-BE49-F238E27FC236}">
                  <a16:creationId xmlns:a16="http://schemas.microsoft.com/office/drawing/2014/main" id="{16C8FD5B-87F9-4933-B830-264D41B166F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58590" y="2794773"/>
              <a:ext cx="483546" cy="483546"/>
            </a:xfrm>
            <a:prstGeom prst="rect">
              <a:avLst/>
            </a:prstGeom>
          </p:spPr>
        </p:pic>
        <p:sp>
          <p:nvSpPr>
            <p:cNvPr id="79" name="Rectangle 78">
              <a:extLst>
                <a:ext uri="{FF2B5EF4-FFF2-40B4-BE49-F238E27FC236}">
                  <a16:creationId xmlns:a16="http://schemas.microsoft.com/office/drawing/2014/main" id="{F35E07FA-66AB-41ED-8CF5-4807288AA2CE}"/>
                </a:ext>
                <a:ext uri="{C183D7F6-B498-43B3-948B-1728B52AA6E4}">
                  <adec:decorative xmlns:adec="http://schemas.microsoft.com/office/drawing/2017/decorative" val="1"/>
                </a:ext>
              </a:extLst>
            </p:cNvPr>
            <p:cNvSpPr/>
            <p:nvPr/>
          </p:nvSpPr>
          <p:spPr>
            <a:xfrm>
              <a:off x="6797996" y="1587223"/>
              <a:ext cx="3291840" cy="4572000"/>
            </a:xfrm>
            <a:prstGeom prst="rect">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2"/>
                  </a:solidFill>
                </a:rPr>
                <a:t>Availability Zone 2</a:t>
              </a:r>
            </a:p>
          </p:txBody>
        </p:sp>
        <p:sp>
          <p:nvSpPr>
            <p:cNvPr id="80" name="TextBox 79">
              <a:extLst>
                <a:ext uri="{FF2B5EF4-FFF2-40B4-BE49-F238E27FC236}">
                  <a16:creationId xmlns:a16="http://schemas.microsoft.com/office/drawing/2014/main" id="{E0567F96-BD1A-45C4-9BC6-91EA8B3C45F2}"/>
                </a:ext>
                <a:ext uri="{C183D7F6-B498-43B3-948B-1728B52AA6E4}">
                  <adec:decorative xmlns:adec="http://schemas.microsoft.com/office/drawing/2017/decorative" val="1"/>
                </a:ext>
              </a:extLst>
            </p:cNvPr>
            <p:cNvSpPr txBox="1"/>
            <p:nvPr/>
          </p:nvSpPr>
          <p:spPr>
            <a:xfrm>
              <a:off x="3499212" y="5010871"/>
              <a:ext cx="1741310" cy="584775"/>
            </a:xfrm>
            <a:prstGeom prst="rect">
              <a:avLst/>
            </a:prstGeom>
            <a:noFill/>
          </p:spPr>
          <p:txBody>
            <a:bodyPr wrap="square" rtlCol="0">
              <a:spAutoFit/>
            </a:bodyPr>
            <a:lstStyle/>
            <a:p>
              <a:pPr algn="ctr"/>
              <a:r>
                <a:rPr lang="en-US" sz="1600"/>
                <a:t>Amazon RDS </a:t>
              </a:r>
            </a:p>
            <a:p>
              <a:pPr algn="ctr"/>
              <a:r>
                <a:rPr lang="en-US" sz="1600"/>
                <a:t>instance</a:t>
              </a:r>
            </a:p>
          </p:txBody>
        </p:sp>
        <p:pic>
          <p:nvPicPr>
            <p:cNvPr id="81" name="Graphic 80">
              <a:extLst>
                <a:ext uri="{FF2B5EF4-FFF2-40B4-BE49-F238E27FC236}">
                  <a16:creationId xmlns:a16="http://schemas.microsoft.com/office/drawing/2014/main" id="{FD25E9E2-5EBA-4FCF-B722-B243EAF12E6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23114" y="4477337"/>
              <a:ext cx="537998" cy="537998"/>
            </a:xfrm>
            <a:prstGeom prst="rect">
              <a:avLst/>
            </a:prstGeom>
          </p:spPr>
        </p:pic>
        <p:pic>
          <p:nvPicPr>
            <p:cNvPr id="82" name="Graphic 81">
              <a:extLst>
                <a:ext uri="{FF2B5EF4-FFF2-40B4-BE49-F238E27FC236}">
                  <a16:creationId xmlns:a16="http://schemas.microsoft.com/office/drawing/2014/main" id="{DEBCD08C-26B9-4520-A018-F5142D5BA1C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38924" y="4477337"/>
              <a:ext cx="537998" cy="537998"/>
            </a:xfrm>
            <a:prstGeom prst="rect">
              <a:avLst/>
            </a:prstGeom>
          </p:spPr>
        </p:pic>
        <p:sp>
          <p:nvSpPr>
            <p:cNvPr id="83" name="TextBox 82">
              <a:extLst>
                <a:ext uri="{FF2B5EF4-FFF2-40B4-BE49-F238E27FC236}">
                  <a16:creationId xmlns:a16="http://schemas.microsoft.com/office/drawing/2014/main" id="{CB2FC539-AF48-45C4-A078-EC1235CC6007}"/>
                </a:ext>
                <a:ext uri="{C183D7F6-B498-43B3-948B-1728B52AA6E4}">
                  <adec:decorative xmlns:adec="http://schemas.microsoft.com/office/drawing/2017/decorative" val="1"/>
                </a:ext>
              </a:extLst>
            </p:cNvPr>
            <p:cNvSpPr txBox="1"/>
            <p:nvPr/>
          </p:nvSpPr>
          <p:spPr>
            <a:xfrm>
              <a:off x="8230494" y="5115767"/>
              <a:ext cx="1354858" cy="584775"/>
            </a:xfrm>
            <a:prstGeom prst="rect">
              <a:avLst/>
            </a:prstGeom>
            <a:noFill/>
          </p:spPr>
          <p:txBody>
            <a:bodyPr wrap="none" rtlCol="0">
              <a:spAutoFit/>
            </a:bodyPr>
            <a:lstStyle/>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RDS Standby</a:t>
              </a:r>
            </a:p>
            <a:p>
              <a:pPr algn="ctr"/>
              <a:r>
                <a:rPr lang="en-US" sz="1600">
                  <a:latin typeface="Amazon Ember Light" panose="020B0403020204020204" pitchFamily="34" charset="0"/>
                  <a:ea typeface="Amazon Ember Light" panose="020B0403020204020204" pitchFamily="34" charset="0"/>
                  <a:cs typeface="Amazon Ember Light" panose="020B0403020204020204" pitchFamily="34" charset="0"/>
                </a:rPr>
                <a:t> instance</a:t>
              </a:r>
            </a:p>
          </p:txBody>
        </p:sp>
        <p:sp>
          <p:nvSpPr>
            <p:cNvPr id="84" name="Arrow: Right 83">
              <a:extLst>
                <a:ext uri="{FF2B5EF4-FFF2-40B4-BE49-F238E27FC236}">
                  <a16:creationId xmlns:a16="http://schemas.microsoft.com/office/drawing/2014/main" id="{52042024-63B8-478D-AFA9-88335DA7D720}"/>
                </a:ext>
                <a:ext uri="{C183D7F6-B498-43B3-948B-1728B52AA6E4}">
                  <adec:decorative xmlns:adec="http://schemas.microsoft.com/office/drawing/2017/decorative" val="1"/>
                </a:ext>
              </a:extLst>
            </p:cNvPr>
            <p:cNvSpPr/>
            <p:nvPr/>
          </p:nvSpPr>
          <p:spPr>
            <a:xfrm>
              <a:off x="5892800" y="4593365"/>
              <a:ext cx="1054100" cy="165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a:extLst>
                <a:ext uri="{FF2B5EF4-FFF2-40B4-BE49-F238E27FC236}">
                  <a16:creationId xmlns:a16="http://schemas.microsoft.com/office/drawing/2014/main" id="{9F6AC5C8-EC03-4198-9A4E-D0C215C89FCD}"/>
                </a:ext>
                <a:ext uri="{C183D7F6-B498-43B3-948B-1728B52AA6E4}">
                  <adec:decorative xmlns:adec="http://schemas.microsoft.com/office/drawing/2017/decorative" val="1"/>
                </a:ext>
              </a:extLst>
            </p:cNvPr>
            <p:cNvSpPr txBox="1"/>
            <p:nvPr/>
          </p:nvSpPr>
          <p:spPr>
            <a:xfrm>
              <a:off x="5744934" y="4720690"/>
              <a:ext cx="1346844"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Synchronous</a:t>
              </a:r>
            </a:p>
          </p:txBody>
        </p:sp>
        <p:sp>
          <p:nvSpPr>
            <p:cNvPr id="86" name="Rectangle: Rounded Corners 85">
              <a:extLst>
                <a:ext uri="{FF2B5EF4-FFF2-40B4-BE49-F238E27FC236}">
                  <a16:creationId xmlns:a16="http://schemas.microsoft.com/office/drawing/2014/main" id="{83225A90-D51E-45A5-BB1C-4A8AD6D8A580}"/>
                </a:ext>
                <a:ext uri="{C183D7F6-B498-43B3-948B-1728B52AA6E4}">
                  <adec:decorative xmlns:adec="http://schemas.microsoft.com/office/drawing/2017/decorative" val="1"/>
                </a:ext>
              </a:extLst>
            </p:cNvPr>
            <p:cNvSpPr/>
            <p:nvPr/>
          </p:nvSpPr>
          <p:spPr>
            <a:xfrm>
              <a:off x="5163284" y="2781300"/>
              <a:ext cx="483546" cy="430116"/>
            </a:xfrm>
            <a:prstGeom prst="roundRect">
              <a:avLst/>
            </a:prstGeom>
            <a:solidFill>
              <a:schemeClr val="accent5"/>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85E66610-0243-4FAC-99CB-CA5CF2035B8E}"/>
                </a:ext>
                <a:ext uri="{C183D7F6-B498-43B3-948B-1728B52AA6E4}">
                  <adec:decorative xmlns:adec="http://schemas.microsoft.com/office/drawing/2017/decorative" val="1"/>
                </a:ext>
              </a:extLst>
            </p:cNvPr>
            <p:cNvSpPr txBox="1"/>
            <p:nvPr/>
          </p:nvSpPr>
          <p:spPr>
            <a:xfrm>
              <a:off x="4808580" y="3386065"/>
              <a:ext cx="1192955"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grpSp>
          <p:nvGrpSpPr>
            <p:cNvPr id="89" name="Group 88">
              <a:extLst>
                <a:ext uri="{FF2B5EF4-FFF2-40B4-BE49-F238E27FC236}">
                  <a16:creationId xmlns:a16="http://schemas.microsoft.com/office/drawing/2014/main" id="{2A1EC45C-80E6-4DAB-87C3-1EC7A74DA832}"/>
                </a:ext>
                <a:ext uri="{C183D7F6-B498-43B3-948B-1728B52AA6E4}">
                  <adec:decorative xmlns:adec="http://schemas.microsoft.com/office/drawing/2017/decorative" val="1"/>
                </a:ext>
              </a:extLst>
            </p:cNvPr>
            <p:cNvGrpSpPr/>
            <p:nvPr/>
          </p:nvGrpSpPr>
          <p:grpSpPr>
            <a:xfrm>
              <a:off x="5088722" y="4477337"/>
              <a:ext cx="640080" cy="640080"/>
              <a:chOff x="5173782" y="4434743"/>
              <a:chExt cx="640080" cy="640080"/>
            </a:xfrm>
          </p:grpSpPr>
          <p:pic>
            <p:nvPicPr>
              <p:cNvPr id="100" name="Graphic 99">
                <a:extLst>
                  <a:ext uri="{FF2B5EF4-FFF2-40B4-BE49-F238E27FC236}">
                    <a16:creationId xmlns:a16="http://schemas.microsoft.com/office/drawing/2014/main" id="{1BEF4BBF-5B49-4193-9EB1-B4D744F9C2CB}"/>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73782" y="4434743"/>
                <a:ext cx="640080" cy="640080"/>
              </a:xfrm>
              <a:prstGeom prst="rect">
                <a:avLst/>
              </a:prstGeom>
            </p:spPr>
          </p:pic>
          <p:sp>
            <p:nvSpPr>
              <p:cNvPr id="101" name="TextBox 100">
                <a:extLst>
                  <a:ext uri="{FF2B5EF4-FFF2-40B4-BE49-F238E27FC236}">
                    <a16:creationId xmlns:a16="http://schemas.microsoft.com/office/drawing/2014/main" id="{935D8027-30BF-487C-AA87-AF73E7227F59}"/>
                  </a:ext>
                  <a:ext uri="{C183D7F6-B498-43B3-948B-1728B52AA6E4}">
                    <adec:decorative xmlns:adec="http://schemas.microsoft.com/office/drawing/2017/decorative" val="1"/>
                  </a:ext>
                </a:extLst>
              </p:cNvPr>
              <p:cNvSpPr txBox="1"/>
              <p:nvPr/>
            </p:nvSpPr>
            <p:spPr>
              <a:xfrm>
                <a:off x="5317331" y="4656612"/>
                <a:ext cx="352982" cy="338554"/>
              </a:xfrm>
              <a:prstGeom prst="rect">
                <a:avLst/>
              </a:prstGeom>
              <a:noFill/>
            </p:spPr>
            <p:txBody>
              <a:bodyPr wrap="squar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M</a:t>
                </a:r>
              </a:p>
            </p:txBody>
          </p:sp>
        </p:grpSp>
        <p:grpSp>
          <p:nvGrpSpPr>
            <p:cNvPr id="90" name="Group 89">
              <a:extLst>
                <a:ext uri="{FF2B5EF4-FFF2-40B4-BE49-F238E27FC236}">
                  <a16:creationId xmlns:a16="http://schemas.microsoft.com/office/drawing/2014/main" id="{4DF481B5-5089-4B8A-B670-86E4273B4FB7}"/>
                </a:ext>
                <a:ext uri="{C183D7F6-B498-43B3-948B-1728B52AA6E4}">
                  <adec:decorative xmlns:adec="http://schemas.microsoft.com/office/drawing/2017/decorative" val="1"/>
                </a:ext>
              </a:extLst>
            </p:cNvPr>
            <p:cNvGrpSpPr/>
            <p:nvPr/>
          </p:nvGrpSpPr>
          <p:grpSpPr>
            <a:xfrm>
              <a:off x="7497450" y="4477337"/>
              <a:ext cx="640080" cy="640080"/>
              <a:chOff x="7008355" y="4443120"/>
              <a:chExt cx="640080" cy="640080"/>
            </a:xfrm>
          </p:grpSpPr>
          <p:pic>
            <p:nvPicPr>
              <p:cNvPr id="98" name="Graphic 97">
                <a:extLst>
                  <a:ext uri="{FF2B5EF4-FFF2-40B4-BE49-F238E27FC236}">
                    <a16:creationId xmlns:a16="http://schemas.microsoft.com/office/drawing/2014/main" id="{63A876FF-6593-443D-AE3E-6F589F3605B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08355" y="4443120"/>
                <a:ext cx="640080" cy="640080"/>
              </a:xfrm>
              <a:prstGeom prst="rect">
                <a:avLst/>
              </a:prstGeom>
            </p:spPr>
          </p:pic>
          <p:sp>
            <p:nvSpPr>
              <p:cNvPr id="99" name="TextBox 98">
                <a:extLst>
                  <a:ext uri="{FF2B5EF4-FFF2-40B4-BE49-F238E27FC236}">
                    <a16:creationId xmlns:a16="http://schemas.microsoft.com/office/drawing/2014/main" id="{86B610C7-4B5C-49DB-8473-ADEF80AD6C0D}"/>
                  </a:ext>
                  <a:ext uri="{C183D7F6-B498-43B3-948B-1728B52AA6E4}">
                    <adec:decorative xmlns:adec="http://schemas.microsoft.com/office/drawing/2017/decorative" val="1"/>
                  </a:ext>
                </a:extLst>
              </p:cNvPr>
              <p:cNvSpPr txBox="1"/>
              <p:nvPr/>
            </p:nvSpPr>
            <p:spPr>
              <a:xfrm>
                <a:off x="7179155" y="4656612"/>
                <a:ext cx="298480"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a:t>
                </a:r>
              </a:p>
            </p:txBody>
          </p:sp>
        </p:grpSp>
        <p:sp>
          <p:nvSpPr>
            <p:cNvPr id="91" name="Rectangle 90">
              <a:extLst>
                <a:ext uri="{FF2B5EF4-FFF2-40B4-BE49-F238E27FC236}">
                  <a16:creationId xmlns:a16="http://schemas.microsoft.com/office/drawing/2014/main" id="{C1CD1D85-BD0B-48DC-B30F-371A7AAA732C}"/>
                </a:ext>
                <a:ext uri="{C183D7F6-B498-43B3-948B-1728B52AA6E4}">
                  <adec:decorative xmlns:adec="http://schemas.microsoft.com/office/drawing/2017/decorative" val="1"/>
                </a:ext>
              </a:extLst>
            </p:cNvPr>
            <p:cNvSpPr/>
            <p:nvPr/>
          </p:nvSpPr>
          <p:spPr>
            <a:xfrm>
              <a:off x="481788" y="1285494"/>
              <a:ext cx="10043539" cy="50292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92" name="Graphic 91">
              <a:extLst>
                <a:ext uri="{FF2B5EF4-FFF2-40B4-BE49-F238E27FC236}">
                  <a16:creationId xmlns:a16="http://schemas.microsoft.com/office/drawing/2014/main" id="{9AF9FB04-BA5E-49A6-8061-E428F129CB04}"/>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1789" y="1285494"/>
              <a:ext cx="457200" cy="457200"/>
            </a:xfrm>
            <a:prstGeom prst="rect">
              <a:avLst/>
            </a:prstGeom>
          </p:spPr>
        </p:pic>
        <p:pic>
          <p:nvPicPr>
            <p:cNvPr id="93" name="Graphic 92">
              <a:extLst>
                <a:ext uri="{FF2B5EF4-FFF2-40B4-BE49-F238E27FC236}">
                  <a16:creationId xmlns:a16="http://schemas.microsoft.com/office/drawing/2014/main" id="{D7EC72BC-3CF5-44F8-A28E-6C871B08B439}"/>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799617" y="2026835"/>
              <a:ext cx="457200" cy="457200"/>
            </a:xfrm>
            <a:prstGeom prst="rect">
              <a:avLst/>
            </a:prstGeom>
          </p:spPr>
        </p:pic>
        <p:pic>
          <p:nvPicPr>
            <p:cNvPr id="94" name="Graphic 93">
              <a:extLst>
                <a:ext uri="{FF2B5EF4-FFF2-40B4-BE49-F238E27FC236}">
                  <a16:creationId xmlns:a16="http://schemas.microsoft.com/office/drawing/2014/main" id="{77DA19CB-5499-420B-8431-5DB628CEAE6C}"/>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173417" y="2232916"/>
              <a:ext cx="457200" cy="457200"/>
            </a:xfrm>
            <a:prstGeom prst="rect">
              <a:avLst/>
            </a:prstGeom>
          </p:spPr>
        </p:pic>
        <p:pic>
          <p:nvPicPr>
            <p:cNvPr id="95" name="Graphic 94">
              <a:extLst>
                <a:ext uri="{FF2B5EF4-FFF2-40B4-BE49-F238E27FC236}">
                  <a16:creationId xmlns:a16="http://schemas.microsoft.com/office/drawing/2014/main" id="{03DB0D71-EE19-48A3-9CAB-99FD3B770AAA}"/>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190567" y="4087465"/>
              <a:ext cx="457200" cy="457200"/>
            </a:xfrm>
            <a:prstGeom prst="rect">
              <a:avLst/>
            </a:prstGeom>
          </p:spPr>
        </p:pic>
        <p:pic>
          <p:nvPicPr>
            <p:cNvPr id="96" name="Graphic 95">
              <a:extLst>
                <a:ext uri="{FF2B5EF4-FFF2-40B4-BE49-F238E27FC236}">
                  <a16:creationId xmlns:a16="http://schemas.microsoft.com/office/drawing/2014/main" id="{39808C51-C401-426E-8DBA-E3CB74B3768F}"/>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85626" y="4087465"/>
              <a:ext cx="457200" cy="457200"/>
            </a:xfrm>
            <a:prstGeom prst="rect">
              <a:avLst/>
            </a:prstGeom>
          </p:spPr>
        </p:pic>
        <p:sp>
          <p:nvSpPr>
            <p:cNvPr id="97" name="Rectangle 96">
              <a:extLst>
                <a:ext uri="{FF2B5EF4-FFF2-40B4-BE49-F238E27FC236}">
                  <a16:creationId xmlns:a16="http://schemas.microsoft.com/office/drawing/2014/main" id="{368E34BC-0016-478D-ACAA-D4CD50491A90}"/>
                </a:ext>
                <a:ext uri="{C183D7F6-B498-43B3-948B-1728B52AA6E4}">
                  <adec:decorative xmlns:adec="http://schemas.microsoft.com/office/drawing/2017/decorative" val="1"/>
                </a:ext>
              </a:extLst>
            </p:cNvPr>
            <p:cNvSpPr/>
            <p:nvPr/>
          </p:nvSpPr>
          <p:spPr>
            <a:xfrm>
              <a:off x="1800524" y="2023222"/>
              <a:ext cx="8503920" cy="3931230"/>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a:t>
              </a:r>
            </a:p>
          </p:txBody>
        </p:sp>
      </p:grpSp>
      <p:cxnSp>
        <p:nvCxnSpPr>
          <p:cNvPr id="7" name="Elbow Connector 6">
            <a:extLst>
              <a:ext uri="{FF2B5EF4-FFF2-40B4-BE49-F238E27FC236}">
                <a16:creationId xmlns:a16="http://schemas.microsoft.com/office/drawing/2014/main" id="{F0C9EF6E-F7B5-0571-1DDE-2A52AE4D9600}"/>
              </a:ext>
              <a:ext uri="{C183D7F6-B498-43B3-948B-1728B52AA6E4}">
                <adec:decorative xmlns:adec="http://schemas.microsoft.com/office/drawing/2017/decorative" val="1"/>
              </a:ext>
            </a:extLst>
          </p:cNvPr>
          <p:cNvCxnSpPr>
            <a:cxnSpLocks/>
          </p:cNvCxnSpPr>
          <p:nvPr/>
        </p:nvCxnSpPr>
        <p:spPr>
          <a:xfrm rot="16200000" flipH="1">
            <a:off x="6507318" y="3214802"/>
            <a:ext cx="1072758" cy="20923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234233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982DF9-58B1-42B3-91FD-F31367E1F07D}"/>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59</a:t>
            </a:fld>
            <a:endParaRPr lang="en-US"/>
          </a:p>
        </p:txBody>
      </p:sp>
      <p:sp>
        <p:nvSpPr>
          <p:cNvPr id="3" name="Title 2"/>
          <p:cNvSpPr>
            <a:spLocks noGrp="1"/>
          </p:cNvSpPr>
          <p:nvPr>
            <p:ph type="title"/>
          </p:nvPr>
        </p:nvSpPr>
        <p:spPr/>
        <p:txBody>
          <a:bodyPr/>
          <a:lstStyle/>
          <a:p>
            <a:r>
              <a:rPr lang="en-US"/>
              <a:t>Amazon RDS read replicas</a:t>
            </a:r>
          </a:p>
        </p:txBody>
      </p:sp>
      <p:sp>
        <p:nvSpPr>
          <p:cNvPr id="5" name="Content Placeholder 4"/>
          <p:cNvSpPr>
            <a:spLocks noGrp="1"/>
          </p:cNvSpPr>
          <p:nvPr>
            <p:ph sz="quarter" idx="21"/>
          </p:nvPr>
        </p:nvSpPr>
        <p:spPr>
          <a:xfrm>
            <a:off x="237744" y="1143000"/>
            <a:ext cx="5934456" cy="4910328"/>
          </a:xfrm>
        </p:spPr>
        <p:txBody>
          <a:bodyPr/>
          <a:lstStyle/>
          <a:p>
            <a:pPr marL="0" indent="0">
              <a:buNone/>
            </a:pPr>
            <a:r>
              <a:rPr lang="en-US" b="1"/>
              <a:t>Features</a:t>
            </a:r>
          </a:p>
          <a:p>
            <a:r>
              <a:rPr lang="en-US"/>
              <a:t>Offers asynchronous replication </a:t>
            </a:r>
          </a:p>
          <a:p>
            <a:r>
              <a:rPr lang="en-US"/>
              <a:t>Can be promoted to primary if needed</a:t>
            </a:r>
          </a:p>
          <a:p>
            <a:pPr marL="0" indent="0">
              <a:buNone/>
            </a:pPr>
            <a:endParaRPr lang="en-US"/>
          </a:p>
          <a:p>
            <a:pPr marL="0" indent="0">
              <a:buNone/>
            </a:pPr>
            <a:r>
              <a:rPr lang="en-US" b="1"/>
              <a:t>Functionality</a:t>
            </a:r>
          </a:p>
          <a:p>
            <a:r>
              <a:rPr lang="en-US"/>
              <a:t>Use for read-heavy database workloads</a:t>
            </a:r>
          </a:p>
          <a:p>
            <a:r>
              <a:rPr lang="en-US"/>
              <a:t>Offload read queries</a:t>
            </a:r>
          </a:p>
        </p:txBody>
      </p:sp>
      <p:grpSp>
        <p:nvGrpSpPr>
          <p:cNvPr id="63" name="Group 62" descr="Amazon RDS instance with read replica in VPC private subnet.">
            <a:extLst>
              <a:ext uri="{FF2B5EF4-FFF2-40B4-BE49-F238E27FC236}">
                <a16:creationId xmlns:a16="http://schemas.microsoft.com/office/drawing/2014/main" id="{DAB7EDA7-FAAE-41ED-9DCD-EE5F3D5811F6}"/>
              </a:ext>
            </a:extLst>
          </p:cNvPr>
          <p:cNvGrpSpPr/>
          <p:nvPr/>
        </p:nvGrpSpPr>
        <p:grpSpPr>
          <a:xfrm>
            <a:off x="5899867" y="1285494"/>
            <a:ext cx="5930383" cy="4943278"/>
            <a:chOff x="5899867" y="1285494"/>
            <a:chExt cx="5930383" cy="4943278"/>
          </a:xfrm>
        </p:grpSpPr>
        <p:sp>
          <p:nvSpPr>
            <p:cNvPr id="49" name="Rectangle 48">
              <a:extLst>
                <a:ext uri="{FF2B5EF4-FFF2-40B4-BE49-F238E27FC236}">
                  <a16:creationId xmlns:a16="http://schemas.microsoft.com/office/drawing/2014/main" id="{9883898F-CE37-4DDA-A5CF-C46C16214581}"/>
                </a:ext>
                <a:ext uri="{C183D7F6-B498-43B3-948B-1728B52AA6E4}">
                  <adec:decorative xmlns:adec="http://schemas.microsoft.com/office/drawing/2017/decorative" val="1"/>
                </a:ext>
              </a:extLst>
            </p:cNvPr>
            <p:cNvSpPr/>
            <p:nvPr/>
          </p:nvSpPr>
          <p:spPr>
            <a:xfrm>
              <a:off x="7426379" y="4012079"/>
              <a:ext cx="3657600" cy="172095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latin typeface="Arial" panose="020B0604020202020204"/>
                  <a:ea typeface="+mn-ea"/>
                  <a:cs typeface="+mn-cs"/>
                </a:rPr>
                <a:t>   Private subnet</a:t>
              </a:r>
            </a:p>
          </p:txBody>
        </p:sp>
        <p:sp>
          <p:nvSpPr>
            <p:cNvPr id="50" name="Rectangle 49">
              <a:extLst>
                <a:ext uri="{FF2B5EF4-FFF2-40B4-BE49-F238E27FC236}">
                  <a16:creationId xmlns:a16="http://schemas.microsoft.com/office/drawing/2014/main" id="{C2DCD6A6-7E5F-47E6-B1D0-4402E826C980}"/>
                </a:ext>
                <a:ext uri="{C183D7F6-B498-43B3-948B-1728B52AA6E4}">
                  <adec:decorative xmlns:adec="http://schemas.microsoft.com/office/drawing/2017/decorative" val="1"/>
                </a:ext>
              </a:extLst>
            </p:cNvPr>
            <p:cNvSpPr/>
            <p:nvPr/>
          </p:nvSpPr>
          <p:spPr>
            <a:xfrm>
              <a:off x="7426378" y="2310870"/>
              <a:ext cx="3657600" cy="155448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rial" panose="020B0604020202020204"/>
                  <a:ea typeface="+mn-ea"/>
                  <a:cs typeface="+mn-cs"/>
                </a:rPr>
                <a:t>   Public subnet</a:t>
              </a:r>
            </a:p>
          </p:txBody>
        </p:sp>
        <p:sp>
          <p:nvSpPr>
            <p:cNvPr id="25" name="Rectangle 24">
              <a:extLst>
                <a:ext uri="{FF2B5EF4-FFF2-40B4-BE49-F238E27FC236}">
                  <a16:creationId xmlns:a16="http://schemas.microsoft.com/office/drawing/2014/main" id="{B23C1165-98D8-43BC-8444-1D1E06F5C4F4}"/>
                </a:ext>
                <a:ext uri="{C183D7F6-B498-43B3-948B-1728B52AA6E4}">
                  <adec:decorative xmlns:adec="http://schemas.microsoft.com/office/drawing/2017/decorative" val="1"/>
                </a:ext>
              </a:extLst>
            </p:cNvPr>
            <p:cNvSpPr/>
            <p:nvPr/>
          </p:nvSpPr>
          <p:spPr>
            <a:xfrm>
              <a:off x="7184979" y="1626946"/>
              <a:ext cx="4106797" cy="436427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a:solidFill>
                    <a:schemeClr val="accent3"/>
                  </a:solidFill>
                </a:rPr>
                <a:t>Availability Zone </a:t>
              </a:r>
            </a:p>
          </p:txBody>
        </p:sp>
        <p:sp>
          <p:nvSpPr>
            <p:cNvPr id="37" name="TextBox 36">
              <a:extLst>
                <a:ext uri="{FF2B5EF4-FFF2-40B4-BE49-F238E27FC236}">
                  <a16:creationId xmlns:a16="http://schemas.microsoft.com/office/drawing/2014/main" id="{6B1D92ED-4F16-4EEC-B3C2-60646E4EAD79}"/>
                </a:ext>
                <a:ext uri="{C183D7F6-B498-43B3-948B-1728B52AA6E4}">
                  <adec:decorative xmlns:adec="http://schemas.microsoft.com/office/drawing/2017/decorative" val="1"/>
                </a:ext>
              </a:extLst>
            </p:cNvPr>
            <p:cNvSpPr txBox="1"/>
            <p:nvPr/>
          </p:nvSpPr>
          <p:spPr>
            <a:xfrm>
              <a:off x="7507637" y="3255197"/>
              <a:ext cx="1513305" cy="338554"/>
            </a:xfrm>
            <a:prstGeom prst="rect">
              <a:avLst/>
            </a:prstGeom>
            <a:noFill/>
          </p:spPr>
          <p:txBody>
            <a:bodyPr wrap="square" rtlCol="0">
              <a:spAutoFit/>
            </a:bodyPr>
            <a:lstStyle/>
            <a:p>
              <a:pPr algn="ctr"/>
              <a:r>
                <a:rPr lang="en-US" sz="1600"/>
                <a:t>Amazon EC2</a:t>
              </a:r>
            </a:p>
          </p:txBody>
        </p:sp>
        <p:pic>
          <p:nvPicPr>
            <p:cNvPr id="38" name="Graphic 37">
              <a:extLst>
                <a:ext uri="{FF2B5EF4-FFF2-40B4-BE49-F238E27FC236}">
                  <a16:creationId xmlns:a16="http://schemas.microsoft.com/office/drawing/2014/main" id="{3DBC4927-EF3A-4716-BDD2-74A159FE966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79495" y="2752243"/>
              <a:ext cx="483546" cy="483546"/>
            </a:xfrm>
            <a:prstGeom prst="rect">
              <a:avLst/>
            </a:prstGeom>
          </p:spPr>
        </p:pic>
        <p:sp>
          <p:nvSpPr>
            <p:cNvPr id="39" name="Rectangle: Rounded Corners 38">
              <a:extLst>
                <a:ext uri="{FF2B5EF4-FFF2-40B4-BE49-F238E27FC236}">
                  <a16:creationId xmlns:a16="http://schemas.microsoft.com/office/drawing/2014/main" id="{6616C4CA-1643-46EC-BF32-AAC7A67DB322}"/>
                </a:ext>
                <a:ext uri="{C183D7F6-B498-43B3-948B-1728B52AA6E4}">
                  <adec:decorative xmlns:adec="http://schemas.microsoft.com/office/drawing/2017/decorative" val="1"/>
                </a:ext>
              </a:extLst>
            </p:cNvPr>
            <p:cNvSpPr/>
            <p:nvPr/>
          </p:nvSpPr>
          <p:spPr>
            <a:xfrm>
              <a:off x="9799237" y="2781300"/>
              <a:ext cx="483546" cy="4301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A318780-AE9A-4373-BC36-CA0E8BFFDE76}"/>
                </a:ext>
                <a:ext uri="{C183D7F6-B498-43B3-948B-1728B52AA6E4}">
                  <adec:decorative xmlns:adec="http://schemas.microsoft.com/office/drawing/2017/decorative" val="1"/>
                </a:ext>
              </a:extLst>
            </p:cNvPr>
            <p:cNvSpPr txBox="1"/>
            <p:nvPr/>
          </p:nvSpPr>
          <p:spPr>
            <a:xfrm>
              <a:off x="9444533" y="3255197"/>
              <a:ext cx="1192955"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sp>
          <p:nvSpPr>
            <p:cNvPr id="43" name="TextBox 42">
              <a:extLst>
                <a:ext uri="{FF2B5EF4-FFF2-40B4-BE49-F238E27FC236}">
                  <a16:creationId xmlns:a16="http://schemas.microsoft.com/office/drawing/2014/main" id="{8BDA0F46-6893-4C2F-9419-E683F32404DF}"/>
                </a:ext>
                <a:ext uri="{C183D7F6-B498-43B3-948B-1728B52AA6E4}">
                  <adec:decorative xmlns:adec="http://schemas.microsoft.com/office/drawing/2017/decorative" val="1"/>
                </a:ext>
              </a:extLst>
            </p:cNvPr>
            <p:cNvSpPr txBox="1"/>
            <p:nvPr/>
          </p:nvSpPr>
          <p:spPr>
            <a:xfrm>
              <a:off x="7756222" y="5138482"/>
              <a:ext cx="1741310" cy="584775"/>
            </a:xfrm>
            <a:prstGeom prst="rect">
              <a:avLst/>
            </a:prstGeom>
            <a:noFill/>
          </p:spPr>
          <p:txBody>
            <a:bodyPr wrap="square" rtlCol="0">
              <a:spAutoFit/>
            </a:bodyPr>
            <a:lstStyle/>
            <a:p>
              <a:pPr algn="ctr"/>
              <a:r>
                <a:rPr lang="en-US" sz="1600"/>
                <a:t>Amazon RDS </a:t>
              </a:r>
            </a:p>
            <a:p>
              <a:pPr algn="ctr"/>
              <a:r>
                <a:rPr lang="en-US" sz="1600"/>
                <a:t>primary instance</a:t>
              </a:r>
            </a:p>
          </p:txBody>
        </p:sp>
        <p:pic>
          <p:nvPicPr>
            <p:cNvPr id="45" name="Graphic 44">
              <a:extLst>
                <a:ext uri="{FF2B5EF4-FFF2-40B4-BE49-F238E27FC236}">
                  <a16:creationId xmlns:a16="http://schemas.microsoft.com/office/drawing/2014/main" id="{856DFFEE-4FFC-4A8C-9F0F-8CD49E494C2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06837" y="4499988"/>
              <a:ext cx="640080" cy="640080"/>
            </a:xfrm>
            <a:prstGeom prst="rect">
              <a:avLst/>
            </a:prstGeom>
          </p:spPr>
        </p:pic>
        <p:sp>
          <p:nvSpPr>
            <p:cNvPr id="15" name="TextBox 14">
              <a:extLst>
                <a:ext uri="{FF2B5EF4-FFF2-40B4-BE49-F238E27FC236}">
                  <a16:creationId xmlns:a16="http://schemas.microsoft.com/office/drawing/2014/main" id="{D93409AD-3DC1-4DB5-AB02-6A1621007926}"/>
                </a:ext>
                <a:ext uri="{C183D7F6-B498-43B3-948B-1728B52AA6E4}">
                  <adec:decorative xmlns:adec="http://schemas.microsoft.com/office/drawing/2017/decorative" val="1"/>
                </a:ext>
              </a:extLst>
            </p:cNvPr>
            <p:cNvSpPr txBox="1"/>
            <p:nvPr/>
          </p:nvSpPr>
          <p:spPr>
            <a:xfrm>
              <a:off x="8488665" y="4627783"/>
              <a:ext cx="261509" cy="523220"/>
            </a:xfrm>
            <a:prstGeom prst="rect">
              <a:avLst/>
            </a:prstGeom>
            <a:noFill/>
          </p:spPr>
          <p:txBody>
            <a:bodyPr wrap="squar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P</a:t>
              </a:r>
            </a:p>
          </p:txBody>
        </p:sp>
        <p:sp>
          <p:nvSpPr>
            <p:cNvPr id="17" name="Arrow: Right 16">
              <a:extLst>
                <a:ext uri="{FF2B5EF4-FFF2-40B4-BE49-F238E27FC236}">
                  <a16:creationId xmlns:a16="http://schemas.microsoft.com/office/drawing/2014/main" id="{37329C6F-081A-48EC-8568-8B51B2D45782}"/>
                </a:ext>
                <a:ext uri="{C183D7F6-B498-43B3-948B-1728B52AA6E4}">
                  <adec:decorative xmlns:adec="http://schemas.microsoft.com/office/drawing/2017/decorative" val="1"/>
                </a:ext>
              </a:extLst>
            </p:cNvPr>
            <p:cNvSpPr/>
            <p:nvPr/>
          </p:nvSpPr>
          <p:spPr>
            <a:xfrm>
              <a:off x="8971489" y="4573013"/>
              <a:ext cx="842684" cy="325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Graphic 45">
              <a:extLst>
                <a:ext uri="{FF2B5EF4-FFF2-40B4-BE49-F238E27FC236}">
                  <a16:creationId xmlns:a16="http://schemas.microsoft.com/office/drawing/2014/main" id="{F8318976-D6DD-44DA-960E-FA758D05E35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05412" y="4490463"/>
              <a:ext cx="640080" cy="640080"/>
            </a:xfrm>
            <a:prstGeom prst="rect">
              <a:avLst/>
            </a:prstGeom>
          </p:spPr>
        </p:pic>
        <p:sp>
          <p:nvSpPr>
            <p:cNvPr id="16" name="TextBox 15">
              <a:extLst>
                <a:ext uri="{FF2B5EF4-FFF2-40B4-BE49-F238E27FC236}">
                  <a16:creationId xmlns:a16="http://schemas.microsoft.com/office/drawing/2014/main" id="{0E157497-D4D7-4516-8609-AED7A9E10952}"/>
                </a:ext>
                <a:ext uri="{C183D7F6-B498-43B3-948B-1728B52AA6E4}">
                  <adec:decorative xmlns:adec="http://schemas.microsoft.com/office/drawing/2017/decorative" val="1"/>
                </a:ext>
              </a:extLst>
            </p:cNvPr>
            <p:cNvSpPr txBox="1"/>
            <p:nvPr/>
          </p:nvSpPr>
          <p:spPr>
            <a:xfrm>
              <a:off x="9927321" y="4593917"/>
              <a:ext cx="396262"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R</a:t>
              </a:r>
            </a:p>
          </p:txBody>
        </p:sp>
        <p:sp>
          <p:nvSpPr>
            <p:cNvPr id="47" name="TextBox 46">
              <a:extLst>
                <a:ext uri="{FF2B5EF4-FFF2-40B4-BE49-F238E27FC236}">
                  <a16:creationId xmlns:a16="http://schemas.microsoft.com/office/drawing/2014/main" id="{44D1DB83-234E-46CD-B618-79B6D53D70E4}"/>
                </a:ext>
                <a:ext uri="{C183D7F6-B498-43B3-948B-1728B52AA6E4}">
                  <adec:decorative xmlns:adec="http://schemas.microsoft.com/office/drawing/2017/decorative" val="1"/>
                </a:ext>
              </a:extLst>
            </p:cNvPr>
            <p:cNvSpPr txBox="1"/>
            <p:nvPr/>
          </p:nvSpPr>
          <p:spPr>
            <a:xfrm>
              <a:off x="9254797" y="5154399"/>
              <a:ext cx="1741310" cy="584775"/>
            </a:xfrm>
            <a:prstGeom prst="rect">
              <a:avLst/>
            </a:prstGeom>
            <a:noFill/>
          </p:spPr>
          <p:txBody>
            <a:bodyPr wrap="square" rtlCol="0">
              <a:spAutoFit/>
            </a:bodyPr>
            <a:lstStyle/>
            <a:p>
              <a:pPr algn="ctr"/>
              <a:r>
                <a:rPr lang="en-US" sz="1600"/>
                <a:t> Read replica </a:t>
              </a:r>
            </a:p>
            <a:p>
              <a:pPr algn="ctr"/>
              <a:r>
                <a:rPr lang="en-US" sz="1600"/>
                <a:t>instance</a:t>
              </a:r>
            </a:p>
          </p:txBody>
        </p:sp>
        <p:cxnSp>
          <p:nvCxnSpPr>
            <p:cNvPr id="52" name="Straight Arrow Connector 51">
              <a:extLst>
                <a:ext uri="{FF2B5EF4-FFF2-40B4-BE49-F238E27FC236}">
                  <a16:creationId xmlns:a16="http://schemas.microsoft.com/office/drawing/2014/main" id="{FD47DE30-5372-41DC-965F-2F61FE26FEAA}"/>
                </a:ext>
                <a:ext uri="{C183D7F6-B498-43B3-948B-1728B52AA6E4}">
                  <adec:decorative xmlns:adec="http://schemas.microsoft.com/office/drawing/2017/decorative" val="1"/>
                </a:ext>
              </a:extLst>
            </p:cNvPr>
            <p:cNvCxnSpPr>
              <a:cxnSpLocks/>
              <a:endCxn id="46" idx="0"/>
            </p:cNvCxnSpPr>
            <p:nvPr/>
          </p:nvCxnSpPr>
          <p:spPr>
            <a:xfrm>
              <a:off x="10125452" y="3593751"/>
              <a:ext cx="0" cy="896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D26A96DB-D251-43C9-B1FD-E2AF8297945E}"/>
                </a:ext>
                <a:ext uri="{C183D7F6-B498-43B3-948B-1728B52AA6E4}">
                  <adec:decorative xmlns:adec="http://schemas.microsoft.com/office/drawing/2017/decorative" val="1"/>
                </a:ext>
              </a:extLst>
            </p:cNvPr>
            <p:cNvSpPr/>
            <p:nvPr/>
          </p:nvSpPr>
          <p:spPr>
            <a:xfrm>
              <a:off x="5899867" y="1285494"/>
              <a:ext cx="5930383" cy="494327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a:solidFill>
                    <a:sysClr val="windowText" lastClr="000000"/>
                  </a:solidFill>
                </a:rPr>
                <a:t> AWS Cloud</a:t>
              </a:r>
            </a:p>
          </p:txBody>
        </p:sp>
        <p:pic>
          <p:nvPicPr>
            <p:cNvPr id="34" name="Graphic 33">
              <a:extLst>
                <a:ext uri="{FF2B5EF4-FFF2-40B4-BE49-F238E27FC236}">
                  <a16:creationId xmlns:a16="http://schemas.microsoft.com/office/drawing/2014/main" id="{26ED7F5A-FC0B-49C7-AB80-0CC09F14632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99868" y="1285494"/>
              <a:ext cx="457200" cy="457200"/>
            </a:xfrm>
            <a:prstGeom prst="rect">
              <a:avLst/>
            </a:prstGeom>
          </p:spPr>
        </p:pic>
        <p:sp>
          <p:nvSpPr>
            <p:cNvPr id="42" name="Rectangle 41">
              <a:extLst>
                <a:ext uri="{FF2B5EF4-FFF2-40B4-BE49-F238E27FC236}">
                  <a16:creationId xmlns:a16="http://schemas.microsoft.com/office/drawing/2014/main" id="{24F6D194-6A18-4725-B874-95CE93F70725}"/>
                </a:ext>
                <a:ext uri="{C183D7F6-B498-43B3-948B-1728B52AA6E4}">
                  <adec:decorative xmlns:adec="http://schemas.microsoft.com/office/drawing/2017/decorative" val="1"/>
                </a:ext>
              </a:extLst>
            </p:cNvPr>
            <p:cNvSpPr/>
            <p:nvPr/>
          </p:nvSpPr>
          <p:spPr>
            <a:xfrm>
              <a:off x="6456682" y="1999932"/>
              <a:ext cx="5090275" cy="3784179"/>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rial" panose="020B0604020202020204"/>
                  <a:ea typeface="+mn-ea"/>
                  <a:cs typeface="+mn-cs"/>
                </a:rPr>
                <a:t>  VPC</a:t>
              </a:r>
            </a:p>
          </p:txBody>
        </p:sp>
        <p:pic>
          <p:nvPicPr>
            <p:cNvPr id="44" name="Graphic 43">
              <a:extLst>
                <a:ext uri="{FF2B5EF4-FFF2-40B4-BE49-F238E27FC236}">
                  <a16:creationId xmlns:a16="http://schemas.microsoft.com/office/drawing/2014/main" id="{67C8948D-6E8A-4072-B69A-DA5A2E9AE5D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56683" y="1999933"/>
              <a:ext cx="457200" cy="457200"/>
            </a:xfrm>
            <a:prstGeom prst="rect">
              <a:avLst/>
            </a:prstGeom>
          </p:spPr>
        </p:pic>
        <p:pic>
          <p:nvPicPr>
            <p:cNvPr id="51" name="Graphic 50">
              <a:extLst>
                <a:ext uri="{FF2B5EF4-FFF2-40B4-BE49-F238E27FC236}">
                  <a16:creationId xmlns:a16="http://schemas.microsoft.com/office/drawing/2014/main" id="{023C3154-C2DF-4028-8A78-6F60860483E9}"/>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26379" y="2308511"/>
              <a:ext cx="457200" cy="457200"/>
            </a:xfrm>
            <a:prstGeom prst="rect">
              <a:avLst/>
            </a:prstGeom>
          </p:spPr>
        </p:pic>
        <p:pic>
          <p:nvPicPr>
            <p:cNvPr id="53" name="Graphic 52">
              <a:extLst>
                <a:ext uri="{FF2B5EF4-FFF2-40B4-BE49-F238E27FC236}">
                  <a16:creationId xmlns:a16="http://schemas.microsoft.com/office/drawing/2014/main" id="{75B4558D-2DCE-40FF-80DB-91CD868767B2}"/>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426379" y="4009720"/>
              <a:ext cx="457200" cy="457200"/>
            </a:xfrm>
            <a:prstGeom prst="rect">
              <a:avLst/>
            </a:prstGeom>
          </p:spPr>
        </p:pic>
      </p:grpSp>
      <p:cxnSp>
        <p:nvCxnSpPr>
          <p:cNvPr id="8" name="Elbow Connector 7">
            <a:extLst>
              <a:ext uri="{FF2B5EF4-FFF2-40B4-BE49-F238E27FC236}">
                <a16:creationId xmlns:a16="http://schemas.microsoft.com/office/drawing/2014/main" id="{D283F7C9-DC54-35E9-47C2-BD46321485DB}"/>
              </a:ext>
              <a:ext uri="{C183D7F6-B498-43B3-948B-1728B52AA6E4}">
                <adec:decorative xmlns:adec="http://schemas.microsoft.com/office/drawing/2017/decorative" val="1"/>
              </a:ext>
            </a:extLst>
          </p:cNvPr>
          <p:cNvCxnSpPr>
            <a:cxnSpLocks/>
            <a:stCxn id="13" idx="2"/>
            <a:endCxn id="45" idx="0"/>
          </p:cNvCxnSpPr>
          <p:nvPr/>
        </p:nvCxnSpPr>
        <p:spPr>
          <a:xfrm rot="5400000">
            <a:off x="8880826" y="3339802"/>
            <a:ext cx="906237" cy="1414134"/>
          </a:xfrm>
          <a:prstGeom prst="bentConnector3">
            <a:avLst>
              <a:gd name="adj1" fmla="val 41591"/>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8882103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58299E-6DCE-4A9B-A578-AE31FF769C2D}"/>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60</a:t>
            </a:fld>
            <a:endParaRPr lang="en-US"/>
          </a:p>
        </p:txBody>
      </p:sp>
      <p:sp>
        <p:nvSpPr>
          <p:cNvPr id="3" name="Title 2"/>
          <p:cNvSpPr>
            <a:spLocks noGrp="1"/>
          </p:cNvSpPr>
          <p:nvPr>
            <p:ph type="title"/>
          </p:nvPr>
        </p:nvSpPr>
        <p:spPr/>
        <p:txBody>
          <a:bodyPr/>
          <a:lstStyle/>
          <a:p>
            <a:r>
              <a:rPr lang="en-US"/>
              <a:t>Use cases</a:t>
            </a:r>
          </a:p>
        </p:txBody>
      </p:sp>
      <p:graphicFrame>
        <p:nvGraphicFramePr>
          <p:cNvPr id="2" name="Table 1" descr="Chart showing three different use cases for RDS: Web and mobile applications, E-commerce applications, and Mobile and online games."/>
          <p:cNvGraphicFramePr>
            <a:graphicFrameLocks noGrp="1"/>
          </p:cNvGraphicFramePr>
          <p:nvPr/>
        </p:nvGraphicFramePr>
        <p:xfrm>
          <a:off x="655092" y="1419368"/>
          <a:ext cx="10698708" cy="5012964"/>
        </p:xfrm>
        <a:graphic>
          <a:graphicData uri="http://schemas.openxmlformats.org/drawingml/2006/table">
            <a:tbl>
              <a:tblPr firstRow="1" bandRow="1">
                <a:tableStyleId>{22838BEF-8BB2-4498-84A7-C5851F593DF1}</a:tableStyleId>
              </a:tblPr>
              <a:tblGrid>
                <a:gridCol w="5349354">
                  <a:extLst>
                    <a:ext uri="{9D8B030D-6E8A-4147-A177-3AD203B41FA5}">
                      <a16:colId xmlns:a16="http://schemas.microsoft.com/office/drawing/2014/main" val="865783742"/>
                    </a:ext>
                  </a:extLst>
                </a:gridCol>
                <a:gridCol w="5349354">
                  <a:extLst>
                    <a:ext uri="{9D8B030D-6E8A-4147-A177-3AD203B41FA5}">
                      <a16:colId xmlns:a16="http://schemas.microsoft.com/office/drawing/2014/main" val="3410874839"/>
                    </a:ext>
                  </a:extLst>
                </a:gridCol>
              </a:tblGrid>
              <a:tr h="1670988">
                <a:tc>
                  <a:txBody>
                    <a:bodyPr/>
                    <a:lstStyle/>
                    <a:p>
                      <a:r>
                        <a:rPr lang="en-US" sz="2800" b="1">
                          <a:latin typeface="Amazon Ember Light" panose="020B0403020204020204" pitchFamily="34" charset="0"/>
                          <a:ea typeface="Amazon Ember Light" panose="020B0403020204020204" pitchFamily="34" charset="0"/>
                          <a:cs typeface="Amazon Ember Light" panose="020B0403020204020204" pitchFamily="34" charset="0"/>
                        </a:rPr>
                        <a:t>Web and mobile applications</a:t>
                      </a:r>
                    </a:p>
                  </a:txBody>
                  <a:tcPr anchor="ctr"/>
                </a:tc>
                <a:tc>
                  <a:txBody>
                    <a:bodyPr/>
                    <a:lstStyle/>
                    <a:p>
                      <a:pPr marL="285750" indent="-285750">
                        <a:buFont typeface="Wingdings" panose="05000000000000000000" pitchFamily="2" charset="2"/>
                        <a:buChar char="ü"/>
                      </a:pPr>
                      <a:r>
                        <a:rPr lang="en-US" sz="2800" b="0">
                          <a:latin typeface="Amazon Ember Light" panose="020B0403020204020204" pitchFamily="34" charset="0"/>
                          <a:ea typeface="Amazon Ember Light" panose="020B0403020204020204" pitchFamily="34" charset="0"/>
                          <a:cs typeface="Amazon Ember Light" panose="020B0403020204020204" pitchFamily="34" charset="0"/>
                        </a:rPr>
                        <a:t> High</a:t>
                      </a:r>
                      <a:r>
                        <a:rPr lang="en-US" sz="2800" b="0" baseline="0">
                          <a:latin typeface="Amazon Ember Light" panose="020B0403020204020204" pitchFamily="34" charset="0"/>
                          <a:ea typeface="Amazon Ember Light" panose="020B0403020204020204" pitchFamily="34" charset="0"/>
                          <a:cs typeface="Amazon Ember Light" panose="020B0403020204020204" pitchFamily="34" charset="0"/>
                        </a:rPr>
                        <a:t> throughput</a:t>
                      </a:r>
                    </a:p>
                    <a:p>
                      <a:pPr marL="285750" indent="-285750">
                        <a:buFont typeface="Wingdings" panose="05000000000000000000" pitchFamily="2" charset="2"/>
                        <a:buChar char="ü"/>
                      </a:pPr>
                      <a:r>
                        <a:rPr lang="en-US" sz="2800" b="0" baseline="0">
                          <a:latin typeface="Amazon Ember Light" panose="020B0403020204020204" pitchFamily="34" charset="0"/>
                          <a:ea typeface="Amazon Ember Light" panose="020B0403020204020204" pitchFamily="34" charset="0"/>
                          <a:cs typeface="Amazon Ember Light" panose="020B0403020204020204" pitchFamily="34" charset="0"/>
                        </a:rPr>
                        <a:t> Massive storage scalability</a:t>
                      </a:r>
                    </a:p>
                    <a:p>
                      <a:pPr marL="285750" indent="-285750">
                        <a:buFont typeface="Wingdings" panose="05000000000000000000" pitchFamily="2" charset="2"/>
                        <a:buChar char="ü"/>
                      </a:pPr>
                      <a:r>
                        <a:rPr lang="en-US" sz="2800" b="0" baseline="0">
                          <a:latin typeface="Amazon Ember Light" panose="020B0403020204020204" pitchFamily="34" charset="0"/>
                          <a:ea typeface="Amazon Ember Light" panose="020B0403020204020204" pitchFamily="34" charset="0"/>
                          <a:cs typeface="Amazon Ember Light" panose="020B0403020204020204" pitchFamily="34" charset="0"/>
                        </a:rPr>
                        <a:t> High availability</a:t>
                      </a:r>
                      <a:endParaRPr lang="en-US" sz="2800" b="0">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extLst>
                  <a:ext uri="{0D108BD9-81ED-4DB2-BD59-A6C34878D82A}">
                    <a16:rowId xmlns:a16="http://schemas.microsoft.com/office/drawing/2014/main" val="1282757818"/>
                  </a:ext>
                </a:extLst>
              </a:tr>
              <a:tr h="1670988">
                <a:tc>
                  <a:txBody>
                    <a:bodyPr/>
                    <a:lstStyle/>
                    <a:p>
                      <a:r>
                        <a:rPr lang="en-US" sz="2800" b="1">
                          <a:latin typeface="Amazon Ember Light" panose="020B0403020204020204" pitchFamily="34" charset="0"/>
                          <a:ea typeface="Amazon Ember Light" panose="020B0403020204020204" pitchFamily="34" charset="0"/>
                          <a:cs typeface="Amazon Ember Light" panose="020B0403020204020204" pitchFamily="34" charset="0"/>
                        </a:rPr>
                        <a:t>Ecommerce applications</a:t>
                      </a:r>
                    </a:p>
                  </a:txBody>
                  <a:tcPr anchor="ctr"/>
                </a:tc>
                <a:tc>
                  <a:txBody>
                    <a:bodyPr/>
                    <a:lstStyle/>
                    <a:p>
                      <a:pPr marL="285750" indent="-285750">
                        <a:buFont typeface="Wingdings" panose="05000000000000000000" pitchFamily="2" charset="2"/>
                        <a:buChar char="ü"/>
                      </a:pP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Low-cost database</a:t>
                      </a:r>
                    </a:p>
                    <a:p>
                      <a:pPr marL="285750" indent="-285750">
                        <a:buFont typeface="Wingdings" panose="05000000000000000000" pitchFamily="2" charset="2"/>
                        <a:buChar char="ü"/>
                      </a:pP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Data security</a:t>
                      </a:r>
                    </a:p>
                    <a:p>
                      <a:pPr marL="285750" indent="-285750">
                        <a:buFont typeface="Wingdings" panose="05000000000000000000" pitchFamily="2" charset="2"/>
                        <a:buChar char="ü"/>
                      </a:pP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Fully managed solution</a:t>
                      </a:r>
                    </a:p>
                  </a:txBody>
                  <a:tcPr anchor="ctr"/>
                </a:tc>
                <a:extLst>
                  <a:ext uri="{0D108BD9-81ED-4DB2-BD59-A6C34878D82A}">
                    <a16:rowId xmlns:a16="http://schemas.microsoft.com/office/drawing/2014/main" val="612607100"/>
                  </a:ext>
                </a:extLst>
              </a:tr>
              <a:tr h="1670988">
                <a:tc>
                  <a:txBody>
                    <a:bodyPr/>
                    <a:lstStyle/>
                    <a:p>
                      <a:r>
                        <a:rPr lang="en-US" sz="2800" b="1">
                          <a:latin typeface="Amazon Ember Light" panose="020B0403020204020204" pitchFamily="34" charset="0"/>
                          <a:ea typeface="Amazon Ember Light" panose="020B0403020204020204" pitchFamily="34" charset="0"/>
                          <a:cs typeface="Amazon Ember Light" panose="020B0403020204020204" pitchFamily="34" charset="0"/>
                        </a:rPr>
                        <a:t>Mobile and online games</a:t>
                      </a:r>
                    </a:p>
                  </a:txBody>
                  <a:tcPr anchor="ctr"/>
                </a:tc>
                <a:tc>
                  <a:txBody>
                    <a:bodyPr/>
                    <a:lstStyle/>
                    <a:p>
                      <a:pPr marL="285750" indent="-285750">
                        <a:buFont typeface="Wingdings" panose="05000000000000000000" pitchFamily="2" charset="2"/>
                        <a:buChar char="ü"/>
                      </a:pP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Rapidly grow capacity</a:t>
                      </a:r>
                    </a:p>
                    <a:p>
                      <a:pPr marL="285750" indent="-285750">
                        <a:buFont typeface="Wingdings" panose="05000000000000000000" pitchFamily="2" charset="2"/>
                        <a:buChar char="ü"/>
                      </a:pP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Automatic scaling</a:t>
                      </a:r>
                    </a:p>
                    <a:p>
                      <a:pPr marL="285750" indent="-285750">
                        <a:buFont typeface="Wingdings" panose="05000000000000000000" pitchFamily="2" charset="2"/>
                        <a:buChar char="ü"/>
                      </a:pPr>
                      <a:r>
                        <a:rPr lang="en-US" sz="2800">
                          <a:latin typeface="Amazon Ember Light" panose="020B0403020204020204" pitchFamily="34" charset="0"/>
                          <a:ea typeface="Amazon Ember Light" panose="020B0403020204020204" pitchFamily="34" charset="0"/>
                          <a:cs typeface="Amazon Ember Light" panose="020B0403020204020204" pitchFamily="34" charset="0"/>
                        </a:rPr>
                        <a:t> Database monitoring</a:t>
                      </a:r>
                    </a:p>
                  </a:txBody>
                  <a:tcPr anchor="ctr"/>
                </a:tc>
                <a:extLst>
                  <a:ext uri="{0D108BD9-81ED-4DB2-BD59-A6C34878D82A}">
                    <a16:rowId xmlns:a16="http://schemas.microsoft.com/office/drawing/2014/main" val="1192883566"/>
                  </a:ext>
                </a:extLst>
              </a:tr>
            </a:tbl>
          </a:graphicData>
        </a:graphic>
      </p:graphicFrame>
    </p:spTree>
    <p:custDataLst>
      <p:tags r:id="rId1"/>
    </p:custDataLst>
    <p:extLst>
      <p:ext uri="{BB962C8B-B14F-4D97-AF65-F5344CB8AC3E}">
        <p14:creationId xmlns:p14="http://schemas.microsoft.com/office/powerpoint/2010/main" val="8527221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A686EEB-3E56-4150-9E5D-F27F3930DC30}"/>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61</a:t>
            </a:fld>
            <a:endParaRPr lang="en-US"/>
          </a:p>
        </p:txBody>
      </p:sp>
      <p:sp>
        <p:nvSpPr>
          <p:cNvPr id="4" name="Title 3"/>
          <p:cNvSpPr>
            <a:spLocks noGrp="1"/>
          </p:cNvSpPr>
          <p:nvPr>
            <p:ph type="title"/>
          </p:nvPr>
        </p:nvSpPr>
        <p:spPr/>
        <p:txBody>
          <a:bodyPr/>
          <a:lstStyle/>
          <a:p>
            <a:r>
              <a:rPr lang="en-US"/>
              <a:t>When to Use Amazon RDS</a:t>
            </a:r>
          </a:p>
        </p:txBody>
      </p:sp>
      <p:sp>
        <p:nvSpPr>
          <p:cNvPr id="2" name="Text Placeholder 1"/>
          <p:cNvSpPr>
            <a:spLocks noGrp="1"/>
          </p:cNvSpPr>
          <p:nvPr>
            <p:ph type="body" sz="quarter" idx="4294967295"/>
          </p:nvPr>
        </p:nvSpPr>
        <p:spPr>
          <a:xfrm>
            <a:off x="329184" y="1200150"/>
            <a:ext cx="5503863" cy="1402948"/>
          </a:xfrm>
        </p:spPr>
        <p:txBody>
          <a:bodyPr wrap="square" anchor="t" anchorCtr="0">
            <a:spAutoFit/>
          </a:bodyPr>
          <a:lstStyle/>
          <a:p>
            <a:pPr marL="0" indent="0">
              <a:buNone/>
            </a:pPr>
            <a:r>
              <a:rPr lang="en-US" sz="2400" b="1">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Use</a:t>
            </a:r>
            <a:r>
              <a:rPr lang="en-US" sz="2400" b="1">
                <a:latin typeface="Amazon Ember" panose="020B0603020204020204" pitchFamily="34" charset="0"/>
                <a:ea typeface="Amazon Ember" panose="020B0603020204020204" pitchFamily="34" charset="0"/>
                <a:cs typeface="Amazon Ember" panose="020B0603020204020204" pitchFamily="34" charset="0"/>
              </a:rPr>
              <a:t> Amazon RDS when your application requires:</a:t>
            </a:r>
          </a:p>
          <a:p>
            <a:endParaRPr lang="en-US" b="1"/>
          </a:p>
        </p:txBody>
      </p:sp>
      <p:sp>
        <p:nvSpPr>
          <p:cNvPr id="3" name="Content Placeholder 2"/>
          <p:cNvSpPr>
            <a:spLocks noGrp="1"/>
          </p:cNvSpPr>
          <p:nvPr>
            <p:ph sz="quarter" idx="21"/>
          </p:nvPr>
        </p:nvSpPr>
        <p:spPr>
          <a:xfrm>
            <a:off x="365760" y="2039112"/>
            <a:ext cx="5504688" cy="4133087"/>
          </a:xfrm>
        </p:spPr>
        <p:txBody>
          <a:bodyPr>
            <a:normAutofit/>
          </a:bodyPr>
          <a:lstStyle/>
          <a:p>
            <a:pPr marL="457200" indent="-457200">
              <a:spcBef>
                <a:spcPts val="1200"/>
              </a:spcBef>
              <a:spcAft>
                <a:spcPts val="800"/>
              </a:spcAft>
            </a:pPr>
            <a:r>
              <a:rPr lang="en-US" sz="2400"/>
              <a:t>Complex transactions or complex queries</a:t>
            </a:r>
          </a:p>
          <a:p>
            <a:pPr marL="457200" indent="-457200">
              <a:spcBef>
                <a:spcPts val="1200"/>
              </a:spcBef>
              <a:spcAft>
                <a:spcPts val="800"/>
              </a:spcAft>
            </a:pPr>
            <a:r>
              <a:rPr lang="en-US" sz="2400"/>
              <a:t>A medium to high query or write rate – Up to 30,000 IOPS (15,000 reads + 15,000 writes)</a:t>
            </a:r>
          </a:p>
          <a:p>
            <a:pPr marL="457200" indent="-457200">
              <a:spcBef>
                <a:spcPts val="1200"/>
              </a:spcBef>
              <a:spcAft>
                <a:spcPts val="800"/>
              </a:spcAft>
            </a:pPr>
            <a:r>
              <a:rPr lang="en-US" sz="2400"/>
              <a:t>No more than a single worker node or shard</a:t>
            </a:r>
          </a:p>
          <a:p>
            <a:pPr marL="457200" indent="-457200">
              <a:spcBef>
                <a:spcPts val="1200"/>
              </a:spcBef>
              <a:spcAft>
                <a:spcPts val="800"/>
              </a:spcAft>
            </a:pPr>
            <a:r>
              <a:rPr lang="en-US" sz="2400"/>
              <a:t>High durability</a:t>
            </a:r>
          </a:p>
        </p:txBody>
      </p:sp>
      <p:sp>
        <p:nvSpPr>
          <p:cNvPr id="5" name="Text Placeholder 4"/>
          <p:cNvSpPr>
            <a:spLocks noGrp="1"/>
          </p:cNvSpPr>
          <p:nvPr>
            <p:ph type="body" sz="quarter" idx="4294967295"/>
          </p:nvPr>
        </p:nvSpPr>
        <p:spPr>
          <a:xfrm>
            <a:off x="6245352" y="1230313"/>
            <a:ext cx="5503862" cy="830997"/>
          </a:xfrm>
        </p:spPr>
        <p:txBody>
          <a:bodyPr anchor="t" anchorCtr="0">
            <a:spAutoFit/>
          </a:bodyPr>
          <a:lstStyle/>
          <a:p>
            <a:r>
              <a:rPr lang="en-US" sz="2400" b="1">
                <a:solidFill>
                  <a:schemeClr val="accent6"/>
                </a:solidFill>
              </a:rPr>
              <a:t>Do not use </a:t>
            </a:r>
            <a:r>
              <a:rPr lang="en-US" sz="2400" b="1"/>
              <a:t>Amazon RDS when your application requires:</a:t>
            </a:r>
          </a:p>
        </p:txBody>
      </p:sp>
      <p:sp>
        <p:nvSpPr>
          <p:cNvPr id="6" name="Content Placeholder 5"/>
          <p:cNvSpPr>
            <a:spLocks noGrp="1"/>
          </p:cNvSpPr>
          <p:nvPr>
            <p:ph idx="4294967295"/>
          </p:nvPr>
        </p:nvSpPr>
        <p:spPr>
          <a:xfrm>
            <a:off x="6245352" y="2041525"/>
            <a:ext cx="5503862" cy="4132263"/>
          </a:xfrm>
        </p:spPr>
        <p:txBody>
          <a:bodyPr vert="horz" lIns="91440" tIns="45720" rIns="91440" bIns="45720" rtlCol="0">
            <a:normAutofit lnSpcReduction="10000"/>
          </a:bodyPr>
          <a:lstStyle/>
          <a:p>
            <a:pPr marL="457200" indent="-457200">
              <a:spcBef>
                <a:spcPts val="1200"/>
              </a:spcBef>
              <a:spcAft>
                <a:spcPts val="800"/>
              </a:spcAft>
            </a:pPr>
            <a:r>
              <a:rPr lang="en-US" sz="2400"/>
              <a:t>Massive read/write rates (for example, 150,000 write/second)</a:t>
            </a:r>
          </a:p>
          <a:p>
            <a:pPr marL="457200" indent="-457200">
              <a:spcBef>
                <a:spcPts val="1200"/>
              </a:spcBef>
              <a:spcAft>
                <a:spcPts val="800"/>
              </a:spcAft>
            </a:pPr>
            <a:r>
              <a:rPr lang="en-US" sz="2400"/>
              <a:t>Sharding due to high data size or throughput demands </a:t>
            </a:r>
          </a:p>
          <a:p>
            <a:pPr marL="457200" indent="-457200">
              <a:spcBef>
                <a:spcPts val="1200"/>
              </a:spcBef>
              <a:spcAft>
                <a:spcPts val="800"/>
              </a:spcAft>
            </a:pPr>
            <a:r>
              <a:rPr lang="en-US" sz="2400"/>
              <a:t>Simple GET or PUT requests and queries that a NoSQL database can handle</a:t>
            </a:r>
          </a:p>
          <a:p>
            <a:pPr marL="457200" indent="-457200">
              <a:spcBef>
                <a:spcPts val="1200"/>
              </a:spcBef>
              <a:spcAft>
                <a:spcPts val="800"/>
              </a:spcAft>
            </a:pPr>
            <a:r>
              <a:rPr lang="en-US" sz="2400"/>
              <a:t>Relational database management system (RDBMS) customization</a:t>
            </a:r>
          </a:p>
        </p:txBody>
      </p:sp>
    </p:spTree>
    <p:custDataLst>
      <p:tags r:id="rId1"/>
    </p:custDataLst>
    <p:extLst>
      <p:ext uri="{BB962C8B-B14F-4D97-AF65-F5344CB8AC3E}">
        <p14:creationId xmlns:p14="http://schemas.microsoft.com/office/powerpoint/2010/main" val="20227017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20"/>
          </p:nvPr>
        </p:nvSpPr>
        <p:spPr>
          <a:xfrm>
            <a:off x="11464495" y="6434750"/>
            <a:ext cx="484261" cy="265176"/>
          </a:xfrm>
        </p:spPr>
        <p:txBody>
          <a:bodyPr/>
          <a:lstStyle/>
          <a:p>
            <a:fld id="{B6A95138-A96E-2F42-A959-2EFD44FE4AB7}" type="slidenum">
              <a:rPr lang="en-US" smtClean="0"/>
              <a:pPr/>
              <a:t>62</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normAutofit/>
          </a:bodyPr>
          <a:lstStyle/>
          <a:p>
            <a:r>
              <a:rPr lang="en-US"/>
              <a:t>Section 1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a:t>With Amazon RDS, you can set up, operate, and scale relational databases in the cloud.</a:t>
            </a:r>
          </a:p>
          <a:p>
            <a:r>
              <a:rPr lang="en-US"/>
              <a:t>Features – </a:t>
            </a:r>
          </a:p>
          <a:p>
            <a:pPr lvl="1"/>
            <a:r>
              <a:rPr lang="en-US" sz="2000"/>
              <a:t>Managed service</a:t>
            </a:r>
          </a:p>
          <a:p>
            <a:pPr lvl="1"/>
            <a:r>
              <a:rPr lang="en-US" sz="2000"/>
              <a:t>Accessible via the console, AWS Command Line Interface (AWS CLI), or application programming interface (API) calls</a:t>
            </a:r>
          </a:p>
          <a:p>
            <a:pPr lvl="1"/>
            <a:r>
              <a:rPr lang="en-US" sz="2000"/>
              <a:t>Scalable (compute and storage)</a:t>
            </a:r>
          </a:p>
          <a:p>
            <a:pPr lvl="1"/>
            <a:r>
              <a:rPr lang="en-US" sz="2000"/>
              <a:t>Automated redundancy and backup are available</a:t>
            </a:r>
          </a:p>
          <a:p>
            <a:pPr lvl="1"/>
            <a:r>
              <a:rPr lang="en-US" sz="2000"/>
              <a:t>Supported database engines:</a:t>
            </a:r>
          </a:p>
          <a:p>
            <a:pPr lvl="2"/>
            <a:r>
              <a:rPr lang="en-US" sz="1600"/>
              <a:t>Amazon Aurora, PostgreSQL, MySQL, MariaDB, Oracle, Microsoft SQL Server</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18050117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t>Module 8: Databases</a:t>
            </a:r>
          </a:p>
        </p:txBody>
      </p:sp>
      <p:sp>
        <p:nvSpPr>
          <p:cNvPr id="2" name="Title 1"/>
          <p:cNvSpPr>
            <a:spLocks noGrp="1"/>
          </p:cNvSpPr>
          <p:nvPr>
            <p:ph type="title"/>
          </p:nvPr>
        </p:nvSpPr>
        <p:spPr/>
        <p:txBody>
          <a:bodyPr>
            <a:noAutofit/>
          </a:bodyPr>
          <a:lstStyle/>
          <a:p>
            <a:r>
              <a:rPr lang="en-US"/>
              <a:t>Section 2: Amazon DynamoDB</a:t>
            </a:r>
          </a:p>
        </p:txBody>
      </p:sp>
    </p:spTree>
    <p:custDataLst>
      <p:tags r:id="rId1"/>
    </p:custDataLst>
    <p:extLst>
      <p:ext uri="{BB962C8B-B14F-4D97-AF65-F5344CB8AC3E}">
        <p14:creationId xmlns:p14="http://schemas.microsoft.com/office/powerpoint/2010/main" val="42413583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897A7CD-E00C-9978-E0A6-3341CA015343}"/>
              </a:ext>
            </a:extLst>
          </p:cNvPr>
          <p:cNvSpPr>
            <a:spLocks noGrp="1"/>
          </p:cNvSpPr>
          <p:nvPr>
            <p:ph type="sldNum" sz="quarter" idx="20"/>
          </p:nvPr>
        </p:nvSpPr>
        <p:spPr/>
        <p:txBody>
          <a:bodyPr/>
          <a:lstStyle/>
          <a:p>
            <a:fld id="{930176A1-BCF0-4712-97A6-6B495F55390B}" type="slidenum">
              <a:rPr lang="en-US" smtClean="0"/>
              <a:pPr/>
              <a:t>64</a:t>
            </a:fld>
            <a:endParaRPr lang="en-US"/>
          </a:p>
        </p:txBody>
      </p:sp>
      <p:sp>
        <p:nvSpPr>
          <p:cNvPr id="2" name="Title 1"/>
          <p:cNvSpPr>
            <a:spLocks noGrp="1"/>
          </p:cNvSpPr>
          <p:nvPr>
            <p:ph type="title"/>
          </p:nvPr>
        </p:nvSpPr>
        <p:spPr/>
        <p:txBody>
          <a:bodyPr/>
          <a:lstStyle/>
          <a:p>
            <a:r>
              <a:rPr lang="en-US" sz="3600"/>
              <a:t>Relational versus non-relational databases</a:t>
            </a:r>
          </a:p>
        </p:txBody>
      </p:sp>
      <p:graphicFrame>
        <p:nvGraphicFramePr>
          <p:cNvPr id="11" name="Content Placeholder 3">
            <a:extLst>
              <a:ext uri="{FF2B5EF4-FFF2-40B4-BE49-F238E27FC236}">
                <a16:creationId xmlns:a16="http://schemas.microsoft.com/office/drawing/2014/main" id="{49FB6F71-8935-41CA-AEA1-A0C657DDF9F7}"/>
              </a:ext>
            </a:extLst>
          </p:cNvPr>
          <p:cNvGraphicFramePr>
            <a:graphicFrameLocks/>
          </p:cNvGraphicFramePr>
          <p:nvPr/>
        </p:nvGraphicFramePr>
        <p:xfrm>
          <a:off x="419100" y="1294124"/>
          <a:ext cx="11404370" cy="5117967"/>
        </p:xfrm>
        <a:graphic>
          <a:graphicData uri="http://schemas.openxmlformats.org/drawingml/2006/table">
            <a:tbl>
              <a:tblPr firstRow="1" bandRow="1">
                <a:tableStyleId>{21E4AEA4-8DFA-4A89-87EB-49C32662AFE0}</a:tableStyleId>
              </a:tblPr>
              <a:tblGrid>
                <a:gridCol w="1773264">
                  <a:extLst>
                    <a:ext uri="{9D8B030D-6E8A-4147-A177-3AD203B41FA5}">
                      <a16:colId xmlns:a16="http://schemas.microsoft.com/office/drawing/2014/main" val="20000"/>
                    </a:ext>
                  </a:extLst>
                </a:gridCol>
                <a:gridCol w="5743725">
                  <a:extLst>
                    <a:ext uri="{9D8B030D-6E8A-4147-A177-3AD203B41FA5}">
                      <a16:colId xmlns:a16="http://schemas.microsoft.com/office/drawing/2014/main" val="20001"/>
                    </a:ext>
                  </a:extLst>
                </a:gridCol>
                <a:gridCol w="3887381">
                  <a:extLst>
                    <a:ext uri="{9D8B030D-6E8A-4147-A177-3AD203B41FA5}">
                      <a16:colId xmlns:a16="http://schemas.microsoft.com/office/drawing/2014/main" val="20002"/>
                    </a:ext>
                  </a:extLst>
                </a:gridCol>
              </a:tblGrid>
              <a:tr h="584033">
                <a:tc>
                  <a:txBody>
                    <a:bodyPr/>
                    <a:lstStyle/>
                    <a:p>
                      <a:endParaRPr lang="en-US" sz="1800" b="1">
                        <a:latin typeface="+mj-lt"/>
                        <a:ea typeface="Amazon Ember" panose="020B0603020204020204" pitchFamily="34" charset="0"/>
                        <a:cs typeface="Amazon Ember" panose="020B0603020204020204" pitchFamily="34" charset="0"/>
                      </a:endParaRPr>
                    </a:p>
                  </a:txBody>
                  <a:tcPr marL="110975" marR="110975" marT="60960" marB="60960" anchor="ctr"/>
                </a:tc>
                <a:tc>
                  <a:txBody>
                    <a:bodyPr/>
                    <a:lstStyle/>
                    <a:p>
                      <a:pPr algn="ctr"/>
                      <a:r>
                        <a:rPr lang="en-US" sz="2400" b="0" u="none">
                          <a:solidFill>
                            <a:schemeClr val="tx1"/>
                          </a:solidFill>
                        </a:rPr>
                        <a:t>Relational</a:t>
                      </a:r>
                      <a:r>
                        <a:rPr lang="en-US" sz="2400" b="0" baseline="0">
                          <a:solidFill>
                            <a:schemeClr val="tx1"/>
                          </a:solidFill>
                        </a:rPr>
                        <a:t> (</a:t>
                      </a:r>
                      <a:r>
                        <a:rPr lang="en-US" sz="2400" b="0" u="none">
                          <a:solidFill>
                            <a:schemeClr val="tx1"/>
                          </a:solidFill>
                        </a:rPr>
                        <a:t>SQL</a:t>
                      </a:r>
                      <a:r>
                        <a:rPr lang="en-US" sz="2400" b="0">
                          <a:solidFill>
                            <a:schemeClr val="tx1"/>
                          </a:solidFill>
                        </a:rPr>
                        <a:t>)</a:t>
                      </a:r>
                      <a:endParaRPr lang="en-US" sz="2400" b="0">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10975" marR="110975" marT="60960" marB="60960" anchor="ctr"/>
                </a:tc>
                <a:tc>
                  <a:txBody>
                    <a:bodyPr/>
                    <a:lstStyle/>
                    <a:p>
                      <a:pPr algn="ctr"/>
                      <a:r>
                        <a:rPr lang="en-US" sz="2400" b="0" u="none">
                          <a:solidFill>
                            <a:schemeClr val="tx1"/>
                          </a:solidFill>
                        </a:rPr>
                        <a:t>Non-Relational</a:t>
                      </a:r>
                      <a:endParaRPr lang="en-US" sz="2400" b="0">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10975" marR="110975" marT="60960" marB="60960" anchor="ctr"/>
                </a:tc>
                <a:extLst>
                  <a:ext uri="{0D108BD9-81ED-4DB2-BD59-A6C34878D82A}">
                    <a16:rowId xmlns:a16="http://schemas.microsoft.com/office/drawing/2014/main" val="10000"/>
                  </a:ext>
                </a:extLst>
              </a:tr>
              <a:tr h="415430">
                <a:tc>
                  <a:txBody>
                    <a:bodyPr/>
                    <a:lstStyle/>
                    <a:p>
                      <a:pPr marL="0" algn="l" defTabSz="457200" rtl="0" eaLnBrk="1" latinLnBrk="0" hangingPunct="1"/>
                      <a:r>
                        <a:rPr lang="en-US" sz="2000" b="0" u="none" kern="1200">
                          <a:solidFill>
                            <a:schemeClr val="tx1"/>
                          </a:solidFill>
                        </a:rPr>
                        <a:t>Data Storage</a:t>
                      </a:r>
                      <a:endParaRPr lang="en-US" sz="2000" b="0" u="none" kern="120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tc>
                <a:tc>
                  <a:txBody>
                    <a:bodyPr/>
                    <a:lstStyle/>
                    <a:p>
                      <a:r>
                        <a:rPr lang="en-US" sz="2000" b="0" u="none">
                          <a:solidFill>
                            <a:srgbClr val="000000"/>
                          </a:solidFill>
                        </a:rPr>
                        <a:t>Rows</a:t>
                      </a:r>
                      <a:r>
                        <a:rPr lang="en-US" sz="2000" b="0" baseline="0"/>
                        <a:t> and </a:t>
                      </a:r>
                      <a:r>
                        <a:rPr lang="en-US" sz="2000" b="0" u="none" baseline="0">
                          <a:solidFill>
                            <a:srgbClr val="000000"/>
                          </a:solidFill>
                        </a:rPr>
                        <a:t>columns</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tc>
                  <a:txBody>
                    <a:bodyPr/>
                    <a:lstStyle/>
                    <a:p>
                      <a:r>
                        <a:rPr lang="en-US" sz="2000" b="0" u="none">
                          <a:solidFill>
                            <a:srgbClr val="000000"/>
                          </a:solidFill>
                        </a:rPr>
                        <a:t>Key-value</a:t>
                      </a:r>
                      <a:r>
                        <a:rPr lang="en-US" sz="2000" b="0"/>
                        <a:t>, document, </a:t>
                      </a:r>
                      <a:r>
                        <a:rPr lang="en-US" sz="2000" b="0" u="none">
                          <a:solidFill>
                            <a:srgbClr val="000000"/>
                          </a:solidFill>
                        </a:rPr>
                        <a:t>graph</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extLst>
                  <a:ext uri="{0D108BD9-81ED-4DB2-BD59-A6C34878D82A}">
                    <a16:rowId xmlns:a16="http://schemas.microsoft.com/office/drawing/2014/main" val="10001"/>
                  </a:ext>
                </a:extLst>
              </a:tr>
              <a:tr h="415430">
                <a:tc>
                  <a:txBody>
                    <a:bodyPr/>
                    <a:lstStyle/>
                    <a:p>
                      <a:pPr marL="0" algn="l" defTabSz="457200" rtl="0" eaLnBrk="1" latinLnBrk="0" hangingPunct="1"/>
                      <a:r>
                        <a:rPr lang="en-US" sz="2000" b="0" u="none" kern="1200">
                          <a:solidFill>
                            <a:schemeClr val="tx1"/>
                          </a:solidFill>
                        </a:rPr>
                        <a:t>Schemas</a:t>
                      </a:r>
                      <a:endParaRPr lang="en-US" sz="2000" b="0" u="none" kern="120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tc>
                <a:tc>
                  <a:txBody>
                    <a:bodyPr/>
                    <a:lstStyle/>
                    <a:p>
                      <a:r>
                        <a:rPr lang="en-US" sz="2000" b="0" u="none">
                          <a:solidFill>
                            <a:srgbClr val="000000"/>
                          </a:solidFill>
                        </a:rPr>
                        <a:t>Fixed</a:t>
                      </a:r>
                      <a:r>
                        <a:rPr lang="en-US" sz="2000" b="0"/>
                        <a:t> </a:t>
                      </a:r>
                      <a:endParaRPr lang="en-US" sz="2000" b="0" i="0">
                        <a:latin typeface="+mn-lt"/>
                        <a:ea typeface="Amazon Ember Light" panose="020B0403020204020204" pitchFamily="34" charset="0"/>
                        <a:cs typeface="Amazon Ember Light" panose="020B0403020204020204" pitchFamily="34" charset="0"/>
                      </a:endParaRPr>
                    </a:p>
                  </a:txBody>
                  <a:tcPr marL="110975" marR="110975" marT="60960" marB="60960" anchor="ctr"/>
                </a:tc>
                <a:tc>
                  <a:txBody>
                    <a:bodyPr/>
                    <a:lstStyle/>
                    <a:p>
                      <a:r>
                        <a:rPr lang="en-US" sz="2000" b="0" u="none">
                          <a:solidFill>
                            <a:srgbClr val="000000"/>
                          </a:solidFill>
                        </a:rPr>
                        <a:t>Dynamic</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extLst>
                  <a:ext uri="{0D108BD9-81ED-4DB2-BD59-A6C34878D82A}">
                    <a16:rowId xmlns:a16="http://schemas.microsoft.com/office/drawing/2014/main" val="10002"/>
                  </a:ext>
                </a:extLst>
              </a:tr>
              <a:tr h="415430">
                <a:tc>
                  <a:txBody>
                    <a:bodyPr/>
                    <a:lstStyle/>
                    <a:p>
                      <a:pPr marL="0" algn="l" defTabSz="457200" rtl="0" eaLnBrk="1" latinLnBrk="0" hangingPunct="1"/>
                      <a:r>
                        <a:rPr lang="en-US" sz="2000" b="0" u="none" kern="1200">
                          <a:solidFill>
                            <a:schemeClr val="tx1"/>
                          </a:solidFill>
                        </a:rPr>
                        <a:t>Querying</a:t>
                      </a:r>
                      <a:endParaRPr lang="en-US" sz="2000" b="0" u="none" kern="120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tc>
                <a:tc>
                  <a:txBody>
                    <a:bodyPr/>
                    <a:lstStyle/>
                    <a:p>
                      <a:r>
                        <a:rPr lang="en-US" sz="2000" b="0" u="none">
                          <a:solidFill>
                            <a:srgbClr val="000000"/>
                          </a:solidFill>
                        </a:rPr>
                        <a:t>Uses</a:t>
                      </a:r>
                      <a:r>
                        <a:rPr lang="en-US" sz="2000" b="0" u="none" baseline="0">
                          <a:solidFill>
                            <a:srgbClr val="000000"/>
                          </a:solidFill>
                        </a:rPr>
                        <a:t> SQL</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tc>
                  <a:txBody>
                    <a:bodyPr/>
                    <a:lstStyle/>
                    <a:p>
                      <a:r>
                        <a:rPr lang="en-US" sz="2000" b="0"/>
                        <a:t>Focuses on collection of documents</a:t>
                      </a:r>
                      <a:endParaRPr lang="en-US" sz="2000" b="0" i="0">
                        <a:latin typeface="+mn-lt"/>
                        <a:ea typeface="Amazon Ember Light" panose="020B0403020204020204" pitchFamily="34" charset="0"/>
                        <a:cs typeface="Amazon Ember Light" panose="020B0403020204020204" pitchFamily="34" charset="0"/>
                      </a:endParaRPr>
                    </a:p>
                  </a:txBody>
                  <a:tcPr marL="110975" marR="110975" marT="60960" marB="60960" anchor="ctr"/>
                </a:tc>
                <a:extLst>
                  <a:ext uri="{0D108BD9-81ED-4DB2-BD59-A6C34878D82A}">
                    <a16:rowId xmlns:a16="http://schemas.microsoft.com/office/drawing/2014/main" val="10003"/>
                  </a:ext>
                </a:extLst>
              </a:tr>
              <a:tr h="415430">
                <a:tc>
                  <a:txBody>
                    <a:bodyPr/>
                    <a:lstStyle/>
                    <a:p>
                      <a:pPr marL="0" algn="l" defTabSz="457200" rtl="0" eaLnBrk="1" latinLnBrk="0" hangingPunct="1"/>
                      <a:r>
                        <a:rPr lang="en-US" sz="2000" b="0" u="none" kern="1200">
                          <a:solidFill>
                            <a:schemeClr val="tx1"/>
                          </a:solidFill>
                        </a:rPr>
                        <a:t>Scalability</a:t>
                      </a:r>
                      <a:endParaRPr lang="en-US" sz="2000" b="0" u="none" kern="120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tc>
                <a:tc>
                  <a:txBody>
                    <a:bodyPr/>
                    <a:lstStyle/>
                    <a:p>
                      <a:r>
                        <a:rPr lang="en-US" sz="2000" b="0" u="none">
                          <a:solidFill>
                            <a:srgbClr val="000000"/>
                          </a:solidFill>
                        </a:rPr>
                        <a:t>Vertical</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tc>
                  <a:txBody>
                    <a:bodyPr/>
                    <a:lstStyle/>
                    <a:p>
                      <a:r>
                        <a:rPr lang="en-US" sz="2000" b="0" u="none">
                          <a:solidFill>
                            <a:srgbClr val="000000"/>
                          </a:solidFill>
                        </a:rPr>
                        <a:t>Horizontal</a:t>
                      </a:r>
                      <a:endParaRPr lang="en-US" sz="20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10975" marR="110975" marT="60960" marB="60960" anchor="ctr"/>
                </a:tc>
                <a:extLst>
                  <a:ext uri="{0D108BD9-81ED-4DB2-BD59-A6C34878D82A}">
                    <a16:rowId xmlns:a16="http://schemas.microsoft.com/office/drawing/2014/main" val="10004"/>
                  </a:ext>
                </a:extLst>
              </a:tr>
              <a:tr h="2522254">
                <a:tc>
                  <a:txBody>
                    <a:bodyPr/>
                    <a:lstStyle/>
                    <a:p>
                      <a:pPr marL="0" algn="l" defTabSz="457200" rtl="0" eaLnBrk="1" latinLnBrk="0" hangingPunct="1"/>
                      <a:r>
                        <a:rPr lang="en-US" sz="2000" b="0" u="none" kern="1200">
                          <a:solidFill>
                            <a:schemeClr val="tx1"/>
                          </a:solidFill>
                        </a:rPr>
                        <a:t>Example</a:t>
                      </a:r>
                      <a:endParaRPr lang="en-US" sz="2000" b="0" u="none" kern="1200">
                        <a:solidFill>
                          <a:schemeClr val="tx1"/>
                        </a:solidFill>
                        <a:latin typeface="Amazon Ember"/>
                        <a:ea typeface="Amazon Ember" panose="02000000000000000000" pitchFamily="2" charset="0"/>
                        <a:cs typeface="Amazon Ember" panose="020B0603020204020204" pitchFamily="34" charset="0"/>
                      </a:endParaRPr>
                    </a:p>
                  </a:txBody>
                  <a:tcPr marL="110975" marR="110975" marT="60960" marB="60960" anchor="ctr"/>
                </a:tc>
                <a:tc>
                  <a:txBody>
                    <a:bodyPr/>
                    <a:lstStyle/>
                    <a:p>
                      <a:endParaRPr lang="en-US" sz="1800" b="0" i="0">
                        <a:latin typeface="+mj-lt"/>
                        <a:ea typeface="Amazon Ember Light" panose="020B0403020204020204" pitchFamily="34" charset="0"/>
                        <a:cs typeface="Amazon Ember Light" panose="020B0403020204020204" pitchFamily="34" charset="0"/>
                      </a:endParaRPr>
                    </a:p>
                  </a:txBody>
                  <a:tcPr marL="110975" marR="110975" marT="60960" marB="60960" anchor="ctr"/>
                </a:tc>
                <a:tc>
                  <a:txBody>
                    <a:bodyPr/>
                    <a:lstStyle/>
                    <a:p>
                      <a:endParaRPr lang="en-US" sz="1800" b="0"/>
                    </a:p>
                    <a:p>
                      <a:endParaRPr lang="en-US" sz="1800" b="0"/>
                    </a:p>
                    <a:p>
                      <a:endParaRPr lang="en-US" sz="1800" b="0"/>
                    </a:p>
                    <a:p>
                      <a:endParaRPr lang="en-US" sz="1800" b="0"/>
                    </a:p>
                    <a:p>
                      <a:endParaRPr lang="en-US" sz="1800" b="0"/>
                    </a:p>
                    <a:p>
                      <a:endParaRPr lang="en-US" sz="1800" b="0"/>
                    </a:p>
                    <a:p>
                      <a:endParaRPr lang="en-US" sz="1800" b="0" i="0">
                        <a:latin typeface="+mj-lt"/>
                        <a:ea typeface="Amazon Ember Light" panose="020B0403020204020204" pitchFamily="34" charset="0"/>
                        <a:cs typeface="Amazon Ember Light" panose="020B0403020204020204" pitchFamily="34" charset="0"/>
                      </a:endParaRPr>
                    </a:p>
                  </a:txBody>
                  <a:tcPr marL="110975" marR="110975" marT="60960" marB="60960" anchor="ctr"/>
                </a:tc>
                <a:extLst>
                  <a:ext uri="{0D108BD9-81ED-4DB2-BD59-A6C34878D82A}">
                    <a16:rowId xmlns:a16="http://schemas.microsoft.com/office/drawing/2014/main" val="1366436263"/>
                  </a:ext>
                </a:extLst>
              </a:tr>
            </a:tbl>
          </a:graphicData>
        </a:graphic>
      </p:graphicFrame>
      <p:graphicFrame>
        <p:nvGraphicFramePr>
          <p:cNvPr id="14" name="Table 13" descr="A data set showing two ISBNs, titles, authors, and formats.">
            <a:extLst>
              <a:ext uri="{FF2B5EF4-FFF2-40B4-BE49-F238E27FC236}">
                <a16:creationId xmlns:a16="http://schemas.microsoft.com/office/drawing/2014/main" id="{632ED4FA-7FC4-4738-908A-7F473C406274}"/>
              </a:ext>
            </a:extLst>
          </p:cNvPr>
          <p:cNvGraphicFramePr>
            <a:graphicFrameLocks noGrp="1"/>
          </p:cNvGraphicFramePr>
          <p:nvPr/>
        </p:nvGraphicFramePr>
        <p:xfrm>
          <a:off x="2351381" y="4150279"/>
          <a:ext cx="5392796" cy="1990209"/>
        </p:xfrm>
        <a:graphic>
          <a:graphicData uri="http://schemas.openxmlformats.org/drawingml/2006/table">
            <a:tbl>
              <a:tblPr firstRow="1" bandRow="1">
                <a:tableStyleId>{F5AB1C69-6EDB-4FF4-983F-18BD219EF322}</a:tableStyleId>
              </a:tblPr>
              <a:tblGrid>
                <a:gridCol w="1838632">
                  <a:extLst>
                    <a:ext uri="{9D8B030D-6E8A-4147-A177-3AD203B41FA5}">
                      <a16:colId xmlns:a16="http://schemas.microsoft.com/office/drawing/2014/main" val="20000"/>
                    </a:ext>
                  </a:extLst>
                </a:gridCol>
                <a:gridCol w="1199347">
                  <a:extLst>
                    <a:ext uri="{9D8B030D-6E8A-4147-A177-3AD203B41FA5}">
                      <a16:colId xmlns:a16="http://schemas.microsoft.com/office/drawing/2014/main" val="20001"/>
                    </a:ext>
                  </a:extLst>
                </a:gridCol>
                <a:gridCol w="1023833">
                  <a:extLst>
                    <a:ext uri="{9D8B030D-6E8A-4147-A177-3AD203B41FA5}">
                      <a16:colId xmlns:a16="http://schemas.microsoft.com/office/drawing/2014/main" val="20002"/>
                    </a:ext>
                  </a:extLst>
                </a:gridCol>
                <a:gridCol w="1330984">
                  <a:extLst>
                    <a:ext uri="{9D8B030D-6E8A-4147-A177-3AD203B41FA5}">
                      <a16:colId xmlns:a16="http://schemas.microsoft.com/office/drawing/2014/main" val="20003"/>
                    </a:ext>
                  </a:extLst>
                </a:gridCol>
              </a:tblGrid>
              <a:tr h="649737">
                <a:tc>
                  <a:txBody>
                    <a:bodyPr/>
                    <a:lstStyle/>
                    <a:p>
                      <a:pPr algn="ctr"/>
                      <a:r>
                        <a:rPr lang="en-US" sz="1600" u="none">
                          <a:solidFill>
                            <a:schemeClr val="tx1"/>
                          </a:solidFill>
                        </a:rPr>
                        <a:t>ISBN</a:t>
                      </a:r>
                      <a:endParaRPr lang="en-US" sz="1600" u="none">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21920" marR="121920" marT="60960" marB="60960" anchor="ctr"/>
                </a:tc>
                <a:tc>
                  <a:txBody>
                    <a:bodyPr/>
                    <a:lstStyle/>
                    <a:p>
                      <a:pPr algn="ctr"/>
                      <a:r>
                        <a:rPr lang="en-US" sz="1600" u="none">
                          <a:solidFill>
                            <a:schemeClr val="tx1"/>
                          </a:solidFill>
                        </a:rPr>
                        <a:t>Title</a:t>
                      </a:r>
                      <a:endParaRPr lang="en-US" sz="1600" u="none">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21920" marR="121920" marT="60960" marB="60960" anchor="ctr"/>
                </a:tc>
                <a:tc>
                  <a:txBody>
                    <a:bodyPr/>
                    <a:lstStyle/>
                    <a:p>
                      <a:pPr algn="ctr"/>
                      <a:r>
                        <a:rPr lang="en-US" sz="1600" u="none">
                          <a:solidFill>
                            <a:schemeClr val="tx1"/>
                          </a:solidFill>
                        </a:rPr>
                        <a:t>Author</a:t>
                      </a:r>
                      <a:endParaRPr lang="en-US" sz="1600" u="none">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21920" marR="121920" marT="60960" marB="60960" anchor="ctr"/>
                </a:tc>
                <a:tc>
                  <a:txBody>
                    <a:bodyPr/>
                    <a:lstStyle/>
                    <a:p>
                      <a:pPr algn="ctr"/>
                      <a:r>
                        <a:rPr lang="en-US" sz="1600" u="none">
                          <a:solidFill>
                            <a:schemeClr val="tx1"/>
                          </a:solidFill>
                        </a:rPr>
                        <a:t>Format</a:t>
                      </a:r>
                      <a:endParaRPr lang="en-US" sz="1600" u="none">
                        <a:solidFill>
                          <a:schemeClr val="tx1"/>
                        </a:solidFill>
                        <a:latin typeface="Amazon Ember" panose="02000000000000000000" pitchFamily="2" charset="0"/>
                        <a:ea typeface="Amazon Ember" panose="02000000000000000000" pitchFamily="2" charset="0"/>
                        <a:cs typeface="Amazon Ember" panose="020B0603020204020204" pitchFamily="34" charset="0"/>
                      </a:endParaRPr>
                    </a:p>
                  </a:txBody>
                  <a:tcPr marL="121920" marR="121920" marT="60960" marB="60960" anchor="ctr"/>
                </a:tc>
                <a:extLst>
                  <a:ext uri="{0D108BD9-81ED-4DB2-BD59-A6C34878D82A}">
                    <a16:rowId xmlns:a16="http://schemas.microsoft.com/office/drawing/2014/main" val="10000"/>
                  </a:ext>
                </a:extLst>
              </a:tr>
              <a:tr h="670236">
                <a:tc>
                  <a:txBody>
                    <a:bodyPr/>
                    <a:lstStyle/>
                    <a:p>
                      <a:pPr marL="0" algn="l" defTabSz="457200" rtl="0" eaLnBrk="1" latinLnBrk="0" hangingPunct="1"/>
                      <a:r>
                        <a:rPr lang="en-US" sz="1600" b="0" u="none" kern="1200">
                          <a:solidFill>
                            <a:srgbClr val="000000"/>
                          </a:solidFill>
                        </a:rPr>
                        <a:t>3111111223439</a:t>
                      </a:r>
                      <a:endParaRPr lang="en-US" sz="1600" b="0" i="0" u="none" kern="120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r>
                        <a:rPr lang="en-US" sz="1600" b="0" u="none">
                          <a:solidFill>
                            <a:srgbClr val="000000"/>
                          </a:solidFill>
                        </a:rPr>
                        <a:t>Withering</a:t>
                      </a:r>
                      <a:r>
                        <a:rPr lang="en-US" sz="1600" b="0" u="none" baseline="0">
                          <a:solidFill>
                            <a:srgbClr val="000000"/>
                          </a:solidFill>
                        </a:rPr>
                        <a:t> Depths</a:t>
                      </a:r>
                      <a:endParaRPr lang="en-US" sz="16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r>
                        <a:rPr lang="en-US" sz="1600" b="0" u="none">
                          <a:solidFill>
                            <a:srgbClr val="000000"/>
                          </a:solidFill>
                        </a:rPr>
                        <a:t>Jackson, Mateo</a:t>
                      </a:r>
                      <a:endParaRPr lang="en-US" sz="16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r>
                        <a:rPr lang="en-US" sz="1600" b="0" u="none">
                          <a:solidFill>
                            <a:srgbClr val="000000"/>
                          </a:solidFill>
                        </a:rPr>
                        <a:t>Paperback</a:t>
                      </a:r>
                      <a:endParaRPr lang="en-US" sz="16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extLst>
                  <a:ext uri="{0D108BD9-81ED-4DB2-BD59-A6C34878D82A}">
                    <a16:rowId xmlns:a16="http://schemas.microsoft.com/office/drawing/2014/main" val="10001"/>
                  </a:ext>
                </a:extLst>
              </a:tr>
              <a:tr h="670236">
                <a:tc>
                  <a:txBody>
                    <a:bodyPr/>
                    <a:lstStyle/>
                    <a:p>
                      <a:pPr marL="0" algn="l" defTabSz="457200" rtl="0" eaLnBrk="1" latinLnBrk="0" hangingPunct="1"/>
                      <a:r>
                        <a:rPr lang="en-US" sz="1600" b="0" u="none" kern="1200">
                          <a:solidFill>
                            <a:srgbClr val="000000"/>
                          </a:solidFill>
                        </a:rPr>
                        <a:t>3122222223439</a:t>
                      </a:r>
                      <a:endParaRPr lang="en-US" sz="1600" b="0" i="0" u="none" kern="120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pPr marL="0" algn="l" defTabSz="457200" rtl="0" eaLnBrk="1" latinLnBrk="0" hangingPunct="1"/>
                      <a:r>
                        <a:rPr lang="en-US" sz="1600" b="0" u="none" kern="1200">
                          <a:solidFill>
                            <a:srgbClr val="000000"/>
                          </a:solidFill>
                        </a:rPr>
                        <a:t>Wily</a:t>
                      </a:r>
                      <a:r>
                        <a:rPr lang="en-US" sz="1600" b="0" u="none" kern="1200" baseline="0">
                          <a:solidFill>
                            <a:srgbClr val="000000"/>
                          </a:solidFill>
                        </a:rPr>
                        <a:t> Willy</a:t>
                      </a:r>
                      <a:r>
                        <a:rPr lang="en-US" sz="1600" b="0" kern="1200" baseline="0">
                          <a:solidFill>
                            <a:schemeClr val="dk1"/>
                          </a:solidFill>
                        </a:rPr>
                        <a:t> </a:t>
                      </a:r>
                      <a:endParaRPr lang="en-US" sz="1600" b="0" i="0" kern="1200">
                        <a:solidFill>
                          <a:schemeClr val="dk1"/>
                        </a:solidFill>
                        <a:latin typeface="+mj-lt"/>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pPr marL="0" algn="l" defTabSz="457200" rtl="0" eaLnBrk="1" latinLnBrk="0" hangingPunct="1"/>
                      <a:r>
                        <a:rPr lang="en-US" sz="1600" b="0" u="none" kern="1200">
                          <a:solidFill>
                            <a:srgbClr val="000000"/>
                          </a:solidFill>
                        </a:rPr>
                        <a:t>Wang,</a:t>
                      </a:r>
                      <a:r>
                        <a:rPr lang="en-US" sz="1600" b="0" u="none" kern="1200" baseline="0">
                          <a:solidFill>
                            <a:srgbClr val="000000"/>
                          </a:solidFill>
                        </a:rPr>
                        <a:t> Xiulan</a:t>
                      </a:r>
                      <a:endParaRPr lang="en-US" sz="1600" b="0" i="0" u="none" kern="120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tc>
                  <a:txBody>
                    <a:bodyPr/>
                    <a:lstStyle/>
                    <a:p>
                      <a:pPr marL="0" algn="l" defTabSz="457200" rtl="0" eaLnBrk="1" latinLnBrk="0" hangingPunct="1"/>
                      <a:r>
                        <a:rPr lang="en-US" sz="1600" b="0" u="none" kern="1200" err="1">
                          <a:solidFill>
                            <a:srgbClr val="000000"/>
                          </a:solidFill>
                        </a:rPr>
                        <a:t>Ebook</a:t>
                      </a:r>
                      <a:endParaRPr lang="en-US" sz="1600" b="0" i="0" u="none" kern="120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21920" marR="121920" marT="60960" marB="60960" anchor="ctr"/>
                </a:tc>
                <a:extLst>
                  <a:ext uri="{0D108BD9-81ED-4DB2-BD59-A6C34878D82A}">
                    <a16:rowId xmlns:a16="http://schemas.microsoft.com/office/drawing/2014/main" val="10002"/>
                  </a:ext>
                </a:extLst>
              </a:tr>
            </a:tbl>
          </a:graphicData>
        </a:graphic>
      </p:graphicFrame>
      <p:sp>
        <p:nvSpPr>
          <p:cNvPr id="15" name="TextBox 14" descr="A non-relational database showing a listed ISBN, title, author, and format.">
            <a:extLst>
              <a:ext uri="{FF2B5EF4-FFF2-40B4-BE49-F238E27FC236}">
                <a16:creationId xmlns:a16="http://schemas.microsoft.com/office/drawing/2014/main" id="{DE2C3E03-A760-4554-9D52-65F95F31F2A9}"/>
              </a:ext>
            </a:extLst>
          </p:cNvPr>
          <p:cNvSpPr txBox="1"/>
          <p:nvPr/>
        </p:nvSpPr>
        <p:spPr>
          <a:xfrm>
            <a:off x="8230353" y="4244678"/>
            <a:ext cx="2940228" cy="1754326"/>
          </a:xfrm>
          <a:prstGeom prst="rect">
            <a:avLst/>
          </a:prstGeom>
          <a:solidFill>
            <a:schemeClr val="bg1"/>
          </a:solidFill>
          <a:ln w="19050">
            <a:solidFill>
              <a:schemeClr val="tx1"/>
            </a:solidFill>
          </a:ln>
        </p:spPr>
        <p:txBody>
          <a:bodyPr wrap="none" rtlCol="0">
            <a:spAutoFit/>
          </a:bodyPr>
          <a:lstStyle/>
          <a:p>
            <a:r>
              <a:rPr lang="en-US">
                <a:latin typeface="Amazon Ember" panose="020B0603020204020204" pitchFamily="34" charset="0"/>
                <a:ea typeface="Amazon Ember" panose="020B0603020204020204" pitchFamily="34" charset="0"/>
                <a:cs typeface="Amazon Ember" panose="020B0603020204020204" pitchFamily="34" charset="0"/>
              </a:rPr>
              <a:t>{</a:t>
            </a:r>
          </a:p>
          <a:p>
            <a:r>
              <a:rPr lang="en-US">
                <a:latin typeface="Amazon Ember" panose="020B0603020204020204" pitchFamily="34" charset="0"/>
                <a:ea typeface="Amazon Ember" panose="020B0603020204020204" pitchFamily="34" charset="0"/>
                <a:cs typeface="Amazon Ember" panose="020B0603020204020204" pitchFamily="34" charset="0"/>
              </a:rPr>
              <a:t> ISBN: 3111111223439,</a:t>
            </a:r>
          </a:p>
          <a:p>
            <a:r>
              <a:rPr lang="en-US">
                <a:latin typeface="Amazon Ember" panose="020B0603020204020204" pitchFamily="34" charset="0"/>
                <a:ea typeface="Amazon Ember" panose="020B0603020204020204" pitchFamily="34" charset="0"/>
                <a:cs typeface="Amazon Ember" panose="020B0603020204020204" pitchFamily="34" charset="0"/>
              </a:rPr>
              <a:t> Title: “Withering Depths”,</a:t>
            </a:r>
            <a:endParaRPr lang="en-US">
              <a:latin typeface="Amazon Ember" panose="020B0603020204020204"/>
              <a:ea typeface="Amazon Ember" panose="020B0603020204020204" pitchFamily="34" charset="0"/>
              <a:cs typeface="Amazon Ember" panose="020B0603020204020204" pitchFamily="34" charset="0"/>
            </a:endParaRPr>
          </a:p>
          <a:p>
            <a:r>
              <a:rPr lang="en-US">
                <a:latin typeface="Amazon Ember" panose="020B0603020204020204" pitchFamily="34" charset="0"/>
                <a:ea typeface="Amazon Ember" panose="020B0603020204020204" pitchFamily="34" charset="0"/>
                <a:cs typeface="Amazon Ember" panose="020B0603020204020204" pitchFamily="34" charset="0"/>
              </a:rPr>
              <a:t> Author: ”Jackson, Mateo”,</a:t>
            </a:r>
            <a:endParaRPr lang="en-US">
              <a:latin typeface="Amazon Ember" panose="020B0603020204020204"/>
              <a:ea typeface="Amazon Ember" panose="020B0603020204020204" pitchFamily="34" charset="0"/>
              <a:cs typeface="Amazon Ember" panose="020B0603020204020204" pitchFamily="34" charset="0"/>
            </a:endParaRPr>
          </a:p>
          <a:p>
            <a:r>
              <a:rPr lang="en-US">
                <a:latin typeface="Amazon Ember" panose="020B0603020204020204" pitchFamily="34" charset="0"/>
                <a:ea typeface="Amazon Ember" panose="020B0603020204020204" pitchFamily="34" charset="0"/>
                <a:cs typeface="Amazon Ember" panose="020B0603020204020204" pitchFamily="34" charset="0"/>
              </a:rPr>
              <a:t> Format: “Paperback”</a:t>
            </a:r>
          </a:p>
          <a:p>
            <a:r>
              <a:rPr lang="en-US">
                <a:latin typeface="Amazon Ember" panose="020B0603020204020204" pitchFamily="34" charset="0"/>
                <a:ea typeface="Amazon Ember" panose="020B0603020204020204" pitchFamily="34" charset="0"/>
                <a:cs typeface="Amazon Ember" panose="020B0603020204020204" pitchFamily="34" charset="0"/>
              </a:rPr>
              <a:t>}</a:t>
            </a:r>
          </a:p>
        </p:txBody>
      </p:sp>
    </p:spTree>
    <p:custDataLst>
      <p:tags r:id="rId1"/>
    </p:custDataLst>
    <p:extLst>
      <p:ext uri="{BB962C8B-B14F-4D97-AF65-F5344CB8AC3E}">
        <p14:creationId xmlns:p14="http://schemas.microsoft.com/office/powerpoint/2010/main" val="30286797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7BDE98-C65C-42F2-A31B-805D3D82779B}"/>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65</a:t>
            </a:fld>
            <a:endParaRPr lang="en-US"/>
          </a:p>
        </p:txBody>
      </p:sp>
      <p:sp>
        <p:nvSpPr>
          <p:cNvPr id="2" name="Title 1"/>
          <p:cNvSpPr>
            <a:spLocks noGrp="1"/>
          </p:cNvSpPr>
          <p:nvPr>
            <p:ph type="title"/>
          </p:nvPr>
        </p:nvSpPr>
        <p:spPr/>
        <p:txBody>
          <a:bodyPr/>
          <a:lstStyle/>
          <a:p>
            <a:r>
              <a:rPr lang="en-US"/>
              <a:t>What is Amazon DynamoDB? </a:t>
            </a:r>
          </a:p>
        </p:txBody>
      </p:sp>
      <p:sp>
        <p:nvSpPr>
          <p:cNvPr id="10" name="TextBox 9">
            <a:extLst>
              <a:ext uri="{FF2B5EF4-FFF2-40B4-BE49-F238E27FC236}">
                <a16:creationId xmlns:a16="http://schemas.microsoft.com/office/drawing/2014/main" id="{6073128F-DED4-458A-82CA-8D6BC0934816}"/>
              </a:ext>
            </a:extLst>
          </p:cNvPr>
          <p:cNvSpPr txBox="1"/>
          <p:nvPr/>
        </p:nvSpPr>
        <p:spPr>
          <a:xfrm>
            <a:off x="1477950" y="1180036"/>
            <a:ext cx="9286838" cy="726353"/>
          </a:xfrm>
          <a:prstGeom prst="rect">
            <a:avLst/>
          </a:prstGeom>
          <a:noFill/>
          <a:ln w="28575">
            <a:noFill/>
          </a:ln>
          <a:effectLst/>
        </p:spPr>
        <p:txBody>
          <a:bodyPr wrap="none" lIns="182880" tIns="146304" rIns="182880" bIns="146304" rtlCol="0">
            <a:spAutoFit/>
          </a:bodyPr>
          <a:lstStyle/>
          <a:p>
            <a:pPr algn="ctr"/>
            <a:r>
              <a:rPr lang="en-US" sz="2800"/>
              <a:t>Fast and flexible NoSQL database service for any scale</a:t>
            </a:r>
          </a:p>
        </p:txBody>
      </p:sp>
      <p:pic>
        <p:nvPicPr>
          <p:cNvPr id="8" name="Graphic 43">
            <a:extLst>
              <a:ext uri="{FF2B5EF4-FFF2-40B4-BE49-F238E27FC236}">
                <a16:creationId xmlns:a16="http://schemas.microsoft.com/office/drawing/2014/main" id="{90F65388-7121-4EF8-A938-BC65F858FF0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83539" y="3024500"/>
            <a:ext cx="2149469" cy="2149469"/>
          </a:xfrm>
          <a:prstGeom prst="rect">
            <a:avLst/>
          </a:prstGeom>
        </p:spPr>
      </p:pic>
      <p:sp>
        <p:nvSpPr>
          <p:cNvPr id="9" name="TextBox 8">
            <a:extLst>
              <a:ext uri="{FF2B5EF4-FFF2-40B4-BE49-F238E27FC236}">
                <a16:creationId xmlns:a16="http://schemas.microsoft.com/office/drawing/2014/main" id="{C1DDD660-4DF0-4E6C-AF7A-45E500DF7758}"/>
              </a:ext>
            </a:extLst>
          </p:cNvPr>
          <p:cNvSpPr txBox="1"/>
          <p:nvPr/>
        </p:nvSpPr>
        <p:spPr>
          <a:xfrm>
            <a:off x="277577" y="5323161"/>
            <a:ext cx="4658659" cy="430887"/>
          </a:xfrm>
          <a:prstGeom prst="rect">
            <a:avLst/>
          </a:prstGeom>
          <a:noFill/>
        </p:spPr>
        <p:txBody>
          <a:bodyPr wrap="square" lIns="0" tIns="0" rIns="0" bIns="0" rtlCol="0" anchor="ctr">
            <a:spAutoFit/>
          </a:bodyPr>
          <a:lstStyle/>
          <a:p>
            <a:pPr algn="ctr"/>
            <a:r>
              <a:rPr lang="en-US" sz="2800" b="1">
                <a:latin typeface="Amazon Ember" panose="020B0603020204020204" pitchFamily="34" charset="0"/>
                <a:ea typeface="Amazon Ember" panose="020B0603020204020204" pitchFamily="34" charset="0"/>
                <a:cs typeface="Amazon Ember" panose="020B0603020204020204" pitchFamily="34" charset="0"/>
              </a:rPr>
              <a:t>Amazon DynamoDB</a:t>
            </a:r>
            <a:endParaRPr lang="en-US" sz="6000" b="1">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Rounded Rectangle 12">
            <a:extLst>
              <a:ext uri="{FF2B5EF4-FFF2-40B4-BE49-F238E27FC236}">
                <a16:creationId xmlns:a16="http://schemas.microsoft.com/office/drawing/2014/main" id="{CE8A48F5-EF77-4605-B274-13E064D990B3}"/>
              </a:ext>
              <a:ext uri="{C183D7F6-B498-43B3-948B-1728B52AA6E4}">
                <adec:decorative xmlns:adec="http://schemas.microsoft.com/office/drawing/2017/decorative" val="1"/>
              </a:ext>
            </a:extLst>
          </p:cNvPr>
          <p:cNvSpPr/>
          <p:nvPr/>
        </p:nvSpPr>
        <p:spPr bwMode="auto">
          <a:xfrm>
            <a:off x="4896746" y="2056645"/>
            <a:ext cx="5868042" cy="3856338"/>
          </a:xfrm>
          <a:prstGeom prst="roundRect">
            <a:avLst>
              <a:gd name="adj" fmla="val 8618"/>
            </a:avLst>
          </a:prstGeom>
          <a:solidFill>
            <a:schemeClr val="bg1"/>
          </a:solidFill>
          <a:ln w="1905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150000"/>
              </a:lnSpc>
              <a:spcBef>
                <a:spcPct val="0"/>
              </a:spcBef>
              <a:spcAft>
                <a:spcPts val="600"/>
              </a:spcAft>
            </a:pPr>
            <a:endParaRPr lang="en-US" sz="2400">
              <a:solidFill>
                <a:schemeClr val="tx1"/>
              </a:solidFill>
              <a:ea typeface="Segoe UI" pitchFamily="34" charset="0"/>
              <a:cs typeface="Segoe UI" pitchFamily="34" charset="0"/>
            </a:endParaRPr>
          </a:p>
        </p:txBody>
      </p:sp>
      <p:sp>
        <p:nvSpPr>
          <p:cNvPr id="3" name="TextBox 2">
            <a:extLst>
              <a:ext uri="{FF2B5EF4-FFF2-40B4-BE49-F238E27FC236}">
                <a16:creationId xmlns:a16="http://schemas.microsoft.com/office/drawing/2014/main" id="{2EFCFD39-753E-B54A-E6A5-B3C2CF83868A}"/>
              </a:ext>
            </a:extLst>
          </p:cNvPr>
          <p:cNvSpPr txBox="1"/>
          <p:nvPr/>
        </p:nvSpPr>
        <p:spPr>
          <a:xfrm>
            <a:off x="5248932" y="2150625"/>
            <a:ext cx="5163670" cy="3668377"/>
          </a:xfrm>
          <a:prstGeom prst="rect">
            <a:avLst/>
          </a:prstGeom>
          <a:noFill/>
        </p:spPr>
        <p:txBody>
          <a:bodyPr wrap="square" rtlCol="0">
            <a:spAutoFit/>
          </a:bodyPr>
          <a:lstStyle/>
          <a:p>
            <a:pPr marL="274320" indent="-342900" defTabSz="932472" fontAlgn="base">
              <a:lnSpc>
                <a:spcPct val="150000"/>
              </a:lnSpc>
              <a:spcBef>
                <a:spcPct val="0"/>
              </a:spcBef>
              <a:spcAft>
                <a:spcPts val="600"/>
              </a:spcAft>
              <a:buFont typeface="Arial" panose="020B0604020202020204" pitchFamily="34" charset="0"/>
              <a:buChar char="•"/>
            </a:pPr>
            <a:r>
              <a:rPr lang="en-US" sz="2400">
                <a:ea typeface="Segoe UI" pitchFamily="34" charset="0"/>
                <a:cs typeface="Segoe UI" pitchFamily="34" charset="0"/>
              </a:rPr>
              <a:t>NoSQL database tables</a:t>
            </a:r>
          </a:p>
          <a:p>
            <a:pPr marL="274320" indent="-342900" defTabSz="932472" fontAlgn="base">
              <a:lnSpc>
                <a:spcPct val="150000"/>
              </a:lnSpc>
              <a:spcBef>
                <a:spcPct val="0"/>
              </a:spcBef>
              <a:spcAft>
                <a:spcPts val="600"/>
              </a:spcAft>
              <a:buFont typeface="Arial" panose="020B0604020202020204" pitchFamily="34" charset="0"/>
              <a:buChar char="•"/>
            </a:pPr>
            <a:r>
              <a:rPr lang="en-US" sz="2400">
                <a:ea typeface="Segoe UI" pitchFamily="34" charset="0"/>
                <a:cs typeface="Segoe UI" pitchFamily="34" charset="0"/>
              </a:rPr>
              <a:t>Virtually unlimited storage</a:t>
            </a:r>
          </a:p>
          <a:p>
            <a:pPr marL="274320" indent="-342900" defTabSz="932472" fontAlgn="base">
              <a:lnSpc>
                <a:spcPct val="150000"/>
              </a:lnSpc>
              <a:spcBef>
                <a:spcPct val="0"/>
              </a:spcBef>
              <a:spcAft>
                <a:spcPts val="600"/>
              </a:spcAft>
              <a:buFont typeface="Arial" panose="020B0604020202020204" pitchFamily="34" charset="0"/>
              <a:buChar char="•"/>
            </a:pPr>
            <a:r>
              <a:rPr lang="en-US" sz="2400">
                <a:ea typeface="Segoe UI" pitchFamily="34" charset="0"/>
                <a:cs typeface="Segoe UI" pitchFamily="34" charset="0"/>
              </a:rPr>
              <a:t>Items can have differing attributes</a:t>
            </a:r>
          </a:p>
          <a:p>
            <a:pPr marL="274320" indent="-342900" defTabSz="932472" fontAlgn="base">
              <a:lnSpc>
                <a:spcPct val="150000"/>
              </a:lnSpc>
              <a:spcBef>
                <a:spcPct val="0"/>
              </a:spcBef>
              <a:spcAft>
                <a:spcPts val="600"/>
              </a:spcAft>
              <a:buFont typeface="Arial" panose="020B0604020202020204" pitchFamily="34" charset="0"/>
              <a:buChar char="•"/>
            </a:pPr>
            <a:r>
              <a:rPr lang="en-US" sz="2400">
                <a:ea typeface="Segoe UI" pitchFamily="34" charset="0"/>
                <a:cs typeface="Segoe UI" pitchFamily="34" charset="0"/>
              </a:rPr>
              <a:t>Low-latency queries</a:t>
            </a:r>
          </a:p>
          <a:p>
            <a:pPr marL="274320" indent="-342900" defTabSz="932472" fontAlgn="base">
              <a:lnSpc>
                <a:spcPct val="150000"/>
              </a:lnSpc>
              <a:spcBef>
                <a:spcPct val="0"/>
              </a:spcBef>
              <a:spcAft>
                <a:spcPts val="600"/>
              </a:spcAft>
              <a:buFont typeface="Arial" panose="020B0604020202020204" pitchFamily="34" charset="0"/>
              <a:buChar char="•"/>
            </a:pPr>
            <a:r>
              <a:rPr lang="en-US" sz="2400">
                <a:ea typeface="Segoe UI" pitchFamily="34" charset="0"/>
                <a:cs typeface="Segoe UI" pitchFamily="34" charset="0"/>
              </a:rPr>
              <a:t>Scalable read/write throughput</a:t>
            </a:r>
          </a:p>
        </p:txBody>
      </p:sp>
    </p:spTree>
    <p:custDataLst>
      <p:tags r:id="rId1"/>
    </p:custDataLst>
    <p:extLst>
      <p:ext uri="{BB962C8B-B14F-4D97-AF65-F5344CB8AC3E}">
        <p14:creationId xmlns:p14="http://schemas.microsoft.com/office/powerpoint/2010/main" val="36078566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DEB106-2DA0-422D-A11F-E6B55163426A}"/>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66</a:t>
            </a:fld>
            <a:endParaRPr lang="en-US"/>
          </a:p>
        </p:txBody>
      </p:sp>
      <p:sp>
        <p:nvSpPr>
          <p:cNvPr id="2" name="Title 1"/>
          <p:cNvSpPr>
            <a:spLocks noGrp="1"/>
          </p:cNvSpPr>
          <p:nvPr>
            <p:ph type="title"/>
          </p:nvPr>
        </p:nvSpPr>
        <p:spPr/>
        <p:txBody>
          <a:bodyPr/>
          <a:lstStyle/>
          <a:p>
            <a:r>
              <a:rPr lang="en-US"/>
              <a:t>Amazon DynamoDB core components</a:t>
            </a:r>
          </a:p>
        </p:txBody>
      </p:sp>
      <p:sp>
        <p:nvSpPr>
          <p:cNvPr id="3" name="Content Placeholder 2"/>
          <p:cNvSpPr>
            <a:spLocks noGrp="1"/>
          </p:cNvSpPr>
          <p:nvPr>
            <p:ph sz="quarter" idx="21"/>
          </p:nvPr>
        </p:nvSpPr>
        <p:spPr/>
        <p:txBody>
          <a:bodyPr/>
          <a:lstStyle/>
          <a:p>
            <a:r>
              <a:rPr lang="en-US"/>
              <a:t>Tables, items, and attributes are the core DynamoDB components</a:t>
            </a:r>
          </a:p>
          <a:p>
            <a:pPr marL="0" indent="0">
              <a:buNone/>
            </a:pPr>
            <a:endParaRPr lang="en-US"/>
          </a:p>
          <a:p>
            <a:r>
              <a:rPr lang="en-US"/>
              <a:t>DynamoDB supports two different kinds of primary keys: Partition key and partition and sort key</a:t>
            </a:r>
          </a:p>
        </p:txBody>
      </p:sp>
    </p:spTree>
    <p:custDataLst>
      <p:tags r:id="rId1"/>
    </p:custDataLst>
    <p:extLst>
      <p:ext uri="{BB962C8B-B14F-4D97-AF65-F5344CB8AC3E}">
        <p14:creationId xmlns:p14="http://schemas.microsoft.com/office/powerpoint/2010/main" val="6166845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ACCDA8-2760-49B0-97E6-24F6C6A9CC07}"/>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67</a:t>
            </a:fld>
            <a:endParaRPr lang="en-US"/>
          </a:p>
        </p:txBody>
      </p:sp>
      <p:sp>
        <p:nvSpPr>
          <p:cNvPr id="3" name="Title 2"/>
          <p:cNvSpPr>
            <a:spLocks noGrp="1"/>
          </p:cNvSpPr>
          <p:nvPr>
            <p:ph type="title"/>
          </p:nvPr>
        </p:nvSpPr>
        <p:spPr/>
        <p:txBody>
          <a:bodyPr/>
          <a:lstStyle/>
          <a:p>
            <a:r>
              <a:rPr lang="en-US"/>
              <a:t>Partitioning</a:t>
            </a:r>
          </a:p>
        </p:txBody>
      </p:sp>
      <p:pic>
        <p:nvPicPr>
          <p:cNvPr id="5" name="Content Placeholder 5" descr="Partitioning as data grows. See description in slide notes.">
            <a:extLst>
              <a:ext uri="{FF2B5EF4-FFF2-40B4-BE49-F238E27FC236}">
                <a16:creationId xmlns:a16="http://schemas.microsoft.com/office/drawing/2014/main" id="{E6804B00-B0D1-8945-B49D-4B5BEADA9F3D}"/>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84632" y="1166281"/>
            <a:ext cx="11492362" cy="5227196"/>
          </a:xfrm>
          <a:prstGeom prst="rect">
            <a:avLst/>
          </a:prstGeom>
        </p:spPr>
      </p:pic>
    </p:spTree>
    <p:custDataLst>
      <p:tags r:id="rId1"/>
    </p:custDataLst>
    <p:extLst>
      <p:ext uri="{BB962C8B-B14F-4D97-AF65-F5344CB8AC3E}">
        <p14:creationId xmlns:p14="http://schemas.microsoft.com/office/powerpoint/2010/main" val="35150410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F1EED8-BC81-429C-B96F-562CCAD5D8C1}"/>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68</a:t>
            </a:fld>
            <a:endParaRPr lang="en-US"/>
          </a:p>
        </p:txBody>
      </p:sp>
      <p:sp>
        <p:nvSpPr>
          <p:cNvPr id="2" name="Title 1"/>
          <p:cNvSpPr>
            <a:spLocks noGrp="1"/>
          </p:cNvSpPr>
          <p:nvPr>
            <p:ph type="title"/>
          </p:nvPr>
        </p:nvSpPr>
        <p:spPr/>
        <p:txBody>
          <a:bodyPr/>
          <a:lstStyle/>
          <a:p>
            <a:r>
              <a:rPr lang="en-US"/>
              <a:t>Items in a table must have a key</a:t>
            </a:r>
          </a:p>
        </p:txBody>
      </p:sp>
      <p:pic>
        <p:nvPicPr>
          <p:cNvPr id="5" name="Content Placeholder 3" descr="Single key and compond key. See description in the slide notes.">
            <a:extLst>
              <a:ext uri="{FF2B5EF4-FFF2-40B4-BE49-F238E27FC236}">
                <a16:creationId xmlns:a16="http://schemas.microsoft.com/office/drawing/2014/main" id="{38DCA5EB-4A6C-704A-B5FD-38BD3C3E7D1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52400" y="1796300"/>
            <a:ext cx="12037325" cy="4563770"/>
          </a:xfrm>
          <a:prstGeom prst="rect">
            <a:avLst/>
          </a:prstGeom>
        </p:spPr>
      </p:pic>
    </p:spTree>
    <p:custDataLst>
      <p:tags r:id="rId1"/>
    </p:custDataLst>
    <p:extLst>
      <p:ext uri="{BB962C8B-B14F-4D97-AF65-F5344CB8AC3E}">
        <p14:creationId xmlns:p14="http://schemas.microsoft.com/office/powerpoint/2010/main" val="41290366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69</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normAutofit/>
          </a:bodyPr>
          <a:lstStyle/>
          <a:p>
            <a:r>
              <a:rPr lang="en-US"/>
              <a:t>Section 2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pPr marL="0" indent="0">
              <a:buNone/>
            </a:pPr>
            <a:r>
              <a:rPr lang="en-US"/>
              <a:t>Amazon DynamoDB:</a:t>
            </a:r>
          </a:p>
          <a:p>
            <a:r>
              <a:rPr lang="en-US" sz="2400"/>
              <a:t>Runs exclusively on SSDs.</a:t>
            </a:r>
          </a:p>
          <a:p>
            <a:r>
              <a:rPr lang="en-US" sz="2400"/>
              <a:t>Supports document and key-value store models.</a:t>
            </a:r>
          </a:p>
          <a:p>
            <a:r>
              <a:rPr lang="en-US" sz="2400"/>
              <a:t>Replicates your tables automatically across your choice of AWS Regions.</a:t>
            </a:r>
          </a:p>
          <a:p>
            <a:r>
              <a:rPr lang="en-US" sz="2400"/>
              <a:t>Works well for mobile, web, gaming, adtech, and Internet of Things (IoT) applications.</a:t>
            </a:r>
          </a:p>
          <a:p>
            <a:r>
              <a:rPr lang="en-US" sz="2400"/>
              <a:t>Is accessible via the console, the AWS CLI, and API calls.</a:t>
            </a:r>
          </a:p>
          <a:p>
            <a:r>
              <a:rPr lang="en-US" sz="2400"/>
              <a:t>Provides consistent, single-digit millisecond latency at any scale.</a:t>
            </a:r>
          </a:p>
          <a:p>
            <a:r>
              <a:rPr lang="en-US" sz="2400"/>
              <a:t>Has no limits on table size or throughput.</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15454049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t>Module 8: Databases</a:t>
            </a:r>
          </a:p>
        </p:txBody>
      </p:sp>
      <p:sp>
        <p:nvSpPr>
          <p:cNvPr id="2" name="Title 1"/>
          <p:cNvSpPr>
            <a:spLocks noGrp="1"/>
          </p:cNvSpPr>
          <p:nvPr>
            <p:ph type="title"/>
          </p:nvPr>
        </p:nvSpPr>
        <p:spPr/>
        <p:txBody>
          <a:bodyPr>
            <a:noAutofit/>
          </a:bodyPr>
          <a:lstStyle/>
          <a:p>
            <a:r>
              <a:rPr lang="en-US"/>
              <a:t>Section 3: Amazon Redshift</a:t>
            </a:r>
          </a:p>
        </p:txBody>
      </p:sp>
    </p:spTree>
    <p:custDataLst>
      <p:tags r:id="rId1"/>
    </p:custDataLst>
    <p:extLst>
      <p:ext uri="{BB962C8B-B14F-4D97-AF65-F5344CB8AC3E}">
        <p14:creationId xmlns:p14="http://schemas.microsoft.com/office/powerpoint/2010/main" val="19007093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4A6F75-824C-4541-ACE9-D94E293C2C9E}"/>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71</a:t>
            </a:fld>
            <a:endParaRPr lang="en-US"/>
          </a:p>
        </p:txBody>
      </p:sp>
      <p:sp>
        <p:nvSpPr>
          <p:cNvPr id="2" name="Title 1"/>
          <p:cNvSpPr>
            <a:spLocks noGrp="1"/>
          </p:cNvSpPr>
          <p:nvPr>
            <p:ph type="title"/>
          </p:nvPr>
        </p:nvSpPr>
        <p:spPr/>
        <p:txBody>
          <a:bodyPr/>
          <a:lstStyle/>
          <a:p>
            <a:r>
              <a:rPr lang="en-US"/>
              <a:t>Amazon Redshift</a:t>
            </a:r>
          </a:p>
        </p:txBody>
      </p:sp>
      <p:pic>
        <p:nvPicPr>
          <p:cNvPr id="6" name="Graphic 5">
            <a:extLst>
              <a:ext uri="{FF2B5EF4-FFF2-40B4-BE49-F238E27FC236}">
                <a16:creationId xmlns:a16="http://schemas.microsoft.com/office/drawing/2014/main" id="{167217B3-48F3-42C8-9F0F-384D9C3C14F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13090" y="2515957"/>
            <a:ext cx="1565821" cy="1565821"/>
          </a:xfrm>
          <a:prstGeom prst="rect">
            <a:avLst/>
          </a:prstGeom>
        </p:spPr>
      </p:pic>
      <p:sp>
        <p:nvSpPr>
          <p:cNvPr id="11" name="TextBox 10"/>
          <p:cNvSpPr txBox="1"/>
          <p:nvPr/>
        </p:nvSpPr>
        <p:spPr>
          <a:xfrm>
            <a:off x="3766671" y="4336513"/>
            <a:ext cx="4658659" cy="430887"/>
          </a:xfrm>
          <a:prstGeom prst="rect">
            <a:avLst/>
          </a:prstGeom>
          <a:noFill/>
        </p:spPr>
        <p:txBody>
          <a:bodyPr wrap="square" lIns="0" tIns="0" rIns="0" bIns="0" rtlCol="0" anchor="ctr">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Amazon Redshift</a:t>
            </a:r>
            <a:endParaRPr lang="en-US" sz="6000">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17653154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45687F-BC19-427E-8F86-609D7603F29A}"/>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72</a:t>
            </a:fld>
            <a:endParaRPr lang="en-US"/>
          </a:p>
        </p:txBody>
      </p:sp>
      <p:sp>
        <p:nvSpPr>
          <p:cNvPr id="2" name="Title 1"/>
          <p:cNvSpPr>
            <a:spLocks noGrp="1"/>
          </p:cNvSpPr>
          <p:nvPr>
            <p:ph type="title"/>
          </p:nvPr>
        </p:nvSpPr>
        <p:spPr/>
        <p:txBody>
          <a:bodyPr/>
          <a:lstStyle/>
          <a:p>
            <a:r>
              <a:rPr lang="en-US"/>
              <a:t>Introduction to Amazon Redshift</a:t>
            </a:r>
          </a:p>
        </p:txBody>
      </p:sp>
      <p:pic>
        <p:nvPicPr>
          <p:cNvPr id="4" name="Picture 3" descr="Amazon Redshift overview for processing complex SQL queries.">
            <a:extLst>
              <a:ext uri="{FF2B5EF4-FFF2-40B4-BE49-F238E27FC236}">
                <a16:creationId xmlns:a16="http://schemas.microsoft.com/office/drawing/2014/main" id="{DFB8C3B9-FF55-4063-8906-6B80CFBB7F24}"/>
              </a:ext>
            </a:extLst>
          </p:cNvPr>
          <p:cNvPicPr>
            <a:picLocks noChangeAspect="1"/>
          </p:cNvPicPr>
          <p:nvPr/>
        </p:nvPicPr>
        <p:blipFill>
          <a:blip r:embed="rId4"/>
          <a:stretch>
            <a:fillRect/>
          </a:stretch>
        </p:blipFill>
        <p:spPr>
          <a:xfrm>
            <a:off x="1690072" y="1497951"/>
            <a:ext cx="8811855" cy="4648849"/>
          </a:xfrm>
          <a:prstGeom prst="rect">
            <a:avLst/>
          </a:prstGeom>
        </p:spPr>
      </p:pic>
    </p:spTree>
    <p:custDataLst>
      <p:tags r:id="rId1"/>
    </p:custDataLst>
    <p:extLst>
      <p:ext uri="{BB962C8B-B14F-4D97-AF65-F5344CB8AC3E}">
        <p14:creationId xmlns:p14="http://schemas.microsoft.com/office/powerpoint/2010/main" val="23970521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150CB3F-9EB1-4B9E-9290-7CC60FF27E0A}"/>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73</a:t>
            </a:fld>
            <a:endParaRPr lang="en-US"/>
          </a:p>
        </p:txBody>
      </p:sp>
      <p:sp>
        <p:nvSpPr>
          <p:cNvPr id="2" name="Title 1"/>
          <p:cNvSpPr>
            <a:spLocks noGrp="1"/>
          </p:cNvSpPr>
          <p:nvPr>
            <p:ph type="title"/>
          </p:nvPr>
        </p:nvSpPr>
        <p:spPr/>
        <p:txBody>
          <a:bodyPr/>
          <a:lstStyle/>
          <a:p>
            <a:r>
              <a:rPr lang="en-US"/>
              <a:t>Parallel processing architecture</a:t>
            </a:r>
          </a:p>
        </p:txBody>
      </p:sp>
      <p:grpSp>
        <p:nvGrpSpPr>
          <p:cNvPr id="4" name="Group 3" descr="Amazon Redshift parallel processing architecture described further in the notes..">
            <a:extLst>
              <a:ext uri="{FF2B5EF4-FFF2-40B4-BE49-F238E27FC236}">
                <a16:creationId xmlns:a16="http://schemas.microsoft.com/office/drawing/2014/main" id="{CEB4EA69-61B7-8C7D-D3C1-EBA27A52B8D6}"/>
              </a:ext>
            </a:extLst>
          </p:cNvPr>
          <p:cNvGrpSpPr/>
          <p:nvPr/>
        </p:nvGrpSpPr>
        <p:grpSpPr>
          <a:xfrm>
            <a:off x="1141781" y="1750740"/>
            <a:ext cx="9908439" cy="4145082"/>
            <a:chOff x="1141781" y="1750740"/>
            <a:chExt cx="9908439" cy="4145082"/>
          </a:xfrm>
        </p:grpSpPr>
        <p:grpSp>
          <p:nvGrpSpPr>
            <p:cNvPr id="12" name="Group 11" descr="Amazon Redshift parallel processing architecture described further in the notes..">
              <a:extLst>
                <a:ext uri="{FF2B5EF4-FFF2-40B4-BE49-F238E27FC236}">
                  <a16:creationId xmlns:a16="http://schemas.microsoft.com/office/drawing/2014/main" id="{0C96AB47-9EDE-4488-8990-988B7EB56CCE}"/>
                </a:ext>
              </a:extLst>
            </p:cNvPr>
            <p:cNvGrpSpPr/>
            <p:nvPr/>
          </p:nvGrpSpPr>
          <p:grpSpPr>
            <a:xfrm>
              <a:off x="1141781" y="1750740"/>
              <a:ext cx="9908439" cy="4145082"/>
              <a:chOff x="1757763" y="1750740"/>
              <a:chExt cx="9908439" cy="4145082"/>
            </a:xfrm>
          </p:grpSpPr>
          <p:sp>
            <p:nvSpPr>
              <p:cNvPr id="6" name="TextBox 5">
                <a:extLst>
                  <a:ext uri="{FF2B5EF4-FFF2-40B4-BE49-F238E27FC236}">
                    <a16:creationId xmlns:a16="http://schemas.microsoft.com/office/drawing/2014/main" id="{A5D1E49C-07AC-4266-889B-A6759901CB86}"/>
                  </a:ext>
                  <a:ext uri="{C183D7F6-B498-43B3-948B-1728B52AA6E4}">
                    <adec:decorative xmlns:adec="http://schemas.microsoft.com/office/drawing/2017/decorative" val="1"/>
                  </a:ext>
                </a:extLst>
              </p:cNvPr>
              <p:cNvSpPr txBox="1"/>
              <p:nvPr/>
            </p:nvSpPr>
            <p:spPr>
              <a:xfrm>
                <a:off x="1791220" y="2820792"/>
                <a:ext cx="2301904" cy="307777"/>
              </a:xfrm>
              <a:prstGeom prst="rect">
                <a:avLst/>
              </a:prstGeom>
              <a:noFill/>
            </p:spPr>
            <p:txBody>
              <a:bodyPr wrap="square" rtlCol="0">
                <a:spAutoFit/>
              </a:bodyPr>
              <a:lstStyle/>
              <a:p>
                <a:pPr algn="ctr"/>
                <a:r>
                  <a:rPr lang="en-US" sz="1400"/>
                  <a:t>Amazon Redshift</a:t>
                </a:r>
              </a:p>
            </p:txBody>
          </p:sp>
          <p:pic>
            <p:nvPicPr>
              <p:cNvPr id="7" name="Graphic 6">
                <a:extLst>
                  <a:ext uri="{FF2B5EF4-FFF2-40B4-BE49-F238E27FC236}">
                    <a16:creationId xmlns:a16="http://schemas.microsoft.com/office/drawing/2014/main" id="{A56810B3-DBD7-4644-8FAF-522718AA308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86572" y="2153968"/>
                <a:ext cx="711200" cy="711200"/>
              </a:xfrm>
              <a:prstGeom prst="rect">
                <a:avLst/>
              </a:prstGeom>
            </p:spPr>
          </p:pic>
          <p:sp>
            <p:nvSpPr>
              <p:cNvPr id="10" name="TextBox 9">
                <a:extLst>
                  <a:ext uri="{FF2B5EF4-FFF2-40B4-BE49-F238E27FC236}">
                    <a16:creationId xmlns:a16="http://schemas.microsoft.com/office/drawing/2014/main" id="{26344220-C6D1-4A85-AF73-D4AE6B5369A2}"/>
                  </a:ext>
                  <a:ext uri="{C183D7F6-B498-43B3-948B-1728B52AA6E4}">
                    <adec:decorative xmlns:adec="http://schemas.microsoft.com/office/drawing/2017/decorative" val="1"/>
                  </a:ext>
                </a:extLst>
              </p:cNvPr>
              <p:cNvSpPr txBox="1"/>
              <p:nvPr/>
            </p:nvSpPr>
            <p:spPr>
              <a:xfrm>
                <a:off x="1757763" y="3700414"/>
                <a:ext cx="2301904" cy="523220"/>
              </a:xfrm>
              <a:prstGeom prst="rect">
                <a:avLst/>
              </a:prstGeom>
              <a:noFill/>
            </p:spPr>
            <p:txBody>
              <a:bodyPr wrap="square" rtlCol="0">
                <a:spAutoFit/>
              </a:bodyPr>
              <a:lstStyle/>
              <a:p>
                <a:pPr algn="ctr"/>
                <a:r>
                  <a:rPr lang="en-US" sz="1400"/>
                  <a:t>Dense compute</a:t>
                </a:r>
              </a:p>
              <a:p>
                <a:pPr algn="ctr"/>
                <a:r>
                  <a:rPr lang="en-US" sz="1400"/>
                  <a:t> node</a:t>
                </a:r>
              </a:p>
            </p:txBody>
          </p:sp>
          <p:pic>
            <p:nvPicPr>
              <p:cNvPr id="11" name="Graphic 10">
                <a:extLst>
                  <a:ext uri="{FF2B5EF4-FFF2-40B4-BE49-F238E27FC236}">
                    <a16:creationId xmlns:a16="http://schemas.microsoft.com/office/drawing/2014/main" id="{7FAFF4CD-975B-412B-859E-1F47809FFC1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73765" y="3244461"/>
                <a:ext cx="469900" cy="469900"/>
              </a:xfrm>
              <a:prstGeom prst="rect">
                <a:avLst/>
              </a:prstGeom>
            </p:spPr>
          </p:pic>
          <p:sp>
            <p:nvSpPr>
              <p:cNvPr id="13" name="TextBox 12">
                <a:extLst>
                  <a:ext uri="{FF2B5EF4-FFF2-40B4-BE49-F238E27FC236}">
                    <a16:creationId xmlns:a16="http://schemas.microsoft.com/office/drawing/2014/main" id="{9C6511B3-28A4-4389-AB22-B04CFAE966BB}"/>
                  </a:ext>
                  <a:ext uri="{C183D7F6-B498-43B3-948B-1728B52AA6E4}">
                    <adec:decorative xmlns:adec="http://schemas.microsoft.com/office/drawing/2017/decorative" val="1"/>
                  </a:ext>
                </a:extLst>
              </p:cNvPr>
              <p:cNvSpPr txBox="1"/>
              <p:nvPr/>
            </p:nvSpPr>
            <p:spPr>
              <a:xfrm>
                <a:off x="2208810" y="4290304"/>
                <a:ext cx="1527982" cy="830997"/>
              </a:xfrm>
              <a:prstGeom prst="rect">
                <a:avLst/>
              </a:prstGeom>
              <a:noFill/>
            </p:spPr>
            <p:txBody>
              <a:bodyPr wrap="none" rtlCol="0">
                <a:spAutoFit/>
              </a:bodyPr>
              <a:lstStyle/>
              <a:p>
                <a:pPr marL="285750" indent="-285750">
                  <a:buFont typeface="Arial" panose="020B0604020202020204" pitchFamily="34" charset="0"/>
                  <a:buChar char="•"/>
                </a:pPr>
                <a:r>
                  <a:rPr lang="en-US" sz="1600">
                    <a:latin typeface="Amazon Ember Light" panose="020B0403020204020204" pitchFamily="34" charset="0"/>
                    <a:ea typeface="Amazon Ember Light" panose="020B0403020204020204" pitchFamily="34" charset="0"/>
                    <a:cs typeface="Amazon Ember Light" panose="020B0403020204020204" pitchFamily="34" charset="0"/>
                  </a:rPr>
                  <a:t>Virtual Core</a:t>
                </a:r>
              </a:p>
              <a:p>
                <a:pPr marL="285750" indent="-285750">
                  <a:buFont typeface="Arial" panose="020B0604020202020204" pitchFamily="34" charset="0"/>
                  <a:buChar char="•"/>
                </a:pPr>
                <a:r>
                  <a:rPr lang="en-US" sz="1600">
                    <a:latin typeface="Amazon Ember Light" panose="020B0403020204020204" pitchFamily="34" charset="0"/>
                    <a:ea typeface="Amazon Ember Light" panose="020B0403020204020204" pitchFamily="34" charset="0"/>
                    <a:cs typeface="Amazon Ember Light" panose="020B0403020204020204" pitchFamily="34" charset="0"/>
                  </a:rPr>
                  <a:t>RAM</a:t>
                </a:r>
              </a:p>
              <a:p>
                <a:pPr marL="285750" indent="-285750">
                  <a:buFont typeface="Arial" panose="020B0604020202020204" pitchFamily="34" charset="0"/>
                  <a:buChar char="•"/>
                </a:pPr>
                <a:r>
                  <a:rPr lang="en-US" sz="1600">
                    <a:latin typeface="Amazon Ember Light" panose="020B0403020204020204" pitchFamily="34" charset="0"/>
                    <a:ea typeface="Amazon Ember Light" panose="020B0403020204020204" pitchFamily="34" charset="0"/>
                    <a:cs typeface="Amazon Ember Light" panose="020B0403020204020204" pitchFamily="34" charset="0"/>
                  </a:rPr>
                  <a:t>Local disk</a:t>
                </a:r>
              </a:p>
            </p:txBody>
          </p:sp>
          <p:pic>
            <p:nvPicPr>
              <p:cNvPr id="15" name="Graphic 14">
                <a:extLst>
                  <a:ext uri="{FF2B5EF4-FFF2-40B4-BE49-F238E27FC236}">
                    <a16:creationId xmlns:a16="http://schemas.microsoft.com/office/drawing/2014/main" id="{FF80CFC8-8991-4D11-9423-708D8CF2499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16130" y="3865045"/>
                <a:ext cx="469900" cy="469900"/>
              </a:xfrm>
              <a:prstGeom prst="rect">
                <a:avLst/>
              </a:prstGeom>
            </p:spPr>
          </p:pic>
          <p:sp>
            <p:nvSpPr>
              <p:cNvPr id="16" name="TextBox 15">
                <a:extLst>
                  <a:ext uri="{FF2B5EF4-FFF2-40B4-BE49-F238E27FC236}">
                    <a16:creationId xmlns:a16="http://schemas.microsoft.com/office/drawing/2014/main" id="{83470A10-FC43-409D-97EC-384AEB86AF4C}"/>
                  </a:ext>
                  <a:ext uri="{C183D7F6-B498-43B3-948B-1728B52AA6E4}">
                    <adec:decorative xmlns:adec="http://schemas.microsoft.com/office/drawing/2017/decorative" val="1"/>
                  </a:ext>
                </a:extLst>
              </p:cNvPr>
              <p:cNvSpPr txBox="1"/>
              <p:nvPr/>
            </p:nvSpPr>
            <p:spPr>
              <a:xfrm>
                <a:off x="9046729" y="2972233"/>
                <a:ext cx="2301904" cy="338554"/>
              </a:xfrm>
              <a:prstGeom prst="rect">
                <a:avLst/>
              </a:prstGeom>
              <a:noFill/>
            </p:spPr>
            <p:txBody>
              <a:bodyPr wrap="square" rtlCol="0">
                <a:spAutoFit/>
              </a:bodyPr>
              <a:lstStyle/>
              <a:p>
                <a:pPr algn="ctr"/>
                <a:r>
                  <a:rPr lang="en-US" sz="1600"/>
                  <a:t>Leader node</a:t>
                </a:r>
              </a:p>
            </p:txBody>
          </p:sp>
          <p:sp>
            <p:nvSpPr>
              <p:cNvPr id="17" name="TextBox 16">
                <a:extLst>
                  <a:ext uri="{FF2B5EF4-FFF2-40B4-BE49-F238E27FC236}">
                    <a16:creationId xmlns:a16="http://schemas.microsoft.com/office/drawing/2014/main" id="{8D2AEC4B-8229-4317-91C0-FB3091E7DC6F}"/>
                  </a:ext>
                  <a:ext uri="{C183D7F6-B498-43B3-948B-1728B52AA6E4}">
                    <adec:decorative xmlns:adec="http://schemas.microsoft.com/office/drawing/2017/decorative" val="1"/>
                  </a:ext>
                </a:extLst>
              </p:cNvPr>
              <p:cNvSpPr txBox="1"/>
              <p:nvPr/>
            </p:nvSpPr>
            <p:spPr>
              <a:xfrm>
                <a:off x="9364298" y="3938150"/>
                <a:ext cx="2301904" cy="338554"/>
              </a:xfrm>
              <a:prstGeom prst="rect">
                <a:avLst/>
              </a:prstGeom>
              <a:noFill/>
            </p:spPr>
            <p:txBody>
              <a:bodyPr wrap="square" rtlCol="0">
                <a:spAutoFit/>
              </a:bodyPr>
              <a:lstStyle/>
              <a:p>
                <a:pPr algn="ctr"/>
                <a:r>
                  <a:rPr lang="en-US" sz="1600"/>
                  <a:t>Dense compute nodes</a:t>
                </a:r>
              </a:p>
            </p:txBody>
          </p:sp>
          <p:pic>
            <p:nvPicPr>
              <p:cNvPr id="19" name="Graphic 18">
                <a:extLst>
                  <a:ext uri="{FF2B5EF4-FFF2-40B4-BE49-F238E27FC236}">
                    <a16:creationId xmlns:a16="http://schemas.microsoft.com/office/drawing/2014/main" id="{E3BFF588-63A3-473E-BF22-98B6D3F9214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63150" y="3917082"/>
                <a:ext cx="469900" cy="469900"/>
              </a:xfrm>
              <a:prstGeom prst="rect">
                <a:avLst/>
              </a:prstGeom>
            </p:spPr>
          </p:pic>
          <p:pic>
            <p:nvPicPr>
              <p:cNvPr id="20" name="Graphic 19">
                <a:extLst>
                  <a:ext uri="{FF2B5EF4-FFF2-40B4-BE49-F238E27FC236}">
                    <a16:creationId xmlns:a16="http://schemas.microsoft.com/office/drawing/2014/main" id="{29FD8185-AD55-45F9-9535-789F9AC3064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71057" y="3872477"/>
                <a:ext cx="469900" cy="469900"/>
              </a:xfrm>
              <a:prstGeom prst="rect">
                <a:avLst/>
              </a:prstGeom>
            </p:spPr>
          </p:pic>
          <p:pic>
            <p:nvPicPr>
              <p:cNvPr id="21" name="Graphic 20">
                <a:extLst>
                  <a:ext uri="{FF2B5EF4-FFF2-40B4-BE49-F238E27FC236}">
                    <a16:creationId xmlns:a16="http://schemas.microsoft.com/office/drawing/2014/main" id="{502699DB-2B7A-4CBC-B0AE-516BA6C11C6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82206" y="2910627"/>
                <a:ext cx="469900" cy="469900"/>
              </a:xfrm>
              <a:prstGeom prst="rect">
                <a:avLst/>
              </a:prstGeom>
            </p:spPr>
          </p:pic>
          <p:sp>
            <p:nvSpPr>
              <p:cNvPr id="8" name="Rectangle: Rounded Corners 7">
                <a:extLst>
                  <a:ext uri="{FF2B5EF4-FFF2-40B4-BE49-F238E27FC236}">
                    <a16:creationId xmlns:a16="http://schemas.microsoft.com/office/drawing/2014/main" id="{04A6C253-E0E5-4ADC-BAC6-8AC8C8599195}"/>
                  </a:ext>
                  <a:ext uri="{C183D7F6-B498-43B3-948B-1728B52AA6E4}">
                    <adec:decorative xmlns:adec="http://schemas.microsoft.com/office/drawing/2017/decorative" val="1"/>
                  </a:ext>
                </a:extLst>
              </p:cNvPr>
              <p:cNvSpPr/>
              <p:nvPr/>
            </p:nvSpPr>
            <p:spPr>
              <a:xfrm>
                <a:off x="2263697" y="1750740"/>
                <a:ext cx="1371599" cy="414508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A90DEEDA-6C72-43AA-ACCB-619FCC280819}"/>
                  </a:ext>
                  <a:ext uri="{C183D7F6-B498-43B3-948B-1728B52AA6E4}">
                    <adec:decorative xmlns:adec="http://schemas.microsoft.com/office/drawing/2017/decorative" val="1"/>
                  </a:ext>
                </a:extLst>
              </p:cNvPr>
              <p:cNvSpPr/>
              <p:nvPr/>
            </p:nvSpPr>
            <p:spPr>
              <a:xfrm>
                <a:off x="7140342" y="1862254"/>
                <a:ext cx="1967342" cy="517513"/>
              </a:xfrm>
              <a:prstGeom prst="roundRect">
                <a:avLst/>
              </a:prstGeom>
              <a:gradFill>
                <a:gsLst>
                  <a:gs pos="0">
                    <a:schemeClr val="accent5"/>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502E9AE-0343-4601-96C4-2D8EF6C558D8}"/>
                  </a:ext>
                  <a:ext uri="{C183D7F6-B498-43B3-948B-1728B52AA6E4}">
                    <adec:decorative xmlns:adec="http://schemas.microsoft.com/office/drawing/2017/decorative" val="1"/>
                  </a:ext>
                </a:extLst>
              </p:cNvPr>
              <p:cNvSpPr txBox="1"/>
              <p:nvPr/>
            </p:nvSpPr>
            <p:spPr>
              <a:xfrm>
                <a:off x="9209269" y="1905406"/>
                <a:ext cx="1976823" cy="338554"/>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SQL Clients/BI tools</a:t>
                </a:r>
              </a:p>
            </p:txBody>
          </p:sp>
          <p:sp>
            <p:nvSpPr>
              <p:cNvPr id="24" name="Rectangle: Rounded Corners 23">
                <a:extLst>
                  <a:ext uri="{FF2B5EF4-FFF2-40B4-BE49-F238E27FC236}">
                    <a16:creationId xmlns:a16="http://schemas.microsoft.com/office/drawing/2014/main" id="{41A85FB4-7FA6-4E9F-9446-0A170181DBC9}"/>
                  </a:ext>
                  <a:ext uri="{C183D7F6-B498-43B3-948B-1728B52AA6E4}">
                    <adec:decorative xmlns:adec="http://schemas.microsoft.com/office/drawing/2017/decorative" val="1"/>
                  </a:ext>
                </a:extLst>
              </p:cNvPr>
              <p:cNvSpPr/>
              <p:nvPr/>
            </p:nvSpPr>
            <p:spPr>
              <a:xfrm>
                <a:off x="7043672" y="4806173"/>
                <a:ext cx="2409700" cy="82603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a:extLst>
                  <a:ext uri="{FF2B5EF4-FFF2-40B4-BE49-F238E27FC236}">
                    <a16:creationId xmlns:a16="http://schemas.microsoft.com/office/drawing/2014/main" id="{E26E7B75-7651-4655-910C-F939DBE34D3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05956" y="4874652"/>
                <a:ext cx="711200" cy="711200"/>
              </a:xfrm>
              <a:prstGeom prst="rect">
                <a:avLst/>
              </a:prstGeom>
            </p:spPr>
          </p:pic>
          <p:pic>
            <p:nvPicPr>
              <p:cNvPr id="26" name="Graphic 25">
                <a:extLst>
                  <a:ext uri="{FF2B5EF4-FFF2-40B4-BE49-F238E27FC236}">
                    <a16:creationId xmlns:a16="http://schemas.microsoft.com/office/drawing/2014/main" id="{D911840A-8A72-420A-B85E-F2CD2EC7557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35529" y="4880511"/>
                <a:ext cx="711200" cy="711200"/>
              </a:xfrm>
              <a:prstGeom prst="rect">
                <a:avLst/>
              </a:prstGeom>
            </p:spPr>
          </p:pic>
          <p:sp>
            <p:nvSpPr>
              <p:cNvPr id="27" name="TextBox 26">
                <a:extLst>
                  <a:ext uri="{FF2B5EF4-FFF2-40B4-BE49-F238E27FC236}">
                    <a16:creationId xmlns:a16="http://schemas.microsoft.com/office/drawing/2014/main" id="{113E8F12-5293-4741-8998-E1672BAB7516}"/>
                  </a:ext>
                  <a:ext uri="{C183D7F6-B498-43B3-948B-1728B52AA6E4}">
                    <adec:decorative xmlns:adec="http://schemas.microsoft.com/office/drawing/2017/decorative" val="1"/>
                  </a:ext>
                </a:extLst>
              </p:cNvPr>
              <p:cNvSpPr txBox="1"/>
              <p:nvPr/>
            </p:nvSpPr>
            <p:spPr>
              <a:xfrm>
                <a:off x="9671745" y="4859923"/>
                <a:ext cx="1994457" cy="584775"/>
              </a:xfrm>
              <a:prstGeom prst="rect">
                <a:avLst/>
              </a:prstGeom>
              <a:noFill/>
            </p:spPr>
            <p:txBody>
              <a:bodyPr wrap="none" rtlCol="0">
                <a:spAutoFit/>
              </a:bodyPr>
              <a:lstStyle/>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Amazon DynamoDB</a:t>
                </a:r>
              </a:p>
              <a:p>
                <a:r>
                  <a:rPr lang="en-US" sz="1600">
                    <a:latin typeface="Amazon Ember Light" panose="020B0403020204020204" pitchFamily="34" charset="0"/>
                    <a:ea typeface="Amazon Ember Light" panose="020B0403020204020204" pitchFamily="34" charset="0"/>
                    <a:cs typeface="Amazon Ember Light" panose="020B0403020204020204" pitchFamily="34" charset="0"/>
                  </a:rPr>
                  <a:t>Amazon S3</a:t>
                </a:r>
              </a:p>
            </p:txBody>
          </p:sp>
        </p:grpSp>
        <p:cxnSp>
          <p:nvCxnSpPr>
            <p:cNvPr id="14" name="Elbow Connector 13">
              <a:extLst>
                <a:ext uri="{FF2B5EF4-FFF2-40B4-BE49-F238E27FC236}">
                  <a16:creationId xmlns:a16="http://schemas.microsoft.com/office/drawing/2014/main" id="{183F8A90-BFC2-C7AE-2AD8-D176A76428EC}"/>
                </a:ext>
                <a:ext uri="{C183D7F6-B498-43B3-948B-1728B52AA6E4}">
                  <adec:decorative xmlns:adec="http://schemas.microsoft.com/office/drawing/2017/decorative" val="1"/>
                </a:ext>
              </a:extLst>
            </p:cNvPr>
            <p:cNvCxnSpPr>
              <a:stCxn id="6" idx="3"/>
            </p:cNvCxnSpPr>
            <p:nvPr/>
          </p:nvCxnSpPr>
          <p:spPr>
            <a:xfrm>
              <a:off x="3477142" y="2974681"/>
              <a:ext cx="2618858" cy="110201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45D366A1-544B-90FF-4BEF-2D362C67AC55}"/>
                </a:ext>
                <a:ext uri="{C183D7F6-B498-43B3-948B-1728B52AA6E4}">
                  <adec:decorative xmlns:adec="http://schemas.microsoft.com/office/drawing/2017/decorative" val="1"/>
                </a:ext>
              </a:extLst>
            </p:cNvPr>
            <p:cNvCxnSpPr/>
            <p:nvPr/>
          </p:nvCxnSpPr>
          <p:spPr>
            <a:xfrm flipV="1">
              <a:off x="3443685" y="4076700"/>
              <a:ext cx="2652315" cy="1044601"/>
            </a:xfrm>
            <a:prstGeom prst="bentConnector3">
              <a:avLst/>
            </a:prstGeom>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1486935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DDA6B2-68C5-48E8-9293-2DE27C529AF7}"/>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74</a:t>
            </a:fld>
            <a:endParaRPr lang="en-US"/>
          </a:p>
        </p:txBody>
      </p:sp>
      <p:sp>
        <p:nvSpPr>
          <p:cNvPr id="2" name="Title 1"/>
          <p:cNvSpPr>
            <a:spLocks noGrp="1"/>
          </p:cNvSpPr>
          <p:nvPr>
            <p:ph type="title"/>
          </p:nvPr>
        </p:nvSpPr>
        <p:spPr/>
        <p:txBody>
          <a:bodyPr/>
          <a:lstStyle/>
          <a:p>
            <a:r>
              <a:rPr lang="en-US"/>
              <a:t>Automation and scaling</a:t>
            </a:r>
          </a:p>
        </p:txBody>
      </p:sp>
      <p:grpSp>
        <p:nvGrpSpPr>
          <p:cNvPr id="8" name="Group 7" descr="You can automate managing, monitoring, and scaling Amazon Redshift implementations.">
            <a:extLst>
              <a:ext uri="{FF2B5EF4-FFF2-40B4-BE49-F238E27FC236}">
                <a16:creationId xmlns:a16="http://schemas.microsoft.com/office/drawing/2014/main" id="{4AE01C9C-DD55-4FB3-AAD8-CC69080F94F6}"/>
              </a:ext>
            </a:extLst>
          </p:cNvPr>
          <p:cNvGrpSpPr/>
          <p:nvPr/>
        </p:nvGrpSpPr>
        <p:grpSpPr>
          <a:xfrm>
            <a:off x="1992436" y="1341436"/>
            <a:ext cx="8207128" cy="5248855"/>
            <a:chOff x="1634667" y="1341436"/>
            <a:chExt cx="8207128" cy="5248855"/>
          </a:xfrm>
        </p:grpSpPr>
        <p:pic>
          <p:nvPicPr>
            <p:cNvPr id="4" name="Picture 3">
              <a:extLst>
                <a:ext uri="{FF2B5EF4-FFF2-40B4-BE49-F238E27FC236}">
                  <a16:creationId xmlns:a16="http://schemas.microsoft.com/office/drawing/2014/main" id="{AB0E32BE-F199-DC4F-943A-32215E91741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34667" y="1341436"/>
              <a:ext cx="4417786" cy="5248855"/>
            </a:xfrm>
            <a:prstGeom prst="rect">
              <a:avLst/>
            </a:prstGeom>
          </p:spPr>
        </p:pic>
        <p:pic>
          <p:nvPicPr>
            <p:cNvPr id="7" name="Picture 6">
              <a:extLst>
                <a:ext uri="{FF2B5EF4-FFF2-40B4-BE49-F238E27FC236}">
                  <a16:creationId xmlns:a16="http://schemas.microsoft.com/office/drawing/2014/main" id="{DC851433-141A-3140-A67C-D44B64EEC1A4}"/>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096000" y="1341436"/>
              <a:ext cx="1915886" cy="3207996"/>
            </a:xfrm>
            <a:prstGeom prst="rect">
              <a:avLst/>
            </a:prstGeom>
          </p:spPr>
        </p:pic>
        <p:sp>
          <p:nvSpPr>
            <p:cNvPr id="9" name="TextBox 8">
              <a:extLst>
                <a:ext uri="{FF2B5EF4-FFF2-40B4-BE49-F238E27FC236}">
                  <a16:creationId xmlns:a16="http://schemas.microsoft.com/office/drawing/2014/main" id="{8FC9027B-9E80-F24D-BC6E-CFC1325A2D5D}"/>
                </a:ext>
                <a:ext uri="{C183D7F6-B498-43B3-948B-1728B52AA6E4}">
                  <adec:decorative xmlns:adec="http://schemas.microsoft.com/office/drawing/2017/decorative" val="1"/>
                </a:ext>
              </a:extLst>
            </p:cNvPr>
            <p:cNvSpPr txBox="1"/>
            <p:nvPr/>
          </p:nvSpPr>
          <p:spPr>
            <a:xfrm>
              <a:off x="8355491" y="1785256"/>
              <a:ext cx="1486304"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Manage</a:t>
              </a: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10" name="TextBox 9">
              <a:extLst>
                <a:ext uri="{FF2B5EF4-FFF2-40B4-BE49-F238E27FC236}">
                  <a16:creationId xmlns:a16="http://schemas.microsoft.com/office/drawing/2014/main" id="{9441C183-337D-1747-B052-B14E9B3EAC27}"/>
                </a:ext>
                <a:ext uri="{C183D7F6-B498-43B3-948B-1728B52AA6E4}">
                  <adec:decorative xmlns:adec="http://schemas.microsoft.com/office/drawing/2017/decorative" val="1"/>
                </a:ext>
              </a:extLst>
            </p:cNvPr>
            <p:cNvSpPr txBox="1"/>
            <p:nvPr/>
          </p:nvSpPr>
          <p:spPr>
            <a:xfrm>
              <a:off x="8359146" y="3331049"/>
              <a:ext cx="147829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Monitor</a:t>
              </a: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TextBox 10">
              <a:extLst>
                <a:ext uri="{FF2B5EF4-FFF2-40B4-BE49-F238E27FC236}">
                  <a16:creationId xmlns:a16="http://schemas.microsoft.com/office/drawing/2014/main" id="{3D3AC6BF-2B44-7940-A9D5-1A41F07B99F6}"/>
                </a:ext>
                <a:ext uri="{C183D7F6-B498-43B3-948B-1728B52AA6E4}">
                  <adec:decorative xmlns:adec="http://schemas.microsoft.com/office/drawing/2017/decorative" val="1"/>
                </a:ext>
              </a:extLst>
            </p:cNvPr>
            <p:cNvSpPr txBox="1"/>
            <p:nvPr/>
          </p:nvSpPr>
          <p:spPr>
            <a:xfrm>
              <a:off x="8355491" y="5165072"/>
              <a:ext cx="1035861"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Scale</a:t>
              </a: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12" name="Up Arrow 11">
              <a:extLst>
                <a:ext uri="{FF2B5EF4-FFF2-40B4-BE49-F238E27FC236}">
                  <a16:creationId xmlns:a16="http://schemas.microsoft.com/office/drawing/2014/main" id="{F14F964F-BD0C-BA41-91F3-B5A456FB02AC}"/>
                </a:ext>
                <a:ext uri="{C183D7F6-B498-43B3-948B-1728B52AA6E4}">
                  <adec:decorative xmlns:adec="http://schemas.microsoft.com/office/drawing/2017/decorative" val="1"/>
                </a:ext>
              </a:extLst>
            </p:cNvPr>
            <p:cNvSpPr/>
            <p:nvPr/>
          </p:nvSpPr>
          <p:spPr>
            <a:xfrm>
              <a:off x="7049585" y="4942113"/>
              <a:ext cx="478971" cy="73152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1CCAA85-C15C-634E-9A28-57DB2D9A37C0}"/>
                </a:ext>
                <a:ext uri="{C183D7F6-B498-43B3-948B-1728B52AA6E4}">
                  <adec:decorative xmlns:adec="http://schemas.microsoft.com/office/drawing/2017/decorative" val="1"/>
                </a:ext>
              </a:extLst>
            </p:cNvPr>
            <p:cNvSpPr/>
            <p:nvPr/>
          </p:nvSpPr>
          <p:spPr>
            <a:xfrm>
              <a:off x="7174770" y="5916453"/>
              <a:ext cx="228600" cy="65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96771D7-A400-4341-BD8D-52FC04C61CFD}"/>
                </a:ext>
                <a:ext uri="{C183D7F6-B498-43B3-948B-1728B52AA6E4}">
                  <adec:decorative xmlns:adec="http://schemas.microsoft.com/office/drawing/2017/decorative" val="1"/>
                </a:ext>
              </a:extLst>
            </p:cNvPr>
            <p:cNvSpPr/>
            <p:nvPr/>
          </p:nvSpPr>
          <p:spPr>
            <a:xfrm>
              <a:off x="7174770" y="5702613"/>
              <a:ext cx="228600"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Up Arrow 19">
              <a:extLst>
                <a:ext uri="{FF2B5EF4-FFF2-40B4-BE49-F238E27FC236}">
                  <a16:creationId xmlns:a16="http://schemas.microsoft.com/office/drawing/2014/main" id="{B5FE3B28-CD00-7744-AFD5-65CFB3D712B1}"/>
                </a:ext>
                <a:ext uri="{C183D7F6-B498-43B3-948B-1728B52AA6E4}">
                  <adec:decorative xmlns:adec="http://schemas.microsoft.com/office/drawing/2017/decorative" val="1"/>
                </a:ext>
              </a:extLst>
            </p:cNvPr>
            <p:cNvSpPr/>
            <p:nvPr/>
          </p:nvSpPr>
          <p:spPr>
            <a:xfrm rot="10800000">
              <a:off x="6533792" y="5250247"/>
              <a:ext cx="478971" cy="73152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13918B1-981A-184E-9E98-55A0E1E16685}"/>
                </a:ext>
                <a:ext uri="{C183D7F6-B498-43B3-948B-1728B52AA6E4}">
                  <adec:decorative xmlns:adec="http://schemas.microsoft.com/office/drawing/2017/decorative" val="1"/>
                </a:ext>
              </a:extLst>
            </p:cNvPr>
            <p:cNvSpPr/>
            <p:nvPr/>
          </p:nvSpPr>
          <p:spPr>
            <a:xfrm rot="10800000">
              <a:off x="6658978" y="4942113"/>
              <a:ext cx="228600" cy="65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948377C-1104-DD43-BC8F-389E296D96D7}"/>
                </a:ext>
                <a:ext uri="{C183D7F6-B498-43B3-948B-1728B52AA6E4}">
                  <adec:decorative xmlns:adec="http://schemas.microsoft.com/office/drawing/2017/decorative" val="1"/>
                </a:ext>
              </a:extLst>
            </p:cNvPr>
            <p:cNvSpPr/>
            <p:nvPr/>
          </p:nvSpPr>
          <p:spPr>
            <a:xfrm rot="10800000">
              <a:off x="6658978" y="5038387"/>
              <a:ext cx="228600"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13379886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A64D9EF-1413-4F0A-B24E-003C50B44A92}"/>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75</a:t>
            </a:fld>
            <a:endParaRPr lang="en-US"/>
          </a:p>
        </p:txBody>
      </p:sp>
      <p:sp>
        <p:nvSpPr>
          <p:cNvPr id="2" name="Title 1"/>
          <p:cNvSpPr>
            <a:spLocks noGrp="1"/>
          </p:cNvSpPr>
          <p:nvPr>
            <p:ph type="title"/>
          </p:nvPr>
        </p:nvSpPr>
        <p:spPr/>
        <p:txBody>
          <a:bodyPr/>
          <a:lstStyle/>
          <a:p>
            <a:r>
              <a:rPr lang="en-US"/>
              <a:t>Compatibility</a:t>
            </a:r>
          </a:p>
        </p:txBody>
      </p:sp>
      <p:pic>
        <p:nvPicPr>
          <p:cNvPr id="5" name="Picture 4" descr="Amazon Redshift is compatible with many SQL clients.">
            <a:extLst>
              <a:ext uri="{FF2B5EF4-FFF2-40B4-BE49-F238E27FC236}">
                <a16:creationId xmlns:a16="http://schemas.microsoft.com/office/drawing/2014/main" id="{648C5CE3-C918-4BF8-8014-51170B4062AA}"/>
              </a:ext>
            </a:extLst>
          </p:cNvPr>
          <p:cNvPicPr>
            <a:picLocks noChangeAspect="1"/>
          </p:cNvPicPr>
          <p:nvPr/>
        </p:nvPicPr>
        <p:blipFill>
          <a:blip r:embed="rId4"/>
          <a:stretch>
            <a:fillRect/>
          </a:stretch>
        </p:blipFill>
        <p:spPr>
          <a:xfrm>
            <a:off x="1690072" y="1471339"/>
            <a:ext cx="8811855" cy="3915321"/>
          </a:xfrm>
          <a:prstGeom prst="rect">
            <a:avLst/>
          </a:prstGeom>
        </p:spPr>
      </p:pic>
    </p:spTree>
    <p:custDataLst>
      <p:tags r:id="rId1"/>
    </p:custDataLst>
    <p:extLst>
      <p:ext uri="{BB962C8B-B14F-4D97-AF65-F5344CB8AC3E}">
        <p14:creationId xmlns:p14="http://schemas.microsoft.com/office/powerpoint/2010/main" val="27818625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8F7F24-3E93-4E84-9E49-23B58794C4C6}"/>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76</a:t>
            </a:fld>
            <a:endParaRPr lang="en-US"/>
          </a:p>
        </p:txBody>
      </p:sp>
      <p:sp>
        <p:nvSpPr>
          <p:cNvPr id="2" name="Title 1"/>
          <p:cNvSpPr>
            <a:spLocks noGrp="1"/>
          </p:cNvSpPr>
          <p:nvPr>
            <p:ph type="title"/>
          </p:nvPr>
        </p:nvSpPr>
        <p:spPr/>
        <p:txBody>
          <a:bodyPr/>
          <a:lstStyle/>
          <a:p>
            <a:r>
              <a:rPr lang="en-US"/>
              <a:t>Amazon Redshift use cases (1 of 2)</a:t>
            </a:r>
          </a:p>
        </p:txBody>
      </p:sp>
      <p:sp>
        <p:nvSpPr>
          <p:cNvPr id="3" name="Content Placeholder 2"/>
          <p:cNvSpPr>
            <a:spLocks noGrp="1"/>
          </p:cNvSpPr>
          <p:nvPr>
            <p:ph sz="quarter" idx="21"/>
          </p:nvPr>
        </p:nvSpPr>
        <p:spPr/>
        <p:txBody>
          <a:bodyPr>
            <a:normAutofit/>
          </a:bodyPr>
          <a:lstStyle/>
          <a:p>
            <a:pPr marL="457200" lvl="1" indent="-457200" algn="just">
              <a:lnSpc>
                <a:spcPct val="100000"/>
              </a:lnSpc>
              <a:spcBef>
                <a:spcPts val="800"/>
              </a:spcBef>
              <a:spcAft>
                <a:spcPts val="800"/>
              </a:spcAft>
            </a:pPr>
            <a:r>
              <a:rPr lang="en-US" sz="2800"/>
              <a:t>Enterprise data warehouse (EDW)</a:t>
            </a:r>
          </a:p>
          <a:p>
            <a:pPr marL="914400" lvl="2" indent="-457200" algn="just">
              <a:lnSpc>
                <a:spcPct val="100000"/>
              </a:lnSpc>
              <a:spcBef>
                <a:spcPts val="800"/>
              </a:spcBef>
              <a:spcAft>
                <a:spcPts val="800"/>
              </a:spcAft>
            </a:pPr>
            <a:r>
              <a:rPr lang="en-US" sz="2400"/>
              <a:t>Migrate at a pace that customers are comfortable with</a:t>
            </a:r>
          </a:p>
          <a:p>
            <a:pPr marL="914400" lvl="2" indent="-457200" algn="just">
              <a:lnSpc>
                <a:spcPct val="100000"/>
              </a:lnSpc>
              <a:spcBef>
                <a:spcPts val="800"/>
              </a:spcBef>
              <a:spcAft>
                <a:spcPts val="800"/>
              </a:spcAft>
            </a:pPr>
            <a:r>
              <a:rPr lang="en-US" sz="2400"/>
              <a:t>Experiment without large upfront cost or commitment</a:t>
            </a:r>
          </a:p>
          <a:p>
            <a:pPr marL="914400" lvl="2" indent="-457200" algn="just">
              <a:lnSpc>
                <a:spcPct val="100000"/>
              </a:lnSpc>
              <a:spcBef>
                <a:spcPts val="800"/>
              </a:spcBef>
              <a:spcAft>
                <a:spcPts val="800"/>
              </a:spcAft>
            </a:pPr>
            <a:r>
              <a:rPr lang="en-US" sz="2400"/>
              <a:t>Respond faster to business needs</a:t>
            </a:r>
          </a:p>
          <a:p>
            <a:pPr marL="457200" lvl="1" indent="-457200" algn="just">
              <a:lnSpc>
                <a:spcPct val="100000"/>
              </a:lnSpc>
              <a:spcBef>
                <a:spcPts val="800"/>
              </a:spcBef>
              <a:spcAft>
                <a:spcPts val="800"/>
              </a:spcAft>
            </a:pPr>
            <a:r>
              <a:rPr lang="en-US" sz="2800"/>
              <a:t>Big data</a:t>
            </a:r>
          </a:p>
          <a:p>
            <a:pPr marL="914400" lvl="2" indent="-457200" algn="just">
              <a:lnSpc>
                <a:spcPct val="100000"/>
              </a:lnSpc>
              <a:spcBef>
                <a:spcPts val="800"/>
              </a:spcBef>
              <a:spcAft>
                <a:spcPts val="800"/>
              </a:spcAft>
            </a:pPr>
            <a:r>
              <a:rPr lang="en-US" sz="2400"/>
              <a:t>Low price point for small customers</a:t>
            </a:r>
          </a:p>
          <a:p>
            <a:pPr marL="914400" lvl="2" indent="-457200" algn="just">
              <a:lnSpc>
                <a:spcPct val="100000"/>
              </a:lnSpc>
              <a:spcBef>
                <a:spcPts val="800"/>
              </a:spcBef>
              <a:spcAft>
                <a:spcPts val="800"/>
              </a:spcAft>
            </a:pPr>
            <a:r>
              <a:rPr lang="en-US" sz="2400"/>
              <a:t>Managed service for ease of deployment and maintenance</a:t>
            </a:r>
          </a:p>
          <a:p>
            <a:pPr marL="914400" lvl="2" indent="-457200" algn="just">
              <a:lnSpc>
                <a:spcPct val="100000"/>
              </a:lnSpc>
              <a:spcBef>
                <a:spcPts val="800"/>
              </a:spcBef>
              <a:spcAft>
                <a:spcPts val="800"/>
              </a:spcAft>
            </a:pPr>
            <a:r>
              <a:rPr lang="en-US" sz="2400"/>
              <a:t>Focus more on data and less on database management</a:t>
            </a:r>
          </a:p>
        </p:txBody>
      </p:sp>
      <p:pic>
        <p:nvPicPr>
          <p:cNvPr id="6" name="Picture 5">
            <a:extLst>
              <a:ext uri="{FF2B5EF4-FFF2-40B4-BE49-F238E27FC236}">
                <a16:creationId xmlns:a16="http://schemas.microsoft.com/office/drawing/2014/main" id="{A3977061-F8B9-DE47-B1A2-C0FBBEA9FBB0}"/>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316813" y="2603614"/>
            <a:ext cx="2333614" cy="2252866"/>
          </a:xfrm>
          <a:prstGeom prst="rect">
            <a:avLst/>
          </a:prstGeom>
        </p:spPr>
      </p:pic>
    </p:spTree>
    <p:custDataLst>
      <p:tags r:id="rId1"/>
    </p:custDataLst>
    <p:extLst>
      <p:ext uri="{BB962C8B-B14F-4D97-AF65-F5344CB8AC3E}">
        <p14:creationId xmlns:p14="http://schemas.microsoft.com/office/powerpoint/2010/main" val="29246640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64B858-3257-47DE-B144-62204570F57F}"/>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77</a:t>
            </a:fld>
            <a:endParaRPr lang="en-US"/>
          </a:p>
        </p:txBody>
      </p:sp>
      <p:sp>
        <p:nvSpPr>
          <p:cNvPr id="2" name="Title 1"/>
          <p:cNvSpPr>
            <a:spLocks noGrp="1"/>
          </p:cNvSpPr>
          <p:nvPr>
            <p:ph type="title"/>
          </p:nvPr>
        </p:nvSpPr>
        <p:spPr/>
        <p:txBody>
          <a:bodyPr/>
          <a:lstStyle/>
          <a:p>
            <a:r>
              <a:rPr lang="en-US"/>
              <a:t>Amazon Redshift use cases (2 of 2)</a:t>
            </a:r>
          </a:p>
        </p:txBody>
      </p:sp>
      <p:sp>
        <p:nvSpPr>
          <p:cNvPr id="3" name="Content Placeholder 2"/>
          <p:cNvSpPr>
            <a:spLocks noGrp="1"/>
          </p:cNvSpPr>
          <p:nvPr>
            <p:ph sz="quarter" idx="21"/>
          </p:nvPr>
        </p:nvSpPr>
        <p:spPr/>
        <p:txBody>
          <a:bodyPr>
            <a:normAutofit/>
          </a:bodyPr>
          <a:lstStyle/>
          <a:p>
            <a:pPr marL="457200" lvl="1" indent="-457200" algn="just">
              <a:lnSpc>
                <a:spcPct val="100000"/>
              </a:lnSpc>
              <a:spcBef>
                <a:spcPts val="800"/>
              </a:spcBef>
              <a:spcAft>
                <a:spcPts val="800"/>
              </a:spcAft>
            </a:pPr>
            <a:r>
              <a:rPr lang="en-US" sz="2800"/>
              <a:t>Software as a service (SaaS)</a:t>
            </a:r>
          </a:p>
          <a:p>
            <a:pPr marL="914400" lvl="2" indent="-457200" algn="just">
              <a:lnSpc>
                <a:spcPct val="100000"/>
              </a:lnSpc>
              <a:spcBef>
                <a:spcPts val="800"/>
              </a:spcBef>
            </a:pPr>
            <a:r>
              <a:rPr lang="en-US" sz="2400"/>
              <a:t>Scale the data warehouse capacity as demand grows</a:t>
            </a:r>
          </a:p>
          <a:p>
            <a:pPr marL="914400" lvl="2" indent="-457200" algn="just">
              <a:lnSpc>
                <a:spcPct val="100000"/>
              </a:lnSpc>
              <a:spcBef>
                <a:spcPts val="800"/>
              </a:spcBef>
            </a:pPr>
            <a:r>
              <a:rPr lang="en-US" sz="2400"/>
              <a:t>Add analytic functionality to applications</a:t>
            </a:r>
          </a:p>
          <a:p>
            <a:pPr marL="914400" lvl="2" indent="-457200" algn="just">
              <a:lnSpc>
                <a:spcPct val="100000"/>
              </a:lnSpc>
              <a:spcBef>
                <a:spcPts val="800"/>
              </a:spcBef>
            </a:pPr>
            <a:r>
              <a:rPr lang="en-US" sz="2400"/>
              <a:t>Reduce hardware and software costs</a:t>
            </a:r>
          </a:p>
        </p:txBody>
      </p:sp>
      <p:pic>
        <p:nvPicPr>
          <p:cNvPr id="7" name="Picture 6">
            <a:extLst>
              <a:ext uri="{FF2B5EF4-FFF2-40B4-BE49-F238E27FC236}">
                <a16:creationId xmlns:a16="http://schemas.microsoft.com/office/drawing/2014/main" id="{F644CFD3-2904-5848-A5EB-FEEFE5B94919}"/>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08488" y="1440305"/>
            <a:ext cx="2640330" cy="1682334"/>
          </a:xfrm>
          <a:prstGeom prst="rect">
            <a:avLst/>
          </a:prstGeom>
        </p:spPr>
      </p:pic>
    </p:spTree>
    <p:custDataLst>
      <p:tags r:id="rId1"/>
    </p:custDataLst>
    <p:extLst>
      <p:ext uri="{BB962C8B-B14F-4D97-AF65-F5344CB8AC3E}">
        <p14:creationId xmlns:p14="http://schemas.microsoft.com/office/powerpoint/2010/main" val="4228197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78</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a:t>Section 3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pPr marL="0" indent="0">
              <a:buNone/>
            </a:pPr>
            <a:r>
              <a:rPr lang="en-US"/>
              <a:t>Amazon Redshift features:</a:t>
            </a:r>
          </a:p>
          <a:p>
            <a:r>
              <a:rPr lang="en-US"/>
              <a:t>Fast, fully managed data warehouse service</a:t>
            </a:r>
          </a:p>
          <a:p>
            <a:r>
              <a:rPr lang="en-US"/>
              <a:t>Easily scale with no downtime</a:t>
            </a:r>
          </a:p>
          <a:p>
            <a:r>
              <a:rPr lang="en-US"/>
              <a:t>Columnar storage and parallel processing architectures</a:t>
            </a:r>
          </a:p>
          <a:p>
            <a:r>
              <a:rPr lang="en-US"/>
              <a:t>Automatically and continuously monitors cluster</a:t>
            </a:r>
          </a:p>
          <a:p>
            <a:r>
              <a:rPr lang="en-US"/>
              <a:t>Encryption is built in</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4784694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subTitle" idx="1"/>
          </p:nvPr>
        </p:nvSpPr>
        <p:spPr/>
        <p:txBody>
          <a:bodyPr>
            <a:normAutofit/>
          </a:bodyPr>
          <a:lstStyle/>
          <a:p>
            <a:r>
              <a:rPr lang="en-US"/>
              <a:t>Module 8: Databases</a:t>
            </a:r>
          </a:p>
        </p:txBody>
      </p:sp>
      <p:sp>
        <p:nvSpPr>
          <p:cNvPr id="2" name="Title 1"/>
          <p:cNvSpPr>
            <a:spLocks noGrp="1"/>
          </p:cNvSpPr>
          <p:nvPr>
            <p:ph type="title"/>
          </p:nvPr>
        </p:nvSpPr>
        <p:spPr/>
        <p:txBody>
          <a:bodyPr>
            <a:noAutofit/>
          </a:bodyPr>
          <a:lstStyle/>
          <a:p>
            <a:r>
              <a:rPr lang="en-US"/>
              <a:t>Section 4: Amazon Aurora</a:t>
            </a:r>
          </a:p>
        </p:txBody>
      </p:sp>
    </p:spTree>
    <p:custDataLst>
      <p:tags r:id="rId1"/>
    </p:custDataLst>
    <p:extLst>
      <p:ext uri="{BB962C8B-B14F-4D97-AF65-F5344CB8AC3E}">
        <p14:creationId xmlns:p14="http://schemas.microsoft.com/office/powerpoint/2010/main" val="18840183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2F0AD6-3C0E-4A52-B490-6BCD862F2708}"/>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80</a:t>
            </a:fld>
            <a:endParaRPr lang="en-US"/>
          </a:p>
        </p:txBody>
      </p:sp>
      <p:sp>
        <p:nvSpPr>
          <p:cNvPr id="2" name="Title 1"/>
          <p:cNvSpPr>
            <a:spLocks noGrp="1"/>
          </p:cNvSpPr>
          <p:nvPr>
            <p:ph type="title"/>
          </p:nvPr>
        </p:nvSpPr>
        <p:spPr/>
        <p:txBody>
          <a:bodyPr/>
          <a:lstStyle/>
          <a:p>
            <a:r>
              <a:rPr lang="en-US"/>
              <a:t>Amazon Aurora</a:t>
            </a:r>
          </a:p>
        </p:txBody>
      </p:sp>
      <p:pic>
        <p:nvPicPr>
          <p:cNvPr id="5" name="Graphic 4">
            <a:extLst>
              <a:ext uri="{FF2B5EF4-FFF2-40B4-BE49-F238E27FC236}">
                <a16:creationId xmlns:a16="http://schemas.microsoft.com/office/drawing/2014/main" id="{ACA6E15D-9579-4614-99CB-F2BE48A3926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0110" y="2359208"/>
            <a:ext cx="1669506" cy="1669506"/>
          </a:xfrm>
          <a:prstGeom prst="rect">
            <a:avLst/>
          </a:prstGeom>
        </p:spPr>
      </p:pic>
      <p:sp>
        <p:nvSpPr>
          <p:cNvPr id="11" name="TextBox 10"/>
          <p:cNvSpPr txBox="1"/>
          <p:nvPr/>
        </p:nvSpPr>
        <p:spPr>
          <a:xfrm>
            <a:off x="287858" y="4532894"/>
            <a:ext cx="4658659" cy="430887"/>
          </a:xfrm>
          <a:prstGeom prst="rect">
            <a:avLst/>
          </a:prstGeom>
          <a:noFill/>
        </p:spPr>
        <p:txBody>
          <a:bodyPr wrap="square" lIns="0" tIns="0" rIns="0" bIns="0" rtlCol="0" anchor="ctr">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Amazon Aurora</a:t>
            </a:r>
            <a:endParaRPr lang="en-US" sz="6000">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Rounded Rectangle 12" descr="Amazon Aurora features.">
            <a:extLst>
              <a:ext uri="{FF2B5EF4-FFF2-40B4-BE49-F238E27FC236}">
                <a16:creationId xmlns:a16="http://schemas.microsoft.com/office/drawing/2014/main" id="{F98C82A0-828C-4F4F-BBFD-B275B4895639}"/>
              </a:ext>
              <a:ext uri="{C183D7F6-B498-43B3-948B-1728B52AA6E4}">
                <adec:decorative xmlns:adec="http://schemas.microsoft.com/office/drawing/2017/decorative" val="0"/>
              </a:ext>
            </a:extLst>
          </p:cNvPr>
          <p:cNvSpPr/>
          <p:nvPr/>
        </p:nvSpPr>
        <p:spPr bwMode="auto">
          <a:xfrm>
            <a:off x="4919848" y="1764374"/>
            <a:ext cx="6229415" cy="4155163"/>
          </a:xfrm>
          <a:prstGeom prst="roundRect">
            <a:avLst>
              <a:gd name="adj" fmla="val 8618"/>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5B016C9A-2938-43A1-9A22-46BD86605705}"/>
              </a:ext>
            </a:extLst>
          </p:cNvPr>
          <p:cNvSpPr txBox="1">
            <a:spLocks/>
          </p:cNvSpPr>
          <p:nvPr/>
        </p:nvSpPr>
        <p:spPr>
          <a:xfrm>
            <a:off x="4919849" y="2028206"/>
            <a:ext cx="5988783" cy="3768572"/>
          </a:xfrm>
          <a:prstGeom prst="rect">
            <a:avLst/>
          </a:prstGeom>
        </p:spPr>
        <p:txBody>
          <a:bodyPr vert="horz" wrap="square" lIns="146304" tIns="91440" rIns="146304" bIns="91440" rtlCol="0">
            <a:noAutofit/>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342900" indent="-342900">
              <a:lnSpc>
                <a:spcPct val="150000"/>
              </a:lnSpc>
              <a:spcBef>
                <a:spcPts val="0"/>
              </a:spcBef>
              <a:spcAft>
                <a:spcPts val="1200"/>
              </a:spcAft>
              <a:buFont typeface="Arial" pitchFamily="34" charset="0"/>
              <a:buChar char="•"/>
            </a:pPr>
            <a:r>
              <a:rPr lang="en-US" sz="240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Enterprise-class</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 relational </a:t>
            </a:r>
            <a:r>
              <a:rPr lang="en-US" sz="240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database</a:t>
            </a:r>
          </a:p>
          <a:p>
            <a:pPr marL="342900" indent="-342900">
              <a:lnSpc>
                <a:spcPct val="150000"/>
              </a:lnSpc>
              <a:spcBef>
                <a:spcPts val="0"/>
              </a:spcBef>
              <a:spcAft>
                <a:spcPts val="1200"/>
              </a:spcAft>
              <a:buFont typeface="Arial" pitchFamily="34" charset="0"/>
              <a:buChar char="•"/>
            </a:pPr>
            <a:r>
              <a:rPr lang="en-US" sz="240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Compatible with MySQL</a:t>
            </a:r>
            <a:r>
              <a:rPr lang="en-US" sz="2400">
                <a:latin typeface="Amazon Ember Light" panose="020B0403020204020204" pitchFamily="34" charset="0"/>
                <a:ea typeface="Amazon Ember Light" panose="020B0403020204020204" pitchFamily="34" charset="0"/>
                <a:cs typeface="Amazon Ember Light" panose="020B0403020204020204" pitchFamily="34" charset="0"/>
              </a:rPr>
              <a:t> or </a:t>
            </a:r>
            <a:r>
              <a:rPr lang="en-US" sz="240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PostgreSQL</a:t>
            </a:r>
          </a:p>
          <a:p>
            <a:pPr marL="342900" indent="-342900">
              <a:lnSpc>
                <a:spcPct val="150000"/>
              </a:lnSpc>
              <a:spcBef>
                <a:spcPts val="0"/>
              </a:spcBef>
              <a:spcAft>
                <a:spcPts val="1200"/>
              </a:spcAft>
              <a:buFont typeface="Arial" pitchFamily="34" charset="0"/>
              <a:buChar char="•"/>
            </a:pPr>
            <a:r>
              <a:rPr lang="en-US" sz="2400">
                <a:latin typeface="Amazon Ember Light" panose="020B0403020204020204" pitchFamily="34" charset="0"/>
                <a:ea typeface="Amazon Ember Light" panose="020B0403020204020204" pitchFamily="34" charset="0"/>
                <a:cs typeface="Amazon Ember Light" panose="020B0403020204020204" pitchFamily="34" charset="0"/>
              </a:rPr>
              <a:t>Automate time-consuming tasks (such as provisioning, patching, backup, recovery, failure detection, and repair).</a:t>
            </a:r>
          </a:p>
          <a:p>
            <a:pPr>
              <a:lnSpc>
                <a:spcPct val="150000"/>
              </a:lnSpc>
              <a:spcBef>
                <a:spcPts val="0"/>
              </a:spcBef>
              <a:spcAft>
                <a:spcPts val="1200"/>
              </a:spcAft>
            </a:pPr>
            <a:endParaRPr lang="en-US" sz="240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30899831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0C0D3CC-64FE-404E-9A59-6FBC98211817}"/>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81</a:t>
            </a:fld>
            <a:endParaRPr lang="en-US"/>
          </a:p>
        </p:txBody>
      </p:sp>
      <p:sp>
        <p:nvSpPr>
          <p:cNvPr id="2" name="Title 1"/>
          <p:cNvSpPr>
            <a:spLocks noGrp="1"/>
          </p:cNvSpPr>
          <p:nvPr>
            <p:ph type="title"/>
          </p:nvPr>
        </p:nvSpPr>
        <p:spPr/>
        <p:txBody>
          <a:bodyPr/>
          <a:lstStyle/>
          <a:p>
            <a:r>
              <a:rPr lang="en-US"/>
              <a:t>Amazon Aurora service benefits</a:t>
            </a:r>
          </a:p>
        </p:txBody>
      </p:sp>
      <p:pic>
        <p:nvPicPr>
          <p:cNvPr id="4" name="Picture 3" descr="Amazon Aurora benefits: fast and available, simple, compatible, pay-as-you-go, managed service.">
            <a:extLst>
              <a:ext uri="{FF2B5EF4-FFF2-40B4-BE49-F238E27FC236}">
                <a16:creationId xmlns:a16="http://schemas.microsoft.com/office/drawing/2014/main" id="{7EE46A1F-7D39-40AF-809B-0B70D9DABFD3}"/>
              </a:ext>
            </a:extLst>
          </p:cNvPr>
          <p:cNvPicPr>
            <a:picLocks noChangeAspect="1"/>
          </p:cNvPicPr>
          <p:nvPr/>
        </p:nvPicPr>
        <p:blipFill>
          <a:blip r:embed="rId4"/>
          <a:stretch>
            <a:fillRect/>
          </a:stretch>
        </p:blipFill>
        <p:spPr>
          <a:xfrm>
            <a:off x="1782014" y="1595892"/>
            <a:ext cx="8120537" cy="5262108"/>
          </a:xfrm>
          <a:prstGeom prst="rect">
            <a:avLst/>
          </a:prstGeom>
        </p:spPr>
      </p:pic>
    </p:spTree>
    <p:custDataLst>
      <p:tags r:id="rId1"/>
    </p:custDataLst>
    <p:extLst>
      <p:ext uri="{BB962C8B-B14F-4D97-AF65-F5344CB8AC3E}">
        <p14:creationId xmlns:p14="http://schemas.microsoft.com/office/powerpoint/2010/main" val="27881909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CFB48F-FCC0-41CC-B90A-BE42EA0A2506}"/>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82</a:t>
            </a:fld>
            <a:endParaRPr lang="en-US"/>
          </a:p>
        </p:txBody>
      </p:sp>
      <p:sp>
        <p:nvSpPr>
          <p:cNvPr id="2" name="Title 1"/>
          <p:cNvSpPr>
            <a:spLocks noGrp="1"/>
          </p:cNvSpPr>
          <p:nvPr>
            <p:ph type="title"/>
          </p:nvPr>
        </p:nvSpPr>
        <p:spPr/>
        <p:txBody>
          <a:bodyPr/>
          <a:lstStyle/>
          <a:p>
            <a:r>
              <a:rPr lang="en-US"/>
              <a:t>High availability</a:t>
            </a:r>
          </a:p>
        </p:txBody>
      </p:sp>
      <p:pic>
        <p:nvPicPr>
          <p:cNvPr id="9" name="Picture 8" descr="Amazon Aurora is replicated across three Availability Zones with backups to Amazon S3.">
            <a:extLst>
              <a:ext uri="{FF2B5EF4-FFF2-40B4-BE49-F238E27FC236}">
                <a16:creationId xmlns:a16="http://schemas.microsoft.com/office/drawing/2014/main" id="{BDF766E0-009F-4BB8-9BCA-23BCFCBA1968}"/>
              </a:ext>
            </a:extLst>
          </p:cNvPr>
          <p:cNvPicPr>
            <a:picLocks noChangeAspect="1"/>
          </p:cNvPicPr>
          <p:nvPr/>
        </p:nvPicPr>
        <p:blipFill>
          <a:blip r:embed="rId4"/>
          <a:stretch>
            <a:fillRect/>
          </a:stretch>
        </p:blipFill>
        <p:spPr>
          <a:xfrm>
            <a:off x="1690072" y="1442971"/>
            <a:ext cx="8811855" cy="5415029"/>
          </a:xfrm>
          <a:prstGeom prst="rect">
            <a:avLst/>
          </a:prstGeom>
        </p:spPr>
      </p:pic>
    </p:spTree>
    <p:custDataLst>
      <p:tags r:id="rId1"/>
    </p:custDataLst>
    <p:extLst>
      <p:ext uri="{BB962C8B-B14F-4D97-AF65-F5344CB8AC3E}">
        <p14:creationId xmlns:p14="http://schemas.microsoft.com/office/powerpoint/2010/main" val="3277511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83</a:t>
            </a:fld>
            <a:endParaRPr lang="en-US"/>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normAutofit/>
          </a:bodyPr>
          <a:lstStyle/>
          <a:p>
            <a:r>
              <a:rPr lang="en-US"/>
              <a:t>Section 4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pPr marL="0" indent="0">
              <a:buNone/>
            </a:pPr>
            <a:r>
              <a:rPr lang="en-US"/>
              <a:t>Amazon Aurora features:</a:t>
            </a:r>
          </a:p>
          <a:p>
            <a:r>
              <a:rPr lang="en-US"/>
              <a:t>High performance and scalability</a:t>
            </a:r>
          </a:p>
          <a:p>
            <a:r>
              <a:rPr lang="en-US"/>
              <a:t>High availability and durability</a:t>
            </a:r>
          </a:p>
          <a:p>
            <a:r>
              <a:rPr lang="en-US"/>
              <a:t>Multiple levels of security</a:t>
            </a:r>
          </a:p>
          <a:p>
            <a:r>
              <a:rPr lang="en-US"/>
              <a:t>Compatible with MySQL and PostgreSQL</a:t>
            </a:r>
          </a:p>
          <a:p>
            <a:r>
              <a:rPr lang="en-US"/>
              <a:t>Fully managed</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17760460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48616BE-22DA-B680-2F4E-3179084269FD}"/>
              </a:ext>
            </a:extLst>
          </p:cNvPr>
          <p:cNvSpPr>
            <a:spLocks noGrp="1"/>
          </p:cNvSpPr>
          <p:nvPr>
            <p:ph type="sldNum" sz="quarter" idx="20"/>
          </p:nvPr>
        </p:nvSpPr>
        <p:spPr/>
        <p:txBody>
          <a:bodyPr/>
          <a:lstStyle/>
          <a:p>
            <a:fld id="{930176A1-BCF0-4712-97A6-6B495F55390B}" type="slidenum">
              <a:rPr lang="en-US" smtClean="0"/>
              <a:pPr/>
              <a:t>84</a:t>
            </a:fld>
            <a:endParaRPr lang="en-US"/>
          </a:p>
        </p:txBody>
      </p:sp>
      <p:sp>
        <p:nvSpPr>
          <p:cNvPr id="2" name="Title 1"/>
          <p:cNvSpPr>
            <a:spLocks noGrp="1"/>
          </p:cNvSpPr>
          <p:nvPr>
            <p:ph type="title"/>
          </p:nvPr>
        </p:nvSpPr>
        <p:spPr/>
        <p:txBody>
          <a:bodyPr/>
          <a:lstStyle/>
          <a:p>
            <a:r>
              <a:rPr lang="en-US"/>
              <a:t>The right tool for the right job</a:t>
            </a:r>
          </a:p>
        </p:txBody>
      </p:sp>
      <p:graphicFrame>
        <p:nvGraphicFramePr>
          <p:cNvPr id="5" name="Table Placeholder 9"/>
          <p:cNvGraphicFramePr>
            <a:graphicFrameLocks/>
          </p:cNvGraphicFramePr>
          <p:nvPr/>
        </p:nvGraphicFramePr>
        <p:xfrm>
          <a:off x="270933" y="1351060"/>
          <a:ext cx="11501967" cy="5005290"/>
        </p:xfrm>
        <a:graphic>
          <a:graphicData uri="http://schemas.openxmlformats.org/drawingml/2006/table">
            <a:tbl>
              <a:tblPr firstRow="1" bandRow="1"/>
              <a:tblGrid>
                <a:gridCol w="7619347">
                  <a:extLst>
                    <a:ext uri="{9D8B030D-6E8A-4147-A177-3AD203B41FA5}">
                      <a16:colId xmlns:a16="http://schemas.microsoft.com/office/drawing/2014/main" val="2682298461"/>
                    </a:ext>
                  </a:extLst>
                </a:gridCol>
                <a:gridCol w="3882620">
                  <a:extLst>
                    <a:ext uri="{9D8B030D-6E8A-4147-A177-3AD203B41FA5}">
                      <a16:colId xmlns:a16="http://schemas.microsoft.com/office/drawing/2014/main" val="3536715396"/>
                    </a:ext>
                  </a:extLst>
                </a:gridCol>
              </a:tblGrid>
              <a:tr h="7238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What are my requirements?</a:t>
                      </a:r>
                    </a:p>
                  </a:txBody>
                  <a:tcPr marL="18288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endParaRPr lang="en-US" sz="2800"/>
                    </a:p>
                  </a:txBody>
                  <a:tcPr marL="18288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27459075"/>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u="none">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Enterprise-class</a:t>
                      </a:r>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 relational database</a:t>
                      </a: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 RDS</a:t>
                      </a: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95251801"/>
                  </a:ext>
                </a:extLst>
              </a:tr>
              <a:tr h="1070372">
                <a:tc>
                  <a:txBody>
                    <a:body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Fast and flexible NoSQL database service for any scale</a:t>
                      </a: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Amazon DynamoDB</a:t>
                      </a:r>
                      <a:endParaRPr kumimoji="0" lang="en-US" sz="2800" b="0" i="0" u="none" strike="noStrike" kern="1200" cap="none" spc="0" normalizeH="0" baseline="0" noProof="0">
                        <a:ln>
                          <a:noFill/>
                        </a:ln>
                        <a:solidFill>
                          <a:schemeClr val="tx1"/>
                        </a:solidFill>
                        <a:effectLst/>
                        <a:uLnTx/>
                        <a:uFillTx/>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502388674"/>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Operating system access</a:t>
                      </a:r>
                      <a:r>
                        <a:rPr lang="en-US" sz="2400" b="0" i="0" baseline="0">
                          <a:latin typeface="Amazon Ember Light" panose="020B0403020204020204" pitchFamily="34" charset="0"/>
                          <a:ea typeface="Amazon Ember Light" panose="020B0403020204020204" pitchFamily="34" charset="0"/>
                          <a:cs typeface="Amazon Ember Light" panose="020B0403020204020204" pitchFamily="34" charset="0"/>
                        </a:rPr>
                        <a:t> or </a:t>
                      </a:r>
                      <a:r>
                        <a:rPr lang="en-US" sz="2400" b="0" i="0" u="none" baseline="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application</a:t>
                      </a:r>
                      <a:r>
                        <a:rPr lang="en-US" sz="2400" b="0" i="0" baseline="0">
                          <a:latin typeface="Amazon Ember Light" panose="020B0403020204020204" pitchFamily="34" charset="0"/>
                          <a:ea typeface="Amazon Ember Light" panose="020B0403020204020204" pitchFamily="34" charset="0"/>
                          <a:cs typeface="Amazon Ember Light" panose="020B0403020204020204" pitchFamily="34" charset="0"/>
                        </a:rPr>
                        <a:t> features that are not supported by AWS database </a:t>
                      </a:r>
                      <a:r>
                        <a:rPr lang="en-US" sz="2400" b="0" i="0" u="none" baseline="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services</a:t>
                      </a:r>
                      <a:endParaRPr lang="en-US" sz="24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Databases on Amazon EC2</a:t>
                      </a:r>
                      <a:endParaRPr kumimoji="0" lang="en-US" sz="2800" b="0" i="0" u="none" strike="noStrike" kern="1200" cap="none" spc="0" normalizeH="0" baseline="0" noProof="0">
                        <a:ln>
                          <a:noFill/>
                        </a:ln>
                        <a:solidFill>
                          <a:schemeClr val="tx1"/>
                        </a:solidFill>
                        <a:effectLst/>
                        <a:uLnTx/>
                        <a:uFillTx/>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503396462"/>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Light" panose="020B0403020204020204" pitchFamily="34" charset="0"/>
                          <a:ea typeface="Amazon Ember Light" panose="020B0403020204020204" pitchFamily="34" charset="0"/>
                          <a:cs typeface="Amazon Ember Light" panose="020B0403020204020204" pitchFamily="34" charset="0"/>
                        </a:rPr>
                        <a:t>Specific case-driven requirements (machine</a:t>
                      </a:r>
                      <a:r>
                        <a:rPr lang="en-US" sz="2400" b="0" i="0" baseline="0">
                          <a:latin typeface="Amazon Ember Light" panose="020B0403020204020204" pitchFamily="34" charset="0"/>
                          <a:ea typeface="Amazon Ember Light" panose="020B0403020204020204" pitchFamily="34" charset="0"/>
                          <a:cs typeface="Amazon Ember Light" panose="020B0403020204020204" pitchFamily="34" charset="0"/>
                        </a:rPr>
                        <a:t> learning, data warehouse, graphs</a:t>
                      </a:r>
                      <a:r>
                        <a:rPr lang="en-US" sz="2400" b="0" i="0" u="none" baseline="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a:t>
                      </a:r>
                      <a:endParaRPr lang="en-US" sz="2400" b="0" i="0" u="none">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a:txBody>
                  <a:tcPr marL="18288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AWS purpose-built database services</a:t>
                      </a:r>
                    </a:p>
                  </a:txBody>
                  <a:tcPr marL="18288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574808152"/>
                  </a:ext>
                </a:extLst>
              </a:tr>
            </a:tbl>
          </a:graphicData>
        </a:graphic>
      </p:graphicFrame>
    </p:spTree>
    <p:custDataLst>
      <p:tags r:id="rId1"/>
    </p:custDataLst>
    <p:extLst>
      <p:ext uri="{BB962C8B-B14F-4D97-AF65-F5344CB8AC3E}">
        <p14:creationId xmlns:p14="http://schemas.microsoft.com/office/powerpoint/2010/main" val="9771489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428CE-7FBB-BFF5-CF1D-F7769A89F10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BF0478-D1E3-AF03-35A9-DA69E88495B0}"/>
              </a:ext>
            </a:extLst>
          </p:cNvPr>
          <p:cNvSpPr>
            <a:spLocks noGrp="1"/>
          </p:cNvSpPr>
          <p:nvPr>
            <p:ph type="sldNum" sz="quarter" idx="20"/>
          </p:nvPr>
        </p:nvSpPr>
        <p:spPr/>
        <p:txBody>
          <a:bodyPr/>
          <a:lstStyle/>
          <a:p>
            <a:fld id="{930176A1-BCF0-4712-97A6-6B495F55390B}" type="slidenum">
              <a:rPr lang="en-US" smtClean="0"/>
              <a:pPr/>
              <a:t>85</a:t>
            </a:fld>
            <a:endParaRPr lang="en-US"/>
          </a:p>
        </p:txBody>
      </p:sp>
      <p:sp>
        <p:nvSpPr>
          <p:cNvPr id="3" name="Title 2">
            <a:extLst>
              <a:ext uri="{FF2B5EF4-FFF2-40B4-BE49-F238E27FC236}">
                <a16:creationId xmlns:a16="http://schemas.microsoft.com/office/drawing/2014/main" id="{E042EE06-869D-DA05-8234-10D1CCC7E73C}"/>
              </a:ext>
            </a:extLst>
          </p:cNvPr>
          <p:cNvSpPr>
            <a:spLocks noGrp="1"/>
          </p:cNvSpPr>
          <p:nvPr>
            <p:ph type="title"/>
          </p:nvPr>
        </p:nvSpPr>
        <p:spPr/>
        <p:txBody>
          <a:bodyPr/>
          <a:lstStyle/>
          <a:p>
            <a:r>
              <a:rPr lang="en-US" dirty="0"/>
              <a:t>RDS vs. Aurora</a:t>
            </a:r>
          </a:p>
        </p:txBody>
      </p:sp>
      <p:sp>
        <p:nvSpPr>
          <p:cNvPr id="4" name="Subtitle 3">
            <a:extLst>
              <a:ext uri="{FF2B5EF4-FFF2-40B4-BE49-F238E27FC236}">
                <a16:creationId xmlns:a16="http://schemas.microsoft.com/office/drawing/2014/main" id="{AC96469C-D1D1-F452-F23D-19F1D55D6DD9}"/>
              </a:ext>
            </a:extLst>
          </p:cNvPr>
          <p:cNvSpPr>
            <a:spLocks noGrp="1"/>
          </p:cNvSpPr>
          <p:nvPr>
            <p:ph type="subTitle" idx="3"/>
          </p:nvPr>
        </p:nvSpPr>
        <p:spPr/>
        <p:txBody>
          <a:bodyPr/>
          <a:lstStyle/>
          <a:p>
            <a:r>
              <a:rPr lang="en-US" dirty="0"/>
              <a:t>Know the difference!</a:t>
            </a:r>
          </a:p>
        </p:txBody>
      </p:sp>
      <p:sp>
        <p:nvSpPr>
          <p:cNvPr id="5" name="Text Placeholder 4">
            <a:extLst>
              <a:ext uri="{FF2B5EF4-FFF2-40B4-BE49-F238E27FC236}">
                <a16:creationId xmlns:a16="http://schemas.microsoft.com/office/drawing/2014/main" id="{BA3BFCAB-94F0-1426-B90F-1D147C72BB52}"/>
              </a:ext>
            </a:extLst>
          </p:cNvPr>
          <p:cNvSpPr>
            <a:spLocks noGrp="1"/>
          </p:cNvSpPr>
          <p:nvPr>
            <p:ph type="body" idx="1"/>
          </p:nvPr>
        </p:nvSpPr>
        <p:spPr>
          <a:xfrm>
            <a:off x="365760" y="1591056"/>
            <a:ext cx="5669280" cy="3420559"/>
          </a:xfrm>
        </p:spPr>
        <p:txBody>
          <a:bodyPr/>
          <a:lstStyle/>
          <a:p>
            <a:pPr marL="0" indent="0">
              <a:buNone/>
            </a:pPr>
            <a:r>
              <a:rPr lang="en-US" b="1" dirty="0"/>
              <a:t>RDS (Relational Database Service)</a:t>
            </a:r>
          </a:p>
          <a:p>
            <a:r>
              <a:rPr lang="en-US" dirty="0"/>
              <a:t>Managed platform</a:t>
            </a:r>
          </a:p>
          <a:p>
            <a:r>
              <a:rPr lang="en-US" dirty="0"/>
              <a:t>Several DB engines</a:t>
            </a:r>
          </a:p>
          <a:p>
            <a:r>
              <a:rPr lang="en-US" dirty="0"/>
              <a:t>Fixed storage allocation</a:t>
            </a:r>
          </a:p>
          <a:p>
            <a:r>
              <a:rPr lang="en-US" dirty="0"/>
              <a:t>Decent availability</a:t>
            </a:r>
          </a:p>
        </p:txBody>
      </p:sp>
      <p:sp>
        <p:nvSpPr>
          <p:cNvPr id="6" name="Text Placeholder 5">
            <a:extLst>
              <a:ext uri="{FF2B5EF4-FFF2-40B4-BE49-F238E27FC236}">
                <a16:creationId xmlns:a16="http://schemas.microsoft.com/office/drawing/2014/main" id="{6AEEA578-620E-558C-D309-6D942BDC1756}"/>
              </a:ext>
            </a:extLst>
          </p:cNvPr>
          <p:cNvSpPr>
            <a:spLocks noGrp="1"/>
          </p:cNvSpPr>
          <p:nvPr>
            <p:ph type="body" idx="2"/>
          </p:nvPr>
        </p:nvSpPr>
        <p:spPr>
          <a:xfrm>
            <a:off x="6197321" y="1591056"/>
            <a:ext cx="5669280" cy="3262298"/>
          </a:xfrm>
        </p:spPr>
        <p:txBody>
          <a:bodyPr/>
          <a:lstStyle/>
          <a:p>
            <a:pPr marL="0" indent="0">
              <a:buNone/>
            </a:pPr>
            <a:r>
              <a:rPr lang="en-US" b="1" dirty="0"/>
              <a:t>Aurora</a:t>
            </a:r>
          </a:p>
          <a:p>
            <a:r>
              <a:rPr lang="en-US" dirty="0"/>
              <a:t>Custom AWS DB Engine</a:t>
            </a:r>
          </a:p>
          <a:p>
            <a:r>
              <a:rPr lang="en-US" dirty="0"/>
              <a:t>MySQL or PostgreSQL </a:t>
            </a:r>
            <a:r>
              <a:rPr lang="en-US" i="1" dirty="0"/>
              <a:t>only</a:t>
            </a:r>
            <a:endParaRPr lang="en-US" dirty="0"/>
          </a:p>
          <a:p>
            <a:r>
              <a:rPr lang="en-US" dirty="0"/>
              <a:t>Auto-scaling storage</a:t>
            </a:r>
          </a:p>
          <a:p>
            <a:r>
              <a:rPr lang="en-US" dirty="0"/>
              <a:t>Built-in high availability "4 9s"</a:t>
            </a:r>
          </a:p>
        </p:txBody>
      </p:sp>
      <p:sp>
        <p:nvSpPr>
          <p:cNvPr id="7" name="Text Placeholder 4">
            <a:extLst>
              <a:ext uri="{FF2B5EF4-FFF2-40B4-BE49-F238E27FC236}">
                <a16:creationId xmlns:a16="http://schemas.microsoft.com/office/drawing/2014/main" id="{8FBF88A8-05A9-36F1-0D3E-F4E9045F4687}"/>
              </a:ext>
            </a:extLst>
          </p:cNvPr>
          <p:cNvSpPr txBox="1">
            <a:spLocks/>
          </p:cNvSpPr>
          <p:nvPr/>
        </p:nvSpPr>
        <p:spPr>
          <a:xfrm>
            <a:off x="365760" y="5011615"/>
            <a:ext cx="5669280" cy="3420559"/>
          </a:xfrm>
          <a:prstGeom prst="rect">
            <a:avLst/>
          </a:prstGeom>
        </p:spPr>
        <p:txBody>
          <a:bodyPr vert="horz" lIns="91440" tIns="45720" rIns="91440" bIns="45720" rtlCol="0">
            <a:no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61963" indent="-228600"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4213" indent="-228600"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28600"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4588" indent="-228600"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buFont typeface="Amazon Ember"/>
              <a:buNone/>
            </a:pPr>
            <a:r>
              <a:rPr lang="en-US" b="1" dirty="0"/>
              <a:t>Cost: Lower, with tradeoffs</a:t>
            </a:r>
            <a:endParaRPr lang="en-US" dirty="0"/>
          </a:p>
        </p:txBody>
      </p:sp>
      <p:sp>
        <p:nvSpPr>
          <p:cNvPr id="8" name="Text Placeholder 4">
            <a:extLst>
              <a:ext uri="{FF2B5EF4-FFF2-40B4-BE49-F238E27FC236}">
                <a16:creationId xmlns:a16="http://schemas.microsoft.com/office/drawing/2014/main" id="{4B2F4C14-1752-2507-EE71-DD87E2ED2A25}"/>
              </a:ext>
            </a:extLst>
          </p:cNvPr>
          <p:cNvSpPr txBox="1">
            <a:spLocks/>
          </p:cNvSpPr>
          <p:nvPr/>
        </p:nvSpPr>
        <p:spPr>
          <a:xfrm>
            <a:off x="6156962" y="5011615"/>
            <a:ext cx="5669280" cy="3420559"/>
          </a:xfrm>
          <a:prstGeom prst="rect">
            <a:avLst/>
          </a:prstGeom>
        </p:spPr>
        <p:txBody>
          <a:bodyPr vert="horz" lIns="91440" tIns="45720" rIns="91440" bIns="45720" rtlCol="0">
            <a:noAutofit/>
          </a:bodyPr>
          <a:lst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61963" indent="-228600"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4213" indent="-228600"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28600"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4588" indent="-228600"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indent="0">
              <a:buFont typeface="Amazon Ember"/>
              <a:buNone/>
            </a:pPr>
            <a:r>
              <a:rPr lang="en-US" b="1" dirty="0"/>
              <a:t>Cost: Higher, due to conveniences</a:t>
            </a:r>
            <a:endParaRPr lang="en-US" dirty="0"/>
          </a:p>
        </p:txBody>
      </p:sp>
    </p:spTree>
    <p:extLst>
      <p:ext uri="{BB962C8B-B14F-4D97-AF65-F5344CB8AC3E}">
        <p14:creationId xmlns:p14="http://schemas.microsoft.com/office/powerpoint/2010/main" val="3680914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3440BC3-762D-4310-82DF-4E1F23D9E6A4}"/>
              </a:ext>
            </a:extLst>
          </p:cNvPr>
          <p:cNvSpPr>
            <a:spLocks noGrp="1"/>
          </p:cNvSpPr>
          <p:nvPr>
            <p:ph type="subTitle" idx="1"/>
          </p:nvPr>
        </p:nvSpPr>
        <p:spPr/>
        <p:txBody>
          <a:bodyPr/>
          <a:lstStyle/>
          <a:p>
            <a:r>
              <a:rPr lang="en-US"/>
              <a:t>Module 8: Databases</a:t>
            </a:r>
          </a:p>
          <a:p>
            <a:endParaRPr lang="en-US"/>
          </a:p>
        </p:txBody>
      </p:sp>
      <p:sp>
        <p:nvSpPr>
          <p:cNvPr id="6" name="Title 5">
            <a:extLst>
              <a:ext uri="{FF2B5EF4-FFF2-40B4-BE49-F238E27FC236}">
                <a16:creationId xmlns:a16="http://schemas.microsoft.com/office/drawing/2014/main" id="{BFC5ECD2-AFF4-4A2B-9E54-AC9D736C4BC9}"/>
              </a:ext>
            </a:extLst>
          </p:cNvPr>
          <p:cNvSpPr>
            <a:spLocks noGrp="1"/>
          </p:cNvSpPr>
          <p:nvPr>
            <p:ph type="title"/>
          </p:nvPr>
        </p:nvSpPr>
        <p:spPr/>
        <p:txBody>
          <a:bodyPr>
            <a:normAutofit/>
          </a:bodyPr>
          <a:lstStyle/>
          <a:p>
            <a:r>
              <a:rPr lang="en-US"/>
              <a:t>Module wrap-up</a:t>
            </a:r>
          </a:p>
        </p:txBody>
      </p:sp>
    </p:spTree>
    <p:custDataLst>
      <p:tags r:id="rId1"/>
    </p:custDataLst>
    <p:extLst>
      <p:ext uri="{BB962C8B-B14F-4D97-AF65-F5344CB8AC3E}">
        <p14:creationId xmlns:p14="http://schemas.microsoft.com/office/powerpoint/2010/main" val="31912275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ECEECC-6889-3C4B-ADDE-289EB9D9F6A9}"/>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pPr/>
              <a:t>87</a:t>
            </a:fld>
            <a:endParaRPr lang="en-US"/>
          </a:p>
        </p:txBody>
      </p:sp>
      <p:sp>
        <p:nvSpPr>
          <p:cNvPr id="2" name="Title 1"/>
          <p:cNvSpPr>
            <a:spLocks noGrp="1"/>
          </p:cNvSpPr>
          <p:nvPr>
            <p:ph type="title"/>
          </p:nvPr>
        </p:nvSpPr>
        <p:spPr/>
        <p:txBody>
          <a:bodyPr/>
          <a:lstStyle/>
          <a:p>
            <a:r>
              <a:rPr lang="en-US"/>
              <a:t>Module summary </a:t>
            </a:r>
          </a:p>
        </p:txBody>
      </p:sp>
      <p:sp>
        <p:nvSpPr>
          <p:cNvPr id="6" name="Content Placeholder 5">
            <a:extLst>
              <a:ext uri="{FF2B5EF4-FFF2-40B4-BE49-F238E27FC236}">
                <a16:creationId xmlns:a16="http://schemas.microsoft.com/office/drawing/2014/main" id="{96B1D8CB-247D-9047-BFCE-7C071A34030D}"/>
              </a:ext>
            </a:extLst>
          </p:cNvPr>
          <p:cNvSpPr>
            <a:spLocks noGrp="1"/>
          </p:cNvSpPr>
          <p:nvPr>
            <p:ph sz="quarter" idx="21"/>
          </p:nvPr>
        </p:nvSpPr>
        <p:spPr/>
        <p:txBody>
          <a:bodyPr/>
          <a:lstStyle/>
          <a:p>
            <a:pPr marL="0" indent="0">
              <a:buNone/>
            </a:pPr>
            <a:r>
              <a:rPr lang="en-US" sz="2400"/>
              <a:t>In summary, in this module, you learned how to:</a:t>
            </a:r>
          </a:p>
          <a:p>
            <a:pPr marL="561975" lvl="1" indent="-342900" defTabSz="342900">
              <a:lnSpc>
                <a:spcPct val="150000"/>
              </a:lnSpc>
              <a:spcBef>
                <a:spcPts val="0"/>
              </a:spcBef>
              <a:spcAft>
                <a:spcPts val="600"/>
              </a:spcAft>
              <a:buClr>
                <a:schemeClr val="accent1"/>
              </a:buClr>
              <a:tabLst>
                <a:tab pos="8461375" algn="r"/>
              </a:tabLst>
            </a:pPr>
            <a:r>
              <a:rPr lang="en-US" sz="2200"/>
              <a:t>Explain Amazon Relational Database Service (Amazon RDS)</a:t>
            </a:r>
          </a:p>
          <a:p>
            <a:pPr marL="561975" lvl="1" indent="-342900" defTabSz="342900">
              <a:lnSpc>
                <a:spcPct val="150000"/>
              </a:lnSpc>
              <a:spcBef>
                <a:spcPts val="0"/>
              </a:spcBef>
              <a:spcAft>
                <a:spcPts val="600"/>
              </a:spcAft>
              <a:buClr>
                <a:schemeClr val="accent1"/>
              </a:buClr>
              <a:tabLst>
                <a:tab pos="8461375" algn="r"/>
              </a:tabLst>
            </a:pPr>
            <a:r>
              <a:rPr lang="en-US" sz="2200"/>
              <a:t>Identify the functionality in Amazon RDS</a:t>
            </a:r>
          </a:p>
          <a:p>
            <a:pPr marL="561975" lvl="1" indent="-342900" defTabSz="342900">
              <a:lnSpc>
                <a:spcPct val="150000"/>
              </a:lnSpc>
              <a:spcBef>
                <a:spcPts val="0"/>
              </a:spcBef>
              <a:spcAft>
                <a:spcPts val="600"/>
              </a:spcAft>
              <a:buClr>
                <a:schemeClr val="accent1"/>
              </a:buClr>
              <a:tabLst>
                <a:tab pos="8461375" algn="r"/>
              </a:tabLst>
            </a:pPr>
            <a:r>
              <a:rPr lang="en-US" sz="2200"/>
              <a:t>Explain Amazon DynamoDB</a:t>
            </a:r>
          </a:p>
          <a:p>
            <a:pPr marL="561975" lvl="1" indent="-342900" defTabSz="342900">
              <a:lnSpc>
                <a:spcPct val="150000"/>
              </a:lnSpc>
              <a:spcBef>
                <a:spcPts val="0"/>
              </a:spcBef>
              <a:spcAft>
                <a:spcPts val="600"/>
              </a:spcAft>
              <a:buClr>
                <a:schemeClr val="accent1"/>
              </a:buClr>
              <a:tabLst>
                <a:tab pos="8461375" algn="r"/>
              </a:tabLst>
            </a:pPr>
            <a:r>
              <a:rPr lang="en-US" sz="2200"/>
              <a:t>Identify the functionality in Amazon DynamoDB</a:t>
            </a:r>
          </a:p>
          <a:p>
            <a:pPr marL="561975" lvl="1" indent="-342900" defTabSz="342900">
              <a:lnSpc>
                <a:spcPct val="150000"/>
              </a:lnSpc>
              <a:spcBef>
                <a:spcPts val="0"/>
              </a:spcBef>
              <a:spcAft>
                <a:spcPts val="600"/>
              </a:spcAft>
              <a:buClr>
                <a:schemeClr val="accent1"/>
              </a:buClr>
              <a:tabLst>
                <a:tab pos="8461375" algn="r"/>
              </a:tabLst>
            </a:pPr>
            <a:r>
              <a:rPr lang="en-US" sz="2200"/>
              <a:t>Explain Amazon Redshift</a:t>
            </a:r>
          </a:p>
          <a:p>
            <a:pPr marL="561975" lvl="1" indent="-342900" defTabSz="342900">
              <a:lnSpc>
                <a:spcPct val="150000"/>
              </a:lnSpc>
              <a:spcBef>
                <a:spcPts val="0"/>
              </a:spcBef>
              <a:spcAft>
                <a:spcPts val="600"/>
              </a:spcAft>
              <a:buClr>
                <a:schemeClr val="accent1"/>
              </a:buClr>
              <a:tabLst>
                <a:tab pos="8461375" algn="r"/>
              </a:tabLst>
            </a:pPr>
            <a:r>
              <a:rPr lang="en-US" sz="2200"/>
              <a:t>Explain Amazon Aurora</a:t>
            </a:r>
          </a:p>
          <a:p>
            <a:pPr marL="561975" lvl="1" indent="-342900" defTabSz="342900">
              <a:lnSpc>
                <a:spcPct val="150000"/>
              </a:lnSpc>
              <a:spcBef>
                <a:spcPts val="0"/>
              </a:spcBef>
              <a:spcAft>
                <a:spcPts val="600"/>
              </a:spcAft>
              <a:buClr>
                <a:schemeClr val="accent1"/>
              </a:buClr>
              <a:tabLst>
                <a:tab pos="8461375" algn="r"/>
              </a:tabLst>
            </a:pPr>
            <a:r>
              <a:rPr lang="en-US" sz="2200"/>
              <a:t>Perform tasks in an RDS database, such as launching, configuring, and interacting</a:t>
            </a:r>
          </a:p>
        </p:txBody>
      </p:sp>
    </p:spTree>
    <p:custDataLst>
      <p:tags r:id="rId1"/>
    </p:custDataLst>
    <p:extLst>
      <p:ext uri="{BB962C8B-B14F-4D97-AF65-F5344CB8AC3E}">
        <p14:creationId xmlns:p14="http://schemas.microsoft.com/office/powerpoint/2010/main" val="10459944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A9D071E9-1886-4EB3-B517-57EE3BACB16F}"/>
              </a:ext>
            </a:extLst>
          </p:cNvPr>
          <p:cNvSpPr>
            <a:spLocks noGrp="1"/>
          </p:cNvSpPr>
          <p:nvPr>
            <p:ph type="sldNum" sz="quarter" idx="20"/>
          </p:nvPr>
        </p:nvSpPr>
        <p:spPr/>
        <p:txBody>
          <a:bodyPr/>
          <a:lstStyle/>
          <a:p>
            <a:fld id="{B23121D6-781A-4B6C-8D9B-3A8188A614AE}" type="slidenum">
              <a:rPr lang="en-US" smtClean="0"/>
              <a:t>88</a:t>
            </a:fld>
            <a:endParaRPr lang="en-US"/>
          </a:p>
        </p:txBody>
      </p:sp>
      <p:sp>
        <p:nvSpPr>
          <p:cNvPr id="2" name="Title 1">
            <a:extLst>
              <a:ext uri="{FF2B5EF4-FFF2-40B4-BE49-F238E27FC236}">
                <a16:creationId xmlns:a16="http://schemas.microsoft.com/office/drawing/2014/main" id="{9B11474D-3771-4F25-8A94-0EF301AE2062}"/>
              </a:ext>
            </a:extLst>
          </p:cNvPr>
          <p:cNvSpPr>
            <a:spLocks noGrp="1"/>
          </p:cNvSpPr>
          <p:nvPr>
            <p:ph type="title"/>
          </p:nvPr>
        </p:nvSpPr>
        <p:spPr/>
        <p:txBody>
          <a:bodyPr/>
          <a:lstStyle/>
          <a:p>
            <a:r>
              <a:rPr lang="en-US"/>
              <a:t>Thank you</a:t>
            </a:r>
          </a:p>
        </p:txBody>
      </p:sp>
      <p:sp>
        <p:nvSpPr>
          <p:cNvPr id="6" name="Text Placeholder 5">
            <a:extLst>
              <a:ext uri="{FF2B5EF4-FFF2-40B4-BE49-F238E27FC236}">
                <a16:creationId xmlns:a16="http://schemas.microsoft.com/office/drawing/2014/main" id="{37D19DB1-8CC4-4D1C-8D48-67540AF80AAD}"/>
              </a:ext>
            </a:extLst>
          </p:cNvPr>
          <p:cNvSpPr>
            <a:spLocks noGrp="1"/>
          </p:cNvSpPr>
          <p:nvPr>
            <p:ph type="body" sz="quarter" idx="21"/>
          </p:nvPr>
        </p:nvSpPr>
        <p:spPr>
          <a:xfrm>
            <a:off x="2551176" y="5212079"/>
            <a:ext cx="9637776" cy="400110"/>
          </a:xfrm>
        </p:spPr>
        <p:txBody>
          <a:bodyPr/>
          <a:lstStyle/>
          <a:p>
            <a:r>
              <a:rPr lang="en-US"/>
              <a:t>All </a:t>
            </a:r>
            <a:r>
              <a:rPr lang="en-US" dirty="0"/>
              <a:t>trademarks are the property of their owners.</a:t>
            </a:r>
          </a:p>
        </p:txBody>
      </p:sp>
    </p:spTree>
    <p:custDataLst>
      <p:tags r:id="rId1"/>
    </p:custDataLst>
    <p:extLst>
      <p:ext uri="{BB962C8B-B14F-4D97-AF65-F5344CB8AC3E}">
        <p14:creationId xmlns:p14="http://schemas.microsoft.com/office/powerpoint/2010/main" val="7276377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4_TC-2022-ONEBRAND" val="0csGKSIY"/>
  <p:tag name="ARTICULATE_SLIDE_COUNT" val="6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4_TC-2022-OneBrand">
  <a:themeElements>
    <a:clrScheme name="AWS Light 01">
      <a:dk1>
        <a:sysClr val="windowText" lastClr="000000"/>
      </a:dk1>
      <a:lt1>
        <a:sysClr val="window" lastClr="FFFFFF"/>
      </a:lt1>
      <a:dk2>
        <a:srgbClr val="232F3E"/>
      </a:dk2>
      <a:lt2>
        <a:srgbClr val="F1F3F3"/>
      </a:lt2>
      <a:accent1>
        <a:srgbClr val="00464F"/>
      </a:accent1>
      <a:accent2>
        <a:srgbClr val="36C2B4"/>
      </a:accent2>
      <a:accent3>
        <a:srgbClr val="F1F3F3"/>
      </a:accent3>
      <a:accent4>
        <a:srgbClr val="ADE422"/>
      </a:accent4>
      <a:accent5>
        <a:srgbClr val="C9208A"/>
      </a:accent5>
      <a:accent6>
        <a:srgbClr val="504BAB"/>
      </a:accent6>
      <a:hlink>
        <a:srgbClr val="504BAB"/>
      </a:hlink>
      <a:folHlink>
        <a:srgbClr val="504BAB"/>
      </a:folHlink>
    </a:clrScheme>
    <a:fontScheme name="Custom 1">
      <a:majorFont>
        <a:latin typeface="Amazon Ember Heavy"/>
        <a:ea typeface=""/>
        <a:cs typeface=""/>
      </a:majorFont>
      <a:minorFont>
        <a:latin typeface="Amazon Ember"/>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lum">
      <a:srgbClr val="262262"/>
    </a:custClr>
    <a:custClr name="Plum-Medium">
      <a:srgbClr val="504BAB"/>
    </a:custClr>
    <a:custClr name="Plum-Bright">
      <a:srgbClr val="7E93EE"/>
    </a:custClr>
    <a:custClr name="Berry">
      <a:srgbClr val="9E1F63"/>
    </a:custClr>
    <a:custClr name="Berry-Medium">
      <a:srgbClr val="C9208A"/>
    </a:custClr>
    <a:custClr name="Berry-Bright">
      <a:srgbClr val="FF99FF"/>
    </a:custClr>
    <a:custClr name="AWS Orange">
      <a:srgbClr val="FF6633"/>
    </a:custClr>
    <a:custClr name="Smile">
      <a:srgbClr val="FF9900"/>
    </a:custClr>
    <a:custClr name="AWS Yellow">
      <a:srgbClr val="F3E502"/>
    </a:custClr>
    <a:custClr name="Green Apple">
      <a:srgbClr val="18AB4B"/>
    </a:custClr>
    <a:custClr name="Green Apple-Medium">
      <a:srgbClr val="ADE422"/>
    </a:custClr>
    <a:custClr name="Green Apple-Bright">
      <a:srgbClr val="E4FDBF"/>
    </a:custClr>
    <a:custClr name="Aqua">
      <a:srgbClr val="00464F"/>
    </a:custClr>
    <a:custClr name="Aqua-Medium">
      <a:srgbClr val="36C2B4"/>
    </a:custClr>
    <a:custClr name="Aqua-Bright">
      <a:srgbClr val="A6E7CE"/>
    </a:custClr>
    <a:custClr name="Sea Blue">
      <a:srgbClr val="005276"/>
    </a:custClr>
    <a:custClr name="Sea Blue-Medium">
      <a:srgbClr val="008296"/>
    </a:custClr>
    <a:custClr name="Sea Blue-Bright">
      <a:srgbClr val="7CD1EA"/>
    </a:custClr>
    <a:custClr name="Squid Ink">
      <a:srgbClr val="232F3E"/>
    </a:custClr>
    <a:custClr name="Stone">
      <a:srgbClr val="D4DADA"/>
    </a:custClr>
    <a:custClr name="Paper">
      <a:srgbClr val="F1F3F3"/>
    </a:custClr>
  </a:custClrLst>
  <a:extLst>
    <a:ext uri="{05A4C25C-085E-4340-85A3-A5531E510DB2}">
      <thm15:themeFamily xmlns:thm15="http://schemas.microsoft.com/office/thememl/2012/main" name="TC OneBrand Template.potx" id="{8954FABC-D5B5-44EC-B821-8FEC440C779C}" vid="{BC45DC1F-5B79-46F6-A8BD-962AD48C18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EB30683A6882D4798A1183E2061AB2B" ma:contentTypeVersion="6" ma:contentTypeDescription="Create a new document." ma:contentTypeScope="" ma:versionID="846e12e389a6305cd5a8a7fb8804a237">
  <xsd:schema xmlns:xsd="http://www.w3.org/2001/XMLSchema" xmlns:xs="http://www.w3.org/2001/XMLSchema" xmlns:p="http://schemas.microsoft.com/office/2006/metadata/properties" xmlns:ns2="3203751e-7f26-4ef4-9d45-82e84d52b1db" targetNamespace="http://schemas.microsoft.com/office/2006/metadata/properties" ma:root="true" ma:fieldsID="5ffe97e181145ec81612676624bca40f" ns2:_="">
    <xsd:import namespace="3203751e-7f26-4ef4-9d45-82e84d52b1d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03751e-7f26-4ef4-9d45-82e84d52b1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507056-CAA4-4785-A519-2D6E82754C98}">
  <ds:schemaRefs>
    <ds:schemaRef ds:uri="http://schemas.microsoft.com/sharepoint/v3/contenttype/forms"/>
  </ds:schemaRefs>
</ds:datastoreItem>
</file>

<file path=customXml/itemProps2.xml><?xml version="1.0" encoding="utf-8"?>
<ds:datastoreItem xmlns:ds="http://schemas.openxmlformats.org/officeDocument/2006/customXml" ds:itemID="{8C0752BD-F26E-41FF-9FB5-6A9780D93A83}">
  <ds:schemaRefs>
    <ds:schemaRef ds:uri="http://www.w3.org/XML/1998/namespace"/>
    <ds:schemaRef ds:uri="http://purl.org/dc/terms/"/>
    <ds:schemaRef ds:uri="http://purl.org/dc/elements/1.1/"/>
    <ds:schemaRef ds:uri="http://purl.org/dc/dcmitype/"/>
    <ds:schemaRef ds:uri="http://schemas.microsoft.com/office/2006/metadata/properties"/>
    <ds:schemaRef ds:uri="http://schemas.microsoft.com/office/2006/documentManagement/types"/>
    <ds:schemaRef ds:uri="3203751e-7f26-4ef4-9d45-82e84d52b1db"/>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15031036-21FA-4572-951E-F15692D3DB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03751e-7f26-4ef4-9d45-82e84d52b1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TC OneBrand Template</Template>
  <TotalTime>24</TotalTime>
  <Words>15309</Words>
  <Application>Microsoft Macintosh PowerPoint</Application>
  <PresentationFormat>Widescreen</PresentationFormat>
  <Paragraphs>1339</Paragraphs>
  <Slides>88</Slides>
  <Notes>86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88</vt:i4>
      </vt:variant>
    </vt:vector>
  </HeadingPairs>
  <TitlesOfParts>
    <vt:vector size="99" baseType="lpstr">
      <vt:lpstr>Amazon Ember</vt:lpstr>
      <vt:lpstr>Amazon Ember Heavy</vt:lpstr>
      <vt:lpstr>Amazon Ember Light</vt:lpstr>
      <vt:lpstr>Arial</vt:lpstr>
      <vt:lpstr>Calibri</vt:lpstr>
      <vt:lpstr>Helvetica Neue</vt:lpstr>
      <vt:lpstr>Lucida Console</vt:lpstr>
      <vt:lpstr>Segoe UI</vt:lpstr>
      <vt:lpstr>Verdana</vt:lpstr>
      <vt:lpstr>Wingdings</vt:lpstr>
      <vt:lpstr>4_TC-2022-OneBrand</vt:lpstr>
      <vt:lpstr>Module 7: Storage</vt:lpstr>
      <vt:lpstr>Module overview</vt:lpstr>
      <vt:lpstr>Module objectives</vt:lpstr>
      <vt:lpstr>Core AWS services</vt:lpstr>
      <vt:lpstr>Section 1: Amazon Elastic Block Store (Amazon EBS)</vt:lpstr>
      <vt:lpstr>Storage</vt:lpstr>
      <vt:lpstr>AWS storage options: Block storage versus object storage</vt:lpstr>
      <vt:lpstr>Amazon EBS</vt:lpstr>
      <vt:lpstr>Amazon EBS volume types</vt:lpstr>
      <vt:lpstr>Amazon EBS volume type use cases</vt:lpstr>
      <vt:lpstr>Amazon EBS features</vt:lpstr>
      <vt:lpstr>Section 2: Amazon Simple Storage Service (Amazon S3) </vt:lpstr>
      <vt:lpstr>Storage 1</vt:lpstr>
      <vt:lpstr>Amazon S3 overview</vt:lpstr>
      <vt:lpstr>Amazon S3 storage classes</vt:lpstr>
      <vt:lpstr>Amazon S3 bucket URLs (two styles)</vt:lpstr>
      <vt:lpstr>Data is redundantly stored in the Region</vt:lpstr>
      <vt:lpstr>Designed for seamless scaling</vt:lpstr>
      <vt:lpstr>Access the data anywhere</vt:lpstr>
      <vt:lpstr>Common use cases</vt:lpstr>
      <vt:lpstr>Amazon S3 common scenarios</vt:lpstr>
      <vt:lpstr>Amazon S3 pricing </vt:lpstr>
      <vt:lpstr>Amazon S3: Storage pricing (1 of 2)</vt:lpstr>
      <vt:lpstr>Amazon S3: Storage pricing (2 of 2)</vt:lpstr>
      <vt:lpstr>Section 2 key takeaways</vt:lpstr>
      <vt:lpstr>Section 3: Amazon Elastic File System (Amazon EFS) </vt:lpstr>
      <vt:lpstr>Storage 2</vt:lpstr>
      <vt:lpstr>Amazon EFS features</vt:lpstr>
      <vt:lpstr>Amazon EFS architecture</vt:lpstr>
      <vt:lpstr>Amazon EFS implementation</vt:lpstr>
      <vt:lpstr>Amazon EFS resources</vt:lpstr>
      <vt:lpstr>Section 3 key takeaways</vt:lpstr>
      <vt:lpstr>EBS vs. EFS</vt:lpstr>
      <vt:lpstr>Section 4: Amazon S3 Glacier </vt:lpstr>
      <vt:lpstr>Storage 3</vt:lpstr>
      <vt:lpstr>Amazon S3 Glacier review</vt:lpstr>
      <vt:lpstr>Amazon S3 Glacier</vt:lpstr>
      <vt:lpstr>Amazon S3 Glacier use cases</vt:lpstr>
      <vt:lpstr>Using Amazon S3 Glacier</vt:lpstr>
      <vt:lpstr>Lifecycle policies</vt:lpstr>
      <vt:lpstr>Storage comparison</vt:lpstr>
      <vt:lpstr>Section 4 key takeaways</vt:lpstr>
      <vt:lpstr>Module wrap-up</vt:lpstr>
      <vt:lpstr>Module summary </vt:lpstr>
      <vt:lpstr>Module 8: Databases</vt:lpstr>
      <vt:lpstr>Module overview</vt:lpstr>
      <vt:lpstr>Module objectives</vt:lpstr>
      <vt:lpstr>Section 1: Amazon Relational Database Service</vt:lpstr>
      <vt:lpstr>Amazon Relational Database Service</vt:lpstr>
      <vt:lpstr>Unmanaged versus managed services</vt:lpstr>
      <vt:lpstr>Challenges of relational databases</vt:lpstr>
      <vt:lpstr>Amazon RDS</vt:lpstr>
      <vt:lpstr>From on-premises databases to Amazon RDS</vt:lpstr>
      <vt:lpstr>Managed services responsibilities</vt:lpstr>
      <vt:lpstr>Amazon RDS DB instances</vt:lpstr>
      <vt:lpstr>Amazon RDS in a virtual private cloud (VPC)</vt:lpstr>
      <vt:lpstr>High availability with Multi-AZ deployment (1 of 2)</vt:lpstr>
      <vt:lpstr>High availability with Multi-AZ deployment (2 of 2)</vt:lpstr>
      <vt:lpstr>Amazon RDS read replicas</vt:lpstr>
      <vt:lpstr>Use cases</vt:lpstr>
      <vt:lpstr>When to Use Amazon RDS</vt:lpstr>
      <vt:lpstr>Section 1 key takeaways</vt:lpstr>
      <vt:lpstr>Section 2: Amazon DynamoDB</vt:lpstr>
      <vt:lpstr>Relational versus non-relational databases</vt:lpstr>
      <vt:lpstr>What is Amazon DynamoDB? </vt:lpstr>
      <vt:lpstr>Amazon DynamoDB core components</vt:lpstr>
      <vt:lpstr>Partitioning</vt:lpstr>
      <vt:lpstr>Items in a table must have a key</vt:lpstr>
      <vt:lpstr>Section 2 key takeaways</vt:lpstr>
      <vt:lpstr>Section 3: Amazon Redshift</vt:lpstr>
      <vt:lpstr>Amazon Redshift</vt:lpstr>
      <vt:lpstr>Introduction to Amazon Redshift</vt:lpstr>
      <vt:lpstr>Parallel processing architecture</vt:lpstr>
      <vt:lpstr>Automation and scaling</vt:lpstr>
      <vt:lpstr>Compatibility</vt:lpstr>
      <vt:lpstr>Amazon Redshift use cases (1 of 2)</vt:lpstr>
      <vt:lpstr>Amazon Redshift use cases (2 of 2)</vt:lpstr>
      <vt:lpstr>Section 3 key takeaways</vt:lpstr>
      <vt:lpstr>Section 4: Amazon Aurora</vt:lpstr>
      <vt:lpstr>Amazon Aurora</vt:lpstr>
      <vt:lpstr>Amazon Aurora service benefits</vt:lpstr>
      <vt:lpstr>High availability</vt:lpstr>
      <vt:lpstr>Section 4 key takeaways</vt:lpstr>
      <vt:lpstr>The right tool for the right job</vt:lpstr>
      <vt:lpstr>RDS vs. Aurora</vt:lpstr>
      <vt:lpstr>Module wrap-up</vt:lpstr>
      <vt:lpstr>Module summary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Title</dc:title>
  <dc:creator>Stading, Katrina</dc:creator>
  <cp:lastModifiedBy>Rob Elliott</cp:lastModifiedBy>
  <cp:revision>3</cp:revision>
  <dcterms:created xsi:type="dcterms:W3CDTF">2022-03-28T19:31:41Z</dcterms:created>
  <dcterms:modified xsi:type="dcterms:W3CDTF">2025-09-28T16:46:58Z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F165A876-8CAE-4A38-BCA6-3F02F794F0E7</vt:lpwstr>
  </property>
  <property fmtid="{D5CDD505-2E9C-101B-9397-08002B2CF9AE}" pid="3" name="ArticulatePath">
    <vt:lpwstr>Presentation1</vt:lpwstr>
  </property>
  <property fmtid="{D5CDD505-2E9C-101B-9397-08002B2CF9AE}" pid="4" name="ContentTypeId">
    <vt:lpwstr>0x0101004EB30683A6882D4798A1183E2061AB2B</vt:lpwstr>
  </property>
</Properties>
</file>