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54.xml" ContentType="application/vnd.openxmlformats-officedocument.presentationml.tags+xml"/>
  <Override PartName="/ppt/notesSlides/notesSlide1.xml" ContentType="application/vnd.openxmlformats-officedocument.presentationml.notesSlide+xml"/>
  <Override PartName="/ppt/tags/tag55.xml" ContentType="application/vnd.openxmlformats-officedocument.presentationml.tags+xml"/>
  <Override PartName="/ppt/notesSlides/notesSlide2.xml" ContentType="application/vnd.openxmlformats-officedocument.presentationml.notesSlide+xml"/>
  <Override PartName="/ppt/tags/tag56.xml" ContentType="application/vnd.openxmlformats-officedocument.presentationml.tags+xml"/>
  <Override PartName="/ppt/notesSlides/notesSlide3.xml" ContentType="application/vnd.openxmlformats-officedocument.presentationml.notesSlide+xml"/>
  <Override PartName="/ppt/tags/tag57.xml" ContentType="application/vnd.openxmlformats-officedocument.presentationml.tags+xml"/>
  <Override PartName="/ppt/notesSlides/notesSlide4.xml" ContentType="application/vnd.openxmlformats-officedocument.presentationml.notesSlide+xml"/>
  <Override PartName="/ppt/tags/tag58.xml" ContentType="application/vnd.openxmlformats-officedocument.presentationml.tags+xml"/>
  <Override PartName="/ppt/notesSlides/notesSlide5.xml" ContentType="application/vnd.openxmlformats-officedocument.presentationml.notesSlide+xml"/>
  <Override PartName="/ppt/tags/tag59.xml" ContentType="application/vnd.openxmlformats-officedocument.presentationml.tags+xml"/>
  <Override PartName="/ppt/notesSlides/notesSlide6.xml" ContentType="application/vnd.openxmlformats-officedocument.presentationml.notesSlide+xml"/>
  <Override PartName="/ppt/tags/tag60.xml" ContentType="application/vnd.openxmlformats-officedocument.presentationml.tags+xml"/>
  <Override PartName="/ppt/notesSlides/notesSlide7.xml" ContentType="application/vnd.openxmlformats-officedocument.presentationml.notesSlide+xml"/>
  <Override PartName="/ppt/tags/tag61.xml" ContentType="application/vnd.openxmlformats-officedocument.presentationml.tags+xml"/>
  <Override PartName="/ppt/notesSlides/notesSlide8.xml" ContentType="application/vnd.openxmlformats-officedocument.presentationml.notesSlide+xml"/>
  <Override PartName="/ppt/tags/tag62.xml" ContentType="application/vnd.openxmlformats-officedocument.presentationml.tags+xml"/>
  <Override PartName="/ppt/notesSlides/notesSlide9.xml" ContentType="application/vnd.openxmlformats-officedocument.presentationml.notesSlide+xml"/>
  <Override PartName="/ppt/tags/tag63.xml" ContentType="application/vnd.openxmlformats-officedocument.presentationml.tags+xml"/>
  <Override PartName="/ppt/notesSlides/notesSlide10.xml" ContentType="application/vnd.openxmlformats-officedocument.presentationml.notesSlide+xml"/>
  <Override PartName="/ppt/tags/tag64.xml" ContentType="application/vnd.openxmlformats-officedocument.presentationml.tags+xml"/>
  <Override PartName="/ppt/notesSlides/notesSlide11.xml" ContentType="application/vnd.openxmlformats-officedocument.presentationml.notesSlide+xml"/>
  <Override PartName="/ppt/tags/tag65.xml" ContentType="application/vnd.openxmlformats-officedocument.presentationml.tags+xml"/>
  <Override PartName="/ppt/notesSlides/notesSlide12.xml" ContentType="application/vnd.openxmlformats-officedocument.presentationml.notesSlide+xml"/>
  <Override PartName="/ppt/tags/tag66.xml" ContentType="application/vnd.openxmlformats-officedocument.presentationml.tags+xml"/>
  <Override PartName="/ppt/notesSlides/notesSlide13.xml" ContentType="application/vnd.openxmlformats-officedocument.presentationml.notesSlide+xml"/>
  <Override PartName="/ppt/tags/tag67.xml" ContentType="application/vnd.openxmlformats-officedocument.presentationml.tags+xml"/>
  <Override PartName="/ppt/notesSlides/notesSlide14.xml" ContentType="application/vnd.openxmlformats-officedocument.presentationml.notesSlide+xml"/>
  <Override PartName="/ppt/tags/tag68.xml" ContentType="application/vnd.openxmlformats-officedocument.presentationml.tags+xml"/>
  <Override PartName="/ppt/notesSlides/notesSlide15.xml" ContentType="application/vnd.openxmlformats-officedocument.presentationml.notesSlide+xml"/>
  <Override PartName="/ppt/tags/tag69.xml" ContentType="application/vnd.openxmlformats-officedocument.presentationml.tags+xml"/>
  <Override PartName="/ppt/notesSlides/notesSlide16.xml" ContentType="application/vnd.openxmlformats-officedocument.presentationml.notesSlide+xml"/>
  <Override PartName="/ppt/tags/tag70.xml" ContentType="application/vnd.openxmlformats-officedocument.presentationml.tags+xml"/>
  <Override PartName="/ppt/notesSlides/notesSlide17.xml" ContentType="application/vnd.openxmlformats-officedocument.presentationml.notesSlide+xml"/>
  <Override PartName="/ppt/tags/tag71.xml" ContentType="application/vnd.openxmlformats-officedocument.presentationml.tags+xml"/>
  <Override PartName="/ppt/notesSlides/notesSlide18.xml" ContentType="application/vnd.openxmlformats-officedocument.presentationml.notesSlide+xml"/>
  <Override PartName="/ppt/tags/tag72.xml" ContentType="application/vnd.openxmlformats-officedocument.presentationml.tags+xml"/>
  <Override PartName="/ppt/notesSlides/notesSlide19.xml" ContentType="application/vnd.openxmlformats-officedocument.presentationml.notesSlide+xml"/>
  <Override PartName="/ppt/tags/tag73.xml" ContentType="application/vnd.openxmlformats-officedocument.presentationml.tags+xml"/>
  <Override PartName="/ppt/notesSlides/notesSlide20.xml" ContentType="application/vnd.openxmlformats-officedocument.presentationml.notesSlide+xml"/>
  <Override PartName="/ppt/tags/tag74.xml" ContentType="application/vnd.openxmlformats-officedocument.presentationml.tags+xml"/>
  <Override PartName="/ppt/notesSlides/notesSlide21.xml" ContentType="application/vnd.openxmlformats-officedocument.presentationml.notesSlide+xml"/>
  <Override PartName="/ppt/tags/tag75.xml" ContentType="application/vnd.openxmlformats-officedocument.presentationml.tags+xml"/>
  <Override PartName="/ppt/notesSlides/notesSlide22.xml" ContentType="application/vnd.openxmlformats-officedocument.presentationml.notesSlide+xml"/>
  <Override PartName="/ppt/tags/tag76.xml" ContentType="application/vnd.openxmlformats-officedocument.presentationml.tags+xml"/>
  <Override PartName="/ppt/notesSlides/notesSlide23.xml" ContentType="application/vnd.openxmlformats-officedocument.presentationml.notesSlide+xml"/>
  <Override PartName="/ppt/tags/tag77.xml" ContentType="application/vnd.openxmlformats-officedocument.presentationml.tags+xml"/>
  <Override PartName="/ppt/notesSlides/notesSlide24.xml" ContentType="application/vnd.openxmlformats-officedocument.presentationml.notesSlide+xml"/>
  <Override PartName="/ppt/tags/tag78.xml" ContentType="application/vnd.openxmlformats-officedocument.presentationml.tags+xml"/>
  <Override PartName="/ppt/notesSlides/notesSlide25.xml" ContentType="application/vnd.openxmlformats-officedocument.presentationml.notesSlide+xml"/>
  <Override PartName="/ppt/tags/tag79.xml" ContentType="application/vnd.openxmlformats-officedocument.presentationml.tags+xml"/>
  <Override PartName="/ppt/notesSlides/notesSlide26.xml" ContentType="application/vnd.openxmlformats-officedocument.presentationml.notesSlide+xml"/>
  <Override PartName="/ppt/tags/tag80.xml" ContentType="application/vnd.openxmlformats-officedocument.presentationml.tags+xml"/>
  <Override PartName="/ppt/notesSlides/notesSlide27.xml" ContentType="application/vnd.openxmlformats-officedocument.presentationml.notesSlide+xml"/>
  <Override PartName="/ppt/tags/tag81.xml" ContentType="application/vnd.openxmlformats-officedocument.presentationml.tags+xml"/>
  <Override PartName="/ppt/notesSlides/notesSlide28.xml" ContentType="application/vnd.openxmlformats-officedocument.presentationml.notesSlide+xml"/>
  <Override PartName="/ppt/tags/tag82.xml" ContentType="application/vnd.openxmlformats-officedocument.presentationml.tags+xml"/>
  <Override PartName="/ppt/notesSlides/notesSlide29.xml" ContentType="application/vnd.openxmlformats-officedocument.presentationml.notesSlide+xml"/>
  <Override PartName="/ppt/tags/tag83.xml" ContentType="application/vnd.openxmlformats-officedocument.presentationml.tags+xml"/>
  <Override PartName="/ppt/notesSlides/notesSlide30.xml" ContentType="application/vnd.openxmlformats-officedocument.presentationml.notesSlide+xml"/>
  <Override PartName="/ppt/tags/tag84.xml" ContentType="application/vnd.openxmlformats-officedocument.presentationml.tags+xml"/>
  <Override PartName="/ppt/notesSlides/notesSlide31.xml" ContentType="application/vnd.openxmlformats-officedocument.presentationml.notesSlide+xml"/>
  <Override PartName="/ppt/tags/tag85.xml" ContentType="application/vnd.openxmlformats-officedocument.presentationml.tags+xml"/>
  <Override PartName="/ppt/notesSlides/notesSlide32.xml" ContentType="application/vnd.openxmlformats-officedocument.presentationml.notesSlide+xml"/>
  <Override PartName="/ppt/tags/tag86.xml" ContentType="application/vnd.openxmlformats-officedocument.presentationml.tags+xml"/>
  <Override PartName="/ppt/notesSlides/notesSlide33.xml" ContentType="application/vnd.openxmlformats-officedocument.presentationml.notesSlide+xml"/>
  <Override PartName="/ppt/tags/tag87.xml" ContentType="application/vnd.openxmlformats-officedocument.presentationml.tags+xml"/>
  <Override PartName="/ppt/notesSlides/notesSlide34.xml" ContentType="application/vnd.openxmlformats-officedocument.presentationml.notesSlide+xml"/>
  <Override PartName="/ppt/tags/tag88.xml" ContentType="application/vnd.openxmlformats-officedocument.presentationml.tags+xml"/>
  <Override PartName="/ppt/notesSlides/notesSlide35.xml" ContentType="application/vnd.openxmlformats-officedocument.presentationml.notesSlide+xml"/>
  <Override PartName="/ppt/tags/tag89.xml" ContentType="application/vnd.openxmlformats-officedocument.presentationml.tags+xml"/>
  <Override PartName="/ppt/notesSlides/notesSlide36.xml" ContentType="application/vnd.openxmlformats-officedocument.presentationml.notesSlide+xml"/>
  <Override PartName="/ppt/tags/tag90.xml" ContentType="application/vnd.openxmlformats-officedocument.presentationml.tags+xml"/>
  <Override PartName="/ppt/notesSlides/notesSlide37.xml" ContentType="application/vnd.openxmlformats-officedocument.presentationml.notesSlide+xml"/>
  <Override PartName="/ppt/tags/tag91.xml" ContentType="application/vnd.openxmlformats-officedocument.presentationml.tags+xml"/>
  <Override PartName="/ppt/notesSlides/notesSlide38.xml" ContentType="application/vnd.openxmlformats-officedocument.presentationml.notesSlide+xml"/>
  <Override PartName="/ppt/tags/tag92.xml" ContentType="application/vnd.openxmlformats-officedocument.presentationml.tags+xml"/>
  <Override PartName="/ppt/notesSlides/notesSlide39.xml" ContentType="application/vnd.openxmlformats-officedocument.presentationml.notesSlide+xml"/>
  <Override PartName="/ppt/tags/tag93.xml" ContentType="application/vnd.openxmlformats-officedocument.presentationml.tags+xml"/>
  <Override PartName="/ppt/notesSlides/notesSlide40.xml" ContentType="application/vnd.openxmlformats-officedocument.presentationml.notesSlide+xml"/>
  <Override PartName="/ppt/tags/tag94.xml" ContentType="application/vnd.openxmlformats-officedocument.presentationml.tags+xml"/>
  <Override PartName="/ppt/notesSlides/notesSlide41.xml" ContentType="application/vnd.openxmlformats-officedocument.presentationml.notesSlide+xml"/>
  <Override PartName="/ppt/tags/tag95.xml" ContentType="application/vnd.openxmlformats-officedocument.presentationml.tags+xml"/>
  <Override PartName="/ppt/notesSlides/notesSlide42.xml" ContentType="application/vnd.openxmlformats-officedocument.presentationml.notesSlide+xml"/>
  <Override PartName="/ppt/tags/tag96.xml" ContentType="application/vnd.openxmlformats-officedocument.presentationml.tags+xml"/>
  <Override PartName="/ppt/notesSlides/notesSlide43.xml" ContentType="application/vnd.openxmlformats-officedocument.presentationml.notesSlide+xml"/>
  <Override PartName="/ppt/tags/tag97.xml" ContentType="application/vnd.openxmlformats-officedocument.presentationml.tags+xml"/>
  <Override PartName="/ppt/notesSlides/notesSlide44.xml" ContentType="application/vnd.openxmlformats-officedocument.presentationml.notesSlide+xml"/>
  <Override PartName="/ppt/tags/tag98.xml" ContentType="application/vnd.openxmlformats-officedocument.presentationml.tags+xml"/>
  <Override PartName="/ppt/notesSlides/notesSlide45.xml" ContentType="application/vnd.openxmlformats-officedocument.presentationml.notesSlide+xml"/>
  <Override PartName="/ppt/tags/tag99.xml" ContentType="application/vnd.openxmlformats-officedocument.presentationml.tags+xml"/>
  <Override PartName="/ppt/notesSlides/notesSlide46.xml" ContentType="application/vnd.openxmlformats-officedocument.presentationml.notesSlide+xml"/>
  <Override PartName="/ppt/tags/tag100.xml" ContentType="application/vnd.openxmlformats-officedocument.presentationml.tags+xml"/>
  <Override PartName="/ppt/notesSlides/notesSlide47.xml" ContentType="application/vnd.openxmlformats-officedocument.presentationml.notesSlide+xml"/>
  <Override PartName="/ppt/tags/tag101.xml" ContentType="application/vnd.openxmlformats-officedocument.presentationml.tags+xml"/>
  <Override PartName="/ppt/notesSlides/notesSlide48.xml" ContentType="application/vnd.openxmlformats-officedocument.presentationml.notesSlide+xml"/>
  <Override PartName="/ppt/tags/tag102.xml" ContentType="application/vnd.openxmlformats-officedocument.presentationml.tags+xml"/>
  <Override PartName="/ppt/notesSlides/notesSlide49.xml" ContentType="application/vnd.openxmlformats-officedocument.presentationml.notesSlide+xml"/>
  <Override PartName="/ppt/tags/tag103.xml" ContentType="application/vnd.openxmlformats-officedocument.presentationml.tags+xml"/>
  <Override PartName="/ppt/notesSlides/notesSlide50.xml" ContentType="application/vnd.openxmlformats-officedocument.presentationml.notesSlide+xml"/>
  <Override PartName="/ppt/tags/tag104.xml" ContentType="application/vnd.openxmlformats-officedocument.presentationml.tags+xml"/>
  <Override PartName="/ppt/notesSlides/notesSlide51.xml" ContentType="application/vnd.openxmlformats-officedocument.presentationml.notesSlide+xml"/>
  <Override PartName="/ppt/tags/tag105.xml" ContentType="application/vnd.openxmlformats-officedocument.presentationml.tags+xml"/>
  <Override PartName="/ppt/notesSlides/notesSlide52.xml" ContentType="application/vnd.openxmlformats-officedocument.presentationml.notesSlide+xml"/>
  <Override PartName="/ppt/tags/tag106.xml" ContentType="application/vnd.openxmlformats-officedocument.presentationml.tags+xml"/>
  <Override PartName="/ppt/notesSlides/notesSlide53.xml" ContentType="application/vnd.openxmlformats-officedocument.presentationml.notesSlide+xml"/>
  <Override PartName="/ppt/tags/tag107.xml" ContentType="application/vnd.openxmlformats-officedocument.presentationml.tags+xml"/>
  <Override PartName="/ppt/notesSlides/notesSlide54.xml" ContentType="application/vnd.openxmlformats-officedocument.presentationml.notesSlide+xml"/>
  <Override PartName="/ppt/tags/tag108.xml" ContentType="application/vnd.openxmlformats-officedocument.presentationml.tags+xml"/>
  <Override PartName="/ppt/notesSlides/notesSlide55.xml" ContentType="application/vnd.openxmlformats-officedocument.presentationml.notesSlide+xml"/>
  <Override PartName="/ppt/tags/tag109.xml" ContentType="application/vnd.openxmlformats-officedocument.presentationml.tags+xml"/>
  <Override PartName="/ppt/notesSlides/notesSlide56.xml" ContentType="application/vnd.openxmlformats-officedocument.presentationml.notesSlide+xml"/>
  <Override PartName="/ppt/tags/tag110.xml" ContentType="application/vnd.openxmlformats-officedocument.presentationml.tags+xml"/>
  <Override PartName="/ppt/notesSlides/notesSlide57.xml" ContentType="application/vnd.openxmlformats-officedocument.presentationml.notesSlide+xml"/>
  <Override PartName="/ppt/tags/tag111.xml" ContentType="application/vnd.openxmlformats-officedocument.presentationml.tags+xml"/>
  <Override PartName="/ppt/notesSlides/notesSlide58.xml" ContentType="application/vnd.openxmlformats-officedocument.presentationml.notesSlide+xml"/>
  <Override PartName="/ppt/tags/tag112.xml" ContentType="application/vnd.openxmlformats-officedocument.presentationml.tags+xml"/>
  <Override PartName="/ppt/notesSlides/notesSlide59.xml" ContentType="application/vnd.openxmlformats-officedocument.presentationml.notesSlide+xml"/>
  <Override PartName="/ppt/tags/tag113.xml" ContentType="application/vnd.openxmlformats-officedocument.presentationml.tags+xml"/>
  <Override PartName="/ppt/notesSlides/notesSlide60.xml" ContentType="application/vnd.openxmlformats-officedocument.presentationml.notesSlide+xml"/>
  <Override PartName="/ppt/tags/tag114.xml" ContentType="application/vnd.openxmlformats-officedocument.presentationml.tags+xml"/>
  <Override PartName="/ppt/notesSlides/notesSlide61.xml" ContentType="application/vnd.openxmlformats-officedocument.presentationml.notesSlide+xml"/>
  <Override PartName="/ppt/tags/tag115.xml" ContentType="application/vnd.openxmlformats-officedocument.presentationml.tags+xml"/>
  <Override PartName="/ppt/notesSlides/notesSlide62.xml" ContentType="application/vnd.openxmlformats-officedocument.presentationml.notesSlide+xml"/>
  <Override PartName="/ppt/tags/tag116.xml" ContentType="application/vnd.openxmlformats-officedocument.presentationml.tags+xml"/>
  <Override PartName="/ppt/notesSlides/notesSlide63.xml" ContentType="application/vnd.openxmlformats-officedocument.presentationml.notesSlide+xml"/>
  <Override PartName="/ppt/tags/tag117.xml" ContentType="application/vnd.openxmlformats-officedocument.presentationml.tags+xml"/>
  <Override PartName="/ppt/notesSlides/notesSlide64.xml" ContentType="application/vnd.openxmlformats-officedocument.presentationml.notesSlide+xml"/>
  <Override PartName="/ppt/tags/tag118.xml" ContentType="application/vnd.openxmlformats-officedocument.presentationml.tags+xml"/>
  <Override PartName="/ppt/notesSlides/notesSlide65.xml" ContentType="application/vnd.openxmlformats-officedocument.presentationml.notesSlide+xml"/>
  <Override PartName="/ppt/tags/tag119.xml" ContentType="application/vnd.openxmlformats-officedocument.presentationml.tags+xml"/>
  <Override PartName="/ppt/notesSlides/notesSlide66.xml" ContentType="application/vnd.openxmlformats-officedocument.presentationml.notesSlide+xml"/>
  <Override PartName="/ppt/tags/tag120.xml" ContentType="application/vnd.openxmlformats-officedocument.presentationml.tags+xml"/>
  <Override PartName="/ppt/notesSlides/notesSlide67.xml" ContentType="application/vnd.openxmlformats-officedocument.presentationml.notesSlide+xml"/>
  <Override PartName="/ppt/tags/tag121.xml" ContentType="application/vnd.openxmlformats-officedocument.presentationml.tags+xml"/>
  <Override PartName="/ppt/notesSlides/notesSlide68.xml" ContentType="application/vnd.openxmlformats-officedocument.presentationml.notesSlide+xml"/>
  <Override PartName="/ppt/tags/tag122.xml" ContentType="application/vnd.openxmlformats-officedocument.presentationml.tags+xml"/>
  <Override PartName="/ppt/notesSlides/notesSlide69.xml" ContentType="application/vnd.openxmlformats-officedocument.presentationml.notesSlide+xml"/>
  <Override PartName="/ppt/tags/tag123.xml" ContentType="application/vnd.openxmlformats-officedocument.presentationml.tags+xml"/>
  <Override PartName="/ppt/notesSlides/notesSlide70.xml" ContentType="application/vnd.openxmlformats-officedocument.presentationml.notesSlide+xml"/>
  <Override PartName="/ppt/tags/tag124.xml" ContentType="application/vnd.openxmlformats-officedocument.presentationml.tags+xml"/>
  <Override PartName="/ppt/notesSlides/notesSlide71.xml" ContentType="application/vnd.openxmlformats-officedocument.presentationml.notesSlide+xml"/>
  <Override PartName="/ppt/tags/tag125.xml" ContentType="application/vnd.openxmlformats-officedocument.presentationml.tags+xml"/>
  <Override PartName="/ppt/notesSlides/notesSlide72.xml" ContentType="application/vnd.openxmlformats-officedocument.presentationml.notesSlide+xml"/>
  <Override PartName="/ppt/tags/tag126.xml" ContentType="application/vnd.openxmlformats-officedocument.presentationml.tags+xml"/>
  <Override PartName="/ppt/notesSlides/notesSlide73.xml" ContentType="application/vnd.openxmlformats-officedocument.presentationml.notesSlide+xml"/>
  <Override PartName="/ppt/tags/tag127.xml" ContentType="application/vnd.openxmlformats-officedocument.presentationml.tags+xml"/>
  <Override PartName="/ppt/notesSlides/notesSlide74.xml" ContentType="application/vnd.openxmlformats-officedocument.presentationml.notesSlide+xml"/>
  <Override PartName="/ppt/tags/tag128.xml" ContentType="application/vnd.openxmlformats-officedocument.presentationml.tags+xml"/>
  <Override PartName="/ppt/notesSlides/notesSlide7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8" r:id="rId4"/>
  </p:sldMasterIdLst>
  <p:notesMasterIdLst>
    <p:notesMasterId r:id="rId84"/>
  </p:notesMasterIdLst>
  <p:handoutMasterIdLst>
    <p:handoutMasterId r:id="rId85"/>
  </p:handoutMasterIdLst>
  <p:sldIdLst>
    <p:sldId id="885" r:id="rId5"/>
    <p:sldId id="443" r:id="rId6"/>
    <p:sldId id="400" r:id="rId7"/>
    <p:sldId id="522" r:id="rId8"/>
    <p:sldId id="890" r:id="rId9"/>
    <p:sldId id="512" r:id="rId10"/>
    <p:sldId id="935" r:id="rId11"/>
    <p:sldId id="913" r:id="rId12"/>
    <p:sldId id="914" r:id="rId13"/>
    <p:sldId id="566" r:id="rId14"/>
    <p:sldId id="892" r:id="rId15"/>
    <p:sldId id="893" r:id="rId16"/>
    <p:sldId id="915" r:id="rId17"/>
    <p:sldId id="567" r:id="rId18"/>
    <p:sldId id="524" r:id="rId19"/>
    <p:sldId id="894" r:id="rId20"/>
    <p:sldId id="916" r:id="rId21"/>
    <p:sldId id="569" r:id="rId22"/>
    <p:sldId id="526" r:id="rId23"/>
    <p:sldId id="895" r:id="rId24"/>
    <p:sldId id="917" r:id="rId25"/>
    <p:sldId id="570" r:id="rId26"/>
    <p:sldId id="928" r:id="rId27"/>
    <p:sldId id="896" r:id="rId28"/>
    <p:sldId id="918" r:id="rId29"/>
    <p:sldId id="571" r:id="rId30"/>
    <p:sldId id="929" r:id="rId31"/>
    <p:sldId id="897" r:id="rId32"/>
    <p:sldId id="519" r:id="rId33"/>
    <p:sldId id="617" r:id="rId34"/>
    <p:sldId id="541" r:id="rId35"/>
    <p:sldId id="534" r:id="rId36"/>
    <p:sldId id="930" r:id="rId37"/>
    <p:sldId id="901" r:id="rId38"/>
    <p:sldId id="900" r:id="rId39"/>
    <p:sldId id="931" r:id="rId40"/>
    <p:sldId id="903" r:id="rId41"/>
    <p:sldId id="902" r:id="rId42"/>
    <p:sldId id="912" r:id="rId43"/>
    <p:sldId id="887" r:id="rId44"/>
    <p:sldId id="888" r:id="rId45"/>
    <p:sldId id="889" r:id="rId46"/>
    <p:sldId id="932" r:id="rId47"/>
    <p:sldId id="883" r:id="rId48"/>
    <p:sldId id="886" r:id="rId49"/>
    <p:sldId id="430" r:id="rId50"/>
    <p:sldId id="936" r:id="rId51"/>
    <p:sldId id="937" r:id="rId52"/>
    <p:sldId id="431" r:id="rId53"/>
    <p:sldId id="491" r:id="rId54"/>
    <p:sldId id="484" r:id="rId55"/>
    <p:sldId id="956" r:id="rId56"/>
    <p:sldId id="957" r:id="rId57"/>
    <p:sldId id="958" r:id="rId58"/>
    <p:sldId id="938" r:id="rId59"/>
    <p:sldId id="497" r:id="rId60"/>
    <p:sldId id="498" r:id="rId61"/>
    <p:sldId id="884" r:id="rId62"/>
    <p:sldId id="940" r:id="rId63"/>
    <p:sldId id="608" r:id="rId64"/>
    <p:sldId id="391" r:id="rId65"/>
    <p:sldId id="941" r:id="rId66"/>
    <p:sldId id="943" r:id="rId67"/>
    <p:sldId id="944" r:id="rId68"/>
    <p:sldId id="945" r:id="rId69"/>
    <p:sldId id="590" r:id="rId70"/>
    <p:sldId id="549" r:id="rId71"/>
    <p:sldId id="550" r:id="rId72"/>
    <p:sldId id="946" r:id="rId73"/>
    <p:sldId id="588" r:id="rId74"/>
    <p:sldId id="947" r:id="rId75"/>
    <p:sldId id="351" r:id="rId76"/>
    <p:sldId id="609" r:id="rId77"/>
    <p:sldId id="948" r:id="rId78"/>
    <p:sldId id="951" r:id="rId79"/>
    <p:sldId id="345" r:id="rId80"/>
    <p:sldId id="959" r:id="rId81"/>
    <p:sldId id="960" r:id="rId82"/>
    <p:sldId id="955" r:id="rId83"/>
  </p:sldIdLst>
  <p:sldSz cx="12192000" cy="6858000"/>
  <p:notesSz cx="7772400" cy="10058400"/>
  <p:custDataLst>
    <p:tags r:id="rId86"/>
  </p:custDataLst>
  <p:defaultTextStyle>
    <a:defPPr>
      <a:defRPr lang="en-US"/>
    </a:defPPr>
    <a:lvl1pPr marL="0" algn="l" defTabSz="228600" rtl="0" eaLnBrk="1" latinLnBrk="0" hangingPunct="1">
      <a:defRPr sz="1800" kern="1200">
        <a:solidFill>
          <a:schemeClr val="tx1"/>
        </a:solidFill>
        <a:latin typeface="+mn-lt"/>
        <a:ea typeface="+mn-ea"/>
        <a:cs typeface="+mn-cs"/>
      </a:defRPr>
    </a:lvl1pPr>
    <a:lvl2pPr marL="228600" algn="l" defTabSz="228600" rtl="0" eaLnBrk="1" latinLnBrk="0" hangingPunct="1">
      <a:defRPr sz="1800" kern="1200">
        <a:solidFill>
          <a:schemeClr val="tx1"/>
        </a:solidFill>
        <a:latin typeface="+mn-lt"/>
        <a:ea typeface="+mn-ea"/>
        <a:cs typeface="+mn-cs"/>
      </a:defRPr>
    </a:lvl2pPr>
    <a:lvl3pPr marL="457200" algn="l" defTabSz="228600" rtl="0" eaLnBrk="1" latinLnBrk="0" hangingPunct="1">
      <a:defRPr sz="1800" kern="1200">
        <a:solidFill>
          <a:schemeClr val="tx1"/>
        </a:solidFill>
        <a:latin typeface="+mn-lt"/>
        <a:ea typeface="+mn-ea"/>
        <a:cs typeface="+mn-cs"/>
      </a:defRPr>
    </a:lvl3pPr>
    <a:lvl4pPr marL="685800" algn="l" defTabSz="228600" rtl="0" eaLnBrk="1" latinLnBrk="0" hangingPunct="1">
      <a:defRPr sz="1800" kern="1200">
        <a:solidFill>
          <a:schemeClr val="tx1"/>
        </a:solidFill>
        <a:latin typeface="+mn-lt"/>
        <a:ea typeface="+mn-ea"/>
        <a:cs typeface="+mn-cs"/>
      </a:defRPr>
    </a:lvl4pPr>
    <a:lvl5pPr marL="914400" algn="l" defTabSz="228600" rtl="0" eaLnBrk="1" latinLnBrk="0" hangingPunct="1">
      <a:defRPr sz="1800" kern="1200">
        <a:solidFill>
          <a:schemeClr val="tx1"/>
        </a:solidFill>
        <a:latin typeface="+mn-lt"/>
        <a:ea typeface="+mn-ea"/>
        <a:cs typeface="+mn-cs"/>
      </a:defRPr>
    </a:lvl5pPr>
    <a:lvl6pPr marL="1143000" algn="l" defTabSz="228600" rtl="0" eaLnBrk="1" latinLnBrk="0" hangingPunct="1">
      <a:defRPr sz="1800" kern="1200">
        <a:solidFill>
          <a:schemeClr val="tx1"/>
        </a:solidFill>
        <a:latin typeface="+mn-lt"/>
        <a:ea typeface="+mn-ea"/>
        <a:cs typeface="+mn-cs"/>
      </a:defRPr>
    </a:lvl6pPr>
    <a:lvl7pPr marL="1371600" algn="l" defTabSz="228600" rtl="0" eaLnBrk="1" latinLnBrk="0" hangingPunct="1">
      <a:defRPr sz="1800" kern="1200">
        <a:solidFill>
          <a:schemeClr val="tx1"/>
        </a:solidFill>
        <a:latin typeface="+mn-lt"/>
        <a:ea typeface="+mn-ea"/>
        <a:cs typeface="+mn-cs"/>
      </a:defRPr>
    </a:lvl7pPr>
    <a:lvl8pPr marL="1600200" algn="l" defTabSz="228600" rtl="0" eaLnBrk="1" latinLnBrk="0" hangingPunct="1">
      <a:defRPr sz="1800" kern="1200">
        <a:solidFill>
          <a:schemeClr val="tx1"/>
        </a:solidFill>
        <a:latin typeface="+mn-lt"/>
        <a:ea typeface="+mn-ea"/>
        <a:cs typeface="+mn-cs"/>
      </a:defRPr>
    </a:lvl8pPr>
    <a:lvl9pPr marL="1828800" algn="l" defTabSz="2286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Introduction" id="{02B278B4-8E24-4841-8E1F-29E48F88B399}">
          <p14:sldIdLst>
            <p14:sldId id="885"/>
            <p14:sldId id="443"/>
            <p14:sldId id="400"/>
          </p14:sldIdLst>
        </p14:section>
        <p14:section name="Section 1: AWS Well-Architected Framework" id="{581EDE0B-5437-42C0-8CA3-C26622784DBB}">
          <p14:sldIdLst>
            <p14:sldId id="522"/>
            <p14:sldId id="890"/>
            <p14:sldId id="512"/>
            <p14:sldId id="935"/>
            <p14:sldId id="913"/>
            <p14:sldId id="914"/>
            <p14:sldId id="566"/>
            <p14:sldId id="892"/>
            <p14:sldId id="893"/>
            <p14:sldId id="915"/>
            <p14:sldId id="567"/>
            <p14:sldId id="524"/>
            <p14:sldId id="894"/>
            <p14:sldId id="916"/>
            <p14:sldId id="569"/>
            <p14:sldId id="526"/>
            <p14:sldId id="895"/>
            <p14:sldId id="917"/>
            <p14:sldId id="570"/>
            <p14:sldId id="928"/>
            <p14:sldId id="896"/>
            <p14:sldId id="918"/>
            <p14:sldId id="571"/>
            <p14:sldId id="929"/>
            <p14:sldId id="897"/>
            <p14:sldId id="519"/>
            <p14:sldId id="617"/>
          </p14:sldIdLst>
        </p14:section>
        <p14:section name="Section 2: Reliability and Availability" id="{D90F13FF-ED0E-4DE0-AA00-387987B0CA2C}">
          <p14:sldIdLst>
            <p14:sldId id="541"/>
            <p14:sldId id="534"/>
            <p14:sldId id="930"/>
            <p14:sldId id="901"/>
            <p14:sldId id="900"/>
            <p14:sldId id="931"/>
            <p14:sldId id="903"/>
            <p14:sldId id="902"/>
            <p14:sldId id="912"/>
          </p14:sldIdLst>
        </p14:section>
        <p14:section name="Section 3: AWS Trusted Advisor" id="{E864364E-F790-4854-86D2-579E473CA72E}">
          <p14:sldIdLst>
            <p14:sldId id="887"/>
            <p14:sldId id="888"/>
            <p14:sldId id="889"/>
            <p14:sldId id="932"/>
          </p14:sldIdLst>
        </p14:section>
        <p14:section name="Module wrap up" id="{ADE5ECD3-B120-4058-8F20-7FC3553B8954}">
          <p14:sldIdLst>
            <p14:sldId id="883"/>
            <p14:sldId id="886"/>
            <p14:sldId id="430"/>
            <p14:sldId id="936"/>
            <p14:sldId id="937"/>
            <p14:sldId id="431"/>
            <p14:sldId id="491"/>
            <p14:sldId id="484"/>
            <p14:sldId id="956"/>
            <p14:sldId id="957"/>
            <p14:sldId id="958"/>
            <p14:sldId id="938"/>
            <p14:sldId id="497"/>
            <p14:sldId id="498"/>
            <p14:sldId id="884"/>
            <p14:sldId id="940"/>
            <p14:sldId id="608"/>
            <p14:sldId id="391"/>
            <p14:sldId id="941"/>
            <p14:sldId id="943"/>
            <p14:sldId id="944"/>
            <p14:sldId id="945"/>
            <p14:sldId id="590"/>
            <p14:sldId id="549"/>
            <p14:sldId id="550"/>
            <p14:sldId id="946"/>
            <p14:sldId id="588"/>
            <p14:sldId id="947"/>
            <p14:sldId id="351"/>
            <p14:sldId id="609"/>
            <p14:sldId id="948"/>
            <p14:sldId id="951"/>
            <p14:sldId id="345"/>
            <p14:sldId id="959"/>
            <p14:sldId id="960"/>
            <p14:sldId id="95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ding, Katrina" initials="SK" lastIdx="9" clrIdx="0">
    <p:extLst>
      <p:ext uri="{19B8F6BF-5375-455C-9EA6-DF929625EA0E}">
        <p15:presenceInfo xmlns:p15="http://schemas.microsoft.com/office/powerpoint/2012/main" userId="S-1-5-21-1407069837-2091007605-538272213-31813507" providerId="AD"/>
      </p:ext>
    </p:extLst>
  </p:cmAuthor>
  <p:cmAuthor id="2" name="Raymond, Patty" initials="RP" lastIdx="2" clrIdx="1">
    <p:extLst>
      <p:ext uri="{19B8F6BF-5375-455C-9EA6-DF929625EA0E}">
        <p15:presenceInfo xmlns:p15="http://schemas.microsoft.com/office/powerpoint/2012/main" userId="S-1-5-21-1407069837-2091007605-538272213-2935585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5DB9C9-96DE-1E4B-9BD2-DB6CB0F3CCF3}" v="66" dt="2025-10-06T16:41:07.1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432"/>
    <p:restoredTop sz="76644"/>
  </p:normalViewPr>
  <p:slideViewPr>
    <p:cSldViewPr snapToGrid="0" snapToObjects="1">
      <p:cViewPr>
        <p:scale>
          <a:sx n="100" d="100"/>
          <a:sy n="100" d="100"/>
        </p:scale>
        <p:origin x="96" y="8"/>
      </p:cViewPr>
      <p:guideLst/>
    </p:cSldViewPr>
  </p:slideViewPr>
  <p:notesTextViewPr>
    <p:cViewPr>
      <p:scale>
        <a:sx n="1" d="1"/>
        <a:sy n="1" d="1"/>
      </p:scale>
      <p:origin x="0" y="0"/>
    </p:cViewPr>
  </p:notesTextViewPr>
  <p:sorterViewPr>
    <p:cViewPr>
      <p:scale>
        <a:sx n="100" d="100"/>
        <a:sy n="100" d="100"/>
      </p:scale>
      <p:origin x="0" y="-22194"/>
    </p:cViewPr>
  </p:sorterViewPr>
  <p:notesViewPr>
    <p:cSldViewPr snapToGrid="0" snapToObjects="1">
      <p:cViewPr varScale="1">
        <p:scale>
          <a:sx n="47" d="100"/>
          <a:sy n="47" d="100"/>
        </p:scale>
        <p:origin x="2648" y="4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notesMaster" Target="notesMasters/notesMaster1.xml"/><Relationship Id="rId89"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theme" Target="theme/theme1.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microsoft.com/office/2015/10/relationships/revisionInfo" Target="revisionInfo.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commentAuthors" Target="commentAuthor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C71C26-B7E3-40D9-AFFC-56E1F3330FC0}"/>
              </a:ext>
            </a:extLst>
          </p:cNvPr>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354C10F-87CF-4634-B8A1-405F2079FC0A}"/>
              </a:ext>
            </a:extLst>
          </p:cNvPr>
          <p:cNvSpPr>
            <a:spLocks noGrp="1"/>
          </p:cNvSpPr>
          <p:nvPr>
            <p:ph type="dt" sz="quarter" idx="1"/>
          </p:nvPr>
        </p:nvSpPr>
        <p:spPr>
          <a:xfrm>
            <a:off x="4402138" y="0"/>
            <a:ext cx="3368675" cy="504825"/>
          </a:xfrm>
          <a:prstGeom prst="rect">
            <a:avLst/>
          </a:prstGeom>
        </p:spPr>
        <p:txBody>
          <a:bodyPr vert="horz" lIns="91440" tIns="45720" rIns="91440" bIns="45720" rtlCol="0"/>
          <a:lstStyle>
            <a:lvl1pPr algn="r">
              <a:defRPr sz="1200"/>
            </a:lvl1pPr>
          </a:lstStyle>
          <a:p>
            <a:fld id="{287BC065-D7D7-4497-9D0A-D0D4CA488C61}" type="datetimeFigureOut">
              <a:rPr lang="en-US" smtClean="0"/>
              <a:t>10/6/25</a:t>
            </a:fld>
            <a:endParaRPr lang="en-US"/>
          </a:p>
        </p:txBody>
      </p:sp>
      <p:sp>
        <p:nvSpPr>
          <p:cNvPr id="4" name="Footer Placeholder 3">
            <a:extLst>
              <a:ext uri="{FF2B5EF4-FFF2-40B4-BE49-F238E27FC236}">
                <a16:creationId xmlns:a16="http://schemas.microsoft.com/office/drawing/2014/main" id="{C12E5DC8-58CF-4AB2-B263-F2D72A48CB76}"/>
              </a:ext>
            </a:extLst>
          </p:cNvPr>
          <p:cNvSpPr>
            <a:spLocks noGrp="1"/>
          </p:cNvSpPr>
          <p:nvPr>
            <p:ph type="ftr" sz="quarter" idx="2"/>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0175017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0EC29ED2-9DB7-4FC7-8D07-964CD0E5B663}" type="datetimeFigureOut">
              <a:rPr lang="en-US" smtClean="0"/>
              <a:t>10/6/25</a:t>
            </a:fld>
            <a:endParaRPr lang="en-US"/>
          </a:p>
        </p:txBody>
      </p:sp>
      <p:sp>
        <p:nvSpPr>
          <p:cNvPr id="4" name="Slide Image Placeholder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B4B52809-B5B7-4F41-8876-28A8C75C3ECB}" type="slidenum">
              <a:rPr lang="en-US" smtClean="0"/>
              <a:t>‹#›</a:t>
            </a:fld>
            <a:endParaRPr lang="en-US"/>
          </a:p>
        </p:txBody>
      </p:sp>
    </p:spTree>
    <p:extLst>
      <p:ext uri="{BB962C8B-B14F-4D97-AF65-F5344CB8AC3E}">
        <p14:creationId xmlns:p14="http://schemas.microsoft.com/office/powerpoint/2010/main" val="336884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docs.aws.amazon.com/wellarchitected/latest/sustainability-pillar/sustainability-pillar.html"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docs.aws.amazon.com/awssupport/latest/user/trusted-advisor-check-reference.html"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3" Type="http://schemas.openxmlformats.org/officeDocument/2006/relationships/hyperlink" Target="https://aws.amazon.com/elasticloadbalancing/features/?nc=sn&amp;loc=2" TargetMode="External"/><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3" Type="http://schemas.openxmlformats.org/officeDocument/2006/relationships/hyperlink" Target="https://docs.aws.amazon.com/AmazonCloudWatch/latest/monitoring/AlarmThatSendsEmail.html" TargetMode="External"/><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3" Type="http://schemas.openxmlformats.org/officeDocument/2006/relationships/hyperlink" Target="https://aws.amazon.com/ec2/autoscaling" TargetMode="External"/><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3" Type="http://schemas.openxmlformats.org/officeDocument/2006/relationships/hyperlink" Target="https://docs.aws.amazon.com/autoscaling/ec2/userguide/auto-scaling-groups.html" TargetMode="External"/><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8" Type="http://schemas.openxmlformats.org/officeDocument/2006/relationships/hyperlink" Target="https://docs.aws.amazon.com/autoscaling/ec2/userguide/scale-your-group.html" TargetMode="External"/><Relationship Id="rId3" Type="http://schemas.openxmlformats.org/officeDocument/2006/relationships/hyperlink" Target="https://docs.aws.amazon.com/autoscaling/ec2/userguide/launch-configurations.html" TargetMode="External"/><Relationship Id="rId7" Type="http://schemas.openxmlformats.org/officeDocument/2006/relationships/hyperlink" Target="https://aws.amazon.com/blogs/aws/new-predictive-scaling-for-ec2-powered-by-machine-learning/" TargetMode="External"/><Relationship Id="rId2" Type="http://schemas.openxmlformats.org/officeDocument/2006/relationships/slide" Target="../slides/slide71.xml"/><Relationship Id="rId1" Type="http://schemas.openxmlformats.org/officeDocument/2006/relationships/notesMaster" Target="../notesMasters/notesMaster1.xml"/><Relationship Id="rId6" Type="http://schemas.openxmlformats.org/officeDocument/2006/relationships/hyperlink" Target="https://docs.aws.amazon.com/autoscaling/ec2/userguide/as-scale-based-on-demand.html" TargetMode="External"/><Relationship Id="rId5" Type="http://schemas.openxmlformats.org/officeDocument/2006/relationships/hyperlink" Target="https://docs.aws.amazon.com/autoscaling/ec2/userguide/ec2-auto-scaling-scheduled-scaling.html" TargetMode="External"/><Relationship Id="rId4" Type="http://schemas.openxmlformats.org/officeDocument/2006/relationships/hyperlink" Target="https://docs.aws.amazon.com/autoscaling/ec2/userguide/as-manual-scaling.html" TargetMode="Externa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3" Type="http://schemas.openxmlformats.org/officeDocument/2006/relationships/hyperlink" Target="https://aws.amazon.com/autoscaling/" TargetMode="External"/><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Module 9: Cloud Architecture</a:t>
            </a:r>
          </a:p>
        </p:txBody>
      </p:sp>
    </p:spTree>
    <p:extLst>
      <p:ext uri="{BB962C8B-B14F-4D97-AF65-F5344CB8AC3E}">
        <p14:creationId xmlns:p14="http://schemas.microsoft.com/office/powerpoint/2010/main" val="3169924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latin typeface="+mn-lt"/>
                <a:ea typeface="+mn-ea"/>
                <a:cs typeface="+mn-cs"/>
              </a:rPr>
              <a:t>This module will address the following topics:</a:t>
            </a:r>
          </a:p>
          <a:p>
            <a:pPr marL="171450" indent="-171450">
              <a:buFont typeface="Arial" panose="020B0604020202020204" pitchFamily="34" charset="0"/>
              <a:buChar char="•"/>
            </a:pPr>
            <a:r>
              <a:rPr lang="en-US" kern="1200" dirty="0">
                <a:solidFill>
                  <a:schemeClr val="tx1"/>
                </a:solidFill>
                <a:effectLst/>
                <a:latin typeface="+mn-lt"/>
                <a:ea typeface="+mn-ea"/>
                <a:cs typeface="+mn-cs"/>
              </a:rPr>
              <a:t>AWS Well-Architected Framework</a:t>
            </a:r>
          </a:p>
          <a:p>
            <a:pPr marL="171450" indent="-171450">
              <a:buFont typeface="Arial" panose="020B0604020202020204" pitchFamily="34" charset="0"/>
              <a:buChar char="•"/>
            </a:pPr>
            <a:r>
              <a:rPr lang="en-US" kern="1200" dirty="0">
                <a:solidFill>
                  <a:schemeClr val="tx1"/>
                </a:solidFill>
                <a:effectLst/>
                <a:latin typeface="+mn-lt"/>
                <a:ea typeface="+mn-ea"/>
                <a:cs typeface="+mn-cs"/>
              </a:rPr>
              <a:t>Reliability and high availability</a:t>
            </a:r>
          </a:p>
          <a:p>
            <a:pPr marL="171450" indent="-171450">
              <a:buFont typeface="Arial" panose="020B0604020202020204" pitchFamily="34" charset="0"/>
              <a:buChar char="•"/>
            </a:pPr>
            <a:r>
              <a:rPr lang="en-US" kern="1200" dirty="0">
                <a:solidFill>
                  <a:schemeClr val="tx1"/>
                </a:solidFill>
                <a:effectLst/>
                <a:latin typeface="+mn-lt"/>
                <a:ea typeface="+mn-ea"/>
                <a:cs typeface="+mn-cs"/>
              </a:rPr>
              <a:t>AWS Trusted Advisor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kern="1200" dirty="0">
                <a:solidFill>
                  <a:schemeClr val="tx1"/>
                </a:solidFill>
                <a:effectLst/>
                <a:latin typeface="+mn-lt"/>
                <a:ea typeface="+mn-ea"/>
                <a:cs typeface="+mn-cs"/>
              </a:rPr>
              <a:t>The module also includes two activities. In one activity, you will be challenged to review an architecture and evaluate it against the AWS Well-Architected Framework design principles. In the second activity, you will gain experience interpreting AWS Trusted Advisor recommendations.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kern="1200" dirty="0">
                <a:solidFill>
                  <a:schemeClr val="tx1"/>
                </a:solidFill>
                <a:effectLst/>
                <a:latin typeface="+mn-lt"/>
                <a:ea typeface="+mn-ea"/>
                <a:cs typeface="+mn-cs"/>
              </a:rPr>
              <a:t>Finally, you will be asked to complete a knowledge check that will test your understanding of key concepts covered in this module.</a:t>
            </a:r>
          </a:p>
          <a:p>
            <a:pPr marL="0" indent="0">
              <a:buFont typeface="Arial" panose="020B0604020202020204" pitchFamily="34" charset="0"/>
              <a:buNone/>
            </a:pPr>
            <a:endParaRPr lang="en-US"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317600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completing this module, you should be able to:</a:t>
            </a:r>
          </a:p>
          <a:p>
            <a:pPr marL="171450" indent="-171450">
              <a:buFont typeface="Arial" panose="020B0604020202020204" pitchFamily="34" charset="0"/>
              <a:buChar char="•"/>
            </a:pPr>
            <a:r>
              <a:rPr lang="en-US" dirty="0">
                <a:latin typeface="+mn-lt"/>
              </a:rPr>
              <a:t>Describe the AWS Well-Architected Framework, including the</a:t>
            </a:r>
            <a:r>
              <a:rPr lang="en-US" baseline="0" dirty="0">
                <a:latin typeface="+mn-lt"/>
              </a:rPr>
              <a:t> six pillars</a:t>
            </a:r>
            <a:endParaRPr lang="en-US" dirty="0">
              <a:latin typeface="+mn-lt"/>
            </a:endParaRPr>
          </a:p>
          <a:p>
            <a:pPr marL="171450" indent="-171450">
              <a:buFont typeface="Arial" panose="020B0604020202020204" pitchFamily="34" charset="0"/>
              <a:buChar char="•"/>
            </a:pPr>
            <a:r>
              <a:rPr lang="en-US" dirty="0">
                <a:latin typeface="+mn-lt"/>
              </a:rPr>
              <a:t>Identify the design principles</a:t>
            </a:r>
            <a:r>
              <a:rPr lang="en-US" baseline="0" dirty="0">
                <a:latin typeface="+mn-lt"/>
              </a:rPr>
              <a:t> of the AWS Well-Architected Framework</a:t>
            </a:r>
            <a:endParaRPr lang="en-US" dirty="0">
              <a:latin typeface="+mn-lt"/>
            </a:endParaRPr>
          </a:p>
          <a:p>
            <a:pPr marL="171450" indent="-171450">
              <a:buFont typeface="Arial" panose="020B0604020202020204" pitchFamily="34" charset="0"/>
              <a:buChar char="•"/>
            </a:pPr>
            <a:r>
              <a:rPr lang="en-US" dirty="0">
                <a:latin typeface="+mn-lt"/>
              </a:rPr>
              <a:t>Explain the importance of reliability and high availability</a:t>
            </a:r>
          </a:p>
          <a:p>
            <a:pPr marL="171450" indent="-171450">
              <a:buFont typeface="Arial" panose="020B0604020202020204" pitchFamily="34" charset="0"/>
              <a:buChar char="•"/>
            </a:pPr>
            <a:r>
              <a:rPr lang="en-US" dirty="0">
                <a:latin typeface="+mn-lt"/>
              </a:rPr>
              <a:t>Identify how AWS Trusted Advisor helps customers</a:t>
            </a:r>
          </a:p>
          <a:p>
            <a:pPr marL="171450" indent="-171450">
              <a:buFont typeface="Arial" panose="020B0604020202020204" pitchFamily="34" charset="0"/>
              <a:buChar char="•"/>
            </a:pPr>
            <a:r>
              <a:rPr lang="en-US" dirty="0">
                <a:latin typeface="+mn-lt"/>
              </a:rPr>
              <a:t>Interpret AWS Trusted Advisor recommendations</a:t>
            </a:r>
            <a:endParaRPr lang="en-US" dirty="0"/>
          </a:p>
        </p:txBody>
      </p:sp>
    </p:spTree>
    <p:extLst>
      <p:ext uri="{BB962C8B-B14F-4D97-AF65-F5344CB8AC3E}">
        <p14:creationId xmlns:p14="http://schemas.microsoft.com/office/powerpoint/2010/main" val="345656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1: AWS Well-Architected Framework</a:t>
            </a:r>
          </a:p>
        </p:txBody>
      </p:sp>
    </p:spTree>
    <p:extLst>
      <p:ext uri="{BB962C8B-B14F-4D97-AF65-F5344CB8AC3E}">
        <p14:creationId xmlns:p14="http://schemas.microsoft.com/office/powerpoint/2010/main" val="3432628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is the art and science of designing and building large structures. Large systems require architects to manage their size and complexity. </a:t>
            </a:r>
          </a:p>
          <a:p>
            <a:endParaRPr lang="en-US" dirty="0"/>
          </a:p>
          <a:p>
            <a:r>
              <a:rPr lang="en-US" dirty="0"/>
              <a:t>Cloud architects:</a:t>
            </a:r>
          </a:p>
          <a:p>
            <a:pPr marL="171450" indent="-171450">
              <a:buFont typeface="Arial" panose="020B0604020202020204" pitchFamily="34" charset="0"/>
              <a:buChar char="•"/>
            </a:pPr>
            <a:r>
              <a:rPr lang="en-US" dirty="0"/>
              <a:t>Engage with decision makers to identify the business goal and the capabilities that need improvement. </a:t>
            </a:r>
          </a:p>
          <a:p>
            <a:pPr marL="171450" indent="-171450">
              <a:buFont typeface="Arial" panose="020B0604020202020204" pitchFamily="34" charset="0"/>
              <a:buChar char="•"/>
            </a:pPr>
            <a:r>
              <a:rPr lang="en-US" dirty="0"/>
              <a:t>Ensure alignment between technology deliverables of a solution and the business goals.</a:t>
            </a:r>
          </a:p>
          <a:p>
            <a:pPr marL="171450" indent="-171450">
              <a:buFont typeface="Arial" panose="020B0604020202020204" pitchFamily="34" charset="0"/>
              <a:buChar char="•"/>
            </a:pPr>
            <a:r>
              <a:rPr lang="en-US" dirty="0"/>
              <a:t>Work with delivery teams that are implementing the solution to ensure that the technology features are appropriate.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Having well-architected systems greatly increases the likelihood of business success.</a:t>
            </a:r>
          </a:p>
        </p:txBody>
      </p:sp>
    </p:spTree>
    <p:extLst>
      <p:ext uri="{BB962C8B-B14F-4D97-AF65-F5344CB8AC3E}">
        <p14:creationId xmlns:p14="http://schemas.microsoft.com/office/powerpoint/2010/main" val="2297702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AWS Well-Architected Framework is a guide that is designed to help you build the most </a:t>
            </a:r>
            <a:r>
              <a:rPr lang="en-US" kern="1200">
                <a:solidFill>
                  <a:schemeClr val="tx1"/>
                </a:solidFill>
                <a:effectLst/>
                <a:latin typeface="+mn-lt"/>
                <a:ea typeface="+mn-ea"/>
                <a:cs typeface="+mn-cs"/>
              </a:rPr>
              <a:t>secure, high-performing, resilient, and efficient infrastructure possible for your cloud applications and workloads. It </a:t>
            </a:r>
            <a:r>
              <a:rPr lang="en-US"/>
              <a:t>provides a set of foundational questions and best practices that can help you evaluate and implement your cloud architectures. AWS developed the Well-Architected Framework after reviewing thousands of customer architectures on AWS.</a:t>
            </a:r>
          </a:p>
        </p:txBody>
      </p:sp>
    </p:spTree>
    <p:extLst>
      <p:ext uri="{BB962C8B-B14F-4D97-AF65-F5344CB8AC3E}">
        <p14:creationId xmlns:p14="http://schemas.microsoft.com/office/powerpoint/2010/main" val="1921224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latin typeface="+mn-lt"/>
                <a:ea typeface="+mn-ea"/>
                <a:cs typeface="+mn-cs"/>
              </a:rPr>
              <a:t>The AWS Well-Architected Framework is organized into six </a:t>
            </a:r>
            <a:r>
              <a:rPr lang="en-US" b="0" i="0" kern="1200" dirty="0">
                <a:solidFill>
                  <a:schemeClr val="tx1"/>
                </a:solidFill>
                <a:effectLst/>
                <a:latin typeface="+mn-lt"/>
                <a:ea typeface="+mn-ea"/>
                <a:cs typeface="+mn-cs"/>
              </a:rPr>
              <a:t>pillars:</a:t>
            </a:r>
            <a:r>
              <a:rPr lang="en-US" kern="1200" dirty="0">
                <a:solidFill>
                  <a:schemeClr val="tx1"/>
                </a:solidFill>
                <a:effectLst/>
                <a:latin typeface="+mn-lt"/>
                <a:ea typeface="+mn-ea"/>
                <a:cs typeface="+mn-cs"/>
              </a:rPr>
              <a:t> operational excellence, security, reliability, performance efficiency, cost optimization, and sustainability.  The first five pillars have been part of the framework since the framework's introduction in 2015. The sustainability pillar was added as the sixth pillar in 2021 </a:t>
            </a:r>
            <a:r>
              <a:rPr lang="en-US" dirty="0"/>
              <a:t>to help organizations learn how to minimize the environmental impacts of running cloud workloads.</a:t>
            </a:r>
          </a:p>
          <a:p>
            <a:endParaRPr lang="en-US" b="0" dirty="0"/>
          </a:p>
          <a:p>
            <a:r>
              <a:rPr lang="en-US" b="0" dirty="0"/>
              <a:t>The remainder of this module focuses on the first five pillars (</a:t>
            </a:r>
            <a:r>
              <a:rPr lang="en-US" kern="1200" dirty="0">
                <a:solidFill>
                  <a:schemeClr val="tx1"/>
                </a:solidFill>
                <a:effectLst/>
                <a:latin typeface="+mn-lt"/>
                <a:ea typeface="+mn-ea"/>
                <a:cs typeface="+mn-cs"/>
              </a:rPr>
              <a:t>operational excellence, security, reliability, performance efficiency, cost optimization)</a:t>
            </a:r>
            <a:r>
              <a:rPr lang="en-US" b="0" dirty="0"/>
              <a:t> and leads you through a review of an example architecture against each pillar's design principles. </a:t>
            </a:r>
          </a:p>
          <a:p>
            <a:r>
              <a:rPr lang="en-US" b="0" kern="1200" dirty="0">
                <a:solidFill>
                  <a:schemeClr val="tx1"/>
                </a:solidFill>
                <a:effectLst/>
                <a:latin typeface="+mn-lt"/>
                <a:ea typeface="+mn-ea"/>
                <a:cs typeface="+mn-cs"/>
              </a:rPr>
              <a:t>For more about the sustainability pillar, refer to the sustainability pillar section within the Well-Architected Framework documentation</a:t>
            </a:r>
            <a:r>
              <a:rPr lang="en-US" dirty="0"/>
              <a:t> see </a:t>
            </a:r>
            <a:r>
              <a:rPr lang="en-US" dirty="0">
                <a:hlinkClick r:id="rId3"/>
              </a:rPr>
              <a:t>https://docs.aws.amazon.com/wellarchitected/latest/sustainability-pillar/sustainability-pillar.html</a:t>
            </a:r>
            <a:r>
              <a:rPr lang="en-US" dirty="0"/>
              <a:t>. </a:t>
            </a:r>
          </a:p>
          <a:p>
            <a:endParaRPr lang="en-US"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effectLst/>
                <a:latin typeface="Calibri" panose="020F0502020204030204" pitchFamily="34" charset="0"/>
                <a:ea typeface="Calibri" panose="020F0502020204030204" pitchFamily="34" charset="0"/>
                <a:cs typeface="Calibri" panose="020F0502020204030204" pitchFamily="34" charset="0"/>
              </a:rPr>
              <a:t>For accessibility:</a:t>
            </a:r>
            <a:r>
              <a:rPr lang="en-AU" dirty="0">
                <a:effectLst/>
                <a:latin typeface="Calibri" panose="020F0502020204030204" pitchFamily="34" charset="0"/>
                <a:ea typeface="Calibri" panose="020F0502020204030204" pitchFamily="34" charset="0"/>
                <a:cs typeface="Arial" panose="020B0604020202020204" pitchFamily="34" charset="0"/>
              </a:rPr>
              <a:t> </a:t>
            </a:r>
            <a:r>
              <a:rPr lang="en-AU" dirty="0">
                <a:effectLst/>
                <a:latin typeface="Calibri" panose="020F0502020204030204" pitchFamily="34" charset="0"/>
                <a:ea typeface="Calibri" panose="020F0502020204030204" pitchFamily="34" charset="0"/>
                <a:cs typeface="Calibri" panose="020F0502020204030204" pitchFamily="34" charset="0"/>
              </a:rPr>
              <a:t>The pillars include operational excellence, security, reliability, performance efficiency, cost optimization, and sustainability. </a:t>
            </a:r>
            <a:r>
              <a:rPr lang="en-AU" b="1" dirty="0">
                <a:effectLst/>
                <a:latin typeface="Calibri" panose="020F0502020204030204" pitchFamily="34" charset="0"/>
                <a:ea typeface="Calibri" panose="020F0502020204030204" pitchFamily="34" charset="0"/>
                <a:cs typeface="Calibri" panose="020F0502020204030204" pitchFamily="34" charset="0"/>
              </a:rPr>
              <a:t>End of accessibility description.</a:t>
            </a:r>
            <a:endParaRPr lang="en-US" dirty="0">
              <a:effectLst/>
              <a:latin typeface="Calibri" panose="020F0502020204030204" pitchFamily="34" charset="0"/>
              <a:ea typeface="Calibri" panose="020F0502020204030204" pitchFamily="34" charset="0"/>
              <a:cs typeface="Arial" panose="020B0604020202020204" pitchFamily="34" charset="0"/>
            </a:endParaRPr>
          </a:p>
          <a:p>
            <a:endParaRPr lang="en-US"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610875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pillar includes a set of design principles and best practice areas. Each best practice area aligns to questions a reviewer should ask when designing an architecture.  The questions for each pillar are part of the Well-Architected Framework Appendix. </a:t>
            </a:r>
          </a:p>
        </p:txBody>
      </p:sp>
    </p:spTree>
    <p:extLst>
      <p:ext uri="{BB962C8B-B14F-4D97-AF65-F5344CB8AC3E}">
        <p14:creationId xmlns:p14="http://schemas.microsoft.com/office/powerpoint/2010/main" val="4089347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Operational Excellence pillar</a:t>
            </a:r>
          </a:p>
        </p:txBody>
      </p:sp>
    </p:spTree>
    <p:extLst>
      <p:ext uri="{BB962C8B-B14F-4D97-AF65-F5344CB8AC3E}">
        <p14:creationId xmlns:p14="http://schemas.microsoft.com/office/powerpoint/2010/main" val="3913747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a:solidFill>
                  <a:schemeClr val="tx1"/>
                </a:solidFill>
                <a:effectLst/>
                <a:latin typeface="+mn-lt"/>
                <a:ea typeface="+mn-ea"/>
                <a:cs typeface="+mn-cs"/>
              </a:rPr>
              <a:t>The </a:t>
            </a:r>
            <a:r>
              <a:rPr lang="en-US" i="1" kern="1200">
                <a:solidFill>
                  <a:schemeClr val="tx1"/>
                </a:solidFill>
                <a:effectLst/>
                <a:latin typeface="+mn-lt"/>
                <a:ea typeface="+mn-ea"/>
                <a:cs typeface="+mn-cs"/>
              </a:rPr>
              <a:t>Operational Excellence pillar </a:t>
            </a:r>
            <a:r>
              <a:rPr lang="en-US" kern="1200">
                <a:solidFill>
                  <a:schemeClr val="tx1"/>
                </a:solidFill>
                <a:effectLst/>
                <a:latin typeface="+mn-lt"/>
                <a:ea typeface="+mn-ea"/>
                <a:cs typeface="+mn-cs"/>
              </a:rPr>
              <a:t>focuses on the ability to run and monitor systems to deliver business value,</a:t>
            </a:r>
            <a:r>
              <a:rPr lang="en-US" kern="1200" baseline="0">
                <a:solidFill>
                  <a:schemeClr val="tx1"/>
                </a:solidFill>
                <a:effectLst/>
                <a:latin typeface="+mn-lt"/>
                <a:ea typeface="+mn-ea"/>
                <a:cs typeface="+mn-cs"/>
              </a:rPr>
              <a:t> </a:t>
            </a:r>
            <a:r>
              <a:rPr lang="en-US" kern="1200">
                <a:solidFill>
                  <a:schemeClr val="tx1"/>
                </a:solidFill>
                <a:effectLst/>
                <a:latin typeface="+mn-lt"/>
                <a:ea typeface="+mn-ea"/>
                <a:cs typeface="+mn-cs"/>
              </a:rPr>
              <a:t>and to continually improve supporting processes and procedures. Key topics include: automating changes, responding to events, and defining standards to manage daily operations.</a:t>
            </a:r>
          </a:p>
        </p:txBody>
      </p:sp>
    </p:spTree>
    <p:extLst>
      <p:ext uri="{BB962C8B-B14F-4D97-AF65-F5344CB8AC3E}">
        <p14:creationId xmlns:p14="http://schemas.microsoft.com/office/powerpoint/2010/main" val="19844921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20968" y="4822580"/>
            <a:ext cx="6181481" cy="4142559"/>
          </a:xfrm>
        </p:spPr>
        <p:txBody>
          <a:bodyPr/>
          <a:lstStyle/>
          <a:p>
            <a:r>
              <a:rPr lang="en-US" dirty="0"/>
              <a:t>There are five design principles for operational excellence in the cloud:</a:t>
            </a:r>
          </a:p>
          <a:p>
            <a:pPr marL="171450" indent="-171450">
              <a:buFont typeface="Arial" panose="020B0604020202020204" pitchFamily="34" charset="0"/>
              <a:buChar char="•"/>
            </a:pPr>
            <a:r>
              <a:rPr lang="en-US" i="1" dirty="0"/>
              <a:t>Perform operations as code</a:t>
            </a:r>
            <a:r>
              <a:rPr lang="en-US" i="0" dirty="0"/>
              <a:t> – </a:t>
            </a:r>
            <a:r>
              <a:rPr lang="en-US" dirty="0"/>
              <a:t>Define your entire workload (that is, applications and infrastructure) as code and update it with code. Implement operations procedures as code and configure them to automatically trigger in response to events. By performing operations as code, you limit human error and enable consistent responses to events.</a:t>
            </a:r>
          </a:p>
          <a:p>
            <a:pPr marL="171450" indent="-171450">
              <a:buFont typeface="Arial" panose="020B0604020202020204" pitchFamily="34" charset="0"/>
              <a:buChar char="•"/>
            </a:pPr>
            <a:r>
              <a:rPr lang="en-US" i="1" dirty="0"/>
              <a:t>Make frequent, small, reversible changes</a:t>
            </a:r>
            <a:r>
              <a:rPr lang="en-US" i="0" dirty="0"/>
              <a:t> – </a:t>
            </a:r>
            <a:r>
              <a:rPr lang="en-US" dirty="0"/>
              <a:t>Design workloads to enable components to be updated regularly. Make changes in small increments that can be reversed if they fail (without affecting customers when possible).</a:t>
            </a:r>
          </a:p>
          <a:p>
            <a:pPr marL="171450" indent="-171450">
              <a:buFont typeface="Arial" panose="020B0604020202020204" pitchFamily="34" charset="0"/>
              <a:buChar char="•"/>
            </a:pPr>
            <a:r>
              <a:rPr lang="en-US" i="1" dirty="0"/>
              <a:t>Refine operations procedures frequently</a:t>
            </a:r>
            <a:r>
              <a:rPr lang="en-US" i="0" dirty="0"/>
              <a:t> – </a:t>
            </a:r>
            <a:r>
              <a:rPr lang="en-US" dirty="0"/>
              <a:t>Look for opportunities to improve operations procedures. Evolve your procedures appropriately as your workloads evolve. Set up regular game days to review all procedures, validate their effectiveness, and ensure that teams are familiar with them.</a:t>
            </a:r>
          </a:p>
          <a:p>
            <a:pPr marL="171450" indent="-171450">
              <a:buFont typeface="Arial" panose="020B0604020202020204" pitchFamily="34" charset="0"/>
              <a:buChar char="•"/>
            </a:pPr>
            <a:r>
              <a:rPr lang="en-US" i="1" dirty="0"/>
              <a:t>Anticipate failure</a:t>
            </a:r>
            <a:r>
              <a:rPr lang="en-US" i="0" dirty="0"/>
              <a:t> – </a:t>
            </a:r>
            <a:r>
              <a:rPr lang="en-US" dirty="0"/>
              <a:t>Identify potential sources of failure so that they can be removed or mitigated. Test failure scenarios and validate your understanding of their impact. Test your response procedures to ensure that they are effective and that teams know how to run them. Set up regular game days to test workloads and team responses to simulated events.</a:t>
            </a:r>
          </a:p>
          <a:p>
            <a:pPr marL="171450" indent="-171450">
              <a:buFont typeface="Arial" panose="020B0604020202020204" pitchFamily="34" charset="0"/>
              <a:buChar char="•"/>
            </a:pPr>
            <a:r>
              <a:rPr lang="en-US" i="1" dirty="0"/>
              <a:t>Learn from all operational failures</a:t>
            </a:r>
            <a:r>
              <a:rPr lang="en-US" i="0" dirty="0"/>
              <a:t> – </a:t>
            </a:r>
            <a:r>
              <a:rPr lang="en-US" dirty="0"/>
              <a:t>Drive improvement through lessons learned from all operational events and failures. Share what is learned across teams and through the entire organization.</a:t>
            </a:r>
          </a:p>
        </p:txBody>
      </p:sp>
    </p:spTree>
    <p:extLst>
      <p:ext uri="{BB962C8B-B14F-4D97-AF65-F5344CB8AC3E}">
        <p14:creationId xmlns:p14="http://schemas.microsoft.com/office/powerpoint/2010/main" val="250995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ea typeface="+mn-ea"/>
                <a:cs typeface="+mn-cs"/>
              </a:rPr>
              <a:t>The foundational questions for operational excellence fall under three best practice areas: organization, prepare, operate, and evolve. </a:t>
            </a:r>
          </a:p>
          <a:p>
            <a:endParaRPr lang="en-US" kern="1200" dirty="0">
              <a:solidFill>
                <a:schemeClr val="tx1"/>
              </a:solidFill>
              <a:effectLst/>
              <a:ea typeface="+mn-ea"/>
              <a:cs typeface="+mn-cs"/>
            </a:endParaRPr>
          </a:p>
          <a:p>
            <a:r>
              <a:rPr lang="en-US" kern="1200" dirty="0">
                <a:solidFill>
                  <a:schemeClr val="tx1"/>
                </a:solidFill>
                <a:effectLst/>
                <a:ea typeface="+mn-ea"/>
                <a:cs typeface="+mn-cs"/>
              </a:rPr>
              <a:t>Operations teams must understand business and customer needs so they can effectively and efficiently support business outcomes. Operations teams create and use procedures to respond to operational events and validate the effectiveness of procedures to support business needs. Operations teams collect metrics that are used to measure the achievement of desired business outcomes. As business context, business priorities, and customer needs, change over time, it’s important to design operations that evolve in response to change and to incorporate lessons learned through their performance.</a:t>
            </a:r>
          </a:p>
          <a:p>
            <a:endParaRPr lang="en-US" kern="1200" dirty="0">
              <a:solidFill>
                <a:schemeClr val="tx1"/>
              </a:solidFill>
              <a:effectLst/>
              <a:ea typeface="+mn-ea"/>
              <a:cs typeface="+mn-cs"/>
            </a:endParaRPr>
          </a:p>
        </p:txBody>
      </p:sp>
    </p:spTree>
    <p:extLst>
      <p:ext uri="{BB962C8B-B14F-4D97-AF65-F5344CB8AC3E}">
        <p14:creationId xmlns:p14="http://schemas.microsoft.com/office/powerpoint/2010/main" val="24433287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869950" y="4839663"/>
            <a:ext cx="6032500" cy="3600450"/>
          </a:xfrm>
        </p:spPr>
        <p:txBody>
          <a:bodyPr/>
          <a:lstStyle/>
          <a:p>
            <a:r>
              <a:rPr lang="en-US"/>
              <a:t>Security pillar</a:t>
            </a:r>
          </a:p>
        </p:txBody>
      </p:sp>
    </p:spTree>
    <p:extLst>
      <p:ext uri="{BB962C8B-B14F-4D97-AF65-F5344CB8AC3E}">
        <p14:creationId xmlns:p14="http://schemas.microsoft.com/office/powerpoint/2010/main" val="32545269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latin typeface="+mn-lt"/>
                <a:ea typeface="+mn-ea"/>
                <a:cs typeface="+mn-cs"/>
              </a:rPr>
              <a:t>The </a:t>
            </a:r>
            <a:r>
              <a:rPr lang="en-US" i="1" kern="1200" dirty="0">
                <a:solidFill>
                  <a:schemeClr val="tx1"/>
                </a:solidFill>
                <a:effectLst/>
                <a:latin typeface="+mn-lt"/>
                <a:ea typeface="+mn-ea"/>
                <a:cs typeface="+mn-cs"/>
              </a:rPr>
              <a:t>Security pillar</a:t>
            </a:r>
            <a:r>
              <a:rPr lang="en-US" kern="1200" dirty="0">
                <a:solidFill>
                  <a:schemeClr val="tx1"/>
                </a:solidFill>
                <a:effectLst/>
                <a:latin typeface="+mn-lt"/>
                <a:ea typeface="+mn-ea"/>
                <a:cs typeface="+mn-cs"/>
              </a:rPr>
              <a:t> focuses on the ability to protect information, systems, and assets while delivering business value through risk assessments and mitigation strategies. </a:t>
            </a:r>
            <a:r>
              <a:rPr lang="en-US" dirty="0"/>
              <a:t>Key topics include: protecting confidentiality and integrity of data, identifying and managing who can do what (or privilege management), protecting systems, and establishing controls to detect security events.</a:t>
            </a:r>
          </a:p>
        </p:txBody>
      </p:sp>
    </p:spTree>
    <p:extLst>
      <p:ext uri="{BB962C8B-B14F-4D97-AF65-F5344CB8AC3E}">
        <p14:creationId xmlns:p14="http://schemas.microsoft.com/office/powerpoint/2010/main" val="7259420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20968" y="4822581"/>
            <a:ext cx="6181481" cy="4103370"/>
          </a:xfrm>
        </p:spPr>
        <p:txBody>
          <a:bodyPr/>
          <a:lstStyle/>
          <a:p>
            <a:r>
              <a:rPr lang="en-US" kern="1200" dirty="0">
                <a:solidFill>
                  <a:schemeClr val="tx1"/>
                </a:solidFill>
                <a:effectLst/>
                <a:latin typeface="+mn-lt"/>
                <a:ea typeface="+mn-ea"/>
                <a:cs typeface="+mn-cs"/>
              </a:rPr>
              <a:t>There are seven design principles</a:t>
            </a:r>
            <a:r>
              <a:rPr lang="en-US" kern="1200" baseline="0" dirty="0">
                <a:solidFill>
                  <a:schemeClr val="tx1"/>
                </a:solidFill>
                <a:effectLst/>
                <a:latin typeface="+mn-lt"/>
                <a:ea typeface="+mn-ea"/>
                <a:cs typeface="+mn-cs"/>
              </a:rPr>
              <a:t> that can improve security:</a:t>
            </a:r>
            <a:endParaRPr lang="en-US" kern="1200" dirty="0">
              <a:solidFill>
                <a:schemeClr val="tx1"/>
              </a:solidFill>
              <a:effectLst/>
              <a:latin typeface="+mn-lt"/>
              <a:ea typeface="+mn-ea"/>
              <a:cs typeface="+mn-cs"/>
            </a:endParaRPr>
          </a:p>
          <a:p>
            <a:pPr marL="171450" indent="-171450">
              <a:buFont typeface="Arial" panose="020B0604020202020204" pitchFamily="34" charset="0"/>
              <a:buChar char="•"/>
            </a:pPr>
            <a:r>
              <a:rPr lang="en-US" b="0" i="1" kern="1200" dirty="0">
                <a:solidFill>
                  <a:schemeClr val="tx1"/>
                </a:solidFill>
                <a:effectLst/>
                <a:latin typeface="+mn-lt"/>
                <a:ea typeface="+mn-ea"/>
                <a:cs typeface="+mn-cs"/>
              </a:rPr>
              <a:t>Implement a strong identity foundation</a:t>
            </a:r>
            <a:r>
              <a:rPr lang="en-US" i="0" dirty="0"/>
              <a:t> – </a:t>
            </a:r>
            <a:r>
              <a:rPr lang="en-US" b="0" kern="1200" dirty="0">
                <a:solidFill>
                  <a:schemeClr val="tx1"/>
                </a:solidFill>
                <a:effectLst/>
                <a:latin typeface="+mn-lt"/>
                <a:ea typeface="+mn-ea"/>
                <a:cs typeface="+mn-cs"/>
              </a:rPr>
              <a:t>Implement the principle of least privilege and enforce separation of duties with appropriate authorization for each interaction with your AWS resources. Centralize privilege management and reduce or even eliminate reliance on long-term credentials.</a:t>
            </a:r>
          </a:p>
          <a:p>
            <a:pPr marL="171450" indent="-171450">
              <a:buFont typeface="Arial" panose="020B0604020202020204" pitchFamily="34" charset="0"/>
              <a:buChar char="•"/>
            </a:pPr>
            <a:r>
              <a:rPr lang="en-US" b="0" i="1" kern="1200" dirty="0">
                <a:solidFill>
                  <a:schemeClr val="tx1"/>
                </a:solidFill>
                <a:effectLst/>
                <a:latin typeface="+mn-lt"/>
                <a:ea typeface="+mn-ea"/>
                <a:cs typeface="+mn-cs"/>
              </a:rPr>
              <a:t>Enable traceability</a:t>
            </a:r>
            <a:r>
              <a:rPr lang="en-US" i="0" dirty="0"/>
              <a:t> – </a:t>
            </a:r>
            <a:r>
              <a:rPr lang="en-US" b="0" kern="1200" dirty="0">
                <a:solidFill>
                  <a:schemeClr val="tx1"/>
                </a:solidFill>
                <a:effectLst/>
                <a:latin typeface="+mn-lt"/>
                <a:ea typeface="+mn-ea"/>
                <a:cs typeface="+mn-cs"/>
              </a:rPr>
              <a:t>Monitor, alert, and audit actions and changes to your environment in real time. Integrate logs and metrics with systems to automatically respond and take action.</a:t>
            </a:r>
          </a:p>
          <a:p>
            <a:pPr marL="171450" indent="-171450">
              <a:buFont typeface="Arial" panose="020B0604020202020204" pitchFamily="34" charset="0"/>
              <a:buChar char="•"/>
            </a:pPr>
            <a:r>
              <a:rPr lang="en-US" b="0" i="1" kern="1200" dirty="0">
                <a:solidFill>
                  <a:schemeClr val="tx1"/>
                </a:solidFill>
                <a:effectLst/>
                <a:latin typeface="+mn-lt"/>
                <a:ea typeface="+mn-ea"/>
                <a:cs typeface="+mn-cs"/>
              </a:rPr>
              <a:t>Apply security at all layers</a:t>
            </a:r>
            <a:r>
              <a:rPr lang="en-US" i="0" dirty="0"/>
              <a:t> – </a:t>
            </a:r>
            <a:r>
              <a:rPr lang="en-US" b="0" kern="1200" dirty="0">
                <a:solidFill>
                  <a:schemeClr val="tx1"/>
                </a:solidFill>
                <a:effectLst/>
                <a:latin typeface="+mn-lt"/>
                <a:ea typeface="+mn-ea"/>
                <a:cs typeface="+mn-cs"/>
              </a:rPr>
              <a:t>Apply defense</a:t>
            </a:r>
            <a:r>
              <a:rPr lang="en-US" b="0" kern="1200" baseline="0" dirty="0">
                <a:solidFill>
                  <a:schemeClr val="tx1"/>
                </a:solidFill>
                <a:effectLst/>
                <a:latin typeface="+mn-lt"/>
                <a:ea typeface="+mn-ea"/>
                <a:cs typeface="+mn-cs"/>
              </a:rPr>
              <a:t> </a:t>
            </a:r>
            <a:r>
              <a:rPr lang="en-US" b="0" kern="1200" dirty="0">
                <a:solidFill>
                  <a:schemeClr val="tx1"/>
                </a:solidFill>
                <a:effectLst/>
                <a:latin typeface="+mn-lt"/>
                <a:ea typeface="+mn-ea"/>
                <a:cs typeface="+mn-cs"/>
              </a:rPr>
              <a:t>in</a:t>
            </a:r>
            <a:r>
              <a:rPr lang="en-US" b="0" kern="1200" baseline="0" dirty="0">
                <a:solidFill>
                  <a:schemeClr val="tx1"/>
                </a:solidFill>
                <a:effectLst/>
                <a:latin typeface="+mn-lt"/>
                <a:ea typeface="+mn-ea"/>
                <a:cs typeface="+mn-cs"/>
              </a:rPr>
              <a:t> </a:t>
            </a:r>
            <a:r>
              <a:rPr lang="en-US" b="0" kern="1200" dirty="0">
                <a:solidFill>
                  <a:schemeClr val="tx1"/>
                </a:solidFill>
                <a:effectLst/>
                <a:latin typeface="+mn-lt"/>
                <a:ea typeface="+mn-ea"/>
                <a:cs typeface="+mn-cs"/>
              </a:rPr>
              <a:t>depth and apply security controls to all layers of your architecture (for</a:t>
            </a:r>
            <a:r>
              <a:rPr lang="en-US" b="0" kern="1200" baseline="0" dirty="0">
                <a:solidFill>
                  <a:schemeClr val="tx1"/>
                </a:solidFill>
                <a:effectLst/>
                <a:latin typeface="+mn-lt"/>
                <a:ea typeface="+mn-ea"/>
                <a:cs typeface="+mn-cs"/>
              </a:rPr>
              <a:t> example,</a:t>
            </a:r>
            <a:r>
              <a:rPr lang="en-US" b="0" kern="1200" dirty="0">
                <a:solidFill>
                  <a:schemeClr val="tx1"/>
                </a:solidFill>
                <a:effectLst/>
                <a:latin typeface="+mn-lt"/>
                <a:ea typeface="+mn-ea"/>
                <a:cs typeface="+mn-cs"/>
              </a:rPr>
              <a:t> edge network, virtual private cloud, subnet, and load balancer; and every instance, operating system, and application).</a:t>
            </a:r>
          </a:p>
          <a:p>
            <a:pPr marL="171450" indent="-171450">
              <a:buFont typeface="Arial" panose="020B0604020202020204" pitchFamily="34" charset="0"/>
              <a:buChar char="•"/>
            </a:pPr>
            <a:r>
              <a:rPr lang="en-US" b="0" i="1" kern="1200" dirty="0">
                <a:solidFill>
                  <a:schemeClr val="tx1"/>
                </a:solidFill>
                <a:effectLst/>
                <a:latin typeface="+mn-lt"/>
                <a:ea typeface="+mn-ea"/>
                <a:cs typeface="+mn-cs"/>
              </a:rPr>
              <a:t>Automate security best practices</a:t>
            </a:r>
            <a:r>
              <a:rPr lang="en-US" i="0" dirty="0"/>
              <a:t> – </a:t>
            </a:r>
            <a:r>
              <a:rPr lang="en-US" b="0" kern="1200" dirty="0">
                <a:solidFill>
                  <a:schemeClr val="tx1"/>
                </a:solidFill>
                <a:effectLst/>
                <a:latin typeface="+mn-lt"/>
                <a:ea typeface="+mn-ea"/>
                <a:cs typeface="+mn-cs"/>
              </a:rPr>
              <a:t>Automate security mechanisms to improve your ability to securely scale more rapidly and cost effectively. Create secure architectures and implement controls that are defined and managed as code in version-controlled templates.</a:t>
            </a:r>
          </a:p>
          <a:p>
            <a:pPr marL="171450" indent="-171450">
              <a:buFont typeface="Arial" panose="020B0604020202020204" pitchFamily="34" charset="0"/>
              <a:buChar char="•"/>
            </a:pPr>
            <a:r>
              <a:rPr lang="en-US" b="0" i="1" kern="1200" dirty="0">
                <a:solidFill>
                  <a:schemeClr val="tx1"/>
                </a:solidFill>
                <a:effectLst/>
                <a:latin typeface="+mn-lt"/>
                <a:ea typeface="+mn-ea"/>
                <a:cs typeface="+mn-cs"/>
              </a:rPr>
              <a:t>Protect data in transit and at rest</a:t>
            </a:r>
            <a:r>
              <a:rPr lang="en-US" i="0" dirty="0"/>
              <a:t> – </a:t>
            </a:r>
            <a:r>
              <a:rPr lang="en-US" b="0" kern="1200" dirty="0">
                <a:solidFill>
                  <a:schemeClr val="tx1"/>
                </a:solidFill>
                <a:effectLst/>
                <a:latin typeface="+mn-lt"/>
                <a:ea typeface="+mn-ea"/>
                <a:cs typeface="+mn-cs"/>
              </a:rPr>
              <a:t>Classify your data into sensitivity levels and use mechanisms such as encryption, tokenization, and access control where appropriate.</a:t>
            </a:r>
          </a:p>
          <a:p>
            <a:pPr marL="171450" indent="-171450">
              <a:buFont typeface="Arial" panose="020B0604020202020204" pitchFamily="34" charset="0"/>
              <a:buChar char="•"/>
            </a:pPr>
            <a:r>
              <a:rPr lang="en-US" b="0" i="1" kern="1200" dirty="0">
                <a:solidFill>
                  <a:schemeClr val="tx1"/>
                </a:solidFill>
                <a:effectLst/>
                <a:latin typeface="+mn-lt"/>
                <a:ea typeface="+mn-ea"/>
                <a:cs typeface="+mn-cs"/>
              </a:rPr>
              <a:t>Keep people away from data</a:t>
            </a:r>
            <a:r>
              <a:rPr lang="en-US" i="0" dirty="0"/>
              <a:t> – </a:t>
            </a:r>
            <a:r>
              <a:rPr lang="en-US" b="0" kern="1200" dirty="0">
                <a:solidFill>
                  <a:schemeClr val="tx1"/>
                </a:solidFill>
                <a:effectLst/>
                <a:latin typeface="+mn-lt"/>
                <a:ea typeface="+mn-ea"/>
                <a:cs typeface="+mn-cs"/>
              </a:rPr>
              <a:t>To reduce the risk of loss or modification of sensitive data due to human error, create mechanisms and tools to reduce or eliminate the need for direct access or manual processing of data.</a:t>
            </a:r>
          </a:p>
          <a:p>
            <a:pPr marL="171450" indent="-171450">
              <a:buFont typeface="Arial" panose="020B0604020202020204" pitchFamily="34" charset="0"/>
              <a:buChar char="•"/>
            </a:pPr>
            <a:r>
              <a:rPr lang="en-US" b="0" i="1" kern="1200" dirty="0">
                <a:solidFill>
                  <a:schemeClr val="tx1"/>
                </a:solidFill>
                <a:effectLst/>
                <a:latin typeface="+mn-lt"/>
                <a:ea typeface="+mn-ea"/>
                <a:cs typeface="+mn-cs"/>
              </a:rPr>
              <a:t>Prepare for security events</a:t>
            </a:r>
            <a:r>
              <a:rPr lang="en-US" i="0" dirty="0"/>
              <a:t> – </a:t>
            </a:r>
            <a:r>
              <a:rPr lang="en-US" b="0" kern="1200" dirty="0">
                <a:solidFill>
                  <a:schemeClr val="tx1"/>
                </a:solidFill>
                <a:effectLst/>
                <a:latin typeface="+mn-lt"/>
                <a:ea typeface="+mn-ea"/>
                <a:cs typeface="+mn-cs"/>
              </a:rPr>
              <a:t>Have an incident management process that aligns with organizational requirements. Run incident response simulations and use tools with automation to increase your speed of detection, investigation, and recovery.</a:t>
            </a:r>
          </a:p>
        </p:txBody>
      </p:sp>
    </p:spTree>
    <p:extLst>
      <p:ext uri="{BB962C8B-B14F-4D97-AF65-F5344CB8AC3E}">
        <p14:creationId xmlns:p14="http://schemas.microsoft.com/office/powerpoint/2010/main" val="12999233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ea typeface="+mn-ea"/>
                <a:cs typeface="+mn-cs"/>
              </a:rPr>
              <a:t>The foundational questions for security fall under six best practice areas: security, identity and access management, detection, infrastructure protection, data protection, and incident response.</a:t>
            </a:r>
          </a:p>
          <a:p>
            <a:endParaRPr lang="en-US" kern="1200" dirty="0">
              <a:solidFill>
                <a:schemeClr val="tx1"/>
              </a:solidFill>
              <a:effectLst/>
              <a:ea typeface="+mn-ea"/>
              <a:cs typeface="+mn-cs"/>
            </a:endParaRPr>
          </a:p>
          <a:p>
            <a:r>
              <a:rPr lang="en-US" dirty="0"/>
              <a:t>Before you architect any system, you must put security practices in place. You must be able to control who can do what. In addition, you must be able to identify security incidents, protect your systems and services, and maintain the confidentiality and integrity of data through data protection. You should have a well-defined and practiced process for responding to security incidents. These tools and techniques are important because they support objectives such as preventing financial loss or complying with regulatory obligations.</a:t>
            </a:r>
          </a:p>
          <a:p>
            <a:endParaRPr lang="en-US" dirty="0"/>
          </a:p>
        </p:txBody>
      </p:sp>
    </p:spTree>
    <p:extLst>
      <p:ext uri="{BB962C8B-B14F-4D97-AF65-F5344CB8AC3E}">
        <p14:creationId xmlns:p14="http://schemas.microsoft.com/office/powerpoint/2010/main" val="9202005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Reliability pillar</a:t>
            </a:r>
          </a:p>
        </p:txBody>
      </p:sp>
    </p:spTree>
    <p:extLst>
      <p:ext uri="{BB962C8B-B14F-4D97-AF65-F5344CB8AC3E}">
        <p14:creationId xmlns:p14="http://schemas.microsoft.com/office/powerpoint/2010/main" val="38286132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latin typeface="+mn-lt"/>
                <a:ea typeface="+mn-ea"/>
                <a:cs typeface="+mn-cs"/>
              </a:rPr>
              <a:t>The</a:t>
            </a:r>
            <a:r>
              <a:rPr lang="en-US" kern="1200" baseline="0" dirty="0">
                <a:solidFill>
                  <a:schemeClr val="tx1"/>
                </a:solidFill>
                <a:effectLst/>
                <a:latin typeface="+mn-lt"/>
                <a:ea typeface="+mn-ea"/>
                <a:cs typeface="+mn-cs"/>
              </a:rPr>
              <a:t> </a:t>
            </a:r>
            <a:r>
              <a:rPr lang="en-US" i="1" kern="1200" baseline="0" dirty="0">
                <a:solidFill>
                  <a:schemeClr val="tx1"/>
                </a:solidFill>
                <a:effectLst/>
                <a:latin typeface="+mn-lt"/>
                <a:ea typeface="+mn-ea"/>
                <a:cs typeface="+mn-cs"/>
              </a:rPr>
              <a:t>R</a:t>
            </a:r>
            <a:r>
              <a:rPr lang="en-US" i="1" kern="1200" dirty="0">
                <a:solidFill>
                  <a:schemeClr val="tx1"/>
                </a:solidFill>
                <a:effectLst/>
                <a:latin typeface="+mn-lt"/>
                <a:ea typeface="+mn-ea"/>
                <a:cs typeface="+mn-cs"/>
              </a:rPr>
              <a:t>eliability pillar </a:t>
            </a:r>
            <a:r>
              <a:rPr lang="en-US" kern="1200" dirty="0">
                <a:solidFill>
                  <a:schemeClr val="tx1"/>
                </a:solidFill>
                <a:effectLst/>
                <a:latin typeface="+mn-lt"/>
                <a:ea typeface="+mn-ea"/>
                <a:cs typeface="+mn-cs"/>
              </a:rPr>
              <a:t>focuses on ensuring a workload performs its intended function correctly and consistently when it’s expected to. A resilient workload quickly recovers from failures to meet business and customer demand. Key topics include: designing distributed systems, recovery planning, and handling change.</a:t>
            </a:r>
          </a:p>
        </p:txBody>
      </p:sp>
    </p:spTree>
    <p:extLst>
      <p:ext uri="{BB962C8B-B14F-4D97-AF65-F5344CB8AC3E}">
        <p14:creationId xmlns:p14="http://schemas.microsoft.com/office/powerpoint/2010/main" val="2481343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latin typeface="+mn-lt"/>
                <a:ea typeface="+mn-ea"/>
                <a:cs typeface="+mn-cs"/>
              </a:rPr>
              <a:t>There are five design principles that can increase reliability: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1" kern="1200" dirty="0">
                <a:solidFill>
                  <a:schemeClr val="tx1"/>
                </a:solidFill>
                <a:effectLst/>
                <a:latin typeface="+mn-lt"/>
                <a:ea typeface="+mn-ea"/>
                <a:cs typeface="+mn-cs"/>
              </a:rPr>
              <a:t>Automatically recover from failure</a:t>
            </a:r>
            <a:r>
              <a:rPr lang="en-US" i="0" dirty="0"/>
              <a:t> – </a:t>
            </a:r>
            <a:r>
              <a:rPr lang="en-US" b="0" kern="1200" dirty="0">
                <a:solidFill>
                  <a:schemeClr val="tx1"/>
                </a:solidFill>
                <a:effectLst/>
                <a:latin typeface="+mn-lt"/>
                <a:ea typeface="+mn-ea"/>
                <a:cs typeface="+mn-cs"/>
              </a:rPr>
              <a:t>Monitor systems for key performance indicators and configure your systems to trigger an automated recovery when a threshold is breached. This practice enables automatic notification and failure</a:t>
            </a:r>
            <a:r>
              <a:rPr lang="en-US" b="0" kern="1200" baseline="0" dirty="0">
                <a:solidFill>
                  <a:schemeClr val="tx1"/>
                </a:solidFill>
                <a:effectLst/>
                <a:latin typeface="+mn-lt"/>
                <a:ea typeface="+mn-ea"/>
                <a:cs typeface="+mn-cs"/>
              </a:rPr>
              <a:t>-</a:t>
            </a:r>
            <a:r>
              <a:rPr lang="en-US" b="0" kern="1200" dirty="0">
                <a:solidFill>
                  <a:schemeClr val="tx1"/>
                </a:solidFill>
                <a:effectLst/>
                <a:latin typeface="+mn-lt"/>
                <a:ea typeface="+mn-ea"/>
                <a:cs typeface="+mn-cs"/>
              </a:rPr>
              <a:t>tracking, and for automated recovery processes that work around or repair the failure.</a:t>
            </a:r>
          </a:p>
          <a:p>
            <a:pPr marL="171450" indent="-171450">
              <a:buFont typeface="Arial" panose="020B0604020202020204" pitchFamily="34" charset="0"/>
              <a:buChar char="•"/>
            </a:pPr>
            <a:r>
              <a:rPr lang="en-US" b="0" i="1" kern="1200" dirty="0">
                <a:solidFill>
                  <a:schemeClr val="tx1"/>
                </a:solidFill>
                <a:effectLst/>
                <a:latin typeface="+mn-lt"/>
                <a:ea typeface="+mn-ea"/>
                <a:cs typeface="+mn-cs"/>
              </a:rPr>
              <a:t>Test recovery procedures</a:t>
            </a:r>
            <a:r>
              <a:rPr lang="en-US" i="0" dirty="0"/>
              <a:t> – </a:t>
            </a:r>
            <a:r>
              <a:rPr lang="en-US" kern="1200" dirty="0">
                <a:solidFill>
                  <a:schemeClr val="tx1"/>
                </a:solidFill>
                <a:effectLst/>
                <a:latin typeface="+mn-lt"/>
                <a:ea typeface="+mn-ea"/>
                <a:cs typeface="+mn-cs"/>
              </a:rPr>
              <a:t>Test how your systems fail and validate your recovery procedures. Use automation to simulate different failures or to recreate scenarios that led to failures before. This practice can expose failure pathways that you can test and rectify before a real failure scenario.</a:t>
            </a:r>
          </a:p>
          <a:p>
            <a:pPr marL="171450" indent="-171450">
              <a:buFont typeface="Arial" panose="020B0604020202020204" pitchFamily="34" charset="0"/>
              <a:buChar char="•"/>
            </a:pPr>
            <a:r>
              <a:rPr lang="en-US" b="0" i="1" kern="1200" dirty="0">
                <a:solidFill>
                  <a:schemeClr val="tx1"/>
                </a:solidFill>
                <a:effectLst/>
                <a:latin typeface="+mn-lt"/>
                <a:ea typeface="+mn-ea"/>
                <a:cs typeface="+mn-cs"/>
              </a:rPr>
              <a:t>Scale horizontally to increase aggregate workload availability</a:t>
            </a:r>
            <a:r>
              <a:rPr lang="en-US" i="0" dirty="0"/>
              <a:t> – </a:t>
            </a:r>
            <a:r>
              <a:rPr lang="en-US" b="0" kern="1200" dirty="0">
                <a:solidFill>
                  <a:schemeClr val="tx1"/>
                </a:solidFill>
                <a:effectLst/>
                <a:latin typeface="+mn-lt"/>
                <a:ea typeface="+mn-ea"/>
                <a:cs typeface="+mn-cs"/>
              </a:rPr>
              <a:t>Replace one large resource with multiple, smaller resources and distribute requests across these smaller resources to reduce the impact of a single point of failure on the overall system. </a:t>
            </a:r>
          </a:p>
          <a:p>
            <a:pPr marL="171450" indent="-171450">
              <a:buFont typeface="Arial" panose="020B0604020202020204" pitchFamily="34" charset="0"/>
              <a:buChar char="•"/>
            </a:pPr>
            <a:r>
              <a:rPr lang="en-US" b="0" i="1" kern="1200" dirty="0">
                <a:solidFill>
                  <a:schemeClr val="tx1"/>
                </a:solidFill>
                <a:effectLst/>
                <a:latin typeface="+mn-lt"/>
                <a:ea typeface="+mn-ea"/>
                <a:cs typeface="+mn-cs"/>
              </a:rPr>
              <a:t>Stop guessing capacity</a:t>
            </a:r>
            <a:r>
              <a:rPr lang="en-US" i="0" dirty="0"/>
              <a:t> – </a:t>
            </a:r>
            <a:r>
              <a:rPr lang="en-US" b="0" kern="1200" dirty="0">
                <a:solidFill>
                  <a:schemeClr val="tx1"/>
                </a:solidFill>
                <a:effectLst/>
                <a:latin typeface="+mn-lt"/>
                <a:ea typeface="+mn-ea"/>
                <a:cs typeface="+mn-cs"/>
              </a:rPr>
              <a:t>Monitor demand and system usage, and automate the addition or removal of resources to maintain the optimal level for satisfying demand.</a:t>
            </a:r>
          </a:p>
          <a:p>
            <a:pPr marL="171450" indent="-171450">
              <a:buFont typeface="Arial" panose="020B0604020202020204" pitchFamily="34" charset="0"/>
              <a:buChar char="•"/>
            </a:pPr>
            <a:r>
              <a:rPr lang="en-US" b="0" i="1" kern="1200" dirty="0">
                <a:solidFill>
                  <a:schemeClr val="tx1"/>
                </a:solidFill>
                <a:effectLst/>
                <a:latin typeface="+mn-lt"/>
                <a:ea typeface="+mn-ea"/>
                <a:cs typeface="+mn-cs"/>
              </a:rPr>
              <a:t>Manage change in automation</a:t>
            </a:r>
            <a:r>
              <a:rPr lang="en-US" i="0" dirty="0"/>
              <a:t> – </a:t>
            </a:r>
            <a:r>
              <a:rPr lang="en-US" b="0" kern="1200" dirty="0">
                <a:solidFill>
                  <a:schemeClr val="tx1"/>
                </a:solidFill>
                <a:effectLst/>
                <a:latin typeface="+mn-lt"/>
                <a:ea typeface="+mn-ea"/>
                <a:cs typeface="+mn-cs"/>
              </a:rPr>
              <a:t>Use automation to make changes to infrastructure and manage changes in automation.</a:t>
            </a:r>
            <a:endParaRPr lang="en-US"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1043114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ea typeface="+mn-ea"/>
                <a:cs typeface="+mn-cs"/>
              </a:rPr>
              <a:t>The foundational questions for reliability fall under four best practice areas: foundations, workload architecture, change management, and failure management.</a:t>
            </a:r>
          </a:p>
          <a:p>
            <a:endParaRPr lang="en-US" kern="1200" dirty="0">
              <a:solidFill>
                <a:schemeClr val="tx1"/>
              </a:solidFill>
              <a:effectLst/>
              <a:ea typeface="+mn-ea"/>
              <a:cs typeface="+mn-cs"/>
            </a:endParaRPr>
          </a:p>
          <a:p>
            <a:r>
              <a:rPr lang="en-US" kern="1200" dirty="0">
                <a:solidFill>
                  <a:schemeClr val="tx1"/>
                </a:solidFill>
                <a:effectLst/>
                <a:ea typeface="+mn-ea"/>
                <a:cs typeface="+mn-cs"/>
              </a:rPr>
              <a:t>To achieve reliability, a system must have both a well-planned foundation and monitoring in place. It must have mechanisms for handling changes in demand or requirements. The system should be designed to detect failure and automatically heal itself.</a:t>
            </a:r>
          </a:p>
        </p:txBody>
      </p:sp>
    </p:spTree>
    <p:extLst>
      <p:ext uri="{BB962C8B-B14F-4D97-AF65-F5344CB8AC3E}">
        <p14:creationId xmlns:p14="http://schemas.microsoft.com/office/powerpoint/2010/main" val="27900088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Performance Efficiency pillar</a:t>
            </a:r>
          </a:p>
        </p:txBody>
      </p:sp>
    </p:spTree>
    <p:extLst>
      <p:ext uri="{BB962C8B-B14F-4D97-AF65-F5344CB8AC3E}">
        <p14:creationId xmlns:p14="http://schemas.microsoft.com/office/powerpoint/2010/main" val="10034317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buClr>
                <a:schemeClr val="tx1"/>
              </a:buClr>
            </a:pPr>
            <a:r>
              <a:rPr lang="en-US" kern="1200" dirty="0">
                <a:solidFill>
                  <a:schemeClr val="tx1"/>
                </a:solidFill>
                <a:effectLst/>
                <a:latin typeface="+mn-lt"/>
                <a:ea typeface="+mn-ea"/>
                <a:cs typeface="+mn-cs"/>
              </a:rPr>
              <a:t>The </a:t>
            </a:r>
            <a:r>
              <a:rPr lang="en-US" i="1" kern="1200" dirty="0">
                <a:solidFill>
                  <a:schemeClr val="tx1"/>
                </a:solidFill>
                <a:effectLst/>
                <a:latin typeface="+mn-lt"/>
                <a:ea typeface="+mn-ea"/>
                <a:cs typeface="+mn-cs"/>
              </a:rPr>
              <a:t>Performance Efficiency pillar </a:t>
            </a:r>
            <a:r>
              <a:rPr lang="en-US" kern="1200" dirty="0">
                <a:solidFill>
                  <a:schemeClr val="tx1"/>
                </a:solidFill>
                <a:effectLst/>
                <a:latin typeface="+mn-lt"/>
                <a:ea typeface="+mn-ea"/>
                <a:cs typeface="+mn-cs"/>
              </a:rPr>
              <a:t>focuses on the ability to use IT and computing resources efficiently to meet system requirements, and to maintain that efficiency as demand changes or technologies evolve. Key topics include: s</a:t>
            </a:r>
            <a:r>
              <a:rPr lang="en-US" dirty="0"/>
              <a:t>electing the right resource types and sizes based on workload requirements, monitoring performance, and making informed decisions to maintain efficiency as business needs evolve.</a:t>
            </a:r>
          </a:p>
        </p:txBody>
      </p:sp>
    </p:spTree>
    <p:extLst>
      <p:ext uri="{BB962C8B-B14F-4D97-AF65-F5344CB8AC3E}">
        <p14:creationId xmlns:p14="http://schemas.microsoft.com/office/powerpoint/2010/main" val="4727241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20968" y="4822581"/>
            <a:ext cx="6181481" cy="3600450"/>
          </a:xfrm>
        </p:spPr>
        <p:txBody>
          <a:bodyPr/>
          <a:lstStyle/>
          <a:p>
            <a:r>
              <a:rPr lang="en-US" kern="1200" dirty="0">
                <a:solidFill>
                  <a:schemeClr val="tx1"/>
                </a:solidFill>
                <a:effectLst/>
                <a:latin typeface="+mn-lt"/>
                <a:ea typeface="+mn-ea"/>
                <a:cs typeface="+mn-cs"/>
              </a:rPr>
              <a:t>There are five design principles that can improve performance efficiency:</a:t>
            </a:r>
          </a:p>
          <a:p>
            <a:pPr marL="171450" indent="-171450">
              <a:buFont typeface="Arial" panose="020B0604020202020204" pitchFamily="34" charset="0"/>
              <a:buChar char="•"/>
            </a:pPr>
            <a:r>
              <a:rPr lang="en-US" i="1" dirty="0"/>
              <a:t>Democratize advanced technologies</a:t>
            </a:r>
            <a:r>
              <a:rPr lang="en-US" i="0" dirty="0"/>
              <a:t> – </a:t>
            </a:r>
            <a:r>
              <a:rPr lang="en-US" dirty="0"/>
              <a:t>Consume technologies as a service. For example, technologies such as NoSQL databases, media transcoding, and machine learning require expertise that is not evenly dispersed across the technical community. In the cloud, these technologies become services that teams can consume. Consuming technologies enables teams to focus on product development instead of resource provisioning and management.</a:t>
            </a:r>
          </a:p>
          <a:p>
            <a:pPr marL="171450" indent="-171450">
              <a:buFont typeface="Arial" panose="020B0604020202020204" pitchFamily="34" charset="0"/>
              <a:buChar char="•"/>
            </a:pPr>
            <a:r>
              <a:rPr lang="en-US" i="1" dirty="0"/>
              <a:t>Go global in minutes</a:t>
            </a:r>
            <a:r>
              <a:rPr lang="en-US" i="0" dirty="0"/>
              <a:t> – </a:t>
            </a:r>
            <a:r>
              <a:rPr lang="en-US" dirty="0"/>
              <a:t>Deploy systems in multiple AWS Regions to provide lower latency and a better customer experience at minimal cost.</a:t>
            </a:r>
          </a:p>
          <a:p>
            <a:pPr marL="171450" indent="-171450">
              <a:buFont typeface="Arial" panose="020B0604020202020204" pitchFamily="34" charset="0"/>
              <a:buChar char="•"/>
            </a:pPr>
            <a:r>
              <a:rPr lang="en-US" i="1" dirty="0"/>
              <a:t>Use serverless architectures</a:t>
            </a:r>
            <a:r>
              <a:rPr lang="en-US" i="0" dirty="0"/>
              <a:t> – </a:t>
            </a:r>
            <a:r>
              <a:rPr lang="en-US" dirty="0"/>
              <a:t>Serverless architectures remove the operational burden of running and maintaining servers to carry out traditional compute activities. Serverless architectures can also lower transactional costs because managed services operate at cloud scale.</a:t>
            </a:r>
          </a:p>
          <a:p>
            <a:pPr marL="171450" indent="-171450">
              <a:buFont typeface="Arial" panose="020B0604020202020204" pitchFamily="34" charset="0"/>
              <a:buChar char="•"/>
            </a:pPr>
            <a:r>
              <a:rPr lang="en-US" i="1" dirty="0"/>
              <a:t>Experiment more often</a:t>
            </a:r>
            <a:r>
              <a:rPr lang="en-US" i="0" dirty="0"/>
              <a:t> – </a:t>
            </a:r>
            <a:r>
              <a:rPr lang="en-US" dirty="0"/>
              <a:t>Perform comparative testing of different types of instances, storage, or configurations.</a:t>
            </a:r>
          </a:p>
          <a:p>
            <a:pPr marL="171450" indent="-171450">
              <a:buFont typeface="Arial" panose="020B0604020202020204" pitchFamily="34" charset="0"/>
              <a:buChar char="•"/>
            </a:pPr>
            <a:r>
              <a:rPr lang="en-US" i="1" dirty="0"/>
              <a:t>Consider mechanical sympathy</a:t>
            </a:r>
            <a:r>
              <a:rPr lang="en-US" i="0" dirty="0"/>
              <a:t> – </a:t>
            </a:r>
            <a:r>
              <a:rPr lang="en-US" dirty="0"/>
              <a:t>Use the technology approach that aligns best to what you are trying to achieve. For example, consider your data access patterns when you select</a:t>
            </a:r>
            <a:r>
              <a:rPr lang="en-US" baseline="0" dirty="0"/>
              <a:t> approaches for</a:t>
            </a:r>
            <a:r>
              <a:rPr lang="en-US" dirty="0"/>
              <a:t> databases or storage.</a:t>
            </a:r>
          </a:p>
        </p:txBody>
      </p:sp>
    </p:spTree>
    <p:extLst>
      <p:ext uri="{BB962C8B-B14F-4D97-AF65-F5344CB8AC3E}">
        <p14:creationId xmlns:p14="http://schemas.microsoft.com/office/powerpoint/2010/main" val="11257374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ea typeface="+mn-ea"/>
                <a:cs typeface="+mn-cs"/>
              </a:rPr>
              <a:t>The foundational questions for performance efficiency fall under four best practice areas: selection, review, monitoring, and tradeoffs.</a:t>
            </a:r>
            <a:endParaRPr lang="en-US" dirty="0"/>
          </a:p>
          <a:p>
            <a:endParaRPr lang="en-US" dirty="0"/>
          </a:p>
          <a:p>
            <a:r>
              <a:rPr lang="en-US" dirty="0"/>
              <a:t>Use data to design and build a high-performance architecture. Gather data on all aspects of the architecture, from the high-level design to the selection and configuration of resource types. Review your choices periodically to ensure that you are taking advantage of new AWS services. Perform monitoring so that you are aware of any deviance from expected performance and can take prompt action to remediate</a:t>
            </a:r>
            <a:r>
              <a:rPr lang="en-US" baseline="0" dirty="0"/>
              <a:t> them</a:t>
            </a:r>
            <a:r>
              <a:rPr lang="en-US" dirty="0"/>
              <a:t>. Finally, use tradeoffs in your architecture to improve performance, such as using compression, using caching, or relaxing consistency requirements.</a:t>
            </a:r>
          </a:p>
        </p:txBody>
      </p:sp>
    </p:spTree>
    <p:extLst>
      <p:ext uri="{BB962C8B-B14F-4D97-AF65-F5344CB8AC3E}">
        <p14:creationId xmlns:p14="http://schemas.microsoft.com/office/powerpoint/2010/main" val="8011235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Cost Optimization pillar</a:t>
            </a:r>
          </a:p>
        </p:txBody>
      </p:sp>
    </p:spTree>
    <p:extLst>
      <p:ext uri="{BB962C8B-B14F-4D97-AF65-F5344CB8AC3E}">
        <p14:creationId xmlns:p14="http://schemas.microsoft.com/office/powerpoint/2010/main" val="24157461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buClr>
                <a:schemeClr val="tx1"/>
              </a:buClr>
            </a:pPr>
            <a:r>
              <a:rPr lang="en-US" dirty="0"/>
              <a:t>The </a:t>
            </a:r>
            <a:r>
              <a:rPr lang="en-US" i="1" dirty="0"/>
              <a:t>Cost Optimization pillar </a:t>
            </a:r>
            <a:r>
              <a:rPr lang="en-US" dirty="0"/>
              <a:t>focuses on the ability to avoid unnecessary costs. Key topics include: understanding and controlling where money is being spent, selecting the most appropriate and right number of resource types, analyzing spend over time, and scaling to meeting business needs without overspending.</a:t>
            </a:r>
          </a:p>
          <a:p>
            <a:endParaRPr lang="en-US" dirty="0"/>
          </a:p>
        </p:txBody>
      </p:sp>
    </p:spTree>
    <p:extLst>
      <p:ext uri="{BB962C8B-B14F-4D97-AF65-F5344CB8AC3E}">
        <p14:creationId xmlns:p14="http://schemas.microsoft.com/office/powerpoint/2010/main" val="17441333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latin typeface="+mn-lt"/>
                <a:ea typeface="+mn-ea"/>
                <a:cs typeface="+mn-cs"/>
              </a:rPr>
              <a:t>There are five design principles that can optimize costs: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1" kern="1200" dirty="0">
                <a:solidFill>
                  <a:schemeClr val="tx1"/>
                </a:solidFill>
                <a:effectLst/>
                <a:latin typeface="+mn-lt"/>
                <a:ea typeface="+mn-ea"/>
                <a:cs typeface="+mn-cs"/>
              </a:rPr>
              <a:t>Implement Cloud Financial Management</a:t>
            </a:r>
            <a:r>
              <a:rPr lang="en-US" i="0" dirty="0"/>
              <a:t> – </a:t>
            </a:r>
            <a:r>
              <a:rPr lang="en-US" b="0" dirty="0"/>
              <a:t>To achieve financial success and accelerate business value realization in the cloud, you need to invest in cloud financial management and cost optimization. You need to build capability through knowledge building, programs, resources, and processes to become a cost-efficient organization.</a:t>
            </a:r>
            <a:endParaRPr lang="en-US" kern="1200" dirty="0">
              <a:solidFill>
                <a:schemeClr val="tx1"/>
              </a:solidFill>
              <a:effectLst/>
              <a:latin typeface="+mn-lt"/>
              <a:ea typeface="+mn-ea"/>
              <a:cs typeface="+mn-cs"/>
            </a:endParaRPr>
          </a:p>
          <a:p>
            <a:pPr marL="171450" indent="-171450">
              <a:buFont typeface="Arial" panose="020B0604020202020204" pitchFamily="34" charset="0"/>
              <a:buChar char="•"/>
            </a:pPr>
            <a:r>
              <a:rPr lang="en-US" b="0" i="1" kern="1200" dirty="0">
                <a:solidFill>
                  <a:schemeClr val="tx1"/>
                </a:solidFill>
                <a:effectLst/>
                <a:latin typeface="+mn-lt"/>
                <a:ea typeface="+mn-ea"/>
                <a:cs typeface="+mn-cs"/>
              </a:rPr>
              <a:t>Adopt a consumption model</a:t>
            </a:r>
            <a:r>
              <a:rPr lang="en-US" i="0" dirty="0"/>
              <a:t> – </a:t>
            </a:r>
            <a:r>
              <a:rPr lang="en-US" b="0" dirty="0"/>
              <a:t>Pay only for the computing resources that you require. Increase or decrease usage depending on business requirements, not by using elaborate forecasting.</a:t>
            </a:r>
            <a:r>
              <a:rPr lang="en-US" kern="1200" dirty="0">
                <a:solidFill>
                  <a:schemeClr val="tx1"/>
                </a:solidFill>
                <a:effectLst/>
                <a:latin typeface="+mn-lt"/>
                <a:ea typeface="+mn-ea"/>
                <a:cs typeface="+mn-cs"/>
              </a:rPr>
              <a:t> </a:t>
            </a:r>
          </a:p>
          <a:p>
            <a:pPr marL="171450" indent="-171450">
              <a:buFont typeface="Arial" panose="020B0604020202020204" pitchFamily="34" charset="0"/>
              <a:buChar char="•"/>
            </a:pPr>
            <a:r>
              <a:rPr lang="en-US" b="0" i="1" kern="1200" dirty="0">
                <a:solidFill>
                  <a:schemeClr val="tx1"/>
                </a:solidFill>
                <a:effectLst/>
                <a:latin typeface="+mn-lt"/>
                <a:ea typeface="+mn-ea"/>
                <a:cs typeface="+mn-cs"/>
              </a:rPr>
              <a:t>Measure overall efficiency</a:t>
            </a:r>
            <a:r>
              <a:rPr lang="en-US" i="0" dirty="0"/>
              <a:t> – </a:t>
            </a:r>
            <a:r>
              <a:rPr lang="en-US" kern="1200" dirty="0">
                <a:solidFill>
                  <a:schemeClr val="tx1"/>
                </a:solidFill>
                <a:effectLst/>
                <a:latin typeface="+mn-lt"/>
                <a:ea typeface="+mn-ea"/>
                <a:cs typeface="+mn-cs"/>
              </a:rPr>
              <a:t>Measure the business output of the workload and the costs that are associated with delivering it. Use this measure to know the gains that you make from increasing output and reducing costs.</a:t>
            </a:r>
            <a:endParaRPr lang="en-US" b="0" kern="1200" dirty="0">
              <a:solidFill>
                <a:schemeClr val="tx1"/>
              </a:solidFill>
              <a:effectLst/>
              <a:latin typeface="+mn-lt"/>
              <a:ea typeface="+mn-ea"/>
              <a:cs typeface="+mn-cs"/>
            </a:endParaRPr>
          </a:p>
          <a:p>
            <a:pPr marL="171450" indent="-171450">
              <a:buFont typeface="Arial" panose="020B0604020202020204" pitchFamily="34" charset="0"/>
              <a:buChar char="•"/>
            </a:pPr>
            <a:r>
              <a:rPr lang="en-US" b="0" i="1" kern="1200" dirty="0">
                <a:solidFill>
                  <a:schemeClr val="tx1"/>
                </a:solidFill>
                <a:effectLst/>
                <a:latin typeface="+mn-lt"/>
                <a:ea typeface="+mn-ea"/>
                <a:cs typeface="+mn-cs"/>
              </a:rPr>
              <a:t>Stop spending money on undifferentiated heavy lifting </a:t>
            </a:r>
            <a:r>
              <a:rPr lang="en-US" i="0" dirty="0"/>
              <a:t>– </a:t>
            </a:r>
            <a:r>
              <a:rPr lang="en-US" kern="1200" dirty="0">
                <a:solidFill>
                  <a:schemeClr val="tx1"/>
                </a:solidFill>
                <a:effectLst/>
                <a:latin typeface="+mn-lt"/>
                <a:ea typeface="+mn-ea"/>
                <a:cs typeface="+mn-cs"/>
              </a:rPr>
              <a:t>AWS does the heavy lifting of racking, stacking, and powering servers, which means</a:t>
            </a:r>
            <a:r>
              <a:rPr lang="en-US" kern="1200" baseline="0" dirty="0">
                <a:solidFill>
                  <a:schemeClr val="tx1"/>
                </a:solidFill>
                <a:effectLst/>
                <a:latin typeface="+mn-lt"/>
                <a:ea typeface="+mn-ea"/>
                <a:cs typeface="+mn-cs"/>
              </a:rPr>
              <a:t> that </a:t>
            </a:r>
            <a:r>
              <a:rPr lang="en-US" kern="1200" dirty="0">
                <a:solidFill>
                  <a:schemeClr val="tx1"/>
                </a:solidFill>
                <a:effectLst/>
                <a:latin typeface="+mn-lt"/>
                <a:ea typeface="+mn-ea"/>
                <a:cs typeface="+mn-cs"/>
              </a:rPr>
              <a:t>you can focus on your customers and business projects instead of the IT infrastructure.</a:t>
            </a:r>
          </a:p>
          <a:p>
            <a:pPr marL="171450" indent="-171450">
              <a:buFont typeface="Arial" panose="020B0604020202020204" pitchFamily="34" charset="0"/>
              <a:buChar char="•"/>
            </a:pPr>
            <a:r>
              <a:rPr lang="en-US" b="0" i="1" kern="1200" dirty="0">
                <a:solidFill>
                  <a:schemeClr val="tx1"/>
                </a:solidFill>
                <a:effectLst/>
                <a:latin typeface="+mn-lt"/>
                <a:ea typeface="+mn-ea"/>
                <a:cs typeface="+mn-cs"/>
              </a:rPr>
              <a:t>Analyze and attribute expenditure</a:t>
            </a:r>
            <a:r>
              <a:rPr lang="en-US" i="0" dirty="0"/>
              <a:t> – </a:t>
            </a:r>
            <a:r>
              <a:rPr lang="en-US" kern="1200" dirty="0">
                <a:solidFill>
                  <a:schemeClr val="tx1"/>
                </a:solidFill>
                <a:effectLst/>
                <a:latin typeface="+mn-lt"/>
                <a:ea typeface="+mn-ea"/>
                <a:cs typeface="+mn-cs"/>
              </a:rPr>
              <a:t>The cloud makes it easier to accurately identify system usage and costs, and attribute IT costs to individual workload owners. Having this capability helps you measure return on investment (ROI) and gives workload owners an opportunity to optimize their resources and reduce costs.</a:t>
            </a:r>
          </a:p>
        </p:txBody>
      </p:sp>
    </p:spTree>
    <p:extLst>
      <p:ext uri="{BB962C8B-B14F-4D97-AF65-F5344CB8AC3E}">
        <p14:creationId xmlns:p14="http://schemas.microsoft.com/office/powerpoint/2010/main" val="18745082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ea typeface="+mn-ea"/>
                <a:cs typeface="+mn-cs"/>
              </a:rPr>
              <a:t>The foundational questions for cost optimization fall under five best practice areas: practice cloud financial management, expenditure and usage awareness, cost-effective resources, manage demand and supply resources, and optimize over time.</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ea typeface="+mn-ea"/>
                <a:cs typeface="+mn-cs"/>
              </a:rPr>
              <a:t>Similar to the other pillars, there are tradeoffs to consider when evaluating cost. For example, you may choose to prioritize for speed—going to market quickly, shipping new features, or simply meeting a deadline—instead of investing in upfront cost optimization. As another example, designing an application for a higher level of availability typically costs more. You should identify your true application needs and use empirical data to inform your architectural design decisions. Perform benchmarking to establish the most cost-optimal workload over time. </a:t>
            </a:r>
          </a:p>
        </p:txBody>
      </p:sp>
    </p:spTree>
    <p:extLst>
      <p:ext uri="{BB962C8B-B14F-4D97-AF65-F5344CB8AC3E}">
        <p14:creationId xmlns:p14="http://schemas.microsoft.com/office/powerpoint/2010/main" val="23288996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activity that</a:t>
            </a:r>
            <a:r>
              <a:rPr lang="en-US" baseline="0" dirty="0"/>
              <a:t> </a:t>
            </a:r>
            <a:r>
              <a:rPr lang="en-US" dirty="0"/>
              <a:t>you just completed is similar to how you would use the AWS Well-Architected Tool. </a:t>
            </a:r>
            <a:br>
              <a:rPr lang="en-US" dirty="0"/>
            </a:br>
            <a:endParaRPr lang="en-US" dirty="0"/>
          </a:p>
          <a:p>
            <a:r>
              <a:rPr lang="en-US" dirty="0"/>
              <a:t>The AWS Well-Architected Tool helps you review the state of your workloads and compare them to the latest AWS architectural best practices. It gives you access to knowledge and best practices used by AWS architects, whenever you need it. </a:t>
            </a:r>
          </a:p>
          <a:p>
            <a:endParaRPr lang="en-US" dirty="0"/>
          </a:p>
          <a:p>
            <a:r>
              <a:rPr lang="en-US" dirty="0"/>
              <a:t>This tool is available in the AWS Management Console. You define your workload and answer a series of questions in the areas of operational excellence, security, reliability, performance efficiency, and cost optimization (as defined in the AWS Well-Architected Framework). The AWS Well-Architected Tool then delivers an action plan with step-by-step guidance on how to improve your workload for the cloud.</a:t>
            </a:r>
          </a:p>
          <a:p>
            <a:endParaRPr lang="en-US" dirty="0"/>
          </a:p>
          <a:p>
            <a:r>
              <a:rPr lang="en-US" dirty="0"/>
              <a:t>The AWS Well-Architected Tool provides a consistent process for you to review and measure your cloud architectures. You can use the results that the tool provides to identify next steps for improvement, drive architectural decisions, and bring architecture considerations into your corporate governance process.</a:t>
            </a:r>
          </a:p>
        </p:txBody>
      </p:sp>
    </p:spTree>
    <p:extLst>
      <p:ext uri="{BB962C8B-B14F-4D97-AF65-F5344CB8AC3E}">
        <p14:creationId xmlns:p14="http://schemas.microsoft.com/office/powerpoint/2010/main" val="17924952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mn-lt"/>
              </a:rPr>
              <a:t>Some key</a:t>
            </a:r>
            <a:r>
              <a:rPr lang="en-US" baseline="0" dirty="0">
                <a:latin typeface="+mn-lt"/>
              </a:rPr>
              <a:t> takeaways from this section of the module include:</a:t>
            </a:r>
            <a:endParaRPr lang="en-US" dirty="0">
              <a:solidFill>
                <a:srgbClr val="000000"/>
              </a:solidFill>
              <a:latin typeface="+mn-lt"/>
              <a:ea typeface="Amazon Ember" panose="02000000000000000000" pitchFamily="2" charset="0"/>
              <a:cs typeface="Amazon Ember Light" panose="020B0403020204020204" pitchFamily="34" charset="0"/>
            </a:endParaRPr>
          </a:p>
          <a:p>
            <a:pPr marL="171450" indent="-171450">
              <a:buFont typeface="Arial" panose="020B0604020202020204" pitchFamily="34" charset="0"/>
              <a:buChar char="•"/>
            </a:pPr>
            <a:r>
              <a:rPr lang="en-US" dirty="0">
                <a:latin typeface="+mn-lt"/>
              </a:rPr>
              <a:t>The AWS Well-Architected Framework provides a consistent approach to evaluate cloud architectures and guidance to help implement designs.</a:t>
            </a:r>
          </a:p>
          <a:p>
            <a:pPr marL="171450" indent="-171450">
              <a:buFont typeface="Arial" panose="020B0604020202020204" pitchFamily="34" charset="0"/>
              <a:buChar char="•"/>
            </a:pPr>
            <a:r>
              <a:rPr lang="en-US" dirty="0">
                <a:latin typeface="+mn-lt"/>
              </a:rPr>
              <a:t>The AWS Well-Architected Framework documents a set of design principles and best practices that enable you to understand if a specific architecture aligns well with cloud best practices. </a:t>
            </a:r>
          </a:p>
          <a:p>
            <a:pPr marL="171450" indent="-171450">
              <a:buFont typeface="Arial" panose="020B0604020202020204" pitchFamily="34" charset="0"/>
              <a:buChar char="•"/>
            </a:pPr>
            <a:r>
              <a:rPr lang="en-US" dirty="0">
                <a:latin typeface="+mn-lt"/>
              </a:rPr>
              <a:t>The AWS Well-Architected Framework is organized into six pillars.</a:t>
            </a:r>
          </a:p>
          <a:p>
            <a:pPr marL="171450" indent="-171450">
              <a:buFont typeface="Arial" panose="020B0604020202020204" pitchFamily="34" charset="0"/>
              <a:buChar char="•"/>
            </a:pPr>
            <a:r>
              <a:rPr lang="en-US" dirty="0">
                <a:latin typeface="+mn-lt"/>
              </a:rPr>
              <a:t>Each pillar includes its own set of design principles and best practices.</a:t>
            </a:r>
          </a:p>
        </p:txBody>
      </p:sp>
    </p:spTree>
    <p:extLst>
      <p:ext uri="{BB962C8B-B14F-4D97-AF65-F5344CB8AC3E}">
        <p14:creationId xmlns:p14="http://schemas.microsoft.com/office/powerpoint/2010/main" val="30775721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2: Reliability and availability</a:t>
            </a:r>
          </a:p>
        </p:txBody>
      </p:sp>
    </p:spTree>
    <p:extLst>
      <p:ext uri="{BB962C8B-B14F-4D97-AF65-F5344CB8AC3E}">
        <p14:creationId xmlns:p14="http://schemas.microsoft.com/office/powerpoint/2010/main" val="17839237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words of Werner </a:t>
            </a:r>
            <a:r>
              <a:rPr lang="en-US" dirty="0" err="1"/>
              <a:t>Vogels</a:t>
            </a:r>
            <a:r>
              <a:rPr lang="en-US" dirty="0"/>
              <a:t>, Amazon’s CTO, “Everything fails, all the time.” One of the best practices that is identified in the AWS Well-Architected Framework is to plan for failure (or application or workload downtime). One way to do that is to architect your applications and workloads to withstand failure. There are two important factors that cloud architects consider when designing architectures to withstand failure: reliability and availability.</a:t>
            </a:r>
          </a:p>
        </p:txBody>
      </p:sp>
    </p:spTree>
    <p:extLst>
      <p:ext uri="{BB962C8B-B14F-4D97-AF65-F5344CB8AC3E}">
        <p14:creationId xmlns:p14="http://schemas.microsoft.com/office/powerpoint/2010/main" val="41884820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Reliability</a:t>
            </a:r>
            <a:r>
              <a:rPr lang="en-US" dirty="0"/>
              <a:t> is a measure of your system’s ability to provide functionality when desired by the user. Because "everything fails, all the time," you should think of reliability in statistical terms. Reliability is the probability that an entire system will function as intended for a specified period. Note that a system includes all system components, such as hardware, firmware, and software. Failure of system components impacts the availability of the system.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understand reliability, it is helpful to consider the familiar example of a car. The car is the system. Each of the car’s components (for example, cooling, ignition, and brakes) must work together in order for the car to work properly. If you try to start the car and the ignition fails, you cannot drive anywhere—the car is not available. If the ignition fails repeatedly, your car is not considered reliable.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common way to measure reliability is to use statistical measurements, such as Mean Time Between Failures (MTBF). MTBF is the total time in service over the number of failures.</a:t>
            </a:r>
          </a:p>
        </p:txBody>
      </p:sp>
    </p:spTree>
    <p:extLst>
      <p:ext uri="{BB962C8B-B14F-4D97-AF65-F5344CB8AC3E}">
        <p14:creationId xmlns:p14="http://schemas.microsoft.com/office/powerpoint/2010/main" val="14534372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a:t>
            </a:r>
            <a:r>
              <a:rPr lang="en-US" baseline="0" dirty="0"/>
              <a:t> that</a:t>
            </a:r>
            <a:r>
              <a:rPr lang="en-US" dirty="0"/>
              <a:t> you have an application that you bring online Monday at noon. The application is said to be </a:t>
            </a:r>
            <a:r>
              <a:rPr lang="en-US" i="1" dirty="0"/>
              <a:t>available</a:t>
            </a:r>
            <a:r>
              <a:rPr lang="en-US" dirty="0"/>
              <a:t>. It functions normally until it fails Friday at noon. Therefore, the time to failure (or the length of time the application is available) is 96 hours. You spend from Friday at noon until Monday at noon diagnosing why the application failed and repairing it, at which point you bring the application back online. Therefore, the time to repair is 72 hours.</a:t>
            </a:r>
          </a:p>
          <a:p>
            <a:endParaRPr lang="en-US" dirty="0"/>
          </a:p>
          <a:p>
            <a:r>
              <a:rPr lang="en-US" dirty="0"/>
              <a:t>Then, it happens again: the application fails on Friday at noon, you spend from Friday at noon until Monday at noon repairing it, and you bring it online on Monday at noon. </a:t>
            </a:r>
          </a:p>
          <a:p>
            <a:endParaRPr lang="en-US" dirty="0"/>
          </a:p>
          <a:p>
            <a:r>
              <a:rPr lang="en-US" dirty="0"/>
              <a:t>Say this failure-repair-restore cycle happens </a:t>
            </a:r>
            <a:r>
              <a:rPr lang="en-US" i="1" dirty="0"/>
              <a:t>every week</a:t>
            </a:r>
            <a:r>
              <a:rPr lang="en-US" i="0" dirty="0"/>
              <a:t>. You can now calculate the average of these numbers. In this example, y</a:t>
            </a:r>
            <a:r>
              <a:rPr lang="en-US" dirty="0"/>
              <a:t>our mean time to failure (MTTF) is 96 hours, and your mean time to repair (MTTR) is 72 hours. Your mean time between failures (MTBF) is 168 hours (or 1 week), which is the sum of MTTF and MTTR.</a:t>
            </a:r>
          </a:p>
        </p:txBody>
      </p:sp>
    </p:spTree>
    <p:extLst>
      <p:ext uri="{BB962C8B-B14F-4D97-AF65-F5344CB8AC3E}">
        <p14:creationId xmlns:p14="http://schemas.microsoft.com/office/powerpoint/2010/main" val="3049448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just learned, failure of system components impacts the availability of the system.</a:t>
            </a:r>
          </a:p>
          <a:p>
            <a:endParaRPr lang="en-US" i="1" dirty="0"/>
          </a:p>
          <a:p>
            <a:r>
              <a:rPr lang="en-US" i="0" dirty="0"/>
              <a:t>Formally, </a:t>
            </a:r>
            <a:r>
              <a:rPr lang="en-US" i="1" dirty="0"/>
              <a:t>availability</a:t>
            </a:r>
            <a:r>
              <a:rPr lang="en-US" dirty="0"/>
              <a:t> is the percentage of time that a system is operating normally or correctly performing the operations expected of it (or normal operation time over total time). Availability is reduced anytime the application isn’t operating normally, including both scheduled and unscheduled interruptions.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Availability is also defined as the percentage of uptime (that is, length of time that a system is online between failures) over a period of time (commonly 1 year).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common shorthand when referring to availability is </a:t>
            </a:r>
            <a:r>
              <a:rPr lang="en-US" i="1" dirty="0"/>
              <a:t>number of 9s</a:t>
            </a:r>
            <a:r>
              <a:rPr lang="en-US" dirty="0"/>
              <a:t>. For example, </a:t>
            </a:r>
            <a:r>
              <a:rPr lang="en-US" i="1" dirty="0"/>
              <a:t>five 9s </a:t>
            </a:r>
            <a:r>
              <a:rPr lang="en-US" dirty="0"/>
              <a:t>means 99.999</a:t>
            </a:r>
            <a:r>
              <a:rPr lang="en-US" baseline="0" dirty="0"/>
              <a:t> percent</a:t>
            </a:r>
            <a:r>
              <a:rPr lang="en-US" dirty="0"/>
              <a:t> availability.</a:t>
            </a:r>
          </a:p>
        </p:txBody>
      </p:sp>
    </p:spTree>
    <p:extLst>
      <p:ext uri="{BB962C8B-B14F-4D97-AF65-F5344CB8AC3E}">
        <p14:creationId xmlns:p14="http://schemas.microsoft.com/office/powerpoint/2010/main" val="6582696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kern="1200" dirty="0">
                <a:solidFill>
                  <a:schemeClr val="tx1"/>
                </a:solidFill>
                <a:effectLst/>
                <a:latin typeface="+mn-lt"/>
                <a:ea typeface="+mn-ea"/>
                <a:cs typeface="+mn-cs"/>
              </a:rPr>
              <a:t>A </a:t>
            </a:r>
            <a:r>
              <a:rPr lang="en-US" i="1" kern="1200" dirty="0">
                <a:solidFill>
                  <a:schemeClr val="tx1"/>
                </a:solidFill>
                <a:effectLst/>
                <a:latin typeface="+mn-lt"/>
                <a:ea typeface="+mn-ea"/>
                <a:cs typeface="+mn-cs"/>
              </a:rPr>
              <a:t>highly available</a:t>
            </a:r>
            <a:r>
              <a:rPr lang="en-US" kern="1200" dirty="0">
                <a:solidFill>
                  <a:schemeClr val="tx1"/>
                </a:solidFill>
                <a:effectLst/>
                <a:latin typeface="+mn-lt"/>
                <a:ea typeface="+mn-ea"/>
                <a:cs typeface="+mn-cs"/>
              </a:rPr>
              <a:t> system is one that can withstand some measure of degradation while still remaining available. In a highly available system, downtime is minimized as much as possible and minimal human intervention is required. </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A highly available system can be viewed as a set of system-wide, shared resources that cooperate to guarantee essential services. High availability combines software with open-standard hardware to minimize downtime by quickly restoring essential services when a system, component, or application fails. Services are restored rapidly, often in less than 1 minute.</a:t>
            </a:r>
          </a:p>
        </p:txBody>
      </p:sp>
    </p:spTree>
    <p:extLst>
      <p:ext uri="{BB962C8B-B14F-4D97-AF65-F5344CB8AC3E}">
        <p14:creationId xmlns:p14="http://schemas.microsoft.com/office/powerpoint/2010/main" val="31400200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latin typeface="+mn-lt"/>
                <a:ea typeface="+mn-ea"/>
                <a:cs typeface="+mn-cs"/>
              </a:rPr>
              <a:t>Availability requirements vary. T</a:t>
            </a:r>
            <a:r>
              <a:rPr lang="en-US" dirty="0"/>
              <a:t>he length of disruption that is acceptable depends on the type of application. Here is a table of common application availability design goals and the maximum length of disruption that can occur within a year while still meeting the goal. The table contains examples of the types of applications that are common at each availability tier.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effectLst/>
                <a:latin typeface="Calibri" panose="020F0502020204030204" pitchFamily="34" charset="0"/>
                <a:ea typeface="Calibri" panose="020F0502020204030204" pitchFamily="34" charset="0"/>
                <a:cs typeface="Calibri" panose="020F0502020204030204" pitchFamily="34" charset="0"/>
              </a:rPr>
              <a:t>For accessibility:</a:t>
            </a:r>
            <a:r>
              <a:rPr lang="en-AU" dirty="0">
                <a:effectLst/>
                <a:latin typeface="Calibri" panose="020F0502020204030204" pitchFamily="34" charset="0"/>
                <a:ea typeface="Calibri" panose="020F0502020204030204" pitchFamily="34" charset="0"/>
                <a:cs typeface="Arial" panose="020B0604020202020204" pitchFamily="34" charset="0"/>
              </a:rPr>
              <a:t> </a:t>
            </a:r>
            <a:r>
              <a:rPr lang="en-AU" dirty="0">
                <a:effectLst/>
                <a:latin typeface="Calibri" panose="020F0502020204030204" pitchFamily="34" charset="0"/>
                <a:ea typeface="Calibri" panose="020F0502020204030204" pitchFamily="34" charset="0"/>
                <a:cs typeface="Calibri" panose="020F0502020204030204" pitchFamily="34" charset="0"/>
              </a:rPr>
              <a:t>Availability tiers with max disruption per year and application categories. The tiers range from availabilities of 99 percent to 99.999 percent. </a:t>
            </a:r>
            <a:r>
              <a:rPr lang="en-AU" b="1" dirty="0">
                <a:effectLst/>
                <a:latin typeface="Calibri" panose="020F0502020204030204" pitchFamily="34" charset="0"/>
                <a:ea typeface="Calibri" panose="020F0502020204030204" pitchFamily="34" charset="0"/>
                <a:cs typeface="Calibri" panose="020F0502020204030204" pitchFamily="34" charset="0"/>
              </a:rPr>
              <a:t>End of accessibility description.</a:t>
            </a:r>
            <a:endParaRPr lang="en-US"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22234682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869949" y="4840165"/>
            <a:ext cx="6032500" cy="4514849"/>
          </a:xfrm>
        </p:spPr>
        <p:txBody>
          <a:bodyPr/>
          <a:lstStyle/>
          <a:p>
            <a:r>
              <a:rPr lang="en-US" kern="1200" dirty="0">
                <a:solidFill>
                  <a:schemeClr val="tx1"/>
                </a:solidFill>
                <a:effectLst/>
                <a:latin typeface="+mn-lt"/>
                <a:ea typeface="+mn-ea"/>
                <a:cs typeface="+mn-cs"/>
              </a:rPr>
              <a:t>Though events that might disrupt an application’s availability cannot always be predicted, you can build availability into your architecture design. </a:t>
            </a:r>
            <a:r>
              <a:rPr lang="en-US" dirty="0"/>
              <a:t>There </a:t>
            </a:r>
            <a:r>
              <a:rPr lang="en-US" baseline="0" dirty="0"/>
              <a:t>are three factors that determine the overall availability of your application:</a:t>
            </a:r>
          </a:p>
          <a:p>
            <a:pPr marL="171450" marR="0" lvl="1" indent="-171450" algn="l" defTabSz="457200" rtl="0" eaLnBrk="1" fontAlgn="auto" latinLnBrk="0" hangingPunct="1">
              <a:lnSpc>
                <a:spcPct val="100000"/>
              </a:lnSpc>
              <a:spcBef>
                <a:spcPts val="0"/>
              </a:spcBef>
              <a:buClrTx/>
              <a:buSzTx/>
              <a:buFont typeface="Arial" panose="020B0604020202020204" pitchFamily="34" charset="0"/>
              <a:buChar char="•"/>
              <a:tabLst/>
              <a:defRPr/>
            </a:pPr>
            <a:r>
              <a:rPr lang="en-US" b="0" i="1" baseline="0" dirty="0"/>
              <a:t>Fault tolerance</a:t>
            </a:r>
            <a:r>
              <a:rPr lang="en-US" baseline="0" dirty="0"/>
              <a:t> refers to the </a:t>
            </a:r>
            <a:r>
              <a:rPr lang="en-US" i="1" baseline="0" dirty="0"/>
              <a:t>built-in redundancy </a:t>
            </a:r>
            <a:r>
              <a:rPr lang="en-US" baseline="0" dirty="0"/>
              <a:t>of an application's components and the </a:t>
            </a:r>
            <a:r>
              <a:rPr lang="en-US" b="0" i="1" baseline="0" dirty="0"/>
              <a:t>ability of the application to remain operational</a:t>
            </a:r>
            <a:r>
              <a:rPr lang="en-US" b="1" baseline="0" dirty="0"/>
              <a:t> </a:t>
            </a:r>
            <a:r>
              <a:rPr lang="en-US" baseline="0" dirty="0"/>
              <a:t>even if some of its components fail. </a:t>
            </a:r>
            <a:r>
              <a:rPr lang="en-US" b="0" i="0" kern="1200" dirty="0">
                <a:solidFill>
                  <a:schemeClr val="tx1"/>
                </a:solidFill>
                <a:effectLst/>
                <a:latin typeface="+mn-lt"/>
                <a:ea typeface="+mn-ea"/>
                <a:cs typeface="+mn-cs"/>
              </a:rPr>
              <a:t>Fault tolerance relies on specialized hardware to detect failure in a system component (such as a processor, memory board, power supply, I/O subsystem, or storage subsystem) and instantaneously switch to a redundant hardware component. The fault-tolerant model does not address software failures, which are the most common reason for downtime. </a:t>
            </a:r>
          </a:p>
          <a:p>
            <a:pPr marL="171450" marR="0" lvl="1" indent="-171450" algn="l" defTabSz="457200" rtl="0" eaLnBrk="1" fontAlgn="auto" latinLnBrk="0" hangingPunct="1">
              <a:lnSpc>
                <a:spcPct val="100000"/>
              </a:lnSpc>
              <a:spcBef>
                <a:spcPts val="0"/>
              </a:spcBef>
              <a:buClrTx/>
              <a:buSzTx/>
              <a:buFont typeface="Arial" panose="020B0604020202020204" pitchFamily="34" charset="0"/>
              <a:buChar char="•"/>
              <a:tabLst/>
              <a:defRPr/>
            </a:pPr>
            <a:r>
              <a:rPr lang="en-US" b="0" i="1" baseline="0" dirty="0"/>
              <a:t>Scalability</a:t>
            </a:r>
            <a:r>
              <a:rPr lang="en-US" baseline="0" dirty="0"/>
              <a:t> is the ability of your application to accommodate increases in capacity needs, remain available, and perform within your required standards. It does not guarantee availability, but it contributes to your application's availability.</a:t>
            </a:r>
          </a:p>
          <a:p>
            <a:pPr marL="171450" marR="0" lvl="1" indent="-171450" algn="l" defTabSz="457200" rtl="0" eaLnBrk="1" fontAlgn="auto" latinLnBrk="0" hangingPunct="1">
              <a:lnSpc>
                <a:spcPct val="100000"/>
              </a:lnSpc>
              <a:spcBef>
                <a:spcPts val="0"/>
              </a:spcBef>
              <a:buClrTx/>
              <a:buSzTx/>
              <a:buFont typeface="Arial" panose="020B0604020202020204" pitchFamily="34" charset="0"/>
              <a:buChar char="•"/>
              <a:tabLst/>
              <a:defRPr/>
            </a:pPr>
            <a:r>
              <a:rPr lang="en-US" b="0" i="1" baseline="0" dirty="0"/>
              <a:t>Recoverability</a:t>
            </a:r>
            <a:r>
              <a:rPr lang="en-US" baseline="0" dirty="0"/>
              <a:t> is the ability to restore service quickly and without lost data if a disaster makes your components unavailable, or it destroys data.</a:t>
            </a:r>
          </a:p>
          <a:p>
            <a:endParaRPr lang="en-US" baseline="0" dirty="0"/>
          </a:p>
          <a:p>
            <a:r>
              <a:rPr lang="en-US" kern="1200" dirty="0">
                <a:solidFill>
                  <a:schemeClr val="tx1"/>
                </a:solidFill>
                <a:effectLst/>
                <a:latin typeface="+mn-lt"/>
                <a:ea typeface="+mn-ea"/>
                <a:cs typeface="+mn-cs"/>
              </a:rPr>
              <a:t>Keep in mind that improving availability usually leads to increased cost. When you consider how to make your environment more available, it's important to balance the cost of the improvement with the benefit to your users. </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Do you want to ensure that your application is always alive or reachable, or do you want to ensure that it is servicing requests within an acceptable level of performance?</a:t>
            </a:r>
          </a:p>
        </p:txBody>
      </p:sp>
    </p:spTree>
    <p:extLst>
      <p:ext uri="{BB962C8B-B14F-4D97-AF65-F5344CB8AC3E}">
        <p14:creationId xmlns:p14="http://schemas.microsoft.com/office/powerpoint/2010/main" val="83278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mn-lt"/>
              </a:rPr>
              <a:t>Some key</a:t>
            </a:r>
            <a:r>
              <a:rPr lang="en-US" baseline="0" dirty="0">
                <a:latin typeface="+mn-lt"/>
              </a:rPr>
              <a:t> takeaways from this section of the module include:</a:t>
            </a:r>
          </a:p>
          <a:p>
            <a:pPr marL="171450" indent="-171450">
              <a:buClr>
                <a:schemeClr val="tx1"/>
              </a:buClr>
              <a:buFont typeface="Arial" panose="020B0604020202020204" pitchFamily="34" charset="0"/>
              <a:buChar char="•"/>
            </a:pPr>
            <a:r>
              <a:rPr lang="en-US" kern="1200" dirty="0">
                <a:latin typeface="+mn-lt"/>
                <a:ea typeface="+mn-ea"/>
                <a:cs typeface="+mn-cs"/>
              </a:rPr>
              <a:t>Reliability is a measure of your system’s ability to provide functionality when desired by the user, and it can be measured in terms of MTBF. </a:t>
            </a:r>
          </a:p>
          <a:p>
            <a:pPr marL="171450" indent="-171450">
              <a:buClr>
                <a:schemeClr val="tx1"/>
              </a:buClr>
              <a:buFont typeface="Arial" panose="020B0604020202020204" pitchFamily="34" charset="0"/>
              <a:buChar char="•"/>
            </a:pPr>
            <a:r>
              <a:rPr lang="en-US" kern="1200" dirty="0">
                <a:latin typeface="+mn-lt"/>
                <a:ea typeface="+mn-ea"/>
                <a:cs typeface="+mn-cs"/>
              </a:rPr>
              <a:t>Availability is </a:t>
            </a:r>
            <a:r>
              <a:rPr lang="en-US" dirty="0"/>
              <a:t>the percentage of time that a system is operating normally or correctly performing the operations expected of it (or normal operation time over total time).</a:t>
            </a:r>
          </a:p>
          <a:p>
            <a:pPr marL="171450" indent="-171450">
              <a:buClr>
                <a:schemeClr val="tx1"/>
              </a:buClr>
              <a:buFont typeface="Arial" panose="020B0604020202020204" pitchFamily="34" charset="0"/>
              <a:buChar char="•"/>
            </a:pPr>
            <a:r>
              <a:rPr lang="en-US" kern="1200" dirty="0">
                <a:latin typeface="+mn-lt"/>
                <a:ea typeface="+mn-ea"/>
                <a:cs typeface="+mn-cs"/>
              </a:rPr>
              <a:t>Three factors that influence the availability of your applications are fault tolerance, scalability, and recoverability.</a:t>
            </a:r>
          </a:p>
          <a:p>
            <a:pPr marL="171450" indent="-171450">
              <a:buClr>
                <a:schemeClr val="tx1"/>
              </a:buClr>
              <a:buFont typeface="Arial" panose="020B0604020202020204" pitchFamily="34" charset="0"/>
              <a:buChar char="•"/>
            </a:pPr>
            <a:r>
              <a:rPr lang="en-US" kern="1200" dirty="0">
                <a:latin typeface="+mn-lt"/>
                <a:ea typeface="+mn-ea"/>
                <a:cs typeface="+mn-cs"/>
              </a:rPr>
              <a:t>You can design your workloads and applications to be highly available, but there is a cost tradeoff to consider.</a:t>
            </a:r>
          </a:p>
        </p:txBody>
      </p:sp>
    </p:spTree>
    <p:extLst>
      <p:ext uri="{BB962C8B-B14F-4D97-AF65-F5344CB8AC3E}">
        <p14:creationId xmlns:p14="http://schemas.microsoft.com/office/powerpoint/2010/main" val="33563804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3: AWS Trusted Advisor</a:t>
            </a:r>
          </a:p>
          <a:p>
            <a:endParaRPr lang="en-US"/>
          </a:p>
          <a:p>
            <a:r>
              <a:rPr lang="en-US"/>
              <a:t>As you have learned so far, you can use the AWS Well-Architected Framework as you design your architectures to understand potential risks in your architecture, identify areas that need improvement, and drive architectural decisions. In this section, you will learn about AWS Trusted Advisor, which is a tool that you can use to review your AWS environment as soon as you start implementing your architectures.</a:t>
            </a:r>
          </a:p>
        </p:txBody>
      </p:sp>
    </p:spTree>
    <p:extLst>
      <p:ext uri="{BB962C8B-B14F-4D97-AF65-F5344CB8AC3E}">
        <p14:creationId xmlns:p14="http://schemas.microsoft.com/office/powerpoint/2010/main" val="29257171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869950" y="4906107"/>
            <a:ext cx="6124575" cy="4484078"/>
          </a:xfrm>
        </p:spPr>
        <p:txBody>
          <a:bodyPr/>
          <a:lstStyle/>
          <a:p>
            <a:r>
              <a:rPr lang="en-US" dirty="0"/>
              <a:t>AWS Trusted Advisor is an online tool that provides real-time guidance to help you provision your resources following AWS best practices. </a:t>
            </a:r>
          </a:p>
          <a:p>
            <a:endParaRPr lang="en-US" dirty="0"/>
          </a:p>
          <a:p>
            <a:r>
              <a:rPr lang="en-US" dirty="0"/>
              <a:t>AWS</a:t>
            </a:r>
            <a:r>
              <a:rPr lang="en-US" baseline="0" dirty="0"/>
              <a:t> Trusted Advisor </a:t>
            </a:r>
            <a:r>
              <a:rPr lang="en-US" dirty="0"/>
              <a:t>looks at your entire AWS environment and gives you recommendations in five categories:</a:t>
            </a:r>
          </a:p>
          <a:p>
            <a:pPr marL="171450" indent="-171450">
              <a:buFont typeface="Arial" panose="020B0604020202020204" pitchFamily="34" charset="0"/>
              <a:buChar char="•"/>
            </a:pPr>
            <a:r>
              <a:rPr lang="en-US" i="1" dirty="0"/>
              <a:t>Cost Optimization</a:t>
            </a:r>
            <a:r>
              <a:rPr lang="en-US" i="0" dirty="0"/>
              <a:t> – </a:t>
            </a:r>
            <a:r>
              <a:rPr lang="en-US" dirty="0"/>
              <a:t>AWS Trusted Advisor looks at your resource use and makes recommendations to help you optimize cost by eliminating unused and idle resources, or by making commitments to reserved capacity.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1" dirty="0"/>
              <a:t>Performance</a:t>
            </a:r>
            <a:r>
              <a:rPr lang="en-US" i="0" dirty="0"/>
              <a:t> – </a:t>
            </a:r>
            <a:r>
              <a:rPr lang="en-US" dirty="0"/>
              <a:t>Improve the performance of your service by checking your service limits, ensuring you take advantage of provisioned throughput, and monitoring for overutilized instances.</a:t>
            </a:r>
          </a:p>
          <a:p>
            <a:pPr marL="171450" indent="-171450">
              <a:buFont typeface="Arial" panose="020B0604020202020204" pitchFamily="34" charset="0"/>
              <a:buChar char="•"/>
            </a:pPr>
            <a:r>
              <a:rPr lang="en-US" i="1" dirty="0"/>
              <a:t>Security</a:t>
            </a:r>
            <a:r>
              <a:rPr lang="en-US" i="0" dirty="0"/>
              <a:t> – </a:t>
            </a:r>
            <a:r>
              <a:rPr lang="en-US" dirty="0"/>
              <a:t>Improve the security of your application by closing gaps, enabling various AWS security features, and examining your permissions.</a:t>
            </a:r>
          </a:p>
          <a:p>
            <a:pPr marL="171450" indent="-171450">
              <a:buFont typeface="Arial" panose="020B0604020202020204" pitchFamily="34" charset="0"/>
              <a:buChar char="•"/>
            </a:pPr>
            <a:r>
              <a:rPr lang="en-US" i="1" dirty="0"/>
              <a:t>Fault Tolerance</a:t>
            </a:r>
            <a:r>
              <a:rPr lang="en-US" i="0" dirty="0"/>
              <a:t> – </a:t>
            </a:r>
            <a:r>
              <a:rPr lang="en-US" dirty="0"/>
              <a:t>Increase the availability and redundancy of your AWS application by taking advantage of automatic</a:t>
            </a:r>
            <a:r>
              <a:rPr lang="en-US" baseline="0" dirty="0"/>
              <a:t> </a:t>
            </a:r>
            <a:r>
              <a:rPr lang="en-US" dirty="0"/>
              <a:t>scaling, health checks, Multi-AZ deployments, and backup capabilities.</a:t>
            </a:r>
          </a:p>
          <a:p>
            <a:pPr marL="171450" indent="-171450">
              <a:buFont typeface="Arial" panose="020B0604020202020204" pitchFamily="34" charset="0"/>
              <a:buChar char="•"/>
            </a:pPr>
            <a:r>
              <a:rPr lang="en-US" i="1" dirty="0"/>
              <a:t>Service Limits</a:t>
            </a:r>
            <a:r>
              <a:rPr lang="en-US" i="0" dirty="0"/>
              <a:t> – </a:t>
            </a:r>
            <a:r>
              <a:rPr lang="en-US" dirty="0"/>
              <a:t>AWS Trusted Advisor checks for service usage that is more than 80</a:t>
            </a:r>
            <a:r>
              <a:rPr lang="en-US" baseline="0" dirty="0"/>
              <a:t> percent</a:t>
            </a:r>
            <a:r>
              <a:rPr lang="en-US" dirty="0"/>
              <a:t> of the service limit. Values are based on a snapshot, so your current usage might differ. Limit and usage data can take up to 24 hours to reflect any changes.</a:t>
            </a:r>
          </a:p>
          <a:p>
            <a:pPr marL="0" indent="0">
              <a:buFont typeface="Arial" panose="020B0604020202020204" pitchFamily="34" charset="0"/>
              <a:buNone/>
            </a:pPr>
            <a:endParaRPr lang="en-US" dirty="0"/>
          </a:p>
          <a:p>
            <a:r>
              <a:rPr lang="en-US" dirty="0"/>
              <a:t>For a detailed description of the information that AWS Trusted Advisor provides, see </a:t>
            </a:r>
            <a:r>
              <a:rPr lang="en-US" dirty="0">
                <a:ea typeface="Amazon Ember Light" panose="020B0403020204020204" pitchFamily="34" charset="0"/>
                <a:cs typeface="Amazon Ember Light" panose="020B0403020204020204" pitchFamily="34" charset="0"/>
              </a:rPr>
              <a:t>AWS Trusted Advisor Best Practice Checks at </a:t>
            </a:r>
            <a:r>
              <a:rPr lang="en-US" dirty="0">
                <a:ea typeface="Amazon Ember Light" panose="020B0403020204020204" pitchFamily="34" charset="0"/>
                <a:cs typeface="Amazon Ember Light" panose="020B0403020204020204" pitchFamily="34" charset="0"/>
                <a:hlinkClick r:id="rId3"/>
              </a:rPr>
              <a:t>https://docs.aws.amazon.com/awssupport/latest/user/trusted-advisor-check-reference.html</a:t>
            </a:r>
            <a:r>
              <a:rPr lang="en-US" dirty="0">
                <a:ea typeface="Amazon Ember Light" panose="020B0403020204020204" pitchFamily="34" charset="0"/>
                <a:cs typeface="Amazon Ember Light" panose="020B0403020204020204" pitchFamily="34" charset="0"/>
              </a:rPr>
              <a:t>.</a:t>
            </a:r>
            <a:endParaRPr lang="en-US" dirty="0"/>
          </a:p>
        </p:txBody>
      </p:sp>
    </p:spTree>
    <p:extLst>
      <p:ext uri="{BB962C8B-B14F-4D97-AF65-F5344CB8AC3E}">
        <p14:creationId xmlns:p14="http://schemas.microsoft.com/office/powerpoint/2010/main" val="306419729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a friend who used AWS Trusted Advisor for the first time. She is trying to interpret its recommendations to improve her cloud environment and needs your help. This is her dashboard. While everything looks OK in the cost optimization and service limit categories, you notice that there are a few recommendations that you should review to help her improve her security, performance, and fault tolerance.</a:t>
            </a:r>
          </a:p>
          <a:p>
            <a:endParaRPr lang="en-US" dirty="0"/>
          </a:p>
          <a:p>
            <a:r>
              <a:rPr lang="en-US" dirty="0"/>
              <a:t>Help your friend interpret the following recommendations.</a:t>
            </a:r>
          </a:p>
        </p:txBody>
      </p:sp>
    </p:spTree>
    <p:extLst>
      <p:ext uri="{BB962C8B-B14F-4D97-AF65-F5344CB8AC3E}">
        <p14:creationId xmlns:p14="http://schemas.microsoft.com/office/powerpoint/2010/main" val="32200966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mn-lt"/>
              </a:rPr>
              <a:t>Some key</a:t>
            </a:r>
            <a:r>
              <a:rPr lang="en-US" baseline="0">
                <a:latin typeface="+mn-lt"/>
              </a:rPr>
              <a:t> takeaways from this section of the module include:</a:t>
            </a:r>
          </a:p>
          <a:p>
            <a:pPr marL="171450" indent="-171450">
              <a:buClr>
                <a:schemeClr val="tx1"/>
              </a:buClr>
              <a:buFont typeface="Arial" panose="020B0604020202020204" pitchFamily="34" charset="0"/>
              <a:buChar char="•"/>
            </a:pPr>
            <a:r>
              <a:rPr lang="en-US" kern="1200">
                <a:latin typeface="+mn-lt"/>
                <a:ea typeface="+mn-ea"/>
                <a:cs typeface="+mn-cs"/>
              </a:rPr>
              <a:t>AWS Trusted Advisor is an online tool that provides real-time guidance to help you provision your resources by following AWS best practices. </a:t>
            </a:r>
          </a:p>
          <a:p>
            <a:pPr marL="171450" indent="-171450">
              <a:buClr>
                <a:schemeClr val="tx1"/>
              </a:buClr>
              <a:buFont typeface="Arial" panose="020B0604020202020204" pitchFamily="34" charset="0"/>
              <a:buChar char="•"/>
            </a:pPr>
            <a:r>
              <a:rPr lang="en-US" kern="1200">
                <a:latin typeface="+mn-lt"/>
                <a:ea typeface="+mn-ea"/>
                <a:cs typeface="+mn-cs"/>
              </a:rPr>
              <a:t>AWS Trusted Advisor looks at your entire AWS environment and gives you real-time recommendations in five categories.</a:t>
            </a:r>
          </a:p>
          <a:p>
            <a:pPr marL="171450" indent="-171450">
              <a:buClr>
                <a:schemeClr val="tx1"/>
              </a:buClr>
              <a:buFont typeface="Arial" panose="020B0604020202020204" pitchFamily="34" charset="0"/>
              <a:buChar char="•"/>
            </a:pPr>
            <a:r>
              <a:rPr lang="en-US" kern="1200">
                <a:latin typeface="+mn-lt"/>
                <a:ea typeface="+mn-ea"/>
                <a:cs typeface="+mn-cs"/>
              </a:rPr>
              <a:t>You can use AWS Trusted Advisor to help you optimize your AWS environment as soon as you start implementing your architecture designs.</a:t>
            </a:r>
          </a:p>
        </p:txBody>
      </p:sp>
    </p:spTree>
    <p:extLst>
      <p:ext uri="{BB962C8B-B14F-4D97-AF65-F5344CB8AC3E}">
        <p14:creationId xmlns:p14="http://schemas.microsoft.com/office/powerpoint/2010/main" val="8549449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It’s now time to review the module and wrap up the module with a knowledge check and discussion of a practice certification exam question.</a:t>
            </a:r>
          </a:p>
        </p:txBody>
      </p:sp>
    </p:spTree>
    <p:extLst>
      <p:ext uri="{BB962C8B-B14F-4D97-AF65-F5344CB8AC3E}">
        <p14:creationId xmlns:p14="http://schemas.microsoft.com/office/powerpoint/2010/main" val="2235408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summary, in this module you learned how to:</a:t>
            </a:r>
          </a:p>
          <a:p>
            <a:pPr marL="171450" indent="-171450">
              <a:buFont typeface="Arial" panose="020B0604020202020204" pitchFamily="34" charset="0"/>
              <a:buChar char="•"/>
            </a:pPr>
            <a:r>
              <a:rPr lang="en-US">
                <a:latin typeface="+mn-lt"/>
              </a:rPr>
              <a:t>Describe the AWS Well-Architected Framework, including the six pillars</a:t>
            </a:r>
          </a:p>
          <a:p>
            <a:pPr marL="171450" indent="-171450">
              <a:buFont typeface="Arial" panose="020B0604020202020204" pitchFamily="34" charset="0"/>
              <a:buChar char="•"/>
            </a:pPr>
            <a:r>
              <a:rPr lang="en-US">
                <a:latin typeface="+mn-lt"/>
              </a:rPr>
              <a:t>Identify the design principles of the AWS Well-Architected Framework</a:t>
            </a:r>
          </a:p>
          <a:p>
            <a:pPr marL="171450" indent="-171450">
              <a:buFont typeface="Arial" panose="020B0604020202020204" pitchFamily="34" charset="0"/>
              <a:buChar char="•"/>
            </a:pPr>
            <a:r>
              <a:rPr lang="en-US">
                <a:latin typeface="+mn-lt"/>
              </a:rPr>
              <a:t>Explain the importance of reliability and high availability</a:t>
            </a:r>
          </a:p>
          <a:p>
            <a:pPr marL="171450" indent="-171450">
              <a:buFont typeface="Arial" panose="020B0604020202020204" pitchFamily="34" charset="0"/>
              <a:buChar char="•"/>
            </a:pPr>
            <a:r>
              <a:rPr lang="en-US">
                <a:latin typeface="+mn-lt"/>
              </a:rPr>
              <a:t>Identify how AWS Trusted Advisor helps customers</a:t>
            </a:r>
          </a:p>
          <a:p>
            <a:pPr marL="171450" indent="-171450">
              <a:buFont typeface="Arial" panose="020B0604020202020204" pitchFamily="34" charset="0"/>
              <a:buChar char="•"/>
            </a:pPr>
            <a:r>
              <a:rPr lang="en-US">
                <a:latin typeface="+mn-lt"/>
              </a:rPr>
              <a:t>Interpret AWS Trusted Advisor recommendations</a:t>
            </a:r>
            <a:endParaRPr lang="en-US"/>
          </a:p>
        </p:txBody>
      </p:sp>
    </p:spTree>
    <p:extLst>
      <p:ext uri="{BB962C8B-B14F-4D97-AF65-F5344CB8AC3E}">
        <p14:creationId xmlns:p14="http://schemas.microsoft.com/office/powerpoint/2010/main" val="71854473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Welcom</a:t>
            </a:r>
            <a:r>
              <a:rPr lang="en-US" baseline="0"/>
              <a:t>e to Module 10: Automatic Scaling and Monitoring</a:t>
            </a:r>
            <a:endParaRPr lang="en-US"/>
          </a:p>
        </p:txBody>
      </p:sp>
    </p:spTree>
    <p:extLst>
      <p:ext uri="{BB962C8B-B14F-4D97-AF65-F5344CB8AC3E}">
        <p14:creationId xmlns:p14="http://schemas.microsoft.com/office/powerpoint/2010/main" val="17368607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a:solidFill>
                  <a:schemeClr val="tx1"/>
                </a:solidFill>
                <a:effectLst/>
                <a:latin typeface="+mn-lt"/>
                <a:ea typeface="+mn-ea"/>
                <a:cs typeface="+mn-cs"/>
              </a:rPr>
              <a:t>This module will address the following topics:</a:t>
            </a:r>
          </a:p>
          <a:p>
            <a:pPr marL="171450" indent="-171450">
              <a:buFont typeface="Arial" panose="020B0604020202020204" pitchFamily="34" charset="0"/>
              <a:buChar char="•"/>
            </a:pPr>
            <a:r>
              <a:rPr lang="en-US" kern="1200">
                <a:solidFill>
                  <a:schemeClr val="tx1"/>
                </a:solidFill>
                <a:effectLst/>
                <a:latin typeface="+mn-lt"/>
                <a:ea typeface="+mn-ea"/>
                <a:cs typeface="+mn-cs"/>
              </a:rPr>
              <a:t>Elastic Load Balancing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kern="1200">
                <a:solidFill>
                  <a:schemeClr val="tx1"/>
                </a:solidFill>
                <a:effectLst/>
                <a:latin typeface="+mn-lt"/>
                <a:ea typeface="+mn-ea"/>
                <a:cs typeface="+mn-cs"/>
              </a:rPr>
              <a:t>Amazon CloudWatch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kern="1200">
                <a:solidFill>
                  <a:schemeClr val="tx1"/>
                </a:solidFill>
                <a:effectLst/>
                <a:latin typeface="+mn-lt"/>
                <a:ea typeface="+mn-ea"/>
                <a:cs typeface="+mn-cs"/>
              </a:rPr>
              <a:t>Amazon EC2 Auto Scaling</a:t>
            </a:r>
          </a:p>
          <a:p>
            <a:pPr marL="0" indent="0">
              <a:buFont typeface="Arial" panose="020B0604020202020204" pitchFamily="34" charset="0"/>
              <a:buNone/>
            </a:pPr>
            <a:endParaRPr lang="en-US"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kern="1200">
                <a:solidFill>
                  <a:schemeClr val="tx1"/>
                </a:solidFill>
                <a:effectLst/>
                <a:latin typeface="+mn-lt"/>
                <a:ea typeface="+mn-ea"/>
                <a:cs typeface="+mn-cs"/>
              </a:rPr>
              <a:t>The module also includes two activities. One activity will challenge you to indicate Elastic Load Balancing use cases. The other activity will challenge you to identify Amazon CloudWatch examples.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kern="1200">
                <a:solidFill>
                  <a:schemeClr val="tx1"/>
                </a:solidFill>
                <a:effectLst/>
                <a:latin typeface="+mn-lt"/>
                <a:ea typeface="+mn-ea"/>
                <a:cs typeface="+mn-cs"/>
              </a:rPr>
              <a:t>The module also includes a hands-on lab where you will use Amazon EC2 Auto Scaling, Elastic Load Balancing, and Amazon CloudWatch together to create a dynamically scalable architecture.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kern="1200">
                <a:solidFill>
                  <a:schemeClr val="tx1"/>
                </a:solidFill>
                <a:effectLst/>
                <a:latin typeface="+mn-lt"/>
                <a:ea typeface="+mn-ea"/>
                <a:cs typeface="+mn-cs"/>
              </a:rPr>
              <a:t>Finally, you will be asked to complete a knowledge check that will test your understanding of key concepts that are covered in this module.</a:t>
            </a:r>
          </a:p>
          <a:p>
            <a:pPr marL="0" indent="0">
              <a:buFont typeface="Arial" panose="020B0604020202020204" pitchFamily="34" charset="0"/>
              <a:buNone/>
            </a:pPr>
            <a:endParaRPr lang="en-US" kern="1200">
              <a:solidFill>
                <a:schemeClr val="tx1"/>
              </a:solidFill>
              <a:effectLst/>
              <a:latin typeface="+mn-lt"/>
              <a:ea typeface="+mn-ea"/>
              <a:cs typeface="+mn-cs"/>
            </a:endParaRPr>
          </a:p>
        </p:txBody>
      </p:sp>
    </p:spTree>
    <p:extLst>
      <p:ext uri="{BB962C8B-B14F-4D97-AF65-F5344CB8AC3E}">
        <p14:creationId xmlns:p14="http://schemas.microsoft.com/office/powerpoint/2010/main" val="33176008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After completing this module, you should be able to:</a:t>
            </a:r>
          </a:p>
          <a:p>
            <a:pPr marL="171450" indent="-171450">
              <a:buFont typeface="Arial" panose="020B0604020202020204" pitchFamily="34" charset="0"/>
              <a:buChar char="•"/>
            </a:pPr>
            <a:r>
              <a:rPr lang="en-US">
                <a:latin typeface="+mn-lt"/>
              </a:rPr>
              <a:t>Indicate how to distribute traffic across Amazon Elastic Compute Cloud (Amazon EC2) instances by using Elastic Load Balancing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atin typeface="+mn-lt"/>
              </a:rPr>
              <a:t>Identify how Amazon CloudWatch enables you to monitor AWS resources and applications in real time</a:t>
            </a:r>
          </a:p>
          <a:p>
            <a:pPr marL="171450" indent="-171450">
              <a:buFont typeface="Arial" panose="020B0604020202020204" pitchFamily="34" charset="0"/>
              <a:buChar char="•"/>
            </a:pPr>
            <a:r>
              <a:rPr lang="en-US">
                <a:latin typeface="+mn-lt"/>
              </a:rPr>
              <a:t>Explain how Amazon EC2 Auto Scaling launches and releases servers in response to workload changes</a:t>
            </a:r>
          </a:p>
          <a:p>
            <a:pPr marL="171450" indent="-171450">
              <a:buFont typeface="Arial" panose="020B0604020202020204" pitchFamily="34" charset="0"/>
              <a:buChar char="•"/>
            </a:pPr>
            <a:r>
              <a:rPr lang="en-US">
                <a:latin typeface="+mn-lt"/>
              </a:rPr>
              <a:t>Perform scaling and load balancing tasks to improve an architecture</a:t>
            </a:r>
            <a:endParaRPr lang="en-US"/>
          </a:p>
        </p:txBody>
      </p:sp>
    </p:spTree>
    <p:extLst>
      <p:ext uri="{BB962C8B-B14F-4D97-AF65-F5344CB8AC3E}">
        <p14:creationId xmlns:p14="http://schemas.microsoft.com/office/powerpoint/2010/main" val="3456564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Section 1: Elastic Load Balancing</a:t>
            </a:r>
          </a:p>
        </p:txBody>
      </p:sp>
    </p:spTree>
    <p:extLst>
      <p:ext uri="{BB962C8B-B14F-4D97-AF65-F5344CB8AC3E}">
        <p14:creationId xmlns:p14="http://schemas.microsoft.com/office/powerpoint/2010/main" val="18906542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Modern high-traffic websites must serve hundreds of thousands—if not millions—of concurrent requests from users or clients, and then return the correct text, images, video, or application data in a fast and reliable manner. Additional servers are generally required to meet these high volumes.</a:t>
            </a:r>
          </a:p>
          <a:p>
            <a:r>
              <a:rPr lang="en-US"/>
              <a:t> </a:t>
            </a:r>
          </a:p>
          <a:p>
            <a:r>
              <a:rPr lang="en-US"/>
              <a:t>Elastic Load Balancing is an AWS service that distributes incoming application or network traffic across multiple targets—such as Amazon Elastic Compute Cloud (Amazon EC2) instances, containers, internet protocol (IP) addresses, and Lambda functions—in a single Availability Zone or across multiple Availability Zones. Elastic Load Balancing scales your load balancer as traffic to your application changes over time. It can automatically scale to most workloads. </a:t>
            </a:r>
          </a:p>
        </p:txBody>
      </p:sp>
    </p:spTree>
    <p:extLst>
      <p:ext uri="{BB962C8B-B14F-4D97-AF65-F5344CB8AC3E}">
        <p14:creationId xmlns:p14="http://schemas.microsoft.com/office/powerpoint/2010/main" val="333487599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ea typeface="+mn-ea"/>
                <a:cs typeface="+mn-cs"/>
              </a:rPr>
              <a:t>Elastic Load Balancing is available in three</a:t>
            </a:r>
            <a:r>
              <a:rPr lang="en-US" b="0" kern="1200" baseline="0" dirty="0">
                <a:solidFill>
                  <a:schemeClr val="tx1"/>
                </a:solidFill>
                <a:effectLst/>
                <a:ea typeface="+mn-ea"/>
                <a:cs typeface="+mn-cs"/>
              </a:rPr>
              <a:t> </a:t>
            </a:r>
            <a:r>
              <a:rPr lang="en-US" b="0" i="0" kern="1200" dirty="0">
                <a:solidFill>
                  <a:schemeClr val="tx1"/>
                </a:solidFill>
                <a:effectLst/>
                <a:ea typeface="+mn-ea"/>
                <a:cs typeface="+mn-cs"/>
              </a:rPr>
              <a:t>types:</a:t>
            </a:r>
            <a:endParaRPr lang="en-US" kern="1200" baseline="0" dirty="0">
              <a:solidFill>
                <a:schemeClr val="tx1"/>
              </a:solidFill>
              <a:effectLs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An </a:t>
            </a:r>
            <a:r>
              <a:rPr lang="en-US" i="1" dirty="0"/>
              <a:t>Application Load Balancer</a:t>
            </a:r>
            <a:r>
              <a:rPr lang="en-US" dirty="0"/>
              <a:t> operates at the application level (Open Systems Interconnection,</a:t>
            </a:r>
            <a:r>
              <a:rPr lang="en-US" baseline="0" dirty="0"/>
              <a:t> or </a:t>
            </a:r>
            <a:r>
              <a:rPr lang="en-US" dirty="0" err="1"/>
              <a:t>OSI</a:t>
            </a:r>
            <a:r>
              <a:rPr lang="en-US" dirty="0"/>
              <a:t>,</a:t>
            </a:r>
            <a:r>
              <a:rPr lang="en-US" baseline="0" dirty="0"/>
              <a:t> </a:t>
            </a:r>
            <a:r>
              <a:rPr lang="en-US" dirty="0"/>
              <a:t>model layer 7).</a:t>
            </a:r>
            <a:r>
              <a:rPr lang="en-US" baseline="0" dirty="0"/>
              <a:t> It r</a:t>
            </a:r>
            <a:r>
              <a:rPr lang="en-US" dirty="0"/>
              <a:t>outes traffic to targets—Amazon Elastic Compute Cloud (Amazon </a:t>
            </a:r>
            <a:r>
              <a:rPr lang="en-US" dirty="0" err="1"/>
              <a:t>EC2</a:t>
            </a:r>
            <a:r>
              <a:rPr lang="en-US" dirty="0"/>
              <a:t>) instances, containers, Internet Protocol (IP) addresses, and Lambda functions—based on the content of the request. It is ideal for advanced load balancing of Hypertext Transfer Protocol (HTTP) and Secure</a:t>
            </a:r>
            <a:r>
              <a:rPr lang="en-US" baseline="0" dirty="0"/>
              <a:t> HTTP </a:t>
            </a:r>
            <a:r>
              <a:rPr lang="en-US" dirty="0"/>
              <a:t>(HTTPS) traffic. An Application Load Balancer provides advanced request routing that is targeted at delivery of modern application architectures, including microservices and container-based applications. An Application Load Balancer simplifies and improves the security of your application by ensuring that the latest Secure Sockets Layer/Transport Layer Security (SSL/TLS) ciphers and protocols are used at all times.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 </a:t>
            </a:r>
            <a:r>
              <a:rPr lang="en-US" i="1" dirty="0"/>
              <a:t>Network Load Balancer</a:t>
            </a:r>
            <a:r>
              <a:rPr lang="en-US" dirty="0"/>
              <a:t> operates at the network transport level (</a:t>
            </a:r>
            <a:r>
              <a:rPr lang="en-US" dirty="0" err="1"/>
              <a:t>OSI</a:t>
            </a:r>
            <a:r>
              <a:rPr lang="en-US" dirty="0"/>
              <a:t> model layer 4), routing connections to targets—</a:t>
            </a:r>
            <a:r>
              <a:rPr lang="en-US" dirty="0" err="1"/>
              <a:t>EC2</a:t>
            </a:r>
            <a:r>
              <a:rPr lang="en-US" dirty="0"/>
              <a:t> instances, microservices, and containers—based on IP protocol data. It works well for load balancing both Transmission Control Protocol (TCP) and User Datagram Protocol (UDP) traffic. A Network Load Balancer is capable of handling millions of requests per second while maintaining ultra-low latencies. A Network Load Balancer is optimized to handle sudden and volatile network traffic patterns.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kern="1200" baseline="0" dirty="0">
                <a:solidFill>
                  <a:schemeClr val="tx1"/>
                </a:solidFill>
                <a:effectLst/>
                <a:ea typeface="+mn-ea"/>
                <a:cs typeface="+mn-cs"/>
              </a:rPr>
              <a:t>A </a:t>
            </a:r>
            <a:r>
              <a:rPr lang="en-US" i="1" dirty="0"/>
              <a:t>Classic Load Balancer</a:t>
            </a:r>
            <a:r>
              <a:rPr lang="en-US" dirty="0"/>
              <a:t> provides basic load balancing across multiple </a:t>
            </a:r>
            <a:r>
              <a:rPr lang="en-US" dirty="0" err="1"/>
              <a:t>EC2</a:t>
            </a:r>
            <a:r>
              <a:rPr lang="en-US" dirty="0"/>
              <a:t> instances, and it operates at both the application level and network transport level. A Classic Load Balancer supports the load balancing of applications that use HTTP, HTTPS, TCP, and SSL. The Classic Load Balancer is an older implementation.  When possible, AWS recommends that you use a dedicated Application Load</a:t>
            </a:r>
            <a:r>
              <a:rPr lang="en-US" baseline="0" dirty="0"/>
              <a:t> Balancer </a:t>
            </a:r>
            <a:r>
              <a:rPr lang="en-US" dirty="0"/>
              <a:t>or Network Load Balancer. </a:t>
            </a:r>
          </a:p>
          <a:p>
            <a:pPr marR="0" lvl="0" algn="l" defTabSz="914400" rtl="0" eaLnBrk="1" fontAlgn="auto" latinLnBrk="0" hangingPunct="1">
              <a:lnSpc>
                <a:spcPct val="100000"/>
              </a:lnSpc>
              <a:spcBef>
                <a:spcPts val="0"/>
              </a:spcBef>
              <a:spcAft>
                <a:spcPts val="0"/>
              </a:spcAft>
              <a:buClrTx/>
              <a:buSzTx/>
              <a:tabLst/>
              <a:defRPr/>
            </a:pPr>
            <a:endParaRPr lang="en-US" kern="1200" baseline="0" dirty="0">
              <a:solidFill>
                <a:schemeClr val="tx1"/>
              </a:solidFill>
              <a:effectLst/>
              <a:ea typeface="+mn-ea"/>
              <a:cs typeface="+mn-cs"/>
            </a:endParaRPr>
          </a:p>
          <a:p>
            <a:pPr lvl="0">
              <a:defRPr/>
            </a:pPr>
            <a:r>
              <a:rPr lang="en-US" kern="1200" baseline="0" dirty="0">
                <a:solidFill>
                  <a:schemeClr val="tx1"/>
                </a:solidFill>
                <a:effectLst/>
                <a:ea typeface="+mn-ea"/>
                <a:cs typeface="+mn-cs"/>
              </a:rPr>
              <a:t>To learn more about the differences between the three types of load balancers, see </a:t>
            </a:r>
            <a:r>
              <a:rPr lang="en-US" i="1" kern="1200" baseline="0" dirty="0">
                <a:solidFill>
                  <a:schemeClr val="tx1"/>
                </a:solidFill>
                <a:effectLst/>
                <a:ea typeface="+mn-ea"/>
                <a:cs typeface="+mn-cs"/>
              </a:rPr>
              <a:t>Product comparisons</a:t>
            </a:r>
            <a:r>
              <a:rPr lang="en-US" kern="1200" baseline="0" dirty="0">
                <a:solidFill>
                  <a:schemeClr val="tx1"/>
                </a:solidFill>
                <a:effectLst/>
                <a:ea typeface="+mn-ea"/>
                <a:cs typeface="+mn-cs"/>
              </a:rPr>
              <a:t> on the Elastic Load </a:t>
            </a:r>
            <a:r>
              <a:rPr lang="en-US" dirty="0"/>
              <a:t>Balancing Features Page </a:t>
            </a:r>
            <a:r>
              <a:rPr lang="en-US" dirty="0">
                <a:hlinkClick r:id="rId3"/>
              </a:rPr>
              <a:t>https://aws.amazon.com/elasticloadbalancing/features/?nc=sn&amp;loc=2</a:t>
            </a:r>
            <a:r>
              <a:rPr lang="en-US" dirty="0"/>
              <a:t>.</a:t>
            </a:r>
            <a:endParaRPr lang="en-US" kern="1200" baseline="0" dirty="0">
              <a:solidFill>
                <a:schemeClr val="tx1"/>
              </a:solidFill>
              <a:effectLst/>
              <a:ea typeface="+mn-ea"/>
              <a:cs typeface="+mn-cs"/>
            </a:endParaRPr>
          </a:p>
        </p:txBody>
      </p:sp>
    </p:spTree>
    <p:extLst>
      <p:ext uri="{BB962C8B-B14F-4D97-AF65-F5344CB8AC3E}">
        <p14:creationId xmlns:p14="http://schemas.microsoft.com/office/powerpoint/2010/main" val="44061135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 load balancer accepts incoming traffic from clients and routes requests to its registered targets (such as EC2 instances) in one or more Availability Zones.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r>
              <a:rPr lang="en-US"/>
              <a:t>You configure your load balancer to accept incoming traffic by specifying one or more </a:t>
            </a:r>
            <a:r>
              <a:rPr lang="en-US" i="1"/>
              <a:t>listeners</a:t>
            </a:r>
            <a:r>
              <a:rPr lang="en-US"/>
              <a:t>. A listener is a process that checks for connection requests. It is configured with a protocol and port number for connections from clients to the load balancer. Similarly, it is configured with a protocol and port number for connections from the load balancer to the targets. </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You can also configure your load balancer to perform </a:t>
            </a:r>
            <a:r>
              <a:rPr lang="en-US" i="1"/>
              <a:t>health checks</a:t>
            </a:r>
            <a:r>
              <a:rPr lang="en-US"/>
              <a:t>, which are used to monitor the health of the registered targets so that the load balancer only sends requests to the healthy instances. When the load balancer detects an unhealthy target, it stops routing traffic to that target. It then resumes routing traffic to that target when it detects that the target is healthy again. </a:t>
            </a:r>
          </a:p>
          <a:p>
            <a:endParaRPr lang="en-US"/>
          </a:p>
          <a:p>
            <a:r>
              <a:rPr lang="en-US"/>
              <a:t>There is a key difference in how the load balancer types are configured. With Application Load Balancers and Network Load Balancers, you register targets in </a:t>
            </a:r>
            <a:r>
              <a:rPr lang="en-US" i="1"/>
              <a:t>target groups</a:t>
            </a:r>
            <a:r>
              <a:rPr lang="en-US"/>
              <a:t>, and route traffic to the target groups. With Classic Load Balancers, you register instances with the load balancer. </a:t>
            </a:r>
          </a:p>
        </p:txBody>
      </p:sp>
    </p:spTree>
    <p:extLst>
      <p:ext uri="{BB962C8B-B14F-4D97-AF65-F5344CB8AC3E}">
        <p14:creationId xmlns:p14="http://schemas.microsoft.com/office/powerpoint/2010/main" val="144412972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7"/>
            <a:ext cx="6216650" cy="3828927"/>
          </a:xfrm>
          <a:prstGeom prst="rect">
            <a:avLst/>
          </a:prstGeom>
        </p:spPr>
        <p:txBody>
          <a:bodyPr/>
          <a:lstStyle/>
          <a:p>
            <a:r>
              <a:rPr lang="en-US" kern="1200">
                <a:solidFill>
                  <a:schemeClr val="tx1"/>
                </a:solidFill>
                <a:effectLst/>
                <a:ea typeface="+mn-ea"/>
              </a:rPr>
              <a:t>There are many reasons to use a</a:t>
            </a:r>
            <a:r>
              <a:rPr lang="en-US" kern="1200" baseline="0">
                <a:solidFill>
                  <a:schemeClr val="tx1"/>
                </a:solidFill>
                <a:effectLst/>
                <a:ea typeface="+mn-ea"/>
              </a:rPr>
              <a:t> </a:t>
            </a:r>
            <a:r>
              <a:rPr lang="en-US" kern="1200">
                <a:solidFill>
                  <a:schemeClr val="tx1"/>
                </a:solidFill>
                <a:effectLst/>
                <a:ea typeface="+mn-ea"/>
              </a:rPr>
              <a:t>load balancer: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1" kern="1200">
                <a:solidFill>
                  <a:schemeClr val="tx1"/>
                </a:solidFill>
                <a:effectLst/>
                <a:ea typeface="+mn-ea"/>
              </a:rPr>
              <a:t>Achieve high availability and better fault tolerance for your applications</a:t>
            </a:r>
            <a:r>
              <a:rPr lang="en-US" i="0" kern="1200" baseline="0">
                <a:solidFill>
                  <a:schemeClr val="tx1"/>
                </a:solidFill>
                <a:effectLst/>
                <a:ea typeface="+mn-ea"/>
              </a:rPr>
              <a:t> –</a:t>
            </a:r>
            <a:r>
              <a:rPr lang="en-US" kern="1200">
                <a:solidFill>
                  <a:schemeClr val="tx1"/>
                </a:solidFill>
                <a:effectLst/>
                <a:ea typeface="+mn-ea"/>
              </a:rPr>
              <a:t> Elastic Load Balancing</a:t>
            </a:r>
            <a:r>
              <a:rPr lang="en-US" b="0" kern="1200">
                <a:solidFill>
                  <a:schemeClr val="tx1"/>
                </a:solidFill>
                <a:effectLst/>
                <a:ea typeface="+mn-ea"/>
              </a:rPr>
              <a:t> balances </a:t>
            </a:r>
            <a:r>
              <a:rPr lang="en-US" kern="1200">
                <a:solidFill>
                  <a:schemeClr val="tx1"/>
                </a:solidFill>
                <a:effectLst/>
                <a:ea typeface="+mn-ea"/>
              </a:rPr>
              <a:t>traffic across healthy targets in multiple Availability Zones. </a:t>
            </a:r>
            <a:r>
              <a:rPr lang="en-US"/>
              <a:t>If one or more of your targets in a single Availability Zone are unhealthy, Elastic Load Balancing will route traffic to healthy targets in other Availability Zones. After the targets return to a healthy state, load balancing will automatically resume traffic to them. </a:t>
            </a:r>
            <a:endParaRPr lang="en-US" i="1" kern="1200">
              <a:solidFill>
                <a:schemeClr val="tx1"/>
              </a:solidFill>
              <a:effectLst/>
              <a:ea typeface="+mn-ea"/>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1" kern="1200">
                <a:solidFill>
                  <a:schemeClr val="tx1"/>
                </a:solidFill>
                <a:effectLst/>
                <a:ea typeface="+mn-ea"/>
              </a:rPr>
              <a:t>Automatically load balance your containerized applications</a:t>
            </a:r>
            <a:r>
              <a:rPr lang="en-US" i="0" kern="1200" baseline="0">
                <a:solidFill>
                  <a:schemeClr val="tx1"/>
                </a:solidFill>
                <a:effectLst/>
                <a:ea typeface="+mn-ea"/>
              </a:rPr>
              <a:t> –</a:t>
            </a:r>
            <a:r>
              <a:rPr lang="en-US" kern="1200">
                <a:solidFill>
                  <a:schemeClr val="tx1"/>
                </a:solidFill>
                <a:effectLst/>
                <a:ea typeface="+mn-ea"/>
              </a:rPr>
              <a:t> </a:t>
            </a:r>
            <a:r>
              <a:rPr lang="en-US"/>
              <a:t>With enhanced container support for Elastic Load Balancing, you can now load balance across multiple ports on the same EC2 instance. You can also take advantage of deep integration with Amazon Elastic Container Service (Amazon</a:t>
            </a:r>
            <a:r>
              <a:rPr lang="en-US" baseline="0"/>
              <a:t> </a:t>
            </a:r>
            <a:r>
              <a:rPr lang="en-US"/>
              <a:t>ECS), which provides a fully-managed container offering. You only need to register a service with a load balancer, and Amazon ECS transparently manages the registration and de-registration of Docker containers. The load balancer automatically detects the port and dynamically reconfigures itself.</a:t>
            </a:r>
          </a:p>
          <a:p>
            <a:pPr marL="171450" indent="-171450">
              <a:buFont typeface="Arial" panose="020B0604020202020204" pitchFamily="34" charset="0"/>
              <a:buChar char="•"/>
            </a:pPr>
            <a:r>
              <a:rPr lang="en-US" i="1"/>
              <a:t>Automatically scale your applications</a:t>
            </a:r>
            <a:r>
              <a:rPr lang="en-US" i="0" baseline="0"/>
              <a:t> – </a:t>
            </a:r>
            <a:r>
              <a:rPr lang="en-US"/>
              <a:t>Elastic Load Balancing</a:t>
            </a:r>
            <a:r>
              <a:rPr lang="en-US" baseline="0"/>
              <a:t> works with Amazon CloudWatch and Amazon EC2 Auto Scaling to help you scale </a:t>
            </a:r>
            <a:r>
              <a:rPr lang="en-US"/>
              <a:t>your applications to the demands of your customers. Amazon</a:t>
            </a:r>
            <a:r>
              <a:rPr lang="en-US" baseline="0"/>
              <a:t> </a:t>
            </a:r>
            <a:r>
              <a:rPr lang="en-US"/>
              <a:t>CloudWatch alarms can trigger auto scaling for your EC2 instance fleet when the</a:t>
            </a:r>
            <a:r>
              <a:rPr lang="en-US" baseline="0"/>
              <a:t> </a:t>
            </a:r>
            <a:r>
              <a:rPr lang="en-US"/>
              <a:t>latency of any one of your EC2 instances exceeds a preconfigured threshold. Amazon EC2 Auto Scaling then</a:t>
            </a:r>
            <a:r>
              <a:rPr lang="en-US" baseline="0"/>
              <a:t> </a:t>
            </a:r>
            <a:r>
              <a:rPr lang="en-US"/>
              <a:t>provisions new instances and your applications will be ready to serve the next customer request. The load balancer will register the EC2 instance and direct traffic to it as needed.  </a:t>
            </a:r>
            <a:endParaRPr lang="en-US" kern="1200">
              <a:solidFill>
                <a:schemeClr val="tx1"/>
              </a:solidFill>
              <a:effectLst/>
              <a:ea typeface="+mn-ea"/>
            </a:endParaRPr>
          </a:p>
          <a:p>
            <a:pPr marL="171450" indent="-171450">
              <a:buFont typeface="Arial" panose="020B0604020202020204" pitchFamily="34" charset="0"/>
              <a:buChar char="•"/>
            </a:pPr>
            <a:r>
              <a:rPr lang="en-US" i="1" kern="1200">
                <a:solidFill>
                  <a:schemeClr val="tx1"/>
                </a:solidFill>
                <a:effectLst/>
                <a:ea typeface="+mn-ea"/>
              </a:rPr>
              <a:t>Use Elastic Load Balancing in your virtual private cloud (VPC)</a:t>
            </a:r>
            <a:r>
              <a:rPr lang="en-US" i="0" kern="1200" baseline="0">
                <a:solidFill>
                  <a:schemeClr val="tx1"/>
                </a:solidFill>
                <a:effectLst/>
                <a:ea typeface="+mn-ea"/>
              </a:rPr>
              <a:t> – </a:t>
            </a:r>
            <a:r>
              <a:rPr lang="en-US" kern="1200">
                <a:solidFill>
                  <a:schemeClr val="tx1"/>
                </a:solidFill>
                <a:effectLst/>
                <a:ea typeface="+mn-ea"/>
              </a:rPr>
              <a:t>You can use </a:t>
            </a:r>
            <a:r>
              <a:rPr lang="en-US"/>
              <a:t>Elastic Load Balancing to create a public entry point into your VPC, or to route request traffic between tiers of your application within your VPC. You can assign security groups to your load balancer to control which ports are open to a list of allowed sources. Because Elastic Load Balancing works with your VPC, all your existing network access control lists (network ACLs) and routing tables continue to provide additional network controls. When you create a load balancer in your VPC, you can specify whether the load balancer is public (default) or internal. If you select internal, you do not need to have an internet gateway to reach the load balancer, and the private IP addresses of the load balancer will be used in the load balancer’s Domain Name System (DNS) record.</a:t>
            </a:r>
            <a:endParaRPr lang="en-US" i="1" kern="1200">
              <a:solidFill>
                <a:schemeClr val="tx1"/>
              </a:solidFill>
              <a:effectLst/>
              <a:ea typeface="+mn-ea"/>
            </a:endParaRPr>
          </a:p>
          <a:p>
            <a:pPr marL="171450" indent="-171450">
              <a:buFont typeface="Arial" panose="020B0604020202020204" pitchFamily="34" charset="0"/>
              <a:buChar char="•"/>
            </a:pPr>
            <a:r>
              <a:rPr lang="en-US" i="1" kern="1200">
                <a:solidFill>
                  <a:schemeClr val="tx1"/>
                </a:solidFill>
                <a:effectLst/>
                <a:ea typeface="+mn-ea"/>
              </a:rPr>
              <a:t>Enable</a:t>
            </a:r>
            <a:r>
              <a:rPr lang="en-US" i="1" kern="1200" baseline="0">
                <a:solidFill>
                  <a:schemeClr val="tx1"/>
                </a:solidFill>
                <a:effectLst/>
                <a:ea typeface="+mn-ea"/>
              </a:rPr>
              <a:t> h</a:t>
            </a:r>
            <a:r>
              <a:rPr lang="en-US" i="1" kern="1200">
                <a:solidFill>
                  <a:schemeClr val="tx1"/>
                </a:solidFill>
                <a:effectLst/>
                <a:ea typeface="+mn-ea"/>
              </a:rPr>
              <a:t>ybrid load balancing</a:t>
            </a:r>
            <a:r>
              <a:rPr lang="en-US" i="0" kern="1200" baseline="0">
                <a:solidFill>
                  <a:schemeClr val="tx1"/>
                </a:solidFill>
                <a:effectLst/>
                <a:ea typeface="+mn-ea"/>
              </a:rPr>
              <a:t> –</a:t>
            </a:r>
            <a:r>
              <a:rPr lang="en-US" kern="1200">
                <a:solidFill>
                  <a:schemeClr val="tx1"/>
                </a:solidFill>
                <a:effectLst/>
                <a:ea typeface="+mn-ea"/>
              </a:rPr>
              <a:t> </a:t>
            </a:r>
            <a:r>
              <a:rPr lang="en-US"/>
              <a:t>Elastic Load Balancing enables you to load balance across AWS and on-premises resources by using the same load balancer. For example, if you must distribute application traffic across both AWS and on-premises resources, you can register all the resources to the same target group and associate the target group with a load balancer. Alternatively, you can use DNS-based weighted load balancing across AWS and on-premises resources</a:t>
            </a:r>
            <a:r>
              <a:rPr lang="en-US" baseline="0"/>
              <a:t> by</a:t>
            </a:r>
            <a:r>
              <a:rPr lang="en-US"/>
              <a:t> using two load balancers, with one load balancer for AWS and other load balancer for on-premises resources. You can also use hybrid load balancing to benefit separate applications where one application is in a VPC and the other application is in an on-premises location. Put the VPC targets in one target group and the on-premises targets in another target group, and then use content-based routing to route traffic to each target group.</a:t>
            </a:r>
          </a:p>
          <a:p>
            <a:pPr marL="171450" indent="-171450">
              <a:buFont typeface="Arial" panose="020B0604020202020204" pitchFamily="34" charset="0"/>
              <a:buChar char="•"/>
            </a:pPr>
            <a:r>
              <a:rPr lang="en-US" i="1"/>
              <a:t>Invoking Lambda functions over HTTP(S)</a:t>
            </a:r>
            <a:r>
              <a:rPr lang="en-US" i="0" baseline="0"/>
              <a:t> –</a:t>
            </a:r>
            <a:r>
              <a:rPr lang="en-US"/>
              <a:t> Elastic Load Balancing supports invoking Lambda functions to serve HTTP(S) requests. This enables users to access serverless applications from any HTTP client, including web browsers. You can register Lambda functions as targets and use the support for content-based routing rules in Application Load Balancers to route requests to different Lambda functions. You can use an Application Load Balancer as a common HTTP endpoint for applications that use servers and serverless computing. You can build an entire website by using Lambda functions, or combine EC2 instances, containers, on-premises servers, and Lambda functions to build applications.</a:t>
            </a:r>
          </a:p>
        </p:txBody>
      </p:sp>
    </p:spTree>
    <p:extLst>
      <p:ext uri="{BB962C8B-B14F-4D97-AF65-F5344CB8AC3E}">
        <p14:creationId xmlns:p14="http://schemas.microsoft.com/office/powerpoint/2010/main" val="200848457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You can use the following features to monitor your load balancers, analyze traffic patterns, and troubleshoot issues with your load balancers and targets:</a:t>
            </a:r>
          </a:p>
          <a:p>
            <a:pPr marL="171450" indent="-171450">
              <a:buFont typeface="Arial" panose="020B0604020202020204" pitchFamily="34" charset="0"/>
              <a:buChar char="•"/>
            </a:pPr>
            <a:r>
              <a:rPr lang="en-US" i="1"/>
              <a:t>Amazon CloudWatch metrics</a:t>
            </a:r>
            <a:r>
              <a:rPr lang="en-US" i="0" baseline="0"/>
              <a:t> –</a:t>
            </a:r>
            <a:r>
              <a:rPr lang="en-US"/>
              <a:t> Elastic Load Balancing publishes data points to </a:t>
            </a:r>
            <a:r>
              <a:rPr lang="en-US" i="0"/>
              <a:t>Amazon CloudWatch </a:t>
            </a:r>
            <a:r>
              <a:rPr lang="en-US"/>
              <a:t>for your load balancers and your targets. CloudWatch enables you to retrieve statistics about those data points as an ordered set of time</a:t>
            </a:r>
            <a:r>
              <a:rPr lang="en-US" baseline="0"/>
              <a:t> </a:t>
            </a:r>
            <a:r>
              <a:rPr lang="en-US"/>
              <a:t>series data, known as </a:t>
            </a:r>
            <a:r>
              <a:rPr lang="en-US" i="0"/>
              <a:t>metrics</a:t>
            </a:r>
            <a:r>
              <a:rPr lang="en-US"/>
              <a:t>. You can use metrics to verify that your system is performing as expected. For example, you can create a CloudWatch alarm to monitor a specified metric and initiate an action (such as sending a notification to an email address) if the metric goes outside what you consider an acceptable range. </a:t>
            </a:r>
          </a:p>
          <a:p>
            <a:pPr marL="171450" indent="-171450">
              <a:buFont typeface="Arial" panose="020B0604020202020204" pitchFamily="34" charset="0"/>
              <a:buChar char="•"/>
            </a:pPr>
            <a:r>
              <a:rPr lang="en-US" i="1"/>
              <a:t>Access logs</a:t>
            </a:r>
            <a:r>
              <a:rPr lang="en-US" i="0" baseline="0"/>
              <a:t> –</a:t>
            </a:r>
            <a:r>
              <a:rPr lang="en-US"/>
              <a:t> You can use </a:t>
            </a:r>
            <a:r>
              <a:rPr lang="en-US" i="0"/>
              <a:t>access logs </a:t>
            </a:r>
            <a:r>
              <a:rPr lang="en-US"/>
              <a:t>to capture detailed information about the requests that were made to your load balancer and store them as log files in Amazon Simple Storage Service (Amazon S3). You can use these access logs to analyze traffic patterns and to troubleshoot issues with your targets or backend applications.</a:t>
            </a:r>
          </a:p>
          <a:p>
            <a:pPr marL="171450" indent="-171450">
              <a:buFont typeface="Arial" panose="020B0604020202020204" pitchFamily="34" charset="0"/>
              <a:buChar char="•"/>
            </a:pPr>
            <a:r>
              <a:rPr lang="en-US" i="1"/>
              <a:t>AWS CloudTrail logs</a:t>
            </a:r>
            <a:r>
              <a:rPr lang="en-US" i="0"/>
              <a:t> – </a:t>
            </a:r>
            <a:r>
              <a:rPr lang="en-US"/>
              <a:t>You can use </a:t>
            </a:r>
            <a:r>
              <a:rPr lang="en-US" i="0"/>
              <a:t>AWS CloudTrail </a:t>
            </a:r>
            <a:r>
              <a:rPr lang="en-US"/>
              <a:t>to capture detailed information about the calls that</a:t>
            </a:r>
            <a:r>
              <a:rPr lang="en-US" baseline="0"/>
              <a:t> were </a:t>
            </a:r>
            <a:r>
              <a:rPr lang="en-US"/>
              <a:t>made to the Elastic Load Balancing application programming interface (API) and store them as log files in Amazon S3. You can use these CloudTrail logs to determine who made the call, what calls were made, when the call was made, the source IP address of where the call came from, and so on. </a:t>
            </a:r>
          </a:p>
        </p:txBody>
      </p:sp>
    </p:spTree>
    <p:extLst>
      <p:ext uri="{BB962C8B-B14F-4D97-AF65-F5344CB8AC3E}">
        <p14:creationId xmlns:p14="http://schemas.microsoft.com/office/powerpoint/2010/main" val="8268321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mn-lt"/>
              </a:rPr>
              <a:t>Some key</a:t>
            </a:r>
            <a:r>
              <a:rPr lang="en-US" baseline="0">
                <a:latin typeface="+mn-lt"/>
              </a:rPr>
              <a:t> takeaways from this section of the module include:</a:t>
            </a:r>
            <a:endParaRPr lang="en-US">
              <a:solidFill>
                <a:srgbClr val="000000"/>
              </a:solidFill>
              <a:latin typeface="+mn-lt"/>
              <a:ea typeface="Amazon Ember" panose="02000000000000000000" pitchFamily="2" charset="0"/>
              <a:cs typeface="Amazon Ember Light" panose="020B0403020204020204" pitchFamily="34" charset="0"/>
            </a:endParaRPr>
          </a:p>
          <a:p>
            <a:pPr marL="171450" indent="-171450">
              <a:buFont typeface="Arial" panose="020B0604020202020204" pitchFamily="34" charset="0"/>
              <a:buChar char="•"/>
            </a:pPr>
            <a:r>
              <a:rPr lang="en-US"/>
              <a:t>Elastic Load Balancing distributes incoming application or network traffic across multiple targets</a:t>
            </a:r>
            <a:r>
              <a:rPr lang="en-US" baseline="0"/>
              <a:t> (</a:t>
            </a:r>
            <a:r>
              <a:rPr lang="en-US"/>
              <a:t>such as Amazon EC2 instances, containers, IP addresses, and Lambda functions) in one or more Availability Zones.</a:t>
            </a:r>
          </a:p>
          <a:p>
            <a:pPr marL="171450" indent="-171450">
              <a:buFont typeface="Arial" panose="020B0604020202020204" pitchFamily="34" charset="0"/>
              <a:buChar char="•"/>
            </a:pPr>
            <a:r>
              <a:rPr lang="en-US"/>
              <a:t>Elastic Load Balancing supports three types of load balancers: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Application Load Balancer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Network Load Balancer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Classic Load Balancer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Elastic Load Balancing offers several monitoring tools for continuous monitoring and logging for auditing and analytics.</a:t>
            </a:r>
          </a:p>
        </p:txBody>
      </p:sp>
    </p:spTree>
    <p:extLst>
      <p:ext uri="{BB962C8B-B14F-4D97-AF65-F5344CB8AC3E}">
        <p14:creationId xmlns:p14="http://schemas.microsoft.com/office/powerpoint/2010/main" val="17529914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Section 2: Amazon CloudWatch</a:t>
            </a:r>
          </a:p>
        </p:txBody>
      </p:sp>
    </p:spTree>
    <p:extLst>
      <p:ext uri="{BB962C8B-B14F-4D97-AF65-F5344CB8AC3E}">
        <p14:creationId xmlns:p14="http://schemas.microsoft.com/office/powerpoint/2010/main" val="189253443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To use AWS efficiently, you need insight into your AWS resources. </a:t>
            </a:r>
          </a:p>
          <a:p>
            <a:endParaRPr lang="en-US"/>
          </a:p>
          <a:p>
            <a:r>
              <a:rPr lang="en-US"/>
              <a:t>For example, you might want to know:</a:t>
            </a:r>
          </a:p>
          <a:p>
            <a:pPr marL="171450" indent="-171450">
              <a:buFont typeface="Arial" panose="020B0604020202020204" pitchFamily="34" charset="0"/>
              <a:buChar char="•"/>
            </a:pPr>
            <a:r>
              <a:rPr lang="en-US"/>
              <a:t>When you should launch more Amazon EC2 instances?</a:t>
            </a:r>
          </a:p>
          <a:p>
            <a:pPr marL="171450" indent="-171450">
              <a:buFont typeface="Arial" panose="020B0604020202020204" pitchFamily="34" charset="0"/>
              <a:buChar char="•"/>
            </a:pPr>
            <a:r>
              <a:rPr lang="en-US"/>
              <a:t>If your application’s performance or availability is being affected by a lack of sufficient capacity?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How much of your infrastructure is actually being used?</a:t>
            </a:r>
          </a:p>
          <a:p>
            <a:pPr marL="171450" indent="-171450">
              <a:buFont typeface="Arial" panose="020B0604020202020204" pitchFamily="34" charset="0"/>
              <a:buChar char="•"/>
            </a:pPr>
            <a:endParaRPr lang="en-US"/>
          </a:p>
          <a:p>
            <a:r>
              <a:rPr lang="en-US"/>
              <a:t>How do you capture this information?</a:t>
            </a:r>
            <a:endParaRPr lang="en-US" b="0" i="0" kern="1200">
              <a:solidFill>
                <a:schemeClr val="tx1"/>
              </a:solidFill>
              <a:effectLst/>
            </a:endParaRPr>
          </a:p>
        </p:txBody>
      </p:sp>
    </p:spTree>
    <p:extLst>
      <p:ext uri="{BB962C8B-B14F-4D97-AF65-F5344CB8AC3E}">
        <p14:creationId xmlns:p14="http://schemas.microsoft.com/office/powerpoint/2010/main" val="53320285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458506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a:solidFill>
                  <a:schemeClr val="tx1"/>
                </a:solidFill>
                <a:effectLst/>
                <a:latin typeface="+mn-lt"/>
                <a:ea typeface="+mn-ea"/>
                <a:cs typeface="+mn-cs"/>
              </a:rPr>
              <a:t>You can capture this information with Amazon CloudWatch.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kern="1200">
              <a:solidFill>
                <a:schemeClr val="tx1"/>
              </a:solidFill>
              <a:effectLst/>
              <a:latin typeface="+mn-lt"/>
              <a:ea typeface="+mn-ea"/>
              <a:cs typeface="+mn-cs"/>
            </a:endParaRPr>
          </a:p>
          <a:p>
            <a:r>
              <a:rPr lang="en-US"/>
              <a:t>Amazon CloudWatch is a monitoring and observability service that is built for DevOps engineers, developers, site reliability engineers (SRE), and IT managers. CloudWatch monitors your AWS resources (and the </a:t>
            </a:r>
            <a:r>
              <a:rPr lang="en-US">
                <a:solidFill>
                  <a:srgbClr val="000000"/>
                </a:solidFill>
              </a:rPr>
              <a:t>applications</a:t>
            </a:r>
            <a:r>
              <a:rPr lang="en-US"/>
              <a:t> that you run on AWS) in real time. You can use CloudWatch to collect and track metrics, which are variables that you can measure for your resources and </a:t>
            </a:r>
            <a:r>
              <a:rPr lang="en-US">
                <a:solidFill>
                  <a:srgbClr val="000000"/>
                </a:solidFill>
              </a:rPr>
              <a:t>applications</a:t>
            </a:r>
            <a:r>
              <a:rPr lang="en-US"/>
              <a:t>. </a:t>
            </a:r>
          </a:p>
          <a:p>
            <a:endParaRPr lang="en-US"/>
          </a:p>
          <a:p>
            <a:r>
              <a:rPr lang="en-US"/>
              <a:t>You can create an alarm to monitor any Amazon CloudWatch metric in your account and use the alarm to automatically send a notification to an Amazon Simple Notification Service (Amazon SNS) topic or perform an Amazon EC2 Auto Scaling or Amazon</a:t>
            </a:r>
            <a:r>
              <a:rPr lang="en-US" baseline="0"/>
              <a:t> </a:t>
            </a:r>
            <a:r>
              <a:rPr lang="en-US"/>
              <a:t>EC2 action. For example, you can create alarms on the CPU utilization of an EC2 instance, Elastic Load Balancing request latency, Amazon DynamoDB table throughput, Amazon Simple Queue Service (Amazon SQS) queue length, or even the charges on your AWS bill. You can also create an alarm on custom metrics that are specific to your custom applications or infrastructure.</a:t>
            </a:r>
          </a:p>
          <a:p>
            <a:endParaRPr lang="en-US"/>
          </a:p>
          <a:p>
            <a:r>
              <a:rPr lang="en-US"/>
              <a:t>You can also use Amazon CloudWatch Events to define rules that match incoming events (or changes in your AWS environment) and route them to targets for processing. Targets can include Amazon EC2 instances, AWS Lambda functions, Kinesis streams, Amazon ECS tasks, Step Functions state machines, Amazon SNS topics, Amazon SQS queues, and built-in targets. CloudWatch Events becomes aware of operational changes as they occur. CloudWatch Events responds to these operational changes and takes corrective action as necessary, by sending messages to respond to the environment, activating functions, making changes, and capturing state information. </a:t>
            </a:r>
          </a:p>
          <a:p>
            <a:endParaRPr lang="en-US"/>
          </a:p>
          <a:p>
            <a:r>
              <a:rPr lang="en-US"/>
              <a:t>With CloudWatch, you gain system-wide visibility into resource utilization, </a:t>
            </a:r>
            <a:r>
              <a:rPr lang="en-US">
                <a:solidFill>
                  <a:srgbClr val="000000"/>
                </a:solidFill>
              </a:rPr>
              <a:t>application</a:t>
            </a:r>
            <a:r>
              <a:rPr lang="en-US"/>
              <a:t> performance, and operational health. There is no upfront commitment or minimum fee; you </a:t>
            </a:r>
            <a:r>
              <a:rPr lang="en-US">
                <a:solidFill>
                  <a:srgbClr val="000000"/>
                </a:solidFill>
              </a:rPr>
              <a:t>simply</a:t>
            </a:r>
            <a:r>
              <a:rPr lang="en-US"/>
              <a:t> pay for what you use. You </a:t>
            </a:r>
            <a:r>
              <a:rPr lang="en-US">
                <a:solidFill>
                  <a:srgbClr val="000000"/>
                </a:solidFill>
              </a:rPr>
              <a:t>are charged</a:t>
            </a:r>
            <a:r>
              <a:rPr lang="en-US"/>
              <a:t> at the end of the month for what you use.</a:t>
            </a:r>
          </a:p>
        </p:txBody>
      </p:sp>
    </p:spTree>
    <p:extLst>
      <p:ext uri="{BB962C8B-B14F-4D97-AF65-F5344CB8AC3E}">
        <p14:creationId xmlns:p14="http://schemas.microsoft.com/office/powerpoint/2010/main" val="388516448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4532312"/>
          </a:xfrm>
          <a:prstGeom prst="rect">
            <a:avLst/>
          </a:prstGeom>
        </p:spPr>
        <p:txBody>
          <a:bodyPr/>
          <a:lstStyle/>
          <a:p>
            <a:r>
              <a:rPr lang="en-US"/>
              <a:t>You can create a CloudWatch alarm that watches a single CloudWatch metric or the result of a math expression based on CloudWatch metrics. You can create a CloudWatch alarm based on a static threshold, anomaly detection, or a metric math expression.</a:t>
            </a:r>
          </a:p>
          <a:p>
            <a:endParaRPr lang="en-US"/>
          </a:p>
          <a:p>
            <a:r>
              <a:rPr lang="en-US"/>
              <a:t>When you create an alarm based on a static threshold, you choose a CloudWatch metric for the alarm to watch and the threshold for that metric. The alarm goes to ALARM state when the metric breaches the threshold for a specified number of evaluation periods. </a:t>
            </a:r>
          </a:p>
          <a:p>
            <a:endParaRPr lang="en-US"/>
          </a:p>
          <a:p>
            <a:r>
              <a:rPr lang="en-US"/>
              <a:t>For an alarm based on a static threshold, you must specify the:</a:t>
            </a:r>
          </a:p>
          <a:p>
            <a:pPr marL="171450" indent="-171450">
              <a:buFont typeface="Arial" panose="020B0604020202020204" pitchFamily="34" charset="0"/>
              <a:buChar char="•"/>
            </a:pPr>
            <a:r>
              <a:rPr lang="en-US" i="1"/>
              <a:t>Namespace</a:t>
            </a:r>
            <a:r>
              <a:rPr lang="en-US" i="0" baseline="0"/>
              <a:t> –</a:t>
            </a:r>
            <a:r>
              <a:rPr lang="en-US"/>
              <a:t> A namespace contains the CloudWatch metric that you want, for example, </a:t>
            </a:r>
            <a:r>
              <a:rPr lang="en-US" i="1"/>
              <a:t>AWS/EC2</a:t>
            </a:r>
            <a:r>
              <a:rPr lang="en-US"/>
              <a:t>.</a:t>
            </a:r>
          </a:p>
          <a:p>
            <a:pPr marL="171450" indent="-171450">
              <a:buFont typeface="Arial" panose="020B0604020202020204" pitchFamily="34" charset="0"/>
              <a:buChar char="•"/>
            </a:pPr>
            <a:r>
              <a:rPr lang="en-US" i="1"/>
              <a:t>Metric</a:t>
            </a:r>
            <a:r>
              <a:rPr lang="en-US" i="0" baseline="0"/>
              <a:t> –</a:t>
            </a:r>
            <a:r>
              <a:rPr lang="en-US"/>
              <a:t> A metric is the variable you want to measure, for example, </a:t>
            </a:r>
            <a:r>
              <a:rPr lang="en-US" i="1"/>
              <a:t>CPU Utilization</a:t>
            </a:r>
            <a:r>
              <a:rPr lang="en-US"/>
              <a:t>.</a:t>
            </a:r>
          </a:p>
          <a:p>
            <a:pPr marL="171450" indent="-171450">
              <a:buFont typeface="Arial" panose="020B0604020202020204" pitchFamily="34" charset="0"/>
              <a:buChar char="•"/>
            </a:pPr>
            <a:r>
              <a:rPr lang="en-US" i="1"/>
              <a:t>Statistic</a:t>
            </a:r>
            <a:r>
              <a:rPr lang="en-US" i="0" baseline="0"/>
              <a:t> – </a:t>
            </a:r>
            <a:r>
              <a:rPr lang="en-US"/>
              <a:t>A statistic can be an average, sum, minimum, maximum, sample count, a predefined percentile, or a custom percentile.</a:t>
            </a:r>
          </a:p>
          <a:p>
            <a:pPr marL="171450" indent="-171450">
              <a:buFont typeface="Arial" panose="020B0604020202020204" pitchFamily="34" charset="0"/>
              <a:buChar char="•"/>
            </a:pPr>
            <a:r>
              <a:rPr lang="en-US" i="1"/>
              <a:t>Period</a:t>
            </a:r>
            <a:r>
              <a:rPr lang="en-US" i="0" baseline="0"/>
              <a:t> –</a:t>
            </a:r>
            <a:r>
              <a:rPr lang="en-US"/>
              <a:t> A period is the evaluation period for the alarm. When the alarm is evaluated, each period is aggregated into one data point.</a:t>
            </a:r>
          </a:p>
          <a:p>
            <a:pPr marL="171450" indent="-171450">
              <a:buFont typeface="Arial" panose="020B0604020202020204" pitchFamily="34" charset="0"/>
              <a:buChar char="•"/>
            </a:pPr>
            <a:r>
              <a:rPr lang="en-US" i="1"/>
              <a:t>Conditions</a:t>
            </a:r>
            <a:r>
              <a:rPr lang="en-US" i="0" baseline="0"/>
              <a:t> –</a:t>
            </a:r>
            <a:r>
              <a:rPr lang="en-US"/>
              <a:t> When you specify the conditions for a static threshold, you specify whenever the metric is </a:t>
            </a:r>
            <a:r>
              <a:rPr lang="en-US" i="1"/>
              <a:t>Greater</a:t>
            </a:r>
            <a:r>
              <a:rPr lang="en-US"/>
              <a:t>, </a:t>
            </a:r>
            <a:r>
              <a:rPr lang="en-US" i="1"/>
              <a:t>Greater or Equal</a:t>
            </a:r>
            <a:r>
              <a:rPr lang="en-US"/>
              <a:t>, </a:t>
            </a:r>
            <a:r>
              <a:rPr lang="en-US" i="1"/>
              <a:t>Lower or Equal</a:t>
            </a:r>
            <a:r>
              <a:rPr lang="en-US"/>
              <a:t>, or </a:t>
            </a:r>
            <a:r>
              <a:rPr lang="en-US" i="1"/>
              <a:t>Lower</a:t>
            </a:r>
            <a:r>
              <a:rPr lang="en-US" i="0"/>
              <a:t> than the threshold value, and you also specify the threshold value.</a:t>
            </a:r>
          </a:p>
          <a:p>
            <a:pPr marL="171450" indent="-171450">
              <a:buFont typeface="Arial" panose="020B0604020202020204" pitchFamily="34" charset="0"/>
              <a:buChar char="•"/>
            </a:pPr>
            <a:r>
              <a:rPr lang="en-US" i="1"/>
              <a:t>Additional configuration information</a:t>
            </a:r>
            <a:r>
              <a:rPr lang="en-US" i="1" baseline="0"/>
              <a:t> – </a:t>
            </a:r>
            <a:r>
              <a:rPr lang="en-US"/>
              <a:t>This includes the number of data points within the evaluation period that must be breached to trigger the alarm, and how CloudWatch should treat missing data when it evaluates the alarm.</a:t>
            </a:r>
          </a:p>
          <a:p>
            <a:pPr marL="171450" indent="-171450">
              <a:buFont typeface="Arial" panose="020B0604020202020204" pitchFamily="34" charset="0"/>
              <a:buChar char="•"/>
            </a:pPr>
            <a:r>
              <a:rPr lang="en-US" i="1"/>
              <a:t>Actions</a:t>
            </a:r>
            <a:r>
              <a:rPr lang="en-US" i="0" baseline="0"/>
              <a:t> –</a:t>
            </a:r>
            <a:r>
              <a:rPr lang="en-US"/>
              <a:t> You can choose to send a notification to an Amazon SNS topic, or to perform an Amazon EC2 Auto Scaling action or Amazon EC2 action.</a:t>
            </a:r>
          </a:p>
          <a:p>
            <a:pPr marL="0" indent="0">
              <a:buFont typeface="Arial" panose="020B0604020202020204" pitchFamily="34" charset="0"/>
              <a:buNone/>
            </a:pPr>
            <a:endParaRPr lang="en-US"/>
          </a:p>
          <a:p>
            <a:pPr lvl="0">
              <a:defRPr/>
            </a:pPr>
            <a:r>
              <a:rPr lang="en-US"/>
              <a:t>For more information on creating CloudWatch alarms, see the topics under Using Alarms in the AWS Documentation at </a:t>
            </a:r>
            <a:r>
              <a:rPr lang="en-US">
                <a:hlinkClick r:id="rId3"/>
              </a:rPr>
              <a:t>https://docs.aws.amazon.com/AmazonCloudWatch/latest/monitoring/AlarmThatSendsEmail.html</a:t>
            </a:r>
            <a:r>
              <a:rPr lang="en-US"/>
              <a:t>.</a:t>
            </a:r>
          </a:p>
        </p:txBody>
      </p:sp>
    </p:spTree>
    <p:extLst>
      <p:ext uri="{BB962C8B-B14F-4D97-AF65-F5344CB8AC3E}">
        <p14:creationId xmlns:p14="http://schemas.microsoft.com/office/powerpoint/2010/main" val="379161833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mn-lt"/>
              </a:rPr>
              <a:t>Some key</a:t>
            </a:r>
            <a:r>
              <a:rPr lang="en-US" baseline="0">
                <a:latin typeface="+mn-lt"/>
              </a:rPr>
              <a:t> takeaways from this section of the module include:</a:t>
            </a:r>
            <a:endParaRPr lang="en-US">
              <a:solidFill>
                <a:srgbClr val="000000"/>
              </a:solidFill>
              <a:latin typeface="+mn-lt"/>
              <a:ea typeface="Amazon Ember" panose="02000000000000000000" pitchFamily="2" charset="0"/>
              <a:cs typeface="Amazon Ember Light" panose="020B0403020204020204" pitchFamily="34" charset="0"/>
            </a:endParaRPr>
          </a:p>
          <a:p>
            <a:pPr marL="171450" indent="-171450">
              <a:buFont typeface="Arial" panose="020B0604020202020204" pitchFamily="34" charset="0"/>
              <a:buChar char="•"/>
            </a:pPr>
            <a:r>
              <a:rPr lang="en-US"/>
              <a:t>Amazon CloudWatch helps you monitor your AWS resources—and the applications that you run on AWS—in real time.</a:t>
            </a:r>
          </a:p>
          <a:p>
            <a:pPr marL="171450" indent="-171450">
              <a:buFont typeface="Arial" panose="020B0604020202020204" pitchFamily="34" charset="0"/>
              <a:buChar char="•"/>
            </a:pPr>
            <a:r>
              <a:rPr lang="en-US"/>
              <a:t>CloudWatch enables you</a:t>
            </a:r>
            <a:r>
              <a:rPr lang="en-US" baseline="0"/>
              <a:t> to – </a:t>
            </a:r>
            <a:endParaRPr lang="en-US"/>
          </a:p>
          <a:p>
            <a:pPr marL="628650" lvl="1" indent="-171450">
              <a:buFont typeface="Arial" panose="020B0604020202020204" pitchFamily="34" charset="0"/>
              <a:buChar char="•"/>
            </a:pPr>
            <a:r>
              <a:rPr lang="en-US"/>
              <a:t>Collect and track standard and custom metrics.</a:t>
            </a:r>
          </a:p>
          <a:p>
            <a:pPr marL="628650" lvl="1" indent="-171450">
              <a:buFont typeface="Arial" panose="020B0604020202020204" pitchFamily="34" charset="0"/>
              <a:buChar char="•"/>
            </a:pPr>
            <a:r>
              <a:rPr lang="en-US"/>
              <a:t>Set alarms to automatically send notifications to SNS topics or perform Amazon EC2 Auto Scaling or Amazon EC2 actions based on the value of the metric or expression relative to a threshold over a number of time periods.</a:t>
            </a:r>
          </a:p>
          <a:p>
            <a:pPr marL="628650" lvl="1" indent="-171450">
              <a:buFont typeface="Arial" panose="020B0604020202020204" pitchFamily="34" charset="0"/>
              <a:buChar char="•"/>
            </a:pPr>
            <a:r>
              <a:rPr lang="en-US"/>
              <a:t>Define rules that match changes in your AWS environment and route these events to targets for processing.</a:t>
            </a:r>
          </a:p>
        </p:txBody>
      </p:sp>
    </p:spTree>
    <p:extLst>
      <p:ext uri="{BB962C8B-B14F-4D97-AF65-F5344CB8AC3E}">
        <p14:creationId xmlns:p14="http://schemas.microsoft.com/office/powerpoint/2010/main" val="190995761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Section 3: Amazon EC2 Auto Scaling</a:t>
            </a:r>
          </a:p>
          <a:p>
            <a:endParaRPr lang="en-US"/>
          </a:p>
          <a:p>
            <a:r>
              <a:rPr lang="en-US" kern="1200">
                <a:solidFill>
                  <a:schemeClr val="tx1"/>
                </a:solidFill>
                <a:effectLst/>
                <a:latin typeface="+mn-lt"/>
                <a:ea typeface="+mn-ea"/>
                <a:cs typeface="+mn-cs"/>
              </a:rPr>
              <a:t>When you run your applications on AWS, you want to ensure that your architecture can scale to handle changes in demand. In this section, you will learn how to automatically scale your EC2 instances with Amazon EC2 Auto Scaling.</a:t>
            </a:r>
            <a:endParaRPr lang="en-US"/>
          </a:p>
        </p:txBody>
      </p:sp>
    </p:spTree>
    <p:extLst>
      <p:ext uri="{BB962C8B-B14F-4D97-AF65-F5344CB8AC3E}">
        <p14:creationId xmlns:p14="http://schemas.microsoft.com/office/powerpoint/2010/main" val="418332083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a:lnSpc>
                <a:spcPct val="115000"/>
              </a:lnSpc>
              <a:spcAft>
                <a:spcPts val="964"/>
              </a:spcAft>
            </a:pPr>
            <a:r>
              <a:rPr lang="en-US" b="0">
                <a:latin typeface="+mn-lt"/>
                <a:cs typeface="Arial"/>
              </a:rPr>
              <a:t>Scaling is the ability to increase or decrease the compute capacity of your application. To understand why scaling is important, consider this example of a workload that has varying </a:t>
            </a:r>
            <a:r>
              <a:rPr lang="en-US" kern="1200">
                <a:solidFill>
                  <a:schemeClr val="tx1"/>
                </a:solidFill>
                <a:effectLst/>
                <a:latin typeface="+mn-lt"/>
                <a:ea typeface="+mn-ea"/>
                <a:cs typeface="+mn-cs"/>
              </a:rPr>
              <a:t>resource requirements. In this example, the most resource capacity is required on Wednesday, and the least resource capacity is required on Sunday. </a:t>
            </a:r>
          </a:p>
          <a:p>
            <a:pPr>
              <a:lnSpc>
                <a:spcPct val="115000"/>
              </a:lnSpc>
              <a:spcAft>
                <a:spcPts val="964"/>
              </a:spcAft>
            </a:pPr>
            <a:r>
              <a:rPr lang="en-US" kern="1200">
                <a:solidFill>
                  <a:schemeClr val="tx1"/>
                </a:solidFill>
                <a:effectLst/>
                <a:latin typeface="+mn-lt"/>
                <a:ea typeface="+mn-ea"/>
                <a:cs typeface="+mn-cs"/>
              </a:rPr>
              <a:t>One option is to allocate more than enough capacity so you</a:t>
            </a:r>
            <a:r>
              <a:rPr lang="en-US" kern="1200" baseline="0">
                <a:solidFill>
                  <a:schemeClr val="tx1"/>
                </a:solidFill>
                <a:effectLst/>
                <a:latin typeface="+mn-lt"/>
                <a:ea typeface="+mn-ea"/>
                <a:cs typeface="+mn-cs"/>
              </a:rPr>
              <a:t> can always </a:t>
            </a:r>
            <a:r>
              <a:rPr lang="en-US" kern="1200">
                <a:solidFill>
                  <a:schemeClr val="tx1"/>
                </a:solidFill>
                <a:effectLst/>
                <a:latin typeface="+mn-lt"/>
                <a:ea typeface="+mn-ea"/>
                <a:cs typeface="+mn-cs"/>
              </a:rPr>
              <a:t>meet your highest demand—in this case, Wednesday. However, this situation means that you are running resources that will be underutilized most days of the week. With this option, your costs are not optimized.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a:solidFill>
                  <a:schemeClr val="tx1"/>
                </a:solidFill>
                <a:effectLst/>
                <a:latin typeface="+mn-lt"/>
                <a:ea typeface="+mn-ea"/>
                <a:cs typeface="+mn-cs"/>
              </a:rPr>
              <a:t>Another option is to allocate less capacity to reduce costs. This situation means that you are under capacity on certain days. If you don't solve your capacity problem, your application could underperform or potentially even become unavailable for users. </a:t>
            </a:r>
            <a:endParaRPr lang="en-US" b="0">
              <a:latin typeface="+mn-lt"/>
              <a:cs typeface="Arial"/>
            </a:endParaRPr>
          </a:p>
        </p:txBody>
      </p:sp>
    </p:spTree>
    <p:extLst>
      <p:ext uri="{BB962C8B-B14F-4D97-AF65-F5344CB8AC3E}">
        <p14:creationId xmlns:p14="http://schemas.microsoft.com/office/powerpoint/2010/main" val="190673650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a:lnSpc>
                <a:spcPct val="115000"/>
              </a:lnSpc>
              <a:spcAft>
                <a:spcPts val="964"/>
              </a:spcAft>
            </a:pPr>
            <a:r>
              <a:rPr lang="en-US" b="0">
                <a:cs typeface="Arial"/>
              </a:rPr>
              <a:t>In the cloud, because computing power is a programmatic resource,</a:t>
            </a:r>
            <a:r>
              <a:rPr lang="en-US" b="0" baseline="0">
                <a:cs typeface="Arial"/>
              </a:rPr>
              <a:t> you can take a flexible approach to scaling. </a:t>
            </a:r>
            <a:r>
              <a:rPr lang="en-US"/>
              <a:t>Amazon EC2 Auto Scaling is an AWS service that helps you maintain application availability and enables you to automatically add or remove EC2 instances according to conditions you define. You can use the fleet management features of EC2 Auto Scaling to maintain the health and availability of your fleet. </a:t>
            </a:r>
          </a:p>
          <a:p>
            <a:pPr>
              <a:lnSpc>
                <a:spcPct val="115000"/>
              </a:lnSpc>
              <a:spcAft>
                <a:spcPts val="964"/>
              </a:spcAft>
            </a:pPr>
            <a:r>
              <a:rPr lang="en-US"/>
              <a:t>Amazon EC2 Auto Scaling provides several ways to adjust scaling to best meet the needs of your applications. You can add or remove EC2 instances manually, on a schedule, in response to changing demand, or in combination with AWS Auto Scaling for predictive scaling. Dynamic scaling and predictive scaling can be used together to scale faster. </a:t>
            </a:r>
          </a:p>
          <a:p>
            <a:pPr lvl="0">
              <a:lnSpc>
                <a:spcPct val="115000"/>
              </a:lnSpc>
              <a:spcAft>
                <a:spcPts val="964"/>
              </a:spcAft>
              <a:defRPr/>
            </a:pPr>
            <a:r>
              <a:rPr lang="en-US" b="0">
                <a:cs typeface="Arial"/>
              </a:rPr>
              <a:t>To learn more about Amazon EC2 Auto Scaling, see the </a:t>
            </a:r>
            <a:r>
              <a:rPr lang="en-US">
                <a:ea typeface="Amazon Ember Light" panose="020B0403020204020204" pitchFamily="34" charset="0"/>
                <a:cs typeface="Amazon Ember Light" panose="020B0403020204020204" pitchFamily="34" charset="0"/>
              </a:rPr>
              <a:t>Amazon EC2 Auto Scaling </a:t>
            </a:r>
            <a:r>
              <a:rPr lang="en-US">
                <a:ea typeface="Amazon Ember Light" panose="020B0403020204020204" pitchFamily="34" charset="0"/>
                <a:cs typeface="Arial"/>
              </a:rPr>
              <a:t>product page at </a:t>
            </a:r>
            <a:r>
              <a:rPr lang="en-US">
                <a:ea typeface="Amazon Ember Light" panose="020B0403020204020204" pitchFamily="34" charset="0"/>
                <a:cs typeface="Arial"/>
                <a:hlinkClick r:id="rId3"/>
              </a:rPr>
              <a:t>https://aws.amazon.com/ec2/autoscaling</a:t>
            </a:r>
            <a:r>
              <a:rPr lang="en-US">
                <a:ea typeface="Amazon Ember Light" panose="020B0403020204020204" pitchFamily="34" charset="0"/>
                <a:cs typeface="Arial"/>
              </a:rPr>
              <a:t> .</a:t>
            </a:r>
            <a:endParaRPr lang="en-US">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258831486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b="0"/>
              <a:t>Automatic scaling is useful for predictable workloads—for example, </a:t>
            </a:r>
            <a:r>
              <a:rPr lang="en-US" b="0" baseline="0"/>
              <a:t>the weekly traffic at the retail company Amazon.com. </a:t>
            </a:r>
            <a:endParaRPr lang="en-US" b="1"/>
          </a:p>
        </p:txBody>
      </p:sp>
    </p:spTree>
    <p:extLst>
      <p:ext uri="{BB962C8B-B14F-4D97-AF65-F5344CB8AC3E}">
        <p14:creationId xmlns:p14="http://schemas.microsoft.com/office/powerpoint/2010/main" val="214634718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b="0"/>
              <a:t>Automatic scaling is also useful for dynamic on-demand scaling. Amazon</a:t>
            </a:r>
            <a:r>
              <a:rPr lang="en-US" b="0" baseline="0"/>
              <a:t>.com </a:t>
            </a:r>
            <a:r>
              <a:rPr lang="en-US"/>
              <a:t>experiences a </a:t>
            </a:r>
            <a:r>
              <a:rPr lang="en-US" b="0" baseline="0"/>
              <a:t>seasonal peak in traffic in November (on Black Friday and Cyber Monday, which are days at the end of November when US retailers hold major sales). If Amazon provisions a fixed capacity to accommodate the highest use, 76 percent of the resources are idle for most of the year. Capacity scaling is necessary to support the fluctuating demands for service. Without scaling, the servers could crash due to saturation, and the business would lose customer confidence.</a:t>
            </a:r>
            <a:endParaRPr lang="en-US" b="1"/>
          </a:p>
        </p:txBody>
      </p:sp>
    </p:spTree>
    <p:extLst>
      <p:ext uri="{BB962C8B-B14F-4D97-AF65-F5344CB8AC3E}">
        <p14:creationId xmlns:p14="http://schemas.microsoft.com/office/powerpoint/2010/main" val="132140414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lvl="0">
              <a:defRPr/>
            </a:pPr>
            <a:r>
              <a:rPr lang="en-US" kern="1200">
                <a:solidFill>
                  <a:schemeClr val="tx1"/>
                </a:solidFill>
                <a:effectLst/>
                <a:ea typeface="+mn-ea"/>
                <a:cs typeface="+mn-cs"/>
              </a:rPr>
              <a:t>An </a:t>
            </a:r>
            <a:r>
              <a:rPr lang="en-US">
                <a:ea typeface="Amazon Ember Light" panose="020B0403020204020204" pitchFamily="34" charset="0"/>
                <a:cs typeface="Amazon Ember Light" panose="020B0403020204020204" pitchFamily="34" charset="0"/>
              </a:rPr>
              <a:t>Auto Scaling group </a:t>
            </a:r>
            <a:r>
              <a:rPr lang="en-US" kern="1200">
                <a:solidFill>
                  <a:schemeClr val="tx1"/>
                </a:solidFill>
                <a:effectLst/>
                <a:ea typeface="+mn-ea"/>
                <a:cs typeface="+mn-cs"/>
              </a:rPr>
              <a:t>is </a:t>
            </a:r>
            <a:r>
              <a:rPr lang="en-US"/>
              <a:t>a collection of Amazon EC2 instances that are treated as a logical grouping for the purposes of automatic scaling and management</a:t>
            </a:r>
            <a:r>
              <a:rPr lang="en-US" kern="1200">
                <a:solidFill>
                  <a:schemeClr val="tx1"/>
                </a:solidFill>
                <a:effectLst/>
                <a:ea typeface="+mn-ea"/>
                <a:cs typeface="+mn-cs"/>
              </a:rPr>
              <a:t>. </a:t>
            </a:r>
            <a:r>
              <a:rPr lang="en-US"/>
              <a:t>The size of an Auto Scaling group depends on the number of instances you set as the </a:t>
            </a:r>
            <a:r>
              <a:rPr lang="en-US" i="1"/>
              <a:t>desired capacity</a:t>
            </a:r>
            <a:r>
              <a:rPr lang="en-US"/>
              <a:t>. You can adjust its size to meet demand, either manually or by using automatic scaling. See more about Auto Scaling Groups at </a:t>
            </a:r>
            <a:r>
              <a:rPr lang="en-US">
                <a:hlinkClick r:id="rId3"/>
              </a:rPr>
              <a:t>https://docs.aws.amazon.com/autoscaling/ec2/userguide/auto-scaling-groups.html</a:t>
            </a:r>
            <a:r>
              <a:rPr lang="en-US"/>
              <a:t>.</a:t>
            </a:r>
          </a:p>
          <a:p>
            <a:endParaRPr lang="en-US"/>
          </a:p>
          <a:p>
            <a:r>
              <a:rPr lang="en-US"/>
              <a:t>You can specify the minimum number of instances in each Auto Scaling group, and Amazon EC2 Auto Scaling is designed to prevent your group from going below this size. You can specify the maximum number of instances in each Auto Scaling group, and Amazon EC2 Auto Scaling is designed to prevent your group from going above this size. If you specify the desired capacity, either when you create the group or at any time afterwards, Amazon EC2 Auto Scaling is designed to adjust the size of</a:t>
            </a:r>
            <a:r>
              <a:rPr lang="en-US" baseline="0"/>
              <a:t> </a:t>
            </a:r>
            <a:r>
              <a:rPr lang="en-US"/>
              <a:t>your group so it has the specified number of instances. If you specify scaling policies, then Amazon EC2 Auto Scaling can launch or terminate instances as demand on your application increases or decreases. </a:t>
            </a:r>
          </a:p>
          <a:p>
            <a:endParaRPr lang="en-US" kern="1200">
              <a:solidFill>
                <a:schemeClr val="tx1"/>
              </a:solidFill>
              <a:effectLst/>
              <a:ea typeface="+mn-ea"/>
              <a:cs typeface="+mn-cs"/>
            </a:endParaRPr>
          </a:p>
          <a:p>
            <a:r>
              <a:rPr lang="en-US"/>
              <a:t>For example, this Auto Scaling group has a minimum size of one instance, a desired capacity of two instances, and a maximum size of four instances. The scaling policies that you define adjust the number of instances</a:t>
            </a:r>
            <a:r>
              <a:rPr lang="en-US" baseline="0"/>
              <a:t> </a:t>
            </a:r>
            <a:r>
              <a:rPr lang="en-US"/>
              <a:t>within your minimum and maximum number of instances, based on the criteria that you specify. </a:t>
            </a:r>
          </a:p>
        </p:txBody>
      </p:sp>
    </p:spTree>
    <p:extLst>
      <p:ext uri="{BB962C8B-B14F-4D97-AF65-F5344CB8AC3E}">
        <p14:creationId xmlns:p14="http://schemas.microsoft.com/office/powerpoint/2010/main" val="244338735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a:solidFill>
                  <a:schemeClr val="tx1"/>
                </a:solidFill>
                <a:effectLst/>
                <a:latin typeface="+mn-lt"/>
                <a:ea typeface="+mn-ea"/>
                <a:cs typeface="+mn-cs"/>
              </a:rPr>
              <a:t>With Amazon EC2 Auto Scaling, launching instances is referred to as </a:t>
            </a:r>
            <a:r>
              <a:rPr lang="en-US" i="1" kern="1200">
                <a:solidFill>
                  <a:schemeClr val="tx1"/>
                </a:solidFill>
                <a:effectLst/>
                <a:latin typeface="+mn-lt"/>
                <a:ea typeface="+mn-ea"/>
                <a:cs typeface="+mn-cs"/>
              </a:rPr>
              <a:t>scaling out</a:t>
            </a:r>
            <a:r>
              <a:rPr lang="en-US" kern="1200">
                <a:solidFill>
                  <a:schemeClr val="tx1"/>
                </a:solidFill>
                <a:effectLst/>
                <a:latin typeface="+mn-lt"/>
                <a:ea typeface="+mn-ea"/>
                <a:cs typeface="+mn-cs"/>
              </a:rPr>
              <a:t>, and terminating instances is referred to as </a:t>
            </a:r>
            <a:r>
              <a:rPr lang="en-US" i="1" kern="1200">
                <a:solidFill>
                  <a:schemeClr val="tx1"/>
                </a:solidFill>
                <a:effectLst/>
                <a:latin typeface="+mn-lt"/>
                <a:ea typeface="+mn-ea"/>
                <a:cs typeface="+mn-cs"/>
              </a:rPr>
              <a:t>scaling in</a:t>
            </a:r>
            <a:r>
              <a:rPr lang="en-US" kern="1200">
                <a:solidFill>
                  <a:schemeClr val="tx1"/>
                </a:solidFill>
                <a:effectLst/>
                <a:latin typeface="+mn-lt"/>
                <a:ea typeface="+mn-ea"/>
                <a:cs typeface="+mn-cs"/>
              </a:rPr>
              <a:t>. </a:t>
            </a:r>
          </a:p>
        </p:txBody>
      </p:sp>
    </p:spTree>
    <p:extLst>
      <p:ext uri="{BB962C8B-B14F-4D97-AF65-F5344CB8AC3E}">
        <p14:creationId xmlns:p14="http://schemas.microsoft.com/office/powerpoint/2010/main" val="83995991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2914527"/>
          </a:xfrm>
          <a:prstGeom prst="rect">
            <a:avLst/>
          </a:prstGeom>
        </p:spPr>
        <p:txBody>
          <a:bodyPr/>
          <a:lstStyle/>
          <a:p>
            <a:pPr lvl="0">
              <a:defRPr/>
            </a:pPr>
            <a:r>
              <a:rPr lang="en-US"/>
              <a:t>To launch EC2 instances, an Auto Scaling group uses a </a:t>
            </a:r>
            <a:r>
              <a:rPr lang="en-US">
                <a:ea typeface="Amazon Ember Light" panose="020B0403020204020204" pitchFamily="34" charset="0"/>
                <a:cs typeface="Amazon Ember Light" panose="020B0403020204020204" pitchFamily="34" charset="0"/>
              </a:rPr>
              <a:t>launch configuration</a:t>
            </a:r>
            <a:r>
              <a:rPr lang="en-US"/>
              <a:t>, which is an instance configuration template. You can think of a launch configuration as </a:t>
            </a:r>
            <a:r>
              <a:rPr lang="en-US" i="1"/>
              <a:t>what</a:t>
            </a:r>
            <a:r>
              <a:rPr lang="en-US"/>
              <a:t> you</a:t>
            </a:r>
            <a:r>
              <a:rPr lang="en-US" baseline="0"/>
              <a:t> are </a:t>
            </a:r>
            <a:r>
              <a:rPr lang="en-US"/>
              <a:t>scaling. When you create a launch configuration, you specify information for the instances. The information you specify includes the ID of the Amazon Machine Image (AMI), the instance type, AWS Identity and Access Management (IAM) role, additional storage, one or more security groups,</a:t>
            </a:r>
            <a:r>
              <a:rPr lang="en-US" baseline="0"/>
              <a:t> and any Amazon Elastic Block Store (Amazon EBS) volumes</a:t>
            </a:r>
            <a:r>
              <a:rPr lang="en-US"/>
              <a:t>. See more information on the launch configuration at </a:t>
            </a:r>
            <a:r>
              <a:rPr lang="en-US">
                <a:hlinkClick r:id="rId3"/>
              </a:rPr>
              <a:t>https://docs.aws.amazon.com/autoscaling/ec2/userguide/launch-configurations.html</a:t>
            </a:r>
            <a:r>
              <a:rPr lang="en-US"/>
              <a:t>.</a:t>
            </a:r>
            <a:endParaRPr lang="en-US" kern="1200">
              <a:solidFill>
                <a:schemeClr val="tx1"/>
              </a:solidFill>
              <a:effectLst/>
              <a:ea typeface="+mn-ea"/>
              <a:cs typeface="+mn-cs"/>
            </a:endParaRPr>
          </a:p>
          <a:p>
            <a:endParaRPr lang="en-US"/>
          </a:p>
          <a:p>
            <a:r>
              <a:rPr lang="en-US"/>
              <a:t>You define the minimum and maximum number of instances and desired capacity of your Auto Scaling group.</a:t>
            </a:r>
            <a:r>
              <a:rPr lang="en-US" baseline="0"/>
              <a:t> T</a:t>
            </a:r>
            <a:r>
              <a:rPr lang="en-US"/>
              <a:t>hen,</a:t>
            </a:r>
            <a:r>
              <a:rPr lang="en-US" baseline="0"/>
              <a:t> you </a:t>
            </a:r>
            <a:r>
              <a:rPr lang="en-US"/>
              <a:t>launch it into a subnet within a VPC (you can think of this as </a:t>
            </a:r>
            <a:r>
              <a:rPr lang="en-US" i="1"/>
              <a:t>where</a:t>
            </a:r>
            <a:r>
              <a:rPr lang="en-US"/>
              <a:t> you</a:t>
            </a:r>
            <a:r>
              <a:rPr lang="en-US" baseline="0"/>
              <a:t> are </a:t>
            </a:r>
            <a:r>
              <a:rPr lang="en-US"/>
              <a:t>scaling). Amazon EC2 Auto Scaling integrates with Elastic Load Balancing to enable you to attach one or more load balancers to an existing Auto Scaling group. After you attach the load balancer, it automatically registers the instances in the group and distributes incoming traffic across the instances. </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Finally, you specify </a:t>
            </a:r>
            <a:r>
              <a:rPr lang="en-US" i="1"/>
              <a:t>when</a:t>
            </a:r>
            <a:r>
              <a:rPr lang="en-US"/>
              <a:t> you want the scaling event to occur. You have many scaling options: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1" kern="1200">
                <a:solidFill>
                  <a:schemeClr val="tx1"/>
                </a:solidFill>
                <a:effectLst/>
                <a:ea typeface="+mn-ea"/>
                <a:cs typeface="+mn-cs"/>
              </a:rPr>
              <a:t>Maintain current instance levels at all times</a:t>
            </a:r>
            <a:r>
              <a:rPr lang="en-US" i="0" kern="1200" baseline="0">
                <a:solidFill>
                  <a:schemeClr val="tx1"/>
                </a:solidFill>
                <a:effectLst/>
                <a:ea typeface="+mn-ea"/>
                <a:cs typeface="+mn-cs"/>
              </a:rPr>
              <a:t> –</a:t>
            </a:r>
            <a:r>
              <a:rPr lang="en-US" i="0" kern="1200">
                <a:solidFill>
                  <a:schemeClr val="tx1"/>
                </a:solidFill>
                <a:effectLst/>
                <a:ea typeface="+mn-ea"/>
                <a:cs typeface="+mn-cs"/>
              </a:rPr>
              <a:t> </a:t>
            </a:r>
            <a:r>
              <a:rPr lang="en-US"/>
              <a:t>You can configure your Auto Scaling group to maintain a specified number of running instances at all times. To maintain the current instance levels, Amazon EC2 Auto Scaling performs a periodic health check on running instances in an Auto Scaling group. When Amazon EC2 Auto Scaling finds an unhealthy instance, it terminates that instance and launches a new one.</a:t>
            </a:r>
          </a:p>
          <a:p>
            <a:pPr marL="171450" lvl="0" indent="-171450">
              <a:buFont typeface="Arial" panose="020B0604020202020204" pitchFamily="34" charset="0"/>
              <a:buChar char="•"/>
              <a:defRPr/>
            </a:pPr>
            <a:r>
              <a:rPr lang="en-US">
                <a:ea typeface="Amazon Ember Light" panose="020B0403020204020204" pitchFamily="34" charset="0"/>
                <a:cs typeface="Amazon Ember Light" panose="020B0403020204020204" pitchFamily="34" charset="0"/>
              </a:rPr>
              <a:t>Manual scaling </a:t>
            </a:r>
            <a:r>
              <a:rPr lang="en-US" i="0" kern="1200" baseline="0">
                <a:solidFill>
                  <a:schemeClr val="tx1"/>
                </a:solidFill>
                <a:effectLst/>
                <a:ea typeface="+mn-ea"/>
                <a:cs typeface="+mn-cs"/>
              </a:rPr>
              <a:t>–</a:t>
            </a:r>
            <a:r>
              <a:rPr lang="en-US" i="0" kern="1200">
                <a:solidFill>
                  <a:schemeClr val="tx1"/>
                </a:solidFill>
                <a:effectLst/>
                <a:ea typeface="+mn-ea"/>
                <a:cs typeface="+mn-cs"/>
              </a:rPr>
              <a:t> With m</a:t>
            </a:r>
            <a:r>
              <a:rPr lang="en-US"/>
              <a:t>anual scaling, you specify only the change in the maximum, minimum, or desired capacity of your Auto Scaling group. See more on manual scaling at </a:t>
            </a:r>
            <a:r>
              <a:rPr lang="en-US">
                <a:hlinkClick r:id="rId4"/>
              </a:rPr>
              <a:t>https://docs.aws.amazon.com/autoscaling/ec2/userguide/as-manual-scaling.html</a:t>
            </a:r>
            <a:r>
              <a:rPr lang="en-US"/>
              <a:t>.</a:t>
            </a:r>
          </a:p>
          <a:p>
            <a:pPr marL="171450" lvl="0" indent="-171450">
              <a:buFont typeface="Arial" panose="020B0604020202020204" pitchFamily="34" charset="0"/>
              <a:buChar char="•"/>
              <a:defRPr/>
            </a:pPr>
            <a:r>
              <a:rPr lang="en-US">
                <a:ea typeface="Amazon Ember Light" panose="020B0403020204020204" pitchFamily="34" charset="0"/>
                <a:cs typeface="Amazon Ember Light" panose="020B0403020204020204" pitchFamily="34" charset="0"/>
              </a:rPr>
              <a:t>Scheduled scaling</a:t>
            </a:r>
            <a:r>
              <a:rPr lang="en-US" i="0" kern="1200" baseline="0">
                <a:solidFill>
                  <a:schemeClr val="tx1"/>
                </a:solidFill>
                <a:effectLst/>
                <a:ea typeface="+mn-ea"/>
                <a:cs typeface="+mn-cs"/>
              </a:rPr>
              <a:t>– </a:t>
            </a:r>
            <a:r>
              <a:rPr lang="en-US" i="0" kern="1200">
                <a:solidFill>
                  <a:schemeClr val="tx1"/>
                </a:solidFill>
                <a:effectLst/>
                <a:ea typeface="+mn-ea"/>
                <a:cs typeface="+mn-cs"/>
              </a:rPr>
              <a:t>With scheduled scaling, </a:t>
            </a:r>
            <a:r>
              <a:rPr lang="en-US"/>
              <a:t>scaling actions are performed automatically as a function of date and time. This is useful for predictable workloads when you know exactly when to increase or decrease the number of instances in your group. For example, say</a:t>
            </a:r>
            <a:r>
              <a:rPr lang="en-US" baseline="0"/>
              <a:t> that </a:t>
            </a:r>
            <a:r>
              <a:rPr lang="en-US"/>
              <a:t>every week,</a:t>
            </a:r>
            <a:r>
              <a:rPr lang="en-US" baseline="0"/>
              <a:t> t</a:t>
            </a:r>
            <a:r>
              <a:rPr lang="en-US"/>
              <a:t>he traffic to your web application starts to increase on Wednesday, remains high on Thursday, and starts to decrease on Friday. See more on scheduled scaling at </a:t>
            </a:r>
            <a:r>
              <a:rPr lang="en-US">
                <a:hlinkClick r:id="rId5"/>
              </a:rPr>
              <a:t>https://docs.aws.amazon.com/autoscaling/ec2/userguide/ec2-auto-scaling-scheduled-scaling.html</a:t>
            </a:r>
            <a:r>
              <a:rPr lang="en-US"/>
              <a:t>. You can plan your scaling actions based on the predictable traffic patterns of your web application. To implement scheduled scaling, y</a:t>
            </a:r>
            <a:r>
              <a:rPr lang="en-US" i="0" kern="1200">
                <a:solidFill>
                  <a:schemeClr val="tx1"/>
                </a:solidFill>
                <a:effectLst/>
                <a:ea typeface="+mn-ea"/>
                <a:cs typeface="+mn-cs"/>
              </a:rPr>
              <a:t>ou create a </a:t>
            </a:r>
            <a:r>
              <a:rPr lang="en-US">
                <a:ea typeface="Amazon Ember Light" panose="020B0403020204020204" pitchFamily="34" charset="0"/>
                <a:cs typeface="Amazon Ember Light" panose="020B0403020204020204" pitchFamily="34" charset="0"/>
              </a:rPr>
              <a:t>scheduled action</a:t>
            </a:r>
            <a:r>
              <a:rPr lang="en-US"/>
              <a:t>. </a:t>
            </a:r>
          </a:p>
          <a:p>
            <a:pPr marL="171450" indent="-171450">
              <a:buFont typeface="Arial" panose="020B0604020202020204" pitchFamily="34" charset="0"/>
              <a:buChar char="•"/>
              <a:defRPr/>
            </a:pPr>
            <a:r>
              <a:rPr lang="en-US" i="0" kern="1200" baseline="0">
                <a:solidFill>
                  <a:schemeClr val="tx1"/>
                </a:solidFill>
                <a:effectLst/>
                <a:ea typeface="+mn-ea"/>
                <a:cs typeface="+mn-cs"/>
              </a:rPr>
              <a:t>– </a:t>
            </a:r>
            <a:r>
              <a:rPr lang="en-US"/>
              <a:t>A more advanced way to scale your resources enables you to define parameters that control the scaling process. For example, you have a web application that currently runs on two instances and you want the CPU utilization of the Auto Scaling group to stay close to 50 percent when the load on the application changes. This option is useful for scaling in response to changing conditions, when you don't know when those conditions will change. Dynamic scaling gives you extra capacity to handle traffic spikes without maintaining an excessive amount of idle resources. You can configure your Auto Scaling group to scale automatically to meet this need.  More on dynamic scaling at </a:t>
            </a:r>
            <a:r>
              <a:rPr lang="en-US">
                <a:hlinkClick r:id="rId6"/>
              </a:rPr>
              <a:t>https://docs.aws.amazon.com/autoscaling/ec2/userguide/as-scale-based-on-demand.html</a:t>
            </a:r>
            <a:r>
              <a:rPr lang="en-US"/>
              <a:t>. The scaling policy type determines how the scaling action is performed. You can use Amazon EC2 Auto Scaling with Amazon CloudWatch to trigger the scaling policy in response to an alarm.  See policy types at https://</a:t>
            </a:r>
            <a:r>
              <a:rPr lang="en-US" err="1"/>
              <a:t>docs.aws.amazon.com</a:t>
            </a:r>
            <a:r>
              <a:rPr lang="en-US"/>
              <a:t>/autoscaling/ec2/</a:t>
            </a:r>
            <a:r>
              <a:rPr lang="en-US" err="1"/>
              <a:t>userguide</a:t>
            </a:r>
            <a:r>
              <a:rPr lang="en-US"/>
              <a:t>/</a:t>
            </a:r>
            <a:r>
              <a:rPr lang="en-US" err="1"/>
              <a:t>as-scale-based-on-demand.html#as-scaling-types</a:t>
            </a:r>
            <a:r>
              <a:rPr lang="en-US"/>
              <a:t>.</a:t>
            </a:r>
          </a:p>
          <a:p>
            <a:pPr marL="171450" lvl="0" indent="-171450">
              <a:buFont typeface="Arial" panose="020B0604020202020204" pitchFamily="34" charset="0"/>
              <a:buChar char="•"/>
              <a:defRPr/>
            </a:pPr>
            <a:r>
              <a:rPr lang="en-US">
                <a:ea typeface="Amazon Ember Light" panose="020B0403020204020204" pitchFamily="34" charset="0"/>
                <a:cs typeface="Amazon Ember Light" panose="020B0403020204020204" pitchFamily="34" charset="0"/>
                <a:hlinkClick r:id="rId7"/>
              </a:rPr>
              <a:t>Predictive scaling</a:t>
            </a:r>
            <a:r>
              <a:rPr lang="en-US" i="0" kern="1200" baseline="0">
                <a:solidFill>
                  <a:schemeClr val="tx1"/>
                </a:solidFill>
                <a:effectLst/>
                <a:ea typeface="+mn-ea"/>
                <a:cs typeface="+mn-cs"/>
              </a:rPr>
              <a:t> – </a:t>
            </a:r>
            <a:r>
              <a:rPr lang="en-US" i="0" kern="1200">
                <a:solidFill>
                  <a:schemeClr val="tx1"/>
                </a:solidFill>
                <a:effectLst/>
                <a:ea typeface="+mn-ea"/>
                <a:cs typeface="+mn-cs"/>
              </a:rPr>
              <a:t>You can use Amazon EC2 Auto Scaling with AWS Auto Scaling to implement predictive scaling, where your capacity scales based on predicted demand. Predictive scaling </a:t>
            </a:r>
            <a:r>
              <a:rPr lang="en-US"/>
              <a:t>uses data that is collected from your actual EC2 usage, and the data is further informed by billions of data points that are drawn from our own observations. </a:t>
            </a:r>
            <a:r>
              <a:rPr lang="en-US" i="0" kern="1200">
                <a:solidFill>
                  <a:schemeClr val="tx1"/>
                </a:solidFill>
                <a:effectLst/>
                <a:ea typeface="+mn-ea"/>
                <a:cs typeface="+mn-cs"/>
              </a:rPr>
              <a:t>AWS then uses well-trained machine learning</a:t>
            </a:r>
            <a:r>
              <a:rPr lang="en-US" i="0" kern="1200" baseline="0">
                <a:solidFill>
                  <a:schemeClr val="tx1"/>
                </a:solidFill>
                <a:effectLst/>
                <a:ea typeface="+mn-ea"/>
                <a:cs typeface="+mn-cs"/>
              </a:rPr>
              <a:t> models to predict your expected traffic (and EC2 usage), including daily and weekly patterns. </a:t>
            </a:r>
            <a:r>
              <a:rPr lang="en-US"/>
              <a:t>The model needs at least 1 day of historical data to start making predictions. It is re-evaluated every 24 hours to create a forecast for the next 48 hours. The prediction process produces a scaling plan that can drive one or more groups of automatically scaled EC2 instances. See more on predictive scaling at </a:t>
            </a:r>
            <a:r>
              <a:rPr lang="en-US">
                <a:hlinkClick r:id="rId7"/>
              </a:rPr>
              <a:t>https://aws.amazon.com/blogs/aws/new-predictive-scaling-for-ec2-powered-by-machine-learning/</a:t>
            </a:r>
            <a:r>
              <a:rPr lang="en-US"/>
              <a:t>. </a:t>
            </a:r>
          </a:p>
          <a:p>
            <a:pPr lvl="0">
              <a:defRPr/>
            </a:pPr>
            <a:endParaRPr lang="en-US" i="0" kern="1200">
              <a:solidFill>
                <a:schemeClr val="tx1"/>
              </a:solidFill>
              <a:effectLst/>
              <a:ea typeface="+mn-ea"/>
              <a:cs typeface="+mn-cs"/>
            </a:endParaRPr>
          </a:p>
          <a:p>
            <a:pPr>
              <a:defRPr/>
            </a:pPr>
            <a:r>
              <a:rPr lang="en-US" i="0" kern="1200">
                <a:solidFill>
                  <a:schemeClr val="tx1"/>
                </a:solidFill>
                <a:effectLst/>
                <a:ea typeface="+mn-ea"/>
                <a:cs typeface="+mn-cs"/>
              </a:rPr>
              <a:t>To learn more about these options, see </a:t>
            </a:r>
            <a:r>
              <a:rPr lang="en-US"/>
              <a:t>Scaling the Size of Your Auto Scaling Group in </a:t>
            </a:r>
            <a:r>
              <a:rPr lang="en-US" i="0" kern="1200">
                <a:solidFill>
                  <a:schemeClr val="tx1"/>
                </a:solidFill>
                <a:effectLst/>
                <a:ea typeface="+mn-ea"/>
                <a:cs typeface="+mn-cs"/>
              </a:rPr>
              <a:t>the AWS </a:t>
            </a:r>
            <a:r>
              <a:rPr lang="en-US"/>
              <a:t>Documentation at </a:t>
            </a:r>
            <a:r>
              <a:rPr lang="en-US">
                <a:hlinkClick r:id="rId8"/>
              </a:rPr>
              <a:t>https://docs.aws.amazon.com/autoscaling/ec2/userguide/scale-your-group.html</a:t>
            </a:r>
            <a:r>
              <a:rPr lang="en-US"/>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kern="1200">
              <a:solidFill>
                <a:schemeClr val="tx1"/>
              </a:solidFill>
              <a:effectLst/>
              <a:ea typeface="+mn-ea"/>
              <a:cs typeface="+mn-cs"/>
            </a:endParaRPr>
          </a:p>
          <a:p>
            <a:endParaRPr lang="en-US"/>
          </a:p>
        </p:txBody>
      </p:sp>
    </p:spTree>
    <p:extLst>
      <p:ext uri="{BB962C8B-B14F-4D97-AF65-F5344CB8AC3E}">
        <p14:creationId xmlns:p14="http://schemas.microsoft.com/office/powerpoint/2010/main" val="265743459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latin typeface="+mn-lt"/>
                <a:ea typeface="+mn-ea"/>
                <a:cs typeface="+mn-cs"/>
              </a:rPr>
              <a:t>One common configuration for implementing dynamic scaling is to create a CloudWatch alarm that is based on performance information from your EC2 instances or load balancer. When a performance threshold is breached, a CloudWatch alarm triggers an automatic scaling event that either scales out or scales in EC2 instances in the Auto Scaling group.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kern="1200" dirty="0">
                <a:solidFill>
                  <a:schemeClr val="tx1"/>
                </a:solidFill>
                <a:effectLst/>
                <a:latin typeface="+mn-lt"/>
                <a:ea typeface="+mn-ea"/>
                <a:cs typeface="+mn-cs"/>
              </a:rPr>
              <a:t>To understand how it works, consider this example: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kern="1200" dirty="0">
                <a:solidFill>
                  <a:schemeClr val="tx1"/>
                </a:solidFill>
                <a:effectLst/>
                <a:latin typeface="+mn-lt"/>
                <a:ea typeface="+mn-ea"/>
                <a:cs typeface="+mn-cs"/>
              </a:rPr>
              <a:t>You create an Amazon CloudWatch alarm to monitor CPU utilization across your fleet of EC2 instances and </a:t>
            </a:r>
            <a:r>
              <a:rPr lang="en-US" dirty="0"/>
              <a:t>run </a:t>
            </a:r>
            <a:r>
              <a:rPr lang="en-US" dirty="0">
                <a:solidFill>
                  <a:srgbClr val="000000"/>
                </a:solidFill>
              </a:rPr>
              <a:t>automatic scaling policies</a:t>
            </a:r>
            <a:r>
              <a:rPr lang="en-US" dirty="0"/>
              <a:t> </a:t>
            </a:r>
            <a:r>
              <a:rPr lang="en-US" kern="1200" baseline="0" dirty="0">
                <a:solidFill>
                  <a:schemeClr val="tx1"/>
                </a:solidFill>
                <a:effectLst/>
                <a:latin typeface="+mn-lt"/>
                <a:ea typeface="+mn-ea"/>
                <a:cs typeface="+mn-cs"/>
              </a:rPr>
              <a:t>if the average CPU utilization across the fleet goes above 60 percent for 5 minutes.</a:t>
            </a:r>
            <a:endParaRPr lang="en-US"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kern="1200" dirty="0">
                <a:solidFill>
                  <a:schemeClr val="tx1"/>
                </a:solidFill>
                <a:effectLst/>
                <a:latin typeface="+mn-lt"/>
                <a:ea typeface="+mn-ea"/>
                <a:cs typeface="+mn-cs"/>
              </a:rPr>
              <a:t>Amazon</a:t>
            </a:r>
            <a:r>
              <a:rPr lang="en-US" kern="1200" baseline="0" dirty="0">
                <a:solidFill>
                  <a:schemeClr val="tx1"/>
                </a:solidFill>
                <a:effectLst/>
                <a:latin typeface="+mn-lt"/>
                <a:ea typeface="+mn-ea"/>
                <a:cs typeface="+mn-cs"/>
              </a:rPr>
              <a:t> </a:t>
            </a:r>
            <a:r>
              <a:rPr lang="en-US" kern="1200" dirty="0">
                <a:solidFill>
                  <a:schemeClr val="tx1"/>
                </a:solidFill>
                <a:effectLst/>
                <a:latin typeface="+mn-lt"/>
                <a:ea typeface="+mn-ea"/>
                <a:cs typeface="+mn-cs"/>
              </a:rPr>
              <a:t>EC2</a:t>
            </a:r>
            <a:r>
              <a:rPr lang="en-US" kern="1200" baseline="0" dirty="0">
                <a:solidFill>
                  <a:schemeClr val="tx1"/>
                </a:solidFill>
                <a:effectLst/>
                <a:latin typeface="+mn-lt"/>
                <a:ea typeface="+mn-ea"/>
                <a:cs typeface="+mn-cs"/>
              </a:rPr>
              <a:t> </a:t>
            </a:r>
            <a:r>
              <a:rPr lang="en-US" kern="1200" dirty="0">
                <a:solidFill>
                  <a:schemeClr val="tx1"/>
                </a:solidFill>
                <a:effectLst/>
                <a:latin typeface="+mn-lt"/>
                <a:ea typeface="+mn-ea"/>
                <a:cs typeface="+mn-cs"/>
              </a:rPr>
              <a:t>Auto Scaling instantiates a new EC2 instance into your Auto Scaling group based on the launch configuration that you create.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kern="1200" dirty="0">
                <a:solidFill>
                  <a:schemeClr val="tx1"/>
                </a:solidFill>
                <a:effectLst/>
                <a:latin typeface="+mn-lt"/>
                <a:ea typeface="+mn-ea"/>
                <a:cs typeface="+mn-cs"/>
              </a:rPr>
              <a:t>After the new instance is added, Amazon EC2</a:t>
            </a:r>
            <a:r>
              <a:rPr lang="en-US" kern="1200" baseline="0" dirty="0">
                <a:solidFill>
                  <a:schemeClr val="tx1"/>
                </a:solidFill>
                <a:effectLst/>
                <a:latin typeface="+mn-lt"/>
                <a:ea typeface="+mn-ea"/>
                <a:cs typeface="+mn-cs"/>
              </a:rPr>
              <a:t> Auto Scaling</a:t>
            </a:r>
            <a:r>
              <a:rPr lang="en-US" kern="1200" dirty="0">
                <a:solidFill>
                  <a:schemeClr val="tx1"/>
                </a:solidFill>
                <a:effectLst/>
                <a:latin typeface="+mn-lt"/>
                <a:ea typeface="+mn-ea"/>
                <a:cs typeface="+mn-cs"/>
              </a:rPr>
              <a:t> makes a call to Elastic Load Balancing to register the new EC2 instance in that Auto Scaling group.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kern="1200" dirty="0">
                <a:solidFill>
                  <a:schemeClr val="tx1"/>
                </a:solidFill>
                <a:effectLst/>
                <a:latin typeface="+mn-lt"/>
                <a:ea typeface="+mn-ea"/>
                <a:cs typeface="+mn-cs"/>
              </a:rPr>
              <a:t>Elastic Load Balancing then performs the required health checks and starts distributing traffic to that instance.</a:t>
            </a:r>
            <a:r>
              <a:rPr lang="en-US" kern="1200" baseline="0" dirty="0">
                <a:solidFill>
                  <a:schemeClr val="tx1"/>
                </a:solidFill>
                <a:effectLst/>
                <a:latin typeface="+mn-lt"/>
                <a:ea typeface="+mn-ea"/>
                <a:cs typeface="+mn-cs"/>
              </a:rPr>
              <a:t> </a:t>
            </a:r>
            <a:r>
              <a:rPr lang="en-US" dirty="0"/>
              <a:t>Elastic Load Balancing routes traffic between EC2 instances and feeds metrics to Amazon CloudWatch. </a:t>
            </a:r>
          </a:p>
          <a:p>
            <a:pPr marR="0" lvl="0" algn="l" defTabSz="914400" rtl="0" eaLnBrk="1" fontAlgn="auto" latinLnBrk="0" hangingPunct="1">
              <a:lnSpc>
                <a:spcPct val="100000"/>
              </a:lnSpc>
              <a:spcBef>
                <a:spcPts val="0"/>
              </a:spcBef>
              <a:spcAft>
                <a:spcPts val="0"/>
              </a:spcAft>
              <a:buClrTx/>
              <a:buSzTx/>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Amazon CloudWatch, Amazon EC2 Auto Scaling, and Elastic Load Balancing work </a:t>
            </a:r>
            <a:r>
              <a:rPr lang="en-US" dirty="0">
                <a:solidFill>
                  <a:srgbClr val="000000"/>
                </a:solidFill>
              </a:rPr>
              <a:t>well individually</a:t>
            </a:r>
            <a:r>
              <a:rPr lang="en-US" dirty="0">
                <a:solidFill>
                  <a:schemeClr val="tx1"/>
                </a:solidFill>
              </a:rPr>
              <a:t>.</a:t>
            </a:r>
            <a:r>
              <a:rPr lang="en-US" dirty="0"/>
              <a:t> Together, however, they become more powerful and increase the control and flexibility over how your application</a:t>
            </a:r>
            <a:r>
              <a:rPr lang="en-US" baseline="0" dirty="0"/>
              <a:t> handles </a:t>
            </a:r>
            <a:r>
              <a:rPr lang="en-US" dirty="0"/>
              <a:t>customer demand.</a:t>
            </a:r>
          </a:p>
        </p:txBody>
      </p:sp>
    </p:spTree>
    <p:extLst>
      <p:ext uri="{BB962C8B-B14F-4D97-AF65-F5344CB8AC3E}">
        <p14:creationId xmlns:p14="http://schemas.microsoft.com/office/powerpoint/2010/main" val="316051834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So far, you learned about scaling EC2 instances with Amazon EC2 Auto Scaling. You also learned that you can use Amazon EC2 Auto Scaling with AWS Auto Scaling to perform predictive scaling. </a:t>
            </a:r>
          </a:p>
          <a:p>
            <a:endParaRPr lang="en-US"/>
          </a:p>
          <a:p>
            <a:r>
              <a:rPr lang="en-US"/>
              <a:t>AWS Auto Scaling is a separate service that monitors your applications.</a:t>
            </a:r>
            <a:r>
              <a:rPr lang="en-US" baseline="0"/>
              <a:t> It </a:t>
            </a:r>
            <a:r>
              <a:rPr lang="en-US"/>
              <a:t>automatically adjusts capacity to maintain steady, predictable performance at the lowest possible cost. The service provides a simple, powerful user interface that enables you to build scaling plans for resources, including:</a:t>
            </a:r>
          </a:p>
          <a:p>
            <a:pPr marL="171450" lvl="0" indent="-171450">
              <a:buFont typeface="Arial" panose="020B0604020202020204" pitchFamily="34" charset="0"/>
              <a:buChar char="•"/>
            </a:pPr>
            <a:r>
              <a:rPr lang="en-US"/>
              <a:t>Amazon EC2 instances and Spot Fleets</a:t>
            </a:r>
          </a:p>
          <a:p>
            <a:pPr marL="171450" lvl="0" indent="-171450">
              <a:buFont typeface="Arial" panose="020B0604020202020204" pitchFamily="34" charset="0"/>
              <a:buChar char="•"/>
            </a:pPr>
            <a:r>
              <a:rPr lang="en-US"/>
              <a:t>Amazon Elastic Container Service (Amazon ECS) tasks</a:t>
            </a:r>
          </a:p>
          <a:p>
            <a:pPr marL="171450" lvl="0" indent="-171450">
              <a:buFont typeface="Arial" panose="020B0604020202020204" pitchFamily="34" charset="0"/>
              <a:buChar char="•"/>
            </a:pPr>
            <a:r>
              <a:rPr lang="en-US"/>
              <a:t>Amazon DynamoDB tables and indexes</a:t>
            </a:r>
          </a:p>
          <a:p>
            <a:pPr marL="171450" lvl="0" indent="-171450">
              <a:buFont typeface="Arial" panose="020B0604020202020204" pitchFamily="34" charset="0"/>
              <a:buChar char="•"/>
            </a:pPr>
            <a:r>
              <a:rPr lang="en-US"/>
              <a:t>Amazon Aurora Replicas</a:t>
            </a:r>
          </a:p>
          <a:p>
            <a:pPr marL="0" lvl="0" indent="0">
              <a:buFont typeface="Arial" panose="020B0604020202020204" pitchFamily="34" charset="0"/>
              <a:buNone/>
            </a:pPr>
            <a:endParaRPr lang="en-US"/>
          </a:p>
          <a:p>
            <a:pPr marL="0" lvl="0" indent="0">
              <a:buFont typeface="Arial" panose="020B0604020202020204" pitchFamily="34" charset="0"/>
              <a:buNone/>
            </a:pPr>
            <a:r>
              <a:rPr lang="en-US"/>
              <a:t>If you</a:t>
            </a:r>
            <a:r>
              <a:rPr lang="en-US" baseline="0"/>
              <a:t> are</a:t>
            </a:r>
            <a:r>
              <a:rPr lang="en-US"/>
              <a:t> already using Amazon EC2 Auto Scaling to dynamically scale your EC2 instances, you can now use it with AWS Auto Scaling to scale additional resources for other AWS services.</a:t>
            </a:r>
          </a:p>
          <a:p>
            <a:pPr marL="0" lvl="0" indent="0">
              <a:buFont typeface="Arial" panose="020B0604020202020204" pitchFamily="34" charset="0"/>
              <a:buNone/>
            </a:pPr>
            <a:endParaRPr lang="en-US"/>
          </a:p>
          <a:p>
            <a:pPr>
              <a:defRPr/>
            </a:pPr>
            <a:r>
              <a:rPr lang="en-US"/>
              <a:t>To learn more information about AWS Auto Scaling, see AWS Auto Scaling </a:t>
            </a:r>
            <a:r>
              <a:rPr lang="en-US">
                <a:ea typeface="Amazon Ember Light" panose="020B0403020204020204" pitchFamily="34" charset="0"/>
                <a:cs typeface="Amazon Ember Light" panose="020B0403020204020204" pitchFamily="34" charset="0"/>
              </a:rPr>
              <a:t>at </a:t>
            </a:r>
            <a:r>
              <a:rPr lang="en-US">
                <a:ea typeface="Amazon Ember Light" panose="020B0403020204020204" pitchFamily="34" charset="0"/>
                <a:cs typeface="Amazon Ember Light" panose="020B0403020204020204" pitchFamily="34" charset="0"/>
                <a:hlinkClick r:id="rId3"/>
              </a:rPr>
              <a:t>https://aws.amazon.com/autoscaling/</a:t>
            </a:r>
            <a:r>
              <a:rPr lang="en-US">
                <a:ea typeface="Amazon Ember Light" panose="020B0403020204020204" pitchFamily="34" charset="0"/>
                <a:cs typeface="Amazon Ember Light" panose="020B0403020204020204" pitchFamily="34" charset="0"/>
              </a:rPr>
              <a:t>.</a:t>
            </a:r>
            <a:endParaRPr lang="en-US"/>
          </a:p>
        </p:txBody>
      </p:sp>
    </p:spTree>
    <p:extLst>
      <p:ext uri="{BB962C8B-B14F-4D97-AF65-F5344CB8AC3E}">
        <p14:creationId xmlns:p14="http://schemas.microsoft.com/office/powerpoint/2010/main" val="93817171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mn-lt"/>
              </a:rPr>
              <a:t>Some key</a:t>
            </a:r>
            <a:r>
              <a:rPr lang="en-US" baseline="0">
                <a:latin typeface="+mn-lt"/>
              </a:rPr>
              <a:t> takeaways from this section of the module include:</a:t>
            </a:r>
            <a:endParaRPr lang="en-US">
              <a:solidFill>
                <a:srgbClr val="000000"/>
              </a:solidFill>
              <a:latin typeface="+mn-lt"/>
              <a:ea typeface="Amazon Ember" panose="02000000000000000000" pitchFamily="2" charset="0"/>
              <a:cs typeface="Amazon Ember Light" panose="020B0403020204020204" pitchFamily="34" charset="0"/>
            </a:endParaRPr>
          </a:p>
          <a:p>
            <a:pPr marL="171450" indent="-171450">
              <a:buFont typeface="Arial" panose="020B0604020202020204" pitchFamily="34" charset="0"/>
              <a:buChar char="•"/>
            </a:pPr>
            <a:r>
              <a:rPr lang="en-US" kern="1200">
                <a:solidFill>
                  <a:schemeClr val="tx1"/>
                </a:solidFill>
                <a:latin typeface="+mn-lt"/>
                <a:ea typeface="+mn-ea"/>
                <a:cs typeface="+mn-cs"/>
              </a:rPr>
              <a:t>Scaling enables you to respond quickly to changes in resource needs.</a:t>
            </a:r>
          </a:p>
          <a:p>
            <a:pPr marL="171450" indent="-171450">
              <a:buFont typeface="Arial" panose="020B0604020202020204" pitchFamily="34" charset="0"/>
              <a:buChar char="•"/>
            </a:pPr>
            <a:r>
              <a:rPr lang="en-US" kern="1200">
                <a:solidFill>
                  <a:schemeClr val="tx1"/>
                </a:solidFill>
                <a:latin typeface="+mn-lt"/>
                <a:ea typeface="+mn-ea"/>
                <a:cs typeface="+mn-cs"/>
              </a:rPr>
              <a:t>Amazon EC2 Auto Scaling helps you maintain application availability,</a:t>
            </a:r>
            <a:r>
              <a:rPr lang="en-US" kern="1200" baseline="0">
                <a:solidFill>
                  <a:schemeClr val="tx1"/>
                </a:solidFill>
                <a:latin typeface="+mn-lt"/>
                <a:ea typeface="+mn-ea"/>
                <a:cs typeface="+mn-cs"/>
              </a:rPr>
              <a:t> </a:t>
            </a:r>
            <a:r>
              <a:rPr lang="en-US" kern="1200">
                <a:solidFill>
                  <a:schemeClr val="tx1"/>
                </a:solidFill>
                <a:latin typeface="+mn-lt"/>
                <a:ea typeface="+mn-ea"/>
                <a:cs typeface="+mn-cs"/>
              </a:rPr>
              <a:t>and enables you to automatically add or remove EC2 instances according to your workloads.</a:t>
            </a:r>
          </a:p>
          <a:p>
            <a:pPr marL="171450" indent="-171450">
              <a:buFont typeface="Arial" panose="020B0604020202020204" pitchFamily="34" charset="0"/>
              <a:buChar char="•"/>
            </a:pPr>
            <a:r>
              <a:rPr lang="en-US" kern="1200">
                <a:solidFill>
                  <a:schemeClr val="tx1"/>
                </a:solidFill>
                <a:latin typeface="+mn-lt"/>
                <a:ea typeface="+mn-ea"/>
                <a:cs typeface="+mn-cs"/>
              </a:rPr>
              <a:t>An Auto Scaling group is a collection of EC2 instances.</a:t>
            </a:r>
          </a:p>
          <a:p>
            <a:pPr marL="171450" indent="-171450">
              <a:buFont typeface="Arial" panose="020B0604020202020204" pitchFamily="34" charset="0"/>
              <a:buChar char="•"/>
            </a:pPr>
            <a:r>
              <a:rPr lang="en-US" kern="1200">
                <a:solidFill>
                  <a:schemeClr val="tx1"/>
                </a:solidFill>
                <a:latin typeface="+mn-lt"/>
                <a:ea typeface="+mn-ea"/>
                <a:cs typeface="+mn-cs"/>
              </a:rPr>
              <a:t>A launch configuration is an instance configuration template.</a:t>
            </a:r>
          </a:p>
          <a:p>
            <a:pPr marL="171450" indent="-171450">
              <a:buFont typeface="Arial" panose="020B0604020202020204" pitchFamily="34" charset="0"/>
              <a:buChar char="•"/>
            </a:pPr>
            <a:r>
              <a:rPr lang="en-US" kern="1200">
                <a:solidFill>
                  <a:schemeClr val="tx1"/>
                </a:solidFill>
                <a:latin typeface="+mn-lt"/>
                <a:ea typeface="+mn-ea"/>
                <a:cs typeface="+mn-cs"/>
              </a:rPr>
              <a:t>You can implement dynamic scaling with Amazon EC2 Auto Scaling, Amazon CloudWatch, and Elastic Load Balancing.</a:t>
            </a:r>
          </a:p>
          <a:p>
            <a:endParaRPr lang="en-US"/>
          </a:p>
          <a:p>
            <a:r>
              <a:rPr lang="en-US"/>
              <a:t>AWS Auto Scaling is a separate service that monitors your applications, and it automatically adjusts capacity for the following</a:t>
            </a:r>
            <a:r>
              <a:rPr lang="en-US" baseline="0"/>
              <a:t> resources:</a:t>
            </a:r>
            <a:endParaRPr lang="en-US"/>
          </a:p>
          <a:p>
            <a:pPr marL="171450" lvl="0" indent="-171450">
              <a:buFont typeface="Arial" panose="020B0604020202020204" pitchFamily="34" charset="0"/>
              <a:buChar char="•"/>
            </a:pPr>
            <a:r>
              <a:rPr lang="en-US"/>
              <a:t>Amazon EC2 instances and Spot Fleets</a:t>
            </a:r>
          </a:p>
          <a:p>
            <a:pPr marL="171450" lvl="0" indent="-171450">
              <a:buFont typeface="Arial" panose="020B0604020202020204" pitchFamily="34" charset="0"/>
              <a:buChar char="•"/>
            </a:pPr>
            <a:r>
              <a:rPr lang="en-US"/>
              <a:t>Amazon ECS tasks</a:t>
            </a:r>
          </a:p>
          <a:p>
            <a:pPr marL="171450" lvl="0" indent="-171450">
              <a:buFont typeface="Arial" panose="020B0604020202020204" pitchFamily="34" charset="0"/>
              <a:buChar char="•"/>
            </a:pPr>
            <a:r>
              <a:rPr lang="en-US"/>
              <a:t>Amazon DynamoDB tables and indexes</a:t>
            </a:r>
          </a:p>
          <a:p>
            <a:pPr marL="171450" lvl="0" indent="-171450">
              <a:buFont typeface="Arial" panose="020B0604020202020204" pitchFamily="34" charset="0"/>
              <a:buChar char="•"/>
            </a:pPr>
            <a:r>
              <a:rPr lang="en-US"/>
              <a:t>Amazon Aurora Replicas</a:t>
            </a:r>
          </a:p>
        </p:txBody>
      </p:sp>
    </p:spTree>
    <p:extLst>
      <p:ext uri="{BB962C8B-B14F-4D97-AF65-F5344CB8AC3E}">
        <p14:creationId xmlns:p14="http://schemas.microsoft.com/office/powerpoint/2010/main" val="307757211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It’s now time to review the module, and wrap up with a knowledge check and discussion of a practice certification exam question.</a:t>
            </a:r>
          </a:p>
        </p:txBody>
      </p:sp>
    </p:spTree>
    <p:extLst>
      <p:ext uri="{BB962C8B-B14F-4D97-AF65-F5344CB8AC3E}">
        <p14:creationId xmlns:p14="http://schemas.microsoft.com/office/powerpoint/2010/main" val="22354085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In summary, in this module you learned how to:</a:t>
            </a:r>
          </a:p>
          <a:p>
            <a:pPr marL="171450" indent="-171450">
              <a:buFont typeface="Arial" panose="020B0604020202020204" pitchFamily="34" charset="0"/>
              <a:buChar char="•"/>
            </a:pPr>
            <a:r>
              <a:rPr lang="en-US">
                <a:latin typeface="+mn-lt"/>
              </a:rPr>
              <a:t>Indicate how to distribute traffic across Amazon Elastic Compute Cloud (Amazon EC2) instances using Elastic Load Balancing.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atin typeface="+mn-lt"/>
              </a:rPr>
              <a:t>Identify how Amazon CloudWatch enables you to monitor AWS resources and applications in real time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atin typeface="+mn-lt"/>
              </a:rPr>
              <a:t>Explain how Amazon EC2 Auto Scaling launches and releases servers in response to workload changes.</a:t>
            </a:r>
          </a:p>
          <a:p>
            <a:pPr marL="171450" indent="-171450">
              <a:buFont typeface="Arial" panose="020B0604020202020204" pitchFamily="34" charset="0"/>
              <a:buChar char="•"/>
            </a:pPr>
            <a:r>
              <a:rPr lang="en-US">
                <a:latin typeface="+mn-lt"/>
              </a:rPr>
              <a:t>Perform scaling and load balancing tasks to improve an architecture.</a:t>
            </a:r>
            <a:endParaRPr lang="en-US"/>
          </a:p>
        </p:txBody>
      </p:sp>
    </p:spTree>
    <p:extLst>
      <p:ext uri="{BB962C8B-B14F-4D97-AF65-F5344CB8AC3E}">
        <p14:creationId xmlns:p14="http://schemas.microsoft.com/office/powerpoint/2010/main" val="71854473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8A793-1C75-5754-2D3C-94FE7D5D6C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4981A6-4C3D-ACFF-DCAE-0AB77ECC717C}"/>
              </a:ext>
            </a:extLst>
          </p:cNvPr>
          <p:cNvSpPr>
            <a:spLocks noGrp="1" noRot="1" noChangeAspect="1"/>
          </p:cNvSpPr>
          <p:nvPr>
            <p:ph type="sldImg"/>
          </p:nvPr>
        </p:nvSpPr>
        <p:spPr>
          <a:xfrm>
            <a:off x="869950" y="1257300"/>
            <a:ext cx="6032500" cy="3394075"/>
          </a:xfrm>
          <a:prstGeom prst="rect">
            <a:avLst/>
          </a:prstGeom>
        </p:spPr>
      </p:sp>
      <p:sp>
        <p:nvSpPr>
          <p:cNvPr id="3" name="Notes Placeholder 2">
            <a:extLst>
              <a:ext uri="{FF2B5EF4-FFF2-40B4-BE49-F238E27FC236}">
                <a16:creationId xmlns:a16="http://schemas.microsoft.com/office/drawing/2014/main" id="{12491FD0-8A44-48CF-9FCC-5ADD71C01C9F}"/>
              </a:ext>
            </a:extLst>
          </p:cNvPr>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Welcom</a:t>
            </a:r>
            <a:r>
              <a:rPr lang="en-US" baseline="0"/>
              <a:t>e to Module 10: Automatic Scaling and Monitoring</a:t>
            </a:r>
            <a:endParaRPr lang="en-US"/>
          </a:p>
        </p:txBody>
      </p:sp>
    </p:spTree>
    <p:extLst>
      <p:ext uri="{BB962C8B-B14F-4D97-AF65-F5344CB8AC3E}">
        <p14:creationId xmlns:p14="http://schemas.microsoft.com/office/powerpoint/2010/main" val="202220479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5675" cy="3395663"/>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solidFill>
                  <a:srgbClr val="000000"/>
                </a:solidFill>
                <a:latin typeface="Calibri" panose="020F0502020204030204" pitchFamily="34" charset="0"/>
              </a:rPr>
              <a:t>Thank you for completing this module.</a:t>
            </a:r>
          </a:p>
        </p:txBody>
      </p:sp>
    </p:spTree>
    <p:extLst>
      <p:ext uri="{BB962C8B-B14F-4D97-AF65-F5344CB8AC3E}">
        <p14:creationId xmlns:p14="http://schemas.microsoft.com/office/powerpoint/2010/main" val="35700631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6.xml"/><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5.svg"/><Relationship Id="rId5" Type="http://schemas.openxmlformats.org/officeDocument/2006/relationships/image" Target="../media/image4.png"/><Relationship Id="rId4" Type="http://schemas.microsoft.com/office/2007/relationships/hdphoto" Target="../media/hdphoto2.wdp"/></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5.svg"/><Relationship Id="rId5" Type="http://schemas.openxmlformats.org/officeDocument/2006/relationships/image" Target="../media/image4.png"/><Relationship Id="rId4" Type="http://schemas.microsoft.com/office/2007/relationships/hdphoto" Target="../media/hdphoto3.wdp"/></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0.xml"/><Relationship Id="rId4" Type="http://schemas.openxmlformats.org/officeDocument/2006/relationships/image" Target="../media/image9.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9.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2.xml"/><Relationship Id="rId4" Type="http://schemas.openxmlformats.org/officeDocument/2006/relationships/image" Target="../media/image9.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3.xml"/><Relationship Id="rId4" Type="http://schemas.openxmlformats.org/officeDocument/2006/relationships/image" Target="../media/image9.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4.xml"/><Relationship Id="rId4" Type="http://schemas.openxmlformats.org/officeDocument/2006/relationships/image" Target="../media/image9.svg"/></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Master" Target="../slideMasters/slideMaster1.xml"/><Relationship Id="rId1" Type="http://schemas.openxmlformats.org/officeDocument/2006/relationships/tags" Target="../tags/tag47.xml"/><Relationship Id="rId4" Type="http://schemas.openxmlformats.org/officeDocument/2006/relationships/image" Target="../media/image13.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Master" Target="../slideMasters/slideMaster1.xml"/><Relationship Id="rId1" Type="http://schemas.openxmlformats.org/officeDocument/2006/relationships/tags" Target="../tags/tag48.xml"/><Relationship Id="rId4" Type="http://schemas.openxmlformats.org/officeDocument/2006/relationships/image" Target="../media/image13.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16.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16.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53.xml"/><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structor Intro">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BF3DBA0A-EF04-44BD-A704-1C36C47D2821}"/>
              </a:ext>
              <a:ext uri="{C183D7F6-B498-43B3-948B-1728B52AA6E4}">
                <adec:decorative xmlns:adec="http://schemas.microsoft.com/office/drawing/2017/decorative" val="1"/>
              </a:ext>
            </a:extLst>
          </p:cNvPr>
          <p:cNvGrpSpPr/>
          <p:nvPr/>
        </p:nvGrpSpPr>
        <p:grpSpPr>
          <a:xfrm>
            <a:off x="1" y="1"/>
            <a:ext cx="12004925" cy="6858000"/>
            <a:chOff x="1" y="1"/>
            <a:chExt cx="12004925" cy="6858000"/>
          </a:xfrm>
        </p:grpSpPr>
        <p:sp>
          <p:nvSpPr>
            <p:cNvPr id="93" name="BKG-LT">
              <a:extLst>
                <a:ext uri="{FF2B5EF4-FFF2-40B4-BE49-F238E27FC236}">
                  <a16:creationId xmlns:a16="http://schemas.microsoft.com/office/drawing/2014/main" id="{1636AFF1-562B-467D-8DC1-B38C08FBD4C3}"/>
                </a:ext>
                <a:ext uri="{C183D7F6-B498-43B3-948B-1728B52AA6E4}">
                  <adec:decorative xmlns:adec="http://schemas.microsoft.com/office/drawing/2017/decorative" val="1"/>
                </a:ext>
              </a:extLst>
            </p:cNvPr>
            <p:cNvSpPr/>
            <p:nvPr/>
          </p:nvSpPr>
          <p:spPr>
            <a:xfrm>
              <a:off x="1" y="1"/>
              <a:ext cx="590167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TrainingLine">
              <a:extLst>
                <a:ext uri="{FF2B5EF4-FFF2-40B4-BE49-F238E27FC236}">
                  <a16:creationId xmlns:a16="http://schemas.microsoft.com/office/drawing/2014/main" id="{D7310E2A-808D-407A-87D7-C505B238AAE6}"/>
                </a:ext>
                <a:ext uri="{C183D7F6-B498-43B3-948B-1728B52AA6E4}">
                  <adec:decorative xmlns:adec="http://schemas.microsoft.com/office/drawing/2017/decorative" val="1"/>
                </a:ext>
              </a:extLst>
            </p:cNvPr>
            <p:cNvCxnSpPr>
              <a:cxnSpLocks/>
            </p:cNvCxnSpPr>
            <p:nvPr/>
          </p:nvCxnSpPr>
          <p:spPr>
            <a:xfrm>
              <a:off x="198875" y="4775930"/>
              <a:ext cx="5503926" cy="0"/>
            </a:xfrm>
            <a:prstGeom prst="line">
              <a:avLst/>
            </a:prstGeom>
            <a:ln w="38100">
              <a:solidFill>
                <a:schemeClr val="bg2"/>
              </a:solidFill>
            </a:ln>
          </p:spPr>
          <p:style>
            <a:lnRef idx="3">
              <a:schemeClr val="accent3"/>
            </a:lnRef>
            <a:fillRef idx="0">
              <a:schemeClr val="accent3"/>
            </a:fillRef>
            <a:effectRef idx="2">
              <a:schemeClr val="accent3"/>
            </a:effectRef>
            <a:fontRef idx="minor">
              <a:schemeClr val="tx1"/>
            </a:fontRef>
          </p:style>
        </p:cxnSp>
        <p:sp>
          <p:nvSpPr>
            <p:cNvPr id="84" name="BKG-Photo">
              <a:extLst>
                <a:ext uri="{FF2B5EF4-FFF2-40B4-BE49-F238E27FC236}">
                  <a16:creationId xmlns:a16="http://schemas.microsoft.com/office/drawing/2014/main" id="{62D1E38E-9540-4F40-B30D-C4E76EF85FD1}"/>
                </a:ext>
                <a:ext uri="{C183D7F6-B498-43B3-948B-1728B52AA6E4}">
                  <adec:decorative xmlns:adec="http://schemas.microsoft.com/office/drawing/2017/decorative" val="1"/>
                </a:ext>
              </a:extLst>
            </p:cNvPr>
            <p:cNvSpPr/>
            <p:nvPr/>
          </p:nvSpPr>
          <p:spPr>
            <a:xfrm>
              <a:off x="6096000" y="412928"/>
              <a:ext cx="1636776" cy="1636776"/>
            </a:xfrm>
            <a:prstGeom prst="rect">
              <a:avLst/>
            </a:prstGeom>
            <a:solidFill>
              <a:schemeClr val="accent6"/>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InstructorLine">
              <a:extLst>
                <a:ext uri="{FF2B5EF4-FFF2-40B4-BE49-F238E27FC236}">
                  <a16:creationId xmlns:a16="http://schemas.microsoft.com/office/drawing/2014/main" id="{D2B179F5-8754-4804-B83A-9F86A1FABFC5}"/>
                </a:ext>
                <a:ext uri="{C183D7F6-B498-43B3-948B-1728B52AA6E4}">
                  <adec:decorative xmlns:adec="http://schemas.microsoft.com/office/drawing/2017/decorative" val="1"/>
                </a:ext>
              </a:extLst>
            </p:cNvPr>
            <p:cNvCxnSpPr>
              <a:cxnSpLocks/>
            </p:cNvCxnSpPr>
            <p:nvPr/>
          </p:nvCxnSpPr>
          <p:spPr>
            <a:xfrm>
              <a:off x="7715772" y="924231"/>
              <a:ext cx="4289154" cy="0"/>
            </a:xfrm>
            <a:prstGeom prst="line">
              <a:avLst/>
            </a:prstGeom>
            <a:ln w="38100">
              <a:solidFill>
                <a:schemeClr val="accent6"/>
              </a:solidFill>
            </a:ln>
          </p:spPr>
          <p:style>
            <a:lnRef idx="3">
              <a:schemeClr val="accent3"/>
            </a:lnRef>
            <a:fillRef idx="0">
              <a:schemeClr val="accent3"/>
            </a:fillRef>
            <a:effectRef idx="2">
              <a:schemeClr val="accent3"/>
            </a:effectRef>
            <a:fontRef idx="minor">
              <a:schemeClr val="tx1"/>
            </a:fontRef>
          </p:style>
        </p:cxnSp>
        <p:cxnSp>
          <p:nvCxnSpPr>
            <p:cNvPr id="85" name="ConnectLine">
              <a:extLst>
                <a:ext uri="{FF2B5EF4-FFF2-40B4-BE49-F238E27FC236}">
                  <a16:creationId xmlns:a16="http://schemas.microsoft.com/office/drawing/2014/main" id="{0C3C1B84-8505-4B24-973C-848AC60399A7}"/>
                </a:ext>
                <a:ext uri="{C183D7F6-B498-43B3-948B-1728B52AA6E4}">
                  <adec:decorative xmlns:adec="http://schemas.microsoft.com/office/drawing/2017/decorative" val="1"/>
                </a:ext>
              </a:extLst>
            </p:cNvPr>
            <p:cNvCxnSpPr>
              <a:cxnSpLocks/>
            </p:cNvCxnSpPr>
            <p:nvPr/>
          </p:nvCxnSpPr>
          <p:spPr>
            <a:xfrm>
              <a:off x="6096000" y="2841821"/>
              <a:ext cx="5908926" cy="0"/>
            </a:xfrm>
            <a:prstGeom prst="line">
              <a:avLst/>
            </a:prstGeom>
            <a:ln w="38100">
              <a:solidFill>
                <a:schemeClr val="accent6"/>
              </a:solidFill>
            </a:ln>
          </p:spPr>
          <p:style>
            <a:lnRef idx="3">
              <a:schemeClr val="accent3"/>
            </a:lnRef>
            <a:fillRef idx="0">
              <a:schemeClr val="accent3"/>
            </a:fillRef>
            <a:effectRef idx="2">
              <a:schemeClr val="accent3"/>
            </a:effectRef>
            <a:fontRef idx="minor">
              <a:schemeClr val="tx1"/>
            </a:fontRef>
          </p:style>
        </p:cxnSp>
        <p:pic>
          <p:nvPicPr>
            <p:cNvPr id="98" name="AWS Logo">
              <a:extLst>
                <a:ext uri="{FF2B5EF4-FFF2-40B4-BE49-F238E27FC236}">
                  <a16:creationId xmlns:a16="http://schemas.microsoft.com/office/drawing/2014/main" id="{EE68EF96-08A5-4475-A68D-AF69C928485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3599" y="6452308"/>
              <a:ext cx="366979" cy="219456"/>
            </a:xfrm>
            <a:prstGeom prst="rect">
              <a:avLst/>
            </a:prstGeom>
          </p:spPr>
        </p:pic>
        <p:sp>
          <p:nvSpPr>
            <p:cNvPr id="19" name="Copyright">
              <a:extLst>
                <a:ext uri="{FF2B5EF4-FFF2-40B4-BE49-F238E27FC236}">
                  <a16:creationId xmlns:a16="http://schemas.microsoft.com/office/drawing/2014/main" id="{0869739A-D862-4D7C-B7B5-2B689B100943}"/>
                </a:ext>
              </a:extLst>
            </p:cNvPr>
            <p:cNvSpPr txBox="1"/>
            <p:nvPr/>
          </p:nvSpPr>
          <p:spPr>
            <a:xfrm>
              <a:off x="876516" y="6423536"/>
              <a:ext cx="4653838" cy="261610"/>
            </a:xfrm>
            <a:prstGeom prst="rect">
              <a:avLst/>
            </a:prstGeom>
            <a:noFill/>
          </p:spPr>
          <p:txBody>
            <a:bodyPr wrap="none" rtlCol="0">
              <a:spAutoFit/>
            </a:bodyPr>
            <a:lstStyle/>
            <a:p>
              <a:r>
                <a:rPr lang="en-US" sz="1100" kern="1200">
                  <a:solidFill>
                    <a:schemeClr val="bg2"/>
                  </a:solidFill>
                  <a:effectLst/>
                  <a:latin typeface="+mn-lt"/>
                  <a:ea typeface="+mn-ea"/>
                  <a:cs typeface="+mn-cs"/>
                </a:rPr>
                <a:t>© 2022, Amazon Web Services, Inc. or its affiliates. All rights reserved.</a:t>
              </a:r>
            </a:p>
          </p:txBody>
        </p:sp>
      </p:grpSp>
      <p:sp>
        <p:nvSpPr>
          <p:cNvPr id="20" name="Welcome">
            <a:extLst>
              <a:ext uri="{FF2B5EF4-FFF2-40B4-BE49-F238E27FC236}">
                <a16:creationId xmlns:a16="http://schemas.microsoft.com/office/drawing/2014/main" id="{440D7E67-8032-4F87-ACBA-58FA07AE3852}"/>
              </a:ext>
            </a:extLst>
          </p:cNvPr>
          <p:cNvSpPr txBox="1"/>
          <p:nvPr/>
        </p:nvSpPr>
        <p:spPr>
          <a:xfrm>
            <a:off x="1883879" y="587814"/>
            <a:ext cx="2133918" cy="523220"/>
          </a:xfrm>
          <a:prstGeom prst="rect">
            <a:avLst/>
          </a:prstGeom>
          <a:noFill/>
        </p:spPr>
        <p:txBody>
          <a:bodyPr wrap="none" rtlCol="0">
            <a:spAutoFit/>
          </a:bodyPr>
          <a:lstStyle/>
          <a:p>
            <a:pPr algn="ctr"/>
            <a:r>
              <a:rPr lang="en-US" sz="2800">
                <a:solidFill>
                  <a:schemeClr val="bg2"/>
                </a:solidFill>
                <a:latin typeface="+mn-lt"/>
                <a:ea typeface="Amazon Ember Light" panose="020B0403020204020204" pitchFamily="34" charset="0"/>
                <a:cs typeface="Amazon Ember Light" panose="020B0403020204020204" pitchFamily="34" charset="0"/>
              </a:rPr>
              <a:t>Welcome to</a:t>
            </a:r>
          </a:p>
        </p:txBody>
      </p:sp>
      <p:sp>
        <p:nvSpPr>
          <p:cNvPr id="2" name="Title">
            <a:extLst>
              <a:ext uri="{FF2B5EF4-FFF2-40B4-BE49-F238E27FC236}">
                <a16:creationId xmlns:a16="http://schemas.microsoft.com/office/drawing/2014/main" id="{7CF59815-B20B-41F2-B8C8-02A64BB4781A}"/>
              </a:ext>
            </a:extLst>
          </p:cNvPr>
          <p:cNvSpPr>
            <a:spLocks noGrp="1"/>
          </p:cNvSpPr>
          <p:nvPr>
            <p:ph type="title" hasCustomPrompt="1"/>
          </p:nvPr>
        </p:nvSpPr>
        <p:spPr>
          <a:xfrm>
            <a:off x="228606" y="1179326"/>
            <a:ext cx="5444465" cy="3404221"/>
          </a:xfrm>
        </p:spPr>
        <p:txBody>
          <a:bodyPr anchor="t">
            <a:noAutofit/>
          </a:bodyPr>
          <a:lstStyle>
            <a:lvl1pPr algn="ctr">
              <a:defRPr sz="4800">
                <a:solidFill>
                  <a:schemeClr val="bg2"/>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a:t>Enter </a:t>
            </a:r>
            <a:br>
              <a:rPr lang="en-US"/>
            </a:br>
            <a:r>
              <a:rPr lang="en-US"/>
              <a:t>course title</a:t>
            </a:r>
          </a:p>
        </p:txBody>
      </p:sp>
      <p:sp>
        <p:nvSpPr>
          <p:cNvPr id="21" name="Training Begins">
            <a:extLst>
              <a:ext uri="{FF2B5EF4-FFF2-40B4-BE49-F238E27FC236}">
                <a16:creationId xmlns:a16="http://schemas.microsoft.com/office/drawing/2014/main" id="{D506D4EE-3DBD-4D77-AEE2-0FF7128DE4BD}"/>
              </a:ext>
            </a:extLst>
          </p:cNvPr>
          <p:cNvSpPr txBox="1"/>
          <p:nvPr/>
        </p:nvSpPr>
        <p:spPr>
          <a:xfrm>
            <a:off x="977546" y="4848827"/>
            <a:ext cx="3985386" cy="523220"/>
          </a:xfrm>
          <a:prstGeom prst="rect">
            <a:avLst/>
          </a:prstGeom>
          <a:noFill/>
        </p:spPr>
        <p:txBody>
          <a:bodyPr wrap="none" rtlCol="0">
            <a:spAutoFit/>
          </a:bodyPr>
          <a:lstStyle/>
          <a:p>
            <a:pPr algn="ctr"/>
            <a:r>
              <a:rPr lang="en-US" sz="2800">
                <a:solidFill>
                  <a:schemeClr val="bg2"/>
                </a:solidFill>
                <a:latin typeface="Amazon Ember" panose="020B0603020204020204" pitchFamily="34" charset="0"/>
                <a:ea typeface="Amazon Ember" panose="020B0603020204020204" pitchFamily="34" charset="0"/>
                <a:cs typeface="Amazon Ember" panose="020B0603020204020204" pitchFamily="34" charset="0"/>
              </a:rPr>
              <a:t>This training will begin:</a:t>
            </a:r>
          </a:p>
        </p:txBody>
      </p:sp>
      <p:sp>
        <p:nvSpPr>
          <p:cNvPr id="3" name="TimeZone">
            <a:extLst>
              <a:ext uri="{FF2B5EF4-FFF2-40B4-BE49-F238E27FC236}">
                <a16:creationId xmlns:a16="http://schemas.microsoft.com/office/drawing/2014/main" id="{15FEBCEE-35B5-4CBC-BD60-FE197957D654}"/>
              </a:ext>
            </a:extLst>
          </p:cNvPr>
          <p:cNvSpPr>
            <a:spLocks noGrp="1"/>
          </p:cNvSpPr>
          <p:nvPr>
            <p:ph type="body" idx="1" hasCustomPrompt="1"/>
          </p:nvPr>
        </p:nvSpPr>
        <p:spPr>
          <a:xfrm>
            <a:off x="336114" y="5463827"/>
            <a:ext cx="5268251" cy="627245"/>
          </a:xfrm>
        </p:spPr>
        <p:txBody>
          <a:bodyPr anchor="t">
            <a:normAutofit/>
          </a:bodyPr>
          <a:lstStyle>
            <a:lvl1pPr marL="0" indent="0" algn="ctr">
              <a:buNone/>
              <a:defRPr sz="2000">
                <a:solidFill>
                  <a:schemeClr val="bg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Enter the course start time and time zone</a:t>
            </a:r>
          </a:p>
        </p:txBody>
      </p:sp>
      <p:sp>
        <p:nvSpPr>
          <p:cNvPr id="22" name="Instructor Photo">
            <a:extLst>
              <a:ext uri="{FF2B5EF4-FFF2-40B4-BE49-F238E27FC236}">
                <a16:creationId xmlns:a16="http://schemas.microsoft.com/office/drawing/2014/main" id="{1271813C-5B30-4D24-8175-91D870333A95}"/>
              </a:ext>
              <a:ext uri="{C183D7F6-B498-43B3-948B-1728B52AA6E4}">
                <adec:decorative xmlns:adec="http://schemas.microsoft.com/office/drawing/2017/decorative" val="1"/>
              </a:ext>
            </a:extLst>
          </p:cNvPr>
          <p:cNvSpPr>
            <a:spLocks noGrp="1"/>
          </p:cNvSpPr>
          <p:nvPr>
            <p:ph idx="4" hasCustomPrompt="1"/>
          </p:nvPr>
        </p:nvSpPr>
        <p:spPr>
          <a:xfrm>
            <a:off x="6122226" y="440360"/>
            <a:ext cx="1584325" cy="1581912"/>
          </a:xfrm>
        </p:spPr>
        <p:txBody>
          <a:bodyPr>
            <a:normAutofit/>
          </a:bodyPr>
          <a:lstStyle>
            <a:lvl1pPr marL="0" indent="0" algn="ctr">
              <a:buNone/>
              <a:defRPr sz="2000">
                <a:solidFill>
                  <a:schemeClr val="bg1"/>
                </a:solidFill>
              </a:defRPr>
            </a:lvl1pPr>
          </a:lstStyle>
          <a:p>
            <a:r>
              <a:rPr lang="en-US"/>
              <a:t>Instructor photo</a:t>
            </a:r>
          </a:p>
        </p:txBody>
      </p:sp>
      <p:sp>
        <p:nvSpPr>
          <p:cNvPr id="23" name="Instructor title">
            <a:extLst>
              <a:ext uri="{FF2B5EF4-FFF2-40B4-BE49-F238E27FC236}">
                <a16:creationId xmlns:a16="http://schemas.microsoft.com/office/drawing/2014/main" id="{1E89B15E-5A77-464A-BFA6-2416D1566FA9}"/>
              </a:ext>
            </a:extLst>
          </p:cNvPr>
          <p:cNvSpPr txBox="1"/>
          <p:nvPr/>
        </p:nvSpPr>
        <p:spPr>
          <a:xfrm>
            <a:off x="7715773" y="412928"/>
            <a:ext cx="3060453" cy="523220"/>
          </a:xfrm>
          <a:prstGeom prst="rect">
            <a:avLst/>
          </a:prstGeom>
          <a:noFill/>
        </p:spPr>
        <p:txBody>
          <a:bodyPr wrap="none" rtlCol="0">
            <a:spAutoFit/>
          </a:bodyPr>
          <a:lstStyle/>
          <a:p>
            <a:r>
              <a:rPr lang="en-US" sz="2800">
                <a:solidFill>
                  <a:schemeClr val="tx2"/>
                </a:solidFill>
                <a:latin typeface="Amazon Ember" panose="020B0603020204020204" pitchFamily="34" charset="0"/>
                <a:ea typeface="Amazon Ember" panose="020B0603020204020204" pitchFamily="34" charset="0"/>
                <a:cs typeface="Amazon Ember" panose="020B0603020204020204" pitchFamily="34" charset="0"/>
              </a:rPr>
              <a:t>Your instructor is:</a:t>
            </a:r>
          </a:p>
        </p:txBody>
      </p:sp>
      <p:sp>
        <p:nvSpPr>
          <p:cNvPr id="7" name="Instructor Info">
            <a:extLst>
              <a:ext uri="{FF2B5EF4-FFF2-40B4-BE49-F238E27FC236}">
                <a16:creationId xmlns:a16="http://schemas.microsoft.com/office/drawing/2014/main" id="{09913C86-F9D2-40F4-BFE6-F0C9EF282B5E}"/>
              </a:ext>
            </a:extLst>
          </p:cNvPr>
          <p:cNvSpPr>
            <a:spLocks noGrp="1"/>
          </p:cNvSpPr>
          <p:nvPr>
            <p:ph type="body" idx="2" hasCustomPrompt="1"/>
          </p:nvPr>
        </p:nvSpPr>
        <p:spPr>
          <a:xfrm>
            <a:off x="7838662" y="1002529"/>
            <a:ext cx="4166263" cy="1021776"/>
          </a:xfrm>
        </p:spPr>
        <p:txBody>
          <a:bodyPr anchor="t">
            <a:normAutofit/>
          </a:bodyPr>
          <a:lstStyle>
            <a:lvl1pPr marL="0" indent="0" algn="l">
              <a:spcBef>
                <a:spcPts val="0"/>
              </a:spcBef>
              <a:spcAft>
                <a:spcPts val="0"/>
              </a:spcAft>
              <a:buNone/>
              <a:defRPr sz="20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Enter instructor name</a:t>
            </a:r>
            <a:br>
              <a:rPr lang="en-US"/>
            </a:br>
            <a:r>
              <a:rPr lang="en-US"/>
              <a:t>Instructor email address</a:t>
            </a:r>
            <a:br>
              <a:rPr lang="en-US"/>
            </a:br>
            <a:r>
              <a:rPr lang="en-US"/>
              <a:t>Instructor title</a:t>
            </a:r>
          </a:p>
        </p:txBody>
      </p:sp>
      <p:sp>
        <p:nvSpPr>
          <p:cNvPr id="24" name="Connection Title">
            <a:extLst>
              <a:ext uri="{FF2B5EF4-FFF2-40B4-BE49-F238E27FC236}">
                <a16:creationId xmlns:a16="http://schemas.microsoft.com/office/drawing/2014/main" id="{8EE8F574-4F92-4934-B4F0-90D055E5D8A2}"/>
              </a:ext>
            </a:extLst>
          </p:cNvPr>
          <p:cNvSpPr txBox="1"/>
          <p:nvPr/>
        </p:nvSpPr>
        <p:spPr>
          <a:xfrm>
            <a:off x="6447569" y="2330518"/>
            <a:ext cx="4328429" cy="523220"/>
          </a:xfrm>
          <a:prstGeom prst="rect">
            <a:avLst/>
          </a:prstGeom>
          <a:noFill/>
        </p:spPr>
        <p:txBody>
          <a:bodyPr wrap="none" rtlCol="0">
            <a:spAutoFit/>
          </a:bodyPr>
          <a:lstStyle/>
          <a:p>
            <a:r>
              <a:rPr lang="en-US" sz="2800">
                <a:solidFill>
                  <a:schemeClr val="tx2"/>
                </a:solidFill>
                <a:latin typeface="Amazon Ember" panose="020B0603020204020204" pitchFamily="34" charset="0"/>
                <a:ea typeface="Amazon Ember" panose="020B0603020204020204" pitchFamily="34" charset="0"/>
                <a:cs typeface="Amazon Ember" panose="020B0603020204020204" pitchFamily="34" charset="0"/>
              </a:rPr>
              <a:t>Connect to the following:</a:t>
            </a:r>
          </a:p>
        </p:txBody>
      </p:sp>
      <p:sp>
        <p:nvSpPr>
          <p:cNvPr id="8" name="Resources">
            <a:extLst>
              <a:ext uri="{FF2B5EF4-FFF2-40B4-BE49-F238E27FC236}">
                <a16:creationId xmlns:a16="http://schemas.microsoft.com/office/drawing/2014/main" id="{B7141889-281C-44C1-8554-B9EEA8D5FF40}"/>
              </a:ext>
            </a:extLst>
          </p:cNvPr>
          <p:cNvSpPr>
            <a:spLocks noGrp="1"/>
          </p:cNvSpPr>
          <p:nvPr>
            <p:ph type="body" idx="3" hasCustomPrompt="1"/>
          </p:nvPr>
        </p:nvSpPr>
        <p:spPr>
          <a:xfrm>
            <a:off x="6095999" y="2920118"/>
            <a:ext cx="5908925" cy="3497521"/>
          </a:xfrm>
        </p:spPr>
        <p:txBody>
          <a:bodyPr anchor="t">
            <a:normAutofit/>
          </a:bodyPr>
          <a:lstStyle>
            <a:lvl1pPr marL="0" indent="0" algn="l">
              <a:spcBef>
                <a:spcPts val="0"/>
              </a:spcBef>
              <a:spcAft>
                <a:spcPts val="0"/>
              </a:spcAft>
              <a:buNone/>
              <a:defRPr sz="1800" baseline="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Enter the information for </a:t>
            </a:r>
            <a:r>
              <a:rPr lang="en-US" err="1"/>
              <a:t>eVantage</a:t>
            </a:r>
            <a:r>
              <a:rPr lang="en-US"/>
              <a:t>, QwikLabs, and any other resources the student needs to have loaded</a:t>
            </a:r>
          </a:p>
        </p:txBody>
      </p:sp>
    </p:spTree>
    <p:custDataLst>
      <p:tags r:id="rId1"/>
    </p:custDataLst>
    <p:extLst>
      <p:ext uri="{BB962C8B-B14F-4D97-AF65-F5344CB8AC3E}">
        <p14:creationId xmlns:p14="http://schemas.microsoft.com/office/powerpoint/2010/main" val="1097160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ECE86FD8-F169-471F-88EA-8FF7FCC5008E}"/>
              </a:ext>
              <a:ext uri="{C183D7F6-B498-43B3-948B-1728B52AA6E4}">
                <adec:decorative xmlns:adec="http://schemas.microsoft.com/office/drawing/2017/decorative" val="1"/>
              </a:ext>
            </a:extLst>
          </p:cNvPr>
          <p:cNvGrpSpPr/>
          <p:nvPr/>
        </p:nvGrpSpPr>
        <p:grpSpPr>
          <a:xfrm>
            <a:off x="0" y="-1"/>
            <a:ext cx="12192000" cy="6858001"/>
            <a:chOff x="0" y="-1"/>
            <a:chExt cx="12192000" cy="6858001"/>
          </a:xfrm>
        </p:grpSpPr>
        <p:sp>
          <p:nvSpPr>
            <p:cNvPr id="89" name="BKG">
              <a:extLst>
                <a:ext uri="{FF2B5EF4-FFF2-40B4-BE49-F238E27FC236}">
                  <a16:creationId xmlns:a16="http://schemas.microsoft.com/office/drawing/2014/main" id="{027B77B7-F317-4AA6-A627-75F5AE2E7A5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97" name="CubeSide">
              <a:extLst>
                <a:ext uri="{FF2B5EF4-FFF2-40B4-BE49-F238E27FC236}">
                  <a16:creationId xmlns:a16="http://schemas.microsoft.com/office/drawing/2014/main" id="{30CD656D-5337-4244-BA3E-ABD963579911}"/>
                </a:ext>
                <a:ext uri="{C183D7F6-B498-43B3-948B-1728B52AA6E4}">
                  <adec:decorative xmlns:adec="http://schemas.microsoft.com/office/drawing/2017/decorative" val="1"/>
                </a:ext>
              </a:extLst>
            </p:cNvPr>
            <p:cNvSpPr/>
            <p:nvPr/>
          </p:nvSpPr>
          <p:spPr>
            <a:xfrm>
              <a:off x="5867400" y="0"/>
              <a:ext cx="2228850" cy="2295144"/>
            </a:xfrm>
            <a:custGeom>
              <a:avLst/>
              <a:gdLst>
                <a:gd name="connsiteX0" fmla="*/ 0 w 2228850"/>
                <a:gd name="connsiteY0" fmla="*/ 0 h 2295144"/>
                <a:gd name="connsiteX1" fmla="*/ 2228850 w 2228850"/>
                <a:gd name="connsiteY1" fmla="*/ 0 h 2295144"/>
                <a:gd name="connsiteX2" fmla="*/ 2228850 w 2228850"/>
                <a:gd name="connsiteY2" fmla="*/ 2295144 h 2295144"/>
                <a:gd name="connsiteX3" fmla="*/ 0 w 2228850"/>
                <a:gd name="connsiteY3" fmla="*/ 2295144 h 2295144"/>
                <a:gd name="connsiteX4" fmla="*/ 0 w 2228850"/>
                <a:gd name="connsiteY4" fmla="*/ 0 h 2295144"/>
                <a:gd name="connsiteX0" fmla="*/ 0 w 2228850"/>
                <a:gd name="connsiteY0" fmla="*/ 0 h 2295144"/>
                <a:gd name="connsiteX1" fmla="*/ 2228850 w 2228850"/>
                <a:gd name="connsiteY1" fmla="*/ 0 h 2295144"/>
                <a:gd name="connsiteX2" fmla="*/ 2228850 w 2228850"/>
                <a:gd name="connsiteY2" fmla="*/ 2295144 h 2295144"/>
                <a:gd name="connsiteX3" fmla="*/ 0 w 2228850"/>
                <a:gd name="connsiteY3" fmla="*/ 0 h 2295144"/>
              </a:gdLst>
              <a:ahLst/>
              <a:cxnLst>
                <a:cxn ang="0">
                  <a:pos x="connsiteX0" y="connsiteY0"/>
                </a:cxn>
                <a:cxn ang="0">
                  <a:pos x="connsiteX1" y="connsiteY1"/>
                </a:cxn>
                <a:cxn ang="0">
                  <a:pos x="connsiteX2" y="connsiteY2"/>
                </a:cxn>
                <a:cxn ang="0">
                  <a:pos x="connsiteX3" y="connsiteY3"/>
                </a:cxn>
              </a:cxnLst>
              <a:rect l="l" t="t" r="r" b="b"/>
              <a:pathLst>
                <a:path w="2228850" h="2295144">
                  <a:moveTo>
                    <a:pt x="0" y="0"/>
                  </a:moveTo>
                  <a:lnTo>
                    <a:pt x="2228850" y="0"/>
                  </a:lnTo>
                  <a:lnTo>
                    <a:pt x="2228850" y="2295144"/>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96" name="CubeFront">
              <a:extLst>
                <a:ext uri="{FF2B5EF4-FFF2-40B4-BE49-F238E27FC236}">
                  <a16:creationId xmlns:a16="http://schemas.microsoft.com/office/drawing/2014/main" id="{66A5F4A5-2CA3-4E34-97C1-74E113BA3D7E}"/>
                </a:ext>
                <a:ext uri="{C183D7F6-B498-43B3-948B-1728B52AA6E4}">
                  <adec:decorative xmlns:adec="http://schemas.microsoft.com/office/drawing/2017/decorative" val="1"/>
                </a:ext>
              </a:extLst>
            </p:cNvPr>
            <p:cNvSpPr/>
            <p:nvPr/>
          </p:nvSpPr>
          <p:spPr>
            <a:xfrm>
              <a:off x="8096250" y="-1"/>
              <a:ext cx="4095750" cy="22955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pic>
          <p:nvPicPr>
            <p:cNvPr id="98" name="AWS Logo">
              <a:extLst>
                <a:ext uri="{FF2B5EF4-FFF2-40B4-BE49-F238E27FC236}">
                  <a16:creationId xmlns:a16="http://schemas.microsoft.com/office/drawing/2014/main" id="{961F7EBA-6264-4D1A-BA90-2C8A61C69B37}"/>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585216" y="338328"/>
              <a:ext cx="1097280" cy="658368"/>
            </a:xfrm>
            <a:prstGeom prst="rect">
              <a:avLst/>
            </a:prstGeom>
          </p:spPr>
        </p:pic>
        <p:sp>
          <p:nvSpPr>
            <p:cNvPr id="9" name="Copyright">
              <a:extLst>
                <a:ext uri="{FF2B5EF4-FFF2-40B4-BE49-F238E27FC236}">
                  <a16:creationId xmlns:a16="http://schemas.microsoft.com/office/drawing/2014/main" id="{962C3F25-041D-4E5B-839E-FBB5D7B91A65}"/>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bg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69B11573-292E-4F55-A77E-C7F70767BE6A}"/>
              </a:ext>
            </a:extLst>
          </p:cNvPr>
          <p:cNvSpPr>
            <a:spLocks noGrp="1"/>
          </p:cNvSpPr>
          <p:nvPr>
            <p:ph type="title"/>
          </p:nvPr>
        </p:nvSpPr>
        <p:spPr>
          <a:xfrm>
            <a:off x="365760" y="2295144"/>
            <a:ext cx="11567160" cy="1481328"/>
          </a:xfrm>
        </p:spPr>
        <p:txBody>
          <a:bodyPr anchor="b">
            <a:normAutofit/>
          </a:bodyPr>
          <a:lstStyle>
            <a:lvl1pPr>
              <a:defRPr sz="4400">
                <a:solidFill>
                  <a:schemeClr val="bg2"/>
                </a:solidFill>
              </a:defRPr>
            </a:lvl1pPr>
          </a:lstStyle>
          <a:p>
            <a:r>
              <a:rPr lang="en-US"/>
              <a:t>Click to edit Master title style</a:t>
            </a:r>
          </a:p>
        </p:txBody>
      </p:sp>
      <p:sp>
        <p:nvSpPr>
          <p:cNvPr id="3" name="Subtitle">
            <a:extLst>
              <a:ext uri="{FF2B5EF4-FFF2-40B4-BE49-F238E27FC236}">
                <a16:creationId xmlns:a16="http://schemas.microsoft.com/office/drawing/2014/main" id="{4720F438-6999-4AEE-ABDC-CA4496A582B0}"/>
              </a:ext>
            </a:extLst>
          </p:cNvPr>
          <p:cNvSpPr>
            <a:spLocks noGrp="1"/>
          </p:cNvSpPr>
          <p:nvPr>
            <p:ph type="subTitle" idx="1" hasCustomPrompt="1"/>
          </p:nvPr>
        </p:nvSpPr>
        <p:spPr>
          <a:xfrm>
            <a:off x="365760" y="3803904"/>
            <a:ext cx="11567160" cy="2267712"/>
          </a:xfrm>
        </p:spPr>
        <p:txBody>
          <a:bodyPr>
            <a:noAutofit/>
          </a:bodyPr>
          <a:lstStyle>
            <a:lvl1pPr marL="0" indent="0">
              <a:buNone/>
              <a:defRPr sz="3200">
                <a:solidFill>
                  <a:schemeClr val="bg2"/>
                </a:solidFill>
              </a:defRPr>
            </a:lvl1pPr>
          </a:lstStyle>
          <a:p>
            <a:pPr lvl="0"/>
            <a:r>
              <a:rPr lang="en-US"/>
              <a:t>Type subtitle here</a:t>
            </a:r>
          </a:p>
        </p:txBody>
      </p:sp>
    </p:spTree>
    <p:custDataLst>
      <p:tags r:id="rId1"/>
    </p:custDataLst>
    <p:extLst>
      <p:ext uri="{BB962C8B-B14F-4D97-AF65-F5344CB8AC3E}">
        <p14:creationId xmlns:p14="http://schemas.microsoft.com/office/powerpoint/2010/main" val="1668361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Variant">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7B3DCE0D-B1BB-4208-8FF4-6B7AC00DC28E}"/>
              </a:ext>
              <a:ext uri="{C183D7F6-B498-43B3-948B-1728B52AA6E4}">
                <adec:decorative xmlns:adec="http://schemas.microsoft.com/office/drawing/2017/decorative" val="1"/>
              </a:ext>
            </a:extLst>
          </p:cNvPr>
          <p:cNvGrpSpPr/>
          <p:nvPr/>
        </p:nvGrpSpPr>
        <p:grpSpPr>
          <a:xfrm>
            <a:off x="0" y="0"/>
            <a:ext cx="12192000" cy="6868287"/>
            <a:chOff x="0" y="0"/>
            <a:chExt cx="12192000" cy="6868287"/>
          </a:xfrm>
        </p:grpSpPr>
        <p:sp>
          <p:nvSpPr>
            <p:cNvPr id="92" name="BKG-TP">
              <a:extLst>
                <a:ext uri="{FF2B5EF4-FFF2-40B4-BE49-F238E27FC236}">
                  <a16:creationId xmlns:a16="http://schemas.microsoft.com/office/drawing/2014/main" id="{B149FB85-86EE-4435-AFFD-185416ABD0BC}"/>
                </a:ext>
                <a:ext uri="{C183D7F6-B498-43B3-948B-1728B52AA6E4}">
                  <adec:decorative xmlns:adec="http://schemas.microsoft.com/office/drawing/2017/decorative" val="1"/>
                </a:ext>
              </a:extLst>
            </p:cNvPr>
            <p:cNvSpPr/>
            <p:nvPr/>
          </p:nvSpPr>
          <p:spPr>
            <a:xfrm>
              <a:off x="0" y="0"/>
              <a:ext cx="12191998" cy="43513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F802EE88-1736-4DCA-8546-B833E1DC91F1}"/>
                </a:ext>
                <a:ext uri="{C183D7F6-B498-43B3-948B-1728B52AA6E4}">
                  <adec:decorative xmlns:adec="http://schemas.microsoft.com/office/drawing/2017/decorative" val="1"/>
                </a:ext>
              </a:extLst>
            </p:cNvPr>
            <p:cNvSpPr/>
            <p:nvPr/>
          </p:nvSpPr>
          <p:spPr>
            <a:xfrm>
              <a:off x="0" y="942975"/>
              <a:ext cx="2552700" cy="5915025"/>
            </a:xfrm>
            <a:custGeom>
              <a:avLst/>
              <a:gdLst>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0 h 5915025"/>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 name="connsiteX5" fmla="*/ 0 w 2552700"/>
                <a:gd name="connsiteY5" fmla="*/ 0 h 5915025"/>
                <a:gd name="connsiteX0" fmla="*/ 0 w 2552700"/>
                <a:gd name="connsiteY0" fmla="*/ 3110865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2700" h="5915025">
                  <a:moveTo>
                    <a:pt x="0" y="3110865"/>
                  </a:moveTo>
                  <a:lnTo>
                    <a:pt x="2552700" y="0"/>
                  </a:lnTo>
                  <a:lnTo>
                    <a:pt x="2552700" y="5915025"/>
                  </a:lnTo>
                  <a:lnTo>
                    <a:pt x="0" y="5915025"/>
                  </a:lnTo>
                  <a:lnTo>
                    <a:pt x="0" y="311086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1909D555-A83A-43A3-ACF3-38A8D3D654E1}"/>
                </a:ext>
                <a:ext uri="{C183D7F6-B498-43B3-948B-1728B52AA6E4}">
                  <adec:decorative xmlns:adec="http://schemas.microsoft.com/office/drawing/2017/decorative" val="1"/>
                </a:ext>
              </a:extLst>
            </p:cNvPr>
            <p:cNvSpPr/>
            <p:nvPr/>
          </p:nvSpPr>
          <p:spPr>
            <a:xfrm>
              <a:off x="2552700" y="942975"/>
              <a:ext cx="9639300" cy="59253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F4EB4C23-6D3D-4AFD-8C20-ABBDE0E95555}"/>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585216" y="338328"/>
              <a:ext cx="1097280" cy="658368"/>
            </a:xfrm>
            <a:prstGeom prst="rect">
              <a:avLst/>
            </a:prstGeom>
          </p:spPr>
        </p:pic>
        <p:sp>
          <p:nvSpPr>
            <p:cNvPr id="10" name="Copyright">
              <a:extLst>
                <a:ext uri="{FF2B5EF4-FFF2-40B4-BE49-F238E27FC236}">
                  <a16:creationId xmlns:a16="http://schemas.microsoft.com/office/drawing/2014/main" id="{D18A8FFD-2A5D-4A49-85E4-97EFFB9C657F}"/>
                </a:ext>
              </a:extLst>
            </p:cNvPr>
            <p:cNvSpPr txBox="1"/>
            <p:nvPr/>
          </p:nvSpPr>
          <p:spPr>
            <a:xfrm>
              <a:off x="5039534" y="6568818"/>
              <a:ext cx="4659950" cy="261610"/>
            </a:xfrm>
            <a:prstGeom prst="rect">
              <a:avLst/>
            </a:prstGeom>
            <a:noFill/>
          </p:spPr>
          <p:txBody>
            <a:bodyPr wrap="square" rtlCol="0">
              <a:spAutoFit/>
            </a:bodyPr>
            <a:lstStyle/>
            <a:p>
              <a:pPr algn="ctr"/>
              <a:r>
                <a:rPr lang="en-US" sz="1100" kern="1200">
                  <a:solidFill>
                    <a:schemeClr val="bg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E4033957-0EFE-4329-90FD-EA0B2493A7A5}"/>
              </a:ext>
            </a:extLst>
          </p:cNvPr>
          <p:cNvSpPr>
            <a:spLocks noGrp="1"/>
          </p:cNvSpPr>
          <p:nvPr>
            <p:ph type="ctrTitle" hasCustomPrompt="1"/>
          </p:nvPr>
        </p:nvSpPr>
        <p:spPr>
          <a:xfrm>
            <a:off x="2697480" y="1451250"/>
            <a:ext cx="9189490" cy="2325458"/>
          </a:xfrm>
        </p:spPr>
        <p:txBody>
          <a:bodyPr anchor="b"/>
          <a:lstStyle>
            <a:lvl1pPr algn="l">
              <a:lnSpc>
                <a:spcPct val="100000"/>
              </a:lnSpc>
              <a:defRPr sz="4800">
                <a:solidFill>
                  <a:schemeClr val="bg2"/>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a:t>Type title here</a:t>
            </a:r>
          </a:p>
        </p:txBody>
      </p:sp>
      <p:sp>
        <p:nvSpPr>
          <p:cNvPr id="3" name="Subtitle">
            <a:extLst>
              <a:ext uri="{FF2B5EF4-FFF2-40B4-BE49-F238E27FC236}">
                <a16:creationId xmlns:a16="http://schemas.microsoft.com/office/drawing/2014/main" id="{D880B134-6E98-45E8-A3FF-0D4A8170A59B}"/>
              </a:ext>
            </a:extLst>
          </p:cNvPr>
          <p:cNvSpPr>
            <a:spLocks noGrp="1"/>
          </p:cNvSpPr>
          <p:nvPr>
            <p:ph type="subTitle" idx="1" hasCustomPrompt="1"/>
          </p:nvPr>
        </p:nvSpPr>
        <p:spPr>
          <a:xfrm>
            <a:off x="2697480" y="3799920"/>
            <a:ext cx="9189490" cy="2325458"/>
          </a:xfrm>
        </p:spPr>
        <p:txBody>
          <a:bodyPr lIns="0"/>
          <a:lstStyle>
            <a:lvl1pPr marL="0" indent="0" algn="l">
              <a:lnSpc>
                <a:spcPct val="100000"/>
              </a:lnSpc>
              <a:buNone/>
              <a:defRPr sz="3200">
                <a:solidFill>
                  <a:schemeClr val="bg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Type subtitle here</a:t>
            </a:r>
          </a:p>
        </p:txBody>
      </p:sp>
    </p:spTree>
    <p:custDataLst>
      <p:tags r:id="rId1"/>
    </p:custDataLst>
    <p:extLst>
      <p:ext uri="{BB962C8B-B14F-4D97-AF65-F5344CB8AC3E}">
        <p14:creationId xmlns:p14="http://schemas.microsoft.com/office/powerpoint/2010/main" val="1220641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365760" y="366471"/>
            <a:ext cx="8768256" cy="2293938"/>
          </a:xfrm>
        </p:spPr>
        <p:txBody>
          <a:bodyPr anchor="b"/>
          <a:lstStyle>
            <a:lvl1pPr>
              <a:defRPr sz="4400">
                <a:solidFill>
                  <a:schemeClr val="tx2"/>
                </a:solidFill>
              </a:defRPr>
            </a:lvl1pPr>
          </a:lstStyle>
          <a:p>
            <a:r>
              <a:rPr lang="en-US"/>
              <a:t>Enter title text</a:t>
            </a:r>
          </a:p>
        </p:txBody>
      </p:sp>
      <p:sp>
        <p:nvSpPr>
          <p:cNvPr id="3" name="Subtitle">
            <a:extLst>
              <a:ext uri="{FF2B5EF4-FFF2-40B4-BE49-F238E27FC236}">
                <a16:creationId xmlns:a16="http://schemas.microsoft.com/office/drawing/2014/main" id="{25336E2B-DB74-4789-BBF8-753828F72458}"/>
              </a:ext>
            </a:extLst>
          </p:cNvPr>
          <p:cNvSpPr>
            <a:spLocks noGrp="1"/>
          </p:cNvSpPr>
          <p:nvPr>
            <p:ph type="subTitle" idx="1" hasCustomPrompt="1"/>
          </p:nvPr>
        </p:nvSpPr>
        <p:spPr>
          <a:xfrm>
            <a:off x="365760" y="2688190"/>
            <a:ext cx="8768256" cy="2098121"/>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Enter subtitle</a:t>
            </a:r>
          </a:p>
        </p:txBody>
      </p:sp>
      <p:grpSp>
        <p:nvGrpSpPr>
          <p:cNvPr id="12" name="Background">
            <a:extLst>
              <a:ext uri="{FF2B5EF4-FFF2-40B4-BE49-F238E27FC236}">
                <a16:creationId xmlns:a16="http://schemas.microsoft.com/office/drawing/2014/main" id="{08931424-66E6-477A-95D2-2C5E26F414C7}"/>
              </a:ext>
            </a:extLst>
          </p:cNvPr>
          <p:cNvGrpSpPr/>
          <p:nvPr/>
        </p:nvGrpSpPr>
        <p:grpSpPr>
          <a:xfrm>
            <a:off x="656659" y="-1"/>
            <a:ext cx="11535342" cy="6858001"/>
            <a:chOff x="656659" y="-1"/>
            <a:chExt cx="11535342" cy="6858001"/>
          </a:xfrm>
        </p:grpSpPr>
        <p:sp>
          <p:nvSpPr>
            <p:cNvPr id="14" name="CubeFront">
              <a:extLst>
                <a:ext uri="{FF2B5EF4-FFF2-40B4-BE49-F238E27FC236}">
                  <a16:creationId xmlns:a16="http://schemas.microsoft.com/office/drawing/2014/main" id="{1BDF6026-D674-4E63-8B3A-CBDFE9E787C1}"/>
                </a:ext>
                <a:ext uri="{C183D7F6-B498-43B3-948B-1728B52AA6E4}">
                  <adec:decorative xmlns:adec="http://schemas.microsoft.com/office/drawing/2017/decorative" val="1"/>
                </a:ext>
              </a:extLst>
            </p:cNvPr>
            <p:cNvSpPr/>
            <p:nvPr/>
          </p:nvSpPr>
          <p:spPr>
            <a:xfrm>
              <a:off x="672321" y="5917721"/>
              <a:ext cx="4282108" cy="9402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beTop">
              <a:extLst>
                <a:ext uri="{FF2B5EF4-FFF2-40B4-BE49-F238E27FC236}">
                  <a16:creationId xmlns:a16="http://schemas.microsoft.com/office/drawing/2014/main" id="{06BB4668-D264-4030-8700-4F9782A61534}"/>
                </a:ext>
                <a:ext uri="{C183D7F6-B498-43B3-948B-1728B52AA6E4}">
                  <adec:decorative xmlns:adec="http://schemas.microsoft.com/office/drawing/2017/decorative" val="1"/>
                </a:ext>
              </a:extLst>
            </p:cNvPr>
            <p:cNvSpPr/>
            <p:nvPr/>
          </p:nvSpPr>
          <p:spPr>
            <a:xfrm>
              <a:off x="656659" y="4071144"/>
              <a:ext cx="11535342" cy="2786856"/>
            </a:xfrm>
            <a:custGeom>
              <a:avLst/>
              <a:gdLst>
                <a:gd name="connsiteX0" fmla="*/ 0 w 2363056"/>
                <a:gd name="connsiteY0" fmla="*/ 0 h 1655762"/>
                <a:gd name="connsiteX1" fmla="*/ 2363056 w 2363056"/>
                <a:gd name="connsiteY1" fmla="*/ 0 h 1655762"/>
                <a:gd name="connsiteX2" fmla="*/ 2363056 w 2363056"/>
                <a:gd name="connsiteY2" fmla="*/ 1655762 h 1655762"/>
                <a:gd name="connsiteX3" fmla="*/ 0 w 2363056"/>
                <a:gd name="connsiteY3" fmla="*/ 1655762 h 1655762"/>
                <a:gd name="connsiteX4" fmla="*/ 0 w 2363056"/>
                <a:gd name="connsiteY4" fmla="*/ 0 h 1655762"/>
                <a:gd name="connsiteX0" fmla="*/ 0 w 8716231"/>
                <a:gd name="connsiteY0" fmla="*/ 123825 h 1779587"/>
                <a:gd name="connsiteX1" fmla="*/ 8716231 w 8716231"/>
                <a:gd name="connsiteY1" fmla="*/ 0 h 1779587"/>
                <a:gd name="connsiteX2" fmla="*/ 2363056 w 8716231"/>
                <a:gd name="connsiteY2" fmla="*/ 1779587 h 1779587"/>
                <a:gd name="connsiteX3" fmla="*/ 0 w 8716231"/>
                <a:gd name="connsiteY3" fmla="*/ 1779587 h 1779587"/>
                <a:gd name="connsiteX4" fmla="*/ 0 w 8716231"/>
                <a:gd name="connsiteY4" fmla="*/ 123825 h 1779587"/>
                <a:gd name="connsiteX0" fmla="*/ 8558212 w 8716231"/>
                <a:gd name="connsiteY0" fmla="*/ 0 h 2774949"/>
                <a:gd name="connsiteX1" fmla="*/ 8716231 w 8716231"/>
                <a:gd name="connsiteY1" fmla="*/ 995362 h 2774949"/>
                <a:gd name="connsiteX2" fmla="*/ 2363056 w 8716231"/>
                <a:gd name="connsiteY2" fmla="*/ 2774949 h 2774949"/>
                <a:gd name="connsiteX3" fmla="*/ 0 w 8716231"/>
                <a:gd name="connsiteY3" fmla="*/ 2774949 h 2774949"/>
                <a:gd name="connsiteX4" fmla="*/ 8558212 w 8716231"/>
                <a:gd name="connsiteY4" fmla="*/ 0 h 2774949"/>
                <a:gd name="connsiteX0" fmla="*/ 8543924 w 8701943"/>
                <a:gd name="connsiteY0" fmla="*/ 0 h 2774949"/>
                <a:gd name="connsiteX1" fmla="*/ 8701943 w 8701943"/>
                <a:gd name="connsiteY1" fmla="*/ 995362 h 2774949"/>
                <a:gd name="connsiteX2" fmla="*/ 2348768 w 8701943"/>
                <a:gd name="connsiteY2" fmla="*/ 2774949 h 2774949"/>
                <a:gd name="connsiteX3" fmla="*/ 0 w 8701943"/>
                <a:gd name="connsiteY3" fmla="*/ 1846261 h 2774949"/>
                <a:gd name="connsiteX4" fmla="*/ 8543924 w 8701943"/>
                <a:gd name="connsiteY4" fmla="*/ 0 h 2774949"/>
                <a:gd name="connsiteX0" fmla="*/ 8543924 w 8701943"/>
                <a:gd name="connsiteY0" fmla="*/ 0 h 2779712"/>
                <a:gd name="connsiteX1" fmla="*/ 8701943 w 8701943"/>
                <a:gd name="connsiteY1" fmla="*/ 995362 h 2779712"/>
                <a:gd name="connsiteX2" fmla="*/ 4187093 w 8701943"/>
                <a:gd name="connsiteY2" fmla="*/ 2779712 h 2779712"/>
                <a:gd name="connsiteX3" fmla="*/ 0 w 8701943"/>
                <a:gd name="connsiteY3" fmla="*/ 1846261 h 2779712"/>
                <a:gd name="connsiteX4" fmla="*/ 8543924 w 8701943"/>
                <a:gd name="connsiteY4" fmla="*/ 0 h 2779712"/>
                <a:gd name="connsiteX0" fmla="*/ 8543924 w 8701943"/>
                <a:gd name="connsiteY0" fmla="*/ 0 h 2779712"/>
                <a:gd name="connsiteX1" fmla="*/ 8701943 w 8701943"/>
                <a:gd name="connsiteY1" fmla="*/ 995362 h 2779712"/>
                <a:gd name="connsiteX2" fmla="*/ 5470934 w 8701943"/>
                <a:gd name="connsiteY2" fmla="*/ 2265362 h 2779712"/>
                <a:gd name="connsiteX3" fmla="*/ 4187093 w 8701943"/>
                <a:gd name="connsiteY3" fmla="*/ 2779712 h 2779712"/>
                <a:gd name="connsiteX4" fmla="*/ 0 w 8701943"/>
                <a:gd name="connsiteY4" fmla="*/ 1846261 h 2779712"/>
                <a:gd name="connsiteX5" fmla="*/ 8543924 w 8701943"/>
                <a:gd name="connsiteY5" fmla="*/ 0 h 2779712"/>
                <a:gd name="connsiteX0" fmla="*/ 8543924 w 11614559"/>
                <a:gd name="connsiteY0" fmla="*/ 0 h 2779712"/>
                <a:gd name="connsiteX1" fmla="*/ 8701943 w 11614559"/>
                <a:gd name="connsiteY1" fmla="*/ 995362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43924 w 11614559"/>
                <a:gd name="connsiteY0" fmla="*/ 0 h 2779712"/>
                <a:gd name="connsiteX1" fmla="*/ 11607068 w 11614559"/>
                <a:gd name="connsiteY1" fmla="*/ 685800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53449 w 11614559"/>
                <a:gd name="connsiteY0" fmla="*/ 0 h 2784474"/>
                <a:gd name="connsiteX1" fmla="*/ 11607068 w 11614559"/>
                <a:gd name="connsiteY1" fmla="*/ 690562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1831 w 11614559"/>
                <a:gd name="connsiteY1" fmla="*/ 721518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4212 w 11614559"/>
                <a:gd name="connsiteY1" fmla="*/ 719137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6733"/>
                <a:gd name="connsiteY0" fmla="*/ 0 h 2784474"/>
                <a:gd name="connsiteX1" fmla="*/ 11616594 w 11616733"/>
                <a:gd name="connsiteY1" fmla="*/ 716755 h 2784474"/>
                <a:gd name="connsiteX2" fmla="*/ 11614559 w 11616733"/>
                <a:gd name="connsiteY2" fmla="*/ 2784474 h 2784474"/>
                <a:gd name="connsiteX3" fmla="*/ 4187093 w 11616733"/>
                <a:gd name="connsiteY3" fmla="*/ 2784474 h 2784474"/>
                <a:gd name="connsiteX4" fmla="*/ 0 w 11616733"/>
                <a:gd name="connsiteY4" fmla="*/ 1851023 h 2784474"/>
                <a:gd name="connsiteX5" fmla="*/ 8553449 w 11616733"/>
                <a:gd name="connsiteY5" fmla="*/ 0 h 2784474"/>
                <a:gd name="connsiteX0" fmla="*/ 8562974 w 11616733"/>
                <a:gd name="connsiteY0" fmla="*/ 0 h 2786856"/>
                <a:gd name="connsiteX1" fmla="*/ 11616594 w 11616733"/>
                <a:gd name="connsiteY1" fmla="*/ 719137 h 2786856"/>
                <a:gd name="connsiteX2" fmla="*/ 11614559 w 11616733"/>
                <a:gd name="connsiteY2" fmla="*/ 2786856 h 2786856"/>
                <a:gd name="connsiteX3" fmla="*/ 4187093 w 11616733"/>
                <a:gd name="connsiteY3" fmla="*/ 2786856 h 2786856"/>
                <a:gd name="connsiteX4" fmla="*/ 0 w 11616733"/>
                <a:gd name="connsiteY4" fmla="*/ 1853405 h 2786856"/>
                <a:gd name="connsiteX5" fmla="*/ 8562974 w 11616733"/>
                <a:gd name="connsiteY5" fmla="*/ 0 h 2786856"/>
                <a:gd name="connsiteX0" fmla="*/ 8562974 w 11614559"/>
                <a:gd name="connsiteY0" fmla="*/ 0 h 2786856"/>
                <a:gd name="connsiteX1" fmla="*/ 11614213 w 11614559"/>
                <a:gd name="connsiteY1" fmla="*/ 688180 h 2786856"/>
                <a:gd name="connsiteX2" fmla="*/ 11614559 w 11614559"/>
                <a:gd name="connsiteY2" fmla="*/ 2786856 h 2786856"/>
                <a:gd name="connsiteX3" fmla="*/ 4187093 w 11614559"/>
                <a:gd name="connsiteY3" fmla="*/ 2786856 h 2786856"/>
                <a:gd name="connsiteX4" fmla="*/ 0 w 11614559"/>
                <a:gd name="connsiteY4" fmla="*/ 1853405 h 2786856"/>
                <a:gd name="connsiteX5" fmla="*/ 8562974 w 11614559"/>
                <a:gd name="connsiteY5" fmla="*/ 0 h 2786856"/>
                <a:gd name="connsiteX0" fmla="*/ 8567736 w 11619321"/>
                <a:gd name="connsiteY0" fmla="*/ 0 h 2786856"/>
                <a:gd name="connsiteX1" fmla="*/ 11618975 w 11619321"/>
                <a:gd name="connsiteY1" fmla="*/ 688180 h 2786856"/>
                <a:gd name="connsiteX2" fmla="*/ 11619321 w 11619321"/>
                <a:gd name="connsiteY2" fmla="*/ 2786856 h 2786856"/>
                <a:gd name="connsiteX3" fmla="*/ 4191855 w 11619321"/>
                <a:gd name="connsiteY3" fmla="*/ 2786856 h 2786856"/>
                <a:gd name="connsiteX4" fmla="*/ 0 w 11619321"/>
                <a:gd name="connsiteY4" fmla="*/ 1853405 h 2786856"/>
                <a:gd name="connsiteX5" fmla="*/ 8567736 w 11619321"/>
                <a:gd name="connsiteY5" fmla="*/ 0 h 278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9321" h="2786856">
                  <a:moveTo>
                    <a:pt x="8567736" y="0"/>
                  </a:moveTo>
                  <a:lnTo>
                    <a:pt x="11618975" y="688180"/>
                  </a:lnTo>
                  <a:cubicBezTo>
                    <a:pt x="11619884" y="1375832"/>
                    <a:pt x="11618412" y="2099204"/>
                    <a:pt x="11619321" y="2786856"/>
                  </a:cubicBezTo>
                  <a:lnTo>
                    <a:pt x="4191855" y="2786856"/>
                  </a:lnTo>
                  <a:lnTo>
                    <a:pt x="0" y="1853405"/>
                  </a:lnTo>
                  <a:lnTo>
                    <a:pt x="856773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BKG-RT">
              <a:extLst>
                <a:ext uri="{FF2B5EF4-FFF2-40B4-BE49-F238E27FC236}">
                  <a16:creationId xmlns:a16="http://schemas.microsoft.com/office/drawing/2014/main" id="{8E17F594-599B-4FD9-8BCB-8E1C019CCB44}"/>
                </a:ext>
                <a:ext uri="{C183D7F6-B498-43B3-948B-1728B52AA6E4}">
                  <adec:decorative xmlns:adec="http://schemas.microsoft.com/office/drawing/2017/decorative" val="1"/>
                </a:ext>
              </a:extLst>
            </p:cNvPr>
            <p:cNvSpPr/>
            <p:nvPr/>
          </p:nvSpPr>
          <p:spPr>
            <a:xfrm>
              <a:off x="9175265" y="-1"/>
              <a:ext cx="3016735" cy="4786313"/>
            </a:xfrm>
            <a:custGeom>
              <a:avLst/>
              <a:gdLst>
                <a:gd name="connsiteX0" fmla="*/ 0 w 3057526"/>
                <a:gd name="connsiteY0" fmla="*/ 0 h 3930651"/>
                <a:gd name="connsiteX1" fmla="*/ 3057526 w 3057526"/>
                <a:gd name="connsiteY1" fmla="*/ 0 h 3930651"/>
                <a:gd name="connsiteX2" fmla="*/ 3057526 w 3057526"/>
                <a:gd name="connsiteY2" fmla="*/ 3930651 h 3930651"/>
                <a:gd name="connsiteX3" fmla="*/ 0 w 3057526"/>
                <a:gd name="connsiteY3" fmla="*/ 3930651 h 3930651"/>
                <a:gd name="connsiteX4" fmla="*/ 0 w 3057526"/>
                <a:gd name="connsiteY4" fmla="*/ 0 h 3930651"/>
                <a:gd name="connsiteX0" fmla="*/ 0 w 3062289"/>
                <a:gd name="connsiteY0" fmla="*/ 0 h 4621213"/>
                <a:gd name="connsiteX1" fmla="*/ 3057526 w 3062289"/>
                <a:gd name="connsiteY1" fmla="*/ 0 h 4621213"/>
                <a:gd name="connsiteX2" fmla="*/ 3062289 w 3062289"/>
                <a:gd name="connsiteY2" fmla="*/ 4621213 h 4621213"/>
                <a:gd name="connsiteX3" fmla="*/ 0 w 3062289"/>
                <a:gd name="connsiteY3" fmla="*/ 3930651 h 4621213"/>
                <a:gd name="connsiteX4" fmla="*/ 0 w 3062289"/>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0 w 3057984"/>
                <a:gd name="connsiteY3" fmla="*/ 3930651 h 4621213"/>
                <a:gd name="connsiteX4" fmla="*/ 0 w 3057984"/>
                <a:gd name="connsiteY4" fmla="*/ 0 h 462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984" h="4621213">
                  <a:moveTo>
                    <a:pt x="0" y="0"/>
                  </a:moveTo>
                  <a:lnTo>
                    <a:pt x="3057526" y="0"/>
                  </a:lnTo>
                  <a:cubicBezTo>
                    <a:pt x="3059114" y="1540404"/>
                    <a:pt x="3055938" y="3080809"/>
                    <a:pt x="3057526" y="4621213"/>
                  </a:cubicBezTo>
                  <a:lnTo>
                    <a:pt x="0" y="393065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7" name="Icons">
              <a:extLst>
                <a:ext uri="{FF2B5EF4-FFF2-40B4-BE49-F238E27FC236}">
                  <a16:creationId xmlns:a16="http://schemas.microsoft.com/office/drawing/2014/main" id="{3826BD34-BA31-4D91-BFD2-6BBD94A51D24}"/>
                </a:ext>
                <a:ext uri="{C183D7F6-B498-43B3-948B-1728B52AA6E4}">
                  <adec:decorative xmlns:adec="http://schemas.microsoft.com/office/drawing/2017/decorative" val="1"/>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val="0"/>
                </a:ext>
              </a:extLst>
            </a:blip>
            <a:stretch>
              <a:fillRect/>
            </a:stretch>
          </p:blipFill>
          <p:spPr>
            <a:xfrm>
              <a:off x="1017429" y="4011878"/>
              <a:ext cx="11174571" cy="2846121"/>
            </a:xfrm>
            <a:prstGeom prst="rect">
              <a:avLst/>
            </a:prstGeom>
          </p:spPr>
        </p:pic>
        <p:sp>
          <p:nvSpPr>
            <p:cNvPr id="18" name="CopyBackground">
              <a:extLst>
                <a:ext uri="{FF2B5EF4-FFF2-40B4-BE49-F238E27FC236}">
                  <a16:creationId xmlns:a16="http://schemas.microsoft.com/office/drawing/2014/main" id="{3994923B-6EFE-4BB7-A3B5-632436E91DB9}"/>
                </a:ext>
              </a:extLst>
            </p:cNvPr>
            <p:cNvSpPr/>
            <p:nvPr/>
          </p:nvSpPr>
          <p:spPr>
            <a:xfrm>
              <a:off x="7622849" y="6646849"/>
              <a:ext cx="4425354"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pyright">
              <a:extLst>
                <a:ext uri="{FF2B5EF4-FFF2-40B4-BE49-F238E27FC236}">
                  <a16:creationId xmlns:a16="http://schemas.microsoft.com/office/drawing/2014/main" id="{D87DDC37-6AB4-424A-BA07-3B0AF81A1053}"/>
                </a:ext>
              </a:extLst>
            </p:cNvPr>
            <p:cNvSpPr txBox="1"/>
            <p:nvPr/>
          </p:nvSpPr>
          <p:spPr>
            <a:xfrm>
              <a:off x="7538162" y="657989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Tree>
    <p:custDataLst>
      <p:tags r:id="rId1"/>
    </p:custDataLst>
    <p:extLst>
      <p:ext uri="{BB962C8B-B14F-4D97-AF65-F5344CB8AC3E}">
        <p14:creationId xmlns:p14="http://schemas.microsoft.com/office/powerpoint/2010/main" val="3167987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Variant">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8D6A50E3-62DD-469F-A4B4-2DC279107EB8}"/>
              </a:ext>
              <a:ext uri="{C183D7F6-B498-43B3-948B-1728B52AA6E4}">
                <adec:decorative xmlns:adec="http://schemas.microsoft.com/office/drawing/2017/decorative" val="1"/>
              </a:ext>
            </a:extLst>
          </p:cNvPr>
          <p:cNvGrpSpPr/>
          <p:nvPr/>
        </p:nvGrpSpPr>
        <p:grpSpPr>
          <a:xfrm>
            <a:off x="0" y="0"/>
            <a:ext cx="12192000" cy="6858000"/>
            <a:chOff x="0" y="0"/>
            <a:chExt cx="12192000" cy="6858000"/>
          </a:xfrm>
        </p:grpSpPr>
        <p:sp>
          <p:nvSpPr>
            <p:cNvPr id="91" name="BKG-BM">
              <a:extLst>
                <a:ext uri="{FF2B5EF4-FFF2-40B4-BE49-F238E27FC236}">
                  <a16:creationId xmlns:a16="http://schemas.microsoft.com/office/drawing/2014/main" id="{165087FF-D0AD-4AD7-B899-B2227A662904}"/>
                </a:ext>
                <a:ext uri="{C183D7F6-B498-43B3-948B-1728B52AA6E4}">
                  <adec:decorative xmlns:adec="http://schemas.microsoft.com/office/drawing/2017/decorative" val="1"/>
                </a:ext>
              </a:extLst>
            </p:cNvPr>
            <p:cNvSpPr/>
            <p:nvPr/>
          </p:nvSpPr>
          <p:spPr>
            <a:xfrm>
              <a:off x="0" y="5576341"/>
              <a:ext cx="11062270" cy="12816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CubeTop">
              <a:extLst>
                <a:ext uri="{FF2B5EF4-FFF2-40B4-BE49-F238E27FC236}">
                  <a16:creationId xmlns:a16="http://schemas.microsoft.com/office/drawing/2014/main" id="{81DABB71-298F-46E6-9028-558C99DF72DF}"/>
                </a:ext>
                <a:ext uri="{C183D7F6-B498-43B3-948B-1728B52AA6E4}">
                  <adec:decorative xmlns:adec="http://schemas.microsoft.com/office/drawing/2017/decorative" val="1"/>
                </a:ext>
              </a:extLst>
            </p:cNvPr>
            <p:cNvSpPr/>
            <p:nvPr/>
          </p:nvSpPr>
          <p:spPr>
            <a:xfrm>
              <a:off x="9669645" y="0"/>
              <a:ext cx="2522355" cy="143198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31FFCCD2-46F8-4A8C-9D8D-34F0218F69C7}"/>
                </a:ext>
                <a:ext uri="{C183D7F6-B498-43B3-948B-1728B52AA6E4}">
                  <adec:decorative xmlns:adec="http://schemas.microsoft.com/office/drawing/2017/decorative" val="1"/>
                </a:ext>
              </a:extLst>
            </p:cNvPr>
            <p:cNvSpPr/>
            <p:nvPr/>
          </p:nvSpPr>
          <p:spPr>
            <a:xfrm>
              <a:off x="9519222" y="0"/>
              <a:ext cx="1543050" cy="6858000"/>
            </a:xfrm>
            <a:custGeom>
              <a:avLst/>
              <a:gdLst>
                <a:gd name="connsiteX0" fmla="*/ 0 w 1533524"/>
                <a:gd name="connsiteY0" fmla="*/ 0 h 6858000"/>
                <a:gd name="connsiteX1" fmla="*/ 1533524 w 1533524"/>
                <a:gd name="connsiteY1" fmla="*/ 0 h 6858000"/>
                <a:gd name="connsiteX2" fmla="*/ 1533524 w 1533524"/>
                <a:gd name="connsiteY2" fmla="*/ 6858000 h 6858000"/>
                <a:gd name="connsiteX3" fmla="*/ 0 w 1533524"/>
                <a:gd name="connsiteY3" fmla="*/ 6858000 h 6858000"/>
                <a:gd name="connsiteX4" fmla="*/ 0 w 1533524"/>
                <a:gd name="connsiteY4" fmla="*/ 0 h 6858000"/>
                <a:gd name="connsiteX0" fmla="*/ 0 w 1533524"/>
                <a:gd name="connsiteY0" fmla="*/ 0 h 6858000"/>
                <a:gd name="connsiteX1" fmla="*/ 190500 w 1533524"/>
                <a:gd name="connsiteY1" fmla="*/ 0 h 6858000"/>
                <a:gd name="connsiteX2" fmla="*/ 1533524 w 1533524"/>
                <a:gd name="connsiteY2" fmla="*/ 0 h 6858000"/>
                <a:gd name="connsiteX3" fmla="*/ 1533524 w 1533524"/>
                <a:gd name="connsiteY3" fmla="*/ 6858000 h 6858000"/>
                <a:gd name="connsiteX4" fmla="*/ 0 w 1533524"/>
                <a:gd name="connsiteY4" fmla="*/ 6858000 h 6858000"/>
                <a:gd name="connsiteX5" fmla="*/ 0 w 1533524"/>
                <a:gd name="connsiteY5" fmla="*/ 0 h 6858000"/>
                <a:gd name="connsiteX0" fmla="*/ 0 w 1533525"/>
                <a:gd name="connsiteY0" fmla="*/ 0 h 6858000"/>
                <a:gd name="connsiteX1" fmla="*/ 190500 w 1533525"/>
                <a:gd name="connsiteY1" fmla="*/ 0 h 6858000"/>
                <a:gd name="connsiteX2" fmla="*/ 1533524 w 1533525"/>
                <a:gd name="connsiteY2" fmla="*/ 0 h 6858000"/>
                <a:gd name="connsiteX3" fmla="*/ 1533525 w 1533525"/>
                <a:gd name="connsiteY3" fmla="*/ 1343025 h 6858000"/>
                <a:gd name="connsiteX4" fmla="*/ 1533524 w 1533525"/>
                <a:gd name="connsiteY4" fmla="*/ 6858000 h 6858000"/>
                <a:gd name="connsiteX5" fmla="*/ 0 w 1533525"/>
                <a:gd name="connsiteY5" fmla="*/ 6858000 h 6858000"/>
                <a:gd name="connsiteX6" fmla="*/ 0 w 1533525"/>
                <a:gd name="connsiteY6" fmla="*/ 0 h 6858000"/>
                <a:gd name="connsiteX0" fmla="*/ 0 w 1533525"/>
                <a:gd name="connsiteY0" fmla="*/ 0 h 6858000"/>
                <a:gd name="connsiteX1" fmla="*/ 190500 w 1533525"/>
                <a:gd name="connsiteY1" fmla="*/ 0 h 6858000"/>
                <a:gd name="connsiteX2" fmla="*/ 1533524 w 1533525"/>
                <a:gd name="connsiteY2" fmla="*/ 0 h 6858000"/>
                <a:gd name="connsiteX3" fmla="*/ 1533525 w 1533525"/>
                <a:gd name="connsiteY3" fmla="*/ 1343025 h 6858000"/>
                <a:gd name="connsiteX4" fmla="*/ 1533524 w 1533525"/>
                <a:gd name="connsiteY4" fmla="*/ 6858000 h 6858000"/>
                <a:gd name="connsiteX5" fmla="*/ 1333500 w 1533525"/>
                <a:gd name="connsiteY5" fmla="*/ 6858000 h 6858000"/>
                <a:gd name="connsiteX6" fmla="*/ 0 w 1533525"/>
                <a:gd name="connsiteY6" fmla="*/ 6858000 h 6858000"/>
                <a:gd name="connsiteX7" fmla="*/ 0 w 1533525"/>
                <a:gd name="connsiteY7" fmla="*/ 0 h 6858000"/>
                <a:gd name="connsiteX0" fmla="*/ 9525 w 1543050"/>
                <a:gd name="connsiteY0" fmla="*/ 0 h 6858000"/>
                <a:gd name="connsiteX1" fmla="*/ 200025 w 1543050"/>
                <a:gd name="connsiteY1" fmla="*/ 0 h 6858000"/>
                <a:gd name="connsiteX2" fmla="*/ 1543049 w 1543050"/>
                <a:gd name="connsiteY2" fmla="*/ 0 h 6858000"/>
                <a:gd name="connsiteX3" fmla="*/ 1543050 w 1543050"/>
                <a:gd name="connsiteY3" fmla="*/ 1343025 h 6858000"/>
                <a:gd name="connsiteX4" fmla="*/ 1543049 w 1543050"/>
                <a:gd name="connsiteY4" fmla="*/ 6858000 h 6858000"/>
                <a:gd name="connsiteX5" fmla="*/ 1343025 w 1543050"/>
                <a:gd name="connsiteY5" fmla="*/ 6858000 h 6858000"/>
                <a:gd name="connsiteX6" fmla="*/ 9525 w 1543050"/>
                <a:gd name="connsiteY6" fmla="*/ 6858000 h 6858000"/>
                <a:gd name="connsiteX7" fmla="*/ 0 w 1543050"/>
                <a:gd name="connsiteY7" fmla="*/ 5591175 h 6858000"/>
                <a:gd name="connsiteX8" fmla="*/ 9525 w 1543050"/>
                <a:gd name="connsiteY8" fmla="*/ 0 h 6858000"/>
                <a:gd name="connsiteX0" fmla="*/ 9525 w 1543050"/>
                <a:gd name="connsiteY0" fmla="*/ 0 h 6858000"/>
                <a:gd name="connsiteX1" fmla="*/ 200025 w 1543050"/>
                <a:gd name="connsiteY1" fmla="*/ 0 h 6858000"/>
                <a:gd name="connsiteX2" fmla="*/ 1543049 w 1543050"/>
                <a:gd name="connsiteY2" fmla="*/ 0 h 6858000"/>
                <a:gd name="connsiteX3" fmla="*/ 1543050 w 1543050"/>
                <a:gd name="connsiteY3" fmla="*/ 1343025 h 6858000"/>
                <a:gd name="connsiteX4" fmla="*/ 1543049 w 1543050"/>
                <a:gd name="connsiteY4" fmla="*/ 6858000 h 6858000"/>
                <a:gd name="connsiteX5" fmla="*/ 1343025 w 1543050"/>
                <a:gd name="connsiteY5" fmla="*/ 6858000 h 6858000"/>
                <a:gd name="connsiteX6" fmla="*/ 0 w 1543050"/>
                <a:gd name="connsiteY6" fmla="*/ 5591175 h 6858000"/>
                <a:gd name="connsiteX7" fmla="*/ 9525 w 1543050"/>
                <a:gd name="connsiteY7" fmla="*/ 0 h 6858000"/>
                <a:gd name="connsiteX0" fmla="*/ 9525 w 1543050"/>
                <a:gd name="connsiteY0" fmla="*/ 0 h 6858000"/>
                <a:gd name="connsiteX1" fmla="*/ 200025 w 1543050"/>
                <a:gd name="connsiteY1" fmla="*/ 0 h 6858000"/>
                <a:gd name="connsiteX2" fmla="*/ 1543050 w 1543050"/>
                <a:gd name="connsiteY2" fmla="*/ 1343025 h 6858000"/>
                <a:gd name="connsiteX3" fmla="*/ 1543049 w 1543050"/>
                <a:gd name="connsiteY3" fmla="*/ 6858000 h 6858000"/>
                <a:gd name="connsiteX4" fmla="*/ 1343025 w 1543050"/>
                <a:gd name="connsiteY4" fmla="*/ 6858000 h 6858000"/>
                <a:gd name="connsiteX5" fmla="*/ 0 w 1543050"/>
                <a:gd name="connsiteY5" fmla="*/ 5591175 h 6858000"/>
                <a:gd name="connsiteX6" fmla="*/ 9525 w 154305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3050" h="6858000">
                  <a:moveTo>
                    <a:pt x="9525" y="0"/>
                  </a:moveTo>
                  <a:lnTo>
                    <a:pt x="200025" y="0"/>
                  </a:lnTo>
                  <a:lnTo>
                    <a:pt x="1543050" y="1343025"/>
                  </a:lnTo>
                  <a:cubicBezTo>
                    <a:pt x="1543050" y="3181350"/>
                    <a:pt x="1543049" y="5019675"/>
                    <a:pt x="1543049" y="6858000"/>
                  </a:cubicBezTo>
                  <a:lnTo>
                    <a:pt x="1343025" y="6858000"/>
                  </a:lnTo>
                  <a:lnTo>
                    <a:pt x="0" y="5591175"/>
                  </a:lnTo>
                  <a:lnTo>
                    <a:pt x="9525"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7E222A23-E698-4993-93A7-9606CF977314}"/>
                </a:ext>
                <a:ext uri="{C183D7F6-B498-43B3-948B-1728B52AA6E4}">
                  <adec:decorative xmlns:adec="http://schemas.microsoft.com/office/drawing/2017/decorative" val="1"/>
                </a:ext>
              </a:extLst>
            </p:cNvPr>
            <p:cNvSpPr/>
            <p:nvPr/>
          </p:nvSpPr>
          <p:spPr>
            <a:xfrm>
              <a:off x="11062271" y="1339850"/>
              <a:ext cx="1129729" cy="5518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2" name="Copyright">
              <a:extLst>
                <a:ext uri="{FF2B5EF4-FFF2-40B4-BE49-F238E27FC236}">
                  <a16:creationId xmlns:a16="http://schemas.microsoft.com/office/drawing/2014/main" id="{2BDDDA44-1049-4257-AA44-8A620E1B69F0}"/>
                </a:ext>
              </a:extLst>
            </p:cNvPr>
            <p:cNvSpPr txBox="1"/>
            <p:nvPr/>
          </p:nvSpPr>
          <p:spPr>
            <a:xfrm>
              <a:off x="342029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365759" y="831163"/>
            <a:ext cx="9153461" cy="2293938"/>
          </a:xfrm>
        </p:spPr>
        <p:txBody>
          <a:bodyPr anchor="b"/>
          <a:lstStyle>
            <a:lvl1pPr>
              <a:defRPr sz="4400">
                <a:solidFill>
                  <a:schemeClr val="tx2"/>
                </a:solidFill>
              </a:defRPr>
            </a:lvl1pPr>
          </a:lstStyle>
          <a:p>
            <a:r>
              <a:rPr lang="en-US"/>
              <a:t>Enter title text</a:t>
            </a:r>
          </a:p>
        </p:txBody>
      </p:sp>
      <p:sp>
        <p:nvSpPr>
          <p:cNvPr id="3" name="Subtitle">
            <a:extLst>
              <a:ext uri="{FF2B5EF4-FFF2-40B4-BE49-F238E27FC236}">
                <a16:creationId xmlns:a16="http://schemas.microsoft.com/office/drawing/2014/main" id="{25336E2B-DB74-4789-BBF8-753828F72458}"/>
              </a:ext>
            </a:extLst>
          </p:cNvPr>
          <p:cNvSpPr>
            <a:spLocks noGrp="1"/>
          </p:cNvSpPr>
          <p:nvPr>
            <p:ph type="subTitle" idx="1" hasCustomPrompt="1"/>
          </p:nvPr>
        </p:nvSpPr>
        <p:spPr>
          <a:xfrm>
            <a:off x="365759" y="3152882"/>
            <a:ext cx="9153461" cy="2423459"/>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Enter subtitle</a:t>
            </a:r>
          </a:p>
        </p:txBody>
      </p:sp>
    </p:spTree>
    <p:custDataLst>
      <p:tags r:id="rId1"/>
    </p:custDataLst>
    <p:extLst>
      <p:ext uri="{BB962C8B-B14F-4D97-AF65-F5344CB8AC3E}">
        <p14:creationId xmlns:p14="http://schemas.microsoft.com/office/powerpoint/2010/main" val="389894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opic Introduction">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48DE57BE-35D1-43C9-81E8-26E8A5D23F69}"/>
              </a:ext>
              <a:ext uri="{C183D7F6-B498-43B3-948B-1728B52AA6E4}">
                <adec:decorative xmlns:adec="http://schemas.microsoft.com/office/drawing/2017/decorative" val="1"/>
              </a:ext>
            </a:extLst>
          </p:cNvPr>
          <p:cNvGrpSpPr/>
          <p:nvPr/>
        </p:nvGrpSpPr>
        <p:grpSpPr>
          <a:xfrm>
            <a:off x="0" y="1"/>
            <a:ext cx="10679012" cy="6858000"/>
            <a:chOff x="0" y="1"/>
            <a:chExt cx="10679012" cy="6858000"/>
          </a:xfrm>
        </p:grpSpPr>
        <p:sp>
          <p:nvSpPr>
            <p:cNvPr id="93" name="BKG-LT">
              <a:extLst>
                <a:ext uri="{FF2B5EF4-FFF2-40B4-BE49-F238E27FC236}">
                  <a16:creationId xmlns:a16="http://schemas.microsoft.com/office/drawing/2014/main" id="{BE65BC3A-8848-4619-963C-BD57EAEC2AA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4EDF473F-575B-4FFB-BAF4-E227AF8A9566}"/>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1" name="Copyright">
              <a:extLst>
                <a:ext uri="{FF2B5EF4-FFF2-40B4-BE49-F238E27FC236}">
                  <a16:creationId xmlns:a16="http://schemas.microsoft.com/office/drawing/2014/main" id="{BEF02208-F5B1-43EC-A46B-20F8F8FFD200}"/>
                </a:ext>
              </a:extLst>
            </p:cNvPr>
            <p:cNvSpPr txBox="1"/>
            <p:nvPr/>
          </p:nvSpPr>
          <p:spPr>
            <a:xfrm>
              <a:off x="6025174"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243"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a:t>Type title here</a:t>
            </a:r>
          </a:p>
        </p:txBody>
      </p:sp>
      <p:sp>
        <p:nvSpPr>
          <p:cNvPr id="17" name="Picture">
            <a:extLst>
              <a:ext uri="{FF2B5EF4-FFF2-40B4-BE49-F238E27FC236}">
                <a16:creationId xmlns:a16="http://schemas.microsoft.com/office/drawing/2014/main" id="{F8F6CC5A-3CF0-480D-B25E-574EDC100323}"/>
              </a:ext>
              <a:ext uri="{C183D7F6-B498-43B3-948B-1728B52AA6E4}">
                <adec:decorative xmlns:adec="http://schemas.microsoft.com/office/drawing/2017/decorative" val="1"/>
              </a:ext>
            </a:extLst>
          </p:cNvPr>
          <p:cNvSpPr>
            <a:spLocks noGrp="1"/>
          </p:cNvSpPr>
          <p:nvPr>
            <p:ph idx="9" hasCustomPrompt="1"/>
          </p:nvPr>
        </p:nvSpPr>
        <p:spPr>
          <a:xfrm>
            <a:off x="394931" y="2434960"/>
            <a:ext cx="3657600" cy="3657600"/>
          </a:xfrm>
        </p:spPr>
        <p:txBody>
          <a:bodyPr anchor="t"/>
          <a:lstStyle>
            <a:lvl1pPr marL="0" indent="0" algn="ctr">
              <a:buNone/>
              <a:defRPr>
                <a:solidFill>
                  <a:schemeClr val="bg1"/>
                </a:solidFill>
              </a:defRPr>
            </a:lvl1pPr>
          </a:lstStyle>
          <a:p>
            <a:r>
              <a:rPr lang="en-US"/>
              <a:t>Click icon to add image</a:t>
            </a:r>
          </a:p>
        </p:txBody>
      </p:sp>
      <p:sp>
        <p:nvSpPr>
          <p:cNvPr id="9"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5" y="292099"/>
            <a:ext cx="7356121" cy="6142651"/>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161368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ab Introduction">
    <p:bg>
      <p:bgPr>
        <a:solidFill>
          <a:schemeClr val="bg1"/>
        </a:solidFill>
        <a:effectLst/>
      </p:bgPr>
    </p:bg>
    <p:spTree>
      <p:nvGrpSpPr>
        <p:cNvPr id="1" name=""/>
        <p:cNvGrpSpPr/>
        <p:nvPr/>
      </p:nvGrpSpPr>
      <p:grpSpPr>
        <a:xfrm>
          <a:off x="0" y="0"/>
          <a:ext cx="0" cy="0"/>
          <a:chOff x="0" y="0"/>
          <a:chExt cx="0" cy="0"/>
        </a:xfrm>
      </p:grpSpPr>
      <p:grpSp>
        <p:nvGrpSpPr>
          <p:cNvPr id="9" name="Background Images">
            <a:extLst>
              <a:ext uri="{FF2B5EF4-FFF2-40B4-BE49-F238E27FC236}">
                <a16:creationId xmlns:a16="http://schemas.microsoft.com/office/drawing/2014/main" id="{EF85A022-A363-4CD9-B810-5976000CBBC0}"/>
              </a:ext>
              <a:ext uri="{C183D7F6-B498-43B3-948B-1728B52AA6E4}">
                <adec:decorative xmlns:adec="http://schemas.microsoft.com/office/drawing/2017/decorative" val="1"/>
              </a:ext>
            </a:extLst>
          </p:cNvPr>
          <p:cNvGrpSpPr/>
          <p:nvPr/>
        </p:nvGrpSpPr>
        <p:grpSpPr>
          <a:xfrm>
            <a:off x="0" y="1"/>
            <a:ext cx="10679012" cy="6858000"/>
            <a:chOff x="0" y="1"/>
            <a:chExt cx="10679012" cy="6858000"/>
          </a:xfrm>
        </p:grpSpPr>
        <p:sp>
          <p:nvSpPr>
            <p:cNvPr id="10" name="BKG-LT">
              <a:extLst>
                <a:ext uri="{FF2B5EF4-FFF2-40B4-BE49-F238E27FC236}">
                  <a16:creationId xmlns:a16="http://schemas.microsoft.com/office/drawing/2014/main" id="{2D6722E9-1C81-4073-B0F0-1BD01679C8B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AWS Logo">
              <a:extLst>
                <a:ext uri="{FF2B5EF4-FFF2-40B4-BE49-F238E27FC236}">
                  <a16:creationId xmlns:a16="http://schemas.microsoft.com/office/drawing/2014/main" id="{E6ABDCA0-5043-47E4-83F1-F456F798534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3" name="Copyright">
              <a:extLst>
                <a:ext uri="{FF2B5EF4-FFF2-40B4-BE49-F238E27FC236}">
                  <a16:creationId xmlns:a16="http://schemas.microsoft.com/office/drawing/2014/main" id="{425BF081-3501-45D0-B151-25BF351B0599}"/>
                </a:ext>
              </a:extLst>
            </p:cNvPr>
            <p:cNvSpPr txBox="1"/>
            <p:nvPr/>
          </p:nvSpPr>
          <p:spPr>
            <a:xfrm>
              <a:off x="6025174"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72396DCE-1655-44FD-8989-3700320AFC04}"/>
              </a:ext>
            </a:extLst>
          </p:cNvPr>
          <p:cNvSpPr>
            <a:spLocks noGrp="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599"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a:t>Type title here</a:t>
            </a:r>
          </a:p>
        </p:txBody>
      </p:sp>
      <p:sp>
        <p:nvSpPr>
          <p:cNvPr id="7"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5" y="292099"/>
            <a:ext cx="7356121" cy="6142651"/>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165493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mo Introduction">
    <p:bg>
      <p:bgPr>
        <a:solidFill>
          <a:schemeClr val="bg1"/>
        </a:solidFill>
        <a:effectLst/>
      </p:bgPr>
    </p:bg>
    <p:spTree>
      <p:nvGrpSpPr>
        <p:cNvPr id="1" name=""/>
        <p:cNvGrpSpPr/>
        <p:nvPr/>
      </p:nvGrpSpPr>
      <p:grpSpPr>
        <a:xfrm>
          <a:off x="0" y="0"/>
          <a:ext cx="0" cy="0"/>
          <a:chOff x="0" y="0"/>
          <a:chExt cx="0" cy="0"/>
        </a:xfrm>
      </p:grpSpPr>
      <p:grpSp>
        <p:nvGrpSpPr>
          <p:cNvPr id="10" name="Background Images">
            <a:extLst>
              <a:ext uri="{FF2B5EF4-FFF2-40B4-BE49-F238E27FC236}">
                <a16:creationId xmlns:a16="http://schemas.microsoft.com/office/drawing/2014/main" id="{F30563F4-C022-4AE5-AB0E-380E2398A619}"/>
              </a:ext>
              <a:ext uri="{C183D7F6-B498-43B3-948B-1728B52AA6E4}">
                <adec:decorative xmlns:adec="http://schemas.microsoft.com/office/drawing/2017/decorative" val="1"/>
              </a:ext>
            </a:extLst>
          </p:cNvPr>
          <p:cNvGrpSpPr/>
          <p:nvPr/>
        </p:nvGrpSpPr>
        <p:grpSpPr>
          <a:xfrm>
            <a:off x="0" y="1"/>
            <a:ext cx="10679012" cy="6858000"/>
            <a:chOff x="0" y="1"/>
            <a:chExt cx="10679012" cy="6858000"/>
          </a:xfrm>
        </p:grpSpPr>
        <p:sp>
          <p:nvSpPr>
            <p:cNvPr id="12" name="BKG-LT">
              <a:extLst>
                <a:ext uri="{FF2B5EF4-FFF2-40B4-BE49-F238E27FC236}">
                  <a16:creationId xmlns:a16="http://schemas.microsoft.com/office/drawing/2014/main" id="{E69D2142-6967-490F-8396-213F1FEE99B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AWS Logo">
              <a:extLst>
                <a:ext uri="{FF2B5EF4-FFF2-40B4-BE49-F238E27FC236}">
                  <a16:creationId xmlns:a16="http://schemas.microsoft.com/office/drawing/2014/main" id="{9BFD0B48-1965-4206-B782-7E2FE7076B82}"/>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4" name="Copyright">
              <a:extLst>
                <a:ext uri="{FF2B5EF4-FFF2-40B4-BE49-F238E27FC236}">
                  <a16:creationId xmlns:a16="http://schemas.microsoft.com/office/drawing/2014/main" id="{D566E69F-D97F-48A7-90BB-52DA3859B7A7}"/>
                </a:ext>
              </a:extLst>
            </p:cNvPr>
            <p:cNvSpPr txBox="1"/>
            <p:nvPr/>
          </p:nvSpPr>
          <p:spPr>
            <a:xfrm>
              <a:off x="6025174"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599"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a:t>Type title here</a:t>
            </a:r>
          </a:p>
        </p:txBody>
      </p:sp>
      <p:sp>
        <p:nvSpPr>
          <p:cNvPr id="8" name="Description">
            <a:extLst>
              <a:ext uri="{FF2B5EF4-FFF2-40B4-BE49-F238E27FC236}">
                <a16:creationId xmlns:a16="http://schemas.microsoft.com/office/drawing/2014/main" id="{AC3C5EEC-BB22-4195-B46B-9A90302F6B57}"/>
              </a:ext>
            </a:extLst>
          </p:cNvPr>
          <p:cNvSpPr>
            <a:spLocks noGrp="1"/>
          </p:cNvSpPr>
          <p:nvPr>
            <p:ph type="body" idx="2" hasCustomPrompt="1"/>
          </p:nvPr>
        </p:nvSpPr>
        <p:spPr>
          <a:xfrm>
            <a:off x="243681" y="2257424"/>
            <a:ext cx="3960813" cy="4177325"/>
          </a:xfrm>
        </p:spPr>
        <p:txBody>
          <a:bodyPr/>
          <a:lstStyle>
            <a:lvl1pPr marL="0" indent="0" algn="ctr">
              <a:buNone/>
              <a:defRPr>
                <a:solidFill>
                  <a:schemeClr val="bg1"/>
                </a:solidFill>
              </a:defRPr>
            </a:lvl1pPr>
          </a:lstStyle>
          <a:p>
            <a:r>
              <a:rPr lang="en-US" sz="2800"/>
              <a:t>Enter description</a:t>
            </a:r>
          </a:p>
        </p:txBody>
      </p:sp>
      <p:sp>
        <p:nvSpPr>
          <p:cNvPr id="7"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5" y="292099"/>
            <a:ext cx="7356121" cy="6142651"/>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744502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ank You Variant">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56064E0D-105A-4446-B967-229FA49D135D}"/>
              </a:ext>
              <a:ext uri="{C183D7F6-B498-43B3-948B-1728B52AA6E4}">
                <adec:decorative xmlns:adec="http://schemas.microsoft.com/office/drawing/2017/decorative" val="1"/>
              </a:ext>
            </a:extLst>
          </p:cNvPr>
          <p:cNvGrpSpPr/>
          <p:nvPr/>
        </p:nvGrpSpPr>
        <p:grpSpPr>
          <a:xfrm>
            <a:off x="-1" y="0"/>
            <a:ext cx="12192001" cy="6858000"/>
            <a:chOff x="-1" y="0"/>
            <a:chExt cx="12192001" cy="6858000"/>
          </a:xfrm>
        </p:grpSpPr>
        <p:sp>
          <p:nvSpPr>
            <p:cNvPr id="93" name="BKG-LT">
              <a:extLst>
                <a:ext uri="{FF2B5EF4-FFF2-40B4-BE49-F238E27FC236}">
                  <a16:creationId xmlns:a16="http://schemas.microsoft.com/office/drawing/2014/main" id="{EE5B0121-CFE7-4143-B7F3-FE4930450613}"/>
                </a:ext>
                <a:ext uri="{C183D7F6-B498-43B3-948B-1728B52AA6E4}">
                  <adec:decorative xmlns:adec="http://schemas.microsoft.com/office/drawing/2017/decorative" val="1"/>
                </a:ext>
              </a:extLst>
            </p:cNvPr>
            <p:cNvSpPr/>
            <p:nvPr/>
          </p:nvSpPr>
          <p:spPr>
            <a:xfrm>
              <a:off x="-1" y="0"/>
              <a:ext cx="108870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279CDF30-3118-4A2F-93E0-DACD532E91B1}"/>
                </a:ext>
                <a:ext uri="{C183D7F6-B498-43B3-948B-1728B52AA6E4}">
                  <adec:decorative xmlns:adec="http://schemas.microsoft.com/office/drawing/2017/decorative" val="1"/>
                </a:ext>
              </a:extLst>
            </p:cNvPr>
            <p:cNvSpPr/>
            <p:nvPr/>
          </p:nvSpPr>
          <p:spPr>
            <a:xfrm>
              <a:off x="0" y="4327524"/>
              <a:ext cx="1685925" cy="2530476"/>
            </a:xfrm>
            <a:custGeom>
              <a:avLst/>
              <a:gdLst>
                <a:gd name="connsiteX0" fmla="*/ 0 w 1685925"/>
                <a:gd name="connsiteY0" fmla="*/ 0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0 h 2530475"/>
                <a:gd name="connsiteX0" fmla="*/ 0 w 1685925"/>
                <a:gd name="connsiteY0" fmla="*/ 0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1673226 h 2530475"/>
                <a:gd name="connsiteX5" fmla="*/ 0 w 1685925"/>
                <a:gd name="connsiteY5" fmla="*/ 0 h 2530475"/>
                <a:gd name="connsiteX0" fmla="*/ 0 w 1685925"/>
                <a:gd name="connsiteY0" fmla="*/ 1673226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1673226 h 2530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5925" h="2530475">
                  <a:moveTo>
                    <a:pt x="0" y="1673226"/>
                  </a:moveTo>
                  <a:lnTo>
                    <a:pt x="1685925" y="0"/>
                  </a:lnTo>
                  <a:lnTo>
                    <a:pt x="1685925" y="2530475"/>
                  </a:lnTo>
                  <a:lnTo>
                    <a:pt x="0" y="2530475"/>
                  </a:lnTo>
                  <a:lnTo>
                    <a:pt x="0" y="1673226"/>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4E6250DE-D4BC-48A7-942E-7C927E2BAC70}"/>
                </a:ext>
                <a:ext uri="{C183D7F6-B498-43B3-948B-1728B52AA6E4}">
                  <adec:decorative xmlns:adec="http://schemas.microsoft.com/office/drawing/2017/decorative" val="1"/>
                </a:ext>
              </a:extLst>
            </p:cNvPr>
            <p:cNvSpPr/>
            <p:nvPr/>
          </p:nvSpPr>
          <p:spPr>
            <a:xfrm>
              <a:off x="1685544" y="4327525"/>
              <a:ext cx="10506456" cy="2530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88" name="Icons">
              <a:extLst>
                <a:ext uri="{FF2B5EF4-FFF2-40B4-BE49-F238E27FC236}">
                  <a16:creationId xmlns:a16="http://schemas.microsoft.com/office/drawing/2014/main" id="{2697E9D6-D133-4E57-BD63-82D9E5002F18}"/>
                </a:ext>
                <a:ext uri="{C183D7F6-B498-43B3-948B-1728B52AA6E4}">
                  <adec:decorative xmlns:adec="http://schemas.microsoft.com/office/drawing/2017/decorative" val="1"/>
                </a:ext>
              </a:extLst>
            </p:cNvPr>
            <p:cNvPicPr>
              <a:picLocks noChangeAspect="1"/>
            </p:cNvPicPr>
            <p:nvPr/>
          </p:nvPicPr>
          <p:blipFill rotWithShape="1">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val="0"/>
                </a:ext>
              </a:extLst>
            </a:blip>
            <a:srcRect l="5969" t="8249" r="2877" b="58012"/>
            <a:stretch/>
          </p:blipFill>
          <p:spPr>
            <a:xfrm>
              <a:off x="1685544" y="4327524"/>
              <a:ext cx="10506456" cy="2530476"/>
            </a:xfrm>
            <a:prstGeom prst="rect">
              <a:avLst/>
            </a:prstGeom>
          </p:spPr>
        </p:pic>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Select="1"/>
            </p:cNvPicPr>
            <p:nvPr/>
          </p:nvPicPr>
          <p:blipFill>
            <a:blip r:embed="rId5">
              <a:extLst>
                <a:ext uri="{96DAC541-7B7A-43D3-8B79-37D633B846F1}">
                  <asvg:svgBlip xmlns:asvg="http://schemas.microsoft.com/office/drawing/2016/SVG/main" r:embed="rId6"/>
                </a:ext>
              </a:extLst>
            </a:blip>
            <a:stretch>
              <a:fillRect/>
            </a:stretch>
          </p:blipFill>
          <p:spPr>
            <a:xfrm>
              <a:off x="585300" y="357708"/>
              <a:ext cx="1097280" cy="656183"/>
            </a:xfrm>
            <a:prstGeom prst="rect">
              <a:avLst/>
            </a:prstGeom>
          </p:spPr>
        </p:pic>
        <p:sp>
          <p:nvSpPr>
            <p:cNvPr id="3" name="CopyBackground">
              <a:extLst>
                <a:ext uri="{FF2B5EF4-FFF2-40B4-BE49-F238E27FC236}">
                  <a16:creationId xmlns:a16="http://schemas.microsoft.com/office/drawing/2014/main" id="{1A4014FF-ACF4-448A-8B91-F0495D354D3F}"/>
                </a:ext>
              </a:extLst>
            </p:cNvPr>
            <p:cNvSpPr/>
            <p:nvPr/>
          </p:nvSpPr>
          <p:spPr>
            <a:xfrm>
              <a:off x="4712264" y="6646849"/>
              <a:ext cx="4425354"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pyright">
              <a:extLst>
                <a:ext uri="{FF2B5EF4-FFF2-40B4-BE49-F238E27FC236}">
                  <a16:creationId xmlns:a16="http://schemas.microsoft.com/office/drawing/2014/main" id="{DFC9E3DE-5A7A-4B9A-94F3-0CC48D54301B}"/>
                </a:ext>
              </a:extLst>
            </p:cNvPr>
            <p:cNvSpPr txBox="1"/>
            <p:nvPr/>
          </p:nvSpPr>
          <p:spPr>
            <a:xfrm>
              <a:off x="4632211" y="657989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12" name="SNBackground">
            <a:extLst>
              <a:ext uri="{FF2B5EF4-FFF2-40B4-BE49-F238E27FC236}">
                <a16:creationId xmlns:a16="http://schemas.microsoft.com/office/drawing/2014/main" id="{1A4014FF-ACF4-448A-8B91-F0495D354D3F}"/>
              </a:ext>
            </a:extLst>
          </p:cNvPr>
          <p:cNvSpPr/>
          <p:nvPr/>
        </p:nvSpPr>
        <p:spPr>
          <a:xfrm>
            <a:off x="11595099" y="6609558"/>
            <a:ext cx="359187" cy="1828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667750" y="1080843"/>
            <a:ext cx="10218737" cy="2081104"/>
          </a:xfrm>
        </p:spPr>
        <p:txBody>
          <a:bodyPr anchor="ctr"/>
          <a:lstStyle>
            <a:lvl1pPr>
              <a:defRPr sz="4400">
                <a:solidFill>
                  <a:schemeClr val="bg2"/>
                </a:solidFill>
              </a:defRPr>
            </a:lvl1pPr>
          </a:lstStyle>
          <a:p>
            <a:r>
              <a:rPr lang="en-US"/>
              <a:t>Thank you text</a:t>
            </a:r>
          </a:p>
        </p:txBody>
      </p:sp>
      <p:sp>
        <p:nvSpPr>
          <p:cNvPr id="7" name="Copyright">
            <a:extLst>
              <a:ext uri="{FF2B5EF4-FFF2-40B4-BE49-F238E27FC236}">
                <a16:creationId xmlns:a16="http://schemas.microsoft.com/office/drawing/2014/main" id="{9059CC6B-AB9C-4283-9882-8F50E8C832F7}"/>
              </a:ext>
            </a:extLst>
          </p:cNvPr>
          <p:cNvSpPr txBox="1"/>
          <p:nvPr/>
        </p:nvSpPr>
        <p:spPr>
          <a:xfrm>
            <a:off x="667750" y="3161947"/>
            <a:ext cx="10218737" cy="1154162"/>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n-US" sz="2300">
                <a:solidFill>
                  <a:schemeClr val="bg2"/>
                </a:solidFill>
              </a:rPr>
              <a:t>Corrections, feedback, or other questions? </a:t>
            </a:r>
            <a:br>
              <a:rPr lang="en-US" sz="2300">
                <a:solidFill>
                  <a:schemeClr val="bg2"/>
                </a:solidFill>
              </a:rPr>
            </a:br>
            <a:r>
              <a:rPr lang="en-US" sz="2300">
                <a:solidFill>
                  <a:schemeClr val="bg2"/>
                </a:solidFill>
              </a:rPr>
              <a:t>Contact us at </a:t>
            </a:r>
            <a:r>
              <a:rPr lang="en-US" sz="2300" u="sng">
                <a:solidFill>
                  <a:schemeClr val="bg2"/>
                </a:solidFill>
              </a:rPr>
              <a:t>https://support.aws.amazon.com/#/contacts/aws-training</a:t>
            </a:r>
            <a:r>
              <a:rPr lang="en-US" sz="2300">
                <a:solidFill>
                  <a:schemeClr val="bg2"/>
                </a:solidFill>
              </a:rPr>
              <a:t>. </a:t>
            </a:r>
            <a:br>
              <a:rPr lang="en-US" sz="2300">
                <a:solidFill>
                  <a:schemeClr val="bg2"/>
                </a:solidFill>
              </a:rPr>
            </a:br>
            <a:r>
              <a:rPr lang="en-US" sz="2300">
                <a:solidFill>
                  <a:schemeClr val="bg2"/>
                </a:solidFill>
              </a:rPr>
              <a:t>All trademarks are the property of their owners.</a:t>
            </a:r>
          </a:p>
        </p:txBody>
      </p:sp>
    </p:spTree>
    <p:custDataLst>
      <p:tags r:id="rId1"/>
    </p:custDataLst>
    <p:extLst>
      <p:ext uri="{BB962C8B-B14F-4D97-AF65-F5344CB8AC3E}">
        <p14:creationId xmlns:p14="http://schemas.microsoft.com/office/powerpoint/2010/main" val="392123623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Quote">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DC4FACA1-07DC-44B9-A79C-2B7C9D1B9221}"/>
              </a:ext>
              <a:ext uri="{C183D7F6-B498-43B3-948B-1728B52AA6E4}">
                <adec:decorative xmlns:adec="http://schemas.microsoft.com/office/drawing/2017/decorative" val="1"/>
              </a:ext>
            </a:extLst>
          </p:cNvPr>
          <p:cNvGrpSpPr/>
          <p:nvPr/>
        </p:nvGrpSpPr>
        <p:grpSpPr>
          <a:xfrm>
            <a:off x="-1" y="0"/>
            <a:ext cx="12192001" cy="6858000"/>
            <a:chOff x="-1" y="0"/>
            <a:chExt cx="12192001" cy="6858000"/>
          </a:xfrm>
        </p:grpSpPr>
        <p:sp>
          <p:nvSpPr>
            <p:cNvPr id="93" name="BKG-LT">
              <a:extLst>
                <a:ext uri="{FF2B5EF4-FFF2-40B4-BE49-F238E27FC236}">
                  <a16:creationId xmlns:a16="http://schemas.microsoft.com/office/drawing/2014/main" id="{EE5B0121-CFE7-4143-B7F3-FE4930450613}"/>
                </a:ext>
                <a:ext uri="{C183D7F6-B498-43B3-948B-1728B52AA6E4}">
                  <adec:decorative xmlns:adec="http://schemas.microsoft.com/office/drawing/2017/decorative" val="1"/>
                </a:ext>
              </a:extLst>
            </p:cNvPr>
            <p:cNvSpPr/>
            <p:nvPr/>
          </p:nvSpPr>
          <p:spPr>
            <a:xfrm>
              <a:off x="-1"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CubeBack">
              <a:extLst>
                <a:ext uri="{FF2B5EF4-FFF2-40B4-BE49-F238E27FC236}">
                  <a16:creationId xmlns:a16="http://schemas.microsoft.com/office/drawing/2014/main" id="{9BA1593B-ADE5-482C-A193-F57F78F9B860}"/>
                </a:ext>
                <a:ext uri="{C183D7F6-B498-43B3-948B-1728B52AA6E4}">
                  <adec:decorative xmlns:adec="http://schemas.microsoft.com/office/drawing/2017/decorative" val="1"/>
                </a:ext>
              </a:extLst>
            </p:cNvPr>
            <p:cNvSpPr/>
            <p:nvPr/>
          </p:nvSpPr>
          <p:spPr>
            <a:xfrm>
              <a:off x="10547164" y="0"/>
              <a:ext cx="1644836" cy="5164423"/>
            </a:xfrm>
            <a:custGeom>
              <a:avLst/>
              <a:gdLst>
                <a:gd name="connsiteX0" fmla="*/ 0 w 3057526"/>
                <a:gd name="connsiteY0" fmla="*/ 0 h 3930651"/>
                <a:gd name="connsiteX1" fmla="*/ 3057526 w 3057526"/>
                <a:gd name="connsiteY1" fmla="*/ 0 h 3930651"/>
                <a:gd name="connsiteX2" fmla="*/ 3057526 w 3057526"/>
                <a:gd name="connsiteY2" fmla="*/ 3930651 h 3930651"/>
                <a:gd name="connsiteX3" fmla="*/ 0 w 3057526"/>
                <a:gd name="connsiteY3" fmla="*/ 3930651 h 3930651"/>
                <a:gd name="connsiteX4" fmla="*/ 0 w 3057526"/>
                <a:gd name="connsiteY4" fmla="*/ 0 h 3930651"/>
                <a:gd name="connsiteX0" fmla="*/ 0 w 3062289"/>
                <a:gd name="connsiteY0" fmla="*/ 0 h 4621213"/>
                <a:gd name="connsiteX1" fmla="*/ 3057526 w 3062289"/>
                <a:gd name="connsiteY1" fmla="*/ 0 h 4621213"/>
                <a:gd name="connsiteX2" fmla="*/ 3062289 w 3062289"/>
                <a:gd name="connsiteY2" fmla="*/ 4621213 h 4621213"/>
                <a:gd name="connsiteX3" fmla="*/ 0 w 3062289"/>
                <a:gd name="connsiteY3" fmla="*/ 3930651 h 4621213"/>
                <a:gd name="connsiteX4" fmla="*/ 0 w 3062289"/>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0 w 3057984"/>
                <a:gd name="connsiteY3" fmla="*/ 3930651 h 4621213"/>
                <a:gd name="connsiteX4" fmla="*/ 0 w 3057984"/>
                <a:gd name="connsiteY4" fmla="*/ 0 h 4621213"/>
                <a:gd name="connsiteX0" fmla="*/ 15888 w 3073872"/>
                <a:gd name="connsiteY0" fmla="*/ 0 h 4621213"/>
                <a:gd name="connsiteX1" fmla="*/ 3073414 w 3073872"/>
                <a:gd name="connsiteY1" fmla="*/ 0 h 4621213"/>
                <a:gd name="connsiteX2" fmla="*/ 3073414 w 3073872"/>
                <a:gd name="connsiteY2" fmla="*/ 4621213 h 4621213"/>
                <a:gd name="connsiteX3" fmla="*/ 0 w 3073872"/>
                <a:gd name="connsiteY3" fmla="*/ 4091237 h 4621213"/>
                <a:gd name="connsiteX4" fmla="*/ 15888 w 3073872"/>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15887 w 3057984"/>
                <a:gd name="connsiteY3" fmla="*/ 4091237 h 4621213"/>
                <a:gd name="connsiteX4" fmla="*/ 0 w 3057984"/>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15886 w 3057984"/>
                <a:gd name="connsiteY3" fmla="*/ 4114178 h 4621213"/>
                <a:gd name="connsiteX4" fmla="*/ 0 w 3057984"/>
                <a:gd name="connsiteY4" fmla="*/ 0 h 462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984" h="4621213">
                  <a:moveTo>
                    <a:pt x="0" y="0"/>
                  </a:moveTo>
                  <a:lnTo>
                    <a:pt x="3057526" y="0"/>
                  </a:lnTo>
                  <a:cubicBezTo>
                    <a:pt x="3059114" y="1540404"/>
                    <a:pt x="3055938" y="3080809"/>
                    <a:pt x="3057526" y="4621213"/>
                  </a:cubicBezTo>
                  <a:lnTo>
                    <a:pt x="15886" y="4114178"/>
                  </a:lnTo>
                  <a:cubicBezTo>
                    <a:pt x="10590" y="2750432"/>
                    <a:pt x="5296" y="1363746"/>
                    <a:pt x="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6" name="CubeFront">
              <a:extLst>
                <a:ext uri="{FF2B5EF4-FFF2-40B4-BE49-F238E27FC236}">
                  <a16:creationId xmlns:a16="http://schemas.microsoft.com/office/drawing/2014/main" id="{A301667F-582A-4041-A2DA-F90362AE9A01}"/>
                </a:ext>
                <a:ext uri="{C183D7F6-B498-43B3-948B-1728B52AA6E4}">
                  <adec:decorative xmlns:adec="http://schemas.microsoft.com/office/drawing/2017/decorative" val="1"/>
                </a:ext>
              </a:extLst>
            </p:cNvPr>
            <p:cNvSpPr/>
            <p:nvPr/>
          </p:nvSpPr>
          <p:spPr>
            <a:xfrm>
              <a:off x="5944552" y="6094097"/>
              <a:ext cx="2303271" cy="7639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CubeTop">
              <a:extLst>
                <a:ext uri="{FF2B5EF4-FFF2-40B4-BE49-F238E27FC236}">
                  <a16:creationId xmlns:a16="http://schemas.microsoft.com/office/drawing/2014/main" id="{A99EDB1B-417F-40E6-B075-BDD46EDBA854}"/>
                </a:ext>
                <a:ext uri="{C183D7F6-B498-43B3-948B-1728B52AA6E4}">
                  <adec:decorative xmlns:adec="http://schemas.microsoft.com/office/drawing/2017/decorative" val="1"/>
                </a:ext>
              </a:extLst>
            </p:cNvPr>
            <p:cNvSpPr/>
            <p:nvPr/>
          </p:nvSpPr>
          <p:spPr>
            <a:xfrm>
              <a:off x="5942171" y="4579782"/>
              <a:ext cx="6249829" cy="2278218"/>
            </a:xfrm>
            <a:custGeom>
              <a:avLst/>
              <a:gdLst>
                <a:gd name="connsiteX0" fmla="*/ 0 w 2363056"/>
                <a:gd name="connsiteY0" fmla="*/ 0 h 1655762"/>
                <a:gd name="connsiteX1" fmla="*/ 2363056 w 2363056"/>
                <a:gd name="connsiteY1" fmla="*/ 0 h 1655762"/>
                <a:gd name="connsiteX2" fmla="*/ 2363056 w 2363056"/>
                <a:gd name="connsiteY2" fmla="*/ 1655762 h 1655762"/>
                <a:gd name="connsiteX3" fmla="*/ 0 w 2363056"/>
                <a:gd name="connsiteY3" fmla="*/ 1655762 h 1655762"/>
                <a:gd name="connsiteX4" fmla="*/ 0 w 2363056"/>
                <a:gd name="connsiteY4" fmla="*/ 0 h 1655762"/>
                <a:gd name="connsiteX0" fmla="*/ 0 w 8716231"/>
                <a:gd name="connsiteY0" fmla="*/ 123825 h 1779587"/>
                <a:gd name="connsiteX1" fmla="*/ 8716231 w 8716231"/>
                <a:gd name="connsiteY1" fmla="*/ 0 h 1779587"/>
                <a:gd name="connsiteX2" fmla="*/ 2363056 w 8716231"/>
                <a:gd name="connsiteY2" fmla="*/ 1779587 h 1779587"/>
                <a:gd name="connsiteX3" fmla="*/ 0 w 8716231"/>
                <a:gd name="connsiteY3" fmla="*/ 1779587 h 1779587"/>
                <a:gd name="connsiteX4" fmla="*/ 0 w 8716231"/>
                <a:gd name="connsiteY4" fmla="*/ 123825 h 1779587"/>
                <a:gd name="connsiteX0" fmla="*/ 8558212 w 8716231"/>
                <a:gd name="connsiteY0" fmla="*/ 0 h 2774949"/>
                <a:gd name="connsiteX1" fmla="*/ 8716231 w 8716231"/>
                <a:gd name="connsiteY1" fmla="*/ 995362 h 2774949"/>
                <a:gd name="connsiteX2" fmla="*/ 2363056 w 8716231"/>
                <a:gd name="connsiteY2" fmla="*/ 2774949 h 2774949"/>
                <a:gd name="connsiteX3" fmla="*/ 0 w 8716231"/>
                <a:gd name="connsiteY3" fmla="*/ 2774949 h 2774949"/>
                <a:gd name="connsiteX4" fmla="*/ 8558212 w 8716231"/>
                <a:gd name="connsiteY4" fmla="*/ 0 h 2774949"/>
                <a:gd name="connsiteX0" fmla="*/ 8543924 w 8701943"/>
                <a:gd name="connsiteY0" fmla="*/ 0 h 2774949"/>
                <a:gd name="connsiteX1" fmla="*/ 8701943 w 8701943"/>
                <a:gd name="connsiteY1" fmla="*/ 995362 h 2774949"/>
                <a:gd name="connsiteX2" fmla="*/ 2348768 w 8701943"/>
                <a:gd name="connsiteY2" fmla="*/ 2774949 h 2774949"/>
                <a:gd name="connsiteX3" fmla="*/ 0 w 8701943"/>
                <a:gd name="connsiteY3" fmla="*/ 1846261 h 2774949"/>
                <a:gd name="connsiteX4" fmla="*/ 8543924 w 8701943"/>
                <a:gd name="connsiteY4" fmla="*/ 0 h 2774949"/>
                <a:gd name="connsiteX0" fmla="*/ 8543924 w 8701943"/>
                <a:gd name="connsiteY0" fmla="*/ 0 h 2779712"/>
                <a:gd name="connsiteX1" fmla="*/ 8701943 w 8701943"/>
                <a:gd name="connsiteY1" fmla="*/ 995362 h 2779712"/>
                <a:gd name="connsiteX2" fmla="*/ 4187093 w 8701943"/>
                <a:gd name="connsiteY2" fmla="*/ 2779712 h 2779712"/>
                <a:gd name="connsiteX3" fmla="*/ 0 w 8701943"/>
                <a:gd name="connsiteY3" fmla="*/ 1846261 h 2779712"/>
                <a:gd name="connsiteX4" fmla="*/ 8543924 w 8701943"/>
                <a:gd name="connsiteY4" fmla="*/ 0 h 2779712"/>
                <a:gd name="connsiteX0" fmla="*/ 8543924 w 8701943"/>
                <a:gd name="connsiteY0" fmla="*/ 0 h 2779712"/>
                <a:gd name="connsiteX1" fmla="*/ 8701943 w 8701943"/>
                <a:gd name="connsiteY1" fmla="*/ 995362 h 2779712"/>
                <a:gd name="connsiteX2" fmla="*/ 5470934 w 8701943"/>
                <a:gd name="connsiteY2" fmla="*/ 2265362 h 2779712"/>
                <a:gd name="connsiteX3" fmla="*/ 4187093 w 8701943"/>
                <a:gd name="connsiteY3" fmla="*/ 2779712 h 2779712"/>
                <a:gd name="connsiteX4" fmla="*/ 0 w 8701943"/>
                <a:gd name="connsiteY4" fmla="*/ 1846261 h 2779712"/>
                <a:gd name="connsiteX5" fmla="*/ 8543924 w 8701943"/>
                <a:gd name="connsiteY5" fmla="*/ 0 h 2779712"/>
                <a:gd name="connsiteX0" fmla="*/ 8543924 w 11614559"/>
                <a:gd name="connsiteY0" fmla="*/ 0 h 2779712"/>
                <a:gd name="connsiteX1" fmla="*/ 8701943 w 11614559"/>
                <a:gd name="connsiteY1" fmla="*/ 995362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43924 w 11614559"/>
                <a:gd name="connsiteY0" fmla="*/ 0 h 2779712"/>
                <a:gd name="connsiteX1" fmla="*/ 11607068 w 11614559"/>
                <a:gd name="connsiteY1" fmla="*/ 685800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53449 w 11614559"/>
                <a:gd name="connsiteY0" fmla="*/ 0 h 2784474"/>
                <a:gd name="connsiteX1" fmla="*/ 11607068 w 11614559"/>
                <a:gd name="connsiteY1" fmla="*/ 690562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1831 w 11614559"/>
                <a:gd name="connsiteY1" fmla="*/ 721518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4212 w 11614559"/>
                <a:gd name="connsiteY1" fmla="*/ 719137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6733"/>
                <a:gd name="connsiteY0" fmla="*/ 0 h 2784474"/>
                <a:gd name="connsiteX1" fmla="*/ 11616594 w 11616733"/>
                <a:gd name="connsiteY1" fmla="*/ 716755 h 2784474"/>
                <a:gd name="connsiteX2" fmla="*/ 11614559 w 11616733"/>
                <a:gd name="connsiteY2" fmla="*/ 2784474 h 2784474"/>
                <a:gd name="connsiteX3" fmla="*/ 4187093 w 11616733"/>
                <a:gd name="connsiteY3" fmla="*/ 2784474 h 2784474"/>
                <a:gd name="connsiteX4" fmla="*/ 0 w 11616733"/>
                <a:gd name="connsiteY4" fmla="*/ 1851023 h 2784474"/>
                <a:gd name="connsiteX5" fmla="*/ 8553449 w 11616733"/>
                <a:gd name="connsiteY5" fmla="*/ 0 h 2784474"/>
                <a:gd name="connsiteX0" fmla="*/ 8562974 w 11616733"/>
                <a:gd name="connsiteY0" fmla="*/ 0 h 2786856"/>
                <a:gd name="connsiteX1" fmla="*/ 11616594 w 11616733"/>
                <a:gd name="connsiteY1" fmla="*/ 719137 h 2786856"/>
                <a:gd name="connsiteX2" fmla="*/ 11614559 w 11616733"/>
                <a:gd name="connsiteY2" fmla="*/ 2786856 h 2786856"/>
                <a:gd name="connsiteX3" fmla="*/ 4187093 w 11616733"/>
                <a:gd name="connsiteY3" fmla="*/ 2786856 h 2786856"/>
                <a:gd name="connsiteX4" fmla="*/ 0 w 11616733"/>
                <a:gd name="connsiteY4" fmla="*/ 1853405 h 2786856"/>
                <a:gd name="connsiteX5" fmla="*/ 8562974 w 11616733"/>
                <a:gd name="connsiteY5" fmla="*/ 0 h 2786856"/>
                <a:gd name="connsiteX0" fmla="*/ 8562974 w 11614559"/>
                <a:gd name="connsiteY0" fmla="*/ 0 h 2786856"/>
                <a:gd name="connsiteX1" fmla="*/ 11614213 w 11614559"/>
                <a:gd name="connsiteY1" fmla="*/ 688180 h 2786856"/>
                <a:gd name="connsiteX2" fmla="*/ 11614559 w 11614559"/>
                <a:gd name="connsiteY2" fmla="*/ 2786856 h 2786856"/>
                <a:gd name="connsiteX3" fmla="*/ 4187093 w 11614559"/>
                <a:gd name="connsiteY3" fmla="*/ 2786856 h 2786856"/>
                <a:gd name="connsiteX4" fmla="*/ 0 w 11614559"/>
                <a:gd name="connsiteY4" fmla="*/ 1853405 h 2786856"/>
                <a:gd name="connsiteX5" fmla="*/ 8562974 w 11614559"/>
                <a:gd name="connsiteY5" fmla="*/ 0 h 2786856"/>
                <a:gd name="connsiteX0" fmla="*/ 8567736 w 11619321"/>
                <a:gd name="connsiteY0" fmla="*/ 0 h 2786856"/>
                <a:gd name="connsiteX1" fmla="*/ 11618975 w 11619321"/>
                <a:gd name="connsiteY1" fmla="*/ 688180 h 2786856"/>
                <a:gd name="connsiteX2" fmla="*/ 11619321 w 11619321"/>
                <a:gd name="connsiteY2" fmla="*/ 2786856 h 2786856"/>
                <a:gd name="connsiteX3" fmla="*/ 4191855 w 11619321"/>
                <a:gd name="connsiteY3" fmla="*/ 2786856 h 2786856"/>
                <a:gd name="connsiteX4" fmla="*/ 0 w 11619321"/>
                <a:gd name="connsiteY4" fmla="*/ 1853405 h 2786856"/>
                <a:gd name="connsiteX5" fmla="*/ 8567736 w 11619321"/>
                <a:gd name="connsiteY5" fmla="*/ 0 h 278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9321" h="2786856">
                  <a:moveTo>
                    <a:pt x="8567736" y="0"/>
                  </a:moveTo>
                  <a:lnTo>
                    <a:pt x="11618975" y="688180"/>
                  </a:lnTo>
                  <a:cubicBezTo>
                    <a:pt x="11619884" y="1375832"/>
                    <a:pt x="11618412" y="2099204"/>
                    <a:pt x="11619321" y="2786856"/>
                  </a:cubicBezTo>
                  <a:lnTo>
                    <a:pt x="4191855" y="2786856"/>
                  </a:lnTo>
                  <a:lnTo>
                    <a:pt x="0" y="1853405"/>
                  </a:lnTo>
                  <a:lnTo>
                    <a:pt x="856773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8" name="Icons">
              <a:extLst>
                <a:ext uri="{FF2B5EF4-FFF2-40B4-BE49-F238E27FC236}">
                  <a16:creationId xmlns:a16="http://schemas.microsoft.com/office/drawing/2014/main" id="{C128A75B-DB20-42AF-A3FD-12E5F3588ACE}"/>
                </a:ext>
                <a:ext uri="{C183D7F6-B498-43B3-948B-1728B52AA6E4}">
                  <adec:decorative xmlns:adec="http://schemas.microsoft.com/office/drawing/2017/decorative" val="1"/>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val="0"/>
                </a:ext>
              </a:extLst>
            </a:blip>
            <a:stretch>
              <a:fillRect/>
            </a:stretch>
          </p:blipFill>
          <p:spPr>
            <a:xfrm>
              <a:off x="6472238" y="4694373"/>
              <a:ext cx="5719762" cy="2163627"/>
            </a:xfrm>
            <a:prstGeom prst="rect">
              <a:avLst/>
            </a:prstGeom>
          </p:spPr>
        </p:pic>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Select="1"/>
            </p:cNvPicPr>
            <p:nvPr/>
          </p:nvPicPr>
          <p:blipFill>
            <a:blip r:embed="rId5">
              <a:extLst>
                <a:ext uri="{96DAC541-7B7A-43D3-8B79-37D633B846F1}">
                  <asvg:svgBlip xmlns:asvg="http://schemas.microsoft.com/office/drawing/2016/SVG/main" r:embed="rId6"/>
                </a:ext>
              </a:extLst>
            </a:blip>
            <a:stretch>
              <a:fillRect/>
            </a:stretch>
          </p:blipFill>
          <p:spPr>
            <a:xfrm>
              <a:off x="585300" y="357708"/>
              <a:ext cx="1097280" cy="656183"/>
            </a:xfrm>
            <a:prstGeom prst="rect">
              <a:avLst/>
            </a:prstGeom>
          </p:spPr>
        </p:pic>
        <p:sp>
          <p:nvSpPr>
            <p:cNvPr id="4" name="Copyright">
              <a:extLst>
                <a:ext uri="{FF2B5EF4-FFF2-40B4-BE49-F238E27FC236}">
                  <a16:creationId xmlns:a16="http://schemas.microsoft.com/office/drawing/2014/main" id="{6EB207FF-A323-40B5-B33E-59E364A7955B}"/>
                </a:ext>
              </a:extLst>
            </p:cNvPr>
            <p:cNvSpPr txBox="1"/>
            <p:nvPr/>
          </p:nvSpPr>
          <p:spPr>
            <a:xfrm>
              <a:off x="991688" y="6466266"/>
              <a:ext cx="4653838" cy="261610"/>
            </a:xfrm>
            <a:prstGeom prst="rect">
              <a:avLst/>
            </a:prstGeom>
            <a:noFill/>
          </p:spPr>
          <p:txBody>
            <a:bodyPr wrap="none" rtlCol="0">
              <a:spAutoFit/>
            </a:bodyPr>
            <a:lstStyle/>
            <a:p>
              <a:r>
                <a:rPr lang="en-US" sz="1100" kern="1200">
                  <a:solidFill>
                    <a:schemeClr val="bg2"/>
                  </a:solidFill>
                  <a:effectLst/>
                  <a:latin typeface="+mn-lt"/>
                  <a:ea typeface="+mn-ea"/>
                  <a:cs typeface="+mn-cs"/>
                </a:rPr>
                <a:t>© 2022, Amazon Web Services, Inc. or its affiliates. All rights reserved.</a:t>
              </a:r>
            </a:p>
          </p:txBody>
        </p:sp>
      </p:grpSp>
      <p:sp>
        <p:nvSpPr>
          <p:cNvPr id="12" name="SNBackground">
            <a:extLst>
              <a:ext uri="{FF2B5EF4-FFF2-40B4-BE49-F238E27FC236}">
                <a16:creationId xmlns:a16="http://schemas.microsoft.com/office/drawing/2014/main" id="{1A4014FF-ACF4-448A-8B91-F0495D354D3F}"/>
              </a:ext>
            </a:extLst>
          </p:cNvPr>
          <p:cNvSpPr/>
          <p:nvPr/>
        </p:nvSpPr>
        <p:spPr>
          <a:xfrm>
            <a:off x="11595099" y="6609558"/>
            <a:ext cx="359187" cy="1828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667750" y="1614746"/>
            <a:ext cx="9341063" cy="2293938"/>
          </a:xfrm>
        </p:spPr>
        <p:txBody>
          <a:bodyPr anchor="ctr"/>
          <a:lstStyle>
            <a:lvl1pPr>
              <a:defRPr sz="4400">
                <a:solidFill>
                  <a:schemeClr val="bg2"/>
                </a:solidFill>
              </a:defRPr>
            </a:lvl1pPr>
          </a:lstStyle>
          <a:p>
            <a:r>
              <a:rPr lang="en-US"/>
              <a:t>“Enter quote here.”</a:t>
            </a:r>
          </a:p>
        </p:txBody>
      </p:sp>
      <p:sp>
        <p:nvSpPr>
          <p:cNvPr id="3" name="Quoted person">
            <a:extLst>
              <a:ext uri="{FF2B5EF4-FFF2-40B4-BE49-F238E27FC236}">
                <a16:creationId xmlns:a16="http://schemas.microsoft.com/office/drawing/2014/main" id="{D420CCBA-88E9-490C-9819-C37D7A79FC0E}"/>
              </a:ext>
            </a:extLst>
          </p:cNvPr>
          <p:cNvSpPr>
            <a:spLocks noGrp="1"/>
          </p:cNvSpPr>
          <p:nvPr>
            <p:ph type="subTitle" idx="14" hasCustomPrompt="1"/>
          </p:nvPr>
        </p:nvSpPr>
        <p:spPr>
          <a:xfrm>
            <a:off x="666271" y="3922297"/>
            <a:ext cx="9340846" cy="2171799"/>
          </a:xfrm>
          <a:custGeom>
            <a:avLst/>
            <a:gdLst>
              <a:gd name="connsiteX0" fmla="*/ 0 w 9341062"/>
              <a:gd name="connsiteY0" fmla="*/ 2159767 h 2159767"/>
              <a:gd name="connsiteX1" fmla="*/ 539942 w 9341062"/>
              <a:gd name="connsiteY1" fmla="*/ 0 h 2159767"/>
              <a:gd name="connsiteX2" fmla="*/ 8801120 w 9341062"/>
              <a:gd name="connsiteY2" fmla="*/ 0 h 2159767"/>
              <a:gd name="connsiteX3" fmla="*/ 9341062 w 9341062"/>
              <a:gd name="connsiteY3" fmla="*/ 2159767 h 2159767"/>
              <a:gd name="connsiteX4" fmla="*/ 0 w 9341062"/>
              <a:gd name="connsiteY4" fmla="*/ 2159767 h 2159767"/>
              <a:gd name="connsiteX0" fmla="*/ 1479 w 9342541"/>
              <a:gd name="connsiteY0" fmla="*/ 2171799 h 2171799"/>
              <a:gd name="connsiteX1" fmla="*/ 0 w 9342541"/>
              <a:gd name="connsiteY1" fmla="*/ 0 h 2171799"/>
              <a:gd name="connsiteX2" fmla="*/ 8802599 w 9342541"/>
              <a:gd name="connsiteY2" fmla="*/ 12032 h 2171799"/>
              <a:gd name="connsiteX3" fmla="*/ 9342541 w 9342541"/>
              <a:gd name="connsiteY3" fmla="*/ 2171799 h 2171799"/>
              <a:gd name="connsiteX4" fmla="*/ 1479 w 9342541"/>
              <a:gd name="connsiteY4"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2171799 h 2171799"/>
              <a:gd name="connsiteX4" fmla="*/ 1479 w 9356052"/>
              <a:gd name="connsiteY4"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2171799 h 2171799"/>
              <a:gd name="connsiteX4" fmla="*/ 5132950 w 9356052"/>
              <a:gd name="connsiteY4" fmla="*/ 2165682 h 2171799"/>
              <a:gd name="connsiteX5" fmla="*/ 1479 w 9356052"/>
              <a:gd name="connsiteY5" fmla="*/ 2171799 h 2171799"/>
              <a:gd name="connsiteX0" fmla="*/ 1479 w 9356070"/>
              <a:gd name="connsiteY0" fmla="*/ 2171799 h 2171799"/>
              <a:gd name="connsiteX1" fmla="*/ 0 w 9356070"/>
              <a:gd name="connsiteY1" fmla="*/ 0 h 2171799"/>
              <a:gd name="connsiteX2" fmla="*/ 9356052 w 9356070"/>
              <a:gd name="connsiteY2" fmla="*/ 12032 h 2171799"/>
              <a:gd name="connsiteX3" fmla="*/ 9354572 w 9356070"/>
              <a:gd name="connsiteY3" fmla="*/ 740041 h 2171799"/>
              <a:gd name="connsiteX4" fmla="*/ 5132950 w 9356070"/>
              <a:gd name="connsiteY4" fmla="*/ 2165682 h 2171799"/>
              <a:gd name="connsiteX5" fmla="*/ 1479 w 9356070"/>
              <a:gd name="connsiteY5" fmla="*/ 2171799 h 2171799"/>
              <a:gd name="connsiteX0" fmla="*/ 1479 w 9475004"/>
              <a:gd name="connsiteY0" fmla="*/ 2171799 h 2171799"/>
              <a:gd name="connsiteX1" fmla="*/ 0 w 9475004"/>
              <a:gd name="connsiteY1" fmla="*/ 0 h 2171799"/>
              <a:gd name="connsiteX2" fmla="*/ 9356052 w 9475004"/>
              <a:gd name="connsiteY2" fmla="*/ 12032 h 2171799"/>
              <a:gd name="connsiteX3" fmla="*/ 9474888 w 9475004"/>
              <a:gd name="connsiteY3" fmla="*/ 703946 h 2171799"/>
              <a:gd name="connsiteX4" fmla="*/ 5132950 w 9475004"/>
              <a:gd name="connsiteY4" fmla="*/ 2165682 h 2171799"/>
              <a:gd name="connsiteX5" fmla="*/ 1479 w 9475004"/>
              <a:gd name="connsiteY5" fmla="*/ 2171799 h 2171799"/>
              <a:gd name="connsiteX0" fmla="*/ 1479 w 9474888"/>
              <a:gd name="connsiteY0" fmla="*/ 2171799 h 2171799"/>
              <a:gd name="connsiteX1" fmla="*/ 0 w 9474888"/>
              <a:gd name="connsiteY1" fmla="*/ 0 h 2171799"/>
              <a:gd name="connsiteX2" fmla="*/ 9356052 w 9474888"/>
              <a:gd name="connsiteY2" fmla="*/ 12032 h 2171799"/>
              <a:gd name="connsiteX3" fmla="*/ 9474888 w 9474888"/>
              <a:gd name="connsiteY3" fmla="*/ 703946 h 2171799"/>
              <a:gd name="connsiteX4" fmla="*/ 5132950 w 9474888"/>
              <a:gd name="connsiteY4" fmla="*/ 2165682 h 2171799"/>
              <a:gd name="connsiteX5" fmla="*/ 1479 w 9474888"/>
              <a:gd name="connsiteY5" fmla="*/ 2171799 h 2171799"/>
              <a:gd name="connsiteX0" fmla="*/ 1479 w 9366604"/>
              <a:gd name="connsiteY0" fmla="*/ 2171799 h 2171799"/>
              <a:gd name="connsiteX1" fmla="*/ 0 w 9366604"/>
              <a:gd name="connsiteY1" fmla="*/ 0 h 2171799"/>
              <a:gd name="connsiteX2" fmla="*/ 9356052 w 9366604"/>
              <a:gd name="connsiteY2" fmla="*/ 12032 h 2171799"/>
              <a:gd name="connsiteX3" fmla="*/ 9366604 w 9366604"/>
              <a:gd name="connsiteY3" fmla="*/ 728009 h 2171799"/>
              <a:gd name="connsiteX4" fmla="*/ 5132950 w 9366604"/>
              <a:gd name="connsiteY4" fmla="*/ 2165682 h 2171799"/>
              <a:gd name="connsiteX5" fmla="*/ 1479 w 9366604"/>
              <a:gd name="connsiteY5"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728009 h 2171799"/>
              <a:gd name="connsiteX4" fmla="*/ 5132950 w 9356052"/>
              <a:gd name="connsiteY4" fmla="*/ 2165682 h 2171799"/>
              <a:gd name="connsiteX5" fmla="*/ 1479 w 9356052"/>
              <a:gd name="connsiteY5"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764104 h 2171799"/>
              <a:gd name="connsiteX4" fmla="*/ 5132950 w 9356052"/>
              <a:gd name="connsiteY4" fmla="*/ 2165682 h 2171799"/>
              <a:gd name="connsiteX5" fmla="*/ 1479 w 9356052"/>
              <a:gd name="connsiteY5" fmla="*/ 2171799 h 2171799"/>
              <a:gd name="connsiteX0" fmla="*/ 1479 w 9342541"/>
              <a:gd name="connsiteY0" fmla="*/ 2171799 h 2171799"/>
              <a:gd name="connsiteX1" fmla="*/ 0 w 9342541"/>
              <a:gd name="connsiteY1" fmla="*/ 0 h 2171799"/>
              <a:gd name="connsiteX2" fmla="*/ 9331989 w 9342541"/>
              <a:gd name="connsiteY2" fmla="*/ 12032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4021"/>
              <a:gd name="connsiteY0" fmla="*/ 2171799 h 2171799"/>
              <a:gd name="connsiteX1" fmla="*/ 0 w 9344021"/>
              <a:gd name="connsiteY1" fmla="*/ 0 h 2171799"/>
              <a:gd name="connsiteX2" fmla="*/ 9344021 w 9344021"/>
              <a:gd name="connsiteY2" fmla="*/ 12032 h 2171799"/>
              <a:gd name="connsiteX3" fmla="*/ 9342541 w 9344021"/>
              <a:gd name="connsiteY3" fmla="*/ 764104 h 2171799"/>
              <a:gd name="connsiteX4" fmla="*/ 5132950 w 9344021"/>
              <a:gd name="connsiteY4" fmla="*/ 2165682 h 2171799"/>
              <a:gd name="connsiteX5" fmla="*/ 1479 w 9344021"/>
              <a:gd name="connsiteY5" fmla="*/ 2171799 h 2171799"/>
              <a:gd name="connsiteX0" fmla="*/ 1479 w 9342541"/>
              <a:gd name="connsiteY0" fmla="*/ 2171799 h 2171799"/>
              <a:gd name="connsiteX1" fmla="*/ 0 w 9342541"/>
              <a:gd name="connsiteY1" fmla="*/ 0 h 2171799"/>
              <a:gd name="connsiteX2" fmla="*/ 9340846 w 9342541"/>
              <a:gd name="connsiteY2" fmla="*/ 15207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2541"/>
              <a:gd name="connsiteY0" fmla="*/ 2171799 h 2171799"/>
              <a:gd name="connsiteX1" fmla="*/ 0 w 9342541"/>
              <a:gd name="connsiteY1" fmla="*/ 0 h 2171799"/>
              <a:gd name="connsiteX2" fmla="*/ 9340846 w 9342541"/>
              <a:gd name="connsiteY2" fmla="*/ 8857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2541"/>
              <a:gd name="connsiteY0" fmla="*/ 2171799 h 2171799"/>
              <a:gd name="connsiteX1" fmla="*/ 0 w 9342541"/>
              <a:gd name="connsiteY1" fmla="*/ 0 h 2171799"/>
              <a:gd name="connsiteX2" fmla="*/ 9340846 w 9342541"/>
              <a:gd name="connsiteY2" fmla="*/ 8857 h 2171799"/>
              <a:gd name="connsiteX3" fmla="*/ 9342541 w 9342541"/>
              <a:gd name="connsiteY3" fmla="*/ 760929 h 2171799"/>
              <a:gd name="connsiteX4" fmla="*/ 5132950 w 9342541"/>
              <a:gd name="connsiteY4" fmla="*/ 2165682 h 2171799"/>
              <a:gd name="connsiteX5" fmla="*/ 1479 w 9342541"/>
              <a:gd name="connsiteY5" fmla="*/ 2171799 h 2171799"/>
              <a:gd name="connsiteX0" fmla="*/ 1479 w 9342860"/>
              <a:gd name="connsiteY0" fmla="*/ 2171799 h 2171799"/>
              <a:gd name="connsiteX1" fmla="*/ 0 w 9342860"/>
              <a:gd name="connsiteY1" fmla="*/ 0 h 2171799"/>
              <a:gd name="connsiteX2" fmla="*/ 9340846 w 9342860"/>
              <a:gd name="connsiteY2" fmla="*/ 8857 h 2171799"/>
              <a:gd name="connsiteX3" fmla="*/ 9342541 w 9342860"/>
              <a:gd name="connsiteY3" fmla="*/ 760929 h 2171799"/>
              <a:gd name="connsiteX4" fmla="*/ 5132950 w 9342860"/>
              <a:gd name="connsiteY4" fmla="*/ 2165682 h 2171799"/>
              <a:gd name="connsiteX5" fmla="*/ 1479 w 9342860"/>
              <a:gd name="connsiteY5" fmla="*/ 2171799 h 2171799"/>
              <a:gd name="connsiteX0" fmla="*/ 1479 w 9342860"/>
              <a:gd name="connsiteY0" fmla="*/ 2171799 h 2171799"/>
              <a:gd name="connsiteX1" fmla="*/ 0 w 9342860"/>
              <a:gd name="connsiteY1" fmla="*/ 0 h 2171799"/>
              <a:gd name="connsiteX2" fmla="*/ 9340846 w 9342860"/>
              <a:gd name="connsiteY2" fmla="*/ 8857 h 2171799"/>
              <a:gd name="connsiteX3" fmla="*/ 9342541 w 9342860"/>
              <a:gd name="connsiteY3" fmla="*/ 760929 h 2171799"/>
              <a:gd name="connsiteX4" fmla="*/ 5132950 w 9342860"/>
              <a:gd name="connsiteY4" fmla="*/ 2165682 h 2171799"/>
              <a:gd name="connsiteX5" fmla="*/ 1479 w 9342860"/>
              <a:gd name="connsiteY5" fmla="*/ 2171799 h 2171799"/>
              <a:gd name="connsiteX0" fmla="*/ 1479 w 9340846"/>
              <a:gd name="connsiteY0" fmla="*/ 2171799 h 2171799"/>
              <a:gd name="connsiteX1" fmla="*/ 0 w 9340846"/>
              <a:gd name="connsiteY1" fmla="*/ 0 h 2171799"/>
              <a:gd name="connsiteX2" fmla="*/ 9340846 w 9340846"/>
              <a:gd name="connsiteY2" fmla="*/ 8857 h 2171799"/>
              <a:gd name="connsiteX3" fmla="*/ 9339366 w 9340846"/>
              <a:gd name="connsiteY3" fmla="*/ 779979 h 2171799"/>
              <a:gd name="connsiteX4" fmla="*/ 5132950 w 9340846"/>
              <a:gd name="connsiteY4" fmla="*/ 2165682 h 2171799"/>
              <a:gd name="connsiteX5" fmla="*/ 1479 w 9340846"/>
              <a:gd name="connsiteY5" fmla="*/ 2171799 h 2171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40846" h="2171799">
                <a:moveTo>
                  <a:pt x="1479" y="2171799"/>
                </a:moveTo>
                <a:lnTo>
                  <a:pt x="0" y="0"/>
                </a:lnTo>
                <a:lnTo>
                  <a:pt x="9340846" y="8857"/>
                </a:lnTo>
                <a:cubicBezTo>
                  <a:pt x="9336342" y="728779"/>
                  <a:pt x="9341363" y="742849"/>
                  <a:pt x="9339366" y="779979"/>
                </a:cubicBezTo>
                <a:lnTo>
                  <a:pt x="5132950" y="2165682"/>
                </a:lnTo>
                <a:lnTo>
                  <a:pt x="1479" y="2171799"/>
                </a:lnTo>
                <a:close/>
              </a:path>
            </a:pathLst>
          </a:custGeom>
        </p:spPr>
        <p:txBody>
          <a:bodyPr anchor="t"/>
          <a:lstStyle>
            <a:lvl1pPr marL="0" indent="0">
              <a:buNone/>
              <a:defRPr sz="2400" b="0">
                <a:solidFill>
                  <a:schemeClr val="bg2"/>
                </a:solidFill>
              </a:defRPr>
            </a:lvl1pPr>
          </a:lstStyle>
          <a:p>
            <a:pPr lvl="0"/>
            <a:r>
              <a:rPr lang="en-US"/>
              <a:t>Enter quoted person’s name</a:t>
            </a:r>
          </a:p>
        </p:txBody>
      </p:sp>
    </p:spTree>
    <p:custDataLst>
      <p:tags r:id="rId1"/>
    </p:custDataLst>
    <p:extLst>
      <p:ext uri="{BB962C8B-B14F-4D97-AF65-F5344CB8AC3E}">
        <p14:creationId xmlns:p14="http://schemas.microsoft.com/office/powerpoint/2010/main" val="3014638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299526"/>
            <a:ext cx="11569209" cy="731318"/>
          </a:xfrm>
        </p:spPr>
        <p:txBody>
          <a:bodyPr/>
          <a:lstStyle>
            <a:lvl1pPr>
              <a:defRPr/>
            </a:lvl1pPr>
          </a:lstStyle>
          <a:p>
            <a:r>
              <a:rPr lang="en-US"/>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5760" y="1143000"/>
            <a:ext cx="11587890" cy="5291750"/>
          </a:xfrm>
        </p:spPr>
        <p:txBody>
          <a:bodyPr/>
          <a:lstStyle>
            <a:lvl1pPr>
              <a:defRPr/>
            </a:lvl1pPr>
            <a:lvl2pPr>
              <a:defRPr/>
            </a:lvl2pPr>
            <a:lvl3pPr>
              <a:defRPr/>
            </a:lvl3pPr>
            <a:lvl4pPr>
              <a:defRPr/>
            </a:lvl4pPr>
            <a:lvl5pPr>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6413890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de">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p:txBody>
          <a:bodyPr/>
          <a:lstStyle>
            <a:lvl1pPr>
              <a:defRPr/>
            </a:lvl1pPr>
          </a:lstStyle>
          <a:p>
            <a:r>
              <a:rPr lang="en-US"/>
              <a:t>Title and code</a:t>
            </a:r>
          </a:p>
        </p:txBody>
      </p:sp>
      <p:sp>
        <p:nvSpPr>
          <p:cNvPr id="7" name="Code">
            <a:extLst>
              <a:ext uri="{FF2B5EF4-FFF2-40B4-BE49-F238E27FC236}">
                <a16:creationId xmlns:a16="http://schemas.microsoft.com/office/drawing/2014/main" id="{D77EFECE-400E-4BAA-A766-7DD8A1117BBC}"/>
              </a:ext>
            </a:extLst>
          </p:cNvPr>
          <p:cNvSpPr>
            <a:spLocks noGrp="1"/>
          </p:cNvSpPr>
          <p:nvPr>
            <p:ph type="body" idx="1" hasCustomPrompt="1"/>
          </p:nvPr>
        </p:nvSpPr>
        <p:spPr>
          <a:xfrm>
            <a:off x="365760" y="1143000"/>
            <a:ext cx="11569700" cy="5257800"/>
          </a:xfrm>
        </p:spPr>
        <p:txBody>
          <a:bodyPr>
            <a:noAutofit/>
          </a:bodyPr>
          <a:lstStyle>
            <a:lvl1pPr marL="0" indent="0">
              <a:spcBef>
                <a:spcPts val="0"/>
              </a:spcBef>
              <a:buNone/>
              <a:defRPr sz="1800">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C3AAB48A-4CC9-410B-9FD0-0E32778B6BFF}"/>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918032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Text Column, and Small Picture">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text, and right picture</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143000"/>
            <a:ext cx="830355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1"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idx="9" hasCustomPrompt="1"/>
          </p:nvPr>
        </p:nvSpPr>
        <p:spPr>
          <a:xfrm>
            <a:off x="8778240" y="2286000"/>
            <a:ext cx="2971800" cy="2971800"/>
          </a:xfrm>
        </p:spPr>
        <p:txBody>
          <a:bodyPr anchor="t"/>
          <a:lstStyle>
            <a:lvl1pPr marL="0" indent="0" algn="ctr">
              <a:buNone/>
              <a:defRPr sz="3200">
                <a:solidFill>
                  <a:schemeClr val="tx2"/>
                </a:solidFill>
              </a:defRPr>
            </a:lvl1pPr>
          </a:lstStyle>
          <a:p>
            <a:r>
              <a:rPr lang="en-US"/>
              <a:t>Click icon to add image</a:t>
            </a:r>
          </a:p>
        </p:txBody>
      </p:sp>
      <p:sp>
        <p:nvSpPr>
          <p:cNvPr id="19" name="Title Border">
            <a:extLst>
              <a:ext uri="{FF2B5EF4-FFF2-40B4-BE49-F238E27FC236}">
                <a16:creationId xmlns:a16="http://schemas.microsoft.com/office/drawing/2014/main" id="{CA5A47F4-760F-45B4-9DF3-86A7530E62D0}"/>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3931383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rvice intro">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text, and right picture</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143000"/>
            <a:ext cx="830355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2" name="Picture Placeholder 11">
            <a:extLst>
              <a:ext uri="{FF2B5EF4-FFF2-40B4-BE49-F238E27FC236}">
                <a16:creationId xmlns:a16="http://schemas.microsoft.com/office/drawing/2014/main" id="{A03FAA1E-A82F-4446-835A-A257B09471D5}"/>
              </a:ext>
            </a:extLst>
          </p:cNvPr>
          <p:cNvSpPr>
            <a:spLocks noGrp="1" noChangeAspect="1"/>
          </p:cNvSpPr>
          <p:nvPr>
            <p:ph type="pic" sz="quarter" idx="22" hasCustomPrompt="1"/>
          </p:nvPr>
        </p:nvSpPr>
        <p:spPr>
          <a:xfrm>
            <a:off x="9765792" y="1280160"/>
            <a:ext cx="1097280" cy="1097280"/>
          </a:xfrm>
        </p:spPr>
        <p:txBody>
          <a:bodyPr>
            <a:normAutofit/>
          </a:bodyPr>
          <a:lstStyle>
            <a:lvl1pPr marL="0" indent="0">
              <a:buNone/>
              <a:defRPr sz="1600"/>
            </a:lvl1pPr>
          </a:lstStyle>
          <a:p>
            <a:r>
              <a:rPr lang="en-US"/>
              <a:t>Service icon</a:t>
            </a:r>
          </a:p>
        </p:txBody>
      </p:sp>
      <p:sp>
        <p:nvSpPr>
          <p:cNvPr id="5" name="Text Placeholder 4">
            <a:extLst>
              <a:ext uri="{FF2B5EF4-FFF2-40B4-BE49-F238E27FC236}">
                <a16:creationId xmlns:a16="http://schemas.microsoft.com/office/drawing/2014/main" id="{68F19BB9-EC09-4DD0-97A5-BBF0110B770B}"/>
              </a:ext>
            </a:extLst>
          </p:cNvPr>
          <p:cNvSpPr>
            <a:spLocks noGrp="1"/>
          </p:cNvSpPr>
          <p:nvPr>
            <p:ph type="body" sz="quarter" idx="21" hasCustomPrompt="1"/>
          </p:nvPr>
        </p:nvSpPr>
        <p:spPr>
          <a:xfrm>
            <a:off x="9162288" y="2514600"/>
            <a:ext cx="2304288" cy="914400"/>
          </a:xfrm>
        </p:spPr>
        <p:txBody>
          <a:bodyPr>
            <a:noAutofit/>
          </a:bodyPr>
          <a:lstStyle>
            <a:lvl1pPr marL="0" indent="0" algn="ctr">
              <a:buNone/>
              <a:defRPr lang="en-US" sz="1800" dirty="0">
                <a:ea typeface="+mn-ea"/>
                <a:cs typeface="+mn-cs"/>
              </a:defRPr>
            </a:lvl1pPr>
          </a:lstStyle>
          <a:p>
            <a:pPr marL="230188" lvl="0" indent="-230188" algn="ctr"/>
            <a:r>
              <a:rPr lang="en-US"/>
              <a:t>Add service name here</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CA5A47F4-760F-45B4-9DF3-86A7530E62D0}"/>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7297122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Header, Text, and Small Picture">
    <p:bg>
      <p:bgPr>
        <a:solidFill>
          <a:schemeClr val="bg1"/>
        </a:solidFill>
        <a:effectLst/>
      </p:bgPr>
    </p:bg>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487257" cy="731318"/>
          </a:xfrm>
        </p:spPr>
        <p:txBody>
          <a:bodyPr/>
          <a:lstStyle>
            <a:lvl1pPr>
              <a:lnSpc>
                <a:spcPct val="100000"/>
              </a:lnSpc>
              <a:defRPr/>
            </a:lvl1pPr>
          </a:lstStyle>
          <a:p>
            <a:r>
              <a:rPr lang="en-US"/>
              <a:t>Title, header, text, and picture</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2" hasCustomPrompt="1"/>
          </p:nvPr>
        </p:nvSpPr>
        <p:spPr>
          <a:xfrm>
            <a:off x="365760" y="1053311"/>
            <a:ext cx="11487257"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830355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1"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idx="9" hasCustomPrompt="1"/>
          </p:nvPr>
        </p:nvSpPr>
        <p:spPr>
          <a:xfrm>
            <a:off x="8775263" y="2516806"/>
            <a:ext cx="2971800" cy="2971800"/>
          </a:xfrm>
        </p:spPr>
        <p:txBody>
          <a:bodyPr anchor="t"/>
          <a:lstStyle>
            <a:lvl1pPr marL="0" indent="0" algn="ctr">
              <a:buNone/>
              <a:defRPr sz="3200">
                <a:solidFill>
                  <a:schemeClr val="tx2"/>
                </a:solidFill>
              </a:defRPr>
            </a:lvl1pPr>
          </a:lstStyle>
          <a:p>
            <a:r>
              <a:rPr lang="en-US"/>
              <a:t>Click icon to add image</a:t>
            </a:r>
          </a:p>
        </p:txBody>
      </p:sp>
    </p:spTree>
    <p:custDataLst>
      <p:tags r:id="rId1"/>
    </p:custDataLst>
    <p:extLst>
      <p:ext uri="{BB962C8B-B14F-4D97-AF65-F5344CB8AC3E}">
        <p14:creationId xmlns:p14="http://schemas.microsoft.com/office/powerpoint/2010/main" val="20196102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rvice Introduction">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a:t>Service Introduction Slide</a:t>
            </a:r>
          </a:p>
        </p:txBody>
      </p:sp>
      <p:sp>
        <p:nvSpPr>
          <p:cNvPr id="8" name="Content Righ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4184073" y="1143000"/>
            <a:ext cx="7750896" cy="5291750"/>
          </a:xfrm>
        </p:spPr>
        <p:txBody>
          <a:bodyPr anchor="ctr">
            <a:noAutofit/>
          </a:bodyPr>
          <a:lstStyle>
            <a:lvl1pPr>
              <a:lnSpc>
                <a:spcPct val="100000"/>
              </a:lnSpc>
              <a:spcAft>
                <a:spcPts val="600"/>
              </a:spcAft>
              <a:defRPr sz="3200">
                <a:solidFill>
                  <a:schemeClr val="tx2"/>
                </a:solidFill>
              </a:defRPr>
            </a:lvl1pPr>
            <a:lvl2pPr marL="461963" indent="-228600">
              <a:lnSpc>
                <a:spcPct val="100000"/>
              </a:lnSpc>
              <a:spcAft>
                <a:spcPts val="600"/>
              </a:spcAft>
              <a:defRPr sz="2800">
                <a:solidFill>
                  <a:schemeClr val="tx2"/>
                </a:solidFill>
              </a:defRPr>
            </a:lvl2pPr>
            <a:lvl3pPr marL="684213" indent="-228600">
              <a:lnSpc>
                <a:spcPct val="100000"/>
              </a:lnSpc>
              <a:spcAft>
                <a:spcPts val="600"/>
              </a:spcAft>
              <a:defRPr sz="2400">
                <a:solidFill>
                  <a:schemeClr val="tx2"/>
                </a:solidFill>
              </a:defRPr>
            </a:lvl3pPr>
            <a:lvl4pPr marL="914400" indent="-228600">
              <a:lnSpc>
                <a:spcPct val="100000"/>
              </a:lnSpc>
              <a:spcAft>
                <a:spcPts val="600"/>
              </a:spcAft>
              <a:defRPr sz="2000">
                <a:solidFill>
                  <a:schemeClr val="tx2"/>
                </a:solidFill>
              </a:defRPr>
            </a:lvl4pPr>
            <a:lvl5pPr marL="1144588" indent="-228600">
              <a:lnSpc>
                <a:spcPct val="100000"/>
              </a:lnSpc>
              <a:spcAft>
                <a:spcPts val="600"/>
              </a:spcAft>
              <a:defRPr sz="20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5" name="Picture Placeholder 4">
            <a:extLst>
              <a:ext uri="{FF2B5EF4-FFF2-40B4-BE49-F238E27FC236}">
                <a16:creationId xmlns:a16="http://schemas.microsoft.com/office/drawing/2014/main" id="{E25EBCDC-6C07-4B35-82D5-0AC6628754E6}"/>
              </a:ext>
              <a:ext uri="{C183D7F6-B498-43B3-948B-1728B52AA6E4}">
                <adec:decorative xmlns:adec="http://schemas.microsoft.com/office/drawing/2017/decorative" val="1"/>
              </a:ext>
            </a:extLst>
          </p:cNvPr>
          <p:cNvSpPr>
            <a:spLocks noGrp="1"/>
          </p:cNvSpPr>
          <p:nvPr>
            <p:ph type="pic" sz="quarter" idx="21"/>
          </p:nvPr>
        </p:nvSpPr>
        <p:spPr>
          <a:xfrm>
            <a:off x="896802" y="2618443"/>
            <a:ext cx="2340864" cy="2340864"/>
          </a:xfrm>
        </p:spPr>
        <p:txBody>
          <a:bodyPr anchor="ctr"/>
          <a:lstStyle>
            <a:lvl1pPr marL="0" indent="0" algn="ctr">
              <a:buNone/>
              <a:defRPr/>
            </a:lvl1pPr>
          </a:lstStyle>
          <a:p>
            <a:r>
              <a:rPr lang="en-US"/>
              <a:t>Click icon to add picture</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30E2FEDB-7122-4CE9-A695-390387894502}"/>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32C43914-0D84-493F-9BEB-DF30C6FD4C97}"/>
              </a:ext>
              <a:ext uri="{C183D7F6-B498-43B3-948B-1728B52AA6E4}">
                <adec:decorative xmlns:adec="http://schemas.microsoft.com/office/drawing/2017/decorative" val="1"/>
              </a:ext>
            </a:extLst>
          </p:cNvPr>
          <p:cNvCxnSpPr/>
          <p:nvPr/>
        </p:nvCxnSpPr>
        <p:spPr>
          <a:xfrm>
            <a:off x="3732690" y="1239140"/>
            <a:ext cx="0" cy="5195610"/>
          </a:xfrm>
          <a:prstGeom prst="line">
            <a:avLst/>
          </a:prstGeom>
          <a:ln w="44450">
            <a:solidFill>
              <a:schemeClr val="hlink"/>
            </a:solidFill>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31273845"/>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2 Content Columns">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a:t>Title and 2 content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566928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8" name="Content Righ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6265689" y="1143000"/>
            <a:ext cx="566928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30E2FEDB-7122-4CE9-A695-390387894502}"/>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5692535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nd 2 Code Columns">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 uri="{C183D7F6-B498-43B3-948B-1728B52AA6E4}">
                <adec:decorative xmlns:adec="http://schemas.microsoft.com/office/drawing/2017/decorative" val="0"/>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a:t>Title and 2 code columns</a:t>
            </a:r>
          </a:p>
        </p:txBody>
      </p:sp>
      <p:sp>
        <p:nvSpPr>
          <p:cNvPr id="7" name="Code Left">
            <a:extLst>
              <a:ext uri="{FF2B5EF4-FFF2-40B4-BE49-F238E27FC236}">
                <a16:creationId xmlns:a16="http://schemas.microsoft.com/office/drawing/2014/main" id="{D77EFECE-400E-4BAA-A766-7DD8A1117BBC}"/>
              </a:ext>
            </a:extLst>
          </p:cNvPr>
          <p:cNvSpPr>
            <a:spLocks noGrp="1"/>
          </p:cNvSpPr>
          <p:nvPr>
            <p:ph type="body" idx="1" hasCustomPrompt="1"/>
          </p:nvPr>
        </p:nvSpPr>
        <p:spPr>
          <a:xfrm>
            <a:off x="365760" y="1143000"/>
            <a:ext cx="5669280" cy="5291750"/>
          </a:xfrm>
        </p:spPr>
        <p:txBody>
          <a:bodyPr>
            <a:noAutofit/>
          </a:bodyPr>
          <a:lstStyle>
            <a:lvl1pPr marL="0" indent="0">
              <a:spcBef>
                <a:spcPts val="0"/>
              </a:spcBef>
              <a:buNone/>
              <a:defRPr sz="1800">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8" name="Code Right">
            <a:extLst>
              <a:ext uri="{FF2B5EF4-FFF2-40B4-BE49-F238E27FC236}">
                <a16:creationId xmlns:a16="http://schemas.microsoft.com/office/drawing/2014/main" id="{E8572E41-DF36-40C1-9453-10D94D9775B7}"/>
              </a:ext>
            </a:extLst>
          </p:cNvPr>
          <p:cNvSpPr>
            <a:spLocks noGrp="1"/>
          </p:cNvSpPr>
          <p:nvPr>
            <p:ph type="body" idx="2" hasCustomPrompt="1"/>
          </p:nvPr>
        </p:nvSpPr>
        <p:spPr>
          <a:xfrm>
            <a:off x="6265689" y="1143000"/>
            <a:ext cx="5669280" cy="5291750"/>
          </a:xfrm>
        </p:spPr>
        <p:txBody>
          <a:bodyPr>
            <a:noAutofit/>
          </a:bodyPr>
          <a:lstStyle>
            <a:lvl1pPr marL="0" indent="0">
              <a:spcBef>
                <a:spcPts val="0"/>
              </a:spcBef>
              <a:buNone/>
              <a:defRPr sz="1800">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839B152F-AE78-42AF-B8FB-09C753D41393}"/>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522715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1 Header, and 2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1 header, and 2 text columns</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1051560"/>
            <a:ext cx="11569208"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7321"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642917229"/>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2 Headers, and 2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2 headers, and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4" name="Content Header Right">
            <a:extLst>
              <a:ext uri="{FF2B5EF4-FFF2-40B4-BE49-F238E27FC236}">
                <a16:creationId xmlns:a16="http://schemas.microsoft.com/office/drawing/2014/main" id="{04C41CFA-9BF9-474A-89A9-E22790A538E2}"/>
              </a:ext>
            </a:extLst>
          </p:cNvPr>
          <p:cNvSpPr>
            <a:spLocks noGrp="1"/>
          </p:cNvSpPr>
          <p:nvPr>
            <p:ph type="subTitle" idx="4" hasCustomPrompt="1"/>
          </p:nvPr>
        </p:nvSpPr>
        <p:spPr>
          <a:xfrm>
            <a:off x="6197321"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7321"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3189127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Header and Content Left, Full Height Picture">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header, content, and full height picture</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2" hasCustomPrompt="1"/>
          </p:nvPr>
        </p:nvSpPr>
        <p:spPr>
          <a:xfrm>
            <a:off x="365760"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a:extLst>
              <a:ext uri="{FF2B5EF4-FFF2-40B4-BE49-F238E27FC236}">
                <a16:creationId xmlns:a16="http://schemas.microsoft.com/office/drawing/2014/main" id="{EEA0232A-1E36-4B66-8855-7774205AD335}"/>
              </a:ext>
            </a:extLst>
          </p:cNvPr>
          <p:cNvSpPr>
            <a:spLocks noGrp="1"/>
          </p:cNvSpPr>
          <p:nvPr>
            <p:ph type="body" idx="1" hasCustomPrompt="1"/>
          </p:nvPr>
        </p:nvSpPr>
        <p:spPr>
          <a:xfrm>
            <a:off x="365760"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1" name="Picture">
            <a:extLst>
              <a:ext uri="{FF2B5EF4-FFF2-40B4-BE49-F238E27FC236}">
                <a16:creationId xmlns:a16="http://schemas.microsoft.com/office/drawing/2014/main" id="{E9ECC349-DC9E-43B4-9780-22F11542C500}"/>
              </a:ext>
              <a:ext uri="{C183D7F6-B498-43B3-948B-1728B52AA6E4}">
                <adec:decorative xmlns:adec="http://schemas.microsoft.com/office/drawing/2017/decorative" val="1"/>
              </a:ext>
            </a:extLst>
          </p:cNvPr>
          <p:cNvSpPr>
            <a:spLocks noGrp="1"/>
          </p:cNvSpPr>
          <p:nvPr>
            <p:ph idx="9" hasCustomPrompt="1"/>
          </p:nvPr>
        </p:nvSpPr>
        <p:spPr>
          <a:xfrm>
            <a:off x="6199632" y="1046819"/>
            <a:ext cx="5669280" cy="5387913"/>
          </a:xfrm>
        </p:spPr>
        <p:txBody>
          <a:bodyPr anchor="ctr"/>
          <a:lstStyle>
            <a:lvl1pPr marL="0" indent="0" algn="ctr">
              <a:buNone/>
              <a:defRPr sz="3200">
                <a:solidFill>
                  <a:schemeClr val="tx2"/>
                </a:solidFill>
              </a:defRPr>
            </a:lvl1pPr>
          </a:lstStyle>
          <a:p>
            <a:r>
              <a:rPr lang="en-US"/>
              <a:t>Click icon to add image</a:t>
            </a:r>
          </a:p>
        </p:txBody>
      </p:sp>
    </p:spTree>
    <p:custDataLst>
      <p:tags r:id="rId1"/>
    </p:custDataLst>
    <p:extLst>
      <p:ext uri="{BB962C8B-B14F-4D97-AF65-F5344CB8AC3E}">
        <p14:creationId xmlns:p14="http://schemas.microsoft.com/office/powerpoint/2010/main" val="8566184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2 Pictures, 2 Headers, and 2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2 pictures, 2 headers, and 2 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noChangeAspect="1"/>
          </p:cNvSpPr>
          <p:nvPr>
            <p:ph idx="8" hasCustomPrompt="1"/>
          </p:nvPr>
        </p:nvSpPr>
        <p:spPr>
          <a:xfrm>
            <a:off x="2057400" y="1049337"/>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3366099"/>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3895345"/>
            <a:ext cx="5669280" cy="2550376"/>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2" name="Picture Righ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noChangeAspect="1"/>
          </p:cNvSpPr>
          <p:nvPr>
            <p:ph idx="9" hasCustomPrompt="1"/>
          </p:nvPr>
        </p:nvSpPr>
        <p:spPr>
          <a:xfrm>
            <a:off x="7891272" y="1049337"/>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4" name="Content Header Right">
            <a:extLst>
              <a:ext uri="{FF2B5EF4-FFF2-40B4-BE49-F238E27FC236}">
                <a16:creationId xmlns:a16="http://schemas.microsoft.com/office/drawing/2014/main" id="{04C41CFA-9BF9-474A-89A9-E22790A538E2}"/>
              </a:ext>
            </a:extLst>
          </p:cNvPr>
          <p:cNvSpPr>
            <a:spLocks noGrp="1"/>
          </p:cNvSpPr>
          <p:nvPr>
            <p:ph type="subTitle" idx="4" hasCustomPrompt="1"/>
          </p:nvPr>
        </p:nvSpPr>
        <p:spPr>
          <a:xfrm>
            <a:off x="6199632" y="3366099"/>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9632" y="3895345"/>
            <a:ext cx="5669280" cy="2550376"/>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7012127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3 Conten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a:t>Title and 3 text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374904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8" name="Content Middle">
            <a:extLst>
              <a:ext uri="{FF2B5EF4-FFF2-40B4-BE49-F238E27FC236}">
                <a16:creationId xmlns:a16="http://schemas.microsoft.com/office/drawing/2014/main" id="{951E617C-D9F7-4098-883E-6A048DBCF862}"/>
              </a:ext>
            </a:extLst>
          </p:cNvPr>
          <p:cNvSpPr>
            <a:spLocks noGrp="1"/>
          </p:cNvSpPr>
          <p:nvPr>
            <p:ph type="body" idx="2" hasCustomPrompt="1"/>
          </p:nvPr>
        </p:nvSpPr>
        <p:spPr>
          <a:xfrm>
            <a:off x="4251960" y="1143000"/>
            <a:ext cx="374904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9" name="Content Right">
            <a:extLst>
              <a:ext uri="{FF2B5EF4-FFF2-40B4-BE49-F238E27FC236}">
                <a16:creationId xmlns:a16="http://schemas.microsoft.com/office/drawing/2014/main" id="{A8A7CEA5-195D-4DB0-B5A3-06CEEA93C108}"/>
              </a:ext>
            </a:extLst>
          </p:cNvPr>
          <p:cNvSpPr>
            <a:spLocks noGrp="1"/>
          </p:cNvSpPr>
          <p:nvPr>
            <p:ph type="body" idx="3" hasCustomPrompt="1"/>
          </p:nvPr>
        </p:nvSpPr>
        <p:spPr>
          <a:xfrm>
            <a:off x="8138160" y="1143000"/>
            <a:ext cx="374904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849E56B7-246D-4386-B8C5-E253AD940C1B}"/>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931775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3 Headers, and 3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0"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3 headers and 3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4" hasCustomPrompt="1"/>
          </p:nvPr>
        </p:nvSpPr>
        <p:spPr>
          <a:xfrm>
            <a:off x="365760"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374904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4" name="Content Header Middle">
            <a:extLst>
              <a:ext uri="{FF2B5EF4-FFF2-40B4-BE49-F238E27FC236}">
                <a16:creationId xmlns:a16="http://schemas.microsoft.com/office/drawing/2014/main" id="{04C41CFA-9BF9-474A-89A9-E22790A538E2}"/>
              </a:ext>
            </a:extLst>
          </p:cNvPr>
          <p:cNvSpPr>
            <a:spLocks noGrp="1"/>
          </p:cNvSpPr>
          <p:nvPr>
            <p:ph type="subTitle" idx="5" hasCustomPrompt="1"/>
          </p:nvPr>
        </p:nvSpPr>
        <p:spPr>
          <a:xfrm>
            <a:off x="4253455"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8" name="Content Middle">
            <a:extLst>
              <a:ext uri="{FF2B5EF4-FFF2-40B4-BE49-F238E27FC236}">
                <a16:creationId xmlns:a16="http://schemas.microsoft.com/office/drawing/2014/main" id="{7F5B85B9-BABC-44F6-B2AE-99F02670D702}"/>
              </a:ext>
            </a:extLst>
          </p:cNvPr>
          <p:cNvSpPr>
            <a:spLocks noGrp="1"/>
          </p:cNvSpPr>
          <p:nvPr>
            <p:ph type="body" idx="2" hasCustomPrompt="1"/>
          </p:nvPr>
        </p:nvSpPr>
        <p:spPr>
          <a:xfrm>
            <a:off x="4253455" y="1591056"/>
            <a:ext cx="374904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5" name="Content Header Right">
            <a:extLst>
              <a:ext uri="{FF2B5EF4-FFF2-40B4-BE49-F238E27FC236}">
                <a16:creationId xmlns:a16="http://schemas.microsoft.com/office/drawing/2014/main" id="{B3EBECE3-35F9-4AF4-A8A7-FD546C7C32D6}"/>
              </a:ext>
            </a:extLst>
          </p:cNvPr>
          <p:cNvSpPr>
            <a:spLocks noGrp="1"/>
          </p:cNvSpPr>
          <p:nvPr>
            <p:ph type="subTitle" idx="6" hasCustomPrompt="1"/>
          </p:nvPr>
        </p:nvSpPr>
        <p:spPr>
          <a:xfrm>
            <a:off x="8141150"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9" name="Content Right">
            <a:extLst>
              <a:ext uri="{FF2B5EF4-FFF2-40B4-BE49-F238E27FC236}">
                <a16:creationId xmlns:a16="http://schemas.microsoft.com/office/drawing/2014/main" id="{92466994-EA21-45EA-9DC6-3C179254B3A8}"/>
              </a:ext>
            </a:extLst>
          </p:cNvPr>
          <p:cNvSpPr>
            <a:spLocks noGrp="1"/>
          </p:cNvSpPr>
          <p:nvPr>
            <p:ph type="body" idx="3" hasCustomPrompt="1"/>
          </p:nvPr>
        </p:nvSpPr>
        <p:spPr>
          <a:xfrm>
            <a:off x="8141150" y="1591056"/>
            <a:ext cx="374904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4821907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3 Pictures, 3 Headers, and 3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0"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3 picture3, 3 headers, and 3text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7" hasCustomPrompt="1"/>
          </p:nvPr>
        </p:nvSpPr>
        <p:spPr>
          <a:xfrm>
            <a:off x="10972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4" hasCustomPrompt="1"/>
          </p:nvPr>
        </p:nvSpPr>
        <p:spPr>
          <a:xfrm>
            <a:off x="3657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3895344"/>
            <a:ext cx="3749040" cy="2539399"/>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2"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8" hasCustomPrompt="1"/>
          </p:nvPr>
        </p:nvSpPr>
        <p:spPr>
          <a:xfrm>
            <a:off x="49834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4" name="Content Header Middle">
            <a:extLst>
              <a:ext uri="{FF2B5EF4-FFF2-40B4-BE49-F238E27FC236}">
                <a16:creationId xmlns:a16="http://schemas.microsoft.com/office/drawing/2014/main" id="{04C41CFA-9BF9-474A-89A9-E22790A538E2}"/>
              </a:ext>
            </a:extLst>
          </p:cNvPr>
          <p:cNvSpPr>
            <a:spLocks noGrp="1"/>
          </p:cNvSpPr>
          <p:nvPr>
            <p:ph type="subTitle" idx="5" hasCustomPrompt="1"/>
          </p:nvPr>
        </p:nvSpPr>
        <p:spPr>
          <a:xfrm>
            <a:off x="42519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8" name="Content Middle">
            <a:extLst>
              <a:ext uri="{FF2B5EF4-FFF2-40B4-BE49-F238E27FC236}">
                <a16:creationId xmlns:a16="http://schemas.microsoft.com/office/drawing/2014/main" id="{7F5B85B9-BABC-44F6-B2AE-99F02670D702}"/>
              </a:ext>
            </a:extLst>
          </p:cNvPr>
          <p:cNvSpPr>
            <a:spLocks noGrp="1"/>
          </p:cNvSpPr>
          <p:nvPr>
            <p:ph type="body" idx="2" hasCustomPrompt="1"/>
          </p:nvPr>
        </p:nvSpPr>
        <p:spPr>
          <a:xfrm>
            <a:off x="4251960" y="3895344"/>
            <a:ext cx="3749040" cy="2539399"/>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3"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9" hasCustomPrompt="1"/>
          </p:nvPr>
        </p:nvSpPr>
        <p:spPr>
          <a:xfrm>
            <a:off x="88696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5" name="Content Header Right">
            <a:extLst>
              <a:ext uri="{FF2B5EF4-FFF2-40B4-BE49-F238E27FC236}">
                <a16:creationId xmlns:a16="http://schemas.microsoft.com/office/drawing/2014/main" id="{CF01F87A-DBEF-4657-8500-6A751FF3BC24}"/>
              </a:ext>
            </a:extLst>
          </p:cNvPr>
          <p:cNvSpPr>
            <a:spLocks noGrp="1"/>
          </p:cNvSpPr>
          <p:nvPr>
            <p:ph type="subTitle" idx="6" hasCustomPrompt="1"/>
          </p:nvPr>
        </p:nvSpPr>
        <p:spPr>
          <a:xfrm>
            <a:off x="81381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9" name="Content Right">
            <a:extLst>
              <a:ext uri="{FF2B5EF4-FFF2-40B4-BE49-F238E27FC236}">
                <a16:creationId xmlns:a16="http://schemas.microsoft.com/office/drawing/2014/main" id="{FD28CF85-103D-4AC7-BF7A-D32715F9433A}"/>
              </a:ext>
            </a:extLst>
          </p:cNvPr>
          <p:cNvSpPr>
            <a:spLocks noGrp="1"/>
          </p:cNvSpPr>
          <p:nvPr>
            <p:ph type="body" idx="3" hasCustomPrompt="1"/>
          </p:nvPr>
        </p:nvSpPr>
        <p:spPr>
          <a:xfrm>
            <a:off x="8138160" y="3895344"/>
            <a:ext cx="3749040" cy="2539399"/>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044789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4 Conten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a:t>Title and 4 content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8" name="Content Center Lef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3265675"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9" name="Content Center Right">
            <a:extLst>
              <a:ext uri="{FF2B5EF4-FFF2-40B4-BE49-F238E27FC236}">
                <a16:creationId xmlns:a16="http://schemas.microsoft.com/office/drawing/2014/main" id="{A8A7CEA5-195D-4DB0-B5A3-06CEEA93C108}"/>
              </a:ext>
            </a:extLst>
          </p:cNvPr>
          <p:cNvSpPr>
            <a:spLocks noGrp="1"/>
          </p:cNvSpPr>
          <p:nvPr>
            <p:ph type="body" idx="3" hasCustomPrompt="1"/>
          </p:nvPr>
        </p:nvSpPr>
        <p:spPr>
          <a:xfrm>
            <a:off x="6165590"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0" name="Content Right">
            <a:extLst>
              <a:ext uri="{FF2B5EF4-FFF2-40B4-BE49-F238E27FC236}">
                <a16:creationId xmlns:a16="http://schemas.microsoft.com/office/drawing/2014/main" id="{BC11431A-8924-465C-98E0-6E4655C69AA7}"/>
              </a:ext>
            </a:extLst>
          </p:cNvPr>
          <p:cNvSpPr>
            <a:spLocks noGrp="1"/>
          </p:cNvSpPr>
          <p:nvPr>
            <p:ph type="body" idx="4" hasCustomPrompt="1"/>
          </p:nvPr>
        </p:nvSpPr>
        <p:spPr>
          <a:xfrm>
            <a:off x="9065505"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1BFB2E0D-B82D-49CC-9802-AFB8BA6D0938}"/>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9467740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4 Headers, and 4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1"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4 headers, and 4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4" name="Content 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8" name="Content Center Lef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3264408"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5" name="Content Header Center Right">
            <a:extLst>
              <a:ext uri="{FF2B5EF4-FFF2-40B4-BE49-F238E27FC236}">
                <a16:creationId xmlns:a16="http://schemas.microsoft.com/office/drawing/2014/main" id="{B3EBECE3-35F9-4AF4-A8A7-FD546C7C32D6}"/>
              </a:ext>
            </a:extLst>
          </p:cNvPr>
          <p:cNvSpPr>
            <a:spLocks noGrp="1"/>
          </p:cNvSpPr>
          <p:nvPr>
            <p:ph type="subTitle" idx="7" hasCustomPrompt="1"/>
          </p:nvPr>
        </p:nvSpPr>
        <p:spPr>
          <a:xfrm>
            <a:off x="6163056"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9" name="Content Center Right">
            <a:extLst>
              <a:ext uri="{FF2B5EF4-FFF2-40B4-BE49-F238E27FC236}">
                <a16:creationId xmlns:a16="http://schemas.microsoft.com/office/drawing/2014/main" id="{92466994-EA21-45EA-9DC6-3C179254B3A8}"/>
              </a:ext>
            </a:extLst>
          </p:cNvPr>
          <p:cNvSpPr>
            <a:spLocks noGrp="1"/>
          </p:cNvSpPr>
          <p:nvPr>
            <p:ph type="body" idx="3" hasCustomPrompt="1"/>
          </p:nvPr>
        </p:nvSpPr>
        <p:spPr>
          <a:xfrm>
            <a:off x="6163056"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2" name="Content Header Right">
            <a:extLst>
              <a:ext uri="{FF2B5EF4-FFF2-40B4-BE49-F238E27FC236}">
                <a16:creationId xmlns:a16="http://schemas.microsoft.com/office/drawing/2014/main" id="{ED932AC6-C3A8-487A-A17E-48D0C368204C}"/>
              </a:ext>
            </a:extLst>
          </p:cNvPr>
          <p:cNvSpPr>
            <a:spLocks noGrp="1"/>
          </p:cNvSpPr>
          <p:nvPr>
            <p:ph type="subTitle" idx="8" hasCustomPrompt="1"/>
          </p:nvPr>
        </p:nvSpPr>
        <p:spPr>
          <a:xfrm>
            <a:off x="9061704"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10" name="Content Right">
            <a:extLst>
              <a:ext uri="{FF2B5EF4-FFF2-40B4-BE49-F238E27FC236}">
                <a16:creationId xmlns:a16="http://schemas.microsoft.com/office/drawing/2014/main" id="{7CF59EA0-9039-4A19-8197-DA073A0DB52B}"/>
              </a:ext>
            </a:extLst>
          </p:cNvPr>
          <p:cNvSpPr>
            <a:spLocks noGrp="1"/>
          </p:cNvSpPr>
          <p:nvPr>
            <p:ph type="body" idx="4" hasCustomPrompt="1"/>
          </p:nvPr>
        </p:nvSpPr>
        <p:spPr>
          <a:xfrm>
            <a:off x="9061704"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26169270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4 Large Pictures, 4 Headers, and 4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4 large pictures, 4 headers, and 4 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9" hasCustomPrompt="1"/>
          </p:nvPr>
        </p:nvSpPr>
        <p:spPr>
          <a:xfrm>
            <a:off x="365760"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4363105"/>
            <a:ext cx="2834640" cy="2071637"/>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2"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3264408"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4" name="Content 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8" name="Content Center Lef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3264408" y="4363105"/>
            <a:ext cx="2834640" cy="2071637"/>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3"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11" hasCustomPrompt="1"/>
          </p:nvPr>
        </p:nvSpPr>
        <p:spPr>
          <a:xfrm>
            <a:off x="6163056"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5" name="Content Header Center Right">
            <a:extLst>
              <a:ext uri="{FF2B5EF4-FFF2-40B4-BE49-F238E27FC236}">
                <a16:creationId xmlns:a16="http://schemas.microsoft.com/office/drawing/2014/main" id="{CF01F87A-DBEF-4657-8500-6A751FF3BC24}"/>
              </a:ext>
            </a:extLst>
          </p:cNvPr>
          <p:cNvSpPr>
            <a:spLocks noGrp="1"/>
          </p:cNvSpPr>
          <p:nvPr>
            <p:ph type="subTitle" idx="7" hasCustomPrompt="1"/>
          </p:nvPr>
        </p:nvSpPr>
        <p:spPr>
          <a:xfrm>
            <a:off x="6163056"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9" name="Content Center Right">
            <a:extLst>
              <a:ext uri="{FF2B5EF4-FFF2-40B4-BE49-F238E27FC236}">
                <a16:creationId xmlns:a16="http://schemas.microsoft.com/office/drawing/2014/main" id="{FD28CF85-103D-4AC7-BF7A-D32715F9433A}"/>
              </a:ext>
            </a:extLst>
          </p:cNvPr>
          <p:cNvSpPr>
            <a:spLocks noGrp="1"/>
          </p:cNvSpPr>
          <p:nvPr>
            <p:ph type="body" idx="3" hasCustomPrompt="1"/>
          </p:nvPr>
        </p:nvSpPr>
        <p:spPr>
          <a:xfrm>
            <a:off x="6163056" y="4363105"/>
            <a:ext cx="2834640" cy="2071637"/>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4" name="Picture Right">
            <a:extLst>
              <a:ext uri="{FF2B5EF4-FFF2-40B4-BE49-F238E27FC236}">
                <a16:creationId xmlns:a16="http://schemas.microsoft.com/office/drawing/2014/main" id="{3225055C-7E4D-4C57-84DA-4F32CFEE666E}"/>
              </a:ext>
            </a:extLst>
          </p:cNvPr>
          <p:cNvSpPr>
            <a:spLocks noGrp="1"/>
          </p:cNvSpPr>
          <p:nvPr>
            <p:ph idx="12" hasCustomPrompt="1"/>
          </p:nvPr>
        </p:nvSpPr>
        <p:spPr>
          <a:xfrm>
            <a:off x="9061704"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16" name="Content Header Right">
            <a:extLst>
              <a:ext uri="{FF2B5EF4-FFF2-40B4-BE49-F238E27FC236}">
                <a16:creationId xmlns:a16="http://schemas.microsoft.com/office/drawing/2014/main" id="{B17A76EF-1D7E-4BB9-BAFA-8EAA0807E356}"/>
              </a:ext>
            </a:extLst>
          </p:cNvPr>
          <p:cNvSpPr>
            <a:spLocks noGrp="1"/>
          </p:cNvSpPr>
          <p:nvPr>
            <p:ph type="subTitle" idx="8" hasCustomPrompt="1"/>
          </p:nvPr>
        </p:nvSpPr>
        <p:spPr>
          <a:xfrm>
            <a:off x="9061704"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10" name="Content Right">
            <a:extLst>
              <a:ext uri="{FF2B5EF4-FFF2-40B4-BE49-F238E27FC236}">
                <a16:creationId xmlns:a16="http://schemas.microsoft.com/office/drawing/2014/main" id="{528A167E-DBEB-4BD8-B32A-B1DBF78AA248}"/>
              </a:ext>
            </a:extLst>
          </p:cNvPr>
          <p:cNvSpPr>
            <a:spLocks noGrp="1"/>
          </p:cNvSpPr>
          <p:nvPr>
            <p:ph type="body" idx="4" hasCustomPrompt="1"/>
          </p:nvPr>
        </p:nvSpPr>
        <p:spPr>
          <a:xfrm>
            <a:off x="9061704" y="4363105"/>
            <a:ext cx="2834640" cy="2071637"/>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826284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4 Small Pictures, 4 Headers, and 4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a:t>Title, 4 small pictures, 4 headers, and 4 text fields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9" hasCustomPrompt="1"/>
          </p:nvPr>
        </p:nvSpPr>
        <p:spPr>
          <a:xfrm>
            <a:off x="97790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3" name="Content Header 1">
            <a:extLst>
              <a:ext uri="{FF2B5EF4-FFF2-40B4-BE49-F238E27FC236}">
                <a16:creationId xmlns:a16="http://schemas.microsoft.com/office/drawing/2014/main" id="{573CFC72-9096-4F5D-9BDB-96DE57732BB8}"/>
              </a:ext>
            </a:extLst>
          </p:cNvPr>
          <p:cNvSpPr>
            <a:spLocks noGrp="1"/>
          </p:cNvSpPr>
          <p:nvPr>
            <p:ph type="subTitle" idx="5" hasCustomPrompt="1"/>
          </p:nvPr>
        </p:nvSpPr>
        <p:spPr>
          <a:xfrm>
            <a:off x="365760"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365760" y="3291839"/>
            <a:ext cx="2834640" cy="3142903"/>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0" hasCustomPrompt="1"/>
          </p:nvPr>
        </p:nvSpPr>
        <p:spPr>
          <a:xfrm>
            <a:off x="381254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4" name="Content Header 2">
            <a:extLst>
              <a:ext uri="{FF2B5EF4-FFF2-40B4-BE49-F238E27FC236}">
                <a16:creationId xmlns:a16="http://schemas.microsoft.com/office/drawing/2014/main" id="{3777F387-CD61-4FDE-AE0D-E17DE70D3B19}"/>
              </a:ext>
            </a:extLst>
          </p:cNvPr>
          <p:cNvSpPr>
            <a:spLocks noGrp="1"/>
          </p:cNvSpPr>
          <p:nvPr>
            <p:ph type="subTitle" idx="6" hasCustomPrompt="1"/>
          </p:nvPr>
        </p:nvSpPr>
        <p:spPr>
          <a:xfrm>
            <a:off x="3264408"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3264408" y="3291839"/>
            <a:ext cx="2834640" cy="3142903"/>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1" hasCustomPrompt="1"/>
          </p:nvPr>
        </p:nvSpPr>
        <p:spPr>
          <a:xfrm>
            <a:off x="664718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5" name="Content Header 3">
            <a:extLst>
              <a:ext uri="{FF2B5EF4-FFF2-40B4-BE49-F238E27FC236}">
                <a16:creationId xmlns:a16="http://schemas.microsoft.com/office/drawing/2014/main" id="{CF3CD244-8B44-44A6-A623-84365E91EAE7}"/>
              </a:ext>
            </a:extLst>
          </p:cNvPr>
          <p:cNvSpPr>
            <a:spLocks noGrp="1"/>
          </p:cNvSpPr>
          <p:nvPr>
            <p:ph type="subTitle" idx="7" hasCustomPrompt="1"/>
          </p:nvPr>
        </p:nvSpPr>
        <p:spPr>
          <a:xfrm>
            <a:off x="6163056"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6163056" y="3291839"/>
            <a:ext cx="2834640" cy="3142903"/>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12" hasCustomPrompt="1"/>
          </p:nvPr>
        </p:nvSpPr>
        <p:spPr>
          <a:xfrm>
            <a:off x="948182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16" name="Content Header 4">
            <a:extLst>
              <a:ext uri="{FF2B5EF4-FFF2-40B4-BE49-F238E27FC236}">
                <a16:creationId xmlns:a16="http://schemas.microsoft.com/office/drawing/2014/main" id="{08FBD2BF-3C8E-4153-80EE-99905AF06DB0}"/>
              </a:ext>
            </a:extLst>
          </p:cNvPr>
          <p:cNvSpPr>
            <a:spLocks noGrp="1"/>
          </p:cNvSpPr>
          <p:nvPr>
            <p:ph type="subTitle" idx="8" hasCustomPrompt="1"/>
          </p:nvPr>
        </p:nvSpPr>
        <p:spPr>
          <a:xfrm>
            <a:off x="9061704"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9061704" y="3291839"/>
            <a:ext cx="2834640" cy="3142903"/>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54287532"/>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4 Large Pictures,and 4 Header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4 large pictures, and 4 headers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9" hasCustomPrompt="1"/>
          </p:nvPr>
        </p:nvSpPr>
        <p:spPr>
          <a:xfrm>
            <a:off x="365760"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3" name="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12"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3264408"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4" name="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13"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11" hasCustomPrompt="1"/>
          </p:nvPr>
        </p:nvSpPr>
        <p:spPr>
          <a:xfrm>
            <a:off x="6163056"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5" name="Header Center Right">
            <a:extLst>
              <a:ext uri="{FF2B5EF4-FFF2-40B4-BE49-F238E27FC236}">
                <a16:creationId xmlns:a16="http://schemas.microsoft.com/office/drawing/2014/main" id="{CF01F87A-DBEF-4657-8500-6A751FF3BC24}"/>
              </a:ext>
            </a:extLst>
          </p:cNvPr>
          <p:cNvSpPr>
            <a:spLocks noGrp="1"/>
          </p:cNvSpPr>
          <p:nvPr>
            <p:ph type="subTitle" idx="7" hasCustomPrompt="1"/>
          </p:nvPr>
        </p:nvSpPr>
        <p:spPr>
          <a:xfrm>
            <a:off x="6163056"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14" name="Picture Right">
            <a:extLst>
              <a:ext uri="{FF2B5EF4-FFF2-40B4-BE49-F238E27FC236}">
                <a16:creationId xmlns:a16="http://schemas.microsoft.com/office/drawing/2014/main" id="{3225055C-7E4D-4C57-84DA-4F32CFEE666E}"/>
              </a:ext>
            </a:extLst>
          </p:cNvPr>
          <p:cNvSpPr>
            <a:spLocks noGrp="1"/>
          </p:cNvSpPr>
          <p:nvPr>
            <p:ph idx="12" hasCustomPrompt="1"/>
          </p:nvPr>
        </p:nvSpPr>
        <p:spPr>
          <a:xfrm>
            <a:off x="9061704"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16" name="Header Right">
            <a:extLst>
              <a:ext uri="{FF2B5EF4-FFF2-40B4-BE49-F238E27FC236}">
                <a16:creationId xmlns:a16="http://schemas.microsoft.com/office/drawing/2014/main" id="{B17A76EF-1D7E-4BB9-BAFA-8EAA0807E356}"/>
              </a:ext>
            </a:extLst>
          </p:cNvPr>
          <p:cNvSpPr>
            <a:spLocks noGrp="1"/>
          </p:cNvSpPr>
          <p:nvPr>
            <p:ph type="subTitle" idx="8" hasCustomPrompt="1"/>
          </p:nvPr>
        </p:nvSpPr>
        <p:spPr>
          <a:xfrm>
            <a:off x="9061704"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01638149"/>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_Title, text box, 6 Pictures, and 6 Text Boxe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a:t>1 text box, 6 Images, and 6 text boxes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17" hasCustomPrompt="1"/>
          </p:nvPr>
        </p:nvSpPr>
        <p:spPr>
          <a:xfrm>
            <a:off x="1560576" y="1334737"/>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783336" y="3180210"/>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8" hasCustomPrompt="1"/>
          </p:nvPr>
        </p:nvSpPr>
        <p:spPr>
          <a:xfrm>
            <a:off x="5306568" y="1334737"/>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4529328" y="3180210"/>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9" hasCustomPrompt="1"/>
          </p:nvPr>
        </p:nvSpPr>
        <p:spPr>
          <a:xfrm>
            <a:off x="9064752" y="1334737"/>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8287512" y="3180210"/>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20" hasCustomPrompt="1"/>
          </p:nvPr>
        </p:nvSpPr>
        <p:spPr>
          <a:xfrm>
            <a:off x="1560576" y="3989693"/>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783336" y="5828332"/>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a:t>Enter text</a:t>
            </a:r>
          </a:p>
        </p:txBody>
      </p:sp>
      <p:sp>
        <p:nvSpPr>
          <p:cNvPr id="30" name="Picture 5">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idx="21" hasCustomPrompt="1"/>
          </p:nvPr>
        </p:nvSpPr>
        <p:spPr>
          <a:xfrm>
            <a:off x="5306568" y="3989693"/>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32" name="Content 5">
            <a:extLst>
              <a:ext uri="{FF2B5EF4-FFF2-40B4-BE49-F238E27FC236}">
                <a16:creationId xmlns:a16="http://schemas.microsoft.com/office/drawing/2014/main" id="{4D93D3AB-1EE8-404D-9F8C-ED6967836914}"/>
              </a:ext>
            </a:extLst>
          </p:cNvPr>
          <p:cNvSpPr>
            <a:spLocks noGrp="1"/>
          </p:cNvSpPr>
          <p:nvPr>
            <p:ph type="body" idx="5" hasCustomPrompt="1"/>
          </p:nvPr>
        </p:nvSpPr>
        <p:spPr>
          <a:xfrm>
            <a:off x="4529328" y="5828332"/>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a:t>Enter text</a:t>
            </a:r>
          </a:p>
        </p:txBody>
      </p:sp>
      <p:sp>
        <p:nvSpPr>
          <p:cNvPr id="33" name="Picture 6">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idx="22" hasCustomPrompt="1"/>
          </p:nvPr>
        </p:nvSpPr>
        <p:spPr>
          <a:xfrm>
            <a:off x="9064752" y="3989693"/>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35" name="Content 6">
            <a:extLst>
              <a:ext uri="{FF2B5EF4-FFF2-40B4-BE49-F238E27FC236}">
                <a16:creationId xmlns:a16="http://schemas.microsoft.com/office/drawing/2014/main" id="{E00DC7A1-D213-4110-B8F7-671693ED3BA2}"/>
              </a:ext>
            </a:extLst>
          </p:cNvPr>
          <p:cNvSpPr>
            <a:spLocks noGrp="1"/>
          </p:cNvSpPr>
          <p:nvPr>
            <p:ph type="body" idx="6" hasCustomPrompt="1"/>
          </p:nvPr>
        </p:nvSpPr>
        <p:spPr>
          <a:xfrm>
            <a:off x="8287512" y="5828332"/>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3618213"/>
      </p:ext>
    </p:extLst>
  </p:cSld>
  <p:clrMapOvr>
    <a:masterClrMapping/>
  </p:clrMapOvr>
  <p:hf hdr="0" ftr="0" dt="0"/>
  <p:extLst>
    <p:ext uri="{DCECCB84-F9BA-43D5-87BE-67443E8EF086}">
      <p15:sldGuideLst xmlns:p15="http://schemas.microsoft.com/office/powerpoint/2012/main">
        <p15:guide id="2" orient="horz" pos="10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Title, 8 Small Pictures, 8 Headers, and 8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a:t>Title, 8 pictures, 8 headers, and 8 text fields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17" hasCustomPrompt="1"/>
          </p:nvPr>
        </p:nvSpPr>
        <p:spPr>
          <a:xfrm>
            <a:off x="365760"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 name="Content Header 1">
            <a:extLst>
              <a:ext uri="{FF2B5EF4-FFF2-40B4-BE49-F238E27FC236}">
                <a16:creationId xmlns:a16="http://schemas.microsoft.com/office/drawing/2014/main" id="{573CFC72-9096-4F5D-9BDB-96DE57732BB8}"/>
              </a:ext>
            </a:extLst>
          </p:cNvPr>
          <p:cNvSpPr>
            <a:spLocks noGrp="1"/>
          </p:cNvSpPr>
          <p:nvPr>
            <p:ph type="subTitle" idx="9" hasCustomPrompt="1"/>
          </p:nvPr>
        </p:nvSpPr>
        <p:spPr>
          <a:xfrm>
            <a:off x="365760"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365760"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8" hasCustomPrompt="1"/>
          </p:nvPr>
        </p:nvSpPr>
        <p:spPr>
          <a:xfrm>
            <a:off x="3264408"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4" name="Content Header 2">
            <a:extLst>
              <a:ext uri="{FF2B5EF4-FFF2-40B4-BE49-F238E27FC236}">
                <a16:creationId xmlns:a16="http://schemas.microsoft.com/office/drawing/2014/main" id="{3777F387-CD61-4FDE-AE0D-E17DE70D3B19}"/>
              </a:ext>
            </a:extLst>
          </p:cNvPr>
          <p:cNvSpPr>
            <a:spLocks noGrp="1"/>
          </p:cNvSpPr>
          <p:nvPr>
            <p:ph type="subTitle" idx="10" hasCustomPrompt="1"/>
          </p:nvPr>
        </p:nvSpPr>
        <p:spPr>
          <a:xfrm>
            <a:off x="3264408"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3264408"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9" hasCustomPrompt="1"/>
          </p:nvPr>
        </p:nvSpPr>
        <p:spPr>
          <a:xfrm>
            <a:off x="6163056"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5" name="Content Header 3">
            <a:extLst>
              <a:ext uri="{FF2B5EF4-FFF2-40B4-BE49-F238E27FC236}">
                <a16:creationId xmlns:a16="http://schemas.microsoft.com/office/drawing/2014/main" id="{CF3CD244-8B44-44A6-A623-84365E91EAE7}"/>
              </a:ext>
            </a:extLst>
          </p:cNvPr>
          <p:cNvSpPr>
            <a:spLocks noGrp="1"/>
          </p:cNvSpPr>
          <p:nvPr>
            <p:ph type="subTitle" idx="11" hasCustomPrompt="1"/>
          </p:nvPr>
        </p:nvSpPr>
        <p:spPr>
          <a:xfrm>
            <a:off x="6163056"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6163056"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20" hasCustomPrompt="1"/>
          </p:nvPr>
        </p:nvSpPr>
        <p:spPr>
          <a:xfrm>
            <a:off x="9061704"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16" name="Content Header 4">
            <a:extLst>
              <a:ext uri="{FF2B5EF4-FFF2-40B4-BE49-F238E27FC236}">
                <a16:creationId xmlns:a16="http://schemas.microsoft.com/office/drawing/2014/main" id="{08FBD2BF-3C8E-4153-80EE-99905AF06DB0}"/>
              </a:ext>
            </a:extLst>
          </p:cNvPr>
          <p:cNvSpPr>
            <a:spLocks noGrp="1"/>
          </p:cNvSpPr>
          <p:nvPr>
            <p:ph type="subTitle" idx="12" hasCustomPrompt="1"/>
          </p:nvPr>
        </p:nvSpPr>
        <p:spPr>
          <a:xfrm>
            <a:off x="9061704"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9061704"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30" name="Picture 5">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idx="21" hasCustomPrompt="1"/>
          </p:nvPr>
        </p:nvSpPr>
        <p:spPr>
          <a:xfrm>
            <a:off x="365760"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1" name="Content Header 5">
            <a:extLst>
              <a:ext uri="{FF2B5EF4-FFF2-40B4-BE49-F238E27FC236}">
                <a16:creationId xmlns:a16="http://schemas.microsoft.com/office/drawing/2014/main" id="{E8024806-5459-4580-AA84-DFE98F18A5A3}"/>
              </a:ext>
            </a:extLst>
          </p:cNvPr>
          <p:cNvSpPr>
            <a:spLocks noGrp="1"/>
          </p:cNvSpPr>
          <p:nvPr>
            <p:ph type="subTitle" idx="13" hasCustomPrompt="1"/>
          </p:nvPr>
        </p:nvSpPr>
        <p:spPr>
          <a:xfrm>
            <a:off x="365760"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32" name="Content 5">
            <a:extLst>
              <a:ext uri="{FF2B5EF4-FFF2-40B4-BE49-F238E27FC236}">
                <a16:creationId xmlns:a16="http://schemas.microsoft.com/office/drawing/2014/main" id="{4D93D3AB-1EE8-404D-9F8C-ED6967836914}"/>
              </a:ext>
            </a:extLst>
          </p:cNvPr>
          <p:cNvSpPr>
            <a:spLocks noGrp="1"/>
          </p:cNvSpPr>
          <p:nvPr>
            <p:ph type="body" idx="5" hasCustomPrompt="1"/>
          </p:nvPr>
        </p:nvSpPr>
        <p:spPr>
          <a:xfrm>
            <a:off x="365760"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33" name="Picture 6">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idx="22" hasCustomPrompt="1"/>
          </p:nvPr>
        </p:nvSpPr>
        <p:spPr>
          <a:xfrm>
            <a:off x="3264408"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4" name="Content Header 6">
            <a:extLst>
              <a:ext uri="{FF2B5EF4-FFF2-40B4-BE49-F238E27FC236}">
                <a16:creationId xmlns:a16="http://schemas.microsoft.com/office/drawing/2014/main" id="{484800A7-DA7A-48C2-BD82-C01F6FD9DB3E}"/>
              </a:ext>
            </a:extLst>
          </p:cNvPr>
          <p:cNvSpPr>
            <a:spLocks noGrp="1"/>
          </p:cNvSpPr>
          <p:nvPr>
            <p:ph type="subTitle" idx="14" hasCustomPrompt="1"/>
          </p:nvPr>
        </p:nvSpPr>
        <p:spPr>
          <a:xfrm>
            <a:off x="3264408"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35" name="Content 6">
            <a:extLst>
              <a:ext uri="{FF2B5EF4-FFF2-40B4-BE49-F238E27FC236}">
                <a16:creationId xmlns:a16="http://schemas.microsoft.com/office/drawing/2014/main" id="{E00DC7A1-D213-4110-B8F7-671693ED3BA2}"/>
              </a:ext>
            </a:extLst>
          </p:cNvPr>
          <p:cNvSpPr>
            <a:spLocks noGrp="1"/>
          </p:cNvSpPr>
          <p:nvPr>
            <p:ph type="body" idx="6" hasCustomPrompt="1"/>
          </p:nvPr>
        </p:nvSpPr>
        <p:spPr>
          <a:xfrm>
            <a:off x="3264408"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36" name="Picture 7">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idx="23" hasCustomPrompt="1"/>
          </p:nvPr>
        </p:nvSpPr>
        <p:spPr>
          <a:xfrm>
            <a:off x="6163056"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7" name="Content Header 7">
            <a:extLst>
              <a:ext uri="{FF2B5EF4-FFF2-40B4-BE49-F238E27FC236}">
                <a16:creationId xmlns:a16="http://schemas.microsoft.com/office/drawing/2014/main" id="{706046A5-A656-4648-BD39-64FA5E94B613}"/>
              </a:ext>
            </a:extLst>
          </p:cNvPr>
          <p:cNvSpPr>
            <a:spLocks noGrp="1"/>
          </p:cNvSpPr>
          <p:nvPr>
            <p:ph type="subTitle" idx="15" hasCustomPrompt="1"/>
          </p:nvPr>
        </p:nvSpPr>
        <p:spPr>
          <a:xfrm>
            <a:off x="6163056"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38" name="Content 7">
            <a:extLst>
              <a:ext uri="{FF2B5EF4-FFF2-40B4-BE49-F238E27FC236}">
                <a16:creationId xmlns:a16="http://schemas.microsoft.com/office/drawing/2014/main" id="{9B368858-C97D-421E-8EFA-7300741447EE}"/>
              </a:ext>
            </a:extLst>
          </p:cNvPr>
          <p:cNvSpPr>
            <a:spLocks noGrp="1"/>
          </p:cNvSpPr>
          <p:nvPr>
            <p:ph type="body" idx="7" hasCustomPrompt="1"/>
          </p:nvPr>
        </p:nvSpPr>
        <p:spPr>
          <a:xfrm>
            <a:off x="6163056"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39" name="Picture 8">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idx="24" hasCustomPrompt="1"/>
          </p:nvPr>
        </p:nvSpPr>
        <p:spPr>
          <a:xfrm>
            <a:off x="9061704"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40" name="Content Header 8">
            <a:extLst>
              <a:ext uri="{FF2B5EF4-FFF2-40B4-BE49-F238E27FC236}">
                <a16:creationId xmlns:a16="http://schemas.microsoft.com/office/drawing/2014/main" id="{DE6244C7-6311-4CE0-AB72-2F6B429380EE}"/>
              </a:ext>
            </a:extLst>
          </p:cNvPr>
          <p:cNvSpPr>
            <a:spLocks noGrp="1"/>
          </p:cNvSpPr>
          <p:nvPr>
            <p:ph type="subTitle" idx="16" hasCustomPrompt="1"/>
          </p:nvPr>
        </p:nvSpPr>
        <p:spPr>
          <a:xfrm>
            <a:off x="9061704"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41" name="Content 8">
            <a:extLst>
              <a:ext uri="{FF2B5EF4-FFF2-40B4-BE49-F238E27FC236}">
                <a16:creationId xmlns:a16="http://schemas.microsoft.com/office/drawing/2014/main" id="{FD06B556-F6DC-4CCE-8B02-F0089954096F}"/>
              </a:ext>
            </a:extLst>
          </p:cNvPr>
          <p:cNvSpPr>
            <a:spLocks noGrp="1"/>
          </p:cNvSpPr>
          <p:nvPr>
            <p:ph type="body" idx="8" hasCustomPrompt="1"/>
          </p:nvPr>
        </p:nvSpPr>
        <p:spPr>
          <a:xfrm>
            <a:off x="9061704"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13130084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Title and Gallary">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301752"/>
            <a:ext cx="11569209" cy="731318"/>
          </a:xfrm>
        </p:spPr>
        <p:txBody>
          <a:bodyPr/>
          <a:lstStyle>
            <a:lvl1pPr>
              <a:defRPr/>
            </a:lvl1pPr>
          </a:lstStyle>
          <a:p>
            <a:r>
              <a:rPr lang="en-US"/>
              <a:t>Title and 8 pictures</a:t>
            </a:r>
          </a:p>
        </p:txBody>
      </p:sp>
      <p:sp>
        <p:nvSpPr>
          <p:cNvPr id="11" name="Picture 1">
            <a:extLst>
              <a:ext uri="{FF2B5EF4-FFF2-40B4-BE49-F238E27FC236}">
                <a16:creationId xmlns:a16="http://schemas.microsoft.com/office/drawing/2014/main" id="{01E0569B-0304-4CF2-95FE-74EEAC9AEC38}"/>
              </a:ext>
            </a:extLst>
          </p:cNvPr>
          <p:cNvSpPr>
            <a:spLocks noGrp="1"/>
          </p:cNvSpPr>
          <p:nvPr>
            <p:ph idx="1" hasCustomPrompt="1"/>
          </p:nvPr>
        </p:nvSpPr>
        <p:spPr>
          <a:xfrm>
            <a:off x="451220"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2" name="Picture 2">
            <a:extLst>
              <a:ext uri="{FF2B5EF4-FFF2-40B4-BE49-F238E27FC236}">
                <a16:creationId xmlns:a16="http://schemas.microsoft.com/office/drawing/2014/main" id="{4E39BCC2-7E6B-49A6-88A7-4389D0876599}"/>
              </a:ext>
            </a:extLst>
          </p:cNvPr>
          <p:cNvSpPr>
            <a:spLocks noGrp="1"/>
          </p:cNvSpPr>
          <p:nvPr>
            <p:ph idx="2" hasCustomPrompt="1"/>
          </p:nvPr>
        </p:nvSpPr>
        <p:spPr>
          <a:xfrm>
            <a:off x="3348813"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3" name="Picture 3">
            <a:extLst>
              <a:ext uri="{FF2B5EF4-FFF2-40B4-BE49-F238E27FC236}">
                <a16:creationId xmlns:a16="http://schemas.microsoft.com/office/drawing/2014/main" id="{292A7B23-5883-4A03-AA9E-D7887267A0B5}"/>
              </a:ext>
            </a:extLst>
          </p:cNvPr>
          <p:cNvSpPr>
            <a:spLocks noGrp="1"/>
          </p:cNvSpPr>
          <p:nvPr>
            <p:ph idx="3" hasCustomPrompt="1"/>
          </p:nvPr>
        </p:nvSpPr>
        <p:spPr>
          <a:xfrm>
            <a:off x="6246406"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4" name="Picture 4">
            <a:extLst>
              <a:ext uri="{FF2B5EF4-FFF2-40B4-BE49-F238E27FC236}">
                <a16:creationId xmlns:a16="http://schemas.microsoft.com/office/drawing/2014/main" id="{871FBC72-3D16-49CE-BD02-AD416196D37A}"/>
              </a:ext>
            </a:extLst>
          </p:cNvPr>
          <p:cNvSpPr>
            <a:spLocks noGrp="1"/>
          </p:cNvSpPr>
          <p:nvPr>
            <p:ph idx="4" hasCustomPrompt="1"/>
          </p:nvPr>
        </p:nvSpPr>
        <p:spPr>
          <a:xfrm>
            <a:off x="9144000"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5" name="Picture 5">
            <a:extLst>
              <a:ext uri="{FF2B5EF4-FFF2-40B4-BE49-F238E27FC236}">
                <a16:creationId xmlns:a16="http://schemas.microsoft.com/office/drawing/2014/main" id="{CCC335E7-FA18-44DB-ACBC-F2DABE9FB384}"/>
              </a:ext>
            </a:extLst>
          </p:cNvPr>
          <p:cNvSpPr>
            <a:spLocks noGrp="1"/>
          </p:cNvSpPr>
          <p:nvPr>
            <p:ph idx="5" hasCustomPrompt="1"/>
          </p:nvPr>
        </p:nvSpPr>
        <p:spPr>
          <a:xfrm>
            <a:off x="451220"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6" name="Picture 6">
            <a:extLst>
              <a:ext uri="{FF2B5EF4-FFF2-40B4-BE49-F238E27FC236}">
                <a16:creationId xmlns:a16="http://schemas.microsoft.com/office/drawing/2014/main" id="{BB740650-61A2-4FDC-8700-54D96F01FF5A}"/>
              </a:ext>
            </a:extLst>
          </p:cNvPr>
          <p:cNvSpPr>
            <a:spLocks noGrp="1"/>
          </p:cNvSpPr>
          <p:nvPr>
            <p:ph idx="6" hasCustomPrompt="1"/>
          </p:nvPr>
        </p:nvSpPr>
        <p:spPr>
          <a:xfrm>
            <a:off x="3348813"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7" name="Picture 7">
            <a:extLst>
              <a:ext uri="{FF2B5EF4-FFF2-40B4-BE49-F238E27FC236}">
                <a16:creationId xmlns:a16="http://schemas.microsoft.com/office/drawing/2014/main" id="{CA951A10-B648-4F4E-87FD-97FD8FEB4106}"/>
              </a:ext>
            </a:extLst>
          </p:cNvPr>
          <p:cNvSpPr>
            <a:spLocks noGrp="1"/>
          </p:cNvSpPr>
          <p:nvPr>
            <p:ph idx="7" hasCustomPrompt="1"/>
          </p:nvPr>
        </p:nvSpPr>
        <p:spPr>
          <a:xfrm>
            <a:off x="6246406"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8" name="Picture 8">
            <a:extLst>
              <a:ext uri="{FF2B5EF4-FFF2-40B4-BE49-F238E27FC236}">
                <a16:creationId xmlns:a16="http://schemas.microsoft.com/office/drawing/2014/main" id="{1F4C4007-9EA0-4D1F-938D-A38B105119E9}"/>
              </a:ext>
            </a:extLst>
          </p:cNvPr>
          <p:cNvSpPr>
            <a:spLocks noGrp="1"/>
          </p:cNvSpPr>
          <p:nvPr>
            <p:ph idx="8" hasCustomPrompt="1"/>
          </p:nvPr>
        </p:nvSpPr>
        <p:spPr>
          <a:xfrm>
            <a:off x="9144000"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861730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a:t>Title only layout</a:t>
            </a:r>
          </a:p>
        </p:txBody>
      </p:sp>
      <p:sp>
        <p:nvSpPr>
          <p:cNvPr id="19" name="Title Border">
            <a:extLst>
              <a:ext uri="{FF2B5EF4-FFF2-40B4-BE49-F238E27FC236}">
                <a16:creationId xmlns:a16="http://schemas.microsoft.com/office/drawing/2014/main" id="{5C923B7C-0930-466B-9A4C-4F269F22E021}"/>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6972315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Only Blank">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a:t>Title only blank layout</a:t>
            </a:r>
          </a:p>
        </p:txBody>
      </p:sp>
    </p:spTree>
    <p:custDataLst>
      <p:tags r:id="rId1"/>
    </p:custDataLst>
    <p:extLst>
      <p:ext uri="{BB962C8B-B14F-4D97-AF65-F5344CB8AC3E}">
        <p14:creationId xmlns:p14="http://schemas.microsoft.com/office/powerpoint/2010/main" val="306360640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mall Title and Architecture">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299526"/>
            <a:ext cx="11569209" cy="289591"/>
          </a:xfrm>
        </p:spPr>
        <p:txBody>
          <a:bodyPr>
            <a:normAutofit/>
          </a:bodyPr>
          <a:lstStyle>
            <a:lvl1pPr>
              <a:defRPr sz="1600"/>
            </a:lvl1pPr>
          </a:lstStyle>
          <a:p>
            <a:r>
              <a:rPr lang="en-US"/>
              <a:t>Architecture layout</a:t>
            </a:r>
          </a:p>
        </p:txBody>
      </p:sp>
    </p:spTree>
    <p:custDataLst>
      <p:tags r:id="rId1"/>
    </p:custDataLst>
    <p:extLst>
      <p:ext uri="{BB962C8B-B14F-4D97-AF65-F5344CB8AC3E}">
        <p14:creationId xmlns:p14="http://schemas.microsoft.com/office/powerpoint/2010/main" val="11707173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Full Bleed Image">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0" y="154244"/>
            <a:ext cx="12192000" cy="289591"/>
          </a:xfrm>
        </p:spPr>
        <p:txBody>
          <a:bodyPr>
            <a:normAutofit/>
          </a:bodyPr>
          <a:lstStyle>
            <a:lvl1pPr marL="228600">
              <a:defRPr sz="1600"/>
            </a:lvl1pPr>
          </a:lstStyle>
          <a:p>
            <a:r>
              <a:rPr lang="en-US"/>
              <a:t>Full Image layout</a:t>
            </a:r>
          </a:p>
        </p:txBody>
      </p:sp>
      <p:sp>
        <p:nvSpPr>
          <p:cNvPr id="11" name="Picture">
            <a:extLst>
              <a:ext uri="{FF2B5EF4-FFF2-40B4-BE49-F238E27FC236}">
                <a16:creationId xmlns:a16="http://schemas.microsoft.com/office/drawing/2014/main" id="{3725AF1B-6140-4505-81CD-922F8227415C}"/>
              </a:ext>
            </a:extLst>
          </p:cNvPr>
          <p:cNvSpPr>
            <a:spLocks noGrp="1"/>
          </p:cNvSpPr>
          <p:nvPr>
            <p:ph sz="quarter" idx="11" hasCustomPrompt="1"/>
          </p:nvPr>
        </p:nvSpPr>
        <p:spPr>
          <a:xfrm>
            <a:off x="0" y="444499"/>
            <a:ext cx="12192000" cy="5979265"/>
          </a:xfrm>
        </p:spPr>
        <p:txBody>
          <a:bodyPr anchor="ctr">
            <a:normAutofit/>
          </a:bodyPr>
          <a:lstStyle>
            <a:lvl1pPr marL="0" indent="0" algn="ctr">
              <a:buNone/>
              <a:defRPr sz="3600"/>
            </a:lvl1pPr>
          </a:lstStyle>
          <a:p>
            <a:r>
              <a:rPr lang="en-US"/>
              <a:t>Click icon to add image</a:t>
            </a:r>
          </a:p>
        </p:txBody>
      </p:sp>
    </p:spTree>
    <p:custDataLst>
      <p:tags r:id="rId1"/>
    </p:custDataLst>
    <p:extLst>
      <p:ext uri="{BB962C8B-B14F-4D97-AF65-F5344CB8AC3E}">
        <p14:creationId xmlns:p14="http://schemas.microsoft.com/office/powerpoint/2010/main" val="1263127036"/>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KC-Vertical-Question">
    <p:bg>
      <p:bgPr>
        <a:solidFill>
          <a:schemeClr val="bg1"/>
        </a:solidFill>
        <a:effectLst/>
      </p:bgPr>
    </p:bg>
    <p:spTree>
      <p:nvGrpSpPr>
        <p:cNvPr id="1" name=""/>
        <p:cNvGrpSpPr/>
        <p:nvPr/>
      </p:nvGrpSpPr>
      <p:grpSpPr>
        <a:xfrm>
          <a:off x="0" y="0"/>
          <a:ext cx="0" cy="0"/>
          <a:chOff x="0" y="0"/>
          <a:chExt cx="0" cy="0"/>
        </a:xfrm>
      </p:grpSpPr>
      <p:grpSp>
        <p:nvGrpSpPr>
          <p:cNvPr id="24" name="Background Images">
            <a:extLst>
              <a:ext uri="{FF2B5EF4-FFF2-40B4-BE49-F238E27FC236}">
                <a16:creationId xmlns:a16="http://schemas.microsoft.com/office/drawing/2014/main" id="{EE3862B2-782C-42D5-9515-66EBE7A19C9A}"/>
              </a:ext>
            </a:extLst>
          </p:cNvPr>
          <p:cNvGrpSpPr/>
          <p:nvPr/>
        </p:nvGrpSpPr>
        <p:grpSpPr>
          <a:xfrm>
            <a:off x="0" y="1"/>
            <a:ext cx="12192000" cy="6858000"/>
            <a:chOff x="0" y="1"/>
            <a:chExt cx="12192000" cy="6858000"/>
          </a:xfrm>
        </p:grpSpPr>
        <p:sp>
          <p:nvSpPr>
            <p:cNvPr id="25" name="BKG-TP">
              <a:extLst>
                <a:ext uri="{FF2B5EF4-FFF2-40B4-BE49-F238E27FC236}">
                  <a16:creationId xmlns:a16="http://schemas.microsoft.com/office/drawing/2014/main" id="{C6078C7F-2E33-426C-96FF-E7084DD86E7E}"/>
                </a:ext>
                <a:ext uri="{C183D7F6-B498-43B3-948B-1728B52AA6E4}">
                  <adec:decorative xmlns:adec="http://schemas.microsoft.com/office/drawing/2017/decorative" val="1"/>
                </a:ext>
              </a:extLst>
            </p:cNvPr>
            <p:cNvSpPr/>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BKG-RT">
              <a:extLst>
                <a:ext uri="{FF2B5EF4-FFF2-40B4-BE49-F238E27FC236}">
                  <a16:creationId xmlns:a16="http://schemas.microsoft.com/office/drawing/2014/main" id="{5D3C4E6B-760F-4EC0-919D-D0EEACF9ACA9}"/>
                </a:ext>
                <a:ext uri="{C183D7F6-B498-43B3-948B-1728B52AA6E4}">
                  <adec:decorative xmlns:adec="http://schemas.microsoft.com/office/drawing/2017/decorative" val="1"/>
                </a:ext>
              </a:extLst>
            </p:cNvPr>
            <p:cNvSpPr/>
            <p:nvPr/>
          </p:nvSpPr>
          <p:spPr>
            <a:xfrm>
              <a:off x="4584699" y="1005354"/>
              <a:ext cx="7607301" cy="54293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pic>
          <p:nvPicPr>
            <p:cNvPr id="28" name="AWS Logo">
              <a:extLst>
                <a:ext uri="{FF2B5EF4-FFF2-40B4-BE49-F238E27FC236}">
                  <a16:creationId xmlns:a16="http://schemas.microsoft.com/office/drawing/2014/main" id="{90E6AE4C-E744-4586-850E-BEDD7EE7AB80}"/>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3599" y="6461879"/>
              <a:ext cx="366979" cy="219456"/>
            </a:xfrm>
            <a:prstGeom prst="rect">
              <a:avLst/>
            </a:prstGeom>
          </p:spPr>
        </p:pic>
        <p:sp>
          <p:nvSpPr>
            <p:cNvPr id="29" name="Copyright">
              <a:extLst>
                <a:ext uri="{FF2B5EF4-FFF2-40B4-BE49-F238E27FC236}">
                  <a16:creationId xmlns:a16="http://schemas.microsoft.com/office/drawing/2014/main" id="{274AB020-3E40-43C9-A671-5C17FEE2F385}"/>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bg2"/>
                  </a:solidFill>
                  <a:effectLst/>
                  <a:latin typeface="+mn-lt"/>
                  <a:ea typeface="+mn-ea"/>
                  <a:cs typeface="+mn-cs"/>
                </a:rPr>
                <a:t>© 2022, Amazon Web Services, Inc. or its affiliates. All rights reserved.</a:t>
              </a:r>
            </a:p>
          </p:txBody>
        </p:sp>
      </p:grpSp>
      <p:sp>
        <p:nvSpPr>
          <p:cNvPr id="6"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930176A1-BCF0-4712-97A6-6B495F55390B}" type="slidenum">
              <a:rPr lang="en-US" smtClean="0"/>
              <a:pPr/>
              <a:t>‹#›</a:t>
            </a:fld>
            <a:endParaRPr lang="en-US"/>
          </a:p>
        </p:txBody>
      </p:sp>
      <p:sp>
        <p:nvSpPr>
          <p:cNvPr id="2" name="Question Number">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4324394" cy="825473"/>
          </a:xfrm>
        </p:spPr>
        <p:txBody>
          <a:bodyPr/>
          <a:lstStyle>
            <a:lvl1pPr>
              <a:defRPr>
                <a:solidFill>
                  <a:schemeClr val="bg2"/>
                </a:solidFill>
              </a:defRPr>
            </a:lvl1pPr>
          </a:lstStyle>
          <a:p>
            <a:r>
              <a:rPr lang="en-US"/>
              <a:t>Question and Responses</a:t>
            </a:r>
          </a:p>
        </p:txBody>
      </p:sp>
      <p:sp>
        <p:nvSpPr>
          <p:cNvPr id="7" name="Question">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9" y="1005357"/>
            <a:ext cx="4401650" cy="5429387"/>
          </a:xfrm>
          <a:solidFill>
            <a:schemeClr val="accent1"/>
          </a:solidFill>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400">
                <a:solidFill>
                  <a:schemeClr val="bg2"/>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t>
            </a:r>
            <a:br>
              <a:rPr lang="en-US"/>
            </a:br>
            <a:r>
              <a:rPr lang="en-US"/>
              <a:t>4 responses can only have 1 correct response</a:t>
            </a:r>
            <a:br>
              <a:rPr lang="en-US"/>
            </a:br>
            <a:r>
              <a:rPr lang="en-US"/>
              <a:t>5 responses must have 2 correct responses</a:t>
            </a:r>
            <a:br>
              <a:rPr lang="en-US"/>
            </a:br>
            <a:r>
              <a:rPr lang="en-US"/>
              <a:t>6 responses must have 3 correct responses.</a:t>
            </a:r>
          </a:p>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You can make this field wider if needed. The background color moves with this field. Simply adjust the placement of the response fields to the right to accommodate the wider question field.</a:t>
            </a:r>
          </a:p>
        </p:txBody>
      </p:sp>
      <p:sp>
        <p:nvSpPr>
          <p:cNvPr id="3" name="Choice Header">
            <a:extLst>
              <a:ext uri="{FF2B5EF4-FFF2-40B4-BE49-F238E27FC236}">
                <a16:creationId xmlns:a16="http://schemas.microsoft.com/office/drawing/2014/main" id="{94A86AAC-E12E-4379-82C3-110918D47BB2}"/>
              </a:ext>
            </a:extLst>
          </p:cNvPr>
          <p:cNvSpPr>
            <a:spLocks noGrp="1"/>
          </p:cNvSpPr>
          <p:nvPr>
            <p:ph type="subTitle" idx="13" hasCustomPrompt="1"/>
          </p:nvPr>
        </p:nvSpPr>
        <p:spPr>
          <a:xfrm>
            <a:off x="4581525" y="1008063"/>
            <a:ext cx="847725" cy="323850"/>
          </a:xfrm>
        </p:spPr>
        <p:txBody>
          <a:bodyPr lIns="0" rIns="0">
            <a:noAutofit/>
          </a:bodyPr>
          <a:lstStyle>
            <a:lvl1pPr marL="0" indent="0" algn="ctr">
              <a:buNone/>
              <a:defRPr sz="1800">
                <a:solidFill>
                  <a:schemeClr val="tx2"/>
                </a:solidFill>
              </a:defRPr>
            </a:lvl1pPr>
          </a:lstStyle>
          <a:p>
            <a:pPr lvl="0"/>
            <a:r>
              <a:rPr lang="en-US"/>
              <a:t>Choice</a:t>
            </a:r>
          </a:p>
        </p:txBody>
      </p:sp>
      <p:sp>
        <p:nvSpPr>
          <p:cNvPr id="4" name="Response Header">
            <a:extLst>
              <a:ext uri="{FF2B5EF4-FFF2-40B4-BE49-F238E27FC236}">
                <a16:creationId xmlns:a16="http://schemas.microsoft.com/office/drawing/2014/main" id="{49A546CD-B784-4C60-8DF1-04299A8BD8DC}"/>
              </a:ext>
            </a:extLst>
          </p:cNvPr>
          <p:cNvSpPr>
            <a:spLocks noGrp="1"/>
          </p:cNvSpPr>
          <p:nvPr>
            <p:ph type="subTitle" idx="14" hasCustomPrompt="1"/>
          </p:nvPr>
        </p:nvSpPr>
        <p:spPr>
          <a:xfrm>
            <a:off x="5429250" y="1008063"/>
            <a:ext cx="2457450" cy="323850"/>
          </a:xfrm>
        </p:spPr>
        <p:txBody>
          <a:bodyPr lIns="91440" rIns="0">
            <a:noAutofit/>
          </a:bodyPr>
          <a:lstStyle>
            <a:lvl1pPr marL="0" indent="0" algn="l">
              <a:buNone/>
              <a:defRPr sz="1800">
                <a:solidFill>
                  <a:schemeClr val="tx2"/>
                </a:solidFill>
              </a:defRPr>
            </a:lvl1pPr>
          </a:lstStyle>
          <a:p>
            <a:pPr lvl="0"/>
            <a:r>
              <a:rPr lang="en-US"/>
              <a:t>Response</a:t>
            </a:r>
          </a:p>
        </p:txBody>
      </p:sp>
      <p:sp>
        <p:nvSpPr>
          <p:cNvPr id="9" name="First Resp #">
            <a:extLst>
              <a:ext uri="{FF2B5EF4-FFF2-40B4-BE49-F238E27FC236}">
                <a16:creationId xmlns:a16="http://schemas.microsoft.com/office/drawing/2014/main" id="{DF65B8F8-C411-4217-9956-036774AA94F8}"/>
              </a:ext>
            </a:extLst>
          </p:cNvPr>
          <p:cNvSpPr>
            <a:spLocks noGrp="1"/>
          </p:cNvSpPr>
          <p:nvPr>
            <p:ph type="body" idx="2" hasCustomPrompt="1"/>
          </p:nvPr>
        </p:nvSpPr>
        <p:spPr>
          <a:xfrm>
            <a:off x="4584699" y="1344286"/>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8" name="First Resp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29250" y="1344286"/>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32" name="Second Resp #">
            <a:extLst>
              <a:ext uri="{FF2B5EF4-FFF2-40B4-BE49-F238E27FC236}">
                <a16:creationId xmlns:a16="http://schemas.microsoft.com/office/drawing/2014/main" id="{B27347F1-D178-4BA7-947D-9C3316CA7F55}"/>
              </a:ext>
            </a:extLst>
          </p:cNvPr>
          <p:cNvSpPr>
            <a:spLocks noGrp="1"/>
          </p:cNvSpPr>
          <p:nvPr>
            <p:ph type="body" idx="4" hasCustomPrompt="1"/>
          </p:nvPr>
        </p:nvSpPr>
        <p:spPr>
          <a:xfrm>
            <a:off x="4584699" y="2189689"/>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10" name="Second Resp Text">
            <a:extLst>
              <a:ext uri="{FF2B5EF4-FFF2-40B4-BE49-F238E27FC236}">
                <a16:creationId xmlns:a16="http://schemas.microsoft.com/office/drawing/2014/main" id="{9762E385-4F68-4D4A-BE57-EDA108A285B5}"/>
              </a:ext>
            </a:extLst>
          </p:cNvPr>
          <p:cNvSpPr>
            <a:spLocks noGrp="1"/>
          </p:cNvSpPr>
          <p:nvPr>
            <p:ph type="body" idx="5" hasCustomPrompt="1"/>
          </p:nvPr>
        </p:nvSpPr>
        <p:spPr>
          <a:xfrm>
            <a:off x="5429250" y="2189689"/>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38" name="Third Resp #">
            <a:extLst>
              <a:ext uri="{FF2B5EF4-FFF2-40B4-BE49-F238E27FC236}">
                <a16:creationId xmlns:a16="http://schemas.microsoft.com/office/drawing/2014/main" id="{2ACAFB9D-8E9C-4408-85E1-A3501374C2E9}"/>
              </a:ext>
            </a:extLst>
          </p:cNvPr>
          <p:cNvSpPr>
            <a:spLocks noGrp="1"/>
          </p:cNvSpPr>
          <p:nvPr>
            <p:ph type="body" idx="6" hasCustomPrompt="1"/>
          </p:nvPr>
        </p:nvSpPr>
        <p:spPr>
          <a:xfrm>
            <a:off x="4584699" y="3035092"/>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35" name="Third Resp Text">
            <a:extLst>
              <a:ext uri="{FF2B5EF4-FFF2-40B4-BE49-F238E27FC236}">
                <a16:creationId xmlns:a16="http://schemas.microsoft.com/office/drawing/2014/main" id="{22884D39-7004-49D5-8E88-C45BE1C9BFCB}"/>
              </a:ext>
            </a:extLst>
          </p:cNvPr>
          <p:cNvSpPr>
            <a:spLocks noGrp="1"/>
          </p:cNvSpPr>
          <p:nvPr>
            <p:ph type="body" idx="7" hasCustomPrompt="1"/>
          </p:nvPr>
        </p:nvSpPr>
        <p:spPr>
          <a:xfrm>
            <a:off x="5429250" y="3035092"/>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42" name="Fourth Resp #">
            <a:extLst>
              <a:ext uri="{FF2B5EF4-FFF2-40B4-BE49-F238E27FC236}">
                <a16:creationId xmlns:a16="http://schemas.microsoft.com/office/drawing/2014/main" id="{310C83DA-41AE-4CBA-AA96-EB5CB2226FCF}"/>
              </a:ext>
            </a:extLst>
          </p:cNvPr>
          <p:cNvSpPr>
            <a:spLocks noGrp="1"/>
          </p:cNvSpPr>
          <p:nvPr>
            <p:ph type="body" idx="8" hasCustomPrompt="1"/>
          </p:nvPr>
        </p:nvSpPr>
        <p:spPr>
          <a:xfrm>
            <a:off x="4584699" y="3880495"/>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1" name="Fourth Resp Text">
            <a:extLst>
              <a:ext uri="{FF2B5EF4-FFF2-40B4-BE49-F238E27FC236}">
                <a16:creationId xmlns:a16="http://schemas.microsoft.com/office/drawing/2014/main" id="{AEE05FA0-DD58-4D0B-A7E0-EAC7B789E7A7}"/>
              </a:ext>
            </a:extLst>
          </p:cNvPr>
          <p:cNvSpPr>
            <a:spLocks noGrp="1"/>
          </p:cNvSpPr>
          <p:nvPr>
            <p:ph type="body" idx="9" hasCustomPrompt="1"/>
          </p:nvPr>
        </p:nvSpPr>
        <p:spPr>
          <a:xfrm>
            <a:off x="5429250" y="3880495"/>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44" name="Fifth Resp #">
            <a:extLst>
              <a:ext uri="{FF2B5EF4-FFF2-40B4-BE49-F238E27FC236}">
                <a16:creationId xmlns:a16="http://schemas.microsoft.com/office/drawing/2014/main" id="{B6D2D170-961D-4140-B087-C6CFDF7BBD75}"/>
              </a:ext>
            </a:extLst>
          </p:cNvPr>
          <p:cNvSpPr>
            <a:spLocks noGrp="1"/>
          </p:cNvSpPr>
          <p:nvPr>
            <p:ph type="body" idx="10" hasCustomPrompt="1"/>
          </p:nvPr>
        </p:nvSpPr>
        <p:spPr>
          <a:xfrm>
            <a:off x="4584699" y="4725898"/>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3" name="Fifth Resp Text">
            <a:extLst>
              <a:ext uri="{FF2B5EF4-FFF2-40B4-BE49-F238E27FC236}">
                <a16:creationId xmlns:a16="http://schemas.microsoft.com/office/drawing/2014/main" id="{B428E384-92E9-495A-9CAE-E33E3164F939}"/>
              </a:ext>
            </a:extLst>
          </p:cNvPr>
          <p:cNvSpPr>
            <a:spLocks noGrp="1"/>
          </p:cNvSpPr>
          <p:nvPr>
            <p:ph type="body" idx="11" hasCustomPrompt="1"/>
          </p:nvPr>
        </p:nvSpPr>
        <p:spPr>
          <a:xfrm>
            <a:off x="5429250" y="4725898"/>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46" name="Sixth Resp #">
            <a:extLst>
              <a:ext uri="{FF2B5EF4-FFF2-40B4-BE49-F238E27FC236}">
                <a16:creationId xmlns:a16="http://schemas.microsoft.com/office/drawing/2014/main" id="{DC41B7B5-B438-4885-90AE-758ABF2CA9F9}"/>
              </a:ext>
            </a:extLst>
          </p:cNvPr>
          <p:cNvSpPr>
            <a:spLocks noGrp="1"/>
          </p:cNvSpPr>
          <p:nvPr>
            <p:ph type="body" idx="12" hasCustomPrompt="1"/>
          </p:nvPr>
        </p:nvSpPr>
        <p:spPr>
          <a:xfrm>
            <a:off x="4584699" y="5571303"/>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5" name="Sixth Resp Text">
            <a:extLst>
              <a:ext uri="{FF2B5EF4-FFF2-40B4-BE49-F238E27FC236}">
                <a16:creationId xmlns:a16="http://schemas.microsoft.com/office/drawing/2014/main" id="{09F72B28-4CF6-4FD1-BA4A-5A98215324E2}"/>
              </a:ext>
            </a:extLst>
          </p:cNvPr>
          <p:cNvSpPr>
            <a:spLocks noGrp="1"/>
          </p:cNvSpPr>
          <p:nvPr>
            <p:ph type="body" idx="13" hasCustomPrompt="1"/>
          </p:nvPr>
        </p:nvSpPr>
        <p:spPr>
          <a:xfrm>
            <a:off x="5429250" y="5571303"/>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Tree>
    <p:custDataLst>
      <p:tags r:id="rId1"/>
    </p:custDataLst>
    <p:extLst>
      <p:ext uri="{BB962C8B-B14F-4D97-AF65-F5344CB8AC3E}">
        <p14:creationId xmlns:p14="http://schemas.microsoft.com/office/powerpoint/2010/main" val="362606434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KC-Vertical-Answer">
    <p:bg>
      <p:bgPr>
        <a:solidFill>
          <a:schemeClr val="bg1"/>
        </a:solidFill>
        <a:effectLst/>
      </p:bgPr>
    </p:bg>
    <p:spTree>
      <p:nvGrpSpPr>
        <p:cNvPr id="1" name=""/>
        <p:cNvGrpSpPr/>
        <p:nvPr/>
      </p:nvGrpSpPr>
      <p:grpSpPr>
        <a:xfrm>
          <a:off x="0" y="0"/>
          <a:ext cx="0" cy="0"/>
          <a:chOff x="0" y="0"/>
          <a:chExt cx="0" cy="0"/>
        </a:xfrm>
      </p:grpSpPr>
      <p:grpSp>
        <p:nvGrpSpPr>
          <p:cNvPr id="12" name="Background Images">
            <a:extLst>
              <a:ext uri="{FF2B5EF4-FFF2-40B4-BE49-F238E27FC236}">
                <a16:creationId xmlns:a16="http://schemas.microsoft.com/office/drawing/2014/main" id="{9D893736-31CD-4275-8671-3253868EBB81}"/>
              </a:ext>
            </a:extLst>
          </p:cNvPr>
          <p:cNvGrpSpPr/>
          <p:nvPr/>
        </p:nvGrpSpPr>
        <p:grpSpPr>
          <a:xfrm>
            <a:off x="0" y="1"/>
            <a:ext cx="12192000" cy="6858000"/>
            <a:chOff x="0" y="1"/>
            <a:chExt cx="12192000" cy="6858000"/>
          </a:xfrm>
        </p:grpSpPr>
        <p:sp>
          <p:nvSpPr>
            <p:cNvPr id="13" name="BKG-TP">
              <a:extLst>
                <a:ext uri="{FF2B5EF4-FFF2-40B4-BE49-F238E27FC236}">
                  <a16:creationId xmlns:a16="http://schemas.microsoft.com/office/drawing/2014/main" id="{BF122BEF-CA51-4B5F-A9D2-5B4722001489}"/>
                </a:ext>
                <a:ext uri="{C183D7F6-B498-43B3-948B-1728B52AA6E4}">
                  <adec:decorative xmlns:adec="http://schemas.microsoft.com/office/drawing/2017/decorative" val="1"/>
                </a:ext>
              </a:extLst>
            </p:cNvPr>
            <p:cNvSpPr/>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KG-RT">
              <a:extLst>
                <a:ext uri="{FF2B5EF4-FFF2-40B4-BE49-F238E27FC236}">
                  <a16:creationId xmlns:a16="http://schemas.microsoft.com/office/drawing/2014/main" id="{80E3899F-10AE-440C-9957-5E3536890A76}"/>
                </a:ext>
                <a:ext uri="{C183D7F6-B498-43B3-948B-1728B52AA6E4}">
                  <adec:decorative xmlns:adec="http://schemas.microsoft.com/office/drawing/2017/decorative" val="1"/>
                </a:ext>
              </a:extLst>
            </p:cNvPr>
            <p:cNvSpPr/>
            <p:nvPr/>
          </p:nvSpPr>
          <p:spPr>
            <a:xfrm>
              <a:off x="4584699" y="1005354"/>
              <a:ext cx="7607301" cy="54293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pic>
          <p:nvPicPr>
            <p:cNvPr id="16" name="AWS Logo">
              <a:extLst>
                <a:ext uri="{FF2B5EF4-FFF2-40B4-BE49-F238E27FC236}">
                  <a16:creationId xmlns:a16="http://schemas.microsoft.com/office/drawing/2014/main" id="{AFED23B7-B88C-4046-B460-7E08C859BC7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3599" y="6461879"/>
              <a:ext cx="366979" cy="219456"/>
            </a:xfrm>
            <a:prstGeom prst="rect">
              <a:avLst/>
            </a:prstGeom>
          </p:spPr>
        </p:pic>
        <p:sp>
          <p:nvSpPr>
            <p:cNvPr id="17" name="Copyright">
              <a:extLst>
                <a:ext uri="{FF2B5EF4-FFF2-40B4-BE49-F238E27FC236}">
                  <a16:creationId xmlns:a16="http://schemas.microsoft.com/office/drawing/2014/main" id="{6102431F-55CF-4F10-BCE6-9666CEA4F8C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bg2"/>
                  </a:solidFill>
                  <a:effectLst/>
                  <a:latin typeface="+mn-lt"/>
                  <a:ea typeface="+mn-ea"/>
                  <a:cs typeface="+mn-cs"/>
                </a:rPr>
                <a:t>© 2022, Amazon Web Services, Inc. or its affiliates. All rights reserved.</a:t>
              </a:r>
            </a:p>
          </p:txBody>
        </p:sp>
      </p:gr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930176A1-BCF0-4712-97A6-6B495F55390B}" type="slidenum">
              <a:rPr lang="en-US" smtClean="0"/>
              <a:pPr/>
              <a:t>‹#›</a:t>
            </a:fld>
            <a:endParaRPr lang="en-US"/>
          </a:p>
        </p:txBody>
      </p:sp>
      <p:sp>
        <p:nvSpPr>
          <p:cNvPr id="2" name="Question Number">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4324394" cy="825473"/>
          </a:xfrm>
        </p:spPr>
        <p:txBody>
          <a:bodyPr/>
          <a:lstStyle>
            <a:lvl1pPr>
              <a:defRPr>
                <a:solidFill>
                  <a:schemeClr val="bg1"/>
                </a:solidFill>
              </a:defRPr>
            </a:lvl1pPr>
          </a:lstStyle>
          <a:p>
            <a:r>
              <a:rPr lang="en-US"/>
              <a:t>Answer and explanation</a:t>
            </a:r>
          </a:p>
        </p:txBody>
      </p:sp>
      <p:sp>
        <p:nvSpPr>
          <p:cNvPr id="7" name="Question">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9" y="1005356"/>
            <a:ext cx="4401650" cy="5429386"/>
          </a:xfrm>
        </p:spPr>
        <p:txBody>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a:t>
            </a:r>
            <a:br>
              <a:rPr lang="en-US"/>
            </a:br>
            <a:r>
              <a:rPr lang="en-US"/>
              <a:t>Here you can explain why the responses are correct or incorrect.</a:t>
            </a:r>
          </a:p>
        </p:txBody>
      </p:sp>
      <p:sp>
        <p:nvSpPr>
          <p:cNvPr id="3" name="AnswerHeader">
            <a:extLst>
              <a:ext uri="{FF2B5EF4-FFF2-40B4-BE49-F238E27FC236}">
                <a16:creationId xmlns:a16="http://schemas.microsoft.com/office/drawing/2014/main" id="{7C8472BF-3681-4E98-B87B-5FA7A5C19359}"/>
              </a:ext>
            </a:extLst>
          </p:cNvPr>
          <p:cNvSpPr>
            <a:spLocks noGrp="1"/>
          </p:cNvSpPr>
          <p:nvPr>
            <p:ph type="subTitle" idx="4" hasCustomPrompt="1"/>
          </p:nvPr>
        </p:nvSpPr>
        <p:spPr>
          <a:xfrm>
            <a:off x="4580888" y="1020685"/>
            <a:ext cx="7611111" cy="400050"/>
          </a:xfrm>
          <a:solidFill>
            <a:schemeClr val="accent2"/>
          </a:solidFill>
        </p:spPr>
        <p:txBody>
          <a:bodyPr lIns="91440">
            <a:noAutofit/>
          </a:bodyPr>
          <a:lstStyle>
            <a:lvl1pPr marL="0" indent="0">
              <a:buNone/>
              <a:defRPr sz="2000"/>
            </a:lvl1pPr>
          </a:lstStyle>
          <a:p>
            <a:pPr lvl="0"/>
            <a:r>
              <a:rPr lang="en-US"/>
              <a:t>Enter “The correct response is x”</a:t>
            </a:r>
          </a:p>
        </p:txBody>
      </p:sp>
      <p:sp>
        <p:nvSpPr>
          <p:cNvPr id="8" name="Answer Text">
            <a:extLst>
              <a:ext uri="{FF2B5EF4-FFF2-40B4-BE49-F238E27FC236}">
                <a16:creationId xmlns:a16="http://schemas.microsoft.com/office/drawing/2014/main" id="{FFCADE15-0CD9-4F7B-9FFC-6A2C71B4D226}"/>
              </a:ext>
            </a:extLst>
          </p:cNvPr>
          <p:cNvSpPr>
            <a:spLocks noGrp="1"/>
          </p:cNvSpPr>
          <p:nvPr>
            <p:ph type="body" idx="2" hasCustomPrompt="1"/>
          </p:nvPr>
        </p:nvSpPr>
        <p:spPr>
          <a:xfrm>
            <a:off x="4886326" y="1420597"/>
            <a:ext cx="7267614" cy="4955378"/>
          </a:xfrm>
          <a:solidFill>
            <a:schemeClr val="bg1"/>
          </a:solidFill>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Tree>
    <p:custDataLst>
      <p:tags r:id="rId1"/>
    </p:custDataLst>
    <p:extLst>
      <p:ext uri="{BB962C8B-B14F-4D97-AF65-F5344CB8AC3E}">
        <p14:creationId xmlns:p14="http://schemas.microsoft.com/office/powerpoint/2010/main" val="4728949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A-Horizontal">
    <p:bg>
      <p:bgPr>
        <a:solidFill>
          <a:schemeClr val="bg1"/>
        </a:solidFill>
        <a:effectLst/>
      </p:bgPr>
    </p:bg>
    <p:spTree>
      <p:nvGrpSpPr>
        <p:cNvPr id="1" name=""/>
        <p:cNvGrpSpPr/>
        <p:nvPr/>
      </p:nvGrpSpPr>
      <p:grpSpPr>
        <a:xfrm>
          <a:off x="0" y="0"/>
          <a:ext cx="0" cy="0"/>
          <a:chOff x="0" y="0"/>
          <a:chExt cx="0" cy="0"/>
        </a:xfrm>
      </p:grpSpPr>
      <p:grpSp>
        <p:nvGrpSpPr>
          <p:cNvPr id="19" name="Background Images">
            <a:extLst>
              <a:ext uri="{FF2B5EF4-FFF2-40B4-BE49-F238E27FC236}">
                <a16:creationId xmlns:a16="http://schemas.microsoft.com/office/drawing/2014/main" id="{18C277CC-8FC8-4D78-AB63-9513759C0783}"/>
              </a:ext>
            </a:extLst>
          </p:cNvPr>
          <p:cNvGrpSpPr/>
          <p:nvPr/>
        </p:nvGrpSpPr>
        <p:grpSpPr>
          <a:xfrm>
            <a:off x="0" y="1"/>
            <a:ext cx="12192000" cy="6858000"/>
            <a:chOff x="0" y="1"/>
            <a:chExt cx="12192000" cy="6858000"/>
          </a:xfrm>
        </p:grpSpPr>
        <p:sp>
          <p:nvSpPr>
            <p:cNvPr id="20" name="BKG-TP">
              <a:extLst>
                <a:ext uri="{FF2B5EF4-FFF2-40B4-BE49-F238E27FC236}">
                  <a16:creationId xmlns:a16="http://schemas.microsoft.com/office/drawing/2014/main" id="{1C269943-78A1-4304-AE96-B1F32EC214E6}"/>
                </a:ext>
                <a:ext uri="{C183D7F6-B498-43B3-948B-1728B52AA6E4}">
                  <adec:decorative xmlns:adec="http://schemas.microsoft.com/office/drawing/2017/decorative" val="1"/>
                </a:ext>
              </a:extLst>
            </p:cNvPr>
            <p:cNvSpPr/>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AWS Logo">
              <a:extLst>
                <a:ext uri="{FF2B5EF4-FFF2-40B4-BE49-F238E27FC236}">
                  <a16:creationId xmlns:a16="http://schemas.microsoft.com/office/drawing/2014/main" id="{A49D8E1E-772D-46F7-9ACE-C06929884B0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3599" y="6461879"/>
              <a:ext cx="366979" cy="219456"/>
            </a:xfrm>
            <a:prstGeom prst="rect">
              <a:avLst/>
            </a:prstGeom>
          </p:spPr>
        </p:pic>
        <p:sp>
          <p:nvSpPr>
            <p:cNvPr id="23" name="Copyright">
              <a:extLst>
                <a:ext uri="{FF2B5EF4-FFF2-40B4-BE49-F238E27FC236}">
                  <a16:creationId xmlns:a16="http://schemas.microsoft.com/office/drawing/2014/main" id="{2268572E-7A9B-498D-A37E-CFD2934B7AC2}"/>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bg2"/>
                  </a:solidFill>
                  <a:effectLst/>
                  <a:latin typeface="+mn-lt"/>
                  <a:ea typeface="+mn-ea"/>
                  <a:cs typeface="+mn-cs"/>
                </a:rPr>
                <a:t>© 2022, Amazon Web Services, Inc. or its affiliates. All rights reserved.</a:t>
              </a:r>
            </a:p>
          </p:txBody>
        </p:sp>
      </p:gr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930176A1-BCF0-4712-97A6-6B495F55390B}" type="slidenum">
              <a:rPr lang="en-US" smtClean="0"/>
              <a:pPr/>
              <a:t>‹#›</a:t>
            </a:fld>
            <a:endParaRPr lang="en-US"/>
          </a:p>
        </p:txBody>
      </p:sp>
      <p:sp>
        <p:nvSpPr>
          <p:cNvPr id="2" name="Question Number">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11774410" cy="825473"/>
          </a:xfrm>
        </p:spPr>
        <p:txBody>
          <a:bodyPr/>
          <a:lstStyle>
            <a:lvl1pPr>
              <a:defRPr>
                <a:solidFill>
                  <a:schemeClr val="bg1"/>
                </a:solidFill>
              </a:defRPr>
            </a:lvl1pPr>
          </a:lstStyle>
          <a:p>
            <a:r>
              <a:rPr lang="en-US"/>
              <a:t>Answer and explanation</a:t>
            </a:r>
          </a:p>
        </p:txBody>
      </p:sp>
      <p:sp>
        <p:nvSpPr>
          <p:cNvPr id="7" name="Question 1">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8" y="1185497"/>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a:t>
            </a:r>
            <a:br>
              <a:rPr lang="en-US"/>
            </a:br>
            <a:r>
              <a:rPr lang="en-US"/>
              <a:t>Here you can explain why the responses are correct or incorrect.</a:t>
            </a:r>
          </a:p>
        </p:txBody>
      </p:sp>
      <p:sp>
        <p:nvSpPr>
          <p:cNvPr id="8" name="Answer Text 1">
            <a:extLst>
              <a:ext uri="{FF2B5EF4-FFF2-40B4-BE49-F238E27FC236}">
                <a16:creationId xmlns:a16="http://schemas.microsoft.com/office/drawing/2014/main" id="{FFCADE15-0CD9-4F7B-9FFC-6A2C71B4D226}"/>
              </a:ext>
            </a:extLst>
          </p:cNvPr>
          <p:cNvSpPr>
            <a:spLocks noGrp="1"/>
          </p:cNvSpPr>
          <p:nvPr>
            <p:ph type="body" idx="2" hasCustomPrompt="1"/>
          </p:nvPr>
        </p:nvSpPr>
        <p:spPr>
          <a:xfrm>
            <a:off x="5651500" y="1185497"/>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
        <p:nvSpPr>
          <p:cNvPr id="12" name="Question 2">
            <a:extLst>
              <a:ext uri="{FF2B5EF4-FFF2-40B4-BE49-F238E27FC236}">
                <a16:creationId xmlns:a16="http://schemas.microsoft.com/office/drawing/2014/main" id="{2733FE88-66AC-4110-B77F-059B3D638C2E}"/>
              </a:ext>
            </a:extLst>
          </p:cNvPr>
          <p:cNvSpPr>
            <a:spLocks noGrp="1"/>
          </p:cNvSpPr>
          <p:nvPr>
            <p:ph type="body" idx="21" hasCustomPrompt="1"/>
          </p:nvPr>
        </p:nvSpPr>
        <p:spPr>
          <a:xfrm>
            <a:off x="179237" y="2526456"/>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a:t>
            </a:r>
            <a:br>
              <a:rPr lang="en-US"/>
            </a:br>
            <a:r>
              <a:rPr lang="en-US"/>
              <a:t>Here you can explain why the responses are correct or incorrect.</a:t>
            </a:r>
          </a:p>
        </p:txBody>
      </p:sp>
      <p:sp>
        <p:nvSpPr>
          <p:cNvPr id="13" name="Answer Text 2">
            <a:extLst>
              <a:ext uri="{FF2B5EF4-FFF2-40B4-BE49-F238E27FC236}">
                <a16:creationId xmlns:a16="http://schemas.microsoft.com/office/drawing/2014/main" id="{E33DAA71-DCA3-491A-8A97-143BF1813197}"/>
              </a:ext>
            </a:extLst>
          </p:cNvPr>
          <p:cNvSpPr>
            <a:spLocks noGrp="1"/>
          </p:cNvSpPr>
          <p:nvPr>
            <p:ph type="body" idx="22" hasCustomPrompt="1"/>
          </p:nvPr>
        </p:nvSpPr>
        <p:spPr>
          <a:xfrm>
            <a:off x="5651499" y="2526456"/>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
        <p:nvSpPr>
          <p:cNvPr id="14" name="Question 3">
            <a:extLst>
              <a:ext uri="{FF2B5EF4-FFF2-40B4-BE49-F238E27FC236}">
                <a16:creationId xmlns:a16="http://schemas.microsoft.com/office/drawing/2014/main" id="{85011FB9-28FB-42F5-8639-AFB8DE09EDB0}"/>
              </a:ext>
            </a:extLst>
          </p:cNvPr>
          <p:cNvSpPr>
            <a:spLocks noGrp="1"/>
          </p:cNvSpPr>
          <p:nvPr>
            <p:ph type="body" idx="23" hasCustomPrompt="1"/>
          </p:nvPr>
        </p:nvSpPr>
        <p:spPr>
          <a:xfrm>
            <a:off x="179237" y="3883100"/>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a:t>
            </a:r>
            <a:br>
              <a:rPr lang="en-US"/>
            </a:br>
            <a:r>
              <a:rPr lang="en-US"/>
              <a:t>Here you can explain why the responses are correct or incorrect.</a:t>
            </a:r>
          </a:p>
        </p:txBody>
      </p:sp>
      <p:sp>
        <p:nvSpPr>
          <p:cNvPr id="16" name="Answer Text 3">
            <a:extLst>
              <a:ext uri="{FF2B5EF4-FFF2-40B4-BE49-F238E27FC236}">
                <a16:creationId xmlns:a16="http://schemas.microsoft.com/office/drawing/2014/main" id="{BBA625A9-591B-4F80-B2C0-C8B9B7ED58AF}"/>
              </a:ext>
            </a:extLst>
          </p:cNvPr>
          <p:cNvSpPr>
            <a:spLocks noGrp="1"/>
          </p:cNvSpPr>
          <p:nvPr>
            <p:ph type="body" idx="24" hasCustomPrompt="1"/>
          </p:nvPr>
        </p:nvSpPr>
        <p:spPr>
          <a:xfrm>
            <a:off x="5651499" y="3883100"/>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
        <p:nvSpPr>
          <p:cNvPr id="17" name="Question 4">
            <a:extLst>
              <a:ext uri="{FF2B5EF4-FFF2-40B4-BE49-F238E27FC236}">
                <a16:creationId xmlns:a16="http://schemas.microsoft.com/office/drawing/2014/main" id="{94FE6022-0B4D-44CE-B9CB-F3EF8689FC0E}"/>
              </a:ext>
            </a:extLst>
          </p:cNvPr>
          <p:cNvSpPr>
            <a:spLocks noGrp="1"/>
          </p:cNvSpPr>
          <p:nvPr>
            <p:ph type="body" idx="25" hasCustomPrompt="1"/>
          </p:nvPr>
        </p:nvSpPr>
        <p:spPr>
          <a:xfrm>
            <a:off x="179236" y="5239557"/>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a:t>
            </a:r>
            <a:br>
              <a:rPr lang="en-US"/>
            </a:br>
            <a:r>
              <a:rPr lang="en-US"/>
              <a:t>Here you can explain why the responses are correct or incorrect.</a:t>
            </a:r>
          </a:p>
        </p:txBody>
      </p:sp>
      <p:sp>
        <p:nvSpPr>
          <p:cNvPr id="18" name="Answer Text 4">
            <a:extLst>
              <a:ext uri="{FF2B5EF4-FFF2-40B4-BE49-F238E27FC236}">
                <a16:creationId xmlns:a16="http://schemas.microsoft.com/office/drawing/2014/main" id="{A6B202E1-04E5-4362-96B3-ED5EF312171C}"/>
              </a:ext>
            </a:extLst>
          </p:cNvPr>
          <p:cNvSpPr>
            <a:spLocks noGrp="1"/>
          </p:cNvSpPr>
          <p:nvPr>
            <p:ph type="body" idx="26" hasCustomPrompt="1"/>
          </p:nvPr>
        </p:nvSpPr>
        <p:spPr>
          <a:xfrm>
            <a:off x="5651498" y="5239557"/>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Tree>
    <p:custDataLst>
      <p:tags r:id="rId1"/>
    </p:custDataLst>
    <p:extLst>
      <p:ext uri="{BB962C8B-B14F-4D97-AF65-F5344CB8AC3E}">
        <p14:creationId xmlns:p14="http://schemas.microsoft.com/office/powerpoint/2010/main" val="1344222302"/>
      </p:ext>
    </p:extLst>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KC-Horizontal-Question">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E9CD1AC9-3AAD-4061-9815-CA2A755752E2}"/>
              </a:ext>
              <a:ext uri="{C183D7F6-B498-43B3-948B-1728B52AA6E4}">
                <adec:decorative xmlns:adec="http://schemas.microsoft.com/office/drawing/2017/decorative" val="1"/>
              </a:ext>
            </a:extLst>
          </p:cNvPr>
          <p:cNvGrpSpPr/>
          <p:nvPr/>
        </p:nvGrpSpPr>
        <p:grpSpPr>
          <a:xfrm>
            <a:off x="0" y="0"/>
            <a:ext cx="12192000" cy="6858000"/>
            <a:chOff x="0" y="0"/>
            <a:chExt cx="12192000" cy="6858000"/>
          </a:xfrm>
        </p:grpSpPr>
        <p:sp>
          <p:nvSpPr>
            <p:cNvPr id="92" name="BKG-TP">
              <a:extLst>
                <a:ext uri="{FF2B5EF4-FFF2-40B4-BE49-F238E27FC236}">
                  <a16:creationId xmlns:a16="http://schemas.microsoft.com/office/drawing/2014/main" id="{E0B6FD1A-B839-4C89-A4D5-3B9A5AA24C31}"/>
                </a:ext>
                <a:ext uri="{C183D7F6-B498-43B3-948B-1728B52AA6E4}">
                  <adec:decorative xmlns:adec="http://schemas.microsoft.com/office/drawing/2017/decorative" val="1"/>
                </a:ext>
              </a:extLst>
            </p:cNvPr>
            <p:cNvSpPr/>
            <p:nvPr/>
          </p:nvSpPr>
          <p:spPr>
            <a:xfrm>
              <a:off x="0" y="0"/>
              <a:ext cx="12192000" cy="2114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BKG-BM">
              <a:extLst>
                <a:ext uri="{FF2B5EF4-FFF2-40B4-BE49-F238E27FC236}">
                  <a16:creationId xmlns:a16="http://schemas.microsoft.com/office/drawing/2014/main" id="{71CA29FE-029C-470F-8B2A-DE98B38B26DF}"/>
                </a:ext>
                <a:ext uri="{C183D7F6-B498-43B3-948B-1728B52AA6E4}">
                  <adec:decorative xmlns:adec="http://schemas.microsoft.com/office/drawing/2017/decorative" val="1"/>
                </a:ext>
              </a:extLst>
            </p:cNvPr>
            <p:cNvSpPr/>
            <p:nvPr/>
          </p:nvSpPr>
          <p:spPr>
            <a:xfrm>
              <a:off x="0" y="2114217"/>
              <a:ext cx="12191999" cy="4743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8B560738-A5A3-492F-8E11-B91E6716C30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11539728" y="252740"/>
              <a:ext cx="366979" cy="219456"/>
            </a:xfrm>
            <a:prstGeom prst="rect">
              <a:avLst/>
            </a:prstGeom>
          </p:spPr>
        </p:pic>
        <p:sp>
          <p:nvSpPr>
            <p:cNvPr id="23" name="Copyright">
              <a:extLst>
                <a:ext uri="{FF2B5EF4-FFF2-40B4-BE49-F238E27FC236}">
                  <a16:creationId xmlns:a16="http://schemas.microsoft.com/office/drawing/2014/main" id="{237945B1-A5DC-4A82-9258-8DC2A3B8CA35}"/>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Question Number">
            <a:extLst>
              <a:ext uri="{FF2B5EF4-FFF2-40B4-BE49-F238E27FC236}">
                <a16:creationId xmlns:a16="http://schemas.microsoft.com/office/drawing/2014/main" id="{1A8961C4-E232-4CFC-9419-572E417488B7}"/>
              </a:ext>
            </a:extLst>
          </p:cNvPr>
          <p:cNvSpPr>
            <a:spLocks noGrp="1"/>
          </p:cNvSpPr>
          <p:nvPr>
            <p:ph type="title" hasCustomPrompt="1"/>
          </p:nvPr>
        </p:nvSpPr>
        <p:spPr>
          <a:xfrm>
            <a:off x="179239" y="179881"/>
            <a:ext cx="11771597" cy="498849"/>
          </a:xfrm>
        </p:spPr>
        <p:txBody>
          <a:bodyPr/>
          <a:lstStyle>
            <a:lvl1pPr>
              <a:defRPr>
                <a:solidFill>
                  <a:schemeClr val="bg1"/>
                </a:solidFill>
              </a:defRPr>
            </a:lvl1pPr>
          </a:lstStyle>
          <a:p>
            <a:r>
              <a:rPr lang="en-US"/>
              <a:t>Question and Responses</a:t>
            </a:r>
          </a:p>
        </p:txBody>
      </p:sp>
      <p:sp>
        <p:nvSpPr>
          <p:cNvPr id="7" name="Question">
            <a:extLst>
              <a:ext uri="{FF2B5EF4-FFF2-40B4-BE49-F238E27FC236}">
                <a16:creationId xmlns:a16="http://schemas.microsoft.com/office/drawing/2014/main" id="{B4965E6E-0F4A-477A-B4B0-DF739088DCEC}"/>
              </a:ext>
            </a:extLst>
          </p:cNvPr>
          <p:cNvSpPr>
            <a:spLocks noGrp="1"/>
          </p:cNvSpPr>
          <p:nvPr>
            <p:ph type="body" idx="1" hasCustomPrompt="1"/>
          </p:nvPr>
        </p:nvSpPr>
        <p:spPr>
          <a:xfrm>
            <a:off x="1" y="697780"/>
            <a:ext cx="12191998" cy="1405081"/>
          </a:xfrm>
          <a:solidFill>
            <a:schemeClr val="accent1"/>
          </a:solidFill>
        </p:spPr>
        <p:txBody>
          <a:bodyPr lIns="22860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 4 responses can only have 1 correct response; 5 responses must have 2 correct responses; 6 responses must have 3 correct responses.</a:t>
            </a:r>
          </a:p>
        </p:txBody>
      </p:sp>
      <p:sp>
        <p:nvSpPr>
          <p:cNvPr id="3" name="Choice Header">
            <a:extLst>
              <a:ext uri="{FF2B5EF4-FFF2-40B4-BE49-F238E27FC236}">
                <a16:creationId xmlns:a16="http://schemas.microsoft.com/office/drawing/2014/main" id="{819C768D-12EC-41EC-9F85-ED13A7CA6D52}"/>
              </a:ext>
            </a:extLst>
          </p:cNvPr>
          <p:cNvSpPr>
            <a:spLocks noGrp="1"/>
          </p:cNvSpPr>
          <p:nvPr>
            <p:ph type="subTitle" idx="13" hasCustomPrompt="1"/>
          </p:nvPr>
        </p:nvSpPr>
        <p:spPr>
          <a:xfrm>
            <a:off x="0" y="2109788"/>
            <a:ext cx="887413" cy="317500"/>
          </a:xfrm>
          <a:solidFill>
            <a:schemeClr val="accent2"/>
          </a:solidFill>
          <a:ln>
            <a:noFill/>
          </a:ln>
        </p:spPr>
        <p:txBody>
          <a:bodyPr lIns="0" rIns="0">
            <a:noAutofit/>
          </a:bodyPr>
          <a:lstStyle>
            <a:lvl1pPr marL="0" indent="0" algn="ctr">
              <a:buNone/>
              <a:defRPr sz="1800">
                <a:solidFill>
                  <a:schemeClr val="tx2"/>
                </a:solidFill>
              </a:defRPr>
            </a:lvl1pPr>
          </a:lstStyle>
          <a:p>
            <a:pPr lvl="0"/>
            <a:r>
              <a:rPr lang="en-US"/>
              <a:t>Choice</a:t>
            </a:r>
          </a:p>
        </p:txBody>
      </p:sp>
      <p:sp>
        <p:nvSpPr>
          <p:cNvPr id="4" name="Response Header">
            <a:extLst>
              <a:ext uri="{FF2B5EF4-FFF2-40B4-BE49-F238E27FC236}">
                <a16:creationId xmlns:a16="http://schemas.microsoft.com/office/drawing/2014/main" id="{AFAAB670-BBCA-4429-9F6C-C9ABD61E6B0C}"/>
              </a:ext>
            </a:extLst>
          </p:cNvPr>
          <p:cNvSpPr>
            <a:spLocks noGrp="1"/>
          </p:cNvSpPr>
          <p:nvPr>
            <p:ph type="subTitle" idx="14" hasCustomPrompt="1"/>
          </p:nvPr>
        </p:nvSpPr>
        <p:spPr>
          <a:xfrm>
            <a:off x="907950" y="2109788"/>
            <a:ext cx="11284050" cy="317500"/>
          </a:xfrm>
          <a:solidFill>
            <a:schemeClr val="accent2"/>
          </a:solidFill>
          <a:ln>
            <a:noFill/>
          </a:ln>
        </p:spPr>
        <p:txBody>
          <a:bodyPr lIns="91440" rIns="0">
            <a:noAutofit/>
          </a:bodyPr>
          <a:lstStyle>
            <a:lvl1pPr marL="0" indent="0" algn="l">
              <a:buNone/>
              <a:defRPr sz="1800">
                <a:solidFill>
                  <a:schemeClr val="tx2"/>
                </a:solidFill>
              </a:defRPr>
            </a:lvl1pPr>
          </a:lstStyle>
          <a:p>
            <a:pPr lvl="0"/>
            <a:r>
              <a:rPr lang="en-US"/>
              <a:t>Response</a:t>
            </a:r>
          </a:p>
        </p:txBody>
      </p:sp>
      <p:sp>
        <p:nvSpPr>
          <p:cNvPr id="9" name="First Resp #">
            <a:extLst>
              <a:ext uri="{FF2B5EF4-FFF2-40B4-BE49-F238E27FC236}">
                <a16:creationId xmlns:a16="http://schemas.microsoft.com/office/drawing/2014/main" id="{B4EC449C-918E-4AF9-9E90-0E8D47CF3DD9}"/>
              </a:ext>
            </a:extLst>
          </p:cNvPr>
          <p:cNvSpPr>
            <a:spLocks noGrp="1"/>
          </p:cNvSpPr>
          <p:nvPr>
            <p:ph type="body" idx="2" hasCustomPrompt="1"/>
          </p:nvPr>
        </p:nvSpPr>
        <p:spPr>
          <a:xfrm>
            <a:off x="1" y="2427252"/>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8" name="First Resp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427252"/>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32" name="Second Resp #">
            <a:extLst>
              <a:ext uri="{FF2B5EF4-FFF2-40B4-BE49-F238E27FC236}">
                <a16:creationId xmlns:a16="http://schemas.microsoft.com/office/drawing/2014/main" id="{05FFB414-A546-4A6C-B7E8-B6D9C7AC88C9}"/>
              </a:ext>
            </a:extLst>
          </p:cNvPr>
          <p:cNvSpPr>
            <a:spLocks noGrp="1"/>
          </p:cNvSpPr>
          <p:nvPr>
            <p:ph type="body" idx="4" hasCustomPrompt="1"/>
          </p:nvPr>
        </p:nvSpPr>
        <p:spPr>
          <a:xfrm>
            <a:off x="1" y="3100734"/>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10" name="Second Resp Text">
            <a:extLst>
              <a:ext uri="{FF2B5EF4-FFF2-40B4-BE49-F238E27FC236}">
                <a16:creationId xmlns:a16="http://schemas.microsoft.com/office/drawing/2014/main" id="{840EA72F-053D-43C4-A0AA-4F71D345F1E1}"/>
              </a:ext>
            </a:extLst>
          </p:cNvPr>
          <p:cNvSpPr>
            <a:spLocks noGrp="1"/>
          </p:cNvSpPr>
          <p:nvPr>
            <p:ph type="body" idx="5" hasCustomPrompt="1"/>
          </p:nvPr>
        </p:nvSpPr>
        <p:spPr>
          <a:xfrm>
            <a:off x="907950" y="3100734"/>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38" name="Third Resp #">
            <a:extLst>
              <a:ext uri="{FF2B5EF4-FFF2-40B4-BE49-F238E27FC236}">
                <a16:creationId xmlns:a16="http://schemas.microsoft.com/office/drawing/2014/main" id="{F00955FE-A162-474C-BFF8-0AB0FBF10130}"/>
              </a:ext>
            </a:extLst>
          </p:cNvPr>
          <p:cNvSpPr>
            <a:spLocks noGrp="1"/>
          </p:cNvSpPr>
          <p:nvPr>
            <p:ph type="body" idx="6" hasCustomPrompt="1"/>
          </p:nvPr>
        </p:nvSpPr>
        <p:spPr>
          <a:xfrm>
            <a:off x="1" y="3774216"/>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35" name="Third Resp Text">
            <a:extLst>
              <a:ext uri="{FF2B5EF4-FFF2-40B4-BE49-F238E27FC236}">
                <a16:creationId xmlns:a16="http://schemas.microsoft.com/office/drawing/2014/main" id="{55974934-D7D0-4C4C-B76C-558C1028590E}"/>
              </a:ext>
            </a:extLst>
          </p:cNvPr>
          <p:cNvSpPr>
            <a:spLocks noGrp="1"/>
          </p:cNvSpPr>
          <p:nvPr>
            <p:ph type="body" idx="7" hasCustomPrompt="1"/>
          </p:nvPr>
        </p:nvSpPr>
        <p:spPr>
          <a:xfrm>
            <a:off x="907950" y="3774216"/>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42" name="Fourth Resp #">
            <a:extLst>
              <a:ext uri="{FF2B5EF4-FFF2-40B4-BE49-F238E27FC236}">
                <a16:creationId xmlns:a16="http://schemas.microsoft.com/office/drawing/2014/main" id="{9A682F4A-836A-42BD-B18F-482CDD9FE392}"/>
              </a:ext>
            </a:extLst>
          </p:cNvPr>
          <p:cNvSpPr>
            <a:spLocks noGrp="1"/>
          </p:cNvSpPr>
          <p:nvPr>
            <p:ph type="body" idx="8" hasCustomPrompt="1"/>
          </p:nvPr>
        </p:nvSpPr>
        <p:spPr>
          <a:xfrm>
            <a:off x="1" y="4447698"/>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1" name="Fourth Resp Text">
            <a:extLst>
              <a:ext uri="{FF2B5EF4-FFF2-40B4-BE49-F238E27FC236}">
                <a16:creationId xmlns:a16="http://schemas.microsoft.com/office/drawing/2014/main" id="{2A075B8F-DFA0-46B1-A70C-B12937892D4B}"/>
              </a:ext>
            </a:extLst>
          </p:cNvPr>
          <p:cNvSpPr>
            <a:spLocks noGrp="1"/>
          </p:cNvSpPr>
          <p:nvPr>
            <p:ph type="body" idx="9" hasCustomPrompt="1"/>
          </p:nvPr>
        </p:nvSpPr>
        <p:spPr>
          <a:xfrm>
            <a:off x="907950" y="4447698"/>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44" name="Fifth Resp #">
            <a:extLst>
              <a:ext uri="{FF2B5EF4-FFF2-40B4-BE49-F238E27FC236}">
                <a16:creationId xmlns:a16="http://schemas.microsoft.com/office/drawing/2014/main" id="{B3A4AC8A-DBAB-477E-8F79-6EFB6340CE48}"/>
              </a:ext>
            </a:extLst>
          </p:cNvPr>
          <p:cNvSpPr>
            <a:spLocks noGrp="1"/>
          </p:cNvSpPr>
          <p:nvPr>
            <p:ph type="body" idx="10" hasCustomPrompt="1"/>
          </p:nvPr>
        </p:nvSpPr>
        <p:spPr>
          <a:xfrm>
            <a:off x="1" y="5121180"/>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3" name="Fifth Resp Text">
            <a:extLst>
              <a:ext uri="{FF2B5EF4-FFF2-40B4-BE49-F238E27FC236}">
                <a16:creationId xmlns:a16="http://schemas.microsoft.com/office/drawing/2014/main" id="{0B4A450D-E822-44AA-8298-11D531D74483}"/>
              </a:ext>
            </a:extLst>
          </p:cNvPr>
          <p:cNvSpPr>
            <a:spLocks noGrp="1"/>
          </p:cNvSpPr>
          <p:nvPr>
            <p:ph type="body" idx="11" hasCustomPrompt="1"/>
          </p:nvPr>
        </p:nvSpPr>
        <p:spPr>
          <a:xfrm>
            <a:off x="907950" y="5121180"/>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46" name="Sixth Resp #">
            <a:extLst>
              <a:ext uri="{FF2B5EF4-FFF2-40B4-BE49-F238E27FC236}">
                <a16:creationId xmlns:a16="http://schemas.microsoft.com/office/drawing/2014/main" id="{4075988B-8657-4CA4-A4CB-EAEA7B298681}"/>
              </a:ext>
            </a:extLst>
          </p:cNvPr>
          <p:cNvSpPr>
            <a:spLocks noGrp="1"/>
          </p:cNvSpPr>
          <p:nvPr>
            <p:ph type="body" idx="12" hasCustomPrompt="1"/>
          </p:nvPr>
        </p:nvSpPr>
        <p:spPr>
          <a:xfrm>
            <a:off x="1" y="5794664"/>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5" name="Sixth Resp Text">
            <a:extLst>
              <a:ext uri="{FF2B5EF4-FFF2-40B4-BE49-F238E27FC236}">
                <a16:creationId xmlns:a16="http://schemas.microsoft.com/office/drawing/2014/main" id="{327445DD-9D42-491C-969B-C7919BE2E3F0}"/>
              </a:ext>
            </a:extLst>
          </p:cNvPr>
          <p:cNvSpPr>
            <a:spLocks noGrp="1"/>
          </p:cNvSpPr>
          <p:nvPr>
            <p:ph type="body" idx="13" hasCustomPrompt="1"/>
          </p:nvPr>
        </p:nvSpPr>
        <p:spPr>
          <a:xfrm>
            <a:off x="907950" y="5794664"/>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Tree>
    <p:custDataLst>
      <p:tags r:id="rId1"/>
    </p:custDataLst>
    <p:extLst>
      <p:ext uri="{BB962C8B-B14F-4D97-AF65-F5344CB8AC3E}">
        <p14:creationId xmlns:p14="http://schemas.microsoft.com/office/powerpoint/2010/main" val="390075568"/>
      </p:ext>
    </p:extLst>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KC-Horizontal-Answer">
    <p:bg>
      <p:bgPr>
        <a:solidFill>
          <a:schemeClr val="bg1"/>
        </a:solidFill>
        <a:effectLst/>
      </p:bgPr>
    </p:bg>
    <p:spTree>
      <p:nvGrpSpPr>
        <p:cNvPr id="1" name=""/>
        <p:cNvGrpSpPr/>
        <p:nvPr/>
      </p:nvGrpSpPr>
      <p:grpSpPr>
        <a:xfrm>
          <a:off x="0" y="0"/>
          <a:ext cx="0" cy="0"/>
          <a:chOff x="0" y="0"/>
          <a:chExt cx="0" cy="0"/>
        </a:xfrm>
      </p:grpSpPr>
      <p:grpSp>
        <p:nvGrpSpPr>
          <p:cNvPr id="5" name="Background Images">
            <a:extLst>
              <a:ext uri="{FF2B5EF4-FFF2-40B4-BE49-F238E27FC236}">
                <a16:creationId xmlns:a16="http://schemas.microsoft.com/office/drawing/2014/main" id="{9AC63EDD-BEE2-404E-8399-2AA11023CDAB}"/>
              </a:ext>
            </a:extLst>
          </p:cNvPr>
          <p:cNvGrpSpPr/>
          <p:nvPr/>
        </p:nvGrpSpPr>
        <p:grpSpPr>
          <a:xfrm>
            <a:off x="0" y="0"/>
            <a:ext cx="12192000" cy="6858000"/>
            <a:chOff x="0" y="0"/>
            <a:chExt cx="12192000" cy="6858000"/>
          </a:xfrm>
        </p:grpSpPr>
        <p:sp>
          <p:nvSpPr>
            <p:cNvPr id="92" name="BKG-TP">
              <a:extLst>
                <a:ext uri="{FF2B5EF4-FFF2-40B4-BE49-F238E27FC236}">
                  <a16:creationId xmlns:a16="http://schemas.microsoft.com/office/drawing/2014/main" id="{7A68BE18-C9FD-4D64-BD55-20302868F06E}"/>
                </a:ext>
                <a:ext uri="{C183D7F6-B498-43B3-948B-1728B52AA6E4}">
                  <adec:decorative xmlns:adec="http://schemas.microsoft.com/office/drawing/2017/decorative" val="1"/>
                </a:ext>
              </a:extLst>
            </p:cNvPr>
            <p:cNvSpPr/>
            <p:nvPr/>
          </p:nvSpPr>
          <p:spPr>
            <a:xfrm>
              <a:off x="0" y="0"/>
              <a:ext cx="12192000" cy="2114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BKG-BM">
              <a:extLst>
                <a:ext uri="{FF2B5EF4-FFF2-40B4-BE49-F238E27FC236}">
                  <a16:creationId xmlns:a16="http://schemas.microsoft.com/office/drawing/2014/main" id="{31622DCA-CB0C-4601-9C65-55CE8CDC7503}"/>
                </a:ext>
                <a:ext uri="{C183D7F6-B498-43B3-948B-1728B52AA6E4}">
                  <adec:decorative xmlns:adec="http://schemas.microsoft.com/office/drawing/2017/decorative" val="1"/>
                </a:ext>
              </a:extLst>
            </p:cNvPr>
            <p:cNvSpPr/>
            <p:nvPr/>
          </p:nvSpPr>
          <p:spPr>
            <a:xfrm>
              <a:off x="0" y="2114217"/>
              <a:ext cx="12191999" cy="4743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AWS Logo">
              <a:extLst>
                <a:ext uri="{FF2B5EF4-FFF2-40B4-BE49-F238E27FC236}">
                  <a16:creationId xmlns:a16="http://schemas.microsoft.com/office/drawing/2014/main" id="{18A3C304-3B7F-434E-99A7-8B8C386B4EF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11536233" y="252740"/>
              <a:ext cx="366979" cy="219456"/>
            </a:xfrm>
            <a:prstGeom prst="rect">
              <a:avLst/>
            </a:prstGeom>
          </p:spPr>
        </p:pic>
        <p:sp>
          <p:nvSpPr>
            <p:cNvPr id="23" name="Copyright">
              <a:extLst>
                <a:ext uri="{FF2B5EF4-FFF2-40B4-BE49-F238E27FC236}">
                  <a16:creationId xmlns:a16="http://schemas.microsoft.com/office/drawing/2014/main" id="{237945B1-A5DC-4A82-9258-8DC2A3B8CA35}"/>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Answer Number">
            <a:extLst>
              <a:ext uri="{FF2B5EF4-FFF2-40B4-BE49-F238E27FC236}">
                <a16:creationId xmlns:a16="http://schemas.microsoft.com/office/drawing/2014/main" id="{1A8961C4-E232-4CFC-9419-572E417488B7}"/>
              </a:ext>
            </a:extLst>
          </p:cNvPr>
          <p:cNvSpPr>
            <a:spLocks noGrp="1"/>
          </p:cNvSpPr>
          <p:nvPr>
            <p:ph type="title" hasCustomPrompt="1"/>
          </p:nvPr>
        </p:nvSpPr>
        <p:spPr>
          <a:xfrm>
            <a:off x="179239" y="179881"/>
            <a:ext cx="11771597" cy="498849"/>
          </a:xfrm>
        </p:spPr>
        <p:txBody>
          <a:bodyPr/>
          <a:lstStyle>
            <a:lvl1pPr>
              <a:defRPr>
                <a:solidFill>
                  <a:schemeClr val="bg1"/>
                </a:solidFill>
              </a:defRPr>
            </a:lvl1pPr>
          </a:lstStyle>
          <a:p>
            <a:r>
              <a:rPr lang="en-US"/>
              <a:t>Answer and explanation</a:t>
            </a:r>
          </a:p>
        </p:txBody>
      </p:sp>
      <p:sp>
        <p:nvSpPr>
          <p:cNvPr id="7" name="Question">
            <a:extLst>
              <a:ext uri="{FF2B5EF4-FFF2-40B4-BE49-F238E27FC236}">
                <a16:creationId xmlns:a16="http://schemas.microsoft.com/office/drawing/2014/main" id="{B4965E6E-0F4A-477A-B4B0-DF739088DCEC}"/>
              </a:ext>
            </a:extLst>
          </p:cNvPr>
          <p:cNvSpPr>
            <a:spLocks noGrp="1"/>
          </p:cNvSpPr>
          <p:nvPr>
            <p:ph type="body" idx="1" hasCustomPrompt="1"/>
          </p:nvPr>
        </p:nvSpPr>
        <p:spPr>
          <a:xfrm>
            <a:off x="1" y="697780"/>
            <a:ext cx="12191998" cy="1405081"/>
          </a:xfrm>
          <a:solidFill>
            <a:schemeClr val="accent1"/>
          </a:solidFill>
        </p:spPr>
        <p:txBody>
          <a:bodyPr lIns="22860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 4 responses can only have 1 correct response; 5 responses must have 2 correct responses; 6 responses must have 3 correct responses.</a:t>
            </a:r>
          </a:p>
        </p:txBody>
      </p:sp>
      <p:sp>
        <p:nvSpPr>
          <p:cNvPr id="3" name="Answer Header">
            <a:extLst>
              <a:ext uri="{FF2B5EF4-FFF2-40B4-BE49-F238E27FC236}">
                <a16:creationId xmlns:a16="http://schemas.microsoft.com/office/drawing/2014/main" id="{4CF18732-63A0-43A6-B5E9-C4F74190ED76}"/>
              </a:ext>
            </a:extLst>
          </p:cNvPr>
          <p:cNvSpPr>
            <a:spLocks noGrp="1"/>
          </p:cNvSpPr>
          <p:nvPr>
            <p:ph type="subTitle" idx="4" hasCustomPrompt="1"/>
          </p:nvPr>
        </p:nvSpPr>
        <p:spPr>
          <a:xfrm>
            <a:off x="0" y="2114550"/>
            <a:ext cx="12192000" cy="400050"/>
          </a:xfrm>
          <a:solidFill>
            <a:schemeClr val="accent2"/>
          </a:solidFill>
        </p:spPr>
        <p:txBody>
          <a:bodyPr lIns="228600">
            <a:noAutofit/>
          </a:bodyPr>
          <a:lstStyle>
            <a:lvl1pPr marL="0" indent="0">
              <a:buNone/>
              <a:defRPr sz="2000"/>
            </a:lvl1pPr>
          </a:lstStyle>
          <a:p>
            <a:pPr lvl="0"/>
            <a:r>
              <a:rPr lang="en-US"/>
              <a:t>Enter “The correct response is x”</a:t>
            </a:r>
          </a:p>
        </p:txBody>
      </p:sp>
      <p:sp>
        <p:nvSpPr>
          <p:cNvPr id="8" name="Answer Text">
            <a:extLst>
              <a:ext uri="{FF2B5EF4-FFF2-40B4-BE49-F238E27FC236}">
                <a16:creationId xmlns:a16="http://schemas.microsoft.com/office/drawing/2014/main" id="{35CD1FAE-5D7E-4F04-B017-89D4732E2444}"/>
              </a:ext>
            </a:extLst>
          </p:cNvPr>
          <p:cNvSpPr>
            <a:spLocks noGrp="1"/>
          </p:cNvSpPr>
          <p:nvPr>
            <p:ph type="body" idx="2" hasCustomPrompt="1"/>
          </p:nvPr>
        </p:nvSpPr>
        <p:spPr>
          <a:xfrm>
            <a:off x="907950" y="2427252"/>
            <a:ext cx="11245989" cy="4007816"/>
          </a:xfrm>
          <a:solidFill>
            <a:schemeClr val="bg1"/>
          </a:solidFill>
          <a:ln>
            <a:no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Tree>
    <p:custDataLst>
      <p:tags r:id="rId1"/>
    </p:custDataLst>
    <p:extLst>
      <p:ext uri="{BB962C8B-B14F-4D97-AF65-F5344CB8AC3E}">
        <p14:creationId xmlns:p14="http://schemas.microsoft.com/office/powerpoint/2010/main" val="38892894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and Vertical Text">
    <p:bg>
      <p:bgPr>
        <a:solidFill>
          <a:schemeClr val="bg1"/>
        </a:solidFill>
        <a:effectLst/>
      </p:bgPr>
    </p:bg>
    <p:spTree>
      <p:nvGrpSpPr>
        <p:cNvPr id="1" name=""/>
        <p:cNvGrpSpPr/>
        <p:nvPr/>
      </p:nvGrpSpPr>
      <p:grpSpPr>
        <a:xfrm>
          <a:off x="0" y="0"/>
          <a:ext cx="0" cy="0"/>
          <a:chOff x="0" y="0"/>
          <a:chExt cx="0" cy="0"/>
        </a:xfrm>
      </p:grpSpPr>
      <p:sp>
        <p:nvSpPr>
          <p:cNvPr id="9" name="Copyright">
            <a:extLst>
              <a:ext uri="{FF2B5EF4-FFF2-40B4-BE49-F238E27FC236}">
                <a16:creationId xmlns:a16="http://schemas.microsoft.com/office/drawing/2014/main" id="{962C3F25-041D-4E5B-839E-FBB5D7B91A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301752"/>
            <a:ext cx="11569209" cy="731318"/>
          </a:xfrm>
        </p:spPr>
        <p:txBody>
          <a:bodyPr/>
          <a:lstStyle>
            <a:lvl1pPr>
              <a:defRPr>
                <a:solidFill>
                  <a:schemeClr val="tx2"/>
                </a:solidFill>
              </a:defRPr>
            </a:lvl1pPr>
          </a:lstStyle>
          <a:p>
            <a:r>
              <a:rPr lang="en-US"/>
              <a:t>Title and vertical text layout (international) </a:t>
            </a:r>
          </a:p>
        </p:txBody>
      </p:sp>
      <p:sp>
        <p:nvSpPr>
          <p:cNvPr id="7" name="Content">
            <a:extLst>
              <a:ext uri="{FF2B5EF4-FFF2-40B4-BE49-F238E27FC236}">
                <a16:creationId xmlns:a16="http://schemas.microsoft.com/office/drawing/2014/main" id="{E03519C3-01DC-4A54-BFE9-0527DA2D5160}"/>
              </a:ext>
            </a:extLst>
          </p:cNvPr>
          <p:cNvSpPr>
            <a:spLocks noGrp="1"/>
          </p:cNvSpPr>
          <p:nvPr>
            <p:ph type="body" orient="vert" idx="1" hasCustomPrompt="1"/>
          </p:nvPr>
        </p:nvSpPr>
        <p:spPr>
          <a:xfrm>
            <a:off x="435716" y="1033070"/>
            <a:ext cx="11499253" cy="5389244"/>
          </a:xfrm>
        </p:spPr>
        <p:txBody>
          <a:bodyPr vert="eaVert"/>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7F823AF2-999D-4175-8C01-402CA4924585}"/>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1160842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Vertical Title and Content">
    <p:bg>
      <p:bgPr>
        <a:solidFill>
          <a:schemeClr val="bg1"/>
        </a:solidFill>
        <a:effectLst/>
      </p:bgPr>
    </p:bg>
    <p:spTree>
      <p:nvGrpSpPr>
        <p:cNvPr id="1" name=""/>
        <p:cNvGrpSpPr/>
        <p:nvPr/>
      </p:nvGrpSpPr>
      <p:grpSpPr>
        <a:xfrm>
          <a:off x="0" y="0"/>
          <a:ext cx="0" cy="0"/>
          <a:chOff x="0" y="0"/>
          <a:chExt cx="0" cy="0"/>
        </a:xfrm>
      </p:grpSpPr>
      <p:sp>
        <p:nvSpPr>
          <p:cNvPr id="9" name="Copyright">
            <a:extLst>
              <a:ext uri="{FF2B5EF4-FFF2-40B4-BE49-F238E27FC236}">
                <a16:creationId xmlns:a16="http://schemas.microsoft.com/office/drawing/2014/main" id="{962C3F25-041D-4E5B-839E-FBB5D7B91A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1FDB7DAC-24E1-411C-8D5F-3A7FDF188C1D}"/>
              </a:ext>
            </a:extLst>
          </p:cNvPr>
          <p:cNvSpPr>
            <a:spLocks noGrp="1"/>
          </p:cNvSpPr>
          <p:nvPr>
            <p:ph type="title" hasCustomPrompt="1"/>
          </p:nvPr>
        </p:nvSpPr>
        <p:spPr>
          <a:xfrm rot="5400000">
            <a:off x="8324028" y="2805126"/>
            <a:ext cx="6127095" cy="1132145"/>
          </a:xfrm>
        </p:spPr>
        <p:txBody>
          <a:bodyPr/>
          <a:lstStyle>
            <a:lvl1pPr marL="0" marR="0" indent="0" algn="l" defTabSz="914400" rtl="0" eaLnBrk="1" fontAlgn="auto" latinLnBrk="0" hangingPunct="1">
              <a:lnSpc>
                <a:spcPct val="100000"/>
              </a:lnSpc>
              <a:spcBef>
                <a:spcPct val="0"/>
              </a:spcBef>
              <a:spcAft>
                <a:spcPts val="0"/>
              </a:spcAft>
              <a:buClrTx/>
              <a:buSzTx/>
              <a:buFontTx/>
              <a:buNone/>
              <a:tabLst/>
              <a:defRPr>
                <a:solidFill>
                  <a:schemeClr val="tx2"/>
                </a:solidFill>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Vertical title and text layout (international) </a:t>
            </a:r>
          </a:p>
        </p:txBody>
      </p:sp>
      <p:sp>
        <p:nvSpPr>
          <p:cNvPr id="7" name="Content">
            <a:extLst>
              <a:ext uri="{FF2B5EF4-FFF2-40B4-BE49-F238E27FC236}">
                <a16:creationId xmlns:a16="http://schemas.microsoft.com/office/drawing/2014/main" id="{E03519C3-01DC-4A54-BFE9-0527DA2D5160}"/>
              </a:ext>
            </a:extLst>
          </p:cNvPr>
          <p:cNvSpPr>
            <a:spLocks noGrp="1"/>
          </p:cNvSpPr>
          <p:nvPr>
            <p:ph type="body" orient="vert" idx="1" hasCustomPrompt="1"/>
          </p:nvPr>
        </p:nvSpPr>
        <p:spPr>
          <a:xfrm>
            <a:off x="365760" y="307649"/>
            <a:ext cx="10455743" cy="6127095"/>
          </a:xfrm>
        </p:spPr>
        <p:txBody>
          <a:bodyPr vert="eaVert"/>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A9006E65-0AC6-4AEC-9676-8B754EE037E9}"/>
              </a:ext>
              <a:ext uri="{C183D7F6-B498-43B3-948B-1728B52AA6E4}">
                <adec:decorative xmlns:adec="http://schemas.microsoft.com/office/drawing/2017/decorative" val="1"/>
              </a:ext>
            </a:extLst>
          </p:cNvPr>
          <p:cNvSpPr/>
          <p:nvPr/>
        </p:nvSpPr>
        <p:spPr>
          <a:xfrm rot="5400000">
            <a:off x="7803983" y="3371504"/>
            <a:ext cx="60807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422889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pic>
        <p:nvPicPr>
          <p:cNvPr id="7" name="Picture 6">
            <a:extLst>
              <a:ext uri="{FF2B5EF4-FFF2-40B4-BE49-F238E27FC236}">
                <a16:creationId xmlns:a16="http://schemas.microsoft.com/office/drawing/2014/main" id="{63FC9937-4309-1345-9FFE-12A8DD2FC6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2742718063"/>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69573A30-3961-C94C-A15D-1FC70640BAA5}"/>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2019, Amazon Web Services, Inc. or its Affiliates. All rights reserved.</a:t>
            </a:r>
          </a:p>
        </p:txBody>
      </p:sp>
      <p:pic>
        <p:nvPicPr>
          <p:cNvPr id="16" name="Picture 15">
            <a:extLst>
              <a:ext uri="{FF2B5EF4-FFF2-40B4-BE49-F238E27FC236}">
                <a16:creationId xmlns:a16="http://schemas.microsoft.com/office/drawing/2014/main" id="{BF6D2BA4-6287-854B-A5A3-81A95726CF4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7661074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sp>
        <p:nvSpPr>
          <p:cNvPr id="6" name="Footer Placeholder 4">
            <a:extLst>
              <a:ext uri="{FF2B5EF4-FFF2-40B4-BE49-F238E27FC236}">
                <a16:creationId xmlns:a16="http://schemas.microsoft.com/office/drawing/2014/main" id="{6636900F-FBBE-9846-A194-AC5CF173B39F}"/>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2019, Amazon Web Services, Inc. or its Affiliates. All rights reserved.</a:t>
            </a:r>
          </a:p>
        </p:txBody>
      </p:sp>
      <p:pic>
        <p:nvPicPr>
          <p:cNvPr id="8" name="Picture 7">
            <a:extLst>
              <a:ext uri="{FF2B5EF4-FFF2-40B4-BE49-F238E27FC236}">
                <a16:creationId xmlns:a16="http://schemas.microsoft.com/office/drawing/2014/main" id="{68A38432-CE99-3E4B-B087-73EB0F09CDB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224626666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 uri="{C183D7F6-B498-43B3-948B-1728B52AA6E4}">
                <adec:decorative xmlns:adec="http://schemas.microsoft.com/office/drawing/2017/decorative" val="1"/>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a:t>© 2019,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280E0825-B265-3846-8BB3-B9ECFCCA9B2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151058420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Subsection Header">
    <p:spTree>
      <p:nvGrpSpPr>
        <p:cNvPr id="1" name=""/>
        <p:cNvGrpSpPr/>
        <p:nvPr/>
      </p:nvGrpSpPr>
      <p:grpSpPr>
        <a:xfrm>
          <a:off x="0" y="0"/>
          <a:ext cx="0" cy="0"/>
          <a:chOff x="0" y="0"/>
          <a:chExt cx="0" cy="0"/>
        </a:xfrm>
      </p:grpSpPr>
      <p:sp>
        <p:nvSpPr>
          <p:cNvPr id="31" name="Footer Placeholder 4">
            <a:extLst>
              <a:ext uri="{FF2B5EF4-FFF2-40B4-BE49-F238E27FC236}">
                <a16:creationId xmlns:a16="http://schemas.microsoft.com/office/drawing/2014/main" id="{A9C4F210-2650-3942-9632-6074E8F12704}"/>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2019, Amazon Web Services, Inc. or its Affiliates. All rights reserved.</a:t>
            </a:r>
          </a:p>
        </p:txBody>
      </p:sp>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3"/>
          <a:srcRect l="75552" t="60520" r="3438" b="3809"/>
          <a:stretch/>
        </p:blipFill>
        <p:spPr>
          <a:xfrm rot="10800000">
            <a:off x="-1" y="-2"/>
            <a:ext cx="2268187" cy="2166103"/>
          </a:xfrm>
          <a:prstGeom prst="rect">
            <a:avLst/>
          </a:prstGeom>
        </p:spPr>
      </p:pic>
      <p:pic>
        <p:nvPicPr>
          <p:cNvPr id="9" name="Picture 8">
            <a:extLst>
              <a:ext uri="{FF2B5EF4-FFF2-40B4-BE49-F238E27FC236}">
                <a16:creationId xmlns:a16="http://schemas.microsoft.com/office/drawing/2014/main" id="{83936176-BBC4-344F-8FD9-CD6D76107A1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19821475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Diagram">
    <p:spTree>
      <p:nvGrpSpPr>
        <p:cNvPr id="1" name=""/>
        <p:cNvGrpSpPr/>
        <p:nvPr/>
      </p:nvGrpSpPr>
      <p:grpSpPr>
        <a:xfrm>
          <a:off x="0" y="0"/>
          <a:ext cx="0" cy="0"/>
          <a:chOff x="0" y="0"/>
          <a:chExt cx="0" cy="0"/>
        </a:xfrm>
      </p:grpSpPr>
      <p:sp>
        <p:nvSpPr>
          <p:cNvPr id="10" name="Footer Placeholder 4">
            <a:extLst>
              <a:ext uri="{FF2B5EF4-FFF2-40B4-BE49-F238E27FC236}">
                <a16:creationId xmlns:a16="http://schemas.microsoft.com/office/drawing/2014/main" id="{F86437D1-E7F9-2F42-864E-95D935B7DAF8}"/>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2019, Amazon Web Services, Inc. or its Affiliates. All rights reserved.</a:t>
            </a:r>
          </a:p>
        </p:txBody>
      </p:sp>
      <p:sp>
        <p:nvSpPr>
          <p:cNvPr id="7" name="Slide Number Placeholder 5">
            <a:extLst>
              <a:ext uri="{FF2B5EF4-FFF2-40B4-BE49-F238E27FC236}">
                <a16:creationId xmlns:a16="http://schemas.microsoft.com/office/drawing/2014/main" id="{45F76685-5779-5D40-A261-B0BC701B3745}"/>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a:p>
        </p:txBody>
      </p:sp>
      <p:pic>
        <p:nvPicPr>
          <p:cNvPr id="6" name="Picture 5">
            <a:extLst>
              <a:ext uri="{FF2B5EF4-FFF2-40B4-BE49-F238E27FC236}">
                <a16:creationId xmlns:a16="http://schemas.microsoft.com/office/drawing/2014/main" id="{40DE264E-2087-B647-8F60-282FE0A1DE1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09200" y="365125"/>
            <a:ext cx="1772652" cy="449072"/>
          </a:xfrm>
          <a:prstGeom prst="rect">
            <a:avLst/>
          </a:prstGeom>
        </p:spPr>
      </p:pic>
    </p:spTree>
    <p:custDataLst>
      <p:tags r:id="rId1"/>
    </p:custDataLst>
    <p:extLst>
      <p:ext uri="{BB962C8B-B14F-4D97-AF65-F5344CB8AC3E}">
        <p14:creationId xmlns:p14="http://schemas.microsoft.com/office/powerpoint/2010/main" val="304868252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hank You">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BA3DF3DE-0044-49A0-893D-4AE69524AE45}"/>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92" name="BKG-TP">
              <a:extLst>
                <a:ext uri="{FF2B5EF4-FFF2-40B4-BE49-F238E27FC236}">
                  <a16:creationId xmlns:a16="http://schemas.microsoft.com/office/drawing/2014/main" id="{80E539AA-5F27-4E27-A2EB-0002A460B024}"/>
                </a:ext>
                <a:ext uri="{C183D7F6-B498-43B3-948B-1728B52AA6E4}">
                  <adec:decorative xmlns:adec="http://schemas.microsoft.com/office/drawing/2017/decorative" val="1"/>
                </a:ext>
              </a:extLst>
            </p:cNvPr>
            <p:cNvSpPr/>
            <p:nvPr/>
          </p:nvSpPr>
          <p:spPr>
            <a:xfrm>
              <a:off x="0" y="0"/>
              <a:ext cx="12191998" cy="43513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0BD8C101-546C-4D96-9A74-D006A704F407}"/>
                </a:ext>
                <a:ext uri="{C183D7F6-B498-43B3-948B-1728B52AA6E4}">
                  <adec:decorative xmlns:adec="http://schemas.microsoft.com/office/drawing/2017/decorative" val="1"/>
                </a:ext>
              </a:extLst>
            </p:cNvPr>
            <p:cNvSpPr/>
            <p:nvPr/>
          </p:nvSpPr>
          <p:spPr>
            <a:xfrm>
              <a:off x="0" y="942975"/>
              <a:ext cx="2552700" cy="5915025"/>
            </a:xfrm>
            <a:custGeom>
              <a:avLst/>
              <a:gdLst>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0 h 5915025"/>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 name="connsiteX5" fmla="*/ 0 w 2552700"/>
                <a:gd name="connsiteY5" fmla="*/ 0 h 5915025"/>
                <a:gd name="connsiteX0" fmla="*/ 0 w 2552700"/>
                <a:gd name="connsiteY0" fmla="*/ 3110865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2700" h="5915025">
                  <a:moveTo>
                    <a:pt x="0" y="3110865"/>
                  </a:moveTo>
                  <a:lnTo>
                    <a:pt x="2552700" y="0"/>
                  </a:lnTo>
                  <a:lnTo>
                    <a:pt x="2552700" y="5915025"/>
                  </a:lnTo>
                  <a:lnTo>
                    <a:pt x="0" y="5915025"/>
                  </a:lnTo>
                  <a:lnTo>
                    <a:pt x="0" y="311086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AEE440B8-B31E-487C-92A7-B1713A372E58}"/>
                </a:ext>
                <a:ext uri="{C183D7F6-B498-43B3-948B-1728B52AA6E4}">
                  <adec:decorative xmlns:adec="http://schemas.microsoft.com/office/drawing/2017/decorative" val="1"/>
                </a:ext>
              </a:extLst>
            </p:cNvPr>
            <p:cNvSpPr/>
            <p:nvPr/>
          </p:nvSpPr>
          <p:spPr>
            <a:xfrm>
              <a:off x="2552700" y="942975"/>
              <a:ext cx="9639300" cy="59150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7710" y="5789538"/>
              <a:ext cx="1097280" cy="656183"/>
            </a:xfrm>
            <a:prstGeom prst="rect">
              <a:avLst/>
            </a:prstGeom>
          </p:spPr>
        </p:pic>
        <p:sp>
          <p:nvSpPr>
            <p:cNvPr id="11" name="Copyright">
              <a:extLst>
                <a:ext uri="{FF2B5EF4-FFF2-40B4-BE49-F238E27FC236}">
                  <a16:creationId xmlns:a16="http://schemas.microsoft.com/office/drawing/2014/main" id="{DF9E4172-9EB6-4421-9EA3-78F3EDED9A1F}"/>
                </a:ext>
              </a:extLst>
            </p:cNvPr>
            <p:cNvSpPr txBox="1"/>
            <p:nvPr/>
          </p:nvSpPr>
          <p:spPr>
            <a:xfrm>
              <a:off x="5068041" y="6568818"/>
              <a:ext cx="4653838" cy="261610"/>
            </a:xfrm>
            <a:prstGeom prst="rect">
              <a:avLst/>
            </a:prstGeom>
            <a:noFill/>
          </p:spPr>
          <p:txBody>
            <a:bodyPr wrap="none" rtlCol="0">
              <a:spAutoFit/>
            </a:bodyPr>
            <a:lstStyle/>
            <a:p>
              <a:r>
                <a:rPr lang="en-US" sz="1100" kern="1200">
                  <a:solidFill>
                    <a:schemeClr val="bg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B23121D6-781A-4B6C-8D9B-3A8188A614AE}" type="slidenum">
              <a:rPr lang="en-US" smtClean="0"/>
              <a:t>‹#›</a:t>
            </a:fld>
            <a:endParaRPr lang="en-US"/>
          </a:p>
        </p:txBody>
      </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2663862" y="1135062"/>
            <a:ext cx="9341063" cy="4049824"/>
          </a:xfrm>
        </p:spPr>
        <p:txBody>
          <a:bodyPr anchor="ctr"/>
          <a:lstStyle>
            <a:lvl1pPr>
              <a:defRPr sz="4400">
                <a:solidFill>
                  <a:schemeClr val="bg2"/>
                </a:solidFill>
              </a:defRPr>
            </a:lvl1pPr>
          </a:lstStyle>
          <a:p>
            <a:r>
              <a:rPr lang="en-US"/>
              <a:t>Thank you text</a:t>
            </a:r>
          </a:p>
        </p:txBody>
      </p:sp>
      <p:sp>
        <p:nvSpPr>
          <p:cNvPr id="5" name="Text Placeholder 4">
            <a:extLst>
              <a:ext uri="{FF2B5EF4-FFF2-40B4-BE49-F238E27FC236}">
                <a16:creationId xmlns:a16="http://schemas.microsoft.com/office/drawing/2014/main" id="{443878D9-CEC0-4A66-83CE-7ED3CE53FBDC}"/>
              </a:ext>
            </a:extLst>
          </p:cNvPr>
          <p:cNvSpPr>
            <a:spLocks noGrp="1"/>
          </p:cNvSpPr>
          <p:nvPr>
            <p:ph type="body" sz="quarter" idx="21"/>
          </p:nvPr>
        </p:nvSpPr>
        <p:spPr>
          <a:xfrm>
            <a:off x="2551176" y="5212080"/>
            <a:ext cx="9637776" cy="400110"/>
          </a:xfrm>
        </p:spPr>
        <p:txBody>
          <a:bodyPr>
            <a:spAutoFit/>
          </a:bodyPr>
          <a:lstStyle>
            <a:lvl1pPr marL="0" indent="0">
              <a:buNone/>
              <a:defRPr lang="en-US" sz="2000" kern="1200" dirty="0" smtClean="0">
                <a:solidFill>
                  <a:schemeClr val="bg2"/>
                </a:solidFill>
                <a:latin typeface="+mn-lt"/>
                <a:ea typeface="+mn-ea"/>
                <a:cs typeface="+mn-cs"/>
              </a:defRPr>
            </a:lvl1pPr>
            <a:lvl2pPr marL="227012" indent="0">
              <a:buNone/>
              <a:defRPr lang="en-US" sz="2000" kern="1200" dirty="0" smtClean="0">
                <a:solidFill>
                  <a:schemeClr val="bg2"/>
                </a:solidFill>
                <a:latin typeface="+mn-lt"/>
                <a:ea typeface="+mn-ea"/>
                <a:cs typeface="+mn-cs"/>
              </a:defRPr>
            </a:lvl2pPr>
            <a:lvl3pPr marL="455612" indent="0">
              <a:buNone/>
              <a:defRPr lang="en-US" sz="2000" kern="1200" dirty="0" smtClean="0">
                <a:solidFill>
                  <a:schemeClr val="bg2"/>
                </a:solidFill>
                <a:latin typeface="+mn-lt"/>
                <a:ea typeface="+mn-ea"/>
                <a:cs typeface="+mn-cs"/>
              </a:defRPr>
            </a:lvl3pPr>
            <a:lvl4pPr marL="684212" indent="0">
              <a:buNone/>
              <a:defRPr lang="en-US" sz="2000" kern="1200" dirty="0" smtClean="0">
                <a:solidFill>
                  <a:schemeClr val="bg2"/>
                </a:solidFill>
                <a:latin typeface="+mn-lt"/>
                <a:ea typeface="+mn-ea"/>
                <a:cs typeface="+mn-cs"/>
              </a:defRPr>
            </a:lvl4pPr>
            <a:lvl5pPr marL="912812" indent="0">
              <a:buNone/>
              <a:defRPr lang="en-US" sz="2000" kern="1200" dirty="0">
                <a:solidFill>
                  <a:schemeClr val="bg2"/>
                </a:solidFill>
                <a:latin typeface="+mn-lt"/>
                <a:ea typeface="+mn-ea"/>
                <a:cs typeface="+mn-cs"/>
              </a:defRPr>
            </a:lvl5pPr>
          </a:lstStyle>
          <a:p>
            <a:pPr lvl="0"/>
            <a:r>
              <a:rPr lang="en-US"/>
              <a:t>Edit Master text styles</a:t>
            </a:r>
          </a:p>
        </p:txBody>
      </p:sp>
    </p:spTree>
    <p:custDataLst>
      <p:tags r:id="rId1"/>
    </p:custDataLst>
    <p:extLst>
      <p:ext uri="{BB962C8B-B14F-4D97-AF65-F5344CB8AC3E}">
        <p14:creationId xmlns:p14="http://schemas.microsoft.com/office/powerpoint/2010/main" val="223301021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2.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image" Target="../media/image3.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4">
            <a:lum/>
          </a:blip>
          <a:srcRect/>
          <a:stretch>
            <a:fillRect/>
          </a:stretch>
        </a:blipFill>
        <a:effectLst/>
      </p:bgPr>
    </p:bg>
    <p:spTree>
      <p:nvGrpSpPr>
        <p:cNvPr id="1" name=""/>
        <p:cNvGrpSpPr/>
        <p:nvPr/>
      </p:nvGrpSpPr>
      <p:grpSpPr>
        <a:xfrm>
          <a:off x="0" y="0"/>
          <a:ext cx="0" cy="0"/>
          <a:chOff x="0" y="0"/>
          <a:chExt cx="0" cy="0"/>
        </a:xfrm>
      </p:grpSpPr>
      <p:sp>
        <p:nvSpPr>
          <p:cNvPr id="6" name="Slide Number">
            <a:extLst>
              <a:ext uri="{FF2B5EF4-FFF2-40B4-BE49-F238E27FC236}">
                <a16:creationId xmlns:a16="http://schemas.microsoft.com/office/drawing/2014/main" id="{740ACF5A-6DEA-4283-95F3-28BFCB00D1FE}"/>
              </a:ext>
            </a:extLst>
          </p:cNvPr>
          <p:cNvSpPr>
            <a:spLocks noGrp="1"/>
          </p:cNvSpPr>
          <p:nvPr>
            <p:ph type="sldNum" sz="quarter" idx="4"/>
          </p:nvPr>
        </p:nvSpPr>
        <p:spPr>
          <a:xfrm>
            <a:off x="11469389" y="6445721"/>
            <a:ext cx="484261" cy="289591"/>
          </a:xfrm>
          <a:prstGeom prst="rect">
            <a:avLst/>
          </a:prstGeom>
        </p:spPr>
        <p:txBody>
          <a:bodyPr vert="horz" lIns="91440" tIns="45720" rIns="91440" bIns="45720" rtlCol="0" anchor="ctr"/>
          <a:lstStyle>
            <a:lvl1pPr algn="r">
              <a:defRPr sz="16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C6E65ACB-7BFD-4D12-ACB2-501576A6711D}"/>
              </a:ext>
            </a:extLst>
          </p:cNvPr>
          <p:cNvSpPr>
            <a:spLocks noGrp="1"/>
          </p:cNvSpPr>
          <p:nvPr>
            <p:ph type="title"/>
          </p:nvPr>
        </p:nvSpPr>
        <p:spPr>
          <a:xfrm>
            <a:off x="365760" y="299526"/>
            <a:ext cx="11569209" cy="731318"/>
          </a:xfrm>
          <a:prstGeom prst="rect">
            <a:avLst/>
          </a:prstGeom>
        </p:spPr>
        <p:txBody>
          <a:bodyPr vert="horz" lIns="91440" tIns="45720" rIns="91440" bIns="45720" rtlCol="0" anchor="ctr">
            <a:normAutofit/>
          </a:bodyPr>
          <a:lstStyle/>
          <a:p>
            <a:r>
              <a:rPr lang="en-US"/>
              <a:t>Click to edit Master title style</a:t>
            </a:r>
          </a:p>
        </p:txBody>
      </p:sp>
      <p:sp>
        <p:nvSpPr>
          <p:cNvPr id="3" name="Content">
            <a:extLst>
              <a:ext uri="{FF2B5EF4-FFF2-40B4-BE49-F238E27FC236}">
                <a16:creationId xmlns:a16="http://schemas.microsoft.com/office/drawing/2014/main" id="{BD9FB2C3-6E12-492D-B6C4-46373C49E3FD}"/>
              </a:ext>
            </a:extLst>
          </p:cNvPr>
          <p:cNvSpPr>
            <a:spLocks noGrp="1"/>
          </p:cNvSpPr>
          <p:nvPr>
            <p:ph type="body" idx="1"/>
          </p:nvPr>
        </p:nvSpPr>
        <p:spPr>
          <a:xfrm>
            <a:off x="365760" y="1143000"/>
            <a:ext cx="11569209" cy="5291750"/>
          </a:xfrm>
          <a:prstGeom prst="rect">
            <a:avLst/>
          </a:prstGeom>
        </p:spPr>
        <p:txBody>
          <a:bodyPr vert="horz" lIns="91440" tIns="45720" rIns="91440" bIns="45720" rtlCol="0">
            <a:normAutofit/>
          </a:body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pic>
        <p:nvPicPr>
          <p:cNvPr id="98" name="AWS Logo">
            <a:extLst>
              <a:ext uri="{FF2B5EF4-FFF2-40B4-BE49-F238E27FC236}">
                <a16:creationId xmlns:a16="http://schemas.microsoft.com/office/drawing/2014/main" id="{56ED120F-98B5-42C0-B16A-27FB0984653F}"/>
              </a:ext>
              <a:ext uri="{C183D7F6-B498-43B3-948B-1728B52AA6E4}">
                <adec:decorative xmlns:adec="http://schemas.microsoft.com/office/drawing/2017/decorative" val="1"/>
              </a:ext>
            </a:extLst>
          </p:cNvPr>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243599" y="6452308"/>
            <a:ext cx="366979" cy="219456"/>
          </a:xfrm>
          <a:prstGeom prst="rect">
            <a:avLst/>
          </a:prstGeom>
        </p:spPr>
      </p:pic>
    </p:spTree>
    <p:custDataLst>
      <p:tags r:id="rId53"/>
    </p:custDataLst>
    <p:extLst>
      <p:ext uri="{BB962C8B-B14F-4D97-AF65-F5344CB8AC3E}">
        <p14:creationId xmlns:p14="http://schemas.microsoft.com/office/powerpoint/2010/main" val="1924365284"/>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8" r:id="rId9"/>
    <p:sldLayoutId id="2147484009" r:id="rId10"/>
    <p:sldLayoutId id="2147484010" r:id="rId11"/>
    <p:sldLayoutId id="2147484011" r:id="rId12"/>
    <p:sldLayoutId id="2147484012" r:id="rId13"/>
    <p:sldLayoutId id="2147484089" r:id="rId14"/>
    <p:sldLayoutId id="2147484013" r:id="rId15"/>
    <p:sldLayoutId id="2147484014" r:id="rId16"/>
    <p:sldLayoutId id="2147484015" r:id="rId17"/>
    <p:sldLayoutId id="2147484016" r:id="rId18"/>
    <p:sldLayoutId id="2147484017" r:id="rId19"/>
    <p:sldLayoutId id="2147484018" r:id="rId20"/>
    <p:sldLayoutId id="2147484019" r:id="rId21"/>
    <p:sldLayoutId id="2147484020" r:id="rId22"/>
    <p:sldLayoutId id="2147484021" r:id="rId23"/>
    <p:sldLayoutId id="2147484022" r:id="rId24"/>
    <p:sldLayoutId id="2147484023" r:id="rId25"/>
    <p:sldLayoutId id="2147484024" r:id="rId26"/>
    <p:sldLayoutId id="2147484025" r:id="rId27"/>
    <p:sldLayoutId id="2147484026" r:id="rId28"/>
    <p:sldLayoutId id="2147484027" r:id="rId29"/>
    <p:sldLayoutId id="2147484028" r:id="rId30"/>
    <p:sldLayoutId id="2147484029" r:id="rId31"/>
    <p:sldLayoutId id="2147484030" r:id="rId32"/>
    <p:sldLayoutId id="2147484031" r:id="rId33"/>
    <p:sldLayoutId id="2147484032" r:id="rId34"/>
    <p:sldLayoutId id="2147484033" r:id="rId35"/>
    <p:sldLayoutId id="2147484034" r:id="rId36"/>
    <p:sldLayoutId id="2147484035" r:id="rId37"/>
    <p:sldLayoutId id="2147484036" r:id="rId38"/>
    <p:sldLayoutId id="2147484037" r:id="rId39"/>
    <p:sldLayoutId id="2147484038" r:id="rId40"/>
    <p:sldLayoutId id="2147484039" r:id="rId41"/>
    <p:sldLayoutId id="2147484040" r:id="rId42"/>
    <p:sldLayoutId id="2147484041" r:id="rId43"/>
    <p:sldLayoutId id="2147484042" r:id="rId44"/>
    <p:sldLayoutId id="2147484090" r:id="rId45"/>
    <p:sldLayoutId id="2147484091" r:id="rId46"/>
    <p:sldLayoutId id="2147484093" r:id="rId47"/>
    <p:sldLayoutId id="2147484094" r:id="rId48"/>
    <p:sldLayoutId id="2147484095" r:id="rId49"/>
    <p:sldLayoutId id="2147484096" r:id="rId50"/>
    <p:sldLayoutId id="2147484098" r:id="rId51"/>
  </p:sldLayoutIdLst>
  <p:hf hdr="0" ftr="0" dt="0"/>
  <p:txStyles>
    <p:titleStyle>
      <a:lvl1pPr algn="l" defTabSz="228600" rtl="0" eaLnBrk="1" latinLnBrk="0" hangingPunct="1">
        <a:lnSpc>
          <a:spcPct val="100000"/>
        </a:lnSpc>
        <a:spcBef>
          <a:spcPct val="0"/>
        </a:spcBef>
        <a:buNone/>
        <a:defRPr sz="3200" kern="1200">
          <a:solidFill>
            <a:schemeClr val="tx2"/>
          </a:solidFill>
          <a:latin typeface="Amazon Ember Heavy"/>
        </a:defRPr>
      </a:lvl1pPr>
    </p:titleStyle>
    <p:body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1.xml"/><Relationship Id="rId1" Type="http://schemas.openxmlformats.org/officeDocument/2006/relationships/tags" Target="../tags/tag55.xml"/><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1.xml"/><Relationship Id="rId1" Type="http://schemas.openxmlformats.org/officeDocument/2006/relationships/tags" Target="../tags/tag5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7.xml"/></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notesSlide" Target="../notesSlides/notesSlide5.xml"/><Relationship Id="rId7" Type="http://schemas.openxmlformats.org/officeDocument/2006/relationships/image" Target="../media/image22.svg"/><Relationship Id="rId2" Type="http://schemas.openxmlformats.org/officeDocument/2006/relationships/slideLayout" Target="../slideLayouts/slideLayout11.xml"/><Relationship Id="rId1" Type="http://schemas.openxmlformats.org/officeDocument/2006/relationships/tags" Target="../tags/tag58.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20.sv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sv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tags" Target="../tags/tag5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tags" Target="../tags/tag60.xml"/><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tags" Target="../tags/tag6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5.xml"/><Relationship Id="rId1" Type="http://schemas.openxmlformats.org/officeDocument/2006/relationships/tags" Target="../tags/tag6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tags" Target="../tags/tag63.xml"/><Relationship Id="rId5" Type="http://schemas.microsoft.com/office/2007/relationships/hdphoto" Target="../media/hdphoto4.wdp"/><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1.xml"/><Relationship Id="rId1" Type="http://schemas.openxmlformats.org/officeDocument/2006/relationships/tags" Target="../tags/tag64.xml"/><Relationship Id="rId5" Type="http://schemas.microsoft.com/office/2007/relationships/hdphoto" Target="../media/hdphoto4.wdp"/><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1.xml"/><Relationship Id="rId1" Type="http://schemas.openxmlformats.org/officeDocument/2006/relationships/tags" Target="../tags/tag6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5.xml"/><Relationship Id="rId1" Type="http://schemas.openxmlformats.org/officeDocument/2006/relationships/tags" Target="../tags/tag6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1.xml"/><Relationship Id="rId1" Type="http://schemas.openxmlformats.org/officeDocument/2006/relationships/tags" Target="../tags/tag67.xml"/><Relationship Id="rId5" Type="http://schemas.microsoft.com/office/2007/relationships/hdphoto" Target="../media/hdphoto5.wdp"/><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1.xml"/><Relationship Id="rId1" Type="http://schemas.openxmlformats.org/officeDocument/2006/relationships/tags" Target="../tags/tag68.xml"/><Relationship Id="rId5" Type="http://schemas.microsoft.com/office/2007/relationships/hdphoto" Target="../media/hdphoto5.wdp"/><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1.xml"/><Relationship Id="rId1" Type="http://schemas.openxmlformats.org/officeDocument/2006/relationships/tags" Target="../tags/tag69.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5.xml"/><Relationship Id="rId1" Type="http://schemas.openxmlformats.org/officeDocument/2006/relationships/tags" Target="../tags/tag70.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1.xml"/><Relationship Id="rId1" Type="http://schemas.openxmlformats.org/officeDocument/2006/relationships/tags" Target="../tags/tag71.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1.xml"/><Relationship Id="rId1" Type="http://schemas.openxmlformats.org/officeDocument/2006/relationships/tags" Target="../tags/tag72.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1.xml"/><Relationship Id="rId1" Type="http://schemas.openxmlformats.org/officeDocument/2006/relationships/tags" Target="../tags/tag7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5.xml"/><Relationship Id="rId1" Type="http://schemas.openxmlformats.org/officeDocument/2006/relationships/tags" Target="../tags/tag7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1.xml"/><Relationship Id="rId1" Type="http://schemas.openxmlformats.org/officeDocument/2006/relationships/tags" Target="../tags/tag75.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1.xml"/><Relationship Id="rId1" Type="http://schemas.openxmlformats.org/officeDocument/2006/relationships/tags" Target="../tags/tag76.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1.xml"/><Relationship Id="rId1" Type="http://schemas.openxmlformats.org/officeDocument/2006/relationships/tags" Target="../tags/tag77.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5.xml"/><Relationship Id="rId1" Type="http://schemas.openxmlformats.org/officeDocument/2006/relationships/tags" Target="../tags/tag78.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1.xml"/><Relationship Id="rId1" Type="http://schemas.openxmlformats.org/officeDocument/2006/relationships/tags" Target="../tags/tag79.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1.xml"/><Relationship Id="rId1" Type="http://schemas.openxmlformats.org/officeDocument/2006/relationships/tags" Target="../tags/tag80.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1.xml"/><Relationship Id="rId1" Type="http://schemas.openxmlformats.org/officeDocument/2006/relationships/tags" Target="../tags/tag8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1.xml"/><Relationship Id="rId1" Type="http://schemas.openxmlformats.org/officeDocument/2006/relationships/tags" Target="../tags/tag8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8.xml"/><Relationship Id="rId1" Type="http://schemas.openxmlformats.org/officeDocument/2006/relationships/tags" Target="../tags/tag83.xml"/><Relationship Id="rId4" Type="http://schemas.openxmlformats.org/officeDocument/2006/relationships/image" Target="../media/image33.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84.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5.xml"/><Relationship Id="rId1" Type="http://schemas.openxmlformats.org/officeDocument/2006/relationships/tags" Target="../tags/tag8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1.xml"/><Relationship Id="rId1" Type="http://schemas.openxmlformats.org/officeDocument/2006/relationships/tags" Target="../tags/tag86.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1.xml"/><Relationship Id="rId1" Type="http://schemas.openxmlformats.org/officeDocument/2006/relationships/tags" Target="../tags/tag87.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1.xml"/><Relationship Id="rId1" Type="http://schemas.openxmlformats.org/officeDocument/2006/relationships/tags" Target="../tags/tag88.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1.xml"/><Relationship Id="rId1" Type="http://schemas.openxmlformats.org/officeDocument/2006/relationships/tags" Target="../tags/tag89.xm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1.xml"/><Relationship Id="rId1" Type="http://schemas.openxmlformats.org/officeDocument/2006/relationships/tags" Target="../tags/tag90.xm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1.xml"/><Relationship Id="rId1" Type="http://schemas.openxmlformats.org/officeDocument/2006/relationships/tags" Target="../tags/tag9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8.xml"/><Relationship Id="rId1" Type="http://schemas.openxmlformats.org/officeDocument/2006/relationships/tags" Target="../tags/tag92.xml"/><Relationship Id="rId4" Type="http://schemas.openxmlformats.org/officeDocument/2006/relationships/image" Target="../media/image33.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tags" Target="../tags/tag93.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1.xml"/><Relationship Id="rId1" Type="http://schemas.openxmlformats.org/officeDocument/2006/relationships/tags" Target="../tags/tag94.xml"/><Relationship Id="rId6" Type="http://schemas.openxmlformats.org/officeDocument/2006/relationships/image" Target="../media/image38.png"/><Relationship Id="rId5" Type="http://schemas.openxmlformats.org/officeDocument/2006/relationships/image" Target="../media/image37.svg"/><Relationship Id="rId4" Type="http://schemas.openxmlformats.org/officeDocument/2006/relationships/image" Target="../media/image36.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1.xml"/><Relationship Id="rId1" Type="http://schemas.openxmlformats.org/officeDocument/2006/relationships/tags" Target="../tags/tag95.xml"/><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8.xml"/><Relationship Id="rId1" Type="http://schemas.openxmlformats.org/officeDocument/2006/relationships/tags" Target="../tags/tag96.xml"/><Relationship Id="rId4" Type="http://schemas.openxmlformats.org/officeDocument/2006/relationships/image" Target="../media/image33.jpe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tags" Target="../tags/tag97.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1.xml"/><Relationship Id="rId1" Type="http://schemas.openxmlformats.org/officeDocument/2006/relationships/tags" Target="../tags/tag98.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1.xml"/><Relationship Id="rId1" Type="http://schemas.openxmlformats.org/officeDocument/2006/relationships/tags" Target="../tags/tag100.xml"/><Relationship Id="rId4" Type="http://schemas.openxmlformats.org/officeDocument/2006/relationships/image" Target="../media/image18.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1.xml"/><Relationship Id="rId1" Type="http://schemas.openxmlformats.org/officeDocument/2006/relationships/tags" Target="../tags/tag101.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xml"/><Relationship Id="rId1" Type="http://schemas.openxmlformats.org/officeDocument/2006/relationships/tags" Target="../tags/tag102.xml"/></Relationships>
</file>

<file path=ppt/slides/_rels/slide50.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notesSlide" Target="../notesSlides/notesSlide50.xml"/><Relationship Id="rId7" Type="http://schemas.openxmlformats.org/officeDocument/2006/relationships/image" Target="../media/image43.png"/><Relationship Id="rId12" Type="http://schemas.openxmlformats.org/officeDocument/2006/relationships/image" Target="../media/image48.svg"/><Relationship Id="rId2" Type="http://schemas.openxmlformats.org/officeDocument/2006/relationships/slideLayout" Target="../slideLayouts/slideLayout11.xml"/><Relationship Id="rId1" Type="http://schemas.openxmlformats.org/officeDocument/2006/relationships/tags" Target="../tags/tag103.xml"/><Relationship Id="rId6" Type="http://schemas.openxmlformats.org/officeDocument/2006/relationships/image" Target="../media/image42.sv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svg"/><Relationship Id="rId4" Type="http://schemas.openxmlformats.org/officeDocument/2006/relationships/image" Target="../media/image40.png"/><Relationship Id="rId9" Type="http://schemas.openxmlformats.org/officeDocument/2006/relationships/image" Target="../media/image45.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1.xml"/><Relationship Id="rId1" Type="http://schemas.openxmlformats.org/officeDocument/2006/relationships/tags" Target="../tags/tag104.xml"/><Relationship Id="rId4" Type="http://schemas.openxmlformats.org/officeDocument/2006/relationships/image" Target="../media/image49.png"/></Relationships>
</file>

<file path=ppt/slides/_rels/slide52.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notesSlide" Target="../notesSlides/notesSlide52.xml"/><Relationship Id="rId7" Type="http://schemas.openxmlformats.org/officeDocument/2006/relationships/image" Target="../media/image56.svg"/><Relationship Id="rId2" Type="http://schemas.openxmlformats.org/officeDocument/2006/relationships/slideLayout" Target="../slideLayouts/slideLayout11.xml"/><Relationship Id="rId1" Type="http://schemas.openxmlformats.org/officeDocument/2006/relationships/tags" Target="../tags/tag105.xml"/><Relationship Id="rId6" Type="http://schemas.openxmlformats.org/officeDocument/2006/relationships/image" Target="../media/image55.png"/><Relationship Id="rId5" Type="http://schemas.openxmlformats.org/officeDocument/2006/relationships/image" Target="../media/image54.svg"/><Relationship Id="rId4" Type="http://schemas.openxmlformats.org/officeDocument/2006/relationships/image" Target="../media/image53.png"/><Relationship Id="rId9" Type="http://schemas.openxmlformats.org/officeDocument/2006/relationships/image" Target="../media/image42.svg"/></Relationships>
</file>

<file path=ppt/slides/_rels/slide5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notesSlide" Target="../notesSlides/notesSlide53.xml"/><Relationship Id="rId7" Type="http://schemas.openxmlformats.org/officeDocument/2006/relationships/image" Target="../media/image60.png"/><Relationship Id="rId2" Type="http://schemas.openxmlformats.org/officeDocument/2006/relationships/slideLayout" Target="../slideLayouts/slideLayout11.xml"/><Relationship Id="rId1" Type="http://schemas.openxmlformats.org/officeDocument/2006/relationships/tags" Target="../tags/tag106.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png"/><Relationship Id="rId9" Type="http://schemas.openxmlformats.org/officeDocument/2006/relationships/image" Target="../media/image46.sv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1.xml"/><Relationship Id="rId1" Type="http://schemas.openxmlformats.org/officeDocument/2006/relationships/tags" Target="../tags/tag107.xml"/><Relationship Id="rId4" Type="http://schemas.openxmlformats.org/officeDocument/2006/relationships/image" Target="../media/image61.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8.xml"/><Relationship Id="rId1" Type="http://schemas.openxmlformats.org/officeDocument/2006/relationships/tags" Target="../tags/tag108.xml"/><Relationship Id="rId4" Type="http://schemas.openxmlformats.org/officeDocument/2006/relationships/image" Target="../media/image33.jpe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4.xml"/><Relationship Id="rId1" Type="http://schemas.openxmlformats.org/officeDocument/2006/relationships/tags" Target="../tags/tag109.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1.xml"/><Relationship Id="rId1" Type="http://schemas.openxmlformats.org/officeDocument/2006/relationships/tags" Target="../tags/tag110.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8.xml"/><Relationship Id="rId7" Type="http://schemas.openxmlformats.org/officeDocument/2006/relationships/image" Target="../media/image65.png"/><Relationship Id="rId2" Type="http://schemas.openxmlformats.org/officeDocument/2006/relationships/slideLayout" Target="../slideLayouts/slideLayout11.xml"/><Relationship Id="rId1" Type="http://schemas.openxmlformats.org/officeDocument/2006/relationships/tags" Target="../tags/tag111.xml"/><Relationship Id="rId6" Type="http://schemas.openxmlformats.org/officeDocument/2006/relationships/image" Target="../media/image64.png"/><Relationship Id="rId5" Type="http://schemas.openxmlformats.org/officeDocument/2006/relationships/image" Target="../media/image63.svg"/><Relationship Id="rId4" Type="http://schemas.openxmlformats.org/officeDocument/2006/relationships/image" Target="../media/image62.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1.xml"/><Relationship Id="rId1" Type="http://schemas.openxmlformats.org/officeDocument/2006/relationships/tags" Target="../tags/tag112.xml"/><Relationship Id="rId5" Type="http://schemas.openxmlformats.org/officeDocument/2006/relationships/image" Target="../media/image67.png"/><Relationship Id="rId4" Type="http://schemas.openxmlformats.org/officeDocument/2006/relationships/image" Target="../media/image66.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8.xml"/><Relationship Id="rId1" Type="http://schemas.openxmlformats.org/officeDocument/2006/relationships/tags" Target="../tags/tag113.xml"/><Relationship Id="rId4" Type="http://schemas.openxmlformats.org/officeDocument/2006/relationships/image" Target="../media/image33.jpe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4.xml"/><Relationship Id="rId1" Type="http://schemas.openxmlformats.org/officeDocument/2006/relationships/tags" Target="../tags/tag114.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1.xml"/><Relationship Id="rId1" Type="http://schemas.openxmlformats.org/officeDocument/2006/relationships/tags" Target="../tags/tag115.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1.xml"/><Relationship Id="rId1" Type="http://schemas.openxmlformats.org/officeDocument/2006/relationships/tags" Target="../tags/tag116.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1.xml"/><Relationship Id="rId1" Type="http://schemas.openxmlformats.org/officeDocument/2006/relationships/tags" Target="../tags/tag117.xml"/><Relationship Id="rId4" Type="http://schemas.openxmlformats.org/officeDocument/2006/relationships/image" Target="../media/image68.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1.xml"/><Relationship Id="rId1" Type="http://schemas.openxmlformats.org/officeDocument/2006/relationships/tags" Target="../tags/tag118.xml"/><Relationship Id="rId5" Type="http://schemas.openxmlformats.org/officeDocument/2006/relationships/image" Target="../media/image70.png"/><Relationship Id="rId4" Type="http://schemas.openxmlformats.org/officeDocument/2006/relationships/image" Target="../media/image69.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6.xml"/><Relationship Id="rId7" Type="http://schemas.openxmlformats.org/officeDocument/2006/relationships/image" Target="../media/image74.svg"/><Relationship Id="rId2" Type="http://schemas.openxmlformats.org/officeDocument/2006/relationships/slideLayout" Target="../slideLayouts/slideLayout11.xml"/><Relationship Id="rId1" Type="http://schemas.openxmlformats.org/officeDocument/2006/relationships/tags" Target="../tags/tag119.xml"/><Relationship Id="rId6" Type="http://schemas.openxmlformats.org/officeDocument/2006/relationships/image" Target="../media/image73.png"/><Relationship Id="rId5" Type="http://schemas.openxmlformats.org/officeDocument/2006/relationships/image" Target="../media/image72.svg"/><Relationship Id="rId4" Type="http://schemas.openxmlformats.org/officeDocument/2006/relationships/image" Target="../media/image71.png"/></Relationships>
</file>

<file path=ppt/slides/_rels/slide70.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notesSlide" Target="../notesSlides/notesSlide67.xml"/><Relationship Id="rId7" Type="http://schemas.openxmlformats.org/officeDocument/2006/relationships/image" Target="../media/image74.svg"/><Relationship Id="rId2" Type="http://schemas.openxmlformats.org/officeDocument/2006/relationships/slideLayout" Target="../slideLayouts/slideLayout11.xml"/><Relationship Id="rId1" Type="http://schemas.openxmlformats.org/officeDocument/2006/relationships/tags" Target="../tags/tag120.xml"/><Relationship Id="rId6" Type="http://schemas.openxmlformats.org/officeDocument/2006/relationships/image" Target="../media/image73.png"/><Relationship Id="rId5" Type="http://schemas.openxmlformats.org/officeDocument/2006/relationships/image" Target="../media/image42.svg"/><Relationship Id="rId4" Type="http://schemas.openxmlformats.org/officeDocument/2006/relationships/image" Target="../media/image41.png"/><Relationship Id="rId9" Type="http://schemas.openxmlformats.org/officeDocument/2006/relationships/image" Target="../media/image72.svg"/></Relationships>
</file>

<file path=ppt/slides/_rels/slide71.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8.svg"/><Relationship Id="rId3" Type="http://schemas.openxmlformats.org/officeDocument/2006/relationships/notesSlide" Target="../notesSlides/notesSlide68.xml"/><Relationship Id="rId7" Type="http://schemas.openxmlformats.org/officeDocument/2006/relationships/image" Target="../media/image74.svg"/><Relationship Id="rId12" Type="http://schemas.openxmlformats.org/officeDocument/2006/relationships/image" Target="../media/image77.png"/><Relationship Id="rId2" Type="http://schemas.openxmlformats.org/officeDocument/2006/relationships/slideLayout" Target="../slideLayouts/slideLayout11.xml"/><Relationship Id="rId1" Type="http://schemas.openxmlformats.org/officeDocument/2006/relationships/tags" Target="../tags/tag121.xml"/><Relationship Id="rId6" Type="http://schemas.openxmlformats.org/officeDocument/2006/relationships/image" Target="../media/image73.png"/><Relationship Id="rId11" Type="http://schemas.openxmlformats.org/officeDocument/2006/relationships/image" Target="../media/image59.svg"/><Relationship Id="rId5" Type="http://schemas.openxmlformats.org/officeDocument/2006/relationships/image" Target="../media/image76.svg"/><Relationship Id="rId10" Type="http://schemas.openxmlformats.org/officeDocument/2006/relationships/image" Target="../media/image58.png"/><Relationship Id="rId4" Type="http://schemas.openxmlformats.org/officeDocument/2006/relationships/image" Target="../media/image75.png"/><Relationship Id="rId9" Type="http://schemas.openxmlformats.org/officeDocument/2006/relationships/image" Target="../media/image72.svg"/></Relationships>
</file>

<file path=ppt/slides/_rels/slide72.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82.png"/><Relationship Id="rId3" Type="http://schemas.openxmlformats.org/officeDocument/2006/relationships/notesSlide" Target="../notesSlides/notesSlide69.xml"/><Relationship Id="rId7" Type="http://schemas.openxmlformats.org/officeDocument/2006/relationships/image" Target="../media/image80.svg"/><Relationship Id="rId12" Type="http://schemas.openxmlformats.org/officeDocument/2006/relationships/image" Target="../media/image81.png"/><Relationship Id="rId2" Type="http://schemas.openxmlformats.org/officeDocument/2006/relationships/slideLayout" Target="../slideLayouts/slideLayout11.xml"/><Relationship Id="rId1" Type="http://schemas.openxmlformats.org/officeDocument/2006/relationships/tags" Target="../tags/tag122.xml"/><Relationship Id="rId6" Type="http://schemas.openxmlformats.org/officeDocument/2006/relationships/image" Target="../media/image79.png"/><Relationship Id="rId11" Type="http://schemas.openxmlformats.org/officeDocument/2006/relationships/image" Target="../media/image72.svg"/><Relationship Id="rId5" Type="http://schemas.openxmlformats.org/officeDocument/2006/relationships/image" Target="../media/image63.svg"/><Relationship Id="rId10" Type="http://schemas.openxmlformats.org/officeDocument/2006/relationships/image" Target="../media/image71.png"/><Relationship Id="rId4" Type="http://schemas.openxmlformats.org/officeDocument/2006/relationships/image" Target="../media/image62.png"/><Relationship Id="rId9" Type="http://schemas.openxmlformats.org/officeDocument/2006/relationships/image" Target="../media/image42.svg"/><Relationship Id="rId14" Type="http://schemas.openxmlformats.org/officeDocument/2006/relationships/image" Target="../media/image83.sv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1.xml"/><Relationship Id="rId1" Type="http://schemas.openxmlformats.org/officeDocument/2006/relationships/tags" Target="../tags/tag123.xml"/><Relationship Id="rId5" Type="http://schemas.openxmlformats.org/officeDocument/2006/relationships/image" Target="../media/image85.svg"/><Relationship Id="rId4" Type="http://schemas.openxmlformats.org/officeDocument/2006/relationships/image" Target="../media/image84.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8.xml"/><Relationship Id="rId1" Type="http://schemas.openxmlformats.org/officeDocument/2006/relationships/tags" Target="../tags/tag124.xml"/><Relationship Id="rId4" Type="http://schemas.openxmlformats.org/officeDocument/2006/relationships/image" Target="../media/image33.jpe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4.xml"/><Relationship Id="rId1" Type="http://schemas.openxmlformats.org/officeDocument/2006/relationships/tags" Target="../tags/tag125.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1.xml"/><Relationship Id="rId1" Type="http://schemas.openxmlformats.org/officeDocument/2006/relationships/tags" Target="../tags/tag126.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tags" Target="../tags/tag127.xml"/></Relationships>
</file>

<file path=ppt/slides/_rels/slide78.xml.rels><?xml version="1.0" encoding="UTF-8" standalone="yes"?>
<Relationships xmlns="http://schemas.openxmlformats.org/package/2006/relationships"><Relationship Id="rId3" Type="http://schemas.openxmlformats.org/officeDocument/2006/relationships/image" Target="../media/image87.svg"/><Relationship Id="rId7" Type="http://schemas.openxmlformats.org/officeDocument/2006/relationships/image" Target="../media/image91.svg"/><Relationship Id="rId2" Type="http://schemas.openxmlformats.org/officeDocument/2006/relationships/image" Target="../media/image86.png"/><Relationship Id="rId1" Type="http://schemas.openxmlformats.org/officeDocument/2006/relationships/slideLayout" Target="../slideLayouts/slideLayout11.xml"/><Relationship Id="rId6" Type="http://schemas.openxmlformats.org/officeDocument/2006/relationships/image" Target="../media/image90.png"/><Relationship Id="rId5" Type="http://schemas.openxmlformats.org/officeDocument/2006/relationships/image" Target="../media/image89.svg"/><Relationship Id="rId4" Type="http://schemas.openxmlformats.org/officeDocument/2006/relationships/image" Target="../media/image88.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51.xml"/><Relationship Id="rId1" Type="http://schemas.openxmlformats.org/officeDocument/2006/relationships/tags" Target="../tags/tag1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a:t>Module 9: Cloud Architecture</a:t>
            </a:r>
          </a:p>
        </p:txBody>
      </p:sp>
      <p:sp>
        <p:nvSpPr>
          <p:cNvPr id="4" name="Text Placeholder 3"/>
          <p:cNvSpPr>
            <a:spLocks noGrp="1"/>
          </p:cNvSpPr>
          <p:nvPr>
            <p:ph type="subTitle" idx="1"/>
          </p:nvPr>
        </p:nvSpPr>
        <p:spPr/>
        <p:txBody>
          <a:bodyPr/>
          <a:lstStyle/>
          <a:p>
            <a:r>
              <a:rPr lang="en-US"/>
              <a:t>AWS Academy Cloud Foundations</a:t>
            </a:r>
          </a:p>
        </p:txBody>
      </p:sp>
    </p:spTree>
    <p:custDataLst>
      <p:tags r:id="rId1"/>
    </p:custDataLst>
    <p:extLst>
      <p:ext uri="{BB962C8B-B14F-4D97-AF65-F5344CB8AC3E}">
        <p14:creationId xmlns:p14="http://schemas.microsoft.com/office/powerpoint/2010/main" val="2128844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17933E2-EE90-C246-AEFF-135CA8848EB0}"/>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2</a:t>
            </a:fld>
            <a:endParaRPr lang="en-US"/>
          </a:p>
        </p:txBody>
      </p:sp>
      <p:sp>
        <p:nvSpPr>
          <p:cNvPr id="2" name="Title 1"/>
          <p:cNvSpPr>
            <a:spLocks noGrp="1"/>
          </p:cNvSpPr>
          <p:nvPr>
            <p:ph type="title"/>
          </p:nvPr>
        </p:nvSpPr>
        <p:spPr/>
        <p:txBody>
          <a:bodyPr/>
          <a:lstStyle/>
          <a:p>
            <a:r>
              <a:rPr lang="en-US">
                <a:latin typeface="+mj-lt"/>
              </a:rPr>
              <a:t>Module overview</a:t>
            </a:r>
          </a:p>
        </p:txBody>
      </p:sp>
      <p:sp>
        <p:nvSpPr>
          <p:cNvPr id="5" name="Content Placeholder 4"/>
          <p:cNvSpPr>
            <a:spLocks noGrp="1"/>
          </p:cNvSpPr>
          <p:nvPr>
            <p:ph sz="quarter" idx="21"/>
          </p:nvPr>
        </p:nvSpPr>
        <p:spPr>
          <a:xfrm>
            <a:off x="365760" y="1143000"/>
            <a:ext cx="5559552" cy="5291750"/>
          </a:xfrm>
        </p:spPr>
        <p:txBody>
          <a:bodyPr>
            <a:noAutofit/>
          </a:bodyPr>
          <a:lstStyle/>
          <a:p>
            <a:pPr marL="0" indent="0">
              <a:spcBef>
                <a:spcPts val="1800"/>
              </a:spcBef>
              <a:buNone/>
            </a:pPr>
            <a:r>
              <a:rPr lang="en-US" b="1">
                <a:latin typeface="+mn-lt"/>
              </a:rPr>
              <a:t>Topics</a:t>
            </a:r>
          </a:p>
          <a:p>
            <a:pPr marL="239713" indent="-239713">
              <a:spcBef>
                <a:spcPts val="1800"/>
              </a:spcBef>
            </a:pPr>
            <a:r>
              <a:rPr lang="en-US" sz="2400">
                <a:latin typeface="+mn-lt"/>
              </a:rPr>
              <a:t>AWS Well-Architected Framework</a:t>
            </a:r>
          </a:p>
          <a:p>
            <a:pPr marL="239713" indent="-239713">
              <a:spcBef>
                <a:spcPts val="1800"/>
              </a:spcBef>
            </a:pPr>
            <a:r>
              <a:rPr lang="en-US" sz="2400">
                <a:latin typeface="+mn-lt"/>
              </a:rPr>
              <a:t>Reliability and high availability</a:t>
            </a:r>
          </a:p>
          <a:p>
            <a:pPr marL="239713" indent="-239713">
              <a:spcBef>
                <a:spcPts val="1800"/>
              </a:spcBef>
            </a:pPr>
            <a:r>
              <a:rPr lang="en-US" sz="2400">
                <a:latin typeface="+mn-lt"/>
              </a:rPr>
              <a:t>AWS Trusted Advisor</a:t>
            </a:r>
          </a:p>
        </p:txBody>
      </p:sp>
      <p:sp>
        <p:nvSpPr>
          <p:cNvPr id="6" name="Content Placeholder 5">
            <a:extLst>
              <a:ext uri="{FF2B5EF4-FFF2-40B4-BE49-F238E27FC236}">
                <a16:creationId xmlns:a16="http://schemas.microsoft.com/office/drawing/2014/main" id="{79AB60CE-670C-974B-8C37-C3795121745F}"/>
              </a:ext>
            </a:extLst>
          </p:cNvPr>
          <p:cNvSpPr>
            <a:spLocks noGrp="1"/>
          </p:cNvSpPr>
          <p:nvPr>
            <p:ph idx="4294967295"/>
          </p:nvPr>
        </p:nvSpPr>
        <p:spPr>
          <a:xfrm>
            <a:off x="6099048" y="1143000"/>
            <a:ext cx="5559552" cy="4654296"/>
          </a:xfrm>
        </p:spPr>
        <p:txBody>
          <a:bodyPr/>
          <a:lstStyle/>
          <a:p>
            <a:pPr marL="0" indent="0">
              <a:buNone/>
            </a:pPr>
            <a:r>
              <a:rPr lang="en-US" b="1">
                <a:latin typeface="+mn-lt"/>
              </a:rPr>
              <a:t>Activities</a:t>
            </a:r>
          </a:p>
          <a:p>
            <a:r>
              <a:rPr lang="en-US" sz="2400">
                <a:latin typeface="+mn-lt"/>
              </a:rPr>
              <a:t>AWS Well-Architected Framework Design Principles</a:t>
            </a:r>
          </a:p>
          <a:p>
            <a:r>
              <a:rPr lang="en-US" sz="2400">
                <a:latin typeface="+mn-lt"/>
              </a:rPr>
              <a:t>Interpret AWS Trusted Advisor Recommendations</a:t>
            </a:r>
          </a:p>
        </p:txBody>
      </p:sp>
      <p:grpSp>
        <p:nvGrpSpPr>
          <p:cNvPr id="7" name="Group 6" descr="Knowledge check.">
            <a:extLst>
              <a:ext uri="{FF2B5EF4-FFF2-40B4-BE49-F238E27FC236}">
                <a16:creationId xmlns:a16="http://schemas.microsoft.com/office/drawing/2014/main" id="{5A386CF2-48DE-3E4F-B27A-6F6B12236D70}"/>
              </a:ext>
              <a:ext uri="{C183D7F6-B498-43B3-948B-1728B52AA6E4}">
                <adec:decorative xmlns:adec="http://schemas.microsoft.com/office/drawing/2017/decorative" val="0"/>
              </a:ext>
            </a:extLst>
          </p:cNvPr>
          <p:cNvGrpSpPr/>
          <p:nvPr/>
        </p:nvGrpSpPr>
        <p:grpSpPr>
          <a:xfrm>
            <a:off x="6246312" y="5640693"/>
            <a:ext cx="2832953" cy="532323"/>
            <a:chOff x="4188879" y="4810544"/>
            <a:chExt cx="2832953" cy="532323"/>
          </a:xfrm>
        </p:grpSpPr>
        <p:sp>
          <p:nvSpPr>
            <p:cNvPr id="8" name="TextBox 7">
              <a:extLst>
                <a:ext uri="{FF2B5EF4-FFF2-40B4-BE49-F238E27FC236}">
                  <a16:creationId xmlns:a16="http://schemas.microsoft.com/office/drawing/2014/main" id="{94F8C5C3-D9C4-4E4C-8D0B-BD50A1C962C5}"/>
                </a:ext>
              </a:extLst>
            </p:cNvPr>
            <p:cNvSpPr txBox="1"/>
            <p:nvPr/>
          </p:nvSpPr>
          <p:spPr>
            <a:xfrm>
              <a:off x="4721202" y="4892040"/>
              <a:ext cx="2300630" cy="400110"/>
            </a:xfrm>
            <a:prstGeom prst="rect">
              <a:avLst/>
            </a:prstGeom>
            <a:noFill/>
          </p:spPr>
          <p:txBody>
            <a:bodyPr wrap="none" rtlCol="0">
              <a:spAutoFit/>
            </a:bodyPr>
            <a:lstStyle/>
            <a:p>
              <a:r>
                <a:rPr lang="en-US" sz="2000" b="1" dirty="0">
                  <a:latin typeface="Amazon Ember" panose="020B0603020204020204" pitchFamily="34" charset="0"/>
                  <a:ea typeface="Amazon Ember" panose="020B0603020204020204" pitchFamily="34" charset="0"/>
                  <a:cs typeface="Amazon Ember" panose="020B0603020204020204" pitchFamily="34" charset="0"/>
                </a:rPr>
                <a:t>Knowledge check</a:t>
              </a:r>
            </a:p>
          </p:txBody>
        </p:sp>
        <p:pic>
          <p:nvPicPr>
            <p:cNvPr id="9" name="Picture 8">
              <a:extLst>
                <a:ext uri="{FF2B5EF4-FFF2-40B4-BE49-F238E27FC236}">
                  <a16:creationId xmlns:a16="http://schemas.microsoft.com/office/drawing/2014/main" id="{7C7503A9-F744-2745-8305-1056CF885D90}"/>
                </a:ext>
                <a:ext uri="{C183D7F6-B498-43B3-948B-1728B52AA6E4}">
                  <adec:decorative xmlns:adec="http://schemas.microsoft.com/office/drawing/2017/decorative" val="1"/>
                </a:ext>
              </a:extLst>
            </p:cNvPr>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4188879" y="4810544"/>
              <a:ext cx="532323" cy="532323"/>
            </a:xfrm>
            <a:prstGeom prst="rect">
              <a:avLst/>
            </a:prstGeom>
          </p:spPr>
        </p:pic>
      </p:grpSp>
    </p:spTree>
    <p:custDataLst>
      <p:tags r:id="rId1"/>
    </p:custDataLst>
    <p:extLst>
      <p:ext uri="{BB962C8B-B14F-4D97-AF65-F5344CB8AC3E}">
        <p14:creationId xmlns:p14="http://schemas.microsoft.com/office/powerpoint/2010/main" val="1745004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0E9032A-B193-E649-B33A-8B2DE7FF0AB8}"/>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3</a:t>
            </a:fld>
            <a:endParaRPr lang="en-US"/>
          </a:p>
        </p:txBody>
      </p:sp>
      <p:sp>
        <p:nvSpPr>
          <p:cNvPr id="2" name="Title 1">
            <a:extLst>
              <a:ext uri="{FF2B5EF4-FFF2-40B4-BE49-F238E27FC236}">
                <a16:creationId xmlns:a16="http://schemas.microsoft.com/office/drawing/2014/main" id="{18DD67E4-BDC1-B340-8993-E1E72418A01F}"/>
              </a:ext>
            </a:extLst>
          </p:cNvPr>
          <p:cNvSpPr>
            <a:spLocks noGrp="1"/>
          </p:cNvSpPr>
          <p:nvPr>
            <p:ph type="title"/>
          </p:nvPr>
        </p:nvSpPr>
        <p:spPr/>
        <p:txBody>
          <a:bodyPr/>
          <a:lstStyle/>
          <a:p>
            <a:r>
              <a:rPr lang="en-US"/>
              <a:t>Module objectives</a:t>
            </a:r>
          </a:p>
        </p:txBody>
      </p:sp>
      <p:sp>
        <p:nvSpPr>
          <p:cNvPr id="4" name="Content Placeholder 2">
            <a:extLst>
              <a:ext uri="{FF2B5EF4-FFF2-40B4-BE49-F238E27FC236}">
                <a16:creationId xmlns:a16="http://schemas.microsoft.com/office/drawing/2014/main" id="{AA03B58E-9CA1-F041-8923-2FE03FDDD563}"/>
              </a:ext>
            </a:extLst>
          </p:cNvPr>
          <p:cNvSpPr>
            <a:spLocks noGrp="1"/>
          </p:cNvSpPr>
          <p:nvPr>
            <p:ph sz="quarter" idx="21"/>
          </p:nvPr>
        </p:nvSpPr>
        <p:spPr/>
        <p:txBody>
          <a:bodyPr/>
          <a:lstStyle/>
          <a:p>
            <a:pPr marL="0" indent="0">
              <a:buNone/>
            </a:pPr>
            <a:r>
              <a:rPr lang="en-US"/>
              <a:t>After completing this module, you should be able to:</a:t>
            </a:r>
          </a:p>
          <a:p>
            <a:r>
              <a:rPr lang="en-US">
                <a:latin typeface="+mn-lt"/>
              </a:rPr>
              <a:t>Describe the AWS Well-Architected Framework, including the six pillars</a:t>
            </a:r>
          </a:p>
          <a:p>
            <a:r>
              <a:rPr lang="en-US">
                <a:latin typeface="+mn-lt"/>
              </a:rPr>
              <a:t>Identify the design principles of the AWS Well-Architected Framework</a:t>
            </a:r>
          </a:p>
          <a:p>
            <a:r>
              <a:rPr lang="en-US">
                <a:latin typeface="+mn-lt"/>
              </a:rPr>
              <a:t>Explain the importance of reliability and high availability</a:t>
            </a:r>
          </a:p>
          <a:p>
            <a:r>
              <a:rPr lang="en-US">
                <a:latin typeface="+mn-lt"/>
              </a:rPr>
              <a:t>Identify how AWS Trusted Advisor helps customers</a:t>
            </a:r>
          </a:p>
          <a:p>
            <a:r>
              <a:rPr lang="en-US">
                <a:latin typeface="+mn-lt"/>
              </a:rPr>
              <a:t>Interpret AWS Trusted Advisor recommendations</a:t>
            </a:r>
          </a:p>
        </p:txBody>
      </p:sp>
    </p:spTree>
    <p:custDataLst>
      <p:tags r:id="rId1"/>
    </p:custDataLst>
    <p:extLst>
      <p:ext uri="{BB962C8B-B14F-4D97-AF65-F5344CB8AC3E}">
        <p14:creationId xmlns:p14="http://schemas.microsoft.com/office/powerpoint/2010/main" val="396247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260FC5D-7F15-4F98-B256-9E77C5B519B1}"/>
              </a:ext>
            </a:extLst>
          </p:cNvPr>
          <p:cNvSpPr>
            <a:spLocks noGrp="1"/>
          </p:cNvSpPr>
          <p:nvPr>
            <p:ph type="subTitle" idx="1"/>
          </p:nvPr>
        </p:nvSpPr>
        <p:spPr/>
        <p:txBody>
          <a:bodyPr/>
          <a:lstStyle/>
          <a:p>
            <a:r>
              <a:rPr lang="en-US"/>
              <a:t>Module 9: Cloud Architecture</a:t>
            </a:r>
          </a:p>
        </p:txBody>
      </p:sp>
      <p:sp>
        <p:nvSpPr>
          <p:cNvPr id="2" name="Title 1"/>
          <p:cNvSpPr>
            <a:spLocks noGrp="1"/>
          </p:cNvSpPr>
          <p:nvPr>
            <p:ph type="title"/>
          </p:nvPr>
        </p:nvSpPr>
        <p:spPr/>
        <p:txBody>
          <a:bodyPr>
            <a:noAutofit/>
          </a:bodyPr>
          <a:lstStyle/>
          <a:p>
            <a:r>
              <a:rPr lang="en-US"/>
              <a:t>Section 1: AWS Well-Architected Framework</a:t>
            </a:r>
          </a:p>
        </p:txBody>
      </p:sp>
    </p:spTree>
    <p:custDataLst>
      <p:tags r:id="rId1"/>
    </p:custDataLst>
    <p:extLst>
      <p:ext uri="{BB962C8B-B14F-4D97-AF65-F5344CB8AC3E}">
        <p14:creationId xmlns:p14="http://schemas.microsoft.com/office/powerpoint/2010/main" val="340100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4DCE2A-997F-B2E6-7CBB-54294019AD80}"/>
              </a:ext>
            </a:extLst>
          </p:cNvPr>
          <p:cNvSpPr>
            <a:spLocks noGrp="1"/>
          </p:cNvSpPr>
          <p:nvPr>
            <p:ph type="sldNum" sz="quarter" idx="20"/>
          </p:nvPr>
        </p:nvSpPr>
        <p:spPr/>
        <p:txBody>
          <a:bodyPr/>
          <a:lstStyle/>
          <a:p>
            <a:fld id="{930176A1-BCF0-4712-97A6-6B495F55390B}" type="slidenum">
              <a:rPr lang="en-US" smtClean="0"/>
              <a:pPr/>
              <a:t>5</a:t>
            </a:fld>
            <a:endParaRPr lang="en-US"/>
          </a:p>
        </p:txBody>
      </p:sp>
      <p:sp>
        <p:nvSpPr>
          <p:cNvPr id="2" name="Title 1">
            <a:extLst>
              <a:ext uri="{FF2B5EF4-FFF2-40B4-BE49-F238E27FC236}">
                <a16:creationId xmlns:a16="http://schemas.microsoft.com/office/drawing/2014/main" id="{55269B8D-1E59-40D5-A868-5455B90F68C3}"/>
              </a:ext>
            </a:extLst>
          </p:cNvPr>
          <p:cNvSpPr>
            <a:spLocks noGrp="1"/>
          </p:cNvSpPr>
          <p:nvPr>
            <p:ph type="title"/>
          </p:nvPr>
        </p:nvSpPr>
        <p:spPr/>
        <p:txBody>
          <a:bodyPr/>
          <a:lstStyle/>
          <a:p>
            <a:r>
              <a:rPr lang="en-US"/>
              <a:t>Architecture: designing and building</a:t>
            </a:r>
          </a:p>
        </p:txBody>
      </p:sp>
      <p:grpSp>
        <p:nvGrpSpPr>
          <p:cNvPr id="6" name="Group 5" descr="An image of an architect, a building crew (or delivery team), and the customer (decision maker).">
            <a:extLst>
              <a:ext uri="{FF2B5EF4-FFF2-40B4-BE49-F238E27FC236}">
                <a16:creationId xmlns:a16="http://schemas.microsoft.com/office/drawing/2014/main" id="{0E14DA35-5693-4FA0-982B-E8038F9F7FD0}"/>
              </a:ext>
              <a:ext uri="{C183D7F6-B498-43B3-948B-1728B52AA6E4}">
                <adec:decorative xmlns:adec="http://schemas.microsoft.com/office/drawing/2017/decorative" val="0"/>
              </a:ext>
            </a:extLst>
          </p:cNvPr>
          <p:cNvGrpSpPr/>
          <p:nvPr/>
        </p:nvGrpSpPr>
        <p:grpSpPr>
          <a:xfrm>
            <a:off x="410751" y="1548144"/>
            <a:ext cx="11265897" cy="4430954"/>
            <a:chOff x="410751" y="1548144"/>
            <a:chExt cx="11265897" cy="4430954"/>
          </a:xfrm>
        </p:grpSpPr>
        <p:grpSp>
          <p:nvGrpSpPr>
            <p:cNvPr id="62" name="Group 61">
              <a:extLst>
                <a:ext uri="{FF2B5EF4-FFF2-40B4-BE49-F238E27FC236}">
                  <a16:creationId xmlns:a16="http://schemas.microsoft.com/office/drawing/2014/main" id="{38B9F333-F099-4767-9D2F-6AE6A95E3037}"/>
                </a:ext>
                <a:ext uri="{C183D7F6-B498-43B3-948B-1728B52AA6E4}">
                  <adec:decorative xmlns:adec="http://schemas.microsoft.com/office/drawing/2017/decorative" val="1"/>
                </a:ext>
              </a:extLst>
            </p:cNvPr>
            <p:cNvGrpSpPr/>
            <p:nvPr/>
          </p:nvGrpSpPr>
          <p:grpSpPr>
            <a:xfrm>
              <a:off x="410751" y="1548144"/>
              <a:ext cx="3772712" cy="3152200"/>
              <a:chOff x="930442" y="1796716"/>
              <a:chExt cx="4876800" cy="4074695"/>
            </a:xfrm>
          </p:grpSpPr>
          <p:sp>
            <p:nvSpPr>
              <p:cNvPr id="3" name="Rectangle 2">
                <a:extLst>
                  <a:ext uri="{FF2B5EF4-FFF2-40B4-BE49-F238E27FC236}">
                    <a16:creationId xmlns:a16="http://schemas.microsoft.com/office/drawing/2014/main" id="{1FEC1431-33C2-4F42-ACB0-106B4238B03E}"/>
                  </a:ext>
                </a:extLst>
              </p:cNvPr>
              <p:cNvSpPr/>
              <p:nvPr/>
            </p:nvSpPr>
            <p:spPr>
              <a:xfrm>
                <a:off x="930442" y="1796716"/>
                <a:ext cx="4876800" cy="4074695"/>
              </a:xfrm>
              <a:prstGeom prst="rect">
                <a:avLst/>
              </a:prstGeom>
              <a:solidFill>
                <a:srgbClr val="2D75E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ED2E2A6-043F-4EC3-A876-28483F78074B}"/>
                  </a:ext>
                </a:extLst>
              </p:cNvPr>
              <p:cNvSpPr/>
              <p:nvPr/>
            </p:nvSpPr>
            <p:spPr>
              <a:xfrm>
                <a:off x="1626341" y="4459705"/>
                <a:ext cx="1277280" cy="1010653"/>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3E8F208-B276-4CBF-BC35-431E77BF5729}"/>
                  </a:ext>
                </a:extLst>
              </p:cNvPr>
              <p:cNvSpPr/>
              <p:nvPr/>
            </p:nvSpPr>
            <p:spPr>
              <a:xfrm>
                <a:off x="2165683" y="3449052"/>
                <a:ext cx="737937" cy="1010653"/>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C2A660B-11D5-4BD0-B3A8-7FCA641ECE0B}"/>
                  </a:ext>
                </a:extLst>
              </p:cNvPr>
              <p:cNvSpPr/>
              <p:nvPr/>
            </p:nvSpPr>
            <p:spPr>
              <a:xfrm>
                <a:off x="2165684" y="2438399"/>
                <a:ext cx="737937" cy="1010653"/>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536843D-1233-4CED-A1A9-40649766F4D7}"/>
                  </a:ext>
                </a:extLst>
              </p:cNvPr>
              <p:cNvSpPr/>
              <p:nvPr/>
            </p:nvSpPr>
            <p:spPr>
              <a:xfrm>
                <a:off x="2903621" y="2438401"/>
                <a:ext cx="737937" cy="1010653"/>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8B6E06F-D799-4DBB-B873-DC8F3C3CEEB1}"/>
                  </a:ext>
                </a:extLst>
              </p:cNvPr>
              <p:cNvSpPr/>
              <p:nvPr/>
            </p:nvSpPr>
            <p:spPr>
              <a:xfrm>
                <a:off x="3665621" y="2438398"/>
                <a:ext cx="737937" cy="1010653"/>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5C81100-7275-450D-96CF-B8F5D9EC14DE}"/>
                  </a:ext>
                </a:extLst>
              </p:cNvPr>
              <p:cNvSpPr/>
              <p:nvPr/>
            </p:nvSpPr>
            <p:spPr>
              <a:xfrm rot="5400000">
                <a:off x="3974431" y="2891590"/>
                <a:ext cx="2021304" cy="1114926"/>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D355311-665B-47B5-A6FF-EB384FCF9175}"/>
                  </a:ext>
                </a:extLst>
              </p:cNvPr>
              <p:cNvSpPr/>
              <p:nvPr/>
            </p:nvSpPr>
            <p:spPr>
              <a:xfrm>
                <a:off x="2895600" y="4459702"/>
                <a:ext cx="2646946" cy="1010653"/>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288E0A73-3321-4D7F-9FE4-280CDD00AD6E}"/>
                  </a:ext>
                </a:extLst>
              </p:cNvPr>
              <p:cNvCxnSpPr>
                <a:cxnSpLocks/>
              </p:cNvCxnSpPr>
              <p:nvPr/>
            </p:nvCxnSpPr>
            <p:spPr>
              <a:xfrm flipV="1">
                <a:off x="1467852" y="2438402"/>
                <a:ext cx="633663" cy="43714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52B5A4A-4CAC-47AF-8ECD-A5D536FF8673}"/>
                  </a:ext>
                </a:extLst>
              </p:cNvPr>
              <p:cNvCxnSpPr>
                <a:cxnSpLocks/>
              </p:cNvCxnSpPr>
              <p:nvPr/>
            </p:nvCxnSpPr>
            <p:spPr>
              <a:xfrm flipV="1">
                <a:off x="1467852" y="2730001"/>
                <a:ext cx="633663" cy="43714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D7D6622-FD61-4AAA-AD02-6FE6452C2AB8}"/>
                  </a:ext>
                </a:extLst>
              </p:cNvPr>
              <p:cNvCxnSpPr>
                <a:cxnSpLocks/>
              </p:cNvCxnSpPr>
              <p:nvPr/>
            </p:nvCxnSpPr>
            <p:spPr>
              <a:xfrm flipV="1">
                <a:off x="1467852" y="3021600"/>
                <a:ext cx="633663" cy="43714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57E9687-9EC9-41D4-A201-EA9757F80CD1}"/>
                  </a:ext>
                </a:extLst>
              </p:cNvPr>
              <p:cNvCxnSpPr>
                <a:cxnSpLocks/>
              </p:cNvCxnSpPr>
              <p:nvPr/>
            </p:nvCxnSpPr>
            <p:spPr>
              <a:xfrm flipV="1">
                <a:off x="1467852" y="3313199"/>
                <a:ext cx="633663" cy="43714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7FD2779-7A6F-4CA5-A966-F2A9FF2AA296}"/>
                  </a:ext>
                </a:extLst>
              </p:cNvPr>
              <p:cNvCxnSpPr>
                <a:cxnSpLocks/>
              </p:cNvCxnSpPr>
              <p:nvPr/>
            </p:nvCxnSpPr>
            <p:spPr>
              <a:xfrm flipV="1">
                <a:off x="1467852" y="3604798"/>
                <a:ext cx="633663" cy="43714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44EF688-FD84-45A3-B8BA-D79B8869824A}"/>
                  </a:ext>
                </a:extLst>
              </p:cNvPr>
              <p:cNvCxnSpPr>
                <a:cxnSpLocks/>
              </p:cNvCxnSpPr>
              <p:nvPr/>
            </p:nvCxnSpPr>
            <p:spPr>
              <a:xfrm flipV="1">
                <a:off x="1467852" y="3896395"/>
                <a:ext cx="633663" cy="43714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1947F857-4253-42E4-B6AF-84CAB4F5060C}"/>
                  </a:ext>
                </a:extLst>
              </p:cNvPr>
              <p:cNvGrpSpPr/>
              <p:nvPr/>
            </p:nvGrpSpPr>
            <p:grpSpPr>
              <a:xfrm rot="16200000">
                <a:off x="1076825" y="4766433"/>
                <a:ext cx="701842" cy="397189"/>
                <a:chOff x="8309811" y="3303429"/>
                <a:chExt cx="701842" cy="397189"/>
              </a:xfrm>
              <a:noFill/>
            </p:grpSpPr>
            <p:sp>
              <p:nvSpPr>
                <p:cNvPr id="38" name="Freeform: Shape 37">
                  <a:extLst>
                    <a:ext uri="{FF2B5EF4-FFF2-40B4-BE49-F238E27FC236}">
                      <a16:creationId xmlns:a16="http://schemas.microsoft.com/office/drawing/2014/main" id="{F2414E53-2A79-4CFF-A287-C0ACF66B2153}"/>
                    </a:ext>
                  </a:extLst>
                </p:cNvPr>
                <p:cNvSpPr/>
                <p:nvPr/>
              </p:nvSpPr>
              <p:spPr>
                <a:xfrm rot="10800000">
                  <a:off x="8671507" y="3303429"/>
                  <a:ext cx="340146" cy="397189"/>
                </a:xfrm>
                <a:custGeom>
                  <a:avLst/>
                  <a:gdLst>
                    <a:gd name="connsiteX0" fmla="*/ 0 w 465221"/>
                    <a:gd name="connsiteY0" fmla="*/ 0 h 543239"/>
                    <a:gd name="connsiteX1" fmla="*/ 463349 w 465221"/>
                    <a:gd name="connsiteY1" fmla="*/ 0 h 543239"/>
                    <a:gd name="connsiteX2" fmla="*/ 465221 w 465221"/>
                    <a:gd name="connsiteY2" fmla="*/ 21220 h 543239"/>
                    <a:gd name="connsiteX3" fmla="*/ 43322 w 465221"/>
                    <a:gd name="connsiteY3" fmla="*/ 538872 h 543239"/>
                    <a:gd name="connsiteX4" fmla="*/ 0 w 465221"/>
                    <a:gd name="connsiteY4" fmla="*/ 543239 h 543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221" h="543239">
                      <a:moveTo>
                        <a:pt x="0" y="0"/>
                      </a:moveTo>
                      <a:lnTo>
                        <a:pt x="463349" y="0"/>
                      </a:lnTo>
                      <a:lnTo>
                        <a:pt x="465221" y="21220"/>
                      </a:lnTo>
                      <a:cubicBezTo>
                        <a:pt x="465221" y="276563"/>
                        <a:pt x="284099" y="489602"/>
                        <a:pt x="43322" y="538872"/>
                      </a:cubicBezTo>
                      <a:lnTo>
                        <a:pt x="0" y="543239"/>
                      </a:ln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38">
                  <a:extLst>
                    <a:ext uri="{FF2B5EF4-FFF2-40B4-BE49-F238E27FC236}">
                      <a16:creationId xmlns:a16="http://schemas.microsoft.com/office/drawing/2014/main" id="{56DC23D2-92D4-4B52-B72D-3858BF97B5F2}"/>
                    </a:ext>
                  </a:extLst>
                </p:cNvPr>
                <p:cNvSpPr/>
                <p:nvPr/>
              </p:nvSpPr>
              <p:spPr>
                <a:xfrm rot="10800000" flipH="1">
                  <a:off x="8309811" y="3303429"/>
                  <a:ext cx="340146" cy="397189"/>
                </a:xfrm>
                <a:custGeom>
                  <a:avLst/>
                  <a:gdLst>
                    <a:gd name="connsiteX0" fmla="*/ 0 w 465221"/>
                    <a:gd name="connsiteY0" fmla="*/ 0 h 543239"/>
                    <a:gd name="connsiteX1" fmla="*/ 463349 w 465221"/>
                    <a:gd name="connsiteY1" fmla="*/ 0 h 543239"/>
                    <a:gd name="connsiteX2" fmla="*/ 465221 w 465221"/>
                    <a:gd name="connsiteY2" fmla="*/ 21220 h 543239"/>
                    <a:gd name="connsiteX3" fmla="*/ 43322 w 465221"/>
                    <a:gd name="connsiteY3" fmla="*/ 538872 h 543239"/>
                    <a:gd name="connsiteX4" fmla="*/ 0 w 465221"/>
                    <a:gd name="connsiteY4" fmla="*/ 543239 h 543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221" h="543239">
                      <a:moveTo>
                        <a:pt x="0" y="0"/>
                      </a:moveTo>
                      <a:lnTo>
                        <a:pt x="463349" y="0"/>
                      </a:lnTo>
                      <a:lnTo>
                        <a:pt x="465221" y="21220"/>
                      </a:lnTo>
                      <a:cubicBezTo>
                        <a:pt x="465221" y="276563"/>
                        <a:pt x="284099" y="489602"/>
                        <a:pt x="43322" y="538872"/>
                      </a:cubicBezTo>
                      <a:lnTo>
                        <a:pt x="0" y="543239"/>
                      </a:ln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 name="Freeform: Shape 41">
                <a:extLst>
                  <a:ext uri="{FF2B5EF4-FFF2-40B4-BE49-F238E27FC236}">
                    <a16:creationId xmlns:a16="http://schemas.microsoft.com/office/drawing/2014/main" id="{75841223-DD34-4995-A161-1F05C1457812}"/>
                  </a:ext>
                </a:extLst>
              </p:cNvPr>
              <p:cNvSpPr/>
              <p:nvPr/>
            </p:nvSpPr>
            <p:spPr>
              <a:xfrm rot="10800000">
                <a:off x="2428746" y="3032019"/>
                <a:ext cx="340146" cy="397189"/>
              </a:xfrm>
              <a:custGeom>
                <a:avLst/>
                <a:gdLst>
                  <a:gd name="connsiteX0" fmla="*/ 0 w 465221"/>
                  <a:gd name="connsiteY0" fmla="*/ 0 h 543239"/>
                  <a:gd name="connsiteX1" fmla="*/ 463349 w 465221"/>
                  <a:gd name="connsiteY1" fmla="*/ 0 h 543239"/>
                  <a:gd name="connsiteX2" fmla="*/ 465221 w 465221"/>
                  <a:gd name="connsiteY2" fmla="*/ 21220 h 543239"/>
                  <a:gd name="connsiteX3" fmla="*/ 43322 w 465221"/>
                  <a:gd name="connsiteY3" fmla="*/ 538872 h 543239"/>
                  <a:gd name="connsiteX4" fmla="*/ 0 w 465221"/>
                  <a:gd name="connsiteY4" fmla="*/ 543239 h 543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221" h="543239">
                    <a:moveTo>
                      <a:pt x="0" y="0"/>
                    </a:moveTo>
                    <a:lnTo>
                      <a:pt x="463349" y="0"/>
                    </a:lnTo>
                    <a:lnTo>
                      <a:pt x="465221" y="21220"/>
                    </a:lnTo>
                    <a:cubicBezTo>
                      <a:pt x="465221" y="276563"/>
                      <a:pt x="284099" y="489602"/>
                      <a:pt x="43322" y="538872"/>
                    </a:cubicBezTo>
                    <a:lnTo>
                      <a:pt x="0" y="543239"/>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605BF5B-B342-4A61-9AB3-3A963F68D045}"/>
                  </a:ext>
                </a:extLst>
              </p:cNvPr>
              <p:cNvSpPr/>
              <p:nvPr/>
            </p:nvSpPr>
            <p:spPr>
              <a:xfrm>
                <a:off x="4427620" y="2438402"/>
                <a:ext cx="737937" cy="291599"/>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2A048202-9970-4EEA-A8EF-B479281BB600}"/>
                  </a:ext>
                </a:extLst>
              </p:cNvPr>
              <p:cNvSpPr/>
              <p:nvPr/>
            </p:nvSpPr>
            <p:spPr>
              <a:xfrm>
                <a:off x="2861582" y="4614106"/>
                <a:ext cx="91440" cy="755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FEF1EB64-FA58-401C-B290-1079AF357DE6}"/>
                  </a:ext>
                </a:extLst>
              </p:cNvPr>
              <p:cNvSpPr/>
              <p:nvPr/>
            </p:nvSpPr>
            <p:spPr>
              <a:xfrm>
                <a:off x="5478521" y="3514017"/>
                <a:ext cx="91440" cy="755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7091250A-7FF3-4E4B-905E-3292E0F7ACB9}"/>
                  </a:ext>
                </a:extLst>
              </p:cNvPr>
              <p:cNvSpPr/>
              <p:nvPr/>
            </p:nvSpPr>
            <p:spPr>
              <a:xfrm>
                <a:off x="5478521" y="2655767"/>
                <a:ext cx="91440" cy="755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71EFD9EC-6E44-4431-B2DA-C60ADBDDC53B}"/>
                  </a:ext>
                </a:extLst>
              </p:cNvPr>
              <p:cNvSpPr/>
              <p:nvPr/>
            </p:nvSpPr>
            <p:spPr>
              <a:xfrm>
                <a:off x="5478521" y="4636968"/>
                <a:ext cx="91440" cy="755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81067E3-BDBF-45F0-AAC3-71C0087E7F9B}"/>
                  </a:ext>
                </a:extLst>
              </p:cNvPr>
              <p:cNvSpPr/>
              <p:nvPr/>
            </p:nvSpPr>
            <p:spPr>
              <a:xfrm>
                <a:off x="2117702" y="3554123"/>
                <a:ext cx="91440" cy="755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6A811AC1-5108-4091-B5B6-8B67DDE16AF5}"/>
                  </a:ext>
                </a:extLst>
              </p:cNvPr>
              <p:cNvSpPr/>
              <p:nvPr/>
            </p:nvSpPr>
            <p:spPr>
              <a:xfrm>
                <a:off x="2117702" y="2599621"/>
                <a:ext cx="91440" cy="755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34CAFB0E-75AC-431B-9213-3B34D77A4F15}"/>
                  </a:ext>
                </a:extLst>
              </p:cNvPr>
              <p:cNvSpPr/>
              <p:nvPr/>
            </p:nvSpPr>
            <p:spPr>
              <a:xfrm rot="16200000">
                <a:off x="3997754" y="2227529"/>
                <a:ext cx="9144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9D576024-1A36-44BC-B2FF-64321F6B6F46}"/>
                  </a:ext>
                </a:extLst>
              </p:cNvPr>
              <p:cNvSpPr/>
              <p:nvPr/>
            </p:nvSpPr>
            <p:spPr>
              <a:xfrm rot="16200000">
                <a:off x="3636006" y="4915385"/>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FD36BC6B-9899-41CD-9AA8-B05FD78BC718}"/>
                  </a:ext>
                </a:extLst>
              </p:cNvPr>
              <p:cNvSpPr/>
              <p:nvPr/>
            </p:nvSpPr>
            <p:spPr>
              <a:xfrm>
                <a:off x="4403558" y="5145875"/>
                <a:ext cx="1047548" cy="2724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3DDB4D7C-0BA6-4A9F-9D5A-AA33DD5F1434}"/>
                  </a:ext>
                </a:extLst>
              </p:cNvPr>
              <p:cNvSpPr/>
              <p:nvPr/>
            </p:nvSpPr>
            <p:spPr>
              <a:xfrm>
                <a:off x="3601596" y="2623685"/>
                <a:ext cx="9144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Shape 57">
                <a:extLst>
                  <a:ext uri="{FF2B5EF4-FFF2-40B4-BE49-F238E27FC236}">
                    <a16:creationId xmlns:a16="http://schemas.microsoft.com/office/drawing/2014/main" id="{6C04D3B3-0891-49F6-A894-97D1442AC606}"/>
                  </a:ext>
                </a:extLst>
              </p:cNvPr>
              <p:cNvSpPr/>
              <p:nvPr/>
            </p:nvSpPr>
            <p:spPr>
              <a:xfrm rot="10800000">
                <a:off x="3126574" y="3032019"/>
                <a:ext cx="340146" cy="397189"/>
              </a:xfrm>
              <a:custGeom>
                <a:avLst/>
                <a:gdLst>
                  <a:gd name="connsiteX0" fmla="*/ 0 w 465221"/>
                  <a:gd name="connsiteY0" fmla="*/ 0 h 543239"/>
                  <a:gd name="connsiteX1" fmla="*/ 463349 w 465221"/>
                  <a:gd name="connsiteY1" fmla="*/ 0 h 543239"/>
                  <a:gd name="connsiteX2" fmla="*/ 465221 w 465221"/>
                  <a:gd name="connsiteY2" fmla="*/ 21220 h 543239"/>
                  <a:gd name="connsiteX3" fmla="*/ 43322 w 465221"/>
                  <a:gd name="connsiteY3" fmla="*/ 538872 h 543239"/>
                  <a:gd name="connsiteX4" fmla="*/ 0 w 465221"/>
                  <a:gd name="connsiteY4" fmla="*/ 543239 h 543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221" h="543239">
                    <a:moveTo>
                      <a:pt x="0" y="0"/>
                    </a:moveTo>
                    <a:lnTo>
                      <a:pt x="463349" y="0"/>
                    </a:lnTo>
                    <a:lnTo>
                      <a:pt x="465221" y="21220"/>
                    </a:lnTo>
                    <a:cubicBezTo>
                      <a:pt x="465221" y="276563"/>
                      <a:pt x="284099" y="489602"/>
                      <a:pt x="43322" y="538872"/>
                    </a:cubicBezTo>
                    <a:lnTo>
                      <a:pt x="0" y="543239"/>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19CD832F-9125-4F33-AAF4-2BE7E0870565}"/>
                  </a:ext>
                </a:extLst>
              </p:cNvPr>
              <p:cNvSpPr/>
              <p:nvPr/>
            </p:nvSpPr>
            <p:spPr>
              <a:xfrm>
                <a:off x="2855642" y="3690483"/>
                <a:ext cx="9144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C44FB1AE-30CA-4E00-8702-996224545CC0}"/>
                  </a:ext>
                </a:extLst>
              </p:cNvPr>
              <p:cNvSpPr/>
              <p:nvPr/>
            </p:nvSpPr>
            <p:spPr>
              <a:xfrm>
                <a:off x="4387661" y="3610271"/>
                <a:ext cx="91440" cy="755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B6878BC1-0B26-4565-A14E-53C09ED70EFF}"/>
                  </a:ext>
                </a:extLst>
              </p:cNvPr>
              <p:cNvSpPr/>
              <p:nvPr/>
            </p:nvSpPr>
            <p:spPr>
              <a:xfrm rot="16200000">
                <a:off x="3595902" y="3912756"/>
                <a:ext cx="91440" cy="109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TextBox 74">
              <a:extLst>
                <a:ext uri="{FF2B5EF4-FFF2-40B4-BE49-F238E27FC236}">
                  <a16:creationId xmlns:a16="http://schemas.microsoft.com/office/drawing/2014/main" id="{8EE3F303-D3EB-460B-B9D3-1EF6EA37FC82}"/>
                </a:ext>
              </a:extLst>
            </p:cNvPr>
            <p:cNvSpPr txBox="1"/>
            <p:nvPr/>
          </p:nvSpPr>
          <p:spPr>
            <a:xfrm>
              <a:off x="860910" y="4957077"/>
              <a:ext cx="2760692" cy="523220"/>
            </a:xfrm>
            <a:prstGeom prst="rect">
              <a:avLst/>
            </a:prstGeom>
            <a:noFill/>
          </p:spPr>
          <p:txBody>
            <a:bodyPr wrap="none" rtlCol="0">
              <a:spAutoFit/>
            </a:body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Structure design</a:t>
              </a:r>
            </a:p>
          </p:txBody>
        </p:sp>
        <p:sp>
          <p:nvSpPr>
            <p:cNvPr id="76" name="TextBox 75">
              <a:extLst>
                <a:ext uri="{FF2B5EF4-FFF2-40B4-BE49-F238E27FC236}">
                  <a16:creationId xmlns:a16="http://schemas.microsoft.com/office/drawing/2014/main" id="{09073CAF-36CB-4EC1-9484-40E914C451B9}"/>
                </a:ext>
              </a:extLst>
            </p:cNvPr>
            <p:cNvSpPr txBox="1"/>
            <p:nvPr/>
          </p:nvSpPr>
          <p:spPr>
            <a:xfrm>
              <a:off x="7821597" y="4957077"/>
              <a:ext cx="3416320" cy="523220"/>
            </a:xfrm>
            <a:prstGeom prst="rect">
              <a:avLst/>
            </a:prstGeom>
            <a:noFill/>
          </p:spPr>
          <p:txBody>
            <a:bodyPr wrap="none" rtlCol="0">
              <a:spAutoFit/>
            </a:body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Completed structure</a:t>
              </a:r>
            </a:p>
          </p:txBody>
        </p:sp>
        <p:grpSp>
          <p:nvGrpSpPr>
            <p:cNvPr id="81" name="Group 80">
              <a:extLst>
                <a:ext uri="{FF2B5EF4-FFF2-40B4-BE49-F238E27FC236}">
                  <a16:creationId xmlns:a16="http://schemas.microsoft.com/office/drawing/2014/main" id="{0BF0BC84-6792-4486-B617-4E7649B66A29}"/>
                </a:ext>
                <a:ext uri="{C183D7F6-B498-43B3-948B-1728B52AA6E4}">
                  <adec:decorative xmlns:adec="http://schemas.microsoft.com/office/drawing/2017/decorative" val="1"/>
                </a:ext>
              </a:extLst>
            </p:cNvPr>
            <p:cNvGrpSpPr/>
            <p:nvPr/>
          </p:nvGrpSpPr>
          <p:grpSpPr>
            <a:xfrm>
              <a:off x="6999233" y="1548144"/>
              <a:ext cx="4677415" cy="3112186"/>
              <a:chOff x="7095485" y="2302119"/>
              <a:chExt cx="4677415" cy="3112186"/>
            </a:xfrm>
          </p:grpSpPr>
          <p:sp>
            <p:nvSpPr>
              <p:cNvPr id="63" name="Rectangle 62">
                <a:extLst>
                  <a:ext uri="{FF2B5EF4-FFF2-40B4-BE49-F238E27FC236}">
                    <a16:creationId xmlns:a16="http://schemas.microsoft.com/office/drawing/2014/main" id="{3B44DBE9-81D9-4AA3-A189-D1AC90F3A7BA}"/>
                  </a:ext>
                </a:extLst>
              </p:cNvPr>
              <p:cNvSpPr/>
              <p:nvPr/>
            </p:nvSpPr>
            <p:spPr>
              <a:xfrm>
                <a:off x="7645812" y="2939359"/>
                <a:ext cx="3960395" cy="233056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rapezoid 72">
                <a:extLst>
                  <a:ext uri="{FF2B5EF4-FFF2-40B4-BE49-F238E27FC236}">
                    <a16:creationId xmlns:a16="http://schemas.microsoft.com/office/drawing/2014/main" id="{2CC6AD6C-764B-4205-AB9A-81C0310393A8}"/>
                  </a:ext>
                </a:extLst>
              </p:cNvPr>
              <p:cNvSpPr/>
              <p:nvPr/>
            </p:nvSpPr>
            <p:spPr>
              <a:xfrm>
                <a:off x="7523747" y="2526632"/>
                <a:ext cx="4249153" cy="599652"/>
              </a:xfrm>
              <a:prstGeom prst="trapezoid">
                <a:avLst/>
              </a:prstGeom>
              <a:pattFill prst="dkHorz">
                <a:fgClr>
                  <a:schemeClr val="tx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B5802CBC-D303-46B8-9D33-0CAED7ECE46C}"/>
                  </a:ext>
                </a:extLst>
              </p:cNvPr>
              <p:cNvSpPr/>
              <p:nvPr/>
            </p:nvSpPr>
            <p:spPr>
              <a:xfrm>
                <a:off x="8837185" y="3831120"/>
                <a:ext cx="1232373" cy="70604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A0693981-E31B-4D75-AE12-412CA1C27028}"/>
                  </a:ext>
                </a:extLst>
              </p:cNvPr>
              <p:cNvCxnSpPr>
                <a:stCxn id="64" idx="0"/>
                <a:endCxn id="64" idx="2"/>
              </p:cNvCxnSpPr>
              <p:nvPr/>
            </p:nvCxnSpPr>
            <p:spPr>
              <a:xfrm>
                <a:off x="9453372" y="3831120"/>
                <a:ext cx="0" cy="706041"/>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9EE85EB-293E-4D4E-AAA3-4F0D8921071E}"/>
                  </a:ext>
                </a:extLst>
              </p:cNvPr>
              <p:cNvCxnSpPr>
                <a:stCxn id="64" idx="1"/>
                <a:endCxn id="64" idx="3"/>
              </p:cNvCxnSpPr>
              <p:nvPr/>
            </p:nvCxnSpPr>
            <p:spPr>
              <a:xfrm>
                <a:off x="8837185" y="4184141"/>
                <a:ext cx="1232373" cy="0"/>
              </a:xfrm>
              <a:prstGeom prst="line">
                <a:avLst/>
              </a:prstGeom>
            </p:spPr>
            <p:style>
              <a:lnRef idx="1">
                <a:schemeClr val="accent1"/>
              </a:lnRef>
              <a:fillRef idx="0">
                <a:schemeClr val="accent1"/>
              </a:fillRef>
              <a:effectRef idx="0">
                <a:schemeClr val="accent1"/>
              </a:effectRef>
              <a:fontRef idx="minor">
                <a:schemeClr val="tx1"/>
              </a:fontRef>
            </p:style>
          </p:cxnSp>
          <p:sp>
            <p:nvSpPr>
              <p:cNvPr id="69" name="Right Triangle 68">
                <a:extLst>
                  <a:ext uri="{FF2B5EF4-FFF2-40B4-BE49-F238E27FC236}">
                    <a16:creationId xmlns:a16="http://schemas.microsoft.com/office/drawing/2014/main" id="{6E6012A7-0055-4406-A06E-19DFCA8C1DBD}"/>
                  </a:ext>
                </a:extLst>
              </p:cNvPr>
              <p:cNvSpPr/>
              <p:nvPr/>
            </p:nvSpPr>
            <p:spPr>
              <a:xfrm flipH="1">
                <a:off x="7095485" y="3571051"/>
                <a:ext cx="550327" cy="706041"/>
              </a:xfrm>
              <a:prstGeom prst="rtTriangle">
                <a:avLst/>
              </a:prstGeom>
              <a:pattFill prst="dkHorz">
                <a:fgClr>
                  <a:srgbClr val="36C2B3"/>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375EA0D7-BC5A-491E-A067-0138B297053F}"/>
                  </a:ext>
                </a:extLst>
              </p:cNvPr>
              <p:cNvSpPr/>
              <p:nvPr/>
            </p:nvSpPr>
            <p:spPr>
              <a:xfrm>
                <a:off x="10363200" y="3479303"/>
                <a:ext cx="1010652" cy="1790618"/>
              </a:xfrm>
              <a:prstGeom prst="rect">
                <a:avLst/>
              </a:prstGeom>
              <a:pattFill prst="horzBrick">
                <a:fgClr>
                  <a:srgbClr val="FF0000"/>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56AED18C-DE6D-4EFB-8322-A30704EB8EAC}"/>
                  </a:ext>
                </a:extLst>
              </p:cNvPr>
              <p:cNvSpPr/>
              <p:nvPr/>
            </p:nvSpPr>
            <p:spPr>
              <a:xfrm>
                <a:off x="10595092" y="2302119"/>
                <a:ext cx="546867" cy="1188720"/>
              </a:xfrm>
              <a:prstGeom prst="rect">
                <a:avLst/>
              </a:prstGeom>
              <a:pattFill prst="horzBrick">
                <a:fgClr>
                  <a:srgbClr val="FF0000"/>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0" name="Group 79">
                <a:extLst>
                  <a:ext uri="{FF2B5EF4-FFF2-40B4-BE49-F238E27FC236}">
                    <a16:creationId xmlns:a16="http://schemas.microsoft.com/office/drawing/2014/main" id="{3F9FA958-37E1-4425-9599-39A43DE58000}"/>
                  </a:ext>
                </a:extLst>
              </p:cNvPr>
              <p:cNvGrpSpPr/>
              <p:nvPr/>
            </p:nvGrpSpPr>
            <p:grpSpPr>
              <a:xfrm>
                <a:off x="7562651" y="3178367"/>
                <a:ext cx="1386606" cy="2235938"/>
                <a:chOff x="7562651" y="3178367"/>
                <a:chExt cx="1386606" cy="2235938"/>
              </a:xfrm>
            </p:grpSpPr>
            <p:sp>
              <p:nvSpPr>
                <p:cNvPr id="79" name="Rectangle: Single Corner Rounded 78">
                  <a:extLst>
                    <a:ext uri="{FF2B5EF4-FFF2-40B4-BE49-F238E27FC236}">
                      <a16:creationId xmlns:a16="http://schemas.microsoft.com/office/drawing/2014/main" id="{778B5C14-C60D-4521-8B0F-4C190BC6F70B}"/>
                    </a:ext>
                  </a:extLst>
                </p:cNvPr>
                <p:cNvSpPr/>
                <p:nvPr/>
              </p:nvSpPr>
              <p:spPr>
                <a:xfrm>
                  <a:off x="8165908" y="4093301"/>
                  <a:ext cx="182880" cy="1321004"/>
                </a:xfrm>
                <a:prstGeom prst="round1Rect">
                  <a:avLst/>
                </a:prstGeom>
                <a:solidFill>
                  <a:srgbClr val="9966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Cloud 77">
                  <a:extLst>
                    <a:ext uri="{FF2B5EF4-FFF2-40B4-BE49-F238E27FC236}">
                      <a16:creationId xmlns:a16="http://schemas.microsoft.com/office/drawing/2014/main" id="{AD5A3C89-7B5A-4AFB-853D-CD38242EE227}"/>
                    </a:ext>
                  </a:extLst>
                </p:cNvPr>
                <p:cNvSpPr/>
                <p:nvPr/>
              </p:nvSpPr>
              <p:spPr>
                <a:xfrm>
                  <a:off x="7562651" y="3178367"/>
                  <a:ext cx="1386606" cy="1188720"/>
                </a:xfrm>
                <a:prstGeom prst="cloud">
                  <a:avLst/>
                </a:prstGeom>
                <a:solidFill>
                  <a:srgbClr val="16966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93" name="Group 92">
              <a:extLst>
                <a:ext uri="{FF2B5EF4-FFF2-40B4-BE49-F238E27FC236}">
                  <a16:creationId xmlns:a16="http://schemas.microsoft.com/office/drawing/2014/main" id="{B6ED6AD3-E884-4269-8F5A-786BFB95E89E}"/>
                </a:ext>
                <a:ext uri="{C183D7F6-B498-43B3-948B-1728B52AA6E4}">
                  <adec:decorative xmlns:adec="http://schemas.microsoft.com/office/drawing/2017/decorative" val="1"/>
                </a:ext>
              </a:extLst>
            </p:cNvPr>
            <p:cNvGrpSpPr/>
            <p:nvPr/>
          </p:nvGrpSpPr>
          <p:grpSpPr>
            <a:xfrm>
              <a:off x="5017948" y="3285786"/>
              <a:ext cx="984565" cy="1523634"/>
              <a:chOff x="5260736" y="4184386"/>
              <a:chExt cx="984565" cy="1523634"/>
            </a:xfrm>
          </p:grpSpPr>
          <p:pic>
            <p:nvPicPr>
              <p:cNvPr id="83" name="Graphic 82">
                <a:extLst>
                  <a:ext uri="{FF2B5EF4-FFF2-40B4-BE49-F238E27FC236}">
                    <a16:creationId xmlns:a16="http://schemas.microsoft.com/office/drawing/2014/main" id="{9F118673-D011-4470-802D-7B430D32A38A}"/>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99998" y="4601704"/>
                <a:ext cx="706041" cy="706041"/>
              </a:xfrm>
              <a:prstGeom prst="rect">
                <a:avLst/>
              </a:prstGeom>
            </p:spPr>
          </p:pic>
          <p:pic>
            <p:nvPicPr>
              <p:cNvPr id="84" name="Graphic 83">
                <a:extLst>
                  <a:ext uri="{FF2B5EF4-FFF2-40B4-BE49-F238E27FC236}">
                    <a16:creationId xmlns:a16="http://schemas.microsoft.com/office/drawing/2014/main" id="{2A2CFDC9-F9EB-4074-B29F-DAABE87F378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401909" y="4184386"/>
                <a:ext cx="640080" cy="640080"/>
              </a:xfrm>
              <a:prstGeom prst="rect">
                <a:avLst/>
              </a:prstGeom>
            </p:spPr>
          </p:pic>
          <p:sp>
            <p:nvSpPr>
              <p:cNvPr id="86" name="TextBox 85">
                <a:extLst>
                  <a:ext uri="{FF2B5EF4-FFF2-40B4-BE49-F238E27FC236}">
                    <a16:creationId xmlns:a16="http://schemas.microsoft.com/office/drawing/2014/main" id="{DC762326-6DCB-492C-84B8-69CB7E2318C2}"/>
                  </a:ext>
                </a:extLst>
              </p:cNvPr>
              <p:cNvSpPr txBox="1"/>
              <p:nvPr/>
            </p:nvSpPr>
            <p:spPr>
              <a:xfrm>
                <a:off x="5260736" y="5369466"/>
                <a:ext cx="984565" cy="338554"/>
              </a:xfrm>
              <a:prstGeom prst="rect">
                <a:avLst/>
              </a:prstGeom>
              <a:noFill/>
            </p:spPr>
            <p:txBody>
              <a:bodyPr wrap="squar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Architect</a:t>
                </a:r>
              </a:p>
            </p:txBody>
          </p:sp>
        </p:grpSp>
        <p:pic>
          <p:nvPicPr>
            <p:cNvPr id="88" name="Graphic 87">
              <a:extLst>
                <a:ext uri="{FF2B5EF4-FFF2-40B4-BE49-F238E27FC236}">
                  <a16:creationId xmlns:a16="http://schemas.microsoft.com/office/drawing/2014/main" id="{56FF407F-F173-46D6-A938-35CCA0C148B8}"/>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6008992" y="3952616"/>
              <a:ext cx="1483697" cy="1441707"/>
            </a:xfrm>
            <a:prstGeom prst="rect">
              <a:avLst/>
            </a:prstGeom>
          </p:spPr>
        </p:pic>
        <p:pic>
          <p:nvPicPr>
            <p:cNvPr id="89" name="Graphic 88">
              <a:extLst>
                <a:ext uri="{FF2B5EF4-FFF2-40B4-BE49-F238E27FC236}">
                  <a16:creationId xmlns:a16="http://schemas.microsoft.com/office/drawing/2014/main" id="{B4BB8963-E212-4EDF-B36E-9FD88EB66224}"/>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62109" y="3573425"/>
              <a:ext cx="650364" cy="650364"/>
            </a:xfrm>
            <a:prstGeom prst="rect">
              <a:avLst/>
            </a:prstGeom>
          </p:spPr>
        </p:pic>
        <p:pic>
          <p:nvPicPr>
            <p:cNvPr id="90" name="Graphic 89">
              <a:extLst>
                <a:ext uri="{FF2B5EF4-FFF2-40B4-BE49-F238E27FC236}">
                  <a16:creationId xmlns:a16="http://schemas.microsoft.com/office/drawing/2014/main" id="{E03121A8-8901-4A05-B545-9A55879591B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27007" y="3535764"/>
              <a:ext cx="650364" cy="650364"/>
            </a:xfrm>
            <a:prstGeom prst="rect">
              <a:avLst/>
            </a:prstGeom>
          </p:spPr>
        </p:pic>
        <p:pic>
          <p:nvPicPr>
            <p:cNvPr id="91" name="Graphic 90">
              <a:extLst>
                <a:ext uri="{FF2B5EF4-FFF2-40B4-BE49-F238E27FC236}">
                  <a16:creationId xmlns:a16="http://schemas.microsoft.com/office/drawing/2014/main" id="{989EA696-5C90-4CAE-987E-576247E657A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05048" y="4061919"/>
              <a:ext cx="650364" cy="650364"/>
            </a:xfrm>
            <a:prstGeom prst="rect">
              <a:avLst/>
            </a:prstGeom>
          </p:spPr>
        </p:pic>
        <p:sp>
          <p:nvSpPr>
            <p:cNvPr id="97" name="TextBox 96">
              <a:extLst>
                <a:ext uri="{FF2B5EF4-FFF2-40B4-BE49-F238E27FC236}">
                  <a16:creationId xmlns:a16="http://schemas.microsoft.com/office/drawing/2014/main" id="{080BB30D-9F6D-442D-8316-69BBC5A939AB}"/>
                </a:ext>
              </a:extLst>
            </p:cNvPr>
            <p:cNvSpPr txBox="1"/>
            <p:nvPr/>
          </p:nvSpPr>
          <p:spPr>
            <a:xfrm>
              <a:off x="5986048" y="5394323"/>
              <a:ext cx="1529585" cy="584775"/>
            </a:xfrm>
            <a:prstGeom prst="rect">
              <a:avLst/>
            </a:prstGeom>
            <a:noFill/>
          </p:spPr>
          <p:txBody>
            <a:bodyPr wrap="non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Building crew</a:t>
              </a:r>
              <a:br>
                <a:rPr lang="en-US" sz="160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a:latin typeface="Amazon Ember Light" panose="020B0403020204020204" pitchFamily="34" charset="0"/>
                  <a:ea typeface="Amazon Ember Light" panose="020B0403020204020204" pitchFamily="34" charset="0"/>
                  <a:cs typeface="Amazon Ember Light" panose="020B0403020204020204" pitchFamily="34" charset="0"/>
                </a:rPr>
                <a:t>(Delivery team)</a:t>
              </a:r>
            </a:p>
          </p:txBody>
        </p:sp>
        <p:grpSp>
          <p:nvGrpSpPr>
            <p:cNvPr id="99" name="Group 98">
              <a:extLst>
                <a:ext uri="{FF2B5EF4-FFF2-40B4-BE49-F238E27FC236}">
                  <a16:creationId xmlns:a16="http://schemas.microsoft.com/office/drawing/2014/main" id="{D2D65F02-E16E-40BD-88ED-2CD05C33AFFF}"/>
                </a:ext>
              </a:extLst>
            </p:cNvPr>
            <p:cNvGrpSpPr/>
            <p:nvPr/>
          </p:nvGrpSpPr>
          <p:grpSpPr>
            <a:xfrm>
              <a:off x="3818388" y="4186283"/>
              <a:ext cx="1657825" cy="1314585"/>
              <a:chOff x="3818388" y="4186283"/>
              <a:chExt cx="1657825" cy="1314585"/>
            </a:xfrm>
          </p:grpSpPr>
          <p:pic>
            <p:nvPicPr>
              <p:cNvPr id="85" name="Graphic 84">
                <a:extLst>
                  <a:ext uri="{FF2B5EF4-FFF2-40B4-BE49-F238E27FC236}">
                    <a16:creationId xmlns:a16="http://schemas.microsoft.com/office/drawing/2014/main" id="{7777EA26-7105-4A9E-80AD-F993BB6FC36D}"/>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294280" y="4186283"/>
                <a:ext cx="706041" cy="706041"/>
              </a:xfrm>
              <a:prstGeom prst="rect">
                <a:avLst/>
              </a:prstGeom>
            </p:spPr>
          </p:pic>
          <p:sp>
            <p:nvSpPr>
              <p:cNvPr id="98" name="TextBox 97">
                <a:extLst>
                  <a:ext uri="{FF2B5EF4-FFF2-40B4-BE49-F238E27FC236}">
                    <a16:creationId xmlns:a16="http://schemas.microsoft.com/office/drawing/2014/main" id="{9858D8AA-61BF-4E1D-AD03-371A7F5081BD}"/>
                  </a:ext>
                </a:extLst>
              </p:cNvPr>
              <p:cNvSpPr txBox="1"/>
              <p:nvPr/>
            </p:nvSpPr>
            <p:spPr>
              <a:xfrm>
                <a:off x="3818388" y="4916093"/>
                <a:ext cx="1657825" cy="584775"/>
              </a:xfrm>
              <a:prstGeom prst="rect">
                <a:avLst/>
              </a:prstGeom>
              <a:noFill/>
            </p:spPr>
            <p:txBody>
              <a:bodyPr wrap="non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Customer</a:t>
                </a:r>
                <a:br>
                  <a:rPr lang="en-US" sz="160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a:latin typeface="Amazon Ember Light" panose="020B0403020204020204" pitchFamily="34" charset="0"/>
                    <a:ea typeface="Amazon Ember Light" panose="020B0403020204020204" pitchFamily="34" charset="0"/>
                    <a:cs typeface="Amazon Ember Light" panose="020B0403020204020204" pitchFamily="34" charset="0"/>
                  </a:rPr>
                  <a:t>(Decision maker)</a:t>
                </a:r>
              </a:p>
            </p:txBody>
          </p:sp>
        </p:grpSp>
      </p:grpSp>
    </p:spTree>
    <p:custDataLst>
      <p:tags r:id="rId1"/>
    </p:custDataLst>
    <p:extLst>
      <p:ext uri="{BB962C8B-B14F-4D97-AF65-F5344CB8AC3E}">
        <p14:creationId xmlns:p14="http://schemas.microsoft.com/office/powerpoint/2010/main" val="2667937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9AFBF15-17A5-9B44-780D-9EAA41D6459E}"/>
              </a:ext>
            </a:extLst>
          </p:cNvPr>
          <p:cNvSpPr>
            <a:spLocks noGrp="1"/>
          </p:cNvSpPr>
          <p:nvPr>
            <p:ph type="sldNum" sz="quarter" idx="20"/>
          </p:nvPr>
        </p:nvSpPr>
        <p:spPr/>
        <p:txBody>
          <a:bodyPr/>
          <a:lstStyle/>
          <a:p>
            <a:fld id="{930176A1-BCF0-4712-97A6-6B495F55390B}" type="slidenum">
              <a:rPr lang="en-US" smtClean="0"/>
              <a:pPr/>
              <a:t>6</a:t>
            </a:fld>
            <a:endParaRPr lang="en-US" dirty="0"/>
          </a:p>
        </p:txBody>
      </p:sp>
      <p:sp>
        <p:nvSpPr>
          <p:cNvPr id="2" name="Title 1"/>
          <p:cNvSpPr>
            <a:spLocks noGrp="1"/>
          </p:cNvSpPr>
          <p:nvPr>
            <p:ph type="title"/>
          </p:nvPr>
        </p:nvSpPr>
        <p:spPr/>
        <p:txBody>
          <a:bodyPr/>
          <a:lstStyle/>
          <a:p>
            <a:r>
              <a:rPr lang="en-US"/>
              <a:t>What is the AWS Well-Architected Framework?</a:t>
            </a:r>
          </a:p>
        </p:txBody>
      </p:sp>
      <p:sp>
        <p:nvSpPr>
          <p:cNvPr id="11" name="Content Placeholder 10"/>
          <p:cNvSpPr>
            <a:spLocks noGrp="1"/>
          </p:cNvSpPr>
          <p:nvPr>
            <p:ph sz="quarter" idx="21"/>
          </p:nvPr>
        </p:nvSpPr>
        <p:spPr/>
        <p:txBody>
          <a:bodyPr>
            <a:noAutofit/>
          </a:bodyPr>
          <a:lstStyle/>
          <a:p>
            <a:r>
              <a:rPr lang="en-US"/>
              <a:t>A guide for designing infrastructures that are:</a:t>
            </a:r>
          </a:p>
          <a:p>
            <a:pPr lvl="1">
              <a:buFont typeface="Wingdings" panose="05000000000000000000" pitchFamily="2" charset="2"/>
              <a:buChar char="ü"/>
            </a:pPr>
            <a:r>
              <a:rPr lang="en-US">
                <a:solidFill>
                  <a:srgbClr val="000000"/>
                </a:solidFill>
              </a:rPr>
              <a:t>Secure</a:t>
            </a:r>
            <a:endParaRPr lang="en-US">
              <a:solidFill>
                <a:srgbClr val="000000"/>
              </a:solidFill>
              <a:latin typeface="Amazon Ember Light" panose="020B0403020204020204"/>
            </a:endParaRPr>
          </a:p>
          <a:p>
            <a:pPr lvl="1">
              <a:buFont typeface="Wingdings" panose="05000000000000000000" pitchFamily="2" charset="2"/>
              <a:buChar char="ü"/>
            </a:pPr>
            <a:r>
              <a:rPr lang="en-US">
                <a:solidFill>
                  <a:srgbClr val="000000"/>
                </a:solidFill>
              </a:rPr>
              <a:t>High-performing</a:t>
            </a:r>
            <a:endParaRPr lang="en-US">
              <a:solidFill>
                <a:srgbClr val="000000"/>
              </a:solidFill>
              <a:latin typeface="Amazon Ember Light" panose="020B0403020204020204"/>
            </a:endParaRPr>
          </a:p>
          <a:p>
            <a:pPr lvl="1">
              <a:buFont typeface="Wingdings" panose="05000000000000000000" pitchFamily="2" charset="2"/>
              <a:buChar char="ü"/>
            </a:pPr>
            <a:r>
              <a:rPr lang="en-US">
                <a:solidFill>
                  <a:srgbClr val="000000"/>
                </a:solidFill>
              </a:rPr>
              <a:t>Resilient</a:t>
            </a:r>
            <a:endParaRPr lang="en-US">
              <a:solidFill>
                <a:srgbClr val="000000"/>
              </a:solidFill>
              <a:latin typeface="Amazon Ember Light" panose="020B0403020204020204"/>
            </a:endParaRPr>
          </a:p>
          <a:p>
            <a:pPr lvl="1">
              <a:buFont typeface="Wingdings" panose="05000000000000000000" pitchFamily="2" charset="2"/>
              <a:buChar char="ü"/>
            </a:pPr>
            <a:r>
              <a:rPr lang="en-US">
                <a:solidFill>
                  <a:srgbClr val="000000"/>
                </a:solidFill>
              </a:rPr>
              <a:t>Efficient</a:t>
            </a:r>
            <a:endParaRPr lang="en-US">
              <a:solidFill>
                <a:srgbClr val="000000"/>
              </a:solidFill>
              <a:latin typeface="Amazon Ember Light" panose="020B0403020204020204"/>
            </a:endParaRPr>
          </a:p>
          <a:p>
            <a:r>
              <a:rPr lang="en-US"/>
              <a:t>A consistent approach to evaluating and implementing cloud architectures</a:t>
            </a:r>
          </a:p>
          <a:p>
            <a:r>
              <a:rPr lang="en-US"/>
              <a:t>A way to provide best practices that were developed through lessons learned by reviewing customer architectures</a:t>
            </a:r>
          </a:p>
        </p:txBody>
      </p:sp>
    </p:spTree>
    <p:custDataLst>
      <p:tags r:id="rId1"/>
    </p:custDataLst>
    <p:extLst>
      <p:ext uri="{BB962C8B-B14F-4D97-AF65-F5344CB8AC3E}">
        <p14:creationId xmlns:p14="http://schemas.microsoft.com/office/powerpoint/2010/main" val="4197152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8BA0EB-B934-FBC5-1DB8-63BA9567D92F}"/>
              </a:ext>
            </a:extLst>
          </p:cNvPr>
          <p:cNvSpPr>
            <a:spLocks noGrp="1"/>
          </p:cNvSpPr>
          <p:nvPr>
            <p:ph type="sldNum" sz="quarter" idx="20"/>
          </p:nvPr>
        </p:nvSpPr>
        <p:spPr/>
        <p:txBody>
          <a:bodyPr/>
          <a:lstStyle/>
          <a:p>
            <a:fld id="{930176A1-BCF0-4712-97A6-6B495F55390B}" type="slidenum">
              <a:rPr lang="en-US" smtClean="0"/>
              <a:pPr/>
              <a:t>7</a:t>
            </a:fld>
            <a:endParaRPr lang="en-US"/>
          </a:p>
        </p:txBody>
      </p:sp>
      <p:sp>
        <p:nvSpPr>
          <p:cNvPr id="5" name="Title 1">
            <a:extLst>
              <a:ext uri="{FF2B5EF4-FFF2-40B4-BE49-F238E27FC236}">
                <a16:creationId xmlns:a16="http://schemas.microsoft.com/office/drawing/2014/main" id="{B3B700BE-C200-4140-BBB0-35F7B9AC6FA8}"/>
              </a:ext>
            </a:extLst>
          </p:cNvPr>
          <p:cNvSpPr>
            <a:spLocks noGrp="1"/>
          </p:cNvSpPr>
          <p:nvPr>
            <p:ph type="title"/>
          </p:nvPr>
        </p:nvSpPr>
        <p:spPr/>
        <p:txBody>
          <a:bodyPr>
            <a:noAutofit/>
          </a:bodyPr>
          <a:lstStyle/>
          <a:p>
            <a:r>
              <a:rPr lang="en-US"/>
              <a:t>Pillars of the AWS Well-Architected Framework</a:t>
            </a:r>
          </a:p>
        </p:txBody>
      </p:sp>
      <p:pic>
        <p:nvPicPr>
          <p:cNvPr id="9" name="Picture 8" descr="The pillars of AWS Well-Architected Framework. See description in slide notes.">
            <a:extLst>
              <a:ext uri="{FF2B5EF4-FFF2-40B4-BE49-F238E27FC236}">
                <a16:creationId xmlns:a16="http://schemas.microsoft.com/office/drawing/2014/main" id="{5F16B6F6-5B64-4B12-9364-49303155F865}"/>
              </a:ext>
            </a:extLst>
          </p:cNvPr>
          <p:cNvPicPr>
            <a:picLocks noChangeAspect="1"/>
          </p:cNvPicPr>
          <p:nvPr/>
        </p:nvPicPr>
        <p:blipFill>
          <a:blip r:embed="rId4"/>
          <a:stretch>
            <a:fillRect/>
          </a:stretch>
        </p:blipFill>
        <p:spPr>
          <a:xfrm>
            <a:off x="2227753" y="1198161"/>
            <a:ext cx="7736495" cy="5223506"/>
          </a:xfrm>
          <a:prstGeom prst="rect">
            <a:avLst/>
          </a:prstGeom>
        </p:spPr>
      </p:pic>
    </p:spTree>
    <p:custDataLst>
      <p:tags r:id="rId1"/>
    </p:custDataLst>
    <p:extLst>
      <p:ext uri="{BB962C8B-B14F-4D97-AF65-F5344CB8AC3E}">
        <p14:creationId xmlns:p14="http://schemas.microsoft.com/office/powerpoint/2010/main" val="892097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5285857-FE9F-4660-A3F8-86F6ED9706D9}"/>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8</a:t>
            </a:fld>
            <a:endParaRPr lang="en-US" dirty="0"/>
          </a:p>
        </p:txBody>
      </p:sp>
      <p:sp>
        <p:nvSpPr>
          <p:cNvPr id="2" name="Title 1">
            <a:extLst>
              <a:ext uri="{FF2B5EF4-FFF2-40B4-BE49-F238E27FC236}">
                <a16:creationId xmlns:a16="http://schemas.microsoft.com/office/drawing/2014/main" id="{020CE48C-BBF5-43E3-B0A3-0C8CABA928F1}"/>
              </a:ext>
            </a:extLst>
          </p:cNvPr>
          <p:cNvSpPr>
            <a:spLocks noGrp="1"/>
          </p:cNvSpPr>
          <p:nvPr>
            <p:ph type="title"/>
          </p:nvPr>
        </p:nvSpPr>
        <p:spPr/>
        <p:txBody>
          <a:bodyPr/>
          <a:lstStyle/>
          <a:p>
            <a:r>
              <a:rPr lang="en-US"/>
              <a:t>Pillar organization</a:t>
            </a:r>
          </a:p>
        </p:txBody>
      </p:sp>
      <p:sp>
        <p:nvSpPr>
          <p:cNvPr id="5" name="Content Placeholder 4">
            <a:extLst>
              <a:ext uri="{FF2B5EF4-FFF2-40B4-BE49-F238E27FC236}">
                <a16:creationId xmlns:a16="http://schemas.microsoft.com/office/drawing/2014/main" id="{429E01FE-9C6A-478B-AE19-C35C61EC0538}"/>
              </a:ext>
            </a:extLst>
          </p:cNvPr>
          <p:cNvSpPr>
            <a:spLocks noGrp="1"/>
          </p:cNvSpPr>
          <p:nvPr>
            <p:ph sz="quarter" idx="21"/>
          </p:nvPr>
        </p:nvSpPr>
        <p:spPr>
          <a:xfrm>
            <a:off x="2962656" y="1261872"/>
            <a:ext cx="9034272" cy="5093208"/>
          </a:xfrm>
        </p:spPr>
        <p:txBody>
          <a:bodyPr>
            <a:normAutofit fontScale="92500" lnSpcReduction="20000"/>
          </a:bodyPr>
          <a:lstStyle/>
          <a:p>
            <a:pPr marL="0" indent="0">
              <a:buNone/>
            </a:pPr>
            <a:r>
              <a:rPr lang="en-US" sz="2400" b="1"/>
              <a:t>Identity and Access Management</a:t>
            </a:r>
            <a:endParaRPr lang="en-US" sz="2400"/>
          </a:p>
          <a:p>
            <a:pPr marL="0" indent="0">
              <a:buNone/>
            </a:pPr>
            <a:r>
              <a:rPr lang="en-US" sz="2400" b="1"/>
              <a:t>SEC 1: How do you manage credentials and authentication?</a:t>
            </a:r>
          </a:p>
          <a:p>
            <a:pPr marL="0" indent="0">
              <a:buNone/>
            </a:pPr>
            <a:r>
              <a:rPr lang="en-US" sz="2000"/>
              <a:t>Credential and authentication mechanisms include passwords, tokens, and keys that grant access directly or indirectly in your workload. Protect credentials with appropriate mechanisms to help reduce the risk of accidental or malicious use.</a:t>
            </a:r>
          </a:p>
          <a:p>
            <a:pPr marL="0" indent="0">
              <a:buNone/>
            </a:pPr>
            <a:r>
              <a:rPr lang="en-US" sz="2400"/>
              <a:t>Best practices:</a:t>
            </a:r>
          </a:p>
          <a:p>
            <a:pPr lvl="1"/>
            <a:r>
              <a:rPr lang="en-US" sz="2000"/>
              <a:t>Define requirements for identity and access management</a:t>
            </a:r>
          </a:p>
          <a:p>
            <a:pPr lvl="1"/>
            <a:r>
              <a:rPr lang="en-US" sz="2000"/>
              <a:t>Secure AWS account root user</a:t>
            </a:r>
          </a:p>
          <a:p>
            <a:pPr lvl="1"/>
            <a:r>
              <a:rPr lang="en-US" sz="2000"/>
              <a:t>Enforce use of multi-factor authentication</a:t>
            </a:r>
          </a:p>
          <a:p>
            <a:pPr lvl="1"/>
            <a:r>
              <a:rPr lang="en-US" sz="2000"/>
              <a:t>Automate enforcement of access controls</a:t>
            </a:r>
          </a:p>
          <a:p>
            <a:pPr lvl="1"/>
            <a:r>
              <a:rPr lang="en-US" sz="2000"/>
              <a:t>Integrate with centralized federation provider</a:t>
            </a:r>
          </a:p>
          <a:p>
            <a:pPr lvl="1"/>
            <a:r>
              <a:rPr lang="en-US" sz="2000"/>
              <a:t>Enforce password requirements</a:t>
            </a:r>
          </a:p>
          <a:p>
            <a:pPr lvl="1"/>
            <a:r>
              <a:rPr lang="en-US" sz="2000"/>
              <a:t>Rotate credentials regularly</a:t>
            </a:r>
          </a:p>
          <a:p>
            <a:pPr lvl="1"/>
            <a:r>
              <a:rPr lang="en-US" sz="2000"/>
              <a:t>Audit credentials periodically</a:t>
            </a:r>
            <a:endParaRPr lang="en-US"/>
          </a:p>
        </p:txBody>
      </p:sp>
      <p:sp>
        <p:nvSpPr>
          <p:cNvPr id="7" name="Rectangle 6">
            <a:extLst>
              <a:ext uri="{FF2B5EF4-FFF2-40B4-BE49-F238E27FC236}">
                <a16:creationId xmlns:a16="http://schemas.microsoft.com/office/drawing/2014/main" id="{210F7FA1-9A78-4437-8732-59AABE975862}"/>
              </a:ext>
            </a:extLst>
          </p:cNvPr>
          <p:cNvSpPr/>
          <p:nvPr/>
        </p:nvSpPr>
        <p:spPr>
          <a:xfrm>
            <a:off x="0" y="1245704"/>
            <a:ext cx="2743200" cy="3651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400" b="1">
                <a:solidFill>
                  <a:srgbClr val="504BAB"/>
                </a:solidFill>
                <a:latin typeface="Amazon Ember" panose="020B0603020204020204" pitchFamily="34" charset="0"/>
                <a:ea typeface="Amazon Ember" panose="020B0603020204020204" pitchFamily="34" charset="0"/>
                <a:cs typeface="Amazon Ember" panose="020B0603020204020204" pitchFamily="34" charset="0"/>
              </a:rPr>
              <a:t>Best practice area</a:t>
            </a:r>
          </a:p>
        </p:txBody>
      </p:sp>
      <p:sp>
        <p:nvSpPr>
          <p:cNvPr id="8" name="Rectangle 7">
            <a:extLst>
              <a:ext uri="{FF2B5EF4-FFF2-40B4-BE49-F238E27FC236}">
                <a16:creationId xmlns:a16="http://schemas.microsoft.com/office/drawing/2014/main" id="{C1200E37-72DE-4221-B3F6-9786582D0901}"/>
              </a:ext>
            </a:extLst>
          </p:cNvPr>
          <p:cNvSpPr/>
          <p:nvPr/>
        </p:nvSpPr>
        <p:spPr>
          <a:xfrm>
            <a:off x="0" y="1697657"/>
            <a:ext cx="2743200" cy="3651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400" b="1">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Question text</a:t>
            </a:r>
          </a:p>
        </p:txBody>
      </p:sp>
      <p:sp>
        <p:nvSpPr>
          <p:cNvPr id="9" name="Rectangle 8">
            <a:extLst>
              <a:ext uri="{FF2B5EF4-FFF2-40B4-BE49-F238E27FC236}">
                <a16:creationId xmlns:a16="http://schemas.microsoft.com/office/drawing/2014/main" id="{CB67E7E5-955F-4146-8FA2-78F74E37983B}"/>
              </a:ext>
            </a:extLst>
          </p:cNvPr>
          <p:cNvSpPr/>
          <p:nvPr/>
        </p:nvSpPr>
        <p:spPr>
          <a:xfrm>
            <a:off x="0" y="2207167"/>
            <a:ext cx="2743200" cy="3651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Question context</a:t>
            </a:r>
          </a:p>
        </p:txBody>
      </p:sp>
      <p:sp>
        <p:nvSpPr>
          <p:cNvPr id="10" name="Rectangle 9">
            <a:extLst>
              <a:ext uri="{FF2B5EF4-FFF2-40B4-BE49-F238E27FC236}">
                <a16:creationId xmlns:a16="http://schemas.microsoft.com/office/drawing/2014/main" id="{2BB1AA71-7260-4BB9-8D45-BF2B271D08FC}"/>
              </a:ext>
            </a:extLst>
          </p:cNvPr>
          <p:cNvSpPr/>
          <p:nvPr/>
        </p:nvSpPr>
        <p:spPr>
          <a:xfrm>
            <a:off x="0" y="3141316"/>
            <a:ext cx="2743200" cy="3651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400" b="1">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Best practices</a:t>
            </a:r>
          </a:p>
        </p:txBody>
      </p:sp>
    </p:spTree>
    <p:custDataLst>
      <p:tags r:id="rId1"/>
    </p:custDataLst>
    <p:extLst>
      <p:ext uri="{BB962C8B-B14F-4D97-AF65-F5344CB8AC3E}">
        <p14:creationId xmlns:p14="http://schemas.microsoft.com/office/powerpoint/2010/main" val="1636494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E06D641-1A1A-4EC3-A9BC-A150BBCFEF24}"/>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9</a:t>
            </a:fld>
            <a:endParaRPr lang="en-US"/>
          </a:p>
        </p:txBody>
      </p:sp>
      <p:sp>
        <p:nvSpPr>
          <p:cNvPr id="6" name="Title 5">
            <a:extLst>
              <a:ext uri="{FF2B5EF4-FFF2-40B4-BE49-F238E27FC236}">
                <a16:creationId xmlns:a16="http://schemas.microsoft.com/office/drawing/2014/main" id="{527558D1-8AE7-4F45-8C8C-A56F6D4F60AE}"/>
              </a:ext>
            </a:extLst>
          </p:cNvPr>
          <p:cNvSpPr>
            <a:spLocks noGrp="1"/>
          </p:cNvSpPr>
          <p:nvPr>
            <p:ph type="title"/>
          </p:nvPr>
        </p:nvSpPr>
        <p:spPr>
          <a:xfrm>
            <a:off x="2335530" y="3063341"/>
            <a:ext cx="7520940" cy="731318"/>
          </a:xfrm>
        </p:spPr>
        <p:txBody>
          <a:bodyPr/>
          <a:lstStyle/>
          <a:p>
            <a:r>
              <a:rPr lang="en-US" sz="4000"/>
              <a:t>Operational Excellence pillar</a:t>
            </a:r>
          </a:p>
        </p:txBody>
      </p:sp>
    </p:spTree>
    <p:custDataLst>
      <p:tags r:id="rId1"/>
    </p:custDataLst>
    <p:extLst>
      <p:ext uri="{BB962C8B-B14F-4D97-AF65-F5344CB8AC3E}">
        <p14:creationId xmlns:p14="http://schemas.microsoft.com/office/powerpoint/2010/main" val="949764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4565649-48D9-48FB-ACFC-2E5A8EA51A9A}"/>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10</a:t>
            </a:fld>
            <a:endParaRPr lang="en-US" dirty="0"/>
          </a:p>
        </p:txBody>
      </p:sp>
      <p:sp>
        <p:nvSpPr>
          <p:cNvPr id="9" name="Title 1">
            <a:extLst>
              <a:ext uri="{FF2B5EF4-FFF2-40B4-BE49-F238E27FC236}">
                <a16:creationId xmlns:a16="http://schemas.microsoft.com/office/drawing/2014/main" id="{49AE11E6-39B2-D14D-B371-1B52D9196BB7}"/>
              </a:ext>
            </a:extLst>
          </p:cNvPr>
          <p:cNvSpPr>
            <a:spLocks noGrp="1"/>
          </p:cNvSpPr>
          <p:nvPr>
            <p:ph type="title"/>
          </p:nvPr>
        </p:nvSpPr>
        <p:spPr/>
        <p:txBody>
          <a:bodyPr/>
          <a:lstStyle/>
          <a:p>
            <a:r>
              <a:rPr lang="en-US"/>
              <a:t>Operational Excellence pillar – deliver business value</a:t>
            </a:r>
          </a:p>
        </p:txBody>
      </p:sp>
      <p:sp>
        <p:nvSpPr>
          <p:cNvPr id="11" name="Content Placeholder 10">
            <a:extLst>
              <a:ext uri="{FF2B5EF4-FFF2-40B4-BE49-F238E27FC236}">
                <a16:creationId xmlns:a16="http://schemas.microsoft.com/office/drawing/2014/main" id="{4CBB0FF5-4E9F-4457-90B7-F05ED6725F2C}"/>
              </a:ext>
            </a:extLst>
          </p:cNvPr>
          <p:cNvSpPr>
            <a:spLocks noGrp="1"/>
          </p:cNvSpPr>
          <p:nvPr>
            <p:ph sz="quarter" idx="21"/>
          </p:nvPr>
        </p:nvSpPr>
        <p:spPr>
          <a:xfrm>
            <a:off x="2916936" y="1527048"/>
            <a:ext cx="8860536" cy="4645152"/>
          </a:xfrm>
        </p:spPr>
        <p:txBody>
          <a:bodyPr/>
          <a:lstStyle/>
          <a:p>
            <a:pPr>
              <a:buClr>
                <a:schemeClr val="tx1"/>
              </a:buClr>
            </a:pPr>
            <a:r>
              <a:rPr lang="en-US">
                <a:solidFill>
                  <a:srgbClr val="504BAB"/>
                </a:solidFill>
              </a:rPr>
              <a:t>Focus</a:t>
            </a:r>
            <a:r>
              <a:rPr lang="en-US"/>
              <a:t> </a:t>
            </a:r>
          </a:p>
          <a:p>
            <a:pPr lvl="1">
              <a:buClr>
                <a:schemeClr val="tx1"/>
              </a:buClr>
            </a:pPr>
            <a:r>
              <a:rPr lang="en-US"/>
              <a:t>Run and monitor systems to deliver business value, and to continually improve supporting processes and procedures. </a:t>
            </a:r>
          </a:p>
          <a:p>
            <a:pPr marL="0" indent="0">
              <a:buClr>
                <a:schemeClr val="tx1"/>
              </a:buClr>
              <a:buNone/>
            </a:pPr>
            <a:endParaRPr lang="en-US"/>
          </a:p>
          <a:p>
            <a:pPr>
              <a:buClr>
                <a:schemeClr val="tx1"/>
              </a:buClr>
            </a:pPr>
            <a:r>
              <a:rPr lang="en-US">
                <a:solidFill>
                  <a:srgbClr val="504BAB"/>
                </a:solidFill>
              </a:rPr>
              <a:t>Key topics</a:t>
            </a:r>
          </a:p>
          <a:p>
            <a:pPr lvl="1">
              <a:buClr>
                <a:schemeClr val="tx1"/>
              </a:buClr>
            </a:pPr>
            <a:r>
              <a:rPr lang="en-US"/>
              <a:t>Automating changes</a:t>
            </a:r>
          </a:p>
          <a:p>
            <a:pPr lvl="1">
              <a:buClr>
                <a:schemeClr val="tx1"/>
              </a:buClr>
            </a:pPr>
            <a:r>
              <a:rPr lang="en-US"/>
              <a:t>Responding to events</a:t>
            </a:r>
          </a:p>
          <a:p>
            <a:pPr lvl="1">
              <a:buClr>
                <a:schemeClr val="tx1"/>
              </a:buClr>
            </a:pPr>
            <a:r>
              <a:rPr lang="en-US"/>
              <a:t>Defining standards to manage daily operations</a:t>
            </a:r>
          </a:p>
        </p:txBody>
      </p:sp>
      <p:grpSp>
        <p:nvGrpSpPr>
          <p:cNvPr id="3" name="Group 2">
            <a:extLst>
              <a:ext uri="{FF2B5EF4-FFF2-40B4-BE49-F238E27FC236}">
                <a16:creationId xmlns:a16="http://schemas.microsoft.com/office/drawing/2014/main" id="{D8D24514-A2F4-46A7-8053-8D1726F5D49A}"/>
              </a:ext>
              <a:ext uri="{C183D7F6-B498-43B3-948B-1728B52AA6E4}">
                <adec:decorative xmlns:adec="http://schemas.microsoft.com/office/drawing/2017/decorative" val="1"/>
              </a:ext>
            </a:extLst>
          </p:cNvPr>
          <p:cNvGrpSpPr/>
          <p:nvPr/>
        </p:nvGrpSpPr>
        <p:grpSpPr>
          <a:xfrm>
            <a:off x="384260" y="1491339"/>
            <a:ext cx="2229853" cy="4539913"/>
            <a:chOff x="384260" y="1491339"/>
            <a:chExt cx="2229853" cy="4539913"/>
          </a:xfrm>
        </p:grpSpPr>
        <p:sp>
          <p:nvSpPr>
            <p:cNvPr id="4" name="Rectangle 3">
              <a:extLst>
                <a:ext uri="{FF2B5EF4-FFF2-40B4-BE49-F238E27FC236}">
                  <a16:creationId xmlns:a16="http://schemas.microsoft.com/office/drawing/2014/main" id="{E09CCFBC-3E9D-0742-8692-2557FDE600D4}"/>
                </a:ext>
              </a:extLst>
            </p:cNvPr>
            <p:cNvSpPr/>
            <p:nvPr/>
          </p:nvSpPr>
          <p:spPr>
            <a:xfrm>
              <a:off x="384260" y="1491339"/>
              <a:ext cx="2229853" cy="4539913"/>
            </a:xfrm>
            <a:prstGeom prst="rect">
              <a:avLst/>
            </a:prstGeom>
            <a:ln w="19050">
              <a:solidFill>
                <a:srgbClr val="0070C0"/>
              </a:solidFill>
            </a:ln>
          </p:spPr>
          <p:style>
            <a:lnRef idx="2">
              <a:schemeClr val="accent1"/>
            </a:lnRef>
            <a:fillRef idx="1">
              <a:schemeClr val="lt1"/>
            </a:fillRef>
            <a:effectRef idx="0">
              <a:schemeClr val="accent1"/>
            </a:effectRef>
            <a:fontRef idx="minor">
              <a:schemeClr val="dk1"/>
            </a:fontRef>
          </p:style>
          <p:txBody>
            <a:bodyPr rtlCol="0" anchor="t"/>
            <a:lstStyle/>
            <a:p>
              <a:pPr algn="ctr"/>
              <a:endParaRPr lang="en-US" sz="2400" b="1">
                <a:latin typeface="Amazon Ember Light" panose="020B0403020204020204" pitchFamily="34" charset="0"/>
                <a:ea typeface="Amazon Ember Light" panose="020B0403020204020204" pitchFamily="34" charset="0"/>
                <a:cs typeface="Amazon Ember Light" panose="020B0403020204020204" pitchFamily="34" charset="0"/>
              </a:endParaRPr>
            </a:p>
            <a:p>
              <a:pPr algn="ct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Operational Excellence</a:t>
              </a:r>
            </a:p>
            <a:p>
              <a:pPr algn="ct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pillar</a:t>
              </a:r>
            </a:p>
          </p:txBody>
        </p:sp>
        <p:sp>
          <p:nvSpPr>
            <p:cNvPr id="6" name="TextBox 5">
              <a:extLst>
                <a:ext uri="{FF2B5EF4-FFF2-40B4-BE49-F238E27FC236}">
                  <a16:creationId xmlns:a16="http://schemas.microsoft.com/office/drawing/2014/main" id="{469AFC67-6E43-3644-8C0A-433E777BDADA}"/>
                </a:ext>
              </a:extLst>
            </p:cNvPr>
            <p:cNvSpPr txBox="1"/>
            <p:nvPr/>
          </p:nvSpPr>
          <p:spPr>
            <a:xfrm>
              <a:off x="685328" y="4857153"/>
              <a:ext cx="1627717" cy="1015663"/>
            </a:xfrm>
            <a:prstGeom prst="rect">
              <a:avLst/>
            </a:prstGeom>
            <a:noFill/>
          </p:spPr>
          <p:txBody>
            <a:bodyPr wrap="square" rtlCol="0">
              <a:spAutoFit/>
            </a:body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Deliver business value</a:t>
              </a:r>
            </a:p>
          </p:txBody>
        </p:sp>
        <p:pic>
          <p:nvPicPr>
            <p:cNvPr id="10" name="Picture 2">
              <a:extLst>
                <a:ext uri="{FF2B5EF4-FFF2-40B4-BE49-F238E27FC236}">
                  <a16:creationId xmlns:a16="http://schemas.microsoft.com/office/drawing/2014/main" id="{BBB3F254-EBAC-4A02-B683-1CD83FCB2550}"/>
                </a:ext>
                <a:ext uri="{C183D7F6-B498-43B3-948B-1728B52AA6E4}">
                  <adec:decorative xmlns:adec="http://schemas.microsoft.com/office/drawing/2017/decorative" val="1"/>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colorTemperature colorTemp="4700"/>
                      </a14:imgEffect>
                    </a14:imgLayer>
                  </a14:imgProps>
                </a:ext>
                <a:ext uri="{28A0092B-C50C-407E-A947-70E740481C1C}">
                  <a14:useLocalDpi xmlns:a14="http://schemas.microsoft.com/office/drawing/2010/main" val="0"/>
                </a:ext>
              </a:extLst>
            </a:blip>
            <a:srcRect/>
            <a:stretch>
              <a:fillRect/>
            </a:stretch>
          </p:blipFill>
          <p:spPr bwMode="auto">
            <a:xfrm>
              <a:off x="767666" y="3179789"/>
              <a:ext cx="1463040" cy="1463040"/>
            </a:xfrm>
            <a:prstGeom prst="rect">
              <a:avLst/>
            </a:prstGeom>
            <a:noFill/>
            <a:extLst>
              <a:ext uri="{909E8E84-426E-40DD-AFC4-6F175D3DCCD1}">
                <a14:hiddenFill xmlns:a14="http://schemas.microsoft.com/office/drawing/2010/main">
                  <a:solidFill>
                    <a:srgbClr val="FFFFFF"/>
                  </a:solidFill>
                </a14:hiddenFill>
              </a:ext>
            </a:extLst>
          </p:spPr>
        </p:pic>
      </p:grpSp>
    </p:spTree>
    <p:custDataLst>
      <p:tags r:id="rId1"/>
    </p:custDataLst>
    <p:extLst>
      <p:ext uri="{BB962C8B-B14F-4D97-AF65-F5344CB8AC3E}">
        <p14:creationId xmlns:p14="http://schemas.microsoft.com/office/powerpoint/2010/main" val="767302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4427BD0-FF17-4DBB-8886-4B1D6742F56A}"/>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11</a:t>
            </a:fld>
            <a:endParaRPr lang="en-US"/>
          </a:p>
        </p:txBody>
      </p:sp>
      <p:sp>
        <p:nvSpPr>
          <p:cNvPr id="2" name="Title 1">
            <a:extLst>
              <a:ext uri="{FF2B5EF4-FFF2-40B4-BE49-F238E27FC236}">
                <a16:creationId xmlns:a16="http://schemas.microsoft.com/office/drawing/2014/main" id="{FAA83A8D-8393-4B40-974A-3192E143B06F}"/>
              </a:ext>
            </a:extLst>
          </p:cNvPr>
          <p:cNvSpPr>
            <a:spLocks noGrp="1"/>
          </p:cNvSpPr>
          <p:nvPr>
            <p:ph type="title"/>
          </p:nvPr>
        </p:nvSpPr>
        <p:spPr/>
        <p:txBody>
          <a:bodyPr>
            <a:normAutofit/>
          </a:bodyPr>
          <a:lstStyle/>
          <a:p>
            <a:r>
              <a:rPr lang="en-US"/>
              <a:t>Operational excellence design principles </a:t>
            </a:r>
          </a:p>
        </p:txBody>
      </p:sp>
      <p:sp>
        <p:nvSpPr>
          <p:cNvPr id="7" name="Content Placeholder 6">
            <a:extLst>
              <a:ext uri="{FF2B5EF4-FFF2-40B4-BE49-F238E27FC236}">
                <a16:creationId xmlns:a16="http://schemas.microsoft.com/office/drawing/2014/main" id="{BC766FEE-43C9-4B7B-88EF-C1F1A19D11A0}"/>
              </a:ext>
            </a:extLst>
          </p:cNvPr>
          <p:cNvSpPr>
            <a:spLocks noGrp="1"/>
          </p:cNvSpPr>
          <p:nvPr>
            <p:ph sz="quarter" idx="21"/>
          </p:nvPr>
        </p:nvSpPr>
        <p:spPr>
          <a:xfrm>
            <a:off x="2962656" y="1527048"/>
            <a:ext cx="8814816" cy="4645152"/>
          </a:xfrm>
        </p:spPr>
        <p:txBody>
          <a:bodyPr/>
          <a:lstStyle/>
          <a:p>
            <a:r>
              <a:rPr lang="en-US"/>
              <a:t>Perform operations as code</a:t>
            </a:r>
          </a:p>
          <a:p>
            <a:r>
              <a:rPr lang="en-US"/>
              <a:t>Make frequent, small, reversible changes</a:t>
            </a:r>
          </a:p>
          <a:p>
            <a:r>
              <a:rPr lang="en-US"/>
              <a:t>Refine operations procedures frequently</a:t>
            </a:r>
          </a:p>
          <a:p>
            <a:r>
              <a:rPr lang="en-US"/>
              <a:t>Anticipate failure</a:t>
            </a:r>
          </a:p>
          <a:p>
            <a:r>
              <a:rPr lang="en-US"/>
              <a:t>Learn from all operational events and failures</a:t>
            </a:r>
          </a:p>
        </p:txBody>
      </p:sp>
      <p:grpSp>
        <p:nvGrpSpPr>
          <p:cNvPr id="3" name="Group 2">
            <a:extLst>
              <a:ext uri="{FF2B5EF4-FFF2-40B4-BE49-F238E27FC236}">
                <a16:creationId xmlns:a16="http://schemas.microsoft.com/office/drawing/2014/main" id="{F5A8753E-A9CF-414A-86D1-FD95FDECCF0C}"/>
              </a:ext>
              <a:ext uri="{C183D7F6-B498-43B3-948B-1728B52AA6E4}">
                <adec:decorative xmlns:adec="http://schemas.microsoft.com/office/drawing/2017/decorative" val="1"/>
              </a:ext>
            </a:extLst>
          </p:cNvPr>
          <p:cNvGrpSpPr/>
          <p:nvPr/>
        </p:nvGrpSpPr>
        <p:grpSpPr>
          <a:xfrm>
            <a:off x="384260" y="1491339"/>
            <a:ext cx="2229853" cy="4539913"/>
            <a:chOff x="384260" y="1491339"/>
            <a:chExt cx="2229853" cy="4539913"/>
          </a:xfrm>
        </p:grpSpPr>
        <p:sp>
          <p:nvSpPr>
            <p:cNvPr id="8" name="Rectangle 7">
              <a:extLst>
                <a:ext uri="{FF2B5EF4-FFF2-40B4-BE49-F238E27FC236}">
                  <a16:creationId xmlns:a16="http://schemas.microsoft.com/office/drawing/2014/main" id="{39E7DEA0-4CE3-4E2D-8FB2-2952CD17048D}"/>
                </a:ext>
              </a:extLst>
            </p:cNvPr>
            <p:cNvSpPr/>
            <p:nvPr/>
          </p:nvSpPr>
          <p:spPr>
            <a:xfrm>
              <a:off x="384260" y="1491339"/>
              <a:ext cx="2229853" cy="4539913"/>
            </a:xfrm>
            <a:prstGeom prst="rect">
              <a:avLst/>
            </a:prstGeom>
            <a:ln w="19050">
              <a:solidFill>
                <a:srgbClr val="0070C0"/>
              </a:solidFill>
            </a:ln>
          </p:spPr>
          <p:style>
            <a:lnRef idx="2">
              <a:schemeClr val="accent1"/>
            </a:lnRef>
            <a:fillRef idx="1">
              <a:schemeClr val="lt1"/>
            </a:fillRef>
            <a:effectRef idx="0">
              <a:schemeClr val="accent1"/>
            </a:effectRef>
            <a:fontRef idx="minor">
              <a:schemeClr val="dk1"/>
            </a:fontRef>
          </p:style>
          <p:txBody>
            <a:bodyPr rtlCol="0" anchor="t"/>
            <a:lstStyle/>
            <a:p>
              <a:pPr algn="ctr"/>
              <a:endParaRPr lang="en-US" sz="2400" b="1">
                <a:latin typeface="Amazon Ember Light" panose="020B0403020204020204" pitchFamily="34" charset="0"/>
                <a:ea typeface="Amazon Ember Light" panose="020B0403020204020204" pitchFamily="34" charset="0"/>
                <a:cs typeface="Amazon Ember Light" panose="020B0403020204020204" pitchFamily="34" charset="0"/>
              </a:endParaRPr>
            </a:p>
            <a:p>
              <a:pPr algn="ct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Operational Excellence</a:t>
              </a:r>
            </a:p>
            <a:p>
              <a:pPr algn="ct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pillar</a:t>
              </a:r>
            </a:p>
          </p:txBody>
        </p:sp>
        <p:sp>
          <p:nvSpPr>
            <p:cNvPr id="10" name="TextBox 9">
              <a:extLst>
                <a:ext uri="{FF2B5EF4-FFF2-40B4-BE49-F238E27FC236}">
                  <a16:creationId xmlns:a16="http://schemas.microsoft.com/office/drawing/2014/main" id="{7B124E63-9F13-4801-9A11-6B4679B1339D}"/>
                </a:ext>
              </a:extLst>
            </p:cNvPr>
            <p:cNvSpPr txBox="1"/>
            <p:nvPr/>
          </p:nvSpPr>
          <p:spPr>
            <a:xfrm>
              <a:off x="685328" y="4857153"/>
              <a:ext cx="1627717" cy="1015663"/>
            </a:xfrm>
            <a:prstGeom prst="rect">
              <a:avLst/>
            </a:prstGeom>
            <a:noFill/>
          </p:spPr>
          <p:txBody>
            <a:bodyPr wrap="square" rtlCol="0">
              <a:spAutoFit/>
            </a:body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Deliver business value</a:t>
              </a:r>
            </a:p>
          </p:txBody>
        </p:sp>
        <p:pic>
          <p:nvPicPr>
            <p:cNvPr id="11" name="Picture 2">
              <a:extLst>
                <a:ext uri="{FF2B5EF4-FFF2-40B4-BE49-F238E27FC236}">
                  <a16:creationId xmlns:a16="http://schemas.microsoft.com/office/drawing/2014/main" id="{78A9F52F-0BB5-4095-A73D-63357A632705}"/>
                </a:ext>
                <a:ext uri="{C183D7F6-B498-43B3-948B-1728B52AA6E4}">
                  <adec:decorative xmlns:adec="http://schemas.microsoft.com/office/drawing/2017/decorative" val="1"/>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colorTemperature colorTemp="4700"/>
                      </a14:imgEffect>
                    </a14:imgLayer>
                  </a14:imgProps>
                </a:ext>
                <a:ext uri="{28A0092B-C50C-407E-A947-70E740481C1C}">
                  <a14:useLocalDpi xmlns:a14="http://schemas.microsoft.com/office/drawing/2010/main" val="0"/>
                </a:ext>
              </a:extLst>
            </a:blip>
            <a:srcRect/>
            <a:stretch>
              <a:fillRect/>
            </a:stretch>
          </p:blipFill>
          <p:spPr bwMode="auto">
            <a:xfrm>
              <a:off x="767666" y="3179789"/>
              <a:ext cx="1463040" cy="1463040"/>
            </a:xfrm>
            <a:prstGeom prst="rect">
              <a:avLst/>
            </a:prstGeom>
            <a:noFill/>
            <a:extLst>
              <a:ext uri="{909E8E84-426E-40DD-AFC4-6F175D3DCCD1}">
                <a14:hiddenFill xmlns:a14="http://schemas.microsoft.com/office/drawing/2010/main">
                  <a:solidFill>
                    <a:srgbClr val="FFFFFF"/>
                  </a:solidFill>
                </a14:hiddenFill>
              </a:ext>
            </a:extLst>
          </p:spPr>
        </p:pic>
      </p:grpSp>
    </p:spTree>
    <p:custDataLst>
      <p:tags r:id="rId1"/>
    </p:custDataLst>
    <p:extLst>
      <p:ext uri="{BB962C8B-B14F-4D97-AF65-F5344CB8AC3E}">
        <p14:creationId xmlns:p14="http://schemas.microsoft.com/office/powerpoint/2010/main" val="306953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2655E5-FDE9-46C7-8B71-A167084A97D4}"/>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12</a:t>
            </a:fld>
            <a:endParaRPr lang="en-US"/>
          </a:p>
        </p:txBody>
      </p:sp>
      <p:sp>
        <p:nvSpPr>
          <p:cNvPr id="7" name="Title 6">
            <a:extLst>
              <a:ext uri="{FF2B5EF4-FFF2-40B4-BE49-F238E27FC236}">
                <a16:creationId xmlns:a16="http://schemas.microsoft.com/office/drawing/2014/main" id="{FDA54CBC-14E2-4E01-A977-3D459CAF147D}"/>
              </a:ext>
            </a:extLst>
          </p:cNvPr>
          <p:cNvSpPr>
            <a:spLocks noGrp="1"/>
          </p:cNvSpPr>
          <p:nvPr>
            <p:ph type="title"/>
          </p:nvPr>
        </p:nvSpPr>
        <p:spPr/>
        <p:txBody>
          <a:bodyPr/>
          <a:lstStyle/>
          <a:p>
            <a:r>
              <a:rPr lang="en-US"/>
              <a:t>Operational excellence questions</a:t>
            </a:r>
          </a:p>
        </p:txBody>
      </p:sp>
      <p:sp>
        <p:nvSpPr>
          <p:cNvPr id="8" name="Content Placeholder 7">
            <a:extLst>
              <a:ext uri="{FF2B5EF4-FFF2-40B4-BE49-F238E27FC236}">
                <a16:creationId xmlns:a16="http://schemas.microsoft.com/office/drawing/2014/main" id="{1C0A4432-9FF4-4DCB-9360-476FA86726A8}"/>
              </a:ext>
            </a:extLst>
          </p:cNvPr>
          <p:cNvSpPr>
            <a:spLocks noGrp="1"/>
          </p:cNvSpPr>
          <p:nvPr>
            <p:ph sz="quarter" idx="21"/>
          </p:nvPr>
        </p:nvSpPr>
        <p:spPr>
          <a:xfrm>
            <a:off x="365760" y="1143000"/>
            <a:ext cx="5504688" cy="5415474"/>
          </a:xfrm>
        </p:spPr>
        <p:txBody>
          <a:bodyPr>
            <a:normAutofit fontScale="92500" lnSpcReduction="10000"/>
          </a:bodyPr>
          <a:lstStyle/>
          <a:p>
            <a:pPr marL="0" indent="0">
              <a:buNone/>
            </a:pPr>
            <a:r>
              <a:rPr lang="en-US" sz="2200">
                <a:solidFill>
                  <a:srgbClr val="504BAB"/>
                </a:solidFill>
              </a:rPr>
              <a:t>Organization</a:t>
            </a:r>
          </a:p>
          <a:p>
            <a:r>
              <a:rPr lang="en-US" sz="1900"/>
              <a:t>How do you determine what your priorities are?</a:t>
            </a:r>
          </a:p>
          <a:p>
            <a:r>
              <a:rPr lang="en-US" sz="1900"/>
              <a:t>How do you structure your organization to support your business outcomes?</a:t>
            </a:r>
          </a:p>
          <a:p>
            <a:r>
              <a:rPr lang="en-US" sz="1900"/>
              <a:t>How does your organizational culture support your business outcomes?</a:t>
            </a:r>
          </a:p>
          <a:p>
            <a:pPr marL="0" indent="0">
              <a:buNone/>
            </a:pPr>
            <a:endParaRPr lang="en-US" sz="1800"/>
          </a:p>
          <a:p>
            <a:pPr marL="0" indent="0">
              <a:buNone/>
            </a:pPr>
            <a:r>
              <a:rPr lang="en-US" sz="2200">
                <a:solidFill>
                  <a:srgbClr val="504BAB"/>
                </a:solidFill>
              </a:rPr>
              <a:t>Prepare</a:t>
            </a:r>
          </a:p>
          <a:p>
            <a:r>
              <a:rPr lang="en-US" sz="1900"/>
              <a:t>How do you design your workload so that you can understand its state?</a:t>
            </a:r>
            <a:endParaRPr lang="en-US" sz="1900">
              <a:solidFill>
                <a:schemeClr val="accent5"/>
              </a:solidFill>
            </a:endParaRPr>
          </a:p>
          <a:p>
            <a:r>
              <a:rPr lang="en-US" sz="1900"/>
              <a:t>How do you reduce defects, ease remediation, and improve flow into production?</a:t>
            </a:r>
          </a:p>
          <a:p>
            <a:r>
              <a:rPr lang="en-US" sz="1900"/>
              <a:t>How do you mitigate deployment risks?</a:t>
            </a:r>
          </a:p>
          <a:p>
            <a:r>
              <a:rPr lang="en-US" sz="1900"/>
              <a:t>How do you know that you are ready to support a workload?</a:t>
            </a:r>
          </a:p>
        </p:txBody>
      </p:sp>
      <p:sp>
        <p:nvSpPr>
          <p:cNvPr id="9" name="Content Placeholder 8">
            <a:extLst>
              <a:ext uri="{FF2B5EF4-FFF2-40B4-BE49-F238E27FC236}">
                <a16:creationId xmlns:a16="http://schemas.microsoft.com/office/drawing/2014/main" id="{9D39FC1A-3638-4686-8347-FC18E5C5A30C}"/>
              </a:ext>
            </a:extLst>
          </p:cNvPr>
          <p:cNvSpPr>
            <a:spLocks noGrp="1"/>
          </p:cNvSpPr>
          <p:nvPr>
            <p:ph idx="4294967295"/>
          </p:nvPr>
        </p:nvSpPr>
        <p:spPr>
          <a:xfrm>
            <a:off x="6245352" y="1143000"/>
            <a:ext cx="5503862" cy="4645152"/>
          </a:xfrm>
        </p:spPr>
        <p:txBody>
          <a:bodyPr/>
          <a:lstStyle/>
          <a:p>
            <a:pPr marL="0" indent="0">
              <a:buNone/>
            </a:pPr>
            <a:r>
              <a:rPr lang="en-US" sz="2000">
                <a:solidFill>
                  <a:srgbClr val="504BAB"/>
                </a:solidFill>
              </a:rPr>
              <a:t>Operate</a:t>
            </a:r>
            <a:endParaRPr lang="en-US">
              <a:solidFill>
                <a:srgbClr val="504BAB"/>
              </a:solidFill>
            </a:endParaRPr>
          </a:p>
          <a:p>
            <a:r>
              <a:rPr lang="en-US" sz="1800"/>
              <a:t>How do you understand the health of your workload?</a:t>
            </a:r>
          </a:p>
          <a:p>
            <a:r>
              <a:rPr lang="en-US" sz="1800"/>
              <a:t>How do you understand the health of your operations?</a:t>
            </a:r>
          </a:p>
          <a:p>
            <a:r>
              <a:rPr lang="en-US" sz="1800"/>
              <a:t>How do you manage workload and operations events?</a:t>
            </a:r>
            <a:br>
              <a:rPr lang="en-US" sz="1800"/>
            </a:br>
            <a:endParaRPr lang="en-US" sz="1800"/>
          </a:p>
          <a:p>
            <a:pPr marL="0" indent="0">
              <a:buNone/>
            </a:pPr>
            <a:r>
              <a:rPr lang="en-US" sz="2000">
                <a:solidFill>
                  <a:srgbClr val="504BAB"/>
                </a:solidFill>
              </a:rPr>
              <a:t>Evolve</a:t>
            </a:r>
            <a:endParaRPr lang="en-US">
              <a:solidFill>
                <a:srgbClr val="504BAB"/>
              </a:solidFill>
            </a:endParaRPr>
          </a:p>
          <a:p>
            <a:r>
              <a:rPr lang="en-US" sz="1800"/>
              <a:t>How do you evolve operations?</a:t>
            </a:r>
          </a:p>
        </p:txBody>
      </p:sp>
    </p:spTree>
    <p:custDataLst>
      <p:tags r:id="rId1"/>
    </p:custDataLst>
    <p:extLst>
      <p:ext uri="{BB962C8B-B14F-4D97-AF65-F5344CB8AC3E}">
        <p14:creationId xmlns:p14="http://schemas.microsoft.com/office/powerpoint/2010/main" val="332965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E06D641-1A1A-4EC3-A9BC-A150BBCFEF24}"/>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13</a:t>
            </a:fld>
            <a:endParaRPr lang="en-US" dirty="0"/>
          </a:p>
        </p:txBody>
      </p:sp>
      <p:sp>
        <p:nvSpPr>
          <p:cNvPr id="6" name="Title 5">
            <a:extLst>
              <a:ext uri="{FF2B5EF4-FFF2-40B4-BE49-F238E27FC236}">
                <a16:creationId xmlns:a16="http://schemas.microsoft.com/office/drawing/2014/main" id="{527558D1-8AE7-4F45-8C8C-A56F6D4F60AE}"/>
              </a:ext>
            </a:extLst>
          </p:cNvPr>
          <p:cNvSpPr>
            <a:spLocks noGrp="1"/>
          </p:cNvSpPr>
          <p:nvPr>
            <p:ph type="title"/>
          </p:nvPr>
        </p:nvSpPr>
        <p:spPr>
          <a:xfrm>
            <a:off x="4267200" y="3063341"/>
            <a:ext cx="3657600" cy="731318"/>
          </a:xfrm>
        </p:spPr>
        <p:txBody>
          <a:bodyPr>
            <a:normAutofit/>
          </a:bodyPr>
          <a:lstStyle/>
          <a:p>
            <a:r>
              <a:rPr lang="en-US" sz="3600"/>
              <a:t>Security pillar</a:t>
            </a:r>
          </a:p>
        </p:txBody>
      </p:sp>
    </p:spTree>
    <p:custDataLst>
      <p:tags r:id="rId1"/>
    </p:custDataLst>
    <p:extLst>
      <p:ext uri="{BB962C8B-B14F-4D97-AF65-F5344CB8AC3E}">
        <p14:creationId xmlns:p14="http://schemas.microsoft.com/office/powerpoint/2010/main" val="3859828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F51C82F-E90D-45E0-A20F-118CE1221DED}"/>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14</a:t>
            </a:fld>
            <a:endParaRPr lang="en-US" dirty="0"/>
          </a:p>
        </p:txBody>
      </p:sp>
      <p:sp>
        <p:nvSpPr>
          <p:cNvPr id="5" name="Title 1">
            <a:extLst>
              <a:ext uri="{FF2B5EF4-FFF2-40B4-BE49-F238E27FC236}">
                <a16:creationId xmlns:a16="http://schemas.microsoft.com/office/drawing/2014/main" id="{F969DB44-A80B-924E-B7AC-28678F084FC5}"/>
              </a:ext>
            </a:extLst>
          </p:cNvPr>
          <p:cNvSpPr>
            <a:spLocks noGrp="1"/>
          </p:cNvSpPr>
          <p:nvPr>
            <p:ph type="title"/>
          </p:nvPr>
        </p:nvSpPr>
        <p:spPr/>
        <p:txBody>
          <a:bodyPr/>
          <a:lstStyle/>
          <a:p>
            <a:r>
              <a:rPr lang="en-US"/>
              <a:t>Security pillar – protect and monitor systems</a:t>
            </a:r>
          </a:p>
        </p:txBody>
      </p:sp>
      <p:sp>
        <p:nvSpPr>
          <p:cNvPr id="6" name="Content Placeholder 2">
            <a:extLst>
              <a:ext uri="{FF2B5EF4-FFF2-40B4-BE49-F238E27FC236}">
                <a16:creationId xmlns:a16="http://schemas.microsoft.com/office/drawing/2014/main" id="{3E1D1E58-5F42-AD4F-A74D-6D386D83F0E6}"/>
              </a:ext>
            </a:extLst>
          </p:cNvPr>
          <p:cNvSpPr>
            <a:spLocks noGrp="1"/>
          </p:cNvSpPr>
          <p:nvPr>
            <p:ph sz="quarter" idx="21"/>
          </p:nvPr>
        </p:nvSpPr>
        <p:spPr>
          <a:xfrm>
            <a:off x="2999232" y="1527048"/>
            <a:ext cx="8778240" cy="4645152"/>
          </a:xfrm>
        </p:spPr>
        <p:txBody>
          <a:bodyPr>
            <a:normAutofit lnSpcReduction="10000"/>
          </a:bodyPr>
          <a:lstStyle/>
          <a:p>
            <a:pPr>
              <a:buClr>
                <a:schemeClr val="tx1"/>
              </a:buClr>
            </a:pPr>
            <a:r>
              <a:rPr lang="en-US">
                <a:solidFill>
                  <a:srgbClr val="504BAB"/>
                </a:solidFill>
              </a:rPr>
              <a:t>Focus</a:t>
            </a:r>
          </a:p>
          <a:p>
            <a:pPr lvl="1">
              <a:buClr>
                <a:schemeClr val="tx1"/>
              </a:buClr>
            </a:pPr>
            <a:r>
              <a:rPr lang="en-US"/>
              <a:t>Protect information, systems, and assets while delivering business value through risk assessments and mitigation strategies.</a:t>
            </a:r>
          </a:p>
          <a:p>
            <a:pPr marL="0" indent="0">
              <a:buClr>
                <a:schemeClr val="tx1"/>
              </a:buClr>
              <a:buNone/>
            </a:pPr>
            <a:endParaRPr lang="en-US"/>
          </a:p>
          <a:p>
            <a:pPr>
              <a:buClr>
                <a:schemeClr val="tx1"/>
              </a:buClr>
            </a:pPr>
            <a:r>
              <a:rPr lang="en-US">
                <a:solidFill>
                  <a:srgbClr val="504BAB"/>
                </a:solidFill>
              </a:rPr>
              <a:t>Key topics</a:t>
            </a:r>
          </a:p>
          <a:p>
            <a:pPr lvl="1">
              <a:buClr>
                <a:schemeClr val="tx1"/>
              </a:buClr>
            </a:pPr>
            <a:r>
              <a:rPr lang="en-US"/>
              <a:t>Protecting confidentiality and integrity of data</a:t>
            </a:r>
          </a:p>
          <a:p>
            <a:pPr lvl="1">
              <a:buClr>
                <a:schemeClr val="tx1"/>
              </a:buClr>
            </a:pPr>
            <a:r>
              <a:rPr lang="en-US"/>
              <a:t>Identifying and managing who can do what</a:t>
            </a:r>
          </a:p>
          <a:p>
            <a:pPr lvl="1">
              <a:buClr>
                <a:schemeClr val="tx1"/>
              </a:buClr>
            </a:pPr>
            <a:r>
              <a:rPr lang="en-US"/>
              <a:t>Protecting systems</a:t>
            </a:r>
          </a:p>
          <a:p>
            <a:pPr lvl="1">
              <a:buClr>
                <a:schemeClr val="tx1"/>
              </a:buClr>
            </a:pPr>
            <a:r>
              <a:rPr lang="en-US"/>
              <a:t>Establishing controls to detect security events</a:t>
            </a:r>
          </a:p>
        </p:txBody>
      </p:sp>
      <p:grpSp>
        <p:nvGrpSpPr>
          <p:cNvPr id="4" name="Group 3">
            <a:extLst>
              <a:ext uri="{FF2B5EF4-FFF2-40B4-BE49-F238E27FC236}">
                <a16:creationId xmlns:a16="http://schemas.microsoft.com/office/drawing/2014/main" id="{2BBEF7FA-B13D-4DE9-9B1E-C05FA11CB4FB}"/>
              </a:ext>
              <a:ext uri="{C183D7F6-B498-43B3-948B-1728B52AA6E4}">
                <adec:decorative xmlns:adec="http://schemas.microsoft.com/office/drawing/2017/decorative" val="1"/>
              </a:ext>
            </a:extLst>
          </p:cNvPr>
          <p:cNvGrpSpPr/>
          <p:nvPr/>
        </p:nvGrpSpPr>
        <p:grpSpPr>
          <a:xfrm>
            <a:off x="378608" y="1487855"/>
            <a:ext cx="2229853" cy="4539916"/>
            <a:chOff x="378608" y="1487855"/>
            <a:chExt cx="2229853" cy="4539916"/>
          </a:xfrm>
        </p:grpSpPr>
        <p:sp>
          <p:nvSpPr>
            <p:cNvPr id="7" name="Rectangle 6">
              <a:extLst>
                <a:ext uri="{FF2B5EF4-FFF2-40B4-BE49-F238E27FC236}">
                  <a16:creationId xmlns:a16="http://schemas.microsoft.com/office/drawing/2014/main" id="{7316DD7A-526A-D54B-B6BF-134E1684A2EF}"/>
                </a:ext>
              </a:extLst>
            </p:cNvPr>
            <p:cNvSpPr/>
            <p:nvPr/>
          </p:nvSpPr>
          <p:spPr>
            <a:xfrm>
              <a:off x="378608" y="1487855"/>
              <a:ext cx="2229853" cy="4539916"/>
            </a:xfrm>
            <a:prstGeom prst="rect">
              <a:avLst/>
            </a:prstGeom>
            <a:ln w="19050">
              <a:solidFill>
                <a:srgbClr val="0070C0"/>
              </a:solidFill>
            </a:ln>
          </p:spPr>
          <p:style>
            <a:lnRef idx="2">
              <a:schemeClr val="accent1"/>
            </a:lnRef>
            <a:fillRef idx="1">
              <a:schemeClr val="lt1"/>
            </a:fillRef>
            <a:effectRef idx="0">
              <a:schemeClr val="accent1"/>
            </a:effectRef>
            <a:fontRef idx="minor">
              <a:schemeClr val="dk1"/>
            </a:fontRef>
          </p:style>
          <p:txBody>
            <a:bodyPr rtlCol="0" anchor="t"/>
            <a:lstStyle/>
            <a:p>
              <a:pPr algn="ctr"/>
              <a:endParaRPr lang="en-US" sz="2400" b="1">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algn="ct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Security</a:t>
              </a:r>
            </a:p>
            <a:p>
              <a:pPr algn="ct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pillar</a:t>
              </a:r>
            </a:p>
          </p:txBody>
        </p:sp>
        <p:sp>
          <p:nvSpPr>
            <p:cNvPr id="9" name="TextBox 8">
              <a:extLst>
                <a:ext uri="{FF2B5EF4-FFF2-40B4-BE49-F238E27FC236}">
                  <a16:creationId xmlns:a16="http://schemas.microsoft.com/office/drawing/2014/main" id="{740081AF-0BDB-0F4E-AA36-A1167A9C2FDF}"/>
                </a:ext>
              </a:extLst>
            </p:cNvPr>
            <p:cNvSpPr txBox="1"/>
            <p:nvPr/>
          </p:nvSpPr>
          <p:spPr>
            <a:xfrm>
              <a:off x="679676" y="4889389"/>
              <a:ext cx="1627717" cy="1015663"/>
            </a:xfrm>
            <a:prstGeom prst="rect">
              <a:avLst/>
            </a:prstGeom>
            <a:noFill/>
          </p:spPr>
          <p:txBody>
            <a:bodyPr wrap="square" rtlCol="0">
              <a:spAutoFit/>
            </a:body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Protect and monitor systems</a:t>
              </a:r>
            </a:p>
          </p:txBody>
        </p:sp>
        <p:pic>
          <p:nvPicPr>
            <p:cNvPr id="10" name="Picture 4">
              <a:extLst>
                <a:ext uri="{FF2B5EF4-FFF2-40B4-BE49-F238E27FC236}">
                  <a16:creationId xmlns:a16="http://schemas.microsoft.com/office/drawing/2014/main" id="{0FDB392F-D9F5-440E-BC50-134A46F4FB06}"/>
                </a:ext>
                <a:ext uri="{C183D7F6-B498-43B3-948B-1728B52AA6E4}">
                  <adec:decorative xmlns:adec="http://schemas.microsoft.com/office/drawing/2017/decorative" val="1"/>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762014" y="3026293"/>
              <a:ext cx="1463040" cy="1463040"/>
            </a:xfrm>
            <a:prstGeom prst="rect">
              <a:avLst/>
            </a:prstGeom>
            <a:noFill/>
            <a:extLst>
              <a:ext uri="{909E8E84-426E-40DD-AFC4-6F175D3DCCD1}">
                <a14:hiddenFill xmlns:a14="http://schemas.microsoft.com/office/drawing/2010/main">
                  <a:solidFill>
                    <a:srgbClr val="FFFFFF"/>
                  </a:solidFill>
                </a14:hiddenFill>
              </a:ext>
            </a:extLst>
          </p:spPr>
        </p:pic>
      </p:grpSp>
    </p:spTree>
    <p:custDataLst>
      <p:tags r:id="rId1"/>
    </p:custDataLst>
    <p:extLst>
      <p:ext uri="{BB962C8B-B14F-4D97-AF65-F5344CB8AC3E}">
        <p14:creationId xmlns:p14="http://schemas.microsoft.com/office/powerpoint/2010/main" val="782760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F83CF01-3986-4D2C-A314-E9D5D6BABC1B}"/>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15</a:t>
            </a:fld>
            <a:endParaRPr lang="en-US"/>
          </a:p>
        </p:txBody>
      </p:sp>
      <p:sp>
        <p:nvSpPr>
          <p:cNvPr id="2" name="Title 1"/>
          <p:cNvSpPr>
            <a:spLocks noGrp="1"/>
          </p:cNvSpPr>
          <p:nvPr>
            <p:ph type="title"/>
          </p:nvPr>
        </p:nvSpPr>
        <p:spPr/>
        <p:txBody>
          <a:bodyPr/>
          <a:lstStyle/>
          <a:p>
            <a:r>
              <a:rPr lang="en-US"/>
              <a:t>Security design principles</a:t>
            </a:r>
          </a:p>
        </p:txBody>
      </p:sp>
      <p:sp>
        <p:nvSpPr>
          <p:cNvPr id="14" name="Content Placeholder 13">
            <a:extLst>
              <a:ext uri="{FF2B5EF4-FFF2-40B4-BE49-F238E27FC236}">
                <a16:creationId xmlns:a16="http://schemas.microsoft.com/office/drawing/2014/main" id="{610AF2FD-2851-48FE-A539-F2263C866150}"/>
              </a:ext>
            </a:extLst>
          </p:cNvPr>
          <p:cNvSpPr>
            <a:spLocks noGrp="1"/>
          </p:cNvSpPr>
          <p:nvPr>
            <p:ph sz="quarter" idx="21"/>
          </p:nvPr>
        </p:nvSpPr>
        <p:spPr>
          <a:xfrm>
            <a:off x="2907792" y="1527048"/>
            <a:ext cx="8842248" cy="4645152"/>
          </a:xfrm>
        </p:spPr>
        <p:txBody>
          <a:bodyPr/>
          <a:lstStyle/>
          <a:p>
            <a:r>
              <a:rPr lang="en-US"/>
              <a:t>Implement a strong identity foundation</a:t>
            </a:r>
          </a:p>
          <a:p>
            <a:r>
              <a:rPr lang="en-US"/>
              <a:t>Enable traceability</a:t>
            </a:r>
          </a:p>
          <a:p>
            <a:r>
              <a:rPr lang="en-US"/>
              <a:t>Apply security at all layers</a:t>
            </a:r>
          </a:p>
          <a:p>
            <a:r>
              <a:rPr lang="en-US"/>
              <a:t>Automate security best practices</a:t>
            </a:r>
          </a:p>
          <a:p>
            <a:r>
              <a:rPr lang="en-US"/>
              <a:t>Protect data in transit and at rest</a:t>
            </a:r>
          </a:p>
          <a:p>
            <a:r>
              <a:rPr lang="en-US"/>
              <a:t>Keep people away from data</a:t>
            </a:r>
          </a:p>
          <a:p>
            <a:r>
              <a:rPr lang="en-US"/>
              <a:t>Prepare for security events</a:t>
            </a:r>
          </a:p>
        </p:txBody>
      </p:sp>
      <p:grpSp>
        <p:nvGrpSpPr>
          <p:cNvPr id="5" name="Group 4">
            <a:extLst>
              <a:ext uri="{FF2B5EF4-FFF2-40B4-BE49-F238E27FC236}">
                <a16:creationId xmlns:a16="http://schemas.microsoft.com/office/drawing/2014/main" id="{5216B019-C590-46A9-B3E1-C9A7617CA2B3}"/>
              </a:ext>
              <a:ext uri="{C183D7F6-B498-43B3-948B-1728B52AA6E4}">
                <adec:decorative xmlns:adec="http://schemas.microsoft.com/office/drawing/2017/decorative" val="1"/>
              </a:ext>
            </a:extLst>
          </p:cNvPr>
          <p:cNvGrpSpPr/>
          <p:nvPr/>
        </p:nvGrpSpPr>
        <p:grpSpPr>
          <a:xfrm>
            <a:off x="378608" y="1487855"/>
            <a:ext cx="2229853" cy="4539916"/>
            <a:chOff x="378608" y="1487855"/>
            <a:chExt cx="2229853" cy="4539916"/>
          </a:xfrm>
        </p:grpSpPr>
        <p:sp>
          <p:nvSpPr>
            <p:cNvPr id="7" name="Rectangle 6">
              <a:extLst>
                <a:ext uri="{FF2B5EF4-FFF2-40B4-BE49-F238E27FC236}">
                  <a16:creationId xmlns:a16="http://schemas.microsoft.com/office/drawing/2014/main" id="{93CFB68E-7822-EC46-8F1C-5C616DABEF2A}"/>
                </a:ext>
              </a:extLst>
            </p:cNvPr>
            <p:cNvSpPr/>
            <p:nvPr/>
          </p:nvSpPr>
          <p:spPr>
            <a:xfrm>
              <a:off x="378608" y="1487855"/>
              <a:ext cx="2229853" cy="4539916"/>
            </a:xfrm>
            <a:prstGeom prst="rect">
              <a:avLst/>
            </a:prstGeom>
            <a:ln w="19050">
              <a:solidFill>
                <a:srgbClr val="0070C0"/>
              </a:solidFill>
            </a:ln>
          </p:spPr>
          <p:style>
            <a:lnRef idx="2">
              <a:schemeClr val="accent1"/>
            </a:lnRef>
            <a:fillRef idx="1">
              <a:schemeClr val="lt1"/>
            </a:fillRef>
            <a:effectRef idx="0">
              <a:schemeClr val="accent1"/>
            </a:effectRef>
            <a:fontRef idx="minor">
              <a:schemeClr val="dk1"/>
            </a:fontRef>
          </p:style>
          <p:txBody>
            <a:bodyPr rtlCol="0" anchor="t"/>
            <a:lstStyle/>
            <a:p>
              <a:pPr algn="ctr"/>
              <a:endParaRPr lang="en-US" sz="2400" b="1">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algn="ct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Security</a:t>
              </a:r>
            </a:p>
            <a:p>
              <a:pPr algn="ct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pillar</a:t>
              </a:r>
            </a:p>
          </p:txBody>
        </p:sp>
        <p:sp>
          <p:nvSpPr>
            <p:cNvPr id="9" name="TextBox 8">
              <a:extLst>
                <a:ext uri="{FF2B5EF4-FFF2-40B4-BE49-F238E27FC236}">
                  <a16:creationId xmlns:a16="http://schemas.microsoft.com/office/drawing/2014/main" id="{552D38CF-9D57-ED45-892B-C10BA99A1394}"/>
                </a:ext>
              </a:extLst>
            </p:cNvPr>
            <p:cNvSpPr txBox="1"/>
            <p:nvPr/>
          </p:nvSpPr>
          <p:spPr>
            <a:xfrm>
              <a:off x="679675" y="4889389"/>
              <a:ext cx="1627717" cy="1015663"/>
            </a:xfrm>
            <a:prstGeom prst="rect">
              <a:avLst/>
            </a:prstGeom>
            <a:noFill/>
          </p:spPr>
          <p:txBody>
            <a:bodyPr wrap="square" rtlCol="0">
              <a:spAutoFit/>
            </a:body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Protect and monitor systems</a:t>
              </a:r>
            </a:p>
          </p:txBody>
        </p:sp>
        <p:pic>
          <p:nvPicPr>
            <p:cNvPr id="10" name="Picture 4">
              <a:extLst>
                <a:ext uri="{FF2B5EF4-FFF2-40B4-BE49-F238E27FC236}">
                  <a16:creationId xmlns:a16="http://schemas.microsoft.com/office/drawing/2014/main" id="{AD738E10-95F1-4864-BFEF-57CE14E0E1C3}"/>
                </a:ext>
                <a:ext uri="{C183D7F6-B498-43B3-948B-1728B52AA6E4}">
                  <adec:decorative xmlns:adec="http://schemas.microsoft.com/office/drawing/2017/decorative" val="1"/>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762014" y="3026293"/>
              <a:ext cx="1463040" cy="1463040"/>
            </a:xfrm>
            <a:prstGeom prst="rect">
              <a:avLst/>
            </a:prstGeom>
            <a:noFill/>
            <a:extLst>
              <a:ext uri="{909E8E84-426E-40DD-AFC4-6F175D3DCCD1}">
                <a14:hiddenFill xmlns:a14="http://schemas.microsoft.com/office/drawing/2010/main">
                  <a:solidFill>
                    <a:srgbClr val="FFFFFF"/>
                  </a:solidFill>
                </a14:hiddenFill>
              </a:ext>
            </a:extLst>
          </p:spPr>
        </p:pic>
      </p:grpSp>
    </p:spTree>
    <p:custDataLst>
      <p:tags r:id="rId1"/>
    </p:custDataLst>
    <p:extLst>
      <p:ext uri="{BB962C8B-B14F-4D97-AF65-F5344CB8AC3E}">
        <p14:creationId xmlns:p14="http://schemas.microsoft.com/office/powerpoint/2010/main" val="1760501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24B5E8F-0610-4921-8D92-8999574FE2B1}"/>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16</a:t>
            </a:fld>
            <a:endParaRPr lang="en-US"/>
          </a:p>
        </p:txBody>
      </p:sp>
      <p:sp>
        <p:nvSpPr>
          <p:cNvPr id="7" name="Title 6">
            <a:extLst>
              <a:ext uri="{FF2B5EF4-FFF2-40B4-BE49-F238E27FC236}">
                <a16:creationId xmlns:a16="http://schemas.microsoft.com/office/drawing/2014/main" id="{9DAF1FE1-D4B8-412C-870C-A4AAC0D00BB7}"/>
              </a:ext>
            </a:extLst>
          </p:cNvPr>
          <p:cNvSpPr>
            <a:spLocks noGrp="1"/>
          </p:cNvSpPr>
          <p:nvPr>
            <p:ph type="title"/>
          </p:nvPr>
        </p:nvSpPr>
        <p:spPr/>
        <p:txBody>
          <a:bodyPr/>
          <a:lstStyle/>
          <a:p>
            <a:r>
              <a:rPr lang="en-US"/>
              <a:t>Security questions</a:t>
            </a:r>
          </a:p>
        </p:txBody>
      </p:sp>
      <p:sp>
        <p:nvSpPr>
          <p:cNvPr id="8" name="Content Placeholder 7">
            <a:extLst>
              <a:ext uri="{FF2B5EF4-FFF2-40B4-BE49-F238E27FC236}">
                <a16:creationId xmlns:a16="http://schemas.microsoft.com/office/drawing/2014/main" id="{7438C86D-A992-4D24-9722-D83C7706545A}"/>
              </a:ext>
            </a:extLst>
          </p:cNvPr>
          <p:cNvSpPr>
            <a:spLocks noGrp="1"/>
          </p:cNvSpPr>
          <p:nvPr>
            <p:ph sz="quarter" idx="21"/>
          </p:nvPr>
        </p:nvSpPr>
        <p:spPr>
          <a:xfrm>
            <a:off x="365760" y="1143000"/>
            <a:ext cx="5504688" cy="4645152"/>
          </a:xfrm>
        </p:spPr>
        <p:txBody>
          <a:bodyPr>
            <a:normAutofit fontScale="92500"/>
          </a:bodyPr>
          <a:lstStyle/>
          <a:p>
            <a:pPr marL="0" indent="0">
              <a:buNone/>
            </a:pPr>
            <a:r>
              <a:rPr lang="en-US" sz="2400">
                <a:solidFill>
                  <a:srgbClr val="504BAB"/>
                </a:solidFill>
              </a:rPr>
              <a:t>Security</a:t>
            </a:r>
          </a:p>
          <a:p>
            <a:r>
              <a:rPr lang="en-US" sz="2000"/>
              <a:t>How do you securely operate your workload?</a:t>
            </a:r>
          </a:p>
          <a:p>
            <a:pPr marL="0" indent="0">
              <a:buNone/>
            </a:pPr>
            <a:endParaRPr lang="en-US" sz="2000"/>
          </a:p>
          <a:p>
            <a:pPr marL="0" indent="0">
              <a:buNone/>
            </a:pPr>
            <a:r>
              <a:rPr lang="en-US" sz="2400">
                <a:solidFill>
                  <a:srgbClr val="504BAB"/>
                </a:solidFill>
              </a:rPr>
              <a:t>Identity and access management</a:t>
            </a:r>
          </a:p>
          <a:p>
            <a:r>
              <a:rPr lang="en-US" sz="2000"/>
              <a:t>How do you manage identities for people and machines?</a:t>
            </a:r>
          </a:p>
          <a:p>
            <a:r>
              <a:rPr lang="en-US" sz="2000"/>
              <a:t>How do you manage permissions for people and machines?</a:t>
            </a:r>
          </a:p>
          <a:p>
            <a:pPr marL="0" indent="0">
              <a:buNone/>
            </a:pPr>
            <a:endParaRPr lang="en-US" sz="2000"/>
          </a:p>
          <a:p>
            <a:pPr marL="0" indent="0">
              <a:buNone/>
            </a:pPr>
            <a:r>
              <a:rPr lang="en-US" sz="2400">
                <a:solidFill>
                  <a:srgbClr val="504BAB"/>
                </a:solidFill>
              </a:rPr>
              <a:t>Detection</a:t>
            </a:r>
          </a:p>
          <a:p>
            <a:r>
              <a:rPr lang="en-US" sz="2000"/>
              <a:t>How do you detect and investigate security events?</a:t>
            </a:r>
          </a:p>
        </p:txBody>
      </p:sp>
      <p:sp>
        <p:nvSpPr>
          <p:cNvPr id="9" name="Content Placeholder 8">
            <a:extLst>
              <a:ext uri="{FF2B5EF4-FFF2-40B4-BE49-F238E27FC236}">
                <a16:creationId xmlns:a16="http://schemas.microsoft.com/office/drawing/2014/main" id="{C9A2748F-3BB8-4881-97A1-3E5268F9B480}"/>
              </a:ext>
            </a:extLst>
          </p:cNvPr>
          <p:cNvSpPr>
            <a:spLocks noGrp="1"/>
          </p:cNvSpPr>
          <p:nvPr>
            <p:ph idx="4294967295"/>
          </p:nvPr>
        </p:nvSpPr>
        <p:spPr>
          <a:xfrm>
            <a:off x="6245352" y="1143000"/>
            <a:ext cx="5503862" cy="4645152"/>
          </a:xfrm>
        </p:spPr>
        <p:txBody>
          <a:bodyPr>
            <a:normAutofit fontScale="92500" lnSpcReduction="10000"/>
          </a:bodyPr>
          <a:lstStyle/>
          <a:p>
            <a:pPr marL="0" indent="0">
              <a:buNone/>
            </a:pPr>
            <a:r>
              <a:rPr lang="en-US" sz="2400">
                <a:solidFill>
                  <a:srgbClr val="504BAB"/>
                </a:solidFill>
              </a:rPr>
              <a:t>Infrastructure protection</a:t>
            </a:r>
          </a:p>
          <a:p>
            <a:r>
              <a:rPr lang="en-US" sz="2000"/>
              <a:t>How do you protect your network resources?</a:t>
            </a:r>
          </a:p>
          <a:p>
            <a:r>
              <a:rPr lang="en-US" sz="2000"/>
              <a:t>How do you protect your compute resources?</a:t>
            </a:r>
          </a:p>
          <a:p>
            <a:pPr marL="0" indent="0">
              <a:buNone/>
            </a:pPr>
            <a:endParaRPr lang="en-US" sz="2000"/>
          </a:p>
          <a:p>
            <a:pPr marL="0" indent="0">
              <a:buNone/>
            </a:pPr>
            <a:r>
              <a:rPr lang="en-US" sz="2400">
                <a:solidFill>
                  <a:srgbClr val="504BAB"/>
                </a:solidFill>
              </a:rPr>
              <a:t>Data protection</a:t>
            </a:r>
          </a:p>
          <a:p>
            <a:r>
              <a:rPr lang="en-US" sz="2000"/>
              <a:t>How do you classify your data?</a:t>
            </a:r>
          </a:p>
          <a:p>
            <a:r>
              <a:rPr lang="en-US" sz="2000"/>
              <a:t>How do you protect your data at rest?</a:t>
            </a:r>
          </a:p>
          <a:p>
            <a:r>
              <a:rPr lang="en-US" sz="2000"/>
              <a:t>How do you protect your data in transit?</a:t>
            </a:r>
            <a:br>
              <a:rPr lang="en-US" sz="2400"/>
            </a:br>
            <a:endParaRPr lang="en-US" sz="2400"/>
          </a:p>
          <a:p>
            <a:pPr marL="0" indent="0">
              <a:buNone/>
            </a:pPr>
            <a:r>
              <a:rPr lang="en-US" sz="2400">
                <a:solidFill>
                  <a:srgbClr val="504BAB"/>
                </a:solidFill>
              </a:rPr>
              <a:t>Incident response</a:t>
            </a:r>
          </a:p>
          <a:p>
            <a:r>
              <a:rPr lang="en-US" sz="2000"/>
              <a:t>How do you anticipate, respond to, and recover from incidents?</a:t>
            </a:r>
            <a:endParaRPr lang="en-US" sz="2400"/>
          </a:p>
        </p:txBody>
      </p:sp>
    </p:spTree>
    <p:custDataLst>
      <p:tags r:id="rId1"/>
    </p:custDataLst>
    <p:extLst>
      <p:ext uri="{BB962C8B-B14F-4D97-AF65-F5344CB8AC3E}">
        <p14:creationId xmlns:p14="http://schemas.microsoft.com/office/powerpoint/2010/main" val="3872109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E06D641-1A1A-4EC3-A9BC-A150BBCFEF24}"/>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17</a:t>
            </a:fld>
            <a:endParaRPr lang="en-US"/>
          </a:p>
        </p:txBody>
      </p:sp>
      <p:sp>
        <p:nvSpPr>
          <p:cNvPr id="6" name="Title 5">
            <a:extLst>
              <a:ext uri="{FF2B5EF4-FFF2-40B4-BE49-F238E27FC236}">
                <a16:creationId xmlns:a16="http://schemas.microsoft.com/office/drawing/2014/main" id="{527558D1-8AE7-4F45-8C8C-A56F6D4F60AE}"/>
              </a:ext>
            </a:extLst>
          </p:cNvPr>
          <p:cNvSpPr>
            <a:spLocks noGrp="1"/>
          </p:cNvSpPr>
          <p:nvPr>
            <p:ph type="title"/>
          </p:nvPr>
        </p:nvSpPr>
        <p:spPr>
          <a:xfrm>
            <a:off x="3878580" y="3063341"/>
            <a:ext cx="4434840" cy="731318"/>
          </a:xfrm>
        </p:spPr>
        <p:txBody>
          <a:bodyPr/>
          <a:lstStyle/>
          <a:p>
            <a:r>
              <a:rPr lang="en-US" sz="4000"/>
              <a:t>Reliability pillar</a:t>
            </a:r>
          </a:p>
        </p:txBody>
      </p:sp>
    </p:spTree>
    <p:custDataLst>
      <p:tags r:id="rId1"/>
    </p:custDataLst>
    <p:extLst>
      <p:ext uri="{BB962C8B-B14F-4D97-AF65-F5344CB8AC3E}">
        <p14:creationId xmlns:p14="http://schemas.microsoft.com/office/powerpoint/2010/main" val="3083639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0D5481CF-2D28-4F62-A83A-E7A4E95E52DA}"/>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18</a:t>
            </a:fld>
            <a:endParaRPr lang="en-US"/>
          </a:p>
        </p:txBody>
      </p:sp>
      <p:sp>
        <p:nvSpPr>
          <p:cNvPr id="2" name="Title 1"/>
          <p:cNvSpPr>
            <a:spLocks noGrp="1"/>
          </p:cNvSpPr>
          <p:nvPr>
            <p:ph type="title"/>
          </p:nvPr>
        </p:nvSpPr>
        <p:spPr/>
        <p:txBody>
          <a:bodyPr>
            <a:normAutofit/>
          </a:bodyPr>
          <a:lstStyle/>
          <a:p>
            <a:r>
              <a:rPr lang="en-US"/>
              <a:t>Reliability pillar – recover from failure and mitigate disruption</a:t>
            </a:r>
          </a:p>
        </p:txBody>
      </p:sp>
      <p:sp>
        <p:nvSpPr>
          <p:cNvPr id="9" name="Content Placeholder 8">
            <a:extLst>
              <a:ext uri="{FF2B5EF4-FFF2-40B4-BE49-F238E27FC236}">
                <a16:creationId xmlns:a16="http://schemas.microsoft.com/office/drawing/2014/main" id="{7963EC24-12CA-4657-AC77-23F81772602F}"/>
              </a:ext>
            </a:extLst>
          </p:cNvPr>
          <p:cNvSpPr>
            <a:spLocks noGrp="1"/>
          </p:cNvSpPr>
          <p:nvPr>
            <p:ph sz="quarter" idx="21"/>
          </p:nvPr>
        </p:nvSpPr>
        <p:spPr>
          <a:xfrm>
            <a:off x="2907792" y="1527048"/>
            <a:ext cx="8869680" cy="4645152"/>
          </a:xfrm>
        </p:spPr>
        <p:txBody>
          <a:bodyPr/>
          <a:lstStyle/>
          <a:p>
            <a:pPr>
              <a:buClr>
                <a:schemeClr val="tx1"/>
              </a:buClr>
            </a:pPr>
            <a:r>
              <a:rPr lang="en-US">
                <a:solidFill>
                  <a:srgbClr val="504BAB"/>
                </a:solidFill>
              </a:rPr>
              <a:t>Focus</a:t>
            </a:r>
          </a:p>
          <a:p>
            <a:pPr lvl="1">
              <a:buClr>
                <a:schemeClr val="tx1"/>
              </a:buClr>
            </a:pPr>
            <a:r>
              <a:rPr lang="en-US"/>
              <a:t>Ensure a workload performs its intended function correctly and consistently when it’s expected to.</a:t>
            </a:r>
          </a:p>
          <a:p>
            <a:pPr marL="0" indent="0">
              <a:buClr>
                <a:schemeClr val="tx1"/>
              </a:buClr>
              <a:buNone/>
            </a:pPr>
            <a:endParaRPr lang="en-US"/>
          </a:p>
          <a:p>
            <a:pPr>
              <a:buClr>
                <a:schemeClr val="tx1"/>
              </a:buClr>
            </a:pPr>
            <a:r>
              <a:rPr lang="en-US">
                <a:solidFill>
                  <a:srgbClr val="504BAB"/>
                </a:solidFill>
              </a:rPr>
              <a:t>Key topics</a:t>
            </a:r>
          </a:p>
          <a:p>
            <a:pPr lvl="1">
              <a:buClr>
                <a:schemeClr val="tx1"/>
              </a:buClr>
            </a:pPr>
            <a:r>
              <a:rPr lang="en-US"/>
              <a:t>Designing distributed systems</a:t>
            </a:r>
          </a:p>
          <a:p>
            <a:pPr lvl="1">
              <a:buClr>
                <a:schemeClr val="tx1"/>
              </a:buClr>
            </a:pPr>
            <a:r>
              <a:rPr lang="en-US"/>
              <a:t>Recovery planning</a:t>
            </a:r>
          </a:p>
          <a:p>
            <a:pPr lvl="1">
              <a:buClr>
                <a:schemeClr val="tx1"/>
              </a:buClr>
            </a:pPr>
            <a:r>
              <a:rPr lang="en-US"/>
              <a:t>Handling change</a:t>
            </a:r>
          </a:p>
        </p:txBody>
      </p:sp>
      <p:grpSp>
        <p:nvGrpSpPr>
          <p:cNvPr id="4" name="Group 3">
            <a:extLst>
              <a:ext uri="{FF2B5EF4-FFF2-40B4-BE49-F238E27FC236}">
                <a16:creationId xmlns:a16="http://schemas.microsoft.com/office/drawing/2014/main" id="{D70D9582-9BBE-4BC1-9C37-DAC0D37F9F2D}"/>
              </a:ext>
              <a:ext uri="{C183D7F6-B498-43B3-948B-1728B52AA6E4}">
                <adec:decorative xmlns:adec="http://schemas.microsoft.com/office/drawing/2017/decorative" val="1"/>
              </a:ext>
            </a:extLst>
          </p:cNvPr>
          <p:cNvGrpSpPr/>
          <p:nvPr/>
        </p:nvGrpSpPr>
        <p:grpSpPr>
          <a:xfrm>
            <a:off x="373202" y="1489611"/>
            <a:ext cx="2229853" cy="4539915"/>
            <a:chOff x="373202" y="1489611"/>
            <a:chExt cx="2229853" cy="4539915"/>
          </a:xfrm>
        </p:grpSpPr>
        <p:sp>
          <p:nvSpPr>
            <p:cNvPr id="3" name="Rectangle 2">
              <a:extLst>
                <a:ext uri="{FF2B5EF4-FFF2-40B4-BE49-F238E27FC236}">
                  <a16:creationId xmlns:a16="http://schemas.microsoft.com/office/drawing/2014/main" id="{00F64DA2-ACC2-9949-A7BB-9298A3073F98}"/>
                </a:ext>
              </a:extLst>
            </p:cNvPr>
            <p:cNvSpPr/>
            <p:nvPr/>
          </p:nvSpPr>
          <p:spPr>
            <a:xfrm>
              <a:off x="373202" y="1489611"/>
              <a:ext cx="2229853" cy="4539915"/>
            </a:xfrm>
            <a:prstGeom prst="rect">
              <a:avLst/>
            </a:prstGeom>
            <a:ln w="19050">
              <a:solidFill>
                <a:srgbClr val="0070C0"/>
              </a:solidFill>
            </a:ln>
          </p:spPr>
          <p:style>
            <a:lnRef idx="2">
              <a:schemeClr val="accent1"/>
            </a:lnRef>
            <a:fillRef idx="1">
              <a:schemeClr val="lt1"/>
            </a:fillRef>
            <a:effectRef idx="0">
              <a:schemeClr val="accent1"/>
            </a:effectRef>
            <a:fontRef idx="minor">
              <a:schemeClr val="dk1"/>
            </a:fontRef>
          </p:style>
          <p:txBody>
            <a:bodyPr rtlCol="0" anchor="t"/>
            <a:lstStyle/>
            <a:p>
              <a:pPr algn="ctr"/>
              <a:endParaRPr lang="en-US" sz="2400" b="1">
                <a:latin typeface="Amazon Ember Light" panose="020B0403020204020204" pitchFamily="34" charset="0"/>
                <a:ea typeface="Amazon Ember Light" panose="020B0403020204020204" pitchFamily="34" charset="0"/>
                <a:cs typeface="Amazon Ember Light" panose="020B0403020204020204" pitchFamily="34" charset="0"/>
              </a:endParaRPr>
            </a:p>
            <a:p>
              <a:pPr algn="ct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Reliability</a:t>
              </a:r>
            </a:p>
            <a:p>
              <a:pPr algn="ct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pillar</a:t>
              </a:r>
            </a:p>
          </p:txBody>
        </p:sp>
        <p:sp>
          <p:nvSpPr>
            <p:cNvPr id="5" name="TextBox 4">
              <a:extLst>
                <a:ext uri="{FF2B5EF4-FFF2-40B4-BE49-F238E27FC236}">
                  <a16:creationId xmlns:a16="http://schemas.microsoft.com/office/drawing/2014/main" id="{2C38320B-1671-BF4E-928E-17A874073800}"/>
                </a:ext>
              </a:extLst>
            </p:cNvPr>
            <p:cNvSpPr txBox="1"/>
            <p:nvPr/>
          </p:nvSpPr>
          <p:spPr>
            <a:xfrm>
              <a:off x="674268" y="4547274"/>
              <a:ext cx="1627717" cy="1323439"/>
            </a:xfrm>
            <a:prstGeom prst="rect">
              <a:avLst/>
            </a:prstGeom>
            <a:noFill/>
          </p:spPr>
          <p:txBody>
            <a:bodyPr wrap="square" rtlCol="0">
              <a:spAutoFit/>
            </a:body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Recover from failure and mitigate disruption.</a:t>
              </a:r>
            </a:p>
          </p:txBody>
        </p:sp>
        <p:pic>
          <p:nvPicPr>
            <p:cNvPr id="10" name="Picture 6">
              <a:extLst>
                <a:ext uri="{FF2B5EF4-FFF2-40B4-BE49-F238E27FC236}">
                  <a16:creationId xmlns:a16="http://schemas.microsoft.com/office/drawing/2014/main" id="{C0D027A1-49AD-4000-821F-A9068D908B46}"/>
                </a:ext>
                <a:ext uri="{C183D7F6-B498-43B3-948B-1728B52AA6E4}">
                  <adec:decorative xmlns:adec="http://schemas.microsoft.com/office/drawing/2017/decorative" val="1"/>
                </a:ext>
              </a:extLst>
            </p:cNvPr>
            <p:cNvPicPr>
              <a:picLocks noChangeAspect="1" noChangeArrowheads="1"/>
            </p:cNvPicPr>
            <p:nvPr/>
          </p:nvPicPr>
          <p:blipFill>
            <a:blip r:embed="rId4">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56606" y="2697480"/>
              <a:ext cx="1463040" cy="1463040"/>
            </a:xfrm>
            <a:prstGeom prst="rect">
              <a:avLst/>
            </a:prstGeom>
            <a:noFill/>
            <a:extLst>
              <a:ext uri="{909E8E84-426E-40DD-AFC4-6F175D3DCCD1}">
                <a14:hiddenFill xmlns:a14="http://schemas.microsoft.com/office/drawing/2010/main">
                  <a:solidFill>
                    <a:srgbClr val="FFFFFF"/>
                  </a:solidFill>
                </a14:hiddenFill>
              </a:ext>
            </a:extLst>
          </p:spPr>
        </p:pic>
      </p:grpSp>
    </p:spTree>
    <p:custDataLst>
      <p:tags r:id="rId1"/>
    </p:custDataLst>
    <p:extLst>
      <p:ext uri="{BB962C8B-B14F-4D97-AF65-F5344CB8AC3E}">
        <p14:creationId xmlns:p14="http://schemas.microsoft.com/office/powerpoint/2010/main" val="1666774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3736C96-B9B9-445C-8866-DAE394194D7F}"/>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19</a:t>
            </a:fld>
            <a:endParaRPr lang="en-US" dirty="0"/>
          </a:p>
        </p:txBody>
      </p:sp>
      <p:sp>
        <p:nvSpPr>
          <p:cNvPr id="2" name="Title 1"/>
          <p:cNvSpPr>
            <a:spLocks noGrp="1"/>
          </p:cNvSpPr>
          <p:nvPr>
            <p:ph type="title"/>
          </p:nvPr>
        </p:nvSpPr>
        <p:spPr/>
        <p:txBody>
          <a:bodyPr/>
          <a:lstStyle/>
          <a:p>
            <a:r>
              <a:rPr lang="en-US"/>
              <a:t>Reliability design principles</a:t>
            </a:r>
          </a:p>
        </p:txBody>
      </p:sp>
      <p:sp>
        <p:nvSpPr>
          <p:cNvPr id="6" name="Content Placeholder 5">
            <a:extLst>
              <a:ext uri="{FF2B5EF4-FFF2-40B4-BE49-F238E27FC236}">
                <a16:creationId xmlns:a16="http://schemas.microsoft.com/office/drawing/2014/main" id="{552CA10E-49C0-4698-903A-23D6AC315E00}"/>
              </a:ext>
            </a:extLst>
          </p:cNvPr>
          <p:cNvSpPr>
            <a:spLocks noGrp="1"/>
          </p:cNvSpPr>
          <p:nvPr>
            <p:ph sz="quarter" idx="21"/>
          </p:nvPr>
        </p:nvSpPr>
        <p:spPr>
          <a:xfrm>
            <a:off x="2907792" y="1527048"/>
            <a:ext cx="8851392" cy="4645152"/>
          </a:xfrm>
        </p:spPr>
        <p:txBody>
          <a:bodyPr/>
          <a:lstStyle/>
          <a:p>
            <a:r>
              <a:rPr lang="en-US"/>
              <a:t>Automatically recover from failure</a:t>
            </a:r>
          </a:p>
          <a:p>
            <a:r>
              <a:rPr lang="en-US"/>
              <a:t>Test recovery procedures</a:t>
            </a:r>
          </a:p>
          <a:p>
            <a:r>
              <a:rPr lang="en-US"/>
              <a:t>Scale horizontally to increase aggregate workload availability</a:t>
            </a:r>
          </a:p>
          <a:p>
            <a:r>
              <a:rPr lang="en-US"/>
              <a:t>Stop guessing capacity</a:t>
            </a:r>
          </a:p>
          <a:p>
            <a:r>
              <a:rPr lang="en-US"/>
              <a:t>Manage change in automation</a:t>
            </a:r>
          </a:p>
        </p:txBody>
      </p:sp>
      <p:grpSp>
        <p:nvGrpSpPr>
          <p:cNvPr id="5" name="Group 4">
            <a:extLst>
              <a:ext uri="{FF2B5EF4-FFF2-40B4-BE49-F238E27FC236}">
                <a16:creationId xmlns:a16="http://schemas.microsoft.com/office/drawing/2014/main" id="{3DCA5757-1134-419A-B000-BE463BB1F767}"/>
              </a:ext>
              <a:ext uri="{C183D7F6-B498-43B3-948B-1728B52AA6E4}">
                <adec:decorative xmlns:adec="http://schemas.microsoft.com/office/drawing/2017/decorative" val="1"/>
              </a:ext>
            </a:extLst>
          </p:cNvPr>
          <p:cNvGrpSpPr/>
          <p:nvPr/>
        </p:nvGrpSpPr>
        <p:grpSpPr>
          <a:xfrm>
            <a:off x="373202" y="1489611"/>
            <a:ext cx="2229853" cy="4539915"/>
            <a:chOff x="373202" y="1489611"/>
            <a:chExt cx="2229853" cy="4539915"/>
          </a:xfrm>
        </p:grpSpPr>
        <p:sp>
          <p:nvSpPr>
            <p:cNvPr id="7" name="Rectangle 6">
              <a:extLst>
                <a:ext uri="{FF2B5EF4-FFF2-40B4-BE49-F238E27FC236}">
                  <a16:creationId xmlns:a16="http://schemas.microsoft.com/office/drawing/2014/main" id="{34F62EEE-2CC4-024A-AD7A-C26CCFBA52BC}"/>
                </a:ext>
              </a:extLst>
            </p:cNvPr>
            <p:cNvSpPr/>
            <p:nvPr/>
          </p:nvSpPr>
          <p:spPr>
            <a:xfrm>
              <a:off x="373202" y="1489611"/>
              <a:ext cx="2229853" cy="4539915"/>
            </a:xfrm>
            <a:prstGeom prst="rect">
              <a:avLst/>
            </a:prstGeom>
            <a:ln w="19050">
              <a:solidFill>
                <a:srgbClr val="0070C0"/>
              </a:solidFill>
            </a:ln>
          </p:spPr>
          <p:style>
            <a:lnRef idx="2">
              <a:schemeClr val="accent1"/>
            </a:lnRef>
            <a:fillRef idx="1">
              <a:schemeClr val="lt1"/>
            </a:fillRef>
            <a:effectRef idx="0">
              <a:schemeClr val="accent1"/>
            </a:effectRef>
            <a:fontRef idx="minor">
              <a:schemeClr val="dk1"/>
            </a:fontRef>
          </p:style>
          <p:txBody>
            <a:bodyPr rtlCol="0" anchor="t"/>
            <a:lstStyle/>
            <a:p>
              <a:pPr algn="ctr"/>
              <a:endParaRPr lang="en-US" sz="2400" b="1">
                <a:latin typeface="Amazon Ember Light" panose="020B0403020204020204" pitchFamily="34" charset="0"/>
                <a:ea typeface="Amazon Ember Light" panose="020B0403020204020204" pitchFamily="34" charset="0"/>
                <a:cs typeface="Amazon Ember Light" panose="020B0403020204020204" pitchFamily="34" charset="0"/>
              </a:endParaRPr>
            </a:p>
            <a:p>
              <a:pPr algn="ct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Reliability</a:t>
              </a:r>
            </a:p>
            <a:p>
              <a:pPr algn="ct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pillar</a:t>
              </a:r>
            </a:p>
          </p:txBody>
        </p:sp>
        <p:sp>
          <p:nvSpPr>
            <p:cNvPr id="9" name="TextBox 8">
              <a:extLst>
                <a:ext uri="{FF2B5EF4-FFF2-40B4-BE49-F238E27FC236}">
                  <a16:creationId xmlns:a16="http://schemas.microsoft.com/office/drawing/2014/main" id="{A17510EB-DF10-DF43-B4BD-23C0E24592FA}"/>
                </a:ext>
              </a:extLst>
            </p:cNvPr>
            <p:cNvSpPr txBox="1"/>
            <p:nvPr/>
          </p:nvSpPr>
          <p:spPr>
            <a:xfrm>
              <a:off x="674268" y="4547274"/>
              <a:ext cx="1627717" cy="1323439"/>
            </a:xfrm>
            <a:prstGeom prst="rect">
              <a:avLst/>
            </a:prstGeom>
            <a:noFill/>
          </p:spPr>
          <p:txBody>
            <a:bodyPr wrap="square" rtlCol="0">
              <a:spAutoFit/>
            </a:body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Recover from failure and mitigate disruption.</a:t>
              </a:r>
            </a:p>
          </p:txBody>
        </p:sp>
        <p:pic>
          <p:nvPicPr>
            <p:cNvPr id="10" name="Picture 6">
              <a:extLst>
                <a:ext uri="{FF2B5EF4-FFF2-40B4-BE49-F238E27FC236}">
                  <a16:creationId xmlns:a16="http://schemas.microsoft.com/office/drawing/2014/main" id="{0C6511F3-072D-4014-9887-896782A71604}"/>
                </a:ext>
                <a:ext uri="{C183D7F6-B498-43B3-948B-1728B52AA6E4}">
                  <adec:decorative xmlns:adec="http://schemas.microsoft.com/office/drawing/2017/decorative" val="1"/>
                </a:ext>
              </a:extLst>
            </p:cNvPr>
            <p:cNvPicPr>
              <a:picLocks noChangeAspect="1" noChangeArrowheads="1"/>
            </p:cNvPicPr>
            <p:nvPr/>
          </p:nvPicPr>
          <p:blipFill>
            <a:blip r:embed="rId4">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56606" y="2697480"/>
              <a:ext cx="1463040" cy="1463040"/>
            </a:xfrm>
            <a:prstGeom prst="rect">
              <a:avLst/>
            </a:prstGeom>
            <a:noFill/>
            <a:extLst>
              <a:ext uri="{909E8E84-426E-40DD-AFC4-6F175D3DCCD1}">
                <a14:hiddenFill xmlns:a14="http://schemas.microsoft.com/office/drawing/2010/main">
                  <a:solidFill>
                    <a:srgbClr val="FFFFFF"/>
                  </a:solidFill>
                </a14:hiddenFill>
              </a:ext>
            </a:extLst>
          </p:spPr>
        </p:pic>
      </p:grpSp>
    </p:spTree>
    <p:custDataLst>
      <p:tags r:id="rId1"/>
    </p:custDataLst>
    <p:extLst>
      <p:ext uri="{BB962C8B-B14F-4D97-AF65-F5344CB8AC3E}">
        <p14:creationId xmlns:p14="http://schemas.microsoft.com/office/powerpoint/2010/main" val="1513974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1D1ADC5-FCC0-4021-A234-5FE9F2C451E1}"/>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20</a:t>
            </a:fld>
            <a:endParaRPr lang="en-US" dirty="0"/>
          </a:p>
        </p:txBody>
      </p:sp>
      <p:sp>
        <p:nvSpPr>
          <p:cNvPr id="2" name="Title 1">
            <a:extLst>
              <a:ext uri="{FF2B5EF4-FFF2-40B4-BE49-F238E27FC236}">
                <a16:creationId xmlns:a16="http://schemas.microsoft.com/office/drawing/2014/main" id="{3E031313-5133-40DF-8D56-EB88822C05D3}"/>
              </a:ext>
            </a:extLst>
          </p:cNvPr>
          <p:cNvSpPr>
            <a:spLocks noGrp="1"/>
          </p:cNvSpPr>
          <p:nvPr>
            <p:ph type="title"/>
          </p:nvPr>
        </p:nvSpPr>
        <p:spPr/>
        <p:txBody>
          <a:bodyPr/>
          <a:lstStyle/>
          <a:p>
            <a:r>
              <a:rPr lang="en-US"/>
              <a:t>Reliability questions</a:t>
            </a:r>
          </a:p>
        </p:txBody>
      </p:sp>
      <p:sp>
        <p:nvSpPr>
          <p:cNvPr id="3" name="Content Placeholder 2">
            <a:extLst>
              <a:ext uri="{FF2B5EF4-FFF2-40B4-BE49-F238E27FC236}">
                <a16:creationId xmlns:a16="http://schemas.microsoft.com/office/drawing/2014/main" id="{41AEEF88-AF36-4278-96DD-E49341E245D9}"/>
              </a:ext>
            </a:extLst>
          </p:cNvPr>
          <p:cNvSpPr>
            <a:spLocks noGrp="1"/>
          </p:cNvSpPr>
          <p:nvPr>
            <p:ph sz="quarter" idx="21"/>
          </p:nvPr>
        </p:nvSpPr>
        <p:spPr>
          <a:xfrm>
            <a:off x="365760" y="1143000"/>
            <a:ext cx="5504688" cy="4645152"/>
          </a:xfrm>
        </p:spPr>
        <p:txBody>
          <a:bodyPr>
            <a:normAutofit/>
          </a:bodyPr>
          <a:lstStyle/>
          <a:p>
            <a:pPr marL="0" indent="0">
              <a:buNone/>
            </a:pPr>
            <a:r>
              <a:rPr lang="en-US" sz="2400">
                <a:solidFill>
                  <a:srgbClr val="504BAB"/>
                </a:solidFill>
              </a:rPr>
              <a:t>Foundations</a:t>
            </a:r>
          </a:p>
          <a:p>
            <a:r>
              <a:rPr lang="en-US" sz="2000"/>
              <a:t>How do you manage service quotas and constraints?</a:t>
            </a:r>
          </a:p>
          <a:p>
            <a:r>
              <a:rPr lang="en-US" sz="2000"/>
              <a:t>How do you plan your network topology?</a:t>
            </a:r>
          </a:p>
          <a:p>
            <a:pPr marL="0" indent="0">
              <a:buNone/>
            </a:pPr>
            <a:r>
              <a:rPr lang="en-US" sz="2400">
                <a:solidFill>
                  <a:srgbClr val="504BAB"/>
                </a:solidFill>
              </a:rPr>
              <a:t>Workload architecture</a:t>
            </a:r>
          </a:p>
          <a:p>
            <a:r>
              <a:rPr lang="en-US" sz="2000"/>
              <a:t>How do you design your workload service architecture?</a:t>
            </a:r>
          </a:p>
          <a:p>
            <a:r>
              <a:rPr lang="en-US" sz="2000"/>
              <a:t>How do you design interactions in a distributed system to prevent failure?</a:t>
            </a:r>
          </a:p>
          <a:p>
            <a:r>
              <a:rPr lang="en-US" sz="2000"/>
              <a:t>How do you design interactions in a distributed system to mitigate or withstand failures?</a:t>
            </a:r>
            <a:endParaRPr lang="en-US" sz="2400"/>
          </a:p>
        </p:txBody>
      </p:sp>
      <p:sp>
        <p:nvSpPr>
          <p:cNvPr id="5" name="Content Placeholder 4">
            <a:extLst>
              <a:ext uri="{FF2B5EF4-FFF2-40B4-BE49-F238E27FC236}">
                <a16:creationId xmlns:a16="http://schemas.microsoft.com/office/drawing/2014/main" id="{E639586B-70BB-4792-A92F-03E476AACEBA}"/>
              </a:ext>
            </a:extLst>
          </p:cNvPr>
          <p:cNvSpPr>
            <a:spLocks noGrp="1"/>
          </p:cNvSpPr>
          <p:nvPr>
            <p:ph idx="4294967295"/>
          </p:nvPr>
        </p:nvSpPr>
        <p:spPr>
          <a:xfrm>
            <a:off x="6245352" y="1143000"/>
            <a:ext cx="5503862" cy="4846320"/>
          </a:xfrm>
        </p:spPr>
        <p:txBody>
          <a:bodyPr>
            <a:normAutofit fontScale="92500" lnSpcReduction="20000"/>
          </a:bodyPr>
          <a:lstStyle/>
          <a:p>
            <a:pPr marL="0" indent="0">
              <a:buNone/>
            </a:pPr>
            <a:r>
              <a:rPr lang="en-US" sz="2600">
                <a:solidFill>
                  <a:srgbClr val="504BAB"/>
                </a:solidFill>
              </a:rPr>
              <a:t>Change management</a:t>
            </a:r>
          </a:p>
          <a:p>
            <a:r>
              <a:rPr lang="en-US" sz="2200"/>
              <a:t>How do you monitor workload resources?</a:t>
            </a:r>
          </a:p>
          <a:p>
            <a:r>
              <a:rPr lang="en-US" sz="2200"/>
              <a:t>How do you design your workload to adapt to changes in demand?</a:t>
            </a:r>
          </a:p>
          <a:p>
            <a:r>
              <a:rPr lang="en-US" sz="2200"/>
              <a:t>How do you implement change?</a:t>
            </a:r>
            <a:endParaRPr lang="en-US" sz="2600">
              <a:solidFill>
                <a:schemeClr val="accent5"/>
              </a:solidFill>
            </a:endParaRPr>
          </a:p>
          <a:p>
            <a:pPr marL="0" indent="0">
              <a:buNone/>
            </a:pPr>
            <a:r>
              <a:rPr lang="en-US" sz="2600">
                <a:solidFill>
                  <a:srgbClr val="504BAB"/>
                </a:solidFill>
              </a:rPr>
              <a:t>Failure management</a:t>
            </a:r>
          </a:p>
          <a:p>
            <a:r>
              <a:rPr lang="en-US" sz="2200"/>
              <a:t>How do you back up data?</a:t>
            </a:r>
          </a:p>
          <a:p>
            <a:r>
              <a:rPr lang="en-US" sz="2200"/>
              <a:t>How do you use fault isolation to protect your workload?</a:t>
            </a:r>
          </a:p>
          <a:p>
            <a:r>
              <a:rPr lang="en-US" sz="2200"/>
              <a:t>How do you design your workload to withstand component failures?</a:t>
            </a:r>
          </a:p>
          <a:p>
            <a:r>
              <a:rPr lang="en-US" sz="2200"/>
              <a:t>How do you test reliability?</a:t>
            </a:r>
          </a:p>
          <a:p>
            <a:r>
              <a:rPr lang="en-US" sz="2200"/>
              <a:t>How do you plan for disaster recovery?</a:t>
            </a:r>
            <a:endParaRPr lang="en-US" sz="2000"/>
          </a:p>
        </p:txBody>
      </p:sp>
    </p:spTree>
    <p:custDataLst>
      <p:tags r:id="rId1"/>
    </p:custDataLst>
    <p:extLst>
      <p:ext uri="{BB962C8B-B14F-4D97-AF65-F5344CB8AC3E}">
        <p14:creationId xmlns:p14="http://schemas.microsoft.com/office/powerpoint/2010/main" val="17751510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E06D641-1A1A-4EC3-A9BC-A150BBCFEF24}"/>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21</a:t>
            </a:fld>
            <a:endParaRPr lang="en-US" dirty="0"/>
          </a:p>
        </p:txBody>
      </p:sp>
      <p:sp>
        <p:nvSpPr>
          <p:cNvPr id="6" name="Title 5">
            <a:extLst>
              <a:ext uri="{FF2B5EF4-FFF2-40B4-BE49-F238E27FC236}">
                <a16:creationId xmlns:a16="http://schemas.microsoft.com/office/drawing/2014/main" id="{527558D1-8AE7-4F45-8C8C-A56F6D4F60AE}"/>
              </a:ext>
            </a:extLst>
          </p:cNvPr>
          <p:cNvSpPr>
            <a:spLocks noGrp="1"/>
          </p:cNvSpPr>
          <p:nvPr>
            <p:ph type="title"/>
          </p:nvPr>
        </p:nvSpPr>
        <p:spPr>
          <a:xfrm>
            <a:off x="2061210" y="3063341"/>
            <a:ext cx="8069580" cy="731318"/>
          </a:xfrm>
        </p:spPr>
        <p:txBody>
          <a:bodyPr/>
          <a:lstStyle/>
          <a:p>
            <a:r>
              <a:rPr lang="en-US" sz="4000"/>
              <a:t>Performance Efficiency pillar</a:t>
            </a:r>
          </a:p>
        </p:txBody>
      </p:sp>
    </p:spTree>
    <p:custDataLst>
      <p:tags r:id="rId1"/>
    </p:custDataLst>
    <p:extLst>
      <p:ext uri="{BB962C8B-B14F-4D97-AF65-F5344CB8AC3E}">
        <p14:creationId xmlns:p14="http://schemas.microsoft.com/office/powerpoint/2010/main" val="24634938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C57C038F-4E69-41CF-A951-B95F8160A662}"/>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22</a:t>
            </a:fld>
            <a:endParaRPr lang="en-US" dirty="0"/>
          </a:p>
        </p:txBody>
      </p:sp>
      <p:sp>
        <p:nvSpPr>
          <p:cNvPr id="2" name="Title 1"/>
          <p:cNvSpPr>
            <a:spLocks noGrp="1"/>
          </p:cNvSpPr>
          <p:nvPr>
            <p:ph type="title"/>
          </p:nvPr>
        </p:nvSpPr>
        <p:spPr/>
        <p:txBody>
          <a:bodyPr/>
          <a:lstStyle/>
          <a:p>
            <a:r>
              <a:rPr lang="en-US" dirty="0"/>
              <a:t>Performance Efficiency pillar – use resources sparingly</a:t>
            </a:r>
          </a:p>
        </p:txBody>
      </p:sp>
      <p:sp>
        <p:nvSpPr>
          <p:cNvPr id="9" name="Content Placeholder 8">
            <a:extLst>
              <a:ext uri="{FF2B5EF4-FFF2-40B4-BE49-F238E27FC236}">
                <a16:creationId xmlns:a16="http://schemas.microsoft.com/office/drawing/2014/main" id="{A1E52DCB-8C24-4CAA-9E6C-30937E4F6BE1}"/>
              </a:ext>
            </a:extLst>
          </p:cNvPr>
          <p:cNvSpPr>
            <a:spLocks noGrp="1"/>
          </p:cNvSpPr>
          <p:nvPr>
            <p:ph sz="quarter" idx="21"/>
          </p:nvPr>
        </p:nvSpPr>
        <p:spPr>
          <a:xfrm>
            <a:off x="2880360" y="1527048"/>
            <a:ext cx="8887968" cy="4645152"/>
          </a:xfrm>
        </p:spPr>
        <p:txBody>
          <a:bodyPr>
            <a:normAutofit fontScale="92500" lnSpcReduction="10000"/>
          </a:bodyPr>
          <a:lstStyle/>
          <a:p>
            <a:pPr>
              <a:buClr>
                <a:schemeClr val="tx1"/>
              </a:buClr>
            </a:pPr>
            <a:r>
              <a:rPr lang="en-US">
                <a:solidFill>
                  <a:srgbClr val="504BAB"/>
                </a:solidFill>
              </a:rPr>
              <a:t>Focus</a:t>
            </a:r>
          </a:p>
          <a:p>
            <a:pPr lvl="1">
              <a:buClr>
                <a:schemeClr val="tx1"/>
              </a:buClr>
            </a:pPr>
            <a:r>
              <a:rPr lang="en-US"/>
              <a:t>Use IT and computing resources efficiently to meet system requirements and to maintain that efficiency as demand changes and technologies evolve.</a:t>
            </a:r>
          </a:p>
          <a:p>
            <a:pPr>
              <a:buClr>
                <a:schemeClr val="tx1"/>
              </a:buClr>
            </a:pPr>
            <a:endParaRPr lang="en-US"/>
          </a:p>
          <a:p>
            <a:pPr>
              <a:buClr>
                <a:schemeClr val="tx1"/>
              </a:buClr>
            </a:pPr>
            <a:r>
              <a:rPr lang="en-US">
                <a:solidFill>
                  <a:srgbClr val="504BAB"/>
                </a:solidFill>
              </a:rPr>
              <a:t>Key topics</a:t>
            </a:r>
          </a:p>
          <a:p>
            <a:pPr lvl="1">
              <a:buClr>
                <a:schemeClr val="tx1"/>
              </a:buClr>
            </a:pPr>
            <a:r>
              <a:rPr lang="en-US"/>
              <a:t>Selecting the right resource types and sizes based on workload requirements</a:t>
            </a:r>
          </a:p>
          <a:p>
            <a:pPr lvl="1">
              <a:buClr>
                <a:schemeClr val="tx1"/>
              </a:buClr>
            </a:pPr>
            <a:r>
              <a:rPr lang="en-US"/>
              <a:t>Monitoring performance</a:t>
            </a:r>
          </a:p>
          <a:p>
            <a:pPr lvl="1">
              <a:buClr>
                <a:schemeClr val="tx1"/>
              </a:buClr>
            </a:pPr>
            <a:r>
              <a:rPr lang="en-US"/>
              <a:t>Making informed decisions to maintain efficiency as business needs evolve</a:t>
            </a:r>
          </a:p>
        </p:txBody>
      </p:sp>
      <p:grpSp>
        <p:nvGrpSpPr>
          <p:cNvPr id="4" name="Group 3">
            <a:extLst>
              <a:ext uri="{FF2B5EF4-FFF2-40B4-BE49-F238E27FC236}">
                <a16:creationId xmlns:a16="http://schemas.microsoft.com/office/drawing/2014/main" id="{E61A2497-1876-4F19-B6F1-D6DE505C83F2}"/>
              </a:ext>
              <a:ext uri="{C183D7F6-B498-43B3-948B-1728B52AA6E4}">
                <adec:decorative xmlns:adec="http://schemas.microsoft.com/office/drawing/2017/decorative" val="1"/>
              </a:ext>
            </a:extLst>
          </p:cNvPr>
          <p:cNvGrpSpPr/>
          <p:nvPr/>
        </p:nvGrpSpPr>
        <p:grpSpPr>
          <a:xfrm>
            <a:off x="392864" y="1492366"/>
            <a:ext cx="2229853" cy="4539914"/>
            <a:chOff x="392864" y="1492366"/>
            <a:chExt cx="2229853" cy="4539914"/>
          </a:xfrm>
        </p:grpSpPr>
        <p:sp>
          <p:nvSpPr>
            <p:cNvPr id="3" name="Rectangle 2">
              <a:extLst>
                <a:ext uri="{FF2B5EF4-FFF2-40B4-BE49-F238E27FC236}">
                  <a16:creationId xmlns:a16="http://schemas.microsoft.com/office/drawing/2014/main" id="{97787BFB-D8E8-AF45-AE8B-963FE419B1DF}"/>
                </a:ext>
              </a:extLst>
            </p:cNvPr>
            <p:cNvSpPr/>
            <p:nvPr/>
          </p:nvSpPr>
          <p:spPr>
            <a:xfrm>
              <a:off x="392864" y="1492366"/>
              <a:ext cx="2229853" cy="4539914"/>
            </a:xfrm>
            <a:prstGeom prst="rect">
              <a:avLst/>
            </a:prstGeom>
            <a:ln w="19050">
              <a:solidFill>
                <a:srgbClr val="0070C0"/>
              </a:solidFill>
            </a:ln>
          </p:spPr>
          <p:style>
            <a:lnRef idx="2">
              <a:schemeClr val="accent1"/>
            </a:lnRef>
            <a:fillRef idx="1">
              <a:schemeClr val="lt1"/>
            </a:fillRef>
            <a:effectRef idx="0">
              <a:schemeClr val="accent1"/>
            </a:effectRef>
            <a:fontRef idx="minor">
              <a:schemeClr val="dk1"/>
            </a:fontRef>
          </p:style>
          <p:txBody>
            <a:bodyPr rtlCol="0" anchor="t"/>
            <a:lstStyle/>
            <a:p>
              <a:pPr algn="ctr"/>
              <a:endParaRPr lang="en-US" sz="2400" b="1">
                <a:latin typeface="Amazon Ember Light" panose="020B0403020204020204" pitchFamily="34" charset="0"/>
                <a:ea typeface="Amazon Ember Light" panose="020B0403020204020204" pitchFamily="34" charset="0"/>
                <a:cs typeface="Amazon Ember Light" panose="020B0403020204020204" pitchFamily="34" charset="0"/>
              </a:endParaRPr>
            </a:p>
            <a:p>
              <a:pPr algn="ct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Performance Efficiency</a:t>
              </a:r>
            </a:p>
            <a:p>
              <a:pPr algn="ct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pillar</a:t>
              </a:r>
            </a:p>
          </p:txBody>
        </p:sp>
        <p:sp>
          <p:nvSpPr>
            <p:cNvPr id="5" name="TextBox 4">
              <a:extLst>
                <a:ext uri="{FF2B5EF4-FFF2-40B4-BE49-F238E27FC236}">
                  <a16:creationId xmlns:a16="http://schemas.microsoft.com/office/drawing/2014/main" id="{7DA276A3-2CF0-A140-8824-9F04C210A2E5}"/>
                </a:ext>
              </a:extLst>
            </p:cNvPr>
            <p:cNvSpPr txBox="1"/>
            <p:nvPr/>
          </p:nvSpPr>
          <p:spPr>
            <a:xfrm>
              <a:off x="654606" y="4851797"/>
              <a:ext cx="1627717" cy="1015663"/>
            </a:xfrm>
            <a:prstGeom prst="rect">
              <a:avLst/>
            </a:prstGeom>
            <a:noFill/>
          </p:spPr>
          <p:txBody>
            <a:bodyPr wrap="square" rtlCol="0">
              <a:spAutoFit/>
            </a:body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Use resources sparingly.</a:t>
              </a:r>
            </a:p>
          </p:txBody>
        </p:sp>
        <p:pic>
          <p:nvPicPr>
            <p:cNvPr id="10" name="Picture 8">
              <a:extLst>
                <a:ext uri="{FF2B5EF4-FFF2-40B4-BE49-F238E27FC236}">
                  <a16:creationId xmlns:a16="http://schemas.microsoft.com/office/drawing/2014/main" id="{49E622C9-5B62-4C68-B437-A0747DC995DF}"/>
                </a:ext>
                <a:ext uri="{C183D7F6-B498-43B3-948B-1728B52AA6E4}">
                  <adec:decorative xmlns:adec="http://schemas.microsoft.com/office/drawing/2017/decorative" val="1"/>
                </a:ext>
              </a:extLst>
            </p:cNvPr>
            <p:cNvPicPr>
              <a:picLocks noChangeAspect="1" noChangeArrowheads="1"/>
            </p:cNvPicPr>
            <p:nvPr/>
          </p:nvPicPr>
          <p:blipFill>
            <a:blip r:embed="rId4">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736944" y="3030803"/>
              <a:ext cx="1463040" cy="1463040"/>
            </a:xfrm>
            <a:prstGeom prst="rect">
              <a:avLst/>
            </a:prstGeom>
            <a:noFill/>
            <a:extLst>
              <a:ext uri="{909E8E84-426E-40DD-AFC4-6F175D3DCCD1}">
                <a14:hiddenFill xmlns:a14="http://schemas.microsoft.com/office/drawing/2010/main">
                  <a:solidFill>
                    <a:srgbClr val="FFFFFF"/>
                  </a:solidFill>
                </a14:hiddenFill>
              </a:ext>
            </a:extLst>
          </p:spPr>
        </p:pic>
      </p:grpSp>
    </p:spTree>
    <p:custDataLst>
      <p:tags r:id="rId1"/>
    </p:custDataLst>
    <p:extLst>
      <p:ext uri="{BB962C8B-B14F-4D97-AF65-F5344CB8AC3E}">
        <p14:creationId xmlns:p14="http://schemas.microsoft.com/office/powerpoint/2010/main" val="10373960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855E5CA-970F-BA19-CB94-BBA3E2F536BF}"/>
              </a:ext>
            </a:extLst>
          </p:cNvPr>
          <p:cNvSpPr>
            <a:spLocks noGrp="1"/>
          </p:cNvSpPr>
          <p:nvPr>
            <p:ph type="sldNum" sz="quarter" idx="20"/>
          </p:nvPr>
        </p:nvSpPr>
        <p:spPr/>
        <p:txBody>
          <a:bodyPr/>
          <a:lstStyle/>
          <a:p>
            <a:fld id="{930176A1-BCF0-4712-97A6-6B495F55390B}" type="slidenum">
              <a:rPr lang="en-US" smtClean="0"/>
              <a:pPr/>
              <a:t>23</a:t>
            </a:fld>
            <a:endParaRPr lang="en-US" dirty="0"/>
          </a:p>
        </p:txBody>
      </p:sp>
      <p:sp>
        <p:nvSpPr>
          <p:cNvPr id="2" name="Title 1">
            <a:extLst>
              <a:ext uri="{FF2B5EF4-FFF2-40B4-BE49-F238E27FC236}">
                <a16:creationId xmlns:a16="http://schemas.microsoft.com/office/drawing/2014/main" id="{A05755ED-6DDA-43F2-844B-8566762512EF}"/>
              </a:ext>
            </a:extLst>
          </p:cNvPr>
          <p:cNvSpPr>
            <a:spLocks noGrp="1"/>
          </p:cNvSpPr>
          <p:nvPr>
            <p:ph type="title"/>
          </p:nvPr>
        </p:nvSpPr>
        <p:spPr/>
        <p:txBody>
          <a:bodyPr>
            <a:normAutofit/>
          </a:bodyPr>
          <a:lstStyle/>
          <a:p>
            <a:r>
              <a:rPr lang="en-US"/>
              <a:t>Performance efficiency design principles</a:t>
            </a:r>
          </a:p>
        </p:txBody>
      </p:sp>
      <p:sp>
        <p:nvSpPr>
          <p:cNvPr id="10" name="Content Placeholder 7">
            <a:extLst>
              <a:ext uri="{FF2B5EF4-FFF2-40B4-BE49-F238E27FC236}">
                <a16:creationId xmlns:a16="http://schemas.microsoft.com/office/drawing/2014/main" id="{47CEB742-79BE-4502-8FD1-B57251DA79BD}"/>
              </a:ext>
            </a:extLst>
          </p:cNvPr>
          <p:cNvSpPr txBox="1">
            <a:spLocks/>
          </p:cNvSpPr>
          <p:nvPr/>
        </p:nvSpPr>
        <p:spPr>
          <a:xfrm>
            <a:off x="2884458" y="1528175"/>
            <a:ext cx="8888441" cy="46487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Democratize advanced technologies</a:t>
            </a:r>
          </a:p>
          <a:p>
            <a:r>
              <a:rPr lang="en-US"/>
              <a:t>Go global in minutes</a:t>
            </a:r>
          </a:p>
          <a:p>
            <a:r>
              <a:rPr lang="en-US"/>
              <a:t>Use serverless architectures</a:t>
            </a:r>
          </a:p>
          <a:p>
            <a:r>
              <a:rPr lang="en-US"/>
              <a:t>Experiment more often</a:t>
            </a:r>
          </a:p>
          <a:p>
            <a:r>
              <a:rPr lang="en-US"/>
              <a:t>Consider mechanical sympathy</a:t>
            </a:r>
          </a:p>
        </p:txBody>
      </p:sp>
      <p:grpSp>
        <p:nvGrpSpPr>
          <p:cNvPr id="14" name="Group 13">
            <a:extLst>
              <a:ext uri="{FF2B5EF4-FFF2-40B4-BE49-F238E27FC236}">
                <a16:creationId xmlns:a16="http://schemas.microsoft.com/office/drawing/2014/main" id="{FB742F8C-9573-4246-9F36-CC7070E72A56}"/>
              </a:ext>
              <a:ext uri="{C183D7F6-B498-43B3-948B-1728B52AA6E4}">
                <adec:decorative xmlns:adec="http://schemas.microsoft.com/office/drawing/2017/decorative" val="1"/>
              </a:ext>
            </a:extLst>
          </p:cNvPr>
          <p:cNvGrpSpPr/>
          <p:nvPr/>
        </p:nvGrpSpPr>
        <p:grpSpPr>
          <a:xfrm>
            <a:off x="392864" y="1492366"/>
            <a:ext cx="2229853" cy="4539914"/>
            <a:chOff x="392864" y="1492366"/>
            <a:chExt cx="2229853" cy="4539914"/>
          </a:xfrm>
        </p:grpSpPr>
        <p:sp>
          <p:nvSpPr>
            <p:cNvPr id="11" name="Rectangle 10">
              <a:extLst>
                <a:ext uri="{FF2B5EF4-FFF2-40B4-BE49-F238E27FC236}">
                  <a16:creationId xmlns:a16="http://schemas.microsoft.com/office/drawing/2014/main" id="{4802956D-E7ED-4868-8EF0-3AADCF6B9165}"/>
                </a:ext>
              </a:extLst>
            </p:cNvPr>
            <p:cNvSpPr/>
            <p:nvPr/>
          </p:nvSpPr>
          <p:spPr>
            <a:xfrm>
              <a:off x="392864" y="1492366"/>
              <a:ext cx="2229853" cy="4539914"/>
            </a:xfrm>
            <a:prstGeom prst="rect">
              <a:avLst/>
            </a:prstGeom>
            <a:ln w="19050">
              <a:solidFill>
                <a:srgbClr val="0070C0"/>
              </a:solidFill>
            </a:ln>
          </p:spPr>
          <p:style>
            <a:lnRef idx="2">
              <a:schemeClr val="accent1"/>
            </a:lnRef>
            <a:fillRef idx="1">
              <a:schemeClr val="lt1"/>
            </a:fillRef>
            <a:effectRef idx="0">
              <a:schemeClr val="accent1"/>
            </a:effectRef>
            <a:fontRef idx="minor">
              <a:schemeClr val="dk1"/>
            </a:fontRef>
          </p:style>
          <p:txBody>
            <a:bodyPr rtlCol="0" anchor="t"/>
            <a:lstStyle/>
            <a:p>
              <a:pPr algn="ctr"/>
              <a:endParaRPr lang="en-US" sz="2400" b="1">
                <a:latin typeface="Amazon Ember Light" panose="020B0403020204020204" pitchFamily="34" charset="0"/>
                <a:ea typeface="Amazon Ember Light" panose="020B0403020204020204" pitchFamily="34" charset="0"/>
                <a:cs typeface="Amazon Ember Light" panose="020B0403020204020204" pitchFamily="34" charset="0"/>
              </a:endParaRPr>
            </a:p>
            <a:p>
              <a:pPr algn="ct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Performance Efficiency</a:t>
              </a:r>
            </a:p>
            <a:p>
              <a:pPr algn="ct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pillar</a:t>
              </a:r>
            </a:p>
          </p:txBody>
        </p:sp>
        <p:sp>
          <p:nvSpPr>
            <p:cNvPr id="12" name="TextBox 11">
              <a:extLst>
                <a:ext uri="{FF2B5EF4-FFF2-40B4-BE49-F238E27FC236}">
                  <a16:creationId xmlns:a16="http://schemas.microsoft.com/office/drawing/2014/main" id="{86B88125-8E7C-4A6A-87D6-33FD2BA6B941}"/>
                </a:ext>
              </a:extLst>
            </p:cNvPr>
            <p:cNvSpPr txBox="1"/>
            <p:nvPr/>
          </p:nvSpPr>
          <p:spPr>
            <a:xfrm>
              <a:off x="654606" y="4851797"/>
              <a:ext cx="1627717" cy="1015663"/>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Use resources sparingly.</a:t>
              </a:r>
            </a:p>
          </p:txBody>
        </p:sp>
        <p:pic>
          <p:nvPicPr>
            <p:cNvPr id="13" name="Picture 8">
              <a:extLst>
                <a:ext uri="{FF2B5EF4-FFF2-40B4-BE49-F238E27FC236}">
                  <a16:creationId xmlns:a16="http://schemas.microsoft.com/office/drawing/2014/main" id="{BDB29C7E-43FC-4B58-BBD5-BDADFA74B153}"/>
                </a:ext>
                <a:ext uri="{C183D7F6-B498-43B3-948B-1728B52AA6E4}">
                  <adec:decorative xmlns:adec="http://schemas.microsoft.com/office/drawing/2017/decorative" val="1"/>
                </a:ext>
              </a:extLst>
            </p:cNvPr>
            <p:cNvPicPr>
              <a:picLocks noChangeAspect="1" noChangeArrowheads="1"/>
            </p:cNvPicPr>
            <p:nvPr/>
          </p:nvPicPr>
          <p:blipFill>
            <a:blip r:embed="rId4">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736944" y="3030803"/>
              <a:ext cx="1463040" cy="1463040"/>
            </a:xfrm>
            <a:prstGeom prst="rect">
              <a:avLst/>
            </a:prstGeom>
            <a:noFill/>
            <a:extLst>
              <a:ext uri="{909E8E84-426E-40DD-AFC4-6F175D3DCCD1}">
                <a14:hiddenFill xmlns:a14="http://schemas.microsoft.com/office/drawing/2010/main">
                  <a:solidFill>
                    <a:srgbClr val="FFFFFF"/>
                  </a:solidFill>
                </a14:hiddenFill>
              </a:ext>
            </a:extLst>
          </p:spPr>
        </p:pic>
      </p:grpSp>
    </p:spTree>
    <p:custDataLst>
      <p:tags r:id="rId1"/>
    </p:custDataLst>
    <p:extLst>
      <p:ext uri="{BB962C8B-B14F-4D97-AF65-F5344CB8AC3E}">
        <p14:creationId xmlns:p14="http://schemas.microsoft.com/office/powerpoint/2010/main" val="7939512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86087F6-742D-4183-87CB-C2EFB81F74F1}"/>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24</a:t>
            </a:fld>
            <a:endParaRPr lang="en-US" dirty="0"/>
          </a:p>
        </p:txBody>
      </p:sp>
      <p:sp>
        <p:nvSpPr>
          <p:cNvPr id="2" name="Title 1">
            <a:extLst>
              <a:ext uri="{FF2B5EF4-FFF2-40B4-BE49-F238E27FC236}">
                <a16:creationId xmlns:a16="http://schemas.microsoft.com/office/drawing/2014/main" id="{38CD1065-401A-4687-9B4F-FB1F782F9EBC}"/>
              </a:ext>
            </a:extLst>
          </p:cNvPr>
          <p:cNvSpPr>
            <a:spLocks noGrp="1"/>
          </p:cNvSpPr>
          <p:nvPr>
            <p:ph type="title"/>
          </p:nvPr>
        </p:nvSpPr>
        <p:spPr/>
        <p:txBody>
          <a:bodyPr/>
          <a:lstStyle/>
          <a:p>
            <a:r>
              <a:rPr lang="en-US"/>
              <a:t>Performance efficiency questions</a:t>
            </a:r>
          </a:p>
        </p:txBody>
      </p:sp>
      <p:sp>
        <p:nvSpPr>
          <p:cNvPr id="6" name="Content Placeholder 5">
            <a:extLst>
              <a:ext uri="{FF2B5EF4-FFF2-40B4-BE49-F238E27FC236}">
                <a16:creationId xmlns:a16="http://schemas.microsoft.com/office/drawing/2014/main" id="{464E803F-B52A-4E3A-A462-08278B63B3FB}"/>
              </a:ext>
            </a:extLst>
          </p:cNvPr>
          <p:cNvSpPr>
            <a:spLocks noGrp="1"/>
          </p:cNvSpPr>
          <p:nvPr>
            <p:ph sz="quarter" idx="21"/>
          </p:nvPr>
        </p:nvSpPr>
        <p:spPr>
          <a:xfrm>
            <a:off x="365760" y="1143000"/>
            <a:ext cx="5504688" cy="4645152"/>
          </a:xfrm>
        </p:spPr>
        <p:txBody>
          <a:bodyPr>
            <a:normAutofit lnSpcReduction="10000"/>
          </a:bodyPr>
          <a:lstStyle/>
          <a:p>
            <a:pPr marL="0" indent="0">
              <a:buNone/>
            </a:pPr>
            <a:r>
              <a:rPr lang="en-US">
                <a:solidFill>
                  <a:srgbClr val="504BAB"/>
                </a:solidFill>
              </a:rPr>
              <a:t>Selection</a:t>
            </a:r>
          </a:p>
          <a:p>
            <a:r>
              <a:rPr lang="en-US" sz="2400"/>
              <a:t>How do you select the best performing architecture?</a:t>
            </a:r>
            <a:endParaRPr lang="en-US">
              <a:solidFill>
                <a:schemeClr val="accent6"/>
              </a:solidFill>
            </a:endParaRPr>
          </a:p>
          <a:p>
            <a:r>
              <a:rPr lang="en-US" sz="2400"/>
              <a:t>How do you select your compute solution?</a:t>
            </a:r>
            <a:endParaRPr lang="en-US">
              <a:solidFill>
                <a:schemeClr val="accent6"/>
              </a:solidFill>
            </a:endParaRPr>
          </a:p>
          <a:p>
            <a:r>
              <a:rPr lang="en-US" sz="2400"/>
              <a:t>How do you select your storage solution?</a:t>
            </a:r>
          </a:p>
          <a:p>
            <a:r>
              <a:rPr lang="en-US" sz="2400"/>
              <a:t>How do you select your database solution?</a:t>
            </a:r>
          </a:p>
          <a:p>
            <a:r>
              <a:rPr lang="en-US" sz="2400"/>
              <a:t>How do you configure your networking solution?</a:t>
            </a:r>
          </a:p>
        </p:txBody>
      </p:sp>
      <p:sp>
        <p:nvSpPr>
          <p:cNvPr id="7" name="Content Placeholder 6">
            <a:extLst>
              <a:ext uri="{FF2B5EF4-FFF2-40B4-BE49-F238E27FC236}">
                <a16:creationId xmlns:a16="http://schemas.microsoft.com/office/drawing/2014/main" id="{C875B80D-B501-4702-BE96-A42C31DF489D}"/>
              </a:ext>
            </a:extLst>
          </p:cNvPr>
          <p:cNvSpPr>
            <a:spLocks noGrp="1"/>
          </p:cNvSpPr>
          <p:nvPr>
            <p:ph idx="4294967295"/>
          </p:nvPr>
        </p:nvSpPr>
        <p:spPr>
          <a:xfrm>
            <a:off x="6245352" y="1143000"/>
            <a:ext cx="5503862" cy="4645152"/>
          </a:xfrm>
        </p:spPr>
        <p:txBody>
          <a:bodyPr>
            <a:normAutofit lnSpcReduction="10000"/>
          </a:bodyPr>
          <a:lstStyle/>
          <a:p>
            <a:pPr marL="0" indent="0">
              <a:buNone/>
            </a:pPr>
            <a:r>
              <a:rPr lang="en-US">
                <a:solidFill>
                  <a:srgbClr val="504BAB"/>
                </a:solidFill>
              </a:rPr>
              <a:t>Review</a:t>
            </a:r>
          </a:p>
          <a:p>
            <a:r>
              <a:rPr lang="en-US" sz="2400"/>
              <a:t>How do you evolve your workload to take advantage of new releases?</a:t>
            </a:r>
            <a:br>
              <a:rPr lang="en-US" sz="2400"/>
            </a:br>
            <a:endParaRPr lang="en-US" sz="2400"/>
          </a:p>
          <a:p>
            <a:pPr marL="0" indent="0">
              <a:buNone/>
            </a:pPr>
            <a:r>
              <a:rPr lang="en-US">
                <a:solidFill>
                  <a:srgbClr val="504BAB"/>
                </a:solidFill>
              </a:rPr>
              <a:t>Monitoring</a:t>
            </a:r>
          </a:p>
          <a:p>
            <a:r>
              <a:rPr lang="en-US" sz="2400"/>
              <a:t>How do you monitor your resources to ensure they are performing?</a:t>
            </a:r>
            <a:br>
              <a:rPr lang="en-US" sz="2400"/>
            </a:br>
            <a:endParaRPr lang="en-US" sz="2400"/>
          </a:p>
          <a:p>
            <a:pPr marL="0" indent="0">
              <a:buNone/>
            </a:pPr>
            <a:r>
              <a:rPr lang="en-US">
                <a:solidFill>
                  <a:srgbClr val="504BAB"/>
                </a:solidFill>
              </a:rPr>
              <a:t>Tradeoffs</a:t>
            </a:r>
            <a:endParaRPr lang="en-US" sz="2400">
              <a:solidFill>
                <a:srgbClr val="504BAB"/>
              </a:solidFill>
            </a:endParaRPr>
          </a:p>
          <a:p>
            <a:r>
              <a:rPr lang="en-US" sz="2400"/>
              <a:t>How do you use tradeoffs to improve performance?</a:t>
            </a:r>
          </a:p>
        </p:txBody>
      </p:sp>
    </p:spTree>
    <p:custDataLst>
      <p:tags r:id="rId1"/>
    </p:custDataLst>
    <p:extLst>
      <p:ext uri="{BB962C8B-B14F-4D97-AF65-F5344CB8AC3E}">
        <p14:creationId xmlns:p14="http://schemas.microsoft.com/office/powerpoint/2010/main" val="1825918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E06D641-1A1A-4EC3-A9BC-A150BBCFEF24}"/>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25</a:t>
            </a:fld>
            <a:endParaRPr lang="en-US"/>
          </a:p>
        </p:txBody>
      </p:sp>
      <p:sp>
        <p:nvSpPr>
          <p:cNvPr id="6" name="Title 5">
            <a:extLst>
              <a:ext uri="{FF2B5EF4-FFF2-40B4-BE49-F238E27FC236}">
                <a16:creationId xmlns:a16="http://schemas.microsoft.com/office/drawing/2014/main" id="{527558D1-8AE7-4F45-8C8C-A56F6D4F60AE}"/>
              </a:ext>
            </a:extLst>
          </p:cNvPr>
          <p:cNvSpPr>
            <a:spLocks noGrp="1"/>
          </p:cNvSpPr>
          <p:nvPr>
            <p:ph type="title"/>
          </p:nvPr>
        </p:nvSpPr>
        <p:spPr>
          <a:xfrm>
            <a:off x="2975610" y="3063341"/>
            <a:ext cx="6240780" cy="731318"/>
          </a:xfrm>
        </p:spPr>
        <p:txBody>
          <a:bodyPr/>
          <a:lstStyle/>
          <a:p>
            <a:r>
              <a:rPr lang="en-US" sz="4000"/>
              <a:t>Cost Optimization pillar</a:t>
            </a:r>
          </a:p>
        </p:txBody>
      </p:sp>
    </p:spTree>
    <p:custDataLst>
      <p:tags r:id="rId1"/>
    </p:custDataLst>
    <p:extLst>
      <p:ext uri="{BB962C8B-B14F-4D97-AF65-F5344CB8AC3E}">
        <p14:creationId xmlns:p14="http://schemas.microsoft.com/office/powerpoint/2010/main" val="37417763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021CB53E-EF33-4230-9EBE-98357A04D62C}"/>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26</a:t>
            </a:fld>
            <a:endParaRPr lang="en-US"/>
          </a:p>
        </p:txBody>
      </p:sp>
      <p:sp>
        <p:nvSpPr>
          <p:cNvPr id="2" name="Title 1"/>
          <p:cNvSpPr>
            <a:spLocks noGrp="1"/>
          </p:cNvSpPr>
          <p:nvPr>
            <p:ph type="title"/>
          </p:nvPr>
        </p:nvSpPr>
        <p:spPr/>
        <p:txBody>
          <a:bodyPr/>
          <a:lstStyle/>
          <a:p>
            <a:r>
              <a:rPr lang="en-US" dirty="0"/>
              <a:t>Cost Optimization pillar – eliminate unneeded expense</a:t>
            </a:r>
          </a:p>
        </p:txBody>
      </p:sp>
      <p:sp>
        <p:nvSpPr>
          <p:cNvPr id="9" name="Content Placeholder 8">
            <a:extLst>
              <a:ext uri="{FF2B5EF4-FFF2-40B4-BE49-F238E27FC236}">
                <a16:creationId xmlns:a16="http://schemas.microsoft.com/office/drawing/2014/main" id="{2A77CAFA-78C3-4EE2-B7B7-1146F90D2430}"/>
              </a:ext>
            </a:extLst>
          </p:cNvPr>
          <p:cNvSpPr>
            <a:spLocks noGrp="1"/>
          </p:cNvSpPr>
          <p:nvPr>
            <p:ph sz="quarter" idx="21"/>
          </p:nvPr>
        </p:nvSpPr>
        <p:spPr>
          <a:xfrm>
            <a:off x="2916936" y="1527048"/>
            <a:ext cx="8851392" cy="4645152"/>
          </a:xfrm>
        </p:spPr>
        <p:txBody>
          <a:bodyPr/>
          <a:lstStyle/>
          <a:p>
            <a:pPr>
              <a:buClr>
                <a:schemeClr val="tx1"/>
              </a:buClr>
            </a:pPr>
            <a:r>
              <a:rPr lang="en-US">
                <a:solidFill>
                  <a:srgbClr val="504BAB"/>
                </a:solidFill>
              </a:rPr>
              <a:t>Focus</a:t>
            </a:r>
          </a:p>
          <a:p>
            <a:pPr lvl="1">
              <a:buClr>
                <a:schemeClr val="tx1"/>
              </a:buClr>
            </a:pPr>
            <a:r>
              <a:rPr lang="en-US"/>
              <a:t>Avoid unnecessary costs.</a:t>
            </a:r>
          </a:p>
          <a:p>
            <a:pPr marL="0" indent="0">
              <a:buClr>
                <a:schemeClr val="tx1"/>
              </a:buClr>
              <a:buNone/>
            </a:pPr>
            <a:endParaRPr lang="en-US"/>
          </a:p>
          <a:p>
            <a:pPr>
              <a:buClr>
                <a:schemeClr val="tx1"/>
              </a:buClr>
            </a:pPr>
            <a:r>
              <a:rPr lang="en-US">
                <a:solidFill>
                  <a:srgbClr val="504BAB"/>
                </a:solidFill>
              </a:rPr>
              <a:t>Key topics</a:t>
            </a:r>
          </a:p>
          <a:p>
            <a:pPr lvl="1">
              <a:buClr>
                <a:schemeClr val="tx1"/>
              </a:buClr>
            </a:pPr>
            <a:r>
              <a:rPr lang="en-US"/>
              <a:t>Understanding and controlling where money is being spent</a:t>
            </a:r>
          </a:p>
          <a:p>
            <a:pPr lvl="1">
              <a:buClr>
                <a:schemeClr val="tx1"/>
              </a:buClr>
            </a:pPr>
            <a:r>
              <a:rPr lang="en-US"/>
              <a:t>Selecting the most appropriate and right number of resource types</a:t>
            </a:r>
          </a:p>
          <a:p>
            <a:pPr lvl="1">
              <a:buClr>
                <a:schemeClr val="tx1"/>
              </a:buClr>
            </a:pPr>
            <a:r>
              <a:rPr lang="en-US"/>
              <a:t>Analyzing spend over time</a:t>
            </a:r>
          </a:p>
          <a:p>
            <a:pPr lvl="1">
              <a:buClr>
                <a:schemeClr val="tx1"/>
              </a:buClr>
            </a:pPr>
            <a:r>
              <a:rPr lang="en-US"/>
              <a:t>Scaling to meeting business needs without overspending</a:t>
            </a:r>
          </a:p>
        </p:txBody>
      </p:sp>
      <p:grpSp>
        <p:nvGrpSpPr>
          <p:cNvPr id="4" name="Group 3">
            <a:extLst>
              <a:ext uri="{FF2B5EF4-FFF2-40B4-BE49-F238E27FC236}">
                <a16:creationId xmlns:a16="http://schemas.microsoft.com/office/drawing/2014/main" id="{DD4076E0-85C3-439C-8425-22266EB98532}"/>
              </a:ext>
              <a:ext uri="{C183D7F6-B498-43B3-948B-1728B52AA6E4}">
                <adec:decorative xmlns:adec="http://schemas.microsoft.com/office/drawing/2017/decorative" val="1"/>
              </a:ext>
            </a:extLst>
          </p:cNvPr>
          <p:cNvGrpSpPr/>
          <p:nvPr/>
        </p:nvGrpSpPr>
        <p:grpSpPr>
          <a:xfrm>
            <a:off x="392209" y="1492389"/>
            <a:ext cx="2229853" cy="4539914"/>
            <a:chOff x="392209" y="1492389"/>
            <a:chExt cx="2229853" cy="4539914"/>
          </a:xfrm>
        </p:grpSpPr>
        <p:sp>
          <p:nvSpPr>
            <p:cNvPr id="3" name="Rectangle 2">
              <a:extLst>
                <a:ext uri="{FF2B5EF4-FFF2-40B4-BE49-F238E27FC236}">
                  <a16:creationId xmlns:a16="http://schemas.microsoft.com/office/drawing/2014/main" id="{B2C054D3-E1E2-664A-B258-31BCA72D02F4}"/>
                </a:ext>
              </a:extLst>
            </p:cNvPr>
            <p:cNvSpPr/>
            <p:nvPr/>
          </p:nvSpPr>
          <p:spPr>
            <a:xfrm>
              <a:off x="392209" y="1492389"/>
              <a:ext cx="2229853" cy="4539914"/>
            </a:xfrm>
            <a:prstGeom prst="rect">
              <a:avLst/>
            </a:prstGeom>
            <a:ln w="19050">
              <a:solidFill>
                <a:srgbClr val="0070C0"/>
              </a:solidFill>
            </a:ln>
          </p:spPr>
          <p:style>
            <a:lnRef idx="2">
              <a:schemeClr val="accent1"/>
            </a:lnRef>
            <a:fillRef idx="1">
              <a:schemeClr val="lt1"/>
            </a:fillRef>
            <a:effectRef idx="0">
              <a:schemeClr val="accent1"/>
            </a:effectRef>
            <a:fontRef idx="minor">
              <a:schemeClr val="dk1"/>
            </a:fontRef>
          </p:style>
          <p:txBody>
            <a:bodyPr rtlCol="0" anchor="t"/>
            <a:lstStyle/>
            <a:p>
              <a:pPr algn="ctr"/>
              <a:endParaRPr lang="en-US" sz="2400" b="1">
                <a:latin typeface="Amazon Ember Light" panose="020B0403020204020204" pitchFamily="34" charset="0"/>
                <a:ea typeface="Amazon Ember Light" panose="020B0403020204020204" pitchFamily="34" charset="0"/>
                <a:cs typeface="Amazon Ember Light" panose="020B0403020204020204" pitchFamily="34" charset="0"/>
              </a:endParaRPr>
            </a:p>
            <a:p>
              <a:pPr algn="ct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Cost Optimization</a:t>
              </a:r>
              <a:b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pillar</a:t>
              </a:r>
            </a:p>
          </p:txBody>
        </p:sp>
        <p:sp>
          <p:nvSpPr>
            <p:cNvPr id="5" name="TextBox 4">
              <a:extLst>
                <a:ext uri="{FF2B5EF4-FFF2-40B4-BE49-F238E27FC236}">
                  <a16:creationId xmlns:a16="http://schemas.microsoft.com/office/drawing/2014/main" id="{54B5BC9A-1D62-DD47-A831-4B460AD410A1}"/>
                </a:ext>
              </a:extLst>
            </p:cNvPr>
            <p:cNvSpPr txBox="1"/>
            <p:nvPr/>
          </p:nvSpPr>
          <p:spPr>
            <a:xfrm>
              <a:off x="688737" y="4848104"/>
              <a:ext cx="1627717" cy="1015663"/>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Eliminate unneeded expense.</a:t>
              </a:r>
            </a:p>
          </p:txBody>
        </p:sp>
        <p:pic>
          <p:nvPicPr>
            <p:cNvPr id="10" name="Picture 10">
              <a:extLst>
                <a:ext uri="{FF2B5EF4-FFF2-40B4-BE49-F238E27FC236}">
                  <a16:creationId xmlns:a16="http://schemas.microsoft.com/office/drawing/2014/main" id="{917E00E9-85FE-407D-BB4A-99B01B810C42}"/>
                </a:ext>
                <a:ext uri="{C183D7F6-B498-43B3-948B-1728B52AA6E4}">
                  <adec:decorative xmlns:adec="http://schemas.microsoft.com/office/drawing/2017/decorative" val="1"/>
                </a:ext>
              </a:extLst>
            </p:cNvPr>
            <p:cNvPicPr>
              <a:picLocks noChangeAspect="1" noChangeArrowheads="1"/>
            </p:cNvPicPr>
            <p:nvPr/>
          </p:nvPicPr>
          <p:blipFill>
            <a:blip r:embed="rId4">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71075" y="3030826"/>
              <a:ext cx="1463040" cy="1463040"/>
            </a:xfrm>
            <a:prstGeom prst="rect">
              <a:avLst/>
            </a:prstGeom>
            <a:noFill/>
            <a:extLst>
              <a:ext uri="{909E8E84-426E-40DD-AFC4-6F175D3DCCD1}">
                <a14:hiddenFill xmlns:a14="http://schemas.microsoft.com/office/drawing/2010/main">
                  <a:solidFill>
                    <a:srgbClr val="FFFFFF"/>
                  </a:solidFill>
                </a14:hiddenFill>
              </a:ext>
            </a:extLst>
          </p:spPr>
        </p:pic>
      </p:grpSp>
    </p:spTree>
    <p:custDataLst>
      <p:tags r:id="rId1"/>
    </p:custDataLst>
    <p:extLst>
      <p:ext uri="{BB962C8B-B14F-4D97-AF65-F5344CB8AC3E}">
        <p14:creationId xmlns:p14="http://schemas.microsoft.com/office/powerpoint/2010/main" val="40076892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8625DAD-D327-BE7A-1332-7E5D3027C3C7}"/>
              </a:ext>
            </a:extLst>
          </p:cNvPr>
          <p:cNvSpPr>
            <a:spLocks noGrp="1"/>
          </p:cNvSpPr>
          <p:nvPr>
            <p:ph type="sldNum" sz="quarter" idx="20"/>
          </p:nvPr>
        </p:nvSpPr>
        <p:spPr/>
        <p:txBody>
          <a:bodyPr/>
          <a:lstStyle/>
          <a:p>
            <a:fld id="{930176A1-BCF0-4712-97A6-6B495F55390B}" type="slidenum">
              <a:rPr lang="en-US" smtClean="0"/>
              <a:pPr/>
              <a:t>27</a:t>
            </a:fld>
            <a:endParaRPr lang="en-US"/>
          </a:p>
        </p:txBody>
      </p:sp>
      <p:sp>
        <p:nvSpPr>
          <p:cNvPr id="2" name="Title 1">
            <a:extLst>
              <a:ext uri="{FF2B5EF4-FFF2-40B4-BE49-F238E27FC236}">
                <a16:creationId xmlns:a16="http://schemas.microsoft.com/office/drawing/2014/main" id="{2DC63D53-899B-42AC-ACC3-C8F9FB0BDD79}"/>
              </a:ext>
            </a:extLst>
          </p:cNvPr>
          <p:cNvSpPr>
            <a:spLocks noGrp="1"/>
          </p:cNvSpPr>
          <p:nvPr>
            <p:ph type="title"/>
          </p:nvPr>
        </p:nvSpPr>
        <p:spPr/>
        <p:txBody>
          <a:bodyPr/>
          <a:lstStyle/>
          <a:p>
            <a:r>
              <a:rPr lang="en-US"/>
              <a:t>Cost optimization design principles</a:t>
            </a:r>
          </a:p>
        </p:txBody>
      </p:sp>
      <p:sp>
        <p:nvSpPr>
          <p:cNvPr id="6" name="Content Placeholder 6">
            <a:extLst>
              <a:ext uri="{FF2B5EF4-FFF2-40B4-BE49-F238E27FC236}">
                <a16:creationId xmlns:a16="http://schemas.microsoft.com/office/drawing/2014/main" id="{F7D203FE-1FA3-4992-9F01-F6502E601F2C}"/>
              </a:ext>
            </a:extLst>
          </p:cNvPr>
          <p:cNvSpPr txBox="1">
            <a:spLocks/>
          </p:cNvSpPr>
          <p:nvPr/>
        </p:nvSpPr>
        <p:spPr>
          <a:xfrm>
            <a:off x="2867778" y="1528175"/>
            <a:ext cx="8905122" cy="46487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Implement Cloud Financial Management</a:t>
            </a:r>
          </a:p>
          <a:p>
            <a:r>
              <a:rPr lang="en-US"/>
              <a:t>Adopt a consumption model</a:t>
            </a:r>
          </a:p>
          <a:p>
            <a:r>
              <a:rPr lang="en-US"/>
              <a:t>Measure overall efficiency</a:t>
            </a:r>
          </a:p>
          <a:p>
            <a:r>
              <a:rPr lang="en-US"/>
              <a:t>Stop spending money on undifferentiated heavy lifting</a:t>
            </a:r>
          </a:p>
          <a:p>
            <a:r>
              <a:rPr lang="en-US"/>
              <a:t>Analyze and attribute expenditure</a:t>
            </a:r>
          </a:p>
        </p:txBody>
      </p:sp>
      <p:grpSp>
        <p:nvGrpSpPr>
          <p:cNvPr id="10" name="Group 9">
            <a:extLst>
              <a:ext uri="{FF2B5EF4-FFF2-40B4-BE49-F238E27FC236}">
                <a16:creationId xmlns:a16="http://schemas.microsoft.com/office/drawing/2014/main" id="{A5EC0E06-99E8-4D68-A9C0-E55C8A617199}"/>
              </a:ext>
              <a:ext uri="{C183D7F6-B498-43B3-948B-1728B52AA6E4}">
                <adec:decorative xmlns:adec="http://schemas.microsoft.com/office/drawing/2017/decorative" val="1"/>
              </a:ext>
            </a:extLst>
          </p:cNvPr>
          <p:cNvGrpSpPr/>
          <p:nvPr/>
        </p:nvGrpSpPr>
        <p:grpSpPr>
          <a:xfrm>
            <a:off x="392209" y="1492389"/>
            <a:ext cx="2229853" cy="4539914"/>
            <a:chOff x="392209" y="1492389"/>
            <a:chExt cx="2229853" cy="4539914"/>
          </a:xfrm>
        </p:grpSpPr>
        <p:sp>
          <p:nvSpPr>
            <p:cNvPr id="7" name="Rectangle 6">
              <a:extLst>
                <a:ext uri="{FF2B5EF4-FFF2-40B4-BE49-F238E27FC236}">
                  <a16:creationId xmlns:a16="http://schemas.microsoft.com/office/drawing/2014/main" id="{79FEB433-44C9-4A91-B729-77F47DE15969}"/>
                </a:ext>
              </a:extLst>
            </p:cNvPr>
            <p:cNvSpPr/>
            <p:nvPr/>
          </p:nvSpPr>
          <p:spPr>
            <a:xfrm>
              <a:off x="392209" y="1492389"/>
              <a:ext cx="2229853" cy="4539914"/>
            </a:xfrm>
            <a:prstGeom prst="rect">
              <a:avLst/>
            </a:prstGeom>
            <a:ln w="19050">
              <a:solidFill>
                <a:srgbClr val="0070C0"/>
              </a:solidFill>
            </a:ln>
          </p:spPr>
          <p:style>
            <a:lnRef idx="2">
              <a:schemeClr val="accent1"/>
            </a:lnRef>
            <a:fillRef idx="1">
              <a:schemeClr val="lt1"/>
            </a:fillRef>
            <a:effectRef idx="0">
              <a:schemeClr val="accent1"/>
            </a:effectRef>
            <a:fontRef idx="minor">
              <a:schemeClr val="dk1"/>
            </a:fontRef>
          </p:style>
          <p:txBody>
            <a:bodyPr rtlCol="0" anchor="t"/>
            <a:lstStyle/>
            <a:p>
              <a:pPr algn="ctr"/>
              <a:endParaRPr lang="en-US" sz="2400" b="1">
                <a:latin typeface="Amazon Ember Light" panose="020B0403020204020204" pitchFamily="34" charset="0"/>
                <a:ea typeface="Amazon Ember Light" panose="020B0403020204020204" pitchFamily="34" charset="0"/>
                <a:cs typeface="Amazon Ember Light" panose="020B0403020204020204" pitchFamily="34" charset="0"/>
              </a:endParaRPr>
            </a:p>
            <a:p>
              <a:pPr algn="ct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Cost Optimization</a:t>
              </a:r>
              <a:b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2400" b="1">
                  <a:solidFill>
                    <a:schemeClr val="tx1"/>
                  </a:solidFill>
                  <a:latin typeface="Amazon Ember" panose="020B0603020204020204" pitchFamily="34" charset="0"/>
                  <a:ea typeface="Amazon Ember" panose="020B0603020204020204" pitchFamily="34" charset="0"/>
                  <a:cs typeface="Amazon Ember" panose="020B0603020204020204" pitchFamily="34" charset="0"/>
                </a:rPr>
                <a:t>pillar</a:t>
              </a:r>
            </a:p>
          </p:txBody>
        </p:sp>
        <p:sp>
          <p:nvSpPr>
            <p:cNvPr id="8" name="TextBox 7">
              <a:extLst>
                <a:ext uri="{FF2B5EF4-FFF2-40B4-BE49-F238E27FC236}">
                  <a16:creationId xmlns:a16="http://schemas.microsoft.com/office/drawing/2014/main" id="{C369B006-4DCC-4598-A801-D3CEEC0F844D}"/>
                </a:ext>
              </a:extLst>
            </p:cNvPr>
            <p:cNvSpPr txBox="1"/>
            <p:nvPr/>
          </p:nvSpPr>
          <p:spPr>
            <a:xfrm>
              <a:off x="688737" y="4848104"/>
              <a:ext cx="1627717" cy="1015663"/>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Eliminate unneeded expense.</a:t>
              </a:r>
            </a:p>
          </p:txBody>
        </p:sp>
        <p:pic>
          <p:nvPicPr>
            <p:cNvPr id="9" name="Picture 10">
              <a:extLst>
                <a:ext uri="{FF2B5EF4-FFF2-40B4-BE49-F238E27FC236}">
                  <a16:creationId xmlns:a16="http://schemas.microsoft.com/office/drawing/2014/main" id="{E6B34596-346C-4E0A-A2D4-0049A4F722A9}"/>
                </a:ext>
                <a:ext uri="{C183D7F6-B498-43B3-948B-1728B52AA6E4}">
                  <adec:decorative xmlns:adec="http://schemas.microsoft.com/office/drawing/2017/decorative" val="1"/>
                </a:ext>
              </a:extLst>
            </p:cNvPr>
            <p:cNvPicPr>
              <a:picLocks noChangeAspect="1" noChangeArrowheads="1"/>
            </p:cNvPicPr>
            <p:nvPr/>
          </p:nvPicPr>
          <p:blipFill>
            <a:blip r:embed="rId4">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71075" y="3030826"/>
              <a:ext cx="1463040" cy="1463040"/>
            </a:xfrm>
            <a:prstGeom prst="rect">
              <a:avLst/>
            </a:prstGeom>
            <a:noFill/>
            <a:extLst>
              <a:ext uri="{909E8E84-426E-40DD-AFC4-6F175D3DCCD1}">
                <a14:hiddenFill xmlns:a14="http://schemas.microsoft.com/office/drawing/2010/main">
                  <a:solidFill>
                    <a:srgbClr val="FFFFFF"/>
                  </a:solidFill>
                </a14:hiddenFill>
              </a:ext>
            </a:extLst>
          </p:spPr>
        </p:pic>
      </p:grpSp>
    </p:spTree>
    <p:custDataLst>
      <p:tags r:id="rId1"/>
    </p:custDataLst>
    <p:extLst>
      <p:ext uri="{BB962C8B-B14F-4D97-AF65-F5344CB8AC3E}">
        <p14:creationId xmlns:p14="http://schemas.microsoft.com/office/powerpoint/2010/main" val="30792011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BB0C093-6C3D-494F-9690-DEBE70D7D956}"/>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28</a:t>
            </a:fld>
            <a:endParaRPr lang="en-US"/>
          </a:p>
        </p:txBody>
      </p:sp>
      <p:sp>
        <p:nvSpPr>
          <p:cNvPr id="2" name="Title 1">
            <a:extLst>
              <a:ext uri="{FF2B5EF4-FFF2-40B4-BE49-F238E27FC236}">
                <a16:creationId xmlns:a16="http://schemas.microsoft.com/office/drawing/2014/main" id="{467F908C-2D09-48F8-BD0F-E205BDE2D073}"/>
              </a:ext>
            </a:extLst>
          </p:cNvPr>
          <p:cNvSpPr>
            <a:spLocks noGrp="1"/>
          </p:cNvSpPr>
          <p:nvPr>
            <p:ph type="title"/>
          </p:nvPr>
        </p:nvSpPr>
        <p:spPr/>
        <p:txBody>
          <a:bodyPr/>
          <a:lstStyle/>
          <a:p>
            <a:r>
              <a:rPr lang="en-US"/>
              <a:t>Cost optimization questions</a:t>
            </a:r>
          </a:p>
        </p:txBody>
      </p:sp>
      <p:sp>
        <p:nvSpPr>
          <p:cNvPr id="3" name="Content Placeholder 2">
            <a:extLst>
              <a:ext uri="{FF2B5EF4-FFF2-40B4-BE49-F238E27FC236}">
                <a16:creationId xmlns:a16="http://schemas.microsoft.com/office/drawing/2014/main" id="{7CE831B3-C0BA-4320-B47F-27E489A85B86}"/>
              </a:ext>
            </a:extLst>
          </p:cNvPr>
          <p:cNvSpPr>
            <a:spLocks noGrp="1"/>
          </p:cNvSpPr>
          <p:nvPr>
            <p:ph sz="quarter" idx="21"/>
          </p:nvPr>
        </p:nvSpPr>
        <p:spPr>
          <a:xfrm>
            <a:off x="365760" y="1143000"/>
            <a:ext cx="5504688" cy="4645152"/>
          </a:xfrm>
        </p:spPr>
        <p:txBody>
          <a:bodyPr/>
          <a:lstStyle/>
          <a:p>
            <a:pPr marL="0" indent="0">
              <a:buNone/>
            </a:pPr>
            <a:r>
              <a:rPr lang="en-US" sz="2000">
                <a:solidFill>
                  <a:srgbClr val="504BAB"/>
                </a:solidFill>
              </a:rPr>
              <a:t>Practice cloud financial management</a:t>
            </a:r>
          </a:p>
          <a:p>
            <a:r>
              <a:rPr lang="en-US" sz="1800"/>
              <a:t>How do you implement cloud financial management?</a:t>
            </a:r>
          </a:p>
          <a:p>
            <a:pPr marL="0" indent="0">
              <a:buNone/>
            </a:pPr>
            <a:endParaRPr lang="en-US" sz="1800"/>
          </a:p>
          <a:p>
            <a:pPr marL="0" indent="0">
              <a:buNone/>
            </a:pPr>
            <a:r>
              <a:rPr lang="en-US" sz="2000">
                <a:solidFill>
                  <a:srgbClr val="504BAB"/>
                </a:solidFill>
              </a:rPr>
              <a:t>Expenditure and usage awareness</a:t>
            </a:r>
          </a:p>
          <a:p>
            <a:r>
              <a:rPr lang="en-US" sz="1800"/>
              <a:t>How do you govern usage?</a:t>
            </a:r>
          </a:p>
          <a:p>
            <a:r>
              <a:rPr lang="en-US" sz="1800"/>
              <a:t>How do you monitor usage and cost?</a:t>
            </a:r>
          </a:p>
          <a:p>
            <a:r>
              <a:rPr lang="en-US" sz="1800"/>
              <a:t>How do you decommission resources?</a:t>
            </a:r>
          </a:p>
        </p:txBody>
      </p:sp>
      <p:sp>
        <p:nvSpPr>
          <p:cNvPr id="7" name="Content Placeholder 6">
            <a:extLst>
              <a:ext uri="{FF2B5EF4-FFF2-40B4-BE49-F238E27FC236}">
                <a16:creationId xmlns:a16="http://schemas.microsoft.com/office/drawing/2014/main" id="{DD297376-2B30-4393-8323-1F4494D43712}"/>
              </a:ext>
            </a:extLst>
          </p:cNvPr>
          <p:cNvSpPr>
            <a:spLocks noGrp="1"/>
          </p:cNvSpPr>
          <p:nvPr>
            <p:ph idx="4294967295"/>
          </p:nvPr>
        </p:nvSpPr>
        <p:spPr>
          <a:xfrm>
            <a:off x="6245352" y="1143000"/>
            <a:ext cx="5503862" cy="5006340"/>
          </a:xfrm>
        </p:spPr>
        <p:txBody>
          <a:bodyPr>
            <a:normAutofit/>
          </a:bodyPr>
          <a:lstStyle/>
          <a:p>
            <a:pPr marL="0" indent="0">
              <a:buNone/>
            </a:pPr>
            <a:r>
              <a:rPr lang="en-US" sz="2000">
                <a:solidFill>
                  <a:srgbClr val="504BAB"/>
                </a:solidFill>
              </a:rPr>
              <a:t>Cost-effective resources</a:t>
            </a:r>
          </a:p>
          <a:p>
            <a:r>
              <a:rPr lang="en-US" sz="1800"/>
              <a:t>How do you evaluate cost when you select services?</a:t>
            </a:r>
          </a:p>
          <a:p>
            <a:r>
              <a:rPr lang="en-US" sz="1800"/>
              <a:t>How do you meet cost targets when you select resource type, size, and number?</a:t>
            </a:r>
          </a:p>
          <a:p>
            <a:r>
              <a:rPr lang="en-US" sz="1800"/>
              <a:t>How do you use pricing models to reduce cost?</a:t>
            </a:r>
          </a:p>
          <a:p>
            <a:r>
              <a:rPr lang="en-US" sz="1800"/>
              <a:t>How do you plan for data transfer changes?</a:t>
            </a:r>
          </a:p>
          <a:p>
            <a:pPr marL="0" indent="0">
              <a:buNone/>
            </a:pPr>
            <a:endParaRPr lang="en-US" sz="1800"/>
          </a:p>
          <a:p>
            <a:pPr marL="0" indent="0">
              <a:buNone/>
            </a:pPr>
            <a:r>
              <a:rPr lang="en-US" sz="2000">
                <a:solidFill>
                  <a:srgbClr val="504BAB"/>
                </a:solidFill>
              </a:rPr>
              <a:t>Manage demand and supply resources</a:t>
            </a:r>
          </a:p>
          <a:p>
            <a:r>
              <a:rPr lang="en-US" sz="1800"/>
              <a:t>How do you manage demand and supply resources?</a:t>
            </a:r>
            <a:br>
              <a:rPr lang="en-US" sz="1800"/>
            </a:br>
            <a:endParaRPr lang="en-US" sz="1800"/>
          </a:p>
          <a:p>
            <a:pPr marL="0" indent="0">
              <a:buNone/>
            </a:pPr>
            <a:r>
              <a:rPr lang="en-US" sz="2000">
                <a:solidFill>
                  <a:srgbClr val="504BAB"/>
                </a:solidFill>
              </a:rPr>
              <a:t>Optimize over time</a:t>
            </a:r>
          </a:p>
          <a:p>
            <a:r>
              <a:rPr lang="en-US" sz="1800"/>
              <a:t>How do you evaluate new services?</a:t>
            </a:r>
          </a:p>
          <a:p>
            <a:pPr marL="0" indent="0">
              <a:buNone/>
            </a:pPr>
            <a:endParaRPr lang="en-US" sz="2400"/>
          </a:p>
        </p:txBody>
      </p:sp>
    </p:spTree>
    <p:custDataLst>
      <p:tags r:id="rId1"/>
    </p:custDataLst>
    <p:extLst>
      <p:ext uri="{BB962C8B-B14F-4D97-AF65-F5344CB8AC3E}">
        <p14:creationId xmlns:p14="http://schemas.microsoft.com/office/powerpoint/2010/main" val="35093099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29</a:t>
            </a:fld>
            <a:endParaRPr lang="en-US"/>
          </a:p>
        </p:txBody>
      </p:sp>
      <p:sp>
        <p:nvSpPr>
          <p:cNvPr id="2" name="Title 1"/>
          <p:cNvSpPr>
            <a:spLocks noGrp="1"/>
          </p:cNvSpPr>
          <p:nvPr>
            <p:ph type="title"/>
          </p:nvPr>
        </p:nvSpPr>
        <p:spPr/>
        <p:txBody>
          <a:bodyPr/>
          <a:lstStyle/>
          <a:p>
            <a:r>
              <a:rPr lang="en-US"/>
              <a:t>The AWS Well-Architected Tool</a:t>
            </a:r>
          </a:p>
        </p:txBody>
      </p:sp>
      <p:sp>
        <p:nvSpPr>
          <p:cNvPr id="10" name="Content Placeholder 9"/>
          <p:cNvSpPr>
            <a:spLocks noGrp="1"/>
          </p:cNvSpPr>
          <p:nvPr>
            <p:ph sz="quarter" idx="21"/>
          </p:nvPr>
        </p:nvSpPr>
        <p:spPr/>
        <p:txBody>
          <a:bodyPr/>
          <a:lstStyle/>
          <a:p>
            <a:r>
              <a:rPr lang="en-US"/>
              <a:t>Helps you review the state of your workloads and compares them to the latest AWS architectural best practices</a:t>
            </a:r>
          </a:p>
          <a:p>
            <a:r>
              <a:rPr lang="en-US"/>
              <a:t>Gives you access to knowledge and best practices used by AWS architects, whenever you need it</a:t>
            </a:r>
          </a:p>
          <a:p>
            <a:r>
              <a:rPr lang="en-US"/>
              <a:t>Delivers an action plan with step-by-step guidance on how to build better workloads for the cloud</a:t>
            </a:r>
          </a:p>
          <a:p>
            <a:r>
              <a:rPr lang="en-US"/>
              <a:t>Provides a consistent process for you to review and measure your cloud architectures</a:t>
            </a:r>
          </a:p>
        </p:txBody>
      </p:sp>
    </p:spTree>
    <p:custDataLst>
      <p:tags r:id="rId1"/>
    </p:custDataLst>
    <p:extLst>
      <p:ext uri="{BB962C8B-B14F-4D97-AF65-F5344CB8AC3E}">
        <p14:creationId xmlns:p14="http://schemas.microsoft.com/office/powerpoint/2010/main" val="21661566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30</a:t>
            </a:fld>
            <a:endParaRPr lang="en-US"/>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lstStyle/>
          <a:p>
            <a:r>
              <a:rPr lang="en-US">
                <a:latin typeface="+mj-lt"/>
              </a:rPr>
              <a:t>Section 1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r>
              <a:rPr lang="en-US" sz="2400">
                <a:latin typeface="+mn-lt"/>
              </a:rPr>
              <a:t>The AWS Well-Architected Framework provides a </a:t>
            </a:r>
            <a:r>
              <a:rPr lang="en-US" sz="2400">
                <a:solidFill>
                  <a:srgbClr val="504BAB"/>
                </a:solidFill>
                <a:latin typeface="+mn-lt"/>
              </a:rPr>
              <a:t>consistent approach </a:t>
            </a:r>
            <a:r>
              <a:rPr lang="en-US" sz="2400">
                <a:latin typeface="+mn-lt"/>
              </a:rPr>
              <a:t>to evaluate cloud architectures </a:t>
            </a:r>
            <a:r>
              <a:rPr lang="en-US" sz="2400">
                <a:solidFill>
                  <a:srgbClr val="504BAB"/>
                </a:solidFill>
                <a:latin typeface="+mn-lt"/>
              </a:rPr>
              <a:t>and guidance </a:t>
            </a:r>
            <a:r>
              <a:rPr lang="en-US" sz="2400">
                <a:latin typeface="+mn-lt"/>
              </a:rPr>
              <a:t>to help implement designs.</a:t>
            </a:r>
          </a:p>
          <a:p>
            <a:r>
              <a:rPr lang="en-US" sz="2400">
                <a:latin typeface="+mn-lt"/>
              </a:rPr>
              <a:t>The AWS Well-Architected Framework documents a </a:t>
            </a:r>
            <a:r>
              <a:rPr lang="en-US" sz="2400">
                <a:solidFill>
                  <a:srgbClr val="504BAB"/>
                </a:solidFill>
                <a:latin typeface="+mn-lt"/>
              </a:rPr>
              <a:t>set of design principles </a:t>
            </a:r>
            <a:r>
              <a:rPr lang="en-US" sz="2400">
                <a:latin typeface="+mn-lt"/>
              </a:rPr>
              <a:t>and </a:t>
            </a:r>
            <a:r>
              <a:rPr lang="en-US" sz="2400">
                <a:solidFill>
                  <a:srgbClr val="504BAB"/>
                </a:solidFill>
                <a:latin typeface="+mn-lt"/>
              </a:rPr>
              <a:t>best practices </a:t>
            </a:r>
            <a:r>
              <a:rPr lang="en-US" sz="2400">
                <a:latin typeface="+mn-lt"/>
              </a:rPr>
              <a:t>that enable you to understand if a specific architecture aligns well with cloud best practices. </a:t>
            </a:r>
          </a:p>
          <a:p>
            <a:r>
              <a:rPr lang="en-US" sz="2400">
                <a:latin typeface="+mn-lt"/>
              </a:rPr>
              <a:t>The AWS Well-Architected Framework is organized into </a:t>
            </a:r>
            <a:r>
              <a:rPr lang="en-US" sz="2400">
                <a:solidFill>
                  <a:srgbClr val="504BAB"/>
                </a:solidFill>
                <a:latin typeface="+mn-lt"/>
              </a:rPr>
              <a:t>six pillars</a:t>
            </a:r>
            <a:r>
              <a:rPr lang="en-US" sz="2400">
                <a:latin typeface="+mn-lt"/>
              </a:rPr>
              <a:t>.</a:t>
            </a:r>
          </a:p>
          <a:p>
            <a:r>
              <a:rPr lang="en-US" sz="2400">
                <a:latin typeface="+mn-lt"/>
              </a:rPr>
              <a:t>Each pillar includes its own set of </a:t>
            </a:r>
            <a:r>
              <a:rPr lang="en-US" sz="2400">
                <a:solidFill>
                  <a:srgbClr val="504BAB"/>
                </a:solidFill>
                <a:latin typeface="+mn-lt"/>
              </a:rPr>
              <a:t>design principles and best practices</a:t>
            </a:r>
            <a:r>
              <a:rPr lang="en-US" sz="2400">
                <a:latin typeface="+mn-lt"/>
              </a:rPr>
              <a:t>.</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27011046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42B5068-10F6-4A06-B462-A7197AE43810}"/>
              </a:ext>
            </a:extLst>
          </p:cNvPr>
          <p:cNvSpPr>
            <a:spLocks noGrp="1"/>
          </p:cNvSpPr>
          <p:nvPr>
            <p:ph type="subTitle" idx="1"/>
          </p:nvPr>
        </p:nvSpPr>
        <p:spPr/>
        <p:txBody>
          <a:bodyPr/>
          <a:lstStyle/>
          <a:p>
            <a:r>
              <a:rPr lang="en-US"/>
              <a:t>Module 9: Cloud Architecture</a:t>
            </a:r>
          </a:p>
        </p:txBody>
      </p:sp>
      <p:sp>
        <p:nvSpPr>
          <p:cNvPr id="2" name="Title 1"/>
          <p:cNvSpPr>
            <a:spLocks noGrp="1"/>
          </p:cNvSpPr>
          <p:nvPr>
            <p:ph type="title"/>
          </p:nvPr>
        </p:nvSpPr>
        <p:spPr/>
        <p:txBody>
          <a:bodyPr>
            <a:noAutofit/>
          </a:bodyPr>
          <a:lstStyle/>
          <a:p>
            <a:r>
              <a:rPr lang="en-US"/>
              <a:t>Section 2: Reliability and availability</a:t>
            </a:r>
          </a:p>
        </p:txBody>
      </p:sp>
    </p:spTree>
    <p:custDataLst>
      <p:tags r:id="rId1"/>
    </p:custDataLst>
    <p:extLst>
      <p:ext uri="{BB962C8B-B14F-4D97-AF65-F5344CB8AC3E}">
        <p14:creationId xmlns:p14="http://schemas.microsoft.com/office/powerpoint/2010/main" val="758231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DFA1E6-C625-4AC0-94A1-1F4C54D0339A}"/>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32</a:t>
            </a:fld>
            <a:endParaRPr lang="en-US" dirty="0"/>
          </a:p>
        </p:txBody>
      </p:sp>
      <p:sp>
        <p:nvSpPr>
          <p:cNvPr id="7" name="Content Placeholder 6"/>
          <p:cNvSpPr>
            <a:spLocks noGrp="1"/>
          </p:cNvSpPr>
          <p:nvPr>
            <p:ph type="title" idx="4294967295"/>
          </p:nvPr>
        </p:nvSpPr>
        <p:spPr>
          <a:xfrm>
            <a:off x="1589088" y="2668588"/>
            <a:ext cx="9121775" cy="152082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fontScale="90000"/>
          </a:bodyPr>
          <a:lstStyle/>
          <a:p>
            <a:pPr marL="0" marR="0" lvl="0" indent="0" algn="l" defTabSz="228600" rtl="0" eaLnBrk="1" fontAlgn="auto" latinLnBrk="0" hangingPunct="1">
              <a:lnSpc>
                <a:spcPct val="100000"/>
              </a:lnSpc>
              <a:spcBef>
                <a:spcPts val="500"/>
              </a:spcBef>
              <a:spcAft>
                <a:spcPts val="600"/>
              </a:spcAft>
              <a:buClrTx/>
              <a:buSzTx/>
              <a:buFont typeface="Amazon Ember"/>
              <a:buNone/>
              <a:tabLst/>
              <a:defRPr/>
            </a:pPr>
            <a:r>
              <a:rPr kumimoji="0" lang="en-US" sz="4400" b="0" i="1" u="none" strike="noStrike" kern="1200" cap="none" spc="0" normalizeH="0" baseline="0" noProof="0">
                <a:ln>
                  <a:noFill/>
                </a:ln>
                <a:solidFill>
                  <a:schemeClr val="tx2"/>
                </a:solidFill>
                <a:effectLst/>
                <a:uLnTx/>
                <a:uFillTx/>
                <a:latin typeface="Amazon Ember"/>
              </a:rPr>
              <a:t>	</a:t>
            </a:r>
            <a:r>
              <a:rPr kumimoji="0" lang="en-US" sz="4400" b="1" i="1" u="none" strike="noStrike" kern="1200" cap="none" spc="0" normalizeH="0" baseline="0" noProof="0">
                <a:ln>
                  <a:noFill/>
                </a:ln>
                <a:solidFill>
                  <a:schemeClr val="tx2"/>
                </a:solidFill>
                <a:effectLst/>
                <a:uLnTx/>
                <a:uFillTx/>
                <a:latin typeface="Amazon Ember" panose="020B0603020204020204" pitchFamily="34" charset="0"/>
                <a:ea typeface="Amazon Ember" panose="020B0603020204020204" pitchFamily="34" charset="0"/>
                <a:cs typeface="Amazon Ember" panose="020B0603020204020204" pitchFamily="34" charset="0"/>
              </a:rPr>
              <a:t>“Everything fails, all the time.”	</a:t>
            </a:r>
          </a:p>
          <a:p>
            <a:pPr marL="0" marR="0" lvl="0" indent="0" algn="l" defTabSz="228600" rtl="0" eaLnBrk="1" fontAlgn="auto" latinLnBrk="0" hangingPunct="1">
              <a:lnSpc>
                <a:spcPct val="100000"/>
              </a:lnSpc>
              <a:spcBef>
                <a:spcPts val="500"/>
              </a:spcBef>
              <a:spcAft>
                <a:spcPts val="600"/>
              </a:spcAft>
              <a:buClrTx/>
              <a:buSzTx/>
              <a:buFont typeface="Amazon Ember"/>
              <a:buNone/>
              <a:tabLst/>
              <a:defRPr/>
            </a:pPr>
            <a:r>
              <a:rPr kumimoji="0" lang="en-US" sz="4400" b="0" i="1" u="none" strike="noStrike" kern="1200" cap="none" spc="0" normalizeH="0" baseline="0" noProof="0">
                <a:ln>
                  <a:noFill/>
                </a:ln>
                <a:solidFill>
                  <a:schemeClr val="tx2"/>
                </a:solidFill>
                <a:effectLst/>
                <a:uLnTx/>
                <a:uFillTx/>
                <a:latin typeface="Amazon Ember"/>
              </a:rPr>
              <a:t>				</a:t>
            </a:r>
            <a:r>
              <a:rPr kumimoji="0" lang="en-US" sz="4400" b="0" i="0" u="none" strike="noStrike" kern="1200" cap="none" spc="0" normalizeH="0" baseline="0" noProof="0">
                <a:ln>
                  <a:noFill/>
                </a:ln>
                <a:solidFill>
                  <a:schemeClr val="tx2"/>
                </a:solidFill>
                <a:effectLst/>
                <a:uLnTx/>
                <a:uFillTx/>
                <a:latin typeface="Amazon Ember"/>
              </a:rPr>
              <a:t> </a:t>
            </a:r>
            <a:r>
              <a:rPr kumimoji="0" lang="en-US" sz="2800" b="0" i="0" u="none" strike="noStrike" kern="1200" cap="none" spc="0" normalizeH="0" baseline="0" noProof="0">
                <a:ln>
                  <a:noFill/>
                </a:ln>
                <a:solidFill>
                  <a:schemeClr val="tx2"/>
                </a:solidFill>
                <a:effectLst/>
                <a:uLnTx/>
                <a:uFillTx/>
                <a:latin typeface="Amazon Ember"/>
              </a:rPr>
              <a:t>Werner </a:t>
            </a:r>
            <a:r>
              <a:rPr kumimoji="0" lang="en-US" sz="2800" b="0" i="0" u="none" strike="noStrike" kern="1200" cap="none" spc="0" normalizeH="0" baseline="0" noProof="0" err="1">
                <a:ln>
                  <a:noFill/>
                </a:ln>
                <a:solidFill>
                  <a:schemeClr val="tx2"/>
                </a:solidFill>
                <a:effectLst/>
                <a:uLnTx/>
                <a:uFillTx/>
                <a:latin typeface="Amazon Ember"/>
              </a:rPr>
              <a:t>Vogels</a:t>
            </a:r>
            <a:r>
              <a:rPr kumimoji="0" lang="en-US" sz="2800" b="0" i="0" u="none" strike="noStrike" kern="1200" cap="none" spc="0" normalizeH="0" baseline="0" noProof="0">
                <a:ln>
                  <a:noFill/>
                </a:ln>
                <a:solidFill>
                  <a:schemeClr val="tx2"/>
                </a:solidFill>
                <a:effectLst/>
                <a:uLnTx/>
                <a:uFillTx/>
                <a:latin typeface="Amazon Ember"/>
              </a:rPr>
              <a:t>, CTO, </a:t>
            </a:r>
            <a:r>
              <a:rPr kumimoji="0" lang="en-US" sz="2800" b="0" i="0" u="none" strike="noStrike" kern="1200" cap="none" spc="0" normalizeH="0" baseline="0" noProof="0" err="1">
                <a:ln>
                  <a:noFill/>
                </a:ln>
                <a:solidFill>
                  <a:schemeClr val="tx2"/>
                </a:solidFill>
                <a:effectLst/>
                <a:uLnTx/>
                <a:uFillTx/>
                <a:latin typeface="Amazon Ember"/>
              </a:rPr>
              <a:t>Amazon.com</a:t>
            </a:r>
            <a:endParaRPr kumimoji="0" lang="en-US" sz="2800" b="0" i="1" u="none" strike="noStrike" kern="1200" cap="none" spc="0" normalizeH="0" baseline="0" noProof="0">
              <a:ln>
                <a:noFill/>
              </a:ln>
              <a:solidFill>
                <a:schemeClr val="tx2"/>
              </a:solidFill>
              <a:effectLst/>
              <a:uLnTx/>
              <a:uFillTx/>
              <a:latin typeface="Amazon Ember"/>
            </a:endParaRPr>
          </a:p>
        </p:txBody>
      </p:sp>
    </p:spTree>
    <p:custDataLst>
      <p:tags r:id="rId1"/>
    </p:custDataLst>
    <p:extLst>
      <p:ext uri="{BB962C8B-B14F-4D97-AF65-F5344CB8AC3E}">
        <p14:creationId xmlns:p14="http://schemas.microsoft.com/office/powerpoint/2010/main" val="8240135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B6AC5B-CD0A-726E-85F3-D6645C3504B2}"/>
              </a:ext>
            </a:extLst>
          </p:cNvPr>
          <p:cNvSpPr>
            <a:spLocks noGrp="1"/>
          </p:cNvSpPr>
          <p:nvPr>
            <p:ph type="sldNum" sz="quarter" idx="20"/>
          </p:nvPr>
        </p:nvSpPr>
        <p:spPr/>
        <p:txBody>
          <a:bodyPr/>
          <a:lstStyle/>
          <a:p>
            <a:fld id="{930176A1-BCF0-4712-97A6-6B495F55390B}" type="slidenum">
              <a:rPr lang="en-US" smtClean="0"/>
              <a:pPr/>
              <a:t>33</a:t>
            </a:fld>
            <a:endParaRPr lang="en-US" dirty="0"/>
          </a:p>
        </p:txBody>
      </p:sp>
      <p:sp>
        <p:nvSpPr>
          <p:cNvPr id="7" name="Title 6">
            <a:extLst>
              <a:ext uri="{FF2B5EF4-FFF2-40B4-BE49-F238E27FC236}">
                <a16:creationId xmlns:a16="http://schemas.microsoft.com/office/drawing/2014/main" id="{CD3E7CFF-4C70-4A2A-8865-689BF1F1057A}"/>
              </a:ext>
            </a:extLst>
          </p:cNvPr>
          <p:cNvSpPr>
            <a:spLocks noGrp="1"/>
          </p:cNvSpPr>
          <p:nvPr>
            <p:ph type="title"/>
          </p:nvPr>
        </p:nvSpPr>
        <p:spPr/>
        <p:txBody>
          <a:bodyPr/>
          <a:lstStyle/>
          <a:p>
            <a:r>
              <a:rPr lang="en-US"/>
              <a:t>Reliability</a:t>
            </a:r>
          </a:p>
        </p:txBody>
      </p:sp>
      <p:sp>
        <p:nvSpPr>
          <p:cNvPr id="23" name="Content Placeholder 2">
            <a:extLst>
              <a:ext uri="{FF2B5EF4-FFF2-40B4-BE49-F238E27FC236}">
                <a16:creationId xmlns:a16="http://schemas.microsoft.com/office/drawing/2014/main" id="{5BD3F170-B08E-47DE-96D4-BEFAEF2D405B}"/>
              </a:ext>
            </a:extLst>
          </p:cNvPr>
          <p:cNvSpPr txBox="1">
            <a:spLocks/>
          </p:cNvSpPr>
          <p:nvPr/>
        </p:nvSpPr>
        <p:spPr>
          <a:xfrm>
            <a:off x="419100" y="1528175"/>
            <a:ext cx="5504688" cy="4648788"/>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22275" indent="-422275"/>
            <a:r>
              <a:rPr lang="en-US"/>
              <a:t>A measure of your system’s </a:t>
            </a:r>
            <a:r>
              <a:rPr lang="en-US">
                <a:solidFill>
                  <a:srgbClr val="504BAB"/>
                </a:solidFill>
              </a:rPr>
              <a:t>ability to provide functionality </a:t>
            </a:r>
            <a:r>
              <a:rPr lang="en-US"/>
              <a:t>when desired by the user.</a:t>
            </a:r>
          </a:p>
          <a:p>
            <a:pPr marL="422275" indent="-422275">
              <a:buClr>
                <a:schemeClr val="tx1"/>
              </a:buClr>
            </a:pPr>
            <a:r>
              <a:rPr lang="en-US">
                <a:solidFill>
                  <a:srgbClr val="504BAB"/>
                </a:solidFill>
              </a:rPr>
              <a:t>System</a:t>
            </a:r>
            <a:r>
              <a:rPr lang="en-US"/>
              <a:t> includes all system components: hardware, firmware, and software.</a:t>
            </a:r>
          </a:p>
          <a:p>
            <a:pPr marL="422275" indent="-422275">
              <a:buClr>
                <a:schemeClr val="tx1"/>
              </a:buClr>
            </a:pPr>
            <a:r>
              <a:rPr lang="en-US">
                <a:solidFill>
                  <a:srgbClr val="504BAB"/>
                </a:solidFill>
              </a:rPr>
              <a:t>Probability</a:t>
            </a:r>
            <a:r>
              <a:rPr lang="en-US"/>
              <a:t> that your entire system will function as intended for a specified period.</a:t>
            </a:r>
          </a:p>
          <a:p>
            <a:pPr marL="422275" indent="-422275">
              <a:buClr>
                <a:schemeClr val="tx1"/>
              </a:buClr>
            </a:pPr>
            <a:r>
              <a:rPr lang="en-US">
                <a:solidFill>
                  <a:srgbClr val="504BAB"/>
                </a:solidFill>
              </a:rPr>
              <a:t>Mean time between failures (MTBF) </a:t>
            </a:r>
            <a:r>
              <a:rPr lang="en-US"/>
              <a:t>= total time in service/number of failures</a:t>
            </a:r>
          </a:p>
        </p:txBody>
      </p:sp>
      <p:grpSp>
        <p:nvGrpSpPr>
          <p:cNvPr id="35" name="Group 34" descr="Diagram showing the &quot;system components&quot; of a car such as brakes, cooling, and ignition.">
            <a:extLst>
              <a:ext uri="{FF2B5EF4-FFF2-40B4-BE49-F238E27FC236}">
                <a16:creationId xmlns:a16="http://schemas.microsoft.com/office/drawing/2014/main" id="{88CF71A5-128D-463D-15D7-64EEF482E83F}"/>
              </a:ext>
              <a:ext uri="{C183D7F6-B498-43B3-948B-1728B52AA6E4}">
                <adec:decorative xmlns:adec="http://schemas.microsoft.com/office/drawing/2017/decorative" val="0"/>
              </a:ext>
            </a:extLst>
          </p:cNvPr>
          <p:cNvGrpSpPr/>
          <p:nvPr/>
        </p:nvGrpSpPr>
        <p:grpSpPr>
          <a:xfrm>
            <a:off x="6712596" y="1384298"/>
            <a:ext cx="4634208" cy="5210175"/>
            <a:chOff x="6712596" y="1384298"/>
            <a:chExt cx="4634208" cy="5210175"/>
          </a:xfrm>
        </p:grpSpPr>
        <p:grpSp>
          <p:nvGrpSpPr>
            <p:cNvPr id="8" name="Group 7">
              <a:extLst>
                <a:ext uri="{FF2B5EF4-FFF2-40B4-BE49-F238E27FC236}">
                  <a16:creationId xmlns:a16="http://schemas.microsoft.com/office/drawing/2014/main" id="{ECCDA572-CDB6-483E-AD82-E25B547163DE}"/>
                </a:ext>
                <a:ext uri="{C183D7F6-B498-43B3-948B-1728B52AA6E4}">
                  <adec:decorative xmlns:adec="http://schemas.microsoft.com/office/drawing/2017/decorative" val="1"/>
                </a:ext>
              </a:extLst>
            </p:cNvPr>
            <p:cNvGrpSpPr/>
            <p:nvPr/>
          </p:nvGrpSpPr>
          <p:grpSpPr>
            <a:xfrm>
              <a:off x="6712596" y="1384298"/>
              <a:ext cx="4634208" cy="5210175"/>
              <a:chOff x="7384473" y="1384298"/>
              <a:chExt cx="4634208" cy="5210175"/>
            </a:xfrm>
          </p:grpSpPr>
          <p:sp>
            <p:nvSpPr>
              <p:cNvPr id="9" name="Oval 8">
                <a:extLst>
                  <a:ext uri="{FF2B5EF4-FFF2-40B4-BE49-F238E27FC236}">
                    <a16:creationId xmlns:a16="http://schemas.microsoft.com/office/drawing/2014/main" id="{6D2BFF00-8BBF-4812-A828-A5D6BC5A357E}"/>
                  </a:ext>
                </a:extLst>
              </p:cNvPr>
              <p:cNvSpPr/>
              <p:nvPr/>
            </p:nvSpPr>
            <p:spPr>
              <a:xfrm>
                <a:off x="7384473" y="1384298"/>
                <a:ext cx="4634208" cy="5210175"/>
              </a:xfrm>
              <a:prstGeom prst="ellipse">
                <a:avLst/>
              </a:prstGeom>
              <a:solidFill>
                <a:schemeClr val="accent1">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4E36D30-BFF4-40CF-8DA9-99A9DC01AF11}"/>
                  </a:ext>
                </a:extLst>
              </p:cNvPr>
              <p:cNvSpPr/>
              <p:nvPr/>
            </p:nvSpPr>
            <p:spPr>
              <a:xfrm>
                <a:off x="9151160" y="1607368"/>
                <a:ext cx="1188720" cy="1186338"/>
              </a:xfrm>
              <a:prstGeom prst="rect">
                <a:avLst/>
              </a:prstGeom>
              <a:solidFill>
                <a:schemeClr val="accent1">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Car</a:t>
                </a:r>
              </a:p>
            </p:txBody>
          </p:sp>
          <p:sp>
            <p:nvSpPr>
              <p:cNvPr id="11" name="Rectangle 10">
                <a:extLst>
                  <a:ext uri="{FF2B5EF4-FFF2-40B4-BE49-F238E27FC236}">
                    <a16:creationId xmlns:a16="http://schemas.microsoft.com/office/drawing/2014/main" id="{17979C87-D71F-4DA8-8D60-87E10FBD34F1}"/>
                  </a:ext>
                </a:extLst>
              </p:cNvPr>
              <p:cNvSpPr/>
              <p:nvPr/>
            </p:nvSpPr>
            <p:spPr>
              <a:xfrm>
                <a:off x="8017644" y="4478133"/>
                <a:ext cx="1097280" cy="548640"/>
              </a:xfrm>
              <a:prstGeom prst="rect">
                <a:avLst/>
              </a:prstGeom>
              <a:solidFill>
                <a:schemeClr val="accent1">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Cooling</a:t>
                </a:r>
              </a:p>
            </p:txBody>
          </p:sp>
          <p:sp>
            <p:nvSpPr>
              <p:cNvPr id="12" name="Rectangle 11">
                <a:extLst>
                  <a:ext uri="{FF2B5EF4-FFF2-40B4-BE49-F238E27FC236}">
                    <a16:creationId xmlns:a16="http://schemas.microsoft.com/office/drawing/2014/main" id="{BDBAA7F9-4C18-4D1D-A466-2DA500629C11}"/>
                  </a:ext>
                </a:extLst>
              </p:cNvPr>
              <p:cNvSpPr/>
              <p:nvPr/>
            </p:nvSpPr>
            <p:spPr>
              <a:xfrm>
                <a:off x="10546817" y="4075047"/>
                <a:ext cx="1097280" cy="548640"/>
              </a:xfrm>
              <a:prstGeom prst="rect">
                <a:avLst/>
              </a:prstGeom>
              <a:solidFill>
                <a:schemeClr val="accent1">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Ignition</a:t>
                </a:r>
              </a:p>
            </p:txBody>
          </p:sp>
          <p:cxnSp>
            <p:nvCxnSpPr>
              <p:cNvPr id="13" name="Straight Connector 12">
                <a:extLst>
                  <a:ext uri="{FF2B5EF4-FFF2-40B4-BE49-F238E27FC236}">
                    <a16:creationId xmlns:a16="http://schemas.microsoft.com/office/drawing/2014/main" id="{2C5190BF-90FF-426A-A211-15954DDD8A84}"/>
                  </a:ext>
                </a:extLst>
              </p:cNvPr>
              <p:cNvCxnSpPr>
                <a:cxnSpLocks/>
                <a:stCxn id="10" idx="2"/>
                <a:endCxn id="17" idx="0"/>
              </p:cNvCxnSpPr>
              <p:nvPr/>
            </p:nvCxnSpPr>
            <p:spPr>
              <a:xfrm flipH="1">
                <a:off x="9745118" y="2793706"/>
                <a:ext cx="402" cy="487405"/>
              </a:xfrm>
              <a:prstGeom prst="line">
                <a:avLst/>
              </a:prstGeom>
              <a:solidFill>
                <a:schemeClr val="accent1">
                  <a:lumMod val="10000"/>
                  <a:lumOff val="90000"/>
                </a:schemeClr>
              </a:solidFill>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6564E90-471B-4B33-93FE-5794426161BC}"/>
                  </a:ext>
                </a:extLst>
              </p:cNvPr>
              <p:cNvSpPr/>
              <p:nvPr/>
            </p:nvSpPr>
            <p:spPr>
              <a:xfrm>
                <a:off x="9287918" y="3281111"/>
                <a:ext cx="914400" cy="548640"/>
              </a:xfrm>
              <a:prstGeom prst="rect">
                <a:avLst/>
              </a:prstGeom>
              <a:solidFill>
                <a:schemeClr val="accent1">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Brakes</a:t>
                </a:r>
              </a:p>
            </p:txBody>
          </p:sp>
          <p:sp>
            <p:nvSpPr>
              <p:cNvPr id="18" name="TextBox 17">
                <a:extLst>
                  <a:ext uri="{FF2B5EF4-FFF2-40B4-BE49-F238E27FC236}">
                    <a16:creationId xmlns:a16="http://schemas.microsoft.com/office/drawing/2014/main" id="{322C59B7-7CDF-4331-80AE-966F33EE8C2A}"/>
                  </a:ext>
                </a:extLst>
              </p:cNvPr>
              <p:cNvSpPr txBox="1"/>
              <p:nvPr/>
            </p:nvSpPr>
            <p:spPr>
              <a:xfrm>
                <a:off x="7969806" y="5038631"/>
                <a:ext cx="1249060" cy="584775"/>
              </a:xfrm>
              <a:prstGeom prst="rect">
                <a:avLst/>
              </a:prstGeom>
              <a:solidFill>
                <a:schemeClr val="accent1">
                  <a:lumMod val="10000"/>
                  <a:lumOff val="90000"/>
                </a:schemeClr>
              </a:solidFill>
            </p:spPr>
            <p:txBody>
              <a:bodyPr wrap="none" rtlCol="0">
                <a:spAutoFit/>
              </a:bodyPr>
              <a:lstStyle/>
              <a:p>
                <a:pPr algn="ctr"/>
                <a:r>
                  <a:rPr lang="en-US" sz="1600">
                    <a:latin typeface="Amazon Ember" panose="020B0603020204020204" pitchFamily="34" charset="0"/>
                    <a:ea typeface="Amazon Ember" panose="020B0603020204020204" pitchFamily="34" charset="0"/>
                    <a:cs typeface="Amazon Ember" panose="020B0603020204020204" pitchFamily="34" charset="0"/>
                  </a:rPr>
                  <a:t>System </a:t>
                </a:r>
                <a:br>
                  <a:rPr lang="en-US" sz="1600">
                    <a:latin typeface="Amazon Ember" panose="020B0603020204020204" pitchFamily="34" charset="0"/>
                    <a:ea typeface="Amazon Ember" panose="020B0603020204020204" pitchFamily="34" charset="0"/>
                    <a:cs typeface="Amazon Ember" panose="020B0603020204020204" pitchFamily="34" charset="0"/>
                  </a:rPr>
                </a:br>
                <a:r>
                  <a:rPr lang="en-US" sz="1600">
                    <a:latin typeface="Amazon Ember" panose="020B0603020204020204" pitchFamily="34" charset="0"/>
                    <a:ea typeface="Amazon Ember" panose="020B0603020204020204" pitchFamily="34" charset="0"/>
                    <a:cs typeface="Amazon Ember" panose="020B0603020204020204" pitchFamily="34" charset="0"/>
                  </a:rPr>
                  <a:t>component</a:t>
                </a:r>
              </a:p>
            </p:txBody>
          </p:sp>
          <p:sp>
            <p:nvSpPr>
              <p:cNvPr id="19" name="TextBox 18">
                <a:extLst>
                  <a:ext uri="{FF2B5EF4-FFF2-40B4-BE49-F238E27FC236}">
                    <a16:creationId xmlns:a16="http://schemas.microsoft.com/office/drawing/2014/main" id="{97EB65F9-7B39-4A04-B622-807B12C55CA8}"/>
                  </a:ext>
                </a:extLst>
              </p:cNvPr>
              <p:cNvSpPr txBox="1"/>
              <p:nvPr/>
            </p:nvSpPr>
            <p:spPr>
              <a:xfrm>
                <a:off x="10455699" y="4643954"/>
                <a:ext cx="1279517" cy="584775"/>
              </a:xfrm>
              <a:prstGeom prst="rect">
                <a:avLst/>
              </a:prstGeom>
              <a:solidFill>
                <a:schemeClr val="accent1">
                  <a:lumMod val="10000"/>
                  <a:lumOff val="90000"/>
                </a:schemeClr>
              </a:solidFill>
            </p:spPr>
            <p:txBody>
              <a:bodyPr wrap="none" rtlCol="0">
                <a:spAutoFit/>
              </a:bodyPr>
              <a:lstStyle/>
              <a:p>
                <a:pPr algn="ctr"/>
                <a:r>
                  <a:rPr lang="en-US" sz="1600">
                    <a:latin typeface="Amazon Ember" panose="020B0603020204020204" pitchFamily="34" charset="0"/>
                    <a:ea typeface="Amazon Ember" panose="020B0603020204020204" pitchFamily="34" charset="0"/>
                    <a:cs typeface="Amazon Ember" panose="020B0603020204020204" pitchFamily="34" charset="0"/>
                  </a:rPr>
                  <a:t>System</a:t>
                </a:r>
              </a:p>
              <a:p>
                <a:pPr algn="ctr"/>
                <a:r>
                  <a:rPr lang="en-US" sz="1600">
                    <a:latin typeface="Amazon Ember" panose="020B0603020204020204" pitchFamily="34" charset="0"/>
                    <a:ea typeface="Amazon Ember" panose="020B0603020204020204" pitchFamily="34" charset="0"/>
                    <a:cs typeface="Amazon Ember" panose="020B0603020204020204" pitchFamily="34" charset="0"/>
                  </a:rPr>
                  <a:t>Component</a:t>
                </a:r>
              </a:p>
            </p:txBody>
          </p:sp>
          <p:sp>
            <p:nvSpPr>
              <p:cNvPr id="20" name="TextBox 19">
                <a:extLst>
                  <a:ext uri="{FF2B5EF4-FFF2-40B4-BE49-F238E27FC236}">
                    <a16:creationId xmlns:a16="http://schemas.microsoft.com/office/drawing/2014/main" id="{56AE6124-D674-444B-83F9-447E6F499759}"/>
                  </a:ext>
                </a:extLst>
              </p:cNvPr>
              <p:cNvSpPr txBox="1"/>
              <p:nvPr/>
            </p:nvSpPr>
            <p:spPr>
              <a:xfrm>
                <a:off x="9105360" y="3854373"/>
                <a:ext cx="1279517" cy="584775"/>
              </a:xfrm>
              <a:prstGeom prst="rect">
                <a:avLst/>
              </a:prstGeom>
              <a:solidFill>
                <a:schemeClr val="accent1">
                  <a:lumMod val="10000"/>
                  <a:lumOff val="90000"/>
                </a:schemeClr>
              </a:solidFill>
            </p:spPr>
            <p:txBody>
              <a:bodyPr wrap="none" rtlCol="0">
                <a:spAutoFit/>
              </a:bodyPr>
              <a:lstStyle/>
              <a:p>
                <a:pPr algn="ctr"/>
                <a:r>
                  <a:rPr lang="en-US" sz="1600">
                    <a:latin typeface="Amazon Ember" panose="020B0603020204020204" pitchFamily="34" charset="0"/>
                    <a:ea typeface="Amazon Ember" panose="020B0603020204020204" pitchFamily="34" charset="0"/>
                    <a:cs typeface="Amazon Ember" panose="020B0603020204020204" pitchFamily="34" charset="0"/>
                  </a:rPr>
                  <a:t>System</a:t>
                </a:r>
                <a:br>
                  <a:rPr lang="en-US" sz="1600">
                    <a:latin typeface="Amazon Ember" panose="020B0603020204020204" pitchFamily="34" charset="0"/>
                    <a:ea typeface="Amazon Ember" panose="020B0603020204020204" pitchFamily="34" charset="0"/>
                    <a:cs typeface="Amazon Ember" panose="020B0603020204020204" pitchFamily="34" charset="0"/>
                  </a:rPr>
                </a:br>
                <a:r>
                  <a:rPr lang="en-US" sz="1600">
                    <a:latin typeface="Amazon Ember" panose="020B0603020204020204" pitchFamily="34" charset="0"/>
                    <a:ea typeface="Amazon Ember" panose="020B0603020204020204" pitchFamily="34" charset="0"/>
                    <a:cs typeface="Amazon Ember" panose="020B0603020204020204" pitchFamily="34" charset="0"/>
                  </a:rPr>
                  <a:t>Component</a:t>
                </a:r>
              </a:p>
            </p:txBody>
          </p:sp>
          <p:sp>
            <p:nvSpPr>
              <p:cNvPr id="21" name="TextBox 20">
                <a:extLst>
                  <a:ext uri="{FF2B5EF4-FFF2-40B4-BE49-F238E27FC236}">
                    <a16:creationId xmlns:a16="http://schemas.microsoft.com/office/drawing/2014/main" id="{D78A535A-B10A-4C09-9971-FF7F2956E743}"/>
                  </a:ext>
                </a:extLst>
              </p:cNvPr>
              <p:cNvSpPr txBox="1"/>
              <p:nvPr/>
            </p:nvSpPr>
            <p:spPr>
              <a:xfrm>
                <a:off x="9226928" y="6045412"/>
                <a:ext cx="949299" cy="369332"/>
              </a:xfrm>
              <a:prstGeom prst="rect">
                <a:avLst/>
              </a:prstGeom>
              <a:solidFill>
                <a:schemeClr val="accent1">
                  <a:lumMod val="10000"/>
                  <a:lumOff val="90000"/>
                </a:schemeClr>
              </a:solidFill>
            </p:spPr>
            <p:txBody>
              <a:bodyPr wrap="none" rtlCol="0">
                <a:spAutoFit/>
              </a:bodyPr>
              <a:lstStyle/>
              <a:p>
                <a:r>
                  <a:rPr lang="en-US">
                    <a:latin typeface="Amazon Ember" panose="020B0603020204020204" pitchFamily="34" charset="0"/>
                    <a:ea typeface="Amazon Ember" panose="020B0603020204020204" pitchFamily="34" charset="0"/>
                    <a:cs typeface="Amazon Ember" panose="020B0603020204020204" pitchFamily="34" charset="0"/>
                  </a:rPr>
                  <a:t>System</a:t>
                </a:r>
                <a:endParaRPr lang="en-US" sz="1200">
                  <a:latin typeface="Amazon Ember" panose="020B0603020204020204" pitchFamily="34" charset="0"/>
                  <a:ea typeface="Amazon Ember" panose="020B0603020204020204" pitchFamily="34" charset="0"/>
                  <a:cs typeface="Amazon Ember" panose="020B0603020204020204" pitchFamily="34" charset="0"/>
                </a:endParaRPr>
              </a:p>
            </p:txBody>
          </p:sp>
        </p:grpSp>
        <p:cxnSp>
          <p:nvCxnSpPr>
            <p:cNvPr id="5" name="Elbow Connector 4">
              <a:extLst>
                <a:ext uri="{FF2B5EF4-FFF2-40B4-BE49-F238E27FC236}">
                  <a16:creationId xmlns:a16="http://schemas.microsoft.com/office/drawing/2014/main" id="{BAC0E4FF-A5FB-D879-3ACB-82C797D9AF18}"/>
                </a:ext>
              </a:extLst>
            </p:cNvPr>
            <p:cNvCxnSpPr>
              <a:stCxn id="10" idx="1"/>
              <a:endCxn id="11" idx="0"/>
            </p:cNvCxnSpPr>
            <p:nvPr/>
          </p:nvCxnSpPr>
          <p:spPr>
            <a:xfrm rot="10800000" flipV="1">
              <a:off x="7894407" y="2200537"/>
              <a:ext cx="584876" cy="227759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5" name="Elbow Connector 24">
              <a:extLst>
                <a:ext uri="{FF2B5EF4-FFF2-40B4-BE49-F238E27FC236}">
                  <a16:creationId xmlns:a16="http://schemas.microsoft.com/office/drawing/2014/main" id="{12A8DA7A-47FD-5B0F-A881-3031FEAB0409}"/>
                </a:ext>
              </a:extLst>
            </p:cNvPr>
            <p:cNvCxnSpPr>
              <a:cxnSpLocks/>
              <a:stCxn id="10" idx="3"/>
              <a:endCxn id="12" idx="0"/>
            </p:cNvCxnSpPr>
            <p:nvPr/>
          </p:nvCxnSpPr>
          <p:spPr>
            <a:xfrm>
              <a:off x="9668003" y="2200537"/>
              <a:ext cx="755577" cy="187451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9" name="Elbow Connector 28">
              <a:extLst>
                <a:ext uri="{FF2B5EF4-FFF2-40B4-BE49-F238E27FC236}">
                  <a16:creationId xmlns:a16="http://schemas.microsoft.com/office/drawing/2014/main" id="{B737EDEF-0533-8918-443D-CAD9FA704028}"/>
                </a:ext>
              </a:extLst>
            </p:cNvPr>
            <p:cNvCxnSpPr>
              <a:cxnSpLocks/>
              <a:stCxn id="20" idx="2"/>
            </p:cNvCxnSpPr>
            <p:nvPr/>
          </p:nvCxnSpPr>
          <p:spPr>
            <a:xfrm rot="5400000">
              <a:off x="8601495" y="4280703"/>
              <a:ext cx="313303" cy="630193"/>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2" name="Elbow Connector 31">
              <a:extLst>
                <a:ext uri="{FF2B5EF4-FFF2-40B4-BE49-F238E27FC236}">
                  <a16:creationId xmlns:a16="http://schemas.microsoft.com/office/drawing/2014/main" id="{D57EB3AE-0CD2-967C-A96D-9FF4B32D7358}"/>
                </a:ext>
              </a:extLst>
            </p:cNvPr>
            <p:cNvCxnSpPr>
              <a:cxnSpLocks/>
              <a:stCxn id="17" idx="3"/>
              <a:endCxn id="19" idx="1"/>
            </p:cNvCxnSpPr>
            <p:nvPr/>
          </p:nvCxnSpPr>
          <p:spPr>
            <a:xfrm>
              <a:off x="9530441" y="3555431"/>
              <a:ext cx="253381" cy="138091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6069871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63C9B3F-8CDD-212F-638F-83E201237549}"/>
              </a:ext>
            </a:extLst>
          </p:cNvPr>
          <p:cNvSpPr>
            <a:spLocks noGrp="1"/>
          </p:cNvSpPr>
          <p:nvPr>
            <p:ph type="sldNum" sz="quarter" idx="20"/>
          </p:nvPr>
        </p:nvSpPr>
        <p:spPr/>
        <p:txBody>
          <a:bodyPr/>
          <a:lstStyle/>
          <a:p>
            <a:fld id="{930176A1-BCF0-4712-97A6-6B495F55390B}" type="slidenum">
              <a:rPr lang="en-US" smtClean="0"/>
              <a:pPr/>
              <a:t>34</a:t>
            </a:fld>
            <a:endParaRPr lang="en-US"/>
          </a:p>
        </p:txBody>
      </p:sp>
      <p:sp>
        <p:nvSpPr>
          <p:cNvPr id="7" name="Title 6">
            <a:extLst>
              <a:ext uri="{FF2B5EF4-FFF2-40B4-BE49-F238E27FC236}">
                <a16:creationId xmlns:a16="http://schemas.microsoft.com/office/drawing/2014/main" id="{381EC19D-4C03-415C-9654-BB498D23EF3B}"/>
              </a:ext>
            </a:extLst>
          </p:cNvPr>
          <p:cNvSpPr>
            <a:spLocks noGrp="1"/>
          </p:cNvSpPr>
          <p:nvPr>
            <p:ph type="title"/>
          </p:nvPr>
        </p:nvSpPr>
        <p:spPr/>
        <p:txBody>
          <a:bodyPr/>
          <a:lstStyle/>
          <a:p>
            <a:r>
              <a:rPr lang="en-US"/>
              <a:t>Understanding reliability metrics</a:t>
            </a:r>
          </a:p>
        </p:txBody>
      </p:sp>
      <p:grpSp>
        <p:nvGrpSpPr>
          <p:cNvPr id="2" name="Group 1" descr="Diagram showing the relationship between mean time to failure and mean time to repair when a system component fails, mean time to repair and mean time between failures when a system component is repaired, and mean time between failures to mean time to failure when a system is available.">
            <a:extLst>
              <a:ext uri="{FF2B5EF4-FFF2-40B4-BE49-F238E27FC236}">
                <a16:creationId xmlns:a16="http://schemas.microsoft.com/office/drawing/2014/main" id="{9AFAAA9D-B195-4274-A6EA-878B7C872AA6}"/>
              </a:ext>
              <a:ext uri="{C183D7F6-B498-43B3-948B-1728B52AA6E4}">
                <adec:decorative xmlns:adec="http://schemas.microsoft.com/office/drawing/2017/decorative" val="0"/>
              </a:ext>
            </a:extLst>
          </p:cNvPr>
          <p:cNvGrpSpPr/>
          <p:nvPr/>
        </p:nvGrpSpPr>
        <p:grpSpPr>
          <a:xfrm>
            <a:off x="292529" y="1361918"/>
            <a:ext cx="11695213" cy="4722084"/>
            <a:chOff x="292529" y="1361918"/>
            <a:chExt cx="11695213" cy="4722084"/>
          </a:xfrm>
        </p:grpSpPr>
        <p:sp>
          <p:nvSpPr>
            <p:cNvPr id="18" name="TextBox 17" descr="Diagram showing relationship between Mean Time to Repair and ">
              <a:extLst>
                <a:ext uri="{FF2B5EF4-FFF2-40B4-BE49-F238E27FC236}">
                  <a16:creationId xmlns:a16="http://schemas.microsoft.com/office/drawing/2014/main" id="{A3A25FEF-9B6E-4800-BF81-45A54E2181EE}"/>
                </a:ext>
              </a:extLst>
            </p:cNvPr>
            <p:cNvSpPr txBox="1"/>
            <p:nvPr/>
          </p:nvSpPr>
          <p:spPr>
            <a:xfrm>
              <a:off x="4752403" y="1361918"/>
              <a:ext cx="3764172" cy="954107"/>
            </a:xfrm>
            <a:prstGeom prst="rect">
              <a:avLst/>
            </a:prstGeom>
            <a:noFill/>
          </p:spPr>
          <p:txBody>
            <a:bodyPr wrap="none" rtlCol="0">
              <a:spAutoFit/>
            </a:bodyPr>
            <a:lstStyle/>
            <a:p>
              <a:pPr algn="ctr"/>
              <a:r>
                <a:rPr lang="en-US" sz="2800">
                  <a:latin typeface="Amazon Ember Light" panose="020B0403020204020204" pitchFamily="34" charset="0"/>
                  <a:ea typeface="Amazon Ember Light" panose="020B0403020204020204" pitchFamily="34" charset="0"/>
                  <a:cs typeface="Amazon Ember Light" panose="020B0403020204020204" pitchFamily="34" charset="0"/>
                </a:rPr>
                <a:t>System brought online</a:t>
              </a:r>
              <a:br>
                <a:rPr lang="en-US" sz="2800">
                  <a:latin typeface="Amazon Ember Light" panose="020B0403020204020204" pitchFamily="34" charset="0"/>
                  <a:ea typeface="Amazon Ember Light" panose="020B0403020204020204" pitchFamily="34" charset="0"/>
                  <a:cs typeface="Amazon Ember Light" panose="020B0403020204020204" pitchFamily="34" charset="0"/>
                </a:rPr>
              </a:br>
              <a:r>
                <a:rPr lang="en-US" sz="2800">
                  <a:latin typeface="Amazon Ember Light" panose="020B0403020204020204" pitchFamily="34" charset="0"/>
                  <a:ea typeface="Amazon Ember Light" panose="020B0403020204020204" pitchFamily="34" charset="0"/>
                  <a:cs typeface="Amazon Ember Light" panose="020B0403020204020204" pitchFamily="34" charset="0"/>
                </a:rPr>
                <a:t>(system available)</a:t>
              </a:r>
            </a:p>
          </p:txBody>
        </p:sp>
        <p:sp>
          <p:nvSpPr>
            <p:cNvPr id="19" name="TextBox 18">
              <a:extLst>
                <a:ext uri="{FF2B5EF4-FFF2-40B4-BE49-F238E27FC236}">
                  <a16:creationId xmlns:a16="http://schemas.microsoft.com/office/drawing/2014/main" id="{94000EE3-6F32-4949-AFD5-5988FD871D6B}"/>
                </a:ext>
              </a:extLst>
            </p:cNvPr>
            <p:cNvSpPr txBox="1"/>
            <p:nvPr/>
          </p:nvSpPr>
          <p:spPr>
            <a:xfrm>
              <a:off x="8445519" y="4626106"/>
              <a:ext cx="2194832" cy="1384995"/>
            </a:xfrm>
            <a:prstGeom prst="rect">
              <a:avLst/>
            </a:prstGeom>
            <a:noFill/>
          </p:spPr>
          <p:txBody>
            <a:bodyPr wrap="none" rtlCol="0">
              <a:spAutoFit/>
            </a:bodyPr>
            <a:lstStyle/>
            <a:p>
              <a:pPr algn="ctr"/>
              <a:r>
                <a:rPr lang="en-US" sz="2800">
                  <a:latin typeface="Amazon Ember Light" panose="020B0403020204020204" pitchFamily="34" charset="0"/>
                  <a:ea typeface="Amazon Ember Light" panose="020B0403020204020204" pitchFamily="34" charset="0"/>
                  <a:cs typeface="Amazon Ember Light" panose="020B0403020204020204" pitchFamily="34" charset="0"/>
                </a:rPr>
                <a:t>System </a:t>
              </a:r>
              <a:br>
                <a:rPr lang="en-US" sz="2800">
                  <a:latin typeface="Amazon Ember Light" panose="020B0403020204020204" pitchFamily="34" charset="0"/>
                  <a:ea typeface="Amazon Ember Light" panose="020B0403020204020204" pitchFamily="34" charset="0"/>
                  <a:cs typeface="Amazon Ember Light" panose="020B0403020204020204" pitchFamily="34" charset="0"/>
                </a:rPr>
              </a:br>
              <a:r>
                <a:rPr lang="en-US" sz="2800">
                  <a:latin typeface="Amazon Ember Light" panose="020B0403020204020204" pitchFamily="34" charset="0"/>
                  <a:ea typeface="Amazon Ember Light" panose="020B0403020204020204" pitchFamily="34" charset="0"/>
                  <a:cs typeface="Amazon Ember Light" panose="020B0403020204020204" pitchFamily="34" charset="0"/>
                </a:rPr>
                <a:t>(component)</a:t>
              </a:r>
              <a:br>
                <a:rPr lang="en-US" sz="2800">
                  <a:latin typeface="Amazon Ember Light" panose="020B0403020204020204" pitchFamily="34" charset="0"/>
                  <a:ea typeface="Amazon Ember Light" panose="020B0403020204020204" pitchFamily="34" charset="0"/>
                  <a:cs typeface="Amazon Ember Light" panose="020B0403020204020204" pitchFamily="34" charset="0"/>
                </a:rPr>
              </a:br>
              <a:r>
                <a:rPr lang="en-US" sz="2800">
                  <a:latin typeface="Amazon Ember Light" panose="020B0403020204020204" pitchFamily="34" charset="0"/>
                  <a:ea typeface="Amazon Ember Light" panose="020B0403020204020204" pitchFamily="34" charset="0"/>
                  <a:cs typeface="Amazon Ember Light" panose="020B0403020204020204" pitchFamily="34" charset="0"/>
                </a:rPr>
                <a:t>fails</a:t>
              </a:r>
            </a:p>
          </p:txBody>
        </p:sp>
        <p:sp>
          <p:nvSpPr>
            <p:cNvPr id="20" name="TextBox 19">
              <a:extLst>
                <a:ext uri="{FF2B5EF4-FFF2-40B4-BE49-F238E27FC236}">
                  <a16:creationId xmlns:a16="http://schemas.microsoft.com/office/drawing/2014/main" id="{4943BF5C-F089-4549-A91B-72BC1B2CB1A0}"/>
                </a:ext>
              </a:extLst>
            </p:cNvPr>
            <p:cNvSpPr txBox="1"/>
            <p:nvPr/>
          </p:nvSpPr>
          <p:spPr>
            <a:xfrm>
              <a:off x="2515776" y="4626106"/>
              <a:ext cx="2194833" cy="1384995"/>
            </a:xfrm>
            <a:prstGeom prst="rect">
              <a:avLst/>
            </a:prstGeom>
            <a:noFill/>
          </p:spPr>
          <p:txBody>
            <a:bodyPr wrap="none" rtlCol="0">
              <a:spAutoFit/>
            </a:bodyPr>
            <a:lstStyle/>
            <a:p>
              <a:pPr algn="ctr"/>
              <a:r>
                <a:rPr lang="en-US" sz="2800">
                  <a:latin typeface="Amazon Ember Light" panose="020B0403020204020204" pitchFamily="34" charset="0"/>
                  <a:ea typeface="Amazon Ember Light" panose="020B0403020204020204" pitchFamily="34" charset="0"/>
                  <a:cs typeface="Amazon Ember Light" panose="020B0403020204020204" pitchFamily="34" charset="0"/>
                </a:rPr>
                <a:t>System</a:t>
              </a:r>
              <a:br>
                <a:rPr lang="en-US" sz="2800">
                  <a:latin typeface="Amazon Ember Light" panose="020B0403020204020204" pitchFamily="34" charset="0"/>
                  <a:ea typeface="Amazon Ember Light" panose="020B0403020204020204" pitchFamily="34" charset="0"/>
                  <a:cs typeface="Amazon Ember Light" panose="020B0403020204020204" pitchFamily="34" charset="0"/>
                </a:rPr>
              </a:br>
              <a:r>
                <a:rPr lang="en-US" sz="2800">
                  <a:latin typeface="Amazon Ember Light" panose="020B0403020204020204" pitchFamily="34" charset="0"/>
                  <a:ea typeface="Amazon Ember Light" panose="020B0403020204020204" pitchFamily="34" charset="0"/>
                  <a:cs typeface="Amazon Ember Light" panose="020B0403020204020204" pitchFamily="34" charset="0"/>
                </a:rPr>
                <a:t>(component)</a:t>
              </a:r>
              <a:br>
                <a:rPr lang="en-US" sz="2800">
                  <a:latin typeface="Amazon Ember Light" panose="020B0403020204020204" pitchFamily="34" charset="0"/>
                  <a:ea typeface="Amazon Ember Light" panose="020B0403020204020204" pitchFamily="34" charset="0"/>
                  <a:cs typeface="Amazon Ember Light" panose="020B0403020204020204" pitchFamily="34" charset="0"/>
                </a:rPr>
              </a:br>
              <a:r>
                <a:rPr lang="en-US" sz="2800">
                  <a:latin typeface="Amazon Ember Light" panose="020B0403020204020204" pitchFamily="34" charset="0"/>
                  <a:ea typeface="Amazon Ember Light" panose="020B0403020204020204" pitchFamily="34" charset="0"/>
                  <a:cs typeface="Amazon Ember Light" panose="020B0403020204020204" pitchFamily="34" charset="0"/>
                </a:rPr>
                <a:t>repaired</a:t>
              </a:r>
            </a:p>
          </p:txBody>
        </p:sp>
        <p:sp>
          <p:nvSpPr>
            <p:cNvPr id="21" name="Arrow: Right 20">
              <a:extLst>
                <a:ext uri="{FF2B5EF4-FFF2-40B4-BE49-F238E27FC236}">
                  <a16:creationId xmlns:a16="http://schemas.microsoft.com/office/drawing/2014/main" id="{FDCE6CB0-EDE3-407B-9259-536AF33C49C2}"/>
                </a:ext>
                <a:ext uri="{C183D7F6-B498-43B3-948B-1728B52AA6E4}">
                  <adec:decorative xmlns:adec="http://schemas.microsoft.com/office/drawing/2017/decorative" val="1"/>
                </a:ext>
              </a:extLst>
            </p:cNvPr>
            <p:cNvSpPr/>
            <p:nvPr/>
          </p:nvSpPr>
          <p:spPr>
            <a:xfrm rot="16200000">
              <a:off x="3947352" y="3104300"/>
              <a:ext cx="1828800" cy="914400"/>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500E7653-2341-4549-86ED-0709437F3699}"/>
                </a:ext>
                <a:ext uri="{C183D7F6-B498-43B3-948B-1728B52AA6E4}">
                  <adec:decorative xmlns:adec="http://schemas.microsoft.com/office/drawing/2017/decorative" val="1"/>
                </a:ext>
              </a:extLst>
            </p:cNvPr>
            <p:cNvSpPr/>
            <p:nvPr/>
          </p:nvSpPr>
          <p:spPr>
            <a:xfrm rot="16200000">
              <a:off x="7602175" y="3104300"/>
              <a:ext cx="1828800" cy="914400"/>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Right 22">
              <a:extLst>
                <a:ext uri="{FF2B5EF4-FFF2-40B4-BE49-F238E27FC236}">
                  <a16:creationId xmlns:a16="http://schemas.microsoft.com/office/drawing/2014/main" id="{8B9CDF0D-9A64-4604-A0ED-7ACCF215626B}"/>
                </a:ext>
                <a:ext uri="{C183D7F6-B498-43B3-948B-1728B52AA6E4}">
                  <adec:decorative xmlns:adec="http://schemas.microsoft.com/office/drawing/2017/decorative" val="1"/>
                </a:ext>
              </a:extLst>
            </p:cNvPr>
            <p:cNvSpPr/>
            <p:nvPr/>
          </p:nvSpPr>
          <p:spPr>
            <a:xfrm flipH="1">
              <a:off x="5663664" y="4338605"/>
              <a:ext cx="1828800" cy="914400"/>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3DBC339-C548-4639-A461-318FEBA4EA02}"/>
                </a:ext>
              </a:extLst>
            </p:cNvPr>
            <p:cNvSpPr txBox="1"/>
            <p:nvPr/>
          </p:nvSpPr>
          <p:spPr>
            <a:xfrm>
              <a:off x="8973775" y="2730502"/>
              <a:ext cx="3013967" cy="830997"/>
            </a:xfrm>
            <a:prstGeom prst="rect">
              <a:avLst/>
            </a:prstGeom>
            <a:noFill/>
          </p:spPr>
          <p:txBody>
            <a:bodyPr wrap="none" rtlCol="0">
              <a:spAutoFit/>
            </a:bodyPr>
            <a:lstStyle/>
            <a:p>
              <a:pPr algn="ctr"/>
              <a:r>
                <a:rPr lang="en-US" sz="240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t>Mean Time to Failure</a:t>
              </a:r>
              <a:br>
                <a:rPr lang="en-US" sz="240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br>
              <a:r>
                <a:rPr lang="en-US" sz="240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t>(MTTF)</a:t>
              </a:r>
            </a:p>
          </p:txBody>
        </p:sp>
        <p:sp>
          <p:nvSpPr>
            <p:cNvPr id="25" name="TextBox 24">
              <a:extLst>
                <a:ext uri="{FF2B5EF4-FFF2-40B4-BE49-F238E27FC236}">
                  <a16:creationId xmlns:a16="http://schemas.microsoft.com/office/drawing/2014/main" id="{F7194353-4477-4475-BFF6-C147CA45E0D9}"/>
                </a:ext>
              </a:extLst>
            </p:cNvPr>
            <p:cNvSpPr txBox="1"/>
            <p:nvPr/>
          </p:nvSpPr>
          <p:spPr>
            <a:xfrm>
              <a:off x="5319456" y="5253005"/>
              <a:ext cx="2967479" cy="830997"/>
            </a:xfrm>
            <a:prstGeom prst="rect">
              <a:avLst/>
            </a:prstGeom>
            <a:noFill/>
          </p:spPr>
          <p:txBody>
            <a:bodyPr wrap="none" rtlCol="0">
              <a:spAutoFit/>
            </a:bodyPr>
            <a:lstStyle/>
            <a:p>
              <a:pPr algn="ctr"/>
              <a:r>
                <a:rPr lang="en-US" sz="240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t>Mean Time to Repair</a:t>
              </a:r>
              <a:br>
                <a:rPr lang="en-US" sz="240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br>
              <a:r>
                <a:rPr lang="en-US" sz="240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t>(MTTR)</a:t>
              </a:r>
            </a:p>
          </p:txBody>
        </p:sp>
        <p:sp>
          <p:nvSpPr>
            <p:cNvPr id="26" name="TextBox 25">
              <a:extLst>
                <a:ext uri="{FF2B5EF4-FFF2-40B4-BE49-F238E27FC236}">
                  <a16:creationId xmlns:a16="http://schemas.microsoft.com/office/drawing/2014/main" id="{63463563-117A-4B68-8E4F-515EA5D1F85F}"/>
                </a:ext>
              </a:extLst>
            </p:cNvPr>
            <p:cNvSpPr txBox="1"/>
            <p:nvPr/>
          </p:nvSpPr>
          <p:spPr>
            <a:xfrm>
              <a:off x="292529" y="2649833"/>
              <a:ext cx="4112023" cy="830997"/>
            </a:xfrm>
            <a:prstGeom prst="rect">
              <a:avLst/>
            </a:prstGeom>
            <a:noFill/>
          </p:spPr>
          <p:txBody>
            <a:bodyPr wrap="none" rtlCol="0">
              <a:spAutoFit/>
            </a:bodyPr>
            <a:lstStyle/>
            <a:p>
              <a:pPr algn="ctr"/>
              <a:r>
                <a:rPr lang="en-US" sz="240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t>Mean Time Between Failures </a:t>
              </a:r>
              <a:br>
                <a:rPr lang="en-US" sz="240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br>
              <a:r>
                <a:rPr lang="en-US" sz="240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t>(MTBF = MTTF + MTTR)</a:t>
              </a:r>
            </a:p>
          </p:txBody>
        </p:sp>
      </p:grpSp>
    </p:spTree>
    <p:custDataLst>
      <p:tags r:id="rId1"/>
    </p:custDataLst>
    <p:extLst>
      <p:ext uri="{BB962C8B-B14F-4D97-AF65-F5344CB8AC3E}">
        <p14:creationId xmlns:p14="http://schemas.microsoft.com/office/powerpoint/2010/main" val="29647430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50FA91B-7082-4CA1-9E13-978DF4445471}"/>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35</a:t>
            </a:fld>
            <a:endParaRPr lang="en-US" dirty="0"/>
          </a:p>
        </p:txBody>
      </p:sp>
      <p:sp>
        <p:nvSpPr>
          <p:cNvPr id="7" name="Title 6">
            <a:extLst>
              <a:ext uri="{FF2B5EF4-FFF2-40B4-BE49-F238E27FC236}">
                <a16:creationId xmlns:a16="http://schemas.microsoft.com/office/drawing/2014/main" id="{FB2EF14E-D49C-4D65-BC9B-2448C0B31F7F}"/>
              </a:ext>
            </a:extLst>
          </p:cNvPr>
          <p:cNvSpPr>
            <a:spLocks noGrp="1"/>
          </p:cNvSpPr>
          <p:nvPr>
            <p:ph type="title"/>
          </p:nvPr>
        </p:nvSpPr>
        <p:spPr/>
        <p:txBody>
          <a:bodyPr/>
          <a:lstStyle/>
          <a:p>
            <a:r>
              <a:rPr lang="en-US"/>
              <a:t>Availability</a:t>
            </a:r>
          </a:p>
        </p:txBody>
      </p:sp>
      <p:sp>
        <p:nvSpPr>
          <p:cNvPr id="8" name="Content Placeholder 7">
            <a:extLst>
              <a:ext uri="{FF2B5EF4-FFF2-40B4-BE49-F238E27FC236}">
                <a16:creationId xmlns:a16="http://schemas.microsoft.com/office/drawing/2014/main" id="{F192463B-0834-4611-93F2-7F2C132CC16A}"/>
              </a:ext>
            </a:extLst>
          </p:cNvPr>
          <p:cNvSpPr>
            <a:spLocks noGrp="1"/>
          </p:cNvSpPr>
          <p:nvPr>
            <p:ph sz="quarter" idx="21"/>
          </p:nvPr>
        </p:nvSpPr>
        <p:spPr/>
        <p:txBody>
          <a:bodyPr/>
          <a:lstStyle/>
          <a:p>
            <a:r>
              <a:rPr lang="en-US"/>
              <a:t>Normal operation time / total time</a:t>
            </a:r>
          </a:p>
          <a:p>
            <a:r>
              <a:rPr lang="en-US"/>
              <a:t>A percentage of uptime (for example, 99.9 percent) over time (for example, 1 year)</a:t>
            </a:r>
          </a:p>
          <a:p>
            <a:r>
              <a:rPr lang="en-US"/>
              <a:t>Number of 9s – Five 9s means 99.999 percent availability</a:t>
            </a:r>
          </a:p>
        </p:txBody>
      </p:sp>
    </p:spTree>
    <p:custDataLst>
      <p:tags r:id="rId1"/>
    </p:custDataLst>
    <p:extLst>
      <p:ext uri="{BB962C8B-B14F-4D97-AF65-F5344CB8AC3E}">
        <p14:creationId xmlns:p14="http://schemas.microsoft.com/office/powerpoint/2010/main" val="1256883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7729D17-E94A-67E9-99DA-C81D7C9EB68C}"/>
              </a:ext>
            </a:extLst>
          </p:cNvPr>
          <p:cNvSpPr>
            <a:spLocks noGrp="1"/>
          </p:cNvSpPr>
          <p:nvPr>
            <p:ph type="sldNum" sz="quarter" idx="20"/>
          </p:nvPr>
        </p:nvSpPr>
        <p:spPr/>
        <p:txBody>
          <a:bodyPr/>
          <a:lstStyle/>
          <a:p>
            <a:fld id="{930176A1-BCF0-4712-97A6-6B495F55390B}" type="slidenum">
              <a:rPr lang="en-US" smtClean="0"/>
              <a:pPr/>
              <a:t>36</a:t>
            </a:fld>
            <a:endParaRPr lang="en-US" dirty="0"/>
          </a:p>
        </p:txBody>
      </p:sp>
      <p:sp>
        <p:nvSpPr>
          <p:cNvPr id="2" name="Title 1">
            <a:extLst>
              <a:ext uri="{FF2B5EF4-FFF2-40B4-BE49-F238E27FC236}">
                <a16:creationId xmlns:a16="http://schemas.microsoft.com/office/drawing/2014/main" id="{73175342-CDC3-463B-A537-2628443BA8E5}"/>
              </a:ext>
            </a:extLst>
          </p:cNvPr>
          <p:cNvSpPr>
            <a:spLocks noGrp="1"/>
          </p:cNvSpPr>
          <p:nvPr>
            <p:ph type="title"/>
          </p:nvPr>
        </p:nvSpPr>
        <p:spPr/>
        <p:txBody>
          <a:bodyPr/>
          <a:lstStyle/>
          <a:p>
            <a:r>
              <a:rPr lang="en-US"/>
              <a:t>High availability</a:t>
            </a:r>
          </a:p>
        </p:txBody>
      </p:sp>
      <p:sp>
        <p:nvSpPr>
          <p:cNvPr id="6" name="Content Placeholder 2">
            <a:extLst>
              <a:ext uri="{FF2B5EF4-FFF2-40B4-BE49-F238E27FC236}">
                <a16:creationId xmlns:a16="http://schemas.microsoft.com/office/drawing/2014/main" id="{A4CF56CE-B4C7-409C-9D54-E73ED2C27746}"/>
              </a:ext>
            </a:extLst>
          </p:cNvPr>
          <p:cNvSpPr txBox="1">
            <a:spLocks/>
          </p:cNvSpPr>
          <p:nvPr/>
        </p:nvSpPr>
        <p:spPr>
          <a:xfrm>
            <a:off x="419100" y="1528175"/>
            <a:ext cx="8542020" cy="46487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22275" indent="-422275"/>
            <a:r>
              <a:rPr lang="en-US"/>
              <a:t>System can withstand some measure of degradation while still remaining available.</a:t>
            </a:r>
          </a:p>
          <a:p>
            <a:pPr marL="422275" indent="-422275"/>
            <a:r>
              <a:rPr lang="en-US"/>
              <a:t>Downtime is minimized.</a:t>
            </a:r>
          </a:p>
          <a:p>
            <a:pPr marL="422275" indent="-422275"/>
            <a:r>
              <a:rPr lang="en-US"/>
              <a:t>Minimal human intervention is required.</a:t>
            </a:r>
          </a:p>
        </p:txBody>
      </p:sp>
      <p:pic>
        <p:nvPicPr>
          <p:cNvPr id="7" name="Picture 6">
            <a:extLst>
              <a:ext uri="{FF2B5EF4-FFF2-40B4-BE49-F238E27FC236}">
                <a16:creationId xmlns:a16="http://schemas.microsoft.com/office/drawing/2014/main" id="{1E67DF1A-908F-4EA7-A847-90B7D376565F}"/>
              </a:ext>
              <a:ext uri="{C183D7F6-B498-43B3-948B-1728B52AA6E4}">
                <adec:decorative xmlns:adec="http://schemas.microsoft.com/office/drawing/2017/decorative" val="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571" t="16912" r="1718" b="16362"/>
          <a:stretch/>
        </p:blipFill>
        <p:spPr>
          <a:xfrm>
            <a:off x="8790972" y="1528175"/>
            <a:ext cx="2981928" cy="2057400"/>
          </a:xfrm>
          <a:prstGeom prst="rect">
            <a:avLst/>
          </a:prstGeom>
        </p:spPr>
      </p:pic>
    </p:spTree>
    <p:custDataLst>
      <p:tags r:id="rId1"/>
    </p:custDataLst>
    <p:extLst>
      <p:ext uri="{BB962C8B-B14F-4D97-AF65-F5344CB8AC3E}">
        <p14:creationId xmlns:p14="http://schemas.microsoft.com/office/powerpoint/2010/main" val="40284777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5D50E2-99B4-91C5-5A3C-536BAA664C0A}"/>
              </a:ext>
            </a:extLst>
          </p:cNvPr>
          <p:cNvSpPr>
            <a:spLocks noGrp="1"/>
          </p:cNvSpPr>
          <p:nvPr>
            <p:ph type="sldNum" sz="quarter" idx="20"/>
          </p:nvPr>
        </p:nvSpPr>
        <p:spPr/>
        <p:txBody>
          <a:bodyPr/>
          <a:lstStyle/>
          <a:p>
            <a:fld id="{930176A1-BCF0-4712-97A6-6B495F55390B}" type="slidenum">
              <a:rPr lang="en-US" smtClean="0"/>
              <a:pPr/>
              <a:t>37</a:t>
            </a:fld>
            <a:endParaRPr lang="en-US" dirty="0"/>
          </a:p>
        </p:txBody>
      </p:sp>
      <p:sp>
        <p:nvSpPr>
          <p:cNvPr id="9" name="Title 8">
            <a:extLst>
              <a:ext uri="{FF2B5EF4-FFF2-40B4-BE49-F238E27FC236}">
                <a16:creationId xmlns:a16="http://schemas.microsoft.com/office/drawing/2014/main" id="{9FE0AFE8-C98D-401F-BC26-C2FB836A2F06}"/>
              </a:ext>
            </a:extLst>
          </p:cNvPr>
          <p:cNvSpPr>
            <a:spLocks noGrp="1"/>
          </p:cNvSpPr>
          <p:nvPr>
            <p:ph type="title"/>
          </p:nvPr>
        </p:nvSpPr>
        <p:spPr/>
        <p:txBody>
          <a:bodyPr/>
          <a:lstStyle/>
          <a:p>
            <a:r>
              <a:rPr lang="en-US"/>
              <a:t>Availability tiers</a:t>
            </a:r>
          </a:p>
        </p:txBody>
      </p:sp>
      <p:pic>
        <p:nvPicPr>
          <p:cNvPr id="12" name="Picture 11" descr="Availability tiers with max disruption per year and application categories. See description in slide notes.">
            <a:extLst>
              <a:ext uri="{FF2B5EF4-FFF2-40B4-BE49-F238E27FC236}">
                <a16:creationId xmlns:a16="http://schemas.microsoft.com/office/drawing/2014/main" id="{C75024E2-9478-4883-B5CA-9DFCACFDBBC8}"/>
              </a:ext>
            </a:extLst>
          </p:cNvPr>
          <p:cNvPicPr>
            <a:picLocks noChangeAspect="1"/>
          </p:cNvPicPr>
          <p:nvPr/>
        </p:nvPicPr>
        <p:blipFill>
          <a:blip r:embed="rId4"/>
          <a:stretch>
            <a:fillRect/>
          </a:stretch>
        </p:blipFill>
        <p:spPr>
          <a:xfrm>
            <a:off x="2398456" y="1822525"/>
            <a:ext cx="7395089" cy="4127350"/>
          </a:xfrm>
          <a:prstGeom prst="rect">
            <a:avLst/>
          </a:prstGeom>
        </p:spPr>
      </p:pic>
    </p:spTree>
    <p:custDataLst>
      <p:tags r:id="rId1"/>
    </p:custDataLst>
    <p:extLst>
      <p:ext uri="{BB962C8B-B14F-4D97-AF65-F5344CB8AC3E}">
        <p14:creationId xmlns:p14="http://schemas.microsoft.com/office/powerpoint/2010/main" val="5535077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A772BFC-E405-4A6C-A117-B96D750AF355}"/>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38</a:t>
            </a:fld>
            <a:endParaRPr lang="en-US"/>
          </a:p>
        </p:txBody>
      </p:sp>
      <p:sp>
        <p:nvSpPr>
          <p:cNvPr id="2" name="Title 1">
            <a:extLst>
              <a:ext uri="{FF2B5EF4-FFF2-40B4-BE49-F238E27FC236}">
                <a16:creationId xmlns:a16="http://schemas.microsoft.com/office/drawing/2014/main" id="{7B92BAA7-80AB-42A7-864B-90C965CCCD1A}"/>
              </a:ext>
            </a:extLst>
          </p:cNvPr>
          <p:cNvSpPr>
            <a:spLocks noGrp="1"/>
          </p:cNvSpPr>
          <p:nvPr>
            <p:ph type="title"/>
          </p:nvPr>
        </p:nvSpPr>
        <p:spPr/>
        <p:txBody>
          <a:bodyPr/>
          <a:lstStyle/>
          <a:p>
            <a:r>
              <a:rPr lang="en-US"/>
              <a:t>Factors that influence availability</a:t>
            </a:r>
          </a:p>
        </p:txBody>
      </p:sp>
      <p:sp>
        <p:nvSpPr>
          <p:cNvPr id="3" name="Content Placeholder 2">
            <a:extLst>
              <a:ext uri="{FF2B5EF4-FFF2-40B4-BE49-F238E27FC236}">
                <a16:creationId xmlns:a16="http://schemas.microsoft.com/office/drawing/2014/main" id="{EA75C27D-6E38-4D06-B098-64AFCFBD3EC0}"/>
              </a:ext>
            </a:extLst>
          </p:cNvPr>
          <p:cNvSpPr>
            <a:spLocks noGrp="1"/>
          </p:cNvSpPr>
          <p:nvPr>
            <p:ph sz="quarter" idx="21"/>
          </p:nvPr>
        </p:nvSpPr>
        <p:spPr>
          <a:xfrm>
            <a:off x="365760" y="1143000"/>
            <a:ext cx="5504688" cy="5120640"/>
          </a:xfrm>
        </p:spPr>
        <p:txBody>
          <a:bodyPr>
            <a:normAutofit/>
          </a:bodyPr>
          <a:lstStyle/>
          <a:p>
            <a:pPr marL="0" indent="0">
              <a:buNone/>
            </a:pPr>
            <a:r>
              <a:rPr lang="en-US" b="1"/>
              <a:t>Fault tolerance</a:t>
            </a:r>
            <a:endParaRPr lang="en-US"/>
          </a:p>
          <a:p>
            <a:r>
              <a:rPr lang="en-US"/>
              <a:t>The </a:t>
            </a:r>
            <a:r>
              <a:rPr lang="en-US">
                <a:solidFill>
                  <a:srgbClr val="504BAB"/>
                </a:solidFill>
              </a:rPr>
              <a:t>built-in redundancy </a:t>
            </a:r>
            <a:r>
              <a:rPr lang="en-US"/>
              <a:t>of an application's components and its </a:t>
            </a:r>
            <a:r>
              <a:rPr lang="en-US">
                <a:solidFill>
                  <a:srgbClr val="504BAB"/>
                </a:solidFill>
              </a:rPr>
              <a:t>ability to remain operational</a:t>
            </a:r>
            <a:r>
              <a:rPr lang="en-US"/>
              <a:t>.</a:t>
            </a:r>
          </a:p>
          <a:p>
            <a:pPr marL="0" indent="0">
              <a:buNone/>
            </a:pPr>
            <a:endParaRPr lang="en-US"/>
          </a:p>
          <a:p>
            <a:pPr marL="0" indent="0">
              <a:buNone/>
            </a:pPr>
            <a:r>
              <a:rPr lang="en-US" b="1"/>
              <a:t>Scalability</a:t>
            </a:r>
          </a:p>
          <a:p>
            <a:r>
              <a:rPr lang="en-US"/>
              <a:t>The ability of an application to </a:t>
            </a:r>
            <a:r>
              <a:rPr lang="en-US">
                <a:solidFill>
                  <a:srgbClr val="504BAB"/>
                </a:solidFill>
              </a:rPr>
              <a:t>accommodate increases in capacity needs </a:t>
            </a:r>
            <a:r>
              <a:rPr lang="en-US"/>
              <a:t>without changing design.</a:t>
            </a:r>
          </a:p>
        </p:txBody>
      </p:sp>
      <p:sp>
        <p:nvSpPr>
          <p:cNvPr id="5" name="Content Placeholder 4">
            <a:extLst>
              <a:ext uri="{FF2B5EF4-FFF2-40B4-BE49-F238E27FC236}">
                <a16:creationId xmlns:a16="http://schemas.microsoft.com/office/drawing/2014/main" id="{48DECCB4-33B9-4854-A79B-32D5DE12BB39}"/>
              </a:ext>
            </a:extLst>
          </p:cNvPr>
          <p:cNvSpPr>
            <a:spLocks noGrp="1"/>
          </p:cNvSpPr>
          <p:nvPr>
            <p:ph idx="4294967295"/>
          </p:nvPr>
        </p:nvSpPr>
        <p:spPr>
          <a:xfrm>
            <a:off x="6245352" y="1143000"/>
            <a:ext cx="5503862" cy="4645152"/>
          </a:xfrm>
        </p:spPr>
        <p:txBody>
          <a:bodyPr/>
          <a:lstStyle/>
          <a:p>
            <a:pPr marL="0" indent="0">
              <a:buNone/>
            </a:pPr>
            <a:r>
              <a:rPr lang="en-US" b="1"/>
              <a:t>Recoverability</a:t>
            </a:r>
            <a:endParaRPr lang="en-US"/>
          </a:p>
          <a:p>
            <a:r>
              <a:rPr lang="en-US"/>
              <a:t>The process, policies, and procedures that are related to </a:t>
            </a:r>
            <a:r>
              <a:rPr lang="en-US">
                <a:solidFill>
                  <a:srgbClr val="504BAB"/>
                </a:solidFill>
              </a:rPr>
              <a:t>restoring service </a:t>
            </a:r>
            <a:r>
              <a:rPr lang="en-US"/>
              <a:t>after a catastrophic event.</a:t>
            </a:r>
          </a:p>
          <a:p>
            <a:endParaRPr lang="en-US"/>
          </a:p>
        </p:txBody>
      </p:sp>
    </p:spTree>
    <p:custDataLst>
      <p:tags r:id="rId1"/>
    </p:custDataLst>
    <p:extLst>
      <p:ext uri="{BB962C8B-B14F-4D97-AF65-F5344CB8AC3E}">
        <p14:creationId xmlns:p14="http://schemas.microsoft.com/office/powerpoint/2010/main" val="37881476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39</a:t>
            </a:fld>
            <a:endParaRPr lang="en-US" dirty="0"/>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lstStyle/>
          <a:p>
            <a:r>
              <a:rPr lang="en-US">
                <a:latin typeface="+mj-lt"/>
              </a:rPr>
              <a:t>Section 2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pPr>
              <a:buClr>
                <a:schemeClr val="tx1"/>
              </a:buClr>
            </a:pPr>
            <a:r>
              <a:rPr lang="en-US" sz="2400">
                <a:solidFill>
                  <a:srgbClr val="504BAB"/>
                </a:solidFill>
                <a:latin typeface="+mn-lt"/>
              </a:rPr>
              <a:t>Reliability</a:t>
            </a:r>
            <a:r>
              <a:rPr lang="en-US" sz="2400">
                <a:latin typeface="+mn-lt"/>
              </a:rPr>
              <a:t> is a measure of your system’s ability to provide functionality when desired by the user, and it can be measured in terms of MTBF. </a:t>
            </a:r>
          </a:p>
          <a:p>
            <a:pPr>
              <a:buClr>
                <a:schemeClr val="tx1"/>
              </a:buClr>
            </a:pPr>
            <a:r>
              <a:rPr lang="en-US" sz="2400">
                <a:solidFill>
                  <a:srgbClr val="504BAB"/>
                </a:solidFill>
                <a:latin typeface="+mn-lt"/>
              </a:rPr>
              <a:t>Availability</a:t>
            </a:r>
            <a:r>
              <a:rPr lang="en-US" sz="2400">
                <a:latin typeface="+mn-lt"/>
              </a:rPr>
              <a:t> is the percentage of time that a system is operating normally or correctly performing the operations expected of it (or normal operation time over total time).</a:t>
            </a:r>
          </a:p>
          <a:p>
            <a:pPr>
              <a:buClr>
                <a:schemeClr val="tx1"/>
              </a:buClr>
            </a:pPr>
            <a:r>
              <a:rPr lang="en-US" sz="2400">
                <a:latin typeface="+mn-lt"/>
              </a:rPr>
              <a:t>Three factors that influence the availability of your applications are </a:t>
            </a:r>
            <a:r>
              <a:rPr lang="en-US" sz="2400">
                <a:solidFill>
                  <a:srgbClr val="504BAB"/>
                </a:solidFill>
                <a:latin typeface="+mn-lt"/>
              </a:rPr>
              <a:t>fault tolerance</a:t>
            </a:r>
            <a:r>
              <a:rPr lang="en-US" sz="2400">
                <a:latin typeface="+mn-lt"/>
              </a:rPr>
              <a:t>, </a:t>
            </a:r>
            <a:r>
              <a:rPr lang="en-US" sz="2400">
                <a:solidFill>
                  <a:srgbClr val="504BAB"/>
                </a:solidFill>
                <a:latin typeface="+mn-lt"/>
              </a:rPr>
              <a:t>scalability</a:t>
            </a:r>
            <a:r>
              <a:rPr lang="en-US" sz="2400">
                <a:latin typeface="+mn-lt"/>
              </a:rPr>
              <a:t>, and </a:t>
            </a:r>
            <a:r>
              <a:rPr lang="en-US" sz="2400">
                <a:solidFill>
                  <a:srgbClr val="504BAB"/>
                </a:solidFill>
                <a:latin typeface="+mn-lt"/>
              </a:rPr>
              <a:t>recoverability</a:t>
            </a:r>
            <a:r>
              <a:rPr lang="en-US" sz="2400">
                <a:latin typeface="+mn-lt"/>
              </a:rPr>
              <a:t>.</a:t>
            </a:r>
          </a:p>
          <a:p>
            <a:pPr>
              <a:buClr>
                <a:schemeClr val="tx1"/>
              </a:buClr>
            </a:pPr>
            <a:r>
              <a:rPr lang="en-US" sz="2400">
                <a:latin typeface="+mn-lt"/>
              </a:rPr>
              <a:t>You can design your workloads and applications to be </a:t>
            </a:r>
            <a:r>
              <a:rPr lang="en-US" sz="2400">
                <a:solidFill>
                  <a:srgbClr val="504BAB"/>
                </a:solidFill>
                <a:latin typeface="+mn-lt"/>
              </a:rPr>
              <a:t>highly available</a:t>
            </a:r>
            <a:r>
              <a:rPr lang="en-US" sz="2400">
                <a:latin typeface="+mn-lt"/>
              </a:rPr>
              <a:t>, but there is a cost tradeoff to consider.</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5052457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6903FCE-9601-4B52-84BE-B5F73E9074A2}"/>
              </a:ext>
            </a:extLst>
          </p:cNvPr>
          <p:cNvSpPr>
            <a:spLocks noGrp="1"/>
          </p:cNvSpPr>
          <p:nvPr>
            <p:ph type="subTitle" idx="1"/>
          </p:nvPr>
        </p:nvSpPr>
        <p:spPr/>
        <p:txBody>
          <a:bodyPr/>
          <a:lstStyle/>
          <a:p>
            <a:r>
              <a:rPr lang="en-US"/>
              <a:t>Module 9: Cloud Architecture</a:t>
            </a:r>
          </a:p>
        </p:txBody>
      </p:sp>
      <p:sp>
        <p:nvSpPr>
          <p:cNvPr id="6" name="Title 5">
            <a:extLst>
              <a:ext uri="{FF2B5EF4-FFF2-40B4-BE49-F238E27FC236}">
                <a16:creationId xmlns:a16="http://schemas.microsoft.com/office/drawing/2014/main" id="{E5E81956-67D1-4542-96AA-C79C790A783B}"/>
              </a:ext>
            </a:extLst>
          </p:cNvPr>
          <p:cNvSpPr>
            <a:spLocks noGrp="1"/>
          </p:cNvSpPr>
          <p:nvPr>
            <p:ph type="title"/>
          </p:nvPr>
        </p:nvSpPr>
        <p:spPr/>
        <p:txBody>
          <a:bodyPr>
            <a:normAutofit/>
          </a:bodyPr>
          <a:lstStyle/>
          <a:p>
            <a:r>
              <a:rPr lang="en-US"/>
              <a:t>Section 3: AWS Trusted Advisor</a:t>
            </a:r>
          </a:p>
        </p:txBody>
      </p:sp>
    </p:spTree>
    <p:custDataLst>
      <p:tags r:id="rId1"/>
    </p:custDataLst>
    <p:extLst>
      <p:ext uri="{BB962C8B-B14F-4D97-AF65-F5344CB8AC3E}">
        <p14:creationId xmlns:p14="http://schemas.microsoft.com/office/powerpoint/2010/main" val="3233352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51E1A27-72FF-4E2E-AB51-803BEBD75FA1}"/>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41</a:t>
            </a:fld>
            <a:endParaRPr lang="en-US" dirty="0"/>
          </a:p>
        </p:txBody>
      </p:sp>
      <p:sp>
        <p:nvSpPr>
          <p:cNvPr id="5" name="Title 4">
            <a:extLst>
              <a:ext uri="{FF2B5EF4-FFF2-40B4-BE49-F238E27FC236}">
                <a16:creationId xmlns:a16="http://schemas.microsoft.com/office/drawing/2014/main" id="{35F8B0BF-6031-44D0-9795-5B03524DB77B}"/>
              </a:ext>
            </a:extLst>
          </p:cNvPr>
          <p:cNvSpPr>
            <a:spLocks noGrp="1"/>
          </p:cNvSpPr>
          <p:nvPr>
            <p:ph type="title"/>
          </p:nvPr>
        </p:nvSpPr>
        <p:spPr/>
        <p:txBody>
          <a:bodyPr/>
          <a:lstStyle/>
          <a:p>
            <a:r>
              <a:rPr lang="en-US"/>
              <a:t>AWS Trusted Advisor</a:t>
            </a:r>
          </a:p>
        </p:txBody>
      </p:sp>
      <p:sp>
        <p:nvSpPr>
          <p:cNvPr id="6" name="Content Placeholder 5">
            <a:extLst>
              <a:ext uri="{FF2B5EF4-FFF2-40B4-BE49-F238E27FC236}">
                <a16:creationId xmlns:a16="http://schemas.microsoft.com/office/drawing/2014/main" id="{25C2970B-CFBD-45DF-8F09-34385DEBC8D5}"/>
              </a:ext>
            </a:extLst>
          </p:cNvPr>
          <p:cNvSpPr>
            <a:spLocks noGrp="1"/>
          </p:cNvSpPr>
          <p:nvPr>
            <p:ph sz="quarter" idx="21"/>
          </p:nvPr>
        </p:nvSpPr>
        <p:spPr>
          <a:xfrm>
            <a:off x="2130552" y="1527048"/>
            <a:ext cx="9646920" cy="4645152"/>
          </a:xfrm>
        </p:spPr>
        <p:txBody>
          <a:bodyPr/>
          <a:lstStyle/>
          <a:p>
            <a:pPr>
              <a:buClr>
                <a:schemeClr val="tx1"/>
              </a:buClr>
            </a:pPr>
            <a:r>
              <a:rPr lang="en-US">
                <a:solidFill>
                  <a:srgbClr val="504BAB"/>
                </a:solidFill>
              </a:rPr>
              <a:t>Online tool that provides real-time guidance </a:t>
            </a:r>
            <a:r>
              <a:rPr lang="en-US"/>
              <a:t>to help you provision your resources following AWS best practices. </a:t>
            </a:r>
          </a:p>
          <a:p>
            <a:pPr>
              <a:buClr>
                <a:schemeClr val="tx1"/>
              </a:buClr>
            </a:pPr>
            <a:r>
              <a:rPr lang="en-US"/>
              <a:t>Looks at your </a:t>
            </a:r>
            <a:r>
              <a:rPr lang="en-US">
                <a:solidFill>
                  <a:srgbClr val="504BAB"/>
                </a:solidFill>
              </a:rPr>
              <a:t>entire AWS environment </a:t>
            </a:r>
            <a:r>
              <a:rPr lang="en-US"/>
              <a:t>and gives you real-time recommendations in five categories.</a:t>
            </a:r>
          </a:p>
          <a:p>
            <a:pPr>
              <a:buClr>
                <a:schemeClr val="tx1"/>
              </a:buClr>
            </a:pPr>
            <a:endParaRPr lang="en-US"/>
          </a:p>
        </p:txBody>
      </p:sp>
      <p:pic>
        <p:nvPicPr>
          <p:cNvPr id="8" name="Graphic 7">
            <a:extLst>
              <a:ext uri="{FF2B5EF4-FFF2-40B4-BE49-F238E27FC236}">
                <a16:creationId xmlns:a16="http://schemas.microsoft.com/office/drawing/2014/main" id="{ACA5EE7F-EC71-4340-A00F-1A4E51692F4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4220" y="1528175"/>
            <a:ext cx="1097280" cy="1097280"/>
          </a:xfrm>
          <a:prstGeom prst="rect">
            <a:avLst/>
          </a:prstGeom>
        </p:spPr>
      </p:pic>
      <p:sp>
        <p:nvSpPr>
          <p:cNvPr id="2" name="TextBox 1">
            <a:extLst>
              <a:ext uri="{FF2B5EF4-FFF2-40B4-BE49-F238E27FC236}">
                <a16:creationId xmlns:a16="http://schemas.microsoft.com/office/drawing/2014/main" id="{2B1FC8EB-1E37-4EAE-B57B-5AD527346408}"/>
              </a:ext>
            </a:extLst>
          </p:cNvPr>
          <p:cNvSpPr txBox="1"/>
          <p:nvPr/>
        </p:nvSpPr>
        <p:spPr>
          <a:xfrm>
            <a:off x="419100" y="2625455"/>
            <a:ext cx="1707519" cy="707886"/>
          </a:xfrm>
          <a:prstGeom prst="rect">
            <a:avLst/>
          </a:prstGeom>
          <a:noFill/>
        </p:spPr>
        <p:txBody>
          <a:bodyPr wrap="none" rtlCol="0">
            <a:spAutoFit/>
          </a:body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AWS Trusted </a:t>
            </a:r>
            <a:br>
              <a:rPr lang="en-US" sz="2000">
                <a:latin typeface="Amazon Ember Light" panose="020B0403020204020204" pitchFamily="34" charset="0"/>
                <a:ea typeface="Amazon Ember Light" panose="020B0403020204020204" pitchFamily="34" charset="0"/>
                <a:cs typeface="Amazon Ember Light" panose="020B0403020204020204" pitchFamily="34" charset="0"/>
              </a:rPr>
            </a:br>
            <a:r>
              <a:rPr lang="en-US" sz="2000">
                <a:latin typeface="Amazon Ember Light" panose="020B0403020204020204" pitchFamily="34" charset="0"/>
                <a:ea typeface="Amazon Ember Light" panose="020B0403020204020204" pitchFamily="34" charset="0"/>
                <a:cs typeface="Amazon Ember Light" panose="020B0403020204020204" pitchFamily="34" charset="0"/>
              </a:rPr>
              <a:t>Advisor</a:t>
            </a:r>
          </a:p>
        </p:txBody>
      </p:sp>
      <p:grpSp>
        <p:nvGrpSpPr>
          <p:cNvPr id="19" name="Group 18" descr="AWS Trusted Advisor dashboard categories: cost optimization, performance, security, fault tolerance, and service limits.">
            <a:extLst>
              <a:ext uri="{FF2B5EF4-FFF2-40B4-BE49-F238E27FC236}">
                <a16:creationId xmlns:a16="http://schemas.microsoft.com/office/drawing/2014/main" id="{7F031626-B064-4982-9DE2-7A0F4FCB3D67}"/>
              </a:ext>
            </a:extLst>
          </p:cNvPr>
          <p:cNvGrpSpPr/>
          <p:nvPr/>
        </p:nvGrpSpPr>
        <p:grpSpPr>
          <a:xfrm>
            <a:off x="113148" y="3468391"/>
            <a:ext cx="11965704" cy="2835808"/>
            <a:chOff x="16746" y="3468391"/>
            <a:chExt cx="11965704" cy="2835808"/>
          </a:xfrm>
        </p:grpSpPr>
        <p:pic>
          <p:nvPicPr>
            <p:cNvPr id="9" name="Picture 8">
              <a:extLst>
                <a:ext uri="{FF2B5EF4-FFF2-40B4-BE49-F238E27FC236}">
                  <a16:creationId xmlns:a16="http://schemas.microsoft.com/office/drawing/2014/main" id="{2EF19F28-33F7-40CD-ADD8-F07B47E27C34}"/>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209550" y="3468391"/>
              <a:ext cx="11772900" cy="2835808"/>
            </a:xfrm>
            <a:prstGeom prst="rect">
              <a:avLst/>
            </a:prstGeom>
            <a:ln>
              <a:noFill/>
            </a:ln>
          </p:spPr>
        </p:pic>
        <p:sp>
          <p:nvSpPr>
            <p:cNvPr id="10" name="TextBox 9">
              <a:extLst>
                <a:ext uri="{FF2B5EF4-FFF2-40B4-BE49-F238E27FC236}">
                  <a16:creationId xmlns:a16="http://schemas.microsoft.com/office/drawing/2014/main" id="{204F2195-81DD-46A1-8F91-B6CAE87AC13E}"/>
                </a:ext>
              </a:extLst>
            </p:cNvPr>
            <p:cNvSpPr txBox="1"/>
            <p:nvPr/>
          </p:nvSpPr>
          <p:spPr>
            <a:xfrm>
              <a:off x="336545" y="3571870"/>
              <a:ext cx="1872629" cy="338554"/>
            </a:xfrm>
            <a:prstGeom prst="rect">
              <a:avLst/>
            </a:prstGeom>
            <a:solidFill>
              <a:schemeClr val="bg1"/>
            </a:solidFill>
          </p:spPr>
          <p:txBody>
            <a:bodyPr wrap="none" rtlCol="0">
              <a:spAutoFit/>
            </a:bodyPr>
            <a:lstStyle/>
            <a:p>
              <a:pPr algn="ctr"/>
              <a:r>
                <a:rPr lang="en-US" sz="1600">
                  <a:latin typeface="Amazon Ember" panose="020B0603020204020204" pitchFamily="34" charset="0"/>
                  <a:ea typeface="Amazon Ember" panose="020B0603020204020204" pitchFamily="34" charset="0"/>
                  <a:cs typeface="Amazon Ember" panose="020B0603020204020204" pitchFamily="34" charset="0"/>
                </a:rPr>
                <a:t>Cost Optimization</a:t>
              </a:r>
            </a:p>
          </p:txBody>
        </p:sp>
        <p:sp>
          <p:nvSpPr>
            <p:cNvPr id="11" name="TextBox 10">
              <a:extLst>
                <a:ext uri="{FF2B5EF4-FFF2-40B4-BE49-F238E27FC236}">
                  <a16:creationId xmlns:a16="http://schemas.microsoft.com/office/drawing/2014/main" id="{9D9D449B-CF04-4129-863B-07E8CD195BCF}"/>
                </a:ext>
              </a:extLst>
            </p:cNvPr>
            <p:cNvSpPr txBox="1"/>
            <p:nvPr/>
          </p:nvSpPr>
          <p:spPr>
            <a:xfrm>
              <a:off x="2931241" y="3571870"/>
              <a:ext cx="1380506" cy="338554"/>
            </a:xfrm>
            <a:prstGeom prst="rect">
              <a:avLst/>
            </a:prstGeom>
            <a:solidFill>
              <a:schemeClr val="bg1"/>
            </a:solidFill>
          </p:spPr>
          <p:txBody>
            <a:bodyPr wrap="none" rtlCol="0">
              <a:spAutoFit/>
            </a:bodyPr>
            <a:lstStyle/>
            <a:p>
              <a:pPr algn="ctr"/>
              <a:r>
                <a:rPr lang="en-US" sz="1600">
                  <a:latin typeface="Amazon Ember" panose="020B0603020204020204" pitchFamily="34" charset="0"/>
                  <a:ea typeface="Amazon Ember" panose="020B0603020204020204" pitchFamily="34" charset="0"/>
                  <a:cs typeface="Amazon Ember" panose="020B0603020204020204" pitchFamily="34" charset="0"/>
                </a:rPr>
                <a:t>Performance</a:t>
              </a:r>
            </a:p>
          </p:txBody>
        </p:sp>
        <p:sp>
          <p:nvSpPr>
            <p:cNvPr id="12" name="TextBox 11">
              <a:extLst>
                <a:ext uri="{FF2B5EF4-FFF2-40B4-BE49-F238E27FC236}">
                  <a16:creationId xmlns:a16="http://schemas.microsoft.com/office/drawing/2014/main" id="{0621AEE1-3A54-4426-BEFF-387CBAAC58E1}"/>
                </a:ext>
              </a:extLst>
            </p:cNvPr>
            <p:cNvSpPr txBox="1"/>
            <p:nvPr/>
          </p:nvSpPr>
          <p:spPr>
            <a:xfrm>
              <a:off x="5536232" y="3571870"/>
              <a:ext cx="936475" cy="338554"/>
            </a:xfrm>
            <a:prstGeom prst="rect">
              <a:avLst/>
            </a:prstGeom>
            <a:solidFill>
              <a:schemeClr val="bg1"/>
            </a:solidFill>
          </p:spPr>
          <p:txBody>
            <a:bodyPr wrap="none" rtlCol="0">
              <a:spAutoFit/>
            </a:bodyPr>
            <a:lstStyle/>
            <a:p>
              <a:pPr algn="ctr"/>
              <a:r>
                <a:rPr lang="en-US" sz="1600">
                  <a:latin typeface="Amazon Ember" panose="020B0603020204020204" pitchFamily="34" charset="0"/>
                  <a:ea typeface="Amazon Ember" panose="020B0603020204020204" pitchFamily="34" charset="0"/>
                  <a:cs typeface="Amazon Ember" panose="020B0603020204020204" pitchFamily="34" charset="0"/>
                </a:rPr>
                <a:t>Security</a:t>
              </a:r>
            </a:p>
          </p:txBody>
        </p:sp>
        <p:sp>
          <p:nvSpPr>
            <p:cNvPr id="13" name="TextBox 12">
              <a:extLst>
                <a:ext uri="{FF2B5EF4-FFF2-40B4-BE49-F238E27FC236}">
                  <a16:creationId xmlns:a16="http://schemas.microsoft.com/office/drawing/2014/main" id="{B2937243-6A73-4695-AA4C-63C3E6469A78}"/>
                </a:ext>
              </a:extLst>
            </p:cNvPr>
            <p:cNvSpPr txBox="1"/>
            <p:nvPr/>
          </p:nvSpPr>
          <p:spPr>
            <a:xfrm>
              <a:off x="7577767" y="3571870"/>
              <a:ext cx="1619354" cy="338554"/>
            </a:xfrm>
            <a:prstGeom prst="rect">
              <a:avLst/>
            </a:prstGeom>
            <a:solidFill>
              <a:schemeClr val="bg1"/>
            </a:solidFill>
          </p:spPr>
          <p:txBody>
            <a:bodyPr wrap="none" rtlCol="0">
              <a:spAutoFit/>
            </a:bodyPr>
            <a:lstStyle/>
            <a:p>
              <a:pPr algn="ctr"/>
              <a:r>
                <a:rPr lang="en-US" sz="1600">
                  <a:latin typeface="Amazon Ember" panose="020B0603020204020204" pitchFamily="34" charset="0"/>
                  <a:ea typeface="Amazon Ember" panose="020B0603020204020204" pitchFamily="34" charset="0"/>
                  <a:cs typeface="Amazon Ember" panose="020B0603020204020204" pitchFamily="34" charset="0"/>
                </a:rPr>
                <a:t>Fault Tolerance</a:t>
              </a:r>
            </a:p>
          </p:txBody>
        </p:sp>
        <p:sp>
          <p:nvSpPr>
            <p:cNvPr id="14" name="TextBox 13">
              <a:extLst>
                <a:ext uri="{FF2B5EF4-FFF2-40B4-BE49-F238E27FC236}">
                  <a16:creationId xmlns:a16="http://schemas.microsoft.com/office/drawing/2014/main" id="{D3ED5E4F-0B76-42E3-91B2-9A9221C0F09B}"/>
                </a:ext>
              </a:extLst>
            </p:cNvPr>
            <p:cNvSpPr txBox="1"/>
            <p:nvPr/>
          </p:nvSpPr>
          <p:spPr>
            <a:xfrm>
              <a:off x="10023831" y="3571870"/>
              <a:ext cx="1465466" cy="338554"/>
            </a:xfrm>
            <a:prstGeom prst="rect">
              <a:avLst/>
            </a:prstGeom>
            <a:solidFill>
              <a:schemeClr val="bg1"/>
            </a:solidFill>
          </p:spPr>
          <p:txBody>
            <a:bodyPr wrap="none" rtlCol="0">
              <a:spAutoFit/>
            </a:bodyPr>
            <a:lstStyle/>
            <a:p>
              <a:pPr algn="ctr"/>
              <a:r>
                <a:rPr lang="en-US" sz="1600">
                  <a:latin typeface="Amazon Ember" panose="020B0603020204020204" pitchFamily="34" charset="0"/>
                  <a:ea typeface="Amazon Ember" panose="020B0603020204020204" pitchFamily="34" charset="0"/>
                  <a:cs typeface="Amazon Ember" panose="020B0603020204020204" pitchFamily="34" charset="0"/>
                </a:rPr>
                <a:t>Service Limits</a:t>
              </a:r>
            </a:p>
          </p:txBody>
        </p:sp>
        <p:sp>
          <p:nvSpPr>
            <p:cNvPr id="18" name="TextBox 17">
              <a:extLst>
                <a:ext uri="{FF2B5EF4-FFF2-40B4-BE49-F238E27FC236}">
                  <a16:creationId xmlns:a16="http://schemas.microsoft.com/office/drawing/2014/main" id="{0E3FF130-2D1E-425E-9771-A6DAB373AC66}"/>
                </a:ext>
              </a:extLst>
            </p:cNvPr>
            <p:cNvSpPr txBox="1"/>
            <p:nvPr/>
          </p:nvSpPr>
          <p:spPr>
            <a:xfrm>
              <a:off x="16746" y="5785140"/>
              <a:ext cx="2512226" cy="338554"/>
            </a:xfrm>
            <a:prstGeom prst="rect">
              <a:avLst/>
            </a:prstGeom>
            <a:solidFill>
              <a:schemeClr val="bg1"/>
            </a:solidFill>
          </p:spPr>
          <p:txBody>
            <a:bodyPr wrap="non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Potential monthly savings</a:t>
              </a:r>
            </a:p>
          </p:txBody>
        </p:sp>
      </p:grpSp>
    </p:spTree>
    <p:custDataLst>
      <p:tags r:id="rId1"/>
    </p:custDataLst>
    <p:extLst>
      <p:ext uri="{BB962C8B-B14F-4D97-AF65-F5344CB8AC3E}">
        <p14:creationId xmlns:p14="http://schemas.microsoft.com/office/powerpoint/2010/main" val="18603379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1433DF8-27D6-96D9-5863-9D8B2E49254F}"/>
              </a:ext>
            </a:extLst>
          </p:cNvPr>
          <p:cNvSpPr>
            <a:spLocks noGrp="1"/>
          </p:cNvSpPr>
          <p:nvPr>
            <p:ph type="sldNum" sz="quarter" idx="20"/>
          </p:nvPr>
        </p:nvSpPr>
        <p:spPr/>
        <p:txBody>
          <a:bodyPr/>
          <a:lstStyle/>
          <a:p>
            <a:fld id="{930176A1-BCF0-4712-97A6-6B495F55390B}" type="slidenum">
              <a:rPr lang="en-US" smtClean="0"/>
              <a:pPr/>
              <a:t>42</a:t>
            </a:fld>
            <a:endParaRPr lang="en-US" dirty="0"/>
          </a:p>
        </p:txBody>
      </p:sp>
      <p:sp>
        <p:nvSpPr>
          <p:cNvPr id="2" name="Title 1">
            <a:extLst>
              <a:ext uri="{FF2B5EF4-FFF2-40B4-BE49-F238E27FC236}">
                <a16:creationId xmlns:a16="http://schemas.microsoft.com/office/drawing/2014/main" id="{43AB4DCD-7CBE-44D5-9C8F-867118E5673D}"/>
              </a:ext>
            </a:extLst>
          </p:cNvPr>
          <p:cNvSpPr>
            <a:spLocks noGrp="1"/>
          </p:cNvSpPr>
          <p:nvPr>
            <p:ph type="title"/>
          </p:nvPr>
        </p:nvSpPr>
        <p:spPr/>
        <p:txBody>
          <a:bodyPr>
            <a:normAutofit/>
          </a:bodyPr>
          <a:lstStyle/>
          <a:p>
            <a:r>
              <a:rPr lang="en-US"/>
              <a:t>Activity: Interpret AWS Trusted Advisor recommendations</a:t>
            </a:r>
          </a:p>
        </p:txBody>
      </p:sp>
      <p:pic>
        <p:nvPicPr>
          <p:cNvPr id="43" name="Picture 42" descr="AWS Trusted Advisor dashboard five categories: cost optimization, performance, security, fault tolerance, service limits.">
            <a:extLst>
              <a:ext uri="{FF2B5EF4-FFF2-40B4-BE49-F238E27FC236}">
                <a16:creationId xmlns:a16="http://schemas.microsoft.com/office/drawing/2014/main" id="{B4F1D7A4-3597-41EE-901E-5150BD8D6795}"/>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206753" y="1840854"/>
            <a:ext cx="11778493" cy="3176290"/>
          </a:xfrm>
          <a:prstGeom prst="rect">
            <a:avLst/>
          </a:prstGeom>
        </p:spPr>
      </p:pic>
    </p:spTree>
    <p:custDataLst>
      <p:tags r:id="rId1"/>
    </p:custDataLst>
    <p:extLst>
      <p:ext uri="{BB962C8B-B14F-4D97-AF65-F5344CB8AC3E}">
        <p14:creationId xmlns:p14="http://schemas.microsoft.com/office/powerpoint/2010/main" val="30337997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43</a:t>
            </a:fld>
            <a:endParaRPr lang="en-US" dirty="0"/>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lstStyle/>
          <a:p>
            <a:r>
              <a:rPr lang="en-US">
                <a:latin typeface="+mj-lt"/>
              </a:rPr>
              <a:t>Section 3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pPr>
              <a:buClr>
                <a:schemeClr val="tx1"/>
              </a:buClr>
            </a:pPr>
            <a:r>
              <a:rPr lang="en-US" sz="2400">
                <a:solidFill>
                  <a:srgbClr val="504BAB"/>
                </a:solidFill>
                <a:latin typeface="+mn-lt"/>
              </a:rPr>
              <a:t>AWS Trusted Advisor </a:t>
            </a:r>
            <a:r>
              <a:rPr lang="en-US" sz="2400">
                <a:latin typeface="+mn-lt"/>
              </a:rPr>
              <a:t>is an online tool that provides real-time guidance to help you provision your resources by following AWS best practices. </a:t>
            </a:r>
          </a:p>
          <a:p>
            <a:pPr>
              <a:buClr>
                <a:schemeClr val="tx1"/>
              </a:buClr>
            </a:pPr>
            <a:r>
              <a:rPr lang="en-US" sz="2400">
                <a:latin typeface="+mn-lt"/>
              </a:rPr>
              <a:t>AWS Trusted Advisor looks at your </a:t>
            </a:r>
            <a:r>
              <a:rPr lang="en-US" sz="2400">
                <a:solidFill>
                  <a:srgbClr val="504BAB"/>
                </a:solidFill>
                <a:latin typeface="+mn-lt"/>
              </a:rPr>
              <a:t>entire AWS environment</a:t>
            </a:r>
            <a:r>
              <a:rPr lang="en-US" sz="2400">
                <a:solidFill>
                  <a:schemeClr val="accent5"/>
                </a:solidFill>
                <a:latin typeface="+mn-lt"/>
              </a:rPr>
              <a:t> </a:t>
            </a:r>
            <a:r>
              <a:rPr lang="en-US" sz="2400">
                <a:latin typeface="+mn-lt"/>
              </a:rPr>
              <a:t>and gives you real-time recommendations in five categories.</a:t>
            </a:r>
          </a:p>
          <a:p>
            <a:pPr>
              <a:buClr>
                <a:schemeClr val="tx1"/>
              </a:buClr>
            </a:pPr>
            <a:r>
              <a:rPr lang="en-US" sz="2400">
                <a:latin typeface="+mn-lt"/>
              </a:rPr>
              <a:t>You can use AWS Trusted Advisor to help you optimize your AWS environment as soon as you start implementing your architecture designs.</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12826018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A3440BC3-762D-4310-82DF-4E1F23D9E6A4}"/>
              </a:ext>
            </a:extLst>
          </p:cNvPr>
          <p:cNvSpPr>
            <a:spLocks noGrp="1"/>
          </p:cNvSpPr>
          <p:nvPr>
            <p:ph type="subTitle" idx="1"/>
          </p:nvPr>
        </p:nvSpPr>
        <p:spPr/>
        <p:txBody>
          <a:bodyPr/>
          <a:lstStyle/>
          <a:p>
            <a:r>
              <a:rPr lang="en-US"/>
              <a:t>Module 9: Cloud Architecture</a:t>
            </a:r>
          </a:p>
          <a:p>
            <a:endParaRPr lang="en-US"/>
          </a:p>
        </p:txBody>
      </p:sp>
      <p:sp>
        <p:nvSpPr>
          <p:cNvPr id="6" name="Title 5">
            <a:extLst>
              <a:ext uri="{FF2B5EF4-FFF2-40B4-BE49-F238E27FC236}">
                <a16:creationId xmlns:a16="http://schemas.microsoft.com/office/drawing/2014/main" id="{BFC5ECD2-AFF4-4A2B-9E54-AC9D736C4BC9}"/>
              </a:ext>
            </a:extLst>
          </p:cNvPr>
          <p:cNvSpPr>
            <a:spLocks noGrp="1"/>
          </p:cNvSpPr>
          <p:nvPr>
            <p:ph type="title"/>
          </p:nvPr>
        </p:nvSpPr>
        <p:spPr/>
        <p:txBody>
          <a:bodyPr>
            <a:normAutofit/>
          </a:bodyPr>
          <a:lstStyle/>
          <a:p>
            <a:r>
              <a:rPr lang="en-US"/>
              <a:t>Module wrap-up</a:t>
            </a:r>
          </a:p>
        </p:txBody>
      </p:sp>
    </p:spTree>
    <p:custDataLst>
      <p:tags r:id="rId1"/>
    </p:custDataLst>
    <p:extLst>
      <p:ext uri="{BB962C8B-B14F-4D97-AF65-F5344CB8AC3E}">
        <p14:creationId xmlns:p14="http://schemas.microsoft.com/office/powerpoint/2010/main" val="31912275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ECEECC-6889-3C4B-ADDE-289EB9D9F6A9}"/>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45</a:t>
            </a:fld>
            <a:endParaRPr lang="en-US"/>
          </a:p>
        </p:txBody>
      </p:sp>
      <p:sp>
        <p:nvSpPr>
          <p:cNvPr id="2" name="Title 1"/>
          <p:cNvSpPr>
            <a:spLocks noGrp="1"/>
          </p:cNvSpPr>
          <p:nvPr>
            <p:ph type="title"/>
          </p:nvPr>
        </p:nvSpPr>
        <p:spPr/>
        <p:txBody>
          <a:bodyPr>
            <a:noAutofit/>
          </a:bodyPr>
          <a:lstStyle/>
          <a:p>
            <a:r>
              <a:rPr lang="en-US">
                <a:latin typeface="+mj-lt"/>
              </a:rPr>
              <a:t>Module summary </a:t>
            </a:r>
          </a:p>
        </p:txBody>
      </p:sp>
      <p:sp>
        <p:nvSpPr>
          <p:cNvPr id="6" name="Content Placeholder 5">
            <a:extLst>
              <a:ext uri="{FF2B5EF4-FFF2-40B4-BE49-F238E27FC236}">
                <a16:creationId xmlns:a16="http://schemas.microsoft.com/office/drawing/2014/main" id="{96B1D8CB-247D-9047-BFCE-7C071A34030D}"/>
              </a:ext>
            </a:extLst>
          </p:cNvPr>
          <p:cNvSpPr>
            <a:spLocks noGrp="1"/>
          </p:cNvSpPr>
          <p:nvPr>
            <p:ph sz="quarter" idx="21"/>
          </p:nvPr>
        </p:nvSpPr>
        <p:spPr/>
        <p:txBody>
          <a:bodyPr/>
          <a:lstStyle/>
          <a:p>
            <a:pPr marL="0" indent="0">
              <a:buNone/>
            </a:pPr>
            <a:r>
              <a:rPr lang="en-US"/>
              <a:t>In summary, in this module you learned how to:</a:t>
            </a:r>
          </a:p>
          <a:p>
            <a:r>
              <a:rPr lang="en-US"/>
              <a:t>Describe the AWS Well-Architected Framework, including the six pillars</a:t>
            </a:r>
          </a:p>
          <a:p>
            <a:r>
              <a:rPr lang="en-US">
                <a:latin typeface="+mn-lt"/>
              </a:rPr>
              <a:t>Identify the design principles of the AWS Well-Architected Framework</a:t>
            </a:r>
          </a:p>
          <a:p>
            <a:r>
              <a:rPr lang="en-US">
                <a:latin typeface="+mn-lt"/>
              </a:rPr>
              <a:t>Explain the importance of reliability and high availability</a:t>
            </a:r>
          </a:p>
          <a:p>
            <a:r>
              <a:rPr lang="en-US">
                <a:latin typeface="+mn-lt"/>
              </a:rPr>
              <a:t>Identify how AWS Trusted Advisor helps customers</a:t>
            </a:r>
          </a:p>
          <a:p>
            <a:r>
              <a:rPr lang="en-US">
                <a:latin typeface="+mn-lt"/>
              </a:rPr>
              <a:t>Interpret AWS Trusted Advisor recommendations</a:t>
            </a:r>
          </a:p>
        </p:txBody>
      </p:sp>
    </p:spTree>
    <p:custDataLst>
      <p:tags r:id="rId1"/>
    </p:custDataLst>
    <p:extLst>
      <p:ext uri="{BB962C8B-B14F-4D97-AF65-F5344CB8AC3E}">
        <p14:creationId xmlns:p14="http://schemas.microsoft.com/office/powerpoint/2010/main" val="27116608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Module 10: Automatic Scaling and Monitoring</a:t>
            </a:r>
          </a:p>
        </p:txBody>
      </p:sp>
      <p:sp>
        <p:nvSpPr>
          <p:cNvPr id="2" name="Text Placeholder 1">
            <a:extLst>
              <a:ext uri="{FF2B5EF4-FFF2-40B4-BE49-F238E27FC236}">
                <a16:creationId xmlns:a16="http://schemas.microsoft.com/office/drawing/2014/main" id="{E8213009-50A0-5448-BFE6-30EFBA8DB8F6}"/>
              </a:ext>
            </a:extLst>
          </p:cNvPr>
          <p:cNvSpPr>
            <a:spLocks noGrp="1"/>
          </p:cNvSpPr>
          <p:nvPr>
            <p:ph type="subTitle" idx="1"/>
          </p:nvPr>
        </p:nvSpPr>
        <p:spPr/>
        <p:txBody>
          <a:bodyPr/>
          <a:lstStyle/>
          <a:p>
            <a:r>
              <a:rPr lang="en-US"/>
              <a:t>AWS Academy Cloud Foundations</a:t>
            </a:r>
          </a:p>
        </p:txBody>
      </p:sp>
    </p:spTree>
    <p:custDataLst>
      <p:tags r:id="rId1"/>
    </p:custDataLst>
    <p:extLst>
      <p:ext uri="{BB962C8B-B14F-4D97-AF65-F5344CB8AC3E}">
        <p14:creationId xmlns:p14="http://schemas.microsoft.com/office/powerpoint/2010/main" val="35622001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17933E2-EE90-C246-AEFF-135CA8848EB0}"/>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47</a:t>
            </a:fld>
            <a:endParaRPr lang="en-US"/>
          </a:p>
        </p:txBody>
      </p:sp>
      <p:sp>
        <p:nvSpPr>
          <p:cNvPr id="2" name="Title 1"/>
          <p:cNvSpPr>
            <a:spLocks noGrp="1"/>
          </p:cNvSpPr>
          <p:nvPr>
            <p:ph type="title"/>
          </p:nvPr>
        </p:nvSpPr>
        <p:spPr/>
        <p:txBody>
          <a:bodyPr/>
          <a:lstStyle/>
          <a:p>
            <a:r>
              <a:rPr lang="en-US">
                <a:latin typeface="+mj-lt"/>
              </a:rPr>
              <a:t>Module overview</a:t>
            </a:r>
          </a:p>
        </p:txBody>
      </p:sp>
      <p:sp>
        <p:nvSpPr>
          <p:cNvPr id="5" name="Content Placeholder 4"/>
          <p:cNvSpPr>
            <a:spLocks noGrp="1"/>
          </p:cNvSpPr>
          <p:nvPr>
            <p:ph sz="quarter" idx="21"/>
          </p:nvPr>
        </p:nvSpPr>
        <p:spPr>
          <a:xfrm>
            <a:off x="365760" y="1143000"/>
            <a:ext cx="5559552" cy="5291750"/>
          </a:xfrm>
        </p:spPr>
        <p:txBody>
          <a:bodyPr>
            <a:noAutofit/>
          </a:bodyPr>
          <a:lstStyle/>
          <a:p>
            <a:pPr marL="0" indent="0">
              <a:spcBef>
                <a:spcPts val="1800"/>
              </a:spcBef>
              <a:buNone/>
            </a:pPr>
            <a:r>
              <a:rPr lang="en-US" b="1">
                <a:latin typeface="+mn-lt"/>
              </a:rPr>
              <a:t>Topics</a:t>
            </a:r>
          </a:p>
          <a:p>
            <a:pPr marL="239713" indent="-239713">
              <a:spcBef>
                <a:spcPts val="1800"/>
              </a:spcBef>
            </a:pPr>
            <a:r>
              <a:rPr lang="en-US" sz="2400">
                <a:latin typeface="+mn-lt"/>
              </a:rPr>
              <a:t>Elastic Load Balancing</a:t>
            </a:r>
          </a:p>
          <a:p>
            <a:pPr marL="239713" indent="-239713">
              <a:spcBef>
                <a:spcPts val="1800"/>
              </a:spcBef>
            </a:pPr>
            <a:r>
              <a:rPr lang="en-US" sz="2400">
                <a:latin typeface="+mn-lt"/>
              </a:rPr>
              <a:t>Amazon CloudWatch</a:t>
            </a:r>
          </a:p>
          <a:p>
            <a:pPr marL="239713" indent="-239713">
              <a:spcBef>
                <a:spcPts val="1800"/>
              </a:spcBef>
            </a:pPr>
            <a:r>
              <a:rPr lang="en-US" sz="2400">
                <a:latin typeface="+mn-lt"/>
              </a:rPr>
              <a:t>Amazon EC2 Auto Scaling</a:t>
            </a:r>
          </a:p>
        </p:txBody>
      </p:sp>
      <p:sp>
        <p:nvSpPr>
          <p:cNvPr id="6" name="Content Placeholder 5">
            <a:extLst>
              <a:ext uri="{FF2B5EF4-FFF2-40B4-BE49-F238E27FC236}">
                <a16:creationId xmlns:a16="http://schemas.microsoft.com/office/drawing/2014/main" id="{79AB60CE-670C-974B-8C37-C3795121745F}"/>
              </a:ext>
            </a:extLst>
          </p:cNvPr>
          <p:cNvSpPr>
            <a:spLocks noGrp="1"/>
          </p:cNvSpPr>
          <p:nvPr>
            <p:ph idx="4294967295"/>
          </p:nvPr>
        </p:nvSpPr>
        <p:spPr>
          <a:xfrm>
            <a:off x="6099048" y="1143000"/>
            <a:ext cx="5559552" cy="4649788"/>
          </a:xfrm>
        </p:spPr>
        <p:txBody>
          <a:bodyPr/>
          <a:lstStyle/>
          <a:p>
            <a:pPr marL="0" indent="0">
              <a:buNone/>
            </a:pPr>
            <a:r>
              <a:rPr lang="en-US" b="1"/>
              <a:t>Activities</a:t>
            </a:r>
            <a:endParaRPr lang="en-US" sz="3200" b="1"/>
          </a:p>
          <a:p>
            <a:r>
              <a:rPr lang="en-US" sz="2400"/>
              <a:t>Elastic Load Balancing activity</a:t>
            </a:r>
          </a:p>
          <a:p>
            <a:r>
              <a:rPr lang="en-US" sz="2400"/>
              <a:t>Amazon CloudWatch activity</a:t>
            </a:r>
          </a:p>
          <a:p>
            <a:pPr marL="0" indent="0">
              <a:buNone/>
            </a:pPr>
            <a:endParaRPr lang="en-US"/>
          </a:p>
          <a:p>
            <a:pPr marL="0" indent="0">
              <a:buNone/>
            </a:pPr>
            <a:r>
              <a:rPr lang="en-US" b="1">
                <a:latin typeface="+mn-lt"/>
              </a:rPr>
              <a:t>Lab</a:t>
            </a:r>
          </a:p>
          <a:p>
            <a:r>
              <a:rPr lang="en-US" sz="2400">
                <a:latin typeface="+mn-lt"/>
              </a:rPr>
              <a:t>Scale and Load Balance Your Architecture</a:t>
            </a:r>
          </a:p>
          <a:p>
            <a:endParaRPr lang="en-US">
              <a:latin typeface="+mn-lt"/>
            </a:endParaRPr>
          </a:p>
        </p:txBody>
      </p:sp>
      <p:grpSp>
        <p:nvGrpSpPr>
          <p:cNvPr id="7" name="Group 6" descr="Knowledge check.">
            <a:extLst>
              <a:ext uri="{FF2B5EF4-FFF2-40B4-BE49-F238E27FC236}">
                <a16:creationId xmlns:a16="http://schemas.microsoft.com/office/drawing/2014/main" id="{5A386CF2-48DE-3E4F-B27A-6F6B12236D70}"/>
              </a:ext>
              <a:ext uri="{C183D7F6-B498-43B3-948B-1728B52AA6E4}">
                <adec:decorative xmlns:adec="http://schemas.microsoft.com/office/drawing/2017/decorative" val="0"/>
              </a:ext>
            </a:extLst>
          </p:cNvPr>
          <p:cNvGrpSpPr/>
          <p:nvPr/>
        </p:nvGrpSpPr>
        <p:grpSpPr>
          <a:xfrm>
            <a:off x="6246312" y="5640693"/>
            <a:ext cx="2832953" cy="532323"/>
            <a:chOff x="4188879" y="4810544"/>
            <a:chExt cx="2832953" cy="532323"/>
          </a:xfrm>
        </p:grpSpPr>
        <p:sp>
          <p:nvSpPr>
            <p:cNvPr id="8" name="TextBox 7">
              <a:extLst>
                <a:ext uri="{FF2B5EF4-FFF2-40B4-BE49-F238E27FC236}">
                  <a16:creationId xmlns:a16="http://schemas.microsoft.com/office/drawing/2014/main" id="{94F8C5C3-D9C4-4E4C-8D0B-BD50A1C962C5}"/>
                </a:ext>
              </a:extLst>
            </p:cNvPr>
            <p:cNvSpPr txBox="1"/>
            <p:nvPr/>
          </p:nvSpPr>
          <p:spPr>
            <a:xfrm>
              <a:off x="4721202" y="4892040"/>
              <a:ext cx="2300630" cy="400110"/>
            </a:xfrm>
            <a:prstGeom prst="rect">
              <a:avLst/>
            </a:prstGeom>
            <a:noFill/>
          </p:spPr>
          <p:txBody>
            <a:bodyPr wrap="none" rtlCol="0">
              <a:spAutoFit/>
            </a:bodyPr>
            <a:lstStyle/>
            <a:p>
              <a:r>
                <a:rPr lang="en-US" sz="2000" b="1">
                  <a:latin typeface="Amazon Ember" panose="020B0603020204020204" pitchFamily="34" charset="0"/>
                  <a:ea typeface="Amazon Ember" panose="020B0603020204020204" pitchFamily="34" charset="0"/>
                  <a:cs typeface="Amazon Ember" panose="020B0603020204020204" pitchFamily="34" charset="0"/>
                </a:rPr>
                <a:t>Knowledge check</a:t>
              </a:r>
            </a:p>
          </p:txBody>
        </p:sp>
        <p:pic>
          <p:nvPicPr>
            <p:cNvPr id="9" name="Picture 8">
              <a:extLst>
                <a:ext uri="{FF2B5EF4-FFF2-40B4-BE49-F238E27FC236}">
                  <a16:creationId xmlns:a16="http://schemas.microsoft.com/office/drawing/2014/main" id="{7C7503A9-F744-2745-8305-1056CF885D90}"/>
                </a:ext>
                <a:ext uri="{C183D7F6-B498-43B3-948B-1728B52AA6E4}">
                  <adec:decorative xmlns:adec="http://schemas.microsoft.com/office/drawing/2017/decorative" val="1"/>
                </a:ext>
              </a:extLst>
            </p:cNvPr>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4188879" y="4810544"/>
              <a:ext cx="532323" cy="532323"/>
            </a:xfrm>
            <a:prstGeom prst="rect">
              <a:avLst/>
            </a:prstGeom>
          </p:spPr>
        </p:pic>
      </p:grpSp>
    </p:spTree>
    <p:custDataLst>
      <p:tags r:id="rId1"/>
    </p:custDataLst>
    <p:extLst>
      <p:ext uri="{BB962C8B-B14F-4D97-AF65-F5344CB8AC3E}">
        <p14:creationId xmlns:p14="http://schemas.microsoft.com/office/powerpoint/2010/main" val="3569186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0E9032A-B193-E649-B33A-8B2DE7FF0AB8}"/>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48</a:t>
            </a:fld>
            <a:endParaRPr lang="en-US"/>
          </a:p>
        </p:txBody>
      </p:sp>
      <p:sp>
        <p:nvSpPr>
          <p:cNvPr id="2" name="Title 1">
            <a:extLst>
              <a:ext uri="{FF2B5EF4-FFF2-40B4-BE49-F238E27FC236}">
                <a16:creationId xmlns:a16="http://schemas.microsoft.com/office/drawing/2014/main" id="{18DD67E4-BDC1-B340-8993-E1E72418A01F}"/>
              </a:ext>
            </a:extLst>
          </p:cNvPr>
          <p:cNvSpPr>
            <a:spLocks noGrp="1"/>
          </p:cNvSpPr>
          <p:nvPr>
            <p:ph type="title"/>
          </p:nvPr>
        </p:nvSpPr>
        <p:spPr/>
        <p:txBody>
          <a:bodyPr/>
          <a:lstStyle/>
          <a:p>
            <a:r>
              <a:rPr lang="en-US"/>
              <a:t>Module objectives</a:t>
            </a:r>
          </a:p>
        </p:txBody>
      </p:sp>
      <p:sp>
        <p:nvSpPr>
          <p:cNvPr id="4" name="Content Placeholder 2">
            <a:extLst>
              <a:ext uri="{FF2B5EF4-FFF2-40B4-BE49-F238E27FC236}">
                <a16:creationId xmlns:a16="http://schemas.microsoft.com/office/drawing/2014/main" id="{AA03B58E-9CA1-F041-8923-2FE03FDDD563}"/>
              </a:ext>
            </a:extLst>
          </p:cNvPr>
          <p:cNvSpPr>
            <a:spLocks noGrp="1"/>
          </p:cNvSpPr>
          <p:nvPr>
            <p:ph sz="quarter" idx="21"/>
          </p:nvPr>
        </p:nvSpPr>
        <p:spPr/>
        <p:txBody>
          <a:bodyPr/>
          <a:lstStyle/>
          <a:p>
            <a:pPr marL="0" indent="0">
              <a:buNone/>
            </a:pPr>
            <a:r>
              <a:rPr lang="en-US"/>
              <a:t>After completing this module, you should be able to:</a:t>
            </a:r>
          </a:p>
          <a:p>
            <a:r>
              <a:rPr lang="en-US">
                <a:latin typeface="+mn-lt"/>
              </a:rPr>
              <a:t>Indicate how to distribute traffic across Amazon Elastic Compute Cloud (Amazon EC2) instances by using Elastic Load Balancing</a:t>
            </a:r>
          </a:p>
          <a:p>
            <a:r>
              <a:rPr lang="en-US"/>
              <a:t>Identify how Amazon CloudWatch enables you to monitor AWS resources and applications in real time</a:t>
            </a:r>
          </a:p>
          <a:p>
            <a:r>
              <a:rPr lang="en-US"/>
              <a:t>Explain how Amazon EC2 Auto Scaling launches and releases servers in response to workload changes</a:t>
            </a:r>
          </a:p>
          <a:p>
            <a:r>
              <a:rPr lang="en-US">
                <a:latin typeface="+mn-lt"/>
              </a:rPr>
              <a:t>Perform scaling and load balancing tasks to improve an architecture</a:t>
            </a:r>
          </a:p>
        </p:txBody>
      </p:sp>
    </p:spTree>
    <p:custDataLst>
      <p:tags r:id="rId1"/>
    </p:custDataLst>
    <p:extLst>
      <p:ext uri="{BB962C8B-B14F-4D97-AF65-F5344CB8AC3E}">
        <p14:creationId xmlns:p14="http://schemas.microsoft.com/office/powerpoint/2010/main" val="8732541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64B8E0-60AD-514D-93D6-076C58CF731E}"/>
              </a:ext>
            </a:extLst>
          </p:cNvPr>
          <p:cNvSpPr>
            <a:spLocks noGrp="1"/>
          </p:cNvSpPr>
          <p:nvPr>
            <p:ph type="subTitle" idx="1"/>
          </p:nvPr>
        </p:nvSpPr>
        <p:spPr/>
        <p:txBody>
          <a:bodyPr>
            <a:normAutofit/>
          </a:bodyPr>
          <a:lstStyle/>
          <a:p>
            <a:r>
              <a:rPr lang="en-US">
                <a:latin typeface="+mn-lt"/>
              </a:rPr>
              <a:t>Module 10: Automatic Scaling and Monitoring</a:t>
            </a:r>
          </a:p>
        </p:txBody>
      </p:sp>
      <p:sp>
        <p:nvSpPr>
          <p:cNvPr id="2" name="Title 1"/>
          <p:cNvSpPr>
            <a:spLocks noGrp="1"/>
          </p:cNvSpPr>
          <p:nvPr>
            <p:ph type="title"/>
          </p:nvPr>
        </p:nvSpPr>
        <p:spPr/>
        <p:txBody>
          <a:bodyPr>
            <a:noAutofit/>
          </a:bodyPr>
          <a:lstStyle/>
          <a:p>
            <a:r>
              <a:rPr lang="en-US">
                <a:latin typeface="+mj-lt"/>
              </a:rPr>
              <a:t>Section 1: Elastic Load Balancing</a:t>
            </a:r>
          </a:p>
        </p:txBody>
      </p:sp>
    </p:spTree>
    <p:custDataLst>
      <p:tags r:id="rId1"/>
    </p:custDataLst>
    <p:extLst>
      <p:ext uri="{BB962C8B-B14F-4D97-AF65-F5344CB8AC3E}">
        <p14:creationId xmlns:p14="http://schemas.microsoft.com/office/powerpoint/2010/main" val="16054212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47B1589-B3FB-474D-AFF8-555C3BFDE501}"/>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50</a:t>
            </a:fld>
            <a:endParaRPr lang="en-US"/>
          </a:p>
        </p:txBody>
      </p:sp>
      <p:sp>
        <p:nvSpPr>
          <p:cNvPr id="2" name="Title 1"/>
          <p:cNvSpPr>
            <a:spLocks noGrp="1"/>
          </p:cNvSpPr>
          <p:nvPr>
            <p:ph type="title"/>
          </p:nvPr>
        </p:nvSpPr>
        <p:spPr/>
        <p:txBody>
          <a:bodyPr/>
          <a:lstStyle/>
          <a:p>
            <a:r>
              <a:rPr lang="en-US"/>
              <a:t>Elastic Load Balancing</a:t>
            </a:r>
          </a:p>
        </p:txBody>
      </p:sp>
      <p:sp>
        <p:nvSpPr>
          <p:cNvPr id="3" name="Content Placeholder 2"/>
          <p:cNvSpPr>
            <a:spLocks noGrp="1"/>
          </p:cNvSpPr>
          <p:nvPr>
            <p:ph sz="quarter" idx="21"/>
          </p:nvPr>
        </p:nvSpPr>
        <p:spPr>
          <a:xfrm>
            <a:off x="365760" y="1527048"/>
            <a:ext cx="5504688" cy="4645152"/>
          </a:xfrm>
        </p:spPr>
        <p:txBody>
          <a:bodyPr>
            <a:noAutofit/>
          </a:bodyPr>
          <a:lstStyle/>
          <a:p>
            <a:pPr marL="457200" lvl="1" indent="-457200">
              <a:lnSpc>
                <a:spcPct val="100000"/>
              </a:lnSpc>
              <a:spcBef>
                <a:spcPts val="1000"/>
              </a:spcBef>
              <a:spcAft>
                <a:spcPts val="800"/>
              </a:spcAft>
            </a:pPr>
            <a:r>
              <a:rPr lang="en-US" sz="2800"/>
              <a:t>Distributes incoming application or network traffic across multiple targets in a single Availability Zone or across multiple Availability Zones.</a:t>
            </a:r>
          </a:p>
          <a:p>
            <a:pPr marL="457200" lvl="1" indent="-457200">
              <a:lnSpc>
                <a:spcPct val="100000"/>
              </a:lnSpc>
              <a:spcBef>
                <a:spcPts val="1000"/>
              </a:spcBef>
              <a:spcAft>
                <a:spcPts val="800"/>
              </a:spcAft>
            </a:pPr>
            <a:r>
              <a:rPr lang="en-US" sz="2800"/>
              <a:t>Scales your load balancer as traffic to your application changes over time.</a:t>
            </a:r>
          </a:p>
        </p:txBody>
      </p:sp>
      <p:grpSp>
        <p:nvGrpSpPr>
          <p:cNvPr id="23" name="Group 22" descr="Diagram showing Elastic Load Balancing distributing traffic across EC2 instances containers, IP addresses, and Lambda functions.">
            <a:extLst>
              <a:ext uri="{FF2B5EF4-FFF2-40B4-BE49-F238E27FC236}">
                <a16:creationId xmlns:a16="http://schemas.microsoft.com/office/drawing/2014/main" id="{F6B601CA-EDE0-1809-39C8-82084E89107C}"/>
              </a:ext>
              <a:ext uri="{C183D7F6-B498-43B3-948B-1728B52AA6E4}">
                <adec:decorative xmlns:adec="http://schemas.microsoft.com/office/drawing/2017/decorative" val="0"/>
              </a:ext>
            </a:extLst>
          </p:cNvPr>
          <p:cNvGrpSpPr/>
          <p:nvPr/>
        </p:nvGrpSpPr>
        <p:grpSpPr>
          <a:xfrm>
            <a:off x="5454189" y="1524228"/>
            <a:ext cx="6428094" cy="3751972"/>
            <a:chOff x="5454189" y="1524228"/>
            <a:chExt cx="6428094" cy="3751972"/>
          </a:xfrm>
        </p:grpSpPr>
        <p:grpSp>
          <p:nvGrpSpPr>
            <p:cNvPr id="15" name="Group 14">
              <a:extLst>
                <a:ext uri="{FF2B5EF4-FFF2-40B4-BE49-F238E27FC236}">
                  <a16:creationId xmlns:a16="http://schemas.microsoft.com/office/drawing/2014/main" id="{A0486B23-8353-4209-854A-C1DF5A80B49E}"/>
                </a:ext>
                <a:ext uri="{C183D7F6-B498-43B3-948B-1728B52AA6E4}">
                  <adec:decorative xmlns:adec="http://schemas.microsoft.com/office/drawing/2017/decorative" val="1"/>
                </a:ext>
              </a:extLst>
            </p:cNvPr>
            <p:cNvGrpSpPr/>
            <p:nvPr/>
          </p:nvGrpSpPr>
          <p:grpSpPr>
            <a:xfrm>
              <a:off x="5454189" y="1524228"/>
              <a:ext cx="6428094" cy="3751972"/>
              <a:chOff x="5454189" y="1524228"/>
              <a:chExt cx="6428094" cy="3751972"/>
            </a:xfrm>
          </p:grpSpPr>
          <p:cxnSp>
            <p:nvCxnSpPr>
              <p:cNvPr id="26" name="Straight Arrow Connector 25">
                <a:extLst>
                  <a:ext uri="{FF2B5EF4-FFF2-40B4-BE49-F238E27FC236}">
                    <a16:creationId xmlns:a16="http://schemas.microsoft.com/office/drawing/2014/main" id="{81201FB6-CD35-4C2D-9041-4BD945390D98}"/>
                  </a:ext>
                </a:extLst>
              </p:cNvPr>
              <p:cNvCxnSpPr>
                <a:cxnSpLocks/>
                <a:stCxn id="34" idx="2"/>
                <a:endCxn id="60" idx="0"/>
              </p:cNvCxnSpPr>
              <p:nvPr/>
            </p:nvCxnSpPr>
            <p:spPr>
              <a:xfrm flipH="1">
                <a:off x="8464686" y="2173005"/>
                <a:ext cx="9108" cy="473559"/>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A2996279-3275-4510-863B-CFDEFBF21504}"/>
                  </a:ext>
                  <a:ext uri="{C183D7F6-B498-43B3-948B-1728B52AA6E4}">
                    <adec:decorative xmlns:adec="http://schemas.microsoft.com/office/drawing/2017/decorative" val="1"/>
                  </a:ext>
                </a:extLst>
              </p:cNvPr>
              <p:cNvPicPr>
                <a:picLocks noChangeAspect="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6646460" y="1524228"/>
                <a:ext cx="932616" cy="648777"/>
              </a:xfrm>
              <a:prstGeom prst="rect">
                <a:avLst/>
              </a:prstGeom>
            </p:spPr>
          </p:pic>
          <p:cxnSp>
            <p:nvCxnSpPr>
              <p:cNvPr id="30" name="Straight Arrow Connector 29">
                <a:extLst>
                  <a:ext uri="{FF2B5EF4-FFF2-40B4-BE49-F238E27FC236}">
                    <a16:creationId xmlns:a16="http://schemas.microsoft.com/office/drawing/2014/main" id="{5B289307-90E1-448E-82B6-2CB9748115FD}"/>
                  </a:ext>
                </a:extLst>
              </p:cNvPr>
              <p:cNvCxnSpPr>
                <a:cxnSpLocks/>
              </p:cNvCxnSpPr>
              <p:nvPr/>
            </p:nvCxnSpPr>
            <p:spPr>
              <a:xfrm>
                <a:off x="8677900" y="3560964"/>
                <a:ext cx="0" cy="525069"/>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F2836EF-9AB8-4C91-AE72-E74B2DA15681}"/>
                  </a:ext>
                </a:extLst>
              </p:cNvPr>
              <p:cNvCxnSpPr>
                <a:cxnSpLocks/>
              </p:cNvCxnSpPr>
              <p:nvPr/>
            </p:nvCxnSpPr>
            <p:spPr>
              <a:xfrm>
                <a:off x="8007486" y="3560964"/>
                <a:ext cx="0" cy="67272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34" name="Picture 33">
                <a:extLst>
                  <a:ext uri="{FF2B5EF4-FFF2-40B4-BE49-F238E27FC236}">
                    <a16:creationId xmlns:a16="http://schemas.microsoft.com/office/drawing/2014/main" id="{DCB84D34-1B73-490A-88D5-3970885FE435}"/>
                  </a:ext>
                  <a:ext uri="{C183D7F6-B498-43B3-948B-1728B52AA6E4}">
                    <adec:decorative xmlns:adec="http://schemas.microsoft.com/office/drawing/2017/decorative" val="1"/>
                  </a:ext>
                </a:extLst>
              </p:cNvPr>
              <p:cNvPicPr>
                <a:picLocks noChangeAspect="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8007486" y="1524228"/>
                <a:ext cx="932616" cy="648777"/>
              </a:xfrm>
              <a:prstGeom prst="rect">
                <a:avLst/>
              </a:prstGeom>
            </p:spPr>
          </p:pic>
          <p:pic>
            <p:nvPicPr>
              <p:cNvPr id="35" name="Picture 34">
                <a:extLst>
                  <a:ext uri="{FF2B5EF4-FFF2-40B4-BE49-F238E27FC236}">
                    <a16:creationId xmlns:a16="http://schemas.microsoft.com/office/drawing/2014/main" id="{A1C6E569-58FE-4C59-A75C-819C1F6B9494}"/>
                  </a:ext>
                  <a:ext uri="{C183D7F6-B498-43B3-948B-1728B52AA6E4}">
                    <adec:decorative xmlns:adec="http://schemas.microsoft.com/office/drawing/2017/decorative" val="1"/>
                  </a:ext>
                </a:extLst>
              </p:cNvPr>
              <p:cNvPicPr>
                <a:picLocks noChangeAspect="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9313092" y="1524228"/>
                <a:ext cx="932616" cy="648777"/>
              </a:xfrm>
              <a:prstGeom prst="rect">
                <a:avLst/>
              </a:prstGeom>
            </p:spPr>
          </p:pic>
          <p:sp>
            <p:nvSpPr>
              <p:cNvPr id="36" name="Rectangle 35">
                <a:extLst>
                  <a:ext uri="{FF2B5EF4-FFF2-40B4-BE49-F238E27FC236}">
                    <a16:creationId xmlns:a16="http://schemas.microsoft.com/office/drawing/2014/main" id="{47CFADCE-F311-4731-860B-17B9DD0A84CC}"/>
                  </a:ext>
                </a:extLst>
              </p:cNvPr>
              <p:cNvSpPr/>
              <p:nvPr/>
            </p:nvSpPr>
            <p:spPr>
              <a:xfrm>
                <a:off x="8919914" y="2794329"/>
                <a:ext cx="1380506" cy="646331"/>
              </a:xfrm>
              <a:prstGeom prst="rect">
                <a:avLst/>
              </a:prstGeom>
              <a:solidFill>
                <a:schemeClr val="bg1"/>
              </a:solidFill>
            </p:spPr>
            <p:txBody>
              <a:bodyPr wrap="none">
                <a:spAutoFit/>
              </a:bodyPr>
              <a:lstStyle/>
              <a:p>
                <a:r>
                  <a:rPr lang="en-US">
                    <a:solidFill>
                      <a:srgbClr val="000000"/>
                    </a:solidFill>
                    <a:latin typeface="+mj-lt"/>
                  </a:rPr>
                  <a:t>Elastic Load</a:t>
                </a:r>
              </a:p>
              <a:p>
                <a:pPr algn="ctr"/>
                <a:r>
                  <a:rPr lang="en-US">
                    <a:solidFill>
                      <a:srgbClr val="000000"/>
                    </a:solidFill>
                    <a:latin typeface="+mj-lt"/>
                  </a:rPr>
                  <a:t>Balancing</a:t>
                </a:r>
              </a:p>
            </p:txBody>
          </p:sp>
          <p:pic>
            <p:nvPicPr>
              <p:cNvPr id="60" name="Graphic 59">
                <a:extLst>
                  <a:ext uri="{FF2B5EF4-FFF2-40B4-BE49-F238E27FC236}">
                    <a16:creationId xmlns:a16="http://schemas.microsoft.com/office/drawing/2014/main" id="{F7B89FED-6541-43E3-B290-8F48EB19EF23}"/>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7486" y="2646564"/>
                <a:ext cx="914400" cy="914400"/>
              </a:xfrm>
              <a:prstGeom prst="rect">
                <a:avLst/>
              </a:prstGeom>
            </p:spPr>
          </p:pic>
          <p:pic>
            <p:nvPicPr>
              <p:cNvPr id="37" name="Graphic 36">
                <a:extLst>
                  <a:ext uri="{FF2B5EF4-FFF2-40B4-BE49-F238E27FC236}">
                    <a16:creationId xmlns:a16="http://schemas.microsoft.com/office/drawing/2014/main" id="{DA7695A5-424D-417D-9135-99C5B30CC8B8}"/>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99096" y="4233684"/>
                <a:ext cx="548640" cy="548640"/>
              </a:xfrm>
              <a:prstGeom prst="rect">
                <a:avLst/>
              </a:prstGeom>
            </p:spPr>
          </p:pic>
          <p:sp>
            <p:nvSpPr>
              <p:cNvPr id="5" name="TextBox 4">
                <a:extLst>
                  <a:ext uri="{FF2B5EF4-FFF2-40B4-BE49-F238E27FC236}">
                    <a16:creationId xmlns:a16="http://schemas.microsoft.com/office/drawing/2014/main" id="{DDA1501C-0F40-4DBC-AC1B-EDF87D9EC22D}"/>
                  </a:ext>
                  <a:ext uri="{C183D7F6-B498-43B3-948B-1728B52AA6E4}">
                    <adec:decorative xmlns:adec="http://schemas.microsoft.com/office/drawing/2017/decorative" val="1"/>
                  </a:ext>
                </a:extLst>
              </p:cNvPr>
              <p:cNvSpPr txBox="1"/>
              <p:nvPr/>
            </p:nvSpPr>
            <p:spPr>
              <a:xfrm>
                <a:off x="8487986" y="4233684"/>
                <a:ext cx="1430200" cy="369332"/>
              </a:xfrm>
              <a:prstGeom prst="rect">
                <a:avLst/>
              </a:prstGeom>
              <a:noFill/>
              <a:ln>
                <a:solidFill>
                  <a:schemeClr val="accent1"/>
                </a:solidFill>
              </a:ln>
            </p:spPr>
            <p:txBody>
              <a:bodyPr wrap="none" rtlCol="0">
                <a:spAutoFit/>
              </a:bodyPr>
              <a:lstStyle/>
              <a:p>
                <a:r>
                  <a:rPr lang="en-US">
                    <a:latin typeface="Amazon Ember Light" panose="020B0403020204020204" pitchFamily="34" charset="0"/>
                    <a:ea typeface="Amazon Ember Light" panose="020B0403020204020204" pitchFamily="34" charset="0"/>
                    <a:cs typeface="Amazon Ember Light" panose="020B0403020204020204" pitchFamily="34" charset="0"/>
                  </a:rPr>
                  <a:t>IP addresses</a:t>
                </a:r>
              </a:p>
            </p:txBody>
          </p:sp>
          <p:pic>
            <p:nvPicPr>
              <p:cNvPr id="38" name="Graphic 37">
                <a:extLst>
                  <a:ext uri="{FF2B5EF4-FFF2-40B4-BE49-F238E27FC236}">
                    <a16:creationId xmlns:a16="http://schemas.microsoft.com/office/drawing/2014/main" id="{34D50767-BB21-4508-929C-0EBE27B3116C}"/>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605926" y="4233684"/>
                <a:ext cx="548640" cy="548640"/>
              </a:xfrm>
              <a:prstGeom prst="rect">
                <a:avLst/>
              </a:prstGeom>
            </p:spPr>
          </p:pic>
          <p:sp>
            <p:nvSpPr>
              <p:cNvPr id="7" name="TextBox 6">
                <a:extLst>
                  <a:ext uri="{FF2B5EF4-FFF2-40B4-BE49-F238E27FC236}">
                    <a16:creationId xmlns:a16="http://schemas.microsoft.com/office/drawing/2014/main" id="{659B4097-EFD4-4131-BEFD-7290B6DB6115}"/>
                  </a:ext>
                </a:extLst>
              </p:cNvPr>
              <p:cNvSpPr txBox="1"/>
              <p:nvPr/>
            </p:nvSpPr>
            <p:spPr>
              <a:xfrm>
                <a:off x="5454189" y="4906868"/>
                <a:ext cx="1579278" cy="369332"/>
              </a:xfrm>
              <a:prstGeom prst="rect">
                <a:avLst/>
              </a:prstGeom>
              <a:noFill/>
            </p:spPr>
            <p:txBody>
              <a:bodyPr wrap="none" rtlCol="0">
                <a:spAutoFit/>
              </a:bodyPr>
              <a:lstStyle/>
              <a:p>
                <a:r>
                  <a:rPr lang="en-US">
                    <a:latin typeface="Amazon Ember Light" panose="020B0403020204020204" pitchFamily="34" charset="0"/>
                    <a:ea typeface="Amazon Ember Light" panose="020B0403020204020204" pitchFamily="34" charset="0"/>
                    <a:cs typeface="Amazon Ember Light" panose="020B0403020204020204" pitchFamily="34" charset="0"/>
                  </a:rPr>
                  <a:t>EC2 instances</a:t>
                </a:r>
              </a:p>
            </p:txBody>
          </p:sp>
          <p:pic>
            <p:nvPicPr>
              <p:cNvPr id="39" name="Graphic 38">
                <a:extLst>
                  <a:ext uri="{FF2B5EF4-FFF2-40B4-BE49-F238E27FC236}">
                    <a16:creationId xmlns:a16="http://schemas.microsoft.com/office/drawing/2014/main" id="{7D6B7648-3AA7-4B28-863C-74E675706834}"/>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923788" y="4233684"/>
                <a:ext cx="640080" cy="640080"/>
              </a:xfrm>
              <a:prstGeom prst="rect">
                <a:avLst/>
              </a:prstGeom>
            </p:spPr>
          </p:pic>
          <p:sp>
            <p:nvSpPr>
              <p:cNvPr id="40" name="TextBox 39">
                <a:extLst>
                  <a:ext uri="{FF2B5EF4-FFF2-40B4-BE49-F238E27FC236}">
                    <a16:creationId xmlns:a16="http://schemas.microsoft.com/office/drawing/2014/main" id="{2896C2FB-722A-4602-B738-2A93909B721D}"/>
                  </a:ext>
                </a:extLst>
              </p:cNvPr>
              <p:cNvSpPr txBox="1"/>
              <p:nvPr/>
            </p:nvSpPr>
            <p:spPr>
              <a:xfrm>
                <a:off x="7318203" y="4701567"/>
                <a:ext cx="1266693" cy="369332"/>
              </a:xfrm>
              <a:prstGeom prst="rect">
                <a:avLst/>
              </a:prstGeom>
              <a:noFill/>
            </p:spPr>
            <p:txBody>
              <a:bodyPr wrap="none" rtlCol="0">
                <a:spAutoFit/>
              </a:bodyPr>
              <a:lstStyle/>
              <a:p>
                <a:r>
                  <a:rPr lang="en-US">
                    <a:latin typeface="Amazon Ember Light" panose="020B0403020204020204" pitchFamily="34" charset="0"/>
                    <a:ea typeface="Amazon Ember Light" panose="020B0403020204020204" pitchFamily="34" charset="0"/>
                    <a:cs typeface="Amazon Ember Light" panose="020B0403020204020204" pitchFamily="34" charset="0"/>
                  </a:rPr>
                  <a:t>Containers</a:t>
                </a:r>
              </a:p>
            </p:txBody>
          </p:sp>
          <p:sp>
            <p:nvSpPr>
              <p:cNvPr id="41" name="TextBox 40">
                <a:extLst>
                  <a:ext uri="{FF2B5EF4-FFF2-40B4-BE49-F238E27FC236}">
                    <a16:creationId xmlns:a16="http://schemas.microsoft.com/office/drawing/2014/main" id="{103F96F8-79D8-4CB1-87B6-AB2960079A7F}"/>
                  </a:ext>
                </a:extLst>
              </p:cNvPr>
              <p:cNvSpPr txBox="1"/>
              <p:nvPr/>
            </p:nvSpPr>
            <p:spPr>
              <a:xfrm>
                <a:off x="9878208" y="4809842"/>
                <a:ext cx="2004075" cy="369332"/>
              </a:xfrm>
              <a:prstGeom prst="rect">
                <a:avLst/>
              </a:prstGeom>
              <a:noFill/>
            </p:spPr>
            <p:txBody>
              <a:bodyPr wrap="none" rtlCol="0">
                <a:spAutoFit/>
              </a:bodyPr>
              <a:lstStyle/>
              <a:p>
                <a:r>
                  <a:rPr lang="en-US">
                    <a:latin typeface="Amazon Ember Light" panose="020B0403020204020204" pitchFamily="34" charset="0"/>
                    <a:ea typeface="Amazon Ember Light" panose="020B0403020204020204" pitchFamily="34" charset="0"/>
                    <a:cs typeface="Amazon Ember Light" panose="020B0403020204020204" pitchFamily="34" charset="0"/>
                  </a:rPr>
                  <a:t>Lambda functions</a:t>
                </a:r>
              </a:p>
            </p:txBody>
          </p:sp>
        </p:grpSp>
        <p:cxnSp>
          <p:nvCxnSpPr>
            <p:cNvPr id="10" name="Elbow Connector 9">
              <a:extLst>
                <a:ext uri="{FF2B5EF4-FFF2-40B4-BE49-F238E27FC236}">
                  <a16:creationId xmlns:a16="http://schemas.microsoft.com/office/drawing/2014/main" id="{70B3F8FE-2167-08EC-0A75-04C88D923503}"/>
                </a:ext>
              </a:extLst>
            </p:cNvPr>
            <p:cNvCxnSpPr>
              <a:stCxn id="27" idx="2"/>
            </p:cNvCxnSpPr>
            <p:nvPr/>
          </p:nvCxnSpPr>
          <p:spPr>
            <a:xfrm rot="16200000" flipH="1">
              <a:off x="7304443" y="1981329"/>
              <a:ext cx="488552" cy="871903"/>
            </a:xfrm>
            <a:prstGeom prst="bentConnector2">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11">
              <a:extLst>
                <a:ext uri="{FF2B5EF4-FFF2-40B4-BE49-F238E27FC236}">
                  <a16:creationId xmlns:a16="http://schemas.microsoft.com/office/drawing/2014/main" id="{1F4273D4-4B8E-1C0A-0492-142CFBB1BEAF}"/>
                </a:ext>
              </a:extLst>
            </p:cNvPr>
            <p:cNvCxnSpPr>
              <a:stCxn id="35" idx="2"/>
            </p:cNvCxnSpPr>
            <p:nvPr/>
          </p:nvCxnSpPr>
          <p:spPr>
            <a:xfrm rot="5400000">
              <a:off x="9127617" y="2026102"/>
              <a:ext cx="504881" cy="798686"/>
            </a:xfrm>
            <a:prstGeom prst="bentConnector2">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 name="Elbow Connector 13">
              <a:extLst>
                <a:ext uri="{FF2B5EF4-FFF2-40B4-BE49-F238E27FC236}">
                  <a16:creationId xmlns:a16="http://schemas.microsoft.com/office/drawing/2014/main" id="{72F60728-F025-340A-D0CB-B29F0C9E5E9E}"/>
                </a:ext>
              </a:extLst>
            </p:cNvPr>
            <p:cNvCxnSpPr>
              <a:cxnSpLocks/>
              <a:endCxn id="38" idx="0"/>
            </p:cNvCxnSpPr>
            <p:nvPr/>
          </p:nvCxnSpPr>
          <p:spPr>
            <a:xfrm>
              <a:off x="8890171" y="3560964"/>
              <a:ext cx="1990075" cy="672720"/>
            </a:xfrm>
            <a:prstGeom prst="bentConnector2">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77E93DAB-FF45-E5D4-F15F-F41F8EB0A721}"/>
                </a:ext>
              </a:extLst>
            </p:cNvPr>
            <p:cNvCxnSpPr>
              <a:cxnSpLocks/>
              <a:endCxn id="39" idx="0"/>
            </p:cNvCxnSpPr>
            <p:nvPr/>
          </p:nvCxnSpPr>
          <p:spPr>
            <a:xfrm rot="10800000" flipV="1">
              <a:off x="6243828" y="3560964"/>
              <a:ext cx="1763658" cy="672720"/>
            </a:xfrm>
            <a:prstGeom prst="bentConnector2">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9449486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E260796-B462-4167-81B6-233AC12D2AF9}"/>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51</a:t>
            </a:fld>
            <a:endParaRPr lang="en-US"/>
          </a:p>
        </p:txBody>
      </p:sp>
      <p:sp>
        <p:nvSpPr>
          <p:cNvPr id="2" name="Title 1"/>
          <p:cNvSpPr>
            <a:spLocks noGrp="1"/>
          </p:cNvSpPr>
          <p:nvPr>
            <p:ph type="title"/>
          </p:nvPr>
        </p:nvSpPr>
        <p:spPr/>
        <p:txBody>
          <a:bodyPr/>
          <a:lstStyle/>
          <a:p>
            <a:r>
              <a:rPr lang="en-US"/>
              <a:t>Types of load balancers</a:t>
            </a:r>
          </a:p>
        </p:txBody>
      </p:sp>
      <p:pic>
        <p:nvPicPr>
          <p:cNvPr id="15" name="Picture 14" descr="Characteristics of application, network, and classic load balancers.">
            <a:extLst>
              <a:ext uri="{FF2B5EF4-FFF2-40B4-BE49-F238E27FC236}">
                <a16:creationId xmlns:a16="http://schemas.microsoft.com/office/drawing/2014/main" id="{EB728CC3-398B-4F8E-A818-5E9360D9A0BD}"/>
              </a:ext>
            </a:extLst>
          </p:cNvPr>
          <p:cNvPicPr>
            <a:picLocks noChangeAspect="1"/>
          </p:cNvPicPr>
          <p:nvPr/>
        </p:nvPicPr>
        <p:blipFill>
          <a:blip r:embed="rId4"/>
          <a:stretch>
            <a:fillRect/>
          </a:stretch>
        </p:blipFill>
        <p:spPr>
          <a:xfrm>
            <a:off x="1282141" y="1881278"/>
            <a:ext cx="9627716" cy="3904093"/>
          </a:xfrm>
          <a:prstGeom prst="rect">
            <a:avLst/>
          </a:prstGeom>
        </p:spPr>
      </p:pic>
    </p:spTree>
    <p:custDataLst>
      <p:tags r:id="rId1"/>
    </p:custDataLst>
    <p:extLst>
      <p:ext uri="{BB962C8B-B14F-4D97-AF65-F5344CB8AC3E}">
        <p14:creationId xmlns:p14="http://schemas.microsoft.com/office/powerpoint/2010/main" val="14208229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59265A-2ADD-1007-B578-C892CE9397BC}"/>
              </a:ext>
            </a:extLst>
          </p:cNvPr>
          <p:cNvSpPr>
            <a:spLocks noGrp="1"/>
          </p:cNvSpPr>
          <p:nvPr>
            <p:ph type="sldNum" sz="quarter" idx="20"/>
          </p:nvPr>
        </p:nvSpPr>
        <p:spPr/>
        <p:txBody>
          <a:bodyPr/>
          <a:lstStyle/>
          <a:p>
            <a:fld id="{930176A1-BCF0-4712-97A6-6B495F55390B}" type="slidenum">
              <a:rPr lang="en-US" smtClean="0"/>
              <a:pPr/>
              <a:t>52</a:t>
            </a:fld>
            <a:endParaRPr lang="en-US"/>
          </a:p>
        </p:txBody>
      </p:sp>
      <p:sp>
        <p:nvSpPr>
          <p:cNvPr id="3" name="Title 2">
            <a:extLst>
              <a:ext uri="{FF2B5EF4-FFF2-40B4-BE49-F238E27FC236}">
                <a16:creationId xmlns:a16="http://schemas.microsoft.com/office/drawing/2014/main" id="{9FB683DB-E27C-0469-6C4E-C73B06A1EA00}"/>
              </a:ext>
            </a:extLst>
          </p:cNvPr>
          <p:cNvSpPr>
            <a:spLocks noGrp="1"/>
          </p:cNvSpPr>
          <p:nvPr>
            <p:ph type="title"/>
          </p:nvPr>
        </p:nvSpPr>
        <p:spPr/>
        <p:txBody>
          <a:bodyPr/>
          <a:lstStyle/>
          <a:p>
            <a:r>
              <a:rPr lang="en-US" dirty="0"/>
              <a:t>Application Load Balancer</a:t>
            </a:r>
          </a:p>
        </p:txBody>
      </p:sp>
      <p:sp>
        <p:nvSpPr>
          <p:cNvPr id="4" name="Content Placeholder 3">
            <a:extLst>
              <a:ext uri="{FF2B5EF4-FFF2-40B4-BE49-F238E27FC236}">
                <a16:creationId xmlns:a16="http://schemas.microsoft.com/office/drawing/2014/main" id="{7F4C1F3F-79DB-929F-9B32-77E09C5C97F9}"/>
              </a:ext>
            </a:extLst>
          </p:cNvPr>
          <p:cNvSpPr>
            <a:spLocks noGrp="1"/>
          </p:cNvSpPr>
          <p:nvPr>
            <p:ph sz="quarter" idx="21"/>
          </p:nvPr>
        </p:nvSpPr>
        <p:spPr/>
        <p:txBody>
          <a:bodyPr/>
          <a:lstStyle/>
          <a:p>
            <a:r>
              <a:rPr lang="en-US" dirty="0"/>
              <a:t>“How may I direct your call?”</a:t>
            </a:r>
          </a:p>
        </p:txBody>
      </p:sp>
      <p:pic>
        <p:nvPicPr>
          <p:cNvPr id="6" name="Picture 5" descr="A person wearing headphones and touching a switchboard&#10;&#10;AI-generated content may be incorrect.">
            <a:extLst>
              <a:ext uri="{FF2B5EF4-FFF2-40B4-BE49-F238E27FC236}">
                <a16:creationId xmlns:a16="http://schemas.microsoft.com/office/drawing/2014/main" id="{8F015192-65DA-DAF0-F673-8F2ABB078E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6912" y="1428307"/>
            <a:ext cx="6534608" cy="5006444"/>
          </a:xfrm>
          <a:prstGeom prst="rect">
            <a:avLst/>
          </a:prstGeom>
        </p:spPr>
      </p:pic>
    </p:spTree>
    <p:extLst>
      <p:ext uri="{BB962C8B-B14F-4D97-AF65-F5344CB8AC3E}">
        <p14:creationId xmlns:p14="http://schemas.microsoft.com/office/powerpoint/2010/main" val="10229302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A7BED1-661B-6AB0-D667-50D07DEF9EB0}"/>
              </a:ext>
            </a:extLst>
          </p:cNvPr>
          <p:cNvSpPr>
            <a:spLocks noGrp="1"/>
          </p:cNvSpPr>
          <p:nvPr>
            <p:ph type="sldNum" sz="quarter" idx="20"/>
          </p:nvPr>
        </p:nvSpPr>
        <p:spPr/>
        <p:txBody>
          <a:bodyPr/>
          <a:lstStyle/>
          <a:p>
            <a:fld id="{930176A1-BCF0-4712-97A6-6B495F55390B}" type="slidenum">
              <a:rPr lang="en-US" smtClean="0"/>
              <a:pPr/>
              <a:t>53</a:t>
            </a:fld>
            <a:endParaRPr lang="en-US"/>
          </a:p>
        </p:txBody>
      </p:sp>
      <p:sp>
        <p:nvSpPr>
          <p:cNvPr id="3" name="Title 2">
            <a:extLst>
              <a:ext uri="{FF2B5EF4-FFF2-40B4-BE49-F238E27FC236}">
                <a16:creationId xmlns:a16="http://schemas.microsoft.com/office/drawing/2014/main" id="{7DF18144-5089-039A-1891-EF0DDFE8D1CF}"/>
              </a:ext>
            </a:extLst>
          </p:cNvPr>
          <p:cNvSpPr>
            <a:spLocks noGrp="1"/>
          </p:cNvSpPr>
          <p:nvPr>
            <p:ph type="title"/>
          </p:nvPr>
        </p:nvSpPr>
        <p:spPr/>
        <p:txBody>
          <a:bodyPr/>
          <a:lstStyle/>
          <a:p>
            <a:r>
              <a:rPr lang="en-US" dirty="0"/>
              <a:t>Network Load Balancer</a:t>
            </a:r>
          </a:p>
        </p:txBody>
      </p:sp>
      <p:sp>
        <p:nvSpPr>
          <p:cNvPr id="4" name="Content Placeholder 3">
            <a:extLst>
              <a:ext uri="{FF2B5EF4-FFF2-40B4-BE49-F238E27FC236}">
                <a16:creationId xmlns:a16="http://schemas.microsoft.com/office/drawing/2014/main" id="{A0DB1F3A-6C90-081D-8921-4D7DE582F7D5}"/>
              </a:ext>
            </a:extLst>
          </p:cNvPr>
          <p:cNvSpPr>
            <a:spLocks noGrp="1"/>
          </p:cNvSpPr>
          <p:nvPr>
            <p:ph sz="quarter" idx="21"/>
          </p:nvPr>
        </p:nvSpPr>
        <p:spPr/>
        <p:txBody>
          <a:bodyPr/>
          <a:lstStyle/>
          <a:p>
            <a:r>
              <a:rPr lang="en-US" dirty="0"/>
              <a:t>“How can I process this the fastest?”</a:t>
            </a:r>
          </a:p>
        </p:txBody>
      </p:sp>
      <p:pic>
        <p:nvPicPr>
          <p:cNvPr id="6" name="Picture 5" descr="A store with cash register&#10;&#10;AI-generated content may be incorrect.">
            <a:extLst>
              <a:ext uri="{FF2B5EF4-FFF2-40B4-BE49-F238E27FC236}">
                <a16:creationId xmlns:a16="http://schemas.microsoft.com/office/drawing/2014/main" id="{ED2A45A2-8ADF-69C5-B397-08E81A56AB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2593" y="1828800"/>
            <a:ext cx="6908925" cy="4605950"/>
          </a:xfrm>
          <a:prstGeom prst="rect">
            <a:avLst/>
          </a:prstGeom>
        </p:spPr>
      </p:pic>
    </p:spTree>
    <p:extLst>
      <p:ext uri="{BB962C8B-B14F-4D97-AF65-F5344CB8AC3E}">
        <p14:creationId xmlns:p14="http://schemas.microsoft.com/office/powerpoint/2010/main" val="6884136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7E73C1-2736-2236-D20E-B1DF33E7228B}"/>
              </a:ext>
            </a:extLst>
          </p:cNvPr>
          <p:cNvSpPr>
            <a:spLocks noGrp="1"/>
          </p:cNvSpPr>
          <p:nvPr>
            <p:ph type="sldNum" sz="quarter" idx="20"/>
          </p:nvPr>
        </p:nvSpPr>
        <p:spPr/>
        <p:txBody>
          <a:bodyPr/>
          <a:lstStyle/>
          <a:p>
            <a:fld id="{930176A1-BCF0-4712-97A6-6B495F55390B}" type="slidenum">
              <a:rPr lang="en-US" smtClean="0"/>
              <a:pPr/>
              <a:t>54</a:t>
            </a:fld>
            <a:endParaRPr lang="en-US"/>
          </a:p>
        </p:txBody>
      </p:sp>
      <p:sp>
        <p:nvSpPr>
          <p:cNvPr id="3" name="Title 2">
            <a:extLst>
              <a:ext uri="{FF2B5EF4-FFF2-40B4-BE49-F238E27FC236}">
                <a16:creationId xmlns:a16="http://schemas.microsoft.com/office/drawing/2014/main" id="{62389EFB-8C92-A00F-C28B-F0C927357CD7}"/>
              </a:ext>
            </a:extLst>
          </p:cNvPr>
          <p:cNvSpPr>
            <a:spLocks noGrp="1"/>
          </p:cNvSpPr>
          <p:nvPr>
            <p:ph type="title"/>
          </p:nvPr>
        </p:nvSpPr>
        <p:spPr/>
        <p:txBody>
          <a:bodyPr/>
          <a:lstStyle/>
          <a:p>
            <a:r>
              <a:rPr lang="en-US" dirty="0"/>
              <a:t>Classic Load Balancer</a:t>
            </a:r>
          </a:p>
        </p:txBody>
      </p:sp>
      <p:sp>
        <p:nvSpPr>
          <p:cNvPr id="4" name="Content Placeholder 3">
            <a:extLst>
              <a:ext uri="{FF2B5EF4-FFF2-40B4-BE49-F238E27FC236}">
                <a16:creationId xmlns:a16="http://schemas.microsoft.com/office/drawing/2014/main" id="{B8F71118-8E91-7DE2-09E2-CF0A8CC83141}"/>
              </a:ext>
            </a:extLst>
          </p:cNvPr>
          <p:cNvSpPr>
            <a:spLocks noGrp="1"/>
          </p:cNvSpPr>
          <p:nvPr>
            <p:ph sz="quarter" idx="21"/>
          </p:nvPr>
        </p:nvSpPr>
        <p:spPr/>
        <p:txBody>
          <a:bodyPr/>
          <a:lstStyle/>
          <a:p>
            <a:r>
              <a:rPr lang="en-US" dirty="0"/>
              <a:t>“I can do it all but it’s going to be slower and crummier!”</a:t>
            </a:r>
          </a:p>
        </p:txBody>
      </p:sp>
      <p:pic>
        <p:nvPicPr>
          <p:cNvPr id="6" name="Picture 5" descr="A person with many arms&#10;&#10;AI-generated content may be incorrect.">
            <a:extLst>
              <a:ext uri="{FF2B5EF4-FFF2-40B4-BE49-F238E27FC236}">
                <a16:creationId xmlns:a16="http://schemas.microsoft.com/office/drawing/2014/main" id="{DD3C2BC0-FC05-3B28-46FC-227E603332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1815" y="1520445"/>
            <a:ext cx="4981135" cy="4981135"/>
          </a:xfrm>
          <a:prstGeom prst="rect">
            <a:avLst/>
          </a:prstGeom>
        </p:spPr>
      </p:pic>
    </p:spTree>
    <p:extLst>
      <p:ext uri="{BB962C8B-B14F-4D97-AF65-F5344CB8AC3E}">
        <p14:creationId xmlns:p14="http://schemas.microsoft.com/office/powerpoint/2010/main" val="39459403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C2783DA-BCBE-C9A9-FAE1-C6D6491F61BE}"/>
              </a:ext>
            </a:extLst>
          </p:cNvPr>
          <p:cNvSpPr>
            <a:spLocks noGrp="1"/>
          </p:cNvSpPr>
          <p:nvPr>
            <p:ph type="sldNum" sz="quarter" idx="20"/>
          </p:nvPr>
        </p:nvSpPr>
        <p:spPr/>
        <p:txBody>
          <a:bodyPr/>
          <a:lstStyle/>
          <a:p>
            <a:fld id="{930176A1-BCF0-4712-97A6-6B495F55390B}" type="slidenum">
              <a:rPr lang="en-US" smtClean="0"/>
              <a:pPr/>
              <a:t>55</a:t>
            </a:fld>
            <a:endParaRPr lang="en-US"/>
          </a:p>
        </p:txBody>
      </p:sp>
      <p:sp>
        <p:nvSpPr>
          <p:cNvPr id="2" name="Title 1">
            <a:extLst>
              <a:ext uri="{FF2B5EF4-FFF2-40B4-BE49-F238E27FC236}">
                <a16:creationId xmlns:a16="http://schemas.microsoft.com/office/drawing/2014/main" id="{45EF6EBB-1321-4F31-A2B5-7AE2D1B4358B}"/>
              </a:ext>
            </a:extLst>
          </p:cNvPr>
          <p:cNvSpPr>
            <a:spLocks noGrp="1"/>
          </p:cNvSpPr>
          <p:nvPr>
            <p:ph type="title"/>
          </p:nvPr>
        </p:nvSpPr>
        <p:spPr/>
        <p:txBody>
          <a:bodyPr/>
          <a:lstStyle/>
          <a:p>
            <a:r>
              <a:rPr lang="en-US"/>
              <a:t>How Elastic Load Balancing works</a:t>
            </a:r>
          </a:p>
        </p:txBody>
      </p:sp>
      <p:sp>
        <p:nvSpPr>
          <p:cNvPr id="5" name="TextBox 4">
            <a:extLst>
              <a:ext uri="{FF2B5EF4-FFF2-40B4-BE49-F238E27FC236}">
                <a16:creationId xmlns:a16="http://schemas.microsoft.com/office/drawing/2014/main" id="{6697CCEF-94CE-4953-8A26-5CBF3CAC5CA3}"/>
              </a:ext>
            </a:extLst>
          </p:cNvPr>
          <p:cNvSpPr txBox="1"/>
          <p:nvPr/>
        </p:nvSpPr>
        <p:spPr>
          <a:xfrm>
            <a:off x="50978" y="1166292"/>
            <a:ext cx="3509725" cy="3477875"/>
          </a:xfrm>
          <a:prstGeom prst="rect">
            <a:avLst/>
          </a:prstGeom>
          <a:noFill/>
          <a:ln>
            <a:solidFill>
              <a:srgbClr val="504BAB"/>
            </a:solidFill>
          </a:ln>
        </p:spPr>
        <p:txBody>
          <a:bodyPr wrap="square" rtlCol="0">
            <a:spAutoFit/>
          </a:bodyPr>
          <a:lstStyle/>
          <a:p>
            <a:pPr marL="342900" indent="-342900">
              <a:buFont typeface="Arial" panose="020B0604020202020204" pitchFamily="34" charset="0"/>
              <a:buChar char="•"/>
            </a:pPr>
            <a:r>
              <a:rPr lang="en-US" sz="2000"/>
              <a:t>With Application Load Balancers and Network Load Balancers, you </a:t>
            </a:r>
            <a:r>
              <a:rPr lang="en-US" sz="2000">
                <a:solidFill>
                  <a:srgbClr val="504BAB"/>
                </a:solidFill>
              </a:rPr>
              <a:t>register targets in target groups</a:t>
            </a:r>
            <a:r>
              <a:rPr lang="en-US" sz="2000"/>
              <a:t>, and route traffic to the target groups.</a:t>
            </a:r>
            <a:br>
              <a:rPr lang="en-US" sz="2000"/>
            </a:br>
            <a:endParaRPr lang="en-US" sz="2000"/>
          </a:p>
          <a:p>
            <a:pPr marL="342900" indent="-342900">
              <a:buFont typeface="Arial" panose="020B0604020202020204" pitchFamily="34" charset="0"/>
              <a:buChar char="•"/>
            </a:pPr>
            <a:r>
              <a:rPr lang="en-US" sz="2000"/>
              <a:t>With Classic Load Balancers, you </a:t>
            </a:r>
            <a:r>
              <a:rPr lang="en-US" sz="2000">
                <a:solidFill>
                  <a:srgbClr val="504BAB"/>
                </a:solidFill>
              </a:rPr>
              <a:t>register instances with the load balancer</a:t>
            </a:r>
            <a:r>
              <a:rPr lang="en-US" sz="2000"/>
              <a:t>.</a:t>
            </a:r>
          </a:p>
        </p:txBody>
      </p:sp>
      <p:grpSp>
        <p:nvGrpSpPr>
          <p:cNvPr id="6" name="Group 5" descr="Load balancers in different Availability Zones accept traffic from clients, check for connection requests, perform health checks to monitor the health of registered targets. The the load balancer routes traffic only to healthy targets.">
            <a:extLst>
              <a:ext uri="{FF2B5EF4-FFF2-40B4-BE49-F238E27FC236}">
                <a16:creationId xmlns:a16="http://schemas.microsoft.com/office/drawing/2014/main" id="{A9F278FF-8208-4372-8A37-A40CF8C1558A}"/>
              </a:ext>
            </a:extLst>
          </p:cNvPr>
          <p:cNvGrpSpPr/>
          <p:nvPr/>
        </p:nvGrpSpPr>
        <p:grpSpPr>
          <a:xfrm>
            <a:off x="1842862" y="1248910"/>
            <a:ext cx="10060925" cy="5071646"/>
            <a:chOff x="1842862" y="1248910"/>
            <a:chExt cx="10060925" cy="5071646"/>
          </a:xfrm>
        </p:grpSpPr>
        <p:sp>
          <p:nvSpPr>
            <p:cNvPr id="7" name="TextBox 6">
              <a:extLst>
                <a:ext uri="{FF2B5EF4-FFF2-40B4-BE49-F238E27FC236}">
                  <a16:creationId xmlns:a16="http://schemas.microsoft.com/office/drawing/2014/main" id="{487C1B2C-B839-4FC6-9462-4AB47F9B8EE5}"/>
                </a:ext>
              </a:extLst>
            </p:cNvPr>
            <p:cNvSpPr txBox="1"/>
            <p:nvPr/>
          </p:nvSpPr>
          <p:spPr>
            <a:xfrm>
              <a:off x="1842862" y="4997117"/>
              <a:ext cx="1949811" cy="1323439"/>
            </a:xfrm>
            <a:prstGeom prst="rect">
              <a:avLst/>
            </a:prstGeom>
            <a:noFill/>
          </p:spPr>
          <p:txBody>
            <a:bodyPr wrap="squar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Load balancer performs health checks to monitor health of registered targets.</a:t>
              </a:r>
            </a:p>
          </p:txBody>
        </p:sp>
        <p:sp>
          <p:nvSpPr>
            <p:cNvPr id="8" name="Rounded Rectangle 44">
              <a:extLst>
                <a:ext uri="{FF2B5EF4-FFF2-40B4-BE49-F238E27FC236}">
                  <a16:creationId xmlns:a16="http://schemas.microsoft.com/office/drawing/2014/main" id="{E75814F9-C1B1-45F5-8AF4-33D0DCD8D380}"/>
                </a:ext>
              </a:extLst>
            </p:cNvPr>
            <p:cNvSpPr/>
            <p:nvPr/>
          </p:nvSpPr>
          <p:spPr>
            <a:xfrm>
              <a:off x="4255562" y="3973854"/>
              <a:ext cx="2743200" cy="509829"/>
            </a:xfrm>
            <a:prstGeom prst="roundRect">
              <a:avLst/>
            </a:prstGeom>
            <a:solidFill>
              <a:schemeClr val="accent2"/>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b="1">
                  <a:solidFill>
                    <a:schemeClr val="tx1"/>
                  </a:solidFill>
                </a:rPr>
                <a:t>Listener</a:t>
              </a:r>
              <a:endParaRPr lang="en-US" sz="2133" b="1">
                <a:solidFill>
                  <a:schemeClr val="tx1"/>
                </a:solidFill>
              </a:endParaRPr>
            </a:p>
          </p:txBody>
        </p:sp>
        <p:sp>
          <p:nvSpPr>
            <p:cNvPr id="9" name="Rounded Rectangle 45">
              <a:extLst>
                <a:ext uri="{FF2B5EF4-FFF2-40B4-BE49-F238E27FC236}">
                  <a16:creationId xmlns:a16="http://schemas.microsoft.com/office/drawing/2014/main" id="{D21C91F3-7F44-403D-BC28-4A9678CA5BA9}"/>
                </a:ext>
              </a:extLst>
            </p:cNvPr>
            <p:cNvSpPr/>
            <p:nvPr/>
          </p:nvSpPr>
          <p:spPr>
            <a:xfrm>
              <a:off x="8709093" y="3973854"/>
              <a:ext cx="2743200" cy="509829"/>
            </a:xfrm>
            <a:prstGeom prst="roundRect">
              <a:avLst/>
            </a:prstGeom>
            <a:solidFill>
              <a:schemeClr val="accent2"/>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b="1">
                  <a:solidFill>
                    <a:schemeClr val="tx1"/>
                  </a:solidFill>
                </a:rPr>
                <a:t>Listener</a:t>
              </a:r>
              <a:endParaRPr lang="en-US" sz="2133" b="1">
                <a:solidFill>
                  <a:schemeClr val="tx1"/>
                </a:solidFill>
              </a:endParaRPr>
            </a:p>
          </p:txBody>
        </p:sp>
        <p:sp>
          <p:nvSpPr>
            <p:cNvPr id="10" name="Rounded Rectangle 82">
              <a:extLst>
                <a:ext uri="{FF2B5EF4-FFF2-40B4-BE49-F238E27FC236}">
                  <a16:creationId xmlns:a16="http://schemas.microsoft.com/office/drawing/2014/main" id="{ADDBABE0-91E0-4FF8-B870-2FE0E50C9BB4}"/>
                </a:ext>
              </a:extLst>
            </p:cNvPr>
            <p:cNvSpPr/>
            <p:nvPr/>
          </p:nvSpPr>
          <p:spPr>
            <a:xfrm>
              <a:off x="4335464" y="5515277"/>
              <a:ext cx="883963" cy="387275"/>
            </a:xfrm>
            <a:prstGeom prst="roundRect">
              <a:avLst/>
            </a:prstGeom>
            <a:solidFill>
              <a:schemeClr val="bg1"/>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b="1"/>
                <a:t>Target</a:t>
              </a:r>
            </a:p>
          </p:txBody>
        </p:sp>
        <p:sp>
          <p:nvSpPr>
            <p:cNvPr id="11" name="Rounded Rectangle 83">
              <a:extLst>
                <a:ext uri="{FF2B5EF4-FFF2-40B4-BE49-F238E27FC236}">
                  <a16:creationId xmlns:a16="http://schemas.microsoft.com/office/drawing/2014/main" id="{5A233092-358F-4C71-8EFD-65E3AB5DF388}"/>
                </a:ext>
              </a:extLst>
            </p:cNvPr>
            <p:cNvSpPr/>
            <p:nvPr/>
          </p:nvSpPr>
          <p:spPr>
            <a:xfrm>
              <a:off x="5915066" y="5515277"/>
              <a:ext cx="883963" cy="387275"/>
            </a:xfrm>
            <a:prstGeom prst="roundRect">
              <a:avLst/>
            </a:prstGeom>
            <a:solidFill>
              <a:schemeClr val="bg1"/>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b="1"/>
                <a:t>Target</a:t>
              </a:r>
            </a:p>
          </p:txBody>
        </p:sp>
        <p:sp>
          <p:nvSpPr>
            <p:cNvPr id="12" name="Rounded Rectangle 85">
              <a:extLst>
                <a:ext uri="{FF2B5EF4-FFF2-40B4-BE49-F238E27FC236}">
                  <a16:creationId xmlns:a16="http://schemas.microsoft.com/office/drawing/2014/main" id="{0378F361-D1B9-4DDF-8968-E4EF40A7054E}"/>
                </a:ext>
              </a:extLst>
            </p:cNvPr>
            <p:cNvSpPr/>
            <p:nvPr/>
          </p:nvSpPr>
          <p:spPr>
            <a:xfrm>
              <a:off x="8624374" y="5515277"/>
              <a:ext cx="883963" cy="387275"/>
            </a:xfrm>
            <a:prstGeom prst="roundRect">
              <a:avLst/>
            </a:prstGeom>
            <a:solidFill>
              <a:schemeClr val="bg1"/>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b="1"/>
                <a:t>Target</a:t>
              </a:r>
            </a:p>
          </p:txBody>
        </p:sp>
        <p:sp>
          <p:nvSpPr>
            <p:cNvPr id="13" name="Rounded Rectangle 87">
              <a:extLst>
                <a:ext uri="{FF2B5EF4-FFF2-40B4-BE49-F238E27FC236}">
                  <a16:creationId xmlns:a16="http://schemas.microsoft.com/office/drawing/2014/main" id="{FF5B7D3A-8C61-4412-9B98-05F23CAEFE0A}"/>
                </a:ext>
              </a:extLst>
            </p:cNvPr>
            <p:cNvSpPr/>
            <p:nvPr/>
          </p:nvSpPr>
          <p:spPr>
            <a:xfrm>
              <a:off x="10662408" y="5515277"/>
              <a:ext cx="883963" cy="387275"/>
            </a:xfrm>
            <a:prstGeom prst="roundRect">
              <a:avLst/>
            </a:prstGeom>
            <a:solidFill>
              <a:schemeClr val="bg1"/>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b="1"/>
                <a:t>Target</a:t>
              </a:r>
            </a:p>
          </p:txBody>
        </p:sp>
        <p:pic>
          <p:nvPicPr>
            <p:cNvPr id="14" name="Graphic 13">
              <a:extLst>
                <a:ext uri="{FF2B5EF4-FFF2-40B4-BE49-F238E27FC236}">
                  <a16:creationId xmlns:a16="http://schemas.microsoft.com/office/drawing/2014/main" id="{A55D47C9-7D03-481D-A40D-FC929173A6CF}"/>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99767" y="1320621"/>
              <a:ext cx="731520" cy="731520"/>
            </a:xfrm>
            <a:prstGeom prst="rect">
              <a:avLst/>
            </a:prstGeom>
          </p:spPr>
        </p:pic>
        <p:cxnSp>
          <p:nvCxnSpPr>
            <p:cNvPr id="15" name="Connector: Elbow 14">
              <a:extLst>
                <a:ext uri="{FF2B5EF4-FFF2-40B4-BE49-F238E27FC236}">
                  <a16:creationId xmlns:a16="http://schemas.microsoft.com/office/drawing/2014/main" id="{66A70AAF-B965-408E-BB4C-D19D3A1857C9}"/>
                </a:ext>
              </a:extLst>
            </p:cNvPr>
            <p:cNvCxnSpPr>
              <a:cxnSpLocks/>
              <a:endCxn id="10" idx="0"/>
            </p:cNvCxnSpPr>
            <p:nvPr/>
          </p:nvCxnSpPr>
          <p:spPr>
            <a:xfrm rot="5400000">
              <a:off x="4542017" y="4644163"/>
              <a:ext cx="1106543" cy="63568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319F25F0-E595-4566-AC09-8BB5EC617A4D}"/>
                </a:ext>
              </a:extLst>
            </p:cNvPr>
            <p:cNvCxnSpPr>
              <a:cxnSpLocks/>
              <a:stCxn id="9" idx="2"/>
              <a:endCxn id="12" idx="0"/>
            </p:cNvCxnSpPr>
            <p:nvPr/>
          </p:nvCxnSpPr>
          <p:spPr>
            <a:xfrm rot="5400000">
              <a:off x="9057728" y="4492312"/>
              <a:ext cx="1031594" cy="101433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DBE75D3B-E1E5-46A2-9A69-32CDAE3B09D2}"/>
                </a:ext>
              </a:extLst>
            </p:cNvPr>
            <p:cNvCxnSpPr>
              <a:stCxn id="9" idx="2"/>
              <a:endCxn id="19" idx="0"/>
            </p:cNvCxnSpPr>
            <p:nvPr/>
          </p:nvCxnSpPr>
          <p:spPr>
            <a:xfrm rot="5400000">
              <a:off x="9564189" y="4998773"/>
              <a:ext cx="1031594" cy="141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EB6B5A75-54A1-464D-8E94-72DA19313C2C}"/>
                </a:ext>
              </a:extLst>
            </p:cNvPr>
            <p:cNvCxnSpPr>
              <a:cxnSpLocks/>
              <a:stCxn id="9" idx="2"/>
              <a:endCxn id="13" idx="0"/>
            </p:cNvCxnSpPr>
            <p:nvPr/>
          </p:nvCxnSpPr>
          <p:spPr>
            <a:xfrm rot="16200000" flipH="1">
              <a:off x="10076744" y="4487631"/>
              <a:ext cx="1031594" cy="102369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ounded Rectangle 86">
              <a:extLst>
                <a:ext uri="{FF2B5EF4-FFF2-40B4-BE49-F238E27FC236}">
                  <a16:creationId xmlns:a16="http://schemas.microsoft.com/office/drawing/2014/main" id="{45D5F7FD-7433-439B-A9C1-6FEBE2F87274}"/>
                </a:ext>
              </a:extLst>
            </p:cNvPr>
            <p:cNvSpPr/>
            <p:nvPr/>
          </p:nvSpPr>
          <p:spPr>
            <a:xfrm>
              <a:off x="9637296" y="5515277"/>
              <a:ext cx="883963" cy="387275"/>
            </a:xfrm>
            <a:prstGeom prst="roundRect">
              <a:avLst/>
            </a:prstGeom>
            <a:solidFill>
              <a:schemeClr val="bg1"/>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b="1"/>
                <a:t>Target</a:t>
              </a:r>
            </a:p>
          </p:txBody>
        </p:sp>
        <p:sp>
          <p:nvSpPr>
            <p:cNvPr id="20" name="Rectangle 19">
              <a:extLst>
                <a:ext uri="{FF2B5EF4-FFF2-40B4-BE49-F238E27FC236}">
                  <a16:creationId xmlns:a16="http://schemas.microsoft.com/office/drawing/2014/main" id="{DC133BD8-F21A-44CD-A95B-C29B43B74BAC}"/>
                </a:ext>
              </a:extLst>
            </p:cNvPr>
            <p:cNvSpPr/>
            <p:nvPr/>
          </p:nvSpPr>
          <p:spPr>
            <a:xfrm>
              <a:off x="3975783" y="2656759"/>
              <a:ext cx="3200400" cy="3360542"/>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rial" panose="020B0604020202020204"/>
                  <a:ea typeface="+mn-ea"/>
                  <a:cs typeface="+mn-cs"/>
                </a:rPr>
                <a:t>Availability Zone A</a:t>
              </a:r>
            </a:p>
          </p:txBody>
        </p:sp>
        <p:sp>
          <p:nvSpPr>
            <p:cNvPr id="21" name="Rectangle 20">
              <a:extLst>
                <a:ext uri="{FF2B5EF4-FFF2-40B4-BE49-F238E27FC236}">
                  <a16:creationId xmlns:a16="http://schemas.microsoft.com/office/drawing/2014/main" id="{7B274339-2FDF-495C-8FA8-66AA9B5BD636}"/>
                </a:ext>
              </a:extLst>
            </p:cNvPr>
            <p:cNvSpPr/>
            <p:nvPr/>
          </p:nvSpPr>
          <p:spPr>
            <a:xfrm>
              <a:off x="8447408" y="2656760"/>
              <a:ext cx="3291840" cy="3360542"/>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rial" panose="020B0604020202020204"/>
                  <a:ea typeface="+mn-ea"/>
                  <a:cs typeface="+mn-cs"/>
                </a:rPr>
                <a:t>Availability Zone B</a:t>
              </a:r>
            </a:p>
          </p:txBody>
        </p:sp>
        <p:pic>
          <p:nvPicPr>
            <p:cNvPr id="22" name="Graphic 21">
              <a:extLst>
                <a:ext uri="{FF2B5EF4-FFF2-40B4-BE49-F238E27FC236}">
                  <a16:creationId xmlns:a16="http://schemas.microsoft.com/office/drawing/2014/main" id="{F8C3179F-F610-476C-A857-75FAC3B4BFEE}"/>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44574" y="2130468"/>
              <a:ext cx="457200" cy="457200"/>
            </a:xfrm>
            <a:prstGeom prst="rect">
              <a:avLst/>
            </a:prstGeom>
          </p:spPr>
        </p:pic>
        <p:sp>
          <p:nvSpPr>
            <p:cNvPr id="23" name="Rectangle 22">
              <a:extLst>
                <a:ext uri="{FF2B5EF4-FFF2-40B4-BE49-F238E27FC236}">
                  <a16:creationId xmlns:a16="http://schemas.microsoft.com/office/drawing/2014/main" id="{5DE9604E-CDEB-478C-B1A7-CEB0EEE94F7C}"/>
                </a:ext>
              </a:extLst>
            </p:cNvPr>
            <p:cNvSpPr/>
            <p:nvPr/>
          </p:nvSpPr>
          <p:spPr>
            <a:xfrm>
              <a:off x="3844572" y="2130466"/>
              <a:ext cx="8059215" cy="397764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ln w="0"/>
                  <a:solidFill>
                    <a:sysClr val="windowText" lastClr="000000"/>
                  </a:solidFill>
                </a:rPr>
                <a:t> AWS Cloud</a:t>
              </a:r>
            </a:p>
          </p:txBody>
        </p:sp>
        <p:pic>
          <p:nvPicPr>
            <p:cNvPr id="24" name="Graphic 23">
              <a:extLst>
                <a:ext uri="{FF2B5EF4-FFF2-40B4-BE49-F238E27FC236}">
                  <a16:creationId xmlns:a16="http://schemas.microsoft.com/office/drawing/2014/main" id="{3BDD4E48-2D32-4783-8498-86E9FBAA0686}"/>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93120" y="3133752"/>
              <a:ext cx="457200" cy="457200"/>
            </a:xfrm>
            <a:prstGeom prst="rect">
              <a:avLst/>
            </a:prstGeom>
          </p:spPr>
        </p:pic>
        <p:pic>
          <p:nvPicPr>
            <p:cNvPr id="25" name="Graphic 24">
              <a:extLst>
                <a:ext uri="{FF2B5EF4-FFF2-40B4-BE49-F238E27FC236}">
                  <a16:creationId xmlns:a16="http://schemas.microsoft.com/office/drawing/2014/main" id="{B0C8EAC2-1BFC-4398-8599-A61E5A4A216F}"/>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49738" y="3133752"/>
              <a:ext cx="457200" cy="457200"/>
            </a:xfrm>
            <a:prstGeom prst="rect">
              <a:avLst/>
            </a:prstGeom>
          </p:spPr>
        </p:pic>
        <p:cxnSp>
          <p:nvCxnSpPr>
            <p:cNvPr id="26" name="Straight Arrow Connector 25">
              <a:extLst>
                <a:ext uri="{FF2B5EF4-FFF2-40B4-BE49-F238E27FC236}">
                  <a16:creationId xmlns:a16="http://schemas.microsoft.com/office/drawing/2014/main" id="{92F191E2-2A19-4FBF-BAD1-E15E68B1E3C0}"/>
                </a:ext>
              </a:extLst>
            </p:cNvPr>
            <p:cNvCxnSpPr>
              <a:stCxn id="24" idx="2"/>
              <a:endCxn id="8" idx="0"/>
            </p:cNvCxnSpPr>
            <p:nvPr/>
          </p:nvCxnSpPr>
          <p:spPr>
            <a:xfrm>
              <a:off x="5621720" y="3590952"/>
              <a:ext cx="5442" cy="382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D5599C5-9878-4B4F-A742-A3C86D5F63C6}"/>
                </a:ext>
              </a:extLst>
            </p:cNvPr>
            <p:cNvCxnSpPr>
              <a:stCxn id="25" idx="2"/>
              <a:endCxn id="9" idx="0"/>
            </p:cNvCxnSpPr>
            <p:nvPr/>
          </p:nvCxnSpPr>
          <p:spPr>
            <a:xfrm>
              <a:off x="10078338" y="3590952"/>
              <a:ext cx="2355" cy="382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DC9864A2-5830-48B8-B82B-E7DF5116668D}"/>
                </a:ext>
              </a:extLst>
            </p:cNvPr>
            <p:cNvCxnSpPr>
              <a:cxnSpLocks/>
              <a:endCxn id="24" idx="3"/>
            </p:cNvCxnSpPr>
            <p:nvPr/>
          </p:nvCxnSpPr>
          <p:spPr>
            <a:xfrm rot="5400000">
              <a:off x="6232799" y="1729623"/>
              <a:ext cx="1250251" cy="201520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432DDC19-B167-4256-9B8D-721B06ABBE35}"/>
                </a:ext>
              </a:extLst>
            </p:cNvPr>
            <p:cNvCxnSpPr>
              <a:cxnSpLocks/>
              <a:endCxn id="25" idx="1"/>
            </p:cNvCxnSpPr>
            <p:nvPr/>
          </p:nvCxnSpPr>
          <p:spPr>
            <a:xfrm rot="16200000" flipH="1">
              <a:off x="8232507" y="1745120"/>
              <a:ext cx="1250251" cy="198421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250E675-822B-480F-8592-45AF2485791E}"/>
                </a:ext>
              </a:extLst>
            </p:cNvPr>
            <p:cNvSpPr txBox="1"/>
            <p:nvPr/>
          </p:nvSpPr>
          <p:spPr>
            <a:xfrm>
              <a:off x="6839904" y="4770654"/>
              <a:ext cx="2066591" cy="830997"/>
            </a:xfrm>
            <a:prstGeom prst="rect">
              <a:avLst/>
            </a:prstGeom>
            <a:solidFill>
              <a:schemeClr val="bg1"/>
            </a:solidFill>
          </p:spPr>
          <p:txBody>
            <a:bodyPr wrap="non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Load balancer routes</a:t>
              </a:r>
              <a:br>
                <a:rPr lang="en-US" sz="160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a:latin typeface="Amazon Ember Light" panose="020B0403020204020204" pitchFamily="34" charset="0"/>
                  <a:ea typeface="Amazon Ember Light" panose="020B0403020204020204" pitchFamily="34" charset="0"/>
                  <a:cs typeface="Amazon Ember Light" panose="020B0403020204020204" pitchFamily="34" charset="0"/>
                </a:rPr>
                <a:t>traffic only to </a:t>
              </a:r>
              <a:br>
                <a:rPr lang="en-US" sz="160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a:latin typeface="Amazon Ember Light" panose="020B0403020204020204" pitchFamily="34" charset="0"/>
                  <a:ea typeface="Amazon Ember Light" panose="020B0403020204020204" pitchFamily="34" charset="0"/>
                  <a:cs typeface="Amazon Ember Light" panose="020B0403020204020204" pitchFamily="34" charset="0"/>
                </a:rPr>
                <a:t>healthy targets.</a:t>
              </a:r>
            </a:p>
          </p:txBody>
        </p:sp>
        <p:sp>
          <p:nvSpPr>
            <p:cNvPr id="31" name="TextBox 30">
              <a:extLst>
                <a:ext uri="{FF2B5EF4-FFF2-40B4-BE49-F238E27FC236}">
                  <a16:creationId xmlns:a16="http://schemas.microsoft.com/office/drawing/2014/main" id="{EB85954C-B4EB-47E0-B660-0A2820E57001}"/>
                </a:ext>
              </a:extLst>
            </p:cNvPr>
            <p:cNvSpPr txBox="1"/>
            <p:nvPr/>
          </p:nvSpPr>
          <p:spPr>
            <a:xfrm>
              <a:off x="6052115" y="5218201"/>
              <a:ext cx="631904" cy="1015663"/>
            </a:xfrm>
            <a:prstGeom prst="rect">
              <a:avLst/>
            </a:prstGeom>
            <a:noFill/>
          </p:spPr>
          <p:txBody>
            <a:bodyPr wrap="none" rtlCol="0">
              <a:spAutoFit/>
            </a:bodyPr>
            <a:lstStyle/>
            <a:p>
              <a:r>
                <a:rPr lang="en-US" sz="6000">
                  <a:solidFill>
                    <a:srgbClr val="FF0000"/>
                  </a:solidFill>
                  <a:latin typeface="Amazon Ember Light" panose="020B0403020204020204" pitchFamily="34" charset="0"/>
                  <a:ea typeface="Amazon Ember Light" panose="020B0403020204020204" pitchFamily="34" charset="0"/>
                  <a:cs typeface="Amazon Ember Light" panose="020B0403020204020204" pitchFamily="34" charset="0"/>
                </a:rPr>
                <a:t>X</a:t>
              </a:r>
            </a:p>
          </p:txBody>
        </p:sp>
        <p:sp>
          <p:nvSpPr>
            <p:cNvPr id="32" name="TextBox 31">
              <a:extLst>
                <a:ext uri="{FF2B5EF4-FFF2-40B4-BE49-F238E27FC236}">
                  <a16:creationId xmlns:a16="http://schemas.microsoft.com/office/drawing/2014/main" id="{E885CE8E-573B-4C52-81B5-A47A1C35FC80}"/>
                </a:ext>
              </a:extLst>
            </p:cNvPr>
            <p:cNvSpPr txBox="1"/>
            <p:nvPr/>
          </p:nvSpPr>
          <p:spPr>
            <a:xfrm>
              <a:off x="4796083" y="5131229"/>
              <a:ext cx="723275" cy="523220"/>
            </a:xfrm>
            <a:prstGeom prst="rect">
              <a:avLst/>
            </a:prstGeom>
            <a:noFill/>
          </p:spPr>
          <p:txBody>
            <a:bodyPr wrap="none" rtlCol="0">
              <a:spAutoFit/>
            </a:bodyPr>
            <a:lstStyle/>
            <a:p>
              <a:pPr marL="457200" indent="-457200">
                <a:buClr>
                  <a:schemeClr val="tx1"/>
                </a:buClr>
                <a:buFont typeface="Wingdings" panose="05000000000000000000" pitchFamily="2" charset="2"/>
                <a:buChar char="ü"/>
              </a:pPr>
              <a:r>
                <a:rPr lang="en-US" sz="28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33" name="TextBox 32">
              <a:extLst>
                <a:ext uri="{FF2B5EF4-FFF2-40B4-BE49-F238E27FC236}">
                  <a16:creationId xmlns:a16="http://schemas.microsoft.com/office/drawing/2014/main" id="{B715F7DB-ADBB-4BE2-8030-341568A292A0}"/>
                </a:ext>
              </a:extLst>
            </p:cNvPr>
            <p:cNvSpPr txBox="1"/>
            <p:nvPr/>
          </p:nvSpPr>
          <p:spPr>
            <a:xfrm>
              <a:off x="9086092" y="5131229"/>
              <a:ext cx="723275" cy="523220"/>
            </a:xfrm>
            <a:prstGeom prst="rect">
              <a:avLst/>
            </a:prstGeom>
            <a:noFill/>
          </p:spPr>
          <p:txBody>
            <a:bodyPr wrap="none" rtlCol="0">
              <a:spAutoFit/>
            </a:bodyPr>
            <a:lstStyle/>
            <a:p>
              <a:pPr marL="457200" indent="-457200">
                <a:buClr>
                  <a:schemeClr val="tx1"/>
                </a:buClr>
                <a:buFont typeface="Wingdings" panose="05000000000000000000" pitchFamily="2" charset="2"/>
                <a:buChar char="ü"/>
              </a:pPr>
              <a:r>
                <a:rPr lang="en-US" sz="28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34" name="TextBox 33">
              <a:extLst>
                <a:ext uri="{FF2B5EF4-FFF2-40B4-BE49-F238E27FC236}">
                  <a16:creationId xmlns:a16="http://schemas.microsoft.com/office/drawing/2014/main" id="{1A79B84B-D1D8-410C-ACCD-050258113C1C}"/>
                </a:ext>
              </a:extLst>
            </p:cNvPr>
            <p:cNvSpPr txBox="1"/>
            <p:nvPr/>
          </p:nvSpPr>
          <p:spPr>
            <a:xfrm>
              <a:off x="10092932" y="5131229"/>
              <a:ext cx="723275" cy="523220"/>
            </a:xfrm>
            <a:prstGeom prst="rect">
              <a:avLst/>
            </a:prstGeom>
            <a:noFill/>
          </p:spPr>
          <p:txBody>
            <a:bodyPr wrap="none" rtlCol="0">
              <a:spAutoFit/>
            </a:bodyPr>
            <a:lstStyle/>
            <a:p>
              <a:pPr marL="457200" indent="-457200">
                <a:buClr>
                  <a:schemeClr val="tx1"/>
                </a:buClr>
                <a:buFont typeface="Wingdings" panose="05000000000000000000" pitchFamily="2" charset="2"/>
                <a:buChar char="ü"/>
              </a:pPr>
              <a:r>
                <a:rPr lang="en-US" sz="28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35" name="TextBox 34">
              <a:extLst>
                <a:ext uri="{FF2B5EF4-FFF2-40B4-BE49-F238E27FC236}">
                  <a16:creationId xmlns:a16="http://schemas.microsoft.com/office/drawing/2014/main" id="{E7E99EEF-1BA8-4A17-AC96-738737BC3363}"/>
                </a:ext>
              </a:extLst>
            </p:cNvPr>
            <p:cNvSpPr txBox="1"/>
            <p:nvPr/>
          </p:nvSpPr>
          <p:spPr>
            <a:xfrm>
              <a:off x="11114761" y="5131229"/>
              <a:ext cx="723275" cy="523220"/>
            </a:xfrm>
            <a:prstGeom prst="rect">
              <a:avLst/>
            </a:prstGeom>
            <a:noFill/>
          </p:spPr>
          <p:txBody>
            <a:bodyPr wrap="none" rtlCol="0">
              <a:spAutoFit/>
            </a:bodyPr>
            <a:lstStyle/>
            <a:p>
              <a:pPr marL="457200" indent="-457200">
                <a:buClr>
                  <a:schemeClr val="tx1"/>
                </a:buClr>
                <a:buFont typeface="Wingdings" panose="05000000000000000000" pitchFamily="2" charset="2"/>
                <a:buChar char="ü"/>
              </a:pPr>
              <a:r>
                <a:rPr lang="en-US" sz="28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t>
              </a:r>
            </a:p>
          </p:txBody>
        </p:sp>
        <p:pic>
          <p:nvPicPr>
            <p:cNvPr id="36" name="Graphic 35">
              <a:extLst>
                <a:ext uri="{FF2B5EF4-FFF2-40B4-BE49-F238E27FC236}">
                  <a16:creationId xmlns:a16="http://schemas.microsoft.com/office/drawing/2014/main" id="{D9B3DD2C-854C-4581-98A6-3C46604F7636}"/>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84019" y="1248910"/>
              <a:ext cx="731520" cy="731520"/>
            </a:xfrm>
            <a:prstGeom prst="rect">
              <a:avLst/>
            </a:prstGeom>
          </p:spPr>
        </p:pic>
        <p:pic>
          <p:nvPicPr>
            <p:cNvPr id="37" name="Graphic 36">
              <a:extLst>
                <a:ext uri="{FF2B5EF4-FFF2-40B4-BE49-F238E27FC236}">
                  <a16:creationId xmlns:a16="http://schemas.microsoft.com/office/drawing/2014/main" id="{007B5CE4-6DBC-4980-B5DA-6707F3425DC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15515" y="1248910"/>
              <a:ext cx="731520" cy="731520"/>
            </a:xfrm>
            <a:prstGeom prst="rect">
              <a:avLst/>
            </a:prstGeom>
          </p:spPr>
        </p:pic>
        <p:sp>
          <p:nvSpPr>
            <p:cNvPr id="38" name="TextBox 37">
              <a:extLst>
                <a:ext uri="{FF2B5EF4-FFF2-40B4-BE49-F238E27FC236}">
                  <a16:creationId xmlns:a16="http://schemas.microsoft.com/office/drawing/2014/main" id="{3D180862-C298-4591-9FBF-35CCC86D8AA1}"/>
                </a:ext>
              </a:extLst>
            </p:cNvPr>
            <p:cNvSpPr txBox="1"/>
            <p:nvPr/>
          </p:nvSpPr>
          <p:spPr>
            <a:xfrm>
              <a:off x="6760842" y="2335553"/>
              <a:ext cx="2226892" cy="830997"/>
            </a:xfrm>
            <a:prstGeom prst="rect">
              <a:avLst/>
            </a:prstGeom>
            <a:solidFill>
              <a:schemeClr val="bg1"/>
            </a:solidFill>
          </p:spPr>
          <p:txBody>
            <a:bodyPr wrap="non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Load balancer accepts </a:t>
              </a:r>
              <a:br>
                <a:rPr lang="en-US" sz="160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a:latin typeface="Amazon Ember Light" panose="020B0403020204020204" pitchFamily="34" charset="0"/>
                  <a:ea typeface="Amazon Ember Light" panose="020B0403020204020204" pitchFamily="34" charset="0"/>
                  <a:cs typeface="Amazon Ember Light" panose="020B0403020204020204" pitchFamily="34" charset="0"/>
                </a:rPr>
                <a:t>incoming traffic </a:t>
              </a:r>
              <a:br>
                <a:rPr lang="en-US" sz="160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a:latin typeface="Amazon Ember Light" panose="020B0403020204020204" pitchFamily="34" charset="0"/>
                  <a:ea typeface="Amazon Ember Light" panose="020B0403020204020204" pitchFamily="34" charset="0"/>
                  <a:cs typeface="Amazon Ember Light" panose="020B0403020204020204" pitchFamily="34" charset="0"/>
                </a:rPr>
                <a:t>from clients.</a:t>
              </a:r>
            </a:p>
          </p:txBody>
        </p:sp>
        <p:sp>
          <p:nvSpPr>
            <p:cNvPr id="39" name="TextBox 38">
              <a:extLst>
                <a:ext uri="{FF2B5EF4-FFF2-40B4-BE49-F238E27FC236}">
                  <a16:creationId xmlns:a16="http://schemas.microsoft.com/office/drawing/2014/main" id="{FDF9BCF4-1003-4CC6-BF14-EAB9A1E63E7A}"/>
                </a:ext>
              </a:extLst>
            </p:cNvPr>
            <p:cNvSpPr txBox="1"/>
            <p:nvPr/>
          </p:nvSpPr>
          <p:spPr>
            <a:xfrm>
              <a:off x="6843073" y="3915038"/>
              <a:ext cx="2037737" cy="584775"/>
            </a:xfrm>
            <a:prstGeom prst="rect">
              <a:avLst/>
            </a:prstGeom>
            <a:solidFill>
              <a:schemeClr val="bg1"/>
            </a:solidFill>
          </p:spPr>
          <p:txBody>
            <a:bodyPr wrap="non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Listener checks for </a:t>
              </a:r>
              <a:br>
                <a:rPr lang="en-US" sz="160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a:latin typeface="Amazon Ember Light" panose="020B0403020204020204" pitchFamily="34" charset="0"/>
                  <a:ea typeface="Amazon Ember Light" panose="020B0403020204020204" pitchFamily="34" charset="0"/>
                  <a:cs typeface="Amazon Ember Light" panose="020B0403020204020204" pitchFamily="34" charset="0"/>
                </a:rPr>
                <a:t>connection requests.</a:t>
              </a:r>
            </a:p>
          </p:txBody>
        </p:sp>
      </p:grpSp>
    </p:spTree>
    <p:custDataLst>
      <p:tags r:id="rId1"/>
    </p:custDataLst>
    <p:extLst>
      <p:ext uri="{BB962C8B-B14F-4D97-AF65-F5344CB8AC3E}">
        <p14:creationId xmlns:p14="http://schemas.microsoft.com/office/powerpoint/2010/main" val="27454002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C510D5-3FCC-4EFE-A548-34BBDDB0B6AE}"/>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56</a:t>
            </a:fld>
            <a:endParaRPr lang="en-US"/>
          </a:p>
        </p:txBody>
      </p:sp>
      <p:sp>
        <p:nvSpPr>
          <p:cNvPr id="2" name="Title 1"/>
          <p:cNvSpPr>
            <a:spLocks noGrp="1"/>
          </p:cNvSpPr>
          <p:nvPr>
            <p:ph type="title"/>
          </p:nvPr>
        </p:nvSpPr>
        <p:spPr/>
        <p:txBody>
          <a:bodyPr/>
          <a:lstStyle/>
          <a:p>
            <a:r>
              <a:rPr lang="en-US"/>
              <a:t>Elastic Load Balancing use cases</a:t>
            </a:r>
          </a:p>
        </p:txBody>
      </p:sp>
      <p:grpSp>
        <p:nvGrpSpPr>
          <p:cNvPr id="26" name="Group 25" descr="Highly available and fault-tolerant applications.">
            <a:extLst>
              <a:ext uri="{FF2B5EF4-FFF2-40B4-BE49-F238E27FC236}">
                <a16:creationId xmlns:a16="http://schemas.microsoft.com/office/drawing/2014/main" id="{926E6E7F-94C9-4EDE-AA20-A476F5632315}"/>
              </a:ext>
              <a:ext uri="{C183D7F6-B498-43B3-948B-1728B52AA6E4}">
                <adec:decorative xmlns:adec="http://schemas.microsoft.com/office/drawing/2017/decorative" val="0"/>
              </a:ext>
            </a:extLst>
          </p:cNvPr>
          <p:cNvGrpSpPr/>
          <p:nvPr/>
        </p:nvGrpSpPr>
        <p:grpSpPr>
          <a:xfrm>
            <a:off x="1135637" y="1437003"/>
            <a:ext cx="2436886" cy="2452946"/>
            <a:chOff x="1131105" y="1365287"/>
            <a:chExt cx="2436886" cy="2452946"/>
          </a:xfrm>
        </p:grpSpPr>
        <p:pic>
          <p:nvPicPr>
            <p:cNvPr id="20" name="Picture 19">
              <a:extLst>
                <a:ext uri="{FF2B5EF4-FFF2-40B4-BE49-F238E27FC236}">
                  <a16:creationId xmlns:a16="http://schemas.microsoft.com/office/drawing/2014/main" id="{96A2F285-F602-433B-9D10-E0C7F4F4DEC3}"/>
                </a:ext>
                <a:ext uri="{C183D7F6-B498-43B3-948B-1728B52AA6E4}">
                  <adec:decorative xmlns:adec="http://schemas.microsoft.com/office/drawing/2017/decorative" val="1"/>
                </a:ext>
              </a:extLst>
            </p:cNvPr>
            <p:cNvPicPr>
              <a:picLocks noChangeAspect="1"/>
            </p:cNvPicPr>
            <p:nvPr/>
          </p:nvPicPr>
          <p:blipFill rotWithShape="1">
            <a:blip r:embed="rId4"/>
            <a:srcRect l="54621" t="10529" r="27073" b="9273"/>
            <a:stretch/>
          </p:blipFill>
          <p:spPr>
            <a:xfrm>
              <a:off x="1583466" y="1365287"/>
              <a:ext cx="1532159" cy="1437283"/>
            </a:xfrm>
            <a:prstGeom prst="rect">
              <a:avLst/>
            </a:prstGeom>
          </p:spPr>
        </p:pic>
        <p:sp>
          <p:nvSpPr>
            <p:cNvPr id="7" name="TextBox 6">
              <a:extLst>
                <a:ext uri="{FF2B5EF4-FFF2-40B4-BE49-F238E27FC236}">
                  <a16:creationId xmlns:a16="http://schemas.microsoft.com/office/drawing/2014/main" id="{F192987F-7E0A-40BC-A85F-A211AFE86D49}"/>
                </a:ext>
              </a:extLst>
            </p:cNvPr>
            <p:cNvSpPr txBox="1"/>
            <p:nvPr/>
          </p:nvSpPr>
          <p:spPr>
            <a:xfrm>
              <a:off x="1131105" y="2802570"/>
              <a:ext cx="2436886" cy="1015663"/>
            </a:xfrm>
            <a:prstGeom prst="rect">
              <a:avLst/>
            </a:prstGeom>
            <a:noFill/>
          </p:spPr>
          <p:txBody>
            <a:bodyPr wrap="none" rtlCol="0">
              <a:spAutoFit/>
            </a:body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Highly available and</a:t>
              </a:r>
              <a:br>
                <a:rPr lang="en-US" sz="2000">
                  <a:latin typeface="Amazon Ember Light" panose="020B0403020204020204" pitchFamily="34" charset="0"/>
                  <a:ea typeface="Amazon Ember Light" panose="020B0403020204020204" pitchFamily="34" charset="0"/>
                  <a:cs typeface="Amazon Ember Light" panose="020B0403020204020204" pitchFamily="34" charset="0"/>
                </a:rPr>
              </a:br>
              <a:r>
                <a:rPr lang="en-US" sz="2000">
                  <a:latin typeface="Amazon Ember Light" panose="020B0403020204020204" pitchFamily="34" charset="0"/>
                  <a:ea typeface="Amazon Ember Light" panose="020B0403020204020204" pitchFamily="34" charset="0"/>
                  <a:cs typeface="Amazon Ember Light" panose="020B0403020204020204" pitchFamily="34" charset="0"/>
                </a:rPr>
                <a:t>fault-tolerant</a:t>
              </a:r>
              <a:br>
                <a:rPr lang="en-US" sz="2000">
                  <a:latin typeface="Amazon Ember Light" panose="020B0403020204020204" pitchFamily="34" charset="0"/>
                  <a:ea typeface="Amazon Ember Light" panose="020B0403020204020204" pitchFamily="34" charset="0"/>
                  <a:cs typeface="Amazon Ember Light" panose="020B0403020204020204" pitchFamily="34" charset="0"/>
                </a:rPr>
              </a:br>
              <a:r>
                <a:rPr lang="en-US" sz="2000">
                  <a:latin typeface="Amazon Ember Light" panose="020B0403020204020204" pitchFamily="34" charset="0"/>
                  <a:ea typeface="Amazon Ember Light" panose="020B0403020204020204" pitchFamily="34" charset="0"/>
                  <a:cs typeface="Amazon Ember Light" panose="020B0403020204020204" pitchFamily="34" charset="0"/>
                </a:rPr>
                <a:t>applications</a:t>
              </a:r>
            </a:p>
          </p:txBody>
        </p:sp>
      </p:grpSp>
      <p:grpSp>
        <p:nvGrpSpPr>
          <p:cNvPr id="27" name="Group 26" descr="Containerized applications.">
            <a:extLst>
              <a:ext uri="{FF2B5EF4-FFF2-40B4-BE49-F238E27FC236}">
                <a16:creationId xmlns:a16="http://schemas.microsoft.com/office/drawing/2014/main" id="{B3DB1090-F62C-44CF-94D8-1FB0B39E1C8E}"/>
              </a:ext>
              <a:ext uri="{C183D7F6-B498-43B3-948B-1728B52AA6E4}">
                <adec:decorative xmlns:adec="http://schemas.microsoft.com/office/drawing/2017/decorative" val="0"/>
              </a:ext>
            </a:extLst>
          </p:cNvPr>
          <p:cNvGrpSpPr/>
          <p:nvPr/>
        </p:nvGrpSpPr>
        <p:grpSpPr>
          <a:xfrm>
            <a:off x="5441419" y="1437601"/>
            <a:ext cx="1729961" cy="2144571"/>
            <a:chOff x="4791842" y="1365885"/>
            <a:chExt cx="1729961" cy="2144571"/>
          </a:xfrm>
        </p:grpSpPr>
        <p:pic>
          <p:nvPicPr>
            <p:cNvPr id="19" name="Picture 18">
              <a:extLst>
                <a:ext uri="{FF2B5EF4-FFF2-40B4-BE49-F238E27FC236}">
                  <a16:creationId xmlns:a16="http://schemas.microsoft.com/office/drawing/2014/main" id="{D0290FCC-CE9F-42F4-A47D-85DB7721AD0D}"/>
                </a:ext>
                <a:ext uri="{C183D7F6-B498-43B3-948B-1728B52AA6E4}">
                  <adec:decorative xmlns:adec="http://schemas.microsoft.com/office/drawing/2017/decorative" val="1"/>
                </a:ext>
              </a:extLst>
            </p:cNvPr>
            <p:cNvPicPr>
              <a:picLocks noChangeAspect="1"/>
            </p:cNvPicPr>
            <p:nvPr/>
          </p:nvPicPr>
          <p:blipFill rotWithShape="1">
            <a:blip r:embed="rId4"/>
            <a:srcRect l="28329" t="7470" r="53989"/>
            <a:stretch/>
          </p:blipFill>
          <p:spPr>
            <a:xfrm>
              <a:off x="4960062" y="1365885"/>
              <a:ext cx="1393513" cy="1561380"/>
            </a:xfrm>
            <a:prstGeom prst="rect">
              <a:avLst/>
            </a:prstGeom>
          </p:spPr>
        </p:pic>
        <p:sp>
          <p:nvSpPr>
            <p:cNvPr id="21" name="TextBox 20">
              <a:extLst>
                <a:ext uri="{FF2B5EF4-FFF2-40B4-BE49-F238E27FC236}">
                  <a16:creationId xmlns:a16="http://schemas.microsoft.com/office/drawing/2014/main" id="{34DD93A5-D39C-40BB-A09B-F589C4551BED}"/>
                </a:ext>
              </a:extLst>
            </p:cNvPr>
            <p:cNvSpPr txBox="1"/>
            <p:nvPr/>
          </p:nvSpPr>
          <p:spPr>
            <a:xfrm>
              <a:off x="4791842" y="2802570"/>
              <a:ext cx="1729961" cy="707886"/>
            </a:xfrm>
            <a:prstGeom prst="rect">
              <a:avLst/>
            </a:prstGeom>
            <a:noFill/>
          </p:spPr>
          <p:txBody>
            <a:bodyPr wrap="none" rtlCol="0">
              <a:spAutoFit/>
            </a:body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Containerized</a:t>
              </a:r>
              <a:br>
                <a:rPr lang="en-US" sz="2000">
                  <a:latin typeface="Amazon Ember Light" panose="020B0403020204020204" pitchFamily="34" charset="0"/>
                  <a:ea typeface="Amazon Ember Light" panose="020B0403020204020204" pitchFamily="34" charset="0"/>
                  <a:cs typeface="Amazon Ember Light" panose="020B0403020204020204" pitchFamily="34" charset="0"/>
                </a:rPr>
              </a:br>
              <a:r>
                <a:rPr lang="en-US" sz="2000">
                  <a:latin typeface="Amazon Ember Light" panose="020B0403020204020204" pitchFamily="34" charset="0"/>
                  <a:ea typeface="Amazon Ember Light" panose="020B0403020204020204" pitchFamily="34" charset="0"/>
                  <a:cs typeface="Amazon Ember Light" panose="020B0403020204020204" pitchFamily="34" charset="0"/>
                </a:rPr>
                <a:t>applications</a:t>
              </a:r>
            </a:p>
          </p:txBody>
        </p:sp>
      </p:grpSp>
      <p:grpSp>
        <p:nvGrpSpPr>
          <p:cNvPr id="28" name="Group 27" descr="Elasticity and scalability.">
            <a:extLst>
              <a:ext uri="{FF2B5EF4-FFF2-40B4-BE49-F238E27FC236}">
                <a16:creationId xmlns:a16="http://schemas.microsoft.com/office/drawing/2014/main" id="{71B41BC1-2BF4-4ACD-84EC-718DB7C6178B}"/>
              </a:ext>
              <a:ext uri="{C183D7F6-B498-43B3-948B-1728B52AA6E4}">
                <adec:decorative xmlns:adec="http://schemas.microsoft.com/office/drawing/2017/decorative" val="0"/>
              </a:ext>
            </a:extLst>
          </p:cNvPr>
          <p:cNvGrpSpPr/>
          <p:nvPr/>
        </p:nvGrpSpPr>
        <p:grpSpPr>
          <a:xfrm>
            <a:off x="9031453" y="1785311"/>
            <a:ext cx="1762021" cy="1796861"/>
            <a:chOff x="9026921" y="1713595"/>
            <a:chExt cx="1762021" cy="1796861"/>
          </a:xfrm>
        </p:grpSpPr>
        <p:pic>
          <p:nvPicPr>
            <p:cNvPr id="17" name="Picture 16">
              <a:extLst>
                <a:ext uri="{FF2B5EF4-FFF2-40B4-BE49-F238E27FC236}">
                  <a16:creationId xmlns:a16="http://schemas.microsoft.com/office/drawing/2014/main" id="{C8C93A11-FB98-4540-B299-C4E02984CC45}"/>
                </a:ext>
                <a:ext uri="{C183D7F6-B498-43B3-948B-1728B52AA6E4}">
                  <adec:decorative xmlns:adec="http://schemas.microsoft.com/office/drawing/2017/decorative" val="1"/>
                </a:ext>
              </a:extLst>
            </p:cNvPr>
            <p:cNvPicPr>
              <a:picLocks noChangeAspect="1"/>
            </p:cNvPicPr>
            <p:nvPr/>
          </p:nvPicPr>
          <p:blipFill rotWithShape="1">
            <a:blip r:embed="rId4"/>
            <a:srcRect l="80784" t="18720"/>
            <a:stretch/>
          </p:blipFill>
          <p:spPr>
            <a:xfrm>
              <a:off x="9207330" y="1713595"/>
              <a:ext cx="1401204" cy="1269090"/>
            </a:xfrm>
            <a:prstGeom prst="rect">
              <a:avLst/>
            </a:prstGeom>
          </p:spPr>
        </p:pic>
        <p:sp>
          <p:nvSpPr>
            <p:cNvPr id="22" name="TextBox 21">
              <a:extLst>
                <a:ext uri="{FF2B5EF4-FFF2-40B4-BE49-F238E27FC236}">
                  <a16:creationId xmlns:a16="http://schemas.microsoft.com/office/drawing/2014/main" id="{C752C348-80D1-465A-9F71-7E4EACA07398}"/>
                </a:ext>
              </a:extLst>
            </p:cNvPr>
            <p:cNvSpPr txBox="1"/>
            <p:nvPr/>
          </p:nvSpPr>
          <p:spPr>
            <a:xfrm>
              <a:off x="9026921" y="2802570"/>
              <a:ext cx="1762021" cy="707886"/>
            </a:xfrm>
            <a:prstGeom prst="rect">
              <a:avLst/>
            </a:prstGeom>
            <a:noFill/>
          </p:spPr>
          <p:txBody>
            <a:bodyPr wrap="none" rtlCol="0">
              <a:spAutoFit/>
            </a:body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Elasticity </a:t>
              </a:r>
              <a:br>
                <a:rPr lang="en-US" sz="2000">
                  <a:latin typeface="Amazon Ember Light" panose="020B0403020204020204" pitchFamily="34" charset="0"/>
                  <a:ea typeface="Amazon Ember Light" panose="020B0403020204020204" pitchFamily="34" charset="0"/>
                  <a:cs typeface="Amazon Ember Light" panose="020B0403020204020204" pitchFamily="34" charset="0"/>
                </a:rPr>
              </a:br>
              <a:r>
                <a:rPr lang="en-US" sz="2000">
                  <a:latin typeface="Amazon Ember Light" panose="020B0403020204020204" pitchFamily="34" charset="0"/>
                  <a:ea typeface="Amazon Ember Light" panose="020B0403020204020204" pitchFamily="34" charset="0"/>
                  <a:cs typeface="Amazon Ember Light" panose="020B0403020204020204" pitchFamily="34" charset="0"/>
                </a:rPr>
                <a:t>and scalability</a:t>
              </a:r>
            </a:p>
          </p:txBody>
        </p:sp>
      </p:grpSp>
      <p:grpSp>
        <p:nvGrpSpPr>
          <p:cNvPr id="40" name="Group 39" descr="Virtual private cloud (VPC).">
            <a:extLst>
              <a:ext uri="{FF2B5EF4-FFF2-40B4-BE49-F238E27FC236}">
                <a16:creationId xmlns:a16="http://schemas.microsoft.com/office/drawing/2014/main" id="{4E34F22C-539E-4CBD-9AF0-8A9A470B336B}"/>
              </a:ext>
              <a:ext uri="{C183D7F6-B498-43B3-948B-1728B52AA6E4}">
                <adec:decorative xmlns:adec="http://schemas.microsoft.com/office/drawing/2017/decorative" val="0"/>
              </a:ext>
            </a:extLst>
          </p:cNvPr>
          <p:cNvGrpSpPr/>
          <p:nvPr/>
        </p:nvGrpSpPr>
        <p:grpSpPr>
          <a:xfrm>
            <a:off x="1475189" y="4425508"/>
            <a:ext cx="1757211" cy="1745972"/>
            <a:chOff x="1475189" y="4425508"/>
            <a:chExt cx="1757211" cy="1745972"/>
          </a:xfrm>
        </p:grpSpPr>
        <p:pic>
          <p:nvPicPr>
            <p:cNvPr id="39" name="Graphic 38">
              <a:extLst>
                <a:ext uri="{FF2B5EF4-FFF2-40B4-BE49-F238E27FC236}">
                  <a16:creationId xmlns:a16="http://schemas.microsoft.com/office/drawing/2014/main" id="{8D1F5C4F-966B-44F9-ADC2-5FEDE035B441}"/>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96590" y="4425508"/>
              <a:ext cx="914400" cy="914400"/>
            </a:xfrm>
            <a:prstGeom prst="rect">
              <a:avLst/>
            </a:prstGeom>
          </p:spPr>
        </p:pic>
        <p:sp>
          <p:nvSpPr>
            <p:cNvPr id="23" name="TextBox 22">
              <a:extLst>
                <a:ext uri="{FF2B5EF4-FFF2-40B4-BE49-F238E27FC236}">
                  <a16:creationId xmlns:a16="http://schemas.microsoft.com/office/drawing/2014/main" id="{354E5732-3F55-40A0-A895-FA0D7639DBA8}"/>
                </a:ext>
                <a:ext uri="{C183D7F6-B498-43B3-948B-1728B52AA6E4}">
                  <adec:decorative xmlns:adec="http://schemas.microsoft.com/office/drawing/2017/decorative" val="1"/>
                </a:ext>
              </a:extLst>
            </p:cNvPr>
            <p:cNvSpPr txBox="1"/>
            <p:nvPr/>
          </p:nvSpPr>
          <p:spPr>
            <a:xfrm>
              <a:off x="1475189" y="5463594"/>
              <a:ext cx="1757211" cy="707886"/>
            </a:xfrm>
            <a:prstGeom prst="rect">
              <a:avLst/>
            </a:prstGeom>
            <a:noFill/>
          </p:spPr>
          <p:txBody>
            <a:bodyPr wrap="none" rtlCol="0">
              <a:spAutoFit/>
            </a:body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Virtual private</a:t>
              </a:r>
              <a:br>
                <a:rPr lang="en-US" sz="2000">
                  <a:latin typeface="Amazon Ember Light" panose="020B0403020204020204" pitchFamily="34" charset="0"/>
                  <a:ea typeface="Amazon Ember Light" panose="020B0403020204020204" pitchFamily="34" charset="0"/>
                  <a:cs typeface="Amazon Ember Light" panose="020B0403020204020204" pitchFamily="34" charset="0"/>
                </a:rPr>
              </a:br>
              <a:r>
                <a:rPr lang="en-US" sz="2000">
                  <a:latin typeface="Amazon Ember Light" panose="020B0403020204020204" pitchFamily="34" charset="0"/>
                  <a:ea typeface="Amazon Ember Light" panose="020B0403020204020204" pitchFamily="34" charset="0"/>
                  <a:cs typeface="Amazon Ember Light" panose="020B0403020204020204" pitchFamily="34" charset="0"/>
                </a:rPr>
                <a:t>cloud (VPC)</a:t>
              </a:r>
            </a:p>
          </p:txBody>
        </p:sp>
      </p:grpSp>
      <p:grpSp>
        <p:nvGrpSpPr>
          <p:cNvPr id="31" name="Group 30" descr="Hybrid environments.">
            <a:extLst>
              <a:ext uri="{FF2B5EF4-FFF2-40B4-BE49-F238E27FC236}">
                <a16:creationId xmlns:a16="http://schemas.microsoft.com/office/drawing/2014/main" id="{6519601B-096F-491D-8B11-90DD0F6D9E00}"/>
              </a:ext>
              <a:ext uri="{C183D7F6-B498-43B3-948B-1728B52AA6E4}">
                <adec:decorative xmlns:adec="http://schemas.microsoft.com/office/drawing/2017/decorative" val="0"/>
              </a:ext>
            </a:extLst>
          </p:cNvPr>
          <p:cNvGrpSpPr/>
          <p:nvPr/>
        </p:nvGrpSpPr>
        <p:grpSpPr>
          <a:xfrm>
            <a:off x="4717118" y="3891610"/>
            <a:ext cx="2537874" cy="1972094"/>
            <a:chOff x="4199444" y="3819894"/>
            <a:chExt cx="2537874" cy="1972094"/>
          </a:xfrm>
        </p:grpSpPr>
        <p:pic>
          <p:nvPicPr>
            <p:cNvPr id="15" name="Picture 14">
              <a:extLst>
                <a:ext uri="{FF2B5EF4-FFF2-40B4-BE49-F238E27FC236}">
                  <a16:creationId xmlns:a16="http://schemas.microsoft.com/office/drawing/2014/main" id="{C892100C-F3BD-4F19-9EAA-3433E4D95755}"/>
                </a:ext>
                <a:ext uri="{C183D7F6-B498-43B3-948B-1728B52AA6E4}">
                  <adec:decorative xmlns:adec="http://schemas.microsoft.com/office/drawing/2017/decorative" val="1"/>
                </a:ext>
              </a:extLst>
            </p:cNvPr>
            <p:cNvPicPr>
              <a:picLocks noChangeAspect="1"/>
            </p:cNvPicPr>
            <p:nvPr/>
          </p:nvPicPr>
          <p:blipFill rotWithShape="1">
            <a:blip r:embed="rId7">
              <a:extLst>
                <a:ext uri="{28A0092B-C50C-407E-A947-70E740481C1C}">
                  <a14:useLocalDpi xmlns:a14="http://schemas.microsoft.com/office/drawing/2010/main" val="0"/>
                </a:ext>
              </a:extLst>
            </a:blip>
            <a:srcRect l="25657" r="25555"/>
            <a:stretch/>
          </p:blipFill>
          <p:spPr>
            <a:xfrm>
              <a:off x="4273453" y="3819894"/>
              <a:ext cx="2389850" cy="1561381"/>
            </a:xfrm>
            <a:prstGeom prst="rect">
              <a:avLst/>
            </a:prstGeom>
          </p:spPr>
        </p:pic>
        <p:sp>
          <p:nvSpPr>
            <p:cNvPr id="9" name="TextBox 8">
              <a:extLst>
                <a:ext uri="{FF2B5EF4-FFF2-40B4-BE49-F238E27FC236}">
                  <a16:creationId xmlns:a16="http://schemas.microsoft.com/office/drawing/2014/main" id="{E17FDA5D-8E5C-48E7-8BBD-4F82C863D8EF}"/>
                </a:ext>
              </a:extLst>
            </p:cNvPr>
            <p:cNvSpPr txBox="1"/>
            <p:nvPr/>
          </p:nvSpPr>
          <p:spPr>
            <a:xfrm>
              <a:off x="4199444" y="5391878"/>
              <a:ext cx="2537874" cy="400110"/>
            </a:xfrm>
            <a:prstGeom prst="rect">
              <a:avLst/>
            </a:prstGeom>
            <a:noFill/>
          </p:spPr>
          <p:txBody>
            <a:bodyPr wrap="none" rtlCol="0">
              <a:spAutoFit/>
            </a:body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Hybrid environments</a:t>
              </a:r>
            </a:p>
          </p:txBody>
        </p:sp>
      </p:grpSp>
      <p:grpSp>
        <p:nvGrpSpPr>
          <p:cNvPr id="30" name="Group 29" descr="Invoke Lambda functions over HTTP(S).">
            <a:extLst>
              <a:ext uri="{FF2B5EF4-FFF2-40B4-BE49-F238E27FC236}">
                <a16:creationId xmlns:a16="http://schemas.microsoft.com/office/drawing/2014/main" id="{991F9113-243A-4DFC-9F0B-992E8B60F903}"/>
              </a:ext>
              <a:ext uri="{C183D7F6-B498-43B3-948B-1728B52AA6E4}">
                <adec:decorative xmlns:adec="http://schemas.microsoft.com/office/drawing/2017/decorative" val="0"/>
              </a:ext>
            </a:extLst>
          </p:cNvPr>
          <p:cNvGrpSpPr/>
          <p:nvPr/>
        </p:nvGrpSpPr>
        <p:grpSpPr>
          <a:xfrm>
            <a:off x="8536928" y="4484045"/>
            <a:ext cx="2751074" cy="1700142"/>
            <a:chOff x="7831794" y="4399622"/>
            <a:chExt cx="2751074" cy="1700142"/>
          </a:xfrm>
        </p:grpSpPr>
        <p:sp>
          <p:nvSpPr>
            <p:cNvPr id="24" name="TextBox 23">
              <a:extLst>
                <a:ext uri="{FF2B5EF4-FFF2-40B4-BE49-F238E27FC236}">
                  <a16:creationId xmlns:a16="http://schemas.microsoft.com/office/drawing/2014/main" id="{44424281-5CD1-402F-AD47-46C3024D04F3}"/>
                </a:ext>
              </a:extLst>
            </p:cNvPr>
            <p:cNvSpPr txBox="1"/>
            <p:nvPr/>
          </p:nvSpPr>
          <p:spPr>
            <a:xfrm>
              <a:off x="7831794" y="5391878"/>
              <a:ext cx="2751074" cy="707886"/>
            </a:xfrm>
            <a:prstGeom prst="rect">
              <a:avLst/>
            </a:prstGeom>
            <a:noFill/>
          </p:spPr>
          <p:txBody>
            <a:bodyPr wrap="none" rtlCol="0">
              <a:spAutoFit/>
            </a:body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Invoke Lambda </a:t>
              </a:r>
              <a:br>
                <a:rPr lang="en-US" sz="2000">
                  <a:latin typeface="Amazon Ember Light" panose="020B0403020204020204" pitchFamily="34" charset="0"/>
                  <a:ea typeface="Amazon Ember Light" panose="020B0403020204020204" pitchFamily="34" charset="0"/>
                  <a:cs typeface="Amazon Ember Light" panose="020B0403020204020204" pitchFamily="34" charset="0"/>
                </a:rPr>
              </a:br>
              <a:r>
                <a:rPr lang="en-US" sz="2000">
                  <a:latin typeface="Amazon Ember Light" panose="020B0403020204020204" pitchFamily="34" charset="0"/>
                  <a:ea typeface="Amazon Ember Light" panose="020B0403020204020204" pitchFamily="34" charset="0"/>
                  <a:cs typeface="Amazon Ember Light" panose="020B0403020204020204" pitchFamily="34" charset="0"/>
                </a:rPr>
                <a:t>functions over HTTP(S)</a:t>
              </a:r>
            </a:p>
          </p:txBody>
        </p:sp>
        <p:pic>
          <p:nvPicPr>
            <p:cNvPr id="25" name="Graphic 24">
              <a:extLst>
                <a:ext uri="{FF2B5EF4-FFF2-40B4-BE49-F238E27FC236}">
                  <a16:creationId xmlns:a16="http://schemas.microsoft.com/office/drawing/2014/main" id="{DB7B1AA2-137B-48FC-8C97-50E3B7D44BB7}"/>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803585" y="4399622"/>
              <a:ext cx="843718" cy="843718"/>
            </a:xfrm>
            <a:prstGeom prst="rect">
              <a:avLst/>
            </a:prstGeom>
          </p:spPr>
        </p:pic>
      </p:grpSp>
    </p:spTree>
    <p:custDataLst>
      <p:tags r:id="rId1"/>
    </p:custDataLst>
    <p:extLst>
      <p:ext uri="{BB962C8B-B14F-4D97-AF65-F5344CB8AC3E}">
        <p14:creationId xmlns:p14="http://schemas.microsoft.com/office/powerpoint/2010/main" val="29128175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6CAC427-9351-4828-8FC8-9F6650F5F0A7}"/>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57</a:t>
            </a:fld>
            <a:endParaRPr lang="en-US"/>
          </a:p>
        </p:txBody>
      </p:sp>
      <p:sp>
        <p:nvSpPr>
          <p:cNvPr id="2" name="Title 1"/>
          <p:cNvSpPr>
            <a:spLocks noGrp="1"/>
          </p:cNvSpPr>
          <p:nvPr>
            <p:ph type="title"/>
          </p:nvPr>
        </p:nvSpPr>
        <p:spPr/>
        <p:txBody>
          <a:bodyPr/>
          <a:lstStyle/>
          <a:p>
            <a:r>
              <a:rPr lang="en-US"/>
              <a:t>Load balancer monitoring</a:t>
            </a:r>
          </a:p>
        </p:txBody>
      </p:sp>
      <p:sp>
        <p:nvSpPr>
          <p:cNvPr id="9" name="Content Placeholder 8">
            <a:extLst>
              <a:ext uri="{FF2B5EF4-FFF2-40B4-BE49-F238E27FC236}">
                <a16:creationId xmlns:a16="http://schemas.microsoft.com/office/drawing/2014/main" id="{8E621796-891F-412A-B643-F135D78635E1}"/>
              </a:ext>
            </a:extLst>
          </p:cNvPr>
          <p:cNvSpPr>
            <a:spLocks noGrp="1"/>
          </p:cNvSpPr>
          <p:nvPr>
            <p:ph sz="quarter" idx="21"/>
          </p:nvPr>
        </p:nvSpPr>
        <p:spPr>
          <a:xfrm>
            <a:off x="5934456" y="1527048"/>
            <a:ext cx="5815584" cy="4828032"/>
          </a:xfrm>
        </p:spPr>
        <p:txBody>
          <a:bodyPr>
            <a:normAutofit fontScale="92500"/>
          </a:bodyPr>
          <a:lstStyle/>
          <a:p>
            <a:r>
              <a:rPr lang="en-US" b="1">
                <a:solidFill>
                  <a:srgbClr val="504BAB"/>
                </a:solidFill>
              </a:rPr>
              <a:t>Amazon CloudWatch metrics</a:t>
            </a:r>
            <a:r>
              <a:rPr lang="en-US">
                <a:solidFill>
                  <a:srgbClr val="504BAB"/>
                </a:solidFill>
              </a:rPr>
              <a:t> </a:t>
            </a:r>
            <a:r>
              <a:rPr lang="en-US"/>
              <a:t>– Used to verify that the system is performing as expected and creates an alarm to initiate an action if a metric goes outside an acceptable range.</a:t>
            </a:r>
          </a:p>
          <a:p>
            <a:r>
              <a:rPr lang="en-US" b="1">
                <a:solidFill>
                  <a:srgbClr val="504BAB"/>
                </a:solidFill>
              </a:rPr>
              <a:t>Access logs</a:t>
            </a:r>
            <a:r>
              <a:rPr lang="en-US">
                <a:solidFill>
                  <a:srgbClr val="504BAB"/>
                </a:solidFill>
              </a:rPr>
              <a:t> </a:t>
            </a:r>
            <a:r>
              <a:rPr lang="en-US"/>
              <a:t>– Capture detailed information about requests sent to your load balancer.</a:t>
            </a:r>
          </a:p>
          <a:p>
            <a:r>
              <a:rPr lang="en-US" b="1">
                <a:solidFill>
                  <a:srgbClr val="504BAB"/>
                </a:solidFill>
              </a:rPr>
              <a:t>AWS CloudTrail logs</a:t>
            </a:r>
            <a:r>
              <a:rPr lang="en-US">
                <a:solidFill>
                  <a:srgbClr val="504BAB"/>
                </a:solidFill>
              </a:rPr>
              <a:t> </a:t>
            </a:r>
            <a:r>
              <a:rPr lang="en-US"/>
              <a:t>– Capture the who, what, when, and where of API interactions in AWS services. </a:t>
            </a:r>
          </a:p>
        </p:txBody>
      </p:sp>
      <p:pic>
        <p:nvPicPr>
          <p:cNvPr id="6" name="Picture 5">
            <a:extLst>
              <a:ext uri="{FF2B5EF4-FFF2-40B4-BE49-F238E27FC236}">
                <a16:creationId xmlns:a16="http://schemas.microsoft.com/office/drawing/2014/main" id="{5DEC5C0A-3A32-8540-A2ED-01EEDE9A023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9348" y="1720771"/>
            <a:ext cx="4203700" cy="4025900"/>
          </a:xfrm>
          <a:prstGeom prst="rect">
            <a:avLst/>
          </a:prstGeom>
        </p:spPr>
      </p:pic>
    </p:spTree>
    <p:custDataLst>
      <p:tags r:id="rId1"/>
    </p:custDataLst>
    <p:extLst>
      <p:ext uri="{BB962C8B-B14F-4D97-AF65-F5344CB8AC3E}">
        <p14:creationId xmlns:p14="http://schemas.microsoft.com/office/powerpoint/2010/main" val="15195158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58</a:t>
            </a:fld>
            <a:endParaRPr lang="en-US"/>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lstStyle/>
          <a:p>
            <a:r>
              <a:rPr lang="en-US">
                <a:latin typeface="+mj-lt"/>
              </a:rPr>
              <a:t>Section 1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r>
              <a:rPr lang="en-US">
                <a:latin typeface="+mn-lt"/>
              </a:rPr>
              <a:t>Elastic Load Balancing distributes incoming application or network traffic across multiple targets in one or more Availability Zones. </a:t>
            </a:r>
          </a:p>
          <a:p>
            <a:r>
              <a:rPr lang="en-US">
                <a:latin typeface="+mn-lt"/>
              </a:rPr>
              <a:t>Elastic Load Balancing supports three types of load balancers:</a:t>
            </a:r>
          </a:p>
          <a:p>
            <a:pPr lvl="1"/>
            <a:r>
              <a:rPr lang="en-US">
                <a:latin typeface="+mn-lt"/>
              </a:rPr>
              <a:t>Application Load Balancer</a:t>
            </a:r>
          </a:p>
          <a:p>
            <a:pPr lvl="1"/>
            <a:r>
              <a:rPr lang="en-US">
                <a:latin typeface="+mn-lt"/>
              </a:rPr>
              <a:t>Network Load Balancer</a:t>
            </a:r>
          </a:p>
          <a:p>
            <a:pPr lvl="1"/>
            <a:r>
              <a:rPr lang="en-US">
                <a:latin typeface="+mn-lt"/>
              </a:rPr>
              <a:t>Classic Load Balancer</a:t>
            </a:r>
          </a:p>
          <a:p>
            <a:r>
              <a:rPr lang="en-US">
                <a:latin typeface="+mn-lt"/>
              </a:rPr>
              <a:t>ELB offers instance health checks, security, and monitoring.</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37489724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64B8E0-60AD-514D-93D6-076C58CF731E}"/>
              </a:ext>
            </a:extLst>
          </p:cNvPr>
          <p:cNvSpPr>
            <a:spLocks noGrp="1"/>
          </p:cNvSpPr>
          <p:nvPr>
            <p:ph type="subTitle" idx="1"/>
          </p:nvPr>
        </p:nvSpPr>
        <p:spPr/>
        <p:txBody>
          <a:bodyPr>
            <a:normAutofit/>
          </a:bodyPr>
          <a:lstStyle/>
          <a:p>
            <a:r>
              <a:rPr lang="en-US">
                <a:latin typeface="+mn-lt"/>
              </a:rPr>
              <a:t>Module 10: Automatic Scaling and Monitoring</a:t>
            </a:r>
          </a:p>
        </p:txBody>
      </p:sp>
      <p:sp>
        <p:nvSpPr>
          <p:cNvPr id="2" name="Title 1"/>
          <p:cNvSpPr>
            <a:spLocks noGrp="1"/>
          </p:cNvSpPr>
          <p:nvPr>
            <p:ph type="title"/>
          </p:nvPr>
        </p:nvSpPr>
        <p:spPr/>
        <p:txBody>
          <a:bodyPr>
            <a:noAutofit/>
          </a:bodyPr>
          <a:lstStyle/>
          <a:p>
            <a:r>
              <a:rPr lang="en-US">
                <a:latin typeface="+mj-lt"/>
              </a:rPr>
              <a:t>Section 2: Amazon CloudWatch</a:t>
            </a:r>
          </a:p>
        </p:txBody>
      </p:sp>
    </p:spTree>
    <p:custDataLst>
      <p:tags r:id="rId1"/>
    </p:custDataLst>
    <p:extLst>
      <p:ext uri="{BB962C8B-B14F-4D97-AF65-F5344CB8AC3E}">
        <p14:creationId xmlns:p14="http://schemas.microsoft.com/office/powerpoint/2010/main" val="2246248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44288C2-D13D-4432-921B-DA6B514ACF21}"/>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60</a:t>
            </a:fld>
            <a:endParaRPr lang="en-US"/>
          </a:p>
        </p:txBody>
      </p:sp>
      <p:sp>
        <p:nvSpPr>
          <p:cNvPr id="2" name="Title 1"/>
          <p:cNvSpPr>
            <a:spLocks noGrp="1"/>
          </p:cNvSpPr>
          <p:nvPr>
            <p:ph type="title"/>
          </p:nvPr>
        </p:nvSpPr>
        <p:spPr/>
        <p:txBody>
          <a:bodyPr vert="horz" lIns="91440" tIns="45720" rIns="91440" bIns="45720" rtlCol="0" anchor="ctr">
            <a:noAutofit/>
          </a:bodyPr>
          <a:lstStyle/>
          <a:p>
            <a:r>
              <a:rPr lang="en-US"/>
              <a:t>Monitoring AWS resources</a:t>
            </a:r>
          </a:p>
        </p:txBody>
      </p:sp>
      <p:sp>
        <p:nvSpPr>
          <p:cNvPr id="8" name="Content Placeholder 7">
            <a:extLst>
              <a:ext uri="{FF2B5EF4-FFF2-40B4-BE49-F238E27FC236}">
                <a16:creationId xmlns:a16="http://schemas.microsoft.com/office/drawing/2014/main" id="{6C781481-908B-48DE-9976-9DF732895416}"/>
              </a:ext>
            </a:extLst>
          </p:cNvPr>
          <p:cNvSpPr>
            <a:spLocks noGrp="1"/>
          </p:cNvSpPr>
          <p:nvPr>
            <p:ph sz="quarter" idx="21"/>
          </p:nvPr>
        </p:nvSpPr>
        <p:spPr/>
        <p:txBody>
          <a:bodyPr/>
          <a:lstStyle/>
          <a:p>
            <a:pPr marL="0" indent="0">
              <a:buNone/>
            </a:pPr>
            <a:r>
              <a:rPr lang="en-US">
                <a:latin typeface="+mn-lt"/>
              </a:rPr>
              <a:t>To use AWS efficiently, you need insight into your AWS resources:</a:t>
            </a:r>
            <a:br>
              <a:rPr lang="en-US">
                <a:latin typeface="+mn-lt"/>
              </a:rPr>
            </a:br>
            <a:endParaRPr lang="en-US">
              <a:latin typeface="+mn-lt"/>
            </a:endParaRPr>
          </a:p>
          <a:p>
            <a:r>
              <a:rPr lang="en-US">
                <a:latin typeface="+mn-lt"/>
                <a:ea typeface="Amazon Ember Light" charset="0"/>
                <a:cs typeface="Amazon Ember Light" charset="0"/>
              </a:rPr>
              <a:t>How do you know when you should </a:t>
            </a:r>
            <a:r>
              <a:rPr lang="en-US" b="1">
                <a:solidFill>
                  <a:srgbClr val="504BAB"/>
                </a:solidFill>
                <a:latin typeface="+mn-lt"/>
                <a:ea typeface="Amazon Ember Light" charset="0"/>
                <a:cs typeface="Amazon Ember Light" charset="0"/>
              </a:rPr>
              <a:t>launch more</a:t>
            </a:r>
            <a:r>
              <a:rPr lang="en-US" b="1">
                <a:solidFill>
                  <a:srgbClr val="504BAB"/>
                </a:solidFill>
                <a:latin typeface="+mn-lt"/>
                <a:ea typeface="Amazon Ember" panose="020B0603020204020204" pitchFamily="34" charset="0"/>
                <a:cs typeface="Amazon Ember" panose="020B0603020204020204" pitchFamily="34" charset="0"/>
              </a:rPr>
              <a:t> Amazon EC2 instances</a:t>
            </a:r>
            <a:r>
              <a:rPr lang="en-US">
                <a:latin typeface="+mn-lt"/>
                <a:ea typeface="Amazon Ember" panose="020B0603020204020204" pitchFamily="34" charset="0"/>
                <a:cs typeface="Amazon Ember" panose="020B0603020204020204" pitchFamily="34" charset="0"/>
              </a:rPr>
              <a:t>?</a:t>
            </a:r>
            <a:r>
              <a:rPr lang="en-US">
                <a:latin typeface="+mn-lt"/>
                <a:ea typeface="Amazon Ember Light" charset="0"/>
                <a:cs typeface="Amazon Ember Light" charset="0"/>
              </a:rPr>
              <a:t> </a:t>
            </a:r>
            <a:br>
              <a:rPr lang="en-US">
                <a:latin typeface="+mn-lt"/>
                <a:ea typeface="Amazon Ember Light" charset="0"/>
                <a:cs typeface="Amazon Ember Light" charset="0"/>
              </a:rPr>
            </a:br>
            <a:endParaRPr lang="en-US">
              <a:latin typeface="+mn-lt"/>
              <a:ea typeface="Amazon Ember Light" charset="0"/>
              <a:cs typeface="Amazon Ember Light" charset="0"/>
            </a:endParaRPr>
          </a:p>
          <a:p>
            <a:r>
              <a:rPr lang="en-US">
                <a:latin typeface="+mn-lt"/>
                <a:ea typeface="Amazon Ember Light" charset="0"/>
                <a:cs typeface="Amazon Ember Light" charset="0"/>
              </a:rPr>
              <a:t>Is your </a:t>
            </a:r>
            <a:r>
              <a:rPr lang="en-US" b="1">
                <a:solidFill>
                  <a:srgbClr val="504BAB"/>
                </a:solidFill>
                <a:latin typeface="+mn-lt"/>
                <a:ea typeface="Amazon Ember" panose="020B0603020204020204" pitchFamily="34" charset="0"/>
                <a:cs typeface="Amazon Ember" panose="020B0603020204020204" pitchFamily="34" charset="0"/>
              </a:rPr>
              <a:t>application's performance </a:t>
            </a:r>
            <a:r>
              <a:rPr lang="en-US" b="1">
                <a:solidFill>
                  <a:srgbClr val="504BAB"/>
                </a:solidFill>
                <a:latin typeface="+mn-lt"/>
                <a:ea typeface="Amazon Ember Light" charset="0"/>
                <a:cs typeface="Amazon Ember Light" charset="0"/>
              </a:rPr>
              <a:t>or </a:t>
            </a:r>
            <a:r>
              <a:rPr lang="en-US" b="1">
                <a:solidFill>
                  <a:srgbClr val="504BAB"/>
                </a:solidFill>
                <a:latin typeface="+mn-lt"/>
                <a:ea typeface="Amazon Ember" panose="020B0603020204020204" pitchFamily="34" charset="0"/>
                <a:cs typeface="Amazon Ember" panose="020B0603020204020204" pitchFamily="34" charset="0"/>
              </a:rPr>
              <a:t>availability</a:t>
            </a:r>
            <a:r>
              <a:rPr lang="en-US">
                <a:solidFill>
                  <a:srgbClr val="504BAB"/>
                </a:solidFill>
                <a:latin typeface="+mn-lt"/>
                <a:ea typeface="Amazon Ember Light" charset="0"/>
                <a:cs typeface="Amazon Ember Light" charset="0"/>
              </a:rPr>
              <a:t> </a:t>
            </a:r>
            <a:r>
              <a:rPr lang="en-US">
                <a:latin typeface="+mn-lt"/>
                <a:ea typeface="Amazon Ember Light" charset="0"/>
                <a:cs typeface="Amazon Ember Light" charset="0"/>
              </a:rPr>
              <a:t>being affected by a lack of sufficient capacity?</a:t>
            </a:r>
            <a:br>
              <a:rPr lang="en-US">
                <a:latin typeface="+mn-lt"/>
                <a:ea typeface="Amazon Ember Light" charset="0"/>
                <a:cs typeface="Amazon Ember Light" charset="0"/>
              </a:rPr>
            </a:br>
            <a:endParaRPr lang="en-US">
              <a:latin typeface="+mn-lt"/>
              <a:ea typeface="Amazon Ember Light" charset="0"/>
              <a:cs typeface="Amazon Ember Light" charset="0"/>
            </a:endParaRPr>
          </a:p>
          <a:p>
            <a:r>
              <a:rPr lang="en-US">
                <a:latin typeface="+mn-lt"/>
                <a:ea typeface="Amazon Ember Light" charset="0"/>
                <a:cs typeface="Amazon Ember Light" charset="0"/>
              </a:rPr>
              <a:t>How much of your infrastructure is actually </a:t>
            </a:r>
            <a:r>
              <a:rPr lang="en-US" b="1">
                <a:solidFill>
                  <a:srgbClr val="504BAB"/>
                </a:solidFill>
                <a:latin typeface="+mn-lt"/>
                <a:ea typeface="Amazon Ember" panose="020B0603020204020204" pitchFamily="34" charset="0"/>
                <a:cs typeface="Amazon Ember" panose="020B0603020204020204" pitchFamily="34" charset="0"/>
              </a:rPr>
              <a:t>being used</a:t>
            </a:r>
            <a:r>
              <a:rPr lang="en-US">
                <a:latin typeface="+mn-lt"/>
                <a:ea typeface="Amazon Ember Light" charset="0"/>
                <a:cs typeface="Amazon Ember Light" charset="0"/>
              </a:rPr>
              <a:t>?</a:t>
            </a:r>
          </a:p>
        </p:txBody>
      </p:sp>
    </p:spTree>
    <p:custDataLst>
      <p:tags r:id="rId1"/>
    </p:custDataLst>
    <p:extLst>
      <p:ext uri="{BB962C8B-B14F-4D97-AF65-F5344CB8AC3E}">
        <p14:creationId xmlns:p14="http://schemas.microsoft.com/office/powerpoint/2010/main" val="13950425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3AA117A-7B80-9F3A-FA4D-24A4FFA7EAF9}"/>
              </a:ext>
            </a:extLst>
          </p:cNvPr>
          <p:cNvSpPr>
            <a:spLocks noGrp="1"/>
          </p:cNvSpPr>
          <p:nvPr>
            <p:ph type="sldNum" sz="quarter" idx="20"/>
          </p:nvPr>
        </p:nvSpPr>
        <p:spPr/>
        <p:txBody>
          <a:bodyPr/>
          <a:lstStyle/>
          <a:p>
            <a:fld id="{930176A1-BCF0-4712-97A6-6B495F55390B}" type="slidenum">
              <a:rPr lang="en-US" smtClean="0"/>
              <a:pPr/>
              <a:t>61</a:t>
            </a:fld>
            <a:endParaRPr lang="en-US"/>
          </a:p>
        </p:txBody>
      </p:sp>
      <p:sp>
        <p:nvSpPr>
          <p:cNvPr id="2" name="Title 1"/>
          <p:cNvSpPr>
            <a:spLocks noGrp="1"/>
          </p:cNvSpPr>
          <p:nvPr>
            <p:ph type="title"/>
          </p:nvPr>
        </p:nvSpPr>
        <p:spPr/>
        <p:txBody>
          <a:bodyPr/>
          <a:lstStyle/>
          <a:p>
            <a:r>
              <a:rPr lang="en-US"/>
              <a:t>Amazon CloudWatch</a:t>
            </a:r>
          </a:p>
        </p:txBody>
      </p:sp>
      <p:sp>
        <p:nvSpPr>
          <p:cNvPr id="3" name="Content Placeholder 2"/>
          <p:cNvSpPr>
            <a:spLocks noGrp="1"/>
          </p:cNvSpPr>
          <p:nvPr>
            <p:ph sz="quarter" idx="21"/>
          </p:nvPr>
        </p:nvSpPr>
        <p:spPr>
          <a:xfrm>
            <a:off x="6912864" y="1287395"/>
            <a:ext cx="4956048" cy="5271079"/>
          </a:xfrm>
        </p:spPr>
        <p:txBody>
          <a:bodyPr>
            <a:normAutofit fontScale="77500" lnSpcReduction="20000"/>
          </a:bodyPr>
          <a:lstStyle/>
          <a:p>
            <a:r>
              <a:rPr lang="en-US" sz="2600"/>
              <a:t>Monitors</a:t>
            </a:r>
            <a:r>
              <a:rPr lang="en-US" sz="2400"/>
              <a:t> – </a:t>
            </a:r>
            <a:endParaRPr lang="en-US"/>
          </a:p>
          <a:p>
            <a:pPr lvl="1"/>
            <a:r>
              <a:rPr lang="en-US" sz="2300">
                <a:solidFill>
                  <a:srgbClr val="000000"/>
                </a:solidFill>
              </a:rPr>
              <a:t>AWS resources</a:t>
            </a:r>
            <a:r>
              <a:rPr lang="en-US" sz="2300"/>
              <a:t> </a:t>
            </a:r>
          </a:p>
          <a:p>
            <a:pPr lvl="1"/>
            <a:r>
              <a:rPr lang="en-US" sz="2300">
                <a:solidFill>
                  <a:srgbClr val="000000"/>
                </a:solidFill>
              </a:rPr>
              <a:t>Applications</a:t>
            </a:r>
            <a:r>
              <a:rPr lang="en-US" sz="2300"/>
              <a:t> that run on AWS</a:t>
            </a:r>
          </a:p>
          <a:p>
            <a:r>
              <a:rPr lang="en-US" sz="2600"/>
              <a:t>Collects and tracks</a:t>
            </a:r>
            <a:r>
              <a:rPr lang="en-US" sz="2400"/>
              <a:t> – </a:t>
            </a:r>
            <a:endParaRPr lang="en-US" sz="2600"/>
          </a:p>
          <a:p>
            <a:pPr lvl="1"/>
            <a:r>
              <a:rPr lang="en-US" sz="2300">
                <a:solidFill>
                  <a:srgbClr val="000000"/>
                </a:solidFill>
              </a:rPr>
              <a:t>Standard metrics</a:t>
            </a:r>
            <a:endParaRPr lang="en-US" sz="2300">
              <a:solidFill>
                <a:srgbClr val="000000"/>
              </a:solidFill>
              <a:latin typeface="Amazon Ember Light" panose="020B0403020204020204"/>
            </a:endParaRPr>
          </a:p>
          <a:p>
            <a:pPr lvl="1"/>
            <a:r>
              <a:rPr lang="en-US" sz="2300">
                <a:solidFill>
                  <a:srgbClr val="000000"/>
                </a:solidFill>
              </a:rPr>
              <a:t>Custom metrics</a:t>
            </a:r>
            <a:endParaRPr lang="en-US" sz="2300">
              <a:solidFill>
                <a:srgbClr val="000000"/>
              </a:solidFill>
              <a:latin typeface="Amazon Ember Light" panose="020B0403020204020204"/>
            </a:endParaRPr>
          </a:p>
          <a:p>
            <a:r>
              <a:rPr lang="en-US" sz="2600"/>
              <a:t>Alarms</a:t>
            </a:r>
            <a:r>
              <a:rPr lang="en-US" sz="2400"/>
              <a:t> – </a:t>
            </a:r>
            <a:r>
              <a:rPr lang="en-US" sz="2600"/>
              <a:t> </a:t>
            </a:r>
          </a:p>
          <a:p>
            <a:pPr lvl="1"/>
            <a:r>
              <a:rPr lang="en-US" sz="2300">
                <a:solidFill>
                  <a:srgbClr val="000000"/>
                </a:solidFill>
              </a:rPr>
              <a:t>Send notifications</a:t>
            </a:r>
            <a:r>
              <a:rPr lang="en-US" sz="2300"/>
              <a:t> to an Amazon SNS topic</a:t>
            </a:r>
          </a:p>
          <a:p>
            <a:pPr lvl="1"/>
            <a:r>
              <a:rPr lang="en-US" sz="2300"/>
              <a:t>Perform Amazon EC2 Auto Scaling or Amazon EC2 actions</a:t>
            </a:r>
          </a:p>
          <a:p>
            <a:r>
              <a:rPr lang="en-US" sz="2600"/>
              <a:t>Events</a:t>
            </a:r>
            <a:r>
              <a:rPr lang="en-US" sz="2400"/>
              <a:t> – </a:t>
            </a:r>
            <a:endParaRPr lang="en-US" sz="2600"/>
          </a:p>
          <a:p>
            <a:pPr lvl="1"/>
            <a:r>
              <a:rPr lang="en-US" sz="2300">
                <a:solidFill>
                  <a:srgbClr val="000000"/>
                </a:solidFill>
              </a:rPr>
              <a:t>Define rules to match changes in AWS environment and route these events to one or more target functions or streams for processing</a:t>
            </a:r>
            <a:endParaRPr lang="en-US" sz="2300">
              <a:solidFill>
                <a:srgbClr val="000000"/>
              </a:solidFill>
              <a:latin typeface="Amazon Ember Light" panose="020B0403020204020204"/>
            </a:endParaRPr>
          </a:p>
        </p:txBody>
      </p:sp>
      <p:pic>
        <p:nvPicPr>
          <p:cNvPr id="11" name="Graphic 10">
            <a:extLst>
              <a:ext uri="{FF2B5EF4-FFF2-40B4-BE49-F238E27FC236}">
                <a16:creationId xmlns:a16="http://schemas.microsoft.com/office/drawing/2014/main" id="{7CA04BB1-1F67-4ACC-860D-7CCC767038AA}"/>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2971" y="1729991"/>
            <a:ext cx="914400" cy="914400"/>
          </a:xfrm>
          <a:prstGeom prst="rect">
            <a:avLst/>
          </a:prstGeom>
        </p:spPr>
      </p:pic>
      <p:sp>
        <p:nvSpPr>
          <p:cNvPr id="9" name="TextBox 8">
            <a:extLst>
              <a:ext uri="{FF2B5EF4-FFF2-40B4-BE49-F238E27FC236}">
                <a16:creationId xmlns:a16="http://schemas.microsoft.com/office/drawing/2014/main" id="{694E21D3-538B-42C2-BB4D-EBF63C7E5EAA}"/>
              </a:ext>
            </a:extLst>
          </p:cNvPr>
          <p:cNvSpPr txBox="1"/>
          <p:nvPr/>
        </p:nvSpPr>
        <p:spPr>
          <a:xfrm>
            <a:off x="467445" y="2766799"/>
            <a:ext cx="1885453" cy="830997"/>
          </a:xfrm>
          <a:prstGeom prst="rect">
            <a:avLst/>
          </a:prstGeom>
          <a:noFill/>
        </p:spPr>
        <p:txBody>
          <a:bodyPr wrap="none" rtlCol="0">
            <a:spAutoFit/>
          </a:bodyPr>
          <a:lstStyle/>
          <a:p>
            <a:pPr algn="ctr"/>
            <a:r>
              <a:rPr lang="en-US" sz="2400">
                <a:ea typeface="Amazon Ember Medium" panose="020B0603020204020204" pitchFamily="34" charset="0"/>
                <a:cs typeface="Amazon Ember Medium" panose="020B0603020204020204" pitchFamily="34" charset="0"/>
              </a:rPr>
              <a:t>Amazon</a:t>
            </a:r>
          </a:p>
          <a:p>
            <a:pPr algn="ctr"/>
            <a:r>
              <a:rPr lang="en-US" sz="2400">
                <a:ea typeface="Amazon Ember Medium" panose="020B0603020204020204" pitchFamily="34" charset="0"/>
                <a:cs typeface="Amazon Ember Medium" panose="020B0603020204020204" pitchFamily="34" charset="0"/>
              </a:rPr>
              <a:t>CloudWatch</a:t>
            </a:r>
          </a:p>
        </p:txBody>
      </p:sp>
      <p:pic>
        <p:nvPicPr>
          <p:cNvPr id="10" name="Picture 9">
            <a:extLst>
              <a:ext uri="{C183D7F6-B498-43B3-948B-1728B52AA6E4}">
                <adec:decorative xmlns:adec="http://schemas.microsoft.com/office/drawing/2017/decorative" val="1"/>
              </a:ext>
            </a:extLst>
          </p:cNvPr>
          <p:cNvPicPr>
            <a:picLocks noChangeAspect="1"/>
          </p:cNvPicPr>
          <p:nvPr/>
        </p:nvPicPr>
        <p:blipFill>
          <a:blip r:embed="rId6">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4162038" y="1287395"/>
            <a:ext cx="2743200" cy="2743200"/>
          </a:xfrm>
          <a:prstGeom prst="rect">
            <a:avLst/>
          </a:prstGeom>
        </p:spPr>
      </p:pic>
      <p:pic>
        <p:nvPicPr>
          <p:cNvPr id="14" name="Picture 13">
            <a:extLst>
              <a:ext uri="{C183D7F6-B498-43B3-948B-1728B52AA6E4}">
                <adec:decorative xmlns:adec="http://schemas.microsoft.com/office/drawing/2017/decorative" val="1"/>
              </a:ext>
            </a:extLst>
          </p:cNvPr>
          <p:cNvPicPr>
            <a:picLocks noChangeAspect="1"/>
          </p:cNvPicPr>
          <p:nvPr/>
        </p:nvPicPr>
        <p:blipFill>
          <a:blip r:embed="rId7">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4162038" y="3404081"/>
            <a:ext cx="2743200" cy="2743200"/>
          </a:xfrm>
          <a:prstGeom prst="rect">
            <a:avLst/>
          </a:prstGeom>
        </p:spPr>
      </p:pic>
    </p:spTree>
    <p:custDataLst>
      <p:tags r:id="rId1"/>
    </p:custDataLst>
    <p:extLst>
      <p:ext uri="{BB962C8B-B14F-4D97-AF65-F5344CB8AC3E}">
        <p14:creationId xmlns:p14="http://schemas.microsoft.com/office/powerpoint/2010/main" val="7752587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5EDA6C7-90D3-4137-8A75-F27570AE0708}"/>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62</a:t>
            </a:fld>
            <a:endParaRPr lang="en-US"/>
          </a:p>
        </p:txBody>
      </p:sp>
      <p:sp>
        <p:nvSpPr>
          <p:cNvPr id="2" name="Title 1">
            <a:extLst>
              <a:ext uri="{FF2B5EF4-FFF2-40B4-BE49-F238E27FC236}">
                <a16:creationId xmlns:a16="http://schemas.microsoft.com/office/drawing/2014/main" id="{2D6FDE1B-AA08-4266-AA32-78678923FAD3}"/>
              </a:ext>
            </a:extLst>
          </p:cNvPr>
          <p:cNvSpPr>
            <a:spLocks noGrp="1"/>
          </p:cNvSpPr>
          <p:nvPr>
            <p:ph type="title"/>
          </p:nvPr>
        </p:nvSpPr>
        <p:spPr/>
        <p:txBody>
          <a:bodyPr/>
          <a:lstStyle/>
          <a:p>
            <a:r>
              <a:rPr lang="en-US"/>
              <a:t>CloudWatch alarms</a:t>
            </a:r>
          </a:p>
        </p:txBody>
      </p:sp>
      <p:sp>
        <p:nvSpPr>
          <p:cNvPr id="13" name="Content Placeholder 12">
            <a:extLst>
              <a:ext uri="{FF2B5EF4-FFF2-40B4-BE49-F238E27FC236}">
                <a16:creationId xmlns:a16="http://schemas.microsoft.com/office/drawing/2014/main" id="{27E5411F-8F21-4807-92AD-D07B0818C096}"/>
              </a:ext>
            </a:extLst>
          </p:cNvPr>
          <p:cNvSpPr>
            <a:spLocks noGrp="1"/>
          </p:cNvSpPr>
          <p:nvPr>
            <p:ph sz="quarter" idx="21"/>
          </p:nvPr>
        </p:nvSpPr>
        <p:spPr>
          <a:xfrm>
            <a:off x="365760" y="1143000"/>
            <a:ext cx="5559552" cy="5291750"/>
          </a:xfrm>
        </p:spPr>
        <p:txBody>
          <a:bodyPr>
            <a:normAutofit fontScale="92500" lnSpcReduction="20000"/>
          </a:bodyPr>
          <a:lstStyle/>
          <a:p>
            <a:r>
              <a:rPr lang="en-US"/>
              <a:t>Create alarms based on – </a:t>
            </a:r>
          </a:p>
          <a:p>
            <a:pPr lvl="1"/>
            <a:r>
              <a:rPr lang="en-US"/>
              <a:t>Static threshold</a:t>
            </a:r>
          </a:p>
          <a:p>
            <a:pPr lvl="1"/>
            <a:r>
              <a:rPr lang="en-US"/>
              <a:t>Anomaly detection</a:t>
            </a:r>
          </a:p>
          <a:p>
            <a:pPr lvl="1"/>
            <a:r>
              <a:rPr lang="en-US"/>
              <a:t>Metric math expression</a:t>
            </a:r>
          </a:p>
          <a:p>
            <a:r>
              <a:rPr lang="en-US"/>
              <a:t>Specify – </a:t>
            </a:r>
          </a:p>
          <a:p>
            <a:pPr lvl="1"/>
            <a:r>
              <a:rPr lang="en-US"/>
              <a:t>Namespace</a:t>
            </a:r>
          </a:p>
          <a:p>
            <a:pPr lvl="1"/>
            <a:r>
              <a:rPr lang="en-US"/>
              <a:t>Metric</a:t>
            </a:r>
          </a:p>
          <a:p>
            <a:pPr lvl="1"/>
            <a:r>
              <a:rPr lang="en-US"/>
              <a:t>Statistic</a:t>
            </a:r>
          </a:p>
          <a:p>
            <a:pPr lvl="1"/>
            <a:r>
              <a:rPr lang="en-US"/>
              <a:t>Period</a:t>
            </a:r>
          </a:p>
          <a:p>
            <a:pPr lvl="1"/>
            <a:r>
              <a:rPr lang="en-US"/>
              <a:t>Conditions</a:t>
            </a:r>
          </a:p>
          <a:p>
            <a:pPr lvl="1"/>
            <a:r>
              <a:rPr lang="en-US"/>
              <a:t>Additional configuration</a:t>
            </a:r>
          </a:p>
          <a:p>
            <a:pPr lvl="1"/>
            <a:r>
              <a:rPr lang="en-US"/>
              <a:t>Actions</a:t>
            </a:r>
          </a:p>
        </p:txBody>
      </p:sp>
      <p:pic>
        <p:nvPicPr>
          <p:cNvPr id="17" name="Picture 16" descr="Alarm statistic (average) and period (five minutes).">
            <a:extLst>
              <a:ext uri="{FF2B5EF4-FFF2-40B4-BE49-F238E27FC236}">
                <a16:creationId xmlns:a16="http://schemas.microsoft.com/office/drawing/2014/main" id="{BB817143-7143-41AC-8F19-CE7C86DC7FC0}"/>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5240580" y="1216429"/>
            <a:ext cx="3973690" cy="1550230"/>
          </a:xfrm>
          <a:prstGeom prst="rect">
            <a:avLst/>
          </a:prstGeom>
        </p:spPr>
      </p:pic>
      <p:pic>
        <p:nvPicPr>
          <p:cNvPr id="12" name="Picture 11" descr="Setting CloudWatch alarm conditions with selections for threshold type and CPU utilization values.">
            <a:extLst>
              <a:ext uri="{FF2B5EF4-FFF2-40B4-BE49-F238E27FC236}">
                <a16:creationId xmlns:a16="http://schemas.microsoft.com/office/drawing/2014/main" id="{B5140747-79EB-4499-BF0E-5D070E1A896F}"/>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5240580" y="2873449"/>
            <a:ext cx="6799951" cy="3482901"/>
          </a:xfrm>
          <a:prstGeom prst="rect">
            <a:avLst/>
          </a:prstGeom>
        </p:spPr>
      </p:pic>
    </p:spTree>
    <p:custDataLst>
      <p:tags r:id="rId1"/>
    </p:custDataLst>
    <p:extLst>
      <p:ext uri="{BB962C8B-B14F-4D97-AF65-F5344CB8AC3E}">
        <p14:creationId xmlns:p14="http://schemas.microsoft.com/office/powerpoint/2010/main" val="41937662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63</a:t>
            </a:fld>
            <a:endParaRPr lang="en-US"/>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lstStyle/>
          <a:p>
            <a:r>
              <a:rPr lang="en-US">
                <a:latin typeface="+mj-lt"/>
              </a:rPr>
              <a:t>Section 2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r>
              <a:rPr lang="en-US">
                <a:latin typeface="+mn-lt"/>
              </a:rPr>
              <a:t>Amazon CloudWatch helps you monitor your AWS resources—and the applications that you run on AWS—in real time.</a:t>
            </a:r>
          </a:p>
          <a:p>
            <a:r>
              <a:rPr lang="en-US">
                <a:latin typeface="+mn-lt"/>
              </a:rPr>
              <a:t>CloudWatch enables you to – </a:t>
            </a:r>
          </a:p>
          <a:p>
            <a:pPr lvl="1"/>
            <a:r>
              <a:rPr lang="en-US">
                <a:latin typeface="+mn-lt"/>
              </a:rPr>
              <a:t>Collect and track standard and custom metrics.</a:t>
            </a:r>
          </a:p>
          <a:p>
            <a:pPr lvl="1"/>
            <a:r>
              <a:rPr lang="en-US">
                <a:latin typeface="+mn-lt"/>
              </a:rPr>
              <a:t>Set alarms to automatically send notifications to SNS topics, or perform Amazon EC2 Auto Scaling or Amazon EC2 actions.</a:t>
            </a:r>
          </a:p>
          <a:p>
            <a:pPr lvl="1"/>
            <a:r>
              <a:rPr lang="en-US">
                <a:latin typeface="+mn-lt"/>
              </a:rPr>
              <a:t>Define rules that match changes in your AWS environment and route these events to targets for processing.</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24129817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64B8E0-60AD-514D-93D6-076C58CF731E}"/>
              </a:ext>
            </a:extLst>
          </p:cNvPr>
          <p:cNvSpPr>
            <a:spLocks noGrp="1"/>
          </p:cNvSpPr>
          <p:nvPr>
            <p:ph type="subTitle" idx="1"/>
          </p:nvPr>
        </p:nvSpPr>
        <p:spPr/>
        <p:txBody>
          <a:bodyPr>
            <a:normAutofit/>
          </a:bodyPr>
          <a:lstStyle/>
          <a:p>
            <a:r>
              <a:rPr lang="en-US">
                <a:latin typeface="+mn-lt"/>
              </a:rPr>
              <a:t>Module 10: Automatic Scaling and Monitoring</a:t>
            </a:r>
          </a:p>
        </p:txBody>
      </p:sp>
      <p:sp>
        <p:nvSpPr>
          <p:cNvPr id="2" name="Title 1"/>
          <p:cNvSpPr>
            <a:spLocks noGrp="1"/>
          </p:cNvSpPr>
          <p:nvPr>
            <p:ph type="title"/>
          </p:nvPr>
        </p:nvSpPr>
        <p:spPr/>
        <p:txBody>
          <a:bodyPr>
            <a:noAutofit/>
          </a:bodyPr>
          <a:lstStyle/>
          <a:p>
            <a:r>
              <a:rPr lang="en-US">
                <a:latin typeface="+mj-lt"/>
              </a:rPr>
              <a:t>Section 3: Amazon EC2 Auto Scaling</a:t>
            </a:r>
          </a:p>
        </p:txBody>
      </p:sp>
    </p:spTree>
    <p:custDataLst>
      <p:tags r:id="rId1"/>
    </p:custDataLst>
    <p:extLst>
      <p:ext uri="{BB962C8B-B14F-4D97-AF65-F5344CB8AC3E}">
        <p14:creationId xmlns:p14="http://schemas.microsoft.com/office/powerpoint/2010/main" val="7248061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2AD078-B088-1036-0B24-7842269F033C}"/>
              </a:ext>
            </a:extLst>
          </p:cNvPr>
          <p:cNvSpPr>
            <a:spLocks noGrp="1"/>
          </p:cNvSpPr>
          <p:nvPr>
            <p:ph type="sldNum" sz="quarter" idx="20"/>
          </p:nvPr>
        </p:nvSpPr>
        <p:spPr/>
        <p:txBody>
          <a:bodyPr/>
          <a:lstStyle/>
          <a:p>
            <a:fld id="{930176A1-BCF0-4712-97A6-6B495F55390B}" type="slidenum">
              <a:rPr lang="en-US" smtClean="0"/>
              <a:pPr/>
              <a:t>65</a:t>
            </a:fld>
            <a:endParaRPr lang="en-US"/>
          </a:p>
        </p:txBody>
      </p:sp>
      <p:sp>
        <p:nvSpPr>
          <p:cNvPr id="2" name="Title 1"/>
          <p:cNvSpPr>
            <a:spLocks noGrp="1"/>
          </p:cNvSpPr>
          <p:nvPr>
            <p:ph type="title"/>
          </p:nvPr>
        </p:nvSpPr>
        <p:spPr/>
        <p:txBody>
          <a:bodyPr>
            <a:noAutofit/>
          </a:bodyPr>
          <a:lstStyle/>
          <a:p>
            <a:r>
              <a:rPr lang="en-US"/>
              <a:t>Why is scaling important?</a:t>
            </a:r>
          </a:p>
        </p:txBody>
      </p:sp>
      <p:grpSp>
        <p:nvGrpSpPr>
          <p:cNvPr id="5" name="Group 4" descr="A graph showing used capacity falling below provisioned capacity all seven days of the week.">
            <a:extLst>
              <a:ext uri="{FF2B5EF4-FFF2-40B4-BE49-F238E27FC236}">
                <a16:creationId xmlns:a16="http://schemas.microsoft.com/office/drawing/2014/main" id="{C9960E0E-31F9-41A5-9F75-367CD39AE3E6}"/>
              </a:ext>
              <a:ext uri="{C183D7F6-B498-43B3-948B-1728B52AA6E4}">
                <adec:decorative xmlns:adec="http://schemas.microsoft.com/office/drawing/2017/decorative" val="0"/>
              </a:ext>
            </a:extLst>
          </p:cNvPr>
          <p:cNvGrpSpPr/>
          <p:nvPr/>
        </p:nvGrpSpPr>
        <p:grpSpPr>
          <a:xfrm>
            <a:off x="1125810" y="2094064"/>
            <a:ext cx="4015782" cy="2529347"/>
            <a:chOff x="1125810" y="2094064"/>
            <a:chExt cx="4015782" cy="2529347"/>
          </a:xfrm>
        </p:grpSpPr>
        <p:grpSp>
          <p:nvGrpSpPr>
            <p:cNvPr id="54" name="Group 53">
              <a:extLst>
                <a:ext uri="{C183D7F6-B498-43B3-948B-1728B52AA6E4}">
                  <adec:decorative xmlns:adec="http://schemas.microsoft.com/office/drawing/2017/decorative" val="1"/>
                </a:ext>
              </a:extLst>
            </p:cNvPr>
            <p:cNvGrpSpPr/>
            <p:nvPr/>
          </p:nvGrpSpPr>
          <p:grpSpPr>
            <a:xfrm>
              <a:off x="1125810" y="2094064"/>
              <a:ext cx="3795606" cy="2167008"/>
              <a:chOff x="7346959" y="2040069"/>
              <a:chExt cx="3795606" cy="2167008"/>
            </a:xfrm>
            <a:solidFill>
              <a:srgbClr val="BDCADA"/>
            </a:solidFill>
          </p:grpSpPr>
          <p:sp>
            <p:nvSpPr>
              <p:cNvPr id="47" name="Rectangle 46"/>
              <p:cNvSpPr/>
              <p:nvPr/>
            </p:nvSpPr>
            <p:spPr>
              <a:xfrm>
                <a:off x="7346959" y="3853813"/>
                <a:ext cx="767905" cy="3367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48" name="Rectangle 47"/>
              <p:cNvSpPr/>
              <p:nvPr/>
            </p:nvSpPr>
            <p:spPr>
              <a:xfrm>
                <a:off x="7893069" y="3080626"/>
                <a:ext cx="711562" cy="10999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49" name="Rectangle 48"/>
              <p:cNvSpPr/>
              <p:nvPr/>
            </p:nvSpPr>
            <p:spPr>
              <a:xfrm>
                <a:off x="8437942" y="2867392"/>
                <a:ext cx="701630" cy="13231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50" name="Rectangle 49"/>
              <p:cNvSpPr/>
              <p:nvPr/>
            </p:nvSpPr>
            <p:spPr>
              <a:xfrm>
                <a:off x="8945575" y="2040069"/>
                <a:ext cx="616559" cy="21312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51" name="Rectangle 50"/>
              <p:cNvSpPr/>
              <p:nvPr/>
            </p:nvSpPr>
            <p:spPr>
              <a:xfrm>
                <a:off x="9454355" y="2696217"/>
                <a:ext cx="647451" cy="1477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52" name="Rectangle 51"/>
              <p:cNvSpPr/>
              <p:nvPr/>
            </p:nvSpPr>
            <p:spPr>
              <a:xfrm>
                <a:off x="9940326" y="3229838"/>
                <a:ext cx="663941" cy="9652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53" name="Rectangle 52"/>
              <p:cNvSpPr/>
              <p:nvPr/>
            </p:nvSpPr>
            <p:spPr>
              <a:xfrm>
                <a:off x="10438693" y="3645862"/>
                <a:ext cx="703872" cy="5612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grpSp>
        <p:sp>
          <p:nvSpPr>
            <p:cNvPr id="38" name="Rectangle 37">
              <a:extLst>
                <a:ext uri="{C183D7F6-B498-43B3-948B-1728B52AA6E4}">
                  <adec:decorative xmlns:adec="http://schemas.microsoft.com/office/drawing/2017/decorative" val="1"/>
                </a:ext>
              </a:extLst>
            </p:cNvPr>
            <p:cNvSpPr/>
            <p:nvPr/>
          </p:nvSpPr>
          <p:spPr>
            <a:xfrm>
              <a:off x="1158392" y="2107537"/>
              <a:ext cx="3842795" cy="2128041"/>
            </a:xfrm>
            <a:prstGeom prst="rect">
              <a:avLst/>
            </a:prstGeom>
            <a:solidFill>
              <a:srgbClr val="BDCBD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cxnSp>
          <p:nvCxnSpPr>
            <p:cNvPr id="7" name="Straight Connector 6">
              <a:extLst>
                <a:ext uri="{C183D7F6-B498-43B3-948B-1728B52AA6E4}">
                  <adec:decorative xmlns:adec="http://schemas.microsoft.com/office/drawing/2017/decorative" val="1"/>
                </a:ext>
              </a:extLst>
            </p:cNvPr>
            <p:cNvCxnSpPr/>
            <p:nvPr/>
          </p:nvCxnSpPr>
          <p:spPr>
            <a:xfrm>
              <a:off x="1143995" y="2107537"/>
              <a:ext cx="0" cy="212284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C183D7F6-B498-43B3-948B-1728B52AA6E4}">
                  <adec:decorative xmlns:adec="http://schemas.microsoft.com/office/drawing/2017/decorative" val="1"/>
                </a:ext>
              </a:extLst>
            </p:cNvPr>
            <p:cNvCxnSpPr/>
            <p:nvPr/>
          </p:nvCxnSpPr>
          <p:spPr>
            <a:xfrm>
              <a:off x="1143995" y="4230383"/>
              <a:ext cx="3842795"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249811" y="4223301"/>
              <a:ext cx="376577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Su    M     T     W     Th     F     Sa</a:t>
              </a:r>
            </a:p>
          </p:txBody>
        </p:sp>
        <p:sp>
          <p:nvSpPr>
            <p:cNvPr id="17" name="Rectangle 16"/>
            <p:cNvSpPr/>
            <p:nvPr/>
          </p:nvSpPr>
          <p:spPr>
            <a:xfrm>
              <a:off x="1211249" y="3958886"/>
              <a:ext cx="465181" cy="27045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23" name="Rectangle 22"/>
            <p:cNvSpPr/>
            <p:nvPr/>
          </p:nvSpPr>
          <p:spPr>
            <a:xfrm>
              <a:off x="1743683" y="3211812"/>
              <a:ext cx="465181" cy="101857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24" name="Rectangle 23"/>
            <p:cNvSpPr/>
            <p:nvPr/>
          </p:nvSpPr>
          <p:spPr>
            <a:xfrm>
              <a:off x="2276117" y="3009003"/>
              <a:ext cx="465181" cy="122242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25" name="Rectangle 24"/>
            <p:cNvSpPr/>
            <p:nvPr/>
          </p:nvSpPr>
          <p:spPr>
            <a:xfrm>
              <a:off x="2808551" y="2107537"/>
              <a:ext cx="465181" cy="2124925"/>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30" name="Rectangle 29"/>
            <p:cNvSpPr/>
            <p:nvPr/>
          </p:nvSpPr>
          <p:spPr>
            <a:xfrm>
              <a:off x="3340985" y="2848237"/>
              <a:ext cx="465181" cy="138526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31" name="Rectangle 30"/>
            <p:cNvSpPr/>
            <p:nvPr/>
          </p:nvSpPr>
          <p:spPr>
            <a:xfrm>
              <a:off x="3873419" y="3368619"/>
              <a:ext cx="465181" cy="86592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32" name="Rectangle 31"/>
            <p:cNvSpPr/>
            <p:nvPr/>
          </p:nvSpPr>
          <p:spPr>
            <a:xfrm>
              <a:off x="4405853" y="3763385"/>
              <a:ext cx="465181" cy="4721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grpSp>
          <p:nvGrpSpPr>
            <p:cNvPr id="39" name="Group 38"/>
            <p:cNvGrpSpPr/>
            <p:nvPr/>
          </p:nvGrpSpPr>
          <p:grpSpPr>
            <a:xfrm>
              <a:off x="3569524" y="2114058"/>
              <a:ext cx="1572068" cy="724131"/>
              <a:chOff x="9516688" y="2000450"/>
              <a:chExt cx="1572068" cy="724131"/>
            </a:xfrm>
          </p:grpSpPr>
          <p:sp>
            <p:nvSpPr>
              <p:cNvPr id="40" name="TextBox 39"/>
              <p:cNvSpPr txBox="1"/>
              <p:nvPr/>
            </p:nvSpPr>
            <p:spPr>
              <a:xfrm>
                <a:off x="9895074" y="2000450"/>
                <a:ext cx="1193682"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Unused</a:t>
                </a:r>
                <a:endParaRPr kumimoji="0" lang="en-US" sz="1800" b="0" i="0" u="none" strike="noStrike" kern="1200" cap="none" spc="0" normalizeH="0" baseline="0" noProof="0">
                  <a:ln>
                    <a:noFill/>
                  </a:ln>
                  <a:solidFill>
                    <a:srgbClr val="000000"/>
                  </a:solidFill>
                  <a:effectLst/>
                  <a:uLnTx/>
                  <a:uFillTx/>
                  <a:latin typeface="Amazon Ember Light" panose="020B0403020204020204"/>
                  <a:ea typeface="Amazon Ember Light" panose="020B0403020204020204" pitchFamily="34" charset="0"/>
                  <a:cs typeface="Amazon Ember Light" panose="020B04030202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capacity</a:t>
                </a:r>
                <a:endParaRPr kumimoji="0" lang="en-US" sz="1800" b="0" i="0" u="none" strike="noStrike" kern="1200" cap="none" spc="0" normalizeH="0" baseline="0" noProof="0">
                  <a:ln>
                    <a:noFill/>
                  </a:ln>
                  <a:solidFill>
                    <a:srgbClr val="000000"/>
                  </a:solidFill>
                  <a:effectLst/>
                  <a:uLnTx/>
                  <a:uFillTx/>
                  <a:latin typeface="Amazon Ember Light" panose="020B0403020204020204"/>
                  <a:ea typeface="Amazon Ember Light" panose="020B0403020204020204" pitchFamily="34" charset="0"/>
                  <a:cs typeface="Amazon Ember Light" panose="020B0403020204020204" pitchFamily="34" charset="0"/>
                </a:endParaRPr>
              </a:p>
            </p:txBody>
          </p:sp>
          <p:sp>
            <p:nvSpPr>
              <p:cNvPr id="41" name="Right Brace 40"/>
              <p:cNvSpPr/>
              <p:nvPr/>
            </p:nvSpPr>
            <p:spPr>
              <a:xfrm>
                <a:off x="9516688" y="2011192"/>
                <a:ext cx="414390" cy="713389"/>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Light"/>
                  <a:ea typeface="+mn-ea"/>
                  <a:cs typeface="+mn-cs"/>
                </a:endParaRPr>
              </a:p>
            </p:txBody>
          </p:sp>
        </p:grpSp>
      </p:grpSp>
      <p:grpSp>
        <p:nvGrpSpPr>
          <p:cNvPr id="37" name="Group 36" descr="Graph showing used capacity exceeds provisioned capacity on Wednesday while sitting below capacity on the other days of the week.">
            <a:extLst>
              <a:ext uri="{FF2B5EF4-FFF2-40B4-BE49-F238E27FC236}">
                <a16:creationId xmlns:a16="http://schemas.microsoft.com/office/drawing/2014/main" id="{8CAB5DBD-B045-48B3-BD2C-B20D71BBD2DD}"/>
              </a:ext>
              <a:ext uri="{C183D7F6-B498-43B3-948B-1728B52AA6E4}">
                <adec:decorative xmlns:adec="http://schemas.microsoft.com/office/drawing/2017/decorative" val="0"/>
              </a:ext>
            </a:extLst>
          </p:cNvPr>
          <p:cNvGrpSpPr/>
          <p:nvPr/>
        </p:nvGrpSpPr>
        <p:grpSpPr>
          <a:xfrm>
            <a:off x="6768558" y="2054449"/>
            <a:ext cx="3889775" cy="2568966"/>
            <a:chOff x="1125810" y="2054445"/>
            <a:chExt cx="3889775" cy="2568966"/>
          </a:xfrm>
        </p:grpSpPr>
        <p:grpSp>
          <p:nvGrpSpPr>
            <p:cNvPr id="42" name="Group 41">
              <a:extLst>
                <a:ext uri="{FF2B5EF4-FFF2-40B4-BE49-F238E27FC236}">
                  <a16:creationId xmlns:a16="http://schemas.microsoft.com/office/drawing/2014/main" id="{658C09E3-0075-4CC8-BA62-8C5547110151}"/>
                </a:ext>
              </a:extLst>
            </p:cNvPr>
            <p:cNvGrpSpPr/>
            <p:nvPr/>
          </p:nvGrpSpPr>
          <p:grpSpPr>
            <a:xfrm>
              <a:off x="1125810" y="2750212"/>
              <a:ext cx="3795606" cy="1510860"/>
              <a:chOff x="7346959" y="2696217"/>
              <a:chExt cx="3795606" cy="1510860"/>
            </a:xfrm>
            <a:solidFill>
              <a:srgbClr val="BDCADA"/>
            </a:solidFill>
          </p:grpSpPr>
          <p:sp>
            <p:nvSpPr>
              <p:cNvPr id="69" name="Rectangle 68">
                <a:extLst>
                  <a:ext uri="{FF2B5EF4-FFF2-40B4-BE49-F238E27FC236}">
                    <a16:creationId xmlns:a16="http://schemas.microsoft.com/office/drawing/2014/main" id="{2B749B2A-4515-47A6-A661-0ABFB65BBDF0}"/>
                  </a:ext>
                </a:extLst>
              </p:cNvPr>
              <p:cNvSpPr/>
              <p:nvPr/>
            </p:nvSpPr>
            <p:spPr>
              <a:xfrm>
                <a:off x="7346959" y="3853813"/>
                <a:ext cx="767905" cy="3367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70" name="Rectangle 69">
                <a:extLst>
                  <a:ext uri="{FF2B5EF4-FFF2-40B4-BE49-F238E27FC236}">
                    <a16:creationId xmlns:a16="http://schemas.microsoft.com/office/drawing/2014/main" id="{ACEA9A7F-CA31-488D-B652-AE43A8D3DFEB}"/>
                  </a:ext>
                </a:extLst>
              </p:cNvPr>
              <p:cNvSpPr/>
              <p:nvPr/>
            </p:nvSpPr>
            <p:spPr>
              <a:xfrm>
                <a:off x="7893069" y="3080626"/>
                <a:ext cx="711562" cy="10999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71" name="Rectangle 70">
                <a:extLst>
                  <a:ext uri="{FF2B5EF4-FFF2-40B4-BE49-F238E27FC236}">
                    <a16:creationId xmlns:a16="http://schemas.microsoft.com/office/drawing/2014/main" id="{BF0034DE-C6C9-47BA-A71E-BEAF3FFCF3FE}"/>
                  </a:ext>
                </a:extLst>
              </p:cNvPr>
              <p:cNvSpPr/>
              <p:nvPr/>
            </p:nvSpPr>
            <p:spPr>
              <a:xfrm>
                <a:off x="8437942" y="2867392"/>
                <a:ext cx="701630" cy="13231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72" name="Rectangle 71">
                <a:extLst>
                  <a:ext uri="{FF2B5EF4-FFF2-40B4-BE49-F238E27FC236}">
                    <a16:creationId xmlns:a16="http://schemas.microsoft.com/office/drawing/2014/main" id="{8DAB2CB1-1611-48F9-B0F9-5B6E50266858}"/>
                  </a:ext>
                </a:extLst>
              </p:cNvPr>
              <p:cNvSpPr/>
              <p:nvPr/>
            </p:nvSpPr>
            <p:spPr>
              <a:xfrm>
                <a:off x="9454355" y="2696217"/>
                <a:ext cx="647451" cy="1477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73" name="Rectangle 72">
                <a:extLst>
                  <a:ext uri="{FF2B5EF4-FFF2-40B4-BE49-F238E27FC236}">
                    <a16:creationId xmlns:a16="http://schemas.microsoft.com/office/drawing/2014/main" id="{C4FB163E-9117-49FC-BC2A-3D696AD7A222}"/>
                  </a:ext>
                </a:extLst>
              </p:cNvPr>
              <p:cNvSpPr/>
              <p:nvPr/>
            </p:nvSpPr>
            <p:spPr>
              <a:xfrm>
                <a:off x="9940326" y="3229838"/>
                <a:ext cx="663941" cy="9652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74" name="Rectangle 73">
                <a:extLst>
                  <a:ext uri="{FF2B5EF4-FFF2-40B4-BE49-F238E27FC236}">
                    <a16:creationId xmlns:a16="http://schemas.microsoft.com/office/drawing/2014/main" id="{3EDC9C36-F3D7-420C-B2D6-8E2932116F63}"/>
                  </a:ext>
                </a:extLst>
              </p:cNvPr>
              <p:cNvSpPr/>
              <p:nvPr/>
            </p:nvSpPr>
            <p:spPr>
              <a:xfrm>
                <a:off x="10438693" y="3645862"/>
                <a:ext cx="703872" cy="5612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grpSp>
        <p:sp>
          <p:nvSpPr>
            <p:cNvPr id="43" name="Rectangle 42">
              <a:extLst>
                <a:ext uri="{FF2B5EF4-FFF2-40B4-BE49-F238E27FC236}">
                  <a16:creationId xmlns:a16="http://schemas.microsoft.com/office/drawing/2014/main" id="{D7D3444E-A9BA-49B3-8196-8856909F0E07}"/>
                </a:ext>
              </a:extLst>
            </p:cNvPr>
            <p:cNvSpPr/>
            <p:nvPr/>
          </p:nvSpPr>
          <p:spPr>
            <a:xfrm>
              <a:off x="1143995" y="2748114"/>
              <a:ext cx="3842795" cy="1475187"/>
            </a:xfrm>
            <a:prstGeom prst="rect">
              <a:avLst/>
            </a:prstGeom>
            <a:solidFill>
              <a:srgbClr val="BDCBD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cxnSp>
          <p:nvCxnSpPr>
            <p:cNvPr id="44" name="Straight Connector 43">
              <a:extLst>
                <a:ext uri="{FF2B5EF4-FFF2-40B4-BE49-F238E27FC236}">
                  <a16:creationId xmlns:a16="http://schemas.microsoft.com/office/drawing/2014/main" id="{95788B8F-1720-4183-9534-FB36D85FDDA8}"/>
                </a:ext>
              </a:extLst>
            </p:cNvPr>
            <p:cNvCxnSpPr/>
            <p:nvPr/>
          </p:nvCxnSpPr>
          <p:spPr>
            <a:xfrm>
              <a:off x="1143995" y="2107537"/>
              <a:ext cx="0" cy="212284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10D4DBF-86D7-4D31-9A1C-01D7C66E807E}"/>
                </a:ext>
              </a:extLst>
            </p:cNvPr>
            <p:cNvCxnSpPr/>
            <p:nvPr/>
          </p:nvCxnSpPr>
          <p:spPr>
            <a:xfrm>
              <a:off x="1143995" y="4230383"/>
              <a:ext cx="3842795"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5DDDD0E1-DBE1-409E-9BB6-F9B024BF4133}"/>
                </a:ext>
              </a:extLst>
            </p:cNvPr>
            <p:cNvSpPr txBox="1"/>
            <p:nvPr/>
          </p:nvSpPr>
          <p:spPr>
            <a:xfrm>
              <a:off x="1249811" y="4223301"/>
              <a:ext cx="376577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Su    M     T     W     Th     F     Sa</a:t>
              </a:r>
            </a:p>
          </p:txBody>
        </p:sp>
        <p:sp>
          <p:nvSpPr>
            <p:cNvPr id="55" name="Rectangle 54">
              <a:extLst>
                <a:ext uri="{FF2B5EF4-FFF2-40B4-BE49-F238E27FC236}">
                  <a16:creationId xmlns:a16="http://schemas.microsoft.com/office/drawing/2014/main" id="{0C13FA8A-A293-490F-81ED-C2A9622D4964}"/>
                </a:ext>
              </a:extLst>
            </p:cNvPr>
            <p:cNvSpPr/>
            <p:nvPr/>
          </p:nvSpPr>
          <p:spPr>
            <a:xfrm>
              <a:off x="1211249" y="3958886"/>
              <a:ext cx="465181" cy="27045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56" name="Rectangle 55">
              <a:extLst>
                <a:ext uri="{FF2B5EF4-FFF2-40B4-BE49-F238E27FC236}">
                  <a16:creationId xmlns:a16="http://schemas.microsoft.com/office/drawing/2014/main" id="{9DF67BC7-691C-46B3-BFB7-487897DF4174}"/>
                </a:ext>
              </a:extLst>
            </p:cNvPr>
            <p:cNvSpPr/>
            <p:nvPr/>
          </p:nvSpPr>
          <p:spPr>
            <a:xfrm>
              <a:off x="1743683" y="3211812"/>
              <a:ext cx="465181" cy="101857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57" name="Rectangle 56">
              <a:extLst>
                <a:ext uri="{FF2B5EF4-FFF2-40B4-BE49-F238E27FC236}">
                  <a16:creationId xmlns:a16="http://schemas.microsoft.com/office/drawing/2014/main" id="{DAF6510A-A544-4A1C-9F04-CD27EAA3FAB2}"/>
                </a:ext>
              </a:extLst>
            </p:cNvPr>
            <p:cNvSpPr/>
            <p:nvPr/>
          </p:nvSpPr>
          <p:spPr>
            <a:xfrm>
              <a:off x="2276117" y="3009003"/>
              <a:ext cx="465181" cy="122242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58" name="Rectangle 57">
              <a:extLst>
                <a:ext uri="{FF2B5EF4-FFF2-40B4-BE49-F238E27FC236}">
                  <a16:creationId xmlns:a16="http://schemas.microsoft.com/office/drawing/2014/main" id="{B77D143C-4FB0-4F90-AA7B-BAE6D7CEA386}"/>
                </a:ext>
              </a:extLst>
            </p:cNvPr>
            <p:cNvSpPr/>
            <p:nvPr/>
          </p:nvSpPr>
          <p:spPr>
            <a:xfrm>
              <a:off x="2808551" y="2107537"/>
              <a:ext cx="465181" cy="2124925"/>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59" name="Rectangle 58">
              <a:extLst>
                <a:ext uri="{FF2B5EF4-FFF2-40B4-BE49-F238E27FC236}">
                  <a16:creationId xmlns:a16="http://schemas.microsoft.com/office/drawing/2014/main" id="{7DC30907-9F58-4AF4-86AE-FDAC4C84013C}"/>
                </a:ext>
              </a:extLst>
            </p:cNvPr>
            <p:cNvSpPr/>
            <p:nvPr/>
          </p:nvSpPr>
          <p:spPr>
            <a:xfrm>
              <a:off x="3340985" y="2848237"/>
              <a:ext cx="465181" cy="138526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60" name="Rectangle 59">
              <a:extLst>
                <a:ext uri="{FF2B5EF4-FFF2-40B4-BE49-F238E27FC236}">
                  <a16:creationId xmlns:a16="http://schemas.microsoft.com/office/drawing/2014/main" id="{F4B17C92-8B08-4896-B2EC-B52D96C695DA}"/>
                </a:ext>
              </a:extLst>
            </p:cNvPr>
            <p:cNvSpPr/>
            <p:nvPr/>
          </p:nvSpPr>
          <p:spPr>
            <a:xfrm>
              <a:off x="3873419" y="3368619"/>
              <a:ext cx="465181" cy="86592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61" name="Rectangle 60">
              <a:extLst>
                <a:ext uri="{FF2B5EF4-FFF2-40B4-BE49-F238E27FC236}">
                  <a16:creationId xmlns:a16="http://schemas.microsoft.com/office/drawing/2014/main" id="{4337D0D9-FDF4-4B87-B4C0-BB163FE14556}"/>
                </a:ext>
              </a:extLst>
            </p:cNvPr>
            <p:cNvSpPr/>
            <p:nvPr/>
          </p:nvSpPr>
          <p:spPr>
            <a:xfrm>
              <a:off x="4405853" y="3763385"/>
              <a:ext cx="465181" cy="4721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grpSp>
          <p:nvGrpSpPr>
            <p:cNvPr id="66" name="Group 65">
              <a:extLst>
                <a:ext uri="{FF2B5EF4-FFF2-40B4-BE49-F238E27FC236}">
                  <a16:creationId xmlns:a16="http://schemas.microsoft.com/office/drawing/2014/main" id="{1B1C9046-D529-46A5-A42B-FB06ADA717B7}"/>
                </a:ext>
              </a:extLst>
            </p:cNvPr>
            <p:cNvGrpSpPr/>
            <p:nvPr/>
          </p:nvGrpSpPr>
          <p:grpSpPr>
            <a:xfrm>
              <a:off x="3340985" y="2054445"/>
              <a:ext cx="1526622" cy="668173"/>
              <a:chOff x="9562134" y="2000450"/>
              <a:chExt cx="1526622" cy="668173"/>
            </a:xfrm>
          </p:grpSpPr>
          <p:sp>
            <p:nvSpPr>
              <p:cNvPr id="67" name="TextBox 66">
                <a:extLst>
                  <a:ext uri="{FF2B5EF4-FFF2-40B4-BE49-F238E27FC236}">
                    <a16:creationId xmlns:a16="http://schemas.microsoft.com/office/drawing/2014/main" id="{1C0DD5BA-F060-4709-8C6B-46C4703234F2}"/>
                  </a:ext>
                </a:extLst>
              </p:cNvPr>
              <p:cNvSpPr txBox="1"/>
              <p:nvPr/>
            </p:nvSpPr>
            <p:spPr>
              <a:xfrm>
                <a:off x="9895074" y="2000450"/>
                <a:ext cx="1193682"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Over</a:t>
                </a:r>
                <a:endParaRPr kumimoji="0" lang="en-US" sz="1800" b="0" i="0" u="none" strike="noStrike" kern="1200" cap="none" spc="0" normalizeH="0" baseline="0" noProof="0">
                  <a:ln>
                    <a:noFill/>
                  </a:ln>
                  <a:solidFill>
                    <a:srgbClr val="000000"/>
                  </a:solidFill>
                  <a:effectLst/>
                  <a:uLnTx/>
                  <a:uFillTx/>
                  <a:latin typeface="Amazon Ember Light" panose="020B0403020204020204"/>
                  <a:ea typeface="Amazon Ember Light" panose="020B0403020204020204" pitchFamily="34" charset="0"/>
                  <a:cs typeface="Amazon Ember Light" panose="020B0403020204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capacity</a:t>
                </a:r>
                <a:endParaRPr kumimoji="0" lang="en-US" sz="1800" b="0" i="0" u="none" strike="noStrike" kern="1200" cap="none" spc="0" normalizeH="0" baseline="0" noProof="0">
                  <a:ln>
                    <a:noFill/>
                  </a:ln>
                  <a:solidFill>
                    <a:srgbClr val="000000"/>
                  </a:solidFill>
                  <a:effectLst/>
                  <a:uLnTx/>
                  <a:uFillTx/>
                  <a:latin typeface="Amazon Ember Light" panose="020B0403020204020204"/>
                  <a:ea typeface="Amazon Ember Light" panose="020B0403020204020204" pitchFamily="34" charset="0"/>
                  <a:cs typeface="Amazon Ember Light" panose="020B0403020204020204" pitchFamily="34" charset="0"/>
                </a:endParaRPr>
              </a:p>
            </p:txBody>
          </p:sp>
          <p:sp>
            <p:nvSpPr>
              <p:cNvPr id="68" name="Right Brace 67">
                <a:extLst>
                  <a:ext uri="{FF2B5EF4-FFF2-40B4-BE49-F238E27FC236}">
                    <a16:creationId xmlns:a16="http://schemas.microsoft.com/office/drawing/2014/main" id="{EE45ECA1-B63E-4109-AA57-293C17EB8FD3}"/>
                  </a:ext>
                </a:extLst>
              </p:cNvPr>
              <p:cNvSpPr/>
              <p:nvPr/>
            </p:nvSpPr>
            <p:spPr>
              <a:xfrm>
                <a:off x="9562134" y="2053542"/>
                <a:ext cx="368944" cy="615081"/>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Light"/>
                  <a:ea typeface="+mn-ea"/>
                  <a:cs typeface="+mn-cs"/>
                </a:endParaRPr>
              </a:p>
            </p:txBody>
          </p:sp>
        </p:grpSp>
      </p:grpSp>
      <p:grpSp>
        <p:nvGrpSpPr>
          <p:cNvPr id="6" name="Group 5">
            <a:extLst>
              <a:ext uri="{FF2B5EF4-FFF2-40B4-BE49-F238E27FC236}">
                <a16:creationId xmlns:a16="http://schemas.microsoft.com/office/drawing/2014/main" id="{60E326D1-1F48-4CB4-99B0-F5C2D8D16454}"/>
              </a:ext>
              <a:ext uri="{C183D7F6-B498-43B3-948B-1728B52AA6E4}">
                <adec:decorative xmlns:adec="http://schemas.microsoft.com/office/drawing/2017/decorative" val="1"/>
              </a:ext>
            </a:extLst>
          </p:cNvPr>
          <p:cNvGrpSpPr/>
          <p:nvPr/>
        </p:nvGrpSpPr>
        <p:grpSpPr>
          <a:xfrm>
            <a:off x="3659670" y="5191378"/>
            <a:ext cx="4838997" cy="646331"/>
            <a:chOff x="1281501" y="5040778"/>
            <a:chExt cx="4838997" cy="646331"/>
          </a:xfrm>
        </p:grpSpPr>
        <p:sp>
          <p:nvSpPr>
            <p:cNvPr id="33" name="TextBox 32"/>
            <p:cNvSpPr txBox="1"/>
            <p:nvPr/>
          </p:nvSpPr>
          <p:spPr>
            <a:xfrm>
              <a:off x="1492198" y="5040778"/>
              <a:ext cx="157607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Used </a:t>
              </a:r>
              <a:r>
                <a:rPr lang="en-US">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capacity</a:t>
              </a:r>
              <a:br>
                <a:rPr kumimoji="0" lang="en-US" sz="1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(demand)</a:t>
              </a:r>
              <a:endParaRPr kumimoji="0" lang="en-US" sz="1800" b="0" i="0" u="none" strike="noStrike" kern="1200" cap="none" spc="0" normalizeH="0" baseline="0" noProof="0">
                <a:ln>
                  <a:noFill/>
                </a:ln>
                <a:solidFill>
                  <a:srgbClr val="000000"/>
                </a:solidFill>
                <a:effectLst/>
                <a:uLnTx/>
                <a:uFillTx/>
                <a:latin typeface="Amazon Ember Light" panose="020B0403020204020204"/>
                <a:ea typeface="Amazon Ember Light" panose="020B0403020204020204" pitchFamily="34" charset="0"/>
                <a:cs typeface="Amazon Ember Light" panose="020B0403020204020204" pitchFamily="34" charset="0"/>
              </a:endParaRPr>
            </a:p>
          </p:txBody>
        </p:sp>
        <p:sp>
          <p:nvSpPr>
            <p:cNvPr id="34" name="Rectangle 33"/>
            <p:cNvSpPr/>
            <p:nvPr/>
          </p:nvSpPr>
          <p:spPr>
            <a:xfrm>
              <a:off x="1281501" y="5090215"/>
              <a:ext cx="239492" cy="27045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35" name="TextBox 34"/>
            <p:cNvSpPr txBox="1"/>
            <p:nvPr/>
          </p:nvSpPr>
          <p:spPr>
            <a:xfrm>
              <a:off x="3818265" y="5040778"/>
              <a:ext cx="230223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Provisioned capacity</a:t>
              </a:r>
              <a:endParaRPr kumimoji="0" lang="en-US" sz="1800" b="0" i="0" u="none" strike="noStrike" kern="1200" cap="none" spc="0" normalizeH="0" baseline="0" noProof="0">
                <a:ln>
                  <a:noFill/>
                </a:ln>
                <a:solidFill>
                  <a:srgbClr val="000000"/>
                </a:solidFill>
                <a:effectLst/>
                <a:uLnTx/>
                <a:uFillTx/>
                <a:latin typeface="Amazon Ember Light" panose="020B0403020204020204"/>
                <a:ea typeface="Amazon Ember Light" panose="020B0403020204020204" pitchFamily="34" charset="0"/>
                <a:cs typeface="Amazon Ember Light" panose="020B0403020204020204" pitchFamily="34" charset="0"/>
              </a:endParaRPr>
            </a:p>
          </p:txBody>
        </p:sp>
        <p:sp>
          <p:nvSpPr>
            <p:cNvPr id="36" name="Rectangle 35"/>
            <p:cNvSpPr/>
            <p:nvPr/>
          </p:nvSpPr>
          <p:spPr>
            <a:xfrm>
              <a:off x="3607568" y="5090215"/>
              <a:ext cx="239492" cy="270458"/>
            </a:xfrm>
            <a:prstGeom prst="rect">
              <a:avLst/>
            </a:prstGeom>
            <a:solidFill>
              <a:srgbClr val="BDCAD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grpSp>
    </p:spTree>
    <p:custDataLst>
      <p:tags r:id="rId1"/>
    </p:custDataLst>
    <p:extLst>
      <p:ext uri="{BB962C8B-B14F-4D97-AF65-F5344CB8AC3E}">
        <p14:creationId xmlns:p14="http://schemas.microsoft.com/office/powerpoint/2010/main" val="35361322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2AB9879-BF1B-AF8A-D0C4-E7B4B9933773}"/>
              </a:ext>
            </a:extLst>
          </p:cNvPr>
          <p:cNvSpPr>
            <a:spLocks noGrp="1"/>
          </p:cNvSpPr>
          <p:nvPr>
            <p:ph type="sldNum" sz="quarter" idx="20"/>
          </p:nvPr>
        </p:nvSpPr>
        <p:spPr/>
        <p:txBody>
          <a:bodyPr/>
          <a:lstStyle/>
          <a:p>
            <a:fld id="{930176A1-BCF0-4712-97A6-6B495F55390B}" type="slidenum">
              <a:rPr lang="en-US" smtClean="0"/>
              <a:pPr/>
              <a:t>66</a:t>
            </a:fld>
            <a:endParaRPr lang="en-US"/>
          </a:p>
        </p:txBody>
      </p:sp>
      <p:sp>
        <p:nvSpPr>
          <p:cNvPr id="2" name="Title 1"/>
          <p:cNvSpPr>
            <a:spLocks noGrp="1"/>
          </p:cNvSpPr>
          <p:nvPr>
            <p:ph type="title"/>
          </p:nvPr>
        </p:nvSpPr>
        <p:spPr/>
        <p:txBody>
          <a:bodyPr>
            <a:noAutofit/>
          </a:bodyPr>
          <a:lstStyle/>
          <a:p>
            <a:r>
              <a:rPr lang="en-US"/>
              <a:t>Amazon EC2 Auto Scaling</a:t>
            </a:r>
          </a:p>
        </p:txBody>
      </p:sp>
      <p:sp>
        <p:nvSpPr>
          <p:cNvPr id="6" name="Content Placeholder 5">
            <a:extLst>
              <a:ext uri="{FF2B5EF4-FFF2-40B4-BE49-F238E27FC236}">
                <a16:creationId xmlns:a16="http://schemas.microsoft.com/office/drawing/2014/main" id="{BC7E4906-F324-49BF-AFE8-324DF555E999}"/>
              </a:ext>
            </a:extLst>
          </p:cNvPr>
          <p:cNvSpPr>
            <a:spLocks noGrp="1"/>
          </p:cNvSpPr>
          <p:nvPr>
            <p:ph sz="quarter" idx="21"/>
          </p:nvPr>
        </p:nvSpPr>
        <p:spPr>
          <a:xfrm>
            <a:off x="6245352" y="1143000"/>
            <a:ext cx="5504688" cy="4645152"/>
          </a:xfrm>
        </p:spPr>
        <p:txBody>
          <a:bodyPr>
            <a:normAutofit/>
          </a:bodyPr>
          <a:lstStyle/>
          <a:p>
            <a:r>
              <a:rPr lang="en-US" sz="2400"/>
              <a:t>Helps you maintain application availability</a:t>
            </a:r>
          </a:p>
          <a:p>
            <a:r>
              <a:rPr lang="en-US" sz="2400"/>
              <a:t>Enables you to automatically add or remove EC2 instances according to conditions that you define</a:t>
            </a:r>
          </a:p>
          <a:p>
            <a:r>
              <a:rPr lang="en-US" sz="2400"/>
              <a:t>Detects impaired EC2 instances and unhealthy applications, and replaces the instances without your intervention</a:t>
            </a:r>
          </a:p>
          <a:p>
            <a:r>
              <a:rPr lang="en-US" sz="2400"/>
              <a:t>Provides several scaling options – Manual, scheduled, dynamic or on-demand, and predictive</a:t>
            </a:r>
          </a:p>
        </p:txBody>
      </p:sp>
      <p:grpSp>
        <p:nvGrpSpPr>
          <p:cNvPr id="5" name="Group 4" descr="In this graph, provisioned capacity matches used capacity.">
            <a:extLst>
              <a:ext uri="{FF2B5EF4-FFF2-40B4-BE49-F238E27FC236}">
                <a16:creationId xmlns:a16="http://schemas.microsoft.com/office/drawing/2014/main" id="{427C1226-3EEA-4FBE-B34B-E5DCCB163C03}"/>
              </a:ext>
              <a:ext uri="{C183D7F6-B498-43B3-948B-1728B52AA6E4}">
                <adec:decorative xmlns:adec="http://schemas.microsoft.com/office/drawing/2017/decorative" val="0"/>
              </a:ext>
            </a:extLst>
          </p:cNvPr>
          <p:cNvGrpSpPr/>
          <p:nvPr/>
        </p:nvGrpSpPr>
        <p:grpSpPr>
          <a:xfrm>
            <a:off x="1125810" y="1993864"/>
            <a:ext cx="4933774" cy="3693245"/>
            <a:chOff x="1125810" y="1993864"/>
            <a:chExt cx="4933774" cy="3693245"/>
          </a:xfrm>
        </p:grpSpPr>
        <p:grpSp>
          <p:nvGrpSpPr>
            <p:cNvPr id="54" name="Group 53"/>
            <p:cNvGrpSpPr/>
            <p:nvPr/>
          </p:nvGrpSpPr>
          <p:grpSpPr>
            <a:xfrm>
              <a:off x="1125810" y="1993864"/>
              <a:ext cx="3795606" cy="2267208"/>
              <a:chOff x="7346959" y="1939869"/>
              <a:chExt cx="3795606" cy="2267208"/>
            </a:xfrm>
            <a:solidFill>
              <a:srgbClr val="BDCADA"/>
            </a:solidFill>
          </p:grpSpPr>
          <p:sp>
            <p:nvSpPr>
              <p:cNvPr id="47" name="Rectangle 46"/>
              <p:cNvSpPr/>
              <p:nvPr/>
            </p:nvSpPr>
            <p:spPr>
              <a:xfrm>
                <a:off x="7346959" y="3853813"/>
                <a:ext cx="767905" cy="3367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48" name="Rectangle 47"/>
              <p:cNvSpPr/>
              <p:nvPr/>
            </p:nvSpPr>
            <p:spPr>
              <a:xfrm>
                <a:off x="7893069" y="3080626"/>
                <a:ext cx="711562" cy="10999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49" name="Rectangle 48"/>
              <p:cNvSpPr/>
              <p:nvPr/>
            </p:nvSpPr>
            <p:spPr>
              <a:xfrm>
                <a:off x="8437942" y="2867392"/>
                <a:ext cx="701630" cy="13231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50" name="Rectangle 49"/>
              <p:cNvSpPr/>
              <p:nvPr/>
            </p:nvSpPr>
            <p:spPr>
              <a:xfrm>
                <a:off x="8945575" y="1939869"/>
                <a:ext cx="616559" cy="223149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51" name="Rectangle 50"/>
              <p:cNvSpPr/>
              <p:nvPr/>
            </p:nvSpPr>
            <p:spPr>
              <a:xfrm>
                <a:off x="9454355" y="2696217"/>
                <a:ext cx="647451" cy="1477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52" name="Rectangle 51"/>
              <p:cNvSpPr/>
              <p:nvPr/>
            </p:nvSpPr>
            <p:spPr>
              <a:xfrm>
                <a:off x="9940326" y="3229838"/>
                <a:ext cx="663941" cy="9652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53" name="Rectangle 52"/>
              <p:cNvSpPr/>
              <p:nvPr/>
            </p:nvSpPr>
            <p:spPr>
              <a:xfrm>
                <a:off x="10438693" y="3645862"/>
                <a:ext cx="703872" cy="5612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grpSp>
        <p:cxnSp>
          <p:nvCxnSpPr>
            <p:cNvPr id="7" name="Straight Connector 6"/>
            <p:cNvCxnSpPr/>
            <p:nvPr/>
          </p:nvCxnSpPr>
          <p:spPr>
            <a:xfrm>
              <a:off x="1143995" y="2107537"/>
              <a:ext cx="0" cy="212284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143995" y="4230383"/>
              <a:ext cx="3842795"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249811" y="4223301"/>
              <a:ext cx="376577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Su    M     T     W     Th     F     Sa</a:t>
              </a:r>
            </a:p>
          </p:txBody>
        </p:sp>
        <p:sp>
          <p:nvSpPr>
            <p:cNvPr id="17" name="Rectangle 16"/>
            <p:cNvSpPr/>
            <p:nvPr/>
          </p:nvSpPr>
          <p:spPr>
            <a:xfrm>
              <a:off x="1211249" y="3958886"/>
              <a:ext cx="465181" cy="27045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23" name="Rectangle 22"/>
            <p:cNvSpPr/>
            <p:nvPr/>
          </p:nvSpPr>
          <p:spPr>
            <a:xfrm>
              <a:off x="1743683" y="3211812"/>
              <a:ext cx="465181" cy="101857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24" name="Rectangle 23"/>
            <p:cNvSpPr/>
            <p:nvPr/>
          </p:nvSpPr>
          <p:spPr>
            <a:xfrm>
              <a:off x="2276117" y="3009003"/>
              <a:ext cx="465181" cy="122242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25" name="Rectangle 24"/>
            <p:cNvSpPr/>
            <p:nvPr/>
          </p:nvSpPr>
          <p:spPr>
            <a:xfrm>
              <a:off x="2808551" y="2107537"/>
              <a:ext cx="465181" cy="2124925"/>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30" name="Rectangle 29"/>
            <p:cNvSpPr/>
            <p:nvPr/>
          </p:nvSpPr>
          <p:spPr>
            <a:xfrm>
              <a:off x="3340985" y="2848237"/>
              <a:ext cx="465181" cy="138526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31" name="Rectangle 30"/>
            <p:cNvSpPr/>
            <p:nvPr/>
          </p:nvSpPr>
          <p:spPr>
            <a:xfrm>
              <a:off x="3873419" y="3368619"/>
              <a:ext cx="465181" cy="86592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32" name="Rectangle 31"/>
            <p:cNvSpPr/>
            <p:nvPr/>
          </p:nvSpPr>
          <p:spPr>
            <a:xfrm>
              <a:off x="4405853" y="3763385"/>
              <a:ext cx="465181" cy="4721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33" name="TextBox 32"/>
            <p:cNvSpPr txBox="1"/>
            <p:nvPr/>
          </p:nvSpPr>
          <p:spPr>
            <a:xfrm>
              <a:off x="1492198" y="5040778"/>
              <a:ext cx="157607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Used capacity</a:t>
              </a:r>
              <a:br>
                <a:rPr kumimoji="0" lang="en-US" sz="1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(demand)</a:t>
              </a:r>
              <a:endParaRPr kumimoji="0" lang="en-US" sz="1800" b="0" i="0" u="none" strike="noStrike" kern="1200" cap="none" spc="0" normalizeH="0" baseline="0" noProof="0">
                <a:ln>
                  <a:noFill/>
                </a:ln>
                <a:solidFill>
                  <a:srgbClr val="000000"/>
                </a:solidFill>
                <a:effectLst/>
                <a:uLnTx/>
                <a:uFillTx/>
                <a:latin typeface="Amazon Ember Light" panose="020B0403020204020204"/>
                <a:ea typeface="Amazon Ember Light" panose="020B0403020204020204" pitchFamily="34" charset="0"/>
                <a:cs typeface="Amazon Ember Light" panose="020B0403020204020204" pitchFamily="34" charset="0"/>
              </a:endParaRPr>
            </a:p>
          </p:txBody>
        </p:sp>
        <p:sp>
          <p:nvSpPr>
            <p:cNvPr id="34" name="Rectangle 33"/>
            <p:cNvSpPr/>
            <p:nvPr/>
          </p:nvSpPr>
          <p:spPr>
            <a:xfrm>
              <a:off x="1281501" y="5090215"/>
              <a:ext cx="239492" cy="27045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35" name="TextBox 34"/>
            <p:cNvSpPr txBox="1"/>
            <p:nvPr/>
          </p:nvSpPr>
          <p:spPr>
            <a:xfrm>
              <a:off x="3818265" y="5040778"/>
              <a:ext cx="224131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Provisioned c</a:t>
              </a:r>
              <a:r>
                <a:rPr kumimoji="0" lang="en-US" sz="1800" b="0" i="0" u="none" strike="noStrike" kern="1200" cap="none" spc="0" normalizeH="0" baseline="0" noProof="0" err="1">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apacity</a:t>
              </a:r>
              <a:endParaRPr kumimoji="0" lang="en-US" sz="1800" b="0" i="0" u="none" strike="noStrike" kern="1200" cap="none" spc="0" normalizeH="0" baseline="0" noProof="0">
                <a:ln>
                  <a:noFill/>
                </a:ln>
                <a:solidFill>
                  <a:srgbClr val="000000"/>
                </a:solidFill>
                <a:effectLst/>
                <a:uLnTx/>
                <a:uFillTx/>
                <a:latin typeface="Amazon Ember Light" panose="020B0403020204020204"/>
                <a:ea typeface="Amazon Ember Light" panose="020B0403020204020204" pitchFamily="34" charset="0"/>
                <a:cs typeface="Amazon Ember Light" panose="020B0403020204020204" pitchFamily="34" charset="0"/>
              </a:endParaRPr>
            </a:p>
          </p:txBody>
        </p:sp>
        <p:sp>
          <p:nvSpPr>
            <p:cNvPr id="36" name="Rectangle 35"/>
            <p:cNvSpPr/>
            <p:nvPr/>
          </p:nvSpPr>
          <p:spPr>
            <a:xfrm>
              <a:off x="3607568" y="5090215"/>
              <a:ext cx="239492" cy="270458"/>
            </a:xfrm>
            <a:prstGeom prst="rect">
              <a:avLst/>
            </a:prstGeom>
            <a:solidFill>
              <a:srgbClr val="BDCAD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grpSp>
    </p:spTree>
    <p:custDataLst>
      <p:tags r:id="rId1"/>
    </p:custDataLst>
    <p:extLst>
      <p:ext uri="{BB962C8B-B14F-4D97-AF65-F5344CB8AC3E}">
        <p14:creationId xmlns:p14="http://schemas.microsoft.com/office/powerpoint/2010/main" val="39292806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F79E98-9374-492F-BB9A-A138C258FD3D}"/>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67</a:t>
            </a:fld>
            <a:endParaRPr lang="en-US"/>
          </a:p>
        </p:txBody>
      </p:sp>
      <p:sp>
        <p:nvSpPr>
          <p:cNvPr id="2" name="Title 1"/>
          <p:cNvSpPr>
            <a:spLocks noGrp="1"/>
          </p:cNvSpPr>
          <p:nvPr>
            <p:ph type="title"/>
          </p:nvPr>
        </p:nvSpPr>
        <p:spPr/>
        <p:txBody>
          <a:bodyPr>
            <a:noAutofit/>
          </a:bodyPr>
          <a:lstStyle/>
          <a:p>
            <a:r>
              <a:rPr lang="en-US"/>
              <a:t>Typical weekly traffic at Amazon.com</a:t>
            </a:r>
          </a:p>
        </p:txBody>
      </p:sp>
      <p:grpSp>
        <p:nvGrpSpPr>
          <p:cNvPr id="16" name="Group 15" descr="Regular oscillation in demand over a week with approximately even peaks and troughs.">
            <a:extLst>
              <a:ext uri="{FF2B5EF4-FFF2-40B4-BE49-F238E27FC236}">
                <a16:creationId xmlns:a16="http://schemas.microsoft.com/office/drawing/2014/main" id="{58F4A453-B62F-42AA-9A14-25D47B799E2B}"/>
              </a:ext>
              <a:ext uri="{C183D7F6-B498-43B3-948B-1728B52AA6E4}">
                <adec:decorative xmlns:adec="http://schemas.microsoft.com/office/drawing/2017/decorative" val="0"/>
              </a:ext>
            </a:extLst>
          </p:cNvPr>
          <p:cNvGrpSpPr/>
          <p:nvPr/>
        </p:nvGrpSpPr>
        <p:grpSpPr>
          <a:xfrm>
            <a:off x="-10584" y="2342871"/>
            <a:ext cx="12202585" cy="3536828"/>
            <a:chOff x="-10584" y="2342871"/>
            <a:chExt cx="12202585" cy="3536828"/>
          </a:xfrm>
        </p:grpSpPr>
        <p:pic>
          <p:nvPicPr>
            <p:cNvPr id="5" name="Picture 4">
              <a:extLs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2" y="2888592"/>
              <a:ext cx="12192000" cy="1941053"/>
            </a:xfrm>
            <a:prstGeom prst="rect">
              <a:avLst/>
            </a:prstGeom>
          </p:spPr>
        </p:pic>
        <p:sp>
          <p:nvSpPr>
            <p:cNvPr id="6" name="TextBox 5"/>
            <p:cNvSpPr txBox="1"/>
            <p:nvPr/>
          </p:nvSpPr>
          <p:spPr>
            <a:xfrm>
              <a:off x="131458" y="5419347"/>
              <a:ext cx="1709716" cy="460352"/>
            </a:xfrm>
            <a:prstGeom prst="rect">
              <a:avLst/>
            </a:prstGeom>
          </p:spPr>
          <p:txBody>
            <a:bodyPr vert="horz" wrap="none" lIns="0" tIns="0" rIns="0" bIns="0" rtlCol="0">
              <a:noAutofit/>
            </a:bodyPr>
            <a:lstStyle/>
            <a:p>
              <a:pPr algn="ctr"/>
              <a:r>
                <a:rPr lang="en-US" sz="2133">
                  <a:latin typeface="Amazon Ember" panose="020B0603020204020204" pitchFamily="34" charset="0"/>
                  <a:ea typeface="Amazon Ember" panose="020B0603020204020204" pitchFamily="34" charset="0"/>
                  <a:cs typeface="Amazon Ember" panose="020B0603020204020204" pitchFamily="34" charset="0"/>
                </a:rPr>
                <a:t>Sunday</a:t>
              </a:r>
            </a:p>
          </p:txBody>
        </p:sp>
        <p:sp>
          <p:nvSpPr>
            <p:cNvPr id="7" name="TextBox 6"/>
            <p:cNvSpPr txBox="1"/>
            <p:nvPr/>
          </p:nvSpPr>
          <p:spPr>
            <a:xfrm>
              <a:off x="1856590" y="5419347"/>
              <a:ext cx="1709716" cy="460352"/>
            </a:xfrm>
            <a:prstGeom prst="rect">
              <a:avLst/>
            </a:prstGeom>
          </p:spPr>
          <p:txBody>
            <a:bodyPr vert="horz" wrap="none" lIns="0" tIns="0" rIns="0" bIns="0" rtlCol="0">
              <a:noAutofit/>
            </a:bodyPr>
            <a:lstStyle/>
            <a:p>
              <a:pPr algn="ctr"/>
              <a:r>
                <a:rPr lang="en-US" sz="2133">
                  <a:latin typeface="Amazon Ember" panose="020B0603020204020204" pitchFamily="34" charset="0"/>
                  <a:ea typeface="Amazon Ember" panose="020B0603020204020204" pitchFamily="34" charset="0"/>
                  <a:cs typeface="Amazon Ember" panose="020B0603020204020204" pitchFamily="34" charset="0"/>
                </a:rPr>
                <a:t>Monday</a:t>
              </a:r>
            </a:p>
          </p:txBody>
        </p:sp>
        <p:sp>
          <p:nvSpPr>
            <p:cNvPr id="8" name="TextBox 7"/>
            <p:cNvSpPr txBox="1"/>
            <p:nvPr/>
          </p:nvSpPr>
          <p:spPr>
            <a:xfrm>
              <a:off x="3581710" y="5419347"/>
              <a:ext cx="1709716" cy="460352"/>
            </a:xfrm>
            <a:prstGeom prst="rect">
              <a:avLst/>
            </a:prstGeom>
          </p:spPr>
          <p:txBody>
            <a:bodyPr vert="horz" wrap="none" lIns="0" tIns="0" rIns="0" bIns="0" rtlCol="0">
              <a:noAutofit/>
            </a:bodyPr>
            <a:lstStyle/>
            <a:p>
              <a:pPr algn="ctr"/>
              <a:r>
                <a:rPr lang="en-US" sz="2133">
                  <a:latin typeface="Amazon Ember" panose="020B0603020204020204" pitchFamily="34" charset="0"/>
                  <a:ea typeface="Amazon Ember" panose="020B0603020204020204" pitchFamily="34" charset="0"/>
                  <a:cs typeface="Amazon Ember" panose="020B0603020204020204" pitchFamily="34" charset="0"/>
                </a:rPr>
                <a:t>Tuesday</a:t>
              </a:r>
            </a:p>
          </p:txBody>
        </p:sp>
        <p:sp>
          <p:nvSpPr>
            <p:cNvPr id="9" name="TextBox 8"/>
            <p:cNvSpPr txBox="1"/>
            <p:nvPr/>
          </p:nvSpPr>
          <p:spPr>
            <a:xfrm>
              <a:off x="5306858" y="5419347"/>
              <a:ext cx="1709716" cy="460352"/>
            </a:xfrm>
            <a:prstGeom prst="rect">
              <a:avLst/>
            </a:prstGeom>
          </p:spPr>
          <p:txBody>
            <a:bodyPr vert="horz" wrap="none" lIns="0" tIns="0" rIns="0" bIns="0" rtlCol="0">
              <a:noAutofit/>
            </a:bodyPr>
            <a:lstStyle/>
            <a:p>
              <a:pPr algn="ctr"/>
              <a:r>
                <a:rPr lang="en-US" sz="2133">
                  <a:latin typeface="Amazon Ember" panose="020B0603020204020204" pitchFamily="34" charset="0"/>
                  <a:ea typeface="Amazon Ember" panose="020B0603020204020204" pitchFamily="34" charset="0"/>
                  <a:cs typeface="Amazon Ember" panose="020B0603020204020204" pitchFamily="34" charset="0"/>
                </a:rPr>
                <a:t>Wednesday</a:t>
              </a:r>
            </a:p>
          </p:txBody>
        </p:sp>
        <p:sp>
          <p:nvSpPr>
            <p:cNvPr id="10" name="TextBox 9"/>
            <p:cNvSpPr txBox="1"/>
            <p:nvPr/>
          </p:nvSpPr>
          <p:spPr>
            <a:xfrm>
              <a:off x="7031967" y="5419347"/>
              <a:ext cx="1709716" cy="460352"/>
            </a:xfrm>
            <a:prstGeom prst="rect">
              <a:avLst/>
            </a:prstGeom>
          </p:spPr>
          <p:txBody>
            <a:bodyPr vert="horz" wrap="none" lIns="0" tIns="0" rIns="0" bIns="0" rtlCol="0">
              <a:noAutofit/>
            </a:bodyPr>
            <a:lstStyle/>
            <a:p>
              <a:pPr algn="ctr"/>
              <a:r>
                <a:rPr lang="en-US" sz="2133">
                  <a:latin typeface="Amazon Ember" panose="020B0603020204020204" pitchFamily="34" charset="0"/>
                  <a:ea typeface="Amazon Ember" panose="020B0603020204020204" pitchFamily="34" charset="0"/>
                  <a:cs typeface="Amazon Ember" panose="020B0603020204020204" pitchFamily="34" charset="0"/>
                </a:rPr>
                <a:t>Thursday</a:t>
              </a:r>
            </a:p>
          </p:txBody>
        </p:sp>
        <p:sp>
          <p:nvSpPr>
            <p:cNvPr id="11" name="TextBox 10"/>
            <p:cNvSpPr txBox="1"/>
            <p:nvPr/>
          </p:nvSpPr>
          <p:spPr>
            <a:xfrm>
              <a:off x="8757111" y="5419347"/>
              <a:ext cx="1709716" cy="460352"/>
            </a:xfrm>
            <a:prstGeom prst="rect">
              <a:avLst/>
            </a:prstGeom>
          </p:spPr>
          <p:txBody>
            <a:bodyPr vert="horz" wrap="none" lIns="0" tIns="0" rIns="0" bIns="0" rtlCol="0">
              <a:noAutofit/>
            </a:bodyPr>
            <a:lstStyle/>
            <a:p>
              <a:pPr algn="ctr"/>
              <a:r>
                <a:rPr lang="en-US" sz="2133">
                  <a:latin typeface="Amazon Ember" panose="020B0603020204020204" pitchFamily="34" charset="0"/>
                  <a:ea typeface="Amazon Ember" panose="020B0603020204020204" pitchFamily="34" charset="0"/>
                  <a:cs typeface="Amazon Ember" panose="020B0603020204020204" pitchFamily="34" charset="0"/>
                </a:rPr>
                <a:t>Friday</a:t>
              </a:r>
            </a:p>
          </p:txBody>
        </p:sp>
        <p:sp>
          <p:nvSpPr>
            <p:cNvPr id="12" name="TextBox 11"/>
            <p:cNvSpPr txBox="1"/>
            <p:nvPr/>
          </p:nvSpPr>
          <p:spPr>
            <a:xfrm>
              <a:off x="10482285" y="5419347"/>
              <a:ext cx="1709716" cy="460352"/>
            </a:xfrm>
            <a:prstGeom prst="rect">
              <a:avLst/>
            </a:prstGeom>
          </p:spPr>
          <p:txBody>
            <a:bodyPr vert="horz" wrap="none" lIns="0" tIns="0" rIns="0" bIns="0" rtlCol="0">
              <a:noAutofit/>
            </a:bodyPr>
            <a:lstStyle/>
            <a:p>
              <a:pPr algn="ctr"/>
              <a:r>
                <a:rPr lang="en-US" sz="2133">
                  <a:latin typeface="Amazon Ember" panose="020B0603020204020204" pitchFamily="34" charset="0"/>
                  <a:ea typeface="Amazon Ember" panose="020B0603020204020204" pitchFamily="34" charset="0"/>
                  <a:cs typeface="Amazon Ember" panose="020B0603020204020204" pitchFamily="34" charset="0"/>
                </a:rPr>
                <a:t>Saturday</a:t>
              </a:r>
            </a:p>
          </p:txBody>
        </p:sp>
        <p:cxnSp>
          <p:nvCxnSpPr>
            <p:cNvPr id="13" name="Straight Connector 12">
              <a:extLst>
                <a:ext uri="{C183D7F6-B498-43B3-948B-1728B52AA6E4}">
                  <adec:decorative xmlns:adec="http://schemas.microsoft.com/office/drawing/2017/decorative" val="1"/>
                </a:ext>
              </a:extLst>
            </p:cNvPr>
            <p:cNvCxnSpPr/>
            <p:nvPr/>
          </p:nvCxnSpPr>
          <p:spPr>
            <a:xfrm>
              <a:off x="-72" y="5205609"/>
              <a:ext cx="12192000"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C183D7F6-B498-43B3-948B-1728B52AA6E4}">
                  <adec:decorative xmlns:adec="http://schemas.microsoft.com/office/drawing/2017/decorative" val="1"/>
                </a:ext>
              </a:extLst>
            </p:cNvPr>
            <p:cNvCxnSpPr/>
            <p:nvPr/>
          </p:nvCxnSpPr>
          <p:spPr>
            <a:xfrm>
              <a:off x="-10584" y="2821109"/>
              <a:ext cx="12192000" cy="0"/>
            </a:xfrm>
            <a:prstGeom prst="line">
              <a:avLst/>
            </a:prstGeom>
            <a:ln w="57150" cmpd="sng">
              <a:solidFill>
                <a:srgbClr val="504BAB"/>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83743" y="2342871"/>
              <a:ext cx="2806096" cy="499936"/>
            </a:xfrm>
            <a:prstGeom prst="rect">
              <a:avLst/>
            </a:prstGeom>
            <a:noFill/>
          </p:spPr>
          <p:txBody>
            <a:bodyPr vert="horz" wrap="none" lIns="0" tIns="0" rIns="0" bIns="0" rtlCol="0">
              <a:noAutofit/>
            </a:bodyPr>
            <a:lstStyle/>
            <a:p>
              <a:r>
                <a:rPr lang="en-US" sz="2400">
                  <a:solidFill>
                    <a:srgbClr val="504BAB"/>
                  </a:solidFill>
                  <a:latin typeface="Amazon Ember" panose="020B0603020204020204" pitchFamily="34" charset="0"/>
                  <a:ea typeface="Amazon Ember" panose="020B0603020204020204" pitchFamily="34" charset="0"/>
                  <a:cs typeface="Amazon Ember" panose="020B0603020204020204" pitchFamily="34" charset="0"/>
                </a:rPr>
                <a:t>Provisioned capacity</a:t>
              </a:r>
            </a:p>
          </p:txBody>
        </p:sp>
      </p:grpSp>
    </p:spTree>
    <p:custDataLst>
      <p:tags r:id="rId1"/>
    </p:custDataLst>
    <p:extLst>
      <p:ext uri="{BB962C8B-B14F-4D97-AF65-F5344CB8AC3E}">
        <p14:creationId xmlns:p14="http://schemas.microsoft.com/office/powerpoint/2010/main" val="2928298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485EFD-AC83-49B7-A1C0-D67875D11BCE}"/>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68</a:t>
            </a:fld>
            <a:endParaRPr lang="en-US"/>
          </a:p>
        </p:txBody>
      </p:sp>
      <p:sp>
        <p:nvSpPr>
          <p:cNvPr id="2" name="Title 1"/>
          <p:cNvSpPr>
            <a:spLocks noGrp="1"/>
          </p:cNvSpPr>
          <p:nvPr>
            <p:ph type="title"/>
          </p:nvPr>
        </p:nvSpPr>
        <p:spPr/>
        <p:txBody>
          <a:bodyPr/>
          <a:lstStyle/>
          <a:p>
            <a:r>
              <a:rPr lang="en-US"/>
              <a:t>November traffic to Amazon.com</a:t>
            </a:r>
          </a:p>
        </p:txBody>
      </p:sp>
      <p:grpSp>
        <p:nvGrpSpPr>
          <p:cNvPr id="14" name="Group 13" descr="Demand for month of November, with increase in demand near end of month on Black Friday and Cyber Monday.">
            <a:extLst>
              <a:ext uri="{FF2B5EF4-FFF2-40B4-BE49-F238E27FC236}">
                <a16:creationId xmlns:a16="http://schemas.microsoft.com/office/drawing/2014/main" id="{0E96959D-C8A3-146E-F368-4DFFF48EE823}"/>
              </a:ext>
            </a:extLst>
          </p:cNvPr>
          <p:cNvGrpSpPr/>
          <p:nvPr/>
        </p:nvGrpSpPr>
        <p:grpSpPr>
          <a:xfrm>
            <a:off x="-18288" y="1179091"/>
            <a:ext cx="12210288" cy="4901569"/>
            <a:chOff x="-18288" y="1179091"/>
            <a:chExt cx="12210288" cy="4901569"/>
          </a:xfrm>
        </p:grpSpPr>
        <p:grpSp>
          <p:nvGrpSpPr>
            <p:cNvPr id="6" name="Group 5" descr="demand for month of november, with increase in demand near end of month on black friday and cyber monday.">
              <a:extLst>
                <a:ext uri="{FF2B5EF4-FFF2-40B4-BE49-F238E27FC236}">
                  <a16:creationId xmlns:a16="http://schemas.microsoft.com/office/drawing/2014/main" id="{B1A8ED51-4752-47DE-86E9-856787BFF173}"/>
                </a:ext>
                <a:ext uri="{C183D7F6-B498-43B3-948B-1728B52AA6E4}">
                  <adec:decorative xmlns:adec="http://schemas.microsoft.com/office/drawing/2017/decorative" val="0"/>
                </a:ext>
              </a:extLst>
            </p:cNvPr>
            <p:cNvGrpSpPr/>
            <p:nvPr/>
          </p:nvGrpSpPr>
          <p:grpSpPr>
            <a:xfrm>
              <a:off x="-18288" y="1179091"/>
              <a:ext cx="12210288" cy="4901569"/>
              <a:chOff x="-18288" y="1179091"/>
              <a:chExt cx="12210288" cy="4901569"/>
            </a:xfrm>
          </p:grpSpPr>
          <p:pic>
            <p:nvPicPr>
              <p:cNvPr id="16" name="Picture 15">
                <a:extLs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0" y="2150829"/>
                <a:ext cx="12192000" cy="3129747"/>
              </a:xfrm>
              <a:prstGeom prst="rect">
                <a:avLst/>
              </a:prstGeom>
            </p:spPr>
          </p:pic>
          <p:pic>
            <p:nvPicPr>
              <p:cNvPr id="19" name="Picture 18">
                <a:extLst>
                  <a:ext uri="{C183D7F6-B498-43B3-948B-1728B52AA6E4}">
                    <adec:decorative xmlns:adec="http://schemas.microsoft.com/office/drawing/2017/decorative" val="1"/>
                  </a:ext>
                </a:extLst>
              </p:cNvPr>
              <p:cNvPicPr>
                <a:picLocks noChangeAspect="1"/>
              </p:cNvPicPr>
              <p:nvPr/>
            </p:nvPicPr>
            <p:blipFill>
              <a:blip r:embed="rId5" cstate="screen">
                <a:alphaModFix amt="62000"/>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18288" y="1948858"/>
                <a:ext cx="12192000" cy="3073351"/>
              </a:xfrm>
              <a:prstGeom prst="rect">
                <a:avLst/>
              </a:prstGeom>
            </p:spPr>
          </p:pic>
          <p:sp>
            <p:nvSpPr>
              <p:cNvPr id="21" name="TextBox 20"/>
              <p:cNvSpPr txBox="1"/>
              <p:nvPr/>
            </p:nvSpPr>
            <p:spPr>
              <a:xfrm>
                <a:off x="303191" y="1478349"/>
                <a:ext cx="2806096" cy="499936"/>
              </a:xfrm>
              <a:prstGeom prst="rect">
                <a:avLst/>
              </a:prstGeom>
              <a:noFill/>
            </p:spPr>
            <p:txBody>
              <a:bodyPr vert="horz" wrap="none" lIns="0" tIns="0" rIns="0" bIns="0" rtlCol="0">
                <a:noAutofit/>
              </a:bodyPr>
              <a:lstStyle/>
              <a:p>
                <a:r>
                  <a:rPr lang="en-US" sz="2400">
                    <a:solidFill>
                      <a:srgbClr val="504BAB"/>
                    </a:solidFill>
                    <a:latin typeface="Amazon Ember" panose="020B0603020204020204" pitchFamily="34" charset="0"/>
                    <a:ea typeface="Amazon Ember" panose="020B0603020204020204" pitchFamily="34" charset="0"/>
                    <a:cs typeface="Amazon Ember" panose="020B0603020204020204" pitchFamily="34" charset="0"/>
                  </a:rPr>
                  <a:t>Provisioned capacity</a:t>
                </a:r>
              </a:p>
            </p:txBody>
          </p:sp>
          <p:sp>
            <p:nvSpPr>
              <p:cNvPr id="24" name="TextBox 23"/>
              <p:cNvSpPr txBox="1"/>
              <p:nvPr/>
            </p:nvSpPr>
            <p:spPr>
              <a:xfrm>
                <a:off x="5839049" y="5278567"/>
                <a:ext cx="904177" cy="436391"/>
              </a:xfrm>
              <a:prstGeom prst="rect">
                <a:avLst/>
              </a:prstGeom>
            </p:spPr>
            <p:txBody>
              <a:bodyPr vert="horz" wrap="none" lIns="0" tIns="0" rIns="0" bIns="0" rtlCol="0">
                <a:noAutofit/>
              </a:bodyPr>
              <a:lstStyle/>
              <a:p>
                <a:r>
                  <a:rPr lang="en-US" sz="3733" b="1">
                    <a:solidFill>
                      <a:srgbClr val="504BAB"/>
                    </a:solidFill>
                    <a:latin typeface="Amazon Ember" panose="020B0603020204020204" pitchFamily="34" charset="0"/>
                    <a:ea typeface="Amazon Ember" panose="020B0603020204020204" pitchFamily="34" charset="0"/>
                    <a:cs typeface="Amazon Ember" panose="020B0603020204020204" pitchFamily="34" charset="0"/>
                  </a:rPr>
                  <a:t>24 percent</a:t>
                </a:r>
              </a:p>
            </p:txBody>
          </p:sp>
          <p:sp>
            <p:nvSpPr>
              <p:cNvPr id="27" name="TextBox 26"/>
              <p:cNvSpPr txBox="1"/>
              <p:nvPr/>
            </p:nvSpPr>
            <p:spPr>
              <a:xfrm>
                <a:off x="449052" y="2506316"/>
                <a:ext cx="5099987" cy="1200329"/>
              </a:xfrm>
              <a:prstGeom prst="rect">
                <a:avLst/>
              </a:prstGeom>
              <a:noFill/>
              <a:ln>
                <a:noFill/>
              </a:ln>
            </p:spPr>
            <p:txBody>
              <a:bodyPr wrap="square" rtlCol="0">
                <a:spAutoFit/>
              </a:bodyPr>
              <a:lstStyle/>
              <a:p>
                <a:pPr algn="ctr"/>
                <a:r>
                  <a:rPr lang="en-US" sz="2400">
                    <a:latin typeface="Amazon Ember" panose="020B0603020204020204" pitchFamily="34" charset="0"/>
                    <a:ea typeface="Amazon Ember" panose="020B0603020204020204" pitchFamily="34" charset="0"/>
                    <a:cs typeface="Amazon Ember" panose="020B0603020204020204" pitchFamily="34" charset="0"/>
                  </a:rPr>
                  <a:t>The challenge is to efficiently guess the unknown quantity of how much compute capacity you need.</a:t>
                </a:r>
              </a:p>
            </p:txBody>
          </p:sp>
          <p:sp>
            <p:nvSpPr>
              <p:cNvPr id="15" name="TextBox 14"/>
              <p:cNvSpPr txBox="1"/>
              <p:nvPr/>
            </p:nvSpPr>
            <p:spPr>
              <a:xfrm>
                <a:off x="6978955" y="1179091"/>
                <a:ext cx="904177" cy="436391"/>
              </a:xfrm>
              <a:prstGeom prst="rect">
                <a:avLst/>
              </a:prstGeom>
            </p:spPr>
            <p:txBody>
              <a:bodyPr vert="horz" wrap="none" lIns="0" tIns="0" rIns="0" bIns="0" rtlCol="0">
                <a:noAutofit/>
              </a:bodyPr>
              <a:lstStyle/>
              <a:p>
                <a:r>
                  <a:rPr lang="en-US" sz="3733" b="1">
                    <a:solidFill>
                      <a:srgbClr val="504BAB"/>
                    </a:solidFill>
                    <a:latin typeface="Amazon Ember" panose="020B0603020204020204" pitchFamily="34" charset="0"/>
                    <a:ea typeface="Amazon Ember" panose="020B0603020204020204" pitchFamily="34" charset="0"/>
                    <a:cs typeface="Amazon Ember" panose="020B0603020204020204" pitchFamily="34" charset="0"/>
                  </a:rPr>
                  <a:t>76 percent</a:t>
                </a:r>
              </a:p>
            </p:txBody>
          </p:sp>
          <p:sp>
            <p:nvSpPr>
              <p:cNvPr id="8" name="TextBox 7">
                <a:extLst>
                  <a:ext uri="{FF2B5EF4-FFF2-40B4-BE49-F238E27FC236}">
                    <a16:creationId xmlns:a16="http://schemas.microsoft.com/office/drawing/2014/main" id="{56FCD902-1778-44CB-B218-27A4E9952C49}"/>
                  </a:ext>
                </a:extLst>
              </p:cNvPr>
              <p:cNvSpPr txBox="1"/>
              <p:nvPr/>
            </p:nvSpPr>
            <p:spPr>
              <a:xfrm>
                <a:off x="303191" y="5618995"/>
                <a:ext cx="1638590" cy="461665"/>
              </a:xfrm>
              <a:prstGeom prst="rect">
                <a:avLst/>
              </a:prstGeom>
              <a:noFill/>
            </p:spPr>
            <p:txBody>
              <a:bodyPr wrap="none" rtlCol="0">
                <a:spAutoFit/>
              </a:bodyPr>
              <a:lstStyle/>
              <a:p>
                <a:r>
                  <a:rPr lang="en-US" sz="2400">
                    <a:latin typeface="Amazon Ember" panose="020B0603020204020204" pitchFamily="34" charset="0"/>
                    <a:ea typeface="Amazon Ember" panose="020B0603020204020204" pitchFamily="34" charset="0"/>
                    <a:cs typeface="Amazon Ember" panose="020B0603020204020204" pitchFamily="34" charset="0"/>
                  </a:rPr>
                  <a:t>November</a:t>
                </a:r>
              </a:p>
            </p:txBody>
          </p:sp>
        </p:grpSp>
        <p:cxnSp>
          <p:nvCxnSpPr>
            <p:cNvPr id="11" name="Elbow Connector 10">
              <a:extLst>
                <a:ext uri="{FF2B5EF4-FFF2-40B4-BE49-F238E27FC236}">
                  <a16:creationId xmlns:a16="http://schemas.microsoft.com/office/drawing/2014/main" id="{C4F26FE2-8A5D-0C5B-6A0E-28499ACA6830}"/>
                </a:ext>
              </a:extLst>
            </p:cNvPr>
            <p:cNvCxnSpPr>
              <a:cxnSpLocks/>
            </p:cNvCxnSpPr>
            <p:nvPr/>
          </p:nvCxnSpPr>
          <p:spPr>
            <a:xfrm rot="10800000" flipV="1">
              <a:off x="6204920" y="1500556"/>
              <a:ext cx="706106" cy="1005760"/>
            </a:xfrm>
            <a:prstGeom prst="bentConnector2">
              <a:avLst/>
            </a:prstGeom>
            <a:ln w="571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a:extLst>
                <a:ext uri="{FF2B5EF4-FFF2-40B4-BE49-F238E27FC236}">
                  <a16:creationId xmlns:a16="http://schemas.microsoft.com/office/drawing/2014/main" id="{6A1360E2-39DB-43E7-9B62-011A56FE901E}"/>
                </a:ext>
              </a:extLst>
            </p:cNvPr>
            <p:cNvCxnSpPr/>
            <p:nvPr/>
          </p:nvCxnSpPr>
          <p:spPr>
            <a:xfrm rot="10800000">
              <a:off x="4010247" y="5226513"/>
              <a:ext cx="1735016" cy="293075"/>
            </a:xfrm>
            <a:prstGeom prst="bentConnector3">
              <a:avLst/>
            </a:prstGeom>
            <a:ln w="571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3092500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38C38C7-8EE4-6173-6312-526AC1D3B5D7}"/>
              </a:ext>
            </a:extLst>
          </p:cNvPr>
          <p:cNvSpPr>
            <a:spLocks noGrp="1"/>
          </p:cNvSpPr>
          <p:nvPr>
            <p:ph type="sldNum" sz="quarter" idx="20"/>
          </p:nvPr>
        </p:nvSpPr>
        <p:spPr/>
        <p:txBody>
          <a:bodyPr/>
          <a:lstStyle/>
          <a:p>
            <a:fld id="{930176A1-BCF0-4712-97A6-6B495F55390B}" type="slidenum">
              <a:rPr lang="en-US" smtClean="0"/>
              <a:pPr/>
              <a:t>69</a:t>
            </a:fld>
            <a:endParaRPr lang="en-US"/>
          </a:p>
        </p:txBody>
      </p:sp>
      <p:sp>
        <p:nvSpPr>
          <p:cNvPr id="2" name="Title 1">
            <a:extLst>
              <a:ext uri="{FF2B5EF4-FFF2-40B4-BE49-F238E27FC236}">
                <a16:creationId xmlns:a16="http://schemas.microsoft.com/office/drawing/2014/main" id="{A1A8DAF2-EB4B-4534-9AC3-88F685F85E3B}"/>
              </a:ext>
            </a:extLst>
          </p:cNvPr>
          <p:cNvSpPr>
            <a:spLocks noGrp="1"/>
          </p:cNvSpPr>
          <p:nvPr>
            <p:ph type="title"/>
          </p:nvPr>
        </p:nvSpPr>
        <p:spPr/>
        <p:txBody>
          <a:bodyPr/>
          <a:lstStyle/>
          <a:p>
            <a:r>
              <a:rPr lang="en-US"/>
              <a:t>Auto Scaling groups</a:t>
            </a:r>
          </a:p>
        </p:txBody>
      </p:sp>
      <p:sp>
        <p:nvSpPr>
          <p:cNvPr id="21" name="TextBox 20">
            <a:extLst>
              <a:ext uri="{FF2B5EF4-FFF2-40B4-BE49-F238E27FC236}">
                <a16:creationId xmlns:a16="http://schemas.microsoft.com/office/drawing/2014/main" id="{232616B7-539D-4C3E-9BB5-F907722C123C}"/>
              </a:ext>
            </a:extLst>
          </p:cNvPr>
          <p:cNvSpPr txBox="1"/>
          <p:nvPr/>
        </p:nvSpPr>
        <p:spPr>
          <a:xfrm>
            <a:off x="6631661" y="2317041"/>
            <a:ext cx="5239037" cy="2677656"/>
          </a:xfrm>
          <a:prstGeom prst="rect">
            <a:avLst/>
          </a:prstGeom>
          <a:noFill/>
        </p:spPr>
        <p:txBody>
          <a:bodyPr wrap="square" rtlCol="0">
            <a:spAutoFit/>
          </a:bodyPr>
          <a:lstStyle/>
          <a:p>
            <a:r>
              <a:rPr lang="en-US" sz="2800"/>
              <a:t>An </a:t>
            </a:r>
            <a:r>
              <a:rPr lang="en-US" sz="2800" b="1">
                <a:solidFill>
                  <a:srgbClr val="504BAB"/>
                </a:solidFill>
              </a:rPr>
              <a:t>Auto Scaling group </a:t>
            </a:r>
            <a:r>
              <a:rPr lang="en-US" sz="2800"/>
              <a:t>is a collection of EC2 instances that are treated as a logical grouping for the purposes of automatic scaling and management.</a:t>
            </a:r>
          </a:p>
        </p:txBody>
      </p:sp>
      <p:grpSp>
        <p:nvGrpSpPr>
          <p:cNvPr id="3" name="Group 2" descr="Auto Scaling group with four EC2 instances. The desired capacity is set to two of the EC2 instances. The minimum size is one and the maximum size is all four. Two of the EC2 instances can be launched or terminated as needed.">
            <a:extLst>
              <a:ext uri="{FF2B5EF4-FFF2-40B4-BE49-F238E27FC236}">
                <a16:creationId xmlns:a16="http://schemas.microsoft.com/office/drawing/2014/main" id="{93CF9629-AFAC-40DA-BFBB-70E161A6DF3A}"/>
              </a:ext>
              <a:ext uri="{C183D7F6-B498-43B3-948B-1728B52AA6E4}">
                <adec:decorative xmlns:adec="http://schemas.microsoft.com/office/drawing/2017/decorative" val="0"/>
              </a:ext>
            </a:extLst>
          </p:cNvPr>
          <p:cNvGrpSpPr/>
          <p:nvPr/>
        </p:nvGrpSpPr>
        <p:grpSpPr>
          <a:xfrm>
            <a:off x="944835" y="2051892"/>
            <a:ext cx="4848982" cy="4276915"/>
            <a:chOff x="944835" y="2051892"/>
            <a:chExt cx="4848982" cy="4276915"/>
          </a:xfrm>
        </p:grpSpPr>
        <p:grpSp>
          <p:nvGrpSpPr>
            <p:cNvPr id="22" name="Group 21">
              <a:extLst>
                <a:ext uri="{FF2B5EF4-FFF2-40B4-BE49-F238E27FC236}">
                  <a16:creationId xmlns:a16="http://schemas.microsoft.com/office/drawing/2014/main" id="{2365FA4C-05D6-44F3-B102-D75013055DAA}"/>
                </a:ext>
                <a:ext uri="{C183D7F6-B498-43B3-948B-1728B52AA6E4}">
                  <adec:decorative xmlns:adec="http://schemas.microsoft.com/office/drawing/2017/decorative" val="1"/>
                </a:ext>
              </a:extLst>
            </p:cNvPr>
            <p:cNvGrpSpPr/>
            <p:nvPr/>
          </p:nvGrpSpPr>
          <p:grpSpPr>
            <a:xfrm>
              <a:off x="962890" y="2051892"/>
              <a:ext cx="4731327" cy="1847648"/>
              <a:chOff x="962890" y="2051892"/>
              <a:chExt cx="4731327" cy="1847648"/>
            </a:xfrm>
          </p:grpSpPr>
          <p:sp>
            <p:nvSpPr>
              <p:cNvPr id="7" name="Rectangle 6">
                <a:extLst>
                  <a:ext uri="{FF2B5EF4-FFF2-40B4-BE49-F238E27FC236}">
                    <a16:creationId xmlns:a16="http://schemas.microsoft.com/office/drawing/2014/main" id="{B25227A6-2F90-42DF-88D0-DEC434102BF2}"/>
                  </a:ext>
                </a:extLst>
              </p:cNvPr>
              <p:cNvSpPr/>
              <p:nvPr/>
            </p:nvSpPr>
            <p:spPr>
              <a:xfrm>
                <a:off x="962890" y="2051892"/>
                <a:ext cx="4731327" cy="1847648"/>
              </a:xfrm>
              <a:prstGeom prst="rect">
                <a:avLst/>
              </a:prstGeom>
              <a:noFill/>
              <a:ln w="12700" cap="flat" cmpd="sng" algn="ctr">
                <a:solidFill>
                  <a:srgbClr val="D86613"/>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D86613"/>
                  </a:solidFill>
                  <a:effectLst/>
                  <a:uLnTx/>
                  <a:uFillTx/>
                  <a:latin typeface="Arial" panose="020B06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D86613"/>
                  </a:solidFill>
                  <a:effectLst/>
                  <a:uLnTx/>
                  <a:uFillTx/>
                  <a:latin typeface="Arial" panose="020B06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D86613"/>
                    </a:solidFill>
                    <a:effectLst/>
                    <a:uLnTx/>
                    <a:uFillTx/>
                    <a:ea typeface="+mn-ea"/>
                    <a:cs typeface="+mn-cs"/>
                  </a:rPr>
                  <a:t>Auto Scaling group</a:t>
                </a:r>
              </a:p>
            </p:txBody>
          </p:sp>
          <p:pic>
            <p:nvPicPr>
              <p:cNvPr id="8" name="Graphic 7">
                <a:extLst>
                  <a:ext uri="{FF2B5EF4-FFF2-40B4-BE49-F238E27FC236}">
                    <a16:creationId xmlns:a16="http://schemas.microsoft.com/office/drawing/2014/main" id="{4212F4CF-AFE5-40FE-9AED-717562232BC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63453" y="2051892"/>
                <a:ext cx="457200" cy="457200"/>
              </a:xfrm>
              <a:prstGeom prst="rect">
                <a:avLst/>
              </a:prstGeom>
            </p:spPr>
          </p:pic>
          <p:pic>
            <p:nvPicPr>
              <p:cNvPr id="9" name="Graphic 8">
                <a:extLst>
                  <a:ext uri="{FF2B5EF4-FFF2-40B4-BE49-F238E27FC236}">
                    <a16:creationId xmlns:a16="http://schemas.microsoft.com/office/drawing/2014/main" id="{D6DFB617-D31A-42D9-B51A-AC08A4C5D11D}"/>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14898" y="2905388"/>
                <a:ext cx="731520" cy="731520"/>
              </a:xfrm>
              <a:prstGeom prst="rect">
                <a:avLst/>
              </a:prstGeom>
            </p:spPr>
          </p:pic>
          <p:pic>
            <p:nvPicPr>
              <p:cNvPr id="10" name="Graphic 9">
                <a:extLst>
                  <a:ext uri="{FF2B5EF4-FFF2-40B4-BE49-F238E27FC236}">
                    <a16:creationId xmlns:a16="http://schemas.microsoft.com/office/drawing/2014/main" id="{F94BADFA-A5D4-4A17-B1D5-F1E3D304237D}"/>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22511" y="2905388"/>
                <a:ext cx="731520" cy="731520"/>
              </a:xfrm>
              <a:prstGeom prst="rect">
                <a:avLst/>
              </a:prstGeom>
            </p:spPr>
          </p:pic>
          <p:pic>
            <p:nvPicPr>
              <p:cNvPr id="11" name="Graphic 10">
                <a:extLst>
                  <a:ext uri="{FF2B5EF4-FFF2-40B4-BE49-F238E27FC236}">
                    <a16:creationId xmlns:a16="http://schemas.microsoft.com/office/drawing/2014/main" id="{7EE1B474-AB45-4C15-9499-0EE3C9CAFC52}"/>
                  </a:ext>
                  <a:ext uri="{C183D7F6-B498-43B3-948B-1728B52AA6E4}">
                    <adec:decorative xmlns:adec="http://schemas.microsoft.com/office/drawing/2017/decorative" val="1"/>
                  </a:ext>
                </a:extLst>
              </p:cNvPr>
              <p:cNvPicPr>
                <a:picLocks noChangeAspect="1"/>
              </p:cNvPicPr>
              <p:nvPr/>
            </p:nvPicPr>
            <p:blipFill>
              <a:blip r:embed="rId6">
                <a:grayscl/>
                <a:extLst>
                  <a:ext uri="{96DAC541-7B7A-43D3-8B79-37D633B846F1}">
                    <asvg:svgBlip xmlns:asvg="http://schemas.microsoft.com/office/drawing/2016/SVG/main" r:embed="rId7"/>
                  </a:ext>
                </a:extLst>
              </a:blip>
              <a:stretch>
                <a:fillRect/>
              </a:stretch>
            </p:blipFill>
            <p:spPr>
              <a:xfrm>
                <a:off x="3630124" y="2927237"/>
                <a:ext cx="731520" cy="731520"/>
              </a:xfrm>
              <a:prstGeom prst="rect">
                <a:avLst/>
              </a:prstGeom>
            </p:spPr>
          </p:pic>
          <p:pic>
            <p:nvPicPr>
              <p:cNvPr id="12" name="Graphic 11">
                <a:extLst>
                  <a:ext uri="{FF2B5EF4-FFF2-40B4-BE49-F238E27FC236}">
                    <a16:creationId xmlns:a16="http://schemas.microsoft.com/office/drawing/2014/main" id="{64F51BC5-7B70-463D-85C2-80F8E4B1B69F}"/>
                  </a:ext>
                  <a:ext uri="{C183D7F6-B498-43B3-948B-1728B52AA6E4}">
                    <adec:decorative xmlns:adec="http://schemas.microsoft.com/office/drawing/2017/decorative" val="1"/>
                  </a:ext>
                </a:extLst>
              </p:cNvPr>
              <p:cNvPicPr>
                <a:picLocks noChangeAspect="1"/>
              </p:cNvPicPr>
              <p:nvPr/>
            </p:nvPicPr>
            <p:blipFill>
              <a:blip r:embed="rId6">
                <a:grayscl/>
                <a:extLst>
                  <a:ext uri="{96DAC541-7B7A-43D3-8B79-37D633B846F1}">
                    <asvg:svgBlip xmlns:asvg="http://schemas.microsoft.com/office/drawing/2016/SVG/main" r:embed="rId7"/>
                  </a:ext>
                </a:extLst>
              </a:blip>
              <a:stretch>
                <a:fillRect/>
              </a:stretch>
            </p:blipFill>
            <p:spPr>
              <a:xfrm>
                <a:off x="4737737" y="2905388"/>
                <a:ext cx="731520" cy="731520"/>
              </a:xfrm>
              <a:prstGeom prst="rect">
                <a:avLst/>
              </a:prstGeom>
            </p:spPr>
          </p:pic>
        </p:grpSp>
        <p:sp>
          <p:nvSpPr>
            <p:cNvPr id="13" name="Left Brace 12">
              <a:extLst>
                <a:ext uri="{FF2B5EF4-FFF2-40B4-BE49-F238E27FC236}">
                  <a16:creationId xmlns:a16="http://schemas.microsoft.com/office/drawing/2014/main" id="{4C041770-5B58-4F42-98BA-3D4E345FD838}"/>
                </a:ext>
                <a:ext uri="{C183D7F6-B498-43B3-948B-1728B52AA6E4}">
                  <adec:decorative xmlns:adec="http://schemas.microsoft.com/office/drawing/2017/decorative" val="1"/>
                </a:ext>
              </a:extLst>
            </p:cNvPr>
            <p:cNvSpPr/>
            <p:nvPr/>
          </p:nvSpPr>
          <p:spPr>
            <a:xfrm rot="16200000">
              <a:off x="1567467" y="3743082"/>
              <a:ext cx="365760" cy="82296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D61386B8-CD84-4978-82FA-8E1E6C38BA9A}"/>
                </a:ext>
              </a:extLst>
            </p:cNvPr>
            <p:cNvSpPr txBox="1"/>
            <p:nvPr/>
          </p:nvSpPr>
          <p:spPr>
            <a:xfrm>
              <a:off x="944835" y="4358992"/>
              <a:ext cx="1577676" cy="369332"/>
            </a:xfrm>
            <a:prstGeom prst="rect">
              <a:avLst/>
            </a:prstGeom>
            <a:noFill/>
          </p:spPr>
          <p:txBody>
            <a:bodyPr wrap="none" rtlCol="0">
              <a:spAutoFit/>
            </a:bodyPr>
            <a:lstStyle/>
            <a:p>
              <a:r>
                <a:rPr lang="en-US">
                  <a:latin typeface="Amazon Ember Light" panose="020B0403020204020204" pitchFamily="34" charset="0"/>
                  <a:ea typeface="Amazon Ember Light" panose="020B0403020204020204" pitchFamily="34" charset="0"/>
                  <a:cs typeface="Amazon Ember Light" panose="020B0403020204020204" pitchFamily="34" charset="0"/>
                </a:rPr>
                <a:t>Minimum size</a:t>
              </a:r>
            </a:p>
          </p:txBody>
        </p:sp>
        <p:sp>
          <p:nvSpPr>
            <p:cNvPr id="15" name="Left Brace 14">
              <a:extLst>
                <a:ext uri="{FF2B5EF4-FFF2-40B4-BE49-F238E27FC236}">
                  <a16:creationId xmlns:a16="http://schemas.microsoft.com/office/drawing/2014/main" id="{35E59993-4ABD-4CB5-8231-5F6E325EA3D4}"/>
                </a:ext>
                <a:ext uri="{C183D7F6-B498-43B3-948B-1728B52AA6E4}">
                  <adec:decorative xmlns:adec="http://schemas.microsoft.com/office/drawing/2017/decorative" val="1"/>
                </a:ext>
              </a:extLst>
            </p:cNvPr>
            <p:cNvSpPr/>
            <p:nvPr/>
          </p:nvSpPr>
          <p:spPr>
            <a:xfrm rot="16200000">
              <a:off x="2116108" y="4013592"/>
              <a:ext cx="365760" cy="192024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86E68E94-D77A-454D-9C48-B12D774541E9}"/>
                </a:ext>
              </a:extLst>
            </p:cNvPr>
            <p:cNvSpPr txBox="1"/>
            <p:nvPr/>
          </p:nvSpPr>
          <p:spPr>
            <a:xfrm>
              <a:off x="1386718" y="5157986"/>
              <a:ext cx="1824538" cy="369332"/>
            </a:xfrm>
            <a:prstGeom prst="rect">
              <a:avLst/>
            </a:prstGeom>
            <a:noFill/>
          </p:spPr>
          <p:txBody>
            <a:bodyPr wrap="none" rtlCol="0">
              <a:spAutoFit/>
            </a:bodyPr>
            <a:lstStyle/>
            <a:p>
              <a:r>
                <a:rPr lang="en-US">
                  <a:latin typeface="Amazon Ember Light" panose="020B0403020204020204" pitchFamily="34" charset="0"/>
                  <a:ea typeface="Amazon Ember Light" panose="020B0403020204020204" pitchFamily="34" charset="0"/>
                  <a:cs typeface="Amazon Ember Light" panose="020B0403020204020204" pitchFamily="34" charset="0"/>
                </a:rPr>
                <a:t>Desired capacity</a:t>
              </a:r>
            </a:p>
          </p:txBody>
        </p:sp>
        <p:sp>
          <p:nvSpPr>
            <p:cNvPr id="17" name="Left Brace 16">
              <a:extLst>
                <a:ext uri="{FF2B5EF4-FFF2-40B4-BE49-F238E27FC236}">
                  <a16:creationId xmlns:a16="http://schemas.microsoft.com/office/drawing/2014/main" id="{BEA73B3A-C215-42D4-968E-00F2F9378B23}"/>
                </a:ext>
                <a:ext uri="{C183D7F6-B498-43B3-948B-1728B52AA6E4}">
                  <adec:decorative xmlns:adec="http://schemas.microsoft.com/office/drawing/2017/decorative" val="1"/>
                </a:ext>
              </a:extLst>
            </p:cNvPr>
            <p:cNvSpPr/>
            <p:nvPr/>
          </p:nvSpPr>
          <p:spPr>
            <a:xfrm rot="16200000">
              <a:off x="3167667" y="3744471"/>
              <a:ext cx="365760" cy="402336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516C4309-3E3C-4F82-9B68-21E171EE6805}"/>
                </a:ext>
              </a:extLst>
            </p:cNvPr>
            <p:cNvSpPr txBox="1"/>
            <p:nvPr/>
          </p:nvSpPr>
          <p:spPr>
            <a:xfrm>
              <a:off x="2541672" y="5959475"/>
              <a:ext cx="1617751" cy="369332"/>
            </a:xfrm>
            <a:prstGeom prst="rect">
              <a:avLst/>
            </a:prstGeom>
            <a:noFill/>
          </p:spPr>
          <p:txBody>
            <a:bodyPr wrap="none" rtlCol="0">
              <a:spAutoFit/>
            </a:bodyPr>
            <a:lstStyle/>
            <a:p>
              <a:r>
                <a:rPr lang="en-US">
                  <a:latin typeface="Amazon Ember Light" panose="020B0403020204020204" pitchFamily="34" charset="0"/>
                  <a:ea typeface="Amazon Ember Light" panose="020B0403020204020204" pitchFamily="34" charset="0"/>
                  <a:cs typeface="Amazon Ember Light" panose="020B0403020204020204" pitchFamily="34" charset="0"/>
                </a:rPr>
                <a:t>Maximum size</a:t>
              </a:r>
            </a:p>
          </p:txBody>
        </p:sp>
        <p:sp>
          <p:nvSpPr>
            <p:cNvPr id="19" name="Left Brace 18">
              <a:extLst>
                <a:ext uri="{FF2B5EF4-FFF2-40B4-BE49-F238E27FC236}">
                  <a16:creationId xmlns:a16="http://schemas.microsoft.com/office/drawing/2014/main" id="{CCDA662C-07F6-4A39-A901-4FE50D943F9C}"/>
                </a:ext>
                <a:ext uri="{C183D7F6-B498-43B3-948B-1728B52AA6E4}">
                  <adec:decorative xmlns:adec="http://schemas.microsoft.com/office/drawing/2017/decorative" val="1"/>
                </a:ext>
              </a:extLst>
            </p:cNvPr>
            <p:cNvSpPr/>
            <p:nvPr/>
          </p:nvSpPr>
          <p:spPr>
            <a:xfrm rot="16200000">
              <a:off x="4417341" y="3194442"/>
              <a:ext cx="365760" cy="192024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DBE40833-A863-4295-B9AC-C641405B69D5}"/>
                </a:ext>
              </a:extLst>
            </p:cNvPr>
            <p:cNvSpPr txBox="1"/>
            <p:nvPr/>
          </p:nvSpPr>
          <p:spPr>
            <a:xfrm>
              <a:off x="3496393" y="4358992"/>
              <a:ext cx="2297424" cy="646331"/>
            </a:xfrm>
            <a:prstGeom prst="rect">
              <a:avLst/>
            </a:prstGeom>
            <a:noFill/>
          </p:spPr>
          <p:txBody>
            <a:bodyPr wrap="none" rtlCol="0">
              <a:spAutoFit/>
            </a:bodyPr>
            <a:lstStyle/>
            <a:p>
              <a:r>
                <a:rPr lang="en-US">
                  <a:latin typeface="Amazon Ember Light" panose="020B0403020204020204" pitchFamily="34" charset="0"/>
                  <a:ea typeface="Amazon Ember Light" panose="020B0403020204020204" pitchFamily="34" charset="0"/>
                  <a:cs typeface="Amazon Ember Light" panose="020B0403020204020204" pitchFamily="34" charset="0"/>
                </a:rPr>
                <a:t>Launch or terminate </a:t>
              </a:r>
              <a:br>
                <a:rPr lang="en-US">
                  <a:latin typeface="Amazon Ember Light" panose="020B0403020204020204" pitchFamily="34" charset="0"/>
                  <a:ea typeface="Amazon Ember Light" panose="020B0403020204020204" pitchFamily="34" charset="0"/>
                  <a:cs typeface="Amazon Ember Light" panose="020B0403020204020204" pitchFamily="34" charset="0"/>
                </a:rPr>
              </a:br>
              <a:r>
                <a:rPr lang="en-US">
                  <a:latin typeface="Amazon Ember Light" panose="020B0403020204020204" pitchFamily="34" charset="0"/>
                  <a:ea typeface="Amazon Ember Light" panose="020B0403020204020204" pitchFamily="34" charset="0"/>
                  <a:cs typeface="Amazon Ember Light" panose="020B0403020204020204" pitchFamily="34" charset="0"/>
                </a:rPr>
                <a:t>instances as needed</a:t>
              </a:r>
            </a:p>
          </p:txBody>
        </p:sp>
      </p:grpSp>
    </p:spTree>
    <p:custDataLst>
      <p:tags r:id="rId1"/>
    </p:custDataLst>
    <p:extLst>
      <p:ext uri="{BB962C8B-B14F-4D97-AF65-F5344CB8AC3E}">
        <p14:creationId xmlns:p14="http://schemas.microsoft.com/office/powerpoint/2010/main" val="7422839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48E676D-FFDD-4C3A-9A1E-470CE1F2BF00}"/>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70</a:t>
            </a:fld>
            <a:endParaRPr lang="en-US"/>
          </a:p>
        </p:txBody>
      </p:sp>
      <p:sp>
        <p:nvSpPr>
          <p:cNvPr id="5" name="Title 1"/>
          <p:cNvSpPr>
            <a:spLocks noGrp="1"/>
          </p:cNvSpPr>
          <p:nvPr>
            <p:ph type="title"/>
          </p:nvPr>
        </p:nvSpPr>
        <p:spPr/>
        <p:txBody>
          <a:bodyPr>
            <a:normAutofit/>
          </a:bodyPr>
          <a:lstStyle/>
          <a:p>
            <a:r>
              <a:rPr lang="en-US"/>
              <a:t>Scaling out versus scaling in</a:t>
            </a:r>
          </a:p>
        </p:txBody>
      </p:sp>
      <p:grpSp>
        <p:nvGrpSpPr>
          <p:cNvPr id="6" name="Group 5" descr="Elastic Load Balancing distributing traffic to EC2 instances in an Auto Scaling group. The diagram shows a base configuration of two EC2 instances, a scaling out to three (launching one EC2 instance), and a scaling in to two instances (terminating an instance).">
            <a:extLst>
              <a:ext uri="{FF2B5EF4-FFF2-40B4-BE49-F238E27FC236}">
                <a16:creationId xmlns:a16="http://schemas.microsoft.com/office/drawing/2014/main" id="{D1D6E0CF-15FC-40BE-A67A-D4DF054C9135}"/>
              </a:ext>
              <a:ext uri="{C183D7F6-B498-43B3-948B-1728B52AA6E4}">
                <adec:decorative xmlns:adec="http://schemas.microsoft.com/office/drawing/2017/decorative" val="0"/>
              </a:ext>
            </a:extLst>
          </p:cNvPr>
          <p:cNvGrpSpPr/>
          <p:nvPr/>
        </p:nvGrpSpPr>
        <p:grpSpPr>
          <a:xfrm>
            <a:off x="595745" y="1740825"/>
            <a:ext cx="10904859" cy="4473543"/>
            <a:chOff x="595745" y="1740825"/>
            <a:chExt cx="10904859" cy="4473543"/>
          </a:xfrm>
        </p:grpSpPr>
        <p:sp>
          <p:nvSpPr>
            <p:cNvPr id="84" name="Rectangle 83">
              <a:extLst>
                <a:ext uri="{FF2B5EF4-FFF2-40B4-BE49-F238E27FC236}">
                  <a16:creationId xmlns:a16="http://schemas.microsoft.com/office/drawing/2014/main" id="{95ED0EEA-C3A9-46E6-BA0E-5769156F7336}"/>
                </a:ext>
                <a:ext uri="{C183D7F6-B498-43B3-948B-1728B52AA6E4}">
                  <adec:decorative xmlns:adec="http://schemas.microsoft.com/office/drawing/2017/decorative" val="1"/>
                </a:ext>
              </a:extLst>
            </p:cNvPr>
            <p:cNvSpPr/>
            <p:nvPr/>
          </p:nvSpPr>
          <p:spPr>
            <a:xfrm>
              <a:off x="6115450" y="3759200"/>
              <a:ext cx="903464" cy="9708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Connector: Elbow 77">
              <a:extLst>
                <a:ext uri="{FF2B5EF4-FFF2-40B4-BE49-F238E27FC236}">
                  <a16:creationId xmlns:a16="http://schemas.microsoft.com/office/drawing/2014/main" id="{7FAF36AD-E2C6-42DF-9B06-970CDF4E536D}"/>
                </a:ext>
                <a:ext uri="{C183D7F6-B498-43B3-948B-1728B52AA6E4}">
                  <adec:decorative xmlns:adec="http://schemas.microsoft.com/office/drawing/2017/decorative" val="1"/>
                </a:ext>
              </a:extLst>
            </p:cNvPr>
            <p:cNvCxnSpPr>
              <a:stCxn id="47" idx="2"/>
              <a:endCxn id="57" idx="0"/>
            </p:cNvCxnSpPr>
            <p:nvPr/>
          </p:nvCxnSpPr>
          <p:spPr>
            <a:xfrm rot="5400000">
              <a:off x="8651992" y="2798134"/>
              <a:ext cx="1442997" cy="79141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Connector: Elbow 79">
              <a:extLst>
                <a:ext uri="{FF2B5EF4-FFF2-40B4-BE49-F238E27FC236}">
                  <a16:creationId xmlns:a16="http://schemas.microsoft.com/office/drawing/2014/main" id="{FD1B6EFC-C538-4913-9F5F-614B93CB60CD}"/>
                </a:ext>
                <a:ext uri="{C183D7F6-B498-43B3-948B-1728B52AA6E4}">
                  <adec:decorative xmlns:adec="http://schemas.microsoft.com/office/drawing/2017/decorative" val="1"/>
                </a:ext>
              </a:extLst>
            </p:cNvPr>
            <p:cNvCxnSpPr>
              <a:stCxn id="47" idx="2"/>
              <a:endCxn id="58" idx="0"/>
            </p:cNvCxnSpPr>
            <p:nvPr/>
          </p:nvCxnSpPr>
          <p:spPr>
            <a:xfrm rot="16200000" flipH="1">
              <a:off x="9473144" y="2768399"/>
              <a:ext cx="1442997" cy="8508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6208C48F-D8D3-47BB-9B11-46C39EECE033}"/>
                </a:ext>
                <a:ext uri="{C183D7F6-B498-43B3-948B-1728B52AA6E4}">
                  <adec:decorative xmlns:adec="http://schemas.microsoft.com/office/drawing/2017/decorative" val="1"/>
                </a:ext>
              </a:extLst>
            </p:cNvPr>
            <p:cNvCxnSpPr>
              <a:stCxn id="46" idx="2"/>
              <a:endCxn id="61" idx="0"/>
            </p:cNvCxnSpPr>
            <p:nvPr/>
          </p:nvCxnSpPr>
          <p:spPr>
            <a:xfrm rot="5400000">
              <a:off x="5438769" y="2783267"/>
              <a:ext cx="1442997" cy="8211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Connector: Elbow 75">
              <a:extLst>
                <a:ext uri="{FF2B5EF4-FFF2-40B4-BE49-F238E27FC236}">
                  <a16:creationId xmlns:a16="http://schemas.microsoft.com/office/drawing/2014/main" id="{14A02D08-E4D5-482F-9BAA-83F6AE915EB6}"/>
                </a:ext>
                <a:ext uri="{C183D7F6-B498-43B3-948B-1728B52AA6E4}">
                  <adec:decorative xmlns:adec="http://schemas.microsoft.com/office/drawing/2017/decorative" val="1"/>
                </a:ext>
              </a:extLst>
            </p:cNvPr>
            <p:cNvCxnSpPr>
              <a:stCxn id="46" idx="2"/>
              <a:endCxn id="62" idx="0"/>
            </p:cNvCxnSpPr>
            <p:nvPr/>
          </p:nvCxnSpPr>
          <p:spPr>
            <a:xfrm rot="16200000" flipH="1">
              <a:off x="6259921" y="2783267"/>
              <a:ext cx="1442997" cy="82115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DFDB816C-C729-4C3E-9F3B-365403A29AB0}"/>
                </a:ext>
                <a:ext uri="{C183D7F6-B498-43B3-948B-1728B52AA6E4}">
                  <adec:decorative xmlns:adec="http://schemas.microsoft.com/office/drawing/2017/decorative" val="1"/>
                </a:ext>
              </a:extLst>
            </p:cNvPr>
            <p:cNvCxnSpPr>
              <a:cxnSpLocks/>
              <a:stCxn id="46" idx="2"/>
              <a:endCxn id="65" idx="0"/>
            </p:cNvCxnSpPr>
            <p:nvPr/>
          </p:nvCxnSpPr>
          <p:spPr>
            <a:xfrm rot="5400000">
              <a:off x="5849345" y="3193843"/>
              <a:ext cx="1442997" cy="127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45" name="Graphic 44">
              <a:extLst>
                <a:ext uri="{FF2B5EF4-FFF2-40B4-BE49-F238E27FC236}">
                  <a16:creationId xmlns:a16="http://schemas.microsoft.com/office/drawing/2014/main" id="{9D3E7ED8-8288-4CF5-B914-FE63B447364A}"/>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63114" y="1740825"/>
              <a:ext cx="731520" cy="731520"/>
            </a:xfrm>
            <a:prstGeom prst="rect">
              <a:avLst/>
            </a:prstGeom>
          </p:spPr>
        </p:pic>
        <p:pic>
          <p:nvPicPr>
            <p:cNvPr id="46" name="Graphic 45">
              <a:extLst>
                <a:ext uri="{FF2B5EF4-FFF2-40B4-BE49-F238E27FC236}">
                  <a16:creationId xmlns:a16="http://schemas.microsoft.com/office/drawing/2014/main" id="{C89C7438-6569-4BF6-B6FF-C808F7425CE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05083" y="1740825"/>
              <a:ext cx="731520" cy="731520"/>
            </a:xfrm>
            <a:prstGeom prst="rect">
              <a:avLst/>
            </a:prstGeom>
          </p:spPr>
        </p:pic>
        <p:pic>
          <p:nvPicPr>
            <p:cNvPr id="47" name="Graphic 46">
              <a:extLst>
                <a:ext uri="{FF2B5EF4-FFF2-40B4-BE49-F238E27FC236}">
                  <a16:creationId xmlns:a16="http://schemas.microsoft.com/office/drawing/2014/main" id="{A69D547B-7881-47A7-9725-008FBCCD373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03439" y="1740825"/>
              <a:ext cx="731520" cy="731520"/>
            </a:xfrm>
            <a:prstGeom prst="rect">
              <a:avLst/>
            </a:prstGeom>
          </p:spPr>
        </p:pic>
        <p:sp>
          <p:nvSpPr>
            <p:cNvPr id="4" name="TextBox 3">
              <a:extLst>
                <a:ext uri="{FF2B5EF4-FFF2-40B4-BE49-F238E27FC236}">
                  <a16:creationId xmlns:a16="http://schemas.microsoft.com/office/drawing/2014/main" id="{6173B502-52D9-4AF7-A5F9-13229286C922}"/>
                </a:ext>
              </a:extLst>
            </p:cNvPr>
            <p:cNvSpPr txBox="1"/>
            <p:nvPr/>
          </p:nvSpPr>
          <p:spPr>
            <a:xfrm>
              <a:off x="595745" y="1744765"/>
              <a:ext cx="1577676" cy="707886"/>
            </a:xfrm>
            <a:prstGeom prst="rect">
              <a:avLst/>
            </a:prstGeom>
            <a:noFill/>
          </p:spPr>
          <p:txBody>
            <a:bodyPr wrap="none" rtlCol="0">
              <a:spAutoFit/>
            </a:body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Elastic Load </a:t>
              </a:r>
              <a:br>
                <a:rPr lang="en-US" sz="2000">
                  <a:latin typeface="Amazon Ember Light" panose="020B0403020204020204" pitchFamily="34" charset="0"/>
                  <a:ea typeface="Amazon Ember Light" panose="020B0403020204020204" pitchFamily="34" charset="0"/>
                  <a:cs typeface="Amazon Ember Light" panose="020B0403020204020204" pitchFamily="34" charset="0"/>
                </a:rPr>
              </a:br>
              <a:r>
                <a:rPr lang="en-US" sz="2000">
                  <a:latin typeface="Amazon Ember Light" panose="020B0403020204020204" pitchFamily="34" charset="0"/>
                  <a:ea typeface="Amazon Ember Light" panose="020B0403020204020204" pitchFamily="34" charset="0"/>
                  <a:cs typeface="Amazon Ember Light" panose="020B0403020204020204" pitchFamily="34" charset="0"/>
                </a:rPr>
                <a:t>Balancing</a:t>
              </a:r>
            </a:p>
          </p:txBody>
        </p:sp>
        <p:pic>
          <p:nvPicPr>
            <p:cNvPr id="48" name="Graphic 47">
              <a:extLst>
                <a:ext uri="{FF2B5EF4-FFF2-40B4-BE49-F238E27FC236}">
                  <a16:creationId xmlns:a16="http://schemas.microsoft.com/office/drawing/2014/main" id="{7115B24A-5EED-49A7-B6CA-B024323FA9B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141961" y="3915342"/>
              <a:ext cx="731520" cy="731520"/>
            </a:xfrm>
            <a:prstGeom prst="rect">
              <a:avLst/>
            </a:prstGeom>
          </p:spPr>
        </p:pic>
        <p:pic>
          <p:nvPicPr>
            <p:cNvPr id="49" name="Graphic 48">
              <a:extLst>
                <a:ext uri="{FF2B5EF4-FFF2-40B4-BE49-F238E27FC236}">
                  <a16:creationId xmlns:a16="http://schemas.microsoft.com/office/drawing/2014/main" id="{96D8CCF6-628A-44BA-9AF7-7BE8E3E31DB2}"/>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84266" y="3915342"/>
              <a:ext cx="731520" cy="731520"/>
            </a:xfrm>
            <a:prstGeom prst="rect">
              <a:avLst/>
            </a:prstGeom>
          </p:spPr>
        </p:pic>
        <p:sp>
          <p:nvSpPr>
            <p:cNvPr id="55" name="Rectangle 54">
              <a:extLst>
                <a:ext uri="{FF2B5EF4-FFF2-40B4-BE49-F238E27FC236}">
                  <a16:creationId xmlns:a16="http://schemas.microsoft.com/office/drawing/2014/main" id="{12448AC0-F7B7-4442-B0DB-CA8844C1B4F3}"/>
                </a:ext>
                <a:ext uri="{C183D7F6-B498-43B3-948B-1728B52AA6E4}">
                  <adec:decorative xmlns:adec="http://schemas.microsoft.com/office/drawing/2017/decorative" val="1"/>
                </a:ext>
              </a:extLst>
            </p:cNvPr>
            <p:cNvSpPr/>
            <p:nvPr/>
          </p:nvSpPr>
          <p:spPr>
            <a:xfrm>
              <a:off x="1825400" y="3429000"/>
              <a:ext cx="3006949" cy="1658106"/>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a:solidFill>
                  <a:srgbClr val="D86613"/>
                </a:solidFill>
              </a:endParaRPr>
            </a:p>
            <a:p>
              <a:pPr algn="ctr"/>
              <a:endParaRPr lang="en-US" sz="1200">
                <a:solidFill>
                  <a:srgbClr val="D86613"/>
                </a:solidFill>
              </a:endParaRPr>
            </a:p>
          </p:txBody>
        </p:sp>
        <p:pic>
          <p:nvPicPr>
            <p:cNvPr id="57" name="Graphic 56">
              <a:extLst>
                <a:ext uri="{FF2B5EF4-FFF2-40B4-BE49-F238E27FC236}">
                  <a16:creationId xmlns:a16="http://schemas.microsoft.com/office/drawing/2014/main" id="{36CD7D27-EFAA-41A0-B60E-4A3D3866D25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612021" y="3915342"/>
              <a:ext cx="731520" cy="731520"/>
            </a:xfrm>
            <a:prstGeom prst="rect">
              <a:avLst/>
            </a:prstGeom>
          </p:spPr>
        </p:pic>
        <p:pic>
          <p:nvPicPr>
            <p:cNvPr id="58" name="Graphic 57">
              <a:extLst>
                <a:ext uri="{FF2B5EF4-FFF2-40B4-BE49-F238E27FC236}">
                  <a16:creationId xmlns:a16="http://schemas.microsoft.com/office/drawing/2014/main" id="{D92E754E-1A14-4CAA-A7A1-3BDA700F1EF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254326" y="3915342"/>
              <a:ext cx="731520" cy="731520"/>
            </a:xfrm>
            <a:prstGeom prst="rect">
              <a:avLst/>
            </a:prstGeom>
          </p:spPr>
        </p:pic>
        <p:sp>
          <p:nvSpPr>
            <p:cNvPr id="59" name="Rectangle 58">
              <a:extLst>
                <a:ext uri="{FF2B5EF4-FFF2-40B4-BE49-F238E27FC236}">
                  <a16:creationId xmlns:a16="http://schemas.microsoft.com/office/drawing/2014/main" id="{C119356B-0D8A-4A90-83C7-C29B3F9AE79C}"/>
                </a:ext>
                <a:ext uri="{C183D7F6-B498-43B3-948B-1728B52AA6E4}">
                  <adec:decorative xmlns:adec="http://schemas.microsoft.com/office/drawing/2017/decorative" val="1"/>
                </a:ext>
              </a:extLst>
            </p:cNvPr>
            <p:cNvSpPr/>
            <p:nvPr/>
          </p:nvSpPr>
          <p:spPr>
            <a:xfrm>
              <a:off x="8295460" y="3429000"/>
              <a:ext cx="3006949" cy="1658104"/>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a:solidFill>
                  <a:srgbClr val="D86613"/>
                </a:solidFill>
              </a:endParaRPr>
            </a:p>
            <a:p>
              <a:pPr algn="ctr"/>
              <a:endParaRPr lang="en-US" sz="1200">
                <a:solidFill>
                  <a:srgbClr val="D86613"/>
                </a:solidFill>
              </a:endParaRPr>
            </a:p>
          </p:txBody>
        </p:sp>
        <p:pic>
          <p:nvPicPr>
            <p:cNvPr id="60" name="Graphic 59">
              <a:extLst>
                <a:ext uri="{FF2B5EF4-FFF2-40B4-BE49-F238E27FC236}">
                  <a16:creationId xmlns:a16="http://schemas.microsoft.com/office/drawing/2014/main" id="{37CF1BEF-6D7E-4D39-8D94-4D67A9C70F48}"/>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633834" y="3429000"/>
              <a:ext cx="330200" cy="330200"/>
            </a:xfrm>
            <a:prstGeom prst="rect">
              <a:avLst/>
            </a:prstGeom>
          </p:spPr>
        </p:pic>
        <p:pic>
          <p:nvPicPr>
            <p:cNvPr id="61" name="Graphic 60">
              <a:extLst>
                <a:ext uri="{FF2B5EF4-FFF2-40B4-BE49-F238E27FC236}">
                  <a16:creationId xmlns:a16="http://schemas.microsoft.com/office/drawing/2014/main" id="{46299D71-2C44-482D-BC67-386AA4F75E63}"/>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83930" y="3915342"/>
              <a:ext cx="731520" cy="731520"/>
            </a:xfrm>
            <a:prstGeom prst="rect">
              <a:avLst/>
            </a:prstGeom>
          </p:spPr>
        </p:pic>
        <p:pic>
          <p:nvPicPr>
            <p:cNvPr id="62" name="Graphic 61">
              <a:extLst>
                <a:ext uri="{FF2B5EF4-FFF2-40B4-BE49-F238E27FC236}">
                  <a16:creationId xmlns:a16="http://schemas.microsoft.com/office/drawing/2014/main" id="{B6F3F626-60F4-4777-8FB6-DE55A5D6AF0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026235" y="3915342"/>
              <a:ext cx="731520" cy="731520"/>
            </a:xfrm>
            <a:prstGeom prst="rect">
              <a:avLst/>
            </a:prstGeom>
          </p:spPr>
        </p:pic>
        <p:sp>
          <p:nvSpPr>
            <p:cNvPr id="63" name="Rectangle 62">
              <a:extLst>
                <a:ext uri="{FF2B5EF4-FFF2-40B4-BE49-F238E27FC236}">
                  <a16:creationId xmlns:a16="http://schemas.microsoft.com/office/drawing/2014/main" id="{916F304B-53E7-463C-B37C-245D9987B941}"/>
                </a:ext>
                <a:ext uri="{C183D7F6-B498-43B3-948B-1728B52AA6E4}">
                  <adec:decorative xmlns:adec="http://schemas.microsoft.com/office/drawing/2017/decorative" val="1"/>
                </a:ext>
              </a:extLst>
            </p:cNvPr>
            <p:cNvSpPr/>
            <p:nvPr/>
          </p:nvSpPr>
          <p:spPr>
            <a:xfrm>
              <a:off x="5067369" y="3458367"/>
              <a:ext cx="3006949" cy="1628739"/>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a:solidFill>
                  <a:srgbClr val="D86613"/>
                </a:solidFill>
              </a:endParaRPr>
            </a:p>
            <a:p>
              <a:pPr algn="ctr"/>
              <a:endParaRPr lang="en-US" sz="1200">
                <a:solidFill>
                  <a:srgbClr val="D86613"/>
                </a:solidFill>
              </a:endParaRPr>
            </a:p>
          </p:txBody>
        </p:sp>
        <p:pic>
          <p:nvPicPr>
            <p:cNvPr id="64" name="Graphic 63">
              <a:extLst>
                <a:ext uri="{FF2B5EF4-FFF2-40B4-BE49-F238E27FC236}">
                  <a16:creationId xmlns:a16="http://schemas.microsoft.com/office/drawing/2014/main" id="{ED80AA98-1D52-4D4B-8A56-33005A25B197}"/>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05743" y="3429000"/>
              <a:ext cx="330200" cy="330200"/>
            </a:xfrm>
            <a:prstGeom prst="rect">
              <a:avLst/>
            </a:prstGeom>
          </p:spPr>
        </p:pic>
        <p:pic>
          <p:nvPicPr>
            <p:cNvPr id="65" name="Graphic 64">
              <a:extLst>
                <a:ext uri="{FF2B5EF4-FFF2-40B4-BE49-F238E27FC236}">
                  <a16:creationId xmlns:a16="http://schemas.microsoft.com/office/drawing/2014/main" id="{43E0B55F-6A6C-4D9B-B0A4-A0558AA0518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05083" y="3915342"/>
              <a:ext cx="731520" cy="731520"/>
            </a:xfrm>
            <a:prstGeom prst="rect">
              <a:avLst/>
            </a:prstGeom>
          </p:spPr>
        </p:pic>
        <p:cxnSp>
          <p:nvCxnSpPr>
            <p:cNvPr id="67" name="Connector: Elbow 66">
              <a:extLst>
                <a:ext uri="{FF2B5EF4-FFF2-40B4-BE49-F238E27FC236}">
                  <a16:creationId xmlns:a16="http://schemas.microsoft.com/office/drawing/2014/main" id="{9BA6695B-1875-45D8-ADE2-AB9B76AEF352}"/>
                </a:ext>
                <a:ext uri="{C183D7F6-B498-43B3-948B-1728B52AA6E4}">
                  <adec:decorative xmlns:adec="http://schemas.microsoft.com/office/drawing/2017/decorative" val="1"/>
                </a:ext>
              </a:extLst>
            </p:cNvPr>
            <p:cNvCxnSpPr>
              <a:stCxn id="45" idx="2"/>
              <a:endCxn id="48" idx="0"/>
            </p:cNvCxnSpPr>
            <p:nvPr/>
          </p:nvCxnSpPr>
          <p:spPr>
            <a:xfrm rot="5400000">
              <a:off x="2196800" y="2783267"/>
              <a:ext cx="1442997" cy="8211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087FC4C8-3BCB-46E6-9C66-0503B5DF30E3}"/>
                </a:ext>
                <a:ext uri="{C183D7F6-B498-43B3-948B-1728B52AA6E4}">
                  <adec:decorative xmlns:adec="http://schemas.microsoft.com/office/drawing/2017/decorative" val="1"/>
                </a:ext>
              </a:extLst>
            </p:cNvPr>
            <p:cNvCxnSpPr>
              <a:stCxn id="45" idx="2"/>
              <a:endCxn id="49" idx="0"/>
            </p:cNvCxnSpPr>
            <p:nvPr/>
          </p:nvCxnSpPr>
          <p:spPr>
            <a:xfrm rot="16200000" flipH="1">
              <a:off x="3017952" y="2783267"/>
              <a:ext cx="1442997" cy="82115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51E1A57-AD85-4720-BCA8-90D5EF793046}"/>
                </a:ext>
              </a:extLst>
            </p:cNvPr>
            <p:cNvSpPr txBox="1"/>
            <p:nvPr/>
          </p:nvSpPr>
          <p:spPr>
            <a:xfrm>
              <a:off x="5579073" y="4742417"/>
              <a:ext cx="1903085" cy="338554"/>
            </a:xfrm>
            <a:prstGeom prst="rect">
              <a:avLst/>
            </a:prstGeom>
            <a:noFill/>
          </p:spPr>
          <p:txBody>
            <a:bodyPr wrap="none" rtlCol="0">
              <a:spAutoFit/>
            </a:bodyPr>
            <a:lstStyle/>
            <a:p>
              <a:r>
                <a:rPr lang="en-US" sz="1600">
                  <a:solidFill>
                    <a:srgbClr val="D86613"/>
                  </a:solidFill>
                  <a:latin typeface="Amazon Ember Light" panose="020B0403020204020204" pitchFamily="34" charset="0"/>
                  <a:ea typeface="Amazon Ember Light" panose="020B0403020204020204" pitchFamily="34" charset="0"/>
                  <a:cs typeface="Amazon Ember Light" panose="020B0403020204020204" pitchFamily="34" charset="0"/>
                </a:rPr>
                <a:t>Auto Scaling group</a:t>
              </a:r>
            </a:p>
          </p:txBody>
        </p:sp>
        <p:pic>
          <p:nvPicPr>
            <p:cNvPr id="56" name="Graphic 55">
              <a:extLst>
                <a:ext uri="{FF2B5EF4-FFF2-40B4-BE49-F238E27FC236}">
                  <a16:creationId xmlns:a16="http://schemas.microsoft.com/office/drawing/2014/main" id="{DDB1438A-1933-45DC-9CA9-5D18C95941F5}"/>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163774" y="3429000"/>
              <a:ext cx="330200" cy="330200"/>
            </a:xfrm>
            <a:prstGeom prst="rect">
              <a:avLst/>
            </a:prstGeom>
          </p:spPr>
        </p:pic>
        <p:sp>
          <p:nvSpPr>
            <p:cNvPr id="82" name="TextBox 81">
              <a:extLst>
                <a:ext uri="{FF2B5EF4-FFF2-40B4-BE49-F238E27FC236}">
                  <a16:creationId xmlns:a16="http://schemas.microsoft.com/office/drawing/2014/main" id="{F40911D4-51EA-48AD-9CEE-ECD702CD1FE1}"/>
                </a:ext>
              </a:extLst>
            </p:cNvPr>
            <p:cNvSpPr txBox="1"/>
            <p:nvPr/>
          </p:nvSpPr>
          <p:spPr>
            <a:xfrm>
              <a:off x="2374052" y="4742417"/>
              <a:ext cx="1903085" cy="338554"/>
            </a:xfrm>
            <a:prstGeom prst="rect">
              <a:avLst/>
            </a:prstGeom>
            <a:noFill/>
          </p:spPr>
          <p:txBody>
            <a:bodyPr wrap="none" rtlCol="0">
              <a:spAutoFit/>
            </a:bodyPr>
            <a:lstStyle/>
            <a:p>
              <a:r>
                <a:rPr lang="en-US" sz="1600">
                  <a:solidFill>
                    <a:srgbClr val="D86613"/>
                  </a:solidFill>
                  <a:latin typeface="Amazon Ember Light" panose="020B0403020204020204" pitchFamily="34" charset="0"/>
                  <a:ea typeface="Amazon Ember Light" panose="020B0403020204020204" pitchFamily="34" charset="0"/>
                  <a:cs typeface="Amazon Ember Light" panose="020B0403020204020204" pitchFamily="34" charset="0"/>
                </a:rPr>
                <a:t>Auto Scaling group</a:t>
              </a:r>
            </a:p>
          </p:txBody>
        </p:sp>
        <p:sp>
          <p:nvSpPr>
            <p:cNvPr id="83" name="TextBox 82">
              <a:extLst>
                <a:ext uri="{FF2B5EF4-FFF2-40B4-BE49-F238E27FC236}">
                  <a16:creationId xmlns:a16="http://schemas.microsoft.com/office/drawing/2014/main" id="{DD3D1B39-94B6-4818-995D-D057203EAFEA}"/>
                </a:ext>
              </a:extLst>
            </p:cNvPr>
            <p:cNvSpPr txBox="1"/>
            <p:nvPr/>
          </p:nvSpPr>
          <p:spPr>
            <a:xfrm>
              <a:off x="8847391" y="4742417"/>
              <a:ext cx="1903085" cy="338554"/>
            </a:xfrm>
            <a:prstGeom prst="rect">
              <a:avLst/>
            </a:prstGeom>
            <a:noFill/>
          </p:spPr>
          <p:txBody>
            <a:bodyPr wrap="none" rtlCol="0">
              <a:spAutoFit/>
            </a:bodyPr>
            <a:lstStyle/>
            <a:p>
              <a:r>
                <a:rPr lang="en-US" sz="1600">
                  <a:solidFill>
                    <a:srgbClr val="D86613"/>
                  </a:solidFill>
                  <a:latin typeface="Amazon Ember Light" panose="020B0403020204020204" pitchFamily="34" charset="0"/>
                  <a:ea typeface="Amazon Ember Light" panose="020B0403020204020204" pitchFamily="34" charset="0"/>
                  <a:cs typeface="Amazon Ember Light" panose="020B0403020204020204" pitchFamily="34" charset="0"/>
                </a:rPr>
                <a:t>Auto Scaling group</a:t>
              </a:r>
            </a:p>
          </p:txBody>
        </p:sp>
        <p:sp>
          <p:nvSpPr>
            <p:cNvPr id="85" name="TextBox 84">
              <a:extLst>
                <a:ext uri="{FF2B5EF4-FFF2-40B4-BE49-F238E27FC236}">
                  <a16:creationId xmlns:a16="http://schemas.microsoft.com/office/drawing/2014/main" id="{5A291974-7D8A-4EDA-95E8-E9E70FC2CB5F}"/>
                </a:ext>
              </a:extLst>
            </p:cNvPr>
            <p:cNvSpPr txBox="1"/>
            <p:nvPr/>
          </p:nvSpPr>
          <p:spPr>
            <a:xfrm>
              <a:off x="1771397" y="5260261"/>
              <a:ext cx="3114955" cy="523220"/>
            </a:xfrm>
            <a:prstGeom prst="rect">
              <a:avLst/>
            </a:prstGeom>
            <a:noFill/>
          </p:spPr>
          <p:txBody>
            <a:bodyPr wrap="none" rtlCol="0">
              <a:spAutoFit/>
            </a:bodyPr>
            <a:lstStyle/>
            <a:p>
              <a:pPr algn="ctr"/>
              <a:r>
                <a:rPr lang="en-US" sz="2800">
                  <a:latin typeface="Amazon Ember Light" panose="020B0403020204020204" pitchFamily="34" charset="0"/>
                  <a:ea typeface="Amazon Ember Light" panose="020B0403020204020204" pitchFamily="34" charset="0"/>
                  <a:cs typeface="Amazon Ember Light" panose="020B0403020204020204" pitchFamily="34" charset="0"/>
                </a:rPr>
                <a:t>Base configuration</a:t>
              </a:r>
            </a:p>
          </p:txBody>
        </p:sp>
        <p:sp>
          <p:nvSpPr>
            <p:cNvPr id="86" name="TextBox 85">
              <a:extLst>
                <a:ext uri="{FF2B5EF4-FFF2-40B4-BE49-F238E27FC236}">
                  <a16:creationId xmlns:a16="http://schemas.microsoft.com/office/drawing/2014/main" id="{20AE84F6-0442-4B77-8816-C240D603D2C7}"/>
                </a:ext>
              </a:extLst>
            </p:cNvPr>
            <p:cNvSpPr txBox="1"/>
            <p:nvPr/>
          </p:nvSpPr>
          <p:spPr>
            <a:xfrm>
              <a:off x="5093455" y="5260261"/>
              <a:ext cx="2967479" cy="954107"/>
            </a:xfrm>
            <a:prstGeom prst="rect">
              <a:avLst/>
            </a:prstGeom>
            <a:noFill/>
          </p:spPr>
          <p:txBody>
            <a:bodyPr wrap="none" rtlCol="0">
              <a:spAutoFit/>
            </a:bodyPr>
            <a:lstStyle/>
            <a:p>
              <a:pPr algn="ctr"/>
              <a:r>
                <a:rPr lang="en-US" sz="2800">
                  <a:latin typeface="Amazon Ember Light" panose="020B0403020204020204" pitchFamily="34" charset="0"/>
                  <a:ea typeface="Amazon Ember Light" panose="020B0403020204020204" pitchFamily="34" charset="0"/>
                  <a:cs typeface="Amazon Ember Light" panose="020B0403020204020204" pitchFamily="34" charset="0"/>
                </a:rPr>
                <a:t>Scale out</a:t>
              </a:r>
              <a:br>
                <a:rPr lang="en-US" sz="2800">
                  <a:latin typeface="Amazon Ember Light" panose="020B0403020204020204" pitchFamily="34" charset="0"/>
                  <a:ea typeface="Amazon Ember Light" panose="020B0403020204020204" pitchFamily="34" charset="0"/>
                  <a:cs typeface="Amazon Ember Light" panose="020B0403020204020204" pitchFamily="34" charset="0"/>
                </a:rPr>
              </a:br>
              <a:r>
                <a:rPr lang="en-US" sz="2800">
                  <a:latin typeface="Amazon Ember Light" panose="020B0403020204020204" pitchFamily="34" charset="0"/>
                  <a:ea typeface="Amazon Ember Light" panose="020B0403020204020204" pitchFamily="34" charset="0"/>
                  <a:cs typeface="Amazon Ember Light" panose="020B0403020204020204" pitchFamily="34" charset="0"/>
                </a:rPr>
                <a:t>(launch instances)</a:t>
              </a:r>
            </a:p>
          </p:txBody>
        </p:sp>
        <p:sp>
          <p:nvSpPr>
            <p:cNvPr id="87" name="TextBox 86">
              <a:extLst>
                <a:ext uri="{FF2B5EF4-FFF2-40B4-BE49-F238E27FC236}">
                  <a16:creationId xmlns:a16="http://schemas.microsoft.com/office/drawing/2014/main" id="{9E4C9153-20AB-441D-82C3-9BA5C4A184F0}"/>
                </a:ext>
              </a:extLst>
            </p:cNvPr>
            <p:cNvSpPr txBox="1"/>
            <p:nvPr/>
          </p:nvSpPr>
          <p:spPr>
            <a:xfrm>
              <a:off x="8037797" y="5260261"/>
              <a:ext cx="3462807" cy="954107"/>
            </a:xfrm>
            <a:prstGeom prst="rect">
              <a:avLst/>
            </a:prstGeom>
            <a:noFill/>
          </p:spPr>
          <p:txBody>
            <a:bodyPr wrap="none" rtlCol="0">
              <a:spAutoFit/>
            </a:bodyPr>
            <a:lstStyle/>
            <a:p>
              <a:pPr algn="ctr"/>
              <a:r>
                <a:rPr lang="en-US" sz="2800">
                  <a:latin typeface="Amazon Ember Light" panose="020B0403020204020204" pitchFamily="34" charset="0"/>
                  <a:ea typeface="Amazon Ember Light" panose="020B0403020204020204" pitchFamily="34" charset="0"/>
                  <a:cs typeface="Amazon Ember Light" panose="020B0403020204020204" pitchFamily="34" charset="0"/>
                </a:rPr>
                <a:t>Scale in</a:t>
              </a:r>
              <a:br>
                <a:rPr lang="en-US" sz="2800">
                  <a:latin typeface="Amazon Ember Light" panose="020B0403020204020204" pitchFamily="34" charset="0"/>
                  <a:ea typeface="Amazon Ember Light" panose="020B0403020204020204" pitchFamily="34" charset="0"/>
                  <a:cs typeface="Amazon Ember Light" panose="020B0403020204020204" pitchFamily="34" charset="0"/>
                </a:rPr>
              </a:br>
              <a:r>
                <a:rPr lang="en-US" sz="2800">
                  <a:latin typeface="Amazon Ember Light" panose="020B0403020204020204" pitchFamily="34" charset="0"/>
                  <a:ea typeface="Amazon Ember Light" panose="020B0403020204020204" pitchFamily="34" charset="0"/>
                  <a:cs typeface="Amazon Ember Light" panose="020B0403020204020204" pitchFamily="34" charset="0"/>
                </a:rPr>
                <a:t>(terminate instances)</a:t>
              </a:r>
            </a:p>
          </p:txBody>
        </p:sp>
      </p:grpSp>
    </p:spTree>
    <p:custDataLst>
      <p:tags r:id="rId1"/>
    </p:custDataLst>
    <p:extLst>
      <p:ext uri="{BB962C8B-B14F-4D97-AF65-F5344CB8AC3E}">
        <p14:creationId xmlns:p14="http://schemas.microsoft.com/office/powerpoint/2010/main" val="12853227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B05AA4-CAD7-F872-A8A9-F63B8114ED04}"/>
              </a:ext>
            </a:extLst>
          </p:cNvPr>
          <p:cNvSpPr>
            <a:spLocks noGrp="1"/>
          </p:cNvSpPr>
          <p:nvPr>
            <p:ph type="sldNum" sz="quarter" idx="20"/>
          </p:nvPr>
        </p:nvSpPr>
        <p:spPr/>
        <p:txBody>
          <a:bodyPr/>
          <a:lstStyle/>
          <a:p>
            <a:fld id="{930176A1-BCF0-4712-97A6-6B495F55390B}" type="slidenum">
              <a:rPr lang="en-US" smtClean="0"/>
              <a:pPr/>
              <a:t>71</a:t>
            </a:fld>
            <a:endParaRPr lang="en-US"/>
          </a:p>
        </p:txBody>
      </p:sp>
      <p:sp>
        <p:nvSpPr>
          <p:cNvPr id="6" name="Title 5">
            <a:extLst>
              <a:ext uri="{FF2B5EF4-FFF2-40B4-BE49-F238E27FC236}">
                <a16:creationId xmlns:a16="http://schemas.microsoft.com/office/drawing/2014/main" id="{A6EE8AEF-F9E7-46C4-B898-94B3E02A09F4}"/>
              </a:ext>
            </a:extLst>
          </p:cNvPr>
          <p:cNvSpPr>
            <a:spLocks noGrp="1"/>
          </p:cNvSpPr>
          <p:nvPr>
            <p:ph type="title"/>
          </p:nvPr>
        </p:nvSpPr>
        <p:spPr/>
        <p:txBody>
          <a:bodyPr/>
          <a:lstStyle/>
          <a:p>
            <a:r>
              <a:rPr lang="en-US"/>
              <a:t>How Amazon EC2 Auto Scaling works</a:t>
            </a:r>
          </a:p>
        </p:txBody>
      </p:sp>
      <p:grpSp>
        <p:nvGrpSpPr>
          <p:cNvPr id="66" name="Group 65" descr="The Auto Scaling group uses a launch configuration, or what you are scaling. Includes AMI, instance type, IAM role, security groups, and EBS volumes.">
            <a:extLst>
              <a:ext uri="{FF2B5EF4-FFF2-40B4-BE49-F238E27FC236}">
                <a16:creationId xmlns:a16="http://schemas.microsoft.com/office/drawing/2014/main" id="{FB39DB56-2E0E-495B-9FFF-079395C2B668}"/>
              </a:ext>
              <a:ext uri="{C183D7F6-B498-43B3-948B-1728B52AA6E4}">
                <adec:decorative xmlns:adec="http://schemas.microsoft.com/office/drawing/2017/decorative" val="0"/>
              </a:ext>
            </a:extLst>
          </p:cNvPr>
          <p:cNvGrpSpPr/>
          <p:nvPr/>
        </p:nvGrpSpPr>
        <p:grpSpPr>
          <a:xfrm>
            <a:off x="845127" y="1278309"/>
            <a:ext cx="2468880" cy="4841650"/>
            <a:chOff x="845127" y="1278309"/>
            <a:chExt cx="2468880" cy="4841650"/>
          </a:xfrm>
        </p:grpSpPr>
        <p:sp>
          <p:nvSpPr>
            <p:cNvPr id="15" name="TextBox 14">
              <a:extLst>
                <a:ext uri="{FF2B5EF4-FFF2-40B4-BE49-F238E27FC236}">
                  <a16:creationId xmlns:a16="http://schemas.microsoft.com/office/drawing/2014/main" id="{E5CED393-7788-488F-A91B-6590A01E2920}"/>
                </a:ext>
              </a:extLst>
            </p:cNvPr>
            <p:cNvSpPr txBox="1"/>
            <p:nvPr/>
          </p:nvSpPr>
          <p:spPr>
            <a:xfrm>
              <a:off x="1566446" y="1278309"/>
              <a:ext cx="1026243" cy="523220"/>
            </a:xfrm>
            <a:prstGeom prst="rect">
              <a:avLst/>
            </a:prstGeom>
            <a:noFill/>
          </p:spPr>
          <p:txBody>
            <a:bodyPr wrap="none" rtlCol="0">
              <a:spAutoFit/>
            </a:body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What</a:t>
              </a:r>
            </a:p>
          </p:txBody>
        </p:sp>
        <p:grpSp>
          <p:nvGrpSpPr>
            <p:cNvPr id="26" name="Group 25">
              <a:extLst>
                <a:ext uri="{FF2B5EF4-FFF2-40B4-BE49-F238E27FC236}">
                  <a16:creationId xmlns:a16="http://schemas.microsoft.com/office/drawing/2014/main" id="{7AE4C5F1-D55E-4634-A355-872BD9BA7690}"/>
                </a:ext>
                <a:ext uri="{C183D7F6-B498-43B3-948B-1728B52AA6E4}">
                  <adec:decorative xmlns:adec="http://schemas.microsoft.com/office/drawing/2017/decorative" val="1"/>
                </a:ext>
              </a:extLst>
            </p:cNvPr>
            <p:cNvGrpSpPr/>
            <p:nvPr/>
          </p:nvGrpSpPr>
          <p:grpSpPr>
            <a:xfrm>
              <a:off x="1104748" y="1801529"/>
              <a:ext cx="1949638" cy="1668507"/>
              <a:chOff x="1005003" y="1898512"/>
              <a:chExt cx="1949638" cy="1668507"/>
            </a:xfrm>
          </p:grpSpPr>
          <p:pic>
            <p:nvPicPr>
              <p:cNvPr id="7" name="Graphic 6">
                <a:extLst>
                  <a:ext uri="{FF2B5EF4-FFF2-40B4-BE49-F238E27FC236}">
                    <a16:creationId xmlns:a16="http://schemas.microsoft.com/office/drawing/2014/main" id="{7225EB3F-BAE6-4E01-8BD7-ECA6B977F34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5003" y="1898512"/>
                <a:ext cx="640080" cy="640080"/>
              </a:xfrm>
              <a:prstGeom prst="rect">
                <a:avLst/>
              </a:prstGeom>
            </p:spPr>
          </p:pic>
          <p:pic>
            <p:nvPicPr>
              <p:cNvPr id="8" name="Graphic 7">
                <a:extLst>
                  <a:ext uri="{FF2B5EF4-FFF2-40B4-BE49-F238E27FC236}">
                    <a16:creationId xmlns:a16="http://schemas.microsoft.com/office/drawing/2014/main" id="{D74BDC09-86DE-4936-92A1-9D28A621A9F6}"/>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66788" y="2538592"/>
                <a:ext cx="640080" cy="640080"/>
              </a:xfrm>
              <a:prstGeom prst="rect">
                <a:avLst/>
              </a:prstGeom>
            </p:spPr>
          </p:pic>
          <p:sp>
            <p:nvSpPr>
              <p:cNvPr id="18" name="TextBox 17">
                <a:extLst>
                  <a:ext uri="{FF2B5EF4-FFF2-40B4-BE49-F238E27FC236}">
                    <a16:creationId xmlns:a16="http://schemas.microsoft.com/office/drawing/2014/main" id="{B23D93BE-34D8-43F7-B916-ACB7343FE6B2}"/>
                  </a:ext>
                </a:extLst>
              </p:cNvPr>
              <p:cNvSpPr txBox="1"/>
              <p:nvPr/>
            </p:nvSpPr>
            <p:spPr>
              <a:xfrm>
                <a:off x="1059585" y="2557712"/>
                <a:ext cx="530915" cy="338554"/>
              </a:xfrm>
              <a:prstGeom prst="rect">
                <a:avLst/>
              </a:prstGeom>
              <a:noFill/>
            </p:spPr>
            <p:txBody>
              <a:bodyPr wrap="non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AMI</a:t>
                </a:r>
              </a:p>
            </p:txBody>
          </p:sp>
          <p:sp>
            <p:nvSpPr>
              <p:cNvPr id="19" name="TextBox 18">
                <a:extLst>
                  <a:ext uri="{FF2B5EF4-FFF2-40B4-BE49-F238E27FC236}">
                    <a16:creationId xmlns:a16="http://schemas.microsoft.com/office/drawing/2014/main" id="{897A2362-B2D2-490C-A08C-1E1A46C076ED}"/>
                  </a:ext>
                </a:extLst>
              </p:cNvPr>
              <p:cNvSpPr txBox="1"/>
              <p:nvPr/>
            </p:nvSpPr>
            <p:spPr>
              <a:xfrm>
                <a:off x="1619019" y="3228465"/>
                <a:ext cx="1335622" cy="338554"/>
              </a:xfrm>
              <a:prstGeom prst="rect">
                <a:avLst/>
              </a:prstGeom>
              <a:noFill/>
            </p:spPr>
            <p:txBody>
              <a:bodyPr wrap="non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EC2 instance</a:t>
                </a:r>
              </a:p>
            </p:txBody>
          </p:sp>
          <p:cxnSp>
            <p:nvCxnSpPr>
              <p:cNvPr id="24" name="Connector: Elbow 23">
                <a:extLst>
                  <a:ext uri="{FF2B5EF4-FFF2-40B4-BE49-F238E27FC236}">
                    <a16:creationId xmlns:a16="http://schemas.microsoft.com/office/drawing/2014/main" id="{2969F6D9-C711-4E4E-98FD-12B1C0031452}"/>
                  </a:ext>
                </a:extLst>
              </p:cNvPr>
              <p:cNvCxnSpPr>
                <a:stCxn id="7" idx="3"/>
                <a:endCxn id="8" idx="0"/>
              </p:cNvCxnSpPr>
              <p:nvPr/>
            </p:nvCxnSpPr>
            <p:spPr>
              <a:xfrm>
                <a:off x="1645083" y="2218552"/>
                <a:ext cx="641745" cy="32004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0DAECBEB-2C35-4EF4-883F-7C131854F806}"/>
                </a:ext>
                <a:ext uri="{C183D7F6-B498-43B3-948B-1728B52AA6E4}">
                  <adec:decorative xmlns:adec="http://schemas.microsoft.com/office/drawing/2017/decorative" val="1"/>
                </a:ext>
              </a:extLst>
            </p:cNvPr>
            <p:cNvGrpSpPr/>
            <p:nvPr/>
          </p:nvGrpSpPr>
          <p:grpSpPr>
            <a:xfrm>
              <a:off x="845127" y="3917709"/>
              <a:ext cx="2468880" cy="2202250"/>
              <a:chOff x="845127" y="3917709"/>
              <a:chExt cx="2468880" cy="2202250"/>
            </a:xfrm>
          </p:grpSpPr>
          <p:sp>
            <p:nvSpPr>
              <p:cNvPr id="22" name="Rectangle 21">
                <a:extLst>
                  <a:ext uri="{FF2B5EF4-FFF2-40B4-BE49-F238E27FC236}">
                    <a16:creationId xmlns:a16="http://schemas.microsoft.com/office/drawing/2014/main" id="{DA70D74D-A163-4F8D-8387-DEA1839A36F7}"/>
                  </a:ext>
                </a:extLst>
              </p:cNvPr>
              <p:cNvSpPr/>
              <p:nvPr/>
            </p:nvSpPr>
            <p:spPr>
              <a:xfrm>
                <a:off x="845127" y="4565479"/>
                <a:ext cx="2468880" cy="1554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a:solidFill>
                      <a:schemeClr val="tx1"/>
                    </a:solidFill>
                  </a:rPr>
                  <a:t>AMI</a:t>
                </a:r>
              </a:p>
              <a:p>
                <a:pPr marL="285750" indent="-285750">
                  <a:buFont typeface="Arial" panose="020B0604020202020204" pitchFamily="34" charset="0"/>
                  <a:buChar char="•"/>
                </a:pPr>
                <a:r>
                  <a:rPr lang="en-US">
                    <a:solidFill>
                      <a:schemeClr val="tx1"/>
                    </a:solidFill>
                  </a:rPr>
                  <a:t>Instance type</a:t>
                </a:r>
              </a:p>
              <a:p>
                <a:pPr marL="285750" indent="-285750">
                  <a:buFont typeface="Arial" panose="020B0604020202020204" pitchFamily="34" charset="0"/>
                  <a:buChar char="•"/>
                </a:pPr>
                <a:r>
                  <a:rPr lang="en-US">
                    <a:solidFill>
                      <a:schemeClr val="tx1"/>
                    </a:solidFill>
                  </a:rPr>
                  <a:t>IAM role</a:t>
                </a:r>
              </a:p>
              <a:p>
                <a:pPr marL="285750" indent="-285750">
                  <a:buFont typeface="Arial" panose="020B0604020202020204" pitchFamily="34" charset="0"/>
                  <a:buChar char="•"/>
                </a:pPr>
                <a:r>
                  <a:rPr lang="en-US">
                    <a:solidFill>
                      <a:schemeClr val="tx1"/>
                    </a:solidFill>
                  </a:rPr>
                  <a:t>Security groups</a:t>
                </a:r>
              </a:p>
              <a:p>
                <a:pPr marL="285750" indent="-285750">
                  <a:buFont typeface="Arial" panose="020B0604020202020204" pitchFamily="34" charset="0"/>
                  <a:buChar char="•"/>
                </a:pPr>
                <a:r>
                  <a:rPr lang="en-US">
                    <a:solidFill>
                      <a:schemeClr val="tx1"/>
                    </a:solidFill>
                  </a:rPr>
                  <a:t>EBS volumes</a:t>
                </a:r>
              </a:p>
            </p:txBody>
          </p:sp>
          <p:sp>
            <p:nvSpPr>
              <p:cNvPr id="33" name="Rectangle 32">
                <a:extLst>
                  <a:ext uri="{FF2B5EF4-FFF2-40B4-BE49-F238E27FC236}">
                    <a16:creationId xmlns:a16="http://schemas.microsoft.com/office/drawing/2014/main" id="{7F036BEE-5D26-4627-A126-61726B430F2A}"/>
                  </a:ext>
                </a:extLst>
              </p:cNvPr>
              <p:cNvSpPr/>
              <p:nvPr/>
            </p:nvSpPr>
            <p:spPr>
              <a:xfrm>
                <a:off x="845127" y="3917709"/>
                <a:ext cx="2468880" cy="640080"/>
              </a:xfrm>
              <a:prstGeom prst="rect">
                <a:avLst/>
              </a:prstGeom>
              <a:noFill/>
              <a:ln>
                <a:solidFill>
                  <a:srgbClr val="504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504BAB"/>
                    </a:solidFill>
                  </a:rPr>
                  <a:t>Launch configuration</a:t>
                </a:r>
              </a:p>
            </p:txBody>
          </p:sp>
        </p:grpSp>
      </p:grpSp>
      <p:grpSp>
        <p:nvGrpSpPr>
          <p:cNvPr id="70" name="Group 69" descr="This is done in VPC and subnets and load balancers.">
            <a:extLst>
              <a:ext uri="{FF2B5EF4-FFF2-40B4-BE49-F238E27FC236}">
                <a16:creationId xmlns:a16="http://schemas.microsoft.com/office/drawing/2014/main" id="{4984ECAB-F2B5-4259-B0E3-7EC16CDD3E61}"/>
              </a:ext>
              <a:ext uri="{C183D7F6-B498-43B3-948B-1728B52AA6E4}">
                <adec:decorative xmlns:adec="http://schemas.microsoft.com/office/drawing/2017/decorative" val="0"/>
              </a:ext>
            </a:extLst>
          </p:cNvPr>
          <p:cNvGrpSpPr/>
          <p:nvPr/>
        </p:nvGrpSpPr>
        <p:grpSpPr>
          <a:xfrm>
            <a:off x="3314007" y="1278309"/>
            <a:ext cx="4496707" cy="4092250"/>
            <a:chOff x="3314007" y="1278309"/>
            <a:chExt cx="4496707" cy="4092250"/>
          </a:xfrm>
        </p:grpSpPr>
        <p:grpSp>
          <p:nvGrpSpPr>
            <p:cNvPr id="67" name="Group 66">
              <a:extLst>
                <a:ext uri="{FF2B5EF4-FFF2-40B4-BE49-F238E27FC236}">
                  <a16:creationId xmlns:a16="http://schemas.microsoft.com/office/drawing/2014/main" id="{842DC58D-37CB-4FE6-8514-944291D44195}"/>
                </a:ext>
              </a:extLst>
            </p:cNvPr>
            <p:cNvGrpSpPr/>
            <p:nvPr/>
          </p:nvGrpSpPr>
          <p:grpSpPr>
            <a:xfrm>
              <a:off x="4332067" y="1278309"/>
              <a:ext cx="3478647" cy="4092250"/>
              <a:chOff x="4332067" y="1278309"/>
              <a:chExt cx="3478647" cy="4092250"/>
            </a:xfrm>
          </p:grpSpPr>
          <p:grpSp>
            <p:nvGrpSpPr>
              <p:cNvPr id="25" name="Group 24">
                <a:extLst>
                  <a:ext uri="{FF2B5EF4-FFF2-40B4-BE49-F238E27FC236}">
                    <a16:creationId xmlns:a16="http://schemas.microsoft.com/office/drawing/2014/main" id="{A170ECA5-556C-4E22-A117-85E6780F2A3A}"/>
                  </a:ext>
                  <a:ext uri="{C183D7F6-B498-43B3-948B-1728B52AA6E4}">
                    <adec:decorative xmlns:adec="http://schemas.microsoft.com/office/drawing/2017/decorative" val="1"/>
                  </a:ext>
                </a:extLst>
              </p:cNvPr>
              <p:cNvGrpSpPr/>
              <p:nvPr/>
            </p:nvGrpSpPr>
            <p:grpSpPr>
              <a:xfrm>
                <a:off x="4332067" y="1801529"/>
                <a:ext cx="3478647" cy="2069610"/>
                <a:chOff x="3878117" y="2165596"/>
                <a:chExt cx="3478647" cy="2069610"/>
              </a:xfrm>
            </p:grpSpPr>
            <p:sp>
              <p:nvSpPr>
                <p:cNvPr id="9" name="Rectangle 8">
                  <a:extLst>
                    <a:ext uri="{FF2B5EF4-FFF2-40B4-BE49-F238E27FC236}">
                      <a16:creationId xmlns:a16="http://schemas.microsoft.com/office/drawing/2014/main" id="{F9B77BFF-74B9-4349-84C2-17056E751922}"/>
                    </a:ext>
                  </a:extLst>
                </p:cNvPr>
                <p:cNvSpPr/>
                <p:nvPr/>
              </p:nvSpPr>
              <p:spPr>
                <a:xfrm>
                  <a:off x="3878117" y="2165596"/>
                  <a:ext cx="3478647" cy="2069610"/>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ea typeface="+mn-ea"/>
                      <a:cs typeface="+mn-cs"/>
                    </a:rPr>
                    <a:t> VPC</a:t>
                  </a:r>
                </a:p>
              </p:txBody>
            </p:sp>
            <p:sp>
              <p:nvSpPr>
                <p:cNvPr id="10" name="Rectangle 9">
                  <a:extLst>
                    <a:ext uri="{FF2B5EF4-FFF2-40B4-BE49-F238E27FC236}">
                      <a16:creationId xmlns:a16="http://schemas.microsoft.com/office/drawing/2014/main" id="{03CF3428-B0B9-4FC8-A645-6A6C13DE6A2F}"/>
                    </a:ext>
                  </a:extLst>
                </p:cNvPr>
                <p:cNvSpPr/>
                <p:nvPr/>
              </p:nvSpPr>
              <p:spPr>
                <a:xfrm>
                  <a:off x="4390737" y="2601545"/>
                  <a:ext cx="2799772" cy="149940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   Private subnet</a:t>
                  </a:r>
                </a:p>
              </p:txBody>
            </p:sp>
            <p:sp>
              <p:nvSpPr>
                <p:cNvPr id="11" name="Rectangle 10">
                  <a:extLst>
                    <a:ext uri="{FF2B5EF4-FFF2-40B4-BE49-F238E27FC236}">
                      <a16:creationId xmlns:a16="http://schemas.microsoft.com/office/drawing/2014/main" id="{368D97B9-99C5-453F-A25B-BB744805E1E1}"/>
                    </a:ext>
                  </a:extLst>
                </p:cNvPr>
                <p:cNvSpPr/>
                <p:nvPr/>
              </p:nvSpPr>
              <p:spPr>
                <a:xfrm>
                  <a:off x="5041909" y="3007106"/>
                  <a:ext cx="1940782" cy="941439"/>
                </a:xfrm>
                <a:prstGeom prst="rect">
                  <a:avLst/>
                </a:prstGeom>
                <a:noFill/>
                <a:ln w="12700" cap="flat" cmpd="sng" algn="ctr">
                  <a:solidFill>
                    <a:srgbClr val="D86613"/>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D86613"/>
                    </a:solidFill>
                    <a:effectLst/>
                    <a:uLnTx/>
                    <a:uFillTx/>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D86613"/>
                      </a:solidFill>
                      <a:effectLst/>
                      <a:uLnTx/>
                      <a:uFillTx/>
                      <a:ea typeface="+mn-ea"/>
                      <a:cs typeface="+mn-cs"/>
                    </a:rPr>
                    <a:t>Auto Scaling group</a:t>
                  </a:r>
                </a:p>
              </p:txBody>
            </p:sp>
            <p:pic>
              <p:nvPicPr>
                <p:cNvPr id="12" name="Graphic 11">
                  <a:extLst>
                    <a:ext uri="{FF2B5EF4-FFF2-40B4-BE49-F238E27FC236}">
                      <a16:creationId xmlns:a16="http://schemas.microsoft.com/office/drawing/2014/main" id="{3EA38567-1231-44B6-A05B-A8EAA7177EFE}"/>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75140" y="3007106"/>
                  <a:ext cx="274320" cy="274320"/>
                </a:xfrm>
                <a:prstGeom prst="rect">
                  <a:avLst/>
                </a:prstGeom>
              </p:spPr>
            </p:pic>
            <p:pic>
              <p:nvPicPr>
                <p:cNvPr id="13" name="Graphic 12">
                  <a:extLst>
                    <a:ext uri="{FF2B5EF4-FFF2-40B4-BE49-F238E27FC236}">
                      <a16:creationId xmlns:a16="http://schemas.microsoft.com/office/drawing/2014/main" id="{122D83D9-3550-4785-B2A1-ABAABEEA891B}"/>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878118" y="2165596"/>
                  <a:ext cx="457200" cy="457200"/>
                </a:xfrm>
                <a:prstGeom prst="rect">
                  <a:avLst/>
                </a:prstGeom>
              </p:spPr>
            </p:pic>
            <p:pic>
              <p:nvPicPr>
                <p:cNvPr id="14" name="Graphic 13">
                  <a:extLst>
                    <a:ext uri="{FF2B5EF4-FFF2-40B4-BE49-F238E27FC236}">
                      <a16:creationId xmlns:a16="http://schemas.microsoft.com/office/drawing/2014/main" id="{944A97A9-4F9C-45CD-B59B-6D939F7E4D99}"/>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390738" y="2599186"/>
                  <a:ext cx="457200" cy="457200"/>
                </a:xfrm>
                <a:prstGeom prst="rect">
                  <a:avLst/>
                </a:prstGeom>
              </p:spPr>
            </p:pic>
          </p:grpSp>
          <p:sp>
            <p:nvSpPr>
              <p:cNvPr id="16" name="TextBox 15">
                <a:extLst>
                  <a:ext uri="{FF2B5EF4-FFF2-40B4-BE49-F238E27FC236}">
                    <a16:creationId xmlns:a16="http://schemas.microsoft.com/office/drawing/2014/main" id="{EB02E5CE-B20C-4B7B-A26A-E67FEC77BFF6}"/>
                  </a:ext>
                </a:extLst>
              </p:cNvPr>
              <p:cNvSpPr txBox="1"/>
              <p:nvPr/>
            </p:nvSpPr>
            <p:spPr>
              <a:xfrm>
                <a:off x="5466898" y="1278309"/>
                <a:ext cx="1208985" cy="523220"/>
              </a:xfrm>
              <a:prstGeom prst="rect">
                <a:avLst/>
              </a:prstGeom>
              <a:noFill/>
            </p:spPr>
            <p:txBody>
              <a:bodyPr wrap="none" rtlCol="0">
                <a:spAutoFit/>
              </a:bodyPr>
              <a:lstStyle/>
              <a:p>
                <a:r>
                  <a:rPr lang="en-US" sz="2800">
                    <a:ea typeface="Amazon Ember Light" panose="020B0403020204020204" pitchFamily="34" charset="0"/>
                    <a:cs typeface="Amazon Ember Light" panose="020B0403020204020204" pitchFamily="34" charset="0"/>
                  </a:rPr>
                  <a:t>Where</a:t>
                </a:r>
              </a:p>
            </p:txBody>
          </p:sp>
          <p:grpSp>
            <p:nvGrpSpPr>
              <p:cNvPr id="51" name="Group 50">
                <a:extLst>
                  <a:ext uri="{FF2B5EF4-FFF2-40B4-BE49-F238E27FC236}">
                    <a16:creationId xmlns:a16="http://schemas.microsoft.com/office/drawing/2014/main" id="{5C28FB4F-529D-4A9E-B85C-C6F35BA587E2}"/>
                  </a:ext>
                  <a:ext uri="{C183D7F6-B498-43B3-948B-1728B52AA6E4}">
                    <adec:decorative xmlns:adec="http://schemas.microsoft.com/office/drawing/2017/decorative" val="1"/>
                  </a:ext>
                </a:extLst>
              </p:cNvPr>
              <p:cNvGrpSpPr/>
              <p:nvPr/>
            </p:nvGrpSpPr>
            <p:grpSpPr>
              <a:xfrm>
                <a:off x="4836950" y="4100589"/>
                <a:ext cx="2468880" cy="1269970"/>
                <a:chOff x="4836950" y="4100589"/>
                <a:chExt cx="2468880" cy="1269970"/>
              </a:xfrm>
            </p:grpSpPr>
            <p:sp>
              <p:nvSpPr>
                <p:cNvPr id="27" name="Rectangle 26">
                  <a:extLst>
                    <a:ext uri="{FF2B5EF4-FFF2-40B4-BE49-F238E27FC236}">
                      <a16:creationId xmlns:a16="http://schemas.microsoft.com/office/drawing/2014/main" id="{ABB1126B-15E5-494C-BE73-DE385B4A598D}"/>
                    </a:ext>
                  </a:extLst>
                </p:cNvPr>
                <p:cNvSpPr/>
                <p:nvPr/>
              </p:nvSpPr>
              <p:spPr>
                <a:xfrm>
                  <a:off x="4836950" y="4565479"/>
                  <a:ext cx="2468880" cy="80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a:solidFill>
                        <a:schemeClr val="tx1"/>
                      </a:solidFill>
                    </a:rPr>
                    <a:t>VPC and subnets</a:t>
                  </a:r>
                </a:p>
                <a:p>
                  <a:pPr marL="285750" indent="-285750">
                    <a:buFont typeface="Arial" panose="020B0604020202020204" pitchFamily="34" charset="0"/>
                    <a:buChar char="•"/>
                  </a:pPr>
                  <a:r>
                    <a:rPr lang="en-US">
                      <a:solidFill>
                        <a:schemeClr val="tx1"/>
                      </a:solidFill>
                    </a:rPr>
                    <a:t>Load balancer</a:t>
                  </a:r>
                </a:p>
              </p:txBody>
            </p:sp>
            <p:sp>
              <p:nvSpPr>
                <p:cNvPr id="34" name="Rectangle 33">
                  <a:extLst>
                    <a:ext uri="{FF2B5EF4-FFF2-40B4-BE49-F238E27FC236}">
                      <a16:creationId xmlns:a16="http://schemas.microsoft.com/office/drawing/2014/main" id="{DDD14448-CEB0-45B6-934B-6992F5339E8C}"/>
                    </a:ext>
                  </a:extLst>
                </p:cNvPr>
                <p:cNvSpPr/>
                <p:nvPr/>
              </p:nvSpPr>
              <p:spPr>
                <a:xfrm>
                  <a:off x="4836950" y="4100589"/>
                  <a:ext cx="2468880" cy="457200"/>
                </a:xfrm>
                <a:prstGeom prst="rect">
                  <a:avLst/>
                </a:prstGeom>
                <a:noFill/>
                <a:ln>
                  <a:solidFill>
                    <a:srgbClr val="504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504BAB"/>
                      </a:solidFill>
                    </a:rPr>
                    <a:t>Auto Scaling group</a:t>
                  </a:r>
                </a:p>
              </p:txBody>
            </p:sp>
          </p:grpSp>
        </p:grpSp>
        <p:cxnSp>
          <p:nvCxnSpPr>
            <p:cNvPr id="44" name="Straight Arrow Connector 43">
              <a:extLst>
                <a:ext uri="{FF2B5EF4-FFF2-40B4-BE49-F238E27FC236}">
                  <a16:creationId xmlns:a16="http://schemas.microsoft.com/office/drawing/2014/main" id="{D0E88870-CA4B-4288-A55D-E9A01E467865}"/>
                </a:ext>
                <a:ext uri="{C183D7F6-B498-43B3-948B-1728B52AA6E4}">
                  <adec:decorative xmlns:adec="http://schemas.microsoft.com/office/drawing/2017/decorative" val="1"/>
                </a:ext>
              </a:extLst>
            </p:cNvPr>
            <p:cNvCxnSpPr>
              <a:cxnSpLocks/>
              <a:stCxn id="33" idx="3"/>
              <a:endCxn id="34" idx="1"/>
            </p:cNvCxnSpPr>
            <p:nvPr/>
          </p:nvCxnSpPr>
          <p:spPr>
            <a:xfrm>
              <a:off x="3314007" y="4237749"/>
              <a:ext cx="1522943" cy="91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9" name="Group 68" descr="This is done when maintaining a current number (doing health checks), scaling manually for min, max, or desired capacity, scaling on a schedule, scaling dynamically (setting scaling policies) and scaling predictively (AWS Auto Scaling).">
            <a:extLst>
              <a:ext uri="{FF2B5EF4-FFF2-40B4-BE49-F238E27FC236}">
                <a16:creationId xmlns:a16="http://schemas.microsoft.com/office/drawing/2014/main" id="{26F3B9A3-8D40-45B3-B753-04CEB4CC5123}"/>
              </a:ext>
              <a:ext uri="{C183D7F6-B498-43B3-948B-1728B52AA6E4}">
                <adec:decorative xmlns:adec="http://schemas.microsoft.com/office/drawing/2017/decorative" val="0"/>
              </a:ext>
            </a:extLst>
          </p:cNvPr>
          <p:cNvGrpSpPr/>
          <p:nvPr/>
        </p:nvGrpSpPr>
        <p:grpSpPr>
          <a:xfrm>
            <a:off x="7305830" y="1253595"/>
            <a:ext cx="4732591" cy="5267009"/>
            <a:chOff x="7305830" y="1278309"/>
            <a:chExt cx="4732591" cy="5267009"/>
          </a:xfrm>
        </p:grpSpPr>
        <p:cxnSp>
          <p:nvCxnSpPr>
            <p:cNvPr id="32" name="Connector: Elbow 31">
              <a:extLst>
                <a:ext uri="{FF2B5EF4-FFF2-40B4-BE49-F238E27FC236}">
                  <a16:creationId xmlns:a16="http://schemas.microsoft.com/office/drawing/2014/main" id="{333FA268-2662-4D43-BA85-87FFA959745F}"/>
                </a:ext>
                <a:ext uri="{C183D7F6-B498-43B3-948B-1728B52AA6E4}">
                  <adec:decorative xmlns:adec="http://schemas.microsoft.com/office/drawing/2017/decorative" val="1"/>
                </a:ext>
              </a:extLst>
            </p:cNvPr>
            <p:cNvCxnSpPr>
              <a:stCxn id="34" idx="3"/>
              <a:endCxn id="37" idx="1"/>
            </p:cNvCxnSpPr>
            <p:nvPr/>
          </p:nvCxnSpPr>
          <p:spPr>
            <a:xfrm flipV="1">
              <a:off x="7305830" y="2030129"/>
              <a:ext cx="1532191" cy="229906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0470237D-6BB6-4E14-9337-C710B537EDC1}"/>
                </a:ext>
                <a:ext uri="{C183D7F6-B498-43B3-948B-1728B52AA6E4}">
                  <adec:decorative xmlns:adec="http://schemas.microsoft.com/office/drawing/2017/decorative" val="1"/>
                </a:ext>
              </a:extLst>
            </p:cNvPr>
            <p:cNvCxnSpPr>
              <a:stCxn id="34" idx="3"/>
              <a:endCxn id="38" idx="1"/>
            </p:cNvCxnSpPr>
            <p:nvPr/>
          </p:nvCxnSpPr>
          <p:spPr>
            <a:xfrm flipV="1">
              <a:off x="7305830" y="3028096"/>
              <a:ext cx="1532191" cy="130109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54EBF020-FDFD-4A22-8D76-199A08AC77E0}"/>
                </a:ext>
                <a:ext uri="{C183D7F6-B498-43B3-948B-1728B52AA6E4}">
                  <adec:decorative xmlns:adec="http://schemas.microsoft.com/office/drawing/2017/decorative" val="1"/>
                </a:ext>
              </a:extLst>
            </p:cNvPr>
            <p:cNvCxnSpPr>
              <a:stCxn id="34" idx="3"/>
              <a:endCxn id="36" idx="1"/>
            </p:cNvCxnSpPr>
            <p:nvPr/>
          </p:nvCxnSpPr>
          <p:spPr>
            <a:xfrm flipV="1">
              <a:off x="7305830" y="4017278"/>
              <a:ext cx="1532191" cy="31191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CFB791B8-448D-459E-8558-84B5A27A5FDA}"/>
                </a:ext>
                <a:ext uri="{C183D7F6-B498-43B3-948B-1728B52AA6E4}">
                  <adec:decorative xmlns:adec="http://schemas.microsoft.com/office/drawing/2017/decorative" val="1"/>
                </a:ext>
              </a:extLst>
            </p:cNvPr>
            <p:cNvCxnSpPr>
              <a:stCxn id="34" idx="3"/>
              <a:endCxn id="35" idx="1"/>
            </p:cNvCxnSpPr>
            <p:nvPr/>
          </p:nvCxnSpPr>
          <p:spPr>
            <a:xfrm>
              <a:off x="7305830" y="4329189"/>
              <a:ext cx="1532191" cy="70316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Connector: Elbow 54">
              <a:extLst>
                <a:ext uri="{FF2B5EF4-FFF2-40B4-BE49-F238E27FC236}">
                  <a16:creationId xmlns:a16="http://schemas.microsoft.com/office/drawing/2014/main" id="{8AC9C805-20F9-48C7-9764-027731C5D4EE}"/>
                </a:ext>
                <a:ext uri="{C183D7F6-B498-43B3-948B-1728B52AA6E4}">
                  <adec:decorative xmlns:adec="http://schemas.microsoft.com/office/drawing/2017/decorative" val="1"/>
                </a:ext>
              </a:extLst>
            </p:cNvPr>
            <p:cNvCxnSpPr>
              <a:stCxn id="34" idx="3"/>
              <a:endCxn id="43" idx="1"/>
            </p:cNvCxnSpPr>
            <p:nvPr/>
          </p:nvCxnSpPr>
          <p:spPr>
            <a:xfrm>
              <a:off x="7305830" y="4329189"/>
              <a:ext cx="1532191" cy="169946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8" name="Group 67">
              <a:extLst>
                <a:ext uri="{FF2B5EF4-FFF2-40B4-BE49-F238E27FC236}">
                  <a16:creationId xmlns:a16="http://schemas.microsoft.com/office/drawing/2014/main" id="{A73640A5-50BA-4D97-A283-712509EF1D85}"/>
                </a:ext>
              </a:extLst>
            </p:cNvPr>
            <p:cNvGrpSpPr/>
            <p:nvPr/>
          </p:nvGrpSpPr>
          <p:grpSpPr>
            <a:xfrm>
              <a:off x="8838021" y="1278309"/>
              <a:ext cx="3200400" cy="5267009"/>
              <a:chOff x="8838021" y="1278309"/>
              <a:chExt cx="3200400" cy="5267009"/>
            </a:xfrm>
          </p:grpSpPr>
          <p:grpSp>
            <p:nvGrpSpPr>
              <p:cNvPr id="62" name="Group 61">
                <a:extLst>
                  <a:ext uri="{FF2B5EF4-FFF2-40B4-BE49-F238E27FC236}">
                    <a16:creationId xmlns:a16="http://schemas.microsoft.com/office/drawing/2014/main" id="{E113EC6E-5B55-4787-822D-876F36DDAD24}"/>
                  </a:ext>
                  <a:ext uri="{C183D7F6-B498-43B3-948B-1728B52AA6E4}">
                    <adec:decorative xmlns:adec="http://schemas.microsoft.com/office/drawing/2017/decorative" val="1"/>
                  </a:ext>
                </a:extLst>
              </p:cNvPr>
              <p:cNvGrpSpPr/>
              <p:nvPr/>
            </p:nvGrpSpPr>
            <p:grpSpPr>
              <a:xfrm>
                <a:off x="8838021" y="3788678"/>
                <a:ext cx="3200400" cy="767339"/>
                <a:chOff x="8838021" y="4015538"/>
                <a:chExt cx="3200400" cy="767339"/>
              </a:xfrm>
            </p:grpSpPr>
            <p:sp>
              <p:nvSpPr>
                <p:cNvPr id="36" name="Rectangle 35">
                  <a:extLst>
                    <a:ext uri="{FF2B5EF4-FFF2-40B4-BE49-F238E27FC236}">
                      <a16:creationId xmlns:a16="http://schemas.microsoft.com/office/drawing/2014/main" id="{DB8D7391-40DA-4FDE-A44D-7DD9CFF7DFB4}"/>
                    </a:ext>
                  </a:extLst>
                </p:cNvPr>
                <p:cNvSpPr/>
                <p:nvPr/>
              </p:nvSpPr>
              <p:spPr>
                <a:xfrm>
                  <a:off x="8838021" y="4015538"/>
                  <a:ext cx="3200400" cy="457200"/>
                </a:xfrm>
                <a:prstGeom prst="rect">
                  <a:avLst/>
                </a:prstGeom>
                <a:noFill/>
                <a:ln>
                  <a:solidFill>
                    <a:srgbClr val="504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504BAB"/>
                      </a:solidFill>
                    </a:rPr>
                    <a:t>Scheduled scaling</a:t>
                  </a:r>
                </a:p>
              </p:txBody>
            </p:sp>
            <p:sp>
              <p:nvSpPr>
                <p:cNvPr id="29" name="Rectangle 28">
                  <a:extLst>
                    <a:ext uri="{FF2B5EF4-FFF2-40B4-BE49-F238E27FC236}">
                      <a16:creationId xmlns:a16="http://schemas.microsoft.com/office/drawing/2014/main" id="{F681051A-37BF-4082-A58D-E45D8D84829F}"/>
                    </a:ext>
                  </a:extLst>
                </p:cNvPr>
                <p:cNvSpPr/>
                <p:nvPr/>
              </p:nvSpPr>
              <p:spPr>
                <a:xfrm>
                  <a:off x="8838021" y="4508557"/>
                  <a:ext cx="2743200" cy="274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a:solidFill>
                        <a:schemeClr val="tx1"/>
                      </a:solidFill>
                    </a:rPr>
                    <a:t>Scheduled actions</a:t>
                  </a:r>
                </a:p>
              </p:txBody>
            </p:sp>
          </p:grpSp>
          <p:sp>
            <p:nvSpPr>
              <p:cNvPr id="17" name="TextBox 16">
                <a:extLst>
                  <a:ext uri="{FF2B5EF4-FFF2-40B4-BE49-F238E27FC236}">
                    <a16:creationId xmlns:a16="http://schemas.microsoft.com/office/drawing/2014/main" id="{12A8967F-41AB-4680-B2B0-80D08E77A037}"/>
                  </a:ext>
                </a:extLst>
              </p:cNvPr>
              <p:cNvSpPr txBox="1"/>
              <p:nvPr/>
            </p:nvSpPr>
            <p:spPr>
              <a:xfrm>
                <a:off x="9658028" y="1278309"/>
                <a:ext cx="1103187" cy="523220"/>
              </a:xfrm>
              <a:prstGeom prst="rect">
                <a:avLst/>
              </a:prstGeom>
              <a:noFill/>
            </p:spPr>
            <p:txBody>
              <a:bodyPr wrap="none" rtlCol="0">
                <a:spAutoFit/>
              </a:body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When</a:t>
                </a:r>
              </a:p>
            </p:txBody>
          </p:sp>
          <p:grpSp>
            <p:nvGrpSpPr>
              <p:cNvPr id="63" name="Group 62">
                <a:extLst>
                  <a:ext uri="{FF2B5EF4-FFF2-40B4-BE49-F238E27FC236}">
                    <a16:creationId xmlns:a16="http://schemas.microsoft.com/office/drawing/2014/main" id="{CA987524-ED4C-4481-866C-5BB56F1FA744}"/>
                  </a:ext>
                  <a:ext uri="{C183D7F6-B498-43B3-948B-1728B52AA6E4}">
                    <adec:decorative xmlns:adec="http://schemas.microsoft.com/office/drawing/2017/decorative" val="1"/>
                  </a:ext>
                </a:extLst>
              </p:cNvPr>
              <p:cNvGrpSpPr/>
              <p:nvPr/>
            </p:nvGrpSpPr>
            <p:grpSpPr>
              <a:xfrm>
                <a:off x="8838021" y="4803756"/>
                <a:ext cx="3200400" cy="748557"/>
                <a:chOff x="8838021" y="4907796"/>
                <a:chExt cx="3200400" cy="748557"/>
              </a:xfrm>
            </p:grpSpPr>
            <p:sp>
              <p:nvSpPr>
                <p:cNvPr id="28" name="Rectangle 27">
                  <a:extLst>
                    <a:ext uri="{FF2B5EF4-FFF2-40B4-BE49-F238E27FC236}">
                      <a16:creationId xmlns:a16="http://schemas.microsoft.com/office/drawing/2014/main" id="{34EC3A13-9A94-4204-9A41-107E0B55C1E5}"/>
                    </a:ext>
                  </a:extLst>
                </p:cNvPr>
                <p:cNvSpPr/>
                <p:nvPr/>
              </p:nvSpPr>
              <p:spPr>
                <a:xfrm>
                  <a:off x="8838021" y="5382033"/>
                  <a:ext cx="2743200" cy="274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a:solidFill>
                        <a:schemeClr val="tx1"/>
                      </a:solidFill>
                    </a:rPr>
                    <a:t>Scaling policies</a:t>
                  </a:r>
                </a:p>
              </p:txBody>
            </p:sp>
            <p:sp>
              <p:nvSpPr>
                <p:cNvPr id="35" name="Rectangle 34">
                  <a:extLst>
                    <a:ext uri="{FF2B5EF4-FFF2-40B4-BE49-F238E27FC236}">
                      <a16:creationId xmlns:a16="http://schemas.microsoft.com/office/drawing/2014/main" id="{FBC525AB-832F-4270-A9F1-BE87C4796614}"/>
                    </a:ext>
                  </a:extLst>
                </p:cNvPr>
                <p:cNvSpPr/>
                <p:nvPr/>
              </p:nvSpPr>
              <p:spPr>
                <a:xfrm>
                  <a:off x="8838021" y="4907796"/>
                  <a:ext cx="3200400" cy="457200"/>
                </a:xfrm>
                <a:prstGeom prst="rect">
                  <a:avLst/>
                </a:prstGeom>
                <a:noFill/>
                <a:ln>
                  <a:solidFill>
                    <a:srgbClr val="504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504BAB"/>
                      </a:solidFill>
                    </a:rPr>
                    <a:t>Dynamic scaling</a:t>
                  </a:r>
                </a:p>
              </p:txBody>
            </p:sp>
          </p:grpSp>
          <p:grpSp>
            <p:nvGrpSpPr>
              <p:cNvPr id="64" name="Group 63">
                <a:extLst>
                  <a:ext uri="{FF2B5EF4-FFF2-40B4-BE49-F238E27FC236}">
                    <a16:creationId xmlns:a16="http://schemas.microsoft.com/office/drawing/2014/main" id="{33AB67A0-8677-46F6-9D24-AEF55E2DA9CD}"/>
                  </a:ext>
                  <a:ext uri="{C183D7F6-B498-43B3-948B-1728B52AA6E4}">
                    <adec:decorative xmlns:adec="http://schemas.microsoft.com/office/drawing/2017/decorative" val="1"/>
                  </a:ext>
                </a:extLst>
              </p:cNvPr>
              <p:cNvGrpSpPr/>
              <p:nvPr/>
            </p:nvGrpSpPr>
            <p:grpSpPr>
              <a:xfrm>
                <a:off x="8838021" y="5800052"/>
                <a:ext cx="3200400" cy="745266"/>
                <a:chOff x="8838021" y="5800052"/>
                <a:chExt cx="3200400" cy="745266"/>
              </a:xfrm>
            </p:grpSpPr>
            <p:sp>
              <p:nvSpPr>
                <p:cNvPr id="42" name="Rectangle 41">
                  <a:extLst>
                    <a:ext uri="{FF2B5EF4-FFF2-40B4-BE49-F238E27FC236}">
                      <a16:creationId xmlns:a16="http://schemas.microsoft.com/office/drawing/2014/main" id="{7A6A6D11-AFAB-4473-A6B6-08BCCCD352AA}"/>
                    </a:ext>
                  </a:extLst>
                </p:cNvPr>
                <p:cNvSpPr/>
                <p:nvPr/>
              </p:nvSpPr>
              <p:spPr>
                <a:xfrm>
                  <a:off x="8838021" y="6270998"/>
                  <a:ext cx="2743200" cy="274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a:solidFill>
                        <a:schemeClr val="tx1"/>
                      </a:solidFill>
                    </a:rPr>
                    <a:t>AWS Auto Scaling</a:t>
                  </a:r>
                </a:p>
              </p:txBody>
            </p:sp>
            <p:sp>
              <p:nvSpPr>
                <p:cNvPr id="43" name="Rectangle 42">
                  <a:extLst>
                    <a:ext uri="{FF2B5EF4-FFF2-40B4-BE49-F238E27FC236}">
                      <a16:creationId xmlns:a16="http://schemas.microsoft.com/office/drawing/2014/main" id="{046B5AC2-8C64-4E5B-B2B9-4B0A627B5420}"/>
                    </a:ext>
                  </a:extLst>
                </p:cNvPr>
                <p:cNvSpPr/>
                <p:nvPr/>
              </p:nvSpPr>
              <p:spPr>
                <a:xfrm>
                  <a:off x="8838021" y="5800052"/>
                  <a:ext cx="3200400" cy="457200"/>
                </a:xfrm>
                <a:prstGeom prst="rect">
                  <a:avLst/>
                </a:prstGeom>
                <a:noFill/>
                <a:ln>
                  <a:solidFill>
                    <a:srgbClr val="504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504BAB"/>
                      </a:solidFill>
                    </a:rPr>
                    <a:t>Predictive scaling</a:t>
                  </a:r>
                </a:p>
              </p:txBody>
            </p:sp>
          </p:grpSp>
          <p:grpSp>
            <p:nvGrpSpPr>
              <p:cNvPr id="60" name="Group 59">
                <a:extLst>
                  <a:ext uri="{FF2B5EF4-FFF2-40B4-BE49-F238E27FC236}">
                    <a16:creationId xmlns:a16="http://schemas.microsoft.com/office/drawing/2014/main" id="{C89BC331-3E6F-42C8-AF09-BA87CAABD90B}"/>
                  </a:ext>
                  <a:ext uri="{C183D7F6-B498-43B3-948B-1728B52AA6E4}">
                    <adec:decorative xmlns:adec="http://schemas.microsoft.com/office/drawing/2017/decorative" val="1"/>
                  </a:ext>
                </a:extLst>
              </p:cNvPr>
              <p:cNvGrpSpPr/>
              <p:nvPr/>
            </p:nvGrpSpPr>
            <p:grpSpPr>
              <a:xfrm>
                <a:off x="8838021" y="1801529"/>
                <a:ext cx="3200400" cy="750228"/>
                <a:chOff x="8838021" y="1801529"/>
                <a:chExt cx="3200400" cy="750228"/>
              </a:xfrm>
            </p:grpSpPr>
            <p:sp>
              <p:nvSpPr>
                <p:cNvPr id="37" name="Rectangle 36">
                  <a:extLst>
                    <a:ext uri="{FF2B5EF4-FFF2-40B4-BE49-F238E27FC236}">
                      <a16:creationId xmlns:a16="http://schemas.microsoft.com/office/drawing/2014/main" id="{6B2D00EA-2618-4FEA-8268-907734BD5183}"/>
                    </a:ext>
                  </a:extLst>
                </p:cNvPr>
                <p:cNvSpPr/>
                <p:nvPr/>
              </p:nvSpPr>
              <p:spPr>
                <a:xfrm>
                  <a:off x="8838021" y="1801529"/>
                  <a:ext cx="3200400" cy="457200"/>
                </a:xfrm>
                <a:prstGeom prst="rect">
                  <a:avLst/>
                </a:prstGeom>
                <a:noFill/>
                <a:ln>
                  <a:solidFill>
                    <a:srgbClr val="504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504BAB"/>
                      </a:solidFill>
                    </a:rPr>
                    <a:t>Maintain current number</a:t>
                  </a:r>
                </a:p>
              </p:txBody>
            </p:sp>
            <p:sp>
              <p:nvSpPr>
                <p:cNvPr id="56" name="Rectangle 55">
                  <a:extLst>
                    <a:ext uri="{FF2B5EF4-FFF2-40B4-BE49-F238E27FC236}">
                      <a16:creationId xmlns:a16="http://schemas.microsoft.com/office/drawing/2014/main" id="{A46C7D94-EEF6-4041-9A1B-5AD420BFBCDD}"/>
                    </a:ext>
                  </a:extLst>
                </p:cNvPr>
                <p:cNvSpPr/>
                <p:nvPr/>
              </p:nvSpPr>
              <p:spPr>
                <a:xfrm>
                  <a:off x="8838021" y="2277437"/>
                  <a:ext cx="2743200" cy="274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a:solidFill>
                        <a:schemeClr val="tx1"/>
                      </a:solidFill>
                    </a:rPr>
                    <a:t>Health checks</a:t>
                  </a:r>
                </a:p>
              </p:txBody>
            </p:sp>
          </p:grpSp>
          <p:grpSp>
            <p:nvGrpSpPr>
              <p:cNvPr id="61" name="Group 60">
                <a:extLst>
                  <a:ext uri="{FF2B5EF4-FFF2-40B4-BE49-F238E27FC236}">
                    <a16:creationId xmlns:a16="http://schemas.microsoft.com/office/drawing/2014/main" id="{E65319AC-560F-4A0C-8706-423A5B518B81}"/>
                  </a:ext>
                  <a:ext uri="{C183D7F6-B498-43B3-948B-1728B52AA6E4}">
                    <adec:decorative xmlns:adec="http://schemas.microsoft.com/office/drawing/2017/decorative" val="1"/>
                  </a:ext>
                </a:extLst>
              </p:cNvPr>
              <p:cNvGrpSpPr/>
              <p:nvPr/>
            </p:nvGrpSpPr>
            <p:grpSpPr>
              <a:xfrm>
                <a:off x="8838021" y="2799496"/>
                <a:ext cx="3200400" cy="741443"/>
                <a:chOff x="8838021" y="2915471"/>
                <a:chExt cx="3200400" cy="741443"/>
              </a:xfrm>
            </p:grpSpPr>
            <p:sp>
              <p:nvSpPr>
                <p:cNvPr id="38" name="Rectangle 37">
                  <a:extLst>
                    <a:ext uri="{FF2B5EF4-FFF2-40B4-BE49-F238E27FC236}">
                      <a16:creationId xmlns:a16="http://schemas.microsoft.com/office/drawing/2014/main" id="{B53C9909-74B8-41B8-A560-721447CBA834}"/>
                    </a:ext>
                  </a:extLst>
                </p:cNvPr>
                <p:cNvSpPr/>
                <p:nvPr/>
              </p:nvSpPr>
              <p:spPr>
                <a:xfrm>
                  <a:off x="8838021" y="2915471"/>
                  <a:ext cx="3200400" cy="457200"/>
                </a:xfrm>
                <a:prstGeom prst="rect">
                  <a:avLst/>
                </a:prstGeom>
                <a:noFill/>
                <a:ln>
                  <a:solidFill>
                    <a:srgbClr val="504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rgbClr val="504BAB"/>
                      </a:solidFill>
                    </a:rPr>
                    <a:t>Manual scaling</a:t>
                  </a:r>
                </a:p>
              </p:txBody>
            </p:sp>
            <p:sp>
              <p:nvSpPr>
                <p:cNvPr id="57" name="Rectangle 56">
                  <a:extLst>
                    <a:ext uri="{FF2B5EF4-FFF2-40B4-BE49-F238E27FC236}">
                      <a16:creationId xmlns:a16="http://schemas.microsoft.com/office/drawing/2014/main" id="{A5F0505D-A9CC-4C17-ADB9-CD4023821978}"/>
                    </a:ext>
                  </a:extLst>
                </p:cNvPr>
                <p:cNvSpPr/>
                <p:nvPr/>
              </p:nvSpPr>
              <p:spPr>
                <a:xfrm>
                  <a:off x="8838021" y="3382594"/>
                  <a:ext cx="3200400" cy="274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a:solidFill>
                        <a:schemeClr val="tx1"/>
                      </a:solidFill>
                    </a:rPr>
                    <a:t>Min, max, desired capacity</a:t>
                  </a:r>
                </a:p>
              </p:txBody>
            </p:sp>
          </p:grpSp>
        </p:grpSp>
      </p:grpSp>
    </p:spTree>
    <p:custDataLst>
      <p:tags r:id="rId1"/>
    </p:custDataLst>
    <p:extLst>
      <p:ext uri="{BB962C8B-B14F-4D97-AF65-F5344CB8AC3E}">
        <p14:creationId xmlns:p14="http://schemas.microsoft.com/office/powerpoint/2010/main" val="26645906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B303B03-FBC1-98CE-1E2A-078C2A654A77}"/>
              </a:ext>
            </a:extLst>
          </p:cNvPr>
          <p:cNvSpPr>
            <a:spLocks noGrp="1"/>
          </p:cNvSpPr>
          <p:nvPr>
            <p:ph type="sldNum" sz="quarter" idx="20"/>
          </p:nvPr>
        </p:nvSpPr>
        <p:spPr/>
        <p:txBody>
          <a:bodyPr/>
          <a:lstStyle/>
          <a:p>
            <a:fld id="{930176A1-BCF0-4712-97A6-6B495F55390B}" type="slidenum">
              <a:rPr lang="en-US" smtClean="0"/>
              <a:pPr/>
              <a:t>72</a:t>
            </a:fld>
            <a:endParaRPr lang="en-US"/>
          </a:p>
        </p:txBody>
      </p:sp>
      <p:sp>
        <p:nvSpPr>
          <p:cNvPr id="4" name="Title 3"/>
          <p:cNvSpPr>
            <a:spLocks noGrp="1"/>
          </p:cNvSpPr>
          <p:nvPr>
            <p:ph type="title"/>
          </p:nvPr>
        </p:nvSpPr>
        <p:spPr/>
        <p:txBody>
          <a:bodyPr/>
          <a:lstStyle/>
          <a:p>
            <a:r>
              <a:rPr lang="en-CA"/>
              <a:t>Implementing dynamic scaling</a:t>
            </a:r>
          </a:p>
        </p:txBody>
      </p:sp>
      <p:grpSp>
        <p:nvGrpSpPr>
          <p:cNvPr id="11" name="Group 10" descr="Elastic Load Balancing distributing traffic to EC2 instances in Auto Scaling group. Amazon CloudWatch collecting CPU utilization metrics and triggering Amazon EC2 Auto Scaling.">
            <a:extLst>
              <a:ext uri="{FF2B5EF4-FFF2-40B4-BE49-F238E27FC236}">
                <a16:creationId xmlns:a16="http://schemas.microsoft.com/office/drawing/2014/main" id="{CB9398B1-BF7E-9356-0D85-4EA6C508E9BF}"/>
              </a:ext>
            </a:extLst>
          </p:cNvPr>
          <p:cNvGrpSpPr/>
          <p:nvPr/>
        </p:nvGrpSpPr>
        <p:grpSpPr>
          <a:xfrm>
            <a:off x="1389957" y="1284330"/>
            <a:ext cx="10863174" cy="5021299"/>
            <a:chOff x="1389957" y="1284330"/>
            <a:chExt cx="10863174" cy="5021299"/>
          </a:xfrm>
        </p:grpSpPr>
        <p:grpSp>
          <p:nvGrpSpPr>
            <p:cNvPr id="16" name="Group 15" descr="elastic load balancing distributing traffic to ec2 instances in auto scaling group. amazon cloudwatch collecting cpu utilization metrics and triggering amazon ec2 auto scaling.">
              <a:extLst>
                <a:ext uri="{FF2B5EF4-FFF2-40B4-BE49-F238E27FC236}">
                  <a16:creationId xmlns:a16="http://schemas.microsoft.com/office/drawing/2014/main" id="{36C3DA72-49F2-421B-B6F3-0059FA94A86E}"/>
                </a:ext>
                <a:ext uri="{C183D7F6-B498-43B3-948B-1728B52AA6E4}">
                  <adec:decorative xmlns:adec="http://schemas.microsoft.com/office/drawing/2017/decorative" val="0"/>
                </a:ext>
              </a:extLst>
            </p:cNvPr>
            <p:cNvGrpSpPr/>
            <p:nvPr/>
          </p:nvGrpSpPr>
          <p:grpSpPr>
            <a:xfrm>
              <a:off x="1389957" y="1284330"/>
              <a:ext cx="10863174" cy="5021299"/>
              <a:chOff x="1389957" y="1284330"/>
              <a:chExt cx="10863174" cy="5021299"/>
            </a:xfrm>
          </p:grpSpPr>
          <p:pic>
            <p:nvPicPr>
              <p:cNvPr id="35" name="Graphic 34">
                <a:extLst>
                  <a:ext uri="{FF2B5EF4-FFF2-40B4-BE49-F238E27FC236}">
                    <a16:creationId xmlns:a16="http://schemas.microsoft.com/office/drawing/2014/main" id="{C4A5B47C-02D5-4B66-A2F7-1C213D71A5B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58419" y="5001954"/>
                <a:ext cx="914400" cy="914400"/>
              </a:xfrm>
              <a:prstGeom prst="rect">
                <a:avLst/>
              </a:prstGeom>
            </p:spPr>
          </p:pic>
          <p:pic>
            <p:nvPicPr>
              <p:cNvPr id="32" name="Graphic 31">
                <a:extLst>
                  <a:ext uri="{FF2B5EF4-FFF2-40B4-BE49-F238E27FC236}">
                    <a16:creationId xmlns:a16="http://schemas.microsoft.com/office/drawing/2014/main" id="{4C962543-E6F1-437C-904D-BE91AFE8D150}"/>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264201" y="5001954"/>
                <a:ext cx="914400" cy="914400"/>
              </a:xfrm>
              <a:prstGeom prst="rect">
                <a:avLst/>
              </a:prstGeom>
            </p:spPr>
          </p:pic>
          <p:pic>
            <p:nvPicPr>
              <p:cNvPr id="28" name="Graphic 27">
                <a:extLst>
                  <a:ext uri="{FF2B5EF4-FFF2-40B4-BE49-F238E27FC236}">
                    <a16:creationId xmlns:a16="http://schemas.microsoft.com/office/drawing/2014/main" id="{E4D1C00D-C6C9-4FA5-8950-959A1C3EC497}"/>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76024" y="1284330"/>
                <a:ext cx="914400" cy="914400"/>
              </a:xfrm>
              <a:prstGeom prst="rect">
                <a:avLst/>
              </a:prstGeom>
            </p:spPr>
          </p:pic>
          <p:pic>
            <p:nvPicPr>
              <p:cNvPr id="82" name="Graphic 3">
                <a:extLst>
                  <a:ext uri="{FF2B5EF4-FFF2-40B4-BE49-F238E27FC236}">
                    <a16:creationId xmlns:a16="http://schemas.microsoft.com/office/drawing/2014/main" id="{D7A7873E-A1CC-804E-816C-DC0FF152D82D}"/>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526093" y="3043901"/>
                <a:ext cx="455744" cy="455744"/>
              </a:xfrm>
              <a:prstGeom prst="rect">
                <a:avLst/>
              </a:prstGeom>
            </p:spPr>
          </p:pic>
          <p:sp>
            <p:nvSpPr>
              <p:cNvPr id="81" name="Rectangle 80">
                <a:extLst>
                  <a:ext uri="{FF2B5EF4-FFF2-40B4-BE49-F238E27FC236}">
                    <a16:creationId xmlns:a16="http://schemas.microsoft.com/office/drawing/2014/main" id="{25B2706C-95D8-A94F-9EC8-6497FA7FB136}"/>
                  </a:ext>
                </a:extLst>
              </p:cNvPr>
              <p:cNvSpPr/>
              <p:nvPr/>
            </p:nvSpPr>
            <p:spPr>
              <a:xfrm>
                <a:off x="4119681" y="3027128"/>
                <a:ext cx="3206057" cy="2209656"/>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a:solidFill>
                    <a:srgbClr val="D86613"/>
                  </a:solidFill>
                </a:endParaRPr>
              </a:p>
              <a:p>
                <a:pPr algn="ctr"/>
                <a:endParaRPr lang="en-US" sz="1200">
                  <a:solidFill>
                    <a:srgbClr val="D86613"/>
                  </a:solidFill>
                </a:endParaRPr>
              </a:p>
              <a:p>
                <a:pPr algn="ctr"/>
                <a:r>
                  <a:rPr lang="en-US" sz="1600">
                    <a:solidFill>
                      <a:srgbClr val="D86613"/>
                    </a:solidFill>
                  </a:rPr>
                  <a:t>Auto Scaling group</a:t>
                </a:r>
              </a:p>
            </p:txBody>
          </p:sp>
          <p:cxnSp>
            <p:nvCxnSpPr>
              <p:cNvPr id="53" name="Straight Arrow Connector 29"/>
              <p:cNvCxnSpPr>
                <a:cxnSpLocks/>
                <a:stCxn id="28" idx="3"/>
                <a:endCxn id="35" idx="0"/>
              </p:cNvCxnSpPr>
              <p:nvPr/>
            </p:nvCxnSpPr>
            <p:spPr>
              <a:xfrm>
                <a:off x="6190424" y="1741530"/>
                <a:ext cx="3125195" cy="3260424"/>
              </a:xfrm>
              <a:prstGeom prst="bentConnector2">
                <a:avLst/>
              </a:prstGeom>
              <a:ln w="25400">
                <a:solidFill>
                  <a:srgbClr val="202936"/>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cxnSpLocks/>
                <a:stCxn id="35" idx="1"/>
                <a:endCxn id="32" idx="3"/>
              </p:cNvCxnSpPr>
              <p:nvPr/>
            </p:nvCxnSpPr>
            <p:spPr>
              <a:xfrm flipH="1">
                <a:off x="3178601" y="5459154"/>
                <a:ext cx="5679818" cy="0"/>
              </a:xfrm>
              <a:prstGeom prst="straightConnector1">
                <a:avLst/>
              </a:prstGeom>
              <a:ln w="25400">
                <a:solidFill>
                  <a:srgbClr val="202936"/>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37"/>
              <p:cNvCxnSpPr>
                <a:cxnSpLocks/>
                <a:stCxn id="32" idx="0"/>
                <a:endCxn id="28" idx="1"/>
              </p:cNvCxnSpPr>
              <p:nvPr/>
            </p:nvCxnSpPr>
            <p:spPr>
              <a:xfrm rot="5400000" flipH="1" flipV="1">
                <a:off x="2368500" y="2094431"/>
                <a:ext cx="3260424" cy="2554623"/>
              </a:xfrm>
              <a:prstGeom prst="bentConnector2">
                <a:avLst/>
              </a:prstGeom>
              <a:ln w="25400">
                <a:solidFill>
                  <a:srgbClr val="202936"/>
                </a:solidFill>
                <a:prstDash val="sysDash"/>
                <a:tailEnd type="arrow"/>
              </a:ln>
            </p:spPr>
            <p:style>
              <a:lnRef idx="1">
                <a:schemeClr val="accent1"/>
              </a:lnRef>
              <a:fillRef idx="0">
                <a:schemeClr val="accent1"/>
              </a:fillRef>
              <a:effectRef idx="0">
                <a:schemeClr val="accent1"/>
              </a:effectRef>
              <a:fontRef idx="minor">
                <a:schemeClr val="tx1"/>
              </a:fontRef>
            </p:style>
          </p:cxnSp>
          <p:pic>
            <p:nvPicPr>
              <p:cNvPr id="63" name="Picture 62">
                <a:extLst>
                  <a:ext uri="{FF2B5EF4-FFF2-40B4-BE49-F238E27FC236}">
                    <a16:creationId xmlns:a16="http://schemas.microsoft.com/office/drawing/2014/main" id="{8A7D3603-178F-A643-986E-3B5ADACFA380}"/>
                  </a:ex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4416212" y="4074831"/>
                <a:ext cx="635000" cy="635000"/>
              </a:xfrm>
              <a:prstGeom prst="rect">
                <a:avLst/>
              </a:prstGeom>
            </p:spPr>
          </p:pic>
          <p:pic>
            <p:nvPicPr>
              <p:cNvPr id="64" name="Picture 63">
                <a:extLst>
                  <a:ext uri="{FF2B5EF4-FFF2-40B4-BE49-F238E27FC236}">
                    <a16:creationId xmlns:a16="http://schemas.microsoft.com/office/drawing/2014/main" id="{A7F3F4FA-01A8-0C49-A036-9DF75790EE78}"/>
                  </a:ex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6425573" y="4074831"/>
                <a:ext cx="635000" cy="635000"/>
              </a:xfrm>
              <a:prstGeom prst="rect">
                <a:avLst/>
              </a:prstGeom>
            </p:spPr>
          </p:pic>
          <p:grpSp>
            <p:nvGrpSpPr>
              <p:cNvPr id="66" name="Group 65">
                <a:extLst>
                  <a:ext uri="{FF2B5EF4-FFF2-40B4-BE49-F238E27FC236}">
                    <a16:creationId xmlns:a16="http://schemas.microsoft.com/office/drawing/2014/main" id="{BDBD4313-0BBD-8844-BCF2-5A29BABDC84F}"/>
                  </a:ext>
                </a:extLst>
              </p:cNvPr>
              <p:cNvGrpSpPr/>
              <p:nvPr/>
            </p:nvGrpSpPr>
            <p:grpSpPr>
              <a:xfrm rot="16200000">
                <a:off x="4788331" y="2120078"/>
                <a:ext cx="1898893" cy="2010612"/>
                <a:chOff x="8229758" y="4525307"/>
                <a:chExt cx="1638842" cy="400878"/>
              </a:xfrm>
            </p:grpSpPr>
            <p:sp>
              <p:nvSpPr>
                <p:cNvPr id="73" name="Freeform 72">
                  <a:extLst>
                    <a:ext uri="{FF2B5EF4-FFF2-40B4-BE49-F238E27FC236}">
                      <a16:creationId xmlns:a16="http://schemas.microsoft.com/office/drawing/2014/main" id="{4C296EF1-E5AB-BD47-9A1F-E37E7B8FD14A}"/>
                    </a:ext>
                  </a:extLst>
                </p:cNvPr>
                <p:cNvSpPr/>
                <p:nvPr/>
              </p:nvSpPr>
              <p:spPr>
                <a:xfrm>
                  <a:off x="8229758" y="4525307"/>
                  <a:ext cx="1065147" cy="400878"/>
                </a:xfrm>
                <a:custGeom>
                  <a:avLst/>
                  <a:gdLst>
                    <a:gd name="connsiteX0" fmla="*/ 38637 w 914400"/>
                    <a:gd name="connsiteY0" fmla="*/ 0 h 399245"/>
                    <a:gd name="connsiteX1" fmla="*/ 914400 w 914400"/>
                    <a:gd name="connsiteY1" fmla="*/ 0 h 399245"/>
                    <a:gd name="connsiteX2" fmla="*/ 914400 w 914400"/>
                    <a:gd name="connsiteY2" fmla="*/ 399245 h 399245"/>
                    <a:gd name="connsiteX3" fmla="*/ 0 w 914400"/>
                    <a:gd name="connsiteY3" fmla="*/ 399245 h 399245"/>
                    <a:gd name="connsiteX0" fmla="*/ 9837 w 914400"/>
                    <a:gd name="connsiteY0" fmla="*/ 3600 h 399245"/>
                    <a:gd name="connsiteX1" fmla="*/ 914400 w 914400"/>
                    <a:gd name="connsiteY1" fmla="*/ 0 h 399245"/>
                    <a:gd name="connsiteX2" fmla="*/ 914400 w 914400"/>
                    <a:gd name="connsiteY2" fmla="*/ 399245 h 399245"/>
                    <a:gd name="connsiteX3" fmla="*/ 0 w 914400"/>
                    <a:gd name="connsiteY3" fmla="*/ 399245 h 399245"/>
                    <a:gd name="connsiteX0" fmla="*/ 0 w 922563"/>
                    <a:gd name="connsiteY0" fmla="*/ 7200 h 399245"/>
                    <a:gd name="connsiteX1" fmla="*/ 922563 w 922563"/>
                    <a:gd name="connsiteY1" fmla="*/ 0 h 399245"/>
                    <a:gd name="connsiteX2" fmla="*/ 922563 w 922563"/>
                    <a:gd name="connsiteY2" fmla="*/ 399245 h 399245"/>
                    <a:gd name="connsiteX3" fmla="*/ 8163 w 922563"/>
                    <a:gd name="connsiteY3" fmla="*/ 399245 h 399245"/>
                    <a:gd name="connsiteX0" fmla="*/ 0 w 915363"/>
                    <a:gd name="connsiteY0" fmla="*/ 3600 h 399245"/>
                    <a:gd name="connsiteX1" fmla="*/ 915363 w 915363"/>
                    <a:gd name="connsiteY1" fmla="*/ 0 h 399245"/>
                    <a:gd name="connsiteX2" fmla="*/ 915363 w 915363"/>
                    <a:gd name="connsiteY2" fmla="*/ 399245 h 399245"/>
                    <a:gd name="connsiteX3" fmla="*/ 963 w 915363"/>
                    <a:gd name="connsiteY3" fmla="*/ 399245 h 399245"/>
                    <a:gd name="connsiteX0" fmla="*/ 0 w 924250"/>
                    <a:gd name="connsiteY0" fmla="*/ 0 h 400046"/>
                    <a:gd name="connsiteX1" fmla="*/ 924250 w 924250"/>
                    <a:gd name="connsiteY1" fmla="*/ 801 h 400046"/>
                    <a:gd name="connsiteX2" fmla="*/ 924250 w 924250"/>
                    <a:gd name="connsiteY2" fmla="*/ 400046 h 400046"/>
                    <a:gd name="connsiteX3" fmla="*/ 9850 w 924250"/>
                    <a:gd name="connsiteY3" fmla="*/ 400046 h 400046"/>
                    <a:gd name="connsiteX0" fmla="*/ 0 w 924250"/>
                    <a:gd name="connsiteY0" fmla="*/ 0 h 400046"/>
                    <a:gd name="connsiteX1" fmla="*/ 915363 w 924250"/>
                    <a:gd name="connsiteY1" fmla="*/ 5202 h 400046"/>
                    <a:gd name="connsiteX2" fmla="*/ 924250 w 924250"/>
                    <a:gd name="connsiteY2" fmla="*/ 400046 h 400046"/>
                    <a:gd name="connsiteX3" fmla="*/ 9850 w 924250"/>
                    <a:gd name="connsiteY3" fmla="*/ 400046 h 400046"/>
                    <a:gd name="connsiteX0" fmla="*/ 7923 w 914400"/>
                    <a:gd name="connsiteY0" fmla="*/ 960 h 394844"/>
                    <a:gd name="connsiteX1" fmla="*/ 905513 w 914400"/>
                    <a:gd name="connsiteY1" fmla="*/ 0 h 394844"/>
                    <a:gd name="connsiteX2" fmla="*/ 914400 w 914400"/>
                    <a:gd name="connsiteY2" fmla="*/ 394844 h 394844"/>
                    <a:gd name="connsiteX3" fmla="*/ 0 w 914400"/>
                    <a:gd name="connsiteY3" fmla="*/ 394844 h 394844"/>
                  </a:gdLst>
                  <a:ahLst/>
                  <a:cxnLst>
                    <a:cxn ang="0">
                      <a:pos x="connsiteX0" y="connsiteY0"/>
                    </a:cxn>
                    <a:cxn ang="0">
                      <a:pos x="connsiteX1" y="connsiteY1"/>
                    </a:cxn>
                    <a:cxn ang="0">
                      <a:pos x="connsiteX2" y="connsiteY2"/>
                    </a:cxn>
                    <a:cxn ang="0">
                      <a:pos x="connsiteX3" y="connsiteY3"/>
                    </a:cxn>
                  </a:cxnLst>
                  <a:rect l="l" t="t" r="r" b="b"/>
                  <a:pathLst>
                    <a:path w="914400" h="394844">
                      <a:moveTo>
                        <a:pt x="7923" y="960"/>
                      </a:moveTo>
                      <a:lnTo>
                        <a:pt x="905513" y="0"/>
                      </a:lnTo>
                      <a:lnTo>
                        <a:pt x="914400" y="394844"/>
                      </a:lnTo>
                      <a:lnTo>
                        <a:pt x="0" y="394844"/>
                      </a:lnTo>
                    </a:path>
                  </a:pathLst>
                </a:custGeom>
                <a:noFill/>
                <a:ln w="12700">
                  <a:solidFill>
                    <a:srgbClr val="202936"/>
                  </a:solidFill>
                  <a:headEnd type="arrow"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Arrow Connector 74">
                  <a:extLst>
                    <a:ext uri="{FF2B5EF4-FFF2-40B4-BE49-F238E27FC236}">
                      <a16:creationId xmlns:a16="http://schemas.microsoft.com/office/drawing/2014/main" id="{4AADE94C-54BE-8741-B86D-899534AC7056}"/>
                    </a:ext>
                  </a:extLst>
                </p:cNvPr>
                <p:cNvCxnSpPr>
                  <a:cxnSpLocks/>
                </p:cNvCxnSpPr>
                <p:nvPr/>
              </p:nvCxnSpPr>
              <p:spPr>
                <a:xfrm rot="5400000" flipH="1" flipV="1">
                  <a:off x="9581754" y="4443204"/>
                  <a:ext cx="0" cy="573693"/>
                </a:xfrm>
                <a:prstGeom prst="straightConnector1">
                  <a:avLst/>
                </a:prstGeom>
                <a:ln w="12700">
                  <a:solidFill>
                    <a:srgbClr val="202936"/>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grpSp>
          <p:sp>
            <p:nvSpPr>
              <p:cNvPr id="41" name="TextBox 40"/>
              <p:cNvSpPr txBox="1"/>
              <p:nvPr/>
            </p:nvSpPr>
            <p:spPr>
              <a:xfrm>
                <a:off x="4657580" y="2207116"/>
                <a:ext cx="2172390" cy="338554"/>
              </a:xfrm>
              <a:prstGeom prst="rect">
                <a:avLst/>
              </a:prstGeom>
              <a:solidFill>
                <a:schemeClr val="bg1"/>
              </a:solid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Elastic Load Balancing</a:t>
                </a:r>
              </a:p>
            </p:txBody>
          </p:sp>
          <p:sp>
            <p:nvSpPr>
              <p:cNvPr id="12" name="TextBox 11"/>
              <p:cNvSpPr txBox="1"/>
              <p:nvPr/>
            </p:nvSpPr>
            <p:spPr>
              <a:xfrm>
                <a:off x="10693089" y="4463345"/>
                <a:ext cx="1560042" cy="1077218"/>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If average CPU </a:t>
                </a:r>
                <a:br>
                  <a:rPr lang="en-US" sz="160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a:latin typeface="Amazon Ember Light" panose="020B0403020204020204" pitchFamily="34" charset="0"/>
                    <a:ea typeface="Amazon Ember Light" panose="020B0403020204020204" pitchFamily="34" charset="0"/>
                    <a:cs typeface="Amazon Ember Light" panose="020B0403020204020204" pitchFamily="34" charset="0"/>
                  </a:rPr>
                  <a:t>utilization is </a:t>
                </a:r>
                <a:br>
                  <a:rPr lang="en-US" sz="160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a:latin typeface="Amazon Ember Light" panose="020B0403020204020204" pitchFamily="34" charset="0"/>
                    <a:ea typeface="Amazon Ember Light" panose="020B0403020204020204" pitchFamily="34" charset="0"/>
                    <a:cs typeface="Amazon Ember Light" panose="020B0403020204020204" pitchFamily="34" charset="0"/>
                  </a:rPr>
                  <a:t>&gt; 60% for 5 </a:t>
                </a:r>
                <a:br>
                  <a:rPr lang="en-US" sz="160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a:latin typeface="Amazon Ember Light" panose="020B0403020204020204" pitchFamily="34" charset="0"/>
                    <a:ea typeface="Amazon Ember Light" panose="020B0403020204020204" pitchFamily="34" charset="0"/>
                    <a:cs typeface="Amazon Ember Light" panose="020B0403020204020204" pitchFamily="34" charset="0"/>
                  </a:rPr>
                  <a:t>minutes…</a:t>
                </a:r>
              </a:p>
            </p:txBody>
          </p:sp>
          <p:sp>
            <p:nvSpPr>
              <p:cNvPr id="44" name="TextBox 43"/>
              <p:cNvSpPr txBox="1"/>
              <p:nvPr/>
            </p:nvSpPr>
            <p:spPr>
              <a:xfrm>
                <a:off x="5344884" y="4305612"/>
                <a:ext cx="1064715" cy="584775"/>
              </a:xfrm>
              <a:prstGeom prst="rect">
                <a:avLst/>
              </a:prstGeom>
              <a:noFill/>
              <a:ln>
                <a:noFill/>
              </a:ln>
            </p:spPr>
            <p:txBody>
              <a:bodyPr wrap="none" rtlCol="0">
                <a:spAutoFit/>
              </a:bodyPr>
              <a:lstStyle/>
              <a:p>
                <a:pPr algn="ctr"/>
                <a:r>
                  <a:rPr lang="en-US" sz="160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CPU </a:t>
                </a:r>
                <a:br>
                  <a:rPr lang="en-US" sz="160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utilization</a:t>
                </a:r>
              </a:p>
            </p:txBody>
          </p:sp>
          <p:sp>
            <p:nvSpPr>
              <p:cNvPr id="46" name="TextBox 45"/>
              <p:cNvSpPr txBox="1"/>
              <p:nvPr/>
            </p:nvSpPr>
            <p:spPr>
              <a:xfrm>
                <a:off x="4160822" y="5731842"/>
                <a:ext cx="3501280" cy="338554"/>
              </a:xfrm>
              <a:prstGeom prst="rect">
                <a:avLst/>
              </a:prstGeom>
              <a:solidFill>
                <a:schemeClr val="bg1"/>
              </a:solid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Run Amazon EC2 Auto Scaling policy</a:t>
                </a:r>
              </a:p>
            </p:txBody>
          </p:sp>
          <p:sp>
            <p:nvSpPr>
              <p:cNvPr id="47" name="TextBox 46"/>
              <p:cNvSpPr txBox="1"/>
              <p:nvPr/>
            </p:nvSpPr>
            <p:spPr>
              <a:xfrm>
                <a:off x="1389957" y="5948999"/>
                <a:ext cx="2764600" cy="338554"/>
              </a:xfrm>
              <a:prstGeom prst="rect">
                <a:avLst/>
              </a:prstGeom>
              <a:solidFill>
                <a:schemeClr val="bg1"/>
              </a:solidFill>
            </p:spPr>
            <p:txBody>
              <a:bodyPr wrap="squar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Amazon EC2 Auto Scaling</a:t>
                </a:r>
              </a:p>
            </p:txBody>
          </p:sp>
          <p:sp>
            <p:nvSpPr>
              <p:cNvPr id="48" name="TextBox 47"/>
              <p:cNvSpPr txBox="1"/>
              <p:nvPr/>
            </p:nvSpPr>
            <p:spPr>
              <a:xfrm>
                <a:off x="8169950" y="5967075"/>
                <a:ext cx="2291337" cy="338554"/>
              </a:xfrm>
              <a:prstGeom prst="rect">
                <a:avLst/>
              </a:prstGeom>
              <a:solidFill>
                <a:schemeClr val="bg1"/>
              </a:solidFill>
            </p:spPr>
            <p:txBody>
              <a:bodyPr wrap="squar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Amazon CloudWatch</a:t>
                </a:r>
              </a:p>
            </p:txBody>
          </p:sp>
          <p:pic>
            <p:nvPicPr>
              <p:cNvPr id="38" name="Graphic 37">
                <a:extLst>
                  <a:ext uri="{FF2B5EF4-FFF2-40B4-BE49-F238E27FC236}">
                    <a16:creationId xmlns:a16="http://schemas.microsoft.com/office/drawing/2014/main" id="{EF513CE3-6C57-45AB-B258-8836AF96A803}"/>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912914" y="4628108"/>
                <a:ext cx="640080" cy="640080"/>
              </a:xfrm>
              <a:prstGeom prst="rect">
                <a:avLst/>
              </a:prstGeom>
            </p:spPr>
          </p:pic>
        </p:grpSp>
        <p:cxnSp>
          <p:nvCxnSpPr>
            <p:cNvPr id="7" name="Elbow Connector 6">
              <a:extLst>
                <a:ext uri="{FF2B5EF4-FFF2-40B4-BE49-F238E27FC236}">
                  <a16:creationId xmlns:a16="http://schemas.microsoft.com/office/drawing/2014/main" id="{E24F16BB-C902-CB47-608D-14BBD109BF6B}"/>
                </a:ext>
              </a:extLst>
            </p:cNvPr>
            <p:cNvCxnSpPr>
              <a:stCxn id="64" idx="2"/>
            </p:cNvCxnSpPr>
            <p:nvPr/>
          </p:nvCxnSpPr>
          <p:spPr>
            <a:xfrm rot="16200000" flipH="1">
              <a:off x="7521568" y="3931336"/>
              <a:ext cx="558357" cy="2115346"/>
            </a:xfrm>
            <a:prstGeom prst="bentConnector2">
              <a:avLst/>
            </a:prstGeom>
            <a:ln>
              <a:solidFill>
                <a:schemeClr val="accent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 name="Elbow Connector 9">
              <a:extLst>
                <a:ext uri="{FF2B5EF4-FFF2-40B4-BE49-F238E27FC236}">
                  <a16:creationId xmlns:a16="http://schemas.microsoft.com/office/drawing/2014/main" id="{DB8B8006-6D30-9086-074A-BCF47C6E376E}"/>
                </a:ext>
              </a:extLst>
            </p:cNvPr>
            <p:cNvCxnSpPr>
              <a:stCxn id="63" idx="2"/>
            </p:cNvCxnSpPr>
            <p:nvPr/>
          </p:nvCxnSpPr>
          <p:spPr>
            <a:xfrm rot="16200000" flipH="1">
              <a:off x="6312267" y="3131275"/>
              <a:ext cx="967596" cy="4124707"/>
            </a:xfrm>
            <a:prstGeom prst="bentConnector2">
              <a:avLst/>
            </a:prstGeom>
            <a:ln>
              <a:solidFill>
                <a:schemeClr val="accent6"/>
              </a:solidFill>
              <a:prstDash val="dash"/>
              <a:tailEnd type="triangle"/>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175351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BA287B6-F045-4E4C-91DE-993BB3A8D6F2}"/>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73</a:t>
            </a:fld>
            <a:endParaRPr lang="en-US"/>
          </a:p>
        </p:txBody>
      </p:sp>
      <p:sp>
        <p:nvSpPr>
          <p:cNvPr id="5" name="Title 1"/>
          <p:cNvSpPr>
            <a:spLocks noGrp="1"/>
          </p:cNvSpPr>
          <p:nvPr>
            <p:ph type="title"/>
          </p:nvPr>
        </p:nvSpPr>
        <p:spPr/>
        <p:txBody>
          <a:bodyPr>
            <a:noAutofit/>
          </a:bodyPr>
          <a:lstStyle/>
          <a:p>
            <a:r>
              <a:rPr lang="en-US"/>
              <a:t>AWS Auto Scaling</a:t>
            </a:r>
          </a:p>
        </p:txBody>
      </p:sp>
      <p:sp>
        <p:nvSpPr>
          <p:cNvPr id="11" name="Content Placeholder 10">
            <a:extLst>
              <a:ext uri="{FF2B5EF4-FFF2-40B4-BE49-F238E27FC236}">
                <a16:creationId xmlns:a16="http://schemas.microsoft.com/office/drawing/2014/main" id="{44A1BC5B-9F76-4E54-9ADC-FA0FCE3261C7}"/>
              </a:ext>
            </a:extLst>
          </p:cNvPr>
          <p:cNvSpPr>
            <a:spLocks noGrp="1"/>
          </p:cNvSpPr>
          <p:nvPr>
            <p:ph sz="quarter" idx="21"/>
          </p:nvPr>
        </p:nvSpPr>
        <p:spPr>
          <a:xfrm>
            <a:off x="3941064" y="1143000"/>
            <a:ext cx="7808975" cy="5415474"/>
          </a:xfrm>
        </p:spPr>
        <p:txBody>
          <a:bodyPr>
            <a:normAutofit/>
          </a:bodyPr>
          <a:lstStyle/>
          <a:p>
            <a:r>
              <a:rPr lang="en-US"/>
              <a:t>Monitors your applications and automatically adjusts capacity to maintain steady, predictable performance at the lowest possible cost</a:t>
            </a:r>
          </a:p>
          <a:p>
            <a:r>
              <a:rPr lang="en-US"/>
              <a:t>Provides a simple, powerful user interface that enables you to build scaling plans for resources, including – </a:t>
            </a:r>
          </a:p>
          <a:p>
            <a:pPr lvl="1"/>
            <a:r>
              <a:rPr lang="en-US"/>
              <a:t>Amazon EC2 instances and Spot Fleets</a:t>
            </a:r>
          </a:p>
          <a:p>
            <a:pPr lvl="1"/>
            <a:r>
              <a:rPr lang="en-US"/>
              <a:t>Amazon Elastic Container Service (Amazon ECS) Tasks </a:t>
            </a:r>
          </a:p>
          <a:p>
            <a:pPr lvl="1"/>
            <a:r>
              <a:rPr lang="en-US"/>
              <a:t>Amazon DynamoDB tables and indexes</a:t>
            </a:r>
          </a:p>
          <a:p>
            <a:pPr lvl="1"/>
            <a:r>
              <a:rPr lang="en-US"/>
              <a:t>Amazon Aurora Replicas</a:t>
            </a:r>
          </a:p>
        </p:txBody>
      </p:sp>
      <p:pic>
        <p:nvPicPr>
          <p:cNvPr id="10" name="Graphic 9">
            <a:extLst>
              <a:ext uri="{FF2B5EF4-FFF2-40B4-BE49-F238E27FC236}">
                <a16:creationId xmlns:a16="http://schemas.microsoft.com/office/drawing/2014/main" id="{2008014B-CD5A-4C96-88C7-FB44AD01DBB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63272" y="1787850"/>
            <a:ext cx="914400" cy="914400"/>
          </a:xfrm>
          <a:prstGeom prst="rect">
            <a:avLst/>
          </a:prstGeom>
        </p:spPr>
      </p:pic>
      <p:sp>
        <p:nvSpPr>
          <p:cNvPr id="12" name="TextBox 11">
            <a:extLst>
              <a:ext uri="{FF2B5EF4-FFF2-40B4-BE49-F238E27FC236}">
                <a16:creationId xmlns:a16="http://schemas.microsoft.com/office/drawing/2014/main" id="{E2F01E4C-68DA-4726-A36D-88595B79DB83}"/>
              </a:ext>
            </a:extLst>
          </p:cNvPr>
          <p:cNvSpPr txBox="1"/>
          <p:nvPr/>
        </p:nvSpPr>
        <p:spPr>
          <a:xfrm>
            <a:off x="419100" y="2766301"/>
            <a:ext cx="3002745" cy="523220"/>
          </a:xfrm>
          <a:prstGeom prst="rect">
            <a:avLst/>
          </a:prstGeom>
          <a:noFill/>
        </p:spPr>
        <p:txBody>
          <a:bodyPr wrap="none" rtlCol="0">
            <a:spAutoFit/>
          </a:body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AWS Auto Scaling</a:t>
            </a:r>
          </a:p>
        </p:txBody>
      </p:sp>
    </p:spTree>
    <p:custDataLst>
      <p:tags r:id="rId1"/>
    </p:custDataLst>
    <p:extLst>
      <p:ext uri="{BB962C8B-B14F-4D97-AF65-F5344CB8AC3E}">
        <p14:creationId xmlns:p14="http://schemas.microsoft.com/office/powerpoint/2010/main" val="5081664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74</a:t>
            </a:fld>
            <a:endParaRPr lang="en-US"/>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lstStyle/>
          <a:p>
            <a:r>
              <a:rPr lang="en-US">
                <a:latin typeface="+mj-lt"/>
              </a:rPr>
              <a:t>Section 3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r>
              <a:rPr lang="en-US" sz="2400">
                <a:latin typeface="+mn-lt"/>
              </a:rPr>
              <a:t>Scaling enables you to respond quickly to changes in resource needs.</a:t>
            </a:r>
          </a:p>
          <a:p>
            <a:r>
              <a:rPr lang="en-US" sz="2400">
                <a:latin typeface="+mn-lt"/>
              </a:rPr>
              <a:t>Amazon EC2 Auto Scaling maintains application availability by automatically adding or removing EC2 instances.</a:t>
            </a:r>
          </a:p>
          <a:p>
            <a:r>
              <a:rPr lang="en-US" sz="2400">
                <a:latin typeface="+mn-lt"/>
              </a:rPr>
              <a:t>An Auto Scaling group is a collection of EC2 instances.</a:t>
            </a:r>
          </a:p>
          <a:p>
            <a:r>
              <a:rPr lang="en-US" sz="2400">
                <a:latin typeface="+mn-lt"/>
              </a:rPr>
              <a:t>A launch configuration is an instance configuration template.</a:t>
            </a:r>
          </a:p>
          <a:p>
            <a:r>
              <a:rPr lang="en-US" sz="2400">
                <a:latin typeface="+mn-lt"/>
              </a:rPr>
              <a:t>Dynamic scaling uses Amazon EC2 Auto Scaling, CloudWatch, and Elastic Load Balancing.</a:t>
            </a:r>
          </a:p>
          <a:p>
            <a:r>
              <a:rPr lang="en-US" sz="2400">
                <a:latin typeface="+mn-lt"/>
              </a:rPr>
              <a:t>AWS Auto Scaling is a separate service from Amazon EC2 Auto Scaling.</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22607291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A3440BC3-762D-4310-82DF-4E1F23D9E6A4}"/>
              </a:ext>
            </a:extLst>
          </p:cNvPr>
          <p:cNvSpPr>
            <a:spLocks noGrp="1"/>
          </p:cNvSpPr>
          <p:nvPr>
            <p:ph type="subTitle" idx="1"/>
          </p:nvPr>
        </p:nvSpPr>
        <p:spPr/>
        <p:txBody>
          <a:bodyPr/>
          <a:lstStyle/>
          <a:p>
            <a:r>
              <a:rPr lang="en-US"/>
              <a:t>Module 10: Automatic Scaling and Monitoring</a:t>
            </a:r>
          </a:p>
          <a:p>
            <a:endParaRPr lang="en-US"/>
          </a:p>
        </p:txBody>
      </p:sp>
      <p:sp>
        <p:nvSpPr>
          <p:cNvPr id="6" name="Title 5">
            <a:extLst>
              <a:ext uri="{FF2B5EF4-FFF2-40B4-BE49-F238E27FC236}">
                <a16:creationId xmlns:a16="http://schemas.microsoft.com/office/drawing/2014/main" id="{BFC5ECD2-AFF4-4A2B-9E54-AC9D736C4BC9}"/>
              </a:ext>
            </a:extLst>
          </p:cNvPr>
          <p:cNvSpPr>
            <a:spLocks noGrp="1"/>
          </p:cNvSpPr>
          <p:nvPr>
            <p:ph type="title"/>
          </p:nvPr>
        </p:nvSpPr>
        <p:spPr/>
        <p:txBody>
          <a:bodyPr>
            <a:normAutofit/>
          </a:bodyPr>
          <a:lstStyle/>
          <a:p>
            <a:r>
              <a:rPr lang="en-US"/>
              <a:t>Module wrap-up</a:t>
            </a:r>
          </a:p>
        </p:txBody>
      </p:sp>
    </p:spTree>
    <p:custDataLst>
      <p:tags r:id="rId1"/>
    </p:custDataLst>
    <p:extLst>
      <p:ext uri="{BB962C8B-B14F-4D97-AF65-F5344CB8AC3E}">
        <p14:creationId xmlns:p14="http://schemas.microsoft.com/office/powerpoint/2010/main" val="42729569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ECEECC-6889-3C4B-ADDE-289EB9D9F6A9}"/>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76</a:t>
            </a:fld>
            <a:endParaRPr lang="en-US"/>
          </a:p>
        </p:txBody>
      </p:sp>
      <p:sp>
        <p:nvSpPr>
          <p:cNvPr id="2" name="Title 1"/>
          <p:cNvSpPr>
            <a:spLocks noGrp="1"/>
          </p:cNvSpPr>
          <p:nvPr>
            <p:ph type="title"/>
          </p:nvPr>
        </p:nvSpPr>
        <p:spPr/>
        <p:txBody>
          <a:bodyPr>
            <a:noAutofit/>
          </a:bodyPr>
          <a:lstStyle/>
          <a:p>
            <a:r>
              <a:rPr lang="en-US">
                <a:latin typeface="+mj-lt"/>
              </a:rPr>
              <a:t>Module summary                                                     </a:t>
            </a:r>
          </a:p>
        </p:txBody>
      </p:sp>
      <p:sp>
        <p:nvSpPr>
          <p:cNvPr id="6" name="Content Placeholder 5">
            <a:extLst>
              <a:ext uri="{FF2B5EF4-FFF2-40B4-BE49-F238E27FC236}">
                <a16:creationId xmlns:a16="http://schemas.microsoft.com/office/drawing/2014/main" id="{96B1D8CB-247D-9047-BFCE-7C071A34030D}"/>
              </a:ext>
            </a:extLst>
          </p:cNvPr>
          <p:cNvSpPr>
            <a:spLocks noGrp="1"/>
          </p:cNvSpPr>
          <p:nvPr>
            <p:ph sz="quarter" idx="21"/>
          </p:nvPr>
        </p:nvSpPr>
        <p:spPr/>
        <p:txBody>
          <a:bodyPr/>
          <a:lstStyle/>
          <a:p>
            <a:pPr marL="0" indent="0">
              <a:buNone/>
            </a:pPr>
            <a:r>
              <a:rPr lang="en-US"/>
              <a:t>In summary, in this module you learned how to:</a:t>
            </a:r>
          </a:p>
          <a:p>
            <a:r>
              <a:rPr lang="en-US"/>
              <a:t>Indicate how to distribute traffic across Amazon Elastic Compute Cloud (Amazon EC2) instances using Elastic Load Balancing.</a:t>
            </a:r>
          </a:p>
          <a:p>
            <a:r>
              <a:rPr lang="en-US"/>
              <a:t>Identify how Amazon CloudWatch enables you to monitor AWS resources and applications in real time.</a:t>
            </a:r>
          </a:p>
          <a:p>
            <a:r>
              <a:rPr lang="en-US"/>
              <a:t>Explain how Amazon EC2 Auto Scaling launches and releases servers in response to workload changes.</a:t>
            </a:r>
          </a:p>
          <a:p>
            <a:r>
              <a:rPr lang="en-US"/>
              <a:t>Perform scaling and load balancing tasks to improve an architecture.</a:t>
            </a:r>
          </a:p>
        </p:txBody>
      </p:sp>
    </p:spTree>
    <p:custDataLst>
      <p:tags r:id="rId1"/>
    </p:custDataLst>
    <p:extLst>
      <p:ext uri="{BB962C8B-B14F-4D97-AF65-F5344CB8AC3E}">
        <p14:creationId xmlns:p14="http://schemas.microsoft.com/office/powerpoint/2010/main" val="32433088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073C-A276-29A8-8790-BEC198B91F9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6558F98-24B9-3CAD-01FF-B639DBB1D48D}"/>
              </a:ext>
            </a:extLst>
          </p:cNvPr>
          <p:cNvSpPr>
            <a:spLocks noGrp="1"/>
          </p:cNvSpPr>
          <p:nvPr>
            <p:ph type="title"/>
          </p:nvPr>
        </p:nvSpPr>
        <p:spPr/>
        <p:txBody>
          <a:bodyPr/>
          <a:lstStyle/>
          <a:p>
            <a:r>
              <a:rPr lang="en-US" dirty="0"/>
              <a:t>Final Project</a:t>
            </a:r>
          </a:p>
        </p:txBody>
      </p:sp>
      <p:sp>
        <p:nvSpPr>
          <p:cNvPr id="2" name="Text Placeholder 1">
            <a:extLst>
              <a:ext uri="{FF2B5EF4-FFF2-40B4-BE49-F238E27FC236}">
                <a16:creationId xmlns:a16="http://schemas.microsoft.com/office/drawing/2014/main" id="{DA8AEC09-3446-DD46-9150-ED2CB6701394}"/>
              </a:ext>
            </a:extLst>
          </p:cNvPr>
          <p:cNvSpPr>
            <a:spLocks noGrp="1"/>
          </p:cNvSpPr>
          <p:nvPr>
            <p:ph type="subTitle" idx="1"/>
          </p:nvPr>
        </p:nvSpPr>
        <p:spPr/>
        <p:txBody>
          <a:bodyPr/>
          <a:lstStyle/>
          <a:p>
            <a:r>
              <a:rPr lang="en-US" dirty="0"/>
              <a:t>“Building” a Data Pipeline</a:t>
            </a:r>
          </a:p>
        </p:txBody>
      </p:sp>
    </p:spTree>
    <p:custDataLst>
      <p:tags r:id="rId1"/>
    </p:custDataLst>
    <p:extLst>
      <p:ext uri="{BB962C8B-B14F-4D97-AF65-F5344CB8AC3E}">
        <p14:creationId xmlns:p14="http://schemas.microsoft.com/office/powerpoint/2010/main" val="1226860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BBEBAB-D754-C868-F057-AB6C6EC40C6D}"/>
              </a:ext>
            </a:extLst>
          </p:cNvPr>
          <p:cNvSpPr>
            <a:spLocks noGrp="1"/>
          </p:cNvSpPr>
          <p:nvPr>
            <p:ph type="sldNum" sz="quarter" idx="20"/>
          </p:nvPr>
        </p:nvSpPr>
        <p:spPr/>
        <p:txBody>
          <a:bodyPr/>
          <a:lstStyle/>
          <a:p>
            <a:fld id="{930176A1-BCF0-4712-97A6-6B495F55390B}" type="slidenum">
              <a:rPr lang="en-US" smtClean="0"/>
              <a:pPr/>
              <a:t>78</a:t>
            </a:fld>
            <a:endParaRPr lang="en-US"/>
          </a:p>
        </p:txBody>
      </p:sp>
      <p:sp>
        <p:nvSpPr>
          <p:cNvPr id="3" name="Title 2">
            <a:extLst>
              <a:ext uri="{FF2B5EF4-FFF2-40B4-BE49-F238E27FC236}">
                <a16:creationId xmlns:a16="http://schemas.microsoft.com/office/drawing/2014/main" id="{B784DA52-C345-4423-9A83-6E6696EAD683}"/>
              </a:ext>
            </a:extLst>
          </p:cNvPr>
          <p:cNvSpPr>
            <a:spLocks noGrp="1"/>
          </p:cNvSpPr>
          <p:nvPr>
            <p:ph type="title"/>
          </p:nvPr>
        </p:nvSpPr>
        <p:spPr/>
        <p:txBody>
          <a:bodyPr/>
          <a:lstStyle/>
          <a:p>
            <a:r>
              <a:rPr lang="en-US" dirty="0"/>
              <a:t>Our “Pipeline”</a:t>
            </a:r>
          </a:p>
        </p:txBody>
      </p:sp>
      <p:sp>
        <p:nvSpPr>
          <p:cNvPr id="4" name="Content Placeholder 3">
            <a:extLst>
              <a:ext uri="{FF2B5EF4-FFF2-40B4-BE49-F238E27FC236}">
                <a16:creationId xmlns:a16="http://schemas.microsoft.com/office/drawing/2014/main" id="{ADE90925-1510-49B4-DBF0-53C20573224E}"/>
              </a:ext>
            </a:extLst>
          </p:cNvPr>
          <p:cNvSpPr>
            <a:spLocks noGrp="1"/>
          </p:cNvSpPr>
          <p:nvPr>
            <p:ph sz="quarter" idx="21"/>
          </p:nvPr>
        </p:nvSpPr>
        <p:spPr>
          <a:xfrm>
            <a:off x="365760" y="1143000"/>
            <a:ext cx="11587890" cy="731319"/>
          </a:xfrm>
        </p:spPr>
        <p:txBody>
          <a:bodyPr/>
          <a:lstStyle/>
          <a:p>
            <a:r>
              <a:rPr lang="en-US" dirty="0"/>
              <a:t>Transform CSV files into JSON and consolidate the information in them</a:t>
            </a:r>
          </a:p>
        </p:txBody>
      </p:sp>
      <p:pic>
        <p:nvPicPr>
          <p:cNvPr id="5" name="Graphic 4">
            <a:extLst>
              <a:ext uri="{FF2B5EF4-FFF2-40B4-BE49-F238E27FC236}">
                <a16:creationId xmlns:a16="http://schemas.microsoft.com/office/drawing/2014/main" id="{DE7BA7C7-867F-7AE5-DE20-C8AE2E4163EB}"/>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21794" y="4838040"/>
            <a:ext cx="711200" cy="711200"/>
          </a:xfrm>
          <a:prstGeom prst="rect">
            <a:avLst/>
          </a:prstGeom>
        </p:spPr>
      </p:pic>
      <p:pic>
        <p:nvPicPr>
          <p:cNvPr id="6" name="Graphic 5">
            <a:extLst>
              <a:ext uri="{FF2B5EF4-FFF2-40B4-BE49-F238E27FC236}">
                <a16:creationId xmlns:a16="http://schemas.microsoft.com/office/drawing/2014/main" id="{5AEC0502-E68A-C012-EA10-AC87BA02D2F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99782" y="2884303"/>
            <a:ext cx="711200" cy="711200"/>
          </a:xfrm>
          <a:prstGeom prst="rect">
            <a:avLst/>
          </a:prstGeom>
        </p:spPr>
      </p:pic>
      <p:sp>
        <p:nvSpPr>
          <p:cNvPr id="7" name="TextBox 6">
            <a:extLst>
              <a:ext uri="{FF2B5EF4-FFF2-40B4-BE49-F238E27FC236}">
                <a16:creationId xmlns:a16="http://schemas.microsoft.com/office/drawing/2014/main" id="{14E58CBD-15FA-668C-D3A0-F298A8BD3F60}"/>
              </a:ext>
            </a:extLst>
          </p:cNvPr>
          <p:cNvSpPr txBox="1"/>
          <p:nvPr/>
        </p:nvSpPr>
        <p:spPr>
          <a:xfrm>
            <a:off x="1741029" y="3766624"/>
            <a:ext cx="1828706" cy="369332"/>
          </a:xfrm>
          <a:prstGeom prst="rect">
            <a:avLst/>
          </a:prstGeom>
          <a:noFill/>
        </p:spPr>
        <p:txBody>
          <a:bodyPr wrap="none" rtlCol="0">
            <a:spAutoFit/>
          </a:bodyPr>
          <a:lstStyle/>
          <a:p>
            <a:pPr algn="ctr"/>
            <a:r>
              <a:rPr lang="en-US" dirty="0"/>
              <a:t>“Uploads” Bucket</a:t>
            </a:r>
          </a:p>
        </p:txBody>
      </p:sp>
      <p:sp>
        <p:nvSpPr>
          <p:cNvPr id="8" name="TextBox 7">
            <a:extLst>
              <a:ext uri="{FF2B5EF4-FFF2-40B4-BE49-F238E27FC236}">
                <a16:creationId xmlns:a16="http://schemas.microsoft.com/office/drawing/2014/main" id="{5A7779AB-B6DF-EC93-4A65-9572E1EFE735}"/>
              </a:ext>
            </a:extLst>
          </p:cNvPr>
          <p:cNvSpPr txBox="1"/>
          <p:nvPr/>
        </p:nvSpPr>
        <p:spPr>
          <a:xfrm>
            <a:off x="3407407" y="5683292"/>
            <a:ext cx="2126864" cy="369332"/>
          </a:xfrm>
          <a:prstGeom prst="rect">
            <a:avLst/>
          </a:prstGeom>
          <a:noFill/>
        </p:spPr>
        <p:txBody>
          <a:bodyPr wrap="none" rtlCol="0">
            <a:spAutoFit/>
          </a:bodyPr>
          <a:lstStyle/>
          <a:p>
            <a:pPr algn="ctr"/>
            <a:r>
              <a:rPr lang="en-US" dirty="0"/>
              <a:t>CSV to JSON Lambda</a:t>
            </a:r>
          </a:p>
        </p:txBody>
      </p:sp>
      <p:pic>
        <p:nvPicPr>
          <p:cNvPr id="9" name="Graphic 8">
            <a:extLst>
              <a:ext uri="{FF2B5EF4-FFF2-40B4-BE49-F238E27FC236}">
                <a16:creationId xmlns:a16="http://schemas.microsoft.com/office/drawing/2014/main" id="{271C433B-84A4-D69C-D6C6-AAD9089ABFC5}"/>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16076" y="4826330"/>
            <a:ext cx="711200" cy="711200"/>
          </a:xfrm>
          <a:prstGeom prst="rect">
            <a:avLst/>
          </a:prstGeom>
        </p:spPr>
      </p:pic>
      <p:sp>
        <p:nvSpPr>
          <p:cNvPr id="10" name="TextBox 9">
            <a:extLst>
              <a:ext uri="{FF2B5EF4-FFF2-40B4-BE49-F238E27FC236}">
                <a16:creationId xmlns:a16="http://schemas.microsoft.com/office/drawing/2014/main" id="{7BF80CCC-BAFC-FDAC-F77B-3FB9DE580706}"/>
              </a:ext>
            </a:extLst>
          </p:cNvPr>
          <p:cNvSpPr txBox="1"/>
          <p:nvPr/>
        </p:nvSpPr>
        <p:spPr>
          <a:xfrm>
            <a:off x="7505511" y="5671582"/>
            <a:ext cx="2319226" cy="369332"/>
          </a:xfrm>
          <a:prstGeom prst="rect">
            <a:avLst/>
          </a:prstGeom>
          <a:noFill/>
        </p:spPr>
        <p:txBody>
          <a:bodyPr wrap="none" rtlCol="0">
            <a:spAutoFit/>
          </a:bodyPr>
          <a:lstStyle/>
          <a:p>
            <a:pPr algn="ctr"/>
            <a:r>
              <a:rPr lang="en-US" dirty="0"/>
              <a:t>JSON to HTML Lambda</a:t>
            </a:r>
          </a:p>
        </p:txBody>
      </p:sp>
      <p:pic>
        <p:nvPicPr>
          <p:cNvPr id="11" name="Graphic 10">
            <a:extLst>
              <a:ext uri="{FF2B5EF4-FFF2-40B4-BE49-F238E27FC236}">
                <a16:creationId xmlns:a16="http://schemas.microsoft.com/office/drawing/2014/main" id="{C66A017C-BF28-85C6-47D7-3970C2E7C3E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54339" y="2884303"/>
            <a:ext cx="711200" cy="711200"/>
          </a:xfrm>
          <a:prstGeom prst="rect">
            <a:avLst/>
          </a:prstGeom>
        </p:spPr>
      </p:pic>
      <p:sp>
        <p:nvSpPr>
          <p:cNvPr id="12" name="TextBox 11">
            <a:extLst>
              <a:ext uri="{FF2B5EF4-FFF2-40B4-BE49-F238E27FC236}">
                <a16:creationId xmlns:a16="http://schemas.microsoft.com/office/drawing/2014/main" id="{4BAE65C4-FF53-95B4-FDF9-1E19A211FFD4}"/>
              </a:ext>
            </a:extLst>
          </p:cNvPr>
          <p:cNvSpPr txBox="1"/>
          <p:nvPr/>
        </p:nvSpPr>
        <p:spPr>
          <a:xfrm>
            <a:off x="6043318" y="3766624"/>
            <a:ext cx="1533241" cy="369332"/>
          </a:xfrm>
          <a:prstGeom prst="rect">
            <a:avLst/>
          </a:prstGeom>
          <a:noFill/>
        </p:spPr>
        <p:txBody>
          <a:bodyPr wrap="none" rtlCol="0">
            <a:spAutoFit/>
          </a:bodyPr>
          <a:lstStyle/>
          <a:p>
            <a:pPr algn="ctr"/>
            <a:r>
              <a:rPr lang="en-US" dirty="0"/>
              <a:t>“JSON” Bucket</a:t>
            </a:r>
          </a:p>
        </p:txBody>
      </p:sp>
      <p:pic>
        <p:nvPicPr>
          <p:cNvPr id="13" name="Graphic 12">
            <a:extLst>
              <a:ext uri="{FF2B5EF4-FFF2-40B4-BE49-F238E27FC236}">
                <a16:creationId xmlns:a16="http://schemas.microsoft.com/office/drawing/2014/main" id="{4F275E15-B0FE-6B8E-2AF0-3773B3FD257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84668" y="2884303"/>
            <a:ext cx="711200" cy="711200"/>
          </a:xfrm>
          <a:prstGeom prst="rect">
            <a:avLst/>
          </a:prstGeom>
        </p:spPr>
      </p:pic>
      <p:sp>
        <p:nvSpPr>
          <p:cNvPr id="14" name="TextBox 13">
            <a:extLst>
              <a:ext uri="{FF2B5EF4-FFF2-40B4-BE49-F238E27FC236}">
                <a16:creationId xmlns:a16="http://schemas.microsoft.com/office/drawing/2014/main" id="{9B88EDEE-3EB5-6657-8B38-D477A1BF7FC6}"/>
              </a:ext>
            </a:extLst>
          </p:cNvPr>
          <p:cNvSpPr txBox="1"/>
          <p:nvPr/>
        </p:nvSpPr>
        <p:spPr>
          <a:xfrm>
            <a:off x="10145568" y="3766624"/>
            <a:ext cx="1789401" cy="369332"/>
          </a:xfrm>
          <a:prstGeom prst="rect">
            <a:avLst/>
          </a:prstGeom>
          <a:noFill/>
        </p:spPr>
        <p:txBody>
          <a:bodyPr wrap="none" rtlCol="0">
            <a:spAutoFit/>
          </a:bodyPr>
          <a:lstStyle/>
          <a:p>
            <a:pPr algn="ctr"/>
            <a:r>
              <a:rPr lang="en-US" dirty="0"/>
              <a:t>“Reports” Bucket</a:t>
            </a:r>
          </a:p>
        </p:txBody>
      </p:sp>
      <p:sp>
        <p:nvSpPr>
          <p:cNvPr id="15" name="Bent-Up Arrow 14">
            <a:extLst>
              <a:ext uri="{FF2B5EF4-FFF2-40B4-BE49-F238E27FC236}">
                <a16:creationId xmlns:a16="http://schemas.microsoft.com/office/drawing/2014/main" id="{B824A4A3-D282-189F-3BA7-7C7D4C341DFB}"/>
              </a:ext>
            </a:extLst>
          </p:cNvPr>
          <p:cNvSpPr/>
          <p:nvPr/>
        </p:nvSpPr>
        <p:spPr>
          <a:xfrm rot="5400000">
            <a:off x="654044" y="2297660"/>
            <a:ext cx="1280160" cy="1202874"/>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Bent-Up Arrow 15">
            <a:extLst>
              <a:ext uri="{FF2B5EF4-FFF2-40B4-BE49-F238E27FC236}">
                <a16:creationId xmlns:a16="http://schemas.microsoft.com/office/drawing/2014/main" id="{903DEF4B-1645-AC5A-4933-491411166928}"/>
              </a:ext>
            </a:extLst>
          </p:cNvPr>
          <p:cNvSpPr/>
          <p:nvPr/>
        </p:nvSpPr>
        <p:spPr>
          <a:xfrm rot="5400000">
            <a:off x="2616739" y="4236603"/>
            <a:ext cx="1280160" cy="1202874"/>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Bent-Up Arrow 16">
            <a:extLst>
              <a:ext uri="{FF2B5EF4-FFF2-40B4-BE49-F238E27FC236}">
                <a16:creationId xmlns:a16="http://schemas.microsoft.com/office/drawing/2014/main" id="{2B3DA74F-3005-9DEB-5D9C-304814A7E63C}"/>
              </a:ext>
            </a:extLst>
          </p:cNvPr>
          <p:cNvSpPr/>
          <p:nvPr/>
        </p:nvSpPr>
        <p:spPr>
          <a:xfrm rot="5400000">
            <a:off x="7092229" y="4307723"/>
            <a:ext cx="1280160" cy="1202874"/>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Bent-Up Arrow 17">
            <a:extLst>
              <a:ext uri="{FF2B5EF4-FFF2-40B4-BE49-F238E27FC236}">
                <a16:creationId xmlns:a16="http://schemas.microsoft.com/office/drawing/2014/main" id="{0056B62F-2921-8E07-54A0-0EFE76C00F73}"/>
              </a:ext>
            </a:extLst>
          </p:cNvPr>
          <p:cNvSpPr/>
          <p:nvPr/>
        </p:nvSpPr>
        <p:spPr>
          <a:xfrm rot="5400000" flipH="1">
            <a:off x="4861881" y="3514609"/>
            <a:ext cx="1374092" cy="1202874"/>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Bent-Up Arrow 18">
            <a:extLst>
              <a:ext uri="{FF2B5EF4-FFF2-40B4-BE49-F238E27FC236}">
                <a16:creationId xmlns:a16="http://schemas.microsoft.com/office/drawing/2014/main" id="{DE014A2F-CFC5-7923-09EC-DF0DD5674D88}"/>
              </a:ext>
            </a:extLst>
          </p:cNvPr>
          <p:cNvSpPr/>
          <p:nvPr/>
        </p:nvSpPr>
        <p:spPr>
          <a:xfrm rot="5400000" flipH="1">
            <a:off x="9041667" y="3472402"/>
            <a:ext cx="1374092" cy="1202874"/>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FDF85928-0FB4-096D-8A05-DF636BE0F4EA}"/>
              </a:ext>
            </a:extLst>
          </p:cNvPr>
          <p:cNvGrpSpPr/>
          <p:nvPr/>
        </p:nvGrpSpPr>
        <p:grpSpPr>
          <a:xfrm>
            <a:off x="408801" y="1786678"/>
            <a:ext cx="567771" cy="567771"/>
            <a:chOff x="3170126" y="1840119"/>
            <a:chExt cx="914400" cy="914400"/>
          </a:xfrm>
        </p:grpSpPr>
        <p:sp>
          <p:nvSpPr>
            <p:cNvPr id="30" name="Rectangle 29">
              <a:extLst>
                <a:ext uri="{FF2B5EF4-FFF2-40B4-BE49-F238E27FC236}">
                  <a16:creationId xmlns:a16="http://schemas.microsoft.com/office/drawing/2014/main" id="{44AB7402-ADF4-7A62-A1A3-DC71507BB021}"/>
                </a:ext>
              </a:extLst>
            </p:cNvPr>
            <p:cNvSpPr/>
            <p:nvPr/>
          </p:nvSpPr>
          <p:spPr>
            <a:xfrm>
              <a:off x="3356658" y="1950334"/>
              <a:ext cx="555585" cy="664165"/>
            </a:xfrm>
            <a:custGeom>
              <a:avLst/>
              <a:gdLst>
                <a:gd name="connsiteX0" fmla="*/ 0 w 555585"/>
                <a:gd name="connsiteY0" fmla="*/ 0 h 664165"/>
                <a:gd name="connsiteX1" fmla="*/ 555585 w 555585"/>
                <a:gd name="connsiteY1" fmla="*/ 0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585" h="664165">
                  <a:moveTo>
                    <a:pt x="0" y="0"/>
                  </a:moveTo>
                  <a:cubicBezTo>
                    <a:pt x="144684" y="27007"/>
                    <a:pt x="306729" y="-3859"/>
                    <a:pt x="434051" y="81022"/>
                  </a:cubicBezTo>
                  <a:cubicBezTo>
                    <a:pt x="584521" y="275403"/>
                    <a:pt x="515074" y="469784"/>
                    <a:pt x="555585" y="664165"/>
                  </a:cubicBezTo>
                  <a:lnTo>
                    <a:pt x="0" y="664165"/>
                  </a:lnTo>
                  <a:lnTo>
                    <a:pt x="0" y="0"/>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Graphic 20" descr="Document with solid fill">
              <a:extLst>
                <a:ext uri="{FF2B5EF4-FFF2-40B4-BE49-F238E27FC236}">
                  <a16:creationId xmlns:a16="http://schemas.microsoft.com/office/drawing/2014/main" id="{E5360E31-CADA-7AC9-D0BD-3AC2B14401D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70126" y="1840119"/>
              <a:ext cx="914400" cy="914400"/>
            </a:xfrm>
            <a:prstGeom prst="rect">
              <a:avLst/>
            </a:prstGeom>
          </p:spPr>
        </p:pic>
      </p:grpSp>
      <p:grpSp>
        <p:nvGrpSpPr>
          <p:cNvPr id="32" name="Group 31">
            <a:extLst>
              <a:ext uri="{FF2B5EF4-FFF2-40B4-BE49-F238E27FC236}">
                <a16:creationId xmlns:a16="http://schemas.microsoft.com/office/drawing/2014/main" id="{13925C56-69B2-6364-5F9D-E55477CBD74F}"/>
              </a:ext>
            </a:extLst>
          </p:cNvPr>
          <p:cNvGrpSpPr/>
          <p:nvPr/>
        </p:nvGrpSpPr>
        <p:grpSpPr>
          <a:xfrm>
            <a:off x="561201" y="1939078"/>
            <a:ext cx="567771" cy="567771"/>
            <a:chOff x="3170126" y="1840119"/>
            <a:chExt cx="914400" cy="914400"/>
          </a:xfrm>
        </p:grpSpPr>
        <p:sp>
          <p:nvSpPr>
            <p:cNvPr id="33" name="Rectangle 29">
              <a:extLst>
                <a:ext uri="{FF2B5EF4-FFF2-40B4-BE49-F238E27FC236}">
                  <a16:creationId xmlns:a16="http://schemas.microsoft.com/office/drawing/2014/main" id="{7665EBF2-8252-8742-560A-7EB38EE38290}"/>
                </a:ext>
              </a:extLst>
            </p:cNvPr>
            <p:cNvSpPr/>
            <p:nvPr/>
          </p:nvSpPr>
          <p:spPr>
            <a:xfrm>
              <a:off x="3356658" y="1950334"/>
              <a:ext cx="555585" cy="664165"/>
            </a:xfrm>
            <a:custGeom>
              <a:avLst/>
              <a:gdLst>
                <a:gd name="connsiteX0" fmla="*/ 0 w 555585"/>
                <a:gd name="connsiteY0" fmla="*/ 0 h 664165"/>
                <a:gd name="connsiteX1" fmla="*/ 555585 w 555585"/>
                <a:gd name="connsiteY1" fmla="*/ 0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585" h="664165">
                  <a:moveTo>
                    <a:pt x="0" y="0"/>
                  </a:moveTo>
                  <a:cubicBezTo>
                    <a:pt x="144684" y="27007"/>
                    <a:pt x="306729" y="-3859"/>
                    <a:pt x="434051" y="81022"/>
                  </a:cubicBezTo>
                  <a:cubicBezTo>
                    <a:pt x="584521" y="275403"/>
                    <a:pt x="515074" y="469784"/>
                    <a:pt x="555585" y="664165"/>
                  </a:cubicBezTo>
                  <a:lnTo>
                    <a:pt x="0" y="664165"/>
                  </a:lnTo>
                  <a:lnTo>
                    <a:pt x="0" y="0"/>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Graphic 33" descr="Document with solid fill">
              <a:extLst>
                <a:ext uri="{FF2B5EF4-FFF2-40B4-BE49-F238E27FC236}">
                  <a16:creationId xmlns:a16="http://schemas.microsoft.com/office/drawing/2014/main" id="{7020FCB3-D34B-E19A-97D5-2E83E1AE0E9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70126" y="1840119"/>
              <a:ext cx="914400" cy="914400"/>
            </a:xfrm>
            <a:prstGeom prst="rect">
              <a:avLst/>
            </a:prstGeom>
          </p:spPr>
        </p:pic>
      </p:grpSp>
      <p:grpSp>
        <p:nvGrpSpPr>
          <p:cNvPr id="35" name="Group 34">
            <a:extLst>
              <a:ext uri="{FF2B5EF4-FFF2-40B4-BE49-F238E27FC236}">
                <a16:creationId xmlns:a16="http://schemas.microsoft.com/office/drawing/2014/main" id="{8F637F13-F81A-8819-CD01-91BA63857E29}"/>
              </a:ext>
            </a:extLst>
          </p:cNvPr>
          <p:cNvGrpSpPr/>
          <p:nvPr/>
        </p:nvGrpSpPr>
        <p:grpSpPr>
          <a:xfrm>
            <a:off x="2616975" y="4625869"/>
            <a:ext cx="567771" cy="567771"/>
            <a:chOff x="3170126" y="1840119"/>
            <a:chExt cx="914400" cy="914400"/>
          </a:xfrm>
        </p:grpSpPr>
        <p:sp>
          <p:nvSpPr>
            <p:cNvPr id="36" name="Rectangle 29">
              <a:extLst>
                <a:ext uri="{FF2B5EF4-FFF2-40B4-BE49-F238E27FC236}">
                  <a16:creationId xmlns:a16="http://schemas.microsoft.com/office/drawing/2014/main" id="{4E60AA02-37FD-E236-07C6-280536EB265C}"/>
                </a:ext>
              </a:extLst>
            </p:cNvPr>
            <p:cNvSpPr/>
            <p:nvPr/>
          </p:nvSpPr>
          <p:spPr>
            <a:xfrm>
              <a:off x="3356658" y="1950334"/>
              <a:ext cx="555585" cy="664165"/>
            </a:xfrm>
            <a:custGeom>
              <a:avLst/>
              <a:gdLst>
                <a:gd name="connsiteX0" fmla="*/ 0 w 555585"/>
                <a:gd name="connsiteY0" fmla="*/ 0 h 664165"/>
                <a:gd name="connsiteX1" fmla="*/ 555585 w 555585"/>
                <a:gd name="connsiteY1" fmla="*/ 0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585" h="664165">
                  <a:moveTo>
                    <a:pt x="0" y="0"/>
                  </a:moveTo>
                  <a:cubicBezTo>
                    <a:pt x="144684" y="27007"/>
                    <a:pt x="306729" y="-3859"/>
                    <a:pt x="434051" y="81022"/>
                  </a:cubicBezTo>
                  <a:cubicBezTo>
                    <a:pt x="584521" y="275403"/>
                    <a:pt x="515074" y="469784"/>
                    <a:pt x="555585" y="664165"/>
                  </a:cubicBezTo>
                  <a:lnTo>
                    <a:pt x="0" y="664165"/>
                  </a:lnTo>
                  <a:lnTo>
                    <a:pt x="0" y="0"/>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Graphic 36" descr="Document with solid fill">
              <a:extLst>
                <a:ext uri="{FF2B5EF4-FFF2-40B4-BE49-F238E27FC236}">
                  <a16:creationId xmlns:a16="http://schemas.microsoft.com/office/drawing/2014/main" id="{F22DB0F4-0A95-02B8-1B5D-1455C113B64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70126" y="1840119"/>
              <a:ext cx="914400" cy="914400"/>
            </a:xfrm>
            <a:prstGeom prst="rect">
              <a:avLst/>
            </a:prstGeom>
          </p:spPr>
        </p:pic>
      </p:grpSp>
      <p:grpSp>
        <p:nvGrpSpPr>
          <p:cNvPr id="43" name="Group 42">
            <a:extLst>
              <a:ext uri="{FF2B5EF4-FFF2-40B4-BE49-F238E27FC236}">
                <a16:creationId xmlns:a16="http://schemas.microsoft.com/office/drawing/2014/main" id="{12E04B3A-1B55-53A8-6BD9-FD1E411F7A36}"/>
              </a:ext>
            </a:extLst>
          </p:cNvPr>
          <p:cNvGrpSpPr/>
          <p:nvPr/>
        </p:nvGrpSpPr>
        <p:grpSpPr>
          <a:xfrm>
            <a:off x="5005681" y="3667404"/>
            <a:ext cx="567771" cy="567771"/>
            <a:chOff x="4778924" y="3311617"/>
            <a:chExt cx="567771" cy="567771"/>
          </a:xfrm>
        </p:grpSpPr>
        <p:grpSp>
          <p:nvGrpSpPr>
            <p:cNvPr id="38" name="Group 37">
              <a:extLst>
                <a:ext uri="{FF2B5EF4-FFF2-40B4-BE49-F238E27FC236}">
                  <a16:creationId xmlns:a16="http://schemas.microsoft.com/office/drawing/2014/main" id="{E1712255-2F04-8919-53E8-F40B563D0AFB}"/>
                </a:ext>
              </a:extLst>
            </p:cNvPr>
            <p:cNvGrpSpPr/>
            <p:nvPr/>
          </p:nvGrpSpPr>
          <p:grpSpPr>
            <a:xfrm>
              <a:off x="4778924" y="3311617"/>
              <a:ext cx="567771" cy="567771"/>
              <a:chOff x="3170126" y="1840119"/>
              <a:chExt cx="914400" cy="914400"/>
            </a:xfrm>
          </p:grpSpPr>
          <p:sp>
            <p:nvSpPr>
              <p:cNvPr id="39" name="Rectangle 29">
                <a:extLst>
                  <a:ext uri="{FF2B5EF4-FFF2-40B4-BE49-F238E27FC236}">
                    <a16:creationId xmlns:a16="http://schemas.microsoft.com/office/drawing/2014/main" id="{0438D957-F4EF-646F-1B82-0332EBF5C013}"/>
                  </a:ext>
                </a:extLst>
              </p:cNvPr>
              <p:cNvSpPr/>
              <p:nvPr/>
            </p:nvSpPr>
            <p:spPr>
              <a:xfrm>
                <a:off x="3356658" y="1950334"/>
                <a:ext cx="555585" cy="664165"/>
              </a:xfrm>
              <a:custGeom>
                <a:avLst/>
                <a:gdLst>
                  <a:gd name="connsiteX0" fmla="*/ 0 w 555585"/>
                  <a:gd name="connsiteY0" fmla="*/ 0 h 664165"/>
                  <a:gd name="connsiteX1" fmla="*/ 555585 w 555585"/>
                  <a:gd name="connsiteY1" fmla="*/ 0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585" h="664165">
                    <a:moveTo>
                      <a:pt x="0" y="0"/>
                    </a:moveTo>
                    <a:cubicBezTo>
                      <a:pt x="144684" y="27007"/>
                      <a:pt x="306729" y="-3859"/>
                      <a:pt x="434051" y="81022"/>
                    </a:cubicBezTo>
                    <a:cubicBezTo>
                      <a:pt x="584521" y="275403"/>
                      <a:pt x="515074" y="469784"/>
                      <a:pt x="555585" y="664165"/>
                    </a:cubicBezTo>
                    <a:lnTo>
                      <a:pt x="0" y="664165"/>
                    </a:lnTo>
                    <a:lnTo>
                      <a:pt x="0" y="0"/>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Graphic 39" descr="Document with solid fill">
                <a:extLst>
                  <a:ext uri="{FF2B5EF4-FFF2-40B4-BE49-F238E27FC236}">
                    <a16:creationId xmlns:a16="http://schemas.microsoft.com/office/drawing/2014/main" id="{841B72C9-A0D5-37FC-9732-6F6BB543E1A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70126" y="1840119"/>
                <a:ext cx="914400" cy="914400"/>
              </a:xfrm>
              <a:prstGeom prst="rect">
                <a:avLst/>
              </a:prstGeom>
            </p:spPr>
          </p:pic>
        </p:grpSp>
        <p:sp>
          <p:nvSpPr>
            <p:cNvPr id="41" name="Rectangle 40">
              <a:extLst>
                <a:ext uri="{FF2B5EF4-FFF2-40B4-BE49-F238E27FC236}">
                  <a16:creationId xmlns:a16="http://schemas.microsoft.com/office/drawing/2014/main" id="{7EC278B9-F553-9B54-67D2-3E73D1AD8CA8}"/>
                </a:ext>
              </a:extLst>
            </p:cNvPr>
            <p:cNvSpPr/>
            <p:nvPr/>
          </p:nvSpPr>
          <p:spPr>
            <a:xfrm>
              <a:off x="4932994" y="3526383"/>
              <a:ext cx="256591" cy="2607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1F387779-E616-E24A-A618-78695FA3ACAC}"/>
                </a:ext>
              </a:extLst>
            </p:cNvPr>
            <p:cNvSpPr txBox="1"/>
            <p:nvPr/>
          </p:nvSpPr>
          <p:spPr>
            <a:xfrm>
              <a:off x="4867273" y="3466586"/>
              <a:ext cx="381836" cy="369332"/>
            </a:xfrm>
            <a:prstGeom prst="rect">
              <a:avLst/>
            </a:prstGeom>
            <a:noFill/>
          </p:spPr>
          <p:txBody>
            <a:bodyPr wrap="none" rtlCol="0">
              <a:spAutoFit/>
            </a:bodyPr>
            <a:lstStyle/>
            <a:p>
              <a:r>
                <a:rPr lang="en-US" dirty="0"/>
                <a:t>{ }</a:t>
              </a:r>
            </a:p>
          </p:txBody>
        </p:sp>
      </p:grpSp>
      <p:grpSp>
        <p:nvGrpSpPr>
          <p:cNvPr id="44" name="Group 43">
            <a:extLst>
              <a:ext uri="{FF2B5EF4-FFF2-40B4-BE49-F238E27FC236}">
                <a16:creationId xmlns:a16="http://schemas.microsoft.com/office/drawing/2014/main" id="{9CF9B500-7448-CDB7-5439-F7BB50D34DE3}"/>
              </a:ext>
            </a:extLst>
          </p:cNvPr>
          <p:cNvGrpSpPr/>
          <p:nvPr/>
        </p:nvGrpSpPr>
        <p:grpSpPr>
          <a:xfrm>
            <a:off x="7133310" y="4554154"/>
            <a:ext cx="567771" cy="567771"/>
            <a:chOff x="4778924" y="3311617"/>
            <a:chExt cx="567771" cy="567771"/>
          </a:xfrm>
        </p:grpSpPr>
        <p:grpSp>
          <p:nvGrpSpPr>
            <p:cNvPr id="45" name="Group 44">
              <a:extLst>
                <a:ext uri="{FF2B5EF4-FFF2-40B4-BE49-F238E27FC236}">
                  <a16:creationId xmlns:a16="http://schemas.microsoft.com/office/drawing/2014/main" id="{8ECC49BD-7B99-0900-CDCF-CC15086859CF}"/>
                </a:ext>
              </a:extLst>
            </p:cNvPr>
            <p:cNvGrpSpPr/>
            <p:nvPr/>
          </p:nvGrpSpPr>
          <p:grpSpPr>
            <a:xfrm>
              <a:off x="4778924" y="3311617"/>
              <a:ext cx="567771" cy="567771"/>
              <a:chOff x="3170126" y="1840119"/>
              <a:chExt cx="914400" cy="914400"/>
            </a:xfrm>
          </p:grpSpPr>
          <p:sp>
            <p:nvSpPr>
              <p:cNvPr id="48" name="Rectangle 29">
                <a:extLst>
                  <a:ext uri="{FF2B5EF4-FFF2-40B4-BE49-F238E27FC236}">
                    <a16:creationId xmlns:a16="http://schemas.microsoft.com/office/drawing/2014/main" id="{F9097E40-8A7D-943C-DF99-7F88F3703993}"/>
                  </a:ext>
                </a:extLst>
              </p:cNvPr>
              <p:cNvSpPr/>
              <p:nvPr/>
            </p:nvSpPr>
            <p:spPr>
              <a:xfrm>
                <a:off x="3356658" y="1950334"/>
                <a:ext cx="555585" cy="664165"/>
              </a:xfrm>
              <a:custGeom>
                <a:avLst/>
                <a:gdLst>
                  <a:gd name="connsiteX0" fmla="*/ 0 w 555585"/>
                  <a:gd name="connsiteY0" fmla="*/ 0 h 664165"/>
                  <a:gd name="connsiteX1" fmla="*/ 555585 w 555585"/>
                  <a:gd name="connsiteY1" fmla="*/ 0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585" h="664165">
                    <a:moveTo>
                      <a:pt x="0" y="0"/>
                    </a:moveTo>
                    <a:cubicBezTo>
                      <a:pt x="144684" y="27007"/>
                      <a:pt x="306729" y="-3859"/>
                      <a:pt x="434051" y="81022"/>
                    </a:cubicBezTo>
                    <a:cubicBezTo>
                      <a:pt x="584521" y="275403"/>
                      <a:pt x="515074" y="469784"/>
                      <a:pt x="555585" y="664165"/>
                    </a:cubicBezTo>
                    <a:lnTo>
                      <a:pt x="0" y="664165"/>
                    </a:lnTo>
                    <a:lnTo>
                      <a:pt x="0" y="0"/>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Document with solid fill">
                <a:extLst>
                  <a:ext uri="{FF2B5EF4-FFF2-40B4-BE49-F238E27FC236}">
                    <a16:creationId xmlns:a16="http://schemas.microsoft.com/office/drawing/2014/main" id="{14381B15-AFF3-D331-5D01-53AB3E6137B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70126" y="1840119"/>
                <a:ext cx="914400" cy="914400"/>
              </a:xfrm>
              <a:prstGeom prst="rect">
                <a:avLst/>
              </a:prstGeom>
            </p:spPr>
          </p:pic>
        </p:grpSp>
        <p:sp>
          <p:nvSpPr>
            <p:cNvPr id="46" name="Rectangle 45">
              <a:extLst>
                <a:ext uri="{FF2B5EF4-FFF2-40B4-BE49-F238E27FC236}">
                  <a16:creationId xmlns:a16="http://schemas.microsoft.com/office/drawing/2014/main" id="{03A82C8E-9F6E-46CD-19F0-4FBBA64ACD34}"/>
                </a:ext>
              </a:extLst>
            </p:cNvPr>
            <p:cNvSpPr/>
            <p:nvPr/>
          </p:nvSpPr>
          <p:spPr>
            <a:xfrm>
              <a:off x="4932994" y="3526383"/>
              <a:ext cx="256591" cy="2607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AFF700D5-023A-D962-A338-A36AFA27C091}"/>
                </a:ext>
              </a:extLst>
            </p:cNvPr>
            <p:cNvSpPr txBox="1"/>
            <p:nvPr/>
          </p:nvSpPr>
          <p:spPr>
            <a:xfrm>
              <a:off x="4867273" y="3466586"/>
              <a:ext cx="381836" cy="369332"/>
            </a:xfrm>
            <a:prstGeom prst="rect">
              <a:avLst/>
            </a:prstGeom>
            <a:noFill/>
          </p:spPr>
          <p:txBody>
            <a:bodyPr wrap="none" rtlCol="0">
              <a:spAutoFit/>
            </a:bodyPr>
            <a:lstStyle/>
            <a:p>
              <a:r>
                <a:rPr lang="en-US" dirty="0"/>
                <a:t>{ }</a:t>
              </a:r>
            </a:p>
          </p:txBody>
        </p:sp>
      </p:grpSp>
      <p:grpSp>
        <p:nvGrpSpPr>
          <p:cNvPr id="50" name="Group 49">
            <a:extLst>
              <a:ext uri="{FF2B5EF4-FFF2-40B4-BE49-F238E27FC236}">
                <a16:creationId xmlns:a16="http://schemas.microsoft.com/office/drawing/2014/main" id="{3CE8DF65-3B73-831F-BBA8-92FA5CA8C877}"/>
              </a:ext>
            </a:extLst>
          </p:cNvPr>
          <p:cNvGrpSpPr/>
          <p:nvPr/>
        </p:nvGrpSpPr>
        <p:grpSpPr>
          <a:xfrm>
            <a:off x="7285710" y="4706554"/>
            <a:ext cx="567771" cy="567771"/>
            <a:chOff x="4778924" y="3311617"/>
            <a:chExt cx="567771" cy="567771"/>
          </a:xfrm>
        </p:grpSpPr>
        <p:grpSp>
          <p:nvGrpSpPr>
            <p:cNvPr id="51" name="Group 50">
              <a:extLst>
                <a:ext uri="{FF2B5EF4-FFF2-40B4-BE49-F238E27FC236}">
                  <a16:creationId xmlns:a16="http://schemas.microsoft.com/office/drawing/2014/main" id="{3D38939C-974E-B039-3B8A-DC725F1100E5}"/>
                </a:ext>
              </a:extLst>
            </p:cNvPr>
            <p:cNvGrpSpPr/>
            <p:nvPr/>
          </p:nvGrpSpPr>
          <p:grpSpPr>
            <a:xfrm>
              <a:off x="4778924" y="3311617"/>
              <a:ext cx="567771" cy="567771"/>
              <a:chOff x="3170126" y="1840119"/>
              <a:chExt cx="914400" cy="914400"/>
            </a:xfrm>
          </p:grpSpPr>
          <p:sp>
            <p:nvSpPr>
              <p:cNvPr id="54" name="Rectangle 29">
                <a:extLst>
                  <a:ext uri="{FF2B5EF4-FFF2-40B4-BE49-F238E27FC236}">
                    <a16:creationId xmlns:a16="http://schemas.microsoft.com/office/drawing/2014/main" id="{AA681B25-B093-C85F-3170-7FD24D7524E2}"/>
                  </a:ext>
                </a:extLst>
              </p:cNvPr>
              <p:cNvSpPr/>
              <p:nvPr/>
            </p:nvSpPr>
            <p:spPr>
              <a:xfrm>
                <a:off x="3356658" y="1950334"/>
                <a:ext cx="555585" cy="664165"/>
              </a:xfrm>
              <a:custGeom>
                <a:avLst/>
                <a:gdLst>
                  <a:gd name="connsiteX0" fmla="*/ 0 w 555585"/>
                  <a:gd name="connsiteY0" fmla="*/ 0 h 664165"/>
                  <a:gd name="connsiteX1" fmla="*/ 555585 w 555585"/>
                  <a:gd name="connsiteY1" fmla="*/ 0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585" h="664165">
                    <a:moveTo>
                      <a:pt x="0" y="0"/>
                    </a:moveTo>
                    <a:cubicBezTo>
                      <a:pt x="144684" y="27007"/>
                      <a:pt x="306729" y="-3859"/>
                      <a:pt x="434051" y="81022"/>
                    </a:cubicBezTo>
                    <a:cubicBezTo>
                      <a:pt x="584521" y="275403"/>
                      <a:pt x="515074" y="469784"/>
                      <a:pt x="555585" y="664165"/>
                    </a:cubicBezTo>
                    <a:lnTo>
                      <a:pt x="0" y="664165"/>
                    </a:lnTo>
                    <a:lnTo>
                      <a:pt x="0" y="0"/>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Graphic 54" descr="Document with solid fill">
                <a:extLst>
                  <a:ext uri="{FF2B5EF4-FFF2-40B4-BE49-F238E27FC236}">
                    <a16:creationId xmlns:a16="http://schemas.microsoft.com/office/drawing/2014/main" id="{A91AA161-E93C-FF9C-8D1F-783EB3EFADF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70126" y="1840119"/>
                <a:ext cx="914400" cy="914400"/>
              </a:xfrm>
              <a:prstGeom prst="rect">
                <a:avLst/>
              </a:prstGeom>
            </p:spPr>
          </p:pic>
        </p:grpSp>
        <p:sp>
          <p:nvSpPr>
            <p:cNvPr id="52" name="Rectangle 51">
              <a:extLst>
                <a:ext uri="{FF2B5EF4-FFF2-40B4-BE49-F238E27FC236}">
                  <a16:creationId xmlns:a16="http://schemas.microsoft.com/office/drawing/2014/main" id="{726A9636-82FA-BE65-7411-C0FD6E76AE2E}"/>
                </a:ext>
              </a:extLst>
            </p:cNvPr>
            <p:cNvSpPr/>
            <p:nvPr/>
          </p:nvSpPr>
          <p:spPr>
            <a:xfrm>
              <a:off x="4932994" y="3526383"/>
              <a:ext cx="256591" cy="2607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A81A11A3-FD37-A8AF-FFD5-BD633182ED2B}"/>
                </a:ext>
              </a:extLst>
            </p:cNvPr>
            <p:cNvSpPr txBox="1"/>
            <p:nvPr/>
          </p:nvSpPr>
          <p:spPr>
            <a:xfrm>
              <a:off x="4867273" y="3466586"/>
              <a:ext cx="381836" cy="369332"/>
            </a:xfrm>
            <a:prstGeom prst="rect">
              <a:avLst/>
            </a:prstGeom>
            <a:noFill/>
          </p:spPr>
          <p:txBody>
            <a:bodyPr wrap="none" rtlCol="0">
              <a:spAutoFit/>
            </a:bodyPr>
            <a:lstStyle/>
            <a:p>
              <a:r>
                <a:rPr lang="en-US" dirty="0"/>
                <a:t>{ }</a:t>
              </a:r>
            </a:p>
          </p:txBody>
        </p:sp>
      </p:grpSp>
      <p:grpSp>
        <p:nvGrpSpPr>
          <p:cNvPr id="56" name="Group 55">
            <a:extLst>
              <a:ext uri="{FF2B5EF4-FFF2-40B4-BE49-F238E27FC236}">
                <a16:creationId xmlns:a16="http://schemas.microsoft.com/office/drawing/2014/main" id="{6ACA047A-285C-2A70-BAE0-EF03853D10A3}"/>
              </a:ext>
            </a:extLst>
          </p:cNvPr>
          <p:cNvGrpSpPr/>
          <p:nvPr/>
        </p:nvGrpSpPr>
        <p:grpSpPr>
          <a:xfrm>
            <a:off x="7438110" y="4858954"/>
            <a:ext cx="567771" cy="567771"/>
            <a:chOff x="4778924" y="3311617"/>
            <a:chExt cx="567771" cy="567771"/>
          </a:xfrm>
        </p:grpSpPr>
        <p:grpSp>
          <p:nvGrpSpPr>
            <p:cNvPr id="57" name="Group 56">
              <a:extLst>
                <a:ext uri="{FF2B5EF4-FFF2-40B4-BE49-F238E27FC236}">
                  <a16:creationId xmlns:a16="http://schemas.microsoft.com/office/drawing/2014/main" id="{233FD48B-C53C-4656-2696-8C91F76356BD}"/>
                </a:ext>
              </a:extLst>
            </p:cNvPr>
            <p:cNvGrpSpPr/>
            <p:nvPr/>
          </p:nvGrpSpPr>
          <p:grpSpPr>
            <a:xfrm>
              <a:off x="4778924" y="3311617"/>
              <a:ext cx="567771" cy="567771"/>
              <a:chOff x="3170126" y="1840119"/>
              <a:chExt cx="914400" cy="914400"/>
            </a:xfrm>
          </p:grpSpPr>
          <p:sp>
            <p:nvSpPr>
              <p:cNvPr id="60" name="Rectangle 29">
                <a:extLst>
                  <a:ext uri="{FF2B5EF4-FFF2-40B4-BE49-F238E27FC236}">
                    <a16:creationId xmlns:a16="http://schemas.microsoft.com/office/drawing/2014/main" id="{A2EAE481-3961-8BB2-D707-68D0CA6F0F67}"/>
                  </a:ext>
                </a:extLst>
              </p:cNvPr>
              <p:cNvSpPr/>
              <p:nvPr/>
            </p:nvSpPr>
            <p:spPr>
              <a:xfrm>
                <a:off x="3356658" y="1950334"/>
                <a:ext cx="555585" cy="664165"/>
              </a:xfrm>
              <a:custGeom>
                <a:avLst/>
                <a:gdLst>
                  <a:gd name="connsiteX0" fmla="*/ 0 w 555585"/>
                  <a:gd name="connsiteY0" fmla="*/ 0 h 664165"/>
                  <a:gd name="connsiteX1" fmla="*/ 555585 w 555585"/>
                  <a:gd name="connsiteY1" fmla="*/ 0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585" h="664165">
                    <a:moveTo>
                      <a:pt x="0" y="0"/>
                    </a:moveTo>
                    <a:cubicBezTo>
                      <a:pt x="144684" y="27007"/>
                      <a:pt x="306729" y="-3859"/>
                      <a:pt x="434051" y="81022"/>
                    </a:cubicBezTo>
                    <a:cubicBezTo>
                      <a:pt x="584521" y="275403"/>
                      <a:pt x="515074" y="469784"/>
                      <a:pt x="555585" y="664165"/>
                    </a:cubicBezTo>
                    <a:lnTo>
                      <a:pt x="0" y="664165"/>
                    </a:lnTo>
                    <a:lnTo>
                      <a:pt x="0" y="0"/>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 name="Graphic 60" descr="Document with solid fill">
                <a:extLst>
                  <a:ext uri="{FF2B5EF4-FFF2-40B4-BE49-F238E27FC236}">
                    <a16:creationId xmlns:a16="http://schemas.microsoft.com/office/drawing/2014/main" id="{A79B3755-DE76-0B85-159B-A0DC599C952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70126" y="1840119"/>
                <a:ext cx="914400" cy="914400"/>
              </a:xfrm>
              <a:prstGeom prst="rect">
                <a:avLst/>
              </a:prstGeom>
            </p:spPr>
          </p:pic>
        </p:grpSp>
        <p:sp>
          <p:nvSpPr>
            <p:cNvPr id="58" name="Rectangle 57">
              <a:extLst>
                <a:ext uri="{FF2B5EF4-FFF2-40B4-BE49-F238E27FC236}">
                  <a16:creationId xmlns:a16="http://schemas.microsoft.com/office/drawing/2014/main" id="{3767BA9F-765B-0B33-AD58-97C093C67C01}"/>
                </a:ext>
              </a:extLst>
            </p:cNvPr>
            <p:cNvSpPr/>
            <p:nvPr/>
          </p:nvSpPr>
          <p:spPr>
            <a:xfrm>
              <a:off x="4932994" y="3526383"/>
              <a:ext cx="256591" cy="2607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E3865ADF-7335-C25B-9665-647FC9C27172}"/>
                </a:ext>
              </a:extLst>
            </p:cNvPr>
            <p:cNvSpPr txBox="1"/>
            <p:nvPr/>
          </p:nvSpPr>
          <p:spPr>
            <a:xfrm>
              <a:off x="4867273" y="3466586"/>
              <a:ext cx="381836" cy="369332"/>
            </a:xfrm>
            <a:prstGeom prst="rect">
              <a:avLst/>
            </a:prstGeom>
            <a:noFill/>
          </p:spPr>
          <p:txBody>
            <a:bodyPr wrap="none" rtlCol="0">
              <a:spAutoFit/>
            </a:bodyPr>
            <a:lstStyle/>
            <a:p>
              <a:r>
                <a:rPr lang="en-US" dirty="0"/>
                <a:t>{ }</a:t>
              </a:r>
            </a:p>
          </p:txBody>
        </p:sp>
      </p:grpSp>
      <p:grpSp>
        <p:nvGrpSpPr>
          <p:cNvPr id="62" name="Group 61">
            <a:extLst>
              <a:ext uri="{FF2B5EF4-FFF2-40B4-BE49-F238E27FC236}">
                <a16:creationId xmlns:a16="http://schemas.microsoft.com/office/drawing/2014/main" id="{39C3F307-D0FF-4B70-315E-2170400206E9}"/>
              </a:ext>
            </a:extLst>
          </p:cNvPr>
          <p:cNvGrpSpPr/>
          <p:nvPr/>
        </p:nvGrpSpPr>
        <p:grpSpPr>
          <a:xfrm>
            <a:off x="9181032" y="3598284"/>
            <a:ext cx="567771" cy="567771"/>
            <a:chOff x="4778924" y="3311617"/>
            <a:chExt cx="567771" cy="567771"/>
          </a:xfrm>
        </p:grpSpPr>
        <p:grpSp>
          <p:nvGrpSpPr>
            <p:cNvPr id="63" name="Group 62">
              <a:extLst>
                <a:ext uri="{FF2B5EF4-FFF2-40B4-BE49-F238E27FC236}">
                  <a16:creationId xmlns:a16="http://schemas.microsoft.com/office/drawing/2014/main" id="{8642EB54-3484-5D6B-6673-1F3780ABD8F7}"/>
                </a:ext>
              </a:extLst>
            </p:cNvPr>
            <p:cNvGrpSpPr/>
            <p:nvPr/>
          </p:nvGrpSpPr>
          <p:grpSpPr>
            <a:xfrm>
              <a:off x="4778924" y="3311617"/>
              <a:ext cx="567771" cy="567771"/>
              <a:chOff x="3170126" y="1840119"/>
              <a:chExt cx="914400" cy="914400"/>
            </a:xfrm>
          </p:grpSpPr>
          <p:sp>
            <p:nvSpPr>
              <p:cNvPr id="66" name="Rectangle 29">
                <a:extLst>
                  <a:ext uri="{FF2B5EF4-FFF2-40B4-BE49-F238E27FC236}">
                    <a16:creationId xmlns:a16="http://schemas.microsoft.com/office/drawing/2014/main" id="{A1F08FAB-55C8-B7FD-ED08-7A52FEE39E54}"/>
                  </a:ext>
                </a:extLst>
              </p:cNvPr>
              <p:cNvSpPr/>
              <p:nvPr/>
            </p:nvSpPr>
            <p:spPr>
              <a:xfrm>
                <a:off x="3356658" y="1950334"/>
                <a:ext cx="555585" cy="664165"/>
              </a:xfrm>
              <a:custGeom>
                <a:avLst/>
                <a:gdLst>
                  <a:gd name="connsiteX0" fmla="*/ 0 w 555585"/>
                  <a:gd name="connsiteY0" fmla="*/ 0 h 664165"/>
                  <a:gd name="connsiteX1" fmla="*/ 555585 w 555585"/>
                  <a:gd name="connsiteY1" fmla="*/ 0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585" h="664165">
                    <a:moveTo>
                      <a:pt x="0" y="0"/>
                    </a:moveTo>
                    <a:cubicBezTo>
                      <a:pt x="144684" y="27007"/>
                      <a:pt x="306729" y="-3859"/>
                      <a:pt x="434051" y="81022"/>
                    </a:cubicBezTo>
                    <a:cubicBezTo>
                      <a:pt x="584521" y="275403"/>
                      <a:pt x="515074" y="469784"/>
                      <a:pt x="555585" y="664165"/>
                    </a:cubicBezTo>
                    <a:lnTo>
                      <a:pt x="0" y="664165"/>
                    </a:lnTo>
                    <a:lnTo>
                      <a:pt x="0" y="0"/>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7" name="Graphic 66" descr="Document with solid fill">
                <a:extLst>
                  <a:ext uri="{FF2B5EF4-FFF2-40B4-BE49-F238E27FC236}">
                    <a16:creationId xmlns:a16="http://schemas.microsoft.com/office/drawing/2014/main" id="{EE9DE070-2A85-EEEB-BD5A-D94967BD975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70126" y="1840119"/>
                <a:ext cx="914400" cy="914400"/>
              </a:xfrm>
              <a:prstGeom prst="rect">
                <a:avLst/>
              </a:prstGeom>
            </p:spPr>
          </p:pic>
        </p:grpSp>
        <p:sp>
          <p:nvSpPr>
            <p:cNvPr id="64" name="Rectangle 63">
              <a:extLst>
                <a:ext uri="{FF2B5EF4-FFF2-40B4-BE49-F238E27FC236}">
                  <a16:creationId xmlns:a16="http://schemas.microsoft.com/office/drawing/2014/main" id="{2F3896F8-5422-9663-DBAD-6327ACD92E40}"/>
                </a:ext>
              </a:extLst>
            </p:cNvPr>
            <p:cNvSpPr/>
            <p:nvPr/>
          </p:nvSpPr>
          <p:spPr>
            <a:xfrm>
              <a:off x="4932994" y="3526383"/>
              <a:ext cx="256591" cy="2607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1BC51224-506E-3EF9-5F5E-28FE3825C180}"/>
                </a:ext>
              </a:extLst>
            </p:cNvPr>
            <p:cNvSpPr txBox="1"/>
            <p:nvPr/>
          </p:nvSpPr>
          <p:spPr>
            <a:xfrm>
              <a:off x="4788529" y="3466586"/>
              <a:ext cx="558166" cy="369332"/>
            </a:xfrm>
            <a:prstGeom prst="rect">
              <a:avLst/>
            </a:prstGeom>
            <a:noFill/>
          </p:spPr>
          <p:txBody>
            <a:bodyPr wrap="none" rtlCol="0">
              <a:spAutoFit/>
            </a:bodyPr>
            <a:lstStyle/>
            <a:p>
              <a:r>
                <a:rPr lang="en-US" dirty="0"/>
                <a:t>&lt; /&gt;</a:t>
              </a:r>
            </a:p>
          </p:txBody>
        </p:sp>
      </p:grpSp>
      <p:grpSp>
        <p:nvGrpSpPr>
          <p:cNvPr id="68" name="Group 67">
            <a:extLst>
              <a:ext uri="{FF2B5EF4-FFF2-40B4-BE49-F238E27FC236}">
                <a16:creationId xmlns:a16="http://schemas.microsoft.com/office/drawing/2014/main" id="{1D91D556-9C02-367C-A166-B9E82FF1B78F}"/>
              </a:ext>
            </a:extLst>
          </p:cNvPr>
          <p:cNvGrpSpPr/>
          <p:nvPr/>
        </p:nvGrpSpPr>
        <p:grpSpPr>
          <a:xfrm>
            <a:off x="713601" y="2091478"/>
            <a:ext cx="567771" cy="567771"/>
            <a:chOff x="3170126" y="1840119"/>
            <a:chExt cx="914400" cy="914400"/>
          </a:xfrm>
        </p:grpSpPr>
        <p:sp>
          <p:nvSpPr>
            <p:cNvPr id="69" name="Rectangle 29">
              <a:extLst>
                <a:ext uri="{FF2B5EF4-FFF2-40B4-BE49-F238E27FC236}">
                  <a16:creationId xmlns:a16="http://schemas.microsoft.com/office/drawing/2014/main" id="{284685E5-C477-D98B-ADF2-E82F3185F0DB}"/>
                </a:ext>
              </a:extLst>
            </p:cNvPr>
            <p:cNvSpPr/>
            <p:nvPr/>
          </p:nvSpPr>
          <p:spPr>
            <a:xfrm>
              <a:off x="3356658" y="1950334"/>
              <a:ext cx="555585" cy="664165"/>
            </a:xfrm>
            <a:custGeom>
              <a:avLst/>
              <a:gdLst>
                <a:gd name="connsiteX0" fmla="*/ 0 w 555585"/>
                <a:gd name="connsiteY0" fmla="*/ 0 h 664165"/>
                <a:gd name="connsiteX1" fmla="*/ 555585 w 555585"/>
                <a:gd name="connsiteY1" fmla="*/ 0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 name="connsiteX0" fmla="*/ 0 w 555585"/>
                <a:gd name="connsiteY0" fmla="*/ 0 h 664165"/>
                <a:gd name="connsiteX1" fmla="*/ 434051 w 555585"/>
                <a:gd name="connsiteY1" fmla="*/ 81022 h 664165"/>
                <a:gd name="connsiteX2" fmla="*/ 555585 w 555585"/>
                <a:gd name="connsiteY2" fmla="*/ 664165 h 664165"/>
                <a:gd name="connsiteX3" fmla="*/ 0 w 555585"/>
                <a:gd name="connsiteY3" fmla="*/ 664165 h 664165"/>
                <a:gd name="connsiteX4" fmla="*/ 0 w 555585"/>
                <a:gd name="connsiteY4" fmla="*/ 0 h 664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585" h="664165">
                  <a:moveTo>
                    <a:pt x="0" y="0"/>
                  </a:moveTo>
                  <a:cubicBezTo>
                    <a:pt x="144684" y="27007"/>
                    <a:pt x="306729" y="-3859"/>
                    <a:pt x="434051" y="81022"/>
                  </a:cubicBezTo>
                  <a:cubicBezTo>
                    <a:pt x="584521" y="275403"/>
                    <a:pt x="515074" y="469784"/>
                    <a:pt x="555585" y="664165"/>
                  </a:cubicBezTo>
                  <a:lnTo>
                    <a:pt x="0" y="664165"/>
                  </a:lnTo>
                  <a:lnTo>
                    <a:pt x="0" y="0"/>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0" name="Graphic 69" descr="Document with solid fill">
              <a:extLst>
                <a:ext uri="{FF2B5EF4-FFF2-40B4-BE49-F238E27FC236}">
                  <a16:creationId xmlns:a16="http://schemas.microsoft.com/office/drawing/2014/main" id="{53BD0D5D-D4BC-93BA-5EB4-C2F4EC1B05C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70126" y="1840119"/>
              <a:ext cx="914400" cy="914400"/>
            </a:xfrm>
            <a:prstGeom prst="rect">
              <a:avLst/>
            </a:prstGeom>
          </p:spPr>
        </p:pic>
      </p:grpSp>
    </p:spTree>
    <p:extLst>
      <p:ext uri="{BB962C8B-B14F-4D97-AF65-F5344CB8AC3E}">
        <p14:creationId xmlns:p14="http://schemas.microsoft.com/office/powerpoint/2010/main" val="4014614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par>
                          <p:cTn id="31" fill="hold">
                            <p:stCondLst>
                              <p:cond delay="500"/>
                            </p:stCondLst>
                            <p:childTnLst>
                              <p:par>
                                <p:cTn id="32" presetID="1" presetClass="entr" presetSubtype="0" fill="hold" nodeType="afterEffect">
                                  <p:stCondLst>
                                    <p:cond delay="0"/>
                                  </p:stCondLst>
                                  <p:childTnLst>
                                    <p:set>
                                      <p:cBhvr>
                                        <p:cTn id="33" dur="1" fill="hold">
                                          <p:stCondLst>
                                            <p:cond delay="0"/>
                                          </p:stCondLst>
                                        </p:cTn>
                                        <p:tgtEl>
                                          <p:spTgt spid="5"/>
                                        </p:tgtEl>
                                        <p:attrNameLst>
                                          <p:attrName>style.visibility</p:attrName>
                                        </p:attrNameLst>
                                      </p:cBhvr>
                                      <p:to>
                                        <p:strVal val="visible"/>
                                      </p:to>
                                    </p:set>
                                  </p:childTnLst>
                                </p:cTn>
                              </p:par>
                            </p:childTnLst>
                          </p:cTn>
                        </p:par>
                        <p:par>
                          <p:cTn id="34" fill="hold">
                            <p:stCondLst>
                              <p:cond delay="500"/>
                            </p:stCondLst>
                            <p:childTnLst>
                              <p:par>
                                <p:cTn id="35" presetID="1" presetClass="entr" presetSubtype="0" fill="hold" grpId="0" nodeType="after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wipe(left)">
                                      <p:cBhvr>
                                        <p:cTn id="45" dur="500"/>
                                        <p:tgtEl>
                                          <p:spTgt spid="18"/>
                                        </p:tgtEl>
                                      </p:cBhvr>
                                    </p:animEffect>
                                  </p:childTnLst>
                                </p:cTn>
                              </p:par>
                            </p:childTnLst>
                          </p:cTn>
                        </p:par>
                        <p:par>
                          <p:cTn id="46" fill="hold">
                            <p:stCondLst>
                              <p:cond delay="500"/>
                            </p:stCondLst>
                            <p:childTnLst>
                              <p:par>
                                <p:cTn id="47" presetID="1" presetClass="entr" presetSubtype="0" fill="hold" nodeType="after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par>
                          <p:cTn id="49" fill="hold">
                            <p:stCondLst>
                              <p:cond delay="500"/>
                            </p:stCondLst>
                            <p:childTnLst>
                              <p:par>
                                <p:cTn id="50" presetID="1" presetClass="entr" presetSubtype="0" fill="hold" grpId="0" nodeType="afterEffect">
                                  <p:stCondLst>
                                    <p:cond delay="0"/>
                                  </p:stCondLst>
                                  <p:childTnLst>
                                    <p:set>
                                      <p:cBhvr>
                                        <p:cTn id="51" dur="1" fill="hold">
                                          <p:stCondLst>
                                            <p:cond delay="0"/>
                                          </p:stCondLst>
                                        </p:cTn>
                                        <p:tgtEl>
                                          <p:spTgt spid="12"/>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44"/>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50"/>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56"/>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wipe(left)">
                                      <p:cBhvr>
                                        <p:cTn id="64" dur="500"/>
                                        <p:tgtEl>
                                          <p:spTgt spid="17"/>
                                        </p:tgtEl>
                                      </p:cBhvr>
                                    </p:animEffect>
                                  </p:childTnLst>
                                </p:cTn>
                              </p:par>
                            </p:childTnLst>
                          </p:cTn>
                        </p:par>
                        <p:par>
                          <p:cTn id="65" fill="hold">
                            <p:stCondLst>
                              <p:cond delay="500"/>
                            </p:stCondLst>
                            <p:childTnLst>
                              <p:par>
                                <p:cTn id="66" presetID="1" presetClass="entr" presetSubtype="0" fill="hold" nodeType="afterEffect">
                                  <p:stCondLst>
                                    <p:cond delay="0"/>
                                  </p:stCondLst>
                                  <p:childTnLst>
                                    <p:set>
                                      <p:cBhvr>
                                        <p:cTn id="67" dur="1" fill="hold">
                                          <p:stCondLst>
                                            <p:cond delay="0"/>
                                          </p:stCondLst>
                                        </p:cTn>
                                        <p:tgtEl>
                                          <p:spTgt spid="9"/>
                                        </p:tgtEl>
                                        <p:attrNameLst>
                                          <p:attrName>style.visibility</p:attrName>
                                        </p:attrNameLst>
                                      </p:cBhvr>
                                      <p:to>
                                        <p:strVal val="visible"/>
                                      </p:to>
                                    </p:set>
                                  </p:childTnLst>
                                </p:cTn>
                              </p:par>
                            </p:childTnLst>
                          </p:cTn>
                        </p:par>
                        <p:par>
                          <p:cTn id="68" fill="hold">
                            <p:stCondLst>
                              <p:cond delay="500"/>
                            </p:stCondLst>
                            <p:childTnLst>
                              <p:par>
                                <p:cTn id="69" presetID="1" presetClass="entr" presetSubtype="0" fill="hold" grpId="0" nodeType="afterEffect">
                                  <p:stCondLst>
                                    <p:cond delay="0"/>
                                  </p:stCondLst>
                                  <p:childTnLst>
                                    <p:set>
                                      <p:cBhvr>
                                        <p:cTn id="70" dur="1" fill="hold">
                                          <p:stCondLst>
                                            <p:cond delay="0"/>
                                          </p:stCondLst>
                                        </p:cTn>
                                        <p:tgtEl>
                                          <p:spTgt spid="1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wipe(left)">
                                      <p:cBhvr>
                                        <p:cTn id="79" dur="500"/>
                                        <p:tgtEl>
                                          <p:spTgt spid="19"/>
                                        </p:tgtEl>
                                      </p:cBhvr>
                                    </p:animEffect>
                                  </p:childTnLst>
                                </p:cTn>
                              </p:par>
                            </p:childTnLst>
                          </p:cTn>
                        </p:par>
                        <p:par>
                          <p:cTn id="80" fill="hold">
                            <p:stCondLst>
                              <p:cond delay="500"/>
                            </p:stCondLst>
                            <p:childTnLst>
                              <p:par>
                                <p:cTn id="81" presetID="1" presetClass="entr" presetSubtype="0" fill="hold" nodeType="afterEffect">
                                  <p:stCondLst>
                                    <p:cond delay="0"/>
                                  </p:stCondLst>
                                  <p:childTnLst>
                                    <p:set>
                                      <p:cBhvr>
                                        <p:cTn id="82" dur="1" fill="hold">
                                          <p:stCondLst>
                                            <p:cond delay="0"/>
                                          </p:stCondLst>
                                        </p:cTn>
                                        <p:tgtEl>
                                          <p:spTgt spid="13"/>
                                        </p:tgtEl>
                                        <p:attrNameLst>
                                          <p:attrName>style.visibility</p:attrName>
                                        </p:attrNameLst>
                                      </p:cBhvr>
                                      <p:to>
                                        <p:strVal val="visible"/>
                                      </p:to>
                                    </p:set>
                                  </p:childTnLst>
                                </p:cTn>
                              </p:par>
                            </p:childTnLst>
                          </p:cTn>
                        </p:par>
                        <p:par>
                          <p:cTn id="83" fill="hold">
                            <p:stCondLst>
                              <p:cond delay="500"/>
                            </p:stCondLst>
                            <p:childTnLst>
                              <p:par>
                                <p:cTn id="84" presetID="1" presetClass="entr" presetSubtype="0" fill="hold" grpId="0" nodeType="afterEffect">
                                  <p:stCondLst>
                                    <p:cond delay="0"/>
                                  </p:stCondLst>
                                  <p:childTnLst>
                                    <p:set>
                                      <p:cBhvr>
                                        <p:cTn id="85"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2" grpId="0"/>
      <p:bldP spid="14" grpId="0"/>
      <p:bldP spid="15" grpId="0" animBg="1"/>
      <p:bldP spid="16" grpId="0" animBg="1"/>
      <p:bldP spid="17" grpId="0" animBg="1"/>
      <p:bldP spid="18" grpId="0" animBg="1"/>
      <p:bldP spid="19"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A9D071E9-1886-4EB3-B517-57EE3BACB16F}"/>
              </a:ext>
            </a:extLst>
          </p:cNvPr>
          <p:cNvSpPr>
            <a:spLocks noGrp="1"/>
          </p:cNvSpPr>
          <p:nvPr>
            <p:ph type="sldNum" sz="quarter" idx="20"/>
          </p:nvPr>
        </p:nvSpPr>
        <p:spPr/>
        <p:txBody>
          <a:bodyPr/>
          <a:lstStyle/>
          <a:p>
            <a:fld id="{B23121D6-781A-4B6C-8D9B-3A8188A614AE}" type="slidenum">
              <a:rPr lang="en-US" smtClean="0"/>
              <a:t>79</a:t>
            </a:fld>
            <a:endParaRPr lang="en-US"/>
          </a:p>
        </p:txBody>
      </p:sp>
      <p:sp>
        <p:nvSpPr>
          <p:cNvPr id="2" name="Title 1">
            <a:extLst>
              <a:ext uri="{FF2B5EF4-FFF2-40B4-BE49-F238E27FC236}">
                <a16:creationId xmlns:a16="http://schemas.microsoft.com/office/drawing/2014/main" id="{9B11474D-3771-4F25-8A94-0EF301AE2062}"/>
              </a:ext>
            </a:extLst>
          </p:cNvPr>
          <p:cNvSpPr>
            <a:spLocks noGrp="1"/>
          </p:cNvSpPr>
          <p:nvPr>
            <p:ph type="title"/>
          </p:nvPr>
        </p:nvSpPr>
        <p:spPr/>
        <p:txBody>
          <a:bodyPr/>
          <a:lstStyle/>
          <a:p>
            <a:r>
              <a:rPr lang="en-US"/>
              <a:t>Thank you</a:t>
            </a:r>
          </a:p>
        </p:txBody>
      </p:sp>
      <p:sp>
        <p:nvSpPr>
          <p:cNvPr id="6" name="Text Placeholder 5">
            <a:extLst>
              <a:ext uri="{FF2B5EF4-FFF2-40B4-BE49-F238E27FC236}">
                <a16:creationId xmlns:a16="http://schemas.microsoft.com/office/drawing/2014/main" id="{37D19DB1-8CC4-4D1C-8D48-67540AF80AAD}"/>
              </a:ext>
            </a:extLst>
          </p:cNvPr>
          <p:cNvSpPr>
            <a:spLocks noGrp="1"/>
          </p:cNvSpPr>
          <p:nvPr>
            <p:ph type="body" sz="quarter" idx="21"/>
          </p:nvPr>
        </p:nvSpPr>
        <p:spPr>
          <a:xfrm>
            <a:off x="2551176" y="5212079"/>
            <a:ext cx="9637776" cy="400110"/>
          </a:xfrm>
        </p:spPr>
        <p:txBody>
          <a:bodyPr/>
          <a:lstStyle/>
          <a:p>
            <a:r>
              <a:rPr lang="en-US"/>
              <a:t>All </a:t>
            </a:r>
            <a:r>
              <a:rPr lang="en-US" dirty="0"/>
              <a:t>trademarks are the property of their owners.</a:t>
            </a:r>
          </a:p>
        </p:txBody>
      </p:sp>
    </p:spTree>
    <p:custDataLst>
      <p:tags r:id="rId1"/>
    </p:custDataLst>
    <p:extLst>
      <p:ext uri="{BB962C8B-B14F-4D97-AF65-F5344CB8AC3E}">
        <p14:creationId xmlns:p14="http://schemas.microsoft.com/office/powerpoint/2010/main" val="334409720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4_TC-2022-ONEBRAND" val="0csGKSIY"/>
  <p:tag name="ARTICULATE_SLIDE_COUNT" val="67"/>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4_TC-2022-OneBrand">
  <a:themeElements>
    <a:clrScheme name="AWS Light 01">
      <a:dk1>
        <a:sysClr val="windowText" lastClr="000000"/>
      </a:dk1>
      <a:lt1>
        <a:sysClr val="window" lastClr="FFFFFF"/>
      </a:lt1>
      <a:dk2>
        <a:srgbClr val="232F3E"/>
      </a:dk2>
      <a:lt2>
        <a:srgbClr val="F1F3F3"/>
      </a:lt2>
      <a:accent1>
        <a:srgbClr val="00464F"/>
      </a:accent1>
      <a:accent2>
        <a:srgbClr val="36C2B4"/>
      </a:accent2>
      <a:accent3>
        <a:srgbClr val="F1F3F3"/>
      </a:accent3>
      <a:accent4>
        <a:srgbClr val="ADE422"/>
      </a:accent4>
      <a:accent5>
        <a:srgbClr val="C9208A"/>
      </a:accent5>
      <a:accent6>
        <a:srgbClr val="504BAB"/>
      </a:accent6>
      <a:hlink>
        <a:srgbClr val="504BAB"/>
      </a:hlink>
      <a:folHlink>
        <a:srgbClr val="504BAB"/>
      </a:folHlink>
    </a:clrScheme>
    <a:fontScheme name="Custom 1">
      <a:majorFont>
        <a:latin typeface="Amazon Ember Heavy"/>
        <a:ea typeface=""/>
        <a:cs typeface=""/>
      </a:majorFont>
      <a:minorFont>
        <a:latin typeface="Amazon Ember"/>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lum">
      <a:srgbClr val="262262"/>
    </a:custClr>
    <a:custClr name="Plum-Medium">
      <a:srgbClr val="504BAB"/>
    </a:custClr>
    <a:custClr name="Plum-Bright">
      <a:srgbClr val="7E93EE"/>
    </a:custClr>
    <a:custClr name="Berry">
      <a:srgbClr val="9E1F63"/>
    </a:custClr>
    <a:custClr name="Berry-Medium">
      <a:srgbClr val="C9208A"/>
    </a:custClr>
    <a:custClr name="Berry-Bright">
      <a:srgbClr val="FF99FF"/>
    </a:custClr>
    <a:custClr name="AWS Orange">
      <a:srgbClr val="FF6633"/>
    </a:custClr>
    <a:custClr name="Smile">
      <a:srgbClr val="FF9900"/>
    </a:custClr>
    <a:custClr name="AWS Yellow">
      <a:srgbClr val="F3E502"/>
    </a:custClr>
    <a:custClr name="Green Apple">
      <a:srgbClr val="18AB4B"/>
    </a:custClr>
    <a:custClr name="Green Apple-Medium">
      <a:srgbClr val="ADE422"/>
    </a:custClr>
    <a:custClr name="Green Apple-Bright">
      <a:srgbClr val="E4FDBF"/>
    </a:custClr>
    <a:custClr name="Aqua">
      <a:srgbClr val="00464F"/>
    </a:custClr>
    <a:custClr name="Aqua-Medium">
      <a:srgbClr val="36C2B4"/>
    </a:custClr>
    <a:custClr name="Aqua-Bright">
      <a:srgbClr val="A6E7CE"/>
    </a:custClr>
    <a:custClr name="Sea Blue">
      <a:srgbClr val="005276"/>
    </a:custClr>
    <a:custClr name="Sea Blue-Medium">
      <a:srgbClr val="008296"/>
    </a:custClr>
    <a:custClr name="Sea Blue-Bright">
      <a:srgbClr val="7CD1EA"/>
    </a:custClr>
    <a:custClr name="Squid Ink">
      <a:srgbClr val="232F3E"/>
    </a:custClr>
    <a:custClr name="Stone">
      <a:srgbClr val="D4DADA"/>
    </a:custClr>
    <a:custClr name="Paper">
      <a:srgbClr val="F1F3F3"/>
    </a:custClr>
  </a:custClrLst>
  <a:extLst>
    <a:ext uri="{05A4C25C-085E-4340-85A3-A5531E510DB2}">
      <thm15:themeFamily xmlns:thm15="http://schemas.microsoft.com/office/thememl/2012/main" name="TC OneBrand Template.potx" id="{8954FABC-D5B5-44EC-B821-8FEC440C779C}" vid="{BC45DC1F-5B79-46F6-A8BD-962AD48C18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EB30683A6882D4798A1183E2061AB2B" ma:contentTypeVersion="6" ma:contentTypeDescription="Create a new document." ma:contentTypeScope="" ma:versionID="846e12e389a6305cd5a8a7fb8804a237">
  <xsd:schema xmlns:xsd="http://www.w3.org/2001/XMLSchema" xmlns:xs="http://www.w3.org/2001/XMLSchema" xmlns:p="http://schemas.microsoft.com/office/2006/metadata/properties" xmlns:ns2="3203751e-7f26-4ef4-9d45-82e84d52b1db" targetNamespace="http://schemas.microsoft.com/office/2006/metadata/properties" ma:root="true" ma:fieldsID="5ffe97e181145ec81612676624bca40f" ns2:_="">
    <xsd:import namespace="3203751e-7f26-4ef4-9d45-82e84d52b1d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03751e-7f26-4ef4-9d45-82e84d52b1d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1507056-CAA4-4785-A519-2D6E82754C98}">
  <ds:schemaRefs>
    <ds:schemaRef ds:uri="http://schemas.microsoft.com/sharepoint/v3/contenttype/forms"/>
  </ds:schemaRefs>
</ds:datastoreItem>
</file>

<file path=customXml/itemProps2.xml><?xml version="1.0" encoding="utf-8"?>
<ds:datastoreItem xmlns:ds="http://schemas.openxmlformats.org/officeDocument/2006/customXml" ds:itemID="{8C0752BD-F26E-41FF-9FB5-6A9780D93A83}">
  <ds:schemaRefs>
    <ds:schemaRef ds:uri="http://schemas.openxmlformats.org/package/2006/metadata/core-properties"/>
    <ds:schemaRef ds:uri="http://schemas.microsoft.com/office/2006/documentManagement/types"/>
    <ds:schemaRef ds:uri="http://purl.org/dc/terms/"/>
    <ds:schemaRef ds:uri="3203751e-7f26-4ef4-9d45-82e84d52b1db"/>
    <ds:schemaRef ds:uri="http://schemas.microsoft.com/office/2006/metadata/properties"/>
    <ds:schemaRef ds:uri="http://purl.org/dc/elements/1.1/"/>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15031036-21FA-4572-951E-F15692D3DBCC}">
  <ds:schemaRefs>
    <ds:schemaRef ds:uri="3203751e-7f26-4ef4-9d45-82e84d52b1d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TC OneBrand Template</Template>
  <TotalTime>112</TotalTime>
  <Words>12965</Words>
  <Application>Microsoft Macintosh PowerPoint</Application>
  <PresentationFormat>Widescreen</PresentationFormat>
  <Paragraphs>976</Paragraphs>
  <Slides>79</Slides>
  <Notes>75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79</vt:i4>
      </vt:variant>
    </vt:vector>
  </HeadingPairs>
  <TitlesOfParts>
    <vt:vector size="88" baseType="lpstr">
      <vt:lpstr>Amazon Ember</vt:lpstr>
      <vt:lpstr>Amazon Ember Heavy</vt:lpstr>
      <vt:lpstr>Amazon Ember Light</vt:lpstr>
      <vt:lpstr>Amazon Ember Medium</vt:lpstr>
      <vt:lpstr>Arial</vt:lpstr>
      <vt:lpstr>Calibri</vt:lpstr>
      <vt:lpstr>Lucida Console</vt:lpstr>
      <vt:lpstr>Wingdings</vt:lpstr>
      <vt:lpstr>4_TC-2022-OneBrand</vt:lpstr>
      <vt:lpstr>Module 9: Cloud Architecture</vt:lpstr>
      <vt:lpstr>Module overview</vt:lpstr>
      <vt:lpstr>Module objectives</vt:lpstr>
      <vt:lpstr>Section 1: AWS Well-Architected Framework</vt:lpstr>
      <vt:lpstr>Architecture: designing and building</vt:lpstr>
      <vt:lpstr>What is the AWS Well-Architected Framework?</vt:lpstr>
      <vt:lpstr>Pillars of the AWS Well-Architected Framework</vt:lpstr>
      <vt:lpstr>Pillar organization</vt:lpstr>
      <vt:lpstr>Operational Excellence pillar</vt:lpstr>
      <vt:lpstr>Operational Excellence pillar – deliver business value</vt:lpstr>
      <vt:lpstr>Operational excellence design principles </vt:lpstr>
      <vt:lpstr>Operational excellence questions</vt:lpstr>
      <vt:lpstr>Security pillar</vt:lpstr>
      <vt:lpstr>Security pillar – protect and monitor systems</vt:lpstr>
      <vt:lpstr>Security design principles</vt:lpstr>
      <vt:lpstr>Security questions</vt:lpstr>
      <vt:lpstr>Reliability pillar</vt:lpstr>
      <vt:lpstr>Reliability pillar – recover from failure and mitigate disruption</vt:lpstr>
      <vt:lpstr>Reliability design principles</vt:lpstr>
      <vt:lpstr>Reliability questions</vt:lpstr>
      <vt:lpstr>Performance Efficiency pillar</vt:lpstr>
      <vt:lpstr>Performance Efficiency pillar – use resources sparingly</vt:lpstr>
      <vt:lpstr>Performance efficiency design principles</vt:lpstr>
      <vt:lpstr>Performance efficiency questions</vt:lpstr>
      <vt:lpstr>Cost Optimization pillar</vt:lpstr>
      <vt:lpstr>Cost Optimization pillar – eliminate unneeded expense</vt:lpstr>
      <vt:lpstr>Cost optimization design principles</vt:lpstr>
      <vt:lpstr>Cost optimization questions</vt:lpstr>
      <vt:lpstr>The AWS Well-Architected Tool</vt:lpstr>
      <vt:lpstr>Section 1 key takeaways</vt:lpstr>
      <vt:lpstr>Section 2: Reliability and availability</vt:lpstr>
      <vt:lpstr> “Everything fails, all the time.”       Werner Vogels, CTO, Amazon.com</vt:lpstr>
      <vt:lpstr>Reliability</vt:lpstr>
      <vt:lpstr>Understanding reliability metrics</vt:lpstr>
      <vt:lpstr>Availability</vt:lpstr>
      <vt:lpstr>High availability</vt:lpstr>
      <vt:lpstr>Availability tiers</vt:lpstr>
      <vt:lpstr>Factors that influence availability</vt:lpstr>
      <vt:lpstr>Section 2 key takeaways</vt:lpstr>
      <vt:lpstr>Section 3: AWS Trusted Advisor</vt:lpstr>
      <vt:lpstr>AWS Trusted Advisor</vt:lpstr>
      <vt:lpstr>Activity: Interpret AWS Trusted Advisor recommendations</vt:lpstr>
      <vt:lpstr>Section 3 key takeaways</vt:lpstr>
      <vt:lpstr>Module wrap-up</vt:lpstr>
      <vt:lpstr>Module summary </vt:lpstr>
      <vt:lpstr>Module 10: Automatic Scaling and Monitoring</vt:lpstr>
      <vt:lpstr>Module overview</vt:lpstr>
      <vt:lpstr>Module objectives</vt:lpstr>
      <vt:lpstr>Section 1: Elastic Load Balancing</vt:lpstr>
      <vt:lpstr>Elastic Load Balancing</vt:lpstr>
      <vt:lpstr>Types of load balancers</vt:lpstr>
      <vt:lpstr>Application Load Balancer</vt:lpstr>
      <vt:lpstr>Network Load Balancer</vt:lpstr>
      <vt:lpstr>Classic Load Balancer</vt:lpstr>
      <vt:lpstr>How Elastic Load Balancing works</vt:lpstr>
      <vt:lpstr>Elastic Load Balancing use cases</vt:lpstr>
      <vt:lpstr>Load balancer monitoring</vt:lpstr>
      <vt:lpstr>Section 1 key takeaways</vt:lpstr>
      <vt:lpstr>Section 2: Amazon CloudWatch</vt:lpstr>
      <vt:lpstr>Monitoring AWS resources</vt:lpstr>
      <vt:lpstr>Amazon CloudWatch</vt:lpstr>
      <vt:lpstr>CloudWatch alarms</vt:lpstr>
      <vt:lpstr>Section 2 key takeaways</vt:lpstr>
      <vt:lpstr>Section 3: Amazon EC2 Auto Scaling</vt:lpstr>
      <vt:lpstr>Why is scaling important?</vt:lpstr>
      <vt:lpstr>Amazon EC2 Auto Scaling</vt:lpstr>
      <vt:lpstr>Typical weekly traffic at Amazon.com</vt:lpstr>
      <vt:lpstr>November traffic to Amazon.com</vt:lpstr>
      <vt:lpstr>Auto Scaling groups</vt:lpstr>
      <vt:lpstr>Scaling out versus scaling in</vt:lpstr>
      <vt:lpstr>How Amazon EC2 Auto Scaling works</vt:lpstr>
      <vt:lpstr>Implementing dynamic scaling</vt:lpstr>
      <vt:lpstr>AWS Auto Scaling</vt:lpstr>
      <vt:lpstr>Section 3 key takeaways</vt:lpstr>
      <vt:lpstr>Module wrap-up</vt:lpstr>
      <vt:lpstr>Module summary                                                     </vt:lpstr>
      <vt:lpstr>Final Project</vt:lpstr>
      <vt:lpstr>Our “Pipeline”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Title</dc:title>
  <dc:creator>Stading, Katrina</dc:creator>
  <cp:lastModifiedBy>Rob Elliott</cp:lastModifiedBy>
  <cp:revision>2</cp:revision>
  <dcterms:created xsi:type="dcterms:W3CDTF">2022-03-28T19:31:41Z</dcterms:created>
  <dcterms:modified xsi:type="dcterms:W3CDTF">2025-10-06T16:41:13Z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F165A876-8CAE-4A38-BCA6-3F02F794F0E7</vt:lpwstr>
  </property>
  <property fmtid="{D5CDD505-2E9C-101B-9397-08002B2CF9AE}" pid="3" name="ArticulatePath">
    <vt:lpwstr>Presentation1</vt:lpwstr>
  </property>
  <property fmtid="{D5CDD505-2E9C-101B-9397-08002B2CF9AE}" pid="4" name="ContentTypeId">
    <vt:lpwstr>0x0101004EB30683A6882D4798A1183E2061AB2B</vt:lpwstr>
  </property>
</Properties>
</file>