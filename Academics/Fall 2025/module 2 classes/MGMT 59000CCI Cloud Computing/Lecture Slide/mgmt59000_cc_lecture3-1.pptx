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2.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61.xml" ContentType="application/vnd.openxmlformats-officedocument.presentationml.tags+xml"/>
  <Override PartName="/ppt/notesSlides/notesSlide1.xml" ContentType="application/vnd.openxmlformats-officedocument.presentationml.notesSlide+xml"/>
  <Override PartName="/ppt/tags/tag6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3.xml" ContentType="application/vnd.openxmlformats-officedocument.presentationml.tags+xml"/>
  <Override PartName="/ppt/notesSlides/notesSlide4.xml" ContentType="application/vnd.openxmlformats-officedocument.presentationml.notesSlide+xml"/>
  <Override PartName="/ppt/tags/tag64.xml" ContentType="application/vnd.openxmlformats-officedocument.presentationml.tags+xml"/>
  <Override PartName="/ppt/notesSlides/notesSlide5.xml" ContentType="application/vnd.openxmlformats-officedocument.presentationml.notesSlide+xml"/>
  <Override PartName="/ppt/tags/tag65.xml" ContentType="application/vnd.openxmlformats-officedocument.presentationml.tags+xml"/>
  <Override PartName="/ppt/notesSlides/notesSlide6.xml" ContentType="application/vnd.openxmlformats-officedocument.presentationml.notesSlide+xml"/>
  <Override PartName="/ppt/tags/tag66.xml" ContentType="application/vnd.openxmlformats-officedocument.presentationml.tags+xml"/>
  <Override PartName="/ppt/notesSlides/notesSlide7.xml" ContentType="application/vnd.openxmlformats-officedocument.presentationml.notesSlide+xml"/>
  <Override PartName="/ppt/tags/tag67.xml" ContentType="application/vnd.openxmlformats-officedocument.presentationml.tags+xml"/>
  <Override PartName="/ppt/notesSlides/notesSlide8.xml" ContentType="application/vnd.openxmlformats-officedocument.presentationml.notesSlide+xml"/>
  <Override PartName="/ppt/tags/tag6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69.xml" ContentType="application/vnd.openxmlformats-officedocument.presentationml.tags+xml"/>
  <Override PartName="/ppt/notesSlides/notesSlide11.xml" ContentType="application/vnd.openxmlformats-officedocument.presentationml.notesSlide+xml"/>
  <Override PartName="/ppt/tags/tag70.xml" ContentType="application/vnd.openxmlformats-officedocument.presentationml.tags+xml"/>
  <Override PartName="/ppt/notesSlides/notesSlide12.xml" ContentType="application/vnd.openxmlformats-officedocument.presentationml.notesSlide+xml"/>
  <Override PartName="/ppt/tags/tag71.xml" ContentType="application/vnd.openxmlformats-officedocument.presentationml.tags+xml"/>
  <Override PartName="/ppt/notesSlides/notesSlide13.xml" ContentType="application/vnd.openxmlformats-officedocument.presentationml.notesSlide+xml"/>
  <Override PartName="/ppt/tags/tag72.xml" ContentType="application/vnd.openxmlformats-officedocument.presentationml.tags+xml"/>
  <Override PartName="/ppt/notesSlides/notesSlide14.xml" ContentType="application/vnd.openxmlformats-officedocument.presentationml.notesSlide+xml"/>
  <Override PartName="/ppt/tags/tag73.xml" ContentType="application/vnd.openxmlformats-officedocument.presentationml.tags+xml"/>
  <Override PartName="/ppt/notesSlides/notesSlide15.xml" ContentType="application/vnd.openxmlformats-officedocument.presentationml.notesSlide+xml"/>
  <Override PartName="/ppt/tags/tag74.xml" ContentType="application/vnd.openxmlformats-officedocument.presentationml.tags+xml"/>
  <Override PartName="/ppt/notesSlides/notesSlide16.xml" ContentType="application/vnd.openxmlformats-officedocument.presentationml.notesSlide+xml"/>
  <Override PartName="/ppt/tags/tag75.xml" ContentType="application/vnd.openxmlformats-officedocument.presentationml.tags+xml"/>
  <Override PartName="/ppt/notesSlides/notesSlide17.xml" ContentType="application/vnd.openxmlformats-officedocument.presentationml.notesSlide+xml"/>
  <Override PartName="/ppt/tags/tag76.xml" ContentType="application/vnd.openxmlformats-officedocument.presentationml.tags+xml"/>
  <Override PartName="/ppt/notesSlides/notesSlide18.xml" ContentType="application/vnd.openxmlformats-officedocument.presentationml.notesSlide+xml"/>
  <Override PartName="/ppt/tags/tag77.xml" ContentType="application/vnd.openxmlformats-officedocument.presentationml.tags+xml"/>
  <Override PartName="/ppt/notesSlides/notesSlide19.xml" ContentType="application/vnd.openxmlformats-officedocument.presentationml.notesSlide+xml"/>
  <Override PartName="/ppt/tags/tag78.xml" ContentType="application/vnd.openxmlformats-officedocument.presentationml.tags+xml"/>
  <Override PartName="/ppt/notesSlides/notesSlide20.xml" ContentType="application/vnd.openxmlformats-officedocument.presentationml.notesSlide+xml"/>
  <Override PartName="/ppt/tags/tag79.xml" ContentType="application/vnd.openxmlformats-officedocument.presentationml.tags+xml"/>
  <Override PartName="/ppt/notesSlides/notesSlide21.xml" ContentType="application/vnd.openxmlformats-officedocument.presentationml.notesSlide+xml"/>
  <Override PartName="/ppt/tags/tag80.xml" ContentType="application/vnd.openxmlformats-officedocument.presentationml.tags+xml"/>
  <Override PartName="/ppt/notesSlides/notesSlide22.xml" ContentType="application/vnd.openxmlformats-officedocument.presentationml.notesSlide+xml"/>
  <Override PartName="/ppt/tags/tag81.xml" ContentType="application/vnd.openxmlformats-officedocument.presentationml.tags+xml"/>
  <Override PartName="/ppt/notesSlides/notesSlide23.xml" ContentType="application/vnd.openxmlformats-officedocument.presentationml.notesSlide+xml"/>
  <Override PartName="/ppt/tags/tag82.xml" ContentType="application/vnd.openxmlformats-officedocument.presentationml.tags+xml"/>
  <Override PartName="/ppt/notesSlides/notesSlide24.xml" ContentType="application/vnd.openxmlformats-officedocument.presentationml.notesSlide+xml"/>
  <Override PartName="/ppt/tags/tag83.xml" ContentType="application/vnd.openxmlformats-officedocument.presentationml.tags+xml"/>
  <Override PartName="/ppt/notesSlides/notesSlide25.xml" ContentType="application/vnd.openxmlformats-officedocument.presentationml.notesSlide+xml"/>
  <Override PartName="/ppt/tags/tag84.xml" ContentType="application/vnd.openxmlformats-officedocument.presentationml.tags+xml"/>
  <Override PartName="/ppt/notesSlides/notesSlide26.xml" ContentType="application/vnd.openxmlformats-officedocument.presentationml.notesSlide+xml"/>
  <Override PartName="/ppt/tags/tag85.xml" ContentType="application/vnd.openxmlformats-officedocument.presentationml.tags+xml"/>
  <Override PartName="/ppt/notesSlides/notesSlide27.xml" ContentType="application/vnd.openxmlformats-officedocument.presentationml.notesSlide+xml"/>
  <Override PartName="/ppt/tags/tag86.xml" ContentType="application/vnd.openxmlformats-officedocument.presentationml.tags+xml"/>
  <Override PartName="/ppt/notesSlides/notesSlide28.xml" ContentType="application/vnd.openxmlformats-officedocument.presentationml.notesSlide+xml"/>
  <Override PartName="/ppt/tags/tag87.xml" ContentType="application/vnd.openxmlformats-officedocument.presentationml.tags+xml"/>
  <Override PartName="/ppt/notesSlides/notesSlide29.xml" ContentType="application/vnd.openxmlformats-officedocument.presentationml.notesSlide+xml"/>
  <Override PartName="/ppt/tags/tag88.xml" ContentType="application/vnd.openxmlformats-officedocument.presentationml.tags+xml"/>
  <Override PartName="/ppt/notesSlides/notesSlide30.xml" ContentType="application/vnd.openxmlformats-officedocument.presentationml.notesSlide+xml"/>
  <Override PartName="/ppt/tags/tag89.xml" ContentType="application/vnd.openxmlformats-officedocument.presentationml.tags+xml"/>
  <Override PartName="/ppt/notesSlides/notesSlide31.xml" ContentType="application/vnd.openxmlformats-officedocument.presentationml.notesSlide+xml"/>
  <Override PartName="/ppt/tags/tag90.xml" ContentType="application/vnd.openxmlformats-officedocument.presentationml.tags+xml"/>
  <Override PartName="/ppt/notesSlides/notesSlide32.xml" ContentType="application/vnd.openxmlformats-officedocument.presentationml.notesSlide+xml"/>
  <Override PartName="/ppt/tags/tag91.xml" ContentType="application/vnd.openxmlformats-officedocument.presentationml.tags+xml"/>
  <Override PartName="/ppt/notesSlides/notesSlide33.xml" ContentType="application/vnd.openxmlformats-officedocument.presentationml.notesSlide+xml"/>
  <Override PartName="/ppt/tags/tag92.xml" ContentType="application/vnd.openxmlformats-officedocument.presentationml.tags+xml"/>
  <Override PartName="/ppt/notesSlides/notesSlide34.xml" ContentType="application/vnd.openxmlformats-officedocument.presentationml.notesSlide+xml"/>
  <Override PartName="/ppt/tags/tag93.xml" ContentType="application/vnd.openxmlformats-officedocument.presentationml.tags+xml"/>
  <Override PartName="/ppt/notesSlides/notesSlide35.xml" ContentType="application/vnd.openxmlformats-officedocument.presentationml.notesSlide+xml"/>
  <Override PartName="/ppt/tags/tag94.xml" ContentType="application/vnd.openxmlformats-officedocument.presentationml.tags+xml"/>
  <Override PartName="/ppt/notesSlides/notesSlide36.xml" ContentType="application/vnd.openxmlformats-officedocument.presentationml.notesSlide+xml"/>
  <Override PartName="/ppt/tags/tag95.xml" ContentType="application/vnd.openxmlformats-officedocument.presentationml.tags+xml"/>
  <Override PartName="/ppt/notesSlides/notesSlide37.xml" ContentType="application/vnd.openxmlformats-officedocument.presentationml.notesSlide+xml"/>
  <Override PartName="/ppt/tags/tag96.xml" ContentType="application/vnd.openxmlformats-officedocument.presentationml.tags+xml"/>
  <Override PartName="/ppt/notesSlides/notesSlide38.xml" ContentType="application/vnd.openxmlformats-officedocument.presentationml.notesSlide+xml"/>
  <Override PartName="/ppt/tags/tag97.xml" ContentType="application/vnd.openxmlformats-officedocument.presentationml.tags+xml"/>
  <Override PartName="/ppt/notesSlides/notesSlide39.xml" ContentType="application/vnd.openxmlformats-officedocument.presentationml.notesSlide+xml"/>
  <Override PartName="/ppt/tags/tag98.xml" ContentType="application/vnd.openxmlformats-officedocument.presentationml.tags+xml"/>
  <Override PartName="/ppt/notesSlides/notesSlide40.xml" ContentType="application/vnd.openxmlformats-officedocument.presentationml.notesSlide+xml"/>
  <Override PartName="/ppt/tags/tag99.xml" ContentType="application/vnd.openxmlformats-officedocument.presentationml.tags+xml"/>
  <Override PartName="/ppt/notesSlides/notesSlide41.xml" ContentType="application/vnd.openxmlformats-officedocument.presentationml.notesSlide+xml"/>
  <Override PartName="/ppt/tags/tag100.xml" ContentType="application/vnd.openxmlformats-officedocument.presentationml.tags+xml"/>
  <Override PartName="/ppt/notesSlides/notesSlide42.xml" ContentType="application/vnd.openxmlformats-officedocument.presentationml.notesSlide+xml"/>
  <Override PartName="/ppt/tags/tag101.xml" ContentType="application/vnd.openxmlformats-officedocument.presentationml.tags+xml"/>
  <Override PartName="/ppt/notesSlides/notesSlide43.xml" ContentType="application/vnd.openxmlformats-officedocument.presentationml.notesSlide+xml"/>
  <Override PartName="/ppt/tags/tag102.xml" ContentType="application/vnd.openxmlformats-officedocument.presentationml.tags+xml"/>
  <Override PartName="/ppt/notesSlides/notesSlide44.xml" ContentType="application/vnd.openxmlformats-officedocument.presentationml.notesSlide+xml"/>
  <Override PartName="/ppt/tags/tag103.xml" ContentType="application/vnd.openxmlformats-officedocument.presentationml.tags+xml"/>
  <Override PartName="/ppt/notesSlides/notesSlide45.xml" ContentType="application/vnd.openxmlformats-officedocument.presentationml.notesSlide+xml"/>
  <Override PartName="/ppt/tags/tag104.xml" ContentType="application/vnd.openxmlformats-officedocument.presentationml.tags+xml"/>
  <Override PartName="/ppt/notesSlides/notesSlide46.xml" ContentType="application/vnd.openxmlformats-officedocument.presentationml.notesSlide+xml"/>
  <Override PartName="/ppt/tags/tag105.xml" ContentType="application/vnd.openxmlformats-officedocument.presentationml.tags+xml"/>
  <Override PartName="/ppt/notesSlides/notesSlide47.xml" ContentType="application/vnd.openxmlformats-officedocument.presentationml.notesSlide+xml"/>
  <Override PartName="/ppt/tags/tag106.xml" ContentType="application/vnd.openxmlformats-officedocument.presentationml.tags+xml"/>
  <Override PartName="/ppt/notesSlides/notesSlide48.xml" ContentType="application/vnd.openxmlformats-officedocument.presentationml.notesSlide+xml"/>
  <Override PartName="/ppt/tags/tag107.xml" ContentType="application/vnd.openxmlformats-officedocument.presentationml.tags+xml"/>
  <Override PartName="/ppt/notesSlides/notesSlide49.xml" ContentType="application/vnd.openxmlformats-officedocument.presentationml.notesSlide+xml"/>
  <Override PartName="/ppt/tags/tag108.xml" ContentType="application/vnd.openxmlformats-officedocument.presentationml.tags+xml"/>
  <Override PartName="/ppt/notesSlides/notesSlide50.xml" ContentType="application/vnd.openxmlformats-officedocument.presentationml.notesSlide+xml"/>
  <Override PartName="/ppt/tags/tag109.xml" ContentType="application/vnd.openxmlformats-officedocument.presentationml.tags+xml"/>
  <Override PartName="/ppt/notesSlides/notesSlide51.xml" ContentType="application/vnd.openxmlformats-officedocument.presentationml.notesSlide+xml"/>
  <Override PartName="/ppt/tags/tag110.xml" ContentType="application/vnd.openxmlformats-officedocument.presentationml.tags+xml"/>
  <Override PartName="/ppt/notesSlides/notesSlide52.xml" ContentType="application/vnd.openxmlformats-officedocument.presentationml.notesSlide+xml"/>
  <Override PartName="/ppt/tags/tag111.xml" ContentType="application/vnd.openxmlformats-officedocument.presentationml.tags+xml"/>
  <Override PartName="/ppt/notesSlides/notesSlide53.xml" ContentType="application/vnd.openxmlformats-officedocument.presentationml.notesSlide+xml"/>
  <Override PartName="/ppt/tags/tag112.xml" ContentType="application/vnd.openxmlformats-officedocument.presentationml.tags+xml"/>
  <Override PartName="/ppt/notesSlides/notesSlide54.xml" ContentType="application/vnd.openxmlformats-officedocument.presentationml.notesSlide+xml"/>
  <Override PartName="/ppt/tags/tag113.xml" ContentType="application/vnd.openxmlformats-officedocument.presentationml.tags+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8" r:id="rId4"/>
    <p:sldMasterId id="2147484128" r:id="rId5"/>
  </p:sldMasterIdLst>
  <p:notesMasterIdLst>
    <p:notesMasterId r:id="rId62"/>
  </p:notesMasterIdLst>
  <p:handoutMasterIdLst>
    <p:handoutMasterId r:id="rId63"/>
  </p:handoutMasterIdLst>
  <p:sldIdLst>
    <p:sldId id="317" r:id="rId6"/>
    <p:sldId id="623" r:id="rId7"/>
    <p:sldId id="926" r:id="rId8"/>
    <p:sldId id="339" r:id="rId9"/>
    <p:sldId id="582" r:id="rId10"/>
    <p:sldId id="624" r:id="rId11"/>
    <p:sldId id="322" r:id="rId12"/>
    <p:sldId id="625" r:id="rId13"/>
    <p:sldId id="333" r:id="rId14"/>
    <p:sldId id="323" r:id="rId15"/>
    <p:sldId id="635" r:id="rId16"/>
    <p:sldId id="629" r:id="rId17"/>
    <p:sldId id="628" r:id="rId18"/>
    <p:sldId id="630" r:id="rId19"/>
    <p:sldId id="631" r:id="rId20"/>
    <p:sldId id="632" r:id="rId21"/>
    <p:sldId id="634" r:id="rId22"/>
    <p:sldId id="910" r:id="rId23"/>
    <p:sldId id="430" r:id="rId24"/>
    <p:sldId id="431" r:id="rId25"/>
    <p:sldId id="432" r:id="rId26"/>
    <p:sldId id="433" r:id="rId27"/>
    <p:sldId id="434" r:id="rId28"/>
    <p:sldId id="929" r:id="rId29"/>
    <p:sldId id="438" r:id="rId30"/>
    <p:sldId id="857" r:id="rId31"/>
    <p:sldId id="440" r:id="rId32"/>
    <p:sldId id="374" r:id="rId33"/>
    <p:sldId id="914" r:id="rId34"/>
    <p:sldId id="377" r:id="rId35"/>
    <p:sldId id="915" r:id="rId36"/>
    <p:sldId id="916" r:id="rId37"/>
    <p:sldId id="442" r:id="rId38"/>
    <p:sldId id="927" r:id="rId39"/>
    <p:sldId id="928" r:id="rId40"/>
    <p:sldId id="917" r:id="rId41"/>
    <p:sldId id="380" r:id="rId42"/>
    <p:sldId id="852" r:id="rId43"/>
    <p:sldId id="378" r:id="rId44"/>
    <p:sldId id="382" r:id="rId45"/>
    <p:sldId id="840" r:id="rId46"/>
    <p:sldId id="841" r:id="rId47"/>
    <p:sldId id="842" r:id="rId48"/>
    <p:sldId id="848" r:id="rId49"/>
    <p:sldId id="853" r:id="rId50"/>
    <p:sldId id="858" r:id="rId51"/>
    <p:sldId id="865" r:id="rId52"/>
    <p:sldId id="866" r:id="rId53"/>
    <p:sldId id="861" r:id="rId54"/>
    <p:sldId id="850" r:id="rId55"/>
    <p:sldId id="860" r:id="rId56"/>
    <p:sldId id="855" r:id="rId57"/>
    <p:sldId id="450" r:id="rId58"/>
    <p:sldId id="846" r:id="rId59"/>
    <p:sldId id="845" r:id="rId60"/>
    <p:sldId id="851" r:id="rId61"/>
  </p:sldIdLst>
  <p:sldSz cx="12192000" cy="6858000"/>
  <p:notesSz cx="7772400" cy="10058400"/>
  <p:custDataLst>
    <p:tags r:id="rId64"/>
  </p:custDataLst>
  <p:defaultTextStyle>
    <a:defPPr>
      <a:defRPr lang="en-US"/>
    </a:defPPr>
    <a:lvl1pPr marL="0" algn="l" defTabSz="228600" rtl="0" eaLnBrk="1" latinLnBrk="0" hangingPunct="1">
      <a:defRPr sz="1800" kern="1200">
        <a:solidFill>
          <a:schemeClr val="tx1"/>
        </a:solidFill>
        <a:latin typeface="+mn-lt"/>
        <a:ea typeface="+mn-ea"/>
        <a:cs typeface="+mn-cs"/>
      </a:defRPr>
    </a:lvl1pPr>
    <a:lvl2pPr marL="228600" algn="l" defTabSz="228600" rtl="0" eaLnBrk="1" latinLnBrk="0" hangingPunct="1">
      <a:defRPr sz="1800" kern="1200">
        <a:solidFill>
          <a:schemeClr val="tx1"/>
        </a:solidFill>
        <a:latin typeface="+mn-lt"/>
        <a:ea typeface="+mn-ea"/>
        <a:cs typeface="+mn-cs"/>
      </a:defRPr>
    </a:lvl2pPr>
    <a:lvl3pPr marL="457200" algn="l" defTabSz="228600" rtl="0" eaLnBrk="1" latinLnBrk="0" hangingPunct="1">
      <a:defRPr sz="1800" kern="1200">
        <a:solidFill>
          <a:schemeClr val="tx1"/>
        </a:solidFill>
        <a:latin typeface="+mn-lt"/>
        <a:ea typeface="+mn-ea"/>
        <a:cs typeface="+mn-cs"/>
      </a:defRPr>
    </a:lvl3pPr>
    <a:lvl4pPr marL="685800" algn="l" defTabSz="228600" rtl="0" eaLnBrk="1" latinLnBrk="0" hangingPunct="1">
      <a:defRPr sz="1800" kern="1200">
        <a:solidFill>
          <a:schemeClr val="tx1"/>
        </a:solidFill>
        <a:latin typeface="+mn-lt"/>
        <a:ea typeface="+mn-ea"/>
        <a:cs typeface="+mn-cs"/>
      </a:defRPr>
    </a:lvl4pPr>
    <a:lvl5pPr marL="914400" algn="l" defTabSz="228600" rtl="0" eaLnBrk="1" latinLnBrk="0" hangingPunct="1">
      <a:defRPr sz="1800" kern="1200">
        <a:solidFill>
          <a:schemeClr val="tx1"/>
        </a:solidFill>
        <a:latin typeface="+mn-lt"/>
        <a:ea typeface="+mn-ea"/>
        <a:cs typeface="+mn-cs"/>
      </a:defRPr>
    </a:lvl5pPr>
    <a:lvl6pPr marL="1143000" algn="l" defTabSz="228600" rtl="0" eaLnBrk="1" latinLnBrk="0" hangingPunct="1">
      <a:defRPr sz="1800" kern="1200">
        <a:solidFill>
          <a:schemeClr val="tx1"/>
        </a:solidFill>
        <a:latin typeface="+mn-lt"/>
        <a:ea typeface="+mn-ea"/>
        <a:cs typeface="+mn-cs"/>
      </a:defRPr>
    </a:lvl6pPr>
    <a:lvl7pPr marL="1371600" algn="l" defTabSz="228600" rtl="0" eaLnBrk="1" latinLnBrk="0" hangingPunct="1">
      <a:defRPr sz="1800" kern="1200">
        <a:solidFill>
          <a:schemeClr val="tx1"/>
        </a:solidFill>
        <a:latin typeface="+mn-lt"/>
        <a:ea typeface="+mn-ea"/>
        <a:cs typeface="+mn-cs"/>
      </a:defRPr>
    </a:lvl7pPr>
    <a:lvl8pPr marL="1600200" algn="l" defTabSz="228600" rtl="0" eaLnBrk="1" latinLnBrk="0" hangingPunct="1">
      <a:defRPr sz="1800" kern="1200">
        <a:solidFill>
          <a:schemeClr val="tx1"/>
        </a:solidFill>
        <a:latin typeface="+mn-lt"/>
        <a:ea typeface="+mn-ea"/>
        <a:cs typeface="+mn-cs"/>
      </a:defRPr>
    </a:lvl8pPr>
    <a:lvl9pPr marL="1828800" algn="l" defTabSz="2286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intro" id="{153984D3-C8FE-F24A-82D2-3FD516294F2D}">
          <p14:sldIdLst/>
        </p14:section>
        <p14:section name="Section 1: AWS Global Infrastructure" id="{3466E111-8C50-6247-9C45-9386BC79A66D}">
          <p14:sldIdLst>
            <p14:sldId id="317"/>
            <p14:sldId id="623"/>
            <p14:sldId id="926"/>
            <p14:sldId id="339"/>
            <p14:sldId id="582"/>
            <p14:sldId id="624"/>
            <p14:sldId id="322"/>
            <p14:sldId id="625"/>
            <p14:sldId id="333"/>
          </p14:sldIdLst>
        </p14:section>
        <p14:section name="Section 2: AWS services and service category overview" id="{D0280546-35D4-7741-B483-3F94D37AFD06}">
          <p14:sldIdLst>
            <p14:sldId id="323"/>
            <p14:sldId id="635"/>
            <p14:sldId id="629"/>
            <p14:sldId id="628"/>
            <p14:sldId id="630"/>
            <p14:sldId id="631"/>
            <p14:sldId id="632"/>
            <p14:sldId id="634"/>
            <p14:sldId id="910"/>
            <p14:sldId id="430"/>
            <p14:sldId id="431"/>
            <p14:sldId id="432"/>
            <p14:sldId id="433"/>
            <p14:sldId id="434"/>
            <p14:sldId id="929"/>
            <p14:sldId id="438"/>
            <p14:sldId id="857"/>
            <p14:sldId id="440"/>
            <p14:sldId id="374"/>
            <p14:sldId id="914"/>
            <p14:sldId id="377"/>
            <p14:sldId id="915"/>
            <p14:sldId id="916"/>
            <p14:sldId id="442"/>
            <p14:sldId id="927"/>
            <p14:sldId id="928"/>
            <p14:sldId id="917"/>
            <p14:sldId id="380"/>
            <p14:sldId id="852"/>
            <p14:sldId id="378"/>
            <p14:sldId id="382"/>
            <p14:sldId id="840"/>
            <p14:sldId id="841"/>
            <p14:sldId id="842"/>
            <p14:sldId id="848"/>
            <p14:sldId id="853"/>
            <p14:sldId id="858"/>
            <p14:sldId id="865"/>
            <p14:sldId id="866"/>
            <p14:sldId id="861"/>
            <p14:sldId id="850"/>
            <p14:sldId id="860"/>
            <p14:sldId id="855"/>
            <p14:sldId id="450"/>
            <p14:sldId id="846"/>
            <p14:sldId id="845"/>
            <p14:sldId id="85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9" clrIdx="0">
    <p:extLst>
      <p:ext uri="{19B8F6BF-5375-455C-9EA6-DF929625EA0E}">
        <p15:presenceInfo xmlns:p15="http://schemas.microsoft.com/office/powerpoint/2012/main" userId="S-1-5-21-1407069837-2091007605-538272213-31813507" providerId="AD"/>
      </p:ext>
    </p:extLst>
  </p:cmAuthor>
  <p:cmAuthor id="2" name="Raymond, Patty" initials="RP" lastIdx="2" clrIdx="1">
    <p:extLst>
      <p:ext uri="{19B8F6BF-5375-455C-9EA6-DF929625EA0E}">
        <p15:presenceInfo xmlns:p15="http://schemas.microsoft.com/office/powerpoint/2012/main" userId="S-1-5-21-1407069837-2091007605-538272213-293558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D5520A-29FA-194F-BC4D-F7F0BEA17991}" v="138" dt="2025-09-05T19:37:49.8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17" autoAdjust="0"/>
    <p:restoredTop sz="62789" autoAdjust="0"/>
  </p:normalViewPr>
  <p:slideViewPr>
    <p:cSldViewPr snapToGrid="0">
      <p:cViewPr varScale="1">
        <p:scale>
          <a:sx n="77" d="100"/>
          <a:sy n="77" d="100"/>
        </p:scale>
        <p:origin x="488" y="192"/>
      </p:cViewPr>
      <p:guideLst/>
    </p:cSldViewPr>
  </p:slideViewPr>
  <p:notesTextViewPr>
    <p:cViewPr>
      <p:scale>
        <a:sx n="1" d="1"/>
        <a:sy n="1" d="1"/>
      </p:scale>
      <p:origin x="0" y="0"/>
    </p:cViewPr>
  </p:notesTextViewPr>
  <p:notesViewPr>
    <p:cSldViewPr snapToGrid="0">
      <p:cViewPr varScale="1">
        <p:scale>
          <a:sx n="113" d="100"/>
          <a:sy n="113" d="100"/>
        </p:scale>
        <p:origin x="4878"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handoutMaster" Target="handoutMasters/handoutMaster1.xml"/><Relationship Id="rId68" Type="http://schemas.openxmlformats.org/officeDocument/2006/relationships/theme" Target="theme/theme1.xml"/><Relationship Id="rId7" Type="http://schemas.openxmlformats.org/officeDocument/2006/relationships/slide" Target="slides/slide2.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Elliott" userId="04040a5f-f8f3-4f1b-92ff-388c2ca4c4a6" providerId="ADAL" clId="{F0BFA9A5-569D-5D2A-BCD6-09850EB564AF}"/>
    <pc:docChg chg="delSld modSection">
      <pc:chgData name="Rob Elliott" userId="04040a5f-f8f3-4f1b-92ff-388c2ca4c4a6" providerId="ADAL" clId="{F0BFA9A5-569D-5D2A-BCD6-09850EB564AF}" dt="2025-09-05T19:47:10.549" v="1" actId="2696"/>
      <pc:docMkLst>
        <pc:docMk/>
      </pc:docMkLst>
      <pc:sldChg chg="del">
        <pc:chgData name="Rob Elliott" userId="04040a5f-f8f3-4f1b-92ff-388c2ca4c4a6" providerId="ADAL" clId="{F0BFA9A5-569D-5D2A-BCD6-09850EB564AF}" dt="2025-09-05T19:47:10.535" v="0" actId="2696"/>
        <pc:sldMkLst>
          <pc:docMk/>
          <pc:sldMk cId="3231077110" sldId="868"/>
        </pc:sldMkLst>
      </pc:sldChg>
      <pc:sldChg chg="del">
        <pc:chgData name="Rob Elliott" userId="04040a5f-f8f3-4f1b-92ff-388c2ca4c4a6" providerId="ADAL" clId="{F0BFA9A5-569D-5D2A-BCD6-09850EB564AF}" dt="2025-09-05T19:47:10.549" v="1" actId="2696"/>
        <pc:sldMkLst>
          <pc:docMk/>
          <pc:sldMk cId="1062774464" sldId="86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AEB932-850C-9040-884D-2C000B038721}" type="doc">
      <dgm:prSet loTypeId="urn:microsoft.com/office/officeart/2005/8/layout/pyramid3" loCatId="" qsTypeId="urn:microsoft.com/office/officeart/2005/8/quickstyle/simple1" qsCatId="simple" csTypeId="urn:microsoft.com/office/officeart/2005/8/colors/accent1_2" csCatId="accent1" phldr="1"/>
      <dgm:spPr/>
    </dgm:pt>
    <dgm:pt modelId="{FB0508A0-B368-714D-BE00-2BC22D7E6D3A}">
      <dgm:prSet phldrT="[Text]" custT="1"/>
      <dgm:spPr/>
      <dgm:t>
        <a:bodyPr/>
        <a:lstStyle/>
        <a:p>
          <a:r>
            <a:rPr lang="en-US" sz="3600" dirty="0"/>
            <a:t>AWS Region</a:t>
          </a:r>
        </a:p>
      </dgm:t>
    </dgm:pt>
    <dgm:pt modelId="{B4BEF4C0-2136-A146-BAAE-97B654AA5C33}" type="parTrans" cxnId="{F3FB92E6-53C5-5645-A53B-48165AEE9601}">
      <dgm:prSet/>
      <dgm:spPr/>
      <dgm:t>
        <a:bodyPr/>
        <a:lstStyle/>
        <a:p>
          <a:endParaRPr lang="en-US"/>
        </a:p>
      </dgm:t>
    </dgm:pt>
    <dgm:pt modelId="{E6E376C9-7384-CA4D-B7C7-53357B9FC675}" type="sibTrans" cxnId="{F3FB92E6-53C5-5645-A53B-48165AEE9601}">
      <dgm:prSet/>
      <dgm:spPr/>
      <dgm:t>
        <a:bodyPr/>
        <a:lstStyle/>
        <a:p>
          <a:endParaRPr lang="en-US"/>
        </a:p>
      </dgm:t>
    </dgm:pt>
    <dgm:pt modelId="{8F3DF7DC-25BC-554F-94D7-3B08A1F2D669}">
      <dgm:prSet phldrT="[Text]" custT="1"/>
      <dgm:spPr/>
      <dgm:t>
        <a:bodyPr/>
        <a:lstStyle/>
        <a:p>
          <a:r>
            <a:rPr lang="en-US" sz="3600" dirty="0"/>
            <a:t>Availability Zones (2-3)</a:t>
          </a:r>
        </a:p>
      </dgm:t>
    </dgm:pt>
    <dgm:pt modelId="{8F2A3FDA-D946-B54B-B8BB-B6D22062149D}" type="parTrans" cxnId="{D6C4BD11-C2F6-6546-A021-19F37FE19B57}">
      <dgm:prSet/>
      <dgm:spPr/>
      <dgm:t>
        <a:bodyPr/>
        <a:lstStyle/>
        <a:p>
          <a:endParaRPr lang="en-US"/>
        </a:p>
      </dgm:t>
    </dgm:pt>
    <dgm:pt modelId="{ED6A4279-5E0C-8041-9A25-7A271EF45969}" type="sibTrans" cxnId="{D6C4BD11-C2F6-6546-A021-19F37FE19B57}">
      <dgm:prSet/>
      <dgm:spPr/>
      <dgm:t>
        <a:bodyPr/>
        <a:lstStyle/>
        <a:p>
          <a:endParaRPr lang="en-US"/>
        </a:p>
      </dgm:t>
    </dgm:pt>
    <dgm:pt modelId="{150D5A2C-DC4C-3B40-A9B0-2225E7AC8352}">
      <dgm:prSet phldrT="[Text]" custT="1"/>
      <dgm:spPr/>
      <dgm:t>
        <a:bodyPr/>
        <a:lstStyle/>
        <a:p>
          <a:r>
            <a:rPr lang="en-US" sz="3600" dirty="0"/>
            <a:t>Data Centers</a:t>
          </a:r>
        </a:p>
      </dgm:t>
    </dgm:pt>
    <dgm:pt modelId="{FACF2437-7BBE-3F4A-AE46-741559B6A11C}" type="parTrans" cxnId="{09E588A3-B981-A44A-9522-8ED0EF3ADB05}">
      <dgm:prSet/>
      <dgm:spPr/>
      <dgm:t>
        <a:bodyPr/>
        <a:lstStyle/>
        <a:p>
          <a:endParaRPr lang="en-US"/>
        </a:p>
      </dgm:t>
    </dgm:pt>
    <dgm:pt modelId="{FEF9B569-4023-E34E-9EBC-32E463AAF2A7}" type="sibTrans" cxnId="{09E588A3-B981-A44A-9522-8ED0EF3ADB05}">
      <dgm:prSet/>
      <dgm:spPr/>
      <dgm:t>
        <a:bodyPr/>
        <a:lstStyle/>
        <a:p>
          <a:endParaRPr lang="en-US"/>
        </a:p>
      </dgm:t>
    </dgm:pt>
    <dgm:pt modelId="{68303D06-8141-544A-BD54-146BD3D8A77A}" type="pres">
      <dgm:prSet presAssocID="{90AEB932-850C-9040-884D-2C000B038721}" presName="Name0" presStyleCnt="0">
        <dgm:presLayoutVars>
          <dgm:dir/>
          <dgm:animLvl val="lvl"/>
          <dgm:resizeHandles val="exact"/>
        </dgm:presLayoutVars>
      </dgm:prSet>
      <dgm:spPr/>
    </dgm:pt>
    <dgm:pt modelId="{A12B3FD5-2C38-5549-A290-1C85CA6600B1}" type="pres">
      <dgm:prSet presAssocID="{FB0508A0-B368-714D-BE00-2BC22D7E6D3A}" presName="Name8" presStyleCnt="0"/>
      <dgm:spPr/>
    </dgm:pt>
    <dgm:pt modelId="{A4AD32E7-8AC3-D742-85E0-4750E4567420}" type="pres">
      <dgm:prSet presAssocID="{FB0508A0-B368-714D-BE00-2BC22D7E6D3A}" presName="level" presStyleLbl="node1" presStyleIdx="0" presStyleCnt="3">
        <dgm:presLayoutVars>
          <dgm:chMax val="1"/>
          <dgm:bulletEnabled val="1"/>
        </dgm:presLayoutVars>
      </dgm:prSet>
      <dgm:spPr/>
    </dgm:pt>
    <dgm:pt modelId="{67E217A7-8598-774F-A623-60235A5FFC93}" type="pres">
      <dgm:prSet presAssocID="{FB0508A0-B368-714D-BE00-2BC22D7E6D3A}" presName="levelTx" presStyleLbl="revTx" presStyleIdx="0" presStyleCnt="0">
        <dgm:presLayoutVars>
          <dgm:chMax val="1"/>
          <dgm:bulletEnabled val="1"/>
        </dgm:presLayoutVars>
      </dgm:prSet>
      <dgm:spPr/>
    </dgm:pt>
    <dgm:pt modelId="{B65B2E8E-2016-4540-8989-747CAFF34C23}" type="pres">
      <dgm:prSet presAssocID="{8F3DF7DC-25BC-554F-94D7-3B08A1F2D669}" presName="Name8" presStyleCnt="0"/>
      <dgm:spPr/>
    </dgm:pt>
    <dgm:pt modelId="{3EEE0657-5D16-8645-8AEF-10821D3613B2}" type="pres">
      <dgm:prSet presAssocID="{8F3DF7DC-25BC-554F-94D7-3B08A1F2D669}" presName="level" presStyleLbl="node1" presStyleIdx="1" presStyleCnt="3">
        <dgm:presLayoutVars>
          <dgm:chMax val="1"/>
          <dgm:bulletEnabled val="1"/>
        </dgm:presLayoutVars>
      </dgm:prSet>
      <dgm:spPr/>
    </dgm:pt>
    <dgm:pt modelId="{68F4D847-0689-244A-8732-CCA3563FA50E}" type="pres">
      <dgm:prSet presAssocID="{8F3DF7DC-25BC-554F-94D7-3B08A1F2D669}" presName="levelTx" presStyleLbl="revTx" presStyleIdx="0" presStyleCnt="0">
        <dgm:presLayoutVars>
          <dgm:chMax val="1"/>
          <dgm:bulletEnabled val="1"/>
        </dgm:presLayoutVars>
      </dgm:prSet>
      <dgm:spPr/>
    </dgm:pt>
    <dgm:pt modelId="{B9610BFD-ACE3-0C49-9B7A-E513FFF136B8}" type="pres">
      <dgm:prSet presAssocID="{150D5A2C-DC4C-3B40-A9B0-2225E7AC8352}" presName="Name8" presStyleCnt="0"/>
      <dgm:spPr/>
    </dgm:pt>
    <dgm:pt modelId="{2144B4B4-1A7E-3D4B-A1DA-C8EAFD4E5311}" type="pres">
      <dgm:prSet presAssocID="{150D5A2C-DC4C-3B40-A9B0-2225E7AC8352}" presName="level" presStyleLbl="node1" presStyleIdx="2" presStyleCnt="3">
        <dgm:presLayoutVars>
          <dgm:chMax val="1"/>
          <dgm:bulletEnabled val="1"/>
        </dgm:presLayoutVars>
      </dgm:prSet>
      <dgm:spPr/>
    </dgm:pt>
    <dgm:pt modelId="{9EE99E5D-97D8-4D44-8ABC-44147A088491}" type="pres">
      <dgm:prSet presAssocID="{150D5A2C-DC4C-3B40-A9B0-2225E7AC8352}" presName="levelTx" presStyleLbl="revTx" presStyleIdx="0" presStyleCnt="0">
        <dgm:presLayoutVars>
          <dgm:chMax val="1"/>
          <dgm:bulletEnabled val="1"/>
        </dgm:presLayoutVars>
      </dgm:prSet>
      <dgm:spPr/>
    </dgm:pt>
  </dgm:ptLst>
  <dgm:cxnLst>
    <dgm:cxn modelId="{D6C4BD11-C2F6-6546-A021-19F37FE19B57}" srcId="{90AEB932-850C-9040-884D-2C000B038721}" destId="{8F3DF7DC-25BC-554F-94D7-3B08A1F2D669}" srcOrd="1" destOrd="0" parTransId="{8F2A3FDA-D946-B54B-B8BB-B6D22062149D}" sibTransId="{ED6A4279-5E0C-8041-9A25-7A271EF45969}"/>
    <dgm:cxn modelId="{2E303A92-B86A-A246-AE1B-0C6FC31FBE65}" type="presOf" srcId="{150D5A2C-DC4C-3B40-A9B0-2225E7AC8352}" destId="{9EE99E5D-97D8-4D44-8ABC-44147A088491}" srcOrd="1" destOrd="0" presId="urn:microsoft.com/office/officeart/2005/8/layout/pyramid3"/>
    <dgm:cxn modelId="{241E7897-31FD-B147-A689-39B7B45A89B5}" type="presOf" srcId="{8F3DF7DC-25BC-554F-94D7-3B08A1F2D669}" destId="{3EEE0657-5D16-8645-8AEF-10821D3613B2}" srcOrd="0" destOrd="0" presId="urn:microsoft.com/office/officeart/2005/8/layout/pyramid3"/>
    <dgm:cxn modelId="{09E588A3-B981-A44A-9522-8ED0EF3ADB05}" srcId="{90AEB932-850C-9040-884D-2C000B038721}" destId="{150D5A2C-DC4C-3B40-A9B0-2225E7AC8352}" srcOrd="2" destOrd="0" parTransId="{FACF2437-7BBE-3F4A-AE46-741559B6A11C}" sibTransId="{FEF9B569-4023-E34E-9EBC-32E463AAF2A7}"/>
    <dgm:cxn modelId="{32C77DA4-C296-494D-BB20-2D3C28E49B99}" type="presOf" srcId="{FB0508A0-B368-714D-BE00-2BC22D7E6D3A}" destId="{67E217A7-8598-774F-A623-60235A5FFC93}" srcOrd="1" destOrd="0" presId="urn:microsoft.com/office/officeart/2005/8/layout/pyramid3"/>
    <dgm:cxn modelId="{FC4858AF-ACB7-9E40-9F07-A41D1EA2DA85}" type="presOf" srcId="{FB0508A0-B368-714D-BE00-2BC22D7E6D3A}" destId="{A4AD32E7-8AC3-D742-85E0-4750E4567420}" srcOrd="0" destOrd="0" presId="urn:microsoft.com/office/officeart/2005/8/layout/pyramid3"/>
    <dgm:cxn modelId="{858147B0-061F-404C-B46C-758B699D76E0}" type="presOf" srcId="{150D5A2C-DC4C-3B40-A9B0-2225E7AC8352}" destId="{2144B4B4-1A7E-3D4B-A1DA-C8EAFD4E5311}" srcOrd="0" destOrd="0" presId="urn:microsoft.com/office/officeart/2005/8/layout/pyramid3"/>
    <dgm:cxn modelId="{ABD03CD5-60AD-9146-AAE5-E3FA8FA9106C}" type="presOf" srcId="{8F3DF7DC-25BC-554F-94D7-3B08A1F2D669}" destId="{68F4D847-0689-244A-8732-CCA3563FA50E}" srcOrd="1" destOrd="0" presId="urn:microsoft.com/office/officeart/2005/8/layout/pyramid3"/>
    <dgm:cxn modelId="{F3FB92E6-53C5-5645-A53B-48165AEE9601}" srcId="{90AEB932-850C-9040-884D-2C000B038721}" destId="{FB0508A0-B368-714D-BE00-2BC22D7E6D3A}" srcOrd="0" destOrd="0" parTransId="{B4BEF4C0-2136-A146-BAAE-97B654AA5C33}" sibTransId="{E6E376C9-7384-CA4D-B7C7-53357B9FC675}"/>
    <dgm:cxn modelId="{A1BFAEEC-5CC4-1742-B925-BD779CF9FCDE}" type="presOf" srcId="{90AEB932-850C-9040-884D-2C000B038721}" destId="{68303D06-8141-544A-BD54-146BD3D8A77A}" srcOrd="0" destOrd="0" presId="urn:microsoft.com/office/officeart/2005/8/layout/pyramid3"/>
    <dgm:cxn modelId="{428E6379-FA5F-9E43-88EF-8BBB9E2B2238}" type="presParOf" srcId="{68303D06-8141-544A-BD54-146BD3D8A77A}" destId="{A12B3FD5-2C38-5549-A290-1C85CA6600B1}" srcOrd="0" destOrd="0" presId="urn:microsoft.com/office/officeart/2005/8/layout/pyramid3"/>
    <dgm:cxn modelId="{0A57527C-D868-FE4B-8FC4-C5E91B068163}" type="presParOf" srcId="{A12B3FD5-2C38-5549-A290-1C85CA6600B1}" destId="{A4AD32E7-8AC3-D742-85E0-4750E4567420}" srcOrd="0" destOrd="0" presId="urn:microsoft.com/office/officeart/2005/8/layout/pyramid3"/>
    <dgm:cxn modelId="{C8C154DE-F06B-1D4F-9427-8C429666AAAA}" type="presParOf" srcId="{A12B3FD5-2C38-5549-A290-1C85CA6600B1}" destId="{67E217A7-8598-774F-A623-60235A5FFC93}" srcOrd="1" destOrd="0" presId="urn:microsoft.com/office/officeart/2005/8/layout/pyramid3"/>
    <dgm:cxn modelId="{089B8AB0-5113-3E43-A5A6-759A86E66B68}" type="presParOf" srcId="{68303D06-8141-544A-BD54-146BD3D8A77A}" destId="{B65B2E8E-2016-4540-8989-747CAFF34C23}" srcOrd="1" destOrd="0" presId="urn:microsoft.com/office/officeart/2005/8/layout/pyramid3"/>
    <dgm:cxn modelId="{E428D2D1-7020-A34F-B4A8-9F2DB638392E}" type="presParOf" srcId="{B65B2E8E-2016-4540-8989-747CAFF34C23}" destId="{3EEE0657-5D16-8645-8AEF-10821D3613B2}" srcOrd="0" destOrd="0" presId="urn:microsoft.com/office/officeart/2005/8/layout/pyramid3"/>
    <dgm:cxn modelId="{7644A548-288B-794D-9E88-CBFC7C45A4CC}" type="presParOf" srcId="{B65B2E8E-2016-4540-8989-747CAFF34C23}" destId="{68F4D847-0689-244A-8732-CCA3563FA50E}" srcOrd="1" destOrd="0" presId="urn:microsoft.com/office/officeart/2005/8/layout/pyramid3"/>
    <dgm:cxn modelId="{D3011353-8465-914A-AA55-2C0823034423}" type="presParOf" srcId="{68303D06-8141-544A-BD54-146BD3D8A77A}" destId="{B9610BFD-ACE3-0C49-9B7A-E513FFF136B8}" srcOrd="2" destOrd="0" presId="urn:microsoft.com/office/officeart/2005/8/layout/pyramid3"/>
    <dgm:cxn modelId="{FC92ADA5-4107-D04B-BED7-AB55768741A6}" type="presParOf" srcId="{B9610BFD-ACE3-0C49-9B7A-E513FFF136B8}" destId="{2144B4B4-1A7E-3D4B-A1DA-C8EAFD4E5311}" srcOrd="0" destOrd="0" presId="urn:microsoft.com/office/officeart/2005/8/layout/pyramid3"/>
    <dgm:cxn modelId="{1766F00D-D9F1-7A43-921B-D3D0D9B2497E}" type="presParOf" srcId="{B9610BFD-ACE3-0C49-9B7A-E513FFF136B8}" destId="{9EE99E5D-97D8-4D44-8ABC-44147A088491}" srcOrd="1" destOrd="0" presId="urn:microsoft.com/office/officeart/2005/8/layout/pyrami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AD32E7-8AC3-D742-85E0-4750E4567420}">
      <dsp:nvSpPr>
        <dsp:cNvPr id="0" name=""/>
        <dsp:cNvSpPr/>
      </dsp:nvSpPr>
      <dsp:spPr>
        <a:xfrm rot="10800000">
          <a:off x="0" y="0"/>
          <a:ext cx="8128000" cy="1806222"/>
        </a:xfrm>
        <a:prstGeom prst="trapezoid">
          <a:avLst>
            <a:gd name="adj" fmla="val 7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AWS Region</a:t>
          </a:r>
        </a:p>
      </dsp:txBody>
      <dsp:txXfrm rot="-10800000">
        <a:off x="1422399" y="0"/>
        <a:ext cx="5283200" cy="1806222"/>
      </dsp:txXfrm>
    </dsp:sp>
    <dsp:sp modelId="{3EEE0657-5D16-8645-8AEF-10821D3613B2}">
      <dsp:nvSpPr>
        <dsp:cNvPr id="0" name=""/>
        <dsp:cNvSpPr/>
      </dsp:nvSpPr>
      <dsp:spPr>
        <a:xfrm rot="10800000">
          <a:off x="1354666" y="1806222"/>
          <a:ext cx="5418666" cy="1806222"/>
        </a:xfrm>
        <a:prstGeom prst="trapezoid">
          <a:avLst>
            <a:gd name="adj" fmla="val 7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Availability Zones (2-3)</a:t>
          </a:r>
        </a:p>
      </dsp:txBody>
      <dsp:txXfrm rot="-10800000">
        <a:off x="2302933" y="1806222"/>
        <a:ext cx="3522133" cy="1806222"/>
      </dsp:txXfrm>
    </dsp:sp>
    <dsp:sp modelId="{2144B4B4-1A7E-3D4B-A1DA-C8EAFD4E5311}">
      <dsp:nvSpPr>
        <dsp:cNvPr id="0" name=""/>
        <dsp:cNvSpPr/>
      </dsp:nvSpPr>
      <dsp:spPr>
        <a:xfrm rot="10800000">
          <a:off x="2709333" y="3612444"/>
          <a:ext cx="2709333" cy="1806222"/>
        </a:xfrm>
        <a:prstGeom prst="trapezoid">
          <a:avLst>
            <a:gd name="adj" fmla="val 7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Data Centers</a:t>
          </a:r>
        </a:p>
      </dsp:txBody>
      <dsp:txXfrm rot="-10800000">
        <a:off x="2709333" y="3612444"/>
        <a:ext cx="2709333" cy="1806222"/>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C71C26-B7E3-40D9-AFFC-56E1F3330FC0}"/>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54C10F-87CF-4634-B8A1-405F2079FC0A}"/>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287BC065-D7D7-4497-9D0A-D0D4CA488C61}" type="datetimeFigureOut">
              <a:rPr lang="en-US" smtClean="0"/>
              <a:t>9/5/25</a:t>
            </a:fld>
            <a:endParaRPr lang="en-US"/>
          </a:p>
        </p:txBody>
      </p:sp>
      <p:sp>
        <p:nvSpPr>
          <p:cNvPr id="4" name="Footer Placeholder 3">
            <a:extLst>
              <a:ext uri="{FF2B5EF4-FFF2-40B4-BE49-F238E27FC236}">
                <a16:creationId xmlns:a16="http://schemas.microsoft.com/office/drawing/2014/main" id="{C12E5DC8-58CF-4AB2-B263-F2D72A48CB76}"/>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01750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0EC29ED2-9DB7-4FC7-8D07-964CD0E5B663}" type="datetimeFigureOut">
              <a:rPr lang="en-US" smtClean="0"/>
              <a:t>9/5/25</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B4B52809-B5B7-4F41-8876-28A8C75C3ECB}" type="slidenum">
              <a:rPr lang="en-US" smtClean="0"/>
              <a:t>‹#›</a:t>
            </a:fld>
            <a:endParaRPr lang="en-US"/>
          </a:p>
        </p:txBody>
      </p:sp>
    </p:spTree>
    <p:extLst>
      <p:ext uri="{BB962C8B-B14F-4D97-AF65-F5344CB8AC3E}">
        <p14:creationId xmlns:p14="http://schemas.microsoft.com/office/powerpoint/2010/main" val="336884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aws.amazon.com/about-aws/global-infrastructure/#AWS_Global_Infrastructure_Map"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aws.amazon.com/about-aws/global-infrastructure/regions_az/"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cloudping.info/"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aws.amazon.com/about-aws/global-infrastructure/regional-product-services/?p=tgi&amp;loc=4"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ws.amazon.com/product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docs.aws.amazon.com/IAM/latest/UserGuide/access_policies_testing-policies.html"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docs.aws.amazon.com/IAM/latest/UserGuide/id_roles_use_switch-role-ec2.html"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docs.aws.amazon.com/organizations/latest/userguide/orgs_manage_org_support-all-features.html" TargetMode="External"/><Relationship Id="rId2" Type="http://schemas.openxmlformats.org/officeDocument/2006/relationships/slide" Target="../slides/slide45.xml"/><Relationship Id="rId1" Type="http://schemas.openxmlformats.org/officeDocument/2006/relationships/notesMaster" Target="../notesMasters/notesMaster1.xml"/><Relationship Id="rId5" Type="http://schemas.openxmlformats.org/officeDocument/2006/relationships/hyperlink" Target="https://docs.aws.amazon.com/IAM/latest/UserGuide/access_policies.html" TargetMode="External"/><Relationship Id="rId4" Type="http://schemas.openxmlformats.org/officeDocument/2006/relationships/hyperlink" Target="https://docs.aws.amazon.com/organizations/latest/userguide/orgs_manage_policies.html#enable_policies_on_root" TargetMode="Externa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aws.amazon.com/kms/features/"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8" Type="http://schemas.openxmlformats.org/officeDocument/2006/relationships/hyperlink" Target="https://aws.amazon.com/compliance/iso-27018-faqs/" TargetMode="External"/><Relationship Id="rId3" Type="http://schemas.openxmlformats.org/officeDocument/2006/relationships/hyperlink" Target="https://aws.amazon.com/compliance/hipaa-compliance/" TargetMode="External"/><Relationship Id="rId7" Type="http://schemas.openxmlformats.org/officeDocument/2006/relationships/hyperlink" Target="https://aws.amazon.com/compliance/iso-27017-faqs/" TargetMode="External"/><Relationship Id="rId2" Type="http://schemas.openxmlformats.org/officeDocument/2006/relationships/slide" Target="../slides/slide47.xml"/><Relationship Id="rId1" Type="http://schemas.openxmlformats.org/officeDocument/2006/relationships/notesMaster" Target="../notesMasters/notesMaster1.xml"/><Relationship Id="rId6" Type="http://schemas.openxmlformats.org/officeDocument/2006/relationships/hyperlink" Target="https://aws.amazon.com/compliance/iso-27001-faqs/" TargetMode="External"/><Relationship Id="rId5" Type="http://schemas.openxmlformats.org/officeDocument/2006/relationships/hyperlink" Target="https://aws.amazon.com/compliance/soc-faqs/" TargetMode="External"/><Relationship Id="rId4" Type="http://schemas.openxmlformats.org/officeDocument/2006/relationships/hyperlink" Target="https://aws.amazon.com/compliance/pci-dss-level-1-faqs/" TargetMode="External"/><Relationship Id="rId9" Type="http://schemas.openxmlformats.org/officeDocument/2006/relationships/hyperlink" Target="https://aws.amazon.com/compliance/iso-9001-faqs/" TargetMode="Externa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docs.aws.amazon.com/waf/latest/developerguide/waf-chapter.html"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docs.aws.amazon.com/kms/latest/developerguide/service-integration.html"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docs.aws.amazon.com/whitepapers/latest/efs-encrypted-file-systems/encryption-of-data-in-transit.html"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aws.amazon.com/compliance/programs/" TargetMode="External"/><Relationship Id="rId2" Type="http://schemas.openxmlformats.org/officeDocument/2006/relationships/slide" Target="../slides/slide54.xml"/><Relationship Id="rId1" Type="http://schemas.openxmlformats.org/officeDocument/2006/relationships/notesMaster" Target="../notesMasters/notesMaster1.xml"/><Relationship Id="rId5" Type="http://schemas.openxmlformats.org/officeDocument/2006/relationships/hyperlink" Target="https://aws.amazon.com/compliance/gdpr-center/" TargetMode="External"/><Relationship Id="rId4" Type="http://schemas.openxmlformats.org/officeDocument/2006/relationships/hyperlink" Target="https://aws.amazon.com/compliance/services-in-scope/" TargetMode="Externa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docs.aws.amazon.com/artifact/latest/ug/managing-agreements.html"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Introducing Section 1: AWS Global Infrastructure. </a:t>
            </a:r>
          </a:p>
        </p:txBody>
      </p:sp>
      <p:sp>
        <p:nvSpPr>
          <p:cNvPr id="5" name="Slide Image Placeholder 4">
            <a:extLst>
              <a:ext uri="{FF2B5EF4-FFF2-40B4-BE49-F238E27FC236}">
                <a16:creationId xmlns:a16="http://schemas.microsoft.com/office/drawing/2014/main" id="{6302DD41-74F2-1CB4-FDF6-2AAFB94571B6}"/>
              </a:ext>
            </a:extLst>
          </p:cNvPr>
          <p:cNvSpPr>
            <a:spLocks noGrp="1" noRot="1" noChangeAspect="1"/>
          </p:cNvSpPr>
          <p:nvPr>
            <p:ph type="sldImg"/>
          </p:nvPr>
        </p:nvSpPr>
        <p:spPr/>
      </p:sp>
    </p:spTree>
    <p:extLst>
      <p:ext uri="{BB962C8B-B14F-4D97-AF65-F5344CB8AC3E}">
        <p14:creationId xmlns:p14="http://schemas.microsoft.com/office/powerpoint/2010/main" val="2082301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To learn more about the AWS Regions that are currently available, use one of the following links: </a:t>
            </a:r>
          </a:p>
          <a:p>
            <a:pPr marL="171450" lvl="0" indent="-171450">
              <a:buFont typeface="Arial" panose="020B0604020202020204" pitchFamily="34" charset="0"/>
              <a:buChar char="•"/>
            </a:pPr>
            <a:r>
              <a:rPr lang="en-US" dirty="0">
                <a:hlinkClick r:id="rId3"/>
              </a:rPr>
              <a:t>https://aws.amazon.com/about-aws/global-infrastructure/#AWS_Global_Infrastructure_Map</a:t>
            </a:r>
            <a:endParaRPr lang="en-US" dirty="0"/>
          </a:p>
          <a:p>
            <a:pPr marL="171450" lvl="0" indent="-171450">
              <a:buFont typeface="Arial" panose="020B0604020202020204" pitchFamily="34" charset="0"/>
              <a:buChar char="•"/>
            </a:pPr>
            <a:r>
              <a:rPr lang="en-US" dirty="0">
                <a:hlinkClick r:id="rId4"/>
              </a:rPr>
              <a:t>https://aws.amazon.com/about-aws/global-infrastructure/regions_az/</a:t>
            </a:r>
            <a:r>
              <a:rPr lang="en-US" dirty="0"/>
              <a:t> </a:t>
            </a:r>
          </a:p>
          <a:p>
            <a:pPr lvl="0"/>
            <a:endParaRPr lang="en-US" dirty="0"/>
          </a:p>
          <a:p>
            <a:r>
              <a:rPr lang="en-US" dirty="0"/>
              <a:t>These resources are updated frequently to show current and planned AWS infrastructure. </a:t>
            </a:r>
          </a:p>
        </p:txBody>
      </p:sp>
      <p:sp>
        <p:nvSpPr>
          <p:cNvPr id="5" name="Slide Image Placeholder 4">
            <a:extLst>
              <a:ext uri="{FF2B5EF4-FFF2-40B4-BE49-F238E27FC236}">
                <a16:creationId xmlns:a16="http://schemas.microsoft.com/office/drawing/2014/main" id="{D30DF71E-12D8-1B71-B022-E1BDD0056F4E}"/>
              </a:ext>
            </a:extLst>
          </p:cNvPr>
          <p:cNvSpPr>
            <a:spLocks noGrp="1" noRot="1" noChangeAspect="1"/>
          </p:cNvSpPr>
          <p:nvPr>
            <p:ph type="sldImg"/>
          </p:nvPr>
        </p:nvSpPr>
        <p:spPr/>
      </p:sp>
    </p:spTree>
    <p:extLst>
      <p:ext uri="{BB962C8B-B14F-4D97-AF65-F5344CB8AC3E}">
        <p14:creationId xmlns:p14="http://schemas.microsoft.com/office/powerpoint/2010/main" val="2508224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B52809-B5B7-4F41-8876-28A8C75C3ECB}" type="slidenum">
              <a:rPr lang="en-US" smtClean="0"/>
              <a:t>3</a:t>
            </a:fld>
            <a:endParaRPr lang="en-US"/>
          </a:p>
        </p:txBody>
      </p:sp>
    </p:spTree>
    <p:extLst>
      <p:ext uri="{BB962C8B-B14F-4D97-AF65-F5344CB8AC3E}">
        <p14:creationId xmlns:p14="http://schemas.microsoft.com/office/powerpoint/2010/main" val="3393697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690211"/>
          </a:xfrm>
        </p:spPr>
        <p:txBody>
          <a:bodyPr/>
          <a:lstStyle/>
          <a:p>
            <a:r>
              <a:rPr lang="en-US" dirty="0"/>
              <a:t>The AWS Cloud infrastructure is built around Regions. AWS has 22 Regions worldwide. An </a:t>
            </a:r>
            <a:r>
              <a:rPr lang="en-US" b="1" dirty="0"/>
              <a:t>AWS Region</a:t>
            </a:r>
            <a:r>
              <a:rPr lang="en-US" dirty="0"/>
              <a:t> is a physical geographical location with one or more </a:t>
            </a:r>
            <a:r>
              <a:rPr lang="en-US" b="1" dirty="0"/>
              <a:t>Availability Zones</a:t>
            </a:r>
            <a:r>
              <a:rPr lang="en-US" dirty="0"/>
              <a:t>. Availability Zones in turn consist of one or more </a:t>
            </a:r>
            <a:r>
              <a:rPr lang="en-US" b="1" dirty="0"/>
              <a:t>data centers</a:t>
            </a:r>
            <a:r>
              <a:rPr lang="en-US" dirty="0"/>
              <a:t>.</a:t>
            </a:r>
          </a:p>
          <a:p>
            <a:endParaRPr lang="en-US" dirty="0"/>
          </a:p>
          <a:p>
            <a:r>
              <a:rPr lang="en-US" dirty="0"/>
              <a:t>To achieve fault tolerance and stability, Regions are isolated from one another. Resources in one Region are not automatically replicated to other Regions. When you store data in a specific Region, it is not replicated outside that Region. </a:t>
            </a:r>
          </a:p>
          <a:p>
            <a:endParaRPr lang="en-US" dirty="0"/>
          </a:p>
          <a:p>
            <a:r>
              <a:rPr lang="en-US" dirty="0"/>
              <a:t>It is your responsibility to replicate data across Regions, if your business needs require it. </a:t>
            </a:r>
          </a:p>
          <a:p>
            <a:endParaRPr lang="en-US" dirty="0"/>
          </a:p>
          <a:p>
            <a:r>
              <a:rPr lang="en-US" dirty="0"/>
              <a:t>AWS Regions that were introduced before March 20, 2019 are enabled by default. Regions that were introduced after March 20, 2019—such as Asia Pacific (Hong Kong) and Middle East (Bahrain)—are disabled by default. You must enable these Regions before you can use them. You can use the AWS Management Console to enable or disable a Region. </a:t>
            </a:r>
          </a:p>
          <a:p>
            <a:endParaRPr lang="en-US" dirty="0"/>
          </a:p>
          <a:p>
            <a:r>
              <a:rPr lang="en-US" dirty="0"/>
              <a:t>Some Regions have restricted access. An Amazon AWS (</a:t>
            </a:r>
            <a:r>
              <a:rPr lang="en-US" b="1" dirty="0"/>
              <a:t>China</a:t>
            </a:r>
            <a:r>
              <a:rPr lang="en-US" dirty="0"/>
              <a:t>) account provides access to the Beijing and Ningxia Regions only. To learn more about AWS in China, see: https://www.amazonaws.cn/en/about-aws/china/. The isolated </a:t>
            </a:r>
            <a:r>
              <a:rPr lang="en-US" b="1" dirty="0"/>
              <a:t>AWS GovCloud (US) </a:t>
            </a:r>
            <a:r>
              <a:rPr lang="en-US" dirty="0"/>
              <a:t>Region is designed to allow US government agencies and customers to move sensitive workloads into the cloud by addressing their specific regulatory and compliance requirements. </a:t>
            </a:r>
          </a:p>
          <a:p>
            <a:endParaRPr lang="en-US" dirty="0"/>
          </a:p>
          <a:p>
            <a:r>
              <a:rPr lang="en-AU" b="1" dirty="0">
                <a:effectLst/>
                <a:ea typeface="Calibri" panose="020F0502020204030204" pitchFamily="34" charset="0"/>
              </a:rPr>
              <a:t>For accessibility:</a:t>
            </a:r>
            <a:r>
              <a:rPr lang="en-AU" dirty="0">
                <a:effectLst/>
                <a:ea typeface="Calibri" panose="020F0502020204030204" pitchFamily="34" charset="0"/>
              </a:rPr>
              <a:t> Snapshot from the </a:t>
            </a:r>
            <a:r>
              <a:rPr lang="en-AU" dirty="0" err="1">
                <a:effectLst/>
                <a:ea typeface="Calibri" panose="020F0502020204030204" pitchFamily="34" charset="0"/>
              </a:rPr>
              <a:t>infrastructure.aws</a:t>
            </a:r>
            <a:r>
              <a:rPr lang="en-AU" dirty="0">
                <a:effectLst/>
                <a:ea typeface="Calibri" panose="020F0502020204030204" pitchFamily="34" charset="0"/>
              </a:rPr>
              <a:t> website that shows a picture of downtown London including the Tower Bridge and the Shard. It notes that there are three Availability Zones in the London region. </a:t>
            </a:r>
            <a:r>
              <a:rPr lang="en-AU" b="1" dirty="0">
                <a:effectLst/>
                <a:ea typeface="Calibri" panose="020F0502020204030204" pitchFamily="34" charset="0"/>
              </a:rPr>
              <a:t>End of accessibility description.</a:t>
            </a:r>
            <a:endParaRPr lang="en-US" dirty="0"/>
          </a:p>
          <a:p>
            <a:endParaRPr lang="en-US" dirty="0"/>
          </a:p>
        </p:txBody>
      </p:sp>
      <p:sp>
        <p:nvSpPr>
          <p:cNvPr id="5" name="Slide Image Placeholder 4">
            <a:extLst>
              <a:ext uri="{FF2B5EF4-FFF2-40B4-BE49-F238E27FC236}">
                <a16:creationId xmlns:a16="http://schemas.microsoft.com/office/drawing/2014/main" id="{36CBD436-5DDF-FB1A-C44F-0E998FAE8ED8}"/>
              </a:ext>
            </a:extLst>
          </p:cNvPr>
          <p:cNvSpPr>
            <a:spLocks noGrp="1" noRot="1" noChangeAspect="1"/>
          </p:cNvSpPr>
          <p:nvPr>
            <p:ph type="sldImg"/>
          </p:nvPr>
        </p:nvSpPr>
        <p:spPr/>
      </p:sp>
    </p:spTree>
    <p:extLst>
      <p:ext uri="{BB962C8B-B14F-4D97-AF65-F5344CB8AC3E}">
        <p14:creationId xmlns:p14="http://schemas.microsoft.com/office/powerpoint/2010/main" val="1447594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There are a few factors that you should consider when you select the optimal Region or Regions where you store data and use AWS services. </a:t>
            </a:r>
          </a:p>
          <a:p>
            <a:endParaRPr lang="en-US" dirty="0"/>
          </a:p>
          <a:p>
            <a:r>
              <a:rPr lang="en-US" dirty="0"/>
              <a:t>One essential consideration is </a:t>
            </a:r>
            <a:r>
              <a:rPr lang="en-US" b="1" dirty="0"/>
              <a:t>data governance and legal requirements. </a:t>
            </a:r>
            <a:r>
              <a:rPr lang="en-US" dirty="0"/>
              <a:t>Local laws might require that certain information be kept within geographical boundaries. Such laws might restrict the Regions where you can offer content or services. For example, consider the European Union (EU) Data Protection Directive. </a:t>
            </a:r>
          </a:p>
          <a:p>
            <a:endParaRPr lang="en-US" dirty="0"/>
          </a:p>
          <a:p>
            <a:r>
              <a:rPr lang="en-US" dirty="0"/>
              <a:t>All else being equal, it is generally desirable to run your applications and store your data in a Region that is as close as possible to the user and systems that will access them. This will help you </a:t>
            </a:r>
            <a:r>
              <a:rPr lang="en-US" b="1" dirty="0"/>
              <a:t>reduce latency. </a:t>
            </a:r>
            <a:r>
              <a:rPr lang="en-US" dirty="0"/>
              <a:t>CloudPing is one website that you can use to test latency between your location and all AWS Regions. To learn more about CloudPing, see: </a:t>
            </a:r>
            <a:r>
              <a:rPr lang="en-US" dirty="0">
                <a:hlinkClick r:id="rId3"/>
              </a:rPr>
              <a:t>http://www.cloudping.info/</a:t>
            </a:r>
            <a:endParaRPr lang="en-US" dirty="0"/>
          </a:p>
          <a:p>
            <a:endParaRPr lang="en-US" dirty="0"/>
          </a:p>
          <a:p>
            <a:r>
              <a:rPr lang="en-US" dirty="0"/>
              <a:t>Keep in mind that not all services are available in all Regions. To learn more, see: </a:t>
            </a:r>
            <a:r>
              <a:rPr lang="en-US" dirty="0">
                <a:hlinkClick r:id="rId4"/>
              </a:rPr>
              <a:t>https://aws.amazon.com/about-aws/global-infrastructure/regional-product-services/?p=tgi&amp;loc=4</a:t>
            </a:r>
            <a:r>
              <a:rPr lang="en-US" dirty="0"/>
              <a:t>.</a:t>
            </a:r>
          </a:p>
          <a:p>
            <a:endParaRPr lang="en-US" dirty="0"/>
          </a:p>
          <a:p>
            <a:r>
              <a:rPr lang="en-US" dirty="0"/>
              <a:t>Finally, there is some variation in the cost of running services, which can depend on which Region you choose. For example, as of this writing, running an On-Demand t3.medium size Amazon Elastic Compute Cloud (Amazon EC2) Linux instance in the US East (Ohio) Region costs $0.0416 per hour, but running the same instance in the Asia Pacific (Tokyo) Region costs $0.0544 per hour.</a:t>
            </a:r>
          </a:p>
        </p:txBody>
      </p:sp>
      <p:sp>
        <p:nvSpPr>
          <p:cNvPr id="7" name="Slide Image Placeholder 6">
            <a:extLst>
              <a:ext uri="{FF2B5EF4-FFF2-40B4-BE49-F238E27FC236}">
                <a16:creationId xmlns:a16="http://schemas.microsoft.com/office/drawing/2014/main" id="{A14D29D9-5AA0-CF71-9656-4B4A16635B0F}"/>
              </a:ext>
            </a:extLst>
          </p:cNvPr>
          <p:cNvSpPr>
            <a:spLocks noGrp="1" noRot="1" noChangeAspect="1"/>
          </p:cNvSpPr>
          <p:nvPr>
            <p:ph type="sldImg"/>
          </p:nvPr>
        </p:nvSpPr>
        <p:spPr/>
      </p:sp>
    </p:spTree>
    <p:extLst>
      <p:ext uri="{BB962C8B-B14F-4D97-AF65-F5344CB8AC3E}">
        <p14:creationId xmlns:p14="http://schemas.microsoft.com/office/powerpoint/2010/main" val="3252939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Each AWS Region has multiple, isolated locations that are known as Availability Zones. </a:t>
            </a:r>
          </a:p>
          <a:p>
            <a:endParaRPr lang="en-US" dirty="0"/>
          </a:p>
          <a:p>
            <a:r>
              <a:rPr lang="en-US" dirty="0"/>
              <a:t>Each Availability Zone provides the ability to operate applications and databases that are more highly available, fault-tolerant, and scalable than would be possible with a single data center. Each Availability Zone can include multiple data centers (typically three), and at full-scale, they can include hundreds of thousands of servers. They are fully isolated partitions of the AWS Global Infrastructure. Availability Zones have their own power infrastructure, and they are physically separated by many kilometers from other Availability Zones—though all Availability Zones are within 100 km of each other.</a:t>
            </a:r>
            <a:br>
              <a:rPr lang="en-US" dirty="0"/>
            </a:br>
            <a:endParaRPr lang="en-US" dirty="0"/>
          </a:p>
          <a:p>
            <a:r>
              <a:rPr lang="en-US" dirty="0"/>
              <a:t>All Availability Zones are interconnected with high-bandwidth, low-latency networking over fully redundant, dedicated fiber that provides high-throughput between Availability Zones. The network accomplishes synchronous replication between Availability Zones. </a:t>
            </a:r>
          </a:p>
          <a:p>
            <a:endParaRPr lang="en-US" dirty="0"/>
          </a:p>
          <a:p>
            <a:r>
              <a:rPr lang="en-US" dirty="0"/>
              <a:t>Availability Zones help build highly available applications. When an application is partitioned across Availability Zones, companies are better isolated and protected from issues such as lightning, tornadoes, earthquakes, and more.</a:t>
            </a:r>
          </a:p>
          <a:p>
            <a:r>
              <a:rPr lang="en-US" dirty="0"/>
              <a:t> </a:t>
            </a:r>
          </a:p>
          <a:p>
            <a:r>
              <a:rPr lang="en-US" dirty="0"/>
              <a:t>You are responsible for selecting the Availability Zones where your systems will reside. Systems can span multiple Availability Zones. AWS recommends replicating across Availability Zones for resiliency. You should design your systems to survive the temporary or prolonged failure of an Availability Zone if a disaster occurs. </a:t>
            </a:r>
          </a:p>
          <a:p>
            <a:endParaRPr lang="en-US" dirty="0"/>
          </a:p>
        </p:txBody>
      </p:sp>
      <p:sp>
        <p:nvSpPr>
          <p:cNvPr id="5" name="Slide Image Placeholder 4">
            <a:extLst>
              <a:ext uri="{FF2B5EF4-FFF2-40B4-BE49-F238E27FC236}">
                <a16:creationId xmlns:a16="http://schemas.microsoft.com/office/drawing/2014/main" id="{5559D383-6D06-4B13-C182-CE66612711E5}"/>
              </a:ext>
            </a:extLst>
          </p:cNvPr>
          <p:cNvSpPr>
            <a:spLocks noGrp="1" noRot="1" noChangeAspect="1"/>
          </p:cNvSpPr>
          <p:nvPr>
            <p:ph type="sldImg"/>
          </p:nvPr>
        </p:nvSpPr>
        <p:spPr/>
      </p:sp>
    </p:spTree>
    <p:extLst>
      <p:ext uri="{BB962C8B-B14F-4D97-AF65-F5344CB8AC3E}">
        <p14:creationId xmlns:p14="http://schemas.microsoft.com/office/powerpoint/2010/main" val="4016737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605370"/>
          </a:xfrm>
        </p:spPr>
        <p:txBody>
          <a:bodyPr/>
          <a:lstStyle/>
          <a:p>
            <a:r>
              <a:rPr lang="en-US" dirty="0"/>
              <a:t>The foundation for the AWS infrastructure is the data centers. Customers do not specify a data center for the deployment of resources. Instead, an Availability Zone is the most granular level of specification that a customer can make. However, a data center is the location where the actual data resides. Amazon operates state-of-the-art, highly available data centers. Although rare, failures can occur that affect the availability of instances in the same location. If you host all your instances in a single location that is affected by such a failure, none of your instances will be available.</a:t>
            </a:r>
          </a:p>
          <a:p>
            <a:r>
              <a:rPr lang="en-US" dirty="0"/>
              <a:t> </a:t>
            </a:r>
          </a:p>
          <a:p>
            <a:r>
              <a:rPr lang="en-US" dirty="0"/>
              <a:t>Data centers are securely designed with several factors in mind:</a:t>
            </a:r>
          </a:p>
          <a:p>
            <a:endParaRPr lang="en-US" dirty="0"/>
          </a:p>
          <a:p>
            <a:pPr lvl="0"/>
            <a:r>
              <a:rPr lang="en-US" dirty="0"/>
              <a:t>Each location is carefully evaluated to </a:t>
            </a:r>
            <a:r>
              <a:rPr lang="en-US" b="1" dirty="0"/>
              <a:t>mitigate environmental risk. </a:t>
            </a:r>
          </a:p>
          <a:p>
            <a:pPr marL="171450" lvl="0" indent="-171450">
              <a:buFont typeface="Arial" panose="020B0604020202020204" pitchFamily="34" charset="0"/>
              <a:buChar char="•"/>
            </a:pPr>
            <a:r>
              <a:rPr lang="en-US" dirty="0"/>
              <a:t>Data centers have a </a:t>
            </a:r>
            <a:r>
              <a:rPr lang="en-US" b="1" dirty="0"/>
              <a:t>redundant design </a:t>
            </a:r>
            <a:r>
              <a:rPr lang="en-US" dirty="0"/>
              <a:t>that anticipates and tolerates failure while maintaining service levels. </a:t>
            </a:r>
          </a:p>
          <a:p>
            <a:pPr marL="171450" lvl="0" indent="-171450">
              <a:buFont typeface="Arial" panose="020B0604020202020204" pitchFamily="34" charset="0"/>
              <a:buChar char="•"/>
            </a:pPr>
            <a:r>
              <a:rPr lang="en-US" dirty="0"/>
              <a:t>To ensure availability, </a:t>
            </a:r>
            <a:r>
              <a:rPr lang="en-US" b="1" dirty="0"/>
              <a:t>critical system components are backed up </a:t>
            </a:r>
            <a:r>
              <a:rPr lang="en-US" dirty="0"/>
              <a:t>across multiple Availability Zones. </a:t>
            </a:r>
          </a:p>
          <a:p>
            <a:pPr marL="171450" lvl="0" indent="-171450">
              <a:buFont typeface="Arial" panose="020B0604020202020204" pitchFamily="34" charset="0"/>
              <a:buChar char="•"/>
            </a:pPr>
            <a:r>
              <a:rPr lang="en-US" dirty="0"/>
              <a:t>To ensure capacity, AWS continuously monitors service usage to deploy infrastructure to support availability commitments and requirements. </a:t>
            </a:r>
          </a:p>
          <a:p>
            <a:pPr marL="171450" lvl="0" indent="-171450">
              <a:buFont typeface="Arial" panose="020B0604020202020204" pitchFamily="34" charset="0"/>
              <a:buChar char="•"/>
            </a:pPr>
            <a:r>
              <a:rPr lang="en-US" dirty="0"/>
              <a:t>Data center </a:t>
            </a:r>
            <a:r>
              <a:rPr lang="en-US" b="1" dirty="0"/>
              <a:t>locations are not disclosed </a:t>
            </a:r>
            <a:r>
              <a:rPr lang="en-US" dirty="0"/>
              <a:t>and all access to them is restricted.</a:t>
            </a:r>
          </a:p>
          <a:p>
            <a:pPr marL="171450" lvl="0" indent="-171450">
              <a:buFont typeface="Arial" panose="020B0604020202020204" pitchFamily="34" charset="0"/>
              <a:buChar char="•"/>
            </a:pPr>
            <a:r>
              <a:rPr lang="en-US" dirty="0"/>
              <a:t>In case of failure, automated processes move data traffic away from the affected area. </a:t>
            </a:r>
          </a:p>
          <a:p>
            <a:r>
              <a:rPr lang="en-US" dirty="0"/>
              <a:t> </a:t>
            </a:r>
          </a:p>
          <a:p>
            <a:pPr lvl="0"/>
            <a:r>
              <a:rPr lang="en-US" dirty="0"/>
              <a:t>AWS uses </a:t>
            </a:r>
            <a:r>
              <a:rPr lang="en-US" b="1" dirty="0"/>
              <a:t>custom network equipment </a:t>
            </a:r>
            <a:r>
              <a:rPr lang="en-US" dirty="0"/>
              <a:t>sourced from </a:t>
            </a:r>
            <a:r>
              <a:rPr lang="en-US" b="1" dirty="0"/>
              <a:t>multiple original device manufacturers (ODMs).</a:t>
            </a:r>
            <a:r>
              <a:rPr lang="en-US" dirty="0"/>
              <a:t> ODMs design and manufacture products based on specifications from a second company. The second company then rebrands the products for sale. </a:t>
            </a:r>
          </a:p>
        </p:txBody>
      </p:sp>
      <p:sp>
        <p:nvSpPr>
          <p:cNvPr id="5" name="Slide Image Placeholder 4">
            <a:extLst>
              <a:ext uri="{FF2B5EF4-FFF2-40B4-BE49-F238E27FC236}">
                <a16:creationId xmlns:a16="http://schemas.microsoft.com/office/drawing/2014/main" id="{3B8CEF8B-6E6B-0186-08D8-64577FDD4A66}"/>
              </a:ext>
            </a:extLst>
          </p:cNvPr>
          <p:cNvSpPr>
            <a:spLocks noGrp="1" noRot="1" noChangeAspect="1"/>
          </p:cNvSpPr>
          <p:nvPr>
            <p:ph type="sldImg"/>
          </p:nvPr>
        </p:nvSpPr>
        <p:spPr/>
      </p:sp>
    </p:spTree>
    <p:extLst>
      <p:ext uri="{BB962C8B-B14F-4D97-AF65-F5344CB8AC3E}">
        <p14:creationId xmlns:p14="http://schemas.microsoft.com/office/powerpoint/2010/main" val="4083240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Amazon CloudFront </a:t>
            </a:r>
            <a:r>
              <a:rPr lang="en-US" dirty="0"/>
              <a:t>is </a:t>
            </a:r>
            <a:r>
              <a:rPr lang="en-US" b="1" dirty="0"/>
              <a:t>a content delivery network (CDN) </a:t>
            </a:r>
            <a:r>
              <a:rPr lang="en-US" dirty="0"/>
              <a:t>used to distribute content to end users to reduce latency. </a:t>
            </a:r>
            <a:r>
              <a:rPr lang="en-US" b="1" dirty="0"/>
              <a:t>Amazon Route 53 </a:t>
            </a:r>
            <a:r>
              <a:rPr lang="en-US" dirty="0"/>
              <a:t>is a Domain Name System (DNS) service. Requests going to either one of these services will be routed to the nearest </a:t>
            </a:r>
            <a:r>
              <a:rPr lang="en-US" b="1" dirty="0"/>
              <a:t>edge location </a:t>
            </a:r>
            <a:r>
              <a:rPr lang="en-US" dirty="0"/>
              <a:t>automatically in order to lower latency.</a:t>
            </a:r>
          </a:p>
          <a:p>
            <a:endParaRPr lang="en-US" dirty="0"/>
          </a:p>
          <a:p>
            <a:r>
              <a:rPr lang="en-US" b="1" dirty="0"/>
              <a:t>AWS Points of Presence </a:t>
            </a:r>
            <a:r>
              <a:rPr lang="en-US" dirty="0"/>
              <a:t>are located in most of the major cities around the world. By </a:t>
            </a:r>
            <a:r>
              <a:rPr lang="en-US" b="1" dirty="0"/>
              <a:t>continuously measuring internet connectivity, performance and computing to find the best way to route requests,</a:t>
            </a:r>
            <a:r>
              <a:rPr lang="en-US" dirty="0"/>
              <a:t> the Points of Presence deliver a better near real-time user experience. They are used by many AWS services, including Amazon CloudFront, Amazon Route 53, AWS Shield, and AWS Web Application Firewall (AWS WAF) services. </a:t>
            </a:r>
          </a:p>
          <a:p>
            <a:r>
              <a:rPr lang="en-US" dirty="0"/>
              <a:t> </a:t>
            </a:r>
          </a:p>
          <a:p>
            <a:pPr lvl="0"/>
            <a:r>
              <a:rPr lang="en-US" b="1" dirty="0"/>
              <a:t>Regional edge caches </a:t>
            </a:r>
            <a:r>
              <a:rPr lang="en-US" dirty="0"/>
              <a:t>are used by default with Amazon CloudFront. Regional edge caches are used when you have content that is not accessed frequently enough to remain in an </a:t>
            </a:r>
            <a:r>
              <a:rPr lang="en-US" b="1" dirty="0"/>
              <a:t>edge location. </a:t>
            </a:r>
            <a:r>
              <a:rPr lang="en-US" dirty="0"/>
              <a:t>Regional edge caches absorb this content and provide an alternative to that content having to be fetched from the origin server.</a:t>
            </a:r>
          </a:p>
        </p:txBody>
      </p:sp>
      <p:sp>
        <p:nvSpPr>
          <p:cNvPr id="5" name="Slide Image Placeholder 4">
            <a:extLst>
              <a:ext uri="{FF2B5EF4-FFF2-40B4-BE49-F238E27FC236}">
                <a16:creationId xmlns:a16="http://schemas.microsoft.com/office/drawing/2014/main" id="{D9032773-8185-B204-9D60-1A4783A23B03}"/>
              </a:ext>
            </a:extLst>
          </p:cNvPr>
          <p:cNvSpPr>
            <a:spLocks noGrp="1" noRot="1" noChangeAspect="1"/>
          </p:cNvSpPr>
          <p:nvPr>
            <p:ph type="sldImg"/>
          </p:nvPr>
        </p:nvSpPr>
        <p:spPr/>
      </p:sp>
    </p:spTree>
    <p:extLst>
      <p:ext uri="{BB962C8B-B14F-4D97-AF65-F5344CB8AC3E}">
        <p14:creationId xmlns:p14="http://schemas.microsoft.com/office/powerpoint/2010/main" val="330801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Now that you have a good understanding of the major components that comprise the AWS Global Infrastructure, let's consider the benefits provided by this infrastructure.</a:t>
            </a:r>
          </a:p>
          <a:p>
            <a:endParaRPr lang="en-US" dirty="0"/>
          </a:p>
          <a:p>
            <a:r>
              <a:rPr lang="en-US" dirty="0"/>
              <a:t>The AWS Global Infrastructure has several valuable features:</a:t>
            </a:r>
          </a:p>
          <a:p>
            <a:pPr marL="171450" lvl="0" indent="-171450">
              <a:buFont typeface="Arial" panose="020B0604020202020204" pitchFamily="34" charset="0"/>
              <a:buChar char="•"/>
            </a:pPr>
            <a:r>
              <a:rPr lang="en-US" dirty="0"/>
              <a:t>First, it is </a:t>
            </a:r>
            <a:r>
              <a:rPr lang="en-US" b="1" dirty="0"/>
              <a:t>elastic</a:t>
            </a:r>
            <a:r>
              <a:rPr lang="en-US" dirty="0"/>
              <a:t> and </a:t>
            </a:r>
            <a:r>
              <a:rPr lang="en-US" b="1" dirty="0"/>
              <a:t>scalable. </a:t>
            </a:r>
            <a:r>
              <a:rPr lang="en-US" dirty="0"/>
              <a:t>This means resources can dynamically adjust to increases or decreases in capacity requirements. It can also rapidly adjust to accommodate growth.</a:t>
            </a:r>
          </a:p>
          <a:p>
            <a:pPr marL="171450" lvl="0" indent="-171450">
              <a:buFont typeface="Arial" panose="020B0604020202020204" pitchFamily="34" charset="0"/>
              <a:buChar char="•"/>
            </a:pPr>
            <a:r>
              <a:rPr lang="en-US" dirty="0"/>
              <a:t>Second, this infrastructure is </a:t>
            </a:r>
            <a:r>
              <a:rPr lang="en-US" b="1" dirty="0"/>
              <a:t>fault tolerant, </a:t>
            </a:r>
            <a:r>
              <a:rPr lang="en-US" dirty="0"/>
              <a:t>which means it has built-in component redundancy which enables it to continue operations despite a failed component.</a:t>
            </a:r>
          </a:p>
          <a:p>
            <a:pPr marL="171450" lvl="0" indent="-171450">
              <a:buFont typeface="Arial" panose="020B0604020202020204" pitchFamily="34" charset="0"/>
              <a:buChar char="•"/>
            </a:pPr>
            <a:r>
              <a:rPr lang="en-US" dirty="0"/>
              <a:t>Finally, it requires minimal to no human intervention, while providing </a:t>
            </a:r>
            <a:r>
              <a:rPr lang="en-US" b="1" dirty="0"/>
              <a:t>high availability </a:t>
            </a:r>
            <a:r>
              <a:rPr lang="en-US" dirty="0"/>
              <a:t>with minimal down time.</a:t>
            </a:r>
          </a:p>
        </p:txBody>
      </p:sp>
      <p:sp>
        <p:nvSpPr>
          <p:cNvPr id="5" name="Slide Image Placeholder 4">
            <a:extLst>
              <a:ext uri="{FF2B5EF4-FFF2-40B4-BE49-F238E27FC236}">
                <a16:creationId xmlns:a16="http://schemas.microsoft.com/office/drawing/2014/main" id="{A700A264-5D00-755E-92EF-8704DE23E9D3}"/>
              </a:ext>
            </a:extLst>
          </p:cNvPr>
          <p:cNvSpPr>
            <a:spLocks noGrp="1" noRot="1" noChangeAspect="1"/>
          </p:cNvSpPr>
          <p:nvPr>
            <p:ph type="sldImg"/>
          </p:nvPr>
        </p:nvSpPr>
        <p:spPr/>
      </p:sp>
    </p:spTree>
    <p:extLst>
      <p:ext uri="{BB962C8B-B14F-4D97-AF65-F5344CB8AC3E}">
        <p14:creationId xmlns:p14="http://schemas.microsoft.com/office/powerpoint/2010/main" val="796471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B52809-B5B7-4F41-8876-28A8C75C3ECB}" type="slidenum">
              <a:rPr lang="en-US" smtClean="0"/>
              <a:t>10</a:t>
            </a:fld>
            <a:endParaRPr lang="en-US"/>
          </a:p>
        </p:txBody>
      </p:sp>
    </p:spTree>
    <p:extLst>
      <p:ext uri="{BB962C8B-B14F-4D97-AF65-F5344CB8AC3E}">
        <p14:creationId xmlns:p14="http://schemas.microsoft.com/office/powerpoint/2010/main" val="3247984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520528"/>
          </a:xfrm>
        </p:spPr>
        <p:txBody>
          <a:bodyPr/>
          <a:lstStyle/>
          <a:p>
            <a:r>
              <a:rPr lang="en-US" dirty="0"/>
              <a:t>AWS offers a broad set of cloud-based services. There are 23 different product or service categories, and each category consists of one or more services. This course will not attempt to introduce you to each service. Rather, the focus of this course is on the services that are most widely used and offer the best introduction to the AWS Cloud. This course also focuses on services that are more likely to be covered in the AWS Certified Cloud Practitioner exam.</a:t>
            </a:r>
          </a:p>
          <a:p>
            <a:endParaRPr lang="en-US" dirty="0"/>
          </a:p>
          <a:p>
            <a:r>
              <a:rPr lang="en-US" dirty="0"/>
              <a:t>The categories that this course will discuss are highlighted on the slide: Compute, Cost Management, Database, Management and Governance, Networking and Content Delivery, Security, Identity, and Compliance, and Storage.</a:t>
            </a:r>
          </a:p>
          <a:p>
            <a:r>
              <a:rPr lang="en-US" dirty="0"/>
              <a:t> </a:t>
            </a:r>
          </a:p>
          <a:p>
            <a:pPr lvl="0"/>
            <a:r>
              <a:rPr lang="en-US" dirty="0"/>
              <a:t>To learn more about AWS products, see Cloud Products at </a:t>
            </a:r>
            <a:r>
              <a:rPr lang="en-GB" dirty="0">
                <a:hlinkClick r:id="rId3"/>
              </a:rPr>
              <a:t>https://</a:t>
            </a:r>
            <a:r>
              <a:rPr lang="en-GB" dirty="0" err="1">
                <a:hlinkClick r:id="rId3"/>
              </a:rPr>
              <a:t>aws.amazon.com</a:t>
            </a:r>
            <a:r>
              <a:rPr lang="en-GB" dirty="0">
                <a:hlinkClick r:id="rId3"/>
              </a:rPr>
              <a:t>/products/</a:t>
            </a:r>
            <a:r>
              <a:rPr lang="en-US" dirty="0"/>
              <a:t>. All AWS products are organized into the service categories that are shown here. For example, if you click </a:t>
            </a:r>
            <a:r>
              <a:rPr lang="en-US" b="1" dirty="0"/>
              <a:t>Compute,</a:t>
            </a:r>
            <a:r>
              <a:rPr lang="en-US" dirty="0"/>
              <a:t> you will see that Amazon Elastic Compute Cloud (Amazon EC2) is first on the list. The compute category also lists many other products and services.</a:t>
            </a:r>
          </a:p>
          <a:p>
            <a:r>
              <a:rPr lang="en-US" dirty="0"/>
              <a:t> </a:t>
            </a:r>
          </a:p>
          <a:p>
            <a:r>
              <a:rPr lang="en-US" dirty="0"/>
              <a:t>If you click </a:t>
            </a:r>
            <a:r>
              <a:rPr lang="en-US" b="1" dirty="0"/>
              <a:t>Amazon EC2,</a:t>
            </a:r>
            <a:r>
              <a:rPr lang="en-US" dirty="0"/>
              <a:t> it takes you to the Amazon EC2 page. Each product page provides a detailed description of the product and lists some of its benefits. </a:t>
            </a:r>
          </a:p>
          <a:p>
            <a:r>
              <a:rPr lang="en-US" dirty="0"/>
              <a:t> </a:t>
            </a:r>
          </a:p>
          <a:p>
            <a:r>
              <a:rPr lang="en-US" dirty="0"/>
              <a:t>Explore the different service groups to understand the categories and services within them. Now that you know how to locate information about different services, this module will discuss the highlighted service categories. </a:t>
            </a:r>
            <a:r>
              <a:rPr lang="en-US" b="1" dirty="0"/>
              <a:t>The next seven slides list the individual services —within each of the categories highlighted above—that this course will discuss.</a:t>
            </a:r>
          </a:p>
        </p:txBody>
      </p:sp>
      <p:sp>
        <p:nvSpPr>
          <p:cNvPr id="5" name="Slide Image Placeholder 4">
            <a:extLst>
              <a:ext uri="{FF2B5EF4-FFF2-40B4-BE49-F238E27FC236}">
                <a16:creationId xmlns:a16="http://schemas.microsoft.com/office/drawing/2014/main" id="{C4F7EBA8-02AF-20C3-6D76-6D1ADF38CD25}"/>
              </a:ext>
            </a:extLst>
          </p:cNvPr>
          <p:cNvSpPr>
            <a:spLocks noGrp="1" noRot="1" noChangeAspect="1"/>
          </p:cNvSpPr>
          <p:nvPr>
            <p:ph type="sldImg"/>
          </p:nvPr>
        </p:nvSpPr>
        <p:spPr/>
      </p:sp>
    </p:spTree>
    <p:extLst>
      <p:ext uri="{BB962C8B-B14F-4D97-AF65-F5344CB8AC3E}">
        <p14:creationId xmlns:p14="http://schemas.microsoft.com/office/powerpoint/2010/main" val="1276178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539382"/>
          </a:xfrm>
        </p:spPr>
        <p:txBody>
          <a:bodyPr/>
          <a:lstStyle/>
          <a:p>
            <a:r>
              <a:rPr lang="en-US" dirty="0"/>
              <a:t>AWS storage services include the services listed here, and many others. </a:t>
            </a:r>
          </a:p>
          <a:p>
            <a:endParaRPr lang="en-US" dirty="0"/>
          </a:p>
          <a:p>
            <a:r>
              <a:rPr lang="en-US" b="1" dirty="0"/>
              <a:t>Amazon Simple Storage Service (Amazon S3) </a:t>
            </a:r>
            <a:r>
              <a:rPr lang="en-US" dirty="0"/>
              <a:t>is an object storage service that offers scalability, data availability, security, and performance. Use it to store and protect any amount of data for websites, mobile apps, backup and restore, archive, enterprise applications, Internet of Things (IoT) devices, and big data analytics. </a:t>
            </a:r>
          </a:p>
          <a:p>
            <a:endParaRPr lang="en-US" dirty="0"/>
          </a:p>
          <a:p>
            <a:r>
              <a:rPr lang="en-US" b="1" dirty="0"/>
              <a:t>Amazon Elastic Block Store (Amazon EBS) </a:t>
            </a:r>
            <a:r>
              <a:rPr lang="en-US" dirty="0"/>
              <a:t>is high-performance block storage that is designed for use with Amazon EC2 for both throughput and transaction intensive workloads. It is used for a broad range of workloads, such as relational and non-relational databases, enterprise applications, containerized applications, big data analytics engines, file systems, and media workflows.</a:t>
            </a:r>
          </a:p>
          <a:p>
            <a:endParaRPr lang="en-US" dirty="0"/>
          </a:p>
          <a:p>
            <a:r>
              <a:rPr lang="en-US" b="1" dirty="0"/>
              <a:t>Amazon Elastic File System (Amazon EFS)</a:t>
            </a:r>
            <a:r>
              <a:rPr lang="en-US" dirty="0"/>
              <a:t> provides a scalable, fully managed elastic Network File System (NFS) file system for use with AWS Cloud services and on-premises resources. It is built to scale on demand to petabytes, growing and shrinking automatically as you add and remove files. It reduces the need to provision and manage capacity to accommodate growth.</a:t>
            </a:r>
          </a:p>
          <a:p>
            <a:endParaRPr lang="en-US" dirty="0"/>
          </a:p>
          <a:p>
            <a:r>
              <a:rPr lang="en-US" b="1" dirty="0"/>
              <a:t>Amazon Simple Storage Service Glacier </a:t>
            </a:r>
            <a:r>
              <a:rPr lang="en-US" dirty="0"/>
              <a:t>is a secure, durable, and extremely low-cost Amazon S3 cloud storage class for data archiving and long-term backup. It is designed to deliver 11 9s of durability, and to provide comprehensive security and compliance capabilities to meet stringent regulatory requirements. </a:t>
            </a:r>
          </a:p>
          <a:p>
            <a:endParaRPr lang="en-US" dirty="0"/>
          </a:p>
        </p:txBody>
      </p:sp>
      <p:sp>
        <p:nvSpPr>
          <p:cNvPr id="5" name="Slide Image Placeholder 4">
            <a:extLst>
              <a:ext uri="{FF2B5EF4-FFF2-40B4-BE49-F238E27FC236}">
                <a16:creationId xmlns:a16="http://schemas.microsoft.com/office/drawing/2014/main" id="{888EE393-6B73-888B-CA43-4D35EB7F7B0C}"/>
              </a:ext>
            </a:extLst>
          </p:cNvPr>
          <p:cNvSpPr>
            <a:spLocks noGrp="1" noRot="1" noChangeAspect="1"/>
          </p:cNvSpPr>
          <p:nvPr>
            <p:ph type="sldImg"/>
          </p:nvPr>
        </p:nvSpPr>
        <p:spPr/>
      </p:sp>
    </p:spTree>
    <p:extLst>
      <p:ext uri="{BB962C8B-B14F-4D97-AF65-F5344CB8AC3E}">
        <p14:creationId xmlns:p14="http://schemas.microsoft.com/office/powerpoint/2010/main" val="2659481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878747"/>
          </a:xfrm>
        </p:spPr>
        <p:txBody>
          <a:bodyPr/>
          <a:lstStyle/>
          <a:p>
            <a:r>
              <a:rPr lang="en-US" dirty="0"/>
              <a:t>AWS compute services include the services listed here, and many others. </a:t>
            </a:r>
          </a:p>
          <a:p>
            <a:endParaRPr lang="en-US" dirty="0"/>
          </a:p>
          <a:p>
            <a:r>
              <a:rPr lang="en-US" b="1" dirty="0"/>
              <a:t>Amazon Elastic Compute Cloud (Amazon EC2) </a:t>
            </a:r>
            <a:r>
              <a:rPr lang="en-US" dirty="0"/>
              <a:t>provides resizable compute capacity as virtual machines in the cloud. </a:t>
            </a:r>
          </a:p>
          <a:p>
            <a:endParaRPr lang="en-US" dirty="0"/>
          </a:p>
          <a:p>
            <a:r>
              <a:rPr lang="en-US" b="1" dirty="0"/>
              <a:t>Amazon EC2 Auto Scaling </a:t>
            </a:r>
            <a:r>
              <a:rPr lang="en-US" dirty="0"/>
              <a:t>enables you to automatically add or remove EC2 instances according to conditions that you define. </a:t>
            </a:r>
          </a:p>
          <a:p>
            <a:endParaRPr lang="en-US" dirty="0"/>
          </a:p>
          <a:p>
            <a:r>
              <a:rPr lang="en-US" b="1" dirty="0"/>
              <a:t>Amazon Elastic Container Service (Amazon ECS) </a:t>
            </a:r>
            <a:r>
              <a:rPr lang="en-US" dirty="0"/>
              <a:t>is a highly scalable, high-performance container orchestration service that supports Docker containers. </a:t>
            </a:r>
          </a:p>
          <a:p>
            <a:endParaRPr lang="en-US" dirty="0"/>
          </a:p>
          <a:p>
            <a:r>
              <a:rPr lang="en-US" b="1" dirty="0"/>
              <a:t>Amazon Elastic Container Registry (Amazon ECR) </a:t>
            </a:r>
            <a:r>
              <a:rPr lang="en-US" dirty="0"/>
              <a:t>is a fully-managed Docker container registry that makes it easy for developers to store, manage, and deploy Docker container images. </a:t>
            </a:r>
          </a:p>
          <a:p>
            <a:endParaRPr lang="en-US" dirty="0"/>
          </a:p>
          <a:p>
            <a:r>
              <a:rPr lang="en-US" b="1" dirty="0"/>
              <a:t>AWS Elastic Beanstalk</a:t>
            </a:r>
            <a:r>
              <a:rPr lang="en-US" dirty="0"/>
              <a:t> is a service for deploying and scaling web applications and services on familiar servers such as Apache and Microsoft Internet Information Services (IIS). </a:t>
            </a:r>
          </a:p>
          <a:p>
            <a:endParaRPr lang="en-US" dirty="0"/>
          </a:p>
          <a:p>
            <a:r>
              <a:rPr lang="en-US" b="1" dirty="0"/>
              <a:t>AWS Lambda</a:t>
            </a:r>
            <a:r>
              <a:rPr lang="en-US" dirty="0"/>
              <a:t> enables you to run code without provisioning or managing servers. You pay only for the compute time that you consume. There is no charge when your code is not running.</a:t>
            </a:r>
          </a:p>
          <a:p>
            <a:endParaRPr lang="en-US" dirty="0"/>
          </a:p>
          <a:p>
            <a:r>
              <a:rPr lang="en-US" b="1" dirty="0"/>
              <a:t>Amazon Elastic Kubernetes Service (Amazon EKS) </a:t>
            </a:r>
            <a:r>
              <a:rPr lang="en-US" dirty="0"/>
              <a:t>makes it easy to deploy, manage, and scale containerized applications that use Kubernetes on AWS.</a:t>
            </a:r>
          </a:p>
          <a:p>
            <a:endParaRPr lang="en-US" dirty="0"/>
          </a:p>
          <a:p>
            <a:r>
              <a:rPr lang="en-US" b="1" dirty="0"/>
              <a:t>AWS Fargate </a:t>
            </a:r>
            <a:r>
              <a:rPr lang="en-US" dirty="0"/>
              <a:t>is a compute engine for Amazon ECS that allows you to run containers without having to manage servers or clusters.</a:t>
            </a:r>
          </a:p>
        </p:txBody>
      </p:sp>
      <p:sp>
        <p:nvSpPr>
          <p:cNvPr id="5" name="Slide Image Placeholder 4">
            <a:extLst>
              <a:ext uri="{FF2B5EF4-FFF2-40B4-BE49-F238E27FC236}">
                <a16:creationId xmlns:a16="http://schemas.microsoft.com/office/drawing/2014/main" id="{860D9EDA-1C0A-516A-6D75-388304158A4F}"/>
              </a:ext>
            </a:extLst>
          </p:cNvPr>
          <p:cNvSpPr>
            <a:spLocks noGrp="1" noRot="1" noChangeAspect="1"/>
          </p:cNvSpPr>
          <p:nvPr>
            <p:ph type="sldImg"/>
          </p:nvPr>
        </p:nvSpPr>
        <p:spPr/>
      </p:sp>
    </p:spTree>
    <p:extLst>
      <p:ext uri="{BB962C8B-B14F-4D97-AF65-F5344CB8AC3E}">
        <p14:creationId xmlns:p14="http://schemas.microsoft.com/office/powerpoint/2010/main" val="2887050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database services include the services listed here, and many others.  </a:t>
            </a:r>
          </a:p>
          <a:p>
            <a:endParaRPr lang="en-US" dirty="0"/>
          </a:p>
          <a:p>
            <a:r>
              <a:rPr lang="en-US" b="1" dirty="0"/>
              <a:t>Amazon Relational Database Service (Amazon RDS) </a:t>
            </a:r>
            <a:r>
              <a:rPr lang="en-US" dirty="0"/>
              <a:t>makes it easy to set up, operate, and scale a relational database in the cloud. It provides resizable capacity while automating time-consuming administration tasks such as hardware provisioning, database setup, patching, and backups. </a:t>
            </a:r>
          </a:p>
          <a:p>
            <a:endParaRPr lang="en-US" dirty="0"/>
          </a:p>
          <a:p>
            <a:r>
              <a:rPr lang="en-US" b="1" dirty="0"/>
              <a:t>Amazon Aurora </a:t>
            </a:r>
            <a:r>
              <a:rPr lang="en-US" dirty="0"/>
              <a:t>is a MySQL and PostgreSQL-compatible relational database. It is up to five times faster than standard MySQL databases and three times faster than standard PostgreSQL databases. </a:t>
            </a:r>
          </a:p>
          <a:p>
            <a:endParaRPr lang="en-US" dirty="0"/>
          </a:p>
          <a:p>
            <a:r>
              <a:rPr lang="en-US" b="1" dirty="0"/>
              <a:t>Amazon Redshift </a:t>
            </a:r>
            <a:r>
              <a:rPr lang="en-US" dirty="0"/>
              <a:t>enables you to run analytic queries against petabytes of data that is stored locally in Amazon Redshift, and directly against exabytes of data that are stored in Amazon S3. It delivers fast performance at any scale.</a:t>
            </a:r>
          </a:p>
          <a:p>
            <a:endParaRPr lang="en-US" dirty="0"/>
          </a:p>
          <a:p>
            <a:r>
              <a:rPr lang="en-US" b="1" dirty="0"/>
              <a:t>Amazon DynamoDB </a:t>
            </a:r>
            <a:r>
              <a:rPr lang="en-US" dirty="0"/>
              <a:t>is a key-value and document database that delivers single-digit millisecond performance at any scale, with built-in security, backup and restore, and in-memory caching.</a:t>
            </a:r>
          </a:p>
        </p:txBody>
      </p:sp>
      <p:sp>
        <p:nvSpPr>
          <p:cNvPr id="5" name="Slide Image Placeholder 4">
            <a:extLst>
              <a:ext uri="{FF2B5EF4-FFF2-40B4-BE49-F238E27FC236}">
                <a16:creationId xmlns:a16="http://schemas.microsoft.com/office/drawing/2014/main" id="{D91EA64B-7595-F28C-E1B7-2A0B998C0A41}"/>
              </a:ext>
            </a:extLst>
          </p:cNvPr>
          <p:cNvSpPr>
            <a:spLocks noGrp="1" noRot="1" noChangeAspect="1"/>
          </p:cNvSpPr>
          <p:nvPr>
            <p:ph type="sldImg"/>
          </p:nvPr>
        </p:nvSpPr>
        <p:spPr/>
      </p:sp>
    </p:spTree>
    <p:extLst>
      <p:ext uri="{BB962C8B-B14F-4D97-AF65-F5344CB8AC3E}">
        <p14:creationId xmlns:p14="http://schemas.microsoft.com/office/powerpoint/2010/main" val="745460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888174"/>
          </a:xfrm>
        </p:spPr>
        <p:txBody>
          <a:bodyPr/>
          <a:lstStyle/>
          <a:p>
            <a:r>
              <a:rPr lang="en-US" dirty="0"/>
              <a:t>AWS networking and content delivery services include the services listed here, and many others.</a:t>
            </a:r>
          </a:p>
          <a:p>
            <a:endParaRPr lang="en-US" dirty="0"/>
          </a:p>
          <a:p>
            <a:r>
              <a:rPr lang="en-US" b="1" dirty="0"/>
              <a:t>Amazon Virtual Private Cloud (Amazon VPC) </a:t>
            </a:r>
            <a:r>
              <a:rPr lang="en-US" dirty="0"/>
              <a:t>enables you to provision logically isolated sections of the AWS Cloud. </a:t>
            </a:r>
          </a:p>
          <a:p>
            <a:endParaRPr lang="en-US" dirty="0"/>
          </a:p>
          <a:p>
            <a:r>
              <a:rPr lang="en-US" b="1" dirty="0"/>
              <a:t>Elastic Load Balancing </a:t>
            </a:r>
            <a:r>
              <a:rPr lang="en-US" dirty="0"/>
              <a:t>automatically distributes incoming application traffic across multiple targets, such as Amazon EC2 instances, containers, IP addresses, and Lambda functions.</a:t>
            </a:r>
          </a:p>
          <a:p>
            <a:endParaRPr lang="en-US" dirty="0"/>
          </a:p>
          <a:p>
            <a:r>
              <a:rPr lang="en-US" b="1" dirty="0"/>
              <a:t>Amazon CloudFront </a:t>
            </a:r>
            <a:r>
              <a:rPr lang="en-US" dirty="0"/>
              <a:t>is a fast content delivery network (CDN) service that securely delivers data, videos, applications, and application programming interfaces (APIs) to customers globally, with low latency and high transfer speeds.</a:t>
            </a:r>
          </a:p>
          <a:p>
            <a:endParaRPr lang="en-US" dirty="0"/>
          </a:p>
          <a:p>
            <a:r>
              <a:rPr lang="en-US" b="1" dirty="0"/>
              <a:t>AWS Transit Gateway </a:t>
            </a:r>
            <a:r>
              <a:rPr lang="en-US" dirty="0"/>
              <a:t>is a service that enables customers to connect their Amazon Virtual Private Clouds (VPCs) and their on-premises networks to a single gateway. </a:t>
            </a:r>
          </a:p>
          <a:p>
            <a:endParaRPr lang="en-US" dirty="0"/>
          </a:p>
          <a:p>
            <a:r>
              <a:rPr lang="en-US" b="1" dirty="0"/>
              <a:t>Amazon Route 53 </a:t>
            </a:r>
            <a:r>
              <a:rPr lang="en-US" dirty="0"/>
              <a:t>is a scalable cloud Domain Name System (DNS) web service designed to give you a reliable way to route end users to internet applications. It translates names (like www.example.com) into the numeric IP addresses (like 192.0.2.1) that computers use to connect to each other. </a:t>
            </a:r>
          </a:p>
          <a:p>
            <a:endParaRPr lang="en-US" dirty="0"/>
          </a:p>
          <a:p>
            <a:r>
              <a:rPr lang="en-US" b="1" dirty="0"/>
              <a:t>AWS Direct Connect </a:t>
            </a:r>
            <a:r>
              <a:rPr lang="en-US" dirty="0"/>
              <a:t>provides a way to establish a dedicated private network connection from your data center or office to AWS, which can reduce network costs and increase bandwidth throughput.</a:t>
            </a:r>
          </a:p>
          <a:p>
            <a:endParaRPr lang="en-US" dirty="0"/>
          </a:p>
          <a:p>
            <a:r>
              <a:rPr lang="en-US" b="1" dirty="0"/>
              <a:t>AWS VPN </a:t>
            </a:r>
            <a:r>
              <a:rPr lang="en-US" dirty="0"/>
              <a:t>provides a secure private tunnel from your network or device to the AWS global network. </a:t>
            </a:r>
          </a:p>
          <a:p>
            <a:endParaRPr lang="en-US" dirty="0"/>
          </a:p>
          <a:p>
            <a:endParaRPr lang="en-US" dirty="0"/>
          </a:p>
          <a:p>
            <a:endParaRPr lang="en-US" dirty="0"/>
          </a:p>
          <a:p>
            <a:endParaRPr lang="en-US" dirty="0"/>
          </a:p>
          <a:p>
            <a:endParaRPr lang="en-US" dirty="0"/>
          </a:p>
        </p:txBody>
      </p:sp>
      <p:sp>
        <p:nvSpPr>
          <p:cNvPr id="5" name="Slide Image Placeholder 4">
            <a:extLst>
              <a:ext uri="{FF2B5EF4-FFF2-40B4-BE49-F238E27FC236}">
                <a16:creationId xmlns:a16="http://schemas.microsoft.com/office/drawing/2014/main" id="{DCC5F2F7-BD27-E801-EC5A-AF0DF3EE7A97}"/>
              </a:ext>
            </a:extLst>
          </p:cNvPr>
          <p:cNvSpPr>
            <a:spLocks noGrp="1" noRot="1" noChangeAspect="1"/>
          </p:cNvSpPr>
          <p:nvPr>
            <p:ph type="sldImg"/>
          </p:nvPr>
        </p:nvSpPr>
        <p:spPr/>
      </p:sp>
    </p:spTree>
    <p:extLst>
      <p:ext uri="{BB962C8B-B14F-4D97-AF65-F5344CB8AC3E}">
        <p14:creationId xmlns:p14="http://schemas.microsoft.com/office/powerpoint/2010/main" val="2666067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security, identity, and compliance services include the services listed here, and many others. </a:t>
            </a:r>
          </a:p>
          <a:p>
            <a:endParaRPr lang="en-US" dirty="0"/>
          </a:p>
          <a:p>
            <a:r>
              <a:rPr lang="en-US" b="1" dirty="0"/>
              <a:t>AWS Identity and Access Management (IAM) </a:t>
            </a:r>
            <a:r>
              <a:rPr lang="en-US" dirty="0"/>
              <a:t>enables you to manage access to AWS services and resources securely. By using IAM, you can create and manage AWS users and groups. You can use IAM permissions to allow and deny user and group access to AWS resources. </a:t>
            </a:r>
          </a:p>
          <a:p>
            <a:endParaRPr lang="en-US" dirty="0"/>
          </a:p>
          <a:p>
            <a:r>
              <a:rPr lang="en-US" b="1" dirty="0"/>
              <a:t>AWS Organizations </a:t>
            </a:r>
            <a:r>
              <a:rPr lang="en-US" dirty="0"/>
              <a:t>allows you to restrict what services and actions are allowed in your accounts. </a:t>
            </a:r>
          </a:p>
          <a:p>
            <a:endParaRPr lang="en-US" dirty="0"/>
          </a:p>
          <a:p>
            <a:r>
              <a:rPr lang="en-US" b="1" dirty="0"/>
              <a:t>Amazon Cognito </a:t>
            </a:r>
            <a:r>
              <a:rPr lang="en-US" dirty="0"/>
              <a:t>lets you add user sign-up, sign-in, and access control to your web and mobile apps.</a:t>
            </a:r>
          </a:p>
          <a:p>
            <a:endParaRPr lang="en-US" dirty="0"/>
          </a:p>
          <a:p>
            <a:r>
              <a:rPr lang="en-US" b="1" dirty="0"/>
              <a:t>AWS Artifact </a:t>
            </a:r>
            <a:r>
              <a:rPr lang="en-US" dirty="0"/>
              <a:t>provides on-demand access to AWS security and compliance reports and select online agreements. </a:t>
            </a:r>
          </a:p>
          <a:p>
            <a:endParaRPr lang="en-US" b="1" dirty="0"/>
          </a:p>
          <a:p>
            <a:r>
              <a:rPr lang="en-US" b="1" dirty="0"/>
              <a:t>AWS Key Management Service (AWS KMS) </a:t>
            </a:r>
            <a:r>
              <a:rPr lang="en-US" dirty="0"/>
              <a:t>enables you to create and manage keys. You can use AWS KMS to control the use of encryption across a wide range of AWS services and in your applications. </a:t>
            </a:r>
          </a:p>
          <a:p>
            <a:endParaRPr lang="en-US" dirty="0"/>
          </a:p>
          <a:p>
            <a:r>
              <a:rPr lang="en-US" b="1" dirty="0"/>
              <a:t>AWS Shield </a:t>
            </a:r>
            <a:r>
              <a:rPr lang="en-US" dirty="0"/>
              <a:t>is a managed Distributed Denial of Service (DDoS) protection service that safeguards applications running on AWS.</a:t>
            </a:r>
          </a:p>
          <a:p>
            <a:endParaRPr lang="en-US" dirty="0"/>
          </a:p>
        </p:txBody>
      </p:sp>
      <p:sp>
        <p:nvSpPr>
          <p:cNvPr id="5" name="Slide Image Placeholder 4">
            <a:extLst>
              <a:ext uri="{FF2B5EF4-FFF2-40B4-BE49-F238E27FC236}">
                <a16:creationId xmlns:a16="http://schemas.microsoft.com/office/drawing/2014/main" id="{0AE3F158-8FB9-D04B-3C17-F5E0FE700AA5}"/>
              </a:ext>
            </a:extLst>
          </p:cNvPr>
          <p:cNvSpPr>
            <a:spLocks noGrp="1" noRot="1" noChangeAspect="1"/>
          </p:cNvSpPr>
          <p:nvPr>
            <p:ph type="sldImg"/>
          </p:nvPr>
        </p:nvSpPr>
        <p:spPr/>
      </p:sp>
    </p:spTree>
    <p:extLst>
      <p:ext uri="{BB962C8B-B14F-4D97-AF65-F5344CB8AC3E}">
        <p14:creationId xmlns:p14="http://schemas.microsoft.com/office/powerpoint/2010/main" val="15232009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cost management services include the services listed here, and others. </a:t>
            </a:r>
          </a:p>
          <a:p>
            <a:endParaRPr lang="en-US" dirty="0"/>
          </a:p>
          <a:p>
            <a:r>
              <a:rPr lang="en-US" dirty="0"/>
              <a:t>The </a:t>
            </a:r>
            <a:r>
              <a:rPr lang="en-US" b="1" dirty="0"/>
              <a:t>AWS Cost and Usage Report </a:t>
            </a:r>
            <a:r>
              <a:rPr lang="en-US" dirty="0"/>
              <a:t>contains the most comprehensive set of AWS cost and usage data available, including additional metadata about AWS services, pricing, and reservations.</a:t>
            </a:r>
          </a:p>
          <a:p>
            <a:endParaRPr lang="en-US" dirty="0"/>
          </a:p>
          <a:p>
            <a:r>
              <a:rPr lang="en-US" b="1" dirty="0"/>
              <a:t>AWS Budgets </a:t>
            </a:r>
            <a:r>
              <a:rPr lang="en-US" dirty="0"/>
              <a:t>enables you to set custom budgets that alert you when your costs or usage exceed (or are forecasted to exceed) your budgeted amount.</a:t>
            </a:r>
          </a:p>
          <a:p>
            <a:endParaRPr lang="en-US" dirty="0"/>
          </a:p>
          <a:p>
            <a:r>
              <a:rPr lang="en-US" b="1" dirty="0"/>
              <a:t>AWS Cost Explorer </a:t>
            </a:r>
            <a:r>
              <a:rPr lang="en-US" dirty="0"/>
              <a:t>has an easy-to-use interface that enables you to visualize, understand, and manage your AWS costs and usage over time. </a:t>
            </a:r>
          </a:p>
        </p:txBody>
      </p:sp>
      <p:sp>
        <p:nvSpPr>
          <p:cNvPr id="5" name="Slide Image Placeholder 4">
            <a:extLst>
              <a:ext uri="{FF2B5EF4-FFF2-40B4-BE49-F238E27FC236}">
                <a16:creationId xmlns:a16="http://schemas.microsoft.com/office/drawing/2014/main" id="{4340BD3A-6F18-7646-FE25-9EC55C68F484}"/>
              </a:ext>
            </a:extLst>
          </p:cNvPr>
          <p:cNvSpPr>
            <a:spLocks noGrp="1" noRot="1" noChangeAspect="1"/>
          </p:cNvSpPr>
          <p:nvPr>
            <p:ph type="sldImg"/>
          </p:nvPr>
        </p:nvSpPr>
        <p:spPr/>
      </p:sp>
    </p:spTree>
    <p:extLst>
      <p:ext uri="{BB962C8B-B14F-4D97-AF65-F5344CB8AC3E}">
        <p14:creationId xmlns:p14="http://schemas.microsoft.com/office/powerpoint/2010/main" val="4177658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management and governance services include the services listed here, and others.</a:t>
            </a:r>
          </a:p>
          <a:p>
            <a:endParaRPr lang="en-US" dirty="0"/>
          </a:p>
          <a:p>
            <a:r>
              <a:rPr lang="en-US" dirty="0"/>
              <a:t>The </a:t>
            </a:r>
            <a:r>
              <a:rPr lang="en-US" b="1" dirty="0"/>
              <a:t>AWS Management Console </a:t>
            </a:r>
            <a:r>
              <a:rPr lang="en-US" dirty="0"/>
              <a:t>provides a web-based user interface for accessing your AWS account.</a:t>
            </a:r>
          </a:p>
          <a:p>
            <a:endParaRPr lang="en-US" dirty="0"/>
          </a:p>
          <a:p>
            <a:r>
              <a:rPr lang="en-US" b="1" dirty="0"/>
              <a:t>AWS Config </a:t>
            </a:r>
            <a:r>
              <a:rPr lang="en-US" dirty="0"/>
              <a:t>provides a service that helps you track resource inventory and changes.</a:t>
            </a:r>
          </a:p>
          <a:p>
            <a:endParaRPr lang="en-US" dirty="0"/>
          </a:p>
          <a:p>
            <a:r>
              <a:rPr lang="en-US" b="1" dirty="0"/>
              <a:t>Amazon CloudWatch </a:t>
            </a:r>
            <a:r>
              <a:rPr lang="en-US" dirty="0"/>
              <a:t>allows you to monitor resources and applications.</a:t>
            </a:r>
          </a:p>
          <a:p>
            <a:endParaRPr lang="en-US" dirty="0"/>
          </a:p>
          <a:p>
            <a:r>
              <a:rPr lang="en-US" b="1" dirty="0"/>
              <a:t>AWS Auto Scaling </a:t>
            </a:r>
            <a:r>
              <a:rPr lang="en-US" dirty="0"/>
              <a:t>provides features that allow you to scale multiple resources to meet demand.</a:t>
            </a:r>
          </a:p>
          <a:p>
            <a:endParaRPr lang="en-US" dirty="0"/>
          </a:p>
          <a:p>
            <a:r>
              <a:rPr lang="en-US" b="1" dirty="0"/>
              <a:t>AWS Command Line Interface </a:t>
            </a:r>
            <a:r>
              <a:rPr lang="en-US" dirty="0"/>
              <a:t>provides a unified tool to manage AWS services.</a:t>
            </a:r>
          </a:p>
          <a:p>
            <a:endParaRPr lang="en-US" dirty="0"/>
          </a:p>
          <a:p>
            <a:r>
              <a:rPr lang="en-US" b="1" dirty="0"/>
              <a:t>AWS Trusted Advisor </a:t>
            </a:r>
            <a:r>
              <a:rPr lang="en-US" dirty="0"/>
              <a:t>helps you optimize performance and security.</a:t>
            </a:r>
          </a:p>
          <a:p>
            <a:endParaRPr lang="en-US" dirty="0"/>
          </a:p>
          <a:p>
            <a:r>
              <a:rPr lang="en-US" b="1" dirty="0"/>
              <a:t>AWS Well-Architected Tool </a:t>
            </a:r>
            <a:r>
              <a:rPr lang="en-US" dirty="0"/>
              <a:t>provides help in reviewing and improving your workloads.</a:t>
            </a:r>
          </a:p>
          <a:p>
            <a:endParaRPr lang="en-US" dirty="0"/>
          </a:p>
          <a:p>
            <a:r>
              <a:rPr lang="en-US" b="1" dirty="0"/>
              <a:t>AWS CloudTrail </a:t>
            </a:r>
            <a:r>
              <a:rPr lang="en-US" dirty="0"/>
              <a:t>tracks user activity and API usage.</a:t>
            </a:r>
          </a:p>
        </p:txBody>
      </p:sp>
      <p:sp>
        <p:nvSpPr>
          <p:cNvPr id="5" name="Slide Image Placeholder 4">
            <a:extLst>
              <a:ext uri="{FF2B5EF4-FFF2-40B4-BE49-F238E27FC236}">
                <a16:creationId xmlns:a16="http://schemas.microsoft.com/office/drawing/2014/main" id="{DEAF2B4F-FF47-3AB7-CC10-F6C3BCFE0559}"/>
              </a:ext>
            </a:extLst>
          </p:cNvPr>
          <p:cNvSpPr>
            <a:spLocks noGrp="1" noRot="1" noChangeAspect="1"/>
          </p:cNvSpPr>
          <p:nvPr>
            <p:ph type="sldImg"/>
          </p:nvPr>
        </p:nvSpPr>
        <p:spPr/>
      </p:sp>
    </p:spTree>
    <p:extLst>
      <p:ext uri="{BB962C8B-B14F-4D97-AF65-F5344CB8AC3E}">
        <p14:creationId xmlns:p14="http://schemas.microsoft.com/office/powerpoint/2010/main" val="3306791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Welcom</a:t>
            </a:r>
            <a:r>
              <a:rPr lang="en-US" baseline="0"/>
              <a:t>e to Module 4:</a:t>
            </a:r>
            <a:r>
              <a:rPr lang="en-US"/>
              <a:t> AWS Cloud Security.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Security is the highest priority at Amazon Web</a:t>
            </a:r>
            <a:r>
              <a:rPr lang="en-US" kern="1200" baseline="0">
                <a:solidFill>
                  <a:schemeClr val="tx1"/>
                </a:solidFill>
                <a:effectLst/>
                <a:latin typeface="+mn-lt"/>
                <a:ea typeface="+mn-ea"/>
                <a:cs typeface="+mn-cs"/>
              </a:rPr>
              <a:t> Services (</a:t>
            </a:r>
            <a:r>
              <a:rPr lang="en-US" kern="1200">
                <a:solidFill>
                  <a:schemeClr val="tx1"/>
                </a:solidFill>
                <a:effectLst/>
                <a:latin typeface="+mn-lt"/>
                <a:ea typeface="+mn-ea"/>
                <a:cs typeface="+mn-cs"/>
              </a:rPr>
              <a:t>AWS). AWS delivers a scalable cloud computing environment that is designed for high availability and dependability, while providing the tools that enable you to run a wide range of applications. Helping to protect the confidentiality, integrity, and availability of your systems and data is critical to AWS, and so is maintaining customer trust and confidence. This module provides an introduction to the AWS approach to security, which includes</a:t>
            </a:r>
            <a:r>
              <a:rPr lang="en-US" kern="1200" baseline="0">
                <a:solidFill>
                  <a:schemeClr val="tx1"/>
                </a:solidFill>
                <a:effectLst/>
                <a:latin typeface="+mn-lt"/>
                <a:ea typeface="+mn-ea"/>
                <a:cs typeface="+mn-cs"/>
              </a:rPr>
              <a:t> both</a:t>
            </a:r>
            <a:r>
              <a:rPr lang="en-US" kern="1200">
                <a:solidFill>
                  <a:schemeClr val="tx1"/>
                </a:solidFill>
                <a:effectLst/>
                <a:latin typeface="+mn-lt"/>
                <a:ea typeface="+mn-ea"/>
                <a:cs typeface="+mn-cs"/>
              </a:rPr>
              <a:t> the controls in the AWS environment and some of the AWS products and features customers can use to meet their security objectives. </a:t>
            </a:r>
            <a:endParaRPr lang="en-US"/>
          </a:p>
        </p:txBody>
      </p:sp>
    </p:spTree>
    <p:extLst>
      <p:ext uri="{BB962C8B-B14F-4D97-AF65-F5344CB8AC3E}">
        <p14:creationId xmlns:p14="http://schemas.microsoft.com/office/powerpoint/2010/main" val="1736860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Introducing Section 1: AWS shared responsibility model.</a:t>
            </a:r>
          </a:p>
          <a:p>
            <a:r>
              <a:rPr lang="en-US" sz="1100" kern="1200">
                <a:solidFill>
                  <a:schemeClr val="tx1"/>
                </a:solidFill>
                <a:effectLst/>
                <a:latin typeface="+mn-lt"/>
                <a:ea typeface="+mn-ea"/>
                <a:cs typeface="+mn-cs"/>
              </a:rPr>
              <a:t> </a:t>
            </a:r>
          </a:p>
          <a:p>
            <a:endParaRPr lang="en-US" sz="1100" kern="1200">
              <a:solidFill>
                <a:schemeClr val="tx1"/>
              </a:solidFill>
              <a:effectLst/>
              <a:latin typeface="+mn-lt"/>
              <a:ea typeface="+mn-ea"/>
              <a:cs typeface="+mn-cs"/>
            </a:endParaRPr>
          </a:p>
          <a:p>
            <a:endParaRPr lang="en-US" sz="1100"/>
          </a:p>
        </p:txBody>
      </p:sp>
    </p:spTree>
    <p:extLst>
      <p:ext uri="{BB962C8B-B14F-4D97-AF65-F5344CB8AC3E}">
        <p14:creationId xmlns:p14="http://schemas.microsoft.com/office/powerpoint/2010/main" val="1890654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4" name="Notes Placeholder 3"/>
          <p:cNvSpPr>
            <a:spLocks noGrp="1"/>
          </p:cNvSpPr>
          <p:nvPr>
            <p:ph type="body" sz="quarter" idx="10"/>
          </p:nvPr>
        </p:nvSpPr>
        <p:spPr>
          <a:xfrm>
            <a:off x="777875" y="4840288"/>
            <a:ext cx="6216650" cy="3960812"/>
          </a:xfrm>
          <a:prstGeom prst="rect">
            <a:avLst/>
          </a:prstGeom>
        </p:spPr>
        <p:txBody>
          <a:bodyPr/>
          <a:lstStyle/>
          <a:p>
            <a:r>
              <a:rPr lang="en-US" dirty="0"/>
              <a:t>Security and compliance are a shared responsibility between AWS and the customer. This shared responsibility model is designed to help relieve the customer’s operational burden. At the same time, to provide the flexibility and customer control that enables the deployment of customer solutions on AWS, the customer remains responsible for some aspects of the overall security. The differentiation of who is responsible for what is commonly referred to as </a:t>
            </a:r>
            <a:r>
              <a:rPr lang="en-US" i="1" dirty="0"/>
              <a:t>security “of” the cloud</a:t>
            </a:r>
            <a:r>
              <a:rPr lang="en-US" dirty="0"/>
              <a:t> versus </a:t>
            </a:r>
            <a:r>
              <a:rPr lang="en-US" i="1" dirty="0"/>
              <a:t>security “in” the cloud</a:t>
            </a:r>
            <a:r>
              <a:rPr lang="en-US" dirty="0"/>
              <a:t>.</a:t>
            </a:r>
          </a:p>
          <a:p>
            <a:endParaRPr lang="en-US" b="1" dirty="0"/>
          </a:p>
          <a:p>
            <a:r>
              <a:rPr lang="en-US" b="1" dirty="0"/>
              <a:t>AWS </a:t>
            </a:r>
            <a:r>
              <a:rPr lang="en-US" b="0" dirty="0"/>
              <a:t>operates, manages, and controls the components from the software </a:t>
            </a:r>
            <a:r>
              <a:rPr lang="en-US" dirty="0"/>
              <a:t>virtualization layer down to the physical security of the facilities where AWS services operate.</a:t>
            </a:r>
            <a:r>
              <a:rPr lang="en-US" b="1" dirty="0"/>
              <a:t> AWS is responsible</a:t>
            </a:r>
            <a:r>
              <a:rPr lang="en-US" dirty="0"/>
              <a:t> for protecting the infrastructure that runs all the services that</a:t>
            </a:r>
            <a:r>
              <a:rPr lang="en-US" baseline="0" dirty="0"/>
              <a:t> are </a:t>
            </a:r>
            <a:r>
              <a:rPr lang="en-US" dirty="0"/>
              <a:t>offered in the AWS Cloud. This infrastructure is composed of the hardware, software, networking, and facilities that run the AWS Cloud services.</a:t>
            </a:r>
          </a:p>
          <a:p>
            <a:endParaRPr lang="en-US" dirty="0"/>
          </a:p>
          <a:p>
            <a:r>
              <a:rPr lang="en-US" b="1" dirty="0"/>
              <a:t>The customer is responsible</a:t>
            </a:r>
            <a:r>
              <a:rPr lang="en-US" dirty="0"/>
              <a:t> for the encryption of data at rest and data in transit. The customer should also ensure that the network is configured for security and that security credentials and logins are managed safely. Additionally, the customer is responsible for the configuration of security groups and the configuration of the operating system that run on compute instances that they launch (including updates and security patches). </a:t>
            </a:r>
          </a:p>
          <a:p>
            <a:endParaRPr lang="en-US" sz="1100" dirty="0"/>
          </a:p>
        </p:txBody>
      </p:sp>
    </p:spTree>
    <p:extLst>
      <p:ext uri="{BB962C8B-B14F-4D97-AF65-F5344CB8AC3E}">
        <p14:creationId xmlns:p14="http://schemas.microsoft.com/office/powerpoint/2010/main" val="3301062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7"/>
            <a:ext cx="6216650" cy="4733203"/>
          </a:xfrm>
          <a:prstGeom prst="rect">
            <a:avLst/>
          </a:prstGeom>
        </p:spPr>
        <p:txBody>
          <a:bodyPr/>
          <a:lstStyle/>
          <a:p>
            <a:r>
              <a:rPr lang="en-US"/>
              <a:t>AWS is responsible for security </a:t>
            </a:r>
            <a:r>
              <a:rPr lang="en-US" b="1" i="1"/>
              <a:t>of</a:t>
            </a:r>
            <a:r>
              <a:rPr lang="en-US" i="1"/>
              <a:t> </a:t>
            </a:r>
            <a:r>
              <a:rPr lang="en-US"/>
              <a:t>the cloud. But what does that mean?</a:t>
            </a:r>
          </a:p>
          <a:p>
            <a:endParaRPr lang="en-US"/>
          </a:p>
          <a:p>
            <a:r>
              <a:rPr lang="en-US"/>
              <a:t>Under the AWS shared responsibility model, AWS operates, manages, and controls the components from the bare metal host operating system and hypervisor virtualization layer down to the physical security of the facilities where the services operate. It means that AWS is responsible for protecting the global infrastructure that runs all the services that are offered in the AWS Cloud. The global infrastructure includes AWS Regions, Availability Zones, and edge locations.</a:t>
            </a:r>
          </a:p>
          <a:p>
            <a:r>
              <a:rPr lang="en-US"/>
              <a:t> </a:t>
            </a:r>
          </a:p>
          <a:p>
            <a:r>
              <a:rPr lang="en-US"/>
              <a:t>AWS is responsible for the physical infrastructure that hosts your resources, including:</a:t>
            </a:r>
          </a:p>
          <a:p>
            <a:pPr marL="171450" lvl="0" indent="-171450">
              <a:buFont typeface="Arial" panose="020B0604020202020204" pitchFamily="34" charset="0"/>
              <a:buChar char="•"/>
            </a:pPr>
            <a:r>
              <a:rPr lang="en-US" b="1"/>
              <a:t>Physical security of data centers </a:t>
            </a:r>
            <a:r>
              <a:rPr lang="en-US"/>
              <a:t>with controlled, need-based access; located in nondescript facilities, with 24/7 security guards;</a:t>
            </a:r>
            <a:r>
              <a:rPr lang="en-US" baseline="0"/>
              <a:t> </a:t>
            </a:r>
            <a:r>
              <a:rPr lang="en-US"/>
              <a:t>two-factor authentication; access logging and review; video surveillance; and disk degaussing and destruction.</a:t>
            </a:r>
          </a:p>
          <a:p>
            <a:pPr marL="171450" lvl="0" indent="-171450">
              <a:buFont typeface="Arial" panose="020B0604020202020204" pitchFamily="34" charset="0"/>
              <a:buChar char="•"/>
            </a:pPr>
            <a:r>
              <a:rPr lang="en-US" b="1"/>
              <a:t>Hardware infrastructure</a:t>
            </a:r>
            <a:r>
              <a:rPr lang="en-US" b="0"/>
              <a:t>,</a:t>
            </a:r>
            <a:r>
              <a:rPr lang="en-US" b="1"/>
              <a:t> </a:t>
            </a:r>
            <a:r>
              <a:rPr lang="en-US"/>
              <a:t>such as servers, storage devices, and other appliances that AWS relies on.</a:t>
            </a:r>
          </a:p>
          <a:p>
            <a:pPr marL="171450" lvl="0" indent="-171450">
              <a:buFont typeface="Arial" panose="020B0604020202020204" pitchFamily="34" charset="0"/>
              <a:buChar char="•"/>
            </a:pPr>
            <a:r>
              <a:rPr lang="en-US" b="1"/>
              <a:t>Software infrastructure</a:t>
            </a:r>
            <a:r>
              <a:rPr lang="en-US" b="0"/>
              <a:t>,</a:t>
            </a:r>
            <a:r>
              <a:rPr lang="en-US" b="1"/>
              <a:t> </a:t>
            </a:r>
            <a:r>
              <a:rPr lang="en-US"/>
              <a:t>which hosts operating systems, service applications, and virtualization software.</a:t>
            </a:r>
          </a:p>
          <a:p>
            <a:pPr marL="171450" lvl="0" indent="-171450">
              <a:buFont typeface="Arial" panose="020B0604020202020204" pitchFamily="34" charset="0"/>
              <a:buChar char="•"/>
            </a:pPr>
            <a:r>
              <a:rPr lang="en-US" b="1"/>
              <a:t>Network infrastructure</a:t>
            </a:r>
            <a:r>
              <a:rPr lang="en-US" b="0"/>
              <a:t>, such as</a:t>
            </a:r>
            <a:r>
              <a:rPr lang="en-US" b="1"/>
              <a:t> </a:t>
            </a:r>
            <a:r>
              <a:rPr lang="en-US"/>
              <a:t>routers, switches, load balancers, firewalls, and cabling. AWS also continuously monitors the network at external boundaries, secures access points, and provides redundant infrastructure with intrusion detection.</a:t>
            </a:r>
            <a:br>
              <a:rPr lang="en-US"/>
            </a:br>
            <a:endParaRPr lang="en-US"/>
          </a:p>
          <a:p>
            <a:r>
              <a:rPr lang="en-US"/>
              <a:t>Protecting this infrastructure is the top priority for AWS. While you cannot visit AWS data centers or offices to see this protection firsthand, Amazon provides several reports from third-party auditors who have verified our compliance with a variety of computer security standards and regulations.</a:t>
            </a:r>
          </a:p>
        </p:txBody>
      </p:sp>
    </p:spTree>
    <p:extLst>
      <p:ext uri="{BB962C8B-B14F-4D97-AF65-F5344CB8AC3E}">
        <p14:creationId xmlns:p14="http://schemas.microsoft.com/office/powerpoint/2010/main" val="786268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indent="0" algn="l" defTabSz="457200" rtl="0" eaLnBrk="1" fontAlgn="auto" latinLnBrk="0" hangingPunct="1">
              <a:lnSpc>
                <a:spcPct val="100000"/>
              </a:lnSpc>
              <a:spcBef>
                <a:spcPts val="0"/>
              </a:spcBef>
              <a:spcAft>
                <a:spcPts val="600"/>
              </a:spcAft>
              <a:buClrTx/>
              <a:buSzTx/>
              <a:buFontTx/>
              <a:buNone/>
              <a:tabLst/>
              <a:defRPr/>
            </a:pPr>
            <a:r>
              <a:rPr lang="en-US" kern="1200">
                <a:solidFill>
                  <a:schemeClr val="tx1"/>
                </a:solidFill>
                <a:effectLst/>
                <a:latin typeface="+mn-lt"/>
                <a:ea typeface="+mn-ea"/>
                <a:cs typeface="+mn-cs"/>
              </a:rPr>
              <a:t>While the cloud infrastructure is secured and maintained by AWS, customers are responsible for security of everything they put </a:t>
            </a:r>
            <a:r>
              <a:rPr lang="en-US" b="1" i="1" kern="1200">
                <a:solidFill>
                  <a:schemeClr val="tx1"/>
                </a:solidFill>
                <a:effectLst/>
                <a:latin typeface="+mn-lt"/>
                <a:ea typeface="+mn-ea"/>
                <a:cs typeface="+mn-cs"/>
              </a:rPr>
              <a:t>in</a:t>
            </a:r>
            <a:r>
              <a:rPr lang="en-US" kern="1200">
                <a:solidFill>
                  <a:schemeClr val="tx1"/>
                </a:solidFill>
                <a:effectLst/>
                <a:latin typeface="+mn-lt"/>
                <a:ea typeface="+mn-ea"/>
                <a:cs typeface="+mn-cs"/>
              </a:rPr>
              <a:t> the cloud. </a:t>
            </a:r>
          </a:p>
          <a:p>
            <a:pPr marL="0" marR="0" indent="0" algn="l" defTabSz="457200" rtl="0" eaLnBrk="1" fontAlgn="auto" latinLnBrk="0" hangingPunct="1">
              <a:lnSpc>
                <a:spcPct val="100000"/>
              </a:lnSpc>
              <a:spcBef>
                <a:spcPts val="0"/>
              </a:spcBef>
              <a:spcAft>
                <a:spcPts val="600"/>
              </a:spcAft>
              <a:buClrTx/>
              <a:buSzTx/>
              <a:buFontTx/>
              <a:buNone/>
              <a:tabLst/>
              <a:defRPr/>
            </a:pPr>
            <a:r>
              <a:rPr lang="en-US" kern="1200">
                <a:solidFill>
                  <a:schemeClr val="tx1"/>
                </a:solidFill>
                <a:effectLst/>
                <a:ea typeface="+mn-ea"/>
                <a:cs typeface="+mn-cs"/>
              </a:rPr>
              <a:t>The </a:t>
            </a:r>
            <a:r>
              <a:rPr lang="en-US" b="1" kern="1200">
                <a:solidFill>
                  <a:schemeClr val="tx1"/>
                </a:solidFill>
                <a:effectLst/>
                <a:ea typeface="+mn-ea"/>
                <a:cs typeface="+mn-cs"/>
              </a:rPr>
              <a:t>customer is responsible</a:t>
            </a:r>
            <a:r>
              <a:rPr lang="en-US" kern="1200">
                <a:solidFill>
                  <a:schemeClr val="tx1"/>
                </a:solidFill>
                <a:effectLst/>
                <a:ea typeface="+mn-ea"/>
                <a:cs typeface="+mn-cs"/>
              </a:rPr>
              <a:t> for what is implemented by using AWS services and for the applications that are connected to AWS. The security steps</a:t>
            </a:r>
            <a:r>
              <a:rPr lang="en-US" kern="1200" baseline="0">
                <a:solidFill>
                  <a:schemeClr val="tx1"/>
                </a:solidFill>
                <a:effectLst/>
                <a:ea typeface="+mn-ea"/>
                <a:cs typeface="+mn-cs"/>
              </a:rPr>
              <a:t> that</a:t>
            </a:r>
            <a:r>
              <a:rPr lang="en-US" kern="1200">
                <a:solidFill>
                  <a:schemeClr val="tx1"/>
                </a:solidFill>
                <a:effectLst/>
                <a:ea typeface="+mn-ea"/>
                <a:cs typeface="+mn-cs"/>
              </a:rPr>
              <a:t> you must take depend on the services that you use and the complexity of your system.</a:t>
            </a:r>
          </a:p>
          <a:p>
            <a:pPr defTabSz="457200">
              <a:spcAft>
                <a:spcPts val="600"/>
              </a:spcAft>
              <a:defRPr/>
            </a:pPr>
            <a:r>
              <a:rPr lang="en-US"/>
              <a:t>Customer responsibilities include selecting and securing any instance operating systems, securing the applications that are launched on AWS resources, security group configurations, firewall configurations, network configurations, and secure account management. </a:t>
            </a:r>
          </a:p>
          <a:p>
            <a:pPr defTabSz="457200">
              <a:spcAft>
                <a:spcPts val="600"/>
              </a:spcAft>
              <a:defRPr/>
            </a:pPr>
            <a:r>
              <a:rPr lang="en-US" kern="1200">
                <a:solidFill>
                  <a:schemeClr val="tx1"/>
                </a:solidFill>
                <a:effectLst/>
                <a:latin typeface="+mn-lt"/>
                <a:ea typeface="+mn-ea"/>
                <a:cs typeface="+mn-cs"/>
              </a:rPr>
              <a:t>When customers use AWS services, they maintain complete control over their content.</a:t>
            </a:r>
            <a:r>
              <a:rPr lang="en-US" kern="1200" baseline="0">
                <a:solidFill>
                  <a:schemeClr val="tx1"/>
                </a:solidFill>
                <a:effectLst/>
                <a:latin typeface="+mn-lt"/>
                <a:ea typeface="+mn-ea"/>
                <a:cs typeface="+mn-cs"/>
              </a:rPr>
              <a:t> Customers </a:t>
            </a:r>
            <a:r>
              <a:rPr lang="en-US" kern="1200">
                <a:solidFill>
                  <a:schemeClr val="tx1"/>
                </a:solidFill>
                <a:effectLst/>
                <a:latin typeface="+mn-lt"/>
                <a:ea typeface="+mn-ea"/>
                <a:cs typeface="+mn-cs"/>
              </a:rPr>
              <a:t>are responsible for managing critical content security requirements, including: </a:t>
            </a:r>
          </a:p>
          <a:p>
            <a:pPr marL="171450" lvl="0" indent="-171450">
              <a:buFont typeface="Arial" panose="020B0604020202020204" pitchFamily="34" charset="0"/>
              <a:buChar char="•"/>
            </a:pPr>
            <a:r>
              <a:rPr lang="en-US" kern="1200">
                <a:solidFill>
                  <a:schemeClr val="tx1"/>
                </a:solidFill>
                <a:effectLst/>
                <a:latin typeface="+mn-lt"/>
                <a:ea typeface="+mn-ea"/>
                <a:cs typeface="+mn-cs"/>
              </a:rPr>
              <a:t>What content they choose to store on AWS</a:t>
            </a:r>
          </a:p>
          <a:p>
            <a:pPr marL="171450" lvl="0" indent="-171450">
              <a:buFont typeface="Arial" panose="020B0604020202020204" pitchFamily="34" charset="0"/>
              <a:buChar char="•"/>
            </a:pPr>
            <a:r>
              <a:rPr lang="en-US" kern="1200">
                <a:solidFill>
                  <a:schemeClr val="tx1"/>
                </a:solidFill>
                <a:effectLst/>
                <a:latin typeface="+mn-lt"/>
                <a:ea typeface="+mn-ea"/>
                <a:cs typeface="+mn-cs"/>
              </a:rPr>
              <a:t>Which AWS services are used with the content</a:t>
            </a:r>
          </a:p>
          <a:p>
            <a:pPr marL="171450" lvl="0" indent="-171450">
              <a:buFont typeface="Arial" panose="020B0604020202020204" pitchFamily="34" charset="0"/>
              <a:buChar char="•"/>
            </a:pPr>
            <a:r>
              <a:rPr lang="en-US" kern="1200">
                <a:solidFill>
                  <a:schemeClr val="tx1"/>
                </a:solidFill>
                <a:effectLst/>
                <a:latin typeface="+mn-lt"/>
                <a:ea typeface="+mn-ea"/>
                <a:cs typeface="+mn-cs"/>
              </a:rPr>
              <a:t>In what country that content is stored</a:t>
            </a:r>
          </a:p>
          <a:p>
            <a:pPr marL="171450" lvl="0" indent="-171450">
              <a:buFont typeface="Arial" panose="020B0604020202020204" pitchFamily="34" charset="0"/>
              <a:buChar char="•"/>
            </a:pPr>
            <a:r>
              <a:rPr lang="en-US" kern="1200">
                <a:solidFill>
                  <a:schemeClr val="tx1"/>
                </a:solidFill>
                <a:effectLst/>
                <a:latin typeface="+mn-lt"/>
                <a:ea typeface="+mn-ea"/>
                <a:cs typeface="+mn-cs"/>
              </a:rPr>
              <a:t>The format and structure of that content and whether it is masked, anonymized, or encrypted</a:t>
            </a:r>
          </a:p>
          <a:p>
            <a:pPr marL="171450" lvl="0" indent="-171450">
              <a:buFont typeface="Arial" panose="020B0604020202020204" pitchFamily="34" charset="0"/>
              <a:buChar char="•"/>
            </a:pPr>
            <a:r>
              <a:rPr lang="en-US" kern="1200">
                <a:solidFill>
                  <a:schemeClr val="tx1"/>
                </a:solidFill>
                <a:effectLst/>
                <a:latin typeface="+mn-lt"/>
                <a:ea typeface="+mn-ea"/>
                <a:cs typeface="+mn-cs"/>
              </a:rPr>
              <a:t>Who has access to that content and how those access rights are granted, managed, and revoked</a:t>
            </a:r>
          </a:p>
          <a:p>
            <a:pPr lvl="0"/>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a:solidFill>
                  <a:schemeClr val="tx1"/>
                </a:solidFill>
                <a:effectLst/>
                <a:latin typeface="+mn-lt"/>
                <a:ea typeface="+mn-ea"/>
                <a:cs typeface="+mn-cs"/>
              </a:rPr>
              <a:t>Customers retain control of what security they choose to implement to protect their own data, environment, applications, IAM configurations, and operating systems. </a:t>
            </a:r>
          </a:p>
        </p:txBody>
      </p:sp>
    </p:spTree>
    <p:extLst>
      <p:ext uri="{BB962C8B-B14F-4D97-AF65-F5344CB8AC3E}">
        <p14:creationId xmlns:p14="http://schemas.microsoft.com/office/powerpoint/2010/main" val="2056702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2488"/>
          </a:xfrm>
          <a:prstGeom prst="rect">
            <a:avLst/>
          </a:prstGeom>
        </p:spPr>
      </p:sp>
      <p:sp>
        <p:nvSpPr>
          <p:cNvPr id="3" name="Notes Placeholder 2"/>
          <p:cNvSpPr>
            <a:spLocks noGrp="1"/>
          </p:cNvSpPr>
          <p:nvPr>
            <p:ph type="body" idx="1"/>
          </p:nvPr>
        </p:nvSpPr>
        <p:spPr>
          <a:xfrm>
            <a:off x="777875" y="4840287"/>
            <a:ext cx="6216650" cy="4774767"/>
          </a:xfrm>
          <a:prstGeom prst="rect">
            <a:avLst/>
          </a:prstGeom>
        </p:spPr>
        <p:txBody>
          <a:bodyPr/>
          <a:lstStyle/>
          <a:p>
            <a:r>
              <a:rPr lang="en-US" kern="1200" dirty="0">
                <a:solidFill>
                  <a:schemeClr val="tx1"/>
                </a:solidFill>
                <a:effectLst/>
                <a:ea typeface="+mn-ea"/>
                <a:cs typeface="+mn-cs"/>
              </a:rPr>
              <a:t>Consider the case where a customer uses the AWS services and resources that</a:t>
            </a:r>
            <a:r>
              <a:rPr lang="en-US" kern="1200" baseline="0" dirty="0">
                <a:solidFill>
                  <a:schemeClr val="tx1"/>
                </a:solidFill>
                <a:effectLst/>
                <a:ea typeface="+mn-ea"/>
                <a:cs typeface="+mn-cs"/>
              </a:rPr>
              <a:t> are </a:t>
            </a:r>
            <a:r>
              <a:rPr lang="en-US" kern="1200" dirty="0">
                <a:solidFill>
                  <a:schemeClr val="tx1"/>
                </a:solidFill>
                <a:effectLst/>
                <a:ea typeface="+mn-ea"/>
                <a:cs typeface="+mn-cs"/>
              </a:rPr>
              <a:t>shown here. Who is responsible for maintaining security? AWS or the customer?</a:t>
            </a:r>
          </a:p>
        </p:txBody>
      </p:sp>
    </p:spTree>
    <p:extLst>
      <p:ext uri="{BB962C8B-B14F-4D97-AF65-F5344CB8AC3E}">
        <p14:creationId xmlns:p14="http://schemas.microsoft.com/office/powerpoint/2010/main" val="3318010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dirty="0">
                <a:solidFill>
                  <a:schemeClr val="tx1"/>
                </a:solidFill>
                <a:effectLst/>
                <a:ea typeface="+mn-ea"/>
                <a:cs typeface="+mn-cs"/>
              </a:rPr>
              <a:t>Now, consider this additional case where a customer uses the AWS services and resources that are shown here. Who is responsible for maintaining security? AWS or the customer?</a:t>
            </a:r>
          </a:p>
        </p:txBody>
      </p:sp>
    </p:spTree>
    <p:extLst>
      <p:ext uri="{BB962C8B-B14F-4D97-AF65-F5344CB8AC3E}">
        <p14:creationId xmlns:p14="http://schemas.microsoft.com/office/powerpoint/2010/main" val="28393217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Introducing Section 2: AWS Identity and Access Management (or IAM).</a:t>
            </a:r>
          </a:p>
        </p:txBody>
      </p:sp>
    </p:spTree>
    <p:extLst>
      <p:ext uri="{BB962C8B-B14F-4D97-AF65-F5344CB8AC3E}">
        <p14:creationId xmlns:p14="http://schemas.microsoft.com/office/powerpoint/2010/main" val="1886930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AWS Identity and Access Management (IAM)</a:t>
            </a:r>
            <a:r>
              <a:rPr lang="en-US" dirty="0"/>
              <a:t> allows you to control access to compute, storage, database, and application services in the AWS Cloud.</a:t>
            </a:r>
            <a:r>
              <a:rPr lang="en-US" baseline="0" dirty="0"/>
              <a:t> IAM can be used to handle authentication, and to specify and enforce authorization policies so that </a:t>
            </a:r>
            <a:r>
              <a:rPr lang="en-US" dirty="0"/>
              <a:t>you can specify which users can access which services. </a:t>
            </a:r>
          </a:p>
          <a:p>
            <a:endParaRPr lang="en-US" kern="1200" dirty="0">
              <a:solidFill>
                <a:schemeClr val="tx1"/>
              </a:solidFill>
              <a:effectLst/>
              <a:ea typeface="+mn-ea"/>
              <a:cs typeface="+mn-cs"/>
            </a:endParaRPr>
          </a:p>
          <a:p>
            <a:r>
              <a:rPr lang="en-US" kern="1200" dirty="0">
                <a:solidFill>
                  <a:schemeClr val="tx1"/>
                </a:solidFill>
                <a:effectLst/>
                <a:ea typeface="+mn-ea"/>
                <a:cs typeface="+mn-cs"/>
              </a:rPr>
              <a:t>IAM is a tool that centrally manages access to launching, configuring, managing, and terminating resources in your AWS account. It provides granular control over access to resources, including the ability to specify exactly which </a:t>
            </a:r>
            <a:r>
              <a:rPr lang="en-US" b="1" kern="1200" dirty="0">
                <a:solidFill>
                  <a:schemeClr val="tx1"/>
                </a:solidFill>
                <a:effectLst/>
                <a:ea typeface="+mn-ea"/>
                <a:cs typeface="+mn-cs"/>
              </a:rPr>
              <a:t>API </a:t>
            </a:r>
            <a:r>
              <a:rPr lang="en-US" kern="1200" dirty="0">
                <a:solidFill>
                  <a:schemeClr val="tx1"/>
                </a:solidFill>
                <a:effectLst/>
                <a:ea typeface="+mn-ea"/>
                <a:cs typeface="+mn-cs"/>
              </a:rPr>
              <a:t>calls the user is authorized to make to each service. Whether you use the AWS Management Console, the AWS CLI, or the AWS software development kits (SDKs), every call to an AWS service is an API call.</a:t>
            </a:r>
          </a:p>
          <a:p>
            <a:endParaRPr lang="en-US"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 IAM, you can manage </a:t>
            </a:r>
            <a:r>
              <a:rPr lang="en-US" i="1" dirty="0"/>
              <a:t>which</a:t>
            </a:r>
            <a:r>
              <a:rPr lang="en-US" dirty="0"/>
              <a:t> resources can be accessed by </a:t>
            </a:r>
            <a:r>
              <a:rPr lang="en-US" i="1" dirty="0"/>
              <a:t>who</a:t>
            </a:r>
            <a:r>
              <a:rPr lang="en-US" i="0" dirty="0"/>
              <a:t>,</a:t>
            </a:r>
            <a:r>
              <a:rPr lang="en-US" dirty="0"/>
              <a:t> and </a:t>
            </a:r>
            <a:r>
              <a:rPr lang="en-US" i="1" dirty="0"/>
              <a:t>how</a:t>
            </a:r>
            <a:r>
              <a:rPr lang="en-US" dirty="0"/>
              <a:t> these</a:t>
            </a:r>
            <a:r>
              <a:rPr lang="en-US" baseline="0" dirty="0"/>
              <a:t> resources</a:t>
            </a:r>
            <a:r>
              <a:rPr lang="en-US" dirty="0"/>
              <a:t> can be accessed. </a:t>
            </a:r>
            <a:r>
              <a:rPr lang="en-US" b="0" i="0" kern="1200" dirty="0">
                <a:solidFill>
                  <a:schemeClr val="tx1"/>
                </a:solidFill>
                <a:effectLst/>
                <a:ea typeface="+mn-ea"/>
                <a:cs typeface="+mn-cs"/>
              </a:rPr>
              <a:t>You can grant different permissions to different people for different resources. For example, you might allow some users full access to Amazon EC2, Amazon S3, Amazon DynamoDB, Amazon Redshift, and other AWS services. However, for other users, you might allow read-only access to only a few S3 buckets.</a:t>
            </a:r>
            <a:r>
              <a:rPr lang="en-US" b="0" i="0" kern="1200" baseline="0" dirty="0">
                <a:solidFill>
                  <a:schemeClr val="tx1"/>
                </a:solidFill>
                <a:effectLst/>
                <a:ea typeface="+mn-ea"/>
                <a:cs typeface="+mn-cs"/>
              </a:rPr>
              <a:t> Similarly, y</a:t>
            </a:r>
            <a:r>
              <a:rPr lang="en-US" b="0" i="0" kern="1200" dirty="0">
                <a:solidFill>
                  <a:schemeClr val="tx1"/>
                </a:solidFill>
                <a:effectLst/>
                <a:ea typeface="+mn-ea"/>
                <a:cs typeface="+mn-cs"/>
              </a:rPr>
              <a:t>ou might grant permission to other users to administer only specific EC2 instances.</a:t>
            </a:r>
            <a:r>
              <a:rPr lang="en-US" b="0" i="0" kern="1200" baseline="0" dirty="0">
                <a:solidFill>
                  <a:schemeClr val="tx1"/>
                </a:solidFill>
                <a:effectLst/>
                <a:ea typeface="+mn-ea"/>
                <a:cs typeface="+mn-cs"/>
              </a:rPr>
              <a:t> You could also allow a few users</a:t>
            </a:r>
            <a:r>
              <a:rPr lang="en-US" b="0" i="0" kern="1200" dirty="0">
                <a:solidFill>
                  <a:schemeClr val="tx1"/>
                </a:solidFill>
                <a:effectLst/>
                <a:ea typeface="+mn-ea"/>
                <a:cs typeface="+mn-cs"/>
              </a:rPr>
              <a:t> to access only the account billing information, but nothing else.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IAM is a feature of your AWS account, and it is offered at no additional charge.</a:t>
            </a:r>
          </a:p>
        </p:txBody>
      </p:sp>
    </p:spTree>
    <p:extLst>
      <p:ext uri="{BB962C8B-B14F-4D97-AF65-F5344CB8AC3E}">
        <p14:creationId xmlns:p14="http://schemas.microsoft.com/office/powerpoint/2010/main" val="28457127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To understand how to use IAM to secure your AWS account, it is important to understand the role and function of each of the four IAM components.</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An </a:t>
            </a:r>
            <a:r>
              <a:rPr lang="en-US" b="1" kern="1200">
                <a:solidFill>
                  <a:schemeClr val="tx1"/>
                </a:solidFill>
                <a:effectLst/>
                <a:latin typeface="+mn-lt"/>
                <a:ea typeface="+mn-ea"/>
                <a:cs typeface="+mn-cs"/>
              </a:rPr>
              <a:t>IAM user </a:t>
            </a:r>
            <a:r>
              <a:rPr lang="en-US" kern="1200">
                <a:solidFill>
                  <a:schemeClr val="tx1"/>
                </a:solidFill>
                <a:effectLst/>
                <a:latin typeface="+mn-lt"/>
                <a:ea typeface="+mn-ea"/>
                <a:cs typeface="+mn-cs"/>
              </a:rPr>
              <a:t>is </a:t>
            </a:r>
            <a:r>
              <a:rPr lang="en-US" b="0" i="0" kern="1200">
                <a:solidFill>
                  <a:schemeClr val="tx1"/>
                </a:solidFill>
                <a:effectLst/>
                <a:latin typeface="+mn-lt"/>
                <a:ea typeface="+mn-ea"/>
                <a:cs typeface="+mn-cs"/>
              </a:rPr>
              <a:t>a person or application that is defined in an AWS account, and that must make API calls to AWS products. Each user must have a unique name (with no spaces in the name) within the AWS account, and a set of security credentials that is not shared with other users. These credentials are different from the AWS account root user security credentials. Each user is defined in one and only one AWS account.</a:t>
            </a:r>
          </a:p>
          <a:p>
            <a:endParaRPr lang="en-US" b="0" i="0" kern="1200">
              <a:solidFill>
                <a:schemeClr val="tx1"/>
              </a:solidFill>
              <a:effectLst/>
              <a:latin typeface="+mn-lt"/>
              <a:ea typeface="+mn-ea"/>
              <a:cs typeface="+mn-cs"/>
            </a:endParaRPr>
          </a:p>
          <a:p>
            <a:r>
              <a:rPr lang="en-US" b="0" i="0" kern="1200">
                <a:solidFill>
                  <a:schemeClr val="tx1"/>
                </a:solidFill>
                <a:effectLst/>
                <a:latin typeface="+mn-lt"/>
                <a:ea typeface="+mn-ea"/>
                <a:cs typeface="+mn-cs"/>
              </a:rPr>
              <a:t>An </a:t>
            </a:r>
            <a:r>
              <a:rPr lang="en-US" b="1" i="0" kern="1200">
                <a:solidFill>
                  <a:schemeClr val="tx1"/>
                </a:solidFill>
                <a:effectLst/>
                <a:latin typeface="+mn-lt"/>
                <a:ea typeface="+mn-ea"/>
                <a:cs typeface="+mn-cs"/>
              </a:rPr>
              <a:t>IAM group </a:t>
            </a:r>
            <a:r>
              <a:rPr lang="en-US" b="0" i="0" kern="1200">
                <a:solidFill>
                  <a:schemeClr val="tx1"/>
                </a:solidFill>
                <a:effectLst/>
                <a:latin typeface="+mn-lt"/>
                <a:ea typeface="+mn-ea"/>
                <a:cs typeface="+mn-cs"/>
              </a:rPr>
              <a:t>is a collection of IAM users. You can use IAM groups to simplify specifying and managing permissions for multiple users.</a:t>
            </a:r>
            <a:endParaRPr lang="en-US" kern="1200">
              <a:solidFill>
                <a:schemeClr val="tx1"/>
              </a:solidFill>
              <a:effectLst/>
              <a:latin typeface="+mn-lt"/>
              <a:ea typeface="+mn-ea"/>
              <a:cs typeface="+mn-cs"/>
            </a:endParaRP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An </a:t>
            </a:r>
            <a:r>
              <a:rPr lang="en-US" b="1" kern="1200">
                <a:solidFill>
                  <a:schemeClr val="tx1"/>
                </a:solidFill>
                <a:effectLst/>
                <a:latin typeface="+mn-lt"/>
                <a:ea typeface="+mn-ea"/>
                <a:cs typeface="+mn-cs"/>
              </a:rPr>
              <a:t>IAM policy </a:t>
            </a:r>
            <a:r>
              <a:rPr lang="en-US" kern="1200">
                <a:solidFill>
                  <a:schemeClr val="tx1"/>
                </a:solidFill>
                <a:effectLst/>
                <a:latin typeface="+mn-lt"/>
                <a:ea typeface="+mn-ea"/>
                <a:cs typeface="+mn-cs"/>
              </a:rPr>
              <a:t>is </a:t>
            </a:r>
            <a:r>
              <a:rPr lang="en-US" b="0" i="0" kern="1200">
                <a:solidFill>
                  <a:schemeClr val="tx1"/>
                </a:solidFill>
                <a:effectLst/>
                <a:latin typeface="+mn-lt"/>
                <a:ea typeface="+mn-ea"/>
                <a:cs typeface="+mn-cs"/>
              </a:rPr>
              <a:t>a document that defines permissions to determine what users can do in the AWS account. A policy typically grants access to specific resources and specifies what the user can do with those resources. Policies can also explicitly deny access.</a:t>
            </a:r>
          </a:p>
          <a:p>
            <a:endParaRPr lang="en-US" b="0" i="0" kern="1200">
              <a:solidFill>
                <a:schemeClr val="tx1"/>
              </a:solidFill>
              <a:effectLst/>
              <a:latin typeface="+mn-lt"/>
              <a:ea typeface="+mn-ea"/>
              <a:cs typeface="+mn-cs"/>
            </a:endParaRPr>
          </a:p>
          <a:p>
            <a:r>
              <a:rPr lang="en-US" b="0" i="0" kern="1200">
                <a:solidFill>
                  <a:schemeClr val="tx1"/>
                </a:solidFill>
                <a:effectLst/>
                <a:latin typeface="+mn-lt"/>
                <a:ea typeface="+mn-ea"/>
                <a:cs typeface="+mn-cs"/>
              </a:rPr>
              <a:t>An </a:t>
            </a:r>
            <a:r>
              <a:rPr lang="en-US" b="1" i="0" kern="1200">
                <a:solidFill>
                  <a:schemeClr val="tx1"/>
                </a:solidFill>
                <a:effectLst/>
                <a:latin typeface="+mn-lt"/>
                <a:ea typeface="+mn-ea"/>
                <a:cs typeface="+mn-cs"/>
              </a:rPr>
              <a:t>IAM role</a:t>
            </a:r>
            <a:r>
              <a:rPr lang="en-US" b="0" i="0" kern="1200">
                <a:solidFill>
                  <a:schemeClr val="tx1"/>
                </a:solidFill>
                <a:effectLst/>
                <a:latin typeface="+mn-lt"/>
                <a:ea typeface="+mn-ea"/>
                <a:cs typeface="+mn-cs"/>
              </a:rPr>
              <a:t> is a tool for granting temporary access to specific AWS resources in an AWS account. </a:t>
            </a:r>
            <a:endParaRPr lang="en-US" kern="1200">
              <a:solidFill>
                <a:schemeClr val="tx1"/>
              </a:solidFill>
              <a:effectLst/>
              <a:latin typeface="+mn-lt"/>
              <a:ea typeface="+mn-ea"/>
              <a:cs typeface="+mn-cs"/>
            </a:endParaRPr>
          </a:p>
          <a:p>
            <a:endParaRPr lang="en-US"/>
          </a:p>
          <a:p>
            <a:endParaRPr lang="en-US"/>
          </a:p>
        </p:txBody>
      </p:sp>
    </p:spTree>
    <p:extLst>
      <p:ext uri="{BB962C8B-B14F-4D97-AF65-F5344CB8AC3E}">
        <p14:creationId xmlns:p14="http://schemas.microsoft.com/office/powerpoint/2010/main" val="14261931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1" kern="1200" dirty="0">
                <a:solidFill>
                  <a:schemeClr val="tx1"/>
                </a:solidFill>
                <a:effectLst/>
                <a:latin typeface="+mn-lt"/>
                <a:ea typeface="+mn-ea"/>
                <a:cs typeface="+mn-cs"/>
              </a:rPr>
              <a:t>Authentication</a:t>
            </a:r>
            <a:r>
              <a:rPr lang="en-US" kern="1200" dirty="0">
                <a:solidFill>
                  <a:schemeClr val="tx1"/>
                </a:solidFill>
                <a:effectLst/>
                <a:latin typeface="+mn-lt"/>
                <a:ea typeface="+mn-ea"/>
                <a:cs typeface="+mn-cs"/>
              </a:rPr>
              <a:t> is a basic computer security concept:</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a user or system must first prove their identity. Consider how you authenticate yourself when you go to the airport and you want to get through airport security so that you can catch your flight. In this situation, you must present some form of identification to the security official to prove who you are before you can enter a restricted area. A similar</a:t>
            </a:r>
            <a:r>
              <a:rPr lang="en-US" kern="1200" baseline="0" dirty="0">
                <a:solidFill>
                  <a:schemeClr val="tx1"/>
                </a:solidFill>
                <a:effectLst/>
                <a:latin typeface="+mn-lt"/>
                <a:ea typeface="+mn-ea"/>
                <a:cs typeface="+mn-cs"/>
              </a:rPr>
              <a:t> concept applies </a:t>
            </a:r>
            <a:r>
              <a:rPr lang="en-US" kern="1200" dirty="0">
                <a:solidFill>
                  <a:schemeClr val="tx1"/>
                </a:solidFill>
                <a:effectLst/>
                <a:latin typeface="+mn-lt"/>
                <a:ea typeface="+mn-ea"/>
                <a:cs typeface="+mn-cs"/>
              </a:rPr>
              <a:t>for gaining access to AWS resources in the cloud. </a:t>
            </a:r>
            <a:br>
              <a:rPr lang="en-US" kern="1200" dirty="0">
                <a:solidFill>
                  <a:schemeClr val="tx1"/>
                </a:solidFill>
                <a:effectLst/>
                <a:latin typeface="+mn-lt"/>
                <a:ea typeface="+mn-ea"/>
                <a:cs typeface="+mn-cs"/>
              </a:rPr>
            </a:br>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When you define an IAM user, you select what type of access the user is permitted to use to access AWS resources. You can assign two different types of access to users: programmatic access and AWS Management Console access. You can assign programmatic access only, console access only, or you can assign both types of access.</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If you grant </a:t>
            </a:r>
            <a:r>
              <a:rPr lang="en-US" b="1" kern="1200" dirty="0">
                <a:solidFill>
                  <a:schemeClr val="tx1"/>
                </a:solidFill>
                <a:effectLst/>
                <a:latin typeface="+mn-lt"/>
                <a:ea typeface="+mn-ea"/>
                <a:cs typeface="+mn-cs"/>
              </a:rPr>
              <a:t>programmatic access</a:t>
            </a:r>
            <a:r>
              <a:rPr lang="en-US" kern="1200" dirty="0">
                <a:solidFill>
                  <a:schemeClr val="tx1"/>
                </a:solidFill>
                <a:effectLst/>
                <a:latin typeface="+mn-lt"/>
                <a:ea typeface="+mn-ea"/>
                <a:cs typeface="+mn-cs"/>
              </a:rPr>
              <a:t>, the IAM user will be required to present an </a:t>
            </a:r>
            <a:r>
              <a:rPr lang="en-US" b="1" kern="1200" dirty="0">
                <a:solidFill>
                  <a:schemeClr val="tx1"/>
                </a:solidFill>
                <a:effectLst/>
                <a:latin typeface="+mn-lt"/>
                <a:ea typeface="+mn-ea"/>
                <a:cs typeface="+mn-cs"/>
              </a:rPr>
              <a:t>access key ID</a:t>
            </a:r>
            <a:r>
              <a:rPr lang="en-US" kern="1200" dirty="0">
                <a:solidFill>
                  <a:schemeClr val="tx1"/>
                </a:solidFill>
                <a:effectLst/>
                <a:latin typeface="+mn-lt"/>
                <a:ea typeface="+mn-ea"/>
                <a:cs typeface="+mn-cs"/>
              </a:rPr>
              <a:t> and a </a:t>
            </a:r>
            <a:r>
              <a:rPr lang="en-US" b="1" kern="1200" dirty="0">
                <a:solidFill>
                  <a:schemeClr val="tx1"/>
                </a:solidFill>
                <a:effectLst/>
                <a:latin typeface="+mn-lt"/>
                <a:ea typeface="+mn-ea"/>
                <a:cs typeface="+mn-cs"/>
              </a:rPr>
              <a:t>secret access key</a:t>
            </a:r>
            <a:r>
              <a:rPr lang="en-US" kern="1200" dirty="0">
                <a:solidFill>
                  <a:schemeClr val="tx1"/>
                </a:solidFill>
                <a:effectLst/>
                <a:latin typeface="+mn-lt"/>
                <a:ea typeface="+mn-ea"/>
                <a:cs typeface="+mn-cs"/>
              </a:rPr>
              <a:t> when they make an AWS API call by using the AWS </a:t>
            </a:r>
            <a:r>
              <a:rPr lang="en-US" dirty="0"/>
              <a:t>CLI, the AWS </a:t>
            </a:r>
            <a:r>
              <a:rPr lang="en-US" kern="1200" dirty="0">
                <a:solidFill>
                  <a:schemeClr val="tx1"/>
                </a:solidFill>
                <a:effectLst/>
                <a:latin typeface="+mn-lt"/>
                <a:ea typeface="+mn-ea"/>
                <a:cs typeface="+mn-cs"/>
              </a:rPr>
              <a:t>SDK, or some other development tool.</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If you grant </a:t>
            </a:r>
            <a:r>
              <a:rPr lang="en-US" b="1" kern="1200" dirty="0">
                <a:solidFill>
                  <a:schemeClr val="tx1"/>
                </a:solidFill>
                <a:effectLst/>
                <a:latin typeface="+mn-lt"/>
                <a:ea typeface="+mn-ea"/>
                <a:cs typeface="+mn-cs"/>
              </a:rPr>
              <a:t>AWS Management Console access</a:t>
            </a:r>
            <a:r>
              <a:rPr lang="en-US" kern="1200" dirty="0">
                <a:solidFill>
                  <a:schemeClr val="tx1"/>
                </a:solidFill>
                <a:effectLst/>
                <a:latin typeface="+mn-lt"/>
                <a:ea typeface="+mn-ea"/>
                <a:cs typeface="+mn-cs"/>
              </a:rPr>
              <a:t>, the IAM user will be required to fill in the fields that appear in the browser login window. The user is prompted to provide either the 12-digit account ID or the corresponding account alias. The user must also enter their IAM user name and password. If </a:t>
            </a:r>
            <a:r>
              <a:rPr lang="en-US" b="1" kern="1200" dirty="0">
                <a:solidFill>
                  <a:schemeClr val="tx1"/>
                </a:solidFill>
                <a:effectLst/>
                <a:latin typeface="+mn-lt"/>
                <a:ea typeface="+mn-ea"/>
                <a:cs typeface="+mn-cs"/>
              </a:rPr>
              <a:t>multi-factor authentication (MFA) </a:t>
            </a:r>
            <a:r>
              <a:rPr lang="en-US" kern="1200" dirty="0">
                <a:solidFill>
                  <a:schemeClr val="tx1"/>
                </a:solidFill>
                <a:effectLst/>
                <a:latin typeface="+mn-lt"/>
                <a:ea typeface="+mn-ea"/>
                <a:cs typeface="+mn-cs"/>
              </a:rPr>
              <a:t>is enabled for the user, they will also be prompted for an authentication code.</a:t>
            </a:r>
          </a:p>
        </p:txBody>
      </p:sp>
    </p:spTree>
    <p:extLst>
      <p:ext uri="{BB962C8B-B14F-4D97-AF65-F5344CB8AC3E}">
        <p14:creationId xmlns:p14="http://schemas.microsoft.com/office/powerpoint/2010/main" val="15479468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a:spcAft>
                <a:spcPts val="600"/>
              </a:spcAft>
            </a:pPr>
            <a:r>
              <a:rPr lang="en-US"/>
              <a:t>AWS services</a:t>
            </a:r>
            <a:r>
              <a:rPr lang="en-US" baseline="0"/>
              <a:t> and resources can be accessed by using the AWS Management Console, the AWS CLI, or through SDKs and APIs. For increased security, </a:t>
            </a:r>
            <a:r>
              <a:rPr lang="en-US"/>
              <a:t>we</a:t>
            </a:r>
            <a:r>
              <a:rPr lang="en-US" baseline="0"/>
              <a:t> recommend enabling MFA. </a:t>
            </a:r>
          </a:p>
          <a:p>
            <a:pPr>
              <a:spcAft>
                <a:spcPts val="600"/>
              </a:spcAft>
            </a:pPr>
            <a:r>
              <a:rPr lang="en-US" baseline="0"/>
              <a:t>With MFA, users and systems must provide an </a:t>
            </a:r>
            <a:r>
              <a:rPr lang="en-US" b="1" baseline="0"/>
              <a:t>MFA token</a:t>
            </a:r>
            <a:r>
              <a:rPr lang="en-US" baseline="0"/>
              <a:t>—in addition to the regular sign-in credentials—before they can access AWS services and resources. </a:t>
            </a:r>
          </a:p>
          <a:p>
            <a:pPr>
              <a:spcAft>
                <a:spcPts val="600"/>
              </a:spcAft>
            </a:pPr>
            <a:r>
              <a:rPr lang="en-US" baseline="0"/>
              <a:t>Options for generating the MFA authentication token include </a:t>
            </a:r>
            <a:r>
              <a:rPr lang="en-US" b="1" baseline="0"/>
              <a:t>virtual MFA-compliant applications</a:t>
            </a:r>
            <a:r>
              <a:rPr lang="en-US" baseline="0"/>
              <a:t> (such as Google Authenticator or Authy 2-Factor Authentication), </a:t>
            </a:r>
            <a:r>
              <a:rPr lang="en-US" b="1" baseline="0"/>
              <a:t>U2F security key devices</a:t>
            </a:r>
            <a:r>
              <a:rPr lang="en-US" b="0" baseline="0"/>
              <a:t>, </a:t>
            </a:r>
            <a:r>
              <a:rPr lang="en-US" baseline="0"/>
              <a:t>and </a:t>
            </a:r>
            <a:r>
              <a:rPr lang="en-US" b="1" baseline="0"/>
              <a:t>hardware MFA devices</a:t>
            </a:r>
            <a:r>
              <a:rPr lang="en-US" baseline="0"/>
              <a:t>. </a:t>
            </a:r>
          </a:p>
        </p:txBody>
      </p:sp>
    </p:spTree>
    <p:extLst>
      <p:ext uri="{BB962C8B-B14F-4D97-AF65-F5344CB8AC3E}">
        <p14:creationId xmlns:p14="http://schemas.microsoft.com/office/powerpoint/2010/main" val="24982097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indent="0" algn="l" defTabSz="457200" rtl="0" eaLnBrk="1" fontAlgn="auto" latinLnBrk="0" hangingPunct="1">
              <a:lnSpc>
                <a:spcPct val="100000"/>
              </a:lnSpc>
              <a:spcBef>
                <a:spcPts val="0"/>
              </a:spcBef>
              <a:spcAft>
                <a:spcPts val="600"/>
              </a:spcAft>
              <a:buClrTx/>
              <a:buSzTx/>
              <a:buFontTx/>
              <a:buNone/>
              <a:tabLst/>
              <a:defRPr/>
            </a:pPr>
            <a:r>
              <a:rPr lang="en-US" b="1"/>
              <a:t>Authorization</a:t>
            </a:r>
            <a:r>
              <a:rPr lang="en-US"/>
              <a:t> is the process of determining what </a:t>
            </a:r>
            <a:r>
              <a:rPr lang="en-US">
                <a:solidFill>
                  <a:srgbClr val="000000"/>
                </a:solidFill>
              </a:rPr>
              <a:t>permissions</a:t>
            </a:r>
            <a:r>
              <a:rPr lang="en-US"/>
              <a:t> a </a:t>
            </a:r>
            <a:r>
              <a:rPr lang="en-US">
                <a:solidFill>
                  <a:srgbClr val="000000"/>
                </a:solidFill>
              </a:rPr>
              <a:t>user, service or application </a:t>
            </a:r>
            <a:r>
              <a:rPr lang="en-US"/>
              <a:t>should be granted. After a </a:t>
            </a:r>
            <a:r>
              <a:rPr lang="en-US">
                <a:solidFill>
                  <a:srgbClr val="000000"/>
                </a:solidFill>
              </a:rPr>
              <a:t>user</a:t>
            </a:r>
            <a:r>
              <a:rPr lang="en-US"/>
              <a:t> has been authenticated, they must be authorized</a:t>
            </a:r>
            <a:r>
              <a:rPr lang="en-US" baseline="0"/>
              <a:t> to access AWS services. </a:t>
            </a:r>
          </a:p>
          <a:p>
            <a:pPr marL="0" marR="0" indent="0" algn="l" defTabSz="457200" rtl="0" eaLnBrk="1" fontAlgn="auto" latinLnBrk="0" hangingPunct="1">
              <a:lnSpc>
                <a:spcPct val="100000"/>
              </a:lnSpc>
              <a:spcBef>
                <a:spcPts val="0"/>
              </a:spcBef>
              <a:spcAft>
                <a:spcPts val="600"/>
              </a:spcAft>
              <a:buClrTx/>
              <a:buSzTx/>
              <a:buFontTx/>
              <a:buNone/>
              <a:tabLst/>
              <a:defRPr/>
            </a:pPr>
            <a:r>
              <a:rPr lang="en-US" b="0" i="0" kern="1200">
                <a:solidFill>
                  <a:schemeClr val="tx1"/>
                </a:solidFill>
                <a:effectLst/>
                <a:ea typeface="+mn-ea"/>
                <a:cs typeface="+mn-cs"/>
              </a:rPr>
              <a:t>By default, IAM users do not have permissions to access any resources or data in an AWS account. </a:t>
            </a:r>
            <a:r>
              <a:rPr lang="en-US" b="0" i="0" kern="1200">
                <a:solidFill>
                  <a:srgbClr val="000000"/>
                </a:solidFill>
                <a:effectLst/>
                <a:ea typeface="+mn-ea"/>
                <a:cs typeface="+mn-cs"/>
              </a:rPr>
              <a:t>Instead, you must explicitly </a:t>
            </a:r>
            <a:r>
              <a:rPr lang="en-US" b="0" i="0" kern="1200">
                <a:solidFill>
                  <a:schemeClr val="tx1"/>
                </a:solidFill>
                <a:effectLst/>
                <a:ea typeface="+mn-ea"/>
                <a:cs typeface="+mn-cs"/>
              </a:rPr>
              <a:t>grant permissions to a </a:t>
            </a:r>
            <a:r>
              <a:rPr lang="en-US" b="0" i="0" kern="1200">
                <a:solidFill>
                  <a:srgbClr val="000000"/>
                </a:solidFill>
                <a:effectLst/>
                <a:ea typeface="+mn-ea"/>
                <a:cs typeface="+mn-cs"/>
              </a:rPr>
              <a:t>user, group, or role</a:t>
            </a:r>
            <a:r>
              <a:rPr lang="en-US" b="0" i="0" kern="1200" baseline="0">
                <a:solidFill>
                  <a:srgbClr val="000000"/>
                </a:solidFill>
                <a:effectLst/>
                <a:ea typeface="+mn-ea"/>
                <a:cs typeface="+mn-cs"/>
              </a:rPr>
              <a:t> </a:t>
            </a:r>
            <a:r>
              <a:rPr lang="en-US" b="0" i="0" kern="1200">
                <a:solidFill>
                  <a:schemeClr val="tx1"/>
                </a:solidFill>
                <a:effectLst/>
                <a:ea typeface="+mn-ea"/>
                <a:cs typeface="+mn-cs"/>
              </a:rPr>
              <a:t>by creating a </a:t>
            </a:r>
            <a:r>
              <a:rPr lang="en-US" b="0" i="1" kern="1200">
                <a:solidFill>
                  <a:schemeClr val="tx1"/>
                </a:solidFill>
                <a:effectLst/>
                <a:ea typeface="+mn-ea"/>
                <a:cs typeface="+mn-cs"/>
              </a:rPr>
              <a:t>policy</a:t>
            </a:r>
            <a:r>
              <a:rPr lang="en-US" b="0" i="0" kern="1200">
                <a:solidFill>
                  <a:schemeClr val="tx1"/>
                </a:solidFill>
                <a:effectLst/>
                <a:ea typeface="+mn-ea"/>
                <a:cs typeface="+mn-cs"/>
              </a:rPr>
              <a:t>,</a:t>
            </a:r>
            <a:r>
              <a:rPr lang="en-US"/>
              <a:t> which is a document in </a:t>
            </a:r>
            <a:r>
              <a:rPr lang="en-US" kern="1200">
                <a:solidFill>
                  <a:schemeClr val="tx1"/>
                </a:solidFill>
                <a:effectLst/>
                <a:ea typeface="+mn-ea"/>
                <a:cs typeface="+mn-cs"/>
              </a:rPr>
              <a:t>J</a:t>
            </a:r>
            <a:r>
              <a:rPr lang="en-US" b="0" i="0" kern="1200">
                <a:solidFill>
                  <a:schemeClr val="tx1"/>
                </a:solidFill>
                <a:effectLst/>
                <a:ea typeface="+mn-ea"/>
                <a:cs typeface="+mn-cs"/>
              </a:rPr>
              <a:t>avaScript Object Notation (JSON) </a:t>
            </a:r>
            <a:r>
              <a:rPr lang="en-US"/>
              <a:t>format.</a:t>
            </a:r>
            <a:r>
              <a:rPr lang="en-US" baseline="0"/>
              <a:t> A policy </a:t>
            </a:r>
            <a:r>
              <a:rPr lang="en-US"/>
              <a:t>lists permissions</a:t>
            </a:r>
            <a:r>
              <a:rPr lang="en-US" baseline="0"/>
              <a:t> that </a:t>
            </a:r>
            <a:r>
              <a:rPr lang="en-US">
                <a:solidFill>
                  <a:srgbClr val="000000"/>
                </a:solidFill>
              </a:rPr>
              <a:t>allow</a:t>
            </a:r>
            <a:r>
              <a:rPr lang="en-US"/>
              <a:t> or deny access to resources in the AWS </a:t>
            </a:r>
            <a:r>
              <a:rPr lang="en-US">
                <a:solidFill>
                  <a:srgbClr val="000000"/>
                </a:solidFill>
              </a:rPr>
              <a:t>account</a:t>
            </a:r>
            <a:r>
              <a:rPr lang="en-US"/>
              <a:t>.</a:t>
            </a:r>
          </a:p>
          <a:p>
            <a:pPr marL="0" marR="0" indent="0" algn="l" defTabSz="457200" rtl="0" eaLnBrk="1" fontAlgn="auto" latinLnBrk="0" hangingPunct="1">
              <a:lnSpc>
                <a:spcPct val="100000"/>
              </a:lnSpc>
              <a:spcBef>
                <a:spcPts val="0"/>
              </a:spcBef>
              <a:spcAft>
                <a:spcPts val="600"/>
              </a:spcAft>
              <a:buClrTx/>
              <a:buSzTx/>
              <a:buFontTx/>
              <a:buNone/>
              <a:tabLst/>
              <a:defRPr/>
            </a:pPr>
            <a:endParaRPr lang="en-US" b="0" i="0" kern="1200" baseline="0">
              <a:solidFill>
                <a:schemeClr val="tx1"/>
              </a:solidFill>
              <a:effectLst/>
              <a:ea typeface="+mn-ea"/>
              <a:cs typeface="+mn-cs"/>
            </a:endParaRPr>
          </a:p>
          <a:p>
            <a:pPr marL="0" marR="0" indent="0" algn="l" defTabSz="457200" rtl="0" eaLnBrk="1" fontAlgn="auto" latinLnBrk="0" hangingPunct="1">
              <a:lnSpc>
                <a:spcPct val="100000"/>
              </a:lnSpc>
              <a:spcBef>
                <a:spcPts val="0"/>
              </a:spcBef>
              <a:spcAft>
                <a:spcPts val="600"/>
              </a:spcAft>
              <a:buClrTx/>
              <a:buSzTx/>
              <a:buFontTx/>
              <a:buNone/>
              <a:tabLst/>
              <a:defRPr/>
            </a:pPr>
            <a:endParaRPr lang="en-US" b="0" i="0" kern="1200" baseline="0">
              <a:solidFill>
                <a:schemeClr val="tx1"/>
              </a:solidFill>
              <a:effectLst/>
              <a:ea typeface="+mn-ea"/>
              <a:cs typeface="+mn-cs"/>
            </a:endParaRPr>
          </a:p>
        </p:txBody>
      </p:sp>
    </p:spTree>
    <p:extLst>
      <p:ext uri="{BB962C8B-B14F-4D97-AF65-F5344CB8AC3E}">
        <p14:creationId xmlns:p14="http://schemas.microsoft.com/office/powerpoint/2010/main" val="23176456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0" kern="1200" dirty="0">
                <a:solidFill>
                  <a:schemeClr val="tx1"/>
                </a:solidFill>
                <a:effectLst/>
                <a:latin typeface="+mn-lt"/>
                <a:ea typeface="+mn-ea"/>
                <a:cs typeface="+mn-cs"/>
              </a:rPr>
              <a:t>T</a:t>
            </a:r>
            <a:r>
              <a:rPr lang="en-US" kern="1200" dirty="0">
                <a:solidFill>
                  <a:schemeClr val="tx1"/>
                </a:solidFill>
                <a:effectLst/>
                <a:latin typeface="+mn-lt"/>
                <a:ea typeface="+mn-ea"/>
                <a:cs typeface="+mn-cs"/>
              </a:rPr>
              <a:t>o assign permission to a user, group or role, you must create an</a:t>
            </a:r>
            <a:r>
              <a:rPr lang="en-US" b="1" kern="1200" dirty="0">
                <a:solidFill>
                  <a:schemeClr val="tx1"/>
                </a:solidFill>
                <a:effectLst/>
                <a:latin typeface="+mn-lt"/>
                <a:ea typeface="+mn-ea"/>
                <a:cs typeface="+mn-cs"/>
              </a:rPr>
              <a:t> IAM policy</a:t>
            </a:r>
            <a:r>
              <a:rPr lang="en-US" kern="1200" dirty="0">
                <a:solidFill>
                  <a:schemeClr val="tx1"/>
                </a:solidFill>
                <a:effectLst/>
                <a:latin typeface="+mn-lt"/>
                <a:ea typeface="+mn-ea"/>
                <a:cs typeface="+mn-cs"/>
              </a:rPr>
              <a:t> (or find an existing policy in the account). </a:t>
            </a:r>
            <a:r>
              <a:rPr lang="en-US" kern="1200" dirty="0">
                <a:solidFill>
                  <a:schemeClr val="tx1"/>
                </a:solidFill>
                <a:effectLst/>
                <a:ea typeface="+mn-ea"/>
                <a:cs typeface="+mn-cs"/>
              </a:rPr>
              <a:t>There are no default permissions. All actions in the account are denied to the user by default (</a:t>
            </a:r>
            <a:r>
              <a:rPr lang="en-US" i="1" kern="1200" dirty="0">
                <a:solidFill>
                  <a:schemeClr val="tx1"/>
                </a:solidFill>
                <a:effectLst/>
                <a:ea typeface="+mn-ea"/>
                <a:cs typeface="+mn-cs"/>
              </a:rPr>
              <a:t>implicit deny</a:t>
            </a:r>
            <a:r>
              <a:rPr lang="en-US" kern="1200" dirty="0">
                <a:solidFill>
                  <a:schemeClr val="tx1"/>
                </a:solidFill>
                <a:effectLst/>
                <a:ea typeface="+mn-ea"/>
                <a:cs typeface="+mn-cs"/>
              </a:rPr>
              <a:t>) unless those actions are explicitly allowed. Any actions that you do not explicitly allow are denied. Any actions that you explicitly deny are always denied.</a:t>
            </a:r>
          </a:p>
          <a:p>
            <a:endParaRPr lang="en-US" kern="1200" dirty="0">
              <a:solidFill>
                <a:schemeClr val="tx1"/>
              </a:solidFill>
              <a:effectLst/>
              <a:ea typeface="+mn-ea"/>
              <a:cs typeface="+mn-cs"/>
            </a:endParaRPr>
          </a:p>
          <a:p>
            <a:r>
              <a:rPr lang="en-US" b="0" i="0" kern="1200" dirty="0">
                <a:solidFill>
                  <a:schemeClr val="tx1"/>
                </a:solidFill>
                <a:effectLst/>
                <a:latin typeface="+mn-lt"/>
                <a:ea typeface="+mn-ea"/>
                <a:cs typeface="+mn-cs"/>
              </a:rPr>
              <a:t>The </a:t>
            </a:r>
            <a:r>
              <a:rPr lang="en-US" b="1" i="0" kern="1200" dirty="0">
                <a:solidFill>
                  <a:schemeClr val="tx1"/>
                </a:solidFill>
                <a:effectLst/>
                <a:latin typeface="+mn-lt"/>
                <a:ea typeface="+mn-ea"/>
                <a:cs typeface="+mn-cs"/>
              </a:rPr>
              <a:t>principle of least privilege</a:t>
            </a:r>
            <a:r>
              <a:rPr lang="en-US" b="0" i="0" kern="1200" dirty="0">
                <a:solidFill>
                  <a:schemeClr val="tx1"/>
                </a:solidFill>
                <a:effectLst/>
                <a:latin typeface="+mn-lt"/>
                <a:ea typeface="+mn-ea"/>
                <a:cs typeface="+mn-cs"/>
              </a:rPr>
              <a:t> is an important concept in computer security. It promotes that you grant only the minimal user privileges needed to the user, based on the needs of</a:t>
            </a:r>
            <a:r>
              <a:rPr lang="en-US" b="0" i="0" kern="1200" baseline="0" dirty="0">
                <a:solidFill>
                  <a:schemeClr val="tx1"/>
                </a:solidFill>
                <a:effectLst/>
                <a:latin typeface="+mn-lt"/>
                <a:ea typeface="+mn-ea"/>
                <a:cs typeface="+mn-cs"/>
              </a:rPr>
              <a:t> your</a:t>
            </a:r>
            <a:r>
              <a:rPr lang="en-US" b="0" i="0" kern="1200" dirty="0">
                <a:solidFill>
                  <a:schemeClr val="tx1"/>
                </a:solidFill>
                <a:effectLst/>
                <a:latin typeface="+mn-lt"/>
                <a:ea typeface="+mn-ea"/>
                <a:cs typeface="+mn-cs"/>
              </a:rPr>
              <a:t> users. When you create IAM policies, it is a best practice to follow this security advice of granting </a:t>
            </a:r>
            <a:r>
              <a:rPr lang="en-US" b="0" i="1" kern="1200" dirty="0">
                <a:solidFill>
                  <a:schemeClr val="tx1"/>
                </a:solidFill>
                <a:effectLst/>
                <a:latin typeface="+mn-lt"/>
                <a:ea typeface="+mn-ea"/>
                <a:cs typeface="+mn-cs"/>
              </a:rPr>
              <a:t>least privilege</a:t>
            </a:r>
            <a:r>
              <a:rPr lang="en-US" b="0" i="0" kern="1200" dirty="0">
                <a:solidFill>
                  <a:schemeClr val="tx1"/>
                </a:solidFill>
                <a:effectLst/>
                <a:latin typeface="+mn-lt"/>
                <a:ea typeface="+mn-ea"/>
                <a:cs typeface="+mn-cs"/>
              </a:rPr>
              <a:t>. Determine what users need to be able to do and then craft policies for them that let the users perform </a:t>
            </a:r>
            <a:r>
              <a:rPr lang="en-US" b="0" i="1" kern="1200" dirty="0">
                <a:solidFill>
                  <a:schemeClr val="tx1"/>
                </a:solidFill>
                <a:effectLst/>
                <a:latin typeface="+mn-lt"/>
                <a:ea typeface="+mn-ea"/>
                <a:cs typeface="+mn-cs"/>
              </a:rPr>
              <a:t>only</a:t>
            </a:r>
            <a:r>
              <a:rPr lang="en-US" b="0" i="0" kern="1200" dirty="0">
                <a:solidFill>
                  <a:schemeClr val="tx1"/>
                </a:solidFill>
                <a:effectLst/>
                <a:latin typeface="+mn-lt"/>
                <a:ea typeface="+mn-ea"/>
                <a:cs typeface="+mn-cs"/>
              </a:rPr>
              <a:t> those tasks. Start with a minimum set of permissions and grant additional permissions as necessary. Doing so is more secure than starting with permissions that are too broad and then later trying to lock down the permissions granted.</a:t>
            </a:r>
          </a:p>
          <a:p>
            <a:endParaRPr lang="en-US" dirty="0"/>
          </a:p>
          <a:p>
            <a:r>
              <a:rPr lang="en-US" dirty="0"/>
              <a:t>Note that the scope of the IAM service configurations is </a:t>
            </a:r>
            <a:r>
              <a:rPr lang="en-US" b="1" dirty="0"/>
              <a:t>global</a:t>
            </a:r>
            <a:r>
              <a:rPr lang="en-US" dirty="0"/>
              <a:t>. The settings are not defined at an AWS Region level. IAM settings apply across all AWS Regions.</a:t>
            </a:r>
          </a:p>
        </p:txBody>
      </p:sp>
    </p:spTree>
    <p:extLst>
      <p:ext uri="{BB962C8B-B14F-4D97-AF65-F5344CB8AC3E}">
        <p14:creationId xmlns:p14="http://schemas.microsoft.com/office/powerpoint/2010/main" val="18576937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C299C-527F-AA86-96F1-77B17BD80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84541-70FD-6DFE-EE8B-4D85E2AD75ED}"/>
              </a:ext>
            </a:extLst>
          </p:cNvPr>
          <p:cNvSpPr>
            <a:spLocks noGrp="1" noRot="1" noChangeAspect="1"/>
          </p:cNvSpPr>
          <p:nvPr>
            <p:ph type="sldImg"/>
          </p:nvPr>
        </p:nvSpPr>
        <p:spPr>
          <a:xfrm>
            <a:off x="869950" y="1257300"/>
            <a:ext cx="6032500" cy="3394075"/>
          </a:xfrm>
          <a:prstGeom prst="rect">
            <a:avLst/>
          </a:prstGeom>
        </p:spPr>
      </p:sp>
      <p:sp>
        <p:nvSpPr>
          <p:cNvPr id="3" name="Notes Placeholder 2">
            <a:extLst>
              <a:ext uri="{FF2B5EF4-FFF2-40B4-BE49-F238E27FC236}">
                <a16:creationId xmlns:a16="http://schemas.microsoft.com/office/drawing/2014/main" id="{1DEE8692-F596-A14C-38BE-44E7EF60EFD7}"/>
              </a:ext>
            </a:extLst>
          </p:cNvPr>
          <p:cNvSpPr>
            <a:spLocks noGrp="1"/>
          </p:cNvSpPr>
          <p:nvPr>
            <p:ph type="body" idx="1"/>
          </p:nvPr>
        </p:nvSpPr>
        <p:spPr>
          <a:xfrm>
            <a:off x="777875" y="4840288"/>
            <a:ext cx="6216650" cy="3960812"/>
          </a:xfrm>
          <a:prstGeom prst="rect">
            <a:avLst/>
          </a:prstGeom>
        </p:spPr>
        <p:txBody>
          <a:bodyPr/>
          <a:lstStyle/>
          <a:p>
            <a:r>
              <a:rPr lang="en-US" b="0" kern="1200" dirty="0">
                <a:solidFill>
                  <a:schemeClr val="tx1"/>
                </a:solidFill>
                <a:effectLst/>
                <a:latin typeface="+mn-lt"/>
                <a:ea typeface="+mn-ea"/>
                <a:cs typeface="+mn-cs"/>
              </a:rPr>
              <a:t>T</a:t>
            </a:r>
            <a:r>
              <a:rPr lang="en-US" kern="1200" dirty="0">
                <a:solidFill>
                  <a:schemeClr val="tx1"/>
                </a:solidFill>
                <a:effectLst/>
                <a:latin typeface="+mn-lt"/>
                <a:ea typeface="+mn-ea"/>
                <a:cs typeface="+mn-cs"/>
              </a:rPr>
              <a:t>o assign permission to a user, group or role, you must create an</a:t>
            </a:r>
            <a:r>
              <a:rPr lang="en-US" b="1" kern="1200" dirty="0">
                <a:solidFill>
                  <a:schemeClr val="tx1"/>
                </a:solidFill>
                <a:effectLst/>
                <a:latin typeface="+mn-lt"/>
                <a:ea typeface="+mn-ea"/>
                <a:cs typeface="+mn-cs"/>
              </a:rPr>
              <a:t> IAM policy</a:t>
            </a:r>
            <a:r>
              <a:rPr lang="en-US" kern="1200" dirty="0">
                <a:solidFill>
                  <a:schemeClr val="tx1"/>
                </a:solidFill>
                <a:effectLst/>
                <a:latin typeface="+mn-lt"/>
                <a:ea typeface="+mn-ea"/>
                <a:cs typeface="+mn-cs"/>
              </a:rPr>
              <a:t> (or find an existing policy in the account). </a:t>
            </a:r>
            <a:r>
              <a:rPr lang="en-US" kern="1200" dirty="0">
                <a:solidFill>
                  <a:schemeClr val="tx1"/>
                </a:solidFill>
                <a:effectLst/>
                <a:ea typeface="+mn-ea"/>
                <a:cs typeface="+mn-cs"/>
              </a:rPr>
              <a:t>There are no default permissions. All actions in the account are denied to the user by default (</a:t>
            </a:r>
            <a:r>
              <a:rPr lang="en-US" i="1" kern="1200" dirty="0">
                <a:solidFill>
                  <a:schemeClr val="tx1"/>
                </a:solidFill>
                <a:effectLst/>
                <a:ea typeface="+mn-ea"/>
                <a:cs typeface="+mn-cs"/>
              </a:rPr>
              <a:t>implicit deny</a:t>
            </a:r>
            <a:r>
              <a:rPr lang="en-US" kern="1200" dirty="0">
                <a:solidFill>
                  <a:schemeClr val="tx1"/>
                </a:solidFill>
                <a:effectLst/>
                <a:ea typeface="+mn-ea"/>
                <a:cs typeface="+mn-cs"/>
              </a:rPr>
              <a:t>) unless those actions are explicitly allowed. Any actions that you do not explicitly allow are denied. Any actions that you explicitly deny are always denied.</a:t>
            </a:r>
          </a:p>
          <a:p>
            <a:endParaRPr lang="en-US" kern="1200" dirty="0">
              <a:solidFill>
                <a:schemeClr val="tx1"/>
              </a:solidFill>
              <a:effectLst/>
              <a:ea typeface="+mn-ea"/>
              <a:cs typeface="+mn-cs"/>
            </a:endParaRPr>
          </a:p>
          <a:p>
            <a:r>
              <a:rPr lang="en-US" b="0" i="0" kern="1200" dirty="0">
                <a:solidFill>
                  <a:schemeClr val="tx1"/>
                </a:solidFill>
                <a:effectLst/>
                <a:latin typeface="+mn-lt"/>
                <a:ea typeface="+mn-ea"/>
                <a:cs typeface="+mn-cs"/>
              </a:rPr>
              <a:t>The </a:t>
            </a:r>
            <a:r>
              <a:rPr lang="en-US" b="1" i="0" kern="1200" dirty="0">
                <a:solidFill>
                  <a:schemeClr val="tx1"/>
                </a:solidFill>
                <a:effectLst/>
                <a:latin typeface="+mn-lt"/>
                <a:ea typeface="+mn-ea"/>
                <a:cs typeface="+mn-cs"/>
              </a:rPr>
              <a:t>principle of least privilege</a:t>
            </a:r>
            <a:r>
              <a:rPr lang="en-US" b="0" i="0" kern="1200" dirty="0">
                <a:solidFill>
                  <a:schemeClr val="tx1"/>
                </a:solidFill>
                <a:effectLst/>
                <a:latin typeface="+mn-lt"/>
                <a:ea typeface="+mn-ea"/>
                <a:cs typeface="+mn-cs"/>
              </a:rPr>
              <a:t> is an important concept in computer security. It promotes that you grant only the minimal user privileges needed to the user, based on the needs of</a:t>
            </a:r>
            <a:r>
              <a:rPr lang="en-US" b="0" i="0" kern="1200" baseline="0" dirty="0">
                <a:solidFill>
                  <a:schemeClr val="tx1"/>
                </a:solidFill>
                <a:effectLst/>
                <a:latin typeface="+mn-lt"/>
                <a:ea typeface="+mn-ea"/>
                <a:cs typeface="+mn-cs"/>
              </a:rPr>
              <a:t> your</a:t>
            </a:r>
            <a:r>
              <a:rPr lang="en-US" b="0" i="0" kern="1200" dirty="0">
                <a:solidFill>
                  <a:schemeClr val="tx1"/>
                </a:solidFill>
                <a:effectLst/>
                <a:latin typeface="+mn-lt"/>
                <a:ea typeface="+mn-ea"/>
                <a:cs typeface="+mn-cs"/>
              </a:rPr>
              <a:t> users. When you create IAM policies, it is a best practice to follow this security advice of granting </a:t>
            </a:r>
            <a:r>
              <a:rPr lang="en-US" b="0" i="1" kern="1200" dirty="0">
                <a:solidFill>
                  <a:schemeClr val="tx1"/>
                </a:solidFill>
                <a:effectLst/>
                <a:latin typeface="+mn-lt"/>
                <a:ea typeface="+mn-ea"/>
                <a:cs typeface="+mn-cs"/>
              </a:rPr>
              <a:t>least privilege</a:t>
            </a:r>
            <a:r>
              <a:rPr lang="en-US" b="0" i="0" kern="1200" dirty="0">
                <a:solidFill>
                  <a:schemeClr val="tx1"/>
                </a:solidFill>
                <a:effectLst/>
                <a:latin typeface="+mn-lt"/>
                <a:ea typeface="+mn-ea"/>
                <a:cs typeface="+mn-cs"/>
              </a:rPr>
              <a:t>. Determine what users need to be able to do and then craft policies for them that let the users perform </a:t>
            </a:r>
            <a:r>
              <a:rPr lang="en-US" b="0" i="1" kern="1200" dirty="0">
                <a:solidFill>
                  <a:schemeClr val="tx1"/>
                </a:solidFill>
                <a:effectLst/>
                <a:latin typeface="+mn-lt"/>
                <a:ea typeface="+mn-ea"/>
                <a:cs typeface="+mn-cs"/>
              </a:rPr>
              <a:t>only</a:t>
            </a:r>
            <a:r>
              <a:rPr lang="en-US" b="0" i="0" kern="1200" dirty="0">
                <a:solidFill>
                  <a:schemeClr val="tx1"/>
                </a:solidFill>
                <a:effectLst/>
                <a:latin typeface="+mn-lt"/>
                <a:ea typeface="+mn-ea"/>
                <a:cs typeface="+mn-cs"/>
              </a:rPr>
              <a:t> those tasks. Start with a minimum set of permissions and grant additional permissions as necessary. Doing so is more secure than starting with permissions that are too broad and then later trying to lock down the permissions granted.</a:t>
            </a:r>
          </a:p>
          <a:p>
            <a:endParaRPr lang="en-US" dirty="0"/>
          </a:p>
          <a:p>
            <a:r>
              <a:rPr lang="en-US" dirty="0"/>
              <a:t>Note that the scope of the IAM service configurations is </a:t>
            </a:r>
            <a:r>
              <a:rPr lang="en-US" b="1" dirty="0"/>
              <a:t>global</a:t>
            </a:r>
            <a:r>
              <a:rPr lang="en-US" dirty="0"/>
              <a:t>. The settings are not defined at an AWS Region level. IAM settings apply across all AWS Regions.</a:t>
            </a:r>
          </a:p>
        </p:txBody>
      </p:sp>
    </p:spTree>
    <p:extLst>
      <p:ext uri="{BB962C8B-B14F-4D97-AF65-F5344CB8AC3E}">
        <p14:creationId xmlns:p14="http://schemas.microsoft.com/office/powerpoint/2010/main" val="25473838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E6954-3B20-4402-FE74-9DF7C8D68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CA1A7-B2CD-9667-0D4E-B0BAC69CB94C}"/>
              </a:ext>
            </a:extLst>
          </p:cNvPr>
          <p:cNvSpPr>
            <a:spLocks noGrp="1" noRot="1" noChangeAspect="1"/>
          </p:cNvSpPr>
          <p:nvPr>
            <p:ph type="sldImg"/>
          </p:nvPr>
        </p:nvSpPr>
        <p:spPr>
          <a:xfrm>
            <a:off x="869950" y="1257300"/>
            <a:ext cx="6032500" cy="3394075"/>
          </a:xfrm>
          <a:prstGeom prst="rect">
            <a:avLst/>
          </a:prstGeom>
        </p:spPr>
      </p:sp>
      <p:sp>
        <p:nvSpPr>
          <p:cNvPr id="3" name="Notes Placeholder 2">
            <a:extLst>
              <a:ext uri="{FF2B5EF4-FFF2-40B4-BE49-F238E27FC236}">
                <a16:creationId xmlns:a16="http://schemas.microsoft.com/office/drawing/2014/main" id="{B5C05310-644D-C09B-985C-B70FFC1F59B3}"/>
              </a:ext>
            </a:extLst>
          </p:cNvPr>
          <p:cNvSpPr>
            <a:spLocks noGrp="1"/>
          </p:cNvSpPr>
          <p:nvPr>
            <p:ph type="body" idx="1"/>
          </p:nvPr>
        </p:nvSpPr>
        <p:spPr>
          <a:xfrm>
            <a:off x="777875" y="4840288"/>
            <a:ext cx="6216650" cy="3960812"/>
          </a:xfrm>
          <a:prstGeom prst="rect">
            <a:avLst/>
          </a:prstGeom>
        </p:spPr>
        <p:txBody>
          <a:bodyPr/>
          <a:lstStyle/>
          <a:p>
            <a:r>
              <a:rPr lang="en-US" b="0" kern="1200" dirty="0">
                <a:solidFill>
                  <a:schemeClr val="tx1"/>
                </a:solidFill>
                <a:effectLst/>
                <a:latin typeface="+mn-lt"/>
                <a:ea typeface="+mn-ea"/>
                <a:cs typeface="+mn-cs"/>
              </a:rPr>
              <a:t>T</a:t>
            </a:r>
            <a:r>
              <a:rPr lang="en-US" kern="1200" dirty="0">
                <a:solidFill>
                  <a:schemeClr val="tx1"/>
                </a:solidFill>
                <a:effectLst/>
                <a:latin typeface="+mn-lt"/>
                <a:ea typeface="+mn-ea"/>
                <a:cs typeface="+mn-cs"/>
              </a:rPr>
              <a:t>o assign permission to a user, group or role, you must create an</a:t>
            </a:r>
            <a:r>
              <a:rPr lang="en-US" b="1" kern="1200" dirty="0">
                <a:solidFill>
                  <a:schemeClr val="tx1"/>
                </a:solidFill>
                <a:effectLst/>
                <a:latin typeface="+mn-lt"/>
                <a:ea typeface="+mn-ea"/>
                <a:cs typeface="+mn-cs"/>
              </a:rPr>
              <a:t> IAM policy</a:t>
            </a:r>
            <a:r>
              <a:rPr lang="en-US" kern="1200" dirty="0">
                <a:solidFill>
                  <a:schemeClr val="tx1"/>
                </a:solidFill>
                <a:effectLst/>
                <a:latin typeface="+mn-lt"/>
                <a:ea typeface="+mn-ea"/>
                <a:cs typeface="+mn-cs"/>
              </a:rPr>
              <a:t> (or find an existing policy in the account). </a:t>
            </a:r>
            <a:r>
              <a:rPr lang="en-US" kern="1200" dirty="0">
                <a:solidFill>
                  <a:schemeClr val="tx1"/>
                </a:solidFill>
                <a:effectLst/>
                <a:ea typeface="+mn-ea"/>
                <a:cs typeface="+mn-cs"/>
              </a:rPr>
              <a:t>There are no default permissions. All actions in the account are denied to the user by default (</a:t>
            </a:r>
            <a:r>
              <a:rPr lang="en-US" i="1" kern="1200" dirty="0">
                <a:solidFill>
                  <a:schemeClr val="tx1"/>
                </a:solidFill>
                <a:effectLst/>
                <a:ea typeface="+mn-ea"/>
                <a:cs typeface="+mn-cs"/>
              </a:rPr>
              <a:t>implicit deny</a:t>
            </a:r>
            <a:r>
              <a:rPr lang="en-US" kern="1200" dirty="0">
                <a:solidFill>
                  <a:schemeClr val="tx1"/>
                </a:solidFill>
                <a:effectLst/>
                <a:ea typeface="+mn-ea"/>
                <a:cs typeface="+mn-cs"/>
              </a:rPr>
              <a:t>) unless those actions are explicitly allowed. Any actions that you do not explicitly allow are denied. Any actions that you explicitly deny are always denied.</a:t>
            </a:r>
          </a:p>
          <a:p>
            <a:endParaRPr lang="en-US" kern="1200" dirty="0">
              <a:solidFill>
                <a:schemeClr val="tx1"/>
              </a:solidFill>
              <a:effectLst/>
              <a:ea typeface="+mn-ea"/>
              <a:cs typeface="+mn-cs"/>
            </a:endParaRPr>
          </a:p>
          <a:p>
            <a:r>
              <a:rPr lang="en-US" b="0" i="0" kern="1200" dirty="0">
                <a:solidFill>
                  <a:schemeClr val="tx1"/>
                </a:solidFill>
                <a:effectLst/>
                <a:latin typeface="+mn-lt"/>
                <a:ea typeface="+mn-ea"/>
                <a:cs typeface="+mn-cs"/>
              </a:rPr>
              <a:t>The </a:t>
            </a:r>
            <a:r>
              <a:rPr lang="en-US" b="1" i="0" kern="1200" dirty="0">
                <a:solidFill>
                  <a:schemeClr val="tx1"/>
                </a:solidFill>
                <a:effectLst/>
                <a:latin typeface="+mn-lt"/>
                <a:ea typeface="+mn-ea"/>
                <a:cs typeface="+mn-cs"/>
              </a:rPr>
              <a:t>principle of least privilege</a:t>
            </a:r>
            <a:r>
              <a:rPr lang="en-US" b="0" i="0" kern="1200" dirty="0">
                <a:solidFill>
                  <a:schemeClr val="tx1"/>
                </a:solidFill>
                <a:effectLst/>
                <a:latin typeface="+mn-lt"/>
                <a:ea typeface="+mn-ea"/>
                <a:cs typeface="+mn-cs"/>
              </a:rPr>
              <a:t> is an important concept in computer security. It promotes that you grant only the minimal user privileges needed to the user, based on the needs of</a:t>
            </a:r>
            <a:r>
              <a:rPr lang="en-US" b="0" i="0" kern="1200" baseline="0" dirty="0">
                <a:solidFill>
                  <a:schemeClr val="tx1"/>
                </a:solidFill>
                <a:effectLst/>
                <a:latin typeface="+mn-lt"/>
                <a:ea typeface="+mn-ea"/>
                <a:cs typeface="+mn-cs"/>
              </a:rPr>
              <a:t> your</a:t>
            </a:r>
            <a:r>
              <a:rPr lang="en-US" b="0" i="0" kern="1200" dirty="0">
                <a:solidFill>
                  <a:schemeClr val="tx1"/>
                </a:solidFill>
                <a:effectLst/>
                <a:latin typeface="+mn-lt"/>
                <a:ea typeface="+mn-ea"/>
                <a:cs typeface="+mn-cs"/>
              </a:rPr>
              <a:t> users. When you create IAM policies, it is a best practice to follow this security advice of granting </a:t>
            </a:r>
            <a:r>
              <a:rPr lang="en-US" b="0" i="1" kern="1200" dirty="0">
                <a:solidFill>
                  <a:schemeClr val="tx1"/>
                </a:solidFill>
                <a:effectLst/>
                <a:latin typeface="+mn-lt"/>
                <a:ea typeface="+mn-ea"/>
                <a:cs typeface="+mn-cs"/>
              </a:rPr>
              <a:t>least privilege</a:t>
            </a:r>
            <a:r>
              <a:rPr lang="en-US" b="0" i="0" kern="1200" dirty="0">
                <a:solidFill>
                  <a:schemeClr val="tx1"/>
                </a:solidFill>
                <a:effectLst/>
                <a:latin typeface="+mn-lt"/>
                <a:ea typeface="+mn-ea"/>
                <a:cs typeface="+mn-cs"/>
              </a:rPr>
              <a:t>. Determine what users need to be able to do and then craft policies for them that let the users perform </a:t>
            </a:r>
            <a:r>
              <a:rPr lang="en-US" b="0" i="1" kern="1200" dirty="0">
                <a:solidFill>
                  <a:schemeClr val="tx1"/>
                </a:solidFill>
                <a:effectLst/>
                <a:latin typeface="+mn-lt"/>
                <a:ea typeface="+mn-ea"/>
                <a:cs typeface="+mn-cs"/>
              </a:rPr>
              <a:t>only</a:t>
            </a:r>
            <a:r>
              <a:rPr lang="en-US" b="0" i="0" kern="1200" dirty="0">
                <a:solidFill>
                  <a:schemeClr val="tx1"/>
                </a:solidFill>
                <a:effectLst/>
                <a:latin typeface="+mn-lt"/>
                <a:ea typeface="+mn-ea"/>
                <a:cs typeface="+mn-cs"/>
              </a:rPr>
              <a:t> those tasks. Start with a minimum set of permissions and grant additional permissions as necessary. Doing so is more secure than starting with permissions that are too broad and then later trying to lock down the permissions granted.</a:t>
            </a:r>
          </a:p>
          <a:p>
            <a:endParaRPr lang="en-US" dirty="0"/>
          </a:p>
          <a:p>
            <a:r>
              <a:rPr lang="en-US" dirty="0"/>
              <a:t>Note that the scope of the IAM service configurations is </a:t>
            </a:r>
            <a:r>
              <a:rPr lang="en-US" b="1" dirty="0"/>
              <a:t>global</a:t>
            </a:r>
            <a:r>
              <a:rPr lang="en-US" dirty="0"/>
              <a:t>. The settings are not defined at an AWS Region level. IAM settings apply across all AWS Regions.</a:t>
            </a:r>
          </a:p>
        </p:txBody>
      </p:sp>
    </p:spTree>
    <p:extLst>
      <p:ext uri="{BB962C8B-B14F-4D97-AF65-F5344CB8AC3E}">
        <p14:creationId xmlns:p14="http://schemas.microsoft.com/office/powerpoint/2010/main" val="22086834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4497676"/>
          </a:xfrm>
          <a:prstGeom prst="rect">
            <a:avLst/>
          </a:prstGeom>
        </p:spPr>
        <p:txBody>
          <a:bodyPr/>
          <a:lstStyle/>
          <a:p>
            <a:r>
              <a:rPr lang="en-US" dirty="0"/>
              <a:t>An IAM policy is a formal statement of permissions that will be granted to an entity. Policies can be attached to any IAM entity. Entities include users, groups, roles, or resources. For example, you can attach a policy to AWS resources that will block all requests that do not come from an approved Internet Protocol (IP) address range. Policies specify what actions are allowed, which resources to allow the actions on, and what the effect will be when the user requests access to the resources.</a:t>
            </a:r>
          </a:p>
          <a:p>
            <a:endParaRPr lang="en-US" kern="1200" dirty="0">
              <a:solidFill>
                <a:schemeClr val="tx1"/>
              </a:solidFill>
              <a:effectLst/>
              <a:ea typeface="+mn-ea"/>
              <a:cs typeface="+mn-cs"/>
            </a:endParaRPr>
          </a:p>
          <a:p>
            <a:r>
              <a:rPr lang="en-US" kern="1200" dirty="0">
                <a:solidFill>
                  <a:schemeClr val="tx1"/>
                </a:solidFill>
                <a:effectLst/>
                <a:ea typeface="+mn-ea"/>
                <a:cs typeface="+mn-cs"/>
              </a:rPr>
              <a:t>The order in which the policies are evaluated has no effect on the outcome of the evaluation. All policies are evaluated, and the result is always that the request is either allowed or denied. When there is a conflict, the most restrictive policy applies.</a:t>
            </a:r>
          </a:p>
          <a:p>
            <a:endParaRPr lang="en-US" kern="1200" dirty="0">
              <a:solidFill>
                <a:schemeClr val="tx1"/>
              </a:solidFill>
              <a:effectLst/>
              <a:ea typeface="+mn-ea"/>
              <a:cs typeface="+mn-cs"/>
            </a:endParaRPr>
          </a:p>
          <a:p>
            <a:r>
              <a:rPr lang="en-US" kern="1200" dirty="0">
                <a:solidFill>
                  <a:schemeClr val="tx1"/>
                </a:solidFill>
                <a:effectLst/>
                <a:ea typeface="+mn-ea"/>
                <a:cs typeface="+mn-cs"/>
              </a:rPr>
              <a:t>There are two types of IAM policies. </a:t>
            </a:r>
            <a:r>
              <a:rPr lang="en-US" b="1" kern="1200" baseline="0" dirty="0">
                <a:effectLst/>
                <a:latin typeface="+mn-lt"/>
                <a:ea typeface="+mn-ea"/>
                <a:cs typeface="+mn-cs"/>
              </a:rPr>
              <a:t>Identity-based policies </a:t>
            </a:r>
            <a:r>
              <a:rPr lang="en-US" kern="1200" baseline="0" dirty="0">
                <a:effectLst/>
                <a:latin typeface="+mn-lt"/>
                <a:ea typeface="+mn-ea"/>
                <a:cs typeface="+mn-cs"/>
              </a:rPr>
              <a:t>are permissions policies that you can attach to a principal (or identity) such as an IAM user, role, or group. These policies control what actions that identity can perform, on which resources, and under what conditions. Identity-based policies can be further categorized as:</a:t>
            </a:r>
          </a:p>
          <a:p>
            <a:pPr marL="171450" indent="-171450">
              <a:buFont typeface="Arial" panose="020B0604020202020204" pitchFamily="34" charset="0"/>
              <a:buChar char="•"/>
            </a:pPr>
            <a:r>
              <a:rPr lang="en-US" b="1" kern="1200" baseline="0" dirty="0">
                <a:effectLst/>
                <a:latin typeface="+mn-lt"/>
                <a:ea typeface="+mn-ea"/>
                <a:cs typeface="+mn-cs"/>
              </a:rPr>
              <a:t>Managed policies – </a:t>
            </a:r>
            <a:r>
              <a:rPr lang="en-US" kern="1200" baseline="0" dirty="0">
                <a:effectLst/>
                <a:latin typeface="+mn-lt"/>
                <a:ea typeface="+mn-ea"/>
                <a:cs typeface="+mn-cs"/>
              </a:rPr>
              <a:t>Standalone identity-based policies that you can attach to multiple users, groups, and roles in your AWS account</a:t>
            </a:r>
          </a:p>
          <a:p>
            <a:pPr marL="171450" indent="-171450">
              <a:buFont typeface="Arial" panose="020B0604020202020204" pitchFamily="34" charset="0"/>
              <a:buChar char="•"/>
            </a:pPr>
            <a:r>
              <a:rPr lang="en-US" b="1" kern="1200" baseline="0" dirty="0">
                <a:effectLst/>
                <a:latin typeface="+mn-lt"/>
                <a:ea typeface="+mn-ea"/>
                <a:cs typeface="+mn-cs"/>
              </a:rPr>
              <a:t>Inline policies – </a:t>
            </a:r>
            <a:r>
              <a:rPr lang="en-US" kern="1200" baseline="0" dirty="0">
                <a:effectLst/>
                <a:latin typeface="+mn-lt"/>
                <a:ea typeface="+mn-ea"/>
                <a:cs typeface="+mn-cs"/>
              </a:rPr>
              <a:t>Policies that you create and manage, and that are embedded directly into a single user group or role.</a:t>
            </a:r>
          </a:p>
          <a:p>
            <a:endParaRPr lang="en-US" kern="1200" baseline="0" dirty="0">
              <a:effectLst/>
              <a:latin typeface="+mn-lt"/>
              <a:ea typeface="+mn-ea"/>
              <a:cs typeface="+mn-cs"/>
            </a:endParaRPr>
          </a:p>
          <a:p>
            <a:r>
              <a:rPr lang="en-US" b="1" kern="1200" baseline="0" dirty="0">
                <a:effectLst/>
                <a:latin typeface="+mn-lt"/>
                <a:ea typeface="+mn-ea"/>
                <a:cs typeface="+mn-cs"/>
              </a:rPr>
              <a:t>Resource-based policies </a:t>
            </a:r>
            <a:r>
              <a:rPr lang="en-US" kern="1200" baseline="0" dirty="0">
                <a:effectLst/>
                <a:latin typeface="+mn-lt"/>
                <a:ea typeface="+mn-ea"/>
                <a:cs typeface="+mn-cs"/>
              </a:rPr>
              <a:t>are JSON policy documents that you attach to a resource, such as an S3 bucket. These policies control what actions a specified principal can perform on that resource, and under what conditions. </a:t>
            </a:r>
          </a:p>
        </p:txBody>
      </p:sp>
    </p:spTree>
    <p:extLst>
      <p:ext uri="{BB962C8B-B14F-4D97-AF65-F5344CB8AC3E}">
        <p14:creationId xmlns:p14="http://schemas.microsoft.com/office/powerpoint/2010/main" val="14660878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ea typeface="+mn-ea"/>
                <a:cs typeface="+mn-cs"/>
              </a:rPr>
              <a:t>As mentioned previously, IAM policy documents are written in JSON.</a:t>
            </a:r>
          </a:p>
          <a:p>
            <a:endParaRPr lang="en-US" kern="1200">
              <a:solidFill>
                <a:schemeClr val="tx1"/>
              </a:solidFill>
              <a:effectLst/>
              <a:ea typeface="+mn-ea"/>
              <a:cs typeface="+mn-cs"/>
            </a:endParaRPr>
          </a:p>
          <a:p>
            <a:r>
              <a:rPr lang="en-US" kern="1200">
                <a:solidFill>
                  <a:schemeClr val="tx1"/>
                </a:solidFill>
                <a:effectLst/>
                <a:ea typeface="+mn-ea"/>
                <a:cs typeface="+mn-cs"/>
              </a:rPr>
              <a:t>The example IAM policy grants users access only to the following resources:</a:t>
            </a:r>
          </a:p>
          <a:p>
            <a:pPr marL="171450" lvl="0" indent="-171450">
              <a:buFont typeface="Arial" panose="020B0604020202020204" pitchFamily="34" charset="0"/>
              <a:buChar char="•"/>
            </a:pPr>
            <a:r>
              <a:rPr lang="en-US" kern="1200">
                <a:solidFill>
                  <a:schemeClr val="tx1"/>
                </a:solidFill>
                <a:effectLst/>
                <a:ea typeface="+mn-ea"/>
                <a:cs typeface="+mn-cs"/>
              </a:rPr>
              <a:t>The DynamoDB table whose name is represented by </a:t>
            </a:r>
            <a:r>
              <a:rPr lang="en-US" i="1" kern="1200">
                <a:solidFill>
                  <a:schemeClr val="tx1"/>
                </a:solidFill>
                <a:effectLst/>
                <a:ea typeface="+mn-ea"/>
                <a:cs typeface="+mn-cs"/>
              </a:rPr>
              <a:t>table-name</a:t>
            </a:r>
            <a:r>
              <a:rPr lang="en-US" kern="1200">
                <a:solidFill>
                  <a:schemeClr val="tx1"/>
                </a:solidFill>
                <a:effectLst/>
                <a:ea typeface="+mn-ea"/>
                <a:cs typeface="+mn-cs"/>
              </a:rPr>
              <a:t>.</a:t>
            </a:r>
          </a:p>
          <a:p>
            <a:pPr marL="171450" lvl="0" indent="-171450">
              <a:buFont typeface="Arial" panose="020B0604020202020204" pitchFamily="34" charset="0"/>
              <a:buChar char="•"/>
            </a:pPr>
            <a:r>
              <a:rPr lang="en-US" kern="1200">
                <a:solidFill>
                  <a:schemeClr val="tx1"/>
                </a:solidFill>
                <a:effectLst/>
                <a:ea typeface="+mn-ea"/>
                <a:cs typeface="+mn-cs"/>
              </a:rPr>
              <a:t>The AWS account's S3 bucket, whose name is represented by </a:t>
            </a:r>
            <a:r>
              <a:rPr lang="en-US" i="1" kern="1200">
                <a:solidFill>
                  <a:schemeClr val="tx1"/>
                </a:solidFill>
                <a:effectLst/>
                <a:ea typeface="+mn-ea"/>
                <a:cs typeface="+mn-cs"/>
              </a:rPr>
              <a:t>bucket-name</a:t>
            </a:r>
            <a:r>
              <a:rPr lang="en-US" kern="1200">
                <a:solidFill>
                  <a:schemeClr val="tx1"/>
                </a:solidFill>
                <a:effectLst/>
                <a:ea typeface="+mn-ea"/>
                <a:cs typeface="+mn-cs"/>
              </a:rPr>
              <a:t> and all the objects that it contains.</a:t>
            </a:r>
          </a:p>
          <a:p>
            <a:pPr marL="0" lvl="0" indent="0">
              <a:buFont typeface="Arial" panose="020B0604020202020204" pitchFamily="34" charset="0"/>
              <a:buNone/>
            </a:pPr>
            <a:endParaRPr lang="en-US" kern="1200">
              <a:solidFill>
                <a:schemeClr val="tx1"/>
              </a:solidFill>
              <a:effectLst/>
              <a:ea typeface="+mn-ea"/>
              <a:cs typeface="+mn-cs"/>
            </a:endParaRPr>
          </a:p>
          <a:p>
            <a:r>
              <a:rPr lang="en-US" kern="1200">
                <a:solidFill>
                  <a:schemeClr val="tx1"/>
                </a:solidFill>
                <a:effectLst/>
                <a:ea typeface="+mn-ea"/>
                <a:cs typeface="+mn-cs"/>
              </a:rPr>
              <a:t>The IAM policy also includes an explicit deny ("</a:t>
            </a:r>
            <a:r>
              <a:rPr lang="en-US" kern="1200" err="1">
                <a:solidFill>
                  <a:schemeClr val="tx1"/>
                </a:solidFill>
                <a:effectLst/>
                <a:ea typeface="+mn-ea"/>
                <a:cs typeface="+mn-cs"/>
              </a:rPr>
              <a:t>Effect":"Deny</a:t>
            </a:r>
            <a:r>
              <a:rPr lang="en-US" kern="1200">
                <a:solidFill>
                  <a:schemeClr val="tx1"/>
                </a:solidFill>
                <a:effectLst/>
                <a:ea typeface="+mn-ea"/>
                <a:cs typeface="+mn-cs"/>
              </a:rPr>
              <a:t>") element. The </a:t>
            </a:r>
            <a:r>
              <a:rPr lang="en-US" b="1" kern="1200" err="1">
                <a:solidFill>
                  <a:schemeClr val="tx1"/>
                </a:solidFill>
                <a:effectLst/>
                <a:ea typeface="+mn-ea"/>
                <a:cs typeface="+mn-cs"/>
              </a:rPr>
              <a:t>NotResource</a:t>
            </a:r>
            <a:r>
              <a:rPr lang="en-US" kern="1200">
                <a:solidFill>
                  <a:schemeClr val="tx1"/>
                </a:solidFill>
                <a:effectLst/>
                <a:ea typeface="+mn-ea"/>
                <a:cs typeface="+mn-cs"/>
              </a:rPr>
              <a:t> element helps to ensure that users cannot use any other DynamoDB or S3 actions or resources except the actions and resources that are specified in the policy—even if permissions have been granted in another policy. An explicit deny statement takes precedence over an allow statement.</a:t>
            </a:r>
          </a:p>
        </p:txBody>
      </p:sp>
    </p:spTree>
    <p:extLst>
      <p:ext uri="{BB962C8B-B14F-4D97-AF65-F5344CB8AC3E}">
        <p14:creationId xmlns:p14="http://schemas.microsoft.com/office/powerpoint/2010/main" val="3810956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kern="1200" baseline="0" dirty="0">
                <a:effectLst/>
                <a:latin typeface="+mn-lt"/>
                <a:ea typeface="+mn-ea"/>
                <a:cs typeface="+mn-cs"/>
              </a:rPr>
              <a:t>While </a:t>
            </a:r>
            <a:r>
              <a:rPr lang="en-US" b="0" i="1" kern="1200" baseline="0" dirty="0">
                <a:effectLst/>
                <a:latin typeface="+mn-lt"/>
                <a:ea typeface="+mn-ea"/>
                <a:cs typeface="+mn-cs"/>
              </a:rPr>
              <a:t>i</a:t>
            </a:r>
            <a:r>
              <a:rPr lang="en-US" i="1" dirty="0"/>
              <a:t>dentity-based policies </a:t>
            </a:r>
            <a:r>
              <a:rPr lang="en-US" dirty="0"/>
              <a:t>are attached to a user, group, or role</a:t>
            </a:r>
            <a:r>
              <a:rPr lang="en-US" b="0" kern="1200" baseline="0" dirty="0">
                <a:effectLst/>
                <a:latin typeface="+mn-lt"/>
                <a:ea typeface="+mn-ea"/>
                <a:cs typeface="+mn-cs"/>
              </a:rPr>
              <a:t>, </a:t>
            </a:r>
            <a:r>
              <a:rPr lang="en-US" b="1" kern="1200" baseline="0" dirty="0">
                <a:effectLst/>
                <a:latin typeface="+mn-lt"/>
                <a:ea typeface="+mn-ea"/>
                <a:cs typeface="+mn-cs"/>
              </a:rPr>
              <a:t>resource-based policies </a:t>
            </a:r>
            <a:r>
              <a:rPr lang="en-US" kern="1200" baseline="0" dirty="0">
                <a:effectLst/>
                <a:latin typeface="+mn-lt"/>
                <a:ea typeface="+mn-ea"/>
                <a:cs typeface="+mn-cs"/>
              </a:rPr>
              <a:t>are attached to a resource, such as an S3 bucket. These policies specify who can access the resource and what actions they can perform on it.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baseline="0" dirty="0">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baseline="0" dirty="0">
                <a:effectLst/>
                <a:latin typeface="+mn-lt"/>
                <a:ea typeface="+mn-ea"/>
                <a:cs typeface="+mn-cs"/>
              </a:rPr>
              <a:t>Resource-based policies are defined </a:t>
            </a:r>
            <a:r>
              <a:rPr lang="en-US" b="1" kern="1200" baseline="0" dirty="0">
                <a:effectLst/>
                <a:latin typeface="+mn-lt"/>
                <a:ea typeface="+mn-ea"/>
                <a:cs typeface="+mn-cs"/>
              </a:rPr>
              <a:t>inline</a:t>
            </a:r>
            <a:r>
              <a:rPr lang="en-US" kern="1200" baseline="0" dirty="0">
                <a:effectLst/>
                <a:latin typeface="+mn-lt"/>
                <a:ea typeface="+mn-ea"/>
                <a:cs typeface="+mn-cs"/>
              </a:rPr>
              <a:t> only, which means that you define the policy on the resource itself, instead of creating a separate IAM policy document that you attach. For example, to create an S3 bucket policy (a type of resource-based policy) on an S3 bucket, navigate to the bucket, click the </a:t>
            </a:r>
            <a:r>
              <a:rPr lang="en-US" b="1" kern="1200" baseline="0" dirty="0">
                <a:effectLst/>
                <a:latin typeface="+mn-lt"/>
                <a:ea typeface="+mn-ea"/>
                <a:cs typeface="+mn-cs"/>
              </a:rPr>
              <a:t>Permissions</a:t>
            </a:r>
            <a:r>
              <a:rPr lang="en-US" kern="1200" baseline="0" dirty="0">
                <a:effectLst/>
                <a:latin typeface="+mn-lt"/>
                <a:ea typeface="+mn-ea"/>
                <a:cs typeface="+mn-cs"/>
              </a:rPr>
              <a:t> tab, click the </a:t>
            </a:r>
            <a:r>
              <a:rPr lang="en-US" b="1" kern="1200" baseline="0" dirty="0">
                <a:effectLst/>
                <a:latin typeface="+mn-lt"/>
                <a:ea typeface="+mn-ea"/>
                <a:cs typeface="+mn-cs"/>
              </a:rPr>
              <a:t>Bucket Policy</a:t>
            </a:r>
            <a:r>
              <a:rPr lang="en-US" kern="1200" baseline="0" dirty="0">
                <a:effectLst/>
                <a:latin typeface="+mn-lt"/>
                <a:ea typeface="+mn-ea"/>
                <a:cs typeface="+mn-cs"/>
              </a:rPr>
              <a:t> button, and define the JSON-formatted policy document there.</a:t>
            </a:r>
            <a:r>
              <a:rPr lang="en-US" b="0" i="0" kern="1200" baseline="0" dirty="0">
                <a:solidFill>
                  <a:schemeClr val="tx1"/>
                </a:solidFill>
                <a:effectLst/>
                <a:latin typeface="+mn-lt"/>
                <a:ea typeface="+mn-ea"/>
                <a:cs typeface="+mn-cs"/>
              </a:rPr>
              <a:t> </a:t>
            </a:r>
            <a:r>
              <a:rPr lang="en-US" b="0" i="0" kern="1200" dirty="0">
                <a:solidFill>
                  <a:schemeClr val="tx1"/>
                </a:solidFill>
                <a:effectLst/>
                <a:latin typeface="+mn-lt"/>
                <a:ea typeface="+mn-ea"/>
                <a:cs typeface="+mn-cs"/>
              </a:rPr>
              <a:t>An Amazon S3 access control list (ACL) is another example of a resource-based policy.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mn-lt"/>
                <a:ea typeface="+mn-ea"/>
                <a:cs typeface="+mn-cs"/>
              </a:rPr>
              <a:t>The diagram shows two different ways that the user </a:t>
            </a:r>
            <a:r>
              <a:rPr lang="en-US" b="0" i="1" kern="1200" dirty="0" err="1">
                <a:solidFill>
                  <a:schemeClr val="tx1"/>
                </a:solidFill>
                <a:effectLst/>
                <a:latin typeface="+mn-lt"/>
                <a:ea typeface="+mn-ea"/>
                <a:cs typeface="+mn-cs"/>
              </a:rPr>
              <a:t>MaryMajor</a:t>
            </a:r>
            <a:r>
              <a:rPr lang="en-US" b="0" i="0" kern="1200" dirty="0">
                <a:solidFill>
                  <a:schemeClr val="tx1"/>
                </a:solidFill>
                <a:effectLst/>
                <a:latin typeface="+mn-lt"/>
                <a:ea typeface="+mn-ea"/>
                <a:cs typeface="+mn-cs"/>
              </a:rPr>
              <a:t> could be granted access to objects in the S3 bucket that is named </a:t>
            </a:r>
            <a:r>
              <a:rPr lang="en-US" b="0" i="1" kern="1200" dirty="0">
                <a:solidFill>
                  <a:schemeClr val="tx1"/>
                </a:solidFill>
                <a:effectLst/>
                <a:latin typeface="+mn-lt"/>
                <a:ea typeface="+mn-ea"/>
                <a:cs typeface="+mn-cs"/>
              </a:rPr>
              <a:t>photos</a:t>
            </a:r>
            <a:r>
              <a:rPr lang="en-US" b="0" i="0" kern="1200" dirty="0">
                <a:solidFill>
                  <a:schemeClr val="tx1"/>
                </a:solidFill>
                <a:effectLst/>
                <a:latin typeface="+mn-lt"/>
                <a:ea typeface="+mn-ea"/>
                <a:cs typeface="+mn-cs"/>
              </a:rPr>
              <a:t>. On the left, you see an example of an identity-based policy. An IAM policy that grants access to the S3 bucket is attached to the </a:t>
            </a:r>
            <a:r>
              <a:rPr lang="en-US" b="0" i="0" kern="1200" dirty="0" err="1">
                <a:solidFill>
                  <a:schemeClr val="tx1"/>
                </a:solidFill>
                <a:effectLst/>
                <a:latin typeface="+mn-lt"/>
                <a:ea typeface="+mn-ea"/>
                <a:cs typeface="+mn-cs"/>
              </a:rPr>
              <a:t>MaryMajor</a:t>
            </a:r>
            <a:r>
              <a:rPr lang="en-US" b="0" i="0" kern="1200" dirty="0">
                <a:solidFill>
                  <a:schemeClr val="tx1"/>
                </a:solidFill>
                <a:effectLst/>
                <a:latin typeface="+mn-lt"/>
                <a:ea typeface="+mn-ea"/>
                <a:cs typeface="+mn-cs"/>
              </a:rPr>
              <a:t> user. On the right, you see an example of a resource-based policy. The S3 bucket policy for the </a:t>
            </a:r>
            <a:r>
              <a:rPr lang="en-US" b="0" i="1" kern="1200" dirty="0">
                <a:solidFill>
                  <a:schemeClr val="tx1"/>
                </a:solidFill>
                <a:effectLst/>
                <a:latin typeface="+mn-lt"/>
                <a:ea typeface="+mn-ea"/>
                <a:cs typeface="+mn-cs"/>
              </a:rPr>
              <a:t>photos</a:t>
            </a:r>
            <a:r>
              <a:rPr lang="en-US" b="0" i="0" kern="1200" dirty="0">
                <a:solidFill>
                  <a:schemeClr val="tx1"/>
                </a:solidFill>
                <a:effectLst/>
                <a:latin typeface="+mn-lt"/>
                <a:ea typeface="+mn-ea"/>
                <a:cs typeface="+mn-cs"/>
              </a:rPr>
              <a:t> bucket specifies that the user </a:t>
            </a:r>
            <a:r>
              <a:rPr lang="en-US" b="0" i="0" kern="1200" dirty="0" err="1">
                <a:solidFill>
                  <a:schemeClr val="tx1"/>
                </a:solidFill>
                <a:effectLst/>
                <a:latin typeface="+mn-lt"/>
                <a:ea typeface="+mn-ea"/>
                <a:cs typeface="+mn-cs"/>
              </a:rPr>
              <a:t>MaryMajor</a:t>
            </a:r>
            <a:r>
              <a:rPr lang="en-US" b="0" i="0" kern="1200" baseline="0" dirty="0">
                <a:solidFill>
                  <a:schemeClr val="tx1"/>
                </a:solidFill>
                <a:effectLst/>
                <a:latin typeface="+mn-lt"/>
                <a:ea typeface="+mn-ea"/>
                <a:cs typeface="+mn-cs"/>
              </a:rPr>
              <a:t> </a:t>
            </a:r>
            <a:r>
              <a:rPr lang="en-US" b="0" i="0" kern="1200" dirty="0">
                <a:solidFill>
                  <a:schemeClr val="tx1"/>
                </a:solidFill>
                <a:effectLst/>
                <a:latin typeface="+mn-lt"/>
                <a:ea typeface="+mn-ea"/>
                <a:cs typeface="+mn-cs"/>
              </a:rPr>
              <a:t>is allowed to list and read the objects in the bucket.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mn-lt"/>
                <a:ea typeface="+mn-ea"/>
                <a:cs typeface="+mn-cs"/>
              </a:rPr>
              <a:t>Note that y</a:t>
            </a:r>
            <a:r>
              <a:rPr lang="en-US" dirty="0"/>
              <a:t>ou could define a deny statement in a bucket policy to restrict access to specific IAM users, even if the users are granted access in a separate identity-based policy. </a:t>
            </a:r>
            <a:r>
              <a:rPr lang="en-US" kern="1200" dirty="0">
                <a:solidFill>
                  <a:schemeClr val="tx1"/>
                </a:solidFill>
                <a:effectLst/>
                <a:ea typeface="+mn-ea"/>
                <a:cs typeface="+mn-cs"/>
              </a:rPr>
              <a:t>An explicit deny statement will always take precedence over any allow statement.</a:t>
            </a:r>
            <a:endParaRPr lang="en-US" b="0" i="0" kern="1200" dirty="0">
              <a:solidFill>
                <a:schemeClr val="tx1"/>
              </a:solidFill>
              <a:effectLst/>
              <a:latin typeface="+mn-lt"/>
              <a:ea typeface="+mn-ea"/>
              <a:cs typeface="+mn-cs"/>
            </a:endParaRPr>
          </a:p>
          <a:p>
            <a:endParaRPr lang="en-US"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418174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dirty="0">
                <a:solidFill>
                  <a:schemeClr val="tx1"/>
                </a:solidFill>
                <a:effectLst/>
                <a:ea typeface="+mn-ea"/>
                <a:cs typeface="+mn-cs"/>
              </a:rPr>
              <a:t>IAM policies enable you to fine-tune privileges that are granted to IAM users, groups, and roles. </a:t>
            </a:r>
          </a:p>
          <a:p>
            <a:endParaRPr lang="en-US" kern="1200" dirty="0">
              <a:solidFill>
                <a:schemeClr val="tx1"/>
              </a:solidFill>
              <a:effectLst/>
              <a:ea typeface="+mn-ea"/>
              <a:cs typeface="+mn-cs"/>
            </a:endParaRPr>
          </a:p>
          <a:p>
            <a:r>
              <a:rPr lang="en-US" kern="1200" dirty="0">
                <a:solidFill>
                  <a:schemeClr val="tx1"/>
                </a:solidFill>
                <a:effectLst/>
                <a:ea typeface="+mn-ea"/>
                <a:cs typeface="+mn-cs"/>
              </a:rPr>
              <a:t>When IAM</a:t>
            </a:r>
            <a:r>
              <a:rPr lang="en-US" kern="1200" baseline="0" dirty="0">
                <a:solidFill>
                  <a:schemeClr val="tx1"/>
                </a:solidFill>
                <a:effectLst/>
                <a:ea typeface="+mn-ea"/>
                <a:cs typeface="+mn-cs"/>
              </a:rPr>
              <a:t> deter</a:t>
            </a:r>
            <a:r>
              <a:rPr lang="en-US" kern="1200" dirty="0">
                <a:solidFill>
                  <a:schemeClr val="tx1"/>
                </a:solidFill>
                <a:effectLst/>
                <a:ea typeface="+mn-ea"/>
                <a:cs typeface="+mn-cs"/>
              </a:rPr>
              <a:t>mines whether a permission is allowed, IAM first checks for the existence of any applicable </a:t>
            </a:r>
            <a:r>
              <a:rPr lang="en-US" b="1" kern="1200" dirty="0">
                <a:solidFill>
                  <a:schemeClr val="tx1"/>
                </a:solidFill>
                <a:effectLst/>
                <a:ea typeface="+mn-ea"/>
                <a:cs typeface="+mn-cs"/>
              </a:rPr>
              <a:t>explicit denial policy</a:t>
            </a:r>
            <a:r>
              <a:rPr lang="en-US" kern="1200" dirty="0">
                <a:solidFill>
                  <a:schemeClr val="tx1"/>
                </a:solidFill>
                <a:effectLst/>
                <a:ea typeface="+mn-ea"/>
                <a:cs typeface="+mn-cs"/>
              </a:rPr>
              <a:t>. If no</a:t>
            </a:r>
            <a:r>
              <a:rPr lang="en-US" kern="1200" baseline="0" dirty="0">
                <a:solidFill>
                  <a:schemeClr val="tx1"/>
                </a:solidFill>
                <a:effectLst/>
                <a:ea typeface="+mn-ea"/>
                <a:cs typeface="+mn-cs"/>
              </a:rPr>
              <a:t> explicit denial </a:t>
            </a:r>
            <a:r>
              <a:rPr lang="en-US" kern="1200" dirty="0">
                <a:solidFill>
                  <a:schemeClr val="tx1"/>
                </a:solidFill>
                <a:effectLst/>
                <a:ea typeface="+mn-ea"/>
                <a:cs typeface="+mn-cs"/>
              </a:rPr>
              <a:t>exists, it then checks for any applicable </a:t>
            </a:r>
            <a:r>
              <a:rPr lang="en-US" b="1" kern="1200" dirty="0">
                <a:solidFill>
                  <a:schemeClr val="tx1"/>
                </a:solidFill>
                <a:effectLst/>
                <a:ea typeface="+mn-ea"/>
                <a:cs typeface="+mn-cs"/>
              </a:rPr>
              <a:t>explicit allow policy</a:t>
            </a:r>
            <a:r>
              <a:rPr lang="en-US" kern="1200" dirty="0">
                <a:solidFill>
                  <a:schemeClr val="tx1"/>
                </a:solidFill>
                <a:effectLst/>
                <a:ea typeface="+mn-ea"/>
                <a:cs typeface="+mn-cs"/>
              </a:rPr>
              <a:t>. If neither an explicit deny nor an explicit allow policy exists, IAM reverts to the default, which is to deny access. This process is referred to as an </a:t>
            </a:r>
            <a:r>
              <a:rPr lang="en-US" b="1" kern="1200" dirty="0">
                <a:solidFill>
                  <a:schemeClr val="tx1"/>
                </a:solidFill>
                <a:effectLst/>
                <a:ea typeface="+mn-ea"/>
                <a:cs typeface="+mn-cs"/>
              </a:rPr>
              <a:t>implicit deny</a:t>
            </a:r>
            <a:r>
              <a:rPr lang="en-US" kern="1200" dirty="0">
                <a:solidFill>
                  <a:schemeClr val="tx1"/>
                </a:solidFill>
                <a:effectLst/>
                <a:ea typeface="+mn-ea"/>
                <a:cs typeface="+mn-cs"/>
              </a:rPr>
              <a:t>. The user will be permitted to take the action only if the requested action is </a:t>
            </a:r>
            <a:r>
              <a:rPr lang="en-US" i="1" kern="1200" dirty="0">
                <a:solidFill>
                  <a:schemeClr val="tx1"/>
                </a:solidFill>
                <a:effectLst/>
                <a:ea typeface="+mn-ea"/>
                <a:cs typeface="+mn-cs"/>
              </a:rPr>
              <a:t>not </a:t>
            </a:r>
            <a:r>
              <a:rPr lang="en-US" kern="1200" dirty="0">
                <a:solidFill>
                  <a:schemeClr val="tx1"/>
                </a:solidFill>
                <a:effectLst/>
                <a:ea typeface="+mn-ea"/>
                <a:cs typeface="+mn-cs"/>
              </a:rPr>
              <a:t>explicitly denied and </a:t>
            </a:r>
            <a:r>
              <a:rPr lang="en-US" i="1" kern="1200" dirty="0">
                <a:solidFill>
                  <a:schemeClr val="tx1"/>
                </a:solidFill>
                <a:effectLst/>
                <a:ea typeface="+mn-ea"/>
                <a:cs typeface="+mn-cs"/>
              </a:rPr>
              <a:t>is</a:t>
            </a:r>
            <a:r>
              <a:rPr lang="en-US" kern="1200" dirty="0">
                <a:solidFill>
                  <a:schemeClr val="tx1"/>
                </a:solidFill>
                <a:effectLst/>
                <a:ea typeface="+mn-ea"/>
                <a:cs typeface="+mn-cs"/>
              </a:rPr>
              <a:t> explicitly allowed.</a:t>
            </a:r>
          </a:p>
          <a:p>
            <a:endParaRPr lang="en-US" kern="1200" dirty="0">
              <a:solidFill>
                <a:schemeClr val="tx1"/>
              </a:solidFill>
              <a:effectLst/>
              <a:ea typeface="+mn-ea"/>
              <a:cs typeface="+mn-cs"/>
            </a:endParaRPr>
          </a:p>
          <a:p>
            <a:pPr>
              <a:defRPr/>
            </a:pPr>
            <a:r>
              <a:rPr lang="en-US" dirty="0"/>
              <a:t>It can be difficult to figure out whether access to a resource will be granted to an IAM entity when you develop IAM policies. The IAM Policy Simulator at </a:t>
            </a:r>
            <a:r>
              <a:rPr lang="en-US" dirty="0">
                <a:hlinkClick r:id="rId3"/>
              </a:rPr>
              <a:t>https://docs.aws.amazon.com/IAM/latest/UserGuide/access_policies_testing-policies.html</a:t>
            </a:r>
            <a:r>
              <a:rPr lang="en-US" dirty="0"/>
              <a:t> is a useful tool for testing and troubleshooting IAM policies. </a:t>
            </a:r>
          </a:p>
        </p:txBody>
      </p:sp>
    </p:spTree>
    <p:extLst>
      <p:ext uri="{BB962C8B-B14F-4D97-AF65-F5344CB8AC3E}">
        <p14:creationId xmlns:p14="http://schemas.microsoft.com/office/powerpoint/2010/main" val="25672996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rPr>
              <a:t>An </a:t>
            </a:r>
            <a:r>
              <a:rPr lang="en-US" b="1" kern="1200">
                <a:solidFill>
                  <a:schemeClr val="tx1"/>
                </a:solidFill>
                <a:effectLst/>
              </a:rPr>
              <a:t>IAM</a:t>
            </a:r>
            <a:r>
              <a:rPr lang="en-US" kern="1200">
                <a:solidFill>
                  <a:schemeClr val="tx1"/>
                </a:solidFill>
                <a:effectLst/>
              </a:rPr>
              <a:t> </a:t>
            </a:r>
            <a:r>
              <a:rPr lang="en-US" b="1" i="0" kern="1200">
                <a:solidFill>
                  <a:schemeClr val="tx1"/>
                </a:solidFill>
                <a:effectLst/>
              </a:rPr>
              <a:t>group</a:t>
            </a:r>
            <a:r>
              <a:rPr lang="en-US" kern="1200">
                <a:solidFill>
                  <a:schemeClr val="tx1"/>
                </a:solidFill>
                <a:effectLst/>
              </a:rPr>
              <a:t> is a collection of IAM users. IAM groups offer a convenient way to specify permissions for a collection of users, which can make it easier to manage the permissions for those users. </a:t>
            </a:r>
          </a:p>
          <a:p>
            <a:endParaRPr lang="en-US" kern="1200">
              <a:solidFill>
                <a:schemeClr val="tx1"/>
              </a:solidFill>
              <a:effectLst/>
            </a:endParaRPr>
          </a:p>
          <a:p>
            <a:r>
              <a:rPr lang="en-US" kern="1200">
                <a:solidFill>
                  <a:schemeClr val="tx1"/>
                </a:solidFill>
                <a:effectLst/>
              </a:rPr>
              <a:t>For example, you could create an IAM group that is called </a:t>
            </a:r>
            <a:r>
              <a:rPr lang="en-US" b="0" i="1" kern="1200">
                <a:solidFill>
                  <a:schemeClr val="tx1"/>
                </a:solidFill>
                <a:effectLst/>
              </a:rPr>
              <a:t>Developers</a:t>
            </a:r>
            <a:r>
              <a:rPr lang="en-US" i="1" kern="1200">
                <a:solidFill>
                  <a:schemeClr val="tx1"/>
                </a:solidFill>
                <a:effectLst/>
              </a:rPr>
              <a:t> </a:t>
            </a:r>
            <a:r>
              <a:rPr lang="en-US" kern="1200">
                <a:solidFill>
                  <a:schemeClr val="tx1"/>
                </a:solidFill>
                <a:effectLst/>
              </a:rPr>
              <a:t>and attach an IAM policy or multiple IAM policies to the Developers group that grant the AWS resource access permissions that developers typically need. Any user that you then add to the Developer group will automatically have the permissions that are assigned to the group. In such a case, you do not need to attach the IAM policy or IAM policies directly to the user. If a new user joins your organization and should be granted developer privileges, you can simply add that user to the Developers group. Similarly, if a person changes jobs in your organization, instead of editing that user's permissions, simply remove the user from the group.</a:t>
            </a:r>
          </a:p>
          <a:p>
            <a:endParaRPr lang="en-US" kern="1200">
              <a:solidFill>
                <a:schemeClr val="tx1"/>
              </a:solidFill>
              <a:effectLst/>
            </a:endParaRPr>
          </a:p>
          <a:p>
            <a:r>
              <a:rPr lang="en-US" kern="1200">
                <a:solidFill>
                  <a:schemeClr val="tx1"/>
                </a:solidFill>
                <a:effectLst/>
              </a:rPr>
              <a:t>Important characteristics of IAM groups:</a:t>
            </a:r>
          </a:p>
          <a:p>
            <a:pPr marL="171450" lvl="0" indent="-171450">
              <a:buFont typeface="Arial" panose="020B0604020202020204" pitchFamily="34" charset="0"/>
              <a:buChar char="•"/>
            </a:pPr>
            <a:r>
              <a:rPr lang="en-US" kern="1200">
                <a:solidFill>
                  <a:schemeClr val="tx1"/>
                </a:solidFill>
                <a:effectLst/>
              </a:rPr>
              <a:t>A group can contain many users, and a user can belong to multiple groups.</a:t>
            </a:r>
          </a:p>
          <a:p>
            <a:pPr marL="171450" lvl="0" indent="-171450">
              <a:buFont typeface="Arial" panose="020B0604020202020204" pitchFamily="34" charset="0"/>
              <a:buChar char="•"/>
            </a:pPr>
            <a:r>
              <a:rPr lang="en-US" kern="1200">
                <a:solidFill>
                  <a:schemeClr val="tx1"/>
                </a:solidFill>
                <a:effectLst/>
              </a:rPr>
              <a:t>Groups cannot be nested.</a:t>
            </a:r>
            <a:r>
              <a:rPr lang="en-US" kern="1200" baseline="0">
                <a:solidFill>
                  <a:schemeClr val="tx1"/>
                </a:solidFill>
                <a:effectLst/>
              </a:rPr>
              <a:t> A</a:t>
            </a:r>
            <a:r>
              <a:rPr lang="en-US" kern="1200">
                <a:solidFill>
                  <a:schemeClr val="tx1"/>
                </a:solidFill>
                <a:effectLst/>
              </a:rPr>
              <a:t> group can contain only users, and a group cannot contain other groups.</a:t>
            </a:r>
          </a:p>
          <a:p>
            <a:pPr marL="171450" lvl="0" indent="-171450">
              <a:buFont typeface="Arial" panose="020B0604020202020204" pitchFamily="34" charset="0"/>
              <a:buChar char="•"/>
            </a:pPr>
            <a:r>
              <a:rPr lang="en-US" kern="1200">
                <a:solidFill>
                  <a:schemeClr val="tx1"/>
                </a:solidFill>
                <a:effectLst/>
              </a:rPr>
              <a:t>There is no default group that automatically includes all users in the AWS account. If you want to have a group with all account users in it, you need to create the group and add each new user to it.</a:t>
            </a:r>
          </a:p>
        </p:txBody>
      </p:sp>
    </p:spTree>
    <p:extLst>
      <p:ext uri="{BB962C8B-B14F-4D97-AF65-F5344CB8AC3E}">
        <p14:creationId xmlns:p14="http://schemas.microsoft.com/office/powerpoint/2010/main" val="597713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0" i="0" kern="1200" dirty="0">
                <a:solidFill>
                  <a:schemeClr val="tx1"/>
                </a:solidFill>
                <a:effectLst/>
                <a:latin typeface="+mn-lt"/>
                <a:ea typeface="+mn-ea"/>
                <a:cs typeface="+mn-cs"/>
              </a:rPr>
              <a:t>An </a:t>
            </a:r>
            <a:r>
              <a:rPr lang="en-US" b="1" i="0" kern="1200" dirty="0">
                <a:solidFill>
                  <a:schemeClr val="tx1"/>
                </a:solidFill>
                <a:effectLst/>
                <a:latin typeface="+mn-lt"/>
                <a:ea typeface="+mn-ea"/>
                <a:cs typeface="+mn-cs"/>
              </a:rPr>
              <a:t>IAM role</a:t>
            </a:r>
            <a:r>
              <a:rPr lang="en-US" b="0" i="0" kern="1200" dirty="0">
                <a:solidFill>
                  <a:schemeClr val="tx1"/>
                </a:solidFill>
                <a:effectLst/>
                <a:latin typeface="+mn-lt"/>
                <a:ea typeface="+mn-ea"/>
                <a:cs typeface="+mn-cs"/>
              </a:rPr>
              <a:t> is an IAM identity you can create in your account that has specific permissions. An IAM role is </a:t>
            </a:r>
            <a:r>
              <a:rPr lang="en-US" b="1" i="0" kern="1200" dirty="0">
                <a:solidFill>
                  <a:schemeClr val="tx1"/>
                </a:solidFill>
                <a:effectLst/>
                <a:latin typeface="+mn-lt"/>
                <a:ea typeface="+mn-ea"/>
                <a:cs typeface="+mn-cs"/>
              </a:rPr>
              <a:t>similar to an IAM user</a:t>
            </a:r>
            <a:r>
              <a:rPr lang="en-US" b="0" i="0" kern="1200" dirty="0">
                <a:solidFill>
                  <a:schemeClr val="tx1"/>
                </a:solidFill>
                <a:effectLst/>
                <a:latin typeface="+mn-lt"/>
                <a:ea typeface="+mn-ea"/>
                <a:cs typeface="+mn-cs"/>
              </a:rPr>
              <a:t> because</a:t>
            </a:r>
            <a:r>
              <a:rPr lang="en-US" b="0" i="0" kern="1200" baseline="0" dirty="0">
                <a:solidFill>
                  <a:schemeClr val="tx1"/>
                </a:solidFill>
                <a:effectLst/>
                <a:latin typeface="+mn-lt"/>
                <a:ea typeface="+mn-ea"/>
                <a:cs typeface="+mn-cs"/>
              </a:rPr>
              <a:t> it </a:t>
            </a:r>
            <a:r>
              <a:rPr lang="en-US" b="0" i="0" kern="1200" dirty="0">
                <a:solidFill>
                  <a:schemeClr val="tx1"/>
                </a:solidFill>
                <a:effectLst/>
                <a:latin typeface="+mn-lt"/>
                <a:ea typeface="+mn-ea"/>
                <a:cs typeface="+mn-cs"/>
              </a:rPr>
              <a:t>is also an AWS identity that you can attach permissions policies to, and those permissions determine what the identity can and cannot do in AWS. However, instead of being uniquely associated with one person, a role is intended to be assumable by anyone who needs it. Also, a role does not have standard long-term credentials such as a password or access keys associated with it. Instead, when you assume a role, the role provides you with temporary security credentials for your role session.</a:t>
            </a:r>
          </a:p>
          <a:p>
            <a:endParaRPr lang="en-US" b="0" i="0" kern="1200" dirty="0">
              <a:solidFill>
                <a:schemeClr val="tx1"/>
              </a:solidFill>
              <a:effectLst/>
              <a:latin typeface="+mn-lt"/>
              <a:ea typeface="+mn-ea"/>
              <a:cs typeface="+mn-cs"/>
            </a:endParaRPr>
          </a:p>
          <a:p>
            <a:r>
              <a:rPr lang="en-US" b="0" i="0" kern="1200" dirty="0">
                <a:solidFill>
                  <a:schemeClr val="tx1"/>
                </a:solidFill>
                <a:effectLst/>
                <a:latin typeface="+mn-lt"/>
                <a:ea typeface="+mn-ea"/>
                <a:cs typeface="+mn-cs"/>
              </a:rPr>
              <a:t>You can</a:t>
            </a:r>
            <a:r>
              <a:rPr lang="en-US" b="1" i="0" kern="1200" dirty="0">
                <a:solidFill>
                  <a:schemeClr val="tx1"/>
                </a:solidFill>
                <a:effectLst/>
                <a:latin typeface="+mn-lt"/>
                <a:ea typeface="+mn-ea"/>
                <a:cs typeface="+mn-cs"/>
              </a:rPr>
              <a:t> use roles to delegate access to users, applications, or services</a:t>
            </a:r>
            <a:r>
              <a:rPr lang="en-US" b="0" i="0" kern="1200" dirty="0">
                <a:solidFill>
                  <a:schemeClr val="tx1"/>
                </a:solidFill>
                <a:effectLst/>
                <a:latin typeface="+mn-lt"/>
                <a:ea typeface="+mn-ea"/>
                <a:cs typeface="+mn-cs"/>
              </a:rPr>
              <a:t> that do not normally have access to your AWS resources. For example, you might want to grant users in your AWS account access to resources they don't usually have, or grant users in one AWS account access to resources in another account. Or you might want to allow a mobile app to use AWS resources, but you do not want to embed AWS keys within the app (where the keys can be difficult to rotate and where users can potentially extract them and misuse them). Also, sometimes you may want to grant AWS access to users who already have identities that are defined outside of AWS, such as in your corporate directory. Or, you might want to grant access to your account to third parties so that they can perform an audit on your resources. </a:t>
            </a:r>
          </a:p>
          <a:p>
            <a:endParaRPr lang="en-US" dirty="0"/>
          </a:p>
          <a:p>
            <a:r>
              <a:rPr lang="en-US" b="0" i="0" kern="1200" dirty="0">
                <a:solidFill>
                  <a:schemeClr val="tx1"/>
                </a:solidFill>
                <a:effectLst/>
                <a:latin typeface="+mn-lt"/>
                <a:ea typeface="+mn-ea"/>
                <a:cs typeface="+mn-cs"/>
              </a:rPr>
              <a:t>For all of these example use cases, IAM roles are an essential component to implementing the cloud deployment.</a:t>
            </a:r>
            <a:endParaRPr lang="en-US" dirty="0"/>
          </a:p>
        </p:txBody>
      </p:sp>
    </p:spTree>
    <p:extLst>
      <p:ext uri="{BB962C8B-B14F-4D97-AF65-F5344CB8AC3E}">
        <p14:creationId xmlns:p14="http://schemas.microsoft.com/office/powerpoint/2010/main" val="34290412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0" i="0" kern="1200" dirty="0">
                <a:solidFill>
                  <a:schemeClr val="tx1"/>
                </a:solidFill>
                <a:effectLst/>
                <a:latin typeface="+mn-lt"/>
                <a:ea typeface="+mn-ea"/>
                <a:cs typeface="+mn-cs"/>
              </a:rPr>
              <a:t>In the diagram, a developer runs an application on an EC2 instance that requires access to the S3 bucket that is named </a:t>
            </a:r>
            <a:r>
              <a:rPr lang="en-US" i="1" dirty="0"/>
              <a:t>photos</a:t>
            </a:r>
            <a:r>
              <a:rPr lang="en-US" b="0" i="0" kern="1200" dirty="0">
                <a:solidFill>
                  <a:schemeClr val="tx1"/>
                </a:solidFill>
                <a:effectLst/>
                <a:latin typeface="+mn-lt"/>
                <a:ea typeface="+mn-ea"/>
                <a:cs typeface="+mn-cs"/>
              </a:rPr>
              <a:t>. An administrator creates the IAM role and attaches the role to the EC2 instance. The role includes a permissions policy that grants read-only access to the specified S3 bucket. It also includes a trust policy that allows the EC2 instance to assume the role and retrieve the temporary credentials. When the application runs on the instance, it can use the role's temporary credentials to access the </a:t>
            </a:r>
            <a:r>
              <a:rPr lang="en-US" b="1" i="0" kern="1200" dirty="0">
                <a:solidFill>
                  <a:schemeClr val="tx1"/>
                </a:solidFill>
                <a:effectLst/>
                <a:latin typeface="+mn-lt"/>
                <a:ea typeface="+mn-ea"/>
                <a:cs typeface="+mn-cs"/>
              </a:rPr>
              <a:t>photos</a:t>
            </a:r>
            <a:r>
              <a:rPr lang="en-US" b="0" i="0" kern="1200" dirty="0">
                <a:solidFill>
                  <a:schemeClr val="tx1"/>
                </a:solidFill>
                <a:effectLst/>
                <a:latin typeface="+mn-lt"/>
                <a:ea typeface="+mn-ea"/>
                <a:cs typeface="+mn-cs"/>
              </a:rPr>
              <a:t> bucket. The administrator does not need to grant the application developer permission to access the photos bucket, and the developer never needs to share or manage credentials. </a:t>
            </a:r>
          </a:p>
          <a:p>
            <a:endParaRPr lang="en-US" b="0" i="0" kern="1200" dirty="0">
              <a:solidFill>
                <a:schemeClr val="tx1"/>
              </a:solidFill>
              <a:effectLst/>
              <a:latin typeface="+mn-lt"/>
              <a:ea typeface="+mn-ea"/>
              <a:cs typeface="+mn-cs"/>
            </a:endParaRPr>
          </a:p>
          <a:p>
            <a:r>
              <a:rPr lang="en-US" b="0" i="0" kern="1200" dirty="0">
                <a:solidFill>
                  <a:schemeClr val="tx1"/>
                </a:solidFill>
                <a:effectLst/>
                <a:latin typeface="+mn-lt"/>
                <a:ea typeface="+mn-ea"/>
                <a:cs typeface="+mn-cs"/>
              </a:rPr>
              <a:t>To learn more details about this example, see </a:t>
            </a:r>
            <a:r>
              <a:rPr lang="en-US" dirty="0"/>
              <a:t>Using an IAM Role to Grant Permissions to Applications Running on Amazon EC2 Instances at </a:t>
            </a:r>
            <a:r>
              <a:rPr lang="en-US" dirty="0">
                <a:hlinkClick r:id="rId3"/>
              </a:rPr>
              <a:t>https://docs.aws.amazon.com/IAM/latest/UserGuide/id_roles_use_switch-role-ec2.html</a:t>
            </a:r>
            <a:r>
              <a:rPr lang="en-US" dirty="0"/>
              <a:t>.</a:t>
            </a:r>
          </a:p>
        </p:txBody>
      </p:sp>
    </p:spTree>
    <p:extLst>
      <p:ext uri="{BB962C8B-B14F-4D97-AF65-F5344CB8AC3E}">
        <p14:creationId xmlns:p14="http://schemas.microsoft.com/office/powerpoint/2010/main" val="15451718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Introducing Section 4: Securing accounts</a:t>
            </a:r>
          </a:p>
        </p:txBody>
      </p:sp>
    </p:spTree>
    <p:extLst>
      <p:ext uri="{BB962C8B-B14F-4D97-AF65-F5344CB8AC3E}">
        <p14:creationId xmlns:p14="http://schemas.microsoft.com/office/powerpoint/2010/main" val="18744078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7"/>
            <a:ext cx="6216650" cy="4580803"/>
          </a:xfrm>
          <a:prstGeom prst="rect">
            <a:avLst/>
          </a:prstGeom>
        </p:spPr>
        <p:txBody>
          <a:bodyPr/>
          <a:lstStyle/>
          <a:p>
            <a:r>
              <a:rPr lang="en-US" b="1" i="0" kern="1200" dirty="0">
                <a:solidFill>
                  <a:schemeClr val="tx1"/>
                </a:solidFill>
                <a:effectLst/>
                <a:latin typeface="+mn-lt"/>
                <a:ea typeface="+mn-ea"/>
                <a:cs typeface="+mn-cs"/>
              </a:rPr>
              <a:t>AWS Organizations</a:t>
            </a:r>
            <a:r>
              <a:rPr lang="en-US" b="0" i="0" kern="1200" dirty="0">
                <a:solidFill>
                  <a:schemeClr val="tx1"/>
                </a:solidFill>
                <a:effectLst/>
                <a:latin typeface="+mn-lt"/>
                <a:ea typeface="+mn-ea"/>
                <a:cs typeface="+mn-cs"/>
              </a:rPr>
              <a:t> is an account management service that enables you to consolidate multiple AWS accounts into an </a:t>
            </a:r>
            <a:r>
              <a:rPr lang="en-US" b="0" i="1" kern="1200" dirty="0">
                <a:solidFill>
                  <a:schemeClr val="tx1"/>
                </a:solidFill>
                <a:effectLst/>
                <a:latin typeface="+mn-lt"/>
                <a:ea typeface="+mn-ea"/>
                <a:cs typeface="+mn-cs"/>
              </a:rPr>
              <a:t>organization</a:t>
            </a:r>
            <a:r>
              <a:rPr lang="en-US" b="0" i="0" kern="1200" dirty="0">
                <a:solidFill>
                  <a:schemeClr val="tx1"/>
                </a:solidFill>
                <a:effectLst/>
                <a:latin typeface="+mn-lt"/>
                <a:ea typeface="+mn-ea"/>
                <a:cs typeface="+mn-cs"/>
              </a:rPr>
              <a:t> that you create and centrally manage. Here, the focus is on the security features that AWS Organizations provides. </a:t>
            </a:r>
          </a:p>
          <a:p>
            <a:endParaRPr lang="en-US" b="0" i="0" kern="1200" dirty="0">
              <a:solidFill>
                <a:schemeClr val="tx1"/>
              </a:solidFill>
              <a:effectLst/>
              <a:latin typeface="+mn-lt"/>
              <a:ea typeface="+mn-ea"/>
              <a:cs typeface="+mn-cs"/>
            </a:endParaRPr>
          </a:p>
          <a:p>
            <a:r>
              <a:rPr lang="en-US" b="0" i="0" kern="1200" dirty="0">
                <a:solidFill>
                  <a:schemeClr val="tx1"/>
                </a:solidFill>
                <a:effectLst/>
                <a:latin typeface="+mn-lt"/>
                <a:ea typeface="+mn-ea"/>
                <a:cs typeface="+mn-cs"/>
              </a:rPr>
              <a:t>One helpful security feature is that you can </a:t>
            </a:r>
            <a:r>
              <a:rPr lang="en-US" b="1" i="0" kern="1200" dirty="0">
                <a:solidFill>
                  <a:schemeClr val="tx1"/>
                </a:solidFill>
                <a:effectLst/>
                <a:latin typeface="+mn-lt"/>
                <a:ea typeface="+mn-ea"/>
                <a:cs typeface="+mn-cs"/>
              </a:rPr>
              <a:t>group accounts into organizational units</a:t>
            </a:r>
            <a:r>
              <a:rPr lang="en-US" b="0" i="0" kern="1200" dirty="0">
                <a:solidFill>
                  <a:schemeClr val="tx1"/>
                </a:solidFill>
                <a:effectLst/>
                <a:latin typeface="+mn-lt"/>
                <a:ea typeface="+mn-ea"/>
                <a:cs typeface="+mn-cs"/>
              </a:rPr>
              <a:t> (OUs) and attach different access policies to each OU. For example, if you have accounts that should only be allowed to access AWS services that meet certain regulatory requirements, you can put those accounts into one OU. You then can define a policy that blocks OU access to services that do not meet those regulatory requirements, and then attach the</a:t>
            </a:r>
            <a:r>
              <a:rPr lang="en-US" b="0" i="0" kern="1200" baseline="0" dirty="0">
                <a:solidFill>
                  <a:schemeClr val="tx1"/>
                </a:solidFill>
                <a:effectLst/>
                <a:latin typeface="+mn-lt"/>
                <a:ea typeface="+mn-ea"/>
                <a:cs typeface="+mn-cs"/>
              </a:rPr>
              <a:t> </a:t>
            </a:r>
            <a:r>
              <a:rPr lang="en-US" b="0" i="0" kern="1200" dirty="0">
                <a:solidFill>
                  <a:schemeClr val="tx1"/>
                </a:solidFill>
                <a:effectLst/>
                <a:latin typeface="+mn-lt"/>
                <a:ea typeface="+mn-ea"/>
                <a:cs typeface="+mn-cs"/>
              </a:rPr>
              <a:t>policy to the OU. </a:t>
            </a:r>
          </a:p>
          <a:p>
            <a:endParaRPr lang="en-US" b="0" i="0" kern="1200" dirty="0">
              <a:solidFill>
                <a:schemeClr val="tx1"/>
              </a:solidFill>
              <a:effectLst/>
              <a:latin typeface="+mn-lt"/>
              <a:ea typeface="+mn-ea"/>
              <a:cs typeface="+mn-cs"/>
            </a:endParaRPr>
          </a:p>
          <a:p>
            <a:r>
              <a:rPr lang="en-US" b="0" i="0" kern="1200" dirty="0">
                <a:solidFill>
                  <a:schemeClr val="tx1"/>
                </a:solidFill>
                <a:effectLst/>
                <a:latin typeface="+mn-lt"/>
                <a:ea typeface="+mn-ea"/>
                <a:cs typeface="+mn-cs"/>
              </a:rPr>
              <a:t>Another security feature is that </a:t>
            </a:r>
            <a:r>
              <a:rPr lang="en-US" b="1" i="0" kern="1200" dirty="0">
                <a:solidFill>
                  <a:schemeClr val="tx1"/>
                </a:solidFill>
                <a:effectLst/>
                <a:latin typeface="+mn-lt"/>
                <a:ea typeface="+mn-ea"/>
                <a:cs typeface="+mn-cs"/>
              </a:rPr>
              <a:t>AWS Organizations</a:t>
            </a:r>
            <a:r>
              <a:rPr lang="en-US" b="1" i="0" kern="1200" baseline="0" dirty="0">
                <a:solidFill>
                  <a:schemeClr val="tx1"/>
                </a:solidFill>
                <a:effectLst/>
                <a:latin typeface="+mn-lt"/>
                <a:ea typeface="+mn-ea"/>
                <a:cs typeface="+mn-cs"/>
              </a:rPr>
              <a:t> integrates </a:t>
            </a:r>
            <a:r>
              <a:rPr lang="en-US" b="1" i="0" kern="1200" dirty="0">
                <a:solidFill>
                  <a:schemeClr val="tx1"/>
                </a:solidFill>
                <a:effectLst/>
                <a:latin typeface="+mn-lt"/>
                <a:ea typeface="+mn-ea"/>
                <a:cs typeface="+mn-cs"/>
              </a:rPr>
              <a:t>with and supports IAM. </a:t>
            </a:r>
            <a:r>
              <a:rPr lang="en-US" b="0" i="0" kern="1200" dirty="0">
                <a:solidFill>
                  <a:schemeClr val="tx1"/>
                </a:solidFill>
                <a:effectLst/>
                <a:latin typeface="+mn-lt"/>
                <a:ea typeface="+mn-ea"/>
                <a:cs typeface="+mn-cs"/>
              </a:rPr>
              <a:t>AWS Organizations expands that control to the account level by giving you control over what users and roles in an account or a group of accounts can do. The resulting permissions are the logical intersection of what is allowed by the AWS Organizations policy settings and what permissions are explicitly granted by IAM in the account for that user or role. The user can access only what is allowed by </a:t>
            </a:r>
            <a:r>
              <a:rPr lang="en-US" b="1" i="1" kern="1200" dirty="0">
                <a:solidFill>
                  <a:schemeClr val="tx1"/>
                </a:solidFill>
                <a:effectLst/>
                <a:latin typeface="+mn-lt"/>
                <a:ea typeface="+mn-ea"/>
                <a:cs typeface="+mn-cs"/>
              </a:rPr>
              <a:t>both</a:t>
            </a:r>
            <a:r>
              <a:rPr lang="en-US" b="0" i="0" kern="1200" dirty="0">
                <a:solidFill>
                  <a:schemeClr val="tx1"/>
                </a:solidFill>
                <a:effectLst/>
                <a:latin typeface="+mn-lt"/>
                <a:ea typeface="+mn-ea"/>
                <a:cs typeface="+mn-cs"/>
              </a:rPr>
              <a:t> the AWS Organizations policies and IAM policies. </a:t>
            </a:r>
          </a:p>
          <a:p>
            <a:endParaRPr lang="en-US" b="0" i="0" kern="1200" dirty="0">
              <a:solidFill>
                <a:schemeClr val="tx1"/>
              </a:solidFill>
              <a:effectLst/>
              <a:latin typeface="+mn-lt"/>
              <a:ea typeface="+mn-ea"/>
              <a:cs typeface="+mn-cs"/>
            </a:endParaRPr>
          </a:p>
          <a:p>
            <a:r>
              <a:rPr lang="en-US" b="0" i="0" kern="1200" dirty="0">
                <a:solidFill>
                  <a:schemeClr val="tx1"/>
                </a:solidFill>
                <a:effectLst/>
                <a:latin typeface="+mn-lt"/>
                <a:ea typeface="+mn-ea"/>
                <a:cs typeface="+mn-cs"/>
              </a:rPr>
              <a:t>Finally, AWS Organizations </a:t>
            </a:r>
            <a:r>
              <a:rPr lang="en-US" b="1" i="0" kern="1200" dirty="0">
                <a:solidFill>
                  <a:schemeClr val="tx1"/>
                </a:solidFill>
                <a:effectLst/>
                <a:latin typeface="+mn-lt"/>
                <a:ea typeface="+mn-ea"/>
                <a:cs typeface="+mn-cs"/>
              </a:rPr>
              <a:t>provides service control policies (SCPs) </a:t>
            </a:r>
            <a:r>
              <a:rPr lang="en-US" b="0" i="0" kern="1200" dirty="0">
                <a:solidFill>
                  <a:schemeClr val="tx1"/>
                </a:solidFill>
                <a:effectLst/>
                <a:latin typeface="+mn-lt"/>
                <a:ea typeface="+mn-ea"/>
                <a:cs typeface="+mn-cs"/>
              </a:rPr>
              <a:t>that enable you to specify the maximum permissions that member accounts in the organization can have. In SCPs, you can restrict which AWS services, resources, and individual actions the users and roles in each member account can access. </a:t>
            </a:r>
            <a:r>
              <a:rPr lang="en-US" b="1" i="0" kern="1200" dirty="0">
                <a:solidFill>
                  <a:schemeClr val="tx1"/>
                </a:solidFill>
                <a:effectLst/>
                <a:latin typeface="+mn-lt"/>
                <a:ea typeface="+mn-ea"/>
                <a:cs typeface="+mn-cs"/>
              </a:rPr>
              <a:t>These restrictions even override the administrators of member accounts</a:t>
            </a:r>
            <a:r>
              <a:rPr lang="en-US" b="0" i="0" kern="1200" dirty="0">
                <a:solidFill>
                  <a:schemeClr val="tx1"/>
                </a:solidFill>
                <a:effectLst/>
                <a:latin typeface="+mn-lt"/>
                <a:ea typeface="+mn-ea"/>
                <a:cs typeface="+mn-cs"/>
              </a:rPr>
              <a:t>. When AWS Organizations blocks access to a service, resource, or API action, a user or role in that account can't access it, even if an administrator of a member account explicitly grants such permissions. </a:t>
            </a:r>
          </a:p>
          <a:p>
            <a:endParaRPr lang="en-US" b="0" i="0" kern="1200" dirty="0">
              <a:solidFill>
                <a:schemeClr val="tx1"/>
              </a:solidFill>
              <a:effectLst/>
              <a:latin typeface="+mn-lt"/>
              <a:ea typeface="+mn-ea"/>
              <a:cs typeface="+mn-cs"/>
            </a:endParaRPr>
          </a:p>
          <a:p>
            <a:endParaRPr lang="en-US" b="0" i="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8305621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0" i="0" kern="1200">
                <a:solidFill>
                  <a:schemeClr val="tx1"/>
                </a:solidFill>
                <a:effectLst/>
                <a:ea typeface="+mn-ea"/>
                <a:cs typeface="+mn-cs"/>
              </a:rPr>
              <a:t>Here</a:t>
            </a:r>
            <a:r>
              <a:rPr lang="en-US" b="0" i="0" kern="1200" baseline="0">
                <a:solidFill>
                  <a:schemeClr val="tx1"/>
                </a:solidFill>
                <a:effectLst/>
                <a:ea typeface="+mn-ea"/>
                <a:cs typeface="+mn-cs"/>
              </a:rPr>
              <a:t> is a </a:t>
            </a:r>
            <a:r>
              <a:rPr lang="en-US" b="0" i="0" kern="1200">
                <a:solidFill>
                  <a:schemeClr val="tx1"/>
                </a:solidFill>
                <a:effectLst/>
                <a:ea typeface="+mn-ea"/>
                <a:cs typeface="+mn-cs"/>
              </a:rPr>
              <a:t>closer look at the </a:t>
            </a:r>
            <a:r>
              <a:rPr lang="en-US" b="1" i="0" kern="1200">
                <a:solidFill>
                  <a:schemeClr val="tx1"/>
                </a:solidFill>
                <a:effectLst/>
                <a:ea typeface="+mn-ea"/>
                <a:cs typeface="+mn-cs"/>
              </a:rPr>
              <a:t>Service control policies (SCPs) </a:t>
            </a:r>
            <a:r>
              <a:rPr lang="en-US" b="0" i="0" kern="1200">
                <a:solidFill>
                  <a:schemeClr val="tx1"/>
                </a:solidFill>
                <a:effectLst/>
                <a:ea typeface="+mn-ea"/>
                <a:cs typeface="+mn-cs"/>
              </a:rPr>
              <a:t>feature of AWS Organizations. </a:t>
            </a:r>
          </a:p>
          <a:p>
            <a:endParaRPr lang="en-US" b="0" i="0" kern="1200">
              <a:solidFill>
                <a:schemeClr val="tx1"/>
              </a:solidFill>
              <a:effectLst/>
              <a:ea typeface="+mn-ea"/>
              <a:cs typeface="+mn-cs"/>
            </a:endParaRPr>
          </a:p>
          <a:p>
            <a:r>
              <a:rPr lang="en-US" b="0" i="0" kern="1200">
                <a:solidFill>
                  <a:schemeClr val="tx1"/>
                </a:solidFill>
                <a:effectLst/>
                <a:ea typeface="+mn-ea"/>
                <a:cs typeface="+mn-cs"/>
              </a:rPr>
              <a:t>SCPs offer central control over the </a:t>
            </a:r>
            <a:r>
              <a:rPr lang="en-US" b="1" i="0" kern="1200">
                <a:solidFill>
                  <a:schemeClr val="tx1"/>
                </a:solidFill>
                <a:effectLst/>
                <a:ea typeface="+mn-ea"/>
                <a:cs typeface="+mn-cs"/>
              </a:rPr>
              <a:t>maximum available permissions</a:t>
            </a:r>
            <a:r>
              <a:rPr lang="en-US" b="0" i="0" kern="1200">
                <a:solidFill>
                  <a:schemeClr val="tx1"/>
                </a:solidFill>
                <a:effectLst/>
                <a:ea typeface="+mn-ea"/>
                <a:cs typeface="+mn-cs"/>
              </a:rPr>
              <a:t> for all accounts in your organization, enabling you to ensure that your accounts stay in your organization’s access control guidelines. SCPs are available only in an organization that has </a:t>
            </a:r>
            <a:r>
              <a:rPr lang="en-US"/>
              <a:t> all features enabled, </a:t>
            </a:r>
            <a:r>
              <a:rPr lang="en-US" b="0" i="0" u="none" strike="noStrike" kern="1200">
                <a:solidFill>
                  <a:schemeClr val="tx1"/>
                </a:solidFill>
                <a:effectLst/>
                <a:ea typeface="+mn-ea"/>
                <a:cs typeface="+mn-cs"/>
              </a:rPr>
              <a:t>including consolidated billing</a:t>
            </a:r>
            <a:r>
              <a:rPr lang="en-US" b="0" i="0" kern="1200">
                <a:solidFill>
                  <a:schemeClr val="tx1"/>
                </a:solidFill>
                <a:effectLst/>
                <a:ea typeface="+mn-ea"/>
                <a:cs typeface="+mn-cs"/>
              </a:rPr>
              <a:t>. See more on enabling </a:t>
            </a:r>
            <a:r>
              <a:rPr lang="en-US"/>
              <a:t>features at </a:t>
            </a:r>
            <a:r>
              <a:rPr lang="en-US">
                <a:hlinkClick r:id="rId3"/>
              </a:rPr>
              <a:t>https://docs.aws.amazon.com/organizations/latest/userguide/orgs_manage_org_support-all-features.html</a:t>
            </a:r>
            <a:r>
              <a:rPr lang="en-US"/>
              <a:t>. SCPs </a:t>
            </a:r>
            <a:r>
              <a:rPr lang="en-US" b="0" i="0" kern="1200">
                <a:solidFill>
                  <a:schemeClr val="tx1"/>
                </a:solidFill>
                <a:effectLst/>
                <a:ea typeface="+mn-ea"/>
                <a:cs typeface="+mn-cs"/>
              </a:rPr>
              <a:t>aren't available if your organization has enabled </a:t>
            </a:r>
            <a:r>
              <a:rPr lang="en-US" b="0" i="1" kern="1200">
                <a:solidFill>
                  <a:schemeClr val="tx1"/>
                </a:solidFill>
                <a:effectLst/>
                <a:ea typeface="+mn-ea"/>
                <a:cs typeface="+mn-cs"/>
              </a:rPr>
              <a:t>only</a:t>
            </a:r>
            <a:r>
              <a:rPr lang="en-US" b="0" i="0" kern="1200">
                <a:solidFill>
                  <a:schemeClr val="tx1"/>
                </a:solidFill>
                <a:effectLst/>
                <a:ea typeface="+mn-ea"/>
                <a:cs typeface="+mn-cs"/>
              </a:rPr>
              <a:t> the consolidated billing features. For instructions about enabling SCPs, see </a:t>
            </a:r>
            <a:r>
              <a:rPr lang="en-US"/>
              <a:t> Enabling and Disabling a Policy Type on a Root at </a:t>
            </a:r>
            <a:r>
              <a:rPr lang="en-US">
                <a:hlinkClick r:id="rId4"/>
              </a:rPr>
              <a:t>https://docs.aws.amazon.com/organizations/latest/userguide/orgs_manage_policies.html#enable_policies_on_root</a:t>
            </a:r>
            <a:r>
              <a:rPr lang="en-US"/>
              <a:t>.</a:t>
            </a:r>
            <a:endParaRPr lang="en-US" b="0" i="0" kern="1200">
              <a:solidFill>
                <a:schemeClr val="tx1"/>
              </a:solidFill>
              <a:effectLst/>
              <a:ea typeface="+mn-ea"/>
              <a:cs typeface="+mn-cs"/>
            </a:endParaRPr>
          </a:p>
          <a:p>
            <a:endParaRPr lang="en-US" b="0" i="0" kern="1200">
              <a:solidFill>
                <a:schemeClr val="tx1"/>
              </a:solidFill>
              <a:effectLst/>
              <a:ea typeface="+mn-ea"/>
              <a:cs typeface="+mn-cs"/>
            </a:endParaRPr>
          </a:p>
          <a:p>
            <a:pPr>
              <a:defRPr/>
            </a:pPr>
            <a:r>
              <a:rPr lang="en-US" b="1" i="0" kern="1200">
                <a:solidFill>
                  <a:schemeClr val="tx1"/>
                </a:solidFill>
                <a:effectLst/>
                <a:ea typeface="+mn-ea"/>
                <a:cs typeface="+mn-cs"/>
              </a:rPr>
              <a:t>SCPs are similar to IAM permissions policies</a:t>
            </a:r>
            <a:r>
              <a:rPr lang="en-US" b="0" i="0" kern="1200">
                <a:solidFill>
                  <a:schemeClr val="tx1"/>
                </a:solidFill>
                <a:effectLst/>
                <a:ea typeface="+mn-ea"/>
                <a:cs typeface="+mn-cs"/>
              </a:rPr>
              <a:t> and they use almost the same syntax. However, an SCP never grants permissions. Instead, SCPs are JSON policies that specify the maximum permissions for an organization or OU. Attaching an SCP to the organization root or an organizational unit (OU) defines a safeguard for the actions that accounts in the organization root or OU can do. However, it is not a substitute for well-managed IAM configurations within eac</a:t>
            </a:r>
            <a:r>
              <a:rPr lang="en-US"/>
              <a:t>h account.</a:t>
            </a:r>
            <a:r>
              <a:rPr lang="en-US" baseline="0"/>
              <a:t> Y</a:t>
            </a:r>
            <a:r>
              <a:rPr lang="en-US" b="0" i="0" kern="1200">
                <a:solidFill>
                  <a:schemeClr val="tx1"/>
                </a:solidFill>
                <a:effectLst/>
                <a:ea typeface="+mn-ea"/>
                <a:cs typeface="+mn-cs"/>
              </a:rPr>
              <a:t>ou must still </a:t>
            </a:r>
            <a:r>
              <a:rPr lang="en-US"/>
              <a:t>attach IAM policies to </a:t>
            </a:r>
            <a:r>
              <a:rPr lang="en-US" b="0" i="0" kern="1200">
                <a:solidFill>
                  <a:schemeClr val="tx1"/>
                </a:solidFill>
                <a:effectLst/>
                <a:ea typeface="+mn-ea"/>
                <a:cs typeface="+mn-cs"/>
              </a:rPr>
              <a:t>users and roles in your organization's accounts to actually grant permissions to them. See more on IAM policies </a:t>
            </a:r>
            <a:r>
              <a:rPr lang="en-US"/>
              <a:t>at </a:t>
            </a:r>
            <a:r>
              <a:rPr lang="en-US">
                <a:hlinkClick r:id="rId5"/>
              </a:rPr>
              <a:t>https://docs.aws.amazon.com/IAM/latest/UserGuide/access_policies.html</a:t>
            </a:r>
            <a:r>
              <a:rPr lang="en-US"/>
              <a:t>.</a:t>
            </a:r>
            <a:endParaRPr lang="en-US" b="0" i="0" kern="1200">
              <a:solidFill>
                <a:schemeClr val="tx1"/>
              </a:solidFill>
              <a:effectLst/>
              <a:ea typeface="+mn-ea"/>
              <a:cs typeface="+mn-cs"/>
            </a:endParaRPr>
          </a:p>
          <a:p>
            <a:endParaRPr lang="en-US" b="0" i="0" kern="1200">
              <a:solidFill>
                <a:schemeClr val="tx1"/>
              </a:solidFill>
              <a:effectLst/>
              <a:ea typeface="+mn-ea"/>
              <a:cs typeface="+mn-cs"/>
            </a:endParaRPr>
          </a:p>
        </p:txBody>
      </p:sp>
    </p:spTree>
    <p:extLst>
      <p:ext uri="{BB962C8B-B14F-4D97-AF65-F5344CB8AC3E}">
        <p14:creationId xmlns:p14="http://schemas.microsoft.com/office/powerpoint/2010/main" val="4746570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1" i="0" kern="1200">
                <a:solidFill>
                  <a:schemeClr val="tx1"/>
                </a:solidFill>
                <a:effectLst/>
                <a:ea typeface="+mn-ea"/>
                <a:cs typeface="+mn-cs"/>
              </a:rPr>
              <a:t>AWS Key Management Service (AWS KMS) </a:t>
            </a:r>
            <a:r>
              <a:rPr lang="en-US" b="0" i="0" kern="1200">
                <a:solidFill>
                  <a:schemeClr val="tx1"/>
                </a:solidFill>
                <a:effectLst/>
                <a:ea typeface="+mn-ea"/>
                <a:cs typeface="+mn-cs"/>
              </a:rPr>
              <a:t>is a service that enables you to create and manage encryption keys, and to control the use of encryption across a wide range of AWS services and your applications. AWS KMS is a secure and resilient service that uses hardware security modules (HSMs) that were validated under </a:t>
            </a:r>
            <a:r>
              <a:rPr lang="en-US" b="1" i="0" kern="1200">
                <a:solidFill>
                  <a:schemeClr val="tx1"/>
                </a:solidFill>
                <a:effectLst/>
                <a:ea typeface="+mn-ea"/>
                <a:cs typeface="+mn-cs"/>
              </a:rPr>
              <a:t>Federal Information Processing</a:t>
            </a:r>
            <a:r>
              <a:rPr lang="en-US" b="1" i="0" kern="1200" baseline="0">
                <a:solidFill>
                  <a:schemeClr val="tx1"/>
                </a:solidFill>
                <a:effectLst/>
                <a:ea typeface="+mn-ea"/>
                <a:cs typeface="+mn-cs"/>
              </a:rPr>
              <a:t> Standards (F</a:t>
            </a:r>
            <a:r>
              <a:rPr lang="en-US" b="1" i="0" kern="1200">
                <a:solidFill>
                  <a:schemeClr val="tx1"/>
                </a:solidFill>
                <a:effectLst/>
                <a:ea typeface="+mn-ea"/>
                <a:cs typeface="+mn-cs"/>
              </a:rPr>
              <a:t>IPS) 140-2</a:t>
            </a:r>
            <a:r>
              <a:rPr lang="en-US" b="0" i="0" kern="1200">
                <a:solidFill>
                  <a:schemeClr val="tx1"/>
                </a:solidFill>
                <a:effectLst/>
                <a:ea typeface="+mn-ea"/>
                <a:cs typeface="+mn-cs"/>
              </a:rPr>
              <a:t> (or are in the process of being validated) to protect your keys. AWS KMS also integrates with AWS CloudTrail to provide you with logs of all key usage to help meet your regulatory and compliance needs.</a:t>
            </a:r>
          </a:p>
          <a:p>
            <a:endParaRPr lang="en-US" b="0" i="0" kern="1200">
              <a:solidFill>
                <a:schemeClr val="tx1"/>
              </a:solidFill>
              <a:effectLst/>
              <a:ea typeface="+mn-ea"/>
              <a:cs typeface="+mn-cs"/>
            </a:endParaRPr>
          </a:p>
          <a:p>
            <a:r>
              <a:rPr lang="en-US" b="1" i="0" kern="1200">
                <a:solidFill>
                  <a:schemeClr val="tx1"/>
                </a:solidFill>
                <a:effectLst/>
                <a:ea typeface="+mn-ea"/>
                <a:cs typeface="+mn-cs"/>
              </a:rPr>
              <a:t>Customer master keys (CMKs) </a:t>
            </a:r>
            <a:r>
              <a:rPr lang="en-US" b="0" i="0" kern="1200">
                <a:solidFill>
                  <a:schemeClr val="tx1"/>
                </a:solidFill>
                <a:effectLst/>
                <a:ea typeface="+mn-ea"/>
                <a:cs typeface="+mn-cs"/>
              </a:rPr>
              <a:t>are used to control access to data encryption keys that encrypt and decrypt your data. You can create new keys when you want, and you can manage who has access to the</a:t>
            </a:r>
            <a:r>
              <a:rPr lang="en-US" b="0" i="0" kern="1200" baseline="0">
                <a:solidFill>
                  <a:schemeClr val="tx1"/>
                </a:solidFill>
                <a:effectLst/>
                <a:ea typeface="+mn-ea"/>
                <a:cs typeface="+mn-cs"/>
              </a:rPr>
              <a:t>se keys</a:t>
            </a:r>
            <a:r>
              <a:rPr lang="en-US" b="0" i="0" kern="1200">
                <a:solidFill>
                  <a:schemeClr val="tx1"/>
                </a:solidFill>
                <a:effectLst/>
                <a:ea typeface="+mn-ea"/>
                <a:cs typeface="+mn-cs"/>
              </a:rPr>
              <a:t> and who can use them. You can also import keys from your own key management infrastructure into AWS KMS. </a:t>
            </a:r>
          </a:p>
          <a:p>
            <a:endParaRPr lang="en-US" b="0" i="0" kern="1200">
              <a:solidFill>
                <a:schemeClr val="tx1"/>
              </a:solidFill>
              <a:effectLst/>
              <a:ea typeface="+mn-ea"/>
              <a:cs typeface="+mn-cs"/>
            </a:endParaRPr>
          </a:p>
          <a:p>
            <a:r>
              <a:rPr lang="en-US" b="0" i="0" kern="1200">
                <a:solidFill>
                  <a:schemeClr val="tx1"/>
                </a:solidFill>
                <a:effectLst/>
                <a:ea typeface="+mn-ea"/>
                <a:cs typeface="+mn-cs"/>
              </a:rPr>
              <a:t>AWS KMS integrates with most AWS services,</a:t>
            </a:r>
            <a:r>
              <a:rPr lang="en-US" b="0" i="0" kern="1200" baseline="0">
                <a:solidFill>
                  <a:schemeClr val="tx1"/>
                </a:solidFill>
                <a:effectLst/>
                <a:ea typeface="+mn-ea"/>
                <a:cs typeface="+mn-cs"/>
              </a:rPr>
              <a:t> which </a:t>
            </a:r>
            <a:r>
              <a:rPr lang="en-US" b="0" i="0" kern="1200">
                <a:solidFill>
                  <a:schemeClr val="tx1"/>
                </a:solidFill>
                <a:effectLst/>
                <a:ea typeface="+mn-ea"/>
                <a:cs typeface="+mn-cs"/>
              </a:rPr>
              <a:t>means that you can use AWS KMS CMKs to control the encryption of the data that you store in these services. To</a:t>
            </a:r>
            <a:r>
              <a:rPr lang="en-US" b="0" i="0" kern="1200" baseline="0">
                <a:solidFill>
                  <a:schemeClr val="tx1"/>
                </a:solidFill>
                <a:effectLst/>
                <a:ea typeface="+mn-ea"/>
                <a:cs typeface="+mn-cs"/>
              </a:rPr>
              <a:t> learn more, s</a:t>
            </a:r>
            <a:r>
              <a:rPr lang="en-US" b="0" i="0" kern="1200">
                <a:solidFill>
                  <a:schemeClr val="tx1"/>
                </a:solidFill>
                <a:effectLst/>
                <a:ea typeface="+mn-ea"/>
                <a:cs typeface="+mn-cs"/>
              </a:rPr>
              <a:t>ee</a:t>
            </a:r>
            <a:r>
              <a:rPr lang="en-US" b="0" i="0" kern="1200" baseline="0">
                <a:solidFill>
                  <a:schemeClr val="tx1"/>
                </a:solidFill>
                <a:effectLst/>
                <a:ea typeface="+mn-ea"/>
                <a:cs typeface="+mn-cs"/>
              </a:rPr>
              <a:t> </a:t>
            </a:r>
            <a:r>
              <a:rPr lang="en-US"/>
              <a:t>AWS Key Management Service features at </a:t>
            </a:r>
            <a:r>
              <a:rPr lang="en-US" u="sng">
                <a:hlinkClick r:id="rId3"/>
              </a:rPr>
              <a:t>https://aws.amazon.com/kms/features/</a:t>
            </a:r>
            <a:r>
              <a:rPr lang="en-US"/>
              <a:t>.</a:t>
            </a:r>
            <a:endParaRPr lang="en-US" kern="1200">
              <a:solidFill>
                <a:schemeClr val="tx1"/>
              </a:solidFill>
              <a:effectLst/>
              <a:latin typeface="+mn-lt"/>
              <a:ea typeface="+mn-ea"/>
              <a:cs typeface="+mn-cs"/>
            </a:endParaRPr>
          </a:p>
        </p:txBody>
      </p:sp>
    </p:spTree>
    <p:extLst>
      <p:ext uri="{BB962C8B-B14F-4D97-AF65-F5344CB8AC3E}">
        <p14:creationId xmlns:p14="http://schemas.microsoft.com/office/powerpoint/2010/main" val="7186339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7"/>
            <a:ext cx="6216650" cy="4580803"/>
          </a:xfrm>
          <a:prstGeom prst="rect">
            <a:avLst/>
          </a:prstGeom>
        </p:spPr>
        <p:txBody>
          <a:bodyPr/>
          <a:lstStyle/>
          <a:p>
            <a:r>
              <a:rPr lang="en-US" b="0" i="0" kern="1200">
                <a:solidFill>
                  <a:schemeClr val="tx1"/>
                </a:solidFill>
                <a:effectLst/>
                <a:latin typeface="+mn-lt"/>
                <a:ea typeface="+mn-ea"/>
                <a:cs typeface="+mn-cs"/>
              </a:rPr>
              <a:t>Amazon Cognito provides solutions to control access to AWS resources from your application. You can define roles and map users to different roles so your application can access only the resources that are authorized for each user.</a:t>
            </a:r>
          </a:p>
          <a:p>
            <a:endParaRPr lang="en-US" b="0" i="0" kern="1200">
              <a:solidFill>
                <a:schemeClr val="tx1"/>
              </a:solidFill>
              <a:effectLst/>
              <a:latin typeface="+mn-lt"/>
              <a:ea typeface="+mn-ea"/>
              <a:cs typeface="+mn-cs"/>
            </a:endParaRPr>
          </a:p>
          <a:p>
            <a:r>
              <a:rPr lang="en-US" b="0" i="0" kern="1200">
                <a:solidFill>
                  <a:schemeClr val="tx1"/>
                </a:solidFill>
                <a:effectLst/>
                <a:latin typeface="+mn-lt"/>
                <a:ea typeface="+mn-ea"/>
                <a:cs typeface="+mn-cs"/>
              </a:rPr>
              <a:t>Amazon Cognito uses common identity management standards, suc</a:t>
            </a:r>
            <a:r>
              <a:rPr lang="en-US"/>
              <a:t>h as </a:t>
            </a:r>
            <a:r>
              <a:rPr lang="en-US" b="1" i="0" kern="1200">
                <a:solidFill>
                  <a:schemeClr val="tx1"/>
                </a:solidFill>
                <a:effectLst/>
                <a:latin typeface="+mn-lt"/>
                <a:ea typeface="+mn-ea"/>
                <a:cs typeface="+mn-cs"/>
              </a:rPr>
              <a:t>Security Assertion Markup Language (SAML) 2.0</a:t>
            </a:r>
            <a:r>
              <a:rPr lang="en-US" b="0" i="0" kern="1200">
                <a:solidFill>
                  <a:schemeClr val="tx1"/>
                </a:solidFill>
                <a:effectLst/>
                <a:latin typeface="+mn-lt"/>
                <a:ea typeface="+mn-ea"/>
                <a:cs typeface="+mn-cs"/>
              </a:rPr>
              <a:t>. SAML</a:t>
            </a:r>
            <a:r>
              <a:rPr lang="en-US" b="1" i="0" kern="1200">
                <a:solidFill>
                  <a:schemeClr val="tx1"/>
                </a:solidFill>
                <a:effectLst/>
                <a:latin typeface="+mn-lt"/>
                <a:ea typeface="+mn-ea"/>
                <a:cs typeface="+mn-cs"/>
              </a:rPr>
              <a:t> </a:t>
            </a:r>
            <a:r>
              <a:rPr lang="en-US" b="0" i="0" kern="1200">
                <a:solidFill>
                  <a:schemeClr val="tx1"/>
                </a:solidFill>
                <a:effectLst/>
                <a:latin typeface="+mn-lt"/>
                <a:ea typeface="+mn-ea"/>
                <a:cs typeface="+mn-cs"/>
              </a:rPr>
              <a:t>is an open standard for exchanging identity and security information with applications and service providers. Applications and service providers that support SAML enable you to sign in by using your corporate directory credentials, such as your username and password from Microsoft Active Directory. With SAML, you can use single sign-on (SSO) to sign in to all of your SAML-enabled applications by using a single set of credentials.</a:t>
            </a:r>
          </a:p>
          <a:p>
            <a:endParaRPr lang="en-US" b="0" i="0" kern="1200">
              <a:solidFill>
                <a:schemeClr val="tx1"/>
              </a:solidFill>
              <a:effectLst/>
              <a:latin typeface="+mn-lt"/>
              <a:ea typeface="+mn-ea"/>
              <a:cs typeface="+mn-cs"/>
            </a:endParaRPr>
          </a:p>
          <a:p>
            <a:r>
              <a:rPr lang="en-US" b="0" i="0" kern="1200">
                <a:solidFill>
                  <a:schemeClr val="tx1"/>
                </a:solidFill>
                <a:effectLst/>
                <a:latin typeface="+mn-lt"/>
                <a:ea typeface="+mn-ea"/>
                <a:cs typeface="+mn-cs"/>
              </a:rPr>
              <a:t>Amazon Cognito helps you </a:t>
            </a:r>
            <a:r>
              <a:rPr lang="en-US" b="1" i="0" kern="1200">
                <a:solidFill>
                  <a:schemeClr val="tx1"/>
                </a:solidFill>
                <a:effectLst/>
                <a:latin typeface="+mn-lt"/>
                <a:ea typeface="+mn-ea"/>
                <a:cs typeface="+mn-cs"/>
              </a:rPr>
              <a:t>meet multiple security and compliance requirements</a:t>
            </a:r>
            <a:r>
              <a:rPr lang="en-US" b="0" i="0" kern="1200">
                <a:solidFill>
                  <a:schemeClr val="tx1"/>
                </a:solidFill>
                <a:effectLst/>
                <a:latin typeface="+mn-lt"/>
                <a:ea typeface="+mn-ea"/>
                <a:cs typeface="+mn-cs"/>
              </a:rPr>
              <a:t>, including requirements for highly regulated organizations such as healthcare companies and merchants. Amazon Cognito is eligible</a:t>
            </a:r>
            <a:r>
              <a:rPr lang="en-US" b="0" i="0" kern="1200" baseline="0">
                <a:solidFill>
                  <a:schemeClr val="tx1"/>
                </a:solidFill>
                <a:effectLst/>
                <a:latin typeface="+mn-lt"/>
                <a:ea typeface="+mn-ea"/>
                <a:cs typeface="+mn-cs"/>
              </a:rPr>
              <a:t> for use with the US Health Insurance Portability and Accountability Act (</a:t>
            </a:r>
            <a:r>
              <a:rPr lang="en-US"/>
              <a:t>HIPAA – see more on HIPAA at </a:t>
            </a:r>
            <a:r>
              <a:rPr lang="en-US">
                <a:hlinkClick r:id="rId3"/>
              </a:rPr>
              <a:t>https://aws.amazon.com/compliance/hipaa-compliance/</a:t>
            </a:r>
            <a:r>
              <a:rPr lang="en-US" b="0" i="0" kern="1200">
                <a:solidFill>
                  <a:schemeClr val="tx1"/>
                </a:solidFill>
                <a:effectLst/>
                <a:latin typeface="+mn-lt"/>
                <a:ea typeface="+mn-ea"/>
                <a:cs typeface="+mn-cs"/>
              </a:rPr>
              <a:t>).</a:t>
            </a:r>
            <a:r>
              <a:rPr lang="en-US" b="0" i="0" kern="1200" baseline="0">
                <a:solidFill>
                  <a:schemeClr val="tx1"/>
                </a:solidFill>
                <a:effectLst/>
                <a:latin typeface="+mn-lt"/>
                <a:ea typeface="+mn-ea"/>
                <a:cs typeface="+mn-cs"/>
              </a:rPr>
              <a:t> It can also be used for workloads that are </a:t>
            </a:r>
            <a:r>
              <a:rPr lang="en-US" b="0" i="0" kern="1200">
                <a:solidFill>
                  <a:schemeClr val="tx1"/>
                </a:solidFill>
                <a:effectLst/>
                <a:latin typeface="+mn-lt"/>
                <a:ea typeface="+mn-ea"/>
                <a:cs typeface="+mn-cs"/>
              </a:rPr>
              <a:t>compliant with the Payment Card Industry</a:t>
            </a:r>
            <a:r>
              <a:rPr lang="en-US" b="0" i="0" kern="1200" baseline="0">
                <a:solidFill>
                  <a:schemeClr val="tx1"/>
                </a:solidFill>
                <a:effectLst/>
                <a:latin typeface="+mn-lt"/>
                <a:ea typeface="+mn-ea"/>
                <a:cs typeface="+mn-cs"/>
              </a:rPr>
              <a:t> Data Security Standard</a:t>
            </a:r>
            <a:r>
              <a:rPr lang="en-US" b="0" i="0" kern="1200">
                <a:solidFill>
                  <a:schemeClr val="tx1"/>
                </a:solidFill>
                <a:effectLst/>
                <a:latin typeface="+mn-lt"/>
                <a:ea typeface="+mn-ea"/>
                <a:cs typeface="+mn-cs"/>
              </a:rPr>
              <a:t> (</a:t>
            </a:r>
            <a:r>
              <a:rPr lang="en-US"/>
              <a:t>PCI DSS – more on PCI DSS at </a:t>
            </a:r>
            <a:r>
              <a:rPr lang="en-US">
                <a:hlinkClick r:id="rId4"/>
              </a:rPr>
              <a:t>https://aws.amazon.com/compliance/pci-dss-level-1-faqs/</a:t>
            </a:r>
            <a:r>
              <a:rPr lang="en-US" b="0" i="0" kern="1200">
                <a:solidFill>
                  <a:schemeClr val="tx1"/>
                </a:solidFill>
                <a:effectLst/>
                <a:latin typeface="+mn-lt"/>
                <a:ea typeface="+mn-ea"/>
                <a:cs typeface="+mn-cs"/>
              </a:rPr>
              <a:t>); the</a:t>
            </a:r>
            <a:r>
              <a:rPr lang="en-US" b="0" i="0" kern="1200" baseline="0">
                <a:solidFill>
                  <a:schemeClr val="tx1"/>
                </a:solidFill>
                <a:effectLst/>
                <a:latin typeface="+mn-lt"/>
                <a:ea typeface="+mn-ea"/>
                <a:cs typeface="+mn-cs"/>
              </a:rPr>
              <a:t> American Institute of CPAs (AICPA) Service Organization Control (</a:t>
            </a:r>
            <a:r>
              <a:rPr lang="en-US"/>
              <a:t>SOC – more on SOC at </a:t>
            </a:r>
            <a:r>
              <a:rPr lang="en-US">
                <a:hlinkClick r:id="rId5"/>
              </a:rPr>
              <a:t>https://aws.amazon.com/compliance/soc-faqs/</a:t>
            </a:r>
            <a:r>
              <a:rPr lang="en-US" b="0" i="0" kern="1200">
                <a:solidFill>
                  <a:schemeClr val="tx1"/>
                </a:solidFill>
                <a:effectLst/>
                <a:latin typeface="+mn-lt"/>
                <a:ea typeface="+mn-ea"/>
                <a:cs typeface="+mn-cs"/>
              </a:rPr>
              <a:t>); the International</a:t>
            </a:r>
            <a:r>
              <a:rPr lang="en-US" b="0" i="0" kern="1200" baseline="0">
                <a:solidFill>
                  <a:schemeClr val="tx1"/>
                </a:solidFill>
                <a:effectLst/>
                <a:latin typeface="+mn-lt"/>
                <a:ea typeface="+mn-ea"/>
                <a:cs typeface="+mn-cs"/>
              </a:rPr>
              <a:t> Organization for Standardization (ISO) and International Electrotechnical Commission (IEC) standards. More on</a:t>
            </a:r>
            <a:r>
              <a:rPr lang="en-US" b="0" i="0" kern="1200">
                <a:solidFill>
                  <a:schemeClr val="tx1"/>
                </a:solidFill>
                <a:effectLst/>
                <a:latin typeface="+mn-lt"/>
                <a:ea typeface="+mn-ea"/>
                <a:cs typeface="+mn-cs"/>
              </a:rPr>
              <a:t> </a:t>
            </a:r>
            <a:r>
              <a:rPr lang="en-US"/>
              <a:t> ISO/IEC 27001 at </a:t>
            </a:r>
            <a:r>
              <a:rPr lang="en-US">
                <a:hlinkClick r:id="rId6"/>
              </a:rPr>
              <a:t>https://aws.amazon.com/compliance/iso-27001-faqs/</a:t>
            </a:r>
            <a:r>
              <a:rPr lang="en-US" b="0" i="0" kern="1200">
                <a:solidFill>
                  <a:schemeClr val="tx1"/>
                </a:solidFill>
                <a:effectLst/>
                <a:latin typeface="+mn-lt"/>
                <a:ea typeface="+mn-ea"/>
                <a:cs typeface="+mn-cs"/>
              </a:rPr>
              <a:t>, </a:t>
            </a:r>
            <a:r>
              <a:rPr lang="en-US"/>
              <a:t> ISO/IEC 27017 at </a:t>
            </a:r>
            <a:r>
              <a:rPr lang="en-US">
                <a:hlinkClick r:id="rId7"/>
              </a:rPr>
              <a:t>https://aws.amazon.com/compliance/iso-27017-faqs/</a:t>
            </a:r>
            <a:r>
              <a:rPr lang="en-US" b="0" i="0" kern="1200">
                <a:solidFill>
                  <a:schemeClr val="tx1"/>
                </a:solidFill>
                <a:effectLst/>
                <a:latin typeface="+mn-lt"/>
                <a:ea typeface="+mn-ea"/>
                <a:cs typeface="+mn-cs"/>
              </a:rPr>
              <a:t>, and </a:t>
            </a:r>
            <a:r>
              <a:rPr lang="en-US"/>
              <a:t> ISO/IEC 27018 at </a:t>
            </a:r>
            <a:r>
              <a:rPr lang="en-US">
                <a:hlinkClick r:id="rId8"/>
              </a:rPr>
              <a:t>https://aws.amazon.com/compliance/iso-27018-faqs/</a:t>
            </a:r>
            <a:r>
              <a:rPr lang="en-US"/>
              <a:t>;</a:t>
            </a:r>
            <a:r>
              <a:rPr lang="en-US" b="0" i="0" kern="1200">
                <a:solidFill>
                  <a:schemeClr val="tx1"/>
                </a:solidFill>
                <a:effectLst/>
                <a:latin typeface="+mn-lt"/>
                <a:ea typeface="+mn-ea"/>
                <a:cs typeface="+mn-cs"/>
              </a:rPr>
              <a:t> and </a:t>
            </a:r>
            <a:r>
              <a:rPr lang="en-US"/>
              <a:t> ISO 9001 at </a:t>
            </a:r>
            <a:r>
              <a:rPr lang="en-US">
                <a:hlinkClick r:id="rId9"/>
              </a:rPr>
              <a:t>https://aws.amazon.com/compliance/iso-9001-faqs/</a:t>
            </a:r>
            <a:r>
              <a:rPr lang="en-US" b="0" i="0" kern="1200">
                <a:solidFill>
                  <a:schemeClr val="tx1"/>
                </a:solidFill>
                <a:effectLst/>
                <a:latin typeface="+mn-lt"/>
                <a:ea typeface="+mn-ea"/>
                <a:cs typeface="+mn-cs"/>
              </a:rPr>
              <a:t>.</a:t>
            </a:r>
            <a:endParaRPr lang="en-US"/>
          </a:p>
        </p:txBody>
      </p:sp>
    </p:spTree>
    <p:extLst>
      <p:ext uri="{BB962C8B-B14F-4D97-AF65-F5344CB8AC3E}">
        <p14:creationId xmlns:p14="http://schemas.microsoft.com/office/powerpoint/2010/main" val="15766898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kern="1200">
                <a:solidFill>
                  <a:schemeClr val="tx1"/>
                </a:solidFill>
                <a:effectLst/>
                <a:ea typeface="+mn-ea"/>
                <a:cs typeface="+mn-cs"/>
              </a:rPr>
              <a:t>AWS Shield </a:t>
            </a:r>
            <a:r>
              <a:rPr lang="en-US" b="0" i="0" kern="1200">
                <a:solidFill>
                  <a:schemeClr val="tx1"/>
                </a:solidFill>
                <a:effectLst/>
                <a:ea typeface="+mn-ea"/>
                <a:cs typeface="+mn-cs"/>
              </a:rPr>
              <a:t>is a managed distributed denial of service (DDoS) protection service that safeguards applications that run on AWS. It provides always-on detection and automatic inline mitigations that minimize application downtime and latency, so there is no need to engage AWS Support to benefit from DDoS protection. </a:t>
            </a:r>
          </a:p>
          <a:p>
            <a:endParaRPr lang="en-US" b="0" i="0" kern="1200">
              <a:solidFill>
                <a:schemeClr val="tx1"/>
              </a:solidFill>
              <a:effectLst/>
              <a:ea typeface="+mn-ea"/>
              <a:cs typeface="+mn-cs"/>
            </a:endParaRPr>
          </a:p>
          <a:p>
            <a:pPr>
              <a:defRPr/>
            </a:pPr>
            <a:r>
              <a:rPr lang="en-US" b="0" i="0" kern="1200">
                <a:solidFill>
                  <a:schemeClr val="tx1"/>
                </a:solidFill>
                <a:effectLst/>
                <a:ea typeface="+mn-ea"/>
                <a:cs typeface="+mn-cs"/>
              </a:rPr>
              <a:t>AWS Shield helps protects your website from all types of DDoS attacks, including Infrastructure layer attacks (like User</a:t>
            </a:r>
            <a:r>
              <a:rPr lang="en-US" b="0" i="0" kern="1200" baseline="0">
                <a:solidFill>
                  <a:schemeClr val="tx1"/>
                </a:solidFill>
                <a:effectLst/>
                <a:ea typeface="+mn-ea"/>
                <a:cs typeface="+mn-cs"/>
              </a:rPr>
              <a:t> Datagram Protocol—or </a:t>
            </a:r>
            <a:r>
              <a:rPr lang="en-US" b="0" i="0" kern="1200">
                <a:solidFill>
                  <a:schemeClr val="tx1"/>
                </a:solidFill>
                <a:effectLst/>
                <a:ea typeface="+mn-ea"/>
                <a:cs typeface="+mn-cs"/>
              </a:rPr>
              <a:t>UDP—floods), state exhaustion attacks (like TCP SYN floods), and application-layer attacks (like HTTP GET or POST floods). For examples,</a:t>
            </a:r>
            <a:r>
              <a:rPr lang="en-US" b="0" i="0" kern="1200" baseline="0">
                <a:solidFill>
                  <a:schemeClr val="tx1"/>
                </a:solidFill>
                <a:effectLst/>
                <a:ea typeface="+mn-ea"/>
                <a:cs typeface="+mn-cs"/>
              </a:rPr>
              <a:t> see the </a:t>
            </a:r>
            <a:r>
              <a:rPr lang="en-US">
                <a:ea typeface="Amazon Ember Light" panose="020B0403020204020204" pitchFamily="34" charset="0"/>
                <a:cs typeface="Amazon Ember Light" panose="020B0403020204020204" pitchFamily="34" charset="0"/>
              </a:rPr>
              <a:t>AWS WAF Developer Guide at </a:t>
            </a:r>
            <a:r>
              <a:rPr lang="en-US">
                <a:ea typeface="Amazon Ember Light" panose="020B0403020204020204" pitchFamily="34" charset="0"/>
                <a:cs typeface="Amazon Ember Light" panose="020B0403020204020204" pitchFamily="34" charset="0"/>
                <a:hlinkClick r:id="rId3"/>
              </a:rPr>
              <a:t>https://docs.aws.amazon.com/waf/latest/developerguide/waf-chapter.html</a:t>
            </a:r>
            <a:r>
              <a:rPr lang="en-US">
                <a:ea typeface="Amazon Ember Light" panose="020B0403020204020204" pitchFamily="34" charset="0"/>
                <a:cs typeface="Amazon Ember Light" panose="020B0403020204020204" pitchFamily="34" charset="0"/>
              </a:rPr>
              <a:t>.</a:t>
            </a:r>
            <a:endParaRPr lang="en-US" b="0" i="0" u="none" strike="noStrike" kern="1200">
              <a:solidFill>
                <a:schemeClr val="tx1"/>
              </a:solidFill>
              <a:effectLst/>
              <a:ea typeface="+mn-ea"/>
              <a:cs typeface="+mn-cs"/>
            </a:endParaRPr>
          </a:p>
          <a:p>
            <a:endParaRPr lang="en-US" b="0" i="0" kern="1200">
              <a:solidFill>
                <a:schemeClr val="tx1"/>
              </a:solidFill>
              <a:effectLst/>
              <a:ea typeface="+mn-ea"/>
              <a:cs typeface="+mn-cs"/>
            </a:endParaRPr>
          </a:p>
          <a:p>
            <a:r>
              <a:rPr lang="en-US" b="1" i="0" kern="1200">
                <a:solidFill>
                  <a:schemeClr val="tx1"/>
                </a:solidFill>
                <a:effectLst/>
                <a:ea typeface="+mn-ea"/>
                <a:cs typeface="+mn-cs"/>
              </a:rPr>
              <a:t>AWS Shield Standard </a:t>
            </a:r>
            <a:r>
              <a:rPr lang="en-US" b="0" i="0" kern="1200">
                <a:solidFill>
                  <a:schemeClr val="tx1"/>
                </a:solidFill>
                <a:effectLst/>
                <a:ea typeface="+mn-ea"/>
                <a:cs typeface="+mn-cs"/>
              </a:rPr>
              <a:t>is automatically enabled to all AWS customers at no additional cost.</a:t>
            </a:r>
            <a:br>
              <a:rPr lang="en-US" b="0" i="0" kern="1200">
                <a:solidFill>
                  <a:schemeClr val="tx1"/>
                </a:solidFill>
                <a:effectLst/>
                <a:ea typeface="+mn-ea"/>
                <a:cs typeface="+mn-cs"/>
              </a:rPr>
            </a:br>
            <a:endParaRPr lang="en-US" b="0" i="0" kern="1200">
              <a:solidFill>
                <a:schemeClr val="tx1"/>
              </a:solidFill>
              <a:effectLst/>
              <a:ea typeface="+mn-ea"/>
              <a:cs typeface="+mn-cs"/>
            </a:endParaRPr>
          </a:p>
          <a:p>
            <a:r>
              <a:rPr lang="en-US" b="1" i="0" kern="1200">
                <a:solidFill>
                  <a:schemeClr val="tx1"/>
                </a:solidFill>
                <a:effectLst/>
                <a:ea typeface="+mn-ea"/>
                <a:cs typeface="+mn-cs"/>
              </a:rPr>
              <a:t>AWS Shield Advanced </a:t>
            </a:r>
            <a:r>
              <a:rPr lang="en-US" b="0" i="0" kern="1200">
                <a:solidFill>
                  <a:schemeClr val="tx1"/>
                </a:solidFill>
                <a:effectLst/>
                <a:ea typeface="+mn-ea"/>
                <a:cs typeface="+mn-cs"/>
              </a:rPr>
              <a:t>is an optional paid service. AWS Shield Advanced provides additional protections against more sophisticated and larger attacks for your applications that run on Amazon EC2, Elastic Load Balancing, Amazon CloudFront, AWS Global Accelerator, and Amazon Route 53. AWS Shield Advanced is available to all customers. However, to contact the DDoS Response Team, customers need to</a:t>
            </a:r>
            <a:r>
              <a:rPr lang="en-US" b="0" i="0" kern="1200" baseline="0">
                <a:solidFill>
                  <a:schemeClr val="tx1"/>
                </a:solidFill>
                <a:effectLst/>
                <a:ea typeface="+mn-ea"/>
                <a:cs typeface="+mn-cs"/>
              </a:rPr>
              <a:t> have either </a:t>
            </a:r>
            <a:r>
              <a:rPr lang="en-US" b="0" i="0" kern="1200">
                <a:solidFill>
                  <a:schemeClr val="tx1"/>
                </a:solidFill>
                <a:effectLst/>
                <a:ea typeface="+mn-ea"/>
                <a:cs typeface="+mn-cs"/>
              </a:rPr>
              <a:t>Enterprise Support or Business Support from AWS Support.</a:t>
            </a:r>
            <a:endParaRPr lang="en-US"/>
          </a:p>
        </p:txBody>
      </p:sp>
    </p:spTree>
    <p:extLst>
      <p:ext uri="{BB962C8B-B14F-4D97-AF65-F5344CB8AC3E}">
        <p14:creationId xmlns:p14="http://schemas.microsoft.com/office/powerpoint/2010/main" val="174828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Introducing Section 5: Securing data on AWS</a:t>
            </a:r>
          </a:p>
        </p:txBody>
      </p:sp>
    </p:spTree>
    <p:extLst>
      <p:ext uri="{BB962C8B-B14F-4D97-AF65-F5344CB8AC3E}">
        <p14:creationId xmlns:p14="http://schemas.microsoft.com/office/powerpoint/2010/main" val="5571645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1" i="0" kern="1200">
                <a:solidFill>
                  <a:schemeClr val="tx1"/>
                </a:solidFill>
                <a:effectLst/>
                <a:ea typeface="+mn-ea"/>
                <a:cs typeface="+mn-cs"/>
              </a:rPr>
              <a:t>Data encryption </a:t>
            </a:r>
            <a:r>
              <a:rPr lang="en-US" b="0" i="0" kern="1200">
                <a:solidFill>
                  <a:schemeClr val="tx1"/>
                </a:solidFill>
                <a:effectLst/>
                <a:ea typeface="+mn-ea"/>
                <a:cs typeface="+mn-cs"/>
              </a:rPr>
              <a:t>is an essential tool to use</a:t>
            </a:r>
            <a:r>
              <a:rPr lang="en-US" b="0" i="0" kern="1200" baseline="0">
                <a:solidFill>
                  <a:schemeClr val="tx1"/>
                </a:solidFill>
                <a:effectLst/>
                <a:ea typeface="+mn-ea"/>
                <a:cs typeface="+mn-cs"/>
              </a:rPr>
              <a:t> </a:t>
            </a:r>
            <a:r>
              <a:rPr lang="en-US" b="0" i="0" kern="1200">
                <a:solidFill>
                  <a:schemeClr val="tx1"/>
                </a:solidFill>
                <a:effectLst/>
                <a:ea typeface="+mn-ea"/>
                <a:cs typeface="+mn-cs"/>
              </a:rPr>
              <a:t>when your objective is to protect digital data. Data encryption takes data that is legible and encodes it so that it is unreadable to anyone who does not have access to the secret key that can be used to decode it. Thus, even if an attacker gains access to your data, they cannot make sense of it.  </a:t>
            </a:r>
          </a:p>
          <a:p>
            <a:endParaRPr lang="en-US" b="0" i="0" kern="1200">
              <a:solidFill>
                <a:schemeClr val="tx1"/>
              </a:solidFill>
              <a:effectLst/>
              <a:ea typeface="+mn-ea"/>
              <a:cs typeface="+mn-cs"/>
            </a:endParaRPr>
          </a:p>
          <a:p>
            <a:r>
              <a:rPr lang="en-US" b="1" i="0" kern="1200">
                <a:solidFill>
                  <a:schemeClr val="tx1"/>
                </a:solidFill>
                <a:effectLst/>
                <a:ea typeface="+mn-ea"/>
                <a:cs typeface="+mn-cs"/>
              </a:rPr>
              <a:t>Data at rest </a:t>
            </a:r>
            <a:r>
              <a:rPr lang="en-US" b="0" i="0" kern="1200">
                <a:solidFill>
                  <a:schemeClr val="tx1"/>
                </a:solidFill>
                <a:effectLst/>
                <a:ea typeface="+mn-ea"/>
                <a:cs typeface="+mn-cs"/>
              </a:rPr>
              <a:t>refers to data that is physically stored on disk or on tape. </a:t>
            </a:r>
          </a:p>
          <a:p>
            <a:endParaRPr lang="en-US" b="0" i="0" kern="1200">
              <a:solidFill>
                <a:schemeClr val="tx1"/>
              </a:solidFill>
              <a:effectLst/>
              <a:ea typeface="+mn-ea"/>
              <a:cs typeface="+mn-cs"/>
            </a:endParaRPr>
          </a:p>
          <a:p>
            <a:r>
              <a:rPr lang="en-US" b="0" i="0" kern="1200">
                <a:solidFill>
                  <a:schemeClr val="tx1"/>
                </a:solidFill>
                <a:effectLst/>
                <a:ea typeface="+mn-ea"/>
                <a:cs typeface="+mn-cs"/>
              </a:rPr>
              <a:t>You can create encrypted file systems on AWS so that all your data and metadata is encrypted at rest by using the open standard Advanced</a:t>
            </a:r>
            <a:r>
              <a:rPr lang="en-US" b="0" i="0" kern="1200" baseline="0">
                <a:solidFill>
                  <a:schemeClr val="tx1"/>
                </a:solidFill>
                <a:effectLst/>
                <a:ea typeface="+mn-ea"/>
                <a:cs typeface="+mn-cs"/>
              </a:rPr>
              <a:t> Encryption Standard (</a:t>
            </a:r>
            <a:r>
              <a:rPr lang="en-US" b="0" i="0" kern="1200">
                <a:solidFill>
                  <a:schemeClr val="tx1"/>
                </a:solidFill>
                <a:effectLst/>
                <a:ea typeface="+mn-ea"/>
                <a:cs typeface="+mn-cs"/>
              </a:rPr>
              <a:t>AES)-256 encryption algorithm. When you use AWS KMS, encryption and decryption are</a:t>
            </a:r>
            <a:r>
              <a:rPr lang="en-US" b="0" i="0" kern="1200" baseline="0">
                <a:solidFill>
                  <a:schemeClr val="tx1"/>
                </a:solidFill>
                <a:effectLst/>
                <a:ea typeface="+mn-ea"/>
                <a:cs typeface="+mn-cs"/>
              </a:rPr>
              <a:t> </a:t>
            </a:r>
            <a:r>
              <a:rPr lang="en-US" b="0" i="0" kern="1200">
                <a:solidFill>
                  <a:schemeClr val="tx1"/>
                </a:solidFill>
                <a:effectLst/>
                <a:ea typeface="+mn-ea"/>
                <a:cs typeface="+mn-cs"/>
              </a:rPr>
              <a:t>handled automatically and transparently, so that</a:t>
            </a:r>
            <a:r>
              <a:rPr lang="en-US" b="0" i="0" kern="1200" baseline="0">
                <a:solidFill>
                  <a:schemeClr val="tx1"/>
                </a:solidFill>
                <a:effectLst/>
                <a:ea typeface="+mn-ea"/>
                <a:cs typeface="+mn-cs"/>
              </a:rPr>
              <a:t> </a:t>
            </a:r>
            <a:r>
              <a:rPr lang="en-US" b="0" i="0" kern="1200">
                <a:solidFill>
                  <a:schemeClr val="tx1"/>
                </a:solidFill>
                <a:effectLst/>
                <a:ea typeface="+mn-ea"/>
                <a:cs typeface="+mn-cs"/>
              </a:rPr>
              <a:t>you do not need to modify your applications. If your organization is subject to corporate or regulatory policies that require encryption of data and metadata at rest, AWS recommends  enabling encryption on all services that store your data. You can e</a:t>
            </a:r>
            <a:r>
              <a:rPr lang="en-US"/>
              <a:t>ncrypt data stored in any service that is supported by AWS KMS. See How AWS Services use AWS KMS for a list of supported services at </a:t>
            </a:r>
            <a:r>
              <a:rPr lang="en-US">
                <a:hlinkClick r:id="rId3"/>
              </a:rPr>
              <a:t>https://docs.aws.amazon.com/kms/latest/developerguide/service-integration.html</a:t>
            </a:r>
            <a:r>
              <a:rPr lang="en-US"/>
              <a:t>.</a:t>
            </a:r>
          </a:p>
        </p:txBody>
      </p:sp>
    </p:spTree>
    <p:extLst>
      <p:ext uri="{BB962C8B-B14F-4D97-AF65-F5344CB8AC3E}">
        <p14:creationId xmlns:p14="http://schemas.microsoft.com/office/powerpoint/2010/main" val="20707546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1" i="0" kern="1200" dirty="0">
                <a:solidFill>
                  <a:schemeClr val="tx1"/>
                </a:solidFill>
                <a:effectLst/>
                <a:ea typeface="+mn-ea"/>
                <a:cs typeface="+mn-cs"/>
              </a:rPr>
              <a:t>Data in transit </a:t>
            </a:r>
            <a:r>
              <a:rPr lang="en-US" b="0" i="0" kern="1200" dirty="0">
                <a:solidFill>
                  <a:schemeClr val="tx1"/>
                </a:solidFill>
                <a:effectLst/>
                <a:ea typeface="+mn-ea"/>
                <a:cs typeface="+mn-cs"/>
              </a:rPr>
              <a:t>refers to data that is moving across the network. Encryption of data in transit is accomplished by using Transport Layer Security (TLS) 1.2 with an open</a:t>
            </a:r>
            <a:r>
              <a:rPr lang="en-US" b="0" i="0" kern="1200" baseline="0" dirty="0">
                <a:solidFill>
                  <a:schemeClr val="tx1"/>
                </a:solidFill>
                <a:effectLst/>
                <a:ea typeface="+mn-ea"/>
                <a:cs typeface="+mn-cs"/>
              </a:rPr>
              <a:t> standard</a:t>
            </a:r>
            <a:r>
              <a:rPr lang="en-US" b="0" i="0" kern="1200" dirty="0">
                <a:solidFill>
                  <a:schemeClr val="tx1"/>
                </a:solidFill>
                <a:effectLst/>
                <a:ea typeface="+mn-ea"/>
                <a:cs typeface="+mn-cs"/>
              </a:rPr>
              <a:t> AES-256 cipher. TLS</a:t>
            </a:r>
            <a:r>
              <a:rPr lang="en-US" b="0" i="0" kern="1200" baseline="0" dirty="0">
                <a:solidFill>
                  <a:schemeClr val="tx1"/>
                </a:solidFill>
                <a:effectLst/>
                <a:ea typeface="+mn-ea"/>
                <a:cs typeface="+mn-cs"/>
              </a:rPr>
              <a:t> was </a:t>
            </a:r>
            <a:r>
              <a:rPr lang="en-US" b="0" i="0" kern="1200" dirty="0">
                <a:solidFill>
                  <a:schemeClr val="tx1"/>
                </a:solidFill>
                <a:effectLst/>
                <a:ea typeface="+mn-ea"/>
                <a:cs typeface="+mn-cs"/>
              </a:rPr>
              <a:t>formerly called Secure Sockets Layer</a:t>
            </a:r>
            <a:r>
              <a:rPr lang="en-US" b="0" i="0" kern="1200" baseline="0" dirty="0">
                <a:solidFill>
                  <a:schemeClr val="tx1"/>
                </a:solidFill>
                <a:effectLst/>
                <a:ea typeface="+mn-ea"/>
                <a:cs typeface="+mn-cs"/>
              </a:rPr>
              <a:t> (</a:t>
            </a:r>
            <a:r>
              <a:rPr lang="en-US" b="0" i="0" kern="1200" dirty="0">
                <a:solidFill>
                  <a:schemeClr val="tx1"/>
                </a:solidFill>
                <a:effectLst/>
                <a:ea typeface="+mn-ea"/>
                <a:cs typeface="+mn-cs"/>
              </a:rPr>
              <a:t>SSL).</a:t>
            </a:r>
          </a:p>
          <a:p>
            <a:endParaRPr lang="en-US" b="0" i="0" kern="1200" dirty="0">
              <a:solidFill>
                <a:schemeClr val="tx1"/>
              </a:solidFill>
              <a:effectLst/>
              <a:ea typeface="+mn-ea"/>
              <a:cs typeface="+mn-cs"/>
            </a:endParaRPr>
          </a:p>
          <a:p>
            <a:r>
              <a:rPr lang="en-US" b="1" i="0" kern="1200" dirty="0">
                <a:solidFill>
                  <a:schemeClr val="tx1"/>
                </a:solidFill>
                <a:effectLst/>
                <a:ea typeface="+mn-ea"/>
                <a:cs typeface="+mn-cs"/>
              </a:rPr>
              <a:t>AWS Certificate Manager</a:t>
            </a:r>
            <a:r>
              <a:rPr lang="en-US" b="0" i="0" kern="1200" dirty="0">
                <a:solidFill>
                  <a:schemeClr val="tx1"/>
                </a:solidFill>
                <a:effectLst/>
                <a:ea typeface="+mn-ea"/>
                <a:cs typeface="+mn-cs"/>
              </a:rPr>
              <a:t> is a service that enables you to provision, manage, and deploy SSL</a:t>
            </a:r>
            <a:r>
              <a:rPr lang="en-US" b="0" i="0" kern="1200" baseline="0" dirty="0">
                <a:solidFill>
                  <a:schemeClr val="tx1"/>
                </a:solidFill>
                <a:effectLst/>
                <a:ea typeface="+mn-ea"/>
                <a:cs typeface="+mn-cs"/>
              </a:rPr>
              <a:t> or </a:t>
            </a:r>
            <a:r>
              <a:rPr lang="en-US" b="0" i="0" kern="1200" dirty="0">
                <a:solidFill>
                  <a:schemeClr val="tx1"/>
                </a:solidFill>
                <a:effectLst/>
                <a:ea typeface="+mn-ea"/>
                <a:cs typeface="+mn-cs"/>
              </a:rPr>
              <a:t>TLS certificates for use with AWS services and your internal connected resources. SSL</a:t>
            </a:r>
            <a:r>
              <a:rPr lang="en-US" b="0" i="0" kern="1200" baseline="0" dirty="0">
                <a:solidFill>
                  <a:schemeClr val="tx1"/>
                </a:solidFill>
                <a:effectLst/>
                <a:ea typeface="+mn-ea"/>
                <a:cs typeface="+mn-cs"/>
              </a:rPr>
              <a:t> or </a:t>
            </a:r>
            <a:r>
              <a:rPr lang="en-US" b="0" i="0" kern="1200" dirty="0">
                <a:solidFill>
                  <a:schemeClr val="tx1"/>
                </a:solidFill>
                <a:effectLst/>
                <a:ea typeface="+mn-ea"/>
                <a:cs typeface="+mn-cs"/>
              </a:rPr>
              <a:t>TLS certificates are used to secure network communications and establish the identity of websites over the internet, and also</a:t>
            </a:r>
            <a:r>
              <a:rPr lang="en-US" b="0" i="0" kern="1200" baseline="0" dirty="0">
                <a:solidFill>
                  <a:schemeClr val="tx1"/>
                </a:solidFill>
                <a:effectLst/>
                <a:ea typeface="+mn-ea"/>
                <a:cs typeface="+mn-cs"/>
              </a:rPr>
              <a:t> </a:t>
            </a:r>
            <a:r>
              <a:rPr lang="en-US" b="0" i="0" kern="1200" dirty="0">
                <a:solidFill>
                  <a:schemeClr val="tx1"/>
                </a:solidFill>
                <a:effectLst/>
                <a:ea typeface="+mn-ea"/>
                <a:cs typeface="+mn-cs"/>
              </a:rPr>
              <a:t>resources on private networks. With AWS Certificate Manager, you can request a certificate</a:t>
            </a:r>
            <a:r>
              <a:rPr lang="en-US" b="0" i="0" kern="1200" baseline="0" dirty="0">
                <a:solidFill>
                  <a:schemeClr val="tx1"/>
                </a:solidFill>
                <a:effectLst/>
                <a:ea typeface="+mn-ea"/>
                <a:cs typeface="+mn-cs"/>
              </a:rPr>
              <a:t> and then </a:t>
            </a:r>
            <a:r>
              <a:rPr lang="en-US" b="0" i="0" kern="1200" dirty="0">
                <a:solidFill>
                  <a:schemeClr val="tx1"/>
                </a:solidFill>
                <a:effectLst/>
                <a:ea typeface="+mn-ea"/>
                <a:cs typeface="+mn-cs"/>
              </a:rPr>
              <a:t>deploy it on AWS resources</a:t>
            </a:r>
            <a:r>
              <a:rPr lang="en-US" b="0" i="0" kern="1200" baseline="0" dirty="0">
                <a:solidFill>
                  <a:schemeClr val="tx1"/>
                </a:solidFill>
                <a:effectLst/>
                <a:ea typeface="+mn-ea"/>
                <a:cs typeface="+mn-cs"/>
              </a:rPr>
              <a:t> (</a:t>
            </a:r>
            <a:r>
              <a:rPr lang="en-US" b="0" i="0" kern="1200" dirty="0">
                <a:solidFill>
                  <a:schemeClr val="tx1"/>
                </a:solidFill>
                <a:effectLst/>
                <a:ea typeface="+mn-ea"/>
                <a:cs typeface="+mn-cs"/>
              </a:rPr>
              <a:t>such as load balancers or</a:t>
            </a:r>
            <a:r>
              <a:rPr lang="en-US" b="0" i="0" kern="1200" baseline="0" dirty="0">
                <a:solidFill>
                  <a:schemeClr val="tx1"/>
                </a:solidFill>
                <a:effectLst/>
                <a:ea typeface="+mn-ea"/>
                <a:cs typeface="+mn-cs"/>
              </a:rPr>
              <a:t> </a:t>
            </a:r>
            <a:r>
              <a:rPr lang="en-US" b="0" i="0" kern="1200" dirty="0">
                <a:solidFill>
                  <a:schemeClr val="tx1"/>
                </a:solidFill>
                <a:effectLst/>
                <a:ea typeface="+mn-ea"/>
                <a:cs typeface="+mn-cs"/>
              </a:rPr>
              <a:t>CloudFront distributions).  AWS Certificate Manager also handles certificate renewals.</a:t>
            </a:r>
          </a:p>
          <a:p>
            <a:endParaRPr lang="en-US" b="0" i="0" kern="1200" dirty="0">
              <a:solidFill>
                <a:schemeClr val="tx1"/>
              </a:solidFill>
              <a:effectLst/>
              <a:ea typeface="+mn-ea"/>
              <a:cs typeface="+mn-cs"/>
            </a:endParaRPr>
          </a:p>
          <a:p>
            <a:r>
              <a:rPr lang="en-US" b="0" i="0" kern="1200" dirty="0">
                <a:solidFill>
                  <a:schemeClr val="tx1"/>
                </a:solidFill>
                <a:effectLst/>
                <a:ea typeface="+mn-ea"/>
                <a:cs typeface="+mn-cs"/>
              </a:rPr>
              <a:t>Web traffic that runs over HTTP is not secure.</a:t>
            </a:r>
            <a:r>
              <a:rPr lang="en-US" b="0" i="0" kern="1200" baseline="0" dirty="0">
                <a:solidFill>
                  <a:schemeClr val="tx1"/>
                </a:solidFill>
                <a:effectLst/>
                <a:ea typeface="+mn-ea"/>
                <a:cs typeface="+mn-cs"/>
              </a:rPr>
              <a:t> H</a:t>
            </a:r>
            <a:r>
              <a:rPr lang="en-US" b="0" i="0" kern="1200" dirty="0">
                <a:solidFill>
                  <a:schemeClr val="tx1"/>
                </a:solidFill>
                <a:effectLst/>
                <a:ea typeface="+mn-ea"/>
                <a:cs typeface="+mn-cs"/>
              </a:rPr>
              <a:t>owever, traffic that runs over </a:t>
            </a:r>
            <a:r>
              <a:rPr lang="en-US" b="1" i="0" kern="1200" dirty="0">
                <a:solidFill>
                  <a:schemeClr val="tx1"/>
                </a:solidFill>
                <a:effectLst/>
                <a:ea typeface="+mn-ea"/>
                <a:cs typeface="+mn-cs"/>
              </a:rPr>
              <a:t>Secure HTTP (HTTPS) </a:t>
            </a:r>
            <a:r>
              <a:rPr lang="en-US" b="0" i="0" kern="1200" dirty="0">
                <a:solidFill>
                  <a:schemeClr val="tx1"/>
                </a:solidFill>
                <a:effectLst/>
                <a:ea typeface="+mn-ea"/>
                <a:cs typeface="+mn-cs"/>
              </a:rPr>
              <a:t>is encrypted by using TLS</a:t>
            </a:r>
            <a:r>
              <a:rPr lang="en-US" b="0" i="0" kern="1200" baseline="0" dirty="0">
                <a:solidFill>
                  <a:schemeClr val="tx1"/>
                </a:solidFill>
                <a:effectLst/>
                <a:ea typeface="+mn-ea"/>
                <a:cs typeface="+mn-cs"/>
              </a:rPr>
              <a:t> or </a:t>
            </a:r>
            <a:r>
              <a:rPr lang="en-US" b="0" i="0" kern="1200" dirty="0">
                <a:solidFill>
                  <a:schemeClr val="tx1"/>
                </a:solidFill>
                <a:effectLst/>
                <a:ea typeface="+mn-ea"/>
                <a:cs typeface="+mn-cs"/>
              </a:rPr>
              <a:t>SSL.</a:t>
            </a:r>
            <a:r>
              <a:rPr lang="en-US" b="0" i="0" kern="1200" baseline="0" dirty="0">
                <a:solidFill>
                  <a:schemeClr val="tx1"/>
                </a:solidFill>
                <a:effectLst/>
                <a:ea typeface="+mn-ea"/>
                <a:cs typeface="+mn-cs"/>
              </a:rPr>
              <a:t> HTTPS traffic </a:t>
            </a:r>
            <a:r>
              <a:rPr lang="en-US" b="0" i="0" kern="1200" dirty="0">
                <a:solidFill>
                  <a:schemeClr val="tx1"/>
                </a:solidFill>
                <a:effectLst/>
                <a:ea typeface="+mn-ea"/>
                <a:cs typeface="+mn-cs"/>
              </a:rPr>
              <a:t>is protected against eavesdropping and man-in-the-middle attacks because of the bidirectional encryption of the communication.</a:t>
            </a:r>
          </a:p>
          <a:p>
            <a:endParaRPr lang="en-US" b="0" i="0" kern="1200" dirty="0">
              <a:solidFill>
                <a:schemeClr val="tx1"/>
              </a:solidFill>
              <a:effectLst/>
              <a:ea typeface="+mn-ea"/>
              <a:cs typeface="+mn-cs"/>
            </a:endParaRPr>
          </a:p>
          <a:p>
            <a:r>
              <a:rPr lang="en-US" i="0" dirty="0"/>
              <a:t>AWS services support encryption</a:t>
            </a:r>
            <a:r>
              <a:rPr lang="en-US" i="0" baseline="0" dirty="0"/>
              <a:t> for </a:t>
            </a:r>
            <a:r>
              <a:rPr lang="en-US" i="0" dirty="0"/>
              <a:t>data in transit. Two examples of encryption for data in transit are shown. The first example shows </a:t>
            </a:r>
            <a:r>
              <a:rPr lang="en-US" dirty="0"/>
              <a:t>an EC2 instance that has mounted an Amazon EFS shared file system. All data traffic between the instance and Amazon EFS is encrypted by using TLS</a:t>
            </a:r>
            <a:r>
              <a:rPr lang="en-US" baseline="0" dirty="0"/>
              <a:t> or </a:t>
            </a:r>
            <a:r>
              <a:rPr lang="en-US" dirty="0"/>
              <a:t>SSL. For further details about</a:t>
            </a:r>
            <a:r>
              <a:rPr lang="en-US" baseline="0" dirty="0"/>
              <a:t> this configuration</a:t>
            </a:r>
            <a:r>
              <a:rPr lang="en-US" dirty="0"/>
              <a:t>, see Encryption of EFS Data in Transit at </a:t>
            </a:r>
            <a:r>
              <a:rPr lang="en-US" dirty="0">
                <a:hlinkClick r:id="rId3"/>
              </a:rPr>
              <a:t>https://docs.aws.amazon.com/whitepapers/latest/efs-encrypted-file-systems/encryption-of-data-in-transit.html</a:t>
            </a:r>
            <a:r>
              <a:rPr lang="en-US" dirty="0"/>
              <a:t>.</a:t>
            </a:r>
          </a:p>
          <a:p>
            <a:endParaRPr lang="en-US" dirty="0"/>
          </a:p>
          <a:p>
            <a:r>
              <a:rPr lang="en-US" dirty="0"/>
              <a:t>The second example shows the use of </a:t>
            </a:r>
            <a:r>
              <a:rPr lang="en-US" b="1" dirty="0"/>
              <a:t>AWS </a:t>
            </a:r>
            <a:r>
              <a:rPr lang="en-US" b="1" i="0" kern="1200" dirty="0">
                <a:solidFill>
                  <a:schemeClr val="tx1"/>
                </a:solidFill>
                <a:effectLst/>
                <a:ea typeface="+mn-ea"/>
                <a:cs typeface="+mn-cs"/>
              </a:rPr>
              <a:t>Storage Gateway, </a:t>
            </a:r>
            <a:r>
              <a:rPr lang="en-US" b="0" i="0" kern="1200" dirty="0">
                <a:solidFill>
                  <a:schemeClr val="tx1"/>
                </a:solidFill>
                <a:effectLst/>
                <a:ea typeface="+mn-ea"/>
                <a:cs typeface="+mn-cs"/>
              </a:rPr>
              <a:t>a hybrid cloud storage service that provides on-premises access to AWS Cloud storage. In this example, the storage gateway is connected across the internet to Amazon S3, and the connection encrypts the data in transit. </a:t>
            </a:r>
            <a:endParaRPr lang="en-US" dirty="0"/>
          </a:p>
        </p:txBody>
      </p:sp>
    </p:spTree>
    <p:extLst>
      <p:ext uri="{BB962C8B-B14F-4D97-AF65-F5344CB8AC3E}">
        <p14:creationId xmlns:p14="http://schemas.microsoft.com/office/powerpoint/2010/main" val="5997727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By default, all Amazon S3 buckets are private and can be accessed </a:t>
            </a:r>
            <a:r>
              <a:rPr lang="en-US" i="1"/>
              <a:t>only</a:t>
            </a:r>
            <a:r>
              <a:rPr lang="en-US"/>
              <a:t> by users who are explicitly granted access.  It is essential to manage and control access to Amazon S3 data. AWS provides many tools and options for controlling access to your S3 buckets or objects, including: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Using </a:t>
            </a:r>
            <a:r>
              <a:rPr lang="en-US" b="1"/>
              <a:t>Amazon S3 Block Public Access</a:t>
            </a:r>
            <a:r>
              <a:rPr lang="en-US"/>
              <a:t>. These settings override any other policies or object permissions. Enable </a:t>
            </a:r>
            <a:r>
              <a:rPr lang="en-US" b="1"/>
              <a:t>Block Public Access </a:t>
            </a:r>
            <a:r>
              <a:rPr lang="en-US"/>
              <a:t>for all buckets that you don't want to be publicly accessible. This feature provides a straightforward method for avoiding unintended exposure of Amazon S3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Writing </a:t>
            </a:r>
            <a:r>
              <a:rPr lang="en-US" b="1"/>
              <a:t>IAM policies</a:t>
            </a:r>
            <a:r>
              <a:rPr lang="en-US"/>
              <a:t> that specify the users or roles that can access specific buckets and objects. This method was discussed in detail earlier in this module.</a:t>
            </a:r>
          </a:p>
          <a:p>
            <a:pPr marL="171450" indent="-171450">
              <a:buFont typeface="Arial" panose="020B0604020202020204" pitchFamily="34" charset="0"/>
              <a:buChar char="•"/>
            </a:pPr>
            <a:r>
              <a:rPr lang="en-US"/>
              <a:t>Writing </a:t>
            </a:r>
            <a:r>
              <a:rPr lang="en-US" b="1"/>
              <a:t>bucket policies</a:t>
            </a:r>
            <a:r>
              <a:rPr lang="en-US"/>
              <a:t> that define access to specific buckets or objects.  This option is typically used when the user or system cannot authenticate by using IAM. Bucket policies can be configured to grant access across AWS accounts or to grant public or anonymous access to Amazon S3 data. If bucket</a:t>
            </a:r>
            <a:r>
              <a:rPr lang="en-US" baseline="0"/>
              <a:t> policies are used, they </a:t>
            </a:r>
            <a:r>
              <a:rPr lang="en-US"/>
              <a:t>should be written carefully and tested fully. You can specify a deny statement in a bucket policy to restrict access.</a:t>
            </a:r>
            <a:r>
              <a:rPr lang="en-US" baseline="0"/>
              <a:t> Access will be restricted </a:t>
            </a:r>
            <a:r>
              <a:rPr lang="en-US"/>
              <a:t>even if the users have permissions that are granted in an identity-based policy that is attached to the users. </a:t>
            </a:r>
          </a:p>
          <a:p>
            <a:pPr marL="171450" indent="-171450">
              <a:buFont typeface="Arial" panose="020B0604020202020204" pitchFamily="34" charset="0"/>
              <a:buChar char="•"/>
            </a:pPr>
            <a:r>
              <a:rPr lang="en-US"/>
              <a:t>Setting </a:t>
            </a:r>
            <a:r>
              <a:rPr lang="en-US" b="1"/>
              <a:t>access control lists (ACLs) </a:t>
            </a:r>
            <a:r>
              <a:rPr lang="en-US"/>
              <a:t>on your buckets and objects. ACLs are less commonly used (ACLs predate IAM). If you do use ACLs, do not set access that is too open or permissive.</a:t>
            </a:r>
          </a:p>
          <a:p>
            <a:pPr marL="171450" indent="-171450">
              <a:buFont typeface="Arial" panose="020B0604020202020204" pitchFamily="34" charset="0"/>
              <a:buChar char="•"/>
            </a:pPr>
            <a:r>
              <a:rPr lang="en-US" b="1"/>
              <a:t>AWS Trusted Advisor </a:t>
            </a:r>
            <a:r>
              <a:rPr lang="en-US"/>
              <a:t>provides a bucket permission check feature that is a useful tool for discovering if any of the buckets in your account have permissions that grant global access. </a:t>
            </a:r>
          </a:p>
        </p:txBody>
      </p:sp>
    </p:spTree>
    <p:extLst>
      <p:ext uri="{BB962C8B-B14F-4D97-AF65-F5344CB8AC3E}">
        <p14:creationId xmlns:p14="http://schemas.microsoft.com/office/powerpoint/2010/main" val="8784279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Introducing Section 6: Working to ensure compliance.</a:t>
            </a:r>
            <a:endParaRPr lang="en-US" kern="1200">
              <a:solidFill>
                <a:schemeClr val="tx1"/>
              </a:solidFill>
              <a:effectLst/>
              <a:latin typeface="+mn-lt"/>
              <a:ea typeface="+mn-ea"/>
              <a:cs typeface="+mn-cs"/>
            </a:endParaRPr>
          </a:p>
          <a:p>
            <a:endParaRPr lang="en-US"/>
          </a:p>
          <a:p>
            <a:endParaRPr lang="en-US"/>
          </a:p>
        </p:txBody>
      </p:sp>
    </p:spTree>
    <p:extLst>
      <p:ext uri="{BB962C8B-B14F-4D97-AF65-F5344CB8AC3E}">
        <p14:creationId xmlns:p14="http://schemas.microsoft.com/office/powerpoint/2010/main" val="41907176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4719348"/>
          </a:xfrm>
          <a:prstGeom prst="rect">
            <a:avLst/>
          </a:prstGeom>
        </p:spPr>
        <p:txBody>
          <a:bodyPr/>
          <a:lstStyle/>
          <a:p>
            <a:r>
              <a:rPr lang="en-US" kern="1200">
                <a:solidFill>
                  <a:schemeClr val="tx1"/>
                </a:solidFill>
                <a:effectLst/>
                <a:ea typeface="+mn-ea"/>
                <a:cs typeface="+mn-cs"/>
              </a:rPr>
              <a:t>AWS engages with external certifying bodies and independent auditors to provide customers with information about the policies, processes, and controls that are established and operated by AWS. </a:t>
            </a:r>
          </a:p>
          <a:p>
            <a:endParaRPr lang="en-US" b="0" i="0" kern="1200">
              <a:solidFill>
                <a:schemeClr val="tx1"/>
              </a:solidFill>
              <a:effectLst/>
              <a:ea typeface="+mn-ea"/>
              <a:cs typeface="+mn-cs"/>
            </a:endParaRPr>
          </a:p>
          <a:p>
            <a:pPr>
              <a:defRPr/>
            </a:pPr>
            <a:r>
              <a:rPr lang="en-US" b="0" i="0" kern="1200">
                <a:solidFill>
                  <a:schemeClr val="tx1"/>
                </a:solidFill>
                <a:effectLst/>
                <a:ea typeface="+mn-ea"/>
                <a:cs typeface="+mn-cs"/>
              </a:rPr>
              <a:t>A full </a:t>
            </a:r>
            <a:r>
              <a:rPr lang="en-US"/>
              <a:t>Listing of AWS Compliance Programs is available at </a:t>
            </a:r>
            <a:r>
              <a:rPr lang="en-US">
                <a:hlinkClick r:id="rId3"/>
              </a:rPr>
              <a:t>https://aws.amazon.com/compliance/programs/</a:t>
            </a:r>
            <a:r>
              <a:rPr lang="en-US"/>
              <a:t>. Also, f</a:t>
            </a:r>
            <a:r>
              <a:rPr lang="en-US" b="0" i="0" kern="1200">
                <a:solidFill>
                  <a:schemeClr val="tx1"/>
                </a:solidFill>
                <a:effectLst/>
                <a:ea typeface="+mn-ea"/>
                <a:cs typeface="+mn-cs"/>
              </a:rPr>
              <a:t>or details about which AWS services are in scope of AWS assurance programs, see </a:t>
            </a:r>
            <a:r>
              <a:rPr lang="en-US"/>
              <a:t>AWS Services in Scope by Compliance Program at </a:t>
            </a:r>
            <a:r>
              <a:rPr lang="en-US">
                <a:hlinkClick r:id="rId4"/>
              </a:rPr>
              <a:t>https://aws.amazon.com/compliance/services-in-scope/</a:t>
            </a:r>
            <a:r>
              <a:rPr lang="en-US"/>
              <a:t>.</a:t>
            </a:r>
            <a:endParaRPr lang="en-US" b="0" i="0" kern="1200">
              <a:solidFill>
                <a:schemeClr val="tx1"/>
              </a:solidFill>
              <a:effectLst/>
              <a:ea typeface="+mn-ea"/>
              <a:cs typeface="+mn-cs"/>
            </a:endParaRPr>
          </a:p>
          <a:p>
            <a:pPr lvl="0"/>
            <a:endParaRPr lang="en-US" b="0" i="0" kern="120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baseline="0">
                <a:solidFill>
                  <a:schemeClr val="tx1"/>
                </a:solidFill>
                <a:effectLst/>
                <a:ea typeface="+mn-ea"/>
                <a:cs typeface="+mn-cs"/>
              </a:rPr>
              <a:t>As an example of </a:t>
            </a:r>
            <a:r>
              <a:rPr lang="en-US" b="0" i="0" kern="1200">
                <a:solidFill>
                  <a:schemeClr val="tx1"/>
                </a:solidFill>
                <a:effectLst/>
                <a:ea typeface="+mn-ea"/>
                <a:cs typeface="+mn-cs"/>
              </a:rPr>
              <a:t>a </a:t>
            </a:r>
            <a:r>
              <a:rPr lang="en-US" b="1" i="0" kern="1200">
                <a:solidFill>
                  <a:schemeClr val="tx1"/>
                </a:solidFill>
                <a:effectLst/>
                <a:ea typeface="+mn-ea"/>
                <a:cs typeface="+mn-cs"/>
              </a:rPr>
              <a:t>certification</a:t>
            </a:r>
            <a:r>
              <a:rPr lang="en-US" b="0" i="0" kern="1200">
                <a:solidFill>
                  <a:schemeClr val="tx1"/>
                </a:solidFill>
                <a:effectLst/>
                <a:ea typeface="+mn-ea"/>
                <a:cs typeface="+mn-cs"/>
              </a:rPr>
              <a:t> </a:t>
            </a:r>
            <a:r>
              <a:rPr lang="en-US" b="0" i="0" kern="1200" baseline="0">
                <a:solidFill>
                  <a:schemeClr val="tx1"/>
                </a:solidFill>
                <a:effectLst/>
                <a:ea typeface="+mn-ea"/>
                <a:cs typeface="+mn-cs"/>
              </a:rPr>
              <a:t>for which you can use AWS services to meet your compliance goals,</a:t>
            </a:r>
            <a:r>
              <a:rPr lang="en-US" b="0" i="0" kern="1200">
                <a:solidFill>
                  <a:schemeClr val="tx1"/>
                </a:solidFill>
                <a:effectLst/>
                <a:ea typeface="+mn-ea"/>
                <a:cs typeface="+mn-cs"/>
              </a:rPr>
              <a:t> consider the </a:t>
            </a:r>
            <a:r>
              <a:rPr lang="en-US" b="1" i="0" kern="1200">
                <a:solidFill>
                  <a:schemeClr val="tx1"/>
                </a:solidFill>
                <a:effectLst/>
                <a:ea typeface="+mn-ea"/>
                <a:cs typeface="+mn-cs"/>
              </a:rPr>
              <a:t>ISO/IEC 27001:2013</a:t>
            </a:r>
            <a:r>
              <a:rPr lang="en-US" b="0" i="0" kern="1200">
                <a:solidFill>
                  <a:schemeClr val="tx1"/>
                </a:solidFill>
                <a:effectLst/>
                <a:ea typeface="+mn-ea"/>
                <a:cs typeface="+mn-cs"/>
              </a:rPr>
              <a:t> certification. It specifies the requirements for establishing, implementing, maintaining,</a:t>
            </a:r>
            <a:r>
              <a:rPr lang="en-US" b="0" i="0" kern="1200" baseline="0">
                <a:solidFill>
                  <a:schemeClr val="tx1"/>
                </a:solidFill>
                <a:effectLst/>
                <a:ea typeface="+mn-ea"/>
                <a:cs typeface="+mn-cs"/>
              </a:rPr>
              <a:t> </a:t>
            </a:r>
            <a:r>
              <a:rPr lang="en-US" b="0" i="0" kern="1200">
                <a:solidFill>
                  <a:schemeClr val="tx1"/>
                </a:solidFill>
                <a:effectLst/>
                <a:ea typeface="+mn-ea"/>
                <a:cs typeface="+mn-cs"/>
              </a:rPr>
              <a:t>and continually improving an Information Security Management System. The basis of this certification is the development and implementation of a rigorous security program, which includes the development and implementation of an Information Security Management System.</a:t>
            </a:r>
            <a:r>
              <a:rPr lang="en-US" b="0" i="0" kern="1200" baseline="0">
                <a:solidFill>
                  <a:schemeClr val="tx1"/>
                </a:solidFill>
                <a:effectLst/>
                <a:ea typeface="+mn-ea"/>
                <a:cs typeface="+mn-cs"/>
              </a:rPr>
              <a:t> The Information Security Management System </a:t>
            </a:r>
            <a:r>
              <a:rPr lang="en-US" b="0" i="0" kern="1200">
                <a:solidFill>
                  <a:schemeClr val="tx1"/>
                </a:solidFill>
                <a:effectLst/>
                <a:ea typeface="+mn-ea"/>
                <a:cs typeface="+mn-cs"/>
              </a:rPr>
              <a:t>defines how AWS perpetually manages security in a holistic, comprehensive manner.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a:solidFill>
                <a:schemeClr val="tx1"/>
              </a:solidFill>
              <a:effectLst/>
              <a:ea typeface="+mn-ea"/>
              <a:cs typeface="+mn-cs"/>
            </a:endParaRPr>
          </a:p>
          <a:p>
            <a:r>
              <a:rPr lang="en-US" b="0" i="0" kern="1200">
                <a:solidFill>
                  <a:schemeClr val="tx1"/>
                </a:solidFill>
                <a:effectLst/>
                <a:ea typeface="+mn-ea"/>
                <a:cs typeface="+mn-cs"/>
              </a:rPr>
              <a:t>AWS also provides security features and legal agreements that are designed to help support customers with common regulations and laws. </a:t>
            </a:r>
            <a:r>
              <a:rPr lang="en-US"/>
              <a:t>One example is the </a:t>
            </a:r>
            <a:r>
              <a:rPr lang="en-US" b="1"/>
              <a:t>Health Insurance Portability and Accountability Act (HIPAA) </a:t>
            </a:r>
            <a:r>
              <a:rPr lang="en-US"/>
              <a:t>regulation. Another</a:t>
            </a:r>
            <a:r>
              <a:rPr lang="en-US" b="0" i="0" kern="1200">
                <a:solidFill>
                  <a:schemeClr val="tx1"/>
                </a:solidFill>
                <a:effectLst/>
                <a:ea typeface="+mn-ea"/>
                <a:cs typeface="+mn-cs"/>
              </a:rPr>
              <a:t> example, the European Union</a:t>
            </a:r>
            <a:r>
              <a:rPr lang="en-US" b="0" i="0" kern="1200" baseline="0">
                <a:solidFill>
                  <a:schemeClr val="tx1"/>
                </a:solidFill>
                <a:effectLst/>
                <a:ea typeface="+mn-ea"/>
                <a:cs typeface="+mn-cs"/>
              </a:rPr>
              <a:t> (EU) </a:t>
            </a:r>
            <a:r>
              <a:rPr lang="en-US" b="1" i="0" kern="1200">
                <a:solidFill>
                  <a:schemeClr val="tx1"/>
                </a:solidFill>
                <a:effectLst/>
                <a:ea typeface="+mn-ea"/>
                <a:cs typeface="+mn-cs"/>
              </a:rPr>
              <a:t>General Data Protection Regulation (GDPR) </a:t>
            </a:r>
            <a:r>
              <a:rPr lang="en-US" b="0" i="0" kern="1200">
                <a:solidFill>
                  <a:schemeClr val="tx1"/>
                </a:solidFill>
                <a:effectLst/>
                <a:ea typeface="+mn-ea"/>
                <a:cs typeface="+mn-cs"/>
              </a:rPr>
              <a:t>protects European Union data subjects' fundamental right to privacy and the protection of personal data. It introduces robust requirements that will raise and harmonize standards for data protection, security, and compliance. The </a:t>
            </a:r>
            <a:r>
              <a:rPr lang="en-US"/>
              <a:t>GDPR Center at </a:t>
            </a:r>
            <a:r>
              <a:rPr lang="en-US">
                <a:hlinkClick r:id="rId5"/>
              </a:rPr>
              <a:t>https://aws.amazon.com/compliance/gdpr-center/</a:t>
            </a:r>
            <a:r>
              <a:rPr lang="en-US"/>
              <a:t> contains many resources to help customers meet</a:t>
            </a:r>
            <a:r>
              <a:rPr lang="en-US" baseline="0"/>
              <a:t> their</a:t>
            </a:r>
            <a:r>
              <a:rPr lang="en-US"/>
              <a:t> compliance requirements with this regulation.</a:t>
            </a:r>
          </a:p>
          <a:p>
            <a:endParaRPr lang="en-US"/>
          </a:p>
        </p:txBody>
      </p:sp>
    </p:spTree>
    <p:extLst>
      <p:ext uri="{BB962C8B-B14F-4D97-AF65-F5344CB8AC3E}">
        <p14:creationId xmlns:p14="http://schemas.microsoft.com/office/powerpoint/2010/main" val="41757672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1" i="0" kern="1200">
                <a:solidFill>
                  <a:schemeClr val="tx1"/>
                </a:solidFill>
                <a:effectLst/>
                <a:latin typeface="+mn-lt"/>
                <a:ea typeface="+mn-ea"/>
                <a:cs typeface="+mn-cs"/>
              </a:rPr>
              <a:t>AWS Config</a:t>
            </a:r>
            <a:r>
              <a:rPr lang="en-US" b="0" i="0" kern="1200">
                <a:solidFill>
                  <a:schemeClr val="tx1"/>
                </a:solidFill>
                <a:effectLst/>
                <a:latin typeface="+mn-lt"/>
                <a:ea typeface="+mn-ea"/>
                <a:cs typeface="+mn-cs"/>
              </a:rPr>
              <a:t> is a service that enables you to assess, audit, and evaluate the configurations of your AWS resources. AWS Config continuously monitors and records your AWS resource configurations, and it enables you to automate the evaluation of recorded configurations against desired configurations. With AWS Config, you can review changes in configurations and relationships between AWS resources, review detailed resource configuration histories, and determine your overall compliance against the configurations that are specified in your internal guidelines. This enables you to simplify compliance auditing, security analysis, change management, and operational troubleshooting.</a:t>
            </a:r>
          </a:p>
          <a:p>
            <a:endParaRPr lang="en-US" b="0" i="0" kern="1200">
              <a:solidFill>
                <a:schemeClr val="tx1"/>
              </a:solidFill>
              <a:effectLst/>
              <a:latin typeface="+mn-lt"/>
              <a:ea typeface="+mn-ea"/>
              <a:cs typeface="+mn-cs"/>
            </a:endParaRPr>
          </a:p>
          <a:p>
            <a:r>
              <a:rPr lang="en-US" b="0" i="0" kern="1200">
                <a:solidFill>
                  <a:schemeClr val="tx1"/>
                </a:solidFill>
                <a:effectLst/>
                <a:latin typeface="+mn-lt"/>
                <a:ea typeface="+mn-ea"/>
                <a:cs typeface="+mn-cs"/>
              </a:rPr>
              <a:t>As you can see in the AWS Config Dashboard screen capture shown here, AWS Config keeps an inventory listing of all resources that exist in the account,</a:t>
            </a:r>
            <a:r>
              <a:rPr lang="en-US" b="0" i="0" kern="1200" baseline="0">
                <a:solidFill>
                  <a:schemeClr val="tx1"/>
                </a:solidFill>
                <a:effectLst/>
                <a:latin typeface="+mn-lt"/>
                <a:ea typeface="+mn-ea"/>
                <a:cs typeface="+mn-cs"/>
              </a:rPr>
              <a:t> and it </a:t>
            </a:r>
            <a:r>
              <a:rPr lang="en-US" b="0" i="0" kern="1200">
                <a:solidFill>
                  <a:schemeClr val="tx1"/>
                </a:solidFill>
                <a:effectLst/>
                <a:latin typeface="+mn-lt"/>
                <a:ea typeface="+mn-ea"/>
                <a:cs typeface="+mn-cs"/>
              </a:rPr>
              <a:t>then checks for configuration rule compliance and resource compliance. Resources that are found to be noncompliant are flagged, which alerts you to the configuration issues that should be addressed within the account.</a:t>
            </a:r>
          </a:p>
          <a:p>
            <a:endParaRPr lang="en-US" b="0" i="0" kern="1200">
              <a:solidFill>
                <a:schemeClr val="tx1"/>
              </a:solidFill>
              <a:effectLst/>
              <a:latin typeface="+mn-lt"/>
              <a:ea typeface="+mn-ea"/>
              <a:cs typeface="+mn-cs"/>
            </a:endParaRPr>
          </a:p>
          <a:p>
            <a:r>
              <a:rPr lang="en-US" b="0" i="0" kern="1200">
                <a:solidFill>
                  <a:schemeClr val="tx1"/>
                </a:solidFill>
                <a:effectLst/>
                <a:latin typeface="+mn-lt"/>
                <a:ea typeface="+mn-ea"/>
                <a:cs typeface="+mn-cs"/>
              </a:rPr>
              <a:t>AWS Config is a Regional service.</a:t>
            </a:r>
            <a:r>
              <a:rPr lang="en-US" b="0" i="0" kern="1200" baseline="0">
                <a:solidFill>
                  <a:schemeClr val="tx1"/>
                </a:solidFill>
                <a:effectLst/>
                <a:latin typeface="+mn-lt"/>
                <a:ea typeface="+mn-ea"/>
                <a:cs typeface="+mn-cs"/>
              </a:rPr>
              <a:t> T</a:t>
            </a:r>
            <a:r>
              <a:rPr lang="en-US" b="0" i="0" kern="1200">
                <a:solidFill>
                  <a:schemeClr val="tx1"/>
                </a:solidFill>
                <a:effectLst/>
                <a:latin typeface="+mn-lt"/>
                <a:ea typeface="+mn-ea"/>
                <a:cs typeface="+mn-cs"/>
              </a:rPr>
              <a:t>o track resources across Regions, enable it in every Region that you use. AWS Config offers an aggregator feature that can show an aggregated view of resources across multiple Regions and even multiple accounts.</a:t>
            </a:r>
          </a:p>
          <a:p>
            <a:endParaRPr lang="en-US"/>
          </a:p>
        </p:txBody>
      </p:sp>
    </p:spTree>
    <p:extLst>
      <p:ext uri="{BB962C8B-B14F-4D97-AF65-F5344CB8AC3E}">
        <p14:creationId xmlns:p14="http://schemas.microsoft.com/office/powerpoint/2010/main" val="41222680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1" i="0" kern="1200">
                <a:solidFill>
                  <a:schemeClr val="tx1"/>
                </a:solidFill>
                <a:effectLst/>
                <a:ea typeface="+mn-ea"/>
                <a:cs typeface="+mn-cs"/>
              </a:rPr>
              <a:t>AWS Artifact </a:t>
            </a:r>
            <a:r>
              <a:rPr lang="en-US" b="0" i="0" kern="1200">
                <a:solidFill>
                  <a:schemeClr val="tx1"/>
                </a:solidFill>
                <a:effectLst/>
                <a:ea typeface="+mn-ea"/>
                <a:cs typeface="+mn-cs"/>
              </a:rPr>
              <a:t>provides on-demand downloads of AWS security and compliance documents, such as AWS ISO certifications, Payment Card Industry (PCI), and Service Organization Control (SOC) reports. You can submit the security and compliance documents (also known as </a:t>
            </a:r>
            <a:r>
              <a:rPr lang="en-US" b="0" i="1" kern="1200">
                <a:solidFill>
                  <a:schemeClr val="tx1"/>
                </a:solidFill>
                <a:effectLst/>
                <a:ea typeface="+mn-ea"/>
                <a:cs typeface="+mn-cs"/>
              </a:rPr>
              <a:t>audit artifacts</a:t>
            </a:r>
            <a:r>
              <a:rPr lang="en-US" b="0" i="0" kern="1200">
                <a:solidFill>
                  <a:schemeClr val="tx1"/>
                </a:solidFill>
                <a:effectLst/>
                <a:ea typeface="+mn-ea"/>
                <a:cs typeface="+mn-cs"/>
              </a:rPr>
              <a:t>) to your auditors or regulators to demonstrate the security and compliance of the AWS infrastructure and services that you use. You can also use these documents as guidelines to evaluate your own cloud architecture and assess the effectiveness of your company's internal controls. AWS Artifact provides documents about AWS only. AWS customers are responsible for developing or obtaining documents that demonstrate the security and compliance of their companies. </a:t>
            </a:r>
          </a:p>
          <a:p>
            <a:endParaRPr lang="en-US" b="0" i="0" kern="1200">
              <a:solidFill>
                <a:schemeClr val="tx1"/>
              </a:solidFill>
              <a:effectLst/>
              <a:ea typeface="+mn-ea"/>
              <a:cs typeface="+mn-cs"/>
            </a:endParaRPr>
          </a:p>
          <a:p>
            <a:pPr>
              <a:defRPr/>
            </a:pPr>
            <a:r>
              <a:rPr lang="en-US" b="0" i="0" kern="1200">
                <a:solidFill>
                  <a:schemeClr val="tx1"/>
                </a:solidFill>
                <a:effectLst/>
                <a:ea typeface="+mn-ea"/>
                <a:cs typeface="+mn-cs"/>
              </a:rPr>
              <a:t>You can also use AWS Artifact to review, accept, and track the status of AWS agreements such as the Business Associate Agreement (BAA). A BAA typically is required for companies that are subject to HIPAA to ensure that protected health information (PHI) is appropriately safeguarded. With AWS Artifact, you can accept agreements with AWS and designate AWS accounts that can legally process restricted information. You can accept an agreement on behalf of multiple accounts. To accept agreements for multiple accounts, use AWS Organizations to create an organization. To learn more, see </a:t>
            </a:r>
            <a:r>
              <a:rPr lang="en-US">
                <a:ea typeface="Amazon Ember Light" panose="020B0403020204020204" pitchFamily="34" charset="0"/>
                <a:cs typeface="Amazon Ember Light" panose="020B0403020204020204" pitchFamily="34" charset="0"/>
              </a:rPr>
              <a:t>Managing agreements in AWS Artifact at </a:t>
            </a:r>
            <a:r>
              <a:rPr lang="en-US">
                <a:ea typeface="Amazon Ember Light" panose="020B0403020204020204" pitchFamily="34" charset="0"/>
                <a:cs typeface="Amazon Ember Light" panose="020B0403020204020204" pitchFamily="34" charset="0"/>
                <a:hlinkClick r:id="rId3"/>
              </a:rPr>
              <a:t>https://docs.aws.amazon.com/artifact/latest/ug/managing-agreements.html</a:t>
            </a:r>
            <a:r>
              <a:rPr lang="en-US" b="0" i="0" kern="1200">
                <a:solidFill>
                  <a:schemeClr val="tx1"/>
                </a:solidFill>
                <a:effectLst/>
                <a:ea typeface="+mn-ea"/>
                <a:cs typeface="+mn-cs"/>
              </a:rPr>
              <a:t>.</a:t>
            </a:r>
          </a:p>
          <a:p>
            <a:endParaRPr lang="en-US"/>
          </a:p>
        </p:txBody>
      </p:sp>
    </p:spTree>
    <p:extLst>
      <p:ext uri="{BB962C8B-B14F-4D97-AF65-F5344CB8AC3E}">
        <p14:creationId xmlns:p14="http://schemas.microsoft.com/office/powerpoint/2010/main" val="8484361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6.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3.wdp"/></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9.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9.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9.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9.svg"/></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13.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13.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1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9.svg"/></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2.xml"/><Relationship Id="rId1" Type="http://schemas.openxmlformats.org/officeDocument/2006/relationships/tags" Target="../tags/tag56.xml"/></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7.xml"/></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8.xml"/></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9.xml"/></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structor Intro">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F3DBA0A-EF04-44BD-A704-1C36C47D2821}"/>
              </a:ext>
              <a:ext uri="{C183D7F6-B498-43B3-948B-1728B52AA6E4}">
                <adec:decorative xmlns:adec="http://schemas.microsoft.com/office/drawing/2017/decorative" val="1"/>
              </a:ext>
            </a:extLst>
          </p:cNvPr>
          <p:cNvGrpSpPr/>
          <p:nvPr/>
        </p:nvGrpSpPr>
        <p:grpSpPr>
          <a:xfrm>
            <a:off x="1" y="1"/>
            <a:ext cx="12004925" cy="6858000"/>
            <a:chOff x="1" y="1"/>
            <a:chExt cx="12004925" cy="6858000"/>
          </a:xfrm>
        </p:grpSpPr>
        <p:sp>
          <p:nvSpPr>
            <p:cNvPr id="93" name="BKG-LT">
              <a:extLst>
                <a:ext uri="{FF2B5EF4-FFF2-40B4-BE49-F238E27FC236}">
                  <a16:creationId xmlns:a16="http://schemas.microsoft.com/office/drawing/2014/main" id="{1636AFF1-562B-467D-8DC1-B38C08FBD4C3}"/>
                </a:ext>
                <a:ext uri="{C183D7F6-B498-43B3-948B-1728B52AA6E4}">
                  <adec:decorative xmlns:adec="http://schemas.microsoft.com/office/drawing/2017/decorative" val="1"/>
                </a:ext>
              </a:extLst>
            </p:cNvPr>
            <p:cNvSpPr/>
            <p:nvPr/>
          </p:nvSpPr>
          <p:spPr>
            <a:xfrm>
              <a:off x="1" y="1"/>
              <a:ext cx="590167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TrainingLine">
              <a:extLst>
                <a:ext uri="{FF2B5EF4-FFF2-40B4-BE49-F238E27FC236}">
                  <a16:creationId xmlns:a16="http://schemas.microsoft.com/office/drawing/2014/main" id="{D7310E2A-808D-407A-87D7-C505B238AAE6}"/>
                </a:ext>
                <a:ext uri="{C183D7F6-B498-43B3-948B-1728B52AA6E4}">
                  <adec:decorative xmlns:adec="http://schemas.microsoft.com/office/drawing/2017/decorative" val="1"/>
                </a:ext>
              </a:extLst>
            </p:cNvPr>
            <p:cNvCxnSpPr>
              <a:cxnSpLocks/>
            </p:cNvCxnSpPr>
            <p:nvPr/>
          </p:nvCxnSpPr>
          <p:spPr>
            <a:xfrm>
              <a:off x="198875" y="4775930"/>
              <a:ext cx="5503926" cy="0"/>
            </a:xfrm>
            <a:prstGeom prst="line">
              <a:avLst/>
            </a:prstGeom>
            <a:ln w="38100">
              <a:solidFill>
                <a:schemeClr val="bg2"/>
              </a:solidFill>
            </a:ln>
          </p:spPr>
          <p:style>
            <a:lnRef idx="3">
              <a:schemeClr val="accent3"/>
            </a:lnRef>
            <a:fillRef idx="0">
              <a:schemeClr val="accent3"/>
            </a:fillRef>
            <a:effectRef idx="2">
              <a:schemeClr val="accent3"/>
            </a:effectRef>
            <a:fontRef idx="minor">
              <a:schemeClr val="tx1"/>
            </a:fontRef>
          </p:style>
        </p:cxnSp>
        <p:sp>
          <p:nvSpPr>
            <p:cNvPr id="84" name="BKG-Photo">
              <a:extLst>
                <a:ext uri="{FF2B5EF4-FFF2-40B4-BE49-F238E27FC236}">
                  <a16:creationId xmlns:a16="http://schemas.microsoft.com/office/drawing/2014/main" id="{62D1E38E-9540-4F40-B30D-C4E76EF85FD1}"/>
                </a:ext>
                <a:ext uri="{C183D7F6-B498-43B3-948B-1728B52AA6E4}">
                  <adec:decorative xmlns:adec="http://schemas.microsoft.com/office/drawing/2017/decorative" val="1"/>
                </a:ext>
              </a:extLst>
            </p:cNvPr>
            <p:cNvSpPr/>
            <p:nvPr/>
          </p:nvSpPr>
          <p:spPr>
            <a:xfrm>
              <a:off x="6096000" y="412928"/>
              <a:ext cx="1636776" cy="1636776"/>
            </a:xfrm>
            <a:prstGeom prst="rect">
              <a:avLst/>
            </a:prstGeom>
            <a:solidFill>
              <a:schemeClr val="accent6"/>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6" name="InstructorLine">
              <a:extLst>
                <a:ext uri="{FF2B5EF4-FFF2-40B4-BE49-F238E27FC236}">
                  <a16:creationId xmlns:a16="http://schemas.microsoft.com/office/drawing/2014/main" id="{D2B179F5-8754-4804-B83A-9F86A1FABFC5}"/>
                </a:ext>
                <a:ext uri="{C183D7F6-B498-43B3-948B-1728B52AA6E4}">
                  <adec:decorative xmlns:adec="http://schemas.microsoft.com/office/drawing/2017/decorative" val="1"/>
                </a:ext>
              </a:extLst>
            </p:cNvPr>
            <p:cNvCxnSpPr>
              <a:cxnSpLocks/>
            </p:cNvCxnSpPr>
            <p:nvPr/>
          </p:nvCxnSpPr>
          <p:spPr>
            <a:xfrm>
              <a:off x="7715772" y="924231"/>
              <a:ext cx="4289154"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cxnSp>
          <p:nvCxnSpPr>
            <p:cNvPr id="85" name="ConnectLine">
              <a:extLst>
                <a:ext uri="{FF2B5EF4-FFF2-40B4-BE49-F238E27FC236}">
                  <a16:creationId xmlns:a16="http://schemas.microsoft.com/office/drawing/2014/main" id="{0C3C1B84-8505-4B24-973C-848AC60399A7}"/>
                </a:ext>
                <a:ext uri="{C183D7F6-B498-43B3-948B-1728B52AA6E4}">
                  <adec:decorative xmlns:adec="http://schemas.microsoft.com/office/drawing/2017/decorative" val="1"/>
                </a:ext>
              </a:extLst>
            </p:cNvPr>
            <p:cNvCxnSpPr>
              <a:cxnSpLocks/>
            </p:cNvCxnSpPr>
            <p:nvPr/>
          </p:nvCxnSpPr>
          <p:spPr>
            <a:xfrm>
              <a:off x="6096000" y="2841821"/>
              <a:ext cx="5908926"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pic>
          <p:nvPicPr>
            <p:cNvPr id="98" name="AWS Logo">
              <a:extLst>
                <a:ext uri="{FF2B5EF4-FFF2-40B4-BE49-F238E27FC236}">
                  <a16:creationId xmlns:a16="http://schemas.microsoft.com/office/drawing/2014/main" id="{EE68EF96-08A5-4475-A68D-AF69C928485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9" name="Copyright">
              <a:extLst>
                <a:ext uri="{FF2B5EF4-FFF2-40B4-BE49-F238E27FC236}">
                  <a16:creationId xmlns:a16="http://schemas.microsoft.com/office/drawing/2014/main" id="{0869739A-D862-4D7C-B7B5-2B689B100943}"/>
                </a:ext>
              </a:extLst>
            </p:cNvPr>
            <p:cNvSpPr txBox="1"/>
            <p:nvPr/>
          </p:nvSpPr>
          <p:spPr>
            <a:xfrm>
              <a:off x="876516" y="6423536"/>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0" name="Welcome">
            <a:extLst>
              <a:ext uri="{FF2B5EF4-FFF2-40B4-BE49-F238E27FC236}">
                <a16:creationId xmlns:a16="http://schemas.microsoft.com/office/drawing/2014/main" id="{440D7E67-8032-4F87-ACBA-58FA07AE3852}"/>
              </a:ext>
            </a:extLst>
          </p:cNvPr>
          <p:cNvSpPr txBox="1"/>
          <p:nvPr/>
        </p:nvSpPr>
        <p:spPr>
          <a:xfrm>
            <a:off x="1883879" y="587814"/>
            <a:ext cx="2133918" cy="523220"/>
          </a:xfrm>
          <a:prstGeom prst="rect">
            <a:avLst/>
          </a:prstGeom>
          <a:noFill/>
        </p:spPr>
        <p:txBody>
          <a:bodyPr wrap="none" rtlCol="0">
            <a:spAutoFit/>
          </a:bodyPr>
          <a:lstStyle/>
          <a:p>
            <a:pPr algn="ctr"/>
            <a:r>
              <a:rPr lang="en-US" sz="2800" dirty="0">
                <a:solidFill>
                  <a:schemeClr val="bg2"/>
                </a:solidFill>
                <a:latin typeface="+mn-lt"/>
                <a:ea typeface="Amazon Ember Light" panose="020B0403020204020204" pitchFamily="34" charset="0"/>
                <a:cs typeface="Amazon Ember Light" panose="020B0403020204020204" pitchFamily="34" charset="0"/>
              </a:rPr>
              <a:t>Welcome to</a:t>
            </a:r>
          </a:p>
        </p:txBody>
      </p:sp>
      <p:sp>
        <p:nvSpPr>
          <p:cNvPr id="2" name="Title">
            <a:extLst>
              <a:ext uri="{FF2B5EF4-FFF2-40B4-BE49-F238E27FC236}">
                <a16:creationId xmlns:a16="http://schemas.microsoft.com/office/drawing/2014/main" id="{7CF59815-B20B-41F2-B8C8-02A64BB4781A}"/>
              </a:ext>
            </a:extLst>
          </p:cNvPr>
          <p:cNvSpPr>
            <a:spLocks noGrp="1"/>
          </p:cNvSpPr>
          <p:nvPr>
            <p:ph type="title" hasCustomPrompt="1"/>
          </p:nvPr>
        </p:nvSpPr>
        <p:spPr>
          <a:xfrm>
            <a:off x="228606" y="1179326"/>
            <a:ext cx="5444465" cy="3404221"/>
          </a:xfrm>
        </p:spPr>
        <p:txBody>
          <a:bodyPr anchor="t">
            <a:noAutofit/>
          </a:bodyPr>
          <a:lstStyle>
            <a:lvl1pPr algn="ctr">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Enter </a:t>
            </a:r>
            <a:br>
              <a:rPr lang="en-US" dirty="0"/>
            </a:br>
            <a:r>
              <a:rPr lang="en-US" dirty="0"/>
              <a:t>course title</a:t>
            </a:r>
          </a:p>
        </p:txBody>
      </p:sp>
      <p:sp>
        <p:nvSpPr>
          <p:cNvPr id="21" name="Training Begins">
            <a:extLst>
              <a:ext uri="{FF2B5EF4-FFF2-40B4-BE49-F238E27FC236}">
                <a16:creationId xmlns:a16="http://schemas.microsoft.com/office/drawing/2014/main" id="{D506D4EE-3DBD-4D77-AEE2-0FF7128DE4BD}"/>
              </a:ext>
            </a:extLst>
          </p:cNvPr>
          <p:cNvSpPr txBox="1"/>
          <p:nvPr/>
        </p:nvSpPr>
        <p:spPr>
          <a:xfrm>
            <a:off x="977546" y="4848827"/>
            <a:ext cx="3985386" cy="523220"/>
          </a:xfrm>
          <a:prstGeom prst="rect">
            <a:avLst/>
          </a:prstGeom>
          <a:noFill/>
        </p:spPr>
        <p:txBody>
          <a:bodyPr wrap="none" rtlCol="0">
            <a:spAutoFit/>
          </a:bodyPr>
          <a:lstStyle/>
          <a:p>
            <a:pPr algn="ctr"/>
            <a:r>
              <a:rPr lang="en-US" sz="28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This training will begin:</a:t>
            </a:r>
          </a:p>
        </p:txBody>
      </p:sp>
      <p:sp>
        <p:nvSpPr>
          <p:cNvPr id="3" name="TimeZone">
            <a:extLst>
              <a:ext uri="{FF2B5EF4-FFF2-40B4-BE49-F238E27FC236}">
                <a16:creationId xmlns:a16="http://schemas.microsoft.com/office/drawing/2014/main" id="{15FEBCEE-35B5-4CBC-BD60-FE197957D654}"/>
              </a:ext>
            </a:extLst>
          </p:cNvPr>
          <p:cNvSpPr>
            <a:spLocks noGrp="1"/>
          </p:cNvSpPr>
          <p:nvPr>
            <p:ph type="body" idx="1" hasCustomPrompt="1"/>
          </p:nvPr>
        </p:nvSpPr>
        <p:spPr>
          <a:xfrm>
            <a:off x="336114" y="5463827"/>
            <a:ext cx="5268251" cy="627245"/>
          </a:xfrm>
        </p:spPr>
        <p:txBody>
          <a:bodyPr anchor="t">
            <a:normAutofit/>
          </a:bodyPr>
          <a:lstStyle>
            <a:lvl1pPr marL="0" indent="0" algn="ctr">
              <a:buNone/>
              <a:defRPr sz="20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course start time and time zone</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4" hasCustomPrompt="1"/>
          </p:nvPr>
        </p:nvSpPr>
        <p:spPr>
          <a:xfrm>
            <a:off x="6122226" y="440360"/>
            <a:ext cx="1584325" cy="1581912"/>
          </a:xfrm>
        </p:spPr>
        <p:txBody>
          <a:bodyPr>
            <a:normAutofit/>
          </a:bodyPr>
          <a:lstStyle>
            <a:lvl1pPr marL="0" indent="0" algn="ctr">
              <a:buNone/>
              <a:defRPr sz="2000">
                <a:solidFill>
                  <a:schemeClr val="bg1"/>
                </a:solidFill>
              </a:defRPr>
            </a:lvl1pPr>
          </a:lstStyle>
          <a:p>
            <a:r>
              <a:rPr lang="en-US" dirty="0"/>
              <a:t>Instructor photo</a:t>
            </a:r>
          </a:p>
        </p:txBody>
      </p:sp>
      <p:sp>
        <p:nvSpPr>
          <p:cNvPr id="23" name="Instructor title">
            <a:extLst>
              <a:ext uri="{FF2B5EF4-FFF2-40B4-BE49-F238E27FC236}">
                <a16:creationId xmlns:a16="http://schemas.microsoft.com/office/drawing/2014/main" id="{1E89B15E-5A77-464A-BFA6-2416D1566FA9}"/>
              </a:ext>
            </a:extLst>
          </p:cNvPr>
          <p:cNvSpPr txBox="1"/>
          <p:nvPr/>
        </p:nvSpPr>
        <p:spPr>
          <a:xfrm>
            <a:off x="7715773" y="412928"/>
            <a:ext cx="3060453"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Your instructor is:</a:t>
            </a:r>
          </a:p>
        </p:txBody>
      </p:sp>
      <p:sp>
        <p:nvSpPr>
          <p:cNvPr id="7" name="Instructor Info">
            <a:extLst>
              <a:ext uri="{FF2B5EF4-FFF2-40B4-BE49-F238E27FC236}">
                <a16:creationId xmlns:a16="http://schemas.microsoft.com/office/drawing/2014/main" id="{09913C86-F9D2-40F4-BFE6-F0C9EF282B5E}"/>
              </a:ext>
            </a:extLst>
          </p:cNvPr>
          <p:cNvSpPr>
            <a:spLocks noGrp="1"/>
          </p:cNvSpPr>
          <p:nvPr>
            <p:ph type="body" idx="2" hasCustomPrompt="1"/>
          </p:nvPr>
        </p:nvSpPr>
        <p:spPr>
          <a:xfrm>
            <a:off x="7838662" y="1002529"/>
            <a:ext cx="4166263" cy="1021776"/>
          </a:xfrm>
        </p:spPr>
        <p:txBody>
          <a:bodyPr anchor="t">
            <a:normAutofit/>
          </a:bodyPr>
          <a:lstStyle>
            <a:lvl1pPr marL="0" indent="0" algn="l">
              <a:spcBef>
                <a:spcPts val="0"/>
              </a:spcBef>
              <a:spcAft>
                <a:spcPts val="0"/>
              </a:spcAft>
              <a:buNone/>
              <a:defRPr sz="20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24" name="Connection Title">
            <a:extLst>
              <a:ext uri="{FF2B5EF4-FFF2-40B4-BE49-F238E27FC236}">
                <a16:creationId xmlns:a16="http://schemas.microsoft.com/office/drawing/2014/main" id="{8EE8F574-4F92-4934-B4F0-90D055E5D8A2}"/>
              </a:ext>
            </a:extLst>
          </p:cNvPr>
          <p:cNvSpPr txBox="1"/>
          <p:nvPr/>
        </p:nvSpPr>
        <p:spPr>
          <a:xfrm>
            <a:off x="6447569" y="2330518"/>
            <a:ext cx="4328429"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Connect to the following:</a:t>
            </a:r>
          </a:p>
        </p:txBody>
      </p:sp>
      <p:sp>
        <p:nvSpPr>
          <p:cNvPr id="8" name="Resources">
            <a:extLst>
              <a:ext uri="{FF2B5EF4-FFF2-40B4-BE49-F238E27FC236}">
                <a16:creationId xmlns:a16="http://schemas.microsoft.com/office/drawing/2014/main" id="{B7141889-281C-44C1-8554-B9EEA8D5FF40}"/>
              </a:ext>
            </a:extLst>
          </p:cNvPr>
          <p:cNvSpPr>
            <a:spLocks noGrp="1"/>
          </p:cNvSpPr>
          <p:nvPr>
            <p:ph type="body" idx="3" hasCustomPrompt="1"/>
          </p:nvPr>
        </p:nvSpPr>
        <p:spPr>
          <a:xfrm>
            <a:off x="6095999" y="2920118"/>
            <a:ext cx="5908925" cy="3497521"/>
          </a:xfrm>
        </p:spPr>
        <p:txBody>
          <a:bodyPr anchor="t">
            <a:normAutofit/>
          </a:bodyPr>
          <a:lstStyle>
            <a:lvl1pPr marL="0" indent="0" algn="l">
              <a:spcBef>
                <a:spcPts val="0"/>
              </a:spcBef>
              <a:spcAft>
                <a:spcPts val="0"/>
              </a:spcAft>
              <a:buNone/>
              <a:defRPr sz="1800" baseline="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for </a:t>
            </a:r>
            <a:r>
              <a:rPr lang="en-US" dirty="0" err="1"/>
              <a:t>eVantage</a:t>
            </a:r>
            <a:r>
              <a:rPr lang="en-US" dirty="0"/>
              <a:t>, QwikLabs, and any other resources the student needs to have loaded</a:t>
            </a:r>
          </a:p>
        </p:txBody>
      </p:sp>
    </p:spTree>
    <p:custDataLst>
      <p:tags r:id="rId1"/>
    </p:custDataLst>
    <p:extLst>
      <p:ext uri="{BB962C8B-B14F-4D97-AF65-F5344CB8AC3E}">
        <p14:creationId xmlns:p14="http://schemas.microsoft.com/office/powerpoint/2010/main" val="1097160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ECE86FD8-F169-471F-88EA-8FF7FCC5008E}"/>
              </a:ext>
              <a:ext uri="{C183D7F6-B498-43B3-948B-1728B52AA6E4}">
                <adec:decorative xmlns:adec="http://schemas.microsoft.com/office/drawing/2017/decorative" val="1"/>
              </a:ext>
            </a:extLst>
          </p:cNvPr>
          <p:cNvGrpSpPr/>
          <p:nvPr/>
        </p:nvGrpSpPr>
        <p:grpSpPr>
          <a:xfrm>
            <a:off x="0" y="-1"/>
            <a:ext cx="12192000" cy="6858001"/>
            <a:chOff x="0" y="-1"/>
            <a:chExt cx="12192000" cy="6858001"/>
          </a:xfrm>
        </p:grpSpPr>
        <p:sp>
          <p:nvSpPr>
            <p:cNvPr id="89" name="BKG">
              <a:extLst>
                <a:ext uri="{FF2B5EF4-FFF2-40B4-BE49-F238E27FC236}">
                  <a16:creationId xmlns:a16="http://schemas.microsoft.com/office/drawing/2014/main" id="{027B77B7-F317-4AA6-A627-75F5AE2E7A5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7" name="CubeSide">
              <a:extLst>
                <a:ext uri="{FF2B5EF4-FFF2-40B4-BE49-F238E27FC236}">
                  <a16:creationId xmlns:a16="http://schemas.microsoft.com/office/drawing/2014/main" id="{30CD656D-5337-4244-BA3E-ABD963579911}"/>
                </a:ext>
                <a:ext uri="{C183D7F6-B498-43B3-948B-1728B52AA6E4}">
                  <adec:decorative xmlns:adec="http://schemas.microsoft.com/office/drawing/2017/decorative" val="1"/>
                </a:ext>
              </a:extLst>
            </p:cNvPr>
            <p:cNvSpPr/>
            <p:nvPr/>
          </p:nvSpPr>
          <p:spPr>
            <a:xfrm>
              <a:off x="5867400" y="0"/>
              <a:ext cx="2228850" cy="2295144"/>
            </a:xfrm>
            <a:custGeom>
              <a:avLst/>
              <a:gdLst>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2295144 h 2295144"/>
                <a:gd name="connsiteX4" fmla="*/ 0 w 2228850"/>
                <a:gd name="connsiteY4" fmla="*/ 0 h 2295144"/>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0 h 2295144"/>
              </a:gdLst>
              <a:ahLst/>
              <a:cxnLst>
                <a:cxn ang="0">
                  <a:pos x="connsiteX0" y="connsiteY0"/>
                </a:cxn>
                <a:cxn ang="0">
                  <a:pos x="connsiteX1" y="connsiteY1"/>
                </a:cxn>
                <a:cxn ang="0">
                  <a:pos x="connsiteX2" y="connsiteY2"/>
                </a:cxn>
                <a:cxn ang="0">
                  <a:pos x="connsiteX3" y="connsiteY3"/>
                </a:cxn>
              </a:cxnLst>
              <a:rect l="l" t="t" r="r" b="b"/>
              <a:pathLst>
                <a:path w="2228850" h="2295144">
                  <a:moveTo>
                    <a:pt x="0" y="0"/>
                  </a:moveTo>
                  <a:lnTo>
                    <a:pt x="2228850" y="0"/>
                  </a:lnTo>
                  <a:lnTo>
                    <a:pt x="2228850" y="229514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CubeFront">
              <a:extLst>
                <a:ext uri="{FF2B5EF4-FFF2-40B4-BE49-F238E27FC236}">
                  <a16:creationId xmlns:a16="http://schemas.microsoft.com/office/drawing/2014/main" id="{66A5F4A5-2CA3-4E34-97C1-74E113BA3D7E}"/>
                </a:ext>
                <a:ext uri="{C183D7F6-B498-43B3-948B-1728B52AA6E4}">
                  <adec:decorative xmlns:adec="http://schemas.microsoft.com/office/drawing/2017/decorative" val="1"/>
                </a:ext>
              </a:extLst>
            </p:cNvPr>
            <p:cNvSpPr/>
            <p:nvPr/>
          </p:nvSpPr>
          <p:spPr>
            <a:xfrm>
              <a:off x="8096250" y="-1"/>
              <a:ext cx="4095750" cy="22955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8" name="AWS Logo">
              <a:extLst>
                <a:ext uri="{FF2B5EF4-FFF2-40B4-BE49-F238E27FC236}">
                  <a16:creationId xmlns:a16="http://schemas.microsoft.com/office/drawing/2014/main" id="{961F7EBA-6264-4D1A-BA90-2C8A61C69B3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9"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69B11573-292E-4F55-A77E-C7F70767BE6A}"/>
              </a:ext>
            </a:extLst>
          </p:cNvPr>
          <p:cNvSpPr>
            <a:spLocks noGrp="1"/>
          </p:cNvSpPr>
          <p:nvPr>
            <p:ph type="title"/>
          </p:nvPr>
        </p:nvSpPr>
        <p:spPr>
          <a:xfrm>
            <a:off x="365760" y="2295144"/>
            <a:ext cx="11567160" cy="1481328"/>
          </a:xfrm>
        </p:spPr>
        <p:txBody>
          <a:bodyPr anchor="b">
            <a:normAutofit/>
          </a:bodyPr>
          <a:lstStyle>
            <a:lvl1pPr>
              <a:defRPr sz="4400">
                <a:solidFill>
                  <a:schemeClr val="bg2"/>
                </a:solidFill>
              </a:defRPr>
            </a:lvl1pPr>
          </a:lstStyle>
          <a:p>
            <a:r>
              <a:rPr lang="en-US"/>
              <a:t>Click to edit Master title style</a:t>
            </a:r>
            <a:endParaRPr lang="en-US" dirty="0"/>
          </a:p>
        </p:txBody>
      </p:sp>
      <p:sp>
        <p:nvSpPr>
          <p:cNvPr id="3" name="Subtitle">
            <a:extLst>
              <a:ext uri="{FF2B5EF4-FFF2-40B4-BE49-F238E27FC236}">
                <a16:creationId xmlns:a16="http://schemas.microsoft.com/office/drawing/2014/main" id="{4720F438-6999-4AEE-ABDC-CA4496A582B0}"/>
              </a:ext>
            </a:extLst>
          </p:cNvPr>
          <p:cNvSpPr>
            <a:spLocks noGrp="1"/>
          </p:cNvSpPr>
          <p:nvPr>
            <p:ph type="subTitle" idx="1" hasCustomPrompt="1"/>
          </p:nvPr>
        </p:nvSpPr>
        <p:spPr>
          <a:xfrm>
            <a:off x="365760" y="3803904"/>
            <a:ext cx="11567160" cy="2267712"/>
          </a:xfrm>
        </p:spPr>
        <p:txBody>
          <a:bodyPr>
            <a:noAutofit/>
          </a:bodyPr>
          <a:lstStyle>
            <a:lvl1pPr marL="0" indent="0">
              <a:buNone/>
              <a:defRPr sz="3200">
                <a:solidFill>
                  <a:schemeClr val="bg2"/>
                </a:solidFill>
              </a:defRPr>
            </a:lvl1pPr>
          </a:lstStyle>
          <a:p>
            <a:pPr lvl="0"/>
            <a:r>
              <a:rPr lang="en-US" dirty="0"/>
              <a:t>Type subtitle here</a:t>
            </a:r>
          </a:p>
        </p:txBody>
      </p:sp>
    </p:spTree>
    <p:custDataLst>
      <p:tags r:id="rId1"/>
    </p:custDataLst>
    <p:extLst>
      <p:ext uri="{BB962C8B-B14F-4D97-AF65-F5344CB8AC3E}">
        <p14:creationId xmlns:p14="http://schemas.microsoft.com/office/powerpoint/2010/main" val="166836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B3DCE0D-B1BB-4208-8FF4-6B7AC00DC28E}"/>
              </a:ext>
              <a:ext uri="{C183D7F6-B498-43B3-948B-1728B52AA6E4}">
                <adec:decorative xmlns:adec="http://schemas.microsoft.com/office/drawing/2017/decorative" val="1"/>
              </a:ext>
            </a:extLst>
          </p:cNvPr>
          <p:cNvGrpSpPr/>
          <p:nvPr/>
        </p:nvGrpSpPr>
        <p:grpSpPr>
          <a:xfrm>
            <a:off x="0" y="0"/>
            <a:ext cx="12192000" cy="6868287"/>
            <a:chOff x="0" y="0"/>
            <a:chExt cx="12192000" cy="6868287"/>
          </a:xfrm>
        </p:grpSpPr>
        <p:sp>
          <p:nvSpPr>
            <p:cNvPr id="92" name="BKG-TP">
              <a:extLst>
                <a:ext uri="{FF2B5EF4-FFF2-40B4-BE49-F238E27FC236}">
                  <a16:creationId xmlns:a16="http://schemas.microsoft.com/office/drawing/2014/main" id="{B149FB85-86EE-4435-AFFD-185416ABD0BC}"/>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F802EE88-1736-4DCA-8546-B833E1DC91F1}"/>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1909D555-A83A-43A3-ACF3-38A8D3D654E1}"/>
                </a:ext>
                <a:ext uri="{C183D7F6-B498-43B3-948B-1728B52AA6E4}">
                  <adec:decorative xmlns:adec="http://schemas.microsoft.com/office/drawing/2017/decorative" val="1"/>
                </a:ext>
              </a:extLst>
            </p:cNvPr>
            <p:cNvSpPr/>
            <p:nvPr/>
          </p:nvSpPr>
          <p:spPr>
            <a:xfrm>
              <a:off x="2552700" y="942975"/>
              <a:ext cx="9639300" cy="5925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F4EB4C23-6D3D-4AFD-8C20-ABBDE0E95555}"/>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10" name="Copyright">
              <a:extLst>
                <a:ext uri="{FF2B5EF4-FFF2-40B4-BE49-F238E27FC236}">
                  <a16:creationId xmlns:a16="http://schemas.microsoft.com/office/drawing/2014/main" id="{D18A8FFD-2A5D-4A49-85E4-97EFFB9C657F}"/>
                </a:ext>
              </a:extLst>
            </p:cNvPr>
            <p:cNvSpPr txBox="1"/>
            <p:nvPr/>
          </p:nvSpPr>
          <p:spPr>
            <a:xfrm>
              <a:off x="5039534" y="6568818"/>
              <a:ext cx="4659950" cy="261610"/>
            </a:xfrm>
            <a:prstGeom prst="rect">
              <a:avLst/>
            </a:prstGeom>
            <a:noFill/>
          </p:spPr>
          <p:txBody>
            <a:bodyPr wrap="square" rtlCol="0">
              <a:spAutoFit/>
            </a:bodyPr>
            <a:lstStyle/>
            <a:p>
              <a:pPr algn="ctr"/>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4033957-0EFE-4329-90FD-EA0B2493A7A5}"/>
              </a:ext>
            </a:extLst>
          </p:cNvPr>
          <p:cNvSpPr>
            <a:spLocks noGrp="1"/>
          </p:cNvSpPr>
          <p:nvPr>
            <p:ph type="ctrTitle" hasCustomPrompt="1"/>
          </p:nvPr>
        </p:nvSpPr>
        <p:spPr>
          <a:xfrm>
            <a:off x="2697480" y="1451250"/>
            <a:ext cx="9189490" cy="2325458"/>
          </a:xfrm>
        </p:spPr>
        <p:txBody>
          <a:bodyPr anchor="b"/>
          <a:lstStyle>
            <a:lvl1pPr algn="l">
              <a:lnSpc>
                <a:spcPct val="100000"/>
              </a:lnSpc>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3" name="Subtitle">
            <a:extLst>
              <a:ext uri="{FF2B5EF4-FFF2-40B4-BE49-F238E27FC236}">
                <a16:creationId xmlns:a16="http://schemas.microsoft.com/office/drawing/2014/main" id="{D880B134-6E98-45E8-A3FF-0D4A8170A59B}"/>
              </a:ext>
            </a:extLst>
          </p:cNvPr>
          <p:cNvSpPr>
            <a:spLocks noGrp="1"/>
          </p:cNvSpPr>
          <p:nvPr>
            <p:ph type="subTitle" idx="1" hasCustomPrompt="1"/>
          </p:nvPr>
        </p:nvSpPr>
        <p:spPr>
          <a:xfrm>
            <a:off x="2697480" y="3799920"/>
            <a:ext cx="9189490" cy="2325458"/>
          </a:xfrm>
        </p:spPr>
        <p:txBody>
          <a:bodyPr lIns="0"/>
          <a:lstStyle>
            <a:lvl1pPr marL="0" indent="0" algn="l">
              <a:lnSpc>
                <a:spcPct val="100000"/>
              </a:lnSpc>
              <a:buNone/>
              <a:defRPr sz="32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Tree>
    <p:custDataLst>
      <p:tags r:id="rId1"/>
    </p:custDataLst>
    <p:extLst>
      <p:ext uri="{BB962C8B-B14F-4D97-AF65-F5344CB8AC3E}">
        <p14:creationId xmlns:p14="http://schemas.microsoft.com/office/powerpoint/2010/main" val="1220641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60" y="366471"/>
            <a:ext cx="8768256"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60" y="2688190"/>
            <a:ext cx="8768256" cy="2098121"/>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grpSp>
        <p:nvGrpSpPr>
          <p:cNvPr id="12" name="Background">
            <a:extLst>
              <a:ext uri="{FF2B5EF4-FFF2-40B4-BE49-F238E27FC236}">
                <a16:creationId xmlns:a16="http://schemas.microsoft.com/office/drawing/2014/main" id="{08931424-66E6-477A-95D2-2C5E26F414C7}"/>
              </a:ext>
            </a:extLst>
          </p:cNvPr>
          <p:cNvGrpSpPr/>
          <p:nvPr/>
        </p:nvGrpSpPr>
        <p:grpSpPr>
          <a:xfrm>
            <a:off x="656659" y="-1"/>
            <a:ext cx="11535342" cy="6858001"/>
            <a:chOff x="656659" y="-1"/>
            <a:chExt cx="11535342" cy="6858001"/>
          </a:xfrm>
        </p:grpSpPr>
        <p:sp>
          <p:nvSpPr>
            <p:cNvPr id="14" name="CubeFront">
              <a:extLst>
                <a:ext uri="{FF2B5EF4-FFF2-40B4-BE49-F238E27FC236}">
                  <a16:creationId xmlns:a16="http://schemas.microsoft.com/office/drawing/2014/main" id="{1BDF6026-D674-4E63-8B3A-CBDFE9E787C1}"/>
                </a:ext>
                <a:ext uri="{C183D7F6-B498-43B3-948B-1728B52AA6E4}">
                  <adec:decorative xmlns:adec="http://schemas.microsoft.com/office/drawing/2017/decorative" val="1"/>
                </a:ext>
              </a:extLst>
            </p:cNvPr>
            <p:cNvSpPr/>
            <p:nvPr/>
          </p:nvSpPr>
          <p:spPr>
            <a:xfrm>
              <a:off x="672321" y="5917721"/>
              <a:ext cx="4282108" cy="9402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beTop">
              <a:extLst>
                <a:ext uri="{FF2B5EF4-FFF2-40B4-BE49-F238E27FC236}">
                  <a16:creationId xmlns:a16="http://schemas.microsoft.com/office/drawing/2014/main" id="{06BB4668-D264-4030-8700-4F9782A61534}"/>
                </a:ext>
                <a:ext uri="{C183D7F6-B498-43B3-948B-1728B52AA6E4}">
                  <adec:decorative xmlns:adec="http://schemas.microsoft.com/office/drawing/2017/decorative" val="1"/>
                </a:ext>
              </a:extLst>
            </p:cNvPr>
            <p:cNvSpPr/>
            <p:nvPr/>
          </p:nvSpPr>
          <p:spPr>
            <a:xfrm>
              <a:off x="656659" y="4071144"/>
              <a:ext cx="11535342" cy="2786856"/>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BKG-RT">
              <a:extLst>
                <a:ext uri="{FF2B5EF4-FFF2-40B4-BE49-F238E27FC236}">
                  <a16:creationId xmlns:a16="http://schemas.microsoft.com/office/drawing/2014/main" id="{8E17F594-599B-4FD9-8BCB-8E1C019CCB44}"/>
                </a:ext>
                <a:ext uri="{C183D7F6-B498-43B3-948B-1728B52AA6E4}">
                  <adec:decorative xmlns:adec="http://schemas.microsoft.com/office/drawing/2017/decorative" val="1"/>
                </a:ext>
              </a:extLst>
            </p:cNvPr>
            <p:cNvSpPr/>
            <p:nvPr/>
          </p:nvSpPr>
          <p:spPr>
            <a:xfrm>
              <a:off x="9175265" y="-1"/>
              <a:ext cx="3016735" cy="478631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0" y="393065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7" name="Icons">
              <a:extLst>
                <a:ext uri="{FF2B5EF4-FFF2-40B4-BE49-F238E27FC236}">
                  <a16:creationId xmlns:a16="http://schemas.microsoft.com/office/drawing/2014/main" id="{3826BD34-BA31-4D91-BFD2-6BBD94A51D24}"/>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tretch>
              <a:fillRect/>
            </a:stretch>
          </p:blipFill>
          <p:spPr>
            <a:xfrm>
              <a:off x="1017429" y="4011878"/>
              <a:ext cx="11174571" cy="2846121"/>
            </a:xfrm>
            <a:prstGeom prst="rect">
              <a:avLst/>
            </a:prstGeom>
          </p:spPr>
        </p:pic>
        <p:sp>
          <p:nvSpPr>
            <p:cNvPr id="18" name="CopyBackground">
              <a:extLst>
                <a:ext uri="{FF2B5EF4-FFF2-40B4-BE49-F238E27FC236}">
                  <a16:creationId xmlns:a16="http://schemas.microsoft.com/office/drawing/2014/main" id="{3994923B-6EFE-4BB7-A3B5-632436E91DB9}"/>
                </a:ext>
              </a:extLst>
            </p:cNvPr>
            <p:cNvSpPr/>
            <p:nvPr/>
          </p:nvSpPr>
          <p:spPr>
            <a:xfrm>
              <a:off x="7622849"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pyright">
              <a:extLst>
                <a:ext uri="{FF2B5EF4-FFF2-40B4-BE49-F238E27FC236}">
                  <a16:creationId xmlns:a16="http://schemas.microsoft.com/office/drawing/2014/main" id="{D87DDC37-6AB4-424A-BA07-3B0AF81A1053}"/>
                </a:ext>
              </a:extLst>
            </p:cNvPr>
            <p:cNvSpPr txBox="1"/>
            <p:nvPr/>
          </p:nvSpPr>
          <p:spPr>
            <a:xfrm>
              <a:off x="7538162" y="657989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Tree>
    <p:custDataLst>
      <p:tags r:id="rId1"/>
    </p:custDataLst>
    <p:extLst>
      <p:ext uri="{BB962C8B-B14F-4D97-AF65-F5344CB8AC3E}">
        <p14:creationId xmlns:p14="http://schemas.microsoft.com/office/powerpoint/2010/main" val="3167987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Variant">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D6A50E3-62DD-469F-A4B4-2DC279107EB8}"/>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1" name="BKG-BM">
              <a:extLst>
                <a:ext uri="{FF2B5EF4-FFF2-40B4-BE49-F238E27FC236}">
                  <a16:creationId xmlns:a16="http://schemas.microsoft.com/office/drawing/2014/main" id="{165087FF-D0AD-4AD7-B899-B2227A662904}"/>
                </a:ext>
                <a:ext uri="{C183D7F6-B498-43B3-948B-1728B52AA6E4}">
                  <adec:decorative xmlns:adec="http://schemas.microsoft.com/office/drawing/2017/decorative" val="1"/>
                </a:ext>
              </a:extLst>
            </p:cNvPr>
            <p:cNvSpPr/>
            <p:nvPr/>
          </p:nvSpPr>
          <p:spPr>
            <a:xfrm>
              <a:off x="0" y="5576341"/>
              <a:ext cx="11062270" cy="12816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81DABB71-298F-46E6-9028-558C99DF72DF}"/>
                </a:ext>
                <a:ext uri="{C183D7F6-B498-43B3-948B-1728B52AA6E4}">
                  <adec:decorative xmlns:adec="http://schemas.microsoft.com/office/drawing/2017/decorative" val="1"/>
                </a:ext>
              </a:extLst>
            </p:cNvPr>
            <p:cNvSpPr/>
            <p:nvPr/>
          </p:nvSpPr>
          <p:spPr>
            <a:xfrm>
              <a:off x="9669645" y="0"/>
              <a:ext cx="2522355" cy="143198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31FFCCD2-46F8-4A8C-9D8D-34F0218F69C7}"/>
                </a:ext>
                <a:ext uri="{C183D7F6-B498-43B3-948B-1728B52AA6E4}">
                  <adec:decorative xmlns:adec="http://schemas.microsoft.com/office/drawing/2017/decorative" val="1"/>
                </a:ext>
              </a:extLst>
            </p:cNvPr>
            <p:cNvSpPr/>
            <p:nvPr/>
          </p:nvSpPr>
          <p:spPr>
            <a:xfrm>
              <a:off x="9519222" y="0"/>
              <a:ext cx="1543050" cy="6858000"/>
            </a:xfrm>
            <a:custGeom>
              <a:avLst/>
              <a:gdLst>
                <a:gd name="connsiteX0" fmla="*/ 0 w 1533524"/>
                <a:gd name="connsiteY0" fmla="*/ 0 h 6858000"/>
                <a:gd name="connsiteX1" fmla="*/ 1533524 w 1533524"/>
                <a:gd name="connsiteY1" fmla="*/ 0 h 6858000"/>
                <a:gd name="connsiteX2" fmla="*/ 1533524 w 1533524"/>
                <a:gd name="connsiteY2" fmla="*/ 6858000 h 6858000"/>
                <a:gd name="connsiteX3" fmla="*/ 0 w 1533524"/>
                <a:gd name="connsiteY3" fmla="*/ 6858000 h 6858000"/>
                <a:gd name="connsiteX4" fmla="*/ 0 w 1533524"/>
                <a:gd name="connsiteY4" fmla="*/ 0 h 6858000"/>
                <a:gd name="connsiteX0" fmla="*/ 0 w 1533524"/>
                <a:gd name="connsiteY0" fmla="*/ 0 h 6858000"/>
                <a:gd name="connsiteX1" fmla="*/ 190500 w 1533524"/>
                <a:gd name="connsiteY1" fmla="*/ 0 h 6858000"/>
                <a:gd name="connsiteX2" fmla="*/ 1533524 w 1533524"/>
                <a:gd name="connsiteY2" fmla="*/ 0 h 6858000"/>
                <a:gd name="connsiteX3" fmla="*/ 1533524 w 1533524"/>
                <a:gd name="connsiteY3" fmla="*/ 6858000 h 6858000"/>
                <a:gd name="connsiteX4" fmla="*/ 0 w 1533524"/>
                <a:gd name="connsiteY4" fmla="*/ 6858000 h 6858000"/>
                <a:gd name="connsiteX5" fmla="*/ 0 w 1533524"/>
                <a:gd name="connsiteY5"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0 w 1533525"/>
                <a:gd name="connsiteY5" fmla="*/ 6858000 h 6858000"/>
                <a:gd name="connsiteX6" fmla="*/ 0 w 1533525"/>
                <a:gd name="connsiteY6"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1333500 w 1533525"/>
                <a:gd name="connsiteY5" fmla="*/ 6858000 h 6858000"/>
                <a:gd name="connsiteX6" fmla="*/ 0 w 1533525"/>
                <a:gd name="connsiteY6" fmla="*/ 6858000 h 6858000"/>
                <a:gd name="connsiteX7" fmla="*/ 0 w 1533525"/>
                <a:gd name="connsiteY7"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9525 w 1543050"/>
                <a:gd name="connsiteY6" fmla="*/ 6858000 h 6858000"/>
                <a:gd name="connsiteX7" fmla="*/ 0 w 1543050"/>
                <a:gd name="connsiteY7" fmla="*/ 5591175 h 6858000"/>
                <a:gd name="connsiteX8" fmla="*/ 9525 w 1543050"/>
                <a:gd name="connsiteY8"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0 w 1543050"/>
                <a:gd name="connsiteY6" fmla="*/ 5591175 h 6858000"/>
                <a:gd name="connsiteX7" fmla="*/ 9525 w 1543050"/>
                <a:gd name="connsiteY7" fmla="*/ 0 h 6858000"/>
                <a:gd name="connsiteX0" fmla="*/ 9525 w 1543050"/>
                <a:gd name="connsiteY0" fmla="*/ 0 h 6858000"/>
                <a:gd name="connsiteX1" fmla="*/ 200025 w 1543050"/>
                <a:gd name="connsiteY1" fmla="*/ 0 h 6858000"/>
                <a:gd name="connsiteX2" fmla="*/ 1543050 w 1543050"/>
                <a:gd name="connsiteY2" fmla="*/ 1343025 h 6858000"/>
                <a:gd name="connsiteX3" fmla="*/ 1543049 w 1543050"/>
                <a:gd name="connsiteY3" fmla="*/ 6858000 h 6858000"/>
                <a:gd name="connsiteX4" fmla="*/ 1343025 w 1543050"/>
                <a:gd name="connsiteY4" fmla="*/ 6858000 h 6858000"/>
                <a:gd name="connsiteX5" fmla="*/ 0 w 1543050"/>
                <a:gd name="connsiteY5" fmla="*/ 5591175 h 6858000"/>
                <a:gd name="connsiteX6" fmla="*/ 9525 w 154305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50" h="6858000">
                  <a:moveTo>
                    <a:pt x="9525" y="0"/>
                  </a:moveTo>
                  <a:lnTo>
                    <a:pt x="200025" y="0"/>
                  </a:lnTo>
                  <a:lnTo>
                    <a:pt x="1543050" y="1343025"/>
                  </a:lnTo>
                  <a:cubicBezTo>
                    <a:pt x="1543050" y="3181350"/>
                    <a:pt x="1543049" y="5019675"/>
                    <a:pt x="1543049" y="6858000"/>
                  </a:cubicBezTo>
                  <a:lnTo>
                    <a:pt x="1343025" y="6858000"/>
                  </a:lnTo>
                  <a:lnTo>
                    <a:pt x="0" y="5591175"/>
                  </a:lnTo>
                  <a:lnTo>
                    <a:pt x="952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7E222A23-E698-4993-93A7-9606CF977314}"/>
                </a:ext>
                <a:ext uri="{C183D7F6-B498-43B3-948B-1728B52AA6E4}">
                  <adec:decorative xmlns:adec="http://schemas.microsoft.com/office/drawing/2017/decorative" val="1"/>
                </a:ext>
              </a:extLst>
            </p:cNvPr>
            <p:cNvSpPr/>
            <p:nvPr/>
          </p:nvSpPr>
          <p:spPr>
            <a:xfrm>
              <a:off x="11062271" y="1339850"/>
              <a:ext cx="1129729" cy="551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2" name="Copyright">
              <a:extLst>
                <a:ext uri="{FF2B5EF4-FFF2-40B4-BE49-F238E27FC236}">
                  <a16:creationId xmlns:a16="http://schemas.microsoft.com/office/drawing/2014/main" id="{2BDDDA44-1049-4257-AA44-8A620E1B69F0}"/>
                </a:ext>
              </a:extLst>
            </p:cNvPr>
            <p:cNvSpPr txBox="1"/>
            <p:nvPr/>
          </p:nvSpPr>
          <p:spPr>
            <a:xfrm>
              <a:off x="342029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59" y="831163"/>
            <a:ext cx="9153461"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59" y="3152882"/>
            <a:ext cx="9153461" cy="2423459"/>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spTree>
    <p:custDataLst>
      <p:tags r:id="rId1"/>
    </p:custDataLst>
    <p:extLst>
      <p:ext uri="{BB962C8B-B14F-4D97-AF65-F5344CB8AC3E}">
        <p14:creationId xmlns:p14="http://schemas.microsoft.com/office/powerpoint/2010/main" val="38989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opic Introduction">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48DE57BE-35D1-43C9-81E8-26E8A5D23F6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243"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394931" y="2434960"/>
            <a:ext cx="36576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16136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b Introduction">
    <p:bg>
      <p:bgPr>
        <a:solidFill>
          <a:schemeClr val="bg1"/>
        </a:solidFill>
        <a:effectLst/>
      </p:bgPr>
    </p:bg>
    <p:spTree>
      <p:nvGrpSpPr>
        <p:cNvPr id="1" name=""/>
        <p:cNvGrpSpPr/>
        <p:nvPr/>
      </p:nvGrpSpPr>
      <p:grpSpPr>
        <a:xfrm>
          <a:off x="0" y="0"/>
          <a:ext cx="0" cy="0"/>
          <a:chOff x="0" y="0"/>
          <a:chExt cx="0" cy="0"/>
        </a:xfrm>
      </p:grpSpPr>
      <p:grpSp>
        <p:nvGrpSpPr>
          <p:cNvPr id="9" name="Background Images">
            <a:extLst>
              <a:ext uri="{FF2B5EF4-FFF2-40B4-BE49-F238E27FC236}">
                <a16:creationId xmlns:a16="http://schemas.microsoft.com/office/drawing/2014/main" id="{EF85A022-A363-4CD9-B810-5976000CBBC0}"/>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0" name="BKG-LT">
              <a:extLst>
                <a:ext uri="{FF2B5EF4-FFF2-40B4-BE49-F238E27FC236}">
                  <a16:creationId xmlns:a16="http://schemas.microsoft.com/office/drawing/2014/main" id="{2D6722E9-1C81-4073-B0F0-1BD01679C8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AWS Logo">
              <a:extLst>
                <a:ext uri="{FF2B5EF4-FFF2-40B4-BE49-F238E27FC236}">
                  <a16:creationId xmlns:a16="http://schemas.microsoft.com/office/drawing/2014/main" id="{E6ABDCA0-5043-47E4-83F1-F456F798534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3" name="Copyright">
              <a:extLst>
                <a:ext uri="{FF2B5EF4-FFF2-40B4-BE49-F238E27FC236}">
                  <a16:creationId xmlns:a16="http://schemas.microsoft.com/office/drawing/2014/main" id="{425BF081-3501-45D0-B151-25BF351B0599}"/>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549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Introduction">
    <p:bg>
      <p:bgPr>
        <a:solidFill>
          <a:schemeClr val="bg1"/>
        </a:solidFill>
        <a:effectLst/>
      </p:bgPr>
    </p:bg>
    <p:spTree>
      <p:nvGrpSpPr>
        <p:cNvPr id="1" name=""/>
        <p:cNvGrpSpPr/>
        <p:nvPr/>
      </p:nvGrpSpPr>
      <p:grpSpPr>
        <a:xfrm>
          <a:off x="0" y="0"/>
          <a:ext cx="0" cy="0"/>
          <a:chOff x="0" y="0"/>
          <a:chExt cx="0" cy="0"/>
        </a:xfrm>
      </p:grpSpPr>
      <p:grpSp>
        <p:nvGrpSpPr>
          <p:cNvPr id="10" name="Background Images">
            <a:extLst>
              <a:ext uri="{FF2B5EF4-FFF2-40B4-BE49-F238E27FC236}">
                <a16:creationId xmlns:a16="http://schemas.microsoft.com/office/drawing/2014/main" id="{F30563F4-C022-4AE5-AB0E-380E2398A61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2" name="BKG-LT">
              <a:extLst>
                <a:ext uri="{FF2B5EF4-FFF2-40B4-BE49-F238E27FC236}">
                  <a16:creationId xmlns:a16="http://schemas.microsoft.com/office/drawing/2014/main" id="{E69D2142-6967-490F-8396-213F1FEE99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WS Logo">
              <a:extLst>
                <a:ext uri="{FF2B5EF4-FFF2-40B4-BE49-F238E27FC236}">
                  <a16:creationId xmlns:a16="http://schemas.microsoft.com/office/drawing/2014/main" id="{9BFD0B48-1965-4206-B782-7E2FE7076B82}"/>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4" name="Copyright">
              <a:extLst>
                <a:ext uri="{FF2B5EF4-FFF2-40B4-BE49-F238E27FC236}">
                  <a16:creationId xmlns:a16="http://schemas.microsoft.com/office/drawing/2014/main" id="{D566E69F-D97F-48A7-90BB-52DA3859B7A7}"/>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8" name="Description">
            <a:extLst>
              <a:ext uri="{FF2B5EF4-FFF2-40B4-BE49-F238E27FC236}">
                <a16:creationId xmlns:a16="http://schemas.microsoft.com/office/drawing/2014/main" id="{AC3C5EEC-BB22-4195-B46B-9A90302F6B57}"/>
              </a:ext>
            </a:extLst>
          </p:cNvPr>
          <p:cNvSpPr>
            <a:spLocks noGrp="1"/>
          </p:cNvSpPr>
          <p:nvPr>
            <p:ph type="body" idx="2" hasCustomPrompt="1"/>
          </p:nvPr>
        </p:nvSpPr>
        <p:spPr>
          <a:xfrm>
            <a:off x="243681" y="2257424"/>
            <a:ext cx="3960813" cy="4177325"/>
          </a:xfrm>
        </p:spPr>
        <p:txBody>
          <a:bodyPr/>
          <a:lstStyle>
            <a:lvl1pPr marL="0" indent="0" algn="ctr">
              <a:buNone/>
              <a:defRPr>
                <a:solidFill>
                  <a:schemeClr val="bg1"/>
                </a:solidFill>
              </a:defRPr>
            </a:lvl1pPr>
          </a:lstStyle>
          <a:p>
            <a:r>
              <a:rPr lang="en-US" sz="2800" dirty="0"/>
              <a:t>Enter description</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74450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hank You">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A3DF3DE-0044-49A0-893D-4AE69524AE45}"/>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92" name="BKG-TP">
              <a:extLst>
                <a:ext uri="{FF2B5EF4-FFF2-40B4-BE49-F238E27FC236}">
                  <a16:creationId xmlns:a16="http://schemas.microsoft.com/office/drawing/2014/main" id="{80E539AA-5F27-4E27-A2EB-0002A460B024}"/>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0BD8C101-546C-4D96-9A74-D006A704F407}"/>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AEE440B8-B31E-487C-92A7-B1713A372E58}"/>
                </a:ext>
                <a:ext uri="{C183D7F6-B498-43B3-948B-1728B52AA6E4}">
                  <adec:decorative xmlns:adec="http://schemas.microsoft.com/office/drawing/2017/decorative" val="1"/>
                </a:ext>
              </a:extLst>
            </p:cNvPr>
            <p:cNvSpPr/>
            <p:nvPr/>
          </p:nvSpPr>
          <p:spPr>
            <a:xfrm>
              <a:off x="2552700" y="942975"/>
              <a:ext cx="9639300" cy="59150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7710" y="5789538"/>
              <a:ext cx="1097280" cy="656183"/>
            </a:xfrm>
            <a:prstGeom prst="rect">
              <a:avLst/>
            </a:prstGeom>
          </p:spPr>
        </p:pic>
        <p:sp>
          <p:nvSpPr>
            <p:cNvPr id="11" name="Copyright">
              <a:extLst>
                <a:ext uri="{FF2B5EF4-FFF2-40B4-BE49-F238E27FC236}">
                  <a16:creationId xmlns:a16="http://schemas.microsoft.com/office/drawing/2014/main" id="{DF9E4172-9EB6-4421-9EA3-78F3EDED9A1F}"/>
                </a:ext>
              </a:extLst>
            </p:cNvPr>
            <p:cNvSpPr txBox="1"/>
            <p:nvPr/>
          </p:nvSpPr>
          <p:spPr>
            <a:xfrm>
              <a:off x="506804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B23121D6-781A-4B6C-8D9B-3A8188A614AE}" type="slidenum">
              <a:rPr lang="en-US" smtClean="0"/>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2663862" y="1135062"/>
            <a:ext cx="9341063" cy="4049824"/>
          </a:xfrm>
        </p:spPr>
        <p:txBody>
          <a:bodyPr anchor="ctr"/>
          <a:lstStyle>
            <a:lvl1pPr>
              <a:defRPr sz="4400">
                <a:solidFill>
                  <a:schemeClr val="bg2"/>
                </a:solidFill>
              </a:defRPr>
            </a:lvl1pPr>
          </a:lstStyle>
          <a:p>
            <a:r>
              <a:rPr lang="en-US" dirty="0"/>
              <a:t>Thank you text</a:t>
            </a:r>
          </a:p>
        </p:txBody>
      </p:sp>
      <p:sp>
        <p:nvSpPr>
          <p:cNvPr id="5" name="Text Placeholder 4">
            <a:extLst>
              <a:ext uri="{FF2B5EF4-FFF2-40B4-BE49-F238E27FC236}">
                <a16:creationId xmlns:a16="http://schemas.microsoft.com/office/drawing/2014/main" id="{443878D9-CEC0-4A66-83CE-7ED3CE53FBDC}"/>
              </a:ext>
            </a:extLst>
          </p:cNvPr>
          <p:cNvSpPr>
            <a:spLocks noGrp="1"/>
          </p:cNvSpPr>
          <p:nvPr>
            <p:ph type="body" sz="quarter" idx="21"/>
          </p:nvPr>
        </p:nvSpPr>
        <p:spPr>
          <a:xfrm>
            <a:off x="2551176" y="5212080"/>
            <a:ext cx="9637776" cy="400110"/>
          </a:xfrm>
        </p:spPr>
        <p:txBody>
          <a:bodyPr>
            <a:spAutoFit/>
          </a:bodyPr>
          <a:lstStyle>
            <a:lvl1pPr marL="0" indent="0">
              <a:buNone/>
              <a:defRPr lang="en-US" sz="2000" kern="1200" dirty="0" smtClean="0">
                <a:solidFill>
                  <a:schemeClr val="bg2"/>
                </a:solidFill>
                <a:latin typeface="+mn-lt"/>
                <a:ea typeface="+mn-ea"/>
                <a:cs typeface="+mn-cs"/>
              </a:defRPr>
            </a:lvl1pPr>
            <a:lvl2pPr marL="227012" indent="0">
              <a:buNone/>
              <a:defRPr lang="en-US" sz="2000" kern="1200" dirty="0" smtClean="0">
                <a:solidFill>
                  <a:schemeClr val="bg2"/>
                </a:solidFill>
                <a:latin typeface="+mn-lt"/>
                <a:ea typeface="+mn-ea"/>
                <a:cs typeface="+mn-cs"/>
              </a:defRPr>
            </a:lvl2pPr>
            <a:lvl3pPr marL="455612" indent="0">
              <a:buNone/>
              <a:defRPr lang="en-US" sz="2000" kern="1200" dirty="0" smtClean="0">
                <a:solidFill>
                  <a:schemeClr val="bg2"/>
                </a:solidFill>
                <a:latin typeface="+mn-lt"/>
                <a:ea typeface="+mn-ea"/>
                <a:cs typeface="+mn-cs"/>
              </a:defRPr>
            </a:lvl3pPr>
            <a:lvl4pPr marL="684212" indent="0">
              <a:buNone/>
              <a:defRPr lang="en-US" sz="2000" kern="1200" dirty="0" smtClean="0">
                <a:solidFill>
                  <a:schemeClr val="bg2"/>
                </a:solidFill>
                <a:latin typeface="+mn-lt"/>
                <a:ea typeface="+mn-ea"/>
                <a:cs typeface="+mn-cs"/>
              </a:defRPr>
            </a:lvl4pPr>
            <a:lvl5pPr marL="912812" indent="0">
              <a:buNone/>
              <a:defRPr lang="en-US" sz="2000" kern="1200" dirty="0">
                <a:solidFill>
                  <a:schemeClr val="bg2"/>
                </a:solidFill>
                <a:latin typeface="+mn-lt"/>
                <a:ea typeface="+mn-ea"/>
                <a:cs typeface="+mn-cs"/>
              </a:defRPr>
            </a:lvl5pPr>
          </a:lstStyle>
          <a:p>
            <a:pPr lvl="0"/>
            <a:r>
              <a:rPr lang="en-US" dirty="0"/>
              <a:t>Edit Master text styles</a:t>
            </a:r>
          </a:p>
        </p:txBody>
      </p:sp>
    </p:spTree>
    <p:custDataLst>
      <p:tags r:id="rId1"/>
    </p:custDataLst>
    <p:extLst>
      <p:ext uri="{BB962C8B-B14F-4D97-AF65-F5344CB8AC3E}">
        <p14:creationId xmlns:p14="http://schemas.microsoft.com/office/powerpoint/2010/main" val="2330384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56064E0D-105A-4446-B967-229FA49D135D}"/>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08870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279CDF30-3118-4A2F-93E0-DACD532E91B1}"/>
                </a:ext>
                <a:ext uri="{C183D7F6-B498-43B3-948B-1728B52AA6E4}">
                  <adec:decorative xmlns:adec="http://schemas.microsoft.com/office/drawing/2017/decorative" val="1"/>
                </a:ext>
              </a:extLst>
            </p:cNvPr>
            <p:cNvSpPr/>
            <p:nvPr/>
          </p:nvSpPr>
          <p:spPr>
            <a:xfrm>
              <a:off x="0" y="4327524"/>
              <a:ext cx="1685925" cy="2530476"/>
            </a:xfrm>
            <a:custGeom>
              <a:avLst/>
              <a:gdLst>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0 h 2530475"/>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 name="connsiteX5" fmla="*/ 0 w 1685925"/>
                <a:gd name="connsiteY5" fmla="*/ 0 h 2530475"/>
                <a:gd name="connsiteX0" fmla="*/ 0 w 1685925"/>
                <a:gd name="connsiteY0" fmla="*/ 1673226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2530475">
                  <a:moveTo>
                    <a:pt x="0" y="1673226"/>
                  </a:moveTo>
                  <a:lnTo>
                    <a:pt x="1685925" y="0"/>
                  </a:lnTo>
                  <a:lnTo>
                    <a:pt x="1685925" y="2530475"/>
                  </a:lnTo>
                  <a:lnTo>
                    <a:pt x="0" y="2530475"/>
                  </a:lnTo>
                  <a:lnTo>
                    <a:pt x="0" y="167322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4E6250DE-D4BC-48A7-942E-7C927E2BAC70}"/>
                </a:ext>
                <a:ext uri="{C183D7F6-B498-43B3-948B-1728B52AA6E4}">
                  <adec:decorative xmlns:adec="http://schemas.microsoft.com/office/drawing/2017/decorative" val="1"/>
                </a:ext>
              </a:extLst>
            </p:cNvPr>
            <p:cNvSpPr/>
            <p:nvPr/>
          </p:nvSpPr>
          <p:spPr>
            <a:xfrm>
              <a:off x="1685544" y="4327525"/>
              <a:ext cx="10506456" cy="2530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88" name="Icons">
              <a:extLst>
                <a:ext uri="{FF2B5EF4-FFF2-40B4-BE49-F238E27FC236}">
                  <a16:creationId xmlns:a16="http://schemas.microsoft.com/office/drawing/2014/main" id="{2697E9D6-D133-4E57-BD63-82D9E5002F18}"/>
                </a:ext>
                <a:ext uri="{C183D7F6-B498-43B3-948B-1728B52AA6E4}">
                  <adec:decorative xmlns:adec="http://schemas.microsoft.com/office/drawing/2017/decorative" val="1"/>
                </a:ext>
              </a:extLst>
            </p:cNvPr>
            <p:cNvPicPr>
              <a:picLocks noChangeAspect="1"/>
            </p:cNvPicPr>
            <p:nvPr/>
          </p:nvPicPr>
          <p:blipFill rotWithShape="1">
            <a:blip r:embed="rId3" cstate="screen">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rcRect/>
            <a:stretch/>
          </p:blipFill>
          <p:spPr>
            <a:xfrm>
              <a:off x="1685544" y="4327524"/>
              <a:ext cx="10506456" cy="2530476"/>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3" name="CopyBackground">
              <a:extLst>
                <a:ext uri="{FF2B5EF4-FFF2-40B4-BE49-F238E27FC236}">
                  <a16:creationId xmlns:a16="http://schemas.microsoft.com/office/drawing/2014/main" id="{1A4014FF-ACF4-448A-8B91-F0495D354D3F}"/>
                </a:ext>
              </a:extLst>
            </p:cNvPr>
            <p:cNvSpPr/>
            <p:nvPr/>
          </p:nvSpPr>
          <p:spPr>
            <a:xfrm>
              <a:off x="4712264"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pyright">
              <a:extLst>
                <a:ext uri="{FF2B5EF4-FFF2-40B4-BE49-F238E27FC236}">
                  <a16:creationId xmlns:a16="http://schemas.microsoft.com/office/drawing/2014/main" id="{DFC9E3DE-5A7A-4B9A-94F3-0CC48D54301B}"/>
                </a:ext>
              </a:extLst>
            </p:cNvPr>
            <p:cNvSpPr txBox="1"/>
            <p:nvPr/>
          </p:nvSpPr>
          <p:spPr>
            <a:xfrm>
              <a:off x="4632211" y="657989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080843"/>
            <a:ext cx="10218737" cy="2081104"/>
          </a:xfrm>
        </p:spPr>
        <p:txBody>
          <a:bodyPr anchor="ctr"/>
          <a:lstStyle>
            <a:lvl1pPr>
              <a:defRPr sz="4400">
                <a:solidFill>
                  <a:schemeClr val="bg2"/>
                </a:solidFill>
              </a:defRPr>
            </a:lvl1pPr>
          </a:lstStyle>
          <a:p>
            <a:r>
              <a:rPr lang="en-US" dirty="0"/>
              <a:t>Thank you text</a:t>
            </a:r>
          </a:p>
        </p:txBody>
      </p:sp>
      <p:sp>
        <p:nvSpPr>
          <p:cNvPr id="7" name="Copyright">
            <a:extLst>
              <a:ext uri="{FF2B5EF4-FFF2-40B4-BE49-F238E27FC236}">
                <a16:creationId xmlns:a16="http://schemas.microsoft.com/office/drawing/2014/main" id="{9059CC6B-AB9C-4283-9882-8F50E8C832F7}"/>
              </a:ext>
            </a:extLst>
          </p:cNvPr>
          <p:cNvSpPr txBox="1"/>
          <p:nvPr/>
        </p:nvSpPr>
        <p:spPr>
          <a:xfrm>
            <a:off x="667750" y="3161947"/>
            <a:ext cx="10218737" cy="1154162"/>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sz="2300" dirty="0">
                <a:solidFill>
                  <a:schemeClr val="bg2"/>
                </a:solidFill>
              </a:rPr>
              <a:t>Corrections, feedback, or other questions? </a:t>
            </a:r>
            <a:br>
              <a:rPr lang="en-US" sz="2300" dirty="0">
                <a:solidFill>
                  <a:schemeClr val="bg2"/>
                </a:solidFill>
              </a:rPr>
            </a:br>
            <a:r>
              <a:rPr lang="en-US" sz="2300" dirty="0">
                <a:solidFill>
                  <a:schemeClr val="bg2"/>
                </a:solidFill>
              </a:rPr>
              <a:t>Contact us at </a:t>
            </a:r>
            <a:r>
              <a:rPr lang="en-US" sz="2300" u="sng" dirty="0">
                <a:solidFill>
                  <a:schemeClr val="bg2"/>
                </a:solidFill>
              </a:rPr>
              <a:t>https://support.aws.amazon.com/#/contacts/aws-training</a:t>
            </a:r>
            <a:r>
              <a:rPr lang="en-US" sz="2300" dirty="0">
                <a:solidFill>
                  <a:schemeClr val="bg2"/>
                </a:solidFill>
              </a:rPr>
              <a:t>. </a:t>
            </a:r>
            <a:br>
              <a:rPr lang="en-US" sz="2300" dirty="0">
                <a:solidFill>
                  <a:schemeClr val="bg2"/>
                </a:solidFill>
              </a:rPr>
            </a:br>
            <a:r>
              <a:rPr lang="en-US" sz="2300" dirty="0">
                <a:solidFill>
                  <a:schemeClr val="bg2"/>
                </a:solidFill>
              </a:rPr>
              <a:t>All trademarks are the property of their owners.</a:t>
            </a:r>
          </a:p>
        </p:txBody>
      </p:sp>
    </p:spTree>
    <p:custDataLst>
      <p:tags r:id="rId1"/>
    </p:custDataLst>
    <p:extLst>
      <p:ext uri="{BB962C8B-B14F-4D97-AF65-F5344CB8AC3E}">
        <p14:creationId xmlns:p14="http://schemas.microsoft.com/office/powerpoint/2010/main" val="392123623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C4FACA1-07DC-44B9-A79C-2B7C9D1B9221}"/>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CubeBack">
              <a:extLst>
                <a:ext uri="{FF2B5EF4-FFF2-40B4-BE49-F238E27FC236}">
                  <a16:creationId xmlns:a16="http://schemas.microsoft.com/office/drawing/2014/main" id="{9BA1593B-ADE5-482C-A193-F57F78F9B860}"/>
                </a:ext>
                <a:ext uri="{C183D7F6-B498-43B3-948B-1728B52AA6E4}">
                  <adec:decorative xmlns:adec="http://schemas.microsoft.com/office/drawing/2017/decorative" val="1"/>
                </a:ext>
              </a:extLst>
            </p:cNvPr>
            <p:cNvSpPr/>
            <p:nvPr/>
          </p:nvSpPr>
          <p:spPr>
            <a:xfrm>
              <a:off x="10547164" y="0"/>
              <a:ext cx="1644836" cy="516442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 name="connsiteX0" fmla="*/ 15888 w 3073872"/>
                <a:gd name="connsiteY0" fmla="*/ 0 h 4621213"/>
                <a:gd name="connsiteX1" fmla="*/ 3073414 w 3073872"/>
                <a:gd name="connsiteY1" fmla="*/ 0 h 4621213"/>
                <a:gd name="connsiteX2" fmla="*/ 3073414 w 3073872"/>
                <a:gd name="connsiteY2" fmla="*/ 4621213 h 4621213"/>
                <a:gd name="connsiteX3" fmla="*/ 0 w 3073872"/>
                <a:gd name="connsiteY3" fmla="*/ 4091237 h 4621213"/>
                <a:gd name="connsiteX4" fmla="*/ 15888 w 3073872"/>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7 w 3057984"/>
                <a:gd name="connsiteY3" fmla="*/ 4091237 h 4621213"/>
                <a:gd name="connsiteX4" fmla="*/ 0 w 3057984"/>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6 w 3057984"/>
                <a:gd name="connsiteY3" fmla="*/ 4114178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15886" y="4114178"/>
                  </a:lnTo>
                  <a:cubicBezTo>
                    <a:pt x="10590" y="2750432"/>
                    <a:pt x="5296" y="1363746"/>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6" name="CubeFront">
              <a:extLst>
                <a:ext uri="{FF2B5EF4-FFF2-40B4-BE49-F238E27FC236}">
                  <a16:creationId xmlns:a16="http://schemas.microsoft.com/office/drawing/2014/main" id="{A301667F-582A-4041-A2DA-F90362AE9A01}"/>
                </a:ext>
                <a:ext uri="{C183D7F6-B498-43B3-948B-1728B52AA6E4}">
                  <adec:decorative xmlns:adec="http://schemas.microsoft.com/office/drawing/2017/decorative" val="1"/>
                </a:ext>
              </a:extLst>
            </p:cNvPr>
            <p:cNvSpPr/>
            <p:nvPr/>
          </p:nvSpPr>
          <p:spPr>
            <a:xfrm>
              <a:off x="5944552" y="6094097"/>
              <a:ext cx="2303271" cy="7639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A99EDB1B-417F-40E6-B075-BDD46EDBA854}"/>
                </a:ext>
                <a:ext uri="{C183D7F6-B498-43B3-948B-1728B52AA6E4}">
                  <adec:decorative xmlns:adec="http://schemas.microsoft.com/office/drawing/2017/decorative" val="1"/>
                </a:ext>
              </a:extLst>
            </p:cNvPr>
            <p:cNvSpPr/>
            <p:nvPr/>
          </p:nvSpPr>
          <p:spPr>
            <a:xfrm>
              <a:off x="5942171" y="4579782"/>
              <a:ext cx="6249829" cy="2278218"/>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8" name="Icons">
              <a:extLst>
                <a:ext uri="{FF2B5EF4-FFF2-40B4-BE49-F238E27FC236}">
                  <a16:creationId xmlns:a16="http://schemas.microsoft.com/office/drawing/2014/main" id="{C128A75B-DB20-42AF-A3FD-12E5F3588AC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tretch>
              <a:fillRect/>
            </a:stretch>
          </p:blipFill>
          <p:spPr>
            <a:xfrm>
              <a:off x="6472238" y="4694373"/>
              <a:ext cx="5719762" cy="2163627"/>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4" name="Copyright">
              <a:extLst>
                <a:ext uri="{FF2B5EF4-FFF2-40B4-BE49-F238E27FC236}">
                  <a16:creationId xmlns:a16="http://schemas.microsoft.com/office/drawing/2014/main" id="{6EB207FF-A323-40B5-B33E-59E364A7955B}"/>
                </a:ext>
              </a:extLst>
            </p:cNvPr>
            <p:cNvSpPr txBox="1"/>
            <p:nvPr/>
          </p:nvSpPr>
          <p:spPr>
            <a:xfrm>
              <a:off x="991688" y="6466266"/>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614746"/>
            <a:ext cx="9341063" cy="2293938"/>
          </a:xfrm>
        </p:spPr>
        <p:txBody>
          <a:bodyPr anchor="ctr"/>
          <a:lstStyle>
            <a:lvl1pPr>
              <a:defRPr sz="4400">
                <a:solidFill>
                  <a:schemeClr val="bg2"/>
                </a:solidFill>
              </a:defRPr>
            </a:lvl1pPr>
          </a:lstStyle>
          <a:p>
            <a:r>
              <a:rPr lang="en-US" dirty="0"/>
              <a:t>“Enter quote here.”</a:t>
            </a:r>
          </a:p>
        </p:txBody>
      </p:sp>
      <p:sp>
        <p:nvSpPr>
          <p:cNvPr id="3" name="Quoted person">
            <a:extLst>
              <a:ext uri="{FF2B5EF4-FFF2-40B4-BE49-F238E27FC236}">
                <a16:creationId xmlns:a16="http://schemas.microsoft.com/office/drawing/2014/main" id="{D420CCBA-88E9-490C-9819-C37D7A79FC0E}"/>
              </a:ext>
            </a:extLst>
          </p:cNvPr>
          <p:cNvSpPr>
            <a:spLocks noGrp="1"/>
          </p:cNvSpPr>
          <p:nvPr>
            <p:ph type="subTitle" idx="14" hasCustomPrompt="1"/>
          </p:nvPr>
        </p:nvSpPr>
        <p:spPr>
          <a:xfrm>
            <a:off x="666271" y="3922297"/>
            <a:ext cx="9340846" cy="2171799"/>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nchor="t"/>
          <a:lstStyle>
            <a:lvl1pPr marL="0" indent="0">
              <a:buNone/>
              <a:defRPr sz="2400" b="0">
                <a:solidFill>
                  <a:schemeClr val="bg2"/>
                </a:solidFill>
              </a:defRPr>
            </a:lvl1pPr>
          </a:lstStyle>
          <a:p>
            <a:pPr lvl="0"/>
            <a:r>
              <a:rPr lang="en-US" dirty="0"/>
              <a:t>Enter quoted person’s name</a:t>
            </a:r>
          </a:p>
        </p:txBody>
      </p:sp>
    </p:spTree>
    <p:custDataLst>
      <p:tags r:id="rId1"/>
    </p:custDataLst>
    <p:extLst>
      <p:ext uri="{BB962C8B-B14F-4D97-AF65-F5344CB8AC3E}">
        <p14:creationId xmlns:p14="http://schemas.microsoft.com/office/powerpoint/2010/main" val="3014638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6413890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d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p:txBody>
          <a:bodyPr/>
          <a:lstStyle>
            <a:lvl1pPr>
              <a:defRPr/>
            </a:lvl1pPr>
          </a:lstStyle>
          <a:p>
            <a:r>
              <a:rPr lang="en-US" dirty="0"/>
              <a:t>Title and code</a:t>
            </a:r>
          </a:p>
        </p:txBody>
      </p:sp>
      <p:sp>
        <p:nvSpPr>
          <p:cNvPr id="7" name="Code">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1156970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3AAB48A-4CC9-410B-9FD0-0E32778B6BFF}"/>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1803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8240" y="2286000"/>
            <a:ext cx="2971800" cy="2971800"/>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393138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Placeholder 11">
            <a:extLst>
              <a:ext uri="{FF2B5EF4-FFF2-40B4-BE49-F238E27FC236}">
                <a16:creationId xmlns:a16="http://schemas.microsoft.com/office/drawing/2014/main" id="{A03FAA1E-A82F-4446-835A-A257B09471D5}"/>
              </a:ext>
            </a:extLst>
          </p:cNvPr>
          <p:cNvSpPr>
            <a:spLocks noGrp="1" noChangeAspect="1"/>
          </p:cNvSpPr>
          <p:nvPr>
            <p:ph type="pic" sz="quarter" idx="22" hasCustomPrompt="1"/>
          </p:nvPr>
        </p:nvSpPr>
        <p:spPr>
          <a:xfrm>
            <a:off x="9765792" y="1280160"/>
            <a:ext cx="1097280" cy="1097280"/>
          </a:xfrm>
        </p:spPr>
        <p:txBody>
          <a:bodyPr>
            <a:normAutofit/>
          </a:bodyPr>
          <a:lstStyle>
            <a:lvl1pPr marL="0" indent="0">
              <a:buNone/>
              <a:defRPr sz="1600"/>
            </a:lvl1pPr>
          </a:lstStyle>
          <a:p>
            <a:r>
              <a:rPr lang="en-US" dirty="0"/>
              <a:t>Service icon</a:t>
            </a:r>
          </a:p>
        </p:txBody>
      </p:sp>
      <p:sp>
        <p:nvSpPr>
          <p:cNvPr id="5" name="Text Placeholder 4">
            <a:extLst>
              <a:ext uri="{FF2B5EF4-FFF2-40B4-BE49-F238E27FC236}">
                <a16:creationId xmlns:a16="http://schemas.microsoft.com/office/drawing/2014/main" id="{68F19BB9-EC09-4DD0-97A5-BBF0110B770B}"/>
              </a:ext>
            </a:extLst>
          </p:cNvPr>
          <p:cNvSpPr>
            <a:spLocks noGrp="1"/>
          </p:cNvSpPr>
          <p:nvPr>
            <p:ph type="body" sz="quarter" idx="21" hasCustomPrompt="1"/>
          </p:nvPr>
        </p:nvSpPr>
        <p:spPr>
          <a:xfrm>
            <a:off x="9162288" y="2514600"/>
            <a:ext cx="2304288" cy="914400"/>
          </a:xfrm>
        </p:spPr>
        <p:txBody>
          <a:bodyPr>
            <a:noAutofit/>
          </a:bodyPr>
          <a:lstStyle>
            <a:lvl1pPr marL="0" indent="0" algn="ctr">
              <a:buNone/>
              <a:defRPr lang="en-US" sz="1800" dirty="0">
                <a:ea typeface="+mn-ea"/>
                <a:cs typeface="+mn-cs"/>
              </a:defRPr>
            </a:lvl1pPr>
          </a:lstStyle>
          <a:p>
            <a:pPr marL="230188" lvl="0" indent="-230188" algn="ctr"/>
            <a:r>
              <a:rPr lang="en-US" dirty="0"/>
              <a:t>Add service name here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29712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487257" cy="731318"/>
          </a:xfrm>
        </p:spPr>
        <p:txBody>
          <a:bodyPr/>
          <a:lstStyle>
            <a:lvl1pPr>
              <a:lnSpc>
                <a:spcPct val="100000"/>
              </a:lnSpc>
              <a:defRPr/>
            </a:lvl1pPr>
          </a:lstStyle>
          <a:p>
            <a:r>
              <a:rPr lang="en-US" dirty="0"/>
              <a:t>Title, header, text, and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3311"/>
            <a:ext cx="11487257"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830355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5263" y="2516806"/>
            <a:ext cx="2971800" cy="2971800"/>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20196102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rvice Introduction">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Service Introduction Slide</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184073" y="1143000"/>
            <a:ext cx="7750896" cy="5291750"/>
          </a:xfrm>
        </p:spPr>
        <p:txBody>
          <a:bodyPr anchor="ctr">
            <a:noAutofit/>
          </a:bodyPr>
          <a:lstStyle>
            <a:lvl1pPr>
              <a:lnSpc>
                <a:spcPct val="100000"/>
              </a:lnSpc>
              <a:spcAft>
                <a:spcPts val="600"/>
              </a:spcAft>
              <a:defRPr sz="3200">
                <a:solidFill>
                  <a:schemeClr val="tx2"/>
                </a:solidFill>
              </a:defRPr>
            </a:lvl1pPr>
            <a:lvl2pPr marL="461963" indent="-228600">
              <a:lnSpc>
                <a:spcPct val="100000"/>
              </a:lnSpc>
              <a:spcAft>
                <a:spcPts val="600"/>
              </a:spcAft>
              <a:defRPr sz="2800">
                <a:solidFill>
                  <a:schemeClr val="tx2"/>
                </a:solidFill>
              </a:defRPr>
            </a:lvl2pPr>
            <a:lvl3pPr marL="684213" indent="-228600">
              <a:lnSpc>
                <a:spcPct val="100000"/>
              </a:lnSpc>
              <a:spcAft>
                <a:spcPts val="600"/>
              </a:spcAft>
              <a:defRPr sz="2400">
                <a:solidFill>
                  <a:schemeClr val="tx2"/>
                </a:solidFill>
              </a:defRPr>
            </a:lvl3pPr>
            <a:lvl4pPr marL="914400" indent="-228600">
              <a:lnSpc>
                <a:spcPct val="100000"/>
              </a:lnSpc>
              <a:spcAft>
                <a:spcPts val="600"/>
              </a:spcAft>
              <a:defRPr sz="2000">
                <a:solidFill>
                  <a:schemeClr val="tx2"/>
                </a:solidFill>
              </a:defRPr>
            </a:lvl4pPr>
            <a:lvl5pPr marL="1144588" indent="-228600">
              <a:lnSpc>
                <a:spcPct val="100000"/>
              </a:lnSpc>
              <a:spcAft>
                <a:spcPts val="600"/>
              </a:spcAft>
              <a:defRPr sz="20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Picture Placeholder 4">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sz="quarter" idx="21"/>
          </p:nvPr>
        </p:nvSpPr>
        <p:spPr>
          <a:xfrm>
            <a:off x="896802" y="2618443"/>
            <a:ext cx="2340864" cy="2340864"/>
          </a:xfrm>
        </p:spPr>
        <p:txBody>
          <a:bodyPr anchor="ctr"/>
          <a:lstStyle>
            <a:lvl1pPr marL="0" indent="0" algn="ctr">
              <a:buNone/>
              <a:defRPr/>
            </a:lvl1pPr>
          </a:lstStyle>
          <a:p>
            <a:r>
              <a:rPr lang="en-US"/>
              <a:t>Click icon to add picture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32C43914-0D84-493F-9BEB-DF30C6FD4C97}"/>
              </a:ext>
              <a:ext uri="{C183D7F6-B498-43B3-948B-1728B52AA6E4}">
                <adec:decorative xmlns:adec="http://schemas.microsoft.com/office/drawing/2017/decorative" val="1"/>
              </a:ext>
            </a:extLst>
          </p:cNvPr>
          <p:cNvCxnSpPr/>
          <p:nvPr/>
        </p:nvCxnSpPr>
        <p:spPr>
          <a:xfrm>
            <a:off x="3732690" y="1239140"/>
            <a:ext cx="0" cy="5195610"/>
          </a:xfrm>
          <a:prstGeom prst="line">
            <a:avLst/>
          </a:prstGeom>
          <a:ln w="44450">
            <a:solidFill>
              <a:schemeClr val="hlink"/>
            </a:solidFill>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3127384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6265689"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692535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 uri="{C183D7F6-B498-43B3-948B-1728B52AA6E4}">
                <adec:decorative xmlns:adec="http://schemas.microsoft.com/office/drawing/2017/decorative" val="0"/>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code columns</a:t>
            </a:r>
          </a:p>
        </p:txBody>
      </p:sp>
      <p:sp>
        <p:nvSpPr>
          <p:cNvPr id="7" name="Code Left">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8" name="Code Right">
            <a:extLst>
              <a:ext uri="{FF2B5EF4-FFF2-40B4-BE49-F238E27FC236}">
                <a16:creationId xmlns:a16="http://schemas.microsoft.com/office/drawing/2014/main" id="{E8572E41-DF36-40C1-9453-10D94D9775B7}"/>
              </a:ext>
            </a:extLst>
          </p:cNvPr>
          <p:cNvSpPr>
            <a:spLocks noGrp="1"/>
          </p:cNvSpPr>
          <p:nvPr>
            <p:ph type="body" idx="2" hasCustomPrompt="1"/>
          </p:nvPr>
        </p:nvSpPr>
        <p:spPr>
          <a:xfrm>
            <a:off x="6265689"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839B152F-AE78-42AF-B8FB-09C753D41393}"/>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52271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1 Header,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1 header, and 2 text columns</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11569208"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2917229"/>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2 headers,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7321"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3189127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Header and Content Left, Full Height Pi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header, content, and full height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EEA0232A-1E36-4B66-8855-7774205AD335}"/>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idx="9" hasCustomPrompt="1"/>
          </p:nvPr>
        </p:nvSpPr>
        <p:spPr>
          <a:xfrm>
            <a:off x="6199632" y="1046819"/>
            <a:ext cx="5669280" cy="5387913"/>
          </a:xfrm>
        </p:spPr>
        <p:txBody>
          <a:bodyPr anchor="ctr"/>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8566184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2 pictures, 2 headers, and 2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noChangeAspect="1"/>
          </p:cNvSpPr>
          <p:nvPr>
            <p:ph idx="8" hasCustomPrompt="1"/>
          </p:nvPr>
        </p:nvSpPr>
        <p:spPr>
          <a:xfrm>
            <a:off x="2057400"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Righ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noChangeAspect="1"/>
          </p:cNvSpPr>
          <p:nvPr>
            <p:ph idx="9" hasCustomPrompt="1"/>
          </p:nvPr>
        </p:nvSpPr>
        <p:spPr>
          <a:xfrm>
            <a:off x="7891272"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9632"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9632"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012127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3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3 text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Middle">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2519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81381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849E56B7-246D-4386-B8C5-E253AD940C1B}"/>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31775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3 headers and 3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3455"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3455"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Right">
            <a:extLst>
              <a:ext uri="{FF2B5EF4-FFF2-40B4-BE49-F238E27FC236}">
                <a16:creationId xmlns:a16="http://schemas.microsoft.com/office/drawing/2014/main" id="{B3EBECE3-35F9-4AF4-A8A7-FD546C7C32D6}"/>
              </a:ext>
            </a:extLst>
          </p:cNvPr>
          <p:cNvSpPr>
            <a:spLocks noGrp="1"/>
          </p:cNvSpPr>
          <p:nvPr>
            <p:ph type="subTitle" idx="6" hasCustomPrompt="1"/>
          </p:nvPr>
        </p:nvSpPr>
        <p:spPr>
          <a:xfrm>
            <a:off x="814115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814115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4821907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3 Pictures,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3 picture3, 3 headers, and 3text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7" hasCustomPrompt="1"/>
          </p:nvPr>
        </p:nvSpPr>
        <p:spPr>
          <a:xfrm>
            <a:off x="10972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8" hasCustomPrompt="1"/>
          </p:nvPr>
        </p:nvSpPr>
        <p:spPr>
          <a:xfrm>
            <a:off x="49834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19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19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9" hasCustomPrompt="1"/>
          </p:nvPr>
        </p:nvSpPr>
        <p:spPr>
          <a:xfrm>
            <a:off x="88696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subTitle" idx="6" hasCustomPrompt="1"/>
          </p:nvPr>
        </p:nvSpPr>
        <p:spPr>
          <a:xfrm>
            <a:off x="81381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81381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44789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4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Center Lef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326567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Center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616559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0" name="Content Right">
            <a:extLst>
              <a:ext uri="{FF2B5EF4-FFF2-40B4-BE49-F238E27FC236}">
                <a16:creationId xmlns:a16="http://schemas.microsoft.com/office/drawing/2014/main" id="{BC11431A-8924-465C-98E0-6E4655C69AA7}"/>
              </a:ext>
            </a:extLst>
          </p:cNvPr>
          <p:cNvSpPr>
            <a:spLocks noGrp="1"/>
          </p:cNvSpPr>
          <p:nvPr>
            <p:ph type="body" idx="4" hasCustomPrompt="1"/>
          </p:nvPr>
        </p:nvSpPr>
        <p:spPr>
          <a:xfrm>
            <a:off x="906550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1BFB2E0D-B82D-49CC-9802-AFB8BA6D0938}"/>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9467740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1"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headers, and 4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Center Right">
            <a:extLst>
              <a:ext uri="{FF2B5EF4-FFF2-40B4-BE49-F238E27FC236}">
                <a16:creationId xmlns:a16="http://schemas.microsoft.com/office/drawing/2014/main" id="{B3EBECE3-35F9-4AF4-A8A7-FD546C7C32D6}"/>
              </a:ext>
            </a:extLst>
          </p:cNvPr>
          <p:cNvSpPr>
            <a:spLocks noGrp="1"/>
          </p:cNvSpPr>
          <p:nvPr>
            <p:ph type="subTitle" idx="7" hasCustomPrompt="1"/>
          </p:nvPr>
        </p:nvSpPr>
        <p:spPr>
          <a:xfrm>
            <a:off x="6163056"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6163056"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Content Header Right">
            <a:extLst>
              <a:ext uri="{FF2B5EF4-FFF2-40B4-BE49-F238E27FC236}">
                <a16:creationId xmlns:a16="http://schemas.microsoft.com/office/drawing/2014/main" id="{ED932AC6-C3A8-487A-A17E-48D0C368204C}"/>
              </a:ext>
            </a:extLst>
          </p:cNvPr>
          <p:cNvSpPr>
            <a:spLocks noGrp="1"/>
          </p:cNvSpPr>
          <p:nvPr>
            <p:ph type="subTitle" idx="8" hasCustomPrompt="1"/>
          </p:nvPr>
        </p:nvSpPr>
        <p:spPr>
          <a:xfrm>
            <a:off x="9061704"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7CF59EA0-9039-4A19-8197-DA073A0DB52B}"/>
              </a:ext>
            </a:extLst>
          </p:cNvPr>
          <p:cNvSpPr>
            <a:spLocks noGrp="1"/>
          </p:cNvSpPr>
          <p:nvPr>
            <p:ph type="body" idx="4" hasCustomPrompt="1"/>
          </p:nvPr>
        </p:nvSpPr>
        <p:spPr>
          <a:xfrm>
            <a:off x="9061704"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6169270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4 Large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large pictures, 4 headers, and 4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Content 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6163056"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Content 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528A167E-DBEB-4BD8-B32A-B1DBF78AA248}"/>
              </a:ext>
            </a:extLst>
          </p:cNvPr>
          <p:cNvSpPr>
            <a:spLocks noGrp="1"/>
          </p:cNvSpPr>
          <p:nvPr>
            <p:ph type="body" idx="4" hasCustomPrompt="1"/>
          </p:nvPr>
        </p:nvSpPr>
        <p:spPr>
          <a:xfrm>
            <a:off x="9061704"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26284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4 Small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Title, 4 small pictures, 4 headers, and 4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9" hasCustomPrompt="1"/>
          </p:nvPr>
        </p:nvSpPr>
        <p:spPr>
          <a:xfrm>
            <a:off x="97790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5" hasCustomPrompt="1"/>
          </p:nvPr>
        </p:nvSpPr>
        <p:spPr>
          <a:xfrm>
            <a:off x="365760"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0" hasCustomPrompt="1"/>
          </p:nvPr>
        </p:nvSpPr>
        <p:spPr>
          <a:xfrm>
            <a:off x="381254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6" hasCustomPrompt="1"/>
          </p:nvPr>
        </p:nvSpPr>
        <p:spPr>
          <a:xfrm>
            <a:off x="3264408"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1" hasCustomPrompt="1"/>
          </p:nvPr>
        </p:nvSpPr>
        <p:spPr>
          <a:xfrm>
            <a:off x="664718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7" hasCustomPrompt="1"/>
          </p:nvPr>
        </p:nvSpPr>
        <p:spPr>
          <a:xfrm>
            <a:off x="6163056"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12" hasCustomPrompt="1"/>
          </p:nvPr>
        </p:nvSpPr>
        <p:spPr>
          <a:xfrm>
            <a:off x="948182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8" hasCustomPrompt="1"/>
          </p:nvPr>
        </p:nvSpPr>
        <p:spPr>
          <a:xfrm>
            <a:off x="9061704"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5428753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4 Large Pictures,and 4 Header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large pictures, and 4 headers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163814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text box, 6 Pictures, and 6 Text Boxe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1 text box, 6 Images, and 6 text boxes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1560576" y="1334737"/>
            <a:ext cx="1828800" cy="1828800"/>
          </a:xfrm>
        </p:spPr>
        <p:txBody>
          <a:bodyPr anchor="t">
            <a:normAutofit/>
          </a:bodyPr>
          <a:lstStyle>
            <a:lvl1pPr marL="0" indent="0" algn="ctr">
              <a:buNone/>
              <a:defRPr sz="2400">
                <a:solidFill>
                  <a:schemeClr val="tx2"/>
                </a:solidFill>
              </a:defRPr>
            </a:lvl1pPr>
          </a:lstStyle>
          <a:p>
            <a:r>
              <a:rPr lang="en-US" dirty="0"/>
              <a:t>Click icon to add image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783336"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5306568"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4529328"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9064752"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8287512"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1560576"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783336"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5306568"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4529328"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9064752"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8287512"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618213"/>
      </p:ext>
    </p:extLst>
  </p:cSld>
  <p:clrMapOvr>
    <a:masterClrMapping/>
  </p:clrMapOvr>
  <p:hf hdr="0" ftr="0" dt="0"/>
  <p:extLst>
    <p:ext uri="{DCECCB84-F9BA-43D5-87BE-67443E8EF086}">
      <p15:sldGuideLst xmlns:p15="http://schemas.microsoft.com/office/powerpoint/2012/main">
        <p15:guide id="2" orient="horz" pos="10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8 Small Pictures, 8 Headers, and 8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Title, 8 pictures, 8 headers, and 8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365760"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9" hasCustomPrompt="1"/>
          </p:nvPr>
        </p:nvSpPr>
        <p:spPr>
          <a:xfrm>
            <a:off x="365760"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3264408"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10" hasCustomPrompt="1"/>
          </p:nvPr>
        </p:nvSpPr>
        <p:spPr>
          <a:xfrm>
            <a:off x="3264408"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6163056"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11" hasCustomPrompt="1"/>
          </p:nvPr>
        </p:nvSpPr>
        <p:spPr>
          <a:xfrm>
            <a:off x="6163056"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9061704"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12" hasCustomPrompt="1"/>
          </p:nvPr>
        </p:nvSpPr>
        <p:spPr>
          <a:xfrm>
            <a:off x="9061704"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365760"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1" name="Content Header 5">
            <a:extLst>
              <a:ext uri="{FF2B5EF4-FFF2-40B4-BE49-F238E27FC236}">
                <a16:creationId xmlns:a16="http://schemas.microsoft.com/office/drawing/2014/main" id="{E8024806-5459-4580-AA84-DFE98F18A5A3}"/>
              </a:ext>
            </a:extLst>
          </p:cNvPr>
          <p:cNvSpPr>
            <a:spLocks noGrp="1"/>
          </p:cNvSpPr>
          <p:nvPr>
            <p:ph type="subTitle" idx="13" hasCustomPrompt="1"/>
          </p:nvPr>
        </p:nvSpPr>
        <p:spPr>
          <a:xfrm>
            <a:off x="365760"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365760"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3264408"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4" name="Content Header 6">
            <a:extLst>
              <a:ext uri="{FF2B5EF4-FFF2-40B4-BE49-F238E27FC236}">
                <a16:creationId xmlns:a16="http://schemas.microsoft.com/office/drawing/2014/main" id="{484800A7-DA7A-48C2-BD82-C01F6FD9DB3E}"/>
              </a:ext>
            </a:extLst>
          </p:cNvPr>
          <p:cNvSpPr>
            <a:spLocks noGrp="1"/>
          </p:cNvSpPr>
          <p:nvPr>
            <p:ph type="subTitle" idx="14" hasCustomPrompt="1"/>
          </p:nvPr>
        </p:nvSpPr>
        <p:spPr>
          <a:xfrm>
            <a:off x="3264408"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3264408"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6" name="Picture 7">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idx="23" hasCustomPrompt="1"/>
          </p:nvPr>
        </p:nvSpPr>
        <p:spPr>
          <a:xfrm>
            <a:off x="6163056"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7" name="Content Header 7">
            <a:extLst>
              <a:ext uri="{FF2B5EF4-FFF2-40B4-BE49-F238E27FC236}">
                <a16:creationId xmlns:a16="http://schemas.microsoft.com/office/drawing/2014/main" id="{706046A5-A656-4648-BD39-64FA5E94B613}"/>
              </a:ext>
            </a:extLst>
          </p:cNvPr>
          <p:cNvSpPr>
            <a:spLocks noGrp="1"/>
          </p:cNvSpPr>
          <p:nvPr>
            <p:ph type="subTitle" idx="15" hasCustomPrompt="1"/>
          </p:nvPr>
        </p:nvSpPr>
        <p:spPr>
          <a:xfrm>
            <a:off x="6163056"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8" name="Content 7">
            <a:extLst>
              <a:ext uri="{FF2B5EF4-FFF2-40B4-BE49-F238E27FC236}">
                <a16:creationId xmlns:a16="http://schemas.microsoft.com/office/drawing/2014/main" id="{9B368858-C97D-421E-8EFA-7300741447EE}"/>
              </a:ext>
            </a:extLst>
          </p:cNvPr>
          <p:cNvSpPr>
            <a:spLocks noGrp="1"/>
          </p:cNvSpPr>
          <p:nvPr>
            <p:ph type="body" idx="7" hasCustomPrompt="1"/>
          </p:nvPr>
        </p:nvSpPr>
        <p:spPr>
          <a:xfrm>
            <a:off x="6163056"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9" name="Picture 8">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idx="24" hasCustomPrompt="1"/>
          </p:nvPr>
        </p:nvSpPr>
        <p:spPr>
          <a:xfrm>
            <a:off x="9061704" y="3814574"/>
            <a:ext cx="2834640" cy="1648911"/>
          </a:xfrm>
        </p:spPr>
        <p:txBody>
          <a:bodyPr anchor="t"/>
          <a:lstStyle>
            <a:lvl1pPr marL="0" indent="0" algn="ctr">
              <a:buNone/>
              <a:defRPr sz="3200">
                <a:solidFill>
                  <a:schemeClr val="tx2"/>
                </a:solidFill>
              </a:defRPr>
            </a:lvl1pPr>
          </a:lstStyle>
          <a:p>
            <a:r>
              <a:rPr lang="en-US" dirty="0"/>
              <a:t>Click icon to add image</a:t>
            </a:r>
          </a:p>
        </p:txBody>
      </p:sp>
      <p:sp>
        <p:nvSpPr>
          <p:cNvPr id="40" name="Content Header 8">
            <a:extLst>
              <a:ext uri="{FF2B5EF4-FFF2-40B4-BE49-F238E27FC236}">
                <a16:creationId xmlns:a16="http://schemas.microsoft.com/office/drawing/2014/main" id="{DE6244C7-6311-4CE0-AB72-2F6B429380EE}"/>
              </a:ext>
            </a:extLst>
          </p:cNvPr>
          <p:cNvSpPr>
            <a:spLocks noGrp="1"/>
          </p:cNvSpPr>
          <p:nvPr>
            <p:ph type="subTitle" idx="16" hasCustomPrompt="1"/>
          </p:nvPr>
        </p:nvSpPr>
        <p:spPr>
          <a:xfrm>
            <a:off x="9061704"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1" name="Content 8">
            <a:extLst>
              <a:ext uri="{FF2B5EF4-FFF2-40B4-BE49-F238E27FC236}">
                <a16:creationId xmlns:a16="http://schemas.microsoft.com/office/drawing/2014/main" id="{FD06B556-F6DC-4CCE-8B02-F0089954096F}"/>
              </a:ext>
            </a:extLst>
          </p:cNvPr>
          <p:cNvSpPr>
            <a:spLocks noGrp="1"/>
          </p:cNvSpPr>
          <p:nvPr>
            <p:ph type="body" idx="8" hasCustomPrompt="1"/>
          </p:nvPr>
        </p:nvSpPr>
        <p:spPr>
          <a:xfrm>
            <a:off x="9061704"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3130084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le and Gallar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lvl1pPr>
          </a:lstStyle>
          <a:p>
            <a:r>
              <a:rPr lang="en-US" dirty="0"/>
              <a:t>Title and 8 pictures</a:t>
            </a:r>
          </a:p>
        </p:txBody>
      </p:sp>
      <p:sp>
        <p:nvSpPr>
          <p:cNvPr id="11" name="Picture 1">
            <a:extLst>
              <a:ext uri="{FF2B5EF4-FFF2-40B4-BE49-F238E27FC236}">
                <a16:creationId xmlns:a16="http://schemas.microsoft.com/office/drawing/2014/main" id="{01E0569B-0304-4CF2-95FE-74EEAC9AEC38}"/>
              </a:ext>
            </a:extLst>
          </p:cNvPr>
          <p:cNvSpPr>
            <a:spLocks noGrp="1"/>
          </p:cNvSpPr>
          <p:nvPr>
            <p:ph idx="1" hasCustomPrompt="1"/>
          </p:nvPr>
        </p:nvSpPr>
        <p:spPr>
          <a:xfrm>
            <a:off x="45122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2" name="Picture 2">
            <a:extLst>
              <a:ext uri="{FF2B5EF4-FFF2-40B4-BE49-F238E27FC236}">
                <a16:creationId xmlns:a16="http://schemas.microsoft.com/office/drawing/2014/main" id="{4E39BCC2-7E6B-49A6-88A7-4389D0876599}"/>
              </a:ext>
            </a:extLst>
          </p:cNvPr>
          <p:cNvSpPr>
            <a:spLocks noGrp="1"/>
          </p:cNvSpPr>
          <p:nvPr>
            <p:ph idx="2" hasCustomPrompt="1"/>
          </p:nvPr>
        </p:nvSpPr>
        <p:spPr>
          <a:xfrm>
            <a:off x="3348813"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3" name="Picture 3">
            <a:extLst>
              <a:ext uri="{FF2B5EF4-FFF2-40B4-BE49-F238E27FC236}">
                <a16:creationId xmlns:a16="http://schemas.microsoft.com/office/drawing/2014/main" id="{292A7B23-5883-4A03-AA9E-D7887267A0B5}"/>
              </a:ext>
            </a:extLst>
          </p:cNvPr>
          <p:cNvSpPr>
            <a:spLocks noGrp="1"/>
          </p:cNvSpPr>
          <p:nvPr>
            <p:ph idx="3" hasCustomPrompt="1"/>
          </p:nvPr>
        </p:nvSpPr>
        <p:spPr>
          <a:xfrm>
            <a:off x="6246406"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4" name="Picture 4">
            <a:extLst>
              <a:ext uri="{FF2B5EF4-FFF2-40B4-BE49-F238E27FC236}">
                <a16:creationId xmlns:a16="http://schemas.microsoft.com/office/drawing/2014/main" id="{871FBC72-3D16-49CE-BD02-AD416196D37A}"/>
              </a:ext>
            </a:extLst>
          </p:cNvPr>
          <p:cNvSpPr>
            <a:spLocks noGrp="1"/>
          </p:cNvSpPr>
          <p:nvPr>
            <p:ph idx="4" hasCustomPrompt="1"/>
          </p:nvPr>
        </p:nvSpPr>
        <p:spPr>
          <a:xfrm>
            <a:off x="914400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5" name="Picture 5">
            <a:extLst>
              <a:ext uri="{FF2B5EF4-FFF2-40B4-BE49-F238E27FC236}">
                <a16:creationId xmlns:a16="http://schemas.microsoft.com/office/drawing/2014/main" id="{CCC335E7-FA18-44DB-ACBC-F2DABE9FB384}"/>
              </a:ext>
            </a:extLst>
          </p:cNvPr>
          <p:cNvSpPr>
            <a:spLocks noGrp="1"/>
          </p:cNvSpPr>
          <p:nvPr>
            <p:ph idx="5" hasCustomPrompt="1"/>
          </p:nvPr>
        </p:nvSpPr>
        <p:spPr>
          <a:xfrm>
            <a:off x="45122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6" name="Picture 6">
            <a:extLst>
              <a:ext uri="{FF2B5EF4-FFF2-40B4-BE49-F238E27FC236}">
                <a16:creationId xmlns:a16="http://schemas.microsoft.com/office/drawing/2014/main" id="{BB740650-61A2-4FDC-8700-54D96F01FF5A}"/>
              </a:ext>
            </a:extLst>
          </p:cNvPr>
          <p:cNvSpPr>
            <a:spLocks noGrp="1"/>
          </p:cNvSpPr>
          <p:nvPr>
            <p:ph idx="6" hasCustomPrompt="1"/>
          </p:nvPr>
        </p:nvSpPr>
        <p:spPr>
          <a:xfrm>
            <a:off x="3348813"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7" name="Picture 7">
            <a:extLst>
              <a:ext uri="{FF2B5EF4-FFF2-40B4-BE49-F238E27FC236}">
                <a16:creationId xmlns:a16="http://schemas.microsoft.com/office/drawing/2014/main" id="{CA951A10-B648-4F4E-87FD-97FD8FEB4106}"/>
              </a:ext>
            </a:extLst>
          </p:cNvPr>
          <p:cNvSpPr>
            <a:spLocks noGrp="1"/>
          </p:cNvSpPr>
          <p:nvPr>
            <p:ph idx="7" hasCustomPrompt="1"/>
          </p:nvPr>
        </p:nvSpPr>
        <p:spPr>
          <a:xfrm>
            <a:off x="6246406"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8" name="Picture 8">
            <a:extLst>
              <a:ext uri="{FF2B5EF4-FFF2-40B4-BE49-F238E27FC236}">
                <a16:creationId xmlns:a16="http://schemas.microsoft.com/office/drawing/2014/main" id="{1F4C4007-9EA0-4D1F-938D-A38B105119E9}"/>
              </a:ext>
            </a:extLst>
          </p:cNvPr>
          <p:cNvSpPr>
            <a:spLocks noGrp="1"/>
          </p:cNvSpPr>
          <p:nvPr>
            <p:ph idx="8" hasCustomPrompt="1"/>
          </p:nvPr>
        </p:nvSpPr>
        <p:spPr>
          <a:xfrm>
            <a:off x="914400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61730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
        <p:nvSpPr>
          <p:cNvPr id="19" name="Title Border">
            <a:extLst>
              <a:ext uri="{FF2B5EF4-FFF2-40B4-BE49-F238E27FC236}">
                <a16:creationId xmlns:a16="http://schemas.microsoft.com/office/drawing/2014/main" id="{5C923B7C-0930-466B-9A4C-4F269F22E021}"/>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972315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Only Blank">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blank layout</a:t>
            </a:r>
          </a:p>
        </p:txBody>
      </p:sp>
    </p:spTree>
    <p:custDataLst>
      <p:tags r:id="rId1"/>
    </p:custDataLst>
    <p:extLst>
      <p:ext uri="{BB962C8B-B14F-4D97-AF65-F5344CB8AC3E}">
        <p14:creationId xmlns:p14="http://schemas.microsoft.com/office/powerpoint/2010/main" val="30636064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299526"/>
            <a:ext cx="11569209" cy="289591"/>
          </a:xfrm>
        </p:spPr>
        <p:txBody>
          <a:bodyPr>
            <a:normAutofit/>
          </a:bodyPr>
          <a:lstStyle>
            <a:lvl1pPr>
              <a:defRPr sz="1600"/>
            </a:lvl1pPr>
          </a:lstStyle>
          <a:p>
            <a:r>
              <a:rPr lang="en-US" dirty="0"/>
              <a:t>Architecture layout</a:t>
            </a:r>
          </a:p>
        </p:txBody>
      </p:sp>
    </p:spTree>
    <p:custDataLst>
      <p:tags r:id="rId1"/>
    </p:custDataLst>
    <p:extLst>
      <p:ext uri="{BB962C8B-B14F-4D97-AF65-F5344CB8AC3E}">
        <p14:creationId xmlns:p14="http://schemas.microsoft.com/office/powerpoint/2010/main" val="11707173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0" y="154244"/>
            <a:ext cx="12192000" cy="289591"/>
          </a:xfrm>
        </p:spPr>
        <p:txBody>
          <a:bodyPr>
            <a:normAutofit/>
          </a:bodyPr>
          <a:lstStyle>
            <a:lvl1pPr marL="228600">
              <a:defRPr sz="1600"/>
            </a:lvl1pPr>
          </a:lstStyle>
          <a:p>
            <a:r>
              <a:rPr lang="en-US" dirty="0"/>
              <a:t>Full Image layout</a:t>
            </a:r>
          </a:p>
        </p:txBody>
      </p:sp>
      <p:sp>
        <p:nvSpPr>
          <p:cNvPr id="11" name="Picture">
            <a:extLst>
              <a:ext uri="{FF2B5EF4-FFF2-40B4-BE49-F238E27FC236}">
                <a16:creationId xmlns:a16="http://schemas.microsoft.com/office/drawing/2014/main" id="{3725AF1B-6140-4505-81CD-922F8227415C}"/>
              </a:ext>
            </a:extLst>
          </p:cNvPr>
          <p:cNvSpPr>
            <a:spLocks noGrp="1"/>
          </p:cNvSpPr>
          <p:nvPr>
            <p:ph sz="quarter" idx="11" hasCustomPrompt="1"/>
          </p:nvPr>
        </p:nvSpPr>
        <p:spPr>
          <a:xfrm>
            <a:off x="0" y="444499"/>
            <a:ext cx="12192000" cy="5979265"/>
          </a:xfrm>
        </p:spPr>
        <p:txBody>
          <a:bodyPr anchor="ctr">
            <a:normAutofit/>
          </a:bodyPr>
          <a:lstStyle>
            <a:lvl1pPr marL="0" indent="0" algn="ctr">
              <a:buNone/>
              <a:defRPr sz="3600"/>
            </a:lvl1pPr>
          </a:lstStyle>
          <a:p>
            <a:r>
              <a:rPr lang="en-US" dirty="0"/>
              <a:t>Click icon to add image</a:t>
            </a:r>
          </a:p>
        </p:txBody>
      </p:sp>
    </p:spTree>
    <p:custDataLst>
      <p:tags r:id="rId1"/>
    </p:custDataLst>
    <p:extLst>
      <p:ext uri="{BB962C8B-B14F-4D97-AF65-F5344CB8AC3E}">
        <p14:creationId xmlns:p14="http://schemas.microsoft.com/office/powerpoint/2010/main" val="1263127036"/>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KC-Vertical-Question">
    <p:bg>
      <p:bgPr>
        <a:solidFill>
          <a:schemeClr val="bg1"/>
        </a:solidFill>
        <a:effectLst/>
      </p:bgPr>
    </p:bg>
    <p:spTree>
      <p:nvGrpSpPr>
        <p:cNvPr id="1" name=""/>
        <p:cNvGrpSpPr/>
        <p:nvPr/>
      </p:nvGrpSpPr>
      <p:grpSpPr>
        <a:xfrm>
          <a:off x="0" y="0"/>
          <a:ext cx="0" cy="0"/>
          <a:chOff x="0" y="0"/>
          <a:chExt cx="0" cy="0"/>
        </a:xfrm>
      </p:grpSpPr>
      <p:grpSp>
        <p:nvGrpSpPr>
          <p:cNvPr id="24" name="Background Images">
            <a:extLst>
              <a:ext uri="{FF2B5EF4-FFF2-40B4-BE49-F238E27FC236}">
                <a16:creationId xmlns:a16="http://schemas.microsoft.com/office/drawing/2014/main" id="{EE3862B2-782C-42D5-9515-66EBE7A19C9A}"/>
              </a:ext>
            </a:extLst>
          </p:cNvPr>
          <p:cNvGrpSpPr/>
          <p:nvPr/>
        </p:nvGrpSpPr>
        <p:grpSpPr>
          <a:xfrm>
            <a:off x="0" y="1"/>
            <a:ext cx="12192000" cy="6858000"/>
            <a:chOff x="0" y="1"/>
            <a:chExt cx="12192000" cy="6858000"/>
          </a:xfrm>
        </p:grpSpPr>
        <p:sp>
          <p:nvSpPr>
            <p:cNvPr id="25" name="BKG-TP">
              <a:extLst>
                <a:ext uri="{FF2B5EF4-FFF2-40B4-BE49-F238E27FC236}">
                  <a16:creationId xmlns:a16="http://schemas.microsoft.com/office/drawing/2014/main" id="{C6078C7F-2E33-426C-96FF-E7084DD86E7E}"/>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BKG-RT">
              <a:extLst>
                <a:ext uri="{FF2B5EF4-FFF2-40B4-BE49-F238E27FC236}">
                  <a16:creationId xmlns:a16="http://schemas.microsoft.com/office/drawing/2014/main" id="{5D3C4E6B-760F-4EC0-919D-D0EEACF9ACA9}"/>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28" name="AWS Logo">
              <a:extLst>
                <a:ext uri="{FF2B5EF4-FFF2-40B4-BE49-F238E27FC236}">
                  <a16:creationId xmlns:a16="http://schemas.microsoft.com/office/drawing/2014/main" id="{90E6AE4C-E744-4586-850E-BEDD7EE7AB8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9" name="Copyright">
              <a:extLst>
                <a:ext uri="{FF2B5EF4-FFF2-40B4-BE49-F238E27FC236}">
                  <a16:creationId xmlns:a16="http://schemas.microsoft.com/office/drawing/2014/main" id="{274AB020-3E40-43C9-A671-5C17FEE2F38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6"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dirty="0"/>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2"/>
                </a:solidFill>
              </a:defRPr>
            </a:lvl1pPr>
          </a:lstStyle>
          <a:p>
            <a:r>
              <a:rPr lang="en-US" dirty="0"/>
              <a:t>Question and Responses</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7"/>
            <a:ext cx="4401650" cy="5429387"/>
          </a:xfrm>
          <a:solidFill>
            <a:schemeClr val="accent1"/>
          </a:solid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chemeClr val="bg2"/>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You can make this field wider if needed. The background color moves with this field. Simply adjust the placement of the response fields to the right to accommodate the wider question field.</a:t>
            </a:r>
          </a:p>
        </p:txBody>
      </p:sp>
      <p:sp>
        <p:nvSpPr>
          <p:cNvPr id="3" name="Choice Header">
            <a:extLst>
              <a:ext uri="{FF2B5EF4-FFF2-40B4-BE49-F238E27FC236}">
                <a16:creationId xmlns:a16="http://schemas.microsoft.com/office/drawing/2014/main" id="{94A86AAC-E12E-4379-82C3-110918D47BB2}"/>
              </a:ext>
            </a:extLst>
          </p:cNvPr>
          <p:cNvSpPr>
            <a:spLocks noGrp="1"/>
          </p:cNvSpPr>
          <p:nvPr>
            <p:ph type="subTitle" idx="13" hasCustomPrompt="1"/>
          </p:nvPr>
        </p:nvSpPr>
        <p:spPr>
          <a:xfrm>
            <a:off x="4581525" y="1008063"/>
            <a:ext cx="847725" cy="323850"/>
          </a:xfrm>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49A546CD-B784-4C60-8DF1-04299A8BD8DC}"/>
              </a:ext>
            </a:extLst>
          </p:cNvPr>
          <p:cNvSpPr>
            <a:spLocks noGrp="1"/>
          </p:cNvSpPr>
          <p:nvPr>
            <p:ph type="subTitle" idx="14" hasCustomPrompt="1"/>
          </p:nvPr>
        </p:nvSpPr>
        <p:spPr>
          <a:xfrm>
            <a:off x="5429250" y="1008063"/>
            <a:ext cx="2457450" cy="323850"/>
          </a:xfrm>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First Resp #">
            <a:extLst>
              <a:ext uri="{FF2B5EF4-FFF2-40B4-BE49-F238E27FC236}">
                <a16:creationId xmlns:a16="http://schemas.microsoft.com/office/drawing/2014/main" id="{DF65B8F8-C411-4217-9956-036774AA94F8}"/>
              </a:ext>
            </a:extLst>
          </p:cNvPr>
          <p:cNvSpPr>
            <a:spLocks noGrp="1"/>
          </p:cNvSpPr>
          <p:nvPr>
            <p:ph type="body" idx="2" hasCustomPrompt="1"/>
          </p:nvPr>
        </p:nvSpPr>
        <p:spPr>
          <a:xfrm>
            <a:off x="4584699" y="1344286"/>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First Resp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29250" y="1344286"/>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Second Resp #">
            <a:extLst>
              <a:ext uri="{FF2B5EF4-FFF2-40B4-BE49-F238E27FC236}">
                <a16:creationId xmlns:a16="http://schemas.microsoft.com/office/drawing/2014/main" id="{B27347F1-D178-4BA7-947D-9C3316CA7F55}"/>
              </a:ext>
            </a:extLst>
          </p:cNvPr>
          <p:cNvSpPr>
            <a:spLocks noGrp="1"/>
          </p:cNvSpPr>
          <p:nvPr>
            <p:ph type="body" idx="4" hasCustomPrompt="1"/>
          </p:nvPr>
        </p:nvSpPr>
        <p:spPr>
          <a:xfrm>
            <a:off x="4584699" y="2189689"/>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Second Resp Text">
            <a:extLst>
              <a:ext uri="{FF2B5EF4-FFF2-40B4-BE49-F238E27FC236}">
                <a16:creationId xmlns:a16="http://schemas.microsoft.com/office/drawing/2014/main" id="{9762E385-4F68-4D4A-BE57-EDA108A285B5}"/>
              </a:ext>
            </a:extLst>
          </p:cNvPr>
          <p:cNvSpPr>
            <a:spLocks noGrp="1"/>
          </p:cNvSpPr>
          <p:nvPr>
            <p:ph type="body" idx="5" hasCustomPrompt="1"/>
          </p:nvPr>
        </p:nvSpPr>
        <p:spPr>
          <a:xfrm>
            <a:off x="5429250" y="2189689"/>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Third Resp #">
            <a:extLst>
              <a:ext uri="{FF2B5EF4-FFF2-40B4-BE49-F238E27FC236}">
                <a16:creationId xmlns:a16="http://schemas.microsoft.com/office/drawing/2014/main" id="{2ACAFB9D-8E9C-4408-85E1-A3501374C2E9}"/>
              </a:ext>
            </a:extLst>
          </p:cNvPr>
          <p:cNvSpPr>
            <a:spLocks noGrp="1"/>
          </p:cNvSpPr>
          <p:nvPr>
            <p:ph type="body" idx="6" hasCustomPrompt="1"/>
          </p:nvPr>
        </p:nvSpPr>
        <p:spPr>
          <a:xfrm>
            <a:off x="4584699" y="3035092"/>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Third Resp Text">
            <a:extLst>
              <a:ext uri="{FF2B5EF4-FFF2-40B4-BE49-F238E27FC236}">
                <a16:creationId xmlns:a16="http://schemas.microsoft.com/office/drawing/2014/main" id="{22884D39-7004-49D5-8E88-C45BE1C9BFCB}"/>
              </a:ext>
            </a:extLst>
          </p:cNvPr>
          <p:cNvSpPr>
            <a:spLocks noGrp="1"/>
          </p:cNvSpPr>
          <p:nvPr>
            <p:ph type="body" idx="7" hasCustomPrompt="1"/>
          </p:nvPr>
        </p:nvSpPr>
        <p:spPr>
          <a:xfrm>
            <a:off x="5429250" y="3035092"/>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Fourth Resp #">
            <a:extLst>
              <a:ext uri="{FF2B5EF4-FFF2-40B4-BE49-F238E27FC236}">
                <a16:creationId xmlns:a16="http://schemas.microsoft.com/office/drawing/2014/main" id="{310C83DA-41AE-4CBA-AA96-EB5CB2226FCF}"/>
              </a:ext>
            </a:extLst>
          </p:cNvPr>
          <p:cNvSpPr>
            <a:spLocks noGrp="1"/>
          </p:cNvSpPr>
          <p:nvPr>
            <p:ph type="body" idx="8" hasCustomPrompt="1"/>
          </p:nvPr>
        </p:nvSpPr>
        <p:spPr>
          <a:xfrm>
            <a:off x="4584699" y="3880495"/>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Fourth Resp Text">
            <a:extLst>
              <a:ext uri="{FF2B5EF4-FFF2-40B4-BE49-F238E27FC236}">
                <a16:creationId xmlns:a16="http://schemas.microsoft.com/office/drawing/2014/main" id="{AEE05FA0-DD58-4D0B-A7E0-EAC7B789E7A7}"/>
              </a:ext>
            </a:extLst>
          </p:cNvPr>
          <p:cNvSpPr>
            <a:spLocks noGrp="1"/>
          </p:cNvSpPr>
          <p:nvPr>
            <p:ph type="body" idx="9" hasCustomPrompt="1"/>
          </p:nvPr>
        </p:nvSpPr>
        <p:spPr>
          <a:xfrm>
            <a:off x="5429250" y="3880495"/>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Fifth Resp #">
            <a:extLst>
              <a:ext uri="{FF2B5EF4-FFF2-40B4-BE49-F238E27FC236}">
                <a16:creationId xmlns:a16="http://schemas.microsoft.com/office/drawing/2014/main" id="{B6D2D170-961D-4140-B087-C6CFDF7BBD75}"/>
              </a:ext>
            </a:extLst>
          </p:cNvPr>
          <p:cNvSpPr>
            <a:spLocks noGrp="1"/>
          </p:cNvSpPr>
          <p:nvPr>
            <p:ph type="body" idx="10" hasCustomPrompt="1"/>
          </p:nvPr>
        </p:nvSpPr>
        <p:spPr>
          <a:xfrm>
            <a:off x="4584699" y="4725898"/>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Fifth Resp Text">
            <a:extLst>
              <a:ext uri="{FF2B5EF4-FFF2-40B4-BE49-F238E27FC236}">
                <a16:creationId xmlns:a16="http://schemas.microsoft.com/office/drawing/2014/main" id="{B428E384-92E9-495A-9CAE-E33E3164F939}"/>
              </a:ext>
            </a:extLst>
          </p:cNvPr>
          <p:cNvSpPr>
            <a:spLocks noGrp="1"/>
          </p:cNvSpPr>
          <p:nvPr>
            <p:ph type="body" idx="11" hasCustomPrompt="1"/>
          </p:nvPr>
        </p:nvSpPr>
        <p:spPr>
          <a:xfrm>
            <a:off x="5429250" y="4725898"/>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Sixth Resp #">
            <a:extLst>
              <a:ext uri="{FF2B5EF4-FFF2-40B4-BE49-F238E27FC236}">
                <a16:creationId xmlns:a16="http://schemas.microsoft.com/office/drawing/2014/main" id="{DC41B7B5-B438-4885-90AE-758ABF2CA9F9}"/>
              </a:ext>
            </a:extLst>
          </p:cNvPr>
          <p:cNvSpPr>
            <a:spLocks noGrp="1"/>
          </p:cNvSpPr>
          <p:nvPr>
            <p:ph type="body" idx="12" hasCustomPrompt="1"/>
          </p:nvPr>
        </p:nvSpPr>
        <p:spPr>
          <a:xfrm>
            <a:off x="4584699" y="5571303"/>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Sixth Resp Text">
            <a:extLst>
              <a:ext uri="{FF2B5EF4-FFF2-40B4-BE49-F238E27FC236}">
                <a16:creationId xmlns:a16="http://schemas.microsoft.com/office/drawing/2014/main" id="{09F72B28-4CF6-4FD1-BA4A-5A98215324E2}"/>
              </a:ext>
            </a:extLst>
          </p:cNvPr>
          <p:cNvSpPr>
            <a:spLocks noGrp="1"/>
          </p:cNvSpPr>
          <p:nvPr>
            <p:ph type="body" idx="13" hasCustomPrompt="1"/>
          </p:nvPr>
        </p:nvSpPr>
        <p:spPr>
          <a:xfrm>
            <a:off x="5429250" y="5571303"/>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36260643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KC-Vertical-Answer">
    <p:bg>
      <p:bgPr>
        <a:solidFill>
          <a:schemeClr val="bg1"/>
        </a:solidFill>
        <a:effectLst/>
      </p:bgPr>
    </p:bg>
    <p:spTree>
      <p:nvGrpSpPr>
        <p:cNvPr id="1" name=""/>
        <p:cNvGrpSpPr/>
        <p:nvPr/>
      </p:nvGrpSpPr>
      <p:grpSpPr>
        <a:xfrm>
          <a:off x="0" y="0"/>
          <a:ext cx="0" cy="0"/>
          <a:chOff x="0" y="0"/>
          <a:chExt cx="0" cy="0"/>
        </a:xfrm>
      </p:grpSpPr>
      <p:grpSp>
        <p:nvGrpSpPr>
          <p:cNvPr id="12" name="Background Images">
            <a:extLst>
              <a:ext uri="{FF2B5EF4-FFF2-40B4-BE49-F238E27FC236}">
                <a16:creationId xmlns:a16="http://schemas.microsoft.com/office/drawing/2014/main" id="{9D893736-31CD-4275-8671-3253868EBB81}"/>
              </a:ext>
            </a:extLst>
          </p:cNvPr>
          <p:cNvGrpSpPr/>
          <p:nvPr/>
        </p:nvGrpSpPr>
        <p:grpSpPr>
          <a:xfrm>
            <a:off x="0" y="1"/>
            <a:ext cx="12192000" cy="6858000"/>
            <a:chOff x="0" y="1"/>
            <a:chExt cx="12192000" cy="6858000"/>
          </a:xfrm>
        </p:grpSpPr>
        <p:sp>
          <p:nvSpPr>
            <p:cNvPr id="13" name="BKG-TP">
              <a:extLst>
                <a:ext uri="{FF2B5EF4-FFF2-40B4-BE49-F238E27FC236}">
                  <a16:creationId xmlns:a16="http://schemas.microsoft.com/office/drawing/2014/main" id="{BF122BEF-CA51-4B5F-A9D2-5B4722001489}"/>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KG-RT">
              <a:extLst>
                <a:ext uri="{FF2B5EF4-FFF2-40B4-BE49-F238E27FC236}">
                  <a16:creationId xmlns:a16="http://schemas.microsoft.com/office/drawing/2014/main" id="{80E3899F-10AE-440C-9957-5E3536890A76}"/>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16" name="AWS Logo">
              <a:extLst>
                <a:ext uri="{FF2B5EF4-FFF2-40B4-BE49-F238E27FC236}">
                  <a16:creationId xmlns:a16="http://schemas.microsoft.com/office/drawing/2014/main" id="{AFED23B7-B88C-4046-B460-7E08C859BC7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17" name="Copyright">
              <a:extLst>
                <a:ext uri="{FF2B5EF4-FFF2-40B4-BE49-F238E27FC236}">
                  <a16:creationId xmlns:a16="http://schemas.microsoft.com/office/drawing/2014/main" id="{6102431F-55CF-4F10-BCE6-9666CEA4F8C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dirty="0"/>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6"/>
            <a:ext cx="4401650" cy="5429386"/>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3" name="AnswerHeader">
            <a:extLst>
              <a:ext uri="{FF2B5EF4-FFF2-40B4-BE49-F238E27FC236}">
                <a16:creationId xmlns:a16="http://schemas.microsoft.com/office/drawing/2014/main" id="{7C8472BF-3681-4E98-B87B-5FA7A5C19359}"/>
              </a:ext>
            </a:extLst>
          </p:cNvPr>
          <p:cNvSpPr>
            <a:spLocks noGrp="1"/>
          </p:cNvSpPr>
          <p:nvPr>
            <p:ph type="subTitle" idx="4" hasCustomPrompt="1"/>
          </p:nvPr>
        </p:nvSpPr>
        <p:spPr>
          <a:xfrm>
            <a:off x="4580888" y="1020685"/>
            <a:ext cx="7611111" cy="400050"/>
          </a:xfrm>
          <a:solidFill>
            <a:schemeClr val="accent2"/>
          </a:solidFill>
        </p:spPr>
        <p:txBody>
          <a:bodyPr lIns="9144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4886326" y="1420597"/>
            <a:ext cx="7267614" cy="4955378"/>
          </a:xfrm>
          <a:solidFill>
            <a:schemeClr val="bg1"/>
          </a:solidFill>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4728949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A-Horizontal">
    <p:bg>
      <p:bgPr>
        <a:solidFill>
          <a:schemeClr val="bg1"/>
        </a:solidFill>
        <a:effectLst/>
      </p:bgPr>
    </p:bg>
    <p:spTree>
      <p:nvGrpSpPr>
        <p:cNvPr id="1" name=""/>
        <p:cNvGrpSpPr/>
        <p:nvPr/>
      </p:nvGrpSpPr>
      <p:grpSpPr>
        <a:xfrm>
          <a:off x="0" y="0"/>
          <a:ext cx="0" cy="0"/>
          <a:chOff x="0" y="0"/>
          <a:chExt cx="0" cy="0"/>
        </a:xfrm>
      </p:grpSpPr>
      <p:grpSp>
        <p:nvGrpSpPr>
          <p:cNvPr id="19" name="Background Images">
            <a:extLst>
              <a:ext uri="{FF2B5EF4-FFF2-40B4-BE49-F238E27FC236}">
                <a16:creationId xmlns:a16="http://schemas.microsoft.com/office/drawing/2014/main" id="{18C277CC-8FC8-4D78-AB63-9513759C0783}"/>
              </a:ext>
            </a:extLst>
          </p:cNvPr>
          <p:cNvGrpSpPr/>
          <p:nvPr/>
        </p:nvGrpSpPr>
        <p:grpSpPr>
          <a:xfrm>
            <a:off x="0" y="1"/>
            <a:ext cx="12192000" cy="6858000"/>
            <a:chOff x="0" y="1"/>
            <a:chExt cx="12192000" cy="6858000"/>
          </a:xfrm>
        </p:grpSpPr>
        <p:sp>
          <p:nvSpPr>
            <p:cNvPr id="20" name="BKG-TP">
              <a:extLst>
                <a:ext uri="{FF2B5EF4-FFF2-40B4-BE49-F238E27FC236}">
                  <a16:creationId xmlns:a16="http://schemas.microsoft.com/office/drawing/2014/main" id="{1C269943-78A1-4304-AE96-B1F32EC214E6}"/>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AWS Logo">
              <a:extLst>
                <a:ext uri="{FF2B5EF4-FFF2-40B4-BE49-F238E27FC236}">
                  <a16:creationId xmlns:a16="http://schemas.microsoft.com/office/drawing/2014/main" id="{A49D8E1E-772D-46F7-9ACE-C06929884B0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3" name="Copyright">
              <a:extLst>
                <a:ext uri="{FF2B5EF4-FFF2-40B4-BE49-F238E27FC236}">
                  <a16:creationId xmlns:a16="http://schemas.microsoft.com/office/drawing/2014/main" id="{2268572E-7A9B-498D-A37E-CFD2934B7AC2}"/>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11774410" cy="825473"/>
          </a:xfrm>
        </p:spPr>
        <p:txBody>
          <a:bodyPr/>
          <a:lstStyle>
            <a:lvl1pPr>
              <a:defRPr>
                <a:solidFill>
                  <a:schemeClr val="bg1"/>
                </a:solidFill>
              </a:defRPr>
            </a:lvl1pPr>
          </a:lstStyle>
          <a:p>
            <a:r>
              <a:rPr lang="en-US" dirty="0"/>
              <a:t>Answer and explanation</a:t>
            </a:r>
          </a:p>
        </p:txBody>
      </p:sp>
      <p:sp>
        <p:nvSpPr>
          <p:cNvPr id="7" name="Question 1">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8" y="118549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8" name="Answer Text 1">
            <a:extLst>
              <a:ext uri="{FF2B5EF4-FFF2-40B4-BE49-F238E27FC236}">
                <a16:creationId xmlns:a16="http://schemas.microsoft.com/office/drawing/2014/main" id="{FFCADE15-0CD9-4F7B-9FFC-6A2C71B4D226}"/>
              </a:ext>
            </a:extLst>
          </p:cNvPr>
          <p:cNvSpPr>
            <a:spLocks noGrp="1"/>
          </p:cNvSpPr>
          <p:nvPr>
            <p:ph type="body" idx="2" hasCustomPrompt="1"/>
          </p:nvPr>
        </p:nvSpPr>
        <p:spPr>
          <a:xfrm>
            <a:off x="5651500" y="118549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
        <p:nvSpPr>
          <p:cNvPr id="12" name="Question 2">
            <a:extLst>
              <a:ext uri="{FF2B5EF4-FFF2-40B4-BE49-F238E27FC236}">
                <a16:creationId xmlns:a16="http://schemas.microsoft.com/office/drawing/2014/main" id="{2733FE88-66AC-4110-B77F-059B3D638C2E}"/>
              </a:ext>
            </a:extLst>
          </p:cNvPr>
          <p:cNvSpPr>
            <a:spLocks noGrp="1"/>
          </p:cNvSpPr>
          <p:nvPr>
            <p:ph type="body" idx="21" hasCustomPrompt="1"/>
          </p:nvPr>
        </p:nvSpPr>
        <p:spPr>
          <a:xfrm>
            <a:off x="179237" y="2526456"/>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3" name="Answer Text 2">
            <a:extLst>
              <a:ext uri="{FF2B5EF4-FFF2-40B4-BE49-F238E27FC236}">
                <a16:creationId xmlns:a16="http://schemas.microsoft.com/office/drawing/2014/main" id="{E33DAA71-DCA3-491A-8A97-143BF1813197}"/>
              </a:ext>
            </a:extLst>
          </p:cNvPr>
          <p:cNvSpPr>
            <a:spLocks noGrp="1"/>
          </p:cNvSpPr>
          <p:nvPr>
            <p:ph type="body" idx="22" hasCustomPrompt="1"/>
          </p:nvPr>
        </p:nvSpPr>
        <p:spPr>
          <a:xfrm>
            <a:off x="5651499" y="2526456"/>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
        <p:nvSpPr>
          <p:cNvPr id="14" name="Question 3">
            <a:extLst>
              <a:ext uri="{FF2B5EF4-FFF2-40B4-BE49-F238E27FC236}">
                <a16:creationId xmlns:a16="http://schemas.microsoft.com/office/drawing/2014/main" id="{85011FB9-28FB-42F5-8639-AFB8DE09EDB0}"/>
              </a:ext>
            </a:extLst>
          </p:cNvPr>
          <p:cNvSpPr>
            <a:spLocks noGrp="1"/>
          </p:cNvSpPr>
          <p:nvPr>
            <p:ph type="body" idx="23" hasCustomPrompt="1"/>
          </p:nvPr>
        </p:nvSpPr>
        <p:spPr>
          <a:xfrm>
            <a:off x="179237" y="3883100"/>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6" name="Answer Text 3">
            <a:extLst>
              <a:ext uri="{FF2B5EF4-FFF2-40B4-BE49-F238E27FC236}">
                <a16:creationId xmlns:a16="http://schemas.microsoft.com/office/drawing/2014/main" id="{BBA625A9-591B-4F80-B2C0-C8B9B7ED58AF}"/>
              </a:ext>
            </a:extLst>
          </p:cNvPr>
          <p:cNvSpPr>
            <a:spLocks noGrp="1"/>
          </p:cNvSpPr>
          <p:nvPr>
            <p:ph type="body" idx="24" hasCustomPrompt="1"/>
          </p:nvPr>
        </p:nvSpPr>
        <p:spPr>
          <a:xfrm>
            <a:off x="5651499" y="3883100"/>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
        <p:nvSpPr>
          <p:cNvPr id="17" name="Question 4">
            <a:extLst>
              <a:ext uri="{FF2B5EF4-FFF2-40B4-BE49-F238E27FC236}">
                <a16:creationId xmlns:a16="http://schemas.microsoft.com/office/drawing/2014/main" id="{94FE6022-0B4D-44CE-B9CB-F3EF8689FC0E}"/>
              </a:ext>
            </a:extLst>
          </p:cNvPr>
          <p:cNvSpPr>
            <a:spLocks noGrp="1"/>
          </p:cNvSpPr>
          <p:nvPr>
            <p:ph type="body" idx="25" hasCustomPrompt="1"/>
          </p:nvPr>
        </p:nvSpPr>
        <p:spPr>
          <a:xfrm>
            <a:off x="179236" y="523955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8" name="Answer Text 4">
            <a:extLst>
              <a:ext uri="{FF2B5EF4-FFF2-40B4-BE49-F238E27FC236}">
                <a16:creationId xmlns:a16="http://schemas.microsoft.com/office/drawing/2014/main" id="{A6B202E1-04E5-4362-96B3-ED5EF312171C}"/>
              </a:ext>
            </a:extLst>
          </p:cNvPr>
          <p:cNvSpPr>
            <a:spLocks noGrp="1"/>
          </p:cNvSpPr>
          <p:nvPr>
            <p:ph type="body" idx="26" hasCustomPrompt="1"/>
          </p:nvPr>
        </p:nvSpPr>
        <p:spPr>
          <a:xfrm>
            <a:off x="5651498" y="523955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1344222302"/>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KC-Horizontal-Question">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E9CD1AC9-3AAD-4061-9815-CA2A755752E2}"/>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E0B6FD1A-B839-4C89-A4D5-3B9A5AA24C31}"/>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71CA29FE-029C-470F-8B2A-DE98B38B26DF}"/>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8B560738-A5A3-492F-8E11-B91E6716C30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9728"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Question and Responses</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Choice Header">
            <a:extLst>
              <a:ext uri="{FF2B5EF4-FFF2-40B4-BE49-F238E27FC236}">
                <a16:creationId xmlns:a16="http://schemas.microsoft.com/office/drawing/2014/main" id="{819C768D-12EC-41EC-9F85-ED13A7CA6D52}"/>
              </a:ext>
            </a:extLst>
          </p:cNvPr>
          <p:cNvSpPr>
            <a:spLocks noGrp="1"/>
          </p:cNvSpPr>
          <p:nvPr>
            <p:ph type="subTitle" idx="13" hasCustomPrompt="1"/>
          </p:nvPr>
        </p:nvSpPr>
        <p:spPr>
          <a:xfrm>
            <a:off x="0" y="2109788"/>
            <a:ext cx="887413" cy="317500"/>
          </a:xfrm>
          <a:solidFill>
            <a:schemeClr val="accent2"/>
          </a:solidFill>
          <a:ln>
            <a:noFill/>
          </a:ln>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AFAAB670-BBCA-4429-9F6C-C9ABD61E6B0C}"/>
              </a:ext>
            </a:extLst>
          </p:cNvPr>
          <p:cNvSpPr>
            <a:spLocks noGrp="1"/>
          </p:cNvSpPr>
          <p:nvPr>
            <p:ph type="subTitle" idx="14" hasCustomPrompt="1"/>
          </p:nvPr>
        </p:nvSpPr>
        <p:spPr>
          <a:xfrm>
            <a:off x="907950" y="2109788"/>
            <a:ext cx="11284050" cy="317500"/>
          </a:xfrm>
          <a:solidFill>
            <a:schemeClr val="accent2"/>
          </a:solidFill>
          <a:ln>
            <a:noFill/>
          </a:ln>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First Resp #">
            <a:extLst>
              <a:ext uri="{FF2B5EF4-FFF2-40B4-BE49-F238E27FC236}">
                <a16:creationId xmlns:a16="http://schemas.microsoft.com/office/drawing/2014/main" id="{B4EC449C-918E-4AF9-9E90-0E8D47CF3DD9}"/>
              </a:ext>
            </a:extLst>
          </p:cNvPr>
          <p:cNvSpPr>
            <a:spLocks noGrp="1"/>
          </p:cNvSpPr>
          <p:nvPr>
            <p:ph type="body" idx="2" hasCustomPrompt="1"/>
          </p:nvPr>
        </p:nvSpPr>
        <p:spPr>
          <a:xfrm>
            <a:off x="1" y="2427252"/>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First Resp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427252"/>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Second Resp #">
            <a:extLst>
              <a:ext uri="{FF2B5EF4-FFF2-40B4-BE49-F238E27FC236}">
                <a16:creationId xmlns:a16="http://schemas.microsoft.com/office/drawing/2014/main" id="{05FFB414-A546-4A6C-B7E8-B6D9C7AC88C9}"/>
              </a:ext>
            </a:extLst>
          </p:cNvPr>
          <p:cNvSpPr>
            <a:spLocks noGrp="1"/>
          </p:cNvSpPr>
          <p:nvPr>
            <p:ph type="body" idx="4" hasCustomPrompt="1"/>
          </p:nvPr>
        </p:nvSpPr>
        <p:spPr>
          <a:xfrm>
            <a:off x="1" y="310073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Second Resp Text">
            <a:extLst>
              <a:ext uri="{FF2B5EF4-FFF2-40B4-BE49-F238E27FC236}">
                <a16:creationId xmlns:a16="http://schemas.microsoft.com/office/drawing/2014/main" id="{840EA72F-053D-43C4-A0AA-4F71D345F1E1}"/>
              </a:ext>
            </a:extLst>
          </p:cNvPr>
          <p:cNvSpPr>
            <a:spLocks noGrp="1"/>
          </p:cNvSpPr>
          <p:nvPr>
            <p:ph type="body" idx="5" hasCustomPrompt="1"/>
          </p:nvPr>
        </p:nvSpPr>
        <p:spPr>
          <a:xfrm>
            <a:off x="907950" y="310073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Third Resp #">
            <a:extLst>
              <a:ext uri="{FF2B5EF4-FFF2-40B4-BE49-F238E27FC236}">
                <a16:creationId xmlns:a16="http://schemas.microsoft.com/office/drawing/2014/main" id="{F00955FE-A162-474C-BFF8-0AB0FBF10130}"/>
              </a:ext>
            </a:extLst>
          </p:cNvPr>
          <p:cNvSpPr>
            <a:spLocks noGrp="1"/>
          </p:cNvSpPr>
          <p:nvPr>
            <p:ph type="body" idx="6" hasCustomPrompt="1"/>
          </p:nvPr>
        </p:nvSpPr>
        <p:spPr>
          <a:xfrm>
            <a:off x="1" y="3774216"/>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Third Resp Text">
            <a:extLst>
              <a:ext uri="{FF2B5EF4-FFF2-40B4-BE49-F238E27FC236}">
                <a16:creationId xmlns:a16="http://schemas.microsoft.com/office/drawing/2014/main" id="{55974934-D7D0-4C4C-B76C-558C1028590E}"/>
              </a:ext>
            </a:extLst>
          </p:cNvPr>
          <p:cNvSpPr>
            <a:spLocks noGrp="1"/>
          </p:cNvSpPr>
          <p:nvPr>
            <p:ph type="body" idx="7" hasCustomPrompt="1"/>
          </p:nvPr>
        </p:nvSpPr>
        <p:spPr>
          <a:xfrm>
            <a:off x="907950" y="3774216"/>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Fourth Resp #">
            <a:extLst>
              <a:ext uri="{FF2B5EF4-FFF2-40B4-BE49-F238E27FC236}">
                <a16:creationId xmlns:a16="http://schemas.microsoft.com/office/drawing/2014/main" id="{9A682F4A-836A-42BD-B18F-482CDD9FE392}"/>
              </a:ext>
            </a:extLst>
          </p:cNvPr>
          <p:cNvSpPr>
            <a:spLocks noGrp="1"/>
          </p:cNvSpPr>
          <p:nvPr>
            <p:ph type="body" idx="8" hasCustomPrompt="1"/>
          </p:nvPr>
        </p:nvSpPr>
        <p:spPr>
          <a:xfrm>
            <a:off x="1" y="4447698"/>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Fourth Resp Text">
            <a:extLst>
              <a:ext uri="{FF2B5EF4-FFF2-40B4-BE49-F238E27FC236}">
                <a16:creationId xmlns:a16="http://schemas.microsoft.com/office/drawing/2014/main" id="{2A075B8F-DFA0-46B1-A70C-B12937892D4B}"/>
              </a:ext>
            </a:extLst>
          </p:cNvPr>
          <p:cNvSpPr>
            <a:spLocks noGrp="1"/>
          </p:cNvSpPr>
          <p:nvPr>
            <p:ph type="body" idx="9" hasCustomPrompt="1"/>
          </p:nvPr>
        </p:nvSpPr>
        <p:spPr>
          <a:xfrm>
            <a:off x="907950" y="4447698"/>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Fifth Resp #">
            <a:extLst>
              <a:ext uri="{FF2B5EF4-FFF2-40B4-BE49-F238E27FC236}">
                <a16:creationId xmlns:a16="http://schemas.microsoft.com/office/drawing/2014/main" id="{B3A4AC8A-DBAB-477E-8F79-6EFB6340CE48}"/>
              </a:ext>
            </a:extLst>
          </p:cNvPr>
          <p:cNvSpPr>
            <a:spLocks noGrp="1"/>
          </p:cNvSpPr>
          <p:nvPr>
            <p:ph type="body" idx="10" hasCustomPrompt="1"/>
          </p:nvPr>
        </p:nvSpPr>
        <p:spPr>
          <a:xfrm>
            <a:off x="1" y="5121180"/>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Fifth Resp Text">
            <a:extLst>
              <a:ext uri="{FF2B5EF4-FFF2-40B4-BE49-F238E27FC236}">
                <a16:creationId xmlns:a16="http://schemas.microsoft.com/office/drawing/2014/main" id="{0B4A450D-E822-44AA-8298-11D531D74483}"/>
              </a:ext>
            </a:extLst>
          </p:cNvPr>
          <p:cNvSpPr>
            <a:spLocks noGrp="1"/>
          </p:cNvSpPr>
          <p:nvPr>
            <p:ph type="body" idx="11" hasCustomPrompt="1"/>
          </p:nvPr>
        </p:nvSpPr>
        <p:spPr>
          <a:xfrm>
            <a:off x="907950" y="5121180"/>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Sixth Resp #">
            <a:extLst>
              <a:ext uri="{FF2B5EF4-FFF2-40B4-BE49-F238E27FC236}">
                <a16:creationId xmlns:a16="http://schemas.microsoft.com/office/drawing/2014/main" id="{4075988B-8657-4CA4-A4CB-EAEA7B298681}"/>
              </a:ext>
            </a:extLst>
          </p:cNvPr>
          <p:cNvSpPr>
            <a:spLocks noGrp="1"/>
          </p:cNvSpPr>
          <p:nvPr>
            <p:ph type="body" idx="12" hasCustomPrompt="1"/>
          </p:nvPr>
        </p:nvSpPr>
        <p:spPr>
          <a:xfrm>
            <a:off x="1" y="579466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Sixth Resp Text">
            <a:extLst>
              <a:ext uri="{FF2B5EF4-FFF2-40B4-BE49-F238E27FC236}">
                <a16:creationId xmlns:a16="http://schemas.microsoft.com/office/drawing/2014/main" id="{327445DD-9D42-491C-969B-C7919BE2E3F0}"/>
              </a:ext>
            </a:extLst>
          </p:cNvPr>
          <p:cNvSpPr>
            <a:spLocks noGrp="1"/>
          </p:cNvSpPr>
          <p:nvPr>
            <p:ph type="body" idx="13" hasCustomPrompt="1"/>
          </p:nvPr>
        </p:nvSpPr>
        <p:spPr>
          <a:xfrm>
            <a:off x="907950" y="579466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390075568"/>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KC-Horizontal-Answer">
    <p:bg>
      <p:bgPr>
        <a:solidFill>
          <a:schemeClr val="bg1"/>
        </a:solidFill>
        <a:effectLst/>
      </p:bgPr>
    </p:bg>
    <p:spTree>
      <p:nvGrpSpPr>
        <p:cNvPr id="1" name=""/>
        <p:cNvGrpSpPr/>
        <p:nvPr/>
      </p:nvGrpSpPr>
      <p:grpSpPr>
        <a:xfrm>
          <a:off x="0" y="0"/>
          <a:ext cx="0" cy="0"/>
          <a:chOff x="0" y="0"/>
          <a:chExt cx="0" cy="0"/>
        </a:xfrm>
      </p:grpSpPr>
      <p:grpSp>
        <p:nvGrpSpPr>
          <p:cNvPr id="5" name="Background Images">
            <a:extLst>
              <a:ext uri="{FF2B5EF4-FFF2-40B4-BE49-F238E27FC236}">
                <a16:creationId xmlns:a16="http://schemas.microsoft.com/office/drawing/2014/main" id="{9AC63EDD-BEE2-404E-8399-2AA11023CDAB}"/>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7A68BE18-C9FD-4D64-BD55-20302868F06E}"/>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31622DCA-CB0C-4601-9C65-55CE8CDC7503}"/>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AWS Logo">
              <a:extLst>
                <a:ext uri="{FF2B5EF4-FFF2-40B4-BE49-F238E27FC236}">
                  <a16:creationId xmlns:a16="http://schemas.microsoft.com/office/drawing/2014/main" id="{18A3C304-3B7F-434E-99A7-8B8C386B4EF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6233"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Answer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Answer Header">
            <a:extLst>
              <a:ext uri="{FF2B5EF4-FFF2-40B4-BE49-F238E27FC236}">
                <a16:creationId xmlns:a16="http://schemas.microsoft.com/office/drawing/2014/main" id="{4CF18732-63A0-43A6-B5E9-C4F74190ED76}"/>
              </a:ext>
            </a:extLst>
          </p:cNvPr>
          <p:cNvSpPr>
            <a:spLocks noGrp="1"/>
          </p:cNvSpPr>
          <p:nvPr>
            <p:ph type="subTitle" idx="4" hasCustomPrompt="1"/>
          </p:nvPr>
        </p:nvSpPr>
        <p:spPr>
          <a:xfrm>
            <a:off x="0" y="2114550"/>
            <a:ext cx="12192000" cy="400050"/>
          </a:xfrm>
          <a:solidFill>
            <a:schemeClr val="accent2"/>
          </a:solidFill>
        </p:spPr>
        <p:txBody>
          <a:bodyPr lIns="22860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427252"/>
            <a:ext cx="11245989" cy="4007816"/>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38892894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solidFill>
                  <a:schemeClr val="tx2"/>
                </a:solidFill>
              </a:defRPr>
            </a:lvl1pPr>
          </a:lstStyle>
          <a:p>
            <a:r>
              <a:rPr lang="en-US" dirty="0"/>
              <a:t>Title and vertical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435716" y="1033070"/>
            <a:ext cx="11499253" cy="5389244"/>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7F823AF2-999D-4175-8C01-402CA4924585}"/>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160842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1FDB7DAC-24E1-411C-8D5F-3A7FDF188C1D}"/>
              </a:ext>
            </a:extLst>
          </p:cNvPr>
          <p:cNvSpPr>
            <a:spLocks noGrp="1"/>
          </p:cNvSpPr>
          <p:nvPr>
            <p:ph type="title" hasCustomPrompt="1"/>
          </p:nvPr>
        </p:nvSpPr>
        <p:spPr>
          <a:xfrm rot="5400000">
            <a:off x="8324028" y="2805126"/>
            <a:ext cx="6127095" cy="1132145"/>
          </a:xfrm>
        </p:spPr>
        <p:txBody>
          <a:bodyPr/>
          <a:lstStyle>
            <a:lvl1pPr marL="0" marR="0" indent="0" algn="l" defTabSz="914400" rtl="0" eaLnBrk="1" fontAlgn="auto" latinLnBrk="0" hangingPunct="1">
              <a:lnSpc>
                <a:spcPct val="100000"/>
              </a:lnSpc>
              <a:spcBef>
                <a:spcPct val="0"/>
              </a:spcBef>
              <a:spcAft>
                <a:spcPts val="0"/>
              </a:spcAft>
              <a:buClrTx/>
              <a:buSzTx/>
              <a:buFontTx/>
              <a:buNone/>
              <a:tabLst/>
              <a:defRPr>
                <a:solidFill>
                  <a:schemeClr val="tx2"/>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365760" y="307649"/>
            <a:ext cx="10455743" cy="6127095"/>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A9006E65-0AC6-4AEC-9676-8B754EE037E9}"/>
              </a:ext>
              <a:ext uri="{C183D7F6-B498-43B3-948B-1728B52AA6E4}">
                <adec:decorative xmlns:adec="http://schemas.microsoft.com/office/drawing/2017/decorative" val="1"/>
              </a:ext>
            </a:extLst>
          </p:cNvPr>
          <p:cNvSpPr/>
          <p:nvPr/>
        </p:nvSpPr>
        <p:spPr>
          <a:xfrm rot="5400000">
            <a:off x="7803983" y="3371504"/>
            <a:ext cx="60807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22889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1923864565"/>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42497902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6394509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19201170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 uri="{C183D7F6-B498-43B3-948B-1728B52AA6E4}">
                <adec:decorative xmlns:adec="http://schemas.microsoft.com/office/drawing/2017/decorative" val="1"/>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482954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KC-AcademyQuestion">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E9CD1AC9-3AAD-4061-9815-CA2A755752E2}"/>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92" name="BKG-TP">
              <a:extLst>
                <a:ext uri="{FF2B5EF4-FFF2-40B4-BE49-F238E27FC236}">
                  <a16:creationId xmlns:a16="http://schemas.microsoft.com/office/drawing/2014/main" id="{E0B6FD1A-B839-4C89-A4D5-3B9A5AA24C31}"/>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BKG-BM">
              <a:extLst>
                <a:ext uri="{FF2B5EF4-FFF2-40B4-BE49-F238E27FC236}">
                  <a16:creationId xmlns:a16="http://schemas.microsoft.com/office/drawing/2014/main" id="{71CA29FE-029C-470F-8B2A-DE98B38B26DF}"/>
                </a:ext>
                <a:ext uri="{C183D7F6-B498-43B3-948B-1728B52AA6E4}">
                  <adec:decorative xmlns:adec="http://schemas.microsoft.com/office/drawing/2017/decorative" val="1"/>
                </a:ext>
              </a:extLst>
            </p:cNvPr>
            <p:cNvSpPr/>
            <p:nvPr userDrawn="1"/>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8B560738-A5A3-492F-8E11-B91E6716C30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9728"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B23121D6-781A-4B6C-8D9B-3A8188A614AE}" type="slidenum">
              <a:rPr lang="en-US" smtClean="0"/>
              <a:t>‹#›</a:t>
            </a:fld>
            <a:endParaRPr lang="en-US"/>
          </a:p>
        </p:txBody>
      </p:sp>
      <p:sp>
        <p:nvSpPr>
          <p:cNvPr id="2" name="Question Number">
            <a:extLst>
              <a:ext uri="{FF2B5EF4-FFF2-40B4-BE49-F238E27FC236}">
                <a16:creationId xmlns:a16="http://schemas.microsoft.com/office/drawing/2014/main" id="{1A8961C4-E232-4CFC-9419-572E417488B7}"/>
              </a:ext>
            </a:extLst>
          </p:cNvPr>
          <p:cNvSpPr>
            <a:spLocks noGrp="1"/>
          </p:cNvSpPr>
          <p:nvPr>
            <p:ph type="title"/>
          </p:nvPr>
        </p:nvSpPr>
        <p:spPr>
          <a:xfrm>
            <a:off x="179239" y="179881"/>
            <a:ext cx="11771597" cy="498849"/>
          </a:xfrm>
        </p:spPr>
        <p:txBody>
          <a:bodyPr/>
          <a:lstStyle>
            <a:lvl1pPr>
              <a:defRPr>
                <a:solidFill>
                  <a:schemeClr val="bg1"/>
                </a:solidFill>
              </a:defRPr>
            </a:lvl1pPr>
          </a:lstStyle>
          <a:p>
            <a:endParaRPr lang="en-US"/>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Tree>
    <p:custDataLst>
      <p:tags r:id="rId1"/>
    </p:custDataLst>
    <p:extLst>
      <p:ext uri="{BB962C8B-B14F-4D97-AF65-F5344CB8AC3E}">
        <p14:creationId xmlns:p14="http://schemas.microsoft.com/office/powerpoint/2010/main" val="14125377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le with Content -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7" y="1543324"/>
            <a:ext cx="3507565"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6D77F14-E88B-D0A5-6F63-E4DA45A7CD6B}"/>
              </a:ext>
            </a:extLst>
          </p:cNvPr>
          <p:cNvSpPr>
            <a:spLocks noGrp="1"/>
          </p:cNvSpPr>
          <p:nvPr>
            <p:ph idx="17"/>
          </p:nvPr>
        </p:nvSpPr>
        <p:spPr>
          <a:xfrm>
            <a:off x="4342217" y="1543323"/>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5A95E987-1BAB-5DE6-3A52-75935C62985E}"/>
              </a:ext>
            </a:extLst>
          </p:cNvPr>
          <p:cNvSpPr>
            <a:spLocks noGrp="1"/>
          </p:cNvSpPr>
          <p:nvPr>
            <p:ph idx="18"/>
          </p:nvPr>
        </p:nvSpPr>
        <p:spPr>
          <a:xfrm>
            <a:off x="8243137" y="1543322"/>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3">
            <a:extLst>
              <a:ext uri="{FF2B5EF4-FFF2-40B4-BE49-F238E27FC236}">
                <a16:creationId xmlns:a16="http://schemas.microsoft.com/office/drawing/2014/main" id="{5CA31FF2-2F1A-7D0F-36B0-1773F6A9AB34}"/>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5" name="Slide Number Placeholder 4">
            <a:extLst>
              <a:ext uri="{FF2B5EF4-FFF2-40B4-BE49-F238E27FC236}">
                <a16:creationId xmlns:a16="http://schemas.microsoft.com/office/drawing/2014/main" id="{E377EB8B-3A4C-F880-133B-94D59A7B36B8}"/>
              </a:ext>
            </a:extLst>
          </p:cNvPr>
          <p:cNvSpPr>
            <a:spLocks noGrp="1"/>
          </p:cNvSpPr>
          <p:nvPr>
            <p:ph type="sldNum" sz="quarter" idx="19"/>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3A8E3C9-6B0B-C4C1-8036-586EE7062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55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1023257" y="2005070"/>
            <a:ext cx="7763458" cy="592834"/>
          </a:xfrm>
        </p:spPr>
        <p:txBody>
          <a:bodyPr>
            <a:noAutofit/>
          </a:bodyPr>
          <a:lstStyle>
            <a:lvl1pPr>
              <a:defRPr sz="5400" cap="none">
                <a:solidFill>
                  <a:schemeClr val="bg1"/>
                </a:solidFill>
              </a:defRPr>
            </a:lvl1pPr>
          </a:lstStyle>
          <a:p>
            <a:r>
              <a:rPr lang="en-US" dirty="0"/>
              <a:t>Presentation Title</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1023257" y="2629338"/>
            <a:ext cx="7763458" cy="449263"/>
          </a:xfrm>
        </p:spPr>
        <p:txBody>
          <a:bodyPr>
            <a:noAutofit/>
          </a:bodyPr>
          <a:lstStyle>
            <a:lvl1pPr marL="0" indent="0">
              <a:buFontTx/>
              <a:buNone/>
              <a:defRPr sz="2400" b="1" i="0">
                <a:solidFill>
                  <a:schemeClr val="bg2"/>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3" name="Text Placeholder 8">
            <a:extLst>
              <a:ext uri="{FF2B5EF4-FFF2-40B4-BE49-F238E27FC236}">
                <a16:creationId xmlns:a16="http://schemas.microsoft.com/office/drawing/2014/main" id="{76FFA1BC-72F9-9048-3E39-D300A3A6A52E}"/>
              </a:ext>
            </a:extLst>
          </p:cNvPr>
          <p:cNvSpPr>
            <a:spLocks noGrp="1"/>
          </p:cNvSpPr>
          <p:nvPr>
            <p:ph type="body" sz="quarter" idx="11" hasCustomPrompt="1"/>
          </p:nvPr>
        </p:nvSpPr>
        <p:spPr>
          <a:xfrm>
            <a:off x="1023257" y="3107129"/>
            <a:ext cx="7763458" cy="449263"/>
          </a:xfrm>
        </p:spPr>
        <p:txBody>
          <a:bodyPr>
            <a:normAutofit/>
          </a:bodyPr>
          <a:lstStyle>
            <a:lvl1pPr marL="0" indent="0">
              <a:buFontTx/>
              <a:buNone/>
              <a:defRPr sz="1600">
                <a:solidFill>
                  <a:schemeClr val="bg2"/>
                </a:solidFill>
                <a:latin typeface="Acumin Pro"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fld id="{C7124C19-F609-8C4C-8116-78E353E3E672}" type="datetime1">
              <a:rPr lang="en-US" smtClean="0"/>
              <a:t>3/29/23</a:t>
            </a:fld>
            <a:endParaRPr lang="en-US" dirty="0"/>
          </a:p>
        </p:txBody>
      </p:sp>
      <p:sp>
        <p:nvSpPr>
          <p:cNvPr id="4" name="Slide Number Placeholder 3">
            <a:extLst>
              <a:ext uri="{FF2B5EF4-FFF2-40B4-BE49-F238E27FC236}">
                <a16:creationId xmlns:a16="http://schemas.microsoft.com/office/drawing/2014/main" id="{58EC3163-7E89-C90A-4497-846BA4987D4E}"/>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5" name="Picture 2">
            <a:extLst>
              <a:ext uri="{FF2B5EF4-FFF2-40B4-BE49-F238E27FC236}">
                <a16:creationId xmlns:a16="http://schemas.microsoft.com/office/drawing/2014/main" id="{BF1C9772-21E9-60AF-EA4D-990518FB845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3258"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9483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itle 6">
            <a:extLst>
              <a:ext uri="{FF2B5EF4-FFF2-40B4-BE49-F238E27FC236}">
                <a16:creationId xmlns:a16="http://schemas.microsoft.com/office/drawing/2014/main" id="{B1EEEEC0-D7E4-4DE5-4E3D-FAAD9ABA8990}"/>
              </a:ext>
            </a:extLst>
          </p:cNvPr>
          <p:cNvSpPr>
            <a:spLocks noGrp="1"/>
          </p:cNvSpPr>
          <p:nvPr>
            <p:ph type="title" hasCustomPrompt="1"/>
          </p:nvPr>
        </p:nvSpPr>
        <p:spPr>
          <a:xfrm>
            <a:off x="1023257" y="1812045"/>
            <a:ext cx="7763458" cy="719757"/>
          </a:xfrm>
        </p:spPr>
        <p:txBody>
          <a:bodyPr>
            <a:noAutofit/>
          </a:bodyPr>
          <a:lstStyle>
            <a:lvl1pPr>
              <a:defRPr sz="5400" cap="none">
                <a:solidFill>
                  <a:schemeClr val="tx1"/>
                </a:solidFill>
              </a:defRPr>
            </a:lvl1pPr>
          </a:lstStyle>
          <a:p>
            <a:r>
              <a:rPr lang="en-US" dirty="0"/>
              <a:t>Presentation Title</a:t>
            </a:r>
          </a:p>
        </p:txBody>
      </p:sp>
      <p:sp>
        <p:nvSpPr>
          <p:cNvPr id="9" name="Text Placeholder 8">
            <a:extLst>
              <a:ext uri="{FF2B5EF4-FFF2-40B4-BE49-F238E27FC236}">
                <a16:creationId xmlns:a16="http://schemas.microsoft.com/office/drawing/2014/main" id="{D8EDB9B8-C811-84E9-5F58-0130F3A8050C}"/>
              </a:ext>
            </a:extLst>
          </p:cNvPr>
          <p:cNvSpPr>
            <a:spLocks noGrp="1"/>
          </p:cNvSpPr>
          <p:nvPr>
            <p:ph type="body" sz="quarter" idx="10" hasCustomPrompt="1"/>
          </p:nvPr>
        </p:nvSpPr>
        <p:spPr>
          <a:xfrm>
            <a:off x="1023257" y="2617146"/>
            <a:ext cx="7763458" cy="449263"/>
          </a:xfrm>
        </p:spPr>
        <p:txBody>
          <a:bodyPr>
            <a:noAutofit/>
          </a:bodyPr>
          <a:lstStyle>
            <a:lvl1pPr marL="0" indent="0">
              <a:buFontTx/>
              <a:buNone/>
              <a:defRPr sz="2400" b="1" i="0">
                <a:solidFill>
                  <a:schemeClr val="tx1"/>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10" name="Text Placeholder 8">
            <a:extLst>
              <a:ext uri="{FF2B5EF4-FFF2-40B4-BE49-F238E27FC236}">
                <a16:creationId xmlns:a16="http://schemas.microsoft.com/office/drawing/2014/main" id="{24BF34A7-30DF-7BD2-A5A2-434BBF6672CA}"/>
              </a:ext>
            </a:extLst>
          </p:cNvPr>
          <p:cNvSpPr>
            <a:spLocks noGrp="1"/>
          </p:cNvSpPr>
          <p:nvPr>
            <p:ph type="body" sz="quarter" idx="11" hasCustomPrompt="1"/>
          </p:nvPr>
        </p:nvSpPr>
        <p:spPr>
          <a:xfrm>
            <a:off x="1023257" y="3148847"/>
            <a:ext cx="7763458" cy="449263"/>
          </a:xfrm>
        </p:spPr>
        <p:txBody>
          <a:bodyPr>
            <a:normAutofit/>
          </a:bodyPr>
          <a:lstStyle>
            <a:lvl1pPr marL="0" indent="0">
              <a:buFontTx/>
              <a:buNone/>
              <a:defRPr sz="1600">
                <a:solidFill>
                  <a:schemeClr val="tx1"/>
                </a:solidFill>
                <a:latin typeface="Acumin Pro"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3/31/23</a:t>
            </a:r>
          </a:p>
        </p:txBody>
      </p:sp>
      <p:sp>
        <p:nvSpPr>
          <p:cNvPr id="3" name="Slide Number Placeholder 2">
            <a:extLst>
              <a:ext uri="{FF2B5EF4-FFF2-40B4-BE49-F238E27FC236}">
                <a16:creationId xmlns:a16="http://schemas.microsoft.com/office/drawing/2014/main" id="{BDC8F108-1702-5F20-3D95-B2102374CAB1}"/>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E4CFA9E7-7538-3E2F-C153-0158206399F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4143" y="5829397"/>
            <a:ext cx="4318000" cy="46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946224"/>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176D92-8FAB-782E-E607-5D0C5CC9C2A2}"/>
              </a:ext>
            </a:extLst>
          </p:cNvPr>
          <p:cNvSpPr>
            <a:spLocks noGrp="1"/>
          </p:cNvSpPr>
          <p:nvPr>
            <p:ph type="pic" idx="1"/>
          </p:nvPr>
        </p:nvSpPr>
        <p:spPr>
          <a:xfrm>
            <a:off x="0" y="0"/>
            <a:ext cx="12192000" cy="68580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a:extLst>
              <a:ext uri="{FF2B5EF4-FFF2-40B4-BE49-F238E27FC236}">
                <a16:creationId xmlns:a16="http://schemas.microsoft.com/office/drawing/2014/main" id="{85FDAFB6-8BB6-ADBB-6574-5B0C25E7BDDF}"/>
              </a:ext>
            </a:extLst>
          </p:cNvPr>
          <p:cNvSpPr>
            <a:spLocks noGrp="1"/>
          </p:cNvSpPr>
          <p:nvPr>
            <p:ph type="title"/>
          </p:nvPr>
        </p:nvSpPr>
        <p:spPr>
          <a:xfrm>
            <a:off x="478972" y="4671391"/>
            <a:ext cx="11266714" cy="1401419"/>
          </a:xfrm>
        </p:spPr>
        <p:txBody>
          <a:bodyPr/>
          <a:lstStyle>
            <a:lvl1pPr algn="ctr">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5FF931D0-D7E7-D9E1-3CCC-83299A09228A}"/>
              </a:ext>
            </a:extLst>
          </p:cNvPr>
          <p:cNvSpPr>
            <a:spLocks noGrp="1"/>
          </p:cNvSpPr>
          <p:nvPr>
            <p:ph type="body" sz="quarter" idx="10" hasCustomPrompt="1"/>
          </p:nvPr>
        </p:nvSpPr>
        <p:spPr>
          <a:xfrm>
            <a:off x="478972" y="6085510"/>
            <a:ext cx="11266714" cy="449263"/>
          </a:xfrm>
        </p:spPr>
        <p:txBody>
          <a:bodyPr>
            <a:noAutofit/>
          </a:bodyPr>
          <a:lstStyle>
            <a:lvl1pPr marL="0" indent="0" algn="ctr">
              <a:buFontTx/>
              <a:buNone/>
              <a:defRPr sz="2000" b="1" i="0">
                <a:solidFill>
                  <a:schemeClr val="tx1"/>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Subtitle style</a:t>
            </a:r>
          </a:p>
        </p:txBody>
      </p:sp>
    </p:spTree>
    <p:extLst>
      <p:ext uri="{BB962C8B-B14F-4D97-AF65-F5344CB8AC3E}">
        <p14:creationId xmlns:p14="http://schemas.microsoft.com/office/powerpoint/2010/main" val="24955238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hoto">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0" y="-9525"/>
            <a:ext cx="12192000" cy="6867525"/>
          </a:xfrm>
          <a:ln>
            <a:noFill/>
          </a:ln>
        </p:spPr>
        <p:txBody>
          <a:bodyPr/>
          <a:lstStyle/>
          <a:p>
            <a:r>
              <a:rPr lang="en-US"/>
              <a:t>Click icon to add picture</a:t>
            </a:r>
          </a:p>
        </p:txBody>
      </p:sp>
      <p:sp>
        <p:nvSpPr>
          <p:cNvPr id="3" name="Slide Number Placeholder 2">
            <a:extLst>
              <a:ext uri="{FF2B5EF4-FFF2-40B4-BE49-F238E27FC236}">
                <a16:creationId xmlns:a16="http://schemas.microsoft.com/office/drawing/2014/main" id="{6EFC2CE8-E7A7-5DA8-903C-7C61B21A6F1A}"/>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839120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with Copy">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1">
            <a:noAutofit/>
          </a:bodyPr>
          <a:lstStyle>
            <a:lvl1pPr marL="0" indent="0" algn="l" fontAlgn="t">
              <a:buFontTx/>
              <a:buNone/>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C4ECEF9E-3A6E-C6FF-42DA-EDF0D1D988C2}"/>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2" name="Picture 2">
            <a:extLst>
              <a:ext uri="{FF2B5EF4-FFF2-40B4-BE49-F238E27FC236}">
                <a16:creationId xmlns:a16="http://schemas.microsoft.com/office/drawing/2014/main" id="{4CAD524F-ADFB-FF46-A001-5030604377D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557734"/>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2">
            <a:noAutofit/>
          </a:bodyPr>
          <a:lstStyle>
            <a:lvl1pPr marL="0" indent="0" algn="l" fontAlgn="t">
              <a:buFontTx/>
              <a:buNone/>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A85743F-DCAE-A9EE-5293-03DFB306B0F8}"/>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E99B4CAC-1043-AFE7-E5AB-E64101AF155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245322"/>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628D381-488B-4C1C-32F0-1D389C1FF7E3}"/>
              </a:ext>
            </a:extLst>
          </p:cNvPr>
          <p:cNvSpPr>
            <a:spLocks noGrp="1"/>
          </p:cNvSpPr>
          <p:nvPr>
            <p:ph idx="14"/>
          </p:nvPr>
        </p:nvSpPr>
        <p:spPr>
          <a:xfrm>
            <a:off x="468086" y="1543324"/>
            <a:ext cx="11266714" cy="4454706"/>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15EE0A7E-143D-2A83-397F-55801DA0663E}"/>
              </a:ext>
            </a:extLst>
          </p:cNvPr>
          <p:cNvSpPr>
            <a:spLocks noGrp="1"/>
          </p:cNvSpPr>
          <p:nvPr>
            <p:ph type="title"/>
          </p:nvPr>
        </p:nvSpPr>
        <p:spPr/>
        <p:txBody>
          <a:bodyPr/>
          <a:lstStyle/>
          <a:p>
            <a:r>
              <a:rPr lang="en-US"/>
              <a:t>Click to edit Master title style</a:t>
            </a:r>
            <a:endParaRPr lang="en-US" dirty="0"/>
          </a:p>
        </p:txBody>
      </p:sp>
      <p:sp>
        <p:nvSpPr>
          <p:cNvPr id="5" name="Text Placeholder 13">
            <a:extLst>
              <a:ext uri="{FF2B5EF4-FFF2-40B4-BE49-F238E27FC236}">
                <a16:creationId xmlns:a16="http://schemas.microsoft.com/office/drawing/2014/main" id="{65EE62C3-A7DA-7701-DE4B-C1A290C4FAE3}"/>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Slide Number Placeholder 6">
            <a:extLst>
              <a:ext uri="{FF2B5EF4-FFF2-40B4-BE49-F238E27FC236}">
                <a16:creationId xmlns:a16="http://schemas.microsoft.com/office/drawing/2014/main" id="{3AC54E73-61A3-FF0B-7F4C-17B1D97376A1}"/>
              </a:ext>
            </a:extLst>
          </p:cNvPr>
          <p:cNvSpPr>
            <a:spLocks noGrp="1"/>
          </p:cNvSpPr>
          <p:nvPr>
            <p:ph type="sldNum" sz="quarter" idx="15"/>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F705AEC-1F4B-D402-6142-24D61C516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784404"/>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with Content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6" y="1543324"/>
            <a:ext cx="5413169"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8F449F3F-4187-E891-E28D-ABAA40118134}"/>
              </a:ext>
            </a:extLst>
          </p:cNvPr>
          <p:cNvSpPr>
            <a:spLocks noGrp="1"/>
          </p:cNvSpPr>
          <p:nvPr>
            <p:ph idx="13"/>
          </p:nvPr>
        </p:nvSpPr>
        <p:spPr>
          <a:xfrm>
            <a:off x="6309157" y="1543324"/>
            <a:ext cx="5425643"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3">
            <a:extLst>
              <a:ext uri="{FF2B5EF4-FFF2-40B4-BE49-F238E27FC236}">
                <a16:creationId xmlns:a16="http://schemas.microsoft.com/office/drawing/2014/main" id="{5FC4CE19-DA95-2729-993D-BB0D45B6B56B}"/>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Slide Number Placeholder 3">
            <a:extLst>
              <a:ext uri="{FF2B5EF4-FFF2-40B4-BE49-F238E27FC236}">
                <a16:creationId xmlns:a16="http://schemas.microsoft.com/office/drawing/2014/main" id="{6659EA93-442C-59A0-2250-A5181989CDD4}"/>
              </a:ext>
            </a:extLst>
          </p:cNvPr>
          <p:cNvSpPr>
            <a:spLocks noGrp="1"/>
          </p:cNvSpPr>
          <p:nvPr>
            <p:ph type="sldNum" sz="quarter" idx="14"/>
          </p:nvPr>
        </p:nvSpPr>
        <p:spPr/>
        <p:txBody>
          <a:bodyPr/>
          <a:lstStyle/>
          <a:p>
            <a:fld id="{F994776A-187E-9540-9EA4-8D5781AB769D}" type="slidenum">
              <a:rPr lang="en-US" smtClean="0"/>
              <a:pPr/>
              <a:t>‹#›</a:t>
            </a:fld>
            <a:endParaRPr lang="en-US" dirty="0"/>
          </a:p>
        </p:txBody>
      </p:sp>
      <p:pic>
        <p:nvPicPr>
          <p:cNvPr id="5" name="Picture 2">
            <a:extLst>
              <a:ext uri="{FF2B5EF4-FFF2-40B4-BE49-F238E27FC236}">
                <a16:creationId xmlns:a16="http://schemas.microsoft.com/office/drawing/2014/main" id="{82AE1B83-EE6D-EA0B-DD6A-AF15AFD6AC1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50902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with Content -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7" y="1543324"/>
            <a:ext cx="3507565"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6D77F14-E88B-D0A5-6F63-E4DA45A7CD6B}"/>
              </a:ext>
            </a:extLst>
          </p:cNvPr>
          <p:cNvSpPr>
            <a:spLocks noGrp="1"/>
          </p:cNvSpPr>
          <p:nvPr>
            <p:ph idx="17"/>
          </p:nvPr>
        </p:nvSpPr>
        <p:spPr>
          <a:xfrm>
            <a:off x="4342217" y="1543323"/>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5A95E987-1BAB-5DE6-3A52-75935C62985E}"/>
              </a:ext>
            </a:extLst>
          </p:cNvPr>
          <p:cNvSpPr>
            <a:spLocks noGrp="1"/>
          </p:cNvSpPr>
          <p:nvPr>
            <p:ph idx="18"/>
          </p:nvPr>
        </p:nvSpPr>
        <p:spPr>
          <a:xfrm>
            <a:off x="8243137" y="1543322"/>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3">
            <a:extLst>
              <a:ext uri="{FF2B5EF4-FFF2-40B4-BE49-F238E27FC236}">
                <a16:creationId xmlns:a16="http://schemas.microsoft.com/office/drawing/2014/main" id="{5CA31FF2-2F1A-7D0F-36B0-1773F6A9AB34}"/>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5" name="Slide Number Placeholder 4">
            <a:extLst>
              <a:ext uri="{FF2B5EF4-FFF2-40B4-BE49-F238E27FC236}">
                <a16:creationId xmlns:a16="http://schemas.microsoft.com/office/drawing/2014/main" id="{E377EB8B-3A4C-F880-133B-94D59A7B36B8}"/>
              </a:ext>
            </a:extLst>
          </p:cNvPr>
          <p:cNvSpPr>
            <a:spLocks noGrp="1"/>
          </p:cNvSpPr>
          <p:nvPr>
            <p:ph type="sldNum" sz="quarter" idx="19"/>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3A8E3C9-6B0B-C4C1-8036-586EE7062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0042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hoto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3" y="3652272"/>
            <a:ext cx="5469743"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1" y="1543323"/>
            <a:ext cx="546974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6275945" y="1543323"/>
            <a:ext cx="5458727"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6264929" y="3652271"/>
            <a:ext cx="5469743"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E1A7288C-38D9-0159-D0E4-B042D466D179}"/>
              </a:ext>
            </a:extLst>
          </p:cNvPr>
          <p:cNvSpPr>
            <a:spLocks noGrp="1"/>
          </p:cNvSpPr>
          <p:nvPr>
            <p:ph type="sldNum" sz="quarter" idx="16"/>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4C9FCD37-EAE5-5E1F-F19B-0843EF6AF1F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297873"/>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hoto with Copy - 3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4" y="3652272"/>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2" y="1543323"/>
            <a:ext cx="3534479"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4336974" y="1543324"/>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4325959" y="3652272"/>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8205605" y="1532307"/>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 Placeholder 11">
            <a:extLst>
              <a:ext uri="{FF2B5EF4-FFF2-40B4-BE49-F238E27FC236}">
                <a16:creationId xmlns:a16="http://schemas.microsoft.com/office/drawing/2014/main" id="{347E27B2-1DE2-3469-81EF-9EBD7DC7AFBA}"/>
              </a:ext>
            </a:extLst>
          </p:cNvPr>
          <p:cNvSpPr>
            <a:spLocks noGrp="1"/>
          </p:cNvSpPr>
          <p:nvPr>
            <p:ph type="body" sz="quarter" idx="17"/>
          </p:nvPr>
        </p:nvSpPr>
        <p:spPr>
          <a:xfrm>
            <a:off x="8194590" y="3641255"/>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4647B2B3-AD22-934B-7901-EF00010BA35F}"/>
              </a:ext>
            </a:extLst>
          </p:cNvPr>
          <p:cNvSpPr>
            <a:spLocks noGrp="1"/>
          </p:cNvSpPr>
          <p:nvPr>
            <p:ph type="sldNum" sz="quarter" idx="18"/>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68043993-A23E-2800-6166-87A2E901B88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771552"/>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7402-16CB-60F1-259A-4E1A16194431}"/>
              </a:ext>
            </a:extLst>
          </p:cNvPr>
          <p:cNvSpPr>
            <a:spLocks noGrp="1"/>
          </p:cNvSpPr>
          <p:nvPr>
            <p:ph type="title"/>
          </p:nvPr>
        </p:nvSpPr>
        <p:spPr>
          <a:xfrm>
            <a:off x="457202" y="457200"/>
            <a:ext cx="4314823" cy="964096"/>
          </a:xfrm>
        </p:spPr>
        <p:txBody>
          <a:bodyPr anchor="b"/>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B9889552-EB9F-6D72-9130-E107C02C22F6}"/>
              </a:ext>
            </a:extLst>
          </p:cNvPr>
          <p:cNvSpPr>
            <a:spLocks noGrp="1"/>
          </p:cNvSpPr>
          <p:nvPr>
            <p:ph type="body" sz="half" idx="2"/>
          </p:nvPr>
        </p:nvSpPr>
        <p:spPr>
          <a:xfrm>
            <a:off x="457202" y="1570383"/>
            <a:ext cx="4314823" cy="429860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Content Placeholder 2">
            <a:extLst>
              <a:ext uri="{FF2B5EF4-FFF2-40B4-BE49-F238E27FC236}">
                <a16:creationId xmlns:a16="http://schemas.microsoft.com/office/drawing/2014/main" id="{C5F6EAB8-D2BB-0BDE-C7AC-895B69CA533E}"/>
              </a:ext>
            </a:extLst>
          </p:cNvPr>
          <p:cNvSpPr>
            <a:spLocks noGrp="1"/>
          </p:cNvSpPr>
          <p:nvPr>
            <p:ph idx="1"/>
          </p:nvPr>
        </p:nvSpPr>
        <p:spPr>
          <a:xfrm>
            <a:off x="5071871" y="457200"/>
            <a:ext cx="6662927" cy="541178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A8C6DC60-EE89-734D-242E-5043417AC8BC}"/>
              </a:ext>
            </a:extLst>
          </p:cNvPr>
          <p:cNvSpPr>
            <a:spLocks noGrp="1"/>
          </p:cNvSpPr>
          <p:nvPr>
            <p:ph type="sldNum" sz="quarter" idx="10"/>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95D3C33-27D3-B844-8764-066A5767D11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6967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hoto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99A83-2C12-9A72-A547-B9374C1072DC}"/>
              </a:ext>
            </a:extLst>
          </p:cNvPr>
          <p:cNvSpPr>
            <a:spLocks noGrp="1"/>
          </p:cNvSpPr>
          <p:nvPr>
            <p:ph type="title"/>
          </p:nvPr>
        </p:nvSpPr>
        <p:spPr>
          <a:xfrm>
            <a:off x="446314" y="470037"/>
            <a:ext cx="4325711" cy="1034775"/>
          </a:xfrm>
        </p:spPr>
        <p:txBody>
          <a:bodyPr anchor="b"/>
          <a:lstStyle>
            <a:lvl1pPr fontAlgn="t">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5183188" y="470037"/>
            <a:ext cx="6562498" cy="5391013"/>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46314" y="1759226"/>
            <a:ext cx="4325711" cy="4086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61DDC806-6E08-B58A-6B09-ECD209B759DB}"/>
              </a:ext>
            </a:extLst>
          </p:cNvPr>
          <p:cNvSpPr>
            <a:spLocks noGrp="1"/>
          </p:cNvSpPr>
          <p:nvPr>
            <p:ph type="sldNum" sz="quarter" idx="10"/>
          </p:nvPr>
        </p:nvSpPr>
        <p:spPr/>
        <p:txBody>
          <a:bodyPr/>
          <a:lstStyle/>
          <a:p>
            <a:fld id="{F994776A-187E-9540-9EA4-8D5781AB769D}" type="slidenum">
              <a:rPr lang="en-US" smtClean="0"/>
              <a:pPr/>
              <a:t>‹#›</a:t>
            </a:fld>
            <a:endParaRPr lang="en-US" dirty="0"/>
          </a:p>
        </p:txBody>
      </p:sp>
      <p:pic>
        <p:nvPicPr>
          <p:cNvPr id="5" name="Picture 4">
            <a:extLst>
              <a:ext uri="{FF2B5EF4-FFF2-40B4-BE49-F238E27FC236}">
                <a16:creationId xmlns:a16="http://schemas.microsoft.com/office/drawing/2014/main" id="{C42FD94D-1CE6-402A-C500-6DCE6F9A3524}"/>
              </a:ext>
            </a:extLst>
          </p:cNvPr>
          <p:cNvPicPr>
            <a:picLocks noChangeAspect="1"/>
          </p:cNvPicPr>
          <p:nvPr userDrawn="1"/>
        </p:nvPicPr>
        <p:blipFill>
          <a:blip r:embed="rId2"/>
          <a:stretch>
            <a:fillRect/>
          </a:stretch>
        </p:blipFill>
        <p:spPr>
          <a:xfrm>
            <a:off x="446314" y="6215540"/>
            <a:ext cx="3350434" cy="354752"/>
          </a:xfrm>
          <a:prstGeom prst="rect">
            <a:avLst/>
          </a:prstGeom>
        </p:spPr>
      </p:pic>
    </p:spTree>
    <p:extLst>
      <p:ext uri="{BB962C8B-B14F-4D97-AF65-F5344CB8AC3E}">
        <p14:creationId xmlns:p14="http://schemas.microsoft.com/office/powerpoint/2010/main" val="20082868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46313"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itle 4">
            <a:extLst>
              <a:ext uri="{FF2B5EF4-FFF2-40B4-BE49-F238E27FC236}">
                <a16:creationId xmlns:a16="http://schemas.microsoft.com/office/drawing/2014/main" id="{B7832766-AA56-63AE-E2AA-9A2947343D87}"/>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CF92D672-5C11-B647-ADA7-722837BA86C0}"/>
              </a:ext>
            </a:extLst>
          </p:cNvPr>
          <p:cNvSpPr>
            <a:spLocks noGrp="1"/>
          </p:cNvSpPr>
          <p:nvPr>
            <p:ph type="pic" idx="12"/>
          </p:nvPr>
        </p:nvSpPr>
        <p:spPr>
          <a:xfrm>
            <a:off x="6286962"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Text Placeholder 13">
            <a:extLst>
              <a:ext uri="{FF2B5EF4-FFF2-40B4-BE49-F238E27FC236}">
                <a16:creationId xmlns:a16="http://schemas.microsoft.com/office/drawing/2014/main" id="{6AFB8997-E903-BD34-CBB7-A70F3BD090A1}"/>
              </a:ext>
            </a:extLst>
          </p:cNvPr>
          <p:cNvSpPr>
            <a:spLocks noGrp="1"/>
          </p:cNvSpPr>
          <p:nvPr>
            <p:ph type="body" sz="quarter" idx="13"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Slide Number Placeholder 3">
            <a:extLst>
              <a:ext uri="{FF2B5EF4-FFF2-40B4-BE49-F238E27FC236}">
                <a16:creationId xmlns:a16="http://schemas.microsoft.com/office/drawing/2014/main" id="{70480C45-204B-0517-4FC2-236945E741BF}"/>
              </a:ext>
            </a:extLst>
          </p:cNvPr>
          <p:cNvSpPr>
            <a:spLocks noGrp="1"/>
          </p:cNvSpPr>
          <p:nvPr>
            <p:ph type="sldNum" sz="quarter" idx="14"/>
          </p:nvPr>
        </p:nvSpPr>
        <p:spPr/>
        <p:txBody>
          <a:bodyPr/>
          <a:lstStyle/>
          <a:p>
            <a:fld id="{F994776A-187E-9540-9EA4-8D5781AB769D}" type="slidenum">
              <a:rPr lang="en-US" smtClean="0"/>
              <a:pPr/>
              <a:t>‹#›</a:t>
            </a:fld>
            <a:endParaRPr lang="en-US" dirty="0"/>
          </a:p>
        </p:txBody>
      </p:sp>
      <p:pic>
        <p:nvPicPr>
          <p:cNvPr id="6" name="Picture 2">
            <a:extLst>
              <a:ext uri="{FF2B5EF4-FFF2-40B4-BE49-F238E27FC236}">
                <a16:creationId xmlns:a16="http://schemas.microsoft.com/office/drawing/2014/main" id="{E8E9D75D-EF46-B669-7F0B-847008B9553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62667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py with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68086" y="1543323"/>
            <a:ext cx="5862679"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6615759" y="1543322"/>
            <a:ext cx="5129927" cy="4307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3486577" y="3795304"/>
            <a:ext cx="2844188"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68086" y="3795304"/>
            <a:ext cx="2844188"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6" name="Slide Number Placeholder 5">
            <a:extLst>
              <a:ext uri="{FF2B5EF4-FFF2-40B4-BE49-F238E27FC236}">
                <a16:creationId xmlns:a16="http://schemas.microsoft.com/office/drawing/2014/main" id="{ADA3C43D-3312-15BB-B055-F99C088EB6F8}"/>
              </a:ext>
            </a:extLst>
          </p:cNvPr>
          <p:cNvSpPr>
            <a:spLocks noGrp="1"/>
          </p:cNvSpPr>
          <p:nvPr>
            <p:ph type="sldNum" sz="quarter" idx="16"/>
          </p:nvPr>
        </p:nvSpPr>
        <p:spPr/>
        <p:txBody>
          <a:bodyPr/>
          <a:lstStyle/>
          <a:p>
            <a:fld id="{F994776A-187E-9540-9EA4-8D5781AB769D}" type="slidenum">
              <a:rPr lang="en-US" smtClean="0"/>
              <a:pPr/>
              <a:t>‹#›</a:t>
            </a:fld>
            <a:endParaRPr lang="en-US" dirty="0"/>
          </a:p>
        </p:txBody>
      </p:sp>
      <p:pic>
        <p:nvPicPr>
          <p:cNvPr id="7" name="Picture 2">
            <a:extLst>
              <a:ext uri="{FF2B5EF4-FFF2-40B4-BE49-F238E27FC236}">
                <a16:creationId xmlns:a16="http://schemas.microsoft.com/office/drawing/2014/main" id="{C77598CD-72E0-76B5-3E7C-CE820E7B586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9800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Photos with Cap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35428"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57200"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Picture Placeholder 2">
            <a:extLst>
              <a:ext uri="{FF2B5EF4-FFF2-40B4-BE49-F238E27FC236}">
                <a16:creationId xmlns:a16="http://schemas.microsoft.com/office/drawing/2014/main" id="{60A3B0E8-AC0D-A169-37E3-2D123D6EBF24}"/>
              </a:ext>
            </a:extLst>
          </p:cNvPr>
          <p:cNvSpPr>
            <a:spLocks noGrp="1"/>
          </p:cNvSpPr>
          <p:nvPr>
            <p:ph type="pic" idx="16"/>
          </p:nvPr>
        </p:nvSpPr>
        <p:spPr>
          <a:xfrm>
            <a:off x="4325104"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3" name="Picture Placeholder 2">
            <a:extLst>
              <a:ext uri="{FF2B5EF4-FFF2-40B4-BE49-F238E27FC236}">
                <a16:creationId xmlns:a16="http://schemas.microsoft.com/office/drawing/2014/main" id="{640970D8-E511-89A8-FC5C-6DB37485ADE3}"/>
              </a:ext>
            </a:extLst>
          </p:cNvPr>
          <p:cNvSpPr>
            <a:spLocks noGrp="1"/>
          </p:cNvSpPr>
          <p:nvPr>
            <p:ph type="pic" idx="17"/>
          </p:nvPr>
        </p:nvSpPr>
        <p:spPr>
          <a:xfrm>
            <a:off x="8181729"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4" name="Text Placeholder 3">
            <a:extLst>
              <a:ext uri="{FF2B5EF4-FFF2-40B4-BE49-F238E27FC236}">
                <a16:creationId xmlns:a16="http://schemas.microsoft.com/office/drawing/2014/main" id="{6B04B79A-B4BD-0306-3D46-D570E1F51CA6}"/>
              </a:ext>
            </a:extLst>
          </p:cNvPr>
          <p:cNvSpPr>
            <a:spLocks noGrp="1"/>
          </p:cNvSpPr>
          <p:nvPr>
            <p:ph type="body" sz="half" idx="18"/>
          </p:nvPr>
        </p:nvSpPr>
        <p:spPr>
          <a:xfrm>
            <a:off x="4303332"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Text Placeholder 3">
            <a:extLst>
              <a:ext uri="{FF2B5EF4-FFF2-40B4-BE49-F238E27FC236}">
                <a16:creationId xmlns:a16="http://schemas.microsoft.com/office/drawing/2014/main" id="{450B4796-C4B7-C272-5ADD-7D6C896B703E}"/>
              </a:ext>
            </a:extLst>
          </p:cNvPr>
          <p:cNvSpPr>
            <a:spLocks noGrp="1"/>
          </p:cNvSpPr>
          <p:nvPr>
            <p:ph type="body" sz="half" idx="19"/>
          </p:nvPr>
        </p:nvSpPr>
        <p:spPr>
          <a:xfrm>
            <a:off x="8181729"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2" name="Text Placeholder 3">
            <a:extLst>
              <a:ext uri="{FF2B5EF4-FFF2-40B4-BE49-F238E27FC236}">
                <a16:creationId xmlns:a16="http://schemas.microsoft.com/office/drawing/2014/main" id="{4633AE4D-056F-FC97-1F10-877F247AB319}"/>
              </a:ext>
            </a:extLst>
          </p:cNvPr>
          <p:cNvSpPr>
            <a:spLocks noGrp="1"/>
          </p:cNvSpPr>
          <p:nvPr>
            <p:ph type="body" sz="half" idx="20"/>
          </p:nvPr>
        </p:nvSpPr>
        <p:spPr>
          <a:xfrm>
            <a:off x="413656"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3" name="Picture Placeholder 2">
            <a:extLst>
              <a:ext uri="{FF2B5EF4-FFF2-40B4-BE49-F238E27FC236}">
                <a16:creationId xmlns:a16="http://schemas.microsoft.com/office/drawing/2014/main" id="{19716662-3C77-F831-E45C-F9EA49810F58}"/>
              </a:ext>
            </a:extLst>
          </p:cNvPr>
          <p:cNvSpPr>
            <a:spLocks noGrp="1"/>
          </p:cNvSpPr>
          <p:nvPr>
            <p:ph type="pic" idx="21"/>
          </p:nvPr>
        </p:nvSpPr>
        <p:spPr>
          <a:xfrm>
            <a:off x="435428"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4" name="Picture Placeholder 2">
            <a:extLst>
              <a:ext uri="{FF2B5EF4-FFF2-40B4-BE49-F238E27FC236}">
                <a16:creationId xmlns:a16="http://schemas.microsoft.com/office/drawing/2014/main" id="{1ED1A14F-5E0D-476E-9C60-BD987EFC4940}"/>
              </a:ext>
            </a:extLst>
          </p:cNvPr>
          <p:cNvSpPr>
            <a:spLocks noGrp="1"/>
          </p:cNvSpPr>
          <p:nvPr>
            <p:ph type="pic" idx="22"/>
          </p:nvPr>
        </p:nvSpPr>
        <p:spPr>
          <a:xfrm>
            <a:off x="4303332"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5" name="Picture Placeholder 2">
            <a:extLst>
              <a:ext uri="{FF2B5EF4-FFF2-40B4-BE49-F238E27FC236}">
                <a16:creationId xmlns:a16="http://schemas.microsoft.com/office/drawing/2014/main" id="{A0003A4C-26CB-DD7F-0B22-024AFB58DC67}"/>
              </a:ext>
            </a:extLst>
          </p:cNvPr>
          <p:cNvSpPr>
            <a:spLocks noGrp="1"/>
          </p:cNvSpPr>
          <p:nvPr>
            <p:ph type="pic" idx="23"/>
          </p:nvPr>
        </p:nvSpPr>
        <p:spPr>
          <a:xfrm>
            <a:off x="8193008"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6" name="Text Placeholder 3">
            <a:extLst>
              <a:ext uri="{FF2B5EF4-FFF2-40B4-BE49-F238E27FC236}">
                <a16:creationId xmlns:a16="http://schemas.microsoft.com/office/drawing/2014/main" id="{08CE8D58-56A2-6AE5-AB18-C53F4134DD88}"/>
              </a:ext>
            </a:extLst>
          </p:cNvPr>
          <p:cNvSpPr>
            <a:spLocks noGrp="1"/>
          </p:cNvSpPr>
          <p:nvPr>
            <p:ph type="body" sz="half" idx="24"/>
          </p:nvPr>
        </p:nvSpPr>
        <p:spPr>
          <a:xfrm>
            <a:off x="4281560"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7A4C2D1F-1A58-AC60-F606-B816E5F23FFF}"/>
              </a:ext>
            </a:extLst>
          </p:cNvPr>
          <p:cNvSpPr>
            <a:spLocks noGrp="1"/>
          </p:cNvSpPr>
          <p:nvPr>
            <p:ph type="body" sz="half" idx="25"/>
          </p:nvPr>
        </p:nvSpPr>
        <p:spPr>
          <a:xfrm>
            <a:off x="8193008"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Text Placeholder 13">
            <a:extLst>
              <a:ext uri="{FF2B5EF4-FFF2-40B4-BE49-F238E27FC236}">
                <a16:creationId xmlns:a16="http://schemas.microsoft.com/office/drawing/2014/main" id="{924D92CB-DB6C-EEE8-BDA7-E3D7B0643641}"/>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Slide Number Placeholder 6">
            <a:extLst>
              <a:ext uri="{FF2B5EF4-FFF2-40B4-BE49-F238E27FC236}">
                <a16:creationId xmlns:a16="http://schemas.microsoft.com/office/drawing/2014/main" id="{720A2560-8530-94AA-9E7F-F5A56AB4E3D7}"/>
              </a:ext>
            </a:extLst>
          </p:cNvPr>
          <p:cNvSpPr>
            <a:spLocks noGrp="1"/>
          </p:cNvSpPr>
          <p:nvPr>
            <p:ph type="sldNum" sz="quarter" idx="26"/>
          </p:nvPr>
        </p:nvSpPr>
        <p:spPr/>
        <p:txBody>
          <a:bodyPr/>
          <a:lstStyle/>
          <a:p>
            <a:fld id="{F994776A-187E-9540-9EA4-8D5781AB769D}" type="slidenum">
              <a:rPr lang="en-US" smtClean="0"/>
              <a:pPr/>
              <a:t>‹#›</a:t>
            </a:fld>
            <a:endParaRPr lang="en-US" dirty="0"/>
          </a:p>
        </p:txBody>
      </p:sp>
      <p:pic>
        <p:nvPicPr>
          <p:cNvPr id="8" name="Picture 2">
            <a:extLst>
              <a:ext uri="{FF2B5EF4-FFF2-40B4-BE49-F238E27FC236}">
                <a16:creationId xmlns:a16="http://schemas.microsoft.com/office/drawing/2014/main" id="{7AF31650-E388-54F8-9AE5-64910C9556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5997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4" y="1542762"/>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334406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623655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6223A017-A902-92C1-8A99-7D45B08D860D}"/>
              </a:ext>
            </a:extLst>
          </p:cNvPr>
          <p:cNvSpPr>
            <a:spLocks noGrp="1"/>
          </p:cNvSpPr>
          <p:nvPr>
            <p:ph type="pic" idx="17"/>
          </p:nvPr>
        </p:nvSpPr>
        <p:spPr>
          <a:xfrm>
            <a:off x="912904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5" name="Picture Placeholder 2">
            <a:extLst>
              <a:ext uri="{FF2B5EF4-FFF2-40B4-BE49-F238E27FC236}">
                <a16:creationId xmlns:a16="http://schemas.microsoft.com/office/drawing/2014/main" id="{FE352EAA-3DC6-450E-518D-B55638975ECE}"/>
              </a:ext>
            </a:extLst>
          </p:cNvPr>
          <p:cNvSpPr>
            <a:spLocks noGrp="1"/>
          </p:cNvSpPr>
          <p:nvPr>
            <p:ph type="pic" idx="18"/>
          </p:nvPr>
        </p:nvSpPr>
        <p:spPr>
          <a:xfrm>
            <a:off x="1843620" y="3651150"/>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6" name="Picture Placeholder 2">
            <a:extLst>
              <a:ext uri="{FF2B5EF4-FFF2-40B4-BE49-F238E27FC236}">
                <a16:creationId xmlns:a16="http://schemas.microsoft.com/office/drawing/2014/main" id="{1E5E3807-051E-4D4B-1143-A6B4BDDBB5D8}"/>
              </a:ext>
            </a:extLst>
          </p:cNvPr>
          <p:cNvSpPr>
            <a:spLocks noGrp="1"/>
          </p:cNvSpPr>
          <p:nvPr>
            <p:ph type="pic" idx="19"/>
          </p:nvPr>
        </p:nvSpPr>
        <p:spPr>
          <a:xfrm>
            <a:off x="474136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7" name="Picture Placeholder 2">
            <a:extLst>
              <a:ext uri="{FF2B5EF4-FFF2-40B4-BE49-F238E27FC236}">
                <a16:creationId xmlns:a16="http://schemas.microsoft.com/office/drawing/2014/main" id="{9659EF4B-6B57-DE2A-B33A-D60A659CFE6D}"/>
              </a:ext>
            </a:extLst>
          </p:cNvPr>
          <p:cNvSpPr>
            <a:spLocks noGrp="1"/>
          </p:cNvSpPr>
          <p:nvPr>
            <p:ph type="pic" idx="20"/>
          </p:nvPr>
        </p:nvSpPr>
        <p:spPr>
          <a:xfrm>
            <a:off x="763385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2767-6954-6B12-1677-BE947CE88EB8}"/>
              </a:ext>
            </a:extLst>
          </p:cNvPr>
          <p:cNvSpPr>
            <a:spLocks noGrp="1"/>
          </p:cNvSpPr>
          <p:nvPr>
            <p:ph type="sldNum" sz="quarter" idx="21"/>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AC297EAB-60AE-2CA6-7FC1-B2BF3AB1084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85345"/>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hart with 2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6521986" y="3884037"/>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a:extLst>
              <a:ext uri="{FF2B5EF4-FFF2-40B4-BE49-F238E27FC236}">
                <a16:creationId xmlns:a16="http://schemas.microsoft.com/office/drawing/2014/main" id="{467A134D-7A3A-AD4B-91DF-57347E308706}"/>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4581B053-21C8-C0AD-58C7-637A6315D1B2}"/>
              </a:ext>
            </a:extLst>
          </p:cNvPr>
          <p:cNvSpPr>
            <a:spLocks noGrp="1"/>
          </p:cNvSpPr>
          <p:nvPr>
            <p:ph type="body" sz="half" idx="2"/>
          </p:nvPr>
        </p:nvSpPr>
        <p:spPr>
          <a:xfrm>
            <a:off x="6521726" y="3395949"/>
            <a:ext cx="521294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Rectangle 16">
            <a:extLst>
              <a:ext uri="{FF2B5EF4-FFF2-40B4-BE49-F238E27FC236}">
                <a16:creationId xmlns:a16="http://schemas.microsoft.com/office/drawing/2014/main" id="{D8B2033E-9DB9-9A2B-D4C5-6D8960838D22}"/>
              </a:ext>
            </a:extLst>
          </p:cNvPr>
          <p:cNvSpPr/>
          <p:nvPr userDrawn="1"/>
        </p:nvSpPr>
        <p:spPr>
          <a:xfrm>
            <a:off x="6521856" y="5636913"/>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 Placeholder 3">
            <a:extLst>
              <a:ext uri="{FF2B5EF4-FFF2-40B4-BE49-F238E27FC236}">
                <a16:creationId xmlns:a16="http://schemas.microsoft.com/office/drawing/2014/main" id="{F02FFCFA-A84F-7535-4A5F-29A5FC646063}"/>
              </a:ext>
            </a:extLst>
          </p:cNvPr>
          <p:cNvSpPr>
            <a:spLocks noGrp="1"/>
          </p:cNvSpPr>
          <p:nvPr>
            <p:ph type="body" sz="half" idx="19"/>
          </p:nvPr>
        </p:nvSpPr>
        <p:spPr>
          <a:xfrm>
            <a:off x="6521726" y="5636913"/>
            <a:ext cx="521281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Slide Number Placeholder 3">
            <a:extLst>
              <a:ext uri="{FF2B5EF4-FFF2-40B4-BE49-F238E27FC236}">
                <a16:creationId xmlns:a16="http://schemas.microsoft.com/office/drawing/2014/main" id="{E5C45827-5CB3-E873-7680-6D8C2AAB95D6}"/>
              </a:ext>
            </a:extLst>
          </p:cNvPr>
          <p:cNvSpPr>
            <a:spLocks noGrp="1"/>
          </p:cNvSpPr>
          <p:nvPr>
            <p:ph type="sldNum" sz="quarter" idx="20"/>
          </p:nvPr>
        </p:nvSpPr>
        <p:spPr/>
        <p:txBody>
          <a:bodyPr/>
          <a:lstStyle/>
          <a:p>
            <a:fld id="{F994776A-187E-9540-9EA4-8D5781AB769D}" type="slidenum">
              <a:rPr lang="en-US" smtClean="0"/>
              <a:pPr/>
              <a:t>‹#›</a:t>
            </a:fld>
            <a:endParaRPr lang="en-US" dirty="0"/>
          </a:p>
        </p:txBody>
      </p:sp>
      <p:pic>
        <p:nvPicPr>
          <p:cNvPr id="9" name="Picture 2">
            <a:extLst>
              <a:ext uri="{FF2B5EF4-FFF2-40B4-BE49-F238E27FC236}">
                <a16:creationId xmlns:a16="http://schemas.microsoft.com/office/drawing/2014/main" id="{C87E9216-1A8F-085F-5596-89DFB20E790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46484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hart with 3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9287219" y="3884037"/>
            <a:ext cx="2447580"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6521986" y="3879120"/>
            <a:ext cx="2528916"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CAC4E08-5A51-BF4F-655E-4E54DD771548}"/>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ext Placeholder 3">
            <a:extLst>
              <a:ext uri="{FF2B5EF4-FFF2-40B4-BE49-F238E27FC236}">
                <a16:creationId xmlns:a16="http://schemas.microsoft.com/office/drawing/2014/main" id="{27D80C23-74F3-F853-02BF-83C743039F6E}"/>
              </a:ext>
            </a:extLst>
          </p:cNvPr>
          <p:cNvSpPr>
            <a:spLocks noGrp="1"/>
          </p:cNvSpPr>
          <p:nvPr>
            <p:ph type="body" sz="half" idx="2"/>
          </p:nvPr>
        </p:nvSpPr>
        <p:spPr>
          <a:xfrm>
            <a:off x="6571823" y="3395949"/>
            <a:ext cx="5162846"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Rectangle 6">
            <a:extLst>
              <a:ext uri="{FF2B5EF4-FFF2-40B4-BE49-F238E27FC236}">
                <a16:creationId xmlns:a16="http://schemas.microsoft.com/office/drawing/2014/main" id="{F8F22EB8-4EFD-86A4-8EB8-8A4F1A1AA2DF}"/>
              </a:ext>
            </a:extLst>
          </p:cNvPr>
          <p:cNvSpPr/>
          <p:nvPr userDrawn="1"/>
        </p:nvSpPr>
        <p:spPr>
          <a:xfrm>
            <a:off x="6512818" y="5631997"/>
            <a:ext cx="251233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66A4B2AA-E0AE-18DD-BAA3-AF2A9CA6987A}"/>
              </a:ext>
            </a:extLst>
          </p:cNvPr>
          <p:cNvSpPr>
            <a:spLocks noGrp="1"/>
          </p:cNvSpPr>
          <p:nvPr>
            <p:ph type="body" sz="half" idx="19"/>
          </p:nvPr>
        </p:nvSpPr>
        <p:spPr>
          <a:xfrm>
            <a:off x="6562654" y="5631997"/>
            <a:ext cx="2488248"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Rectangle 14">
            <a:extLst>
              <a:ext uri="{FF2B5EF4-FFF2-40B4-BE49-F238E27FC236}">
                <a16:creationId xmlns:a16="http://schemas.microsoft.com/office/drawing/2014/main" id="{E18B5CD1-FF93-2C9C-1BFF-73A3CE39E65D}"/>
              </a:ext>
            </a:extLst>
          </p:cNvPr>
          <p:cNvSpPr/>
          <p:nvPr userDrawn="1"/>
        </p:nvSpPr>
        <p:spPr>
          <a:xfrm>
            <a:off x="9287218" y="5641703"/>
            <a:ext cx="2431941"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3">
            <a:extLst>
              <a:ext uri="{FF2B5EF4-FFF2-40B4-BE49-F238E27FC236}">
                <a16:creationId xmlns:a16="http://schemas.microsoft.com/office/drawing/2014/main" id="{C52272AC-9734-6D60-9441-B5E7B9E4E372}"/>
              </a:ext>
            </a:extLst>
          </p:cNvPr>
          <p:cNvSpPr>
            <a:spLocks noGrp="1"/>
          </p:cNvSpPr>
          <p:nvPr>
            <p:ph type="body" sz="half" idx="20"/>
          </p:nvPr>
        </p:nvSpPr>
        <p:spPr>
          <a:xfrm>
            <a:off x="9337055" y="5641703"/>
            <a:ext cx="2408630"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Slide Number Placeholder 12">
            <a:extLst>
              <a:ext uri="{FF2B5EF4-FFF2-40B4-BE49-F238E27FC236}">
                <a16:creationId xmlns:a16="http://schemas.microsoft.com/office/drawing/2014/main" id="{01CBD603-B977-E0E5-7C2E-C0061CD0B72C}"/>
              </a:ext>
            </a:extLst>
          </p:cNvPr>
          <p:cNvSpPr>
            <a:spLocks noGrp="1"/>
          </p:cNvSpPr>
          <p:nvPr>
            <p:ph type="sldNum" sz="quarter" idx="21"/>
          </p:nvPr>
        </p:nvSpPr>
        <p:spPr/>
        <p:txBody>
          <a:bodyPr/>
          <a:lstStyle/>
          <a:p>
            <a:fld id="{F994776A-187E-9540-9EA4-8D5781AB769D}" type="slidenum">
              <a:rPr lang="en-US" smtClean="0"/>
              <a:pPr/>
              <a:t>‹#›</a:t>
            </a:fld>
            <a:endParaRPr lang="en-US" dirty="0"/>
          </a:p>
        </p:txBody>
      </p:sp>
      <p:pic>
        <p:nvPicPr>
          <p:cNvPr id="9" name="Picture 2">
            <a:extLst>
              <a:ext uri="{FF2B5EF4-FFF2-40B4-BE49-F238E27FC236}">
                <a16:creationId xmlns:a16="http://schemas.microsoft.com/office/drawing/2014/main" id="{A7F1900C-EBAA-D81A-8063-47664791EA0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5242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mparison - 3 Blocks - Blac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CFF414-FA47-F7EC-7EFB-7073E26BB831}"/>
              </a:ext>
            </a:extLst>
          </p:cNvPr>
          <p:cNvSpPr/>
          <p:nvPr userDrawn="1"/>
        </p:nvSpPr>
        <p:spPr>
          <a:xfrm>
            <a:off x="7938475" y="1315894"/>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13C0F4F-1E76-E3A4-E5AA-8FA79C7C69FB}"/>
              </a:ext>
            </a:extLst>
          </p:cNvPr>
          <p:cNvSpPr/>
          <p:nvPr userDrawn="1"/>
        </p:nvSpPr>
        <p:spPr>
          <a:xfrm>
            <a:off x="4420956" y="1315895"/>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7105CB-DECE-0616-2A57-776784CFC1CB}"/>
              </a:ext>
            </a:extLst>
          </p:cNvPr>
          <p:cNvSpPr/>
          <p:nvPr userDrawn="1"/>
        </p:nvSpPr>
        <p:spPr>
          <a:xfrm>
            <a:off x="903437" y="1315896"/>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7" name="Text Placeholder 6">
            <a:extLst>
              <a:ext uri="{FF2B5EF4-FFF2-40B4-BE49-F238E27FC236}">
                <a16:creationId xmlns:a16="http://schemas.microsoft.com/office/drawing/2014/main" id="{1813FE17-B697-FB87-4ED6-D832D798E901}"/>
              </a:ext>
            </a:extLst>
          </p:cNvPr>
          <p:cNvSpPr>
            <a:spLocks noGrp="1"/>
          </p:cNvSpPr>
          <p:nvPr>
            <p:ph type="body" sz="quarter" idx="10" hasCustomPrompt="1"/>
          </p:nvPr>
        </p:nvSpPr>
        <p:spPr>
          <a:xfrm>
            <a:off x="903506" y="143646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1" name="Picture Placeholder 10">
            <a:extLst>
              <a:ext uri="{FF2B5EF4-FFF2-40B4-BE49-F238E27FC236}">
                <a16:creationId xmlns:a16="http://schemas.microsoft.com/office/drawing/2014/main" id="{8B65CB9D-AA49-05C2-2100-C63D32C82B85}"/>
              </a:ext>
            </a:extLst>
          </p:cNvPr>
          <p:cNvSpPr>
            <a:spLocks noGrp="1"/>
          </p:cNvSpPr>
          <p:nvPr>
            <p:ph type="pic" sz="quarter" idx="12"/>
          </p:nvPr>
        </p:nvSpPr>
        <p:spPr>
          <a:xfrm>
            <a:off x="1101943" y="4045824"/>
            <a:ext cx="2951163" cy="1555750"/>
          </a:xfrm>
        </p:spPr>
        <p:txBody>
          <a:bodyPr/>
          <a:lstStyle>
            <a:lvl1pPr marL="0" indent="0">
              <a:buNone/>
              <a:defRPr/>
            </a:lvl1pPr>
          </a:lstStyle>
          <a:p>
            <a:r>
              <a:rPr lang="en-US"/>
              <a:t>Click icon to add picture</a:t>
            </a:r>
            <a:endParaRPr lang="en-US" dirty="0"/>
          </a:p>
        </p:txBody>
      </p:sp>
      <p:sp>
        <p:nvSpPr>
          <p:cNvPr id="17" name="Text Placeholder 6">
            <a:extLst>
              <a:ext uri="{FF2B5EF4-FFF2-40B4-BE49-F238E27FC236}">
                <a16:creationId xmlns:a16="http://schemas.microsoft.com/office/drawing/2014/main" id="{43204028-135E-83A2-B94A-693154F531B4}"/>
              </a:ext>
            </a:extLst>
          </p:cNvPr>
          <p:cNvSpPr>
            <a:spLocks noGrp="1"/>
          </p:cNvSpPr>
          <p:nvPr>
            <p:ph type="body" sz="quarter" idx="13" hasCustomPrompt="1"/>
          </p:nvPr>
        </p:nvSpPr>
        <p:spPr>
          <a:xfrm>
            <a:off x="4421284" y="143646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9" name="Picture Placeholder 10">
            <a:extLst>
              <a:ext uri="{FF2B5EF4-FFF2-40B4-BE49-F238E27FC236}">
                <a16:creationId xmlns:a16="http://schemas.microsoft.com/office/drawing/2014/main" id="{D4E810FD-2D00-764A-B144-B235C21E32F6}"/>
              </a:ext>
            </a:extLst>
          </p:cNvPr>
          <p:cNvSpPr>
            <a:spLocks noGrp="1"/>
          </p:cNvSpPr>
          <p:nvPr>
            <p:ph type="pic" sz="quarter" idx="15"/>
          </p:nvPr>
        </p:nvSpPr>
        <p:spPr>
          <a:xfrm>
            <a:off x="4619721" y="4045824"/>
            <a:ext cx="2951163" cy="1555750"/>
          </a:xfrm>
        </p:spPr>
        <p:txBody>
          <a:bodyPr/>
          <a:lstStyle>
            <a:lvl1pPr marL="0" indent="0">
              <a:buNone/>
              <a:defRPr/>
            </a:lvl1pPr>
          </a:lstStyle>
          <a:p>
            <a:r>
              <a:rPr lang="en-US"/>
              <a:t>Click icon to add picture</a:t>
            </a:r>
            <a:endParaRPr lang="en-US" dirty="0"/>
          </a:p>
        </p:txBody>
      </p:sp>
      <p:sp>
        <p:nvSpPr>
          <p:cNvPr id="21" name="Text Placeholder 6">
            <a:extLst>
              <a:ext uri="{FF2B5EF4-FFF2-40B4-BE49-F238E27FC236}">
                <a16:creationId xmlns:a16="http://schemas.microsoft.com/office/drawing/2014/main" id="{0A71EF50-386A-A3B9-93FB-6EF179A4EE47}"/>
              </a:ext>
            </a:extLst>
          </p:cNvPr>
          <p:cNvSpPr>
            <a:spLocks noGrp="1"/>
          </p:cNvSpPr>
          <p:nvPr>
            <p:ph type="body" sz="quarter" idx="16" hasCustomPrompt="1"/>
          </p:nvPr>
        </p:nvSpPr>
        <p:spPr>
          <a:xfrm>
            <a:off x="7938803" y="143391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23" name="Picture Placeholder 10">
            <a:extLst>
              <a:ext uri="{FF2B5EF4-FFF2-40B4-BE49-F238E27FC236}">
                <a16:creationId xmlns:a16="http://schemas.microsoft.com/office/drawing/2014/main" id="{6AE17ED9-FDD9-34C3-1F7D-9A8EA4C4B40E}"/>
              </a:ext>
            </a:extLst>
          </p:cNvPr>
          <p:cNvSpPr>
            <a:spLocks noGrp="1"/>
          </p:cNvSpPr>
          <p:nvPr>
            <p:ph type="pic" sz="quarter" idx="18"/>
          </p:nvPr>
        </p:nvSpPr>
        <p:spPr>
          <a:xfrm>
            <a:off x="8137240" y="4043274"/>
            <a:ext cx="2951163" cy="1555750"/>
          </a:xfrm>
        </p:spPr>
        <p:txBody>
          <a:bodyPr/>
          <a:lstStyle>
            <a:lvl1pPr marL="0" indent="0">
              <a:buNone/>
              <a:defRPr b="1"/>
            </a:lvl1pPr>
          </a:lstStyle>
          <a:p>
            <a:r>
              <a:rPr lang="en-US"/>
              <a:t>Click icon to add picture</a:t>
            </a:r>
            <a:endParaRPr lang="en-US" dirty="0"/>
          </a:p>
        </p:txBody>
      </p:sp>
      <p:sp>
        <p:nvSpPr>
          <p:cNvPr id="16" name="Title 15">
            <a:extLst>
              <a:ext uri="{FF2B5EF4-FFF2-40B4-BE49-F238E27FC236}">
                <a16:creationId xmlns:a16="http://schemas.microsoft.com/office/drawing/2014/main" id="{77D3ED32-45F9-B948-371F-67E8465B2438}"/>
              </a:ext>
            </a:extLst>
          </p:cNvPr>
          <p:cNvSpPr>
            <a:spLocks noGrp="1"/>
          </p:cNvSpPr>
          <p:nvPr>
            <p:ph type="title"/>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140B5B1B-89D1-9945-6AB1-0D9B2E27009A}"/>
              </a:ext>
            </a:extLst>
          </p:cNvPr>
          <p:cNvSpPr>
            <a:spLocks noGrp="1"/>
          </p:cNvSpPr>
          <p:nvPr>
            <p:ph type="body" sz="half" idx="2" hasCustomPrompt="1"/>
          </p:nvPr>
        </p:nvSpPr>
        <p:spPr>
          <a:xfrm>
            <a:off x="1087907" y="2065260"/>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8" name="Text Placeholder 3">
            <a:extLst>
              <a:ext uri="{FF2B5EF4-FFF2-40B4-BE49-F238E27FC236}">
                <a16:creationId xmlns:a16="http://schemas.microsoft.com/office/drawing/2014/main" id="{CCAB75A6-8C36-AD93-09A1-D377BF55C686}"/>
              </a:ext>
            </a:extLst>
          </p:cNvPr>
          <p:cNvSpPr>
            <a:spLocks noGrp="1"/>
          </p:cNvSpPr>
          <p:nvPr>
            <p:ph type="body" sz="half" idx="20" hasCustomPrompt="1"/>
          </p:nvPr>
        </p:nvSpPr>
        <p:spPr>
          <a:xfrm>
            <a:off x="4605427" y="2065259"/>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10" name="Text Placeholder 3">
            <a:extLst>
              <a:ext uri="{FF2B5EF4-FFF2-40B4-BE49-F238E27FC236}">
                <a16:creationId xmlns:a16="http://schemas.microsoft.com/office/drawing/2014/main" id="{9BFCE088-E342-EDAD-213D-39C8B8D85057}"/>
              </a:ext>
            </a:extLst>
          </p:cNvPr>
          <p:cNvSpPr>
            <a:spLocks noGrp="1"/>
          </p:cNvSpPr>
          <p:nvPr>
            <p:ph type="body" sz="half" idx="21" hasCustomPrompt="1"/>
          </p:nvPr>
        </p:nvSpPr>
        <p:spPr>
          <a:xfrm>
            <a:off x="8122945" y="2065259"/>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9" name="Slide Number Placeholder 8">
            <a:extLst>
              <a:ext uri="{FF2B5EF4-FFF2-40B4-BE49-F238E27FC236}">
                <a16:creationId xmlns:a16="http://schemas.microsoft.com/office/drawing/2014/main" id="{3752A11A-CEFD-01B7-2324-466BE85E97BA}"/>
              </a:ext>
            </a:extLst>
          </p:cNvPr>
          <p:cNvSpPr>
            <a:spLocks noGrp="1"/>
          </p:cNvSpPr>
          <p:nvPr>
            <p:ph type="sldNum" sz="quarter" idx="22"/>
          </p:nvPr>
        </p:nvSpPr>
        <p:spPr/>
        <p:txBody>
          <a:bodyPr/>
          <a:lstStyle/>
          <a:p>
            <a:fld id="{F994776A-187E-9540-9EA4-8D5781AB769D}" type="slidenum">
              <a:rPr lang="en-US" smtClean="0"/>
              <a:pPr/>
              <a:t>‹#›</a:t>
            </a:fld>
            <a:endParaRPr lang="en-US" dirty="0"/>
          </a:p>
        </p:txBody>
      </p:sp>
      <p:pic>
        <p:nvPicPr>
          <p:cNvPr id="12" name="Picture 2">
            <a:extLst>
              <a:ext uri="{FF2B5EF4-FFF2-40B4-BE49-F238E27FC236}">
                <a16:creationId xmlns:a16="http://schemas.microsoft.com/office/drawing/2014/main" id="{F1D30E38-DCA5-D7B3-D3F6-C20A366C600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1145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mparison - 3 Blocks - Go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98D576-4759-5408-883D-2E56D9D0F603}"/>
              </a:ext>
            </a:extLst>
          </p:cNvPr>
          <p:cNvSpPr/>
          <p:nvPr userDrawn="1"/>
        </p:nvSpPr>
        <p:spPr>
          <a:xfrm>
            <a:off x="7938216" y="1315892"/>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C44A1A-1D1D-F2D9-8EC1-EFF25EBA1FB0}"/>
              </a:ext>
            </a:extLst>
          </p:cNvPr>
          <p:cNvSpPr/>
          <p:nvPr userDrawn="1"/>
        </p:nvSpPr>
        <p:spPr>
          <a:xfrm>
            <a:off x="4420697" y="1315893"/>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38D75A-DD50-6C6E-0A9D-7F77E72C780A}"/>
              </a:ext>
            </a:extLst>
          </p:cNvPr>
          <p:cNvSpPr/>
          <p:nvPr userDrawn="1"/>
        </p:nvSpPr>
        <p:spPr>
          <a:xfrm>
            <a:off x="903178" y="1315894"/>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 name="Text Placeholder 6">
            <a:extLst>
              <a:ext uri="{FF2B5EF4-FFF2-40B4-BE49-F238E27FC236}">
                <a16:creationId xmlns:a16="http://schemas.microsoft.com/office/drawing/2014/main" id="{876A1563-09E6-06B6-EC4A-8E309CC57B11}"/>
              </a:ext>
            </a:extLst>
          </p:cNvPr>
          <p:cNvSpPr>
            <a:spLocks noGrp="1"/>
          </p:cNvSpPr>
          <p:nvPr>
            <p:ph type="body" sz="quarter" idx="10" hasCustomPrompt="1"/>
          </p:nvPr>
        </p:nvSpPr>
        <p:spPr>
          <a:xfrm>
            <a:off x="903247" y="143646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22" name="Text Placeholder 6">
            <a:extLst>
              <a:ext uri="{FF2B5EF4-FFF2-40B4-BE49-F238E27FC236}">
                <a16:creationId xmlns:a16="http://schemas.microsoft.com/office/drawing/2014/main" id="{AF401EC8-7352-A985-133C-726A718A9E9A}"/>
              </a:ext>
            </a:extLst>
          </p:cNvPr>
          <p:cNvSpPr>
            <a:spLocks noGrp="1"/>
          </p:cNvSpPr>
          <p:nvPr>
            <p:ph type="body" sz="quarter" idx="13" hasCustomPrompt="1"/>
          </p:nvPr>
        </p:nvSpPr>
        <p:spPr>
          <a:xfrm>
            <a:off x="4421025" y="143646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26" name="Text Placeholder 6">
            <a:extLst>
              <a:ext uri="{FF2B5EF4-FFF2-40B4-BE49-F238E27FC236}">
                <a16:creationId xmlns:a16="http://schemas.microsoft.com/office/drawing/2014/main" id="{71A04C69-EC92-81B2-FCD5-39464C669BEB}"/>
              </a:ext>
            </a:extLst>
          </p:cNvPr>
          <p:cNvSpPr>
            <a:spLocks noGrp="1"/>
          </p:cNvSpPr>
          <p:nvPr>
            <p:ph type="body" sz="quarter" idx="16" hasCustomPrompt="1"/>
          </p:nvPr>
        </p:nvSpPr>
        <p:spPr>
          <a:xfrm>
            <a:off x="7938544" y="143391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30" name="Text Placeholder 3">
            <a:extLst>
              <a:ext uri="{FF2B5EF4-FFF2-40B4-BE49-F238E27FC236}">
                <a16:creationId xmlns:a16="http://schemas.microsoft.com/office/drawing/2014/main" id="{AE5BF8CB-9477-F598-75C4-6F35D608B35B}"/>
              </a:ext>
            </a:extLst>
          </p:cNvPr>
          <p:cNvSpPr>
            <a:spLocks noGrp="1"/>
          </p:cNvSpPr>
          <p:nvPr>
            <p:ph type="body" sz="half" idx="2" hasCustomPrompt="1"/>
          </p:nvPr>
        </p:nvSpPr>
        <p:spPr>
          <a:xfrm>
            <a:off x="1101684" y="2040670"/>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31" name="Text Placeholder 3">
            <a:extLst>
              <a:ext uri="{FF2B5EF4-FFF2-40B4-BE49-F238E27FC236}">
                <a16:creationId xmlns:a16="http://schemas.microsoft.com/office/drawing/2014/main" id="{AE6CE746-1703-63A8-BBD4-546AD104E27E}"/>
              </a:ext>
            </a:extLst>
          </p:cNvPr>
          <p:cNvSpPr>
            <a:spLocks noGrp="1"/>
          </p:cNvSpPr>
          <p:nvPr>
            <p:ph type="body" sz="half" idx="24" hasCustomPrompt="1"/>
          </p:nvPr>
        </p:nvSpPr>
        <p:spPr>
          <a:xfrm>
            <a:off x="4604880" y="2065258"/>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33" name="Picture Placeholder 10">
            <a:extLst>
              <a:ext uri="{FF2B5EF4-FFF2-40B4-BE49-F238E27FC236}">
                <a16:creationId xmlns:a16="http://schemas.microsoft.com/office/drawing/2014/main" id="{53952BA5-2190-5106-0EBD-DA1D15EFBB9D}"/>
              </a:ext>
            </a:extLst>
          </p:cNvPr>
          <p:cNvSpPr>
            <a:spLocks noGrp="1"/>
          </p:cNvSpPr>
          <p:nvPr>
            <p:ph type="pic" sz="quarter" idx="12"/>
          </p:nvPr>
        </p:nvSpPr>
        <p:spPr>
          <a:xfrm>
            <a:off x="1101684" y="4045822"/>
            <a:ext cx="2951163" cy="1555750"/>
          </a:xfrm>
        </p:spPr>
        <p:txBody>
          <a:bodyPr/>
          <a:lstStyle>
            <a:lvl1pPr marL="0" indent="0">
              <a:buNone/>
              <a:defRPr/>
            </a:lvl1pPr>
          </a:lstStyle>
          <a:p>
            <a:r>
              <a:rPr lang="en-US"/>
              <a:t>Click icon to add picture</a:t>
            </a:r>
            <a:endParaRPr lang="en-US" dirty="0"/>
          </a:p>
        </p:txBody>
      </p:sp>
      <p:sp>
        <p:nvSpPr>
          <p:cNvPr id="34" name="Picture Placeholder 10">
            <a:extLst>
              <a:ext uri="{FF2B5EF4-FFF2-40B4-BE49-F238E27FC236}">
                <a16:creationId xmlns:a16="http://schemas.microsoft.com/office/drawing/2014/main" id="{835FE666-CADC-4DB4-80A4-BFD9823DE051}"/>
              </a:ext>
            </a:extLst>
          </p:cNvPr>
          <p:cNvSpPr>
            <a:spLocks noGrp="1"/>
          </p:cNvSpPr>
          <p:nvPr>
            <p:ph type="pic" sz="quarter" idx="15"/>
          </p:nvPr>
        </p:nvSpPr>
        <p:spPr>
          <a:xfrm>
            <a:off x="4619462" y="4045822"/>
            <a:ext cx="2951163" cy="1555750"/>
          </a:xfrm>
        </p:spPr>
        <p:txBody>
          <a:bodyPr/>
          <a:lstStyle>
            <a:lvl1pPr marL="0" indent="0">
              <a:buNone/>
              <a:defRPr/>
            </a:lvl1pPr>
          </a:lstStyle>
          <a:p>
            <a:r>
              <a:rPr lang="en-US"/>
              <a:t>Click icon to add picture</a:t>
            </a:r>
            <a:endParaRPr lang="en-US" dirty="0"/>
          </a:p>
        </p:txBody>
      </p:sp>
      <p:sp>
        <p:nvSpPr>
          <p:cNvPr id="35" name="Picture Placeholder 10">
            <a:extLst>
              <a:ext uri="{FF2B5EF4-FFF2-40B4-BE49-F238E27FC236}">
                <a16:creationId xmlns:a16="http://schemas.microsoft.com/office/drawing/2014/main" id="{AECA5017-0E7C-4957-02B2-65FA6C1F6E5F}"/>
              </a:ext>
            </a:extLst>
          </p:cNvPr>
          <p:cNvSpPr>
            <a:spLocks noGrp="1"/>
          </p:cNvSpPr>
          <p:nvPr>
            <p:ph type="pic" sz="quarter" idx="18"/>
          </p:nvPr>
        </p:nvSpPr>
        <p:spPr>
          <a:xfrm>
            <a:off x="8136981" y="4043272"/>
            <a:ext cx="2951163" cy="1555750"/>
          </a:xfrm>
        </p:spPr>
        <p:txBody>
          <a:bodyPr/>
          <a:lstStyle>
            <a:lvl1pPr marL="0" indent="0">
              <a:buNone/>
              <a:defRPr b="1"/>
            </a:lvl1pPr>
          </a:lstStyle>
          <a:p>
            <a:r>
              <a:rPr lang="en-US"/>
              <a:t>Click icon to add picture</a:t>
            </a:r>
            <a:endParaRPr lang="en-US" dirty="0"/>
          </a:p>
        </p:txBody>
      </p:sp>
      <p:sp>
        <p:nvSpPr>
          <p:cNvPr id="36" name="Text Placeholder 3">
            <a:extLst>
              <a:ext uri="{FF2B5EF4-FFF2-40B4-BE49-F238E27FC236}">
                <a16:creationId xmlns:a16="http://schemas.microsoft.com/office/drawing/2014/main" id="{9F4CE92C-83FA-CA44-69CB-E6229E144199}"/>
              </a:ext>
            </a:extLst>
          </p:cNvPr>
          <p:cNvSpPr>
            <a:spLocks noGrp="1"/>
          </p:cNvSpPr>
          <p:nvPr>
            <p:ph type="body" sz="half" idx="25" hasCustomPrompt="1"/>
          </p:nvPr>
        </p:nvSpPr>
        <p:spPr>
          <a:xfrm>
            <a:off x="8129414" y="2071424"/>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endParaRPr lang="en-US" dirty="0"/>
          </a:p>
        </p:txBody>
      </p:sp>
      <p:sp>
        <p:nvSpPr>
          <p:cNvPr id="2" name="Slide Number Placeholder 1">
            <a:extLst>
              <a:ext uri="{FF2B5EF4-FFF2-40B4-BE49-F238E27FC236}">
                <a16:creationId xmlns:a16="http://schemas.microsoft.com/office/drawing/2014/main" id="{4C556C0F-0FF4-1816-A9DC-60D03FBFCE53}"/>
              </a:ext>
            </a:extLst>
          </p:cNvPr>
          <p:cNvSpPr>
            <a:spLocks noGrp="1"/>
          </p:cNvSpPr>
          <p:nvPr>
            <p:ph type="sldNum" sz="quarter" idx="26"/>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3ED305B7-F98B-EB39-4331-AD7D293F0E8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56716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mparison - 5 Color Blocks">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p>
        </p:txBody>
      </p:sp>
      <p:sp>
        <p:nvSpPr>
          <p:cNvPr id="2" name="Rectangle 1">
            <a:extLst>
              <a:ext uri="{FF2B5EF4-FFF2-40B4-BE49-F238E27FC236}">
                <a16:creationId xmlns:a16="http://schemas.microsoft.com/office/drawing/2014/main" id="{C979A34A-6A6B-FC98-1EC8-8347FAB1A48F}"/>
              </a:ext>
            </a:extLst>
          </p:cNvPr>
          <p:cNvSpPr/>
          <p:nvPr userDrawn="1"/>
        </p:nvSpPr>
        <p:spPr>
          <a:xfrm>
            <a:off x="1008584" y="1660596"/>
            <a:ext cx="1918020" cy="436418"/>
          </a:xfrm>
          <a:prstGeom prst="rect">
            <a:avLst/>
          </a:prstGeom>
          <a:solidFill>
            <a:schemeClr val="tx2"/>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7" name="Rectangle 6">
            <a:extLst>
              <a:ext uri="{FF2B5EF4-FFF2-40B4-BE49-F238E27FC236}">
                <a16:creationId xmlns:a16="http://schemas.microsoft.com/office/drawing/2014/main" id="{3C3F2A76-73C1-7478-1C52-F70D9B50BC0A}"/>
              </a:ext>
            </a:extLst>
          </p:cNvPr>
          <p:cNvSpPr/>
          <p:nvPr userDrawn="1"/>
        </p:nvSpPr>
        <p:spPr>
          <a:xfrm>
            <a:off x="1011339" y="2160555"/>
            <a:ext cx="1915265" cy="323350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19" name="Rectangle 18">
            <a:extLst>
              <a:ext uri="{FF2B5EF4-FFF2-40B4-BE49-F238E27FC236}">
                <a16:creationId xmlns:a16="http://schemas.microsoft.com/office/drawing/2014/main" id="{3B6525D0-8078-E003-46A7-FFCB83C221E0}"/>
              </a:ext>
            </a:extLst>
          </p:cNvPr>
          <p:cNvSpPr/>
          <p:nvPr userDrawn="1"/>
        </p:nvSpPr>
        <p:spPr>
          <a:xfrm>
            <a:off x="3045437" y="1660596"/>
            <a:ext cx="1918020" cy="436418"/>
          </a:xfrm>
          <a:prstGeom prst="rect">
            <a:avLst/>
          </a:prstGeom>
          <a:solidFill>
            <a:schemeClr val="accent1">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0" name="Rectangle 19">
            <a:extLst>
              <a:ext uri="{FF2B5EF4-FFF2-40B4-BE49-F238E27FC236}">
                <a16:creationId xmlns:a16="http://schemas.microsoft.com/office/drawing/2014/main" id="{AE6AD059-9160-4AE4-0F86-92FB0AAD082C}"/>
              </a:ext>
            </a:extLst>
          </p:cNvPr>
          <p:cNvSpPr/>
          <p:nvPr userDrawn="1"/>
        </p:nvSpPr>
        <p:spPr>
          <a:xfrm>
            <a:off x="3048192" y="2160555"/>
            <a:ext cx="1915265" cy="323350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1" name="Rectangle 20">
            <a:extLst>
              <a:ext uri="{FF2B5EF4-FFF2-40B4-BE49-F238E27FC236}">
                <a16:creationId xmlns:a16="http://schemas.microsoft.com/office/drawing/2014/main" id="{E0F701C0-7A2F-0B95-E95C-07302A14CA56}"/>
              </a:ext>
            </a:extLst>
          </p:cNvPr>
          <p:cNvSpPr/>
          <p:nvPr userDrawn="1"/>
        </p:nvSpPr>
        <p:spPr>
          <a:xfrm>
            <a:off x="5082290" y="1660596"/>
            <a:ext cx="1918020" cy="436418"/>
          </a:xfrm>
          <a:prstGeom prst="rect">
            <a:avLst/>
          </a:prstGeom>
          <a:solidFill>
            <a:schemeClr val="bg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3" name="Rectangle 22">
            <a:extLst>
              <a:ext uri="{FF2B5EF4-FFF2-40B4-BE49-F238E27FC236}">
                <a16:creationId xmlns:a16="http://schemas.microsoft.com/office/drawing/2014/main" id="{AD786ED8-9187-C7FB-F774-CE52A2971FFD}"/>
              </a:ext>
            </a:extLst>
          </p:cNvPr>
          <p:cNvSpPr/>
          <p:nvPr userDrawn="1"/>
        </p:nvSpPr>
        <p:spPr>
          <a:xfrm>
            <a:off x="5085045" y="2160555"/>
            <a:ext cx="1915265" cy="32335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4" name="Rectangle 23">
            <a:extLst>
              <a:ext uri="{FF2B5EF4-FFF2-40B4-BE49-F238E27FC236}">
                <a16:creationId xmlns:a16="http://schemas.microsoft.com/office/drawing/2014/main" id="{9A6F5635-02F3-829F-B778-4A766D8D4A2D}"/>
              </a:ext>
            </a:extLst>
          </p:cNvPr>
          <p:cNvSpPr/>
          <p:nvPr userDrawn="1"/>
        </p:nvSpPr>
        <p:spPr>
          <a:xfrm>
            <a:off x="7119143" y="1660596"/>
            <a:ext cx="1918020" cy="436418"/>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5" name="Rectangle 24">
            <a:extLst>
              <a:ext uri="{FF2B5EF4-FFF2-40B4-BE49-F238E27FC236}">
                <a16:creationId xmlns:a16="http://schemas.microsoft.com/office/drawing/2014/main" id="{3CBD6A50-2E1C-FDDB-2F9B-D9101B8535C5}"/>
              </a:ext>
            </a:extLst>
          </p:cNvPr>
          <p:cNvSpPr/>
          <p:nvPr userDrawn="1"/>
        </p:nvSpPr>
        <p:spPr>
          <a:xfrm>
            <a:off x="7121898" y="2160555"/>
            <a:ext cx="1915265" cy="323350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7" name="Rectangle 26">
            <a:extLst>
              <a:ext uri="{FF2B5EF4-FFF2-40B4-BE49-F238E27FC236}">
                <a16:creationId xmlns:a16="http://schemas.microsoft.com/office/drawing/2014/main" id="{B239B4FF-413F-3DBC-C6E4-087C951C5464}"/>
              </a:ext>
            </a:extLst>
          </p:cNvPr>
          <p:cNvSpPr/>
          <p:nvPr userDrawn="1"/>
        </p:nvSpPr>
        <p:spPr>
          <a:xfrm>
            <a:off x="9155998" y="1660596"/>
            <a:ext cx="1918020" cy="436418"/>
          </a:xfrm>
          <a:prstGeom prst="rect">
            <a:avLst/>
          </a:prstGeom>
          <a:solidFill>
            <a:schemeClr val="tx2">
              <a:lumMod val="60000"/>
              <a:lumOff val="40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8" name="Rectangle 27">
            <a:extLst>
              <a:ext uri="{FF2B5EF4-FFF2-40B4-BE49-F238E27FC236}">
                <a16:creationId xmlns:a16="http://schemas.microsoft.com/office/drawing/2014/main" id="{8CB8434E-9F38-4592-327E-51A570C73E09}"/>
              </a:ext>
            </a:extLst>
          </p:cNvPr>
          <p:cNvSpPr/>
          <p:nvPr userDrawn="1"/>
        </p:nvSpPr>
        <p:spPr>
          <a:xfrm>
            <a:off x="9158753" y="2160555"/>
            <a:ext cx="1915265" cy="323350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44" name="Text Placeholder 6">
            <a:extLst>
              <a:ext uri="{FF2B5EF4-FFF2-40B4-BE49-F238E27FC236}">
                <a16:creationId xmlns:a16="http://schemas.microsoft.com/office/drawing/2014/main" id="{1BA8130D-B7F2-9815-5056-6F334D4BBAEF}"/>
              </a:ext>
            </a:extLst>
          </p:cNvPr>
          <p:cNvSpPr>
            <a:spLocks noGrp="1"/>
          </p:cNvSpPr>
          <p:nvPr>
            <p:ph type="body" sz="quarter" idx="10" hasCustomPrompt="1"/>
          </p:nvPr>
        </p:nvSpPr>
        <p:spPr>
          <a:xfrm>
            <a:off x="1008584" y="1783909"/>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5" name="Text Placeholder 6">
            <a:extLst>
              <a:ext uri="{FF2B5EF4-FFF2-40B4-BE49-F238E27FC236}">
                <a16:creationId xmlns:a16="http://schemas.microsoft.com/office/drawing/2014/main" id="{A41A66E4-0B84-E1FB-88CD-3E0E6E80C49D}"/>
              </a:ext>
            </a:extLst>
          </p:cNvPr>
          <p:cNvSpPr>
            <a:spLocks noGrp="1"/>
          </p:cNvSpPr>
          <p:nvPr>
            <p:ph type="body" sz="quarter" idx="28" hasCustomPrompt="1"/>
          </p:nvPr>
        </p:nvSpPr>
        <p:spPr>
          <a:xfrm>
            <a:off x="3045438"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6" name="Text Placeholder 6">
            <a:extLst>
              <a:ext uri="{FF2B5EF4-FFF2-40B4-BE49-F238E27FC236}">
                <a16:creationId xmlns:a16="http://schemas.microsoft.com/office/drawing/2014/main" id="{235E5CE7-3D80-1BB5-DACD-8A63CA927E9A}"/>
              </a:ext>
            </a:extLst>
          </p:cNvPr>
          <p:cNvSpPr>
            <a:spLocks noGrp="1"/>
          </p:cNvSpPr>
          <p:nvPr>
            <p:ph type="body" sz="quarter" idx="29" hasCustomPrompt="1"/>
          </p:nvPr>
        </p:nvSpPr>
        <p:spPr>
          <a:xfrm>
            <a:off x="5082291"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7" name="Text Placeholder 6">
            <a:extLst>
              <a:ext uri="{FF2B5EF4-FFF2-40B4-BE49-F238E27FC236}">
                <a16:creationId xmlns:a16="http://schemas.microsoft.com/office/drawing/2014/main" id="{685C02D4-EA4F-4962-D397-F6439EC5C6E9}"/>
              </a:ext>
            </a:extLst>
          </p:cNvPr>
          <p:cNvSpPr>
            <a:spLocks noGrp="1"/>
          </p:cNvSpPr>
          <p:nvPr>
            <p:ph type="body" sz="quarter" idx="30" hasCustomPrompt="1"/>
          </p:nvPr>
        </p:nvSpPr>
        <p:spPr>
          <a:xfrm>
            <a:off x="7119145"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8" name="Text Placeholder 6">
            <a:extLst>
              <a:ext uri="{FF2B5EF4-FFF2-40B4-BE49-F238E27FC236}">
                <a16:creationId xmlns:a16="http://schemas.microsoft.com/office/drawing/2014/main" id="{1F46F0A7-55C4-6BAE-BCB0-157A86C91997}"/>
              </a:ext>
            </a:extLst>
          </p:cNvPr>
          <p:cNvSpPr>
            <a:spLocks noGrp="1"/>
          </p:cNvSpPr>
          <p:nvPr>
            <p:ph type="body" sz="quarter" idx="31" hasCustomPrompt="1"/>
          </p:nvPr>
        </p:nvSpPr>
        <p:spPr>
          <a:xfrm>
            <a:off x="9156000" y="1770870"/>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9" name="Text Placeholder 3">
            <a:extLst>
              <a:ext uri="{FF2B5EF4-FFF2-40B4-BE49-F238E27FC236}">
                <a16:creationId xmlns:a16="http://schemas.microsoft.com/office/drawing/2014/main" id="{9E69C3F7-0A3A-FAC2-6540-8BB750E9AA4C}"/>
              </a:ext>
            </a:extLst>
          </p:cNvPr>
          <p:cNvSpPr>
            <a:spLocks noGrp="1"/>
          </p:cNvSpPr>
          <p:nvPr>
            <p:ph type="body" sz="half" idx="2"/>
          </p:nvPr>
        </p:nvSpPr>
        <p:spPr>
          <a:xfrm>
            <a:off x="1117982"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0" name="Text Placeholder 3">
            <a:extLst>
              <a:ext uri="{FF2B5EF4-FFF2-40B4-BE49-F238E27FC236}">
                <a16:creationId xmlns:a16="http://schemas.microsoft.com/office/drawing/2014/main" id="{040CB427-2320-1A81-037C-6D83BCA5B36F}"/>
              </a:ext>
            </a:extLst>
          </p:cNvPr>
          <p:cNvSpPr>
            <a:spLocks noGrp="1"/>
          </p:cNvSpPr>
          <p:nvPr>
            <p:ph type="body" sz="half" idx="32"/>
          </p:nvPr>
        </p:nvSpPr>
        <p:spPr>
          <a:xfrm>
            <a:off x="3175312" y="2299864"/>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1" name="Text Placeholder 3">
            <a:extLst>
              <a:ext uri="{FF2B5EF4-FFF2-40B4-BE49-F238E27FC236}">
                <a16:creationId xmlns:a16="http://schemas.microsoft.com/office/drawing/2014/main" id="{3144BCA8-7BD5-8323-CDAB-E5362D78AA68}"/>
              </a:ext>
            </a:extLst>
          </p:cNvPr>
          <p:cNvSpPr>
            <a:spLocks noGrp="1"/>
          </p:cNvSpPr>
          <p:nvPr>
            <p:ph type="body" sz="half" idx="33"/>
          </p:nvPr>
        </p:nvSpPr>
        <p:spPr>
          <a:xfrm>
            <a:off x="5212165"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2" name="Text Placeholder 3">
            <a:extLst>
              <a:ext uri="{FF2B5EF4-FFF2-40B4-BE49-F238E27FC236}">
                <a16:creationId xmlns:a16="http://schemas.microsoft.com/office/drawing/2014/main" id="{82EC0719-39BA-B2AB-F29D-3C947DC78925}"/>
              </a:ext>
            </a:extLst>
          </p:cNvPr>
          <p:cNvSpPr>
            <a:spLocks noGrp="1"/>
          </p:cNvSpPr>
          <p:nvPr>
            <p:ph type="body" sz="half" idx="34"/>
          </p:nvPr>
        </p:nvSpPr>
        <p:spPr>
          <a:xfrm>
            <a:off x="7249018"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3" name="Text Placeholder 3">
            <a:extLst>
              <a:ext uri="{FF2B5EF4-FFF2-40B4-BE49-F238E27FC236}">
                <a16:creationId xmlns:a16="http://schemas.microsoft.com/office/drawing/2014/main" id="{B939ED29-1A95-3771-8E52-C1F99F848ABD}"/>
              </a:ext>
            </a:extLst>
          </p:cNvPr>
          <p:cNvSpPr>
            <a:spLocks noGrp="1"/>
          </p:cNvSpPr>
          <p:nvPr>
            <p:ph type="body" sz="half" idx="35"/>
          </p:nvPr>
        </p:nvSpPr>
        <p:spPr>
          <a:xfrm>
            <a:off x="9285873"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4" name="Text Placeholder 13">
            <a:extLst>
              <a:ext uri="{FF2B5EF4-FFF2-40B4-BE49-F238E27FC236}">
                <a16:creationId xmlns:a16="http://schemas.microsoft.com/office/drawing/2014/main" id="{F45DEB53-8B0A-80C6-DDED-B72344235087}"/>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3" name="Slide Number Placeholder 2">
            <a:extLst>
              <a:ext uri="{FF2B5EF4-FFF2-40B4-BE49-F238E27FC236}">
                <a16:creationId xmlns:a16="http://schemas.microsoft.com/office/drawing/2014/main" id="{35728143-5B5E-2F91-1A50-ECF61312F188}"/>
              </a:ext>
            </a:extLst>
          </p:cNvPr>
          <p:cNvSpPr>
            <a:spLocks noGrp="1"/>
          </p:cNvSpPr>
          <p:nvPr>
            <p:ph type="sldNum" sz="quarter" idx="36"/>
          </p:nvPr>
        </p:nvSpPr>
        <p:spPr/>
        <p:txBody>
          <a:bodyPr/>
          <a:lstStyle/>
          <a:p>
            <a:fld id="{F994776A-187E-9540-9EA4-8D5781AB769D}" type="slidenum">
              <a:rPr lang="en-US" smtClean="0"/>
              <a:pPr/>
              <a:t>‹#›</a:t>
            </a:fld>
            <a:endParaRPr lang="en-US" dirty="0"/>
          </a:p>
        </p:txBody>
      </p:sp>
      <p:pic>
        <p:nvPicPr>
          <p:cNvPr id="5" name="Picture 2">
            <a:extLst>
              <a:ext uri="{FF2B5EF4-FFF2-40B4-BE49-F238E27FC236}">
                <a16:creationId xmlns:a16="http://schemas.microsoft.com/office/drawing/2014/main" id="{43566E4A-BC5E-1BD6-D669-AED4803AE44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55484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hoto with Caption - Black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4"/>
            <a:ext cx="6581614" cy="6882938"/>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944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p:nvPr>
        </p:nvSpPr>
        <p:spPr>
          <a:xfrm>
            <a:off x="1142005" y="891153"/>
            <a:ext cx="3932237" cy="1600200"/>
          </a:xfrm>
        </p:spPr>
        <p:txBody>
          <a:bodyPr anchor="b"/>
          <a:lstStyle>
            <a:lvl1pPr>
              <a:defRPr sz="3200">
                <a:solidFill>
                  <a:schemeClr val="bg1"/>
                </a:solidFill>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2E3836B8-46F8-6347-6A27-7BDA1D77E945}"/>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00592205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hoto with Caption - White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5"/>
            <a:ext cx="6581614" cy="6882938"/>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hasCustomPrompt="1"/>
          </p:nvPr>
        </p:nvSpPr>
        <p:spPr>
          <a:xfrm>
            <a:off x="1142005" y="891153"/>
            <a:ext cx="3932237" cy="1600200"/>
          </a:xfrm>
        </p:spPr>
        <p:txBody>
          <a:bodyPr anchor="b"/>
          <a:lstStyle>
            <a:lvl1pPr>
              <a:defRPr sz="3200">
                <a:solidFill>
                  <a:schemeClr val="tx1"/>
                </a:solidFill>
              </a:defRPr>
            </a:lvl1pPr>
          </a:lstStyle>
          <a:p>
            <a:r>
              <a:rPr lang="en-US" dirty="0"/>
              <a:t>Click to add title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3223C719-BBA8-8B6C-9920-142BDE7BBF5C}"/>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0990408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End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805070" y="2466280"/>
            <a:ext cx="7981645" cy="719757"/>
          </a:xfrm>
        </p:spPr>
        <p:txBody>
          <a:bodyPr>
            <a:noAutofit/>
          </a:bodyPr>
          <a:lstStyle>
            <a:lvl1pPr>
              <a:defRPr sz="9600" cap="none">
                <a:solidFill>
                  <a:schemeClr val="bg1"/>
                </a:solidFill>
              </a:defRPr>
            </a:lvl1pPr>
          </a:lstStyle>
          <a:p>
            <a:r>
              <a:rPr lang="en-US" dirty="0"/>
              <a:t>THANK YOU</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b="0" i="0">
                <a:solidFill>
                  <a:schemeClr val="bg2"/>
                </a:solidFill>
                <a:latin typeface="Acumin Pro Medium"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contact info</a:t>
            </a:r>
          </a:p>
        </p:txBody>
      </p:sp>
      <p:pic>
        <p:nvPicPr>
          <p:cNvPr id="3" name="Picture 2">
            <a:extLst>
              <a:ext uri="{FF2B5EF4-FFF2-40B4-BE49-F238E27FC236}">
                <a16:creationId xmlns:a16="http://schemas.microsoft.com/office/drawing/2014/main" id="{11ED8702-10BE-D052-6922-2244FAA25D1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3258"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12559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End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3" name="Title 6">
            <a:extLst>
              <a:ext uri="{FF2B5EF4-FFF2-40B4-BE49-F238E27FC236}">
                <a16:creationId xmlns:a16="http://schemas.microsoft.com/office/drawing/2014/main" id="{1648B145-A545-0D6D-AFF0-0F715C90759F}"/>
              </a:ext>
            </a:extLst>
          </p:cNvPr>
          <p:cNvSpPr>
            <a:spLocks noGrp="1"/>
          </p:cNvSpPr>
          <p:nvPr>
            <p:ph type="title" hasCustomPrompt="1"/>
          </p:nvPr>
        </p:nvSpPr>
        <p:spPr>
          <a:xfrm>
            <a:off x="805070" y="2466280"/>
            <a:ext cx="7981645" cy="719757"/>
          </a:xfrm>
        </p:spPr>
        <p:txBody>
          <a:bodyPr>
            <a:noAutofit/>
          </a:bodyPr>
          <a:lstStyle>
            <a:lvl1pPr>
              <a:defRPr sz="9600" cap="none">
                <a:solidFill>
                  <a:schemeClr val="tx1"/>
                </a:solidFill>
              </a:defRPr>
            </a:lvl1pPr>
          </a:lstStyle>
          <a:p>
            <a:r>
              <a:rPr lang="en-US" dirty="0"/>
              <a:t>THANK YOU</a:t>
            </a:r>
          </a:p>
        </p:txBody>
      </p:sp>
      <p:sp>
        <p:nvSpPr>
          <p:cNvPr id="5" name="Text Placeholder 8">
            <a:extLst>
              <a:ext uri="{FF2B5EF4-FFF2-40B4-BE49-F238E27FC236}">
                <a16:creationId xmlns:a16="http://schemas.microsoft.com/office/drawing/2014/main" id="{E3D40940-377F-6BBC-02CB-083B672BF56B}"/>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b="0" i="0">
                <a:solidFill>
                  <a:schemeClr val="tx1"/>
                </a:solidFill>
                <a:latin typeface="Acumin Pro Medium"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contact info</a:t>
            </a:r>
          </a:p>
        </p:txBody>
      </p:sp>
      <p:pic>
        <p:nvPicPr>
          <p:cNvPr id="4" name="Picture 2">
            <a:extLst>
              <a:ext uri="{FF2B5EF4-FFF2-40B4-BE49-F238E27FC236}">
                <a16:creationId xmlns:a16="http://schemas.microsoft.com/office/drawing/2014/main" id="{1E3761E7-C1FB-3C92-9D08-465FECF5765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4143" y="5829397"/>
            <a:ext cx="4318000" cy="46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396226"/>
      </p:ext>
    </p:extLst>
  </p:cSld>
  <p:clrMapOvr>
    <a:overrideClrMapping bg1="lt1" tx1="dk1" bg2="lt2" tx2="dk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Content only: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06437" y="5864"/>
            <a:ext cx="10672521" cy="932087"/>
          </a:xfrm>
        </p:spPr>
        <p:txBody>
          <a:bodyPr>
            <a:normAutofit/>
          </a:bodyPr>
          <a:lstStyle>
            <a:lvl1pPr>
              <a:defRPr sz="4000" b="1" i="0" cap="none" spc="0">
                <a:solidFill>
                  <a:srgbClr val="404041"/>
                </a:solidFill>
                <a:latin typeface="Arial"/>
                <a:cs typeface="Arial"/>
              </a:defRPr>
            </a:lvl1pPr>
          </a:lstStyle>
          <a:p>
            <a:r>
              <a:rPr lang="en-US"/>
              <a:t>Click to edit master title style</a:t>
            </a:r>
          </a:p>
        </p:txBody>
      </p:sp>
      <p:sp>
        <p:nvSpPr>
          <p:cNvPr id="5" name="Rectangle 4"/>
          <p:cNvSpPr/>
          <p:nvPr userDrawn="1"/>
        </p:nvSpPr>
        <p:spPr>
          <a:xfrm>
            <a:off x="0" y="270881"/>
            <a:ext cx="110219" cy="5162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 name="TextBox 3"/>
          <p:cNvSpPr txBox="1"/>
          <p:nvPr userDrawn="1"/>
        </p:nvSpPr>
        <p:spPr>
          <a:xfrm>
            <a:off x="4741334" y="4721413"/>
            <a:ext cx="184731" cy="461665"/>
          </a:xfrm>
          <a:prstGeom prst="rect">
            <a:avLst/>
          </a:prstGeom>
          <a:noFill/>
        </p:spPr>
        <p:txBody>
          <a:bodyPr wrap="none" rtlCol="0">
            <a:spAutoFit/>
          </a:bodyPr>
          <a:lstStyle/>
          <a:p>
            <a:endParaRPr lang="en-US" sz="2400"/>
          </a:p>
        </p:txBody>
      </p:sp>
      <p:sp>
        <p:nvSpPr>
          <p:cNvPr id="7" name="Text Placeholder 2"/>
          <p:cNvSpPr>
            <a:spLocks noGrp="1"/>
          </p:cNvSpPr>
          <p:nvPr>
            <p:ph idx="1" hasCustomPrompt="1"/>
          </p:nvPr>
        </p:nvSpPr>
        <p:spPr>
          <a:xfrm>
            <a:off x="691765" y="1159728"/>
            <a:ext cx="10687459" cy="4760323"/>
          </a:xfrm>
          <a:prstGeom prst="rect">
            <a:avLst/>
          </a:prstGeom>
        </p:spPr>
        <p:txBody>
          <a:bodyPr vert="horz" lIns="91440" tIns="45720" rIns="91440" bIns="45720" rtlCol="0">
            <a:normAutofit/>
          </a:bodyPr>
          <a:lstStyle>
            <a:lvl1pPr marL="457189" marR="0" indent="-457189" algn="l" defTabSz="609585" rtl="0" eaLnBrk="1" fontAlgn="auto" latinLnBrk="0" hangingPunct="1">
              <a:lnSpc>
                <a:spcPct val="100000"/>
              </a:lnSpc>
              <a:spcBef>
                <a:spcPts val="0"/>
              </a:spcBef>
              <a:spcAft>
                <a:spcPts val="2400"/>
              </a:spcAft>
              <a:buClr>
                <a:schemeClr val="tx1">
                  <a:lumMod val="50000"/>
                  <a:lumOff val="50000"/>
                </a:schemeClr>
              </a:buClr>
              <a:buSzPct val="100000"/>
              <a:buFont typeface="+mj-lt"/>
              <a:buAutoNum type="arabicPeriod"/>
              <a:tabLst/>
              <a:defRPr sz="2400">
                <a:solidFill>
                  <a:srgbClr val="404041"/>
                </a:solidFill>
                <a:latin typeface="Arial"/>
                <a:cs typeface="Arial"/>
              </a:defRPr>
            </a:lvl1pPr>
            <a:lvl2pPr>
              <a:lnSpc>
                <a:spcPct val="100000"/>
              </a:lnSpc>
              <a:defRPr sz="2133">
                <a:solidFill>
                  <a:srgbClr val="404041"/>
                </a:solidFill>
                <a:latin typeface="Arial"/>
                <a:cs typeface="Arial"/>
              </a:defRPr>
            </a:lvl2pPr>
            <a:lvl3pPr>
              <a:lnSpc>
                <a:spcPct val="100000"/>
              </a:lnSpc>
              <a:defRPr sz="2133">
                <a:solidFill>
                  <a:srgbClr val="404041"/>
                </a:solidFill>
                <a:latin typeface="Arial"/>
                <a:cs typeface="Arial"/>
              </a:defRPr>
            </a:lvl3pPr>
            <a:lvl4pPr>
              <a:lnSpc>
                <a:spcPct val="100000"/>
              </a:lnSpc>
              <a:defRPr sz="2133">
                <a:solidFill>
                  <a:srgbClr val="404041"/>
                </a:solidFill>
                <a:latin typeface="Arial"/>
                <a:cs typeface="Arial"/>
              </a:defRPr>
            </a:lvl4pPr>
            <a:lvl5pPr>
              <a:lnSpc>
                <a:spcPct val="100000"/>
              </a:lnSpc>
              <a:defRPr sz="2133">
                <a:solidFill>
                  <a:srgbClr val="404041"/>
                </a:solidFill>
                <a:latin typeface="Arial"/>
                <a:cs typeface="Arial"/>
              </a:defRPr>
            </a:lvl5pPr>
          </a:lstStyle>
          <a:p>
            <a:pPr lvl="0"/>
            <a:r>
              <a:rPr lang="en-US"/>
              <a:t>Click to edit master subtitle style</a:t>
            </a:r>
          </a:p>
        </p:txBody>
      </p:sp>
      <p:sp>
        <p:nvSpPr>
          <p:cNvPr id="18" name="Rectangle 17">
            <a:extLst>
              <a:ext uri="{FF2B5EF4-FFF2-40B4-BE49-F238E27FC236}">
                <a16:creationId xmlns:a16="http://schemas.microsoft.com/office/drawing/2014/main" id="{EDEDD93F-964F-5944-AAE4-710A9649E394}"/>
              </a:ext>
            </a:extLst>
          </p:cNvPr>
          <p:cNvSpPr/>
          <p:nvPr userDrawn="1"/>
        </p:nvSpPr>
        <p:spPr>
          <a:xfrm>
            <a:off x="0" y="6341738"/>
            <a:ext cx="12192000" cy="516263"/>
          </a:xfrm>
          <a:prstGeom prst="rect">
            <a:avLst/>
          </a:prstGeom>
          <a:solidFill>
            <a:srgbClr val="6903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EF59BA7C-FE73-F34E-9D20-212CFBB7F488}"/>
              </a:ext>
            </a:extLst>
          </p:cNvPr>
          <p:cNvPicPr>
            <a:picLocks noChangeAspect="1"/>
          </p:cNvPicPr>
          <p:nvPr userDrawn="1"/>
        </p:nvPicPr>
        <p:blipFill>
          <a:blip r:embed="rId2"/>
          <a:stretch>
            <a:fillRect/>
          </a:stretch>
        </p:blipFill>
        <p:spPr>
          <a:xfrm>
            <a:off x="831677" y="6240549"/>
            <a:ext cx="7796364" cy="625180"/>
          </a:xfrm>
          <a:prstGeom prst="rect">
            <a:avLst/>
          </a:prstGeom>
        </p:spPr>
      </p:pic>
    </p:spTree>
    <p:extLst>
      <p:ext uri="{BB962C8B-B14F-4D97-AF65-F5344CB8AC3E}">
        <p14:creationId xmlns:p14="http://schemas.microsoft.com/office/powerpoint/2010/main" val="2283499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Blank with footer: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36902F-F212-0144-B75F-3569DBF54AA1}"/>
              </a:ext>
            </a:extLst>
          </p:cNvPr>
          <p:cNvSpPr/>
          <p:nvPr userDrawn="1"/>
        </p:nvSpPr>
        <p:spPr>
          <a:xfrm>
            <a:off x="0" y="6341738"/>
            <a:ext cx="12192000" cy="516263"/>
          </a:xfrm>
          <a:prstGeom prst="rect">
            <a:avLst/>
          </a:prstGeom>
          <a:solidFill>
            <a:srgbClr val="6903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13" name="Picture 12">
            <a:extLst>
              <a:ext uri="{FF2B5EF4-FFF2-40B4-BE49-F238E27FC236}">
                <a16:creationId xmlns:a16="http://schemas.microsoft.com/office/drawing/2014/main" id="{B419C2DD-16E9-1D47-8CDF-6A592720037A}"/>
              </a:ext>
            </a:extLst>
          </p:cNvPr>
          <p:cNvPicPr>
            <a:picLocks noChangeAspect="1"/>
          </p:cNvPicPr>
          <p:nvPr userDrawn="1"/>
        </p:nvPicPr>
        <p:blipFill>
          <a:blip r:embed="rId2"/>
          <a:stretch>
            <a:fillRect/>
          </a:stretch>
        </p:blipFill>
        <p:spPr>
          <a:xfrm>
            <a:off x="831677" y="6240549"/>
            <a:ext cx="7796364" cy="625180"/>
          </a:xfrm>
          <a:prstGeom prst="rect">
            <a:avLst/>
          </a:prstGeom>
        </p:spPr>
      </p:pic>
    </p:spTree>
    <p:extLst>
      <p:ext uri="{BB962C8B-B14F-4D97-AF65-F5344CB8AC3E}">
        <p14:creationId xmlns:p14="http://schemas.microsoft.com/office/powerpoint/2010/main" val="284636425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x" preserve="1">
  <p:cSld name="1_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only layout</a:t>
            </a:r>
          </a:p>
        </p:txBody>
      </p:sp>
    </p:spTree>
    <p:custDataLst>
      <p:tags r:id="rId1"/>
    </p:custDataLst>
    <p:extLst>
      <p:ext uri="{BB962C8B-B14F-4D97-AF65-F5344CB8AC3E}">
        <p14:creationId xmlns:p14="http://schemas.microsoft.com/office/powerpoint/2010/main" val="182474924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26773957"/>
      </p:ext>
    </p:extLst>
  </p:cSld>
  <p:clrMapOvr>
    <a:masterClrMapping/>
  </p:clrMapOvr>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1023257" y="2005070"/>
            <a:ext cx="7763458" cy="592834"/>
          </a:xfrm>
        </p:spPr>
        <p:txBody>
          <a:bodyPr>
            <a:noAutofit/>
          </a:bodyPr>
          <a:lstStyle>
            <a:lvl1pPr>
              <a:defRPr sz="5400" cap="none">
                <a:solidFill>
                  <a:schemeClr val="bg1"/>
                </a:solidFill>
              </a:defRPr>
            </a:lvl1pPr>
          </a:lstStyle>
          <a:p>
            <a:r>
              <a:rPr lang="en-US" dirty="0"/>
              <a:t>Presentation Title</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1023257" y="2629338"/>
            <a:ext cx="7763458" cy="449263"/>
          </a:xfrm>
        </p:spPr>
        <p:txBody>
          <a:bodyPr>
            <a:noAutofit/>
          </a:bodyPr>
          <a:lstStyle>
            <a:lvl1pPr marL="0" indent="0">
              <a:buFontTx/>
              <a:buNone/>
              <a:defRPr sz="2400" b="1" i="0">
                <a:solidFill>
                  <a:schemeClr val="bg2"/>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3" name="Text Placeholder 8">
            <a:extLst>
              <a:ext uri="{FF2B5EF4-FFF2-40B4-BE49-F238E27FC236}">
                <a16:creationId xmlns:a16="http://schemas.microsoft.com/office/drawing/2014/main" id="{76FFA1BC-72F9-9048-3E39-D300A3A6A52E}"/>
              </a:ext>
            </a:extLst>
          </p:cNvPr>
          <p:cNvSpPr>
            <a:spLocks noGrp="1"/>
          </p:cNvSpPr>
          <p:nvPr>
            <p:ph type="body" sz="quarter" idx="11" hasCustomPrompt="1"/>
          </p:nvPr>
        </p:nvSpPr>
        <p:spPr>
          <a:xfrm>
            <a:off x="1023257" y="3107129"/>
            <a:ext cx="7763458" cy="449263"/>
          </a:xfrm>
        </p:spPr>
        <p:txBody>
          <a:bodyPr>
            <a:normAutofit/>
          </a:bodyPr>
          <a:lstStyle>
            <a:lvl1pPr marL="0" indent="0">
              <a:buFontTx/>
              <a:buNone/>
              <a:defRPr sz="1600">
                <a:solidFill>
                  <a:schemeClr val="bg2"/>
                </a:solidFill>
                <a:latin typeface="Acumin Pro"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fld id="{C7124C19-F609-8C4C-8116-78E353E3E672}" type="datetime1">
              <a:rPr lang="en-US" smtClean="0"/>
              <a:t>3/29/23</a:t>
            </a:fld>
            <a:endParaRPr lang="en-US" dirty="0"/>
          </a:p>
        </p:txBody>
      </p:sp>
      <p:sp>
        <p:nvSpPr>
          <p:cNvPr id="4" name="Slide Number Placeholder 3">
            <a:extLst>
              <a:ext uri="{FF2B5EF4-FFF2-40B4-BE49-F238E27FC236}">
                <a16:creationId xmlns:a16="http://schemas.microsoft.com/office/drawing/2014/main" id="{58EC3163-7E89-C90A-4497-846BA4987D4E}"/>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5" name="Picture 2">
            <a:extLst>
              <a:ext uri="{FF2B5EF4-FFF2-40B4-BE49-F238E27FC236}">
                <a16:creationId xmlns:a16="http://schemas.microsoft.com/office/drawing/2014/main" id="{BF1C9772-21E9-60AF-EA4D-990518FB84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258"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pic>
        <p:nvPicPr>
          <p:cNvPr id="8" name="Black Triangle">
            <a:extLst>
              <a:ext uri="{FF2B5EF4-FFF2-40B4-BE49-F238E27FC236}">
                <a16:creationId xmlns:a16="http://schemas.microsoft.com/office/drawing/2014/main" id="{87A298C2-2E04-B7F1-FD99-CDD6C31B37FD}"/>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10" name="Triangle 5">
            <a:extLst>
              <a:ext uri="{FF2B5EF4-FFF2-40B4-BE49-F238E27FC236}">
                <a16:creationId xmlns:a16="http://schemas.microsoft.com/office/drawing/2014/main" id="{A1A46BEB-A579-D257-BD79-45932D0ECBB2}"/>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B575C093-0032-15D0-EA6F-7443CFB7851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3258"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5493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p:nvPicPr>
        <p:blipFill>
          <a:blip r:embed="rId2"/>
          <a:stretch>
            <a:fillRect/>
          </a:stretch>
        </p:blipFill>
        <p:spPr>
          <a:xfrm>
            <a:off x="9956800" y="0"/>
            <a:ext cx="2235200" cy="6858000"/>
          </a:xfrm>
          <a:prstGeom prst="rect">
            <a:avLst/>
          </a:prstGeom>
          <a:noFill/>
        </p:spPr>
      </p:pic>
      <p:sp>
        <p:nvSpPr>
          <p:cNvPr id="6" name="Title 6">
            <a:extLst>
              <a:ext uri="{FF2B5EF4-FFF2-40B4-BE49-F238E27FC236}">
                <a16:creationId xmlns:a16="http://schemas.microsoft.com/office/drawing/2014/main" id="{B1EEEEC0-D7E4-4DE5-4E3D-FAAD9ABA8990}"/>
              </a:ext>
            </a:extLst>
          </p:cNvPr>
          <p:cNvSpPr>
            <a:spLocks noGrp="1"/>
          </p:cNvSpPr>
          <p:nvPr>
            <p:ph type="title" hasCustomPrompt="1"/>
          </p:nvPr>
        </p:nvSpPr>
        <p:spPr>
          <a:xfrm>
            <a:off x="1023257" y="1812045"/>
            <a:ext cx="7763458" cy="719757"/>
          </a:xfrm>
        </p:spPr>
        <p:txBody>
          <a:bodyPr>
            <a:noAutofit/>
          </a:bodyPr>
          <a:lstStyle>
            <a:lvl1pPr>
              <a:defRPr sz="5400" cap="none">
                <a:solidFill>
                  <a:schemeClr val="tx1"/>
                </a:solidFill>
              </a:defRPr>
            </a:lvl1pPr>
          </a:lstStyle>
          <a:p>
            <a:r>
              <a:rPr lang="en-US" dirty="0"/>
              <a:t>Presentation Title</a:t>
            </a:r>
          </a:p>
        </p:txBody>
      </p:sp>
      <p:sp>
        <p:nvSpPr>
          <p:cNvPr id="9" name="Text Placeholder 8">
            <a:extLst>
              <a:ext uri="{FF2B5EF4-FFF2-40B4-BE49-F238E27FC236}">
                <a16:creationId xmlns:a16="http://schemas.microsoft.com/office/drawing/2014/main" id="{D8EDB9B8-C811-84E9-5F58-0130F3A8050C}"/>
              </a:ext>
            </a:extLst>
          </p:cNvPr>
          <p:cNvSpPr>
            <a:spLocks noGrp="1"/>
          </p:cNvSpPr>
          <p:nvPr>
            <p:ph type="body" sz="quarter" idx="10" hasCustomPrompt="1"/>
          </p:nvPr>
        </p:nvSpPr>
        <p:spPr>
          <a:xfrm>
            <a:off x="1023257" y="2617146"/>
            <a:ext cx="7763458" cy="449263"/>
          </a:xfrm>
        </p:spPr>
        <p:txBody>
          <a:bodyPr>
            <a:noAutofit/>
          </a:bodyPr>
          <a:lstStyle>
            <a:lvl1pPr marL="0" indent="0">
              <a:buFontTx/>
              <a:buNone/>
              <a:defRPr sz="2400" b="1" i="0">
                <a:solidFill>
                  <a:schemeClr val="tx1"/>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10" name="Text Placeholder 8">
            <a:extLst>
              <a:ext uri="{FF2B5EF4-FFF2-40B4-BE49-F238E27FC236}">
                <a16:creationId xmlns:a16="http://schemas.microsoft.com/office/drawing/2014/main" id="{24BF34A7-30DF-7BD2-A5A2-434BBF6672CA}"/>
              </a:ext>
            </a:extLst>
          </p:cNvPr>
          <p:cNvSpPr>
            <a:spLocks noGrp="1"/>
          </p:cNvSpPr>
          <p:nvPr>
            <p:ph type="body" sz="quarter" idx="11" hasCustomPrompt="1"/>
          </p:nvPr>
        </p:nvSpPr>
        <p:spPr>
          <a:xfrm>
            <a:off x="1023257" y="3148847"/>
            <a:ext cx="7763458" cy="449263"/>
          </a:xfrm>
        </p:spPr>
        <p:txBody>
          <a:bodyPr>
            <a:normAutofit/>
          </a:bodyPr>
          <a:lstStyle>
            <a:lvl1pPr marL="0" indent="0">
              <a:buFontTx/>
              <a:buNone/>
              <a:defRPr sz="1600">
                <a:solidFill>
                  <a:schemeClr val="tx1"/>
                </a:solidFill>
                <a:latin typeface="Acumin Pro"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3/31/23</a:t>
            </a:r>
          </a:p>
        </p:txBody>
      </p:sp>
      <p:sp>
        <p:nvSpPr>
          <p:cNvPr id="3" name="Slide Number Placeholder 2">
            <a:extLst>
              <a:ext uri="{FF2B5EF4-FFF2-40B4-BE49-F238E27FC236}">
                <a16:creationId xmlns:a16="http://schemas.microsoft.com/office/drawing/2014/main" id="{BDC8F108-1702-5F20-3D95-B2102374CAB1}"/>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E4CFA9E7-7538-3E2F-C153-0158206399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143" y="5829397"/>
            <a:ext cx="4318000" cy="461036"/>
          </a:xfrm>
          <a:prstGeom prst="rect">
            <a:avLst/>
          </a:prstGeom>
          <a:noFill/>
          <a:extLst>
            <a:ext uri="{909E8E84-426E-40DD-AFC4-6F175D3DCCD1}">
              <a14:hiddenFill xmlns:a14="http://schemas.microsoft.com/office/drawing/2010/main">
                <a:solidFill>
                  <a:srgbClr val="FFFFFF"/>
                </a:solidFill>
              </a14:hiddenFill>
            </a:ext>
          </a:extLst>
        </p:spPr>
      </p:pic>
      <p:pic>
        <p:nvPicPr>
          <p:cNvPr id="5" name="Black Triangle">
            <a:extLst>
              <a:ext uri="{FF2B5EF4-FFF2-40B4-BE49-F238E27FC236}">
                <a16:creationId xmlns:a16="http://schemas.microsoft.com/office/drawing/2014/main" id="{162E4310-7598-54D7-8A9C-E3BD24FB5DF8}"/>
              </a:ext>
            </a:extLst>
          </p:cNvPr>
          <p:cNvPicPr>
            <a:picLocks noChangeAspect="1"/>
          </p:cNvPicPr>
          <p:nvPr userDrawn="1"/>
        </p:nvPicPr>
        <p:blipFill>
          <a:blip r:embed="rId2"/>
          <a:stretch>
            <a:fillRect/>
          </a:stretch>
        </p:blipFill>
        <p:spPr>
          <a:xfrm>
            <a:off x="9956800" y="0"/>
            <a:ext cx="2235200" cy="6858000"/>
          </a:xfrm>
          <a:prstGeom prst="rect">
            <a:avLst/>
          </a:prstGeom>
          <a:noFill/>
        </p:spPr>
      </p:pic>
      <p:pic>
        <p:nvPicPr>
          <p:cNvPr id="7" name="Picture 2">
            <a:extLst>
              <a:ext uri="{FF2B5EF4-FFF2-40B4-BE49-F238E27FC236}">
                <a16:creationId xmlns:a16="http://schemas.microsoft.com/office/drawing/2014/main" id="{7A4CBD25-2A1D-C0D9-01A5-C0628E3072A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4143" y="5829397"/>
            <a:ext cx="4318000" cy="46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289180"/>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Slide with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176D92-8FAB-782E-E607-5D0C5CC9C2A2}"/>
              </a:ext>
            </a:extLst>
          </p:cNvPr>
          <p:cNvSpPr>
            <a:spLocks noGrp="1"/>
          </p:cNvSpPr>
          <p:nvPr>
            <p:ph type="pic" idx="1"/>
          </p:nvPr>
        </p:nvSpPr>
        <p:spPr>
          <a:xfrm>
            <a:off x="0" y="0"/>
            <a:ext cx="12192000" cy="68580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a:extLst>
              <a:ext uri="{FF2B5EF4-FFF2-40B4-BE49-F238E27FC236}">
                <a16:creationId xmlns:a16="http://schemas.microsoft.com/office/drawing/2014/main" id="{85FDAFB6-8BB6-ADBB-6574-5B0C25E7BDDF}"/>
              </a:ext>
            </a:extLst>
          </p:cNvPr>
          <p:cNvSpPr>
            <a:spLocks noGrp="1"/>
          </p:cNvSpPr>
          <p:nvPr>
            <p:ph type="title"/>
          </p:nvPr>
        </p:nvSpPr>
        <p:spPr>
          <a:xfrm>
            <a:off x="478972" y="4671391"/>
            <a:ext cx="11266714" cy="1401419"/>
          </a:xfrm>
        </p:spPr>
        <p:txBody>
          <a:bodyPr/>
          <a:lstStyle>
            <a:lvl1pPr algn="ctr">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5FF931D0-D7E7-D9E1-3CCC-83299A09228A}"/>
              </a:ext>
            </a:extLst>
          </p:cNvPr>
          <p:cNvSpPr>
            <a:spLocks noGrp="1"/>
          </p:cNvSpPr>
          <p:nvPr>
            <p:ph type="body" sz="quarter" idx="10" hasCustomPrompt="1"/>
          </p:nvPr>
        </p:nvSpPr>
        <p:spPr>
          <a:xfrm>
            <a:off x="478972" y="6085510"/>
            <a:ext cx="11266714" cy="449263"/>
          </a:xfrm>
        </p:spPr>
        <p:txBody>
          <a:bodyPr>
            <a:noAutofit/>
          </a:bodyPr>
          <a:lstStyle>
            <a:lvl1pPr marL="0" indent="0" algn="ctr">
              <a:buFontTx/>
              <a:buNone/>
              <a:defRPr sz="2000" b="1" i="0">
                <a:solidFill>
                  <a:schemeClr val="tx1"/>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Subtitle style</a:t>
            </a:r>
          </a:p>
        </p:txBody>
      </p:sp>
    </p:spTree>
    <p:extLst>
      <p:ext uri="{BB962C8B-B14F-4D97-AF65-F5344CB8AC3E}">
        <p14:creationId xmlns:p14="http://schemas.microsoft.com/office/powerpoint/2010/main" val="92033170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Photo">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0" y="-9525"/>
            <a:ext cx="12192000" cy="6867525"/>
          </a:xfrm>
          <a:ln>
            <a:noFill/>
          </a:ln>
        </p:spPr>
        <p:txBody>
          <a:bodyPr/>
          <a:lstStyle/>
          <a:p>
            <a:r>
              <a:rPr lang="en-US"/>
              <a:t>Click icon to add picture</a:t>
            </a:r>
          </a:p>
        </p:txBody>
      </p:sp>
      <p:sp>
        <p:nvSpPr>
          <p:cNvPr id="3" name="Slide Number Placeholder 2">
            <a:extLst>
              <a:ext uri="{FF2B5EF4-FFF2-40B4-BE49-F238E27FC236}">
                <a16:creationId xmlns:a16="http://schemas.microsoft.com/office/drawing/2014/main" id="{6EFC2CE8-E7A7-5DA8-903C-7C61B21A6F1A}"/>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10098508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with Copy">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1">
            <a:noAutofit/>
          </a:bodyPr>
          <a:lstStyle>
            <a:lvl1pPr marL="0" indent="0" algn="l" fontAlgn="t">
              <a:buFontTx/>
              <a:buNone/>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C4ECEF9E-3A6E-C6FF-42DA-EDF0D1D988C2}"/>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2" name="Picture 2">
            <a:extLst>
              <a:ext uri="{FF2B5EF4-FFF2-40B4-BE49-F238E27FC236}">
                <a16:creationId xmlns:a16="http://schemas.microsoft.com/office/drawing/2014/main" id="{4CAD524F-ADFB-FF46-A001-5030604377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0B9B09E2-154B-3D8D-E3A9-4F44464439B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593615"/>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2">
            <a:noAutofit/>
          </a:bodyPr>
          <a:lstStyle>
            <a:lvl1pPr marL="0" indent="0" algn="l" fontAlgn="t">
              <a:buFontTx/>
              <a:buNone/>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A85743F-DCAE-A9EE-5293-03DFB306B0F8}"/>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E99B4CAC-1043-AFE7-E5AB-E64101AF15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BB602E40-E946-003A-6FF8-A6C3B51DFEF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868514"/>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 with Conten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628D381-488B-4C1C-32F0-1D389C1FF7E3}"/>
              </a:ext>
            </a:extLst>
          </p:cNvPr>
          <p:cNvSpPr>
            <a:spLocks noGrp="1"/>
          </p:cNvSpPr>
          <p:nvPr>
            <p:ph idx="14"/>
          </p:nvPr>
        </p:nvSpPr>
        <p:spPr>
          <a:xfrm>
            <a:off x="468086" y="1543324"/>
            <a:ext cx="11266714" cy="4454706"/>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15EE0A7E-143D-2A83-397F-55801DA0663E}"/>
              </a:ext>
            </a:extLst>
          </p:cNvPr>
          <p:cNvSpPr>
            <a:spLocks noGrp="1"/>
          </p:cNvSpPr>
          <p:nvPr>
            <p:ph type="title"/>
          </p:nvPr>
        </p:nvSpPr>
        <p:spPr/>
        <p:txBody>
          <a:bodyPr/>
          <a:lstStyle/>
          <a:p>
            <a:r>
              <a:rPr lang="en-US"/>
              <a:t>Click to edit Master title style</a:t>
            </a:r>
            <a:endParaRPr lang="en-US" dirty="0"/>
          </a:p>
        </p:txBody>
      </p:sp>
      <p:sp>
        <p:nvSpPr>
          <p:cNvPr id="5" name="Text Placeholder 13">
            <a:extLst>
              <a:ext uri="{FF2B5EF4-FFF2-40B4-BE49-F238E27FC236}">
                <a16:creationId xmlns:a16="http://schemas.microsoft.com/office/drawing/2014/main" id="{65EE62C3-A7DA-7701-DE4B-C1A290C4FAE3}"/>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Slide Number Placeholder 6">
            <a:extLst>
              <a:ext uri="{FF2B5EF4-FFF2-40B4-BE49-F238E27FC236}">
                <a16:creationId xmlns:a16="http://schemas.microsoft.com/office/drawing/2014/main" id="{3AC54E73-61A3-FF0B-7F4C-17B1D97376A1}"/>
              </a:ext>
            </a:extLst>
          </p:cNvPr>
          <p:cNvSpPr>
            <a:spLocks noGrp="1"/>
          </p:cNvSpPr>
          <p:nvPr>
            <p:ph type="sldNum" sz="quarter" idx="15"/>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F705AEC-1F4B-D402-6142-24D61C516A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D639942-265D-5F99-3982-DD24ACE5B38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557384"/>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with Content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6" y="1543324"/>
            <a:ext cx="5413169"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8F449F3F-4187-E891-E28D-ABAA40118134}"/>
              </a:ext>
            </a:extLst>
          </p:cNvPr>
          <p:cNvSpPr>
            <a:spLocks noGrp="1"/>
          </p:cNvSpPr>
          <p:nvPr>
            <p:ph idx="13"/>
          </p:nvPr>
        </p:nvSpPr>
        <p:spPr>
          <a:xfrm>
            <a:off x="6309157" y="1543324"/>
            <a:ext cx="5425643"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3">
            <a:extLst>
              <a:ext uri="{FF2B5EF4-FFF2-40B4-BE49-F238E27FC236}">
                <a16:creationId xmlns:a16="http://schemas.microsoft.com/office/drawing/2014/main" id="{5FC4CE19-DA95-2729-993D-BB0D45B6B56B}"/>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Slide Number Placeholder 3">
            <a:extLst>
              <a:ext uri="{FF2B5EF4-FFF2-40B4-BE49-F238E27FC236}">
                <a16:creationId xmlns:a16="http://schemas.microsoft.com/office/drawing/2014/main" id="{6659EA93-442C-59A0-2250-A5181989CDD4}"/>
              </a:ext>
            </a:extLst>
          </p:cNvPr>
          <p:cNvSpPr>
            <a:spLocks noGrp="1"/>
          </p:cNvSpPr>
          <p:nvPr>
            <p:ph type="sldNum" sz="quarter" idx="14"/>
          </p:nvPr>
        </p:nvSpPr>
        <p:spPr/>
        <p:txBody>
          <a:bodyPr/>
          <a:lstStyle/>
          <a:p>
            <a:fld id="{F994776A-187E-9540-9EA4-8D5781AB769D}" type="slidenum">
              <a:rPr lang="en-US" smtClean="0"/>
              <a:pPr/>
              <a:t>‹#›</a:t>
            </a:fld>
            <a:endParaRPr lang="en-US" dirty="0"/>
          </a:p>
        </p:txBody>
      </p:sp>
      <p:pic>
        <p:nvPicPr>
          <p:cNvPr id="5" name="Picture 2">
            <a:extLst>
              <a:ext uri="{FF2B5EF4-FFF2-40B4-BE49-F238E27FC236}">
                <a16:creationId xmlns:a16="http://schemas.microsoft.com/office/drawing/2014/main" id="{82AE1B83-EE6D-EA0B-DD6A-AF15AFD6A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DA234C0-7B96-6DE1-F3E8-AD8F24C9D22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693640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itle with Content -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7" y="1543324"/>
            <a:ext cx="3507565"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6D77F14-E88B-D0A5-6F63-E4DA45A7CD6B}"/>
              </a:ext>
            </a:extLst>
          </p:cNvPr>
          <p:cNvSpPr>
            <a:spLocks noGrp="1"/>
          </p:cNvSpPr>
          <p:nvPr>
            <p:ph idx="17"/>
          </p:nvPr>
        </p:nvSpPr>
        <p:spPr>
          <a:xfrm>
            <a:off x="4342217" y="1543323"/>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5A95E987-1BAB-5DE6-3A52-75935C62985E}"/>
              </a:ext>
            </a:extLst>
          </p:cNvPr>
          <p:cNvSpPr>
            <a:spLocks noGrp="1"/>
          </p:cNvSpPr>
          <p:nvPr>
            <p:ph idx="18"/>
          </p:nvPr>
        </p:nvSpPr>
        <p:spPr>
          <a:xfrm>
            <a:off x="8243137" y="1543322"/>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3">
            <a:extLst>
              <a:ext uri="{FF2B5EF4-FFF2-40B4-BE49-F238E27FC236}">
                <a16:creationId xmlns:a16="http://schemas.microsoft.com/office/drawing/2014/main" id="{5CA31FF2-2F1A-7D0F-36B0-1773F6A9AB34}"/>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5" name="Slide Number Placeholder 4">
            <a:extLst>
              <a:ext uri="{FF2B5EF4-FFF2-40B4-BE49-F238E27FC236}">
                <a16:creationId xmlns:a16="http://schemas.microsoft.com/office/drawing/2014/main" id="{E377EB8B-3A4C-F880-133B-94D59A7B36B8}"/>
              </a:ext>
            </a:extLst>
          </p:cNvPr>
          <p:cNvSpPr>
            <a:spLocks noGrp="1"/>
          </p:cNvSpPr>
          <p:nvPr>
            <p:ph type="sldNum" sz="quarter" idx="19"/>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3A8E3C9-6B0B-C4C1-8036-586EE7062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AE30AE4-D049-8435-EB3B-60301A0B361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805190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Photo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3" y="3652272"/>
            <a:ext cx="5469743"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1" y="1543323"/>
            <a:ext cx="546974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6275945" y="1543323"/>
            <a:ext cx="5458727"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6264929" y="3652271"/>
            <a:ext cx="5469743"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E1A7288C-38D9-0159-D0E4-B042D466D179}"/>
              </a:ext>
            </a:extLst>
          </p:cNvPr>
          <p:cNvSpPr>
            <a:spLocks noGrp="1"/>
          </p:cNvSpPr>
          <p:nvPr>
            <p:ph type="sldNum" sz="quarter" idx="16"/>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4C9FCD37-EAE5-5E1F-F19B-0843EF6AF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DF0DD13C-CDC9-6F29-9FC7-3E8EB3ACE6D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376092"/>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Photo with Copy - 3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4" y="3652272"/>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2" y="1543323"/>
            <a:ext cx="3534479"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4336974" y="1543324"/>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4325959" y="3652272"/>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8205605" y="1532307"/>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 Placeholder 11">
            <a:extLst>
              <a:ext uri="{FF2B5EF4-FFF2-40B4-BE49-F238E27FC236}">
                <a16:creationId xmlns:a16="http://schemas.microsoft.com/office/drawing/2014/main" id="{347E27B2-1DE2-3469-81EF-9EBD7DC7AFBA}"/>
              </a:ext>
            </a:extLst>
          </p:cNvPr>
          <p:cNvSpPr>
            <a:spLocks noGrp="1"/>
          </p:cNvSpPr>
          <p:nvPr>
            <p:ph type="body" sz="quarter" idx="17"/>
          </p:nvPr>
        </p:nvSpPr>
        <p:spPr>
          <a:xfrm>
            <a:off x="8194590" y="3641255"/>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4647B2B3-AD22-934B-7901-EF00010BA35F}"/>
              </a:ext>
            </a:extLst>
          </p:cNvPr>
          <p:cNvSpPr>
            <a:spLocks noGrp="1"/>
          </p:cNvSpPr>
          <p:nvPr>
            <p:ph type="sldNum" sz="quarter" idx="18"/>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68043993-A23E-2800-6166-87A2E901B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BB530094-99FE-D3FD-C764-813645B079C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431229"/>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7402-16CB-60F1-259A-4E1A16194431}"/>
              </a:ext>
            </a:extLst>
          </p:cNvPr>
          <p:cNvSpPr>
            <a:spLocks noGrp="1"/>
          </p:cNvSpPr>
          <p:nvPr>
            <p:ph type="title"/>
          </p:nvPr>
        </p:nvSpPr>
        <p:spPr>
          <a:xfrm>
            <a:off x="457202" y="457200"/>
            <a:ext cx="4314823" cy="964096"/>
          </a:xfrm>
        </p:spPr>
        <p:txBody>
          <a:bodyPr anchor="b"/>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B9889552-EB9F-6D72-9130-E107C02C22F6}"/>
              </a:ext>
            </a:extLst>
          </p:cNvPr>
          <p:cNvSpPr>
            <a:spLocks noGrp="1"/>
          </p:cNvSpPr>
          <p:nvPr>
            <p:ph type="body" sz="half" idx="2"/>
          </p:nvPr>
        </p:nvSpPr>
        <p:spPr>
          <a:xfrm>
            <a:off x="457202" y="1570383"/>
            <a:ext cx="4314823" cy="429860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Content Placeholder 2">
            <a:extLst>
              <a:ext uri="{FF2B5EF4-FFF2-40B4-BE49-F238E27FC236}">
                <a16:creationId xmlns:a16="http://schemas.microsoft.com/office/drawing/2014/main" id="{C5F6EAB8-D2BB-0BDE-C7AC-895B69CA533E}"/>
              </a:ext>
            </a:extLst>
          </p:cNvPr>
          <p:cNvSpPr>
            <a:spLocks noGrp="1"/>
          </p:cNvSpPr>
          <p:nvPr>
            <p:ph idx="1"/>
          </p:nvPr>
        </p:nvSpPr>
        <p:spPr>
          <a:xfrm>
            <a:off x="5071871" y="457200"/>
            <a:ext cx="6662927" cy="541178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A8C6DC60-EE89-734D-242E-5043417AC8BC}"/>
              </a:ext>
            </a:extLst>
          </p:cNvPr>
          <p:cNvSpPr>
            <a:spLocks noGrp="1"/>
          </p:cNvSpPr>
          <p:nvPr>
            <p:ph type="sldNum" sz="quarter" idx="10"/>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95D3C33-27D3-B844-8764-066A5767D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A51AFD1-C47A-17DD-6873-D20186142CD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3147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hoto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99A83-2C12-9A72-A547-B9374C1072DC}"/>
              </a:ext>
            </a:extLst>
          </p:cNvPr>
          <p:cNvSpPr>
            <a:spLocks noGrp="1"/>
          </p:cNvSpPr>
          <p:nvPr>
            <p:ph type="title"/>
          </p:nvPr>
        </p:nvSpPr>
        <p:spPr>
          <a:xfrm>
            <a:off x="446314" y="470037"/>
            <a:ext cx="4325711" cy="1034775"/>
          </a:xfrm>
        </p:spPr>
        <p:txBody>
          <a:bodyPr anchor="b"/>
          <a:lstStyle>
            <a:lvl1pPr fontAlgn="t">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5183188" y="470037"/>
            <a:ext cx="6562498" cy="5391013"/>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46314" y="1759226"/>
            <a:ext cx="4325711" cy="4086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61DDC806-6E08-B58A-6B09-ECD209B759DB}"/>
              </a:ext>
            </a:extLst>
          </p:cNvPr>
          <p:cNvSpPr>
            <a:spLocks noGrp="1"/>
          </p:cNvSpPr>
          <p:nvPr>
            <p:ph type="sldNum" sz="quarter" idx="10"/>
          </p:nvPr>
        </p:nvSpPr>
        <p:spPr/>
        <p:txBody>
          <a:bodyPr/>
          <a:lstStyle/>
          <a:p>
            <a:fld id="{F994776A-187E-9540-9EA4-8D5781AB769D}" type="slidenum">
              <a:rPr lang="en-US" smtClean="0"/>
              <a:pPr/>
              <a:t>‹#›</a:t>
            </a:fld>
            <a:endParaRPr lang="en-US" dirty="0"/>
          </a:p>
        </p:txBody>
      </p:sp>
      <p:pic>
        <p:nvPicPr>
          <p:cNvPr id="5" name="Picture 4">
            <a:extLst>
              <a:ext uri="{FF2B5EF4-FFF2-40B4-BE49-F238E27FC236}">
                <a16:creationId xmlns:a16="http://schemas.microsoft.com/office/drawing/2014/main" id="{C42FD94D-1CE6-402A-C500-6DCE6F9A3524}"/>
              </a:ext>
            </a:extLst>
          </p:cNvPr>
          <p:cNvPicPr>
            <a:picLocks noChangeAspect="1"/>
          </p:cNvPicPr>
          <p:nvPr/>
        </p:nvPicPr>
        <p:blipFill>
          <a:blip r:embed="rId2"/>
          <a:stretch>
            <a:fillRect/>
          </a:stretch>
        </p:blipFill>
        <p:spPr>
          <a:xfrm>
            <a:off x="446314" y="6215540"/>
            <a:ext cx="3350434" cy="354752"/>
          </a:xfrm>
          <a:prstGeom prst="rect">
            <a:avLst/>
          </a:prstGeom>
        </p:spPr>
      </p:pic>
      <p:pic>
        <p:nvPicPr>
          <p:cNvPr id="7" name="Picture 6">
            <a:extLst>
              <a:ext uri="{FF2B5EF4-FFF2-40B4-BE49-F238E27FC236}">
                <a16:creationId xmlns:a16="http://schemas.microsoft.com/office/drawing/2014/main" id="{A57C809C-1F1C-286B-0BF1-DD4304222A97}"/>
              </a:ext>
            </a:extLst>
          </p:cNvPr>
          <p:cNvPicPr>
            <a:picLocks noChangeAspect="1"/>
          </p:cNvPicPr>
          <p:nvPr userDrawn="1"/>
        </p:nvPicPr>
        <p:blipFill>
          <a:blip r:embed="rId2"/>
          <a:stretch>
            <a:fillRect/>
          </a:stretch>
        </p:blipFill>
        <p:spPr>
          <a:xfrm>
            <a:off x="446314" y="6215540"/>
            <a:ext cx="3350434" cy="354752"/>
          </a:xfrm>
          <a:prstGeom prst="rect">
            <a:avLst/>
          </a:prstGeom>
        </p:spPr>
      </p:pic>
    </p:spTree>
    <p:extLst>
      <p:ext uri="{BB962C8B-B14F-4D97-AF65-F5344CB8AC3E}">
        <p14:creationId xmlns:p14="http://schemas.microsoft.com/office/powerpoint/2010/main" val="12767941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46313"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itle 4">
            <a:extLst>
              <a:ext uri="{FF2B5EF4-FFF2-40B4-BE49-F238E27FC236}">
                <a16:creationId xmlns:a16="http://schemas.microsoft.com/office/drawing/2014/main" id="{B7832766-AA56-63AE-E2AA-9A2947343D87}"/>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CF92D672-5C11-B647-ADA7-722837BA86C0}"/>
              </a:ext>
            </a:extLst>
          </p:cNvPr>
          <p:cNvSpPr>
            <a:spLocks noGrp="1"/>
          </p:cNvSpPr>
          <p:nvPr>
            <p:ph type="pic" idx="12"/>
          </p:nvPr>
        </p:nvSpPr>
        <p:spPr>
          <a:xfrm>
            <a:off x="6286962"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Text Placeholder 13">
            <a:extLst>
              <a:ext uri="{FF2B5EF4-FFF2-40B4-BE49-F238E27FC236}">
                <a16:creationId xmlns:a16="http://schemas.microsoft.com/office/drawing/2014/main" id="{6AFB8997-E903-BD34-CBB7-A70F3BD090A1}"/>
              </a:ext>
            </a:extLst>
          </p:cNvPr>
          <p:cNvSpPr>
            <a:spLocks noGrp="1"/>
          </p:cNvSpPr>
          <p:nvPr>
            <p:ph type="body" sz="quarter" idx="13"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Slide Number Placeholder 3">
            <a:extLst>
              <a:ext uri="{FF2B5EF4-FFF2-40B4-BE49-F238E27FC236}">
                <a16:creationId xmlns:a16="http://schemas.microsoft.com/office/drawing/2014/main" id="{70480C45-204B-0517-4FC2-236945E741BF}"/>
              </a:ext>
            </a:extLst>
          </p:cNvPr>
          <p:cNvSpPr>
            <a:spLocks noGrp="1"/>
          </p:cNvSpPr>
          <p:nvPr>
            <p:ph type="sldNum" sz="quarter" idx="14"/>
          </p:nvPr>
        </p:nvSpPr>
        <p:spPr/>
        <p:txBody>
          <a:bodyPr/>
          <a:lstStyle/>
          <a:p>
            <a:fld id="{F994776A-187E-9540-9EA4-8D5781AB769D}" type="slidenum">
              <a:rPr lang="en-US" smtClean="0"/>
              <a:pPr/>
              <a:t>‹#›</a:t>
            </a:fld>
            <a:endParaRPr lang="en-US" dirty="0"/>
          </a:p>
        </p:txBody>
      </p:sp>
      <p:pic>
        <p:nvPicPr>
          <p:cNvPr id="6" name="Picture 2">
            <a:extLst>
              <a:ext uri="{FF2B5EF4-FFF2-40B4-BE49-F238E27FC236}">
                <a16:creationId xmlns:a16="http://schemas.microsoft.com/office/drawing/2014/main" id="{E8E9D75D-EF46-B669-7F0B-847008B95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120CAD27-A141-0F7B-FF30-309D1E30042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98831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Copy with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68086" y="1543323"/>
            <a:ext cx="5862679"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6615759" y="1543322"/>
            <a:ext cx="5129927" cy="4307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3486577" y="3795304"/>
            <a:ext cx="2844188"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68086" y="3795304"/>
            <a:ext cx="2844188"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6" name="Slide Number Placeholder 5">
            <a:extLst>
              <a:ext uri="{FF2B5EF4-FFF2-40B4-BE49-F238E27FC236}">
                <a16:creationId xmlns:a16="http://schemas.microsoft.com/office/drawing/2014/main" id="{ADA3C43D-3312-15BB-B055-F99C088EB6F8}"/>
              </a:ext>
            </a:extLst>
          </p:cNvPr>
          <p:cNvSpPr>
            <a:spLocks noGrp="1"/>
          </p:cNvSpPr>
          <p:nvPr>
            <p:ph type="sldNum" sz="quarter" idx="16"/>
          </p:nvPr>
        </p:nvSpPr>
        <p:spPr/>
        <p:txBody>
          <a:bodyPr/>
          <a:lstStyle/>
          <a:p>
            <a:fld id="{F994776A-187E-9540-9EA4-8D5781AB769D}" type="slidenum">
              <a:rPr lang="en-US" smtClean="0"/>
              <a:pPr/>
              <a:t>‹#›</a:t>
            </a:fld>
            <a:endParaRPr lang="en-US" dirty="0"/>
          </a:p>
        </p:txBody>
      </p:sp>
      <p:pic>
        <p:nvPicPr>
          <p:cNvPr id="7" name="Picture 2">
            <a:extLst>
              <a:ext uri="{FF2B5EF4-FFF2-40B4-BE49-F238E27FC236}">
                <a16:creationId xmlns:a16="http://schemas.microsoft.com/office/drawing/2014/main" id="{C77598CD-72E0-76B5-3E7C-CE820E7B58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51945A45-8B07-DBDC-B0FE-E5BA1315595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8369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Photos with Cap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35428"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57200"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Picture Placeholder 2">
            <a:extLst>
              <a:ext uri="{FF2B5EF4-FFF2-40B4-BE49-F238E27FC236}">
                <a16:creationId xmlns:a16="http://schemas.microsoft.com/office/drawing/2014/main" id="{60A3B0E8-AC0D-A169-37E3-2D123D6EBF24}"/>
              </a:ext>
            </a:extLst>
          </p:cNvPr>
          <p:cNvSpPr>
            <a:spLocks noGrp="1"/>
          </p:cNvSpPr>
          <p:nvPr>
            <p:ph type="pic" idx="16"/>
          </p:nvPr>
        </p:nvSpPr>
        <p:spPr>
          <a:xfrm>
            <a:off x="4325104"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3" name="Picture Placeholder 2">
            <a:extLst>
              <a:ext uri="{FF2B5EF4-FFF2-40B4-BE49-F238E27FC236}">
                <a16:creationId xmlns:a16="http://schemas.microsoft.com/office/drawing/2014/main" id="{640970D8-E511-89A8-FC5C-6DB37485ADE3}"/>
              </a:ext>
            </a:extLst>
          </p:cNvPr>
          <p:cNvSpPr>
            <a:spLocks noGrp="1"/>
          </p:cNvSpPr>
          <p:nvPr>
            <p:ph type="pic" idx="17"/>
          </p:nvPr>
        </p:nvSpPr>
        <p:spPr>
          <a:xfrm>
            <a:off x="8181729"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4" name="Text Placeholder 3">
            <a:extLst>
              <a:ext uri="{FF2B5EF4-FFF2-40B4-BE49-F238E27FC236}">
                <a16:creationId xmlns:a16="http://schemas.microsoft.com/office/drawing/2014/main" id="{6B04B79A-B4BD-0306-3D46-D570E1F51CA6}"/>
              </a:ext>
            </a:extLst>
          </p:cNvPr>
          <p:cNvSpPr>
            <a:spLocks noGrp="1"/>
          </p:cNvSpPr>
          <p:nvPr>
            <p:ph type="body" sz="half" idx="18"/>
          </p:nvPr>
        </p:nvSpPr>
        <p:spPr>
          <a:xfrm>
            <a:off x="4303332"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Text Placeholder 3">
            <a:extLst>
              <a:ext uri="{FF2B5EF4-FFF2-40B4-BE49-F238E27FC236}">
                <a16:creationId xmlns:a16="http://schemas.microsoft.com/office/drawing/2014/main" id="{450B4796-C4B7-C272-5ADD-7D6C896B703E}"/>
              </a:ext>
            </a:extLst>
          </p:cNvPr>
          <p:cNvSpPr>
            <a:spLocks noGrp="1"/>
          </p:cNvSpPr>
          <p:nvPr>
            <p:ph type="body" sz="half" idx="19"/>
          </p:nvPr>
        </p:nvSpPr>
        <p:spPr>
          <a:xfrm>
            <a:off x="8181729"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2" name="Text Placeholder 3">
            <a:extLst>
              <a:ext uri="{FF2B5EF4-FFF2-40B4-BE49-F238E27FC236}">
                <a16:creationId xmlns:a16="http://schemas.microsoft.com/office/drawing/2014/main" id="{4633AE4D-056F-FC97-1F10-877F247AB319}"/>
              </a:ext>
            </a:extLst>
          </p:cNvPr>
          <p:cNvSpPr>
            <a:spLocks noGrp="1"/>
          </p:cNvSpPr>
          <p:nvPr>
            <p:ph type="body" sz="half" idx="20"/>
          </p:nvPr>
        </p:nvSpPr>
        <p:spPr>
          <a:xfrm>
            <a:off x="413656"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3" name="Picture Placeholder 2">
            <a:extLst>
              <a:ext uri="{FF2B5EF4-FFF2-40B4-BE49-F238E27FC236}">
                <a16:creationId xmlns:a16="http://schemas.microsoft.com/office/drawing/2014/main" id="{19716662-3C77-F831-E45C-F9EA49810F58}"/>
              </a:ext>
            </a:extLst>
          </p:cNvPr>
          <p:cNvSpPr>
            <a:spLocks noGrp="1"/>
          </p:cNvSpPr>
          <p:nvPr>
            <p:ph type="pic" idx="21"/>
          </p:nvPr>
        </p:nvSpPr>
        <p:spPr>
          <a:xfrm>
            <a:off x="435428"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4" name="Picture Placeholder 2">
            <a:extLst>
              <a:ext uri="{FF2B5EF4-FFF2-40B4-BE49-F238E27FC236}">
                <a16:creationId xmlns:a16="http://schemas.microsoft.com/office/drawing/2014/main" id="{1ED1A14F-5E0D-476E-9C60-BD987EFC4940}"/>
              </a:ext>
            </a:extLst>
          </p:cNvPr>
          <p:cNvSpPr>
            <a:spLocks noGrp="1"/>
          </p:cNvSpPr>
          <p:nvPr>
            <p:ph type="pic" idx="22"/>
          </p:nvPr>
        </p:nvSpPr>
        <p:spPr>
          <a:xfrm>
            <a:off x="4303332"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5" name="Picture Placeholder 2">
            <a:extLst>
              <a:ext uri="{FF2B5EF4-FFF2-40B4-BE49-F238E27FC236}">
                <a16:creationId xmlns:a16="http://schemas.microsoft.com/office/drawing/2014/main" id="{A0003A4C-26CB-DD7F-0B22-024AFB58DC67}"/>
              </a:ext>
            </a:extLst>
          </p:cNvPr>
          <p:cNvSpPr>
            <a:spLocks noGrp="1"/>
          </p:cNvSpPr>
          <p:nvPr>
            <p:ph type="pic" idx="23"/>
          </p:nvPr>
        </p:nvSpPr>
        <p:spPr>
          <a:xfrm>
            <a:off x="8193008"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6" name="Text Placeholder 3">
            <a:extLst>
              <a:ext uri="{FF2B5EF4-FFF2-40B4-BE49-F238E27FC236}">
                <a16:creationId xmlns:a16="http://schemas.microsoft.com/office/drawing/2014/main" id="{08CE8D58-56A2-6AE5-AB18-C53F4134DD88}"/>
              </a:ext>
            </a:extLst>
          </p:cNvPr>
          <p:cNvSpPr>
            <a:spLocks noGrp="1"/>
          </p:cNvSpPr>
          <p:nvPr>
            <p:ph type="body" sz="half" idx="24"/>
          </p:nvPr>
        </p:nvSpPr>
        <p:spPr>
          <a:xfrm>
            <a:off x="4281560"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7A4C2D1F-1A58-AC60-F606-B816E5F23FFF}"/>
              </a:ext>
            </a:extLst>
          </p:cNvPr>
          <p:cNvSpPr>
            <a:spLocks noGrp="1"/>
          </p:cNvSpPr>
          <p:nvPr>
            <p:ph type="body" sz="half" idx="25"/>
          </p:nvPr>
        </p:nvSpPr>
        <p:spPr>
          <a:xfrm>
            <a:off x="8193008"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Text Placeholder 13">
            <a:extLst>
              <a:ext uri="{FF2B5EF4-FFF2-40B4-BE49-F238E27FC236}">
                <a16:creationId xmlns:a16="http://schemas.microsoft.com/office/drawing/2014/main" id="{924D92CB-DB6C-EEE8-BDA7-E3D7B0643641}"/>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Slide Number Placeholder 6">
            <a:extLst>
              <a:ext uri="{FF2B5EF4-FFF2-40B4-BE49-F238E27FC236}">
                <a16:creationId xmlns:a16="http://schemas.microsoft.com/office/drawing/2014/main" id="{720A2560-8530-94AA-9E7F-F5A56AB4E3D7}"/>
              </a:ext>
            </a:extLst>
          </p:cNvPr>
          <p:cNvSpPr>
            <a:spLocks noGrp="1"/>
          </p:cNvSpPr>
          <p:nvPr>
            <p:ph type="sldNum" sz="quarter" idx="26"/>
          </p:nvPr>
        </p:nvSpPr>
        <p:spPr/>
        <p:txBody>
          <a:bodyPr/>
          <a:lstStyle/>
          <a:p>
            <a:fld id="{F994776A-187E-9540-9EA4-8D5781AB769D}" type="slidenum">
              <a:rPr lang="en-US" smtClean="0"/>
              <a:pPr/>
              <a:t>‹#›</a:t>
            </a:fld>
            <a:endParaRPr lang="en-US" dirty="0"/>
          </a:p>
        </p:txBody>
      </p:sp>
      <p:pic>
        <p:nvPicPr>
          <p:cNvPr id="8" name="Picture 2">
            <a:extLst>
              <a:ext uri="{FF2B5EF4-FFF2-40B4-BE49-F238E27FC236}">
                <a16:creationId xmlns:a16="http://schemas.microsoft.com/office/drawing/2014/main" id="{7AF31650-E388-54F8-9AE5-64910C9556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F6AB8174-6ABB-9A13-A355-76DD46DD1B8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2025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Photo Collag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4" y="1542762"/>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334406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623655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6223A017-A902-92C1-8A99-7D45B08D860D}"/>
              </a:ext>
            </a:extLst>
          </p:cNvPr>
          <p:cNvSpPr>
            <a:spLocks noGrp="1"/>
          </p:cNvSpPr>
          <p:nvPr>
            <p:ph type="pic" idx="17"/>
          </p:nvPr>
        </p:nvSpPr>
        <p:spPr>
          <a:xfrm>
            <a:off x="912904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5" name="Picture Placeholder 2">
            <a:extLst>
              <a:ext uri="{FF2B5EF4-FFF2-40B4-BE49-F238E27FC236}">
                <a16:creationId xmlns:a16="http://schemas.microsoft.com/office/drawing/2014/main" id="{FE352EAA-3DC6-450E-518D-B55638975ECE}"/>
              </a:ext>
            </a:extLst>
          </p:cNvPr>
          <p:cNvSpPr>
            <a:spLocks noGrp="1"/>
          </p:cNvSpPr>
          <p:nvPr>
            <p:ph type="pic" idx="18"/>
          </p:nvPr>
        </p:nvSpPr>
        <p:spPr>
          <a:xfrm>
            <a:off x="1843620" y="3651150"/>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6" name="Picture Placeholder 2">
            <a:extLst>
              <a:ext uri="{FF2B5EF4-FFF2-40B4-BE49-F238E27FC236}">
                <a16:creationId xmlns:a16="http://schemas.microsoft.com/office/drawing/2014/main" id="{1E5E3807-051E-4D4B-1143-A6B4BDDBB5D8}"/>
              </a:ext>
            </a:extLst>
          </p:cNvPr>
          <p:cNvSpPr>
            <a:spLocks noGrp="1"/>
          </p:cNvSpPr>
          <p:nvPr>
            <p:ph type="pic" idx="19"/>
          </p:nvPr>
        </p:nvSpPr>
        <p:spPr>
          <a:xfrm>
            <a:off x="474136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7" name="Picture Placeholder 2">
            <a:extLst>
              <a:ext uri="{FF2B5EF4-FFF2-40B4-BE49-F238E27FC236}">
                <a16:creationId xmlns:a16="http://schemas.microsoft.com/office/drawing/2014/main" id="{9659EF4B-6B57-DE2A-B33A-D60A659CFE6D}"/>
              </a:ext>
            </a:extLst>
          </p:cNvPr>
          <p:cNvSpPr>
            <a:spLocks noGrp="1"/>
          </p:cNvSpPr>
          <p:nvPr>
            <p:ph type="pic" idx="20"/>
          </p:nvPr>
        </p:nvSpPr>
        <p:spPr>
          <a:xfrm>
            <a:off x="763385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2767-6954-6B12-1677-BE947CE88EB8}"/>
              </a:ext>
            </a:extLst>
          </p:cNvPr>
          <p:cNvSpPr>
            <a:spLocks noGrp="1"/>
          </p:cNvSpPr>
          <p:nvPr>
            <p:ph type="sldNum" sz="quarter" idx="21"/>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AC297EAB-60AE-2CA6-7FC1-B2BF3AB10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3B41963D-A67E-47BC-567C-DE1236FDA3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1345577"/>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hart with 2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6521986" y="3884037"/>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a:extLst>
              <a:ext uri="{FF2B5EF4-FFF2-40B4-BE49-F238E27FC236}">
                <a16:creationId xmlns:a16="http://schemas.microsoft.com/office/drawing/2014/main" id="{467A134D-7A3A-AD4B-91DF-57347E308706}"/>
              </a:ext>
            </a:extLst>
          </p:cNvPr>
          <p:cNvSpPr/>
          <p:nvPr/>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4581B053-21C8-C0AD-58C7-637A6315D1B2}"/>
              </a:ext>
            </a:extLst>
          </p:cNvPr>
          <p:cNvSpPr>
            <a:spLocks noGrp="1"/>
          </p:cNvSpPr>
          <p:nvPr>
            <p:ph type="body" sz="half" idx="2"/>
          </p:nvPr>
        </p:nvSpPr>
        <p:spPr>
          <a:xfrm>
            <a:off x="6521726" y="3395949"/>
            <a:ext cx="521294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Rectangle 16">
            <a:extLst>
              <a:ext uri="{FF2B5EF4-FFF2-40B4-BE49-F238E27FC236}">
                <a16:creationId xmlns:a16="http://schemas.microsoft.com/office/drawing/2014/main" id="{D8B2033E-9DB9-9A2B-D4C5-6D8960838D22}"/>
              </a:ext>
            </a:extLst>
          </p:cNvPr>
          <p:cNvSpPr/>
          <p:nvPr/>
        </p:nvSpPr>
        <p:spPr>
          <a:xfrm>
            <a:off x="6521856" y="5636913"/>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 Placeholder 3">
            <a:extLst>
              <a:ext uri="{FF2B5EF4-FFF2-40B4-BE49-F238E27FC236}">
                <a16:creationId xmlns:a16="http://schemas.microsoft.com/office/drawing/2014/main" id="{F02FFCFA-A84F-7535-4A5F-29A5FC646063}"/>
              </a:ext>
            </a:extLst>
          </p:cNvPr>
          <p:cNvSpPr>
            <a:spLocks noGrp="1"/>
          </p:cNvSpPr>
          <p:nvPr>
            <p:ph type="body" sz="half" idx="19"/>
          </p:nvPr>
        </p:nvSpPr>
        <p:spPr>
          <a:xfrm>
            <a:off x="6521726" y="5636913"/>
            <a:ext cx="521281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Slide Number Placeholder 3">
            <a:extLst>
              <a:ext uri="{FF2B5EF4-FFF2-40B4-BE49-F238E27FC236}">
                <a16:creationId xmlns:a16="http://schemas.microsoft.com/office/drawing/2014/main" id="{E5C45827-5CB3-E873-7680-6D8C2AAB95D6}"/>
              </a:ext>
            </a:extLst>
          </p:cNvPr>
          <p:cNvSpPr>
            <a:spLocks noGrp="1"/>
          </p:cNvSpPr>
          <p:nvPr>
            <p:ph type="sldNum" sz="quarter" idx="20"/>
          </p:nvPr>
        </p:nvSpPr>
        <p:spPr/>
        <p:txBody>
          <a:bodyPr/>
          <a:lstStyle/>
          <a:p>
            <a:fld id="{F994776A-187E-9540-9EA4-8D5781AB769D}" type="slidenum">
              <a:rPr lang="en-US" smtClean="0"/>
              <a:pPr/>
              <a:t>‹#›</a:t>
            </a:fld>
            <a:endParaRPr lang="en-US" dirty="0"/>
          </a:p>
        </p:txBody>
      </p:sp>
      <p:pic>
        <p:nvPicPr>
          <p:cNvPr id="9" name="Picture 2">
            <a:extLst>
              <a:ext uri="{FF2B5EF4-FFF2-40B4-BE49-F238E27FC236}">
                <a16:creationId xmlns:a16="http://schemas.microsoft.com/office/drawing/2014/main" id="{C87E9216-1A8F-085F-5596-89DFB20E79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48EF1F13-F911-28E1-B770-4763C123C2F8}"/>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CF31249-104C-11CB-6391-B2BA35C144BF}"/>
              </a:ext>
            </a:extLst>
          </p:cNvPr>
          <p:cNvSpPr/>
          <p:nvPr userDrawn="1"/>
        </p:nvSpPr>
        <p:spPr>
          <a:xfrm>
            <a:off x="6521856" y="5636913"/>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3" name="Picture 2">
            <a:extLst>
              <a:ext uri="{FF2B5EF4-FFF2-40B4-BE49-F238E27FC236}">
                <a16:creationId xmlns:a16="http://schemas.microsoft.com/office/drawing/2014/main" id="{E56098F8-98FA-EDC9-584F-719E3210383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2654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hart with 3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9287219" y="3884037"/>
            <a:ext cx="2447580"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6521986" y="3879120"/>
            <a:ext cx="2528916"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CAC4E08-5A51-BF4F-655E-4E54DD771548}"/>
              </a:ext>
            </a:extLst>
          </p:cNvPr>
          <p:cNvSpPr/>
          <p:nvPr/>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ext Placeholder 3">
            <a:extLst>
              <a:ext uri="{FF2B5EF4-FFF2-40B4-BE49-F238E27FC236}">
                <a16:creationId xmlns:a16="http://schemas.microsoft.com/office/drawing/2014/main" id="{27D80C23-74F3-F853-02BF-83C743039F6E}"/>
              </a:ext>
            </a:extLst>
          </p:cNvPr>
          <p:cNvSpPr>
            <a:spLocks noGrp="1"/>
          </p:cNvSpPr>
          <p:nvPr>
            <p:ph type="body" sz="half" idx="2"/>
          </p:nvPr>
        </p:nvSpPr>
        <p:spPr>
          <a:xfrm>
            <a:off x="6571823" y="3395949"/>
            <a:ext cx="5162846"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Rectangle 6">
            <a:extLst>
              <a:ext uri="{FF2B5EF4-FFF2-40B4-BE49-F238E27FC236}">
                <a16:creationId xmlns:a16="http://schemas.microsoft.com/office/drawing/2014/main" id="{F8F22EB8-4EFD-86A4-8EB8-8A4F1A1AA2DF}"/>
              </a:ext>
            </a:extLst>
          </p:cNvPr>
          <p:cNvSpPr/>
          <p:nvPr/>
        </p:nvSpPr>
        <p:spPr>
          <a:xfrm>
            <a:off x="6512818" y="5631997"/>
            <a:ext cx="251233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66A4B2AA-E0AE-18DD-BAA3-AF2A9CA6987A}"/>
              </a:ext>
            </a:extLst>
          </p:cNvPr>
          <p:cNvSpPr>
            <a:spLocks noGrp="1"/>
          </p:cNvSpPr>
          <p:nvPr>
            <p:ph type="body" sz="half" idx="19"/>
          </p:nvPr>
        </p:nvSpPr>
        <p:spPr>
          <a:xfrm>
            <a:off x="6562654" y="5631997"/>
            <a:ext cx="2488248"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Rectangle 14">
            <a:extLst>
              <a:ext uri="{FF2B5EF4-FFF2-40B4-BE49-F238E27FC236}">
                <a16:creationId xmlns:a16="http://schemas.microsoft.com/office/drawing/2014/main" id="{E18B5CD1-FF93-2C9C-1BFF-73A3CE39E65D}"/>
              </a:ext>
            </a:extLst>
          </p:cNvPr>
          <p:cNvSpPr/>
          <p:nvPr/>
        </p:nvSpPr>
        <p:spPr>
          <a:xfrm>
            <a:off x="9287218" y="5641703"/>
            <a:ext cx="2431941"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3">
            <a:extLst>
              <a:ext uri="{FF2B5EF4-FFF2-40B4-BE49-F238E27FC236}">
                <a16:creationId xmlns:a16="http://schemas.microsoft.com/office/drawing/2014/main" id="{C52272AC-9734-6D60-9441-B5E7B9E4E372}"/>
              </a:ext>
            </a:extLst>
          </p:cNvPr>
          <p:cNvSpPr>
            <a:spLocks noGrp="1"/>
          </p:cNvSpPr>
          <p:nvPr>
            <p:ph type="body" sz="half" idx="20"/>
          </p:nvPr>
        </p:nvSpPr>
        <p:spPr>
          <a:xfrm>
            <a:off x="9337055" y="5641703"/>
            <a:ext cx="2408630"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Slide Number Placeholder 12">
            <a:extLst>
              <a:ext uri="{FF2B5EF4-FFF2-40B4-BE49-F238E27FC236}">
                <a16:creationId xmlns:a16="http://schemas.microsoft.com/office/drawing/2014/main" id="{01CBD603-B977-E0E5-7C2E-C0061CD0B72C}"/>
              </a:ext>
            </a:extLst>
          </p:cNvPr>
          <p:cNvSpPr>
            <a:spLocks noGrp="1"/>
          </p:cNvSpPr>
          <p:nvPr>
            <p:ph type="sldNum" sz="quarter" idx="21"/>
          </p:nvPr>
        </p:nvSpPr>
        <p:spPr/>
        <p:txBody>
          <a:bodyPr/>
          <a:lstStyle/>
          <a:p>
            <a:fld id="{F994776A-187E-9540-9EA4-8D5781AB769D}" type="slidenum">
              <a:rPr lang="en-US" smtClean="0"/>
              <a:pPr/>
              <a:t>‹#›</a:t>
            </a:fld>
            <a:endParaRPr lang="en-US" dirty="0"/>
          </a:p>
        </p:txBody>
      </p:sp>
      <p:pic>
        <p:nvPicPr>
          <p:cNvPr id="9" name="Picture 2">
            <a:extLst>
              <a:ext uri="{FF2B5EF4-FFF2-40B4-BE49-F238E27FC236}">
                <a16:creationId xmlns:a16="http://schemas.microsoft.com/office/drawing/2014/main" id="{A7F1900C-EBAA-D81A-8063-47664791EA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2E958BB9-755B-0449-87FF-29F07D79A4C5}"/>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81610C3-BC6A-3578-E5C3-89AB1E320F94}"/>
              </a:ext>
            </a:extLst>
          </p:cNvPr>
          <p:cNvSpPr/>
          <p:nvPr userDrawn="1"/>
        </p:nvSpPr>
        <p:spPr>
          <a:xfrm>
            <a:off x="6512818" y="5631997"/>
            <a:ext cx="251233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FC7F168-EAF9-B62B-8503-93AA073C37A0}"/>
              </a:ext>
            </a:extLst>
          </p:cNvPr>
          <p:cNvSpPr/>
          <p:nvPr userDrawn="1"/>
        </p:nvSpPr>
        <p:spPr>
          <a:xfrm>
            <a:off x="9287218" y="5641703"/>
            <a:ext cx="2431941"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2">
            <a:extLst>
              <a:ext uri="{FF2B5EF4-FFF2-40B4-BE49-F238E27FC236}">
                <a16:creationId xmlns:a16="http://schemas.microsoft.com/office/drawing/2014/main" id="{0924F322-E5C6-1FA0-14F5-5F30A55AFDB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9004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omparison - 3 Blocks - Blac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CFF414-FA47-F7EC-7EFB-7073E26BB831}"/>
              </a:ext>
            </a:extLst>
          </p:cNvPr>
          <p:cNvSpPr/>
          <p:nvPr/>
        </p:nvSpPr>
        <p:spPr>
          <a:xfrm>
            <a:off x="7938475" y="1315894"/>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13C0F4F-1E76-E3A4-E5AA-8FA79C7C69FB}"/>
              </a:ext>
            </a:extLst>
          </p:cNvPr>
          <p:cNvSpPr/>
          <p:nvPr/>
        </p:nvSpPr>
        <p:spPr>
          <a:xfrm>
            <a:off x="4420956" y="1315895"/>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7105CB-DECE-0616-2A57-776784CFC1CB}"/>
              </a:ext>
            </a:extLst>
          </p:cNvPr>
          <p:cNvSpPr/>
          <p:nvPr/>
        </p:nvSpPr>
        <p:spPr>
          <a:xfrm>
            <a:off x="903437" y="1315896"/>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7" name="Text Placeholder 6">
            <a:extLst>
              <a:ext uri="{FF2B5EF4-FFF2-40B4-BE49-F238E27FC236}">
                <a16:creationId xmlns:a16="http://schemas.microsoft.com/office/drawing/2014/main" id="{1813FE17-B697-FB87-4ED6-D832D798E901}"/>
              </a:ext>
            </a:extLst>
          </p:cNvPr>
          <p:cNvSpPr>
            <a:spLocks noGrp="1"/>
          </p:cNvSpPr>
          <p:nvPr>
            <p:ph type="body" sz="quarter" idx="10" hasCustomPrompt="1"/>
          </p:nvPr>
        </p:nvSpPr>
        <p:spPr>
          <a:xfrm>
            <a:off x="903506" y="143646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1" name="Picture Placeholder 10">
            <a:extLst>
              <a:ext uri="{FF2B5EF4-FFF2-40B4-BE49-F238E27FC236}">
                <a16:creationId xmlns:a16="http://schemas.microsoft.com/office/drawing/2014/main" id="{8B65CB9D-AA49-05C2-2100-C63D32C82B85}"/>
              </a:ext>
            </a:extLst>
          </p:cNvPr>
          <p:cNvSpPr>
            <a:spLocks noGrp="1"/>
          </p:cNvSpPr>
          <p:nvPr>
            <p:ph type="pic" sz="quarter" idx="12"/>
          </p:nvPr>
        </p:nvSpPr>
        <p:spPr>
          <a:xfrm>
            <a:off x="1101943" y="4045824"/>
            <a:ext cx="2951163" cy="1555750"/>
          </a:xfrm>
        </p:spPr>
        <p:txBody>
          <a:bodyPr/>
          <a:lstStyle>
            <a:lvl1pPr marL="0" indent="0">
              <a:buNone/>
              <a:defRPr/>
            </a:lvl1pPr>
          </a:lstStyle>
          <a:p>
            <a:r>
              <a:rPr lang="en-US"/>
              <a:t>Click icon to add picture</a:t>
            </a:r>
            <a:endParaRPr lang="en-US" dirty="0"/>
          </a:p>
        </p:txBody>
      </p:sp>
      <p:sp>
        <p:nvSpPr>
          <p:cNvPr id="17" name="Text Placeholder 6">
            <a:extLst>
              <a:ext uri="{FF2B5EF4-FFF2-40B4-BE49-F238E27FC236}">
                <a16:creationId xmlns:a16="http://schemas.microsoft.com/office/drawing/2014/main" id="{43204028-135E-83A2-B94A-693154F531B4}"/>
              </a:ext>
            </a:extLst>
          </p:cNvPr>
          <p:cNvSpPr>
            <a:spLocks noGrp="1"/>
          </p:cNvSpPr>
          <p:nvPr>
            <p:ph type="body" sz="quarter" idx="13" hasCustomPrompt="1"/>
          </p:nvPr>
        </p:nvSpPr>
        <p:spPr>
          <a:xfrm>
            <a:off x="4421284" y="143646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9" name="Picture Placeholder 10">
            <a:extLst>
              <a:ext uri="{FF2B5EF4-FFF2-40B4-BE49-F238E27FC236}">
                <a16:creationId xmlns:a16="http://schemas.microsoft.com/office/drawing/2014/main" id="{D4E810FD-2D00-764A-B144-B235C21E32F6}"/>
              </a:ext>
            </a:extLst>
          </p:cNvPr>
          <p:cNvSpPr>
            <a:spLocks noGrp="1"/>
          </p:cNvSpPr>
          <p:nvPr>
            <p:ph type="pic" sz="quarter" idx="15"/>
          </p:nvPr>
        </p:nvSpPr>
        <p:spPr>
          <a:xfrm>
            <a:off x="4619721" y="4045824"/>
            <a:ext cx="2951163" cy="1555750"/>
          </a:xfrm>
        </p:spPr>
        <p:txBody>
          <a:bodyPr/>
          <a:lstStyle>
            <a:lvl1pPr marL="0" indent="0">
              <a:buNone/>
              <a:defRPr/>
            </a:lvl1pPr>
          </a:lstStyle>
          <a:p>
            <a:r>
              <a:rPr lang="en-US"/>
              <a:t>Click icon to add picture</a:t>
            </a:r>
            <a:endParaRPr lang="en-US" dirty="0"/>
          </a:p>
        </p:txBody>
      </p:sp>
      <p:sp>
        <p:nvSpPr>
          <p:cNvPr id="21" name="Text Placeholder 6">
            <a:extLst>
              <a:ext uri="{FF2B5EF4-FFF2-40B4-BE49-F238E27FC236}">
                <a16:creationId xmlns:a16="http://schemas.microsoft.com/office/drawing/2014/main" id="{0A71EF50-386A-A3B9-93FB-6EF179A4EE47}"/>
              </a:ext>
            </a:extLst>
          </p:cNvPr>
          <p:cNvSpPr>
            <a:spLocks noGrp="1"/>
          </p:cNvSpPr>
          <p:nvPr>
            <p:ph type="body" sz="quarter" idx="16" hasCustomPrompt="1"/>
          </p:nvPr>
        </p:nvSpPr>
        <p:spPr>
          <a:xfrm>
            <a:off x="7938803" y="143391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23" name="Picture Placeholder 10">
            <a:extLst>
              <a:ext uri="{FF2B5EF4-FFF2-40B4-BE49-F238E27FC236}">
                <a16:creationId xmlns:a16="http://schemas.microsoft.com/office/drawing/2014/main" id="{6AE17ED9-FDD9-34C3-1F7D-9A8EA4C4B40E}"/>
              </a:ext>
            </a:extLst>
          </p:cNvPr>
          <p:cNvSpPr>
            <a:spLocks noGrp="1"/>
          </p:cNvSpPr>
          <p:nvPr>
            <p:ph type="pic" sz="quarter" idx="18"/>
          </p:nvPr>
        </p:nvSpPr>
        <p:spPr>
          <a:xfrm>
            <a:off x="8137240" y="4043274"/>
            <a:ext cx="2951163" cy="1555750"/>
          </a:xfrm>
        </p:spPr>
        <p:txBody>
          <a:bodyPr/>
          <a:lstStyle>
            <a:lvl1pPr marL="0" indent="0">
              <a:buNone/>
              <a:defRPr b="1"/>
            </a:lvl1pPr>
          </a:lstStyle>
          <a:p>
            <a:r>
              <a:rPr lang="en-US"/>
              <a:t>Click icon to add picture</a:t>
            </a:r>
            <a:endParaRPr lang="en-US" dirty="0"/>
          </a:p>
        </p:txBody>
      </p:sp>
      <p:sp>
        <p:nvSpPr>
          <p:cNvPr id="16" name="Title 15">
            <a:extLst>
              <a:ext uri="{FF2B5EF4-FFF2-40B4-BE49-F238E27FC236}">
                <a16:creationId xmlns:a16="http://schemas.microsoft.com/office/drawing/2014/main" id="{77D3ED32-45F9-B948-371F-67E8465B2438}"/>
              </a:ext>
            </a:extLst>
          </p:cNvPr>
          <p:cNvSpPr>
            <a:spLocks noGrp="1"/>
          </p:cNvSpPr>
          <p:nvPr>
            <p:ph type="title"/>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140B5B1B-89D1-9945-6AB1-0D9B2E27009A}"/>
              </a:ext>
            </a:extLst>
          </p:cNvPr>
          <p:cNvSpPr>
            <a:spLocks noGrp="1"/>
          </p:cNvSpPr>
          <p:nvPr>
            <p:ph type="body" sz="half" idx="2" hasCustomPrompt="1"/>
          </p:nvPr>
        </p:nvSpPr>
        <p:spPr>
          <a:xfrm>
            <a:off x="1087907" y="2065260"/>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8" name="Text Placeholder 3">
            <a:extLst>
              <a:ext uri="{FF2B5EF4-FFF2-40B4-BE49-F238E27FC236}">
                <a16:creationId xmlns:a16="http://schemas.microsoft.com/office/drawing/2014/main" id="{CCAB75A6-8C36-AD93-09A1-D377BF55C686}"/>
              </a:ext>
            </a:extLst>
          </p:cNvPr>
          <p:cNvSpPr>
            <a:spLocks noGrp="1"/>
          </p:cNvSpPr>
          <p:nvPr>
            <p:ph type="body" sz="half" idx="20" hasCustomPrompt="1"/>
          </p:nvPr>
        </p:nvSpPr>
        <p:spPr>
          <a:xfrm>
            <a:off x="4605427" y="2065259"/>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10" name="Text Placeholder 3">
            <a:extLst>
              <a:ext uri="{FF2B5EF4-FFF2-40B4-BE49-F238E27FC236}">
                <a16:creationId xmlns:a16="http://schemas.microsoft.com/office/drawing/2014/main" id="{9BFCE088-E342-EDAD-213D-39C8B8D85057}"/>
              </a:ext>
            </a:extLst>
          </p:cNvPr>
          <p:cNvSpPr>
            <a:spLocks noGrp="1"/>
          </p:cNvSpPr>
          <p:nvPr>
            <p:ph type="body" sz="half" idx="21" hasCustomPrompt="1"/>
          </p:nvPr>
        </p:nvSpPr>
        <p:spPr>
          <a:xfrm>
            <a:off x="8122945" y="2065259"/>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9" name="Slide Number Placeholder 8">
            <a:extLst>
              <a:ext uri="{FF2B5EF4-FFF2-40B4-BE49-F238E27FC236}">
                <a16:creationId xmlns:a16="http://schemas.microsoft.com/office/drawing/2014/main" id="{3752A11A-CEFD-01B7-2324-466BE85E97BA}"/>
              </a:ext>
            </a:extLst>
          </p:cNvPr>
          <p:cNvSpPr>
            <a:spLocks noGrp="1"/>
          </p:cNvSpPr>
          <p:nvPr>
            <p:ph type="sldNum" sz="quarter" idx="22"/>
          </p:nvPr>
        </p:nvSpPr>
        <p:spPr/>
        <p:txBody>
          <a:bodyPr/>
          <a:lstStyle/>
          <a:p>
            <a:fld id="{F994776A-187E-9540-9EA4-8D5781AB769D}" type="slidenum">
              <a:rPr lang="en-US" smtClean="0"/>
              <a:pPr/>
              <a:t>‹#›</a:t>
            </a:fld>
            <a:endParaRPr lang="en-US" dirty="0"/>
          </a:p>
        </p:txBody>
      </p:sp>
      <p:pic>
        <p:nvPicPr>
          <p:cNvPr id="12" name="Picture 2">
            <a:extLst>
              <a:ext uri="{FF2B5EF4-FFF2-40B4-BE49-F238E27FC236}">
                <a16:creationId xmlns:a16="http://schemas.microsoft.com/office/drawing/2014/main" id="{F1D30E38-DCA5-D7B3-D3F6-C20A366C60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4554DC9-546E-9BED-3D3E-2F26FB285247}"/>
              </a:ext>
            </a:extLst>
          </p:cNvPr>
          <p:cNvSpPr/>
          <p:nvPr userDrawn="1"/>
        </p:nvSpPr>
        <p:spPr>
          <a:xfrm>
            <a:off x="7938475" y="1315894"/>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D0962E5-3515-5C44-403F-4DA807256EDC}"/>
              </a:ext>
            </a:extLst>
          </p:cNvPr>
          <p:cNvSpPr/>
          <p:nvPr userDrawn="1"/>
        </p:nvSpPr>
        <p:spPr>
          <a:xfrm>
            <a:off x="4420956" y="1315895"/>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1D18BB6-8253-3F4B-F4F4-09E95E151ACF}"/>
              </a:ext>
            </a:extLst>
          </p:cNvPr>
          <p:cNvSpPr/>
          <p:nvPr userDrawn="1"/>
        </p:nvSpPr>
        <p:spPr>
          <a:xfrm>
            <a:off x="903437" y="1315896"/>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5" name="Picture 2">
            <a:extLst>
              <a:ext uri="{FF2B5EF4-FFF2-40B4-BE49-F238E27FC236}">
                <a16:creationId xmlns:a16="http://schemas.microsoft.com/office/drawing/2014/main" id="{0B7EE291-7FD3-4E40-1A0E-89848321F1E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96926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Comparison - 3 Blocks - Go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98D576-4759-5408-883D-2E56D9D0F603}"/>
              </a:ext>
            </a:extLst>
          </p:cNvPr>
          <p:cNvSpPr/>
          <p:nvPr/>
        </p:nvSpPr>
        <p:spPr>
          <a:xfrm>
            <a:off x="7938216" y="1315892"/>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C44A1A-1D1D-F2D9-8EC1-EFF25EBA1FB0}"/>
              </a:ext>
            </a:extLst>
          </p:cNvPr>
          <p:cNvSpPr/>
          <p:nvPr/>
        </p:nvSpPr>
        <p:spPr>
          <a:xfrm>
            <a:off x="4420697" y="1315893"/>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38D75A-DD50-6C6E-0A9D-7F77E72C780A}"/>
              </a:ext>
            </a:extLst>
          </p:cNvPr>
          <p:cNvSpPr/>
          <p:nvPr/>
        </p:nvSpPr>
        <p:spPr>
          <a:xfrm>
            <a:off x="903178" y="1315894"/>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 name="Text Placeholder 6">
            <a:extLst>
              <a:ext uri="{FF2B5EF4-FFF2-40B4-BE49-F238E27FC236}">
                <a16:creationId xmlns:a16="http://schemas.microsoft.com/office/drawing/2014/main" id="{876A1563-09E6-06B6-EC4A-8E309CC57B11}"/>
              </a:ext>
            </a:extLst>
          </p:cNvPr>
          <p:cNvSpPr>
            <a:spLocks noGrp="1"/>
          </p:cNvSpPr>
          <p:nvPr>
            <p:ph type="body" sz="quarter" idx="10" hasCustomPrompt="1"/>
          </p:nvPr>
        </p:nvSpPr>
        <p:spPr>
          <a:xfrm>
            <a:off x="903247" y="143646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22" name="Text Placeholder 6">
            <a:extLst>
              <a:ext uri="{FF2B5EF4-FFF2-40B4-BE49-F238E27FC236}">
                <a16:creationId xmlns:a16="http://schemas.microsoft.com/office/drawing/2014/main" id="{AF401EC8-7352-A985-133C-726A718A9E9A}"/>
              </a:ext>
            </a:extLst>
          </p:cNvPr>
          <p:cNvSpPr>
            <a:spLocks noGrp="1"/>
          </p:cNvSpPr>
          <p:nvPr>
            <p:ph type="body" sz="quarter" idx="13" hasCustomPrompt="1"/>
          </p:nvPr>
        </p:nvSpPr>
        <p:spPr>
          <a:xfrm>
            <a:off x="4421025" y="143646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26" name="Text Placeholder 6">
            <a:extLst>
              <a:ext uri="{FF2B5EF4-FFF2-40B4-BE49-F238E27FC236}">
                <a16:creationId xmlns:a16="http://schemas.microsoft.com/office/drawing/2014/main" id="{71A04C69-EC92-81B2-FCD5-39464C669BEB}"/>
              </a:ext>
            </a:extLst>
          </p:cNvPr>
          <p:cNvSpPr>
            <a:spLocks noGrp="1"/>
          </p:cNvSpPr>
          <p:nvPr>
            <p:ph type="body" sz="quarter" idx="16" hasCustomPrompt="1"/>
          </p:nvPr>
        </p:nvSpPr>
        <p:spPr>
          <a:xfrm>
            <a:off x="7938544" y="143391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30" name="Text Placeholder 3">
            <a:extLst>
              <a:ext uri="{FF2B5EF4-FFF2-40B4-BE49-F238E27FC236}">
                <a16:creationId xmlns:a16="http://schemas.microsoft.com/office/drawing/2014/main" id="{AE5BF8CB-9477-F598-75C4-6F35D608B35B}"/>
              </a:ext>
            </a:extLst>
          </p:cNvPr>
          <p:cNvSpPr>
            <a:spLocks noGrp="1"/>
          </p:cNvSpPr>
          <p:nvPr>
            <p:ph type="body" sz="half" idx="2" hasCustomPrompt="1"/>
          </p:nvPr>
        </p:nvSpPr>
        <p:spPr>
          <a:xfrm>
            <a:off x="1101684" y="2040670"/>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31" name="Text Placeholder 3">
            <a:extLst>
              <a:ext uri="{FF2B5EF4-FFF2-40B4-BE49-F238E27FC236}">
                <a16:creationId xmlns:a16="http://schemas.microsoft.com/office/drawing/2014/main" id="{AE6CE746-1703-63A8-BBD4-546AD104E27E}"/>
              </a:ext>
            </a:extLst>
          </p:cNvPr>
          <p:cNvSpPr>
            <a:spLocks noGrp="1"/>
          </p:cNvSpPr>
          <p:nvPr>
            <p:ph type="body" sz="half" idx="24" hasCustomPrompt="1"/>
          </p:nvPr>
        </p:nvSpPr>
        <p:spPr>
          <a:xfrm>
            <a:off x="4604880" y="2065258"/>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33" name="Picture Placeholder 10">
            <a:extLst>
              <a:ext uri="{FF2B5EF4-FFF2-40B4-BE49-F238E27FC236}">
                <a16:creationId xmlns:a16="http://schemas.microsoft.com/office/drawing/2014/main" id="{53952BA5-2190-5106-0EBD-DA1D15EFBB9D}"/>
              </a:ext>
            </a:extLst>
          </p:cNvPr>
          <p:cNvSpPr>
            <a:spLocks noGrp="1"/>
          </p:cNvSpPr>
          <p:nvPr>
            <p:ph type="pic" sz="quarter" idx="12"/>
          </p:nvPr>
        </p:nvSpPr>
        <p:spPr>
          <a:xfrm>
            <a:off x="1101684" y="4045822"/>
            <a:ext cx="2951163" cy="1555750"/>
          </a:xfrm>
        </p:spPr>
        <p:txBody>
          <a:bodyPr/>
          <a:lstStyle>
            <a:lvl1pPr marL="0" indent="0">
              <a:buNone/>
              <a:defRPr/>
            </a:lvl1pPr>
          </a:lstStyle>
          <a:p>
            <a:r>
              <a:rPr lang="en-US"/>
              <a:t>Click icon to add picture</a:t>
            </a:r>
            <a:endParaRPr lang="en-US" dirty="0"/>
          </a:p>
        </p:txBody>
      </p:sp>
      <p:sp>
        <p:nvSpPr>
          <p:cNvPr id="34" name="Picture Placeholder 10">
            <a:extLst>
              <a:ext uri="{FF2B5EF4-FFF2-40B4-BE49-F238E27FC236}">
                <a16:creationId xmlns:a16="http://schemas.microsoft.com/office/drawing/2014/main" id="{835FE666-CADC-4DB4-80A4-BFD9823DE051}"/>
              </a:ext>
            </a:extLst>
          </p:cNvPr>
          <p:cNvSpPr>
            <a:spLocks noGrp="1"/>
          </p:cNvSpPr>
          <p:nvPr>
            <p:ph type="pic" sz="quarter" idx="15"/>
          </p:nvPr>
        </p:nvSpPr>
        <p:spPr>
          <a:xfrm>
            <a:off x="4619462" y="4045822"/>
            <a:ext cx="2951163" cy="1555750"/>
          </a:xfrm>
        </p:spPr>
        <p:txBody>
          <a:bodyPr/>
          <a:lstStyle>
            <a:lvl1pPr marL="0" indent="0">
              <a:buNone/>
              <a:defRPr/>
            </a:lvl1pPr>
          </a:lstStyle>
          <a:p>
            <a:r>
              <a:rPr lang="en-US"/>
              <a:t>Click icon to add picture</a:t>
            </a:r>
            <a:endParaRPr lang="en-US" dirty="0"/>
          </a:p>
        </p:txBody>
      </p:sp>
      <p:sp>
        <p:nvSpPr>
          <p:cNvPr id="35" name="Picture Placeholder 10">
            <a:extLst>
              <a:ext uri="{FF2B5EF4-FFF2-40B4-BE49-F238E27FC236}">
                <a16:creationId xmlns:a16="http://schemas.microsoft.com/office/drawing/2014/main" id="{AECA5017-0E7C-4957-02B2-65FA6C1F6E5F}"/>
              </a:ext>
            </a:extLst>
          </p:cNvPr>
          <p:cNvSpPr>
            <a:spLocks noGrp="1"/>
          </p:cNvSpPr>
          <p:nvPr>
            <p:ph type="pic" sz="quarter" idx="18"/>
          </p:nvPr>
        </p:nvSpPr>
        <p:spPr>
          <a:xfrm>
            <a:off x="8136981" y="4043272"/>
            <a:ext cx="2951163" cy="1555750"/>
          </a:xfrm>
        </p:spPr>
        <p:txBody>
          <a:bodyPr/>
          <a:lstStyle>
            <a:lvl1pPr marL="0" indent="0">
              <a:buNone/>
              <a:defRPr b="1"/>
            </a:lvl1pPr>
          </a:lstStyle>
          <a:p>
            <a:r>
              <a:rPr lang="en-US"/>
              <a:t>Click icon to add picture</a:t>
            </a:r>
            <a:endParaRPr lang="en-US" dirty="0"/>
          </a:p>
        </p:txBody>
      </p:sp>
      <p:sp>
        <p:nvSpPr>
          <p:cNvPr id="36" name="Text Placeholder 3">
            <a:extLst>
              <a:ext uri="{FF2B5EF4-FFF2-40B4-BE49-F238E27FC236}">
                <a16:creationId xmlns:a16="http://schemas.microsoft.com/office/drawing/2014/main" id="{9F4CE92C-83FA-CA44-69CB-E6229E144199}"/>
              </a:ext>
            </a:extLst>
          </p:cNvPr>
          <p:cNvSpPr>
            <a:spLocks noGrp="1"/>
          </p:cNvSpPr>
          <p:nvPr>
            <p:ph type="body" sz="half" idx="25" hasCustomPrompt="1"/>
          </p:nvPr>
        </p:nvSpPr>
        <p:spPr>
          <a:xfrm>
            <a:off x="8129414" y="2071424"/>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endParaRPr lang="en-US" dirty="0"/>
          </a:p>
        </p:txBody>
      </p:sp>
      <p:sp>
        <p:nvSpPr>
          <p:cNvPr id="2" name="Slide Number Placeholder 1">
            <a:extLst>
              <a:ext uri="{FF2B5EF4-FFF2-40B4-BE49-F238E27FC236}">
                <a16:creationId xmlns:a16="http://schemas.microsoft.com/office/drawing/2014/main" id="{4C556C0F-0FF4-1816-A9DC-60D03FBFCE53}"/>
              </a:ext>
            </a:extLst>
          </p:cNvPr>
          <p:cNvSpPr>
            <a:spLocks noGrp="1"/>
          </p:cNvSpPr>
          <p:nvPr>
            <p:ph type="sldNum" sz="quarter" idx="26"/>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3ED305B7-F98B-EB39-4331-AD7D293F0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C173CF6-98AD-175D-7E3C-E875A24E4830}"/>
              </a:ext>
            </a:extLst>
          </p:cNvPr>
          <p:cNvSpPr/>
          <p:nvPr userDrawn="1"/>
        </p:nvSpPr>
        <p:spPr>
          <a:xfrm>
            <a:off x="7938216" y="1315892"/>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F488B8B-C45A-5086-3035-3BB1A9606E16}"/>
              </a:ext>
            </a:extLst>
          </p:cNvPr>
          <p:cNvSpPr/>
          <p:nvPr userDrawn="1"/>
        </p:nvSpPr>
        <p:spPr>
          <a:xfrm>
            <a:off x="4420697" y="1315893"/>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8768088-0AC1-35F1-33DF-C6EB263143BC}"/>
              </a:ext>
            </a:extLst>
          </p:cNvPr>
          <p:cNvSpPr/>
          <p:nvPr userDrawn="1"/>
        </p:nvSpPr>
        <p:spPr>
          <a:xfrm>
            <a:off x="903178" y="1315894"/>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7" name="Picture 2">
            <a:extLst>
              <a:ext uri="{FF2B5EF4-FFF2-40B4-BE49-F238E27FC236}">
                <a16:creationId xmlns:a16="http://schemas.microsoft.com/office/drawing/2014/main" id="{394DE50C-0C9A-AB88-027B-153937A150C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013242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mparison - 5 Color Blocks">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p>
        </p:txBody>
      </p:sp>
      <p:sp>
        <p:nvSpPr>
          <p:cNvPr id="2" name="Rectangle 1">
            <a:extLst>
              <a:ext uri="{FF2B5EF4-FFF2-40B4-BE49-F238E27FC236}">
                <a16:creationId xmlns:a16="http://schemas.microsoft.com/office/drawing/2014/main" id="{C979A34A-6A6B-FC98-1EC8-8347FAB1A48F}"/>
              </a:ext>
            </a:extLst>
          </p:cNvPr>
          <p:cNvSpPr/>
          <p:nvPr/>
        </p:nvSpPr>
        <p:spPr>
          <a:xfrm>
            <a:off x="1008584" y="1660596"/>
            <a:ext cx="1918020" cy="436418"/>
          </a:xfrm>
          <a:prstGeom prst="rect">
            <a:avLst/>
          </a:prstGeom>
          <a:solidFill>
            <a:schemeClr val="tx2"/>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7" name="Rectangle 6">
            <a:extLst>
              <a:ext uri="{FF2B5EF4-FFF2-40B4-BE49-F238E27FC236}">
                <a16:creationId xmlns:a16="http://schemas.microsoft.com/office/drawing/2014/main" id="{3C3F2A76-73C1-7478-1C52-F70D9B50BC0A}"/>
              </a:ext>
            </a:extLst>
          </p:cNvPr>
          <p:cNvSpPr/>
          <p:nvPr/>
        </p:nvSpPr>
        <p:spPr>
          <a:xfrm>
            <a:off x="1011339" y="2160555"/>
            <a:ext cx="1915265" cy="323350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19" name="Rectangle 18">
            <a:extLst>
              <a:ext uri="{FF2B5EF4-FFF2-40B4-BE49-F238E27FC236}">
                <a16:creationId xmlns:a16="http://schemas.microsoft.com/office/drawing/2014/main" id="{3B6525D0-8078-E003-46A7-FFCB83C221E0}"/>
              </a:ext>
            </a:extLst>
          </p:cNvPr>
          <p:cNvSpPr/>
          <p:nvPr/>
        </p:nvSpPr>
        <p:spPr>
          <a:xfrm>
            <a:off x="3045437" y="1660596"/>
            <a:ext cx="1918020" cy="436418"/>
          </a:xfrm>
          <a:prstGeom prst="rect">
            <a:avLst/>
          </a:prstGeom>
          <a:solidFill>
            <a:schemeClr val="accent1">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0" name="Rectangle 19">
            <a:extLst>
              <a:ext uri="{FF2B5EF4-FFF2-40B4-BE49-F238E27FC236}">
                <a16:creationId xmlns:a16="http://schemas.microsoft.com/office/drawing/2014/main" id="{AE6AD059-9160-4AE4-0F86-92FB0AAD082C}"/>
              </a:ext>
            </a:extLst>
          </p:cNvPr>
          <p:cNvSpPr/>
          <p:nvPr/>
        </p:nvSpPr>
        <p:spPr>
          <a:xfrm>
            <a:off x="3048192" y="2160555"/>
            <a:ext cx="1915265" cy="323350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1" name="Rectangle 20">
            <a:extLst>
              <a:ext uri="{FF2B5EF4-FFF2-40B4-BE49-F238E27FC236}">
                <a16:creationId xmlns:a16="http://schemas.microsoft.com/office/drawing/2014/main" id="{E0F701C0-7A2F-0B95-E95C-07302A14CA56}"/>
              </a:ext>
            </a:extLst>
          </p:cNvPr>
          <p:cNvSpPr/>
          <p:nvPr/>
        </p:nvSpPr>
        <p:spPr>
          <a:xfrm>
            <a:off x="5082290" y="1660596"/>
            <a:ext cx="1918020" cy="436418"/>
          </a:xfrm>
          <a:prstGeom prst="rect">
            <a:avLst/>
          </a:prstGeom>
          <a:solidFill>
            <a:schemeClr val="bg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3" name="Rectangle 22">
            <a:extLst>
              <a:ext uri="{FF2B5EF4-FFF2-40B4-BE49-F238E27FC236}">
                <a16:creationId xmlns:a16="http://schemas.microsoft.com/office/drawing/2014/main" id="{AD786ED8-9187-C7FB-F774-CE52A2971FFD}"/>
              </a:ext>
            </a:extLst>
          </p:cNvPr>
          <p:cNvSpPr/>
          <p:nvPr/>
        </p:nvSpPr>
        <p:spPr>
          <a:xfrm>
            <a:off x="5085045" y="2160555"/>
            <a:ext cx="1915265" cy="32335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4" name="Rectangle 23">
            <a:extLst>
              <a:ext uri="{FF2B5EF4-FFF2-40B4-BE49-F238E27FC236}">
                <a16:creationId xmlns:a16="http://schemas.microsoft.com/office/drawing/2014/main" id="{9A6F5635-02F3-829F-B778-4A766D8D4A2D}"/>
              </a:ext>
            </a:extLst>
          </p:cNvPr>
          <p:cNvSpPr/>
          <p:nvPr/>
        </p:nvSpPr>
        <p:spPr>
          <a:xfrm>
            <a:off x="7119143" y="1660596"/>
            <a:ext cx="1918020" cy="436418"/>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5" name="Rectangle 24">
            <a:extLst>
              <a:ext uri="{FF2B5EF4-FFF2-40B4-BE49-F238E27FC236}">
                <a16:creationId xmlns:a16="http://schemas.microsoft.com/office/drawing/2014/main" id="{3CBD6A50-2E1C-FDDB-2F9B-D9101B8535C5}"/>
              </a:ext>
            </a:extLst>
          </p:cNvPr>
          <p:cNvSpPr/>
          <p:nvPr/>
        </p:nvSpPr>
        <p:spPr>
          <a:xfrm>
            <a:off x="7121898" y="2160555"/>
            <a:ext cx="1915265" cy="323350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7" name="Rectangle 26">
            <a:extLst>
              <a:ext uri="{FF2B5EF4-FFF2-40B4-BE49-F238E27FC236}">
                <a16:creationId xmlns:a16="http://schemas.microsoft.com/office/drawing/2014/main" id="{B239B4FF-413F-3DBC-C6E4-087C951C5464}"/>
              </a:ext>
            </a:extLst>
          </p:cNvPr>
          <p:cNvSpPr/>
          <p:nvPr/>
        </p:nvSpPr>
        <p:spPr>
          <a:xfrm>
            <a:off x="9155998" y="1660596"/>
            <a:ext cx="1918020" cy="436418"/>
          </a:xfrm>
          <a:prstGeom prst="rect">
            <a:avLst/>
          </a:prstGeom>
          <a:solidFill>
            <a:schemeClr val="tx2">
              <a:lumMod val="60000"/>
              <a:lumOff val="40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8" name="Rectangle 27">
            <a:extLst>
              <a:ext uri="{FF2B5EF4-FFF2-40B4-BE49-F238E27FC236}">
                <a16:creationId xmlns:a16="http://schemas.microsoft.com/office/drawing/2014/main" id="{8CB8434E-9F38-4592-327E-51A570C73E09}"/>
              </a:ext>
            </a:extLst>
          </p:cNvPr>
          <p:cNvSpPr/>
          <p:nvPr/>
        </p:nvSpPr>
        <p:spPr>
          <a:xfrm>
            <a:off x="9158753" y="2160555"/>
            <a:ext cx="1915265" cy="323350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44" name="Text Placeholder 6">
            <a:extLst>
              <a:ext uri="{FF2B5EF4-FFF2-40B4-BE49-F238E27FC236}">
                <a16:creationId xmlns:a16="http://schemas.microsoft.com/office/drawing/2014/main" id="{1BA8130D-B7F2-9815-5056-6F334D4BBAEF}"/>
              </a:ext>
            </a:extLst>
          </p:cNvPr>
          <p:cNvSpPr>
            <a:spLocks noGrp="1"/>
          </p:cNvSpPr>
          <p:nvPr>
            <p:ph type="body" sz="quarter" idx="10" hasCustomPrompt="1"/>
          </p:nvPr>
        </p:nvSpPr>
        <p:spPr>
          <a:xfrm>
            <a:off x="1008584" y="1783909"/>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5" name="Text Placeholder 6">
            <a:extLst>
              <a:ext uri="{FF2B5EF4-FFF2-40B4-BE49-F238E27FC236}">
                <a16:creationId xmlns:a16="http://schemas.microsoft.com/office/drawing/2014/main" id="{A41A66E4-0B84-E1FB-88CD-3E0E6E80C49D}"/>
              </a:ext>
            </a:extLst>
          </p:cNvPr>
          <p:cNvSpPr>
            <a:spLocks noGrp="1"/>
          </p:cNvSpPr>
          <p:nvPr>
            <p:ph type="body" sz="quarter" idx="28" hasCustomPrompt="1"/>
          </p:nvPr>
        </p:nvSpPr>
        <p:spPr>
          <a:xfrm>
            <a:off x="3045438"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6" name="Text Placeholder 6">
            <a:extLst>
              <a:ext uri="{FF2B5EF4-FFF2-40B4-BE49-F238E27FC236}">
                <a16:creationId xmlns:a16="http://schemas.microsoft.com/office/drawing/2014/main" id="{235E5CE7-3D80-1BB5-DACD-8A63CA927E9A}"/>
              </a:ext>
            </a:extLst>
          </p:cNvPr>
          <p:cNvSpPr>
            <a:spLocks noGrp="1"/>
          </p:cNvSpPr>
          <p:nvPr>
            <p:ph type="body" sz="quarter" idx="29" hasCustomPrompt="1"/>
          </p:nvPr>
        </p:nvSpPr>
        <p:spPr>
          <a:xfrm>
            <a:off x="5082291"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7" name="Text Placeholder 6">
            <a:extLst>
              <a:ext uri="{FF2B5EF4-FFF2-40B4-BE49-F238E27FC236}">
                <a16:creationId xmlns:a16="http://schemas.microsoft.com/office/drawing/2014/main" id="{685C02D4-EA4F-4962-D397-F6439EC5C6E9}"/>
              </a:ext>
            </a:extLst>
          </p:cNvPr>
          <p:cNvSpPr>
            <a:spLocks noGrp="1"/>
          </p:cNvSpPr>
          <p:nvPr>
            <p:ph type="body" sz="quarter" idx="30" hasCustomPrompt="1"/>
          </p:nvPr>
        </p:nvSpPr>
        <p:spPr>
          <a:xfrm>
            <a:off x="7119145"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8" name="Text Placeholder 6">
            <a:extLst>
              <a:ext uri="{FF2B5EF4-FFF2-40B4-BE49-F238E27FC236}">
                <a16:creationId xmlns:a16="http://schemas.microsoft.com/office/drawing/2014/main" id="{1F46F0A7-55C4-6BAE-BCB0-157A86C91997}"/>
              </a:ext>
            </a:extLst>
          </p:cNvPr>
          <p:cNvSpPr>
            <a:spLocks noGrp="1"/>
          </p:cNvSpPr>
          <p:nvPr>
            <p:ph type="body" sz="quarter" idx="31" hasCustomPrompt="1"/>
          </p:nvPr>
        </p:nvSpPr>
        <p:spPr>
          <a:xfrm>
            <a:off x="9156000" y="1770870"/>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9" name="Text Placeholder 3">
            <a:extLst>
              <a:ext uri="{FF2B5EF4-FFF2-40B4-BE49-F238E27FC236}">
                <a16:creationId xmlns:a16="http://schemas.microsoft.com/office/drawing/2014/main" id="{9E69C3F7-0A3A-FAC2-6540-8BB750E9AA4C}"/>
              </a:ext>
            </a:extLst>
          </p:cNvPr>
          <p:cNvSpPr>
            <a:spLocks noGrp="1"/>
          </p:cNvSpPr>
          <p:nvPr>
            <p:ph type="body" sz="half" idx="2"/>
          </p:nvPr>
        </p:nvSpPr>
        <p:spPr>
          <a:xfrm>
            <a:off x="1117982"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0" name="Text Placeholder 3">
            <a:extLst>
              <a:ext uri="{FF2B5EF4-FFF2-40B4-BE49-F238E27FC236}">
                <a16:creationId xmlns:a16="http://schemas.microsoft.com/office/drawing/2014/main" id="{040CB427-2320-1A81-037C-6D83BCA5B36F}"/>
              </a:ext>
            </a:extLst>
          </p:cNvPr>
          <p:cNvSpPr>
            <a:spLocks noGrp="1"/>
          </p:cNvSpPr>
          <p:nvPr>
            <p:ph type="body" sz="half" idx="32"/>
          </p:nvPr>
        </p:nvSpPr>
        <p:spPr>
          <a:xfrm>
            <a:off x="3175312" y="2299864"/>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1" name="Text Placeholder 3">
            <a:extLst>
              <a:ext uri="{FF2B5EF4-FFF2-40B4-BE49-F238E27FC236}">
                <a16:creationId xmlns:a16="http://schemas.microsoft.com/office/drawing/2014/main" id="{3144BCA8-7BD5-8323-CDAB-E5362D78AA68}"/>
              </a:ext>
            </a:extLst>
          </p:cNvPr>
          <p:cNvSpPr>
            <a:spLocks noGrp="1"/>
          </p:cNvSpPr>
          <p:nvPr>
            <p:ph type="body" sz="half" idx="33"/>
          </p:nvPr>
        </p:nvSpPr>
        <p:spPr>
          <a:xfrm>
            <a:off x="5212165"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2" name="Text Placeholder 3">
            <a:extLst>
              <a:ext uri="{FF2B5EF4-FFF2-40B4-BE49-F238E27FC236}">
                <a16:creationId xmlns:a16="http://schemas.microsoft.com/office/drawing/2014/main" id="{82EC0719-39BA-B2AB-F29D-3C947DC78925}"/>
              </a:ext>
            </a:extLst>
          </p:cNvPr>
          <p:cNvSpPr>
            <a:spLocks noGrp="1"/>
          </p:cNvSpPr>
          <p:nvPr>
            <p:ph type="body" sz="half" idx="34"/>
          </p:nvPr>
        </p:nvSpPr>
        <p:spPr>
          <a:xfrm>
            <a:off x="7249018"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3" name="Text Placeholder 3">
            <a:extLst>
              <a:ext uri="{FF2B5EF4-FFF2-40B4-BE49-F238E27FC236}">
                <a16:creationId xmlns:a16="http://schemas.microsoft.com/office/drawing/2014/main" id="{B939ED29-1A95-3771-8E52-C1F99F848ABD}"/>
              </a:ext>
            </a:extLst>
          </p:cNvPr>
          <p:cNvSpPr>
            <a:spLocks noGrp="1"/>
          </p:cNvSpPr>
          <p:nvPr>
            <p:ph type="body" sz="half" idx="35"/>
          </p:nvPr>
        </p:nvSpPr>
        <p:spPr>
          <a:xfrm>
            <a:off x="9285873"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4" name="Text Placeholder 13">
            <a:extLst>
              <a:ext uri="{FF2B5EF4-FFF2-40B4-BE49-F238E27FC236}">
                <a16:creationId xmlns:a16="http://schemas.microsoft.com/office/drawing/2014/main" id="{F45DEB53-8B0A-80C6-DDED-B72344235087}"/>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3" name="Slide Number Placeholder 2">
            <a:extLst>
              <a:ext uri="{FF2B5EF4-FFF2-40B4-BE49-F238E27FC236}">
                <a16:creationId xmlns:a16="http://schemas.microsoft.com/office/drawing/2014/main" id="{35728143-5B5E-2F91-1A50-ECF61312F188}"/>
              </a:ext>
            </a:extLst>
          </p:cNvPr>
          <p:cNvSpPr>
            <a:spLocks noGrp="1"/>
          </p:cNvSpPr>
          <p:nvPr>
            <p:ph type="sldNum" sz="quarter" idx="36"/>
          </p:nvPr>
        </p:nvSpPr>
        <p:spPr/>
        <p:txBody>
          <a:bodyPr/>
          <a:lstStyle/>
          <a:p>
            <a:fld id="{F994776A-187E-9540-9EA4-8D5781AB769D}" type="slidenum">
              <a:rPr lang="en-US" smtClean="0"/>
              <a:pPr/>
              <a:t>‹#›</a:t>
            </a:fld>
            <a:endParaRPr lang="en-US" dirty="0"/>
          </a:p>
        </p:txBody>
      </p:sp>
      <p:pic>
        <p:nvPicPr>
          <p:cNvPr id="5" name="Picture 2">
            <a:extLst>
              <a:ext uri="{FF2B5EF4-FFF2-40B4-BE49-F238E27FC236}">
                <a16:creationId xmlns:a16="http://schemas.microsoft.com/office/drawing/2014/main" id="{43566E4A-BC5E-1BD6-D669-AED4803AE4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401A5EB-4BB2-2A03-ABB0-D90DF33BA5C0}"/>
              </a:ext>
            </a:extLst>
          </p:cNvPr>
          <p:cNvSpPr/>
          <p:nvPr userDrawn="1"/>
        </p:nvSpPr>
        <p:spPr>
          <a:xfrm>
            <a:off x="1008584" y="1660596"/>
            <a:ext cx="1918020" cy="436418"/>
          </a:xfrm>
          <a:prstGeom prst="rect">
            <a:avLst/>
          </a:prstGeom>
          <a:solidFill>
            <a:schemeClr val="tx2"/>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6" name="Rectangle 5">
            <a:extLst>
              <a:ext uri="{FF2B5EF4-FFF2-40B4-BE49-F238E27FC236}">
                <a16:creationId xmlns:a16="http://schemas.microsoft.com/office/drawing/2014/main" id="{587706B6-0365-176C-D8C8-9AA998A34D55}"/>
              </a:ext>
            </a:extLst>
          </p:cNvPr>
          <p:cNvSpPr/>
          <p:nvPr userDrawn="1"/>
        </p:nvSpPr>
        <p:spPr>
          <a:xfrm>
            <a:off x="1011339" y="2160555"/>
            <a:ext cx="1915265" cy="323350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8" name="Rectangle 7">
            <a:extLst>
              <a:ext uri="{FF2B5EF4-FFF2-40B4-BE49-F238E27FC236}">
                <a16:creationId xmlns:a16="http://schemas.microsoft.com/office/drawing/2014/main" id="{6DC09899-AAE6-B0F4-7D19-9406DA86D82A}"/>
              </a:ext>
            </a:extLst>
          </p:cNvPr>
          <p:cNvSpPr/>
          <p:nvPr userDrawn="1"/>
        </p:nvSpPr>
        <p:spPr>
          <a:xfrm>
            <a:off x="3045437" y="1660596"/>
            <a:ext cx="1918020" cy="436418"/>
          </a:xfrm>
          <a:prstGeom prst="rect">
            <a:avLst/>
          </a:prstGeom>
          <a:solidFill>
            <a:schemeClr val="accent1">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9" name="Rectangle 8">
            <a:extLst>
              <a:ext uri="{FF2B5EF4-FFF2-40B4-BE49-F238E27FC236}">
                <a16:creationId xmlns:a16="http://schemas.microsoft.com/office/drawing/2014/main" id="{8BBBAC91-4756-BE4B-90E4-A4B817EADEDD}"/>
              </a:ext>
            </a:extLst>
          </p:cNvPr>
          <p:cNvSpPr/>
          <p:nvPr userDrawn="1"/>
        </p:nvSpPr>
        <p:spPr>
          <a:xfrm>
            <a:off x="3048192" y="2160555"/>
            <a:ext cx="1915265" cy="323350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10" name="Rectangle 9">
            <a:extLst>
              <a:ext uri="{FF2B5EF4-FFF2-40B4-BE49-F238E27FC236}">
                <a16:creationId xmlns:a16="http://schemas.microsoft.com/office/drawing/2014/main" id="{A492FC6E-2921-6B1D-0A85-A66DFB3E44EB}"/>
              </a:ext>
            </a:extLst>
          </p:cNvPr>
          <p:cNvSpPr/>
          <p:nvPr userDrawn="1"/>
        </p:nvSpPr>
        <p:spPr>
          <a:xfrm>
            <a:off x="5082290" y="1660596"/>
            <a:ext cx="1918020" cy="436418"/>
          </a:xfrm>
          <a:prstGeom prst="rect">
            <a:avLst/>
          </a:prstGeom>
          <a:solidFill>
            <a:schemeClr val="bg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11" name="Rectangle 10">
            <a:extLst>
              <a:ext uri="{FF2B5EF4-FFF2-40B4-BE49-F238E27FC236}">
                <a16:creationId xmlns:a16="http://schemas.microsoft.com/office/drawing/2014/main" id="{A336FCD9-72C6-7C5F-B2FC-A125A43609AD}"/>
              </a:ext>
            </a:extLst>
          </p:cNvPr>
          <p:cNvSpPr/>
          <p:nvPr userDrawn="1"/>
        </p:nvSpPr>
        <p:spPr>
          <a:xfrm>
            <a:off x="5085045" y="2160555"/>
            <a:ext cx="1915265" cy="32335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12" name="Rectangle 11">
            <a:extLst>
              <a:ext uri="{FF2B5EF4-FFF2-40B4-BE49-F238E27FC236}">
                <a16:creationId xmlns:a16="http://schemas.microsoft.com/office/drawing/2014/main" id="{A610293D-F8CC-BB2D-62D3-9A3272AE31F7}"/>
              </a:ext>
            </a:extLst>
          </p:cNvPr>
          <p:cNvSpPr/>
          <p:nvPr userDrawn="1"/>
        </p:nvSpPr>
        <p:spPr>
          <a:xfrm>
            <a:off x="7119143" y="1660596"/>
            <a:ext cx="1918020" cy="436418"/>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13" name="Rectangle 12">
            <a:extLst>
              <a:ext uri="{FF2B5EF4-FFF2-40B4-BE49-F238E27FC236}">
                <a16:creationId xmlns:a16="http://schemas.microsoft.com/office/drawing/2014/main" id="{193AFA0C-35D4-C011-0505-A8AF05EF06E0}"/>
              </a:ext>
            </a:extLst>
          </p:cNvPr>
          <p:cNvSpPr/>
          <p:nvPr userDrawn="1"/>
        </p:nvSpPr>
        <p:spPr>
          <a:xfrm>
            <a:off x="7121898" y="2160555"/>
            <a:ext cx="1915265" cy="323350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14" name="Rectangle 13">
            <a:extLst>
              <a:ext uri="{FF2B5EF4-FFF2-40B4-BE49-F238E27FC236}">
                <a16:creationId xmlns:a16="http://schemas.microsoft.com/office/drawing/2014/main" id="{DEB24E42-10FE-4A94-8B24-200D5D33A511}"/>
              </a:ext>
            </a:extLst>
          </p:cNvPr>
          <p:cNvSpPr/>
          <p:nvPr userDrawn="1"/>
        </p:nvSpPr>
        <p:spPr>
          <a:xfrm>
            <a:off x="9155998" y="1660596"/>
            <a:ext cx="1918020" cy="436418"/>
          </a:xfrm>
          <a:prstGeom prst="rect">
            <a:avLst/>
          </a:prstGeom>
          <a:solidFill>
            <a:schemeClr val="tx2">
              <a:lumMod val="60000"/>
              <a:lumOff val="40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15" name="Rectangle 14">
            <a:extLst>
              <a:ext uri="{FF2B5EF4-FFF2-40B4-BE49-F238E27FC236}">
                <a16:creationId xmlns:a16="http://schemas.microsoft.com/office/drawing/2014/main" id="{C1E796FD-C6A8-005D-0DEF-533F77C3B712}"/>
              </a:ext>
            </a:extLst>
          </p:cNvPr>
          <p:cNvSpPr/>
          <p:nvPr userDrawn="1"/>
        </p:nvSpPr>
        <p:spPr>
          <a:xfrm>
            <a:off x="9158753" y="2160555"/>
            <a:ext cx="1915265" cy="323350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pic>
        <p:nvPicPr>
          <p:cNvPr id="16" name="Picture 2">
            <a:extLst>
              <a:ext uri="{FF2B5EF4-FFF2-40B4-BE49-F238E27FC236}">
                <a16:creationId xmlns:a16="http://schemas.microsoft.com/office/drawing/2014/main" id="{10D0E671-DB25-8BCB-6398-56495BF9507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48468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Photo with Caption - Black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4"/>
            <a:ext cx="6581614" cy="6882938"/>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p:nvSpPr>
        <p:spPr>
          <a:xfrm>
            <a:off x="0" y="-944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p:nvPr>
        </p:nvSpPr>
        <p:spPr>
          <a:xfrm>
            <a:off x="1142005" y="891153"/>
            <a:ext cx="3932237" cy="1600200"/>
          </a:xfrm>
        </p:spPr>
        <p:txBody>
          <a:bodyPr anchor="b"/>
          <a:lstStyle>
            <a:lvl1pPr>
              <a:defRPr sz="3200">
                <a:solidFill>
                  <a:schemeClr val="bg1"/>
                </a:solidFill>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2E3836B8-46F8-6347-6A27-7BDA1D77E945}"/>
              </a:ext>
            </a:extLst>
          </p:cNvPr>
          <p:cNvSpPr>
            <a:spLocks noGrp="1"/>
          </p:cNvSpPr>
          <p:nvPr>
            <p:ph type="sldNum" sz="quarter" idx="12"/>
          </p:nvPr>
        </p:nvSpPr>
        <p:spPr/>
        <p:txBody>
          <a:bodyPr/>
          <a:lstStyle/>
          <a:p>
            <a:fld id="{F994776A-187E-9540-9EA4-8D5781AB769D}" type="slidenum">
              <a:rPr lang="en-US" smtClean="0"/>
              <a:pPr/>
              <a:t>‹#›</a:t>
            </a:fld>
            <a:endParaRPr lang="en-US" dirty="0"/>
          </a:p>
        </p:txBody>
      </p:sp>
      <p:sp>
        <p:nvSpPr>
          <p:cNvPr id="2" name="Rectangle 4">
            <a:extLst>
              <a:ext uri="{FF2B5EF4-FFF2-40B4-BE49-F238E27FC236}">
                <a16:creationId xmlns:a16="http://schemas.microsoft.com/office/drawing/2014/main" id="{7E32B730-09FC-DCF8-5A6D-34E56ADD59DB}"/>
              </a:ext>
            </a:extLst>
          </p:cNvPr>
          <p:cNvSpPr/>
          <p:nvPr userDrawn="1"/>
        </p:nvSpPr>
        <p:spPr>
          <a:xfrm>
            <a:off x="0" y="-944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89503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Photo with Caption - White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5"/>
            <a:ext cx="6581614" cy="6882938"/>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p:nvSpPr>
        <p:spPr>
          <a:xfrm>
            <a:off x="0" y="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hasCustomPrompt="1"/>
          </p:nvPr>
        </p:nvSpPr>
        <p:spPr>
          <a:xfrm>
            <a:off x="1142005" y="891153"/>
            <a:ext cx="3932237" cy="1600200"/>
          </a:xfrm>
        </p:spPr>
        <p:txBody>
          <a:bodyPr anchor="b"/>
          <a:lstStyle>
            <a:lvl1pPr>
              <a:defRPr sz="3200">
                <a:solidFill>
                  <a:schemeClr val="tx1"/>
                </a:solidFill>
              </a:defRPr>
            </a:lvl1pPr>
          </a:lstStyle>
          <a:p>
            <a:r>
              <a:rPr lang="en-US" dirty="0"/>
              <a:t>Click to add title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3223C719-BBA8-8B6C-9920-142BDE7BBF5C}"/>
              </a:ext>
            </a:extLst>
          </p:cNvPr>
          <p:cNvSpPr>
            <a:spLocks noGrp="1"/>
          </p:cNvSpPr>
          <p:nvPr>
            <p:ph type="sldNum" sz="quarter" idx="12"/>
          </p:nvPr>
        </p:nvSpPr>
        <p:spPr/>
        <p:txBody>
          <a:bodyPr/>
          <a:lstStyle/>
          <a:p>
            <a:fld id="{F994776A-187E-9540-9EA4-8D5781AB769D}" type="slidenum">
              <a:rPr lang="en-US" smtClean="0"/>
              <a:pPr/>
              <a:t>‹#›</a:t>
            </a:fld>
            <a:endParaRPr lang="en-US" dirty="0"/>
          </a:p>
        </p:txBody>
      </p:sp>
      <p:sp>
        <p:nvSpPr>
          <p:cNvPr id="2" name="Rectangle 4">
            <a:extLst>
              <a:ext uri="{FF2B5EF4-FFF2-40B4-BE49-F238E27FC236}">
                <a16:creationId xmlns:a16="http://schemas.microsoft.com/office/drawing/2014/main" id="{334A2E18-4FAF-C6DD-1178-0C550288030C}"/>
              </a:ext>
            </a:extLst>
          </p:cNvPr>
          <p:cNvSpPr/>
          <p:nvPr userDrawn="1"/>
        </p:nvSpPr>
        <p:spPr>
          <a:xfrm>
            <a:off x="0" y="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45754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End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805070" y="2466280"/>
            <a:ext cx="7981645" cy="719757"/>
          </a:xfrm>
        </p:spPr>
        <p:txBody>
          <a:bodyPr>
            <a:noAutofit/>
          </a:bodyPr>
          <a:lstStyle>
            <a:lvl1pPr>
              <a:defRPr sz="9600" cap="none">
                <a:solidFill>
                  <a:schemeClr val="bg1"/>
                </a:solidFill>
              </a:defRPr>
            </a:lvl1pPr>
          </a:lstStyle>
          <a:p>
            <a:r>
              <a:rPr lang="en-US" dirty="0"/>
              <a:t>THANK YOU</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b="0" i="0">
                <a:solidFill>
                  <a:schemeClr val="bg2"/>
                </a:solidFill>
                <a:latin typeface="Acumin Pro Medium"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contact info</a:t>
            </a:r>
          </a:p>
        </p:txBody>
      </p:sp>
      <p:pic>
        <p:nvPicPr>
          <p:cNvPr id="3" name="Picture 2">
            <a:extLst>
              <a:ext uri="{FF2B5EF4-FFF2-40B4-BE49-F238E27FC236}">
                <a16:creationId xmlns:a16="http://schemas.microsoft.com/office/drawing/2014/main" id="{11ED8702-10BE-D052-6922-2244FAA25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258"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pic>
        <p:nvPicPr>
          <p:cNvPr id="4" name="Black Triangle">
            <a:extLst>
              <a:ext uri="{FF2B5EF4-FFF2-40B4-BE49-F238E27FC236}">
                <a16:creationId xmlns:a16="http://schemas.microsoft.com/office/drawing/2014/main" id="{101E5F6A-009E-251F-CF09-2A4C6CE613E5}"/>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5" name="Triangle 5">
            <a:extLst>
              <a:ext uri="{FF2B5EF4-FFF2-40B4-BE49-F238E27FC236}">
                <a16:creationId xmlns:a16="http://schemas.microsoft.com/office/drawing/2014/main" id="{F766EC1B-BA9B-8464-4A22-FD4521325C7E}"/>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EB3F5DA-62A8-F42C-A3C4-1DCF7F80ED4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3258"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99782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End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p:nvPicPr>
        <p:blipFill>
          <a:blip r:embed="rId2"/>
          <a:stretch>
            <a:fillRect/>
          </a:stretch>
        </p:blipFill>
        <p:spPr>
          <a:xfrm>
            <a:off x="9956800" y="0"/>
            <a:ext cx="2235200" cy="6858000"/>
          </a:xfrm>
          <a:prstGeom prst="rect">
            <a:avLst/>
          </a:prstGeom>
          <a:noFill/>
        </p:spPr>
      </p:pic>
      <p:sp>
        <p:nvSpPr>
          <p:cNvPr id="3" name="Title 6">
            <a:extLst>
              <a:ext uri="{FF2B5EF4-FFF2-40B4-BE49-F238E27FC236}">
                <a16:creationId xmlns:a16="http://schemas.microsoft.com/office/drawing/2014/main" id="{1648B145-A545-0D6D-AFF0-0F715C90759F}"/>
              </a:ext>
            </a:extLst>
          </p:cNvPr>
          <p:cNvSpPr>
            <a:spLocks noGrp="1"/>
          </p:cNvSpPr>
          <p:nvPr>
            <p:ph type="title" hasCustomPrompt="1"/>
          </p:nvPr>
        </p:nvSpPr>
        <p:spPr>
          <a:xfrm>
            <a:off x="805070" y="2466280"/>
            <a:ext cx="7981645" cy="719757"/>
          </a:xfrm>
        </p:spPr>
        <p:txBody>
          <a:bodyPr>
            <a:noAutofit/>
          </a:bodyPr>
          <a:lstStyle>
            <a:lvl1pPr>
              <a:defRPr sz="9600" cap="none">
                <a:solidFill>
                  <a:schemeClr val="tx1"/>
                </a:solidFill>
              </a:defRPr>
            </a:lvl1pPr>
          </a:lstStyle>
          <a:p>
            <a:r>
              <a:rPr lang="en-US" dirty="0"/>
              <a:t>THANK YOU</a:t>
            </a:r>
          </a:p>
        </p:txBody>
      </p:sp>
      <p:sp>
        <p:nvSpPr>
          <p:cNvPr id="5" name="Text Placeholder 8">
            <a:extLst>
              <a:ext uri="{FF2B5EF4-FFF2-40B4-BE49-F238E27FC236}">
                <a16:creationId xmlns:a16="http://schemas.microsoft.com/office/drawing/2014/main" id="{E3D40940-377F-6BBC-02CB-083B672BF56B}"/>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b="0" i="0">
                <a:solidFill>
                  <a:schemeClr val="tx1"/>
                </a:solidFill>
                <a:latin typeface="Acumin Pro Medium"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contact info</a:t>
            </a:r>
          </a:p>
        </p:txBody>
      </p:sp>
      <p:pic>
        <p:nvPicPr>
          <p:cNvPr id="4" name="Picture 2">
            <a:extLst>
              <a:ext uri="{FF2B5EF4-FFF2-40B4-BE49-F238E27FC236}">
                <a16:creationId xmlns:a16="http://schemas.microsoft.com/office/drawing/2014/main" id="{1E3761E7-C1FB-3C92-9D08-465FECF576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143" y="5829397"/>
            <a:ext cx="4318000" cy="461036"/>
          </a:xfrm>
          <a:prstGeom prst="rect">
            <a:avLst/>
          </a:prstGeom>
          <a:noFill/>
          <a:extLst>
            <a:ext uri="{909E8E84-426E-40DD-AFC4-6F175D3DCCD1}">
              <a14:hiddenFill xmlns:a14="http://schemas.microsoft.com/office/drawing/2010/main">
                <a:solidFill>
                  <a:srgbClr val="FFFFFF"/>
                </a:solidFill>
              </a14:hiddenFill>
            </a:ext>
          </a:extLst>
        </p:spPr>
      </p:pic>
      <p:pic>
        <p:nvPicPr>
          <p:cNvPr id="6" name="Black Triangle">
            <a:extLst>
              <a:ext uri="{FF2B5EF4-FFF2-40B4-BE49-F238E27FC236}">
                <a16:creationId xmlns:a16="http://schemas.microsoft.com/office/drawing/2014/main" id="{C875272D-51F9-10B2-BF74-C8C82D543B17}"/>
              </a:ext>
            </a:extLst>
          </p:cNvPr>
          <p:cNvPicPr>
            <a:picLocks noChangeAspect="1"/>
          </p:cNvPicPr>
          <p:nvPr userDrawn="1"/>
        </p:nvPicPr>
        <p:blipFill>
          <a:blip r:embed="rId2"/>
          <a:stretch>
            <a:fillRect/>
          </a:stretch>
        </p:blipFill>
        <p:spPr>
          <a:xfrm>
            <a:off x="9956800" y="0"/>
            <a:ext cx="2235200" cy="6858000"/>
          </a:xfrm>
          <a:prstGeom prst="rect">
            <a:avLst/>
          </a:prstGeom>
          <a:noFill/>
        </p:spPr>
      </p:pic>
      <p:pic>
        <p:nvPicPr>
          <p:cNvPr id="7" name="Picture 2">
            <a:extLst>
              <a:ext uri="{FF2B5EF4-FFF2-40B4-BE49-F238E27FC236}">
                <a16:creationId xmlns:a16="http://schemas.microsoft.com/office/drawing/2014/main" id="{95038698-C52E-8536-6B21-D2D353D4E96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4143" y="5829397"/>
            <a:ext cx="4318000" cy="46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308018"/>
      </p:ext>
    </p:extLst>
  </p:cSld>
  <p:clrMapOvr>
    <a:overrideClrMapping bg1="lt1" tx1="dk1" bg2="lt2" tx2="dk2" accent1="accent1" accent2="accent2" accent3="accent3" accent4="accent4" accent5="accent5" accent6="accent6" hlink="hlink" folHlink="folHlink"/>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1_Content only: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06437" y="5864"/>
            <a:ext cx="10672521" cy="932087"/>
          </a:xfrm>
        </p:spPr>
        <p:txBody>
          <a:bodyPr>
            <a:normAutofit/>
          </a:bodyPr>
          <a:lstStyle>
            <a:lvl1pPr>
              <a:defRPr sz="4000" b="1" i="0" cap="none" spc="0">
                <a:solidFill>
                  <a:srgbClr val="404041"/>
                </a:solidFill>
                <a:latin typeface="Arial"/>
                <a:cs typeface="Arial"/>
              </a:defRPr>
            </a:lvl1pPr>
          </a:lstStyle>
          <a:p>
            <a:r>
              <a:rPr lang="en-US"/>
              <a:t>Click to edit master title style</a:t>
            </a:r>
          </a:p>
        </p:txBody>
      </p:sp>
      <p:sp>
        <p:nvSpPr>
          <p:cNvPr id="5" name="Rectangle 4"/>
          <p:cNvSpPr/>
          <p:nvPr/>
        </p:nvSpPr>
        <p:spPr>
          <a:xfrm>
            <a:off x="0" y="270881"/>
            <a:ext cx="110219" cy="5162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 name="TextBox 3"/>
          <p:cNvSpPr txBox="1"/>
          <p:nvPr/>
        </p:nvSpPr>
        <p:spPr>
          <a:xfrm>
            <a:off x="4741334" y="4721413"/>
            <a:ext cx="184731" cy="461665"/>
          </a:xfrm>
          <a:prstGeom prst="rect">
            <a:avLst/>
          </a:prstGeom>
          <a:noFill/>
        </p:spPr>
        <p:txBody>
          <a:bodyPr wrap="none" rtlCol="0">
            <a:spAutoFit/>
          </a:bodyPr>
          <a:lstStyle/>
          <a:p>
            <a:endParaRPr lang="en-US" sz="2400"/>
          </a:p>
        </p:txBody>
      </p:sp>
      <p:sp>
        <p:nvSpPr>
          <p:cNvPr id="7" name="Text Placeholder 2"/>
          <p:cNvSpPr>
            <a:spLocks noGrp="1"/>
          </p:cNvSpPr>
          <p:nvPr>
            <p:ph idx="1" hasCustomPrompt="1"/>
          </p:nvPr>
        </p:nvSpPr>
        <p:spPr>
          <a:xfrm>
            <a:off x="691765" y="1159728"/>
            <a:ext cx="10687459" cy="4760323"/>
          </a:xfrm>
          <a:prstGeom prst="rect">
            <a:avLst/>
          </a:prstGeom>
        </p:spPr>
        <p:txBody>
          <a:bodyPr vert="horz" lIns="91440" tIns="45720" rIns="91440" bIns="45720" rtlCol="0">
            <a:normAutofit/>
          </a:bodyPr>
          <a:lstStyle>
            <a:lvl1pPr marL="457189" marR="0" indent="-457189" algn="l" defTabSz="609585" rtl="0" eaLnBrk="1" fontAlgn="auto" latinLnBrk="0" hangingPunct="1">
              <a:lnSpc>
                <a:spcPct val="100000"/>
              </a:lnSpc>
              <a:spcBef>
                <a:spcPts val="0"/>
              </a:spcBef>
              <a:spcAft>
                <a:spcPts val="2400"/>
              </a:spcAft>
              <a:buClr>
                <a:schemeClr val="tx1">
                  <a:lumMod val="50000"/>
                  <a:lumOff val="50000"/>
                </a:schemeClr>
              </a:buClr>
              <a:buSzPct val="100000"/>
              <a:buFont typeface="+mj-lt"/>
              <a:buAutoNum type="arabicPeriod"/>
              <a:tabLst/>
              <a:defRPr sz="2400">
                <a:solidFill>
                  <a:srgbClr val="404041"/>
                </a:solidFill>
                <a:latin typeface="Arial"/>
                <a:cs typeface="Arial"/>
              </a:defRPr>
            </a:lvl1pPr>
            <a:lvl2pPr>
              <a:lnSpc>
                <a:spcPct val="100000"/>
              </a:lnSpc>
              <a:defRPr sz="2133">
                <a:solidFill>
                  <a:srgbClr val="404041"/>
                </a:solidFill>
                <a:latin typeface="Arial"/>
                <a:cs typeface="Arial"/>
              </a:defRPr>
            </a:lvl2pPr>
            <a:lvl3pPr>
              <a:lnSpc>
                <a:spcPct val="100000"/>
              </a:lnSpc>
              <a:defRPr sz="2133">
                <a:solidFill>
                  <a:srgbClr val="404041"/>
                </a:solidFill>
                <a:latin typeface="Arial"/>
                <a:cs typeface="Arial"/>
              </a:defRPr>
            </a:lvl3pPr>
            <a:lvl4pPr>
              <a:lnSpc>
                <a:spcPct val="100000"/>
              </a:lnSpc>
              <a:defRPr sz="2133">
                <a:solidFill>
                  <a:srgbClr val="404041"/>
                </a:solidFill>
                <a:latin typeface="Arial"/>
                <a:cs typeface="Arial"/>
              </a:defRPr>
            </a:lvl4pPr>
            <a:lvl5pPr>
              <a:lnSpc>
                <a:spcPct val="100000"/>
              </a:lnSpc>
              <a:defRPr sz="2133">
                <a:solidFill>
                  <a:srgbClr val="404041"/>
                </a:solidFill>
                <a:latin typeface="Arial"/>
                <a:cs typeface="Arial"/>
              </a:defRPr>
            </a:lvl5pPr>
          </a:lstStyle>
          <a:p>
            <a:pPr lvl="0"/>
            <a:r>
              <a:rPr lang="en-US"/>
              <a:t>Click to edit master subtitle style</a:t>
            </a:r>
          </a:p>
        </p:txBody>
      </p:sp>
      <p:sp>
        <p:nvSpPr>
          <p:cNvPr id="18" name="Rectangle 17">
            <a:extLst>
              <a:ext uri="{FF2B5EF4-FFF2-40B4-BE49-F238E27FC236}">
                <a16:creationId xmlns:a16="http://schemas.microsoft.com/office/drawing/2014/main" id="{EDEDD93F-964F-5944-AAE4-710A9649E394}"/>
              </a:ext>
            </a:extLst>
          </p:cNvPr>
          <p:cNvSpPr/>
          <p:nvPr/>
        </p:nvSpPr>
        <p:spPr>
          <a:xfrm>
            <a:off x="0" y="6341738"/>
            <a:ext cx="12192000" cy="516263"/>
          </a:xfrm>
          <a:prstGeom prst="rect">
            <a:avLst/>
          </a:prstGeom>
          <a:solidFill>
            <a:srgbClr val="6903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EF59BA7C-FE73-F34E-9D20-212CFBB7F488}"/>
              </a:ext>
            </a:extLst>
          </p:cNvPr>
          <p:cNvPicPr>
            <a:picLocks noChangeAspect="1"/>
          </p:cNvPicPr>
          <p:nvPr/>
        </p:nvPicPr>
        <p:blipFill>
          <a:blip r:embed="rId2"/>
          <a:stretch>
            <a:fillRect/>
          </a:stretch>
        </p:blipFill>
        <p:spPr>
          <a:xfrm>
            <a:off x="831677" y="6240549"/>
            <a:ext cx="7796364" cy="625180"/>
          </a:xfrm>
          <a:prstGeom prst="rect">
            <a:avLst/>
          </a:prstGeom>
        </p:spPr>
      </p:pic>
      <p:sp>
        <p:nvSpPr>
          <p:cNvPr id="3" name="Rectangle 2">
            <a:extLst>
              <a:ext uri="{FF2B5EF4-FFF2-40B4-BE49-F238E27FC236}">
                <a16:creationId xmlns:a16="http://schemas.microsoft.com/office/drawing/2014/main" id="{D1014A63-C919-2F2E-9A92-396F1EFB2163}"/>
              </a:ext>
            </a:extLst>
          </p:cNvPr>
          <p:cNvSpPr/>
          <p:nvPr userDrawn="1"/>
        </p:nvSpPr>
        <p:spPr>
          <a:xfrm>
            <a:off x="0" y="270881"/>
            <a:ext cx="110219" cy="5162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 name="TextBox 5">
            <a:extLst>
              <a:ext uri="{FF2B5EF4-FFF2-40B4-BE49-F238E27FC236}">
                <a16:creationId xmlns:a16="http://schemas.microsoft.com/office/drawing/2014/main" id="{1D7D192A-07C1-2998-5B98-1E0C4370E651}"/>
              </a:ext>
            </a:extLst>
          </p:cNvPr>
          <p:cNvSpPr txBox="1"/>
          <p:nvPr userDrawn="1"/>
        </p:nvSpPr>
        <p:spPr>
          <a:xfrm>
            <a:off x="4741334" y="4721413"/>
            <a:ext cx="184731" cy="461665"/>
          </a:xfrm>
          <a:prstGeom prst="rect">
            <a:avLst/>
          </a:prstGeom>
          <a:noFill/>
        </p:spPr>
        <p:txBody>
          <a:bodyPr wrap="none" rtlCol="0">
            <a:spAutoFit/>
          </a:bodyPr>
          <a:lstStyle/>
          <a:p>
            <a:endParaRPr lang="en-US" sz="2400"/>
          </a:p>
        </p:txBody>
      </p:sp>
      <p:sp>
        <p:nvSpPr>
          <p:cNvPr id="8" name="Rectangle 7">
            <a:extLst>
              <a:ext uri="{FF2B5EF4-FFF2-40B4-BE49-F238E27FC236}">
                <a16:creationId xmlns:a16="http://schemas.microsoft.com/office/drawing/2014/main" id="{94FFFC1D-95F9-6333-E174-FA37C3C5EBBF}"/>
              </a:ext>
            </a:extLst>
          </p:cNvPr>
          <p:cNvSpPr/>
          <p:nvPr userDrawn="1"/>
        </p:nvSpPr>
        <p:spPr>
          <a:xfrm>
            <a:off x="0" y="6341738"/>
            <a:ext cx="12192000" cy="516263"/>
          </a:xfrm>
          <a:prstGeom prst="rect">
            <a:avLst/>
          </a:prstGeom>
          <a:solidFill>
            <a:srgbClr val="6903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9" name="Picture 8">
            <a:extLst>
              <a:ext uri="{FF2B5EF4-FFF2-40B4-BE49-F238E27FC236}">
                <a16:creationId xmlns:a16="http://schemas.microsoft.com/office/drawing/2014/main" id="{23430E0B-5EDB-C982-AF7F-961796ED14FB}"/>
              </a:ext>
            </a:extLst>
          </p:cNvPr>
          <p:cNvPicPr>
            <a:picLocks noChangeAspect="1"/>
          </p:cNvPicPr>
          <p:nvPr userDrawn="1"/>
        </p:nvPicPr>
        <p:blipFill>
          <a:blip r:embed="rId2"/>
          <a:stretch>
            <a:fillRect/>
          </a:stretch>
        </p:blipFill>
        <p:spPr>
          <a:xfrm>
            <a:off x="831677" y="6240549"/>
            <a:ext cx="7796364" cy="625180"/>
          </a:xfrm>
          <a:prstGeom prst="rect">
            <a:avLst/>
          </a:prstGeom>
        </p:spPr>
      </p:pic>
    </p:spTree>
    <p:extLst>
      <p:ext uri="{BB962C8B-B14F-4D97-AF65-F5344CB8AC3E}">
        <p14:creationId xmlns:p14="http://schemas.microsoft.com/office/powerpoint/2010/main" val="408013711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cSld name="1_Blank with footer: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36902F-F212-0144-B75F-3569DBF54AA1}"/>
              </a:ext>
            </a:extLst>
          </p:cNvPr>
          <p:cNvSpPr/>
          <p:nvPr/>
        </p:nvSpPr>
        <p:spPr>
          <a:xfrm>
            <a:off x="0" y="6341738"/>
            <a:ext cx="12192000" cy="516263"/>
          </a:xfrm>
          <a:prstGeom prst="rect">
            <a:avLst/>
          </a:prstGeom>
          <a:solidFill>
            <a:srgbClr val="6903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13" name="Picture 12">
            <a:extLst>
              <a:ext uri="{FF2B5EF4-FFF2-40B4-BE49-F238E27FC236}">
                <a16:creationId xmlns:a16="http://schemas.microsoft.com/office/drawing/2014/main" id="{B419C2DD-16E9-1D47-8CDF-6A592720037A}"/>
              </a:ext>
            </a:extLst>
          </p:cNvPr>
          <p:cNvPicPr>
            <a:picLocks noChangeAspect="1"/>
          </p:cNvPicPr>
          <p:nvPr/>
        </p:nvPicPr>
        <p:blipFill>
          <a:blip r:embed="rId2"/>
          <a:stretch>
            <a:fillRect/>
          </a:stretch>
        </p:blipFill>
        <p:spPr>
          <a:xfrm>
            <a:off x="831677" y="6240549"/>
            <a:ext cx="7796364" cy="625180"/>
          </a:xfrm>
          <a:prstGeom prst="rect">
            <a:avLst/>
          </a:prstGeom>
        </p:spPr>
      </p:pic>
      <p:sp>
        <p:nvSpPr>
          <p:cNvPr id="2" name="Rectangle 1">
            <a:extLst>
              <a:ext uri="{FF2B5EF4-FFF2-40B4-BE49-F238E27FC236}">
                <a16:creationId xmlns:a16="http://schemas.microsoft.com/office/drawing/2014/main" id="{D73F54E2-DA19-0A90-1B01-E09FA4EF1BAA}"/>
              </a:ext>
            </a:extLst>
          </p:cNvPr>
          <p:cNvSpPr/>
          <p:nvPr userDrawn="1"/>
        </p:nvSpPr>
        <p:spPr>
          <a:xfrm>
            <a:off x="0" y="6341738"/>
            <a:ext cx="12192000" cy="516263"/>
          </a:xfrm>
          <a:prstGeom prst="rect">
            <a:avLst/>
          </a:prstGeom>
          <a:solidFill>
            <a:srgbClr val="6903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a:extLst>
              <a:ext uri="{FF2B5EF4-FFF2-40B4-BE49-F238E27FC236}">
                <a16:creationId xmlns:a16="http://schemas.microsoft.com/office/drawing/2014/main" id="{3C3FF65D-8488-77A4-4764-89CF488B3DBE}"/>
              </a:ext>
            </a:extLst>
          </p:cNvPr>
          <p:cNvPicPr>
            <a:picLocks noChangeAspect="1"/>
          </p:cNvPicPr>
          <p:nvPr userDrawn="1"/>
        </p:nvPicPr>
        <p:blipFill>
          <a:blip r:embed="rId2"/>
          <a:stretch>
            <a:fillRect/>
          </a:stretch>
        </p:blipFill>
        <p:spPr>
          <a:xfrm>
            <a:off x="831677" y="6240549"/>
            <a:ext cx="7796364" cy="625180"/>
          </a:xfrm>
          <a:prstGeom prst="rect">
            <a:avLst/>
          </a:prstGeom>
        </p:spPr>
      </p:pic>
    </p:spTree>
    <p:extLst>
      <p:ext uri="{BB962C8B-B14F-4D97-AF65-F5344CB8AC3E}">
        <p14:creationId xmlns:p14="http://schemas.microsoft.com/office/powerpoint/2010/main" val="237129646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x">
  <p:cSld name="1_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only layout</a:t>
            </a:r>
          </a:p>
        </p:txBody>
      </p:sp>
    </p:spTree>
    <p:custDataLst>
      <p:tags r:id="rId1"/>
    </p:custDataLst>
    <p:extLst>
      <p:ext uri="{BB962C8B-B14F-4D97-AF65-F5344CB8AC3E}">
        <p14:creationId xmlns:p14="http://schemas.microsoft.com/office/powerpoint/2010/main" val="279176104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cSld name="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126890726"/>
      </p:ext>
    </p:extLst>
  </p:cSld>
  <p:clrMapOvr>
    <a:masterClrMapping/>
  </p:clrMapOvr>
  <p:hf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60" y="366471"/>
            <a:ext cx="8768256"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60" y="2688190"/>
            <a:ext cx="8768256" cy="2098121"/>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spTree>
    <p:custDataLst>
      <p:tags r:id="rId1"/>
    </p:custDataLst>
    <p:extLst>
      <p:ext uri="{BB962C8B-B14F-4D97-AF65-F5344CB8AC3E}">
        <p14:creationId xmlns:p14="http://schemas.microsoft.com/office/powerpoint/2010/main" val="362377659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cSld name="Title Only">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Tree>
    <p:custDataLst>
      <p:tags r:id="rId1"/>
    </p:custDataLst>
    <p:extLst>
      <p:ext uri="{BB962C8B-B14F-4D97-AF65-F5344CB8AC3E}">
        <p14:creationId xmlns:p14="http://schemas.microsoft.com/office/powerpoint/2010/main" val="15722508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Title Slide">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B11573-292E-4F55-A77E-C7F70767BE6A}"/>
              </a:ext>
            </a:extLst>
          </p:cNvPr>
          <p:cNvSpPr>
            <a:spLocks noGrp="1"/>
          </p:cNvSpPr>
          <p:nvPr>
            <p:ph type="title"/>
          </p:nvPr>
        </p:nvSpPr>
        <p:spPr>
          <a:xfrm>
            <a:off x="365760" y="2295144"/>
            <a:ext cx="11567160" cy="1481328"/>
          </a:xfrm>
        </p:spPr>
        <p:txBody>
          <a:bodyPr anchor="b">
            <a:normAutofit/>
          </a:bodyPr>
          <a:lstStyle>
            <a:lvl1pPr>
              <a:defRPr sz="4400">
                <a:solidFill>
                  <a:schemeClr val="bg2"/>
                </a:solidFill>
              </a:defRPr>
            </a:lvl1pPr>
          </a:lstStyle>
          <a:p>
            <a:r>
              <a:rPr lang="en-US"/>
              <a:t>Click to edit Master title style</a:t>
            </a:r>
            <a:endParaRPr lang="en-US" dirty="0"/>
          </a:p>
        </p:txBody>
      </p:sp>
      <p:sp>
        <p:nvSpPr>
          <p:cNvPr id="3" name="Subtitle">
            <a:extLst>
              <a:ext uri="{FF2B5EF4-FFF2-40B4-BE49-F238E27FC236}">
                <a16:creationId xmlns:a16="http://schemas.microsoft.com/office/drawing/2014/main" id="{4720F438-6999-4AEE-ABDC-CA4496A582B0}"/>
              </a:ext>
            </a:extLst>
          </p:cNvPr>
          <p:cNvSpPr>
            <a:spLocks noGrp="1"/>
          </p:cNvSpPr>
          <p:nvPr>
            <p:ph type="subTitle" idx="1" hasCustomPrompt="1"/>
          </p:nvPr>
        </p:nvSpPr>
        <p:spPr>
          <a:xfrm>
            <a:off x="365760" y="3803904"/>
            <a:ext cx="11567160" cy="2267712"/>
          </a:xfrm>
        </p:spPr>
        <p:txBody>
          <a:bodyPr>
            <a:noAutofit/>
          </a:bodyPr>
          <a:lstStyle>
            <a:lvl1pPr marL="0" indent="0">
              <a:buNone/>
              <a:defRPr sz="3200">
                <a:solidFill>
                  <a:schemeClr val="bg2"/>
                </a:solidFill>
              </a:defRPr>
            </a:lvl1pPr>
          </a:lstStyle>
          <a:p>
            <a:pPr lvl="0"/>
            <a:r>
              <a:rPr lang="en-US" dirty="0"/>
              <a:t>Type subtitle here</a:t>
            </a:r>
          </a:p>
        </p:txBody>
      </p:sp>
    </p:spTree>
    <p:custDataLst>
      <p:tags r:id="rId1"/>
    </p:custDataLst>
    <p:extLst>
      <p:ext uri="{BB962C8B-B14F-4D97-AF65-F5344CB8AC3E}">
        <p14:creationId xmlns:p14="http://schemas.microsoft.com/office/powerpoint/2010/main" val="67089611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ags" Target="../tags/tag2.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image" Target="../media/image3.svg"/><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95.xml"/><Relationship Id="rId18" Type="http://schemas.openxmlformats.org/officeDocument/2006/relationships/slideLayout" Target="../slideLayouts/slideLayout100.xml"/><Relationship Id="rId26" Type="http://schemas.openxmlformats.org/officeDocument/2006/relationships/slideLayout" Target="../slideLayouts/slideLayout108.xml"/><Relationship Id="rId3" Type="http://schemas.openxmlformats.org/officeDocument/2006/relationships/slideLayout" Target="../slideLayouts/slideLayout85.xml"/><Relationship Id="rId21" Type="http://schemas.openxmlformats.org/officeDocument/2006/relationships/slideLayout" Target="../slideLayouts/slideLayout103.xml"/><Relationship Id="rId34" Type="http://schemas.openxmlformats.org/officeDocument/2006/relationships/theme" Target="../theme/theme2.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5" Type="http://schemas.openxmlformats.org/officeDocument/2006/relationships/slideLayout" Target="../slideLayouts/slideLayout107.xml"/><Relationship Id="rId33" Type="http://schemas.openxmlformats.org/officeDocument/2006/relationships/slideLayout" Target="../slideLayouts/slideLayout115.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20" Type="http://schemas.openxmlformats.org/officeDocument/2006/relationships/slideLayout" Target="../slideLayouts/slideLayout102.xml"/><Relationship Id="rId29" Type="http://schemas.openxmlformats.org/officeDocument/2006/relationships/slideLayout" Target="../slideLayouts/slideLayout111.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24" Type="http://schemas.openxmlformats.org/officeDocument/2006/relationships/slideLayout" Target="../slideLayouts/slideLayout106.xml"/><Relationship Id="rId32" Type="http://schemas.openxmlformats.org/officeDocument/2006/relationships/slideLayout" Target="../slideLayouts/slideLayout114.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23" Type="http://schemas.openxmlformats.org/officeDocument/2006/relationships/slideLayout" Target="../slideLayouts/slideLayout105.xml"/><Relationship Id="rId28" Type="http://schemas.openxmlformats.org/officeDocument/2006/relationships/slideLayout" Target="../slideLayouts/slideLayout110.xml"/><Relationship Id="rId10" Type="http://schemas.openxmlformats.org/officeDocument/2006/relationships/slideLayout" Target="../slideLayouts/slideLayout92.xml"/><Relationship Id="rId19" Type="http://schemas.openxmlformats.org/officeDocument/2006/relationships/slideLayout" Target="../slideLayouts/slideLayout101.xml"/><Relationship Id="rId31" Type="http://schemas.openxmlformats.org/officeDocument/2006/relationships/slideLayout" Target="../slideLayouts/slideLayout113.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 Id="rId22" Type="http://schemas.openxmlformats.org/officeDocument/2006/relationships/slideLayout" Target="../slideLayouts/slideLayout104.xml"/><Relationship Id="rId27" Type="http://schemas.openxmlformats.org/officeDocument/2006/relationships/slideLayout" Target="../slideLayouts/slideLayout109.xml"/><Relationship Id="rId30" Type="http://schemas.openxmlformats.org/officeDocument/2006/relationships/slideLayout" Target="../slideLayouts/slideLayout112.xml"/><Relationship Id="rId8"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5">
            <a:lum/>
          </a:blip>
          <a:srcRect/>
          <a:stretch>
            <a:fillRect/>
          </a:stretch>
        </a:blipFill>
        <a:effectLst/>
      </p:bgPr>
    </p:bg>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740ACF5A-6DEA-4283-95F3-28BFCB00D1FE}"/>
              </a:ext>
            </a:extLst>
          </p:cNvPr>
          <p:cNvSpPr>
            <a:spLocks noGrp="1"/>
          </p:cNvSpPr>
          <p:nvPr>
            <p:ph type="sldNum" sz="quarter" idx="4"/>
          </p:nvPr>
        </p:nvSpPr>
        <p:spPr>
          <a:xfrm>
            <a:off x="11469389" y="6445721"/>
            <a:ext cx="484261" cy="289591"/>
          </a:xfrm>
          <a:prstGeom prst="rect">
            <a:avLst/>
          </a:prstGeom>
        </p:spPr>
        <p:txBody>
          <a:bodyPr vert="horz" lIns="91440" tIns="45720" rIns="91440" bIns="45720" rtlCol="0" anchor="ctr"/>
          <a:lstStyle>
            <a:lvl1pPr algn="r">
              <a:defRPr sz="16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C6E65ACB-7BFD-4D12-ACB2-501576A6711D}"/>
              </a:ext>
            </a:extLst>
          </p:cNvPr>
          <p:cNvSpPr>
            <a:spLocks noGrp="1"/>
          </p:cNvSpPr>
          <p:nvPr>
            <p:ph type="title"/>
          </p:nvPr>
        </p:nvSpPr>
        <p:spPr>
          <a:xfrm>
            <a:off x="365760" y="299526"/>
            <a:ext cx="11569209" cy="73131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a:extLst>
              <a:ext uri="{FF2B5EF4-FFF2-40B4-BE49-F238E27FC236}">
                <a16:creationId xmlns:a16="http://schemas.microsoft.com/office/drawing/2014/main" id="{BD9FB2C3-6E12-492D-B6C4-46373C49E3FD}"/>
              </a:ext>
            </a:extLst>
          </p:cNvPr>
          <p:cNvSpPr>
            <a:spLocks noGrp="1"/>
          </p:cNvSpPr>
          <p:nvPr>
            <p:ph type="body" idx="1"/>
          </p:nvPr>
        </p:nvSpPr>
        <p:spPr>
          <a:xfrm>
            <a:off x="365761" y="1143000"/>
            <a:ext cx="8117840" cy="5291750"/>
          </a:xfrm>
          <a:prstGeom prst="rect">
            <a:avLst/>
          </a:prstGeom>
        </p:spPr>
        <p:txBody>
          <a:bodyPr vert="horz" lIns="91440" tIns="45720" rIns="91440" bIns="45720" rtlCol="0">
            <a:normAutofit/>
          </a:body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98" name="AWS Logo">
            <a:extLst>
              <a:ext uri="{FF2B5EF4-FFF2-40B4-BE49-F238E27FC236}">
                <a16:creationId xmlns:a16="http://schemas.microsoft.com/office/drawing/2014/main" id="{56ED120F-98B5-42C0-B16A-27FB0984653F}"/>
              </a:ext>
              <a:ext uri="{C183D7F6-B498-43B3-948B-1728B52AA6E4}">
                <adec:decorative xmlns:adec="http://schemas.microsoft.com/office/drawing/2017/decorative" val="1"/>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11510670" y="6226265"/>
            <a:ext cx="366979" cy="219456"/>
          </a:xfrm>
          <a:prstGeom prst="rect">
            <a:avLst/>
          </a:prstGeom>
        </p:spPr>
      </p:pic>
    </p:spTree>
    <p:custDataLst>
      <p:tags r:id="rId84"/>
    </p:custDataLst>
    <p:extLst>
      <p:ext uri="{BB962C8B-B14F-4D97-AF65-F5344CB8AC3E}">
        <p14:creationId xmlns:p14="http://schemas.microsoft.com/office/powerpoint/2010/main" val="1924365284"/>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87" r:id="rId9"/>
    <p:sldLayoutId id="2147484008" r:id="rId10"/>
    <p:sldLayoutId id="2147484009" r:id="rId11"/>
    <p:sldLayoutId id="2147484010" r:id="rId12"/>
    <p:sldLayoutId id="2147484011" r:id="rId13"/>
    <p:sldLayoutId id="2147484012" r:id="rId14"/>
    <p:sldLayoutId id="2147484089" r:id="rId15"/>
    <p:sldLayoutId id="2147484013" r:id="rId16"/>
    <p:sldLayoutId id="2147484014" r:id="rId17"/>
    <p:sldLayoutId id="2147484015" r:id="rId18"/>
    <p:sldLayoutId id="2147484016" r:id="rId19"/>
    <p:sldLayoutId id="2147484017" r:id="rId20"/>
    <p:sldLayoutId id="2147484018" r:id="rId21"/>
    <p:sldLayoutId id="2147484019" r:id="rId22"/>
    <p:sldLayoutId id="2147484020" r:id="rId23"/>
    <p:sldLayoutId id="2147484021" r:id="rId24"/>
    <p:sldLayoutId id="2147484022" r:id="rId25"/>
    <p:sldLayoutId id="2147484023" r:id="rId26"/>
    <p:sldLayoutId id="2147484024" r:id="rId27"/>
    <p:sldLayoutId id="2147484025" r:id="rId28"/>
    <p:sldLayoutId id="2147484026" r:id="rId29"/>
    <p:sldLayoutId id="2147484027" r:id="rId30"/>
    <p:sldLayoutId id="2147484028" r:id="rId31"/>
    <p:sldLayoutId id="2147484029" r:id="rId32"/>
    <p:sldLayoutId id="2147484030" r:id="rId33"/>
    <p:sldLayoutId id="2147484031" r:id="rId34"/>
    <p:sldLayoutId id="2147484032" r:id="rId35"/>
    <p:sldLayoutId id="2147484033" r:id="rId36"/>
    <p:sldLayoutId id="2147484034" r:id="rId37"/>
    <p:sldLayoutId id="2147484035" r:id="rId38"/>
    <p:sldLayoutId id="2147484036" r:id="rId39"/>
    <p:sldLayoutId id="2147484037" r:id="rId40"/>
    <p:sldLayoutId id="2147484038" r:id="rId41"/>
    <p:sldLayoutId id="2147484039" r:id="rId42"/>
    <p:sldLayoutId id="2147484040" r:id="rId43"/>
    <p:sldLayoutId id="2147484041" r:id="rId44"/>
    <p:sldLayoutId id="2147484042" r:id="rId45"/>
    <p:sldLayoutId id="2147484090" r:id="rId46"/>
    <p:sldLayoutId id="2147484091" r:id="rId47"/>
    <p:sldLayoutId id="2147484092" r:id="rId48"/>
    <p:sldLayoutId id="2147484093" r:id="rId49"/>
    <p:sldLayoutId id="2147484094" r:id="rId50"/>
    <p:sldLayoutId id="2147484096" r:id="rId51"/>
    <p:sldLayoutId id="2147484097" r:id="rId52"/>
    <p:sldLayoutId id="2147484098" r:id="rId53"/>
    <p:sldLayoutId id="2147484099" r:id="rId54"/>
    <p:sldLayoutId id="2147484100" r:id="rId55"/>
    <p:sldLayoutId id="2147484101" r:id="rId56"/>
    <p:sldLayoutId id="2147484102" r:id="rId57"/>
    <p:sldLayoutId id="2147484103" r:id="rId58"/>
    <p:sldLayoutId id="2147484104" r:id="rId59"/>
    <p:sldLayoutId id="2147484105" r:id="rId60"/>
    <p:sldLayoutId id="2147484106" r:id="rId61"/>
    <p:sldLayoutId id="2147484107" r:id="rId62"/>
    <p:sldLayoutId id="2147484108" r:id="rId63"/>
    <p:sldLayoutId id="2147484109" r:id="rId64"/>
    <p:sldLayoutId id="2147484110" r:id="rId65"/>
    <p:sldLayoutId id="2147484111" r:id="rId66"/>
    <p:sldLayoutId id="2147484112" r:id="rId67"/>
    <p:sldLayoutId id="2147484113" r:id="rId68"/>
    <p:sldLayoutId id="2147484114" r:id="rId69"/>
    <p:sldLayoutId id="2147484115" r:id="rId70"/>
    <p:sldLayoutId id="2147484116" r:id="rId71"/>
    <p:sldLayoutId id="2147484117" r:id="rId72"/>
    <p:sldLayoutId id="2147484118" r:id="rId73"/>
    <p:sldLayoutId id="2147484119" r:id="rId74"/>
    <p:sldLayoutId id="2147484120" r:id="rId75"/>
    <p:sldLayoutId id="2147484121" r:id="rId76"/>
    <p:sldLayoutId id="2147484122" r:id="rId77"/>
    <p:sldLayoutId id="2147484123" r:id="rId78"/>
    <p:sldLayoutId id="2147484124" r:id="rId79"/>
    <p:sldLayoutId id="2147484125" r:id="rId80"/>
    <p:sldLayoutId id="2147484126" r:id="rId81"/>
    <p:sldLayoutId id="2147484127" r:id="rId82"/>
  </p:sldLayoutIdLst>
  <p:hf hdr="0" ftr="0" dt="0"/>
  <p:txStyles>
    <p:titleStyle>
      <a:lvl1pPr algn="l" defTabSz="228600" rtl="0" eaLnBrk="1" latinLnBrk="0" hangingPunct="1">
        <a:lnSpc>
          <a:spcPct val="100000"/>
        </a:lnSpc>
        <a:spcBef>
          <a:spcPct val="0"/>
        </a:spcBef>
        <a:buNone/>
        <a:defRPr sz="3200" kern="1200">
          <a:solidFill>
            <a:schemeClr val="tx2"/>
          </a:solidFill>
          <a:latin typeface="Amazon Ember Heavy"/>
        </a:defRPr>
      </a:lvl1pPr>
    </p:titleStyle>
    <p:body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AF61CC-58D4-72CE-66CA-BFE87D085DCB}"/>
              </a:ext>
            </a:extLst>
          </p:cNvPr>
          <p:cNvSpPr>
            <a:spLocks noGrp="1"/>
          </p:cNvSpPr>
          <p:nvPr>
            <p:ph type="title"/>
          </p:nvPr>
        </p:nvSpPr>
        <p:spPr>
          <a:xfrm>
            <a:off x="468086" y="385004"/>
            <a:ext cx="11266714" cy="589032"/>
          </a:xfrm>
          <a:prstGeom prst="rect">
            <a:avLst/>
          </a:prstGeom>
        </p:spPr>
        <p:txBody>
          <a:bodyPr vert="horz" lIns="91440" tIns="45720" rIns="91440" bIns="45720" rtlCol="0" anchor="ctr">
            <a:normAutofit/>
          </a:bodyPr>
          <a:lstStyle/>
          <a:p>
            <a:r>
              <a:rPr lang="en-US" dirty="0"/>
              <a:t>Click to edit Master slide title</a:t>
            </a:r>
          </a:p>
        </p:txBody>
      </p:sp>
      <p:sp>
        <p:nvSpPr>
          <p:cNvPr id="3" name="Text Placeholder 2">
            <a:extLst>
              <a:ext uri="{FF2B5EF4-FFF2-40B4-BE49-F238E27FC236}">
                <a16:creationId xmlns:a16="http://schemas.microsoft.com/office/drawing/2014/main" id="{41FD4295-B2CD-F1FF-F99B-B267D1740FB9}"/>
              </a:ext>
            </a:extLst>
          </p:cNvPr>
          <p:cNvSpPr>
            <a:spLocks noGrp="1"/>
          </p:cNvSpPr>
          <p:nvPr>
            <p:ph type="body" idx="1"/>
          </p:nvPr>
        </p:nvSpPr>
        <p:spPr>
          <a:xfrm>
            <a:off x="468086" y="1192696"/>
            <a:ext cx="11266714" cy="48379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5DCC5ACE-5747-34C7-00B2-2E4EABE6A031}"/>
              </a:ext>
            </a:extLst>
          </p:cNvPr>
          <p:cNvSpPr>
            <a:spLocks noGrp="1"/>
          </p:cNvSpPr>
          <p:nvPr>
            <p:ph type="sldNum" sz="quarter" idx="4"/>
          </p:nvPr>
        </p:nvSpPr>
        <p:spPr>
          <a:xfrm>
            <a:off x="10634663" y="6290433"/>
            <a:ext cx="110013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0176A1-BCF0-4712-97A6-6B495F55390B}" type="slidenum">
              <a:rPr lang="en-US" smtClean="0"/>
              <a:pPr/>
              <a:t>‹#›</a:t>
            </a:fld>
            <a:endParaRPr lang="en-US"/>
          </a:p>
        </p:txBody>
      </p:sp>
    </p:spTree>
    <p:extLst>
      <p:ext uri="{BB962C8B-B14F-4D97-AF65-F5344CB8AC3E}">
        <p14:creationId xmlns:p14="http://schemas.microsoft.com/office/powerpoint/2010/main" val="2111749373"/>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0" r:id="rId12"/>
    <p:sldLayoutId id="2147484141" r:id="rId13"/>
    <p:sldLayoutId id="2147484142" r:id="rId14"/>
    <p:sldLayoutId id="2147484143" r:id="rId15"/>
    <p:sldLayoutId id="2147484144" r:id="rId16"/>
    <p:sldLayoutId id="2147484145" r:id="rId17"/>
    <p:sldLayoutId id="2147484146" r:id="rId18"/>
    <p:sldLayoutId id="2147484147" r:id="rId19"/>
    <p:sldLayoutId id="2147484148" r:id="rId20"/>
    <p:sldLayoutId id="2147484149" r:id="rId21"/>
    <p:sldLayoutId id="2147484150" r:id="rId22"/>
    <p:sldLayoutId id="2147484151" r:id="rId23"/>
    <p:sldLayoutId id="2147484152" r:id="rId24"/>
    <p:sldLayoutId id="2147484153" r:id="rId25"/>
    <p:sldLayoutId id="2147484154" r:id="rId26"/>
    <p:sldLayoutId id="2147484155" r:id="rId27"/>
    <p:sldLayoutId id="2147484156" r:id="rId28"/>
    <p:sldLayoutId id="2147484157" r:id="rId29"/>
    <p:sldLayoutId id="2147484158" r:id="rId30"/>
    <p:sldLayoutId id="2147484160" r:id="rId31"/>
    <p:sldLayoutId id="2147484161" r:id="rId32"/>
    <p:sldLayoutId id="2147484162" r:id="rId33"/>
  </p:sldLayoutIdLst>
  <p:hf hdr="0" ftr="0" dt="0"/>
  <p:txStyles>
    <p:titleStyle>
      <a:lvl1pPr algn="l" defTabSz="914400" rtl="0" eaLnBrk="1" fontAlgn="b" latinLnBrk="0" hangingPunct="1">
        <a:lnSpc>
          <a:spcPct val="90000"/>
        </a:lnSpc>
        <a:spcBef>
          <a:spcPct val="0"/>
        </a:spcBef>
        <a:buNone/>
        <a:defRPr lang="en-US" sz="4800" b="1" i="1" kern="1200" cap="none" baseline="0" dirty="0">
          <a:solidFill>
            <a:schemeClr val="tx1"/>
          </a:solidFill>
          <a:latin typeface="Acumin Pro Condensed Semibold" panose="020B0506020202020204" pitchFamily="34"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3.xml"/><Relationship Id="rId1" Type="http://schemas.openxmlformats.org/officeDocument/2006/relationships/tags" Target="../tags/tag6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7.xml"/><Relationship Id="rId1" Type="http://schemas.openxmlformats.org/officeDocument/2006/relationships/tags" Target="../tags/tag62.xml"/><Relationship Id="rId5" Type="http://schemas.openxmlformats.org/officeDocument/2006/relationships/image" Target="../media/image23.png"/><Relationship Id="rId4" Type="http://schemas.openxmlformats.org/officeDocument/2006/relationships/hyperlink" Target="https://aws.amazon.com/about-aws/global-infrastructure/#AWS_Global_Infrastructure_Map" TargetMode="Externa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8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7.xml"/><Relationship Id="rId1" Type="http://schemas.openxmlformats.org/officeDocument/2006/relationships/tags" Target="../tags/tag63.xml"/><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2.xml"/><Relationship Id="rId1" Type="http://schemas.openxmlformats.org/officeDocument/2006/relationships/tags" Target="../tags/tag64.xml"/></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6.xml"/><Relationship Id="rId7" Type="http://schemas.openxmlformats.org/officeDocument/2006/relationships/image" Target="../media/image28.svg"/><Relationship Id="rId2" Type="http://schemas.openxmlformats.org/officeDocument/2006/relationships/slideLayout" Target="../slideLayouts/slideLayout112.xml"/><Relationship Id="rId1" Type="http://schemas.openxmlformats.org/officeDocument/2006/relationships/tags" Target="../tags/tag65.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30.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2.xml"/><Relationship Id="rId1" Type="http://schemas.openxmlformats.org/officeDocument/2006/relationships/tags" Target="../tags/tag66.xml"/><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2.xml"/><Relationship Id="rId1" Type="http://schemas.openxmlformats.org/officeDocument/2006/relationships/tags" Target="../tags/tag67.xml"/><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37.png"/><Relationship Id="rId2" Type="http://schemas.openxmlformats.org/officeDocument/2006/relationships/slideLayout" Target="../slideLayouts/slideLayout112.xml"/><Relationship Id="rId1" Type="http://schemas.openxmlformats.org/officeDocument/2006/relationships/tags" Target="../tags/tag6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1.xml"/></Relationships>
</file>

<file path=ppt/slides/_rels/slide11.xml.rels><?xml version="1.0" encoding="UTF-8" standalone="yes"?>
<Relationships xmlns="http://schemas.openxmlformats.org/package/2006/relationships"><Relationship Id="rId13" Type="http://schemas.openxmlformats.org/officeDocument/2006/relationships/image" Target="../media/image47.svg"/><Relationship Id="rId18" Type="http://schemas.openxmlformats.org/officeDocument/2006/relationships/image" Target="../media/image52.png"/><Relationship Id="rId26" Type="http://schemas.openxmlformats.org/officeDocument/2006/relationships/image" Target="../media/image60.png"/><Relationship Id="rId39" Type="http://schemas.openxmlformats.org/officeDocument/2006/relationships/image" Target="../media/image73.svg"/><Relationship Id="rId21" Type="http://schemas.openxmlformats.org/officeDocument/2006/relationships/image" Target="../media/image55.svg"/><Relationship Id="rId34" Type="http://schemas.openxmlformats.org/officeDocument/2006/relationships/image" Target="../media/image68.png"/><Relationship Id="rId42" Type="http://schemas.openxmlformats.org/officeDocument/2006/relationships/image" Target="../media/image76.png"/><Relationship Id="rId47" Type="http://schemas.openxmlformats.org/officeDocument/2006/relationships/image" Target="../media/image81.svg"/><Relationship Id="rId7" Type="http://schemas.openxmlformats.org/officeDocument/2006/relationships/image" Target="../media/image41.svg"/><Relationship Id="rId2" Type="http://schemas.openxmlformats.org/officeDocument/2006/relationships/slideLayout" Target="../slideLayouts/slideLayout114.xml"/><Relationship Id="rId16" Type="http://schemas.openxmlformats.org/officeDocument/2006/relationships/image" Target="../media/image50.png"/><Relationship Id="rId29" Type="http://schemas.openxmlformats.org/officeDocument/2006/relationships/image" Target="../media/image63.svg"/><Relationship Id="rId11" Type="http://schemas.openxmlformats.org/officeDocument/2006/relationships/image" Target="../media/image45.svg"/><Relationship Id="rId24" Type="http://schemas.openxmlformats.org/officeDocument/2006/relationships/image" Target="../media/image58.png"/><Relationship Id="rId32" Type="http://schemas.openxmlformats.org/officeDocument/2006/relationships/image" Target="../media/image66.png"/><Relationship Id="rId37" Type="http://schemas.openxmlformats.org/officeDocument/2006/relationships/image" Target="../media/image71.svg"/><Relationship Id="rId40" Type="http://schemas.openxmlformats.org/officeDocument/2006/relationships/image" Target="../media/image74.png"/><Relationship Id="rId45" Type="http://schemas.openxmlformats.org/officeDocument/2006/relationships/image" Target="../media/image79.svg"/><Relationship Id="rId5" Type="http://schemas.openxmlformats.org/officeDocument/2006/relationships/image" Target="../media/image39.svg"/><Relationship Id="rId15" Type="http://schemas.openxmlformats.org/officeDocument/2006/relationships/image" Target="../media/image49.svg"/><Relationship Id="rId23" Type="http://schemas.openxmlformats.org/officeDocument/2006/relationships/image" Target="../media/image57.svg"/><Relationship Id="rId28" Type="http://schemas.openxmlformats.org/officeDocument/2006/relationships/image" Target="../media/image62.png"/><Relationship Id="rId36" Type="http://schemas.openxmlformats.org/officeDocument/2006/relationships/image" Target="../media/image70.png"/><Relationship Id="rId49" Type="http://schemas.openxmlformats.org/officeDocument/2006/relationships/image" Target="../media/image83.svg"/><Relationship Id="rId10" Type="http://schemas.openxmlformats.org/officeDocument/2006/relationships/image" Target="../media/image44.png"/><Relationship Id="rId19" Type="http://schemas.openxmlformats.org/officeDocument/2006/relationships/image" Target="../media/image53.svg"/><Relationship Id="rId31" Type="http://schemas.openxmlformats.org/officeDocument/2006/relationships/image" Target="../media/image65.svg"/><Relationship Id="rId44" Type="http://schemas.openxmlformats.org/officeDocument/2006/relationships/image" Target="../media/image78.pn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svg"/><Relationship Id="rId30" Type="http://schemas.openxmlformats.org/officeDocument/2006/relationships/image" Target="../media/image64.png"/><Relationship Id="rId35" Type="http://schemas.openxmlformats.org/officeDocument/2006/relationships/image" Target="../media/image69.svg"/><Relationship Id="rId43" Type="http://schemas.openxmlformats.org/officeDocument/2006/relationships/image" Target="../media/image77.svg"/><Relationship Id="rId48" Type="http://schemas.openxmlformats.org/officeDocument/2006/relationships/image" Target="../media/image82.png"/><Relationship Id="rId8" Type="http://schemas.openxmlformats.org/officeDocument/2006/relationships/image" Target="../media/image42.png"/><Relationship Id="rId3" Type="http://schemas.openxmlformats.org/officeDocument/2006/relationships/notesSlide" Target="../notesSlides/notesSlide11.xml"/><Relationship Id="rId12" Type="http://schemas.openxmlformats.org/officeDocument/2006/relationships/image" Target="../media/image46.png"/><Relationship Id="rId17" Type="http://schemas.openxmlformats.org/officeDocument/2006/relationships/image" Target="../media/image51.svg"/><Relationship Id="rId25" Type="http://schemas.openxmlformats.org/officeDocument/2006/relationships/image" Target="../media/image59.svg"/><Relationship Id="rId33" Type="http://schemas.openxmlformats.org/officeDocument/2006/relationships/image" Target="../media/image67.svg"/><Relationship Id="rId38" Type="http://schemas.openxmlformats.org/officeDocument/2006/relationships/image" Target="../media/image72.png"/><Relationship Id="rId46" Type="http://schemas.openxmlformats.org/officeDocument/2006/relationships/image" Target="../media/image80.png"/><Relationship Id="rId20" Type="http://schemas.openxmlformats.org/officeDocument/2006/relationships/image" Target="../media/image54.png"/><Relationship Id="rId41" Type="http://schemas.openxmlformats.org/officeDocument/2006/relationships/image" Target="../media/image75.svg"/><Relationship Id="rId1" Type="http://schemas.openxmlformats.org/officeDocument/2006/relationships/tags" Target="../tags/tag69.xml"/><Relationship Id="rId6"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svg"/><Relationship Id="rId3" Type="http://schemas.openxmlformats.org/officeDocument/2006/relationships/notesSlide" Target="../notesSlides/notesSlide12.xml"/><Relationship Id="rId7" Type="http://schemas.openxmlformats.org/officeDocument/2006/relationships/image" Target="../media/image85.svg"/><Relationship Id="rId12" Type="http://schemas.openxmlformats.org/officeDocument/2006/relationships/image" Target="../media/image90.png"/><Relationship Id="rId2" Type="http://schemas.openxmlformats.org/officeDocument/2006/relationships/slideLayout" Target="../slideLayouts/slideLayout114.xml"/><Relationship Id="rId1" Type="http://schemas.openxmlformats.org/officeDocument/2006/relationships/tags" Target="../tags/tag70.xml"/><Relationship Id="rId6" Type="http://schemas.openxmlformats.org/officeDocument/2006/relationships/image" Target="../media/image84.png"/><Relationship Id="rId11" Type="http://schemas.openxmlformats.org/officeDocument/2006/relationships/image" Target="../media/image89.svg"/><Relationship Id="rId5" Type="http://schemas.openxmlformats.org/officeDocument/2006/relationships/image" Target="../media/image51.svg"/><Relationship Id="rId10" Type="http://schemas.openxmlformats.org/officeDocument/2006/relationships/image" Target="../media/image88.png"/><Relationship Id="rId4" Type="http://schemas.openxmlformats.org/officeDocument/2006/relationships/image" Target="../media/image50.png"/><Relationship Id="rId9" Type="http://schemas.openxmlformats.org/officeDocument/2006/relationships/image" Target="../media/image87.svg"/><Relationship Id="rId14" Type="http://schemas.openxmlformats.org/officeDocument/2006/relationships/image" Target="../media/image92.tiff"/></Relationships>
</file>

<file path=ppt/slides/_rels/slide13.xml.rels><?xml version="1.0" encoding="UTF-8" standalone="yes"?>
<Relationships xmlns="http://schemas.openxmlformats.org/package/2006/relationships"><Relationship Id="rId8" Type="http://schemas.openxmlformats.org/officeDocument/2006/relationships/image" Target="../media/image95.svg"/><Relationship Id="rId13" Type="http://schemas.openxmlformats.org/officeDocument/2006/relationships/image" Target="../media/image100.png"/><Relationship Id="rId18" Type="http://schemas.openxmlformats.org/officeDocument/2006/relationships/image" Target="../media/image105.svg"/><Relationship Id="rId3" Type="http://schemas.openxmlformats.org/officeDocument/2006/relationships/notesSlide" Target="../notesSlides/notesSlide13.xml"/><Relationship Id="rId21" Type="http://schemas.openxmlformats.org/officeDocument/2006/relationships/image" Target="../media/image108.png"/><Relationship Id="rId7" Type="http://schemas.openxmlformats.org/officeDocument/2006/relationships/image" Target="../media/image94.png"/><Relationship Id="rId12" Type="http://schemas.openxmlformats.org/officeDocument/2006/relationships/image" Target="../media/image99.svg"/><Relationship Id="rId17" Type="http://schemas.openxmlformats.org/officeDocument/2006/relationships/image" Target="../media/image104.png"/><Relationship Id="rId2" Type="http://schemas.openxmlformats.org/officeDocument/2006/relationships/slideLayout" Target="../slideLayouts/slideLayout114.xml"/><Relationship Id="rId16" Type="http://schemas.openxmlformats.org/officeDocument/2006/relationships/image" Target="../media/image103.svg"/><Relationship Id="rId20" Type="http://schemas.openxmlformats.org/officeDocument/2006/relationships/image" Target="../media/image107.svg"/><Relationship Id="rId1" Type="http://schemas.openxmlformats.org/officeDocument/2006/relationships/tags" Target="../tags/tag71.xml"/><Relationship Id="rId6" Type="http://schemas.openxmlformats.org/officeDocument/2006/relationships/image" Target="../media/image45.svg"/><Relationship Id="rId11" Type="http://schemas.openxmlformats.org/officeDocument/2006/relationships/image" Target="../media/image98.png"/><Relationship Id="rId5" Type="http://schemas.openxmlformats.org/officeDocument/2006/relationships/image" Target="../media/image44.png"/><Relationship Id="rId15" Type="http://schemas.openxmlformats.org/officeDocument/2006/relationships/image" Target="../media/image102.png"/><Relationship Id="rId10" Type="http://schemas.openxmlformats.org/officeDocument/2006/relationships/image" Target="../media/image97.svg"/><Relationship Id="rId19" Type="http://schemas.openxmlformats.org/officeDocument/2006/relationships/image" Target="../media/image106.png"/><Relationship Id="rId4" Type="http://schemas.openxmlformats.org/officeDocument/2006/relationships/image" Target="../media/image93.tiff"/><Relationship Id="rId9" Type="http://schemas.openxmlformats.org/officeDocument/2006/relationships/image" Target="../media/image96.png"/><Relationship Id="rId14" Type="http://schemas.openxmlformats.org/officeDocument/2006/relationships/image" Target="../media/image101.svg"/><Relationship Id="rId22" Type="http://schemas.openxmlformats.org/officeDocument/2006/relationships/image" Target="../media/image109.svg"/></Relationships>
</file>

<file path=ppt/slides/_rels/slide14.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svg"/><Relationship Id="rId3" Type="http://schemas.openxmlformats.org/officeDocument/2006/relationships/notesSlide" Target="../notesSlides/notesSlide14.xml"/><Relationship Id="rId7" Type="http://schemas.openxmlformats.org/officeDocument/2006/relationships/image" Target="../media/image111.svg"/><Relationship Id="rId12" Type="http://schemas.openxmlformats.org/officeDocument/2006/relationships/image" Target="../media/image116.png"/><Relationship Id="rId2" Type="http://schemas.openxmlformats.org/officeDocument/2006/relationships/slideLayout" Target="../slideLayouts/slideLayout114.xml"/><Relationship Id="rId1" Type="http://schemas.openxmlformats.org/officeDocument/2006/relationships/tags" Target="../tags/tag72.xml"/><Relationship Id="rId6" Type="http://schemas.openxmlformats.org/officeDocument/2006/relationships/image" Target="../media/image110.png"/><Relationship Id="rId11" Type="http://schemas.openxmlformats.org/officeDocument/2006/relationships/image" Target="../media/image115.svg"/><Relationship Id="rId5" Type="http://schemas.openxmlformats.org/officeDocument/2006/relationships/image" Target="../media/image57.svg"/><Relationship Id="rId10" Type="http://schemas.openxmlformats.org/officeDocument/2006/relationships/image" Target="../media/image114.png"/><Relationship Id="rId4" Type="http://schemas.openxmlformats.org/officeDocument/2006/relationships/image" Target="../media/image56.png"/><Relationship Id="rId9" Type="http://schemas.openxmlformats.org/officeDocument/2006/relationships/image" Target="../media/image113.svg"/><Relationship Id="rId14" Type="http://schemas.openxmlformats.org/officeDocument/2006/relationships/image" Target="../media/image118.tiff"/></Relationships>
</file>

<file path=ppt/slides/_rels/slide15.xml.rels><?xml version="1.0" encoding="UTF-8" standalone="yes"?>
<Relationships xmlns="http://schemas.openxmlformats.org/package/2006/relationships"><Relationship Id="rId8" Type="http://schemas.openxmlformats.org/officeDocument/2006/relationships/image" Target="../media/image121.svg"/><Relationship Id="rId13" Type="http://schemas.openxmlformats.org/officeDocument/2006/relationships/image" Target="../media/image126.png"/><Relationship Id="rId18" Type="http://schemas.openxmlformats.org/officeDocument/2006/relationships/image" Target="../media/image131.svg"/><Relationship Id="rId3" Type="http://schemas.openxmlformats.org/officeDocument/2006/relationships/notesSlide" Target="../notesSlides/notesSlide15.xml"/><Relationship Id="rId7" Type="http://schemas.openxmlformats.org/officeDocument/2006/relationships/image" Target="../media/image120.png"/><Relationship Id="rId12" Type="http://schemas.openxmlformats.org/officeDocument/2006/relationships/image" Target="../media/image125.svg"/><Relationship Id="rId17" Type="http://schemas.openxmlformats.org/officeDocument/2006/relationships/image" Target="../media/image130.png"/><Relationship Id="rId2" Type="http://schemas.openxmlformats.org/officeDocument/2006/relationships/slideLayout" Target="../slideLayouts/slideLayout114.xml"/><Relationship Id="rId16" Type="http://schemas.openxmlformats.org/officeDocument/2006/relationships/image" Target="../media/image129.svg"/><Relationship Id="rId20" Type="http://schemas.openxmlformats.org/officeDocument/2006/relationships/image" Target="../media/image133.svg"/><Relationship Id="rId1" Type="http://schemas.openxmlformats.org/officeDocument/2006/relationships/tags" Target="../tags/tag73.xml"/><Relationship Id="rId6" Type="http://schemas.openxmlformats.org/officeDocument/2006/relationships/image" Target="../media/image39.svg"/><Relationship Id="rId11" Type="http://schemas.openxmlformats.org/officeDocument/2006/relationships/image" Target="../media/image124.png"/><Relationship Id="rId5" Type="http://schemas.openxmlformats.org/officeDocument/2006/relationships/image" Target="../media/image38.png"/><Relationship Id="rId15" Type="http://schemas.openxmlformats.org/officeDocument/2006/relationships/image" Target="../media/image128.png"/><Relationship Id="rId10" Type="http://schemas.openxmlformats.org/officeDocument/2006/relationships/image" Target="../media/image123.svg"/><Relationship Id="rId19" Type="http://schemas.openxmlformats.org/officeDocument/2006/relationships/image" Target="../media/image132.png"/><Relationship Id="rId4" Type="http://schemas.openxmlformats.org/officeDocument/2006/relationships/image" Target="../media/image119.tiff"/><Relationship Id="rId9" Type="http://schemas.openxmlformats.org/officeDocument/2006/relationships/image" Target="../media/image122.png"/><Relationship Id="rId14" Type="http://schemas.openxmlformats.org/officeDocument/2006/relationships/image" Target="../media/image127.svg"/></Relationships>
</file>

<file path=ppt/slides/_rels/slide16.xml.rels><?xml version="1.0" encoding="UTF-8" standalone="yes"?>
<Relationships xmlns="http://schemas.openxmlformats.org/package/2006/relationships"><Relationship Id="rId8" Type="http://schemas.openxmlformats.org/officeDocument/2006/relationships/image" Target="../media/image138.svg"/><Relationship Id="rId13" Type="http://schemas.openxmlformats.org/officeDocument/2006/relationships/image" Target="../media/image141.png"/><Relationship Id="rId18" Type="http://schemas.openxmlformats.org/officeDocument/2006/relationships/image" Target="../media/image146.svg"/><Relationship Id="rId3" Type="http://schemas.openxmlformats.org/officeDocument/2006/relationships/notesSlide" Target="../notesSlides/notesSlide16.xml"/><Relationship Id="rId7" Type="http://schemas.openxmlformats.org/officeDocument/2006/relationships/image" Target="../media/image137.png"/><Relationship Id="rId12" Type="http://schemas.openxmlformats.org/officeDocument/2006/relationships/image" Target="../media/image140.svg"/><Relationship Id="rId17" Type="http://schemas.openxmlformats.org/officeDocument/2006/relationships/image" Target="../media/image145.png"/><Relationship Id="rId2" Type="http://schemas.openxmlformats.org/officeDocument/2006/relationships/slideLayout" Target="../slideLayouts/slideLayout114.xml"/><Relationship Id="rId16" Type="http://schemas.openxmlformats.org/officeDocument/2006/relationships/image" Target="../media/image144.svg"/><Relationship Id="rId1" Type="http://schemas.openxmlformats.org/officeDocument/2006/relationships/tags" Target="../tags/tag74.xml"/><Relationship Id="rId6" Type="http://schemas.openxmlformats.org/officeDocument/2006/relationships/image" Target="../media/image136.svg"/><Relationship Id="rId11" Type="http://schemas.openxmlformats.org/officeDocument/2006/relationships/image" Target="../media/image139.png"/><Relationship Id="rId5" Type="http://schemas.openxmlformats.org/officeDocument/2006/relationships/image" Target="../media/image135.png"/><Relationship Id="rId15" Type="http://schemas.openxmlformats.org/officeDocument/2006/relationships/image" Target="../media/image143.png"/><Relationship Id="rId10" Type="http://schemas.openxmlformats.org/officeDocument/2006/relationships/image" Target="../media/image55.svg"/><Relationship Id="rId4" Type="http://schemas.openxmlformats.org/officeDocument/2006/relationships/image" Target="../media/image134.jpeg"/><Relationship Id="rId9" Type="http://schemas.openxmlformats.org/officeDocument/2006/relationships/image" Target="../media/image54.png"/><Relationship Id="rId14" Type="http://schemas.openxmlformats.org/officeDocument/2006/relationships/image" Target="../media/image142.svg"/></Relationships>
</file>

<file path=ppt/slides/_rels/slide17.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notesSlide" Target="../notesSlides/notesSlide17.xml"/><Relationship Id="rId7" Type="http://schemas.openxmlformats.org/officeDocument/2006/relationships/image" Target="../media/image148.svg"/><Relationship Id="rId12" Type="http://schemas.openxmlformats.org/officeDocument/2006/relationships/image" Target="../media/image153.jpeg"/><Relationship Id="rId2" Type="http://schemas.openxmlformats.org/officeDocument/2006/relationships/slideLayout" Target="../slideLayouts/slideLayout114.xml"/><Relationship Id="rId1" Type="http://schemas.openxmlformats.org/officeDocument/2006/relationships/tags" Target="../tags/tag75.xml"/><Relationship Id="rId6" Type="http://schemas.openxmlformats.org/officeDocument/2006/relationships/image" Target="../media/image147.png"/><Relationship Id="rId11" Type="http://schemas.openxmlformats.org/officeDocument/2006/relationships/image" Target="../media/image152.svg"/><Relationship Id="rId5" Type="http://schemas.openxmlformats.org/officeDocument/2006/relationships/image" Target="../media/image81.svg"/><Relationship Id="rId10" Type="http://schemas.openxmlformats.org/officeDocument/2006/relationships/image" Target="../media/image151.png"/><Relationship Id="rId4" Type="http://schemas.openxmlformats.org/officeDocument/2006/relationships/image" Target="../media/image80.png"/><Relationship Id="rId9" Type="http://schemas.openxmlformats.org/officeDocument/2006/relationships/image" Target="../media/image150.svg"/></Relationships>
</file>

<file path=ppt/slides/_rels/slide18.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63.svg"/><Relationship Id="rId18" Type="http://schemas.openxmlformats.org/officeDocument/2006/relationships/image" Target="../media/image168.png"/><Relationship Id="rId3" Type="http://schemas.openxmlformats.org/officeDocument/2006/relationships/notesSlide" Target="../notesSlides/notesSlide18.xml"/><Relationship Id="rId21" Type="http://schemas.openxmlformats.org/officeDocument/2006/relationships/image" Target="../media/image49.svg"/><Relationship Id="rId7" Type="http://schemas.openxmlformats.org/officeDocument/2006/relationships/image" Target="../media/image157.svg"/><Relationship Id="rId12" Type="http://schemas.openxmlformats.org/officeDocument/2006/relationships/image" Target="../media/image162.png"/><Relationship Id="rId17" Type="http://schemas.openxmlformats.org/officeDocument/2006/relationships/image" Target="../media/image167.svg"/><Relationship Id="rId2" Type="http://schemas.openxmlformats.org/officeDocument/2006/relationships/slideLayout" Target="../slideLayouts/slideLayout112.xml"/><Relationship Id="rId16" Type="http://schemas.openxmlformats.org/officeDocument/2006/relationships/image" Target="../media/image166.png"/><Relationship Id="rId20" Type="http://schemas.openxmlformats.org/officeDocument/2006/relationships/image" Target="../media/image48.png"/><Relationship Id="rId1" Type="http://schemas.openxmlformats.org/officeDocument/2006/relationships/tags" Target="../tags/tag76.xml"/><Relationship Id="rId6" Type="http://schemas.openxmlformats.org/officeDocument/2006/relationships/image" Target="../media/image156.png"/><Relationship Id="rId11" Type="http://schemas.openxmlformats.org/officeDocument/2006/relationships/image" Target="../media/image161.svg"/><Relationship Id="rId5" Type="http://schemas.openxmlformats.org/officeDocument/2006/relationships/image" Target="../media/image155.svg"/><Relationship Id="rId15" Type="http://schemas.openxmlformats.org/officeDocument/2006/relationships/image" Target="../media/image165.svg"/><Relationship Id="rId10" Type="http://schemas.openxmlformats.org/officeDocument/2006/relationships/image" Target="../media/image160.png"/><Relationship Id="rId19" Type="http://schemas.openxmlformats.org/officeDocument/2006/relationships/image" Target="../media/image169.svg"/><Relationship Id="rId4" Type="http://schemas.openxmlformats.org/officeDocument/2006/relationships/image" Target="../media/image154.png"/><Relationship Id="rId9" Type="http://schemas.openxmlformats.org/officeDocument/2006/relationships/image" Target="../media/image159.svg"/><Relationship Id="rId14" Type="http://schemas.openxmlformats.org/officeDocument/2006/relationships/image" Target="../media/image164.png"/><Relationship Id="rId22" Type="http://schemas.openxmlformats.org/officeDocument/2006/relationships/image" Target="../media/image170.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3.xml"/><Relationship Id="rId1" Type="http://schemas.openxmlformats.org/officeDocument/2006/relationships/tags" Target="../tags/tag7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4.xml"/><Relationship Id="rId1" Type="http://schemas.openxmlformats.org/officeDocument/2006/relationships/tags" Target="../tags/tag7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12.xml"/><Relationship Id="rId1" Type="http://schemas.openxmlformats.org/officeDocument/2006/relationships/tags" Target="../tags/tag79.xml"/><Relationship Id="rId4" Type="http://schemas.openxmlformats.org/officeDocument/2006/relationships/image" Target="../media/image171.png"/></Relationships>
</file>

<file path=ppt/slides/_rels/slide22.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28.svg"/><Relationship Id="rId3" Type="http://schemas.openxmlformats.org/officeDocument/2006/relationships/notesSlide" Target="../notesSlides/notesSlide22.xml"/><Relationship Id="rId7" Type="http://schemas.openxmlformats.org/officeDocument/2006/relationships/image" Target="../media/image57.svg"/><Relationship Id="rId12" Type="http://schemas.openxmlformats.org/officeDocument/2006/relationships/image" Target="../media/image27.png"/><Relationship Id="rId17" Type="http://schemas.openxmlformats.org/officeDocument/2006/relationships/image" Target="../media/image175.png"/><Relationship Id="rId2" Type="http://schemas.openxmlformats.org/officeDocument/2006/relationships/slideLayout" Target="../slideLayouts/slideLayout112.xml"/><Relationship Id="rId16" Type="http://schemas.openxmlformats.org/officeDocument/2006/relationships/image" Target="../media/image174.png"/><Relationship Id="rId1" Type="http://schemas.openxmlformats.org/officeDocument/2006/relationships/tags" Target="../tags/tag80.xml"/><Relationship Id="rId6" Type="http://schemas.openxmlformats.org/officeDocument/2006/relationships/image" Target="../media/image56.png"/><Relationship Id="rId11" Type="http://schemas.openxmlformats.org/officeDocument/2006/relationships/image" Target="../media/image39.svg"/><Relationship Id="rId5" Type="http://schemas.openxmlformats.org/officeDocument/2006/relationships/image" Target="../media/image45.svg"/><Relationship Id="rId15" Type="http://schemas.openxmlformats.org/officeDocument/2006/relationships/image" Target="../media/image173.svg"/><Relationship Id="rId10" Type="http://schemas.openxmlformats.org/officeDocument/2006/relationships/image" Target="../media/image38.png"/><Relationship Id="rId4" Type="http://schemas.openxmlformats.org/officeDocument/2006/relationships/image" Target="../media/image44.png"/><Relationship Id="rId9" Type="http://schemas.openxmlformats.org/officeDocument/2006/relationships/image" Target="../media/image51.svg"/><Relationship Id="rId14" Type="http://schemas.openxmlformats.org/officeDocument/2006/relationships/image" Target="../media/image17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12.xml"/><Relationship Id="rId1" Type="http://schemas.openxmlformats.org/officeDocument/2006/relationships/tags" Target="../tags/tag8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25.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26.svg"/><Relationship Id="rId3" Type="http://schemas.openxmlformats.org/officeDocument/2006/relationships/notesSlide" Target="../notesSlides/notesSlide24.xml"/><Relationship Id="rId7" Type="http://schemas.openxmlformats.org/officeDocument/2006/relationships/image" Target="../media/image95.svg"/><Relationship Id="rId12" Type="http://schemas.openxmlformats.org/officeDocument/2006/relationships/image" Target="../media/image25.png"/><Relationship Id="rId2" Type="http://schemas.openxmlformats.org/officeDocument/2006/relationships/slideLayout" Target="../slideLayouts/slideLayout112.xml"/><Relationship Id="rId1" Type="http://schemas.openxmlformats.org/officeDocument/2006/relationships/tags" Target="../tags/tag82.xml"/><Relationship Id="rId6" Type="http://schemas.openxmlformats.org/officeDocument/2006/relationships/image" Target="../media/image94.png"/><Relationship Id="rId11" Type="http://schemas.openxmlformats.org/officeDocument/2006/relationships/image" Target="../media/image179.svg"/><Relationship Id="rId5" Type="http://schemas.openxmlformats.org/officeDocument/2006/relationships/image" Target="../media/image89.svg"/><Relationship Id="rId10" Type="http://schemas.openxmlformats.org/officeDocument/2006/relationships/image" Target="../media/image178.png"/><Relationship Id="rId4" Type="http://schemas.openxmlformats.org/officeDocument/2006/relationships/image" Target="../media/image88.png"/><Relationship Id="rId9" Type="http://schemas.openxmlformats.org/officeDocument/2006/relationships/image" Target="../media/image177.svg"/></Relationships>
</file>

<file path=ppt/slides/_rels/slide26.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7.svg"/><Relationship Id="rId18" Type="http://schemas.openxmlformats.org/officeDocument/2006/relationships/image" Target="../media/image190.png"/><Relationship Id="rId3" Type="http://schemas.openxmlformats.org/officeDocument/2006/relationships/notesSlide" Target="../notesSlides/notesSlide25.xml"/><Relationship Id="rId7" Type="http://schemas.openxmlformats.org/officeDocument/2006/relationships/image" Target="../media/image183.svg"/><Relationship Id="rId12" Type="http://schemas.openxmlformats.org/officeDocument/2006/relationships/image" Target="../media/image186.png"/><Relationship Id="rId17" Type="http://schemas.openxmlformats.org/officeDocument/2006/relationships/image" Target="../media/image165.svg"/><Relationship Id="rId2" Type="http://schemas.openxmlformats.org/officeDocument/2006/relationships/slideLayout" Target="../slideLayouts/slideLayout112.xml"/><Relationship Id="rId16" Type="http://schemas.openxmlformats.org/officeDocument/2006/relationships/image" Target="../media/image164.png"/><Relationship Id="rId1" Type="http://schemas.openxmlformats.org/officeDocument/2006/relationships/tags" Target="../tags/tag83.xml"/><Relationship Id="rId6" Type="http://schemas.openxmlformats.org/officeDocument/2006/relationships/image" Target="../media/image182.png"/><Relationship Id="rId11" Type="http://schemas.openxmlformats.org/officeDocument/2006/relationships/image" Target="../media/image185.svg"/><Relationship Id="rId5" Type="http://schemas.openxmlformats.org/officeDocument/2006/relationships/image" Target="../media/image181.svg"/><Relationship Id="rId15" Type="http://schemas.openxmlformats.org/officeDocument/2006/relationships/image" Target="../media/image189.svg"/><Relationship Id="rId10" Type="http://schemas.openxmlformats.org/officeDocument/2006/relationships/image" Target="../media/image184.png"/><Relationship Id="rId19" Type="http://schemas.openxmlformats.org/officeDocument/2006/relationships/image" Target="../media/image191.svg"/><Relationship Id="rId4" Type="http://schemas.openxmlformats.org/officeDocument/2006/relationships/image" Target="../media/image180.png"/><Relationship Id="rId9" Type="http://schemas.openxmlformats.org/officeDocument/2006/relationships/image" Target="../media/image177.svg"/><Relationship Id="rId14" Type="http://schemas.openxmlformats.org/officeDocument/2006/relationships/image" Target="../media/image18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8.xml"/><Relationship Id="rId1" Type="http://schemas.openxmlformats.org/officeDocument/2006/relationships/tags" Target="../tags/tag84.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12.xml"/><Relationship Id="rId1" Type="http://schemas.openxmlformats.org/officeDocument/2006/relationships/tags" Target="../tags/tag85.xml"/><Relationship Id="rId5" Type="http://schemas.openxmlformats.org/officeDocument/2006/relationships/image" Target="../media/image136.svg"/><Relationship Id="rId4" Type="http://schemas.openxmlformats.org/officeDocument/2006/relationships/image" Target="../media/image135.png"/></Relationships>
</file>

<file path=ppt/slides/_rels/slide29.xml.rels><?xml version="1.0" encoding="UTF-8" standalone="yes"?>
<Relationships xmlns="http://schemas.openxmlformats.org/package/2006/relationships"><Relationship Id="rId8" Type="http://schemas.openxmlformats.org/officeDocument/2006/relationships/image" Target="../media/image196.png"/><Relationship Id="rId3" Type="http://schemas.openxmlformats.org/officeDocument/2006/relationships/notesSlide" Target="../notesSlides/notesSlide28.xml"/><Relationship Id="rId7" Type="http://schemas.openxmlformats.org/officeDocument/2006/relationships/image" Target="../media/image195.svg"/><Relationship Id="rId2" Type="http://schemas.openxmlformats.org/officeDocument/2006/relationships/slideLayout" Target="../slideLayouts/slideLayout112.xml"/><Relationship Id="rId1" Type="http://schemas.openxmlformats.org/officeDocument/2006/relationships/tags" Target="../tags/tag86.xml"/><Relationship Id="rId6" Type="http://schemas.openxmlformats.org/officeDocument/2006/relationships/image" Target="../media/image194.png"/><Relationship Id="rId11" Type="http://schemas.openxmlformats.org/officeDocument/2006/relationships/image" Target="../media/image198.svg"/><Relationship Id="rId5" Type="http://schemas.openxmlformats.org/officeDocument/2006/relationships/image" Target="../media/image193.svg"/><Relationship Id="rId10" Type="http://schemas.openxmlformats.org/officeDocument/2006/relationships/image" Target="../media/image197.png"/><Relationship Id="rId4" Type="http://schemas.openxmlformats.org/officeDocument/2006/relationships/image" Target="../media/image192.png"/><Relationship Id="rId9" Type="http://schemas.microsoft.com/office/2007/relationships/hdphoto" Target="../media/hdphoto4.wdp"/></Relationships>
</file>

<file path=ppt/slides/_rels/slide30.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notesSlide" Target="../notesSlides/notesSlide29.xml"/><Relationship Id="rId7" Type="http://schemas.openxmlformats.org/officeDocument/2006/relationships/image" Target="../media/image200.svg"/><Relationship Id="rId2" Type="http://schemas.openxmlformats.org/officeDocument/2006/relationships/slideLayout" Target="../slideLayouts/slideLayout112.xml"/><Relationship Id="rId1" Type="http://schemas.openxmlformats.org/officeDocument/2006/relationships/tags" Target="../tags/tag87.xml"/><Relationship Id="rId6" Type="http://schemas.openxmlformats.org/officeDocument/2006/relationships/image" Target="../media/image199.png"/><Relationship Id="rId5" Type="http://schemas.openxmlformats.org/officeDocument/2006/relationships/image" Target="../media/image183.svg"/><Relationship Id="rId4" Type="http://schemas.openxmlformats.org/officeDocument/2006/relationships/image" Target="../media/image182.png"/><Relationship Id="rId9" Type="http://schemas.openxmlformats.org/officeDocument/2006/relationships/image" Target="../media/image165.svg"/></Relationships>
</file>

<file path=ppt/slides/_rels/slide31.xml.rels><?xml version="1.0" encoding="UTF-8" standalone="yes"?>
<Relationships xmlns="http://schemas.openxmlformats.org/package/2006/relationships"><Relationship Id="rId8" Type="http://schemas.openxmlformats.org/officeDocument/2006/relationships/image" Target="../media/image205.svg"/><Relationship Id="rId3" Type="http://schemas.openxmlformats.org/officeDocument/2006/relationships/notesSlide" Target="../notesSlides/notesSlide30.xml"/><Relationship Id="rId7" Type="http://schemas.openxmlformats.org/officeDocument/2006/relationships/image" Target="../media/image204.png"/><Relationship Id="rId2" Type="http://schemas.openxmlformats.org/officeDocument/2006/relationships/slideLayout" Target="../slideLayouts/slideLayout112.xml"/><Relationship Id="rId1" Type="http://schemas.openxmlformats.org/officeDocument/2006/relationships/tags" Target="../tags/tag88.xml"/><Relationship Id="rId6" Type="http://schemas.openxmlformats.org/officeDocument/2006/relationships/image" Target="../media/image203.svg"/><Relationship Id="rId5" Type="http://schemas.openxmlformats.org/officeDocument/2006/relationships/image" Target="../media/image202.png"/><Relationship Id="rId4" Type="http://schemas.openxmlformats.org/officeDocument/2006/relationships/image" Target="../media/image201.jpeg"/><Relationship Id="rId9" Type="http://schemas.openxmlformats.org/officeDocument/2006/relationships/image" Target="../media/image206.tiff"/></Relationships>
</file>

<file path=ppt/slides/_rels/slide32.xml.rels><?xml version="1.0" encoding="UTF-8" standalone="yes"?>
<Relationships xmlns="http://schemas.openxmlformats.org/package/2006/relationships"><Relationship Id="rId8" Type="http://schemas.openxmlformats.org/officeDocument/2006/relationships/image" Target="../media/image209.svg"/><Relationship Id="rId3" Type="http://schemas.openxmlformats.org/officeDocument/2006/relationships/notesSlide" Target="../notesSlides/notesSlide31.xml"/><Relationship Id="rId7" Type="http://schemas.openxmlformats.org/officeDocument/2006/relationships/image" Target="../media/image208.png"/><Relationship Id="rId12" Type="http://schemas.openxmlformats.org/officeDocument/2006/relationships/image" Target="../media/image211.svg"/><Relationship Id="rId2" Type="http://schemas.openxmlformats.org/officeDocument/2006/relationships/slideLayout" Target="../slideLayouts/slideLayout112.xml"/><Relationship Id="rId1" Type="http://schemas.openxmlformats.org/officeDocument/2006/relationships/tags" Target="../tags/tag89.xml"/><Relationship Id="rId6" Type="http://schemas.openxmlformats.org/officeDocument/2006/relationships/image" Target="../media/image195.svg"/><Relationship Id="rId11" Type="http://schemas.openxmlformats.org/officeDocument/2006/relationships/image" Target="../media/image210.png"/><Relationship Id="rId5" Type="http://schemas.openxmlformats.org/officeDocument/2006/relationships/image" Target="../media/image194.png"/><Relationship Id="rId10" Type="http://schemas.openxmlformats.org/officeDocument/2006/relationships/image" Target="../media/image191.svg"/><Relationship Id="rId4" Type="http://schemas.openxmlformats.org/officeDocument/2006/relationships/image" Target="../media/image207.png"/><Relationship Id="rId9" Type="http://schemas.openxmlformats.org/officeDocument/2006/relationships/image" Target="../media/image19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12.xml"/><Relationship Id="rId1" Type="http://schemas.openxmlformats.org/officeDocument/2006/relationships/tags" Target="../tags/tag90.xml"/><Relationship Id="rId5" Type="http://schemas.openxmlformats.org/officeDocument/2006/relationships/image" Target="../media/image209.svg"/><Relationship Id="rId4" Type="http://schemas.openxmlformats.org/officeDocument/2006/relationships/image" Target="../media/image20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12.xml"/><Relationship Id="rId1" Type="http://schemas.openxmlformats.org/officeDocument/2006/relationships/tags" Target="../tags/tag91.xml"/><Relationship Id="rId5" Type="http://schemas.openxmlformats.org/officeDocument/2006/relationships/image" Target="../media/image209.svg"/><Relationship Id="rId4" Type="http://schemas.openxmlformats.org/officeDocument/2006/relationships/image" Target="../media/image20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12.xml"/><Relationship Id="rId1" Type="http://schemas.openxmlformats.org/officeDocument/2006/relationships/tags" Target="../tags/tag92.xml"/><Relationship Id="rId5" Type="http://schemas.openxmlformats.org/officeDocument/2006/relationships/image" Target="../media/image209.svg"/><Relationship Id="rId4" Type="http://schemas.openxmlformats.org/officeDocument/2006/relationships/image" Target="../media/image208.png"/></Relationships>
</file>

<file path=ppt/slides/_rels/slide36.xml.rels><?xml version="1.0" encoding="UTF-8" standalone="yes"?>
<Relationships xmlns="http://schemas.openxmlformats.org/package/2006/relationships"><Relationship Id="rId8" Type="http://schemas.openxmlformats.org/officeDocument/2006/relationships/image" Target="../media/image192.png"/><Relationship Id="rId3" Type="http://schemas.openxmlformats.org/officeDocument/2006/relationships/notesSlide" Target="../notesSlides/notesSlide35.xml"/><Relationship Id="rId7" Type="http://schemas.openxmlformats.org/officeDocument/2006/relationships/image" Target="../media/image198.svg"/><Relationship Id="rId2" Type="http://schemas.openxmlformats.org/officeDocument/2006/relationships/slideLayout" Target="../slideLayouts/slideLayout112.xml"/><Relationship Id="rId1" Type="http://schemas.openxmlformats.org/officeDocument/2006/relationships/tags" Target="../tags/tag93.xml"/><Relationship Id="rId6" Type="http://schemas.openxmlformats.org/officeDocument/2006/relationships/image" Target="../media/image197.png"/><Relationship Id="rId11" Type="http://schemas.openxmlformats.org/officeDocument/2006/relationships/image" Target="../media/image195.svg"/><Relationship Id="rId5" Type="http://schemas.openxmlformats.org/officeDocument/2006/relationships/image" Target="../media/image209.svg"/><Relationship Id="rId10" Type="http://schemas.openxmlformats.org/officeDocument/2006/relationships/image" Target="../media/image194.png"/><Relationship Id="rId4" Type="http://schemas.openxmlformats.org/officeDocument/2006/relationships/image" Target="../media/image208.png"/><Relationship Id="rId9" Type="http://schemas.openxmlformats.org/officeDocument/2006/relationships/image" Target="../media/image193.sv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12.xml"/><Relationship Id="rId1" Type="http://schemas.openxmlformats.org/officeDocument/2006/relationships/tags" Target="../tags/tag94.xml"/><Relationship Id="rId4" Type="http://schemas.openxmlformats.org/officeDocument/2006/relationships/image" Target="../media/image212.png"/></Relationships>
</file>

<file path=ppt/slides/_rels/slide38.xml.rels><?xml version="1.0" encoding="UTF-8" standalone="yes"?>
<Relationships xmlns="http://schemas.openxmlformats.org/package/2006/relationships"><Relationship Id="rId8" Type="http://schemas.openxmlformats.org/officeDocument/2006/relationships/image" Target="../media/image215.png"/><Relationship Id="rId3" Type="http://schemas.openxmlformats.org/officeDocument/2006/relationships/notesSlide" Target="../notesSlides/notesSlide37.xml"/><Relationship Id="rId7" Type="http://schemas.openxmlformats.org/officeDocument/2006/relationships/image" Target="../media/image209.svg"/><Relationship Id="rId2" Type="http://schemas.openxmlformats.org/officeDocument/2006/relationships/slideLayout" Target="../slideLayouts/slideLayout112.xml"/><Relationship Id="rId1" Type="http://schemas.openxmlformats.org/officeDocument/2006/relationships/tags" Target="../tags/tag95.xml"/><Relationship Id="rId6" Type="http://schemas.openxmlformats.org/officeDocument/2006/relationships/image" Target="../media/image208.png"/><Relationship Id="rId11" Type="http://schemas.openxmlformats.org/officeDocument/2006/relationships/image" Target="../media/image193.svg"/><Relationship Id="rId5" Type="http://schemas.openxmlformats.org/officeDocument/2006/relationships/image" Target="../media/image214.svg"/><Relationship Id="rId10" Type="http://schemas.openxmlformats.org/officeDocument/2006/relationships/image" Target="../media/image192.png"/><Relationship Id="rId4" Type="http://schemas.openxmlformats.org/officeDocument/2006/relationships/image" Target="../media/image213.png"/><Relationship Id="rId9" Type="http://schemas.openxmlformats.org/officeDocument/2006/relationships/image" Target="../media/image216.sv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12.xml"/><Relationship Id="rId1" Type="http://schemas.openxmlformats.org/officeDocument/2006/relationships/tags" Target="../tags/tag9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12.xml"/><Relationship Id="rId1" Type="http://schemas.openxmlformats.org/officeDocument/2006/relationships/tags" Target="../tags/tag97.xml"/><Relationship Id="rId5" Type="http://schemas.openxmlformats.org/officeDocument/2006/relationships/image" Target="../media/image214.svg"/><Relationship Id="rId4" Type="http://schemas.openxmlformats.org/officeDocument/2006/relationships/image" Target="../media/image21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12.xml"/><Relationship Id="rId1" Type="http://schemas.openxmlformats.org/officeDocument/2006/relationships/tags" Target="../tags/tag98.xml"/><Relationship Id="rId5" Type="http://schemas.openxmlformats.org/officeDocument/2006/relationships/image" Target="../media/image198.svg"/><Relationship Id="rId4" Type="http://schemas.openxmlformats.org/officeDocument/2006/relationships/image" Target="../media/image197.png"/></Relationships>
</file>

<file path=ppt/slides/_rels/slide42.xml.rels><?xml version="1.0" encoding="UTF-8" standalone="yes"?>
<Relationships xmlns="http://schemas.openxmlformats.org/package/2006/relationships"><Relationship Id="rId8" Type="http://schemas.openxmlformats.org/officeDocument/2006/relationships/image" Target="../media/image219.png"/><Relationship Id="rId13" Type="http://schemas.openxmlformats.org/officeDocument/2006/relationships/image" Target="../media/image208.png"/><Relationship Id="rId3" Type="http://schemas.openxmlformats.org/officeDocument/2006/relationships/notesSlide" Target="../notesSlides/notesSlide41.xml"/><Relationship Id="rId7" Type="http://schemas.openxmlformats.org/officeDocument/2006/relationships/image" Target="../media/image189.svg"/><Relationship Id="rId12" Type="http://schemas.openxmlformats.org/officeDocument/2006/relationships/image" Target="../media/image198.svg"/><Relationship Id="rId2" Type="http://schemas.openxmlformats.org/officeDocument/2006/relationships/slideLayout" Target="../slideLayouts/slideLayout112.xml"/><Relationship Id="rId1" Type="http://schemas.openxmlformats.org/officeDocument/2006/relationships/tags" Target="../tags/tag99.xml"/><Relationship Id="rId6" Type="http://schemas.openxmlformats.org/officeDocument/2006/relationships/image" Target="../media/image188.png"/><Relationship Id="rId11" Type="http://schemas.openxmlformats.org/officeDocument/2006/relationships/image" Target="../media/image197.png"/><Relationship Id="rId5" Type="http://schemas.openxmlformats.org/officeDocument/2006/relationships/image" Target="../media/image218.svg"/><Relationship Id="rId10" Type="http://schemas.openxmlformats.org/officeDocument/2006/relationships/image" Target="../media/image216.svg"/><Relationship Id="rId4" Type="http://schemas.openxmlformats.org/officeDocument/2006/relationships/image" Target="../media/image217.png"/><Relationship Id="rId9" Type="http://schemas.openxmlformats.org/officeDocument/2006/relationships/image" Target="../media/image215.png"/><Relationship Id="rId14" Type="http://schemas.openxmlformats.org/officeDocument/2006/relationships/image" Target="../media/image209.sv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13.xml"/><Relationship Id="rId1" Type="http://schemas.openxmlformats.org/officeDocument/2006/relationships/tags" Target="../tags/tag10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12.xml"/><Relationship Id="rId1" Type="http://schemas.openxmlformats.org/officeDocument/2006/relationships/tags" Target="../tags/tag101.xml"/><Relationship Id="rId5" Type="http://schemas.openxmlformats.org/officeDocument/2006/relationships/image" Target="../media/image221.svg"/><Relationship Id="rId4" Type="http://schemas.openxmlformats.org/officeDocument/2006/relationships/image" Target="../media/image220.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12.xml"/><Relationship Id="rId1" Type="http://schemas.openxmlformats.org/officeDocument/2006/relationships/tags" Target="../tags/tag10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12.xml"/><Relationship Id="rId1" Type="http://schemas.openxmlformats.org/officeDocument/2006/relationships/tags" Target="../tags/tag103.xml"/><Relationship Id="rId5" Type="http://schemas.openxmlformats.org/officeDocument/2006/relationships/image" Target="../media/image138.svg"/><Relationship Id="rId4" Type="http://schemas.openxmlformats.org/officeDocument/2006/relationships/image" Target="../media/image13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12.xml"/><Relationship Id="rId1" Type="http://schemas.openxmlformats.org/officeDocument/2006/relationships/tags" Target="../tags/tag104.xml"/><Relationship Id="rId5" Type="http://schemas.openxmlformats.org/officeDocument/2006/relationships/image" Target="../media/image142.svg"/><Relationship Id="rId4" Type="http://schemas.openxmlformats.org/officeDocument/2006/relationships/image" Target="../media/image14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12.xml"/><Relationship Id="rId1" Type="http://schemas.openxmlformats.org/officeDocument/2006/relationships/tags" Target="../tags/tag105.xml"/><Relationship Id="rId5" Type="http://schemas.openxmlformats.org/officeDocument/2006/relationships/image" Target="../media/image146.svg"/><Relationship Id="rId4" Type="http://schemas.openxmlformats.org/officeDocument/2006/relationships/image" Target="../media/image14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13.xml"/><Relationship Id="rId1" Type="http://schemas.openxmlformats.org/officeDocument/2006/relationships/tags" Target="../tags/tag106.xml"/></Relationships>
</file>

<file path=ppt/slides/_rels/slide50.xml.rels><?xml version="1.0" encoding="UTF-8" standalone="yes"?>
<Relationships xmlns="http://schemas.openxmlformats.org/package/2006/relationships"><Relationship Id="rId8" Type="http://schemas.openxmlformats.org/officeDocument/2006/relationships/image" Target="../media/image226.png"/><Relationship Id="rId3" Type="http://schemas.openxmlformats.org/officeDocument/2006/relationships/notesSlide" Target="../notesSlides/notesSlide49.xml"/><Relationship Id="rId7" Type="http://schemas.openxmlformats.org/officeDocument/2006/relationships/image" Target="../media/image225.svg"/><Relationship Id="rId2" Type="http://schemas.openxmlformats.org/officeDocument/2006/relationships/slideLayout" Target="../slideLayouts/slideLayout112.xml"/><Relationship Id="rId1" Type="http://schemas.openxmlformats.org/officeDocument/2006/relationships/tags" Target="../tags/tag107.xml"/><Relationship Id="rId6" Type="http://schemas.openxmlformats.org/officeDocument/2006/relationships/image" Target="../media/image224.png"/><Relationship Id="rId11" Type="http://schemas.openxmlformats.org/officeDocument/2006/relationships/image" Target="../media/image229.svg"/><Relationship Id="rId5" Type="http://schemas.openxmlformats.org/officeDocument/2006/relationships/image" Target="../media/image223.svg"/><Relationship Id="rId10" Type="http://schemas.openxmlformats.org/officeDocument/2006/relationships/image" Target="../media/image228.png"/><Relationship Id="rId4" Type="http://schemas.openxmlformats.org/officeDocument/2006/relationships/image" Target="../media/image222.png"/><Relationship Id="rId9" Type="http://schemas.openxmlformats.org/officeDocument/2006/relationships/image" Target="../media/image227.svg"/></Relationships>
</file>

<file path=ppt/slides/_rels/slide51.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233.svg"/><Relationship Id="rId18" Type="http://schemas.openxmlformats.org/officeDocument/2006/relationships/image" Target="../media/image234.png"/><Relationship Id="rId3" Type="http://schemas.openxmlformats.org/officeDocument/2006/relationships/notesSlide" Target="../notesSlides/notesSlide50.xml"/><Relationship Id="rId7" Type="http://schemas.openxmlformats.org/officeDocument/2006/relationships/image" Target="../media/image218.svg"/><Relationship Id="rId12" Type="http://schemas.openxmlformats.org/officeDocument/2006/relationships/image" Target="../media/image232.png"/><Relationship Id="rId17" Type="http://schemas.openxmlformats.org/officeDocument/2006/relationships/image" Target="../media/image30.svg"/><Relationship Id="rId2" Type="http://schemas.openxmlformats.org/officeDocument/2006/relationships/slideLayout" Target="../slideLayouts/slideLayout112.xml"/><Relationship Id="rId16" Type="http://schemas.openxmlformats.org/officeDocument/2006/relationships/image" Target="../media/image29.png"/><Relationship Id="rId1" Type="http://schemas.openxmlformats.org/officeDocument/2006/relationships/tags" Target="../tags/tag108.xml"/><Relationship Id="rId6" Type="http://schemas.openxmlformats.org/officeDocument/2006/relationships/image" Target="../media/image217.png"/><Relationship Id="rId11" Type="http://schemas.openxmlformats.org/officeDocument/2006/relationships/image" Target="../media/image95.svg"/><Relationship Id="rId5" Type="http://schemas.openxmlformats.org/officeDocument/2006/relationships/image" Target="../media/image231.svg"/><Relationship Id="rId15" Type="http://schemas.openxmlformats.org/officeDocument/2006/relationships/image" Target="../media/image89.svg"/><Relationship Id="rId10" Type="http://schemas.openxmlformats.org/officeDocument/2006/relationships/image" Target="../media/image94.png"/><Relationship Id="rId19" Type="http://schemas.openxmlformats.org/officeDocument/2006/relationships/image" Target="../media/image235.svg"/><Relationship Id="rId4" Type="http://schemas.openxmlformats.org/officeDocument/2006/relationships/image" Target="../media/image230.png"/><Relationship Id="rId9" Type="http://schemas.openxmlformats.org/officeDocument/2006/relationships/image" Target="../media/image87.svg"/><Relationship Id="rId14" Type="http://schemas.openxmlformats.org/officeDocument/2006/relationships/image" Target="../media/image8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7" Type="http://schemas.openxmlformats.org/officeDocument/2006/relationships/hyperlink" Target="https://aws.amazon.com/premiumsupport/trustedadvisor/" TargetMode="External"/><Relationship Id="rId2" Type="http://schemas.openxmlformats.org/officeDocument/2006/relationships/slideLayout" Target="../slideLayouts/slideLayout112.xml"/><Relationship Id="rId1" Type="http://schemas.openxmlformats.org/officeDocument/2006/relationships/tags" Target="../tags/tag109.xml"/><Relationship Id="rId6" Type="http://schemas.openxmlformats.org/officeDocument/2006/relationships/hyperlink" Target="https://docs.aws.amazon.com/AmazonS3/latest/dev/acl-overview.html" TargetMode="External"/><Relationship Id="rId5" Type="http://schemas.openxmlformats.org/officeDocument/2006/relationships/hyperlink" Target="https://docs.aws.amazon.com/AmazonS3/latest/dev/using-iam-policies.html" TargetMode="External"/><Relationship Id="rId4" Type="http://schemas.openxmlformats.org/officeDocument/2006/relationships/hyperlink" Target="https://aws.amazon.com/blogs/aws/amazon-s3-block-public-access-another-layer-of-protection-for-your-accounts-and-buckets/" TargetMode="Externa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13.xml"/><Relationship Id="rId1" Type="http://schemas.openxmlformats.org/officeDocument/2006/relationships/tags" Target="../tags/tag1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12.xml"/><Relationship Id="rId1" Type="http://schemas.openxmlformats.org/officeDocument/2006/relationships/tags" Target="../tags/tag111.xml"/><Relationship Id="rId6" Type="http://schemas.openxmlformats.org/officeDocument/2006/relationships/image" Target="../media/image238.png"/><Relationship Id="rId5" Type="http://schemas.openxmlformats.org/officeDocument/2006/relationships/image" Target="../media/image237.png"/><Relationship Id="rId4" Type="http://schemas.openxmlformats.org/officeDocument/2006/relationships/image" Target="../media/image236.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12.xml"/><Relationship Id="rId1" Type="http://schemas.openxmlformats.org/officeDocument/2006/relationships/tags" Target="../tags/tag112.xml"/><Relationship Id="rId6" Type="http://schemas.openxmlformats.org/officeDocument/2006/relationships/image" Target="../media/image239.tiff"/><Relationship Id="rId5" Type="http://schemas.openxmlformats.org/officeDocument/2006/relationships/image" Target="../media/image163.svg"/><Relationship Id="rId4" Type="http://schemas.openxmlformats.org/officeDocument/2006/relationships/image" Target="../media/image16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12.xml"/><Relationship Id="rId1" Type="http://schemas.openxmlformats.org/officeDocument/2006/relationships/tags" Target="../tags/tag113.xml"/><Relationship Id="rId5" Type="http://schemas.openxmlformats.org/officeDocument/2006/relationships/image" Target="../media/image144.svg"/><Relationship Id="rId4"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AWS Global Infrastructure</a:t>
            </a:r>
          </a:p>
        </p:txBody>
      </p:sp>
      <p:sp>
        <p:nvSpPr>
          <p:cNvPr id="3" name="Text Placeholder 2">
            <a:extLst>
              <a:ext uri="{FF2B5EF4-FFF2-40B4-BE49-F238E27FC236}">
                <a16:creationId xmlns:a16="http://schemas.microsoft.com/office/drawing/2014/main" id="{31EF676F-5C1A-5B47-8738-57CBE2A00030}"/>
              </a:ext>
            </a:extLst>
          </p:cNvPr>
          <p:cNvSpPr>
            <a:spLocks noGrp="1"/>
          </p:cNvSpPr>
          <p:nvPr>
            <p:ph type="body" sz="quarter" idx="10"/>
          </p:nvPr>
        </p:nvSpPr>
        <p:spPr/>
        <p:txBody>
          <a:bodyPr>
            <a:normAutofit/>
          </a:bodyPr>
          <a:lstStyle/>
          <a:p>
            <a:r>
              <a:rPr lang="en-US" dirty="0"/>
              <a:t>Module 3: AWS Global Infrastructure Overview</a:t>
            </a:r>
          </a:p>
          <a:p>
            <a:endParaRPr lang="en-US" dirty="0"/>
          </a:p>
        </p:txBody>
      </p:sp>
      <p:sp>
        <p:nvSpPr>
          <p:cNvPr id="4" name="Text Placeholder 3">
            <a:extLst>
              <a:ext uri="{FF2B5EF4-FFF2-40B4-BE49-F238E27FC236}">
                <a16:creationId xmlns:a16="http://schemas.microsoft.com/office/drawing/2014/main" id="{919AF167-A6B2-91CF-B11D-73A085DE5992}"/>
              </a:ext>
            </a:extLst>
          </p:cNvPr>
          <p:cNvSpPr>
            <a:spLocks noGrp="1"/>
          </p:cNvSpPr>
          <p:nvPr>
            <p:ph type="body" sz="quarter" idx="11"/>
          </p:nvPr>
        </p:nvSpPr>
        <p:spPr/>
        <p:txBody>
          <a:bodyPr/>
          <a:lstStyle/>
          <a:p>
            <a:endParaRPr lang="en-US"/>
          </a:p>
        </p:txBody>
      </p:sp>
    </p:spTree>
    <p:custDataLst>
      <p:tags r:id="rId1"/>
    </p:custDataLst>
    <p:extLst>
      <p:ext uri="{BB962C8B-B14F-4D97-AF65-F5344CB8AC3E}">
        <p14:creationId xmlns:p14="http://schemas.microsoft.com/office/powerpoint/2010/main" val="3980773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A561968-5A22-64B4-BCC9-7BB48ABE2E09}"/>
              </a:ext>
            </a:extLst>
          </p:cNvPr>
          <p:cNvSpPr>
            <a:spLocks noGrp="1"/>
          </p:cNvSpPr>
          <p:nvPr>
            <p:ph type="body" sz="quarter" idx="11"/>
          </p:nvPr>
        </p:nvSpPr>
        <p:spPr/>
        <p:txBody>
          <a:bodyPr/>
          <a:lstStyle/>
          <a:p>
            <a:endParaRPr lang="en-US"/>
          </a:p>
        </p:txBody>
      </p:sp>
      <p:sp>
        <p:nvSpPr>
          <p:cNvPr id="3" name="Content Placeholder 2">
            <a:extLst>
              <a:ext uri="{FF2B5EF4-FFF2-40B4-BE49-F238E27FC236}">
                <a16:creationId xmlns:a16="http://schemas.microsoft.com/office/drawing/2014/main" id="{CD187013-BE72-8142-9E68-CB78B2916219}"/>
              </a:ext>
            </a:extLst>
          </p:cNvPr>
          <p:cNvSpPr>
            <a:spLocks noGrp="1"/>
          </p:cNvSpPr>
          <p:nvPr>
            <p:ph type="body" sz="quarter" idx="10"/>
          </p:nvPr>
        </p:nvSpPr>
        <p:spPr/>
        <p:txBody>
          <a:bodyPr>
            <a:normAutofit/>
          </a:bodyPr>
          <a:lstStyle/>
          <a:p>
            <a:r>
              <a:rPr lang="en-US" sz="1800" dirty="0"/>
              <a:t>The </a:t>
            </a:r>
            <a:r>
              <a:rPr lang="en-US" sz="1800" b="1" dirty="0">
                <a:solidFill>
                  <a:srgbClr val="504BAB"/>
                </a:solidFill>
              </a:rPr>
              <a:t>AWS Global Infrastructure </a:t>
            </a:r>
            <a:r>
              <a:rPr lang="en-US" sz="1800" dirty="0"/>
              <a:t>is designed and built to deliver a </a:t>
            </a:r>
            <a:r>
              <a:rPr lang="en-US" sz="1800" b="1" dirty="0">
                <a:solidFill>
                  <a:srgbClr val="504BAB"/>
                </a:solidFill>
              </a:rPr>
              <a:t>flexible</a:t>
            </a:r>
            <a:r>
              <a:rPr lang="en-US" sz="1800" dirty="0"/>
              <a:t>, </a:t>
            </a:r>
            <a:r>
              <a:rPr lang="en-US" sz="1800" b="1" dirty="0">
                <a:solidFill>
                  <a:srgbClr val="504BAB"/>
                </a:solidFill>
              </a:rPr>
              <a:t>reliable</a:t>
            </a:r>
            <a:r>
              <a:rPr lang="en-US" sz="1800" dirty="0"/>
              <a:t>, </a:t>
            </a:r>
            <a:r>
              <a:rPr lang="en-US" sz="1800" b="1" dirty="0">
                <a:solidFill>
                  <a:srgbClr val="504BAB"/>
                </a:solidFill>
              </a:rPr>
              <a:t>scalable</a:t>
            </a:r>
            <a:r>
              <a:rPr lang="en-US" sz="1800" dirty="0"/>
              <a:t>, and </a:t>
            </a:r>
            <a:r>
              <a:rPr lang="en-US" sz="1800" b="1" dirty="0">
                <a:solidFill>
                  <a:srgbClr val="504BAB"/>
                </a:solidFill>
              </a:rPr>
              <a:t>secure</a:t>
            </a:r>
            <a:r>
              <a:rPr lang="en-US" sz="1800" dirty="0"/>
              <a:t> cloud computing environment with high-quality </a:t>
            </a:r>
            <a:r>
              <a:rPr lang="en-US" sz="1800" b="1" dirty="0">
                <a:solidFill>
                  <a:srgbClr val="504BAB"/>
                </a:solidFill>
              </a:rPr>
              <a:t>global</a:t>
            </a:r>
            <a:r>
              <a:rPr lang="en-US" sz="1800" b="1" dirty="0">
                <a:solidFill>
                  <a:schemeClr val="accent5"/>
                </a:solidFill>
              </a:rPr>
              <a:t> </a:t>
            </a:r>
            <a:r>
              <a:rPr lang="en-US" sz="1800" b="1" dirty="0">
                <a:solidFill>
                  <a:srgbClr val="504BAB"/>
                </a:solidFill>
              </a:rPr>
              <a:t>network</a:t>
            </a:r>
            <a:r>
              <a:rPr lang="en-US" sz="1800" b="1" dirty="0">
                <a:solidFill>
                  <a:schemeClr val="accent5"/>
                </a:solidFill>
              </a:rPr>
              <a:t> </a:t>
            </a:r>
            <a:r>
              <a:rPr lang="en-US" sz="1800" b="1" dirty="0">
                <a:solidFill>
                  <a:srgbClr val="504BAB"/>
                </a:solidFill>
              </a:rPr>
              <a:t>performance</a:t>
            </a:r>
            <a:r>
              <a:rPr lang="en-US" sz="1800" dirty="0"/>
              <a:t>. </a:t>
            </a:r>
          </a:p>
          <a:p>
            <a:r>
              <a:rPr lang="en-US" dirty="0">
                <a:hlinkClick r:id="rId4"/>
              </a:rPr>
              <a:t>https://</a:t>
            </a:r>
            <a:r>
              <a:rPr lang="en-US" dirty="0" err="1">
                <a:hlinkClick r:id="rId4"/>
              </a:rPr>
              <a:t>aws.amazon.com</a:t>
            </a:r>
            <a:r>
              <a:rPr lang="en-US" dirty="0">
                <a:hlinkClick r:id="rId4"/>
              </a:rPr>
              <a:t>/about-</a:t>
            </a:r>
            <a:r>
              <a:rPr lang="en-US" dirty="0" err="1">
                <a:hlinkClick r:id="rId4"/>
              </a:rPr>
              <a:t>aws</a:t>
            </a:r>
            <a:r>
              <a:rPr lang="en-US" dirty="0">
                <a:hlinkClick r:id="rId4"/>
              </a:rPr>
              <a:t>/global-infrastructure/#</a:t>
            </a:r>
            <a:r>
              <a:rPr lang="en-US" dirty="0" err="1">
                <a:hlinkClick r:id="rId4"/>
              </a:rPr>
              <a:t>AWS_Global_Infrastructure_Map</a:t>
            </a:r>
            <a:endParaRPr lang="en-US" sz="1800" dirty="0"/>
          </a:p>
        </p:txBody>
      </p:sp>
      <p:sp>
        <p:nvSpPr>
          <p:cNvPr id="2" name="Title 1">
            <a:extLst>
              <a:ext uri="{FF2B5EF4-FFF2-40B4-BE49-F238E27FC236}">
                <a16:creationId xmlns:a16="http://schemas.microsoft.com/office/drawing/2014/main" id="{23B179EA-DD20-D84F-A9E6-EAE1B9D86203}"/>
              </a:ext>
            </a:extLst>
          </p:cNvPr>
          <p:cNvSpPr>
            <a:spLocks noGrp="1"/>
          </p:cNvSpPr>
          <p:nvPr>
            <p:ph type="title"/>
          </p:nvPr>
        </p:nvSpPr>
        <p:spPr/>
        <p:txBody>
          <a:bodyPr>
            <a:normAutofit fontScale="90000"/>
          </a:bodyPr>
          <a:lstStyle/>
          <a:p>
            <a:r>
              <a:rPr lang="en-US" dirty="0"/>
              <a:t>AWS Global Infrastructure</a:t>
            </a:r>
          </a:p>
        </p:txBody>
      </p:sp>
      <p:sp>
        <p:nvSpPr>
          <p:cNvPr id="4" name="Slide Number Placeholder 3">
            <a:extLst>
              <a:ext uri="{FF2B5EF4-FFF2-40B4-BE49-F238E27FC236}">
                <a16:creationId xmlns:a16="http://schemas.microsoft.com/office/drawing/2014/main" id="{2B80DE76-7311-A941-BEEE-39BD4F088999}"/>
              </a:ext>
              <a:ext uri="{C183D7F6-B498-43B3-948B-1728B52AA6E4}">
                <adec:decorative xmlns:adec="http://schemas.microsoft.com/office/drawing/2017/decorative" val="0"/>
              </a:ext>
            </a:extLst>
          </p:cNvPr>
          <p:cNvSpPr>
            <a:spLocks noGrp="1"/>
          </p:cNvSpPr>
          <p:nvPr>
            <p:ph type="sldNum" sz="quarter" idx="12"/>
          </p:nvPr>
        </p:nvSpPr>
        <p:spPr/>
        <p:txBody>
          <a:bodyPr/>
          <a:lstStyle/>
          <a:p>
            <a:fld id="{B6A95138-A96E-2F42-A959-2EFD44FE4AB7}" type="slidenum">
              <a:rPr lang="en-US" smtClean="0"/>
              <a:t>2</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01C7F572-1095-A3FF-AD3E-4305F5584F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3271" y="2801592"/>
            <a:ext cx="6335412" cy="3644129"/>
          </a:xfrm>
          <a:prstGeom prst="rect">
            <a:avLst/>
          </a:prstGeom>
        </p:spPr>
      </p:pic>
    </p:spTree>
    <p:custDataLst>
      <p:tags r:id="rId1"/>
    </p:custDataLst>
    <p:extLst>
      <p:ext uri="{BB962C8B-B14F-4D97-AF65-F5344CB8AC3E}">
        <p14:creationId xmlns:p14="http://schemas.microsoft.com/office/powerpoint/2010/main" val="990329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C76EBC-0181-30E3-45B1-D224BA0FBA37}"/>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DF45ADCF-01B7-5371-18A2-9B0606517FF9}"/>
              </a:ext>
            </a:extLst>
          </p:cNvPr>
          <p:cNvSpPr>
            <a:spLocks noGrp="1"/>
          </p:cNvSpPr>
          <p:nvPr>
            <p:ph type="body" sz="quarter" idx="10"/>
          </p:nvPr>
        </p:nvSpPr>
        <p:spPr/>
        <p:txBody>
          <a:bodyPr/>
          <a:lstStyle/>
          <a:p>
            <a:endParaRPr lang="en-US" dirty="0"/>
          </a:p>
        </p:txBody>
      </p:sp>
      <p:sp>
        <p:nvSpPr>
          <p:cNvPr id="4" name="Title 3">
            <a:extLst>
              <a:ext uri="{FF2B5EF4-FFF2-40B4-BE49-F238E27FC236}">
                <a16:creationId xmlns:a16="http://schemas.microsoft.com/office/drawing/2014/main" id="{4434B67D-2EE5-D502-4B64-4584B21B9F76}"/>
              </a:ext>
            </a:extLst>
          </p:cNvPr>
          <p:cNvSpPr>
            <a:spLocks noGrp="1"/>
          </p:cNvSpPr>
          <p:nvPr>
            <p:ph type="title"/>
          </p:nvPr>
        </p:nvSpPr>
        <p:spPr/>
        <p:txBody>
          <a:bodyPr>
            <a:normAutofit fontScale="90000"/>
          </a:bodyPr>
          <a:lstStyle/>
          <a:p>
            <a:r>
              <a:rPr lang="en-US" dirty="0"/>
              <a:t>Infrastructure Organization</a:t>
            </a:r>
          </a:p>
        </p:txBody>
      </p:sp>
      <p:sp>
        <p:nvSpPr>
          <p:cNvPr id="5" name="Slide Number Placeholder 4">
            <a:extLst>
              <a:ext uri="{FF2B5EF4-FFF2-40B4-BE49-F238E27FC236}">
                <a16:creationId xmlns:a16="http://schemas.microsoft.com/office/drawing/2014/main" id="{305A2A19-9924-98A9-FFA8-A02E47471A34}"/>
              </a:ext>
            </a:extLst>
          </p:cNvPr>
          <p:cNvSpPr>
            <a:spLocks noGrp="1"/>
          </p:cNvSpPr>
          <p:nvPr>
            <p:ph type="sldNum" sz="quarter" idx="12"/>
          </p:nvPr>
        </p:nvSpPr>
        <p:spPr/>
        <p:txBody>
          <a:bodyPr/>
          <a:lstStyle/>
          <a:p>
            <a:fld id="{F994776A-187E-9540-9EA4-8D5781AB769D}" type="slidenum">
              <a:rPr lang="en-US" smtClean="0"/>
              <a:pPr/>
              <a:t>3</a:t>
            </a:fld>
            <a:endParaRPr lang="en-US" dirty="0"/>
          </a:p>
        </p:txBody>
      </p:sp>
      <p:graphicFrame>
        <p:nvGraphicFramePr>
          <p:cNvPr id="6" name="Diagram 5">
            <a:extLst>
              <a:ext uri="{FF2B5EF4-FFF2-40B4-BE49-F238E27FC236}">
                <a16:creationId xmlns:a16="http://schemas.microsoft.com/office/drawing/2014/main" id="{BD613F59-DA63-66C8-ECA5-65EA29CA2868}"/>
              </a:ext>
            </a:extLst>
          </p:cNvPr>
          <p:cNvGraphicFramePr/>
          <p:nvPr>
            <p:extLst>
              <p:ext uri="{D42A27DB-BD31-4B8C-83A1-F6EECF244321}">
                <p14:modId xmlns:p14="http://schemas.microsoft.com/office/powerpoint/2010/main" val="2771641916"/>
              </p:ext>
            </p:extLst>
          </p:nvPr>
        </p:nvGraphicFramePr>
        <p:xfrm>
          <a:off x="468086" y="1137171"/>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Down Arrow 7">
            <a:extLst>
              <a:ext uri="{FF2B5EF4-FFF2-40B4-BE49-F238E27FC236}">
                <a16:creationId xmlns:a16="http://schemas.microsoft.com/office/drawing/2014/main" id="{D124DB98-7FD1-6733-67FF-509FD03479E7}"/>
              </a:ext>
            </a:extLst>
          </p:cNvPr>
          <p:cNvSpPr/>
          <p:nvPr/>
        </p:nvSpPr>
        <p:spPr>
          <a:xfrm rot="5400000">
            <a:off x="8379228" y="83932"/>
            <a:ext cx="1893202" cy="4258216"/>
          </a:xfrm>
          <a:prstGeom prst="downArrow">
            <a:avLst>
              <a:gd name="adj1" fmla="val 50000"/>
              <a:gd name="adj2" fmla="val 50599"/>
            </a:avLst>
          </a:prstGeom>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US" sz="3600" dirty="0"/>
              <a:t>You Choose</a:t>
            </a:r>
          </a:p>
        </p:txBody>
      </p:sp>
      <p:sp>
        <p:nvSpPr>
          <p:cNvPr id="9" name="Down Arrow 8">
            <a:extLst>
              <a:ext uri="{FF2B5EF4-FFF2-40B4-BE49-F238E27FC236}">
                <a16:creationId xmlns:a16="http://schemas.microsoft.com/office/drawing/2014/main" id="{8E648ACD-ED9F-1D48-6E2D-EE0F0CE23425}"/>
              </a:ext>
            </a:extLst>
          </p:cNvPr>
          <p:cNvSpPr/>
          <p:nvPr/>
        </p:nvSpPr>
        <p:spPr>
          <a:xfrm rot="5400000">
            <a:off x="7451057" y="1717396"/>
            <a:ext cx="1893202" cy="4258216"/>
          </a:xfrm>
          <a:prstGeom prst="downArrow">
            <a:avLst>
              <a:gd name="adj1" fmla="val 50000"/>
              <a:gd name="adj2" fmla="val 50599"/>
            </a:avLst>
          </a:prstGeom>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US" sz="3600" dirty="0"/>
              <a:t>You Pick #</a:t>
            </a:r>
          </a:p>
        </p:txBody>
      </p:sp>
      <p:sp>
        <p:nvSpPr>
          <p:cNvPr id="10" name="Down Arrow 9">
            <a:extLst>
              <a:ext uri="{FF2B5EF4-FFF2-40B4-BE49-F238E27FC236}">
                <a16:creationId xmlns:a16="http://schemas.microsoft.com/office/drawing/2014/main" id="{2E88E1F1-EE6B-67AD-BDD8-BFEBB57BB64D}"/>
              </a:ext>
            </a:extLst>
          </p:cNvPr>
          <p:cNvSpPr/>
          <p:nvPr/>
        </p:nvSpPr>
        <p:spPr>
          <a:xfrm rot="5400000">
            <a:off x="6983181" y="3579849"/>
            <a:ext cx="1893202" cy="4258216"/>
          </a:xfrm>
          <a:prstGeom prst="downArrow">
            <a:avLst>
              <a:gd name="adj1" fmla="val 50000"/>
              <a:gd name="adj2" fmla="val 50599"/>
            </a:avLst>
          </a:prstGeom>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US" sz="3600" dirty="0"/>
              <a:t>AWS Chooses</a:t>
            </a:r>
          </a:p>
        </p:txBody>
      </p:sp>
    </p:spTree>
    <p:extLst>
      <p:ext uri="{BB962C8B-B14F-4D97-AF65-F5344CB8AC3E}">
        <p14:creationId xmlns:p14="http://schemas.microsoft.com/office/powerpoint/2010/main" val="328692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7397F1-9C91-EA27-C03C-32C89A4B5C13}"/>
              </a:ext>
            </a:extLst>
          </p:cNvPr>
          <p:cNvSpPr>
            <a:spLocks noGrp="1"/>
          </p:cNvSpPr>
          <p:nvPr>
            <p:ph type="body" sz="quarter" idx="11"/>
          </p:nvPr>
        </p:nvSpPr>
        <p:spPr/>
        <p:txBody>
          <a:bodyPr/>
          <a:lstStyle/>
          <a:p>
            <a:endParaRPr lang="en-US"/>
          </a:p>
        </p:txBody>
      </p:sp>
      <p:sp>
        <p:nvSpPr>
          <p:cNvPr id="82" name="Content Placeholder 81"/>
          <p:cNvSpPr>
            <a:spLocks noGrp="1"/>
          </p:cNvSpPr>
          <p:nvPr>
            <p:ph type="body" sz="quarter" idx="10"/>
          </p:nvPr>
        </p:nvSpPr>
        <p:spPr>
          <a:xfrm>
            <a:off x="457199" y="1543324"/>
            <a:ext cx="7283959" cy="4454706"/>
          </a:xfrm>
        </p:spPr>
        <p:txBody>
          <a:bodyPr>
            <a:normAutofit/>
          </a:bodyPr>
          <a:lstStyle/>
          <a:p>
            <a:pPr marL="457200" indent="-457200">
              <a:spcBef>
                <a:spcPts val="1800"/>
              </a:spcBef>
              <a:spcAft>
                <a:spcPts val="800"/>
              </a:spcAft>
            </a:pPr>
            <a:r>
              <a:rPr lang="en-US" sz="2400" dirty="0"/>
              <a:t>An </a:t>
            </a:r>
            <a:r>
              <a:rPr lang="en-US" sz="2400" b="1" dirty="0">
                <a:solidFill>
                  <a:srgbClr val="504BAB"/>
                </a:solidFill>
              </a:rPr>
              <a:t>AWS</a:t>
            </a:r>
            <a:r>
              <a:rPr lang="en-US" sz="2400" b="1" dirty="0">
                <a:solidFill>
                  <a:schemeClr val="accent5"/>
                </a:solidFill>
              </a:rPr>
              <a:t> </a:t>
            </a:r>
            <a:r>
              <a:rPr lang="en-US" sz="2400" b="1" dirty="0">
                <a:solidFill>
                  <a:srgbClr val="504BAB"/>
                </a:solidFill>
              </a:rPr>
              <a:t>Region</a:t>
            </a:r>
            <a:r>
              <a:rPr lang="en-US" sz="2400" b="1" dirty="0">
                <a:solidFill>
                  <a:schemeClr val="accent5"/>
                </a:solidFill>
              </a:rPr>
              <a:t> </a:t>
            </a:r>
            <a:r>
              <a:rPr lang="en-US" sz="2400" dirty="0"/>
              <a:t>is a geographical area.</a:t>
            </a:r>
          </a:p>
          <a:p>
            <a:pPr marL="914400" lvl="1" indent="-457200">
              <a:spcBef>
                <a:spcPts val="1800"/>
              </a:spcBef>
              <a:spcAft>
                <a:spcPts val="800"/>
              </a:spcAft>
            </a:pPr>
            <a:r>
              <a:rPr lang="en-US" dirty="0">
                <a:solidFill>
                  <a:schemeClr val="accent6"/>
                </a:solidFill>
              </a:rPr>
              <a:t>Data replication </a:t>
            </a:r>
            <a:r>
              <a:rPr lang="en-US" dirty="0"/>
              <a:t>across Regions is controlled by you.</a:t>
            </a:r>
          </a:p>
          <a:p>
            <a:pPr marL="914400" lvl="1" indent="-457200">
              <a:spcBef>
                <a:spcPts val="1800"/>
              </a:spcBef>
              <a:spcAft>
                <a:spcPts val="800"/>
              </a:spcAft>
            </a:pPr>
            <a:r>
              <a:rPr lang="en-US" dirty="0">
                <a:solidFill>
                  <a:schemeClr val="accent6"/>
                </a:solidFill>
              </a:rPr>
              <a:t>Communication</a:t>
            </a:r>
            <a:r>
              <a:rPr lang="en-US" dirty="0"/>
              <a:t> between Regions uses AWS backbone network infrastructure.</a:t>
            </a:r>
          </a:p>
          <a:p>
            <a:pPr marL="457200" indent="-457200">
              <a:spcBef>
                <a:spcPts val="1800"/>
              </a:spcBef>
              <a:spcAft>
                <a:spcPts val="800"/>
              </a:spcAft>
            </a:pPr>
            <a:r>
              <a:rPr lang="en-US" sz="2400" dirty="0"/>
              <a:t>Each Region provides full redundancy and connectivity to the network.</a:t>
            </a:r>
          </a:p>
          <a:p>
            <a:pPr marL="457200" indent="-457200">
              <a:spcBef>
                <a:spcPts val="1800"/>
              </a:spcBef>
              <a:spcAft>
                <a:spcPts val="800"/>
              </a:spcAft>
            </a:pPr>
            <a:r>
              <a:rPr lang="en-US" sz="2400" dirty="0"/>
              <a:t>A Region typically consists of two or more </a:t>
            </a:r>
            <a:r>
              <a:rPr lang="en-US" sz="2400" b="1" dirty="0">
                <a:solidFill>
                  <a:srgbClr val="504BAB"/>
                </a:solidFill>
              </a:rPr>
              <a:t>Availability Zones</a:t>
            </a:r>
            <a:r>
              <a:rPr lang="en-US" sz="2400" dirty="0"/>
              <a:t>.</a:t>
            </a:r>
            <a:endParaRPr lang="en-US" b="1" dirty="0">
              <a:solidFill>
                <a:schemeClr val="accent5"/>
              </a:solidFill>
            </a:endParaRPr>
          </a:p>
        </p:txBody>
      </p:sp>
      <p:sp>
        <p:nvSpPr>
          <p:cNvPr id="5" name="Title 4"/>
          <p:cNvSpPr>
            <a:spLocks noGrp="1"/>
          </p:cNvSpPr>
          <p:nvPr>
            <p:ph type="title"/>
          </p:nvPr>
        </p:nvSpPr>
        <p:spPr/>
        <p:txBody>
          <a:bodyPr>
            <a:normAutofit/>
          </a:bodyPr>
          <a:lstStyle/>
          <a:p>
            <a:r>
              <a:rPr lang="en-US" dirty="0"/>
              <a:t>AWS Regions</a:t>
            </a:r>
          </a:p>
        </p:txBody>
      </p:sp>
      <p:sp>
        <p:nvSpPr>
          <p:cNvPr id="3" name="Slide Number Placeholder 2">
            <a:extLst>
              <a:ext uri="{FF2B5EF4-FFF2-40B4-BE49-F238E27FC236}">
                <a16:creationId xmlns:a16="http://schemas.microsoft.com/office/drawing/2014/main" id="{434E3763-1AA8-8F4E-B3E1-042F8AA3CAB8}"/>
              </a:ext>
              <a:ext uri="{C183D7F6-B498-43B3-948B-1728B52AA6E4}">
                <adec:decorative xmlns:adec="http://schemas.microsoft.com/office/drawing/2017/decorative" val="0"/>
              </a:ext>
            </a:extLst>
          </p:cNvPr>
          <p:cNvSpPr>
            <a:spLocks noGrp="1"/>
          </p:cNvSpPr>
          <p:nvPr>
            <p:ph type="sldNum" sz="quarter" idx="12"/>
          </p:nvPr>
        </p:nvSpPr>
        <p:spPr/>
        <p:txBody>
          <a:bodyPr/>
          <a:lstStyle/>
          <a:p>
            <a:fld id="{B6A95138-A96E-2F42-A959-2EFD44FE4AB7}" type="slidenum">
              <a:rPr lang="en-US" smtClean="0"/>
              <a:t>4</a:t>
            </a:fld>
            <a:endParaRPr lang="en-US" dirty="0"/>
          </a:p>
        </p:txBody>
      </p:sp>
      <p:pic>
        <p:nvPicPr>
          <p:cNvPr id="7" name="Picture 6" descr="Snapshot from the infrastructure.aws website. See description in slide notes.">
            <a:extLst>
              <a:ext uri="{FF2B5EF4-FFF2-40B4-BE49-F238E27FC236}">
                <a16:creationId xmlns:a16="http://schemas.microsoft.com/office/drawing/2014/main" id="{41E8EDBE-1E70-6E4C-B5D1-307B0F49CB7F}"/>
              </a:ext>
            </a:extLst>
          </p:cNvPr>
          <p:cNvPicPr>
            <a:picLocks noChangeAspect="1"/>
          </p:cNvPicPr>
          <p:nvPr/>
        </p:nvPicPr>
        <p:blipFill>
          <a:blip r:embed="rId4"/>
          <a:stretch>
            <a:fillRect/>
          </a:stretch>
        </p:blipFill>
        <p:spPr>
          <a:xfrm>
            <a:off x="7741158" y="2433233"/>
            <a:ext cx="4226307" cy="3503387"/>
          </a:xfrm>
          <a:prstGeom prst="rect">
            <a:avLst/>
          </a:prstGeom>
        </p:spPr>
      </p:pic>
      <p:sp>
        <p:nvSpPr>
          <p:cNvPr id="8" name="TextBox 7">
            <a:extLst>
              <a:ext uri="{FF2B5EF4-FFF2-40B4-BE49-F238E27FC236}">
                <a16:creationId xmlns:a16="http://schemas.microsoft.com/office/drawing/2014/main" id="{0139AAD1-F803-8045-8389-DFF6D8425D61}"/>
              </a:ext>
              <a:ext uri="{C183D7F6-B498-43B3-948B-1728B52AA6E4}">
                <adec:decorative xmlns:adec="http://schemas.microsoft.com/office/drawing/2017/decorative" val="1"/>
              </a:ext>
            </a:extLst>
          </p:cNvPr>
          <p:cNvSpPr txBox="1"/>
          <p:nvPr/>
        </p:nvSpPr>
        <p:spPr>
          <a:xfrm>
            <a:off x="8789288" y="5952887"/>
            <a:ext cx="2414444"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Example: London Region</a:t>
            </a:r>
          </a:p>
        </p:txBody>
      </p:sp>
    </p:spTree>
    <p:custDataLst>
      <p:tags r:id="rId1"/>
    </p:custDataLst>
    <p:extLst>
      <p:ext uri="{BB962C8B-B14F-4D97-AF65-F5344CB8AC3E}">
        <p14:creationId xmlns:p14="http://schemas.microsoft.com/office/powerpoint/2010/main" val="1762678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
            <a:extLst>
              <a:ext uri="{FF2B5EF4-FFF2-40B4-BE49-F238E27FC236}">
                <a16:creationId xmlns:a16="http://schemas.microsoft.com/office/drawing/2014/main" id="{A8E0C7F1-1667-8748-9454-97D42B539905}"/>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a:t>
            </a:fld>
            <a:endParaRPr lang="en-US" dirty="0"/>
          </a:p>
        </p:txBody>
      </p:sp>
      <p:sp>
        <p:nvSpPr>
          <p:cNvPr id="2" name="Title 1"/>
          <p:cNvSpPr>
            <a:spLocks noGrp="1"/>
          </p:cNvSpPr>
          <p:nvPr>
            <p:ph type="title"/>
          </p:nvPr>
        </p:nvSpPr>
        <p:spPr/>
        <p:txBody>
          <a:bodyPr>
            <a:noAutofit/>
          </a:bodyPr>
          <a:lstStyle/>
          <a:p>
            <a:r>
              <a:rPr lang="en-US" dirty="0"/>
              <a:t>Selecting a Region</a:t>
            </a:r>
          </a:p>
        </p:txBody>
      </p:sp>
      <p:sp>
        <p:nvSpPr>
          <p:cNvPr id="63" name="TextBox 18"/>
          <p:cNvSpPr txBox="1"/>
          <p:nvPr/>
        </p:nvSpPr>
        <p:spPr>
          <a:xfrm>
            <a:off x="757593" y="3338558"/>
            <a:ext cx="4784383" cy="296549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lnSpc>
                <a:spcPct val="150000"/>
              </a:lnSpc>
              <a:defRPr/>
            </a:pPr>
            <a:r>
              <a:rPr lang="en-US" sz="2667" dirty="0">
                <a:solidFill>
                  <a:sysClr val="windowText" lastClr="000000">
                    <a:lumMod val="65000"/>
                    <a:lumOff val="35000"/>
                  </a:sysClr>
                </a:solidFill>
                <a:latin typeface="Amazon Ember" panose="020B0603020204020204" pitchFamily="34" charset="0"/>
                <a:ea typeface="Amazon Ember" panose="020B0603020204020204" pitchFamily="34" charset="0"/>
                <a:cs typeface="Amazon Ember" panose="020B0603020204020204" pitchFamily="34" charset="0"/>
              </a:rPr>
              <a:t>Determine the right Region for your services, applications, and data based on these factors</a:t>
            </a:r>
          </a:p>
          <a:p>
            <a:pPr defTabSz="1219170">
              <a:defRPr/>
            </a:pPr>
            <a:endParaRPr lang="en-US" sz="2667" dirty="0">
              <a:solidFill>
                <a:sysClr val="windowText" lastClr="000000">
                  <a:lumMod val="65000"/>
                  <a:lumOff val="35000"/>
                </a:sys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9" name="Parallelogram 68">
            <a:extLst>
              <a:ext uri="{C183D7F6-B498-43B3-948B-1728B52AA6E4}">
                <adec:decorative xmlns:adec="http://schemas.microsoft.com/office/drawing/2017/decorative" val="1"/>
              </a:ext>
            </a:extLst>
          </p:cNvPr>
          <p:cNvSpPr/>
          <p:nvPr/>
        </p:nvSpPr>
        <p:spPr>
          <a:xfrm>
            <a:off x="6553161" y="3915364"/>
            <a:ext cx="3438769" cy="139675"/>
          </a:xfrm>
          <a:prstGeom prst="parallelogram">
            <a:avLst>
              <a:gd name="adj" fmla="val 222143"/>
            </a:avLst>
          </a:prstGeom>
          <a:solidFill>
            <a:srgbClr val="008296"/>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64" name="Rectangle 63">
            <a:extLst>
              <a:ext uri="{C183D7F6-B498-43B3-948B-1728B52AA6E4}">
                <adec:decorative xmlns:adec="http://schemas.microsoft.com/office/drawing/2017/decorative" val="1"/>
              </a:ext>
            </a:extLst>
          </p:cNvPr>
          <p:cNvSpPr/>
          <p:nvPr/>
        </p:nvSpPr>
        <p:spPr>
          <a:xfrm>
            <a:off x="6106161" y="2760220"/>
            <a:ext cx="3988616" cy="1156676"/>
          </a:xfrm>
          <a:prstGeom prst="rect">
            <a:avLst/>
          </a:prstGeom>
          <a:solidFill>
            <a:srgbClr val="36C2B4"/>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65" name="Rectangle 64">
            <a:extLst>
              <a:ext uri="{C183D7F6-B498-43B3-948B-1728B52AA6E4}">
                <adec:decorative xmlns:adec="http://schemas.microsoft.com/office/drawing/2017/decorative" val="1"/>
              </a:ext>
            </a:extLst>
          </p:cNvPr>
          <p:cNvSpPr/>
          <p:nvPr/>
        </p:nvSpPr>
        <p:spPr>
          <a:xfrm>
            <a:off x="495708" y="1462739"/>
            <a:ext cx="9048680" cy="1141047"/>
          </a:xfrm>
          <a:prstGeom prst="rect">
            <a:avLst/>
          </a:prstGeom>
          <a:solidFill>
            <a:srgbClr val="504BAB"/>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66" name="Rectangle 65">
            <a:extLst>
              <a:ext uri="{C183D7F6-B498-43B3-948B-1728B52AA6E4}">
                <adec:decorative xmlns:adec="http://schemas.microsoft.com/office/drawing/2017/decorative" val="1"/>
              </a:ext>
            </a:extLst>
          </p:cNvPr>
          <p:cNvSpPr/>
          <p:nvPr/>
        </p:nvSpPr>
        <p:spPr>
          <a:xfrm>
            <a:off x="6536593" y="4058321"/>
            <a:ext cx="3985847" cy="1141047"/>
          </a:xfrm>
          <a:prstGeom prst="rect">
            <a:avLst/>
          </a:prstGeom>
          <a:solidFill>
            <a:srgbClr val="C9208A"/>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67" name="Rectangle 66">
            <a:extLst>
              <a:ext uri="{C183D7F6-B498-43B3-948B-1728B52AA6E4}">
                <adec:decorative xmlns:adec="http://schemas.microsoft.com/office/drawing/2017/decorative" val="1"/>
              </a:ext>
            </a:extLst>
          </p:cNvPr>
          <p:cNvSpPr/>
          <p:nvPr/>
        </p:nvSpPr>
        <p:spPr>
          <a:xfrm>
            <a:off x="7085952" y="5357545"/>
            <a:ext cx="4564185" cy="1141047"/>
          </a:xfrm>
          <a:prstGeom prst="rect">
            <a:avLst/>
          </a:prstGeom>
          <a:solidFill>
            <a:srgbClr val="232F3E"/>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0" name="Parallelogram 69">
            <a:extLst>
              <a:ext uri="{C183D7F6-B498-43B3-948B-1728B52AA6E4}">
                <adec:decorative xmlns:adec="http://schemas.microsoft.com/office/drawing/2017/decorative" val="1"/>
              </a:ext>
            </a:extLst>
          </p:cNvPr>
          <p:cNvSpPr/>
          <p:nvPr/>
        </p:nvSpPr>
        <p:spPr>
          <a:xfrm>
            <a:off x="6108548" y="2601701"/>
            <a:ext cx="3435839" cy="165735"/>
          </a:xfrm>
          <a:prstGeom prst="parallelogram">
            <a:avLst>
              <a:gd name="adj" fmla="val 222143"/>
            </a:avLst>
          </a:prstGeom>
          <a:solidFill>
            <a:srgbClr val="262262"/>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1" name="Parallelogram 70">
            <a:extLst>
              <a:ext uri="{C183D7F6-B498-43B3-948B-1728B52AA6E4}">
                <adec:decorative xmlns:adec="http://schemas.microsoft.com/office/drawing/2017/decorative" val="1"/>
              </a:ext>
            </a:extLst>
          </p:cNvPr>
          <p:cNvSpPr/>
          <p:nvPr/>
        </p:nvSpPr>
        <p:spPr>
          <a:xfrm>
            <a:off x="7088312" y="5197835"/>
            <a:ext cx="3438769" cy="159708"/>
          </a:xfrm>
          <a:prstGeom prst="parallelogram">
            <a:avLst>
              <a:gd name="adj" fmla="val 222143"/>
            </a:avLst>
          </a:prstGeom>
          <a:solidFill>
            <a:srgbClr val="9E1F63"/>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2" name="Oval 71">
            <a:extLst>
              <a:ext uri="{C183D7F6-B498-43B3-948B-1728B52AA6E4}">
                <adec:decorative xmlns:adec="http://schemas.microsoft.com/office/drawing/2017/decorative" val="1"/>
              </a:ext>
            </a:extLst>
          </p:cNvPr>
          <p:cNvSpPr/>
          <p:nvPr/>
        </p:nvSpPr>
        <p:spPr>
          <a:xfrm>
            <a:off x="6233809" y="2974017"/>
            <a:ext cx="731520" cy="73152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3" name="Oval 72">
            <a:extLst>
              <a:ext uri="{C183D7F6-B498-43B3-948B-1728B52AA6E4}">
                <adec:decorative xmlns:adec="http://schemas.microsoft.com/office/drawing/2017/decorative" val="1"/>
              </a:ext>
            </a:extLst>
          </p:cNvPr>
          <p:cNvSpPr/>
          <p:nvPr/>
        </p:nvSpPr>
        <p:spPr>
          <a:xfrm>
            <a:off x="5801479" y="1657601"/>
            <a:ext cx="731520" cy="73152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4" name="Oval 73">
            <a:extLst>
              <a:ext uri="{C183D7F6-B498-43B3-948B-1728B52AA6E4}">
                <adec:decorative xmlns:adec="http://schemas.microsoft.com/office/drawing/2017/decorative" val="1"/>
              </a:ext>
            </a:extLst>
          </p:cNvPr>
          <p:cNvSpPr/>
          <p:nvPr/>
        </p:nvSpPr>
        <p:spPr>
          <a:xfrm>
            <a:off x="6722551" y="4255268"/>
            <a:ext cx="731520" cy="73152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5" name="Oval 74">
            <a:extLst>
              <a:ext uri="{C183D7F6-B498-43B3-948B-1728B52AA6E4}">
                <adec:decorative xmlns:adec="http://schemas.microsoft.com/office/drawing/2017/decorative" val="1"/>
              </a:ext>
            </a:extLst>
          </p:cNvPr>
          <p:cNvSpPr/>
          <p:nvPr/>
        </p:nvSpPr>
        <p:spPr>
          <a:xfrm>
            <a:off x="7284461" y="5562307"/>
            <a:ext cx="731520" cy="73152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defRPr/>
            </a:pPr>
            <a:endParaRPr lang="en-US" sz="2400" dirty="0">
              <a:solidFill>
                <a:sysClr val="window" lastClr="FFFFFF"/>
              </a:solidFill>
              <a:latin typeface="Amazon Ember Light" charset="0"/>
              <a:ea typeface="Amazon Ember Light" charset="0"/>
              <a:cs typeface="Amazon Ember Light" charset="0"/>
            </a:endParaRPr>
          </a:p>
        </p:txBody>
      </p:sp>
      <p:sp>
        <p:nvSpPr>
          <p:cNvPr id="77" name="Rectangle 76"/>
          <p:cNvSpPr/>
          <p:nvPr/>
        </p:nvSpPr>
        <p:spPr>
          <a:xfrm>
            <a:off x="6707204" y="1646123"/>
            <a:ext cx="2752305"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r>
              <a:rPr lang="en-US" sz="2000" dirty="0">
                <a:solidFill>
                  <a:sysClr val="window" lastClr="FFFFFF"/>
                </a:solidFill>
                <a:latin typeface="Amazon Ember" panose="020B0603020204020204" pitchFamily="34" charset="0"/>
                <a:ea typeface="Amazon Ember" panose="020B0603020204020204" pitchFamily="34" charset="0"/>
                <a:cs typeface="Amazon Ember" panose="020B0603020204020204" pitchFamily="34" charset="0"/>
              </a:rPr>
              <a:t>Data governance, legal requirements</a:t>
            </a:r>
          </a:p>
        </p:txBody>
      </p:sp>
      <p:sp>
        <p:nvSpPr>
          <p:cNvPr id="76" name="Rectangle 75"/>
          <p:cNvSpPr/>
          <p:nvPr/>
        </p:nvSpPr>
        <p:spPr>
          <a:xfrm>
            <a:off x="7176585" y="2955782"/>
            <a:ext cx="2918192"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r>
              <a:rPr lang="en-US" sz="2000" dirty="0">
                <a:solidFill>
                  <a:sysClr val="window" lastClr="FFFFFF"/>
                </a:solidFill>
                <a:latin typeface="Amazon Ember" panose="020B0603020204020204" pitchFamily="34" charset="0"/>
                <a:ea typeface="Amazon Ember" panose="020B0603020204020204" pitchFamily="34" charset="0"/>
                <a:cs typeface="Amazon Ember" panose="020B0603020204020204" pitchFamily="34" charset="0"/>
              </a:rPr>
              <a:t>Proximity to customers (latency)</a:t>
            </a:r>
          </a:p>
        </p:txBody>
      </p:sp>
      <p:sp>
        <p:nvSpPr>
          <p:cNvPr id="78" name="Rectangle 77"/>
          <p:cNvSpPr/>
          <p:nvPr/>
        </p:nvSpPr>
        <p:spPr>
          <a:xfrm>
            <a:off x="7640029" y="4231177"/>
            <a:ext cx="2812988"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r>
              <a:rPr lang="en-US" sz="2000" dirty="0">
                <a:solidFill>
                  <a:sysClr val="window" lastClr="FFFFFF"/>
                </a:solidFill>
                <a:latin typeface="Amazon Ember" panose="020B0603020204020204" pitchFamily="34" charset="0"/>
                <a:ea typeface="Amazon Ember" panose="020B0603020204020204" pitchFamily="34" charset="0"/>
                <a:cs typeface="Amazon Ember" panose="020B0603020204020204" pitchFamily="34" charset="0"/>
              </a:rPr>
              <a:t>Services available within the Region</a:t>
            </a:r>
          </a:p>
        </p:txBody>
      </p:sp>
      <p:sp>
        <p:nvSpPr>
          <p:cNvPr id="79" name="Rectangle 78"/>
          <p:cNvSpPr/>
          <p:nvPr/>
        </p:nvSpPr>
        <p:spPr>
          <a:xfrm>
            <a:off x="8214492" y="5693573"/>
            <a:ext cx="3287464"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r>
              <a:rPr lang="en-US" sz="2000" dirty="0">
                <a:solidFill>
                  <a:sysClr val="window" lastClr="FFFFFF"/>
                </a:solidFill>
                <a:latin typeface="Amazon Ember" panose="020B0603020204020204" pitchFamily="34" charset="0"/>
                <a:ea typeface="Amazon Ember" panose="020B0603020204020204" pitchFamily="34" charset="0"/>
                <a:cs typeface="Amazon Ember" panose="020B0603020204020204" pitchFamily="34" charset="0"/>
              </a:rPr>
              <a:t>Costs (vary by Region)</a:t>
            </a:r>
          </a:p>
        </p:txBody>
      </p:sp>
      <p:sp>
        <p:nvSpPr>
          <p:cNvPr id="92" name="Freeform 91">
            <a:extLst>
              <a:ext uri="{C183D7F6-B498-43B3-948B-1728B52AA6E4}">
                <adec:decorative xmlns:adec="http://schemas.microsoft.com/office/drawing/2017/decorative" val="1"/>
              </a:ext>
            </a:extLst>
          </p:cNvPr>
          <p:cNvSpPr>
            <a:spLocks noEditPoints="1"/>
          </p:cNvSpPr>
          <p:nvPr/>
        </p:nvSpPr>
        <p:spPr bwMode="auto">
          <a:xfrm>
            <a:off x="6876133" y="4395875"/>
            <a:ext cx="419636" cy="445952"/>
          </a:xfrm>
          <a:custGeom>
            <a:avLst/>
            <a:gdLst>
              <a:gd name="T0" fmla="*/ 2696 w 2974"/>
              <a:gd name="T1" fmla="*/ 2647 h 3175"/>
              <a:gd name="T2" fmla="*/ 2653 w 2974"/>
              <a:gd name="T3" fmla="*/ 2702 h 3175"/>
              <a:gd name="T4" fmla="*/ 2653 w 2974"/>
              <a:gd name="T5" fmla="*/ 2768 h 3175"/>
              <a:gd name="T6" fmla="*/ 2696 w 2974"/>
              <a:gd name="T7" fmla="*/ 2823 h 3175"/>
              <a:gd name="T8" fmla="*/ 2761 w 2974"/>
              <a:gd name="T9" fmla="*/ 2837 h 3175"/>
              <a:gd name="T10" fmla="*/ 2822 w 2974"/>
              <a:gd name="T11" fmla="*/ 2808 h 3175"/>
              <a:gd name="T12" fmla="*/ 2852 w 2974"/>
              <a:gd name="T13" fmla="*/ 2746 h 3175"/>
              <a:gd name="T14" fmla="*/ 2836 w 2974"/>
              <a:gd name="T15" fmla="*/ 2680 h 3175"/>
              <a:gd name="T16" fmla="*/ 2783 w 2974"/>
              <a:gd name="T17" fmla="*/ 2637 h 3175"/>
              <a:gd name="T18" fmla="*/ 541 w 2974"/>
              <a:gd name="T19" fmla="*/ 0 h 3175"/>
              <a:gd name="T20" fmla="*/ 1190 w 2974"/>
              <a:gd name="T21" fmla="*/ 816 h 3175"/>
              <a:gd name="T22" fmla="*/ 2426 w 2974"/>
              <a:gd name="T23" fmla="*/ 379 h 3175"/>
              <a:gd name="T24" fmla="*/ 2762 w 2974"/>
              <a:gd name="T25" fmla="*/ 718 h 3175"/>
              <a:gd name="T26" fmla="*/ 2912 w 2974"/>
              <a:gd name="T27" fmla="*/ 2566 h 3175"/>
              <a:gd name="T28" fmla="*/ 2948 w 2974"/>
              <a:gd name="T29" fmla="*/ 2621 h 3175"/>
              <a:gd name="T30" fmla="*/ 2974 w 2974"/>
              <a:gd name="T31" fmla="*/ 2715 h 3175"/>
              <a:gd name="T32" fmla="*/ 2960 w 2974"/>
              <a:gd name="T33" fmla="*/ 2810 h 3175"/>
              <a:gd name="T34" fmla="*/ 2907 w 2974"/>
              <a:gd name="T35" fmla="*/ 2894 h 3175"/>
              <a:gd name="T36" fmla="*/ 2824 w 2974"/>
              <a:gd name="T37" fmla="*/ 2949 h 3175"/>
              <a:gd name="T38" fmla="*/ 2730 w 2974"/>
              <a:gd name="T39" fmla="*/ 2962 h 3175"/>
              <a:gd name="T40" fmla="*/ 2637 w 2974"/>
              <a:gd name="T41" fmla="*/ 2936 h 3175"/>
              <a:gd name="T42" fmla="*/ 2582 w 2974"/>
              <a:gd name="T43" fmla="*/ 2898 h 3175"/>
              <a:gd name="T44" fmla="*/ 1459 w 2974"/>
              <a:gd name="T45" fmla="*/ 2121 h 3175"/>
              <a:gd name="T46" fmla="*/ 1211 w 2974"/>
              <a:gd name="T47" fmla="*/ 2271 h 3175"/>
              <a:gd name="T48" fmla="*/ 1157 w 2974"/>
              <a:gd name="T49" fmla="*/ 2357 h 3175"/>
              <a:gd name="T50" fmla="*/ 1075 w 2974"/>
              <a:gd name="T51" fmla="*/ 2460 h 3175"/>
              <a:gd name="T52" fmla="*/ 974 w 2974"/>
              <a:gd name="T53" fmla="*/ 2572 h 3175"/>
              <a:gd name="T54" fmla="*/ 864 w 2974"/>
              <a:gd name="T55" fmla="*/ 2683 h 3175"/>
              <a:gd name="T56" fmla="*/ 754 w 2974"/>
              <a:gd name="T57" fmla="*/ 2786 h 3175"/>
              <a:gd name="T58" fmla="*/ 651 w 2974"/>
              <a:gd name="T59" fmla="*/ 2868 h 3175"/>
              <a:gd name="T60" fmla="*/ 566 w 2974"/>
              <a:gd name="T61" fmla="*/ 2923 h 3175"/>
              <a:gd name="T62" fmla="*/ 418 w 2974"/>
              <a:gd name="T63" fmla="*/ 3175 h 3175"/>
              <a:gd name="T64" fmla="*/ 238 w 2974"/>
              <a:gd name="T65" fmla="*/ 2625 h 3175"/>
              <a:gd name="T66" fmla="*/ 280 w 2974"/>
              <a:gd name="T67" fmla="*/ 2546 h 3175"/>
              <a:gd name="T68" fmla="*/ 355 w 2974"/>
              <a:gd name="T69" fmla="*/ 2448 h 3175"/>
              <a:gd name="T70" fmla="*/ 450 w 2974"/>
              <a:gd name="T71" fmla="*/ 2338 h 3175"/>
              <a:gd name="T72" fmla="*/ 558 w 2974"/>
              <a:gd name="T73" fmla="*/ 2225 h 3175"/>
              <a:gd name="T74" fmla="*/ 669 w 2974"/>
              <a:gd name="T75" fmla="*/ 2119 h 3175"/>
              <a:gd name="T76" fmla="*/ 775 w 2974"/>
              <a:gd name="T77" fmla="*/ 2029 h 3175"/>
              <a:gd name="T78" fmla="*/ 867 w 2974"/>
              <a:gd name="T79" fmla="*/ 1964 h 3175"/>
              <a:gd name="T80" fmla="*/ 859 w 2974"/>
              <a:gd name="T81" fmla="*/ 1882 h 3175"/>
              <a:gd name="T82" fmla="*/ 1339 w 2974"/>
              <a:gd name="T83" fmla="*/ 1635 h 3175"/>
              <a:gd name="T84" fmla="*/ 240 w 2974"/>
              <a:gd name="T85" fmla="*/ 1135 h 3175"/>
              <a:gd name="T86" fmla="*/ 480 w 2974"/>
              <a:gd name="T87" fmla="*/ 759 h 3175"/>
              <a:gd name="T88" fmla="*/ 541 w 2974"/>
              <a:gd name="T89" fmla="*/ 0 h 3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74" h="3175">
                <a:moveTo>
                  <a:pt x="2738" y="2632"/>
                </a:moveTo>
                <a:lnTo>
                  <a:pt x="2716" y="2637"/>
                </a:lnTo>
                <a:lnTo>
                  <a:pt x="2696" y="2647"/>
                </a:lnTo>
                <a:lnTo>
                  <a:pt x="2676" y="2662"/>
                </a:lnTo>
                <a:lnTo>
                  <a:pt x="2662" y="2680"/>
                </a:lnTo>
                <a:lnTo>
                  <a:pt x="2653" y="2702"/>
                </a:lnTo>
                <a:lnTo>
                  <a:pt x="2648" y="2724"/>
                </a:lnTo>
                <a:lnTo>
                  <a:pt x="2649" y="2746"/>
                </a:lnTo>
                <a:lnTo>
                  <a:pt x="2653" y="2768"/>
                </a:lnTo>
                <a:lnTo>
                  <a:pt x="2663" y="2789"/>
                </a:lnTo>
                <a:lnTo>
                  <a:pt x="2677" y="2808"/>
                </a:lnTo>
                <a:lnTo>
                  <a:pt x="2696" y="2823"/>
                </a:lnTo>
                <a:lnTo>
                  <a:pt x="2717" y="2833"/>
                </a:lnTo>
                <a:lnTo>
                  <a:pt x="2738" y="2837"/>
                </a:lnTo>
                <a:lnTo>
                  <a:pt x="2761" y="2837"/>
                </a:lnTo>
                <a:lnTo>
                  <a:pt x="2783" y="2832"/>
                </a:lnTo>
                <a:lnTo>
                  <a:pt x="2804" y="2823"/>
                </a:lnTo>
                <a:lnTo>
                  <a:pt x="2822" y="2808"/>
                </a:lnTo>
                <a:lnTo>
                  <a:pt x="2836" y="2789"/>
                </a:lnTo>
                <a:lnTo>
                  <a:pt x="2846" y="2768"/>
                </a:lnTo>
                <a:lnTo>
                  <a:pt x="2852" y="2746"/>
                </a:lnTo>
                <a:lnTo>
                  <a:pt x="2852" y="2724"/>
                </a:lnTo>
                <a:lnTo>
                  <a:pt x="2846" y="2701"/>
                </a:lnTo>
                <a:lnTo>
                  <a:pt x="2836" y="2680"/>
                </a:lnTo>
                <a:lnTo>
                  <a:pt x="2822" y="2662"/>
                </a:lnTo>
                <a:lnTo>
                  <a:pt x="2804" y="2647"/>
                </a:lnTo>
                <a:lnTo>
                  <a:pt x="2783" y="2637"/>
                </a:lnTo>
                <a:lnTo>
                  <a:pt x="2761" y="2632"/>
                </a:lnTo>
                <a:lnTo>
                  <a:pt x="2738" y="2632"/>
                </a:lnTo>
                <a:close/>
                <a:moveTo>
                  <a:pt x="541" y="0"/>
                </a:moveTo>
                <a:lnTo>
                  <a:pt x="541" y="0"/>
                </a:lnTo>
                <a:lnTo>
                  <a:pt x="1188" y="175"/>
                </a:lnTo>
                <a:lnTo>
                  <a:pt x="1190" y="816"/>
                </a:lnTo>
                <a:lnTo>
                  <a:pt x="1667" y="1301"/>
                </a:lnTo>
                <a:lnTo>
                  <a:pt x="2149" y="815"/>
                </a:lnTo>
                <a:lnTo>
                  <a:pt x="2426" y="379"/>
                </a:lnTo>
                <a:lnTo>
                  <a:pt x="2734" y="205"/>
                </a:lnTo>
                <a:lnTo>
                  <a:pt x="2933" y="407"/>
                </a:lnTo>
                <a:lnTo>
                  <a:pt x="2762" y="718"/>
                </a:lnTo>
                <a:lnTo>
                  <a:pt x="2331" y="999"/>
                </a:lnTo>
                <a:lnTo>
                  <a:pt x="1850" y="1487"/>
                </a:lnTo>
                <a:lnTo>
                  <a:pt x="2912" y="2566"/>
                </a:lnTo>
                <a:lnTo>
                  <a:pt x="2910" y="2567"/>
                </a:lnTo>
                <a:lnTo>
                  <a:pt x="2931" y="2593"/>
                </a:lnTo>
                <a:lnTo>
                  <a:pt x="2948" y="2621"/>
                </a:lnTo>
                <a:lnTo>
                  <a:pt x="2962" y="2651"/>
                </a:lnTo>
                <a:lnTo>
                  <a:pt x="2970" y="2683"/>
                </a:lnTo>
                <a:lnTo>
                  <a:pt x="2974" y="2715"/>
                </a:lnTo>
                <a:lnTo>
                  <a:pt x="2974" y="2747"/>
                </a:lnTo>
                <a:lnTo>
                  <a:pt x="2969" y="2779"/>
                </a:lnTo>
                <a:lnTo>
                  <a:pt x="2960" y="2810"/>
                </a:lnTo>
                <a:lnTo>
                  <a:pt x="2946" y="2840"/>
                </a:lnTo>
                <a:lnTo>
                  <a:pt x="2929" y="2868"/>
                </a:lnTo>
                <a:lnTo>
                  <a:pt x="2907" y="2894"/>
                </a:lnTo>
                <a:lnTo>
                  <a:pt x="2881" y="2917"/>
                </a:lnTo>
                <a:lnTo>
                  <a:pt x="2854" y="2935"/>
                </a:lnTo>
                <a:lnTo>
                  <a:pt x="2824" y="2949"/>
                </a:lnTo>
                <a:lnTo>
                  <a:pt x="2793" y="2957"/>
                </a:lnTo>
                <a:lnTo>
                  <a:pt x="2762" y="2962"/>
                </a:lnTo>
                <a:lnTo>
                  <a:pt x="2730" y="2962"/>
                </a:lnTo>
                <a:lnTo>
                  <a:pt x="2699" y="2958"/>
                </a:lnTo>
                <a:lnTo>
                  <a:pt x="2668" y="2949"/>
                </a:lnTo>
                <a:lnTo>
                  <a:pt x="2637" y="2936"/>
                </a:lnTo>
                <a:lnTo>
                  <a:pt x="2610" y="2918"/>
                </a:lnTo>
                <a:lnTo>
                  <a:pt x="2584" y="2896"/>
                </a:lnTo>
                <a:lnTo>
                  <a:pt x="2582" y="2898"/>
                </a:lnTo>
                <a:lnTo>
                  <a:pt x="1521" y="1820"/>
                </a:lnTo>
                <a:lnTo>
                  <a:pt x="1342" y="2001"/>
                </a:lnTo>
                <a:lnTo>
                  <a:pt x="1459" y="2121"/>
                </a:lnTo>
                <a:lnTo>
                  <a:pt x="1277" y="2305"/>
                </a:lnTo>
                <a:lnTo>
                  <a:pt x="1221" y="2248"/>
                </a:lnTo>
                <a:lnTo>
                  <a:pt x="1211" y="2271"/>
                </a:lnTo>
                <a:lnTo>
                  <a:pt x="1196" y="2297"/>
                </a:lnTo>
                <a:lnTo>
                  <a:pt x="1178" y="2325"/>
                </a:lnTo>
                <a:lnTo>
                  <a:pt x="1157" y="2357"/>
                </a:lnTo>
                <a:lnTo>
                  <a:pt x="1132" y="2390"/>
                </a:lnTo>
                <a:lnTo>
                  <a:pt x="1105" y="2424"/>
                </a:lnTo>
                <a:lnTo>
                  <a:pt x="1075" y="2460"/>
                </a:lnTo>
                <a:lnTo>
                  <a:pt x="1042" y="2498"/>
                </a:lnTo>
                <a:lnTo>
                  <a:pt x="1010" y="2535"/>
                </a:lnTo>
                <a:lnTo>
                  <a:pt x="974" y="2572"/>
                </a:lnTo>
                <a:lnTo>
                  <a:pt x="938" y="2610"/>
                </a:lnTo>
                <a:lnTo>
                  <a:pt x="902" y="2647"/>
                </a:lnTo>
                <a:lnTo>
                  <a:pt x="864" y="2683"/>
                </a:lnTo>
                <a:lnTo>
                  <a:pt x="827" y="2720"/>
                </a:lnTo>
                <a:lnTo>
                  <a:pt x="789" y="2754"/>
                </a:lnTo>
                <a:lnTo>
                  <a:pt x="754" y="2786"/>
                </a:lnTo>
                <a:lnTo>
                  <a:pt x="718" y="2816"/>
                </a:lnTo>
                <a:lnTo>
                  <a:pt x="683" y="2843"/>
                </a:lnTo>
                <a:lnTo>
                  <a:pt x="651" y="2868"/>
                </a:lnTo>
                <a:lnTo>
                  <a:pt x="620" y="2890"/>
                </a:lnTo>
                <a:lnTo>
                  <a:pt x="592" y="2908"/>
                </a:lnTo>
                <a:lnTo>
                  <a:pt x="566" y="2923"/>
                </a:lnTo>
                <a:lnTo>
                  <a:pt x="543" y="2933"/>
                </a:lnTo>
                <a:lnTo>
                  <a:pt x="600" y="2990"/>
                </a:lnTo>
                <a:lnTo>
                  <a:pt x="418" y="3175"/>
                </a:lnTo>
                <a:lnTo>
                  <a:pt x="0" y="2752"/>
                </a:lnTo>
                <a:lnTo>
                  <a:pt x="182" y="2568"/>
                </a:lnTo>
                <a:lnTo>
                  <a:pt x="238" y="2625"/>
                </a:lnTo>
                <a:lnTo>
                  <a:pt x="248" y="2601"/>
                </a:lnTo>
                <a:lnTo>
                  <a:pt x="263" y="2575"/>
                </a:lnTo>
                <a:lnTo>
                  <a:pt x="280" y="2546"/>
                </a:lnTo>
                <a:lnTo>
                  <a:pt x="303" y="2515"/>
                </a:lnTo>
                <a:lnTo>
                  <a:pt x="327" y="2482"/>
                </a:lnTo>
                <a:lnTo>
                  <a:pt x="355" y="2448"/>
                </a:lnTo>
                <a:lnTo>
                  <a:pt x="384" y="2412"/>
                </a:lnTo>
                <a:lnTo>
                  <a:pt x="416" y="2375"/>
                </a:lnTo>
                <a:lnTo>
                  <a:pt x="450" y="2338"/>
                </a:lnTo>
                <a:lnTo>
                  <a:pt x="484" y="2299"/>
                </a:lnTo>
                <a:lnTo>
                  <a:pt x="521" y="2262"/>
                </a:lnTo>
                <a:lnTo>
                  <a:pt x="558" y="2225"/>
                </a:lnTo>
                <a:lnTo>
                  <a:pt x="595" y="2188"/>
                </a:lnTo>
                <a:lnTo>
                  <a:pt x="632" y="2153"/>
                </a:lnTo>
                <a:lnTo>
                  <a:pt x="669" y="2119"/>
                </a:lnTo>
                <a:lnTo>
                  <a:pt x="706" y="2087"/>
                </a:lnTo>
                <a:lnTo>
                  <a:pt x="740" y="2057"/>
                </a:lnTo>
                <a:lnTo>
                  <a:pt x="775" y="2029"/>
                </a:lnTo>
                <a:lnTo>
                  <a:pt x="808" y="2004"/>
                </a:lnTo>
                <a:lnTo>
                  <a:pt x="838" y="1983"/>
                </a:lnTo>
                <a:lnTo>
                  <a:pt x="867" y="1964"/>
                </a:lnTo>
                <a:lnTo>
                  <a:pt x="892" y="1950"/>
                </a:lnTo>
                <a:lnTo>
                  <a:pt x="916" y="1939"/>
                </a:lnTo>
                <a:lnTo>
                  <a:pt x="859" y="1882"/>
                </a:lnTo>
                <a:lnTo>
                  <a:pt x="1041" y="1698"/>
                </a:lnTo>
                <a:lnTo>
                  <a:pt x="1159" y="1817"/>
                </a:lnTo>
                <a:lnTo>
                  <a:pt x="1339" y="1635"/>
                </a:lnTo>
                <a:lnTo>
                  <a:pt x="853" y="1140"/>
                </a:lnTo>
                <a:lnTo>
                  <a:pt x="857" y="1136"/>
                </a:lnTo>
                <a:lnTo>
                  <a:pt x="240" y="1135"/>
                </a:lnTo>
                <a:lnTo>
                  <a:pt x="66" y="480"/>
                </a:lnTo>
                <a:lnTo>
                  <a:pt x="136" y="411"/>
                </a:lnTo>
                <a:lnTo>
                  <a:pt x="480" y="759"/>
                </a:lnTo>
                <a:lnTo>
                  <a:pt x="816" y="418"/>
                </a:lnTo>
                <a:lnTo>
                  <a:pt x="471" y="70"/>
                </a:lnTo>
                <a:lnTo>
                  <a:pt x="541" y="0"/>
                </a:lnTo>
                <a:close/>
              </a:path>
            </a:pathLst>
          </a:custGeom>
          <a:solidFill>
            <a:schemeClr val="accent6"/>
          </a:solidFill>
          <a:ln w="0">
            <a:noFill/>
            <a:prstDash val="solid"/>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endParaRPr lang="en-US" sz="2400" dirty="0">
              <a:latin typeface="Amazon Ember Light" charset="0"/>
              <a:ea typeface="Amazon Ember Light" charset="0"/>
              <a:cs typeface="Amazon Ember Light" charset="0"/>
            </a:endParaRPr>
          </a:p>
        </p:txBody>
      </p:sp>
      <p:sp>
        <p:nvSpPr>
          <p:cNvPr id="93" name="Freeform 92">
            <a:extLst>
              <a:ext uri="{C183D7F6-B498-43B3-948B-1728B52AA6E4}">
                <adec:decorative xmlns:adec="http://schemas.microsoft.com/office/drawing/2017/decorative" val="1"/>
              </a:ext>
            </a:extLst>
          </p:cNvPr>
          <p:cNvSpPr>
            <a:spLocks noEditPoints="1"/>
          </p:cNvSpPr>
          <p:nvPr/>
        </p:nvSpPr>
        <p:spPr bwMode="auto">
          <a:xfrm>
            <a:off x="5970708" y="1787581"/>
            <a:ext cx="397136" cy="451784"/>
          </a:xfrm>
          <a:custGeom>
            <a:avLst/>
            <a:gdLst>
              <a:gd name="T0" fmla="*/ 1320 w 2705"/>
              <a:gd name="T1" fmla="*/ 1965 h 3516"/>
              <a:gd name="T2" fmla="*/ 1206 w 2705"/>
              <a:gd name="T3" fmla="*/ 1996 h 3516"/>
              <a:gd name="T4" fmla="*/ 1115 w 2705"/>
              <a:gd name="T5" fmla="*/ 2071 h 3516"/>
              <a:gd name="T6" fmla="*/ 1061 w 2705"/>
              <a:gd name="T7" fmla="*/ 2177 h 3516"/>
              <a:gd name="T8" fmla="*/ 1051 w 2705"/>
              <a:gd name="T9" fmla="*/ 2298 h 3516"/>
              <a:gd name="T10" fmla="*/ 1089 w 2705"/>
              <a:gd name="T11" fmla="*/ 2406 h 3516"/>
              <a:gd name="T12" fmla="*/ 1135 w 2705"/>
              <a:gd name="T13" fmla="*/ 2952 h 3516"/>
              <a:gd name="T14" fmla="*/ 1157 w 2705"/>
              <a:gd name="T15" fmla="*/ 3016 h 3516"/>
              <a:gd name="T16" fmla="*/ 1214 w 2705"/>
              <a:gd name="T17" fmla="*/ 3052 h 3516"/>
              <a:gd name="T18" fmla="*/ 1490 w 2705"/>
              <a:gd name="T19" fmla="*/ 3052 h 3516"/>
              <a:gd name="T20" fmla="*/ 1547 w 2705"/>
              <a:gd name="T21" fmla="*/ 3016 h 3516"/>
              <a:gd name="T22" fmla="*/ 1570 w 2705"/>
              <a:gd name="T23" fmla="*/ 2952 h 3516"/>
              <a:gd name="T24" fmla="*/ 1616 w 2705"/>
              <a:gd name="T25" fmla="*/ 2406 h 3516"/>
              <a:gd name="T26" fmla="*/ 1653 w 2705"/>
              <a:gd name="T27" fmla="*/ 2298 h 3516"/>
              <a:gd name="T28" fmla="*/ 1643 w 2705"/>
              <a:gd name="T29" fmla="*/ 2177 h 3516"/>
              <a:gd name="T30" fmla="*/ 1590 w 2705"/>
              <a:gd name="T31" fmla="*/ 2071 h 3516"/>
              <a:gd name="T32" fmla="*/ 1499 w 2705"/>
              <a:gd name="T33" fmla="*/ 1996 h 3516"/>
              <a:gd name="T34" fmla="*/ 1384 w 2705"/>
              <a:gd name="T35" fmla="*/ 1965 h 3516"/>
              <a:gd name="T36" fmla="*/ 1352 w 2705"/>
              <a:gd name="T37" fmla="*/ 454 h 3516"/>
              <a:gd name="T38" fmla="*/ 1163 w 2705"/>
              <a:gd name="T39" fmla="*/ 484 h 3516"/>
              <a:gd name="T40" fmla="*/ 995 w 2705"/>
              <a:gd name="T41" fmla="*/ 565 h 3516"/>
              <a:gd name="T42" fmla="*/ 859 w 2705"/>
              <a:gd name="T43" fmla="*/ 690 h 3516"/>
              <a:gd name="T44" fmla="*/ 762 w 2705"/>
              <a:gd name="T45" fmla="*/ 850 h 3516"/>
              <a:gd name="T46" fmla="*/ 715 w 2705"/>
              <a:gd name="T47" fmla="*/ 1034 h 3516"/>
              <a:gd name="T48" fmla="*/ 1993 w 2705"/>
              <a:gd name="T49" fmla="*/ 1420 h 3516"/>
              <a:gd name="T50" fmla="*/ 1979 w 2705"/>
              <a:gd name="T51" fmla="*/ 971 h 3516"/>
              <a:gd name="T52" fmla="*/ 1914 w 2705"/>
              <a:gd name="T53" fmla="*/ 793 h 3516"/>
              <a:gd name="T54" fmla="*/ 1804 w 2705"/>
              <a:gd name="T55" fmla="*/ 644 h 3516"/>
              <a:gd name="T56" fmla="*/ 1657 w 2705"/>
              <a:gd name="T57" fmla="*/ 533 h 3516"/>
              <a:gd name="T58" fmla="*/ 1481 w 2705"/>
              <a:gd name="T59" fmla="*/ 468 h 3516"/>
              <a:gd name="T60" fmla="*/ 1351 w 2705"/>
              <a:gd name="T61" fmla="*/ 0 h 3516"/>
              <a:gd name="T62" fmla="*/ 1384 w 2705"/>
              <a:gd name="T63" fmla="*/ 0 h 3516"/>
              <a:gd name="T64" fmla="*/ 1628 w 2705"/>
              <a:gd name="T65" fmla="*/ 34 h 3516"/>
              <a:gd name="T66" fmla="*/ 1852 w 2705"/>
              <a:gd name="T67" fmla="*/ 119 h 3516"/>
              <a:gd name="T68" fmla="*/ 2048 w 2705"/>
              <a:gd name="T69" fmla="*/ 251 h 3516"/>
              <a:gd name="T70" fmla="*/ 2212 w 2705"/>
              <a:gd name="T71" fmla="*/ 422 h 3516"/>
              <a:gd name="T72" fmla="*/ 2337 w 2705"/>
              <a:gd name="T73" fmla="*/ 624 h 3516"/>
              <a:gd name="T74" fmla="*/ 2417 w 2705"/>
              <a:gd name="T75" fmla="*/ 853 h 3516"/>
              <a:gd name="T76" fmla="*/ 2444 w 2705"/>
              <a:gd name="T77" fmla="*/ 1100 h 3516"/>
              <a:gd name="T78" fmla="*/ 2544 w 2705"/>
              <a:gd name="T79" fmla="*/ 1423 h 3516"/>
              <a:gd name="T80" fmla="*/ 2625 w 2705"/>
              <a:gd name="T81" fmla="*/ 1467 h 3516"/>
              <a:gd name="T82" fmla="*/ 2683 w 2705"/>
              <a:gd name="T83" fmla="*/ 1551 h 3516"/>
              <a:gd name="T84" fmla="*/ 2705 w 2705"/>
              <a:gd name="T85" fmla="*/ 1664 h 3516"/>
              <a:gd name="T86" fmla="*/ 2695 w 2705"/>
              <a:gd name="T87" fmla="*/ 3349 h 3516"/>
              <a:gd name="T88" fmla="*/ 2648 w 2705"/>
              <a:gd name="T89" fmla="*/ 3444 h 3516"/>
              <a:gd name="T90" fmla="*/ 2573 w 2705"/>
              <a:gd name="T91" fmla="*/ 3504 h 3516"/>
              <a:gd name="T92" fmla="*/ 192 w 2705"/>
              <a:gd name="T93" fmla="*/ 3516 h 3516"/>
              <a:gd name="T94" fmla="*/ 104 w 2705"/>
              <a:gd name="T95" fmla="*/ 3489 h 3516"/>
              <a:gd name="T96" fmla="*/ 37 w 2705"/>
              <a:gd name="T97" fmla="*/ 3416 h 3516"/>
              <a:gd name="T98" fmla="*/ 2 w 2705"/>
              <a:gd name="T99" fmla="*/ 3311 h 3516"/>
              <a:gd name="T100" fmla="*/ 2 w 2705"/>
              <a:gd name="T101" fmla="*/ 1624 h 3516"/>
              <a:gd name="T102" fmla="*/ 37 w 2705"/>
              <a:gd name="T103" fmla="*/ 1520 h 3516"/>
              <a:gd name="T104" fmla="*/ 104 w 2705"/>
              <a:gd name="T105" fmla="*/ 1448 h 3516"/>
              <a:gd name="T106" fmla="*/ 192 w 2705"/>
              <a:gd name="T107" fmla="*/ 1420 h 3516"/>
              <a:gd name="T108" fmla="*/ 263 w 2705"/>
              <a:gd name="T109" fmla="*/ 1015 h 3516"/>
              <a:gd name="T110" fmla="*/ 309 w 2705"/>
              <a:gd name="T111" fmla="*/ 774 h 3516"/>
              <a:gd name="T112" fmla="*/ 405 w 2705"/>
              <a:gd name="T113" fmla="*/ 553 h 3516"/>
              <a:gd name="T114" fmla="*/ 543 w 2705"/>
              <a:gd name="T115" fmla="*/ 361 h 3516"/>
              <a:gd name="T116" fmla="*/ 718 w 2705"/>
              <a:gd name="T117" fmla="*/ 203 h 3516"/>
              <a:gd name="T118" fmla="*/ 924 w 2705"/>
              <a:gd name="T119" fmla="*/ 86 h 3516"/>
              <a:gd name="T120" fmla="*/ 1155 w 2705"/>
              <a:gd name="T121" fmla="*/ 16 h 3516"/>
              <a:gd name="T122" fmla="*/ 1335 w 2705"/>
              <a:gd name="T123" fmla="*/ 0 h 3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05" h="3516">
                <a:moveTo>
                  <a:pt x="1352" y="1965"/>
                </a:moveTo>
                <a:lnTo>
                  <a:pt x="1335" y="1965"/>
                </a:lnTo>
                <a:lnTo>
                  <a:pt x="1320" y="1965"/>
                </a:lnTo>
                <a:lnTo>
                  <a:pt x="1279" y="1970"/>
                </a:lnTo>
                <a:lnTo>
                  <a:pt x="1241" y="1980"/>
                </a:lnTo>
                <a:lnTo>
                  <a:pt x="1206" y="1996"/>
                </a:lnTo>
                <a:lnTo>
                  <a:pt x="1171" y="2017"/>
                </a:lnTo>
                <a:lnTo>
                  <a:pt x="1141" y="2042"/>
                </a:lnTo>
                <a:lnTo>
                  <a:pt x="1115" y="2071"/>
                </a:lnTo>
                <a:lnTo>
                  <a:pt x="1092" y="2103"/>
                </a:lnTo>
                <a:lnTo>
                  <a:pt x="1074" y="2139"/>
                </a:lnTo>
                <a:lnTo>
                  <a:pt x="1061" y="2177"/>
                </a:lnTo>
                <a:lnTo>
                  <a:pt x="1052" y="2217"/>
                </a:lnTo>
                <a:lnTo>
                  <a:pt x="1049" y="2258"/>
                </a:lnTo>
                <a:lnTo>
                  <a:pt x="1051" y="2298"/>
                </a:lnTo>
                <a:lnTo>
                  <a:pt x="1060" y="2337"/>
                </a:lnTo>
                <a:lnTo>
                  <a:pt x="1072" y="2373"/>
                </a:lnTo>
                <a:lnTo>
                  <a:pt x="1089" y="2406"/>
                </a:lnTo>
                <a:lnTo>
                  <a:pt x="1109" y="2438"/>
                </a:lnTo>
                <a:lnTo>
                  <a:pt x="1135" y="2466"/>
                </a:lnTo>
                <a:lnTo>
                  <a:pt x="1135" y="2952"/>
                </a:lnTo>
                <a:lnTo>
                  <a:pt x="1137" y="2975"/>
                </a:lnTo>
                <a:lnTo>
                  <a:pt x="1146" y="2997"/>
                </a:lnTo>
                <a:lnTo>
                  <a:pt x="1157" y="3016"/>
                </a:lnTo>
                <a:lnTo>
                  <a:pt x="1173" y="3032"/>
                </a:lnTo>
                <a:lnTo>
                  <a:pt x="1193" y="3044"/>
                </a:lnTo>
                <a:lnTo>
                  <a:pt x="1214" y="3052"/>
                </a:lnTo>
                <a:lnTo>
                  <a:pt x="1238" y="3054"/>
                </a:lnTo>
                <a:lnTo>
                  <a:pt x="1467" y="3054"/>
                </a:lnTo>
                <a:lnTo>
                  <a:pt x="1490" y="3052"/>
                </a:lnTo>
                <a:lnTo>
                  <a:pt x="1512" y="3044"/>
                </a:lnTo>
                <a:lnTo>
                  <a:pt x="1531" y="3032"/>
                </a:lnTo>
                <a:lnTo>
                  <a:pt x="1547" y="3016"/>
                </a:lnTo>
                <a:lnTo>
                  <a:pt x="1559" y="2997"/>
                </a:lnTo>
                <a:lnTo>
                  <a:pt x="1566" y="2975"/>
                </a:lnTo>
                <a:lnTo>
                  <a:pt x="1570" y="2952"/>
                </a:lnTo>
                <a:lnTo>
                  <a:pt x="1570" y="2466"/>
                </a:lnTo>
                <a:lnTo>
                  <a:pt x="1594" y="2438"/>
                </a:lnTo>
                <a:lnTo>
                  <a:pt x="1616" y="2406"/>
                </a:lnTo>
                <a:lnTo>
                  <a:pt x="1633" y="2373"/>
                </a:lnTo>
                <a:lnTo>
                  <a:pt x="1645" y="2337"/>
                </a:lnTo>
                <a:lnTo>
                  <a:pt x="1653" y="2298"/>
                </a:lnTo>
                <a:lnTo>
                  <a:pt x="1655" y="2258"/>
                </a:lnTo>
                <a:lnTo>
                  <a:pt x="1652" y="2217"/>
                </a:lnTo>
                <a:lnTo>
                  <a:pt x="1643" y="2177"/>
                </a:lnTo>
                <a:lnTo>
                  <a:pt x="1631" y="2139"/>
                </a:lnTo>
                <a:lnTo>
                  <a:pt x="1612" y="2103"/>
                </a:lnTo>
                <a:lnTo>
                  <a:pt x="1590" y="2071"/>
                </a:lnTo>
                <a:lnTo>
                  <a:pt x="1563" y="2042"/>
                </a:lnTo>
                <a:lnTo>
                  <a:pt x="1533" y="2017"/>
                </a:lnTo>
                <a:lnTo>
                  <a:pt x="1499" y="1996"/>
                </a:lnTo>
                <a:lnTo>
                  <a:pt x="1464" y="1980"/>
                </a:lnTo>
                <a:lnTo>
                  <a:pt x="1425" y="1970"/>
                </a:lnTo>
                <a:lnTo>
                  <a:pt x="1384" y="1965"/>
                </a:lnTo>
                <a:lnTo>
                  <a:pt x="1369" y="1965"/>
                </a:lnTo>
                <a:lnTo>
                  <a:pt x="1352" y="1965"/>
                </a:lnTo>
                <a:close/>
                <a:moveTo>
                  <a:pt x="1352" y="454"/>
                </a:moveTo>
                <a:lnTo>
                  <a:pt x="1287" y="458"/>
                </a:lnTo>
                <a:lnTo>
                  <a:pt x="1224" y="468"/>
                </a:lnTo>
                <a:lnTo>
                  <a:pt x="1163" y="484"/>
                </a:lnTo>
                <a:lnTo>
                  <a:pt x="1104" y="505"/>
                </a:lnTo>
                <a:lnTo>
                  <a:pt x="1047" y="533"/>
                </a:lnTo>
                <a:lnTo>
                  <a:pt x="995" y="565"/>
                </a:lnTo>
                <a:lnTo>
                  <a:pt x="945" y="603"/>
                </a:lnTo>
                <a:lnTo>
                  <a:pt x="900" y="644"/>
                </a:lnTo>
                <a:lnTo>
                  <a:pt x="859" y="690"/>
                </a:lnTo>
                <a:lnTo>
                  <a:pt x="822" y="741"/>
                </a:lnTo>
                <a:lnTo>
                  <a:pt x="790" y="793"/>
                </a:lnTo>
                <a:lnTo>
                  <a:pt x="762" y="850"/>
                </a:lnTo>
                <a:lnTo>
                  <a:pt x="741" y="909"/>
                </a:lnTo>
                <a:lnTo>
                  <a:pt x="725" y="971"/>
                </a:lnTo>
                <a:lnTo>
                  <a:pt x="715" y="1034"/>
                </a:lnTo>
                <a:lnTo>
                  <a:pt x="712" y="1100"/>
                </a:lnTo>
                <a:lnTo>
                  <a:pt x="712" y="1420"/>
                </a:lnTo>
                <a:lnTo>
                  <a:pt x="1993" y="1420"/>
                </a:lnTo>
                <a:lnTo>
                  <a:pt x="1993" y="1100"/>
                </a:lnTo>
                <a:lnTo>
                  <a:pt x="1989" y="1034"/>
                </a:lnTo>
                <a:lnTo>
                  <a:pt x="1979" y="971"/>
                </a:lnTo>
                <a:lnTo>
                  <a:pt x="1964" y="909"/>
                </a:lnTo>
                <a:lnTo>
                  <a:pt x="1942" y="850"/>
                </a:lnTo>
                <a:lnTo>
                  <a:pt x="1914" y="793"/>
                </a:lnTo>
                <a:lnTo>
                  <a:pt x="1882" y="741"/>
                </a:lnTo>
                <a:lnTo>
                  <a:pt x="1846" y="690"/>
                </a:lnTo>
                <a:lnTo>
                  <a:pt x="1804" y="644"/>
                </a:lnTo>
                <a:lnTo>
                  <a:pt x="1759" y="603"/>
                </a:lnTo>
                <a:lnTo>
                  <a:pt x="1710" y="565"/>
                </a:lnTo>
                <a:lnTo>
                  <a:pt x="1657" y="533"/>
                </a:lnTo>
                <a:lnTo>
                  <a:pt x="1601" y="505"/>
                </a:lnTo>
                <a:lnTo>
                  <a:pt x="1542" y="484"/>
                </a:lnTo>
                <a:lnTo>
                  <a:pt x="1481" y="468"/>
                </a:lnTo>
                <a:lnTo>
                  <a:pt x="1418" y="458"/>
                </a:lnTo>
                <a:lnTo>
                  <a:pt x="1352" y="454"/>
                </a:lnTo>
                <a:close/>
                <a:moveTo>
                  <a:pt x="1351" y="0"/>
                </a:moveTo>
                <a:lnTo>
                  <a:pt x="1353" y="0"/>
                </a:lnTo>
                <a:lnTo>
                  <a:pt x="1369" y="0"/>
                </a:lnTo>
                <a:lnTo>
                  <a:pt x="1384" y="0"/>
                </a:lnTo>
                <a:lnTo>
                  <a:pt x="1468" y="6"/>
                </a:lnTo>
                <a:lnTo>
                  <a:pt x="1549" y="16"/>
                </a:lnTo>
                <a:lnTo>
                  <a:pt x="1628" y="34"/>
                </a:lnTo>
                <a:lnTo>
                  <a:pt x="1706" y="57"/>
                </a:lnTo>
                <a:lnTo>
                  <a:pt x="1781" y="86"/>
                </a:lnTo>
                <a:lnTo>
                  <a:pt x="1852" y="119"/>
                </a:lnTo>
                <a:lnTo>
                  <a:pt x="1921" y="159"/>
                </a:lnTo>
                <a:lnTo>
                  <a:pt x="1986" y="203"/>
                </a:lnTo>
                <a:lnTo>
                  <a:pt x="2048" y="251"/>
                </a:lnTo>
                <a:lnTo>
                  <a:pt x="2107" y="304"/>
                </a:lnTo>
                <a:lnTo>
                  <a:pt x="2162" y="361"/>
                </a:lnTo>
                <a:lnTo>
                  <a:pt x="2212" y="422"/>
                </a:lnTo>
                <a:lnTo>
                  <a:pt x="2258" y="486"/>
                </a:lnTo>
                <a:lnTo>
                  <a:pt x="2300" y="553"/>
                </a:lnTo>
                <a:lnTo>
                  <a:pt x="2337" y="624"/>
                </a:lnTo>
                <a:lnTo>
                  <a:pt x="2368" y="698"/>
                </a:lnTo>
                <a:lnTo>
                  <a:pt x="2395" y="774"/>
                </a:lnTo>
                <a:lnTo>
                  <a:pt x="2417" y="853"/>
                </a:lnTo>
                <a:lnTo>
                  <a:pt x="2432" y="933"/>
                </a:lnTo>
                <a:lnTo>
                  <a:pt x="2441" y="1015"/>
                </a:lnTo>
                <a:lnTo>
                  <a:pt x="2444" y="1100"/>
                </a:lnTo>
                <a:lnTo>
                  <a:pt x="2444" y="1420"/>
                </a:lnTo>
                <a:lnTo>
                  <a:pt x="2513" y="1420"/>
                </a:lnTo>
                <a:lnTo>
                  <a:pt x="2544" y="1423"/>
                </a:lnTo>
                <a:lnTo>
                  <a:pt x="2573" y="1433"/>
                </a:lnTo>
                <a:lnTo>
                  <a:pt x="2601" y="1448"/>
                </a:lnTo>
                <a:lnTo>
                  <a:pt x="2625" y="1467"/>
                </a:lnTo>
                <a:lnTo>
                  <a:pt x="2648" y="1492"/>
                </a:lnTo>
                <a:lnTo>
                  <a:pt x="2667" y="1520"/>
                </a:lnTo>
                <a:lnTo>
                  <a:pt x="2683" y="1551"/>
                </a:lnTo>
                <a:lnTo>
                  <a:pt x="2695" y="1587"/>
                </a:lnTo>
                <a:lnTo>
                  <a:pt x="2702" y="1624"/>
                </a:lnTo>
                <a:lnTo>
                  <a:pt x="2705" y="1664"/>
                </a:lnTo>
                <a:lnTo>
                  <a:pt x="2705" y="3271"/>
                </a:lnTo>
                <a:lnTo>
                  <a:pt x="2702" y="3311"/>
                </a:lnTo>
                <a:lnTo>
                  <a:pt x="2695" y="3349"/>
                </a:lnTo>
                <a:lnTo>
                  <a:pt x="2683" y="3384"/>
                </a:lnTo>
                <a:lnTo>
                  <a:pt x="2667" y="3416"/>
                </a:lnTo>
                <a:lnTo>
                  <a:pt x="2648" y="3444"/>
                </a:lnTo>
                <a:lnTo>
                  <a:pt x="2625" y="3468"/>
                </a:lnTo>
                <a:lnTo>
                  <a:pt x="2601" y="3489"/>
                </a:lnTo>
                <a:lnTo>
                  <a:pt x="2573" y="3504"/>
                </a:lnTo>
                <a:lnTo>
                  <a:pt x="2544" y="3513"/>
                </a:lnTo>
                <a:lnTo>
                  <a:pt x="2513" y="3516"/>
                </a:lnTo>
                <a:lnTo>
                  <a:pt x="192" y="3516"/>
                </a:lnTo>
                <a:lnTo>
                  <a:pt x="161" y="3513"/>
                </a:lnTo>
                <a:lnTo>
                  <a:pt x="132" y="3504"/>
                </a:lnTo>
                <a:lnTo>
                  <a:pt x="104" y="3489"/>
                </a:lnTo>
                <a:lnTo>
                  <a:pt x="78" y="3468"/>
                </a:lnTo>
                <a:lnTo>
                  <a:pt x="57" y="3444"/>
                </a:lnTo>
                <a:lnTo>
                  <a:pt x="37" y="3416"/>
                </a:lnTo>
                <a:lnTo>
                  <a:pt x="21" y="3384"/>
                </a:lnTo>
                <a:lnTo>
                  <a:pt x="10" y="3349"/>
                </a:lnTo>
                <a:lnTo>
                  <a:pt x="2" y="3311"/>
                </a:lnTo>
                <a:lnTo>
                  <a:pt x="0" y="3271"/>
                </a:lnTo>
                <a:lnTo>
                  <a:pt x="0" y="1664"/>
                </a:lnTo>
                <a:lnTo>
                  <a:pt x="2" y="1624"/>
                </a:lnTo>
                <a:lnTo>
                  <a:pt x="10" y="1587"/>
                </a:lnTo>
                <a:lnTo>
                  <a:pt x="21" y="1551"/>
                </a:lnTo>
                <a:lnTo>
                  <a:pt x="37" y="1520"/>
                </a:lnTo>
                <a:lnTo>
                  <a:pt x="57" y="1492"/>
                </a:lnTo>
                <a:lnTo>
                  <a:pt x="78" y="1467"/>
                </a:lnTo>
                <a:lnTo>
                  <a:pt x="104" y="1448"/>
                </a:lnTo>
                <a:lnTo>
                  <a:pt x="132" y="1433"/>
                </a:lnTo>
                <a:lnTo>
                  <a:pt x="161" y="1423"/>
                </a:lnTo>
                <a:lnTo>
                  <a:pt x="192" y="1420"/>
                </a:lnTo>
                <a:lnTo>
                  <a:pt x="260" y="1420"/>
                </a:lnTo>
                <a:lnTo>
                  <a:pt x="260" y="1100"/>
                </a:lnTo>
                <a:lnTo>
                  <a:pt x="263" y="1015"/>
                </a:lnTo>
                <a:lnTo>
                  <a:pt x="273" y="933"/>
                </a:lnTo>
                <a:lnTo>
                  <a:pt x="288" y="853"/>
                </a:lnTo>
                <a:lnTo>
                  <a:pt x="309" y="774"/>
                </a:lnTo>
                <a:lnTo>
                  <a:pt x="336" y="698"/>
                </a:lnTo>
                <a:lnTo>
                  <a:pt x="367" y="624"/>
                </a:lnTo>
                <a:lnTo>
                  <a:pt x="405" y="553"/>
                </a:lnTo>
                <a:lnTo>
                  <a:pt x="446" y="486"/>
                </a:lnTo>
                <a:lnTo>
                  <a:pt x="492" y="422"/>
                </a:lnTo>
                <a:lnTo>
                  <a:pt x="543" y="361"/>
                </a:lnTo>
                <a:lnTo>
                  <a:pt x="597" y="304"/>
                </a:lnTo>
                <a:lnTo>
                  <a:pt x="656" y="251"/>
                </a:lnTo>
                <a:lnTo>
                  <a:pt x="718" y="203"/>
                </a:lnTo>
                <a:lnTo>
                  <a:pt x="784" y="159"/>
                </a:lnTo>
                <a:lnTo>
                  <a:pt x="852" y="119"/>
                </a:lnTo>
                <a:lnTo>
                  <a:pt x="924" y="86"/>
                </a:lnTo>
                <a:lnTo>
                  <a:pt x="999" y="57"/>
                </a:lnTo>
                <a:lnTo>
                  <a:pt x="1076" y="34"/>
                </a:lnTo>
                <a:lnTo>
                  <a:pt x="1155" y="16"/>
                </a:lnTo>
                <a:lnTo>
                  <a:pt x="1237" y="6"/>
                </a:lnTo>
                <a:lnTo>
                  <a:pt x="1320" y="0"/>
                </a:lnTo>
                <a:lnTo>
                  <a:pt x="1335" y="0"/>
                </a:lnTo>
                <a:lnTo>
                  <a:pt x="1351" y="0"/>
                </a:lnTo>
                <a:close/>
              </a:path>
            </a:pathLst>
          </a:custGeom>
          <a:solidFill>
            <a:schemeClr val="accent5"/>
          </a:solidFill>
          <a:ln w="0">
            <a:noFill/>
            <a:prstDash val="solid"/>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endParaRPr lang="en-US" sz="2400" dirty="0">
              <a:latin typeface="Amazon Ember Light" charset="0"/>
              <a:ea typeface="Amazon Ember Light" charset="0"/>
              <a:cs typeface="Amazon Ember Light" charset="0"/>
            </a:endParaRPr>
          </a:p>
        </p:txBody>
      </p:sp>
      <p:sp>
        <p:nvSpPr>
          <p:cNvPr id="94" name="Freeform 93">
            <a:extLst>
              <a:ext uri="{C183D7F6-B498-43B3-948B-1728B52AA6E4}">
                <adec:decorative xmlns:adec="http://schemas.microsoft.com/office/drawing/2017/decorative" val="1"/>
              </a:ext>
            </a:extLst>
          </p:cNvPr>
          <p:cNvSpPr>
            <a:spLocks noEditPoints="1"/>
          </p:cNvSpPr>
          <p:nvPr/>
        </p:nvSpPr>
        <p:spPr bwMode="auto">
          <a:xfrm>
            <a:off x="6433117" y="3083136"/>
            <a:ext cx="341376" cy="510843"/>
          </a:xfrm>
          <a:custGeom>
            <a:avLst/>
            <a:gdLst>
              <a:gd name="T0" fmla="*/ 952 w 2029"/>
              <a:gd name="T1" fmla="*/ 605 h 3349"/>
              <a:gd name="T2" fmla="*/ 875 w 2029"/>
              <a:gd name="T3" fmla="*/ 629 h 3349"/>
              <a:gd name="T4" fmla="*/ 808 w 2029"/>
              <a:gd name="T5" fmla="*/ 671 h 3349"/>
              <a:gd name="T6" fmla="*/ 756 w 2029"/>
              <a:gd name="T7" fmla="*/ 729 h 3349"/>
              <a:gd name="T8" fmla="*/ 723 w 2029"/>
              <a:gd name="T9" fmla="*/ 801 h 3349"/>
              <a:gd name="T10" fmla="*/ 711 w 2029"/>
              <a:gd name="T11" fmla="*/ 882 h 3349"/>
              <a:gd name="T12" fmla="*/ 723 w 2029"/>
              <a:gd name="T13" fmla="*/ 963 h 3349"/>
              <a:gd name="T14" fmla="*/ 756 w 2029"/>
              <a:gd name="T15" fmla="*/ 1034 h 3349"/>
              <a:gd name="T16" fmla="*/ 808 w 2029"/>
              <a:gd name="T17" fmla="*/ 1094 h 3349"/>
              <a:gd name="T18" fmla="*/ 875 w 2029"/>
              <a:gd name="T19" fmla="*/ 1136 h 3349"/>
              <a:gd name="T20" fmla="*/ 952 w 2029"/>
              <a:gd name="T21" fmla="*/ 1159 h 3349"/>
              <a:gd name="T22" fmla="*/ 1036 w 2029"/>
              <a:gd name="T23" fmla="*/ 1159 h 3349"/>
              <a:gd name="T24" fmla="*/ 1114 w 2029"/>
              <a:gd name="T25" fmla="*/ 1136 h 3349"/>
              <a:gd name="T26" fmla="*/ 1180 w 2029"/>
              <a:gd name="T27" fmla="*/ 1094 h 3349"/>
              <a:gd name="T28" fmla="*/ 1232 w 2029"/>
              <a:gd name="T29" fmla="*/ 1034 h 3349"/>
              <a:gd name="T30" fmla="*/ 1266 w 2029"/>
              <a:gd name="T31" fmla="*/ 963 h 3349"/>
              <a:gd name="T32" fmla="*/ 1277 w 2029"/>
              <a:gd name="T33" fmla="*/ 882 h 3349"/>
              <a:gd name="T34" fmla="*/ 1266 w 2029"/>
              <a:gd name="T35" fmla="*/ 801 h 3349"/>
              <a:gd name="T36" fmla="*/ 1232 w 2029"/>
              <a:gd name="T37" fmla="*/ 729 h 3349"/>
              <a:gd name="T38" fmla="*/ 1180 w 2029"/>
              <a:gd name="T39" fmla="*/ 671 h 3349"/>
              <a:gd name="T40" fmla="*/ 1114 w 2029"/>
              <a:gd name="T41" fmla="*/ 629 h 3349"/>
              <a:gd name="T42" fmla="*/ 1036 w 2029"/>
              <a:gd name="T43" fmla="*/ 605 h 3349"/>
              <a:gd name="T44" fmla="*/ 933 w 2029"/>
              <a:gd name="T45" fmla="*/ 0 h 3349"/>
              <a:gd name="T46" fmla="*/ 1043 w 2029"/>
              <a:gd name="T47" fmla="*/ 481 h 3349"/>
              <a:gd name="T48" fmla="*/ 1138 w 2029"/>
              <a:gd name="T49" fmla="*/ 506 h 3349"/>
              <a:gd name="T50" fmla="*/ 1224 w 2029"/>
              <a:gd name="T51" fmla="*/ 551 h 3349"/>
              <a:gd name="T52" fmla="*/ 1296 w 2029"/>
              <a:gd name="T53" fmla="*/ 615 h 3349"/>
              <a:gd name="T54" fmla="*/ 1350 w 2029"/>
              <a:gd name="T55" fmla="*/ 692 h 3349"/>
              <a:gd name="T56" fmla="*/ 1385 w 2029"/>
              <a:gd name="T57" fmla="*/ 782 h 3349"/>
              <a:gd name="T58" fmla="*/ 1397 w 2029"/>
              <a:gd name="T59" fmla="*/ 882 h 3349"/>
              <a:gd name="T60" fmla="*/ 1389 w 2029"/>
              <a:gd name="T61" fmla="*/ 967 h 3349"/>
              <a:gd name="T62" fmla="*/ 1362 w 2029"/>
              <a:gd name="T63" fmla="*/ 1045 h 3349"/>
              <a:gd name="T64" fmla="*/ 1785 w 2029"/>
              <a:gd name="T65" fmla="*/ 1611 h 3349"/>
              <a:gd name="T66" fmla="*/ 1873 w 2029"/>
              <a:gd name="T67" fmla="*/ 1470 h 3349"/>
              <a:gd name="T68" fmla="*/ 1785 w 2029"/>
              <a:gd name="T69" fmla="*/ 1838 h 3349"/>
              <a:gd name="T70" fmla="*/ 1605 w 2029"/>
              <a:gd name="T71" fmla="*/ 1698 h 3349"/>
              <a:gd name="T72" fmla="*/ 1909 w 2029"/>
              <a:gd name="T73" fmla="*/ 2816 h 3349"/>
              <a:gd name="T74" fmla="*/ 1758 w 2029"/>
              <a:gd name="T75" fmla="*/ 2878 h 3349"/>
              <a:gd name="T76" fmla="*/ 1015 w 2029"/>
              <a:gd name="T77" fmla="*/ 1310 h 3349"/>
              <a:gd name="T78" fmla="*/ 272 w 2029"/>
              <a:gd name="T79" fmla="*/ 2878 h 3349"/>
              <a:gd name="T80" fmla="*/ 121 w 2029"/>
              <a:gd name="T81" fmla="*/ 2816 h 3349"/>
              <a:gd name="T82" fmla="*/ 425 w 2029"/>
              <a:gd name="T83" fmla="*/ 1698 h 3349"/>
              <a:gd name="T84" fmla="*/ 237 w 2029"/>
              <a:gd name="T85" fmla="*/ 1838 h 3349"/>
              <a:gd name="T86" fmla="*/ 148 w 2029"/>
              <a:gd name="T87" fmla="*/ 1470 h 3349"/>
              <a:gd name="T88" fmla="*/ 237 w 2029"/>
              <a:gd name="T89" fmla="*/ 1611 h 3349"/>
              <a:gd name="T90" fmla="*/ 646 w 2029"/>
              <a:gd name="T91" fmla="*/ 1103 h 3349"/>
              <a:gd name="T92" fmla="*/ 603 w 2029"/>
              <a:gd name="T93" fmla="*/ 1022 h 3349"/>
              <a:gd name="T94" fmla="*/ 581 w 2029"/>
              <a:gd name="T95" fmla="*/ 931 h 3349"/>
              <a:gd name="T96" fmla="*/ 581 w 2029"/>
              <a:gd name="T97" fmla="*/ 831 h 3349"/>
              <a:gd name="T98" fmla="*/ 605 w 2029"/>
              <a:gd name="T99" fmla="*/ 736 h 3349"/>
              <a:gd name="T100" fmla="*/ 651 w 2029"/>
              <a:gd name="T101" fmla="*/ 652 h 3349"/>
              <a:gd name="T102" fmla="*/ 714 w 2029"/>
              <a:gd name="T103" fmla="*/ 581 h 3349"/>
              <a:gd name="T104" fmla="*/ 792 w 2029"/>
              <a:gd name="T105" fmla="*/ 526 h 3349"/>
              <a:gd name="T106" fmla="*/ 883 w 2029"/>
              <a:gd name="T107" fmla="*/ 491 h 3349"/>
              <a:gd name="T108" fmla="*/ 933 w 2029"/>
              <a:gd name="T109" fmla="*/ 0 h 3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29" h="3349">
                <a:moveTo>
                  <a:pt x="995" y="602"/>
                </a:moveTo>
                <a:lnTo>
                  <a:pt x="952" y="605"/>
                </a:lnTo>
                <a:lnTo>
                  <a:pt x="912" y="614"/>
                </a:lnTo>
                <a:lnTo>
                  <a:pt x="875" y="629"/>
                </a:lnTo>
                <a:lnTo>
                  <a:pt x="839" y="648"/>
                </a:lnTo>
                <a:lnTo>
                  <a:pt x="808" y="671"/>
                </a:lnTo>
                <a:lnTo>
                  <a:pt x="781" y="699"/>
                </a:lnTo>
                <a:lnTo>
                  <a:pt x="756" y="729"/>
                </a:lnTo>
                <a:lnTo>
                  <a:pt x="737" y="764"/>
                </a:lnTo>
                <a:lnTo>
                  <a:pt x="723" y="801"/>
                </a:lnTo>
                <a:lnTo>
                  <a:pt x="713" y="841"/>
                </a:lnTo>
                <a:lnTo>
                  <a:pt x="711" y="882"/>
                </a:lnTo>
                <a:lnTo>
                  <a:pt x="713" y="923"/>
                </a:lnTo>
                <a:lnTo>
                  <a:pt x="723" y="963"/>
                </a:lnTo>
                <a:lnTo>
                  <a:pt x="737" y="1000"/>
                </a:lnTo>
                <a:lnTo>
                  <a:pt x="756" y="1034"/>
                </a:lnTo>
                <a:lnTo>
                  <a:pt x="781" y="1066"/>
                </a:lnTo>
                <a:lnTo>
                  <a:pt x="808" y="1094"/>
                </a:lnTo>
                <a:lnTo>
                  <a:pt x="839" y="1117"/>
                </a:lnTo>
                <a:lnTo>
                  <a:pt x="875" y="1136"/>
                </a:lnTo>
                <a:lnTo>
                  <a:pt x="912" y="1150"/>
                </a:lnTo>
                <a:lnTo>
                  <a:pt x="952" y="1159"/>
                </a:lnTo>
                <a:lnTo>
                  <a:pt x="995" y="1163"/>
                </a:lnTo>
                <a:lnTo>
                  <a:pt x="1036" y="1159"/>
                </a:lnTo>
                <a:lnTo>
                  <a:pt x="1076" y="1150"/>
                </a:lnTo>
                <a:lnTo>
                  <a:pt x="1114" y="1136"/>
                </a:lnTo>
                <a:lnTo>
                  <a:pt x="1149" y="1117"/>
                </a:lnTo>
                <a:lnTo>
                  <a:pt x="1180" y="1094"/>
                </a:lnTo>
                <a:lnTo>
                  <a:pt x="1208" y="1066"/>
                </a:lnTo>
                <a:lnTo>
                  <a:pt x="1232" y="1034"/>
                </a:lnTo>
                <a:lnTo>
                  <a:pt x="1252" y="1000"/>
                </a:lnTo>
                <a:lnTo>
                  <a:pt x="1266" y="963"/>
                </a:lnTo>
                <a:lnTo>
                  <a:pt x="1274" y="923"/>
                </a:lnTo>
                <a:lnTo>
                  <a:pt x="1277" y="882"/>
                </a:lnTo>
                <a:lnTo>
                  <a:pt x="1274" y="841"/>
                </a:lnTo>
                <a:lnTo>
                  <a:pt x="1266" y="801"/>
                </a:lnTo>
                <a:lnTo>
                  <a:pt x="1252" y="764"/>
                </a:lnTo>
                <a:lnTo>
                  <a:pt x="1232" y="729"/>
                </a:lnTo>
                <a:lnTo>
                  <a:pt x="1208" y="699"/>
                </a:lnTo>
                <a:lnTo>
                  <a:pt x="1180" y="671"/>
                </a:lnTo>
                <a:lnTo>
                  <a:pt x="1149" y="648"/>
                </a:lnTo>
                <a:lnTo>
                  <a:pt x="1114" y="629"/>
                </a:lnTo>
                <a:lnTo>
                  <a:pt x="1076" y="614"/>
                </a:lnTo>
                <a:lnTo>
                  <a:pt x="1036" y="605"/>
                </a:lnTo>
                <a:lnTo>
                  <a:pt x="995" y="602"/>
                </a:lnTo>
                <a:close/>
                <a:moveTo>
                  <a:pt x="933" y="0"/>
                </a:moveTo>
                <a:lnTo>
                  <a:pt x="1043" y="0"/>
                </a:lnTo>
                <a:lnTo>
                  <a:pt x="1043" y="481"/>
                </a:lnTo>
                <a:lnTo>
                  <a:pt x="1092" y="491"/>
                </a:lnTo>
                <a:lnTo>
                  <a:pt x="1138" y="506"/>
                </a:lnTo>
                <a:lnTo>
                  <a:pt x="1182" y="526"/>
                </a:lnTo>
                <a:lnTo>
                  <a:pt x="1224" y="551"/>
                </a:lnTo>
                <a:lnTo>
                  <a:pt x="1261" y="581"/>
                </a:lnTo>
                <a:lnTo>
                  <a:pt x="1296" y="615"/>
                </a:lnTo>
                <a:lnTo>
                  <a:pt x="1324" y="652"/>
                </a:lnTo>
                <a:lnTo>
                  <a:pt x="1350" y="692"/>
                </a:lnTo>
                <a:lnTo>
                  <a:pt x="1371" y="736"/>
                </a:lnTo>
                <a:lnTo>
                  <a:pt x="1385" y="782"/>
                </a:lnTo>
                <a:lnTo>
                  <a:pt x="1394" y="831"/>
                </a:lnTo>
                <a:lnTo>
                  <a:pt x="1397" y="882"/>
                </a:lnTo>
                <a:lnTo>
                  <a:pt x="1395" y="924"/>
                </a:lnTo>
                <a:lnTo>
                  <a:pt x="1389" y="967"/>
                </a:lnTo>
                <a:lnTo>
                  <a:pt x="1377" y="1006"/>
                </a:lnTo>
                <a:lnTo>
                  <a:pt x="1362" y="1045"/>
                </a:lnTo>
                <a:lnTo>
                  <a:pt x="1573" y="1611"/>
                </a:lnTo>
                <a:lnTo>
                  <a:pt x="1785" y="1611"/>
                </a:lnTo>
                <a:lnTo>
                  <a:pt x="1785" y="1470"/>
                </a:lnTo>
                <a:lnTo>
                  <a:pt x="1873" y="1470"/>
                </a:lnTo>
                <a:lnTo>
                  <a:pt x="1873" y="1838"/>
                </a:lnTo>
                <a:lnTo>
                  <a:pt x="1785" y="1838"/>
                </a:lnTo>
                <a:lnTo>
                  <a:pt x="1785" y="1698"/>
                </a:lnTo>
                <a:lnTo>
                  <a:pt x="1605" y="1698"/>
                </a:lnTo>
                <a:lnTo>
                  <a:pt x="1929" y="2571"/>
                </a:lnTo>
                <a:lnTo>
                  <a:pt x="1909" y="2816"/>
                </a:lnTo>
                <a:lnTo>
                  <a:pt x="2029" y="3349"/>
                </a:lnTo>
                <a:lnTo>
                  <a:pt x="1758" y="2878"/>
                </a:lnTo>
                <a:lnTo>
                  <a:pt x="1563" y="2697"/>
                </a:lnTo>
                <a:lnTo>
                  <a:pt x="1015" y="1310"/>
                </a:lnTo>
                <a:lnTo>
                  <a:pt x="467" y="2697"/>
                </a:lnTo>
                <a:lnTo>
                  <a:pt x="272" y="2878"/>
                </a:lnTo>
                <a:lnTo>
                  <a:pt x="0" y="3349"/>
                </a:lnTo>
                <a:lnTo>
                  <a:pt x="121" y="2816"/>
                </a:lnTo>
                <a:lnTo>
                  <a:pt x="100" y="2571"/>
                </a:lnTo>
                <a:lnTo>
                  <a:pt x="425" y="1698"/>
                </a:lnTo>
                <a:lnTo>
                  <a:pt x="237" y="1698"/>
                </a:lnTo>
                <a:lnTo>
                  <a:pt x="237" y="1838"/>
                </a:lnTo>
                <a:lnTo>
                  <a:pt x="148" y="1838"/>
                </a:lnTo>
                <a:lnTo>
                  <a:pt x="148" y="1470"/>
                </a:lnTo>
                <a:lnTo>
                  <a:pt x="237" y="1470"/>
                </a:lnTo>
                <a:lnTo>
                  <a:pt x="237" y="1611"/>
                </a:lnTo>
                <a:lnTo>
                  <a:pt x="457" y="1611"/>
                </a:lnTo>
                <a:lnTo>
                  <a:pt x="646" y="1103"/>
                </a:lnTo>
                <a:lnTo>
                  <a:pt x="622" y="1064"/>
                </a:lnTo>
                <a:lnTo>
                  <a:pt x="603" y="1022"/>
                </a:lnTo>
                <a:lnTo>
                  <a:pt x="590" y="977"/>
                </a:lnTo>
                <a:lnTo>
                  <a:pt x="581" y="931"/>
                </a:lnTo>
                <a:lnTo>
                  <a:pt x="578" y="882"/>
                </a:lnTo>
                <a:lnTo>
                  <a:pt x="581" y="831"/>
                </a:lnTo>
                <a:lnTo>
                  <a:pt x="590" y="782"/>
                </a:lnTo>
                <a:lnTo>
                  <a:pt x="605" y="736"/>
                </a:lnTo>
                <a:lnTo>
                  <a:pt x="625" y="692"/>
                </a:lnTo>
                <a:lnTo>
                  <a:pt x="651" y="652"/>
                </a:lnTo>
                <a:lnTo>
                  <a:pt x="680" y="615"/>
                </a:lnTo>
                <a:lnTo>
                  <a:pt x="714" y="581"/>
                </a:lnTo>
                <a:lnTo>
                  <a:pt x="752" y="551"/>
                </a:lnTo>
                <a:lnTo>
                  <a:pt x="792" y="526"/>
                </a:lnTo>
                <a:lnTo>
                  <a:pt x="837" y="506"/>
                </a:lnTo>
                <a:lnTo>
                  <a:pt x="883" y="491"/>
                </a:lnTo>
                <a:lnTo>
                  <a:pt x="933" y="481"/>
                </a:lnTo>
                <a:lnTo>
                  <a:pt x="933" y="0"/>
                </a:lnTo>
                <a:close/>
              </a:path>
            </a:pathLst>
          </a:custGeom>
          <a:solidFill>
            <a:schemeClr val="accent3">
              <a:lumMod val="75000"/>
            </a:schemeClr>
          </a:solidFill>
          <a:ln w="0">
            <a:noFill/>
            <a:prstDash val="solid"/>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endParaRPr lang="en-US" sz="2400" dirty="0">
              <a:latin typeface="Amazon Ember Light" charset="0"/>
              <a:ea typeface="Amazon Ember Light" charset="0"/>
              <a:cs typeface="Amazon Ember Light" charset="0"/>
            </a:endParaRPr>
          </a:p>
        </p:txBody>
      </p:sp>
      <p:sp>
        <p:nvSpPr>
          <p:cNvPr id="95" name="Freeform 94">
            <a:extLst>
              <a:ext uri="{C183D7F6-B498-43B3-948B-1728B52AA6E4}">
                <adec:decorative xmlns:adec="http://schemas.microsoft.com/office/drawing/2017/decorative" val="1"/>
              </a:ext>
            </a:extLst>
          </p:cNvPr>
          <p:cNvSpPr>
            <a:spLocks noEditPoints="1"/>
          </p:cNvSpPr>
          <p:nvPr/>
        </p:nvSpPr>
        <p:spPr bwMode="auto">
          <a:xfrm>
            <a:off x="7400988" y="5659410"/>
            <a:ext cx="498467" cy="511633"/>
          </a:xfrm>
          <a:custGeom>
            <a:avLst/>
            <a:gdLst>
              <a:gd name="T0" fmla="*/ 2406 w 3180"/>
              <a:gd name="T1" fmla="*/ 1358 h 3260"/>
              <a:gd name="T2" fmla="*/ 2504 w 3180"/>
              <a:gd name="T3" fmla="*/ 1507 h 3260"/>
              <a:gd name="T4" fmla="*/ 2654 w 3180"/>
              <a:gd name="T5" fmla="*/ 1408 h 3260"/>
              <a:gd name="T6" fmla="*/ 2555 w 3180"/>
              <a:gd name="T7" fmla="*/ 1259 h 3260"/>
              <a:gd name="T8" fmla="*/ 2770 w 3180"/>
              <a:gd name="T9" fmla="*/ 565 h 3260"/>
              <a:gd name="T10" fmla="*/ 2754 w 3180"/>
              <a:gd name="T11" fmla="*/ 758 h 3260"/>
              <a:gd name="T12" fmla="*/ 2622 w 3180"/>
              <a:gd name="T13" fmla="*/ 955 h 3260"/>
              <a:gd name="T14" fmla="*/ 2986 w 3180"/>
              <a:gd name="T15" fmla="*/ 1513 h 3260"/>
              <a:gd name="T16" fmla="*/ 3103 w 3180"/>
              <a:gd name="T17" fmla="*/ 1857 h 3260"/>
              <a:gd name="T18" fmla="*/ 3180 w 3180"/>
              <a:gd name="T19" fmla="*/ 1873 h 3260"/>
              <a:gd name="T20" fmla="*/ 3043 w 3180"/>
              <a:gd name="T21" fmla="*/ 2392 h 3260"/>
              <a:gd name="T22" fmla="*/ 2730 w 3180"/>
              <a:gd name="T23" fmla="*/ 2607 h 3260"/>
              <a:gd name="T24" fmla="*/ 2477 w 3180"/>
              <a:gd name="T25" fmla="*/ 2882 h 3260"/>
              <a:gd name="T26" fmla="*/ 2508 w 3180"/>
              <a:gd name="T27" fmla="*/ 3060 h 3260"/>
              <a:gd name="T28" fmla="*/ 2118 w 3180"/>
              <a:gd name="T29" fmla="*/ 3117 h 3260"/>
              <a:gd name="T30" fmla="*/ 2022 w 3180"/>
              <a:gd name="T31" fmla="*/ 3060 h 3260"/>
              <a:gd name="T32" fmla="*/ 1953 w 3180"/>
              <a:gd name="T33" fmla="*/ 3189 h 3260"/>
              <a:gd name="T34" fmla="*/ 1668 w 3180"/>
              <a:gd name="T35" fmla="*/ 3257 h 3260"/>
              <a:gd name="T36" fmla="*/ 1621 w 3180"/>
              <a:gd name="T37" fmla="*/ 3155 h 3260"/>
              <a:gd name="T38" fmla="*/ 1208 w 3180"/>
              <a:gd name="T39" fmla="*/ 3149 h 3260"/>
              <a:gd name="T40" fmla="*/ 930 w 3180"/>
              <a:gd name="T41" fmla="*/ 3112 h 3260"/>
              <a:gd name="T42" fmla="*/ 917 w 3180"/>
              <a:gd name="T43" fmla="*/ 3211 h 3260"/>
              <a:gd name="T44" fmla="*/ 551 w 3180"/>
              <a:gd name="T45" fmla="*/ 3206 h 3260"/>
              <a:gd name="T46" fmla="*/ 535 w 3180"/>
              <a:gd name="T47" fmla="*/ 2998 h 3260"/>
              <a:gd name="T48" fmla="*/ 404 w 3180"/>
              <a:gd name="T49" fmla="*/ 2796 h 3260"/>
              <a:gd name="T50" fmla="*/ 70 w 3180"/>
              <a:gd name="T51" fmla="*/ 2369 h 3260"/>
              <a:gd name="T52" fmla="*/ 3 w 3180"/>
              <a:gd name="T53" fmla="*/ 1798 h 3260"/>
              <a:gd name="T54" fmla="*/ 221 w 3180"/>
              <a:gd name="T55" fmla="*/ 1191 h 3260"/>
              <a:gd name="T56" fmla="*/ 650 w 3180"/>
              <a:gd name="T57" fmla="*/ 934 h 3260"/>
              <a:gd name="T58" fmla="*/ 863 w 3180"/>
              <a:gd name="T59" fmla="*/ 1110 h 3260"/>
              <a:gd name="T60" fmla="*/ 735 w 3180"/>
              <a:gd name="T61" fmla="*/ 1163 h 3260"/>
              <a:gd name="T62" fmla="*/ 744 w 3180"/>
              <a:gd name="T63" fmla="*/ 1311 h 3260"/>
              <a:gd name="T64" fmla="*/ 1090 w 3180"/>
              <a:gd name="T65" fmla="*/ 1254 h 3260"/>
              <a:gd name="T66" fmla="*/ 1413 w 3180"/>
              <a:gd name="T67" fmla="*/ 1229 h 3260"/>
              <a:gd name="T68" fmla="*/ 1541 w 3180"/>
              <a:gd name="T69" fmla="*/ 1194 h 3260"/>
              <a:gd name="T70" fmla="*/ 1506 w 3180"/>
              <a:gd name="T71" fmla="*/ 1039 h 3260"/>
              <a:gd name="T72" fmla="*/ 1580 w 3180"/>
              <a:gd name="T73" fmla="*/ 837 h 3260"/>
              <a:gd name="T74" fmla="*/ 1830 w 3180"/>
              <a:gd name="T75" fmla="*/ 659 h 3260"/>
              <a:gd name="T76" fmla="*/ 2014 w 3180"/>
              <a:gd name="T77" fmla="*/ 703 h 3260"/>
              <a:gd name="T78" fmla="*/ 2125 w 3180"/>
              <a:gd name="T79" fmla="*/ 659 h 3260"/>
              <a:gd name="T80" fmla="*/ 2406 w 3180"/>
              <a:gd name="T81" fmla="*/ 560 h 3260"/>
              <a:gd name="T82" fmla="*/ 1131 w 3180"/>
              <a:gd name="T83" fmla="*/ 202 h 3260"/>
              <a:gd name="T84" fmla="*/ 894 w 3180"/>
              <a:gd name="T85" fmla="*/ 332 h 3260"/>
              <a:gd name="T86" fmla="*/ 1020 w 3180"/>
              <a:gd name="T87" fmla="*/ 271 h 3260"/>
              <a:gd name="T88" fmla="*/ 995 w 3180"/>
              <a:gd name="T89" fmla="*/ 125 h 3260"/>
              <a:gd name="T90" fmla="*/ 719 w 3180"/>
              <a:gd name="T91" fmla="*/ 370 h 3260"/>
              <a:gd name="T92" fmla="*/ 765 w 3180"/>
              <a:gd name="T93" fmla="*/ 746 h 3260"/>
              <a:gd name="T94" fmla="*/ 1094 w 3180"/>
              <a:gd name="T95" fmla="*/ 919 h 3260"/>
              <a:gd name="T96" fmla="*/ 1423 w 3180"/>
              <a:gd name="T97" fmla="*/ 746 h 3260"/>
              <a:gd name="T98" fmla="*/ 1468 w 3180"/>
              <a:gd name="T99" fmla="*/ 370 h 3260"/>
              <a:gd name="T100" fmla="*/ 1192 w 3180"/>
              <a:gd name="T101" fmla="*/ 125 h 3260"/>
              <a:gd name="T102" fmla="*/ 1352 w 3180"/>
              <a:gd name="T103" fmla="*/ 71 h 3260"/>
              <a:gd name="T104" fmla="*/ 1595 w 3180"/>
              <a:gd name="T105" fmla="*/ 406 h 3260"/>
              <a:gd name="T106" fmla="*/ 1508 w 3180"/>
              <a:gd name="T107" fmla="*/ 820 h 3260"/>
              <a:gd name="T108" fmla="*/ 1150 w 3180"/>
              <a:gd name="T109" fmla="*/ 1028 h 3260"/>
              <a:gd name="T110" fmla="*/ 750 w 3180"/>
              <a:gd name="T111" fmla="*/ 899 h 3260"/>
              <a:gd name="T112" fmla="*/ 581 w 3180"/>
              <a:gd name="T113" fmla="*/ 516 h 3260"/>
              <a:gd name="T114" fmla="*/ 750 w 3180"/>
              <a:gd name="T115" fmla="*/ 133 h 3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180" h="3260">
                <a:moveTo>
                  <a:pt x="2530" y="1257"/>
                </a:moveTo>
                <a:lnTo>
                  <a:pt x="2504" y="1259"/>
                </a:lnTo>
                <a:lnTo>
                  <a:pt x="2480" y="1266"/>
                </a:lnTo>
                <a:lnTo>
                  <a:pt x="2458" y="1278"/>
                </a:lnTo>
                <a:lnTo>
                  <a:pt x="2440" y="1293"/>
                </a:lnTo>
                <a:lnTo>
                  <a:pt x="2425" y="1312"/>
                </a:lnTo>
                <a:lnTo>
                  <a:pt x="2413" y="1334"/>
                </a:lnTo>
                <a:lnTo>
                  <a:pt x="2406" y="1358"/>
                </a:lnTo>
                <a:lnTo>
                  <a:pt x="2403" y="1383"/>
                </a:lnTo>
                <a:lnTo>
                  <a:pt x="2406" y="1409"/>
                </a:lnTo>
                <a:lnTo>
                  <a:pt x="2413" y="1433"/>
                </a:lnTo>
                <a:lnTo>
                  <a:pt x="2425" y="1454"/>
                </a:lnTo>
                <a:lnTo>
                  <a:pt x="2440" y="1473"/>
                </a:lnTo>
                <a:lnTo>
                  <a:pt x="2458" y="1488"/>
                </a:lnTo>
                <a:lnTo>
                  <a:pt x="2480" y="1500"/>
                </a:lnTo>
                <a:lnTo>
                  <a:pt x="2504" y="1507"/>
                </a:lnTo>
                <a:lnTo>
                  <a:pt x="2530" y="1511"/>
                </a:lnTo>
                <a:lnTo>
                  <a:pt x="2555" y="1507"/>
                </a:lnTo>
                <a:lnTo>
                  <a:pt x="2579" y="1500"/>
                </a:lnTo>
                <a:lnTo>
                  <a:pt x="2600" y="1488"/>
                </a:lnTo>
                <a:lnTo>
                  <a:pt x="2618" y="1473"/>
                </a:lnTo>
                <a:lnTo>
                  <a:pt x="2634" y="1454"/>
                </a:lnTo>
                <a:lnTo>
                  <a:pt x="2645" y="1433"/>
                </a:lnTo>
                <a:lnTo>
                  <a:pt x="2654" y="1408"/>
                </a:lnTo>
                <a:lnTo>
                  <a:pt x="2656" y="1383"/>
                </a:lnTo>
                <a:lnTo>
                  <a:pt x="2654" y="1358"/>
                </a:lnTo>
                <a:lnTo>
                  <a:pt x="2645" y="1334"/>
                </a:lnTo>
                <a:lnTo>
                  <a:pt x="2634" y="1312"/>
                </a:lnTo>
                <a:lnTo>
                  <a:pt x="2618" y="1293"/>
                </a:lnTo>
                <a:lnTo>
                  <a:pt x="2600" y="1278"/>
                </a:lnTo>
                <a:lnTo>
                  <a:pt x="2579" y="1266"/>
                </a:lnTo>
                <a:lnTo>
                  <a:pt x="2555" y="1259"/>
                </a:lnTo>
                <a:lnTo>
                  <a:pt x="2530" y="1257"/>
                </a:lnTo>
                <a:close/>
                <a:moveTo>
                  <a:pt x="2647" y="514"/>
                </a:moveTo>
                <a:lnTo>
                  <a:pt x="2675" y="514"/>
                </a:lnTo>
                <a:lnTo>
                  <a:pt x="2698" y="517"/>
                </a:lnTo>
                <a:lnTo>
                  <a:pt x="2718" y="523"/>
                </a:lnTo>
                <a:lnTo>
                  <a:pt x="2740" y="534"/>
                </a:lnTo>
                <a:lnTo>
                  <a:pt x="2757" y="548"/>
                </a:lnTo>
                <a:lnTo>
                  <a:pt x="2770" y="565"/>
                </a:lnTo>
                <a:lnTo>
                  <a:pt x="2779" y="584"/>
                </a:lnTo>
                <a:lnTo>
                  <a:pt x="2784" y="605"/>
                </a:lnTo>
                <a:lnTo>
                  <a:pt x="2786" y="628"/>
                </a:lnTo>
                <a:lnTo>
                  <a:pt x="2785" y="652"/>
                </a:lnTo>
                <a:lnTo>
                  <a:pt x="2781" y="678"/>
                </a:lnTo>
                <a:lnTo>
                  <a:pt x="2774" y="704"/>
                </a:lnTo>
                <a:lnTo>
                  <a:pt x="2765" y="731"/>
                </a:lnTo>
                <a:lnTo>
                  <a:pt x="2754" y="758"/>
                </a:lnTo>
                <a:lnTo>
                  <a:pt x="2741" y="786"/>
                </a:lnTo>
                <a:lnTo>
                  <a:pt x="2727" y="813"/>
                </a:lnTo>
                <a:lnTo>
                  <a:pt x="2711" y="839"/>
                </a:lnTo>
                <a:lnTo>
                  <a:pt x="2694" y="866"/>
                </a:lnTo>
                <a:lnTo>
                  <a:pt x="2677" y="890"/>
                </a:lnTo>
                <a:lnTo>
                  <a:pt x="2659" y="913"/>
                </a:lnTo>
                <a:lnTo>
                  <a:pt x="2640" y="934"/>
                </a:lnTo>
                <a:lnTo>
                  <a:pt x="2622" y="955"/>
                </a:lnTo>
                <a:lnTo>
                  <a:pt x="2685" y="1015"/>
                </a:lnTo>
                <a:lnTo>
                  <a:pt x="2742" y="1078"/>
                </a:lnTo>
                <a:lnTo>
                  <a:pt x="2795" y="1145"/>
                </a:lnTo>
                <a:lnTo>
                  <a:pt x="2845" y="1213"/>
                </a:lnTo>
                <a:lnTo>
                  <a:pt x="2888" y="1285"/>
                </a:lnTo>
                <a:lnTo>
                  <a:pt x="2926" y="1359"/>
                </a:lnTo>
                <a:lnTo>
                  <a:pt x="2958" y="1435"/>
                </a:lnTo>
                <a:lnTo>
                  <a:pt x="2986" y="1513"/>
                </a:lnTo>
                <a:lnTo>
                  <a:pt x="3008" y="1592"/>
                </a:lnTo>
                <a:lnTo>
                  <a:pt x="3023" y="1674"/>
                </a:lnTo>
                <a:lnTo>
                  <a:pt x="3032" y="1757"/>
                </a:lnTo>
                <a:lnTo>
                  <a:pt x="3045" y="1788"/>
                </a:lnTo>
                <a:lnTo>
                  <a:pt x="3059" y="1811"/>
                </a:lnTo>
                <a:lnTo>
                  <a:pt x="3073" y="1831"/>
                </a:lnTo>
                <a:lnTo>
                  <a:pt x="3088" y="1846"/>
                </a:lnTo>
                <a:lnTo>
                  <a:pt x="3103" y="1857"/>
                </a:lnTo>
                <a:lnTo>
                  <a:pt x="3118" y="1865"/>
                </a:lnTo>
                <a:lnTo>
                  <a:pt x="3133" y="1870"/>
                </a:lnTo>
                <a:lnTo>
                  <a:pt x="3146" y="1873"/>
                </a:lnTo>
                <a:lnTo>
                  <a:pt x="3157" y="1874"/>
                </a:lnTo>
                <a:lnTo>
                  <a:pt x="3167" y="1875"/>
                </a:lnTo>
                <a:lnTo>
                  <a:pt x="3174" y="1874"/>
                </a:lnTo>
                <a:lnTo>
                  <a:pt x="3179" y="1873"/>
                </a:lnTo>
                <a:lnTo>
                  <a:pt x="3180" y="1873"/>
                </a:lnTo>
                <a:lnTo>
                  <a:pt x="3180" y="2376"/>
                </a:lnTo>
                <a:lnTo>
                  <a:pt x="3177" y="2375"/>
                </a:lnTo>
                <a:lnTo>
                  <a:pt x="3167" y="2375"/>
                </a:lnTo>
                <a:lnTo>
                  <a:pt x="3151" y="2376"/>
                </a:lnTo>
                <a:lnTo>
                  <a:pt x="3131" y="2377"/>
                </a:lnTo>
                <a:lnTo>
                  <a:pt x="3104" y="2380"/>
                </a:lnTo>
                <a:lnTo>
                  <a:pt x="3075" y="2385"/>
                </a:lnTo>
                <a:lnTo>
                  <a:pt x="3043" y="2392"/>
                </a:lnTo>
                <a:lnTo>
                  <a:pt x="3008" y="2402"/>
                </a:lnTo>
                <a:lnTo>
                  <a:pt x="2971" y="2415"/>
                </a:lnTo>
                <a:lnTo>
                  <a:pt x="2933" y="2431"/>
                </a:lnTo>
                <a:lnTo>
                  <a:pt x="2894" y="2453"/>
                </a:lnTo>
                <a:lnTo>
                  <a:pt x="2856" y="2478"/>
                </a:lnTo>
                <a:lnTo>
                  <a:pt x="2818" y="2509"/>
                </a:lnTo>
                <a:lnTo>
                  <a:pt x="2781" y="2546"/>
                </a:lnTo>
                <a:lnTo>
                  <a:pt x="2730" y="2607"/>
                </a:lnTo>
                <a:lnTo>
                  <a:pt x="2675" y="2666"/>
                </a:lnTo>
                <a:lnTo>
                  <a:pt x="2614" y="2723"/>
                </a:lnTo>
                <a:lnTo>
                  <a:pt x="2552" y="2776"/>
                </a:lnTo>
                <a:lnTo>
                  <a:pt x="2484" y="2827"/>
                </a:lnTo>
                <a:lnTo>
                  <a:pt x="2480" y="2835"/>
                </a:lnTo>
                <a:lnTo>
                  <a:pt x="2477" y="2847"/>
                </a:lnTo>
                <a:lnTo>
                  <a:pt x="2476" y="2863"/>
                </a:lnTo>
                <a:lnTo>
                  <a:pt x="2477" y="2882"/>
                </a:lnTo>
                <a:lnTo>
                  <a:pt x="2479" y="2904"/>
                </a:lnTo>
                <a:lnTo>
                  <a:pt x="2481" y="2926"/>
                </a:lnTo>
                <a:lnTo>
                  <a:pt x="2485" y="2950"/>
                </a:lnTo>
                <a:lnTo>
                  <a:pt x="2490" y="2973"/>
                </a:lnTo>
                <a:lnTo>
                  <a:pt x="2495" y="2998"/>
                </a:lnTo>
                <a:lnTo>
                  <a:pt x="2499" y="3020"/>
                </a:lnTo>
                <a:lnTo>
                  <a:pt x="2504" y="3041"/>
                </a:lnTo>
                <a:lnTo>
                  <a:pt x="2508" y="3060"/>
                </a:lnTo>
                <a:lnTo>
                  <a:pt x="2512" y="3075"/>
                </a:lnTo>
                <a:lnTo>
                  <a:pt x="2515" y="3088"/>
                </a:lnTo>
                <a:lnTo>
                  <a:pt x="2517" y="3096"/>
                </a:lnTo>
                <a:lnTo>
                  <a:pt x="2517" y="3098"/>
                </a:lnTo>
                <a:lnTo>
                  <a:pt x="2119" y="3136"/>
                </a:lnTo>
                <a:lnTo>
                  <a:pt x="2119" y="3134"/>
                </a:lnTo>
                <a:lnTo>
                  <a:pt x="2119" y="3127"/>
                </a:lnTo>
                <a:lnTo>
                  <a:pt x="2118" y="3117"/>
                </a:lnTo>
                <a:lnTo>
                  <a:pt x="2117" y="3105"/>
                </a:lnTo>
                <a:lnTo>
                  <a:pt x="2114" y="3091"/>
                </a:lnTo>
                <a:lnTo>
                  <a:pt x="2111" y="3076"/>
                </a:lnTo>
                <a:lnTo>
                  <a:pt x="2107" y="3063"/>
                </a:lnTo>
                <a:lnTo>
                  <a:pt x="2101" y="3052"/>
                </a:lnTo>
                <a:lnTo>
                  <a:pt x="2094" y="3043"/>
                </a:lnTo>
                <a:lnTo>
                  <a:pt x="2084" y="3038"/>
                </a:lnTo>
                <a:lnTo>
                  <a:pt x="2022" y="3060"/>
                </a:lnTo>
                <a:lnTo>
                  <a:pt x="2015" y="3067"/>
                </a:lnTo>
                <a:lnTo>
                  <a:pt x="2005" y="3079"/>
                </a:lnTo>
                <a:lnTo>
                  <a:pt x="1996" y="3095"/>
                </a:lnTo>
                <a:lnTo>
                  <a:pt x="1987" y="3111"/>
                </a:lnTo>
                <a:lnTo>
                  <a:pt x="1978" y="3130"/>
                </a:lnTo>
                <a:lnTo>
                  <a:pt x="1970" y="3149"/>
                </a:lnTo>
                <a:lnTo>
                  <a:pt x="1961" y="3169"/>
                </a:lnTo>
                <a:lnTo>
                  <a:pt x="1953" y="3189"/>
                </a:lnTo>
                <a:lnTo>
                  <a:pt x="1946" y="3208"/>
                </a:lnTo>
                <a:lnTo>
                  <a:pt x="1940" y="3224"/>
                </a:lnTo>
                <a:lnTo>
                  <a:pt x="1935" y="3238"/>
                </a:lnTo>
                <a:lnTo>
                  <a:pt x="1931" y="3249"/>
                </a:lnTo>
                <a:lnTo>
                  <a:pt x="1928" y="3256"/>
                </a:lnTo>
                <a:lnTo>
                  <a:pt x="1927" y="3258"/>
                </a:lnTo>
                <a:lnTo>
                  <a:pt x="1669" y="3260"/>
                </a:lnTo>
                <a:lnTo>
                  <a:pt x="1668" y="3257"/>
                </a:lnTo>
                <a:lnTo>
                  <a:pt x="1665" y="3250"/>
                </a:lnTo>
                <a:lnTo>
                  <a:pt x="1661" y="3239"/>
                </a:lnTo>
                <a:lnTo>
                  <a:pt x="1656" y="3225"/>
                </a:lnTo>
                <a:lnTo>
                  <a:pt x="1649" y="3210"/>
                </a:lnTo>
                <a:lnTo>
                  <a:pt x="1643" y="3195"/>
                </a:lnTo>
                <a:lnTo>
                  <a:pt x="1635" y="3180"/>
                </a:lnTo>
                <a:lnTo>
                  <a:pt x="1628" y="3166"/>
                </a:lnTo>
                <a:lnTo>
                  <a:pt x="1621" y="3155"/>
                </a:lnTo>
                <a:lnTo>
                  <a:pt x="1615" y="3148"/>
                </a:lnTo>
                <a:lnTo>
                  <a:pt x="1610" y="3146"/>
                </a:lnTo>
                <a:lnTo>
                  <a:pt x="1514" y="3153"/>
                </a:lnTo>
                <a:lnTo>
                  <a:pt x="1418" y="3155"/>
                </a:lnTo>
                <a:lnTo>
                  <a:pt x="1359" y="3155"/>
                </a:lnTo>
                <a:lnTo>
                  <a:pt x="1305" y="3154"/>
                </a:lnTo>
                <a:lnTo>
                  <a:pt x="1255" y="3152"/>
                </a:lnTo>
                <a:lnTo>
                  <a:pt x="1208" y="3149"/>
                </a:lnTo>
                <a:lnTo>
                  <a:pt x="1161" y="3144"/>
                </a:lnTo>
                <a:lnTo>
                  <a:pt x="1115" y="3137"/>
                </a:lnTo>
                <a:lnTo>
                  <a:pt x="1069" y="3129"/>
                </a:lnTo>
                <a:lnTo>
                  <a:pt x="1020" y="3118"/>
                </a:lnTo>
                <a:lnTo>
                  <a:pt x="970" y="3104"/>
                </a:lnTo>
                <a:lnTo>
                  <a:pt x="953" y="3103"/>
                </a:lnTo>
                <a:lnTo>
                  <a:pt x="940" y="3106"/>
                </a:lnTo>
                <a:lnTo>
                  <a:pt x="930" y="3112"/>
                </a:lnTo>
                <a:lnTo>
                  <a:pt x="922" y="3120"/>
                </a:lnTo>
                <a:lnTo>
                  <a:pt x="917" y="3130"/>
                </a:lnTo>
                <a:lnTo>
                  <a:pt x="913" y="3143"/>
                </a:lnTo>
                <a:lnTo>
                  <a:pt x="912" y="3156"/>
                </a:lnTo>
                <a:lnTo>
                  <a:pt x="912" y="3170"/>
                </a:lnTo>
                <a:lnTo>
                  <a:pt x="913" y="3185"/>
                </a:lnTo>
                <a:lnTo>
                  <a:pt x="915" y="3198"/>
                </a:lnTo>
                <a:lnTo>
                  <a:pt x="917" y="3211"/>
                </a:lnTo>
                <a:lnTo>
                  <a:pt x="920" y="3223"/>
                </a:lnTo>
                <a:lnTo>
                  <a:pt x="922" y="3233"/>
                </a:lnTo>
                <a:lnTo>
                  <a:pt x="924" y="3241"/>
                </a:lnTo>
                <a:lnTo>
                  <a:pt x="926" y="3246"/>
                </a:lnTo>
                <a:lnTo>
                  <a:pt x="927" y="3247"/>
                </a:lnTo>
                <a:lnTo>
                  <a:pt x="551" y="3219"/>
                </a:lnTo>
                <a:lnTo>
                  <a:pt x="551" y="3216"/>
                </a:lnTo>
                <a:lnTo>
                  <a:pt x="551" y="3206"/>
                </a:lnTo>
                <a:lnTo>
                  <a:pt x="551" y="3191"/>
                </a:lnTo>
                <a:lnTo>
                  <a:pt x="550" y="3171"/>
                </a:lnTo>
                <a:lnTo>
                  <a:pt x="549" y="3147"/>
                </a:lnTo>
                <a:lnTo>
                  <a:pt x="547" y="3121"/>
                </a:lnTo>
                <a:lnTo>
                  <a:pt x="545" y="3092"/>
                </a:lnTo>
                <a:lnTo>
                  <a:pt x="543" y="3060"/>
                </a:lnTo>
                <a:lnTo>
                  <a:pt x="539" y="3029"/>
                </a:lnTo>
                <a:lnTo>
                  <a:pt x="535" y="2998"/>
                </a:lnTo>
                <a:lnTo>
                  <a:pt x="529" y="2967"/>
                </a:lnTo>
                <a:lnTo>
                  <a:pt x="523" y="2938"/>
                </a:lnTo>
                <a:lnTo>
                  <a:pt x="515" y="2911"/>
                </a:lnTo>
                <a:lnTo>
                  <a:pt x="506" y="2887"/>
                </a:lnTo>
                <a:lnTo>
                  <a:pt x="496" y="2867"/>
                </a:lnTo>
                <a:lnTo>
                  <a:pt x="484" y="2852"/>
                </a:lnTo>
                <a:lnTo>
                  <a:pt x="470" y="2842"/>
                </a:lnTo>
                <a:lnTo>
                  <a:pt x="404" y="2796"/>
                </a:lnTo>
                <a:lnTo>
                  <a:pt x="343" y="2749"/>
                </a:lnTo>
                <a:lnTo>
                  <a:pt x="289" y="2700"/>
                </a:lnTo>
                <a:lnTo>
                  <a:pt x="239" y="2650"/>
                </a:lnTo>
                <a:lnTo>
                  <a:pt x="196" y="2597"/>
                </a:lnTo>
                <a:lnTo>
                  <a:pt x="158" y="2544"/>
                </a:lnTo>
                <a:lnTo>
                  <a:pt x="124" y="2487"/>
                </a:lnTo>
                <a:lnTo>
                  <a:pt x="96" y="2429"/>
                </a:lnTo>
                <a:lnTo>
                  <a:pt x="70" y="2369"/>
                </a:lnTo>
                <a:lnTo>
                  <a:pt x="50" y="2306"/>
                </a:lnTo>
                <a:lnTo>
                  <a:pt x="34" y="2241"/>
                </a:lnTo>
                <a:lnTo>
                  <a:pt x="21" y="2175"/>
                </a:lnTo>
                <a:lnTo>
                  <a:pt x="11" y="2105"/>
                </a:lnTo>
                <a:lnTo>
                  <a:pt x="5" y="2033"/>
                </a:lnTo>
                <a:lnTo>
                  <a:pt x="1" y="1959"/>
                </a:lnTo>
                <a:lnTo>
                  <a:pt x="0" y="1882"/>
                </a:lnTo>
                <a:lnTo>
                  <a:pt x="3" y="1798"/>
                </a:lnTo>
                <a:lnTo>
                  <a:pt x="11" y="1715"/>
                </a:lnTo>
                <a:lnTo>
                  <a:pt x="26" y="1634"/>
                </a:lnTo>
                <a:lnTo>
                  <a:pt x="45" y="1554"/>
                </a:lnTo>
                <a:lnTo>
                  <a:pt x="70" y="1477"/>
                </a:lnTo>
                <a:lnTo>
                  <a:pt x="101" y="1401"/>
                </a:lnTo>
                <a:lnTo>
                  <a:pt x="136" y="1329"/>
                </a:lnTo>
                <a:lnTo>
                  <a:pt x="176" y="1259"/>
                </a:lnTo>
                <a:lnTo>
                  <a:pt x="221" y="1191"/>
                </a:lnTo>
                <a:lnTo>
                  <a:pt x="271" y="1126"/>
                </a:lnTo>
                <a:lnTo>
                  <a:pt x="325" y="1065"/>
                </a:lnTo>
                <a:lnTo>
                  <a:pt x="384" y="1007"/>
                </a:lnTo>
                <a:lnTo>
                  <a:pt x="447" y="951"/>
                </a:lnTo>
                <a:lnTo>
                  <a:pt x="514" y="900"/>
                </a:lnTo>
                <a:lnTo>
                  <a:pt x="585" y="852"/>
                </a:lnTo>
                <a:lnTo>
                  <a:pt x="616" y="895"/>
                </a:lnTo>
                <a:lnTo>
                  <a:pt x="650" y="934"/>
                </a:lnTo>
                <a:lnTo>
                  <a:pt x="687" y="970"/>
                </a:lnTo>
                <a:lnTo>
                  <a:pt x="728" y="1003"/>
                </a:lnTo>
                <a:lnTo>
                  <a:pt x="771" y="1031"/>
                </a:lnTo>
                <a:lnTo>
                  <a:pt x="817" y="1057"/>
                </a:lnTo>
                <a:lnTo>
                  <a:pt x="865" y="1078"/>
                </a:lnTo>
                <a:lnTo>
                  <a:pt x="916" y="1095"/>
                </a:lnTo>
                <a:lnTo>
                  <a:pt x="888" y="1103"/>
                </a:lnTo>
                <a:lnTo>
                  <a:pt x="863" y="1110"/>
                </a:lnTo>
                <a:lnTo>
                  <a:pt x="843" y="1117"/>
                </a:lnTo>
                <a:lnTo>
                  <a:pt x="827" y="1123"/>
                </a:lnTo>
                <a:lnTo>
                  <a:pt x="815" y="1127"/>
                </a:lnTo>
                <a:lnTo>
                  <a:pt x="808" y="1130"/>
                </a:lnTo>
                <a:lnTo>
                  <a:pt x="805" y="1131"/>
                </a:lnTo>
                <a:lnTo>
                  <a:pt x="776" y="1141"/>
                </a:lnTo>
                <a:lnTo>
                  <a:pt x="753" y="1151"/>
                </a:lnTo>
                <a:lnTo>
                  <a:pt x="735" y="1163"/>
                </a:lnTo>
                <a:lnTo>
                  <a:pt x="721" y="1176"/>
                </a:lnTo>
                <a:lnTo>
                  <a:pt x="713" y="1192"/>
                </a:lnTo>
                <a:lnTo>
                  <a:pt x="708" y="1210"/>
                </a:lnTo>
                <a:lnTo>
                  <a:pt x="707" y="1233"/>
                </a:lnTo>
                <a:lnTo>
                  <a:pt x="709" y="1256"/>
                </a:lnTo>
                <a:lnTo>
                  <a:pt x="717" y="1277"/>
                </a:lnTo>
                <a:lnTo>
                  <a:pt x="729" y="1296"/>
                </a:lnTo>
                <a:lnTo>
                  <a:pt x="744" y="1311"/>
                </a:lnTo>
                <a:lnTo>
                  <a:pt x="762" y="1323"/>
                </a:lnTo>
                <a:lnTo>
                  <a:pt x="782" y="1332"/>
                </a:lnTo>
                <a:lnTo>
                  <a:pt x="805" y="1334"/>
                </a:lnTo>
                <a:lnTo>
                  <a:pt x="864" y="1312"/>
                </a:lnTo>
                <a:lnTo>
                  <a:pt x="923" y="1293"/>
                </a:lnTo>
                <a:lnTo>
                  <a:pt x="980" y="1277"/>
                </a:lnTo>
                <a:lnTo>
                  <a:pt x="1036" y="1264"/>
                </a:lnTo>
                <a:lnTo>
                  <a:pt x="1090" y="1254"/>
                </a:lnTo>
                <a:lnTo>
                  <a:pt x="1142" y="1245"/>
                </a:lnTo>
                <a:lnTo>
                  <a:pt x="1191" y="1239"/>
                </a:lnTo>
                <a:lnTo>
                  <a:pt x="1238" y="1235"/>
                </a:lnTo>
                <a:lnTo>
                  <a:pt x="1281" y="1232"/>
                </a:lnTo>
                <a:lnTo>
                  <a:pt x="1320" y="1229"/>
                </a:lnTo>
                <a:lnTo>
                  <a:pt x="1355" y="1228"/>
                </a:lnTo>
                <a:lnTo>
                  <a:pt x="1387" y="1228"/>
                </a:lnTo>
                <a:lnTo>
                  <a:pt x="1413" y="1229"/>
                </a:lnTo>
                <a:lnTo>
                  <a:pt x="1434" y="1230"/>
                </a:lnTo>
                <a:lnTo>
                  <a:pt x="1449" y="1232"/>
                </a:lnTo>
                <a:lnTo>
                  <a:pt x="1459" y="1233"/>
                </a:lnTo>
                <a:lnTo>
                  <a:pt x="1462" y="1233"/>
                </a:lnTo>
                <a:lnTo>
                  <a:pt x="1485" y="1229"/>
                </a:lnTo>
                <a:lnTo>
                  <a:pt x="1506" y="1222"/>
                </a:lnTo>
                <a:lnTo>
                  <a:pt x="1526" y="1210"/>
                </a:lnTo>
                <a:lnTo>
                  <a:pt x="1541" y="1194"/>
                </a:lnTo>
                <a:lnTo>
                  <a:pt x="1553" y="1176"/>
                </a:lnTo>
                <a:lnTo>
                  <a:pt x="1561" y="1155"/>
                </a:lnTo>
                <a:lnTo>
                  <a:pt x="1563" y="1131"/>
                </a:lnTo>
                <a:lnTo>
                  <a:pt x="1561" y="1108"/>
                </a:lnTo>
                <a:lnTo>
                  <a:pt x="1553" y="1086"/>
                </a:lnTo>
                <a:lnTo>
                  <a:pt x="1541" y="1068"/>
                </a:lnTo>
                <a:lnTo>
                  <a:pt x="1526" y="1052"/>
                </a:lnTo>
                <a:lnTo>
                  <a:pt x="1506" y="1039"/>
                </a:lnTo>
                <a:lnTo>
                  <a:pt x="1485" y="1032"/>
                </a:lnTo>
                <a:lnTo>
                  <a:pt x="1462" y="1029"/>
                </a:lnTo>
                <a:lnTo>
                  <a:pt x="1390" y="1028"/>
                </a:lnTo>
                <a:lnTo>
                  <a:pt x="1435" y="997"/>
                </a:lnTo>
                <a:lnTo>
                  <a:pt x="1476" y="963"/>
                </a:lnTo>
                <a:lnTo>
                  <a:pt x="1514" y="924"/>
                </a:lnTo>
                <a:lnTo>
                  <a:pt x="1549" y="883"/>
                </a:lnTo>
                <a:lnTo>
                  <a:pt x="1580" y="837"/>
                </a:lnTo>
                <a:lnTo>
                  <a:pt x="1607" y="790"/>
                </a:lnTo>
                <a:lnTo>
                  <a:pt x="1629" y="740"/>
                </a:lnTo>
                <a:lnTo>
                  <a:pt x="1646" y="688"/>
                </a:lnTo>
                <a:lnTo>
                  <a:pt x="1659" y="633"/>
                </a:lnTo>
                <a:lnTo>
                  <a:pt x="1706" y="638"/>
                </a:lnTo>
                <a:lnTo>
                  <a:pt x="1750" y="645"/>
                </a:lnTo>
                <a:lnTo>
                  <a:pt x="1791" y="652"/>
                </a:lnTo>
                <a:lnTo>
                  <a:pt x="1830" y="659"/>
                </a:lnTo>
                <a:lnTo>
                  <a:pt x="1867" y="666"/>
                </a:lnTo>
                <a:lnTo>
                  <a:pt x="1899" y="673"/>
                </a:lnTo>
                <a:lnTo>
                  <a:pt x="1929" y="681"/>
                </a:lnTo>
                <a:lnTo>
                  <a:pt x="1954" y="687"/>
                </a:lnTo>
                <a:lnTo>
                  <a:pt x="1976" y="693"/>
                </a:lnTo>
                <a:lnTo>
                  <a:pt x="1993" y="698"/>
                </a:lnTo>
                <a:lnTo>
                  <a:pt x="2007" y="701"/>
                </a:lnTo>
                <a:lnTo>
                  <a:pt x="2014" y="703"/>
                </a:lnTo>
                <a:lnTo>
                  <a:pt x="2017" y="704"/>
                </a:lnTo>
                <a:lnTo>
                  <a:pt x="2020" y="703"/>
                </a:lnTo>
                <a:lnTo>
                  <a:pt x="2027" y="700"/>
                </a:lnTo>
                <a:lnTo>
                  <a:pt x="2039" y="695"/>
                </a:lnTo>
                <a:lnTo>
                  <a:pt x="2055" y="688"/>
                </a:lnTo>
                <a:lnTo>
                  <a:pt x="2075" y="680"/>
                </a:lnTo>
                <a:lnTo>
                  <a:pt x="2098" y="669"/>
                </a:lnTo>
                <a:lnTo>
                  <a:pt x="2125" y="659"/>
                </a:lnTo>
                <a:lnTo>
                  <a:pt x="2154" y="647"/>
                </a:lnTo>
                <a:lnTo>
                  <a:pt x="2187" y="635"/>
                </a:lnTo>
                <a:lnTo>
                  <a:pt x="2220" y="623"/>
                </a:lnTo>
                <a:lnTo>
                  <a:pt x="2255" y="610"/>
                </a:lnTo>
                <a:lnTo>
                  <a:pt x="2291" y="598"/>
                </a:lnTo>
                <a:lnTo>
                  <a:pt x="2330" y="585"/>
                </a:lnTo>
                <a:lnTo>
                  <a:pt x="2368" y="572"/>
                </a:lnTo>
                <a:lnTo>
                  <a:pt x="2406" y="560"/>
                </a:lnTo>
                <a:lnTo>
                  <a:pt x="2443" y="550"/>
                </a:lnTo>
                <a:lnTo>
                  <a:pt x="2481" y="540"/>
                </a:lnTo>
                <a:lnTo>
                  <a:pt x="2518" y="531"/>
                </a:lnTo>
                <a:lnTo>
                  <a:pt x="2553" y="524"/>
                </a:lnTo>
                <a:lnTo>
                  <a:pt x="2587" y="519"/>
                </a:lnTo>
                <a:lnTo>
                  <a:pt x="2618" y="515"/>
                </a:lnTo>
                <a:lnTo>
                  <a:pt x="2647" y="514"/>
                </a:lnTo>
                <a:close/>
                <a:moveTo>
                  <a:pt x="1131" y="202"/>
                </a:moveTo>
                <a:lnTo>
                  <a:pt x="1210" y="796"/>
                </a:lnTo>
                <a:lnTo>
                  <a:pt x="1086" y="813"/>
                </a:lnTo>
                <a:lnTo>
                  <a:pt x="1033" y="413"/>
                </a:lnTo>
                <a:lnTo>
                  <a:pt x="1005" y="423"/>
                </a:lnTo>
                <a:lnTo>
                  <a:pt x="973" y="432"/>
                </a:lnTo>
                <a:lnTo>
                  <a:pt x="936" y="438"/>
                </a:lnTo>
                <a:lnTo>
                  <a:pt x="909" y="441"/>
                </a:lnTo>
                <a:lnTo>
                  <a:pt x="894" y="332"/>
                </a:lnTo>
                <a:lnTo>
                  <a:pt x="922" y="328"/>
                </a:lnTo>
                <a:lnTo>
                  <a:pt x="947" y="324"/>
                </a:lnTo>
                <a:lnTo>
                  <a:pt x="967" y="318"/>
                </a:lnTo>
                <a:lnTo>
                  <a:pt x="984" y="310"/>
                </a:lnTo>
                <a:lnTo>
                  <a:pt x="997" y="301"/>
                </a:lnTo>
                <a:lnTo>
                  <a:pt x="1007" y="291"/>
                </a:lnTo>
                <a:lnTo>
                  <a:pt x="1015" y="281"/>
                </a:lnTo>
                <a:lnTo>
                  <a:pt x="1020" y="271"/>
                </a:lnTo>
                <a:lnTo>
                  <a:pt x="1024" y="260"/>
                </a:lnTo>
                <a:lnTo>
                  <a:pt x="1026" y="250"/>
                </a:lnTo>
                <a:lnTo>
                  <a:pt x="1027" y="240"/>
                </a:lnTo>
                <a:lnTo>
                  <a:pt x="1028" y="217"/>
                </a:lnTo>
                <a:lnTo>
                  <a:pt x="1131" y="202"/>
                </a:lnTo>
                <a:close/>
                <a:moveTo>
                  <a:pt x="1094" y="112"/>
                </a:moveTo>
                <a:lnTo>
                  <a:pt x="1044" y="115"/>
                </a:lnTo>
                <a:lnTo>
                  <a:pt x="995" y="125"/>
                </a:lnTo>
                <a:lnTo>
                  <a:pt x="949" y="140"/>
                </a:lnTo>
                <a:lnTo>
                  <a:pt x="906" y="160"/>
                </a:lnTo>
                <a:lnTo>
                  <a:pt x="864" y="185"/>
                </a:lnTo>
                <a:lnTo>
                  <a:pt x="827" y="215"/>
                </a:lnTo>
                <a:lnTo>
                  <a:pt x="794" y="248"/>
                </a:lnTo>
                <a:lnTo>
                  <a:pt x="765" y="285"/>
                </a:lnTo>
                <a:lnTo>
                  <a:pt x="740" y="327"/>
                </a:lnTo>
                <a:lnTo>
                  <a:pt x="719" y="370"/>
                </a:lnTo>
                <a:lnTo>
                  <a:pt x="704" y="417"/>
                </a:lnTo>
                <a:lnTo>
                  <a:pt x="695" y="465"/>
                </a:lnTo>
                <a:lnTo>
                  <a:pt x="692" y="516"/>
                </a:lnTo>
                <a:lnTo>
                  <a:pt x="695" y="566"/>
                </a:lnTo>
                <a:lnTo>
                  <a:pt x="704" y="615"/>
                </a:lnTo>
                <a:lnTo>
                  <a:pt x="719" y="661"/>
                </a:lnTo>
                <a:lnTo>
                  <a:pt x="740" y="706"/>
                </a:lnTo>
                <a:lnTo>
                  <a:pt x="765" y="746"/>
                </a:lnTo>
                <a:lnTo>
                  <a:pt x="794" y="784"/>
                </a:lnTo>
                <a:lnTo>
                  <a:pt x="827" y="817"/>
                </a:lnTo>
                <a:lnTo>
                  <a:pt x="864" y="847"/>
                </a:lnTo>
                <a:lnTo>
                  <a:pt x="906" y="872"/>
                </a:lnTo>
                <a:lnTo>
                  <a:pt x="949" y="892"/>
                </a:lnTo>
                <a:lnTo>
                  <a:pt x="995" y="907"/>
                </a:lnTo>
                <a:lnTo>
                  <a:pt x="1044" y="916"/>
                </a:lnTo>
                <a:lnTo>
                  <a:pt x="1094" y="919"/>
                </a:lnTo>
                <a:lnTo>
                  <a:pt x="1144" y="916"/>
                </a:lnTo>
                <a:lnTo>
                  <a:pt x="1192" y="907"/>
                </a:lnTo>
                <a:lnTo>
                  <a:pt x="1239" y="892"/>
                </a:lnTo>
                <a:lnTo>
                  <a:pt x="1282" y="872"/>
                </a:lnTo>
                <a:lnTo>
                  <a:pt x="1323" y="847"/>
                </a:lnTo>
                <a:lnTo>
                  <a:pt x="1360" y="817"/>
                </a:lnTo>
                <a:lnTo>
                  <a:pt x="1394" y="784"/>
                </a:lnTo>
                <a:lnTo>
                  <a:pt x="1423" y="746"/>
                </a:lnTo>
                <a:lnTo>
                  <a:pt x="1448" y="706"/>
                </a:lnTo>
                <a:lnTo>
                  <a:pt x="1468" y="661"/>
                </a:lnTo>
                <a:lnTo>
                  <a:pt x="1483" y="615"/>
                </a:lnTo>
                <a:lnTo>
                  <a:pt x="1492" y="566"/>
                </a:lnTo>
                <a:lnTo>
                  <a:pt x="1495" y="516"/>
                </a:lnTo>
                <a:lnTo>
                  <a:pt x="1492" y="465"/>
                </a:lnTo>
                <a:lnTo>
                  <a:pt x="1483" y="417"/>
                </a:lnTo>
                <a:lnTo>
                  <a:pt x="1468" y="370"/>
                </a:lnTo>
                <a:lnTo>
                  <a:pt x="1448" y="327"/>
                </a:lnTo>
                <a:lnTo>
                  <a:pt x="1423" y="285"/>
                </a:lnTo>
                <a:lnTo>
                  <a:pt x="1394" y="248"/>
                </a:lnTo>
                <a:lnTo>
                  <a:pt x="1360" y="215"/>
                </a:lnTo>
                <a:lnTo>
                  <a:pt x="1323" y="185"/>
                </a:lnTo>
                <a:lnTo>
                  <a:pt x="1282" y="160"/>
                </a:lnTo>
                <a:lnTo>
                  <a:pt x="1239" y="140"/>
                </a:lnTo>
                <a:lnTo>
                  <a:pt x="1192" y="125"/>
                </a:lnTo>
                <a:lnTo>
                  <a:pt x="1144" y="115"/>
                </a:lnTo>
                <a:lnTo>
                  <a:pt x="1094" y="112"/>
                </a:lnTo>
                <a:close/>
                <a:moveTo>
                  <a:pt x="1094" y="0"/>
                </a:moveTo>
                <a:lnTo>
                  <a:pt x="1150" y="3"/>
                </a:lnTo>
                <a:lnTo>
                  <a:pt x="1203" y="12"/>
                </a:lnTo>
                <a:lnTo>
                  <a:pt x="1256" y="27"/>
                </a:lnTo>
                <a:lnTo>
                  <a:pt x="1306" y="46"/>
                </a:lnTo>
                <a:lnTo>
                  <a:pt x="1352" y="71"/>
                </a:lnTo>
                <a:lnTo>
                  <a:pt x="1397" y="99"/>
                </a:lnTo>
                <a:lnTo>
                  <a:pt x="1438" y="133"/>
                </a:lnTo>
                <a:lnTo>
                  <a:pt x="1475" y="170"/>
                </a:lnTo>
                <a:lnTo>
                  <a:pt x="1508" y="211"/>
                </a:lnTo>
                <a:lnTo>
                  <a:pt x="1537" y="256"/>
                </a:lnTo>
                <a:lnTo>
                  <a:pt x="1562" y="303"/>
                </a:lnTo>
                <a:lnTo>
                  <a:pt x="1581" y="353"/>
                </a:lnTo>
                <a:lnTo>
                  <a:pt x="1595" y="406"/>
                </a:lnTo>
                <a:lnTo>
                  <a:pt x="1604" y="460"/>
                </a:lnTo>
                <a:lnTo>
                  <a:pt x="1607" y="516"/>
                </a:lnTo>
                <a:lnTo>
                  <a:pt x="1604" y="572"/>
                </a:lnTo>
                <a:lnTo>
                  <a:pt x="1595" y="626"/>
                </a:lnTo>
                <a:lnTo>
                  <a:pt x="1581" y="679"/>
                </a:lnTo>
                <a:lnTo>
                  <a:pt x="1562" y="729"/>
                </a:lnTo>
                <a:lnTo>
                  <a:pt x="1537" y="777"/>
                </a:lnTo>
                <a:lnTo>
                  <a:pt x="1508" y="820"/>
                </a:lnTo>
                <a:lnTo>
                  <a:pt x="1475" y="862"/>
                </a:lnTo>
                <a:lnTo>
                  <a:pt x="1438" y="899"/>
                </a:lnTo>
                <a:lnTo>
                  <a:pt x="1397" y="932"/>
                </a:lnTo>
                <a:lnTo>
                  <a:pt x="1352" y="962"/>
                </a:lnTo>
                <a:lnTo>
                  <a:pt x="1306" y="986"/>
                </a:lnTo>
                <a:lnTo>
                  <a:pt x="1256" y="1005"/>
                </a:lnTo>
                <a:lnTo>
                  <a:pt x="1203" y="1020"/>
                </a:lnTo>
                <a:lnTo>
                  <a:pt x="1150" y="1028"/>
                </a:lnTo>
                <a:lnTo>
                  <a:pt x="1094" y="1031"/>
                </a:lnTo>
                <a:lnTo>
                  <a:pt x="1038" y="1028"/>
                </a:lnTo>
                <a:lnTo>
                  <a:pt x="984" y="1020"/>
                </a:lnTo>
                <a:lnTo>
                  <a:pt x="932" y="1005"/>
                </a:lnTo>
                <a:lnTo>
                  <a:pt x="882" y="986"/>
                </a:lnTo>
                <a:lnTo>
                  <a:pt x="835" y="962"/>
                </a:lnTo>
                <a:lnTo>
                  <a:pt x="791" y="932"/>
                </a:lnTo>
                <a:lnTo>
                  <a:pt x="750" y="899"/>
                </a:lnTo>
                <a:lnTo>
                  <a:pt x="712" y="862"/>
                </a:lnTo>
                <a:lnTo>
                  <a:pt x="679" y="820"/>
                </a:lnTo>
                <a:lnTo>
                  <a:pt x="651" y="777"/>
                </a:lnTo>
                <a:lnTo>
                  <a:pt x="626" y="729"/>
                </a:lnTo>
                <a:lnTo>
                  <a:pt x="607" y="679"/>
                </a:lnTo>
                <a:lnTo>
                  <a:pt x="593" y="626"/>
                </a:lnTo>
                <a:lnTo>
                  <a:pt x="584" y="572"/>
                </a:lnTo>
                <a:lnTo>
                  <a:pt x="581" y="516"/>
                </a:lnTo>
                <a:lnTo>
                  <a:pt x="584" y="460"/>
                </a:lnTo>
                <a:lnTo>
                  <a:pt x="593" y="406"/>
                </a:lnTo>
                <a:lnTo>
                  <a:pt x="607" y="353"/>
                </a:lnTo>
                <a:lnTo>
                  <a:pt x="626" y="303"/>
                </a:lnTo>
                <a:lnTo>
                  <a:pt x="651" y="256"/>
                </a:lnTo>
                <a:lnTo>
                  <a:pt x="679" y="211"/>
                </a:lnTo>
                <a:lnTo>
                  <a:pt x="712" y="170"/>
                </a:lnTo>
                <a:lnTo>
                  <a:pt x="750" y="133"/>
                </a:lnTo>
                <a:lnTo>
                  <a:pt x="791" y="99"/>
                </a:lnTo>
                <a:lnTo>
                  <a:pt x="835" y="71"/>
                </a:lnTo>
                <a:lnTo>
                  <a:pt x="882" y="46"/>
                </a:lnTo>
                <a:lnTo>
                  <a:pt x="932" y="27"/>
                </a:lnTo>
                <a:lnTo>
                  <a:pt x="984" y="12"/>
                </a:lnTo>
                <a:lnTo>
                  <a:pt x="1038" y="3"/>
                </a:lnTo>
                <a:lnTo>
                  <a:pt x="1094" y="0"/>
                </a:lnTo>
                <a:close/>
              </a:path>
            </a:pathLst>
          </a:custGeom>
          <a:solidFill>
            <a:schemeClr val="accent1"/>
          </a:solidFill>
          <a:ln w="0">
            <a:noFill/>
            <a:prstDash val="solid"/>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endParaRPr lang="en-US" sz="2400" dirty="0">
              <a:latin typeface="Amazon Ember Light" charset="0"/>
              <a:ea typeface="Amazon Ember Light" charset="0"/>
              <a:cs typeface="Amazon Ember Light" charset="0"/>
            </a:endParaRPr>
          </a:p>
        </p:txBody>
      </p:sp>
    </p:spTree>
    <p:custDataLst>
      <p:tags r:id="rId1"/>
    </p:custDataLst>
    <p:extLst>
      <p:ext uri="{BB962C8B-B14F-4D97-AF65-F5344CB8AC3E}">
        <p14:creationId xmlns:p14="http://schemas.microsoft.com/office/powerpoint/2010/main" val="3928944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2ADCF2-25D1-2A42-B5A4-12980042FD3E}"/>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6</a:t>
            </a:fld>
            <a:endParaRPr lang="en-US" dirty="0"/>
          </a:p>
        </p:txBody>
      </p:sp>
      <p:sp>
        <p:nvSpPr>
          <p:cNvPr id="2" name="Title 1">
            <a:extLst>
              <a:ext uri="{FF2B5EF4-FFF2-40B4-BE49-F238E27FC236}">
                <a16:creationId xmlns:a16="http://schemas.microsoft.com/office/drawing/2014/main" id="{04B2B9C9-0087-2E48-9AE0-EFFFC2E07C29}"/>
              </a:ext>
            </a:extLst>
          </p:cNvPr>
          <p:cNvSpPr>
            <a:spLocks noGrp="1"/>
          </p:cNvSpPr>
          <p:nvPr>
            <p:ph type="title"/>
          </p:nvPr>
        </p:nvSpPr>
        <p:spPr/>
        <p:txBody>
          <a:bodyPr>
            <a:normAutofit fontScale="90000"/>
          </a:bodyPr>
          <a:lstStyle/>
          <a:p>
            <a:r>
              <a:rPr lang="en-US" dirty="0">
                <a:latin typeface="+mj-lt"/>
              </a:rPr>
              <a:t>Availability Zones</a:t>
            </a:r>
          </a:p>
        </p:txBody>
      </p:sp>
      <p:sp>
        <p:nvSpPr>
          <p:cNvPr id="3" name="Content Placeholder 2">
            <a:extLst>
              <a:ext uri="{FF2B5EF4-FFF2-40B4-BE49-F238E27FC236}">
                <a16:creationId xmlns:a16="http://schemas.microsoft.com/office/drawing/2014/main" id="{534932A2-509A-974D-9CDC-AC8878475E11}"/>
              </a:ext>
            </a:extLst>
          </p:cNvPr>
          <p:cNvSpPr>
            <a:spLocks noGrp="1"/>
          </p:cNvSpPr>
          <p:nvPr>
            <p:ph sz="quarter" idx="21"/>
          </p:nvPr>
        </p:nvSpPr>
        <p:spPr>
          <a:xfrm>
            <a:off x="365760" y="1143000"/>
            <a:ext cx="6933805" cy="5291750"/>
          </a:xfrm>
        </p:spPr>
        <p:txBody>
          <a:bodyPr/>
          <a:lstStyle/>
          <a:p>
            <a:r>
              <a:rPr lang="en-US" sz="2400" dirty="0">
                <a:latin typeface="+mn-lt"/>
              </a:rPr>
              <a:t>Each </a:t>
            </a:r>
            <a:r>
              <a:rPr lang="en-US" sz="2400" b="1" dirty="0">
                <a:solidFill>
                  <a:srgbClr val="504BAB"/>
                </a:solidFill>
                <a:latin typeface="+mn-lt"/>
              </a:rPr>
              <a:t>Region</a:t>
            </a:r>
            <a:r>
              <a:rPr lang="en-US" sz="2400" dirty="0">
                <a:latin typeface="+mn-lt"/>
              </a:rPr>
              <a:t> has multiple Availability Zones. </a:t>
            </a:r>
          </a:p>
          <a:p>
            <a:pPr marL="231775" indent="-231775">
              <a:spcBef>
                <a:spcPts val="1800"/>
              </a:spcBef>
              <a:spcAft>
                <a:spcPts val="800"/>
              </a:spcAft>
            </a:pPr>
            <a:r>
              <a:rPr lang="en-US" sz="2400" dirty="0">
                <a:latin typeface="+mn-lt"/>
              </a:rPr>
              <a:t>Each </a:t>
            </a:r>
            <a:r>
              <a:rPr lang="en-US" sz="2400" b="1" dirty="0">
                <a:solidFill>
                  <a:srgbClr val="C9208A"/>
                </a:solidFill>
                <a:latin typeface="+mn-lt"/>
              </a:rPr>
              <a:t>Availability Zone</a:t>
            </a:r>
            <a:r>
              <a:rPr lang="en-US" sz="2400" dirty="0">
                <a:latin typeface="+mn-lt"/>
              </a:rPr>
              <a:t> is a fully isolated partition of the AWS infrastructure.</a:t>
            </a:r>
          </a:p>
          <a:p>
            <a:pPr marL="914400" lvl="1" indent="-457200">
              <a:spcBef>
                <a:spcPts val="600"/>
              </a:spcBef>
              <a:spcAft>
                <a:spcPts val="800"/>
              </a:spcAft>
            </a:pPr>
            <a:r>
              <a:rPr lang="en-US" sz="1800" dirty="0">
                <a:latin typeface="+mn-lt"/>
              </a:rPr>
              <a:t>Availability Zones consist of discrete </a:t>
            </a:r>
            <a:r>
              <a:rPr lang="en-US" sz="1800" b="1" dirty="0">
                <a:solidFill>
                  <a:srgbClr val="504BAB"/>
                </a:solidFill>
                <a:latin typeface="+mn-lt"/>
              </a:rPr>
              <a:t>data centers</a:t>
            </a:r>
            <a:endParaRPr lang="en-US" sz="1800" dirty="0">
              <a:solidFill>
                <a:srgbClr val="504BAB"/>
              </a:solidFill>
              <a:latin typeface="+mn-lt"/>
            </a:endParaRPr>
          </a:p>
          <a:p>
            <a:pPr marL="914400" lvl="1" indent="-457200">
              <a:spcBef>
                <a:spcPts val="600"/>
              </a:spcBef>
              <a:spcAft>
                <a:spcPts val="800"/>
              </a:spcAft>
            </a:pPr>
            <a:r>
              <a:rPr lang="en-US" sz="1800" dirty="0">
                <a:latin typeface="+mn-lt"/>
              </a:rPr>
              <a:t>They are designed for fault isolation</a:t>
            </a:r>
          </a:p>
          <a:p>
            <a:pPr marL="914400" lvl="1" indent="-457200">
              <a:spcBef>
                <a:spcPts val="600"/>
              </a:spcBef>
              <a:spcAft>
                <a:spcPts val="800"/>
              </a:spcAft>
            </a:pPr>
            <a:r>
              <a:rPr lang="en-US" sz="1800" dirty="0">
                <a:latin typeface="+mn-lt"/>
              </a:rPr>
              <a:t>They are interconnected with other Availability Zones by using high-speed private networking</a:t>
            </a:r>
          </a:p>
          <a:p>
            <a:pPr marL="914400" lvl="1" indent="-457200">
              <a:spcBef>
                <a:spcPts val="600"/>
              </a:spcBef>
              <a:spcAft>
                <a:spcPts val="800"/>
              </a:spcAft>
            </a:pPr>
            <a:r>
              <a:rPr lang="en-US" sz="1800" dirty="0">
                <a:latin typeface="+mn-lt"/>
              </a:rPr>
              <a:t>You choose your Availability Zones.</a:t>
            </a:r>
          </a:p>
          <a:p>
            <a:pPr marL="914400" lvl="1" indent="-457200">
              <a:spcBef>
                <a:spcPts val="600"/>
              </a:spcBef>
              <a:spcAft>
                <a:spcPts val="800"/>
              </a:spcAft>
            </a:pPr>
            <a:r>
              <a:rPr lang="en-US" sz="1800" b="1" dirty="0">
                <a:solidFill>
                  <a:srgbClr val="504BAB"/>
                </a:solidFill>
                <a:latin typeface="+mn-lt"/>
              </a:rPr>
              <a:t>AWS recommends replicating data and resources across Availability Zones </a:t>
            </a:r>
            <a:r>
              <a:rPr lang="en-US" sz="1800" dirty="0">
                <a:latin typeface="+mn-lt"/>
              </a:rPr>
              <a:t>for resiliency.</a:t>
            </a:r>
            <a:endParaRPr lang="en-US" dirty="0">
              <a:latin typeface="+mn-lt"/>
            </a:endParaRPr>
          </a:p>
        </p:txBody>
      </p:sp>
      <p:grpSp>
        <p:nvGrpSpPr>
          <p:cNvPr id="5" name="Group 4" descr="Architectural diagram showing three data centers in an Availability Zone that is itself in a region.">
            <a:extLst>
              <a:ext uri="{FF2B5EF4-FFF2-40B4-BE49-F238E27FC236}">
                <a16:creationId xmlns:a16="http://schemas.microsoft.com/office/drawing/2014/main" id="{31BFE179-068D-9793-C014-15E7FB5EA4F2}"/>
              </a:ext>
            </a:extLst>
          </p:cNvPr>
          <p:cNvGrpSpPr/>
          <p:nvPr/>
        </p:nvGrpSpPr>
        <p:grpSpPr>
          <a:xfrm>
            <a:off x="7546194" y="1463929"/>
            <a:ext cx="3989314" cy="4892421"/>
            <a:chOff x="7546194" y="1463929"/>
            <a:chExt cx="3989314" cy="4892421"/>
          </a:xfrm>
        </p:grpSpPr>
        <p:sp>
          <p:nvSpPr>
            <p:cNvPr id="9" name="Rectangle 8">
              <a:extLst>
                <a:ext uri="{FF2B5EF4-FFF2-40B4-BE49-F238E27FC236}">
                  <a16:creationId xmlns:a16="http://schemas.microsoft.com/office/drawing/2014/main" id="{C7552D4D-AEAE-9945-96D8-48F59EE4C822}"/>
                </a:ext>
                <a:ext uri="{C183D7F6-B498-43B3-948B-1728B52AA6E4}">
                  <adec:decorative xmlns:adec="http://schemas.microsoft.com/office/drawing/2017/decorative" val="1"/>
                </a:ext>
              </a:extLst>
            </p:cNvPr>
            <p:cNvSpPr/>
            <p:nvPr/>
          </p:nvSpPr>
          <p:spPr>
            <a:xfrm>
              <a:off x="7546194" y="1463929"/>
              <a:ext cx="3989314" cy="48924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10" name="Graphic 9">
              <a:extLst>
                <a:ext uri="{FF2B5EF4-FFF2-40B4-BE49-F238E27FC236}">
                  <a16:creationId xmlns:a16="http://schemas.microsoft.com/office/drawing/2014/main" id="{EFF8704B-A651-0C40-8426-CE81AA2CBD2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46194" y="1463929"/>
              <a:ext cx="474119" cy="474119"/>
            </a:xfrm>
            <a:prstGeom prst="rect">
              <a:avLst/>
            </a:prstGeom>
          </p:spPr>
        </p:pic>
        <p:sp>
          <p:nvSpPr>
            <p:cNvPr id="11" name="Rectangle 10">
              <a:extLst>
                <a:ext uri="{FF2B5EF4-FFF2-40B4-BE49-F238E27FC236}">
                  <a16:creationId xmlns:a16="http://schemas.microsoft.com/office/drawing/2014/main" id="{D7B44574-00D4-7A45-AB07-B46220FF838D}"/>
                </a:ext>
                <a:ext uri="{C183D7F6-B498-43B3-948B-1728B52AA6E4}">
                  <adec:decorative xmlns:adec="http://schemas.microsoft.com/office/drawing/2017/decorative" val="1"/>
                </a:ext>
              </a:extLst>
            </p:cNvPr>
            <p:cNvSpPr/>
            <p:nvPr/>
          </p:nvSpPr>
          <p:spPr>
            <a:xfrm>
              <a:off x="7817720" y="2063262"/>
              <a:ext cx="3436434" cy="4149969"/>
            </a:xfrm>
            <a:prstGeom prst="rect">
              <a:avLst/>
            </a:prstGeom>
            <a:noFill/>
            <a:ln w="12700">
              <a:solidFill>
                <a:srgbClr val="7CD1EA"/>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rgbClr val="7CD1EA"/>
                  </a:solidFill>
                </a:rPr>
                <a:t>Region </a:t>
              </a:r>
              <a:r>
                <a:rPr lang="en-US" sz="1600" b="1" dirty="0">
                  <a:solidFill>
                    <a:srgbClr val="7CD1EA"/>
                  </a:solidFill>
                </a:rPr>
                <a:t>eu-west-1</a:t>
              </a:r>
              <a:endParaRPr lang="en-US" sz="1200" b="1" dirty="0">
                <a:solidFill>
                  <a:srgbClr val="7CD1EA"/>
                </a:solidFill>
              </a:endParaRPr>
            </a:p>
          </p:txBody>
        </p:sp>
        <p:pic>
          <p:nvPicPr>
            <p:cNvPr id="12" name="Graphic 11">
              <a:extLst>
                <a:ext uri="{FF2B5EF4-FFF2-40B4-BE49-F238E27FC236}">
                  <a16:creationId xmlns:a16="http://schemas.microsoft.com/office/drawing/2014/main" id="{C859271C-AE4B-8043-9AA1-2CF383D813B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17720" y="2077934"/>
              <a:ext cx="330200" cy="330200"/>
            </a:xfrm>
            <a:prstGeom prst="rect">
              <a:avLst/>
            </a:prstGeom>
          </p:spPr>
        </p:pic>
        <p:sp>
          <p:nvSpPr>
            <p:cNvPr id="13" name="Rectangle 12">
              <a:extLst>
                <a:ext uri="{FF2B5EF4-FFF2-40B4-BE49-F238E27FC236}">
                  <a16:creationId xmlns:a16="http://schemas.microsoft.com/office/drawing/2014/main" id="{F792A278-18B7-8F45-A4AF-23FE11508F6D}"/>
                </a:ext>
                <a:ext uri="{C183D7F6-B498-43B3-948B-1728B52AA6E4}">
                  <adec:decorative xmlns:adec="http://schemas.microsoft.com/office/drawing/2017/decorative" val="1"/>
                </a:ext>
              </a:extLst>
            </p:cNvPr>
            <p:cNvSpPr/>
            <p:nvPr/>
          </p:nvSpPr>
          <p:spPr>
            <a:xfrm>
              <a:off x="7955729" y="2508649"/>
              <a:ext cx="3067632" cy="1941217"/>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rgbClr val="36C2B4"/>
                  </a:solidFill>
                </a:rPr>
                <a:t>Availability Zone </a:t>
              </a:r>
              <a:r>
                <a:rPr lang="en-US" sz="1600" b="1" dirty="0">
                  <a:solidFill>
                    <a:srgbClr val="36C2B4"/>
                  </a:solidFill>
                </a:rPr>
                <a:t>eu-west-1a</a:t>
              </a:r>
            </a:p>
          </p:txBody>
        </p:sp>
        <p:sp>
          <p:nvSpPr>
            <p:cNvPr id="33" name="Rectangle 32">
              <a:extLst>
                <a:ext uri="{FF2B5EF4-FFF2-40B4-BE49-F238E27FC236}">
                  <a16:creationId xmlns:a16="http://schemas.microsoft.com/office/drawing/2014/main" id="{E684FC33-3BF3-8F4C-A4F7-49EF4744F043}"/>
                </a:ext>
                <a:ext uri="{C183D7F6-B498-43B3-948B-1728B52AA6E4}">
                  <adec:decorative xmlns:adec="http://schemas.microsoft.com/office/drawing/2017/decorative" val="1"/>
                </a:ext>
              </a:extLst>
            </p:cNvPr>
            <p:cNvSpPr/>
            <p:nvPr/>
          </p:nvSpPr>
          <p:spPr>
            <a:xfrm>
              <a:off x="8093877" y="2915523"/>
              <a:ext cx="1859015" cy="462189"/>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lang="en-US" sz="1600" dirty="0">
                  <a:solidFill>
                    <a:srgbClr val="5A6B86"/>
                  </a:solidFill>
                </a:rPr>
                <a:t>Data center </a:t>
              </a:r>
            </a:p>
          </p:txBody>
        </p:sp>
        <p:pic>
          <p:nvPicPr>
            <p:cNvPr id="34" name="Graphic 33">
              <a:extLst>
                <a:ext uri="{FF2B5EF4-FFF2-40B4-BE49-F238E27FC236}">
                  <a16:creationId xmlns:a16="http://schemas.microsoft.com/office/drawing/2014/main" id="{4DFB739A-6359-8645-876D-B35A4B4497C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3877" y="2915523"/>
              <a:ext cx="330200" cy="330200"/>
            </a:xfrm>
            <a:prstGeom prst="rect">
              <a:avLst/>
            </a:prstGeom>
          </p:spPr>
        </p:pic>
        <p:sp>
          <p:nvSpPr>
            <p:cNvPr id="35" name="Rectangle 34">
              <a:extLst>
                <a:ext uri="{FF2B5EF4-FFF2-40B4-BE49-F238E27FC236}">
                  <a16:creationId xmlns:a16="http://schemas.microsoft.com/office/drawing/2014/main" id="{14B57C52-A119-F94D-94FB-7F98B3D248A5}"/>
                </a:ext>
                <a:ext uri="{C183D7F6-B498-43B3-948B-1728B52AA6E4}">
                  <adec:decorative xmlns:adec="http://schemas.microsoft.com/office/drawing/2017/decorative" val="1"/>
                </a:ext>
              </a:extLst>
            </p:cNvPr>
            <p:cNvSpPr/>
            <p:nvPr/>
          </p:nvSpPr>
          <p:spPr>
            <a:xfrm>
              <a:off x="8370034" y="3421502"/>
              <a:ext cx="1859015" cy="462189"/>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lang="en-US" sz="1600" dirty="0">
                  <a:solidFill>
                    <a:srgbClr val="5A6B86"/>
                  </a:solidFill>
                </a:rPr>
                <a:t>Data center </a:t>
              </a:r>
            </a:p>
          </p:txBody>
        </p:sp>
        <p:pic>
          <p:nvPicPr>
            <p:cNvPr id="36" name="Graphic 35">
              <a:extLst>
                <a:ext uri="{FF2B5EF4-FFF2-40B4-BE49-F238E27FC236}">
                  <a16:creationId xmlns:a16="http://schemas.microsoft.com/office/drawing/2014/main" id="{8C3818B5-AC7E-D840-BB39-C99496D8BEA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70034" y="3421502"/>
              <a:ext cx="330200" cy="330200"/>
            </a:xfrm>
            <a:prstGeom prst="rect">
              <a:avLst/>
            </a:prstGeom>
          </p:spPr>
        </p:pic>
        <p:sp>
          <p:nvSpPr>
            <p:cNvPr id="37" name="Rectangle 36">
              <a:extLst>
                <a:ext uri="{FF2B5EF4-FFF2-40B4-BE49-F238E27FC236}">
                  <a16:creationId xmlns:a16="http://schemas.microsoft.com/office/drawing/2014/main" id="{BF00D293-1DA5-E34D-8E10-4D5ECB593EF3}"/>
                </a:ext>
                <a:ext uri="{C183D7F6-B498-43B3-948B-1728B52AA6E4}">
                  <adec:decorative xmlns:adec="http://schemas.microsoft.com/office/drawing/2017/decorative" val="1"/>
                </a:ext>
              </a:extLst>
            </p:cNvPr>
            <p:cNvSpPr/>
            <p:nvPr/>
          </p:nvSpPr>
          <p:spPr>
            <a:xfrm>
              <a:off x="8615313" y="3927481"/>
              <a:ext cx="1859015" cy="462189"/>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lang="en-US" sz="1600" dirty="0">
                  <a:solidFill>
                    <a:srgbClr val="5A6B86"/>
                  </a:solidFill>
                </a:rPr>
                <a:t>Data center </a:t>
              </a:r>
            </a:p>
          </p:txBody>
        </p:sp>
        <p:pic>
          <p:nvPicPr>
            <p:cNvPr id="38" name="Graphic 37">
              <a:extLst>
                <a:ext uri="{FF2B5EF4-FFF2-40B4-BE49-F238E27FC236}">
                  <a16:creationId xmlns:a16="http://schemas.microsoft.com/office/drawing/2014/main" id="{B9920E63-7871-7F43-ADD0-FBE69B5DB3B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615313" y="3927481"/>
              <a:ext cx="330200" cy="330200"/>
            </a:xfrm>
            <a:prstGeom prst="rect">
              <a:avLst/>
            </a:prstGeom>
          </p:spPr>
        </p:pic>
        <p:sp>
          <p:nvSpPr>
            <p:cNvPr id="39" name="Rectangle 38">
              <a:extLst>
                <a:ext uri="{FF2B5EF4-FFF2-40B4-BE49-F238E27FC236}">
                  <a16:creationId xmlns:a16="http://schemas.microsoft.com/office/drawing/2014/main" id="{2DCF7A24-1B43-884E-83BD-8381C514FC46}"/>
                </a:ext>
                <a:ext uri="{C183D7F6-B498-43B3-948B-1728B52AA6E4}">
                  <adec:decorative xmlns:adec="http://schemas.microsoft.com/office/drawing/2017/decorative" val="1"/>
                </a:ext>
              </a:extLst>
            </p:cNvPr>
            <p:cNvSpPr/>
            <p:nvPr/>
          </p:nvSpPr>
          <p:spPr>
            <a:xfrm>
              <a:off x="7962255" y="4586085"/>
              <a:ext cx="3067632" cy="584449"/>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rgbClr val="36C2B4"/>
                  </a:solidFill>
                </a:rPr>
                <a:t>Availability Zone </a:t>
              </a:r>
              <a:r>
                <a:rPr lang="en-US" sz="1600" b="1" dirty="0">
                  <a:solidFill>
                    <a:srgbClr val="36C2B4"/>
                  </a:solidFill>
                </a:rPr>
                <a:t>eu-west-1b</a:t>
              </a:r>
            </a:p>
          </p:txBody>
        </p:sp>
        <p:sp>
          <p:nvSpPr>
            <p:cNvPr id="40" name="Rectangle 39">
              <a:extLst>
                <a:ext uri="{FF2B5EF4-FFF2-40B4-BE49-F238E27FC236}">
                  <a16:creationId xmlns:a16="http://schemas.microsoft.com/office/drawing/2014/main" id="{5096F1EE-082C-574B-B269-93D80DFE9DA7}"/>
                </a:ext>
                <a:ext uri="{C183D7F6-B498-43B3-948B-1728B52AA6E4}">
                  <adec:decorative xmlns:adec="http://schemas.microsoft.com/office/drawing/2017/decorative" val="1"/>
                </a:ext>
              </a:extLst>
            </p:cNvPr>
            <p:cNvSpPr/>
            <p:nvPr/>
          </p:nvSpPr>
          <p:spPr>
            <a:xfrm>
              <a:off x="7955729" y="5302523"/>
              <a:ext cx="3067632" cy="584449"/>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rgbClr val="36C2B4"/>
                  </a:solidFill>
                </a:rPr>
                <a:t>Availability Zone </a:t>
              </a:r>
              <a:r>
                <a:rPr lang="en-US" sz="1600" b="1" dirty="0">
                  <a:solidFill>
                    <a:srgbClr val="36C2B4"/>
                  </a:solidFill>
                </a:rPr>
                <a:t>eu-west-1c</a:t>
              </a:r>
            </a:p>
          </p:txBody>
        </p:sp>
      </p:grpSp>
    </p:spTree>
    <p:custDataLst>
      <p:tags r:id="rId1"/>
    </p:custDataLst>
    <p:extLst>
      <p:ext uri="{BB962C8B-B14F-4D97-AF65-F5344CB8AC3E}">
        <p14:creationId xmlns:p14="http://schemas.microsoft.com/office/powerpoint/2010/main" val="4011957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5B79BE2-941D-8D47-AF8C-1D3E4773E362}"/>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7</a:t>
            </a:fld>
            <a:endParaRPr lang="en-US" dirty="0"/>
          </a:p>
        </p:txBody>
      </p:sp>
      <p:sp>
        <p:nvSpPr>
          <p:cNvPr id="2" name="Title 1"/>
          <p:cNvSpPr>
            <a:spLocks noGrp="1"/>
          </p:cNvSpPr>
          <p:nvPr>
            <p:ph type="title"/>
          </p:nvPr>
        </p:nvSpPr>
        <p:spPr/>
        <p:txBody>
          <a:bodyPr>
            <a:normAutofit fontScale="90000"/>
          </a:bodyPr>
          <a:lstStyle/>
          <a:p>
            <a:r>
              <a:rPr lang="en-US" dirty="0"/>
              <a:t>AWS data centers</a:t>
            </a:r>
          </a:p>
        </p:txBody>
      </p:sp>
      <p:sp>
        <p:nvSpPr>
          <p:cNvPr id="4" name="Content Placeholder 3"/>
          <p:cNvSpPr>
            <a:spLocks noGrp="1"/>
          </p:cNvSpPr>
          <p:nvPr>
            <p:ph sz="quarter" idx="21"/>
          </p:nvPr>
        </p:nvSpPr>
        <p:spPr>
          <a:xfrm>
            <a:off x="365760" y="1143000"/>
            <a:ext cx="6720840" cy="5291750"/>
          </a:xfrm>
        </p:spPr>
        <p:txBody>
          <a:bodyPr>
            <a:noAutofit/>
          </a:bodyPr>
          <a:lstStyle/>
          <a:p>
            <a:pPr marL="457200" indent="-457200"/>
            <a:r>
              <a:rPr lang="en-US" dirty="0"/>
              <a:t>AWS data centers are </a:t>
            </a:r>
            <a:r>
              <a:rPr lang="en-US" dirty="0">
                <a:solidFill>
                  <a:schemeClr val="accent6"/>
                </a:solidFill>
              </a:rPr>
              <a:t>designed for security</a:t>
            </a:r>
            <a:r>
              <a:rPr lang="en-US" dirty="0"/>
              <a:t>.</a:t>
            </a:r>
          </a:p>
          <a:p>
            <a:pPr marL="457200" indent="-457200"/>
            <a:r>
              <a:rPr lang="en-US" dirty="0"/>
              <a:t>Data centers are where the data resides and data processing occurs.</a:t>
            </a:r>
          </a:p>
          <a:p>
            <a:pPr marL="457200" indent="-457200"/>
            <a:r>
              <a:rPr lang="en-US" dirty="0"/>
              <a:t>Each data center has redundant power, networking, and connectivity, and is housed in a separate facility.</a:t>
            </a:r>
          </a:p>
          <a:p>
            <a:pPr marL="457200" indent="-457200"/>
            <a:r>
              <a:rPr lang="en-US" dirty="0"/>
              <a:t>A data center typically has 50,000 to 80,000 physical servers.</a:t>
            </a:r>
          </a:p>
        </p:txBody>
      </p:sp>
      <p:pic>
        <p:nvPicPr>
          <p:cNvPr id="6" name="Picture 5">
            <a:extLst>
              <a:ext uri="{FF2B5EF4-FFF2-40B4-BE49-F238E27FC236}">
                <a16:creationId xmlns:a16="http://schemas.microsoft.com/office/drawing/2014/main" id="{C45D10C6-8A55-D245-B5FF-F89BFB56036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086600" y="2137078"/>
            <a:ext cx="4814547" cy="3519761"/>
          </a:xfrm>
          <a:prstGeom prst="rect">
            <a:avLst/>
          </a:prstGeom>
        </p:spPr>
      </p:pic>
    </p:spTree>
    <p:custDataLst>
      <p:tags r:id="rId1"/>
    </p:custDataLst>
    <p:extLst>
      <p:ext uri="{BB962C8B-B14F-4D97-AF65-F5344CB8AC3E}">
        <p14:creationId xmlns:p14="http://schemas.microsoft.com/office/powerpoint/2010/main" val="3403752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B930C8-5FAB-7A41-B3FF-60336F2C9B8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8</a:t>
            </a:fld>
            <a:endParaRPr lang="en-US" dirty="0"/>
          </a:p>
        </p:txBody>
      </p:sp>
      <p:sp>
        <p:nvSpPr>
          <p:cNvPr id="7" name="Title 6">
            <a:extLst>
              <a:ext uri="{FF2B5EF4-FFF2-40B4-BE49-F238E27FC236}">
                <a16:creationId xmlns:a16="http://schemas.microsoft.com/office/drawing/2014/main" id="{A63E9036-94C3-9249-BECB-7C8590C0770E}"/>
              </a:ext>
            </a:extLst>
          </p:cNvPr>
          <p:cNvSpPr>
            <a:spLocks noGrp="1"/>
          </p:cNvSpPr>
          <p:nvPr>
            <p:ph type="title"/>
          </p:nvPr>
        </p:nvSpPr>
        <p:spPr/>
        <p:txBody>
          <a:bodyPr>
            <a:normAutofit fontScale="90000"/>
          </a:bodyPr>
          <a:lstStyle/>
          <a:p>
            <a:r>
              <a:rPr lang="en-US" dirty="0"/>
              <a:t>Points of Presence</a:t>
            </a:r>
          </a:p>
        </p:txBody>
      </p:sp>
      <p:sp>
        <p:nvSpPr>
          <p:cNvPr id="8" name="Content Placeholder 7">
            <a:extLst>
              <a:ext uri="{FF2B5EF4-FFF2-40B4-BE49-F238E27FC236}">
                <a16:creationId xmlns:a16="http://schemas.microsoft.com/office/drawing/2014/main" id="{92EED430-649D-314F-8B54-13C025927D57}"/>
              </a:ext>
            </a:extLst>
          </p:cNvPr>
          <p:cNvSpPr>
            <a:spLocks noGrp="1"/>
          </p:cNvSpPr>
          <p:nvPr>
            <p:ph sz="quarter" idx="21"/>
          </p:nvPr>
        </p:nvSpPr>
        <p:spPr>
          <a:xfrm>
            <a:off x="365760" y="1143000"/>
            <a:ext cx="3906437" cy="5291750"/>
          </a:xfrm>
        </p:spPr>
        <p:txBody>
          <a:bodyPr/>
          <a:lstStyle/>
          <a:p>
            <a:r>
              <a:rPr lang="en-US" sz="2000" dirty="0"/>
              <a:t>AWS provides a global network of </a:t>
            </a:r>
            <a:r>
              <a:rPr lang="en-US" sz="2000" dirty="0">
                <a:solidFill>
                  <a:schemeClr val="accent6"/>
                </a:solidFill>
              </a:rPr>
              <a:t>Points of Presence </a:t>
            </a:r>
            <a:r>
              <a:rPr lang="en-US" sz="2000" dirty="0"/>
              <a:t>locations </a:t>
            </a:r>
          </a:p>
          <a:p>
            <a:r>
              <a:rPr lang="en-US" sz="2000" dirty="0"/>
              <a:t>Consists of </a:t>
            </a:r>
            <a:r>
              <a:rPr lang="en-US" sz="2000" b="1" dirty="0">
                <a:solidFill>
                  <a:srgbClr val="504BAB"/>
                </a:solidFill>
              </a:rPr>
              <a:t>edge locations </a:t>
            </a:r>
            <a:r>
              <a:rPr lang="en-US" sz="2000" dirty="0"/>
              <a:t>and a much smaller number of </a:t>
            </a:r>
            <a:r>
              <a:rPr lang="en-US" sz="2000" b="1" dirty="0">
                <a:solidFill>
                  <a:srgbClr val="504BAB"/>
                </a:solidFill>
              </a:rPr>
              <a:t>Regional edge caches</a:t>
            </a:r>
          </a:p>
          <a:p>
            <a:r>
              <a:rPr lang="en-US" sz="2000" dirty="0"/>
              <a:t>Used with Amazon CloudFront </a:t>
            </a:r>
          </a:p>
          <a:p>
            <a:pPr lvl="1"/>
            <a:r>
              <a:rPr lang="en-US" sz="1600" dirty="0"/>
              <a:t>A global Content Delivery Network (CDN), that delivers content to end users with</a:t>
            </a:r>
            <a:r>
              <a:rPr lang="en-US" sz="1600" dirty="0">
                <a:solidFill>
                  <a:schemeClr val="accent6"/>
                </a:solidFill>
              </a:rPr>
              <a:t> reduced latency</a:t>
            </a:r>
          </a:p>
          <a:p>
            <a:r>
              <a:rPr lang="en-US" sz="2000" dirty="0"/>
              <a:t>Regional edge caches used for content with infrequent access.</a:t>
            </a:r>
          </a:p>
        </p:txBody>
      </p:sp>
      <p:grpSp>
        <p:nvGrpSpPr>
          <p:cNvPr id="3" name="Group 2" descr="Map of the globe showing one color for edge locations, another color for multiple edge locations, and a third color to indicate regional edge caches.">
            <a:extLst>
              <a:ext uri="{FF2B5EF4-FFF2-40B4-BE49-F238E27FC236}">
                <a16:creationId xmlns:a16="http://schemas.microsoft.com/office/drawing/2014/main" id="{75C9491F-3D11-D096-7864-07310A47FE18}"/>
              </a:ext>
            </a:extLst>
          </p:cNvPr>
          <p:cNvGrpSpPr/>
          <p:nvPr/>
        </p:nvGrpSpPr>
        <p:grpSpPr>
          <a:xfrm>
            <a:off x="4154557" y="1977853"/>
            <a:ext cx="7821133" cy="4288803"/>
            <a:chOff x="4154557" y="1977853"/>
            <a:chExt cx="7821133" cy="4288803"/>
          </a:xfrm>
        </p:grpSpPr>
        <p:pic>
          <p:nvPicPr>
            <p:cNvPr id="6" name="Picture 5">
              <a:extLst>
                <a:ext uri="{FF2B5EF4-FFF2-40B4-BE49-F238E27FC236}">
                  <a16:creationId xmlns:a16="http://schemas.microsoft.com/office/drawing/2014/main" id="{FE825948-0A0A-E045-B0CD-D9AC5EF95709}"/>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439265" y="1977853"/>
              <a:ext cx="7536425" cy="4288803"/>
            </a:xfrm>
            <a:prstGeom prst="rect">
              <a:avLst/>
            </a:prstGeom>
          </p:spPr>
        </p:pic>
        <p:pic>
          <p:nvPicPr>
            <p:cNvPr id="12" name="Picture 11">
              <a:extLst>
                <a:ext uri="{FF2B5EF4-FFF2-40B4-BE49-F238E27FC236}">
                  <a16:creationId xmlns:a16="http://schemas.microsoft.com/office/drawing/2014/main" id="{3E508072-CCDE-434D-BBF6-3B6F0D1EBB4B}"/>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154557" y="4420545"/>
              <a:ext cx="1849488" cy="1818560"/>
            </a:xfrm>
            <a:prstGeom prst="rect">
              <a:avLst/>
            </a:prstGeom>
          </p:spPr>
        </p:pic>
      </p:grpSp>
    </p:spTree>
    <p:custDataLst>
      <p:tags r:id="rId1"/>
    </p:custDataLst>
    <p:extLst>
      <p:ext uri="{BB962C8B-B14F-4D97-AF65-F5344CB8AC3E}">
        <p14:creationId xmlns:p14="http://schemas.microsoft.com/office/powerpoint/2010/main" val="2858201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C1233A3-68AD-D54C-B5B1-AEBF58D9F79E}"/>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9</a:t>
            </a:fld>
            <a:endParaRPr lang="en-US" dirty="0"/>
          </a:p>
        </p:txBody>
      </p:sp>
      <p:sp>
        <p:nvSpPr>
          <p:cNvPr id="5" name="Title 4"/>
          <p:cNvSpPr>
            <a:spLocks noGrp="1"/>
          </p:cNvSpPr>
          <p:nvPr>
            <p:ph type="title"/>
          </p:nvPr>
        </p:nvSpPr>
        <p:spPr/>
        <p:txBody>
          <a:bodyPr>
            <a:normAutofit fontScale="90000"/>
          </a:bodyPr>
          <a:lstStyle/>
          <a:p>
            <a:r>
              <a:rPr lang="en-US" dirty="0"/>
              <a:t>AWS infrastructure features </a:t>
            </a:r>
          </a:p>
        </p:txBody>
      </p:sp>
      <p:sp>
        <p:nvSpPr>
          <p:cNvPr id="82" name="Content Placeholder 81"/>
          <p:cNvSpPr>
            <a:spLocks noGrp="1"/>
          </p:cNvSpPr>
          <p:nvPr>
            <p:ph sz="quarter" idx="21"/>
          </p:nvPr>
        </p:nvSpPr>
        <p:spPr>
          <a:xfrm>
            <a:off x="365760" y="1143000"/>
            <a:ext cx="6015720" cy="5415474"/>
          </a:xfrm>
        </p:spPr>
        <p:txBody>
          <a:bodyPr>
            <a:noAutofit/>
          </a:bodyPr>
          <a:lstStyle/>
          <a:p>
            <a:pPr marL="230188" indent="-230188">
              <a:lnSpc>
                <a:spcPct val="100000"/>
              </a:lnSpc>
              <a:spcBef>
                <a:spcPts val="1200"/>
              </a:spcBef>
            </a:pPr>
            <a:r>
              <a:rPr lang="en-US" sz="2400" dirty="0">
                <a:latin typeface="+mn-lt"/>
              </a:rPr>
              <a:t>Elasticity and scalability</a:t>
            </a:r>
          </a:p>
          <a:p>
            <a:pPr marL="687388" lvl="2" indent="-230188">
              <a:lnSpc>
                <a:spcPct val="100000"/>
              </a:lnSpc>
              <a:spcBef>
                <a:spcPts val="600"/>
              </a:spcBef>
            </a:pPr>
            <a:r>
              <a:rPr lang="en-US" sz="1800" dirty="0">
                <a:latin typeface="+mn-lt"/>
              </a:rPr>
              <a:t>Elastic infrastructure; dynamic adaption of capacity</a:t>
            </a:r>
          </a:p>
          <a:p>
            <a:pPr marL="687388" lvl="2" indent="-230188">
              <a:lnSpc>
                <a:spcPct val="100000"/>
              </a:lnSpc>
              <a:spcBef>
                <a:spcPts val="600"/>
              </a:spcBef>
            </a:pPr>
            <a:r>
              <a:rPr lang="en-US" sz="1800" dirty="0">
                <a:latin typeface="+mn-lt"/>
              </a:rPr>
              <a:t>Scalable infrastructure; adapts to accommodate growth </a:t>
            </a:r>
          </a:p>
          <a:p>
            <a:pPr marL="230188" indent="-230188">
              <a:lnSpc>
                <a:spcPct val="100000"/>
              </a:lnSpc>
              <a:spcBef>
                <a:spcPts val="1200"/>
              </a:spcBef>
            </a:pPr>
            <a:r>
              <a:rPr lang="en-US" sz="2400" dirty="0">
                <a:latin typeface="+mn-lt"/>
              </a:rPr>
              <a:t>Fault-tolerance</a:t>
            </a:r>
          </a:p>
          <a:p>
            <a:pPr marL="687388" lvl="2" indent="-230188">
              <a:lnSpc>
                <a:spcPct val="100000"/>
              </a:lnSpc>
              <a:spcBef>
                <a:spcPts val="600"/>
              </a:spcBef>
            </a:pPr>
            <a:r>
              <a:rPr lang="en-US" sz="1800" dirty="0">
                <a:latin typeface="+mn-lt"/>
              </a:rPr>
              <a:t>Continues operating properly in the presence of a failure</a:t>
            </a:r>
          </a:p>
          <a:p>
            <a:pPr marL="687388" lvl="2" indent="-230188">
              <a:lnSpc>
                <a:spcPct val="100000"/>
              </a:lnSpc>
              <a:spcBef>
                <a:spcPts val="600"/>
              </a:spcBef>
            </a:pPr>
            <a:r>
              <a:rPr lang="en-US" sz="1800" dirty="0">
                <a:latin typeface="+mn-lt"/>
              </a:rPr>
              <a:t>Built-in redundancy of components</a:t>
            </a:r>
          </a:p>
          <a:p>
            <a:pPr marL="230188" indent="-230188">
              <a:lnSpc>
                <a:spcPct val="100000"/>
              </a:lnSpc>
              <a:spcBef>
                <a:spcPts val="1200"/>
              </a:spcBef>
            </a:pPr>
            <a:r>
              <a:rPr lang="en-US" sz="2400" dirty="0">
                <a:latin typeface="+mn-lt"/>
              </a:rPr>
              <a:t>High availability</a:t>
            </a:r>
          </a:p>
          <a:p>
            <a:pPr marL="687388" lvl="2" indent="-230188">
              <a:lnSpc>
                <a:spcPct val="100000"/>
              </a:lnSpc>
              <a:spcBef>
                <a:spcPts val="600"/>
              </a:spcBef>
            </a:pPr>
            <a:r>
              <a:rPr lang="en-US" sz="1800" dirty="0">
                <a:latin typeface="+mn-lt"/>
              </a:rPr>
              <a:t>High level of operational performance</a:t>
            </a:r>
          </a:p>
          <a:p>
            <a:pPr marL="687388" lvl="2" indent="-230188">
              <a:lnSpc>
                <a:spcPct val="100000"/>
              </a:lnSpc>
              <a:spcBef>
                <a:spcPts val="600"/>
              </a:spcBef>
            </a:pPr>
            <a:r>
              <a:rPr lang="en-US" sz="1800" dirty="0">
                <a:latin typeface="+mn-lt"/>
              </a:rPr>
              <a:t>Minimized downtime</a:t>
            </a:r>
          </a:p>
          <a:p>
            <a:pPr marL="687388" lvl="2" indent="-230188">
              <a:lnSpc>
                <a:spcPct val="100000"/>
              </a:lnSpc>
              <a:spcBef>
                <a:spcPts val="600"/>
              </a:spcBef>
            </a:pPr>
            <a:r>
              <a:rPr lang="en-US" sz="1800" dirty="0">
                <a:latin typeface="+mn-lt"/>
              </a:rPr>
              <a:t>No human intervention</a:t>
            </a:r>
          </a:p>
        </p:txBody>
      </p:sp>
      <p:grpSp>
        <p:nvGrpSpPr>
          <p:cNvPr id="3" name="Group 2" descr="Diagram shows three Availability Zones and how each is physically distinct, has backup generators and cooling equipment, uninterrupted power supply, and network connectivity.">
            <a:extLst>
              <a:ext uri="{FF2B5EF4-FFF2-40B4-BE49-F238E27FC236}">
                <a16:creationId xmlns:a16="http://schemas.microsoft.com/office/drawing/2014/main" id="{2159BB7B-02F6-3C8C-C140-D3DF51078F0B}"/>
              </a:ext>
            </a:extLst>
          </p:cNvPr>
          <p:cNvGrpSpPr/>
          <p:nvPr/>
        </p:nvGrpSpPr>
        <p:grpSpPr>
          <a:xfrm>
            <a:off x="6386024" y="1481328"/>
            <a:ext cx="5584303" cy="4739719"/>
            <a:chOff x="6386024" y="1481328"/>
            <a:chExt cx="5584303" cy="4739719"/>
          </a:xfrm>
        </p:grpSpPr>
        <p:sp>
          <p:nvSpPr>
            <p:cNvPr id="76" name="TextBox 75">
              <a:extLst>
                <a:ext uri="{C183D7F6-B498-43B3-948B-1728B52AA6E4}">
                  <adec:decorative xmlns:adec="http://schemas.microsoft.com/office/drawing/2017/decorative" val="1"/>
                </a:ext>
              </a:extLst>
            </p:cNvPr>
            <p:cNvSpPr txBox="1"/>
            <p:nvPr/>
          </p:nvSpPr>
          <p:spPr>
            <a:xfrm>
              <a:off x="8614980" y="5794521"/>
              <a:ext cx="1821259" cy="400110"/>
            </a:xfrm>
            <a:prstGeom prst="rect">
              <a:avLst/>
            </a:prstGeom>
            <a:noFill/>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FF9933"/>
                  </a:solidFill>
                  <a:effectLst/>
                  <a:uLnTx/>
                  <a:uFillTx/>
                  <a:latin typeface="Amazon Ember" panose="020B0603020204020204" pitchFamily="34" charset="0"/>
                  <a:ea typeface="Amazon Ember" panose="020B0603020204020204" pitchFamily="34" charset="0"/>
                  <a:cs typeface="Amazon Ember" panose="020B0603020204020204" pitchFamily="34" charset="0"/>
                </a:rPr>
                <a:t>AWS Region</a:t>
              </a:r>
            </a:p>
          </p:txBody>
        </p:sp>
        <p:sp>
          <p:nvSpPr>
            <p:cNvPr id="88" name="Rounded Rectangle 87">
              <a:extLst>
                <a:ext uri="{C183D7F6-B498-43B3-948B-1728B52AA6E4}">
                  <adec:decorative xmlns:adec="http://schemas.microsoft.com/office/drawing/2017/decorative" val="1"/>
                </a:ext>
              </a:extLst>
            </p:cNvPr>
            <p:cNvSpPr/>
            <p:nvPr/>
          </p:nvSpPr>
          <p:spPr>
            <a:xfrm>
              <a:off x="6547105" y="1481328"/>
              <a:ext cx="5423222" cy="4739719"/>
            </a:xfrm>
            <a:prstGeom prst="roundRect">
              <a:avLst>
                <a:gd name="adj" fmla="val 9818"/>
              </a:avLst>
            </a:prstGeom>
            <a:noFill/>
            <a:ln w="28575" cap="flat" cmpd="sng" algn="ctr">
              <a:solidFill>
                <a:srgbClr val="474746"/>
              </a:solidFill>
              <a:prstDash val="sysDot"/>
            </a:ln>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474746"/>
                </a:solidFill>
                <a:effectLst/>
                <a:uLnTx/>
                <a:uFillTx/>
                <a:latin typeface="Helvetica Neue"/>
                <a:ea typeface="+mn-ea"/>
                <a:cs typeface="Helvetica Neue"/>
              </a:endParaRPr>
            </a:p>
          </p:txBody>
        </p:sp>
        <p:grpSp>
          <p:nvGrpSpPr>
            <p:cNvPr id="89" name="Group 88">
              <a:extLst>
                <a:ext uri="{C183D7F6-B498-43B3-948B-1728B52AA6E4}">
                  <adec:decorative xmlns:adec="http://schemas.microsoft.com/office/drawing/2017/decorative" val="1"/>
                </a:ext>
              </a:extLst>
            </p:cNvPr>
            <p:cNvGrpSpPr/>
            <p:nvPr/>
          </p:nvGrpSpPr>
          <p:grpSpPr>
            <a:xfrm>
              <a:off x="7611035" y="2197620"/>
              <a:ext cx="3749106" cy="3099682"/>
              <a:chOff x="5824622" y="1393367"/>
              <a:chExt cx="2753241" cy="2363417"/>
            </a:xfrm>
          </p:grpSpPr>
          <p:sp>
            <p:nvSpPr>
              <p:cNvPr id="90" name="Rounded Rectangle 89"/>
              <p:cNvSpPr>
                <a:spLocks noChangeAspect="1"/>
              </p:cNvSpPr>
              <p:nvPr/>
            </p:nvSpPr>
            <p:spPr>
              <a:xfrm>
                <a:off x="5824622" y="1393367"/>
                <a:ext cx="1247337" cy="1108189"/>
              </a:xfrm>
              <a:prstGeom prst="roundRect">
                <a:avLst>
                  <a:gd name="adj" fmla="val 9818"/>
                </a:avLst>
              </a:prstGeom>
              <a:noFill/>
              <a:ln w="28575" cap="flat" cmpd="sng" algn="ctr">
                <a:solidFill>
                  <a:srgbClr val="F7981F"/>
                </a:solidFill>
                <a:prstDash val="lgDash"/>
              </a:ln>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474746"/>
                  </a:solidFill>
                  <a:effectLst/>
                  <a:uLnTx/>
                  <a:uFillTx/>
                  <a:latin typeface="Helvetica Neue"/>
                  <a:ea typeface="+mn-ea"/>
                  <a:cs typeface="Helvetica Neue"/>
                </a:endParaRPr>
              </a:p>
            </p:txBody>
          </p:sp>
          <p:sp>
            <p:nvSpPr>
              <p:cNvPr id="102" name="TextBox 32"/>
              <p:cNvSpPr txBox="1">
                <a:spLocks noChangeArrowheads="1"/>
              </p:cNvSpPr>
              <p:nvPr/>
            </p:nvSpPr>
            <p:spPr bwMode="auto">
              <a:xfrm>
                <a:off x="5841897" y="2306875"/>
                <a:ext cx="1205123" cy="162193"/>
              </a:xfrm>
              <a:prstGeom prst="rect">
                <a:avLst/>
              </a:prstGeom>
              <a:noFill/>
              <a:ln w="9525">
                <a:noFill/>
                <a:miter lim="800000"/>
                <a:headEnd/>
                <a:tailEnd/>
              </a:ln>
            </p:spPr>
            <p:txBody>
              <a:bodyPr wrap="square" lIns="0" tIns="0" rIns="0" bIns="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7981F"/>
                    </a:solidFill>
                    <a:effectLst/>
                    <a:uLnTx/>
                    <a:uFillTx/>
                    <a:latin typeface="Helvetica Neue"/>
                    <a:ea typeface="Verdana" pitchFamily="34" charset="0"/>
                    <a:cs typeface="Helvetica Neue"/>
                  </a:rPr>
                  <a:t>Availability Zone</a:t>
                </a:r>
              </a:p>
            </p:txBody>
          </p:sp>
          <p:grpSp>
            <p:nvGrpSpPr>
              <p:cNvPr id="103" name="Group 102"/>
              <p:cNvGrpSpPr/>
              <p:nvPr/>
            </p:nvGrpSpPr>
            <p:grpSpPr>
              <a:xfrm>
                <a:off x="5887498" y="1468928"/>
                <a:ext cx="534082" cy="359495"/>
                <a:chOff x="5073543" y="1559577"/>
                <a:chExt cx="1683987" cy="1133507"/>
              </a:xfrm>
              <a:solidFill>
                <a:srgbClr val="0C67AE">
                  <a:lumMod val="40000"/>
                  <a:lumOff val="60000"/>
                </a:srgbClr>
              </a:solidFill>
            </p:grpSpPr>
            <p:sp>
              <p:nvSpPr>
                <p:cNvPr id="151" name="Rectangle 150"/>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52" name="Picture 151"/>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04" name="Group 103"/>
              <p:cNvGrpSpPr/>
              <p:nvPr/>
            </p:nvGrpSpPr>
            <p:grpSpPr>
              <a:xfrm>
                <a:off x="6474097" y="1468928"/>
                <a:ext cx="534082" cy="359495"/>
                <a:chOff x="5073543" y="1559577"/>
                <a:chExt cx="1683987" cy="1133507"/>
              </a:xfrm>
              <a:solidFill>
                <a:srgbClr val="0C67AE">
                  <a:lumMod val="40000"/>
                  <a:lumOff val="60000"/>
                </a:srgbClr>
              </a:solidFill>
            </p:grpSpPr>
            <p:sp>
              <p:nvSpPr>
                <p:cNvPr id="149" name="Rectangle 148"/>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50" name="Picture 149"/>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05" name="Group 104"/>
              <p:cNvGrpSpPr/>
              <p:nvPr/>
            </p:nvGrpSpPr>
            <p:grpSpPr>
              <a:xfrm>
                <a:off x="5887498" y="1894938"/>
                <a:ext cx="534082" cy="359495"/>
                <a:chOff x="5073543" y="1559577"/>
                <a:chExt cx="1683987" cy="1133507"/>
              </a:xfrm>
              <a:solidFill>
                <a:srgbClr val="0C67AE">
                  <a:lumMod val="40000"/>
                  <a:lumOff val="60000"/>
                </a:srgbClr>
              </a:solidFill>
            </p:grpSpPr>
            <p:sp>
              <p:nvSpPr>
                <p:cNvPr id="147" name="Rectangle 146"/>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48" name="Picture 147"/>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06" name="Group 105"/>
              <p:cNvGrpSpPr/>
              <p:nvPr/>
            </p:nvGrpSpPr>
            <p:grpSpPr>
              <a:xfrm>
                <a:off x="6474097" y="1894938"/>
                <a:ext cx="534082" cy="359495"/>
                <a:chOff x="5073543" y="1559577"/>
                <a:chExt cx="1683987" cy="1133507"/>
              </a:xfrm>
              <a:solidFill>
                <a:srgbClr val="0C67AE">
                  <a:lumMod val="40000"/>
                  <a:lumOff val="60000"/>
                </a:srgbClr>
              </a:solidFill>
            </p:grpSpPr>
            <p:sp>
              <p:nvSpPr>
                <p:cNvPr id="145" name="Rectangle 144"/>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46" name="Picture 145"/>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sp>
            <p:nvSpPr>
              <p:cNvPr id="107" name="TextBox 106"/>
              <p:cNvSpPr txBox="1"/>
              <p:nvPr/>
            </p:nvSpPr>
            <p:spPr>
              <a:xfrm>
                <a:off x="5927674" y="1711381"/>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08" name="TextBox 107"/>
              <p:cNvSpPr txBox="1"/>
              <p:nvPr/>
            </p:nvSpPr>
            <p:spPr>
              <a:xfrm>
                <a:off x="6514273" y="1713650"/>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09" name="TextBox 108"/>
              <p:cNvSpPr txBox="1"/>
              <p:nvPr/>
            </p:nvSpPr>
            <p:spPr>
              <a:xfrm>
                <a:off x="5922855" y="2136262"/>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10" name="TextBox 109"/>
              <p:cNvSpPr txBox="1"/>
              <p:nvPr/>
            </p:nvSpPr>
            <p:spPr>
              <a:xfrm>
                <a:off x="6514273" y="2136262"/>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11" name="Rounded Rectangle 110"/>
              <p:cNvSpPr>
                <a:spLocks noChangeAspect="1"/>
              </p:cNvSpPr>
              <p:nvPr/>
            </p:nvSpPr>
            <p:spPr>
              <a:xfrm>
                <a:off x="7330526" y="1397200"/>
                <a:ext cx="1247337" cy="1108189"/>
              </a:xfrm>
              <a:prstGeom prst="roundRect">
                <a:avLst>
                  <a:gd name="adj" fmla="val 9818"/>
                </a:avLst>
              </a:prstGeom>
              <a:noFill/>
              <a:ln w="28575" cap="flat" cmpd="sng" algn="ctr">
                <a:solidFill>
                  <a:srgbClr val="F7981F"/>
                </a:solidFill>
                <a:prstDash val="lgDash"/>
              </a:ln>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474746"/>
                  </a:solidFill>
                  <a:effectLst/>
                  <a:uLnTx/>
                  <a:uFillTx/>
                  <a:latin typeface="Helvetica Neue"/>
                  <a:ea typeface="+mn-ea"/>
                  <a:cs typeface="Helvetica Neue"/>
                </a:endParaRPr>
              </a:p>
            </p:txBody>
          </p:sp>
          <p:grpSp>
            <p:nvGrpSpPr>
              <p:cNvPr id="112" name="Group 111"/>
              <p:cNvGrpSpPr/>
              <p:nvPr/>
            </p:nvGrpSpPr>
            <p:grpSpPr>
              <a:xfrm>
                <a:off x="7393402" y="1472761"/>
                <a:ext cx="534082" cy="359495"/>
                <a:chOff x="5073543" y="1559577"/>
                <a:chExt cx="1683987" cy="1133507"/>
              </a:xfrm>
              <a:solidFill>
                <a:srgbClr val="0C67AE">
                  <a:lumMod val="40000"/>
                  <a:lumOff val="60000"/>
                </a:srgbClr>
              </a:solidFill>
            </p:grpSpPr>
            <p:sp>
              <p:nvSpPr>
                <p:cNvPr id="143" name="Rectangle 142"/>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44" name="Picture 143"/>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13" name="Group 112"/>
              <p:cNvGrpSpPr/>
              <p:nvPr/>
            </p:nvGrpSpPr>
            <p:grpSpPr>
              <a:xfrm>
                <a:off x="7980001" y="1472761"/>
                <a:ext cx="534082" cy="359495"/>
                <a:chOff x="5073543" y="1559577"/>
                <a:chExt cx="1683987" cy="1133507"/>
              </a:xfrm>
              <a:solidFill>
                <a:srgbClr val="0C67AE">
                  <a:lumMod val="40000"/>
                  <a:lumOff val="60000"/>
                </a:srgbClr>
              </a:solidFill>
            </p:grpSpPr>
            <p:sp>
              <p:nvSpPr>
                <p:cNvPr id="141" name="Rectangle 140"/>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42" name="Picture 141"/>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14" name="Group 113"/>
              <p:cNvGrpSpPr/>
              <p:nvPr/>
            </p:nvGrpSpPr>
            <p:grpSpPr>
              <a:xfrm>
                <a:off x="7393402" y="1898771"/>
                <a:ext cx="534082" cy="359495"/>
                <a:chOff x="5073543" y="1559577"/>
                <a:chExt cx="1683987" cy="1133507"/>
              </a:xfrm>
              <a:solidFill>
                <a:srgbClr val="0C67AE">
                  <a:lumMod val="40000"/>
                  <a:lumOff val="60000"/>
                </a:srgbClr>
              </a:solidFill>
            </p:grpSpPr>
            <p:sp>
              <p:nvSpPr>
                <p:cNvPr id="139" name="Rectangle 138"/>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40" name="Picture 139"/>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15" name="Group 114"/>
              <p:cNvGrpSpPr/>
              <p:nvPr/>
            </p:nvGrpSpPr>
            <p:grpSpPr>
              <a:xfrm>
                <a:off x="7980001" y="1898771"/>
                <a:ext cx="534082" cy="359495"/>
                <a:chOff x="5073543" y="1559577"/>
                <a:chExt cx="1683987" cy="1133507"/>
              </a:xfrm>
              <a:solidFill>
                <a:srgbClr val="0C67AE">
                  <a:lumMod val="40000"/>
                  <a:lumOff val="60000"/>
                </a:srgbClr>
              </a:solidFill>
            </p:grpSpPr>
            <p:sp>
              <p:nvSpPr>
                <p:cNvPr id="137" name="Rectangle 136"/>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38" name="Picture 137"/>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sp>
            <p:nvSpPr>
              <p:cNvPr id="116" name="TextBox 115"/>
              <p:cNvSpPr txBox="1"/>
              <p:nvPr/>
            </p:nvSpPr>
            <p:spPr>
              <a:xfrm>
                <a:off x="7433578" y="1715214"/>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17" name="TextBox 116"/>
              <p:cNvSpPr txBox="1"/>
              <p:nvPr/>
            </p:nvSpPr>
            <p:spPr>
              <a:xfrm>
                <a:off x="8020177" y="1717483"/>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18" name="TextBox 117"/>
              <p:cNvSpPr txBox="1"/>
              <p:nvPr/>
            </p:nvSpPr>
            <p:spPr>
              <a:xfrm>
                <a:off x="7428759" y="2140095"/>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19" name="TextBox 118"/>
              <p:cNvSpPr txBox="1"/>
              <p:nvPr/>
            </p:nvSpPr>
            <p:spPr>
              <a:xfrm>
                <a:off x="8020177" y="2140095"/>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20" name="Rounded Rectangle 119"/>
              <p:cNvSpPr>
                <a:spLocks noChangeAspect="1"/>
              </p:cNvSpPr>
              <p:nvPr/>
            </p:nvSpPr>
            <p:spPr>
              <a:xfrm>
                <a:off x="6567700" y="2648595"/>
                <a:ext cx="1247337" cy="1108189"/>
              </a:xfrm>
              <a:prstGeom prst="roundRect">
                <a:avLst>
                  <a:gd name="adj" fmla="val 9818"/>
                </a:avLst>
              </a:prstGeom>
              <a:noFill/>
              <a:ln w="28575" cap="flat" cmpd="sng" algn="ctr">
                <a:solidFill>
                  <a:srgbClr val="F7981F"/>
                </a:solidFill>
                <a:prstDash val="lgDash"/>
              </a:ln>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474746"/>
                  </a:solidFill>
                  <a:effectLst/>
                  <a:uLnTx/>
                  <a:uFillTx/>
                  <a:latin typeface="Helvetica Neue"/>
                  <a:ea typeface="+mn-ea"/>
                  <a:cs typeface="Helvetica Neue"/>
                </a:endParaRPr>
              </a:p>
            </p:txBody>
          </p:sp>
          <p:grpSp>
            <p:nvGrpSpPr>
              <p:cNvPr id="121" name="Group 120"/>
              <p:cNvGrpSpPr/>
              <p:nvPr/>
            </p:nvGrpSpPr>
            <p:grpSpPr>
              <a:xfrm>
                <a:off x="6630576" y="2724156"/>
                <a:ext cx="534082" cy="359495"/>
                <a:chOff x="5073543" y="1559577"/>
                <a:chExt cx="1683987" cy="1133507"/>
              </a:xfrm>
              <a:solidFill>
                <a:srgbClr val="0C67AE">
                  <a:lumMod val="40000"/>
                  <a:lumOff val="60000"/>
                </a:srgbClr>
              </a:solidFill>
            </p:grpSpPr>
            <p:sp>
              <p:nvSpPr>
                <p:cNvPr id="135" name="Rectangle 134"/>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36" name="Picture 135"/>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22" name="Group 121"/>
              <p:cNvGrpSpPr/>
              <p:nvPr/>
            </p:nvGrpSpPr>
            <p:grpSpPr>
              <a:xfrm>
                <a:off x="7217175" y="2724156"/>
                <a:ext cx="534082" cy="359495"/>
                <a:chOff x="5073543" y="1559577"/>
                <a:chExt cx="1683987" cy="1133507"/>
              </a:xfrm>
              <a:solidFill>
                <a:srgbClr val="0C67AE">
                  <a:lumMod val="40000"/>
                  <a:lumOff val="60000"/>
                </a:srgbClr>
              </a:solidFill>
            </p:grpSpPr>
            <p:sp>
              <p:nvSpPr>
                <p:cNvPr id="133" name="Rectangle 132"/>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34" name="Picture 133"/>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23" name="Group 122"/>
              <p:cNvGrpSpPr/>
              <p:nvPr/>
            </p:nvGrpSpPr>
            <p:grpSpPr>
              <a:xfrm>
                <a:off x="6630576" y="3150166"/>
                <a:ext cx="534082" cy="359495"/>
                <a:chOff x="5073543" y="1559577"/>
                <a:chExt cx="1683987" cy="1133507"/>
              </a:xfrm>
              <a:solidFill>
                <a:srgbClr val="0C67AE">
                  <a:lumMod val="40000"/>
                  <a:lumOff val="60000"/>
                </a:srgbClr>
              </a:solidFill>
            </p:grpSpPr>
            <p:sp>
              <p:nvSpPr>
                <p:cNvPr id="131" name="Rectangle 130"/>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32" name="Picture 131"/>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grpSp>
            <p:nvGrpSpPr>
              <p:cNvPr id="124" name="Group 123"/>
              <p:cNvGrpSpPr/>
              <p:nvPr/>
            </p:nvGrpSpPr>
            <p:grpSpPr>
              <a:xfrm>
                <a:off x="7217175" y="3150166"/>
                <a:ext cx="534082" cy="359495"/>
                <a:chOff x="5073543" y="1559577"/>
                <a:chExt cx="1683987" cy="1133507"/>
              </a:xfrm>
              <a:solidFill>
                <a:srgbClr val="0C67AE">
                  <a:lumMod val="40000"/>
                  <a:lumOff val="60000"/>
                </a:srgbClr>
              </a:solidFill>
            </p:grpSpPr>
            <p:sp>
              <p:nvSpPr>
                <p:cNvPr id="129" name="Rectangle 128"/>
                <p:cNvSpPr/>
                <p:nvPr/>
              </p:nvSpPr>
              <p:spPr>
                <a:xfrm>
                  <a:off x="5073543" y="1559577"/>
                  <a:ext cx="1683987" cy="1133507"/>
                </a:xfrm>
                <a:prstGeom prst="rect">
                  <a:avLst/>
                </a:prstGeom>
                <a:grpFill/>
                <a:ln w="25400" cap="flat" cmpd="sng" algn="ctr">
                  <a:solidFill>
                    <a:srgbClr val="F7A028"/>
                  </a:solidFill>
                  <a:prstDash val="solid"/>
                </a:ln>
                <a:effectLst/>
              </p:spPr>
              <p:txBody>
                <a:bodyPr lIns="0" tIns="0" rIns="0" bIns="0"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474746"/>
                    </a:solidFill>
                    <a:effectLst/>
                    <a:uLnTx/>
                    <a:uFillTx/>
                    <a:latin typeface="Arial"/>
                    <a:ea typeface="+mn-ea"/>
                    <a:cs typeface="+mn-cs"/>
                  </a:endParaRPr>
                </a:p>
              </p:txBody>
            </p:sp>
            <p:pic>
              <p:nvPicPr>
                <p:cNvPr id="130" name="Picture 129"/>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5938" y="1617667"/>
                  <a:ext cx="1379195" cy="793437"/>
                </a:xfrm>
                <a:prstGeom prst="rect">
                  <a:avLst/>
                </a:prstGeom>
                <a:grpFill/>
              </p:spPr>
            </p:pic>
          </p:grpSp>
          <p:sp>
            <p:nvSpPr>
              <p:cNvPr id="125" name="TextBox 124"/>
              <p:cNvSpPr txBox="1"/>
              <p:nvPr/>
            </p:nvSpPr>
            <p:spPr>
              <a:xfrm>
                <a:off x="6670752" y="2966609"/>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26" name="TextBox 125"/>
              <p:cNvSpPr txBox="1"/>
              <p:nvPr/>
            </p:nvSpPr>
            <p:spPr>
              <a:xfrm>
                <a:off x="7257351" y="2968878"/>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27" name="TextBox 126"/>
              <p:cNvSpPr txBox="1"/>
              <p:nvPr/>
            </p:nvSpPr>
            <p:spPr>
              <a:xfrm>
                <a:off x="6665933" y="3391490"/>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sp>
            <p:nvSpPr>
              <p:cNvPr id="128" name="TextBox 127"/>
              <p:cNvSpPr txBox="1"/>
              <p:nvPr/>
            </p:nvSpPr>
            <p:spPr>
              <a:xfrm>
                <a:off x="7257351" y="3391490"/>
                <a:ext cx="453729" cy="116832"/>
              </a:xfrm>
              <a:prstGeom prst="rect">
                <a:avLst/>
              </a:prstGeom>
              <a:noFill/>
            </p:spPr>
            <p:txBody>
              <a:bodyPr wrap="square" lIns="0" tIns="0" rIns="0" bIns="0" rtlCol="0" anchor="ctr" anchorCtr="0">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74746"/>
                    </a:solidFill>
                    <a:effectLst/>
                    <a:uLnTx/>
                    <a:uFillTx/>
                  </a:rPr>
                  <a:t>Data center</a:t>
                </a:r>
              </a:p>
            </p:txBody>
          </p:sp>
        </p:grpSp>
        <p:sp>
          <p:nvSpPr>
            <p:cNvPr id="153" name="TextBox 32">
              <a:extLst>
                <a:ext uri="{C183D7F6-B498-43B3-948B-1728B52AA6E4}">
                  <adec:decorative xmlns:adec="http://schemas.microsoft.com/office/drawing/2017/decorative" val="1"/>
                </a:ext>
              </a:extLst>
            </p:cNvPr>
            <p:cNvSpPr txBox="1">
              <a:spLocks noChangeArrowheads="1"/>
            </p:cNvSpPr>
            <p:nvPr/>
          </p:nvSpPr>
          <p:spPr bwMode="auto">
            <a:xfrm>
              <a:off x="9699706" y="3401867"/>
              <a:ext cx="1641024" cy="184666"/>
            </a:xfrm>
            <a:prstGeom prst="rect">
              <a:avLst/>
            </a:prstGeom>
            <a:noFill/>
            <a:ln w="9525">
              <a:noFill/>
              <a:miter lim="800000"/>
              <a:headEnd/>
              <a:tailEnd/>
            </a:ln>
          </p:spPr>
          <p:txBody>
            <a:bodyPr wrap="square" lIns="0" tIns="0" rIns="0" bIns="0">
              <a:spAutoFit/>
            </a:bodyPr>
            <a:lstStyle/>
            <a:p>
              <a:pPr algn="ctr" defTabSz="457200"/>
              <a:r>
                <a:rPr lang="en-US" sz="1200" b="1" dirty="0">
                  <a:solidFill>
                    <a:srgbClr val="F7981F"/>
                  </a:solidFill>
                  <a:latin typeface="Helvetica Neue"/>
                  <a:ea typeface="Verdana" pitchFamily="34" charset="0"/>
                  <a:cs typeface="Helvetica Neue"/>
                </a:rPr>
                <a:t>Availability Zone</a:t>
              </a:r>
            </a:p>
          </p:txBody>
        </p:sp>
        <p:sp>
          <p:nvSpPr>
            <p:cNvPr id="154" name="TextBox 32">
              <a:extLst>
                <a:ext uri="{C183D7F6-B498-43B3-948B-1728B52AA6E4}">
                  <adec:decorative xmlns:adec="http://schemas.microsoft.com/office/drawing/2017/decorative" val="1"/>
                </a:ext>
              </a:extLst>
            </p:cNvPr>
            <p:cNvSpPr txBox="1">
              <a:spLocks noChangeArrowheads="1"/>
            </p:cNvSpPr>
            <p:nvPr/>
          </p:nvSpPr>
          <p:spPr bwMode="auto">
            <a:xfrm>
              <a:off x="8504486" y="5047513"/>
              <a:ext cx="1641024" cy="184666"/>
            </a:xfrm>
            <a:prstGeom prst="rect">
              <a:avLst/>
            </a:prstGeom>
            <a:noFill/>
            <a:ln w="9525">
              <a:noFill/>
              <a:miter lim="800000"/>
              <a:headEnd/>
              <a:tailEnd/>
            </a:ln>
          </p:spPr>
          <p:txBody>
            <a:bodyPr wrap="square" lIns="0" tIns="0" rIns="0" bIns="0">
              <a:spAutoFit/>
            </a:bodyPr>
            <a:lstStyle/>
            <a:p>
              <a:pPr algn="ctr" defTabSz="457200"/>
              <a:r>
                <a:rPr lang="en-US" sz="1200" b="1" dirty="0">
                  <a:solidFill>
                    <a:srgbClr val="F7981F"/>
                  </a:solidFill>
                  <a:latin typeface="Helvetica Neue"/>
                  <a:ea typeface="Verdana" pitchFamily="34" charset="0"/>
                  <a:cs typeface="Helvetica Neue"/>
                </a:rPr>
                <a:t>Availability Zone</a:t>
              </a:r>
            </a:p>
          </p:txBody>
        </p:sp>
        <p:sp>
          <p:nvSpPr>
            <p:cNvPr id="2" name="TextBox 1">
              <a:extLst>
                <a:ext uri="{FF2B5EF4-FFF2-40B4-BE49-F238E27FC236}">
                  <a16:creationId xmlns:a16="http://schemas.microsoft.com/office/drawing/2014/main" id="{738F1031-98EA-EA4B-99BC-CFE5E045C071}"/>
                </a:ext>
                <a:ext uri="{C183D7F6-B498-43B3-948B-1728B52AA6E4}">
                  <adec:decorative xmlns:adec="http://schemas.microsoft.com/office/drawing/2017/decorative" val="1"/>
                </a:ext>
              </a:extLst>
            </p:cNvPr>
            <p:cNvSpPr txBox="1"/>
            <p:nvPr/>
          </p:nvSpPr>
          <p:spPr>
            <a:xfrm>
              <a:off x="6386024" y="1531951"/>
              <a:ext cx="167426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Physically distinct</a:t>
              </a:r>
            </a:p>
          </p:txBody>
        </p:sp>
        <p:sp>
          <p:nvSpPr>
            <p:cNvPr id="62" name="TextBox 61">
              <a:extLst>
                <a:ext uri="{FF2B5EF4-FFF2-40B4-BE49-F238E27FC236}">
                  <a16:creationId xmlns:a16="http://schemas.microsoft.com/office/drawing/2014/main" id="{808B9664-FF3A-7041-B5F5-EC74A096544D}"/>
                </a:ext>
                <a:ext uri="{C183D7F6-B498-43B3-948B-1728B52AA6E4}">
                  <adec:decorative xmlns:adec="http://schemas.microsoft.com/office/drawing/2017/decorative" val="1"/>
                </a:ext>
              </a:extLst>
            </p:cNvPr>
            <p:cNvSpPr txBox="1"/>
            <p:nvPr/>
          </p:nvSpPr>
          <p:spPr>
            <a:xfrm>
              <a:off x="6386024" y="5526544"/>
              <a:ext cx="200660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Uninterruptible power supply</a:t>
              </a:r>
            </a:p>
          </p:txBody>
        </p:sp>
        <p:sp>
          <p:nvSpPr>
            <p:cNvPr id="63" name="TextBox 62">
              <a:extLst>
                <a:ext uri="{FF2B5EF4-FFF2-40B4-BE49-F238E27FC236}">
                  <a16:creationId xmlns:a16="http://schemas.microsoft.com/office/drawing/2014/main" id="{6D506ACB-AAD4-134C-943D-A824C41D8D8C}"/>
                </a:ext>
                <a:ext uri="{C183D7F6-B498-43B3-948B-1728B52AA6E4}">
                  <adec:decorative xmlns:adec="http://schemas.microsoft.com/office/drawing/2017/decorative" val="1"/>
                </a:ext>
              </a:extLst>
            </p:cNvPr>
            <p:cNvSpPr txBox="1"/>
            <p:nvPr/>
          </p:nvSpPr>
          <p:spPr>
            <a:xfrm>
              <a:off x="10718891" y="1531951"/>
              <a:ext cx="1220125"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Backup generators</a:t>
              </a:r>
            </a:p>
          </p:txBody>
        </p:sp>
        <p:sp>
          <p:nvSpPr>
            <p:cNvPr id="64" name="TextBox 63">
              <a:extLst>
                <a:ext uri="{FF2B5EF4-FFF2-40B4-BE49-F238E27FC236}">
                  <a16:creationId xmlns:a16="http://schemas.microsoft.com/office/drawing/2014/main" id="{C66482AF-898C-B440-980C-282C2EC4A953}"/>
                </a:ext>
                <a:ext uri="{C183D7F6-B498-43B3-948B-1728B52AA6E4}">
                  <adec:decorative xmlns:adec="http://schemas.microsoft.com/office/drawing/2017/decorative" val="1"/>
                </a:ext>
              </a:extLst>
            </p:cNvPr>
            <p:cNvSpPr txBox="1"/>
            <p:nvPr/>
          </p:nvSpPr>
          <p:spPr>
            <a:xfrm>
              <a:off x="10743737" y="5526544"/>
              <a:ext cx="1220125"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Cooling equipment</a:t>
              </a:r>
            </a:p>
          </p:txBody>
        </p:sp>
        <p:pic>
          <p:nvPicPr>
            <p:cNvPr id="4" name="Picture 3">
              <a:extLst>
                <a:ext uri="{FF2B5EF4-FFF2-40B4-BE49-F238E27FC236}">
                  <a16:creationId xmlns:a16="http://schemas.microsoft.com/office/drawing/2014/main" id="{9A4C7010-E04F-A945-8528-16B0AB1C324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329683" y="3790943"/>
              <a:ext cx="1117600" cy="1358900"/>
            </a:xfrm>
            <a:prstGeom prst="rect">
              <a:avLst/>
            </a:prstGeom>
          </p:spPr>
        </p:pic>
        <p:pic>
          <p:nvPicPr>
            <p:cNvPr id="7" name="Picture 6">
              <a:extLst>
                <a:ext uri="{FF2B5EF4-FFF2-40B4-BE49-F238E27FC236}">
                  <a16:creationId xmlns:a16="http://schemas.microsoft.com/office/drawing/2014/main" id="{C796E603-9867-0543-81CE-B18CBE9C76F7}"/>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657431" y="1528951"/>
              <a:ext cx="1511300" cy="546100"/>
            </a:xfrm>
            <a:prstGeom prst="rect">
              <a:avLst/>
            </a:prstGeom>
          </p:spPr>
        </p:pic>
        <p:pic>
          <p:nvPicPr>
            <p:cNvPr id="9" name="Picture 8">
              <a:extLst>
                <a:ext uri="{FF2B5EF4-FFF2-40B4-BE49-F238E27FC236}">
                  <a16:creationId xmlns:a16="http://schemas.microsoft.com/office/drawing/2014/main" id="{DD36F52F-86A8-5549-8DD2-B1D397B6238C}"/>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497446" y="3682834"/>
              <a:ext cx="1079500" cy="1422400"/>
            </a:xfrm>
            <a:prstGeom prst="rect">
              <a:avLst/>
            </a:prstGeom>
          </p:spPr>
        </p:pic>
        <p:sp>
          <p:nvSpPr>
            <p:cNvPr id="65" name="TextBox 64">
              <a:extLst>
                <a:ext uri="{FF2B5EF4-FFF2-40B4-BE49-F238E27FC236}">
                  <a16:creationId xmlns:a16="http://schemas.microsoft.com/office/drawing/2014/main" id="{3E45CA22-D52C-C140-90F7-299E9B07846A}"/>
                </a:ext>
                <a:ext uri="{C183D7F6-B498-43B3-948B-1728B52AA6E4}">
                  <adec:decorative xmlns:adec="http://schemas.microsoft.com/office/drawing/2017/decorative" val="1"/>
                </a:ext>
              </a:extLst>
            </p:cNvPr>
            <p:cNvSpPr txBox="1"/>
            <p:nvPr/>
          </p:nvSpPr>
          <p:spPr>
            <a:xfrm>
              <a:off x="6521731" y="4310049"/>
              <a:ext cx="1404847"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Network connectivity</a:t>
              </a:r>
            </a:p>
          </p:txBody>
        </p:sp>
      </p:grpSp>
    </p:spTree>
    <p:custDataLst>
      <p:tags r:id="rId1"/>
    </p:custDataLst>
    <p:extLst>
      <p:ext uri="{BB962C8B-B14F-4D97-AF65-F5344CB8AC3E}">
        <p14:creationId xmlns:p14="http://schemas.microsoft.com/office/powerpoint/2010/main" val="3182543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4336DF-5496-BA2C-9F26-C88A462FE76E}"/>
              </a:ext>
            </a:extLst>
          </p:cNvPr>
          <p:cNvSpPr/>
          <p:nvPr/>
        </p:nvSpPr>
        <p:spPr>
          <a:xfrm>
            <a:off x="4215853" y="1395443"/>
            <a:ext cx="3409597" cy="4427662"/>
          </a:xfrm>
          <a:prstGeom prst="rect">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b" anchorCtr="0"/>
          <a:lstStyle/>
          <a:p>
            <a:endParaRPr lang="en-US" b="1" i="1" dirty="0">
              <a:solidFill>
                <a:schemeClr val="tx1"/>
              </a:solidFill>
            </a:endParaRPr>
          </a:p>
        </p:txBody>
      </p:sp>
      <p:sp>
        <p:nvSpPr>
          <p:cNvPr id="12" name="Rectangle 11">
            <a:extLst>
              <a:ext uri="{FF2B5EF4-FFF2-40B4-BE49-F238E27FC236}">
                <a16:creationId xmlns:a16="http://schemas.microsoft.com/office/drawing/2014/main" id="{58BCA4C5-6B23-57FC-0E88-927599B1FE34}"/>
              </a:ext>
            </a:extLst>
          </p:cNvPr>
          <p:cNvSpPr/>
          <p:nvPr/>
        </p:nvSpPr>
        <p:spPr>
          <a:xfrm>
            <a:off x="441298" y="1398980"/>
            <a:ext cx="3409597" cy="4427662"/>
          </a:xfrm>
          <a:prstGeom prst="rect">
            <a:avLst/>
          </a:prstGeom>
          <a:solidFill>
            <a:schemeClr val="accent1">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b" anchorCtr="0"/>
          <a:lstStyle/>
          <a:p>
            <a:endParaRPr lang="en-US" b="1" i="1" dirty="0">
              <a:solidFill>
                <a:schemeClr val="tx1"/>
              </a:solidFill>
            </a:endParaRPr>
          </a:p>
        </p:txBody>
      </p:sp>
      <p:sp>
        <p:nvSpPr>
          <p:cNvPr id="11" name="Rectangle 10">
            <a:extLst>
              <a:ext uri="{FF2B5EF4-FFF2-40B4-BE49-F238E27FC236}">
                <a16:creationId xmlns:a16="http://schemas.microsoft.com/office/drawing/2014/main" id="{9BF4C65B-AB3D-FD5E-1C18-EC2AEE6997C3}"/>
              </a:ext>
            </a:extLst>
          </p:cNvPr>
          <p:cNvSpPr/>
          <p:nvPr/>
        </p:nvSpPr>
        <p:spPr>
          <a:xfrm>
            <a:off x="7990408" y="1398980"/>
            <a:ext cx="3507565" cy="4504729"/>
          </a:xfrm>
          <a:prstGeom prst="rect">
            <a:avLst/>
          </a:prstGeom>
          <a:solidFill>
            <a:schemeClr val="accent6">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b" anchorCtr="0"/>
          <a:lstStyle/>
          <a:p>
            <a:endParaRPr lang="en-US" b="1" i="1" dirty="0">
              <a:solidFill>
                <a:schemeClr val="tx1"/>
              </a:solidFill>
            </a:endParaRPr>
          </a:p>
        </p:txBody>
      </p:sp>
      <p:sp>
        <p:nvSpPr>
          <p:cNvPr id="2" name="Title 1">
            <a:extLst>
              <a:ext uri="{FF2B5EF4-FFF2-40B4-BE49-F238E27FC236}">
                <a16:creationId xmlns:a16="http://schemas.microsoft.com/office/drawing/2014/main" id="{1B753CE4-7C71-8140-B474-4E608C3555C2}"/>
              </a:ext>
            </a:extLst>
          </p:cNvPr>
          <p:cNvSpPr>
            <a:spLocks noGrp="1"/>
          </p:cNvSpPr>
          <p:nvPr>
            <p:ph type="title"/>
          </p:nvPr>
        </p:nvSpPr>
        <p:spPr/>
        <p:txBody>
          <a:bodyPr>
            <a:normAutofit fontScale="90000"/>
          </a:bodyPr>
          <a:lstStyle/>
          <a:p>
            <a:r>
              <a:rPr lang="en-US" dirty="0"/>
              <a:t>Domains of Cloud Computing</a:t>
            </a:r>
          </a:p>
        </p:txBody>
      </p:sp>
      <p:sp>
        <p:nvSpPr>
          <p:cNvPr id="3" name="Content Placeholder 2">
            <a:extLst>
              <a:ext uri="{FF2B5EF4-FFF2-40B4-BE49-F238E27FC236}">
                <a16:creationId xmlns:a16="http://schemas.microsoft.com/office/drawing/2014/main" id="{E4C90208-E2FA-5AC6-0C89-65E58711079C}"/>
              </a:ext>
            </a:extLst>
          </p:cNvPr>
          <p:cNvSpPr>
            <a:spLocks noGrp="1"/>
          </p:cNvSpPr>
          <p:nvPr>
            <p:ph idx="12"/>
          </p:nvPr>
        </p:nvSpPr>
        <p:spPr>
          <a:xfrm>
            <a:off x="468087" y="2402958"/>
            <a:ext cx="3507565" cy="1977656"/>
          </a:xfrm>
        </p:spPr>
        <p:txBody>
          <a:bodyPr>
            <a:normAutofit/>
          </a:bodyPr>
          <a:lstStyle/>
          <a:p>
            <a:pPr marL="228600" indent="-228600" algn="l">
              <a:lnSpc>
                <a:spcPct val="90000"/>
              </a:lnSpc>
              <a:spcBef>
                <a:spcPts val="1000"/>
              </a:spcBef>
              <a:buFont typeface="Wingdings" pitchFamily="2" charset="2"/>
              <a:buChar char="§"/>
            </a:pPr>
            <a:r>
              <a:rPr lang="en-US" sz="2000" dirty="0">
                <a:solidFill>
                  <a:schemeClr val="tx1"/>
                </a:solidFill>
                <a:latin typeface="Acumin Pro" panose="020B0504020202020204" pitchFamily="34" charset="77"/>
              </a:rPr>
              <a:t>Microservices / Cloud Functions</a:t>
            </a:r>
          </a:p>
          <a:p>
            <a:pPr marL="228600" indent="-228600" algn="l">
              <a:lnSpc>
                <a:spcPct val="90000"/>
              </a:lnSpc>
              <a:spcBef>
                <a:spcPts val="1000"/>
              </a:spcBef>
              <a:buFont typeface="Wingdings" pitchFamily="2" charset="2"/>
              <a:buChar char="§"/>
            </a:pPr>
            <a:r>
              <a:rPr lang="en-US" sz="2000" dirty="0">
                <a:solidFill>
                  <a:schemeClr val="tx1"/>
                </a:solidFill>
                <a:latin typeface="Acumin Pro" panose="020B0504020202020204" pitchFamily="34" charset="77"/>
              </a:rPr>
              <a:t>Virtual Machines</a:t>
            </a:r>
          </a:p>
          <a:p>
            <a:pPr marL="228600" indent="-228600" algn="l">
              <a:lnSpc>
                <a:spcPct val="90000"/>
              </a:lnSpc>
              <a:spcBef>
                <a:spcPts val="1000"/>
              </a:spcBef>
              <a:buFont typeface="Wingdings" pitchFamily="2" charset="2"/>
              <a:buChar char="§"/>
            </a:pPr>
            <a:r>
              <a:rPr lang="en-US" dirty="0"/>
              <a:t>Application Hosting</a:t>
            </a:r>
          </a:p>
          <a:p>
            <a:pPr marL="228600" indent="-228600" algn="l">
              <a:lnSpc>
                <a:spcPct val="90000"/>
              </a:lnSpc>
              <a:spcBef>
                <a:spcPts val="1000"/>
              </a:spcBef>
              <a:buFont typeface="Wingdings" pitchFamily="2" charset="2"/>
              <a:buChar char="§"/>
            </a:pPr>
            <a:r>
              <a:rPr lang="en-US" sz="2000" dirty="0">
                <a:solidFill>
                  <a:schemeClr val="tx1"/>
                </a:solidFill>
                <a:latin typeface="Acumin Pro" panose="020B0504020202020204" pitchFamily="34" charset="77"/>
              </a:rPr>
              <a:t>Containers</a:t>
            </a:r>
          </a:p>
          <a:p>
            <a:endParaRPr lang="en-US" dirty="0"/>
          </a:p>
        </p:txBody>
      </p:sp>
      <p:sp>
        <p:nvSpPr>
          <p:cNvPr id="4" name="Content Placeholder 3">
            <a:extLst>
              <a:ext uri="{FF2B5EF4-FFF2-40B4-BE49-F238E27FC236}">
                <a16:creationId xmlns:a16="http://schemas.microsoft.com/office/drawing/2014/main" id="{F0DA1739-86D3-5752-28E5-A474BCD57EB3}"/>
              </a:ext>
            </a:extLst>
          </p:cNvPr>
          <p:cNvSpPr>
            <a:spLocks noGrp="1"/>
          </p:cNvSpPr>
          <p:nvPr>
            <p:ph idx="17"/>
          </p:nvPr>
        </p:nvSpPr>
        <p:spPr>
          <a:xfrm>
            <a:off x="4342217" y="2402958"/>
            <a:ext cx="3507565" cy="1679944"/>
          </a:xfrm>
        </p:spPr>
        <p:txBody>
          <a:bodyPr>
            <a:normAutofit/>
          </a:bodyPr>
          <a:lstStyle/>
          <a:p>
            <a:r>
              <a:rPr lang="en-US" dirty="0"/>
              <a:t>Blob storage</a:t>
            </a:r>
          </a:p>
          <a:p>
            <a:r>
              <a:rPr lang="en-US" dirty="0"/>
              <a:t>Redundant and localized storage</a:t>
            </a:r>
          </a:p>
          <a:p>
            <a:r>
              <a:rPr lang="en-US" dirty="0"/>
              <a:t>Container orchestration</a:t>
            </a:r>
          </a:p>
        </p:txBody>
      </p:sp>
      <p:sp>
        <p:nvSpPr>
          <p:cNvPr id="5" name="Content Placeholder 4">
            <a:extLst>
              <a:ext uri="{FF2B5EF4-FFF2-40B4-BE49-F238E27FC236}">
                <a16:creationId xmlns:a16="http://schemas.microsoft.com/office/drawing/2014/main" id="{F5FE8BDA-389C-11A3-5007-144C747EDE56}"/>
              </a:ext>
            </a:extLst>
          </p:cNvPr>
          <p:cNvSpPr>
            <a:spLocks noGrp="1"/>
          </p:cNvSpPr>
          <p:nvPr>
            <p:ph idx="18"/>
          </p:nvPr>
        </p:nvSpPr>
        <p:spPr>
          <a:xfrm>
            <a:off x="8243137" y="2402957"/>
            <a:ext cx="3507565" cy="1350335"/>
          </a:xfrm>
        </p:spPr>
        <p:txBody>
          <a:bodyPr/>
          <a:lstStyle/>
          <a:p>
            <a:r>
              <a:rPr lang="en-US" dirty="0"/>
              <a:t>Data storage</a:t>
            </a:r>
          </a:p>
          <a:p>
            <a:r>
              <a:rPr lang="en-US" dirty="0"/>
              <a:t>Data analytics</a:t>
            </a:r>
          </a:p>
          <a:p>
            <a:r>
              <a:rPr lang="en-US" dirty="0"/>
              <a:t>Data ingestion &amp; pipelines</a:t>
            </a:r>
          </a:p>
        </p:txBody>
      </p:sp>
      <p:sp>
        <p:nvSpPr>
          <p:cNvPr id="6" name="Text Placeholder 5">
            <a:extLst>
              <a:ext uri="{FF2B5EF4-FFF2-40B4-BE49-F238E27FC236}">
                <a16:creationId xmlns:a16="http://schemas.microsoft.com/office/drawing/2014/main" id="{973651AB-B28F-BD1A-4C73-C759BDE2640E}"/>
              </a:ext>
            </a:extLst>
          </p:cNvPr>
          <p:cNvSpPr>
            <a:spLocks noGrp="1"/>
          </p:cNvSpPr>
          <p:nvPr>
            <p:ph type="body"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2979AC1-ED53-EC31-3E52-73FDD14A5848}"/>
              </a:ext>
            </a:extLst>
          </p:cNvPr>
          <p:cNvSpPr>
            <a:spLocks noGrp="1"/>
          </p:cNvSpPr>
          <p:nvPr>
            <p:ph type="sldNum" sz="quarter" idx="19"/>
          </p:nvPr>
        </p:nvSpPr>
        <p:spPr/>
        <p:txBody>
          <a:bodyPr/>
          <a:lstStyle/>
          <a:p>
            <a:fld id="{F994776A-187E-9540-9EA4-8D5781AB769D}" type="slidenum">
              <a:rPr lang="en-US" smtClean="0"/>
              <a:pPr/>
              <a:t>10</a:t>
            </a:fld>
            <a:endParaRPr lang="en-US" dirty="0"/>
          </a:p>
        </p:txBody>
      </p:sp>
      <p:sp>
        <p:nvSpPr>
          <p:cNvPr id="8" name="Content Placeholder 2">
            <a:extLst>
              <a:ext uri="{FF2B5EF4-FFF2-40B4-BE49-F238E27FC236}">
                <a16:creationId xmlns:a16="http://schemas.microsoft.com/office/drawing/2014/main" id="{F412B70F-A1D1-531C-3ABF-0F16334DE0A4}"/>
              </a:ext>
            </a:extLst>
          </p:cNvPr>
          <p:cNvSpPr txBox="1">
            <a:spLocks/>
          </p:cNvSpPr>
          <p:nvPr/>
        </p:nvSpPr>
        <p:spPr>
          <a:xfrm>
            <a:off x="468087" y="1543324"/>
            <a:ext cx="3507565" cy="513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b="1" dirty="0"/>
              <a:t>Computing</a:t>
            </a:r>
            <a:endParaRPr lang="en-US" b="1" dirty="0"/>
          </a:p>
        </p:txBody>
      </p:sp>
      <p:sp>
        <p:nvSpPr>
          <p:cNvPr id="9" name="Content Placeholder 3">
            <a:extLst>
              <a:ext uri="{FF2B5EF4-FFF2-40B4-BE49-F238E27FC236}">
                <a16:creationId xmlns:a16="http://schemas.microsoft.com/office/drawing/2014/main" id="{8EE823DE-2F77-51EC-E3A3-4088D983C5D3}"/>
              </a:ext>
            </a:extLst>
          </p:cNvPr>
          <p:cNvSpPr txBox="1">
            <a:spLocks/>
          </p:cNvSpPr>
          <p:nvPr/>
        </p:nvSpPr>
        <p:spPr>
          <a:xfrm>
            <a:off x="4342217" y="1543323"/>
            <a:ext cx="3507565" cy="8596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b="1" dirty="0"/>
              <a:t>Storage</a:t>
            </a:r>
          </a:p>
        </p:txBody>
      </p:sp>
      <p:sp>
        <p:nvSpPr>
          <p:cNvPr id="10" name="Content Placeholder 4">
            <a:extLst>
              <a:ext uri="{FF2B5EF4-FFF2-40B4-BE49-F238E27FC236}">
                <a16:creationId xmlns:a16="http://schemas.microsoft.com/office/drawing/2014/main" id="{A9D10AC7-2681-7EB0-E161-4B85A858CF17}"/>
              </a:ext>
            </a:extLst>
          </p:cNvPr>
          <p:cNvSpPr txBox="1">
            <a:spLocks/>
          </p:cNvSpPr>
          <p:nvPr/>
        </p:nvSpPr>
        <p:spPr>
          <a:xfrm>
            <a:off x="8243137" y="1543322"/>
            <a:ext cx="3507565" cy="589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b="1" dirty="0"/>
              <a:t>Data</a:t>
            </a:r>
            <a:endParaRPr lang="en-US" sz="2400" b="1" dirty="0"/>
          </a:p>
        </p:txBody>
      </p:sp>
    </p:spTree>
    <p:extLst>
      <p:ext uri="{BB962C8B-B14F-4D97-AF65-F5344CB8AC3E}">
        <p14:creationId xmlns:p14="http://schemas.microsoft.com/office/powerpoint/2010/main" val="2027817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1" grpId="0" animBg="1"/>
      <p:bldP spid="3" grpId="0" uiExpand="1"/>
      <p:bldP spid="4" grpId="0"/>
      <p:bldP spid="5" grpId="0"/>
      <p:bldP spid="8"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5DDA38-6914-D99C-28ED-4F4679FF8CD0}"/>
              </a:ext>
            </a:extLst>
          </p:cNvPr>
          <p:cNvSpPr>
            <a:spLocks noGrp="1"/>
          </p:cNvSpPr>
          <p:nvPr>
            <p:ph type="sldNum" sz="quarter" idx="20"/>
          </p:nvPr>
        </p:nvSpPr>
        <p:spPr/>
        <p:txBody>
          <a:bodyPr/>
          <a:lstStyle/>
          <a:p>
            <a:fld id="{930176A1-BCF0-4712-97A6-6B495F55390B}" type="slidenum">
              <a:rPr lang="en-US" smtClean="0"/>
              <a:t>11</a:t>
            </a:fld>
            <a:endParaRPr lang="en-US"/>
          </a:p>
        </p:txBody>
      </p:sp>
      <p:sp>
        <p:nvSpPr>
          <p:cNvPr id="4" name="Title 3"/>
          <p:cNvSpPr>
            <a:spLocks noGrp="1"/>
          </p:cNvSpPr>
          <p:nvPr>
            <p:ph type="title"/>
          </p:nvPr>
        </p:nvSpPr>
        <p:spPr/>
        <p:txBody>
          <a:bodyPr>
            <a:normAutofit fontScale="90000"/>
          </a:bodyPr>
          <a:lstStyle/>
          <a:p>
            <a:r>
              <a:rPr lang="en-US" dirty="0">
                <a:latin typeface="+mj-lt"/>
              </a:rPr>
              <a:t>AWS categories of services</a:t>
            </a:r>
          </a:p>
        </p:txBody>
      </p:sp>
      <p:grpSp>
        <p:nvGrpSpPr>
          <p:cNvPr id="5" name="Group 4" descr="Slide has 23 icons on it, each representing an AWS category of service. Of these 23 only 8 are highlighted: compute, cost management, database, management and governance, migration and transfer, networking and content delivery, secuirty, identity, and compliance, and storage.">
            <a:extLst>
              <a:ext uri="{FF2B5EF4-FFF2-40B4-BE49-F238E27FC236}">
                <a16:creationId xmlns:a16="http://schemas.microsoft.com/office/drawing/2014/main" id="{7434DD40-B144-0D27-539F-1DF2E5416FEA}"/>
              </a:ext>
            </a:extLst>
          </p:cNvPr>
          <p:cNvGrpSpPr/>
          <p:nvPr/>
        </p:nvGrpSpPr>
        <p:grpSpPr>
          <a:xfrm>
            <a:off x="227812" y="1218195"/>
            <a:ext cx="11707158" cy="5138155"/>
            <a:chOff x="227812" y="1218195"/>
            <a:chExt cx="11707158" cy="5138155"/>
          </a:xfrm>
        </p:grpSpPr>
        <p:pic>
          <p:nvPicPr>
            <p:cNvPr id="28" name="Graphic 27">
              <a:extLst>
                <a:ext uri="{FF2B5EF4-FFF2-40B4-BE49-F238E27FC236}">
                  <a16:creationId xmlns:a16="http://schemas.microsoft.com/office/drawing/2014/main" id="{8A07F3F7-4AF9-495E-9351-928106FFF99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2471" y="5111309"/>
              <a:ext cx="726853" cy="708032"/>
            </a:xfrm>
            <a:prstGeom prst="rect">
              <a:avLst/>
            </a:prstGeom>
          </p:spPr>
        </p:pic>
        <p:sp>
          <p:nvSpPr>
            <p:cNvPr id="29" name="TextBox 28">
              <a:extLst>
                <a:ext uri="{FF2B5EF4-FFF2-40B4-BE49-F238E27FC236}">
                  <a16:creationId xmlns:a16="http://schemas.microsoft.com/office/drawing/2014/main" id="{AE61170E-1A90-4B43-A277-51B2E3D6CBA5}"/>
                </a:ext>
                <a:ext uri="{C183D7F6-B498-43B3-948B-1728B52AA6E4}">
                  <adec:decorative xmlns:adec="http://schemas.microsoft.com/office/drawing/2017/decorative" val="1"/>
                </a:ext>
              </a:extLst>
            </p:cNvPr>
            <p:cNvSpPr txBox="1"/>
            <p:nvPr/>
          </p:nvSpPr>
          <p:spPr>
            <a:xfrm>
              <a:off x="369268" y="5780987"/>
              <a:ext cx="1733259" cy="565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Networking </a:t>
              </a:r>
              <a:r>
                <a:rPr lang="en-US" sz="1600" dirty="0">
                  <a:solidFill>
                    <a:srgbClr val="000000"/>
                  </a:solidFill>
                  <a:ea typeface="Amazon Ember Light" panose="020B0403020204020204" pitchFamily="34" charset="0"/>
                  <a:cs typeface="Amazon Ember Light" panose="020B0403020204020204" pitchFamily="34" charset="0"/>
                </a:rPr>
                <a:t>and</a:t>
              </a:r>
              <a:endPar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Content Delivery</a:t>
              </a:r>
            </a:p>
          </p:txBody>
        </p:sp>
        <p:sp>
          <p:nvSpPr>
            <p:cNvPr id="33" name="TextBox 32">
              <a:extLst>
                <a:ext uri="{FF2B5EF4-FFF2-40B4-BE49-F238E27FC236}">
                  <a16:creationId xmlns:a16="http://schemas.microsoft.com/office/drawing/2014/main" id="{DC1DF143-2940-4413-AF10-AFE41270FFD9}"/>
                </a:ext>
                <a:ext uri="{C183D7F6-B498-43B3-948B-1728B52AA6E4}">
                  <adec:decorative xmlns:adec="http://schemas.microsoft.com/office/drawing/2017/decorative" val="1"/>
                </a:ext>
              </a:extLst>
            </p:cNvPr>
            <p:cNvSpPr txBox="1"/>
            <p:nvPr/>
          </p:nvSpPr>
          <p:spPr>
            <a:xfrm>
              <a:off x="10520566" y="4472377"/>
              <a:ext cx="812635"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Mobile</a:t>
              </a:r>
            </a:p>
          </p:txBody>
        </p:sp>
        <p:pic>
          <p:nvPicPr>
            <p:cNvPr id="40" name="Graphic 39">
              <a:extLst>
                <a:ext uri="{FF2B5EF4-FFF2-40B4-BE49-F238E27FC236}">
                  <a16:creationId xmlns:a16="http://schemas.microsoft.com/office/drawing/2014/main" id="{8C0FABC2-4238-43BD-9506-86B5F95FA79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63457" y="3795954"/>
              <a:ext cx="726853" cy="708032"/>
            </a:xfrm>
            <a:prstGeom prst="rect">
              <a:avLst/>
            </a:prstGeom>
          </p:spPr>
        </p:pic>
        <p:sp>
          <p:nvSpPr>
            <p:cNvPr id="34" name="TextBox 33">
              <a:extLst>
                <a:ext uri="{FF2B5EF4-FFF2-40B4-BE49-F238E27FC236}">
                  <a16:creationId xmlns:a16="http://schemas.microsoft.com/office/drawing/2014/main" id="{66C24973-FB36-4CB7-913E-55FE5E2EA952}"/>
                </a:ext>
                <a:ext uri="{C183D7F6-B498-43B3-948B-1728B52AA6E4}">
                  <adec:decorative xmlns:adec="http://schemas.microsoft.com/office/drawing/2017/decorative" val="1"/>
                </a:ext>
              </a:extLst>
            </p:cNvPr>
            <p:cNvSpPr txBox="1"/>
            <p:nvPr/>
          </p:nvSpPr>
          <p:spPr>
            <a:xfrm>
              <a:off x="713308" y="4459977"/>
              <a:ext cx="1045180" cy="565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Internet </a:t>
              </a:r>
              <a:b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of Things</a:t>
              </a:r>
            </a:p>
          </p:txBody>
        </p:sp>
        <p:pic>
          <p:nvPicPr>
            <p:cNvPr id="41" name="Graphic 40">
              <a:extLst>
                <a:ext uri="{FF2B5EF4-FFF2-40B4-BE49-F238E27FC236}">
                  <a16:creationId xmlns:a16="http://schemas.microsoft.com/office/drawing/2014/main" id="{9CCE4B49-9479-4457-91A8-35E93ACA297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2471" y="3795954"/>
              <a:ext cx="726853" cy="708032"/>
            </a:xfrm>
            <a:prstGeom prst="rect">
              <a:avLst/>
            </a:prstGeom>
          </p:spPr>
        </p:pic>
        <p:pic>
          <p:nvPicPr>
            <p:cNvPr id="22" name="Graphic 21">
              <a:extLst>
                <a:ext uri="{FF2B5EF4-FFF2-40B4-BE49-F238E27FC236}">
                  <a16:creationId xmlns:a16="http://schemas.microsoft.com/office/drawing/2014/main" id="{5ACF59DB-8F9A-48FE-B180-E14F8F83A73B}"/>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63457" y="1226282"/>
              <a:ext cx="726853" cy="708032"/>
            </a:xfrm>
            <a:prstGeom prst="rect">
              <a:avLst/>
            </a:prstGeom>
          </p:spPr>
        </p:pic>
        <p:sp>
          <p:nvSpPr>
            <p:cNvPr id="23" name="TextBox 22">
              <a:extLst>
                <a:ext uri="{FF2B5EF4-FFF2-40B4-BE49-F238E27FC236}">
                  <a16:creationId xmlns:a16="http://schemas.microsoft.com/office/drawing/2014/main" id="{970CF5FF-F040-48FF-A950-76231EAFDD24}"/>
                </a:ext>
                <a:ext uri="{C183D7F6-B498-43B3-948B-1728B52AA6E4}">
                  <adec:decorative xmlns:adec="http://schemas.microsoft.com/office/drawing/2017/decorative" val="1"/>
                </a:ext>
              </a:extLst>
            </p:cNvPr>
            <p:cNvSpPr txBox="1"/>
            <p:nvPr/>
          </p:nvSpPr>
          <p:spPr>
            <a:xfrm>
              <a:off x="10410665" y="1892293"/>
              <a:ext cx="1032438"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Compute</a:t>
              </a:r>
            </a:p>
          </p:txBody>
        </p:sp>
        <p:pic>
          <p:nvPicPr>
            <p:cNvPr id="30" name="Graphic 29">
              <a:extLst>
                <a:ext uri="{FF2B5EF4-FFF2-40B4-BE49-F238E27FC236}">
                  <a16:creationId xmlns:a16="http://schemas.microsoft.com/office/drawing/2014/main" id="{BFF91D77-2C34-442A-9CCF-659E2B57C602}"/>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72471" y="1226282"/>
              <a:ext cx="726853" cy="708032"/>
            </a:xfrm>
            <a:prstGeom prst="rect">
              <a:avLst/>
            </a:prstGeom>
          </p:spPr>
        </p:pic>
        <p:sp>
          <p:nvSpPr>
            <p:cNvPr id="31" name="TextBox 30">
              <a:extLst>
                <a:ext uri="{FF2B5EF4-FFF2-40B4-BE49-F238E27FC236}">
                  <a16:creationId xmlns:a16="http://schemas.microsoft.com/office/drawing/2014/main" id="{CD480D35-9445-4C6E-971C-0B6FF27446BE}"/>
                </a:ext>
                <a:ext uri="{C183D7F6-B498-43B3-948B-1728B52AA6E4}">
                  <adec:decorative xmlns:adec="http://schemas.microsoft.com/office/drawing/2017/decorative" val="1"/>
                </a:ext>
              </a:extLst>
            </p:cNvPr>
            <p:cNvSpPr txBox="1"/>
            <p:nvPr/>
          </p:nvSpPr>
          <p:spPr>
            <a:xfrm>
              <a:off x="729236" y="1895241"/>
              <a:ext cx="1013325"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Analytics</a:t>
              </a:r>
            </a:p>
          </p:txBody>
        </p:sp>
        <p:sp>
          <p:nvSpPr>
            <p:cNvPr id="36" name="TextBox 35">
              <a:extLst>
                <a:ext uri="{FF2B5EF4-FFF2-40B4-BE49-F238E27FC236}">
                  <a16:creationId xmlns:a16="http://schemas.microsoft.com/office/drawing/2014/main" id="{DB1B3266-2555-43EB-AC7A-9550108148FA}"/>
                </a:ext>
                <a:ext uri="{C183D7F6-B498-43B3-948B-1728B52AA6E4}">
                  <adec:decorative xmlns:adec="http://schemas.microsoft.com/office/drawing/2017/decorative" val="1"/>
                </a:ext>
              </a:extLst>
            </p:cNvPr>
            <p:cNvSpPr txBox="1"/>
            <p:nvPr/>
          </p:nvSpPr>
          <p:spPr>
            <a:xfrm>
              <a:off x="3880089" y="4478092"/>
              <a:ext cx="1857497" cy="565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Management and </a:t>
              </a:r>
              <a:b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Governance</a:t>
              </a:r>
            </a:p>
          </p:txBody>
        </p:sp>
        <p:pic>
          <p:nvPicPr>
            <p:cNvPr id="46" name="Graphic 45">
              <a:extLst>
                <a:ext uri="{FF2B5EF4-FFF2-40B4-BE49-F238E27FC236}">
                  <a16:creationId xmlns:a16="http://schemas.microsoft.com/office/drawing/2014/main" id="{B4E14D40-B48E-4CC2-8499-58B2477D85D8}"/>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445410" y="3795954"/>
              <a:ext cx="726853" cy="708032"/>
            </a:xfrm>
            <a:prstGeom prst="rect">
              <a:avLst/>
            </a:prstGeom>
          </p:spPr>
        </p:pic>
        <p:pic>
          <p:nvPicPr>
            <p:cNvPr id="24" name="Graphic 23">
              <a:extLst>
                <a:ext uri="{FF2B5EF4-FFF2-40B4-BE49-F238E27FC236}">
                  <a16:creationId xmlns:a16="http://schemas.microsoft.com/office/drawing/2014/main" id="{E356DDF8-6319-4787-AA90-C7EEA0097514}"/>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705020" y="5111309"/>
              <a:ext cx="726853" cy="708032"/>
            </a:xfrm>
            <a:prstGeom prst="rect">
              <a:avLst/>
            </a:prstGeom>
          </p:spPr>
        </p:pic>
        <p:sp>
          <p:nvSpPr>
            <p:cNvPr id="25" name="TextBox 24">
              <a:extLst>
                <a:ext uri="{FF2B5EF4-FFF2-40B4-BE49-F238E27FC236}">
                  <a16:creationId xmlns:a16="http://schemas.microsoft.com/office/drawing/2014/main" id="{F8897D01-9B02-4480-A482-C607893138B6}"/>
                </a:ext>
                <a:ext uri="{C183D7F6-B498-43B3-948B-1728B52AA6E4}">
                  <adec:decorative xmlns:adec="http://schemas.microsoft.com/office/drawing/2017/decorative" val="1"/>
                </a:ext>
              </a:extLst>
            </p:cNvPr>
            <p:cNvSpPr txBox="1"/>
            <p:nvPr/>
          </p:nvSpPr>
          <p:spPr>
            <a:xfrm>
              <a:off x="8615939" y="5783259"/>
              <a:ext cx="905016"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Storage</a:t>
              </a:r>
            </a:p>
          </p:txBody>
        </p:sp>
        <p:sp>
          <p:nvSpPr>
            <p:cNvPr id="35" name="TextBox 34">
              <a:extLst>
                <a:ext uri="{FF2B5EF4-FFF2-40B4-BE49-F238E27FC236}">
                  <a16:creationId xmlns:a16="http://schemas.microsoft.com/office/drawing/2014/main" id="{6CB940ED-E182-4845-AE19-8960602EE7FD}"/>
                </a:ext>
                <a:ext uri="{C183D7F6-B498-43B3-948B-1728B52AA6E4}">
                  <adec:decorative xmlns:adec="http://schemas.microsoft.com/office/drawing/2017/decorative" val="1"/>
                </a:ext>
              </a:extLst>
            </p:cNvPr>
            <p:cNvSpPr txBox="1"/>
            <p:nvPr/>
          </p:nvSpPr>
          <p:spPr>
            <a:xfrm>
              <a:off x="6049220" y="3124162"/>
              <a:ext cx="1675920"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Developer Tools</a:t>
              </a:r>
            </a:p>
          </p:txBody>
        </p:sp>
        <p:pic>
          <p:nvPicPr>
            <p:cNvPr id="45" name="Graphic 44">
              <a:extLst>
                <a:ext uri="{FF2B5EF4-FFF2-40B4-BE49-F238E27FC236}">
                  <a16:creationId xmlns:a16="http://schemas.microsoft.com/office/drawing/2014/main" id="{693F8DC6-C582-4941-9AD2-3F30DCEEBBC6}"/>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523753" y="2450078"/>
              <a:ext cx="726853" cy="708032"/>
            </a:xfrm>
            <a:prstGeom prst="rect">
              <a:avLst/>
            </a:prstGeom>
          </p:spPr>
        </p:pic>
        <p:sp>
          <p:nvSpPr>
            <p:cNvPr id="37" name="TextBox 36">
              <a:extLst>
                <a:ext uri="{FF2B5EF4-FFF2-40B4-BE49-F238E27FC236}">
                  <a16:creationId xmlns:a16="http://schemas.microsoft.com/office/drawing/2014/main" id="{8A8AEC52-D7C1-4E29-990F-5CA8ED949072}"/>
                </a:ext>
                <a:ext uri="{C183D7F6-B498-43B3-948B-1728B52AA6E4}">
                  <adec:decorative xmlns:adec="http://schemas.microsoft.com/office/drawing/2017/decorative" val="1"/>
                </a:ext>
              </a:extLst>
            </p:cNvPr>
            <p:cNvSpPr txBox="1"/>
            <p:nvPr/>
          </p:nvSpPr>
          <p:spPr>
            <a:xfrm>
              <a:off x="5907663" y="5764704"/>
              <a:ext cx="1959034" cy="565999"/>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Security, Identity, </a:t>
              </a:r>
              <a:r>
                <a:rPr lang="en-US" sz="1600" dirty="0">
                  <a:solidFill>
                    <a:srgbClr val="000000"/>
                  </a:solidFill>
                  <a:ea typeface="Amazon Ember Light" panose="020B0403020204020204" pitchFamily="34" charset="0"/>
                  <a:cs typeface="Amazon Ember Light" panose="020B0403020204020204" pitchFamily="34" charset="0"/>
                </a:rPr>
                <a:t>and</a:t>
              </a: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 Compliance</a:t>
              </a:r>
            </a:p>
          </p:txBody>
        </p:sp>
        <p:pic>
          <p:nvPicPr>
            <p:cNvPr id="47" name="Graphic 46">
              <a:extLst>
                <a:ext uri="{FF2B5EF4-FFF2-40B4-BE49-F238E27FC236}">
                  <a16:creationId xmlns:a16="http://schemas.microsoft.com/office/drawing/2014/main" id="{20219465-2930-4222-8CB2-BCCC8F2F380D}"/>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523753" y="5111309"/>
              <a:ext cx="726853" cy="708032"/>
            </a:xfrm>
            <a:prstGeom prst="rect">
              <a:avLst/>
            </a:prstGeom>
          </p:spPr>
        </p:pic>
        <p:pic>
          <p:nvPicPr>
            <p:cNvPr id="26" name="Graphic 25">
              <a:extLst>
                <a:ext uri="{FF2B5EF4-FFF2-40B4-BE49-F238E27FC236}">
                  <a16:creationId xmlns:a16="http://schemas.microsoft.com/office/drawing/2014/main" id="{CD490A6D-3B43-4E2E-8037-798CD75403A1}"/>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445410" y="2450078"/>
              <a:ext cx="726853" cy="708032"/>
            </a:xfrm>
            <a:prstGeom prst="rect">
              <a:avLst/>
            </a:prstGeom>
          </p:spPr>
        </p:pic>
        <p:sp>
          <p:nvSpPr>
            <p:cNvPr id="27" name="TextBox 26">
              <a:extLst>
                <a:ext uri="{FF2B5EF4-FFF2-40B4-BE49-F238E27FC236}">
                  <a16:creationId xmlns:a16="http://schemas.microsoft.com/office/drawing/2014/main" id="{7FDD4960-C8B5-489C-82A0-9CA33CC5BBB5}"/>
                </a:ext>
                <a:ext uri="{C183D7F6-B498-43B3-948B-1728B52AA6E4}">
                  <adec:decorative xmlns:adec="http://schemas.microsoft.com/office/drawing/2017/decorative" val="1"/>
                </a:ext>
              </a:extLst>
            </p:cNvPr>
            <p:cNvSpPr txBox="1"/>
            <p:nvPr/>
          </p:nvSpPr>
          <p:spPr>
            <a:xfrm>
              <a:off x="4289433" y="3120188"/>
              <a:ext cx="1038809"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Database</a:t>
              </a:r>
            </a:p>
          </p:txBody>
        </p:sp>
        <p:sp>
          <p:nvSpPr>
            <p:cNvPr id="32" name="TextBox 31">
              <a:extLst>
                <a:ext uri="{FF2B5EF4-FFF2-40B4-BE49-F238E27FC236}">
                  <a16:creationId xmlns:a16="http://schemas.microsoft.com/office/drawing/2014/main" id="{AE20C2D3-E886-4EB3-A672-17CF83D8C99F}"/>
                </a:ext>
                <a:ext uri="{C183D7F6-B498-43B3-948B-1728B52AA6E4}">
                  <adec:decorative xmlns:adec="http://schemas.microsoft.com/office/drawing/2017/decorative" val="1"/>
                </a:ext>
              </a:extLst>
            </p:cNvPr>
            <p:cNvSpPr txBox="1"/>
            <p:nvPr/>
          </p:nvSpPr>
          <p:spPr>
            <a:xfrm>
              <a:off x="8407286" y="1890422"/>
              <a:ext cx="1322324" cy="565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Business </a:t>
              </a:r>
              <a:b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Applications</a:t>
              </a:r>
            </a:p>
          </p:txBody>
        </p:sp>
        <p:pic>
          <p:nvPicPr>
            <p:cNvPr id="39" name="Graphic 38">
              <a:extLst>
                <a:ext uri="{FF2B5EF4-FFF2-40B4-BE49-F238E27FC236}">
                  <a16:creationId xmlns:a16="http://schemas.microsoft.com/office/drawing/2014/main" id="{79E2A1C7-B65E-4107-BBA7-6CBFA140D29E}"/>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705020" y="1226282"/>
              <a:ext cx="726853" cy="708032"/>
            </a:xfrm>
            <a:prstGeom prst="rect">
              <a:avLst/>
            </a:prstGeom>
          </p:spPr>
        </p:pic>
        <p:pic>
          <p:nvPicPr>
            <p:cNvPr id="57" name="Graphic 56">
              <a:extLst>
                <a:ext uri="{FF2B5EF4-FFF2-40B4-BE49-F238E27FC236}">
                  <a16:creationId xmlns:a16="http://schemas.microsoft.com/office/drawing/2014/main" id="{3CABFD0E-BB49-4FF3-AF90-7E596AB84EAF}"/>
                </a:ext>
                <a:ext uri="{C183D7F6-B498-43B3-948B-1728B52AA6E4}">
                  <adec:decorative xmlns:adec="http://schemas.microsoft.com/office/drawing/2017/decorative" val="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738408" y="3795954"/>
              <a:ext cx="726853" cy="708032"/>
            </a:xfrm>
            <a:prstGeom prst="rect">
              <a:avLst/>
            </a:prstGeom>
          </p:spPr>
        </p:pic>
        <p:sp>
          <p:nvSpPr>
            <p:cNvPr id="59" name="TextBox 58">
              <a:extLst>
                <a:ext uri="{FF2B5EF4-FFF2-40B4-BE49-F238E27FC236}">
                  <a16:creationId xmlns:a16="http://schemas.microsoft.com/office/drawing/2014/main" id="{D2E5BF37-DC18-4CB9-B30F-433B74CDAE9C}"/>
                </a:ext>
                <a:ext uri="{C183D7F6-B498-43B3-948B-1728B52AA6E4}">
                  <adec:decorative xmlns:adec="http://schemas.microsoft.com/office/drawing/2017/decorative" val="1"/>
                </a:ext>
              </a:extLst>
            </p:cNvPr>
            <p:cNvSpPr txBox="1"/>
            <p:nvPr/>
          </p:nvSpPr>
          <p:spPr>
            <a:xfrm>
              <a:off x="2374633" y="4463956"/>
              <a:ext cx="1411841" cy="565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Machine Learning</a:t>
              </a:r>
            </a:p>
          </p:txBody>
        </p:sp>
        <p:pic>
          <p:nvPicPr>
            <p:cNvPr id="58" name="Graphic 57">
              <a:extLst>
                <a:ext uri="{FF2B5EF4-FFF2-40B4-BE49-F238E27FC236}">
                  <a16:creationId xmlns:a16="http://schemas.microsoft.com/office/drawing/2014/main" id="{E115ADA5-4FD3-634B-9CEB-C2ACD1B686F2}"/>
                </a:ext>
                <a:ext uri="{C183D7F6-B498-43B3-948B-1728B52AA6E4}">
                  <adec:decorative xmlns:adec="http://schemas.microsoft.com/office/drawing/2017/decorative" val="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6523753" y="1226282"/>
              <a:ext cx="726853" cy="708032"/>
            </a:xfrm>
            <a:prstGeom prst="rect">
              <a:avLst/>
            </a:prstGeom>
          </p:spPr>
        </p:pic>
        <p:sp>
          <p:nvSpPr>
            <p:cNvPr id="60" name="TextBox 59">
              <a:extLst>
                <a:ext uri="{FF2B5EF4-FFF2-40B4-BE49-F238E27FC236}">
                  <a16:creationId xmlns:a16="http://schemas.microsoft.com/office/drawing/2014/main" id="{25B36EFC-4DE3-884A-8A21-A73020518C07}"/>
                </a:ext>
                <a:ext uri="{C183D7F6-B498-43B3-948B-1728B52AA6E4}">
                  <adec:decorative xmlns:adec="http://schemas.microsoft.com/office/drawing/2017/decorative" val="1"/>
                </a:ext>
              </a:extLst>
            </p:cNvPr>
            <p:cNvSpPr txBox="1"/>
            <p:nvPr/>
          </p:nvSpPr>
          <p:spPr>
            <a:xfrm>
              <a:off x="6299286" y="1887244"/>
              <a:ext cx="1175788"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Blockchain</a:t>
              </a:r>
            </a:p>
          </p:txBody>
        </p:sp>
        <p:pic>
          <p:nvPicPr>
            <p:cNvPr id="61" name="Graphic 60">
              <a:extLst>
                <a:ext uri="{FF2B5EF4-FFF2-40B4-BE49-F238E27FC236}">
                  <a16:creationId xmlns:a16="http://schemas.microsoft.com/office/drawing/2014/main" id="{D0BCA487-74F6-C448-9FDA-0F8E56EC7E3E}"/>
                </a:ext>
                <a:ext uri="{C183D7F6-B498-43B3-948B-1728B52AA6E4}">
                  <adec:decorative xmlns:adec="http://schemas.microsoft.com/office/drawing/2017/decorative" val="1"/>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738408" y="1226282"/>
              <a:ext cx="726853" cy="708032"/>
            </a:xfrm>
            <a:prstGeom prst="rect">
              <a:avLst/>
            </a:prstGeom>
          </p:spPr>
        </p:pic>
        <p:sp>
          <p:nvSpPr>
            <p:cNvPr id="62" name="TextBox 61">
              <a:extLst>
                <a:ext uri="{FF2B5EF4-FFF2-40B4-BE49-F238E27FC236}">
                  <a16:creationId xmlns:a16="http://schemas.microsoft.com/office/drawing/2014/main" id="{404286D4-4E11-6544-9882-BCA37CD2F21C}"/>
                </a:ext>
                <a:ext uri="{C183D7F6-B498-43B3-948B-1728B52AA6E4}">
                  <adec:decorative xmlns:adec="http://schemas.microsoft.com/office/drawing/2017/decorative" val="1"/>
                </a:ext>
              </a:extLst>
            </p:cNvPr>
            <p:cNvSpPr txBox="1"/>
            <p:nvPr/>
          </p:nvSpPr>
          <p:spPr>
            <a:xfrm>
              <a:off x="2484476" y="1885548"/>
              <a:ext cx="1234720" cy="565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ea typeface="Amazon Ember Light" panose="020B0403020204020204" pitchFamily="34" charset="0"/>
                  <a:cs typeface="Amazon Ember Light" panose="020B0403020204020204" pitchFamily="34" charset="0"/>
                </a:rPr>
                <a:t>Integration</a:t>
              </a:r>
              <a:endPar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endParaRPr>
            </a:p>
          </p:txBody>
        </p:sp>
        <p:pic>
          <p:nvPicPr>
            <p:cNvPr id="63" name="Graphic 62">
              <a:extLst>
                <a:ext uri="{FF2B5EF4-FFF2-40B4-BE49-F238E27FC236}">
                  <a16:creationId xmlns:a16="http://schemas.microsoft.com/office/drawing/2014/main" id="{C9962C28-472E-184B-8D92-C45F606D97E3}"/>
                </a:ext>
                <a:ext uri="{C183D7F6-B498-43B3-948B-1728B52AA6E4}">
                  <adec:decorative xmlns:adec="http://schemas.microsoft.com/office/drawing/2017/decorative" val="1"/>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445410" y="1226282"/>
              <a:ext cx="726853" cy="708032"/>
            </a:xfrm>
            <a:prstGeom prst="rect">
              <a:avLst/>
            </a:prstGeom>
          </p:spPr>
        </p:pic>
        <p:sp>
          <p:nvSpPr>
            <p:cNvPr id="64" name="TextBox 63">
              <a:extLst>
                <a:ext uri="{FF2B5EF4-FFF2-40B4-BE49-F238E27FC236}">
                  <a16:creationId xmlns:a16="http://schemas.microsoft.com/office/drawing/2014/main" id="{F2355A63-AF06-304C-AEA6-A7E601F2930E}"/>
                </a:ext>
                <a:ext uri="{C183D7F6-B498-43B3-948B-1728B52AA6E4}">
                  <adec:decorative xmlns:adec="http://schemas.microsoft.com/office/drawing/2017/decorative" val="1"/>
                </a:ext>
              </a:extLst>
            </p:cNvPr>
            <p:cNvSpPr txBox="1"/>
            <p:nvPr/>
          </p:nvSpPr>
          <p:spPr>
            <a:xfrm>
              <a:off x="4234482" y="1893873"/>
              <a:ext cx="1148712"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AR </a:t>
              </a:r>
              <a:r>
                <a:rPr lang="en-US" sz="1600" dirty="0">
                  <a:solidFill>
                    <a:srgbClr val="000000"/>
                  </a:solidFill>
                  <a:ea typeface="Amazon Ember Light" panose="020B0403020204020204" pitchFamily="34" charset="0"/>
                  <a:cs typeface="Amazon Ember Light" panose="020B0403020204020204" pitchFamily="34" charset="0"/>
                </a:rPr>
                <a:t>and </a:t>
              </a: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VR</a:t>
              </a:r>
            </a:p>
          </p:txBody>
        </p:sp>
        <p:pic>
          <p:nvPicPr>
            <p:cNvPr id="71" name="Graphic 70">
              <a:extLst>
                <a:ext uri="{FF2B5EF4-FFF2-40B4-BE49-F238E27FC236}">
                  <a16:creationId xmlns:a16="http://schemas.microsoft.com/office/drawing/2014/main" id="{93DAA41C-C974-AD47-A53C-1039F8E2DBC3}"/>
                </a:ext>
                <a:ext uri="{C183D7F6-B498-43B3-948B-1728B52AA6E4}">
                  <adec:decorative xmlns:adec="http://schemas.microsoft.com/office/drawing/2017/decorative" val="1"/>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8705020" y="2450078"/>
              <a:ext cx="726853" cy="708032"/>
            </a:xfrm>
            <a:prstGeom prst="rect">
              <a:avLst/>
            </a:prstGeom>
          </p:spPr>
        </p:pic>
        <p:sp>
          <p:nvSpPr>
            <p:cNvPr id="72" name="TextBox 71">
              <a:extLst>
                <a:ext uri="{FF2B5EF4-FFF2-40B4-BE49-F238E27FC236}">
                  <a16:creationId xmlns:a16="http://schemas.microsoft.com/office/drawing/2014/main" id="{3692D3A0-CABC-3440-84AD-881EF14C1585}"/>
                </a:ext>
                <a:ext uri="{C183D7F6-B498-43B3-948B-1728B52AA6E4}">
                  <adec:decorative xmlns:adec="http://schemas.microsoft.com/office/drawing/2017/decorative" val="1"/>
                </a:ext>
              </a:extLst>
            </p:cNvPr>
            <p:cNvSpPr txBox="1"/>
            <p:nvPr/>
          </p:nvSpPr>
          <p:spPr>
            <a:xfrm>
              <a:off x="8461440" y="3118048"/>
              <a:ext cx="1214014" cy="565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End User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Computing</a:t>
              </a:r>
            </a:p>
          </p:txBody>
        </p:sp>
        <p:pic>
          <p:nvPicPr>
            <p:cNvPr id="74" name="Graphic 73">
              <a:extLst>
                <a:ext uri="{FF2B5EF4-FFF2-40B4-BE49-F238E27FC236}">
                  <a16:creationId xmlns:a16="http://schemas.microsoft.com/office/drawing/2014/main" id="{FDF3D634-D03D-164F-A9B6-811A7201F790}"/>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6523753" y="3795954"/>
              <a:ext cx="726853" cy="708032"/>
            </a:xfrm>
            <a:prstGeom prst="rect">
              <a:avLst/>
            </a:prstGeom>
          </p:spPr>
        </p:pic>
        <p:sp>
          <p:nvSpPr>
            <p:cNvPr id="76" name="TextBox 75">
              <a:extLst>
                <a:ext uri="{FF2B5EF4-FFF2-40B4-BE49-F238E27FC236}">
                  <a16:creationId xmlns:a16="http://schemas.microsoft.com/office/drawing/2014/main" id="{B37499C4-85AB-1643-B309-6C6C773B623F}"/>
                </a:ext>
                <a:ext uri="{C183D7F6-B498-43B3-948B-1728B52AA6E4}">
                  <adec:decorative xmlns:adec="http://schemas.microsoft.com/office/drawing/2017/decorative" val="1"/>
                </a:ext>
              </a:extLst>
            </p:cNvPr>
            <p:cNvSpPr txBox="1"/>
            <p:nvPr/>
          </p:nvSpPr>
          <p:spPr>
            <a:xfrm>
              <a:off x="6114524" y="4471445"/>
              <a:ext cx="1545312"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Media Services</a:t>
              </a:r>
            </a:p>
          </p:txBody>
        </p:sp>
        <p:pic>
          <p:nvPicPr>
            <p:cNvPr id="77" name="Graphic 76">
              <a:extLst>
                <a:ext uri="{FF2B5EF4-FFF2-40B4-BE49-F238E27FC236}">
                  <a16:creationId xmlns:a16="http://schemas.microsoft.com/office/drawing/2014/main" id="{A9FD4A75-9442-7545-BE2D-9637B4E802EB}"/>
                </a:ext>
                <a:ext uri="{C183D7F6-B498-43B3-948B-1728B52AA6E4}">
                  <adec:decorative xmlns:adec="http://schemas.microsoft.com/office/drawing/2017/decorative" val="1"/>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8705020" y="3795954"/>
              <a:ext cx="726853" cy="708032"/>
            </a:xfrm>
            <a:prstGeom prst="rect">
              <a:avLst/>
            </a:prstGeom>
          </p:spPr>
        </p:pic>
        <p:sp>
          <p:nvSpPr>
            <p:cNvPr id="78" name="TextBox 77">
              <a:extLst>
                <a:ext uri="{FF2B5EF4-FFF2-40B4-BE49-F238E27FC236}">
                  <a16:creationId xmlns:a16="http://schemas.microsoft.com/office/drawing/2014/main" id="{192EABF2-A4D4-2447-AC15-7BE6FFEB2316}"/>
                </a:ext>
                <a:ext uri="{C183D7F6-B498-43B3-948B-1728B52AA6E4}">
                  <adec:decorative xmlns:adec="http://schemas.microsoft.com/office/drawing/2017/decorative" val="1"/>
                </a:ext>
              </a:extLst>
            </p:cNvPr>
            <p:cNvSpPr txBox="1"/>
            <p:nvPr/>
          </p:nvSpPr>
          <p:spPr>
            <a:xfrm>
              <a:off x="8302162" y="4479944"/>
              <a:ext cx="1532570" cy="565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ea typeface="Amazon Ember Light" panose="020B0403020204020204" pitchFamily="34" charset="0"/>
                  <a:cs typeface="Amazon Ember Light" panose="020B0403020204020204" pitchFamily="34" charset="0"/>
                </a:rPr>
                <a:t>Migration and</a:t>
              </a: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Transfer</a:t>
              </a:r>
            </a:p>
          </p:txBody>
        </p:sp>
        <p:pic>
          <p:nvPicPr>
            <p:cNvPr id="80" name="Graphic 79">
              <a:extLst>
                <a:ext uri="{FF2B5EF4-FFF2-40B4-BE49-F238E27FC236}">
                  <a16:creationId xmlns:a16="http://schemas.microsoft.com/office/drawing/2014/main" id="{E2B8BEDD-83DC-7340-BEE5-007FB8658AB3}"/>
                </a:ext>
                <a:ext uri="{C183D7F6-B498-43B3-948B-1728B52AA6E4}">
                  <adec:decorative xmlns:adec="http://schemas.microsoft.com/office/drawing/2017/decorative" val="1"/>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563457" y="2450078"/>
              <a:ext cx="726853" cy="708032"/>
            </a:xfrm>
            <a:prstGeom prst="rect">
              <a:avLst/>
            </a:prstGeom>
          </p:spPr>
        </p:pic>
        <p:sp>
          <p:nvSpPr>
            <p:cNvPr id="81" name="TextBox 80">
              <a:extLst>
                <a:ext uri="{FF2B5EF4-FFF2-40B4-BE49-F238E27FC236}">
                  <a16:creationId xmlns:a16="http://schemas.microsoft.com/office/drawing/2014/main" id="{FE2E7497-1FDC-0145-B2D7-2BB113820948}"/>
                </a:ext>
                <a:ext uri="{C183D7F6-B498-43B3-948B-1728B52AA6E4}">
                  <adec:decorative xmlns:adec="http://schemas.microsoft.com/office/drawing/2017/decorative" val="1"/>
                </a:ext>
              </a:extLst>
            </p:cNvPr>
            <p:cNvSpPr txBox="1"/>
            <p:nvPr/>
          </p:nvSpPr>
          <p:spPr>
            <a:xfrm>
              <a:off x="10319877" y="3127363"/>
              <a:ext cx="1214014"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Game Tech</a:t>
              </a:r>
            </a:p>
          </p:txBody>
        </p:sp>
        <p:pic>
          <p:nvPicPr>
            <p:cNvPr id="84" name="Graphic 83">
              <a:extLst>
                <a:ext uri="{FF2B5EF4-FFF2-40B4-BE49-F238E27FC236}">
                  <a16:creationId xmlns:a16="http://schemas.microsoft.com/office/drawing/2014/main" id="{76CC1574-4316-8745-88E7-3574F7267834}"/>
                </a:ext>
                <a:ext uri="{C183D7F6-B498-43B3-948B-1728B52AA6E4}">
                  <adec:decorative xmlns:adec="http://schemas.microsoft.com/office/drawing/2017/decorative" val="1"/>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4445410" y="5111309"/>
              <a:ext cx="726853" cy="708032"/>
            </a:xfrm>
            <a:prstGeom prst="rect">
              <a:avLst/>
            </a:prstGeom>
          </p:spPr>
        </p:pic>
        <p:sp>
          <p:nvSpPr>
            <p:cNvPr id="85" name="TextBox 84">
              <a:extLst>
                <a:ext uri="{FF2B5EF4-FFF2-40B4-BE49-F238E27FC236}">
                  <a16:creationId xmlns:a16="http://schemas.microsoft.com/office/drawing/2014/main" id="{FC1AE6D1-1709-DB47-ACAF-728627BE89DC}"/>
                </a:ext>
                <a:ext uri="{C183D7F6-B498-43B3-948B-1728B52AA6E4}">
                  <adec:decorative xmlns:adec="http://schemas.microsoft.com/office/drawing/2017/decorative" val="1"/>
                </a:ext>
              </a:extLst>
            </p:cNvPr>
            <p:cNvSpPr txBox="1"/>
            <p:nvPr/>
          </p:nvSpPr>
          <p:spPr>
            <a:xfrm>
              <a:off x="4335623" y="5800937"/>
              <a:ext cx="946428"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Satellite</a:t>
              </a:r>
            </a:p>
          </p:txBody>
        </p:sp>
        <p:pic>
          <p:nvPicPr>
            <p:cNvPr id="87" name="Graphic 86">
              <a:extLst>
                <a:ext uri="{FF2B5EF4-FFF2-40B4-BE49-F238E27FC236}">
                  <a16:creationId xmlns:a16="http://schemas.microsoft.com/office/drawing/2014/main" id="{2B0359D4-DCEE-9C46-85B9-EF49B7C5B03F}"/>
                </a:ext>
                <a:ext uri="{C183D7F6-B498-43B3-948B-1728B52AA6E4}">
                  <adec:decorative xmlns:adec="http://schemas.microsoft.com/office/drawing/2017/decorative" val="1"/>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2738408" y="2450078"/>
              <a:ext cx="726853" cy="708032"/>
            </a:xfrm>
            <a:prstGeom prst="rect">
              <a:avLst/>
            </a:prstGeom>
          </p:spPr>
        </p:pic>
        <p:sp>
          <p:nvSpPr>
            <p:cNvPr id="88" name="TextBox 87">
              <a:extLst>
                <a:ext uri="{FF2B5EF4-FFF2-40B4-BE49-F238E27FC236}">
                  <a16:creationId xmlns:a16="http://schemas.microsoft.com/office/drawing/2014/main" id="{E236F9FE-3225-8A45-9D6B-F8A8FEDF5E43}"/>
                </a:ext>
                <a:ext uri="{C183D7F6-B498-43B3-948B-1728B52AA6E4}">
                  <adec:decorative xmlns:adec="http://schemas.microsoft.com/office/drawing/2017/decorative" val="1"/>
                </a:ext>
              </a:extLst>
            </p:cNvPr>
            <p:cNvSpPr txBox="1"/>
            <p:nvPr/>
          </p:nvSpPr>
          <p:spPr>
            <a:xfrm>
              <a:off x="2423949" y="3104490"/>
              <a:ext cx="1355772" cy="565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Customer </a:t>
              </a:r>
              <a:b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Engagement</a:t>
              </a:r>
            </a:p>
          </p:txBody>
        </p:sp>
        <p:pic>
          <p:nvPicPr>
            <p:cNvPr id="91" name="Graphic 90">
              <a:extLst>
                <a:ext uri="{FF2B5EF4-FFF2-40B4-BE49-F238E27FC236}">
                  <a16:creationId xmlns:a16="http://schemas.microsoft.com/office/drawing/2014/main" id="{5849C4D0-7B51-A14F-8E95-A7A74E09D33E}"/>
                </a:ext>
                <a:ext uri="{C183D7F6-B498-43B3-948B-1728B52AA6E4}">
                  <adec:decorative xmlns:adec="http://schemas.microsoft.com/office/drawing/2017/decorative" val="1"/>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872471" y="2450078"/>
              <a:ext cx="726853" cy="708032"/>
            </a:xfrm>
            <a:prstGeom prst="rect">
              <a:avLst/>
            </a:prstGeom>
          </p:spPr>
        </p:pic>
        <p:sp>
          <p:nvSpPr>
            <p:cNvPr id="92" name="TextBox 91">
              <a:extLst>
                <a:ext uri="{FF2B5EF4-FFF2-40B4-BE49-F238E27FC236}">
                  <a16:creationId xmlns:a16="http://schemas.microsoft.com/office/drawing/2014/main" id="{9DBF4F11-9E41-514B-BC18-3125833A47B4}"/>
                </a:ext>
                <a:ext uri="{C183D7F6-B498-43B3-948B-1728B52AA6E4}">
                  <adec:decorative xmlns:adec="http://schemas.microsoft.com/office/drawing/2017/decorative" val="1"/>
                </a:ext>
              </a:extLst>
            </p:cNvPr>
            <p:cNvSpPr txBox="1"/>
            <p:nvPr/>
          </p:nvSpPr>
          <p:spPr>
            <a:xfrm>
              <a:off x="534916" y="3106809"/>
              <a:ext cx="1401963" cy="565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Cost </a:t>
              </a:r>
              <a:b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Management</a:t>
              </a:r>
            </a:p>
          </p:txBody>
        </p:sp>
        <p:sp>
          <p:nvSpPr>
            <p:cNvPr id="96" name="Rectangle 95">
              <a:extLst>
                <a:ext uri="{FF2B5EF4-FFF2-40B4-BE49-F238E27FC236}">
                  <a16:creationId xmlns:a16="http://schemas.microsoft.com/office/drawing/2014/main" id="{724E1064-3771-FA45-A869-F78924D20C6A}"/>
                </a:ext>
                <a:ext uri="{C183D7F6-B498-43B3-948B-1728B52AA6E4}">
                  <adec:decorative xmlns:adec="http://schemas.microsoft.com/office/drawing/2017/decorative" val="1"/>
                </a:ext>
              </a:extLst>
            </p:cNvPr>
            <p:cNvSpPr/>
            <p:nvPr/>
          </p:nvSpPr>
          <p:spPr>
            <a:xfrm>
              <a:off x="9918798" y="1218195"/>
              <a:ext cx="2016172" cy="1226188"/>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sp>
          <p:nvSpPr>
            <p:cNvPr id="97" name="Rectangle 96">
              <a:extLst>
                <a:ext uri="{FF2B5EF4-FFF2-40B4-BE49-F238E27FC236}">
                  <a16:creationId xmlns:a16="http://schemas.microsoft.com/office/drawing/2014/main" id="{99540499-7213-0347-97B1-E1F61767D82D}"/>
                </a:ext>
                <a:ext uri="{C183D7F6-B498-43B3-948B-1728B52AA6E4}">
                  <adec:decorative xmlns:adec="http://schemas.microsoft.com/office/drawing/2017/decorative" val="1"/>
                </a:ext>
              </a:extLst>
            </p:cNvPr>
            <p:cNvSpPr/>
            <p:nvPr/>
          </p:nvSpPr>
          <p:spPr>
            <a:xfrm>
              <a:off x="3800752" y="2424016"/>
              <a:ext cx="2016172" cy="1226188"/>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sp>
          <p:nvSpPr>
            <p:cNvPr id="98" name="Rectangle 97">
              <a:extLst>
                <a:ext uri="{FF2B5EF4-FFF2-40B4-BE49-F238E27FC236}">
                  <a16:creationId xmlns:a16="http://schemas.microsoft.com/office/drawing/2014/main" id="{B314A9FB-27A8-8E46-A1C5-A50639E56263}"/>
                </a:ext>
                <a:ext uri="{C183D7F6-B498-43B3-948B-1728B52AA6E4}">
                  <adec:decorative xmlns:adec="http://schemas.microsoft.com/office/drawing/2017/decorative" val="1"/>
                </a:ext>
              </a:extLst>
            </p:cNvPr>
            <p:cNvSpPr/>
            <p:nvPr/>
          </p:nvSpPr>
          <p:spPr>
            <a:xfrm>
              <a:off x="227812" y="2429206"/>
              <a:ext cx="2016172" cy="1226188"/>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endParaRPr>
            </a:p>
          </p:txBody>
        </p:sp>
        <p:sp>
          <p:nvSpPr>
            <p:cNvPr id="100" name="Rectangle 99">
              <a:extLst>
                <a:ext uri="{FF2B5EF4-FFF2-40B4-BE49-F238E27FC236}">
                  <a16:creationId xmlns:a16="http://schemas.microsoft.com/office/drawing/2014/main" id="{6F2C8F17-9ED4-FB4F-845C-10F2364DC4E3}"/>
                </a:ext>
                <a:ext uri="{C183D7F6-B498-43B3-948B-1728B52AA6E4}">
                  <adec:decorative xmlns:adec="http://schemas.microsoft.com/office/drawing/2017/decorative" val="1"/>
                </a:ext>
              </a:extLst>
            </p:cNvPr>
            <p:cNvSpPr/>
            <p:nvPr/>
          </p:nvSpPr>
          <p:spPr>
            <a:xfrm>
              <a:off x="227812" y="5116450"/>
              <a:ext cx="2016172" cy="1226188"/>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sp>
          <p:nvSpPr>
            <p:cNvPr id="101" name="Rectangle 100">
              <a:extLst>
                <a:ext uri="{FF2B5EF4-FFF2-40B4-BE49-F238E27FC236}">
                  <a16:creationId xmlns:a16="http://schemas.microsoft.com/office/drawing/2014/main" id="{65FD5D28-50D8-344A-AACB-BD38101686FC}"/>
                </a:ext>
                <a:ext uri="{C183D7F6-B498-43B3-948B-1728B52AA6E4}">
                  <adec:decorative xmlns:adec="http://schemas.microsoft.com/office/drawing/2017/decorative" val="1"/>
                </a:ext>
              </a:extLst>
            </p:cNvPr>
            <p:cNvSpPr/>
            <p:nvPr/>
          </p:nvSpPr>
          <p:spPr>
            <a:xfrm>
              <a:off x="5879094" y="5120796"/>
              <a:ext cx="2016172" cy="1226188"/>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sp>
          <p:nvSpPr>
            <p:cNvPr id="102" name="Rectangle 101">
              <a:extLst>
                <a:ext uri="{FF2B5EF4-FFF2-40B4-BE49-F238E27FC236}">
                  <a16:creationId xmlns:a16="http://schemas.microsoft.com/office/drawing/2014/main" id="{3D59AB44-15C9-DA47-A4C9-87D8560542DF}"/>
                </a:ext>
                <a:ext uri="{C183D7F6-B498-43B3-948B-1728B52AA6E4}">
                  <adec:decorative xmlns:adec="http://schemas.microsoft.com/office/drawing/2017/decorative" val="1"/>
                </a:ext>
              </a:extLst>
            </p:cNvPr>
            <p:cNvSpPr/>
            <p:nvPr/>
          </p:nvSpPr>
          <p:spPr>
            <a:xfrm>
              <a:off x="8060361" y="5130162"/>
              <a:ext cx="2016172" cy="1226188"/>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pic>
          <p:nvPicPr>
            <p:cNvPr id="103" name="Graphic 102">
              <a:extLst>
                <a:ext uri="{FF2B5EF4-FFF2-40B4-BE49-F238E27FC236}">
                  <a16:creationId xmlns:a16="http://schemas.microsoft.com/office/drawing/2014/main" id="{5C507252-74D0-604D-9FAD-68677C42BA89}"/>
                </a:ext>
                <a:ext uri="{C183D7F6-B498-43B3-948B-1728B52AA6E4}">
                  <adec:decorative xmlns:adec="http://schemas.microsoft.com/office/drawing/2017/decorative" val="1"/>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2738408" y="5111309"/>
              <a:ext cx="726853" cy="708032"/>
            </a:xfrm>
            <a:prstGeom prst="rect">
              <a:avLst/>
            </a:prstGeom>
          </p:spPr>
        </p:pic>
        <p:sp>
          <p:nvSpPr>
            <p:cNvPr id="104" name="TextBox 103">
              <a:extLst>
                <a:ext uri="{FF2B5EF4-FFF2-40B4-BE49-F238E27FC236}">
                  <a16:creationId xmlns:a16="http://schemas.microsoft.com/office/drawing/2014/main" id="{5F651800-958E-7444-9606-DF8A840194B7}"/>
                </a:ext>
                <a:ext uri="{C183D7F6-B498-43B3-948B-1728B52AA6E4}">
                  <adec:decorative xmlns:adec="http://schemas.microsoft.com/office/drawing/2017/decorative" val="1"/>
                </a:ext>
              </a:extLst>
            </p:cNvPr>
            <p:cNvSpPr txBox="1"/>
            <p:nvPr/>
          </p:nvSpPr>
          <p:spPr>
            <a:xfrm>
              <a:off x="2613491" y="5800937"/>
              <a:ext cx="976690" cy="3276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Robotics</a:t>
              </a:r>
            </a:p>
          </p:txBody>
        </p:sp>
        <p:sp>
          <p:nvSpPr>
            <p:cNvPr id="105" name="Rectangle 104">
              <a:extLst>
                <a:ext uri="{FF2B5EF4-FFF2-40B4-BE49-F238E27FC236}">
                  <a16:creationId xmlns:a16="http://schemas.microsoft.com/office/drawing/2014/main" id="{47FB867A-CA2E-3E4D-9333-F8B974D99311}"/>
                </a:ext>
                <a:ext uri="{C183D7F6-B498-43B3-948B-1728B52AA6E4}">
                  <adec:decorative xmlns:adec="http://schemas.microsoft.com/office/drawing/2017/decorative" val="1"/>
                </a:ext>
              </a:extLst>
            </p:cNvPr>
            <p:cNvSpPr/>
            <p:nvPr/>
          </p:nvSpPr>
          <p:spPr>
            <a:xfrm>
              <a:off x="3800752" y="3780158"/>
              <a:ext cx="2016172" cy="1226188"/>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grpSp>
    </p:spTree>
    <p:custDataLst>
      <p:tags r:id="rId1"/>
    </p:custDataLst>
    <p:extLst>
      <p:ext uri="{BB962C8B-B14F-4D97-AF65-F5344CB8AC3E}">
        <p14:creationId xmlns:p14="http://schemas.microsoft.com/office/powerpoint/2010/main" val="3713425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3A82F6-8118-3DD8-9681-1B6AD92D9B80}"/>
              </a:ext>
            </a:extLst>
          </p:cNvPr>
          <p:cNvSpPr>
            <a:spLocks noGrp="1"/>
          </p:cNvSpPr>
          <p:nvPr>
            <p:ph type="sldNum" sz="quarter" idx="20"/>
          </p:nvPr>
        </p:nvSpPr>
        <p:spPr/>
        <p:txBody>
          <a:bodyPr/>
          <a:lstStyle/>
          <a:p>
            <a:fld id="{930176A1-BCF0-4712-97A6-6B495F55390B}" type="slidenum">
              <a:rPr lang="en-US" smtClean="0"/>
              <a:t>12</a:t>
            </a:fld>
            <a:endParaRPr lang="en-US"/>
          </a:p>
        </p:txBody>
      </p:sp>
      <p:sp>
        <p:nvSpPr>
          <p:cNvPr id="2" name="Title 1">
            <a:extLst>
              <a:ext uri="{FF2B5EF4-FFF2-40B4-BE49-F238E27FC236}">
                <a16:creationId xmlns:a16="http://schemas.microsoft.com/office/drawing/2014/main" id="{150887DF-8CBE-D149-A015-D6837BDC28A3}"/>
              </a:ext>
            </a:extLst>
          </p:cNvPr>
          <p:cNvSpPr>
            <a:spLocks noGrp="1"/>
          </p:cNvSpPr>
          <p:nvPr>
            <p:ph type="title"/>
          </p:nvPr>
        </p:nvSpPr>
        <p:spPr/>
        <p:txBody>
          <a:bodyPr>
            <a:normAutofit fontScale="90000"/>
          </a:bodyPr>
          <a:lstStyle/>
          <a:p>
            <a:r>
              <a:rPr lang="en-US" dirty="0"/>
              <a:t>Storage service category</a:t>
            </a:r>
          </a:p>
        </p:txBody>
      </p:sp>
      <p:sp>
        <p:nvSpPr>
          <p:cNvPr id="22" name="TextBox 21">
            <a:extLst>
              <a:ext uri="{FF2B5EF4-FFF2-40B4-BE49-F238E27FC236}">
                <a16:creationId xmlns:a16="http://schemas.microsoft.com/office/drawing/2014/main" id="{175EBD76-33FF-C249-857A-D5B03B431E46}"/>
              </a:ext>
            </a:extLst>
          </p:cNvPr>
          <p:cNvSpPr txBox="1"/>
          <p:nvPr/>
        </p:nvSpPr>
        <p:spPr>
          <a:xfrm>
            <a:off x="7498080" y="1767840"/>
            <a:ext cx="3193503" cy="461665"/>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storage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25" name="TextBox 24">
            <a:extLst>
              <a:ext uri="{FF2B5EF4-FFF2-40B4-BE49-F238E27FC236}">
                <a16:creationId xmlns:a16="http://schemas.microsoft.com/office/drawing/2014/main" id="{DB05E0FA-65E7-8948-82FB-DEF1ABDA01B1}"/>
              </a:ext>
            </a:extLst>
          </p:cNvPr>
          <p:cNvSpPr txBox="1"/>
          <p:nvPr/>
        </p:nvSpPr>
        <p:spPr>
          <a:xfrm>
            <a:off x="6977477" y="3811992"/>
            <a:ext cx="1975088"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Elastic Block Store (Amazon EBS)</a:t>
            </a:r>
          </a:p>
        </p:txBody>
      </p:sp>
      <p:sp>
        <p:nvSpPr>
          <p:cNvPr id="26" name="TextBox 25">
            <a:extLst>
              <a:ext uri="{FF2B5EF4-FFF2-40B4-BE49-F238E27FC236}">
                <a16:creationId xmlns:a16="http://schemas.microsoft.com/office/drawing/2014/main" id="{5815BD1B-544F-2E4B-9156-EE3B009596B7}"/>
              </a:ext>
            </a:extLst>
          </p:cNvPr>
          <p:cNvSpPr txBox="1"/>
          <p:nvPr/>
        </p:nvSpPr>
        <p:spPr>
          <a:xfrm>
            <a:off x="9058954" y="3824183"/>
            <a:ext cx="1946816"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Elastic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File System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(Amazon EFS)</a:t>
            </a:r>
          </a:p>
        </p:txBody>
      </p:sp>
      <p:sp>
        <p:nvSpPr>
          <p:cNvPr id="30" name="TextBox 29">
            <a:extLst>
              <a:ext uri="{FF2B5EF4-FFF2-40B4-BE49-F238E27FC236}">
                <a16:creationId xmlns:a16="http://schemas.microsoft.com/office/drawing/2014/main" id="{77B8B150-4F32-1A44-A83C-6A4B24ACB6ED}"/>
              </a:ext>
            </a:extLst>
          </p:cNvPr>
          <p:cNvSpPr txBox="1"/>
          <p:nvPr/>
        </p:nvSpPr>
        <p:spPr>
          <a:xfrm>
            <a:off x="4691987" y="3811992"/>
            <a:ext cx="2303123"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Simple Storage Service (Amazon S3)</a:t>
            </a:r>
          </a:p>
        </p:txBody>
      </p:sp>
      <p:grpSp>
        <p:nvGrpSpPr>
          <p:cNvPr id="5" name="Group 4">
            <a:extLst>
              <a:ext uri="{FF2B5EF4-FFF2-40B4-BE49-F238E27FC236}">
                <a16:creationId xmlns:a16="http://schemas.microsoft.com/office/drawing/2014/main" id="{55A8CB0C-C993-B2CD-5C2B-60C1B9EF2652}"/>
              </a:ext>
              <a:ext uri="{C183D7F6-B498-43B3-948B-1728B52AA6E4}">
                <adec:decorative xmlns:adec="http://schemas.microsoft.com/office/drawing/2017/decorative" val="1"/>
              </a:ext>
            </a:extLst>
          </p:cNvPr>
          <p:cNvGrpSpPr/>
          <p:nvPr/>
        </p:nvGrpSpPr>
        <p:grpSpPr>
          <a:xfrm>
            <a:off x="5507444" y="1645920"/>
            <a:ext cx="4896396" cy="4003040"/>
            <a:chOff x="5507444" y="1645920"/>
            <a:chExt cx="4896396" cy="4003040"/>
          </a:xfrm>
        </p:grpSpPr>
        <p:pic>
          <p:nvPicPr>
            <p:cNvPr id="23" name="Graphic 22">
              <a:extLst>
                <a:ext uri="{FF2B5EF4-FFF2-40B4-BE49-F238E27FC236}">
                  <a16:creationId xmlns:a16="http://schemas.microsoft.com/office/drawing/2014/main" id="{F5AD848D-096D-AD48-A30B-8B76641E39A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04724" y="1645920"/>
              <a:ext cx="952500" cy="952500"/>
            </a:xfrm>
            <a:prstGeom prst="rect">
              <a:avLst/>
            </a:prstGeom>
          </p:spPr>
        </p:pic>
        <p:pic>
          <p:nvPicPr>
            <p:cNvPr id="27" name="Graphic 26">
              <a:extLst>
                <a:ext uri="{FF2B5EF4-FFF2-40B4-BE49-F238E27FC236}">
                  <a16:creationId xmlns:a16="http://schemas.microsoft.com/office/drawing/2014/main" id="{0770DF43-F769-9740-9FF7-040471A010B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30162" y="3108960"/>
              <a:ext cx="711200" cy="711200"/>
            </a:xfrm>
            <a:prstGeom prst="rect">
              <a:avLst/>
            </a:prstGeom>
          </p:spPr>
        </p:pic>
        <p:pic>
          <p:nvPicPr>
            <p:cNvPr id="28" name="Graphic 27">
              <a:extLst>
                <a:ext uri="{FF2B5EF4-FFF2-40B4-BE49-F238E27FC236}">
                  <a16:creationId xmlns:a16="http://schemas.microsoft.com/office/drawing/2014/main" id="{F4C2B7D8-41E8-AB4E-A0FC-0DFC8AE5E36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92640" y="3108960"/>
              <a:ext cx="711200" cy="711200"/>
            </a:xfrm>
            <a:prstGeom prst="rect">
              <a:avLst/>
            </a:prstGeom>
          </p:spPr>
        </p:pic>
        <p:pic>
          <p:nvPicPr>
            <p:cNvPr id="29" name="Graphic 28">
              <a:extLst>
                <a:ext uri="{FF2B5EF4-FFF2-40B4-BE49-F238E27FC236}">
                  <a16:creationId xmlns:a16="http://schemas.microsoft.com/office/drawing/2014/main" id="{F28C9015-696E-B64C-AB86-98805962E1CC}"/>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07444" y="3108960"/>
              <a:ext cx="711200" cy="711200"/>
            </a:xfrm>
            <a:prstGeom prst="rect">
              <a:avLst/>
            </a:prstGeom>
          </p:spPr>
        </p:pic>
        <p:pic>
          <p:nvPicPr>
            <p:cNvPr id="31" name="Graphic 30">
              <a:extLst>
                <a:ext uri="{FF2B5EF4-FFF2-40B4-BE49-F238E27FC236}">
                  <a16:creationId xmlns:a16="http://schemas.microsoft.com/office/drawing/2014/main" id="{95687B1B-A788-4749-B9D8-7CC5B4524200}"/>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34069" y="4937760"/>
              <a:ext cx="711200" cy="711200"/>
            </a:xfrm>
            <a:prstGeom prst="rect">
              <a:avLst/>
            </a:prstGeom>
          </p:spPr>
        </p:pic>
      </p:grpSp>
      <p:sp>
        <p:nvSpPr>
          <p:cNvPr id="32" name="TextBox 31">
            <a:extLst>
              <a:ext uri="{FF2B5EF4-FFF2-40B4-BE49-F238E27FC236}">
                <a16:creationId xmlns:a16="http://schemas.microsoft.com/office/drawing/2014/main" id="{66B140F6-4831-9244-9196-77012FEA7B09}"/>
              </a:ext>
            </a:extLst>
          </p:cNvPr>
          <p:cNvSpPr txBox="1"/>
          <p:nvPr/>
        </p:nvSpPr>
        <p:spPr>
          <a:xfrm>
            <a:off x="5826525" y="5659465"/>
            <a:ext cx="2301904"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Simple Storage Service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Glacier</a:t>
            </a:r>
          </a:p>
        </p:txBody>
      </p:sp>
      <p:pic>
        <p:nvPicPr>
          <p:cNvPr id="36" name="Picture 35">
            <a:extLst>
              <a:ext uri="{FF2B5EF4-FFF2-40B4-BE49-F238E27FC236}">
                <a16:creationId xmlns:a16="http://schemas.microsoft.com/office/drawing/2014/main" id="{1016A4DB-0173-2445-A6C9-B54A39F67EF5}"/>
              </a:ext>
              <a:ext uri="{C183D7F6-B498-43B3-948B-1728B52AA6E4}">
                <adec:decorative xmlns:adec="http://schemas.microsoft.com/office/drawing/2017/decorative" val="1"/>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548640" y="1645920"/>
            <a:ext cx="3657600" cy="2743200"/>
          </a:xfrm>
          <a:prstGeom prst="rect">
            <a:avLst/>
          </a:prstGeom>
        </p:spPr>
      </p:pic>
      <p:sp>
        <p:nvSpPr>
          <p:cNvPr id="37" name="Footer Placeholder 3">
            <a:extLst>
              <a:ext uri="{FF2B5EF4-FFF2-40B4-BE49-F238E27FC236}">
                <a16:creationId xmlns:a16="http://schemas.microsoft.com/office/drawing/2014/main" id="{8FB6F866-474F-6942-9BCE-AD7FBF7BE088}"/>
              </a:ext>
              <a:ext uri="{C183D7F6-B498-43B3-948B-1728B52AA6E4}">
                <adec:decorative xmlns:adec="http://schemas.microsoft.com/office/drawing/2017/decorative" val="1"/>
              </a:ext>
            </a:extLst>
          </p:cNvPr>
          <p:cNvSpPr txBox="1">
            <a:spLocks/>
          </p:cNvSpPr>
          <p:nvPr/>
        </p:nvSpPr>
        <p:spPr>
          <a:xfrm>
            <a:off x="419101" y="4463771"/>
            <a:ext cx="4055556" cy="179217"/>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from https://</a:t>
            </a:r>
            <a:r>
              <a:rPr lang="en-US" dirty="0" err="1"/>
              <a:t>www.pexels.com</a:t>
            </a:r>
            <a:r>
              <a:rPr lang="en-US" dirty="0"/>
              <a:t>/photo/black-and-grey-device-159282/</a:t>
            </a:r>
          </a:p>
        </p:txBody>
      </p:sp>
    </p:spTree>
    <p:custDataLst>
      <p:tags r:id="rId1"/>
    </p:custDataLst>
    <p:extLst>
      <p:ext uri="{BB962C8B-B14F-4D97-AF65-F5344CB8AC3E}">
        <p14:creationId xmlns:p14="http://schemas.microsoft.com/office/powerpoint/2010/main" val="966340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01D3DC-FEC8-1019-BB99-69D1C224CB2F}"/>
              </a:ext>
            </a:extLst>
          </p:cNvPr>
          <p:cNvSpPr>
            <a:spLocks noGrp="1"/>
          </p:cNvSpPr>
          <p:nvPr>
            <p:ph type="sldNum" sz="quarter" idx="20"/>
          </p:nvPr>
        </p:nvSpPr>
        <p:spPr/>
        <p:txBody>
          <a:bodyPr/>
          <a:lstStyle/>
          <a:p>
            <a:fld id="{930176A1-BCF0-4712-97A6-6B495F55390B}" type="slidenum">
              <a:rPr lang="en-US" smtClean="0"/>
              <a:t>13</a:t>
            </a:fld>
            <a:endParaRPr lang="en-US"/>
          </a:p>
        </p:txBody>
      </p:sp>
      <p:sp>
        <p:nvSpPr>
          <p:cNvPr id="2" name="Title 1">
            <a:extLst>
              <a:ext uri="{FF2B5EF4-FFF2-40B4-BE49-F238E27FC236}">
                <a16:creationId xmlns:a16="http://schemas.microsoft.com/office/drawing/2014/main" id="{8022C665-1496-E04B-9833-4210992DF353}"/>
              </a:ext>
            </a:extLst>
          </p:cNvPr>
          <p:cNvSpPr>
            <a:spLocks noGrp="1"/>
          </p:cNvSpPr>
          <p:nvPr>
            <p:ph type="title"/>
          </p:nvPr>
        </p:nvSpPr>
        <p:spPr/>
        <p:txBody>
          <a:bodyPr>
            <a:normAutofit fontScale="90000"/>
          </a:bodyPr>
          <a:lstStyle/>
          <a:p>
            <a:r>
              <a:rPr lang="en-US" dirty="0"/>
              <a:t>Compute service category</a:t>
            </a:r>
          </a:p>
        </p:txBody>
      </p:sp>
      <p:sp>
        <p:nvSpPr>
          <p:cNvPr id="24" name="TextBox 23">
            <a:extLst>
              <a:ext uri="{FF2B5EF4-FFF2-40B4-BE49-F238E27FC236}">
                <a16:creationId xmlns:a16="http://schemas.microsoft.com/office/drawing/2014/main" id="{9B76C446-310D-D844-BD03-DEB6DCF1FF8F}"/>
              </a:ext>
            </a:extLst>
          </p:cNvPr>
          <p:cNvSpPr txBox="1"/>
          <p:nvPr/>
        </p:nvSpPr>
        <p:spPr>
          <a:xfrm>
            <a:off x="7516860" y="1767840"/>
            <a:ext cx="3425938" cy="461665"/>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Compute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6" name="TextBox 5">
            <a:extLst>
              <a:ext uri="{FF2B5EF4-FFF2-40B4-BE49-F238E27FC236}">
                <a16:creationId xmlns:a16="http://schemas.microsoft.com/office/drawing/2014/main" id="{73E783F2-02D4-E640-B7D7-06500347C1CA}"/>
              </a:ext>
            </a:extLst>
          </p:cNvPr>
          <p:cNvSpPr txBox="1"/>
          <p:nvPr/>
        </p:nvSpPr>
        <p:spPr>
          <a:xfrm>
            <a:off x="5114103" y="3833271"/>
            <a:ext cx="1513305"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EC2</a:t>
            </a:r>
          </a:p>
        </p:txBody>
      </p:sp>
      <p:sp>
        <p:nvSpPr>
          <p:cNvPr id="9" name="TextBox 8">
            <a:extLst>
              <a:ext uri="{FF2B5EF4-FFF2-40B4-BE49-F238E27FC236}">
                <a16:creationId xmlns:a16="http://schemas.microsoft.com/office/drawing/2014/main" id="{2134AB42-E5B9-534F-91C3-CC6235D69904}"/>
              </a:ext>
            </a:extLst>
          </p:cNvPr>
          <p:cNvSpPr txBox="1"/>
          <p:nvPr/>
        </p:nvSpPr>
        <p:spPr>
          <a:xfrm>
            <a:off x="6859985" y="3821998"/>
            <a:ext cx="135239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EC2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Auto Scaling</a:t>
            </a:r>
          </a:p>
        </p:txBody>
      </p:sp>
      <p:sp>
        <p:nvSpPr>
          <p:cNvPr id="11" name="TextBox 10">
            <a:extLst>
              <a:ext uri="{FF2B5EF4-FFF2-40B4-BE49-F238E27FC236}">
                <a16:creationId xmlns:a16="http://schemas.microsoft.com/office/drawing/2014/main" id="{305E3A61-31C5-CF4E-95BD-700D125AEE04}"/>
              </a:ext>
            </a:extLst>
          </p:cNvPr>
          <p:cNvSpPr txBox="1"/>
          <p:nvPr/>
        </p:nvSpPr>
        <p:spPr>
          <a:xfrm>
            <a:off x="8287575" y="3789560"/>
            <a:ext cx="1828060"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Elastic Container Service (Amazon ECS)</a:t>
            </a:r>
          </a:p>
        </p:txBody>
      </p:sp>
      <p:sp>
        <p:nvSpPr>
          <p:cNvPr id="13" name="TextBox 12">
            <a:extLst>
              <a:ext uri="{FF2B5EF4-FFF2-40B4-BE49-F238E27FC236}">
                <a16:creationId xmlns:a16="http://schemas.microsoft.com/office/drawing/2014/main" id="{7FF9B5EE-18FB-7E40-A786-5E3182319AD9}"/>
              </a:ext>
            </a:extLst>
          </p:cNvPr>
          <p:cNvSpPr txBox="1"/>
          <p:nvPr/>
        </p:nvSpPr>
        <p:spPr>
          <a:xfrm>
            <a:off x="5194561" y="5642359"/>
            <a:ext cx="135239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Elastic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Beanstalk</a:t>
            </a:r>
          </a:p>
        </p:txBody>
      </p:sp>
      <p:sp>
        <p:nvSpPr>
          <p:cNvPr id="15" name="TextBox 14">
            <a:extLst>
              <a:ext uri="{FF2B5EF4-FFF2-40B4-BE49-F238E27FC236}">
                <a16:creationId xmlns:a16="http://schemas.microsoft.com/office/drawing/2014/main" id="{B1410AB9-7F99-4F43-89CA-988B0920A106}"/>
              </a:ext>
            </a:extLst>
          </p:cNvPr>
          <p:cNvSpPr txBox="1"/>
          <p:nvPr/>
        </p:nvSpPr>
        <p:spPr>
          <a:xfrm>
            <a:off x="6859984" y="5674588"/>
            <a:ext cx="135239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Lambda</a:t>
            </a:r>
          </a:p>
        </p:txBody>
      </p:sp>
      <p:sp>
        <p:nvSpPr>
          <p:cNvPr id="17" name="TextBox 16">
            <a:extLst>
              <a:ext uri="{FF2B5EF4-FFF2-40B4-BE49-F238E27FC236}">
                <a16:creationId xmlns:a16="http://schemas.microsoft.com/office/drawing/2014/main" id="{8FE0FDC4-1758-FA49-8759-2D569358BBA4}"/>
              </a:ext>
            </a:extLst>
          </p:cNvPr>
          <p:cNvSpPr txBox="1"/>
          <p:nvPr/>
        </p:nvSpPr>
        <p:spPr>
          <a:xfrm>
            <a:off x="8173560" y="5664437"/>
            <a:ext cx="1994145"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Elastic Kubernetes Service (Amazon EKS)</a:t>
            </a:r>
            <a:endParaRPr lang="en-US" sz="12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8" name="Picture 27">
            <a:extLst>
              <a:ext uri="{FF2B5EF4-FFF2-40B4-BE49-F238E27FC236}">
                <a16:creationId xmlns:a16="http://schemas.microsoft.com/office/drawing/2014/main" id="{F95B9AD2-D45D-524D-9466-71B826040B6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8640" y="1645920"/>
            <a:ext cx="3775587" cy="2560320"/>
          </a:xfrm>
          <a:prstGeom prst="rect">
            <a:avLst/>
          </a:prstGeom>
        </p:spPr>
      </p:pic>
      <p:sp>
        <p:nvSpPr>
          <p:cNvPr id="29" name="Footer Placeholder 3">
            <a:extLst>
              <a:ext uri="{FF2B5EF4-FFF2-40B4-BE49-F238E27FC236}">
                <a16:creationId xmlns:a16="http://schemas.microsoft.com/office/drawing/2014/main" id="{A47F20A5-7E8A-1F42-BA35-AE435D152481}"/>
              </a:ext>
              <a:ext uri="{C183D7F6-B498-43B3-948B-1728B52AA6E4}">
                <adec:decorative xmlns:adec="http://schemas.microsoft.com/office/drawing/2017/decorative" val="1"/>
              </a:ext>
            </a:extLst>
          </p:cNvPr>
          <p:cNvSpPr txBox="1">
            <a:spLocks/>
          </p:cNvSpPr>
          <p:nvPr/>
        </p:nvSpPr>
        <p:spPr>
          <a:xfrm>
            <a:off x="480659" y="4206240"/>
            <a:ext cx="4196781" cy="463930"/>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from https://</a:t>
            </a:r>
            <a:r>
              <a:rPr lang="en-US" dirty="0" err="1"/>
              <a:t>www.pexels.com</a:t>
            </a:r>
            <a:r>
              <a:rPr lang="en-US" dirty="0"/>
              <a:t>/photo/technology-computer-lines-board-50711/</a:t>
            </a:r>
          </a:p>
        </p:txBody>
      </p:sp>
      <p:sp>
        <p:nvSpPr>
          <p:cNvPr id="26" name="TextBox 25">
            <a:extLst>
              <a:ext uri="{FF2B5EF4-FFF2-40B4-BE49-F238E27FC236}">
                <a16:creationId xmlns:a16="http://schemas.microsoft.com/office/drawing/2014/main" id="{7B65081C-4504-6541-9B6A-EF386C3DD8D3}"/>
              </a:ext>
            </a:extLst>
          </p:cNvPr>
          <p:cNvSpPr txBox="1"/>
          <p:nvPr/>
        </p:nvSpPr>
        <p:spPr>
          <a:xfrm>
            <a:off x="10197653" y="3833271"/>
            <a:ext cx="1859765"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EC2 Container Registry</a:t>
            </a:r>
          </a:p>
        </p:txBody>
      </p:sp>
      <p:sp>
        <p:nvSpPr>
          <p:cNvPr id="30" name="TextBox 29">
            <a:extLst>
              <a:ext uri="{FF2B5EF4-FFF2-40B4-BE49-F238E27FC236}">
                <a16:creationId xmlns:a16="http://schemas.microsoft.com/office/drawing/2014/main" id="{FE7CEDAE-DE31-644E-A34E-3A2669C8510A}"/>
              </a:ext>
            </a:extLst>
          </p:cNvPr>
          <p:cNvSpPr txBox="1"/>
          <p:nvPr/>
        </p:nvSpPr>
        <p:spPr>
          <a:xfrm>
            <a:off x="10340340" y="5697840"/>
            <a:ext cx="135239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t>
            </a:r>
            <a:r>
              <a:rPr lang="en-US" sz="1600" dirty="0" err="1">
                <a:latin typeface="Amazon Ember" panose="020B0603020204020204" pitchFamily="34" charset="0"/>
                <a:ea typeface="Amazon Ember" panose="020B0603020204020204" pitchFamily="34" charset="0"/>
                <a:cs typeface="Amazon Ember" panose="020B0603020204020204" pitchFamily="34" charset="0"/>
              </a:rPr>
              <a:t>Fargate</a:t>
            </a:r>
            <a:endParaRPr lang="en-US" sz="1600"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8" name="Group 7">
            <a:extLst>
              <a:ext uri="{FF2B5EF4-FFF2-40B4-BE49-F238E27FC236}">
                <a16:creationId xmlns:a16="http://schemas.microsoft.com/office/drawing/2014/main" id="{FFD36E2B-481C-1D88-6057-AD817D9EDEC9}"/>
              </a:ext>
              <a:ext uri="{C183D7F6-B498-43B3-948B-1728B52AA6E4}">
                <adec:decorative xmlns:adec="http://schemas.microsoft.com/office/drawing/2017/decorative" val="1"/>
              </a:ext>
            </a:extLst>
          </p:cNvPr>
          <p:cNvGrpSpPr/>
          <p:nvPr/>
        </p:nvGrpSpPr>
        <p:grpSpPr>
          <a:xfrm>
            <a:off x="5484185" y="1645920"/>
            <a:ext cx="5955787" cy="4028668"/>
            <a:chOff x="5484185" y="1645920"/>
            <a:chExt cx="5955787" cy="4028668"/>
          </a:xfrm>
        </p:grpSpPr>
        <p:pic>
          <p:nvPicPr>
            <p:cNvPr id="5" name="Graphic 4">
              <a:extLst>
                <a:ext uri="{FF2B5EF4-FFF2-40B4-BE49-F238E27FC236}">
                  <a16:creationId xmlns:a16="http://schemas.microsoft.com/office/drawing/2014/main" id="{467476B8-F9E0-204D-9D5F-CF449329187D}"/>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83680" y="1645920"/>
              <a:ext cx="952500" cy="952500"/>
            </a:xfrm>
            <a:prstGeom prst="rect">
              <a:avLst/>
            </a:prstGeom>
          </p:spPr>
        </p:pic>
        <p:pic>
          <p:nvPicPr>
            <p:cNvPr id="7" name="Graphic 6">
              <a:extLst>
                <a:ext uri="{FF2B5EF4-FFF2-40B4-BE49-F238E27FC236}">
                  <a16:creationId xmlns:a16="http://schemas.microsoft.com/office/drawing/2014/main" id="{07C8713D-BF19-814C-A7A6-88AB7C2F7BF1}"/>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0" y="3108960"/>
              <a:ext cx="711200" cy="711200"/>
            </a:xfrm>
            <a:prstGeom prst="rect">
              <a:avLst/>
            </a:prstGeom>
          </p:spPr>
        </p:pic>
        <p:pic>
          <p:nvPicPr>
            <p:cNvPr id="10" name="Graphic 9">
              <a:extLst>
                <a:ext uri="{FF2B5EF4-FFF2-40B4-BE49-F238E27FC236}">
                  <a16:creationId xmlns:a16="http://schemas.microsoft.com/office/drawing/2014/main" id="{B83AC237-52BF-1D42-A9AA-92AED9A91133}"/>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49609" y="3108960"/>
              <a:ext cx="711200" cy="711200"/>
            </a:xfrm>
            <a:prstGeom prst="rect">
              <a:avLst/>
            </a:prstGeom>
          </p:spPr>
        </p:pic>
        <p:pic>
          <p:nvPicPr>
            <p:cNvPr id="12" name="Graphic 11">
              <a:extLst>
                <a:ext uri="{FF2B5EF4-FFF2-40B4-BE49-F238E27FC236}">
                  <a16:creationId xmlns:a16="http://schemas.microsoft.com/office/drawing/2014/main" id="{AB85EAA8-3311-5D47-AF6F-A69CB7902773}"/>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15033" y="3108960"/>
              <a:ext cx="711200" cy="711200"/>
            </a:xfrm>
            <a:prstGeom prst="rect">
              <a:avLst/>
            </a:prstGeom>
          </p:spPr>
        </p:pic>
        <p:pic>
          <p:nvPicPr>
            <p:cNvPr id="14" name="Graphic 13">
              <a:extLst>
                <a:ext uri="{FF2B5EF4-FFF2-40B4-BE49-F238E27FC236}">
                  <a16:creationId xmlns:a16="http://schemas.microsoft.com/office/drawing/2014/main" id="{D18A85BB-3AAC-9642-AEC9-2EF03139119F}"/>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84185" y="4937760"/>
              <a:ext cx="711200" cy="711200"/>
            </a:xfrm>
            <a:prstGeom prst="rect">
              <a:avLst/>
            </a:prstGeom>
          </p:spPr>
        </p:pic>
        <p:pic>
          <p:nvPicPr>
            <p:cNvPr id="16" name="Graphic 15">
              <a:extLst>
                <a:ext uri="{FF2B5EF4-FFF2-40B4-BE49-F238E27FC236}">
                  <a16:creationId xmlns:a16="http://schemas.microsoft.com/office/drawing/2014/main" id="{6AEFBB74-E736-3141-AE1E-936FF86B5666}"/>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149609" y="4937760"/>
              <a:ext cx="711200" cy="711200"/>
            </a:xfrm>
            <a:prstGeom prst="rect">
              <a:avLst/>
            </a:prstGeom>
          </p:spPr>
        </p:pic>
        <p:pic>
          <p:nvPicPr>
            <p:cNvPr id="18" name="Graphic 17">
              <a:extLst>
                <a:ext uri="{FF2B5EF4-FFF2-40B4-BE49-F238E27FC236}">
                  <a16:creationId xmlns:a16="http://schemas.microsoft.com/office/drawing/2014/main" id="{0FFE239B-41D2-0549-AB6C-2F8FFC05E9EB}"/>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815033" y="4937760"/>
              <a:ext cx="711200" cy="711200"/>
            </a:xfrm>
            <a:prstGeom prst="rect">
              <a:avLst/>
            </a:prstGeom>
          </p:spPr>
        </p:pic>
        <p:pic>
          <p:nvPicPr>
            <p:cNvPr id="27" name="Graphic 26">
              <a:extLst>
                <a:ext uri="{FF2B5EF4-FFF2-40B4-BE49-F238E27FC236}">
                  <a16:creationId xmlns:a16="http://schemas.microsoft.com/office/drawing/2014/main" id="{18997595-C48E-754B-A7AF-5F93BA7B74F1}"/>
                </a:ext>
                <a:ext uri="{C183D7F6-B498-43B3-948B-1728B52AA6E4}">
                  <adec:decorative xmlns:adec="http://schemas.microsoft.com/office/drawing/2017/decorative" val="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728772" y="3108960"/>
              <a:ext cx="711200" cy="711200"/>
            </a:xfrm>
            <a:prstGeom prst="rect">
              <a:avLst/>
            </a:prstGeom>
          </p:spPr>
        </p:pic>
        <p:pic>
          <p:nvPicPr>
            <p:cNvPr id="31" name="Graphic 30">
              <a:extLst>
                <a:ext uri="{FF2B5EF4-FFF2-40B4-BE49-F238E27FC236}">
                  <a16:creationId xmlns:a16="http://schemas.microsoft.com/office/drawing/2014/main" id="{CF61E6DB-5A07-E54A-BF98-CD97D72D9F41}"/>
                </a:ext>
                <a:ext uri="{C183D7F6-B498-43B3-948B-1728B52AA6E4}">
                  <adec:decorative xmlns:adec="http://schemas.microsoft.com/office/drawing/2017/decorative" val="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685448" y="4963388"/>
              <a:ext cx="711200" cy="711200"/>
            </a:xfrm>
            <a:prstGeom prst="rect">
              <a:avLst/>
            </a:prstGeom>
          </p:spPr>
        </p:pic>
      </p:grpSp>
    </p:spTree>
    <p:custDataLst>
      <p:tags r:id="rId1"/>
    </p:custDataLst>
    <p:extLst>
      <p:ext uri="{BB962C8B-B14F-4D97-AF65-F5344CB8AC3E}">
        <p14:creationId xmlns:p14="http://schemas.microsoft.com/office/powerpoint/2010/main" val="60880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6EDAE2-DD84-0741-8437-A782FBC8E5AF}"/>
              </a:ext>
            </a:extLst>
          </p:cNvPr>
          <p:cNvSpPr>
            <a:spLocks noGrp="1"/>
          </p:cNvSpPr>
          <p:nvPr>
            <p:ph type="sldNum" sz="quarter" idx="20"/>
          </p:nvPr>
        </p:nvSpPr>
        <p:spPr/>
        <p:txBody>
          <a:bodyPr/>
          <a:lstStyle/>
          <a:p>
            <a:fld id="{930176A1-BCF0-4712-97A6-6B495F55390B}" type="slidenum">
              <a:rPr lang="en-US" smtClean="0"/>
              <a:t>14</a:t>
            </a:fld>
            <a:endParaRPr lang="en-US"/>
          </a:p>
        </p:txBody>
      </p:sp>
      <p:sp>
        <p:nvSpPr>
          <p:cNvPr id="2" name="Title 1">
            <a:extLst>
              <a:ext uri="{FF2B5EF4-FFF2-40B4-BE49-F238E27FC236}">
                <a16:creationId xmlns:a16="http://schemas.microsoft.com/office/drawing/2014/main" id="{BA344AC1-0E26-F949-B275-265A0C4F157F}"/>
              </a:ext>
            </a:extLst>
          </p:cNvPr>
          <p:cNvSpPr>
            <a:spLocks noGrp="1"/>
          </p:cNvSpPr>
          <p:nvPr>
            <p:ph type="title"/>
          </p:nvPr>
        </p:nvSpPr>
        <p:spPr/>
        <p:txBody>
          <a:bodyPr>
            <a:normAutofit fontScale="90000"/>
          </a:bodyPr>
          <a:lstStyle/>
          <a:p>
            <a:r>
              <a:rPr lang="en-US" dirty="0"/>
              <a:t>Database service category</a:t>
            </a:r>
          </a:p>
        </p:txBody>
      </p:sp>
      <p:sp>
        <p:nvSpPr>
          <p:cNvPr id="23" name="TextBox 22">
            <a:extLst>
              <a:ext uri="{FF2B5EF4-FFF2-40B4-BE49-F238E27FC236}">
                <a16:creationId xmlns:a16="http://schemas.microsoft.com/office/drawing/2014/main" id="{EBC4E005-B8AD-0C41-9D04-B965E9E6DCE1}"/>
              </a:ext>
            </a:extLst>
          </p:cNvPr>
          <p:cNvSpPr txBox="1"/>
          <p:nvPr/>
        </p:nvSpPr>
        <p:spPr>
          <a:xfrm>
            <a:off x="7485888" y="1767840"/>
            <a:ext cx="3448380" cy="461665"/>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Database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25" name="TextBox 24">
            <a:extLst>
              <a:ext uri="{FF2B5EF4-FFF2-40B4-BE49-F238E27FC236}">
                <a16:creationId xmlns:a16="http://schemas.microsoft.com/office/drawing/2014/main" id="{9E3B7899-2698-8649-9ED8-099DFA657624}"/>
              </a:ext>
            </a:extLst>
          </p:cNvPr>
          <p:cNvSpPr txBox="1"/>
          <p:nvPr/>
        </p:nvSpPr>
        <p:spPr>
          <a:xfrm>
            <a:off x="4868703" y="3818578"/>
            <a:ext cx="194758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Relational Database Service</a:t>
            </a:r>
          </a:p>
        </p:txBody>
      </p:sp>
      <p:sp>
        <p:nvSpPr>
          <p:cNvPr id="27" name="TextBox 26">
            <a:extLst>
              <a:ext uri="{FF2B5EF4-FFF2-40B4-BE49-F238E27FC236}">
                <a16:creationId xmlns:a16="http://schemas.microsoft.com/office/drawing/2014/main" id="{E76A11BC-CE21-2E43-8B1D-9EDFB69F8E0F}"/>
              </a:ext>
            </a:extLst>
          </p:cNvPr>
          <p:cNvSpPr txBox="1"/>
          <p:nvPr/>
        </p:nvSpPr>
        <p:spPr>
          <a:xfrm>
            <a:off x="7157495" y="3818578"/>
            <a:ext cx="1657401"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Aurora</a:t>
            </a:r>
          </a:p>
        </p:txBody>
      </p:sp>
      <p:sp>
        <p:nvSpPr>
          <p:cNvPr id="29" name="TextBox 28">
            <a:extLst>
              <a:ext uri="{FF2B5EF4-FFF2-40B4-BE49-F238E27FC236}">
                <a16:creationId xmlns:a16="http://schemas.microsoft.com/office/drawing/2014/main" id="{B64A410A-048B-0245-908E-E61AB4B3A32A}"/>
              </a:ext>
            </a:extLst>
          </p:cNvPr>
          <p:cNvSpPr txBox="1"/>
          <p:nvPr/>
        </p:nvSpPr>
        <p:spPr>
          <a:xfrm>
            <a:off x="6263996" y="5491579"/>
            <a:ext cx="150655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DynamoDB</a:t>
            </a:r>
          </a:p>
        </p:txBody>
      </p:sp>
      <p:sp>
        <p:nvSpPr>
          <p:cNvPr id="31" name="TextBox 30">
            <a:extLst>
              <a:ext uri="{FF2B5EF4-FFF2-40B4-BE49-F238E27FC236}">
                <a16:creationId xmlns:a16="http://schemas.microsoft.com/office/drawing/2014/main" id="{C48EE7FB-79B1-8E40-AC10-BB13CCBE0961}"/>
              </a:ext>
            </a:extLst>
          </p:cNvPr>
          <p:cNvSpPr txBox="1"/>
          <p:nvPr/>
        </p:nvSpPr>
        <p:spPr>
          <a:xfrm>
            <a:off x="9202762" y="3843168"/>
            <a:ext cx="165740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Redshift</a:t>
            </a:r>
          </a:p>
        </p:txBody>
      </p:sp>
      <p:grpSp>
        <p:nvGrpSpPr>
          <p:cNvPr id="5" name="Group 4">
            <a:extLst>
              <a:ext uri="{FF2B5EF4-FFF2-40B4-BE49-F238E27FC236}">
                <a16:creationId xmlns:a16="http://schemas.microsoft.com/office/drawing/2014/main" id="{FE361AFC-1C4A-F22B-0E61-E0209EFA9D74}"/>
              </a:ext>
              <a:ext uri="{C183D7F6-B498-43B3-948B-1728B52AA6E4}">
                <adec:decorative xmlns:adec="http://schemas.microsoft.com/office/drawing/2017/decorative" val="1"/>
              </a:ext>
            </a:extLst>
          </p:cNvPr>
          <p:cNvGrpSpPr/>
          <p:nvPr/>
        </p:nvGrpSpPr>
        <p:grpSpPr>
          <a:xfrm>
            <a:off x="5486400" y="1645920"/>
            <a:ext cx="4917440" cy="3822651"/>
            <a:chOff x="5486400" y="1645920"/>
            <a:chExt cx="4917440" cy="3822651"/>
          </a:xfrm>
        </p:grpSpPr>
        <p:pic>
          <p:nvPicPr>
            <p:cNvPr id="24" name="Graphic 23">
              <a:extLst>
                <a:ext uri="{FF2B5EF4-FFF2-40B4-BE49-F238E27FC236}">
                  <a16:creationId xmlns:a16="http://schemas.microsoft.com/office/drawing/2014/main" id="{1F56F32F-009F-C945-B93B-3160EE4ADA2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3680" y="1645920"/>
              <a:ext cx="952500" cy="952500"/>
            </a:xfrm>
            <a:prstGeom prst="rect">
              <a:avLst/>
            </a:prstGeom>
          </p:spPr>
        </p:pic>
        <p:pic>
          <p:nvPicPr>
            <p:cNvPr id="26" name="Graphic 25">
              <a:extLst>
                <a:ext uri="{FF2B5EF4-FFF2-40B4-BE49-F238E27FC236}">
                  <a16:creationId xmlns:a16="http://schemas.microsoft.com/office/drawing/2014/main" id="{10E4F61B-9CA4-4143-9D46-0CDA64F4308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86400" y="3108960"/>
              <a:ext cx="711200" cy="711200"/>
            </a:xfrm>
            <a:prstGeom prst="rect">
              <a:avLst/>
            </a:prstGeom>
          </p:spPr>
        </p:pic>
        <p:pic>
          <p:nvPicPr>
            <p:cNvPr id="28" name="Graphic 27">
              <a:extLst>
                <a:ext uri="{FF2B5EF4-FFF2-40B4-BE49-F238E27FC236}">
                  <a16:creationId xmlns:a16="http://schemas.microsoft.com/office/drawing/2014/main" id="{C99C7997-E425-9744-9A2D-E3E62A0470D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32192" y="3108960"/>
              <a:ext cx="711200" cy="711200"/>
            </a:xfrm>
            <a:prstGeom prst="rect">
              <a:avLst/>
            </a:prstGeom>
          </p:spPr>
        </p:pic>
        <p:pic>
          <p:nvPicPr>
            <p:cNvPr id="30" name="Graphic 29">
              <a:extLst>
                <a:ext uri="{FF2B5EF4-FFF2-40B4-BE49-F238E27FC236}">
                  <a16:creationId xmlns:a16="http://schemas.microsoft.com/office/drawing/2014/main" id="{B9F850C2-16F8-514E-B346-BFC0BE5F6F17}"/>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85134" y="4757371"/>
              <a:ext cx="711200" cy="711200"/>
            </a:xfrm>
            <a:prstGeom prst="rect">
              <a:avLst/>
            </a:prstGeom>
          </p:spPr>
        </p:pic>
        <p:pic>
          <p:nvPicPr>
            <p:cNvPr id="32" name="Graphic 31">
              <a:extLst>
                <a:ext uri="{FF2B5EF4-FFF2-40B4-BE49-F238E27FC236}">
                  <a16:creationId xmlns:a16="http://schemas.microsoft.com/office/drawing/2014/main" id="{FFED9F67-019A-2D4B-B61E-C0C81535BFB6}"/>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92640" y="3108960"/>
              <a:ext cx="711200" cy="711200"/>
            </a:xfrm>
            <a:prstGeom prst="rect">
              <a:avLst/>
            </a:prstGeom>
          </p:spPr>
        </p:pic>
      </p:grpSp>
      <p:pic>
        <p:nvPicPr>
          <p:cNvPr id="39" name="Picture 38">
            <a:extLst>
              <a:ext uri="{FF2B5EF4-FFF2-40B4-BE49-F238E27FC236}">
                <a16:creationId xmlns:a16="http://schemas.microsoft.com/office/drawing/2014/main" id="{16662EF0-FCD1-024C-95E4-8DF782F721D4}"/>
              </a:ext>
              <a:ext uri="{C183D7F6-B498-43B3-948B-1728B52AA6E4}">
                <adec:decorative xmlns:adec="http://schemas.microsoft.com/office/drawing/2017/decorative" val="1"/>
              </a:ext>
            </a:extLst>
          </p:cNvPr>
          <p:cNvPicPr>
            <a:picLocks noChangeAspect="1"/>
          </p:cNvPicPr>
          <p:nvPr/>
        </p:nvPicPr>
        <p:blipFill rotWithShape="1">
          <a:blip r:embed="rId14" cstate="screen">
            <a:extLst>
              <a:ext uri="{28A0092B-C50C-407E-A947-70E740481C1C}">
                <a14:useLocalDpi xmlns:a14="http://schemas.microsoft.com/office/drawing/2010/main"/>
              </a:ext>
            </a:extLst>
          </a:blip>
          <a:srcRect/>
          <a:stretch/>
        </p:blipFill>
        <p:spPr>
          <a:xfrm>
            <a:off x="552564" y="1635541"/>
            <a:ext cx="3200976" cy="4328715"/>
          </a:xfrm>
          <a:prstGeom prst="rect">
            <a:avLst/>
          </a:prstGeom>
        </p:spPr>
      </p:pic>
      <p:sp>
        <p:nvSpPr>
          <p:cNvPr id="40" name="Footer Placeholder 3">
            <a:extLst>
              <a:ext uri="{FF2B5EF4-FFF2-40B4-BE49-F238E27FC236}">
                <a16:creationId xmlns:a16="http://schemas.microsoft.com/office/drawing/2014/main" id="{32AFDBBA-C83B-9949-AE68-D04BCEC80960}"/>
              </a:ext>
              <a:ext uri="{C183D7F6-B498-43B3-948B-1728B52AA6E4}">
                <adec:decorative xmlns:adec="http://schemas.microsoft.com/office/drawing/2017/decorative" val="1"/>
              </a:ext>
            </a:extLst>
          </p:cNvPr>
          <p:cNvSpPr txBox="1">
            <a:spLocks/>
          </p:cNvSpPr>
          <p:nvPr/>
        </p:nvSpPr>
        <p:spPr>
          <a:xfrm>
            <a:off x="492682" y="5889144"/>
            <a:ext cx="4027635" cy="390306"/>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from https://aws.amazon.com/compliance/data-center/data-centers/</a:t>
            </a:r>
          </a:p>
        </p:txBody>
      </p:sp>
    </p:spTree>
    <p:custDataLst>
      <p:tags r:id="rId1"/>
    </p:custDataLst>
    <p:extLst>
      <p:ext uri="{BB962C8B-B14F-4D97-AF65-F5344CB8AC3E}">
        <p14:creationId xmlns:p14="http://schemas.microsoft.com/office/powerpoint/2010/main" val="1788199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B1F344-8D3E-9188-59F3-1A4CA8140A38}"/>
              </a:ext>
            </a:extLst>
          </p:cNvPr>
          <p:cNvSpPr>
            <a:spLocks noGrp="1"/>
          </p:cNvSpPr>
          <p:nvPr>
            <p:ph type="sldNum" sz="quarter" idx="20"/>
          </p:nvPr>
        </p:nvSpPr>
        <p:spPr/>
        <p:txBody>
          <a:bodyPr/>
          <a:lstStyle/>
          <a:p>
            <a:fld id="{930176A1-BCF0-4712-97A6-6B495F55390B}" type="slidenum">
              <a:rPr lang="en-US" smtClean="0"/>
              <a:t>15</a:t>
            </a:fld>
            <a:endParaRPr lang="en-US"/>
          </a:p>
        </p:txBody>
      </p:sp>
      <p:sp>
        <p:nvSpPr>
          <p:cNvPr id="2" name="Title 1">
            <a:extLst>
              <a:ext uri="{FF2B5EF4-FFF2-40B4-BE49-F238E27FC236}">
                <a16:creationId xmlns:a16="http://schemas.microsoft.com/office/drawing/2014/main" id="{E8C4FD52-EA54-004E-8361-0551952C0DF6}"/>
              </a:ext>
            </a:extLst>
          </p:cNvPr>
          <p:cNvSpPr>
            <a:spLocks noGrp="1"/>
          </p:cNvSpPr>
          <p:nvPr>
            <p:ph type="title"/>
          </p:nvPr>
        </p:nvSpPr>
        <p:spPr/>
        <p:txBody>
          <a:bodyPr>
            <a:normAutofit fontScale="90000"/>
          </a:bodyPr>
          <a:lstStyle/>
          <a:p>
            <a:r>
              <a:rPr lang="en-US" dirty="0"/>
              <a:t>Networking and content delivery service category</a:t>
            </a:r>
          </a:p>
        </p:txBody>
      </p:sp>
      <p:sp>
        <p:nvSpPr>
          <p:cNvPr id="23" name="TextBox 22">
            <a:extLst>
              <a:ext uri="{FF2B5EF4-FFF2-40B4-BE49-F238E27FC236}">
                <a16:creationId xmlns:a16="http://schemas.microsoft.com/office/drawing/2014/main" id="{E5356EDA-D0E9-D543-BBEB-1E67954F4427}"/>
              </a:ext>
            </a:extLst>
          </p:cNvPr>
          <p:cNvSpPr txBox="1"/>
          <p:nvPr/>
        </p:nvSpPr>
        <p:spPr>
          <a:xfrm>
            <a:off x="7473696" y="1755648"/>
            <a:ext cx="4342856" cy="830997"/>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networking </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and content delivery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25" name="TextBox 24">
            <a:extLst>
              <a:ext uri="{FF2B5EF4-FFF2-40B4-BE49-F238E27FC236}">
                <a16:creationId xmlns:a16="http://schemas.microsoft.com/office/drawing/2014/main" id="{6E9905E2-07ED-564F-8908-1A665E099B63}"/>
              </a:ext>
            </a:extLst>
          </p:cNvPr>
          <p:cNvSpPr txBox="1"/>
          <p:nvPr/>
        </p:nvSpPr>
        <p:spPr>
          <a:xfrm>
            <a:off x="4948428" y="3826115"/>
            <a:ext cx="1750977"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VPC</a:t>
            </a:r>
          </a:p>
        </p:txBody>
      </p:sp>
      <p:sp>
        <p:nvSpPr>
          <p:cNvPr id="27" name="TextBox 26">
            <a:extLst>
              <a:ext uri="{FF2B5EF4-FFF2-40B4-BE49-F238E27FC236}">
                <a16:creationId xmlns:a16="http://schemas.microsoft.com/office/drawing/2014/main" id="{4DDCCA6A-3A71-D94B-A074-14CD390BB5B9}"/>
              </a:ext>
            </a:extLst>
          </p:cNvPr>
          <p:cNvSpPr txBox="1"/>
          <p:nvPr/>
        </p:nvSpPr>
        <p:spPr>
          <a:xfrm>
            <a:off x="6773282" y="3837649"/>
            <a:ext cx="1593038"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Elastic Load Balancing</a:t>
            </a:r>
          </a:p>
        </p:txBody>
      </p:sp>
      <p:sp>
        <p:nvSpPr>
          <p:cNvPr id="29" name="TextBox 28">
            <a:extLst>
              <a:ext uri="{FF2B5EF4-FFF2-40B4-BE49-F238E27FC236}">
                <a16:creationId xmlns:a16="http://schemas.microsoft.com/office/drawing/2014/main" id="{DF4762DA-0EB5-CC46-91E8-BE5AEF003C36}"/>
              </a:ext>
            </a:extLst>
          </p:cNvPr>
          <p:cNvSpPr txBox="1"/>
          <p:nvPr/>
        </p:nvSpPr>
        <p:spPr>
          <a:xfrm>
            <a:off x="6840059" y="5670422"/>
            <a:ext cx="1435100"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Direct Connect</a:t>
            </a:r>
          </a:p>
        </p:txBody>
      </p:sp>
      <p:sp>
        <p:nvSpPr>
          <p:cNvPr id="31" name="TextBox 30">
            <a:extLst>
              <a:ext uri="{FF2B5EF4-FFF2-40B4-BE49-F238E27FC236}">
                <a16:creationId xmlns:a16="http://schemas.microsoft.com/office/drawing/2014/main" id="{BFE014C5-9B15-3B46-892D-34A95CEBFD93}"/>
              </a:ext>
            </a:extLst>
          </p:cNvPr>
          <p:cNvSpPr txBox="1"/>
          <p:nvPr/>
        </p:nvSpPr>
        <p:spPr>
          <a:xfrm>
            <a:off x="8613887" y="3836625"/>
            <a:ext cx="121930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CloudFront</a:t>
            </a:r>
          </a:p>
        </p:txBody>
      </p:sp>
      <p:sp>
        <p:nvSpPr>
          <p:cNvPr id="33" name="TextBox 32">
            <a:extLst>
              <a:ext uri="{FF2B5EF4-FFF2-40B4-BE49-F238E27FC236}">
                <a16:creationId xmlns:a16="http://schemas.microsoft.com/office/drawing/2014/main" id="{9C493014-3FC4-AD47-864B-53707B90E57D}"/>
              </a:ext>
            </a:extLst>
          </p:cNvPr>
          <p:cNvSpPr txBox="1"/>
          <p:nvPr/>
        </p:nvSpPr>
        <p:spPr>
          <a:xfrm>
            <a:off x="5299877" y="5661152"/>
            <a:ext cx="1101600"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Route 53</a:t>
            </a:r>
          </a:p>
        </p:txBody>
      </p:sp>
      <p:pic>
        <p:nvPicPr>
          <p:cNvPr id="38" name="Picture 37">
            <a:extLst>
              <a:ext uri="{FF2B5EF4-FFF2-40B4-BE49-F238E27FC236}">
                <a16:creationId xmlns:a16="http://schemas.microsoft.com/office/drawing/2014/main" id="{CF6E1BF3-7EA3-AE41-8837-EE6B4EE69EC9}"/>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5829" y="1684497"/>
            <a:ext cx="2926971" cy="4406900"/>
          </a:xfrm>
          <a:prstGeom prst="rect">
            <a:avLst/>
          </a:prstGeom>
        </p:spPr>
      </p:pic>
      <p:sp>
        <p:nvSpPr>
          <p:cNvPr id="39" name="Footer Placeholder 3">
            <a:extLst>
              <a:ext uri="{FF2B5EF4-FFF2-40B4-BE49-F238E27FC236}">
                <a16:creationId xmlns:a16="http://schemas.microsoft.com/office/drawing/2014/main" id="{E23CFD3D-DBDA-B34F-8CB7-BAF134F84583}"/>
              </a:ext>
              <a:ext uri="{C183D7F6-B498-43B3-948B-1728B52AA6E4}">
                <adec:decorative xmlns:adec="http://schemas.microsoft.com/office/drawing/2017/decorative" val="1"/>
              </a:ext>
            </a:extLst>
          </p:cNvPr>
          <p:cNvSpPr txBox="1">
            <a:spLocks/>
          </p:cNvSpPr>
          <p:nvPr/>
        </p:nvSpPr>
        <p:spPr>
          <a:xfrm>
            <a:off x="553515" y="6037919"/>
            <a:ext cx="3466692" cy="349964"/>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by Umberto on Unsplash</a:t>
            </a:r>
          </a:p>
        </p:txBody>
      </p:sp>
      <p:sp>
        <p:nvSpPr>
          <p:cNvPr id="20" name="TextBox 19">
            <a:extLst>
              <a:ext uri="{FF2B5EF4-FFF2-40B4-BE49-F238E27FC236}">
                <a16:creationId xmlns:a16="http://schemas.microsoft.com/office/drawing/2014/main" id="{BB6A90D6-F30F-AC46-92B3-61AC98C64B2A}"/>
              </a:ext>
            </a:extLst>
          </p:cNvPr>
          <p:cNvSpPr txBox="1"/>
          <p:nvPr/>
        </p:nvSpPr>
        <p:spPr>
          <a:xfrm>
            <a:off x="10149018" y="3838119"/>
            <a:ext cx="150655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Transit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Gateway </a:t>
            </a:r>
          </a:p>
        </p:txBody>
      </p:sp>
      <p:grpSp>
        <p:nvGrpSpPr>
          <p:cNvPr id="5" name="Group 4">
            <a:extLst>
              <a:ext uri="{FF2B5EF4-FFF2-40B4-BE49-F238E27FC236}">
                <a16:creationId xmlns:a16="http://schemas.microsoft.com/office/drawing/2014/main" id="{688DDBB1-2C35-CC60-851C-79604A41FC77}"/>
              </a:ext>
              <a:ext uri="{C183D7F6-B498-43B3-948B-1728B52AA6E4}">
                <adec:decorative xmlns:adec="http://schemas.microsoft.com/office/drawing/2017/decorative" val="1"/>
              </a:ext>
            </a:extLst>
          </p:cNvPr>
          <p:cNvGrpSpPr/>
          <p:nvPr/>
        </p:nvGrpSpPr>
        <p:grpSpPr>
          <a:xfrm>
            <a:off x="5486400" y="1645920"/>
            <a:ext cx="5777333" cy="4024502"/>
            <a:chOff x="5486400" y="1645920"/>
            <a:chExt cx="5777333" cy="4024502"/>
          </a:xfrm>
        </p:grpSpPr>
        <p:pic>
          <p:nvPicPr>
            <p:cNvPr id="24" name="Graphic 23">
              <a:extLst>
                <a:ext uri="{FF2B5EF4-FFF2-40B4-BE49-F238E27FC236}">
                  <a16:creationId xmlns:a16="http://schemas.microsoft.com/office/drawing/2014/main" id="{7F926598-9E96-E847-994F-B834679FFC7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83680" y="1645920"/>
              <a:ext cx="952500" cy="952500"/>
            </a:xfrm>
            <a:prstGeom prst="rect">
              <a:avLst/>
            </a:prstGeom>
          </p:spPr>
        </p:pic>
        <p:pic>
          <p:nvPicPr>
            <p:cNvPr id="26" name="Graphic 25">
              <a:extLst>
                <a:ext uri="{FF2B5EF4-FFF2-40B4-BE49-F238E27FC236}">
                  <a16:creationId xmlns:a16="http://schemas.microsoft.com/office/drawing/2014/main" id="{CAD9B01B-163A-EC40-92E4-31AD2D66A35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0" y="3108960"/>
              <a:ext cx="711200" cy="711200"/>
            </a:xfrm>
            <a:prstGeom prst="rect">
              <a:avLst/>
            </a:prstGeom>
          </p:spPr>
        </p:pic>
        <p:pic>
          <p:nvPicPr>
            <p:cNvPr id="28" name="Graphic 27">
              <a:extLst>
                <a:ext uri="{FF2B5EF4-FFF2-40B4-BE49-F238E27FC236}">
                  <a16:creationId xmlns:a16="http://schemas.microsoft.com/office/drawing/2014/main" id="{CFE589AE-51B0-B744-BC69-AA0AD82CAE3F}"/>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02009" y="3108960"/>
              <a:ext cx="711200" cy="711200"/>
            </a:xfrm>
            <a:prstGeom prst="rect">
              <a:avLst/>
            </a:prstGeom>
          </p:spPr>
        </p:pic>
        <p:pic>
          <p:nvPicPr>
            <p:cNvPr id="30" name="Graphic 29">
              <a:extLst>
                <a:ext uri="{FF2B5EF4-FFF2-40B4-BE49-F238E27FC236}">
                  <a16:creationId xmlns:a16="http://schemas.microsoft.com/office/drawing/2014/main" id="{586BB71A-AF7C-0D4B-A13C-F3CD6CBD75B9}"/>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02009" y="4937760"/>
              <a:ext cx="711200" cy="711200"/>
            </a:xfrm>
            <a:prstGeom prst="rect">
              <a:avLst/>
            </a:prstGeom>
          </p:spPr>
        </p:pic>
        <p:pic>
          <p:nvPicPr>
            <p:cNvPr id="32" name="Graphic 31">
              <a:extLst>
                <a:ext uri="{FF2B5EF4-FFF2-40B4-BE49-F238E27FC236}">
                  <a16:creationId xmlns:a16="http://schemas.microsoft.com/office/drawing/2014/main" id="{CFD68B82-8B8A-5A40-9379-F23C1414535B}"/>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877271" y="3108960"/>
              <a:ext cx="711200" cy="711200"/>
            </a:xfrm>
            <a:prstGeom prst="rect">
              <a:avLst/>
            </a:prstGeom>
          </p:spPr>
        </p:pic>
        <p:pic>
          <p:nvPicPr>
            <p:cNvPr id="34" name="Graphic 33">
              <a:extLst>
                <a:ext uri="{FF2B5EF4-FFF2-40B4-BE49-F238E27FC236}">
                  <a16:creationId xmlns:a16="http://schemas.microsoft.com/office/drawing/2014/main" id="{D687CA4C-B1EE-C446-A6F7-09C9BB5A050B}"/>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86400" y="4937760"/>
              <a:ext cx="711200" cy="711200"/>
            </a:xfrm>
            <a:prstGeom prst="rect">
              <a:avLst/>
            </a:prstGeom>
          </p:spPr>
        </p:pic>
        <p:pic>
          <p:nvPicPr>
            <p:cNvPr id="21" name="Graphic 20">
              <a:extLst>
                <a:ext uri="{FF2B5EF4-FFF2-40B4-BE49-F238E27FC236}">
                  <a16:creationId xmlns:a16="http://schemas.microsoft.com/office/drawing/2014/main" id="{D33BED01-7717-1444-8C79-A9411878D1D7}"/>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552533" y="3108960"/>
              <a:ext cx="711200" cy="711200"/>
            </a:xfrm>
            <a:prstGeom prst="rect">
              <a:avLst/>
            </a:prstGeom>
          </p:spPr>
        </p:pic>
        <p:pic>
          <p:nvPicPr>
            <p:cNvPr id="35" name="Graphic 34">
              <a:extLst>
                <a:ext uri="{FF2B5EF4-FFF2-40B4-BE49-F238E27FC236}">
                  <a16:creationId xmlns:a16="http://schemas.microsoft.com/office/drawing/2014/main" id="{606FA208-1F74-F944-BE39-C7EE59DAE4C0}"/>
                </a:ext>
                <a:ext uri="{C183D7F6-B498-43B3-948B-1728B52AA6E4}">
                  <adec:decorative xmlns:adec="http://schemas.microsoft.com/office/drawing/2017/decorative" val="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881335" y="4959222"/>
              <a:ext cx="711200" cy="711200"/>
            </a:xfrm>
            <a:prstGeom prst="rect">
              <a:avLst/>
            </a:prstGeom>
          </p:spPr>
        </p:pic>
      </p:grpSp>
      <p:sp>
        <p:nvSpPr>
          <p:cNvPr id="22" name="TextBox 21">
            <a:extLst>
              <a:ext uri="{FF2B5EF4-FFF2-40B4-BE49-F238E27FC236}">
                <a16:creationId xmlns:a16="http://schemas.microsoft.com/office/drawing/2014/main" id="{1520BDD8-4D66-1745-BFB7-B9478795EEF6}"/>
              </a:ext>
            </a:extLst>
          </p:cNvPr>
          <p:cNvSpPr txBox="1"/>
          <p:nvPr/>
        </p:nvSpPr>
        <p:spPr>
          <a:xfrm>
            <a:off x="8501351" y="5670422"/>
            <a:ext cx="1435100"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VPN</a:t>
            </a:r>
          </a:p>
        </p:txBody>
      </p:sp>
    </p:spTree>
    <p:custDataLst>
      <p:tags r:id="rId1"/>
    </p:custDataLst>
    <p:extLst>
      <p:ext uri="{BB962C8B-B14F-4D97-AF65-F5344CB8AC3E}">
        <p14:creationId xmlns:p14="http://schemas.microsoft.com/office/powerpoint/2010/main" val="3768716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226730-FC88-F7B7-A7A6-2B5006A8F2C0}"/>
              </a:ext>
            </a:extLst>
          </p:cNvPr>
          <p:cNvSpPr>
            <a:spLocks noGrp="1"/>
          </p:cNvSpPr>
          <p:nvPr>
            <p:ph type="sldNum" sz="quarter" idx="20"/>
          </p:nvPr>
        </p:nvSpPr>
        <p:spPr/>
        <p:txBody>
          <a:bodyPr/>
          <a:lstStyle/>
          <a:p>
            <a:fld id="{930176A1-BCF0-4712-97A6-6B495F55390B}" type="slidenum">
              <a:rPr lang="en-US" smtClean="0"/>
              <a:t>16</a:t>
            </a:fld>
            <a:endParaRPr lang="en-US"/>
          </a:p>
        </p:txBody>
      </p:sp>
      <p:sp>
        <p:nvSpPr>
          <p:cNvPr id="2" name="Title 1">
            <a:extLst>
              <a:ext uri="{FF2B5EF4-FFF2-40B4-BE49-F238E27FC236}">
                <a16:creationId xmlns:a16="http://schemas.microsoft.com/office/drawing/2014/main" id="{4BDAC32F-D250-5F41-941A-82FBF44637A0}"/>
              </a:ext>
            </a:extLst>
          </p:cNvPr>
          <p:cNvSpPr>
            <a:spLocks noGrp="1"/>
          </p:cNvSpPr>
          <p:nvPr>
            <p:ph type="title"/>
          </p:nvPr>
        </p:nvSpPr>
        <p:spPr/>
        <p:txBody>
          <a:bodyPr>
            <a:normAutofit fontScale="90000"/>
          </a:bodyPr>
          <a:lstStyle/>
          <a:p>
            <a:r>
              <a:rPr lang="en-US" dirty="0"/>
              <a:t>Security, identity, and compliance service category</a:t>
            </a:r>
          </a:p>
        </p:txBody>
      </p:sp>
      <p:sp>
        <p:nvSpPr>
          <p:cNvPr id="23" name="TextBox 22">
            <a:extLst>
              <a:ext uri="{FF2B5EF4-FFF2-40B4-BE49-F238E27FC236}">
                <a16:creationId xmlns:a16="http://schemas.microsoft.com/office/drawing/2014/main" id="{22030BD9-372D-BF44-B65F-49EEF2E9460A}"/>
              </a:ext>
            </a:extLst>
          </p:cNvPr>
          <p:cNvSpPr txBox="1"/>
          <p:nvPr/>
        </p:nvSpPr>
        <p:spPr>
          <a:xfrm>
            <a:off x="7461504" y="1743456"/>
            <a:ext cx="3637534" cy="830997"/>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security, identity, </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and compliance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18" name="TextBox 17">
            <a:extLst>
              <a:ext uri="{FF2B5EF4-FFF2-40B4-BE49-F238E27FC236}">
                <a16:creationId xmlns:a16="http://schemas.microsoft.com/office/drawing/2014/main" id="{4237CD4F-DDD2-E047-8D7C-DC51A40D9ADE}"/>
              </a:ext>
            </a:extLst>
          </p:cNvPr>
          <p:cNvSpPr txBox="1"/>
          <p:nvPr/>
        </p:nvSpPr>
        <p:spPr>
          <a:xfrm>
            <a:off x="4613655" y="3839606"/>
            <a:ext cx="2436634"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Identity and Access Management (IAM)</a:t>
            </a:r>
          </a:p>
        </p:txBody>
      </p:sp>
      <p:sp>
        <p:nvSpPr>
          <p:cNvPr id="37" name="TextBox 36">
            <a:extLst>
              <a:ext uri="{FF2B5EF4-FFF2-40B4-BE49-F238E27FC236}">
                <a16:creationId xmlns:a16="http://schemas.microsoft.com/office/drawing/2014/main" id="{F8C1BB0D-46E0-794A-B244-471E3AFC1E35}"/>
              </a:ext>
            </a:extLst>
          </p:cNvPr>
          <p:cNvSpPr txBox="1"/>
          <p:nvPr/>
        </p:nvSpPr>
        <p:spPr>
          <a:xfrm>
            <a:off x="7187460" y="3840727"/>
            <a:ext cx="153261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Organizations</a:t>
            </a:r>
          </a:p>
        </p:txBody>
      </p:sp>
      <p:sp>
        <p:nvSpPr>
          <p:cNvPr id="25" name="TextBox 24">
            <a:extLst>
              <a:ext uri="{FF2B5EF4-FFF2-40B4-BE49-F238E27FC236}">
                <a16:creationId xmlns:a16="http://schemas.microsoft.com/office/drawing/2014/main" id="{D255EC4C-DE4C-B842-8C31-3AFBCA46EF23}"/>
              </a:ext>
            </a:extLst>
          </p:cNvPr>
          <p:cNvSpPr txBox="1"/>
          <p:nvPr/>
        </p:nvSpPr>
        <p:spPr>
          <a:xfrm>
            <a:off x="8967213" y="3834553"/>
            <a:ext cx="1877147"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Cognito</a:t>
            </a:r>
          </a:p>
        </p:txBody>
      </p:sp>
      <p:sp>
        <p:nvSpPr>
          <p:cNvPr id="27" name="TextBox 26">
            <a:extLst>
              <a:ext uri="{FF2B5EF4-FFF2-40B4-BE49-F238E27FC236}">
                <a16:creationId xmlns:a16="http://schemas.microsoft.com/office/drawing/2014/main" id="{3F37E38F-9995-1B4F-992F-2DF28D769921}"/>
              </a:ext>
            </a:extLst>
          </p:cNvPr>
          <p:cNvSpPr txBox="1"/>
          <p:nvPr/>
        </p:nvSpPr>
        <p:spPr>
          <a:xfrm>
            <a:off x="5058729" y="5672612"/>
            <a:ext cx="1556958"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Artifact</a:t>
            </a:r>
          </a:p>
        </p:txBody>
      </p:sp>
      <p:sp>
        <p:nvSpPr>
          <p:cNvPr id="20" name="TextBox 19">
            <a:extLst>
              <a:ext uri="{FF2B5EF4-FFF2-40B4-BE49-F238E27FC236}">
                <a16:creationId xmlns:a16="http://schemas.microsoft.com/office/drawing/2014/main" id="{2E964499-FF55-5645-9782-4FDB3A512644}"/>
              </a:ext>
            </a:extLst>
          </p:cNvPr>
          <p:cNvSpPr txBox="1"/>
          <p:nvPr/>
        </p:nvSpPr>
        <p:spPr>
          <a:xfrm>
            <a:off x="7172386" y="5648960"/>
            <a:ext cx="1556958"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Key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Management Service </a:t>
            </a:r>
          </a:p>
        </p:txBody>
      </p:sp>
      <p:sp>
        <p:nvSpPr>
          <p:cNvPr id="29" name="TextBox 28">
            <a:extLst>
              <a:ext uri="{FF2B5EF4-FFF2-40B4-BE49-F238E27FC236}">
                <a16:creationId xmlns:a16="http://schemas.microsoft.com/office/drawing/2014/main" id="{696CA4BB-0C08-224E-9EBD-9D1240E68942}"/>
              </a:ext>
            </a:extLst>
          </p:cNvPr>
          <p:cNvSpPr txBox="1"/>
          <p:nvPr/>
        </p:nvSpPr>
        <p:spPr>
          <a:xfrm>
            <a:off x="9102924" y="5672612"/>
            <a:ext cx="1556958"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Shield</a:t>
            </a:r>
          </a:p>
        </p:txBody>
      </p:sp>
      <p:pic>
        <p:nvPicPr>
          <p:cNvPr id="36" name="Picture 35">
            <a:extLst>
              <a:ext uri="{FF2B5EF4-FFF2-40B4-BE49-F238E27FC236}">
                <a16:creationId xmlns:a16="http://schemas.microsoft.com/office/drawing/2014/main" id="{01DC9424-4559-374A-A8F8-36434D740361}"/>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8640" y="1645920"/>
            <a:ext cx="4065877" cy="2621187"/>
          </a:xfrm>
          <a:prstGeom prst="rect">
            <a:avLst/>
          </a:prstGeom>
        </p:spPr>
      </p:pic>
      <p:sp>
        <p:nvSpPr>
          <p:cNvPr id="38" name="Footer Placeholder 3">
            <a:extLst>
              <a:ext uri="{FF2B5EF4-FFF2-40B4-BE49-F238E27FC236}">
                <a16:creationId xmlns:a16="http://schemas.microsoft.com/office/drawing/2014/main" id="{F34DB7BB-F766-2144-AEF7-185AFF30D613}"/>
              </a:ext>
              <a:ext uri="{C183D7F6-B498-43B3-948B-1728B52AA6E4}">
                <adec:decorative xmlns:adec="http://schemas.microsoft.com/office/drawing/2017/decorative" val="1"/>
              </a:ext>
            </a:extLst>
          </p:cNvPr>
          <p:cNvSpPr txBox="1">
            <a:spLocks/>
          </p:cNvSpPr>
          <p:nvPr/>
        </p:nvSpPr>
        <p:spPr>
          <a:xfrm>
            <a:off x="467868" y="4294089"/>
            <a:ext cx="3786877" cy="182563"/>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by Paweł Czerwiński on Unsplash</a:t>
            </a:r>
            <a:endParaRPr lang="en-US" sz="700" dirty="0"/>
          </a:p>
        </p:txBody>
      </p:sp>
      <p:grpSp>
        <p:nvGrpSpPr>
          <p:cNvPr id="5" name="Group 4">
            <a:extLst>
              <a:ext uri="{FF2B5EF4-FFF2-40B4-BE49-F238E27FC236}">
                <a16:creationId xmlns:a16="http://schemas.microsoft.com/office/drawing/2014/main" id="{5D3A12A7-A5C2-AAB6-FCEA-C1C909D6CB1D}"/>
              </a:ext>
              <a:ext uri="{C183D7F6-B498-43B3-948B-1728B52AA6E4}">
                <adec:decorative xmlns:adec="http://schemas.microsoft.com/office/drawing/2017/decorative" val="1"/>
              </a:ext>
            </a:extLst>
          </p:cNvPr>
          <p:cNvGrpSpPr/>
          <p:nvPr/>
        </p:nvGrpSpPr>
        <p:grpSpPr>
          <a:xfrm>
            <a:off x="5486400" y="1645920"/>
            <a:ext cx="4790695" cy="4003040"/>
            <a:chOff x="5486400" y="1645920"/>
            <a:chExt cx="4790695" cy="4003040"/>
          </a:xfrm>
        </p:grpSpPr>
        <p:pic>
          <p:nvPicPr>
            <p:cNvPr id="19" name="Graphic 18">
              <a:extLst>
                <a:ext uri="{FF2B5EF4-FFF2-40B4-BE49-F238E27FC236}">
                  <a16:creationId xmlns:a16="http://schemas.microsoft.com/office/drawing/2014/main" id="{C3651C94-FFC1-B84E-8B82-105D697D109F}"/>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0" y="3108960"/>
              <a:ext cx="711200" cy="711200"/>
            </a:xfrm>
            <a:prstGeom prst="rect">
              <a:avLst/>
            </a:prstGeom>
          </p:spPr>
        </p:pic>
        <p:pic>
          <p:nvPicPr>
            <p:cNvPr id="21" name="Graphic 20">
              <a:extLst>
                <a:ext uri="{FF2B5EF4-FFF2-40B4-BE49-F238E27FC236}">
                  <a16:creationId xmlns:a16="http://schemas.microsoft.com/office/drawing/2014/main" id="{C92F0947-4C87-9747-A97A-8CBAE3A2346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0" y="4937760"/>
              <a:ext cx="711200" cy="711200"/>
            </a:xfrm>
            <a:prstGeom prst="rect">
              <a:avLst/>
            </a:prstGeom>
          </p:spPr>
        </p:pic>
        <p:pic>
          <p:nvPicPr>
            <p:cNvPr id="24" name="Graphic 23">
              <a:extLst>
                <a:ext uri="{FF2B5EF4-FFF2-40B4-BE49-F238E27FC236}">
                  <a16:creationId xmlns:a16="http://schemas.microsoft.com/office/drawing/2014/main" id="{69454258-DF60-2E40-9E12-4E3D4334B385}"/>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83680" y="1645920"/>
              <a:ext cx="952500" cy="952500"/>
            </a:xfrm>
            <a:prstGeom prst="rect">
              <a:avLst/>
            </a:prstGeom>
          </p:spPr>
        </p:pic>
        <p:pic>
          <p:nvPicPr>
            <p:cNvPr id="39" name="Graphic 38">
              <a:extLst>
                <a:ext uri="{FF2B5EF4-FFF2-40B4-BE49-F238E27FC236}">
                  <a16:creationId xmlns:a16="http://schemas.microsoft.com/office/drawing/2014/main" id="{6CA9F843-0747-5140-A93F-583D8D790C2C}"/>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85974" y="3108960"/>
              <a:ext cx="711200" cy="711200"/>
            </a:xfrm>
            <a:prstGeom prst="rect">
              <a:avLst/>
            </a:prstGeom>
          </p:spPr>
        </p:pic>
        <p:pic>
          <p:nvPicPr>
            <p:cNvPr id="26" name="Graphic 25">
              <a:extLst>
                <a:ext uri="{FF2B5EF4-FFF2-40B4-BE49-F238E27FC236}">
                  <a16:creationId xmlns:a16="http://schemas.microsoft.com/office/drawing/2014/main" id="{0A2ED26C-7FDF-A844-A960-E49D40792ABD}"/>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565895" y="3108960"/>
              <a:ext cx="711200" cy="711200"/>
            </a:xfrm>
            <a:prstGeom prst="rect">
              <a:avLst/>
            </a:prstGeom>
          </p:spPr>
        </p:pic>
        <p:pic>
          <p:nvPicPr>
            <p:cNvPr id="28" name="Graphic 27">
              <a:extLst>
                <a:ext uri="{FF2B5EF4-FFF2-40B4-BE49-F238E27FC236}">
                  <a16:creationId xmlns:a16="http://schemas.microsoft.com/office/drawing/2014/main" id="{005B8AD2-8F85-904B-82A2-D523CB21A22B}"/>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86400" y="4937760"/>
              <a:ext cx="711200" cy="711200"/>
            </a:xfrm>
            <a:prstGeom prst="rect">
              <a:avLst/>
            </a:prstGeom>
          </p:spPr>
        </p:pic>
        <p:pic>
          <p:nvPicPr>
            <p:cNvPr id="30" name="Graphic 29">
              <a:extLst>
                <a:ext uri="{FF2B5EF4-FFF2-40B4-BE49-F238E27FC236}">
                  <a16:creationId xmlns:a16="http://schemas.microsoft.com/office/drawing/2014/main" id="{A9D6DDE6-3D10-E049-825A-051F08239A8D}"/>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65895" y="4937760"/>
              <a:ext cx="711200" cy="711200"/>
            </a:xfrm>
            <a:prstGeom prst="rect">
              <a:avLst/>
            </a:prstGeom>
          </p:spPr>
        </p:pic>
      </p:grpSp>
    </p:spTree>
    <p:custDataLst>
      <p:tags r:id="rId1"/>
    </p:custDataLst>
    <p:extLst>
      <p:ext uri="{BB962C8B-B14F-4D97-AF65-F5344CB8AC3E}">
        <p14:creationId xmlns:p14="http://schemas.microsoft.com/office/powerpoint/2010/main" val="800361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7BF029-3B12-2B26-0CE2-DCFCAAA10E49}"/>
              </a:ext>
            </a:extLst>
          </p:cNvPr>
          <p:cNvSpPr>
            <a:spLocks noGrp="1"/>
          </p:cNvSpPr>
          <p:nvPr>
            <p:ph type="sldNum" sz="quarter" idx="20"/>
          </p:nvPr>
        </p:nvSpPr>
        <p:spPr/>
        <p:txBody>
          <a:bodyPr/>
          <a:lstStyle/>
          <a:p>
            <a:fld id="{930176A1-BCF0-4712-97A6-6B495F55390B}" type="slidenum">
              <a:rPr lang="en-US" smtClean="0"/>
              <a:t>17</a:t>
            </a:fld>
            <a:endParaRPr lang="en-US"/>
          </a:p>
        </p:txBody>
      </p:sp>
      <p:sp>
        <p:nvSpPr>
          <p:cNvPr id="2" name="Title 1">
            <a:extLst>
              <a:ext uri="{FF2B5EF4-FFF2-40B4-BE49-F238E27FC236}">
                <a16:creationId xmlns:a16="http://schemas.microsoft.com/office/drawing/2014/main" id="{E9574AB7-654D-7647-878A-39EED7BCADE9}"/>
              </a:ext>
            </a:extLst>
          </p:cNvPr>
          <p:cNvSpPr>
            <a:spLocks noGrp="1"/>
          </p:cNvSpPr>
          <p:nvPr>
            <p:ph type="title"/>
          </p:nvPr>
        </p:nvSpPr>
        <p:spPr/>
        <p:txBody>
          <a:bodyPr>
            <a:normAutofit fontScale="90000"/>
          </a:bodyPr>
          <a:lstStyle/>
          <a:p>
            <a:r>
              <a:rPr lang="en-US" dirty="0"/>
              <a:t>AWS cost management service category</a:t>
            </a:r>
          </a:p>
        </p:txBody>
      </p:sp>
      <p:sp>
        <p:nvSpPr>
          <p:cNvPr id="6" name="TextBox 5">
            <a:extLst>
              <a:ext uri="{FF2B5EF4-FFF2-40B4-BE49-F238E27FC236}">
                <a16:creationId xmlns:a16="http://schemas.microsoft.com/office/drawing/2014/main" id="{9B7F0AA2-4232-1242-8800-B88AC55D2C71}"/>
              </a:ext>
            </a:extLst>
          </p:cNvPr>
          <p:cNvSpPr txBox="1"/>
          <p:nvPr/>
        </p:nvSpPr>
        <p:spPr>
          <a:xfrm>
            <a:off x="7461825" y="1756611"/>
            <a:ext cx="3607078" cy="830997"/>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cost management </a:t>
            </a:r>
            <a:br>
              <a:rPr lang="en-US" sz="24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19" name="TextBox 18">
            <a:extLst>
              <a:ext uri="{FF2B5EF4-FFF2-40B4-BE49-F238E27FC236}">
                <a16:creationId xmlns:a16="http://schemas.microsoft.com/office/drawing/2014/main" id="{3C6E08B8-354A-F94A-B813-9E950E09E786}"/>
              </a:ext>
            </a:extLst>
          </p:cNvPr>
          <p:cNvSpPr txBox="1"/>
          <p:nvPr/>
        </p:nvSpPr>
        <p:spPr>
          <a:xfrm>
            <a:off x="4996927" y="3854053"/>
            <a:ext cx="164771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Cost and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Usage Report</a:t>
            </a:r>
          </a:p>
        </p:txBody>
      </p:sp>
      <p:sp>
        <p:nvSpPr>
          <p:cNvPr id="17" name="TextBox 16">
            <a:extLst>
              <a:ext uri="{FF2B5EF4-FFF2-40B4-BE49-F238E27FC236}">
                <a16:creationId xmlns:a16="http://schemas.microsoft.com/office/drawing/2014/main" id="{536441FC-397A-2C4F-AE63-9DB9EB234882}"/>
              </a:ext>
            </a:extLst>
          </p:cNvPr>
          <p:cNvSpPr txBox="1"/>
          <p:nvPr/>
        </p:nvSpPr>
        <p:spPr>
          <a:xfrm>
            <a:off x="7421044" y="3854561"/>
            <a:ext cx="1464633"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Budgets</a:t>
            </a:r>
          </a:p>
        </p:txBody>
      </p:sp>
      <p:sp>
        <p:nvSpPr>
          <p:cNvPr id="21" name="TextBox 20">
            <a:extLst>
              <a:ext uri="{FF2B5EF4-FFF2-40B4-BE49-F238E27FC236}">
                <a16:creationId xmlns:a16="http://schemas.microsoft.com/office/drawing/2014/main" id="{D9DFDD6C-7BC8-004A-89B6-1C9FDB57F0F6}"/>
              </a:ext>
            </a:extLst>
          </p:cNvPr>
          <p:cNvSpPr txBox="1"/>
          <p:nvPr/>
        </p:nvSpPr>
        <p:spPr>
          <a:xfrm>
            <a:off x="9679118" y="3850504"/>
            <a:ext cx="1325975"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Cost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Explorer</a:t>
            </a:r>
          </a:p>
        </p:txBody>
      </p:sp>
      <p:grpSp>
        <p:nvGrpSpPr>
          <p:cNvPr id="5" name="Group 4">
            <a:extLst>
              <a:ext uri="{FF2B5EF4-FFF2-40B4-BE49-F238E27FC236}">
                <a16:creationId xmlns:a16="http://schemas.microsoft.com/office/drawing/2014/main" id="{7645854E-482E-784C-9BA4-D46284C86B63}"/>
              </a:ext>
              <a:ext uri="{C183D7F6-B498-43B3-948B-1728B52AA6E4}">
                <adec:decorative xmlns:adec="http://schemas.microsoft.com/office/drawing/2017/decorative" val="1"/>
              </a:ext>
            </a:extLst>
          </p:cNvPr>
          <p:cNvGrpSpPr/>
          <p:nvPr/>
        </p:nvGrpSpPr>
        <p:grpSpPr>
          <a:xfrm>
            <a:off x="5486400" y="1645920"/>
            <a:ext cx="5226085" cy="2174240"/>
            <a:chOff x="5486400" y="1645920"/>
            <a:chExt cx="5226085" cy="2174240"/>
          </a:xfrm>
        </p:grpSpPr>
        <p:pic>
          <p:nvPicPr>
            <p:cNvPr id="16" name="Graphic 15">
              <a:extLst>
                <a:ext uri="{FF2B5EF4-FFF2-40B4-BE49-F238E27FC236}">
                  <a16:creationId xmlns:a16="http://schemas.microsoft.com/office/drawing/2014/main" id="{E7BBC7FC-7807-924F-8DBA-76B50DB90C7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3680" y="1645920"/>
              <a:ext cx="952500" cy="952500"/>
            </a:xfrm>
            <a:prstGeom prst="rect">
              <a:avLst/>
            </a:prstGeom>
          </p:spPr>
        </p:pic>
        <p:pic>
          <p:nvPicPr>
            <p:cNvPr id="18" name="Graphic 17">
              <a:extLst>
                <a:ext uri="{FF2B5EF4-FFF2-40B4-BE49-F238E27FC236}">
                  <a16:creationId xmlns:a16="http://schemas.microsoft.com/office/drawing/2014/main" id="{3B1CBD06-BCD0-BF41-B62F-C52D3987532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20909" y="3108960"/>
              <a:ext cx="711200" cy="711200"/>
            </a:xfrm>
            <a:prstGeom prst="rect">
              <a:avLst/>
            </a:prstGeom>
          </p:spPr>
        </p:pic>
        <p:pic>
          <p:nvPicPr>
            <p:cNvPr id="20" name="Graphic 19">
              <a:extLst>
                <a:ext uri="{FF2B5EF4-FFF2-40B4-BE49-F238E27FC236}">
                  <a16:creationId xmlns:a16="http://schemas.microsoft.com/office/drawing/2014/main" id="{492DDD6D-7AC9-7943-9DE3-EAAE0E0CA69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86400" y="3108960"/>
              <a:ext cx="711200" cy="711200"/>
            </a:xfrm>
            <a:prstGeom prst="rect">
              <a:avLst/>
            </a:prstGeom>
          </p:spPr>
        </p:pic>
        <p:pic>
          <p:nvPicPr>
            <p:cNvPr id="22" name="Graphic 21">
              <a:extLst>
                <a:ext uri="{FF2B5EF4-FFF2-40B4-BE49-F238E27FC236}">
                  <a16:creationId xmlns:a16="http://schemas.microsoft.com/office/drawing/2014/main" id="{021E3696-F027-F448-9C56-A7A1861447D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01285" y="3108960"/>
              <a:ext cx="711200" cy="711200"/>
            </a:xfrm>
            <a:prstGeom prst="rect">
              <a:avLst/>
            </a:prstGeom>
          </p:spPr>
        </p:pic>
      </p:grpSp>
      <p:pic>
        <p:nvPicPr>
          <p:cNvPr id="24" name="Picture 23">
            <a:extLst>
              <a:ext uri="{FF2B5EF4-FFF2-40B4-BE49-F238E27FC236}">
                <a16:creationId xmlns:a16="http://schemas.microsoft.com/office/drawing/2014/main" id="{1D639883-911D-7B46-8DCE-BD8C2E46C0D3}"/>
              </a:ext>
              <a:ext uri="{C183D7F6-B498-43B3-948B-1728B52AA6E4}">
                <adec:decorative xmlns:adec="http://schemas.microsoft.com/office/drawing/2017/decorative" val="1"/>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482457" y="1600199"/>
            <a:ext cx="3735457" cy="2490304"/>
          </a:xfrm>
          <a:prstGeom prst="rect">
            <a:avLst/>
          </a:prstGeom>
        </p:spPr>
      </p:pic>
      <p:sp>
        <p:nvSpPr>
          <p:cNvPr id="25" name="Footer Placeholder 3">
            <a:extLst>
              <a:ext uri="{FF2B5EF4-FFF2-40B4-BE49-F238E27FC236}">
                <a16:creationId xmlns:a16="http://schemas.microsoft.com/office/drawing/2014/main" id="{673F072C-FBF1-7F42-9884-C2F271EE9F55}"/>
              </a:ext>
              <a:ext uri="{C183D7F6-B498-43B3-948B-1728B52AA6E4}">
                <adec:decorative xmlns:adec="http://schemas.microsoft.com/office/drawing/2017/decorative" val="1"/>
              </a:ext>
            </a:extLst>
          </p:cNvPr>
          <p:cNvSpPr txBox="1">
            <a:spLocks/>
          </p:cNvSpPr>
          <p:nvPr/>
        </p:nvSpPr>
        <p:spPr>
          <a:xfrm>
            <a:off x="482457" y="4063400"/>
            <a:ext cx="2261860" cy="365125"/>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Photo by Alexander Mils on Unsplash</a:t>
            </a:r>
            <a:endParaRPr lang="en-US" sz="700" dirty="0"/>
          </a:p>
        </p:txBody>
      </p:sp>
    </p:spTree>
    <p:custDataLst>
      <p:tags r:id="rId1"/>
    </p:custDataLst>
    <p:extLst>
      <p:ext uri="{BB962C8B-B14F-4D97-AF65-F5344CB8AC3E}">
        <p14:creationId xmlns:p14="http://schemas.microsoft.com/office/powerpoint/2010/main" val="789312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70FE95-CDCE-444E-9B31-12513BB771C7}"/>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18</a:t>
            </a:fld>
            <a:endParaRPr lang="en-US" dirty="0"/>
          </a:p>
        </p:txBody>
      </p:sp>
      <p:sp>
        <p:nvSpPr>
          <p:cNvPr id="2" name="Title 1">
            <a:extLst>
              <a:ext uri="{FF2B5EF4-FFF2-40B4-BE49-F238E27FC236}">
                <a16:creationId xmlns:a16="http://schemas.microsoft.com/office/drawing/2014/main" id="{A1A2BA8A-2129-EE44-BF70-0DD8C3A22C6B}"/>
              </a:ext>
            </a:extLst>
          </p:cNvPr>
          <p:cNvSpPr>
            <a:spLocks noGrp="1"/>
          </p:cNvSpPr>
          <p:nvPr>
            <p:ph type="title"/>
          </p:nvPr>
        </p:nvSpPr>
        <p:spPr/>
        <p:txBody>
          <a:bodyPr>
            <a:normAutofit fontScale="90000"/>
          </a:bodyPr>
          <a:lstStyle/>
          <a:p>
            <a:r>
              <a:rPr lang="en-US" dirty="0"/>
              <a:t>Management and governance service category</a:t>
            </a:r>
          </a:p>
        </p:txBody>
      </p:sp>
      <p:sp>
        <p:nvSpPr>
          <p:cNvPr id="23" name="TextBox 22">
            <a:extLst>
              <a:ext uri="{FF2B5EF4-FFF2-40B4-BE49-F238E27FC236}">
                <a16:creationId xmlns:a16="http://schemas.microsoft.com/office/drawing/2014/main" id="{16BCC26F-97D9-1248-9B74-EAE0AED4BC60}"/>
              </a:ext>
            </a:extLst>
          </p:cNvPr>
          <p:cNvSpPr txBox="1"/>
          <p:nvPr/>
        </p:nvSpPr>
        <p:spPr>
          <a:xfrm>
            <a:off x="7461825" y="1756611"/>
            <a:ext cx="3567002" cy="830997"/>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management and </a:t>
            </a:r>
          </a:p>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governance </a:t>
            </a:r>
            <a:r>
              <a:rPr lang="en-US" sz="2400" dirty="0">
                <a:latin typeface="Amazon Ember" panose="020B0603020204020204" pitchFamily="34" charset="0"/>
                <a:ea typeface="Amazon Ember" panose="020B0603020204020204" pitchFamily="34" charset="0"/>
                <a:cs typeface="Amazon Ember" panose="020B0603020204020204" pitchFamily="34" charset="0"/>
              </a:rPr>
              <a:t>services</a:t>
            </a:r>
          </a:p>
        </p:txBody>
      </p:sp>
      <p:sp>
        <p:nvSpPr>
          <p:cNvPr id="16" name="TextBox 15">
            <a:extLst>
              <a:ext uri="{FF2B5EF4-FFF2-40B4-BE49-F238E27FC236}">
                <a16:creationId xmlns:a16="http://schemas.microsoft.com/office/drawing/2014/main" id="{9C758EC6-70BA-AD4A-97E2-F8AC43A0E541}"/>
              </a:ext>
            </a:extLst>
          </p:cNvPr>
          <p:cNvSpPr txBox="1"/>
          <p:nvPr/>
        </p:nvSpPr>
        <p:spPr>
          <a:xfrm>
            <a:off x="4924730" y="3836399"/>
            <a:ext cx="189392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Management Console</a:t>
            </a:r>
          </a:p>
        </p:txBody>
      </p:sp>
      <p:sp>
        <p:nvSpPr>
          <p:cNvPr id="14" name="TextBox 13">
            <a:extLst>
              <a:ext uri="{FF2B5EF4-FFF2-40B4-BE49-F238E27FC236}">
                <a16:creationId xmlns:a16="http://schemas.microsoft.com/office/drawing/2014/main" id="{11763954-0406-9C4A-A38D-4CF454878E9A}"/>
              </a:ext>
            </a:extLst>
          </p:cNvPr>
          <p:cNvSpPr txBox="1"/>
          <p:nvPr/>
        </p:nvSpPr>
        <p:spPr>
          <a:xfrm>
            <a:off x="6844532" y="3834888"/>
            <a:ext cx="1359131"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Config</a:t>
            </a:r>
          </a:p>
        </p:txBody>
      </p:sp>
      <p:sp>
        <p:nvSpPr>
          <p:cNvPr id="6" name="TextBox 5">
            <a:extLst>
              <a:ext uri="{FF2B5EF4-FFF2-40B4-BE49-F238E27FC236}">
                <a16:creationId xmlns:a16="http://schemas.microsoft.com/office/drawing/2014/main" id="{D964D7DB-132C-9648-8402-E5670A709AE6}"/>
              </a:ext>
            </a:extLst>
          </p:cNvPr>
          <p:cNvSpPr txBox="1"/>
          <p:nvPr/>
        </p:nvSpPr>
        <p:spPr>
          <a:xfrm>
            <a:off x="8450106" y="3814942"/>
            <a:ext cx="1359131"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CloudWatch</a:t>
            </a:r>
          </a:p>
        </p:txBody>
      </p:sp>
      <p:sp>
        <p:nvSpPr>
          <p:cNvPr id="7" name="TextBox 6">
            <a:extLst>
              <a:ext uri="{FF2B5EF4-FFF2-40B4-BE49-F238E27FC236}">
                <a16:creationId xmlns:a16="http://schemas.microsoft.com/office/drawing/2014/main" id="{13761F13-5E8E-D046-BB83-8F52BCD62CFB}"/>
              </a:ext>
            </a:extLst>
          </p:cNvPr>
          <p:cNvSpPr txBox="1"/>
          <p:nvPr/>
        </p:nvSpPr>
        <p:spPr>
          <a:xfrm>
            <a:off x="10148314" y="3814942"/>
            <a:ext cx="150655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Auto Scaling</a:t>
            </a:r>
          </a:p>
        </p:txBody>
      </p:sp>
      <p:sp>
        <p:nvSpPr>
          <p:cNvPr id="12" name="TextBox 11">
            <a:extLst>
              <a:ext uri="{FF2B5EF4-FFF2-40B4-BE49-F238E27FC236}">
                <a16:creationId xmlns:a16="http://schemas.microsoft.com/office/drawing/2014/main" id="{09D07F57-01BC-2C46-A09A-E6D7DEAF0212}"/>
              </a:ext>
            </a:extLst>
          </p:cNvPr>
          <p:cNvSpPr txBox="1"/>
          <p:nvPr/>
        </p:nvSpPr>
        <p:spPr>
          <a:xfrm>
            <a:off x="5014508" y="5650698"/>
            <a:ext cx="1712699"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Command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Line Interface</a:t>
            </a:r>
          </a:p>
        </p:txBody>
      </p:sp>
      <p:sp>
        <p:nvSpPr>
          <p:cNvPr id="18" name="TextBox 17">
            <a:extLst>
              <a:ext uri="{FF2B5EF4-FFF2-40B4-BE49-F238E27FC236}">
                <a16:creationId xmlns:a16="http://schemas.microsoft.com/office/drawing/2014/main" id="{4A98BAB5-A45E-0E4A-A83D-AD7F47F3C663}"/>
              </a:ext>
            </a:extLst>
          </p:cNvPr>
          <p:cNvSpPr txBox="1"/>
          <p:nvPr/>
        </p:nvSpPr>
        <p:spPr>
          <a:xfrm>
            <a:off x="6838260" y="5686501"/>
            <a:ext cx="1357122"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Trusted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Advisor</a:t>
            </a:r>
          </a:p>
        </p:txBody>
      </p:sp>
      <p:sp>
        <p:nvSpPr>
          <p:cNvPr id="20" name="TextBox 19">
            <a:extLst>
              <a:ext uri="{FF2B5EF4-FFF2-40B4-BE49-F238E27FC236}">
                <a16:creationId xmlns:a16="http://schemas.microsoft.com/office/drawing/2014/main" id="{D9CC2CD7-28CC-7A4D-8887-32BE6D184A0C}"/>
              </a:ext>
            </a:extLst>
          </p:cNvPr>
          <p:cNvSpPr txBox="1"/>
          <p:nvPr/>
        </p:nvSpPr>
        <p:spPr>
          <a:xfrm>
            <a:off x="8272548" y="5683564"/>
            <a:ext cx="1712699"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Well-</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Architected Tool </a:t>
            </a:r>
          </a:p>
        </p:txBody>
      </p:sp>
      <p:sp>
        <p:nvSpPr>
          <p:cNvPr id="8" name="TextBox 7">
            <a:extLst>
              <a:ext uri="{FF2B5EF4-FFF2-40B4-BE49-F238E27FC236}">
                <a16:creationId xmlns:a16="http://schemas.microsoft.com/office/drawing/2014/main" id="{E71E6A68-F283-F44E-BD0F-835FE3811D61}"/>
              </a:ext>
            </a:extLst>
          </p:cNvPr>
          <p:cNvSpPr txBox="1"/>
          <p:nvPr/>
        </p:nvSpPr>
        <p:spPr>
          <a:xfrm>
            <a:off x="10035716" y="5687054"/>
            <a:ext cx="1619150"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CloudTrail</a:t>
            </a:r>
          </a:p>
        </p:txBody>
      </p:sp>
      <p:sp>
        <p:nvSpPr>
          <p:cNvPr id="25" name="TextBox 24">
            <a:extLst>
              <a:ext uri="{FF2B5EF4-FFF2-40B4-BE49-F238E27FC236}">
                <a16:creationId xmlns:a16="http://schemas.microsoft.com/office/drawing/2014/main" id="{651E9760-37EE-4742-949F-F2FE2C53802E}"/>
              </a:ext>
              <a:ext uri="{C183D7F6-B498-43B3-948B-1728B52AA6E4}">
                <adec:decorative xmlns:adec="http://schemas.microsoft.com/office/drawing/2017/decorative" val="1"/>
              </a:ext>
            </a:extLst>
          </p:cNvPr>
          <p:cNvSpPr txBox="1"/>
          <p:nvPr/>
        </p:nvSpPr>
        <p:spPr>
          <a:xfrm>
            <a:off x="548640" y="4437019"/>
            <a:ext cx="1973617" cy="230832"/>
          </a:xfrm>
          <a:prstGeom prst="rect">
            <a:avLst/>
          </a:prstGeom>
          <a:noFill/>
        </p:spPr>
        <p:txBody>
          <a:bodyPr wrap="none" rtlCol="0">
            <a:spAutoFit/>
          </a:bodyPr>
          <a:lstStyle/>
          <a:p>
            <a:r>
              <a:rPr lang="en-US" sz="900" dirty="0">
                <a:solidFill>
                  <a:schemeClr val="bg1">
                    <a:lumMod val="6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Photo by Marta Branco from Pexels</a:t>
            </a:r>
          </a:p>
        </p:txBody>
      </p:sp>
      <p:grpSp>
        <p:nvGrpSpPr>
          <p:cNvPr id="3" name="Group 2">
            <a:extLst>
              <a:ext uri="{FF2B5EF4-FFF2-40B4-BE49-F238E27FC236}">
                <a16:creationId xmlns:a16="http://schemas.microsoft.com/office/drawing/2014/main" id="{1527605D-D163-1409-E41C-16A52F2BC311}"/>
              </a:ext>
              <a:ext uri="{C183D7F6-B498-43B3-948B-1728B52AA6E4}">
                <adec:decorative xmlns:adec="http://schemas.microsoft.com/office/drawing/2017/decorative" val="1"/>
              </a:ext>
            </a:extLst>
          </p:cNvPr>
          <p:cNvGrpSpPr/>
          <p:nvPr/>
        </p:nvGrpSpPr>
        <p:grpSpPr>
          <a:xfrm>
            <a:off x="5535058" y="3108960"/>
            <a:ext cx="5740377" cy="2540000"/>
            <a:chOff x="5535058" y="3108960"/>
            <a:chExt cx="5740377" cy="2540000"/>
          </a:xfrm>
        </p:grpSpPr>
        <p:pic>
          <p:nvPicPr>
            <p:cNvPr id="9" name="Graphic 8">
              <a:extLst>
                <a:ext uri="{FF2B5EF4-FFF2-40B4-BE49-F238E27FC236}">
                  <a16:creationId xmlns:a16="http://schemas.microsoft.com/office/drawing/2014/main" id="{F3FF6B72-C858-5A44-A833-CC192B74293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99567" y="3108960"/>
              <a:ext cx="711200" cy="711200"/>
            </a:xfrm>
            <a:prstGeom prst="rect">
              <a:avLst/>
            </a:prstGeom>
          </p:spPr>
        </p:pic>
        <p:pic>
          <p:nvPicPr>
            <p:cNvPr id="10" name="Graphic 9">
              <a:extLst>
                <a:ext uri="{FF2B5EF4-FFF2-40B4-BE49-F238E27FC236}">
                  <a16:creationId xmlns:a16="http://schemas.microsoft.com/office/drawing/2014/main" id="{1B6C0BF0-9CF6-414A-B2DC-0DEDD2C690D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64235" y="3108960"/>
              <a:ext cx="711200" cy="711200"/>
            </a:xfrm>
            <a:prstGeom prst="rect">
              <a:avLst/>
            </a:prstGeom>
          </p:spPr>
        </p:pic>
        <p:pic>
          <p:nvPicPr>
            <p:cNvPr id="11" name="Graphic 10">
              <a:extLst>
                <a:ext uri="{FF2B5EF4-FFF2-40B4-BE49-F238E27FC236}">
                  <a16:creationId xmlns:a16="http://schemas.microsoft.com/office/drawing/2014/main" id="{B9D8BC08-9C16-3944-89AA-1F894A611C0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89692" y="4937760"/>
              <a:ext cx="711200" cy="711200"/>
            </a:xfrm>
            <a:prstGeom prst="rect">
              <a:avLst/>
            </a:prstGeom>
          </p:spPr>
        </p:pic>
        <p:pic>
          <p:nvPicPr>
            <p:cNvPr id="13" name="Graphic 12">
              <a:extLst>
                <a:ext uri="{FF2B5EF4-FFF2-40B4-BE49-F238E27FC236}">
                  <a16:creationId xmlns:a16="http://schemas.microsoft.com/office/drawing/2014/main" id="{63A13CDB-14D7-3649-80EF-3DF23E67EFF4}"/>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35058" y="4937760"/>
              <a:ext cx="711200" cy="711200"/>
            </a:xfrm>
            <a:prstGeom prst="rect">
              <a:avLst/>
            </a:prstGeom>
          </p:spPr>
        </p:pic>
        <p:pic>
          <p:nvPicPr>
            <p:cNvPr id="15" name="Graphic 14">
              <a:extLst>
                <a:ext uri="{FF2B5EF4-FFF2-40B4-BE49-F238E27FC236}">
                  <a16:creationId xmlns:a16="http://schemas.microsoft.com/office/drawing/2014/main" id="{C7D0D9FA-AEA2-BB4B-8BBF-90B1B8A60863}"/>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92772" y="3108960"/>
              <a:ext cx="711200" cy="711200"/>
            </a:xfrm>
            <a:prstGeom prst="rect">
              <a:avLst/>
            </a:prstGeom>
          </p:spPr>
        </p:pic>
        <p:pic>
          <p:nvPicPr>
            <p:cNvPr id="17" name="Graphic 16">
              <a:extLst>
                <a:ext uri="{FF2B5EF4-FFF2-40B4-BE49-F238E27FC236}">
                  <a16:creationId xmlns:a16="http://schemas.microsoft.com/office/drawing/2014/main" id="{158BEA10-3C84-2A4B-A68C-80DDFF4ADBB3}"/>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535058" y="3108960"/>
              <a:ext cx="711200" cy="711200"/>
            </a:xfrm>
            <a:prstGeom prst="rect">
              <a:avLst/>
            </a:prstGeom>
          </p:spPr>
        </p:pic>
        <p:pic>
          <p:nvPicPr>
            <p:cNvPr id="19" name="Graphic 18">
              <a:extLst>
                <a:ext uri="{FF2B5EF4-FFF2-40B4-BE49-F238E27FC236}">
                  <a16:creationId xmlns:a16="http://schemas.microsoft.com/office/drawing/2014/main" id="{342B86BF-B4C2-A84D-A401-09AEFF65F589}"/>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180580" y="4937760"/>
              <a:ext cx="711200" cy="711200"/>
            </a:xfrm>
            <a:prstGeom prst="rect">
              <a:avLst/>
            </a:prstGeom>
          </p:spPr>
        </p:pic>
        <p:pic>
          <p:nvPicPr>
            <p:cNvPr id="21" name="Graphic 20">
              <a:extLst>
                <a:ext uri="{FF2B5EF4-FFF2-40B4-BE49-F238E27FC236}">
                  <a16:creationId xmlns:a16="http://schemas.microsoft.com/office/drawing/2014/main" id="{CEB35706-B695-174A-B1C4-224C18E4857D}"/>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738717" y="4937760"/>
              <a:ext cx="711200" cy="711200"/>
            </a:xfrm>
            <a:prstGeom prst="rect">
              <a:avLst/>
            </a:prstGeom>
          </p:spPr>
        </p:pic>
      </p:grpSp>
      <p:pic>
        <p:nvPicPr>
          <p:cNvPr id="22" name="Graphic 21">
            <a:extLst>
              <a:ext uri="{FF2B5EF4-FFF2-40B4-BE49-F238E27FC236}">
                <a16:creationId xmlns:a16="http://schemas.microsoft.com/office/drawing/2014/main" id="{2BEB6DE2-7097-D440-B2C8-8287CB70DD2F}"/>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583680" y="1645920"/>
            <a:ext cx="952500" cy="952500"/>
          </a:xfrm>
          <a:prstGeom prst="rect">
            <a:avLst/>
          </a:prstGeom>
        </p:spPr>
      </p:pic>
      <p:pic>
        <p:nvPicPr>
          <p:cNvPr id="27" name="Picture 26">
            <a:extLst>
              <a:ext uri="{FF2B5EF4-FFF2-40B4-BE49-F238E27FC236}">
                <a16:creationId xmlns:a16="http://schemas.microsoft.com/office/drawing/2014/main" id="{2A483946-9C9A-0E4E-9EFE-D3FF9F13D5A5}"/>
              </a:ext>
              <a:ext uri="{C183D7F6-B498-43B3-948B-1728B52AA6E4}">
                <adec:decorative xmlns:adec="http://schemas.microsoft.com/office/drawing/2017/decorative" val="1"/>
              </a:ext>
            </a:extLst>
          </p:cNvPr>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548640" y="1645920"/>
            <a:ext cx="4186648" cy="2791099"/>
          </a:xfrm>
          <a:prstGeom prst="rect">
            <a:avLst/>
          </a:prstGeom>
        </p:spPr>
      </p:pic>
    </p:spTree>
    <p:custDataLst>
      <p:tags r:id="rId1"/>
    </p:custDataLst>
    <p:extLst>
      <p:ext uri="{BB962C8B-B14F-4D97-AF65-F5344CB8AC3E}">
        <p14:creationId xmlns:p14="http://schemas.microsoft.com/office/powerpoint/2010/main" val="1487908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23256" y="2005070"/>
            <a:ext cx="9816539" cy="592834"/>
          </a:xfrm>
        </p:spPr>
        <p:txBody>
          <a:bodyPr>
            <a:normAutofit fontScale="90000"/>
          </a:bodyPr>
          <a:lstStyle/>
          <a:p>
            <a:r>
              <a:rPr lang="en-US" dirty="0"/>
              <a:t>Module 4: AWS Cloud Security</a:t>
            </a:r>
          </a:p>
        </p:txBody>
      </p:sp>
      <p:sp>
        <p:nvSpPr>
          <p:cNvPr id="2" name="Text Placeholder 1">
            <a:extLst>
              <a:ext uri="{FF2B5EF4-FFF2-40B4-BE49-F238E27FC236}">
                <a16:creationId xmlns:a16="http://schemas.microsoft.com/office/drawing/2014/main" id="{E8213009-50A0-5448-BFE6-30EFBA8DB8F6}"/>
              </a:ext>
            </a:extLst>
          </p:cNvPr>
          <p:cNvSpPr>
            <a:spLocks noGrp="1"/>
          </p:cNvSpPr>
          <p:nvPr>
            <p:ph type="body" sz="quarter" idx="10"/>
          </p:nvPr>
        </p:nvSpPr>
        <p:spPr/>
        <p:txBody>
          <a:bodyPr/>
          <a:lstStyle/>
          <a:p>
            <a:r>
              <a:rPr lang="en-US"/>
              <a:t>AWS Academy Cloud Foundations</a:t>
            </a:r>
          </a:p>
        </p:txBody>
      </p:sp>
      <p:sp>
        <p:nvSpPr>
          <p:cNvPr id="4" name="Text Placeholder 3">
            <a:extLst>
              <a:ext uri="{FF2B5EF4-FFF2-40B4-BE49-F238E27FC236}">
                <a16:creationId xmlns:a16="http://schemas.microsoft.com/office/drawing/2014/main" id="{9EB3DF5C-696C-1F9B-1122-A9750A491562}"/>
              </a:ext>
            </a:extLst>
          </p:cNvPr>
          <p:cNvSpPr>
            <a:spLocks noGrp="1"/>
          </p:cNvSpPr>
          <p:nvPr>
            <p:ph type="body" sz="quarter" idx="11"/>
          </p:nvPr>
        </p:nvSpPr>
        <p:spPr/>
        <p:txBody>
          <a:bodyPr/>
          <a:lstStyle/>
          <a:p>
            <a:endParaRPr lang="en-US"/>
          </a:p>
        </p:txBody>
      </p:sp>
    </p:spTree>
    <p:custDataLst>
      <p:tags r:id="rId1"/>
    </p:custDataLst>
    <p:extLst>
      <p:ext uri="{BB962C8B-B14F-4D97-AF65-F5344CB8AC3E}">
        <p14:creationId xmlns:p14="http://schemas.microsoft.com/office/powerpoint/2010/main" val="3562200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3256" y="1812045"/>
            <a:ext cx="10564685" cy="719757"/>
          </a:xfrm>
        </p:spPr>
        <p:txBody>
          <a:bodyPr>
            <a:noAutofit/>
          </a:bodyPr>
          <a:lstStyle/>
          <a:p>
            <a:r>
              <a:rPr lang="en-US" sz="4000" dirty="0">
                <a:latin typeface="+mj-lt"/>
              </a:rPr>
              <a:t>AWS shared responsibility model</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p:txBody>
          <a:bodyPr>
            <a:normAutofit/>
          </a:bodyPr>
          <a:lstStyle/>
          <a:p>
            <a:r>
              <a:rPr lang="en-US">
                <a:latin typeface="+mn-lt"/>
              </a:rPr>
              <a:t>Module 4: AWS Cloud Security</a:t>
            </a:r>
          </a:p>
        </p:txBody>
      </p:sp>
      <p:sp>
        <p:nvSpPr>
          <p:cNvPr id="4" name="Text Placeholder 3">
            <a:extLst>
              <a:ext uri="{FF2B5EF4-FFF2-40B4-BE49-F238E27FC236}">
                <a16:creationId xmlns:a16="http://schemas.microsoft.com/office/drawing/2014/main" id="{12F0FF4F-4526-23A0-D628-2282CF69A5AB}"/>
              </a:ext>
            </a:extLst>
          </p:cNvPr>
          <p:cNvSpPr>
            <a:spLocks noGrp="1"/>
          </p:cNvSpPr>
          <p:nvPr>
            <p:ph type="body" sz="quarter" idx="11"/>
          </p:nvPr>
        </p:nvSpPr>
        <p:spPr/>
        <p:txBody>
          <a:bodyPr/>
          <a:lstStyle/>
          <a:p>
            <a:endParaRPr lang="en-US"/>
          </a:p>
        </p:txBody>
      </p:sp>
    </p:spTree>
    <p:custDataLst>
      <p:tags r:id="rId1"/>
    </p:custDataLst>
    <p:extLst>
      <p:ext uri="{BB962C8B-B14F-4D97-AF65-F5344CB8AC3E}">
        <p14:creationId xmlns:p14="http://schemas.microsoft.com/office/powerpoint/2010/main" val="1605421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BEC6BD-FE49-6AFE-F78F-EF5ACD82FD3F}"/>
              </a:ext>
            </a:extLst>
          </p:cNvPr>
          <p:cNvSpPr>
            <a:spLocks noGrp="1"/>
          </p:cNvSpPr>
          <p:nvPr>
            <p:ph type="sldNum" sz="quarter" idx="20"/>
          </p:nvPr>
        </p:nvSpPr>
        <p:spPr/>
        <p:txBody>
          <a:bodyPr/>
          <a:lstStyle/>
          <a:p>
            <a:fld id="{930176A1-BCF0-4712-97A6-6B495F55390B}" type="slidenum">
              <a:rPr lang="en-US" smtClean="0"/>
              <a:pPr/>
              <a:t>21</a:t>
            </a:fld>
            <a:endParaRPr lang="en-US"/>
          </a:p>
        </p:txBody>
      </p:sp>
      <p:sp>
        <p:nvSpPr>
          <p:cNvPr id="2" name="Title 1"/>
          <p:cNvSpPr>
            <a:spLocks noGrp="1"/>
          </p:cNvSpPr>
          <p:nvPr>
            <p:ph type="title"/>
          </p:nvPr>
        </p:nvSpPr>
        <p:spPr/>
        <p:txBody>
          <a:bodyPr>
            <a:normAutofit fontScale="90000"/>
          </a:bodyPr>
          <a:lstStyle/>
          <a:p>
            <a:r>
              <a:rPr lang="en-US"/>
              <a:t>AWS shared responsibility model</a:t>
            </a:r>
          </a:p>
        </p:txBody>
      </p:sp>
      <p:pic>
        <p:nvPicPr>
          <p:cNvPr id="6" name="Picture 5" descr="Table showing AWS and customer responsibilities outlines in the notes.">
            <a:extLst>
              <a:ext uri="{FF2B5EF4-FFF2-40B4-BE49-F238E27FC236}">
                <a16:creationId xmlns:a16="http://schemas.microsoft.com/office/drawing/2014/main" id="{D5F4E624-EA61-354F-A853-2DFDFBA31A41}"/>
              </a:ext>
            </a:extLst>
          </p:cNvPr>
          <p:cNvPicPr>
            <a:picLocks noChangeAspect="1"/>
          </p:cNvPicPr>
          <p:nvPr/>
        </p:nvPicPr>
        <p:blipFill>
          <a:blip r:embed="rId4"/>
          <a:stretch>
            <a:fillRect/>
          </a:stretch>
        </p:blipFill>
        <p:spPr>
          <a:xfrm>
            <a:off x="1775153" y="1376416"/>
            <a:ext cx="8641693" cy="4759579"/>
          </a:xfrm>
          <a:prstGeom prst="rect">
            <a:avLst/>
          </a:prstGeom>
        </p:spPr>
      </p:pic>
    </p:spTree>
    <p:custDataLst>
      <p:tags r:id="rId1"/>
    </p:custDataLst>
    <p:extLst>
      <p:ext uri="{BB962C8B-B14F-4D97-AF65-F5344CB8AC3E}">
        <p14:creationId xmlns:p14="http://schemas.microsoft.com/office/powerpoint/2010/main" val="2115897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BFEC340-B24E-7F46-896A-C6AABAAC16C3}"/>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22</a:t>
            </a:fld>
            <a:endParaRPr lang="en-US"/>
          </a:p>
        </p:txBody>
      </p:sp>
      <p:sp>
        <p:nvSpPr>
          <p:cNvPr id="2" name="Title 1"/>
          <p:cNvSpPr>
            <a:spLocks noGrp="1"/>
          </p:cNvSpPr>
          <p:nvPr>
            <p:ph type="title"/>
          </p:nvPr>
        </p:nvSpPr>
        <p:spPr/>
        <p:txBody>
          <a:bodyPr>
            <a:noAutofit/>
          </a:bodyPr>
          <a:lstStyle/>
          <a:p>
            <a:r>
              <a:rPr lang="en-US" dirty="0">
                <a:latin typeface="+mj-lt"/>
              </a:rPr>
              <a:t>AWS responsibility: Security </a:t>
            </a:r>
            <a:r>
              <a:rPr lang="en-US" i="1" dirty="0">
                <a:solidFill>
                  <a:srgbClr val="FF0000"/>
                </a:solidFill>
                <a:latin typeface="+mj-lt"/>
                <a:ea typeface="Amazon Ember Medium" panose="020B0603020204030204" pitchFamily="34" charset="0"/>
                <a:cs typeface="Amazon Ember Medium" panose="020B0603020204030204" pitchFamily="34" charset="0"/>
              </a:rPr>
              <a:t>of</a:t>
            </a:r>
            <a:r>
              <a:rPr lang="en-US" dirty="0">
                <a:latin typeface="+mj-lt"/>
              </a:rPr>
              <a:t> the cloud</a:t>
            </a:r>
          </a:p>
        </p:txBody>
      </p:sp>
      <p:sp>
        <p:nvSpPr>
          <p:cNvPr id="5" name="Content Placeholder 4">
            <a:extLst>
              <a:ext uri="{FF2B5EF4-FFF2-40B4-BE49-F238E27FC236}">
                <a16:creationId xmlns:a16="http://schemas.microsoft.com/office/drawing/2014/main" id="{40751EE0-0829-BA4D-840A-AB4C542CD4C6}"/>
              </a:ext>
            </a:extLst>
          </p:cNvPr>
          <p:cNvSpPr>
            <a:spLocks noGrp="1"/>
          </p:cNvSpPr>
          <p:nvPr>
            <p:ph sz="quarter" idx="21"/>
          </p:nvPr>
        </p:nvSpPr>
        <p:spPr>
          <a:xfrm>
            <a:off x="6245352" y="1527048"/>
            <a:ext cx="5504688" cy="4645152"/>
          </a:xfrm>
        </p:spPr>
        <p:txBody>
          <a:bodyPr>
            <a:normAutofit/>
          </a:bodyPr>
          <a:lstStyle/>
          <a:p>
            <a:pPr marL="0" indent="0">
              <a:buNone/>
            </a:pPr>
            <a:r>
              <a:rPr lang="en-US" sz="2400"/>
              <a:t>AWS responsibilities:</a:t>
            </a:r>
          </a:p>
          <a:p>
            <a:r>
              <a:rPr lang="en-US" sz="2000"/>
              <a:t>Physical security of data centers</a:t>
            </a:r>
          </a:p>
          <a:p>
            <a:pPr lvl="1"/>
            <a:r>
              <a:rPr lang="en-US" sz="1800"/>
              <a:t>Controlled, need-based access</a:t>
            </a:r>
          </a:p>
          <a:p>
            <a:pPr marL="227012" lvl="1" indent="0">
              <a:buNone/>
            </a:pPr>
            <a:endParaRPr lang="en-US" sz="1800"/>
          </a:p>
          <a:p>
            <a:r>
              <a:rPr lang="en-US" sz="2000"/>
              <a:t>Hardware and software infrastructure</a:t>
            </a:r>
          </a:p>
          <a:p>
            <a:pPr lvl="1"/>
            <a:r>
              <a:rPr lang="en-US" sz="1800"/>
              <a:t>Storage decommissioning, host operating system (OS) access logging, and auditing</a:t>
            </a:r>
          </a:p>
          <a:p>
            <a:pPr marL="227012" lvl="1" indent="0">
              <a:buNone/>
            </a:pPr>
            <a:endParaRPr lang="en-US" sz="1800"/>
          </a:p>
          <a:p>
            <a:r>
              <a:rPr lang="en-US" sz="2000"/>
              <a:t>Network infrastructure</a:t>
            </a:r>
          </a:p>
          <a:p>
            <a:pPr lvl="1"/>
            <a:r>
              <a:rPr lang="en-US" sz="1800"/>
              <a:t>Intrusion detection</a:t>
            </a:r>
          </a:p>
          <a:p>
            <a:pPr marL="227012" lvl="1" indent="0">
              <a:buNone/>
            </a:pPr>
            <a:endParaRPr lang="en-US" sz="1800"/>
          </a:p>
          <a:p>
            <a:r>
              <a:rPr lang="en-US" sz="2000"/>
              <a:t>Virtualization infrastructure</a:t>
            </a:r>
          </a:p>
          <a:p>
            <a:pPr lvl="1"/>
            <a:r>
              <a:rPr lang="en-US" sz="1800"/>
              <a:t>Instance isolation</a:t>
            </a:r>
          </a:p>
        </p:txBody>
      </p:sp>
      <p:grpSp>
        <p:nvGrpSpPr>
          <p:cNvPr id="6" name="Group 5" descr="AWS Services showing four icons labeled as follows: compute, storage, database, and networking.">
            <a:extLst>
              <a:ext uri="{FF2B5EF4-FFF2-40B4-BE49-F238E27FC236}">
                <a16:creationId xmlns:a16="http://schemas.microsoft.com/office/drawing/2014/main" id="{DFFE68B3-B6EB-4267-639F-85C108F3B6F7}"/>
              </a:ext>
            </a:extLst>
          </p:cNvPr>
          <p:cNvGrpSpPr/>
          <p:nvPr/>
        </p:nvGrpSpPr>
        <p:grpSpPr>
          <a:xfrm>
            <a:off x="441000" y="2172634"/>
            <a:ext cx="5323665" cy="1375517"/>
            <a:chOff x="441000" y="2172634"/>
            <a:chExt cx="5323665" cy="1375517"/>
          </a:xfrm>
        </p:grpSpPr>
        <p:sp>
          <p:nvSpPr>
            <p:cNvPr id="18" name="Rectangle 17">
              <a:extLst>
                <a:ext uri="{FF2B5EF4-FFF2-40B4-BE49-F238E27FC236}">
                  <a16:creationId xmlns:a16="http://schemas.microsoft.com/office/drawing/2014/main" id="{1204C99E-1809-DC4F-AA5D-4B07C5CB4A64}"/>
                </a:ext>
              </a:extLst>
            </p:cNvPr>
            <p:cNvSpPr/>
            <p:nvPr/>
          </p:nvSpPr>
          <p:spPr>
            <a:xfrm>
              <a:off x="441000" y="2172634"/>
              <a:ext cx="5323665" cy="136246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b="1">
                  <a:solidFill>
                    <a:schemeClr val="tx1"/>
                  </a:solidFill>
                </a:rPr>
                <a:t>AWS services</a:t>
              </a:r>
            </a:p>
          </p:txBody>
        </p:sp>
        <p:pic>
          <p:nvPicPr>
            <p:cNvPr id="10" name="Graphic 9">
              <a:extLst>
                <a:ext uri="{FF2B5EF4-FFF2-40B4-BE49-F238E27FC236}">
                  <a16:creationId xmlns:a16="http://schemas.microsoft.com/office/drawing/2014/main" id="{0A401706-D3C2-4240-8BCC-E191126A684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6992" y="2582294"/>
              <a:ext cx="659595" cy="659595"/>
            </a:xfrm>
            <a:prstGeom prst="rect">
              <a:avLst/>
            </a:prstGeom>
          </p:spPr>
        </p:pic>
        <p:sp>
          <p:nvSpPr>
            <p:cNvPr id="3" name="TextBox 2">
              <a:extLst>
                <a:ext uri="{FF2B5EF4-FFF2-40B4-BE49-F238E27FC236}">
                  <a16:creationId xmlns:a16="http://schemas.microsoft.com/office/drawing/2014/main" id="{1B20CD48-D3E3-8649-99CD-E7BBAC1D5D35}"/>
                </a:ext>
              </a:extLst>
            </p:cNvPr>
            <p:cNvSpPr txBox="1"/>
            <p:nvPr/>
          </p:nvSpPr>
          <p:spPr>
            <a:xfrm>
              <a:off x="570613" y="3196545"/>
              <a:ext cx="1016625" cy="338554"/>
            </a:xfrm>
            <a:prstGeom prst="rect">
              <a:avLst/>
            </a:prstGeom>
            <a:noFill/>
          </p:spPr>
          <p:txBody>
            <a:bodyPr wrap="none" rtlCol="0">
              <a:spAutoFit/>
            </a:bodyPr>
            <a:lstStyle/>
            <a:p>
              <a:r>
                <a:rPr lang="en-US" sz="1600">
                  <a:latin typeface="Arial" panose="020B0604020202020204" pitchFamily="34" charset="0"/>
                  <a:ea typeface="Amazon Ember Light" panose="020B0403020204020204" pitchFamily="34" charset="0"/>
                  <a:cs typeface="Arial" panose="020B0604020202020204" pitchFamily="34" charset="0"/>
                </a:rPr>
                <a:t>Compute</a:t>
              </a:r>
            </a:p>
          </p:txBody>
        </p:sp>
        <p:sp>
          <p:nvSpPr>
            <p:cNvPr id="12" name="TextBox 11">
              <a:extLst>
                <a:ext uri="{FF2B5EF4-FFF2-40B4-BE49-F238E27FC236}">
                  <a16:creationId xmlns:a16="http://schemas.microsoft.com/office/drawing/2014/main" id="{A3335D24-F115-9B4E-963F-7E5DE065A869}"/>
                </a:ext>
              </a:extLst>
            </p:cNvPr>
            <p:cNvSpPr txBox="1"/>
            <p:nvPr/>
          </p:nvSpPr>
          <p:spPr>
            <a:xfrm>
              <a:off x="1883201" y="3195910"/>
              <a:ext cx="902811" cy="338554"/>
            </a:xfrm>
            <a:prstGeom prst="rect">
              <a:avLst/>
            </a:prstGeom>
            <a:noFill/>
          </p:spPr>
          <p:txBody>
            <a:bodyPr wrap="none" rtlCol="0">
              <a:spAutoFit/>
            </a:bodyPr>
            <a:lstStyle/>
            <a:p>
              <a:r>
                <a:rPr lang="en-US" sz="1600">
                  <a:latin typeface="Arial" panose="020B0604020202020204" pitchFamily="34" charset="0"/>
                  <a:ea typeface="Amazon Ember Light" panose="020B0403020204020204" pitchFamily="34" charset="0"/>
                  <a:cs typeface="Arial" panose="020B0604020202020204" pitchFamily="34" charset="0"/>
                </a:rPr>
                <a:t>Storage</a:t>
              </a:r>
            </a:p>
          </p:txBody>
        </p:sp>
        <p:sp>
          <p:nvSpPr>
            <p:cNvPr id="13" name="TextBox 12">
              <a:extLst>
                <a:ext uri="{FF2B5EF4-FFF2-40B4-BE49-F238E27FC236}">
                  <a16:creationId xmlns:a16="http://schemas.microsoft.com/office/drawing/2014/main" id="{66C48087-CD60-0E4A-BC00-261EE7B3DBD8}"/>
                </a:ext>
              </a:extLst>
            </p:cNvPr>
            <p:cNvSpPr txBox="1"/>
            <p:nvPr/>
          </p:nvSpPr>
          <p:spPr>
            <a:xfrm>
              <a:off x="3092260" y="3209597"/>
              <a:ext cx="1061509" cy="338554"/>
            </a:xfrm>
            <a:prstGeom prst="rect">
              <a:avLst/>
            </a:prstGeom>
            <a:noFill/>
          </p:spPr>
          <p:txBody>
            <a:bodyPr wrap="none" rtlCol="0">
              <a:spAutoFit/>
            </a:bodyPr>
            <a:lstStyle/>
            <a:p>
              <a:r>
                <a:rPr lang="en-US" sz="1600">
                  <a:latin typeface="Arial" panose="020B0604020202020204" pitchFamily="34" charset="0"/>
                  <a:ea typeface="Amazon Ember Light" panose="020B0403020204020204" pitchFamily="34" charset="0"/>
                  <a:cs typeface="Arial" panose="020B0604020202020204" pitchFamily="34" charset="0"/>
                </a:rPr>
                <a:t>Database</a:t>
              </a:r>
            </a:p>
          </p:txBody>
        </p:sp>
        <p:sp>
          <p:nvSpPr>
            <p:cNvPr id="14" name="TextBox 13">
              <a:extLst>
                <a:ext uri="{FF2B5EF4-FFF2-40B4-BE49-F238E27FC236}">
                  <a16:creationId xmlns:a16="http://schemas.microsoft.com/office/drawing/2014/main" id="{EFDF146A-9CD5-AB48-BD87-2DC140812655}"/>
                </a:ext>
              </a:extLst>
            </p:cNvPr>
            <p:cNvSpPr txBox="1"/>
            <p:nvPr/>
          </p:nvSpPr>
          <p:spPr>
            <a:xfrm>
              <a:off x="4289432" y="3209597"/>
              <a:ext cx="1208985" cy="338554"/>
            </a:xfrm>
            <a:prstGeom prst="rect">
              <a:avLst/>
            </a:prstGeom>
            <a:noFill/>
          </p:spPr>
          <p:txBody>
            <a:bodyPr wrap="none" rtlCol="0">
              <a:spAutoFit/>
            </a:bodyPr>
            <a:lstStyle/>
            <a:p>
              <a:r>
                <a:rPr lang="en-US" sz="1600">
                  <a:latin typeface="Arial" panose="020B0604020202020204" pitchFamily="34" charset="0"/>
                  <a:ea typeface="Amazon Ember Light" panose="020B0403020204020204" pitchFamily="34" charset="0"/>
                  <a:cs typeface="Arial" panose="020B0604020202020204" pitchFamily="34" charset="0"/>
                </a:rPr>
                <a:t>Networking</a:t>
              </a:r>
            </a:p>
          </p:txBody>
        </p:sp>
        <p:pic>
          <p:nvPicPr>
            <p:cNvPr id="15" name="Graphic 14">
              <a:extLst>
                <a:ext uri="{FF2B5EF4-FFF2-40B4-BE49-F238E27FC236}">
                  <a16:creationId xmlns:a16="http://schemas.microsoft.com/office/drawing/2014/main" id="{9500C1C1-62F5-0145-B5BD-61AEE95E6B3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06967" y="2582294"/>
              <a:ext cx="659595" cy="659595"/>
            </a:xfrm>
            <a:prstGeom prst="rect">
              <a:avLst/>
            </a:prstGeom>
          </p:spPr>
        </p:pic>
        <p:pic>
          <p:nvPicPr>
            <p:cNvPr id="16" name="Graphic 15">
              <a:extLst>
                <a:ext uri="{FF2B5EF4-FFF2-40B4-BE49-F238E27FC236}">
                  <a16:creationId xmlns:a16="http://schemas.microsoft.com/office/drawing/2014/main" id="{A06448C9-6A1E-E74F-A9AF-2B21ED1B525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21979" y="2582294"/>
              <a:ext cx="659596" cy="659596"/>
            </a:xfrm>
            <a:prstGeom prst="rect">
              <a:avLst/>
            </a:prstGeom>
          </p:spPr>
        </p:pic>
        <p:pic>
          <p:nvPicPr>
            <p:cNvPr id="17" name="Graphic 16">
              <a:extLst>
                <a:ext uri="{FF2B5EF4-FFF2-40B4-BE49-F238E27FC236}">
                  <a16:creationId xmlns:a16="http://schemas.microsoft.com/office/drawing/2014/main" id="{4C83EBCD-3B3F-CC4D-931C-23846B80B14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91955" y="2582294"/>
              <a:ext cx="659595" cy="659595"/>
            </a:xfrm>
            <a:prstGeom prst="rect">
              <a:avLst/>
            </a:prstGeom>
          </p:spPr>
        </p:pic>
      </p:grpSp>
      <p:grpSp>
        <p:nvGrpSpPr>
          <p:cNvPr id="8" name="Group 7" descr="Box labeled AWS Global Infrastructure containing an icon labeled &quot;Edge locations&quot; and another labeled &quot;Regions&quot; that contains an item labeled &quot;Availability Zones.&quot;">
            <a:extLst>
              <a:ext uri="{FF2B5EF4-FFF2-40B4-BE49-F238E27FC236}">
                <a16:creationId xmlns:a16="http://schemas.microsoft.com/office/drawing/2014/main" id="{3AF02045-8D0B-78BB-EDE2-E288212C27EB}"/>
              </a:ext>
            </a:extLst>
          </p:cNvPr>
          <p:cNvGrpSpPr/>
          <p:nvPr/>
        </p:nvGrpSpPr>
        <p:grpSpPr>
          <a:xfrm>
            <a:off x="441000" y="3660495"/>
            <a:ext cx="5323665" cy="1362464"/>
            <a:chOff x="441000" y="3660495"/>
            <a:chExt cx="5323665" cy="1362464"/>
          </a:xfrm>
        </p:grpSpPr>
        <p:sp>
          <p:nvSpPr>
            <p:cNvPr id="19" name="Rectangle 18">
              <a:extLst>
                <a:ext uri="{FF2B5EF4-FFF2-40B4-BE49-F238E27FC236}">
                  <a16:creationId xmlns:a16="http://schemas.microsoft.com/office/drawing/2014/main" id="{C859B9F7-4319-CB42-A6B4-B6C986D043D6}"/>
                </a:ext>
              </a:extLst>
            </p:cNvPr>
            <p:cNvSpPr/>
            <p:nvPr/>
          </p:nvSpPr>
          <p:spPr>
            <a:xfrm>
              <a:off x="441000" y="3660495"/>
              <a:ext cx="5323665" cy="1362464"/>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a:solidFill>
                    <a:schemeClr val="tx1"/>
                  </a:solidFill>
                  <a:latin typeface="Amazon Ember" panose="02000000000000000000" pitchFamily="2" charset="0"/>
                  <a:ea typeface="Amazon Ember" panose="02000000000000000000" pitchFamily="2" charset="0"/>
                </a:rPr>
                <a:t>AWS Global </a:t>
              </a:r>
              <a:br>
                <a:rPr lang="en-US">
                  <a:solidFill>
                    <a:schemeClr val="tx1"/>
                  </a:solidFill>
                  <a:latin typeface="Amazon Ember" panose="02000000000000000000" pitchFamily="2" charset="0"/>
                  <a:ea typeface="Amazon Ember" panose="02000000000000000000" pitchFamily="2" charset="0"/>
                </a:rPr>
              </a:br>
              <a:r>
                <a:rPr lang="en-US">
                  <a:solidFill>
                    <a:schemeClr val="tx1"/>
                  </a:solidFill>
                  <a:latin typeface="Amazon Ember" panose="02000000000000000000" pitchFamily="2" charset="0"/>
                  <a:ea typeface="Amazon Ember" panose="02000000000000000000" pitchFamily="2" charset="0"/>
                </a:rPr>
                <a:t>Infrastructure</a:t>
              </a:r>
            </a:p>
          </p:txBody>
        </p:sp>
        <p:sp>
          <p:nvSpPr>
            <p:cNvPr id="20" name="Rectangle 19">
              <a:extLst>
                <a:ext uri="{FF2B5EF4-FFF2-40B4-BE49-F238E27FC236}">
                  <a16:creationId xmlns:a16="http://schemas.microsoft.com/office/drawing/2014/main" id="{B56B23F6-830F-BE4B-BF7A-870E0F8EC5D8}"/>
                </a:ext>
              </a:extLst>
            </p:cNvPr>
            <p:cNvSpPr/>
            <p:nvPr/>
          </p:nvSpPr>
          <p:spPr>
            <a:xfrm>
              <a:off x="2010012" y="3773587"/>
              <a:ext cx="2013886" cy="1024566"/>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chemeClr val="tx1"/>
                  </a:solidFill>
                  <a:latin typeface="Amazon Ember" panose="02000000000000000000" pitchFamily="2" charset="0"/>
                  <a:ea typeface="Amazon Ember" panose="02000000000000000000" pitchFamily="2" charset="0"/>
                </a:rPr>
                <a:t>Regions</a:t>
              </a:r>
              <a:endParaRPr lang="en-US" sz="1200">
                <a:solidFill>
                  <a:schemeClr val="tx1"/>
                </a:solidFill>
                <a:latin typeface="Amazon Ember" panose="02000000000000000000" pitchFamily="2" charset="0"/>
                <a:ea typeface="Amazon Ember" panose="02000000000000000000" pitchFamily="2" charset="0"/>
              </a:endParaRPr>
            </a:p>
          </p:txBody>
        </p:sp>
        <p:pic>
          <p:nvPicPr>
            <p:cNvPr id="21" name="Graphic 20">
              <a:extLst>
                <a:ext uri="{FF2B5EF4-FFF2-40B4-BE49-F238E27FC236}">
                  <a16:creationId xmlns:a16="http://schemas.microsoft.com/office/drawing/2014/main" id="{D8269494-C325-A941-BC53-08B5862DBB8F}"/>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10012" y="3773587"/>
              <a:ext cx="330200" cy="330200"/>
            </a:xfrm>
            <a:prstGeom prst="rect">
              <a:avLst/>
            </a:prstGeom>
          </p:spPr>
        </p:pic>
        <p:sp>
          <p:nvSpPr>
            <p:cNvPr id="22" name="Rectangle 21">
              <a:extLst>
                <a:ext uri="{FF2B5EF4-FFF2-40B4-BE49-F238E27FC236}">
                  <a16:creationId xmlns:a16="http://schemas.microsoft.com/office/drawing/2014/main" id="{E9CA7CAF-24D0-9748-8D87-F79A061B2AC9}"/>
                </a:ext>
              </a:extLst>
            </p:cNvPr>
            <p:cNvSpPr/>
            <p:nvPr/>
          </p:nvSpPr>
          <p:spPr>
            <a:xfrm>
              <a:off x="2072779" y="4224459"/>
              <a:ext cx="1877626" cy="466604"/>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tx1"/>
                  </a:solidFill>
                  <a:latin typeface="Amazon Ember" panose="02000000000000000000" pitchFamily="2" charset="0"/>
                  <a:ea typeface="Amazon Ember" panose="02000000000000000000" pitchFamily="2" charset="0"/>
                </a:rPr>
                <a:t>Availability Zones</a:t>
              </a:r>
            </a:p>
          </p:txBody>
        </p:sp>
        <p:sp>
          <p:nvSpPr>
            <p:cNvPr id="24" name="TextBox 23" descr="box labeled AWS Global Infrastructure. Shows  a Regions box containing Availability Zones and an icon labeled Edge locations.">
              <a:extLst>
                <a:ext uri="{FF2B5EF4-FFF2-40B4-BE49-F238E27FC236}">
                  <a16:creationId xmlns:a16="http://schemas.microsoft.com/office/drawing/2014/main" id="{35FE19B9-7FDC-C64D-99F4-6D3C264F05D4}"/>
                </a:ext>
              </a:extLst>
            </p:cNvPr>
            <p:cNvSpPr txBox="1"/>
            <p:nvPr/>
          </p:nvSpPr>
          <p:spPr>
            <a:xfrm>
              <a:off x="4109806" y="4386028"/>
              <a:ext cx="1654859" cy="338554"/>
            </a:xfrm>
            <a:prstGeom prst="rect">
              <a:avLst/>
            </a:prstGeom>
            <a:noFill/>
          </p:spPr>
          <p:txBody>
            <a:bodyPr wrap="square" rtlCol="0">
              <a:spAutoFit/>
            </a:bodyPr>
            <a:lstStyle/>
            <a:p>
              <a:pPr algn="ctr"/>
              <a:r>
                <a:rPr lang="en-US" sz="1600">
                  <a:latin typeface="Amazon Ember" panose="02000000000000000000" pitchFamily="2" charset="0"/>
                  <a:ea typeface="Amazon Ember" panose="02000000000000000000" pitchFamily="2" charset="0"/>
                  <a:cs typeface="Arial" panose="020B0604020202020204" pitchFamily="34" charset="0"/>
                </a:rPr>
                <a:t>Edge locations</a:t>
              </a:r>
            </a:p>
          </p:txBody>
        </p:sp>
        <p:pic>
          <p:nvPicPr>
            <p:cNvPr id="25" name="Graphic 24">
              <a:extLst>
                <a:ext uri="{FF2B5EF4-FFF2-40B4-BE49-F238E27FC236}">
                  <a16:creationId xmlns:a16="http://schemas.microsoft.com/office/drawing/2014/main" id="{78A233E0-26B9-DF4D-9339-6BD1AC512A42}"/>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659331" y="3894752"/>
              <a:ext cx="469900" cy="469900"/>
            </a:xfrm>
            <a:prstGeom prst="rect">
              <a:avLst/>
            </a:prstGeom>
          </p:spPr>
        </p:pic>
      </p:grpSp>
      <p:pic>
        <p:nvPicPr>
          <p:cNvPr id="11" name="Picture 10">
            <a:extLst>
              <a:ext uri="{FF2B5EF4-FFF2-40B4-BE49-F238E27FC236}">
                <a16:creationId xmlns:a16="http://schemas.microsoft.com/office/drawing/2014/main" id="{B7C3252A-593F-224A-8569-BF6868508692}"/>
              </a:ext>
              <a:ext uri="{C183D7F6-B498-43B3-948B-1728B52AA6E4}">
                <adec:decorative xmlns:adec="http://schemas.microsoft.com/office/drawing/2017/decorative" val="1"/>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0580459" y="1524228"/>
            <a:ext cx="1192441" cy="1199988"/>
          </a:xfrm>
          <a:prstGeom prst="rect">
            <a:avLst/>
          </a:prstGeom>
        </p:spPr>
      </p:pic>
      <p:pic>
        <p:nvPicPr>
          <p:cNvPr id="26" name="Picture 25">
            <a:extLst>
              <a:ext uri="{FF2B5EF4-FFF2-40B4-BE49-F238E27FC236}">
                <a16:creationId xmlns:a16="http://schemas.microsoft.com/office/drawing/2014/main" id="{E9D390CA-BA69-2C45-AE15-2219534BD377}"/>
              </a:ext>
              <a:ext uri="{C183D7F6-B498-43B3-948B-1728B52AA6E4}">
                <adec:decorative xmlns:adec="http://schemas.microsoft.com/office/drawing/2017/decorative" val="1"/>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10046669" y="4088576"/>
            <a:ext cx="1704331" cy="1204973"/>
          </a:xfrm>
          <a:prstGeom prst="rect">
            <a:avLst/>
          </a:prstGeom>
        </p:spPr>
      </p:pic>
    </p:spTree>
    <p:custDataLst>
      <p:tags r:id="rId1"/>
    </p:custDataLst>
    <p:extLst>
      <p:ext uri="{BB962C8B-B14F-4D97-AF65-F5344CB8AC3E}">
        <p14:creationId xmlns:p14="http://schemas.microsoft.com/office/powerpoint/2010/main" val="1535980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02AD194-FDCE-DE40-ACDC-34462D47F30C}"/>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23</a:t>
            </a:fld>
            <a:endParaRPr lang="en-US"/>
          </a:p>
        </p:txBody>
      </p:sp>
      <p:sp>
        <p:nvSpPr>
          <p:cNvPr id="2" name="Title 1"/>
          <p:cNvSpPr>
            <a:spLocks noGrp="1"/>
          </p:cNvSpPr>
          <p:nvPr>
            <p:ph type="title"/>
          </p:nvPr>
        </p:nvSpPr>
        <p:spPr/>
        <p:txBody>
          <a:bodyPr>
            <a:noAutofit/>
          </a:bodyPr>
          <a:lstStyle/>
          <a:p>
            <a:r>
              <a:rPr lang="en-US" dirty="0">
                <a:latin typeface="+mj-lt"/>
              </a:rPr>
              <a:t>Customer responsibility: Security </a:t>
            </a:r>
            <a:r>
              <a:rPr lang="en-US" i="1" dirty="0">
                <a:solidFill>
                  <a:srgbClr val="FF0000"/>
                </a:solidFill>
                <a:latin typeface="+mj-lt"/>
                <a:ea typeface="Amazon Ember" panose="020B0603020204020204" pitchFamily="34" charset="0"/>
                <a:cs typeface="Amazon Ember" panose="020B0603020204020204" pitchFamily="34" charset="0"/>
              </a:rPr>
              <a:t>in</a:t>
            </a:r>
            <a:r>
              <a:rPr lang="en-US" b="1" dirty="0">
                <a:solidFill>
                  <a:schemeClr val="accent5">
                    <a:lumMod val="50000"/>
                  </a:schemeClr>
                </a:solidFill>
                <a:latin typeface="+mj-lt"/>
              </a:rPr>
              <a:t> </a:t>
            </a:r>
            <a:r>
              <a:rPr lang="en-US" dirty="0">
                <a:latin typeface="+mj-lt"/>
              </a:rPr>
              <a:t>the cloud</a:t>
            </a:r>
          </a:p>
        </p:txBody>
      </p:sp>
      <p:sp>
        <p:nvSpPr>
          <p:cNvPr id="4" name="Content Placeholder 3">
            <a:extLst>
              <a:ext uri="{FF2B5EF4-FFF2-40B4-BE49-F238E27FC236}">
                <a16:creationId xmlns:a16="http://schemas.microsoft.com/office/drawing/2014/main" id="{C8DC1965-B68E-EA4E-9BED-CDBA4C6064DA}"/>
              </a:ext>
            </a:extLst>
          </p:cNvPr>
          <p:cNvSpPr>
            <a:spLocks noGrp="1"/>
          </p:cNvSpPr>
          <p:nvPr>
            <p:ph sz="quarter" idx="21"/>
          </p:nvPr>
        </p:nvSpPr>
        <p:spPr>
          <a:xfrm>
            <a:off x="6245352" y="1527048"/>
            <a:ext cx="5504688" cy="4645152"/>
          </a:xfrm>
        </p:spPr>
        <p:txBody>
          <a:bodyPr>
            <a:normAutofit/>
          </a:bodyPr>
          <a:lstStyle/>
          <a:p>
            <a:pPr marL="0" indent="0">
              <a:buNone/>
            </a:pPr>
            <a:r>
              <a:rPr lang="en-US" sz="2400"/>
              <a:t>Customer responsibilities:</a:t>
            </a:r>
          </a:p>
          <a:p>
            <a:r>
              <a:rPr lang="en-US" sz="2000"/>
              <a:t>Amazon Elastic Compute Cloud (Amazon EC2) instance </a:t>
            </a:r>
            <a:r>
              <a:rPr lang="en-US" sz="2000">
                <a:solidFill>
                  <a:schemeClr val="accent6"/>
                </a:solidFill>
              </a:rPr>
              <a:t>operating system</a:t>
            </a:r>
          </a:p>
          <a:p>
            <a:pPr lvl="1"/>
            <a:r>
              <a:rPr lang="en-US" sz="1800"/>
              <a:t>Including patching, maintenance</a:t>
            </a:r>
          </a:p>
          <a:p>
            <a:r>
              <a:rPr lang="en-US" sz="2000">
                <a:solidFill>
                  <a:schemeClr val="accent6"/>
                </a:solidFill>
              </a:rPr>
              <a:t>Applications</a:t>
            </a:r>
            <a:endParaRPr lang="en-US" sz="2000"/>
          </a:p>
          <a:p>
            <a:pPr lvl="1"/>
            <a:r>
              <a:rPr lang="en-US" sz="1800"/>
              <a:t>Passwords, role-based access, etc.</a:t>
            </a:r>
          </a:p>
          <a:p>
            <a:r>
              <a:rPr lang="en-US" sz="2000">
                <a:solidFill>
                  <a:schemeClr val="accent6"/>
                </a:solidFill>
              </a:rPr>
              <a:t>Security group </a:t>
            </a:r>
            <a:r>
              <a:rPr lang="en-US" sz="2000"/>
              <a:t>configuration</a:t>
            </a:r>
          </a:p>
          <a:p>
            <a:r>
              <a:rPr lang="en-US" sz="2000"/>
              <a:t>OS or host-based </a:t>
            </a:r>
            <a:r>
              <a:rPr lang="en-US" sz="2000">
                <a:solidFill>
                  <a:schemeClr val="accent6"/>
                </a:solidFill>
              </a:rPr>
              <a:t>firewalls</a:t>
            </a:r>
            <a:endParaRPr lang="en-US" sz="2000"/>
          </a:p>
          <a:p>
            <a:pPr lvl="1"/>
            <a:r>
              <a:rPr lang="en-US" sz="1800"/>
              <a:t>Including intrusion detection or prevention systems</a:t>
            </a:r>
          </a:p>
          <a:p>
            <a:r>
              <a:rPr lang="en-US" sz="2000">
                <a:solidFill>
                  <a:schemeClr val="accent6"/>
                </a:solidFill>
              </a:rPr>
              <a:t>Network</a:t>
            </a:r>
            <a:r>
              <a:rPr lang="en-US" sz="2000"/>
              <a:t> configurations</a:t>
            </a:r>
          </a:p>
          <a:p>
            <a:r>
              <a:rPr lang="en-US" sz="2000"/>
              <a:t>Account management</a:t>
            </a:r>
          </a:p>
          <a:p>
            <a:pPr lvl="1"/>
            <a:r>
              <a:rPr lang="en-US" sz="1800"/>
              <a:t>Login and permission settings for each user</a:t>
            </a:r>
            <a:endParaRPr lang="en-US" sz="2000"/>
          </a:p>
        </p:txBody>
      </p:sp>
      <p:sp>
        <p:nvSpPr>
          <p:cNvPr id="20" name="TextBox 19"/>
          <p:cNvSpPr txBox="1"/>
          <p:nvPr/>
        </p:nvSpPr>
        <p:spPr>
          <a:xfrm>
            <a:off x="1211423" y="5456344"/>
            <a:ext cx="3816415" cy="345451"/>
          </a:xfrm>
          <a:prstGeom prst="rect">
            <a:avLst/>
          </a:prstGeom>
          <a:noFill/>
        </p:spPr>
        <p:txBody>
          <a:bodyPr wrap="square" lIns="67744" tIns="33895" rIns="67744" bIns="33895" rtlCol="0">
            <a:spAutoFit/>
          </a:bodyPr>
          <a:lstStyle/>
          <a:p>
            <a:pPr algn="ctr" defTabSz="457200"/>
            <a:r>
              <a:rPr lang="en-US" kern="0">
                <a:solidFill>
                  <a:srgbClr val="504BAB"/>
                </a:solidFill>
                <a:latin typeface="Amazon Ember" panose="020B0603020204020204" pitchFamily="34" charset="0"/>
                <a:ea typeface="Amazon Ember" panose="020B0603020204020204" pitchFamily="34" charset="0"/>
                <a:cs typeface="Amazon Ember" panose="020B0603020204020204" pitchFamily="34" charset="0"/>
              </a:rPr>
              <a:t>Customer-configurable</a:t>
            </a:r>
          </a:p>
        </p:txBody>
      </p:sp>
      <p:sp>
        <p:nvSpPr>
          <p:cNvPr id="26" name="Rectangle 5" descr="Customer data."/>
          <p:cNvSpPr/>
          <p:nvPr/>
        </p:nvSpPr>
        <p:spPr bwMode="auto">
          <a:xfrm>
            <a:off x="425014" y="2210462"/>
            <a:ext cx="5389234" cy="562791"/>
          </a:xfrm>
          <a:prstGeom prst="roundRect">
            <a:avLst/>
          </a:prstGeom>
          <a:solidFill>
            <a:srgbClr val="D6F4F0"/>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lIns="90325" tIns="45193" rIns="90325" bIns="45193"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Customer data</a:t>
            </a:r>
          </a:p>
        </p:txBody>
      </p:sp>
      <p:sp>
        <p:nvSpPr>
          <p:cNvPr id="24" name="Rectangle 5" descr="Applications, IAM."/>
          <p:cNvSpPr/>
          <p:nvPr/>
        </p:nvSpPr>
        <p:spPr bwMode="auto">
          <a:xfrm>
            <a:off x="425014" y="2849818"/>
            <a:ext cx="5389234" cy="562791"/>
          </a:xfrm>
          <a:prstGeom prst="roundRect">
            <a:avLst/>
          </a:prstGeom>
          <a:solidFill>
            <a:schemeClr val="accent5">
              <a:lumMod val="20000"/>
              <a:lumOff val="80000"/>
            </a:schemeClr>
          </a:solidFill>
          <a:ln>
            <a:noFill/>
            <a:headEnd type="none" w="med" len="med"/>
            <a:tailEnd type="none" w="med" len="med"/>
          </a:ln>
          <a:effectLst/>
        </p:spPr>
        <p:style>
          <a:lnRef idx="1">
            <a:schemeClr val="accent3"/>
          </a:lnRef>
          <a:fillRef idx="3">
            <a:schemeClr val="accent3"/>
          </a:fillRef>
          <a:effectRef idx="2">
            <a:schemeClr val="accent3"/>
          </a:effectRef>
          <a:fontRef idx="minor">
            <a:schemeClr val="lt1"/>
          </a:fontRef>
        </p:style>
        <p:txBody>
          <a:bodyPr lIns="90325" tIns="45193" rIns="90325" bIns="45193"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Applications, IAM</a:t>
            </a:r>
          </a:p>
        </p:txBody>
      </p:sp>
      <p:sp>
        <p:nvSpPr>
          <p:cNvPr id="25" name="Rectangle 5" descr="Operating system, network, and firewall configuration."/>
          <p:cNvSpPr/>
          <p:nvPr/>
        </p:nvSpPr>
        <p:spPr bwMode="auto">
          <a:xfrm>
            <a:off x="439630" y="3481027"/>
            <a:ext cx="5384720" cy="517606"/>
          </a:xfrm>
          <a:prstGeom prst="roundRect">
            <a:avLst/>
          </a:prstGeom>
          <a:solidFill>
            <a:schemeClr val="accent4">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Operating system, network, and firewall configuration</a:t>
            </a:r>
          </a:p>
        </p:txBody>
      </p:sp>
      <p:sp>
        <p:nvSpPr>
          <p:cNvPr id="28" name="Rectangle 5" descr="Client-side data&#10;encryption and data integrity authentication."/>
          <p:cNvSpPr/>
          <p:nvPr/>
        </p:nvSpPr>
        <p:spPr bwMode="auto">
          <a:xfrm>
            <a:off x="435949" y="4069770"/>
            <a:ext cx="1766069" cy="1338479"/>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Client-side data</a:t>
            </a:r>
          </a:p>
          <a:p>
            <a:pPr algn="ctr" defTabSz="451926" fontAlgn="base">
              <a:spcBef>
                <a:spcPct val="0"/>
              </a:spcBef>
              <a:spcAft>
                <a:spcPct val="0"/>
              </a:spcAft>
              <a:defRPr/>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encryption and data integrity authentication</a:t>
            </a:r>
          </a:p>
        </p:txBody>
      </p:sp>
      <p:sp>
        <p:nvSpPr>
          <p:cNvPr id="29" name="Rectangle 5" descr="Server-side encryption (file system or data)."/>
          <p:cNvSpPr/>
          <p:nvPr/>
        </p:nvSpPr>
        <p:spPr bwMode="auto">
          <a:xfrm>
            <a:off x="2245276" y="4079277"/>
            <a:ext cx="1766069" cy="1324264"/>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Server-side encryption </a:t>
            </a:r>
          </a:p>
          <a:p>
            <a:pPr algn="ctr" defTabSz="451926" fontAlgn="base">
              <a:spcBef>
                <a:spcPct val="0"/>
              </a:spcBef>
              <a:spcAft>
                <a:spcPct val="0"/>
              </a:spcAft>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(file system or data)</a:t>
            </a:r>
          </a:p>
        </p:txBody>
      </p:sp>
      <p:sp>
        <p:nvSpPr>
          <p:cNvPr id="27" name="Rectangle 5" descr="Network traffic protection (encryption, integrity, identity).&#10;"/>
          <p:cNvSpPr/>
          <p:nvPr/>
        </p:nvSpPr>
        <p:spPr bwMode="auto">
          <a:xfrm>
            <a:off x="4058278" y="4076558"/>
            <a:ext cx="1766069" cy="1338479"/>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Network traffic protection</a:t>
            </a:r>
          </a:p>
          <a:p>
            <a:pPr algn="ctr" defTabSz="451926" fontAlgn="base">
              <a:spcBef>
                <a:spcPct val="0"/>
              </a:spcBef>
              <a:spcAft>
                <a:spcPct val="0"/>
              </a:spcAft>
            </a:pPr>
            <a:r>
              <a:rPr lang="en-US" altLang="ja-JP"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(encryption, integrity, identity)</a:t>
            </a:r>
          </a:p>
        </p:txBody>
      </p:sp>
    </p:spTree>
    <p:custDataLst>
      <p:tags r:id="rId1"/>
    </p:custDataLst>
    <p:extLst>
      <p:ext uri="{BB962C8B-B14F-4D97-AF65-F5344CB8AC3E}">
        <p14:creationId xmlns:p14="http://schemas.microsoft.com/office/powerpoint/2010/main" val="3561790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0F1E7D-7DD2-110C-CF2E-2B73FE1F1F0D}"/>
              </a:ext>
            </a:extLst>
          </p:cNvPr>
          <p:cNvSpPr>
            <a:spLocks noGrp="1"/>
          </p:cNvSpPr>
          <p:nvPr>
            <p:ph idx="14"/>
          </p:nvPr>
        </p:nvSpPr>
        <p:spPr/>
        <p:txBody>
          <a:bodyPr/>
          <a:lstStyle/>
          <a:p>
            <a:r>
              <a:rPr lang="en-US" dirty="0"/>
              <a:t>Turkey's Pegasus Airlines "gave away" </a:t>
            </a:r>
            <a:r>
              <a:rPr lang="en-US" b="1" dirty="0">
                <a:solidFill>
                  <a:srgbClr val="FF0000"/>
                </a:solidFill>
              </a:rPr>
              <a:t>6.5Tb</a:t>
            </a:r>
            <a:r>
              <a:rPr lang="en-US" dirty="0"/>
              <a:t> of sensitive data</a:t>
            </a:r>
          </a:p>
        </p:txBody>
      </p:sp>
      <p:sp>
        <p:nvSpPr>
          <p:cNvPr id="3" name="Title 2">
            <a:extLst>
              <a:ext uri="{FF2B5EF4-FFF2-40B4-BE49-F238E27FC236}">
                <a16:creationId xmlns:a16="http://schemas.microsoft.com/office/drawing/2014/main" id="{C027602A-BFF9-8578-2F36-81C06125E4B1}"/>
              </a:ext>
            </a:extLst>
          </p:cNvPr>
          <p:cNvSpPr>
            <a:spLocks noGrp="1"/>
          </p:cNvSpPr>
          <p:nvPr>
            <p:ph type="title"/>
          </p:nvPr>
        </p:nvSpPr>
        <p:spPr/>
        <p:txBody>
          <a:bodyPr>
            <a:normAutofit fontScale="90000"/>
          </a:bodyPr>
          <a:lstStyle/>
          <a:p>
            <a:r>
              <a:rPr lang="en-US" dirty="0"/>
              <a:t>Cautionary Tale: Cloud Storage Security</a:t>
            </a:r>
          </a:p>
        </p:txBody>
      </p:sp>
      <p:sp>
        <p:nvSpPr>
          <p:cNvPr id="4" name="Text Placeholder 3">
            <a:extLst>
              <a:ext uri="{FF2B5EF4-FFF2-40B4-BE49-F238E27FC236}">
                <a16:creationId xmlns:a16="http://schemas.microsoft.com/office/drawing/2014/main" id="{30A50E8A-7C19-7672-FF1C-30016AA6710C}"/>
              </a:ext>
            </a:extLst>
          </p:cNvPr>
          <p:cNvSpPr>
            <a:spLocks noGrp="1"/>
          </p:cNvSpPr>
          <p:nvPr>
            <p:ph type="body" sz="quarter" idx="11"/>
          </p:nvPr>
        </p:nvSpPr>
        <p:spPr/>
        <p:txBody>
          <a:bodyPr/>
          <a:lstStyle/>
          <a:p>
            <a:endParaRPr lang="en-US"/>
          </a:p>
        </p:txBody>
      </p:sp>
      <p:sp>
        <p:nvSpPr>
          <p:cNvPr id="5" name="Slide Number Placeholder 4">
            <a:extLst>
              <a:ext uri="{FF2B5EF4-FFF2-40B4-BE49-F238E27FC236}">
                <a16:creationId xmlns:a16="http://schemas.microsoft.com/office/drawing/2014/main" id="{50AF1326-6F4C-EF05-F1B6-1FD3D4C15170}"/>
              </a:ext>
            </a:extLst>
          </p:cNvPr>
          <p:cNvSpPr>
            <a:spLocks noGrp="1"/>
          </p:cNvSpPr>
          <p:nvPr>
            <p:ph type="sldNum" sz="quarter" idx="15"/>
          </p:nvPr>
        </p:nvSpPr>
        <p:spPr/>
        <p:txBody>
          <a:bodyPr/>
          <a:lstStyle/>
          <a:p>
            <a:fld id="{F994776A-187E-9540-9EA4-8D5781AB769D}" type="slidenum">
              <a:rPr lang="en-US" smtClean="0"/>
              <a:pPr/>
              <a:t>24</a:t>
            </a:fld>
            <a:endParaRPr lang="en-US" dirty="0"/>
          </a:p>
        </p:txBody>
      </p:sp>
      <p:sp>
        <p:nvSpPr>
          <p:cNvPr id="6" name="TextBox 5">
            <a:extLst>
              <a:ext uri="{FF2B5EF4-FFF2-40B4-BE49-F238E27FC236}">
                <a16:creationId xmlns:a16="http://schemas.microsoft.com/office/drawing/2014/main" id="{E300A48A-E7F7-24A6-9D97-078DC78658D8}"/>
              </a:ext>
            </a:extLst>
          </p:cNvPr>
          <p:cNvSpPr txBox="1"/>
          <p:nvPr/>
        </p:nvSpPr>
        <p:spPr>
          <a:xfrm>
            <a:off x="3923608" y="4982367"/>
            <a:ext cx="8099565" cy="1015663"/>
          </a:xfrm>
          <a:prstGeom prst="rect">
            <a:avLst/>
          </a:prstGeom>
          <a:noFill/>
        </p:spPr>
        <p:txBody>
          <a:bodyPr wrap="square" rtlCol="0">
            <a:spAutoFit/>
          </a:bodyPr>
          <a:lstStyle/>
          <a:p>
            <a:r>
              <a:rPr lang="en-US" sz="2000" dirty="0">
                <a:latin typeface="Acumin Pro" panose="020B0504020202020204" pitchFamily="34" charset="77"/>
              </a:rPr>
              <a:t>"These files were left accessible and could allow anyone to delete, modify, or upload data to additional encrypted or password-protected databases, files, and folders on the bucket"</a:t>
            </a:r>
          </a:p>
        </p:txBody>
      </p:sp>
      <p:sp>
        <p:nvSpPr>
          <p:cNvPr id="7" name="TextBox 6">
            <a:extLst>
              <a:ext uri="{FF2B5EF4-FFF2-40B4-BE49-F238E27FC236}">
                <a16:creationId xmlns:a16="http://schemas.microsoft.com/office/drawing/2014/main" id="{5C35C693-9554-77C4-9A0C-43DBEEC9D8A9}"/>
              </a:ext>
            </a:extLst>
          </p:cNvPr>
          <p:cNvSpPr txBox="1"/>
          <p:nvPr/>
        </p:nvSpPr>
        <p:spPr>
          <a:xfrm>
            <a:off x="640081" y="2285597"/>
            <a:ext cx="7115695" cy="1015663"/>
          </a:xfrm>
          <a:prstGeom prst="rect">
            <a:avLst/>
          </a:prstGeom>
          <a:noFill/>
        </p:spPr>
        <p:txBody>
          <a:bodyPr wrap="square" rtlCol="0">
            <a:spAutoFit/>
          </a:bodyPr>
          <a:lstStyle/>
          <a:p>
            <a:r>
              <a:rPr lang="en-US" sz="2000" dirty="0">
                <a:latin typeface="Acumin Pro" panose="020B0504020202020204" pitchFamily="34" charset="77"/>
              </a:rPr>
              <a:t>"An AWS S3 bucket containing Pegasus Airlines' Electronic Flight Bag (EFB) information was left without password protection, leaking a range of sensitive flight data,"</a:t>
            </a:r>
          </a:p>
        </p:txBody>
      </p:sp>
      <p:sp>
        <p:nvSpPr>
          <p:cNvPr id="8" name="TextBox 7">
            <a:extLst>
              <a:ext uri="{FF2B5EF4-FFF2-40B4-BE49-F238E27FC236}">
                <a16:creationId xmlns:a16="http://schemas.microsoft.com/office/drawing/2014/main" id="{FF88BBCB-8291-0C2D-6831-F04B4E4B5FFF}"/>
              </a:ext>
            </a:extLst>
          </p:cNvPr>
          <p:cNvSpPr txBox="1"/>
          <p:nvPr/>
        </p:nvSpPr>
        <p:spPr>
          <a:xfrm>
            <a:off x="1615354" y="3556740"/>
            <a:ext cx="9019309" cy="1015663"/>
          </a:xfrm>
          <a:prstGeom prst="rect">
            <a:avLst/>
          </a:prstGeom>
          <a:noFill/>
        </p:spPr>
        <p:txBody>
          <a:bodyPr wrap="square" rtlCol="0">
            <a:spAutoFit/>
          </a:bodyPr>
          <a:lstStyle/>
          <a:p>
            <a:r>
              <a:rPr lang="en-US" sz="2000" dirty="0">
                <a:latin typeface="Acumin Pro" panose="020B0504020202020204" pitchFamily="34" charset="77"/>
              </a:rPr>
              <a:t>"</a:t>
            </a:r>
            <a:r>
              <a:rPr lang="en-US" sz="2000" dirty="0" err="1">
                <a:latin typeface="Acumin Pro" panose="020B0504020202020204" pitchFamily="34" charset="77"/>
              </a:rPr>
              <a:t>PegasusEFB's</a:t>
            </a:r>
            <a:r>
              <a:rPr lang="en-US" sz="2000" dirty="0">
                <a:latin typeface="Acumin Pro" panose="020B0504020202020204" pitchFamily="34" charset="77"/>
              </a:rPr>
              <a:t> open bucket left data in more than 23 million files accessible to anyone, while also exposing EFB software's source code, which contained plain-text passwords and secret keys"</a:t>
            </a:r>
          </a:p>
        </p:txBody>
      </p:sp>
    </p:spTree>
    <p:extLst>
      <p:ext uri="{BB962C8B-B14F-4D97-AF65-F5344CB8AC3E}">
        <p14:creationId xmlns:p14="http://schemas.microsoft.com/office/powerpoint/2010/main" val="196123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75D8BB1-3643-6B45-996C-47BCC8095C8A}"/>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25</a:t>
            </a:fld>
            <a:endParaRPr lang="en-US"/>
          </a:p>
        </p:txBody>
      </p:sp>
      <p:sp>
        <p:nvSpPr>
          <p:cNvPr id="4" name="Title 1"/>
          <p:cNvSpPr>
            <a:spLocks noGrp="1"/>
          </p:cNvSpPr>
          <p:nvPr>
            <p:ph type="title"/>
          </p:nvPr>
        </p:nvSpPr>
        <p:spPr/>
        <p:txBody>
          <a:bodyPr>
            <a:normAutofit fontScale="90000"/>
          </a:bodyPr>
          <a:lstStyle/>
          <a:p>
            <a:r>
              <a:rPr lang="en-US"/>
              <a:t>Activity: Scenario 1 of 2</a:t>
            </a:r>
          </a:p>
        </p:txBody>
      </p:sp>
      <p:sp>
        <p:nvSpPr>
          <p:cNvPr id="6" name="TextBox 5">
            <a:extLst>
              <a:ext uri="{FF2B5EF4-FFF2-40B4-BE49-F238E27FC236}">
                <a16:creationId xmlns:a16="http://schemas.microsoft.com/office/drawing/2014/main" id="{6281A826-29AD-774B-AE52-A047C7B4AD91}"/>
              </a:ext>
            </a:extLst>
          </p:cNvPr>
          <p:cNvSpPr txBox="1"/>
          <p:nvPr/>
        </p:nvSpPr>
        <p:spPr>
          <a:xfrm>
            <a:off x="419100" y="1281787"/>
            <a:ext cx="11159893" cy="461665"/>
          </a:xfrm>
          <a:prstGeom prst="rect">
            <a:avLst/>
          </a:prstGeom>
          <a:noFill/>
        </p:spPr>
        <p:txBody>
          <a:bodyPr wrap="square" rtlCol="0">
            <a:spAutoFit/>
          </a:bodyPr>
          <a:lstStyle/>
          <a:p>
            <a:r>
              <a:rPr lang="en-US" sz="2400" b="1">
                <a:solidFill>
                  <a:srgbClr val="504BAB"/>
                </a:solidFill>
              </a:rPr>
              <a:t>Consider this deployment. Who is responsible – AWS or the customer?</a:t>
            </a:r>
            <a:endParaRPr lang="en-US" sz="2400" b="1">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7" name="Content Placeholder 2">
            <a:extLst>
              <a:ext uri="{FF2B5EF4-FFF2-40B4-BE49-F238E27FC236}">
                <a16:creationId xmlns:a16="http://schemas.microsoft.com/office/drawing/2014/main" id="{3168251C-9A60-F14C-9D92-CD0B1D639F03}"/>
              </a:ext>
            </a:extLst>
          </p:cNvPr>
          <p:cNvSpPr txBox="1">
            <a:spLocks/>
          </p:cNvSpPr>
          <p:nvPr/>
        </p:nvSpPr>
        <p:spPr>
          <a:xfrm>
            <a:off x="5200556" y="1927954"/>
            <a:ext cx="3094358" cy="39829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2000" dirty="0"/>
              <a:t>Upgrades and patches to the operating system on the </a:t>
            </a:r>
            <a:r>
              <a:rPr lang="en-US" sz="2000" dirty="0" err="1"/>
              <a:t>EC2</a:t>
            </a:r>
            <a:r>
              <a:rPr lang="en-US" sz="2000" dirty="0"/>
              <a:t> instance?</a:t>
            </a:r>
          </a:p>
          <a:p>
            <a:pPr marL="342900" indent="-342900">
              <a:buFont typeface="+mj-lt"/>
              <a:buAutoNum type="arabicPeriod"/>
            </a:pPr>
            <a:r>
              <a:rPr lang="en-US" sz="2000" dirty="0"/>
              <a:t>Physical security of the data center?</a:t>
            </a:r>
            <a:endParaRPr lang="en-US" sz="2000" dirty="0">
              <a:solidFill>
                <a:schemeClr val="accent6"/>
              </a:solidFill>
            </a:endParaRPr>
          </a:p>
          <a:p>
            <a:pPr marL="342900" indent="-342900">
              <a:buFont typeface="+mj-lt"/>
              <a:buAutoNum type="arabicPeriod"/>
            </a:pPr>
            <a:r>
              <a:rPr lang="en-US" sz="2000" dirty="0"/>
              <a:t>Virtualization infrastructure?</a:t>
            </a:r>
          </a:p>
          <a:p>
            <a:pPr marL="342900" indent="-342900">
              <a:buFont typeface="+mj-lt"/>
              <a:buAutoNum type="arabicPeriod"/>
            </a:pPr>
            <a:r>
              <a:rPr lang="en-US" sz="2000" dirty="0" err="1"/>
              <a:t>EC2</a:t>
            </a:r>
            <a:r>
              <a:rPr lang="en-US" sz="2000" dirty="0"/>
              <a:t> security group settings?</a:t>
            </a:r>
          </a:p>
          <a:p>
            <a:pPr marL="342900" indent="-342900">
              <a:buFont typeface="+mj-lt"/>
              <a:buAutoNum type="arabicPeriod"/>
            </a:pPr>
            <a:r>
              <a:rPr lang="en-US" sz="2000" dirty="0"/>
              <a:t>Configuration of applications that run on the </a:t>
            </a:r>
            <a:r>
              <a:rPr lang="en-US" sz="2000" dirty="0" err="1"/>
              <a:t>EC2</a:t>
            </a:r>
            <a:r>
              <a:rPr lang="en-US" sz="2000" dirty="0"/>
              <a:t> instance?</a:t>
            </a:r>
          </a:p>
        </p:txBody>
      </p:sp>
      <p:sp>
        <p:nvSpPr>
          <p:cNvPr id="30" name="Content Placeholder 2">
            <a:extLst>
              <a:ext uri="{FF2B5EF4-FFF2-40B4-BE49-F238E27FC236}">
                <a16:creationId xmlns:a16="http://schemas.microsoft.com/office/drawing/2014/main" id="{0D6A1B44-E47E-714D-A549-0CCAF10451D2}"/>
              </a:ext>
            </a:extLst>
          </p:cNvPr>
          <p:cNvSpPr txBox="1">
            <a:spLocks/>
          </p:cNvSpPr>
          <p:nvPr/>
        </p:nvSpPr>
        <p:spPr>
          <a:xfrm>
            <a:off x="8484635" y="1929137"/>
            <a:ext cx="3094358" cy="38087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2000" dirty="0"/>
              <a:t>Oracle upgrades or patches If the Oracle instance runs as an Amazon </a:t>
            </a:r>
            <a:r>
              <a:rPr lang="en-US" sz="2000" dirty="0" err="1"/>
              <a:t>RDS</a:t>
            </a:r>
            <a:r>
              <a:rPr lang="en-US" sz="2000" dirty="0"/>
              <a:t> instance?</a:t>
            </a:r>
          </a:p>
          <a:p>
            <a:pPr marL="342900" indent="-342900">
              <a:buFont typeface="+mj-lt"/>
              <a:buAutoNum type="arabicPeriod" startAt="6"/>
            </a:pPr>
            <a:r>
              <a:rPr lang="en-US" sz="2000" dirty="0"/>
              <a:t>Oracle upgrades or patches If Oracle runs on an </a:t>
            </a:r>
            <a:r>
              <a:rPr lang="en-US" sz="2000" dirty="0" err="1"/>
              <a:t>EC2</a:t>
            </a:r>
            <a:r>
              <a:rPr lang="en-US" sz="2000" dirty="0"/>
              <a:t> instance?</a:t>
            </a:r>
          </a:p>
          <a:p>
            <a:pPr marL="342900" indent="-342900">
              <a:buFont typeface="+mj-lt"/>
              <a:buAutoNum type="arabicPeriod" startAt="6"/>
            </a:pPr>
            <a:r>
              <a:rPr lang="en-US" sz="2000" dirty="0" err="1"/>
              <a:t>S3</a:t>
            </a:r>
            <a:r>
              <a:rPr lang="en-US" sz="2000" dirty="0"/>
              <a:t> bucket access configuration?</a:t>
            </a:r>
          </a:p>
        </p:txBody>
      </p:sp>
      <p:grpSp>
        <p:nvGrpSpPr>
          <p:cNvPr id="2" name="Group 1" descr="Architectural diagram showing an AWS Cloud box which contains an AWS Global Infrastructure area, an Amazon S3 bucket, and a VPC which contains an Amazon EC2 instance and an Oracle instance.">
            <a:extLst>
              <a:ext uri="{FF2B5EF4-FFF2-40B4-BE49-F238E27FC236}">
                <a16:creationId xmlns:a16="http://schemas.microsoft.com/office/drawing/2014/main" id="{9A745969-01CA-C614-74D4-3A8435904153}"/>
              </a:ext>
            </a:extLst>
          </p:cNvPr>
          <p:cNvGrpSpPr/>
          <p:nvPr/>
        </p:nvGrpSpPr>
        <p:grpSpPr>
          <a:xfrm>
            <a:off x="254000" y="1894114"/>
            <a:ext cx="4796972" cy="3244556"/>
            <a:chOff x="254000" y="1894114"/>
            <a:chExt cx="4796972" cy="3244556"/>
          </a:xfrm>
        </p:grpSpPr>
        <p:pic>
          <p:nvPicPr>
            <p:cNvPr id="10" name="Graphic 9">
              <a:extLst>
                <a:ext uri="{FF2B5EF4-FFF2-40B4-BE49-F238E27FC236}">
                  <a16:creationId xmlns:a16="http://schemas.microsoft.com/office/drawing/2014/main" id="{6BB2521E-0885-344C-9748-52E3F00AB24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6096" y="2741058"/>
              <a:ext cx="711200" cy="711200"/>
            </a:xfrm>
            <a:prstGeom prst="rect">
              <a:avLst/>
            </a:prstGeom>
          </p:spPr>
        </p:pic>
        <p:sp>
          <p:nvSpPr>
            <p:cNvPr id="12" name="TextBox 11">
              <a:extLst>
                <a:ext uri="{FF2B5EF4-FFF2-40B4-BE49-F238E27FC236}">
                  <a16:creationId xmlns:a16="http://schemas.microsoft.com/office/drawing/2014/main" id="{1EA8A186-3FF5-A842-B753-04F0E39A200B}"/>
                </a:ext>
              </a:extLst>
            </p:cNvPr>
            <p:cNvSpPr txBox="1"/>
            <p:nvPr/>
          </p:nvSpPr>
          <p:spPr>
            <a:xfrm>
              <a:off x="273666" y="3459335"/>
              <a:ext cx="1624529" cy="830997"/>
            </a:xfrm>
            <a:prstGeom prst="rect">
              <a:avLst/>
            </a:prstGeom>
            <a:noFill/>
          </p:spPr>
          <p:txBody>
            <a:bodyPr wrap="square" rtlCol="0">
              <a:spAutoFit/>
            </a:bodyPr>
            <a:lstStyle/>
            <a:p>
              <a:pPr algn="ctr"/>
              <a:r>
                <a:rPr lang="en-US" sz="1600"/>
                <a:t>Amazon Simple Storage Service (Amazon S3)</a:t>
              </a:r>
            </a:p>
          </p:txBody>
        </p:sp>
        <p:sp>
          <p:nvSpPr>
            <p:cNvPr id="14" name="TextBox 13">
              <a:extLst>
                <a:ext uri="{FF2B5EF4-FFF2-40B4-BE49-F238E27FC236}">
                  <a16:creationId xmlns:a16="http://schemas.microsoft.com/office/drawing/2014/main" id="{DEFB4DA9-1A4E-F34B-88DE-5D0959E06D03}"/>
                </a:ext>
              </a:extLst>
            </p:cNvPr>
            <p:cNvSpPr txBox="1"/>
            <p:nvPr/>
          </p:nvSpPr>
          <p:spPr>
            <a:xfrm>
              <a:off x="2077747" y="3511425"/>
              <a:ext cx="1513305" cy="584775"/>
            </a:xfrm>
            <a:prstGeom prst="rect">
              <a:avLst/>
            </a:prstGeom>
            <a:noFill/>
          </p:spPr>
          <p:txBody>
            <a:bodyPr wrap="square" rtlCol="0">
              <a:spAutoFit/>
            </a:bodyPr>
            <a:lstStyle/>
            <a:p>
              <a:pPr algn="ctr"/>
              <a:r>
                <a:rPr lang="en-US" sz="1600"/>
                <a:t>Amazon </a:t>
              </a:r>
              <a:br>
                <a:rPr lang="en-US" sz="1600"/>
              </a:br>
              <a:r>
                <a:rPr lang="en-US" sz="1600"/>
                <a:t>EC2</a:t>
              </a:r>
            </a:p>
          </p:txBody>
        </p:sp>
        <p:pic>
          <p:nvPicPr>
            <p:cNvPr id="15" name="Graphic 14">
              <a:extLst>
                <a:ext uri="{FF2B5EF4-FFF2-40B4-BE49-F238E27FC236}">
                  <a16:creationId xmlns:a16="http://schemas.microsoft.com/office/drawing/2014/main" id="{CFCA6B7F-3260-7847-9028-AF1EFB601FB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78800" y="2741058"/>
              <a:ext cx="711200" cy="711200"/>
            </a:xfrm>
            <a:prstGeom prst="rect">
              <a:avLst/>
            </a:prstGeom>
          </p:spPr>
        </p:pic>
        <p:sp>
          <p:nvSpPr>
            <p:cNvPr id="18" name="Rectangle 17">
              <a:extLst>
                <a:ext uri="{FF2B5EF4-FFF2-40B4-BE49-F238E27FC236}">
                  <a16:creationId xmlns:a16="http://schemas.microsoft.com/office/drawing/2014/main" id="{3EA89E8D-EBD6-BC48-A1A4-6F8FB7E9F3DC}"/>
                </a:ext>
              </a:extLst>
            </p:cNvPr>
            <p:cNvSpPr/>
            <p:nvPr/>
          </p:nvSpPr>
          <p:spPr>
            <a:xfrm>
              <a:off x="2039048" y="2130006"/>
              <a:ext cx="2709883" cy="2035244"/>
            </a:xfrm>
            <a:prstGeom prst="rect">
              <a:avLst/>
            </a:prstGeom>
            <a:noFill/>
            <a:ln w="12700">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ln w="0"/>
                  <a:solidFill>
                    <a:srgbClr val="504BAB"/>
                  </a:solidFill>
                </a:rPr>
                <a:t>Virtual Private Cloud (VPC)</a:t>
              </a:r>
              <a:endParaRPr lang="en-US" sz="1200">
                <a:ln w="0"/>
                <a:solidFill>
                  <a:srgbClr val="504BAB"/>
                </a:solidFill>
              </a:endParaRPr>
            </a:p>
          </p:txBody>
        </p:sp>
        <p:pic>
          <p:nvPicPr>
            <p:cNvPr id="19" name="Graphic 18">
              <a:extLst>
                <a:ext uri="{FF2B5EF4-FFF2-40B4-BE49-F238E27FC236}">
                  <a16:creationId xmlns:a16="http://schemas.microsoft.com/office/drawing/2014/main" id="{217CA18F-C790-8249-A9C4-0B7DF0607DC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39048" y="2138782"/>
              <a:ext cx="327291" cy="327291"/>
            </a:xfrm>
            <a:prstGeom prst="rect">
              <a:avLst/>
            </a:prstGeom>
          </p:spPr>
        </p:pic>
        <p:sp>
          <p:nvSpPr>
            <p:cNvPr id="20" name="TextBox 19">
              <a:extLst>
                <a:ext uri="{FF2B5EF4-FFF2-40B4-BE49-F238E27FC236}">
                  <a16:creationId xmlns:a16="http://schemas.microsoft.com/office/drawing/2014/main" id="{EE1C367D-62EF-0746-B2F0-848ADC656C91}"/>
                </a:ext>
              </a:extLst>
            </p:cNvPr>
            <p:cNvSpPr txBox="1"/>
            <p:nvPr/>
          </p:nvSpPr>
          <p:spPr>
            <a:xfrm>
              <a:off x="3535845" y="3491820"/>
              <a:ext cx="1162652" cy="830997"/>
            </a:xfrm>
            <a:prstGeom prst="rect">
              <a:avLst/>
            </a:prstGeom>
            <a:noFill/>
          </p:spPr>
          <p:txBody>
            <a:bodyPr wrap="square" rtlCol="0">
              <a:spAutoFit/>
            </a:bodyPr>
            <a:lstStyle/>
            <a:p>
              <a:pPr algn="ctr"/>
              <a:r>
                <a:rPr lang="en-US" sz="1600"/>
                <a:t>Oracle instance</a:t>
              </a:r>
            </a:p>
            <a:p>
              <a:pPr algn="ctr"/>
              <a:endParaRPr lang="en-US" sz="1600"/>
            </a:p>
          </p:txBody>
        </p:sp>
        <p:pic>
          <p:nvPicPr>
            <p:cNvPr id="21" name="Graphic 20">
              <a:extLst>
                <a:ext uri="{FF2B5EF4-FFF2-40B4-BE49-F238E27FC236}">
                  <a16:creationId xmlns:a16="http://schemas.microsoft.com/office/drawing/2014/main" id="{5CB8050E-54BF-524A-862D-1688F3F4A33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796417" y="2741058"/>
              <a:ext cx="711200" cy="711200"/>
            </a:xfrm>
            <a:prstGeom prst="rect">
              <a:avLst/>
            </a:prstGeom>
          </p:spPr>
        </p:pic>
        <p:sp>
          <p:nvSpPr>
            <p:cNvPr id="23" name="Rectangle 22">
              <a:extLst>
                <a:ext uri="{FF2B5EF4-FFF2-40B4-BE49-F238E27FC236}">
                  <a16:creationId xmlns:a16="http://schemas.microsoft.com/office/drawing/2014/main" id="{7710ABD6-8348-D848-8430-3475FE28A221}"/>
                </a:ext>
              </a:extLst>
            </p:cNvPr>
            <p:cNvSpPr/>
            <p:nvPr/>
          </p:nvSpPr>
          <p:spPr>
            <a:xfrm>
              <a:off x="254000" y="1894114"/>
              <a:ext cx="4796972" cy="324455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AWS Cloud</a:t>
              </a:r>
            </a:p>
          </p:txBody>
        </p:sp>
        <p:pic>
          <p:nvPicPr>
            <p:cNvPr id="24" name="Graphic 23">
              <a:extLst>
                <a:ext uri="{FF2B5EF4-FFF2-40B4-BE49-F238E27FC236}">
                  <a16:creationId xmlns:a16="http://schemas.microsoft.com/office/drawing/2014/main" id="{8E7E642E-C34B-9B40-93F3-ED96D531A278}"/>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54000" y="1903220"/>
              <a:ext cx="330200" cy="330200"/>
            </a:xfrm>
            <a:prstGeom prst="rect">
              <a:avLst/>
            </a:prstGeom>
          </p:spPr>
        </p:pic>
        <p:sp>
          <p:nvSpPr>
            <p:cNvPr id="26" name="Rectangle 25">
              <a:extLst>
                <a:ext uri="{FF2B5EF4-FFF2-40B4-BE49-F238E27FC236}">
                  <a16:creationId xmlns:a16="http://schemas.microsoft.com/office/drawing/2014/main" id="{91C2A163-D034-FC49-9979-6ADBD7D60443}"/>
                </a:ext>
              </a:extLst>
            </p:cNvPr>
            <p:cNvSpPr/>
            <p:nvPr/>
          </p:nvSpPr>
          <p:spPr>
            <a:xfrm>
              <a:off x="664550" y="4349064"/>
              <a:ext cx="4084382" cy="584775"/>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2400">
                  <a:solidFill>
                    <a:srgbClr val="5A6B86"/>
                  </a:solidFill>
                </a:rPr>
                <a:t>AWS Global Infrastructure</a:t>
              </a:r>
              <a:endParaRPr lang="en-US" sz="1200">
                <a:solidFill>
                  <a:srgbClr val="5A6B86"/>
                </a:solidFill>
              </a:endParaRPr>
            </a:p>
          </p:txBody>
        </p:sp>
      </p:grpSp>
    </p:spTree>
    <p:custDataLst>
      <p:tags r:id="rId1"/>
    </p:custDataLst>
    <p:extLst>
      <p:ext uri="{BB962C8B-B14F-4D97-AF65-F5344CB8AC3E}">
        <p14:creationId xmlns:p14="http://schemas.microsoft.com/office/powerpoint/2010/main" val="3768094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75D8BB1-3643-6B45-996C-47BCC8095C8A}"/>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26</a:t>
            </a:fld>
            <a:endParaRPr lang="en-US"/>
          </a:p>
        </p:txBody>
      </p:sp>
      <p:sp>
        <p:nvSpPr>
          <p:cNvPr id="4" name="Title 1"/>
          <p:cNvSpPr>
            <a:spLocks noGrp="1"/>
          </p:cNvSpPr>
          <p:nvPr>
            <p:ph type="title"/>
          </p:nvPr>
        </p:nvSpPr>
        <p:spPr/>
        <p:txBody>
          <a:bodyPr>
            <a:normAutofit fontScale="90000"/>
          </a:bodyPr>
          <a:lstStyle/>
          <a:p>
            <a:r>
              <a:rPr lang="en-US"/>
              <a:t>Activity: Scenario 2 of 2</a:t>
            </a:r>
          </a:p>
        </p:txBody>
      </p:sp>
      <p:sp>
        <p:nvSpPr>
          <p:cNvPr id="6" name="TextBox 5">
            <a:extLst>
              <a:ext uri="{FF2B5EF4-FFF2-40B4-BE49-F238E27FC236}">
                <a16:creationId xmlns:a16="http://schemas.microsoft.com/office/drawing/2014/main" id="{6281A826-29AD-774B-AE52-A047C7B4AD91}"/>
              </a:ext>
            </a:extLst>
          </p:cNvPr>
          <p:cNvSpPr txBox="1"/>
          <p:nvPr/>
        </p:nvSpPr>
        <p:spPr>
          <a:xfrm>
            <a:off x="419100" y="1281787"/>
            <a:ext cx="11159893" cy="461665"/>
          </a:xfrm>
          <a:prstGeom prst="rect">
            <a:avLst/>
          </a:prstGeom>
          <a:noFill/>
        </p:spPr>
        <p:txBody>
          <a:bodyPr wrap="square" rtlCol="0">
            <a:spAutoFit/>
          </a:bodyPr>
          <a:lstStyle/>
          <a:p>
            <a:r>
              <a:rPr lang="en-US" sz="2400" b="1">
                <a:solidFill>
                  <a:srgbClr val="504BAB"/>
                </a:solidFill>
              </a:rPr>
              <a:t>Consider this deployment. Who is responsible – AWS or the customer?</a:t>
            </a:r>
            <a:endParaRPr lang="en-US" sz="2400" b="1">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7" name="Content Placeholder 2">
            <a:extLst>
              <a:ext uri="{FF2B5EF4-FFF2-40B4-BE49-F238E27FC236}">
                <a16:creationId xmlns:a16="http://schemas.microsoft.com/office/drawing/2014/main" id="{3168251C-9A60-F14C-9D92-CD0B1D639F03}"/>
              </a:ext>
            </a:extLst>
          </p:cNvPr>
          <p:cNvSpPr txBox="1">
            <a:spLocks/>
          </p:cNvSpPr>
          <p:nvPr/>
        </p:nvSpPr>
        <p:spPr>
          <a:xfrm>
            <a:off x="5339455" y="1927954"/>
            <a:ext cx="3100845" cy="39829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2000" dirty="0"/>
              <a:t>Ensuring that the AWS Management Console is not hacked?</a:t>
            </a:r>
          </a:p>
          <a:p>
            <a:pPr marL="342900" indent="-342900">
              <a:buFont typeface="+mj-lt"/>
              <a:buAutoNum type="arabicPeriod"/>
            </a:pPr>
            <a:r>
              <a:rPr lang="en-US" sz="2000" dirty="0"/>
              <a:t>Configuring the subnet?</a:t>
            </a:r>
            <a:endParaRPr lang="en-US" sz="2000" dirty="0">
              <a:solidFill>
                <a:schemeClr val="accent6"/>
              </a:solidFill>
            </a:endParaRPr>
          </a:p>
          <a:p>
            <a:pPr marL="342900" indent="-342900">
              <a:buFont typeface="+mj-lt"/>
              <a:buAutoNum type="arabicPeriod"/>
            </a:pPr>
            <a:r>
              <a:rPr lang="en-US" sz="2000" dirty="0"/>
              <a:t>Configuring the </a:t>
            </a:r>
            <a:r>
              <a:rPr lang="en-US" sz="2000" dirty="0" err="1"/>
              <a:t>VPC</a:t>
            </a:r>
            <a:r>
              <a:rPr lang="en-US" sz="2000" dirty="0"/>
              <a:t>?</a:t>
            </a:r>
          </a:p>
          <a:p>
            <a:pPr marL="342900" indent="-342900">
              <a:buFont typeface="+mj-lt"/>
              <a:buAutoNum type="arabicPeriod"/>
            </a:pPr>
            <a:r>
              <a:rPr lang="en-US" sz="2000" dirty="0"/>
              <a:t>Protecting against network outages in AWS Regions?</a:t>
            </a:r>
          </a:p>
          <a:p>
            <a:pPr marL="342900" indent="-342900">
              <a:buFont typeface="+mj-lt"/>
              <a:buAutoNum type="arabicPeriod"/>
            </a:pPr>
            <a:r>
              <a:rPr lang="en-US" sz="2000" dirty="0"/>
              <a:t>Securing the SSH keys</a:t>
            </a:r>
          </a:p>
        </p:txBody>
      </p:sp>
      <p:sp>
        <p:nvSpPr>
          <p:cNvPr id="30" name="Content Placeholder 2">
            <a:extLst>
              <a:ext uri="{FF2B5EF4-FFF2-40B4-BE49-F238E27FC236}">
                <a16:creationId xmlns:a16="http://schemas.microsoft.com/office/drawing/2014/main" id="{0D6A1B44-E47E-714D-A549-0CCAF10451D2}"/>
              </a:ext>
            </a:extLst>
          </p:cNvPr>
          <p:cNvSpPr txBox="1">
            <a:spLocks/>
          </p:cNvSpPr>
          <p:nvPr/>
        </p:nvSpPr>
        <p:spPr>
          <a:xfrm>
            <a:off x="8622570" y="1903906"/>
            <a:ext cx="3094358" cy="38087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2000" dirty="0"/>
              <a:t>Ensuring network isolation between AWS customers' data?</a:t>
            </a:r>
          </a:p>
          <a:p>
            <a:pPr marL="342900" indent="-342900">
              <a:buFont typeface="+mj-lt"/>
              <a:buAutoNum type="arabicPeriod" startAt="6"/>
            </a:pPr>
            <a:r>
              <a:rPr lang="en-US" sz="2000" dirty="0"/>
              <a:t>Ensuring low-latency network connection between the web server and the </a:t>
            </a:r>
            <a:r>
              <a:rPr lang="en-US" sz="2000" dirty="0" err="1"/>
              <a:t>S3</a:t>
            </a:r>
            <a:r>
              <a:rPr lang="en-US" sz="2000" dirty="0"/>
              <a:t> bucket?</a:t>
            </a:r>
          </a:p>
          <a:p>
            <a:pPr marL="342900" indent="-342900">
              <a:buFont typeface="+mj-lt"/>
              <a:buAutoNum type="arabicPeriod" startAt="6"/>
            </a:pPr>
            <a:r>
              <a:rPr lang="en-US" sz="2000" dirty="0"/>
              <a:t>Enforcing multi-factor authentication for all user logins?</a:t>
            </a:r>
          </a:p>
        </p:txBody>
      </p:sp>
      <p:grpSp>
        <p:nvGrpSpPr>
          <p:cNvPr id="2" name="Group 1" descr="hitectural diagram shows a web server running on EC2 inside a subnet and VPC. The web server connects to an S3 bucket. The web server is accessible by an internet gateway using the AWS Management console or using the AWS Command Line Interface which makes use of SSH keys.">
            <a:extLst>
              <a:ext uri="{FF2B5EF4-FFF2-40B4-BE49-F238E27FC236}">
                <a16:creationId xmlns:a16="http://schemas.microsoft.com/office/drawing/2014/main" id="{8BEFADC3-8D6F-2BEF-C1E6-5125DBC91C6E}"/>
              </a:ext>
            </a:extLst>
          </p:cNvPr>
          <p:cNvGrpSpPr/>
          <p:nvPr/>
        </p:nvGrpSpPr>
        <p:grpSpPr>
          <a:xfrm>
            <a:off x="219918" y="1736422"/>
            <a:ext cx="4714783" cy="4602597"/>
            <a:chOff x="219918" y="1736422"/>
            <a:chExt cx="4714783" cy="4602597"/>
          </a:xfrm>
        </p:grpSpPr>
        <p:cxnSp>
          <p:nvCxnSpPr>
            <p:cNvPr id="29" name="Elbow Connector 28">
              <a:extLst>
                <a:ext uri="{FF2B5EF4-FFF2-40B4-BE49-F238E27FC236}">
                  <a16:creationId xmlns:a16="http://schemas.microsoft.com/office/drawing/2014/main" id="{2D1F2B09-6FEF-E349-8A32-D00785F20A6D}"/>
                </a:ext>
              </a:extLst>
            </p:cNvPr>
            <p:cNvCxnSpPr>
              <a:cxnSpLocks/>
              <a:stCxn id="48" idx="3"/>
            </p:cNvCxnSpPr>
            <p:nvPr/>
          </p:nvCxnSpPr>
          <p:spPr>
            <a:xfrm>
              <a:off x="1237910" y="2228943"/>
              <a:ext cx="1656517" cy="804387"/>
            </a:xfrm>
            <a:prstGeom prst="bentConnector3">
              <a:avLst>
                <a:gd name="adj1" fmla="val 33666"/>
              </a:avLst>
            </a:prstGeom>
            <a:noFill/>
            <a:ln w="12700" cap="flat" cmpd="sng" algn="ctr">
              <a:solidFill>
                <a:srgbClr val="535B63"/>
              </a:solidFill>
              <a:prstDash val="solid"/>
              <a:miter lim="800000"/>
              <a:headEnd type="none" w="med" len="sm"/>
              <a:tailEnd type="arrow" w="med" len="sm"/>
            </a:ln>
            <a:effectLst/>
          </p:spPr>
        </p:cxnSp>
        <p:pic>
          <p:nvPicPr>
            <p:cNvPr id="49" name="Graphic 48">
              <a:extLst>
                <a:ext uri="{FF2B5EF4-FFF2-40B4-BE49-F238E27FC236}">
                  <a16:creationId xmlns:a16="http://schemas.microsoft.com/office/drawing/2014/main" id="{531ED385-B2FD-BF47-9A49-E97A409C7F6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1394" y="2197905"/>
              <a:ext cx="457701" cy="469900"/>
            </a:xfrm>
            <a:prstGeom prst="rect">
              <a:avLst/>
            </a:prstGeom>
          </p:spPr>
        </p:pic>
        <p:sp>
          <p:nvSpPr>
            <p:cNvPr id="50" name="TextBox 49">
              <a:extLst>
                <a:ext uri="{FF2B5EF4-FFF2-40B4-BE49-F238E27FC236}">
                  <a16:creationId xmlns:a16="http://schemas.microsoft.com/office/drawing/2014/main" id="{72658523-8B40-D346-9666-E98D1E1ADE6E}"/>
                </a:ext>
              </a:extLst>
            </p:cNvPr>
            <p:cNvSpPr txBox="1"/>
            <p:nvPr/>
          </p:nvSpPr>
          <p:spPr>
            <a:xfrm>
              <a:off x="1651911" y="1736422"/>
              <a:ext cx="1654521" cy="584775"/>
            </a:xfrm>
            <a:prstGeom prst="rect">
              <a:avLst/>
            </a:prstGeom>
            <a:noFill/>
          </p:spPr>
          <p:txBody>
            <a:bodyPr wrap="square" rtlCol="0">
              <a:spAutoFit/>
            </a:bodyPr>
            <a:lstStyle/>
            <a:p>
              <a:pPr algn="ctr"/>
              <a:r>
                <a:rPr lang="en-US" sz="1600"/>
                <a:t>Secure Shell (SSH) keys</a:t>
              </a:r>
            </a:p>
          </p:txBody>
        </p:sp>
        <p:cxnSp>
          <p:nvCxnSpPr>
            <p:cNvPr id="51" name="Elbow Connector 50">
              <a:extLst>
                <a:ext uri="{FF2B5EF4-FFF2-40B4-BE49-F238E27FC236}">
                  <a16:creationId xmlns:a16="http://schemas.microsoft.com/office/drawing/2014/main" id="{5BD07F69-700E-884D-B4CF-93C1AEA7F3F4}"/>
                </a:ext>
              </a:extLst>
            </p:cNvPr>
            <p:cNvCxnSpPr>
              <a:cxnSpLocks/>
            </p:cNvCxnSpPr>
            <p:nvPr/>
          </p:nvCxnSpPr>
          <p:spPr>
            <a:xfrm rot="5400000">
              <a:off x="2761063" y="3726974"/>
              <a:ext cx="478362" cy="12700"/>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sp>
          <p:nvSpPr>
            <p:cNvPr id="52" name="TextBox 51">
              <a:extLst>
                <a:ext uri="{FF2B5EF4-FFF2-40B4-BE49-F238E27FC236}">
                  <a16:creationId xmlns:a16="http://schemas.microsoft.com/office/drawing/2014/main" id="{7031ADB8-A4C6-C247-AFB4-3881186804C1}"/>
                </a:ext>
              </a:extLst>
            </p:cNvPr>
            <p:cNvSpPr txBox="1"/>
            <p:nvPr/>
          </p:nvSpPr>
          <p:spPr>
            <a:xfrm>
              <a:off x="3190332" y="2389052"/>
              <a:ext cx="1744369" cy="830997"/>
            </a:xfrm>
            <a:prstGeom prst="rect">
              <a:avLst/>
            </a:prstGeom>
            <a:noFill/>
          </p:spPr>
          <p:txBody>
            <a:bodyPr wrap="square" rtlCol="0">
              <a:spAutoFit/>
            </a:bodyPr>
            <a:lstStyle/>
            <a:p>
              <a:pPr algn="ctr"/>
              <a:r>
                <a:rPr lang="en-US" sz="1600"/>
                <a:t>AWS Command Line Interface (AWS CLI)</a:t>
              </a:r>
            </a:p>
          </p:txBody>
        </p:sp>
        <p:pic>
          <p:nvPicPr>
            <p:cNvPr id="53" name="Graphic 52">
              <a:extLst>
                <a:ext uri="{FF2B5EF4-FFF2-40B4-BE49-F238E27FC236}">
                  <a16:creationId xmlns:a16="http://schemas.microsoft.com/office/drawing/2014/main" id="{E44619DA-359E-4F40-A8E9-68A7A4DB64C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53118" y="1846050"/>
              <a:ext cx="565776" cy="580855"/>
            </a:xfrm>
            <a:prstGeom prst="rect">
              <a:avLst/>
            </a:prstGeom>
          </p:spPr>
        </p:pic>
        <p:cxnSp>
          <p:nvCxnSpPr>
            <p:cNvPr id="56" name="Elbow Connector 55">
              <a:extLst>
                <a:ext uri="{FF2B5EF4-FFF2-40B4-BE49-F238E27FC236}">
                  <a16:creationId xmlns:a16="http://schemas.microsoft.com/office/drawing/2014/main" id="{B26B98A1-316C-FF43-8A94-60DD40BC2ECA}"/>
                </a:ext>
              </a:extLst>
            </p:cNvPr>
            <p:cNvCxnSpPr>
              <a:cxnSpLocks/>
              <a:stCxn id="53" idx="1"/>
              <a:endCxn id="37" idx="0"/>
            </p:cNvCxnSpPr>
            <p:nvPr/>
          </p:nvCxnSpPr>
          <p:spPr>
            <a:xfrm rot="10800000" flipV="1">
              <a:off x="3000246" y="2136478"/>
              <a:ext cx="852873" cy="836336"/>
            </a:xfrm>
            <a:prstGeom prst="bentConnector2">
              <a:avLst/>
            </a:prstGeom>
            <a:noFill/>
            <a:ln w="12700" cap="flat" cmpd="sng" algn="ctr">
              <a:solidFill>
                <a:srgbClr val="535B63"/>
              </a:solidFill>
              <a:prstDash val="solid"/>
              <a:miter lim="800000"/>
              <a:headEnd type="none" w="med" len="sm"/>
              <a:tailEnd type="arrow" w="med" len="sm"/>
            </a:ln>
            <a:effectLst/>
          </p:spPr>
        </p:cxnSp>
        <p:sp>
          <p:nvSpPr>
            <p:cNvPr id="32" name="Rectangle 31">
              <a:extLst>
                <a:ext uri="{FF2B5EF4-FFF2-40B4-BE49-F238E27FC236}">
                  <a16:creationId xmlns:a16="http://schemas.microsoft.com/office/drawing/2014/main" id="{AA5CD74C-F5EF-A241-B6AE-3C17EBFBE46F}"/>
                </a:ext>
              </a:extLst>
            </p:cNvPr>
            <p:cNvSpPr/>
            <p:nvPr/>
          </p:nvSpPr>
          <p:spPr>
            <a:xfrm>
              <a:off x="469116" y="3411196"/>
              <a:ext cx="4373767" cy="205728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mazon Ember" panose="02000000000000000000" pitchFamily="2" charset="0"/>
                  <a:ea typeface="+mn-ea"/>
                  <a:cs typeface="+mn-cs"/>
                </a:rPr>
                <a:t>VPC</a:t>
              </a:r>
            </a:p>
          </p:txBody>
        </p:sp>
        <p:pic>
          <p:nvPicPr>
            <p:cNvPr id="33" name="Graphic 36">
              <a:extLst>
                <a:ext uri="{FF2B5EF4-FFF2-40B4-BE49-F238E27FC236}">
                  <a16:creationId xmlns:a16="http://schemas.microsoft.com/office/drawing/2014/main" id="{9811B841-9D14-C748-AFA7-7854903D7D4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2267" y="3416034"/>
              <a:ext cx="262682" cy="269683"/>
            </a:xfrm>
            <a:prstGeom prst="rect">
              <a:avLst/>
            </a:prstGeom>
          </p:spPr>
        </p:pic>
        <p:sp>
          <p:nvSpPr>
            <p:cNvPr id="34" name="Rectangle 33">
              <a:extLst>
                <a:ext uri="{FF2B5EF4-FFF2-40B4-BE49-F238E27FC236}">
                  <a16:creationId xmlns:a16="http://schemas.microsoft.com/office/drawing/2014/main" id="{C131ED40-2401-644B-BF59-0BE0230450B1}"/>
                </a:ext>
              </a:extLst>
            </p:cNvPr>
            <p:cNvSpPr/>
            <p:nvPr/>
          </p:nvSpPr>
          <p:spPr>
            <a:xfrm>
              <a:off x="795309" y="3818030"/>
              <a:ext cx="3912683" cy="1294595"/>
            </a:xfrm>
            <a:prstGeom prst="rect">
              <a:avLst/>
            </a:prstGeom>
            <a:noFill/>
            <a:ln w="12700" cap="flat" cmpd="sng" algn="ctr">
              <a:solidFill>
                <a:srgbClr val="1D8900"/>
              </a:solidFill>
              <a:prstDash val="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mazon Ember" panose="02000000000000000000" pitchFamily="2" charset="0"/>
                  <a:ea typeface="+mn-ea"/>
                  <a:cs typeface="+mn-cs"/>
                </a:rPr>
                <a:t>Subnet</a:t>
              </a:r>
            </a:p>
          </p:txBody>
        </p:sp>
        <p:pic>
          <p:nvPicPr>
            <p:cNvPr id="35" name="Graphic 37">
              <a:extLst>
                <a:ext uri="{FF2B5EF4-FFF2-40B4-BE49-F238E27FC236}">
                  <a16:creationId xmlns:a16="http://schemas.microsoft.com/office/drawing/2014/main" id="{D9486AA8-E2E4-074D-88A8-8B9A997FA9BD}"/>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09" y="3818030"/>
              <a:ext cx="262682" cy="269683"/>
            </a:xfrm>
            <a:prstGeom prst="rect">
              <a:avLst/>
            </a:prstGeom>
          </p:spPr>
        </p:pic>
        <p:sp>
          <p:nvSpPr>
            <p:cNvPr id="36" name="TextBox 35">
              <a:extLst>
                <a:ext uri="{FF2B5EF4-FFF2-40B4-BE49-F238E27FC236}">
                  <a16:creationId xmlns:a16="http://schemas.microsoft.com/office/drawing/2014/main" id="{91A29267-F422-EF4A-8503-B04364985912}"/>
                </a:ext>
              </a:extLst>
            </p:cNvPr>
            <p:cNvSpPr txBox="1"/>
            <p:nvPr/>
          </p:nvSpPr>
          <p:spPr>
            <a:xfrm>
              <a:off x="3184722" y="3118782"/>
              <a:ext cx="100208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32F3D"/>
                  </a:solidFill>
                  <a:effectLst/>
                  <a:uLnTx/>
                  <a:uFillTx/>
                  <a:ea typeface="+mn-ea"/>
                  <a:cs typeface="+mn-cs"/>
                </a:rPr>
                <a:t>Internet gateway</a:t>
              </a:r>
            </a:p>
          </p:txBody>
        </p:sp>
        <p:pic>
          <p:nvPicPr>
            <p:cNvPr id="37" name="Graphic 36">
              <a:extLst>
                <a:ext uri="{FF2B5EF4-FFF2-40B4-BE49-F238E27FC236}">
                  <a16:creationId xmlns:a16="http://schemas.microsoft.com/office/drawing/2014/main" id="{1AF7F657-4644-2C41-90F1-CB2AEE42C73C}"/>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749439" y="2972814"/>
              <a:ext cx="501611" cy="514979"/>
            </a:xfrm>
            <a:prstGeom prst="rect">
              <a:avLst/>
            </a:prstGeom>
          </p:spPr>
        </p:pic>
        <p:pic>
          <p:nvPicPr>
            <p:cNvPr id="40" name="Graphic 135">
              <a:extLst>
                <a:ext uri="{FF2B5EF4-FFF2-40B4-BE49-F238E27FC236}">
                  <a16:creationId xmlns:a16="http://schemas.microsoft.com/office/drawing/2014/main" id="{5EFB97B7-F4DA-0A4D-9623-8150FF553813}"/>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94057" y="3966155"/>
              <a:ext cx="612375" cy="628695"/>
            </a:xfrm>
            <a:prstGeom prst="rect">
              <a:avLst/>
            </a:prstGeom>
          </p:spPr>
        </p:pic>
        <p:sp>
          <p:nvSpPr>
            <p:cNvPr id="41" name="TextBox 40">
              <a:extLst>
                <a:ext uri="{FF2B5EF4-FFF2-40B4-BE49-F238E27FC236}">
                  <a16:creationId xmlns:a16="http://schemas.microsoft.com/office/drawing/2014/main" id="{9E1136AA-E256-144D-8568-46F909B87562}"/>
                </a:ext>
              </a:extLst>
            </p:cNvPr>
            <p:cNvSpPr txBox="1"/>
            <p:nvPr/>
          </p:nvSpPr>
          <p:spPr>
            <a:xfrm>
              <a:off x="2173362" y="4549451"/>
              <a:ext cx="165376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32F3D"/>
                  </a:solidFill>
                  <a:effectLst/>
                  <a:uLnTx/>
                  <a:uFillTx/>
                  <a:ea typeface="+mn-ea"/>
                  <a:cs typeface="+mn-cs"/>
                </a:rPr>
                <a:t>Web server on Amazon EC2</a:t>
              </a:r>
            </a:p>
          </p:txBody>
        </p:sp>
        <p:sp>
          <p:nvSpPr>
            <p:cNvPr id="47" name="TextBox 46">
              <a:extLst>
                <a:ext uri="{FF2B5EF4-FFF2-40B4-BE49-F238E27FC236}">
                  <a16:creationId xmlns:a16="http://schemas.microsoft.com/office/drawing/2014/main" id="{EC2E0B8E-58D0-434B-B646-2E3D055B896A}"/>
                </a:ext>
              </a:extLst>
            </p:cNvPr>
            <p:cNvSpPr txBox="1"/>
            <p:nvPr/>
          </p:nvSpPr>
          <p:spPr>
            <a:xfrm>
              <a:off x="219918" y="2531688"/>
              <a:ext cx="153132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mn-ea"/>
                  <a:cs typeface="+mn-cs"/>
                </a:rPr>
                <a:t>AWS Management Console</a:t>
              </a:r>
            </a:p>
          </p:txBody>
        </p:sp>
        <p:pic>
          <p:nvPicPr>
            <p:cNvPr id="48" name="Graphic 34">
              <a:extLst>
                <a:ext uri="{FF2B5EF4-FFF2-40B4-BE49-F238E27FC236}">
                  <a16:creationId xmlns:a16="http://schemas.microsoft.com/office/drawing/2014/main" id="{A3076FA9-C9F1-C044-AEC9-E2F28F5D1A1E}"/>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72135" y="1938516"/>
              <a:ext cx="565776" cy="580855"/>
            </a:xfrm>
            <a:prstGeom prst="rect">
              <a:avLst/>
            </a:prstGeom>
          </p:spPr>
        </p:pic>
        <p:pic>
          <p:nvPicPr>
            <p:cNvPr id="61" name="Graphic 60">
              <a:extLst>
                <a:ext uri="{FF2B5EF4-FFF2-40B4-BE49-F238E27FC236}">
                  <a16:creationId xmlns:a16="http://schemas.microsoft.com/office/drawing/2014/main" id="{5BD26303-2D9D-6E4D-ABF8-0A43BFC2CF59}"/>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76093" y="5755869"/>
              <a:ext cx="469900" cy="469900"/>
            </a:xfrm>
            <a:prstGeom prst="rect">
              <a:avLst/>
            </a:prstGeom>
          </p:spPr>
        </p:pic>
        <p:sp>
          <p:nvSpPr>
            <p:cNvPr id="62" name="TextBox 61">
              <a:extLst>
                <a:ext uri="{FF2B5EF4-FFF2-40B4-BE49-F238E27FC236}">
                  <a16:creationId xmlns:a16="http://schemas.microsoft.com/office/drawing/2014/main" id="{51B8C04D-1D8E-DB4C-8C1B-C3FA7062A7B6}"/>
                </a:ext>
              </a:extLst>
            </p:cNvPr>
            <p:cNvSpPr txBox="1"/>
            <p:nvPr/>
          </p:nvSpPr>
          <p:spPr>
            <a:xfrm>
              <a:off x="2786331" y="5754244"/>
              <a:ext cx="1479734" cy="584775"/>
            </a:xfrm>
            <a:prstGeom prst="rect">
              <a:avLst/>
            </a:prstGeom>
            <a:noFill/>
          </p:spPr>
          <p:txBody>
            <a:bodyPr wrap="square" rtlCol="0">
              <a:spAutoFit/>
            </a:bodyPr>
            <a:lstStyle/>
            <a:p>
              <a:pPr algn="ctr"/>
              <a:r>
                <a:rPr lang="en-US" sz="1600"/>
                <a:t>S3 bucket with objects</a:t>
              </a:r>
            </a:p>
          </p:txBody>
        </p:sp>
        <p:cxnSp>
          <p:nvCxnSpPr>
            <p:cNvPr id="63" name="Elbow Connector 62">
              <a:extLst>
                <a:ext uri="{FF2B5EF4-FFF2-40B4-BE49-F238E27FC236}">
                  <a16:creationId xmlns:a16="http://schemas.microsoft.com/office/drawing/2014/main" id="{FE883950-B7D4-3046-9023-3543374F1367}"/>
                </a:ext>
              </a:extLst>
            </p:cNvPr>
            <p:cNvCxnSpPr>
              <a:cxnSpLocks/>
              <a:stCxn id="40" idx="3"/>
              <a:endCxn id="61" idx="0"/>
            </p:cNvCxnSpPr>
            <p:nvPr/>
          </p:nvCxnSpPr>
          <p:spPr>
            <a:xfrm>
              <a:off x="3306432" y="4280503"/>
              <a:ext cx="1104611" cy="1475366"/>
            </a:xfrm>
            <a:prstGeom prst="bentConnector2">
              <a:avLst/>
            </a:prstGeom>
            <a:noFill/>
            <a:ln w="12700" cap="flat" cmpd="sng" algn="ctr">
              <a:solidFill>
                <a:srgbClr val="535B63"/>
              </a:solidFill>
              <a:prstDash val="solid"/>
              <a:miter lim="800000"/>
              <a:headEnd type="triangle" w="med" len="sm"/>
              <a:tailEnd type="arrow" w="med" len="sm"/>
            </a:ln>
            <a:effectLst/>
          </p:spPr>
        </p:cxnSp>
      </p:grpSp>
    </p:spTree>
    <p:custDataLst>
      <p:tags r:id="rId1"/>
    </p:custDataLst>
    <p:extLst>
      <p:ext uri="{BB962C8B-B14F-4D97-AF65-F5344CB8AC3E}">
        <p14:creationId xmlns:p14="http://schemas.microsoft.com/office/powerpoint/2010/main" val="3241547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070" y="2466280"/>
            <a:ext cx="10350610" cy="719757"/>
          </a:xfrm>
        </p:spPr>
        <p:txBody>
          <a:bodyPr>
            <a:noAutofit/>
          </a:bodyPr>
          <a:lstStyle/>
          <a:p>
            <a:r>
              <a:rPr lang="en-US" sz="4000" dirty="0">
                <a:latin typeface="+mj-lt"/>
              </a:rPr>
              <a:t>AWS Identity and Access Management (IAM)</a:t>
            </a:r>
          </a:p>
        </p:txBody>
      </p:sp>
      <p:sp>
        <p:nvSpPr>
          <p:cNvPr id="3" name="Text Placeholder 2">
            <a:extLst>
              <a:ext uri="{FF2B5EF4-FFF2-40B4-BE49-F238E27FC236}">
                <a16:creationId xmlns:a16="http://schemas.microsoft.com/office/drawing/2014/main" id="{6952E358-2B43-8749-A219-9FB9AFF48701}"/>
              </a:ext>
            </a:extLst>
          </p:cNvPr>
          <p:cNvSpPr>
            <a:spLocks noGrp="1"/>
          </p:cNvSpPr>
          <p:nvPr>
            <p:ph type="body" sz="quarter" idx="10"/>
          </p:nvPr>
        </p:nvSpPr>
        <p:spPr/>
        <p:txBody>
          <a:bodyPr>
            <a:normAutofit/>
          </a:bodyPr>
          <a:lstStyle/>
          <a:p>
            <a:r>
              <a:rPr lang="en-US"/>
              <a:t>Module 4: AWS Cloud Security</a:t>
            </a:r>
          </a:p>
          <a:p>
            <a:endParaRPr lang="en-US"/>
          </a:p>
        </p:txBody>
      </p:sp>
    </p:spTree>
    <p:custDataLst>
      <p:tags r:id="rId1"/>
    </p:custDataLst>
    <p:extLst>
      <p:ext uri="{BB962C8B-B14F-4D97-AF65-F5344CB8AC3E}">
        <p14:creationId xmlns:p14="http://schemas.microsoft.com/office/powerpoint/2010/main" val="3092741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AADA2C33-93BA-134E-895B-2C9DB3CA85AB}"/>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28</a:t>
            </a:fld>
            <a:endParaRPr lang="en-US"/>
          </a:p>
        </p:txBody>
      </p:sp>
      <p:sp>
        <p:nvSpPr>
          <p:cNvPr id="2" name="Title 1"/>
          <p:cNvSpPr>
            <a:spLocks noGrp="1"/>
          </p:cNvSpPr>
          <p:nvPr>
            <p:ph type="title"/>
          </p:nvPr>
        </p:nvSpPr>
        <p:spPr/>
        <p:txBody>
          <a:bodyPr>
            <a:normAutofit fontScale="90000"/>
          </a:bodyPr>
          <a:lstStyle/>
          <a:p>
            <a:r>
              <a:rPr lang="en-US"/>
              <a:t>AWS Identity and Access Management (IAM)</a:t>
            </a:r>
          </a:p>
        </p:txBody>
      </p:sp>
      <p:sp>
        <p:nvSpPr>
          <p:cNvPr id="3" name="Content Placeholder 2"/>
          <p:cNvSpPr>
            <a:spLocks noGrp="1"/>
          </p:cNvSpPr>
          <p:nvPr>
            <p:ph sz="quarter" idx="21"/>
          </p:nvPr>
        </p:nvSpPr>
        <p:spPr/>
        <p:txBody>
          <a:bodyPr>
            <a:normAutofit/>
          </a:bodyPr>
          <a:lstStyle/>
          <a:p>
            <a:r>
              <a:rPr lang="en-US" sz="2400"/>
              <a:t>Use </a:t>
            </a:r>
            <a:r>
              <a:rPr lang="en-US" sz="2400" b="1">
                <a:solidFill>
                  <a:srgbClr val="504BAB"/>
                </a:solidFill>
              </a:rPr>
              <a:t>IAM</a:t>
            </a:r>
            <a:r>
              <a:rPr lang="en-US" sz="2400" b="1">
                <a:solidFill>
                  <a:schemeClr val="accent5"/>
                </a:solidFill>
              </a:rPr>
              <a:t> </a:t>
            </a:r>
            <a:r>
              <a:rPr lang="en-US" sz="2400"/>
              <a:t>to manage access to </a:t>
            </a:r>
            <a:r>
              <a:rPr lang="en-US" sz="2400" b="1">
                <a:solidFill>
                  <a:srgbClr val="504BAB"/>
                </a:solidFill>
              </a:rPr>
              <a:t>AWS resources</a:t>
            </a:r>
            <a:r>
              <a:rPr lang="en-US" sz="2400">
                <a:solidFill>
                  <a:srgbClr val="504BAB"/>
                </a:solidFill>
              </a:rPr>
              <a:t> </a:t>
            </a:r>
            <a:r>
              <a:rPr lang="en-US" sz="2400"/>
              <a:t>– </a:t>
            </a:r>
          </a:p>
          <a:p>
            <a:pPr lvl="1"/>
            <a:r>
              <a:rPr lang="en-US" sz="2000"/>
              <a:t>A resource is an entity in an AWS account that you can work with</a:t>
            </a:r>
          </a:p>
          <a:p>
            <a:pPr lvl="1"/>
            <a:r>
              <a:rPr lang="en-US" sz="2000"/>
              <a:t>Example resources; An Amazon EC2 instance or an Amazon S3 bucket</a:t>
            </a:r>
          </a:p>
          <a:p>
            <a:pPr marL="227012" lvl="1" indent="0">
              <a:buNone/>
            </a:pPr>
            <a:endParaRPr lang="en-US" sz="2000"/>
          </a:p>
          <a:p>
            <a:r>
              <a:rPr lang="en-US" sz="2400" i="1"/>
              <a:t>Example</a:t>
            </a:r>
            <a:r>
              <a:rPr lang="en-US" sz="2400"/>
              <a:t> – Control who can terminate Amazon EC2 instances </a:t>
            </a:r>
          </a:p>
          <a:p>
            <a:pPr marL="457200" lvl="1" indent="0">
              <a:buNone/>
            </a:pPr>
            <a:endParaRPr lang="en-US" sz="2000"/>
          </a:p>
          <a:p>
            <a:r>
              <a:rPr lang="en-US" sz="2400"/>
              <a:t>Define fine-grained access rights – </a:t>
            </a:r>
          </a:p>
          <a:p>
            <a:pPr lvl="1"/>
            <a:r>
              <a:rPr lang="en-US" sz="2000" b="1">
                <a:solidFill>
                  <a:srgbClr val="504BAB"/>
                </a:solidFill>
              </a:rPr>
              <a:t>Who</a:t>
            </a:r>
            <a:r>
              <a:rPr lang="en-US" sz="2000"/>
              <a:t> can access the resource</a:t>
            </a:r>
          </a:p>
          <a:p>
            <a:pPr lvl="1"/>
            <a:r>
              <a:rPr lang="en-US" sz="2000" b="1">
                <a:solidFill>
                  <a:srgbClr val="504BAB"/>
                </a:solidFill>
              </a:rPr>
              <a:t>Which</a:t>
            </a:r>
            <a:r>
              <a:rPr lang="en-US" sz="2000"/>
              <a:t> resources can be accessed and what can the user do to the resource</a:t>
            </a:r>
          </a:p>
          <a:p>
            <a:pPr lvl="1"/>
            <a:r>
              <a:rPr lang="en-US" sz="2000" b="1">
                <a:solidFill>
                  <a:srgbClr val="504BAB"/>
                </a:solidFill>
              </a:rPr>
              <a:t>How</a:t>
            </a:r>
            <a:r>
              <a:rPr lang="en-US" sz="2000"/>
              <a:t> resources can be accessed </a:t>
            </a:r>
          </a:p>
          <a:p>
            <a:pPr marL="227012" lvl="1" indent="0">
              <a:buNone/>
            </a:pPr>
            <a:endParaRPr lang="en-US" sz="2200"/>
          </a:p>
          <a:p>
            <a:pPr>
              <a:lnSpc>
                <a:spcPct val="100000"/>
              </a:lnSpc>
            </a:pPr>
            <a:r>
              <a:rPr lang="en-US" sz="2400"/>
              <a:t>IAM is a no-cost AWS account feature</a:t>
            </a:r>
            <a:endParaRPr lang="en-US"/>
          </a:p>
        </p:txBody>
      </p:sp>
      <p:sp>
        <p:nvSpPr>
          <p:cNvPr id="19" name="TextBox 18">
            <a:extLst>
              <a:ext uri="{FF2B5EF4-FFF2-40B4-BE49-F238E27FC236}">
                <a16:creationId xmlns:a16="http://schemas.microsoft.com/office/drawing/2014/main" id="{73E4F192-D94D-D144-8CD0-13F20FC34E6F}"/>
              </a:ext>
            </a:extLst>
          </p:cNvPr>
          <p:cNvSpPr txBox="1"/>
          <p:nvPr/>
        </p:nvSpPr>
        <p:spPr>
          <a:xfrm>
            <a:off x="9584001" y="3668488"/>
            <a:ext cx="2301904" cy="830997"/>
          </a:xfrm>
          <a:prstGeom prst="rect">
            <a:avLst/>
          </a:prstGeom>
          <a:noFill/>
        </p:spPr>
        <p:txBody>
          <a:bodyPr wrap="square" rtlCol="0">
            <a:spAutoFit/>
          </a:bodyPr>
          <a:lstStyle/>
          <a:p>
            <a:pPr algn="ctr"/>
            <a:r>
              <a:rPr lang="en-US" sz="1600">
                <a:latin typeface="Amazon Ember" panose="02000000000000000000" pitchFamily="2" charset="0"/>
                <a:ea typeface="Amazon Ember" panose="02000000000000000000" pitchFamily="2" charset="0"/>
              </a:rPr>
              <a:t>AWS Identity and Access Management</a:t>
            </a:r>
          </a:p>
          <a:p>
            <a:pPr algn="ctr"/>
            <a:r>
              <a:rPr lang="en-US" sz="1600">
                <a:latin typeface="Amazon Ember" panose="02000000000000000000" pitchFamily="2" charset="0"/>
                <a:ea typeface="Amazon Ember" panose="02000000000000000000" pitchFamily="2" charset="0"/>
              </a:rPr>
              <a:t>(IAM)</a:t>
            </a:r>
            <a:endParaRPr lang="en-US" sz="1400">
              <a:latin typeface="Amazon Ember" panose="02000000000000000000" pitchFamily="2" charset="0"/>
              <a:ea typeface="Amazon Ember" panose="02000000000000000000" pitchFamily="2" charset="0"/>
            </a:endParaRPr>
          </a:p>
        </p:txBody>
      </p:sp>
      <p:pic>
        <p:nvPicPr>
          <p:cNvPr id="20" name="Graphic 19">
            <a:extLst>
              <a:ext uri="{FF2B5EF4-FFF2-40B4-BE49-F238E27FC236}">
                <a16:creationId xmlns:a16="http://schemas.microsoft.com/office/drawing/2014/main" id="{C9FB3D34-3F55-9A4B-B6ED-4062F9F0ED3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59610" y="2585182"/>
            <a:ext cx="1039762" cy="1039762"/>
          </a:xfrm>
          <a:prstGeom prst="rect">
            <a:avLst/>
          </a:prstGeom>
        </p:spPr>
      </p:pic>
    </p:spTree>
    <p:custDataLst>
      <p:tags r:id="rId1"/>
    </p:custDataLst>
    <p:extLst>
      <p:ext uri="{BB962C8B-B14F-4D97-AF65-F5344CB8AC3E}">
        <p14:creationId xmlns:p14="http://schemas.microsoft.com/office/powerpoint/2010/main" val="2070487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96C4E5-A926-E9B4-C8A5-2F4761150937}"/>
              </a:ext>
            </a:extLst>
          </p:cNvPr>
          <p:cNvSpPr>
            <a:spLocks noGrp="1"/>
          </p:cNvSpPr>
          <p:nvPr>
            <p:ph type="sldNum" sz="quarter" idx="20"/>
          </p:nvPr>
        </p:nvSpPr>
        <p:spPr/>
        <p:txBody>
          <a:bodyPr/>
          <a:lstStyle/>
          <a:p>
            <a:fld id="{930176A1-BCF0-4712-97A6-6B495F55390B}" type="slidenum">
              <a:rPr lang="en-US" smtClean="0"/>
              <a:pPr/>
              <a:t>29</a:t>
            </a:fld>
            <a:endParaRPr lang="en-US"/>
          </a:p>
        </p:txBody>
      </p:sp>
      <p:sp>
        <p:nvSpPr>
          <p:cNvPr id="2" name="Title 1"/>
          <p:cNvSpPr>
            <a:spLocks noGrp="1"/>
          </p:cNvSpPr>
          <p:nvPr>
            <p:ph type="title"/>
          </p:nvPr>
        </p:nvSpPr>
        <p:spPr/>
        <p:txBody>
          <a:bodyPr>
            <a:noAutofit/>
          </a:bodyPr>
          <a:lstStyle/>
          <a:p>
            <a:r>
              <a:rPr lang="en-US"/>
              <a:t>IAM: Essential components</a:t>
            </a:r>
          </a:p>
        </p:txBody>
      </p:sp>
      <p:sp>
        <p:nvSpPr>
          <p:cNvPr id="45" name="TextBox 44"/>
          <p:cNvSpPr txBox="1"/>
          <p:nvPr/>
        </p:nvSpPr>
        <p:spPr>
          <a:xfrm>
            <a:off x="946879" y="2126407"/>
            <a:ext cx="1315104" cy="544765"/>
          </a:xfrm>
          <a:prstGeom prst="rect">
            <a:avLst/>
          </a:prstGeom>
          <a:noFill/>
        </p:spPr>
        <p:txBody>
          <a:bodyPr wrap="none" lIns="182880" tIns="146304" rIns="182880" bIns="146304" rtlCol="0">
            <a:spAutoFit/>
          </a:bodyPr>
          <a:lstStyle/>
          <a:p>
            <a:pPr algn="ctr">
              <a:lnSpc>
                <a:spcPct val="90000"/>
              </a:lnSpc>
              <a:spcAft>
                <a:spcPts val="1800"/>
              </a:spcAft>
            </a:pPr>
            <a:r>
              <a:rPr lang="en-US" b="1">
                <a:solidFill>
                  <a:srgbClr val="504BAB"/>
                </a:solidFill>
              </a:rPr>
              <a:t>IAM user</a:t>
            </a:r>
            <a:endParaRPr lang="en-US" b="1">
              <a:solidFill>
                <a:srgbClr val="504BAB"/>
              </a:solidFill>
              <a:latin typeface="Amazon Ember Light" panose="020B0403020204020204"/>
            </a:endParaRPr>
          </a:p>
        </p:txBody>
      </p:sp>
      <p:sp>
        <p:nvSpPr>
          <p:cNvPr id="4" name="Content Placeholder 5"/>
          <p:cNvSpPr txBox="1">
            <a:spLocks/>
          </p:cNvSpPr>
          <p:nvPr/>
        </p:nvSpPr>
        <p:spPr>
          <a:xfrm>
            <a:off x="2490256" y="1568718"/>
            <a:ext cx="7761174" cy="863795"/>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ct val="100000"/>
              </a:lnSpc>
            </a:pPr>
            <a:r>
              <a:rPr lang="en-US" sz="2400">
                <a:latin typeface="+mn-lt"/>
              </a:rPr>
              <a:t>A </a:t>
            </a:r>
            <a:r>
              <a:rPr lang="en-US" sz="2400" b="1">
                <a:solidFill>
                  <a:srgbClr val="504BAB"/>
                </a:solidFill>
                <a:latin typeface="+mn-lt"/>
              </a:rPr>
              <a:t>person</a:t>
            </a:r>
            <a:r>
              <a:rPr lang="en-US" sz="2400">
                <a:latin typeface="+mn-lt"/>
              </a:rPr>
              <a:t> </a:t>
            </a:r>
            <a:r>
              <a:rPr lang="en-US" sz="2400" i="1">
                <a:latin typeface="+mn-lt"/>
              </a:rPr>
              <a:t>or</a:t>
            </a:r>
            <a:r>
              <a:rPr lang="en-US" sz="2400">
                <a:latin typeface="+mn-lt"/>
              </a:rPr>
              <a:t> </a:t>
            </a:r>
            <a:r>
              <a:rPr lang="en-US" sz="2400" b="1">
                <a:solidFill>
                  <a:srgbClr val="504BAB"/>
                </a:solidFill>
                <a:latin typeface="+mn-lt"/>
              </a:rPr>
              <a:t>application</a:t>
            </a:r>
            <a:r>
              <a:rPr lang="en-US" sz="2400">
                <a:latin typeface="+mn-lt"/>
              </a:rPr>
              <a:t> that can authenticate with an AWS account.</a:t>
            </a:r>
            <a:endParaRPr lang="en-US" sz="2400">
              <a:solidFill>
                <a:srgbClr val="000000"/>
              </a:solidFill>
              <a:latin typeface="Amazon Ember Light" panose="020B0403020204020204"/>
            </a:endParaRPr>
          </a:p>
        </p:txBody>
      </p:sp>
      <p:pic>
        <p:nvPicPr>
          <p:cNvPr id="17" name="Graphic 39">
            <a:extLst>
              <a:ext uri="{FF2B5EF4-FFF2-40B4-BE49-F238E27FC236}">
                <a16:creationId xmlns:a16="http://schemas.microsoft.com/office/drawing/2014/main" id="{6FA71975-EA2D-784E-8A28-738A17320E9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8794" y="1568718"/>
            <a:ext cx="651502" cy="651502"/>
          </a:xfrm>
          <a:prstGeom prst="rect">
            <a:avLst/>
          </a:prstGeom>
        </p:spPr>
      </p:pic>
      <p:sp>
        <p:nvSpPr>
          <p:cNvPr id="24" name="TextBox 23"/>
          <p:cNvSpPr txBox="1"/>
          <p:nvPr/>
        </p:nvSpPr>
        <p:spPr>
          <a:xfrm>
            <a:off x="862387" y="3322821"/>
            <a:ext cx="1505861" cy="544765"/>
          </a:xfrm>
          <a:prstGeom prst="rect">
            <a:avLst/>
          </a:prstGeom>
          <a:noFill/>
        </p:spPr>
        <p:txBody>
          <a:bodyPr wrap="none" lIns="182880" tIns="146304" rIns="182880" bIns="146304" rtlCol="0">
            <a:spAutoFit/>
          </a:bodyPr>
          <a:lstStyle/>
          <a:p>
            <a:pPr algn="ctr">
              <a:lnSpc>
                <a:spcPct val="90000"/>
              </a:lnSpc>
              <a:spcAft>
                <a:spcPts val="1800"/>
              </a:spcAft>
            </a:pPr>
            <a:r>
              <a:rPr lang="en-US" b="1">
                <a:solidFill>
                  <a:srgbClr val="504BAB"/>
                </a:solidFill>
              </a:rPr>
              <a:t>IAM group</a:t>
            </a:r>
            <a:endParaRPr lang="en-US" b="1">
              <a:solidFill>
                <a:srgbClr val="504BAB"/>
              </a:solidFill>
              <a:latin typeface="Amazon Ember Light" panose="020B0403020204020204"/>
            </a:endParaRPr>
          </a:p>
        </p:txBody>
      </p:sp>
      <p:sp>
        <p:nvSpPr>
          <p:cNvPr id="14" name="Content Placeholder 5">
            <a:extLst>
              <a:ext uri="{FF2B5EF4-FFF2-40B4-BE49-F238E27FC236}">
                <a16:creationId xmlns:a16="http://schemas.microsoft.com/office/drawing/2014/main" id="{F856B0C6-71EC-334E-8B21-CAF24DDFAC2C}"/>
              </a:ext>
            </a:extLst>
          </p:cNvPr>
          <p:cNvSpPr txBox="1">
            <a:spLocks/>
          </p:cNvSpPr>
          <p:nvPr/>
        </p:nvSpPr>
        <p:spPr>
          <a:xfrm>
            <a:off x="2490256" y="2671172"/>
            <a:ext cx="7350034" cy="888701"/>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ct val="100000"/>
              </a:lnSpc>
            </a:pPr>
            <a:r>
              <a:rPr lang="en-US" sz="2400">
                <a:latin typeface="+mn-lt"/>
              </a:rPr>
              <a:t>A </a:t>
            </a:r>
            <a:r>
              <a:rPr lang="en-US" sz="2400" b="1">
                <a:solidFill>
                  <a:srgbClr val="504BAB"/>
                </a:solidFill>
                <a:latin typeface="+mn-lt"/>
              </a:rPr>
              <a:t>collection</a:t>
            </a:r>
            <a:r>
              <a:rPr lang="en-US" sz="2400">
                <a:solidFill>
                  <a:srgbClr val="504BAB"/>
                </a:solidFill>
                <a:latin typeface="+mn-lt"/>
              </a:rPr>
              <a:t> </a:t>
            </a:r>
            <a:r>
              <a:rPr lang="en-US" sz="2400" b="1">
                <a:solidFill>
                  <a:srgbClr val="504BAB"/>
                </a:solidFill>
                <a:latin typeface="+mn-lt"/>
              </a:rPr>
              <a:t>of IAM users </a:t>
            </a:r>
            <a:r>
              <a:rPr lang="en-US" sz="2400">
                <a:latin typeface="+mn-lt"/>
              </a:rPr>
              <a:t>that are granted identical authorization.</a:t>
            </a:r>
          </a:p>
        </p:txBody>
      </p:sp>
      <p:pic>
        <p:nvPicPr>
          <p:cNvPr id="18" name="Graphic 41">
            <a:extLst>
              <a:ext uri="{FF2B5EF4-FFF2-40B4-BE49-F238E27FC236}">
                <a16:creationId xmlns:a16="http://schemas.microsoft.com/office/drawing/2014/main" id="{1A56C62F-612C-5841-B7E7-B15DA92D0BD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1296026" y="2723778"/>
            <a:ext cx="717038" cy="696745"/>
          </a:xfrm>
          <a:prstGeom prst="rect">
            <a:avLst/>
          </a:prstGeom>
        </p:spPr>
      </p:pic>
      <p:sp>
        <p:nvSpPr>
          <p:cNvPr id="19" name="TextBox 18">
            <a:extLst>
              <a:ext uri="{FF2B5EF4-FFF2-40B4-BE49-F238E27FC236}">
                <a16:creationId xmlns:a16="http://schemas.microsoft.com/office/drawing/2014/main" id="{D1077742-8498-3A4A-8FC4-526A0CF145BA}"/>
              </a:ext>
            </a:extLst>
          </p:cNvPr>
          <p:cNvSpPr txBox="1"/>
          <p:nvPr/>
        </p:nvSpPr>
        <p:spPr>
          <a:xfrm>
            <a:off x="864745" y="4519235"/>
            <a:ext cx="1579600" cy="572464"/>
          </a:xfrm>
          <a:prstGeom prst="rect">
            <a:avLst/>
          </a:prstGeom>
          <a:noFill/>
          <a:effectLst/>
        </p:spPr>
        <p:txBody>
          <a:bodyPr wrap="none" lIns="182880" tIns="146304" rIns="182880" bIns="146304" rtlCol="0">
            <a:spAutoFit/>
          </a:bodyPr>
          <a:lstStyle/>
          <a:p>
            <a:pPr algn="ctr">
              <a:lnSpc>
                <a:spcPct val="90000"/>
              </a:lnSpc>
              <a:spcAft>
                <a:spcPts val="1800"/>
              </a:spcAft>
            </a:pPr>
            <a:r>
              <a:rPr lang="en-US" sz="2000" b="1">
                <a:solidFill>
                  <a:srgbClr val="504BAB"/>
                </a:solidFill>
              </a:rPr>
              <a:t>IAM p</a:t>
            </a:r>
            <a:r>
              <a:rPr lang="en-US" b="1">
                <a:solidFill>
                  <a:srgbClr val="504BAB"/>
                </a:solidFill>
              </a:rPr>
              <a:t>olicy</a:t>
            </a:r>
            <a:endParaRPr lang="en-US" sz="2000" b="1">
              <a:solidFill>
                <a:srgbClr val="504BAB"/>
              </a:solidFill>
              <a:latin typeface="Amazon Ember Light" panose="020B0403020204020204"/>
            </a:endParaRPr>
          </a:p>
        </p:txBody>
      </p:sp>
      <p:sp>
        <p:nvSpPr>
          <p:cNvPr id="20" name="Content Placeholder 5">
            <a:extLst>
              <a:ext uri="{FF2B5EF4-FFF2-40B4-BE49-F238E27FC236}">
                <a16:creationId xmlns:a16="http://schemas.microsoft.com/office/drawing/2014/main" id="{F81C3728-D05F-6741-B3AC-B69FEFB810ED}"/>
              </a:ext>
            </a:extLst>
          </p:cNvPr>
          <p:cNvSpPr txBox="1">
            <a:spLocks/>
          </p:cNvSpPr>
          <p:nvPr/>
        </p:nvSpPr>
        <p:spPr>
          <a:xfrm>
            <a:off x="2490256" y="3851329"/>
            <a:ext cx="7350034" cy="888701"/>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ct val="100000"/>
              </a:lnSpc>
            </a:pPr>
            <a:r>
              <a:rPr lang="en-US" sz="2400">
                <a:latin typeface="+mn-lt"/>
              </a:rPr>
              <a:t>The document that defines</a:t>
            </a:r>
            <a:r>
              <a:rPr lang="en-US" sz="2400" b="1">
                <a:solidFill>
                  <a:schemeClr val="accent5"/>
                </a:solidFill>
                <a:latin typeface="+mn-lt"/>
              </a:rPr>
              <a:t> </a:t>
            </a:r>
            <a:r>
              <a:rPr lang="en-US" sz="2400" b="1">
                <a:solidFill>
                  <a:srgbClr val="504BAB"/>
                </a:solidFill>
                <a:latin typeface="+mn-lt"/>
              </a:rPr>
              <a:t>which resources can be accessed</a:t>
            </a:r>
            <a:r>
              <a:rPr lang="en-US" sz="2400">
                <a:latin typeface="+mn-lt"/>
              </a:rPr>
              <a:t> and the </a:t>
            </a:r>
            <a:r>
              <a:rPr lang="en-US" sz="2400" b="1">
                <a:solidFill>
                  <a:srgbClr val="504BAB"/>
                </a:solidFill>
                <a:latin typeface="+mn-lt"/>
              </a:rPr>
              <a:t>level of access</a:t>
            </a:r>
            <a:r>
              <a:rPr lang="en-US" sz="2400">
                <a:solidFill>
                  <a:srgbClr val="504BAB"/>
                </a:solidFill>
                <a:latin typeface="+mn-lt"/>
              </a:rPr>
              <a:t> </a:t>
            </a:r>
            <a:r>
              <a:rPr lang="en-US" sz="2400">
                <a:latin typeface="+mn-lt"/>
              </a:rPr>
              <a:t>to each resource.</a:t>
            </a:r>
          </a:p>
        </p:txBody>
      </p:sp>
      <p:pic>
        <p:nvPicPr>
          <p:cNvPr id="16" name="Picture 15">
            <a:extLst>
              <a:ext uri="{FF2B5EF4-FFF2-40B4-BE49-F238E27FC236}">
                <a16:creationId xmlns:a16="http://schemas.microsoft.com/office/drawing/2014/main" id="{62409C3C-0736-6947-B41D-D987F58C1D92}"/>
              </a:ext>
              <a:ext uri="{C183D7F6-B498-43B3-948B-1728B52AA6E4}">
                <adec:decorative xmlns:adec="http://schemas.microsoft.com/office/drawing/2017/decorative" val="1"/>
              </a:ext>
            </a:extLst>
          </p:cNvPr>
          <p:cNvPicPr>
            <a:picLocks noChangeAspect="1"/>
          </p:cNvPicPr>
          <p:nvPr/>
        </p:nvPicPr>
        <p:blipFill>
          <a:blip r:embed="rId8" cstate="screen">
            <a:biLevel thresh="75000"/>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a:ext>
            </a:extLst>
          </a:blip>
          <a:stretch>
            <a:fillRect/>
          </a:stretch>
        </p:blipFill>
        <p:spPr>
          <a:xfrm>
            <a:off x="1315893" y="3924081"/>
            <a:ext cx="677304" cy="677304"/>
          </a:xfrm>
          <a:prstGeom prst="rect">
            <a:avLst/>
          </a:prstGeom>
          <a:noFill/>
        </p:spPr>
      </p:pic>
      <p:sp>
        <p:nvSpPr>
          <p:cNvPr id="26" name="TextBox 25"/>
          <p:cNvSpPr txBox="1"/>
          <p:nvPr/>
        </p:nvSpPr>
        <p:spPr>
          <a:xfrm>
            <a:off x="942481" y="5492430"/>
            <a:ext cx="1351973" cy="572464"/>
          </a:xfrm>
          <a:prstGeom prst="rect">
            <a:avLst/>
          </a:prstGeom>
          <a:noFill/>
          <a:effectLst/>
        </p:spPr>
        <p:txBody>
          <a:bodyPr wrap="none" lIns="182880" tIns="146304" rIns="182880" bIns="146304" rtlCol="0">
            <a:spAutoFit/>
          </a:bodyPr>
          <a:lstStyle/>
          <a:p>
            <a:pPr algn="ctr">
              <a:lnSpc>
                <a:spcPct val="90000"/>
              </a:lnSpc>
              <a:spcAft>
                <a:spcPts val="1800"/>
              </a:spcAft>
            </a:pPr>
            <a:r>
              <a:rPr lang="en-US" sz="2000" b="1">
                <a:solidFill>
                  <a:srgbClr val="504BAB"/>
                </a:solidFill>
              </a:rPr>
              <a:t>IAM r</a:t>
            </a:r>
            <a:r>
              <a:rPr lang="en-US" b="1">
                <a:solidFill>
                  <a:srgbClr val="504BAB"/>
                </a:solidFill>
              </a:rPr>
              <a:t>ole</a:t>
            </a:r>
            <a:endParaRPr lang="en-US" sz="2000" b="1">
              <a:solidFill>
                <a:srgbClr val="504BAB"/>
              </a:solidFill>
              <a:latin typeface="Amazon Ember Light" panose="020B0403020204020204"/>
            </a:endParaRPr>
          </a:p>
        </p:txBody>
      </p:sp>
      <p:sp>
        <p:nvSpPr>
          <p:cNvPr id="15" name="Content Placeholder 5">
            <a:extLst>
              <a:ext uri="{FF2B5EF4-FFF2-40B4-BE49-F238E27FC236}">
                <a16:creationId xmlns:a16="http://schemas.microsoft.com/office/drawing/2014/main" id="{FC156BD0-B15D-C74C-9256-2D18304F816C}"/>
              </a:ext>
            </a:extLst>
          </p:cNvPr>
          <p:cNvSpPr txBox="1">
            <a:spLocks/>
          </p:cNvSpPr>
          <p:nvPr/>
        </p:nvSpPr>
        <p:spPr>
          <a:xfrm>
            <a:off x="2490256" y="5091699"/>
            <a:ext cx="7350034" cy="888701"/>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ct val="100000"/>
              </a:lnSpc>
            </a:pPr>
            <a:r>
              <a:rPr lang="en-US" sz="2400">
                <a:latin typeface="+mn-lt"/>
              </a:rPr>
              <a:t>Useful mechanism to grant a set of permissions for making AWS service requests. </a:t>
            </a:r>
          </a:p>
        </p:txBody>
      </p:sp>
      <p:pic>
        <p:nvPicPr>
          <p:cNvPr id="27" name="Graphic 54">
            <a:extLst>
              <a:ext uri="{FF2B5EF4-FFF2-40B4-BE49-F238E27FC236}">
                <a16:creationId xmlns:a16="http://schemas.microsoft.com/office/drawing/2014/main" id="{50E1591F-DA4C-934C-BDCB-2E69767A65B3}"/>
              </a:ext>
              <a:ext uri="{C183D7F6-B498-43B3-948B-1728B52AA6E4}">
                <adec:decorative xmlns:adec="http://schemas.microsoft.com/office/drawing/2017/decorative" val="1"/>
              </a:ext>
            </a:extLst>
          </p:cNvPr>
          <p:cNvPicPr>
            <a:picLocks noChangeAspect="1"/>
          </p:cNvPicPr>
          <p:nvPr/>
        </p:nvPicPr>
        <p:blipFill>
          <a:blip r:embed="rId10">
            <a:duotone>
              <a:prstClr val="black"/>
              <a:schemeClr val="tx2">
                <a:tint val="45000"/>
                <a:satMod val="400000"/>
              </a:schemeClr>
            </a:duotone>
            <a:extLst>
              <a:ext uri="{96DAC541-7B7A-43D3-8B79-37D633B846F1}">
                <asvg:svgBlip xmlns:asvg="http://schemas.microsoft.com/office/drawing/2016/SVG/main" r:embed="rId11"/>
              </a:ext>
            </a:extLst>
          </a:blip>
          <a:stretch>
            <a:fillRect/>
          </a:stretch>
        </p:blipFill>
        <p:spPr>
          <a:xfrm>
            <a:off x="1301019" y="5104943"/>
            <a:ext cx="707053" cy="642963"/>
          </a:xfrm>
          <a:prstGeom prst="rect">
            <a:avLst/>
          </a:prstGeom>
        </p:spPr>
      </p:pic>
    </p:spTree>
    <p:custDataLst>
      <p:tags r:id="rId1"/>
    </p:custDataLst>
    <p:extLst>
      <p:ext uri="{BB962C8B-B14F-4D97-AF65-F5344CB8AC3E}">
        <p14:creationId xmlns:p14="http://schemas.microsoft.com/office/powerpoint/2010/main" val="3697603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F374514-0F74-4C44-B03F-38EB546F6A36}"/>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30</a:t>
            </a:fld>
            <a:endParaRPr lang="en-US"/>
          </a:p>
        </p:txBody>
      </p:sp>
      <p:sp>
        <p:nvSpPr>
          <p:cNvPr id="2" name="Title 1"/>
          <p:cNvSpPr>
            <a:spLocks noGrp="1"/>
          </p:cNvSpPr>
          <p:nvPr>
            <p:ph type="title"/>
          </p:nvPr>
        </p:nvSpPr>
        <p:spPr/>
        <p:txBody>
          <a:bodyPr>
            <a:normAutofit fontScale="90000"/>
          </a:bodyPr>
          <a:lstStyle/>
          <a:p>
            <a:r>
              <a:rPr lang="en-US"/>
              <a:t>Authenticate as an IAM user to gain access</a:t>
            </a:r>
          </a:p>
        </p:txBody>
      </p:sp>
      <p:sp>
        <p:nvSpPr>
          <p:cNvPr id="3" name="Content Placeholder 2"/>
          <p:cNvSpPr>
            <a:spLocks noGrp="1"/>
          </p:cNvSpPr>
          <p:nvPr>
            <p:ph sz="quarter" idx="21"/>
          </p:nvPr>
        </p:nvSpPr>
        <p:spPr/>
        <p:txBody>
          <a:bodyPr>
            <a:normAutofit/>
          </a:bodyPr>
          <a:lstStyle/>
          <a:p>
            <a:pPr marL="14287" lvl="1" indent="0">
              <a:buNone/>
            </a:pPr>
            <a:r>
              <a:rPr lang="en-US" sz="2000"/>
              <a:t>When you define an </a:t>
            </a:r>
            <a:r>
              <a:rPr lang="en-US" sz="2000" b="1"/>
              <a:t>IAM user</a:t>
            </a:r>
            <a:r>
              <a:rPr lang="en-US" sz="2000"/>
              <a:t>, you select what </a:t>
            </a:r>
            <a:r>
              <a:rPr lang="en-US" sz="2000" b="1" i="1">
                <a:solidFill>
                  <a:srgbClr val="504BAB"/>
                </a:solidFill>
              </a:rPr>
              <a:t>types of access </a:t>
            </a:r>
            <a:r>
              <a:rPr lang="en-US" sz="2000"/>
              <a:t>the user is permitted to use. </a:t>
            </a:r>
          </a:p>
          <a:p>
            <a:pPr marL="14287" lvl="1" indent="0">
              <a:buNone/>
            </a:pPr>
            <a:endParaRPr lang="en-US" sz="1400"/>
          </a:p>
          <a:p>
            <a:pPr marL="14287" lvl="1" indent="0">
              <a:buNone/>
            </a:pPr>
            <a:r>
              <a:rPr lang="en-US" b="1" i="1">
                <a:solidFill>
                  <a:srgbClr val="504BAB"/>
                </a:solidFill>
              </a:rPr>
              <a:t>Programmatic</a:t>
            </a:r>
            <a:r>
              <a:rPr lang="en-US">
                <a:solidFill>
                  <a:srgbClr val="504BAB"/>
                </a:solidFill>
              </a:rPr>
              <a:t> </a:t>
            </a:r>
            <a:r>
              <a:rPr lang="en-US" b="1">
                <a:solidFill>
                  <a:srgbClr val="504BAB"/>
                </a:solidFill>
              </a:rPr>
              <a:t>access</a:t>
            </a:r>
          </a:p>
          <a:p>
            <a:pPr marL="692150" lvl="3" indent="-220663">
              <a:lnSpc>
                <a:spcPct val="100000"/>
              </a:lnSpc>
            </a:pPr>
            <a:r>
              <a:rPr lang="en-US"/>
              <a:t>Authenticate using:</a:t>
            </a:r>
          </a:p>
          <a:p>
            <a:pPr marL="1149350" lvl="4" indent="-220663">
              <a:lnSpc>
                <a:spcPct val="100000"/>
              </a:lnSpc>
            </a:pPr>
            <a:r>
              <a:rPr lang="en-US">
                <a:solidFill>
                  <a:schemeClr val="accent5"/>
                </a:solidFill>
              </a:rPr>
              <a:t>Access key ID</a:t>
            </a:r>
          </a:p>
          <a:p>
            <a:pPr marL="1149350" lvl="4" indent="-220663">
              <a:lnSpc>
                <a:spcPct val="100000"/>
              </a:lnSpc>
            </a:pPr>
            <a:r>
              <a:rPr lang="en-US">
                <a:solidFill>
                  <a:schemeClr val="accent5"/>
                </a:solidFill>
              </a:rPr>
              <a:t>Secret access key</a:t>
            </a:r>
          </a:p>
          <a:p>
            <a:pPr marL="692150" lvl="3" indent="-220663">
              <a:lnSpc>
                <a:spcPct val="100000"/>
              </a:lnSpc>
            </a:pPr>
            <a:r>
              <a:rPr lang="en-US"/>
              <a:t>Provides AWS CLI and AWS SDK access</a:t>
            </a:r>
          </a:p>
          <a:p>
            <a:pPr marL="692150" lvl="3" indent="-220663">
              <a:lnSpc>
                <a:spcPct val="100000"/>
              </a:lnSpc>
            </a:pPr>
            <a:endParaRPr lang="en-US" sz="1400"/>
          </a:p>
          <a:p>
            <a:pPr marL="14287" lvl="1" indent="0">
              <a:buNone/>
            </a:pPr>
            <a:r>
              <a:rPr lang="en-US" b="1" i="1">
                <a:solidFill>
                  <a:srgbClr val="504BAB"/>
                </a:solidFill>
              </a:rPr>
              <a:t>AWS Management Console </a:t>
            </a:r>
            <a:r>
              <a:rPr lang="en-US" b="1">
                <a:solidFill>
                  <a:srgbClr val="504BAB"/>
                </a:solidFill>
              </a:rPr>
              <a:t>access</a:t>
            </a:r>
          </a:p>
          <a:p>
            <a:pPr marL="692150" lvl="3" indent="-220663">
              <a:lnSpc>
                <a:spcPct val="100000"/>
              </a:lnSpc>
            </a:pPr>
            <a:r>
              <a:rPr lang="en-US"/>
              <a:t>Authenticate using:</a:t>
            </a:r>
          </a:p>
          <a:p>
            <a:pPr marL="1149350" lvl="4" indent="-220663">
              <a:lnSpc>
                <a:spcPct val="100000"/>
              </a:lnSpc>
            </a:pPr>
            <a:r>
              <a:rPr lang="en-US">
                <a:solidFill>
                  <a:schemeClr val="accent5"/>
                </a:solidFill>
              </a:rPr>
              <a:t>12-digit Account ID </a:t>
            </a:r>
            <a:r>
              <a:rPr lang="en-US" i="1">
                <a:solidFill>
                  <a:schemeClr val="accent5"/>
                </a:solidFill>
              </a:rPr>
              <a:t>or</a:t>
            </a:r>
            <a:r>
              <a:rPr lang="en-US">
                <a:solidFill>
                  <a:schemeClr val="accent5"/>
                </a:solidFill>
              </a:rPr>
              <a:t> alias</a:t>
            </a:r>
          </a:p>
          <a:p>
            <a:pPr marL="1149350" lvl="4" indent="-220663">
              <a:lnSpc>
                <a:spcPct val="100000"/>
              </a:lnSpc>
            </a:pPr>
            <a:r>
              <a:rPr lang="en-US"/>
              <a:t>IAM </a:t>
            </a:r>
            <a:r>
              <a:rPr lang="en-US">
                <a:solidFill>
                  <a:schemeClr val="accent5"/>
                </a:solidFill>
              </a:rPr>
              <a:t>user name</a:t>
            </a:r>
          </a:p>
          <a:p>
            <a:pPr marL="1149350" lvl="4" indent="-220663">
              <a:lnSpc>
                <a:spcPct val="100000"/>
              </a:lnSpc>
            </a:pPr>
            <a:r>
              <a:rPr lang="en-US"/>
              <a:t>IAM </a:t>
            </a:r>
            <a:r>
              <a:rPr lang="en-US">
                <a:solidFill>
                  <a:schemeClr val="accent5"/>
                </a:solidFill>
              </a:rPr>
              <a:t>password</a:t>
            </a:r>
          </a:p>
          <a:p>
            <a:pPr marL="692150" lvl="3" indent="-220663">
              <a:lnSpc>
                <a:spcPct val="100000"/>
              </a:lnSpc>
            </a:pPr>
            <a:r>
              <a:rPr lang="en-US"/>
              <a:t>If enabled, </a:t>
            </a:r>
            <a:r>
              <a:rPr lang="en-US" b="1">
                <a:solidFill>
                  <a:schemeClr val="accent6"/>
                </a:solidFill>
              </a:rPr>
              <a:t>multi-factor authentication (MFA)</a:t>
            </a:r>
            <a:r>
              <a:rPr lang="en-US">
                <a:solidFill>
                  <a:schemeClr val="accent6"/>
                </a:solidFill>
              </a:rPr>
              <a:t> </a:t>
            </a:r>
            <a:r>
              <a:rPr lang="en-US"/>
              <a:t>prompts for an authentication code.</a:t>
            </a:r>
            <a:endParaRPr lang="en-US" sz="2000"/>
          </a:p>
        </p:txBody>
      </p:sp>
      <p:pic>
        <p:nvPicPr>
          <p:cNvPr id="19" name="Graphic 18">
            <a:extLst>
              <a:ext uri="{FF2B5EF4-FFF2-40B4-BE49-F238E27FC236}">
                <a16:creationId xmlns:a16="http://schemas.microsoft.com/office/drawing/2014/main" id="{F2B22E84-F9D5-B34E-86CE-58AE715DBFE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39805" y="2254614"/>
            <a:ext cx="711200" cy="711200"/>
          </a:xfrm>
          <a:prstGeom prst="rect">
            <a:avLst/>
          </a:prstGeom>
        </p:spPr>
      </p:pic>
      <p:sp>
        <p:nvSpPr>
          <p:cNvPr id="20" name="TextBox 19">
            <a:extLst>
              <a:ext uri="{FF2B5EF4-FFF2-40B4-BE49-F238E27FC236}">
                <a16:creationId xmlns:a16="http://schemas.microsoft.com/office/drawing/2014/main" id="{771B440E-C260-E84A-97C4-D4F368E1276C}"/>
              </a:ext>
            </a:extLst>
          </p:cNvPr>
          <p:cNvSpPr txBox="1"/>
          <p:nvPr/>
        </p:nvSpPr>
        <p:spPr>
          <a:xfrm>
            <a:off x="8505544" y="3016801"/>
            <a:ext cx="1779722" cy="338554"/>
          </a:xfrm>
          <a:prstGeom prst="rect">
            <a:avLst/>
          </a:prstGeom>
          <a:noFill/>
        </p:spPr>
        <p:txBody>
          <a:bodyPr wrap="square" rtlCol="0">
            <a:spAutoFit/>
          </a:bodyPr>
          <a:lstStyle/>
          <a:p>
            <a:pPr algn="ctr"/>
            <a:r>
              <a:rPr lang="en-US" sz="1600"/>
              <a:t>AWS CLI</a:t>
            </a:r>
          </a:p>
        </p:txBody>
      </p:sp>
      <p:sp>
        <p:nvSpPr>
          <p:cNvPr id="21" name="TextBox 20">
            <a:extLst>
              <a:ext uri="{FF2B5EF4-FFF2-40B4-BE49-F238E27FC236}">
                <a16:creationId xmlns:a16="http://schemas.microsoft.com/office/drawing/2014/main" id="{B19A1965-AF72-4243-9D0C-6719BCF928E5}"/>
              </a:ext>
            </a:extLst>
          </p:cNvPr>
          <p:cNvSpPr txBox="1"/>
          <p:nvPr/>
        </p:nvSpPr>
        <p:spPr>
          <a:xfrm>
            <a:off x="10157323" y="3016801"/>
            <a:ext cx="1324407" cy="584775"/>
          </a:xfrm>
          <a:prstGeom prst="rect">
            <a:avLst/>
          </a:prstGeom>
          <a:noFill/>
        </p:spPr>
        <p:txBody>
          <a:bodyPr wrap="square" rtlCol="0">
            <a:spAutoFit/>
          </a:bodyPr>
          <a:lstStyle/>
          <a:p>
            <a:pPr algn="ctr"/>
            <a:r>
              <a:rPr lang="en-US" sz="1600"/>
              <a:t>AWS Tools and SDKs</a:t>
            </a:r>
          </a:p>
        </p:txBody>
      </p:sp>
      <p:pic>
        <p:nvPicPr>
          <p:cNvPr id="22" name="Graphic 21">
            <a:extLst>
              <a:ext uri="{FF2B5EF4-FFF2-40B4-BE49-F238E27FC236}">
                <a16:creationId xmlns:a16="http://schemas.microsoft.com/office/drawing/2014/main" id="{65E7723F-CAE2-BD44-8A55-B03ADAD33DD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63927" y="2254614"/>
            <a:ext cx="711200" cy="711200"/>
          </a:xfrm>
          <a:prstGeom prst="rect">
            <a:avLst/>
          </a:prstGeom>
        </p:spPr>
      </p:pic>
      <p:sp>
        <p:nvSpPr>
          <p:cNvPr id="23" name="TextBox 22">
            <a:extLst>
              <a:ext uri="{FF2B5EF4-FFF2-40B4-BE49-F238E27FC236}">
                <a16:creationId xmlns:a16="http://schemas.microsoft.com/office/drawing/2014/main" id="{04CE053C-A0B2-6748-B838-DE70FCF03157}"/>
              </a:ext>
            </a:extLst>
          </p:cNvPr>
          <p:cNvSpPr txBox="1"/>
          <p:nvPr/>
        </p:nvSpPr>
        <p:spPr>
          <a:xfrm>
            <a:off x="9052493" y="5134822"/>
            <a:ext cx="2122634" cy="584775"/>
          </a:xfrm>
          <a:prstGeom prst="rect">
            <a:avLst/>
          </a:prstGeom>
          <a:noFill/>
        </p:spPr>
        <p:txBody>
          <a:bodyPr wrap="square" rtlCol="0">
            <a:spAutoFit/>
          </a:bodyPr>
          <a:lstStyle/>
          <a:p>
            <a:pPr algn="ctr"/>
            <a:r>
              <a:rPr lang="en-US" sz="1600"/>
              <a:t>AWS Management Console</a:t>
            </a:r>
          </a:p>
        </p:txBody>
      </p:sp>
      <p:pic>
        <p:nvPicPr>
          <p:cNvPr id="24" name="Graphic 23">
            <a:extLst>
              <a:ext uri="{FF2B5EF4-FFF2-40B4-BE49-F238E27FC236}">
                <a16:creationId xmlns:a16="http://schemas.microsoft.com/office/drawing/2014/main" id="{DA2E72F7-5200-0542-81BC-8B0ECE2E7BC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52727" y="4364575"/>
            <a:ext cx="711200" cy="711200"/>
          </a:xfrm>
          <a:prstGeom prst="rect">
            <a:avLst/>
          </a:prstGeom>
        </p:spPr>
      </p:pic>
    </p:spTree>
    <p:custDataLst>
      <p:tags r:id="rId1"/>
    </p:custDataLst>
    <p:extLst>
      <p:ext uri="{BB962C8B-B14F-4D97-AF65-F5344CB8AC3E}">
        <p14:creationId xmlns:p14="http://schemas.microsoft.com/office/powerpoint/2010/main" val="2049734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B1CA6D-0BD9-5B48-A5D0-2E1EEE216797}"/>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31</a:t>
            </a:fld>
            <a:endParaRPr lang="en-US"/>
          </a:p>
        </p:txBody>
      </p:sp>
      <p:sp>
        <p:nvSpPr>
          <p:cNvPr id="2" name="Title 1"/>
          <p:cNvSpPr>
            <a:spLocks noGrp="1"/>
          </p:cNvSpPr>
          <p:nvPr>
            <p:ph type="title"/>
          </p:nvPr>
        </p:nvSpPr>
        <p:spPr/>
        <p:txBody>
          <a:bodyPr>
            <a:noAutofit/>
          </a:bodyPr>
          <a:lstStyle/>
          <a:p>
            <a:r>
              <a:rPr lang="en-US"/>
              <a:t>IAM MFA</a:t>
            </a:r>
          </a:p>
        </p:txBody>
      </p:sp>
      <p:sp>
        <p:nvSpPr>
          <p:cNvPr id="14" name="Content Placeholder 2">
            <a:extLst>
              <a:ext uri="{FF2B5EF4-FFF2-40B4-BE49-F238E27FC236}">
                <a16:creationId xmlns:a16="http://schemas.microsoft.com/office/drawing/2014/main" id="{7ADF1507-7887-2E40-9996-FCB25D1E1CDD}"/>
              </a:ext>
            </a:extLst>
          </p:cNvPr>
          <p:cNvSpPr>
            <a:spLocks noGrp="1"/>
          </p:cNvSpPr>
          <p:nvPr>
            <p:ph sz="quarter" idx="21"/>
          </p:nvPr>
        </p:nvSpPr>
        <p:spPr/>
        <p:txBody>
          <a:bodyPr>
            <a:normAutofit/>
          </a:bodyPr>
          <a:lstStyle/>
          <a:p>
            <a:pPr marL="228600" lvl="1">
              <a:lnSpc>
                <a:spcPct val="110000"/>
              </a:lnSpc>
              <a:spcBef>
                <a:spcPts val="1800"/>
              </a:spcBef>
              <a:spcAft>
                <a:spcPts val="800"/>
              </a:spcAft>
            </a:pPr>
            <a:r>
              <a:rPr lang="en-US"/>
              <a:t>MFA provides increased security.</a:t>
            </a:r>
          </a:p>
          <a:p>
            <a:pPr marL="228600" lvl="1">
              <a:lnSpc>
                <a:spcPct val="110000"/>
              </a:lnSpc>
              <a:spcBef>
                <a:spcPts val="1800"/>
              </a:spcBef>
              <a:spcAft>
                <a:spcPts val="800"/>
              </a:spcAft>
            </a:pPr>
            <a:r>
              <a:rPr lang="en-US"/>
              <a:t>In addition to </a:t>
            </a:r>
            <a:r>
              <a:rPr lang="en-US" b="1">
                <a:solidFill>
                  <a:schemeClr val="accent6"/>
                </a:solidFill>
              </a:rPr>
              <a:t>username</a:t>
            </a:r>
            <a:r>
              <a:rPr lang="en-US" b="1">
                <a:solidFill>
                  <a:schemeClr val="accent5"/>
                </a:solidFill>
              </a:rPr>
              <a:t> </a:t>
            </a:r>
            <a:r>
              <a:rPr lang="en-US"/>
              <a:t>and </a:t>
            </a:r>
            <a:r>
              <a:rPr lang="en-US" b="1">
                <a:solidFill>
                  <a:schemeClr val="accent6"/>
                </a:solidFill>
              </a:rPr>
              <a:t>password</a:t>
            </a:r>
            <a:r>
              <a:rPr lang="en-US"/>
              <a:t>, MFA requires a unique </a:t>
            </a:r>
            <a:r>
              <a:rPr lang="en-US">
                <a:solidFill>
                  <a:schemeClr val="accent5"/>
                </a:solidFill>
              </a:rPr>
              <a:t>authentication code</a:t>
            </a:r>
            <a:r>
              <a:rPr lang="en-US"/>
              <a:t> to access AWS services.</a:t>
            </a:r>
          </a:p>
        </p:txBody>
      </p:sp>
      <p:grpSp>
        <p:nvGrpSpPr>
          <p:cNvPr id="3" name="Group 2" descr="Sign in web page dialog with an arrow pointing to a screenshot of the AWS Management Console. The arrow is accompanied by labels &quot;username and password&quot; and &quot;MFA token.&quot;">
            <a:extLst>
              <a:ext uri="{FF2B5EF4-FFF2-40B4-BE49-F238E27FC236}">
                <a16:creationId xmlns:a16="http://schemas.microsoft.com/office/drawing/2014/main" id="{2224E456-C6EF-EC83-8FC7-3B3D673D101E}"/>
              </a:ext>
            </a:extLst>
          </p:cNvPr>
          <p:cNvGrpSpPr/>
          <p:nvPr/>
        </p:nvGrpSpPr>
        <p:grpSpPr>
          <a:xfrm>
            <a:off x="1127266" y="3032079"/>
            <a:ext cx="9849452" cy="3537610"/>
            <a:chOff x="1127266" y="3032079"/>
            <a:chExt cx="9849452" cy="3537610"/>
          </a:xfrm>
        </p:grpSpPr>
        <p:pic>
          <p:nvPicPr>
            <p:cNvPr id="12" name="Picture 11">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27266" y="3548570"/>
              <a:ext cx="3110541" cy="1840758"/>
            </a:xfrm>
            <a:prstGeom prst="rect">
              <a:avLst/>
            </a:prstGeom>
            <a:ln>
              <a:solidFill>
                <a:srgbClr val="474746">
                  <a:lumMod val="50000"/>
                </a:srgbClr>
              </a:solidFill>
            </a:ln>
          </p:spPr>
        </p:pic>
        <p:sp>
          <p:nvSpPr>
            <p:cNvPr id="15" name="TextBox 14">
              <a:extLst>
                <a:ext uri="{FF2B5EF4-FFF2-40B4-BE49-F238E27FC236}">
                  <a16:creationId xmlns:a16="http://schemas.microsoft.com/office/drawing/2014/main" id="{162ABE78-27C1-BD4E-B17B-E48CC454AEE1}"/>
                </a:ext>
              </a:extLst>
            </p:cNvPr>
            <p:cNvSpPr txBox="1"/>
            <p:nvPr/>
          </p:nvSpPr>
          <p:spPr>
            <a:xfrm>
              <a:off x="4302594" y="5177087"/>
              <a:ext cx="1571025" cy="338554"/>
            </a:xfrm>
            <a:prstGeom prst="rect">
              <a:avLst/>
            </a:prstGeom>
            <a:noFill/>
          </p:spPr>
          <p:txBody>
            <a:bodyPr wrap="square" rtlCol="0">
              <a:spAutoFit/>
            </a:bodyPr>
            <a:lstStyle/>
            <a:p>
              <a:pPr algn="ctr"/>
              <a:r>
                <a:rPr lang="en-US" sz="1600"/>
                <a:t>MFA token</a:t>
              </a:r>
            </a:p>
          </p:txBody>
        </p:sp>
        <p:pic>
          <p:nvPicPr>
            <p:cNvPr id="16" name="Graphic 15">
              <a:extLst>
                <a:ext uri="{FF2B5EF4-FFF2-40B4-BE49-F238E27FC236}">
                  <a16:creationId xmlns:a16="http://schemas.microsoft.com/office/drawing/2014/main" id="{C3676639-F7B1-4A49-8322-CCFBF1C615F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8901" y="4627807"/>
              <a:ext cx="598176" cy="598176"/>
            </a:xfrm>
            <a:prstGeom prst="rect">
              <a:avLst/>
            </a:prstGeom>
          </p:spPr>
        </p:pic>
        <p:pic>
          <p:nvPicPr>
            <p:cNvPr id="19" name="Graphic 18">
              <a:extLst>
                <a:ext uri="{FF2B5EF4-FFF2-40B4-BE49-F238E27FC236}">
                  <a16:creationId xmlns:a16="http://schemas.microsoft.com/office/drawing/2014/main" id="{342AB749-9AEA-EC44-905E-9CF54D68999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22554" y="3183324"/>
              <a:ext cx="728778" cy="728778"/>
            </a:xfrm>
            <a:prstGeom prst="rect">
              <a:avLst/>
            </a:prstGeom>
          </p:spPr>
        </p:pic>
        <p:sp>
          <p:nvSpPr>
            <p:cNvPr id="20" name="TextBox 19">
              <a:extLst>
                <a:ext uri="{FF2B5EF4-FFF2-40B4-BE49-F238E27FC236}">
                  <a16:creationId xmlns:a16="http://schemas.microsoft.com/office/drawing/2014/main" id="{7326E18F-2569-5F44-B0C6-1EA6A4235811}"/>
                </a:ext>
              </a:extLst>
            </p:cNvPr>
            <p:cNvSpPr txBox="1"/>
            <p:nvPr/>
          </p:nvSpPr>
          <p:spPr>
            <a:xfrm>
              <a:off x="4302594" y="3782914"/>
              <a:ext cx="1571025" cy="584775"/>
            </a:xfrm>
            <a:prstGeom prst="rect">
              <a:avLst/>
            </a:prstGeom>
            <a:noFill/>
          </p:spPr>
          <p:txBody>
            <a:bodyPr wrap="square" rtlCol="0">
              <a:spAutoFit/>
            </a:bodyPr>
            <a:lstStyle/>
            <a:p>
              <a:pPr algn="ctr"/>
              <a:r>
                <a:rPr lang="en-US" sz="1600"/>
                <a:t>Username and password</a:t>
              </a:r>
            </a:p>
          </p:txBody>
        </p:sp>
        <p:cxnSp>
          <p:nvCxnSpPr>
            <p:cNvPr id="21" name="Straight Arrow Connector 20">
              <a:extLst>
                <a:ext uri="{FF2B5EF4-FFF2-40B4-BE49-F238E27FC236}">
                  <a16:creationId xmlns:a16="http://schemas.microsoft.com/office/drawing/2014/main" id="{BB82A92E-8DA3-D54A-87C1-BCEF06CA4183}"/>
                </a:ext>
              </a:extLst>
            </p:cNvPr>
            <p:cNvCxnSpPr>
              <a:cxnSpLocks/>
            </p:cNvCxnSpPr>
            <p:nvPr/>
          </p:nvCxnSpPr>
          <p:spPr>
            <a:xfrm flipV="1">
              <a:off x="4384482" y="4481959"/>
              <a:ext cx="1571025" cy="1"/>
            </a:xfrm>
            <a:prstGeom prst="straightConnector1">
              <a:avLst/>
            </a:prstGeom>
            <a:ln w="381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20D0548F-E4E2-5B44-8600-AA3B52428A2A}"/>
                </a:ext>
                <a:ext uri="{C183D7F6-B498-43B3-948B-1728B52AA6E4}">
                  <adec:decorative xmlns:adec="http://schemas.microsoft.com/office/drawing/2017/decorative" val="1"/>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6096000" y="3032079"/>
              <a:ext cx="4880718" cy="3162282"/>
            </a:xfrm>
            <a:prstGeom prst="rect">
              <a:avLst/>
            </a:prstGeom>
            <a:ln>
              <a:solidFill>
                <a:schemeClr val="tx1"/>
              </a:solidFill>
            </a:ln>
          </p:spPr>
        </p:pic>
        <p:sp>
          <p:nvSpPr>
            <p:cNvPr id="27" name="TextBox 26">
              <a:extLst>
                <a:ext uri="{FF2B5EF4-FFF2-40B4-BE49-F238E27FC236}">
                  <a16:creationId xmlns:a16="http://schemas.microsoft.com/office/drawing/2014/main" id="{6707648D-CA53-494F-84D6-247BF4E4C545}"/>
                </a:ext>
              </a:extLst>
            </p:cNvPr>
            <p:cNvSpPr txBox="1"/>
            <p:nvPr/>
          </p:nvSpPr>
          <p:spPr>
            <a:xfrm>
              <a:off x="6933036" y="6231135"/>
              <a:ext cx="3206646" cy="338554"/>
            </a:xfrm>
            <a:prstGeom prst="rect">
              <a:avLst/>
            </a:prstGeom>
            <a:noFill/>
          </p:spPr>
          <p:txBody>
            <a:bodyPr wrap="square" rtlCol="0">
              <a:spAutoFit/>
            </a:bodyPr>
            <a:lstStyle/>
            <a:p>
              <a:pPr algn="ctr"/>
              <a:r>
                <a:rPr lang="en-US" sz="1600" b="1" i="1">
                  <a:solidFill>
                    <a:schemeClr val="accent6"/>
                  </a:solidFill>
                </a:rPr>
                <a:t>AWS Management Console</a:t>
              </a:r>
            </a:p>
          </p:txBody>
        </p:sp>
      </p:grpSp>
    </p:spTree>
    <p:custDataLst>
      <p:tags r:id="rId1"/>
    </p:custDataLst>
    <p:extLst>
      <p:ext uri="{BB962C8B-B14F-4D97-AF65-F5344CB8AC3E}">
        <p14:creationId xmlns:p14="http://schemas.microsoft.com/office/powerpoint/2010/main" val="1454774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C183D7F6-B498-43B3-948B-1728B52AA6E4}">
                <adec:decorative xmlns:adec="http://schemas.microsoft.com/office/drawing/2017/decorative" val="1"/>
              </a:ext>
            </a:extLst>
          </p:cNvPr>
          <p:cNvSpPr>
            <a:spLocks noGrp="1"/>
          </p:cNvSpPr>
          <p:nvPr>
            <p:ph type="sldNum" sz="quarter" idx="20"/>
          </p:nvPr>
        </p:nvSpPr>
        <p:spPr>
          <a:prstGeom prst="rect">
            <a:avLst/>
          </a:prstGeom>
        </p:spPr>
        <p:txBody>
          <a:bodyPr vert="horz" lIns="91440" tIns="45720" rIns="91440" bIns="45720" rtlCol="0" anchor="ctr"/>
          <a:lstStyle>
            <a:defPPr>
              <a:defRPr lang="en-US"/>
            </a:defPPr>
            <a:lvl1pPr marL="0" algn="r"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A95138-A96E-2F42-A959-2EFD44FE4AB7}" type="slidenum">
              <a:rPr lang="en-US" smtClean="0"/>
              <a:pPr/>
              <a:t>32</a:t>
            </a:fld>
            <a:endParaRPr lang="en-US"/>
          </a:p>
        </p:txBody>
      </p:sp>
      <p:sp>
        <p:nvSpPr>
          <p:cNvPr id="2" name="Title 1"/>
          <p:cNvSpPr>
            <a:spLocks noGrp="1"/>
          </p:cNvSpPr>
          <p:nvPr>
            <p:ph type="title"/>
          </p:nvPr>
        </p:nvSpPr>
        <p:spPr/>
        <p:txBody>
          <a:bodyPr>
            <a:normAutofit fontScale="90000"/>
          </a:bodyPr>
          <a:lstStyle/>
          <a:p>
            <a:r>
              <a:rPr lang="en-US"/>
              <a:t>Authorization: What actions are permitted</a:t>
            </a:r>
          </a:p>
        </p:txBody>
      </p:sp>
      <p:sp>
        <p:nvSpPr>
          <p:cNvPr id="5" name="TextBox 4">
            <a:extLst>
              <a:ext uri="{FF2B5EF4-FFF2-40B4-BE49-F238E27FC236}">
                <a16:creationId xmlns:a16="http://schemas.microsoft.com/office/drawing/2014/main" id="{0A0B4ED1-8180-4844-AACA-98B24AE0E761}"/>
              </a:ext>
            </a:extLst>
          </p:cNvPr>
          <p:cNvSpPr txBox="1"/>
          <p:nvPr/>
        </p:nvSpPr>
        <p:spPr>
          <a:xfrm>
            <a:off x="1378329" y="1393263"/>
            <a:ext cx="9081332" cy="369332"/>
          </a:xfrm>
          <a:prstGeom prst="rect">
            <a:avLst/>
          </a:prstGeom>
          <a:noFill/>
        </p:spPr>
        <p:txBody>
          <a:bodyPr wrap="none" rtlCol="0">
            <a:spAutoFit/>
          </a:bodyPr>
          <a:lstStyle/>
          <a:p>
            <a:r>
              <a:rPr lang="en-US" i="1">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After the user or application is connected to the AWS account, what are they allowed to do?</a:t>
            </a:r>
          </a:p>
        </p:txBody>
      </p:sp>
      <p:grpSp>
        <p:nvGrpSpPr>
          <p:cNvPr id="3" name="Group 2" descr="Diagram shows IAM user, IAM group, or IAM role trying to access EC2 instances and an S3 bucket. Between them are IAM policies  that provide full access to the EC2 instances, but Read Only access to the S3 bucket.">
            <a:extLst>
              <a:ext uri="{FF2B5EF4-FFF2-40B4-BE49-F238E27FC236}">
                <a16:creationId xmlns:a16="http://schemas.microsoft.com/office/drawing/2014/main" id="{F94C4ACD-7D61-79E5-5A39-925F747F44AF}"/>
              </a:ext>
            </a:extLst>
          </p:cNvPr>
          <p:cNvGrpSpPr/>
          <p:nvPr/>
        </p:nvGrpSpPr>
        <p:grpSpPr>
          <a:xfrm>
            <a:off x="1377696" y="1828717"/>
            <a:ext cx="9233100" cy="4070195"/>
            <a:chOff x="1377696" y="1828717"/>
            <a:chExt cx="9233100" cy="4070195"/>
          </a:xfrm>
        </p:grpSpPr>
        <p:sp>
          <p:nvSpPr>
            <p:cNvPr id="27" name="Rectangle 5" descr="diagram shows IAM user, IAM group, or IAM role on the lelft trying to access EC2 instances and an S3 bucket on the right. Between them are IAM policies  that provide full access to the EC2 instances, but Read Only access to the S3 bucket."/>
            <p:cNvSpPr/>
            <p:nvPr/>
          </p:nvSpPr>
          <p:spPr bwMode="auto">
            <a:xfrm>
              <a:off x="1377696" y="1828717"/>
              <a:ext cx="9233100" cy="4070195"/>
            </a:xfrm>
            <a:prstGeom prst="roundRect">
              <a:avLst>
                <a:gd name="adj" fmla="val 10930"/>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altLang="ja-JP" sz="2400">
                <a:solidFill>
                  <a:schemeClr val="tx1"/>
                </a:solidFill>
                <a:ea typeface="Segoe UI" pitchFamily="34" charset="0"/>
                <a:cs typeface="Segoe UI" pitchFamily="34" charset="0"/>
                <a:sym typeface="Times New Roman" pitchFamily="18" charset="0"/>
              </a:endParaRPr>
            </a:p>
          </p:txBody>
        </p:sp>
        <p:pic>
          <p:nvPicPr>
            <p:cNvPr id="7" name="Picture 6">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856653" y="2320327"/>
              <a:ext cx="1333500" cy="1333500"/>
            </a:xfrm>
            <a:prstGeom prst="rect">
              <a:avLst/>
            </a:prstGeom>
          </p:spPr>
        </p:pic>
        <p:sp>
          <p:nvSpPr>
            <p:cNvPr id="13" name="Rounded Rectangle 12"/>
            <p:cNvSpPr/>
            <p:nvPr/>
          </p:nvSpPr>
          <p:spPr>
            <a:xfrm>
              <a:off x="4831968" y="1971354"/>
              <a:ext cx="2128302" cy="3784922"/>
            </a:xfrm>
            <a:prstGeom prst="roundRect">
              <a:avLst/>
            </a:prstGeom>
            <a:noFill/>
            <a:ln w="38100">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TextBox 23"/>
            <p:cNvSpPr txBox="1"/>
            <p:nvPr/>
          </p:nvSpPr>
          <p:spPr>
            <a:xfrm>
              <a:off x="1610783" y="4323484"/>
              <a:ext cx="1536345" cy="923330"/>
            </a:xfrm>
            <a:prstGeom prst="rect">
              <a:avLst/>
            </a:prstGeom>
            <a:noFill/>
          </p:spPr>
          <p:txBody>
            <a:bodyPr wrap="square" lIns="0" tIns="0" rIns="0" bIns="0" rtlCol="0">
              <a:spAutoFit/>
            </a:bodyPr>
            <a:lstStyle/>
            <a:p>
              <a:pPr algn="ctr"/>
              <a:r>
                <a:rPr lang="en-US" sz="2000" b="1">
                  <a:solidFill>
                    <a:schemeClr val="accent6"/>
                  </a:solidFill>
                  <a:cs typeface="Helvetica Neue"/>
                </a:rPr>
                <a:t>IAM user</a:t>
              </a:r>
              <a:r>
                <a:rPr lang="en-US" sz="2000">
                  <a:solidFill>
                    <a:srgbClr val="000000"/>
                  </a:solidFill>
                  <a:cs typeface="Helvetica Neue"/>
                </a:rPr>
                <a:t>, </a:t>
              </a:r>
              <a:br>
                <a:rPr lang="en-US" sz="2000">
                  <a:solidFill>
                    <a:srgbClr val="000000"/>
                  </a:solidFill>
                  <a:cs typeface="Helvetica Neue"/>
                </a:rPr>
              </a:br>
              <a:r>
                <a:rPr lang="en-US" sz="2000" b="1">
                  <a:solidFill>
                    <a:schemeClr val="accent6"/>
                  </a:solidFill>
                  <a:cs typeface="Helvetica Neue"/>
                </a:rPr>
                <a:t>IAM group</a:t>
              </a:r>
              <a:r>
                <a:rPr lang="en-US" sz="2000">
                  <a:solidFill>
                    <a:srgbClr val="000000"/>
                  </a:solidFill>
                  <a:cs typeface="Helvetica Neue"/>
                </a:rPr>
                <a:t>, </a:t>
              </a:r>
              <a:br>
                <a:rPr lang="en-US" sz="2000">
                  <a:solidFill>
                    <a:srgbClr val="000000"/>
                  </a:solidFill>
                  <a:cs typeface="Helvetica Neue"/>
                </a:rPr>
              </a:br>
              <a:r>
                <a:rPr lang="en-US" sz="2000">
                  <a:solidFill>
                    <a:srgbClr val="000000"/>
                  </a:solidFill>
                  <a:cs typeface="Helvetica Neue"/>
                </a:rPr>
                <a:t>or </a:t>
              </a:r>
              <a:r>
                <a:rPr lang="en-US" sz="2000" b="1">
                  <a:solidFill>
                    <a:schemeClr val="accent6"/>
                  </a:solidFill>
                  <a:cs typeface="Helvetica Neue"/>
                </a:rPr>
                <a:t>IAM role</a:t>
              </a:r>
              <a:endParaRPr lang="en-US" sz="2000" b="1">
                <a:solidFill>
                  <a:schemeClr val="accent6"/>
                </a:solidFill>
                <a:latin typeface="Amazon Ember Light" panose="020B0403020204020204"/>
                <a:cs typeface="Helvetica Neue"/>
              </a:endParaRPr>
            </a:p>
          </p:txBody>
        </p:sp>
        <p:sp>
          <p:nvSpPr>
            <p:cNvPr id="47" name="TextBox 46"/>
            <p:cNvSpPr txBox="1"/>
            <p:nvPr/>
          </p:nvSpPr>
          <p:spPr>
            <a:xfrm>
              <a:off x="5035504" y="5228475"/>
              <a:ext cx="1651658" cy="307777"/>
            </a:xfrm>
            <a:prstGeom prst="rect">
              <a:avLst/>
            </a:prstGeom>
            <a:noFill/>
          </p:spPr>
          <p:txBody>
            <a:bodyPr wrap="square" lIns="0" tIns="0" rIns="0" bIns="0" rtlCol="0">
              <a:spAutoFit/>
            </a:bodyPr>
            <a:lstStyle/>
            <a:p>
              <a:pPr algn="ctr"/>
              <a:r>
                <a:rPr lang="en-US" sz="2000">
                  <a:solidFill>
                    <a:srgbClr val="000000"/>
                  </a:solidFill>
                  <a:cs typeface="Helvetica Neue"/>
                </a:rPr>
                <a:t>IAM policies</a:t>
              </a:r>
              <a:endParaRPr lang="en-US" sz="2000">
                <a:solidFill>
                  <a:srgbClr val="000000"/>
                </a:solidFill>
                <a:latin typeface="Amazon Ember Light" panose="020B0403020204020204"/>
                <a:cs typeface="Helvetica Neue"/>
              </a:endParaRPr>
            </a:p>
          </p:txBody>
        </p:sp>
        <p:sp>
          <p:nvSpPr>
            <p:cNvPr id="48" name="TextBox 47"/>
            <p:cNvSpPr txBox="1"/>
            <p:nvPr/>
          </p:nvSpPr>
          <p:spPr>
            <a:xfrm>
              <a:off x="6070387" y="2517890"/>
              <a:ext cx="845687" cy="553998"/>
            </a:xfrm>
            <a:prstGeom prst="rect">
              <a:avLst/>
            </a:prstGeom>
            <a:noFill/>
          </p:spPr>
          <p:txBody>
            <a:bodyPr wrap="square" lIns="0" tIns="0" rIns="0" bIns="0" rtlCol="0">
              <a:spAutoFit/>
            </a:bodyPr>
            <a:lstStyle/>
            <a:p>
              <a:pPr algn="ctr"/>
              <a:r>
                <a:rPr lang="en-US" dirty="0">
                  <a:solidFill>
                    <a:srgbClr val="000000"/>
                  </a:solidFill>
                  <a:cs typeface="Helvetica Neue"/>
                </a:rPr>
                <a:t>Full</a:t>
              </a:r>
              <a:br>
                <a:rPr lang="en-US" dirty="0">
                  <a:solidFill>
                    <a:srgbClr val="000000"/>
                  </a:solidFill>
                  <a:cs typeface="Helvetica Neue"/>
                </a:rPr>
              </a:br>
              <a:r>
                <a:rPr lang="en-US" dirty="0">
                  <a:solidFill>
                    <a:srgbClr val="000000"/>
                  </a:solidFill>
                  <a:cs typeface="Helvetica Neue"/>
                </a:rPr>
                <a:t>access</a:t>
              </a:r>
              <a:endParaRPr lang="en-US" dirty="0">
                <a:solidFill>
                  <a:srgbClr val="000000"/>
                </a:solidFill>
                <a:latin typeface="Amazon Ember Light" panose="020B0403020204020204"/>
                <a:cs typeface="Helvetica Neue"/>
              </a:endParaRPr>
            </a:p>
          </p:txBody>
        </p:sp>
        <p:sp>
          <p:nvSpPr>
            <p:cNvPr id="49" name="TextBox 48"/>
            <p:cNvSpPr txBox="1"/>
            <p:nvPr/>
          </p:nvSpPr>
          <p:spPr>
            <a:xfrm>
              <a:off x="5949452" y="4046486"/>
              <a:ext cx="808560" cy="553998"/>
            </a:xfrm>
            <a:prstGeom prst="rect">
              <a:avLst/>
            </a:prstGeom>
            <a:noFill/>
          </p:spPr>
          <p:txBody>
            <a:bodyPr wrap="square" lIns="0" tIns="0" rIns="0" bIns="0" rtlCol="0">
              <a:spAutoFit/>
            </a:bodyPr>
            <a:lstStyle/>
            <a:p>
              <a:pPr algn="ctr"/>
              <a:r>
                <a:rPr lang="en-US">
                  <a:solidFill>
                    <a:srgbClr val="000000"/>
                  </a:solidFill>
                  <a:cs typeface="Helvetica Neue"/>
                </a:rPr>
                <a:t>Read-only</a:t>
              </a:r>
              <a:endParaRPr lang="en-US">
                <a:solidFill>
                  <a:srgbClr val="000000"/>
                </a:solidFill>
                <a:latin typeface="Amazon Ember Light" panose="020B0403020204020204"/>
                <a:cs typeface="Helvetica Neue"/>
              </a:endParaRPr>
            </a:p>
          </p:txBody>
        </p:sp>
        <p:sp>
          <p:nvSpPr>
            <p:cNvPr id="30" name="TextBox 29"/>
            <p:cNvSpPr txBox="1"/>
            <p:nvPr/>
          </p:nvSpPr>
          <p:spPr>
            <a:xfrm>
              <a:off x="9209365" y="4232597"/>
              <a:ext cx="1239610" cy="276999"/>
            </a:xfrm>
            <a:prstGeom prst="rect">
              <a:avLst/>
            </a:prstGeom>
            <a:noFill/>
          </p:spPr>
          <p:txBody>
            <a:bodyPr wrap="square" lIns="0" tIns="0" rIns="0" bIns="0" rtlCol="0">
              <a:spAutoFit/>
            </a:bodyPr>
            <a:lstStyle/>
            <a:p>
              <a:pPr algn="ctr"/>
              <a:r>
                <a:rPr lang="en-US">
                  <a:cs typeface="Helvetica Neue"/>
                </a:rPr>
                <a:t> S3 </a:t>
              </a:r>
              <a:r>
                <a:rPr lang="en-US">
                  <a:solidFill>
                    <a:srgbClr val="000000"/>
                  </a:solidFill>
                  <a:cs typeface="Helvetica Neue"/>
                </a:rPr>
                <a:t>bucket</a:t>
              </a:r>
              <a:r>
                <a:rPr lang="en-US">
                  <a:cs typeface="Helvetica Neue"/>
                </a:rPr>
                <a:t> </a:t>
              </a:r>
            </a:p>
          </p:txBody>
        </p:sp>
        <p:cxnSp>
          <p:nvCxnSpPr>
            <p:cNvPr id="37" name="Straight Connector 36"/>
            <p:cNvCxnSpPr/>
            <p:nvPr/>
          </p:nvCxnSpPr>
          <p:spPr>
            <a:xfrm>
              <a:off x="6960270" y="2756585"/>
              <a:ext cx="945991" cy="0"/>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960269" y="4348900"/>
              <a:ext cx="945991" cy="0"/>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8" name="Graphic 41">
              <a:extLst>
                <a:ext uri="{FF2B5EF4-FFF2-40B4-BE49-F238E27FC236}">
                  <a16:creationId xmlns:a16="http://schemas.microsoft.com/office/drawing/2014/main" id="{1A56C62F-612C-5841-B7E7-B15DA92D0BD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757073" y="3018148"/>
              <a:ext cx="1243914" cy="1208710"/>
            </a:xfrm>
            <a:prstGeom prst="rect">
              <a:avLst/>
            </a:prstGeom>
          </p:spPr>
        </p:pic>
        <p:pic>
          <p:nvPicPr>
            <p:cNvPr id="32" name="Graphic 52">
              <a:extLst>
                <a:ext uri="{FF2B5EF4-FFF2-40B4-BE49-F238E27FC236}">
                  <a16:creationId xmlns:a16="http://schemas.microsoft.com/office/drawing/2014/main" id="{90D5A9DB-EC7C-6342-9486-0A731DEC214E}"/>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56653" y="3721142"/>
              <a:ext cx="1333570" cy="1333570"/>
            </a:xfrm>
            <a:prstGeom prst="rect">
              <a:avLst/>
            </a:prstGeom>
          </p:spPr>
        </p:pic>
        <p:pic>
          <p:nvPicPr>
            <p:cNvPr id="36"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4526" y="3762169"/>
              <a:ext cx="1217856" cy="1217856"/>
            </a:xfrm>
            <a:prstGeom prst="rect">
              <a:avLst/>
            </a:prstGeom>
          </p:spPr>
        </p:pic>
        <p:pic>
          <p:nvPicPr>
            <p:cNvPr id="35" name="Graphic 34">
              <a:extLst>
                <a:ext uri="{FF2B5EF4-FFF2-40B4-BE49-F238E27FC236}">
                  <a16:creationId xmlns:a16="http://schemas.microsoft.com/office/drawing/2014/main" id="{727E9DF2-05BA-A04C-AD80-F0078691E5ED}"/>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95153" y="2091659"/>
              <a:ext cx="1257228" cy="1257228"/>
            </a:xfrm>
            <a:prstGeom prst="rect">
              <a:avLst/>
            </a:prstGeom>
          </p:spPr>
        </p:pic>
        <p:sp>
          <p:nvSpPr>
            <p:cNvPr id="38" name="TextBox 37">
              <a:extLst>
                <a:ext uri="{FF2B5EF4-FFF2-40B4-BE49-F238E27FC236}">
                  <a16:creationId xmlns:a16="http://schemas.microsoft.com/office/drawing/2014/main" id="{CD3A6F5E-A45D-1D47-B0D1-1E71484036D7}"/>
                </a:ext>
              </a:extLst>
            </p:cNvPr>
            <p:cNvSpPr txBox="1"/>
            <p:nvPr/>
          </p:nvSpPr>
          <p:spPr>
            <a:xfrm>
              <a:off x="9053295" y="2327924"/>
              <a:ext cx="1513305" cy="646331"/>
            </a:xfrm>
            <a:prstGeom prst="rect">
              <a:avLst/>
            </a:prstGeom>
            <a:noFill/>
          </p:spPr>
          <p:txBody>
            <a:bodyPr wrap="square" rtlCol="0">
              <a:spAutoFit/>
            </a:bodyPr>
            <a:lstStyle/>
            <a:p>
              <a:pPr algn="ctr"/>
              <a:r>
                <a:rPr lang="en-US"/>
                <a:t> EC2 instances</a:t>
              </a:r>
            </a:p>
          </p:txBody>
        </p:sp>
      </p:grpSp>
      <p:cxnSp>
        <p:nvCxnSpPr>
          <p:cNvPr id="10" name="Elbow Connector 9">
            <a:extLst>
              <a:ext uri="{FF2B5EF4-FFF2-40B4-BE49-F238E27FC236}">
                <a16:creationId xmlns:a16="http://schemas.microsoft.com/office/drawing/2014/main" id="{F2BCFEC6-1280-5905-1797-671BF13754C9}"/>
              </a:ext>
              <a:ext uri="{C183D7F6-B498-43B3-948B-1728B52AA6E4}">
                <adec:decorative xmlns:adec="http://schemas.microsoft.com/office/drawing/2017/decorative" val="1"/>
              </a:ext>
            </a:extLst>
          </p:cNvPr>
          <p:cNvCxnSpPr>
            <a:cxnSpLocks/>
          </p:cNvCxnSpPr>
          <p:nvPr/>
        </p:nvCxnSpPr>
        <p:spPr>
          <a:xfrm flipV="1">
            <a:off x="3069802" y="2984754"/>
            <a:ext cx="1726339" cy="540857"/>
          </a:xfrm>
          <a:prstGeom prst="bentConnector3">
            <a:avLst>
              <a:gd name="adj1" fmla="val 2419"/>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01BFAF9B-98DB-9908-75A1-439DEAFE0CEF}"/>
              </a:ext>
              <a:ext uri="{C183D7F6-B498-43B3-948B-1728B52AA6E4}">
                <adec:decorative xmlns:adec="http://schemas.microsoft.com/office/drawing/2017/decorative" val="1"/>
              </a:ext>
            </a:extLst>
          </p:cNvPr>
          <p:cNvCxnSpPr>
            <a:cxnSpLocks/>
          </p:cNvCxnSpPr>
          <p:nvPr/>
        </p:nvCxnSpPr>
        <p:spPr>
          <a:xfrm rot="16200000" flipH="1">
            <a:off x="3563253" y="3057535"/>
            <a:ext cx="774048" cy="1691729"/>
          </a:xfrm>
          <a:prstGeom prst="bentConnector2">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28534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4EC346B-4FEE-E047-B1E7-AB562145C95E}"/>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33</a:t>
            </a:fld>
            <a:endParaRPr lang="en-US"/>
          </a:p>
        </p:txBody>
      </p:sp>
      <p:sp>
        <p:nvSpPr>
          <p:cNvPr id="2" name="Title 1"/>
          <p:cNvSpPr>
            <a:spLocks noGrp="1"/>
          </p:cNvSpPr>
          <p:nvPr>
            <p:ph type="title"/>
          </p:nvPr>
        </p:nvSpPr>
        <p:spPr/>
        <p:txBody>
          <a:bodyPr>
            <a:normAutofit fontScale="90000"/>
          </a:bodyPr>
          <a:lstStyle/>
          <a:p>
            <a:r>
              <a:rPr lang="en-US"/>
              <a:t>IAM: Authorization</a:t>
            </a:r>
          </a:p>
        </p:txBody>
      </p:sp>
      <p:sp>
        <p:nvSpPr>
          <p:cNvPr id="3" name="Content Placeholder 2"/>
          <p:cNvSpPr>
            <a:spLocks noGrp="1"/>
          </p:cNvSpPr>
          <p:nvPr>
            <p:ph sz="quarter" idx="21"/>
          </p:nvPr>
        </p:nvSpPr>
        <p:spPr/>
        <p:txBody>
          <a:bodyPr>
            <a:normAutofit/>
          </a:bodyPr>
          <a:lstStyle/>
          <a:p>
            <a:pPr marL="228600" lvl="1">
              <a:lnSpc>
                <a:spcPct val="120000"/>
              </a:lnSpc>
              <a:spcBef>
                <a:spcPts val="1800"/>
              </a:spcBef>
              <a:spcAft>
                <a:spcPts val="800"/>
              </a:spcAft>
            </a:pPr>
            <a:r>
              <a:rPr lang="en-US" dirty="0"/>
              <a:t>Assign permissions by creating an IAM policy.</a:t>
            </a:r>
          </a:p>
          <a:p>
            <a:pPr marL="228600" lvl="1">
              <a:lnSpc>
                <a:spcPct val="100000"/>
              </a:lnSpc>
              <a:spcBef>
                <a:spcPts val="1800"/>
              </a:spcBef>
              <a:spcAft>
                <a:spcPts val="800"/>
              </a:spcAft>
            </a:pPr>
            <a:r>
              <a:rPr lang="en-US" dirty="0"/>
              <a:t>Permissions determine </a:t>
            </a:r>
            <a:r>
              <a:rPr lang="en-US"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which resources and operations </a:t>
            </a:r>
            <a:r>
              <a:rPr lang="en-US" dirty="0"/>
              <a:t>are allowed:</a:t>
            </a:r>
          </a:p>
          <a:p>
            <a:pPr marL="688975" lvl="1" indent="-282575">
              <a:lnSpc>
                <a:spcPct val="120000"/>
              </a:lnSpc>
              <a:spcBef>
                <a:spcPts val="600"/>
              </a:spcBef>
            </a:pPr>
            <a:r>
              <a:rPr lang="en-US" sz="2000" dirty="0"/>
              <a:t>All permissions are implicitly denied by default.</a:t>
            </a:r>
          </a:p>
          <a:p>
            <a:pPr marL="688975" lvl="1" indent="-282575">
              <a:lnSpc>
                <a:spcPct val="120000"/>
              </a:lnSpc>
              <a:spcBef>
                <a:spcPts val="600"/>
              </a:spcBef>
              <a:spcAft>
                <a:spcPts val="1800"/>
              </a:spcAft>
            </a:pPr>
            <a:r>
              <a:rPr lang="en-US" sz="2000" dirty="0"/>
              <a:t>If something is explicitly denied, it is never allowed.</a:t>
            </a:r>
          </a:p>
          <a:p>
            <a:pPr marL="0" indent="0">
              <a:lnSpc>
                <a:spcPct val="120000"/>
              </a:lnSpc>
              <a:spcBef>
                <a:spcPts val="600"/>
              </a:spcBef>
              <a:spcAft>
                <a:spcPts val="600"/>
              </a:spcAft>
              <a:buNone/>
            </a:pPr>
            <a:r>
              <a:rPr lang="en-US" sz="24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Best practice</a:t>
            </a:r>
            <a:r>
              <a:rPr lang="en-US" sz="2400" b="1" dirty="0">
                <a:solidFill>
                  <a:schemeClr val="accent5"/>
                </a:solidFill>
              </a:rPr>
              <a:t>: </a:t>
            </a:r>
            <a:r>
              <a:rPr lang="en-US" sz="2400" dirty="0"/>
              <a:t>Follow the </a:t>
            </a:r>
            <a:r>
              <a:rPr lang="en-US" sz="2400" b="1" dirty="0">
                <a:solidFill>
                  <a:schemeClr val="accent6"/>
                </a:solidFill>
              </a:rPr>
              <a:t>principle of least privilege</a:t>
            </a:r>
            <a:r>
              <a:rPr lang="en-US" sz="2400" dirty="0"/>
              <a:t>.</a:t>
            </a:r>
          </a:p>
          <a:p>
            <a:pPr marL="0" indent="0">
              <a:lnSpc>
                <a:spcPct val="120000"/>
              </a:lnSpc>
              <a:spcBef>
                <a:spcPts val="600"/>
              </a:spcBef>
              <a:spcAft>
                <a:spcPts val="600"/>
              </a:spcAft>
              <a:buNone/>
            </a:pPr>
            <a:endParaRPr lang="en-US" sz="2400" b="1" i="1"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20000"/>
              </a:lnSpc>
              <a:spcBef>
                <a:spcPts val="600"/>
              </a:spcBef>
              <a:buNone/>
            </a:pPr>
            <a:r>
              <a:rPr lang="en-US" sz="1800" dirty="0">
                <a:latin typeface="Amazon Ember" panose="020B0603020204020204" pitchFamily="34" charset="0"/>
                <a:ea typeface="Amazon Ember" panose="020B0603020204020204" pitchFamily="34" charset="0"/>
                <a:cs typeface="Amazon Ember" panose="020B0603020204020204" pitchFamily="34" charset="0"/>
              </a:rPr>
              <a:t>Note</a:t>
            </a:r>
            <a:r>
              <a:rPr lang="en-US" sz="1800" dirty="0"/>
              <a:t>: The scope of IAM service configurations is </a:t>
            </a:r>
            <a:r>
              <a:rPr lang="en-US" sz="18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global</a:t>
            </a:r>
            <a:r>
              <a:rPr lang="en-US" sz="1800" dirty="0"/>
              <a:t>. Settings apply across all AWS Regions.</a:t>
            </a:r>
          </a:p>
        </p:txBody>
      </p:sp>
      <p:pic>
        <p:nvPicPr>
          <p:cNvPr id="14" name="Graphic 13">
            <a:extLst>
              <a:ext uri="{FF2B5EF4-FFF2-40B4-BE49-F238E27FC236}">
                <a16:creationId xmlns:a16="http://schemas.microsoft.com/office/drawing/2014/main" id="{C56E6CE6-885F-914B-BF4F-B10E19624CE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2214" y="2718287"/>
            <a:ext cx="1421425" cy="1421425"/>
          </a:xfrm>
          <a:prstGeom prst="rect">
            <a:avLst/>
          </a:prstGeom>
        </p:spPr>
      </p:pic>
      <p:sp>
        <p:nvSpPr>
          <p:cNvPr id="15" name="TextBox 14">
            <a:extLst>
              <a:ext uri="{FF2B5EF4-FFF2-40B4-BE49-F238E27FC236}">
                <a16:creationId xmlns:a16="http://schemas.microsoft.com/office/drawing/2014/main" id="{EA7829EF-D919-B445-AFD3-F33A35B9D8E8}"/>
              </a:ext>
            </a:extLst>
          </p:cNvPr>
          <p:cNvSpPr txBox="1"/>
          <p:nvPr/>
        </p:nvSpPr>
        <p:spPr>
          <a:xfrm>
            <a:off x="10067413" y="4139712"/>
            <a:ext cx="1571025" cy="584775"/>
          </a:xfrm>
          <a:prstGeom prst="rect">
            <a:avLst/>
          </a:prstGeom>
          <a:noFill/>
        </p:spPr>
        <p:txBody>
          <a:bodyPr wrap="square" rtlCol="0">
            <a:spAutoFit/>
          </a:bodyPr>
          <a:lstStyle/>
          <a:p>
            <a:pPr algn="ctr"/>
            <a:r>
              <a:rPr lang="en-US" sz="1600" b="1"/>
              <a:t>IAM permissions</a:t>
            </a:r>
          </a:p>
        </p:txBody>
      </p:sp>
      <p:sp>
        <p:nvSpPr>
          <p:cNvPr id="4" name="Rectangle 3">
            <a:extLst>
              <a:ext uri="{FF2B5EF4-FFF2-40B4-BE49-F238E27FC236}">
                <a16:creationId xmlns:a16="http://schemas.microsoft.com/office/drawing/2014/main" id="{8A29A3FA-F739-974F-0151-3CA64D299CB5}"/>
              </a:ext>
            </a:extLst>
          </p:cNvPr>
          <p:cNvSpPr/>
          <p:nvPr/>
        </p:nvSpPr>
        <p:spPr>
          <a:xfrm>
            <a:off x="238350" y="3225339"/>
            <a:ext cx="7464829" cy="897748"/>
          </a:xfrm>
          <a:prstGeom prst="rect">
            <a:avLst/>
          </a:prstGeom>
          <a:noFill/>
          <a:ln w="76200">
            <a:solidFill>
              <a:schemeClr val="accent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2835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B4EBF-A59E-4816-9B7C-C332BA34812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5E85B2-0F00-48CD-019F-7D8EE7FF1DC8}"/>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34</a:t>
            </a:fld>
            <a:endParaRPr lang="en-US"/>
          </a:p>
        </p:txBody>
      </p:sp>
      <p:sp>
        <p:nvSpPr>
          <p:cNvPr id="2" name="Title 1">
            <a:extLst>
              <a:ext uri="{FF2B5EF4-FFF2-40B4-BE49-F238E27FC236}">
                <a16:creationId xmlns:a16="http://schemas.microsoft.com/office/drawing/2014/main" id="{E642D142-FF46-EF6F-3121-D4B98B189CAD}"/>
              </a:ext>
            </a:extLst>
          </p:cNvPr>
          <p:cNvSpPr>
            <a:spLocks noGrp="1"/>
          </p:cNvSpPr>
          <p:nvPr>
            <p:ph type="title"/>
          </p:nvPr>
        </p:nvSpPr>
        <p:spPr/>
        <p:txBody>
          <a:bodyPr>
            <a:normAutofit fontScale="90000"/>
          </a:bodyPr>
          <a:lstStyle/>
          <a:p>
            <a:r>
              <a:rPr lang="en-US"/>
              <a:t>IAM: Authorization</a:t>
            </a:r>
          </a:p>
        </p:txBody>
      </p:sp>
      <p:sp>
        <p:nvSpPr>
          <p:cNvPr id="3" name="Content Placeholder 2">
            <a:extLst>
              <a:ext uri="{FF2B5EF4-FFF2-40B4-BE49-F238E27FC236}">
                <a16:creationId xmlns:a16="http://schemas.microsoft.com/office/drawing/2014/main" id="{DE21689B-9FC1-BEDA-D118-C116B4359181}"/>
              </a:ext>
            </a:extLst>
          </p:cNvPr>
          <p:cNvSpPr>
            <a:spLocks noGrp="1"/>
          </p:cNvSpPr>
          <p:nvPr>
            <p:ph sz="quarter" idx="21"/>
          </p:nvPr>
        </p:nvSpPr>
        <p:spPr/>
        <p:txBody>
          <a:bodyPr>
            <a:normAutofit/>
          </a:bodyPr>
          <a:lstStyle/>
          <a:p>
            <a:pPr marL="228600" lvl="1">
              <a:lnSpc>
                <a:spcPct val="120000"/>
              </a:lnSpc>
              <a:spcBef>
                <a:spcPts val="1800"/>
              </a:spcBef>
              <a:spcAft>
                <a:spcPts val="800"/>
              </a:spcAft>
            </a:pPr>
            <a:r>
              <a:rPr lang="en-US" dirty="0"/>
              <a:t>Assign permissions by creating an IAM policy.</a:t>
            </a:r>
          </a:p>
          <a:p>
            <a:pPr marL="228600" lvl="1">
              <a:lnSpc>
                <a:spcPct val="100000"/>
              </a:lnSpc>
              <a:spcBef>
                <a:spcPts val="1800"/>
              </a:spcBef>
              <a:spcAft>
                <a:spcPts val="800"/>
              </a:spcAft>
            </a:pPr>
            <a:r>
              <a:rPr lang="en-US" dirty="0"/>
              <a:t>Permissions determine </a:t>
            </a:r>
            <a:r>
              <a:rPr lang="en-US"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which resources and operations </a:t>
            </a:r>
            <a:r>
              <a:rPr lang="en-US" dirty="0"/>
              <a:t>are allowed:</a:t>
            </a:r>
          </a:p>
          <a:p>
            <a:pPr marL="688975" lvl="1" indent="-282575">
              <a:lnSpc>
                <a:spcPct val="120000"/>
              </a:lnSpc>
              <a:spcBef>
                <a:spcPts val="600"/>
              </a:spcBef>
            </a:pPr>
            <a:r>
              <a:rPr lang="en-US" sz="2000" dirty="0"/>
              <a:t>All permissions are implicitly denied by default.</a:t>
            </a:r>
          </a:p>
          <a:p>
            <a:pPr marL="688975" lvl="1" indent="-282575">
              <a:lnSpc>
                <a:spcPct val="120000"/>
              </a:lnSpc>
              <a:spcBef>
                <a:spcPts val="600"/>
              </a:spcBef>
              <a:spcAft>
                <a:spcPts val="1800"/>
              </a:spcAft>
            </a:pPr>
            <a:r>
              <a:rPr lang="en-US" sz="2000" dirty="0"/>
              <a:t>If something is explicitly denied, it is never allowed.</a:t>
            </a:r>
          </a:p>
          <a:p>
            <a:pPr marL="0" indent="0">
              <a:lnSpc>
                <a:spcPct val="120000"/>
              </a:lnSpc>
              <a:spcBef>
                <a:spcPts val="600"/>
              </a:spcBef>
              <a:spcAft>
                <a:spcPts val="600"/>
              </a:spcAft>
              <a:buNone/>
            </a:pPr>
            <a:r>
              <a:rPr lang="en-US" sz="24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Best practice</a:t>
            </a:r>
            <a:r>
              <a:rPr lang="en-US" sz="2400" b="1" dirty="0">
                <a:solidFill>
                  <a:schemeClr val="accent5"/>
                </a:solidFill>
              </a:rPr>
              <a:t>: </a:t>
            </a:r>
            <a:r>
              <a:rPr lang="en-US" sz="2400" dirty="0"/>
              <a:t>Follow the </a:t>
            </a:r>
            <a:r>
              <a:rPr lang="en-US" sz="2400" b="1" dirty="0">
                <a:solidFill>
                  <a:schemeClr val="accent6"/>
                </a:solidFill>
              </a:rPr>
              <a:t>principle of least privilege</a:t>
            </a:r>
            <a:r>
              <a:rPr lang="en-US" sz="2400" dirty="0"/>
              <a:t>.</a:t>
            </a:r>
          </a:p>
          <a:p>
            <a:pPr marL="0" indent="0">
              <a:lnSpc>
                <a:spcPct val="120000"/>
              </a:lnSpc>
              <a:spcBef>
                <a:spcPts val="600"/>
              </a:spcBef>
              <a:spcAft>
                <a:spcPts val="600"/>
              </a:spcAft>
              <a:buNone/>
            </a:pPr>
            <a:endParaRPr lang="en-US" sz="2400" b="1" i="1"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20000"/>
              </a:lnSpc>
              <a:spcBef>
                <a:spcPts val="600"/>
              </a:spcBef>
              <a:buNone/>
            </a:pPr>
            <a:r>
              <a:rPr lang="en-US" sz="1800" dirty="0">
                <a:latin typeface="Amazon Ember" panose="020B0603020204020204" pitchFamily="34" charset="0"/>
                <a:ea typeface="Amazon Ember" panose="020B0603020204020204" pitchFamily="34" charset="0"/>
                <a:cs typeface="Amazon Ember" panose="020B0603020204020204" pitchFamily="34" charset="0"/>
              </a:rPr>
              <a:t>Note</a:t>
            </a:r>
            <a:r>
              <a:rPr lang="en-US" sz="1800" dirty="0"/>
              <a:t>: The scope of IAM service configurations is </a:t>
            </a:r>
            <a:r>
              <a:rPr lang="en-US" sz="18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global</a:t>
            </a:r>
            <a:r>
              <a:rPr lang="en-US" sz="1800" dirty="0"/>
              <a:t>. Settings apply across all AWS Regions.</a:t>
            </a:r>
          </a:p>
        </p:txBody>
      </p:sp>
      <p:pic>
        <p:nvPicPr>
          <p:cNvPr id="14" name="Graphic 13">
            <a:extLst>
              <a:ext uri="{FF2B5EF4-FFF2-40B4-BE49-F238E27FC236}">
                <a16:creationId xmlns:a16="http://schemas.microsoft.com/office/drawing/2014/main" id="{B0A6C211-7EE1-59C0-F0B0-1598649501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2214" y="2718287"/>
            <a:ext cx="1421425" cy="1421425"/>
          </a:xfrm>
          <a:prstGeom prst="rect">
            <a:avLst/>
          </a:prstGeom>
        </p:spPr>
      </p:pic>
      <p:sp>
        <p:nvSpPr>
          <p:cNvPr id="15" name="TextBox 14">
            <a:extLst>
              <a:ext uri="{FF2B5EF4-FFF2-40B4-BE49-F238E27FC236}">
                <a16:creationId xmlns:a16="http://schemas.microsoft.com/office/drawing/2014/main" id="{0D4475F0-75BF-C633-5E68-5EDFE13B5854}"/>
              </a:ext>
            </a:extLst>
          </p:cNvPr>
          <p:cNvSpPr txBox="1"/>
          <p:nvPr/>
        </p:nvSpPr>
        <p:spPr>
          <a:xfrm>
            <a:off x="10067413" y="4139712"/>
            <a:ext cx="1571025" cy="584775"/>
          </a:xfrm>
          <a:prstGeom prst="rect">
            <a:avLst/>
          </a:prstGeom>
          <a:noFill/>
        </p:spPr>
        <p:txBody>
          <a:bodyPr wrap="square" rtlCol="0">
            <a:spAutoFit/>
          </a:bodyPr>
          <a:lstStyle/>
          <a:p>
            <a:pPr algn="ctr"/>
            <a:r>
              <a:rPr lang="en-US" sz="1600" b="1"/>
              <a:t>IAM permissions</a:t>
            </a:r>
          </a:p>
        </p:txBody>
      </p:sp>
      <p:sp>
        <p:nvSpPr>
          <p:cNvPr id="4" name="Rectangle 3">
            <a:extLst>
              <a:ext uri="{FF2B5EF4-FFF2-40B4-BE49-F238E27FC236}">
                <a16:creationId xmlns:a16="http://schemas.microsoft.com/office/drawing/2014/main" id="{4C447A65-EC05-6B04-0A97-6D6B8AD7EA30}"/>
              </a:ext>
            </a:extLst>
          </p:cNvPr>
          <p:cNvSpPr/>
          <p:nvPr/>
        </p:nvSpPr>
        <p:spPr>
          <a:xfrm>
            <a:off x="238350" y="3225339"/>
            <a:ext cx="7464829" cy="897748"/>
          </a:xfrm>
          <a:prstGeom prst="rect">
            <a:avLst/>
          </a:prstGeom>
          <a:noFill/>
          <a:ln w="76200">
            <a:solidFill>
              <a:schemeClr val="accent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1967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F23FD-CF5B-4884-85D5-724262677A5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ECB23AF-945D-6DC0-E86F-3A9D83DABD5E}"/>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35</a:t>
            </a:fld>
            <a:endParaRPr lang="en-US"/>
          </a:p>
        </p:txBody>
      </p:sp>
      <p:sp>
        <p:nvSpPr>
          <p:cNvPr id="2" name="Title 1">
            <a:extLst>
              <a:ext uri="{FF2B5EF4-FFF2-40B4-BE49-F238E27FC236}">
                <a16:creationId xmlns:a16="http://schemas.microsoft.com/office/drawing/2014/main" id="{75E33C19-25EB-6D14-6F02-534F1A8378E0}"/>
              </a:ext>
            </a:extLst>
          </p:cNvPr>
          <p:cNvSpPr>
            <a:spLocks noGrp="1"/>
          </p:cNvSpPr>
          <p:nvPr>
            <p:ph type="title"/>
          </p:nvPr>
        </p:nvSpPr>
        <p:spPr/>
        <p:txBody>
          <a:bodyPr>
            <a:normAutofit fontScale="90000"/>
          </a:bodyPr>
          <a:lstStyle/>
          <a:p>
            <a:r>
              <a:rPr lang="en-US"/>
              <a:t>IAM: Authorization</a:t>
            </a:r>
          </a:p>
        </p:txBody>
      </p:sp>
      <p:sp>
        <p:nvSpPr>
          <p:cNvPr id="3" name="Content Placeholder 2">
            <a:extLst>
              <a:ext uri="{FF2B5EF4-FFF2-40B4-BE49-F238E27FC236}">
                <a16:creationId xmlns:a16="http://schemas.microsoft.com/office/drawing/2014/main" id="{739391E4-ECC9-8EB6-D856-2795713F1911}"/>
              </a:ext>
            </a:extLst>
          </p:cNvPr>
          <p:cNvSpPr>
            <a:spLocks noGrp="1"/>
          </p:cNvSpPr>
          <p:nvPr>
            <p:ph sz="quarter" idx="21"/>
          </p:nvPr>
        </p:nvSpPr>
        <p:spPr/>
        <p:txBody>
          <a:bodyPr>
            <a:normAutofit/>
          </a:bodyPr>
          <a:lstStyle/>
          <a:p>
            <a:pPr marL="228600" lvl="1">
              <a:lnSpc>
                <a:spcPct val="120000"/>
              </a:lnSpc>
              <a:spcBef>
                <a:spcPts val="1800"/>
              </a:spcBef>
              <a:spcAft>
                <a:spcPts val="800"/>
              </a:spcAft>
            </a:pPr>
            <a:r>
              <a:rPr lang="en-US" dirty="0"/>
              <a:t>Assign permissions by creating an IAM policy.</a:t>
            </a:r>
          </a:p>
          <a:p>
            <a:pPr marL="228600" lvl="1">
              <a:lnSpc>
                <a:spcPct val="100000"/>
              </a:lnSpc>
              <a:spcBef>
                <a:spcPts val="1800"/>
              </a:spcBef>
              <a:spcAft>
                <a:spcPts val="800"/>
              </a:spcAft>
            </a:pPr>
            <a:r>
              <a:rPr lang="en-US" dirty="0"/>
              <a:t>Permissions determine </a:t>
            </a:r>
            <a:r>
              <a:rPr lang="en-US"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which resources and operations </a:t>
            </a:r>
            <a:r>
              <a:rPr lang="en-US" dirty="0"/>
              <a:t>are allowed:</a:t>
            </a:r>
          </a:p>
          <a:p>
            <a:pPr marL="688975" lvl="1" indent="-282575">
              <a:lnSpc>
                <a:spcPct val="120000"/>
              </a:lnSpc>
              <a:spcBef>
                <a:spcPts val="600"/>
              </a:spcBef>
            </a:pPr>
            <a:r>
              <a:rPr lang="en-US" sz="2000" dirty="0"/>
              <a:t>All permissions are implicitly denied by default.</a:t>
            </a:r>
          </a:p>
          <a:p>
            <a:pPr marL="688975" lvl="1" indent="-282575">
              <a:lnSpc>
                <a:spcPct val="120000"/>
              </a:lnSpc>
              <a:spcBef>
                <a:spcPts val="600"/>
              </a:spcBef>
              <a:spcAft>
                <a:spcPts val="1800"/>
              </a:spcAft>
            </a:pPr>
            <a:r>
              <a:rPr lang="en-US" sz="2000" dirty="0"/>
              <a:t>If something is explicitly denied, it is never allowed.</a:t>
            </a:r>
          </a:p>
          <a:p>
            <a:pPr marL="0" indent="0">
              <a:lnSpc>
                <a:spcPct val="120000"/>
              </a:lnSpc>
              <a:spcBef>
                <a:spcPts val="600"/>
              </a:spcBef>
              <a:spcAft>
                <a:spcPts val="600"/>
              </a:spcAft>
              <a:buNone/>
            </a:pPr>
            <a:r>
              <a:rPr lang="en-US" sz="240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Best practice</a:t>
            </a:r>
            <a:r>
              <a:rPr lang="en-US" sz="2400" b="1" dirty="0">
                <a:solidFill>
                  <a:schemeClr val="accent5"/>
                </a:solidFill>
              </a:rPr>
              <a:t>: </a:t>
            </a:r>
            <a:r>
              <a:rPr lang="en-US" sz="2400" dirty="0"/>
              <a:t>Follow the </a:t>
            </a:r>
            <a:r>
              <a:rPr lang="en-US" sz="2400" b="1" dirty="0">
                <a:solidFill>
                  <a:schemeClr val="accent6"/>
                </a:solidFill>
              </a:rPr>
              <a:t>principle of least privilege</a:t>
            </a:r>
            <a:r>
              <a:rPr lang="en-US" sz="2400" dirty="0"/>
              <a:t>.</a:t>
            </a:r>
          </a:p>
          <a:p>
            <a:pPr marL="0" indent="0">
              <a:lnSpc>
                <a:spcPct val="120000"/>
              </a:lnSpc>
              <a:spcBef>
                <a:spcPts val="600"/>
              </a:spcBef>
              <a:spcAft>
                <a:spcPts val="600"/>
              </a:spcAft>
              <a:buNone/>
            </a:pPr>
            <a:endParaRPr lang="en-US" sz="2400" b="1" i="1"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20000"/>
              </a:lnSpc>
              <a:spcBef>
                <a:spcPts val="600"/>
              </a:spcBef>
              <a:buNone/>
            </a:pPr>
            <a:r>
              <a:rPr lang="en-US" sz="1800" dirty="0">
                <a:latin typeface="Amazon Ember" panose="020B0603020204020204" pitchFamily="34" charset="0"/>
                <a:ea typeface="Amazon Ember" panose="020B0603020204020204" pitchFamily="34" charset="0"/>
                <a:cs typeface="Amazon Ember" panose="020B0603020204020204" pitchFamily="34" charset="0"/>
              </a:rPr>
              <a:t>Note</a:t>
            </a:r>
            <a:r>
              <a:rPr lang="en-US" sz="1800" dirty="0"/>
              <a:t>: The scope of IAM service configurations is </a:t>
            </a:r>
            <a:r>
              <a:rPr lang="en-US" sz="18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global</a:t>
            </a:r>
            <a:r>
              <a:rPr lang="en-US" sz="1800" dirty="0"/>
              <a:t>. Settings apply across all AWS Regions.</a:t>
            </a:r>
          </a:p>
        </p:txBody>
      </p:sp>
      <p:pic>
        <p:nvPicPr>
          <p:cNvPr id="14" name="Graphic 13">
            <a:extLst>
              <a:ext uri="{FF2B5EF4-FFF2-40B4-BE49-F238E27FC236}">
                <a16:creationId xmlns:a16="http://schemas.microsoft.com/office/drawing/2014/main" id="{9FF31B40-D022-C195-289C-29D423B6B70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2214" y="2718287"/>
            <a:ext cx="1421425" cy="1421425"/>
          </a:xfrm>
          <a:prstGeom prst="rect">
            <a:avLst/>
          </a:prstGeom>
        </p:spPr>
      </p:pic>
      <p:sp>
        <p:nvSpPr>
          <p:cNvPr id="15" name="TextBox 14">
            <a:extLst>
              <a:ext uri="{FF2B5EF4-FFF2-40B4-BE49-F238E27FC236}">
                <a16:creationId xmlns:a16="http://schemas.microsoft.com/office/drawing/2014/main" id="{A437421D-6113-7B6E-6C9B-52F71F4A9A23}"/>
              </a:ext>
            </a:extLst>
          </p:cNvPr>
          <p:cNvSpPr txBox="1"/>
          <p:nvPr/>
        </p:nvSpPr>
        <p:spPr>
          <a:xfrm>
            <a:off x="10067413" y="4139712"/>
            <a:ext cx="1571025" cy="584775"/>
          </a:xfrm>
          <a:prstGeom prst="rect">
            <a:avLst/>
          </a:prstGeom>
          <a:noFill/>
        </p:spPr>
        <p:txBody>
          <a:bodyPr wrap="square" rtlCol="0">
            <a:spAutoFit/>
          </a:bodyPr>
          <a:lstStyle/>
          <a:p>
            <a:pPr algn="ctr"/>
            <a:r>
              <a:rPr lang="en-US" sz="1600" b="1"/>
              <a:t>IAM permissions</a:t>
            </a:r>
          </a:p>
        </p:txBody>
      </p:sp>
      <p:sp>
        <p:nvSpPr>
          <p:cNvPr id="4" name="Rectangle 3">
            <a:extLst>
              <a:ext uri="{FF2B5EF4-FFF2-40B4-BE49-F238E27FC236}">
                <a16:creationId xmlns:a16="http://schemas.microsoft.com/office/drawing/2014/main" id="{E8019B5F-B833-F49A-1CC5-9BC22F30CE8D}"/>
              </a:ext>
            </a:extLst>
          </p:cNvPr>
          <p:cNvSpPr/>
          <p:nvPr/>
        </p:nvSpPr>
        <p:spPr>
          <a:xfrm>
            <a:off x="238350" y="3225339"/>
            <a:ext cx="7464829" cy="897748"/>
          </a:xfrm>
          <a:prstGeom prst="rect">
            <a:avLst/>
          </a:prstGeom>
          <a:noFill/>
          <a:ln w="76200">
            <a:solidFill>
              <a:schemeClr val="accent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8432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repeatCount="4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E60C15-1E57-FE4B-BEFF-8F92598592F3}"/>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36</a:t>
            </a:fld>
            <a:endParaRPr lang="en-US"/>
          </a:p>
        </p:txBody>
      </p:sp>
      <p:sp>
        <p:nvSpPr>
          <p:cNvPr id="2" name="Title 1">
            <a:extLst>
              <a:ext uri="{FF2B5EF4-FFF2-40B4-BE49-F238E27FC236}">
                <a16:creationId xmlns:a16="http://schemas.microsoft.com/office/drawing/2014/main" id="{C287D3DC-11E4-8A4C-9787-78F841E05C08}"/>
              </a:ext>
            </a:extLst>
          </p:cNvPr>
          <p:cNvSpPr>
            <a:spLocks noGrp="1"/>
          </p:cNvSpPr>
          <p:nvPr>
            <p:ph type="title"/>
          </p:nvPr>
        </p:nvSpPr>
        <p:spPr/>
        <p:txBody>
          <a:bodyPr>
            <a:normAutofit fontScale="90000"/>
          </a:bodyPr>
          <a:lstStyle/>
          <a:p>
            <a:r>
              <a:rPr lang="en-US"/>
              <a:t>IAM policies</a:t>
            </a:r>
          </a:p>
        </p:txBody>
      </p:sp>
      <p:sp>
        <p:nvSpPr>
          <p:cNvPr id="3" name="Content Placeholder 2">
            <a:extLst>
              <a:ext uri="{FF2B5EF4-FFF2-40B4-BE49-F238E27FC236}">
                <a16:creationId xmlns:a16="http://schemas.microsoft.com/office/drawing/2014/main" id="{DC6658A1-6B6E-6348-9FDB-35D4B37618A1}"/>
              </a:ext>
            </a:extLst>
          </p:cNvPr>
          <p:cNvSpPr>
            <a:spLocks noGrp="1"/>
          </p:cNvSpPr>
          <p:nvPr>
            <p:ph sz="quarter" idx="21"/>
          </p:nvPr>
        </p:nvSpPr>
        <p:spPr/>
        <p:txBody>
          <a:bodyPr>
            <a:normAutofit/>
          </a:bodyPr>
          <a:lstStyle/>
          <a:p>
            <a:r>
              <a:rPr lang="en-US" sz="2400" b="1">
                <a:solidFill>
                  <a:schemeClr val="accent6"/>
                </a:solidFill>
              </a:rPr>
              <a:t>An</a:t>
            </a:r>
            <a:r>
              <a:rPr lang="en-US" sz="2400">
                <a:solidFill>
                  <a:schemeClr val="accent6"/>
                </a:solidFill>
              </a:rPr>
              <a:t> </a:t>
            </a:r>
            <a:r>
              <a:rPr lang="en-US" sz="2400" b="1">
                <a:solidFill>
                  <a:schemeClr val="accent6"/>
                </a:solidFill>
              </a:rPr>
              <a:t>IAM policy is a document that defines permissions</a:t>
            </a:r>
          </a:p>
          <a:p>
            <a:pPr lvl="1"/>
            <a:r>
              <a:rPr lang="en-US" sz="2000"/>
              <a:t>Enables fine-grained access control</a:t>
            </a:r>
          </a:p>
          <a:p>
            <a:r>
              <a:rPr lang="en-US" sz="2400"/>
              <a:t>Two types of policies – </a:t>
            </a:r>
            <a:r>
              <a:rPr lang="en-US" sz="2400" i="1"/>
              <a:t>identity-based</a:t>
            </a:r>
            <a:r>
              <a:rPr lang="en-US" sz="2400"/>
              <a:t> and </a:t>
            </a:r>
            <a:r>
              <a:rPr lang="en-US" sz="2400" i="1"/>
              <a:t>resource-based</a:t>
            </a:r>
            <a:endParaRPr lang="en-US" sz="2400"/>
          </a:p>
          <a:p>
            <a:r>
              <a:rPr lang="en-US" sz="2400" b="1">
                <a:solidFill>
                  <a:schemeClr val="accent6"/>
                </a:solidFill>
              </a:rPr>
              <a:t>Identity-based</a:t>
            </a:r>
            <a:r>
              <a:rPr lang="en-US" sz="2400" b="1">
                <a:solidFill>
                  <a:schemeClr val="accent5"/>
                </a:solidFill>
              </a:rPr>
              <a:t> </a:t>
            </a:r>
            <a:r>
              <a:rPr lang="en-US" sz="2400"/>
              <a:t>policies – </a:t>
            </a:r>
          </a:p>
          <a:p>
            <a:pPr lvl="1"/>
            <a:r>
              <a:rPr lang="en-US" sz="2000"/>
              <a:t>Attach a policy to any IAM entity</a:t>
            </a:r>
          </a:p>
          <a:p>
            <a:pPr lvl="2"/>
            <a:r>
              <a:rPr lang="en-US" sz="1600"/>
              <a:t>An </a:t>
            </a:r>
            <a:r>
              <a:rPr lang="en-US" sz="1600">
                <a:solidFill>
                  <a:schemeClr val="accent5"/>
                </a:solidFill>
              </a:rPr>
              <a:t>IAM user, an IAM group, or an IAM role</a:t>
            </a:r>
          </a:p>
          <a:p>
            <a:pPr lvl="1"/>
            <a:r>
              <a:rPr lang="en-US" sz="2000"/>
              <a:t>Policies specify:</a:t>
            </a:r>
          </a:p>
          <a:p>
            <a:pPr lvl="2"/>
            <a:r>
              <a:rPr lang="en-US" sz="1600"/>
              <a:t>Actions that </a:t>
            </a:r>
            <a:r>
              <a:rPr lang="en-US" sz="1600" b="1" i="1"/>
              <a:t>may</a:t>
            </a:r>
            <a:r>
              <a:rPr lang="en-US" sz="1600"/>
              <a:t> be performed by the entity</a:t>
            </a:r>
          </a:p>
          <a:p>
            <a:pPr lvl="2"/>
            <a:r>
              <a:rPr lang="en-US" sz="1600"/>
              <a:t>Actions that </a:t>
            </a:r>
            <a:r>
              <a:rPr lang="en-US" sz="1600" b="1" i="1"/>
              <a:t>may not</a:t>
            </a:r>
            <a:r>
              <a:rPr lang="en-US" sz="1600" i="1"/>
              <a:t> </a:t>
            </a:r>
            <a:r>
              <a:rPr lang="en-US" sz="1600"/>
              <a:t>be performed by the entity</a:t>
            </a:r>
          </a:p>
          <a:p>
            <a:pPr lvl="1"/>
            <a:r>
              <a:rPr lang="en-US" sz="2000"/>
              <a:t>A single </a:t>
            </a:r>
            <a:r>
              <a:rPr lang="en-US" sz="2000" i="1"/>
              <a:t>policy</a:t>
            </a:r>
            <a:r>
              <a:rPr lang="en-US" sz="2000"/>
              <a:t> can be attached to multiple </a:t>
            </a:r>
            <a:r>
              <a:rPr lang="en-US" sz="2000" i="1"/>
              <a:t>entities</a:t>
            </a:r>
            <a:endParaRPr lang="en-US" sz="2000"/>
          </a:p>
          <a:p>
            <a:pPr lvl="1"/>
            <a:r>
              <a:rPr lang="en-US" sz="2000"/>
              <a:t>A single </a:t>
            </a:r>
            <a:r>
              <a:rPr lang="en-US" sz="2000" i="1"/>
              <a:t>entity</a:t>
            </a:r>
            <a:r>
              <a:rPr lang="en-US" sz="2000"/>
              <a:t> can have multiple </a:t>
            </a:r>
            <a:r>
              <a:rPr lang="en-US" sz="2000" i="1"/>
              <a:t>policies</a:t>
            </a:r>
            <a:r>
              <a:rPr lang="en-US" sz="2000"/>
              <a:t> attached to it</a:t>
            </a:r>
            <a:endParaRPr lang="en-US" sz="2400"/>
          </a:p>
          <a:p>
            <a:r>
              <a:rPr lang="en-US" sz="2400" b="1">
                <a:solidFill>
                  <a:schemeClr val="accent6"/>
                </a:solidFill>
              </a:rPr>
              <a:t>Resource-based </a:t>
            </a:r>
            <a:r>
              <a:rPr lang="en-US" sz="2400"/>
              <a:t>policies</a:t>
            </a:r>
          </a:p>
          <a:p>
            <a:pPr lvl="1"/>
            <a:r>
              <a:rPr lang="en-US" sz="2000"/>
              <a:t>Attached to a resource (such as an S3 bucket)</a:t>
            </a:r>
          </a:p>
          <a:p>
            <a:pPr marL="0" indent="0">
              <a:buNone/>
            </a:pPr>
            <a:endParaRPr lang="en-US" sz="2000">
              <a:solidFill>
                <a:schemeClr val="accent6"/>
              </a:solidFill>
            </a:endParaRPr>
          </a:p>
        </p:txBody>
      </p:sp>
      <p:grpSp>
        <p:nvGrpSpPr>
          <p:cNvPr id="5" name="Group 4" descr="IAM policy document icon with an arrow labeled &quot;attach to one of&quot; pointing to a grouping that contains the following IAM Entities: IAM User, IAM Group, and IAM Role.">
            <a:extLst>
              <a:ext uri="{FF2B5EF4-FFF2-40B4-BE49-F238E27FC236}">
                <a16:creationId xmlns:a16="http://schemas.microsoft.com/office/drawing/2014/main" id="{CB3F9B4C-B64D-A50A-2E85-EFB3EEC4681F}"/>
              </a:ext>
            </a:extLst>
          </p:cNvPr>
          <p:cNvGrpSpPr/>
          <p:nvPr/>
        </p:nvGrpSpPr>
        <p:grpSpPr>
          <a:xfrm>
            <a:off x="7748570" y="2413877"/>
            <a:ext cx="3703054" cy="3072523"/>
            <a:chOff x="7748570" y="2413877"/>
            <a:chExt cx="3703054" cy="3072523"/>
          </a:xfrm>
        </p:grpSpPr>
        <p:pic>
          <p:nvPicPr>
            <p:cNvPr id="6" name="Graphic 5">
              <a:extLst>
                <a:ext uri="{FF2B5EF4-FFF2-40B4-BE49-F238E27FC236}">
                  <a16:creationId xmlns:a16="http://schemas.microsoft.com/office/drawing/2014/main" id="{B701223D-6ADE-FA49-A2CE-1E91E41FD8C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81578" y="3368965"/>
              <a:ext cx="869659" cy="869659"/>
            </a:xfrm>
            <a:prstGeom prst="rect">
              <a:avLst/>
            </a:prstGeom>
          </p:spPr>
        </p:pic>
        <p:pic>
          <p:nvPicPr>
            <p:cNvPr id="7" name="Graphic 6">
              <a:extLst>
                <a:ext uri="{FF2B5EF4-FFF2-40B4-BE49-F238E27FC236}">
                  <a16:creationId xmlns:a16="http://schemas.microsoft.com/office/drawing/2014/main" id="{E4F19BDC-AE21-AF4D-B934-5FE7475C855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60153" y="4604665"/>
              <a:ext cx="597191" cy="597191"/>
            </a:xfrm>
            <a:prstGeom prst="rect">
              <a:avLst/>
            </a:prstGeom>
          </p:spPr>
        </p:pic>
        <p:sp>
          <p:nvSpPr>
            <p:cNvPr id="8" name="TextBox 7">
              <a:extLst>
                <a:ext uri="{FF2B5EF4-FFF2-40B4-BE49-F238E27FC236}">
                  <a16:creationId xmlns:a16="http://schemas.microsoft.com/office/drawing/2014/main" id="{C81D5F05-89E0-0B4F-96D1-91A227457B83}"/>
                </a:ext>
              </a:extLst>
            </p:cNvPr>
            <p:cNvSpPr txBox="1"/>
            <p:nvPr/>
          </p:nvSpPr>
          <p:spPr>
            <a:xfrm>
              <a:off x="7748570" y="4234927"/>
              <a:ext cx="1097653" cy="338554"/>
            </a:xfrm>
            <a:prstGeom prst="rect">
              <a:avLst/>
            </a:prstGeom>
            <a:noFill/>
          </p:spPr>
          <p:txBody>
            <a:bodyPr wrap="square" rtlCol="0">
              <a:spAutoFit/>
            </a:bodyPr>
            <a:lstStyle/>
            <a:p>
              <a:pPr algn="ctr"/>
              <a:r>
                <a:rPr lang="en-US" sz="1600"/>
                <a:t>IAM policy</a:t>
              </a:r>
            </a:p>
          </p:txBody>
        </p:sp>
        <p:pic>
          <p:nvPicPr>
            <p:cNvPr id="9" name="Graphic 8">
              <a:extLst>
                <a:ext uri="{FF2B5EF4-FFF2-40B4-BE49-F238E27FC236}">
                  <a16:creationId xmlns:a16="http://schemas.microsoft.com/office/drawing/2014/main" id="{EDC8FE6A-A9EC-9945-93B8-2541097AFA0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27181" y="2895455"/>
              <a:ext cx="469900" cy="469900"/>
            </a:xfrm>
            <a:prstGeom prst="rect">
              <a:avLst/>
            </a:prstGeom>
          </p:spPr>
        </p:pic>
        <p:pic>
          <p:nvPicPr>
            <p:cNvPr id="10" name="Graphic 9">
              <a:extLst>
                <a:ext uri="{FF2B5EF4-FFF2-40B4-BE49-F238E27FC236}">
                  <a16:creationId xmlns:a16="http://schemas.microsoft.com/office/drawing/2014/main" id="{7AAB7FF7-3751-DA45-BB96-4CA731F9098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10327181" y="3725014"/>
              <a:ext cx="483586" cy="469900"/>
            </a:xfrm>
            <a:prstGeom prst="rect">
              <a:avLst/>
            </a:prstGeom>
          </p:spPr>
        </p:pic>
        <p:sp>
          <p:nvSpPr>
            <p:cNvPr id="11" name="TextBox 10">
              <a:extLst>
                <a:ext uri="{FF2B5EF4-FFF2-40B4-BE49-F238E27FC236}">
                  <a16:creationId xmlns:a16="http://schemas.microsoft.com/office/drawing/2014/main" id="{DB94A672-50F9-9B4E-B23F-9E56AD14AE43}"/>
                </a:ext>
              </a:extLst>
            </p:cNvPr>
            <p:cNvSpPr txBox="1"/>
            <p:nvPr/>
          </p:nvSpPr>
          <p:spPr>
            <a:xfrm>
              <a:off x="9946174" y="3360348"/>
              <a:ext cx="1255226" cy="338554"/>
            </a:xfrm>
            <a:prstGeom prst="rect">
              <a:avLst/>
            </a:prstGeom>
            <a:noFill/>
          </p:spPr>
          <p:txBody>
            <a:bodyPr wrap="square" rtlCol="0">
              <a:spAutoFit/>
            </a:bodyPr>
            <a:lstStyle/>
            <a:p>
              <a:pPr algn="ctr"/>
              <a:r>
                <a:rPr lang="en-US" sz="1600">
                  <a:solidFill>
                    <a:srgbClr val="232F3E"/>
                  </a:solidFill>
                </a:rPr>
                <a:t>IAM user</a:t>
              </a:r>
            </a:p>
          </p:txBody>
        </p:sp>
        <p:sp>
          <p:nvSpPr>
            <p:cNvPr id="12" name="TextBox 11">
              <a:extLst>
                <a:ext uri="{FF2B5EF4-FFF2-40B4-BE49-F238E27FC236}">
                  <a16:creationId xmlns:a16="http://schemas.microsoft.com/office/drawing/2014/main" id="{140CF7AE-DD0D-4D4F-99AB-2E06E3C9839D}"/>
                </a:ext>
              </a:extLst>
            </p:cNvPr>
            <p:cNvSpPr txBox="1"/>
            <p:nvPr/>
          </p:nvSpPr>
          <p:spPr>
            <a:xfrm>
              <a:off x="9946174" y="4251803"/>
              <a:ext cx="1255226" cy="338554"/>
            </a:xfrm>
            <a:prstGeom prst="rect">
              <a:avLst/>
            </a:prstGeom>
            <a:noFill/>
          </p:spPr>
          <p:txBody>
            <a:bodyPr wrap="square" rtlCol="0">
              <a:spAutoFit/>
            </a:bodyPr>
            <a:lstStyle/>
            <a:p>
              <a:pPr algn="ctr"/>
              <a:r>
                <a:rPr lang="en-US" sz="1600">
                  <a:solidFill>
                    <a:srgbClr val="232F3E"/>
                  </a:solidFill>
                </a:rPr>
                <a:t>IAM group</a:t>
              </a:r>
            </a:p>
          </p:txBody>
        </p:sp>
        <p:sp>
          <p:nvSpPr>
            <p:cNvPr id="13" name="TextBox 12">
              <a:extLst>
                <a:ext uri="{FF2B5EF4-FFF2-40B4-BE49-F238E27FC236}">
                  <a16:creationId xmlns:a16="http://schemas.microsoft.com/office/drawing/2014/main" id="{845FAAEE-C4A0-714C-992F-C591EB4A2DB0}"/>
                </a:ext>
              </a:extLst>
            </p:cNvPr>
            <p:cNvSpPr txBox="1"/>
            <p:nvPr/>
          </p:nvSpPr>
          <p:spPr>
            <a:xfrm>
              <a:off x="9956399" y="5065960"/>
              <a:ext cx="1255226" cy="338554"/>
            </a:xfrm>
            <a:prstGeom prst="rect">
              <a:avLst/>
            </a:prstGeom>
            <a:noFill/>
          </p:spPr>
          <p:txBody>
            <a:bodyPr wrap="square" rtlCol="0">
              <a:spAutoFit/>
            </a:bodyPr>
            <a:lstStyle/>
            <a:p>
              <a:pPr algn="ctr"/>
              <a:r>
                <a:rPr lang="en-US" sz="1600">
                  <a:solidFill>
                    <a:srgbClr val="232F3E"/>
                  </a:solidFill>
                </a:rPr>
                <a:t>IAM role</a:t>
              </a:r>
            </a:p>
          </p:txBody>
        </p:sp>
        <p:cxnSp>
          <p:nvCxnSpPr>
            <p:cNvPr id="15" name="Straight Arrow Connector 14">
              <a:extLst>
                <a:ext uri="{FF2B5EF4-FFF2-40B4-BE49-F238E27FC236}">
                  <a16:creationId xmlns:a16="http://schemas.microsoft.com/office/drawing/2014/main" id="{599E7B5B-82C5-B84A-AF83-DB63280D4CFC}"/>
                </a:ext>
              </a:extLst>
            </p:cNvPr>
            <p:cNvCxnSpPr>
              <a:cxnSpLocks/>
              <a:stCxn id="6" idx="3"/>
            </p:cNvCxnSpPr>
            <p:nvPr/>
          </p:nvCxnSpPr>
          <p:spPr>
            <a:xfrm>
              <a:off x="8751237" y="3803795"/>
              <a:ext cx="935087"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4F684AA-E969-1946-86A3-A057E0067436}"/>
                </a:ext>
              </a:extLst>
            </p:cNvPr>
            <p:cNvSpPr txBox="1"/>
            <p:nvPr/>
          </p:nvSpPr>
          <p:spPr>
            <a:xfrm>
              <a:off x="8661084" y="3224711"/>
              <a:ext cx="1117632" cy="584775"/>
            </a:xfrm>
            <a:prstGeom prst="rect">
              <a:avLst/>
            </a:prstGeom>
            <a:noFill/>
          </p:spPr>
          <p:txBody>
            <a:bodyPr wrap="square" rtlCol="0">
              <a:spAutoFit/>
            </a:bodyPr>
            <a:lstStyle/>
            <a:p>
              <a:pPr algn="ctr"/>
              <a:r>
                <a:rPr lang="en-US" sz="1600"/>
                <a:t>Attach to one of</a:t>
              </a:r>
            </a:p>
          </p:txBody>
        </p:sp>
        <p:sp>
          <p:nvSpPr>
            <p:cNvPr id="32" name="Rectangle 31">
              <a:extLst>
                <a:ext uri="{FF2B5EF4-FFF2-40B4-BE49-F238E27FC236}">
                  <a16:creationId xmlns:a16="http://schemas.microsoft.com/office/drawing/2014/main" id="{866303FF-156F-024E-B09F-1435E22EAC5D}"/>
                </a:ext>
              </a:extLst>
            </p:cNvPr>
            <p:cNvSpPr/>
            <p:nvPr/>
          </p:nvSpPr>
          <p:spPr>
            <a:xfrm>
              <a:off x="9686324" y="2413877"/>
              <a:ext cx="1765300" cy="3072523"/>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b="1">
                  <a:solidFill>
                    <a:schemeClr val="accent6"/>
                  </a:solidFill>
                </a:rPr>
                <a:t>IAM entities</a:t>
              </a:r>
            </a:p>
          </p:txBody>
        </p:sp>
      </p:grpSp>
    </p:spTree>
    <p:custDataLst>
      <p:tags r:id="rId1"/>
    </p:custDataLst>
    <p:extLst>
      <p:ext uri="{BB962C8B-B14F-4D97-AF65-F5344CB8AC3E}">
        <p14:creationId xmlns:p14="http://schemas.microsoft.com/office/powerpoint/2010/main" val="15449991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D4F35A-434F-354C-B8E8-CA008FD1F2F5}"/>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37</a:t>
            </a:fld>
            <a:endParaRPr lang="en-US"/>
          </a:p>
        </p:txBody>
      </p:sp>
      <p:sp>
        <p:nvSpPr>
          <p:cNvPr id="2" name="Title 1"/>
          <p:cNvSpPr>
            <a:spLocks noGrp="1"/>
          </p:cNvSpPr>
          <p:nvPr>
            <p:ph type="title"/>
          </p:nvPr>
        </p:nvSpPr>
        <p:spPr/>
        <p:txBody>
          <a:bodyPr>
            <a:normAutofit fontScale="90000"/>
          </a:bodyPr>
          <a:lstStyle/>
          <a:p>
            <a:r>
              <a:rPr lang="en-US"/>
              <a:t>IAM policy example</a:t>
            </a:r>
          </a:p>
        </p:txBody>
      </p:sp>
      <p:grpSp>
        <p:nvGrpSpPr>
          <p:cNvPr id="3" name="Group 2" descr="Entire slide shows a labeled JSON-formatted IAM policy document. Arrows point to key lines in the policy including the explicit allow statement, the Amazon S3 buckets, the explicit deny statement.">
            <a:extLst>
              <a:ext uri="{FF2B5EF4-FFF2-40B4-BE49-F238E27FC236}">
                <a16:creationId xmlns:a16="http://schemas.microsoft.com/office/drawing/2014/main" id="{A6DE7F46-C155-D97F-ACCA-44F1DFC89B16}"/>
              </a:ext>
            </a:extLst>
          </p:cNvPr>
          <p:cNvGrpSpPr/>
          <p:nvPr/>
        </p:nvGrpSpPr>
        <p:grpSpPr>
          <a:xfrm>
            <a:off x="265284" y="1497794"/>
            <a:ext cx="11253728" cy="4918729"/>
            <a:chOff x="265284" y="1497794"/>
            <a:chExt cx="11253728" cy="4918729"/>
          </a:xfrm>
        </p:grpSpPr>
        <p:sp>
          <p:nvSpPr>
            <p:cNvPr id="5" name="Content Placeholder 2"/>
            <p:cNvSpPr txBox="1">
              <a:spLocks/>
            </p:cNvSpPr>
            <p:nvPr/>
          </p:nvSpPr>
          <p:spPr>
            <a:xfrm>
              <a:off x="265284" y="1497794"/>
              <a:ext cx="10940405" cy="4918729"/>
            </a:xfrm>
            <a:prstGeom prst="rect">
              <a:avLst/>
            </a:prstGeom>
          </p:spPr>
          <p:txBody>
            <a:bodyPr>
              <a:noAutofit/>
            </a:bodyPr>
            <a:lstStyle>
              <a:lvl1pPr marL="342900" indent="-342900" algn="l" defTabSz="457200" rtl="0" eaLnBrk="1" latinLnBrk="0" hangingPunct="1">
                <a:spcBef>
                  <a:spcPct val="20000"/>
                </a:spcBef>
                <a:buFontTx/>
                <a:buBlip>
                  <a:blip r:embed="rId4"/>
                </a:buBlip>
                <a:defRPr sz="2400" b="0" i="0" kern="1200">
                  <a:solidFill>
                    <a:schemeClr val="tx1"/>
                  </a:solidFill>
                  <a:latin typeface="Arial"/>
                  <a:ea typeface="+mn-ea"/>
                  <a:cs typeface="Arial"/>
                </a:defRPr>
              </a:lvl1pPr>
              <a:lvl2pPr marL="742950" indent="-285750" algn="l" defTabSz="457200" rtl="0" eaLnBrk="1" latinLnBrk="0" hangingPunct="1">
                <a:spcBef>
                  <a:spcPct val="20000"/>
                </a:spcBef>
                <a:buClr>
                  <a:schemeClr val="accent1"/>
                </a:buClr>
                <a:buFont typeface="Wingdings" panose="05000000000000000000" pitchFamily="2" charset="2"/>
                <a:buChar char="Ø"/>
                <a:defRPr sz="2000" b="0" i="0" kern="1200">
                  <a:solidFill>
                    <a:schemeClr val="tx1"/>
                  </a:solidFill>
                  <a:latin typeface="Arial"/>
                  <a:ea typeface="+mn-ea"/>
                  <a:cs typeface="Arial"/>
                </a:defRPr>
              </a:lvl2pPr>
              <a:lvl3pPr marL="1143000" indent="-228600" algn="l" defTabSz="457200" rtl="0" eaLnBrk="1" latinLnBrk="0" hangingPunct="1">
                <a:spcBef>
                  <a:spcPct val="20000"/>
                </a:spcBef>
                <a:buClr>
                  <a:schemeClr val="accent1"/>
                </a:buClr>
                <a:buFont typeface="Arial"/>
                <a:buChar char="•"/>
                <a:defRPr sz="1800" b="0" i="0"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0" i="0" kern="1200">
                  <a:solidFill>
                    <a:srgbClr val="595A5D"/>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450">
                  <a:latin typeface="Lucida Console" panose="020B0609040504020204" pitchFamily="49" charset="0"/>
                  <a:cs typeface="Courier New" panose="02070309020205020404" pitchFamily="49" charset="0"/>
                </a:rPr>
                <a:t>{</a:t>
              </a:r>
            </a:p>
            <a:p>
              <a:pPr marL="0" indent="0">
                <a:buNone/>
              </a:pPr>
              <a:r>
                <a:rPr lang="en-US" sz="1450">
                  <a:latin typeface="Lucida Console" panose="020B0609040504020204" pitchFamily="49" charset="0"/>
                  <a:cs typeface="Courier New" panose="02070309020205020404" pitchFamily="49" charset="0"/>
                </a:rPr>
                <a:t>  "Version": "2012-10-17",</a:t>
              </a:r>
            </a:p>
            <a:p>
              <a:pPr marL="0" indent="0">
                <a:buNone/>
              </a:pPr>
              <a:r>
                <a:rPr lang="en-US" sz="1450">
                  <a:latin typeface="Lucida Console" panose="020B0609040504020204" pitchFamily="49" charset="0"/>
                  <a:cs typeface="Courier New" panose="02070309020205020404" pitchFamily="49" charset="0"/>
                </a:rPr>
                <a:t>  "Statement":[{</a:t>
              </a:r>
            </a:p>
            <a:p>
              <a:pPr marL="0" indent="0">
                <a:buNone/>
              </a:pPr>
              <a:r>
                <a:rPr lang="en-US" sz="1450">
                  <a:latin typeface="Lucida Console" panose="020B0609040504020204" pitchFamily="49" charset="0"/>
                  <a:cs typeface="Courier New" panose="02070309020205020404" pitchFamily="49" charset="0"/>
                </a:rPr>
                <a:t>    "</a:t>
              </a:r>
              <a:r>
                <a:rPr lang="en-US" sz="1450" err="1">
                  <a:latin typeface="Lucida Console" panose="020B0609040504020204" pitchFamily="49" charset="0"/>
                  <a:cs typeface="Courier New" panose="02070309020205020404" pitchFamily="49" charset="0"/>
                </a:rPr>
                <a:t>Effect":"</a:t>
              </a:r>
              <a:r>
                <a:rPr lang="en-US" sz="1450" err="1">
                  <a:solidFill>
                    <a:srgbClr val="00B050"/>
                  </a:solidFill>
                  <a:latin typeface="Lucida Console" panose="020B0609040504020204" pitchFamily="49" charset="0"/>
                  <a:cs typeface="Courier New" panose="02070309020205020404" pitchFamily="49" charset="0"/>
                </a:rPr>
                <a:t>Allow</a:t>
              </a:r>
              <a:r>
                <a:rPr lang="en-US" sz="1450">
                  <a:latin typeface="Lucida Console" panose="020B0609040504020204" pitchFamily="49" charset="0"/>
                  <a:cs typeface="Courier New" panose="02070309020205020404" pitchFamily="49" charset="0"/>
                </a:rPr>
                <a:t>",</a:t>
              </a:r>
            </a:p>
            <a:p>
              <a:pPr marL="0" indent="0">
                <a:buNone/>
              </a:pPr>
              <a:r>
                <a:rPr lang="en-US" sz="1450">
                  <a:latin typeface="Lucida Console" panose="020B0609040504020204" pitchFamily="49" charset="0"/>
                  <a:cs typeface="Courier New" panose="02070309020205020404" pitchFamily="49" charset="0"/>
                </a:rPr>
                <a:t>    "Action":["</a:t>
              </a:r>
              <a:r>
                <a:rPr lang="en-US" sz="1450" b="1">
                  <a:solidFill>
                    <a:schemeClr val="accent5"/>
                  </a:solidFill>
                  <a:latin typeface="Lucida Console" panose="020B0609040504020204" pitchFamily="49" charset="0"/>
                  <a:cs typeface="Courier New" panose="02070309020205020404" pitchFamily="49" charset="0"/>
                </a:rPr>
                <a:t>DynamoDB:*</a:t>
              </a:r>
              <a:r>
                <a:rPr lang="en-US" sz="1450">
                  <a:latin typeface="Lucida Console" panose="020B0609040504020204" pitchFamily="49" charset="0"/>
                  <a:cs typeface="Courier New" panose="02070309020205020404" pitchFamily="49" charset="0"/>
                </a:rPr>
                <a:t>","</a:t>
              </a:r>
              <a:r>
                <a:rPr lang="en-US" sz="1450" b="1">
                  <a:solidFill>
                    <a:schemeClr val="accent5"/>
                  </a:solidFill>
                  <a:latin typeface="Lucida Console" panose="020B0609040504020204" pitchFamily="49" charset="0"/>
                  <a:cs typeface="Courier New" panose="02070309020205020404" pitchFamily="49" charset="0"/>
                </a:rPr>
                <a:t>s3:*</a:t>
              </a:r>
              <a:r>
                <a:rPr lang="en-US" sz="1450">
                  <a:latin typeface="Lucida Console" panose="020B0609040504020204" pitchFamily="49" charset="0"/>
                  <a:cs typeface="Courier New" panose="02070309020205020404" pitchFamily="49" charset="0"/>
                </a:rPr>
                <a:t>"],</a:t>
              </a:r>
            </a:p>
            <a:p>
              <a:pPr marL="0" indent="0">
                <a:buNone/>
              </a:pPr>
              <a:r>
                <a:rPr lang="en-US" sz="1450">
                  <a:latin typeface="Lucida Console" panose="020B0609040504020204" pitchFamily="49" charset="0"/>
                  <a:cs typeface="Courier New" panose="02070309020205020404" pitchFamily="49" charset="0"/>
                </a:rPr>
                <a:t>    "Resource":[</a:t>
              </a:r>
              <a:br>
                <a:rPr lang="en-US" sz="1450">
                  <a:latin typeface="Lucida Console" panose="020B0609040504020204" pitchFamily="49" charset="0"/>
                  <a:cs typeface="Courier New" panose="02070309020205020404" pitchFamily="49" charset="0"/>
                </a:rPr>
              </a:br>
              <a:r>
                <a:rPr lang="en-US" sz="1450">
                  <a:latin typeface="Lucida Console" panose="020B0609040504020204" pitchFamily="49" charset="0"/>
                  <a:cs typeface="Courier New" panose="02070309020205020404" pitchFamily="49" charset="0"/>
                </a:rPr>
                <a:t>	  "</a:t>
              </a:r>
              <a:r>
                <a:rPr lang="en-US" sz="1450" err="1">
                  <a:latin typeface="Lucida Console" panose="020B0609040504020204" pitchFamily="49" charset="0"/>
                  <a:cs typeface="Courier New" panose="02070309020205020404" pitchFamily="49" charset="0"/>
                </a:rPr>
                <a:t>arn:aws:</a:t>
              </a:r>
              <a:r>
                <a:rPr lang="en-US" sz="1450" b="1" err="1">
                  <a:solidFill>
                    <a:schemeClr val="accent5"/>
                  </a:solidFill>
                  <a:latin typeface="Lucida Console" panose="020B0609040504020204" pitchFamily="49" charset="0"/>
                  <a:cs typeface="Courier New" panose="02070309020205020404" pitchFamily="49" charset="0"/>
                </a:rPr>
                <a:t>dynamodb</a:t>
              </a:r>
              <a:r>
                <a:rPr lang="en-US" sz="1450" err="1">
                  <a:latin typeface="Lucida Console" panose="020B0609040504020204" pitchFamily="49" charset="0"/>
                  <a:cs typeface="Courier New" panose="02070309020205020404" pitchFamily="49" charset="0"/>
                </a:rPr>
                <a:t>:region:account-number-without-hyphens:table</a:t>
              </a:r>
              <a:r>
                <a:rPr lang="en-US" sz="1450">
                  <a:solidFill>
                    <a:srgbClr val="0000CC"/>
                  </a:solidFill>
                  <a:latin typeface="Lucida Console" panose="020B0609040504020204" pitchFamily="49" charset="0"/>
                  <a:cs typeface="Courier New" panose="02070309020205020404" pitchFamily="49" charset="0"/>
                </a:rPr>
                <a:t>/table-name</a:t>
              </a:r>
              <a:r>
                <a:rPr lang="en-US" sz="1450">
                  <a:latin typeface="Lucida Console" panose="020B0609040504020204" pitchFamily="49" charset="0"/>
                  <a:cs typeface="Courier New" panose="02070309020205020404" pitchFamily="49" charset="0"/>
                </a:rPr>
                <a:t>",</a:t>
              </a:r>
            </a:p>
            <a:p>
              <a:pPr marL="0" indent="0">
                <a:buNone/>
              </a:pPr>
              <a:r>
                <a:rPr lang="en-US" sz="1450">
                  <a:latin typeface="Lucida Console" panose="020B0609040504020204" pitchFamily="49" charset="0"/>
                  <a:cs typeface="Courier New" panose="02070309020205020404" pitchFamily="49" charset="0"/>
                </a:rPr>
                <a:t>      "arn:aws:</a:t>
              </a:r>
              <a:r>
                <a:rPr lang="en-US" sz="1450" b="1">
                  <a:solidFill>
                    <a:schemeClr val="accent5"/>
                  </a:solidFill>
                  <a:latin typeface="Lucida Console" panose="020B0609040504020204" pitchFamily="49" charset="0"/>
                  <a:cs typeface="Courier New" panose="02070309020205020404" pitchFamily="49" charset="0"/>
                </a:rPr>
                <a:t>s3</a:t>
              </a:r>
              <a:r>
                <a:rPr lang="en-US" sz="1450">
                  <a:latin typeface="Lucida Console" panose="020B0609040504020204" pitchFamily="49" charset="0"/>
                  <a:cs typeface="Courier New" panose="02070309020205020404" pitchFamily="49" charset="0"/>
                </a:rPr>
                <a:t>:::</a:t>
              </a:r>
              <a:r>
                <a:rPr lang="en-US" sz="1450">
                  <a:solidFill>
                    <a:srgbClr val="0000CC"/>
                  </a:solidFill>
                  <a:latin typeface="Lucida Console" panose="020B0609040504020204" pitchFamily="49" charset="0"/>
                  <a:cs typeface="Courier New" panose="02070309020205020404" pitchFamily="49" charset="0"/>
                </a:rPr>
                <a:t>bucket-name</a:t>
              </a:r>
              <a:r>
                <a:rPr lang="en-US" sz="1450">
                  <a:latin typeface="Lucida Console" panose="020B0609040504020204" pitchFamily="49" charset="0"/>
                  <a:cs typeface="Courier New" panose="02070309020205020404" pitchFamily="49" charset="0"/>
                </a:rPr>
                <a:t>",</a:t>
              </a:r>
            </a:p>
            <a:p>
              <a:pPr marL="0" indent="0">
                <a:buNone/>
              </a:pPr>
              <a:r>
                <a:rPr lang="en-US" sz="1450">
                  <a:latin typeface="Lucida Console" panose="020B0609040504020204" pitchFamily="49" charset="0"/>
                  <a:cs typeface="Courier New" panose="02070309020205020404" pitchFamily="49" charset="0"/>
                </a:rPr>
                <a:t>      "arn:aws:</a:t>
              </a:r>
              <a:r>
                <a:rPr lang="en-US" sz="1450" b="1">
                  <a:solidFill>
                    <a:schemeClr val="accent5"/>
                  </a:solidFill>
                  <a:latin typeface="Lucida Console" panose="020B0609040504020204" pitchFamily="49" charset="0"/>
                  <a:cs typeface="Courier New" panose="02070309020205020404" pitchFamily="49" charset="0"/>
                </a:rPr>
                <a:t>s3</a:t>
              </a:r>
              <a:r>
                <a:rPr lang="en-US" sz="1450">
                  <a:latin typeface="Lucida Console" panose="020B0609040504020204" pitchFamily="49" charset="0"/>
                  <a:cs typeface="Courier New" panose="02070309020205020404" pitchFamily="49" charset="0"/>
                </a:rPr>
                <a:t>:::</a:t>
              </a:r>
              <a:r>
                <a:rPr lang="en-US" sz="1450">
                  <a:solidFill>
                    <a:srgbClr val="0000CC"/>
                  </a:solidFill>
                  <a:latin typeface="Lucida Console" panose="020B0609040504020204" pitchFamily="49" charset="0"/>
                  <a:cs typeface="Courier New" panose="02070309020205020404" pitchFamily="49" charset="0"/>
                </a:rPr>
                <a:t>bucket-name</a:t>
              </a:r>
              <a:r>
                <a:rPr lang="en-US" sz="1450">
                  <a:latin typeface="Lucida Console" panose="020B0609040504020204" pitchFamily="49" charset="0"/>
                  <a:cs typeface="Courier New" panose="02070309020205020404" pitchFamily="49" charset="0"/>
                </a:rPr>
                <a:t>/*"] </a:t>
              </a:r>
            </a:p>
            <a:p>
              <a:pPr marL="0" indent="0">
                <a:buNone/>
              </a:pPr>
              <a:r>
                <a:rPr lang="en-US" sz="1450">
                  <a:latin typeface="Lucida Console" panose="020B0609040504020204" pitchFamily="49" charset="0"/>
                  <a:cs typeface="Courier New" panose="02070309020205020404" pitchFamily="49" charset="0"/>
                </a:rPr>
                <a:t>    },</a:t>
              </a:r>
            </a:p>
            <a:p>
              <a:pPr marL="0" indent="0">
                <a:buNone/>
              </a:pPr>
              <a:r>
                <a:rPr lang="en-US" sz="1450">
                  <a:latin typeface="Lucida Console" panose="020B0609040504020204" pitchFamily="49" charset="0"/>
                  <a:cs typeface="Courier New" panose="02070309020205020404" pitchFamily="49" charset="0"/>
                </a:rPr>
                <a:t>    {</a:t>
              </a:r>
            </a:p>
            <a:p>
              <a:pPr marL="0" indent="0">
                <a:buNone/>
              </a:pPr>
              <a:r>
                <a:rPr lang="en-US" sz="1450">
                  <a:latin typeface="Lucida Console" panose="020B0609040504020204" pitchFamily="49" charset="0"/>
                  <a:cs typeface="Courier New" panose="02070309020205020404" pitchFamily="49" charset="0"/>
                </a:rPr>
                <a:t>    "</a:t>
              </a:r>
              <a:r>
                <a:rPr lang="en-US" sz="1450" err="1">
                  <a:latin typeface="Lucida Console" panose="020B0609040504020204" pitchFamily="49" charset="0"/>
                  <a:cs typeface="Courier New" panose="02070309020205020404" pitchFamily="49" charset="0"/>
                </a:rPr>
                <a:t>Effect":"</a:t>
              </a:r>
              <a:r>
                <a:rPr lang="en-US" sz="1450" err="1">
                  <a:solidFill>
                    <a:srgbClr val="FF0000"/>
                  </a:solidFill>
                  <a:latin typeface="Lucida Console" panose="020B0609040504020204" pitchFamily="49" charset="0"/>
                  <a:cs typeface="Courier New" panose="02070309020205020404" pitchFamily="49" charset="0"/>
                </a:rPr>
                <a:t>Deny</a:t>
              </a:r>
              <a:r>
                <a:rPr lang="en-US" sz="1450">
                  <a:latin typeface="Lucida Console" panose="020B0609040504020204" pitchFamily="49" charset="0"/>
                  <a:cs typeface="Courier New" panose="02070309020205020404" pitchFamily="49" charset="0"/>
                </a:rPr>
                <a:t>",</a:t>
              </a:r>
            </a:p>
            <a:p>
              <a:pPr marL="0" indent="0">
                <a:buNone/>
              </a:pPr>
              <a:r>
                <a:rPr lang="en-US" sz="1450">
                  <a:latin typeface="Lucida Console" panose="020B0609040504020204" pitchFamily="49" charset="0"/>
                  <a:cs typeface="Courier New" panose="02070309020205020404" pitchFamily="49" charset="0"/>
                </a:rPr>
                <a:t>    "Action":["</a:t>
              </a:r>
              <a:r>
                <a:rPr lang="en-US" sz="1450" err="1">
                  <a:latin typeface="Lucida Console" panose="020B0609040504020204" pitchFamily="49" charset="0"/>
                  <a:cs typeface="Courier New" panose="02070309020205020404" pitchFamily="49" charset="0"/>
                </a:rPr>
                <a:t>dynamodb</a:t>
              </a:r>
              <a:r>
                <a:rPr lang="en-US" sz="1450">
                  <a:latin typeface="Lucida Console" panose="020B0609040504020204" pitchFamily="49" charset="0"/>
                  <a:cs typeface="Courier New" panose="02070309020205020404" pitchFamily="49" charset="0"/>
                </a:rPr>
                <a:t>:*","s3:*"],</a:t>
              </a:r>
            </a:p>
            <a:p>
              <a:pPr marL="0" indent="0">
                <a:buNone/>
              </a:pPr>
              <a:r>
                <a:rPr lang="en-US" sz="1450">
                  <a:latin typeface="Lucida Console" panose="020B0609040504020204" pitchFamily="49" charset="0"/>
                  <a:cs typeface="Courier New" panose="02070309020205020404" pitchFamily="49" charset="0"/>
                </a:rPr>
                <a:t>    "</a:t>
              </a:r>
              <a:r>
                <a:rPr lang="en-US" sz="1450" err="1">
                  <a:solidFill>
                    <a:srgbClr val="FF0000"/>
                  </a:solidFill>
                  <a:latin typeface="Lucida Console" panose="020B0609040504020204" pitchFamily="49" charset="0"/>
                  <a:cs typeface="Courier New" panose="02070309020205020404" pitchFamily="49" charset="0"/>
                </a:rPr>
                <a:t>NotResource</a:t>
              </a:r>
              <a:r>
                <a:rPr lang="en-US" sz="1450">
                  <a:latin typeface="Lucida Console" panose="020B0609040504020204" pitchFamily="49" charset="0"/>
                  <a:cs typeface="Courier New" panose="02070309020205020404" pitchFamily="49" charset="0"/>
                </a:rPr>
                <a:t>":["</a:t>
              </a:r>
              <a:r>
                <a:rPr lang="en-US" sz="1450" err="1">
                  <a:latin typeface="Lucida Console" panose="020B0609040504020204" pitchFamily="49" charset="0"/>
                  <a:cs typeface="Courier New" panose="02070309020205020404" pitchFamily="49" charset="0"/>
                </a:rPr>
                <a:t>arn:aws:dynamodb:region:account-number-without-hyphens:table</a:t>
              </a:r>
              <a:r>
                <a:rPr lang="en-US" sz="1450">
                  <a:latin typeface="Lucida Console" panose="020B0609040504020204" pitchFamily="49" charset="0"/>
                  <a:cs typeface="Courier New" panose="02070309020205020404" pitchFamily="49" charset="0"/>
                </a:rPr>
                <a:t>/table-name”,</a:t>
              </a:r>
            </a:p>
            <a:p>
              <a:pPr marL="0" indent="0">
                <a:buNone/>
              </a:pPr>
              <a:r>
                <a:rPr lang="en-US" sz="1450">
                  <a:latin typeface="Lucida Console" panose="020B0609040504020204" pitchFamily="49" charset="0"/>
                  <a:cs typeface="Courier New" panose="02070309020205020404" pitchFamily="49" charset="0"/>
                </a:rPr>
                <a:t>      "arn:aws:s3:::bucket-name",</a:t>
              </a:r>
            </a:p>
            <a:p>
              <a:pPr marL="0" indent="0">
                <a:buNone/>
              </a:pPr>
              <a:r>
                <a:rPr lang="en-US" sz="1450">
                  <a:latin typeface="Lucida Console" panose="020B0609040504020204" pitchFamily="49" charset="0"/>
                  <a:cs typeface="Courier New" panose="02070309020205020404" pitchFamily="49" charset="0"/>
                </a:rPr>
                <a:t>      "arn:aws:s3:::bucket-name/*"] </a:t>
              </a:r>
            </a:p>
            <a:p>
              <a:pPr marL="0" indent="0">
                <a:buNone/>
              </a:pPr>
              <a:r>
                <a:rPr lang="en-US" sz="1450">
                  <a:latin typeface="Lucida Console" panose="020B0609040504020204" pitchFamily="49" charset="0"/>
                  <a:cs typeface="Courier New" panose="02070309020205020404" pitchFamily="49" charset="0"/>
                </a:rPr>
                <a:t>    }</a:t>
              </a:r>
            </a:p>
            <a:p>
              <a:pPr marL="0" indent="0">
                <a:buNone/>
              </a:pPr>
              <a:r>
                <a:rPr lang="en-US" sz="1450">
                  <a:latin typeface="Lucida Console" panose="020B0609040504020204" pitchFamily="49" charset="0"/>
                  <a:cs typeface="Courier New" panose="02070309020205020404" pitchFamily="49" charset="0"/>
                </a:rPr>
                <a:t>  ]</a:t>
              </a:r>
            </a:p>
            <a:p>
              <a:pPr marL="0" indent="0">
                <a:buNone/>
              </a:pPr>
              <a:r>
                <a:rPr lang="en-US" sz="1450">
                  <a:latin typeface="Lucida Console" panose="020B0609040504020204" pitchFamily="49" charset="0"/>
                  <a:cs typeface="Courier New" panose="02070309020205020404" pitchFamily="49" charset="0"/>
                </a:rPr>
                <a:t>}</a:t>
              </a:r>
            </a:p>
          </p:txBody>
        </p:sp>
        <p:sp>
          <p:nvSpPr>
            <p:cNvPr id="6" name="TextBox 5"/>
            <p:cNvSpPr txBox="1"/>
            <p:nvPr/>
          </p:nvSpPr>
          <p:spPr>
            <a:xfrm>
              <a:off x="5556086" y="1632769"/>
              <a:ext cx="4904199" cy="625684"/>
            </a:xfrm>
            <a:prstGeom prst="rect">
              <a:avLst/>
            </a:prstGeom>
            <a:solidFill>
              <a:schemeClr val="accent3">
                <a:lumMod val="20000"/>
                <a:lumOff val="80000"/>
              </a:schemeClr>
            </a:solidFill>
            <a:ln>
              <a:solidFill>
                <a:schemeClr val="accent1"/>
              </a:solidFill>
            </a:ln>
          </p:spPr>
          <p:txBody>
            <a:bodyPr wrap="square" rtlCol="0">
              <a:spAutoFit/>
            </a:bodyPr>
            <a:lstStyle/>
            <a:p>
              <a:r>
                <a:rPr lang="en-US" sz="1733" b="1">
                  <a:latin typeface="Amazon Ember" panose="020B0603020204020204" pitchFamily="34" charset="0"/>
                  <a:ea typeface="Amazon Ember" panose="020B0603020204020204" pitchFamily="34" charset="0"/>
                  <a:cs typeface="Amazon Ember" panose="020B0603020204020204" pitchFamily="34" charset="0"/>
                </a:rPr>
                <a:t>Explicit</a:t>
              </a:r>
              <a:r>
                <a:rPr lang="en-US" sz="1733">
                  <a:latin typeface="Amazon Ember" panose="020B0603020204020204" pitchFamily="34" charset="0"/>
                  <a:ea typeface="Amazon Ember" panose="020B0603020204020204" pitchFamily="34" charset="0"/>
                  <a:cs typeface="Amazon Ember" panose="020B0603020204020204" pitchFamily="34" charset="0"/>
                </a:rPr>
                <a:t> </a:t>
              </a:r>
              <a:r>
                <a:rPr lang="en-US" sz="1733" b="1">
                  <a:latin typeface="Amazon Ember" panose="020B0603020204020204" pitchFamily="34" charset="0"/>
                  <a:ea typeface="Amazon Ember" panose="020B0603020204020204" pitchFamily="34" charset="0"/>
                  <a:cs typeface="Amazon Ember" panose="020B0603020204020204" pitchFamily="34" charset="0"/>
                </a:rPr>
                <a:t>allow</a:t>
              </a:r>
              <a:r>
                <a:rPr lang="en-US" sz="1733">
                  <a:latin typeface="Amazon Ember" panose="020B0603020204020204" pitchFamily="34" charset="0"/>
                  <a:ea typeface="Amazon Ember" panose="020B0603020204020204" pitchFamily="34" charset="0"/>
                  <a:cs typeface="Amazon Ember" panose="020B0603020204020204" pitchFamily="34" charset="0"/>
                </a:rPr>
                <a:t> gives users access to a specific DynamoDB table and…</a:t>
              </a:r>
            </a:p>
          </p:txBody>
        </p:sp>
        <p:cxnSp>
          <p:nvCxnSpPr>
            <p:cNvPr id="8" name="Straight Arrow Connector 7"/>
            <p:cNvCxnSpPr>
              <a:cxnSpLocks/>
              <a:stCxn id="6" idx="2"/>
            </p:cNvCxnSpPr>
            <p:nvPr/>
          </p:nvCxnSpPr>
          <p:spPr>
            <a:xfrm>
              <a:off x="8008186" y="2258453"/>
              <a:ext cx="0" cy="804087"/>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cxnSpLocks/>
              <a:stCxn id="9" idx="1"/>
            </p:cNvCxnSpPr>
            <p:nvPr/>
          </p:nvCxnSpPr>
          <p:spPr>
            <a:xfrm flipH="1">
              <a:off x="4231037" y="3496114"/>
              <a:ext cx="605859" cy="0"/>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cxnSpLocks/>
            </p:cNvCxnSpPr>
            <p:nvPr/>
          </p:nvCxnSpPr>
          <p:spPr>
            <a:xfrm flipH="1">
              <a:off x="2439592" y="4184531"/>
              <a:ext cx="2397304" cy="0"/>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cxnSpLocks/>
            </p:cNvCxnSpPr>
            <p:nvPr/>
          </p:nvCxnSpPr>
          <p:spPr>
            <a:xfrm flipH="1">
              <a:off x="2506155" y="4497373"/>
              <a:ext cx="2264177" cy="0"/>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836896" y="3316609"/>
              <a:ext cx="2492990" cy="359009"/>
            </a:xfrm>
            <a:prstGeom prst="rect">
              <a:avLst/>
            </a:prstGeom>
            <a:solidFill>
              <a:schemeClr val="accent5">
                <a:lumMod val="20000"/>
                <a:lumOff val="80000"/>
              </a:schemeClr>
            </a:solidFill>
            <a:ln>
              <a:solidFill>
                <a:schemeClr val="accent1"/>
              </a:solidFill>
            </a:ln>
          </p:spPr>
          <p:txBody>
            <a:bodyPr wrap="none" rtlCol="0">
              <a:spAutoFit/>
            </a:bodyPr>
            <a:lstStyle/>
            <a:p>
              <a:r>
                <a:rPr lang="en-US" sz="1733">
                  <a:latin typeface="Amazon Ember" panose="020B0603020204020204" pitchFamily="34" charset="0"/>
                  <a:ea typeface="Amazon Ember" panose="020B0603020204020204" pitchFamily="34" charset="0"/>
                  <a:cs typeface="Amazon Ember" panose="020B0603020204020204" pitchFamily="34" charset="0"/>
                </a:rPr>
                <a:t> …Amazon S3 buckets.</a:t>
              </a:r>
            </a:p>
          </p:txBody>
        </p:sp>
        <p:sp>
          <p:nvSpPr>
            <p:cNvPr id="11" name="TextBox 10"/>
            <p:cNvSpPr txBox="1"/>
            <p:nvPr/>
          </p:nvSpPr>
          <p:spPr>
            <a:xfrm>
              <a:off x="4836896" y="3871689"/>
              <a:ext cx="6682116" cy="625684"/>
            </a:xfrm>
            <a:prstGeom prst="rect">
              <a:avLst/>
            </a:prstGeom>
            <a:solidFill>
              <a:schemeClr val="accent6">
                <a:lumMod val="20000"/>
                <a:lumOff val="80000"/>
              </a:schemeClr>
            </a:solidFill>
            <a:ln>
              <a:solidFill>
                <a:schemeClr val="accent1"/>
              </a:solidFill>
            </a:ln>
          </p:spPr>
          <p:txBody>
            <a:bodyPr wrap="square" rtlCol="0">
              <a:spAutoFit/>
            </a:bodyPr>
            <a:lstStyle/>
            <a:p>
              <a:r>
                <a:rPr lang="en-US" sz="1733" b="1">
                  <a:latin typeface="Amazon Ember" panose="020B0603020204020204" pitchFamily="34" charset="0"/>
                  <a:ea typeface="Amazon Ember" panose="020B0603020204020204" pitchFamily="34" charset="0"/>
                  <a:cs typeface="Amazon Ember" panose="020B0603020204020204" pitchFamily="34" charset="0"/>
                </a:rPr>
                <a:t>Explicit</a:t>
              </a:r>
              <a:r>
                <a:rPr lang="en-US" sz="1733">
                  <a:latin typeface="Amazon Ember" panose="020B0603020204020204" pitchFamily="34" charset="0"/>
                  <a:ea typeface="Amazon Ember" panose="020B0603020204020204" pitchFamily="34" charset="0"/>
                  <a:cs typeface="Amazon Ember" panose="020B0603020204020204" pitchFamily="34" charset="0"/>
                </a:rPr>
                <a:t> </a:t>
              </a:r>
              <a:r>
                <a:rPr lang="en-US" sz="1733" b="1">
                  <a:latin typeface="Amazon Ember" panose="020B0603020204020204" pitchFamily="34" charset="0"/>
                  <a:ea typeface="Amazon Ember" panose="020B0603020204020204" pitchFamily="34" charset="0"/>
                  <a:cs typeface="Amazon Ember" panose="020B0603020204020204" pitchFamily="34" charset="0"/>
                </a:rPr>
                <a:t>deny</a:t>
              </a:r>
              <a:r>
                <a:rPr lang="en-US" sz="1733">
                  <a:latin typeface="Amazon Ember" panose="020B0603020204020204" pitchFamily="34" charset="0"/>
                  <a:ea typeface="Amazon Ember" panose="020B0603020204020204" pitchFamily="34" charset="0"/>
                  <a:cs typeface="Amazon Ember" panose="020B0603020204020204" pitchFamily="34" charset="0"/>
                </a:rPr>
                <a:t> ensures that the users cannot use any other AWS actions or resources other than that table and those buckets.</a:t>
              </a:r>
            </a:p>
          </p:txBody>
        </p:sp>
        <p:cxnSp>
          <p:nvCxnSpPr>
            <p:cNvPr id="19" name="Elbow Connector 18">
              <a:extLst>
                <a:ext uri="{FF2B5EF4-FFF2-40B4-BE49-F238E27FC236}">
                  <a16:creationId xmlns:a16="http://schemas.microsoft.com/office/drawing/2014/main" id="{A2F1C7B9-5CD9-0976-FE53-6DA4087693BA}"/>
                </a:ext>
              </a:extLst>
            </p:cNvPr>
            <p:cNvCxnSpPr>
              <a:cxnSpLocks/>
            </p:cNvCxnSpPr>
            <p:nvPr/>
          </p:nvCxnSpPr>
          <p:spPr>
            <a:xfrm rot="10800000" flipV="1">
              <a:off x="2708460" y="1883565"/>
              <a:ext cx="2797388" cy="534118"/>
            </a:xfrm>
            <a:prstGeom prst="bentConnector3">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14" name="TextBox 13"/>
          <p:cNvSpPr txBox="1"/>
          <p:nvPr/>
        </p:nvSpPr>
        <p:spPr>
          <a:xfrm>
            <a:off x="5618402" y="5574830"/>
            <a:ext cx="4779568" cy="666977"/>
          </a:xfrm>
          <a:prstGeom prst="rect">
            <a:avLst/>
          </a:prstGeom>
          <a:solidFill>
            <a:schemeClr val="accent2"/>
          </a:solidFill>
          <a:ln>
            <a:solidFill>
              <a:schemeClr val="accent1"/>
            </a:solidFill>
          </a:ln>
        </p:spPr>
        <p:txBody>
          <a:bodyPr wrap="square" rtlCol="0">
            <a:spAutoFit/>
          </a:bodyPr>
          <a:lstStyle/>
          <a:p>
            <a:pPr algn="ctr"/>
            <a:r>
              <a:rPr lang="en-US" sz="1867">
                <a:latin typeface="Amazon Ember" panose="020B0603020204020204" pitchFamily="34" charset="0"/>
                <a:ea typeface="Amazon Ember" panose="020B0603020204020204" pitchFamily="34" charset="0"/>
                <a:cs typeface="Amazon Ember" panose="020B0603020204020204" pitchFamily="34" charset="0"/>
              </a:rPr>
              <a:t>An explicit deny statement </a:t>
            </a:r>
            <a:r>
              <a:rPr lang="en-US" sz="1867" b="1">
                <a:latin typeface="Amazon Ember" panose="020B0603020204020204" pitchFamily="34" charset="0"/>
                <a:ea typeface="Amazon Ember" panose="020B0603020204020204" pitchFamily="34" charset="0"/>
                <a:cs typeface="Amazon Ember" panose="020B0603020204020204" pitchFamily="34" charset="0"/>
              </a:rPr>
              <a:t>takes</a:t>
            </a:r>
            <a:r>
              <a:rPr lang="en-US" sz="1867">
                <a:latin typeface="Amazon Ember" panose="020B0603020204020204" pitchFamily="34" charset="0"/>
                <a:ea typeface="Amazon Ember" panose="020B0603020204020204" pitchFamily="34" charset="0"/>
                <a:cs typeface="Amazon Ember" panose="020B0603020204020204" pitchFamily="34" charset="0"/>
              </a:rPr>
              <a:t> </a:t>
            </a:r>
            <a:r>
              <a:rPr lang="en-US" sz="1867" b="1">
                <a:latin typeface="Amazon Ember" panose="020B0603020204020204" pitchFamily="34" charset="0"/>
                <a:ea typeface="Amazon Ember" panose="020B0603020204020204" pitchFamily="34" charset="0"/>
                <a:cs typeface="Amazon Ember" panose="020B0603020204020204" pitchFamily="34" charset="0"/>
              </a:rPr>
              <a:t>precedence</a:t>
            </a:r>
            <a:r>
              <a:rPr lang="en-US" sz="1867">
                <a:latin typeface="Amazon Ember" panose="020B0603020204020204" pitchFamily="34" charset="0"/>
                <a:ea typeface="Amazon Ember" panose="020B0603020204020204" pitchFamily="34" charset="0"/>
                <a:cs typeface="Amazon Ember" panose="020B0603020204020204" pitchFamily="34" charset="0"/>
              </a:rPr>
              <a:t> over an allow statement.</a:t>
            </a:r>
          </a:p>
        </p:txBody>
      </p:sp>
    </p:spTree>
    <p:custDataLst>
      <p:tags r:id="rId1"/>
    </p:custDataLst>
    <p:extLst>
      <p:ext uri="{BB962C8B-B14F-4D97-AF65-F5344CB8AC3E}">
        <p14:creationId xmlns:p14="http://schemas.microsoft.com/office/powerpoint/2010/main" val="19730067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17009D-87BF-E54E-9737-09A69FC1CA54}"/>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38</a:t>
            </a:fld>
            <a:endParaRPr lang="en-US"/>
          </a:p>
        </p:txBody>
      </p:sp>
      <p:sp>
        <p:nvSpPr>
          <p:cNvPr id="2" name="Title 1">
            <a:extLst>
              <a:ext uri="{FF2B5EF4-FFF2-40B4-BE49-F238E27FC236}">
                <a16:creationId xmlns:a16="http://schemas.microsoft.com/office/drawing/2014/main" id="{FA736057-57B5-4F41-BD76-4E8CAA5045D8}"/>
              </a:ext>
            </a:extLst>
          </p:cNvPr>
          <p:cNvSpPr>
            <a:spLocks noGrp="1"/>
          </p:cNvSpPr>
          <p:nvPr>
            <p:ph type="title"/>
          </p:nvPr>
        </p:nvSpPr>
        <p:spPr/>
        <p:txBody>
          <a:bodyPr>
            <a:normAutofit fontScale="90000"/>
          </a:bodyPr>
          <a:lstStyle/>
          <a:p>
            <a:r>
              <a:rPr lang="en-US"/>
              <a:t>Resource-based policies</a:t>
            </a:r>
          </a:p>
        </p:txBody>
      </p:sp>
      <p:sp>
        <p:nvSpPr>
          <p:cNvPr id="3" name="Content Placeholder 2">
            <a:extLst>
              <a:ext uri="{FF2B5EF4-FFF2-40B4-BE49-F238E27FC236}">
                <a16:creationId xmlns:a16="http://schemas.microsoft.com/office/drawing/2014/main" id="{3195FD5A-3999-1F41-AED7-72A8C6350DD6}"/>
              </a:ext>
            </a:extLst>
          </p:cNvPr>
          <p:cNvSpPr>
            <a:spLocks noGrp="1"/>
          </p:cNvSpPr>
          <p:nvPr>
            <p:ph sz="quarter" idx="21"/>
          </p:nvPr>
        </p:nvSpPr>
        <p:spPr>
          <a:xfrm>
            <a:off x="420624" y="1527048"/>
            <a:ext cx="5431536" cy="4645152"/>
          </a:xfrm>
        </p:spPr>
        <p:txBody>
          <a:bodyPr>
            <a:normAutofit/>
          </a:bodyPr>
          <a:lstStyle/>
          <a:p>
            <a:r>
              <a:rPr lang="en-US" sz="2400" i="1" dirty="0"/>
              <a:t>Identity-based policies</a:t>
            </a:r>
            <a:r>
              <a:rPr lang="en-US" sz="2400" dirty="0"/>
              <a:t> are attached to a user, group, or role</a:t>
            </a:r>
            <a:endParaRPr lang="en-US" sz="2000" dirty="0"/>
          </a:p>
          <a:p>
            <a:r>
              <a:rPr lang="en-US" sz="2400" b="1" dirty="0">
                <a:solidFill>
                  <a:schemeClr val="accent6"/>
                </a:solidFill>
              </a:rPr>
              <a:t>Resource-based policies</a:t>
            </a:r>
            <a:r>
              <a:rPr lang="en-US" sz="2400" dirty="0">
                <a:solidFill>
                  <a:schemeClr val="accent6"/>
                </a:solidFill>
              </a:rPr>
              <a:t> </a:t>
            </a:r>
            <a:r>
              <a:rPr lang="en-US" sz="2400" dirty="0"/>
              <a:t>are attached to a resource (</a:t>
            </a:r>
            <a:r>
              <a:rPr lang="en-US" sz="2400" i="1" dirty="0"/>
              <a:t>not</a:t>
            </a:r>
            <a:r>
              <a:rPr lang="en-US" sz="2400" dirty="0"/>
              <a:t> to a user, group or role)</a:t>
            </a:r>
          </a:p>
          <a:p>
            <a:r>
              <a:rPr lang="en-US" sz="2400" dirty="0"/>
              <a:t>Characteristics of resource-based policies – </a:t>
            </a:r>
          </a:p>
          <a:p>
            <a:pPr lvl="1"/>
            <a:r>
              <a:rPr lang="en-US" sz="2000" dirty="0"/>
              <a:t>Specifies who has access to the resource and what actions they can perform on it</a:t>
            </a:r>
          </a:p>
          <a:p>
            <a:pPr lvl="1"/>
            <a:r>
              <a:rPr lang="en-US" sz="2000" dirty="0"/>
              <a:t>The policies are </a:t>
            </a:r>
            <a:r>
              <a:rPr lang="en-US" sz="2000" i="1" dirty="0"/>
              <a:t>inline</a:t>
            </a:r>
            <a:r>
              <a:rPr lang="en-US" sz="2000" dirty="0"/>
              <a:t> only, not managed</a:t>
            </a:r>
          </a:p>
          <a:p>
            <a:r>
              <a:rPr lang="en-US" sz="2400" dirty="0"/>
              <a:t>Resource-based policies are supported only by some AWS services</a:t>
            </a:r>
          </a:p>
          <a:p>
            <a:endParaRPr lang="en-US" sz="2400" dirty="0"/>
          </a:p>
        </p:txBody>
      </p:sp>
      <p:grpSp>
        <p:nvGrpSpPr>
          <p:cNvPr id="5" name="Group 4" descr="AWS account with an S3 bucket named photos in it. The bucket has a resource-based policy defined inline on the bucket. There is also a separate identity-based policy attached to an IAM user named MaryMajor.">
            <a:extLst>
              <a:ext uri="{FF2B5EF4-FFF2-40B4-BE49-F238E27FC236}">
                <a16:creationId xmlns:a16="http://schemas.microsoft.com/office/drawing/2014/main" id="{EA64D4E9-1A59-D47E-F200-AC1B74F22084}"/>
              </a:ext>
            </a:extLst>
          </p:cNvPr>
          <p:cNvGrpSpPr/>
          <p:nvPr/>
        </p:nvGrpSpPr>
        <p:grpSpPr>
          <a:xfrm>
            <a:off x="6118110" y="1841496"/>
            <a:ext cx="5675306" cy="4178809"/>
            <a:chOff x="6118110" y="1841496"/>
            <a:chExt cx="5675306" cy="4178809"/>
          </a:xfrm>
        </p:grpSpPr>
        <p:pic>
          <p:nvPicPr>
            <p:cNvPr id="9" name="Graphic 8">
              <a:extLst>
                <a:ext uri="{FF2B5EF4-FFF2-40B4-BE49-F238E27FC236}">
                  <a16:creationId xmlns:a16="http://schemas.microsoft.com/office/drawing/2014/main" id="{0625163C-A94C-0843-AFB8-32AB1E3DCF2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17568" y="1841496"/>
              <a:ext cx="469900" cy="469900"/>
            </a:xfrm>
            <a:prstGeom prst="rect">
              <a:avLst/>
            </a:prstGeom>
          </p:spPr>
        </p:pic>
        <p:sp>
          <p:nvSpPr>
            <p:cNvPr id="10" name="TextBox 9">
              <a:extLst>
                <a:ext uri="{FF2B5EF4-FFF2-40B4-BE49-F238E27FC236}">
                  <a16:creationId xmlns:a16="http://schemas.microsoft.com/office/drawing/2014/main" id="{1853B595-7431-CC41-A477-15620FF98604}"/>
                </a:ext>
              </a:extLst>
            </p:cNvPr>
            <p:cNvSpPr txBox="1"/>
            <p:nvPr/>
          </p:nvSpPr>
          <p:spPr>
            <a:xfrm>
              <a:off x="8042330" y="2328399"/>
              <a:ext cx="1571025" cy="369332"/>
            </a:xfrm>
            <a:prstGeom prst="rect">
              <a:avLst/>
            </a:prstGeom>
            <a:noFill/>
          </p:spPr>
          <p:txBody>
            <a:bodyPr wrap="square" rtlCol="0">
              <a:spAutoFit/>
            </a:bodyPr>
            <a:lstStyle/>
            <a:p>
              <a:pPr algn="ctr"/>
              <a:r>
                <a:rPr lang="en-US"/>
                <a:t>AWS Account</a:t>
              </a:r>
            </a:p>
          </p:txBody>
        </p:sp>
        <p:sp>
          <p:nvSpPr>
            <p:cNvPr id="11" name="TextBox 10">
              <a:extLst>
                <a:ext uri="{FF2B5EF4-FFF2-40B4-BE49-F238E27FC236}">
                  <a16:creationId xmlns:a16="http://schemas.microsoft.com/office/drawing/2014/main" id="{839D9B91-679F-A546-825C-169BBB3A5AFB}"/>
                </a:ext>
              </a:extLst>
            </p:cNvPr>
            <p:cNvSpPr txBox="1"/>
            <p:nvPr/>
          </p:nvSpPr>
          <p:spPr>
            <a:xfrm>
              <a:off x="6847557" y="4585258"/>
              <a:ext cx="1571025" cy="584775"/>
            </a:xfrm>
            <a:prstGeom prst="rect">
              <a:avLst/>
            </a:prstGeom>
            <a:noFill/>
          </p:spPr>
          <p:txBody>
            <a:bodyPr wrap="square" rtlCol="0">
              <a:spAutoFit/>
            </a:bodyPr>
            <a:lstStyle/>
            <a:p>
              <a:pPr algn="ctr"/>
              <a:r>
                <a:rPr lang="en-US" sz="1600" b="1">
                  <a:solidFill>
                    <a:schemeClr val="accent6"/>
                  </a:solidFill>
                </a:rPr>
                <a:t>Identity-based</a:t>
              </a:r>
              <a:r>
                <a:rPr lang="en-US" sz="1600" b="1">
                  <a:solidFill>
                    <a:schemeClr val="accent5"/>
                  </a:solidFill>
                </a:rPr>
                <a:t> </a:t>
              </a:r>
              <a:r>
                <a:rPr lang="en-US" sz="1600" b="1"/>
                <a:t>policy</a:t>
              </a:r>
            </a:p>
          </p:txBody>
        </p:sp>
        <p:pic>
          <p:nvPicPr>
            <p:cNvPr id="12" name="Graphic 11">
              <a:extLst>
                <a:ext uri="{FF2B5EF4-FFF2-40B4-BE49-F238E27FC236}">
                  <a16:creationId xmlns:a16="http://schemas.microsoft.com/office/drawing/2014/main" id="{D1C8A681-E344-6C4B-8D09-1BE63F8F335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98119" y="4144368"/>
              <a:ext cx="469900" cy="469900"/>
            </a:xfrm>
            <a:prstGeom prst="rect">
              <a:avLst/>
            </a:prstGeom>
          </p:spPr>
        </p:pic>
        <p:sp>
          <p:nvSpPr>
            <p:cNvPr id="13" name="TextBox 12">
              <a:extLst>
                <a:ext uri="{FF2B5EF4-FFF2-40B4-BE49-F238E27FC236}">
                  <a16:creationId xmlns:a16="http://schemas.microsoft.com/office/drawing/2014/main" id="{78F59DDB-8AD6-BF46-8D8F-D31072E14C12}"/>
                </a:ext>
              </a:extLst>
            </p:cNvPr>
            <p:cNvSpPr txBox="1"/>
            <p:nvPr/>
          </p:nvSpPr>
          <p:spPr>
            <a:xfrm>
              <a:off x="9423816" y="4582646"/>
              <a:ext cx="1571025" cy="584775"/>
            </a:xfrm>
            <a:prstGeom prst="rect">
              <a:avLst/>
            </a:prstGeom>
            <a:noFill/>
          </p:spPr>
          <p:txBody>
            <a:bodyPr wrap="square" rtlCol="0">
              <a:spAutoFit/>
            </a:bodyPr>
            <a:lstStyle/>
            <a:p>
              <a:pPr algn="ctr"/>
              <a:r>
                <a:rPr lang="en-US" sz="1600" b="1">
                  <a:solidFill>
                    <a:schemeClr val="accent5"/>
                  </a:solidFill>
                </a:rPr>
                <a:t>Resource-based</a:t>
              </a:r>
              <a:r>
                <a:rPr lang="en-US" sz="1600" b="1">
                  <a:solidFill>
                    <a:schemeClr val="accent6"/>
                  </a:solidFill>
                </a:rPr>
                <a:t> </a:t>
              </a:r>
              <a:r>
                <a:rPr lang="en-US" sz="1600" b="1"/>
                <a:t>policy</a:t>
              </a:r>
            </a:p>
          </p:txBody>
        </p:sp>
        <p:pic>
          <p:nvPicPr>
            <p:cNvPr id="14" name="Graphic 13">
              <a:extLst>
                <a:ext uri="{FF2B5EF4-FFF2-40B4-BE49-F238E27FC236}">
                  <a16:creationId xmlns:a16="http://schemas.microsoft.com/office/drawing/2014/main" id="{374ADB8A-2978-3A49-BD9D-1F5913FD0F8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4378" y="4141756"/>
              <a:ext cx="469900" cy="469900"/>
            </a:xfrm>
            <a:prstGeom prst="rect">
              <a:avLst/>
            </a:prstGeom>
          </p:spPr>
        </p:pic>
        <p:sp>
          <p:nvSpPr>
            <p:cNvPr id="16" name="Rectangle 15">
              <a:extLst>
                <a:ext uri="{FF2B5EF4-FFF2-40B4-BE49-F238E27FC236}">
                  <a16:creationId xmlns:a16="http://schemas.microsoft.com/office/drawing/2014/main" id="{BD3CDBA7-1EC1-5041-AD35-69EA0720724D}"/>
                </a:ext>
              </a:extLst>
            </p:cNvPr>
            <p:cNvSpPr/>
            <p:nvPr/>
          </p:nvSpPr>
          <p:spPr>
            <a:xfrm>
              <a:off x="9166869" y="5114952"/>
              <a:ext cx="2210383" cy="9053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i="1">
                  <a:solidFill>
                    <a:schemeClr val="tx1"/>
                  </a:solidFill>
                </a:rPr>
                <a:t>Policy grants user </a:t>
              </a:r>
              <a:r>
                <a:rPr lang="en-US" i="1" err="1">
                  <a:solidFill>
                    <a:schemeClr val="tx1"/>
                  </a:solidFill>
                </a:rPr>
                <a:t>MaryMajor</a:t>
              </a:r>
              <a:r>
                <a:rPr lang="en-US" i="1">
                  <a:solidFill>
                    <a:schemeClr val="tx1"/>
                  </a:solidFill>
                </a:rPr>
                <a:t> list, read objects  </a:t>
              </a:r>
            </a:p>
            <a:p>
              <a:pPr algn="ctr"/>
              <a:endParaRPr lang="en-US" i="1">
                <a:solidFill>
                  <a:schemeClr val="tx1"/>
                </a:solidFill>
              </a:endParaRPr>
            </a:p>
          </p:txBody>
        </p:sp>
        <p:sp>
          <p:nvSpPr>
            <p:cNvPr id="17" name="Rectangle 16">
              <a:extLst>
                <a:ext uri="{FF2B5EF4-FFF2-40B4-BE49-F238E27FC236}">
                  <a16:creationId xmlns:a16="http://schemas.microsoft.com/office/drawing/2014/main" id="{2C020818-744D-2C45-9339-58C18DDB0B4E}"/>
                </a:ext>
              </a:extLst>
            </p:cNvPr>
            <p:cNvSpPr/>
            <p:nvPr/>
          </p:nvSpPr>
          <p:spPr>
            <a:xfrm>
              <a:off x="6505829" y="5114952"/>
              <a:ext cx="2210383" cy="9053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i="1">
                  <a:solidFill>
                    <a:schemeClr val="tx1"/>
                  </a:solidFill>
                </a:rPr>
                <a:t>Policy grants list, read objects to the photos bucket </a:t>
              </a:r>
            </a:p>
          </p:txBody>
        </p:sp>
        <p:pic>
          <p:nvPicPr>
            <p:cNvPr id="18" name="Graphic 17">
              <a:extLst>
                <a:ext uri="{FF2B5EF4-FFF2-40B4-BE49-F238E27FC236}">
                  <a16:creationId xmlns:a16="http://schemas.microsoft.com/office/drawing/2014/main" id="{2A57C84A-C026-3B4F-92CC-DC69A417422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4378" y="2835300"/>
              <a:ext cx="469900" cy="469900"/>
            </a:xfrm>
            <a:prstGeom prst="rect">
              <a:avLst/>
            </a:prstGeom>
          </p:spPr>
        </p:pic>
        <p:sp>
          <p:nvSpPr>
            <p:cNvPr id="19" name="TextBox 18">
              <a:extLst>
                <a:ext uri="{FF2B5EF4-FFF2-40B4-BE49-F238E27FC236}">
                  <a16:creationId xmlns:a16="http://schemas.microsoft.com/office/drawing/2014/main" id="{24EF7843-70BC-FA4D-B06E-0B6F6335C92E}"/>
                </a:ext>
              </a:extLst>
            </p:cNvPr>
            <p:cNvSpPr txBox="1"/>
            <p:nvPr/>
          </p:nvSpPr>
          <p:spPr>
            <a:xfrm>
              <a:off x="10349587" y="2777863"/>
              <a:ext cx="1290508" cy="646331"/>
            </a:xfrm>
            <a:prstGeom prst="rect">
              <a:avLst/>
            </a:prstGeom>
            <a:noFill/>
          </p:spPr>
          <p:txBody>
            <a:bodyPr wrap="square" rtlCol="0">
              <a:spAutoFit/>
            </a:bodyPr>
            <a:lstStyle/>
            <a:p>
              <a:pPr algn="ctr"/>
              <a:r>
                <a:rPr lang="en-US"/>
                <a:t>S3 bucket </a:t>
              </a:r>
              <a:r>
                <a:rPr lang="en-US" i="1"/>
                <a:t>photos</a:t>
              </a:r>
            </a:p>
          </p:txBody>
        </p:sp>
        <p:pic>
          <p:nvPicPr>
            <p:cNvPr id="20" name="Graphic 19">
              <a:extLst>
                <a:ext uri="{FF2B5EF4-FFF2-40B4-BE49-F238E27FC236}">
                  <a16:creationId xmlns:a16="http://schemas.microsoft.com/office/drawing/2014/main" id="{256F7C87-540A-9D46-A0C9-89C86870A035}"/>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77950" y="2835300"/>
              <a:ext cx="469900" cy="469900"/>
            </a:xfrm>
            <a:prstGeom prst="rect">
              <a:avLst/>
            </a:prstGeom>
          </p:spPr>
        </p:pic>
        <p:sp>
          <p:nvSpPr>
            <p:cNvPr id="21" name="TextBox 20">
              <a:extLst>
                <a:ext uri="{FF2B5EF4-FFF2-40B4-BE49-F238E27FC236}">
                  <a16:creationId xmlns:a16="http://schemas.microsoft.com/office/drawing/2014/main" id="{353EFE2F-3C1F-8748-949E-647066066C47}"/>
                </a:ext>
              </a:extLst>
            </p:cNvPr>
            <p:cNvSpPr txBox="1"/>
            <p:nvPr/>
          </p:nvSpPr>
          <p:spPr>
            <a:xfrm>
              <a:off x="6118110" y="2809753"/>
              <a:ext cx="1369462" cy="646331"/>
            </a:xfrm>
            <a:prstGeom prst="rect">
              <a:avLst/>
            </a:prstGeom>
            <a:noFill/>
          </p:spPr>
          <p:txBody>
            <a:bodyPr wrap="square" rtlCol="0">
              <a:spAutoFit/>
            </a:bodyPr>
            <a:lstStyle/>
            <a:p>
              <a:pPr algn="ctr"/>
              <a:r>
                <a:rPr lang="en-US"/>
                <a:t>IAM user </a:t>
              </a:r>
              <a:r>
                <a:rPr lang="en-US" i="1"/>
                <a:t>MaryMajor</a:t>
              </a:r>
            </a:p>
          </p:txBody>
        </p:sp>
        <p:cxnSp>
          <p:nvCxnSpPr>
            <p:cNvPr id="23" name="Straight Arrow Connector 22">
              <a:extLst>
                <a:ext uri="{FF2B5EF4-FFF2-40B4-BE49-F238E27FC236}">
                  <a16:creationId xmlns:a16="http://schemas.microsoft.com/office/drawing/2014/main" id="{2C4E23F6-7FB8-1744-829E-4F5CA8A8DE77}"/>
                </a:ext>
              </a:extLst>
            </p:cNvPr>
            <p:cNvCxnSpPr>
              <a:endCxn id="20" idx="2"/>
            </p:cNvCxnSpPr>
            <p:nvPr/>
          </p:nvCxnSpPr>
          <p:spPr>
            <a:xfrm flipV="1">
              <a:off x="7611021" y="3305200"/>
              <a:ext cx="1879" cy="710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71EF548-D5DB-2A4D-A148-A43A946C7DEE}"/>
                </a:ext>
              </a:extLst>
            </p:cNvPr>
            <p:cNvCxnSpPr/>
            <p:nvPr/>
          </p:nvCxnSpPr>
          <p:spPr>
            <a:xfrm flipV="1">
              <a:off x="10226318" y="3290572"/>
              <a:ext cx="1879" cy="710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5D59DA2-5570-9448-954A-E9DF4E316CF1}"/>
                </a:ext>
              </a:extLst>
            </p:cNvPr>
            <p:cNvSpPr txBox="1"/>
            <p:nvPr/>
          </p:nvSpPr>
          <p:spPr>
            <a:xfrm>
              <a:off x="6559406" y="3577565"/>
              <a:ext cx="1053494" cy="369332"/>
            </a:xfrm>
            <a:prstGeom prst="rect">
              <a:avLst/>
            </a:prstGeom>
            <a:noFill/>
          </p:spPr>
          <p:txBody>
            <a:bodyPr wrap="none" rtlCol="0">
              <a:spAutoFit/>
            </a:bodyPr>
            <a:lstStyle/>
            <a:p>
              <a:r>
                <a:rPr lang="en-US" i="1">
                  <a:latin typeface="Amazon Ember Light" panose="020B0403020204020204" pitchFamily="34" charset="0"/>
                  <a:ea typeface="Amazon Ember Light" panose="020B0403020204020204" pitchFamily="34" charset="0"/>
                  <a:cs typeface="Amazon Ember Light" panose="020B0403020204020204" pitchFamily="34" charset="0"/>
                </a:rPr>
                <a:t>attached</a:t>
              </a:r>
            </a:p>
          </p:txBody>
        </p:sp>
        <p:sp>
          <p:nvSpPr>
            <p:cNvPr id="26" name="TextBox 25">
              <a:extLst>
                <a:ext uri="{FF2B5EF4-FFF2-40B4-BE49-F238E27FC236}">
                  <a16:creationId xmlns:a16="http://schemas.microsoft.com/office/drawing/2014/main" id="{8494FDD5-EC37-B744-AE43-06C777E46C07}"/>
                </a:ext>
              </a:extLst>
            </p:cNvPr>
            <p:cNvSpPr txBox="1"/>
            <p:nvPr/>
          </p:nvSpPr>
          <p:spPr>
            <a:xfrm>
              <a:off x="10209328" y="3477791"/>
              <a:ext cx="1584088" cy="646331"/>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Defined </a:t>
              </a:r>
              <a:r>
                <a:rPr lang="en-US" i="1" dirty="0">
                  <a:latin typeface="Amazon Ember Light" panose="020B0403020204020204" pitchFamily="34" charset="0"/>
                  <a:ea typeface="Amazon Ember Light" panose="020B0403020204020204" pitchFamily="34" charset="0"/>
                  <a:cs typeface="Amazon Ember Light" panose="020B0403020204020204" pitchFamily="34" charset="0"/>
                </a:rPr>
                <a:t>inline</a:t>
              </a:r>
            </a:p>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on the bucket</a:t>
              </a:r>
            </a:p>
          </p:txBody>
        </p:sp>
      </p:grpSp>
    </p:spTree>
    <p:custDataLst>
      <p:tags r:id="rId1"/>
    </p:custDataLst>
    <p:extLst>
      <p:ext uri="{BB962C8B-B14F-4D97-AF65-F5344CB8AC3E}">
        <p14:creationId xmlns:p14="http://schemas.microsoft.com/office/powerpoint/2010/main" val="2930029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67DD25-673F-1747-AF72-7EEB20A0B597}"/>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39</a:t>
            </a:fld>
            <a:endParaRPr lang="en-US"/>
          </a:p>
        </p:txBody>
      </p:sp>
      <p:sp>
        <p:nvSpPr>
          <p:cNvPr id="5" name="Title 1"/>
          <p:cNvSpPr>
            <a:spLocks noGrp="1"/>
          </p:cNvSpPr>
          <p:nvPr>
            <p:ph type="title"/>
          </p:nvPr>
        </p:nvSpPr>
        <p:spPr/>
        <p:txBody>
          <a:bodyPr>
            <a:normAutofit fontScale="90000"/>
          </a:bodyPr>
          <a:lstStyle/>
          <a:p>
            <a:r>
              <a:rPr lang="en-US"/>
              <a:t>IAM permissions</a:t>
            </a:r>
          </a:p>
        </p:txBody>
      </p:sp>
      <p:sp>
        <p:nvSpPr>
          <p:cNvPr id="3" name="Content Placeholder 2"/>
          <p:cNvSpPr>
            <a:spLocks noGrp="1"/>
          </p:cNvSpPr>
          <p:nvPr>
            <p:ph sz="quarter" idx="21"/>
          </p:nvPr>
        </p:nvSpPr>
        <p:spPr/>
        <p:txBody>
          <a:bodyPr>
            <a:normAutofit/>
          </a:bodyPr>
          <a:lstStyle/>
          <a:p>
            <a:pPr marL="0" indent="0">
              <a:buNone/>
            </a:pPr>
            <a:r>
              <a:rPr lang="en-US">
                <a:latin typeface="+mn-lt"/>
              </a:rPr>
              <a:t>How IAM determines permissions:</a:t>
            </a:r>
          </a:p>
        </p:txBody>
      </p:sp>
      <p:grpSp>
        <p:nvGrpSpPr>
          <p:cNvPr id="6" name="Group 5" descr="Flow chart that starts with the question &quot;is the permissions explicitly denied?&quot; The question has yes and no paths out of it. If No, it goes to the question &quot;Is the permission explicitly allowed?&quot;. Only of the permission is both not explicitly denied and is explicitly allowed is the permission allowed.">
            <a:extLst>
              <a:ext uri="{FF2B5EF4-FFF2-40B4-BE49-F238E27FC236}">
                <a16:creationId xmlns:a16="http://schemas.microsoft.com/office/drawing/2014/main" id="{1FC87B26-3DE7-164A-80EA-0BAADBDE70D5}"/>
              </a:ext>
            </a:extLst>
          </p:cNvPr>
          <p:cNvGrpSpPr/>
          <p:nvPr/>
        </p:nvGrpSpPr>
        <p:grpSpPr>
          <a:xfrm>
            <a:off x="1434191" y="2359577"/>
            <a:ext cx="9523349" cy="2717468"/>
            <a:chOff x="1434191" y="2359577"/>
            <a:chExt cx="9523349" cy="2717468"/>
          </a:xfrm>
        </p:grpSpPr>
        <p:sp>
          <p:nvSpPr>
            <p:cNvPr id="40" name="Freeform 39"/>
            <p:cNvSpPr/>
            <p:nvPr/>
          </p:nvSpPr>
          <p:spPr>
            <a:xfrm>
              <a:off x="1434192" y="2359577"/>
              <a:ext cx="2476856" cy="13836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19050" cap="flat" cmpd="sng" algn="ctr">
              <a:solidFill>
                <a:srgbClr val="474746"/>
              </a:solidFill>
              <a:prstDash val="solid"/>
            </a:ln>
            <a:effectLst>
              <a:outerShdw blurRad="40000" dist="20000" dir="5400000" rotWithShape="0">
                <a:srgbClr val="000000">
                  <a:alpha val="38000"/>
                </a:srgbClr>
              </a:outerShdw>
            </a:effectLst>
          </p:spPr>
          <p:txBody>
            <a:bodyPr spcFirstLastPara="0" vert="horz" wrap="square" lIns="85292" tIns="85292" rIns="85292" bIns="85292" numCol="1" spcCol="1270" anchor="ctr" anchorCtr="0">
              <a:noAutofit/>
            </a:bodyPr>
            <a:lstStyle/>
            <a:p>
              <a:pPr lvl="0" algn="ctr" defTabSz="666750">
                <a:lnSpc>
                  <a:spcPct val="90000"/>
                </a:lnSpc>
                <a:spcBef>
                  <a:spcPct val="0"/>
                </a:spcBef>
                <a:spcAft>
                  <a:spcPct val="35000"/>
                </a:spcAft>
                <a:defRPr/>
              </a:pPr>
              <a:r>
                <a:rPr lang="en-US" kern="0">
                  <a:solidFill>
                    <a:srgbClr val="474746"/>
                  </a:solidFill>
                  <a:ea typeface="Amazon Ember" panose="020B0603020204020204" pitchFamily="34" charset="0"/>
                  <a:cs typeface="Amazon Ember" panose="020B0603020204020204" pitchFamily="34" charset="0"/>
                </a:rPr>
                <a:t>Is</a:t>
              </a:r>
              <a:r>
                <a:rPr kumimoji="0" lang="en-US" i="0" u="none" strike="noStrike" kern="0" cap="none" spc="0" normalizeH="0" baseline="0" noProof="0">
                  <a:ln>
                    <a:noFill/>
                  </a:ln>
                  <a:solidFill>
                    <a:srgbClr val="474746"/>
                  </a:solidFill>
                  <a:effectLst/>
                  <a:uLnTx/>
                  <a:uFillTx/>
                  <a:ea typeface="Amazon Ember" panose="020B0603020204020204" pitchFamily="34" charset="0"/>
                  <a:cs typeface="Amazon Ember" panose="020B0603020204020204" pitchFamily="34" charset="0"/>
                </a:rPr>
                <a:t> the </a:t>
              </a:r>
              <a:r>
                <a:rPr lang="en-US" kern="0">
                  <a:solidFill>
                    <a:srgbClr val="474746"/>
                  </a:solidFill>
                  <a:ea typeface="Amazon Ember" panose="020B0603020204020204" pitchFamily="34" charset="0"/>
                  <a:cs typeface="Amazon Ember" panose="020B0603020204020204" pitchFamily="34" charset="0"/>
                </a:rPr>
                <a:t>permission explicitly </a:t>
              </a:r>
              <a:r>
                <a:rPr kumimoji="0" lang="en-US" i="1" strike="noStrike" kern="0" cap="none" spc="0" normalizeH="0" baseline="0" noProof="0">
                  <a:ln>
                    <a:noFill/>
                  </a:ln>
                  <a:solidFill>
                    <a:srgbClr val="474746"/>
                  </a:solidFill>
                  <a:effectLst/>
                  <a:uLnTx/>
                  <a:uFillTx/>
                  <a:ea typeface="Amazon Ember" panose="020B0603020204020204" pitchFamily="34" charset="0"/>
                  <a:cs typeface="Amazon Ember" panose="020B0603020204020204" pitchFamily="34" charset="0"/>
                </a:rPr>
                <a:t>denied </a:t>
              </a:r>
              <a:r>
                <a:rPr kumimoji="0" lang="en-US" i="0" u="none" strike="noStrike" kern="0" cap="none" spc="0" normalizeH="0" baseline="0" noProof="0">
                  <a:ln>
                    <a:noFill/>
                  </a:ln>
                  <a:solidFill>
                    <a:srgbClr val="474746"/>
                  </a:solidFill>
                  <a:effectLst/>
                  <a:uLnTx/>
                  <a:uFillTx/>
                  <a:ea typeface="Amazon Ember" panose="020B0603020204020204" pitchFamily="34" charset="0"/>
                  <a:cs typeface="Amazon Ember" panose="020B0603020204020204" pitchFamily="34" charset="0"/>
                </a:rPr>
                <a:t>?</a:t>
              </a:r>
              <a:endParaRPr kumimoji="0" lang="en-US" sz="1600" i="0" u="none" strike="noStrike" kern="0" cap="none" spc="0" normalizeH="0" baseline="0" noProof="0">
                <a:ln>
                  <a:noFill/>
                </a:ln>
                <a:solidFill>
                  <a:srgbClr val="474746"/>
                </a:solidFill>
                <a:effectLst/>
                <a:uLnTx/>
                <a:uFillTx/>
                <a:ea typeface="Amazon Ember" panose="020B0603020204020204" pitchFamily="34" charset="0"/>
                <a:cs typeface="Amazon Ember" panose="020B0603020204020204" pitchFamily="34" charset="0"/>
              </a:endParaRPr>
            </a:p>
          </p:txBody>
        </p:sp>
        <p:sp>
          <p:nvSpPr>
            <p:cNvPr id="41" name="Freeform 40"/>
            <p:cNvSpPr/>
            <p:nvPr/>
          </p:nvSpPr>
          <p:spPr>
            <a:xfrm>
              <a:off x="3974378" y="2645543"/>
              <a:ext cx="919730" cy="1001716"/>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ysClr val="window" lastClr="FFFFFF"/>
            </a:solidFill>
            <a:ln w="25400" cap="flat" cmpd="sng" algn="ctr">
              <a:solidFill>
                <a:srgbClr val="474746"/>
              </a:solidFill>
              <a:prstDash val="solid"/>
            </a:ln>
            <a:effectLst/>
          </p:spPr>
          <p:txBody>
            <a:bodyPr spcFirstLastPara="0" vert="horz" wrap="square" lIns="0" tIns="79429" rIns="101848" bIns="79429"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noProof="0">
                  <a:ln>
                    <a:noFill/>
                  </a:ln>
                  <a:effectLst/>
                  <a:uLnTx/>
                  <a:uFillTx/>
                  <a:latin typeface="Amazon Ember" panose="020B0603020204020204" pitchFamily="34" charset="0"/>
                  <a:ea typeface="Amazon Ember" panose="020B0603020204020204" pitchFamily="34" charset="0"/>
                  <a:cs typeface="Amazon Ember" panose="020B0603020204020204" pitchFamily="34" charset="0"/>
                </a:rPr>
                <a:t>No</a:t>
              </a:r>
              <a:endParaRPr kumimoji="0" lang="en-US" sz="1200" b="0" i="0" u="none" strike="noStrike" kern="0" cap="none" spc="0" normalizeH="0" baseline="0" noProof="0">
                <a:ln>
                  <a:noFill/>
                </a:ln>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2" name="Freeform 41"/>
            <p:cNvSpPr/>
            <p:nvPr/>
          </p:nvSpPr>
          <p:spPr>
            <a:xfrm>
              <a:off x="1434191" y="4499657"/>
              <a:ext cx="2476856" cy="577388"/>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25400" cap="flat" cmpd="sng" algn="ctr">
              <a:solidFill>
                <a:srgbClr val="474746"/>
              </a:solidFill>
              <a:prstDash val="solid"/>
            </a:ln>
            <a:effectLst/>
          </p:spPr>
          <p:txBody>
            <a:bodyPr spcFirstLastPara="0" vert="horz" wrap="square" lIns="85292" tIns="85292" rIns="85292" bIns="85292" numCol="1" spcCol="1270" anchor="ctr" anchorCtr="0">
              <a:noAutofit/>
            </a:body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i="0" u="none" strike="noStrike" kern="0" cap="none" spc="0" normalizeH="0" baseline="0" noProof="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rPr>
                <a:t>Deny</a:t>
              </a:r>
            </a:p>
          </p:txBody>
        </p:sp>
        <p:sp>
          <p:nvSpPr>
            <p:cNvPr id="43" name="Freeform 42"/>
            <p:cNvSpPr/>
            <p:nvPr/>
          </p:nvSpPr>
          <p:spPr>
            <a:xfrm>
              <a:off x="4957438" y="2377430"/>
              <a:ext cx="2476856" cy="13836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19050" cap="flat" cmpd="sng" algn="ctr">
              <a:solidFill>
                <a:srgbClr val="474746"/>
              </a:solidFill>
              <a:prstDash val="solid"/>
            </a:ln>
            <a:effectLst>
              <a:outerShdw blurRad="40000" dist="20000" dir="5400000" rotWithShape="0">
                <a:srgbClr val="000000">
                  <a:alpha val="38000"/>
                </a:srgbClr>
              </a:outerShdw>
            </a:effectLst>
          </p:spPr>
          <p:txBody>
            <a:bodyPr spcFirstLastPara="0" vert="horz" wrap="square" lIns="85292" tIns="85292" rIns="85292" bIns="85292" numCol="1" spcCol="1270" anchor="ctr" anchorCtr="0">
              <a:noAutofit/>
            </a:bodyPr>
            <a:lstStyle/>
            <a:p>
              <a:pPr lvl="0" algn="ctr" defTabSz="666750">
                <a:lnSpc>
                  <a:spcPct val="90000"/>
                </a:lnSpc>
                <a:spcBef>
                  <a:spcPct val="0"/>
                </a:spcBef>
                <a:spcAft>
                  <a:spcPct val="35000"/>
                </a:spcAft>
                <a:defRPr/>
              </a:pPr>
              <a:r>
                <a:rPr kumimoji="0" lang="en-US" i="0" u="none" strike="noStrike" kern="0" cap="none" spc="0" normalizeH="0" baseline="0" noProof="0">
                  <a:ln>
                    <a:noFill/>
                  </a:ln>
                  <a:solidFill>
                    <a:srgbClr val="474746"/>
                  </a:solidFill>
                  <a:effectLst/>
                  <a:uLnTx/>
                  <a:uFillTx/>
                  <a:ea typeface="Amazon Ember" panose="020B0603020204020204" pitchFamily="34" charset="0"/>
                  <a:cs typeface="Amazon Ember" panose="020B0603020204020204" pitchFamily="34" charset="0"/>
                </a:rPr>
                <a:t>Is the </a:t>
              </a:r>
              <a:r>
                <a:rPr lang="en-US" kern="0">
                  <a:solidFill>
                    <a:srgbClr val="474746"/>
                  </a:solidFill>
                  <a:ea typeface="Amazon Ember" panose="020B0603020204020204" pitchFamily="34" charset="0"/>
                  <a:cs typeface="Amazon Ember" panose="020B0603020204020204" pitchFamily="34" charset="0"/>
                </a:rPr>
                <a:t>permission explicitly </a:t>
              </a:r>
              <a:r>
                <a:rPr kumimoji="0" lang="en-US" i="1" u="none" strike="noStrike" kern="0" cap="none" spc="0" normalizeH="0" baseline="0" noProof="0">
                  <a:ln>
                    <a:noFill/>
                  </a:ln>
                  <a:solidFill>
                    <a:srgbClr val="474746"/>
                  </a:solidFill>
                  <a:effectLst/>
                  <a:uLnTx/>
                  <a:uFillTx/>
                  <a:ea typeface="Amazon Ember" panose="020B0603020204020204" pitchFamily="34" charset="0"/>
                  <a:cs typeface="Amazon Ember" panose="020B0603020204020204" pitchFamily="34" charset="0"/>
                </a:rPr>
                <a:t>allowed </a:t>
              </a:r>
              <a:r>
                <a:rPr kumimoji="0" lang="en-US" sz="1600" i="0" u="none" strike="noStrike" kern="0" cap="none" spc="0" normalizeH="0" baseline="0" noProof="0">
                  <a:ln>
                    <a:noFill/>
                  </a:ln>
                  <a:solidFill>
                    <a:srgbClr val="474746"/>
                  </a:solidFill>
                  <a:effectLst/>
                  <a:uLnTx/>
                  <a:uFillTx/>
                  <a:ea typeface="Amazon Ember" panose="020B0603020204020204" pitchFamily="34" charset="0"/>
                  <a:cs typeface="Amazon Ember" panose="020B0603020204020204" pitchFamily="34" charset="0"/>
                </a:rPr>
                <a:t>?</a:t>
              </a:r>
            </a:p>
          </p:txBody>
        </p:sp>
        <p:sp>
          <p:nvSpPr>
            <p:cNvPr id="44" name="Freeform 43"/>
            <p:cNvSpPr/>
            <p:nvPr/>
          </p:nvSpPr>
          <p:spPr>
            <a:xfrm>
              <a:off x="4922525" y="4499657"/>
              <a:ext cx="2511769" cy="577388"/>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25400" cap="flat" cmpd="sng" algn="ctr">
              <a:solidFill>
                <a:srgbClr val="474746"/>
              </a:solidFill>
              <a:prstDash val="solid"/>
            </a:ln>
            <a:effectLst/>
          </p:spPr>
          <p:txBody>
            <a:bodyPr spcFirstLastPara="0" vert="horz" wrap="square" lIns="85292" tIns="85292" rIns="85292" bIns="85292" numCol="1" spcCol="1270" anchor="ctr" anchorCtr="0">
              <a:noAutofit/>
            </a:body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i="0" u="none" strike="noStrike" kern="0" cap="none" spc="0" normalizeH="0" baseline="0" noProof="0">
                  <a:ln>
                    <a:noFill/>
                  </a:ln>
                  <a:solidFill>
                    <a:schemeClr val="accent2"/>
                  </a:solidFill>
                  <a:effectLst/>
                  <a:uLnTx/>
                  <a:uFillTx/>
                  <a:latin typeface="Amazon Ember" panose="020B0603020204020204" pitchFamily="34" charset="0"/>
                  <a:ea typeface="Amazon Ember" panose="020B0603020204020204" pitchFamily="34" charset="0"/>
                  <a:cs typeface="Amazon Ember" panose="020B0603020204020204" pitchFamily="34" charset="0"/>
                </a:rPr>
                <a:t>Allow</a:t>
              </a:r>
            </a:p>
          </p:txBody>
        </p:sp>
        <p:sp>
          <p:nvSpPr>
            <p:cNvPr id="45" name="Freeform 44"/>
            <p:cNvSpPr/>
            <p:nvPr/>
          </p:nvSpPr>
          <p:spPr>
            <a:xfrm>
              <a:off x="8480684" y="2821315"/>
              <a:ext cx="2476856" cy="607685"/>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25400" cap="flat" cmpd="sng" algn="ctr">
              <a:solidFill>
                <a:srgbClr val="474746"/>
              </a:solidFill>
              <a:prstDash val="solid"/>
            </a:ln>
            <a:effectLst/>
          </p:spPr>
          <p:txBody>
            <a:bodyPr spcFirstLastPara="0" vert="horz" wrap="square" lIns="85292" tIns="85292" rIns="85292" bIns="85292" numCol="1" spcCol="1270" anchor="ctr" anchorCtr="0">
              <a:noAutofit/>
            </a:body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i="0" u="none" strike="noStrike" kern="0" cap="none" spc="0" normalizeH="0" baseline="0" noProof="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rPr>
                <a:t>Deny</a:t>
              </a:r>
            </a:p>
          </p:txBody>
        </p:sp>
        <p:sp>
          <p:nvSpPr>
            <p:cNvPr id="46" name="Down Arrow 45"/>
            <p:cNvSpPr/>
            <p:nvPr/>
          </p:nvSpPr>
          <p:spPr>
            <a:xfrm>
              <a:off x="2075366" y="3807762"/>
              <a:ext cx="1194507" cy="636471"/>
            </a:xfrm>
            <a:prstGeom prst="downArrow">
              <a:avLst>
                <a:gd name="adj1" fmla="val 65625"/>
                <a:gd name="adj2" fmla="val 50000"/>
              </a:avLst>
            </a:prstGeom>
            <a:solidFill>
              <a:sysClr val="window" lastClr="FFFFFF"/>
            </a:solidFill>
            <a:ln w="25400" cap="flat" cmpd="sng" algn="ctr">
              <a:solidFill>
                <a:srgbClr val="474746"/>
              </a:solidFill>
              <a:prstDash val="solid"/>
            </a:ln>
            <a:effectLst/>
          </p:spPr>
          <p:txBody>
            <a:bodyPr spcFirstLastPara="0" vert="horz" wrap="square" lIns="0" tIns="91440" rIns="0" bIns="0"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noProof="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rPr>
                <a:t>Yes</a:t>
              </a:r>
              <a:endParaRPr kumimoji="0" lang="en-US" sz="1200" b="0" i="0" u="none" strike="noStrike" kern="0" cap="none" spc="0" normalizeH="0" baseline="0" noProof="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7" name="Freeform 46"/>
            <p:cNvSpPr/>
            <p:nvPr/>
          </p:nvSpPr>
          <p:spPr>
            <a:xfrm>
              <a:off x="7497624" y="2645543"/>
              <a:ext cx="919730" cy="1001716"/>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ysClr val="window" lastClr="FFFFFF"/>
            </a:solidFill>
            <a:ln w="25400" cap="flat" cmpd="sng" algn="ctr">
              <a:solidFill>
                <a:srgbClr val="474746"/>
              </a:solidFill>
              <a:prstDash val="solid"/>
            </a:ln>
            <a:effectLst/>
          </p:spPr>
          <p:txBody>
            <a:bodyPr spcFirstLastPara="0" vert="horz" wrap="square" lIns="0" tIns="79429" rIns="101848" bIns="79429"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noProof="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rPr>
                <a:t>No</a:t>
              </a:r>
              <a:endParaRPr kumimoji="0" lang="en-US" sz="1200" b="0" i="0" u="none" strike="noStrike" kern="0" cap="none" spc="0" normalizeH="0" baseline="0" noProof="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8" name="Down Arrow 47"/>
            <p:cNvSpPr/>
            <p:nvPr/>
          </p:nvSpPr>
          <p:spPr>
            <a:xfrm>
              <a:off x="5598612" y="3818452"/>
              <a:ext cx="1194507" cy="636471"/>
            </a:xfrm>
            <a:prstGeom prst="downArrow">
              <a:avLst>
                <a:gd name="adj1" fmla="val 65625"/>
                <a:gd name="adj2" fmla="val 50000"/>
              </a:avLst>
            </a:prstGeom>
            <a:solidFill>
              <a:sysClr val="window" lastClr="FFFFFF"/>
            </a:solidFill>
            <a:ln w="25400" cap="flat" cmpd="sng" algn="ctr">
              <a:solidFill>
                <a:srgbClr val="474746"/>
              </a:solidFill>
              <a:prstDash val="solid"/>
            </a:ln>
            <a:effectLst/>
          </p:spPr>
          <p:txBody>
            <a:bodyPr spcFirstLastPara="0" vert="horz" wrap="square" lIns="0" tIns="91440" rIns="0" bIns="0"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noProof="0">
                  <a:ln>
                    <a:noFill/>
                  </a:ln>
                  <a:effectLst/>
                  <a:uLnTx/>
                  <a:uFillTx/>
                  <a:latin typeface="Amazon Ember" panose="020B0603020204020204" pitchFamily="34" charset="0"/>
                  <a:ea typeface="Amazon Ember" panose="020B0603020204020204" pitchFamily="34" charset="0"/>
                  <a:cs typeface="Amazon Ember" panose="020B0603020204020204" pitchFamily="34" charset="0"/>
                </a:rPr>
                <a:t>Yes</a:t>
              </a:r>
              <a:endParaRPr kumimoji="0" lang="en-US" sz="1200" b="0" i="0" u="none" strike="noStrike" kern="0" cap="none" spc="0" normalizeH="0" baseline="0" noProof="0">
                <a:ln>
                  <a:noFill/>
                </a:ln>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6" name="TextBox 15">
              <a:extLst>
                <a:ext uri="{FF2B5EF4-FFF2-40B4-BE49-F238E27FC236}">
                  <a16:creationId xmlns:a16="http://schemas.microsoft.com/office/drawing/2014/main" id="{0221306B-1606-B34A-BFF7-B733BB846CE8}"/>
                </a:ext>
              </a:extLst>
            </p:cNvPr>
            <p:cNvSpPr txBox="1"/>
            <p:nvPr/>
          </p:nvSpPr>
          <p:spPr>
            <a:xfrm>
              <a:off x="8865220" y="3429000"/>
              <a:ext cx="1706136" cy="338554"/>
            </a:xfrm>
            <a:prstGeom prst="rect">
              <a:avLst/>
            </a:prstGeom>
            <a:noFill/>
          </p:spPr>
          <p:txBody>
            <a:bodyPr wrap="square" rtlCol="0">
              <a:spAutoFit/>
            </a:bodyPr>
            <a:lstStyle/>
            <a:p>
              <a:pPr algn="ctr"/>
              <a:r>
                <a:rPr lang="en-US" sz="1600" b="1"/>
                <a:t>Implicit deny</a:t>
              </a:r>
              <a:endParaRPr lang="en-US" sz="1400" b="1"/>
            </a:p>
          </p:txBody>
        </p:sp>
      </p:grpSp>
    </p:spTree>
    <p:custDataLst>
      <p:tags r:id="rId1"/>
    </p:custDataLst>
    <p:extLst>
      <p:ext uri="{BB962C8B-B14F-4D97-AF65-F5344CB8AC3E}">
        <p14:creationId xmlns:p14="http://schemas.microsoft.com/office/powerpoint/2010/main" val="598034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2E544D2-0243-9144-B283-CC358799B220}"/>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40</a:t>
            </a:fld>
            <a:endParaRPr lang="en-US"/>
          </a:p>
        </p:txBody>
      </p:sp>
      <p:sp>
        <p:nvSpPr>
          <p:cNvPr id="2" name="Title 1"/>
          <p:cNvSpPr>
            <a:spLocks noGrp="1"/>
          </p:cNvSpPr>
          <p:nvPr>
            <p:ph type="title"/>
          </p:nvPr>
        </p:nvSpPr>
        <p:spPr/>
        <p:txBody>
          <a:bodyPr>
            <a:normAutofit fontScale="90000"/>
          </a:bodyPr>
          <a:lstStyle/>
          <a:p>
            <a:r>
              <a:rPr lang="en-US"/>
              <a:t>IAM groups</a:t>
            </a:r>
          </a:p>
        </p:txBody>
      </p:sp>
      <p:sp>
        <p:nvSpPr>
          <p:cNvPr id="3" name="Content Placeholder 2"/>
          <p:cNvSpPr>
            <a:spLocks noGrp="1"/>
          </p:cNvSpPr>
          <p:nvPr>
            <p:ph sz="quarter" idx="21"/>
          </p:nvPr>
        </p:nvSpPr>
        <p:spPr>
          <a:xfrm>
            <a:off x="365760" y="1527048"/>
            <a:ext cx="5925312" cy="4645152"/>
          </a:xfrm>
        </p:spPr>
        <p:txBody>
          <a:bodyPr>
            <a:normAutofit/>
          </a:bodyPr>
          <a:lstStyle/>
          <a:p>
            <a:pPr marL="238125" lvl="1" indent="-225425">
              <a:lnSpc>
                <a:spcPct val="150000"/>
              </a:lnSpc>
            </a:pPr>
            <a:r>
              <a:rPr lang="en-US"/>
              <a:t>An </a:t>
            </a:r>
            <a:r>
              <a:rPr lang="en-US" b="1">
                <a:solidFill>
                  <a:schemeClr val="accent6"/>
                </a:solidFill>
              </a:rPr>
              <a:t>IAM group</a:t>
            </a:r>
            <a:r>
              <a:rPr lang="en-US">
                <a:solidFill>
                  <a:schemeClr val="accent6"/>
                </a:solidFill>
              </a:rPr>
              <a:t> </a:t>
            </a:r>
            <a:r>
              <a:rPr lang="en-US"/>
              <a:t>is a collection of IAM users</a:t>
            </a:r>
          </a:p>
          <a:p>
            <a:pPr marL="238125" lvl="1" indent="-225425">
              <a:lnSpc>
                <a:spcPct val="100000"/>
              </a:lnSpc>
            </a:pPr>
            <a:r>
              <a:rPr lang="en-US"/>
              <a:t>A group is used to grant the same permissions to multiple users</a:t>
            </a:r>
          </a:p>
          <a:p>
            <a:pPr marL="695325" lvl="2" indent="-225425">
              <a:lnSpc>
                <a:spcPct val="100000"/>
              </a:lnSpc>
            </a:pPr>
            <a:r>
              <a:rPr lang="en-US"/>
              <a:t>Permissions granted by attaching IAM </a:t>
            </a:r>
            <a:r>
              <a:rPr lang="en-US" i="1"/>
              <a:t>policy </a:t>
            </a:r>
            <a:r>
              <a:rPr lang="en-US"/>
              <a:t>or policies to the group</a:t>
            </a:r>
          </a:p>
          <a:p>
            <a:pPr marL="238125" lvl="1" indent="-225425">
              <a:lnSpc>
                <a:spcPct val="150000"/>
              </a:lnSpc>
            </a:pPr>
            <a:r>
              <a:rPr lang="en-US"/>
              <a:t>A user can belong to multiple groups</a:t>
            </a:r>
          </a:p>
          <a:p>
            <a:pPr marL="238125" lvl="1" indent="-225425">
              <a:lnSpc>
                <a:spcPct val="150000"/>
              </a:lnSpc>
            </a:pPr>
            <a:r>
              <a:rPr lang="en-US"/>
              <a:t>There is no default group</a:t>
            </a:r>
          </a:p>
          <a:p>
            <a:pPr marL="238125" lvl="1" indent="-225425">
              <a:lnSpc>
                <a:spcPct val="150000"/>
              </a:lnSpc>
            </a:pPr>
            <a:r>
              <a:rPr lang="en-US"/>
              <a:t>Groups cannot be nested</a:t>
            </a:r>
          </a:p>
        </p:txBody>
      </p:sp>
      <p:grpSp>
        <p:nvGrpSpPr>
          <p:cNvPr id="4" name="Group 3" descr="An AWS Account with three IAM groups defined (Admins, Developers, and Testers). Each group has two or three users as members.">
            <a:extLst>
              <a:ext uri="{FF2B5EF4-FFF2-40B4-BE49-F238E27FC236}">
                <a16:creationId xmlns:a16="http://schemas.microsoft.com/office/drawing/2014/main" id="{F995F3A1-EFF6-982D-2617-C40E1CAD9392}"/>
              </a:ext>
            </a:extLst>
          </p:cNvPr>
          <p:cNvGrpSpPr/>
          <p:nvPr/>
        </p:nvGrpSpPr>
        <p:grpSpPr>
          <a:xfrm>
            <a:off x="6540500" y="1599188"/>
            <a:ext cx="5009791" cy="3493072"/>
            <a:chOff x="6540500" y="1599188"/>
            <a:chExt cx="5009791" cy="3493072"/>
          </a:xfrm>
        </p:grpSpPr>
        <p:pic>
          <p:nvPicPr>
            <p:cNvPr id="30" name="Graphic 29">
              <a:extLst>
                <a:ext uri="{FF2B5EF4-FFF2-40B4-BE49-F238E27FC236}">
                  <a16:creationId xmlns:a16="http://schemas.microsoft.com/office/drawing/2014/main" id="{066B2145-CAC3-4941-9D02-40AA94A1077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82762" y="1599188"/>
              <a:ext cx="740597" cy="740597"/>
            </a:xfrm>
            <a:prstGeom prst="rect">
              <a:avLst/>
            </a:prstGeom>
          </p:spPr>
        </p:pic>
        <p:sp>
          <p:nvSpPr>
            <p:cNvPr id="34" name="TextBox 33">
              <a:extLst>
                <a:ext uri="{FF2B5EF4-FFF2-40B4-BE49-F238E27FC236}">
                  <a16:creationId xmlns:a16="http://schemas.microsoft.com/office/drawing/2014/main" id="{8BEFED3A-4F1B-3242-BA7E-651C715DDC4F}"/>
                </a:ext>
              </a:extLst>
            </p:cNvPr>
            <p:cNvSpPr txBox="1"/>
            <p:nvPr/>
          </p:nvSpPr>
          <p:spPr>
            <a:xfrm>
              <a:off x="8623581" y="1851261"/>
              <a:ext cx="1364961" cy="584775"/>
            </a:xfrm>
            <a:prstGeom prst="rect">
              <a:avLst/>
            </a:prstGeom>
            <a:noFill/>
          </p:spPr>
          <p:txBody>
            <a:bodyPr wrap="square" rtlCol="0">
              <a:spAutoFit/>
            </a:bodyPr>
            <a:lstStyle/>
            <a:p>
              <a:pPr algn="ctr"/>
              <a:r>
                <a:rPr lang="en-US" sz="1600" b="1"/>
                <a:t>AWS account</a:t>
              </a:r>
            </a:p>
          </p:txBody>
        </p:sp>
        <p:sp>
          <p:nvSpPr>
            <p:cNvPr id="17" name="TextBox 16">
              <a:extLst>
                <a:ext uri="{FF2B5EF4-FFF2-40B4-BE49-F238E27FC236}">
                  <a16:creationId xmlns:a16="http://schemas.microsoft.com/office/drawing/2014/main" id="{90C9B844-4EA4-1742-A219-EEC21786B82F}"/>
                </a:ext>
              </a:extLst>
            </p:cNvPr>
            <p:cNvSpPr txBox="1"/>
            <p:nvPr/>
          </p:nvSpPr>
          <p:spPr>
            <a:xfrm>
              <a:off x="6668743" y="2750456"/>
              <a:ext cx="1396649" cy="584775"/>
            </a:xfrm>
            <a:prstGeom prst="rect">
              <a:avLst/>
            </a:prstGeom>
            <a:solidFill>
              <a:schemeClr val="accent5">
                <a:lumMod val="20000"/>
                <a:lumOff val="80000"/>
              </a:schemeClr>
            </a:solidFill>
            <a:ln>
              <a:solidFill>
                <a:schemeClr val="accent1">
                  <a:shade val="50000"/>
                </a:schemeClr>
              </a:solidFill>
            </a:ln>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IAM group:</a:t>
              </a:r>
            </a:p>
            <a:p>
              <a:pPr algn="ctr"/>
              <a:r>
                <a:rPr lang="en-US" sz="1600" b="1">
                  <a:latin typeface="Amazon Ember Light" panose="020B0403020204020204" pitchFamily="34" charset="0"/>
                  <a:ea typeface="Amazon Ember Light" panose="020B0403020204020204" pitchFamily="34" charset="0"/>
                  <a:cs typeface="Amazon Ember Light" panose="020B0403020204020204" pitchFamily="34" charset="0"/>
                </a:rPr>
                <a:t>Admins</a:t>
              </a:r>
            </a:p>
          </p:txBody>
        </p:sp>
        <p:sp>
          <p:nvSpPr>
            <p:cNvPr id="85" name="TextBox 84">
              <a:extLst>
                <a:ext uri="{FF2B5EF4-FFF2-40B4-BE49-F238E27FC236}">
                  <a16:creationId xmlns:a16="http://schemas.microsoft.com/office/drawing/2014/main" id="{142E8CF6-04AA-4D49-8F61-D0A17CE3A779}"/>
                </a:ext>
              </a:extLst>
            </p:cNvPr>
            <p:cNvSpPr txBox="1"/>
            <p:nvPr/>
          </p:nvSpPr>
          <p:spPr>
            <a:xfrm>
              <a:off x="6540500" y="3549969"/>
              <a:ext cx="1653134" cy="338554"/>
            </a:xfrm>
            <a:prstGeom prst="rect">
              <a:avLst/>
            </a:prstGeom>
            <a:noFill/>
            <a:ln>
              <a:solidFill>
                <a:schemeClr val="accent1">
                  <a:shade val="50000"/>
                </a:schemeClr>
              </a:solidFill>
            </a:ln>
          </p:spPr>
          <p:txBody>
            <a:bodyPr wrap="none" rtlCol="0">
              <a:noAutofit/>
            </a:bodyPr>
            <a:lstStyle/>
            <a:p>
              <a:pPr algn="ctr"/>
              <a:r>
                <a:rPr lang="en-US"/>
                <a:t>Carlos Salazar</a:t>
              </a:r>
            </a:p>
          </p:txBody>
        </p:sp>
        <p:sp>
          <p:nvSpPr>
            <p:cNvPr id="86" name="TextBox 85">
              <a:extLst>
                <a:ext uri="{FF2B5EF4-FFF2-40B4-BE49-F238E27FC236}">
                  <a16:creationId xmlns:a16="http://schemas.microsoft.com/office/drawing/2014/main" id="{28821B09-4B05-FD41-BE13-CA347103E6F3}"/>
                </a:ext>
              </a:extLst>
            </p:cNvPr>
            <p:cNvSpPr txBox="1"/>
            <p:nvPr/>
          </p:nvSpPr>
          <p:spPr>
            <a:xfrm>
              <a:off x="6540500" y="4150792"/>
              <a:ext cx="1653134" cy="338554"/>
            </a:xfrm>
            <a:prstGeom prst="rect">
              <a:avLst/>
            </a:prstGeom>
            <a:noFill/>
            <a:ln>
              <a:solidFill>
                <a:schemeClr val="accent1">
                  <a:shade val="50000"/>
                </a:schemeClr>
              </a:solidFill>
            </a:ln>
          </p:spPr>
          <p:txBody>
            <a:bodyPr wrap="none" rtlCol="0">
              <a:noAutofit/>
            </a:bodyPr>
            <a:lstStyle/>
            <a:p>
              <a:pPr algn="ctr"/>
              <a:r>
                <a:rPr lang="en-US"/>
                <a:t>Márcia Oliveira</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8" name="TextBox 87">
              <a:extLst>
                <a:ext uri="{FF2B5EF4-FFF2-40B4-BE49-F238E27FC236}">
                  <a16:creationId xmlns:a16="http://schemas.microsoft.com/office/drawing/2014/main" id="{F0F13199-A3F2-424B-BA5F-9A4E5AEA6419}"/>
                </a:ext>
              </a:extLst>
            </p:cNvPr>
            <p:cNvSpPr txBox="1"/>
            <p:nvPr/>
          </p:nvSpPr>
          <p:spPr>
            <a:xfrm>
              <a:off x="8419623" y="3549818"/>
              <a:ext cx="1371600" cy="338554"/>
            </a:xfrm>
            <a:prstGeom prst="rect">
              <a:avLst/>
            </a:prstGeom>
            <a:noFill/>
            <a:ln>
              <a:solidFill>
                <a:schemeClr val="accent1">
                  <a:shade val="50000"/>
                </a:schemeClr>
              </a:solidFill>
            </a:ln>
          </p:spPr>
          <p:txBody>
            <a:bodyPr wrap="none" rtlCol="0">
              <a:noAutofit/>
            </a:bodyPr>
            <a:lstStyle/>
            <a:p>
              <a:pPr algn="ctr"/>
              <a:r>
                <a:rPr lang="en-US"/>
                <a:t>Li Juan</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9" name="TextBox 88">
              <a:extLst>
                <a:ext uri="{FF2B5EF4-FFF2-40B4-BE49-F238E27FC236}">
                  <a16:creationId xmlns:a16="http://schemas.microsoft.com/office/drawing/2014/main" id="{630A0B66-2323-F64B-835E-27873E3FB6CB}"/>
                </a:ext>
              </a:extLst>
            </p:cNvPr>
            <p:cNvSpPr txBox="1"/>
            <p:nvPr/>
          </p:nvSpPr>
          <p:spPr>
            <a:xfrm>
              <a:off x="8400832" y="4150792"/>
              <a:ext cx="1371600" cy="338554"/>
            </a:xfrm>
            <a:prstGeom prst="rect">
              <a:avLst/>
            </a:prstGeom>
            <a:noFill/>
            <a:ln>
              <a:solidFill>
                <a:schemeClr val="accent1">
                  <a:shade val="50000"/>
                </a:schemeClr>
              </a:solidFill>
            </a:ln>
          </p:spPr>
          <p:txBody>
            <a:bodyPr wrap="none" rtlCol="0">
              <a:noAutofit/>
            </a:bodyPr>
            <a:lstStyle/>
            <a:p>
              <a:pPr algn="ctr"/>
              <a:r>
                <a:rPr lang="en-US"/>
                <a:t>Mary Major</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0" name="TextBox 89">
              <a:extLst>
                <a:ext uri="{FF2B5EF4-FFF2-40B4-BE49-F238E27FC236}">
                  <a16:creationId xmlns:a16="http://schemas.microsoft.com/office/drawing/2014/main" id="{B15377B5-5BD5-4243-9C7F-A8CAF31FC406}"/>
                </a:ext>
              </a:extLst>
            </p:cNvPr>
            <p:cNvSpPr txBox="1"/>
            <p:nvPr/>
          </p:nvSpPr>
          <p:spPr>
            <a:xfrm>
              <a:off x="8419623" y="4753706"/>
              <a:ext cx="1371600" cy="338554"/>
            </a:xfrm>
            <a:prstGeom prst="rect">
              <a:avLst/>
            </a:prstGeom>
            <a:noFill/>
            <a:ln>
              <a:solidFill>
                <a:schemeClr val="accent1">
                  <a:shade val="50000"/>
                </a:schemeClr>
              </a:solidFill>
            </a:ln>
          </p:spPr>
          <p:txBody>
            <a:bodyPr wrap="none" rtlCol="0">
              <a:noAutofit/>
            </a:bodyPr>
            <a:lstStyle/>
            <a:p>
              <a:pPr algn="ctr"/>
              <a:r>
                <a:rPr lang="en-US"/>
                <a:t>Richard Roe</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2" name="TextBox 91">
              <a:extLst>
                <a:ext uri="{FF2B5EF4-FFF2-40B4-BE49-F238E27FC236}">
                  <a16:creationId xmlns:a16="http://schemas.microsoft.com/office/drawing/2014/main" id="{1DB72958-4F4B-7C4D-B96D-CC83925EE0A3}"/>
                </a:ext>
              </a:extLst>
            </p:cNvPr>
            <p:cNvSpPr txBox="1"/>
            <p:nvPr/>
          </p:nvSpPr>
          <p:spPr>
            <a:xfrm>
              <a:off x="10168636" y="3549818"/>
              <a:ext cx="1371600" cy="338554"/>
            </a:xfrm>
            <a:prstGeom prst="rect">
              <a:avLst/>
            </a:prstGeom>
            <a:noFill/>
            <a:ln>
              <a:solidFill>
                <a:schemeClr val="accent1">
                  <a:shade val="50000"/>
                </a:schemeClr>
              </a:solidFill>
            </a:ln>
          </p:spPr>
          <p:txBody>
            <a:bodyPr wrap="none" rtlCol="0">
              <a:noAutofit/>
            </a:bodyPr>
            <a:lstStyle/>
            <a:p>
              <a:pPr algn="ctr"/>
              <a:r>
                <a:rPr lang="en-US"/>
                <a:t>Zhang Wei</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3" name="TextBox 92">
              <a:extLst>
                <a:ext uri="{FF2B5EF4-FFF2-40B4-BE49-F238E27FC236}">
                  <a16:creationId xmlns:a16="http://schemas.microsoft.com/office/drawing/2014/main" id="{1076B15C-8D15-A743-84AA-4593084C771F}"/>
                </a:ext>
              </a:extLst>
            </p:cNvPr>
            <p:cNvSpPr txBox="1"/>
            <p:nvPr/>
          </p:nvSpPr>
          <p:spPr>
            <a:xfrm>
              <a:off x="10168636" y="4131346"/>
              <a:ext cx="1371600" cy="338554"/>
            </a:xfrm>
            <a:prstGeom prst="rect">
              <a:avLst/>
            </a:prstGeom>
            <a:noFill/>
            <a:ln>
              <a:solidFill>
                <a:schemeClr val="accent1">
                  <a:shade val="50000"/>
                </a:schemeClr>
              </a:solidFill>
            </a:ln>
          </p:spPr>
          <p:txBody>
            <a:bodyPr wrap="none" rtlCol="0">
              <a:noAutofit/>
            </a:bodyPr>
            <a:lstStyle/>
            <a:p>
              <a:pPr algn="ctr"/>
              <a:r>
                <a:rPr lang="en-US"/>
                <a:t>John Stiles</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4" name="TextBox 93">
              <a:extLst>
                <a:ext uri="{FF2B5EF4-FFF2-40B4-BE49-F238E27FC236}">
                  <a16:creationId xmlns:a16="http://schemas.microsoft.com/office/drawing/2014/main" id="{CBCE4D4F-85FF-6E41-8AE8-D274F5C5A75D}"/>
                </a:ext>
              </a:extLst>
            </p:cNvPr>
            <p:cNvSpPr txBox="1"/>
            <p:nvPr/>
          </p:nvSpPr>
          <p:spPr>
            <a:xfrm>
              <a:off x="10168636" y="4745333"/>
              <a:ext cx="1371600" cy="338554"/>
            </a:xfrm>
            <a:prstGeom prst="rect">
              <a:avLst/>
            </a:prstGeom>
            <a:noFill/>
            <a:ln>
              <a:solidFill>
                <a:schemeClr val="accent1">
                  <a:shade val="50000"/>
                </a:schemeClr>
              </a:solidFill>
            </a:ln>
          </p:spPr>
          <p:txBody>
            <a:bodyPr wrap="none" rtlCol="0">
              <a:noAutofit/>
            </a:bodyPr>
            <a:lstStyle/>
            <a:p>
              <a:pPr algn="ctr"/>
              <a:r>
                <a:rPr lang="en-US"/>
                <a:t>Li Juan</a:t>
              </a: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5" name="TextBox 94">
              <a:extLst>
                <a:ext uri="{FF2B5EF4-FFF2-40B4-BE49-F238E27FC236}">
                  <a16:creationId xmlns:a16="http://schemas.microsoft.com/office/drawing/2014/main" id="{41009256-AF7B-3D44-A977-041B3A1ECCFE}"/>
                </a:ext>
              </a:extLst>
            </p:cNvPr>
            <p:cNvSpPr txBox="1"/>
            <p:nvPr/>
          </p:nvSpPr>
          <p:spPr>
            <a:xfrm>
              <a:off x="8404629" y="2750456"/>
              <a:ext cx="1396649" cy="584775"/>
            </a:xfrm>
            <a:prstGeom prst="rect">
              <a:avLst/>
            </a:prstGeom>
            <a:solidFill>
              <a:schemeClr val="accent5">
                <a:lumMod val="20000"/>
                <a:lumOff val="80000"/>
              </a:schemeClr>
            </a:solidFill>
            <a:ln>
              <a:solidFill>
                <a:schemeClr val="accent1">
                  <a:shade val="50000"/>
                </a:schemeClr>
              </a:solidFill>
            </a:ln>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IAM group:</a:t>
              </a:r>
            </a:p>
            <a:p>
              <a:pPr algn="ctr"/>
              <a:r>
                <a:rPr lang="en-US" sz="1600" b="1">
                  <a:latin typeface="Amazon Ember Light" panose="020B0403020204020204" pitchFamily="34" charset="0"/>
                  <a:ea typeface="Amazon Ember Light" panose="020B0403020204020204" pitchFamily="34" charset="0"/>
                  <a:cs typeface="Amazon Ember Light" panose="020B0403020204020204" pitchFamily="34" charset="0"/>
                </a:rPr>
                <a:t>Developers</a:t>
              </a:r>
            </a:p>
          </p:txBody>
        </p:sp>
        <p:sp>
          <p:nvSpPr>
            <p:cNvPr id="96" name="TextBox 95">
              <a:extLst>
                <a:ext uri="{FF2B5EF4-FFF2-40B4-BE49-F238E27FC236}">
                  <a16:creationId xmlns:a16="http://schemas.microsoft.com/office/drawing/2014/main" id="{EF0686A0-B84D-7742-A828-762096AC8EE0}"/>
                </a:ext>
              </a:extLst>
            </p:cNvPr>
            <p:cNvSpPr txBox="1"/>
            <p:nvPr/>
          </p:nvSpPr>
          <p:spPr>
            <a:xfrm>
              <a:off x="10153642" y="2750456"/>
              <a:ext cx="1396649" cy="584775"/>
            </a:xfrm>
            <a:prstGeom prst="rect">
              <a:avLst/>
            </a:prstGeom>
            <a:solidFill>
              <a:schemeClr val="accent5">
                <a:lumMod val="20000"/>
                <a:lumOff val="80000"/>
              </a:schemeClr>
            </a:solidFill>
            <a:ln>
              <a:solidFill>
                <a:schemeClr val="accent1">
                  <a:shade val="50000"/>
                </a:schemeClr>
              </a:solidFill>
            </a:ln>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IAM group:</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Testers</a:t>
              </a:r>
            </a:p>
          </p:txBody>
        </p:sp>
        <p:cxnSp>
          <p:nvCxnSpPr>
            <p:cNvPr id="19" name="Straight Connector 18">
              <a:extLst>
                <a:ext uri="{FF2B5EF4-FFF2-40B4-BE49-F238E27FC236}">
                  <a16:creationId xmlns:a16="http://schemas.microsoft.com/office/drawing/2014/main" id="{6B6949D7-98F2-434C-8A28-DED29B9A0562}"/>
                </a:ext>
              </a:extLst>
            </p:cNvPr>
            <p:cNvCxnSpPr>
              <a:stCxn id="17" idx="2"/>
              <a:endCxn id="85" idx="0"/>
            </p:cNvCxnSpPr>
            <p:nvPr/>
          </p:nvCxnSpPr>
          <p:spPr>
            <a:xfrm flipH="1">
              <a:off x="7367067" y="3335231"/>
              <a:ext cx="1" cy="214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8958F31-FD0C-E241-AA1D-ECB3FA86560D}"/>
                </a:ext>
              </a:extLst>
            </p:cNvPr>
            <p:cNvCxnSpPr>
              <a:stCxn id="95" idx="2"/>
              <a:endCxn id="88" idx="0"/>
            </p:cNvCxnSpPr>
            <p:nvPr/>
          </p:nvCxnSpPr>
          <p:spPr>
            <a:xfrm>
              <a:off x="9102954" y="3335231"/>
              <a:ext cx="2469" cy="214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CBB058-9A07-884F-A855-21B10309BDE9}"/>
                </a:ext>
              </a:extLst>
            </p:cNvPr>
            <p:cNvCxnSpPr>
              <a:stCxn id="96" idx="2"/>
              <a:endCxn id="92" idx="0"/>
            </p:cNvCxnSpPr>
            <p:nvPr/>
          </p:nvCxnSpPr>
          <p:spPr>
            <a:xfrm>
              <a:off x="10851967" y="3335231"/>
              <a:ext cx="2469" cy="214587"/>
            </a:xfrm>
            <a:prstGeom prst="line">
              <a:avLst/>
            </a:prstGeom>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9406723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A5159F-880E-4146-A937-036EDCACD017}"/>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41</a:t>
            </a:fld>
            <a:endParaRPr lang="en-US"/>
          </a:p>
        </p:txBody>
      </p:sp>
      <p:sp>
        <p:nvSpPr>
          <p:cNvPr id="7" name="Title 6">
            <a:extLst>
              <a:ext uri="{FF2B5EF4-FFF2-40B4-BE49-F238E27FC236}">
                <a16:creationId xmlns:a16="http://schemas.microsoft.com/office/drawing/2014/main" id="{FF6A01E8-560D-0148-9E8E-78BC8FCAAF43}"/>
              </a:ext>
            </a:extLst>
          </p:cNvPr>
          <p:cNvSpPr>
            <a:spLocks noGrp="1"/>
          </p:cNvSpPr>
          <p:nvPr>
            <p:ph type="title"/>
          </p:nvPr>
        </p:nvSpPr>
        <p:spPr/>
        <p:txBody>
          <a:bodyPr>
            <a:normAutofit fontScale="90000"/>
          </a:bodyPr>
          <a:lstStyle/>
          <a:p>
            <a:r>
              <a:rPr lang="en-US"/>
              <a:t>IAM roles</a:t>
            </a:r>
          </a:p>
        </p:txBody>
      </p:sp>
      <p:sp>
        <p:nvSpPr>
          <p:cNvPr id="8" name="Content Placeholder 7">
            <a:extLst>
              <a:ext uri="{FF2B5EF4-FFF2-40B4-BE49-F238E27FC236}">
                <a16:creationId xmlns:a16="http://schemas.microsoft.com/office/drawing/2014/main" id="{63B2245D-7705-9A4B-BDC7-EB3E2743BD57}"/>
              </a:ext>
            </a:extLst>
          </p:cNvPr>
          <p:cNvSpPr>
            <a:spLocks noGrp="1"/>
          </p:cNvSpPr>
          <p:nvPr>
            <p:ph sz="quarter" idx="21"/>
          </p:nvPr>
        </p:nvSpPr>
        <p:spPr/>
        <p:txBody>
          <a:bodyPr>
            <a:normAutofit/>
          </a:bodyPr>
          <a:lstStyle/>
          <a:p>
            <a:r>
              <a:rPr lang="en-US"/>
              <a:t>An </a:t>
            </a:r>
            <a:r>
              <a:rPr lang="en-US" b="1">
                <a:solidFill>
                  <a:schemeClr val="accent6"/>
                </a:solidFill>
              </a:rPr>
              <a:t>IAM role </a:t>
            </a:r>
            <a:r>
              <a:rPr lang="en-US"/>
              <a:t>is an IAM identity with specific permissions</a:t>
            </a:r>
          </a:p>
          <a:p>
            <a:r>
              <a:rPr lang="en-US"/>
              <a:t>Similar to an IAM user</a:t>
            </a:r>
          </a:p>
          <a:p>
            <a:pPr lvl="1"/>
            <a:r>
              <a:rPr lang="en-US" sz="2000"/>
              <a:t>Attach permissions policies to it</a:t>
            </a:r>
          </a:p>
          <a:p>
            <a:r>
              <a:rPr lang="en-US"/>
              <a:t>Different from an IAM user </a:t>
            </a:r>
          </a:p>
          <a:p>
            <a:pPr lvl="1"/>
            <a:r>
              <a:rPr lang="en-US" sz="2000"/>
              <a:t>Not uniquely associated with one person</a:t>
            </a:r>
          </a:p>
          <a:p>
            <a:pPr lvl="1"/>
            <a:r>
              <a:rPr lang="en-US" sz="2000"/>
              <a:t>Intended to be </a:t>
            </a:r>
            <a:r>
              <a:rPr lang="en-US" sz="2000" i="1">
                <a:solidFill>
                  <a:schemeClr val="accent5"/>
                </a:solidFill>
              </a:rPr>
              <a:t>assumable</a:t>
            </a:r>
            <a:r>
              <a:rPr lang="en-US" sz="2000"/>
              <a:t> by a </a:t>
            </a:r>
            <a:r>
              <a:rPr lang="en-US" sz="2000" b="1">
                <a:solidFill>
                  <a:schemeClr val="accent6"/>
                </a:solidFill>
              </a:rPr>
              <a:t>person</a:t>
            </a:r>
            <a:r>
              <a:rPr lang="en-US" sz="2000"/>
              <a:t>, </a:t>
            </a:r>
            <a:r>
              <a:rPr lang="en-US" sz="2000" b="1">
                <a:solidFill>
                  <a:schemeClr val="accent6"/>
                </a:solidFill>
              </a:rPr>
              <a:t>application</a:t>
            </a:r>
            <a:r>
              <a:rPr lang="en-US" sz="2000"/>
              <a:t>, or </a:t>
            </a:r>
            <a:r>
              <a:rPr lang="en-US" sz="2000" b="1">
                <a:solidFill>
                  <a:schemeClr val="accent6"/>
                </a:solidFill>
              </a:rPr>
              <a:t>service</a:t>
            </a:r>
            <a:endParaRPr lang="en-US">
              <a:solidFill>
                <a:schemeClr val="accent6"/>
              </a:solidFill>
            </a:endParaRPr>
          </a:p>
          <a:p>
            <a:r>
              <a:rPr lang="en-US"/>
              <a:t>Role provides </a:t>
            </a:r>
            <a:r>
              <a:rPr lang="en-US" i="1">
                <a:solidFill>
                  <a:schemeClr val="accent5"/>
                </a:solidFill>
              </a:rPr>
              <a:t>temporary</a:t>
            </a:r>
            <a:r>
              <a:rPr lang="en-US"/>
              <a:t> security credentials </a:t>
            </a:r>
          </a:p>
          <a:p>
            <a:r>
              <a:rPr lang="en-US"/>
              <a:t>Examples of how IAM roles are used to </a:t>
            </a:r>
            <a:r>
              <a:rPr lang="en-US" b="1">
                <a:solidFill>
                  <a:schemeClr val="accent6"/>
                </a:solidFill>
              </a:rPr>
              <a:t>delegate</a:t>
            </a:r>
            <a:r>
              <a:rPr lang="en-US"/>
              <a:t> access – </a:t>
            </a:r>
          </a:p>
          <a:p>
            <a:pPr lvl="1"/>
            <a:r>
              <a:rPr lang="en-US" sz="2000"/>
              <a:t>Used by an IAM user in the same AWS account as the role </a:t>
            </a:r>
          </a:p>
          <a:p>
            <a:pPr lvl="1"/>
            <a:r>
              <a:rPr lang="en-US" sz="2000"/>
              <a:t>Used by an AWS service—such as Amazon EC2—in the same account as the role</a:t>
            </a:r>
          </a:p>
          <a:p>
            <a:pPr lvl="1"/>
            <a:r>
              <a:rPr lang="en-US" sz="2000"/>
              <a:t>Used by an IAM user in a different AWS account than the role</a:t>
            </a:r>
          </a:p>
        </p:txBody>
      </p:sp>
      <p:sp>
        <p:nvSpPr>
          <p:cNvPr id="10" name="TextBox 9">
            <a:extLst>
              <a:ext uri="{FF2B5EF4-FFF2-40B4-BE49-F238E27FC236}">
                <a16:creationId xmlns:a16="http://schemas.microsoft.com/office/drawing/2014/main" id="{39650093-E147-004A-A7E4-AD0571DA1596}"/>
              </a:ext>
            </a:extLst>
          </p:cNvPr>
          <p:cNvSpPr txBox="1"/>
          <p:nvPr/>
        </p:nvSpPr>
        <p:spPr>
          <a:xfrm>
            <a:off x="10201875" y="2688026"/>
            <a:ext cx="1571025" cy="338554"/>
          </a:xfrm>
          <a:prstGeom prst="rect">
            <a:avLst/>
          </a:prstGeom>
          <a:noFill/>
        </p:spPr>
        <p:txBody>
          <a:bodyPr wrap="square" rtlCol="0">
            <a:spAutoFit/>
          </a:bodyPr>
          <a:lstStyle/>
          <a:p>
            <a:pPr algn="ctr"/>
            <a:r>
              <a:rPr lang="en-US" sz="1600" b="1"/>
              <a:t>IAM role</a:t>
            </a:r>
          </a:p>
        </p:txBody>
      </p:sp>
      <p:pic>
        <p:nvPicPr>
          <p:cNvPr id="9" name="Graphic 8">
            <a:extLst>
              <a:ext uri="{FF2B5EF4-FFF2-40B4-BE49-F238E27FC236}">
                <a16:creationId xmlns:a16="http://schemas.microsoft.com/office/drawing/2014/main" id="{D465B365-4F51-444B-99E8-8936E75A5F5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72928" y="1821668"/>
            <a:ext cx="994748" cy="994748"/>
          </a:xfrm>
          <a:prstGeom prst="rect">
            <a:avLst/>
          </a:prstGeom>
        </p:spPr>
      </p:pic>
    </p:spTree>
    <p:custDataLst>
      <p:tags r:id="rId1"/>
    </p:custDataLst>
    <p:extLst>
      <p:ext uri="{BB962C8B-B14F-4D97-AF65-F5344CB8AC3E}">
        <p14:creationId xmlns:p14="http://schemas.microsoft.com/office/powerpoint/2010/main" val="31827860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C3E2C2-D781-D342-BF87-1DAE86B96FD1}"/>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42</a:t>
            </a:fld>
            <a:endParaRPr lang="en-US"/>
          </a:p>
        </p:txBody>
      </p:sp>
      <p:sp>
        <p:nvSpPr>
          <p:cNvPr id="2" name="Title 1">
            <a:extLst>
              <a:ext uri="{FF2B5EF4-FFF2-40B4-BE49-F238E27FC236}">
                <a16:creationId xmlns:a16="http://schemas.microsoft.com/office/drawing/2014/main" id="{A7D0B966-2A75-3441-A3F3-744B043BF4AE}"/>
              </a:ext>
            </a:extLst>
          </p:cNvPr>
          <p:cNvSpPr>
            <a:spLocks noGrp="1"/>
          </p:cNvSpPr>
          <p:nvPr>
            <p:ph type="title"/>
          </p:nvPr>
        </p:nvSpPr>
        <p:spPr/>
        <p:txBody>
          <a:bodyPr>
            <a:normAutofit fontScale="90000"/>
          </a:bodyPr>
          <a:lstStyle/>
          <a:p>
            <a:r>
              <a:rPr lang="en-US"/>
              <a:t>Example use of an IAM role</a:t>
            </a:r>
          </a:p>
        </p:txBody>
      </p:sp>
      <p:sp>
        <p:nvSpPr>
          <p:cNvPr id="3" name="Content Placeholder 2">
            <a:extLst>
              <a:ext uri="{FF2B5EF4-FFF2-40B4-BE49-F238E27FC236}">
                <a16:creationId xmlns:a16="http://schemas.microsoft.com/office/drawing/2014/main" id="{C42A5133-5791-384E-8F8A-B3FBDC54F030}"/>
              </a:ext>
            </a:extLst>
          </p:cNvPr>
          <p:cNvSpPr>
            <a:spLocks noGrp="1"/>
          </p:cNvSpPr>
          <p:nvPr>
            <p:ph sz="quarter" idx="21"/>
          </p:nvPr>
        </p:nvSpPr>
        <p:spPr>
          <a:xfrm>
            <a:off x="365760" y="1527048"/>
            <a:ext cx="4517136" cy="4645152"/>
          </a:xfrm>
        </p:spPr>
        <p:txBody>
          <a:bodyPr/>
          <a:lstStyle/>
          <a:p>
            <a:pPr marL="0" indent="0">
              <a:buNone/>
            </a:pPr>
            <a:r>
              <a:rPr lang="en-US" sz="2400" b="1">
                <a:solidFill>
                  <a:schemeClr val="accent5"/>
                </a:solidFill>
              </a:rPr>
              <a:t>Scenario</a:t>
            </a:r>
            <a:r>
              <a:rPr lang="en-US" sz="2400"/>
              <a:t>: </a:t>
            </a:r>
          </a:p>
          <a:p>
            <a:r>
              <a:rPr lang="en-US" sz="1800"/>
              <a:t>An application that runs on an EC2 instance needs access to an S3 bucket</a:t>
            </a:r>
          </a:p>
          <a:p>
            <a:pPr marL="0" indent="0">
              <a:buNone/>
            </a:pPr>
            <a:endParaRPr lang="en-US" sz="2400"/>
          </a:p>
          <a:p>
            <a:pPr marL="0" indent="0">
              <a:buNone/>
            </a:pPr>
            <a:r>
              <a:rPr lang="en-US" sz="2400" b="1">
                <a:solidFill>
                  <a:schemeClr val="accent6"/>
                </a:solidFill>
              </a:rPr>
              <a:t>Solution</a:t>
            </a:r>
            <a:r>
              <a:rPr lang="en-US" sz="2400"/>
              <a:t>:</a:t>
            </a:r>
          </a:p>
          <a:p>
            <a:r>
              <a:rPr lang="en-US" sz="1800"/>
              <a:t>Define an IAM policy that grants access to the S3 bucket. </a:t>
            </a:r>
          </a:p>
          <a:p>
            <a:r>
              <a:rPr lang="en-US" sz="1800"/>
              <a:t>Attach the policy to a role</a:t>
            </a:r>
          </a:p>
          <a:p>
            <a:r>
              <a:rPr lang="en-US" sz="1800"/>
              <a:t>Allow the EC2 instance to assume the role</a:t>
            </a:r>
          </a:p>
        </p:txBody>
      </p:sp>
      <p:grpSp>
        <p:nvGrpSpPr>
          <p:cNvPr id="5" name="Group 4" descr="IAM policy attached to an IAM role assumed by  an EC2 instance running an application. The application must access an S3 bucket, and it can, because of the attached permissions.">
            <a:extLst>
              <a:ext uri="{FF2B5EF4-FFF2-40B4-BE49-F238E27FC236}">
                <a16:creationId xmlns:a16="http://schemas.microsoft.com/office/drawing/2014/main" id="{38D9640F-4C24-D1AB-AAD4-40A30B324B3A}"/>
              </a:ext>
            </a:extLst>
          </p:cNvPr>
          <p:cNvGrpSpPr/>
          <p:nvPr/>
        </p:nvGrpSpPr>
        <p:grpSpPr>
          <a:xfrm>
            <a:off x="5405119" y="1690841"/>
            <a:ext cx="5999163" cy="4231171"/>
            <a:chOff x="5405119" y="1690841"/>
            <a:chExt cx="5999163" cy="4231171"/>
          </a:xfrm>
        </p:grpSpPr>
        <p:sp>
          <p:nvSpPr>
            <p:cNvPr id="6" name="Rectangle 5">
              <a:extLst>
                <a:ext uri="{FF2B5EF4-FFF2-40B4-BE49-F238E27FC236}">
                  <a16:creationId xmlns:a16="http://schemas.microsoft.com/office/drawing/2014/main" id="{2727BDAF-99EE-5049-93DE-8D132CF1872D}"/>
                </a:ext>
              </a:extLst>
            </p:cNvPr>
            <p:cNvSpPr/>
            <p:nvPr/>
          </p:nvSpPr>
          <p:spPr>
            <a:xfrm>
              <a:off x="5405119" y="1690841"/>
              <a:ext cx="5999163" cy="418552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8" name="Graphic 7">
              <a:extLst>
                <a:ext uri="{FF2B5EF4-FFF2-40B4-BE49-F238E27FC236}">
                  <a16:creationId xmlns:a16="http://schemas.microsoft.com/office/drawing/2014/main" id="{9AACEB7D-450D-3746-A732-3D9922B7161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05119" y="1690842"/>
              <a:ext cx="384176" cy="384176"/>
            </a:xfrm>
            <a:prstGeom prst="rect">
              <a:avLst/>
            </a:prstGeom>
          </p:spPr>
        </p:pic>
        <p:pic>
          <p:nvPicPr>
            <p:cNvPr id="10" name="Graphic 9">
              <a:extLst>
                <a:ext uri="{FF2B5EF4-FFF2-40B4-BE49-F238E27FC236}">
                  <a16:creationId xmlns:a16="http://schemas.microsoft.com/office/drawing/2014/main" id="{7B05586E-94D1-9A49-A2DA-A0F76AB4FB1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65148" y="2450035"/>
              <a:ext cx="469900" cy="469900"/>
            </a:xfrm>
            <a:prstGeom prst="rect">
              <a:avLst/>
            </a:prstGeom>
          </p:spPr>
        </p:pic>
        <p:pic>
          <p:nvPicPr>
            <p:cNvPr id="11" name="Picture 10">
              <a:extLst>
                <a:ext uri="{FF2B5EF4-FFF2-40B4-BE49-F238E27FC236}">
                  <a16:creationId xmlns:a16="http://schemas.microsoft.com/office/drawing/2014/main" id="{297076F4-DA0D-AB42-9657-8515853157B5}"/>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330298" y="3001595"/>
              <a:ext cx="496301" cy="469900"/>
            </a:xfrm>
            <a:prstGeom prst="rect">
              <a:avLst/>
            </a:prstGeom>
          </p:spPr>
        </p:pic>
        <p:sp>
          <p:nvSpPr>
            <p:cNvPr id="12" name="Rectangle 11">
              <a:extLst>
                <a:ext uri="{FF2B5EF4-FFF2-40B4-BE49-F238E27FC236}">
                  <a16:creationId xmlns:a16="http://schemas.microsoft.com/office/drawing/2014/main" id="{F95CCFD2-3840-A14C-A043-496062DB193A}"/>
                </a:ext>
              </a:extLst>
            </p:cNvPr>
            <p:cNvSpPr/>
            <p:nvPr/>
          </p:nvSpPr>
          <p:spPr>
            <a:xfrm>
              <a:off x="5736573" y="2454797"/>
              <a:ext cx="2677676" cy="1158434"/>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r"/>
              <a:r>
                <a:rPr lang="en-US" sz="1600">
                  <a:solidFill>
                    <a:srgbClr val="5A6B86"/>
                  </a:solidFill>
                </a:rPr>
                <a:t>Amazon EC2 instance</a:t>
              </a:r>
            </a:p>
          </p:txBody>
        </p:sp>
        <p:sp>
          <p:nvSpPr>
            <p:cNvPr id="13" name="TextBox 12">
              <a:extLst>
                <a:ext uri="{FF2B5EF4-FFF2-40B4-BE49-F238E27FC236}">
                  <a16:creationId xmlns:a16="http://schemas.microsoft.com/office/drawing/2014/main" id="{6F0EFA60-B864-2F49-93F5-6AC8EF19B091}"/>
                </a:ext>
              </a:extLst>
            </p:cNvPr>
            <p:cNvSpPr txBox="1"/>
            <p:nvPr/>
          </p:nvSpPr>
          <p:spPr>
            <a:xfrm>
              <a:off x="6780983" y="3062611"/>
              <a:ext cx="119295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pic>
          <p:nvPicPr>
            <p:cNvPr id="16" name="Graphic 15">
              <a:extLst>
                <a:ext uri="{FF2B5EF4-FFF2-40B4-BE49-F238E27FC236}">
                  <a16:creationId xmlns:a16="http://schemas.microsoft.com/office/drawing/2014/main" id="{7DF3A48E-C74C-304E-802A-BA0B590EE737}"/>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26205" y="2765356"/>
              <a:ext cx="635809" cy="635809"/>
            </a:xfrm>
            <a:prstGeom prst="rect">
              <a:avLst/>
            </a:prstGeom>
          </p:spPr>
        </p:pic>
        <p:sp>
          <p:nvSpPr>
            <p:cNvPr id="17" name="TextBox 16">
              <a:extLst>
                <a:ext uri="{FF2B5EF4-FFF2-40B4-BE49-F238E27FC236}">
                  <a16:creationId xmlns:a16="http://schemas.microsoft.com/office/drawing/2014/main" id="{D5A3D44E-2CDC-364E-821E-3C378E66E7E1}"/>
                </a:ext>
              </a:extLst>
            </p:cNvPr>
            <p:cNvSpPr txBox="1"/>
            <p:nvPr/>
          </p:nvSpPr>
          <p:spPr>
            <a:xfrm>
              <a:off x="10005207" y="3411275"/>
              <a:ext cx="1253485" cy="830997"/>
            </a:xfrm>
            <a:prstGeom prst="rect">
              <a:avLst/>
            </a:prstGeom>
            <a:noFill/>
          </p:spPr>
          <p:txBody>
            <a:bodyPr wrap="square" rtlCol="0">
              <a:spAutoFit/>
            </a:bodyPr>
            <a:lstStyle/>
            <a:p>
              <a:pPr algn="ctr"/>
              <a:r>
                <a:rPr lang="en-US" sz="1600"/>
                <a:t>Amazon S3 bucket </a:t>
              </a:r>
              <a:r>
                <a:rPr lang="en-US" sz="1600" i="1"/>
                <a:t>photos</a:t>
              </a:r>
              <a:endParaRPr lang="en-US" sz="1600"/>
            </a:p>
          </p:txBody>
        </p:sp>
        <p:sp>
          <p:nvSpPr>
            <p:cNvPr id="18" name="TextBox 17">
              <a:extLst>
                <a:ext uri="{FF2B5EF4-FFF2-40B4-BE49-F238E27FC236}">
                  <a16:creationId xmlns:a16="http://schemas.microsoft.com/office/drawing/2014/main" id="{D350F102-2DFE-3C41-B019-24298A2D82A3}"/>
                </a:ext>
              </a:extLst>
            </p:cNvPr>
            <p:cNvSpPr txBox="1"/>
            <p:nvPr/>
          </p:nvSpPr>
          <p:spPr>
            <a:xfrm>
              <a:off x="6590439" y="4798628"/>
              <a:ext cx="1037442" cy="338554"/>
            </a:xfrm>
            <a:prstGeom prst="rect">
              <a:avLst/>
            </a:prstGeom>
            <a:noFill/>
          </p:spPr>
          <p:txBody>
            <a:bodyPr wrap="square" rtlCol="0">
              <a:spAutoFit/>
            </a:bodyPr>
            <a:lstStyle/>
            <a:p>
              <a:pPr algn="ctr"/>
              <a:r>
                <a:rPr lang="en-US" sz="1600"/>
                <a:t>IAM role</a:t>
              </a:r>
            </a:p>
          </p:txBody>
        </p:sp>
        <p:pic>
          <p:nvPicPr>
            <p:cNvPr id="19" name="Graphic 18">
              <a:extLst>
                <a:ext uri="{FF2B5EF4-FFF2-40B4-BE49-F238E27FC236}">
                  <a16:creationId xmlns:a16="http://schemas.microsoft.com/office/drawing/2014/main" id="{B2B56EF9-F4FF-C543-B07C-376794EB2F1B}"/>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42369" y="4374529"/>
              <a:ext cx="469900" cy="469900"/>
            </a:xfrm>
            <a:prstGeom prst="rect">
              <a:avLst/>
            </a:prstGeom>
          </p:spPr>
        </p:pic>
        <p:sp>
          <p:nvSpPr>
            <p:cNvPr id="20" name="TextBox 19">
              <a:extLst>
                <a:ext uri="{FF2B5EF4-FFF2-40B4-BE49-F238E27FC236}">
                  <a16:creationId xmlns:a16="http://schemas.microsoft.com/office/drawing/2014/main" id="{29FCC8F9-5F26-5C41-888C-23A0A9917B68}"/>
                </a:ext>
              </a:extLst>
            </p:cNvPr>
            <p:cNvSpPr txBox="1"/>
            <p:nvPr/>
          </p:nvSpPr>
          <p:spPr>
            <a:xfrm>
              <a:off x="9001237" y="4844794"/>
              <a:ext cx="1541378" cy="1077218"/>
            </a:xfrm>
            <a:prstGeom prst="rect">
              <a:avLst/>
            </a:prstGeom>
            <a:noFill/>
          </p:spPr>
          <p:txBody>
            <a:bodyPr wrap="square" rtlCol="0">
              <a:spAutoFit/>
            </a:bodyPr>
            <a:lstStyle/>
            <a:p>
              <a:pPr algn="ctr"/>
              <a:r>
                <a:rPr lang="en-US" sz="1600"/>
                <a:t>IAM policy </a:t>
              </a:r>
              <a:r>
                <a:rPr lang="en-US" sz="1600" i="1"/>
                <a:t>grants access to photos bucket</a:t>
              </a:r>
            </a:p>
          </p:txBody>
        </p:sp>
        <p:pic>
          <p:nvPicPr>
            <p:cNvPr id="21" name="Graphic 20">
              <a:extLst>
                <a:ext uri="{FF2B5EF4-FFF2-40B4-BE49-F238E27FC236}">
                  <a16:creationId xmlns:a16="http://schemas.microsoft.com/office/drawing/2014/main" id="{5D77D14C-8EEF-2D4B-AEB6-371EF8DA1E62}"/>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513481" y="4367390"/>
              <a:ext cx="516890" cy="516890"/>
            </a:xfrm>
            <a:prstGeom prst="rect">
              <a:avLst/>
            </a:prstGeom>
          </p:spPr>
        </p:pic>
        <p:cxnSp>
          <p:nvCxnSpPr>
            <p:cNvPr id="23" name="Straight Arrow Connector 22">
              <a:extLst>
                <a:ext uri="{FF2B5EF4-FFF2-40B4-BE49-F238E27FC236}">
                  <a16:creationId xmlns:a16="http://schemas.microsoft.com/office/drawing/2014/main" id="{50AAB94B-4439-5E4C-8413-38A5ED9932BD}"/>
                </a:ext>
              </a:extLst>
            </p:cNvPr>
            <p:cNvCxnSpPr>
              <a:cxnSpLocks/>
              <a:stCxn id="19" idx="0"/>
              <a:endCxn id="12" idx="2"/>
            </p:cNvCxnSpPr>
            <p:nvPr/>
          </p:nvCxnSpPr>
          <p:spPr>
            <a:xfrm flipH="1" flipV="1">
              <a:off x="7075411" y="3613231"/>
              <a:ext cx="1908" cy="761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DC0A777-4246-1B41-A581-D950A4ABE456}"/>
                </a:ext>
              </a:extLst>
            </p:cNvPr>
            <p:cNvSpPr txBox="1"/>
            <p:nvPr/>
          </p:nvSpPr>
          <p:spPr>
            <a:xfrm>
              <a:off x="7847011" y="4633946"/>
              <a:ext cx="973343"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attached</a:t>
              </a:r>
            </a:p>
          </p:txBody>
        </p:sp>
        <p:cxnSp>
          <p:nvCxnSpPr>
            <p:cNvPr id="26" name="Straight Arrow Connector 25">
              <a:extLst>
                <a:ext uri="{FF2B5EF4-FFF2-40B4-BE49-F238E27FC236}">
                  <a16:creationId xmlns:a16="http://schemas.microsoft.com/office/drawing/2014/main" id="{F74246FE-E7D1-7A45-A69E-1396ED45B918}"/>
                </a:ext>
              </a:extLst>
            </p:cNvPr>
            <p:cNvCxnSpPr>
              <a:cxnSpLocks/>
              <a:stCxn id="21" idx="1"/>
              <a:endCxn id="19" idx="3"/>
            </p:cNvCxnSpPr>
            <p:nvPr/>
          </p:nvCxnSpPr>
          <p:spPr>
            <a:xfrm flipH="1" flipV="1">
              <a:off x="7312269" y="4609479"/>
              <a:ext cx="2201212" cy="16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620DB683-8D83-B04B-80FA-74D244A184A0}"/>
                </a:ext>
              </a:extLst>
            </p:cNvPr>
            <p:cNvSpPr txBox="1"/>
            <p:nvPr/>
          </p:nvSpPr>
          <p:spPr>
            <a:xfrm>
              <a:off x="7032912" y="3743770"/>
              <a:ext cx="1699504" cy="584775"/>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Role </a:t>
              </a:r>
              <a:r>
                <a:rPr lang="en-US" sz="1600" i="1">
                  <a:latin typeface="Amazon Ember Light" panose="020B0403020204020204" pitchFamily="34" charset="0"/>
                  <a:ea typeface="Amazon Ember Light" panose="020B0403020204020204" pitchFamily="34" charset="0"/>
                  <a:cs typeface="Amazon Ember Light" panose="020B0403020204020204" pitchFamily="34" charset="0"/>
                </a:rPr>
                <a:t>assumed</a:t>
              </a:r>
              <a:r>
                <a:rPr lang="en-US" sz="1600">
                  <a:latin typeface="Amazon Ember Light" panose="020B0403020204020204" pitchFamily="34" charset="0"/>
                  <a:ea typeface="Amazon Ember Light" panose="020B0403020204020204" pitchFamily="34" charset="0"/>
                  <a:cs typeface="Amazon Ember Light" panose="020B0403020204020204" pitchFamily="34" charset="0"/>
                </a:rPr>
                <a:t> by</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the EC2 instance</a:t>
              </a:r>
            </a:p>
          </p:txBody>
        </p:sp>
        <p:cxnSp>
          <p:nvCxnSpPr>
            <p:cNvPr id="40" name="Straight Arrow Connector 39">
              <a:extLst>
                <a:ext uri="{FF2B5EF4-FFF2-40B4-BE49-F238E27FC236}">
                  <a16:creationId xmlns:a16="http://schemas.microsoft.com/office/drawing/2014/main" id="{77DD40B1-47CA-6847-9E3D-816C884E81B2}"/>
                </a:ext>
              </a:extLst>
            </p:cNvPr>
            <p:cNvCxnSpPr>
              <a:cxnSpLocks/>
            </p:cNvCxnSpPr>
            <p:nvPr/>
          </p:nvCxnSpPr>
          <p:spPr>
            <a:xfrm>
              <a:off x="8412875" y="3120152"/>
              <a:ext cx="169124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C9785CA-BB9A-E04A-BEA1-3105190E8662}"/>
                </a:ext>
              </a:extLst>
            </p:cNvPr>
            <p:cNvSpPr txBox="1"/>
            <p:nvPr/>
          </p:nvSpPr>
          <p:spPr>
            <a:xfrm>
              <a:off x="8523787" y="1999834"/>
              <a:ext cx="1692879" cy="1077218"/>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 has permissions to access the S3 bucket</a:t>
              </a:r>
            </a:p>
          </p:txBody>
        </p:sp>
        <p:sp>
          <p:nvSpPr>
            <p:cNvPr id="48" name="Oval 47">
              <a:extLst>
                <a:ext uri="{FF2B5EF4-FFF2-40B4-BE49-F238E27FC236}">
                  <a16:creationId xmlns:a16="http://schemas.microsoft.com/office/drawing/2014/main" id="{93D86B90-CAF3-E048-A09D-2660A5DDE790}"/>
                </a:ext>
              </a:extLst>
            </p:cNvPr>
            <p:cNvSpPr/>
            <p:nvPr/>
          </p:nvSpPr>
          <p:spPr>
            <a:xfrm>
              <a:off x="8194554" y="4932152"/>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49" name="Oval 48">
              <a:extLst>
                <a:ext uri="{FF2B5EF4-FFF2-40B4-BE49-F238E27FC236}">
                  <a16:creationId xmlns:a16="http://schemas.microsoft.com/office/drawing/2014/main" id="{56A5F209-213D-B946-B7DA-A47508578DC4}"/>
                </a:ext>
              </a:extLst>
            </p:cNvPr>
            <p:cNvSpPr/>
            <p:nvPr/>
          </p:nvSpPr>
          <p:spPr>
            <a:xfrm>
              <a:off x="6754657" y="3885297"/>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51" name="Oval 50">
              <a:extLst>
                <a:ext uri="{FF2B5EF4-FFF2-40B4-BE49-F238E27FC236}">
                  <a16:creationId xmlns:a16="http://schemas.microsoft.com/office/drawing/2014/main" id="{CD8A2209-9DB5-1549-A167-CEB437C109E5}"/>
                </a:ext>
              </a:extLst>
            </p:cNvPr>
            <p:cNvSpPr/>
            <p:nvPr/>
          </p:nvSpPr>
          <p:spPr>
            <a:xfrm>
              <a:off x="8986414" y="3216821"/>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grpSp>
    </p:spTree>
    <p:custDataLst>
      <p:tags r:id="rId1"/>
    </p:custDataLst>
    <p:extLst>
      <p:ext uri="{BB962C8B-B14F-4D97-AF65-F5344CB8AC3E}">
        <p14:creationId xmlns:p14="http://schemas.microsoft.com/office/powerpoint/2010/main" val="4473593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2655-02E1-5E49-8117-91751919ACE5}"/>
              </a:ext>
            </a:extLst>
          </p:cNvPr>
          <p:cNvSpPr>
            <a:spLocks noGrp="1"/>
          </p:cNvSpPr>
          <p:nvPr>
            <p:ph type="title"/>
          </p:nvPr>
        </p:nvSpPr>
        <p:spPr/>
        <p:txBody>
          <a:bodyPr/>
          <a:lstStyle/>
          <a:p>
            <a:r>
              <a:rPr lang="en-US" sz="4000"/>
              <a:t>Section 4: Securing accounts</a:t>
            </a:r>
          </a:p>
        </p:txBody>
      </p:sp>
      <p:sp>
        <p:nvSpPr>
          <p:cNvPr id="3" name="Text Placeholder 2">
            <a:extLst>
              <a:ext uri="{FF2B5EF4-FFF2-40B4-BE49-F238E27FC236}">
                <a16:creationId xmlns:a16="http://schemas.microsoft.com/office/drawing/2014/main" id="{DAECDC7C-D9FE-8744-AB85-3C316E17754B}"/>
              </a:ext>
            </a:extLst>
          </p:cNvPr>
          <p:cNvSpPr>
            <a:spLocks noGrp="1"/>
          </p:cNvSpPr>
          <p:nvPr>
            <p:ph type="subTitle" idx="1"/>
          </p:nvPr>
        </p:nvSpPr>
        <p:spPr/>
        <p:txBody>
          <a:bodyPr/>
          <a:lstStyle/>
          <a:p>
            <a:r>
              <a:rPr lang="en-US"/>
              <a:t>Module 4: AWS Cloud Security</a:t>
            </a:r>
          </a:p>
          <a:p>
            <a:endParaRPr lang="en-US"/>
          </a:p>
        </p:txBody>
      </p:sp>
    </p:spTree>
    <p:custDataLst>
      <p:tags r:id="rId1"/>
    </p:custDataLst>
    <p:extLst>
      <p:ext uri="{BB962C8B-B14F-4D97-AF65-F5344CB8AC3E}">
        <p14:creationId xmlns:p14="http://schemas.microsoft.com/office/powerpoint/2010/main" val="22277167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6B9065C-5B47-994B-933F-04BBD6C88090}"/>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44</a:t>
            </a:fld>
            <a:endParaRPr lang="en-US"/>
          </a:p>
        </p:txBody>
      </p:sp>
      <p:sp>
        <p:nvSpPr>
          <p:cNvPr id="5" name="Title 4">
            <a:extLst>
              <a:ext uri="{FF2B5EF4-FFF2-40B4-BE49-F238E27FC236}">
                <a16:creationId xmlns:a16="http://schemas.microsoft.com/office/drawing/2014/main" id="{437A28D1-E527-2F4D-A1B3-E479EEAADFCC}"/>
              </a:ext>
            </a:extLst>
          </p:cNvPr>
          <p:cNvSpPr>
            <a:spLocks noGrp="1"/>
          </p:cNvSpPr>
          <p:nvPr>
            <p:ph type="title"/>
          </p:nvPr>
        </p:nvSpPr>
        <p:spPr/>
        <p:txBody>
          <a:bodyPr>
            <a:normAutofit fontScale="90000"/>
          </a:bodyPr>
          <a:lstStyle/>
          <a:p>
            <a:r>
              <a:rPr lang="en-US"/>
              <a:t>AWS Organizations</a:t>
            </a:r>
          </a:p>
        </p:txBody>
      </p:sp>
      <p:sp>
        <p:nvSpPr>
          <p:cNvPr id="6" name="Content Placeholder 5">
            <a:extLst>
              <a:ext uri="{FF2B5EF4-FFF2-40B4-BE49-F238E27FC236}">
                <a16:creationId xmlns:a16="http://schemas.microsoft.com/office/drawing/2014/main" id="{7FE494F3-CA29-3C4C-9D7E-FC0755475D23}"/>
              </a:ext>
            </a:extLst>
          </p:cNvPr>
          <p:cNvSpPr>
            <a:spLocks noGrp="1"/>
          </p:cNvSpPr>
          <p:nvPr>
            <p:ph sz="quarter" idx="21"/>
          </p:nvPr>
        </p:nvSpPr>
        <p:spPr>
          <a:xfrm>
            <a:off x="365760" y="1143000"/>
            <a:ext cx="9473184" cy="4645152"/>
          </a:xfrm>
        </p:spPr>
        <p:txBody>
          <a:bodyPr>
            <a:normAutofit/>
          </a:bodyPr>
          <a:lstStyle/>
          <a:p>
            <a:r>
              <a:rPr lang="en-US" sz="2400" b="1">
                <a:solidFill>
                  <a:schemeClr val="accent6"/>
                </a:solidFill>
              </a:rPr>
              <a:t>AWS Organizations </a:t>
            </a:r>
            <a:r>
              <a:rPr lang="en-US" sz="2400"/>
              <a:t>enables you to consolidate multiple AWS accounts so that you centrally manage them.</a:t>
            </a:r>
          </a:p>
          <a:p>
            <a:pPr marL="227012" lvl="1" indent="0">
              <a:buNone/>
            </a:pPr>
            <a:endParaRPr lang="en-US" sz="2000"/>
          </a:p>
          <a:p>
            <a:r>
              <a:rPr lang="en-US" sz="2400">
                <a:solidFill>
                  <a:schemeClr val="accent5"/>
                </a:solidFill>
              </a:rPr>
              <a:t>Security features </a:t>
            </a:r>
            <a:r>
              <a:rPr lang="en-US" sz="2400"/>
              <a:t>of AWS Organizations:</a:t>
            </a:r>
            <a:br>
              <a:rPr lang="en-US" sz="2400"/>
            </a:br>
            <a:endParaRPr lang="en-US" sz="2400"/>
          </a:p>
          <a:p>
            <a:pPr lvl="1"/>
            <a:r>
              <a:rPr lang="en-US" sz="2000" b="1">
                <a:solidFill>
                  <a:schemeClr val="accent6"/>
                </a:solidFill>
              </a:rPr>
              <a:t>Group AWS accounts into organizational units</a:t>
            </a:r>
            <a:r>
              <a:rPr lang="en-US" sz="2000">
                <a:solidFill>
                  <a:schemeClr val="accent6"/>
                </a:solidFill>
              </a:rPr>
              <a:t> </a:t>
            </a:r>
            <a:r>
              <a:rPr lang="en-US" sz="2000"/>
              <a:t>(OUs) and attach different access policies to each OU.</a:t>
            </a:r>
          </a:p>
          <a:p>
            <a:pPr marL="227012" lvl="1" indent="0">
              <a:buNone/>
            </a:pPr>
            <a:endParaRPr lang="en-US" sz="2000"/>
          </a:p>
          <a:p>
            <a:pPr lvl="1"/>
            <a:r>
              <a:rPr lang="en-US" sz="2000" b="1">
                <a:solidFill>
                  <a:schemeClr val="accent6"/>
                </a:solidFill>
              </a:rPr>
              <a:t>Integration and support for IAM</a:t>
            </a:r>
          </a:p>
          <a:p>
            <a:pPr lvl="2"/>
            <a:r>
              <a:rPr lang="en-US" sz="1800"/>
              <a:t>Permissions to a user are the intersection of what is allowed by AWS Organizations and what is granted by IAM in that account.</a:t>
            </a:r>
          </a:p>
          <a:p>
            <a:pPr marL="455612" lvl="2" indent="0">
              <a:buNone/>
            </a:pPr>
            <a:endParaRPr lang="en-US" sz="1800"/>
          </a:p>
          <a:p>
            <a:pPr lvl="1"/>
            <a:r>
              <a:rPr lang="en-US" sz="2000" b="1">
                <a:solidFill>
                  <a:schemeClr val="accent6"/>
                </a:solidFill>
              </a:rPr>
              <a:t>Use service control policies</a:t>
            </a:r>
            <a:r>
              <a:rPr lang="en-US" sz="2000">
                <a:solidFill>
                  <a:schemeClr val="accent6"/>
                </a:solidFill>
              </a:rPr>
              <a:t> </a:t>
            </a:r>
            <a:r>
              <a:rPr lang="en-US" sz="2000"/>
              <a:t>to establish control over the AWS services and API actions that each AWS account can access </a:t>
            </a:r>
          </a:p>
        </p:txBody>
      </p:sp>
      <p:sp>
        <p:nvSpPr>
          <p:cNvPr id="7" name="TextBox 6">
            <a:extLst>
              <a:ext uri="{FF2B5EF4-FFF2-40B4-BE49-F238E27FC236}">
                <a16:creationId xmlns:a16="http://schemas.microsoft.com/office/drawing/2014/main" id="{9A72C5B2-A015-1B43-9824-23DC9AA64443}"/>
              </a:ext>
            </a:extLst>
          </p:cNvPr>
          <p:cNvSpPr txBox="1"/>
          <p:nvPr/>
        </p:nvSpPr>
        <p:spPr>
          <a:xfrm>
            <a:off x="9470996" y="2235850"/>
            <a:ext cx="2301904" cy="338554"/>
          </a:xfrm>
          <a:prstGeom prst="rect">
            <a:avLst/>
          </a:prstGeom>
          <a:noFill/>
        </p:spPr>
        <p:txBody>
          <a:bodyPr wrap="square" rtlCol="0">
            <a:spAutoFit/>
          </a:bodyPr>
          <a:lstStyle/>
          <a:p>
            <a:pPr algn="ctr"/>
            <a:r>
              <a:rPr lang="en-US" sz="1600" b="1"/>
              <a:t>AWS Organizations</a:t>
            </a:r>
          </a:p>
        </p:txBody>
      </p:sp>
      <p:pic>
        <p:nvPicPr>
          <p:cNvPr id="8" name="Graphic 7">
            <a:extLst>
              <a:ext uri="{FF2B5EF4-FFF2-40B4-BE49-F238E27FC236}">
                <a16:creationId xmlns:a16="http://schemas.microsoft.com/office/drawing/2014/main" id="{DF066CE6-0A28-4948-B696-4A7ABE24C0B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66348" y="1528175"/>
            <a:ext cx="711200" cy="711200"/>
          </a:xfrm>
          <a:prstGeom prst="rect">
            <a:avLst/>
          </a:prstGeom>
        </p:spPr>
      </p:pic>
    </p:spTree>
    <p:custDataLst>
      <p:tags r:id="rId1"/>
    </p:custDataLst>
    <p:extLst>
      <p:ext uri="{BB962C8B-B14F-4D97-AF65-F5344CB8AC3E}">
        <p14:creationId xmlns:p14="http://schemas.microsoft.com/office/powerpoint/2010/main" val="1888241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3F62DA-00F1-184A-93A6-171345B1964C}"/>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45</a:t>
            </a:fld>
            <a:endParaRPr lang="en-US"/>
          </a:p>
        </p:txBody>
      </p:sp>
      <p:sp>
        <p:nvSpPr>
          <p:cNvPr id="2" name="Title 1">
            <a:extLst>
              <a:ext uri="{FF2B5EF4-FFF2-40B4-BE49-F238E27FC236}">
                <a16:creationId xmlns:a16="http://schemas.microsoft.com/office/drawing/2014/main" id="{C8573E1F-0F0B-E945-8347-15CF6902DD33}"/>
              </a:ext>
            </a:extLst>
          </p:cNvPr>
          <p:cNvSpPr>
            <a:spLocks noGrp="1"/>
          </p:cNvSpPr>
          <p:nvPr>
            <p:ph type="title"/>
          </p:nvPr>
        </p:nvSpPr>
        <p:spPr/>
        <p:txBody>
          <a:bodyPr>
            <a:normAutofit fontScale="90000"/>
          </a:bodyPr>
          <a:lstStyle/>
          <a:p>
            <a:r>
              <a:rPr lang="en-US"/>
              <a:t>AWS Organizations: Service control policies</a:t>
            </a:r>
          </a:p>
        </p:txBody>
      </p:sp>
      <p:sp>
        <p:nvSpPr>
          <p:cNvPr id="3" name="Content Placeholder 2">
            <a:extLst>
              <a:ext uri="{FF2B5EF4-FFF2-40B4-BE49-F238E27FC236}">
                <a16:creationId xmlns:a16="http://schemas.microsoft.com/office/drawing/2014/main" id="{F35CF6C4-A8CE-AC4E-BC4F-89359A612B22}"/>
              </a:ext>
            </a:extLst>
          </p:cNvPr>
          <p:cNvSpPr>
            <a:spLocks noGrp="1"/>
          </p:cNvSpPr>
          <p:nvPr>
            <p:ph sz="quarter" idx="21"/>
          </p:nvPr>
        </p:nvSpPr>
        <p:spPr/>
        <p:txBody>
          <a:bodyPr>
            <a:normAutofit/>
          </a:bodyPr>
          <a:lstStyle/>
          <a:p>
            <a:r>
              <a:rPr lang="en-US" b="1">
                <a:solidFill>
                  <a:schemeClr val="accent6"/>
                </a:solidFill>
              </a:rPr>
              <a:t>Service control policies (SCPs) </a:t>
            </a:r>
            <a:r>
              <a:rPr lang="en-US"/>
              <a:t>offer centralized control over accounts.</a:t>
            </a:r>
          </a:p>
          <a:p>
            <a:pPr lvl="1"/>
            <a:r>
              <a:rPr lang="en-US"/>
              <a:t>Limit permissions that are available in an account that is part of an organization.</a:t>
            </a:r>
          </a:p>
          <a:p>
            <a:pPr lvl="1"/>
            <a:endParaRPr lang="en-US"/>
          </a:p>
          <a:p>
            <a:r>
              <a:rPr lang="en-US"/>
              <a:t>Ensures that accounts comply with access control guidelines.</a:t>
            </a:r>
          </a:p>
          <a:p>
            <a:pPr lvl="1"/>
            <a:endParaRPr lang="en-US"/>
          </a:p>
          <a:p>
            <a:r>
              <a:rPr lang="en-US"/>
              <a:t>SCPs are </a:t>
            </a:r>
            <a:r>
              <a:rPr lang="en-US" i="1"/>
              <a:t>similar</a:t>
            </a:r>
            <a:r>
              <a:rPr lang="en-US"/>
              <a:t> to IAM permissions policies – </a:t>
            </a:r>
          </a:p>
          <a:p>
            <a:pPr lvl="1"/>
            <a:r>
              <a:rPr lang="en-US"/>
              <a:t>They use similar syntax.</a:t>
            </a:r>
          </a:p>
          <a:p>
            <a:pPr lvl="1"/>
            <a:r>
              <a:rPr lang="en-US"/>
              <a:t>However, an SCP never grants permissions. </a:t>
            </a:r>
          </a:p>
          <a:p>
            <a:pPr lvl="1"/>
            <a:r>
              <a:rPr lang="en-US"/>
              <a:t>Instead, SCPs </a:t>
            </a:r>
            <a:r>
              <a:rPr lang="en-US">
                <a:solidFill>
                  <a:schemeClr val="accent5"/>
                </a:solidFill>
              </a:rPr>
              <a:t>specify the maximum permissions </a:t>
            </a:r>
            <a:r>
              <a:rPr lang="en-US"/>
              <a:t>for an organization. </a:t>
            </a:r>
          </a:p>
        </p:txBody>
      </p:sp>
    </p:spTree>
    <p:custDataLst>
      <p:tags r:id="rId1"/>
    </p:custDataLst>
    <p:extLst>
      <p:ext uri="{BB962C8B-B14F-4D97-AF65-F5344CB8AC3E}">
        <p14:creationId xmlns:p14="http://schemas.microsoft.com/office/powerpoint/2010/main" val="19462681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80A18-D30F-E541-92FF-5ECA5818AF8A}"/>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46</a:t>
            </a:fld>
            <a:endParaRPr lang="en-US"/>
          </a:p>
        </p:txBody>
      </p:sp>
      <p:sp>
        <p:nvSpPr>
          <p:cNvPr id="2" name="Title 1">
            <a:extLst>
              <a:ext uri="{FF2B5EF4-FFF2-40B4-BE49-F238E27FC236}">
                <a16:creationId xmlns:a16="http://schemas.microsoft.com/office/drawing/2014/main" id="{8B65A5D0-0165-9F4E-8686-2C17725D0533}"/>
              </a:ext>
            </a:extLst>
          </p:cNvPr>
          <p:cNvSpPr>
            <a:spLocks noGrp="1"/>
          </p:cNvSpPr>
          <p:nvPr>
            <p:ph type="title"/>
          </p:nvPr>
        </p:nvSpPr>
        <p:spPr/>
        <p:txBody>
          <a:bodyPr/>
          <a:lstStyle/>
          <a:p>
            <a:r>
              <a:rPr lang="en-US" sz="3600"/>
              <a:t>AWS Key Management Service (AWS KMS)</a:t>
            </a:r>
          </a:p>
        </p:txBody>
      </p:sp>
      <p:sp>
        <p:nvSpPr>
          <p:cNvPr id="3" name="Content Placeholder 2">
            <a:extLst>
              <a:ext uri="{FF2B5EF4-FFF2-40B4-BE49-F238E27FC236}">
                <a16:creationId xmlns:a16="http://schemas.microsoft.com/office/drawing/2014/main" id="{8A518922-1DAB-F042-AA87-B92522378D97}"/>
              </a:ext>
            </a:extLst>
          </p:cNvPr>
          <p:cNvSpPr>
            <a:spLocks noGrp="1"/>
          </p:cNvSpPr>
          <p:nvPr>
            <p:ph sz="quarter" idx="21"/>
          </p:nvPr>
        </p:nvSpPr>
        <p:spPr/>
        <p:txBody>
          <a:bodyPr/>
          <a:lstStyle/>
          <a:p>
            <a:pPr marL="0" indent="0">
              <a:buNone/>
            </a:pPr>
            <a:r>
              <a:rPr lang="en-US" b="1">
                <a:solidFill>
                  <a:schemeClr val="accent6"/>
                </a:solidFill>
                <a:latin typeface="+mn-lt"/>
                <a:ea typeface="Amazon Ember" panose="02000000000000000000" pitchFamily="2" charset="0"/>
              </a:rPr>
              <a:t>AWS Key Management Service (AWS KMS) </a:t>
            </a:r>
            <a:r>
              <a:rPr lang="en-US"/>
              <a:t>features:</a:t>
            </a:r>
          </a:p>
          <a:p>
            <a:pPr lvl="1">
              <a:lnSpc>
                <a:spcPct val="150000"/>
              </a:lnSpc>
            </a:pPr>
            <a:r>
              <a:rPr lang="en-US"/>
              <a:t>Enables you to </a:t>
            </a:r>
            <a:r>
              <a:rPr lang="en-US" b="1">
                <a:solidFill>
                  <a:schemeClr val="accent6"/>
                </a:solidFill>
              </a:rPr>
              <a:t>create and manage encryption keys</a:t>
            </a:r>
          </a:p>
          <a:p>
            <a:pPr lvl="1">
              <a:lnSpc>
                <a:spcPct val="150000"/>
              </a:lnSpc>
            </a:pPr>
            <a:r>
              <a:rPr lang="en-US"/>
              <a:t>Enables you to control the use of encryption across AWS services and in your applications.</a:t>
            </a:r>
          </a:p>
          <a:p>
            <a:pPr lvl="1">
              <a:lnSpc>
                <a:spcPct val="150000"/>
              </a:lnSpc>
            </a:pPr>
            <a:r>
              <a:rPr lang="en-US"/>
              <a:t>Integrates with AWS CloudTrail to log all key usage.</a:t>
            </a:r>
          </a:p>
          <a:p>
            <a:pPr lvl="1">
              <a:lnSpc>
                <a:spcPct val="150000"/>
              </a:lnSpc>
            </a:pPr>
            <a:r>
              <a:rPr lang="en-US"/>
              <a:t>Uses hardware security modules (HSMs) that are validated by Federal Information Processing Standards (FIPS) 140-2 to protect keys</a:t>
            </a:r>
          </a:p>
        </p:txBody>
      </p:sp>
      <p:sp>
        <p:nvSpPr>
          <p:cNvPr id="6" name="TextBox 5">
            <a:extLst>
              <a:ext uri="{FF2B5EF4-FFF2-40B4-BE49-F238E27FC236}">
                <a16:creationId xmlns:a16="http://schemas.microsoft.com/office/drawing/2014/main" id="{EA5A66B3-14E1-C344-A377-33A44AD00E0A}"/>
              </a:ext>
            </a:extLst>
          </p:cNvPr>
          <p:cNvSpPr txBox="1"/>
          <p:nvPr/>
        </p:nvSpPr>
        <p:spPr>
          <a:xfrm>
            <a:off x="9702061" y="5586632"/>
            <a:ext cx="2301904" cy="584775"/>
          </a:xfrm>
          <a:prstGeom prst="rect">
            <a:avLst/>
          </a:prstGeom>
          <a:noFill/>
        </p:spPr>
        <p:txBody>
          <a:bodyPr wrap="square" rtlCol="0">
            <a:spAutoFit/>
          </a:bodyPr>
          <a:lstStyle/>
          <a:p>
            <a:pPr algn="ctr"/>
            <a:r>
              <a:rPr lang="en-US" sz="1600"/>
              <a:t>AWS Key Management Service (AWS KMS)</a:t>
            </a:r>
          </a:p>
        </p:txBody>
      </p:sp>
      <p:pic>
        <p:nvPicPr>
          <p:cNvPr id="7" name="Graphic 6">
            <a:extLst>
              <a:ext uri="{FF2B5EF4-FFF2-40B4-BE49-F238E27FC236}">
                <a16:creationId xmlns:a16="http://schemas.microsoft.com/office/drawing/2014/main" id="{15D38719-12F2-1244-84EC-7BAB179FD01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00868" y="4830572"/>
            <a:ext cx="711200" cy="711200"/>
          </a:xfrm>
          <a:prstGeom prst="rect">
            <a:avLst/>
          </a:prstGeom>
        </p:spPr>
      </p:pic>
    </p:spTree>
    <p:custDataLst>
      <p:tags r:id="rId1"/>
    </p:custDataLst>
    <p:extLst>
      <p:ext uri="{BB962C8B-B14F-4D97-AF65-F5344CB8AC3E}">
        <p14:creationId xmlns:p14="http://schemas.microsoft.com/office/powerpoint/2010/main" val="33451265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D92152-8D0C-E541-BD2F-08DAD5A98075}"/>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47</a:t>
            </a:fld>
            <a:endParaRPr lang="en-US"/>
          </a:p>
        </p:txBody>
      </p:sp>
      <p:sp>
        <p:nvSpPr>
          <p:cNvPr id="2" name="Title 1">
            <a:extLst>
              <a:ext uri="{FF2B5EF4-FFF2-40B4-BE49-F238E27FC236}">
                <a16:creationId xmlns:a16="http://schemas.microsoft.com/office/drawing/2014/main" id="{D6E5F5E7-360A-2343-A3DB-D662EBCE2295}"/>
              </a:ext>
            </a:extLst>
          </p:cNvPr>
          <p:cNvSpPr>
            <a:spLocks noGrp="1"/>
          </p:cNvSpPr>
          <p:nvPr>
            <p:ph type="title"/>
          </p:nvPr>
        </p:nvSpPr>
        <p:spPr/>
        <p:txBody>
          <a:bodyPr>
            <a:normAutofit fontScale="90000"/>
          </a:bodyPr>
          <a:lstStyle/>
          <a:p>
            <a:r>
              <a:rPr lang="en-US"/>
              <a:t>Amazon Cognito</a:t>
            </a:r>
          </a:p>
        </p:txBody>
      </p:sp>
      <p:sp>
        <p:nvSpPr>
          <p:cNvPr id="3" name="Content Placeholder 2">
            <a:extLst>
              <a:ext uri="{FF2B5EF4-FFF2-40B4-BE49-F238E27FC236}">
                <a16:creationId xmlns:a16="http://schemas.microsoft.com/office/drawing/2014/main" id="{4C084BB7-E877-9E42-B509-A52D18D1A942}"/>
              </a:ext>
            </a:extLst>
          </p:cNvPr>
          <p:cNvSpPr>
            <a:spLocks noGrp="1"/>
          </p:cNvSpPr>
          <p:nvPr>
            <p:ph sz="quarter" idx="21"/>
          </p:nvPr>
        </p:nvSpPr>
        <p:spPr/>
        <p:txBody>
          <a:bodyPr/>
          <a:lstStyle/>
          <a:p>
            <a:pPr marL="0" indent="0">
              <a:buNone/>
            </a:pPr>
            <a:r>
              <a:rPr lang="en-US" b="1">
                <a:solidFill>
                  <a:schemeClr val="accent6"/>
                </a:solidFill>
              </a:rPr>
              <a:t>Amazon Cognito </a:t>
            </a:r>
            <a:r>
              <a:rPr lang="en-US"/>
              <a:t>features:</a:t>
            </a:r>
          </a:p>
          <a:p>
            <a:pPr lvl="1">
              <a:lnSpc>
                <a:spcPct val="150000"/>
              </a:lnSpc>
            </a:pPr>
            <a:r>
              <a:rPr lang="en-US" b="1">
                <a:solidFill>
                  <a:schemeClr val="accent6"/>
                </a:solidFill>
              </a:rPr>
              <a:t>Adds user sign-up, sign-in, and access control to your web and mobile applications</a:t>
            </a:r>
            <a:r>
              <a:rPr lang="en-US"/>
              <a:t>.</a:t>
            </a:r>
          </a:p>
          <a:p>
            <a:pPr lvl="1">
              <a:lnSpc>
                <a:spcPct val="150000"/>
              </a:lnSpc>
            </a:pPr>
            <a:r>
              <a:rPr lang="en-US"/>
              <a:t>Scales to millions of users.</a:t>
            </a:r>
          </a:p>
          <a:p>
            <a:pPr lvl="1">
              <a:lnSpc>
                <a:spcPct val="150000"/>
              </a:lnSpc>
            </a:pPr>
            <a:endParaRPr lang="en-US" sz="600"/>
          </a:p>
          <a:p>
            <a:pPr lvl="1">
              <a:lnSpc>
                <a:spcPct val="100000"/>
              </a:lnSpc>
            </a:pPr>
            <a:r>
              <a:rPr lang="en-US"/>
              <a:t>Supports sign-in with social identity providers, such as Facebook, Google, and Amazon; and enterprise identity providers, such as Microsoft Active Directory via Security Assertion Markup Language (SAML) 2.0.</a:t>
            </a:r>
          </a:p>
          <a:p>
            <a:pPr lvl="1"/>
            <a:endParaRPr lang="en-US"/>
          </a:p>
        </p:txBody>
      </p:sp>
      <p:sp>
        <p:nvSpPr>
          <p:cNvPr id="6" name="TextBox 5">
            <a:extLst>
              <a:ext uri="{FF2B5EF4-FFF2-40B4-BE49-F238E27FC236}">
                <a16:creationId xmlns:a16="http://schemas.microsoft.com/office/drawing/2014/main" id="{924404AD-4DF5-6C4C-BF2A-0C66206A4C24}"/>
              </a:ext>
            </a:extLst>
          </p:cNvPr>
          <p:cNvSpPr txBox="1"/>
          <p:nvPr/>
        </p:nvSpPr>
        <p:spPr>
          <a:xfrm>
            <a:off x="9048295" y="5966116"/>
            <a:ext cx="2301904" cy="338554"/>
          </a:xfrm>
          <a:prstGeom prst="rect">
            <a:avLst/>
          </a:prstGeom>
          <a:noFill/>
        </p:spPr>
        <p:txBody>
          <a:bodyPr wrap="square" rtlCol="0">
            <a:spAutoFit/>
          </a:bodyPr>
          <a:lstStyle/>
          <a:p>
            <a:pPr algn="ctr"/>
            <a:r>
              <a:rPr lang="en-US" sz="1600">
                <a:ea typeface="Amazon Ember Light" panose="020B0403020204020204" pitchFamily="34" charset="0"/>
                <a:cs typeface="Amazon Ember Light" panose="020B0403020204020204" pitchFamily="34" charset="0"/>
              </a:rPr>
              <a:t>Amazon Cognito</a:t>
            </a:r>
          </a:p>
        </p:txBody>
      </p:sp>
      <p:pic>
        <p:nvPicPr>
          <p:cNvPr id="7" name="Graphic 6">
            <a:extLst>
              <a:ext uri="{FF2B5EF4-FFF2-40B4-BE49-F238E27FC236}">
                <a16:creationId xmlns:a16="http://schemas.microsoft.com/office/drawing/2014/main" id="{48881EA6-1594-484F-ACDA-A86E2465556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30947" y="5205231"/>
            <a:ext cx="711200" cy="711200"/>
          </a:xfrm>
          <a:prstGeom prst="rect">
            <a:avLst/>
          </a:prstGeom>
        </p:spPr>
      </p:pic>
    </p:spTree>
    <p:custDataLst>
      <p:tags r:id="rId1"/>
    </p:custDataLst>
    <p:extLst>
      <p:ext uri="{BB962C8B-B14F-4D97-AF65-F5344CB8AC3E}">
        <p14:creationId xmlns:p14="http://schemas.microsoft.com/office/powerpoint/2010/main" val="25635886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5775929-8CAB-3443-A5D2-6276C4DF88B1}"/>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48</a:t>
            </a:fld>
            <a:endParaRPr lang="en-US"/>
          </a:p>
        </p:txBody>
      </p:sp>
      <p:sp>
        <p:nvSpPr>
          <p:cNvPr id="2" name="Title 1">
            <a:extLst>
              <a:ext uri="{FF2B5EF4-FFF2-40B4-BE49-F238E27FC236}">
                <a16:creationId xmlns:a16="http://schemas.microsoft.com/office/drawing/2014/main" id="{99B28E9B-864B-3748-A57B-8E56E57F940D}"/>
              </a:ext>
            </a:extLst>
          </p:cNvPr>
          <p:cNvSpPr>
            <a:spLocks noGrp="1"/>
          </p:cNvSpPr>
          <p:nvPr>
            <p:ph type="title"/>
          </p:nvPr>
        </p:nvSpPr>
        <p:spPr/>
        <p:txBody>
          <a:bodyPr>
            <a:normAutofit fontScale="90000"/>
          </a:bodyPr>
          <a:lstStyle/>
          <a:p>
            <a:r>
              <a:rPr lang="en-US"/>
              <a:t>AWS Shield</a:t>
            </a:r>
          </a:p>
        </p:txBody>
      </p:sp>
      <p:sp>
        <p:nvSpPr>
          <p:cNvPr id="3" name="Content Placeholder 2">
            <a:extLst>
              <a:ext uri="{FF2B5EF4-FFF2-40B4-BE49-F238E27FC236}">
                <a16:creationId xmlns:a16="http://schemas.microsoft.com/office/drawing/2014/main" id="{329481BF-2540-C643-ABFF-C7DE9ACFF34C}"/>
              </a:ext>
            </a:extLst>
          </p:cNvPr>
          <p:cNvSpPr>
            <a:spLocks noGrp="1"/>
          </p:cNvSpPr>
          <p:nvPr>
            <p:ph sz="quarter" idx="21"/>
          </p:nvPr>
        </p:nvSpPr>
        <p:spPr/>
        <p:txBody>
          <a:bodyPr/>
          <a:lstStyle/>
          <a:p>
            <a:r>
              <a:rPr lang="en-US" b="1">
                <a:solidFill>
                  <a:schemeClr val="accent6"/>
                </a:solidFill>
              </a:rPr>
              <a:t>AWS Shield </a:t>
            </a:r>
            <a:r>
              <a:rPr lang="en-US"/>
              <a:t>features:</a:t>
            </a:r>
          </a:p>
          <a:p>
            <a:pPr lvl="1">
              <a:lnSpc>
                <a:spcPct val="150000"/>
              </a:lnSpc>
            </a:pPr>
            <a:r>
              <a:rPr lang="en-US"/>
              <a:t>Is a managed distributed denial of service (DDoS) protection service</a:t>
            </a:r>
          </a:p>
          <a:p>
            <a:pPr lvl="1">
              <a:lnSpc>
                <a:spcPct val="150000"/>
              </a:lnSpc>
            </a:pPr>
            <a:r>
              <a:rPr lang="en-US"/>
              <a:t>Safeguards applications running on AWS</a:t>
            </a:r>
          </a:p>
          <a:p>
            <a:pPr lvl="1">
              <a:lnSpc>
                <a:spcPct val="150000"/>
              </a:lnSpc>
            </a:pPr>
            <a:r>
              <a:rPr lang="en-US"/>
              <a:t>Provides always-on detection and automatic inline mitigations </a:t>
            </a:r>
          </a:p>
          <a:p>
            <a:pPr lvl="1">
              <a:lnSpc>
                <a:spcPct val="150000"/>
              </a:lnSpc>
            </a:pPr>
            <a:endParaRPr lang="en-US" sz="300"/>
          </a:p>
          <a:p>
            <a:pPr lvl="1">
              <a:lnSpc>
                <a:spcPct val="100000"/>
              </a:lnSpc>
            </a:pPr>
            <a:r>
              <a:rPr lang="en-US" i="1"/>
              <a:t>AWS Shield Standard </a:t>
            </a:r>
            <a:r>
              <a:rPr lang="en-US"/>
              <a:t>enabled for at no additional cost. </a:t>
            </a:r>
            <a:r>
              <a:rPr lang="en-US" i="1"/>
              <a:t>AWS Shield Advanced</a:t>
            </a:r>
            <a:r>
              <a:rPr lang="en-US"/>
              <a:t> is an optional paid service.</a:t>
            </a:r>
          </a:p>
          <a:p>
            <a:pPr>
              <a:lnSpc>
                <a:spcPct val="150000"/>
              </a:lnSpc>
            </a:pPr>
            <a:r>
              <a:rPr lang="en-US"/>
              <a:t>Use it to</a:t>
            </a:r>
            <a:r>
              <a:rPr lang="en-US" b="1">
                <a:solidFill>
                  <a:schemeClr val="accent5"/>
                </a:solidFill>
              </a:rPr>
              <a:t> </a:t>
            </a:r>
            <a:r>
              <a:rPr lang="en-US" b="1">
                <a:solidFill>
                  <a:schemeClr val="accent6"/>
                </a:solidFill>
              </a:rPr>
              <a:t>minimize application downtime and latency</a:t>
            </a:r>
            <a:r>
              <a:rPr lang="en-US" b="1"/>
              <a:t>.</a:t>
            </a:r>
          </a:p>
        </p:txBody>
      </p:sp>
      <p:sp>
        <p:nvSpPr>
          <p:cNvPr id="6" name="TextBox 5">
            <a:extLst>
              <a:ext uri="{FF2B5EF4-FFF2-40B4-BE49-F238E27FC236}">
                <a16:creationId xmlns:a16="http://schemas.microsoft.com/office/drawing/2014/main" id="{4381477C-6155-4A4A-9D8F-44CE7DD1AD01}"/>
              </a:ext>
            </a:extLst>
          </p:cNvPr>
          <p:cNvSpPr txBox="1"/>
          <p:nvPr/>
        </p:nvSpPr>
        <p:spPr>
          <a:xfrm>
            <a:off x="9292770" y="5680357"/>
            <a:ext cx="2301904" cy="338554"/>
          </a:xfrm>
          <a:prstGeom prst="rect">
            <a:avLst/>
          </a:prstGeom>
          <a:noFill/>
        </p:spPr>
        <p:txBody>
          <a:bodyPr wrap="square" rtlCol="0">
            <a:spAutoFit/>
          </a:bodyPr>
          <a:lstStyle/>
          <a:p>
            <a:pPr algn="ctr"/>
            <a:r>
              <a:rPr lang="en-US" sz="1600">
                <a:ea typeface="Amazon Ember Light" panose="020B0403020204020204" pitchFamily="34" charset="0"/>
                <a:cs typeface="Amazon Ember Light" panose="020B0403020204020204" pitchFamily="34" charset="0"/>
              </a:rPr>
              <a:t>AWS Shield</a:t>
            </a:r>
          </a:p>
        </p:txBody>
      </p:sp>
      <p:pic>
        <p:nvPicPr>
          <p:cNvPr id="7" name="Graphic 6">
            <a:extLst>
              <a:ext uri="{FF2B5EF4-FFF2-40B4-BE49-F238E27FC236}">
                <a16:creationId xmlns:a16="http://schemas.microsoft.com/office/drawing/2014/main" id="{020B9110-8059-5C4D-8253-EFBCFF34A1B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88122" y="4919472"/>
            <a:ext cx="711200" cy="711200"/>
          </a:xfrm>
          <a:prstGeom prst="rect">
            <a:avLst/>
          </a:prstGeom>
        </p:spPr>
      </p:pic>
    </p:spTree>
    <p:custDataLst>
      <p:tags r:id="rId1"/>
    </p:custDataLst>
    <p:extLst>
      <p:ext uri="{BB962C8B-B14F-4D97-AF65-F5344CB8AC3E}">
        <p14:creationId xmlns:p14="http://schemas.microsoft.com/office/powerpoint/2010/main" val="3318403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2655-02E1-5E49-8117-91751919ACE5}"/>
              </a:ext>
            </a:extLst>
          </p:cNvPr>
          <p:cNvSpPr>
            <a:spLocks noGrp="1"/>
          </p:cNvSpPr>
          <p:nvPr>
            <p:ph type="title"/>
          </p:nvPr>
        </p:nvSpPr>
        <p:spPr/>
        <p:txBody>
          <a:bodyPr>
            <a:normAutofit/>
          </a:bodyPr>
          <a:lstStyle/>
          <a:p>
            <a:r>
              <a:rPr lang="en-US"/>
              <a:t>Section 5: Securing data on AWS</a:t>
            </a:r>
          </a:p>
        </p:txBody>
      </p:sp>
      <p:sp>
        <p:nvSpPr>
          <p:cNvPr id="3" name="Text Placeholder 2">
            <a:extLst>
              <a:ext uri="{FF2B5EF4-FFF2-40B4-BE49-F238E27FC236}">
                <a16:creationId xmlns:a16="http://schemas.microsoft.com/office/drawing/2014/main" id="{DAECDC7C-D9FE-8744-AB85-3C316E17754B}"/>
              </a:ext>
            </a:extLst>
          </p:cNvPr>
          <p:cNvSpPr>
            <a:spLocks noGrp="1"/>
          </p:cNvSpPr>
          <p:nvPr>
            <p:ph type="subTitle" idx="1"/>
          </p:nvPr>
        </p:nvSpPr>
        <p:spPr/>
        <p:txBody>
          <a:bodyPr/>
          <a:lstStyle/>
          <a:p>
            <a:r>
              <a:rPr lang="en-US"/>
              <a:t>Module 4: AWS Cloud Security</a:t>
            </a:r>
          </a:p>
          <a:p>
            <a:endParaRPr lang="en-US"/>
          </a:p>
        </p:txBody>
      </p:sp>
    </p:spTree>
    <p:custDataLst>
      <p:tags r:id="rId1"/>
    </p:custDataLst>
    <p:extLst>
      <p:ext uri="{BB962C8B-B14F-4D97-AF65-F5344CB8AC3E}">
        <p14:creationId xmlns:p14="http://schemas.microsoft.com/office/powerpoint/2010/main" val="20713154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C0FEC8A9-017B-E34D-A2B0-7010071F0328}"/>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50</a:t>
            </a:fld>
            <a:endParaRPr lang="en-US"/>
          </a:p>
        </p:txBody>
      </p:sp>
      <p:sp>
        <p:nvSpPr>
          <p:cNvPr id="5" name="Title 4">
            <a:extLst>
              <a:ext uri="{FF2B5EF4-FFF2-40B4-BE49-F238E27FC236}">
                <a16:creationId xmlns:a16="http://schemas.microsoft.com/office/drawing/2014/main" id="{D22EF57F-D342-FE4E-904B-84EF23F2FD16}"/>
              </a:ext>
            </a:extLst>
          </p:cNvPr>
          <p:cNvSpPr>
            <a:spLocks noGrp="1"/>
          </p:cNvSpPr>
          <p:nvPr>
            <p:ph type="title"/>
          </p:nvPr>
        </p:nvSpPr>
        <p:spPr/>
        <p:txBody>
          <a:bodyPr>
            <a:normAutofit fontScale="90000"/>
          </a:bodyPr>
          <a:lstStyle/>
          <a:p>
            <a:r>
              <a:rPr lang="en-US"/>
              <a:t>Encryption of data </a:t>
            </a:r>
            <a:r>
              <a:rPr lang="en-US" i="1"/>
              <a:t>at rest</a:t>
            </a:r>
          </a:p>
        </p:txBody>
      </p:sp>
      <p:sp>
        <p:nvSpPr>
          <p:cNvPr id="6" name="Content Placeholder 5">
            <a:extLst>
              <a:ext uri="{FF2B5EF4-FFF2-40B4-BE49-F238E27FC236}">
                <a16:creationId xmlns:a16="http://schemas.microsoft.com/office/drawing/2014/main" id="{6EC9A840-75A0-E142-B90F-52153AD2824A}"/>
              </a:ext>
            </a:extLst>
          </p:cNvPr>
          <p:cNvSpPr>
            <a:spLocks noGrp="1"/>
          </p:cNvSpPr>
          <p:nvPr>
            <p:ph sz="quarter" idx="21"/>
          </p:nvPr>
        </p:nvSpPr>
        <p:spPr/>
        <p:txBody>
          <a:bodyPr>
            <a:normAutofit/>
          </a:bodyPr>
          <a:lstStyle/>
          <a:p>
            <a:r>
              <a:rPr lang="en-US" b="1">
                <a:solidFill>
                  <a:schemeClr val="accent6"/>
                </a:solidFill>
              </a:rPr>
              <a:t>Encryption</a:t>
            </a:r>
            <a:r>
              <a:rPr lang="en-US"/>
              <a:t> encodes data with a </a:t>
            </a:r>
            <a:r>
              <a:rPr lang="en-US">
                <a:solidFill>
                  <a:schemeClr val="accent5"/>
                </a:solidFill>
              </a:rPr>
              <a:t>secret key</a:t>
            </a:r>
            <a:r>
              <a:rPr lang="en-US"/>
              <a:t>, which makes it unreadable</a:t>
            </a:r>
          </a:p>
          <a:p>
            <a:pPr lvl="1"/>
            <a:r>
              <a:rPr lang="en-US"/>
              <a:t>Only those who have the secret key can decode the data</a:t>
            </a:r>
          </a:p>
          <a:p>
            <a:pPr lvl="1"/>
            <a:r>
              <a:rPr lang="en-US">
                <a:solidFill>
                  <a:schemeClr val="accent5"/>
                </a:solidFill>
              </a:rPr>
              <a:t>AWS KMS </a:t>
            </a:r>
            <a:r>
              <a:rPr lang="en-US"/>
              <a:t>can manage your secret keys</a:t>
            </a:r>
          </a:p>
          <a:p>
            <a:pPr lvl="1"/>
            <a:endParaRPr lang="en-US"/>
          </a:p>
          <a:p>
            <a:r>
              <a:rPr lang="en-US"/>
              <a:t>AWS supports encryption of </a:t>
            </a:r>
            <a:r>
              <a:rPr lang="en-US" b="1">
                <a:solidFill>
                  <a:schemeClr val="accent6"/>
                </a:solidFill>
              </a:rPr>
              <a:t>data at rest</a:t>
            </a:r>
          </a:p>
          <a:p>
            <a:pPr lvl="1"/>
            <a:r>
              <a:rPr lang="en-US"/>
              <a:t>Data at rest = Data stored physically (on disk or on tape)</a:t>
            </a:r>
            <a:endParaRPr lang="en-US" sz="2000"/>
          </a:p>
          <a:p>
            <a:pPr lvl="1"/>
            <a:r>
              <a:rPr lang="en-US"/>
              <a:t>You can encrypt data stored in any service that is supported by AWS KMS, including:</a:t>
            </a:r>
          </a:p>
          <a:p>
            <a:pPr lvl="2"/>
            <a:r>
              <a:rPr lang="en-US" sz="1800"/>
              <a:t>Amazon S3</a:t>
            </a:r>
          </a:p>
          <a:p>
            <a:pPr lvl="2"/>
            <a:r>
              <a:rPr lang="en-US" sz="1800"/>
              <a:t>Amazon EBS</a:t>
            </a:r>
          </a:p>
          <a:p>
            <a:pPr lvl="2"/>
            <a:r>
              <a:rPr lang="en-US" sz="1800"/>
              <a:t>Amazon Elastic File System (Amazon EFS)</a:t>
            </a:r>
          </a:p>
          <a:p>
            <a:pPr lvl="2"/>
            <a:r>
              <a:rPr lang="en-US" sz="1800"/>
              <a:t>Amazon RDS managed databases</a:t>
            </a:r>
            <a:endParaRPr lang="en-US"/>
          </a:p>
          <a:p>
            <a:endParaRPr lang="en-US"/>
          </a:p>
        </p:txBody>
      </p:sp>
      <p:pic>
        <p:nvPicPr>
          <p:cNvPr id="7" name="Graphic 6">
            <a:extLst>
              <a:ext uri="{FF2B5EF4-FFF2-40B4-BE49-F238E27FC236}">
                <a16:creationId xmlns:a16="http://schemas.microsoft.com/office/drawing/2014/main" id="{F0AE3648-7335-EC4B-B9DA-3E06651D49C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43212" y="4528476"/>
            <a:ext cx="1158787" cy="1158787"/>
          </a:xfrm>
          <a:prstGeom prst="rect">
            <a:avLst/>
          </a:prstGeom>
        </p:spPr>
      </p:pic>
      <p:pic>
        <p:nvPicPr>
          <p:cNvPr id="8" name="Graphic 7">
            <a:extLst>
              <a:ext uri="{FF2B5EF4-FFF2-40B4-BE49-F238E27FC236}">
                <a16:creationId xmlns:a16="http://schemas.microsoft.com/office/drawing/2014/main" id="{DD02F647-3426-3F47-8EB3-D0BC18EFF7D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43212" y="2068721"/>
            <a:ext cx="1158787" cy="1158787"/>
          </a:xfrm>
          <a:prstGeom prst="rect">
            <a:avLst/>
          </a:prstGeom>
        </p:spPr>
      </p:pic>
      <p:pic>
        <p:nvPicPr>
          <p:cNvPr id="9" name="Graphic 8">
            <a:extLst>
              <a:ext uri="{FF2B5EF4-FFF2-40B4-BE49-F238E27FC236}">
                <a16:creationId xmlns:a16="http://schemas.microsoft.com/office/drawing/2014/main" id="{106D1768-F270-514A-AECF-DEB0ACF0F63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3240" y="3429000"/>
            <a:ext cx="739943" cy="739943"/>
          </a:xfrm>
          <a:prstGeom prst="rect">
            <a:avLst/>
          </a:prstGeom>
        </p:spPr>
      </p:pic>
      <p:pic>
        <p:nvPicPr>
          <p:cNvPr id="10" name="Graphic 9">
            <a:extLst>
              <a:ext uri="{FF2B5EF4-FFF2-40B4-BE49-F238E27FC236}">
                <a16:creationId xmlns:a16="http://schemas.microsoft.com/office/drawing/2014/main" id="{8FDD700D-D77F-D040-9C76-0A641FD106F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916786" y="3429000"/>
            <a:ext cx="593816" cy="593816"/>
          </a:xfrm>
          <a:prstGeom prst="rect">
            <a:avLst/>
          </a:prstGeom>
        </p:spPr>
      </p:pic>
    </p:spTree>
    <p:custDataLst>
      <p:tags r:id="rId1"/>
    </p:custDataLst>
    <p:extLst>
      <p:ext uri="{BB962C8B-B14F-4D97-AF65-F5344CB8AC3E}">
        <p14:creationId xmlns:p14="http://schemas.microsoft.com/office/powerpoint/2010/main" val="11979395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29">
            <a:extLst>
              <a:ext uri="{FF2B5EF4-FFF2-40B4-BE49-F238E27FC236}">
                <a16:creationId xmlns:a16="http://schemas.microsoft.com/office/drawing/2014/main" id="{17D86392-E2DF-1149-B9EA-12D75C9573B4}"/>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51</a:t>
            </a:fld>
            <a:endParaRPr lang="en-US"/>
          </a:p>
        </p:txBody>
      </p:sp>
      <p:sp>
        <p:nvSpPr>
          <p:cNvPr id="5" name="Title 4">
            <a:extLst>
              <a:ext uri="{FF2B5EF4-FFF2-40B4-BE49-F238E27FC236}">
                <a16:creationId xmlns:a16="http://schemas.microsoft.com/office/drawing/2014/main" id="{D22EF57F-D342-FE4E-904B-84EF23F2FD16}"/>
              </a:ext>
            </a:extLst>
          </p:cNvPr>
          <p:cNvSpPr>
            <a:spLocks noGrp="1"/>
          </p:cNvSpPr>
          <p:nvPr>
            <p:ph type="title"/>
          </p:nvPr>
        </p:nvSpPr>
        <p:spPr/>
        <p:txBody>
          <a:bodyPr>
            <a:normAutofit fontScale="90000"/>
          </a:bodyPr>
          <a:lstStyle/>
          <a:p>
            <a:r>
              <a:rPr lang="en-US"/>
              <a:t>Encryption of data </a:t>
            </a:r>
            <a:r>
              <a:rPr lang="en-US" i="1"/>
              <a:t>in transit</a:t>
            </a:r>
          </a:p>
        </p:txBody>
      </p:sp>
      <p:sp>
        <p:nvSpPr>
          <p:cNvPr id="6" name="Content Placeholder 5">
            <a:extLst>
              <a:ext uri="{FF2B5EF4-FFF2-40B4-BE49-F238E27FC236}">
                <a16:creationId xmlns:a16="http://schemas.microsoft.com/office/drawing/2014/main" id="{6EC9A840-75A0-E142-B90F-52153AD2824A}"/>
              </a:ext>
            </a:extLst>
          </p:cNvPr>
          <p:cNvSpPr>
            <a:spLocks noGrp="1"/>
          </p:cNvSpPr>
          <p:nvPr>
            <p:ph sz="quarter" idx="21"/>
          </p:nvPr>
        </p:nvSpPr>
        <p:spPr>
          <a:xfrm>
            <a:off x="365760" y="1143000"/>
            <a:ext cx="11587890" cy="3521309"/>
          </a:xfrm>
        </p:spPr>
        <p:txBody>
          <a:bodyPr>
            <a:normAutofit/>
          </a:bodyPr>
          <a:lstStyle/>
          <a:p>
            <a:r>
              <a:rPr lang="en-US" sz="2600" dirty="0"/>
              <a:t>Encryption of </a:t>
            </a:r>
            <a:r>
              <a:rPr lang="en-US" sz="2600" b="1" dirty="0">
                <a:solidFill>
                  <a:schemeClr val="accent6"/>
                </a:solidFill>
              </a:rPr>
              <a:t>data in transit</a:t>
            </a:r>
            <a:r>
              <a:rPr lang="en-US" sz="2600" dirty="0">
                <a:solidFill>
                  <a:schemeClr val="accent6"/>
                </a:solidFill>
              </a:rPr>
              <a:t> </a:t>
            </a:r>
            <a:r>
              <a:rPr lang="en-US" sz="2600" dirty="0"/>
              <a:t>(data moving across a network)</a:t>
            </a:r>
          </a:p>
          <a:p>
            <a:pPr lvl="1"/>
            <a:r>
              <a:rPr lang="en-US" sz="2200" b="1" dirty="0"/>
              <a:t>Transport Layer Security (TLS)</a:t>
            </a:r>
            <a:r>
              <a:rPr lang="en-US" sz="2200" dirty="0"/>
              <a:t>—formerly SSL—is an open standard protocol </a:t>
            </a:r>
          </a:p>
          <a:p>
            <a:pPr lvl="1"/>
            <a:r>
              <a:rPr lang="en-US" sz="2200" b="1" dirty="0">
                <a:solidFill>
                  <a:schemeClr val="accent6"/>
                </a:solidFill>
              </a:rPr>
              <a:t>AWS Certificate Manager </a:t>
            </a:r>
            <a:r>
              <a:rPr lang="en-US" sz="2200" dirty="0"/>
              <a:t>provides a way to manage, deploy, and renew TLS or SSL certificates </a:t>
            </a:r>
          </a:p>
          <a:p>
            <a:r>
              <a:rPr lang="en-US" sz="2600" dirty="0"/>
              <a:t>Secure HTTP (HTTPS) creates a secure tunnel</a:t>
            </a:r>
          </a:p>
          <a:p>
            <a:pPr lvl="1"/>
            <a:r>
              <a:rPr lang="en-US" sz="2200" dirty="0"/>
              <a:t>Uses TLS or SSL for the bidirectional exchange of data</a:t>
            </a:r>
            <a:endParaRPr lang="en-US" sz="2600" dirty="0"/>
          </a:p>
          <a:p>
            <a:r>
              <a:rPr lang="en-US" sz="2600" b="1" dirty="0">
                <a:solidFill>
                  <a:schemeClr val="accent6"/>
                </a:solidFill>
              </a:rPr>
              <a:t>AWS services support data in transit encryption</a:t>
            </a:r>
            <a:r>
              <a:rPr lang="en-US" sz="2600" dirty="0"/>
              <a:t>. </a:t>
            </a:r>
          </a:p>
          <a:p>
            <a:pPr lvl="1"/>
            <a:r>
              <a:rPr lang="en-US" sz="2200" dirty="0"/>
              <a:t>Two examples:</a:t>
            </a:r>
          </a:p>
          <a:p>
            <a:endParaRPr lang="en-US" dirty="0"/>
          </a:p>
        </p:txBody>
      </p:sp>
      <p:pic>
        <p:nvPicPr>
          <p:cNvPr id="7" name="Graphic 6">
            <a:extLst>
              <a:ext uri="{FF2B5EF4-FFF2-40B4-BE49-F238E27FC236}">
                <a16:creationId xmlns:a16="http://schemas.microsoft.com/office/drawing/2014/main" id="{3E975BBF-D113-BF4A-96B0-87632F07914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04099" y="2880200"/>
            <a:ext cx="1331834" cy="1331834"/>
          </a:xfrm>
          <a:prstGeom prst="rect">
            <a:avLst/>
          </a:prstGeom>
        </p:spPr>
      </p:pic>
      <p:grpSp>
        <p:nvGrpSpPr>
          <p:cNvPr id="2" name="Group 1" descr="Two services in the AWS cloud: EC2 and Elastic File System with an arrow between them labeled &quot;TLS encrypted data traffic&quot;.">
            <a:extLst>
              <a:ext uri="{FF2B5EF4-FFF2-40B4-BE49-F238E27FC236}">
                <a16:creationId xmlns:a16="http://schemas.microsoft.com/office/drawing/2014/main" id="{A4C039FF-092A-4150-3D6E-AB642ACAB9DC}"/>
              </a:ext>
            </a:extLst>
          </p:cNvPr>
          <p:cNvGrpSpPr/>
          <p:nvPr/>
        </p:nvGrpSpPr>
        <p:grpSpPr>
          <a:xfrm>
            <a:off x="1020684" y="4848975"/>
            <a:ext cx="4295454" cy="1567335"/>
            <a:chOff x="1020684" y="4848975"/>
            <a:chExt cx="4295454" cy="1567335"/>
          </a:xfrm>
        </p:grpSpPr>
        <p:pic>
          <p:nvPicPr>
            <p:cNvPr id="20" name="Graphic 19">
              <a:extLst>
                <a:ext uri="{FF2B5EF4-FFF2-40B4-BE49-F238E27FC236}">
                  <a16:creationId xmlns:a16="http://schemas.microsoft.com/office/drawing/2014/main" id="{D168BF77-BBA5-BE4D-9213-2D505967900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0684" y="4853262"/>
              <a:ext cx="330200" cy="330200"/>
            </a:xfrm>
            <a:prstGeom prst="rect">
              <a:avLst/>
            </a:prstGeom>
          </p:spPr>
        </p:pic>
        <p:sp>
          <p:nvSpPr>
            <p:cNvPr id="21" name="Rectangle 20">
              <a:extLst>
                <a:ext uri="{FF2B5EF4-FFF2-40B4-BE49-F238E27FC236}">
                  <a16:creationId xmlns:a16="http://schemas.microsoft.com/office/drawing/2014/main" id="{4BD35962-03E2-D64B-B35C-B069FBD3CD18}"/>
                </a:ext>
              </a:extLst>
            </p:cNvPr>
            <p:cNvSpPr/>
            <p:nvPr/>
          </p:nvSpPr>
          <p:spPr>
            <a:xfrm>
              <a:off x="1020684" y="4848975"/>
              <a:ext cx="4295454" cy="15673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ln w="0"/>
                  <a:solidFill>
                    <a:sysClr val="windowText" lastClr="000000"/>
                  </a:solidFill>
                </a:rPr>
                <a:t>AWS Cloud</a:t>
              </a:r>
            </a:p>
          </p:txBody>
        </p:sp>
        <p:sp>
          <p:nvSpPr>
            <p:cNvPr id="22" name="TextBox 21">
              <a:extLst>
                <a:ext uri="{FF2B5EF4-FFF2-40B4-BE49-F238E27FC236}">
                  <a16:creationId xmlns:a16="http://schemas.microsoft.com/office/drawing/2014/main" id="{2DD7E3DC-AE21-F444-BCF8-D43FD8C1105E}"/>
                </a:ext>
              </a:extLst>
            </p:cNvPr>
            <p:cNvSpPr txBox="1"/>
            <p:nvPr/>
          </p:nvSpPr>
          <p:spPr>
            <a:xfrm>
              <a:off x="3777829" y="5915353"/>
              <a:ext cx="1506552" cy="338554"/>
            </a:xfrm>
            <a:prstGeom prst="rect">
              <a:avLst/>
            </a:prstGeom>
            <a:noFill/>
          </p:spPr>
          <p:txBody>
            <a:bodyPr wrap="square" rtlCol="0">
              <a:spAutoFit/>
            </a:bodyPr>
            <a:lstStyle/>
            <a:p>
              <a:pPr algn="ctr"/>
              <a:r>
                <a:rPr lang="en-US" sz="1600"/>
                <a:t>Amazon EFS</a:t>
              </a:r>
            </a:p>
          </p:txBody>
        </p:sp>
        <p:pic>
          <p:nvPicPr>
            <p:cNvPr id="23" name="Graphic 22">
              <a:extLst>
                <a:ext uri="{FF2B5EF4-FFF2-40B4-BE49-F238E27FC236}">
                  <a16:creationId xmlns:a16="http://schemas.microsoft.com/office/drawing/2014/main" id="{BCAAAB36-1FE0-1146-BF35-0C4948FB4B5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75505" y="5229224"/>
              <a:ext cx="711200" cy="711200"/>
            </a:xfrm>
            <a:prstGeom prst="rect">
              <a:avLst/>
            </a:prstGeom>
          </p:spPr>
        </p:pic>
        <p:sp>
          <p:nvSpPr>
            <p:cNvPr id="24" name="TextBox 23">
              <a:extLst>
                <a:ext uri="{FF2B5EF4-FFF2-40B4-BE49-F238E27FC236}">
                  <a16:creationId xmlns:a16="http://schemas.microsoft.com/office/drawing/2014/main" id="{E8E0C15C-ED27-A44B-9453-3E4CDAE9C0DC}"/>
                </a:ext>
              </a:extLst>
            </p:cNvPr>
            <p:cNvSpPr txBox="1"/>
            <p:nvPr/>
          </p:nvSpPr>
          <p:spPr>
            <a:xfrm>
              <a:off x="1433757" y="5979971"/>
              <a:ext cx="1513305" cy="338554"/>
            </a:xfrm>
            <a:prstGeom prst="rect">
              <a:avLst/>
            </a:prstGeom>
            <a:noFill/>
          </p:spPr>
          <p:txBody>
            <a:bodyPr wrap="square" rtlCol="0">
              <a:spAutoFit/>
            </a:bodyPr>
            <a:lstStyle/>
            <a:p>
              <a:pPr algn="ctr"/>
              <a:r>
                <a:rPr lang="en-US" sz="1600"/>
                <a:t>Amazon EC2</a:t>
              </a:r>
            </a:p>
          </p:txBody>
        </p:sp>
        <p:pic>
          <p:nvPicPr>
            <p:cNvPr id="25" name="Graphic 24">
              <a:extLst>
                <a:ext uri="{FF2B5EF4-FFF2-40B4-BE49-F238E27FC236}">
                  <a16:creationId xmlns:a16="http://schemas.microsoft.com/office/drawing/2014/main" id="{AF9D5CC4-9081-2545-82DD-287CBCC164F2}"/>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34809" y="5229224"/>
              <a:ext cx="711200" cy="711200"/>
            </a:xfrm>
            <a:prstGeom prst="rect">
              <a:avLst/>
            </a:prstGeom>
          </p:spPr>
        </p:pic>
        <p:cxnSp>
          <p:nvCxnSpPr>
            <p:cNvPr id="26" name="Straight Arrow Connector 25">
              <a:extLst>
                <a:ext uri="{FF2B5EF4-FFF2-40B4-BE49-F238E27FC236}">
                  <a16:creationId xmlns:a16="http://schemas.microsoft.com/office/drawing/2014/main" id="{133C17CC-1070-7548-88C4-8EC91B186D7B}"/>
                </a:ext>
              </a:extLst>
            </p:cNvPr>
            <p:cNvCxnSpPr>
              <a:cxnSpLocks/>
              <a:stCxn id="25" idx="3"/>
              <a:endCxn id="23" idx="1"/>
            </p:cNvCxnSpPr>
            <p:nvPr/>
          </p:nvCxnSpPr>
          <p:spPr>
            <a:xfrm>
              <a:off x="2546009" y="5584824"/>
              <a:ext cx="1629496"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286FBFA-AE07-7040-B255-A34262C53979}"/>
                </a:ext>
              </a:extLst>
            </p:cNvPr>
            <p:cNvSpPr txBox="1"/>
            <p:nvPr/>
          </p:nvSpPr>
          <p:spPr>
            <a:xfrm>
              <a:off x="2546008" y="5284316"/>
              <a:ext cx="1470274" cy="830997"/>
            </a:xfrm>
            <a:prstGeom prst="rect">
              <a:avLst/>
            </a:prstGeom>
            <a:noFill/>
          </p:spPr>
          <p:txBody>
            <a:bodyPr wrap="none" rtlCol="0">
              <a:spAutoFit/>
            </a:bodyPr>
            <a:lstStyle/>
            <a:p>
              <a:pPr algn="ctr"/>
              <a:r>
                <a:rPr lang="en-US" sz="1600">
                  <a:ea typeface="Amazon Ember Light" panose="020B0403020204020204" pitchFamily="34" charset="0"/>
                  <a:cs typeface="Amazon Ember Light" panose="020B0403020204020204" pitchFamily="34" charset="0"/>
                </a:rPr>
                <a:t>TLS encrypted</a:t>
              </a:r>
              <a:br>
                <a:rPr lang="en-US" sz="1600">
                  <a:ea typeface="Amazon Ember Light" panose="020B0403020204020204" pitchFamily="34" charset="0"/>
                  <a:cs typeface="Amazon Ember Light" panose="020B0403020204020204" pitchFamily="34" charset="0"/>
                </a:rPr>
              </a:br>
              <a:r>
                <a:rPr lang="en-US" sz="1600">
                  <a:ea typeface="Amazon Ember Light" panose="020B0403020204020204" pitchFamily="34" charset="0"/>
                  <a:cs typeface="Amazon Ember Light" panose="020B0403020204020204" pitchFamily="34" charset="0"/>
                </a:rPr>
                <a:t>data traffic</a:t>
              </a:r>
              <a:br>
                <a:rPr lang="en-US" sz="1600">
                  <a:ea typeface="Amazon Ember Light" panose="020B0403020204020204" pitchFamily="34" charset="0"/>
                  <a:cs typeface="Amazon Ember Light" panose="020B0403020204020204" pitchFamily="34" charset="0"/>
                </a:rPr>
              </a:br>
              <a:endParaRPr lang="en-US" sz="1600">
                <a:ea typeface="Amazon Ember Light" panose="020B0403020204020204" pitchFamily="34" charset="0"/>
                <a:cs typeface="Amazon Ember Light" panose="020B0403020204020204" pitchFamily="34" charset="0"/>
              </a:endParaRPr>
            </a:p>
          </p:txBody>
        </p:sp>
      </p:grpSp>
      <p:grpSp>
        <p:nvGrpSpPr>
          <p:cNvPr id="4" name="Group 3" descr="AWS Storage Gateway in a corporate data center connected to Amazon S3 in the AWS Cloud. The two way connection is shown as TLS or SSL encrypted.">
            <a:extLst>
              <a:ext uri="{FF2B5EF4-FFF2-40B4-BE49-F238E27FC236}">
                <a16:creationId xmlns:a16="http://schemas.microsoft.com/office/drawing/2014/main" id="{37A4CE58-4314-D3FF-0C56-A4B244F59040}"/>
              </a:ext>
            </a:extLst>
          </p:cNvPr>
          <p:cNvGrpSpPr/>
          <p:nvPr/>
        </p:nvGrpSpPr>
        <p:grpSpPr>
          <a:xfrm>
            <a:off x="6031220" y="4789015"/>
            <a:ext cx="5814798" cy="1649558"/>
            <a:chOff x="6031220" y="4789015"/>
            <a:chExt cx="5814798" cy="1649558"/>
          </a:xfrm>
        </p:grpSpPr>
        <p:sp>
          <p:nvSpPr>
            <p:cNvPr id="8" name="TextBox 7">
              <a:extLst>
                <a:ext uri="{FF2B5EF4-FFF2-40B4-BE49-F238E27FC236}">
                  <a16:creationId xmlns:a16="http://schemas.microsoft.com/office/drawing/2014/main" id="{563B0D2C-4299-C74D-B930-2F79F3496558}"/>
                </a:ext>
              </a:extLst>
            </p:cNvPr>
            <p:cNvSpPr txBox="1"/>
            <p:nvPr/>
          </p:nvSpPr>
          <p:spPr>
            <a:xfrm>
              <a:off x="6031220" y="5915353"/>
              <a:ext cx="2676047" cy="338554"/>
            </a:xfrm>
            <a:prstGeom prst="rect">
              <a:avLst/>
            </a:prstGeom>
            <a:noFill/>
          </p:spPr>
          <p:txBody>
            <a:bodyPr wrap="square" rtlCol="0">
              <a:spAutoFit/>
            </a:bodyPr>
            <a:lstStyle/>
            <a:p>
              <a:pPr algn="ctr"/>
              <a:r>
                <a:rPr lang="en-US" sz="1600"/>
                <a:t>AWS Storage Gateway</a:t>
              </a:r>
            </a:p>
          </p:txBody>
        </p:sp>
        <p:pic>
          <p:nvPicPr>
            <p:cNvPr id="10" name="Graphic 9">
              <a:extLst>
                <a:ext uri="{FF2B5EF4-FFF2-40B4-BE49-F238E27FC236}">
                  <a16:creationId xmlns:a16="http://schemas.microsoft.com/office/drawing/2014/main" id="{AEB72ECF-4025-1343-A3B7-92932589A867}"/>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013643" y="5208459"/>
              <a:ext cx="711200" cy="711200"/>
            </a:xfrm>
            <a:prstGeom prst="rect">
              <a:avLst/>
            </a:prstGeom>
          </p:spPr>
        </p:pic>
        <p:pic>
          <p:nvPicPr>
            <p:cNvPr id="11" name="Graphic 10">
              <a:extLst>
                <a:ext uri="{FF2B5EF4-FFF2-40B4-BE49-F238E27FC236}">
                  <a16:creationId xmlns:a16="http://schemas.microsoft.com/office/drawing/2014/main" id="{FFDB7C9D-5EDD-C244-80C6-41D18238225C}"/>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14416" y="5208459"/>
              <a:ext cx="711200" cy="711200"/>
            </a:xfrm>
            <a:prstGeom prst="rect">
              <a:avLst/>
            </a:prstGeom>
          </p:spPr>
        </p:pic>
        <p:sp>
          <p:nvSpPr>
            <p:cNvPr id="12" name="TextBox 11">
              <a:extLst>
                <a:ext uri="{FF2B5EF4-FFF2-40B4-BE49-F238E27FC236}">
                  <a16:creationId xmlns:a16="http://schemas.microsoft.com/office/drawing/2014/main" id="{AD86CB67-7D3B-A349-ACFB-F542C78957A0}"/>
                </a:ext>
              </a:extLst>
            </p:cNvPr>
            <p:cNvSpPr txBox="1"/>
            <p:nvPr/>
          </p:nvSpPr>
          <p:spPr>
            <a:xfrm>
              <a:off x="9544114" y="5868859"/>
              <a:ext cx="2301904" cy="338554"/>
            </a:xfrm>
            <a:prstGeom prst="rect">
              <a:avLst/>
            </a:prstGeom>
            <a:noFill/>
          </p:spPr>
          <p:txBody>
            <a:bodyPr wrap="square" rtlCol="0">
              <a:spAutoFit/>
            </a:bodyPr>
            <a:lstStyle/>
            <a:p>
              <a:pPr algn="ctr"/>
              <a:r>
                <a:rPr lang="en-US" sz="1600"/>
                <a:t>Amazon S3</a:t>
              </a:r>
            </a:p>
          </p:txBody>
        </p:sp>
        <p:sp>
          <p:nvSpPr>
            <p:cNvPr id="13" name="Rectangle 12">
              <a:extLst>
                <a:ext uri="{FF2B5EF4-FFF2-40B4-BE49-F238E27FC236}">
                  <a16:creationId xmlns:a16="http://schemas.microsoft.com/office/drawing/2014/main" id="{BA7CEFAA-99D9-F44C-87B2-11BAD1780B53}"/>
                </a:ext>
              </a:extLst>
            </p:cNvPr>
            <p:cNvSpPr/>
            <p:nvPr/>
          </p:nvSpPr>
          <p:spPr>
            <a:xfrm>
              <a:off x="9701937" y="4789015"/>
              <a:ext cx="2092044" cy="1603063"/>
            </a:xfrm>
            <a:prstGeom prst="rect">
              <a:avLst/>
            </a:prstGeom>
            <a:noFill/>
            <a:ln w="12700">
              <a:solidFill>
                <a:srgbClr val="141B2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chemeClr val="tx1"/>
                  </a:solidFill>
                </a:rPr>
                <a:t>AWS Cloud</a:t>
              </a:r>
            </a:p>
          </p:txBody>
        </p:sp>
        <p:pic>
          <p:nvPicPr>
            <p:cNvPr id="14" name="Graphic 13">
              <a:extLst>
                <a:ext uri="{FF2B5EF4-FFF2-40B4-BE49-F238E27FC236}">
                  <a16:creationId xmlns:a16="http://schemas.microsoft.com/office/drawing/2014/main" id="{2FBCBC44-8C3A-7847-A55D-67864385307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01937" y="4789016"/>
              <a:ext cx="330200" cy="330200"/>
            </a:xfrm>
            <a:prstGeom prst="rect">
              <a:avLst/>
            </a:prstGeom>
          </p:spPr>
        </p:pic>
        <p:sp>
          <p:nvSpPr>
            <p:cNvPr id="15" name="Rectangle 14">
              <a:extLst>
                <a:ext uri="{FF2B5EF4-FFF2-40B4-BE49-F238E27FC236}">
                  <a16:creationId xmlns:a16="http://schemas.microsoft.com/office/drawing/2014/main" id="{FFFDE15F-5EF1-FA40-92A8-198EAAE0EA24}"/>
                </a:ext>
              </a:extLst>
            </p:cNvPr>
            <p:cNvSpPr/>
            <p:nvPr/>
          </p:nvSpPr>
          <p:spPr>
            <a:xfrm>
              <a:off x="6090558" y="4789015"/>
              <a:ext cx="2557371" cy="1649558"/>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rgbClr val="5A6B86"/>
                  </a:solidFill>
                </a:rPr>
                <a:t>Corporate data center</a:t>
              </a:r>
            </a:p>
          </p:txBody>
        </p:sp>
        <p:pic>
          <p:nvPicPr>
            <p:cNvPr id="16" name="Graphic 15">
              <a:extLst>
                <a:ext uri="{FF2B5EF4-FFF2-40B4-BE49-F238E27FC236}">
                  <a16:creationId xmlns:a16="http://schemas.microsoft.com/office/drawing/2014/main" id="{8612BC22-75FB-AB47-937B-6CFD63D059EC}"/>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103632" y="4791624"/>
              <a:ext cx="330200" cy="330200"/>
            </a:xfrm>
            <a:prstGeom prst="rect">
              <a:avLst/>
            </a:prstGeom>
          </p:spPr>
        </p:pic>
        <p:cxnSp>
          <p:nvCxnSpPr>
            <p:cNvPr id="3" name="Straight Arrow Connector 2">
              <a:extLst>
                <a:ext uri="{FF2B5EF4-FFF2-40B4-BE49-F238E27FC236}">
                  <a16:creationId xmlns:a16="http://schemas.microsoft.com/office/drawing/2014/main" id="{D70BA1CC-3142-3948-9442-45C0446AFE4E}"/>
                </a:ext>
              </a:extLst>
            </p:cNvPr>
            <p:cNvCxnSpPr>
              <a:cxnSpLocks/>
              <a:stCxn id="10" idx="3"/>
              <a:endCxn id="11" idx="1"/>
            </p:cNvCxnSpPr>
            <p:nvPr/>
          </p:nvCxnSpPr>
          <p:spPr>
            <a:xfrm>
              <a:off x="7724843" y="5564059"/>
              <a:ext cx="2689573"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093D105-7A4F-E24B-8CD8-B734B2CD47B2}"/>
                </a:ext>
              </a:extLst>
            </p:cNvPr>
            <p:cNvSpPr txBox="1"/>
            <p:nvPr/>
          </p:nvSpPr>
          <p:spPr>
            <a:xfrm>
              <a:off x="8656197" y="5569702"/>
              <a:ext cx="1144865" cy="584775"/>
            </a:xfrm>
            <a:prstGeom prst="rect">
              <a:avLst/>
            </a:prstGeom>
            <a:noFill/>
          </p:spPr>
          <p:txBody>
            <a:bodyPr wrap="none" rtlCol="0">
              <a:spAutoFit/>
            </a:bodyPr>
            <a:lstStyle/>
            <a:p>
              <a:r>
                <a:rPr lang="en-US" sz="1600">
                  <a:ea typeface="Amazon Ember Light" panose="020B0403020204020204" pitchFamily="34" charset="0"/>
                  <a:cs typeface="Amazon Ember Light" panose="020B0403020204020204" pitchFamily="34" charset="0"/>
                </a:rPr>
                <a:t>TLS or SSL</a:t>
              </a:r>
            </a:p>
            <a:p>
              <a:r>
                <a:rPr lang="en-US" sz="1600">
                  <a:ea typeface="Amazon Ember Light" panose="020B0403020204020204" pitchFamily="34" charset="0"/>
                  <a:cs typeface="Amazon Ember Light" panose="020B0403020204020204" pitchFamily="34" charset="0"/>
                </a:rPr>
                <a:t>encrypted</a:t>
              </a:r>
            </a:p>
          </p:txBody>
        </p:sp>
        <p:pic>
          <p:nvPicPr>
            <p:cNvPr id="31" name="Graphic 30">
              <a:extLst>
                <a:ext uri="{FF2B5EF4-FFF2-40B4-BE49-F238E27FC236}">
                  <a16:creationId xmlns:a16="http://schemas.microsoft.com/office/drawing/2014/main" id="{D080BF57-55A1-AD48-8104-32DEE9B55EE5}"/>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946192" y="5117265"/>
              <a:ext cx="469900" cy="469900"/>
            </a:xfrm>
            <a:prstGeom prst="rect">
              <a:avLst/>
            </a:prstGeom>
          </p:spPr>
        </p:pic>
      </p:grpSp>
    </p:spTree>
    <p:custDataLst>
      <p:tags r:id="rId1"/>
    </p:custDataLst>
    <p:extLst>
      <p:ext uri="{BB962C8B-B14F-4D97-AF65-F5344CB8AC3E}">
        <p14:creationId xmlns:p14="http://schemas.microsoft.com/office/powerpoint/2010/main" val="18458161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116061-8C1B-9649-8E49-5F69A2833A68}"/>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52</a:t>
            </a:fld>
            <a:endParaRPr lang="en-US"/>
          </a:p>
        </p:txBody>
      </p:sp>
      <p:sp>
        <p:nvSpPr>
          <p:cNvPr id="2" name="Title 1">
            <a:extLst>
              <a:ext uri="{FF2B5EF4-FFF2-40B4-BE49-F238E27FC236}">
                <a16:creationId xmlns:a16="http://schemas.microsoft.com/office/drawing/2014/main" id="{78643D59-FA0B-C24E-B1FA-56BE7D45A6FE}"/>
              </a:ext>
            </a:extLst>
          </p:cNvPr>
          <p:cNvSpPr>
            <a:spLocks noGrp="1"/>
          </p:cNvSpPr>
          <p:nvPr>
            <p:ph type="title"/>
          </p:nvPr>
        </p:nvSpPr>
        <p:spPr/>
        <p:txBody>
          <a:bodyPr>
            <a:normAutofit fontScale="90000"/>
          </a:bodyPr>
          <a:lstStyle/>
          <a:p>
            <a:r>
              <a:rPr lang="en-US"/>
              <a:t>Securing Amazon S3 buckets and objects</a:t>
            </a:r>
          </a:p>
        </p:txBody>
      </p:sp>
      <p:sp>
        <p:nvSpPr>
          <p:cNvPr id="3" name="Content Placeholder 2">
            <a:extLst>
              <a:ext uri="{FF2B5EF4-FFF2-40B4-BE49-F238E27FC236}">
                <a16:creationId xmlns:a16="http://schemas.microsoft.com/office/drawing/2014/main" id="{269C8F78-99A8-5B49-AE2D-DA1EB051A759}"/>
              </a:ext>
            </a:extLst>
          </p:cNvPr>
          <p:cNvSpPr>
            <a:spLocks noGrp="1"/>
          </p:cNvSpPr>
          <p:nvPr>
            <p:ph sz="quarter" idx="21"/>
          </p:nvPr>
        </p:nvSpPr>
        <p:spPr/>
        <p:txBody>
          <a:bodyPr>
            <a:normAutofit/>
          </a:bodyPr>
          <a:lstStyle/>
          <a:p>
            <a:r>
              <a:rPr lang="en-US"/>
              <a:t>Newly created S3 buckets and objects are </a:t>
            </a:r>
            <a:r>
              <a:rPr lang="en-US">
                <a:solidFill>
                  <a:schemeClr val="accent6"/>
                </a:solidFill>
              </a:rPr>
              <a:t>private</a:t>
            </a:r>
            <a:r>
              <a:rPr lang="en-US"/>
              <a:t> and </a:t>
            </a:r>
            <a:r>
              <a:rPr lang="en-US">
                <a:solidFill>
                  <a:schemeClr val="accent6"/>
                </a:solidFill>
              </a:rPr>
              <a:t>protected</a:t>
            </a:r>
            <a:r>
              <a:rPr lang="en-US"/>
              <a:t> by default.</a:t>
            </a:r>
          </a:p>
          <a:p>
            <a:r>
              <a:rPr lang="en-US"/>
              <a:t>When use cases require sharing data objects on Amazon S3 – </a:t>
            </a:r>
          </a:p>
          <a:p>
            <a:pPr lvl="1"/>
            <a:r>
              <a:rPr lang="en-US" sz="2200"/>
              <a:t>It is essential to manage and control the data access.</a:t>
            </a:r>
          </a:p>
          <a:p>
            <a:pPr lvl="1"/>
            <a:r>
              <a:rPr lang="en-US" sz="2200"/>
              <a:t>Follow the </a:t>
            </a:r>
            <a:r>
              <a:rPr lang="en-US" sz="2200" b="1">
                <a:solidFill>
                  <a:schemeClr val="accent6"/>
                </a:solidFill>
              </a:rPr>
              <a:t>permissions that follow the principle of least privilege </a:t>
            </a:r>
            <a:r>
              <a:rPr lang="en-US" sz="2200"/>
              <a:t>and consider using Amazon S3 encryption.</a:t>
            </a:r>
          </a:p>
          <a:p>
            <a:r>
              <a:rPr lang="en-US"/>
              <a:t>Tools and options for controlling access to S3 data include – </a:t>
            </a:r>
          </a:p>
          <a:p>
            <a:pPr lvl="1"/>
            <a:r>
              <a:rPr lang="en-US" sz="2200">
                <a:hlinkClick r:id="rId4"/>
              </a:rPr>
              <a:t>Amazon S3 Block Public Access </a:t>
            </a:r>
            <a:r>
              <a:rPr lang="en-US" sz="2200"/>
              <a:t>feature: Simple to use.</a:t>
            </a:r>
          </a:p>
          <a:p>
            <a:pPr lvl="1"/>
            <a:r>
              <a:rPr lang="en-US" sz="2200"/>
              <a:t>IAM policies: A good option when the user can authenticate using IAM.</a:t>
            </a:r>
          </a:p>
          <a:p>
            <a:pPr lvl="1"/>
            <a:r>
              <a:rPr lang="en-US" sz="2200">
                <a:hlinkClick r:id="rId5"/>
              </a:rPr>
              <a:t>Bucket policies</a:t>
            </a:r>
            <a:endParaRPr lang="en-US" sz="2200"/>
          </a:p>
          <a:p>
            <a:pPr lvl="1"/>
            <a:r>
              <a:rPr lang="en-US" sz="2200">
                <a:hlinkClick r:id="rId6"/>
              </a:rPr>
              <a:t>Access control lists</a:t>
            </a:r>
            <a:r>
              <a:rPr lang="en-US" sz="2200"/>
              <a:t> (ACLs): A legacy access control mechanism.</a:t>
            </a:r>
          </a:p>
          <a:p>
            <a:pPr lvl="1"/>
            <a:r>
              <a:rPr lang="en-US" sz="2200" u="sng">
                <a:hlinkClick r:id="rId7"/>
              </a:rPr>
              <a:t>AWS Trusted Advisor</a:t>
            </a:r>
            <a:r>
              <a:rPr lang="en-US" sz="2200"/>
              <a:t> bucket permission check: A free feature.</a:t>
            </a:r>
          </a:p>
          <a:p>
            <a:pPr marL="457200" lvl="1" indent="0">
              <a:buNone/>
            </a:pPr>
            <a:endParaRPr lang="en-US"/>
          </a:p>
          <a:p>
            <a:pPr lvl="1"/>
            <a:endParaRPr lang="en-US"/>
          </a:p>
          <a:p>
            <a:endParaRPr lang="en-US"/>
          </a:p>
        </p:txBody>
      </p:sp>
    </p:spTree>
    <p:custDataLst>
      <p:tags r:id="rId1"/>
    </p:custDataLst>
    <p:extLst>
      <p:ext uri="{BB962C8B-B14F-4D97-AF65-F5344CB8AC3E}">
        <p14:creationId xmlns:p14="http://schemas.microsoft.com/office/powerpoint/2010/main" val="40118757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Section</a:t>
            </a:r>
            <a:r>
              <a:rPr lang="en-US" sz="4000"/>
              <a:t> 6: Working to ensure compliance</a:t>
            </a:r>
          </a:p>
        </p:txBody>
      </p:sp>
      <p:sp>
        <p:nvSpPr>
          <p:cNvPr id="3" name="Text Placeholder 2">
            <a:extLst>
              <a:ext uri="{FF2B5EF4-FFF2-40B4-BE49-F238E27FC236}">
                <a16:creationId xmlns:a16="http://schemas.microsoft.com/office/drawing/2014/main" id="{4CD374E3-FB71-C442-8DCB-4AACC1CD8B99}"/>
              </a:ext>
            </a:extLst>
          </p:cNvPr>
          <p:cNvSpPr>
            <a:spLocks noGrp="1"/>
          </p:cNvSpPr>
          <p:nvPr>
            <p:ph type="subTitle" idx="1"/>
          </p:nvPr>
        </p:nvSpPr>
        <p:spPr/>
        <p:txBody>
          <a:bodyPr>
            <a:normAutofit/>
          </a:bodyPr>
          <a:lstStyle/>
          <a:p>
            <a:r>
              <a:rPr lang="en-US"/>
              <a:t>Module 4: AWS Cloud Security</a:t>
            </a:r>
          </a:p>
          <a:p>
            <a:endParaRPr lang="en-US"/>
          </a:p>
        </p:txBody>
      </p:sp>
    </p:spTree>
    <p:custDataLst>
      <p:tags r:id="rId1"/>
    </p:custDataLst>
    <p:extLst>
      <p:ext uri="{BB962C8B-B14F-4D97-AF65-F5344CB8AC3E}">
        <p14:creationId xmlns:p14="http://schemas.microsoft.com/office/powerpoint/2010/main" val="40314706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9A5D2F-177B-6E4C-9D3C-CD33F0D3E6C6}"/>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54</a:t>
            </a:fld>
            <a:endParaRPr lang="en-US"/>
          </a:p>
        </p:txBody>
      </p:sp>
      <p:sp>
        <p:nvSpPr>
          <p:cNvPr id="5" name="Title 4">
            <a:extLst>
              <a:ext uri="{FF2B5EF4-FFF2-40B4-BE49-F238E27FC236}">
                <a16:creationId xmlns:a16="http://schemas.microsoft.com/office/drawing/2014/main" id="{4A8C6A08-4375-094B-B87A-3AFB37BAF812}"/>
              </a:ext>
            </a:extLst>
          </p:cNvPr>
          <p:cNvSpPr>
            <a:spLocks noGrp="1"/>
          </p:cNvSpPr>
          <p:nvPr>
            <p:ph type="title"/>
          </p:nvPr>
        </p:nvSpPr>
        <p:spPr/>
        <p:txBody>
          <a:bodyPr>
            <a:normAutofit fontScale="90000"/>
          </a:bodyPr>
          <a:lstStyle/>
          <a:p>
            <a:r>
              <a:rPr lang="en-US"/>
              <a:t>AWS compliance programs</a:t>
            </a:r>
          </a:p>
        </p:txBody>
      </p:sp>
      <p:sp>
        <p:nvSpPr>
          <p:cNvPr id="6" name="Content Placeholder 5">
            <a:extLst>
              <a:ext uri="{FF2B5EF4-FFF2-40B4-BE49-F238E27FC236}">
                <a16:creationId xmlns:a16="http://schemas.microsoft.com/office/drawing/2014/main" id="{4A742DEB-C1B1-654C-94B3-B2B23D052606}"/>
              </a:ext>
            </a:extLst>
          </p:cNvPr>
          <p:cNvSpPr>
            <a:spLocks noGrp="1"/>
          </p:cNvSpPr>
          <p:nvPr>
            <p:ph sz="quarter" idx="21"/>
          </p:nvPr>
        </p:nvSpPr>
        <p:spPr/>
        <p:txBody>
          <a:bodyPr>
            <a:normAutofit/>
          </a:bodyPr>
          <a:lstStyle/>
          <a:p>
            <a:r>
              <a:rPr lang="en-US" sz="2000"/>
              <a:t>Customers are subject to many different security and compliance regulations and requirements.</a:t>
            </a:r>
          </a:p>
          <a:p>
            <a:r>
              <a:rPr lang="en-US" sz="2000" b="1">
                <a:solidFill>
                  <a:schemeClr val="accent2"/>
                </a:solidFill>
              </a:rPr>
              <a:t>AWS engages with certifying bodies and independent auditors to provide customers with detailed information about the policies, processes, and controls that are established and operated by AWS.</a:t>
            </a:r>
          </a:p>
          <a:p>
            <a:endParaRPr lang="en-US" sz="2000">
              <a:solidFill>
                <a:schemeClr val="accent2"/>
              </a:solidFill>
            </a:endParaRPr>
          </a:p>
          <a:p>
            <a:r>
              <a:rPr lang="en-US" sz="2000"/>
              <a:t>Compliance programs can be broadly categorized – </a:t>
            </a:r>
          </a:p>
          <a:p>
            <a:pPr lvl="1"/>
            <a:r>
              <a:rPr lang="en-US" sz="1800" b="1">
                <a:solidFill>
                  <a:schemeClr val="accent6"/>
                </a:solidFill>
              </a:rPr>
              <a:t>Certifications and attestations</a:t>
            </a:r>
          </a:p>
          <a:p>
            <a:pPr lvl="2"/>
            <a:r>
              <a:rPr lang="en-US" sz="1700"/>
              <a:t>Assessed by a third-party, independent auditor</a:t>
            </a:r>
          </a:p>
          <a:p>
            <a:pPr lvl="2"/>
            <a:r>
              <a:rPr lang="en-US" sz="1700"/>
              <a:t>Examples: </a:t>
            </a:r>
            <a:r>
              <a:rPr lang="en-US" sz="1700">
                <a:solidFill>
                  <a:schemeClr val="accent6"/>
                </a:solidFill>
              </a:rPr>
              <a:t>ISO</a:t>
            </a:r>
            <a:r>
              <a:rPr lang="en-US" sz="1700"/>
              <a:t> 27001, 27017, 27018, and ISO/IEC 9001</a:t>
            </a:r>
          </a:p>
          <a:p>
            <a:pPr lvl="1"/>
            <a:r>
              <a:rPr lang="en-US" sz="1800" b="1">
                <a:solidFill>
                  <a:schemeClr val="accent6"/>
                </a:solidFill>
              </a:rPr>
              <a:t>Laws, regulations, and privacy</a:t>
            </a:r>
          </a:p>
          <a:p>
            <a:pPr lvl="2"/>
            <a:r>
              <a:rPr lang="en-US" sz="1700"/>
              <a:t>AWS provides security features and legal agreements to support compliance </a:t>
            </a:r>
          </a:p>
          <a:p>
            <a:pPr lvl="2"/>
            <a:r>
              <a:rPr lang="en-US" sz="1700"/>
              <a:t>Examples: EU </a:t>
            </a:r>
            <a:r>
              <a:rPr lang="en-US" sz="1700">
                <a:solidFill>
                  <a:schemeClr val="accent6"/>
                </a:solidFill>
              </a:rPr>
              <a:t>General Data Protection Regulation (GDPR)</a:t>
            </a:r>
            <a:r>
              <a:rPr lang="en-US" sz="1700"/>
              <a:t>, HIPAA</a:t>
            </a:r>
          </a:p>
          <a:p>
            <a:pPr lvl="1"/>
            <a:r>
              <a:rPr lang="en-US" sz="1800" b="1">
                <a:solidFill>
                  <a:schemeClr val="accent6"/>
                </a:solidFill>
              </a:rPr>
              <a:t>Alignments and frameworks</a:t>
            </a:r>
          </a:p>
          <a:p>
            <a:pPr lvl="2"/>
            <a:r>
              <a:rPr lang="en-US" sz="1700"/>
              <a:t>Industry- or function-specific security or compliance requirements</a:t>
            </a:r>
          </a:p>
          <a:p>
            <a:pPr lvl="2"/>
            <a:r>
              <a:rPr lang="en-US" sz="1700"/>
              <a:t>Examples: Center for Internet Security (CIS), EU-US Privacy Shield certified</a:t>
            </a:r>
          </a:p>
          <a:p>
            <a:pPr lvl="2"/>
            <a:endParaRPr lang="en-US" sz="1600"/>
          </a:p>
        </p:txBody>
      </p:sp>
      <p:pic>
        <p:nvPicPr>
          <p:cNvPr id="8" name="Picture 7">
            <a:extLst>
              <a:ext uri="{FF2B5EF4-FFF2-40B4-BE49-F238E27FC236}">
                <a16:creationId xmlns:a16="http://schemas.microsoft.com/office/drawing/2014/main" id="{A998CB95-ED7B-5B47-9555-52038638F37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609113" y="3276599"/>
            <a:ext cx="838201" cy="838201"/>
          </a:xfrm>
          <a:prstGeom prst="rect">
            <a:avLst/>
          </a:prstGeom>
        </p:spPr>
      </p:pic>
      <p:pic>
        <p:nvPicPr>
          <p:cNvPr id="7" name="Picture 6">
            <a:extLst>
              <a:ext uri="{FF2B5EF4-FFF2-40B4-BE49-F238E27FC236}">
                <a16:creationId xmlns:a16="http://schemas.microsoft.com/office/drawing/2014/main" id="{D61AC2CF-1A3E-7847-92CD-2DAB502288FF}"/>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572927" y="4278084"/>
            <a:ext cx="815248" cy="755735"/>
          </a:xfrm>
          <a:prstGeom prst="rect">
            <a:avLst/>
          </a:prstGeom>
        </p:spPr>
      </p:pic>
      <p:pic>
        <p:nvPicPr>
          <p:cNvPr id="12" name="Picture 11">
            <a:extLst>
              <a:ext uri="{FF2B5EF4-FFF2-40B4-BE49-F238E27FC236}">
                <a16:creationId xmlns:a16="http://schemas.microsoft.com/office/drawing/2014/main" id="{B3F331EC-F910-8A46-AD50-6D51E76948D8}"/>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rot="5400000" flipH="1">
            <a:off x="9453720" y="5222321"/>
            <a:ext cx="695992" cy="696688"/>
          </a:xfrm>
          <a:prstGeom prst="rect">
            <a:avLst/>
          </a:prstGeom>
        </p:spPr>
      </p:pic>
    </p:spTree>
    <p:custDataLst>
      <p:tags r:id="rId1"/>
    </p:custDataLst>
    <p:extLst>
      <p:ext uri="{BB962C8B-B14F-4D97-AF65-F5344CB8AC3E}">
        <p14:creationId xmlns:p14="http://schemas.microsoft.com/office/powerpoint/2010/main" val="27749745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4032C5-8196-CC4B-AF9B-19C23A03C299}"/>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55</a:t>
            </a:fld>
            <a:endParaRPr lang="en-US"/>
          </a:p>
        </p:txBody>
      </p:sp>
      <p:sp>
        <p:nvSpPr>
          <p:cNvPr id="2" name="Title 1">
            <a:extLst>
              <a:ext uri="{FF2B5EF4-FFF2-40B4-BE49-F238E27FC236}">
                <a16:creationId xmlns:a16="http://schemas.microsoft.com/office/drawing/2014/main" id="{011550DE-5AFC-2B46-92DE-F3F756F899DC}"/>
              </a:ext>
            </a:extLst>
          </p:cNvPr>
          <p:cNvSpPr>
            <a:spLocks noGrp="1"/>
          </p:cNvSpPr>
          <p:nvPr>
            <p:ph type="title"/>
          </p:nvPr>
        </p:nvSpPr>
        <p:spPr/>
        <p:txBody>
          <a:bodyPr>
            <a:normAutofit fontScale="90000"/>
          </a:bodyPr>
          <a:lstStyle/>
          <a:p>
            <a:r>
              <a:rPr lang="en-US"/>
              <a:t>AWS Config</a:t>
            </a:r>
          </a:p>
        </p:txBody>
      </p:sp>
      <p:sp>
        <p:nvSpPr>
          <p:cNvPr id="3" name="Content Placeholder 2">
            <a:extLst>
              <a:ext uri="{FF2B5EF4-FFF2-40B4-BE49-F238E27FC236}">
                <a16:creationId xmlns:a16="http://schemas.microsoft.com/office/drawing/2014/main" id="{1DB336AE-B72D-C54B-B563-2BCC6207EE96}"/>
              </a:ext>
            </a:extLst>
          </p:cNvPr>
          <p:cNvSpPr>
            <a:spLocks noGrp="1"/>
          </p:cNvSpPr>
          <p:nvPr>
            <p:ph sz="quarter" idx="21"/>
          </p:nvPr>
        </p:nvSpPr>
        <p:spPr>
          <a:xfrm>
            <a:off x="6190488" y="1527048"/>
            <a:ext cx="5678424" cy="4645152"/>
          </a:xfrm>
        </p:spPr>
        <p:txBody>
          <a:bodyPr>
            <a:normAutofit/>
          </a:bodyPr>
          <a:lstStyle/>
          <a:p>
            <a:r>
              <a:rPr lang="en-US" sz="2400" b="1">
                <a:solidFill>
                  <a:schemeClr val="accent6"/>
                </a:solidFill>
              </a:rPr>
              <a:t>Assess, audit, and evaluate the configurations of AWS resources. </a:t>
            </a:r>
          </a:p>
          <a:p>
            <a:r>
              <a:rPr lang="en-US" sz="2400"/>
              <a:t>Use for continuous monitoring of configurations.</a:t>
            </a:r>
          </a:p>
          <a:p>
            <a:r>
              <a:rPr lang="en-US" sz="2400"/>
              <a:t>Automatically evaluate </a:t>
            </a:r>
            <a:br>
              <a:rPr lang="en-US" sz="2400"/>
            </a:br>
            <a:r>
              <a:rPr lang="en-US" sz="2400" i="1"/>
              <a:t>recorded</a:t>
            </a:r>
            <a:r>
              <a:rPr lang="en-US" sz="2400"/>
              <a:t> configurations versus </a:t>
            </a:r>
            <a:br>
              <a:rPr lang="en-US" sz="2400"/>
            </a:br>
            <a:r>
              <a:rPr lang="en-US" sz="2400" i="1"/>
              <a:t>desired</a:t>
            </a:r>
            <a:r>
              <a:rPr lang="en-US" sz="2400"/>
              <a:t> configurations.</a:t>
            </a:r>
          </a:p>
          <a:p>
            <a:r>
              <a:rPr lang="en-US" sz="2400"/>
              <a:t>Review configuration changes.</a:t>
            </a:r>
          </a:p>
          <a:p>
            <a:r>
              <a:rPr lang="en-US" sz="2400"/>
              <a:t>View detailed configuration histories.</a:t>
            </a:r>
          </a:p>
          <a:p>
            <a:r>
              <a:rPr lang="en-US" sz="2400" b="1">
                <a:solidFill>
                  <a:schemeClr val="accent6"/>
                </a:solidFill>
              </a:rPr>
              <a:t>Simplify compliance auditing and security analysis.</a:t>
            </a:r>
          </a:p>
        </p:txBody>
      </p:sp>
      <p:sp>
        <p:nvSpPr>
          <p:cNvPr id="6" name="TextBox 5">
            <a:extLst>
              <a:ext uri="{FF2B5EF4-FFF2-40B4-BE49-F238E27FC236}">
                <a16:creationId xmlns:a16="http://schemas.microsoft.com/office/drawing/2014/main" id="{B0CA3808-C3F0-6C44-A3DD-69CC0A651A56}"/>
              </a:ext>
            </a:extLst>
          </p:cNvPr>
          <p:cNvSpPr txBox="1"/>
          <p:nvPr/>
        </p:nvSpPr>
        <p:spPr>
          <a:xfrm>
            <a:off x="60860" y="1823792"/>
            <a:ext cx="1303523" cy="338554"/>
          </a:xfrm>
          <a:prstGeom prst="rect">
            <a:avLst/>
          </a:prstGeom>
          <a:noFill/>
        </p:spPr>
        <p:txBody>
          <a:bodyPr wrap="square" rtlCol="0">
            <a:spAutoFit/>
          </a:bodyPr>
          <a:lstStyle/>
          <a:p>
            <a:pPr algn="ctr"/>
            <a:r>
              <a:rPr lang="en-US" sz="1600"/>
              <a:t>AWS Config</a:t>
            </a:r>
          </a:p>
        </p:txBody>
      </p:sp>
      <p:pic>
        <p:nvPicPr>
          <p:cNvPr id="7" name="Graphic 6">
            <a:extLst>
              <a:ext uri="{FF2B5EF4-FFF2-40B4-BE49-F238E27FC236}">
                <a16:creationId xmlns:a16="http://schemas.microsoft.com/office/drawing/2014/main" id="{28085EEE-9107-F54F-AD32-3FFA875F4E9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9100" y="1234653"/>
            <a:ext cx="587044" cy="587044"/>
          </a:xfrm>
          <a:prstGeom prst="rect">
            <a:avLst/>
          </a:prstGeom>
        </p:spPr>
      </p:pic>
      <p:pic>
        <p:nvPicPr>
          <p:cNvPr id="8" name="Picture 7" descr="AWS Config Dashboard.">
            <a:extLst>
              <a:ext uri="{FF2B5EF4-FFF2-40B4-BE49-F238E27FC236}">
                <a16:creationId xmlns:a16="http://schemas.microsoft.com/office/drawing/2014/main" id="{88AB2BA3-8A58-5047-8E1D-A5AFCB49ACA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19100" y="2222353"/>
            <a:ext cx="5542919" cy="3909662"/>
          </a:xfrm>
          <a:prstGeom prst="rect">
            <a:avLst/>
          </a:prstGeom>
          <a:ln>
            <a:solidFill>
              <a:schemeClr val="tx1"/>
            </a:solidFill>
          </a:ln>
        </p:spPr>
      </p:pic>
      <p:sp>
        <p:nvSpPr>
          <p:cNvPr id="9" name="TextBox 8">
            <a:extLst>
              <a:ext uri="{FF2B5EF4-FFF2-40B4-BE49-F238E27FC236}">
                <a16:creationId xmlns:a16="http://schemas.microsoft.com/office/drawing/2014/main" id="{FEDACD8A-E45B-054E-B69D-9BEF4EEE121D}"/>
              </a:ext>
            </a:extLst>
          </p:cNvPr>
          <p:cNvSpPr txBox="1"/>
          <p:nvPr/>
        </p:nvSpPr>
        <p:spPr>
          <a:xfrm>
            <a:off x="2286828" y="1909411"/>
            <a:ext cx="3558988" cy="338554"/>
          </a:xfrm>
          <a:prstGeom prst="rect">
            <a:avLst/>
          </a:prstGeom>
          <a:noFill/>
        </p:spPr>
        <p:txBody>
          <a:bodyPr wrap="none" rtlCol="0">
            <a:spAutoFit/>
          </a:bodyPr>
          <a:lstStyle/>
          <a:p>
            <a:r>
              <a:rPr lang="en-US" sz="1600" b="1">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Example AWS Config Dashboard view</a:t>
            </a:r>
          </a:p>
        </p:txBody>
      </p:sp>
    </p:spTree>
    <p:custDataLst>
      <p:tags r:id="rId1"/>
    </p:custDataLst>
    <p:extLst>
      <p:ext uri="{BB962C8B-B14F-4D97-AF65-F5344CB8AC3E}">
        <p14:creationId xmlns:p14="http://schemas.microsoft.com/office/powerpoint/2010/main" val="28980090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ECE290-5482-9245-8C62-A17F4D0A82CD}"/>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56</a:t>
            </a:fld>
            <a:endParaRPr lang="en-US"/>
          </a:p>
        </p:txBody>
      </p:sp>
      <p:sp>
        <p:nvSpPr>
          <p:cNvPr id="2" name="Title 1">
            <a:extLst>
              <a:ext uri="{FF2B5EF4-FFF2-40B4-BE49-F238E27FC236}">
                <a16:creationId xmlns:a16="http://schemas.microsoft.com/office/drawing/2014/main" id="{57B9B91D-316E-A940-956F-F9227A8506A1}"/>
              </a:ext>
            </a:extLst>
          </p:cNvPr>
          <p:cNvSpPr>
            <a:spLocks noGrp="1"/>
          </p:cNvSpPr>
          <p:nvPr>
            <p:ph type="title"/>
          </p:nvPr>
        </p:nvSpPr>
        <p:spPr/>
        <p:txBody>
          <a:bodyPr>
            <a:normAutofit fontScale="90000"/>
          </a:bodyPr>
          <a:lstStyle/>
          <a:p>
            <a:r>
              <a:rPr lang="en-US"/>
              <a:t>AWS Artifact</a:t>
            </a:r>
          </a:p>
        </p:txBody>
      </p:sp>
      <p:sp>
        <p:nvSpPr>
          <p:cNvPr id="3" name="Content Placeholder 2">
            <a:extLst>
              <a:ext uri="{FF2B5EF4-FFF2-40B4-BE49-F238E27FC236}">
                <a16:creationId xmlns:a16="http://schemas.microsoft.com/office/drawing/2014/main" id="{D5D7626D-B760-3748-9FBA-AC4D6757D7E6}"/>
              </a:ext>
            </a:extLst>
          </p:cNvPr>
          <p:cNvSpPr>
            <a:spLocks noGrp="1"/>
          </p:cNvSpPr>
          <p:nvPr>
            <p:ph sz="quarter" idx="21"/>
          </p:nvPr>
        </p:nvSpPr>
        <p:spPr>
          <a:xfrm>
            <a:off x="1700784" y="1527048"/>
            <a:ext cx="9747504" cy="4645152"/>
          </a:xfrm>
        </p:spPr>
        <p:txBody>
          <a:bodyPr>
            <a:normAutofit/>
          </a:bodyPr>
          <a:lstStyle/>
          <a:p>
            <a:r>
              <a:rPr lang="en-US" b="1">
                <a:solidFill>
                  <a:schemeClr val="accent6"/>
                </a:solidFill>
              </a:rPr>
              <a:t>Is a resource for compliance-related information</a:t>
            </a:r>
          </a:p>
          <a:p>
            <a:r>
              <a:rPr lang="en-US"/>
              <a:t>Provide access to security and compliance reports, and select online agreements</a:t>
            </a:r>
          </a:p>
          <a:p>
            <a:r>
              <a:rPr lang="en-US"/>
              <a:t>Can access example downloads:</a:t>
            </a:r>
          </a:p>
          <a:p>
            <a:pPr lvl="1"/>
            <a:r>
              <a:rPr lang="en-US"/>
              <a:t>AWS ISO certifications</a:t>
            </a:r>
          </a:p>
          <a:p>
            <a:pPr lvl="1"/>
            <a:r>
              <a:rPr lang="en-US"/>
              <a:t>Payment Card Industry (PCI) and Service Organization Control (SOC) reports</a:t>
            </a:r>
          </a:p>
          <a:p>
            <a:r>
              <a:rPr lang="en-US"/>
              <a:t>Access AWS Artifact directly from the AWS Management Console</a:t>
            </a:r>
          </a:p>
          <a:p>
            <a:pPr lvl="1"/>
            <a:r>
              <a:rPr lang="en-US"/>
              <a:t>Under </a:t>
            </a:r>
            <a:r>
              <a:rPr lang="en-US" b="1"/>
              <a:t>Security, Identify &amp; Compliance</a:t>
            </a:r>
            <a:r>
              <a:rPr lang="en-US"/>
              <a:t>, click </a:t>
            </a:r>
            <a:r>
              <a:rPr lang="en-US" b="1"/>
              <a:t>Artifact</a:t>
            </a:r>
            <a:r>
              <a:rPr lang="en-US"/>
              <a:t>.</a:t>
            </a:r>
          </a:p>
        </p:txBody>
      </p:sp>
      <p:sp>
        <p:nvSpPr>
          <p:cNvPr id="6" name="TextBox 5">
            <a:extLst>
              <a:ext uri="{FF2B5EF4-FFF2-40B4-BE49-F238E27FC236}">
                <a16:creationId xmlns:a16="http://schemas.microsoft.com/office/drawing/2014/main" id="{AAB392BB-FF10-6043-82BD-D7DCF60ABD63}"/>
              </a:ext>
            </a:extLst>
          </p:cNvPr>
          <p:cNvSpPr txBox="1"/>
          <p:nvPr/>
        </p:nvSpPr>
        <p:spPr>
          <a:xfrm>
            <a:off x="187571" y="2340458"/>
            <a:ext cx="1421398" cy="338554"/>
          </a:xfrm>
          <a:prstGeom prst="rect">
            <a:avLst/>
          </a:prstGeom>
          <a:noFill/>
        </p:spPr>
        <p:txBody>
          <a:bodyPr wrap="square" rtlCol="0">
            <a:spAutoFit/>
          </a:bodyPr>
          <a:lstStyle/>
          <a:p>
            <a:pPr algn="ctr"/>
            <a:r>
              <a:rPr lang="en-US" sz="1600"/>
              <a:t>AWS Artifact</a:t>
            </a:r>
          </a:p>
        </p:txBody>
      </p:sp>
      <p:pic>
        <p:nvPicPr>
          <p:cNvPr id="7" name="Graphic 6">
            <a:extLst>
              <a:ext uri="{FF2B5EF4-FFF2-40B4-BE49-F238E27FC236}">
                <a16:creationId xmlns:a16="http://schemas.microsoft.com/office/drawing/2014/main" id="{B96FB11E-93E8-6D45-B8AB-A0496BE57A7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2670" y="1606379"/>
            <a:ext cx="711200" cy="711200"/>
          </a:xfrm>
          <a:prstGeom prst="rect">
            <a:avLst/>
          </a:prstGeom>
        </p:spPr>
      </p:pic>
    </p:spTree>
    <p:custDataLst>
      <p:tags r:id="rId1"/>
    </p:custDataLst>
    <p:extLst>
      <p:ext uri="{BB962C8B-B14F-4D97-AF65-F5344CB8AC3E}">
        <p14:creationId xmlns:p14="http://schemas.microsoft.com/office/powerpoint/2010/main" val="3937232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4_TC-2022-ONEBRAND" val="0csGKSIY"/>
  <p:tag name="ARTICULATE_SLIDE_COUNT" val="3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4_TC-2022-OneBrand">
  <a:themeElements>
    <a:clrScheme name="AWS Light 01">
      <a:dk1>
        <a:sysClr val="windowText" lastClr="000000"/>
      </a:dk1>
      <a:lt1>
        <a:sysClr val="window" lastClr="FFFFFF"/>
      </a:lt1>
      <a:dk2>
        <a:srgbClr val="232F3E"/>
      </a:dk2>
      <a:lt2>
        <a:srgbClr val="F1F3F3"/>
      </a:lt2>
      <a:accent1>
        <a:srgbClr val="00464F"/>
      </a:accent1>
      <a:accent2>
        <a:srgbClr val="36C2B4"/>
      </a:accent2>
      <a:accent3>
        <a:srgbClr val="F1F3F3"/>
      </a:accent3>
      <a:accent4>
        <a:srgbClr val="ADE422"/>
      </a:accent4>
      <a:accent5>
        <a:srgbClr val="C9208A"/>
      </a:accent5>
      <a:accent6>
        <a:srgbClr val="504BAB"/>
      </a:accent6>
      <a:hlink>
        <a:srgbClr val="504BAB"/>
      </a:hlink>
      <a:folHlink>
        <a:srgbClr val="504BAB"/>
      </a:folHlink>
    </a:clrScheme>
    <a:fontScheme name="Custom 1">
      <a:majorFont>
        <a:latin typeface="Amazon Ember Heavy"/>
        <a:ea typeface=""/>
        <a:cs typeface=""/>
      </a:majorFont>
      <a:minorFont>
        <a:latin typeface="Amazon Ember"/>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lum">
      <a:srgbClr val="262262"/>
    </a:custClr>
    <a:custClr name="Plum-Medium">
      <a:srgbClr val="504BAB"/>
    </a:custClr>
    <a:custClr name="Plum-Bright">
      <a:srgbClr val="7E93EE"/>
    </a:custClr>
    <a:custClr name="Berry">
      <a:srgbClr val="9E1F63"/>
    </a:custClr>
    <a:custClr name="Berry-Medium">
      <a:srgbClr val="C9208A"/>
    </a:custClr>
    <a:custClr name="Berry-Bright">
      <a:srgbClr val="FF99FF"/>
    </a:custClr>
    <a:custClr name="AWS Orange">
      <a:srgbClr val="FF6633"/>
    </a:custClr>
    <a:custClr name="Smile">
      <a:srgbClr val="FF9900"/>
    </a:custClr>
    <a:custClr name="AWS Yellow">
      <a:srgbClr val="F3E502"/>
    </a:custClr>
    <a:custClr name="Green Apple">
      <a:srgbClr val="18AB4B"/>
    </a:custClr>
    <a:custClr name="Green Apple-Medium">
      <a:srgbClr val="ADE422"/>
    </a:custClr>
    <a:custClr name="Green Apple-Bright">
      <a:srgbClr val="E4FDBF"/>
    </a:custClr>
    <a:custClr name="Aqua">
      <a:srgbClr val="00464F"/>
    </a:custClr>
    <a:custClr name="Aqua-Medium">
      <a:srgbClr val="36C2B4"/>
    </a:custClr>
    <a:custClr name="Aqua-Bright">
      <a:srgbClr val="A6E7CE"/>
    </a:custClr>
    <a:custClr name="Sea Blue">
      <a:srgbClr val="005276"/>
    </a:custClr>
    <a:custClr name="Sea Blue-Medium">
      <a:srgbClr val="008296"/>
    </a:custClr>
    <a:custClr name="Sea Blue-Bright">
      <a:srgbClr val="7CD1EA"/>
    </a:custClr>
    <a:custClr name="Squid Ink">
      <a:srgbClr val="232F3E"/>
    </a:custClr>
    <a:custClr name="Stone">
      <a:srgbClr val="D4DADA"/>
    </a:custClr>
    <a:custClr name="Paper">
      <a:srgbClr val="F1F3F3"/>
    </a:custClr>
  </a:custClrLst>
  <a:extLst>
    <a:ext uri="{05A4C25C-085E-4340-85A3-A5531E510DB2}">
      <thm15:themeFamily xmlns:thm15="http://schemas.microsoft.com/office/thememl/2012/main" name="TC OneBrand Template.potx" id="{8954FABC-D5B5-44EC-B821-8FEC440C779C}" vid="{BC45DC1F-5B79-46F6-A8BD-962AD48C18D4}"/>
    </a:ext>
  </a:extLst>
</a:theme>
</file>

<file path=ppt/theme/theme2.xml><?xml version="1.0" encoding="utf-8"?>
<a:theme xmlns:a="http://schemas.openxmlformats.org/drawingml/2006/main" name="mgmt59000_cc_lecture1-1">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MGMT_lecture" id="{747DC2A2-EEE5-334E-812D-36A71899033A}" vid="{4F570285-B5C5-1346-8072-0076D2FCB5C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EB30683A6882D4798A1183E2061AB2B" ma:contentTypeVersion="6" ma:contentTypeDescription="Create a new document." ma:contentTypeScope="" ma:versionID="846e12e389a6305cd5a8a7fb8804a237">
  <xsd:schema xmlns:xsd="http://www.w3.org/2001/XMLSchema" xmlns:xs="http://www.w3.org/2001/XMLSchema" xmlns:p="http://schemas.microsoft.com/office/2006/metadata/properties" xmlns:ns2="3203751e-7f26-4ef4-9d45-82e84d52b1db" targetNamespace="http://schemas.microsoft.com/office/2006/metadata/properties" ma:root="true" ma:fieldsID="5ffe97e181145ec81612676624bca40f" ns2:_="">
    <xsd:import namespace="3203751e-7f26-4ef4-9d45-82e84d52b1d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03751e-7f26-4ef4-9d45-82e84d52b1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0752BD-F26E-41FF-9FB5-6A9780D93A83}">
  <ds:schemaRefs>
    <ds:schemaRef ds:uri="3203751e-7f26-4ef4-9d45-82e84d52b1db"/>
    <ds:schemaRef ds:uri="http://www.w3.org/XML/1998/namespace"/>
    <ds:schemaRef ds:uri="http://purl.org/dc/terms/"/>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51507056-CAA4-4785-A519-2D6E82754C98}">
  <ds:schemaRefs>
    <ds:schemaRef ds:uri="http://schemas.microsoft.com/sharepoint/v3/contenttype/forms"/>
  </ds:schemaRefs>
</ds:datastoreItem>
</file>

<file path=customXml/itemProps3.xml><?xml version="1.0" encoding="utf-8"?>
<ds:datastoreItem xmlns:ds="http://schemas.openxmlformats.org/officeDocument/2006/customXml" ds:itemID="{15031036-21FA-4572-951E-F15692D3DB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03751e-7f26-4ef4-9d45-82e84d52b1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TC OneBrand Template</Template>
  <TotalTime>524</TotalTime>
  <Words>13805</Words>
  <Application>Microsoft Macintosh PowerPoint</Application>
  <PresentationFormat>Widescreen</PresentationFormat>
  <Paragraphs>1013</Paragraphs>
  <Slides>56</Slides>
  <Notes>55</Notes>
  <HiddenSlides>0</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56</vt:i4>
      </vt:variant>
    </vt:vector>
  </HeadingPairs>
  <TitlesOfParts>
    <vt:vector size="75" baseType="lpstr">
      <vt:lpstr>Acumin Pro</vt:lpstr>
      <vt:lpstr>Acumin Pro Condensed Semibold</vt:lpstr>
      <vt:lpstr>Acumin Pro Medium</vt:lpstr>
      <vt:lpstr>Acumin Pro Semibold</vt:lpstr>
      <vt:lpstr>Amazon Ember</vt:lpstr>
      <vt:lpstr>Amazon Ember Display Heavy</vt:lpstr>
      <vt:lpstr>Amazon Ember Heavy</vt:lpstr>
      <vt:lpstr>Amazon Ember Light</vt:lpstr>
      <vt:lpstr>Arial</vt:lpstr>
      <vt:lpstr>Calibri</vt:lpstr>
      <vt:lpstr>Franklin Gothic Book</vt:lpstr>
      <vt:lpstr>Franklin Gothic Medium</vt:lpstr>
      <vt:lpstr>Franklin Gothic Medium Cond</vt:lpstr>
      <vt:lpstr>Helvetica Neue</vt:lpstr>
      <vt:lpstr>Lucida Console</vt:lpstr>
      <vt:lpstr>Segoe UI</vt:lpstr>
      <vt:lpstr>Wingdings</vt:lpstr>
      <vt:lpstr>4_TC-2022-OneBrand</vt:lpstr>
      <vt:lpstr>mgmt59000_cc_lecture1-1</vt:lpstr>
      <vt:lpstr>AWS Global Infrastructure</vt:lpstr>
      <vt:lpstr>AWS Global Infrastructure</vt:lpstr>
      <vt:lpstr>Infrastructure Organization</vt:lpstr>
      <vt:lpstr>AWS Regions</vt:lpstr>
      <vt:lpstr>Selecting a Region</vt:lpstr>
      <vt:lpstr>Availability Zones</vt:lpstr>
      <vt:lpstr>AWS data centers</vt:lpstr>
      <vt:lpstr>Points of Presence</vt:lpstr>
      <vt:lpstr>AWS infrastructure features </vt:lpstr>
      <vt:lpstr>Domains of Cloud Computing</vt:lpstr>
      <vt:lpstr>AWS categories of services</vt:lpstr>
      <vt:lpstr>Storage service category</vt:lpstr>
      <vt:lpstr>Compute service category</vt:lpstr>
      <vt:lpstr>Database service category</vt:lpstr>
      <vt:lpstr>Networking and content delivery service category</vt:lpstr>
      <vt:lpstr>Security, identity, and compliance service category</vt:lpstr>
      <vt:lpstr>AWS cost management service category</vt:lpstr>
      <vt:lpstr>Management and governance service category</vt:lpstr>
      <vt:lpstr>Module 4: AWS Cloud Security</vt:lpstr>
      <vt:lpstr>AWS shared responsibility model</vt:lpstr>
      <vt:lpstr>AWS shared responsibility model</vt:lpstr>
      <vt:lpstr>AWS responsibility: Security of the cloud</vt:lpstr>
      <vt:lpstr>Customer responsibility: Security in the cloud</vt:lpstr>
      <vt:lpstr>Cautionary Tale: Cloud Storage Security</vt:lpstr>
      <vt:lpstr>Activity: Scenario 1 of 2</vt:lpstr>
      <vt:lpstr>Activity: Scenario 2 of 2</vt:lpstr>
      <vt:lpstr>AWS Identity and Access Management (IAM)</vt:lpstr>
      <vt:lpstr>AWS Identity and Access Management (IAM)</vt:lpstr>
      <vt:lpstr>IAM: Essential components</vt:lpstr>
      <vt:lpstr>Authenticate as an IAM user to gain access</vt:lpstr>
      <vt:lpstr>IAM MFA</vt:lpstr>
      <vt:lpstr>Authorization: What actions are permitted</vt:lpstr>
      <vt:lpstr>IAM: Authorization</vt:lpstr>
      <vt:lpstr>IAM: Authorization</vt:lpstr>
      <vt:lpstr>IAM: Authorization</vt:lpstr>
      <vt:lpstr>IAM policies</vt:lpstr>
      <vt:lpstr>IAM policy example</vt:lpstr>
      <vt:lpstr>Resource-based policies</vt:lpstr>
      <vt:lpstr>IAM permissions</vt:lpstr>
      <vt:lpstr>IAM groups</vt:lpstr>
      <vt:lpstr>IAM roles</vt:lpstr>
      <vt:lpstr>Example use of an IAM role</vt:lpstr>
      <vt:lpstr>Section 4: Securing accounts</vt:lpstr>
      <vt:lpstr>AWS Organizations</vt:lpstr>
      <vt:lpstr>AWS Organizations: Service control policies</vt:lpstr>
      <vt:lpstr>AWS Key Management Service (AWS KMS)</vt:lpstr>
      <vt:lpstr>Amazon Cognito</vt:lpstr>
      <vt:lpstr>AWS Shield</vt:lpstr>
      <vt:lpstr>Section 5: Securing data on AWS</vt:lpstr>
      <vt:lpstr>Encryption of data at rest</vt:lpstr>
      <vt:lpstr>Encryption of data in transit</vt:lpstr>
      <vt:lpstr>Securing Amazon S3 buckets and objects</vt:lpstr>
      <vt:lpstr>Section 6: Working to ensure compliance</vt:lpstr>
      <vt:lpstr>AWS compliance programs</vt:lpstr>
      <vt:lpstr>AWS Config</vt:lpstr>
      <vt:lpstr>AWS Artifact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Title</dc:title>
  <dc:creator>Stading, Katrina</dc:creator>
  <cp:lastModifiedBy>Rob Elliott</cp:lastModifiedBy>
  <cp:revision>20</cp:revision>
  <dcterms:created xsi:type="dcterms:W3CDTF">2022-03-28T19:31:41Z</dcterms:created>
  <dcterms:modified xsi:type="dcterms:W3CDTF">2025-09-05T19:47:13Z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F165A876-8CAE-4A38-BCA6-3F02F794F0E7</vt:lpwstr>
  </property>
  <property fmtid="{D5CDD505-2E9C-101B-9397-08002B2CF9AE}" pid="3" name="ArticulatePath">
    <vt:lpwstr>Presentation1</vt:lpwstr>
  </property>
  <property fmtid="{D5CDD505-2E9C-101B-9397-08002B2CF9AE}" pid="4" name="ContentTypeId">
    <vt:lpwstr>0x0101004EB30683A6882D4798A1183E2061AB2B</vt:lpwstr>
  </property>
</Properties>
</file>