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613837" rtl="0" eaLnBrk="1" latinLnBrk="0" hangingPunct="1">
      <a:defRPr sz="2417" kern="1200">
        <a:solidFill>
          <a:schemeClr val="tx1"/>
        </a:solidFill>
        <a:latin typeface="+mn-lt"/>
        <a:ea typeface="+mn-ea"/>
        <a:cs typeface="+mn-cs"/>
      </a:defRPr>
    </a:lvl1pPr>
    <a:lvl2pPr marL="613837" algn="l" defTabSz="613837" rtl="0" eaLnBrk="1" latinLnBrk="0" hangingPunct="1">
      <a:defRPr sz="2417" kern="1200">
        <a:solidFill>
          <a:schemeClr val="tx1"/>
        </a:solidFill>
        <a:latin typeface="+mn-lt"/>
        <a:ea typeface="+mn-ea"/>
        <a:cs typeface="+mn-cs"/>
      </a:defRPr>
    </a:lvl2pPr>
    <a:lvl3pPr marL="1227673" algn="l" defTabSz="613837" rtl="0" eaLnBrk="1" latinLnBrk="0" hangingPunct="1">
      <a:defRPr sz="2417" kern="1200">
        <a:solidFill>
          <a:schemeClr val="tx1"/>
        </a:solidFill>
        <a:latin typeface="+mn-lt"/>
        <a:ea typeface="+mn-ea"/>
        <a:cs typeface="+mn-cs"/>
      </a:defRPr>
    </a:lvl3pPr>
    <a:lvl4pPr marL="1841510" algn="l" defTabSz="613837" rtl="0" eaLnBrk="1" latinLnBrk="0" hangingPunct="1">
      <a:defRPr sz="2417" kern="1200">
        <a:solidFill>
          <a:schemeClr val="tx1"/>
        </a:solidFill>
        <a:latin typeface="+mn-lt"/>
        <a:ea typeface="+mn-ea"/>
        <a:cs typeface="+mn-cs"/>
      </a:defRPr>
    </a:lvl4pPr>
    <a:lvl5pPr marL="2455347" algn="l" defTabSz="613837" rtl="0" eaLnBrk="1" latinLnBrk="0" hangingPunct="1">
      <a:defRPr sz="2417" kern="1200">
        <a:solidFill>
          <a:schemeClr val="tx1"/>
        </a:solidFill>
        <a:latin typeface="+mn-lt"/>
        <a:ea typeface="+mn-ea"/>
        <a:cs typeface="+mn-cs"/>
      </a:defRPr>
    </a:lvl5pPr>
    <a:lvl6pPr marL="3069184" algn="l" defTabSz="613837" rtl="0" eaLnBrk="1" latinLnBrk="0" hangingPunct="1">
      <a:defRPr sz="2417" kern="1200">
        <a:solidFill>
          <a:schemeClr val="tx1"/>
        </a:solidFill>
        <a:latin typeface="+mn-lt"/>
        <a:ea typeface="+mn-ea"/>
        <a:cs typeface="+mn-cs"/>
      </a:defRPr>
    </a:lvl6pPr>
    <a:lvl7pPr marL="3683020" algn="l" defTabSz="613837" rtl="0" eaLnBrk="1" latinLnBrk="0" hangingPunct="1">
      <a:defRPr sz="2417" kern="1200">
        <a:solidFill>
          <a:schemeClr val="tx1"/>
        </a:solidFill>
        <a:latin typeface="+mn-lt"/>
        <a:ea typeface="+mn-ea"/>
        <a:cs typeface="+mn-cs"/>
      </a:defRPr>
    </a:lvl7pPr>
    <a:lvl8pPr marL="4296857" algn="l" defTabSz="613837" rtl="0" eaLnBrk="1" latinLnBrk="0" hangingPunct="1">
      <a:defRPr sz="2417" kern="1200">
        <a:solidFill>
          <a:schemeClr val="tx1"/>
        </a:solidFill>
        <a:latin typeface="+mn-lt"/>
        <a:ea typeface="+mn-ea"/>
        <a:cs typeface="+mn-cs"/>
      </a:defRPr>
    </a:lvl8pPr>
    <a:lvl9pPr marL="4910694" algn="l" defTabSz="613837"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F1A4B9-668D-FD45-A34E-CB2BAC3E0177}" v="29" dt="2025-12-10T11:51:25.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18" autoAdjust="0"/>
    <p:restoredTop sz="94669" autoAdjust="0"/>
  </p:normalViewPr>
  <p:slideViewPr>
    <p:cSldViewPr snapToGrid="0" snapToObjects="1">
      <p:cViewPr varScale="1">
        <p:scale>
          <a:sx n="89" d="100"/>
          <a:sy n="89" d="100"/>
        </p:scale>
        <p:origin x="184" y="70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Elliott" userId="04040a5f-f8f3-4f1b-92ff-388c2ca4c4a6" providerId="ADAL" clId="{B1F3F710-B0B1-5531-B685-69F75895E755}"/>
    <pc:docChg chg="undo custSel delSld modSld">
      <pc:chgData name="Rob Elliott" userId="04040a5f-f8f3-4f1b-92ff-388c2ca4c4a6" providerId="ADAL" clId="{B1F3F710-B0B1-5531-B685-69F75895E755}" dt="2025-12-10T11:51:25.416" v="42"/>
      <pc:docMkLst>
        <pc:docMk/>
      </pc:docMkLst>
      <pc:sldChg chg="del">
        <pc:chgData name="Rob Elliott" userId="04040a5f-f8f3-4f1b-92ff-388c2ca4c4a6" providerId="ADAL" clId="{B1F3F710-B0B1-5531-B685-69F75895E755}" dt="2025-12-10T11:47:20.185" v="0" actId="2696"/>
        <pc:sldMkLst>
          <pc:docMk/>
          <pc:sldMk cId="0" sldId="257"/>
        </pc:sldMkLst>
      </pc:sldChg>
      <pc:sldChg chg="del">
        <pc:chgData name="Rob Elliott" userId="04040a5f-f8f3-4f1b-92ff-388c2ca4c4a6" providerId="ADAL" clId="{B1F3F710-B0B1-5531-B685-69F75895E755}" dt="2025-12-10T11:47:20.185" v="0" actId="2696"/>
        <pc:sldMkLst>
          <pc:docMk/>
          <pc:sldMk cId="0" sldId="258"/>
        </pc:sldMkLst>
      </pc:sldChg>
      <pc:sldChg chg="modSp mod">
        <pc:chgData name="Rob Elliott" userId="04040a5f-f8f3-4f1b-92ff-388c2ca4c4a6" providerId="ADAL" clId="{B1F3F710-B0B1-5531-B685-69F75895E755}" dt="2025-12-10T11:47:59.097" v="12" actId="27636"/>
        <pc:sldMkLst>
          <pc:docMk/>
          <pc:sldMk cId="0" sldId="259"/>
        </pc:sldMkLst>
        <pc:spChg chg="mod">
          <ac:chgData name="Rob Elliott" userId="04040a5f-f8f3-4f1b-92ff-388c2ca4c4a6" providerId="ADAL" clId="{B1F3F710-B0B1-5531-B685-69F75895E755}" dt="2025-12-10T11:47:59.097" v="12" actId="27636"/>
          <ac:spMkLst>
            <pc:docMk/>
            <pc:sldMk cId="0" sldId="259"/>
            <ac:spMk id="3" creationId="{00000000-0000-0000-0000-000000000000}"/>
          </ac:spMkLst>
        </pc:spChg>
      </pc:sldChg>
      <pc:sldChg chg="modAnim">
        <pc:chgData name="Rob Elliott" userId="04040a5f-f8f3-4f1b-92ff-388c2ca4c4a6" providerId="ADAL" clId="{B1F3F710-B0B1-5531-B685-69F75895E755}" dt="2025-12-10T11:49:10.811" v="19"/>
        <pc:sldMkLst>
          <pc:docMk/>
          <pc:sldMk cId="0" sldId="260"/>
        </pc:sldMkLst>
      </pc:sldChg>
      <pc:sldChg chg="modAnim">
        <pc:chgData name="Rob Elliott" userId="04040a5f-f8f3-4f1b-92ff-388c2ca4c4a6" providerId="ADAL" clId="{B1F3F710-B0B1-5531-B685-69F75895E755}" dt="2025-12-10T11:49:23.608" v="21"/>
        <pc:sldMkLst>
          <pc:docMk/>
          <pc:sldMk cId="0" sldId="261"/>
        </pc:sldMkLst>
      </pc:sldChg>
      <pc:sldChg chg="modAnim">
        <pc:chgData name="Rob Elliott" userId="04040a5f-f8f3-4f1b-92ff-388c2ca4c4a6" providerId="ADAL" clId="{B1F3F710-B0B1-5531-B685-69F75895E755}" dt="2025-12-10T11:49:34.226" v="23"/>
        <pc:sldMkLst>
          <pc:docMk/>
          <pc:sldMk cId="0" sldId="262"/>
        </pc:sldMkLst>
      </pc:sldChg>
      <pc:sldChg chg="modSp mod modAnim">
        <pc:chgData name="Rob Elliott" userId="04040a5f-f8f3-4f1b-92ff-388c2ca4c4a6" providerId="ADAL" clId="{B1F3F710-B0B1-5531-B685-69F75895E755}" dt="2025-12-10T11:49:48.881" v="26"/>
        <pc:sldMkLst>
          <pc:docMk/>
          <pc:sldMk cId="0" sldId="263"/>
        </pc:sldMkLst>
        <pc:spChg chg="mod">
          <ac:chgData name="Rob Elliott" userId="04040a5f-f8f3-4f1b-92ff-388c2ca4c4a6" providerId="ADAL" clId="{B1F3F710-B0B1-5531-B685-69F75895E755}" dt="2025-12-10T11:47:59.105" v="13" actId="27636"/>
          <ac:spMkLst>
            <pc:docMk/>
            <pc:sldMk cId="0" sldId="263"/>
            <ac:spMk id="3" creationId="{00000000-0000-0000-0000-000000000000}"/>
          </ac:spMkLst>
        </pc:spChg>
      </pc:sldChg>
      <pc:sldChg chg="modAnim">
        <pc:chgData name="Rob Elliott" userId="04040a5f-f8f3-4f1b-92ff-388c2ca4c4a6" providerId="ADAL" clId="{B1F3F710-B0B1-5531-B685-69F75895E755}" dt="2025-12-10T11:49:57.159" v="27"/>
        <pc:sldMkLst>
          <pc:docMk/>
          <pc:sldMk cId="0" sldId="264"/>
        </pc:sldMkLst>
      </pc:sldChg>
      <pc:sldChg chg="modAnim">
        <pc:chgData name="Rob Elliott" userId="04040a5f-f8f3-4f1b-92ff-388c2ca4c4a6" providerId="ADAL" clId="{B1F3F710-B0B1-5531-B685-69F75895E755}" dt="2025-12-10T11:50:03.376" v="28"/>
        <pc:sldMkLst>
          <pc:docMk/>
          <pc:sldMk cId="0" sldId="265"/>
        </pc:sldMkLst>
      </pc:sldChg>
      <pc:sldChg chg="modAnim">
        <pc:chgData name="Rob Elliott" userId="04040a5f-f8f3-4f1b-92ff-388c2ca4c4a6" providerId="ADAL" clId="{B1F3F710-B0B1-5531-B685-69F75895E755}" dt="2025-12-10T11:50:11.751" v="29"/>
        <pc:sldMkLst>
          <pc:docMk/>
          <pc:sldMk cId="0" sldId="266"/>
        </pc:sldMkLst>
      </pc:sldChg>
      <pc:sldChg chg="modSp mod modAnim">
        <pc:chgData name="Rob Elliott" userId="04040a5f-f8f3-4f1b-92ff-388c2ca4c4a6" providerId="ADAL" clId="{B1F3F710-B0B1-5531-B685-69F75895E755}" dt="2025-12-10T11:50:29.746" v="33"/>
        <pc:sldMkLst>
          <pc:docMk/>
          <pc:sldMk cId="0" sldId="267"/>
        </pc:sldMkLst>
        <pc:spChg chg="mod">
          <ac:chgData name="Rob Elliott" userId="04040a5f-f8f3-4f1b-92ff-388c2ca4c4a6" providerId="ADAL" clId="{B1F3F710-B0B1-5531-B685-69F75895E755}" dt="2025-12-10T11:47:59.008" v="9" actId="27636"/>
          <ac:spMkLst>
            <pc:docMk/>
            <pc:sldMk cId="0" sldId="267"/>
            <ac:spMk id="3" creationId="{00000000-0000-0000-0000-000000000000}"/>
          </ac:spMkLst>
        </pc:spChg>
      </pc:sldChg>
      <pc:sldChg chg="modSp mod modAnim">
        <pc:chgData name="Rob Elliott" userId="04040a5f-f8f3-4f1b-92ff-388c2ca4c4a6" providerId="ADAL" clId="{B1F3F710-B0B1-5531-B685-69F75895E755}" dt="2025-12-10T11:50:46.592" v="37"/>
        <pc:sldMkLst>
          <pc:docMk/>
          <pc:sldMk cId="0" sldId="268"/>
        </pc:sldMkLst>
        <pc:spChg chg="mod">
          <ac:chgData name="Rob Elliott" userId="04040a5f-f8f3-4f1b-92ff-388c2ca4c4a6" providerId="ADAL" clId="{B1F3F710-B0B1-5531-B685-69F75895E755}" dt="2025-12-10T11:47:59.067" v="10" actId="27636"/>
          <ac:spMkLst>
            <pc:docMk/>
            <pc:sldMk cId="0" sldId="268"/>
            <ac:spMk id="3" creationId="{00000000-0000-0000-0000-000000000000}"/>
          </ac:spMkLst>
        </pc:spChg>
      </pc:sldChg>
      <pc:sldChg chg="modSp mod modAnim">
        <pc:chgData name="Rob Elliott" userId="04040a5f-f8f3-4f1b-92ff-388c2ca4c4a6" providerId="ADAL" clId="{B1F3F710-B0B1-5531-B685-69F75895E755}" dt="2025-12-10T11:51:11.082" v="40"/>
        <pc:sldMkLst>
          <pc:docMk/>
          <pc:sldMk cId="0" sldId="269"/>
        </pc:sldMkLst>
        <pc:spChg chg="mod">
          <ac:chgData name="Rob Elliott" userId="04040a5f-f8f3-4f1b-92ff-388c2ca4c4a6" providerId="ADAL" clId="{B1F3F710-B0B1-5531-B685-69F75895E755}" dt="2025-12-10T11:48:10.670" v="16" actId="15"/>
          <ac:spMkLst>
            <pc:docMk/>
            <pc:sldMk cId="0" sldId="269"/>
            <ac:spMk id="3" creationId="{00000000-0000-0000-0000-000000000000}"/>
          </ac:spMkLst>
        </pc:spChg>
      </pc:sldChg>
      <pc:sldChg chg="modAnim">
        <pc:chgData name="Rob Elliott" userId="04040a5f-f8f3-4f1b-92ff-388c2ca4c4a6" providerId="ADAL" clId="{B1F3F710-B0B1-5531-B685-69F75895E755}" dt="2025-12-10T11:51:25.416" v="42"/>
        <pc:sldMkLst>
          <pc:docMk/>
          <pc:sldMk cId="0" sldId="270"/>
        </pc:sldMkLst>
      </pc:sldChg>
      <pc:sldChg chg="del">
        <pc:chgData name="Rob Elliott" userId="04040a5f-f8f3-4f1b-92ff-388c2ca4c4a6" providerId="ADAL" clId="{B1F3F710-B0B1-5531-B685-69F75895E755}" dt="2025-12-10T11:48:29.984" v="17" actId="2696"/>
        <pc:sldMkLst>
          <pc:docMk/>
          <pc:sldMk cId="0"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27673" rtl="0" eaLnBrk="1" latinLnBrk="0" hangingPunct="1">
      <a:defRPr sz="1611" kern="1200">
        <a:solidFill>
          <a:schemeClr val="tx1"/>
        </a:solidFill>
        <a:latin typeface="+mn-lt"/>
        <a:ea typeface="+mn-ea"/>
        <a:cs typeface="+mn-cs"/>
      </a:defRPr>
    </a:lvl1pPr>
    <a:lvl2pPr marL="613837" algn="l" defTabSz="1227673" rtl="0" eaLnBrk="1" latinLnBrk="0" hangingPunct="1">
      <a:defRPr sz="1611" kern="1200">
        <a:solidFill>
          <a:schemeClr val="tx1"/>
        </a:solidFill>
        <a:latin typeface="+mn-lt"/>
        <a:ea typeface="+mn-ea"/>
        <a:cs typeface="+mn-cs"/>
      </a:defRPr>
    </a:lvl2pPr>
    <a:lvl3pPr marL="1227673" algn="l" defTabSz="1227673" rtl="0" eaLnBrk="1" latinLnBrk="0" hangingPunct="1">
      <a:defRPr sz="1611" kern="1200">
        <a:solidFill>
          <a:schemeClr val="tx1"/>
        </a:solidFill>
        <a:latin typeface="+mn-lt"/>
        <a:ea typeface="+mn-ea"/>
        <a:cs typeface="+mn-cs"/>
      </a:defRPr>
    </a:lvl3pPr>
    <a:lvl4pPr marL="1841510" algn="l" defTabSz="1227673" rtl="0" eaLnBrk="1" latinLnBrk="0" hangingPunct="1">
      <a:defRPr sz="1611" kern="1200">
        <a:solidFill>
          <a:schemeClr val="tx1"/>
        </a:solidFill>
        <a:latin typeface="+mn-lt"/>
        <a:ea typeface="+mn-ea"/>
        <a:cs typeface="+mn-cs"/>
      </a:defRPr>
    </a:lvl4pPr>
    <a:lvl5pPr marL="2455347" algn="l" defTabSz="1227673" rtl="0" eaLnBrk="1" latinLnBrk="0" hangingPunct="1">
      <a:defRPr sz="1611" kern="1200">
        <a:solidFill>
          <a:schemeClr val="tx1"/>
        </a:solidFill>
        <a:latin typeface="+mn-lt"/>
        <a:ea typeface="+mn-ea"/>
        <a:cs typeface="+mn-cs"/>
      </a:defRPr>
    </a:lvl5pPr>
    <a:lvl6pPr marL="3069184" algn="l" defTabSz="1227673" rtl="0" eaLnBrk="1" latinLnBrk="0" hangingPunct="1">
      <a:defRPr sz="1611" kern="1200">
        <a:solidFill>
          <a:schemeClr val="tx1"/>
        </a:solidFill>
        <a:latin typeface="+mn-lt"/>
        <a:ea typeface="+mn-ea"/>
        <a:cs typeface="+mn-cs"/>
      </a:defRPr>
    </a:lvl6pPr>
    <a:lvl7pPr marL="3683020" algn="l" defTabSz="1227673" rtl="0" eaLnBrk="1" latinLnBrk="0" hangingPunct="1">
      <a:defRPr sz="1611" kern="1200">
        <a:solidFill>
          <a:schemeClr val="tx1"/>
        </a:solidFill>
        <a:latin typeface="+mn-lt"/>
        <a:ea typeface="+mn-ea"/>
        <a:cs typeface="+mn-cs"/>
      </a:defRPr>
    </a:lvl7pPr>
    <a:lvl8pPr marL="4296857" algn="l" defTabSz="1227673" rtl="0" eaLnBrk="1" latinLnBrk="0" hangingPunct="1">
      <a:defRPr sz="1611" kern="1200">
        <a:solidFill>
          <a:schemeClr val="tx1"/>
        </a:solidFill>
        <a:latin typeface="+mn-lt"/>
        <a:ea typeface="+mn-ea"/>
        <a:cs typeface="+mn-cs"/>
      </a:defRPr>
    </a:lvl8pPr>
    <a:lvl9pPr marL="4910694" algn="l" defTabSz="1227673" rtl="0" eaLnBrk="1" latinLnBrk="0" hangingPunct="1">
      <a:defRPr sz="16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Welcome to our final content session. We’ve spent the semester working primarily with AWS through AWS Academy, getting hands-on experience with services like Lambda, RDS, S3, and EC2. Now let’s step back and understand where AWS fits in the broader cloud computing landscape and how it compares to its main competitors.</a:t>
            </a:r>
          </a:p>
          <a:p>
            <a:pPr marL="0" lvl="0" indent="0">
              <a:buNone/>
            </a:pPr>
            <a:endParaRPr/>
          </a:p>
          <a:p>
            <a:pPr marL="0" lvl="0" indent="0">
              <a:buNone/>
            </a:pPr>
            <a:r>
              <a:t>The cloud computing market is dominated by three major players. AWS is the clear leader with 31% market share. Microsoft Azure is a strong second at 25%, and Google Cloud Platform comes in third at 11%. Together, these three companies control roughly two-thirds of the entire cloud computing market. The remaining third is split among smaller players like IBM Cloud, Oracle Cloud, Alibaba Cloud, and others.</a:t>
            </a:r>
          </a:p>
          <a:p>
            <a:pPr marL="0" lvl="0" indent="0">
              <a:buNone/>
            </a:pPr>
            <a:endParaRPr/>
          </a:p>
          <a:p>
            <a:pPr marL="0" lvl="0" indent="0">
              <a:buNone/>
            </a:pPr>
            <a:r>
              <a:t>MARKET DYNAMICS: AWS pioneered the public cloud computing market when it launched in 2006. They had about a five-year head start on the competition, which explains their market leadership. They’ve built the most comprehensive platform with over 200 services, and they’ve defined the standard that others follow. When people talk about “cloud computing,” they’re often unconsciously using AWS’s model as the reference point.</a:t>
            </a:r>
          </a:p>
          <a:p>
            <a:pPr marL="0" lvl="0" indent="0">
              <a:buNone/>
            </a:pPr>
            <a:endParaRPr/>
          </a:p>
          <a:p>
            <a:pPr marL="0" lvl="0" indent="0">
              <a:buNone/>
            </a:pPr>
            <a:r>
              <a:t>Microsoft Azure launched in 2010 and has grown rapidly by leveraging Microsoft’s existing enterprise relationships. If your company already uses Microsoft 365, Active Directory, and Windows Server, Azure offers the smoothest integration path. This makes Azure particularly attractive to large enterprises with existing Microsoft investments.</a:t>
            </a:r>
          </a:p>
          <a:p>
            <a:pPr marL="0" lvl="0" indent="0">
              <a:buNone/>
            </a:pPr>
            <a:endParaRPr/>
          </a:p>
          <a:p>
            <a:pPr marL="0" lvl="0" indent="0">
              <a:buNone/>
            </a:pPr>
            <a:r>
              <a:t>Google Cloud Platform launched commercially in 2013. They entered late but brought unique strengths in data analytics, machine learning, and containerization. Google invented Kubernetes, which became the industry standard for container orchestration. They’ve positioned themselves as the “developer-friendly” and “data analytics” cloud.</a:t>
            </a:r>
          </a:p>
          <a:p>
            <a:pPr marL="0" lvl="0" indent="0">
              <a:buNone/>
            </a:pPr>
            <a:endParaRPr/>
          </a:p>
          <a:p>
            <a:pPr marL="0" lvl="0" indent="0">
              <a:buNone/>
            </a:pPr>
            <a:r>
              <a:t>CORE SERVICES: All three platforms offer fundamentally similar services because they’re solving the same problems: how do we run applications, store data, and connect systems reliably at scale?</a:t>
            </a:r>
          </a:p>
          <a:p>
            <a:pPr marL="0" lvl="0" indent="0">
              <a:buNone/>
            </a:pPr>
            <a:endParaRPr/>
          </a:p>
          <a:p>
            <a:pPr marL="0" lvl="0" indent="0">
              <a:buNone/>
            </a:pPr>
            <a:r>
              <a:t>For compute, they all offer virtual machines, container services, and serverless functions. AWS has EC2, ECS, and Lambda. Azure has Virtual Machines, Container Instances, and Functions. GCP has Compute Engine, Cloud Run, and Cloud Functions. Different names, similar capabilities.</a:t>
            </a:r>
          </a:p>
          <a:p>
            <a:pPr marL="0" lvl="0" indent="0">
              <a:buNone/>
            </a:pPr>
            <a:endParaRPr/>
          </a:p>
          <a:p>
            <a:pPr marL="0" lvl="0" indent="0">
              <a:buNone/>
            </a:pPr>
            <a:r>
              <a:t>For storage, they all provide object storage (like S3), block storage (like EBS), and file storage. They all offer relational databases, NoSQL databases, and data warehousing solutions. They all have networking services, security tools, and AI/ML platforms.</a:t>
            </a:r>
          </a:p>
          <a:p>
            <a:pPr marL="0" lvl="0" indent="0">
              <a:buNone/>
            </a:pPr>
            <a:endParaRPr/>
          </a:p>
          <a:p>
            <a:pPr marL="0" lvl="0" indent="0">
              <a:buNone/>
            </a:pPr>
            <a:r>
              <a:t>WHAT MAKES THEM DIFFERENT: The interesting question isn’t “what services do they offer?” but rather “what makes each platform unique?” The differences lie in:</a:t>
            </a:r>
          </a:p>
          <a:p>
            <a:pPr marL="0" lvl="0" indent="0">
              <a:buNone/>
            </a:pPr>
            <a:endParaRPr/>
          </a:p>
          <a:p>
            <a:pPr marL="0" lvl="0" indent="0">
              <a:buNone/>
            </a:pPr>
            <a:r>
              <a:t>MATURITY AND BREADTH: AWS has more services and more mature services because they’ve been doing this longer. If you need something obscure, AWS probably has it.</a:t>
            </a:r>
          </a:p>
          <a:p>
            <a:pPr marL="0" lvl="0" indent="0">
              <a:buNone/>
            </a:pPr>
            <a:endParaRPr/>
          </a:p>
          <a:p>
            <a:pPr marL="0" lvl="0" indent="0">
              <a:buNone/>
            </a:pPr>
            <a:r>
              <a:t>PRICING AND COST MODELS: Each platform has different pricing philosophies and discount structures. Understanding these differences can save significant money.</a:t>
            </a:r>
          </a:p>
          <a:p>
            <a:pPr marL="0" lvl="0" indent="0">
              <a:buNone/>
            </a:pPr>
            <a:endParaRPr/>
          </a:p>
          <a:p>
            <a:pPr marL="0" lvl="0" indent="0">
              <a:buNone/>
            </a:pPr>
            <a:r>
              <a:t>ECOSYSTEM INTEGRATION: Azure plays nicely with Microsoft technologies, GCP with Google services, AWS with… well, AWS has become its own ecosystem.</a:t>
            </a:r>
          </a:p>
          <a:p>
            <a:pPr marL="0" lvl="0" indent="0">
              <a:buNone/>
            </a:pPr>
            <a:endParaRPr/>
          </a:p>
          <a:p>
            <a:pPr marL="0" lvl="0" indent="0">
              <a:buNone/>
            </a:pPr>
            <a:r>
              <a:t>ENTERPRISE RELATIONSHIPS: Microsoft’s decades of enterprise sales relationships give Azure an advantage with large corporations. AWS dominates with startups and tech companies. Google appeals to data-intensive and ML-focused organizations.</a:t>
            </a:r>
          </a:p>
          <a:p>
            <a:pPr marL="0" lvl="0" indent="0">
              <a:buNone/>
            </a:pPr>
            <a:endParaRPr/>
          </a:p>
          <a:p>
            <a:pPr marL="0" lvl="0" indent="0">
              <a:buNone/>
            </a:pPr>
            <a:r>
              <a:t>Today we’ll explore each platform’s strengths and weaknesses, examine their business models, dive into their AI capabilities, and briefly touch on other cloud providers worth knowing about. By the end, you’ll understand how to evaluate which platform makes sense for different scenarios.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start with AWS, which you’ve been using all semester. Understanding AWS’s position helps you appreciate both what you’ve learned and where it fits in the broader landscape.</a:t>
            </a:r>
          </a:p>
          <a:p>
            <a:pPr marL="0" lvl="0" indent="0">
              <a:buNone/>
            </a:pPr>
            <a:endParaRPr/>
          </a:p>
          <a:p>
            <a:pPr marL="0" lvl="0" indent="0">
              <a:buNone/>
            </a:pPr>
            <a:r>
              <a:t>STRENGTHS OF AWS:</a:t>
            </a:r>
          </a:p>
          <a:p>
            <a:pPr marL="0" lvl="0" indent="0">
              <a:buNone/>
            </a:pPr>
            <a:endParaRPr/>
          </a:p>
          <a:p>
            <a:pPr marL="0" lvl="0" indent="0">
              <a:buNone/>
            </a:pPr>
            <a:r>
              <a:t>MARKET MATURITY: AWS invented the public cloud model as we know it. When they launched S3 and EC2 in 2006, they fundamentally changed how companies think about infrastructure. This first-mover advantage means AWS has had nearly 20 years to refine their platform. Services like S3 are incredibly polished because they’ve been battle-tested by millions of customers for nearly two decades.</a:t>
            </a:r>
          </a:p>
          <a:p>
            <a:pPr marL="0" lvl="0" indent="0">
              <a:buNone/>
            </a:pPr>
            <a:endParaRPr/>
          </a:p>
          <a:p>
            <a:pPr marL="0" lvl="0" indent="0">
              <a:buNone/>
            </a:pPr>
            <a:r>
              <a:t>BREADTH OF SERVICES: AWS offers over 200 distinct services. Need to run containerized applications? They have multiple options: ECS, EKS, Fargate, App Runner. Need a database? Choose from RDS with six different engines, DynamoDB, DocumentDB, Neptune, Keyspaces, Timestream, QLDB, and more. This breadth means you can usually find an AWS service specifically designed for your use case rather than forcing a generic solution to work.</a:t>
            </a:r>
          </a:p>
          <a:p>
            <a:pPr marL="0" lvl="0" indent="0">
              <a:buNone/>
            </a:pPr>
            <a:endParaRPr/>
          </a:p>
          <a:p>
            <a:pPr marL="0" lvl="0" indent="0">
              <a:buNone/>
            </a:pPr>
            <a:r>
              <a:t>GLOBAL INFRASTRUCTURE: AWS operates 33 geographic regions with 105 availability zones worldwide. This matters for latency, compliance, and disaster recovery. If you need to serve customers in Singapore with low latency while keeping data in Europe for GDPR compliance, AWS can do that. No other cloud provider matches their geographic reach.</a:t>
            </a:r>
          </a:p>
          <a:p>
            <a:pPr marL="0" lvl="0" indent="0">
              <a:buNone/>
            </a:pPr>
            <a:endParaRPr/>
          </a:p>
          <a:p>
            <a:pPr marL="0" lvl="0" indent="0">
              <a:buNone/>
            </a:pPr>
            <a:r>
              <a:t>THIRD-PARTY ECOSYSTEM: Because AWS is the market leader, independent software vendors (ISVs) prioritize AWS integration. The AWS Marketplace has thousands of pre-configured software solutions. Third-party tools for monitoring, security, backup, and management all support AWS first and most comprehensively.</a:t>
            </a:r>
          </a:p>
          <a:p>
            <a:pPr marL="0" lvl="0" indent="0">
              <a:buNone/>
            </a:pPr>
            <a:endParaRPr/>
          </a:p>
          <a:p>
            <a:pPr marL="0" lvl="0" indent="0">
              <a:buNone/>
            </a:pPr>
            <a:r>
              <a:t>TRAINING AND CERTIFICATION: The AWS certification program is well-established, and there’s an enormous amount of training material available. You’ve experienced this through AWS Academy. This ecosystem makes it easier to find talent and to learn the platform.</a:t>
            </a:r>
          </a:p>
          <a:p>
            <a:pPr marL="0" lvl="0" indent="0">
              <a:buNone/>
            </a:pPr>
            <a:endParaRPr/>
          </a:p>
          <a:p>
            <a:pPr marL="0" lvl="0" indent="0">
              <a:buNone/>
            </a:pPr>
            <a:r>
              <a:t>SERVERLESS LEADERSHIP: AWS pioneered serverless computing with Lambda in 2014 and has continued innovating in this space. The integration between Lambda, API Gateway, DynamoDB, S3, EventBridge, and Step Functions enables sophisticated serverless architectures. You’ve worked with these services and seen how they fit together.</a:t>
            </a:r>
          </a:p>
          <a:p>
            <a:pPr marL="0" lvl="0" indent="0">
              <a:buNone/>
            </a:pPr>
            <a:endParaRPr/>
          </a:p>
          <a:p>
            <a:pPr marL="0" lvl="0" indent="0">
              <a:buNone/>
            </a:pPr>
            <a:r>
              <a:t>WEAKNESSES OF AWS:</a:t>
            </a:r>
          </a:p>
          <a:p>
            <a:pPr marL="0" lvl="0" indent="0">
              <a:buNone/>
            </a:pPr>
            <a:endParaRPr/>
          </a:p>
          <a:p>
            <a:pPr marL="0" lvl="0" indent="0">
              <a:buNone/>
            </a:pPr>
            <a:r>
              <a:t>COMPLEXITY: The breadth that’s a strength is also a weakness. With over 200 services, even experienced architects struggle to stay current. For your semester project, you used maybe 10 services. A large enterprise deployment might use 50 or more. Each service has its own console interface, API, pricing model, and set of best practices to learn.</a:t>
            </a:r>
          </a:p>
          <a:p>
            <a:pPr marL="0" lvl="0" indent="0">
              <a:buNone/>
            </a:pPr>
            <a:endParaRPr/>
          </a:p>
          <a:p>
            <a:pPr marL="0" lvl="0" indent="0">
              <a:buNone/>
            </a:pPr>
            <a:r>
              <a:t>PRICING COMPLEXITY: AWS pricing is notoriously complicated. Services have multiple dimensions of pricing, and costs can come from unexpected places. You might deploy a Lambda function and forget that it’s triggering CloudWatch Logs, which stores data in S3, which you’re paying for. Even experienced users get surprised by their AWS bills. The joke in the industry is that you need a full-time job just to understand AWS billing.</a:t>
            </a:r>
          </a:p>
          <a:p>
            <a:pPr marL="0" lvl="0" indent="0">
              <a:buNone/>
            </a:pPr>
            <a:endParaRPr/>
          </a:p>
          <a:p>
            <a:pPr marL="0" lvl="0" indent="0">
              <a:buNone/>
            </a:pPr>
            <a:r>
              <a:t>SERVICE DEPRECATION: AWS sometimes deprecates services or shifts strategy, leaving customers with technical debt. For example, they pushed CloudFormation heavily, then introduced AWS CDK, then AWS SAM, then SST. Which one should you use? The rapid pace of change can be exhausting.</a:t>
            </a:r>
          </a:p>
          <a:p>
            <a:pPr marL="0" lvl="0" indent="0">
              <a:buNone/>
            </a:pPr>
            <a:endParaRPr/>
          </a:p>
          <a:p>
            <a:pPr marL="0" lvl="0" indent="0">
              <a:buNone/>
            </a:pPr>
            <a:r>
              <a:t>LIMITED INTEGRATION: If your company uses Microsoft tools, Active Directory, SQL Server, and Office 365, AWS doesn’t integrate as smoothly as Azure would. You can make it work, but it requires more effort.</a:t>
            </a:r>
          </a:p>
          <a:p>
            <a:pPr marL="0" lvl="0" indent="0">
              <a:buNone/>
            </a:pPr>
            <a:endParaRPr/>
          </a:p>
          <a:p>
            <a:pPr marL="0" lvl="0" indent="0">
              <a:buNone/>
            </a:pPr>
            <a:r>
              <a:t>DATED INTERFACE: The AWS Console UI has improved over the years, but it still feels utilitarian compared to Azure’s more modern interface or GCP’s clean design. This is subjective, but many developers find the AWS console harder to navigate.</a:t>
            </a:r>
          </a:p>
          <a:p>
            <a:pPr marL="0" lvl="0" indent="0">
              <a:buNone/>
            </a:pPr>
            <a:endParaRPr/>
          </a:p>
          <a:p>
            <a:pPr marL="0" lvl="0" indent="0">
              <a:buNone/>
            </a:pPr>
            <a:r>
              <a:t>REAL-WORLD IMPLICATIONS: Most startups and tech companies default to AWS because of its maturity and comprehensive services. Netflix, Airbnb, and Spotify run on AWS. If you’re building a greenfield application and want maximum flexibility, AWS is often the default choice.</a:t>
            </a:r>
          </a:p>
          <a:p>
            <a:pPr marL="0" lvl="0" indent="0">
              <a:buNone/>
            </a:pPr>
            <a:endParaRPr/>
          </a:p>
          <a:p>
            <a:pPr marL="0" lvl="0" indent="0">
              <a:buNone/>
            </a:pPr>
            <a:r>
              <a:t>However, that complexity means you need skilled engineers to manage it effectively. For a small team or a company without deep cloud expertise, AWS’s complexity can be overwhelming. This is where the other platforms find their niches.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Microsoft Azure is AWS’s closest competitor and is growing faster than AWS in market share. Azure’s strategy differs significantly from AWS’s approach.</a:t>
            </a:r>
          </a:p>
          <a:p>
            <a:pPr marL="0" lvl="0" indent="0">
              <a:buNone/>
            </a:pPr>
            <a:endParaRPr/>
          </a:p>
          <a:p>
            <a:pPr marL="0" lvl="0" indent="0">
              <a:buNone/>
            </a:pPr>
            <a:r>
              <a:t>STRENGTHS OF AZURE:</a:t>
            </a:r>
          </a:p>
          <a:p>
            <a:pPr marL="0" lvl="0" indent="0">
              <a:buNone/>
            </a:pPr>
            <a:endParaRPr/>
          </a:p>
          <a:p>
            <a:pPr marL="0" lvl="0" indent="0">
              <a:buNone/>
            </a:pPr>
            <a:r>
              <a:t>MICROSOFT ECOSYSTEM INTEGRATION: This is Azure’s superpower. If your company already uses Microsoft 365, Active Directory for identity management, SQL Server databases, and Windows Server, Azure integrates seamlessly with all of it. Single sign-on works out of the box. Your existing licenses can apply to cloud resources through Azure Hybrid Benefit. Your IT team already knows Windows and can leverage that knowledge.</a:t>
            </a:r>
          </a:p>
          <a:p>
            <a:pPr marL="0" lvl="0" indent="0">
              <a:buNone/>
            </a:pPr>
            <a:endParaRPr/>
          </a:p>
          <a:p>
            <a:pPr marL="0" lvl="0" indent="0">
              <a:buNone/>
            </a:pPr>
            <a:r>
              <a:t>Think about a large bank or insurance company. They’ve been running Windows Server and SQL Server for 20 years. They have Active Directory managing 50,000 employee accounts. They use Office 365 for email and collaboration. They have SQL Server databases containing customer data. They’ve invested billions in Microsoft technology and trained their staff on it. For them, Azure is the natural cloud choice because it extends their existing infrastructure rather than replacing it.</a:t>
            </a:r>
          </a:p>
          <a:p>
            <a:pPr marL="0" lvl="0" indent="0">
              <a:buNone/>
            </a:pPr>
            <a:endParaRPr/>
          </a:p>
          <a:p>
            <a:pPr marL="0" lvl="0" indent="0">
              <a:buNone/>
            </a:pPr>
            <a:r>
              <a:t>HYBRID CLOUD: Azure Arc and Azure Stack enable true hybrid cloud deployments where some resources run in Azure’s data centers and some run in your own data centers, all managed through the same control plane. This matters for companies with regulatory requirements, high-performance computing needs, or edge computing scenarios. You can run Azure services on-premises, which sounds contradictory but solves real business problems.</a:t>
            </a:r>
          </a:p>
          <a:p>
            <a:pPr marL="0" lvl="0" indent="0">
              <a:buNone/>
            </a:pPr>
            <a:endParaRPr/>
          </a:p>
          <a:p>
            <a:pPr marL="0" lvl="0" indent="0">
              <a:buNone/>
            </a:pPr>
            <a:r>
              <a:t>COMPLIANCE: Azure has the most compliance certifications of any cloud provider, covering industries like healthcare (HIPAA), finance (PCI DSS), and government (FedRAMP). If you’re building systems that handle sensitive data in regulated industries, Azure’s compliance documentation and features can accelerate your certification process.</a:t>
            </a:r>
          </a:p>
          <a:p>
            <a:pPr marL="0" lvl="0" indent="0">
              <a:buNone/>
            </a:pPr>
            <a:endParaRPr/>
          </a:p>
          <a:p>
            <a:pPr marL="0" lvl="0" indent="0">
              <a:buNone/>
            </a:pPr>
            <a:r>
              <a:t>ENTERPRISE RELATIONSHIPS: Microsoft has been selling to enterprise IT departments for 40 years. They have established relationships, dedicated account teams, and understand how large organizations make buying decisions. CIOs trust Microsoft. This intangible asset helps Azure win enterprise deals even when AWS might be technically superior for specific use cases.</a:t>
            </a:r>
          </a:p>
          <a:p>
            <a:pPr marL="0" lvl="0" indent="0">
              <a:buNone/>
            </a:pPr>
            <a:endParaRPr/>
          </a:p>
          <a:p>
            <a:pPr marL="0" lvl="0" indent="0">
              <a:buNone/>
            </a:pPr>
            <a:r>
              <a:t>DEVELOPER EXPERIENCE: Azure Portal is modern and well-designed. Their documentation is comprehensive and well-organized. Azure DevOps provides integrated CI/CD. Visual Studio integrates with Azure services. For developers working in the Microsoft stack, the experience is smooth.</a:t>
            </a:r>
          </a:p>
          <a:p>
            <a:pPr marL="0" lvl="0" indent="0">
              <a:buNone/>
            </a:pPr>
            <a:endParaRPr/>
          </a:p>
          <a:p>
            <a:pPr marL="0" lvl="0" indent="0">
              <a:buNone/>
            </a:pPr>
            <a:r>
              <a:t>WINDOWS AND .NET: If you’re running Windows-based workloads or developing in .NET, Azure is the best choice. Windows Server licensing costs less on Azure, and integration with .NET services is seamless.</a:t>
            </a:r>
          </a:p>
          <a:p>
            <a:pPr marL="0" lvl="0" indent="0">
              <a:buNone/>
            </a:pPr>
            <a:endParaRPr/>
          </a:p>
          <a:p>
            <a:pPr marL="0" lvl="0" indent="0">
              <a:buNone/>
            </a:pPr>
            <a:r>
              <a:t>WEAKNESSES OF AZURE:</a:t>
            </a:r>
          </a:p>
          <a:p>
            <a:pPr marL="0" lvl="0" indent="0">
              <a:buNone/>
            </a:pPr>
            <a:endParaRPr/>
          </a:p>
          <a:p>
            <a:pPr marL="0" lvl="0" indent="0">
              <a:buNone/>
            </a:pPr>
            <a:r>
              <a:t>LESS BREADTH: Azure has fewer specialized services than AWS. If AWS has eight different database options, Azure might have five. This matters less than you’d think for most applications, but if you need something esoteric, AWS is more likely to have it.</a:t>
            </a:r>
          </a:p>
          <a:p>
            <a:pPr marL="0" lvl="0" indent="0">
              <a:buNone/>
            </a:pPr>
            <a:endParaRPr/>
          </a:p>
          <a:p>
            <a:pPr marL="0" lvl="0" indent="0">
              <a:buNone/>
            </a:pPr>
            <a:r>
              <a:t>MATURITY GAPS: Some Azure services feel less polished than their AWS equivalents. Azure entered the market later, and it shows in certain areas. Services can have bugs or limitations that AWS worked through years ago.</a:t>
            </a:r>
          </a:p>
          <a:p>
            <a:pPr marL="0" lvl="0" indent="0">
              <a:buNone/>
            </a:pPr>
            <a:endParaRPr/>
          </a:p>
          <a:p>
            <a:pPr marL="0" lvl="0" indent="0">
              <a:buNone/>
            </a:pPr>
            <a:r>
              <a:t>SMALLER ECOSYSTEM: The third-party marketplace and integration ecosystem is smaller than AWS’s. ISVs support Azure, but AWS integration is usually deeper and better documented.</a:t>
            </a:r>
          </a:p>
          <a:p>
            <a:pPr marL="0" lvl="0" indent="0">
              <a:buNone/>
            </a:pPr>
            <a:endParaRPr/>
          </a:p>
          <a:p>
            <a:pPr marL="0" lvl="0" indent="0">
              <a:buNone/>
            </a:pPr>
            <a:r>
              <a:t>LINUX PERCEPTION: Historically, Azure was seen as Windows-only. This reputation lingers even though Azure now supports Linux well and runs more Linux VMs than Windows VMs. The perception affects adoption by Linux-focused development teams.</a:t>
            </a:r>
          </a:p>
          <a:p>
            <a:pPr marL="0" lvl="0" indent="0">
              <a:buNone/>
            </a:pPr>
            <a:endParaRPr/>
          </a:p>
          <a:p>
            <a:pPr marL="0" lvl="0" indent="0">
              <a:buNone/>
            </a:pPr>
            <a:r>
              <a:t>LICENSING COMPLEXITY: Microsoft’s licensing has always been complex, and Azure inherits this. Understanding how your existing licenses apply in Azure, what Azure Hybrid Benefit covers, and how reserved instances work requires expertise. You can save a lot of money if you understand it, but many companies overpay due to confusion.</a:t>
            </a:r>
          </a:p>
          <a:p>
            <a:pPr marL="0" lvl="0" indent="0">
              <a:buNone/>
            </a:pPr>
            <a:endParaRPr/>
          </a:p>
          <a:p>
            <a:pPr marL="0" lvl="0" indent="0">
              <a:buNone/>
            </a:pPr>
            <a:r>
              <a:t>REAL-WORLD IMPLICATIONS: Azure wins in enterprises with existing Microsoft investments. A financial services company running Active Directory and SQL Server will probably choose Azure. A healthcare provider needing HIPAA compliance and Office 365 integration will choose Azure. A government agency requiring FedRAMP certification might choose Azure.</a:t>
            </a:r>
          </a:p>
          <a:p>
            <a:pPr marL="0" lvl="0" indent="0">
              <a:buNone/>
            </a:pPr>
            <a:endParaRPr/>
          </a:p>
          <a:p>
            <a:pPr marL="0" lvl="0" indent="0">
              <a:buNone/>
            </a:pPr>
            <a:r>
              <a:t>However, a startup with no legacy Microsoft investments and a team that prefers Linux and open source tools will probably choose AWS or GCP over Azure.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Google Cloud Platform is the third-place player, but third place in a $500 billion market still makes GCP enormous. Google brings unique strengths that make them the preferred choice for specific workloads.</a:t>
            </a:r>
          </a:p>
          <a:p>
            <a:pPr marL="0" lvl="0" indent="0">
              <a:buNone/>
            </a:pPr>
            <a:endParaRPr/>
          </a:p>
          <a:p>
            <a:pPr marL="0" lvl="0" indent="0">
              <a:buNone/>
            </a:pPr>
            <a:r>
              <a:t>STRENGTHS OF GCP:</a:t>
            </a:r>
          </a:p>
          <a:p>
            <a:pPr marL="0" lvl="0" indent="0">
              <a:buNone/>
            </a:pPr>
            <a:endParaRPr/>
          </a:p>
          <a:p>
            <a:pPr marL="0" lvl="0" indent="0">
              <a:buNone/>
            </a:pPr>
            <a:r>
              <a:t>DATA ANALYTICS EXCELLENCE: This is GCP’s killer app. BigQuery is widely considered the best cloud data warehouse. It’s fast, scales automatically, and has a generous free tier. Dataflow for stream processing, Pub/Sub for messaging, and Dataproc for Hadoop/Spark workloads form a comprehensive analytics stack. Companies with serious data analytics needs often choose GCP specifically for these tools.</a:t>
            </a:r>
          </a:p>
          <a:p>
            <a:pPr marL="0" lvl="0" indent="0">
              <a:buNone/>
            </a:pPr>
            <a:endParaRPr/>
          </a:p>
          <a:p>
            <a:pPr marL="0" lvl="0" indent="0">
              <a:buNone/>
            </a:pPr>
            <a:r>
              <a:t>Consider a media company analyzing user behavior across millions of users. BigQuery lets them query petabytes of data in seconds. The integration with other GCP services means they can build a complete analytics pipeline: Pub/Sub ingests events, Dataflow processes them, BigQuery stores and analyzes them, and Looker visualizes results. This is GCP’s sweet spot.</a:t>
            </a:r>
          </a:p>
          <a:p>
            <a:pPr marL="0" lvl="0" indent="0">
              <a:buNone/>
            </a:pPr>
            <a:endParaRPr/>
          </a:p>
          <a:p>
            <a:pPr marL="0" lvl="0" indent="0">
              <a:buNone/>
            </a:pPr>
            <a:r>
              <a:t>AI/ML LEADERSHIP: Google invented TensorFlow and has been doing machine learning at scale longer than anyone. Vertex AI provides a comprehensive ML platform for training and deploying models. TPUs (Tensor Processing Units) offer specialized hardware for ML workloads. If your competitive advantage comes from machine learning, GCP deserves serious consideration.</a:t>
            </a:r>
          </a:p>
          <a:p>
            <a:pPr marL="0" lvl="0" indent="0">
              <a:buNone/>
            </a:pPr>
            <a:endParaRPr/>
          </a:p>
          <a:p>
            <a:pPr marL="0" lvl="0" indent="0">
              <a:buNone/>
            </a:pPr>
            <a:r>
              <a:t>DEVELOPER EXPERIENCE: GCP’s console is clean and intuitive. The documentation is excellent. The APIs are well-designed and consistent. Cloud Shell gives you a browser-based terminal with all the tools pre-installed. For developers, GCP often feels the most pleasant to use.</a:t>
            </a:r>
          </a:p>
          <a:p>
            <a:pPr marL="0" lvl="0" indent="0">
              <a:buNone/>
            </a:pPr>
            <a:endParaRPr/>
          </a:p>
          <a:p>
            <a:pPr marL="0" lvl="0" indent="0">
              <a:buNone/>
            </a:pPr>
            <a:r>
              <a:t>KUBERNETES EXPERTISE: Google invented Kubernetes and open-sourced it. GKE (Google Kubernetes Engine) is widely regarded as the best managed Kubernetes service. It has the latest features, the smoothest operation, and the deepest integration with Kubernetes’s design philosophy. If you’re committed to Kubernetes, GKE is the gold standard.</a:t>
            </a:r>
          </a:p>
          <a:p>
            <a:pPr marL="0" lvl="0" indent="0">
              <a:buNone/>
            </a:pPr>
            <a:endParaRPr/>
          </a:p>
          <a:p>
            <a:pPr marL="0" lvl="0" indent="0">
              <a:buNone/>
            </a:pPr>
            <a:r>
              <a:t>NETWORKING: Google’s global private network means your traffic between regions doesn’t touch the public internet. This results in better performance and security. GCP’s load balancing is also excellent, with smart routing and anycast addressing built in.</a:t>
            </a:r>
          </a:p>
          <a:p>
            <a:pPr marL="0" lvl="0" indent="0">
              <a:buNone/>
            </a:pPr>
            <a:endParaRPr/>
          </a:p>
          <a:p>
            <a:pPr marL="0" lvl="0" indent="0">
              <a:buNone/>
            </a:pPr>
            <a:r>
              <a:t>OPEN SOURCE LEADERSHIP: Google actively contributes to and leads major open source projects like Kubernetes, TensorFlow, Go, and Istio. This philosophical alignment appeals to development teams that prefer open source technologies.</a:t>
            </a:r>
          </a:p>
          <a:p>
            <a:pPr marL="0" lvl="0" indent="0">
              <a:buNone/>
            </a:pPr>
            <a:endParaRPr/>
          </a:p>
          <a:p>
            <a:pPr marL="0" lvl="0" indent="0">
              <a:buNone/>
            </a:pPr>
            <a:r>
              <a:t>WEAKNESSES OF GCP:</a:t>
            </a:r>
          </a:p>
          <a:p>
            <a:pPr marL="0" lvl="0" indent="0">
              <a:buNone/>
            </a:pPr>
            <a:endParaRPr/>
          </a:p>
          <a:p>
            <a:pPr marL="0" lvl="0" indent="0">
              <a:buNone/>
            </a:pPr>
            <a:r>
              <a:t>MARKET POSITION: Being third means fewer companies use GCP, which creates a self-reinforcing cycle. Fewer users means less third-party tooling, which makes it less attractive to new users. The ecosystem effects matter.</a:t>
            </a:r>
          </a:p>
          <a:p>
            <a:pPr marL="0" lvl="0" indent="0">
              <a:buNone/>
            </a:pPr>
            <a:endParaRPr/>
          </a:p>
          <a:p>
            <a:pPr marL="0" lvl="0" indent="0">
              <a:buNone/>
            </a:pPr>
            <a:r>
              <a:t>SERVICE BREADTH: GCP has fewer specialized services than AWS. For most common use cases this doesn’t matter, but if you need something specific like a time-series database or a quantum computing simulator, AWS is more likely to have it.</a:t>
            </a:r>
          </a:p>
          <a:p>
            <a:pPr marL="0" lvl="0" indent="0">
              <a:buNone/>
            </a:pPr>
            <a:endParaRPr/>
          </a:p>
          <a:p>
            <a:pPr marL="0" lvl="0" indent="0">
              <a:buNone/>
            </a:pPr>
            <a:r>
              <a:t>ENTERPRISE MATURITY: GCP doesn’t have decades of enterprise relationships like Microsoft or AWS’s first-mover advantage. They’re building enterprise credibility, but large conservative organizations still tend toward AWS or Azure.</a:t>
            </a:r>
          </a:p>
          <a:p>
            <a:pPr marL="0" lvl="0" indent="0">
              <a:buNone/>
            </a:pPr>
            <a:endParaRPr/>
          </a:p>
          <a:p>
            <a:pPr marL="0" lvl="0" indent="0">
              <a:buNone/>
            </a:pPr>
            <a:r>
              <a:t>GEOGRAPHIC COVERAGE: GCP has fewer regions than AWS. This matters for latency-sensitive applications or strict data residency requirements. They’re expanding, but AWS has a substantial lead.</a:t>
            </a:r>
          </a:p>
          <a:p>
            <a:pPr marL="0" lvl="0" indent="0">
              <a:buNone/>
            </a:pPr>
            <a:endParaRPr/>
          </a:p>
          <a:p>
            <a:pPr marL="0" lvl="0" indent="0">
              <a:buNone/>
            </a:pPr>
            <a:r>
              <a:t>PRODUCT CONTINUITY CONCERNS: Google has a reputation for canceling products (Google Reader, Google+, etc.). While they’ve been stable with GCP services, this reputation makes some enterprises nervous about long-term commitment. Nobody wants to build on a service that might be deprecated.</a:t>
            </a:r>
          </a:p>
          <a:p>
            <a:pPr marL="0" lvl="0" indent="0">
              <a:buNone/>
            </a:pPr>
            <a:endParaRPr/>
          </a:p>
          <a:p>
            <a:pPr marL="0" lvl="0" indent="0">
              <a:buNone/>
            </a:pPr>
            <a:r>
              <a:t>ECOSYSTEM: The partner and third-party tool ecosystem is smaller. AWS Marketplace has thousands of offerings; GCP Marketplace has hundreds. ISVs prioritize AWS first, Azure second, and GCP third when deciding integration roadmaps.</a:t>
            </a:r>
          </a:p>
          <a:p>
            <a:pPr marL="0" lvl="0" indent="0">
              <a:buNone/>
            </a:pPr>
            <a:endParaRPr/>
          </a:p>
          <a:p>
            <a:pPr marL="0" lvl="0" indent="0">
              <a:buNone/>
            </a:pPr>
            <a:r>
              <a:t>REAL-WORLD IMPLICATIONS: GCP excels for data-intensive and ML-heavy workloads. A fintech company doing real-time fraud detection with machine learning would seriously consider GCP. A media company analyzing user behavior across millions of events per second would benefit from BigQuery. A startup building a containerized microservices application might choose GKE.</a:t>
            </a:r>
          </a:p>
          <a:p>
            <a:pPr marL="0" lvl="0" indent="0">
              <a:buNone/>
            </a:pPr>
            <a:endParaRPr/>
          </a:p>
          <a:p>
            <a:pPr marL="0" lvl="0" indent="0">
              <a:buNone/>
            </a:pPr>
            <a:r>
              <a:t>However, a traditional enterprise with legacy applications, an existing Microsoft relationship, and no special data analytics needs would probably choose Azure over GCP.</a:t>
            </a:r>
          </a:p>
          <a:p>
            <a:pPr marL="0" lvl="0" indent="0">
              <a:buNone/>
            </a:pPr>
            <a:endParaRPr/>
          </a:p>
          <a:p>
            <a:pPr marL="0" lvl="0" indent="0">
              <a:buNone/>
            </a:pPr>
            <a:r>
              <a:t>The pattern emerging: choose AWS for breadth and maturity, Azure for Microsoft integration and enterprise relationships, and GCP for data analytics and machine learning workloads.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Understanding the business models and pricing strategies reveals a lot about each provider’s target market and philosophy. Pricing isn’t just about cost—it reflects strategic priorities.</a:t>
            </a:r>
          </a:p>
          <a:p>
            <a:pPr marL="0" lvl="0" indent="0">
              <a:buNone/>
            </a:pPr>
            <a:endParaRPr/>
          </a:p>
          <a:p>
            <a:pPr marL="0" lvl="0" indent="0">
              <a:buNone/>
            </a:pPr>
            <a:r>
              <a:t>AWS PRICING MODEL:</a:t>
            </a:r>
          </a:p>
          <a:p>
            <a:pPr marL="0" lvl="0" indent="0">
              <a:buNone/>
            </a:pPr>
            <a:endParaRPr/>
          </a:p>
          <a:p>
            <a:pPr marL="0" lvl="0" indent="0">
              <a:buNone/>
            </a:pPr>
            <a:r>
              <a:t>PAY-AS-YOU-GO: AWS pioneered the “pay only for what you use” model. Spin up a server, use it for two hours, pay for two hours. This eliminated the need for upfront capital investment in hardware and made computing resources accessible to startups and small companies.</a:t>
            </a:r>
          </a:p>
          <a:p>
            <a:pPr marL="0" lvl="0" indent="0">
              <a:buNone/>
            </a:pPr>
            <a:endParaRPr/>
          </a:p>
          <a:p>
            <a:pPr marL="0" lvl="0" indent="0">
              <a:buNone/>
            </a:pPr>
            <a:r>
              <a:t>RESERVED INSTANCES: If you commit to using an instance for 1-3 years, AWS gives you discounts up to 75%. This appeals to enterprises with predictable workloads. You’re essentially pre-paying for capacity in exchange for lower rates.</a:t>
            </a:r>
          </a:p>
          <a:p>
            <a:pPr marL="0" lvl="0" indent="0">
              <a:buNone/>
            </a:pPr>
            <a:endParaRPr/>
          </a:p>
          <a:p>
            <a:pPr marL="0" lvl="0" indent="0">
              <a:buNone/>
            </a:pPr>
            <a:r>
              <a:t>SPOT INSTANCES: AWS auctions off spare capacity at deep discounts (up to 90% off). Your instance can be terminated with two minutes’ notice if someone bids higher or if AWS needs the capacity. This works for fault-tolerant workloads like batch processing, data analysis, or CI/CD jobs.</a:t>
            </a:r>
          </a:p>
          <a:p>
            <a:pPr marL="0" lvl="0" indent="0">
              <a:buNone/>
            </a:pPr>
            <a:endParaRPr/>
          </a:p>
          <a:p>
            <a:pPr marL="0" lvl="0" indent="0">
              <a:buNone/>
            </a:pPr>
            <a:r>
              <a:t>The AWS model maximizes flexibility but creates complexity. You need expertise to optimize costs effectively. Should you use Reserved Instances or Savings Plans? How do you mix Spot and On-Demand instances? Companies often hire specialists just to manage AWS costs.</a:t>
            </a:r>
          </a:p>
          <a:p>
            <a:pPr marL="0" lvl="0" indent="0">
              <a:buNone/>
            </a:pPr>
            <a:endParaRPr/>
          </a:p>
          <a:p>
            <a:pPr marL="0" lvl="0" indent="0">
              <a:buNone/>
            </a:pPr>
            <a:r>
              <a:t>HIDDEN COSTS: Data transfer costs can shock new AWS users. Moving data between availability zones costs money. Data transfer out to the internet costs money. S3 API calls cost money. These small charges add up. A common scenario: developer sets up logging that generates gigabytes of data, which gets stored in S3, which gets queried frequently, and suddenly you’re spending thousands per month on logging alone.</a:t>
            </a:r>
          </a:p>
          <a:p>
            <a:pPr marL="0" lvl="0" indent="0">
              <a:buNone/>
            </a:pPr>
            <a:endParaRPr/>
          </a:p>
          <a:p>
            <a:pPr marL="0" lvl="0" indent="0">
              <a:buNone/>
            </a:pPr>
            <a:r>
              <a:t>AZURE PRICING MODEL:</a:t>
            </a:r>
          </a:p>
          <a:p>
            <a:pPr marL="0" lvl="0" indent="0">
              <a:buNone/>
            </a:pPr>
            <a:endParaRPr/>
          </a:p>
          <a:p>
            <a:pPr marL="0" lvl="0" indent="0">
              <a:buNone/>
            </a:pPr>
            <a:r>
              <a:t>ENTERPRISE AGREEMENTS: Microsoft’s traditional enterprise sales model carries into Azure. Large companies sign Enterprise Agreements (EAs) with committed spending levels in exchange for discounts. If you commit to spending $10 million annually on Microsoft products, your Azure discounts improve significantly.</a:t>
            </a:r>
          </a:p>
          <a:p>
            <a:pPr marL="0" lvl="0" indent="0">
              <a:buNone/>
            </a:pPr>
            <a:endParaRPr/>
          </a:p>
          <a:p>
            <a:pPr marL="0" lvl="0" indent="0">
              <a:buNone/>
            </a:pPr>
            <a:r>
              <a:t>AZURE HYBRID BENEFIT: This is a huge advantage if you already own Windows Server or SQL Server licenses. You can use those licenses in Azure and pay only for the underlying compute, reducing Windows Server costs by up to 40% and SQL Server costs by up to 55%. This makes Azure significantly cheaper than AWS for Windows workloads.</a:t>
            </a:r>
          </a:p>
          <a:p>
            <a:pPr marL="0" lvl="0" indent="0">
              <a:buNone/>
            </a:pPr>
            <a:endParaRPr/>
          </a:p>
          <a:p>
            <a:pPr marL="0" lvl="0" indent="0">
              <a:buNone/>
            </a:pPr>
            <a:r>
              <a:t>ENTERPRISE RELATIONSHIPS: Azure’s pricing model reflects Microsoft’s enterprise DNA. They’re comfortable negotiating large multi-year contracts with Fortune 500 companies. The pricing might not be simpler than AWS’s, but it fits how enterprises already buy Microsoft products.</a:t>
            </a:r>
          </a:p>
          <a:p>
            <a:pPr marL="0" lvl="0" indent="0">
              <a:buNone/>
            </a:pPr>
            <a:endParaRPr/>
          </a:p>
          <a:p>
            <a:pPr marL="0" lvl="0" indent="0">
              <a:buNone/>
            </a:pPr>
            <a:r>
              <a:t>COMPETITIVE ON INFRASTRUCTURE: Azure often matches or beats AWS pricing on basic infrastructure services. They need to be price-competitive to win customers away from AWS.</a:t>
            </a:r>
          </a:p>
          <a:p>
            <a:pPr marL="0" lvl="0" indent="0">
              <a:buNone/>
            </a:pPr>
            <a:endParaRPr/>
          </a:p>
          <a:p>
            <a:pPr marL="0" lvl="0" indent="0">
              <a:buNone/>
            </a:pPr>
            <a:r>
              <a:t>GCP PRICING MODEL:</a:t>
            </a:r>
          </a:p>
          <a:p>
            <a:pPr marL="0" lvl="0" indent="0">
              <a:buNone/>
            </a:pPr>
            <a:endParaRPr/>
          </a:p>
          <a:p>
            <a:pPr marL="0" lvl="0" indent="0">
              <a:buNone/>
            </a:pPr>
            <a:r>
              <a:t>SUSTAINED USE DISCOUNTS: This is innovative. If you run a VM for a significant portion of the month, GCP automatically discounts it without requiring any commitment. Use it for 25% of the month, get 20% off. Use it all month, get up to 30% off. No reservations needed. This reduces complexity and rewards actual usage.</a:t>
            </a:r>
          </a:p>
          <a:p>
            <a:pPr marL="0" lvl="0" indent="0">
              <a:buNone/>
            </a:pPr>
            <a:endParaRPr/>
          </a:p>
          <a:p>
            <a:pPr marL="0" lvl="0" indent="0">
              <a:buNone/>
            </a:pPr>
            <a:r>
              <a:t>COMMITTED USE CONTRACTS: For larger discounts, you commit to spending a certain amount for 1-3 years, similar to AWS Reserved Instances but more flexible.</a:t>
            </a:r>
          </a:p>
          <a:p>
            <a:pPr marL="0" lvl="0" indent="0">
              <a:buNone/>
            </a:pPr>
            <a:endParaRPr/>
          </a:p>
          <a:p>
            <a:pPr marL="0" lvl="0" indent="0">
              <a:buNone/>
            </a:pPr>
            <a:r>
              <a:t>SIMPLER PRICING: GCP’s pricing tends to be more straightforward. Fewer unexpected charges, clearer documentation, more predictable costs. For developers who aren’t pricing experts, GCP can be easier to understand.</a:t>
            </a:r>
          </a:p>
          <a:p>
            <a:pPr marL="0" lvl="0" indent="0">
              <a:buNone/>
            </a:pPr>
            <a:endParaRPr/>
          </a:p>
          <a:p>
            <a:pPr marL="0" lvl="0" indent="0">
              <a:buNone/>
            </a:pPr>
            <a:r>
              <a:t>COMPETITIVE PRICING: GCP often undercuts AWS and Azure on compute pricing, especially for long-running workloads. They need to be price-aggressive to gain market share.</a:t>
            </a:r>
          </a:p>
          <a:p>
            <a:pPr marL="0" lvl="0" indent="0">
              <a:buNone/>
            </a:pPr>
            <a:endParaRPr/>
          </a:p>
          <a:p>
            <a:pPr marL="0" lvl="0" indent="0">
              <a:buNone/>
            </a:pPr>
            <a:r>
              <a:t>CUSTOM MACHINE TYPES: GCP lets you specify exactly the number of vCPUs and memory you want rather than choosing from predetermined instance sizes. This granularity can save money if the standard sizes don’t fit your needs.</a:t>
            </a:r>
          </a:p>
          <a:p>
            <a:pPr marL="0" lvl="0" indent="0">
              <a:buNone/>
            </a:pPr>
            <a:endParaRPr/>
          </a:p>
          <a:p>
            <a:pPr marL="0" lvl="0" indent="0">
              <a:buNone/>
            </a:pPr>
            <a:r>
              <a:t>REAL-WORLD PRICING CONSIDERATIONS:</a:t>
            </a:r>
          </a:p>
          <a:p>
            <a:pPr marL="0" lvl="0" indent="0">
              <a:buNone/>
            </a:pPr>
            <a:endParaRPr/>
          </a:p>
          <a:p>
            <a:pPr marL="0" lvl="0" indent="0">
              <a:buNone/>
            </a:pPr>
            <a:r>
              <a:t>For a startup with variable workload, AWS’s flexibility and Spot instances might be ideal despite the complexity. They can optimize aggressively and scale up or down rapidly.</a:t>
            </a:r>
          </a:p>
          <a:p>
            <a:pPr marL="0" lvl="0" indent="0">
              <a:buNone/>
            </a:pPr>
            <a:endParaRPr/>
          </a:p>
          <a:p>
            <a:pPr marL="0" lvl="0" indent="0">
              <a:buNone/>
            </a:pPr>
            <a:r>
              <a:t>For an enterprise already running Microsoft products, Azure’s Hybrid Benefit can reduce costs by 30-50% compared to AWS for the same workload. The Enterprise Agreement discounts further improve economics.</a:t>
            </a:r>
          </a:p>
          <a:p>
            <a:pPr marL="0" lvl="0" indent="0">
              <a:buNone/>
            </a:pPr>
            <a:endParaRPr/>
          </a:p>
          <a:p>
            <a:pPr marL="0" lvl="0" indent="0">
              <a:buNone/>
            </a:pPr>
            <a:r>
              <a:t>For a data analytics company running sustained workloads, GCP’s automatic sustained use discounts and competitive pricing on compute and BigQuery can offer the best value.</a:t>
            </a:r>
          </a:p>
          <a:p>
            <a:pPr marL="0" lvl="0" indent="0">
              <a:buNone/>
            </a:pPr>
            <a:endParaRPr/>
          </a:p>
          <a:p>
            <a:pPr marL="0" lvl="0" indent="0">
              <a:buNone/>
            </a:pPr>
            <a:r>
              <a:t>The pricing model you prefer often correlates with your organization type: startups like AWS’s flexibility, enterprises like Azure’s agreements, and data-focused companies like GCP’s simplicity.</a:t>
            </a:r>
          </a:p>
          <a:p>
            <a:pPr marL="0" lvl="0" indent="0">
              <a:buNone/>
            </a:pPr>
            <a:endParaRPr/>
          </a:p>
          <a:p>
            <a:pPr marL="0" lvl="0" indent="0">
              <a:buNone/>
            </a:pPr>
            <a:r>
              <a:t>One final note: All three providers offer free tiers for learning and experimentation. AWS has a 12-month free tier with generous limits. Azure offers $200 credit for 30 days plus always-free services. GCP offers $300 credit for 90 days plus always-free tier. Use these to explore platforms without cost commitment.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now examine how each cloud provider approaches artificial intelligence and machine learning. This has become a critical differentiator as AI transforms from research curiosity to business imperative.</a:t>
            </a:r>
          </a:p>
          <a:p>
            <a:pPr marL="0" lvl="0" indent="0">
              <a:buNone/>
            </a:pPr>
            <a:endParaRPr/>
          </a:p>
          <a:p>
            <a:pPr marL="0" lvl="0" indent="0">
              <a:buNone/>
            </a:pPr>
            <a:r>
              <a:t>AWS AI/ML APPROACH:</a:t>
            </a:r>
          </a:p>
          <a:p>
            <a:pPr marL="0" lvl="0" indent="0">
              <a:buNone/>
            </a:pPr>
            <a:endParaRPr/>
          </a:p>
          <a:p>
            <a:pPr marL="0" lvl="0" indent="0">
              <a:buNone/>
            </a:pPr>
            <a:r>
              <a:t>AWS’s philosophy is to be the platform that hosts AI rather than the creator of AI. They partner with AI companies and provide infrastructure for others to build on.</a:t>
            </a:r>
          </a:p>
          <a:p>
            <a:pPr marL="0" lvl="0" indent="0">
              <a:buNone/>
            </a:pPr>
            <a:endParaRPr/>
          </a:p>
          <a:p>
            <a:pPr marL="0" lvl="0" indent="0">
              <a:buNone/>
            </a:pPr>
            <a:r>
              <a:t>SAGEMAKER: This is AWS’s comprehensive machine learning platform. You can build custom models, train them on AWS infrastructure, and deploy them at scale. SageMaker includes: - Notebooks for experimentation - Training jobs with automatic scaling - Model deployment with auto-scaling endpoints - MLOps features for production ML pipelines</a:t>
            </a:r>
          </a:p>
          <a:p>
            <a:pPr marL="0" lvl="0" indent="0">
              <a:buNone/>
            </a:pPr>
            <a:endParaRPr/>
          </a:p>
          <a:p>
            <a:pPr marL="0" lvl="0" indent="0">
              <a:buNone/>
            </a:pPr>
            <a:r>
              <a:t>SageMaker is powerful but requires ML expertise. You need data scientists who understand model training, hyperparameter tuning, and model serving. It’s not an AI service—it’s a platform for building AI systems.</a:t>
            </a:r>
          </a:p>
          <a:p>
            <a:pPr marL="0" lvl="0" indent="0">
              <a:buNone/>
            </a:pPr>
            <a:endParaRPr/>
          </a:p>
          <a:p>
            <a:pPr marL="0" lvl="0" indent="0">
              <a:buNone/>
            </a:pPr>
            <a:r>
              <a:t>BEDROCK: Launched in 2023, Bedrock provides access to foundation models from multiple providers including Anthropic (Claude), Meta (Llama), Stability AI, Cohere, and Amazon’s own Titan models. This is AWS’s answer to the generative AI boom. Instead of building their own GPT competitor, AWS provides a marketplace of models.</a:t>
            </a:r>
          </a:p>
          <a:p>
            <a:pPr marL="0" lvl="0" indent="0">
              <a:buNone/>
            </a:pPr>
            <a:endParaRPr/>
          </a:p>
          <a:p>
            <a:pPr marL="0" lvl="0" indent="0">
              <a:buNone/>
            </a:pPr>
            <a:r>
              <a:t>The Bedrock approach reflects AWS’s strategy: be the platform, not the product. Let specialized AI companies like Anthropic focus on model development while AWS provides scalable infrastructure and enterprise features like security, compliance, and billing.</a:t>
            </a:r>
          </a:p>
          <a:p>
            <a:pPr marL="0" lvl="0" indent="0">
              <a:buNone/>
            </a:pPr>
            <a:endParaRPr/>
          </a:p>
          <a:p>
            <a:pPr marL="0" lvl="0" indent="0">
              <a:buNone/>
            </a:pPr>
            <a:r>
              <a:t>PRE-BUILT AI SERVICES: AWS offers numerous pre-trained services for common tasks: - Rekognition analyzes images and videos to detect objects, faces, text, and scenes - Comprehend extracts insights from text using NLP - Polly converts text to lifelike speech in multiple languages - Transcribe converts speech to text with high accuracy - Translate provides language translation - Textract extracts text and data from documents</a:t>
            </a:r>
          </a:p>
          <a:p>
            <a:pPr marL="0" lvl="0" indent="0">
              <a:buNone/>
            </a:pPr>
            <a:endParaRPr/>
          </a:p>
          <a:p>
            <a:pPr marL="0" lvl="0" indent="0">
              <a:buNone/>
            </a:pPr>
            <a:r>
              <a:t>These services are useful for common tasks but aren’t cutting-edge AI. They solve 80% of business use cases without requiring ML expertise.</a:t>
            </a:r>
          </a:p>
          <a:p>
            <a:pPr marL="0" lvl="0" indent="0">
              <a:buNone/>
            </a:pPr>
            <a:endParaRPr/>
          </a:p>
          <a:p>
            <a:pPr marL="0" lvl="0" indent="0">
              <a:buNone/>
            </a:pPr>
            <a:r>
              <a:t>CODEWHISPERER: AWS’s AI coding assistant, similar to GitHub Copilot. It’s free for individual developers and suggests code based on comments and existing code. Integrated with AWS tools and particularly good at suggesting AWS service configurations.</a:t>
            </a:r>
          </a:p>
          <a:p>
            <a:pPr marL="0" lvl="0" indent="0">
              <a:buNone/>
            </a:pPr>
            <a:endParaRPr/>
          </a:p>
          <a:p>
            <a:pPr marL="0" lvl="0" indent="0">
              <a:buNone/>
            </a:pPr>
            <a:r>
              <a:t>STRENGTHS OF AWS AI: - Most comprehensive ML platform for custom models - Enterprise trust and existing relationships - Broad selection of pre-built services - Bedrock provides access to multiple foundation models - Strong security and compliance features - Integration with rest of AWS ecosystem</a:t>
            </a:r>
          </a:p>
          <a:p>
            <a:pPr marL="0" lvl="0" indent="0">
              <a:buNone/>
            </a:pPr>
            <a:endParaRPr/>
          </a:p>
          <a:p>
            <a:pPr marL="0" lvl="0" indent="0">
              <a:buNone/>
            </a:pPr>
            <a:r>
              <a:t>WEAKNESSES: - Not seen as an AI innovation leader like Google or OpenAI - More of a hosting platform than a creator - SageMaker has steep learning curve - Bedrock came late to the foundation model market - Pre-built services aren’t state-of-the-art</a:t>
            </a:r>
          </a:p>
          <a:p>
            <a:pPr marL="0" lvl="0" indent="0">
              <a:buNone/>
            </a:pPr>
            <a:endParaRPr/>
          </a:p>
          <a:p>
            <a:pPr marL="0" lvl="0" indent="0">
              <a:buNone/>
            </a:pPr>
            <a:r>
              <a:t>REAL-WORLD USAGE: Enterprises with existing AWS deployments extend into AI using AWS tools. A financial services company might use SageMaker to build fraud detection models, Comprehend to analyze customer feedback, and Bedrock to add chatbot capabilities. They’re not choosing AWS for cutting-edge AI—they’re choosing it because they’re already on AWS and the integration is seamless.</a:t>
            </a:r>
          </a:p>
          <a:p>
            <a:pPr marL="0" lvl="0" indent="0">
              <a:buNone/>
            </a:pPr>
            <a:endParaRPr/>
          </a:p>
          <a:p>
            <a:pPr marL="0" lvl="0" indent="0">
              <a:buNone/>
            </a:pPr>
            <a:r>
              <a:t>Startups building AI-first products often use AWS for infrastructure but OpenAI or Anthropic APIs directly rather than going through Bedrock, because they want the latest models and AWS adds a layer of abstraction.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Microsoft has taken a dramatically different AI strategy than AWS, and it’s paying off significantly. Their $13 billion investment in OpenAI gives them exclusive cloud provider rights to OpenAI’s models.</a:t>
            </a:r>
          </a:p>
          <a:p>
            <a:pPr marL="0" lvl="0" indent="0">
              <a:buNone/>
            </a:pPr>
            <a:endParaRPr/>
          </a:p>
          <a:p>
            <a:pPr marL="0" lvl="0" indent="0">
              <a:buNone/>
            </a:pPr>
            <a:r>
              <a:t>AZURE’S AI STRATEGY:</a:t>
            </a:r>
          </a:p>
          <a:p>
            <a:pPr marL="0" lvl="0" indent="0">
              <a:buNone/>
            </a:pPr>
            <a:endParaRPr/>
          </a:p>
          <a:p>
            <a:pPr marL="0" lvl="0" indent="0">
              <a:buNone/>
            </a:pPr>
            <a:r>
              <a:t>AZURE OPENAI SERVICE: This is Microsoft’s trump card. If you want to use GPT-4, GPT-4o, GPT-4 Turbo, or DALL-E in an enterprise context with security, compliance, and SLA guarantees, you must use Azure. OpenAI’s consumer API is separate from Azure OpenAI Service.</a:t>
            </a:r>
          </a:p>
          <a:p>
            <a:pPr marL="0" lvl="0" indent="0">
              <a:buNone/>
            </a:pPr>
            <a:endParaRPr/>
          </a:p>
          <a:p>
            <a:pPr marL="0" lvl="0" indent="0">
              <a:buNone/>
            </a:pPr>
            <a:r>
              <a:t>Why does this matter? Many enterprises won’t use consumer APIs directly due to data privacy, compliance, and reliability concerns. They need contractual guarantees about data handling, uptime SLAs, and enterprise support. Azure OpenAI Service provides this. The trade-off is higher cost and approval requirements (you have to apply for access).</a:t>
            </a:r>
          </a:p>
          <a:p>
            <a:pPr marL="0" lvl="0" indent="0">
              <a:buNone/>
            </a:pPr>
            <a:endParaRPr/>
          </a:p>
          <a:p>
            <a:pPr marL="0" lvl="0" indent="0">
              <a:buNone/>
            </a:pPr>
            <a:r>
              <a:t>The Azure OpenAI integration is deep. You get: - Private networking to keep data within your VPC - Managed identity and RBAC for access control - Content filtering and responsible AI controls - Usage tracking and billing through Azure - SLA guarantees that consumer OpenAI API doesn’t offer</a:t>
            </a:r>
          </a:p>
          <a:p>
            <a:pPr marL="0" lvl="0" indent="0">
              <a:buNone/>
            </a:pPr>
            <a:endParaRPr/>
          </a:p>
          <a:p>
            <a:pPr marL="0" lvl="0" indent="0">
              <a:buNone/>
            </a:pPr>
            <a:r>
              <a:t>This positions Azure uniquely for enterprises wanting to adopt generative AI responsibly.</a:t>
            </a:r>
          </a:p>
          <a:p>
            <a:pPr marL="0" lvl="0" indent="0">
              <a:buNone/>
            </a:pPr>
            <a:endParaRPr/>
          </a:p>
          <a:p>
            <a:pPr marL="0" lvl="0" indent="0">
              <a:buNone/>
            </a:pPr>
            <a:r>
              <a:t>AZURE MACHINE LEARNING: Similar to AWS SageMaker, this provides a complete platform for custom ML model development. Build, train, and deploy models using Azure infrastructure. It integrates well with Python tools, Jupyter notebooks, and popular ML frameworks. If you’re building custom models rather than using pre-trained ones, Azure ML competes effectively with SageMaker.</a:t>
            </a:r>
          </a:p>
          <a:p>
            <a:pPr marL="0" lvl="0" indent="0">
              <a:buNone/>
            </a:pPr>
            <a:endParaRPr/>
          </a:p>
          <a:p>
            <a:pPr marL="0" lvl="0" indent="0">
              <a:buNone/>
            </a:pPr>
            <a:r>
              <a:t>COGNITIVE SERVICES: Pre-built AI capabilities for common tasks: - Computer Vision for image analysis - Speech Services for voice recognition and synthesis - Language Services for NLP tasks - Decision Services for content moderation and anomaly detection</a:t>
            </a:r>
          </a:p>
          <a:p>
            <a:pPr marL="0" lvl="0" indent="0">
              <a:buNone/>
            </a:pPr>
            <a:endParaRPr/>
          </a:p>
          <a:p>
            <a:pPr marL="0" lvl="0" indent="0">
              <a:buNone/>
            </a:pPr>
            <a:r>
              <a:t>These are similar to AWS’s pre-built services but generally integrate better with Microsoft tools and are easier to use for developers in the Microsoft ecosystem.</a:t>
            </a:r>
          </a:p>
          <a:p>
            <a:pPr marL="0" lvl="0" indent="0">
              <a:buNone/>
            </a:pPr>
            <a:endParaRPr/>
          </a:p>
          <a:p>
            <a:pPr marL="0" lvl="0" indent="0">
              <a:buNone/>
            </a:pPr>
            <a:r>
              <a:t>GITHUB COPILOT: Microsoft owns GitHub, and Copilot is the leading AI coding assistant. While not technically Azure, it’s part of Microsoft’s AI ecosystem. Many developers now use Copilot daily, and it’s become a significant competitive advantage for Microsoft in attracting developers.</a:t>
            </a:r>
          </a:p>
          <a:p>
            <a:pPr marL="0" lvl="0" indent="0">
              <a:buNone/>
            </a:pPr>
            <a:endParaRPr/>
          </a:p>
          <a:p>
            <a:pPr marL="0" lvl="0" indent="0">
              <a:buNone/>
            </a:pPr>
            <a:r>
              <a:t>AZURE AI STUDIO: A unified environment for building AI applications that brings together various Azure AI services. You can experiment with models, build AI workflows, and deploy applications. It’s Microsoft’s answer to the need for simpler AI development tools.</a:t>
            </a:r>
          </a:p>
          <a:p>
            <a:pPr marL="0" lvl="0" indent="0">
              <a:buNone/>
            </a:pPr>
            <a:endParaRPr/>
          </a:p>
          <a:p>
            <a:pPr marL="0" lvl="0" indent="0">
              <a:buNone/>
            </a:pPr>
            <a:r>
              <a:t>STRENGTHS OF AZURE AI: - Exclusive enterprise access to OpenAI models (GPT-4 family) - Strong enterprise security and compliance features - Excellent integration with Microsoft ecosystem - GitHub Copilot is market-leading developer tool - Responsible AI tooling and governance - Good for enterprises requiring data sovereignty</a:t>
            </a:r>
          </a:p>
          <a:p>
            <a:pPr marL="0" lvl="0" indent="0">
              <a:buNone/>
            </a:pPr>
            <a:endParaRPr/>
          </a:p>
          <a:p>
            <a:pPr marL="0" lvl="0" indent="0">
              <a:buNone/>
            </a:pPr>
            <a:r>
              <a:t>WEAKNESSES: - Dependency on OpenAI partnership (what if it changes?) - Expensive at scale compared to alternatives - Less model diversity than AWS Bedrock - Azure ML platform less mature than SageMaker in some areas</a:t>
            </a:r>
          </a:p>
          <a:p>
            <a:pPr marL="0" lvl="0" indent="0">
              <a:buNone/>
            </a:pPr>
            <a:endParaRPr/>
          </a:p>
          <a:p>
            <a:pPr marL="0" lvl="0" indent="0">
              <a:buNone/>
            </a:pPr>
            <a:r>
              <a:t>REAL-WORLD IMPACT:</a:t>
            </a:r>
          </a:p>
          <a:p>
            <a:pPr marL="0" lvl="0" indent="0">
              <a:buNone/>
            </a:pPr>
            <a:endParaRPr/>
          </a:p>
          <a:p>
            <a:pPr marL="0" lvl="0" indent="0">
              <a:buNone/>
            </a:pPr>
            <a:r>
              <a:t>Microsoft’s AI strategy has driven significant Azure growth. Companies wanting to use GPT-4 in enterprise settings must use Azure, bringing new customers to the platform. This is a massive competitive advantage in the current AI boom.</a:t>
            </a:r>
          </a:p>
          <a:p>
            <a:pPr marL="0" lvl="0" indent="0">
              <a:buNone/>
            </a:pPr>
            <a:endParaRPr/>
          </a:p>
          <a:p>
            <a:pPr marL="0" lvl="0" indent="0">
              <a:buNone/>
            </a:pPr>
            <a:r>
              <a:t>A healthcare company building a clinical documentation assistant would use Azure OpenAI to get GPT-4 with HIPAA compliance, private networking, and contractual guarantees about data handling. A financial services company adding chatbots to customer service would use Azure OpenAI for SOC 2 compliance and enterprise SLAs.</a:t>
            </a:r>
          </a:p>
          <a:p>
            <a:pPr marL="0" lvl="0" indent="0">
              <a:buNone/>
            </a:pPr>
            <a:endParaRPr/>
          </a:p>
          <a:p>
            <a:pPr marL="0" lvl="0" indent="0">
              <a:buNone/>
            </a:pPr>
            <a:r>
              <a:t>However, the OpenAI exclusivity is also a risk. If the OpenAI partnership changes, or if open-source models catch up to GPT-4’s capabilities, Azure’s advantage weakens. Microsoft is betting heavily on OpenAI remaining the AI leader.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Google has the strongest AI pedigree of the three cloud providers. They invented TensorFlow, pioneered modern deep learning research, and have been doing ML at massive scale longer than anyone. However, they’ve struggled to convert this technical excellence into cloud market share.</a:t>
            </a:r>
          </a:p>
          <a:p>
            <a:pPr marL="0" lvl="0" indent="0">
              <a:buNone/>
            </a:pPr>
            <a:endParaRPr/>
          </a:p>
          <a:p>
            <a:pPr marL="0" lvl="0" indent="0">
              <a:buNone/>
            </a:pPr>
            <a:r>
              <a:t>GOOGLE’S AI FOUNDATION:</a:t>
            </a:r>
          </a:p>
          <a:p>
            <a:pPr marL="0" lvl="0" indent="0">
              <a:buNone/>
            </a:pPr>
            <a:endParaRPr/>
          </a:p>
          <a:p>
            <a:pPr marL="0" lvl="0" indent="0">
              <a:buNone/>
            </a:pPr>
            <a:r>
              <a:t>Google’s AI research has driven the field forward for over a decade. They published the Transformer architecture paper in 2017 that enabled modern large language models. They open-sourced TensorFlow, which became the dominant ML framework. They built TPUs specifically for ML workloads. Their researchers win academic awards regularly.</a:t>
            </a:r>
          </a:p>
          <a:p>
            <a:pPr marL="0" lvl="0" indent="0">
              <a:buNone/>
            </a:pPr>
            <a:endParaRPr/>
          </a:p>
          <a:p>
            <a:pPr marL="0" lvl="0" indent="0">
              <a:buNone/>
            </a:pPr>
            <a:r>
              <a:t>This research excellence translates into technical advantages in GCP’s AI services but hasn’t translated into market dominance because enterprise decision-makers care about relationships, support, and ecosystem as much as technical superiority.</a:t>
            </a:r>
          </a:p>
          <a:p>
            <a:pPr marL="0" lvl="0" indent="0">
              <a:buNone/>
            </a:pPr>
            <a:endParaRPr/>
          </a:p>
          <a:p>
            <a:pPr marL="0" lvl="0" indent="0">
              <a:buNone/>
            </a:pPr>
            <a:r>
              <a:t>VERTEX AI: This is Google’s unified ML platform combining various AI services into one cohesive environment. You can: - Train custom models using TensorFlow, PyTorch, or scikit-learn - Use AutoML to build models with limited ML expertise - Deploy models with automatic scaling and monitoring - Manage ML pipelines with Kubeflow Pipelines - Access pre-trained models from Model Garden</a:t>
            </a:r>
          </a:p>
          <a:p>
            <a:pPr marL="0" lvl="0" indent="0">
              <a:buNone/>
            </a:pPr>
            <a:endParaRPr/>
          </a:p>
          <a:p>
            <a:pPr marL="0" lvl="0" indent="0">
              <a:buNone/>
            </a:pPr>
            <a:r>
              <a:t>Vertex AI is arguably the most technically sophisticated ML platform among the big three. It reflects Google’s deep ML expertise and their understanding of what data scientists need.</a:t>
            </a:r>
          </a:p>
          <a:p>
            <a:pPr marL="0" lvl="0" indent="0">
              <a:buNone/>
            </a:pPr>
            <a:endParaRPr/>
          </a:p>
          <a:p>
            <a:pPr marL="0" lvl="0" indent="0">
              <a:buNone/>
            </a:pPr>
            <a:r>
              <a:t>TPUs (TENSOR PROCESSING UNITS): Google designed custom hardware specifically for machine learning workloads. TPUs train models faster and more efficiently than GPUs for many workloads. They’re available exclusively on GCP, giving Google a unique infrastructure advantage for large-scale ML training.</a:t>
            </a:r>
          </a:p>
          <a:p>
            <a:pPr marL="0" lvl="0" indent="0">
              <a:buNone/>
            </a:pPr>
            <a:endParaRPr/>
          </a:p>
          <a:p>
            <a:pPr marL="0" lvl="0" indent="0">
              <a:buNone/>
            </a:pPr>
            <a:r>
              <a:t>If you’re training massive models—like if you’re a research lab training your own foundation model—TPUs offer significant performance advantages and cost savings compared to GPU-based training.</a:t>
            </a:r>
          </a:p>
          <a:p>
            <a:pPr marL="0" lvl="0" indent="0">
              <a:buNone/>
            </a:pPr>
            <a:endParaRPr/>
          </a:p>
          <a:p>
            <a:pPr marL="0" lvl="0" indent="0">
              <a:buNone/>
            </a:pPr>
            <a:r>
              <a:t>GEMINI: Google’s foundation model, positioned as a competitor to GPT-4. Gemini comes in multiple sizes (Nano, Pro, Ultra) for different use cases. It’s multimodal (handles text, images, audio, video) and deeply integrated with GCP services.</a:t>
            </a:r>
          </a:p>
          <a:p>
            <a:pPr marL="0" lvl="0" indent="0">
              <a:buNone/>
            </a:pPr>
            <a:endParaRPr/>
          </a:p>
          <a:p>
            <a:pPr marL="0" lvl="0" indent="0">
              <a:buNone/>
            </a:pPr>
            <a:r>
              <a:t>However, Gemini hasn’t achieved the market penetration of GPT-4. Enterprises have standardized on OpenAI/Azure OpenAI, and it’s difficult to displace an established standard even with technical advantages.</a:t>
            </a:r>
          </a:p>
          <a:p>
            <a:pPr marL="0" lvl="0" indent="0">
              <a:buNone/>
            </a:pPr>
            <a:endParaRPr/>
          </a:p>
          <a:p>
            <a:pPr marL="0" lvl="0" indent="0">
              <a:buNone/>
            </a:pPr>
            <a:r>
              <a:t>PRE-TRAINED APIs: Google offers pre-built AI services for common tasks: - Vision AI for image analysis (using technology from Google Photos) - Speech-to-Text and Text-to-Speech (using tech from Google Assistant) - Translation (using Google Translate technology) - Natural Language API for text analysis</a:t>
            </a:r>
          </a:p>
          <a:p>
            <a:pPr marL="0" lvl="0" indent="0">
              <a:buNone/>
            </a:pPr>
            <a:endParaRPr/>
          </a:p>
          <a:p>
            <a:pPr marL="0" lvl="0" indent="0">
              <a:buNone/>
            </a:pPr>
            <a:r>
              <a:t>These services benefit from Google’s consumer products. The same technology powering Google Photos object recognition powers Vision AI. The quality is generally excellent because Google has trained on massive datasets from consumer usage.</a:t>
            </a:r>
          </a:p>
          <a:p>
            <a:pPr marL="0" lvl="0" indent="0">
              <a:buNone/>
            </a:pPr>
            <a:endParaRPr/>
          </a:p>
          <a:p>
            <a:pPr marL="0" lvl="0" indent="0">
              <a:buNone/>
            </a:pPr>
            <a:r>
              <a:t>AUTOML: This democratizes ML by letting you build custom models without deep ML expertise. Upload your data, specify what you want to predict, and AutoML handles feature engineering, model selection, and hyperparameter tuning automatically.</a:t>
            </a:r>
          </a:p>
          <a:p>
            <a:pPr marL="0" lvl="0" indent="0">
              <a:buNone/>
            </a:pPr>
            <a:endParaRPr/>
          </a:p>
          <a:p>
            <a:pPr marL="0" lvl="0" indent="0">
              <a:buNone/>
            </a:pPr>
            <a:r>
              <a:t>BIGQUERY ML: You can train and deploy ML models directly using SQL in BigQuery. For data analysts who know SQL but not Python, this removes barriers to using ML. You can build predictive models on your data warehouse data without moving it or learning new tools.</a:t>
            </a:r>
          </a:p>
          <a:p>
            <a:pPr marL="0" lvl="0" indent="0">
              <a:buNone/>
            </a:pPr>
            <a:endParaRPr/>
          </a:p>
          <a:p>
            <a:pPr marL="0" lvl="0" indent="0">
              <a:buNone/>
            </a:pPr>
            <a:r>
              <a:t>STRENGTHS OF GOOGLE CLOUD AI: - Deepest ML expertise and research capability - Best infrastructure for training custom models (TPUs) - Excellent for data scientists and ML engineers - Strong integration with data analytics (BigQuery ML) - Open-source leadership (TensorFlow, JAX, Kubernetes) - Pre-built APIs powered by Google’s consumer services</a:t>
            </a:r>
          </a:p>
          <a:p>
            <a:pPr marL="0" lvl="0" indent="0">
              <a:buNone/>
            </a:pPr>
            <a:endParaRPr/>
          </a:p>
          <a:p>
            <a:pPr marL="0" lvl="0" indent="0">
              <a:buNone/>
            </a:pPr>
            <a:r>
              <a:t>WEAKNESSES: - Gemini adoption lags behind GPT-4 - Smaller enterprise footprint limits network effects - Less third-party integration and tooling - Enterprise customers nervous about Google’s consumer-first reputation</a:t>
            </a:r>
          </a:p>
          <a:p>
            <a:pPr marL="0" lvl="0" indent="0">
              <a:buNone/>
            </a:pPr>
            <a:endParaRPr/>
          </a:p>
          <a:p>
            <a:pPr marL="0" lvl="0" indent="0">
              <a:buNone/>
            </a:pPr>
            <a:r>
              <a:t>REAL-WORLD USAGE:</a:t>
            </a:r>
          </a:p>
          <a:p>
            <a:pPr marL="0" lvl="0" indent="0">
              <a:buNone/>
            </a:pPr>
            <a:endParaRPr/>
          </a:p>
          <a:p>
            <a:pPr marL="0" lvl="0" indent="0">
              <a:buNone/>
            </a:pPr>
            <a:r>
              <a:t>GCP excels for ML-intensive workloads and data science teams. A biotech company using ML for drug discovery might choose GCP for TPU access and sophisticated ML tooling. A media company doing large-scale image and video processing would benefit from Vision AI and the data analytics integration.</a:t>
            </a:r>
          </a:p>
          <a:p>
            <a:pPr marL="0" lvl="0" indent="0">
              <a:buNone/>
            </a:pPr>
            <a:endParaRPr/>
          </a:p>
          <a:p>
            <a:pPr marL="0" lvl="0" indent="0">
              <a:buNone/>
            </a:pPr>
            <a:r>
              <a:t>However, a traditional enterprise wanting to add chatbot capabilities would probably choose Azure OpenAI (for GPT-4 with enterprise features) over GCP’s Gemini, even if Gemini might be technically comparable.</a:t>
            </a:r>
          </a:p>
          <a:p>
            <a:pPr marL="0" lvl="0" indent="0">
              <a:buNone/>
            </a:pPr>
            <a:endParaRPr/>
          </a:p>
          <a:p>
            <a:pPr marL="0" lvl="0" indent="0">
              <a:buNone/>
            </a:pPr>
            <a:r>
              <a:t>The pattern: GCP wins on technical merits and ML infrastructure, but loses on enterprise relationships and market momentum.</a:t>
            </a:r>
          </a:p>
          <a:p>
            <a:pPr marL="0" lvl="0" indent="0">
              <a:buNone/>
            </a:pPr>
            <a:endParaRPr/>
          </a:p>
          <a:p>
            <a:pPr marL="0" lvl="0" indent="0">
              <a:buNone/>
            </a:pPr>
            <a:r>
              <a:t>COMPARISON SUMMARY: - AWS: Platform for hosting others’ AI, broad but not cutting-edge - Azure: Exclusive GPT-4 access, strong enterprise play, dependent on OpenAI - GCP: Deepest ML expertise and infrastructure, struggle with market adoption</a:t>
            </a:r>
          </a:p>
          <a:p>
            <a:pPr marL="0" lvl="0" indent="0">
              <a:buNone/>
            </a:pPr>
            <a:endParaRPr/>
          </a:p>
          <a:p>
            <a:pPr marL="0" lvl="0" indent="0">
              <a:buNone/>
            </a:pPr>
            <a:r>
              <a:t>Choose AWS if you need a broad platform and are already on AWS. Choose Azure if you need GPT-4 with enterprise features. Choose GCP if you’re doing serious ML engineering and want the best infrastructure.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While AWS, Azure, and GCP dominate the market, other cloud providers serve important niches. Understanding these alternatives helps you make informed decisions for specific use cases.</a:t>
            </a:r>
          </a:p>
          <a:p>
            <a:pPr marL="0" lvl="0" indent="0">
              <a:buNone/>
            </a:pPr>
            <a:endParaRPr/>
          </a:p>
          <a:p>
            <a:pPr marL="0" lvl="0" indent="0">
              <a:buNone/>
            </a:pPr>
            <a:r>
              <a:t>ORACLE CLOUD INFRASTRUCTURE (OCI):</a:t>
            </a:r>
          </a:p>
          <a:p>
            <a:pPr marL="0" lvl="0" indent="0">
              <a:buNone/>
            </a:pPr>
            <a:endParaRPr/>
          </a:p>
          <a:p>
            <a:pPr marL="0" lvl="0" indent="0">
              <a:buNone/>
            </a:pPr>
            <a:r>
              <a:t>Oracle entered cloud late but brings unique strengths around database workloads. If you’re running Oracle databases, OCI offers the best performance and pricing because Oracle can optimize their cloud for their own database. They’ve also been aggressively undercutting AWS/Azure pricing to gain market share.</a:t>
            </a:r>
          </a:p>
          <a:p>
            <a:pPr marL="0" lvl="0" indent="0">
              <a:buNone/>
            </a:pPr>
            <a:endParaRPr/>
          </a:p>
          <a:p>
            <a:pPr marL="0" lvl="0" indent="0">
              <a:buNone/>
            </a:pPr>
            <a:r>
              <a:t>OCI provides excellent bare metal servers—physical servers you rent without virtualization overhead. This matters for high-performance computing, databases, and workloads that need maximum I/O performance.</a:t>
            </a:r>
          </a:p>
          <a:p>
            <a:pPr marL="0" lvl="0" indent="0">
              <a:buNone/>
            </a:pPr>
            <a:endParaRPr/>
          </a:p>
          <a:p>
            <a:pPr marL="0" lvl="0" indent="0">
              <a:buNone/>
            </a:pPr>
            <a:r>
              <a:t>Oracle wins customers primarily in two scenarios: First, existing Oracle database customers who want to migrate to cloud while maintaining Oracle support. Second, companies looking for alternatives to AWS/Azure willing to take a chance on a smaller provider for cost savings.</a:t>
            </a:r>
          </a:p>
          <a:p>
            <a:pPr marL="0" lvl="0" indent="0">
              <a:buNone/>
            </a:pPr>
            <a:endParaRPr/>
          </a:p>
          <a:p>
            <a:pPr marL="0" lvl="0" indent="0">
              <a:buNone/>
            </a:pPr>
            <a:r>
              <a:t>The weakness is ecosystem. Far fewer third-party tools, less community knowledge, and smaller talent pool familiar with OCI. You’re taking a risk betting on Oracle’s cloud commitment given their history of strategic pivots.</a:t>
            </a:r>
          </a:p>
          <a:p>
            <a:pPr marL="0" lvl="0" indent="0">
              <a:buNone/>
            </a:pPr>
            <a:endParaRPr/>
          </a:p>
          <a:p>
            <a:pPr marL="0" lvl="0" indent="0">
              <a:buNone/>
            </a:pPr>
            <a:r>
              <a:t>IBM CLOUD:</a:t>
            </a:r>
          </a:p>
          <a:p>
            <a:pPr marL="0" lvl="0" indent="0">
              <a:buNone/>
            </a:pPr>
            <a:endParaRPr/>
          </a:p>
          <a:p>
            <a:pPr marL="0" lvl="0" indent="0">
              <a:buNone/>
            </a:pPr>
            <a:r>
              <a:t>IBM acquired Red Hat for $34 billion and built their cloud strategy around hybrid cloud and OpenShift (enterprise Kubernetes). Their pitch: enterprises have complex legacy systems that can’t easily move to public cloud, so IBM provides tools to manage hybrid environments consistently.</a:t>
            </a:r>
          </a:p>
          <a:p>
            <a:pPr marL="0" lvl="0" indent="0">
              <a:buNone/>
            </a:pPr>
            <a:endParaRPr/>
          </a:p>
          <a:p>
            <a:pPr marL="0" lvl="0" indent="0">
              <a:buNone/>
            </a:pPr>
            <a:r>
              <a:t>Watson AI services offer pre-built AI capabilities, though they haven’t kept pace with the AI boom and feel dated compared to modern alternatives.</a:t>
            </a:r>
          </a:p>
          <a:p>
            <a:pPr marL="0" lvl="0" indent="0">
              <a:buNone/>
            </a:pPr>
            <a:endParaRPr/>
          </a:p>
          <a:p>
            <a:pPr marL="0" lvl="0" indent="0">
              <a:buNone/>
            </a:pPr>
            <a:r>
              <a:t>IBM Cloud appeals to large enterprises with existing IBM relationships, particularly in highly regulated industries like banking and insurance. These companies value IBM’s long history, enterprise support, and integration with IBM’s other products.</a:t>
            </a:r>
          </a:p>
          <a:p>
            <a:pPr marL="0" lvl="0" indent="0">
              <a:buNone/>
            </a:pPr>
            <a:endParaRPr/>
          </a:p>
          <a:p>
            <a:pPr marL="0" lvl="0" indent="0">
              <a:buNone/>
            </a:pPr>
            <a:r>
              <a:t>However, IBM Cloud is declining in market share. Most new workloads go to AWS/Azure/GCP, and IBM is primarily maintaining existing customer relationships rather than winning new ones.</a:t>
            </a:r>
          </a:p>
          <a:p>
            <a:pPr marL="0" lvl="0" indent="0">
              <a:buNone/>
            </a:pPr>
            <a:endParaRPr/>
          </a:p>
          <a:p>
            <a:pPr marL="0" lvl="0" indent="0">
              <a:buNone/>
            </a:pPr>
            <a:r>
              <a:t>ALIBABA CLOUD:</a:t>
            </a:r>
          </a:p>
          <a:p>
            <a:pPr marL="0" lvl="0" indent="0">
              <a:buNone/>
            </a:pPr>
            <a:endParaRPr/>
          </a:p>
          <a:p>
            <a:pPr marL="0" lvl="0" indent="0">
              <a:buNone/>
            </a:pPr>
            <a:r>
              <a:t>Alibaba Cloud dominates cloud computing in China with about 40% market share in the Chinese market. If you want to operate services in China, you almost certainly need Alibaba Cloud due to regulatory requirements around data sovereignty and the “Great Firewall.”</a:t>
            </a:r>
          </a:p>
          <a:p>
            <a:pPr marL="0" lvl="0" indent="0">
              <a:buNone/>
            </a:pPr>
            <a:endParaRPr/>
          </a:p>
          <a:p>
            <a:pPr marL="0" lvl="0" indent="0">
              <a:buNone/>
            </a:pPr>
            <a:r>
              <a:t>Alibaba Cloud has been expanding internationally, particularly in Asia-Pacific. Their services are comparable to AWS in breadth, and pricing is competitive. However, geopolitical concerns and U.S.-China tensions make some Western companies hesitant to use Chinese cloud providers.</a:t>
            </a:r>
          </a:p>
          <a:p>
            <a:pPr marL="0" lvl="0" indent="0">
              <a:buNone/>
            </a:pPr>
            <a:endParaRPr/>
          </a:p>
          <a:p>
            <a:pPr marL="0" lvl="0" indent="0">
              <a:buNone/>
            </a:pPr>
            <a:r>
              <a:t>SPECIALIZED PROVIDERS:</a:t>
            </a:r>
          </a:p>
          <a:p>
            <a:pPr marL="0" lvl="0" indent="0">
              <a:buNone/>
            </a:pPr>
            <a:endParaRPr/>
          </a:p>
          <a:p>
            <a:pPr marL="0" lvl="0" indent="0">
              <a:buNone/>
            </a:pPr>
            <a:r>
              <a:t>DIGITALOCEAN AND LINODE: These providers target developers and small businesses with simpler interfaces and more straightforward pricing than AWS/Azure/GCP. They’re not trying to compete on breadth of services—they’re competing on simplicity and developer experience.</a:t>
            </a:r>
          </a:p>
          <a:p>
            <a:pPr marL="0" lvl="0" indent="0">
              <a:buNone/>
            </a:pPr>
            <a:endParaRPr/>
          </a:p>
          <a:p>
            <a:pPr marL="0" lvl="0" indent="0">
              <a:buNone/>
            </a:pPr>
            <a:r>
              <a:t>DigitalOcean’s “droplets” (VMs) are dead simple to spin up. Pricing is predictable and transparent. Documentation is beginner-friendly. For a small startup or individual developer, DigitalOcean offers 90% of what AWS provides with 10% of the complexity.</a:t>
            </a:r>
          </a:p>
          <a:p>
            <a:pPr marL="0" lvl="0" indent="0">
              <a:buNone/>
            </a:pPr>
            <a:endParaRPr/>
          </a:p>
          <a:p>
            <a:pPr marL="0" lvl="0" indent="0">
              <a:buNone/>
            </a:pPr>
            <a:r>
              <a:t>These providers work well for small to medium workloads but lack the advanced services needed for large-scale enterprise applications. You get compute, storage, databases, and networking. You don’t get sophisticated services like ML platforms, analytics engines, or IoT platforms.</a:t>
            </a:r>
          </a:p>
          <a:p>
            <a:pPr marL="0" lvl="0" indent="0">
              <a:buNone/>
            </a:pPr>
            <a:endParaRPr/>
          </a:p>
          <a:p>
            <a:pPr marL="0" lvl="0" indent="0">
              <a:buNone/>
            </a:pPr>
            <a:r>
              <a:t>CLOUDFLARE WORKERS: Cloudflare is known for CDN and DDoS protection, but Workers provides edge computing. Your code runs in Cloudflare’s data centers worldwide, as close to users as possible. This gives exceptional performance for certain use cases like dynamic content generation and API gateways.</a:t>
            </a:r>
          </a:p>
          <a:p>
            <a:pPr marL="0" lvl="0" indent="0">
              <a:buNone/>
            </a:pPr>
            <a:endParaRPr/>
          </a:p>
          <a:p>
            <a:pPr marL="0" lvl="0" indent="0">
              <a:buNone/>
            </a:pPr>
            <a:r>
              <a:t>Workers use V8 isolates rather than containers, enabling extremely fast cold starts. Pricing is generous with 100,000 requests per day free. For globally distributed, latency-sensitive workloads, Workers offers unique advantages.</a:t>
            </a:r>
          </a:p>
          <a:p>
            <a:pPr marL="0" lvl="0" indent="0">
              <a:buNone/>
            </a:pPr>
            <a:endParaRPr/>
          </a:p>
          <a:p>
            <a:pPr marL="0" lvl="0" indent="0">
              <a:buNone/>
            </a:pPr>
            <a:r>
              <a:t>However, Workers has constraints. Limited execution time, limited available APIs, and you’re locked into Cloudflare’s platform. It’s not a general-purpose compute platform—it’s optimized for specific edge computing use cases.</a:t>
            </a:r>
          </a:p>
          <a:p>
            <a:pPr marL="0" lvl="0" indent="0">
              <a:buNone/>
            </a:pPr>
            <a:endParaRPr/>
          </a:p>
          <a:p>
            <a:pPr marL="0" lvl="0" indent="0">
              <a:buNone/>
            </a:pPr>
            <a:r>
              <a:t>VERCEL AND NETLIFY: These specialize in hosting frontend applications and Jamstack sites. They offer seamless Git integration, automatic builds, CDN delivery, and edge functions. They’re extremely popular for Next.js applications (Vercel created Next.js) and static sites.</a:t>
            </a:r>
          </a:p>
          <a:p>
            <a:pPr marL="0" lvl="0" indent="0">
              <a:buNone/>
            </a:pPr>
            <a:endParaRPr/>
          </a:p>
          <a:p>
            <a:pPr marL="0" lvl="0" indent="0">
              <a:buNone/>
            </a:pPr>
            <a:r>
              <a:t>For frontend teams building modern web applications, these platforms provide better developer experience than configuring S3, CloudFront, and build pipelines manually on AWS. They abstract complexity and let developers focus on building features.</a:t>
            </a:r>
          </a:p>
          <a:p>
            <a:pPr marL="0" lvl="0" indent="0">
              <a:buNone/>
            </a:pPr>
            <a:endParaRPr/>
          </a:p>
          <a:p>
            <a:pPr marL="0" lvl="0" indent="0">
              <a:buNone/>
            </a:pPr>
            <a:r>
              <a:t>However, they’re limited to frontend and edge computing. You still need a backend, and that typically lives on AWS/Azure/GCP.</a:t>
            </a:r>
          </a:p>
          <a:p>
            <a:pPr marL="0" lvl="0" indent="0">
              <a:buNone/>
            </a:pPr>
            <a:endParaRPr/>
          </a:p>
          <a:p>
            <a:pPr marL="0" lvl="0" indent="0">
              <a:buNone/>
            </a:pPr>
            <a:r>
              <a:t>WHEN TO CONSIDER ALTERNATIVES:</a:t>
            </a:r>
          </a:p>
          <a:p>
            <a:pPr marL="0" lvl="0" indent="0">
              <a:buNone/>
            </a:pPr>
            <a:endParaRPr/>
          </a:p>
          <a:p>
            <a:pPr marL="0" lvl="0" indent="0">
              <a:buNone/>
            </a:pPr>
            <a:r>
              <a:t>COST OPTIMIZATION: DigitalOcean might be 30-50% cheaper for simple workloads. If you’re a startup watching every dollar, this matters.</a:t>
            </a:r>
          </a:p>
          <a:p>
            <a:pPr marL="0" lvl="0" indent="0">
              <a:buNone/>
            </a:pPr>
            <a:endParaRPr/>
          </a:p>
          <a:p>
            <a:pPr marL="0" lvl="0" indent="0">
              <a:buNone/>
            </a:pPr>
            <a:r>
              <a:t>SIMPLICITY: If your team struggles with AWS complexity, a simpler provider might be more productive even if less powerful.</a:t>
            </a:r>
          </a:p>
          <a:p>
            <a:pPr marL="0" lvl="0" indent="0">
              <a:buNone/>
            </a:pPr>
            <a:endParaRPr/>
          </a:p>
          <a:p>
            <a:pPr marL="0" lvl="0" indent="0">
              <a:buNone/>
            </a:pPr>
            <a:r>
              <a:t>SPECIFIC TECHNICAL NEEDS: Oracle databases run best on OCI. Edge computing for global performance needs Cloudflare. Frontend deployment is easier on Vercel.</a:t>
            </a:r>
          </a:p>
          <a:p>
            <a:pPr marL="0" lvl="0" indent="0">
              <a:buNone/>
            </a:pPr>
            <a:endParaRPr/>
          </a:p>
          <a:p>
            <a:pPr marL="0" lvl="0" indent="0">
              <a:buNone/>
            </a:pPr>
            <a:r>
              <a:t>GEOGRAPHIC REQUIREMENTS: Operating in China requires Alibaba Cloud. Some countries have data residency laws that require local providers.</a:t>
            </a:r>
          </a:p>
          <a:p>
            <a:pPr marL="0" lvl="0" indent="0">
              <a:buNone/>
            </a:pPr>
            <a:endParaRPr/>
          </a:p>
          <a:p>
            <a:pPr marL="0" lvl="0" indent="0">
              <a:buNone/>
            </a:pPr>
            <a:r>
              <a:t>However, most companies default to AWS/Azure/GCP because: - Breadth of services for future needs - Talent availability - Third-party tool support - Enterprise support and SLAs - Lower risk of provider discontinuity</a:t>
            </a:r>
          </a:p>
          <a:p>
            <a:pPr marL="0" lvl="0" indent="0">
              <a:buNone/>
            </a:pPr>
            <a:endParaRPr/>
          </a:p>
          <a:p>
            <a:pPr marL="0" lvl="0" indent="0">
              <a:buNone/>
            </a:pPr>
            <a:r>
              <a:t>The specialized providers work great until you need something they don’t offer, then you’re either stuck or you’re managing multiple cloud providers, which adds operational complexity.</a:t>
            </a:r>
          </a:p>
          <a:p>
            <a:pPr marL="0" lvl="0" indent="0">
              <a:buNone/>
            </a:pPr>
            <a:endParaRPr/>
          </a:p>
          <a:p>
            <a:pPr marL="0" lvl="0" indent="0">
              <a:buNone/>
            </a:pPr>
            <a:r>
              <a:t>For this course, understanding AWS deeply is most valuable because AWS defines the cloud computing paradigm. If you understand AWS, you can learn any other cloud provider quickly because they largely follow AWS’s model with different names and interfaces.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How do you actually choose between these platforms? There’s no single right answer, but there are frameworks for making informed decisions.</a:t>
            </a:r>
          </a:p>
          <a:p>
            <a:pPr marL="0" lvl="0" indent="0">
              <a:buNone/>
            </a:pPr>
            <a:endParaRPr/>
          </a:p>
          <a:p>
            <a:pPr marL="0" lvl="0" indent="0">
              <a:buNone/>
            </a:pPr>
            <a:r>
              <a:t>START WITH YOUR EXISTING TECHNOLOGY:</a:t>
            </a:r>
          </a:p>
          <a:p>
            <a:pPr marL="0" lvl="0" indent="0">
              <a:buNone/>
            </a:pPr>
            <a:endParaRPr/>
          </a:p>
          <a:p>
            <a:pPr marL="0" lvl="0" indent="0">
              <a:buNone/>
            </a:pPr>
            <a:r>
              <a:t>If you’re already on Microsoft infrastructure with Active Directory, Windows Server, SQL Server, and Office 365, Azure is the natural choice. The integration is seamless, the licensing makes it cost-effective, and your team already knows Microsoft tools.</a:t>
            </a:r>
          </a:p>
          <a:p>
            <a:pPr marL="0" lvl="0" indent="0">
              <a:buNone/>
            </a:pPr>
            <a:endParaRPr/>
          </a:p>
          <a:p>
            <a:pPr marL="0" lvl="0" indent="0">
              <a:buNone/>
            </a:pPr>
            <a:r>
              <a:t>If you’re building greenfield with no legacy constraints, AWS is often the default because it has the most comprehensive platform and largest ecosystem. You’re unlikely to hit limitations.</a:t>
            </a:r>
          </a:p>
          <a:p>
            <a:pPr marL="0" lvl="0" indent="0">
              <a:buNone/>
            </a:pPr>
            <a:endParaRPr/>
          </a:p>
          <a:p>
            <a:pPr marL="0" lvl="0" indent="0">
              <a:buNone/>
            </a:pPr>
            <a:r>
              <a:t>If your core business advantage comes from data analytics or machine learning, seriously evaluate GCP. The analytics stack is significantly better than AWS or Azure for certain workloads.</a:t>
            </a:r>
          </a:p>
          <a:p>
            <a:pPr marL="0" lvl="0" indent="0">
              <a:buNone/>
            </a:pPr>
            <a:endParaRPr/>
          </a:p>
          <a:p>
            <a:pPr marL="0" lvl="0" indent="0">
              <a:buNone/>
            </a:pPr>
            <a:r>
              <a:t>CONSIDER YOUR TEAM:</a:t>
            </a:r>
          </a:p>
          <a:p>
            <a:pPr marL="0" lvl="0" indent="0">
              <a:buNone/>
            </a:pPr>
            <a:endParaRPr/>
          </a:p>
          <a:p>
            <a:pPr marL="0" lvl="0" indent="0">
              <a:buNone/>
            </a:pPr>
            <a:r>
              <a:t>What expertise does your team have? If they know AWS, stick with AWS unless there’s a compelling reason to switch. The learning curve for a new platform is substantial, and your team will be less productive during the transition.</a:t>
            </a:r>
          </a:p>
          <a:p>
            <a:pPr marL="0" lvl="0" indent="0">
              <a:buNone/>
            </a:pPr>
            <a:endParaRPr/>
          </a:p>
          <a:p>
            <a:pPr marL="0" lvl="0" indent="0">
              <a:buNone/>
            </a:pPr>
            <a:r>
              <a:t>Can you attract talent in your area? AWS skills are most common, Azure second, GCP third. Hiring for GCP expertise in a small city might be difficult.</a:t>
            </a:r>
          </a:p>
          <a:p>
            <a:pPr marL="0" lvl="0" indent="0">
              <a:buNone/>
            </a:pPr>
            <a:endParaRPr/>
          </a:p>
          <a:p>
            <a:pPr marL="0" lvl="0" indent="0">
              <a:buNone/>
            </a:pPr>
            <a:r>
              <a:t>How sophisticated is your team? AWS’s complexity requires skilled engineers to manage effectively. Azure might be more approachable for teams with traditional IT backgrounds. GCP appeals to engineering-heavy, developer-focused teams.</a:t>
            </a:r>
          </a:p>
          <a:p>
            <a:pPr marL="0" lvl="0" indent="0">
              <a:buNone/>
            </a:pPr>
            <a:endParaRPr/>
          </a:p>
          <a:p>
            <a:pPr marL="0" lvl="0" indent="0">
              <a:buNone/>
            </a:pPr>
            <a:r>
              <a:t>EVALUATE YOUR REQUIREMENTS:</a:t>
            </a:r>
          </a:p>
          <a:p>
            <a:pPr marL="0" lvl="0" indent="0">
              <a:buNone/>
            </a:pPr>
            <a:endParaRPr/>
          </a:p>
          <a:p>
            <a:pPr marL="0" lvl="0" indent="0">
              <a:buNone/>
            </a:pPr>
            <a:r>
              <a:t>COMPLIANCE AND REGULATION: If you’re in healthcare, finance, or government, compliance certifications matter enormously. Check which platforms have the certifications you need in the regions you operate.</a:t>
            </a:r>
          </a:p>
          <a:p>
            <a:pPr marL="0" lvl="0" indent="0">
              <a:buNone/>
            </a:pPr>
            <a:endParaRPr/>
          </a:p>
          <a:p>
            <a:pPr marL="0" lvl="0" indent="0">
              <a:buNone/>
            </a:pPr>
            <a:r>
              <a:t>GEOGRAPHIC COVERAGE: Need to serve users in Southeast Asia with low latency? Check which provider has data centers there.</a:t>
            </a:r>
          </a:p>
          <a:p>
            <a:pPr marL="0" lvl="0" indent="0">
              <a:buNone/>
            </a:pPr>
            <a:endParaRPr/>
          </a:p>
          <a:p>
            <a:pPr marL="0" lvl="0" indent="0">
              <a:buNone/>
            </a:pPr>
            <a:r>
              <a:t>SPECIFIC SERVICES: Need a particular specialized service? Verify it exists on your chosen platform.</a:t>
            </a:r>
          </a:p>
          <a:p>
            <a:pPr marL="0" lvl="0" indent="0">
              <a:buNone/>
            </a:pPr>
            <a:endParaRPr/>
          </a:p>
          <a:p>
            <a:pPr marL="0" lvl="0" indent="0">
              <a:buNone/>
            </a:pPr>
            <a:r>
              <a:t>COST: All three platforms are expensive at scale, but cost structure differs. Model your workload and compare. Include the cost of expertise—AWS might be cheaper on paper but more expensive after accounting for the skilled engineers you need to optimize it.</a:t>
            </a:r>
          </a:p>
          <a:p>
            <a:pPr marL="0" lvl="0" indent="0">
              <a:buNone/>
            </a:pPr>
            <a:endParaRPr/>
          </a:p>
          <a:p>
            <a:pPr marL="0" lvl="0" indent="0">
              <a:buNone/>
            </a:pPr>
            <a:r>
              <a:t>MULTI-CLOUD REALITY:</a:t>
            </a:r>
          </a:p>
          <a:p>
            <a:pPr marL="0" lvl="0" indent="0">
              <a:buNone/>
            </a:pPr>
            <a:endParaRPr/>
          </a:p>
          <a:p>
            <a:pPr marL="0" lvl="0" indent="0">
              <a:buNone/>
            </a:pPr>
            <a:r>
              <a:t>Many large organizations end up using multiple clouds. They might run general workloads on AWS, use Azure for Microsoft integration, and use GCP for analytics. This multi-cloud strategy has advantages:</a:t>
            </a:r>
          </a:p>
          <a:p>
            <a:pPr marL="0" lvl="0" indent="0">
              <a:buNone/>
            </a:pPr>
            <a:endParaRPr/>
          </a:p>
          <a:p>
            <a:pPr marL="0" lvl="0" indent="0">
              <a:buNone/>
            </a:pPr>
            <a:r>
              <a:t>AVOID VENDOR LOCK-IN: You’re not dependent on any single provider’s strategic decisions or pricing changes.</a:t>
            </a:r>
          </a:p>
          <a:p>
            <a:pPr marL="0" lvl="0" indent="0">
              <a:buNone/>
            </a:pPr>
            <a:endParaRPr/>
          </a:p>
          <a:p>
            <a:pPr marL="0" lvl="0" indent="0">
              <a:buNone/>
            </a:pPr>
            <a:r>
              <a:t>BEST-OF-BREED: Use each platform’s strengths for appropriate workloads.</a:t>
            </a:r>
          </a:p>
          <a:p>
            <a:pPr marL="0" lvl="0" indent="0">
              <a:buNone/>
            </a:pPr>
            <a:endParaRPr/>
          </a:p>
          <a:p>
            <a:pPr marL="0" lvl="0" indent="0">
              <a:buNone/>
            </a:pPr>
            <a:r>
              <a:t>NEGOTIATING LEVERAGE: Cloud providers offer better pricing to customers who can credibly threaten to move workloads elsewhere.</a:t>
            </a:r>
          </a:p>
          <a:p>
            <a:pPr marL="0" lvl="0" indent="0">
              <a:buNone/>
            </a:pPr>
            <a:endParaRPr/>
          </a:p>
          <a:p>
            <a:pPr marL="0" lvl="0" indent="0">
              <a:buNone/>
            </a:pPr>
            <a:r>
              <a:t>However, multi-cloud introduces significant operational complexity. You need expertise in multiple platforms, integrate multiple billing systems, and coordinate security and compliance across providers. For most companies, especially smaller ones, this complexity outweighs the benefits.</a:t>
            </a:r>
          </a:p>
          <a:p>
            <a:pPr marL="0" lvl="0" indent="0">
              <a:buNone/>
            </a:pPr>
            <a:endParaRPr/>
          </a:p>
          <a:p>
            <a:pPr marL="0" lvl="0" indent="0">
              <a:buNone/>
            </a:pPr>
            <a:r>
              <a:t>THE PRAGMATIC APPROACH:</a:t>
            </a:r>
          </a:p>
          <a:p>
            <a:pPr marL="0" lvl="0" indent="0">
              <a:buNone/>
            </a:pPr>
            <a:endParaRPr/>
          </a:p>
          <a:p>
            <a:pPr marL="0" lvl="0" indent="0">
              <a:buNone/>
            </a:pPr>
            <a:r>
              <a:t>For most companies, the decision process looks like this:</a:t>
            </a:r>
          </a:p>
          <a:p>
            <a:pPr marL="0" lvl="0" indent="0">
              <a:buNone/>
            </a:pPr>
            <a:endParaRPr/>
          </a:p>
          <a:p>
            <a:pPr marL="336213" lvl="0" indent="-336213">
              <a:buAutoNum type="arabicPeriod"/>
            </a:pPr>
            <a:r>
              <a:t>If you have existing Microsoft infrastructure, evaluate Azure first</a:t>
            </a:r>
          </a:p>
          <a:p>
            <a:pPr marL="0" lvl="0" indent="0">
              <a:buNone/>
            </a:pPr>
            <a:endParaRPr/>
          </a:p>
          <a:p>
            <a:pPr marL="336213" lvl="0" indent="-336213">
              <a:buAutoNum type="arabicPeriod"/>
            </a:pPr>
            <a:r>
              <a:t>If you have unique data analytics or ML needs, evaluate GCP</a:t>
            </a:r>
          </a:p>
          <a:p>
            <a:pPr marL="0" lvl="0" indent="0">
              <a:buNone/>
            </a:pPr>
            <a:endParaRPr/>
          </a:p>
          <a:p>
            <a:pPr marL="336213" lvl="0" indent="-336213">
              <a:buAutoNum type="arabicPeriod"/>
            </a:pPr>
            <a:r>
              <a:t>Otherwise, default to AWS unless there’s a specific reason not to</a:t>
            </a:r>
          </a:p>
          <a:p>
            <a:pPr marL="0" lvl="0" indent="0">
              <a:buNone/>
            </a:pPr>
            <a:endParaRPr/>
          </a:p>
          <a:p>
            <a:pPr marL="336213" lvl="0" indent="-336213">
              <a:buAutoNum type="arabicPeriod"/>
            </a:pPr>
            <a:r>
              <a:t>Whatever you choose, commit to it and build expertise rather than constantly second-guessing</a:t>
            </a:r>
          </a:p>
          <a:p>
            <a:pPr marL="0" lvl="0" indent="0">
              <a:buNone/>
            </a:pPr>
            <a:endParaRPr/>
          </a:p>
          <a:p>
            <a:pPr marL="0" lvl="0" indent="0">
              <a:buNone/>
            </a:pPr>
            <a:r>
              <a:t>The platforms are more similar than different. Success depends more on using your chosen platform well than choosing the theoretically optimal one.</a:t>
            </a:r>
          </a:p>
          <a:p>
            <a:pPr marL="0" lvl="0" indent="0">
              <a:buNone/>
            </a:pPr>
            <a:endParaRPr/>
          </a:p>
          <a:p>
            <a:pPr marL="0" lvl="0" indent="0">
              <a:buNone/>
            </a:pPr>
            <a:r>
              <a:t>FOR YOUR CAREERS:</a:t>
            </a:r>
          </a:p>
          <a:p>
            <a:pPr marL="0" lvl="0" indent="0">
              <a:buNone/>
            </a:pPr>
            <a:endParaRPr/>
          </a:p>
          <a:p>
            <a:pPr marL="0" lvl="0" indent="0">
              <a:buNone/>
            </a:pPr>
            <a:r>
              <a:t>Learning AWS thoroughly (which you’ve done this semester) gives you marketable skills. AWS expertise transfers reasonably well to Azure or GCP because the concepts are similar—compute, storage, networking, databases exist everywhere, just with different names.</a:t>
            </a:r>
          </a:p>
          <a:p>
            <a:pPr marL="0" lvl="0" indent="0">
              <a:buNone/>
            </a:pPr>
            <a:endParaRPr/>
          </a:p>
          <a:p>
            <a:pPr marL="0" lvl="0" indent="0">
              <a:buNone/>
            </a:pPr>
            <a:r>
              <a:t>If you’re job hunting, AWS skills are most in-demand. Azure is growing fastest. GCP is valued in data-heavy companies. Having any cloud platform experience is valuable; having AWS is most valuable; having experience across multiple platforms is ideal but rare.</a:t>
            </a:r>
          </a:p>
          <a:p>
            <a:pPr marL="0" lvl="0" indent="0">
              <a:buNone/>
            </a:pPr>
            <a:endParaRPr/>
          </a:p>
          <a:p>
            <a:pPr marL="0" lvl="0" indent="0">
              <a:buNone/>
            </a:pPr>
            <a:r>
              <a:t>Certifications can help early career. An AWS Solutions Architect certification demonstrates knowledge and initiative. But real project experience (like what you’re building this semester) is more impressive than certifications alone.</a:t>
            </a:r>
          </a:p>
          <a:p>
            <a:pPr marL="0" lvl="0" indent="0">
              <a:buNone/>
            </a:pPr>
            <a:endParaRPr/>
          </a:p>
          <a:p>
            <a:pPr marL="0" lvl="0" indent="0">
              <a:buNone/>
            </a:pPr>
            <a:r>
              <a:t>FINAL PERSPECTIVE:</a:t>
            </a:r>
          </a:p>
          <a:p>
            <a:pPr marL="0" lvl="0" indent="0">
              <a:buNone/>
            </a:pPr>
            <a:endParaRPr/>
          </a:p>
          <a:p>
            <a:pPr marL="0" lvl="0" indent="0">
              <a:buNone/>
            </a:pPr>
            <a:r>
              <a:t>In five years, the landscape will look different. New players will emerge. Existing players will change strategies. AWS might not always dominate. But the fundamental concepts—elasticity, pay-as-you-go, managed services, serverless computing—will persist because they solve real problems.</a:t>
            </a:r>
          </a:p>
          <a:p>
            <a:pPr marL="0" lvl="0" indent="0">
              <a:buNone/>
            </a:pPr>
            <a:endParaRPr/>
          </a:p>
          <a:p>
            <a:pPr marL="0" lvl="0" indent="0">
              <a:buNone/>
            </a:pPr>
            <a:r>
              <a:t>Your ability to learn new platforms matters more than deep expertise in today’s specific tools. The mental models you’ve built this semester—how to think about distributed systems, how to design for scalability, how to balance cost and performance—apply regardless of which cloud provider you’re using.</a:t>
            </a:r>
          </a:p>
          <a:p>
            <a:pPr marL="0" lvl="0" indent="0">
              <a:buNone/>
            </a:pPr>
            <a:endParaRPr/>
          </a:p>
          <a:p>
            <a:pPr marL="0" lvl="0" indent="0">
              <a:buNone/>
            </a:pPr>
            <a:r>
              <a:t>The cloud platform choice matters less than most people think. What matters more: understanding distributed systems principles, building maintainable code, implementing good security practices, and continuously learning as technology evolves.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 we wrap up both this lecture and the semester, let’s consolidate the key insights.</a:t>
            </a:r>
          </a:p>
          <a:p>
            <a:pPr marL="0" lvl="0" indent="0">
              <a:buNone/>
            </a:pPr>
            <a:endParaRPr/>
          </a:p>
          <a:p>
            <a:pPr marL="0" lvl="0" indent="0">
              <a:buNone/>
            </a:pPr>
            <a:r>
              <a:t>CORE INSIGHT: The platforms are more alike than different. All three offer compute, storage, databases, networking, security, and AI/ML services. They solve the same fundamental problems. The interesting differences lie in: - Maturity and breadth of services - Business model and pricing - Ecosystem and integrations - Strategic positioning around emerging technologies like AI</a:t>
            </a:r>
          </a:p>
          <a:p>
            <a:pPr marL="0" lvl="0" indent="0">
              <a:buNone/>
            </a:pPr>
            <a:endParaRPr/>
          </a:p>
          <a:p>
            <a:pPr marL="0" lvl="0" indent="0">
              <a:buNone/>
            </a:pPr>
            <a:r>
              <a:t>PLATFORM PERSONALITIES:</a:t>
            </a:r>
          </a:p>
          <a:p>
            <a:pPr marL="0" lvl="0" indent="0">
              <a:buNone/>
            </a:pPr>
            <a:endParaRPr/>
          </a:p>
          <a:p>
            <a:pPr marL="0" lvl="0" indent="0">
              <a:buNone/>
            </a:pPr>
            <a:r>
              <a:t>AWS reflects Amazon’s culture: customer-obsessed, willing to experiment, biased toward action. They release services quickly, iterate based on feedback, and prioritize breadth over perfection. This creates an enormous platform with something for everyone but also creates complexity.</a:t>
            </a:r>
          </a:p>
          <a:p>
            <a:pPr marL="0" lvl="0" indent="0">
              <a:buNone/>
            </a:pPr>
            <a:endParaRPr/>
          </a:p>
          <a:p>
            <a:pPr marL="0" lvl="0" indent="0">
              <a:buNone/>
            </a:pPr>
            <a:r>
              <a:t>Azure reflects Microsoft’s culture: enterprise-focused, integration-minded, relationship-driven. They understand how large organizations make decisions and build for that market. Integration with existing Microsoft products is seamless because that’s always been Microsoft’s strength.</a:t>
            </a:r>
          </a:p>
          <a:p>
            <a:pPr marL="0" lvl="0" indent="0">
              <a:buNone/>
            </a:pPr>
            <a:endParaRPr/>
          </a:p>
          <a:p>
            <a:pPr marL="0" lvl="0" indent="0">
              <a:buNone/>
            </a:pPr>
            <a:r>
              <a:t>GCP reflects Google’s culture: technically excellent, engineering-driven, focused on solving hard problems well. They have the best data analytics and ML infrastructure because Google’s competitive advantages have always been in data processing and ML. But they struggle with enterprise relationships and market positioning.</a:t>
            </a:r>
          </a:p>
          <a:p>
            <a:pPr marL="0" lvl="0" indent="0">
              <a:buNone/>
            </a:pPr>
            <a:endParaRPr/>
          </a:p>
          <a:p>
            <a:pPr marL="0" lvl="0" indent="0">
              <a:buNone/>
            </a:pPr>
            <a:r>
              <a:t>AI IS CHANGING THE LANDSCAPE:</a:t>
            </a:r>
          </a:p>
          <a:p>
            <a:pPr marL="0" lvl="0" indent="0">
              <a:buNone/>
            </a:pPr>
            <a:endParaRPr/>
          </a:p>
          <a:p>
            <a:pPr marL="0" lvl="0" indent="0">
              <a:buNone/>
            </a:pPr>
            <a:r>
              <a:t>The AI boom starting in late 2022 with ChatGPT has shifted competitive dynamics. Azure’s OpenAI partnership gives them unique enterprise access to GPT-4, driving Azure growth. Google’s Gemini is technically impressive but struggling for adoption. AWS is positioned as the platform for hosting others’ AI models rather than creating their own.</a:t>
            </a:r>
          </a:p>
          <a:p>
            <a:pPr marL="0" lvl="0" indent="0">
              <a:buNone/>
            </a:pPr>
            <a:endParaRPr/>
          </a:p>
          <a:p>
            <a:pPr marL="0" lvl="0" indent="0">
              <a:buNone/>
            </a:pPr>
            <a:r>
              <a:t>This AI positioning might be the most important factor in cloud choice for the next several years. Enterprises adding AI capabilities often choose based on which AI models they want to use, then follow those models to the cloud platform.</a:t>
            </a:r>
          </a:p>
          <a:p>
            <a:pPr marL="0" lvl="0" indent="0">
              <a:buNone/>
            </a:pPr>
            <a:endParaRPr/>
          </a:p>
          <a:p>
            <a:pPr marL="0" lvl="0" indent="0">
              <a:buNone/>
            </a:pPr>
            <a:r>
              <a:t>PRACTICAL ADVICE FOR YOUR CAREERS:</a:t>
            </a:r>
          </a:p>
          <a:p>
            <a:pPr marL="0" lvl="0" indent="0">
              <a:buNone/>
            </a:pPr>
            <a:endParaRPr/>
          </a:p>
          <a:p>
            <a:pPr marL="0" lvl="0" indent="0">
              <a:buNone/>
            </a:pPr>
            <a:r>
              <a:t>DEPTH BEFORE BREADTH: Learn one platform deeply before trying to learn all three. You’ve learned AWS this semester—that’s valuable. Master it further rather than becoming superficially familiar with all three platforms.</a:t>
            </a:r>
          </a:p>
          <a:p>
            <a:pPr marL="0" lvl="0" indent="0">
              <a:buNone/>
            </a:pPr>
            <a:endParaRPr/>
          </a:p>
          <a:p>
            <a:pPr marL="0" lvl="0" indent="0">
              <a:buNone/>
            </a:pPr>
            <a:r>
              <a:t>CONCEPTS TRANSFER: The skills you’ve built—understanding serverless architecture, database design, API development, CI/CD—apply everywhere. When you learn Azure or GCP, you’ll recognize familiar patterns with different names.</a:t>
            </a:r>
          </a:p>
          <a:p>
            <a:pPr marL="0" lvl="0" indent="0">
              <a:buNone/>
            </a:pPr>
            <a:endParaRPr/>
          </a:p>
          <a:p>
            <a:pPr marL="0" lvl="0" indent="0">
              <a:buNone/>
            </a:pPr>
            <a:r>
              <a:t>STAY CURRENT: The cloud landscape evolves rapidly. Services you learned this semester might be deprecated in five years. Continuous learning is essential. Follow cloud provider blogs, experiment with new services, and stay curious.</a:t>
            </a:r>
          </a:p>
          <a:p>
            <a:pPr marL="0" lvl="0" indent="0">
              <a:buNone/>
            </a:pPr>
            <a:endParaRPr/>
          </a:p>
          <a:p>
            <a:pPr marL="0" lvl="0" indent="0">
              <a:buNone/>
            </a:pPr>
            <a:r>
              <a:t>CERTIFICATIONS CAN HELP: Especially early career, certifications demonstrate knowledge and initiative. AWS Certified Solutions Architect, Azure Administrator, or Google Cloud Associate Engineer are all valuable. But combine them with real project experience.</a:t>
            </a:r>
          </a:p>
          <a:p>
            <a:pPr marL="0" lvl="0" indent="0">
              <a:buNone/>
            </a:pPr>
            <a:endParaRPr/>
          </a:p>
          <a:p>
            <a:pPr marL="0" lvl="0" indent="0">
              <a:buNone/>
            </a:pPr>
            <a:r>
              <a:t>REAL-WORLD EXPERIENCE MATTERS MOST: What you’ve built this semester—Lambda functions, databases, APIs, serverless architectures—gives you concrete experience to discuss in interviews. “I built a serverless application using Lambda, API Gateway, and RDS” is more impressive than “I’m AWS certified.”</a:t>
            </a:r>
          </a:p>
          <a:p>
            <a:pPr marL="0" lvl="0" indent="0">
              <a:buNone/>
            </a:pPr>
            <a:endParaRPr/>
          </a:p>
          <a:p>
            <a:pPr marL="0" lvl="0" indent="0">
              <a:buNone/>
            </a:pPr>
            <a:r>
              <a:t>FINAL REFLECTION:</a:t>
            </a:r>
          </a:p>
          <a:p>
            <a:pPr marL="0" lvl="0" indent="0">
              <a:buNone/>
            </a:pPr>
            <a:endParaRPr/>
          </a:p>
          <a:p>
            <a:pPr marL="0" lvl="0" indent="0">
              <a:buNone/>
            </a:pPr>
            <a:r>
              <a:t>This semester you’ve gone from learning cloud concepts to building real applications on AWS. You’ve deployed Lambda functions, configured databases, set up S3 buckets, and integrated multiple services. That hands-on experience with a major cloud platform is valuable regardless of which cloud provider your future employers use.</a:t>
            </a:r>
          </a:p>
          <a:p>
            <a:pPr marL="0" lvl="0" indent="0">
              <a:buNone/>
            </a:pPr>
            <a:endParaRPr/>
          </a:p>
          <a:p>
            <a:pPr marL="0" lvl="0" indent="0">
              <a:buNone/>
            </a:pPr>
            <a:r>
              <a:t>The cloud computing industry is projected to grow from $500 billion to over $1 trillion by 2030. Skills in cloud architecture, serverless computing, and distributed systems will remain in high demand. You’re entering the job market with relevant, current skills.</a:t>
            </a:r>
          </a:p>
          <a:p>
            <a:pPr marL="0" lvl="0" indent="0">
              <a:buNone/>
            </a:pPr>
            <a:endParaRPr/>
          </a:p>
          <a:p>
            <a:pPr marL="0" lvl="0" indent="0">
              <a:buNone/>
            </a:pPr>
            <a:r>
              <a:t>More importantly, you’ve learned how to learn. When new cloud services launch, when new paradigms emerge, when the industry shifts again (as it inevitably will), you now have frameworks for understanding new technology, evaluating trade-offs, and making informed decisions.</a:t>
            </a:r>
          </a:p>
          <a:p>
            <a:pPr marL="0" lvl="0" indent="0">
              <a:buNone/>
            </a:pPr>
            <a:endParaRPr/>
          </a:p>
          <a:p>
            <a:pPr marL="0" lvl="0" indent="0">
              <a:buNone/>
            </a:pPr>
            <a:r>
              <a:t>The specific services we’ve covered—Lambda, RDS, S3, CloudFormation—might be replaced by better alternatives someday. But the concepts underlying them—serverless computing, managed databases, object storage, infrastructure as code—will persist in some form because they solve fundamental problems.</a:t>
            </a:r>
          </a:p>
          <a:p>
            <a:pPr marL="0" lvl="0" indent="0">
              <a:buNone/>
            </a:pPr>
            <a:endParaRPr/>
          </a:p>
          <a:p>
            <a:pPr marL="0" lvl="0" indent="0">
              <a:buNone/>
            </a:pPr>
            <a:r>
              <a:t>As we head into our final class next week, reflect on your growth. You came into this course with varying levels of technical background. You’re leaving with practical cloud computing experience and a foundation for career growth in one of technology’s fastest-growing fields.</a:t>
            </a:r>
          </a:p>
          <a:p>
            <a:pPr marL="0" lvl="0" indent="0">
              <a:buNone/>
            </a:pPr>
            <a:endParaRPr/>
          </a:p>
          <a:p>
            <a:pPr marL="0" lvl="0" indent="0">
              <a:buNone/>
            </a:pPr>
            <a:r>
              <a:t>Thank you for your engagement this semester. Your willingness to tackle complex technical material, debug frustrating errors, and build real applications has made teaching this course rewarding. You should be proud of what you’ve accomplished.</a:t>
            </a:r>
          </a:p>
          <a:p>
            <a:pPr marL="0" lvl="0" indent="0">
              <a:buNone/>
            </a:pPr>
            <a:endParaRPr/>
          </a:p>
          <a:p>
            <a:pPr marL="0" lvl="0" indent="0">
              <a:buNone/>
            </a:pPr>
            <a:r>
              <a:t>Questions before we adjourn?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 we close out the semester, I want to acknowledge what you’ve accomplished and send you off with encouragement.</a:t>
            </a:r>
          </a:p>
          <a:p>
            <a:pPr marL="0" lvl="0" indent="0">
              <a:buNone/>
            </a:pPr>
            <a:endParaRPr/>
          </a:p>
          <a:p>
            <a:pPr marL="0" lvl="0" indent="0">
              <a:buNone/>
            </a:pPr>
            <a:r>
              <a:t>WHAT YOU’VE LEARNED:</a:t>
            </a:r>
          </a:p>
          <a:p>
            <a:pPr marL="0" lvl="0" indent="0">
              <a:buNone/>
            </a:pPr>
            <a:endParaRPr/>
          </a:p>
          <a:p>
            <a:pPr marL="0" lvl="0" indent="0">
              <a:buNone/>
            </a:pPr>
            <a:r>
              <a:t>When you started this course, cloud computing might have seemed abstract or intimidating. Now you’ve built real applications using AWS services. You’ve debugged Lambda functions, configured VPCs, queried databases, and deployed production systems. That’s not theoretical knowledge—it’s practical, hands-on experience.</a:t>
            </a:r>
          </a:p>
          <a:p>
            <a:pPr marL="0" lvl="0" indent="0">
              <a:buNone/>
            </a:pPr>
            <a:endParaRPr/>
          </a:p>
          <a:p>
            <a:pPr marL="0" lvl="0" indent="0">
              <a:buNone/>
            </a:pPr>
            <a:r>
              <a:t>You understand serverless architecture and can explain why it matters. You can design database schemas and choose between SQL and NoSQL. You can write Infrastructure as Code with CloudFormation. You can set up CI/CD pipelines. These are professional skills that companies pay well for.</a:t>
            </a:r>
          </a:p>
          <a:p>
            <a:pPr marL="0" lvl="0" indent="0">
              <a:buNone/>
            </a:pPr>
            <a:endParaRPr/>
          </a:p>
          <a:p>
            <a:pPr marL="0" lvl="0" indent="0">
              <a:buNone/>
            </a:pPr>
            <a:r>
              <a:t>MARKETABILITY:</a:t>
            </a:r>
          </a:p>
          <a:p>
            <a:pPr marL="0" lvl="0" indent="0">
              <a:buNone/>
            </a:pPr>
            <a:endParaRPr/>
          </a:p>
          <a:p>
            <a:pPr marL="0" lvl="0" indent="0">
              <a:buNone/>
            </a:pPr>
            <a:r>
              <a:t>The cloud computing job market is robust. AWS skills are in high demand. According to various job market analyses: - Cloud architects earn $120,000-$180,000 - Cloud engineers earn $90,000-$140,000 - Even junior cloud developers start at $60,000-$80,000</a:t>
            </a:r>
          </a:p>
          <a:p>
            <a:pPr marL="0" lvl="0" indent="0">
              <a:buNone/>
            </a:pPr>
            <a:endParaRPr/>
          </a:p>
          <a:p>
            <a:pPr marL="0" lvl="0" indent="0">
              <a:buNone/>
            </a:pPr>
            <a:r>
              <a:t>More importantly, cloud skills open doors across industries. Financial services companies need cloud engineers. Healthcare companies need cloud engineers. Retailers, manufacturers, government agencies—everyone needs cloud expertise.</a:t>
            </a:r>
          </a:p>
          <a:p>
            <a:pPr marL="0" lvl="0" indent="0">
              <a:buNone/>
            </a:pPr>
            <a:endParaRPr/>
          </a:p>
          <a:p>
            <a:pPr marL="0" lvl="0" indent="0">
              <a:buNone/>
            </a:pPr>
            <a:r>
              <a:t>Your AWS experience makes you more attractive not just for “cloud engineer” roles but for any software engineering role, since most software now runs in the cloud.</a:t>
            </a:r>
          </a:p>
          <a:p>
            <a:pPr marL="0" lvl="0" indent="0">
              <a:buNone/>
            </a:pPr>
            <a:endParaRPr/>
          </a:p>
          <a:p>
            <a:pPr marL="0" lvl="0" indent="0">
              <a:buNone/>
            </a:pPr>
            <a:r>
              <a:t>FOUNDATION FOR GROWTH:</a:t>
            </a:r>
          </a:p>
          <a:p>
            <a:pPr marL="0" lvl="0" indent="0">
              <a:buNone/>
            </a:pPr>
            <a:endParaRPr/>
          </a:p>
          <a:p>
            <a:pPr marL="0" lvl="0" indent="0">
              <a:buNone/>
            </a:pPr>
            <a:r>
              <a:t>This course gave you a foundation, not the complete picture. Cloud computing is vast, and you’ve learned one important slice. Continue building on this foundation:</a:t>
            </a:r>
          </a:p>
          <a:p>
            <a:pPr marL="0" lvl="0" indent="0">
              <a:buNone/>
            </a:pPr>
            <a:endParaRPr/>
          </a:p>
          <a:p>
            <a:pPr marL="0" lvl="0" indent="0">
              <a:buNone/>
            </a:pPr>
            <a:r>
              <a:t>KEEP EXPERIMENTING: AWS Free Tier lets you continue learning at no cost. Build projects, try new services, break things and fix them.</a:t>
            </a:r>
          </a:p>
          <a:p>
            <a:pPr marL="0" lvl="0" indent="0">
              <a:buNone/>
            </a:pPr>
            <a:endParaRPr/>
          </a:p>
          <a:p>
            <a:pPr marL="0" lvl="0" indent="0">
              <a:buNone/>
            </a:pPr>
            <a:r>
              <a:t>PURSUE CERTIFICATIONS: AWS Certified Cloud Practitioner is achievable now based on what you’ve learned. Solutions Architect Associate would be a good next step.</a:t>
            </a:r>
          </a:p>
          <a:p>
            <a:pPr marL="0" lvl="0" indent="0">
              <a:buNone/>
            </a:pPr>
            <a:endParaRPr/>
          </a:p>
          <a:p>
            <a:pPr marL="0" lvl="0" indent="0">
              <a:buNone/>
            </a:pPr>
            <a:r>
              <a:t>BUILD A PORTFOLIO: Create a GitHub repo with cloud projects. Document your work. This showcases skills to potential employers better than a resume alone.</a:t>
            </a:r>
          </a:p>
          <a:p>
            <a:pPr marL="0" lvl="0" indent="0">
              <a:buNone/>
            </a:pPr>
            <a:endParaRPr/>
          </a:p>
          <a:p>
            <a:pPr marL="0" lvl="0" indent="0">
              <a:buNone/>
            </a:pPr>
            <a:r>
              <a:t>STAY CURRENT: Follow AWS news, read cloud computing blogs, experiment with new services. Technology changes fast—continuous learning is essential.</a:t>
            </a:r>
          </a:p>
          <a:p>
            <a:pPr marL="0" lvl="0" indent="0">
              <a:buNone/>
            </a:pPr>
            <a:endParaRPr/>
          </a:p>
          <a:p>
            <a:pPr marL="0" lvl="0" indent="0">
              <a:buNone/>
            </a:pPr>
            <a:r>
              <a:t>CONTRIBUTE TO COMMUNITIES: Answer questions on Stack Overflow, write blog posts explaining what you learned, help others getting started. Teaching reinforces your own understanding.</a:t>
            </a:r>
          </a:p>
          <a:p>
            <a:pPr marL="0" lvl="0" indent="0">
              <a:buNone/>
            </a:pPr>
            <a:endParaRPr/>
          </a:p>
          <a:p>
            <a:pPr marL="0" lvl="0" indent="0">
              <a:buNone/>
            </a:pPr>
            <a:r>
              <a:t>MY APPRECIATION:</a:t>
            </a:r>
          </a:p>
          <a:p>
            <a:pPr marL="0" lvl="0" indent="0">
              <a:buNone/>
            </a:pPr>
            <a:endParaRPr/>
          </a:p>
          <a:p>
            <a:pPr marL="0" lvl="0" indent="0">
              <a:buNone/>
            </a:pPr>
            <a:r>
              <a:t>Teaching this course has been rewarding because of your engagement. You asked great questions, worked through difficult problems, and built impressive projects. Cloud computing can be frustrating—authentication errors, networking problems, cryptic error messages—but you persevered.</a:t>
            </a:r>
          </a:p>
          <a:p>
            <a:pPr marL="0" lvl="0" indent="0">
              <a:buNone/>
            </a:pPr>
            <a:endParaRPr/>
          </a:p>
          <a:p>
            <a:pPr marL="0" lvl="0" indent="0">
              <a:buNone/>
            </a:pPr>
            <a:r>
              <a:t>Your final projects demonstrate real competence. The serverless applications you’ve built solve actual problems and showcase technical understanding. Be proud of that work.</a:t>
            </a:r>
          </a:p>
          <a:p>
            <a:pPr marL="0" lvl="0" indent="0">
              <a:buNone/>
            </a:pPr>
            <a:endParaRPr/>
          </a:p>
          <a:p>
            <a:pPr marL="0" lvl="0" indent="0">
              <a:buNone/>
            </a:pPr>
            <a:r>
              <a:t>STAYING IN TOUCH:</a:t>
            </a:r>
          </a:p>
          <a:p>
            <a:pPr marL="0" lvl="0" indent="0">
              <a:buNone/>
            </a:pPr>
            <a:endParaRPr/>
          </a:p>
          <a:p>
            <a:pPr marL="0" lvl="0" indent="0">
              <a:buNone/>
            </a:pPr>
            <a:r>
              <a:t>I’d love to hear how your careers progress. When you land your first cloud engineering role, when you pass AWS certifications, when you build something cool—send me a message. Success stories from former students are the best part of teaching.</a:t>
            </a:r>
          </a:p>
          <a:p>
            <a:pPr marL="0" lvl="0" indent="0">
              <a:buNone/>
            </a:pPr>
            <a:endParaRPr/>
          </a:p>
          <a:p>
            <a:pPr marL="0" lvl="0" indent="0">
              <a:buNone/>
            </a:pPr>
            <a:r>
              <a:t>If you have questions as you continue learning, reach out. I’m happy to provide guidance, answer technical questions, or offer career advice.</a:t>
            </a:r>
          </a:p>
          <a:p>
            <a:pPr marL="0" lvl="0" indent="0">
              <a:buNone/>
            </a:pPr>
            <a:endParaRPr/>
          </a:p>
          <a:p>
            <a:pPr marL="0" lvl="0" indent="0">
              <a:buNone/>
            </a:pPr>
            <a:r>
              <a:t>FINAL THOUGHTS:</a:t>
            </a:r>
          </a:p>
          <a:p>
            <a:pPr marL="0" lvl="0" indent="0">
              <a:buNone/>
            </a:pPr>
            <a:endParaRPr/>
          </a:p>
          <a:p>
            <a:pPr marL="0" lvl="0" indent="0">
              <a:buNone/>
            </a:pPr>
            <a:r>
              <a:t>You’re entering the job market at an excellent time for cloud computing skills. The industry needs more people who understand cloud architecture, serverless computing, and distributed systems. You have relevant, current knowledge that employers value.</a:t>
            </a:r>
          </a:p>
          <a:p>
            <a:pPr marL="0" lvl="0" indent="0">
              <a:buNone/>
            </a:pPr>
            <a:endParaRPr/>
          </a:p>
          <a:p>
            <a:pPr marL="0" lvl="0" indent="0">
              <a:buNone/>
            </a:pPr>
            <a:r>
              <a:t>More than specific AWS skills, you’ve developed problem-solving abilities, persistence in the face of technical challenges, and the capacity to learn complex systems. These meta-skills will serve you throughout your career regardless of how technology evolves.</a:t>
            </a:r>
          </a:p>
          <a:p>
            <a:pPr marL="0" lvl="0" indent="0">
              <a:buNone/>
            </a:pPr>
            <a:endParaRPr/>
          </a:p>
          <a:p>
            <a:pPr marL="0" lvl="0" indent="0">
              <a:buNone/>
            </a:pPr>
            <a:r>
              <a:t>The semester is ending, but your learning journey continues. Keep building, keep learning, keep growing. The foundation you’ve built here will support whatever direction your career takes.</a:t>
            </a:r>
          </a:p>
          <a:p>
            <a:pPr marL="0" lvl="0" indent="0">
              <a:buNone/>
            </a:pPr>
            <a:endParaRPr/>
          </a:p>
          <a:p>
            <a:pPr marL="0" lvl="0" indent="0">
              <a:buNone/>
            </a:pPr>
            <a:r>
              <a:t>Thank you for an excellent semester. Good luck with finals, job searches, and future endeavors. Stay in touch!</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7FCEE5-5525-A573-2323-B9D3787C3AB4}"/>
              </a:ext>
            </a:extLst>
          </p:cNvPr>
          <p:cNvSpPr/>
          <p:nvPr userDrawn="1"/>
        </p:nvSpPr>
        <p:spPr>
          <a:xfrm>
            <a:off x="-158594" y="-99121"/>
            <a:ext cx="12489365" cy="7057483"/>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70">
              <a:solidFill>
                <a:schemeClr val="bg1"/>
              </a:solidFill>
            </a:endParaRPr>
          </a:p>
        </p:txBody>
      </p:sp>
      <p:sp>
        <p:nvSpPr>
          <p:cNvPr id="2" name="Title 1"/>
          <p:cNvSpPr>
            <a:spLocks noGrp="1"/>
          </p:cNvSpPr>
          <p:nvPr>
            <p:ph type="ctrTitle"/>
          </p:nvPr>
        </p:nvSpPr>
        <p:spPr>
          <a:xfrm>
            <a:off x="521208" y="1536192"/>
            <a:ext cx="10363200" cy="739773"/>
          </a:xfrm>
        </p:spPr>
        <p:txBody>
          <a:bodyPr/>
          <a:lstStyle>
            <a:lvl1pPr algn="l">
              <a:defRPr sz="4800" b="0" i="0">
                <a:solidFill>
                  <a:schemeClr val="bg1"/>
                </a:solidFill>
                <a:latin typeface="Acumin Pro Condensed Semibold" panose="020B0506020202020204" pitchFamily="34" charset="77"/>
              </a:defRPr>
            </a:lvl1pPr>
          </a:lstStyle>
          <a:p>
            <a:r>
              <a:rPr lang="en-US" dirty="0"/>
              <a:t>Click to edit Master title style</a:t>
            </a:r>
          </a:p>
        </p:txBody>
      </p:sp>
      <p:sp>
        <p:nvSpPr>
          <p:cNvPr id="3" name="Subtitle 2"/>
          <p:cNvSpPr>
            <a:spLocks noGrp="1"/>
          </p:cNvSpPr>
          <p:nvPr>
            <p:ph type="subTitle" idx="1"/>
          </p:nvPr>
        </p:nvSpPr>
        <p:spPr>
          <a:xfrm>
            <a:off x="524932" y="2373953"/>
            <a:ext cx="8534401" cy="614716"/>
          </a:xfrm>
        </p:spPr>
        <p:txBody>
          <a:bodyPr/>
          <a:lstStyle>
            <a:lvl1pPr marL="0" indent="0" algn="l">
              <a:buNone/>
              <a:defRPr sz="2400" b="1" i="0">
                <a:solidFill>
                  <a:schemeClr val="bg1"/>
                </a:solidFill>
                <a:latin typeface="Acumin Pro Semibold" panose="020B0504020202020204" pitchFamily="34" charset="77"/>
              </a:defRPr>
            </a:lvl1pPr>
            <a:lvl2pPr marL="336213" indent="0" algn="ctr">
              <a:buNone/>
              <a:defRPr>
                <a:solidFill>
                  <a:schemeClr val="tx1">
                    <a:tint val="75000"/>
                  </a:schemeClr>
                </a:solidFill>
              </a:defRPr>
            </a:lvl2pPr>
            <a:lvl3pPr marL="672427" indent="0" algn="ctr">
              <a:buNone/>
              <a:defRPr>
                <a:solidFill>
                  <a:schemeClr val="tx1">
                    <a:tint val="75000"/>
                  </a:schemeClr>
                </a:solidFill>
              </a:defRPr>
            </a:lvl3pPr>
            <a:lvl4pPr marL="1008640" indent="0" algn="ctr">
              <a:buNone/>
              <a:defRPr>
                <a:solidFill>
                  <a:schemeClr val="tx1">
                    <a:tint val="75000"/>
                  </a:schemeClr>
                </a:solidFill>
              </a:defRPr>
            </a:lvl4pPr>
            <a:lvl5pPr marL="1344854" indent="0" algn="ctr">
              <a:buNone/>
              <a:defRPr>
                <a:solidFill>
                  <a:schemeClr val="tx1">
                    <a:tint val="75000"/>
                  </a:schemeClr>
                </a:solidFill>
              </a:defRPr>
            </a:lvl5pPr>
            <a:lvl6pPr marL="1681067" indent="0" algn="ctr">
              <a:buNone/>
              <a:defRPr>
                <a:solidFill>
                  <a:schemeClr val="tx1">
                    <a:tint val="75000"/>
                  </a:schemeClr>
                </a:solidFill>
              </a:defRPr>
            </a:lvl6pPr>
            <a:lvl7pPr marL="2017281" indent="0" algn="ctr">
              <a:buNone/>
              <a:defRPr>
                <a:solidFill>
                  <a:schemeClr val="tx1">
                    <a:tint val="75000"/>
                  </a:schemeClr>
                </a:solidFill>
              </a:defRPr>
            </a:lvl7pPr>
            <a:lvl8pPr marL="2353494" indent="0" algn="ctr">
              <a:buNone/>
              <a:defRPr>
                <a:solidFill>
                  <a:schemeClr val="tx1">
                    <a:tint val="75000"/>
                  </a:schemeClr>
                </a:solidFill>
              </a:defRPr>
            </a:lvl8pPr>
            <a:lvl9pPr marL="2689708" indent="0" algn="ctr">
              <a:buNone/>
              <a:defRPr>
                <a:solidFill>
                  <a:schemeClr val="tx1">
                    <a:tint val="75000"/>
                  </a:schemeClr>
                </a:solidFill>
              </a:defRPr>
            </a:lvl9pPr>
          </a:lstStyle>
          <a:p>
            <a:r>
              <a:rPr lang="en-US" dirty="0"/>
              <a:t>Click to edit Master subtitle style</a:t>
            </a:r>
          </a:p>
        </p:txBody>
      </p:sp>
      <p:sp>
        <p:nvSpPr>
          <p:cNvPr id="11" name="Triangle 5">
            <a:extLst>
              <a:ext uri="{FF2B5EF4-FFF2-40B4-BE49-F238E27FC236}">
                <a16:creationId xmlns:a16="http://schemas.microsoft.com/office/drawing/2014/main" id="{70A9DB0F-EDCF-5BC4-FBE7-87D12BDA87BE}"/>
              </a:ext>
            </a:extLst>
          </p:cNvPr>
          <p:cNvSpPr/>
          <p:nvPr userDrawn="1"/>
        </p:nvSpPr>
        <p:spPr>
          <a:xfrm>
            <a:off x="9742860" y="-99122"/>
            <a:ext cx="2587912" cy="7057483"/>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6FABA5ED-2F69-B5D7-44DB-3DEE43DBD8B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4932"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lvl1pPr algn="l">
              <a:defRPr sz="4706"/>
            </a:lvl1pPr>
          </a:lstStyle>
          <a:p>
            <a:r>
              <a:rPr lang="en-US" dirty="0"/>
              <a:t>Click to edit Master title style</a:t>
            </a:r>
          </a:p>
        </p:txBody>
      </p:sp>
      <p:sp>
        <p:nvSpPr>
          <p:cNvPr id="3" name="Content Placeholder 2"/>
          <p:cNvSpPr>
            <a:spLocks noGrp="1"/>
          </p:cNvSpPr>
          <p:nvPr>
            <p:ph idx="1"/>
          </p:nvPr>
        </p:nvSpPr>
        <p:spPr>
          <a:xfrm>
            <a:off x="466343" y="1280160"/>
            <a:ext cx="11274552" cy="47600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2">
            <a:extLst>
              <a:ext uri="{FF2B5EF4-FFF2-40B4-BE49-F238E27FC236}">
                <a16:creationId xmlns:a16="http://schemas.microsoft.com/office/drawing/2014/main" id="{8688938C-B5A1-12AB-A9FB-B5E70B932C6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0CE603-E171-21F4-9B76-851E85162394}"/>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Black Triangle">
            <a:extLst>
              <a:ext uri="{FF2B5EF4-FFF2-40B4-BE49-F238E27FC236}">
                <a16:creationId xmlns:a16="http://schemas.microsoft.com/office/drawing/2014/main" id="{9F1126C9-DEAE-88BD-1029-48B13D74A45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9956800" y="0"/>
            <a:ext cx="2235200" cy="6858000"/>
          </a:xfrm>
          <a:prstGeom prst="rect">
            <a:avLst/>
          </a:prstGeom>
          <a:noFill/>
        </p:spPr>
      </p:pic>
      <p:pic>
        <p:nvPicPr>
          <p:cNvPr id="9" name="Picture 2">
            <a:extLst>
              <a:ext uri="{FF2B5EF4-FFF2-40B4-BE49-F238E27FC236}">
                <a16:creationId xmlns:a16="http://schemas.microsoft.com/office/drawing/2014/main" id="{8D8C0492-3D9E-155B-7932-22DD50394A2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4932" y="5796005"/>
            <a:ext cx="4318000" cy="46103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95DCFFC-DBC3-2686-420D-D185D5AFC392}"/>
              </a:ext>
            </a:extLst>
          </p:cNvPr>
          <p:cNvSpPr>
            <a:spLocks noGrp="1"/>
          </p:cNvSpPr>
          <p:nvPr>
            <p:ph type="title" hasCustomPrompt="1"/>
          </p:nvPr>
        </p:nvSpPr>
        <p:spPr>
          <a:xfrm>
            <a:off x="521208" y="1536192"/>
            <a:ext cx="10360152" cy="740664"/>
          </a:xfrm>
        </p:spPr>
        <p:txBody>
          <a:bodyPr anchor="t"/>
          <a:lstStyle>
            <a:lvl1pPr algn="l">
              <a:defRPr sz="4800" b="1" cap="none"/>
            </a:lvl1pPr>
          </a:lstStyle>
          <a:p>
            <a:r>
              <a:rPr lang="en-US" dirty="0"/>
              <a:t>Click to edit master title style</a:t>
            </a:r>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6344" y="384048"/>
            <a:ext cx="11265408" cy="585216"/>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460246" y="1280160"/>
            <a:ext cx="5541018" cy="4833257"/>
          </a:xfrm>
        </p:spPr>
        <p:txBody>
          <a:bodyPr/>
          <a:lstStyle>
            <a:lvl1pPr>
              <a:defRPr sz="2059"/>
            </a:lvl1pPr>
            <a:lvl2pPr>
              <a:defRPr sz="1765"/>
            </a:lvl2pPr>
            <a:lvl3pPr>
              <a:defRPr sz="1471"/>
            </a:lvl3pPr>
            <a:lvl4pPr>
              <a:defRPr sz="1324"/>
            </a:lvl4pPr>
            <a:lvl5pPr>
              <a:defRPr sz="1324"/>
            </a:lvl5pPr>
            <a:lvl6pPr>
              <a:defRPr sz="1324"/>
            </a:lvl6pPr>
            <a:lvl7pPr>
              <a:defRPr sz="1324"/>
            </a:lvl7pPr>
            <a:lvl8pPr>
              <a:defRPr sz="1324"/>
            </a:lvl8pPr>
            <a:lvl9pPr>
              <a:defRPr sz="132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0738" y="1280160"/>
            <a:ext cx="5541019" cy="4833257"/>
          </a:xfrm>
        </p:spPr>
        <p:txBody>
          <a:bodyPr/>
          <a:lstStyle>
            <a:lvl1pPr>
              <a:defRPr sz="2059"/>
            </a:lvl1pPr>
            <a:lvl2pPr>
              <a:defRPr sz="1765"/>
            </a:lvl2pPr>
            <a:lvl3pPr>
              <a:defRPr sz="1471"/>
            </a:lvl3pPr>
            <a:lvl4pPr>
              <a:defRPr sz="1324"/>
            </a:lvl4pPr>
            <a:lvl5pPr>
              <a:defRPr sz="1324"/>
            </a:lvl5pPr>
            <a:lvl6pPr>
              <a:defRPr sz="1324"/>
            </a:lvl6pPr>
            <a:lvl7pPr>
              <a:defRPr sz="1324"/>
            </a:lvl7pPr>
            <a:lvl8pPr>
              <a:defRPr sz="1324"/>
            </a:lvl8pPr>
            <a:lvl9pPr>
              <a:defRPr sz="132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2">
            <a:extLst>
              <a:ext uri="{FF2B5EF4-FFF2-40B4-BE49-F238E27FC236}">
                <a16:creationId xmlns:a16="http://schemas.microsoft.com/office/drawing/2014/main" id="{1D752108-D685-2F03-690F-6338C690560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6344" y="384048"/>
            <a:ext cx="11265408" cy="585216"/>
          </a:xfrm>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460248" y="969264"/>
            <a:ext cx="5573061" cy="639763"/>
          </a:xfrm>
        </p:spPr>
        <p:txBody>
          <a:bodyPr anchor="b"/>
          <a:lstStyle>
            <a:lvl1pPr marL="0" indent="0">
              <a:buNone/>
              <a:defRPr sz="1765" b="1"/>
            </a:lvl1pPr>
            <a:lvl2pPr marL="336213" indent="0">
              <a:buNone/>
              <a:defRPr sz="1471" b="1"/>
            </a:lvl2pPr>
            <a:lvl3pPr marL="672427" indent="0">
              <a:buNone/>
              <a:defRPr sz="1324" b="1"/>
            </a:lvl3pPr>
            <a:lvl4pPr marL="1008640" indent="0">
              <a:buNone/>
              <a:defRPr sz="1177" b="1"/>
            </a:lvl4pPr>
            <a:lvl5pPr marL="1344854" indent="0">
              <a:buNone/>
              <a:defRPr sz="1177" b="1"/>
            </a:lvl5pPr>
            <a:lvl6pPr marL="1681067" indent="0">
              <a:buNone/>
              <a:defRPr sz="1177" b="1"/>
            </a:lvl6pPr>
            <a:lvl7pPr marL="2017281" indent="0">
              <a:buNone/>
              <a:defRPr sz="1177" b="1"/>
            </a:lvl7pPr>
            <a:lvl8pPr marL="2353494" indent="0">
              <a:buNone/>
              <a:defRPr sz="1177" b="1"/>
            </a:lvl8pPr>
            <a:lvl9pPr marL="2689708" indent="0">
              <a:buNone/>
              <a:defRPr sz="1177" b="1"/>
            </a:lvl9pPr>
          </a:lstStyle>
          <a:p>
            <a:pPr lvl="0"/>
            <a:r>
              <a:rPr lang="en-US" dirty="0"/>
              <a:t>Click to edit Master text styles</a:t>
            </a:r>
          </a:p>
        </p:txBody>
      </p:sp>
      <p:sp>
        <p:nvSpPr>
          <p:cNvPr id="4" name="Content Placeholder 3"/>
          <p:cNvSpPr>
            <a:spLocks noGrp="1"/>
          </p:cNvSpPr>
          <p:nvPr>
            <p:ph sz="half" idx="2"/>
          </p:nvPr>
        </p:nvSpPr>
        <p:spPr>
          <a:xfrm>
            <a:off x="460248" y="1654364"/>
            <a:ext cx="5573061" cy="4474588"/>
          </a:xfrm>
        </p:spPr>
        <p:txBody>
          <a:bodyPr/>
          <a:lstStyle>
            <a:lvl1pPr>
              <a:defRPr sz="1765"/>
            </a:lvl1pPr>
            <a:lvl2pPr>
              <a:defRPr sz="1471"/>
            </a:lvl2pPr>
            <a:lvl3pPr>
              <a:defRPr sz="1324"/>
            </a:lvl3pPr>
            <a:lvl4pPr>
              <a:defRPr sz="1177"/>
            </a:lvl4pPr>
            <a:lvl5pPr>
              <a:defRPr sz="1177"/>
            </a:lvl5pPr>
            <a:lvl6pPr>
              <a:defRPr sz="1177"/>
            </a:lvl6pPr>
            <a:lvl7pPr>
              <a:defRPr sz="1177"/>
            </a:lvl7pPr>
            <a:lvl8pPr>
              <a:defRPr sz="1177"/>
            </a:lvl8pPr>
            <a:lvl9pPr>
              <a:defRPr sz="11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52595" y="969264"/>
            <a:ext cx="5573061" cy="639763"/>
          </a:xfrm>
        </p:spPr>
        <p:txBody>
          <a:bodyPr anchor="b"/>
          <a:lstStyle>
            <a:lvl1pPr marL="0" indent="0">
              <a:buNone/>
              <a:defRPr sz="1765" b="1"/>
            </a:lvl1pPr>
            <a:lvl2pPr marL="336213" indent="0">
              <a:buNone/>
              <a:defRPr sz="1471" b="1"/>
            </a:lvl2pPr>
            <a:lvl3pPr marL="672427" indent="0">
              <a:buNone/>
              <a:defRPr sz="1324" b="1"/>
            </a:lvl3pPr>
            <a:lvl4pPr marL="1008640" indent="0">
              <a:buNone/>
              <a:defRPr sz="1177" b="1"/>
            </a:lvl4pPr>
            <a:lvl5pPr marL="1344854" indent="0">
              <a:buNone/>
              <a:defRPr sz="1177" b="1"/>
            </a:lvl5pPr>
            <a:lvl6pPr marL="1681067" indent="0">
              <a:buNone/>
              <a:defRPr sz="1177" b="1"/>
            </a:lvl6pPr>
            <a:lvl7pPr marL="2017281" indent="0">
              <a:buNone/>
              <a:defRPr sz="1177" b="1"/>
            </a:lvl7pPr>
            <a:lvl8pPr marL="2353494" indent="0">
              <a:buNone/>
              <a:defRPr sz="1177" b="1"/>
            </a:lvl8pPr>
            <a:lvl9pPr marL="2689708" indent="0">
              <a:buNone/>
              <a:defRPr sz="1177" b="1"/>
            </a:lvl9pPr>
          </a:lstStyle>
          <a:p>
            <a:pPr lvl="0"/>
            <a:r>
              <a:rPr lang="en-US"/>
              <a:t>Click to edit Master text styles</a:t>
            </a:r>
          </a:p>
        </p:txBody>
      </p:sp>
      <p:sp>
        <p:nvSpPr>
          <p:cNvPr id="6" name="Content Placeholder 5"/>
          <p:cNvSpPr>
            <a:spLocks noGrp="1"/>
          </p:cNvSpPr>
          <p:nvPr>
            <p:ph sz="quarter" idx="4"/>
          </p:nvPr>
        </p:nvSpPr>
        <p:spPr>
          <a:xfrm>
            <a:off x="6152595" y="1625834"/>
            <a:ext cx="5573061" cy="4500155"/>
          </a:xfrm>
        </p:spPr>
        <p:txBody>
          <a:bodyPr/>
          <a:lstStyle>
            <a:lvl1pPr>
              <a:defRPr sz="1765"/>
            </a:lvl1pPr>
            <a:lvl2pPr>
              <a:defRPr sz="1471"/>
            </a:lvl2pPr>
            <a:lvl3pPr>
              <a:defRPr sz="1324"/>
            </a:lvl3pPr>
            <a:lvl4pPr>
              <a:defRPr sz="1177"/>
            </a:lvl4pPr>
            <a:lvl5pPr>
              <a:defRPr sz="1177"/>
            </a:lvl5pPr>
            <a:lvl6pPr>
              <a:defRPr sz="1177"/>
            </a:lvl6pPr>
            <a:lvl7pPr>
              <a:defRPr sz="1177"/>
            </a:lvl7pPr>
            <a:lvl8pPr>
              <a:defRPr sz="1177"/>
            </a:lvl8pPr>
            <a:lvl9pPr>
              <a:defRPr sz="1177"/>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2">
            <a:extLst>
              <a:ext uri="{FF2B5EF4-FFF2-40B4-BE49-F238E27FC236}">
                <a16:creationId xmlns:a16="http://schemas.microsoft.com/office/drawing/2014/main" id="{67C2B7D6-6A7E-7081-F2B2-7F78134B7C9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1471" b="1"/>
            </a:lvl1pPr>
          </a:lstStyle>
          <a:p>
            <a:r>
              <a:rPr lang="en-US"/>
              <a:t>Click to edit Master title style</a:t>
            </a:r>
          </a:p>
        </p:txBody>
      </p:sp>
      <p:sp>
        <p:nvSpPr>
          <p:cNvPr id="3" name="Content Placeholder 2"/>
          <p:cNvSpPr>
            <a:spLocks noGrp="1"/>
          </p:cNvSpPr>
          <p:nvPr>
            <p:ph idx="1"/>
          </p:nvPr>
        </p:nvSpPr>
        <p:spPr>
          <a:xfrm>
            <a:off x="4766733" y="273051"/>
            <a:ext cx="6815667" cy="5853114"/>
          </a:xfrm>
        </p:spPr>
        <p:txBody>
          <a:bodyPr/>
          <a:lstStyle>
            <a:lvl1pPr>
              <a:defRPr sz="2353"/>
            </a:lvl1pPr>
            <a:lvl2pPr>
              <a:defRPr sz="2059"/>
            </a:lvl2pPr>
            <a:lvl3pPr>
              <a:defRPr sz="1765"/>
            </a:lvl3pPr>
            <a:lvl4pPr>
              <a:defRPr sz="1471"/>
            </a:lvl4pPr>
            <a:lvl5pPr>
              <a:defRPr sz="1471"/>
            </a:lvl5pPr>
            <a:lvl6pPr>
              <a:defRPr sz="1471"/>
            </a:lvl6pPr>
            <a:lvl7pPr>
              <a:defRPr sz="1471"/>
            </a:lvl7pPr>
            <a:lvl8pPr>
              <a:defRPr sz="1471"/>
            </a:lvl8pPr>
            <a:lvl9pPr>
              <a:defRPr sz="14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030"/>
            </a:lvl1pPr>
            <a:lvl2pPr marL="336213" indent="0">
              <a:buNone/>
              <a:defRPr sz="882"/>
            </a:lvl2pPr>
            <a:lvl3pPr marL="672427" indent="0">
              <a:buNone/>
              <a:defRPr sz="735"/>
            </a:lvl3pPr>
            <a:lvl4pPr marL="1008640" indent="0">
              <a:buNone/>
              <a:defRPr sz="662"/>
            </a:lvl4pPr>
            <a:lvl5pPr marL="1344854" indent="0">
              <a:buNone/>
              <a:defRPr sz="662"/>
            </a:lvl5pPr>
            <a:lvl6pPr marL="1681067" indent="0">
              <a:buNone/>
              <a:defRPr sz="662"/>
            </a:lvl6pPr>
            <a:lvl7pPr marL="2017281" indent="0">
              <a:buNone/>
              <a:defRPr sz="662"/>
            </a:lvl7pPr>
            <a:lvl8pPr marL="2353494" indent="0">
              <a:buNone/>
              <a:defRPr sz="662"/>
            </a:lvl8pPr>
            <a:lvl9pPr marL="2689708"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0"/>
            <a:ext cx="7315200" cy="566739"/>
          </a:xfrm>
        </p:spPr>
        <p:txBody>
          <a:bodyPr anchor="b"/>
          <a:lstStyle>
            <a:lvl1pPr algn="l">
              <a:defRPr sz="1471"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2353"/>
            </a:lvl1pPr>
            <a:lvl2pPr marL="336213" indent="0">
              <a:buNone/>
              <a:defRPr sz="2059"/>
            </a:lvl2pPr>
            <a:lvl3pPr marL="672427" indent="0">
              <a:buNone/>
              <a:defRPr sz="1765"/>
            </a:lvl3pPr>
            <a:lvl4pPr marL="1008640" indent="0">
              <a:buNone/>
              <a:defRPr sz="1471"/>
            </a:lvl4pPr>
            <a:lvl5pPr marL="1344854" indent="0">
              <a:buNone/>
              <a:defRPr sz="1471"/>
            </a:lvl5pPr>
            <a:lvl6pPr marL="1681067" indent="0">
              <a:buNone/>
              <a:defRPr sz="1471"/>
            </a:lvl6pPr>
            <a:lvl7pPr marL="2017281" indent="0">
              <a:buNone/>
              <a:defRPr sz="1471"/>
            </a:lvl7pPr>
            <a:lvl8pPr marL="2353494" indent="0">
              <a:buNone/>
              <a:defRPr sz="1471"/>
            </a:lvl8pPr>
            <a:lvl9pPr marL="2689708" indent="0">
              <a:buNone/>
              <a:defRPr sz="1471"/>
            </a:lvl9pPr>
          </a:lstStyle>
          <a:p>
            <a:endParaRPr lang="en-US"/>
          </a:p>
        </p:txBody>
      </p:sp>
      <p:sp>
        <p:nvSpPr>
          <p:cNvPr id="4" name="Text Placeholder 3"/>
          <p:cNvSpPr>
            <a:spLocks noGrp="1"/>
          </p:cNvSpPr>
          <p:nvPr>
            <p:ph type="body" sz="half" idx="2"/>
          </p:nvPr>
        </p:nvSpPr>
        <p:spPr>
          <a:xfrm>
            <a:off x="2389718" y="5367339"/>
            <a:ext cx="7315200" cy="804862"/>
          </a:xfrm>
        </p:spPr>
        <p:txBody>
          <a:bodyPr/>
          <a:lstStyle>
            <a:lvl1pPr marL="0" indent="0">
              <a:buNone/>
              <a:defRPr sz="1030"/>
            </a:lvl1pPr>
            <a:lvl2pPr marL="336213" indent="0">
              <a:buNone/>
              <a:defRPr sz="882"/>
            </a:lvl2pPr>
            <a:lvl3pPr marL="672427" indent="0">
              <a:buNone/>
              <a:defRPr sz="735"/>
            </a:lvl3pPr>
            <a:lvl4pPr marL="1008640" indent="0">
              <a:buNone/>
              <a:defRPr sz="662"/>
            </a:lvl4pPr>
            <a:lvl5pPr marL="1344854" indent="0">
              <a:buNone/>
              <a:defRPr sz="662"/>
            </a:lvl5pPr>
            <a:lvl6pPr marL="1681067" indent="0">
              <a:buNone/>
              <a:defRPr sz="662"/>
            </a:lvl6pPr>
            <a:lvl7pPr marL="2017281" indent="0">
              <a:buNone/>
              <a:defRPr sz="662"/>
            </a:lvl7pPr>
            <a:lvl8pPr marL="2353494" indent="0">
              <a:buNone/>
              <a:defRPr sz="662"/>
            </a:lvl8pPr>
            <a:lvl9pPr marL="2689708"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1"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2"/>
            <a:ext cx="10972801"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882">
                <a:solidFill>
                  <a:schemeClr val="tx1">
                    <a:tint val="75000"/>
                  </a:schemeClr>
                </a:solidFill>
              </a:defRPr>
            </a:lvl1pPr>
          </a:lstStyle>
          <a:p>
            <a:fld id="{241EB5C9-1307-BA42-ABA2-0BC069CD8E7F}" type="datetimeFigureOut">
              <a:rPr lang="en-US" smtClean="0"/>
              <a:t>12/10/25</a:t>
            </a:fld>
            <a:endParaRPr lang="en-US"/>
          </a:p>
        </p:txBody>
      </p:sp>
      <p:sp>
        <p:nvSpPr>
          <p:cNvPr id="5" name="Footer Placeholder 4"/>
          <p:cNvSpPr>
            <a:spLocks noGrp="1"/>
          </p:cNvSpPr>
          <p:nvPr>
            <p:ph type="ftr" sz="quarter" idx="3"/>
          </p:nvPr>
        </p:nvSpPr>
        <p:spPr>
          <a:xfrm>
            <a:off x="4165601" y="6356351"/>
            <a:ext cx="3860800" cy="365125"/>
          </a:xfrm>
          <a:prstGeom prst="rect">
            <a:avLst/>
          </a:prstGeom>
        </p:spPr>
        <p:txBody>
          <a:bodyPr vert="horz" lIns="91440" tIns="45720" rIns="91440" bIns="45720" rtlCol="0" anchor="ctr"/>
          <a:lstStyle>
            <a:lvl1pPr algn="ctr">
              <a:defRPr sz="88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1" y="6356351"/>
            <a:ext cx="2844800" cy="365125"/>
          </a:xfrm>
          <a:prstGeom prst="rect">
            <a:avLst/>
          </a:prstGeom>
        </p:spPr>
        <p:txBody>
          <a:bodyPr vert="horz" lIns="91440" tIns="45720" rIns="91440" bIns="45720" rtlCol="0" anchor="ctr"/>
          <a:lstStyle>
            <a:lvl1pPr algn="r">
              <a:defRPr sz="882">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36213" rtl="0" eaLnBrk="1" latinLnBrk="0" hangingPunct="1">
        <a:spcBef>
          <a:spcPct val="0"/>
        </a:spcBef>
        <a:buNone/>
        <a:defRPr sz="4706" b="1" i="1" kern="1200">
          <a:solidFill>
            <a:schemeClr val="tx1"/>
          </a:solidFill>
          <a:latin typeface="Acumin Pro Condensed Semibold" panose="020B0506020202020204" pitchFamily="34" charset="77"/>
          <a:ea typeface="+mj-ea"/>
          <a:cs typeface="+mj-cs"/>
        </a:defRPr>
      </a:lvl1pPr>
    </p:titleStyle>
    <p:bodyStyle>
      <a:lvl1pPr marL="336213" indent="-336213" algn="l" defTabSz="336213" rtl="0" eaLnBrk="1" latinLnBrk="0" hangingPunct="1">
        <a:spcBef>
          <a:spcPct val="20000"/>
        </a:spcBef>
        <a:buFont typeface="Arial"/>
        <a:buChar char="•"/>
        <a:defRPr sz="2000" b="0" i="0" kern="1200">
          <a:solidFill>
            <a:schemeClr val="tx1"/>
          </a:solidFill>
          <a:latin typeface="Acumin Pro" panose="020B0504020202020204" pitchFamily="34" charset="77"/>
          <a:ea typeface="+mn-ea"/>
          <a:cs typeface="+mn-cs"/>
        </a:defRPr>
      </a:lvl1pPr>
      <a:lvl2pPr marL="672427" indent="-336213" algn="l" defTabSz="336213" rtl="0" eaLnBrk="1" latinLnBrk="0" hangingPunct="1">
        <a:spcBef>
          <a:spcPct val="20000"/>
        </a:spcBef>
        <a:buFont typeface="Arial"/>
        <a:buChar char="–"/>
        <a:defRPr sz="1800" b="0" i="0" kern="1200">
          <a:solidFill>
            <a:schemeClr val="tx1"/>
          </a:solidFill>
          <a:latin typeface="Acumin Pro" panose="020B0504020202020204" pitchFamily="34" charset="77"/>
          <a:ea typeface="+mn-ea"/>
          <a:cs typeface="+mn-cs"/>
        </a:defRPr>
      </a:lvl2pPr>
      <a:lvl3pPr marL="1008640" indent="-336213" algn="l" defTabSz="336213" rtl="0" eaLnBrk="1" latinLnBrk="0" hangingPunct="1">
        <a:spcBef>
          <a:spcPct val="20000"/>
        </a:spcBef>
        <a:buFont typeface="Arial"/>
        <a:buChar char="•"/>
        <a:defRPr sz="1600" b="0" i="0" kern="1200">
          <a:solidFill>
            <a:schemeClr val="tx1"/>
          </a:solidFill>
          <a:latin typeface="Acumin Pro" panose="020B0504020202020204" pitchFamily="34" charset="77"/>
          <a:ea typeface="+mn-ea"/>
          <a:cs typeface="+mn-cs"/>
        </a:defRPr>
      </a:lvl3pPr>
      <a:lvl4pPr marL="1344854" indent="-336213" algn="l" defTabSz="336213" rtl="0" eaLnBrk="1" latinLnBrk="0" hangingPunct="1">
        <a:spcBef>
          <a:spcPct val="20000"/>
        </a:spcBef>
        <a:buFont typeface="Arial"/>
        <a:buChar char="–"/>
        <a:defRPr sz="1400" b="0" i="0" kern="1200">
          <a:solidFill>
            <a:schemeClr val="tx1"/>
          </a:solidFill>
          <a:latin typeface="Acumin Pro" panose="020B0504020202020204" pitchFamily="34" charset="77"/>
          <a:ea typeface="+mn-ea"/>
          <a:cs typeface="+mn-cs"/>
        </a:defRPr>
      </a:lvl4pPr>
      <a:lvl5pPr marL="1681067" indent="-336213" algn="l" defTabSz="336213" rtl="0" eaLnBrk="1" latinLnBrk="0" hangingPunct="1">
        <a:spcBef>
          <a:spcPct val="20000"/>
        </a:spcBef>
        <a:buFont typeface="Arial"/>
        <a:buChar char="»"/>
        <a:defRPr sz="1200" b="0" i="0" kern="1200">
          <a:solidFill>
            <a:schemeClr val="tx1"/>
          </a:solidFill>
          <a:latin typeface="Acumin Pro" panose="020B0504020202020204" pitchFamily="34" charset="77"/>
          <a:ea typeface="+mn-ea"/>
          <a:cs typeface="+mn-cs"/>
        </a:defRPr>
      </a:lvl5pPr>
      <a:lvl6pPr marL="2017281" indent="-336213" algn="l" defTabSz="336213" rtl="0" eaLnBrk="1" latinLnBrk="0" hangingPunct="1">
        <a:spcBef>
          <a:spcPct val="20000"/>
        </a:spcBef>
        <a:buFont typeface="Arial"/>
        <a:buChar char="•"/>
        <a:defRPr sz="1471" kern="1200">
          <a:solidFill>
            <a:schemeClr val="tx1"/>
          </a:solidFill>
          <a:latin typeface="+mn-lt"/>
          <a:ea typeface="+mn-ea"/>
          <a:cs typeface="+mn-cs"/>
        </a:defRPr>
      </a:lvl6pPr>
      <a:lvl7pPr marL="2353494" indent="-336213" algn="l" defTabSz="336213" rtl="0" eaLnBrk="1" latinLnBrk="0" hangingPunct="1">
        <a:spcBef>
          <a:spcPct val="20000"/>
        </a:spcBef>
        <a:buFont typeface="Arial"/>
        <a:buChar char="•"/>
        <a:defRPr sz="1471" kern="1200">
          <a:solidFill>
            <a:schemeClr val="tx1"/>
          </a:solidFill>
          <a:latin typeface="+mn-lt"/>
          <a:ea typeface="+mn-ea"/>
          <a:cs typeface="+mn-cs"/>
        </a:defRPr>
      </a:lvl7pPr>
      <a:lvl8pPr marL="2689708" indent="-336213" algn="l" defTabSz="336213" rtl="0" eaLnBrk="1" latinLnBrk="0" hangingPunct="1">
        <a:spcBef>
          <a:spcPct val="20000"/>
        </a:spcBef>
        <a:buFont typeface="Arial"/>
        <a:buChar char="•"/>
        <a:defRPr sz="1471" kern="1200">
          <a:solidFill>
            <a:schemeClr val="tx1"/>
          </a:solidFill>
          <a:latin typeface="+mn-lt"/>
          <a:ea typeface="+mn-ea"/>
          <a:cs typeface="+mn-cs"/>
        </a:defRPr>
      </a:lvl8pPr>
      <a:lvl9pPr marL="3025921" indent="-336213" algn="l" defTabSz="336213" rtl="0" eaLnBrk="1" latinLnBrk="0" hangingPunct="1">
        <a:spcBef>
          <a:spcPct val="20000"/>
        </a:spcBef>
        <a:buFont typeface="Arial"/>
        <a:buChar char="•"/>
        <a:defRPr sz="1471" kern="1200">
          <a:solidFill>
            <a:schemeClr val="tx1"/>
          </a:solidFill>
          <a:latin typeface="+mn-lt"/>
          <a:ea typeface="+mn-ea"/>
          <a:cs typeface="+mn-cs"/>
        </a:defRPr>
      </a:lvl9pPr>
    </p:bodyStyle>
    <p:otherStyle>
      <a:defPPr>
        <a:defRPr lang="en-US"/>
      </a:defPPr>
      <a:lvl1pPr marL="0" algn="l" defTabSz="336213" rtl="0" eaLnBrk="1" latinLnBrk="0" hangingPunct="1">
        <a:defRPr sz="1324" kern="1200">
          <a:solidFill>
            <a:schemeClr val="tx1"/>
          </a:solidFill>
          <a:latin typeface="+mn-lt"/>
          <a:ea typeface="+mn-ea"/>
          <a:cs typeface="+mn-cs"/>
        </a:defRPr>
      </a:lvl1pPr>
      <a:lvl2pPr marL="336213" algn="l" defTabSz="336213" rtl="0" eaLnBrk="1" latinLnBrk="0" hangingPunct="1">
        <a:defRPr sz="1324" kern="1200">
          <a:solidFill>
            <a:schemeClr val="tx1"/>
          </a:solidFill>
          <a:latin typeface="+mn-lt"/>
          <a:ea typeface="+mn-ea"/>
          <a:cs typeface="+mn-cs"/>
        </a:defRPr>
      </a:lvl2pPr>
      <a:lvl3pPr marL="672427" algn="l" defTabSz="336213" rtl="0" eaLnBrk="1" latinLnBrk="0" hangingPunct="1">
        <a:defRPr sz="1324" kern="1200">
          <a:solidFill>
            <a:schemeClr val="tx1"/>
          </a:solidFill>
          <a:latin typeface="+mn-lt"/>
          <a:ea typeface="+mn-ea"/>
          <a:cs typeface="+mn-cs"/>
        </a:defRPr>
      </a:lvl3pPr>
      <a:lvl4pPr marL="1008640" algn="l" defTabSz="336213" rtl="0" eaLnBrk="1" latinLnBrk="0" hangingPunct="1">
        <a:defRPr sz="1324" kern="1200">
          <a:solidFill>
            <a:schemeClr val="tx1"/>
          </a:solidFill>
          <a:latin typeface="+mn-lt"/>
          <a:ea typeface="+mn-ea"/>
          <a:cs typeface="+mn-cs"/>
        </a:defRPr>
      </a:lvl4pPr>
      <a:lvl5pPr marL="1344854" algn="l" defTabSz="336213" rtl="0" eaLnBrk="1" latinLnBrk="0" hangingPunct="1">
        <a:defRPr sz="1324" kern="1200">
          <a:solidFill>
            <a:schemeClr val="tx1"/>
          </a:solidFill>
          <a:latin typeface="+mn-lt"/>
          <a:ea typeface="+mn-ea"/>
          <a:cs typeface="+mn-cs"/>
        </a:defRPr>
      </a:lvl5pPr>
      <a:lvl6pPr marL="1681067" algn="l" defTabSz="336213" rtl="0" eaLnBrk="1" latinLnBrk="0" hangingPunct="1">
        <a:defRPr sz="1324" kern="1200">
          <a:solidFill>
            <a:schemeClr val="tx1"/>
          </a:solidFill>
          <a:latin typeface="+mn-lt"/>
          <a:ea typeface="+mn-ea"/>
          <a:cs typeface="+mn-cs"/>
        </a:defRPr>
      </a:lvl6pPr>
      <a:lvl7pPr marL="2017281" algn="l" defTabSz="336213" rtl="0" eaLnBrk="1" latinLnBrk="0" hangingPunct="1">
        <a:defRPr sz="1324" kern="1200">
          <a:solidFill>
            <a:schemeClr val="tx1"/>
          </a:solidFill>
          <a:latin typeface="+mn-lt"/>
          <a:ea typeface="+mn-ea"/>
          <a:cs typeface="+mn-cs"/>
        </a:defRPr>
      </a:lvl7pPr>
      <a:lvl8pPr marL="2353494" algn="l" defTabSz="336213" rtl="0" eaLnBrk="1" latinLnBrk="0" hangingPunct="1">
        <a:defRPr sz="1324" kern="1200">
          <a:solidFill>
            <a:schemeClr val="tx1"/>
          </a:solidFill>
          <a:latin typeface="+mn-lt"/>
          <a:ea typeface="+mn-ea"/>
          <a:cs typeface="+mn-cs"/>
        </a:defRPr>
      </a:lvl8pPr>
      <a:lvl9pPr marL="2689708" algn="l" defTabSz="336213" rtl="0" eaLnBrk="1" latinLnBrk="0" hangingPunct="1">
        <a:defRPr sz="132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1208" y="1536192"/>
            <a:ext cx="10363200" cy="739773"/>
          </a:xfrm>
        </p:spPr>
        <p:txBody>
          <a:bodyPr/>
          <a:lstStyle/>
          <a:p>
            <a:pPr marL="0" lvl="0" indent="0">
              <a:buNone/>
            </a:pPr>
            <a:r>
              <a:t>Cloud Platform Comparison - AWS, Azure, and GCP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The Cloud Computing Landscape</a:t>
            </a:r>
          </a:p>
        </p:txBody>
      </p:sp>
      <p:sp>
        <p:nvSpPr>
          <p:cNvPr id="3" name="Content Placeholder 2"/>
          <p:cNvSpPr>
            <a:spLocks noGrp="1"/>
          </p:cNvSpPr>
          <p:nvPr>
            <p:ph idx="1"/>
          </p:nvPr>
        </p:nvSpPr>
        <p:spPr/>
        <p:txBody>
          <a:bodyPr>
            <a:normAutofit lnSpcReduction="10000"/>
          </a:bodyPr>
          <a:lstStyle/>
          <a:p>
            <a:pPr lvl="0"/>
            <a:r>
              <a:rPr b="1" dirty="0"/>
              <a:t>Three dominant players control ~65-68% of the market</a:t>
            </a:r>
          </a:p>
          <a:p>
            <a:pPr lvl="0"/>
            <a:r>
              <a:rPr dirty="0"/>
              <a:t>Amazon Web Services (AWS): 31% market share</a:t>
            </a:r>
          </a:p>
          <a:p>
            <a:pPr lvl="0"/>
            <a:r>
              <a:rPr dirty="0"/>
              <a:t>Microsoft Azure: 25% market share</a:t>
            </a:r>
          </a:p>
          <a:p>
            <a:pPr lvl="0"/>
            <a:r>
              <a:rPr dirty="0"/>
              <a:t>Google Cloud Platform (GCP): 11% market share</a:t>
            </a:r>
          </a:p>
          <a:p>
            <a:pPr lvl="0"/>
            <a:r>
              <a:rPr b="1" dirty="0"/>
              <a:t>All three offer similar core services:</a:t>
            </a:r>
          </a:p>
          <a:p>
            <a:pPr lvl="1"/>
            <a:r>
              <a:rPr dirty="0"/>
              <a:t>Compute (VMs, containers, serverless)</a:t>
            </a:r>
          </a:p>
          <a:p>
            <a:pPr lvl="1"/>
            <a:r>
              <a:rPr dirty="0"/>
              <a:t>Storage (object, block, file)</a:t>
            </a:r>
          </a:p>
          <a:p>
            <a:pPr lvl="1"/>
            <a:r>
              <a:rPr dirty="0"/>
              <a:t>Databases (relational, NoSQL, data warehouses)</a:t>
            </a:r>
          </a:p>
          <a:p>
            <a:pPr lvl="1"/>
            <a:r>
              <a:rPr dirty="0"/>
              <a:t>Networking, security, AI/ML tools</a:t>
            </a:r>
          </a:p>
          <a:p>
            <a:pPr lvl="0"/>
            <a:r>
              <a:rPr b="1" dirty="0"/>
              <a:t>Key differences lie in:</a:t>
            </a:r>
          </a:p>
          <a:p>
            <a:pPr lvl="1"/>
            <a:r>
              <a:rPr dirty="0"/>
              <a:t>Maturity and breadth of services</a:t>
            </a:r>
          </a:p>
          <a:p>
            <a:pPr lvl="1"/>
            <a:r>
              <a:rPr dirty="0"/>
              <a:t>Pricing models and cost optimization</a:t>
            </a:r>
          </a:p>
          <a:p>
            <a:pPr lvl="1"/>
            <a:r>
              <a:rPr dirty="0"/>
              <a:t>Integration with existing ecosystems</a:t>
            </a:r>
          </a:p>
          <a:p>
            <a:pPr lvl="1"/>
            <a:r>
              <a:rPr dirty="0"/>
              <a:t>Enterprise relationships and support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Amazon Web Services (AWS)</a:t>
            </a:r>
          </a:p>
        </p:txBody>
      </p:sp>
      <p:sp>
        <p:nvSpPr>
          <p:cNvPr id="3" name="Content Placeholder 2"/>
          <p:cNvSpPr>
            <a:spLocks noGrp="1"/>
          </p:cNvSpPr>
          <p:nvPr>
            <p:ph idx="1"/>
          </p:nvPr>
        </p:nvSpPr>
        <p:spPr/>
        <p:txBody>
          <a:bodyPr/>
          <a:lstStyle/>
          <a:p>
            <a:pPr lvl="0"/>
            <a:r>
              <a:rPr b="1" dirty="0"/>
              <a:t>Strengths:</a:t>
            </a:r>
          </a:p>
          <a:p>
            <a:pPr lvl="1"/>
            <a:r>
              <a:rPr dirty="0"/>
              <a:t>Market leader with most mature platform (launched 2006)</a:t>
            </a:r>
          </a:p>
          <a:p>
            <a:pPr lvl="1"/>
            <a:r>
              <a:rPr dirty="0"/>
              <a:t>Broadest service catalog (200+ services)</a:t>
            </a:r>
          </a:p>
          <a:p>
            <a:pPr lvl="1"/>
            <a:r>
              <a:rPr dirty="0"/>
              <a:t>Largest global infrastructure (33 regions, 105 availability zones)</a:t>
            </a:r>
          </a:p>
          <a:p>
            <a:pPr lvl="1"/>
            <a:r>
              <a:rPr dirty="0"/>
              <a:t>Most extensive third-party integrations and marketplace</a:t>
            </a:r>
          </a:p>
          <a:p>
            <a:pPr lvl="1"/>
            <a:r>
              <a:rPr dirty="0"/>
              <a:t>Rich ecosystem of training materials and certifications</a:t>
            </a:r>
          </a:p>
          <a:p>
            <a:pPr lvl="1"/>
            <a:r>
              <a:rPr dirty="0"/>
              <a:t>Strong serverless offerings (Lambda, DynamoDB, etc.)</a:t>
            </a:r>
          </a:p>
          <a:p>
            <a:pPr lvl="0"/>
            <a:r>
              <a:rPr b="1" dirty="0"/>
              <a:t>Weaknesses:</a:t>
            </a:r>
          </a:p>
          <a:p>
            <a:pPr lvl="1"/>
            <a:r>
              <a:rPr dirty="0"/>
              <a:t>Steeper learning curve due to service breadth</a:t>
            </a:r>
          </a:p>
          <a:p>
            <a:pPr lvl="1"/>
            <a:r>
              <a:rPr dirty="0"/>
              <a:t>Complex pricing can lead to unexpected costs</a:t>
            </a:r>
          </a:p>
          <a:p>
            <a:pPr lvl="1"/>
            <a:r>
              <a:rPr dirty="0"/>
              <a:t>Rapidly deprecating services can create technical debt</a:t>
            </a:r>
          </a:p>
          <a:p>
            <a:pPr lvl="1"/>
            <a:r>
              <a:rPr dirty="0"/>
              <a:t>Less integration with non-AWS enterprise tools</a:t>
            </a:r>
          </a:p>
          <a:p>
            <a:pPr lvl="1"/>
            <a:r>
              <a:rPr dirty="0"/>
              <a:t>UI/console can feel dated compared to competitors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Microsoft Azure</a:t>
            </a:r>
          </a:p>
        </p:txBody>
      </p:sp>
      <p:sp>
        <p:nvSpPr>
          <p:cNvPr id="3" name="Content Placeholder 2"/>
          <p:cNvSpPr>
            <a:spLocks noGrp="1"/>
          </p:cNvSpPr>
          <p:nvPr>
            <p:ph idx="1"/>
          </p:nvPr>
        </p:nvSpPr>
        <p:spPr/>
        <p:txBody>
          <a:bodyPr/>
          <a:lstStyle/>
          <a:p>
            <a:pPr lvl="0"/>
            <a:r>
              <a:rPr b="1" dirty="0"/>
              <a:t>Strengths:</a:t>
            </a:r>
          </a:p>
          <a:p>
            <a:pPr lvl="1"/>
            <a:r>
              <a:rPr dirty="0"/>
              <a:t>Best integration with Microsoft ecosystem (Office 365, Active Directory, Windows Server)</a:t>
            </a:r>
          </a:p>
          <a:p>
            <a:pPr lvl="1"/>
            <a:r>
              <a:rPr dirty="0"/>
              <a:t>Strong hybrid cloud capabilities (Azure Arc, Azure Stack)</a:t>
            </a:r>
          </a:p>
          <a:p>
            <a:pPr lvl="1"/>
            <a:r>
              <a:rPr dirty="0"/>
              <a:t>Extensive compliance certifications for regulated industries</a:t>
            </a:r>
          </a:p>
          <a:p>
            <a:pPr lvl="1"/>
            <a:r>
              <a:rPr dirty="0"/>
              <a:t>Enterprise-friendly with existing Microsoft relationships</a:t>
            </a:r>
          </a:p>
          <a:p>
            <a:pPr lvl="1"/>
            <a:r>
              <a:rPr dirty="0"/>
              <a:t>Excellent documentation and developer experience</a:t>
            </a:r>
          </a:p>
          <a:p>
            <a:pPr lvl="1"/>
            <a:r>
              <a:rPr dirty="0"/>
              <a:t>Strong support for Windows-based workloads and .NET</a:t>
            </a:r>
          </a:p>
          <a:p>
            <a:pPr lvl="0"/>
            <a:r>
              <a:rPr b="1" dirty="0"/>
              <a:t>Weaknesses:</a:t>
            </a:r>
          </a:p>
          <a:p>
            <a:pPr lvl="1"/>
            <a:r>
              <a:rPr dirty="0"/>
              <a:t>Smaller service catalog than AWS (fewer specialized services)</a:t>
            </a:r>
          </a:p>
          <a:p>
            <a:pPr lvl="1"/>
            <a:r>
              <a:rPr dirty="0"/>
              <a:t>Less mature services in some areas</a:t>
            </a:r>
          </a:p>
          <a:p>
            <a:pPr lvl="1"/>
            <a:r>
              <a:rPr dirty="0"/>
              <a:t>Smaller third-party ecosystem</a:t>
            </a:r>
          </a:p>
          <a:p>
            <a:pPr lvl="1"/>
            <a:r>
              <a:rPr dirty="0"/>
              <a:t>Linux support improving but historically Windows-focused</a:t>
            </a:r>
          </a:p>
          <a:p>
            <a:pPr lvl="1"/>
            <a:r>
              <a:rPr dirty="0"/>
              <a:t>Complex licensing can be confusing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Google Cloud Platform (GCP)</a:t>
            </a:r>
          </a:p>
        </p:txBody>
      </p:sp>
      <p:sp>
        <p:nvSpPr>
          <p:cNvPr id="3" name="Content Placeholder 2"/>
          <p:cNvSpPr>
            <a:spLocks noGrp="1"/>
          </p:cNvSpPr>
          <p:nvPr>
            <p:ph idx="1"/>
          </p:nvPr>
        </p:nvSpPr>
        <p:spPr/>
        <p:txBody>
          <a:bodyPr/>
          <a:lstStyle/>
          <a:p>
            <a:pPr lvl="0"/>
            <a:r>
              <a:rPr b="1"/>
              <a:t>Strengths:</a:t>
            </a:r>
          </a:p>
          <a:p>
            <a:pPr lvl="1"/>
            <a:r>
              <a:t>Best data analytics tools (BigQuery, Dataflow, Pub/Sub)</a:t>
            </a:r>
          </a:p>
          <a:p>
            <a:pPr lvl="1"/>
            <a:r>
              <a:t>Leading AI/ML platform (TensorFlow, Vertex AI, TPUs)</a:t>
            </a:r>
          </a:p>
          <a:p>
            <a:pPr lvl="1"/>
            <a:r>
              <a:t>Most developer-friendly with clean interfaces</a:t>
            </a:r>
          </a:p>
          <a:p>
            <a:pPr lvl="1"/>
            <a:r>
              <a:t>Superior Kubernetes support (GKE - Google invented K8s)</a:t>
            </a:r>
          </a:p>
          <a:p>
            <a:pPr lvl="1"/>
            <a:r>
              <a:t>Strong on networking and performance</a:t>
            </a:r>
          </a:p>
          <a:p>
            <a:pPr lvl="1"/>
            <a:r>
              <a:t>Excellent open-source contributions and leadership</a:t>
            </a:r>
          </a:p>
          <a:p>
            <a:pPr lvl="0"/>
            <a:r>
              <a:rPr b="1"/>
              <a:t>Weaknesses:</a:t>
            </a:r>
          </a:p>
          <a:p>
            <a:pPr lvl="1"/>
            <a:r>
              <a:t>Smallest market share and enterprise footprint</a:t>
            </a:r>
          </a:p>
          <a:p>
            <a:pPr lvl="1"/>
            <a:r>
              <a:t>Fewer services overall than AWS or Azure</a:t>
            </a:r>
          </a:p>
          <a:p>
            <a:pPr lvl="1"/>
            <a:r>
              <a:t>Less mature in some traditional enterprise areas</a:t>
            </a:r>
          </a:p>
          <a:p>
            <a:pPr lvl="1"/>
            <a:r>
              <a:t>Fewer geographic regions than AWS</a:t>
            </a:r>
          </a:p>
          <a:p>
            <a:pPr lvl="1"/>
            <a:r>
              <a:t>Perceived as less stable (Google’s history of discontinuing products)</a:t>
            </a:r>
          </a:p>
          <a:p>
            <a:pPr lvl="1"/>
            <a:r>
              <a:t>Smaller partner ecosystem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Business Models and Pricing</a:t>
            </a:r>
          </a:p>
        </p:txBody>
      </p:sp>
      <p:sp>
        <p:nvSpPr>
          <p:cNvPr id="3" name="Content Placeholder 2"/>
          <p:cNvSpPr>
            <a:spLocks noGrp="1"/>
          </p:cNvSpPr>
          <p:nvPr>
            <p:ph idx="1"/>
          </p:nvPr>
        </p:nvSpPr>
        <p:spPr/>
        <p:txBody>
          <a:bodyPr>
            <a:normAutofit lnSpcReduction="10000"/>
          </a:bodyPr>
          <a:lstStyle/>
          <a:p>
            <a:pPr lvl="0"/>
            <a:r>
              <a:rPr b="1"/>
              <a:t>AWS: Pioneer pricing model</a:t>
            </a:r>
          </a:p>
          <a:p>
            <a:pPr lvl="1"/>
            <a:r>
              <a:t>Pay-as-you-go with per-second billing</a:t>
            </a:r>
          </a:p>
          <a:p>
            <a:pPr lvl="1"/>
            <a:r>
              <a:t>Reserved Instances for 1-3 year commitments (up to 75% discount)</a:t>
            </a:r>
          </a:p>
          <a:p>
            <a:pPr lvl="1"/>
            <a:r>
              <a:t>Spot Instances for deep discounts on spare capacity</a:t>
            </a:r>
          </a:p>
          <a:p>
            <a:pPr lvl="1"/>
            <a:r>
              <a:t>Most complex pricing with hidden costs</a:t>
            </a:r>
          </a:p>
          <a:p>
            <a:pPr lvl="0"/>
            <a:r>
              <a:rPr b="1"/>
              <a:t>Azure: Enterprise-friendly discounts</a:t>
            </a:r>
          </a:p>
          <a:p>
            <a:pPr lvl="1"/>
            <a:r>
              <a:t>Similar to AWS but with enterprise agreements</a:t>
            </a:r>
          </a:p>
          <a:p>
            <a:pPr lvl="1"/>
            <a:r>
              <a:t>Azure Hybrid Benefit leverages existing Microsoft licenses</a:t>
            </a:r>
          </a:p>
          <a:p>
            <a:pPr lvl="1"/>
            <a:r>
              <a:t>Typically cheaper for Windows workloads</a:t>
            </a:r>
          </a:p>
          <a:p>
            <a:pPr lvl="1"/>
            <a:r>
              <a:t>More straightforward enterprise negotiations</a:t>
            </a:r>
          </a:p>
          <a:p>
            <a:pPr lvl="0"/>
            <a:r>
              <a:rPr b="1"/>
              <a:t>GCP: Sustained use discounts</a:t>
            </a:r>
          </a:p>
          <a:p>
            <a:pPr lvl="1"/>
            <a:r>
              <a:t>Automatic discounts for sustained use (no commitment needed)</a:t>
            </a:r>
          </a:p>
          <a:p>
            <a:pPr lvl="1"/>
            <a:r>
              <a:t>Committed use contracts for additional savings</a:t>
            </a:r>
          </a:p>
          <a:p>
            <a:pPr lvl="1"/>
            <a:r>
              <a:t>Generally simpler pricing structure</a:t>
            </a:r>
          </a:p>
          <a:p>
            <a:pPr lvl="1"/>
            <a:r>
              <a:t>More competitive on compute pricing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Artificial Intelligence and Machine Learning - AWS</a:t>
            </a:r>
          </a:p>
        </p:txBody>
      </p:sp>
      <p:sp>
        <p:nvSpPr>
          <p:cNvPr id="3" name="Content Placeholder 2"/>
          <p:cNvSpPr>
            <a:spLocks noGrp="1"/>
          </p:cNvSpPr>
          <p:nvPr>
            <p:ph idx="1"/>
          </p:nvPr>
        </p:nvSpPr>
        <p:spPr/>
        <p:txBody>
          <a:bodyPr/>
          <a:lstStyle/>
          <a:p>
            <a:pPr lvl="0"/>
            <a:r>
              <a:rPr b="1"/>
              <a:t>AWS AI/ML Services:</a:t>
            </a:r>
          </a:p>
          <a:p>
            <a:pPr lvl="1"/>
            <a:r>
              <a:rPr b="1"/>
              <a:t>SageMaker</a:t>
            </a:r>
            <a:r>
              <a:t>: Comprehensive ML platform for building, training, and deploying models</a:t>
            </a:r>
          </a:p>
          <a:p>
            <a:pPr lvl="1"/>
            <a:r>
              <a:rPr b="1"/>
              <a:t>Bedrock</a:t>
            </a:r>
            <a:r>
              <a:t>: Managed service for foundation models (Claude, Llama, Stable Diffusion, etc.)</a:t>
            </a:r>
          </a:p>
          <a:p>
            <a:pPr lvl="1"/>
            <a:r>
              <a:rPr b="1"/>
              <a:t>Rekognition</a:t>
            </a:r>
            <a:r>
              <a:t>: Image and video analysis</a:t>
            </a:r>
          </a:p>
          <a:p>
            <a:pPr lvl="1"/>
            <a:r>
              <a:rPr b="1"/>
              <a:t>Comprehend</a:t>
            </a:r>
            <a:r>
              <a:t>: Natural language processing</a:t>
            </a:r>
          </a:p>
          <a:p>
            <a:pPr lvl="1"/>
            <a:r>
              <a:rPr b="1"/>
              <a:t>Polly/Transcribe</a:t>
            </a:r>
            <a:r>
              <a:t>: Text-to-speech and speech-to-text</a:t>
            </a:r>
          </a:p>
          <a:p>
            <a:pPr lvl="1"/>
            <a:r>
              <a:rPr b="1"/>
              <a:t>CodeWhisperer</a:t>
            </a:r>
            <a:r>
              <a:t>: AI coding assistant</a:t>
            </a:r>
          </a:p>
          <a:p>
            <a:pPr lvl="0"/>
            <a:r>
              <a:rPr b="1"/>
              <a:t>Strengths:</a:t>
            </a:r>
            <a:r>
              <a:t> Broad service catalog, strong enterprise adoption, Bedrock offers multiple models</a:t>
            </a:r>
          </a:p>
          <a:p>
            <a:pPr lvl="0"/>
            <a:r>
              <a:rPr b="1"/>
              <a:t>Weaknesses:</a:t>
            </a:r>
            <a:r>
              <a:t> Not seen as AI innovation leader, more of a platform provider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Artificial Intelligence and Machine Learning - Azure</a:t>
            </a:r>
          </a:p>
        </p:txBody>
      </p:sp>
      <p:sp>
        <p:nvSpPr>
          <p:cNvPr id="3" name="Content Placeholder 2"/>
          <p:cNvSpPr>
            <a:spLocks noGrp="1"/>
          </p:cNvSpPr>
          <p:nvPr>
            <p:ph idx="1"/>
          </p:nvPr>
        </p:nvSpPr>
        <p:spPr/>
        <p:txBody>
          <a:bodyPr/>
          <a:lstStyle/>
          <a:p>
            <a:pPr lvl="0"/>
            <a:r>
              <a:rPr b="1"/>
              <a:t>Azure AI Services:</a:t>
            </a:r>
          </a:p>
          <a:p>
            <a:pPr lvl="1"/>
            <a:r>
              <a:rPr b="1"/>
              <a:t>Azure OpenAI Service</a:t>
            </a:r>
            <a:r>
              <a:t>: First to market access to latest OpenAI models and DALL-E (enterprise version)</a:t>
            </a:r>
          </a:p>
          <a:p>
            <a:pPr lvl="1"/>
            <a:r>
              <a:rPr b="1"/>
              <a:t>Azure Machine Learning</a:t>
            </a:r>
            <a:r>
              <a:t>: End-to-end ML platform similar to SageMaker</a:t>
            </a:r>
          </a:p>
          <a:p>
            <a:pPr lvl="1"/>
            <a:r>
              <a:rPr b="1"/>
              <a:t>Cognitive Services</a:t>
            </a:r>
            <a:r>
              <a:t>: Pre-built AI for vision, speech, language, decision</a:t>
            </a:r>
          </a:p>
          <a:p>
            <a:pPr lvl="1"/>
            <a:r>
              <a:rPr b="1"/>
              <a:t>Azure AI Studio</a:t>
            </a:r>
            <a:r>
              <a:t>: Unified development environment for AI applications</a:t>
            </a:r>
          </a:p>
          <a:p>
            <a:pPr lvl="1"/>
            <a:r>
              <a:rPr b="1"/>
              <a:t>GitHub Copilot</a:t>
            </a:r>
            <a:r>
              <a:t>: AI pair programmer (Microsoft owns GitHub)</a:t>
            </a:r>
          </a:p>
          <a:p>
            <a:pPr lvl="0"/>
            <a:r>
              <a:rPr b="1"/>
              <a:t>Strengths:</a:t>
            </a:r>
            <a:r>
              <a:t> OpenAI partnership (?), strong enterprise features, integrated with Microsoft ecosystem, government contracts</a:t>
            </a:r>
          </a:p>
          <a:p>
            <a:pPr lvl="0"/>
            <a:r>
              <a:rPr b="1"/>
              <a:t>Weaknesses:</a:t>
            </a:r>
            <a:r>
              <a:t> OpenAI partnership creates dependency, expensive at scale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Artificial Intelligence and Machine Learning - GCP</a:t>
            </a:r>
          </a:p>
        </p:txBody>
      </p:sp>
      <p:sp>
        <p:nvSpPr>
          <p:cNvPr id="3" name="Content Placeholder 2"/>
          <p:cNvSpPr>
            <a:spLocks noGrp="1"/>
          </p:cNvSpPr>
          <p:nvPr>
            <p:ph idx="1"/>
          </p:nvPr>
        </p:nvSpPr>
        <p:spPr/>
        <p:txBody>
          <a:bodyPr/>
          <a:lstStyle/>
          <a:p>
            <a:pPr lvl="0"/>
            <a:r>
              <a:rPr b="1"/>
              <a:t>Google Cloud AI Services:</a:t>
            </a:r>
          </a:p>
          <a:p>
            <a:pPr lvl="1"/>
            <a:r>
              <a:rPr b="1"/>
              <a:t>Vertex AI</a:t>
            </a:r>
            <a:r>
              <a:t>: Unified ML platform, built on TensorFlow and JAX</a:t>
            </a:r>
          </a:p>
          <a:p>
            <a:pPr lvl="1"/>
            <a:r>
              <a:rPr b="1"/>
              <a:t>TPUs (Tensor Processing Units)</a:t>
            </a:r>
            <a:r>
              <a:t>: Custom ML hardware, industry-leading performance</a:t>
            </a:r>
          </a:p>
          <a:p>
            <a:pPr lvl="1"/>
            <a:r>
              <a:rPr b="1"/>
              <a:t>Gemini API</a:t>
            </a:r>
            <a:r>
              <a:t>: Google’s foundation model (formerly Bard)</a:t>
            </a:r>
          </a:p>
          <a:p>
            <a:pPr lvl="1"/>
            <a:r>
              <a:rPr b="1"/>
              <a:t>Pre-trained APIs</a:t>
            </a:r>
            <a:r>
              <a:t>: Vision AI, Speech-to-Text, Translation, Natural Language</a:t>
            </a:r>
          </a:p>
          <a:p>
            <a:pPr lvl="1"/>
            <a:r>
              <a:rPr b="1"/>
              <a:t>AutoML</a:t>
            </a:r>
            <a:r>
              <a:t>: Build custom models with minimal ML expertise</a:t>
            </a:r>
          </a:p>
          <a:p>
            <a:pPr lvl="1"/>
            <a:r>
              <a:rPr b="1"/>
              <a:t>BigQuery ML</a:t>
            </a:r>
            <a:r>
              <a:t>: Machine learning directly on data warehouse data</a:t>
            </a:r>
          </a:p>
          <a:p>
            <a:pPr lvl="0"/>
            <a:r>
              <a:rPr b="1"/>
              <a:t>Strengths:</a:t>
            </a:r>
            <a:r>
              <a:t> Deepest ML expertise, best infrastructure for training, strong open-source leadership, excellent for custom models</a:t>
            </a:r>
          </a:p>
          <a:p>
            <a:pPr lvl="0"/>
            <a:r>
              <a:rPr b="1"/>
              <a:t>Weaknesses:</a:t>
            </a:r>
            <a:r>
              <a:t> Gemini not as popular as GPT-4/5, smaller ecosystem, enterprise adoption lags behind AWS/Azure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Other Cloud Providers Worth Knowing</a:t>
            </a:r>
          </a:p>
        </p:txBody>
      </p:sp>
      <p:sp>
        <p:nvSpPr>
          <p:cNvPr id="3" name="Content Placeholder 2"/>
          <p:cNvSpPr>
            <a:spLocks noGrp="1"/>
          </p:cNvSpPr>
          <p:nvPr>
            <p:ph idx="1"/>
          </p:nvPr>
        </p:nvSpPr>
        <p:spPr/>
        <p:txBody>
          <a:bodyPr>
            <a:normAutofit fontScale="92500" lnSpcReduction="10000"/>
          </a:bodyPr>
          <a:lstStyle/>
          <a:p>
            <a:pPr lvl="0"/>
            <a:r>
              <a:rPr b="1" dirty="0"/>
              <a:t>Oracle Cloud Infrastructure (OCI):</a:t>
            </a:r>
          </a:p>
          <a:p>
            <a:pPr lvl="1"/>
            <a:r>
              <a:rPr dirty="0"/>
              <a:t>Strong for Oracle database workloads</a:t>
            </a:r>
          </a:p>
          <a:p>
            <a:pPr lvl="1"/>
            <a:r>
              <a:rPr dirty="0"/>
              <a:t>Aggressive pricing to compete with big three</a:t>
            </a:r>
          </a:p>
          <a:p>
            <a:pPr lvl="1"/>
            <a:r>
              <a:rPr dirty="0"/>
              <a:t>Good bare metal server options</a:t>
            </a:r>
          </a:p>
          <a:p>
            <a:pPr lvl="0"/>
            <a:r>
              <a:rPr b="1" dirty="0"/>
              <a:t>IBM Cloud:</a:t>
            </a:r>
          </a:p>
          <a:p>
            <a:pPr lvl="1"/>
            <a:r>
              <a:rPr dirty="0"/>
              <a:t>Strong in hybrid cloud (OpenShift, Red Hat)</a:t>
            </a:r>
          </a:p>
          <a:p>
            <a:pPr lvl="1"/>
            <a:r>
              <a:rPr dirty="0"/>
              <a:t>Watson AI services</a:t>
            </a:r>
          </a:p>
          <a:p>
            <a:pPr lvl="1"/>
            <a:r>
              <a:rPr dirty="0"/>
              <a:t>Appeals to enterprises with existing IBM relationships</a:t>
            </a:r>
          </a:p>
          <a:p>
            <a:pPr lvl="0"/>
            <a:r>
              <a:rPr b="1" dirty="0"/>
              <a:t>Alibaba Cloud:</a:t>
            </a:r>
          </a:p>
          <a:p>
            <a:pPr lvl="1"/>
            <a:r>
              <a:rPr dirty="0"/>
              <a:t>Dominant in China and Asia</a:t>
            </a:r>
          </a:p>
          <a:p>
            <a:pPr lvl="1"/>
            <a:r>
              <a:rPr dirty="0"/>
              <a:t>Required for operating in China due to regulations</a:t>
            </a:r>
          </a:p>
          <a:p>
            <a:pPr lvl="1"/>
            <a:r>
              <a:rPr dirty="0"/>
              <a:t>Growing internationally but limited outside Asia</a:t>
            </a:r>
          </a:p>
          <a:p>
            <a:pPr lvl="0"/>
            <a:r>
              <a:rPr b="1" dirty="0"/>
              <a:t>Specialized Providers:</a:t>
            </a:r>
          </a:p>
          <a:p>
            <a:pPr lvl="1"/>
            <a:r>
              <a:rPr b="1" dirty="0" err="1"/>
              <a:t>DigitalOcean</a:t>
            </a:r>
            <a:r>
              <a:rPr b="1" dirty="0"/>
              <a:t>/</a:t>
            </a:r>
            <a:r>
              <a:rPr b="1" dirty="0" err="1"/>
              <a:t>Linode</a:t>
            </a:r>
            <a:r>
              <a:rPr dirty="0"/>
              <a:t>: Developer-friendly, simpler pricing, good for small/medium workloads</a:t>
            </a:r>
          </a:p>
          <a:p>
            <a:pPr lvl="1"/>
            <a:r>
              <a:rPr b="1" dirty="0"/>
              <a:t>Cloudflare</a:t>
            </a:r>
            <a:r>
              <a:rPr dirty="0"/>
              <a:t>: Edge computing and CDN with Workers platform</a:t>
            </a:r>
          </a:p>
          <a:p>
            <a:pPr lvl="1"/>
            <a:r>
              <a:rPr b="1" dirty="0" err="1"/>
              <a:t>Vercel</a:t>
            </a:r>
            <a:r>
              <a:rPr b="1" dirty="0"/>
              <a:t>/Netlify</a:t>
            </a:r>
            <a:r>
              <a:rPr dirty="0"/>
              <a:t>: Specialized for frontend/</a:t>
            </a:r>
            <a:r>
              <a:rPr dirty="0" err="1"/>
              <a:t>Jamstack</a:t>
            </a:r>
            <a:r>
              <a:rPr dirty="0"/>
              <a:t> deployments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Choosing the Right Cloud Platform</a:t>
            </a:r>
          </a:p>
        </p:txBody>
      </p:sp>
      <p:sp>
        <p:nvSpPr>
          <p:cNvPr id="3" name="Content Placeholder 2"/>
          <p:cNvSpPr>
            <a:spLocks noGrp="1"/>
          </p:cNvSpPr>
          <p:nvPr>
            <p:ph idx="1"/>
          </p:nvPr>
        </p:nvSpPr>
        <p:spPr/>
        <p:txBody>
          <a:bodyPr>
            <a:normAutofit fontScale="85000" lnSpcReduction="20000"/>
          </a:bodyPr>
          <a:lstStyle/>
          <a:p>
            <a:pPr lvl="0"/>
            <a:r>
              <a:rPr b="1"/>
              <a:t>Choose AWS if:</a:t>
            </a:r>
          </a:p>
          <a:p>
            <a:pPr lvl="1"/>
            <a:r>
              <a:t>You want the most mature and comprehensive platform</a:t>
            </a:r>
          </a:p>
          <a:p>
            <a:pPr lvl="1"/>
            <a:r>
              <a:t>You’re building a startup that needs maximum flexibility**</a:t>
            </a:r>
          </a:p>
          <a:p>
            <a:pPr lvl="1"/>
            <a:r>
              <a:t>You need specialized services not available elsewhere</a:t>
            </a:r>
          </a:p>
          <a:p>
            <a:pPr lvl="1"/>
            <a:r>
              <a:t>You want the largest talent pool and ecosystem</a:t>
            </a:r>
          </a:p>
          <a:p>
            <a:pPr lvl="0"/>
            <a:r>
              <a:rPr b="1"/>
              <a:t>Choose Azure if:</a:t>
            </a:r>
          </a:p>
          <a:p>
            <a:pPr lvl="1"/>
            <a:r>
              <a:t>You have existing Microsoft infrastructure/licenses</a:t>
            </a:r>
          </a:p>
          <a:p>
            <a:pPr lvl="1"/>
            <a:r>
              <a:t>You need enterprise compliance certifications</a:t>
            </a:r>
          </a:p>
          <a:p>
            <a:pPr lvl="1"/>
            <a:r>
              <a:t>You want GPT-5 with enterprise features (Azure OpenAI)</a:t>
            </a:r>
          </a:p>
          <a:p>
            <a:pPr lvl="1"/>
            <a:r>
              <a:t>You value existing Microsoft relationships</a:t>
            </a:r>
          </a:p>
          <a:p>
            <a:pPr lvl="0"/>
            <a:r>
              <a:rPr b="1"/>
              <a:t>Choose GCP if:</a:t>
            </a:r>
          </a:p>
          <a:p>
            <a:pPr lvl="1"/>
            <a:r>
              <a:t>Your competitive advantage is data analytics or ML</a:t>
            </a:r>
          </a:p>
          <a:p>
            <a:pPr lvl="1"/>
            <a:r>
              <a:t>You’re committed to Kubernetes (GKE is the best)</a:t>
            </a:r>
          </a:p>
          <a:p>
            <a:pPr lvl="1"/>
            <a:r>
              <a:t>You want simpler pricing and cleaner developer experience</a:t>
            </a:r>
          </a:p>
          <a:p>
            <a:pPr lvl="1"/>
            <a:r>
              <a:t>You value Google’s data-centric expertise</a:t>
            </a:r>
          </a:p>
          <a:p>
            <a:pPr lvl="0"/>
            <a:r>
              <a:rPr b="1"/>
              <a:t>Choose multiple platforms if:</a:t>
            </a:r>
          </a:p>
          <a:p>
            <a:pPr lvl="1"/>
            <a:r>
              <a:t>You’re large enough to manage multi-cloud complexity</a:t>
            </a:r>
          </a:p>
          <a:p>
            <a:pPr lvl="1"/>
            <a:r>
              <a:t>You want to avoid vendor lock-in</a:t>
            </a:r>
          </a:p>
          <a:p>
            <a:pPr lvl="1"/>
            <a:r>
              <a:t>Different workloads have different optimal platforms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Key Takeaways</a:t>
            </a:r>
          </a:p>
        </p:txBody>
      </p:sp>
      <p:sp>
        <p:nvSpPr>
          <p:cNvPr id="3" name="Content Placeholder 2"/>
          <p:cNvSpPr>
            <a:spLocks noGrp="1"/>
          </p:cNvSpPr>
          <p:nvPr>
            <p:ph idx="1"/>
          </p:nvPr>
        </p:nvSpPr>
        <p:spPr/>
        <p:txBody>
          <a:bodyPr>
            <a:normAutofit fontScale="92500" lnSpcReduction="10000"/>
          </a:bodyPr>
          <a:lstStyle/>
          <a:p>
            <a:pPr lvl="0"/>
            <a:r>
              <a:rPr b="1" dirty="0"/>
              <a:t>All three major platforms offer similar core services</a:t>
            </a:r>
          </a:p>
          <a:p>
            <a:pPr lvl="1"/>
            <a:r>
              <a:rPr dirty="0"/>
              <a:t>Success depends on execution and fit, not theoretical superiority</a:t>
            </a:r>
          </a:p>
          <a:p>
            <a:pPr lvl="2"/>
            <a:r>
              <a:rPr b="1" dirty="0"/>
              <a:t>AWS: Breadth and maturity, best default choice</a:t>
            </a:r>
          </a:p>
          <a:p>
            <a:pPr lvl="2"/>
            <a:r>
              <a:rPr b="1" dirty="0"/>
              <a:t>Azure: Microsoft integration and enterprise relationships</a:t>
            </a:r>
          </a:p>
          <a:p>
            <a:pPr lvl="2"/>
            <a:r>
              <a:rPr b="1" dirty="0"/>
              <a:t>GCP: Data analytics, ML infrastructure, and developer experience</a:t>
            </a:r>
          </a:p>
          <a:p>
            <a:pPr lvl="0"/>
            <a:r>
              <a:rPr b="1" dirty="0"/>
              <a:t>Business models reflect different corporate DNA:</a:t>
            </a:r>
          </a:p>
          <a:p>
            <a:pPr lvl="1"/>
            <a:r>
              <a:rPr dirty="0"/>
              <a:t>AWS: Flexibility and innovation</a:t>
            </a:r>
          </a:p>
          <a:p>
            <a:pPr lvl="1"/>
            <a:r>
              <a:rPr dirty="0"/>
              <a:t>Azure: Enterprise agreements and ecosystem integration</a:t>
            </a:r>
          </a:p>
          <a:p>
            <a:pPr lvl="1"/>
            <a:r>
              <a:rPr dirty="0"/>
              <a:t>GCP: Technical excellence and simplicity</a:t>
            </a:r>
          </a:p>
          <a:p>
            <a:pPr lvl="0"/>
            <a:r>
              <a:rPr b="1" dirty="0"/>
              <a:t>AI is becoming a major differentiator:</a:t>
            </a:r>
          </a:p>
          <a:p>
            <a:pPr lvl="1"/>
            <a:r>
              <a:rPr dirty="0"/>
              <a:t>Azure’s OpenAI partnership is significant competitive advantage</a:t>
            </a:r>
          </a:p>
          <a:p>
            <a:pPr lvl="1"/>
            <a:r>
              <a:rPr dirty="0"/>
              <a:t>Google has best ML infrastructure but struggles with adoption</a:t>
            </a:r>
          </a:p>
          <a:p>
            <a:pPr lvl="1"/>
            <a:r>
              <a:rPr dirty="0"/>
              <a:t>AWS provides platform for others’ AI innovations</a:t>
            </a:r>
          </a:p>
          <a:p>
            <a:pPr lvl="0"/>
            <a:r>
              <a:rPr b="1" dirty="0"/>
              <a:t>Learn one platform deeply, then expand</a:t>
            </a:r>
          </a:p>
          <a:p>
            <a:pPr lvl="1"/>
            <a:r>
              <a:rPr dirty="0"/>
              <a:t>Your AWS knowledge transfers to other platforms</a:t>
            </a:r>
          </a:p>
          <a:p>
            <a:pPr lvl="1"/>
            <a:r>
              <a:rPr dirty="0"/>
              <a:t>Concepts matter more than specific tools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3" y="384048"/>
            <a:ext cx="11265408" cy="585216"/>
          </a:xfrm>
        </p:spPr>
        <p:txBody>
          <a:bodyPr/>
          <a:lstStyle/>
          <a:p>
            <a:pPr marL="0" lvl="0" indent="0">
              <a:buNone/>
            </a:pPr>
            <a:r>
              <a:t>Continuing Your Cloud Journey</a:t>
            </a:r>
          </a:p>
        </p:txBody>
      </p:sp>
      <p:sp>
        <p:nvSpPr>
          <p:cNvPr id="3" name="Content Placeholder 2"/>
          <p:cNvSpPr>
            <a:spLocks noGrp="1"/>
          </p:cNvSpPr>
          <p:nvPr>
            <p:ph idx="1"/>
          </p:nvPr>
        </p:nvSpPr>
        <p:spPr/>
        <p:txBody>
          <a:bodyPr/>
          <a:lstStyle/>
          <a:p>
            <a:pPr lvl="0"/>
            <a:r>
              <a:rPr b="1"/>
              <a:t>Free Resources Available to You:</a:t>
            </a:r>
          </a:p>
          <a:p>
            <a:pPr lvl="1"/>
            <a:r>
              <a:t>AWS Skill Builder (12 months free)</a:t>
            </a:r>
          </a:p>
          <a:p>
            <a:pPr lvl="2"/>
            <a:r>
              <a:t>In AWS Academy, go to </a:t>
            </a:r>
            <a:r>
              <a:rPr b="1"/>
              <a:t>Modules</a:t>
            </a:r>
            <a:r>
              <a:t> and scroll to the end for access</a:t>
            </a:r>
          </a:p>
          <a:p>
            <a:pPr lvl="1"/>
            <a:r>
              <a:t>LinkedIn Learning (formerly Lynda.com)</a:t>
            </a:r>
          </a:p>
          <a:p>
            <a:pPr lvl="2"/>
            <a:r>
              <a:t>Free for Purdue students</a:t>
            </a:r>
          </a:p>
          <a:p>
            <a:pPr lvl="2"/>
            <a:r>
              <a:t>Several “cloud” courses and prep exams</a:t>
            </a:r>
          </a:p>
          <a:p>
            <a:pPr lvl="2"/>
            <a:r>
              <a:t>Includes all major cloud platforms</a:t>
            </a:r>
          </a:p>
          <a:p>
            <a:pPr lvl="0"/>
            <a:r>
              <a:rPr b="1"/>
              <a:t>Cloud Credits</a:t>
            </a:r>
          </a:p>
          <a:p>
            <a:pPr lvl="1"/>
            <a:r>
              <a:t>AWS: $200 trial credit to be used in 6 months; free tier</a:t>
            </a:r>
          </a:p>
          <a:p>
            <a:pPr lvl="1"/>
            <a:r>
              <a:t>Azure: $100 free student credit to be used in 12 months; renewable</a:t>
            </a:r>
          </a:p>
          <a:p>
            <a:pPr lvl="1"/>
            <a:r>
              <a:t>GCP: $300 trial credit to be used in 90 days; student access through courses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Purdue">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gmt59000_do_lecture_3-1a  -  Repaired" id="{69EA3F50-F7F8-394D-90D9-CBC97E76ED7A}" vid="{76C2C64A-6421-904F-95EA-8D1842F2DF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10596</Words>
  <Application>Microsoft Macintosh PowerPoint</Application>
  <PresentationFormat>Widescreen</PresentationFormat>
  <Paragraphs>688</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Acumin Pro</vt:lpstr>
      <vt:lpstr>Acumin Pro Condensed Semibold</vt:lpstr>
      <vt:lpstr>Acumin Pro Semibold</vt:lpstr>
      <vt:lpstr>Arial</vt:lpstr>
      <vt:lpstr>Calibri</vt:lpstr>
      <vt:lpstr>Office Theme</vt:lpstr>
      <vt:lpstr>Cloud Platform Comparison - AWS, Azure, and GCP</vt:lpstr>
      <vt:lpstr>The Cloud Computing Landscape</vt:lpstr>
      <vt:lpstr>Amazon Web Services (AWS)</vt:lpstr>
      <vt:lpstr>Microsoft Azure</vt:lpstr>
      <vt:lpstr>Google Cloud Platform (GCP)</vt:lpstr>
      <vt:lpstr>Business Models and Pricing</vt:lpstr>
      <vt:lpstr>Artificial Intelligence and Machine Learning - AWS</vt:lpstr>
      <vt:lpstr>Artificial Intelligence and Machine Learning - Azure</vt:lpstr>
      <vt:lpstr>Artificial Intelligence and Machine Learning - GCP</vt:lpstr>
      <vt:lpstr>Other Cloud Providers Worth Knowing</vt:lpstr>
      <vt:lpstr>Choosing the Right Cloud Platform</vt:lpstr>
      <vt:lpstr>Key Takeaways</vt:lpstr>
      <vt:lpstr>Continuing Your Cloud Journey</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
  <TotalTime>2</TotalTime>
  <Words>66</Words>
  <Application>Microsoft Macintosh PowerPoint</Application>
  <PresentationFormat>Widescreen</PresentationFormat>
  <Paragraphs>20</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Acumin Pro</vt:lpstr>
      <vt:lpstr>Acumin Pro Condensed Semibold</vt:lpstr>
      <vt:lpstr>Acumin Pro Semibold</vt:lpstr>
      <vt:lpstr>Arial</vt:lpstr>
      <vt:lpstr>Calibri</vt:lpstr>
      <vt:lpstr>Office Theme</vt:lpstr>
      <vt:lpstr>APIs &amp; Containers &amp; Agents</vt:lpstr>
      <vt:lpstr>PowerPoint Presentation</vt:lpstr>
      <vt:lpstr>Brief Software Deployment History</vt:lpstr>
      <vt:lpstr>Containerization</vt:lpstr>
      <vt:lpstr>Containerization vs. Virtual Machines</vt:lpstr>
      <vt:lpstr>Docker</vt:lpstr>
      <vt:lpstr>Dockerfiles</vt:lpstr>
      <vt:lpstr>PowerPoint Presentation</vt:lpstr>
      <vt:lpstr>APIs</vt:lpstr>
      <vt:lpstr>Software Development Pipelines</vt:lpstr>
      <vt:lpstr>PowerPoint Presentation</vt:lpstr>
      <vt:lpstr>The Rise of the Machines</vt:lpstr>
      <vt:lpstr>Vibe Coding</vt:lpstr>
      <vt:lpstr>Limitations of AI Coding Agents</vt:lpstr>
      <vt:lpstr>Prompt Engineering for Development</vt:lpstr>
      <vt:lpstr>Evaluating &amp; Debugging AI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Platform Comparison - AWS, Azure, and GCP</dc:title>
  <dc:creator/>
  <cp:keywords/>
  <cp:lastModifiedBy>Rob Elliott</cp:lastModifiedBy>
  <cp:revision>1</cp:revision>
  <dcterms:created xsi:type="dcterms:W3CDTF">2025-12-10T11:46:52Z</dcterms:created>
  <dcterms:modified xsi:type="dcterms:W3CDTF">2025-12-10T11:51:29Z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cremental">
    <vt:lpwstr>True</vt:lpwstr>
  </property>
  <property fmtid="{D5CDD505-2E9C-101B-9397-08002B2CF9AE}" pid="3" name="tags">
    <vt:lpwstr/>
  </property>
</Properties>
</file>