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6.xml" ContentType="application/vnd.openxmlformats-officedocument.presentationml.tags+xml"/>
  <Override PartName="/ppt/notesSlides/notesSlide1.xml" ContentType="application/vnd.openxmlformats-officedocument.presentationml.notesSlide+xml"/>
  <Override PartName="/ppt/tags/tag57.xml" ContentType="application/vnd.openxmlformats-officedocument.presentationml.tags+xml"/>
  <Override PartName="/ppt/notesSlides/notesSlide2.xml" ContentType="application/vnd.openxmlformats-officedocument.presentationml.notesSlide+xml"/>
  <Override PartName="/ppt/tags/tag58.xml" ContentType="application/vnd.openxmlformats-officedocument.presentationml.tags+xml"/>
  <Override PartName="/ppt/notesSlides/notesSlide3.xml" ContentType="application/vnd.openxmlformats-officedocument.presentationml.notesSlide+xml"/>
  <Override PartName="/ppt/tags/tag59.xml" ContentType="application/vnd.openxmlformats-officedocument.presentationml.tags+xml"/>
  <Override PartName="/ppt/notesSlides/notesSlide4.xml" ContentType="application/vnd.openxmlformats-officedocument.presentationml.notesSlide+xml"/>
  <Override PartName="/ppt/tags/tag60.xml" ContentType="application/vnd.openxmlformats-officedocument.presentationml.tags+xml"/>
  <Override PartName="/ppt/notesSlides/notesSlide5.xml" ContentType="application/vnd.openxmlformats-officedocument.presentationml.notesSlide+xml"/>
  <Override PartName="/ppt/tags/tag61.xml" ContentType="application/vnd.openxmlformats-officedocument.presentationml.tags+xml"/>
  <Override PartName="/ppt/notesSlides/notesSlide6.xml" ContentType="application/vnd.openxmlformats-officedocument.presentationml.notesSlide+xml"/>
  <Override PartName="/ppt/tags/tag62.xml" ContentType="application/vnd.openxmlformats-officedocument.presentationml.tags+xml"/>
  <Override PartName="/ppt/notesSlides/notesSlide7.xml" ContentType="application/vnd.openxmlformats-officedocument.presentationml.notesSlide+xml"/>
  <Override PartName="/ppt/tags/tag6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4.xml" ContentType="application/vnd.openxmlformats-officedocument.presentationml.tags+xml"/>
  <Override PartName="/ppt/notesSlides/notesSlide10.xml" ContentType="application/vnd.openxmlformats-officedocument.presentationml.notesSlide+xml"/>
  <Override PartName="/ppt/tags/tag65.xml" ContentType="application/vnd.openxmlformats-officedocument.presentationml.tags+xml"/>
  <Override PartName="/ppt/notesSlides/notesSlide11.xml" ContentType="application/vnd.openxmlformats-officedocument.presentationml.notesSlide+xml"/>
  <Override PartName="/ppt/tags/tag66.xml" ContentType="application/vnd.openxmlformats-officedocument.presentationml.tags+xml"/>
  <Override PartName="/ppt/notesSlides/notesSlide12.xml" ContentType="application/vnd.openxmlformats-officedocument.presentationml.notesSlide+xml"/>
  <Override PartName="/ppt/tags/tag67.xml" ContentType="application/vnd.openxmlformats-officedocument.presentationml.tags+xml"/>
  <Override PartName="/ppt/notesSlides/notesSlide13.xml" ContentType="application/vnd.openxmlformats-officedocument.presentationml.notesSlide+xml"/>
  <Override PartName="/ppt/tags/tag68.xml" ContentType="application/vnd.openxmlformats-officedocument.presentationml.tags+xml"/>
  <Override PartName="/ppt/notesSlides/notesSlide14.xml" ContentType="application/vnd.openxmlformats-officedocument.presentationml.notesSlide+xml"/>
  <Override PartName="/ppt/tags/tag69.xml" ContentType="application/vnd.openxmlformats-officedocument.presentationml.tags+xml"/>
  <Override PartName="/ppt/notesSlides/notesSlide15.xml" ContentType="application/vnd.openxmlformats-officedocument.presentationml.notesSlide+xml"/>
  <Override PartName="/ppt/tags/tag70.xml" ContentType="application/vnd.openxmlformats-officedocument.presentationml.tags+xml"/>
  <Override PartName="/ppt/notesSlides/notesSlide16.xml" ContentType="application/vnd.openxmlformats-officedocument.presentationml.notesSlide+xml"/>
  <Override PartName="/ppt/tags/tag71.xml" ContentType="application/vnd.openxmlformats-officedocument.presentationml.tags+xml"/>
  <Override PartName="/ppt/notesSlides/notesSlide17.xml" ContentType="application/vnd.openxmlformats-officedocument.presentationml.notesSlide+xml"/>
  <Override PartName="/ppt/tags/tag72.xml" ContentType="application/vnd.openxmlformats-officedocument.presentationml.tags+xml"/>
  <Override PartName="/ppt/notesSlides/notesSlide18.xml" ContentType="application/vnd.openxmlformats-officedocument.presentationml.notesSlide+xml"/>
  <Override PartName="/ppt/tags/tag73.xml" ContentType="application/vnd.openxmlformats-officedocument.presentationml.tags+xml"/>
  <Override PartName="/ppt/notesSlides/notesSlide19.xml" ContentType="application/vnd.openxmlformats-officedocument.presentationml.notesSlide+xml"/>
  <Override PartName="/ppt/tags/tag74.xml" ContentType="application/vnd.openxmlformats-officedocument.presentationml.tags+xml"/>
  <Override PartName="/ppt/notesSlides/notesSlide20.xml" ContentType="application/vnd.openxmlformats-officedocument.presentationml.notesSlide+xml"/>
  <Override PartName="/ppt/tags/tag75.xml" ContentType="application/vnd.openxmlformats-officedocument.presentationml.tags+xml"/>
  <Override PartName="/ppt/notesSlides/notesSlide21.xml" ContentType="application/vnd.openxmlformats-officedocument.presentationml.notesSlide+xml"/>
  <Override PartName="/ppt/tags/tag76.xml" ContentType="application/vnd.openxmlformats-officedocument.presentationml.tags+xml"/>
  <Override PartName="/ppt/notesSlides/notesSlide22.xml" ContentType="application/vnd.openxmlformats-officedocument.presentationml.notesSlide+xml"/>
  <Override PartName="/ppt/tags/tag77.xml" ContentType="application/vnd.openxmlformats-officedocument.presentationml.tags+xml"/>
  <Override PartName="/ppt/notesSlides/notesSlide23.xml" ContentType="application/vnd.openxmlformats-officedocument.presentationml.notesSlide+xml"/>
  <Override PartName="/ppt/tags/tag78.xml" ContentType="application/vnd.openxmlformats-officedocument.presentationml.tags+xml"/>
  <Override PartName="/ppt/notesSlides/notesSlide24.xml" ContentType="application/vnd.openxmlformats-officedocument.presentationml.notesSlide+xml"/>
  <Override PartName="/ppt/tags/tag79.xml" ContentType="application/vnd.openxmlformats-officedocument.presentationml.tags+xml"/>
  <Override PartName="/ppt/notesSlides/notesSlide25.xml" ContentType="application/vnd.openxmlformats-officedocument.presentationml.notesSlide+xml"/>
  <Override PartName="/ppt/tags/tag80.xml" ContentType="application/vnd.openxmlformats-officedocument.presentationml.tags+xml"/>
  <Override PartName="/ppt/notesSlides/notesSlide26.xml" ContentType="application/vnd.openxmlformats-officedocument.presentationml.notesSlide+xml"/>
  <Override PartName="/ppt/tags/tag81.xml" ContentType="application/vnd.openxmlformats-officedocument.presentationml.tags+xml"/>
  <Override PartName="/ppt/notesSlides/notesSlide27.xml" ContentType="application/vnd.openxmlformats-officedocument.presentationml.notesSlide+xml"/>
  <Override PartName="/ppt/tags/tag82.xml" ContentType="application/vnd.openxmlformats-officedocument.presentationml.tags+xml"/>
  <Override PartName="/ppt/notesSlides/notesSlide28.xml" ContentType="application/vnd.openxmlformats-officedocument.presentationml.notesSlide+xml"/>
  <Override PartName="/ppt/tags/tag83.xml" ContentType="application/vnd.openxmlformats-officedocument.presentationml.tags+xml"/>
  <Override PartName="/ppt/notesSlides/notesSlide29.xml" ContentType="application/vnd.openxmlformats-officedocument.presentationml.notesSlide+xml"/>
  <Override PartName="/ppt/tags/tag84.xml" ContentType="application/vnd.openxmlformats-officedocument.presentationml.tags+xml"/>
  <Override PartName="/ppt/notesSlides/notesSlide30.xml" ContentType="application/vnd.openxmlformats-officedocument.presentationml.notesSlide+xml"/>
  <Override PartName="/ppt/tags/tag85.xml" ContentType="application/vnd.openxmlformats-officedocument.presentationml.tags+xml"/>
  <Override PartName="/ppt/notesSlides/notesSlide31.xml" ContentType="application/vnd.openxmlformats-officedocument.presentationml.notesSlide+xml"/>
  <Override PartName="/ppt/tags/tag86.xml" ContentType="application/vnd.openxmlformats-officedocument.presentationml.tags+xml"/>
  <Override PartName="/ppt/notesSlides/notesSlide32.xml" ContentType="application/vnd.openxmlformats-officedocument.presentationml.notesSlide+xml"/>
  <Override PartName="/ppt/tags/tag87.xml" ContentType="application/vnd.openxmlformats-officedocument.presentationml.tags+xml"/>
  <Override PartName="/ppt/notesSlides/notesSlide33.xml" ContentType="application/vnd.openxmlformats-officedocument.presentationml.notesSlide+xml"/>
  <Override PartName="/ppt/tags/tag88.xml" ContentType="application/vnd.openxmlformats-officedocument.presentationml.tags+xml"/>
  <Override PartName="/ppt/notesSlides/notesSlide34.xml" ContentType="application/vnd.openxmlformats-officedocument.presentationml.notesSlide+xml"/>
  <Override PartName="/ppt/tags/tag89.xml" ContentType="application/vnd.openxmlformats-officedocument.presentationml.tags+xml"/>
  <Override PartName="/ppt/notesSlides/notesSlide35.xml" ContentType="application/vnd.openxmlformats-officedocument.presentationml.notesSlide+xml"/>
  <Override PartName="/ppt/tags/tag90.xml" ContentType="application/vnd.openxmlformats-officedocument.presentationml.tags+xml"/>
  <Override PartName="/ppt/notesSlides/notesSlide36.xml" ContentType="application/vnd.openxmlformats-officedocument.presentationml.notesSlide+xml"/>
  <Override PartName="/ppt/tags/tag91.xml" ContentType="application/vnd.openxmlformats-officedocument.presentationml.tags+xml"/>
  <Override PartName="/ppt/notesSlides/notesSlide37.xml" ContentType="application/vnd.openxmlformats-officedocument.presentationml.notesSlide+xml"/>
  <Override PartName="/ppt/tags/tag92.xml" ContentType="application/vnd.openxmlformats-officedocument.presentationml.tags+xml"/>
  <Override PartName="/ppt/notesSlides/notesSlide38.xml" ContentType="application/vnd.openxmlformats-officedocument.presentationml.notesSlide+xml"/>
  <Override PartName="/ppt/tags/tag93.xml" ContentType="application/vnd.openxmlformats-officedocument.presentationml.tags+xml"/>
  <Override PartName="/ppt/notesSlides/notesSlide39.xml" ContentType="application/vnd.openxmlformats-officedocument.presentationml.notesSlide+xml"/>
  <Override PartName="/ppt/tags/tag94.xml" ContentType="application/vnd.openxmlformats-officedocument.presentationml.tags+xml"/>
  <Override PartName="/ppt/notesSlides/notesSlide40.xml" ContentType="application/vnd.openxmlformats-officedocument.presentationml.notesSlide+xml"/>
  <Override PartName="/ppt/tags/tag95.xml" ContentType="application/vnd.openxmlformats-officedocument.presentationml.tags+xml"/>
  <Override PartName="/ppt/notesSlides/notesSlide41.xml" ContentType="application/vnd.openxmlformats-officedocument.presentationml.notesSlide+xml"/>
  <Override PartName="/ppt/tags/tag96.xml" ContentType="application/vnd.openxmlformats-officedocument.presentationml.tags+xml"/>
  <Override PartName="/ppt/notesSlides/notesSlide42.xml" ContentType="application/vnd.openxmlformats-officedocument.presentationml.notesSlide+xml"/>
  <Override PartName="/ppt/tags/tag97.xml" ContentType="application/vnd.openxmlformats-officedocument.presentationml.tags+xml"/>
  <Override PartName="/ppt/notesSlides/notesSlide43.xml" ContentType="application/vnd.openxmlformats-officedocument.presentationml.notesSlide+xml"/>
  <Override PartName="/ppt/tags/tag98.xml" ContentType="application/vnd.openxmlformats-officedocument.presentationml.tags+xml"/>
  <Override PartName="/ppt/notesSlides/notesSlide44.xml" ContentType="application/vnd.openxmlformats-officedocument.presentationml.notesSlide+xml"/>
  <Override PartName="/ppt/tags/tag99.xml" ContentType="application/vnd.openxmlformats-officedocument.presentationml.tags+xml"/>
  <Override PartName="/ppt/notesSlides/notesSlide45.xml" ContentType="application/vnd.openxmlformats-officedocument.presentationml.notesSlide+xml"/>
  <Override PartName="/ppt/tags/tag100.xml" ContentType="application/vnd.openxmlformats-officedocument.presentationml.tags+xml"/>
  <Override PartName="/ppt/notesSlides/notesSlide46.xml" ContentType="application/vnd.openxmlformats-officedocument.presentationml.notesSlide+xml"/>
  <Override PartName="/ppt/tags/tag101.xml" ContentType="application/vnd.openxmlformats-officedocument.presentationml.tags+xml"/>
  <Override PartName="/ppt/notesSlides/notesSlide4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2.xml" ContentType="application/vnd.openxmlformats-officedocument.presentationml.tags+xml"/>
  <Override PartName="/ppt/notesSlides/notesSlide48.xml" ContentType="application/vnd.openxmlformats-officedocument.presentationml.notesSlide+xml"/>
  <Override PartName="/ppt/tags/tag103.xml" ContentType="application/vnd.openxmlformats-officedocument.presentationml.tags+xml"/>
  <Override PartName="/ppt/notesSlides/notesSlide49.xml" ContentType="application/vnd.openxmlformats-officedocument.presentationml.notesSlide+xml"/>
  <Override PartName="/ppt/tags/tag104.xml" ContentType="application/vnd.openxmlformats-officedocument.presentationml.tags+xml"/>
  <Override PartName="/ppt/notesSlides/notesSlide50.xml" ContentType="application/vnd.openxmlformats-officedocument.presentationml.notesSlide+xml"/>
  <Override PartName="/ppt/tags/tag105.xml" ContentType="application/vnd.openxmlformats-officedocument.presentationml.tags+xml"/>
  <Override PartName="/ppt/notesSlides/notesSlide51.xml" ContentType="application/vnd.openxmlformats-officedocument.presentationml.notesSlide+xml"/>
  <Override PartName="/ppt/tags/tag106.xml" ContentType="application/vnd.openxmlformats-officedocument.presentationml.tags+xml"/>
  <Override PartName="/ppt/notesSlides/notesSlide52.xml" ContentType="application/vnd.openxmlformats-officedocument.presentationml.notesSlide+xml"/>
  <Override PartName="/ppt/tags/tag107.xml" ContentType="application/vnd.openxmlformats-officedocument.presentationml.tags+xml"/>
  <Override PartName="/ppt/notesSlides/notesSlide53.xml" ContentType="application/vnd.openxmlformats-officedocument.presentationml.notesSlide+xml"/>
  <Override PartName="/ppt/tags/tag108.xml" ContentType="application/vnd.openxmlformats-officedocument.presentationml.tags+xml"/>
  <Override PartName="/ppt/notesSlides/notesSlide5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09.xml" ContentType="application/vnd.openxmlformats-officedocument.presentationml.tags+xml"/>
  <Override PartName="/ppt/notesSlides/notesSlide55.xml" ContentType="application/vnd.openxmlformats-officedocument.presentationml.notesSlide+xml"/>
  <Override PartName="/ppt/tags/tag110.xml" ContentType="application/vnd.openxmlformats-officedocument.presentationml.tags+xml"/>
  <Override PartName="/ppt/notesSlides/notesSlide56.xml" ContentType="application/vnd.openxmlformats-officedocument.presentationml.notesSlide+xml"/>
  <Override PartName="/ppt/tags/tag111.xml" ContentType="application/vnd.openxmlformats-officedocument.presentationml.tags+xml"/>
  <Override PartName="/ppt/notesSlides/notesSlide57.xml" ContentType="application/vnd.openxmlformats-officedocument.presentationml.notesSlide+xml"/>
  <Override PartName="/ppt/tags/tag112.xml" ContentType="application/vnd.openxmlformats-officedocument.presentationml.tags+xml"/>
  <Override PartName="/ppt/notesSlides/notesSlide58.xml" ContentType="application/vnd.openxmlformats-officedocument.presentationml.notesSlide+xml"/>
  <Override PartName="/ppt/tags/tag113.xml" ContentType="application/vnd.openxmlformats-officedocument.presentationml.tags+xml"/>
  <Override PartName="/ppt/notesSlides/notesSlide59.xml" ContentType="application/vnd.openxmlformats-officedocument.presentationml.notesSlide+xml"/>
  <Override PartName="/ppt/tags/tag114.xml" ContentType="application/vnd.openxmlformats-officedocument.presentationml.tags+xml"/>
  <Override PartName="/ppt/notesSlides/notesSlide60.xml" ContentType="application/vnd.openxmlformats-officedocument.presentationml.notesSlide+xml"/>
  <Override PartName="/ppt/tags/tag115.xml" ContentType="application/vnd.openxmlformats-officedocument.presentationml.tags+xml"/>
  <Override PartName="/ppt/notesSlides/notesSlide61.xml" ContentType="application/vnd.openxmlformats-officedocument.presentationml.notesSlide+xml"/>
  <Override PartName="/ppt/tags/tag116.xml" ContentType="application/vnd.openxmlformats-officedocument.presentationml.tags+xml"/>
  <Override PartName="/ppt/notesSlides/notesSlide62.xml" ContentType="application/vnd.openxmlformats-officedocument.presentationml.notesSlide+xml"/>
  <Override PartName="/ppt/tags/tag117.xml" ContentType="application/vnd.openxmlformats-officedocument.presentationml.tags+xml"/>
  <Override PartName="/ppt/notesSlides/notesSlide63.xml" ContentType="application/vnd.openxmlformats-officedocument.presentationml.notesSlide+xml"/>
  <Override PartName="/ppt/tags/tag118.xml" ContentType="application/vnd.openxmlformats-officedocument.presentationml.tags+xml"/>
  <Override PartName="/ppt/notesSlides/notesSlide64.xml" ContentType="application/vnd.openxmlformats-officedocument.presentationml.notesSlide+xml"/>
  <Override PartName="/ppt/tags/tag119.xml" ContentType="application/vnd.openxmlformats-officedocument.presentationml.tags+xml"/>
  <Override PartName="/ppt/notesSlides/notesSlide65.xml" ContentType="application/vnd.openxmlformats-officedocument.presentationml.notesSlide+xml"/>
  <Override PartName="/ppt/tags/tag120.xml" ContentType="application/vnd.openxmlformats-officedocument.presentationml.tags+xml"/>
  <Override PartName="/ppt/notesSlides/notesSlide66.xml" ContentType="application/vnd.openxmlformats-officedocument.presentationml.notesSlide+xml"/>
  <Override PartName="/ppt/tags/tag121.xml" ContentType="application/vnd.openxmlformats-officedocument.presentationml.tags+xml"/>
  <Override PartName="/ppt/notesSlides/notesSlide67.xml" ContentType="application/vnd.openxmlformats-officedocument.presentationml.notesSlide+xml"/>
  <Override PartName="/ppt/tags/tag122.xml" ContentType="application/vnd.openxmlformats-officedocument.presentationml.tags+xml"/>
  <Override PartName="/ppt/notesSlides/notesSlide68.xml" ContentType="application/vnd.openxmlformats-officedocument.presentationml.notesSlide+xml"/>
  <Override PartName="/ppt/tags/tag123.xml" ContentType="application/vnd.openxmlformats-officedocument.presentationml.tags+xml"/>
  <Override PartName="/ppt/notesSlides/notesSlide69.xml" ContentType="application/vnd.openxmlformats-officedocument.presentationml.notesSlide+xml"/>
  <Override PartName="/ppt/tags/tag124.xml" ContentType="application/vnd.openxmlformats-officedocument.presentationml.tags+xml"/>
  <Override PartName="/ppt/notesSlides/notesSlide70.xml" ContentType="application/vnd.openxmlformats-officedocument.presentationml.notesSlide+xml"/>
  <Override PartName="/ppt/tags/tag125.xml" ContentType="application/vnd.openxmlformats-officedocument.presentationml.tags+xml"/>
  <Override PartName="/ppt/notesSlides/notesSlide71.xml" ContentType="application/vnd.openxmlformats-officedocument.presentationml.notesSlide+xml"/>
  <Override PartName="/ppt/tags/tag126.xml" ContentType="application/vnd.openxmlformats-officedocument.presentationml.tags+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4"/>
  </p:sldMasterIdLst>
  <p:notesMasterIdLst>
    <p:notesMasterId r:id="rId78"/>
  </p:notesMasterIdLst>
  <p:handoutMasterIdLst>
    <p:handoutMasterId r:id="rId79"/>
  </p:handoutMasterIdLst>
  <p:sldIdLst>
    <p:sldId id="317" r:id="rId5"/>
    <p:sldId id="613" r:id="rId6"/>
    <p:sldId id="402" r:id="rId7"/>
    <p:sldId id="445" r:id="rId8"/>
    <p:sldId id="904" r:id="rId9"/>
    <p:sldId id="528" r:id="rId10"/>
    <p:sldId id="910" r:id="rId11"/>
    <p:sldId id="407" r:id="rId12"/>
    <p:sldId id="922" r:id="rId13"/>
    <p:sldId id="357" r:id="rId14"/>
    <p:sldId id="427" r:id="rId15"/>
    <p:sldId id="875" r:id="rId16"/>
    <p:sldId id="876" r:id="rId17"/>
    <p:sldId id="898" r:id="rId18"/>
    <p:sldId id="877" r:id="rId19"/>
    <p:sldId id="375" r:id="rId20"/>
    <p:sldId id="359" r:id="rId21"/>
    <p:sldId id="903" r:id="rId22"/>
    <p:sldId id="878" r:id="rId23"/>
    <p:sldId id="879" r:id="rId24"/>
    <p:sldId id="880" r:id="rId25"/>
    <p:sldId id="881" r:id="rId26"/>
    <p:sldId id="911" r:id="rId27"/>
    <p:sldId id="912" r:id="rId28"/>
    <p:sldId id="882" r:id="rId29"/>
    <p:sldId id="883" r:id="rId30"/>
    <p:sldId id="884" r:id="rId31"/>
    <p:sldId id="913" r:id="rId32"/>
    <p:sldId id="885" r:id="rId33"/>
    <p:sldId id="301" r:id="rId34"/>
    <p:sldId id="887" r:id="rId35"/>
    <p:sldId id="886" r:id="rId36"/>
    <p:sldId id="619" r:id="rId37"/>
    <p:sldId id="475" r:id="rId38"/>
    <p:sldId id="905" r:id="rId39"/>
    <p:sldId id="441" r:id="rId40"/>
    <p:sldId id="443" r:id="rId41"/>
    <p:sldId id="478" r:id="rId42"/>
    <p:sldId id="479" r:id="rId43"/>
    <p:sldId id="480" r:id="rId44"/>
    <p:sldId id="907" r:id="rId45"/>
    <p:sldId id="908" r:id="rId46"/>
    <p:sldId id="906" r:id="rId47"/>
    <p:sldId id="900" r:id="rId48"/>
    <p:sldId id="889" r:id="rId49"/>
    <p:sldId id="923" r:id="rId50"/>
    <p:sldId id="847" r:id="rId51"/>
    <p:sldId id="892" r:id="rId52"/>
    <p:sldId id="814" r:id="rId53"/>
    <p:sldId id="888" r:id="rId54"/>
    <p:sldId id="821" r:id="rId55"/>
    <p:sldId id="893" r:id="rId56"/>
    <p:sldId id="894" r:id="rId57"/>
    <p:sldId id="890" r:id="rId58"/>
    <p:sldId id="897" r:id="rId59"/>
    <p:sldId id="838" r:id="rId60"/>
    <p:sldId id="462" r:id="rId61"/>
    <p:sldId id="436" r:id="rId62"/>
    <p:sldId id="437" r:id="rId63"/>
    <p:sldId id="924" r:id="rId64"/>
    <p:sldId id="860" r:id="rId65"/>
    <p:sldId id="853" r:id="rId66"/>
    <p:sldId id="438" r:id="rId67"/>
    <p:sldId id="416" r:id="rId68"/>
    <p:sldId id="901" r:id="rId69"/>
    <p:sldId id="470" r:id="rId70"/>
    <p:sldId id="471" r:id="rId71"/>
    <p:sldId id="534" r:id="rId72"/>
    <p:sldId id="472" r:id="rId73"/>
    <p:sldId id="902" r:id="rId74"/>
    <p:sldId id="863" r:id="rId75"/>
    <p:sldId id="623" r:id="rId76"/>
    <p:sldId id="315" r:id="rId77"/>
  </p:sldIdLst>
  <p:sldSz cx="12192000" cy="6858000"/>
  <p:notesSz cx="7772400" cy="10058400"/>
  <p:custDataLst>
    <p:tags r:id="rId80"/>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intro" id="{1B701101-3F87-7C40-AAA7-CC7ECC9A03E1}">
          <p14:sldIdLst>
            <p14:sldId id="317"/>
            <p14:sldId id="613"/>
            <p14:sldId id="402"/>
          </p14:sldIdLst>
        </p14:section>
        <p14:section name="Section 1: Compute services overview" id="{6580AF0A-E824-EE4C-BDEB-DBC9366E509F}">
          <p14:sldIdLst>
            <p14:sldId id="445"/>
            <p14:sldId id="904"/>
            <p14:sldId id="528"/>
            <p14:sldId id="910"/>
          </p14:sldIdLst>
        </p14:section>
        <p14:section name="Section 2: Amazon EC2" id="{11BA73F0-6732-5E4A-9F87-6B43194AEFC8}">
          <p14:sldIdLst>
            <p14:sldId id="407"/>
            <p14:sldId id="922"/>
            <p14:sldId id="357"/>
            <p14:sldId id="427"/>
            <p14:sldId id="875"/>
            <p14:sldId id="876"/>
            <p14:sldId id="898"/>
            <p14:sldId id="877"/>
            <p14:sldId id="375"/>
            <p14:sldId id="359"/>
            <p14:sldId id="903"/>
            <p14:sldId id="878"/>
            <p14:sldId id="879"/>
            <p14:sldId id="880"/>
            <p14:sldId id="881"/>
            <p14:sldId id="911"/>
            <p14:sldId id="912"/>
            <p14:sldId id="882"/>
            <p14:sldId id="883"/>
            <p14:sldId id="884"/>
            <p14:sldId id="913"/>
            <p14:sldId id="885"/>
            <p14:sldId id="301"/>
            <p14:sldId id="887"/>
            <p14:sldId id="886"/>
            <p14:sldId id="619"/>
          </p14:sldIdLst>
        </p14:section>
        <p14:section name="Section 3: Amazon EC2 cost optimization" id="{018BC752-F05C-6147-8904-FFB4D98BCB23}">
          <p14:sldIdLst>
            <p14:sldId id="475"/>
            <p14:sldId id="905"/>
            <p14:sldId id="441"/>
            <p14:sldId id="443"/>
            <p14:sldId id="478"/>
            <p14:sldId id="479"/>
            <p14:sldId id="480"/>
            <p14:sldId id="907"/>
            <p14:sldId id="908"/>
            <p14:sldId id="906"/>
            <p14:sldId id="900"/>
          </p14:sldIdLst>
        </p14:section>
        <p14:section name="Section 4: Containers" id="{EE2DB81C-4445-0042-8245-2990DB059D82}">
          <p14:sldIdLst>
            <p14:sldId id="889"/>
            <p14:sldId id="923"/>
            <p14:sldId id="847"/>
            <p14:sldId id="892"/>
            <p14:sldId id="814"/>
            <p14:sldId id="888"/>
            <p14:sldId id="821"/>
            <p14:sldId id="893"/>
            <p14:sldId id="894"/>
            <p14:sldId id="890"/>
            <p14:sldId id="897"/>
            <p14:sldId id="838"/>
          </p14:sldIdLst>
        </p14:section>
        <p14:section name="Section 5: Introduction to AWS Lambda" id="{0E2F2DB6-26F1-1144-8C9A-E00581D845EB}">
          <p14:sldIdLst>
            <p14:sldId id="462"/>
            <p14:sldId id="436"/>
            <p14:sldId id="437"/>
            <p14:sldId id="924"/>
            <p14:sldId id="860"/>
            <p14:sldId id="853"/>
            <p14:sldId id="438"/>
            <p14:sldId id="416"/>
            <p14:sldId id="901"/>
          </p14:sldIdLst>
        </p14:section>
        <p14:section name="Activity - AWS Lambda" id="{FDEFD54F-C0F6-6748-B58C-4CC17B60FDF7}">
          <p14:sldIdLst/>
        </p14:section>
        <p14:section name="Section 6: Introduction to AWS Elastic Beanstalk" id="{F3378C16-EE67-AC41-9A2F-DEDC3CDFC9B1}">
          <p14:sldIdLst>
            <p14:sldId id="470"/>
            <p14:sldId id="471"/>
            <p14:sldId id="534"/>
            <p14:sldId id="472"/>
          </p14:sldIdLst>
        </p14:section>
        <p14:section name="Activity - Elastic Beanstalk" id="{542B38C3-BC5F-FF46-978C-1C3059C71E08}">
          <p14:sldIdLst>
            <p14:sldId id="902"/>
          </p14:sldIdLst>
        </p14:section>
        <p14:section name="Module wrap up" id="{0E0CCB54-1F98-0A47-AEEB-1E262013818F}">
          <p14:sldIdLst>
            <p14:sldId id="863"/>
            <p14:sldId id="623"/>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9"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00D4D-AFC5-B04E-95C0-B629891214E8}" v="56" dt="2025-09-19T20:30:21.7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31" autoAdjust="0"/>
    <p:restoredTop sz="83469" autoAdjust="0"/>
  </p:normalViewPr>
  <p:slideViewPr>
    <p:cSldViewPr snapToGrid="0">
      <p:cViewPr varScale="1">
        <p:scale>
          <a:sx n="81" d="100"/>
          <a:sy n="81" d="100"/>
        </p:scale>
        <p:origin x="184" y="712"/>
      </p:cViewPr>
      <p:guideLst/>
    </p:cSldViewPr>
  </p:slideViewPr>
  <p:outlineViewPr>
    <p:cViewPr>
      <p:scale>
        <a:sx n="33" d="100"/>
        <a:sy n="33" d="100"/>
      </p:scale>
      <p:origin x="0" y="-8298"/>
    </p:cViewPr>
  </p:outlineViewPr>
  <p:notesTextViewPr>
    <p:cViewPr>
      <p:scale>
        <a:sx n="1" d="1"/>
        <a:sy n="1" d="1"/>
      </p:scale>
      <p:origin x="0" y="0"/>
    </p:cViewPr>
  </p:notesTextViewPr>
  <p:notesViewPr>
    <p:cSldViewPr snapToGrid="0">
      <p:cViewPr varScale="1">
        <p:scale>
          <a:sx n="53" d="100"/>
          <a:sy n="53" d="100"/>
        </p:scale>
        <p:origin x="2496" y="2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gs" Target="tags/tag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commentAuthors" Target="commentAuthors.xml"/><Relationship Id="rId86"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5/10/relationships/revisionInfo" Target="revisionInfo.xml"/><Relationship Id="rId61" Type="http://schemas.openxmlformats.org/officeDocument/2006/relationships/slide" Target="slides/slide57.xml"/><Relationship Id="rId8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Elliott" userId="04040a5f-f8f3-4f1b-92ff-388c2ca4c4a6" providerId="ADAL" clId="{E2329216-7C34-5DCE-90A5-A887F6A94933}"/>
    <pc:docChg chg="custSel addSld delSld modSld delSection modSection">
      <pc:chgData name="Rob Elliott" userId="04040a5f-f8f3-4f1b-92ff-388c2ca4c4a6" providerId="ADAL" clId="{E2329216-7C34-5DCE-90A5-A887F6A94933}" dt="2025-09-19T21:06:34.407" v="233" actId="17851"/>
      <pc:docMkLst>
        <pc:docMk/>
      </pc:docMkLst>
      <pc:sldChg chg="del">
        <pc:chgData name="Rob Elliott" userId="04040a5f-f8f3-4f1b-92ff-388c2ca4c4a6" providerId="ADAL" clId="{E2329216-7C34-5DCE-90A5-A887F6A94933}" dt="2025-09-19T20:16:44.725" v="63" actId="2696"/>
        <pc:sldMkLst>
          <pc:docMk/>
          <pc:sldMk cId="2818736239" sldId="309"/>
        </pc:sldMkLst>
      </pc:sldChg>
      <pc:sldChg chg="del">
        <pc:chgData name="Rob Elliott" userId="04040a5f-f8f3-4f1b-92ff-388c2ca4c4a6" providerId="ADAL" clId="{E2329216-7C34-5DCE-90A5-A887F6A94933}" dt="2025-09-19T20:33:51.636" v="230" actId="2696"/>
        <pc:sldMkLst>
          <pc:docMk/>
          <pc:sldMk cId="2260481655" sldId="313"/>
        </pc:sldMkLst>
      </pc:sldChg>
      <pc:sldChg chg="del">
        <pc:chgData name="Rob Elliott" userId="04040a5f-f8f3-4f1b-92ff-388c2ca4c4a6" providerId="ADAL" clId="{E2329216-7C34-5DCE-90A5-A887F6A94933}" dt="2025-09-19T20:33:51.636" v="230" actId="2696"/>
        <pc:sldMkLst>
          <pc:docMk/>
          <pc:sldMk cId="3708661888" sldId="314"/>
        </pc:sldMkLst>
      </pc:sldChg>
      <pc:sldChg chg="modSp mod">
        <pc:chgData name="Rob Elliott" userId="04040a5f-f8f3-4f1b-92ff-388c2ca4c4a6" providerId="ADAL" clId="{E2329216-7C34-5DCE-90A5-A887F6A94933}" dt="2025-09-19T20:12:17.137" v="34" actId="27636"/>
        <pc:sldMkLst>
          <pc:docMk/>
          <pc:sldMk cId="1197069404" sldId="427"/>
        </pc:sldMkLst>
        <pc:spChg chg="mod">
          <ac:chgData name="Rob Elliott" userId="04040a5f-f8f3-4f1b-92ff-388c2ca4c4a6" providerId="ADAL" clId="{E2329216-7C34-5DCE-90A5-A887F6A94933}" dt="2025-09-19T20:12:17.137" v="34" actId="27636"/>
          <ac:spMkLst>
            <pc:docMk/>
            <pc:sldMk cId="1197069404" sldId="427"/>
            <ac:spMk id="3" creationId="{00000000-0000-0000-0000-000000000000}"/>
          </ac:spMkLst>
        </pc:spChg>
      </pc:sldChg>
      <pc:sldChg chg="addSp delSp modSp mod modAnim">
        <pc:chgData name="Rob Elliott" userId="04040a5f-f8f3-4f1b-92ff-388c2ca4c4a6" providerId="ADAL" clId="{E2329216-7C34-5DCE-90A5-A887F6A94933}" dt="2025-09-19T20:30:21.797" v="227" actId="20577"/>
        <pc:sldMkLst>
          <pc:docMk/>
          <pc:sldMk cId="2859903269" sldId="437"/>
        </pc:sldMkLst>
        <pc:spChg chg="mod">
          <ac:chgData name="Rob Elliott" userId="04040a5f-f8f3-4f1b-92ff-388c2ca4c4a6" providerId="ADAL" clId="{E2329216-7C34-5DCE-90A5-A887F6A94933}" dt="2025-09-19T20:28:05.023" v="155" actId="20577"/>
          <ac:spMkLst>
            <pc:docMk/>
            <pc:sldMk cId="2859903269" sldId="437"/>
            <ac:spMk id="2" creationId="{00000000-0000-0000-0000-000000000000}"/>
          </ac:spMkLst>
        </pc:spChg>
        <pc:spChg chg="del">
          <ac:chgData name="Rob Elliott" userId="04040a5f-f8f3-4f1b-92ff-388c2ca4c4a6" providerId="ADAL" clId="{E2329216-7C34-5DCE-90A5-A887F6A94933}" dt="2025-09-19T20:27:30.855" v="109" actId="478"/>
          <ac:spMkLst>
            <pc:docMk/>
            <pc:sldMk cId="2859903269" sldId="437"/>
            <ac:spMk id="3" creationId="{00000000-0000-0000-0000-000000000000}"/>
          </ac:spMkLst>
        </pc:spChg>
        <pc:spChg chg="add mod">
          <ac:chgData name="Rob Elliott" userId="04040a5f-f8f3-4f1b-92ff-388c2ca4c4a6" providerId="ADAL" clId="{E2329216-7C34-5DCE-90A5-A887F6A94933}" dt="2025-09-19T20:29:40.072" v="185" actId="1076"/>
          <ac:spMkLst>
            <pc:docMk/>
            <pc:sldMk cId="2859903269" sldId="437"/>
            <ac:spMk id="6" creationId="{02908754-336B-2D1E-51B6-C2EC1F0F426B}"/>
          </ac:spMkLst>
        </pc:spChg>
        <pc:spChg chg="add mod">
          <ac:chgData name="Rob Elliott" userId="04040a5f-f8f3-4f1b-92ff-388c2ca4c4a6" providerId="ADAL" clId="{E2329216-7C34-5DCE-90A5-A887F6A94933}" dt="2025-09-19T20:29:40.072" v="185" actId="1076"/>
          <ac:spMkLst>
            <pc:docMk/>
            <pc:sldMk cId="2859903269" sldId="437"/>
            <ac:spMk id="9" creationId="{934F7341-0E71-EFC5-E750-C75B5A7A7C96}"/>
          </ac:spMkLst>
        </pc:spChg>
        <pc:spChg chg="add mod">
          <ac:chgData name="Rob Elliott" userId="04040a5f-f8f3-4f1b-92ff-388c2ca4c4a6" providerId="ADAL" clId="{E2329216-7C34-5DCE-90A5-A887F6A94933}" dt="2025-09-19T20:30:21.797" v="227" actId="20577"/>
          <ac:spMkLst>
            <pc:docMk/>
            <pc:sldMk cId="2859903269" sldId="437"/>
            <ac:spMk id="10" creationId="{EA77844F-3795-8285-3A9A-0FF3E91C6FFA}"/>
          </ac:spMkLst>
        </pc:spChg>
        <pc:spChg chg="del">
          <ac:chgData name="Rob Elliott" userId="04040a5f-f8f3-4f1b-92ff-388c2ca4c4a6" providerId="ADAL" clId="{E2329216-7C34-5DCE-90A5-A887F6A94933}" dt="2025-09-19T20:27:30.855" v="109" actId="478"/>
          <ac:spMkLst>
            <pc:docMk/>
            <pc:sldMk cId="2859903269" sldId="437"/>
            <ac:spMk id="15" creationId="{37344E87-7A90-4598-BA4F-228C95A45CD9}"/>
          </ac:spMkLst>
        </pc:spChg>
        <pc:grpChg chg="del">
          <ac:chgData name="Rob Elliott" userId="04040a5f-f8f3-4f1b-92ff-388c2ca4c4a6" providerId="ADAL" clId="{E2329216-7C34-5DCE-90A5-A887F6A94933}" dt="2025-09-19T20:27:24.152" v="108" actId="478"/>
          <ac:grpSpMkLst>
            <pc:docMk/>
            <pc:sldMk cId="2859903269" sldId="437"/>
            <ac:grpSpMk id="8" creationId="{4F62B1B8-919C-D341-A3A2-660D96EA7C49}"/>
          </ac:grpSpMkLst>
        </pc:grpChg>
        <pc:picChg chg="del">
          <ac:chgData name="Rob Elliott" userId="04040a5f-f8f3-4f1b-92ff-388c2ca4c4a6" providerId="ADAL" clId="{E2329216-7C34-5DCE-90A5-A887F6A94933}" dt="2025-09-19T20:27:24.152" v="108" actId="478"/>
          <ac:picMkLst>
            <pc:docMk/>
            <pc:sldMk cId="2859903269" sldId="437"/>
            <ac:picMk id="17" creationId="{9E6C4DA0-7555-4E6F-AE36-0B707D0634AA}"/>
          </ac:picMkLst>
        </pc:picChg>
      </pc:sldChg>
      <pc:sldChg chg="del">
        <pc:chgData name="Rob Elliott" userId="04040a5f-f8f3-4f1b-92ff-388c2ca4c4a6" providerId="ADAL" clId="{E2329216-7C34-5DCE-90A5-A887F6A94933}" dt="2025-09-19T20:16:17.628" v="62" actId="2696"/>
        <pc:sldMkLst>
          <pc:docMk/>
          <pc:sldMk cId="1698085680" sldId="444"/>
        </pc:sldMkLst>
      </pc:sldChg>
      <pc:sldChg chg="del">
        <pc:chgData name="Rob Elliott" userId="04040a5f-f8f3-4f1b-92ff-388c2ca4c4a6" providerId="ADAL" clId="{E2329216-7C34-5DCE-90A5-A887F6A94933}" dt="2025-09-19T20:17:01.554" v="64" actId="2696"/>
        <pc:sldMkLst>
          <pc:docMk/>
          <pc:sldMk cId="1582834627" sldId="506"/>
        </pc:sldMkLst>
      </pc:sldChg>
      <pc:sldChg chg="del">
        <pc:chgData name="Rob Elliott" userId="04040a5f-f8f3-4f1b-92ff-388c2ca4c4a6" providerId="ADAL" clId="{E2329216-7C34-5DCE-90A5-A887F6A94933}" dt="2025-09-19T20:17:01.554" v="64" actId="2696"/>
        <pc:sldMkLst>
          <pc:docMk/>
          <pc:sldMk cId="741571253" sldId="507"/>
        </pc:sldMkLst>
      </pc:sldChg>
      <pc:sldChg chg="del">
        <pc:chgData name="Rob Elliott" userId="04040a5f-f8f3-4f1b-92ff-388c2ca4c4a6" providerId="ADAL" clId="{E2329216-7C34-5DCE-90A5-A887F6A94933}" dt="2025-09-19T20:17:01.554" v="64" actId="2696"/>
        <pc:sldMkLst>
          <pc:docMk/>
          <pc:sldMk cId="4255386912" sldId="509"/>
        </pc:sldMkLst>
      </pc:sldChg>
      <pc:sldChg chg="del">
        <pc:chgData name="Rob Elliott" userId="04040a5f-f8f3-4f1b-92ff-388c2ca4c4a6" providerId="ADAL" clId="{E2329216-7C34-5DCE-90A5-A887F6A94933}" dt="2025-09-19T20:17:01.554" v="64" actId="2696"/>
        <pc:sldMkLst>
          <pc:docMk/>
          <pc:sldMk cId="708822222" sldId="515"/>
        </pc:sldMkLst>
      </pc:sldChg>
      <pc:sldChg chg="modSp mod">
        <pc:chgData name="Rob Elliott" userId="04040a5f-f8f3-4f1b-92ff-388c2ca4c4a6" providerId="ADAL" clId="{E2329216-7C34-5DCE-90A5-A887F6A94933}" dt="2025-09-19T20:12:17.269" v="40" actId="27636"/>
        <pc:sldMkLst>
          <pc:docMk/>
          <pc:sldMk cId="2608221896" sldId="534"/>
        </pc:sldMkLst>
        <pc:spChg chg="mod">
          <ac:chgData name="Rob Elliott" userId="04040a5f-f8f3-4f1b-92ff-388c2ca4c4a6" providerId="ADAL" clId="{E2329216-7C34-5DCE-90A5-A887F6A94933}" dt="2025-09-19T20:12:17.269" v="40" actId="27636"/>
          <ac:spMkLst>
            <pc:docMk/>
            <pc:sldMk cId="2608221896" sldId="534"/>
            <ac:spMk id="3" creationId="{00000000-0000-0000-0000-000000000000}"/>
          </ac:spMkLst>
        </pc:spChg>
      </pc:sldChg>
      <pc:sldChg chg="del">
        <pc:chgData name="Rob Elliott" userId="04040a5f-f8f3-4f1b-92ff-388c2ca4c4a6" providerId="ADAL" clId="{E2329216-7C34-5DCE-90A5-A887F6A94933}" dt="2025-09-19T20:17:01.554" v="64" actId="2696"/>
        <pc:sldMkLst>
          <pc:docMk/>
          <pc:sldMk cId="3317484453" sldId="621"/>
        </pc:sldMkLst>
      </pc:sldChg>
      <pc:sldChg chg="del">
        <pc:chgData name="Rob Elliott" userId="04040a5f-f8f3-4f1b-92ff-388c2ca4c4a6" providerId="ADAL" clId="{E2329216-7C34-5DCE-90A5-A887F6A94933}" dt="2025-09-19T20:17:01.554" v="64" actId="2696"/>
        <pc:sldMkLst>
          <pc:docMk/>
          <pc:sldMk cId="2344136961" sldId="622"/>
        </pc:sldMkLst>
      </pc:sldChg>
      <pc:sldChg chg="del">
        <pc:chgData name="Rob Elliott" userId="04040a5f-f8f3-4f1b-92ff-388c2ca4c4a6" providerId="ADAL" clId="{E2329216-7C34-5DCE-90A5-A887F6A94933}" dt="2025-09-19T20:33:51.636" v="230" actId="2696"/>
        <pc:sldMkLst>
          <pc:docMk/>
          <pc:sldMk cId="1351521085" sldId="628"/>
        </pc:sldMkLst>
      </pc:sldChg>
      <pc:sldChg chg="del">
        <pc:chgData name="Rob Elliott" userId="04040a5f-f8f3-4f1b-92ff-388c2ca4c4a6" providerId="ADAL" clId="{E2329216-7C34-5DCE-90A5-A887F6A94933}" dt="2025-09-19T20:26:23.235" v="106" actId="2696"/>
        <pc:sldMkLst>
          <pc:docMk/>
          <pc:sldMk cId="3557153766" sldId="728"/>
        </pc:sldMkLst>
      </pc:sldChg>
      <pc:sldChg chg="del">
        <pc:chgData name="Rob Elliott" userId="04040a5f-f8f3-4f1b-92ff-388c2ca4c4a6" providerId="ADAL" clId="{E2329216-7C34-5DCE-90A5-A887F6A94933}" dt="2025-09-19T20:17:01.554" v="64" actId="2696"/>
        <pc:sldMkLst>
          <pc:docMk/>
          <pc:sldMk cId="1939238074" sldId="856"/>
        </pc:sldMkLst>
      </pc:sldChg>
      <pc:sldChg chg="del">
        <pc:chgData name="Rob Elliott" userId="04040a5f-f8f3-4f1b-92ff-388c2ca4c4a6" providerId="ADAL" clId="{E2329216-7C34-5DCE-90A5-A887F6A94933}" dt="2025-09-19T20:17:01.554" v="64" actId="2696"/>
        <pc:sldMkLst>
          <pc:docMk/>
          <pc:sldMk cId="1306560412" sldId="899"/>
        </pc:sldMkLst>
      </pc:sldChg>
      <pc:sldChg chg="modSp mod">
        <pc:chgData name="Rob Elliott" userId="04040a5f-f8f3-4f1b-92ff-388c2ca4c4a6" providerId="ADAL" clId="{E2329216-7C34-5DCE-90A5-A887F6A94933}" dt="2025-09-19T20:12:17.224" v="37" actId="27636"/>
        <pc:sldMkLst>
          <pc:docMk/>
          <pc:sldMk cId="1415158406" sldId="905"/>
        </pc:sldMkLst>
        <pc:spChg chg="mod">
          <ac:chgData name="Rob Elliott" userId="04040a5f-f8f3-4f1b-92ff-388c2ca4c4a6" providerId="ADAL" clId="{E2329216-7C34-5DCE-90A5-A887F6A94933}" dt="2025-09-19T20:12:17.224" v="37" actId="27636"/>
          <ac:spMkLst>
            <pc:docMk/>
            <pc:sldMk cId="1415158406" sldId="905"/>
            <ac:spMk id="10" creationId="{1461312D-F447-604C-8AAE-F61C8F9D43AB}"/>
          </ac:spMkLst>
        </pc:spChg>
      </pc:sldChg>
      <pc:sldChg chg="del">
        <pc:chgData name="Rob Elliott" userId="04040a5f-f8f3-4f1b-92ff-388c2ca4c4a6" providerId="ADAL" clId="{E2329216-7C34-5DCE-90A5-A887F6A94933}" dt="2025-09-19T20:33:51.636" v="230" actId="2696"/>
        <pc:sldMkLst>
          <pc:docMk/>
          <pc:sldMk cId="4079356396" sldId="909"/>
        </pc:sldMkLst>
      </pc:sldChg>
      <pc:sldChg chg="modSp mod">
        <pc:chgData name="Rob Elliott" userId="04040a5f-f8f3-4f1b-92ff-388c2ca4c4a6" providerId="ADAL" clId="{E2329216-7C34-5DCE-90A5-A887F6A94933}" dt="2025-09-19T20:12:17.186" v="35" actId="27636"/>
        <pc:sldMkLst>
          <pc:docMk/>
          <pc:sldMk cId="2837966812" sldId="913"/>
        </pc:sldMkLst>
        <pc:spChg chg="mod">
          <ac:chgData name="Rob Elliott" userId="04040a5f-f8f3-4f1b-92ff-388c2ca4c4a6" providerId="ADAL" clId="{E2329216-7C34-5DCE-90A5-A887F6A94933}" dt="2025-09-19T20:12:17.186" v="35" actId="27636"/>
          <ac:spMkLst>
            <pc:docMk/>
            <pc:sldMk cId="2837966812" sldId="913"/>
            <ac:spMk id="2" creationId="{8F0CBB63-9388-144A-A1AB-BB832437E3CA}"/>
          </ac:spMkLst>
        </pc:spChg>
      </pc:sldChg>
      <pc:sldChg chg="del">
        <pc:chgData name="Rob Elliott" userId="04040a5f-f8f3-4f1b-92ff-388c2ca4c4a6" providerId="ADAL" clId="{E2329216-7C34-5DCE-90A5-A887F6A94933}" dt="2025-09-19T20:33:42.418" v="229" actId="2696"/>
        <pc:sldMkLst>
          <pc:docMk/>
          <pc:sldMk cId="3764187503" sldId="914"/>
        </pc:sldMkLst>
      </pc:sldChg>
      <pc:sldChg chg="del">
        <pc:chgData name="Rob Elliott" userId="04040a5f-f8f3-4f1b-92ff-388c2ca4c4a6" providerId="ADAL" clId="{E2329216-7C34-5DCE-90A5-A887F6A94933}" dt="2025-09-19T20:17:01.554" v="64" actId="2696"/>
        <pc:sldMkLst>
          <pc:docMk/>
          <pc:sldMk cId="1701890081" sldId="916"/>
        </pc:sldMkLst>
      </pc:sldChg>
      <pc:sldChg chg="modSp del mod">
        <pc:chgData name="Rob Elliott" userId="04040a5f-f8f3-4f1b-92ff-388c2ca4c4a6" providerId="ADAL" clId="{E2329216-7C34-5DCE-90A5-A887F6A94933}" dt="2025-09-19T20:17:01.554" v="64" actId="2696"/>
        <pc:sldMkLst>
          <pc:docMk/>
          <pc:sldMk cId="3765734197" sldId="917"/>
        </pc:sldMkLst>
        <pc:spChg chg="mod">
          <ac:chgData name="Rob Elliott" userId="04040a5f-f8f3-4f1b-92ff-388c2ca4c4a6" providerId="ADAL" clId="{E2329216-7C34-5DCE-90A5-A887F6A94933}" dt="2025-09-19T20:12:17.213" v="36" actId="27636"/>
          <ac:spMkLst>
            <pc:docMk/>
            <pc:sldMk cId="3765734197" sldId="917"/>
            <ac:spMk id="8" creationId="{CF931B10-7FA9-754A-A87B-F600D44AAF8E}"/>
          </ac:spMkLst>
        </pc:spChg>
      </pc:sldChg>
      <pc:sldChg chg="modSp del mod">
        <pc:chgData name="Rob Elliott" userId="04040a5f-f8f3-4f1b-92ff-388c2ca4c4a6" providerId="ADAL" clId="{E2329216-7C34-5DCE-90A5-A887F6A94933}" dt="2025-09-19T20:33:42.418" v="229" actId="2696"/>
        <pc:sldMkLst>
          <pc:docMk/>
          <pc:sldMk cId="2898494454" sldId="918"/>
        </pc:sldMkLst>
        <pc:spChg chg="mod">
          <ac:chgData name="Rob Elliott" userId="04040a5f-f8f3-4f1b-92ff-388c2ca4c4a6" providerId="ADAL" clId="{E2329216-7C34-5DCE-90A5-A887F6A94933}" dt="2025-09-19T20:12:17.273" v="41" actId="27636"/>
          <ac:spMkLst>
            <pc:docMk/>
            <pc:sldMk cId="2898494454" sldId="918"/>
            <ac:spMk id="4" creationId="{F89D4C57-8ACE-7A46-BE45-25F2ADAE9651}"/>
          </ac:spMkLst>
        </pc:spChg>
      </pc:sldChg>
      <pc:sldChg chg="modSp del mod">
        <pc:chgData name="Rob Elliott" userId="04040a5f-f8f3-4f1b-92ff-388c2ca4c4a6" providerId="ADAL" clId="{E2329216-7C34-5DCE-90A5-A887F6A94933}" dt="2025-09-19T20:33:15.008" v="228" actId="2696"/>
        <pc:sldMkLst>
          <pc:docMk/>
          <pc:sldMk cId="1697466557" sldId="920"/>
        </pc:sldMkLst>
        <pc:spChg chg="mod">
          <ac:chgData name="Rob Elliott" userId="04040a5f-f8f3-4f1b-92ff-388c2ca4c4a6" providerId="ADAL" clId="{E2329216-7C34-5DCE-90A5-A887F6A94933}" dt="2025-09-19T20:12:17.255" v="38" actId="27636"/>
          <ac:spMkLst>
            <pc:docMk/>
            <pc:sldMk cId="1697466557" sldId="920"/>
            <ac:spMk id="3" creationId="{017FB012-E14B-5F43-B605-4C7071827C78}"/>
          </ac:spMkLst>
        </pc:spChg>
      </pc:sldChg>
      <pc:sldChg chg="modSp del mod">
        <pc:chgData name="Rob Elliott" userId="04040a5f-f8f3-4f1b-92ff-388c2ca4c4a6" providerId="ADAL" clId="{E2329216-7C34-5DCE-90A5-A887F6A94933}" dt="2025-09-19T20:33:15.008" v="228" actId="2696"/>
        <pc:sldMkLst>
          <pc:docMk/>
          <pc:sldMk cId="3377961422" sldId="921"/>
        </pc:sldMkLst>
        <pc:spChg chg="mod">
          <ac:chgData name="Rob Elliott" userId="04040a5f-f8f3-4f1b-92ff-388c2ca4c4a6" providerId="ADAL" clId="{E2329216-7C34-5DCE-90A5-A887F6A94933}" dt="2025-09-19T20:12:17.259" v="39" actId="27636"/>
          <ac:spMkLst>
            <pc:docMk/>
            <pc:sldMk cId="3377961422" sldId="921"/>
            <ac:spMk id="4" creationId="{F89D4C57-8ACE-7A46-BE45-25F2ADAE9651}"/>
          </ac:spMkLst>
        </pc:spChg>
      </pc:sldChg>
      <pc:sldChg chg="addSp delSp modSp new mod modClrScheme modAnim chgLayout">
        <pc:chgData name="Rob Elliott" userId="04040a5f-f8f3-4f1b-92ff-388c2ca4c4a6" providerId="ADAL" clId="{E2329216-7C34-5DCE-90A5-A887F6A94933}" dt="2025-09-19T20:24:30.103" v="101"/>
        <pc:sldMkLst>
          <pc:docMk/>
          <pc:sldMk cId="65762427" sldId="922"/>
        </pc:sldMkLst>
        <pc:spChg chg="mod ord">
          <ac:chgData name="Rob Elliott" userId="04040a5f-f8f3-4f1b-92ff-388c2ca4c4a6" providerId="ADAL" clId="{E2329216-7C34-5DCE-90A5-A887F6A94933}" dt="2025-09-19T20:10:58.757" v="1" actId="700"/>
          <ac:spMkLst>
            <pc:docMk/>
            <pc:sldMk cId="65762427" sldId="922"/>
            <ac:spMk id="2" creationId="{36BBFA11-2B1B-8E37-166C-4E1F3B24C661}"/>
          </ac:spMkLst>
        </pc:spChg>
        <pc:spChg chg="del mod ord">
          <ac:chgData name="Rob Elliott" userId="04040a5f-f8f3-4f1b-92ff-388c2ca4c4a6" providerId="ADAL" clId="{E2329216-7C34-5DCE-90A5-A887F6A94933}" dt="2025-09-19T20:10:58.757" v="1" actId="700"/>
          <ac:spMkLst>
            <pc:docMk/>
            <pc:sldMk cId="65762427" sldId="922"/>
            <ac:spMk id="3" creationId="{4F979F7D-1A75-D46F-06FD-CF4C64439877}"/>
          </ac:spMkLst>
        </pc:spChg>
        <pc:spChg chg="del">
          <ac:chgData name="Rob Elliott" userId="04040a5f-f8f3-4f1b-92ff-388c2ca4c4a6" providerId="ADAL" clId="{E2329216-7C34-5DCE-90A5-A887F6A94933}" dt="2025-09-19T20:10:58.757" v="1" actId="700"/>
          <ac:spMkLst>
            <pc:docMk/>
            <pc:sldMk cId="65762427" sldId="922"/>
            <ac:spMk id="4" creationId="{949A2A6C-47FC-B455-3372-C65F281714B8}"/>
          </ac:spMkLst>
        </pc:spChg>
        <pc:spChg chg="del">
          <ac:chgData name="Rob Elliott" userId="04040a5f-f8f3-4f1b-92ff-388c2ca4c4a6" providerId="ADAL" clId="{E2329216-7C34-5DCE-90A5-A887F6A94933}" dt="2025-09-19T20:10:58.757" v="1" actId="700"/>
          <ac:spMkLst>
            <pc:docMk/>
            <pc:sldMk cId="65762427" sldId="922"/>
            <ac:spMk id="5" creationId="{552B9483-BAFD-FF45-D503-04737704D90F}"/>
          </ac:spMkLst>
        </pc:spChg>
        <pc:spChg chg="del mod ord">
          <ac:chgData name="Rob Elliott" userId="04040a5f-f8f3-4f1b-92ff-388c2ca4c4a6" providerId="ADAL" clId="{E2329216-7C34-5DCE-90A5-A887F6A94933}" dt="2025-09-19T20:10:58.757" v="1" actId="700"/>
          <ac:spMkLst>
            <pc:docMk/>
            <pc:sldMk cId="65762427" sldId="922"/>
            <ac:spMk id="6" creationId="{99376138-A0B9-2709-E77D-D3559A4D89E3}"/>
          </ac:spMkLst>
        </pc:spChg>
        <pc:spChg chg="add mod ord">
          <ac:chgData name="Rob Elliott" userId="04040a5f-f8f3-4f1b-92ff-388c2ca4c4a6" providerId="ADAL" clId="{E2329216-7C34-5DCE-90A5-A887F6A94933}" dt="2025-09-19T20:12:30.712" v="50" actId="27636"/>
          <ac:spMkLst>
            <pc:docMk/>
            <pc:sldMk cId="65762427" sldId="922"/>
            <ac:spMk id="7" creationId="{9367B803-A2CE-7D95-797B-C1EA308B990F}"/>
          </ac:spMkLst>
        </pc:spChg>
        <pc:spChg chg="add del mod ord">
          <ac:chgData name="Rob Elliott" userId="04040a5f-f8f3-4f1b-92ff-388c2ca4c4a6" providerId="ADAL" clId="{E2329216-7C34-5DCE-90A5-A887F6A94933}" dt="2025-09-19T20:12:35.162" v="51" actId="478"/>
          <ac:spMkLst>
            <pc:docMk/>
            <pc:sldMk cId="65762427" sldId="922"/>
            <ac:spMk id="8" creationId="{30CFB785-CD9F-0845-DEC3-93C4A51AEFB9}"/>
          </ac:spMkLst>
        </pc:spChg>
        <pc:picChg chg="add mod">
          <ac:chgData name="Rob Elliott" userId="04040a5f-f8f3-4f1b-92ff-388c2ca4c4a6" providerId="ADAL" clId="{E2329216-7C34-5DCE-90A5-A887F6A94933}" dt="2025-09-19T20:14:28.104" v="61" actId="1582"/>
          <ac:picMkLst>
            <pc:docMk/>
            <pc:sldMk cId="65762427" sldId="922"/>
            <ac:picMk id="10" creationId="{56220046-C16D-4C30-279D-3A192954FD55}"/>
          </ac:picMkLst>
        </pc:picChg>
        <pc:picChg chg="add mod">
          <ac:chgData name="Rob Elliott" userId="04040a5f-f8f3-4f1b-92ff-388c2ca4c4a6" providerId="ADAL" clId="{E2329216-7C34-5DCE-90A5-A887F6A94933}" dt="2025-09-19T20:14:28.104" v="61" actId="1582"/>
          <ac:picMkLst>
            <pc:docMk/>
            <pc:sldMk cId="65762427" sldId="922"/>
            <ac:picMk id="12" creationId="{3BDDF530-1165-15CF-8363-8570D91CD8B7}"/>
          </ac:picMkLst>
        </pc:picChg>
      </pc:sldChg>
      <pc:sldChg chg="addSp delSp modSp new mod modAnim">
        <pc:chgData name="Rob Elliott" userId="04040a5f-f8f3-4f1b-92ff-388c2ca4c4a6" providerId="ADAL" clId="{E2329216-7C34-5DCE-90A5-A887F6A94933}" dt="2025-09-19T20:24:54.187" v="105"/>
        <pc:sldMkLst>
          <pc:docMk/>
          <pc:sldMk cId="1074450601" sldId="923"/>
        </pc:sldMkLst>
        <pc:spChg chg="mod">
          <ac:chgData name="Rob Elliott" userId="04040a5f-f8f3-4f1b-92ff-388c2ca4c4a6" providerId="ADAL" clId="{E2329216-7C34-5DCE-90A5-A887F6A94933}" dt="2025-09-19T20:23:50.897" v="89" actId="20577"/>
          <ac:spMkLst>
            <pc:docMk/>
            <pc:sldMk cId="1074450601" sldId="923"/>
            <ac:spMk id="3" creationId="{43365D48-354F-2356-ECDA-FC3CA918BB15}"/>
          </ac:spMkLst>
        </pc:spChg>
        <pc:spChg chg="del">
          <ac:chgData name="Rob Elliott" userId="04040a5f-f8f3-4f1b-92ff-388c2ca4c4a6" providerId="ADAL" clId="{E2329216-7C34-5DCE-90A5-A887F6A94933}" dt="2025-09-19T20:23:55.653" v="90"/>
          <ac:spMkLst>
            <pc:docMk/>
            <pc:sldMk cId="1074450601" sldId="923"/>
            <ac:spMk id="4" creationId="{1B1729C0-CFD1-D32F-549F-BE482FFF4EA6}"/>
          </ac:spMkLst>
        </pc:spChg>
        <pc:picChg chg="add mod">
          <ac:chgData name="Rob Elliott" userId="04040a5f-f8f3-4f1b-92ff-388c2ca4c4a6" providerId="ADAL" clId="{E2329216-7C34-5DCE-90A5-A887F6A94933}" dt="2025-09-19T20:24:43.878" v="102" actId="108"/>
          <ac:picMkLst>
            <pc:docMk/>
            <pc:sldMk cId="1074450601" sldId="923"/>
            <ac:picMk id="6" creationId="{7D021D93-ECC9-8F47-BDE5-8CF7E145F64D}"/>
          </ac:picMkLst>
        </pc:picChg>
        <pc:picChg chg="add mod">
          <ac:chgData name="Rob Elliott" userId="04040a5f-f8f3-4f1b-92ff-388c2ca4c4a6" providerId="ADAL" clId="{E2329216-7C34-5DCE-90A5-A887F6A94933}" dt="2025-09-19T20:24:48.199" v="103" actId="108"/>
          <ac:picMkLst>
            <pc:docMk/>
            <pc:sldMk cId="1074450601" sldId="923"/>
            <ac:picMk id="8" creationId="{F1DCA829-4980-7EC3-61E3-7D9959B81D24}"/>
          </ac:picMkLst>
        </pc:picChg>
      </pc:sldChg>
      <pc:sldChg chg="add">
        <pc:chgData name="Rob Elliott" userId="04040a5f-f8f3-4f1b-92ff-388c2ca4c4a6" providerId="ADAL" clId="{E2329216-7C34-5DCE-90A5-A887F6A94933}" dt="2025-09-19T20:27:19.088" v="107" actId="2890"/>
        <pc:sldMkLst>
          <pc:docMk/>
          <pc:sldMk cId="2133019404" sldId="924"/>
        </pc:sldMkLst>
      </pc:sldChg>
      <pc:sldMasterChg chg="delSldLayout">
        <pc:chgData name="Rob Elliott" userId="04040a5f-f8f3-4f1b-92ff-388c2ca4c4a6" providerId="ADAL" clId="{E2329216-7C34-5DCE-90A5-A887F6A94933}" dt="2025-09-19T20:33:51.636" v="230" actId="2696"/>
        <pc:sldMasterMkLst>
          <pc:docMk/>
          <pc:sldMasterMk cId="1924365284" sldId="2147483998"/>
        </pc:sldMasterMkLst>
        <pc:sldLayoutChg chg="del">
          <pc:chgData name="Rob Elliott" userId="04040a5f-f8f3-4f1b-92ff-388c2ca4c4a6" providerId="ADAL" clId="{E2329216-7C34-5DCE-90A5-A887F6A94933}" dt="2025-09-19T20:33:51.636" v="230" actId="2696"/>
          <pc:sldLayoutMkLst>
            <pc:docMk/>
            <pc:sldMasterMk cId="1924365284" sldId="2147483998"/>
            <pc:sldLayoutMk cId="565882242" sldId="214748409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71B95F-0152-4BC6-A75E-7A3E15369575}" type="doc">
      <dgm:prSet loTypeId="urn:microsoft.com/office/officeart/2005/8/layout/hList3" loCatId="list" qsTypeId="urn:microsoft.com/office/officeart/2005/8/quickstyle/3d2" qsCatId="3D" csTypeId="urn:microsoft.com/office/officeart/2005/8/colors/accent1_2" csCatId="accent1" phldr="1"/>
      <dgm:spPr/>
      <dgm:t>
        <a:bodyPr/>
        <a:lstStyle/>
        <a:p>
          <a:endParaRPr lang="en-US"/>
        </a:p>
      </dgm:t>
    </dgm:pt>
    <dgm:pt modelId="{27BF25D9-7B5C-4ACC-B04D-4AB2E0D08FE1}">
      <dgm:prSet phldrT="[Text]" custT="1"/>
      <dgm:spPr>
        <a:solidFill>
          <a:srgbClr val="7E93EE"/>
        </a:solidFill>
      </dgm:spPr>
      <dgm:t>
        <a:bodyPr/>
        <a:lstStyle/>
        <a:p>
          <a:r>
            <a:rPr lang="en-US" sz="2000" dirty="0">
              <a:solidFill>
                <a:schemeClr val="tx1"/>
              </a:solidFill>
            </a:rPr>
            <a:t>Containers have everything the software needs to run:</a:t>
          </a:r>
        </a:p>
      </dgm:t>
      <dgm:extLst>
        <a:ext uri="{E40237B7-FDA0-4F09-8148-C483321AD2D9}">
          <dgm14:cNvPr xmlns:dgm14="http://schemas.microsoft.com/office/drawing/2010/diagram" id="0" name="" descr="graphic that shows that containers have everything the software needs to run: libraries, system tools, code, and runtime."/>
        </a:ext>
      </dgm:extLst>
    </dgm:pt>
    <dgm:pt modelId="{A422086E-C030-4EF1-BED5-234E8E9C8B6C}" type="parTrans" cxnId="{CD80CAFF-1231-43E6-BE2C-CDED94D59598}">
      <dgm:prSet/>
      <dgm:spPr/>
      <dgm:t>
        <a:bodyPr/>
        <a:lstStyle/>
        <a:p>
          <a:endParaRPr lang="en-US" sz="1400"/>
        </a:p>
      </dgm:t>
    </dgm:pt>
    <dgm:pt modelId="{680F9842-8DE6-4FB9-9126-B45B07C28117}" type="sibTrans" cxnId="{CD80CAFF-1231-43E6-BE2C-CDED94D59598}">
      <dgm:prSet/>
      <dgm:spPr/>
      <dgm:t>
        <a:bodyPr/>
        <a:lstStyle/>
        <a:p>
          <a:endParaRPr lang="en-US" sz="1400"/>
        </a:p>
      </dgm:t>
    </dgm:pt>
    <dgm:pt modelId="{05624B2C-A004-411F-9989-C3B620BBB5F9}">
      <dgm:prSet custT="1"/>
      <dgm:spPr>
        <a:solidFill>
          <a:srgbClr val="7CD1EA"/>
        </a:solidFill>
      </dgm:spPr>
      <dgm:t>
        <a:bodyPr/>
        <a:lstStyle/>
        <a:p>
          <a:r>
            <a:rPr lang="en-US" sz="1600" b="1" dirty="0">
              <a:solidFill>
                <a:schemeClr val="tx1"/>
              </a:solidFill>
            </a:rPr>
            <a:t>Libraries</a:t>
          </a:r>
        </a:p>
      </dgm:t>
    </dgm:pt>
    <dgm:pt modelId="{C4A754D7-5B34-4ADA-A252-AA865038BD33}" type="parTrans" cxnId="{B821AC82-E459-4018-A56C-30A1FF7B55F2}">
      <dgm:prSet/>
      <dgm:spPr/>
      <dgm:t>
        <a:bodyPr/>
        <a:lstStyle/>
        <a:p>
          <a:endParaRPr lang="en-US" sz="1400"/>
        </a:p>
      </dgm:t>
    </dgm:pt>
    <dgm:pt modelId="{E9328BB3-92D5-4DA3-A89B-FD184A873428}" type="sibTrans" cxnId="{B821AC82-E459-4018-A56C-30A1FF7B55F2}">
      <dgm:prSet/>
      <dgm:spPr/>
      <dgm:t>
        <a:bodyPr/>
        <a:lstStyle/>
        <a:p>
          <a:endParaRPr lang="en-US" sz="1400"/>
        </a:p>
      </dgm:t>
    </dgm:pt>
    <dgm:pt modelId="{F79F8366-79E8-411C-AF5A-DA1FE7668643}">
      <dgm:prSet custT="1"/>
      <dgm:spPr>
        <a:solidFill>
          <a:srgbClr val="7CD1EA"/>
        </a:solidFill>
      </dgm:spPr>
      <dgm:t>
        <a:bodyPr/>
        <a:lstStyle/>
        <a:p>
          <a:r>
            <a:rPr lang="en-US" sz="1600" b="1" dirty="0">
              <a:solidFill>
                <a:schemeClr val="tx1"/>
              </a:solidFill>
            </a:rPr>
            <a:t>System tools</a:t>
          </a:r>
        </a:p>
      </dgm:t>
    </dgm:pt>
    <dgm:pt modelId="{A0C61B60-0F4E-4392-9E20-6FB6D1BC8153}" type="parTrans" cxnId="{C260A626-E34D-4D66-812A-B475267D90C8}">
      <dgm:prSet/>
      <dgm:spPr/>
      <dgm:t>
        <a:bodyPr/>
        <a:lstStyle/>
        <a:p>
          <a:endParaRPr lang="en-US" sz="1400"/>
        </a:p>
      </dgm:t>
    </dgm:pt>
    <dgm:pt modelId="{FF82F6BC-C571-472B-B2DE-497292D37F06}" type="sibTrans" cxnId="{C260A626-E34D-4D66-812A-B475267D90C8}">
      <dgm:prSet/>
      <dgm:spPr/>
      <dgm:t>
        <a:bodyPr/>
        <a:lstStyle/>
        <a:p>
          <a:endParaRPr lang="en-US" sz="1400"/>
        </a:p>
      </dgm:t>
    </dgm:pt>
    <dgm:pt modelId="{779E046E-758E-46E7-848F-2E098EE13A5A}">
      <dgm:prSet custT="1"/>
      <dgm:spPr>
        <a:solidFill>
          <a:srgbClr val="7CD1EA"/>
        </a:solidFill>
      </dgm:spPr>
      <dgm:t>
        <a:bodyPr/>
        <a:lstStyle/>
        <a:p>
          <a:r>
            <a:rPr lang="en-US" sz="1600" b="1" dirty="0">
              <a:solidFill>
                <a:schemeClr val="tx1"/>
              </a:solidFill>
            </a:rPr>
            <a:t>Code</a:t>
          </a:r>
        </a:p>
      </dgm:t>
    </dgm:pt>
    <dgm:pt modelId="{6F07F4BB-36C0-4643-8944-35CB4B827EFF}" type="parTrans" cxnId="{B4C7325D-9981-49FE-8F48-FB11B2B8A422}">
      <dgm:prSet/>
      <dgm:spPr/>
      <dgm:t>
        <a:bodyPr/>
        <a:lstStyle/>
        <a:p>
          <a:endParaRPr lang="en-US" sz="1400"/>
        </a:p>
      </dgm:t>
    </dgm:pt>
    <dgm:pt modelId="{5788E15F-E9E1-44BC-BB0C-31D57F81AFDA}" type="sibTrans" cxnId="{B4C7325D-9981-49FE-8F48-FB11B2B8A422}">
      <dgm:prSet/>
      <dgm:spPr/>
      <dgm:t>
        <a:bodyPr/>
        <a:lstStyle/>
        <a:p>
          <a:endParaRPr lang="en-US" sz="1400"/>
        </a:p>
      </dgm:t>
    </dgm:pt>
    <dgm:pt modelId="{77C1F93A-F086-430B-8F4E-608DA2DE2078}">
      <dgm:prSet custT="1"/>
      <dgm:spPr>
        <a:solidFill>
          <a:srgbClr val="7CD1EA"/>
        </a:solidFill>
      </dgm:spPr>
      <dgm:t>
        <a:bodyPr/>
        <a:lstStyle/>
        <a:p>
          <a:r>
            <a:rPr lang="en-US" sz="1600" b="1" dirty="0">
              <a:solidFill>
                <a:schemeClr val="tx1"/>
              </a:solidFill>
            </a:rPr>
            <a:t>Runtime</a:t>
          </a:r>
        </a:p>
      </dgm:t>
    </dgm:pt>
    <dgm:pt modelId="{460F18F5-5F2E-40C5-9268-D4D6BE0717E0}" type="parTrans" cxnId="{016971A2-EC23-4E96-B52A-CE366620F211}">
      <dgm:prSet/>
      <dgm:spPr/>
      <dgm:t>
        <a:bodyPr/>
        <a:lstStyle/>
        <a:p>
          <a:endParaRPr lang="en-US" sz="1400"/>
        </a:p>
      </dgm:t>
    </dgm:pt>
    <dgm:pt modelId="{BAB575AB-C0CA-4325-821F-38FDA42E62F1}" type="sibTrans" cxnId="{016971A2-EC23-4E96-B52A-CE366620F211}">
      <dgm:prSet/>
      <dgm:spPr/>
      <dgm:t>
        <a:bodyPr/>
        <a:lstStyle/>
        <a:p>
          <a:endParaRPr lang="en-US" sz="1400"/>
        </a:p>
      </dgm:t>
    </dgm:pt>
    <dgm:pt modelId="{CF54AEB1-99FE-4305-B577-D86CF943BDD9}" type="pres">
      <dgm:prSet presAssocID="{1371B95F-0152-4BC6-A75E-7A3E15369575}" presName="composite" presStyleCnt="0">
        <dgm:presLayoutVars>
          <dgm:chMax val="1"/>
          <dgm:dir/>
          <dgm:resizeHandles val="exact"/>
        </dgm:presLayoutVars>
      </dgm:prSet>
      <dgm:spPr/>
    </dgm:pt>
    <dgm:pt modelId="{C7095A9B-2C84-4482-81A9-78BCFFB45E97}" type="pres">
      <dgm:prSet presAssocID="{27BF25D9-7B5C-4ACC-B04D-4AB2E0D08FE1}" presName="roof" presStyleLbl="dkBgShp" presStyleIdx="0" presStyleCnt="2"/>
      <dgm:spPr/>
    </dgm:pt>
    <dgm:pt modelId="{73AB559A-31D1-487F-8D33-BA0DE3EE6C6A}" type="pres">
      <dgm:prSet presAssocID="{27BF25D9-7B5C-4ACC-B04D-4AB2E0D08FE1}" presName="pillars" presStyleCnt="0"/>
      <dgm:spPr/>
    </dgm:pt>
    <dgm:pt modelId="{2F54EFDB-08C2-417E-BFFC-8493C9EE257C}" type="pres">
      <dgm:prSet presAssocID="{27BF25D9-7B5C-4ACC-B04D-4AB2E0D08FE1}" presName="pillar1" presStyleLbl="node1" presStyleIdx="0" presStyleCnt="4">
        <dgm:presLayoutVars>
          <dgm:bulletEnabled val="1"/>
        </dgm:presLayoutVars>
      </dgm:prSet>
      <dgm:spPr/>
    </dgm:pt>
    <dgm:pt modelId="{401A43B2-E82F-413C-BF15-1385C2210D64}" type="pres">
      <dgm:prSet presAssocID="{F79F8366-79E8-411C-AF5A-DA1FE7668643}" presName="pillarX" presStyleLbl="node1" presStyleIdx="1" presStyleCnt="4">
        <dgm:presLayoutVars>
          <dgm:bulletEnabled val="1"/>
        </dgm:presLayoutVars>
      </dgm:prSet>
      <dgm:spPr/>
    </dgm:pt>
    <dgm:pt modelId="{D89256C5-3A58-4C60-9D7B-FF3764429843}" type="pres">
      <dgm:prSet presAssocID="{779E046E-758E-46E7-848F-2E098EE13A5A}" presName="pillarX" presStyleLbl="node1" presStyleIdx="2" presStyleCnt="4">
        <dgm:presLayoutVars>
          <dgm:bulletEnabled val="1"/>
        </dgm:presLayoutVars>
      </dgm:prSet>
      <dgm:spPr/>
    </dgm:pt>
    <dgm:pt modelId="{931F69F0-1FCB-4930-B374-FB82476EBE48}" type="pres">
      <dgm:prSet presAssocID="{77C1F93A-F086-430B-8F4E-608DA2DE2078}" presName="pillarX" presStyleLbl="node1" presStyleIdx="3" presStyleCnt="4">
        <dgm:presLayoutVars>
          <dgm:bulletEnabled val="1"/>
        </dgm:presLayoutVars>
      </dgm:prSet>
      <dgm:spPr/>
    </dgm:pt>
    <dgm:pt modelId="{9F93B5F7-2B16-4606-B88C-2390E7611E4B}" type="pres">
      <dgm:prSet presAssocID="{27BF25D9-7B5C-4ACC-B04D-4AB2E0D08FE1}" presName="base" presStyleLbl="dkBgShp" presStyleIdx="1" presStyleCnt="2"/>
      <dgm:spPr>
        <a:solidFill>
          <a:srgbClr val="7E93EE"/>
        </a:solidFill>
      </dgm:spPr>
    </dgm:pt>
  </dgm:ptLst>
  <dgm:cxnLst>
    <dgm:cxn modelId="{AB0A6816-95EC-4497-B150-F4809F1A3425}" type="presOf" srcId="{77C1F93A-F086-430B-8F4E-608DA2DE2078}" destId="{931F69F0-1FCB-4930-B374-FB82476EBE48}" srcOrd="0" destOrd="0" presId="urn:microsoft.com/office/officeart/2005/8/layout/hList3"/>
    <dgm:cxn modelId="{6942AC19-F324-498E-96AB-BE02DCF385F2}" type="presOf" srcId="{1371B95F-0152-4BC6-A75E-7A3E15369575}" destId="{CF54AEB1-99FE-4305-B577-D86CF943BDD9}" srcOrd="0" destOrd="0" presId="urn:microsoft.com/office/officeart/2005/8/layout/hList3"/>
    <dgm:cxn modelId="{C260A626-E34D-4D66-812A-B475267D90C8}" srcId="{27BF25D9-7B5C-4ACC-B04D-4AB2E0D08FE1}" destId="{F79F8366-79E8-411C-AF5A-DA1FE7668643}" srcOrd="1" destOrd="0" parTransId="{A0C61B60-0F4E-4392-9E20-6FB6D1BC8153}" sibTransId="{FF82F6BC-C571-472B-B2DE-497292D37F06}"/>
    <dgm:cxn modelId="{B4C7325D-9981-49FE-8F48-FB11B2B8A422}" srcId="{27BF25D9-7B5C-4ACC-B04D-4AB2E0D08FE1}" destId="{779E046E-758E-46E7-848F-2E098EE13A5A}" srcOrd="2" destOrd="0" parTransId="{6F07F4BB-36C0-4643-8944-35CB4B827EFF}" sibTransId="{5788E15F-E9E1-44BC-BB0C-31D57F81AFDA}"/>
    <dgm:cxn modelId="{0920B762-38EB-4204-AB49-F31783602D5A}" type="presOf" srcId="{779E046E-758E-46E7-848F-2E098EE13A5A}" destId="{D89256C5-3A58-4C60-9D7B-FF3764429843}" srcOrd="0" destOrd="0" presId="urn:microsoft.com/office/officeart/2005/8/layout/hList3"/>
    <dgm:cxn modelId="{B821AC82-E459-4018-A56C-30A1FF7B55F2}" srcId="{27BF25D9-7B5C-4ACC-B04D-4AB2E0D08FE1}" destId="{05624B2C-A004-411F-9989-C3B620BBB5F9}" srcOrd="0" destOrd="0" parTransId="{C4A754D7-5B34-4ADA-A252-AA865038BD33}" sibTransId="{E9328BB3-92D5-4DA3-A89B-FD184A873428}"/>
    <dgm:cxn modelId="{016971A2-EC23-4E96-B52A-CE366620F211}" srcId="{27BF25D9-7B5C-4ACC-B04D-4AB2E0D08FE1}" destId="{77C1F93A-F086-430B-8F4E-608DA2DE2078}" srcOrd="3" destOrd="0" parTransId="{460F18F5-5F2E-40C5-9268-D4D6BE0717E0}" sibTransId="{BAB575AB-C0CA-4325-821F-38FDA42E62F1}"/>
    <dgm:cxn modelId="{92B92AB3-8578-4C91-AD3A-B6B20185794E}" type="presOf" srcId="{F79F8366-79E8-411C-AF5A-DA1FE7668643}" destId="{401A43B2-E82F-413C-BF15-1385C2210D64}" srcOrd="0" destOrd="0" presId="urn:microsoft.com/office/officeart/2005/8/layout/hList3"/>
    <dgm:cxn modelId="{FE7CC4C8-C123-4B3A-8721-159A2E7C6887}" type="presOf" srcId="{05624B2C-A004-411F-9989-C3B620BBB5F9}" destId="{2F54EFDB-08C2-417E-BFFC-8493C9EE257C}" srcOrd="0" destOrd="0" presId="urn:microsoft.com/office/officeart/2005/8/layout/hList3"/>
    <dgm:cxn modelId="{203D7DED-E3FF-400C-8772-C59A88C1671B}" type="presOf" srcId="{27BF25D9-7B5C-4ACC-B04D-4AB2E0D08FE1}" destId="{C7095A9B-2C84-4482-81A9-78BCFFB45E97}" srcOrd="0" destOrd="0" presId="urn:microsoft.com/office/officeart/2005/8/layout/hList3"/>
    <dgm:cxn modelId="{CD80CAFF-1231-43E6-BE2C-CDED94D59598}" srcId="{1371B95F-0152-4BC6-A75E-7A3E15369575}" destId="{27BF25D9-7B5C-4ACC-B04D-4AB2E0D08FE1}" srcOrd="0" destOrd="0" parTransId="{A422086E-C030-4EF1-BED5-234E8E9C8B6C}" sibTransId="{680F9842-8DE6-4FB9-9126-B45B07C28117}"/>
    <dgm:cxn modelId="{D20AD85D-C399-4CAC-94CA-B883DA6D7A21}" type="presParOf" srcId="{CF54AEB1-99FE-4305-B577-D86CF943BDD9}" destId="{C7095A9B-2C84-4482-81A9-78BCFFB45E97}" srcOrd="0" destOrd="0" presId="urn:microsoft.com/office/officeart/2005/8/layout/hList3"/>
    <dgm:cxn modelId="{CE9CB76D-46C7-4E33-907B-E574A4D61266}" type="presParOf" srcId="{CF54AEB1-99FE-4305-B577-D86CF943BDD9}" destId="{73AB559A-31D1-487F-8D33-BA0DE3EE6C6A}" srcOrd="1" destOrd="0" presId="urn:microsoft.com/office/officeart/2005/8/layout/hList3"/>
    <dgm:cxn modelId="{B1FE3A26-8786-4DDA-A90D-F713AB12CFE0}" type="presParOf" srcId="{73AB559A-31D1-487F-8D33-BA0DE3EE6C6A}" destId="{2F54EFDB-08C2-417E-BFFC-8493C9EE257C}" srcOrd="0" destOrd="0" presId="urn:microsoft.com/office/officeart/2005/8/layout/hList3"/>
    <dgm:cxn modelId="{853E1D3D-14DE-4BFE-AB17-B152632DE1DD}" type="presParOf" srcId="{73AB559A-31D1-487F-8D33-BA0DE3EE6C6A}" destId="{401A43B2-E82F-413C-BF15-1385C2210D64}" srcOrd="1" destOrd="0" presId="urn:microsoft.com/office/officeart/2005/8/layout/hList3"/>
    <dgm:cxn modelId="{C75C1F1B-F062-46D3-9FAE-F611E221750B}" type="presParOf" srcId="{73AB559A-31D1-487F-8D33-BA0DE3EE6C6A}" destId="{D89256C5-3A58-4C60-9D7B-FF3764429843}" srcOrd="2" destOrd="0" presId="urn:microsoft.com/office/officeart/2005/8/layout/hList3"/>
    <dgm:cxn modelId="{E28F7B1A-C255-4CB3-A562-E7FC2981BB7C}" type="presParOf" srcId="{73AB559A-31D1-487F-8D33-BA0DE3EE6C6A}" destId="{931F69F0-1FCB-4930-B374-FB82476EBE48}" srcOrd="3" destOrd="0" presId="urn:microsoft.com/office/officeart/2005/8/layout/hList3"/>
    <dgm:cxn modelId="{E8FE6157-75DC-4324-A46E-6E87D7FA13D9}" type="presParOf" srcId="{CF54AEB1-99FE-4305-B577-D86CF943BDD9}" destId="{9F93B5F7-2B16-4606-B88C-2390E7611E4B}" srcOrd="2" destOrd="0" presId="urn:microsoft.com/office/officeart/2005/8/layout/h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5E3823-76C4-4839-85A8-B205E630033D}" type="doc">
      <dgm:prSet loTypeId="urn:microsoft.com/office/officeart/2005/8/layout/pyramid2" loCatId="pyramid" qsTypeId="urn:microsoft.com/office/officeart/2005/8/quickstyle/3d3" qsCatId="3D" csTypeId="urn:microsoft.com/office/officeart/2005/8/colors/accent2_2" csCatId="accent2" phldr="1"/>
      <dgm:spPr/>
    </dgm:pt>
    <dgm:pt modelId="{4F914BA1-C3F0-4C0A-A1FD-E47BE1FF391D}">
      <dgm:prSet phldrT="[Text]" custT="1">
        <dgm:style>
          <a:lnRef idx="2">
            <a:schemeClr val="accent3"/>
          </a:lnRef>
          <a:fillRef idx="1">
            <a:schemeClr val="lt1"/>
          </a:fillRef>
          <a:effectRef idx="0">
            <a:schemeClr val="accent3"/>
          </a:effectRef>
          <a:fontRef idx="minor">
            <a:schemeClr val="dk1"/>
          </a:fontRef>
        </dgm:style>
      </dgm:prSet>
      <dgm:spPr>
        <a:ln>
          <a:solidFill>
            <a:schemeClr val="tx2">
              <a:lumMod val="50000"/>
            </a:schemeClr>
          </a:solidFill>
        </a:ln>
      </dgm:spPr>
      <dgm:t>
        <a:bodyPr/>
        <a:lstStyle/>
        <a:p>
          <a:r>
            <a:rPr lang="en-US" sz="1600" b="1" dirty="0"/>
            <a:t>Amazon ECS integration</a:t>
          </a:r>
        </a:p>
      </dgm:t>
    </dgm:pt>
    <dgm:pt modelId="{F825D9CA-75BB-489F-B7C7-FF775C3DE158}" type="parTrans" cxnId="{992C5145-E39D-4D58-8360-5954A3342C0A}">
      <dgm:prSet/>
      <dgm:spPr/>
      <dgm:t>
        <a:bodyPr/>
        <a:lstStyle/>
        <a:p>
          <a:endParaRPr lang="en-US" sz="2400" dirty="0"/>
        </a:p>
      </dgm:t>
    </dgm:pt>
    <dgm:pt modelId="{31826420-A59F-4A54-9CAC-4220FB00A081}" type="sibTrans" cxnId="{992C5145-E39D-4D58-8360-5954A3342C0A}">
      <dgm:prSet/>
      <dgm:spPr/>
      <dgm:t>
        <a:bodyPr/>
        <a:lstStyle/>
        <a:p>
          <a:endParaRPr lang="en-US" sz="2400" dirty="0"/>
        </a:p>
      </dgm:t>
    </dgm:pt>
    <dgm:pt modelId="{49AAE945-469A-4B0C-9A55-5CE97FA292D5}">
      <dgm:prSet custT="1">
        <dgm:style>
          <a:lnRef idx="2">
            <a:schemeClr val="accent3"/>
          </a:lnRef>
          <a:fillRef idx="1">
            <a:schemeClr val="lt1"/>
          </a:fillRef>
          <a:effectRef idx="0">
            <a:schemeClr val="accent3"/>
          </a:effectRef>
          <a:fontRef idx="minor">
            <a:schemeClr val="dk1"/>
          </a:fontRef>
        </dgm:style>
      </dgm:prSet>
      <dgm:spPr>
        <a:ln>
          <a:solidFill>
            <a:schemeClr val="tx2">
              <a:lumMod val="50000"/>
            </a:schemeClr>
          </a:solidFill>
        </a:ln>
      </dgm:spPr>
      <dgm:t>
        <a:bodyPr/>
        <a:lstStyle/>
        <a:p>
          <a:r>
            <a:rPr lang="en-US" sz="1600" b="1" dirty="0"/>
            <a:t>Docker support</a:t>
          </a:r>
        </a:p>
      </dgm:t>
    </dgm:pt>
    <dgm:pt modelId="{E85A3B7C-0C51-4C36-9D2B-E404B1A235B4}" type="parTrans" cxnId="{EDC17AE4-C041-472E-9F80-3417B79AF064}">
      <dgm:prSet/>
      <dgm:spPr/>
      <dgm:t>
        <a:bodyPr/>
        <a:lstStyle/>
        <a:p>
          <a:endParaRPr lang="en-US" sz="2400" dirty="0"/>
        </a:p>
      </dgm:t>
    </dgm:pt>
    <dgm:pt modelId="{2D567A9E-4953-4BF9-A1B9-C4859DDB5827}" type="sibTrans" cxnId="{EDC17AE4-C041-472E-9F80-3417B79AF064}">
      <dgm:prSet/>
      <dgm:spPr/>
      <dgm:t>
        <a:bodyPr/>
        <a:lstStyle/>
        <a:p>
          <a:endParaRPr lang="en-US" sz="2400" dirty="0"/>
        </a:p>
      </dgm:t>
    </dgm:pt>
    <dgm:pt modelId="{7130BEED-D988-4C05-ACEC-CD13F4814987}">
      <dgm:prSet custT="1">
        <dgm:style>
          <a:lnRef idx="2">
            <a:schemeClr val="accent3"/>
          </a:lnRef>
          <a:fillRef idx="1">
            <a:schemeClr val="lt1"/>
          </a:fillRef>
          <a:effectRef idx="0">
            <a:schemeClr val="accent3"/>
          </a:effectRef>
          <a:fontRef idx="minor">
            <a:schemeClr val="dk1"/>
          </a:fontRef>
        </dgm:style>
      </dgm:prSet>
      <dgm:spPr>
        <a:ln>
          <a:solidFill>
            <a:schemeClr val="tx2">
              <a:lumMod val="50000"/>
            </a:schemeClr>
          </a:solidFill>
        </a:ln>
      </dgm:spPr>
      <dgm:t>
        <a:bodyPr/>
        <a:lstStyle/>
        <a:p>
          <a:r>
            <a:rPr lang="en-US" sz="1600" b="1" dirty="0"/>
            <a:t>Team collaboration</a:t>
          </a:r>
        </a:p>
      </dgm:t>
    </dgm:pt>
    <dgm:pt modelId="{CF337D5C-70AD-48AE-8C24-59D70B1162DD}" type="parTrans" cxnId="{558DF1AA-7F0B-401C-931C-82C7465EC333}">
      <dgm:prSet/>
      <dgm:spPr/>
      <dgm:t>
        <a:bodyPr/>
        <a:lstStyle/>
        <a:p>
          <a:endParaRPr lang="en-US" sz="2400" dirty="0"/>
        </a:p>
      </dgm:t>
    </dgm:pt>
    <dgm:pt modelId="{0A5F8B0A-8BE0-4989-91DA-4CA92C3DBB40}" type="sibTrans" cxnId="{558DF1AA-7F0B-401C-931C-82C7465EC333}">
      <dgm:prSet/>
      <dgm:spPr/>
      <dgm:t>
        <a:bodyPr/>
        <a:lstStyle/>
        <a:p>
          <a:endParaRPr lang="en-US" sz="2400" dirty="0"/>
        </a:p>
      </dgm:t>
    </dgm:pt>
    <dgm:pt modelId="{D7BA72B6-4FD4-4D49-B2CF-2D9B164F21EE}">
      <dgm:prSet custT="1">
        <dgm:style>
          <a:lnRef idx="2">
            <a:schemeClr val="accent3"/>
          </a:lnRef>
          <a:fillRef idx="1">
            <a:schemeClr val="lt1"/>
          </a:fillRef>
          <a:effectRef idx="0">
            <a:schemeClr val="accent3"/>
          </a:effectRef>
          <a:fontRef idx="minor">
            <a:schemeClr val="dk1"/>
          </a:fontRef>
        </dgm:style>
      </dgm:prSet>
      <dgm:spPr>
        <a:ln>
          <a:solidFill>
            <a:schemeClr val="tx2">
              <a:lumMod val="50000"/>
            </a:schemeClr>
          </a:solidFill>
        </a:ln>
      </dgm:spPr>
      <dgm:t>
        <a:bodyPr/>
        <a:lstStyle/>
        <a:p>
          <a:r>
            <a:rPr lang="en-US" sz="1600" b="1" dirty="0"/>
            <a:t>Access control</a:t>
          </a:r>
        </a:p>
      </dgm:t>
    </dgm:pt>
    <dgm:pt modelId="{E00858C5-D992-45D4-8834-64D72EFCF5C6}" type="parTrans" cxnId="{8F3EC966-B1E3-40E8-9A1D-E776AA73D013}">
      <dgm:prSet/>
      <dgm:spPr/>
      <dgm:t>
        <a:bodyPr/>
        <a:lstStyle/>
        <a:p>
          <a:endParaRPr lang="en-US" sz="2400" dirty="0"/>
        </a:p>
      </dgm:t>
    </dgm:pt>
    <dgm:pt modelId="{193E8B7C-FCA7-44E9-A8AE-615261929CAE}" type="sibTrans" cxnId="{8F3EC966-B1E3-40E8-9A1D-E776AA73D013}">
      <dgm:prSet/>
      <dgm:spPr/>
      <dgm:t>
        <a:bodyPr/>
        <a:lstStyle/>
        <a:p>
          <a:endParaRPr lang="en-US" sz="2400" dirty="0"/>
        </a:p>
      </dgm:t>
    </dgm:pt>
    <dgm:pt modelId="{BBFF3345-66B9-4E50-A41F-1B7903855C0D}">
      <dgm:prSet custT="1">
        <dgm:style>
          <a:lnRef idx="2">
            <a:schemeClr val="accent3"/>
          </a:lnRef>
          <a:fillRef idx="1">
            <a:schemeClr val="lt1"/>
          </a:fillRef>
          <a:effectRef idx="0">
            <a:schemeClr val="accent3"/>
          </a:effectRef>
          <a:fontRef idx="minor">
            <a:schemeClr val="dk1"/>
          </a:fontRef>
        </dgm:style>
      </dgm:prSet>
      <dgm:spPr>
        <a:ln>
          <a:solidFill>
            <a:schemeClr val="tx2">
              <a:lumMod val="50000"/>
            </a:schemeClr>
          </a:solidFill>
        </a:ln>
      </dgm:spPr>
      <dgm:t>
        <a:bodyPr/>
        <a:lstStyle/>
        <a:p>
          <a:r>
            <a:rPr lang="en-US" sz="1600" b="1" dirty="0"/>
            <a:t>Third-party integrations</a:t>
          </a:r>
        </a:p>
      </dgm:t>
    </dgm:pt>
    <dgm:pt modelId="{97225D21-C78D-4557-B752-71F7BE2D912E}" type="parTrans" cxnId="{C32CB394-5FCB-4E9C-9B76-8E98E8461DA4}">
      <dgm:prSet/>
      <dgm:spPr/>
      <dgm:t>
        <a:bodyPr/>
        <a:lstStyle/>
        <a:p>
          <a:endParaRPr lang="en-US" sz="2400" dirty="0"/>
        </a:p>
      </dgm:t>
    </dgm:pt>
    <dgm:pt modelId="{198CFA75-0F18-4571-8640-0317E8B40765}" type="sibTrans" cxnId="{C32CB394-5FCB-4E9C-9B76-8E98E8461DA4}">
      <dgm:prSet/>
      <dgm:spPr/>
      <dgm:t>
        <a:bodyPr/>
        <a:lstStyle/>
        <a:p>
          <a:endParaRPr lang="en-US" sz="2400" dirty="0"/>
        </a:p>
      </dgm:t>
    </dgm:pt>
    <dgm:pt modelId="{99FA1CEB-B87C-44A5-AE1B-5A56331DA56C}" type="pres">
      <dgm:prSet presAssocID="{3D5E3823-76C4-4839-85A8-B205E630033D}" presName="compositeShape" presStyleCnt="0">
        <dgm:presLayoutVars>
          <dgm:dir/>
          <dgm:resizeHandles/>
        </dgm:presLayoutVars>
      </dgm:prSet>
      <dgm:spPr/>
    </dgm:pt>
    <dgm:pt modelId="{2588CCF8-82ED-4ACF-8A11-9C7F82CE981C}" type="pres">
      <dgm:prSet presAssocID="{3D5E3823-76C4-4839-85A8-B205E630033D}" presName="pyramid" presStyleLbl="node1" presStyleIdx="0" presStyleCnt="1"/>
      <dgm:spPr>
        <a:solidFill>
          <a:srgbClr val="008296"/>
        </a:solidFill>
      </dgm:spPr>
    </dgm:pt>
    <dgm:pt modelId="{F80D154B-A495-4346-9EBE-6685D2FA9E79}" type="pres">
      <dgm:prSet presAssocID="{3D5E3823-76C4-4839-85A8-B205E630033D}" presName="theList" presStyleCnt="0"/>
      <dgm:spPr/>
    </dgm:pt>
    <dgm:pt modelId="{4DFFE1A1-A53B-4A4C-AE73-70D09E4AC534}" type="pres">
      <dgm:prSet presAssocID="{4F914BA1-C3F0-4C0A-A1FD-E47BE1FF391D}" presName="aNode" presStyleLbl="fgAcc1" presStyleIdx="0" presStyleCnt="5">
        <dgm:presLayoutVars>
          <dgm:bulletEnabled val="1"/>
        </dgm:presLayoutVars>
      </dgm:prSet>
      <dgm:spPr/>
    </dgm:pt>
    <dgm:pt modelId="{07678235-849D-4E54-8680-0773AF300CC3}" type="pres">
      <dgm:prSet presAssocID="{4F914BA1-C3F0-4C0A-A1FD-E47BE1FF391D}" presName="aSpace" presStyleCnt="0"/>
      <dgm:spPr/>
    </dgm:pt>
    <dgm:pt modelId="{0D15FF8F-6824-44C6-9040-41C331442A42}" type="pres">
      <dgm:prSet presAssocID="{49AAE945-469A-4B0C-9A55-5CE97FA292D5}" presName="aNode" presStyleLbl="fgAcc1" presStyleIdx="1" presStyleCnt="5">
        <dgm:presLayoutVars>
          <dgm:bulletEnabled val="1"/>
        </dgm:presLayoutVars>
      </dgm:prSet>
      <dgm:spPr/>
    </dgm:pt>
    <dgm:pt modelId="{A94C5FB6-F23F-41E5-81BE-EC0BAD7CC4B7}" type="pres">
      <dgm:prSet presAssocID="{49AAE945-469A-4B0C-9A55-5CE97FA292D5}" presName="aSpace" presStyleCnt="0"/>
      <dgm:spPr/>
    </dgm:pt>
    <dgm:pt modelId="{8907B292-FACD-4FE8-BD96-1D241FB66492}" type="pres">
      <dgm:prSet presAssocID="{7130BEED-D988-4C05-ACEC-CD13F4814987}" presName="aNode" presStyleLbl="fgAcc1" presStyleIdx="2" presStyleCnt="5">
        <dgm:presLayoutVars>
          <dgm:bulletEnabled val="1"/>
        </dgm:presLayoutVars>
      </dgm:prSet>
      <dgm:spPr/>
    </dgm:pt>
    <dgm:pt modelId="{DB6563B5-80CE-4609-B46D-1FE8AF87D531}" type="pres">
      <dgm:prSet presAssocID="{7130BEED-D988-4C05-ACEC-CD13F4814987}" presName="aSpace" presStyleCnt="0"/>
      <dgm:spPr/>
    </dgm:pt>
    <dgm:pt modelId="{3C977000-F634-4606-B5FC-5AD8E067CE8E}" type="pres">
      <dgm:prSet presAssocID="{D7BA72B6-4FD4-4D49-B2CF-2D9B164F21EE}" presName="aNode" presStyleLbl="fgAcc1" presStyleIdx="3" presStyleCnt="5">
        <dgm:presLayoutVars>
          <dgm:bulletEnabled val="1"/>
        </dgm:presLayoutVars>
      </dgm:prSet>
      <dgm:spPr/>
    </dgm:pt>
    <dgm:pt modelId="{9644F08E-F6A3-4599-B8BF-7F3223AEB185}" type="pres">
      <dgm:prSet presAssocID="{D7BA72B6-4FD4-4D49-B2CF-2D9B164F21EE}" presName="aSpace" presStyleCnt="0"/>
      <dgm:spPr/>
    </dgm:pt>
    <dgm:pt modelId="{9CF015BD-5601-48B2-9CBD-D53D3A76B458}" type="pres">
      <dgm:prSet presAssocID="{BBFF3345-66B9-4E50-A41F-1B7903855C0D}" presName="aNode" presStyleLbl="fgAcc1" presStyleIdx="4" presStyleCnt="5">
        <dgm:presLayoutVars>
          <dgm:bulletEnabled val="1"/>
        </dgm:presLayoutVars>
      </dgm:prSet>
      <dgm:spPr/>
    </dgm:pt>
    <dgm:pt modelId="{16705F29-61C2-43A6-8826-F6AD0500510C}" type="pres">
      <dgm:prSet presAssocID="{BBFF3345-66B9-4E50-A41F-1B7903855C0D}" presName="aSpace" presStyleCnt="0"/>
      <dgm:spPr/>
    </dgm:pt>
  </dgm:ptLst>
  <dgm:cxnLst>
    <dgm:cxn modelId="{74B68508-C28A-4C58-8F87-A6143E0EA978}" type="presOf" srcId="{BBFF3345-66B9-4E50-A41F-1B7903855C0D}" destId="{9CF015BD-5601-48B2-9CBD-D53D3A76B458}" srcOrd="0" destOrd="0" presId="urn:microsoft.com/office/officeart/2005/8/layout/pyramid2"/>
    <dgm:cxn modelId="{69E99511-CD98-414D-867D-30094CA8509B}" type="presOf" srcId="{3D5E3823-76C4-4839-85A8-B205E630033D}" destId="{99FA1CEB-B87C-44A5-AE1B-5A56331DA56C}" srcOrd="0" destOrd="0" presId="urn:microsoft.com/office/officeart/2005/8/layout/pyramid2"/>
    <dgm:cxn modelId="{992C5145-E39D-4D58-8360-5954A3342C0A}" srcId="{3D5E3823-76C4-4839-85A8-B205E630033D}" destId="{4F914BA1-C3F0-4C0A-A1FD-E47BE1FF391D}" srcOrd="0" destOrd="0" parTransId="{F825D9CA-75BB-489F-B7C7-FF775C3DE158}" sibTransId="{31826420-A59F-4A54-9CAC-4220FB00A081}"/>
    <dgm:cxn modelId="{8F3EC966-B1E3-40E8-9A1D-E776AA73D013}" srcId="{3D5E3823-76C4-4839-85A8-B205E630033D}" destId="{D7BA72B6-4FD4-4D49-B2CF-2D9B164F21EE}" srcOrd="3" destOrd="0" parTransId="{E00858C5-D992-45D4-8834-64D72EFCF5C6}" sibTransId="{193E8B7C-FCA7-44E9-A8AE-615261929CAE}"/>
    <dgm:cxn modelId="{C32CB394-5FCB-4E9C-9B76-8E98E8461DA4}" srcId="{3D5E3823-76C4-4839-85A8-B205E630033D}" destId="{BBFF3345-66B9-4E50-A41F-1B7903855C0D}" srcOrd="4" destOrd="0" parTransId="{97225D21-C78D-4557-B752-71F7BE2D912E}" sibTransId="{198CFA75-0F18-4571-8640-0317E8B40765}"/>
    <dgm:cxn modelId="{D6B494A4-05EF-4A44-BABB-CFFB24E4E8FC}" type="presOf" srcId="{7130BEED-D988-4C05-ACEC-CD13F4814987}" destId="{8907B292-FACD-4FE8-BD96-1D241FB66492}" srcOrd="0" destOrd="0" presId="urn:microsoft.com/office/officeart/2005/8/layout/pyramid2"/>
    <dgm:cxn modelId="{558DF1AA-7F0B-401C-931C-82C7465EC333}" srcId="{3D5E3823-76C4-4839-85A8-B205E630033D}" destId="{7130BEED-D988-4C05-ACEC-CD13F4814987}" srcOrd="2" destOrd="0" parTransId="{CF337D5C-70AD-48AE-8C24-59D70B1162DD}" sibTransId="{0A5F8B0A-8BE0-4989-91DA-4CA92C3DBB40}"/>
    <dgm:cxn modelId="{0F6D3EB8-4BF0-4F13-84E3-14B7C407BAB3}" type="presOf" srcId="{49AAE945-469A-4B0C-9A55-5CE97FA292D5}" destId="{0D15FF8F-6824-44C6-9040-41C331442A42}" srcOrd="0" destOrd="0" presId="urn:microsoft.com/office/officeart/2005/8/layout/pyramid2"/>
    <dgm:cxn modelId="{4E8A1ABD-8B86-4731-818B-5A738FE054C0}" type="presOf" srcId="{D7BA72B6-4FD4-4D49-B2CF-2D9B164F21EE}" destId="{3C977000-F634-4606-B5FC-5AD8E067CE8E}" srcOrd="0" destOrd="0" presId="urn:microsoft.com/office/officeart/2005/8/layout/pyramid2"/>
    <dgm:cxn modelId="{B0E168DB-ED73-4D49-9009-D202A428C234}" type="presOf" srcId="{4F914BA1-C3F0-4C0A-A1FD-E47BE1FF391D}" destId="{4DFFE1A1-A53B-4A4C-AE73-70D09E4AC534}" srcOrd="0" destOrd="0" presId="urn:microsoft.com/office/officeart/2005/8/layout/pyramid2"/>
    <dgm:cxn modelId="{EDC17AE4-C041-472E-9F80-3417B79AF064}" srcId="{3D5E3823-76C4-4839-85A8-B205E630033D}" destId="{49AAE945-469A-4B0C-9A55-5CE97FA292D5}" srcOrd="1" destOrd="0" parTransId="{E85A3B7C-0C51-4C36-9D2B-E404B1A235B4}" sibTransId="{2D567A9E-4953-4BF9-A1B9-C4859DDB5827}"/>
    <dgm:cxn modelId="{4F0384E3-F0D6-480B-8414-4CDA90C3BB85}" type="presParOf" srcId="{99FA1CEB-B87C-44A5-AE1B-5A56331DA56C}" destId="{2588CCF8-82ED-4ACF-8A11-9C7F82CE981C}" srcOrd="0" destOrd="0" presId="urn:microsoft.com/office/officeart/2005/8/layout/pyramid2"/>
    <dgm:cxn modelId="{BF2639B2-8EFD-4503-A991-F89849BA02B6}" type="presParOf" srcId="{99FA1CEB-B87C-44A5-AE1B-5A56331DA56C}" destId="{F80D154B-A495-4346-9EBE-6685D2FA9E79}" srcOrd="1" destOrd="0" presId="urn:microsoft.com/office/officeart/2005/8/layout/pyramid2"/>
    <dgm:cxn modelId="{A2861747-03DB-4A9B-B967-38B647588DF4}" type="presParOf" srcId="{F80D154B-A495-4346-9EBE-6685D2FA9E79}" destId="{4DFFE1A1-A53B-4A4C-AE73-70D09E4AC534}" srcOrd="0" destOrd="0" presId="urn:microsoft.com/office/officeart/2005/8/layout/pyramid2"/>
    <dgm:cxn modelId="{389452D1-7E9B-427A-8989-9F681188A791}" type="presParOf" srcId="{F80D154B-A495-4346-9EBE-6685D2FA9E79}" destId="{07678235-849D-4E54-8680-0773AF300CC3}" srcOrd="1" destOrd="0" presId="urn:microsoft.com/office/officeart/2005/8/layout/pyramid2"/>
    <dgm:cxn modelId="{D3CE4764-23A9-46AF-A775-EFD6F3DB772D}" type="presParOf" srcId="{F80D154B-A495-4346-9EBE-6685D2FA9E79}" destId="{0D15FF8F-6824-44C6-9040-41C331442A42}" srcOrd="2" destOrd="0" presId="urn:microsoft.com/office/officeart/2005/8/layout/pyramid2"/>
    <dgm:cxn modelId="{6C628973-9765-49DA-8C77-5111BA106C2D}" type="presParOf" srcId="{F80D154B-A495-4346-9EBE-6685D2FA9E79}" destId="{A94C5FB6-F23F-41E5-81BE-EC0BAD7CC4B7}" srcOrd="3" destOrd="0" presId="urn:microsoft.com/office/officeart/2005/8/layout/pyramid2"/>
    <dgm:cxn modelId="{04C4E699-75D3-4A59-908F-C39133D964D4}" type="presParOf" srcId="{F80D154B-A495-4346-9EBE-6685D2FA9E79}" destId="{8907B292-FACD-4FE8-BD96-1D241FB66492}" srcOrd="4" destOrd="0" presId="urn:microsoft.com/office/officeart/2005/8/layout/pyramid2"/>
    <dgm:cxn modelId="{15138395-1A2C-49CE-A012-4DF0748E3D77}" type="presParOf" srcId="{F80D154B-A495-4346-9EBE-6685D2FA9E79}" destId="{DB6563B5-80CE-4609-B46D-1FE8AF87D531}" srcOrd="5" destOrd="0" presId="urn:microsoft.com/office/officeart/2005/8/layout/pyramid2"/>
    <dgm:cxn modelId="{8981C9C0-1BE6-43FE-8A01-83E0C30A167F}" type="presParOf" srcId="{F80D154B-A495-4346-9EBE-6685D2FA9E79}" destId="{3C977000-F634-4606-B5FC-5AD8E067CE8E}" srcOrd="6" destOrd="0" presId="urn:microsoft.com/office/officeart/2005/8/layout/pyramid2"/>
    <dgm:cxn modelId="{AE4249C8-34CC-4AB2-8858-BE76899C0CC7}" type="presParOf" srcId="{F80D154B-A495-4346-9EBE-6685D2FA9E79}" destId="{9644F08E-F6A3-4599-B8BF-7F3223AEB185}" srcOrd="7" destOrd="0" presId="urn:microsoft.com/office/officeart/2005/8/layout/pyramid2"/>
    <dgm:cxn modelId="{8BFDF812-9F7F-4F9E-B885-A5995AF2D65F}" type="presParOf" srcId="{F80D154B-A495-4346-9EBE-6685D2FA9E79}" destId="{9CF015BD-5601-48B2-9CBD-D53D3A76B458}" srcOrd="8" destOrd="0" presId="urn:microsoft.com/office/officeart/2005/8/layout/pyramid2"/>
    <dgm:cxn modelId="{F16AAC9B-04A2-4392-B666-AE693DB9AB9E}" type="presParOf" srcId="{F80D154B-A495-4346-9EBE-6685D2FA9E79}" destId="{16705F29-61C2-43A6-8826-F6AD0500510C}" srcOrd="9" destOrd="0" presId="urn:microsoft.com/office/officeart/2005/8/layout/pyramid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95A9B-2C84-4482-81A9-78BCFFB45E97}">
      <dsp:nvSpPr>
        <dsp:cNvPr id="0" name=""/>
        <dsp:cNvSpPr/>
      </dsp:nvSpPr>
      <dsp:spPr>
        <a:xfrm>
          <a:off x="0" y="0"/>
          <a:ext cx="4147668" cy="798651"/>
        </a:xfrm>
        <a:prstGeom prst="rect">
          <a:avLst/>
        </a:prstGeom>
        <a:solidFill>
          <a:srgbClr val="7E93EE"/>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Containers have everything the software needs to run:</a:t>
          </a:r>
        </a:p>
      </dsp:txBody>
      <dsp:txXfrm>
        <a:off x="0" y="0"/>
        <a:ext cx="4147668" cy="798651"/>
      </dsp:txXfrm>
    </dsp:sp>
    <dsp:sp modelId="{2F54EFDB-08C2-417E-BFFC-8493C9EE257C}">
      <dsp:nvSpPr>
        <dsp:cNvPr id="0" name=""/>
        <dsp:cNvSpPr/>
      </dsp:nvSpPr>
      <dsp:spPr>
        <a:xfrm>
          <a:off x="0" y="798651"/>
          <a:ext cx="1036917" cy="1677168"/>
        </a:xfrm>
        <a:prstGeom prst="rect">
          <a:avLst/>
        </a:prstGeom>
        <a:solidFill>
          <a:srgbClr val="7CD1EA"/>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Libraries</a:t>
          </a:r>
        </a:p>
      </dsp:txBody>
      <dsp:txXfrm>
        <a:off x="0" y="798651"/>
        <a:ext cx="1036917" cy="1677168"/>
      </dsp:txXfrm>
    </dsp:sp>
    <dsp:sp modelId="{401A43B2-E82F-413C-BF15-1385C2210D64}">
      <dsp:nvSpPr>
        <dsp:cNvPr id="0" name=""/>
        <dsp:cNvSpPr/>
      </dsp:nvSpPr>
      <dsp:spPr>
        <a:xfrm>
          <a:off x="1036916" y="798651"/>
          <a:ext cx="1036917" cy="1677168"/>
        </a:xfrm>
        <a:prstGeom prst="rect">
          <a:avLst/>
        </a:prstGeom>
        <a:solidFill>
          <a:srgbClr val="7CD1EA"/>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System tools</a:t>
          </a:r>
        </a:p>
      </dsp:txBody>
      <dsp:txXfrm>
        <a:off x="1036916" y="798651"/>
        <a:ext cx="1036917" cy="1677168"/>
      </dsp:txXfrm>
    </dsp:sp>
    <dsp:sp modelId="{D89256C5-3A58-4C60-9D7B-FF3764429843}">
      <dsp:nvSpPr>
        <dsp:cNvPr id="0" name=""/>
        <dsp:cNvSpPr/>
      </dsp:nvSpPr>
      <dsp:spPr>
        <a:xfrm>
          <a:off x="2073833" y="798651"/>
          <a:ext cx="1036917" cy="1677168"/>
        </a:xfrm>
        <a:prstGeom prst="rect">
          <a:avLst/>
        </a:prstGeom>
        <a:solidFill>
          <a:srgbClr val="7CD1EA"/>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Code</a:t>
          </a:r>
        </a:p>
      </dsp:txBody>
      <dsp:txXfrm>
        <a:off x="2073833" y="798651"/>
        <a:ext cx="1036917" cy="1677168"/>
      </dsp:txXfrm>
    </dsp:sp>
    <dsp:sp modelId="{931F69F0-1FCB-4930-B374-FB82476EBE48}">
      <dsp:nvSpPr>
        <dsp:cNvPr id="0" name=""/>
        <dsp:cNvSpPr/>
      </dsp:nvSpPr>
      <dsp:spPr>
        <a:xfrm>
          <a:off x="3110751" y="798651"/>
          <a:ext cx="1036917" cy="1677168"/>
        </a:xfrm>
        <a:prstGeom prst="rect">
          <a:avLst/>
        </a:prstGeom>
        <a:solidFill>
          <a:srgbClr val="7CD1EA"/>
        </a:soli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chemeClr val="tx1"/>
              </a:solidFill>
            </a:rPr>
            <a:t>Runtime</a:t>
          </a:r>
        </a:p>
      </dsp:txBody>
      <dsp:txXfrm>
        <a:off x="3110751" y="798651"/>
        <a:ext cx="1036917" cy="1677168"/>
      </dsp:txXfrm>
    </dsp:sp>
    <dsp:sp modelId="{9F93B5F7-2B16-4606-B88C-2390E7611E4B}">
      <dsp:nvSpPr>
        <dsp:cNvPr id="0" name=""/>
        <dsp:cNvSpPr/>
      </dsp:nvSpPr>
      <dsp:spPr>
        <a:xfrm>
          <a:off x="0" y="2475819"/>
          <a:ext cx="4147668" cy="186352"/>
        </a:xfrm>
        <a:prstGeom prst="rect">
          <a:avLst/>
        </a:prstGeom>
        <a:solidFill>
          <a:srgbClr val="7E93EE"/>
        </a:solidFill>
        <a:ln>
          <a:noFill/>
        </a:ln>
        <a:effectLst/>
        <a:scene3d>
          <a:camera prst="orthographicFront"/>
          <a:lightRig rig="threePt" dir="t">
            <a:rot lat="0" lon="0" rev="7500000"/>
          </a:lightRig>
        </a:scene3d>
        <a:sp3d prstMaterial="plastic">
          <a:bevelT w="127000" h="25400" prst="relaxedInset"/>
          <a:bevelB w="88900" h="121750" prst="angle"/>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88CCF8-82ED-4ACF-8A11-9C7F82CE981C}">
      <dsp:nvSpPr>
        <dsp:cNvPr id="0" name=""/>
        <dsp:cNvSpPr/>
      </dsp:nvSpPr>
      <dsp:spPr>
        <a:xfrm>
          <a:off x="824561" y="0"/>
          <a:ext cx="4711781" cy="4711781"/>
        </a:xfrm>
        <a:prstGeom prst="triangle">
          <a:avLst/>
        </a:prstGeom>
        <a:solidFill>
          <a:srgbClr val="008296"/>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DFFE1A1-A53B-4A4C-AE73-70D09E4AC534}">
      <dsp:nvSpPr>
        <dsp:cNvPr id="0" name=""/>
        <dsp:cNvSpPr/>
      </dsp:nvSpPr>
      <dsp:spPr>
        <a:xfrm>
          <a:off x="3180451" y="471638"/>
          <a:ext cx="3062657" cy="669956"/>
        </a:xfrm>
        <a:prstGeom prst="roundRect">
          <a:avLst/>
        </a:prstGeom>
        <a:solidFill>
          <a:schemeClr val="lt1"/>
        </a:solidFill>
        <a:ln w="10795" cap="flat" cmpd="sng" algn="ctr">
          <a:solidFill>
            <a:schemeClr val="tx2">
              <a:lumMod val="50000"/>
            </a:schemeClr>
          </a:solidFill>
          <a:prstDash val="solid"/>
        </a:ln>
        <a:effectLst/>
        <a:scene3d>
          <a:camera prst="orthographicFront">
            <a:rot lat="0" lon="0" rev="0"/>
          </a:camera>
          <a:lightRig rig="contrasting" dir="t">
            <a:rot lat="0" lon="0" rev="1200000"/>
          </a:lightRig>
        </a:scene3d>
        <a:sp3d z="300000"/>
      </dsp:spPr>
      <dsp:style>
        <a:lnRef idx="2">
          <a:schemeClr val="accent3"/>
        </a:lnRef>
        <a:fillRef idx="1">
          <a:schemeClr val="lt1"/>
        </a:fillRef>
        <a:effectRef idx="0">
          <a:schemeClr val="accent3"/>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Amazon ECS integration</a:t>
          </a:r>
        </a:p>
      </dsp:txBody>
      <dsp:txXfrm>
        <a:off x="3213156" y="504343"/>
        <a:ext cx="2997247" cy="604546"/>
      </dsp:txXfrm>
    </dsp:sp>
    <dsp:sp modelId="{0D15FF8F-6824-44C6-9040-41C331442A42}">
      <dsp:nvSpPr>
        <dsp:cNvPr id="0" name=""/>
        <dsp:cNvSpPr/>
      </dsp:nvSpPr>
      <dsp:spPr>
        <a:xfrm>
          <a:off x="3180451" y="1225339"/>
          <a:ext cx="3062657" cy="669956"/>
        </a:xfrm>
        <a:prstGeom prst="roundRect">
          <a:avLst/>
        </a:prstGeom>
        <a:solidFill>
          <a:schemeClr val="lt1"/>
        </a:solidFill>
        <a:ln w="10795" cap="flat" cmpd="sng" algn="ctr">
          <a:solidFill>
            <a:schemeClr val="tx2">
              <a:lumMod val="50000"/>
            </a:schemeClr>
          </a:solidFill>
          <a:prstDash val="solid"/>
        </a:ln>
        <a:effectLst/>
        <a:scene3d>
          <a:camera prst="orthographicFront">
            <a:rot lat="0" lon="0" rev="0"/>
          </a:camera>
          <a:lightRig rig="contrasting" dir="t">
            <a:rot lat="0" lon="0" rev="1200000"/>
          </a:lightRig>
        </a:scene3d>
        <a:sp3d z="300000"/>
      </dsp:spPr>
      <dsp:style>
        <a:lnRef idx="2">
          <a:schemeClr val="accent3"/>
        </a:lnRef>
        <a:fillRef idx="1">
          <a:schemeClr val="lt1"/>
        </a:fillRef>
        <a:effectRef idx="0">
          <a:schemeClr val="accent3"/>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Docker support</a:t>
          </a:r>
        </a:p>
      </dsp:txBody>
      <dsp:txXfrm>
        <a:off x="3213156" y="1258044"/>
        <a:ext cx="2997247" cy="604546"/>
      </dsp:txXfrm>
    </dsp:sp>
    <dsp:sp modelId="{8907B292-FACD-4FE8-BD96-1D241FB66492}">
      <dsp:nvSpPr>
        <dsp:cNvPr id="0" name=""/>
        <dsp:cNvSpPr/>
      </dsp:nvSpPr>
      <dsp:spPr>
        <a:xfrm>
          <a:off x="3180451" y="1979040"/>
          <a:ext cx="3062657" cy="669956"/>
        </a:xfrm>
        <a:prstGeom prst="roundRect">
          <a:avLst/>
        </a:prstGeom>
        <a:solidFill>
          <a:schemeClr val="lt1"/>
        </a:solidFill>
        <a:ln w="10795" cap="flat" cmpd="sng" algn="ctr">
          <a:solidFill>
            <a:schemeClr val="tx2">
              <a:lumMod val="50000"/>
            </a:schemeClr>
          </a:solidFill>
          <a:prstDash val="solid"/>
        </a:ln>
        <a:effectLst/>
        <a:scene3d>
          <a:camera prst="orthographicFront">
            <a:rot lat="0" lon="0" rev="0"/>
          </a:camera>
          <a:lightRig rig="contrasting" dir="t">
            <a:rot lat="0" lon="0" rev="1200000"/>
          </a:lightRig>
        </a:scene3d>
        <a:sp3d z="300000"/>
      </dsp:spPr>
      <dsp:style>
        <a:lnRef idx="2">
          <a:schemeClr val="accent3"/>
        </a:lnRef>
        <a:fillRef idx="1">
          <a:schemeClr val="lt1"/>
        </a:fillRef>
        <a:effectRef idx="0">
          <a:schemeClr val="accent3"/>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Team collaboration</a:t>
          </a:r>
        </a:p>
      </dsp:txBody>
      <dsp:txXfrm>
        <a:off x="3213156" y="2011745"/>
        <a:ext cx="2997247" cy="604546"/>
      </dsp:txXfrm>
    </dsp:sp>
    <dsp:sp modelId="{3C977000-F634-4606-B5FC-5AD8E067CE8E}">
      <dsp:nvSpPr>
        <dsp:cNvPr id="0" name=""/>
        <dsp:cNvSpPr/>
      </dsp:nvSpPr>
      <dsp:spPr>
        <a:xfrm>
          <a:off x="3180451" y="2732740"/>
          <a:ext cx="3062657" cy="669956"/>
        </a:xfrm>
        <a:prstGeom prst="roundRect">
          <a:avLst/>
        </a:prstGeom>
        <a:solidFill>
          <a:schemeClr val="lt1"/>
        </a:solidFill>
        <a:ln w="10795" cap="flat" cmpd="sng" algn="ctr">
          <a:solidFill>
            <a:schemeClr val="tx2">
              <a:lumMod val="50000"/>
            </a:schemeClr>
          </a:solidFill>
          <a:prstDash val="solid"/>
        </a:ln>
        <a:effectLst/>
        <a:scene3d>
          <a:camera prst="orthographicFront">
            <a:rot lat="0" lon="0" rev="0"/>
          </a:camera>
          <a:lightRig rig="contrasting" dir="t">
            <a:rot lat="0" lon="0" rev="1200000"/>
          </a:lightRig>
        </a:scene3d>
        <a:sp3d z="300000"/>
      </dsp:spPr>
      <dsp:style>
        <a:lnRef idx="2">
          <a:schemeClr val="accent3"/>
        </a:lnRef>
        <a:fillRef idx="1">
          <a:schemeClr val="lt1"/>
        </a:fillRef>
        <a:effectRef idx="0">
          <a:schemeClr val="accent3"/>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Access control</a:t>
          </a:r>
        </a:p>
      </dsp:txBody>
      <dsp:txXfrm>
        <a:off x="3213156" y="2765445"/>
        <a:ext cx="2997247" cy="604546"/>
      </dsp:txXfrm>
    </dsp:sp>
    <dsp:sp modelId="{9CF015BD-5601-48B2-9CBD-D53D3A76B458}">
      <dsp:nvSpPr>
        <dsp:cNvPr id="0" name=""/>
        <dsp:cNvSpPr/>
      </dsp:nvSpPr>
      <dsp:spPr>
        <a:xfrm>
          <a:off x="3180451" y="3486441"/>
          <a:ext cx="3062657" cy="669956"/>
        </a:xfrm>
        <a:prstGeom prst="roundRect">
          <a:avLst/>
        </a:prstGeom>
        <a:solidFill>
          <a:schemeClr val="lt1"/>
        </a:solidFill>
        <a:ln w="10795" cap="flat" cmpd="sng" algn="ctr">
          <a:solidFill>
            <a:schemeClr val="tx2">
              <a:lumMod val="50000"/>
            </a:schemeClr>
          </a:solidFill>
          <a:prstDash val="solid"/>
        </a:ln>
        <a:effectLst/>
        <a:scene3d>
          <a:camera prst="orthographicFront">
            <a:rot lat="0" lon="0" rev="0"/>
          </a:camera>
          <a:lightRig rig="contrasting" dir="t">
            <a:rot lat="0" lon="0" rev="1200000"/>
          </a:lightRig>
        </a:scene3d>
        <a:sp3d z="300000"/>
      </dsp:spPr>
      <dsp:style>
        <a:lnRef idx="2">
          <a:schemeClr val="accent3"/>
        </a:lnRef>
        <a:fillRef idx="1">
          <a:schemeClr val="lt1"/>
        </a:fillRef>
        <a:effectRef idx="0">
          <a:schemeClr val="accent3"/>
        </a:effectRef>
        <a:fontRef idx="minor">
          <a:schemeClr val="dk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Third-party integrations</a:t>
          </a:r>
        </a:p>
      </dsp:txBody>
      <dsp:txXfrm>
        <a:off x="3213156" y="3519146"/>
        <a:ext cx="2997247" cy="604546"/>
      </dsp:txXfrm>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9/19/25</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0EC29ED2-9DB7-4FC7-8D07-964CD0E5B663}" type="datetimeFigureOut">
              <a:rPr lang="en-US" smtClean="0"/>
              <a:t>9/19/25</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B4B52809-B5B7-4F41-8876-28A8C75C3ECB}" type="slidenum">
              <a:rPr lang="en-US" smtClean="0"/>
              <a:t>‹#›</a:t>
            </a:fld>
            <a:endParaRPr lang="en-US"/>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zr3Kib0i-OQ&amp;feature=youtu.be&amp;did=ta_card&amp;trk=ta_card"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aws.amazon.com/ec2/instance-typ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docs.aws.amazon.com/AWSEC2/latest/UserGuide/placement-groups.html"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docs.aws.amazon.com/AWSEC2/latest/UserGuide/enhanced-networking-ena.html"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aws.amazon.com/AWSEC2/latest/WindowsGuide/ec2-windows-user-data.html" TargetMode="External"/><Relationship Id="rId2" Type="http://schemas.openxmlformats.org/officeDocument/2006/relationships/slide" Target="../slides/slide21.xml"/><Relationship Id="rId1" Type="http://schemas.openxmlformats.org/officeDocument/2006/relationships/notesMaster" Target="../notesMasters/notesMaster1.xml"/><Relationship Id="rId4" Type="http://schemas.openxmlformats.org/officeDocument/2006/relationships/hyperlink" Target="https://aws.amazon.com/premiumsupport/knowledge-center/execute-user-data-ec2/"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aws.amazon.com/answers/account-management/aws-tagging-strategies/"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s://d1.awsstatic.com/whitepapers/aws-tagging-best-practices.pdf"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docs.aws.amazon.com/AWSEC2/latest/UserGuide/using-cloudwatch-new.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aws.amazon.com/fre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docs.aws.amazon.com/AmazonECR/latest/userguide/ECR_on_EKS.html"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docs.aws.amazon.com/lambda/latest/dg/lambda-services.html" TargetMode="External"/><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3" Type="http://schemas.openxmlformats.org/officeDocument/2006/relationships/hyperlink" Target="https://docs.aws.amazon.com/lambda/latest/dg/configuration-console.htm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hyperlink" Target="https://docs.aws.amazon.com/lambda/latest/dg/gettingstarted-limits.html" TargetMode="External"/><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Welcome to Module 6: Compute</a:t>
            </a:r>
          </a:p>
        </p:txBody>
      </p:sp>
      <p:sp>
        <p:nvSpPr>
          <p:cNvPr id="5" name="Slide Image Placeholder 4">
            <a:extLst>
              <a:ext uri="{FF2B5EF4-FFF2-40B4-BE49-F238E27FC236}">
                <a16:creationId xmlns:a16="http://schemas.microsoft.com/office/drawing/2014/main" id="{65699D51-198B-0920-12E0-45F2992C96AA}"/>
              </a:ext>
            </a:extLst>
          </p:cNvPr>
          <p:cNvSpPr>
            <a:spLocks noGrp="1" noRot="1" noChangeAspect="1"/>
          </p:cNvSpPr>
          <p:nvPr>
            <p:ph type="sldImg"/>
          </p:nvPr>
        </p:nvSpPr>
        <p:spPr/>
      </p:sp>
    </p:spTree>
    <p:extLst>
      <p:ext uri="{BB962C8B-B14F-4D97-AF65-F5344CB8AC3E}">
        <p14:creationId xmlns:p14="http://schemas.microsoft.com/office/powerpoint/2010/main" val="110305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This module will address the following topics:</a:t>
            </a:r>
          </a:p>
          <a:p>
            <a:pPr marL="171450" indent="-171450">
              <a:buFont typeface="Arial" panose="020B0604020202020204" pitchFamily="34" charset="0"/>
              <a:buChar char="•"/>
            </a:pPr>
            <a:r>
              <a:rPr lang="en-US" dirty="0"/>
              <a:t>Compute services overview</a:t>
            </a:r>
          </a:p>
          <a:p>
            <a:pPr marL="171450" indent="-171450">
              <a:buFont typeface="Arial" panose="020B0604020202020204" pitchFamily="34" charset="0"/>
              <a:buChar char="•"/>
            </a:pPr>
            <a:r>
              <a:rPr lang="en-US" dirty="0"/>
              <a:t>Amazon EC2</a:t>
            </a:r>
          </a:p>
          <a:p>
            <a:pPr marL="171450" indent="-171450">
              <a:buFont typeface="Arial" panose="020B0604020202020204" pitchFamily="34" charset="0"/>
              <a:buChar char="•"/>
            </a:pPr>
            <a:r>
              <a:rPr lang="en-US" dirty="0"/>
              <a:t>Amazon EC2 cost optimization</a:t>
            </a:r>
          </a:p>
          <a:p>
            <a:pPr marL="171450" indent="-171450">
              <a:buFont typeface="Arial" panose="020B0604020202020204" pitchFamily="34" charset="0"/>
              <a:buChar char="•"/>
            </a:pPr>
            <a:r>
              <a:rPr lang="en-US" dirty="0"/>
              <a:t>Container services</a:t>
            </a:r>
          </a:p>
          <a:p>
            <a:pPr marL="171450" indent="-171450">
              <a:buFont typeface="Arial" panose="020B0604020202020204" pitchFamily="34" charset="0"/>
              <a:buChar char="•"/>
            </a:pPr>
            <a:r>
              <a:rPr lang="en-US" dirty="0"/>
              <a:t>Introduction to AWS Lambda</a:t>
            </a:r>
          </a:p>
          <a:p>
            <a:pPr marL="171450" indent="-171450">
              <a:buFont typeface="Arial" panose="020B0604020202020204" pitchFamily="34" charset="0"/>
              <a:buChar char="•"/>
            </a:pPr>
            <a:r>
              <a:rPr lang="en-US" dirty="0"/>
              <a:t>Introduction to AWS Elastic Beanstalk</a:t>
            </a:r>
          </a:p>
          <a:p>
            <a:endParaRPr lang="en-US" dirty="0"/>
          </a:p>
          <a:p>
            <a:r>
              <a:rPr lang="en-US" dirty="0"/>
              <a:t>Section 2 includes a recorded </a:t>
            </a:r>
            <a:r>
              <a:rPr lang="en-US" b="1" dirty="0"/>
              <a:t>Amazon EC2 demonstration.</a:t>
            </a:r>
            <a:r>
              <a:rPr lang="en-US" dirty="0"/>
              <a:t> The end of this same section includes a </a:t>
            </a:r>
            <a:r>
              <a:rPr lang="en-US" b="1" dirty="0"/>
              <a:t>hands-on lab</a:t>
            </a:r>
            <a:r>
              <a:rPr lang="en-US" dirty="0"/>
              <a:t>, where you will practice launching an EC2 instance by using the AWS Management Console. There is also an activity in this section that has you compare the advantages and disadvantages of running a database deployment on Amazon EC2, versus running it on Amazon Relational Database Service (RDS).</a:t>
            </a:r>
          </a:p>
          <a:p>
            <a:endParaRPr lang="en-US" dirty="0"/>
          </a:p>
          <a:p>
            <a:r>
              <a:rPr lang="en-US" dirty="0"/>
              <a:t>Section 5 includes a hands-on AWS Lambda activity and section 6 includes a hands-on Elastic Beanstalk activity.</a:t>
            </a:r>
          </a:p>
          <a:p>
            <a:pPr lvl="0"/>
            <a:endParaRPr lang="en-US" dirty="0"/>
          </a:p>
          <a:p>
            <a:pPr lvl="0"/>
            <a:r>
              <a:rPr lang="en-US" dirty="0"/>
              <a:t>Finally, you will be asked to complete a </a:t>
            </a:r>
            <a:r>
              <a:rPr lang="en-US" b="1" dirty="0"/>
              <a:t>knowledge check </a:t>
            </a:r>
            <a:r>
              <a:rPr lang="en-US" dirty="0"/>
              <a:t>that will test your understanding of the key concepts that are covered in this module.</a:t>
            </a:r>
          </a:p>
          <a:p>
            <a:endParaRPr lang="en-US" dirty="0"/>
          </a:p>
        </p:txBody>
      </p:sp>
      <p:sp>
        <p:nvSpPr>
          <p:cNvPr id="5" name="Slide Image Placeholder 4">
            <a:extLst>
              <a:ext uri="{FF2B5EF4-FFF2-40B4-BE49-F238E27FC236}">
                <a16:creationId xmlns:a16="http://schemas.microsoft.com/office/drawing/2014/main" id="{0D8963A3-D6E1-009C-7777-DB3FF5107824}"/>
              </a:ext>
            </a:extLst>
          </p:cNvPr>
          <p:cNvSpPr>
            <a:spLocks noGrp="1" noRot="1" noChangeAspect="1"/>
          </p:cNvSpPr>
          <p:nvPr>
            <p:ph type="sldImg"/>
          </p:nvPr>
        </p:nvSpPr>
        <p:spPr/>
      </p:sp>
    </p:spTree>
    <p:extLst>
      <p:ext uri="{BB962C8B-B14F-4D97-AF65-F5344CB8AC3E}">
        <p14:creationId xmlns:p14="http://schemas.microsoft.com/office/powerpoint/2010/main" val="556536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After completing this module, you should be able to:</a:t>
            </a:r>
          </a:p>
          <a:p>
            <a:pPr marL="171450" indent="-171450">
              <a:buFont typeface="Arial" panose="020B0604020202020204" pitchFamily="34" charset="0"/>
              <a:buChar char="•"/>
            </a:pPr>
            <a:r>
              <a:rPr lang="en-US" dirty="0"/>
              <a:t>Provide an overview of different AWS compute services in the cloud</a:t>
            </a:r>
          </a:p>
          <a:p>
            <a:pPr marL="171450" indent="-171450">
              <a:buFont typeface="Arial" panose="020B0604020202020204" pitchFamily="34" charset="0"/>
              <a:buChar char="•"/>
            </a:pPr>
            <a:r>
              <a:rPr lang="en-US" dirty="0"/>
              <a:t>Demonstrate why to use Amazon Elastic Compute Cloud (Amazon EC2)</a:t>
            </a:r>
          </a:p>
          <a:p>
            <a:pPr marL="171450" indent="-171450">
              <a:buFont typeface="Arial" panose="020B0604020202020204" pitchFamily="34" charset="0"/>
              <a:buChar char="•"/>
            </a:pPr>
            <a:r>
              <a:rPr lang="en-US" dirty="0"/>
              <a:t>Identify the functionality in the EC2 console</a:t>
            </a:r>
          </a:p>
          <a:p>
            <a:pPr marL="171450" indent="-171450">
              <a:buFont typeface="Arial" panose="020B0604020202020204" pitchFamily="34" charset="0"/>
              <a:buChar char="•"/>
            </a:pPr>
            <a:r>
              <a:rPr lang="en-US" dirty="0"/>
              <a:t>Perform basic functions in EC2 to build a virtual computing environment</a:t>
            </a:r>
          </a:p>
          <a:p>
            <a:pPr marL="171450" indent="-171450">
              <a:buFont typeface="Arial" panose="020B0604020202020204" pitchFamily="34" charset="0"/>
              <a:buChar char="•"/>
            </a:pPr>
            <a:r>
              <a:rPr lang="en-US" dirty="0"/>
              <a:t>Identify EC2 cost optimization elements</a:t>
            </a:r>
          </a:p>
          <a:p>
            <a:pPr marL="171450" indent="-171450">
              <a:buFont typeface="Arial" panose="020B0604020202020204" pitchFamily="34" charset="0"/>
              <a:buChar char="•"/>
            </a:pPr>
            <a:r>
              <a:rPr lang="en-US" dirty="0"/>
              <a:t>Demonstrate when to use AWS Elastic Beanstalk</a:t>
            </a:r>
          </a:p>
          <a:p>
            <a:pPr marL="171450" indent="-171450">
              <a:buFont typeface="Arial" panose="020B0604020202020204" pitchFamily="34" charset="0"/>
              <a:buChar char="•"/>
            </a:pPr>
            <a:r>
              <a:rPr lang="en-US" dirty="0"/>
              <a:t>Demonstrate when to use AWS Lambda</a:t>
            </a:r>
          </a:p>
          <a:p>
            <a:pPr marL="171450" indent="-171450">
              <a:buFont typeface="Arial" panose="020B0604020202020204" pitchFamily="34" charset="0"/>
              <a:buChar char="•"/>
            </a:pPr>
            <a:r>
              <a:rPr lang="en-US" dirty="0"/>
              <a:t>Identify how to run containerized applications in a cluster of managed servers</a:t>
            </a:r>
          </a:p>
        </p:txBody>
      </p:sp>
      <p:sp>
        <p:nvSpPr>
          <p:cNvPr id="5" name="Slide Image Placeholder 4">
            <a:extLst>
              <a:ext uri="{FF2B5EF4-FFF2-40B4-BE49-F238E27FC236}">
                <a16:creationId xmlns:a16="http://schemas.microsoft.com/office/drawing/2014/main" id="{B6878B0D-5F5D-65B1-5470-C753CA83BE6C}"/>
              </a:ext>
            </a:extLst>
          </p:cNvPr>
          <p:cNvSpPr>
            <a:spLocks noGrp="1" noRot="1" noChangeAspect="1"/>
          </p:cNvSpPr>
          <p:nvPr>
            <p:ph type="sldImg"/>
          </p:nvPr>
        </p:nvSpPr>
        <p:spPr/>
      </p:sp>
    </p:spTree>
    <p:extLst>
      <p:ext uri="{BB962C8B-B14F-4D97-AF65-F5344CB8AC3E}">
        <p14:creationId xmlns:p14="http://schemas.microsoft.com/office/powerpoint/2010/main" val="41597369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1: Compute services overview. </a:t>
            </a:r>
          </a:p>
        </p:txBody>
      </p:sp>
      <p:sp>
        <p:nvSpPr>
          <p:cNvPr id="5" name="Slide Image Placeholder 4">
            <a:extLst>
              <a:ext uri="{FF2B5EF4-FFF2-40B4-BE49-F238E27FC236}">
                <a16:creationId xmlns:a16="http://schemas.microsoft.com/office/drawing/2014/main" id="{F28702A7-059B-4080-ED63-44AAC61F7BF6}"/>
              </a:ext>
            </a:extLst>
          </p:cNvPr>
          <p:cNvSpPr>
            <a:spLocks noGrp="1" noRot="1" noChangeAspect="1"/>
          </p:cNvSpPr>
          <p:nvPr>
            <p:ph type="sldImg"/>
          </p:nvPr>
        </p:nvSpPr>
        <p:spPr/>
      </p:sp>
    </p:spTree>
    <p:extLst>
      <p:ext uri="{BB962C8B-B14F-4D97-AF65-F5344CB8AC3E}">
        <p14:creationId xmlns:p14="http://schemas.microsoft.com/office/powerpoint/2010/main" val="334630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709065"/>
          </a:xfrm>
        </p:spPr>
        <p:txBody>
          <a:bodyPr/>
          <a:lstStyle/>
          <a:p>
            <a:r>
              <a:rPr lang="en-US" dirty="0"/>
              <a:t>Amazon Web Services (AWS) offers many compute services. Here is a brief summary of what each compute service offers:</a:t>
            </a:r>
          </a:p>
          <a:p>
            <a:pPr marL="171450" indent="-171450">
              <a:buFont typeface="Arial" panose="020B0604020202020204" pitchFamily="34" charset="0"/>
              <a:buChar char="•"/>
            </a:pPr>
            <a:r>
              <a:rPr lang="en-US" b="1" dirty="0"/>
              <a:t>Amazon Elastic Compute Cloud (Amazon EC2) </a:t>
            </a:r>
            <a:r>
              <a:rPr lang="en-US" dirty="0"/>
              <a:t>provides resizable virtual machines.</a:t>
            </a:r>
          </a:p>
          <a:p>
            <a:pPr marL="171450" indent="-171450">
              <a:buFont typeface="Arial" panose="020B0604020202020204" pitchFamily="34" charset="0"/>
              <a:buChar char="•"/>
            </a:pPr>
            <a:r>
              <a:rPr lang="en-US" b="1" dirty="0"/>
              <a:t>Amazon EC2 Auto Scaling </a:t>
            </a:r>
            <a:r>
              <a:rPr lang="en-US" dirty="0"/>
              <a:t>supports application availability by allowing you to define conditions that will automatically launch or terminate EC2 instances.</a:t>
            </a:r>
          </a:p>
          <a:p>
            <a:pPr marL="171450" indent="-171450">
              <a:buFont typeface="Arial" panose="020B0604020202020204" pitchFamily="34" charset="0"/>
              <a:buChar char="•"/>
            </a:pPr>
            <a:r>
              <a:rPr lang="en-US" b="1" dirty="0"/>
              <a:t>Amazon Elastic Container Registry (Amazon ECR) </a:t>
            </a:r>
            <a:r>
              <a:rPr lang="en-US" dirty="0"/>
              <a:t>is used to store and retrieve Docker images. </a:t>
            </a:r>
          </a:p>
          <a:p>
            <a:pPr marL="171450" indent="-171450">
              <a:buFont typeface="Arial" panose="020B0604020202020204" pitchFamily="34" charset="0"/>
              <a:buChar char="•"/>
            </a:pPr>
            <a:r>
              <a:rPr lang="en-US" b="1" dirty="0"/>
              <a:t>Amazon Elastic Container Service (Amazon ECS)</a:t>
            </a:r>
            <a:r>
              <a:rPr lang="en-US" dirty="0"/>
              <a:t> is a container orchestration service that supports Docker.</a:t>
            </a:r>
          </a:p>
          <a:p>
            <a:pPr marL="171450" indent="-171450">
              <a:buFont typeface="Arial" panose="020B0604020202020204" pitchFamily="34" charset="0"/>
              <a:buChar char="•"/>
            </a:pPr>
            <a:r>
              <a:rPr lang="en-US" b="1" dirty="0"/>
              <a:t>VMware Cloud on AWS </a:t>
            </a:r>
            <a:r>
              <a:rPr lang="en-US" dirty="0"/>
              <a:t>enables you to provision a hybrid cloud without custom hardware.</a:t>
            </a:r>
          </a:p>
          <a:p>
            <a:pPr marL="171450" indent="-171450">
              <a:buFont typeface="Arial" panose="020B0604020202020204" pitchFamily="34" charset="0"/>
              <a:buChar char="•"/>
            </a:pPr>
            <a:r>
              <a:rPr lang="en-US" b="1" dirty="0"/>
              <a:t>AWS Elastic Beanstalk</a:t>
            </a:r>
            <a:r>
              <a:rPr lang="en-US" dirty="0"/>
              <a:t> provides a simple way to run and manage web applications.</a:t>
            </a:r>
          </a:p>
          <a:p>
            <a:pPr marL="171450" indent="-171450">
              <a:buFont typeface="Arial" panose="020B0604020202020204" pitchFamily="34" charset="0"/>
              <a:buChar char="•"/>
            </a:pPr>
            <a:r>
              <a:rPr lang="en-US" b="1" dirty="0"/>
              <a:t>AWS Lambda </a:t>
            </a:r>
            <a:r>
              <a:rPr lang="en-US" dirty="0"/>
              <a:t>is a serverless compute solution. You pay only for the compute time that you use.</a:t>
            </a:r>
          </a:p>
          <a:p>
            <a:pPr marL="171450" indent="-171450">
              <a:buFont typeface="Arial" panose="020B0604020202020204" pitchFamily="34" charset="0"/>
              <a:buChar char="•"/>
            </a:pPr>
            <a:r>
              <a:rPr lang="en-US" b="1" dirty="0"/>
              <a:t>Amazon Elastic Kubernetes Service (Amazon EKS) </a:t>
            </a:r>
            <a:r>
              <a:rPr lang="en-US" dirty="0"/>
              <a:t>enables you to run managed Kubernetes on AWS.</a:t>
            </a:r>
          </a:p>
          <a:p>
            <a:pPr marL="171450" indent="-171450">
              <a:buFont typeface="Arial" panose="020B0604020202020204" pitchFamily="34" charset="0"/>
              <a:buChar char="•"/>
            </a:pPr>
            <a:r>
              <a:rPr lang="en-US" b="1" dirty="0"/>
              <a:t>Amazon Lightsail</a:t>
            </a:r>
            <a:r>
              <a:rPr lang="en-US" dirty="0"/>
              <a:t> provides a simple-to-use service for building an application or website.</a:t>
            </a:r>
          </a:p>
          <a:p>
            <a:pPr marL="171450" indent="-171450">
              <a:buFont typeface="Arial" panose="020B0604020202020204" pitchFamily="34" charset="0"/>
              <a:buChar char="•"/>
            </a:pPr>
            <a:r>
              <a:rPr lang="en-US" b="1" dirty="0"/>
              <a:t>AWS Batch </a:t>
            </a:r>
            <a:r>
              <a:rPr lang="en-US" dirty="0"/>
              <a:t>provides a tool for running batch jobs at any scale.</a:t>
            </a:r>
          </a:p>
          <a:p>
            <a:pPr marL="171450" indent="-171450">
              <a:buFont typeface="Arial" panose="020B0604020202020204" pitchFamily="34" charset="0"/>
              <a:buChar char="•"/>
            </a:pPr>
            <a:r>
              <a:rPr lang="en-US" b="1" dirty="0"/>
              <a:t>AWS Fargate </a:t>
            </a:r>
            <a:r>
              <a:rPr lang="en-US" dirty="0"/>
              <a:t>provides a way to run containers that reduce the need for you to manage servers or clusters.</a:t>
            </a:r>
          </a:p>
          <a:p>
            <a:pPr marL="171450" indent="-171450">
              <a:buFont typeface="Arial" panose="020B0604020202020204" pitchFamily="34" charset="0"/>
              <a:buChar char="•"/>
            </a:pPr>
            <a:r>
              <a:rPr lang="en-US" b="1" dirty="0"/>
              <a:t>AWS Outposts </a:t>
            </a:r>
            <a:r>
              <a:rPr lang="en-US" dirty="0"/>
              <a:t>provides a way to run select AWS services in your on-premises data center.</a:t>
            </a:r>
          </a:p>
          <a:p>
            <a:pPr marL="171450" indent="-171450">
              <a:buFont typeface="Arial" panose="020B0604020202020204" pitchFamily="34" charset="0"/>
              <a:buChar char="•"/>
            </a:pPr>
            <a:r>
              <a:rPr lang="en-US" b="1" dirty="0"/>
              <a:t>AWS Serverless Application Repository</a:t>
            </a:r>
            <a:r>
              <a:rPr lang="en-US" dirty="0"/>
              <a:t> provides a way to discover, deploy, and publish serverless applications.</a:t>
            </a:r>
          </a:p>
          <a:p>
            <a:endParaRPr lang="en-US" dirty="0"/>
          </a:p>
          <a:p>
            <a:r>
              <a:rPr lang="en-US" dirty="0"/>
              <a:t>This module will discuss details of the services that are highlighted on the slide. </a:t>
            </a:r>
          </a:p>
          <a:p>
            <a:endParaRPr lang="en-US" dirty="0"/>
          </a:p>
          <a:p>
            <a:endParaRPr lang="en-US" dirty="0"/>
          </a:p>
        </p:txBody>
      </p:sp>
      <p:sp>
        <p:nvSpPr>
          <p:cNvPr id="5" name="Slide Image Placeholder 4">
            <a:extLst>
              <a:ext uri="{FF2B5EF4-FFF2-40B4-BE49-F238E27FC236}">
                <a16:creationId xmlns:a16="http://schemas.microsoft.com/office/drawing/2014/main" id="{082DBF19-2AB2-37E2-FC8F-200793040928}"/>
              </a:ext>
            </a:extLst>
          </p:cNvPr>
          <p:cNvSpPr>
            <a:spLocks noGrp="1" noRot="1" noChangeAspect="1"/>
          </p:cNvSpPr>
          <p:nvPr>
            <p:ph type="sldImg"/>
          </p:nvPr>
        </p:nvSpPr>
        <p:spPr/>
      </p:sp>
    </p:spTree>
    <p:extLst>
      <p:ext uri="{BB962C8B-B14F-4D97-AF65-F5344CB8AC3E}">
        <p14:creationId xmlns:p14="http://schemas.microsoft.com/office/powerpoint/2010/main" val="3242972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5086137"/>
          </a:xfrm>
        </p:spPr>
        <p:txBody>
          <a:bodyPr/>
          <a:lstStyle/>
          <a:p>
            <a:r>
              <a:rPr lang="en-US" dirty="0"/>
              <a:t>You can think of each AWS compute service as belonging to one of four broad categories: virtual machines (VMs) that provide infrastructure as a service (IaaS), serverless, container-based, and platform as a service (PaaS).</a:t>
            </a:r>
          </a:p>
          <a:p>
            <a:endParaRPr lang="en-US" dirty="0"/>
          </a:p>
          <a:p>
            <a:r>
              <a:rPr lang="en-US" b="1" dirty="0"/>
              <a:t>Amazon EC2</a:t>
            </a:r>
            <a:r>
              <a:rPr lang="en-US" dirty="0"/>
              <a:t> provides virtual machines, and you can think of it as infrastructure as a service (IaaS). IaaS services provide flexibility and leave many of the server management responsibilities to you. You choose the operating system, and you also choose the size and resource capabilities of the servers that you launch. For IT professionals who have experience using on-premises computing, virtual machines are a familiar concept. Amazon EC2 was one of the first AWS services, and it remains one of the most popular services.</a:t>
            </a:r>
          </a:p>
          <a:p>
            <a:r>
              <a:rPr lang="en-US" dirty="0"/>
              <a:t> </a:t>
            </a:r>
          </a:p>
          <a:p>
            <a:r>
              <a:rPr lang="en-US" b="1" dirty="0"/>
              <a:t>AWS Lambda </a:t>
            </a:r>
            <a:r>
              <a:rPr lang="en-US" dirty="0"/>
              <a:t>is a zero-administration compute platform. AWS Lambda enables you to run code without provisioning or managing servers. You pay only for the compute time that is consumed. This serverless technology concept is relatively new to many IT professionals. However, it is becoming more popular because it supports cloud-native architectures, which enable massive scalability at a lower cost than running servers 24/7 to support the same workloads.</a:t>
            </a:r>
          </a:p>
          <a:p>
            <a:r>
              <a:rPr lang="en-US" dirty="0"/>
              <a:t> </a:t>
            </a:r>
          </a:p>
          <a:p>
            <a:r>
              <a:rPr lang="en-US" dirty="0"/>
              <a:t>Container-based services—including </a:t>
            </a:r>
            <a:r>
              <a:rPr lang="en-US" b="1" dirty="0"/>
              <a:t>Amazon Elastic Container Service, Amazon Elastic Kubernetes Service, AWS Fargate, and Amazon Elastic Container Registry</a:t>
            </a:r>
            <a:r>
              <a:rPr lang="en-US" dirty="0"/>
              <a:t>—enable you to run multiple workloads on a single operating system (OS). Containers spin up more quickly than virtual machines, thus offering responsiveness. Container-based solutions continue to grow in popularity. </a:t>
            </a:r>
          </a:p>
          <a:p>
            <a:endParaRPr lang="en-US" dirty="0"/>
          </a:p>
          <a:p>
            <a:r>
              <a:rPr lang="en-US" dirty="0"/>
              <a:t>Finally, </a:t>
            </a:r>
            <a:r>
              <a:rPr lang="en-US" b="1" dirty="0"/>
              <a:t>AWS Elastic Beanstalk </a:t>
            </a:r>
            <a:r>
              <a:rPr lang="en-US" dirty="0"/>
              <a:t>provides a platform as a service (PaaS). It facilitates the quick deployment of applications that you create by providing all the application services that you need. AWS manages the OS, the application server, and the other infrastructure components so that you can focus on developing your application code. </a:t>
            </a:r>
          </a:p>
          <a:p>
            <a:endParaRPr lang="en-US" dirty="0"/>
          </a:p>
        </p:txBody>
      </p:sp>
      <p:sp>
        <p:nvSpPr>
          <p:cNvPr id="5" name="Slide Image Placeholder 4">
            <a:extLst>
              <a:ext uri="{FF2B5EF4-FFF2-40B4-BE49-F238E27FC236}">
                <a16:creationId xmlns:a16="http://schemas.microsoft.com/office/drawing/2014/main" id="{75E719FC-29FB-C61B-9377-E92B14A27406}"/>
              </a:ext>
            </a:extLst>
          </p:cNvPr>
          <p:cNvSpPr>
            <a:spLocks noGrp="1" noRot="1" noChangeAspect="1"/>
          </p:cNvSpPr>
          <p:nvPr>
            <p:ph type="sldImg"/>
          </p:nvPr>
        </p:nvSpPr>
        <p:spPr/>
      </p:sp>
    </p:spTree>
    <p:extLst>
      <p:ext uri="{BB962C8B-B14F-4D97-AF65-F5344CB8AC3E}">
        <p14:creationId xmlns:p14="http://schemas.microsoft.com/office/powerpoint/2010/main" val="4054496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offers many compute services because different use cases benefit from different compute environments. The optimal compute service or services that you use will depend on your use case.</a:t>
            </a:r>
          </a:p>
          <a:p>
            <a:endParaRPr lang="en-US" dirty="0"/>
          </a:p>
          <a:p>
            <a:r>
              <a:rPr lang="en-US" dirty="0"/>
              <a:t>Often, the compute architecture that you use is determined by legacy code. However, that does not mean that you cannot evolve the architecture to take advantage of proven cloud-native designs.</a:t>
            </a:r>
          </a:p>
          <a:p>
            <a:endParaRPr lang="en-US" dirty="0"/>
          </a:p>
          <a:p>
            <a:r>
              <a:rPr lang="en-US" dirty="0"/>
              <a:t>Best practices include:</a:t>
            </a:r>
          </a:p>
          <a:p>
            <a:pPr marL="171450" indent="-171450">
              <a:buFont typeface="Arial" panose="020B0604020202020204" pitchFamily="34" charset="0"/>
              <a:buChar char="•"/>
            </a:pPr>
            <a:r>
              <a:rPr lang="en-US" dirty="0"/>
              <a:t>Evaluate the available compute options</a:t>
            </a:r>
          </a:p>
          <a:p>
            <a:pPr marL="171450" indent="-171450">
              <a:buFont typeface="Arial" panose="020B0604020202020204" pitchFamily="34" charset="0"/>
              <a:buChar char="•"/>
            </a:pPr>
            <a:r>
              <a:rPr lang="en-US" dirty="0"/>
              <a:t>Understand the available compute configuration options</a:t>
            </a:r>
          </a:p>
          <a:p>
            <a:pPr marL="171450" indent="-171450">
              <a:buFont typeface="Arial" panose="020B0604020202020204" pitchFamily="34" charset="0"/>
              <a:buChar char="•"/>
            </a:pPr>
            <a:r>
              <a:rPr lang="en-US" dirty="0"/>
              <a:t>Collect computer-related metrics</a:t>
            </a:r>
          </a:p>
          <a:p>
            <a:pPr marL="171450" indent="-171450">
              <a:buFont typeface="Arial" panose="020B0604020202020204" pitchFamily="34" charset="0"/>
              <a:buChar char="•"/>
            </a:pPr>
            <a:r>
              <a:rPr lang="en-US" dirty="0"/>
              <a:t>Use the available elasticity of resources</a:t>
            </a:r>
          </a:p>
          <a:p>
            <a:pPr marL="171450" indent="-171450">
              <a:buFont typeface="Arial" panose="020B0604020202020204" pitchFamily="34" charset="0"/>
              <a:buChar char="•"/>
            </a:pPr>
            <a:r>
              <a:rPr lang="en-US" dirty="0"/>
              <a:t>Re-evaluate compute needs based on metrics</a:t>
            </a:r>
          </a:p>
          <a:p>
            <a:endParaRPr lang="en-US" dirty="0"/>
          </a:p>
          <a:p>
            <a:r>
              <a:rPr lang="en-US" dirty="0"/>
              <a:t>Sometimes, a customer will start with one compute solution and decide to change the design based on their analysis of metrics. If you are interested in seeing an example of how a customer modified their choice of compute services for a particular use case, view this Inventory Tracking</a:t>
            </a:r>
            <a:r>
              <a:rPr lang="en-US" dirty="0">
                <a:hlinkClick r:id="rId3"/>
              </a:rPr>
              <a:t> </a:t>
            </a:r>
            <a:r>
              <a:rPr lang="en-US" dirty="0"/>
              <a:t>solution video at </a:t>
            </a:r>
            <a:r>
              <a:rPr lang="en-GB" dirty="0">
                <a:hlinkClick r:id="rId3"/>
              </a:rPr>
              <a:t>https://</a:t>
            </a:r>
            <a:r>
              <a:rPr lang="en-GB" dirty="0" err="1">
                <a:hlinkClick r:id="rId3"/>
              </a:rPr>
              <a:t>www.youtube.com</a:t>
            </a:r>
            <a:r>
              <a:rPr lang="en-GB" dirty="0">
                <a:hlinkClick r:id="rId3"/>
              </a:rPr>
              <a:t>/</a:t>
            </a:r>
            <a:r>
              <a:rPr lang="en-GB" dirty="0" err="1">
                <a:hlinkClick r:id="rId3"/>
              </a:rPr>
              <a:t>watch?v</a:t>
            </a:r>
            <a:r>
              <a:rPr lang="en-GB" dirty="0">
                <a:hlinkClick r:id="rId3"/>
              </a:rPr>
              <a:t>=</a:t>
            </a:r>
            <a:r>
              <a:rPr lang="en-GB" dirty="0" err="1">
                <a:hlinkClick r:id="rId3"/>
              </a:rPr>
              <a:t>zr3Kib0i-OQ&amp;feature</a:t>
            </a:r>
            <a:r>
              <a:rPr lang="en-GB" dirty="0">
                <a:hlinkClick r:id="rId3"/>
              </a:rPr>
              <a:t>=</a:t>
            </a:r>
            <a:r>
              <a:rPr lang="en-GB" dirty="0" err="1">
                <a:hlinkClick r:id="rId3"/>
              </a:rPr>
              <a:t>youtu.be&amp;did</a:t>
            </a:r>
            <a:r>
              <a:rPr lang="en-GB" dirty="0">
                <a:hlinkClick r:id="rId3"/>
              </a:rPr>
              <a:t>=</a:t>
            </a:r>
            <a:r>
              <a:rPr lang="en-GB" dirty="0" err="1">
                <a:hlinkClick r:id="rId3"/>
              </a:rPr>
              <a:t>ta_card&amp;trk</a:t>
            </a:r>
            <a:r>
              <a:rPr lang="en-GB" dirty="0">
                <a:hlinkClick r:id="rId3"/>
              </a:rPr>
              <a:t>=</a:t>
            </a:r>
            <a:r>
              <a:rPr lang="en-GB" dirty="0" err="1">
                <a:hlinkClick r:id="rId3"/>
              </a:rPr>
              <a:t>ta_card</a:t>
            </a:r>
            <a:r>
              <a:rPr lang="en-US" dirty="0"/>
              <a:t>.</a:t>
            </a:r>
          </a:p>
        </p:txBody>
      </p:sp>
      <p:sp>
        <p:nvSpPr>
          <p:cNvPr id="5" name="Slide Image Placeholder 4">
            <a:extLst>
              <a:ext uri="{FF2B5EF4-FFF2-40B4-BE49-F238E27FC236}">
                <a16:creationId xmlns:a16="http://schemas.microsoft.com/office/drawing/2014/main" id="{0841E15C-B33F-7266-D364-6E85B406DDCF}"/>
              </a:ext>
            </a:extLst>
          </p:cNvPr>
          <p:cNvSpPr>
            <a:spLocks noGrp="1" noRot="1" noChangeAspect="1"/>
          </p:cNvSpPr>
          <p:nvPr>
            <p:ph type="sldImg"/>
          </p:nvPr>
        </p:nvSpPr>
        <p:spPr/>
      </p:sp>
    </p:spTree>
    <p:extLst>
      <p:ext uri="{BB962C8B-B14F-4D97-AF65-F5344CB8AC3E}">
        <p14:creationId xmlns:p14="http://schemas.microsoft.com/office/powerpoint/2010/main" val="1925532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2: Amazon EC2. </a:t>
            </a:r>
            <a:br>
              <a:rPr lang="en-US" dirty="0"/>
            </a:br>
            <a:br>
              <a:rPr lang="en-US" dirty="0"/>
            </a:br>
            <a:endParaRPr lang="en-US" dirty="0"/>
          </a:p>
        </p:txBody>
      </p:sp>
      <p:sp>
        <p:nvSpPr>
          <p:cNvPr id="5" name="Slide Image Placeholder 4">
            <a:extLst>
              <a:ext uri="{FF2B5EF4-FFF2-40B4-BE49-F238E27FC236}">
                <a16:creationId xmlns:a16="http://schemas.microsoft.com/office/drawing/2014/main" id="{E7E17DF0-C07B-50B4-5E9E-DC6744EBD8C8}"/>
              </a:ext>
            </a:extLst>
          </p:cNvPr>
          <p:cNvSpPr>
            <a:spLocks noGrp="1" noRot="1" noChangeAspect="1"/>
          </p:cNvSpPr>
          <p:nvPr>
            <p:ph type="sldImg"/>
          </p:nvPr>
        </p:nvSpPr>
        <p:spPr/>
      </p:sp>
    </p:spTree>
    <p:extLst>
      <p:ext uri="{BB962C8B-B14F-4D97-AF65-F5344CB8AC3E}">
        <p14:creationId xmlns:p14="http://schemas.microsoft.com/office/powerpoint/2010/main" val="4160734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B52809-B5B7-4F41-8876-28A8C75C3ECB}" type="slidenum">
              <a:rPr lang="en-US" smtClean="0"/>
              <a:t>9</a:t>
            </a:fld>
            <a:endParaRPr lang="en-US"/>
          </a:p>
        </p:txBody>
      </p:sp>
    </p:spTree>
    <p:extLst>
      <p:ext uri="{BB962C8B-B14F-4D97-AF65-F5344CB8AC3E}">
        <p14:creationId xmlns:p14="http://schemas.microsoft.com/office/powerpoint/2010/main" val="184599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331992"/>
          </a:xfrm>
        </p:spPr>
        <p:txBody>
          <a:bodyPr/>
          <a:lstStyle/>
          <a:p>
            <a:r>
              <a:rPr lang="en-US" b="1" dirty="0"/>
              <a:t>Running servers on-premises </a:t>
            </a:r>
            <a:r>
              <a:rPr lang="en-US" dirty="0"/>
              <a:t>is an expensive undertaking. Hardware must be procured, and this procurement can be based on project plans instead of the reality of how the servers are used. Data centers are expensive to build, staff, and maintain. Organizations also need to permanently provision a sufficient amount of hardware to handle traffic spikes and peak workloads. After traditional on-premises deployments are built, server capacity might be unused and idle for a significant portion of the time that the servers are running, which is wasteful. </a:t>
            </a:r>
          </a:p>
          <a:p>
            <a:endParaRPr lang="en-US" dirty="0"/>
          </a:p>
          <a:p>
            <a:pPr lvl="0"/>
            <a:r>
              <a:rPr lang="en-US" dirty="0"/>
              <a:t>Amazon Elastic Compute Cloud (Amazon EC2) provides virtual machines where you can host the same kinds of applications that you might run on a traditional on-premises server. It provides secure, resizable compute capacity in the cloud. EC2 instances can support a variety of workloads. Common uses for EC2 instances include, but are not limited to:</a:t>
            </a:r>
          </a:p>
          <a:p>
            <a:pPr marL="171450" indent="-171450">
              <a:buFont typeface="Arial" panose="020B0604020202020204" pitchFamily="34" charset="0"/>
              <a:buChar char="•"/>
            </a:pPr>
            <a:r>
              <a:rPr lang="en-US" dirty="0"/>
              <a:t>Application servers</a:t>
            </a:r>
          </a:p>
          <a:p>
            <a:pPr marL="171450" indent="-171450">
              <a:buFont typeface="Arial" panose="020B0604020202020204" pitchFamily="34" charset="0"/>
              <a:buChar char="•"/>
            </a:pPr>
            <a:r>
              <a:rPr lang="en-US" dirty="0"/>
              <a:t>Web servers</a:t>
            </a:r>
          </a:p>
          <a:p>
            <a:pPr marL="171450" indent="-171450">
              <a:buFont typeface="Arial" panose="020B0604020202020204" pitchFamily="34" charset="0"/>
              <a:buChar char="•"/>
            </a:pPr>
            <a:r>
              <a:rPr lang="en-US" dirty="0"/>
              <a:t>Database servers</a:t>
            </a:r>
          </a:p>
          <a:p>
            <a:pPr marL="171450" indent="-171450">
              <a:buFont typeface="Arial" panose="020B0604020202020204" pitchFamily="34" charset="0"/>
              <a:buChar char="•"/>
            </a:pPr>
            <a:r>
              <a:rPr lang="en-US" dirty="0"/>
              <a:t>Game servers</a:t>
            </a:r>
          </a:p>
          <a:p>
            <a:pPr marL="171450" indent="-171450">
              <a:buFont typeface="Arial" panose="020B0604020202020204" pitchFamily="34" charset="0"/>
              <a:buChar char="•"/>
            </a:pPr>
            <a:r>
              <a:rPr lang="en-US" dirty="0"/>
              <a:t>Mail servers</a:t>
            </a:r>
          </a:p>
          <a:p>
            <a:pPr marL="171450" indent="-171450">
              <a:buFont typeface="Arial" panose="020B0604020202020204" pitchFamily="34" charset="0"/>
              <a:buChar char="•"/>
            </a:pPr>
            <a:r>
              <a:rPr lang="en-US" dirty="0"/>
              <a:t>Media servers</a:t>
            </a:r>
          </a:p>
          <a:p>
            <a:pPr marL="171450" indent="-171450">
              <a:buFont typeface="Arial" panose="020B0604020202020204" pitchFamily="34" charset="0"/>
              <a:buChar char="•"/>
            </a:pPr>
            <a:r>
              <a:rPr lang="en-US" dirty="0"/>
              <a:t>Catalog servers</a:t>
            </a:r>
          </a:p>
          <a:p>
            <a:pPr marL="171450" indent="-171450">
              <a:buFont typeface="Arial" panose="020B0604020202020204" pitchFamily="34" charset="0"/>
              <a:buChar char="•"/>
            </a:pPr>
            <a:r>
              <a:rPr lang="en-US" dirty="0"/>
              <a:t>File servers</a:t>
            </a:r>
          </a:p>
          <a:p>
            <a:pPr marL="171450" indent="-171450">
              <a:buFont typeface="Arial" panose="020B0604020202020204" pitchFamily="34" charset="0"/>
              <a:buChar char="•"/>
            </a:pPr>
            <a:r>
              <a:rPr lang="en-US" dirty="0"/>
              <a:t>Computing servers</a:t>
            </a:r>
          </a:p>
          <a:p>
            <a:pPr marL="171450" indent="-171450">
              <a:buFont typeface="Arial" panose="020B0604020202020204" pitchFamily="34" charset="0"/>
              <a:buChar char="•"/>
            </a:pPr>
            <a:r>
              <a:rPr lang="en-US" dirty="0"/>
              <a:t>Proxy servers</a:t>
            </a:r>
          </a:p>
          <a:p>
            <a:endParaRPr lang="en-US" dirty="0"/>
          </a:p>
        </p:txBody>
      </p:sp>
      <p:sp>
        <p:nvSpPr>
          <p:cNvPr id="4" name="Slide Image Placeholder 3">
            <a:extLst>
              <a:ext uri="{FF2B5EF4-FFF2-40B4-BE49-F238E27FC236}">
                <a16:creationId xmlns:a16="http://schemas.microsoft.com/office/drawing/2014/main" id="{AEACB62A-7793-0471-3D4A-1C554105357D}"/>
              </a:ext>
            </a:extLst>
          </p:cNvPr>
          <p:cNvSpPr>
            <a:spLocks noGrp="1" noRot="1" noChangeAspect="1"/>
          </p:cNvSpPr>
          <p:nvPr>
            <p:ph type="sldImg"/>
          </p:nvPr>
        </p:nvSpPr>
        <p:spPr/>
      </p:sp>
    </p:spTree>
    <p:extLst>
      <p:ext uri="{BB962C8B-B14F-4D97-AF65-F5344CB8AC3E}">
        <p14:creationId xmlns:p14="http://schemas.microsoft.com/office/powerpoint/2010/main" val="3591547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765625"/>
          </a:xfrm>
        </p:spPr>
        <p:txBody>
          <a:bodyPr/>
          <a:lstStyle/>
          <a:p>
            <a:pPr lvl="0"/>
            <a:r>
              <a:rPr lang="en-US" dirty="0"/>
              <a:t>The </a:t>
            </a:r>
            <a:r>
              <a:rPr lang="en-US" b="1" dirty="0"/>
              <a:t>EC2</a:t>
            </a:r>
            <a:r>
              <a:rPr lang="en-US" dirty="0"/>
              <a:t> in Amazon EC2 stands for </a:t>
            </a:r>
            <a:r>
              <a:rPr lang="en-US" b="1" dirty="0"/>
              <a:t>Elastic Compute Cloud:</a:t>
            </a:r>
          </a:p>
          <a:p>
            <a:pPr marL="171450" lvl="0" indent="-171450">
              <a:buFont typeface="Arial" panose="020B0604020202020204" pitchFamily="34" charset="0"/>
              <a:buChar char="•"/>
            </a:pPr>
            <a:r>
              <a:rPr lang="en-US" dirty="0"/>
              <a:t>Elastic refers to the fact that you can easily increase or decrease the number of servers you run to support an application automatically, and you can also increase or decrease the size of existing servers.</a:t>
            </a:r>
          </a:p>
          <a:p>
            <a:pPr marL="171450" lvl="0" indent="-171450">
              <a:buFont typeface="Arial" panose="020B0604020202020204" pitchFamily="34" charset="0"/>
              <a:buChar char="•"/>
            </a:pPr>
            <a:r>
              <a:rPr lang="en-US" dirty="0"/>
              <a:t>Compute refers to reason why most users run servers in the first place, which is to host running applications or process data—actions that require compute resources, including processing power (CPU) and memory (RAM). </a:t>
            </a:r>
          </a:p>
          <a:p>
            <a:pPr marL="171450" lvl="0" indent="-171450">
              <a:buFont typeface="Arial" panose="020B0604020202020204" pitchFamily="34" charset="0"/>
              <a:buChar char="•"/>
            </a:pPr>
            <a:r>
              <a:rPr lang="en-US" dirty="0"/>
              <a:t>Cloud refers to the fact that the EC2 instances that you run are hosted in the cloud. </a:t>
            </a:r>
          </a:p>
          <a:p>
            <a:pPr lvl="0"/>
            <a:endParaRPr lang="en-US" dirty="0"/>
          </a:p>
          <a:p>
            <a:r>
              <a:rPr lang="en-US" dirty="0"/>
              <a:t>Amazon EC2 provides virtual machines in the cloud and gives you full administrative control over the Windows or Linux operating system that runs on the instance. Most server operating systems are supported, including: Windows 2008, 2012, 2016, and 2019, Red Hat, SuSE, Ubuntu, and Amazon Linux.</a:t>
            </a:r>
          </a:p>
          <a:p>
            <a:endParaRPr lang="en-US" dirty="0"/>
          </a:p>
          <a:p>
            <a:r>
              <a:rPr lang="en-US" dirty="0"/>
              <a:t>An operating system that runs on a virtual machine is often called a guest operating system to distinguish it from the host operating system. The host operating system is directly installed on any server hardware that hosts one or more virtual machines.</a:t>
            </a:r>
          </a:p>
          <a:p>
            <a:endParaRPr lang="en-US" dirty="0"/>
          </a:p>
          <a:p>
            <a:r>
              <a:rPr lang="en-US" dirty="0"/>
              <a:t>With Amazon EC2, you can launch any number of instances of any size into any Availability Zone anywhere in the world in a matter of minutes. Instances launch from </a:t>
            </a:r>
            <a:r>
              <a:rPr lang="en-US" b="1" dirty="0"/>
              <a:t>Amazon Machine Images (AMIs)</a:t>
            </a:r>
            <a:r>
              <a:rPr lang="en-US" dirty="0"/>
              <a:t>, which are effectively virtual machine templates. AMIs are discussed in more detail later in this module.</a:t>
            </a:r>
          </a:p>
          <a:p>
            <a:endParaRPr lang="en-US" dirty="0"/>
          </a:p>
          <a:p>
            <a:r>
              <a:rPr lang="en-US" dirty="0"/>
              <a:t>You can control traffic to and from instances by using security groups. Also, because the servers run in the AWS Cloud, you can build solutions that take use multiple AWS services.</a:t>
            </a:r>
          </a:p>
        </p:txBody>
      </p:sp>
      <p:sp>
        <p:nvSpPr>
          <p:cNvPr id="5" name="Slide Image Placeholder 4">
            <a:extLst>
              <a:ext uri="{FF2B5EF4-FFF2-40B4-BE49-F238E27FC236}">
                <a16:creationId xmlns:a16="http://schemas.microsoft.com/office/drawing/2014/main" id="{4BFD4F68-252D-4B22-E3D3-7A80E13C6E7B}"/>
              </a:ext>
            </a:extLst>
          </p:cNvPr>
          <p:cNvSpPr>
            <a:spLocks noGrp="1" noRot="1" noChangeAspect="1"/>
          </p:cNvSpPr>
          <p:nvPr>
            <p:ph type="sldImg"/>
          </p:nvPr>
        </p:nvSpPr>
        <p:spPr/>
      </p:sp>
    </p:spTree>
    <p:extLst>
      <p:ext uri="{BB962C8B-B14F-4D97-AF65-F5344CB8AC3E}">
        <p14:creationId xmlns:p14="http://schemas.microsoft.com/office/powerpoint/2010/main" val="2797594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The first time you launch an Amazon EC2 instance, you will likely use the AWS Management Console Launch Instance Wizard. You will have the opportunity to experience using the Launch Wizard in the </a:t>
            </a:r>
            <a:r>
              <a:rPr lang="en-US" b="1" dirty="0"/>
              <a:t>lab</a:t>
            </a:r>
            <a:r>
              <a:rPr lang="en-US" dirty="0"/>
              <a:t> that is in this module.</a:t>
            </a:r>
          </a:p>
          <a:p>
            <a:endParaRPr lang="en-US" dirty="0"/>
          </a:p>
          <a:p>
            <a:r>
              <a:rPr lang="en-US" dirty="0"/>
              <a:t>The </a:t>
            </a:r>
            <a:r>
              <a:rPr lang="en-US" b="1" dirty="0"/>
              <a:t>Launch Instance Wizard </a:t>
            </a:r>
            <a:r>
              <a:rPr lang="en-US" dirty="0"/>
              <a:t>makes it easy to launch an instance. For example, if you choose to accept all the default settings, you can skip most of the steps that are provided by the wizard and launch an EC2 instance in as few as six clicks. An example of this process is shown in the </a:t>
            </a:r>
            <a:r>
              <a:rPr lang="en-US" b="1" dirty="0"/>
              <a:t>demonstration</a:t>
            </a:r>
            <a:r>
              <a:rPr lang="en-US" dirty="0"/>
              <a:t> at the end of this section. </a:t>
            </a:r>
          </a:p>
          <a:p>
            <a:endParaRPr lang="en-US" dirty="0"/>
          </a:p>
          <a:p>
            <a:r>
              <a:rPr lang="en-US" dirty="0"/>
              <a:t>However, for most deployments you will want to modify the default settings so that the servers you launch are deployed in a way that matches your specific needs.</a:t>
            </a:r>
          </a:p>
          <a:p>
            <a:endParaRPr lang="en-US" dirty="0"/>
          </a:p>
          <a:p>
            <a:r>
              <a:rPr lang="en-US" dirty="0"/>
              <a:t>The next series of slides introduce you to the essential choices that you must make when you launch an instance. The slides cover essential concepts that are good to know when you make these choices. These concepts are described to help you understand the options that are available, and the effects of the decisions that you will make.</a:t>
            </a:r>
          </a:p>
        </p:txBody>
      </p:sp>
      <p:sp>
        <p:nvSpPr>
          <p:cNvPr id="5" name="Slide Image Placeholder 4">
            <a:extLst>
              <a:ext uri="{FF2B5EF4-FFF2-40B4-BE49-F238E27FC236}">
                <a16:creationId xmlns:a16="http://schemas.microsoft.com/office/drawing/2014/main" id="{FF446F10-F085-1847-A830-B5060F452C90}"/>
              </a:ext>
            </a:extLst>
          </p:cNvPr>
          <p:cNvSpPr>
            <a:spLocks noGrp="1" noRot="1" noChangeAspect="1"/>
          </p:cNvSpPr>
          <p:nvPr>
            <p:ph type="sldImg"/>
          </p:nvPr>
        </p:nvSpPr>
        <p:spPr/>
      </p:sp>
    </p:spTree>
    <p:extLst>
      <p:ext uri="{BB962C8B-B14F-4D97-AF65-F5344CB8AC3E}">
        <p14:creationId xmlns:p14="http://schemas.microsoft.com/office/powerpoint/2010/main" val="62100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718491"/>
          </a:xfrm>
        </p:spPr>
        <p:txBody>
          <a:bodyPr/>
          <a:lstStyle/>
          <a:p>
            <a:r>
              <a:rPr lang="en-US" dirty="0"/>
              <a:t>An </a:t>
            </a:r>
            <a:r>
              <a:rPr lang="en-US" b="1" dirty="0"/>
              <a:t>Amazon Machine Image (AMI) </a:t>
            </a:r>
            <a:r>
              <a:rPr lang="en-US" dirty="0"/>
              <a:t>provides information that is required to launch an </a:t>
            </a:r>
            <a:r>
              <a:rPr lang="en-US" b="1" dirty="0"/>
              <a:t>EC2 instance</a:t>
            </a:r>
            <a:r>
              <a:rPr lang="en-US" dirty="0"/>
              <a:t>. You must specify a source AMI when you launch an instance. You can use different AMIs to launch different types of instances. For example, you can choose one AMI to launch an instance that will become a web server and another AMI to deploy an instance that will host an application server. You can also launch multiple instances from a single AMI.</a:t>
            </a:r>
          </a:p>
          <a:p>
            <a:endParaRPr lang="en-US" dirty="0"/>
          </a:p>
          <a:p>
            <a:r>
              <a:rPr lang="en-US" dirty="0"/>
              <a:t>An AMI includes the following components:</a:t>
            </a:r>
          </a:p>
          <a:p>
            <a:pPr marL="171450" indent="-171450">
              <a:buFont typeface="Arial" panose="020B0604020202020204" pitchFamily="34" charset="0"/>
              <a:buChar char="•"/>
            </a:pPr>
            <a:r>
              <a:rPr lang="en-US" dirty="0"/>
              <a:t>A </a:t>
            </a:r>
            <a:r>
              <a:rPr lang="en-US" b="1" dirty="0"/>
              <a:t>template for the root volume </a:t>
            </a:r>
            <a:r>
              <a:rPr lang="en-US" dirty="0"/>
              <a:t>of the instance. A root volume typically contains an operating system (OS) and everything that was installed in that OS (applications, libraries, etc.). Amazon EC2 copies the template to the root volume of a new EC2 instance, and then starts it.</a:t>
            </a:r>
          </a:p>
          <a:p>
            <a:pPr marL="171450" indent="-171450">
              <a:buFont typeface="Arial" panose="020B0604020202020204" pitchFamily="34" charset="0"/>
              <a:buChar char="•"/>
            </a:pPr>
            <a:r>
              <a:rPr lang="en-US" b="1" dirty="0"/>
              <a:t>Launch permissions </a:t>
            </a:r>
            <a:r>
              <a:rPr lang="en-US" dirty="0"/>
              <a:t>that control which AWS accounts can use the AMI.</a:t>
            </a:r>
          </a:p>
          <a:p>
            <a:pPr marL="171450" indent="-171450">
              <a:buFont typeface="Arial" panose="020B0604020202020204" pitchFamily="34" charset="0"/>
              <a:buChar char="•"/>
            </a:pPr>
            <a:r>
              <a:rPr lang="en-US" dirty="0"/>
              <a:t>A </a:t>
            </a:r>
            <a:r>
              <a:rPr lang="en-US" b="1" dirty="0"/>
              <a:t>block device mapping </a:t>
            </a:r>
            <a:r>
              <a:rPr lang="en-US" dirty="0"/>
              <a:t>that specifies the volumes to attach to the instance (if any) when it is launched.</a:t>
            </a:r>
          </a:p>
          <a:p>
            <a:endParaRPr lang="en-US" dirty="0"/>
          </a:p>
          <a:p>
            <a:r>
              <a:rPr lang="en-US" dirty="0"/>
              <a:t>You can choose many AMIs:</a:t>
            </a:r>
          </a:p>
          <a:p>
            <a:pPr marL="171450" indent="-171450">
              <a:buFont typeface="Arial" panose="020B0604020202020204" pitchFamily="34" charset="0"/>
              <a:buChar char="•"/>
            </a:pPr>
            <a:r>
              <a:rPr lang="en-US" b="1" dirty="0"/>
              <a:t>Quick Start </a:t>
            </a:r>
            <a:r>
              <a:rPr lang="en-US" dirty="0"/>
              <a:t>– AWS offers a number of pre-built AMIs for launching your instances. These AMIs include many Linux and Windows options.</a:t>
            </a:r>
          </a:p>
          <a:p>
            <a:pPr marL="171450" lvl="0" indent="-171450">
              <a:buFont typeface="Arial" panose="020B0604020202020204" pitchFamily="34" charset="0"/>
              <a:buChar char="•"/>
            </a:pPr>
            <a:r>
              <a:rPr lang="en-US" b="1" dirty="0"/>
              <a:t>My AMIs </a:t>
            </a:r>
            <a:r>
              <a:rPr lang="en-US" dirty="0"/>
              <a:t>– These AMIs are AMIs that you created. </a:t>
            </a:r>
          </a:p>
          <a:p>
            <a:pPr marL="171450" indent="-171450">
              <a:buFont typeface="Arial" panose="020B0604020202020204" pitchFamily="34" charset="0"/>
              <a:buChar char="•"/>
            </a:pPr>
            <a:r>
              <a:rPr lang="en-US" b="1" dirty="0"/>
              <a:t>AWS Marketplace </a:t>
            </a:r>
            <a:r>
              <a:rPr lang="en-US" dirty="0"/>
              <a:t>– The AWS Marketplace offers a digital catalog that lists thousands of software solutions. These AMIs can offer specific use cases to help you get started quickly.</a:t>
            </a:r>
          </a:p>
          <a:p>
            <a:pPr marL="171450" indent="-171450">
              <a:buFont typeface="Arial" panose="020B0604020202020204" pitchFamily="34" charset="0"/>
              <a:buChar char="•"/>
            </a:pPr>
            <a:r>
              <a:rPr lang="en-US" b="1" dirty="0"/>
              <a:t>Community AMIs </a:t>
            </a:r>
            <a:r>
              <a:rPr lang="en-US" dirty="0"/>
              <a:t>– These AMIs are created by people all around the world. These AMIs are not checked by AWS, so use them at your own risk. Community AMIs can offer many different solutions to various problems, but use them with care. Avoid using them in any production or corporate environment.</a:t>
            </a:r>
          </a:p>
        </p:txBody>
      </p:sp>
      <p:sp>
        <p:nvSpPr>
          <p:cNvPr id="5" name="Slide Image Placeholder 4">
            <a:extLst>
              <a:ext uri="{FF2B5EF4-FFF2-40B4-BE49-F238E27FC236}">
                <a16:creationId xmlns:a16="http://schemas.microsoft.com/office/drawing/2014/main" id="{A79AC387-08CC-20FF-4E42-9893A10E0AA4}"/>
              </a:ext>
            </a:extLst>
          </p:cNvPr>
          <p:cNvSpPr>
            <a:spLocks noGrp="1" noRot="1" noChangeAspect="1"/>
          </p:cNvSpPr>
          <p:nvPr>
            <p:ph type="sldImg"/>
          </p:nvPr>
        </p:nvSpPr>
        <p:spPr/>
      </p:sp>
    </p:spTree>
    <p:extLst>
      <p:ext uri="{BB962C8B-B14F-4D97-AF65-F5344CB8AC3E}">
        <p14:creationId xmlns:p14="http://schemas.microsoft.com/office/powerpoint/2010/main" val="2840228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An AMI is created from an EC2 instance. You can </a:t>
            </a:r>
            <a:r>
              <a:rPr lang="en-US" b="1" dirty="0"/>
              <a:t>import</a:t>
            </a:r>
            <a:r>
              <a:rPr lang="en-US" dirty="0"/>
              <a:t> a virtual machine so that it becomes an EC2 instance, and then save the EC2 instance as an AMI. You can then launch an EC2 instance from that AMI. Alternatively, you can start with an </a:t>
            </a:r>
            <a:r>
              <a:rPr lang="en-US" b="1" dirty="0"/>
              <a:t>existing AMI</a:t>
            </a:r>
            <a:r>
              <a:rPr lang="en-US" dirty="0"/>
              <a:t>—such as of the Quick Start AMIs provided by AWS—and create an EC2 instance from it. </a:t>
            </a:r>
          </a:p>
          <a:p>
            <a:endParaRPr lang="en-US" dirty="0"/>
          </a:p>
          <a:p>
            <a:r>
              <a:rPr lang="en-US" dirty="0"/>
              <a:t>Regardless of which options you chose (step 1), you will have what the diagram refers to as an unmodified instance. From that instance, you might then create a golden instance—that is, a virtual machine that you configured with the specific OS and application settings that you want (step 2)—and then capture that as a new AMI (step 3). When you create an AMI, Amazon EC2 stops the instance, creates a snapshot of its root volume, and finally registers the snapshot as an AMI.</a:t>
            </a:r>
          </a:p>
          <a:p>
            <a:endParaRPr lang="en-US" dirty="0"/>
          </a:p>
          <a:p>
            <a:r>
              <a:rPr lang="en-US" dirty="0"/>
              <a:t>After an AMI is registered, the AMI can be used to launch new instances in the same AWS Region. The new AMI can now be thought of as a new starter AMI. You might want to also copy the AMI to other Regions (step 4), so that EC2 instances can also be launched in those locations. </a:t>
            </a:r>
          </a:p>
          <a:p>
            <a:endParaRPr lang="en-US" dirty="0"/>
          </a:p>
        </p:txBody>
      </p:sp>
      <p:sp>
        <p:nvSpPr>
          <p:cNvPr id="5" name="Slide Image Placeholder 4">
            <a:extLst>
              <a:ext uri="{FF2B5EF4-FFF2-40B4-BE49-F238E27FC236}">
                <a16:creationId xmlns:a16="http://schemas.microsoft.com/office/drawing/2014/main" id="{B00E29AD-B9F5-4544-2B27-D75E1113A74A}"/>
              </a:ext>
            </a:extLst>
          </p:cNvPr>
          <p:cNvSpPr>
            <a:spLocks noGrp="1" noRot="1" noChangeAspect="1"/>
          </p:cNvSpPr>
          <p:nvPr>
            <p:ph type="sldImg"/>
          </p:nvPr>
        </p:nvSpPr>
        <p:spPr/>
      </p:sp>
    </p:spTree>
    <p:extLst>
      <p:ext uri="{BB962C8B-B14F-4D97-AF65-F5344CB8AC3E}">
        <p14:creationId xmlns:p14="http://schemas.microsoft.com/office/powerpoint/2010/main" val="3397169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you choose the AMI for launching the instance, you must choose on an instance type. </a:t>
            </a:r>
          </a:p>
          <a:p>
            <a:endParaRPr lang="en-US" dirty="0"/>
          </a:p>
          <a:p>
            <a:r>
              <a:rPr lang="en-US" dirty="0"/>
              <a:t>Amazon EC2 provides a selection of </a:t>
            </a:r>
            <a:r>
              <a:rPr lang="en-US" b="1" dirty="0"/>
              <a:t>instance types </a:t>
            </a:r>
            <a:r>
              <a:rPr lang="en-US" dirty="0"/>
              <a:t>that optimized to fit different use cases. Instance types comprise varying combinations of CPU, memory, storage, and networking capacity. The different instance types give you the flexibility to choose the appropriate mix of resources for your applications. Each instance type includes one or more instance sizes, which enable you to scale your resources to the requirements of your target workload.</a:t>
            </a:r>
          </a:p>
          <a:p>
            <a:endParaRPr lang="en-US" dirty="0"/>
          </a:p>
          <a:p>
            <a:r>
              <a:rPr lang="en-US" b="1" dirty="0"/>
              <a:t>Instance type categories </a:t>
            </a:r>
            <a:r>
              <a:rPr lang="en-US" dirty="0"/>
              <a:t>include general purpose, compute optimized, memory optimized, storage optimized, and accelerated computing instances. Each instance type category offers many instance types to choose from. </a:t>
            </a:r>
          </a:p>
        </p:txBody>
      </p:sp>
      <p:sp>
        <p:nvSpPr>
          <p:cNvPr id="5" name="Slide Image Placeholder 4">
            <a:extLst>
              <a:ext uri="{FF2B5EF4-FFF2-40B4-BE49-F238E27FC236}">
                <a16:creationId xmlns:a16="http://schemas.microsoft.com/office/drawing/2014/main" id="{D7D9CD9A-8892-1F6E-F19A-F75E1633C539}"/>
              </a:ext>
            </a:extLst>
          </p:cNvPr>
          <p:cNvSpPr>
            <a:spLocks noGrp="1" noRot="1" noChangeAspect="1"/>
          </p:cNvSpPr>
          <p:nvPr>
            <p:ph type="sldImg"/>
          </p:nvPr>
        </p:nvSpPr>
        <p:spPr/>
      </p:sp>
    </p:spTree>
    <p:extLst>
      <p:ext uri="{BB962C8B-B14F-4D97-AF65-F5344CB8AC3E}">
        <p14:creationId xmlns:p14="http://schemas.microsoft.com/office/powerpoint/2010/main" val="31030374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When you look at an EC2 instance type, you will see that its name has several parts. For example, consider the T type. </a:t>
            </a:r>
          </a:p>
          <a:p>
            <a:endParaRPr lang="en-US" dirty="0"/>
          </a:p>
          <a:p>
            <a:r>
              <a:rPr lang="en-US" dirty="0"/>
              <a:t>T is the </a:t>
            </a:r>
            <a:r>
              <a:rPr lang="en-US" b="1" dirty="0"/>
              <a:t>family name</a:t>
            </a:r>
            <a:r>
              <a:rPr lang="en-US" dirty="0"/>
              <a:t>, which is then followed by a number. Here, that number is 3. </a:t>
            </a:r>
          </a:p>
          <a:p>
            <a:endParaRPr lang="en-US" dirty="0"/>
          </a:p>
          <a:p>
            <a:r>
              <a:rPr lang="en-US" dirty="0"/>
              <a:t>The number is the </a:t>
            </a:r>
            <a:r>
              <a:rPr lang="en-US" b="1" dirty="0"/>
              <a:t>generation number </a:t>
            </a:r>
            <a:r>
              <a:rPr lang="en-US" dirty="0"/>
              <a:t>of that type. So, a t3 instance is the third generation of the T family. In general, instance types that are of a higher generation are more powerful and provide a better value for the price.</a:t>
            </a:r>
          </a:p>
          <a:p>
            <a:r>
              <a:rPr lang="en-US" dirty="0"/>
              <a:t> </a:t>
            </a:r>
          </a:p>
          <a:p>
            <a:r>
              <a:rPr lang="en-US" dirty="0"/>
              <a:t>The next part of the name is the size portion of the instance. When you compare sizes, it is important to look at the coefficient portion of the size category.</a:t>
            </a:r>
          </a:p>
          <a:p>
            <a:r>
              <a:rPr lang="en-US" dirty="0"/>
              <a:t> </a:t>
            </a:r>
          </a:p>
          <a:p>
            <a:r>
              <a:rPr lang="en-US" dirty="0"/>
              <a:t>For example, a </a:t>
            </a:r>
            <a:r>
              <a:rPr lang="en-US" b="1" dirty="0"/>
              <a:t>t3.2xlarge </a:t>
            </a:r>
            <a:r>
              <a:rPr lang="en-US" dirty="0"/>
              <a:t>has twice the vCPU and memory of a </a:t>
            </a:r>
            <a:r>
              <a:rPr lang="en-US" b="1" dirty="0"/>
              <a:t>t3.xlarge</a:t>
            </a:r>
            <a:r>
              <a:rPr lang="en-US" dirty="0"/>
              <a:t>. The t3.xlarge has, in turn, twice the vCPU and memory of a t3.large.</a:t>
            </a:r>
          </a:p>
          <a:p>
            <a:r>
              <a:rPr lang="en-US" dirty="0"/>
              <a:t> </a:t>
            </a:r>
          </a:p>
          <a:p>
            <a:r>
              <a:rPr lang="en-US" dirty="0"/>
              <a:t>It is also important to note that </a:t>
            </a:r>
            <a:r>
              <a:rPr lang="en-US" b="1" dirty="0"/>
              <a:t>network bandwidth </a:t>
            </a:r>
            <a:r>
              <a:rPr lang="en-US" dirty="0"/>
              <a:t>is also tied to the size of the Amazon EC2 instance. If you will run jobs that will be very network-intensive, you might be required to increase the instance specifications to meet your needs.</a:t>
            </a:r>
          </a:p>
          <a:p>
            <a:endParaRPr lang="en-US" dirty="0"/>
          </a:p>
          <a:p>
            <a:endParaRPr lang="en-US" dirty="0"/>
          </a:p>
        </p:txBody>
      </p:sp>
      <p:sp>
        <p:nvSpPr>
          <p:cNvPr id="5" name="Slide Image Placeholder 4">
            <a:extLst>
              <a:ext uri="{FF2B5EF4-FFF2-40B4-BE49-F238E27FC236}">
                <a16:creationId xmlns:a16="http://schemas.microsoft.com/office/drawing/2014/main" id="{319A31E4-5F5C-6847-6B11-34136E7DE8B8}"/>
              </a:ext>
            </a:extLst>
          </p:cNvPr>
          <p:cNvSpPr>
            <a:spLocks noGrp="1" noRot="1" noChangeAspect="1"/>
          </p:cNvSpPr>
          <p:nvPr>
            <p:ph type="sldImg"/>
          </p:nvPr>
        </p:nvSpPr>
        <p:spPr/>
      </p:sp>
    </p:spTree>
    <p:extLst>
      <p:ext uri="{BB962C8B-B14F-4D97-AF65-F5344CB8AC3E}">
        <p14:creationId xmlns:p14="http://schemas.microsoft.com/office/powerpoint/2010/main" val="302774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897601"/>
          </a:xfrm>
        </p:spPr>
        <p:txBody>
          <a:bodyPr/>
          <a:lstStyle/>
          <a:p>
            <a:r>
              <a:rPr lang="en-US" b="1" dirty="0"/>
              <a:t>Instance types v</a:t>
            </a:r>
            <a:r>
              <a:rPr lang="en-US" dirty="0"/>
              <a:t>ary in several ways, including: CPU type, CPU or core count, storage type, storage amount, memory amount, and network performance. The chart provides a high-level view of the different instance categories, and which instance type families and generation numbers fit into each category type. Consider a few of the instance types in more detail:</a:t>
            </a:r>
          </a:p>
          <a:p>
            <a:pPr marL="171450" indent="-171450">
              <a:buFont typeface="Arial" panose="020B0604020202020204" pitchFamily="34" charset="0"/>
              <a:buChar char="•"/>
            </a:pPr>
            <a:r>
              <a:rPr lang="en-US" b="1" dirty="0"/>
              <a:t>T3 </a:t>
            </a:r>
            <a:r>
              <a:rPr lang="en-US" dirty="0"/>
              <a:t>instances provide burstable performance </a:t>
            </a:r>
            <a:r>
              <a:rPr lang="en-US" b="1" dirty="0"/>
              <a:t>general purpose </a:t>
            </a:r>
            <a:r>
              <a:rPr lang="en-US" dirty="0"/>
              <a:t>instances that provide a baseline level of CPU performance with the ability to burst above the baseline. Use cases for this type of instance include websites and web applications, development environments, build servers, code repositories, microservices, test and staging environments, and line-of-business applications.</a:t>
            </a:r>
          </a:p>
          <a:p>
            <a:pPr marL="171450" indent="-171450">
              <a:buFont typeface="Arial" panose="020B0604020202020204" pitchFamily="34" charset="0"/>
              <a:buChar char="•"/>
            </a:pPr>
            <a:r>
              <a:rPr lang="en-US" b="1" dirty="0"/>
              <a:t>C5</a:t>
            </a:r>
            <a:r>
              <a:rPr lang="en-US" dirty="0"/>
              <a:t> instances are optimized for </a:t>
            </a:r>
            <a:r>
              <a:rPr lang="en-US" b="1" dirty="0"/>
              <a:t>compute-intensive </a:t>
            </a:r>
            <a:r>
              <a:rPr lang="en-US" dirty="0"/>
              <a:t>workloads, and deliver cost-effective high performance at a low price per compute ratio. Use cases include scientific modeling, batch processing, ad serving, highly scalable multiplayer gaming, and video encoding.</a:t>
            </a:r>
          </a:p>
          <a:p>
            <a:pPr marL="171450" indent="-171450">
              <a:buFont typeface="Arial" panose="020B0604020202020204" pitchFamily="34" charset="0"/>
              <a:buChar char="•"/>
            </a:pPr>
            <a:r>
              <a:rPr lang="en-US" b="1" dirty="0"/>
              <a:t>R5</a:t>
            </a:r>
            <a:r>
              <a:rPr lang="en-US" dirty="0"/>
              <a:t> instances are optimized for memory-intensive applications. Use cases include high-performance databases, data mining and analysis, in-memory databases, distributed web-scale in-memory caches, applications that perform real-time processing of unstructured big data, Apache Hadoop or Apache Spark clusters, and other enterprise applications.</a:t>
            </a:r>
          </a:p>
          <a:p>
            <a:endParaRPr lang="en-US" dirty="0"/>
          </a:p>
          <a:p>
            <a:r>
              <a:rPr lang="en-US" dirty="0"/>
              <a:t>To learn more about each instance type, see the Amazon </a:t>
            </a:r>
            <a:r>
              <a:rPr lang="en-US" dirty="0" err="1"/>
              <a:t>EC2</a:t>
            </a:r>
            <a:r>
              <a:rPr lang="en-US" dirty="0"/>
              <a:t> Instance Types documentation at </a:t>
            </a:r>
            <a:r>
              <a:rPr lang="en-GB" dirty="0">
                <a:hlinkClick r:id="rId3"/>
              </a:rPr>
              <a:t>https://</a:t>
            </a:r>
            <a:r>
              <a:rPr lang="en-GB" dirty="0" err="1">
                <a:hlinkClick r:id="rId3"/>
              </a:rPr>
              <a:t>aws.amazon.com</a:t>
            </a:r>
            <a:r>
              <a:rPr lang="en-GB" dirty="0">
                <a:hlinkClick r:id="rId3"/>
              </a:rPr>
              <a:t>/</a:t>
            </a:r>
            <a:r>
              <a:rPr lang="en-GB" dirty="0" err="1">
                <a:hlinkClick r:id="rId3"/>
              </a:rPr>
              <a:t>ec2</a:t>
            </a:r>
            <a:r>
              <a:rPr lang="en-GB" dirty="0">
                <a:hlinkClick r:id="rId3"/>
              </a:rPr>
              <a:t>/instance-types/</a:t>
            </a:r>
            <a:r>
              <a:rPr lang="en-US" dirty="0"/>
              <a:t>.</a:t>
            </a:r>
          </a:p>
          <a:p>
            <a:endParaRPr lang="en-US" dirty="0"/>
          </a:p>
          <a:p>
            <a:endParaRPr lang="en-US" dirty="0"/>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D33D4C18-2066-ADAE-A416-4084646A5687}"/>
              </a:ext>
            </a:extLst>
          </p:cNvPr>
          <p:cNvSpPr>
            <a:spLocks noGrp="1" noRot="1" noChangeAspect="1"/>
          </p:cNvSpPr>
          <p:nvPr>
            <p:ph type="sldImg"/>
          </p:nvPr>
        </p:nvSpPr>
        <p:spPr/>
      </p:sp>
    </p:spTree>
    <p:extLst>
      <p:ext uri="{BB962C8B-B14F-4D97-AF65-F5344CB8AC3E}">
        <p14:creationId xmlns:p14="http://schemas.microsoft.com/office/powerpoint/2010/main" val="1438623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 addition to considering the CPU, RAM, and storage needs of your workloads, it is also important to consider your network bandwidth requirements.</a:t>
            </a:r>
          </a:p>
          <a:p>
            <a:endParaRPr lang="en-US" dirty="0"/>
          </a:p>
          <a:p>
            <a:r>
              <a:rPr lang="en-US" dirty="0"/>
              <a:t>Each instance type provides a documented network performance level. For example, an a1.medium instance will provide up to 10 Gbps, but a p3dn.24xlarge instance provides up to 100 Gbps. Choose an instance type that meets your requirements.</a:t>
            </a:r>
          </a:p>
          <a:p>
            <a:endParaRPr lang="en-US" dirty="0"/>
          </a:p>
          <a:p>
            <a:pPr marL="0" marR="0">
              <a:spcBef>
                <a:spcPts val="0"/>
              </a:spcBef>
              <a:spcAft>
                <a:spcPts val="0"/>
              </a:spcAft>
            </a:pPr>
            <a:r>
              <a:rPr lang="en-US" dirty="0"/>
              <a:t>When you launch multiple new EC2 instances, Amazon EC2 attempts to place the instances so that they are spread out across the underlying hardware by default. It does this to minimize correlated failures. However, if you want to specify specific placement criteria, you can use </a:t>
            </a:r>
            <a:r>
              <a:rPr lang="en-US" b="1" dirty="0"/>
              <a:t>placement groups </a:t>
            </a:r>
            <a:r>
              <a:rPr lang="en-US" dirty="0"/>
              <a:t>to influence the placement of a group of </a:t>
            </a:r>
            <a:r>
              <a:rPr lang="en-US" b="1" dirty="0"/>
              <a:t>interdependent</a:t>
            </a:r>
            <a:r>
              <a:rPr lang="en-US" dirty="0"/>
              <a:t> instances to meet the needs of your workload. For example, you might specify that three instances should all be deployed in the same Availability Zone to ensure lower network latency and higher network throughput between instances. </a:t>
            </a:r>
            <a:r>
              <a:rPr lang="en-US" dirty="0">
                <a:effectLst/>
                <a:ea typeface="Calibri" panose="020F0502020204030204" pitchFamily="34" charset="0"/>
                <a:cs typeface="Times New Roman" panose="02020603050405020304" pitchFamily="18" charset="0"/>
              </a:rPr>
              <a:t>See the Placement Group documentation at </a:t>
            </a:r>
            <a:r>
              <a:rPr lang="en-GB" u="sng" dirty="0">
                <a:solidFill>
                  <a:srgbClr val="0563C1"/>
                </a:solidFill>
                <a:effectLst/>
                <a:ea typeface="Calibri" panose="020F0502020204030204" pitchFamily="34" charset="0"/>
                <a:cs typeface="Times New Roman" panose="02020603050405020304" pitchFamily="18" charset="0"/>
                <a:hlinkClick r:id="rId3"/>
              </a:rPr>
              <a:t>https://docs.aws.amazon.com/AWSEC2/latest/UserGuide/placement-groups.html</a:t>
            </a:r>
            <a:r>
              <a:rPr lang="en-US" dirty="0">
                <a:effectLst/>
                <a:ea typeface="Calibri" panose="020F0502020204030204" pitchFamily="34" charset="0"/>
                <a:cs typeface="Times New Roman" panose="02020603050405020304" pitchFamily="18" charset="0"/>
              </a:rPr>
              <a:t> for details. </a:t>
            </a:r>
          </a:p>
          <a:p>
            <a:br>
              <a:rPr lang="en-US" dirty="0">
                <a:effectLst/>
                <a:ea typeface="Calibri" panose="020F0502020204030204" pitchFamily="34" charset="0"/>
                <a:cs typeface="Times New Roman" panose="02020603050405020304" pitchFamily="18" charset="0"/>
              </a:rPr>
            </a:br>
            <a:r>
              <a:rPr lang="en-US" dirty="0">
                <a:effectLst/>
                <a:ea typeface="Calibri" panose="020F0502020204030204" pitchFamily="34" charset="0"/>
                <a:cs typeface="Times New Roman" panose="02020603050405020304" pitchFamily="18" charset="0"/>
              </a:rPr>
              <a:t>Many instance types also enable you to configure enhanced networking to get significantly higher packet per second (PPS) performance, lower delay variation in the arrival of packets over the network (network jitter), and lower latencies. See the Elastic Network Adapter (ENA) documentation at </a:t>
            </a:r>
            <a:r>
              <a:rPr lang="en-GB" u="sng" dirty="0">
                <a:solidFill>
                  <a:srgbClr val="0563C1"/>
                </a:solidFill>
                <a:effectLst/>
                <a:ea typeface="Calibri" panose="020F0502020204030204" pitchFamily="34" charset="0"/>
                <a:cs typeface="Times New Roman" panose="02020603050405020304" pitchFamily="18" charset="0"/>
                <a:hlinkClick r:id="rId4"/>
              </a:rPr>
              <a:t>https://docs.aws.amazon.com/AWSEC2/latest/UserGuide/enhanced-networking-ena.html</a:t>
            </a:r>
            <a:r>
              <a:rPr lang="en-US" dirty="0">
                <a:effectLst/>
                <a:ea typeface="Calibri" panose="020F0502020204030204" pitchFamily="34" charset="0"/>
                <a:cs typeface="Times New Roman" panose="02020603050405020304" pitchFamily="18" charset="0"/>
              </a:rPr>
              <a:t>for details.</a:t>
            </a:r>
            <a:endParaRPr lang="en-US" dirty="0"/>
          </a:p>
        </p:txBody>
      </p:sp>
      <p:sp>
        <p:nvSpPr>
          <p:cNvPr id="5" name="Slide Image Placeholder 4">
            <a:extLst>
              <a:ext uri="{FF2B5EF4-FFF2-40B4-BE49-F238E27FC236}">
                <a16:creationId xmlns:a16="http://schemas.microsoft.com/office/drawing/2014/main" id="{90596D33-5A21-2861-8AFC-515EDF025439}"/>
              </a:ext>
            </a:extLst>
          </p:cNvPr>
          <p:cNvSpPr>
            <a:spLocks noGrp="1" noRot="1" noChangeAspect="1"/>
          </p:cNvSpPr>
          <p:nvPr>
            <p:ph type="sldImg"/>
          </p:nvPr>
        </p:nvSpPr>
        <p:spPr/>
      </p:sp>
    </p:spTree>
    <p:extLst>
      <p:ext uri="{BB962C8B-B14F-4D97-AF65-F5344CB8AC3E}">
        <p14:creationId xmlns:p14="http://schemas.microsoft.com/office/powerpoint/2010/main" val="4114357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you have choose an AMI and an instance type, you must specify the network location where the EC2 instance will be deployed. The choice of </a:t>
            </a:r>
            <a:r>
              <a:rPr lang="en-US" b="1" dirty="0"/>
              <a:t>Region</a:t>
            </a:r>
            <a:r>
              <a:rPr lang="en-US" dirty="0"/>
              <a:t> must be made before you start the Launch Instance Wizard. Verify that you are in the correct Region page of the Amazon EC2 console before you choose </a:t>
            </a:r>
            <a:r>
              <a:rPr lang="en-US" b="1" dirty="0"/>
              <a:t>Launch Instance.</a:t>
            </a:r>
          </a:p>
          <a:p>
            <a:endParaRPr lang="en-US" dirty="0"/>
          </a:p>
          <a:p>
            <a:r>
              <a:rPr lang="en-US" dirty="0"/>
              <a:t>When you launch an instance in a </a:t>
            </a:r>
            <a:r>
              <a:rPr lang="en-US" b="1" dirty="0"/>
              <a:t>default VPC</a:t>
            </a:r>
            <a:r>
              <a:rPr lang="en-US" dirty="0"/>
              <a:t>, AWS will assign it a </a:t>
            </a:r>
            <a:r>
              <a:rPr lang="en-US" b="1" dirty="0"/>
              <a:t>public IP address </a:t>
            </a:r>
            <a:r>
              <a:rPr lang="en-US" dirty="0"/>
              <a:t>by default. When you launch an instance into a </a:t>
            </a:r>
            <a:r>
              <a:rPr lang="en-US" b="1" dirty="0"/>
              <a:t>nondefault VPC</a:t>
            </a:r>
            <a:r>
              <a:rPr lang="en-US" dirty="0"/>
              <a:t>, the subnet has an attribute that determines whether instances launched into that subnet receive a public IP address from the public IPv4 address pool. By default, AWS will not assign a public IP address to instances that are launched in a nondefault subnet. You can control whether your instance receives a public IP address by either modifying the public IP addressing attribute of your subnet, or by enabling or disabling the public IP addressing feature during launch (which overrides the subnet's public IP addressing attribute). </a:t>
            </a:r>
          </a:p>
          <a:p>
            <a:endParaRPr lang="en-US" dirty="0"/>
          </a:p>
        </p:txBody>
      </p:sp>
      <p:sp>
        <p:nvSpPr>
          <p:cNvPr id="5" name="Slide Image Placeholder 4">
            <a:extLst>
              <a:ext uri="{FF2B5EF4-FFF2-40B4-BE49-F238E27FC236}">
                <a16:creationId xmlns:a16="http://schemas.microsoft.com/office/drawing/2014/main" id="{C47FA80F-0A44-B944-21F6-6BEFD43F3B69}"/>
              </a:ext>
            </a:extLst>
          </p:cNvPr>
          <p:cNvSpPr>
            <a:spLocks noGrp="1" noRot="1" noChangeAspect="1"/>
          </p:cNvSpPr>
          <p:nvPr>
            <p:ph type="sldImg"/>
          </p:nvPr>
        </p:nvSpPr>
        <p:spPr/>
      </p:sp>
    </p:spTree>
    <p:extLst>
      <p:ext uri="{BB962C8B-B14F-4D97-AF65-F5344CB8AC3E}">
        <p14:creationId xmlns:p14="http://schemas.microsoft.com/office/powerpoint/2010/main" val="3108008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It is common to use EC2 instances to run an application that must make secure API calls to other AWS services. To support these use cases, AWS enables you to </a:t>
            </a:r>
            <a:r>
              <a:rPr lang="en-US" b="1" dirty="0"/>
              <a:t>attach an AWS Identity and Access Management (IAM) role to an EC2 instance. </a:t>
            </a:r>
            <a:r>
              <a:rPr lang="en-US" dirty="0"/>
              <a:t>Without this feature, you might be tempted to place AWS credentials on an EC2 instance so an application that runs on that instance to use. However, you should never store AWS credentials on an EC2 instance. It is highly insecure. Instead, attach an IAM role to the EC2 instance. The IAM role then grants permission to make application programming interface (API) requests to the applications that run on the EC2 instance.</a:t>
            </a:r>
          </a:p>
          <a:p>
            <a:endParaRPr lang="en-US" dirty="0"/>
          </a:p>
          <a:p>
            <a:r>
              <a:rPr lang="en-US" dirty="0"/>
              <a:t>An </a:t>
            </a:r>
            <a:r>
              <a:rPr lang="en-US" b="1" dirty="0"/>
              <a:t>instance profile</a:t>
            </a:r>
            <a:r>
              <a:rPr lang="en-US" dirty="0"/>
              <a:t> is a container for an IAM role. If you use the AWS Management Console to create a role for Amazon EC2, the console automatically creates an instance profile and gives it the same name as the role. When you then use the Amazon EC2 console to launch an instance with an IAM role, you can select a role to associate with the instance. In the console, the list that displays is actually a list of instance profile names. </a:t>
            </a:r>
          </a:p>
          <a:p>
            <a:endParaRPr lang="en-US" dirty="0"/>
          </a:p>
          <a:p>
            <a:r>
              <a:rPr lang="en-US" b="1" dirty="0"/>
              <a:t>In the example, </a:t>
            </a:r>
            <a:r>
              <a:rPr lang="en-US" dirty="0"/>
              <a:t>you see that an IAM role is used to grant permissions to an application that runs on an EC2 instance. The application must access a bucket in Amazon S3.</a:t>
            </a:r>
          </a:p>
          <a:p>
            <a:endParaRPr lang="en-US" dirty="0"/>
          </a:p>
          <a:p>
            <a:r>
              <a:rPr lang="en-US" dirty="0"/>
              <a:t>You can attach an IAM role when you launch the instance, but you can also attach a role to an already running EC2 instance. When you define a role that can be used by an EC2 instance, you define which accounts or AWS services can assume the role. You also define which API actions and resources the application can use after it assumes the role. If you change a role, the change is propagated to all instances that have the role attached to them.</a:t>
            </a:r>
          </a:p>
          <a:p>
            <a:endParaRPr lang="en-US" dirty="0"/>
          </a:p>
          <a:p>
            <a:endParaRPr lang="en-US" dirty="0"/>
          </a:p>
        </p:txBody>
      </p:sp>
      <p:sp>
        <p:nvSpPr>
          <p:cNvPr id="5" name="Slide Image Placeholder 4">
            <a:extLst>
              <a:ext uri="{FF2B5EF4-FFF2-40B4-BE49-F238E27FC236}">
                <a16:creationId xmlns:a16="http://schemas.microsoft.com/office/drawing/2014/main" id="{B86B1E3F-8E2F-7B18-FA0F-16EBE3EF26E6}"/>
              </a:ext>
            </a:extLst>
          </p:cNvPr>
          <p:cNvSpPr>
            <a:spLocks noGrp="1" noRot="1" noChangeAspect="1"/>
          </p:cNvSpPr>
          <p:nvPr>
            <p:ph type="sldImg"/>
          </p:nvPr>
        </p:nvSpPr>
        <p:spPr/>
      </p:sp>
    </p:spTree>
    <p:extLst>
      <p:ext uri="{BB962C8B-B14F-4D97-AF65-F5344CB8AC3E}">
        <p14:creationId xmlns:p14="http://schemas.microsoft.com/office/powerpoint/2010/main" val="39491571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963588"/>
          </a:xfrm>
        </p:spPr>
        <p:txBody>
          <a:bodyPr/>
          <a:lstStyle/>
          <a:p>
            <a:r>
              <a:rPr lang="en-US" dirty="0"/>
              <a:t>When you create your EC2 instances, you have the option of passing </a:t>
            </a:r>
            <a:r>
              <a:rPr lang="en-US" b="1" dirty="0"/>
              <a:t>user data </a:t>
            </a:r>
            <a:r>
              <a:rPr lang="en-US" dirty="0"/>
              <a:t>to the instance. User data can automate the completion of installations and configurations at instance launch. For example, a user data script might patch and update the instance's operating system, fetch and install software license keys, or install additional software. </a:t>
            </a:r>
          </a:p>
          <a:p>
            <a:endParaRPr lang="en-US" dirty="0"/>
          </a:p>
          <a:p>
            <a:r>
              <a:rPr lang="en-US" dirty="0"/>
              <a:t>In the example user data script, you see a simple three-line </a:t>
            </a:r>
            <a:r>
              <a:rPr lang="en-US" b="1" dirty="0"/>
              <a:t>Linux</a:t>
            </a:r>
            <a:r>
              <a:rPr lang="en-US" dirty="0"/>
              <a:t> Bash shell script. The first line indicates that the script should be run by the Bash shell. The second line invokes the Yellowdog Updater, Modified (YUM) utility, which is commonly used in many Linux distributions—such as Amazon Linux, CentOS, and Red Hat Linux—to retrieve software from an online repository and install it. In line two of the example, that command tells YUM to update all installed packages to the latest versions that are known to the software repository that it is configured to access. Line three of the script indicates that the Wget utility should be installed. Wget is a common utility for downloading files from the web.</a:t>
            </a:r>
          </a:p>
          <a:p>
            <a:endParaRPr lang="en-US" dirty="0"/>
          </a:p>
          <a:p>
            <a:pPr marL="0" marR="0">
              <a:spcBef>
                <a:spcPts val="0"/>
              </a:spcBef>
              <a:spcAft>
                <a:spcPts val="0"/>
              </a:spcAft>
            </a:pPr>
            <a:r>
              <a:rPr lang="en-US" dirty="0">
                <a:effectLst/>
                <a:ea typeface="Calibri" panose="020F0502020204030204" pitchFamily="34" charset="0"/>
                <a:cs typeface="Times New Roman" panose="02020603050405020304" pitchFamily="18" charset="0"/>
              </a:rPr>
              <a:t>For a </a:t>
            </a:r>
            <a:r>
              <a:rPr lang="en-US" b="1" dirty="0">
                <a:effectLst/>
                <a:ea typeface="Calibri" panose="020F0502020204030204" pitchFamily="34" charset="0"/>
                <a:cs typeface="Times New Roman" panose="02020603050405020304" pitchFamily="18" charset="0"/>
              </a:rPr>
              <a:t>Windows</a:t>
            </a:r>
            <a:r>
              <a:rPr lang="en-US" dirty="0">
                <a:effectLst/>
                <a:ea typeface="Calibri" panose="020F0502020204030204" pitchFamily="34" charset="0"/>
                <a:cs typeface="Times New Roman" panose="02020603050405020304" pitchFamily="18" charset="0"/>
              </a:rPr>
              <a:t> instance, the user data script should be written in a format that is compatible with a Command Prompt window (batch commands) or with Windows PowerShell. See the Windows User Data Scripts documentation for details at </a:t>
            </a:r>
            <a:r>
              <a:rPr lang="en-US" u="sng" dirty="0">
                <a:solidFill>
                  <a:srgbClr val="0563C1"/>
                </a:solidFill>
                <a:effectLst/>
                <a:ea typeface="Calibri" panose="020F0502020204030204" pitchFamily="34" charset="0"/>
                <a:cs typeface="Times New Roman" panose="02020603050405020304" pitchFamily="18" charset="0"/>
                <a:hlinkClick r:id="rId3"/>
              </a:rPr>
              <a:t>https://docs.aws.amazon.com/AWSEC2/latest/WindowsGuide/ec2-windows-user-data.html</a:t>
            </a:r>
            <a:r>
              <a:rPr lang="en-US" dirty="0">
                <a:effectLst/>
                <a:ea typeface="Calibri" panose="020F0502020204030204" pitchFamily="34" charset="0"/>
                <a:cs typeface="Times New Roman" panose="02020603050405020304" pitchFamily="18" charset="0"/>
              </a:rPr>
              <a:t>.</a:t>
            </a:r>
          </a:p>
          <a:p>
            <a:pPr marL="0" marR="0">
              <a:spcBef>
                <a:spcPts val="0"/>
              </a:spcBef>
              <a:spcAft>
                <a:spcPts val="0"/>
              </a:spcAft>
            </a:pPr>
            <a:r>
              <a:rPr lang="en-US" dirty="0">
                <a:effectLst/>
                <a:ea typeface="Calibri" panose="020F0502020204030204" pitchFamily="34" charset="0"/>
                <a:cs typeface="Times New Roman" panose="02020603050405020304" pitchFamily="18" charset="0"/>
              </a:rPr>
              <a:t> </a:t>
            </a:r>
          </a:p>
          <a:p>
            <a:r>
              <a:rPr lang="en-US" dirty="0">
                <a:effectLst/>
                <a:ea typeface="Calibri" panose="020F0502020204030204" pitchFamily="34" charset="0"/>
                <a:cs typeface="Times New Roman" panose="02020603050405020304" pitchFamily="18" charset="0"/>
              </a:rPr>
              <a:t>When the </a:t>
            </a:r>
            <a:r>
              <a:rPr lang="en-US" dirty="0" err="1">
                <a:effectLst/>
                <a:ea typeface="Calibri" panose="020F0502020204030204" pitchFamily="34" charset="0"/>
                <a:cs typeface="Times New Roman" panose="02020603050405020304" pitchFamily="18" charset="0"/>
              </a:rPr>
              <a:t>EC2</a:t>
            </a:r>
            <a:r>
              <a:rPr lang="en-US" dirty="0">
                <a:effectLst/>
                <a:ea typeface="Calibri" panose="020F0502020204030204" pitchFamily="34" charset="0"/>
                <a:cs typeface="Times New Roman" panose="02020603050405020304" pitchFamily="18" charset="0"/>
              </a:rPr>
              <a:t> instance is created, </a:t>
            </a:r>
            <a:r>
              <a:rPr lang="en-US" b="1" dirty="0">
                <a:effectLst/>
                <a:ea typeface="Calibri" panose="020F0502020204030204" pitchFamily="34" charset="0"/>
                <a:cs typeface="Times New Roman" panose="02020603050405020304" pitchFamily="18" charset="0"/>
              </a:rPr>
              <a:t>the user data script will run with root privileges </a:t>
            </a:r>
            <a:r>
              <a:rPr lang="en-US" dirty="0">
                <a:effectLst/>
                <a:ea typeface="Calibri" panose="020F0502020204030204" pitchFamily="34" charset="0"/>
                <a:cs typeface="Times New Roman" panose="02020603050405020304" pitchFamily="18" charset="0"/>
              </a:rPr>
              <a:t>during the final phases of the boot process. On Linux instances, it is run by the cloud-</a:t>
            </a:r>
            <a:r>
              <a:rPr lang="en-US" dirty="0" err="1">
                <a:effectLst/>
                <a:ea typeface="Calibri" panose="020F0502020204030204" pitchFamily="34" charset="0"/>
                <a:cs typeface="Times New Roman" panose="02020603050405020304" pitchFamily="18" charset="0"/>
              </a:rPr>
              <a:t>init</a:t>
            </a:r>
            <a:r>
              <a:rPr lang="en-US" dirty="0">
                <a:effectLst/>
                <a:ea typeface="Calibri" panose="020F0502020204030204" pitchFamily="34" charset="0"/>
                <a:cs typeface="Times New Roman" panose="02020603050405020304" pitchFamily="18" charset="0"/>
              </a:rPr>
              <a:t> service. On Windows instances, it is run by the </a:t>
            </a:r>
            <a:r>
              <a:rPr lang="en-US" dirty="0" err="1">
                <a:effectLst/>
                <a:ea typeface="Calibri" panose="020F0502020204030204" pitchFamily="34" charset="0"/>
                <a:cs typeface="Times New Roman" panose="02020603050405020304" pitchFamily="18" charset="0"/>
              </a:rPr>
              <a:t>EC2Config</a:t>
            </a:r>
            <a:r>
              <a:rPr lang="en-US" dirty="0">
                <a:effectLst/>
                <a:ea typeface="Calibri" panose="020F0502020204030204" pitchFamily="34" charset="0"/>
                <a:cs typeface="Times New Roman" panose="02020603050405020304" pitchFamily="18" charset="0"/>
              </a:rPr>
              <a:t> or </a:t>
            </a:r>
            <a:r>
              <a:rPr lang="en-US" dirty="0" err="1">
                <a:effectLst/>
                <a:ea typeface="Calibri" panose="020F0502020204030204" pitchFamily="34" charset="0"/>
                <a:cs typeface="Times New Roman" panose="02020603050405020304" pitchFamily="18" charset="0"/>
              </a:rPr>
              <a:t>EC2Launch</a:t>
            </a:r>
            <a:r>
              <a:rPr lang="en-US" dirty="0">
                <a:effectLst/>
                <a:ea typeface="Calibri" panose="020F0502020204030204" pitchFamily="34" charset="0"/>
                <a:cs typeface="Times New Roman" panose="02020603050405020304" pitchFamily="18" charset="0"/>
              </a:rPr>
              <a:t> utility. </a:t>
            </a:r>
            <a:r>
              <a:rPr lang="en-US" b="1" dirty="0">
                <a:effectLst/>
                <a:ea typeface="Calibri" panose="020F0502020204030204" pitchFamily="34" charset="0"/>
                <a:cs typeface="Times New Roman" panose="02020603050405020304" pitchFamily="18" charset="0"/>
              </a:rPr>
              <a:t>By default, user data only runs the first time that the instance starts up. </a:t>
            </a:r>
            <a:r>
              <a:rPr lang="en-US" dirty="0">
                <a:effectLst/>
                <a:ea typeface="Calibri" panose="020F0502020204030204" pitchFamily="34" charset="0"/>
                <a:cs typeface="Times New Roman" panose="02020603050405020304" pitchFamily="18" charset="0"/>
              </a:rPr>
              <a:t>However, if you would like your user data script to run every time the instance is booted, you can create a Multipurpose Internet Mail Extensions (MIME) multipart file user data script (this process is not commonly done). See </a:t>
            </a:r>
            <a:r>
              <a:rPr lang="en-GB" u="sng" dirty="0">
                <a:solidFill>
                  <a:srgbClr val="0563C1"/>
                </a:solidFill>
                <a:effectLst/>
                <a:ea typeface="Calibri" panose="020F0502020204030204" pitchFamily="34" charset="0"/>
                <a:cs typeface="Times New Roman" panose="02020603050405020304" pitchFamily="18" charset="0"/>
                <a:hlinkClick r:id="rId4"/>
              </a:rPr>
              <a:t>https://aws.amazon.com/premiumsupport/knowledge-center/execute-user-data-ec2/</a:t>
            </a:r>
            <a:r>
              <a:rPr lang="en-GB" dirty="0">
                <a:effectLst/>
                <a:ea typeface="Calibri" panose="020F0502020204030204" pitchFamily="34" charset="0"/>
                <a:cs typeface="Times New Roman" panose="02020603050405020304" pitchFamily="18" charset="0"/>
              </a:rPr>
              <a:t> for more information.</a:t>
            </a:r>
            <a:endParaRPr lang="en-US" dirty="0"/>
          </a:p>
        </p:txBody>
      </p:sp>
      <p:sp>
        <p:nvSpPr>
          <p:cNvPr id="5" name="Slide Image Placeholder 4">
            <a:extLst>
              <a:ext uri="{FF2B5EF4-FFF2-40B4-BE49-F238E27FC236}">
                <a16:creationId xmlns:a16="http://schemas.microsoft.com/office/drawing/2014/main" id="{FD0D5712-3E17-6747-46C8-5E5970B6DDD9}"/>
              </a:ext>
            </a:extLst>
          </p:cNvPr>
          <p:cNvSpPr>
            <a:spLocks noGrp="1" noRot="1" noChangeAspect="1"/>
          </p:cNvSpPr>
          <p:nvPr>
            <p:ph type="sldImg"/>
          </p:nvPr>
        </p:nvSpPr>
        <p:spPr/>
      </p:sp>
    </p:spTree>
    <p:extLst>
      <p:ext uri="{BB962C8B-B14F-4D97-AF65-F5344CB8AC3E}">
        <p14:creationId xmlns:p14="http://schemas.microsoft.com/office/powerpoint/2010/main" val="2590995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When you launch an EC2 instance, you can configure storage options. For example, you can configure the size of the root volume where the guest operating system is installed. You can also attach additional storage volumes when you launch the instance. Some AMIs are also configured to launch more than one storage volume by default to provide storage that is separate from the root volume. </a:t>
            </a:r>
          </a:p>
          <a:p>
            <a:endParaRPr lang="en-US" dirty="0"/>
          </a:p>
          <a:p>
            <a:r>
              <a:rPr lang="en-US" dirty="0"/>
              <a:t>For each volume that your instance will have, you can specify the size of the disks, the volume types, and whether the storage will be retained if the instance is terminated. You can also specify if encryption should be used.</a:t>
            </a:r>
          </a:p>
        </p:txBody>
      </p:sp>
      <p:sp>
        <p:nvSpPr>
          <p:cNvPr id="5" name="Slide Image Placeholder 4">
            <a:extLst>
              <a:ext uri="{FF2B5EF4-FFF2-40B4-BE49-F238E27FC236}">
                <a16:creationId xmlns:a16="http://schemas.microsoft.com/office/drawing/2014/main" id="{7390DD9E-B1DF-D621-C1C8-98042E25F140}"/>
              </a:ext>
            </a:extLst>
          </p:cNvPr>
          <p:cNvSpPr>
            <a:spLocks noGrp="1" noRot="1" noChangeAspect="1"/>
          </p:cNvSpPr>
          <p:nvPr>
            <p:ph type="sldImg"/>
          </p:nvPr>
        </p:nvSpPr>
        <p:spPr/>
      </p:sp>
    </p:spTree>
    <p:extLst>
      <p:ext uri="{BB962C8B-B14F-4D97-AF65-F5344CB8AC3E}">
        <p14:creationId xmlns:p14="http://schemas.microsoft.com/office/powerpoint/2010/main" val="2802811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916454"/>
          </a:xfrm>
        </p:spPr>
        <p:txBody>
          <a:bodyPr/>
          <a:lstStyle/>
          <a:p>
            <a:r>
              <a:rPr lang="en-US" b="1" dirty="0"/>
              <a:t>Amazon Elastic Block Store (Amazon EBS)</a:t>
            </a:r>
            <a:r>
              <a:rPr lang="en-US" dirty="0"/>
              <a:t> is an easy-to-use, high-performance </a:t>
            </a:r>
            <a:r>
              <a:rPr lang="en-US" b="1" dirty="0"/>
              <a:t>durable block storage</a:t>
            </a:r>
            <a:r>
              <a:rPr lang="en-US" dirty="0"/>
              <a:t> service that is designed to be used with Amazon EC2 for both throughput- and transaction-intensive workloads. With Amazon EBS, you can choose from four different volume types to balance the optimal price and performance. You can change volume types or increase volume size without disrupting your critical applications, so you can have cost-effective storage when you need it.</a:t>
            </a:r>
          </a:p>
          <a:p>
            <a:endParaRPr lang="en-US" dirty="0"/>
          </a:p>
          <a:p>
            <a:r>
              <a:rPr lang="en-US" b="1" dirty="0"/>
              <a:t>Amazon EC2 Instance Store </a:t>
            </a:r>
            <a:r>
              <a:rPr lang="en-US" dirty="0"/>
              <a:t>provides ephemeral, or temporary, block-level storage for your instance. This storage is located on disks that are physically attached to the host computer. Instance Store works well when you must temporarily store information that changes frequently, such as buffers, caches, scratch data, and other temporary content. You can also use Instance Store for data that is replicated across a fleet of instances, such as a load balanced pool of web servers. If the instances are stopped—either because of user error or a malfunction—the data on the instance store will be deleted.</a:t>
            </a:r>
          </a:p>
          <a:p>
            <a:endParaRPr lang="en-US" dirty="0"/>
          </a:p>
          <a:p>
            <a:r>
              <a:rPr lang="en-US" b="1" dirty="0"/>
              <a:t>Amazon Elastic File System (Amazon EFS) </a:t>
            </a:r>
            <a:r>
              <a:rPr lang="en-US" dirty="0"/>
              <a:t>provides a simple, scalable, fully managed elastic Network File System (NFS) file system for use with AWS Cloud services and on-premises resources. It is built to scale on-demand to petabytes without disrupting applications. It grows and shrinks automatically as you add and remove files, which reduces the need to provision and manage capacity to accommodate growth.</a:t>
            </a:r>
          </a:p>
          <a:p>
            <a:endParaRPr lang="en-US" dirty="0"/>
          </a:p>
          <a:p>
            <a:r>
              <a:rPr lang="en-US" b="1" dirty="0"/>
              <a:t>Amazon Simple Storage Service (Amazon S3) </a:t>
            </a:r>
            <a:r>
              <a:rPr lang="en-US" dirty="0"/>
              <a:t>is an object storage service that offers scalability, data availability, security, and performance. You can store and protect any amount of data for a variety of use cases, such as websites, mobile apps, backup and restore, archive, enterprise applications, Internet of Things (IoT) devices, and big data analytics.</a:t>
            </a:r>
          </a:p>
        </p:txBody>
      </p:sp>
      <p:sp>
        <p:nvSpPr>
          <p:cNvPr id="5" name="Slide Image Placeholder 4">
            <a:extLst>
              <a:ext uri="{FF2B5EF4-FFF2-40B4-BE49-F238E27FC236}">
                <a16:creationId xmlns:a16="http://schemas.microsoft.com/office/drawing/2014/main" id="{AB39558A-06B5-CAEB-D86A-B97B14512FE3}"/>
              </a:ext>
            </a:extLst>
          </p:cNvPr>
          <p:cNvSpPr>
            <a:spLocks noGrp="1" noRot="1" noChangeAspect="1"/>
          </p:cNvSpPr>
          <p:nvPr>
            <p:ph type="sldImg"/>
          </p:nvPr>
        </p:nvSpPr>
        <p:spPr/>
      </p:sp>
    </p:spTree>
    <p:extLst>
      <p:ext uri="{BB962C8B-B14F-4D97-AF65-F5344CB8AC3E}">
        <p14:creationId xmlns:p14="http://schemas.microsoft.com/office/powerpoint/2010/main" val="20075776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407407"/>
          </a:xfrm>
        </p:spPr>
        <p:txBody>
          <a:bodyPr/>
          <a:lstStyle/>
          <a:p>
            <a:r>
              <a:rPr lang="en-US" dirty="0"/>
              <a:t>Here, you see two examples of how storage options could be configured for EC2 instances.</a:t>
            </a:r>
          </a:p>
          <a:p>
            <a:endParaRPr lang="en-US" dirty="0"/>
          </a:p>
          <a:p>
            <a:r>
              <a:rPr lang="en-US" dirty="0"/>
              <a:t>The </a:t>
            </a:r>
            <a:r>
              <a:rPr lang="en-US" b="1" dirty="0"/>
              <a:t>Instance 1</a:t>
            </a:r>
            <a:r>
              <a:rPr lang="en-US" dirty="0"/>
              <a:t> example shows that the root volume—which contains the OS and possibly other data—is stored on Amazon EBS. This instance also has two attached volumes. One volume is a 500-GB Amazon EBS storage volume, and the other volume is an Instance Store volume. </a:t>
            </a:r>
            <a:r>
              <a:rPr lang="en-US" b="1" dirty="0"/>
              <a:t>If this instance was stopped and then started again,</a:t>
            </a:r>
            <a:r>
              <a:rPr lang="en-US" dirty="0"/>
              <a:t> the OS would survive and any data that was stored on either the 20-GB Amazon EBS volume or the 500-GB Amazon EBS volume would remain intact. However, any data that was stored on Ephemeral volume 1 would be permanently lost. Instance Store works well for temporarily storing information that changes frequently, such as buffers, caches, scratch data, and other temporary content.</a:t>
            </a:r>
          </a:p>
          <a:p>
            <a:endParaRPr lang="en-US" dirty="0"/>
          </a:p>
          <a:p>
            <a:r>
              <a:rPr lang="en-US" dirty="0"/>
              <a:t>The </a:t>
            </a:r>
            <a:r>
              <a:rPr lang="en-US" b="1" dirty="0"/>
              <a:t>Instance 2</a:t>
            </a:r>
            <a:r>
              <a:rPr lang="en-US" dirty="0"/>
              <a:t> example shows that the root volume is on an instance store (Ephemeral volume 2). </a:t>
            </a:r>
            <a:r>
              <a:rPr lang="en-US" b="1" dirty="0"/>
              <a:t>An instance with an Instance Store root volume cannot be stopped by an Amazon EC2 API call. It can only be terminated.</a:t>
            </a:r>
            <a:r>
              <a:rPr lang="en-US" dirty="0"/>
              <a:t> However, it could be stopped from within the instance's OS (for example, by issuing a shutdown command)—or it could stop because of OS or disk failure—which would cause the instance to be terminated. If the instance was terminated, all the data that was stored on Ephemeral volume 2 would be lost, including the OS. You would not be able to start the instance again. Therefore, do not rely on Instance Store for valuable, long-term data. Instead, use more durable data storage, such as Amazon EBS, Amazon EFS, or Amazon S3. </a:t>
            </a:r>
          </a:p>
          <a:p>
            <a:endParaRPr lang="en-US" dirty="0"/>
          </a:p>
          <a:p>
            <a:r>
              <a:rPr lang="en-US" dirty="0"/>
              <a:t>If an instance reboots (intentionally or unintentionally), data on the instance store root volume does persist. </a:t>
            </a:r>
          </a:p>
        </p:txBody>
      </p:sp>
      <p:sp>
        <p:nvSpPr>
          <p:cNvPr id="5" name="Slide Image Placeholder 4">
            <a:extLst>
              <a:ext uri="{FF2B5EF4-FFF2-40B4-BE49-F238E27FC236}">
                <a16:creationId xmlns:a16="http://schemas.microsoft.com/office/drawing/2014/main" id="{07F4AA72-6E1E-2DA4-ED7E-95551E272208}"/>
              </a:ext>
            </a:extLst>
          </p:cNvPr>
          <p:cNvSpPr>
            <a:spLocks noGrp="1" noRot="1" noChangeAspect="1"/>
          </p:cNvSpPr>
          <p:nvPr>
            <p:ph type="sldImg"/>
          </p:nvPr>
        </p:nvSpPr>
        <p:spPr/>
      </p:sp>
    </p:spTree>
    <p:extLst>
      <p:ext uri="{BB962C8B-B14F-4D97-AF65-F5344CB8AC3E}">
        <p14:creationId xmlns:p14="http://schemas.microsoft.com/office/powerpoint/2010/main" val="2217324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 tag is a label that you assign to an AWS resource. Each tag consists of a key and an optional value, both of which you define. Tags enable you to categorize AWS resources, such as EC2 instances, in different ways. For example, you might tag instances by purpose, owner, or environment. </a:t>
            </a:r>
          </a:p>
          <a:p>
            <a:endParaRPr lang="en-US" dirty="0">
              <a:hlinkClick r:id="rId3"/>
            </a:endParaRPr>
          </a:p>
          <a:p>
            <a:pPr lvl="0"/>
            <a:r>
              <a:rPr lang="en-US" dirty="0"/>
              <a:t>Tagging is how you can attach metadata to an EC2 instance. </a:t>
            </a:r>
          </a:p>
          <a:p>
            <a:endParaRPr lang="en-US" dirty="0">
              <a:hlinkClick r:id="rId3"/>
            </a:endParaRPr>
          </a:p>
          <a:p>
            <a:pPr lvl="0"/>
            <a:r>
              <a:rPr lang="en-US" dirty="0"/>
              <a:t>Tag keys and tag values are case-sensitive. For example, a commonly used tag for EC2 instances is a tag key that is called Name and a tag value that describes the instance, such as My Web Server. The Name tag is exposed by default in the Amazon EC2 console </a:t>
            </a:r>
            <a:r>
              <a:rPr lang="en-US" b="1" dirty="0"/>
              <a:t>Instances</a:t>
            </a:r>
            <a:r>
              <a:rPr lang="en-US" dirty="0"/>
              <a:t> page. However, if you create a key that is called name (with lower-case n), it will not appear in the </a:t>
            </a:r>
            <a:r>
              <a:rPr lang="en-US" b="1" dirty="0"/>
              <a:t>Name</a:t>
            </a:r>
            <a:r>
              <a:rPr lang="en-US" dirty="0"/>
              <a:t> column for the list of instances (though it will still appear in the instance details panel in the </a:t>
            </a:r>
            <a:r>
              <a:rPr lang="en-US" b="1" dirty="0"/>
              <a:t>Tags</a:t>
            </a:r>
            <a:r>
              <a:rPr lang="en-US" dirty="0"/>
              <a:t> tab).</a:t>
            </a:r>
            <a:endParaRPr lang="en-US" dirty="0">
              <a:hlinkClick r:id="rId3"/>
            </a:endParaRPr>
          </a:p>
          <a:p>
            <a:endParaRPr lang="en-US" dirty="0">
              <a:hlinkClick r:id="rId3"/>
            </a:endParaRPr>
          </a:p>
          <a:p>
            <a:pPr lvl="0"/>
            <a:r>
              <a:rPr lang="en-US" dirty="0"/>
              <a:t>It is a best practice to develop tagging strategies. Using a consistent set of tag keys makes it easier for you to manage your resources. You can also search and filter the resources based on the tags that you add. See </a:t>
            </a:r>
            <a:r>
              <a:rPr lang="en-GB" dirty="0">
                <a:hlinkClick r:id="rId4"/>
              </a:rPr>
              <a:t>https://</a:t>
            </a:r>
            <a:r>
              <a:rPr lang="en-GB" dirty="0" err="1">
                <a:hlinkClick r:id="rId4"/>
              </a:rPr>
              <a:t>d1.awsstatic.com</a:t>
            </a:r>
            <a:r>
              <a:rPr lang="en-GB" dirty="0">
                <a:hlinkClick r:id="rId4"/>
              </a:rPr>
              <a:t>/whitepapers/</a:t>
            </a:r>
            <a:r>
              <a:rPr lang="en-GB" dirty="0" err="1">
                <a:hlinkClick r:id="rId4"/>
              </a:rPr>
              <a:t>aws</a:t>
            </a:r>
            <a:r>
              <a:rPr lang="en-GB" dirty="0">
                <a:hlinkClick r:id="rId4"/>
              </a:rPr>
              <a:t>-tagging-best-</a:t>
            </a:r>
            <a:r>
              <a:rPr lang="en-GB" dirty="0" err="1">
                <a:hlinkClick r:id="rId4"/>
              </a:rPr>
              <a:t>practices.pdf</a:t>
            </a:r>
            <a:r>
              <a:rPr lang="en-GB" dirty="0"/>
              <a:t> for more information.</a:t>
            </a:r>
            <a:endParaRPr lang="en-US" dirty="0"/>
          </a:p>
          <a:p>
            <a:endParaRPr lang="en-US" dirty="0"/>
          </a:p>
        </p:txBody>
      </p:sp>
      <p:sp>
        <p:nvSpPr>
          <p:cNvPr id="5" name="Slide Image Placeholder 4">
            <a:extLst>
              <a:ext uri="{FF2B5EF4-FFF2-40B4-BE49-F238E27FC236}">
                <a16:creationId xmlns:a16="http://schemas.microsoft.com/office/drawing/2014/main" id="{48595AAF-BDC2-7AD5-0EB4-3DF31C0CCA21}"/>
              </a:ext>
            </a:extLst>
          </p:cNvPr>
          <p:cNvSpPr>
            <a:spLocks noGrp="1" noRot="1" noChangeAspect="1"/>
          </p:cNvSpPr>
          <p:nvPr>
            <p:ph type="sldImg"/>
          </p:nvPr>
        </p:nvSpPr>
        <p:spPr/>
      </p:sp>
    </p:spTree>
    <p:extLst>
      <p:ext uri="{BB962C8B-B14F-4D97-AF65-F5344CB8AC3E}">
        <p14:creationId xmlns:p14="http://schemas.microsoft.com/office/powerpoint/2010/main" val="14840347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3662690"/>
          </a:xfrm>
        </p:spPr>
        <p:txBody>
          <a:bodyPr/>
          <a:lstStyle/>
          <a:p>
            <a:r>
              <a:rPr lang="en-US" dirty="0"/>
              <a:t>A </a:t>
            </a:r>
            <a:r>
              <a:rPr lang="en-US" b="1" dirty="0"/>
              <a:t>security group</a:t>
            </a:r>
            <a:r>
              <a:rPr lang="en-US" dirty="0"/>
              <a:t> acts as a virtual firewall that controls network traffic for one or more instances. When you launch an instance, you can specify one or more security groups; otherwise, the default security group is used. </a:t>
            </a:r>
          </a:p>
          <a:p>
            <a:endParaRPr lang="en-US" dirty="0"/>
          </a:p>
          <a:p>
            <a:r>
              <a:rPr lang="en-US" dirty="0"/>
              <a:t>You can add </a:t>
            </a:r>
            <a:r>
              <a:rPr lang="en-US" b="1" dirty="0"/>
              <a:t>rules</a:t>
            </a:r>
            <a:r>
              <a:rPr lang="en-US" dirty="0"/>
              <a:t> to each security group. Rules allow traffic to or from its associated instances. You can modify the rules for a security group at any time, and the new rules will be automatically applied to all instances that are associated with the security group. When AWS decides whether to allow traffic to reach an instance, all the rules from all the security groups that are associated with the instance are evaluated. When you launch an instance in a virtual private cloud (VPC), you must either create a new security group or use one that already exists in that VPC. After you launch an instance, you can change its security groups. </a:t>
            </a:r>
          </a:p>
          <a:p>
            <a:endParaRPr lang="en-US" dirty="0"/>
          </a:p>
          <a:p>
            <a:r>
              <a:rPr lang="en-US" dirty="0"/>
              <a:t>When you </a:t>
            </a:r>
            <a:r>
              <a:rPr lang="en-US" b="1" dirty="0"/>
              <a:t>define a rule, </a:t>
            </a:r>
            <a:r>
              <a:rPr lang="en-US" dirty="0"/>
              <a:t>you can specify the allowable source of the network communication (inbound rules) or destination (outbound rules). The </a:t>
            </a:r>
            <a:r>
              <a:rPr lang="en-US" b="1" dirty="0"/>
              <a:t>source</a:t>
            </a:r>
            <a:r>
              <a:rPr lang="en-US" dirty="0"/>
              <a:t> can be an IP address, an IP address range, another security group, a gateway VPC endpoint, or anywhere (which means that all sources will be allowed). By default, a </a:t>
            </a:r>
            <a:r>
              <a:rPr lang="en-US" b="1" dirty="0"/>
              <a:t>security group </a:t>
            </a:r>
            <a:r>
              <a:rPr lang="en-US" dirty="0"/>
              <a:t>includes an </a:t>
            </a:r>
            <a:r>
              <a:rPr lang="en-US" b="1" dirty="0"/>
              <a:t>outbound rule </a:t>
            </a:r>
            <a:r>
              <a:rPr lang="en-US" dirty="0"/>
              <a:t>that allows all </a:t>
            </a:r>
            <a:r>
              <a:rPr lang="en-US" b="1" dirty="0"/>
              <a:t>outbound</a:t>
            </a:r>
            <a:r>
              <a:rPr lang="en-US" dirty="0"/>
              <a:t> traffic. You can remove the </a:t>
            </a:r>
            <a:r>
              <a:rPr lang="en-US" b="1" dirty="0"/>
              <a:t>rule</a:t>
            </a:r>
            <a:r>
              <a:rPr lang="en-US" dirty="0"/>
              <a:t> and add </a:t>
            </a:r>
            <a:r>
              <a:rPr lang="en-US" b="1" dirty="0"/>
              <a:t>outbound rules </a:t>
            </a:r>
            <a:r>
              <a:rPr lang="en-US" dirty="0"/>
              <a:t>that only allow specific outbound traffic. If your </a:t>
            </a:r>
            <a:r>
              <a:rPr lang="en-US" b="1" dirty="0"/>
              <a:t>security group </a:t>
            </a:r>
            <a:r>
              <a:rPr lang="en-US" dirty="0"/>
              <a:t>has no </a:t>
            </a:r>
            <a:r>
              <a:rPr lang="en-US" b="1" dirty="0"/>
              <a:t>outbound rules, </a:t>
            </a:r>
            <a:r>
              <a:rPr lang="en-US" dirty="0"/>
              <a:t>no </a:t>
            </a:r>
            <a:r>
              <a:rPr lang="en-US" b="1" dirty="0"/>
              <a:t>outbound</a:t>
            </a:r>
            <a:r>
              <a:rPr lang="en-US" dirty="0"/>
              <a:t> traffic that originates from your instance is allowed.</a:t>
            </a:r>
          </a:p>
          <a:p>
            <a:endParaRPr lang="en-US" dirty="0"/>
          </a:p>
          <a:p>
            <a:r>
              <a:rPr lang="en-US" b="1" dirty="0"/>
              <a:t>In the example rule, </a:t>
            </a:r>
            <a:r>
              <a:rPr lang="en-US" dirty="0"/>
              <a:t>the rule allows Secure Shell (SSH) traffic over Transmission Control Protocol (TCP) port 22 if the source of the request is My IP. The My IP IP address is calculated by determining what IP address you are currently connected to the AWS Cloud from when you define the rule. </a:t>
            </a:r>
          </a:p>
          <a:p>
            <a:endParaRPr lang="en-US" dirty="0"/>
          </a:p>
          <a:p>
            <a:r>
              <a:rPr lang="en-US" dirty="0"/>
              <a:t>Network access control lists (network ACLs) can also be used are firewalls to protect subnets in a </a:t>
            </a:r>
            <a:r>
              <a:rPr lang="en-US" dirty="0" err="1"/>
              <a:t>VPC</a:t>
            </a:r>
            <a:r>
              <a:rPr lang="en-US" dirty="0"/>
              <a:t>.</a:t>
            </a:r>
          </a:p>
          <a:p>
            <a:endParaRPr lang="en-US" dirty="0"/>
          </a:p>
          <a:p>
            <a:r>
              <a:rPr lang="en-AU" b="1" dirty="0">
                <a:effectLst/>
                <a:latin typeface="Calibri" panose="020F0502020204030204" pitchFamily="34" charset="0"/>
                <a:ea typeface="Calibri" panose="020F0502020204030204" pitchFamily="34" charset="0"/>
              </a:rPr>
              <a:t>For accessibility:</a:t>
            </a:r>
            <a:r>
              <a:rPr lang="en-AU" dirty="0">
                <a:effectLst/>
                <a:latin typeface="Calibri" panose="020F0502020204030204" pitchFamily="34" charset="0"/>
                <a:ea typeface="Calibri" panose="020F0502020204030204" pitchFamily="34" charset="0"/>
              </a:rPr>
              <a:t> Screenshot of the </a:t>
            </a:r>
            <a:r>
              <a:rPr lang="en-AU" dirty="0" err="1">
                <a:effectLst/>
                <a:latin typeface="Calibri" panose="020F0502020204030204" pitchFamily="34" charset="0"/>
                <a:ea typeface="Calibri" panose="020F0502020204030204" pitchFamily="34" charset="0"/>
              </a:rPr>
              <a:t>EC2</a:t>
            </a:r>
            <a:r>
              <a:rPr lang="en-AU" dirty="0">
                <a:effectLst/>
                <a:latin typeface="Calibri" panose="020F0502020204030204" pitchFamily="34" charset="0"/>
                <a:ea typeface="Calibri" panose="020F0502020204030204" pitchFamily="34" charset="0"/>
              </a:rPr>
              <a:t> console screen where you can define a security group rule. It shows a rule with type SSH, protocol TCP, port range 22, source My IP, and a CIDR block that shows an example My IP address. </a:t>
            </a:r>
            <a:r>
              <a:rPr lang="en-AU" b="1" dirty="0">
                <a:effectLst/>
                <a:latin typeface="Calibri" panose="020F0502020204030204" pitchFamily="34" charset="0"/>
                <a:ea typeface="Calibri" panose="020F0502020204030204" pitchFamily="34" charset="0"/>
              </a:rPr>
              <a:t>End of accessibility description.</a:t>
            </a:r>
            <a:endParaRPr lang="en-US" dirty="0"/>
          </a:p>
          <a:p>
            <a:endParaRPr lang="en-US" dirty="0"/>
          </a:p>
          <a:p>
            <a:endParaRPr lang="en-US" dirty="0"/>
          </a:p>
          <a:p>
            <a:endParaRPr lang="en-US" dirty="0"/>
          </a:p>
        </p:txBody>
      </p:sp>
      <p:sp>
        <p:nvSpPr>
          <p:cNvPr id="5" name="Slide Image Placeholder 4">
            <a:extLst>
              <a:ext uri="{FF2B5EF4-FFF2-40B4-BE49-F238E27FC236}">
                <a16:creationId xmlns:a16="http://schemas.microsoft.com/office/drawing/2014/main" id="{DF98272B-8237-C237-3B16-39006E4A259A}"/>
              </a:ext>
            </a:extLst>
          </p:cNvPr>
          <p:cNvSpPr>
            <a:spLocks noGrp="1" noRot="1" noChangeAspect="1"/>
          </p:cNvSpPr>
          <p:nvPr>
            <p:ph type="sldImg"/>
          </p:nvPr>
        </p:nvSpPr>
        <p:spPr/>
      </p:sp>
    </p:spTree>
    <p:extLst>
      <p:ext uri="{BB962C8B-B14F-4D97-AF65-F5344CB8AC3E}">
        <p14:creationId xmlns:p14="http://schemas.microsoft.com/office/powerpoint/2010/main" val="39696857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831613"/>
          </a:xfrm>
        </p:spPr>
        <p:txBody>
          <a:bodyPr/>
          <a:lstStyle/>
          <a:p>
            <a:r>
              <a:rPr lang="en-US" dirty="0"/>
              <a:t>After you specify all the required configurations to launch an EC2 instance, and after you customize any optional EC2 launch wizard configuration settings, you are presented with a </a:t>
            </a:r>
            <a:r>
              <a:rPr lang="en-US" b="1" dirty="0"/>
              <a:t>Review Instance Launch </a:t>
            </a:r>
            <a:r>
              <a:rPr lang="en-US" dirty="0"/>
              <a:t>window. If you then choose </a:t>
            </a:r>
            <a:r>
              <a:rPr lang="en-US" b="1" dirty="0"/>
              <a:t>Launch, </a:t>
            </a:r>
            <a:r>
              <a:rPr lang="en-US" dirty="0"/>
              <a:t>a dialog asks you to choose an existing key pair, proceed without a key pair, or create a new key pair before you can choose </a:t>
            </a:r>
            <a:r>
              <a:rPr lang="en-US" b="1" dirty="0"/>
              <a:t>Launch Instances </a:t>
            </a:r>
            <a:r>
              <a:rPr lang="en-US" dirty="0"/>
              <a:t>and create the EC2 instance.</a:t>
            </a:r>
          </a:p>
          <a:p>
            <a:endParaRPr lang="en-US" dirty="0"/>
          </a:p>
          <a:p>
            <a:r>
              <a:rPr lang="en-US" dirty="0"/>
              <a:t>Amazon EC2 uses public–key cryptography to encrypt and decrypt login information. The technology uses a </a:t>
            </a:r>
            <a:r>
              <a:rPr lang="en-US" b="1" dirty="0"/>
              <a:t>public key </a:t>
            </a:r>
            <a:r>
              <a:rPr lang="en-US" dirty="0"/>
              <a:t>to encrypt a piece of data, and then the recipient uses the private key to decrypt the data. The public and private keys are known as a </a:t>
            </a:r>
            <a:r>
              <a:rPr lang="en-US" b="1" dirty="0"/>
              <a:t>key pair. </a:t>
            </a:r>
            <a:r>
              <a:rPr lang="en-US" dirty="0"/>
              <a:t>Public-key cryptography enables you to securely access your instances by using a private key instead of a password.</a:t>
            </a:r>
          </a:p>
          <a:p>
            <a:endParaRPr lang="en-US" dirty="0"/>
          </a:p>
          <a:p>
            <a:r>
              <a:rPr lang="en-US" dirty="0"/>
              <a:t>When you launch an instance, you specify a key pair. You can specify an existing key pair or a new key pair that you create at launch. If you create a new key pair, download it and save it in a safe location. This opportunity is the only chance you get to save the private key file. </a:t>
            </a:r>
          </a:p>
          <a:p>
            <a:endParaRPr lang="en-US" dirty="0"/>
          </a:p>
          <a:p>
            <a:r>
              <a:rPr lang="en-US" dirty="0"/>
              <a:t>To connect to a </a:t>
            </a:r>
            <a:r>
              <a:rPr lang="en-US" b="1" dirty="0"/>
              <a:t>Windows</a:t>
            </a:r>
            <a:r>
              <a:rPr lang="en-US" dirty="0"/>
              <a:t> instance, use the private key to obtain the administrator password, and then log in to the EC2 instance's Windows Desktop by using Remote Desktop Protocol (RDP). To establish an SSH connection from a Windows machine to an Amazon EC2 instance, you can use a tool such as PuTTY, which will require the same private key.</a:t>
            </a:r>
          </a:p>
          <a:p>
            <a:endParaRPr lang="en-US" dirty="0"/>
          </a:p>
          <a:p>
            <a:r>
              <a:rPr lang="en-US" dirty="0"/>
              <a:t>With </a:t>
            </a:r>
            <a:r>
              <a:rPr lang="en-US" b="1" dirty="0"/>
              <a:t>Linux</a:t>
            </a:r>
            <a:r>
              <a:rPr lang="en-US" dirty="0"/>
              <a:t> instances, at boot time, the </a:t>
            </a:r>
            <a:r>
              <a:rPr lang="en-US" b="1" dirty="0"/>
              <a:t>public key </a:t>
            </a:r>
            <a:r>
              <a:rPr lang="en-US" dirty="0"/>
              <a:t>content is placed on the instance. An entry is created in within</a:t>
            </a:r>
            <a:r>
              <a:rPr lang="en-US" dirty="0">
                <a:latin typeface="Lucida Console" panose="020B0609040504020204" pitchFamily="49" charset="0"/>
              </a:rPr>
              <a:t> ~/.ssh/authorized_keys. </a:t>
            </a:r>
            <a:r>
              <a:rPr lang="en-US" dirty="0"/>
              <a:t>To log in to your Linux instance (for example, by using SSH), you must provide the </a:t>
            </a:r>
            <a:r>
              <a:rPr lang="en-US" b="1" dirty="0"/>
              <a:t>private key </a:t>
            </a:r>
            <a:r>
              <a:rPr lang="en-US" dirty="0"/>
              <a:t>when you establish the connection. </a:t>
            </a:r>
          </a:p>
          <a:p>
            <a:endParaRPr lang="en-US" dirty="0"/>
          </a:p>
        </p:txBody>
      </p:sp>
      <p:sp>
        <p:nvSpPr>
          <p:cNvPr id="5" name="Slide Image Placeholder 4">
            <a:extLst>
              <a:ext uri="{FF2B5EF4-FFF2-40B4-BE49-F238E27FC236}">
                <a16:creationId xmlns:a16="http://schemas.microsoft.com/office/drawing/2014/main" id="{ED2F5E25-853F-A98E-7A00-440E1EE6C665}"/>
              </a:ext>
            </a:extLst>
          </p:cNvPr>
          <p:cNvSpPr>
            <a:spLocks noGrp="1" noRot="1" noChangeAspect="1"/>
          </p:cNvSpPr>
          <p:nvPr>
            <p:ph type="sldImg"/>
          </p:nvPr>
        </p:nvSpPr>
        <p:spPr/>
      </p:sp>
    </p:spTree>
    <p:extLst>
      <p:ext uri="{BB962C8B-B14F-4D97-AF65-F5344CB8AC3E}">
        <p14:creationId xmlns:p14="http://schemas.microsoft.com/office/powerpoint/2010/main" val="2456800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After you choose </a:t>
            </a:r>
            <a:r>
              <a:rPr lang="en-US" b="1" dirty="0"/>
              <a:t>Launch Instances </a:t>
            </a:r>
            <a:r>
              <a:rPr lang="en-US" dirty="0"/>
              <a:t>and then choose </a:t>
            </a:r>
            <a:r>
              <a:rPr lang="en-US" b="1" dirty="0"/>
              <a:t>View Instances, </a:t>
            </a:r>
            <a:r>
              <a:rPr lang="en-US" dirty="0"/>
              <a:t>you will be presented with a screen that looks similar to the example. </a:t>
            </a:r>
          </a:p>
          <a:p>
            <a:endParaRPr lang="en-US" dirty="0"/>
          </a:p>
          <a:p>
            <a:r>
              <a:rPr lang="en-US" dirty="0"/>
              <a:t>Many of the settings that you specified during launch are visible in the </a:t>
            </a:r>
            <a:r>
              <a:rPr lang="en-US" b="1" dirty="0"/>
              <a:t>Description</a:t>
            </a:r>
            <a:r>
              <a:rPr lang="en-US" dirty="0"/>
              <a:t> panel. </a:t>
            </a:r>
          </a:p>
          <a:p>
            <a:endParaRPr lang="en-US" dirty="0"/>
          </a:p>
          <a:p>
            <a:r>
              <a:rPr lang="en-US" dirty="0"/>
              <a:t>Information about the available instance includes IP address and DNS address information, the instance type, the unique instance ID that was assigned to the instance, the AMI ID of the AMI that you used to launch the instance, the VPC ID, the subnet ID, and more. </a:t>
            </a:r>
          </a:p>
          <a:p>
            <a:endParaRPr lang="en-US" dirty="0"/>
          </a:p>
          <a:p>
            <a:r>
              <a:rPr lang="en-US" dirty="0"/>
              <a:t>Many of these details provide hyperlinks that you can choose to learn more information about the resources that are relevant to the EC2 instance you launched.</a:t>
            </a:r>
          </a:p>
        </p:txBody>
      </p:sp>
      <p:sp>
        <p:nvSpPr>
          <p:cNvPr id="5" name="Slide Image Placeholder 4">
            <a:extLst>
              <a:ext uri="{FF2B5EF4-FFF2-40B4-BE49-F238E27FC236}">
                <a16:creationId xmlns:a16="http://schemas.microsoft.com/office/drawing/2014/main" id="{1B42779C-9CE7-C639-1B37-D2CBD3BCA5D5}"/>
              </a:ext>
            </a:extLst>
          </p:cNvPr>
          <p:cNvSpPr>
            <a:spLocks noGrp="1" noRot="1" noChangeAspect="1"/>
          </p:cNvSpPr>
          <p:nvPr>
            <p:ph type="sldImg"/>
          </p:nvPr>
        </p:nvSpPr>
        <p:spPr/>
      </p:sp>
    </p:spTree>
    <p:extLst>
      <p:ext uri="{BB962C8B-B14F-4D97-AF65-F5344CB8AC3E}">
        <p14:creationId xmlns:p14="http://schemas.microsoft.com/office/powerpoint/2010/main" val="23630062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973015"/>
          </a:xfrm>
        </p:spPr>
        <p:txBody>
          <a:bodyPr/>
          <a:lstStyle/>
          <a:p>
            <a:r>
              <a:rPr lang="en-US" dirty="0"/>
              <a:t>You can also launch EC2 instances programmatically, either by using the AWS Command Line Interface (AWS CLI) or one of the AWS software development kits (SDKs).</a:t>
            </a:r>
          </a:p>
          <a:p>
            <a:endParaRPr lang="en-US" dirty="0"/>
          </a:p>
          <a:p>
            <a:r>
              <a:rPr lang="en-US" dirty="0"/>
              <a:t>In the example AWS CLI command, you see a single command that specifies the minimal information that is needed to launch an instance. The command includes the following information:</a:t>
            </a:r>
          </a:p>
          <a:p>
            <a:pPr marL="171450" indent="-171450">
              <a:buFont typeface="Arial" panose="020B0604020202020204" pitchFamily="34" charset="0"/>
              <a:buChar char="•"/>
            </a:pPr>
            <a:r>
              <a:rPr lang="en-US" dirty="0"/>
              <a:t>aws – Specifies an invocation of the aws command line utility.</a:t>
            </a:r>
          </a:p>
          <a:p>
            <a:pPr marL="171450" indent="-171450">
              <a:buFont typeface="Arial" panose="020B0604020202020204" pitchFamily="34" charset="0"/>
              <a:buChar char="•"/>
            </a:pPr>
            <a:r>
              <a:rPr lang="en-US" dirty="0"/>
              <a:t>ec2 – Specifies an invocation of the ec2 service command.</a:t>
            </a:r>
          </a:p>
          <a:p>
            <a:pPr marL="171450" indent="-171450">
              <a:buFont typeface="Arial" panose="020B0604020202020204" pitchFamily="34" charset="0"/>
              <a:buChar char="•"/>
            </a:pPr>
            <a:r>
              <a:rPr lang="en-US" dirty="0"/>
              <a:t>run-instances – Is the subcommand that is being invoked.</a:t>
            </a:r>
          </a:p>
          <a:p>
            <a:endParaRPr lang="en-US" dirty="0"/>
          </a:p>
          <a:p>
            <a:r>
              <a:rPr lang="en-US" dirty="0"/>
              <a:t>The rest of the command specifies several parameters, including:</a:t>
            </a:r>
          </a:p>
          <a:p>
            <a:pPr marL="171450" indent="-171450">
              <a:buFont typeface="Arial" panose="020B0604020202020204" pitchFamily="34" charset="0"/>
              <a:buChar char="•"/>
            </a:pPr>
            <a:r>
              <a:rPr lang="en-US" dirty="0"/>
              <a:t>image-id – This parameter is followed by an AMI ID. All AMIs have a unique AMI ID.</a:t>
            </a:r>
          </a:p>
          <a:p>
            <a:pPr marL="171450" indent="-171450">
              <a:buFont typeface="Arial" panose="020B0604020202020204" pitchFamily="34" charset="0"/>
              <a:buChar char="•"/>
            </a:pPr>
            <a:r>
              <a:rPr lang="en-US" dirty="0"/>
              <a:t>count – You can specify more than one. </a:t>
            </a:r>
          </a:p>
          <a:p>
            <a:pPr marL="171450" indent="-171450">
              <a:buFont typeface="Arial" panose="020B0604020202020204" pitchFamily="34" charset="0"/>
              <a:buChar char="•"/>
            </a:pPr>
            <a:r>
              <a:rPr lang="en-US" dirty="0"/>
              <a:t>instance-type – You can specify the instance type to create (for example) a c3.large instance</a:t>
            </a:r>
          </a:p>
          <a:p>
            <a:pPr marL="171450" indent="-171450">
              <a:buFont typeface="Arial" panose="020B0604020202020204" pitchFamily="34" charset="0"/>
              <a:buChar char="•"/>
            </a:pPr>
            <a:r>
              <a:rPr lang="en-US" dirty="0"/>
              <a:t>key-name – In the example, assume that MyKeyPair already exists.</a:t>
            </a:r>
          </a:p>
          <a:p>
            <a:pPr marL="171450" indent="-171450">
              <a:buFont typeface="Arial" panose="020B0604020202020204" pitchFamily="34" charset="0"/>
              <a:buChar char="•"/>
            </a:pPr>
            <a:r>
              <a:rPr lang="en-US" dirty="0"/>
              <a:t>security-groups - In this example, assume that MySecurityGroup already exists.</a:t>
            </a:r>
          </a:p>
          <a:p>
            <a:pPr marL="171450" indent="-171450">
              <a:buFont typeface="Arial" panose="020B0604020202020204" pitchFamily="34" charset="0"/>
              <a:buChar char="•"/>
            </a:pPr>
            <a:r>
              <a:rPr lang="en-US" dirty="0"/>
              <a:t>region - AMIs exist in an AWS Region, so you must specify the Region where the AWS CLI will find the AMI and launch the EC2 instance.</a:t>
            </a:r>
          </a:p>
          <a:p>
            <a:endParaRPr lang="en-US" dirty="0"/>
          </a:p>
          <a:p>
            <a:r>
              <a:rPr lang="en-US" dirty="0"/>
              <a:t>The command should successfully create an EC2 instance if:</a:t>
            </a:r>
          </a:p>
          <a:p>
            <a:pPr marL="171450" indent="-171450">
              <a:buFont typeface="Arial" panose="020B0604020202020204" pitchFamily="34" charset="0"/>
              <a:buChar char="•"/>
            </a:pPr>
            <a:r>
              <a:rPr lang="en-US" dirty="0"/>
              <a:t>The command is properly formed</a:t>
            </a:r>
          </a:p>
          <a:p>
            <a:pPr marL="171450" indent="-171450">
              <a:buFont typeface="Arial" panose="020B0604020202020204" pitchFamily="34" charset="0"/>
              <a:buChar char="•"/>
            </a:pPr>
            <a:r>
              <a:rPr lang="en-US" dirty="0"/>
              <a:t>The resources that the command needs already exist</a:t>
            </a:r>
          </a:p>
          <a:p>
            <a:pPr marL="171450" indent="-171450">
              <a:buFont typeface="Arial" panose="020B0604020202020204" pitchFamily="34" charset="0"/>
              <a:buChar char="•"/>
            </a:pPr>
            <a:r>
              <a:rPr lang="en-US" dirty="0"/>
              <a:t>You have sufficient permissions to run the command</a:t>
            </a:r>
          </a:p>
          <a:p>
            <a:pPr marL="171450" indent="-171450">
              <a:buFont typeface="Arial" panose="020B0604020202020204" pitchFamily="34" charset="0"/>
              <a:buChar char="•"/>
            </a:pPr>
            <a:r>
              <a:rPr lang="en-US" dirty="0"/>
              <a:t>You have sufficient capacity in the AWS account</a:t>
            </a:r>
          </a:p>
          <a:p>
            <a:r>
              <a:rPr lang="en-US" dirty="0"/>
              <a:t>If the command is successful, the API responds to the command with the instance ID and other relevant data for your application to use in subsequent API requests.</a:t>
            </a:r>
          </a:p>
          <a:p>
            <a:endParaRPr lang="en-US" dirty="0"/>
          </a:p>
        </p:txBody>
      </p:sp>
      <p:sp>
        <p:nvSpPr>
          <p:cNvPr id="5" name="Slide Image Placeholder 4">
            <a:extLst>
              <a:ext uri="{FF2B5EF4-FFF2-40B4-BE49-F238E27FC236}">
                <a16:creationId xmlns:a16="http://schemas.microsoft.com/office/drawing/2014/main" id="{83C2E026-6E85-E5D0-CBA4-6B472C5E5790}"/>
              </a:ext>
            </a:extLst>
          </p:cNvPr>
          <p:cNvSpPr>
            <a:spLocks noGrp="1" noRot="1" noChangeAspect="1"/>
          </p:cNvSpPr>
          <p:nvPr>
            <p:ph type="sldImg"/>
          </p:nvPr>
        </p:nvSpPr>
        <p:spPr/>
      </p:sp>
    </p:spTree>
    <p:extLst>
      <p:ext uri="{BB962C8B-B14F-4D97-AF65-F5344CB8AC3E}">
        <p14:creationId xmlns:p14="http://schemas.microsoft.com/office/powerpoint/2010/main" val="842963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Here, you see the lifecycle of an instance. The arrows show </a:t>
            </a:r>
            <a:r>
              <a:rPr lang="en-US" b="1" dirty="0"/>
              <a:t>actions</a:t>
            </a:r>
            <a:r>
              <a:rPr lang="en-US" dirty="0"/>
              <a:t> that you can take and the boxes show the </a:t>
            </a:r>
            <a:r>
              <a:rPr lang="en-US" b="1" dirty="0"/>
              <a:t>state</a:t>
            </a:r>
            <a:r>
              <a:rPr lang="en-US" dirty="0"/>
              <a:t> the instance will enter after that action. An instance can be in one of the following states:</a:t>
            </a:r>
          </a:p>
          <a:p>
            <a:pPr marL="171450" indent="-171450">
              <a:buFont typeface="Arial" panose="020B0604020202020204" pitchFamily="34" charset="0"/>
              <a:buChar char="•"/>
            </a:pPr>
            <a:r>
              <a:rPr lang="en-US" b="1" dirty="0"/>
              <a:t>Pending</a:t>
            </a:r>
            <a:r>
              <a:rPr lang="en-US" dirty="0"/>
              <a:t> – When an instance is first launched from an AMI, or when you start a stopped instance, it enters the pending state when the instance is booted and deployed to a host computer. The instance type that you specified at launch determines the hardware of the host computer for your instance.</a:t>
            </a:r>
          </a:p>
          <a:p>
            <a:pPr marL="171450" indent="-171450">
              <a:buFont typeface="Arial" panose="020B0604020202020204" pitchFamily="34" charset="0"/>
              <a:buChar char="•"/>
            </a:pPr>
            <a:r>
              <a:rPr lang="en-US" b="1" dirty="0"/>
              <a:t>Running</a:t>
            </a:r>
            <a:r>
              <a:rPr lang="en-US" dirty="0"/>
              <a:t> – When the instance is fully booted and ready, it exits the pending state and enters the running state. You can connect over the internet to your running instance. </a:t>
            </a:r>
          </a:p>
          <a:p>
            <a:pPr marL="171450" indent="-171450">
              <a:buFont typeface="Arial" panose="020B0604020202020204" pitchFamily="34" charset="0"/>
              <a:buChar char="•"/>
            </a:pPr>
            <a:r>
              <a:rPr lang="en-US" dirty="0"/>
              <a:t>Rebooting – AWS recommends you reboot an instance by using the Amazon EC2 console, AWS CLI, or AWS SDKs instead of invoking a reboot from within the guest operating system (OS). A rebooted instance stays on the same physical host, maintains the same public DNS name and public IP address, and if it has </a:t>
            </a:r>
            <a:r>
              <a:rPr lang="en-US" b="1" dirty="0"/>
              <a:t>instance store </a:t>
            </a:r>
            <a:r>
              <a:rPr lang="en-US" dirty="0"/>
              <a:t>volumes, it retains the data on those volumes.</a:t>
            </a:r>
          </a:p>
          <a:p>
            <a:pPr marL="171450" indent="-171450">
              <a:buFont typeface="Arial" panose="020B0604020202020204" pitchFamily="34" charset="0"/>
              <a:buChar char="•"/>
            </a:pPr>
            <a:r>
              <a:rPr lang="en-US" b="1" dirty="0"/>
              <a:t>Shutting down </a:t>
            </a:r>
            <a:r>
              <a:rPr lang="en-US" dirty="0"/>
              <a:t>– This state is an intermediary state between running and terminated. </a:t>
            </a:r>
          </a:p>
          <a:p>
            <a:pPr marL="171450" indent="-171450">
              <a:buFont typeface="Arial" panose="020B0604020202020204" pitchFamily="34" charset="0"/>
              <a:buChar char="•"/>
            </a:pPr>
            <a:r>
              <a:rPr lang="en-US" b="1" dirty="0"/>
              <a:t>Terminated</a:t>
            </a:r>
            <a:r>
              <a:rPr lang="en-US" dirty="0"/>
              <a:t> – A terminated instance remains visible in the Amazon EC2 console for a while before the virtual machine is deleted. However, you can’t connect to or recover a terminated instance. </a:t>
            </a:r>
          </a:p>
          <a:p>
            <a:pPr marL="171450" indent="-171450">
              <a:buFont typeface="Arial" panose="020B0604020202020204" pitchFamily="34" charset="0"/>
              <a:buChar char="•"/>
            </a:pPr>
            <a:r>
              <a:rPr lang="en-US" b="1" dirty="0"/>
              <a:t>Stopping</a:t>
            </a:r>
            <a:r>
              <a:rPr lang="en-US" dirty="0"/>
              <a:t> – Instances that are backed by Amazon EBS can be stopped. They enter the stopping state before they attain the fully stopped state.</a:t>
            </a:r>
          </a:p>
          <a:p>
            <a:pPr marL="171450" indent="-171450">
              <a:buFont typeface="Arial" panose="020B0604020202020204" pitchFamily="34" charset="0"/>
              <a:buChar char="•"/>
            </a:pPr>
            <a:r>
              <a:rPr lang="en-US" b="1" dirty="0"/>
              <a:t>Stopped</a:t>
            </a:r>
            <a:r>
              <a:rPr lang="en-US" dirty="0"/>
              <a:t> – A stopped instance will not incur the same cost as a running instance. Starting a stopped instance puts it back into the pending state, which moves the instance to a new host machine. </a:t>
            </a:r>
          </a:p>
        </p:txBody>
      </p:sp>
      <p:sp>
        <p:nvSpPr>
          <p:cNvPr id="5" name="Slide Image Placeholder 4">
            <a:extLst>
              <a:ext uri="{FF2B5EF4-FFF2-40B4-BE49-F238E27FC236}">
                <a16:creationId xmlns:a16="http://schemas.microsoft.com/office/drawing/2014/main" id="{2EF926EA-F2CA-E588-9763-66148039CF62}"/>
              </a:ext>
            </a:extLst>
          </p:cNvPr>
          <p:cNvSpPr>
            <a:spLocks noGrp="1" noRot="1" noChangeAspect="1"/>
          </p:cNvSpPr>
          <p:nvPr>
            <p:ph type="sldImg"/>
          </p:nvPr>
        </p:nvSpPr>
        <p:spPr/>
      </p:sp>
    </p:spTree>
    <p:extLst>
      <p:ext uri="{BB962C8B-B14F-4D97-AF65-F5344CB8AC3E}">
        <p14:creationId xmlns:p14="http://schemas.microsoft.com/office/powerpoint/2010/main" val="1943890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 </a:t>
            </a:r>
            <a:r>
              <a:rPr lang="en-US" b="1" dirty="0"/>
              <a:t>public IP address</a:t>
            </a:r>
            <a:r>
              <a:rPr lang="en-US" dirty="0"/>
              <a:t> is an IPv4 address that is reachable from the internet. Each instance that receives a public IP address is also given an external DNS hostname. For example, if the public IP address assigned to the instance is </a:t>
            </a:r>
            <a:r>
              <a:rPr lang="en-US" dirty="0">
                <a:latin typeface="Lucida Console" panose="020B0609040504020204" pitchFamily="49" charset="0"/>
              </a:rPr>
              <a:t>203.0.113.25, </a:t>
            </a:r>
            <a:r>
              <a:rPr lang="en-US" dirty="0"/>
              <a:t>then the external DNS hostname might be </a:t>
            </a:r>
            <a:r>
              <a:rPr lang="en-US" dirty="0">
                <a:latin typeface="Lucida Console" panose="020B0609040504020204" pitchFamily="49" charset="0"/>
              </a:rPr>
              <a:t>ec2-203-0-113-25.compute-1.amazonaws.com. </a:t>
            </a:r>
          </a:p>
          <a:p>
            <a:endParaRPr lang="en-US" dirty="0"/>
          </a:p>
          <a:p>
            <a:r>
              <a:rPr lang="en-US" dirty="0"/>
              <a:t>If you specify that a public IP address should be assigned to your instance, it is assigned from the AWS pool of public IPv4 addresses. The public IP address is not associated with your AWS account. When a public IP address is disassociated from your instance, it is released back into the public IPv4 address pool, and you will not be able to specify that you want to reuse it. AWS releases your instance's public IP address when the instance is stopped or terminated. Your stopped instance receives a new public IP address when it is restarted.</a:t>
            </a:r>
          </a:p>
          <a:p>
            <a:endParaRPr lang="en-US" dirty="0"/>
          </a:p>
          <a:p>
            <a:r>
              <a:rPr lang="en-US" dirty="0"/>
              <a:t>If you require a persistent public IP address, you might want to associate an </a:t>
            </a:r>
            <a:r>
              <a:rPr lang="en-US" b="1" dirty="0"/>
              <a:t>Elastic IP address </a:t>
            </a:r>
            <a:r>
              <a:rPr lang="en-US" dirty="0"/>
              <a:t>with the instance. To associate an Elastic IP address, you must first allocate a new Elastic IP address in the Region where the instance exists. After the Elastic IP address is allocated, you can associate the Elastic IP address with an EC2 instance. </a:t>
            </a:r>
          </a:p>
          <a:p>
            <a:endParaRPr lang="en-US" dirty="0"/>
          </a:p>
          <a:p>
            <a:r>
              <a:rPr lang="en-US" dirty="0"/>
              <a:t>By default, all AWS accounts are limited to five (5) Elastic IP addresses per Region because public (IPv4) internet addresses are a scarce public resource. However, this is a soft limit, and you can request a limit increase (which might be approved).</a:t>
            </a:r>
          </a:p>
          <a:p>
            <a:endParaRPr lang="en-US" dirty="0"/>
          </a:p>
        </p:txBody>
      </p:sp>
      <p:sp>
        <p:nvSpPr>
          <p:cNvPr id="5" name="Slide Image Placeholder 4">
            <a:extLst>
              <a:ext uri="{FF2B5EF4-FFF2-40B4-BE49-F238E27FC236}">
                <a16:creationId xmlns:a16="http://schemas.microsoft.com/office/drawing/2014/main" id="{1E85D5B2-591C-5EFA-EF5D-68CFA6BBA9DE}"/>
              </a:ext>
            </a:extLst>
          </p:cNvPr>
          <p:cNvSpPr>
            <a:spLocks noGrp="1" noRot="1" noChangeAspect="1"/>
          </p:cNvSpPr>
          <p:nvPr>
            <p:ph type="sldImg"/>
          </p:nvPr>
        </p:nvSpPr>
        <p:spPr/>
      </p:sp>
    </p:spTree>
    <p:extLst>
      <p:ext uri="{BB962C8B-B14F-4D97-AF65-F5344CB8AC3E}">
        <p14:creationId xmlns:p14="http://schemas.microsoft.com/office/powerpoint/2010/main" val="3325536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mn-lt"/>
                <a:ea typeface="+mn-ea"/>
                <a:cs typeface="+mn-cs"/>
              </a:rPr>
              <a:t>You can monitor your instances by using Amazon CloudWatch, which collects and processes raw data from Amazon EC2 into readable, near-real-time metrics. These statistics are recorded for a period of 15 months, so you can access historical information and gain a better perspective on how your web application or service is performing.</a:t>
            </a:r>
          </a:p>
          <a:p>
            <a:endParaRPr lang="en-US" b="0" i="0" kern="1200" dirty="0">
              <a:solidFill>
                <a:schemeClr val="tx1"/>
              </a:solidFill>
              <a:effectLst/>
              <a:latin typeface="+mn-lt"/>
              <a:ea typeface="+mn-ea"/>
              <a:cs typeface="+mn-cs"/>
            </a:endParaRPr>
          </a:p>
          <a:p>
            <a:pPr marL="0" marR="0">
              <a:spcBef>
                <a:spcPts val="0"/>
              </a:spcBef>
              <a:spcAft>
                <a:spcPts val="0"/>
              </a:spcAft>
            </a:pPr>
            <a:r>
              <a:rPr lang="en-US" dirty="0">
                <a:effectLst/>
                <a:ea typeface="Calibri" panose="020F0502020204030204" pitchFamily="34" charset="0"/>
                <a:cs typeface="Times New Roman" panose="02020603050405020304" pitchFamily="18" charset="0"/>
              </a:rPr>
              <a:t>By default, Amazon </a:t>
            </a:r>
            <a:r>
              <a:rPr lang="en-US" dirty="0" err="1">
                <a:effectLst/>
                <a:ea typeface="Calibri" panose="020F0502020204030204" pitchFamily="34" charset="0"/>
                <a:cs typeface="Times New Roman" panose="02020603050405020304" pitchFamily="18" charset="0"/>
              </a:rPr>
              <a:t>EC2</a:t>
            </a:r>
            <a:r>
              <a:rPr lang="en-US" dirty="0">
                <a:effectLst/>
                <a:ea typeface="Calibri" panose="020F0502020204030204" pitchFamily="34" charset="0"/>
                <a:cs typeface="Times New Roman" panose="02020603050405020304" pitchFamily="18" charset="0"/>
              </a:rPr>
              <a:t> provides </a:t>
            </a:r>
            <a:r>
              <a:rPr lang="en-US" b="1" dirty="0">
                <a:effectLst/>
                <a:ea typeface="Calibri" panose="020F0502020204030204" pitchFamily="34" charset="0"/>
                <a:cs typeface="Times New Roman" panose="02020603050405020304" pitchFamily="18" charset="0"/>
              </a:rPr>
              <a:t>basic monitoring</a:t>
            </a:r>
            <a:r>
              <a:rPr lang="en-US" dirty="0">
                <a:effectLst/>
                <a:ea typeface="Calibri" panose="020F0502020204030204" pitchFamily="34" charset="0"/>
                <a:cs typeface="Times New Roman" panose="02020603050405020304" pitchFamily="18" charset="0"/>
              </a:rPr>
              <a:t>,</a:t>
            </a:r>
            <a:r>
              <a:rPr lang="en-US" b="1" dirty="0">
                <a:effectLst/>
                <a:ea typeface="Calibri" panose="020F0502020204030204" pitchFamily="34" charset="0"/>
                <a:cs typeface="Times New Roman" panose="02020603050405020304" pitchFamily="18" charset="0"/>
              </a:rPr>
              <a:t> </a:t>
            </a:r>
            <a:r>
              <a:rPr lang="en-US" dirty="0">
                <a:effectLst/>
                <a:ea typeface="Calibri" panose="020F0502020204030204" pitchFamily="34" charset="0"/>
                <a:cs typeface="Times New Roman" panose="02020603050405020304" pitchFamily="18" charset="0"/>
              </a:rPr>
              <a:t>which sends metric data to CloudWatch in 5-minute periods. To send metric data for your instance to CloudWatch in 1-minute periods, you can enable</a:t>
            </a:r>
            <a:r>
              <a:rPr lang="en-US" b="1" dirty="0">
                <a:effectLst/>
                <a:ea typeface="Calibri" panose="020F0502020204030204" pitchFamily="34" charset="0"/>
                <a:cs typeface="Times New Roman" panose="02020603050405020304" pitchFamily="18" charset="0"/>
              </a:rPr>
              <a:t> detailed monitoring</a:t>
            </a:r>
            <a:r>
              <a:rPr lang="en-US" dirty="0">
                <a:effectLst/>
                <a:ea typeface="Calibri" panose="020F0502020204030204" pitchFamily="34" charset="0"/>
                <a:cs typeface="Times New Roman" panose="02020603050405020304" pitchFamily="18" charset="0"/>
              </a:rPr>
              <a:t> on the instance. For more information, see Enable or Disable Detailed Monitoring for Your Instances at </a:t>
            </a:r>
            <a:r>
              <a:rPr lang="en-US" u="sng" dirty="0">
                <a:solidFill>
                  <a:srgbClr val="0563C1"/>
                </a:solidFill>
                <a:effectLst/>
                <a:ea typeface="Calibri" panose="020F0502020204030204" pitchFamily="34" charset="0"/>
                <a:cs typeface="Times New Roman" panose="02020603050405020304" pitchFamily="18" charset="0"/>
                <a:hlinkClick r:id="rId3"/>
              </a:rPr>
              <a:t>https://docs.aws.amazon.com/AWSEC2/latest/UserGuide/using-cloudwatch-new.html</a:t>
            </a:r>
            <a:r>
              <a:rPr lang="en-US" dirty="0">
                <a:effectLst/>
                <a:ea typeface="Calibri" panose="020F0502020204030204" pitchFamily="34" charset="0"/>
                <a:cs typeface="Times New Roman" panose="02020603050405020304" pitchFamily="18" charset="0"/>
              </a:rPr>
              <a:t>.</a:t>
            </a:r>
          </a:p>
          <a:p>
            <a:endParaRPr lang="en-US" b="0" i="0" kern="1200" dirty="0">
              <a:solidFill>
                <a:schemeClr val="tx1"/>
              </a:solidFill>
              <a:effectLst/>
              <a:latin typeface="+mn-lt"/>
              <a:ea typeface="+mn-ea"/>
              <a:cs typeface="+mn-cs"/>
            </a:endParaRPr>
          </a:p>
          <a:p>
            <a:r>
              <a:rPr lang="en-US" b="0" i="0" kern="1200" dirty="0">
                <a:solidFill>
                  <a:schemeClr val="tx1"/>
                </a:solidFill>
                <a:effectLst/>
                <a:latin typeface="+mn-lt"/>
                <a:ea typeface="+mn-ea"/>
                <a:cs typeface="+mn-cs"/>
              </a:rPr>
              <a:t>The Amazon EC2 console displays a series of graphs based on the raw data from Amazon CloudWatch. Depending on your needs, you might prefer to get data for your instances from Amazon CloudWatch instead of through the graphs in the console. By default, Amazon CloudWatch does not provide RAM metrics for EC2 instances, thoug</a:t>
            </a:r>
            <a:r>
              <a:rPr lang="en-US" dirty="0"/>
              <a:t>h that is an option that you can configure if you want to CloudWatch to collect that data.</a:t>
            </a:r>
            <a:endParaRPr lang="en-US"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354780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Some key takeaways from this section of the module include:</a:t>
            </a:r>
          </a:p>
          <a:p>
            <a:pPr marL="171450" indent="-171450">
              <a:buFont typeface="Arial" panose="020B0604020202020204" pitchFamily="34" charset="0"/>
              <a:buChar char="•"/>
            </a:pPr>
            <a:r>
              <a:rPr lang="en-US" dirty="0"/>
              <a:t>Amazon EC2 enables you to run Windows and Linux virtual machines in the cloud.</a:t>
            </a:r>
          </a:p>
          <a:p>
            <a:pPr marL="171450" indent="-171450">
              <a:buFont typeface="Arial" panose="020B0604020202020204" pitchFamily="34" charset="0"/>
              <a:buChar char="•"/>
            </a:pPr>
            <a:r>
              <a:rPr lang="en-US" dirty="0"/>
              <a:t>You launch EC2 instances from an AMI template into a VPC in your account.</a:t>
            </a:r>
          </a:p>
          <a:p>
            <a:pPr marL="171450" indent="-171450">
              <a:buFont typeface="Arial" panose="020B0604020202020204" pitchFamily="34" charset="0"/>
              <a:buChar char="•"/>
            </a:pPr>
            <a:r>
              <a:rPr lang="en-US" dirty="0"/>
              <a:t>You can choose from many instance types. Each instance type offers different combinations of CPU, RAM, storage, and networking capabilities.</a:t>
            </a:r>
          </a:p>
          <a:p>
            <a:pPr marL="171450" indent="-171450">
              <a:buFont typeface="Arial" panose="020B0604020202020204" pitchFamily="34" charset="0"/>
              <a:buChar char="•"/>
            </a:pPr>
            <a:r>
              <a:rPr lang="en-US" dirty="0"/>
              <a:t>You can configure security groups to control access to instances (specify allowed ports and source).</a:t>
            </a:r>
          </a:p>
          <a:p>
            <a:pPr marL="171450" indent="-171450">
              <a:buFont typeface="Arial" panose="020B0604020202020204" pitchFamily="34" charset="0"/>
              <a:buChar char="•"/>
            </a:pPr>
            <a:r>
              <a:rPr lang="en-US" dirty="0"/>
              <a:t>User data enables you to specify a script to run the first time that an instance launches. </a:t>
            </a:r>
          </a:p>
          <a:p>
            <a:pPr marL="171450" indent="-171450">
              <a:buFont typeface="Arial" panose="020B0604020202020204" pitchFamily="34" charset="0"/>
              <a:buChar char="•"/>
            </a:pPr>
            <a:r>
              <a:rPr lang="en-US" dirty="0"/>
              <a:t>Only instances that are backed by Amazon EBS can be stopped. </a:t>
            </a:r>
          </a:p>
          <a:p>
            <a:pPr marL="171450" indent="-171450">
              <a:buFont typeface="Arial" panose="020B0604020202020204" pitchFamily="34" charset="0"/>
              <a:buChar char="•"/>
            </a:pPr>
            <a:r>
              <a:rPr lang="en-US" dirty="0"/>
              <a:t>You can use Amazon CloudWatch to capture and review metrics on EC2 instances.</a:t>
            </a:r>
          </a:p>
        </p:txBody>
      </p:sp>
      <p:sp>
        <p:nvSpPr>
          <p:cNvPr id="5" name="Slide Image Placeholder 4">
            <a:extLst>
              <a:ext uri="{FF2B5EF4-FFF2-40B4-BE49-F238E27FC236}">
                <a16:creationId xmlns:a16="http://schemas.microsoft.com/office/drawing/2014/main" id="{9ADEB492-7FF3-E336-03EF-14494159D0D6}"/>
              </a:ext>
            </a:extLst>
          </p:cNvPr>
          <p:cNvSpPr>
            <a:spLocks noGrp="1" noRot="1" noChangeAspect="1"/>
          </p:cNvSpPr>
          <p:nvPr>
            <p:ph type="sldImg"/>
          </p:nvPr>
        </p:nvSpPr>
        <p:spPr/>
      </p:sp>
    </p:spTree>
    <p:extLst>
      <p:ext uri="{BB962C8B-B14F-4D97-AF65-F5344CB8AC3E}">
        <p14:creationId xmlns:p14="http://schemas.microsoft.com/office/powerpoint/2010/main" val="19340317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Introducing Section 3: Amazon EC2 cost optimization.</a:t>
            </a:r>
          </a:p>
          <a:p>
            <a:endParaRPr lang="en-US" dirty="0"/>
          </a:p>
        </p:txBody>
      </p:sp>
      <p:sp>
        <p:nvSpPr>
          <p:cNvPr id="5" name="Slide Image Placeholder 4">
            <a:extLst>
              <a:ext uri="{FF2B5EF4-FFF2-40B4-BE49-F238E27FC236}">
                <a16:creationId xmlns:a16="http://schemas.microsoft.com/office/drawing/2014/main" id="{F00736CB-892C-2EC9-E1DD-313CD2AE2F8A}"/>
              </a:ext>
            </a:extLst>
          </p:cNvPr>
          <p:cNvSpPr>
            <a:spLocks noGrp="1" noRot="1" noChangeAspect="1"/>
          </p:cNvSpPr>
          <p:nvPr>
            <p:ph type="sldImg"/>
          </p:nvPr>
        </p:nvSpPr>
        <p:spPr/>
      </p:sp>
    </p:spTree>
    <p:extLst>
      <p:ext uri="{BB962C8B-B14F-4D97-AF65-F5344CB8AC3E}">
        <p14:creationId xmlns:p14="http://schemas.microsoft.com/office/powerpoint/2010/main" val="21117793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303712"/>
          </a:xfrm>
        </p:spPr>
        <p:txBody>
          <a:bodyPr/>
          <a:lstStyle/>
          <a:p>
            <a:r>
              <a:rPr lang="en-US" dirty="0"/>
              <a:t>Amazon offers different pricing models to choose from when you want to run EC2 instances. </a:t>
            </a:r>
          </a:p>
          <a:p>
            <a:pPr marL="171450" indent="-171450">
              <a:buFont typeface="Arial" panose="020B0604020202020204" pitchFamily="34" charset="0"/>
              <a:buChar char="•"/>
            </a:pPr>
            <a:r>
              <a:rPr lang="en-US" b="1" dirty="0"/>
              <a:t>Per second billing </a:t>
            </a:r>
            <a:r>
              <a:rPr lang="en-US" dirty="0"/>
              <a:t>is only available for On-Demand Instances, Reserved Instances, and Spot Instances that run Amazon Linux or Ubuntu.</a:t>
            </a:r>
          </a:p>
          <a:p>
            <a:pPr marL="171450" indent="-171450">
              <a:buFont typeface="Arial" panose="020B0604020202020204" pitchFamily="34" charset="0"/>
              <a:buChar char="•"/>
            </a:pPr>
            <a:r>
              <a:rPr lang="en-US" b="1" dirty="0"/>
              <a:t>On-Demand</a:t>
            </a:r>
            <a:r>
              <a:rPr lang="en-US" dirty="0"/>
              <a:t> Instances are eligible for the AWS Free Tier (</a:t>
            </a:r>
            <a:r>
              <a:rPr lang="en-GB" dirty="0">
                <a:hlinkClick r:id="rId3"/>
              </a:rPr>
              <a:t>https://aws.amazon.com/free/</a:t>
            </a:r>
            <a:r>
              <a:rPr lang="en-GB" dirty="0"/>
              <a:t>)</a:t>
            </a:r>
            <a:r>
              <a:rPr lang="en-US" dirty="0"/>
              <a:t>. They have the lowest upfront cost and the most flexibility. There are no upfront commitments or long-term contracts. It is a good choice for applications with short-term, spiky, or unpredictable workloads. </a:t>
            </a:r>
          </a:p>
          <a:p>
            <a:pPr marL="171450" lvl="0" indent="-171450">
              <a:buFont typeface="Arial" panose="020B0604020202020204" pitchFamily="34" charset="0"/>
              <a:buChar char="•"/>
            </a:pPr>
            <a:r>
              <a:rPr lang="en-US" b="1" dirty="0"/>
              <a:t>Dedicated Hosts </a:t>
            </a:r>
            <a:r>
              <a:rPr lang="en-US" dirty="0"/>
              <a:t>are physical servers with instance capacity that is dedicated to your use. They enable you to use your existing per-socket, per-core, or per-VM software licenses, such as for Microsoft Windows or Microsoft SQL Server. </a:t>
            </a:r>
          </a:p>
          <a:p>
            <a:pPr marL="171450" indent="-171450">
              <a:buFont typeface="Arial" panose="020B0604020202020204" pitchFamily="34" charset="0"/>
              <a:buChar char="•"/>
            </a:pPr>
            <a:r>
              <a:rPr lang="en-US" b="1" dirty="0"/>
              <a:t>Dedicated Instances </a:t>
            </a:r>
            <a:r>
              <a:rPr lang="en-US" dirty="0"/>
              <a:t>are instances that run in a virtual private cloud (VPC) on hardware that’s dedicated to a single customer. They are physically isolated at the host hardware level from instances that belong to other AWS accounts. </a:t>
            </a:r>
          </a:p>
          <a:p>
            <a:pPr marL="171450" indent="-171450">
              <a:buFont typeface="Arial" panose="020B0604020202020204" pitchFamily="34" charset="0"/>
              <a:buChar char="•"/>
            </a:pPr>
            <a:r>
              <a:rPr lang="en-US" b="1" dirty="0"/>
              <a:t>Reserved Instance </a:t>
            </a:r>
            <a:r>
              <a:rPr lang="en-US" dirty="0"/>
              <a:t>enable you to reserve computing capacity for 1-year or 3-year term with lower hourly running costs. The discounted usage price is fixed for as long as you own the Reserved Instance. If you expect consistent, heavy use, they can provide substantial savings compared to On-Demand Instances.</a:t>
            </a:r>
          </a:p>
          <a:p>
            <a:pPr marL="171450" indent="-171450">
              <a:buFont typeface="Arial" panose="020B0604020202020204" pitchFamily="34" charset="0"/>
              <a:buChar char="•"/>
            </a:pPr>
            <a:r>
              <a:rPr lang="en-US" b="1" dirty="0"/>
              <a:t>Scheduled Reserved Instances </a:t>
            </a:r>
            <a:r>
              <a:rPr lang="en-US" dirty="0"/>
              <a:t>enable you to purchase capacity reservations that recur on a daily, weekly, or monthly basis, with a specified duration, for a 1-year term. You pay for the time that the instances are scheduled, even if you do not use them. </a:t>
            </a:r>
          </a:p>
          <a:p>
            <a:pPr marL="171450" indent="-171450">
              <a:buFont typeface="Arial" panose="020B0604020202020204" pitchFamily="34" charset="0"/>
              <a:buChar char="•"/>
            </a:pPr>
            <a:r>
              <a:rPr lang="en-US" b="1" dirty="0"/>
              <a:t>Spot Instances </a:t>
            </a:r>
            <a:r>
              <a:rPr lang="en-US" dirty="0"/>
              <a:t>enable you to bid on unused EC2 instances, which can lower your costs. The hourly price for a Spot Instance fluctuates depending on supply and demand. Your Spot Instance runs whenever your bid exceeds the current market price.</a:t>
            </a:r>
          </a:p>
          <a:p>
            <a:endParaRPr lang="en-US" dirty="0"/>
          </a:p>
          <a:p>
            <a:endParaRPr lang="en-US" dirty="0"/>
          </a:p>
        </p:txBody>
      </p:sp>
      <p:sp>
        <p:nvSpPr>
          <p:cNvPr id="5" name="Slide Image Placeholder 4">
            <a:extLst>
              <a:ext uri="{FF2B5EF4-FFF2-40B4-BE49-F238E27FC236}">
                <a16:creationId xmlns:a16="http://schemas.microsoft.com/office/drawing/2014/main" id="{E8B3ED0E-0F57-78DD-A1D9-0BFB36C4C5D9}"/>
              </a:ext>
            </a:extLst>
          </p:cNvPr>
          <p:cNvSpPr>
            <a:spLocks noGrp="1" noRot="1" noChangeAspect="1"/>
          </p:cNvSpPr>
          <p:nvPr>
            <p:ph type="sldImg"/>
          </p:nvPr>
        </p:nvSpPr>
        <p:spPr/>
      </p:sp>
    </p:spTree>
    <p:extLst>
      <p:ext uri="{BB962C8B-B14F-4D97-AF65-F5344CB8AC3E}">
        <p14:creationId xmlns:p14="http://schemas.microsoft.com/office/powerpoint/2010/main" val="24767184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Each Amazon EC2 pricing model provides a different set of benefits. </a:t>
            </a:r>
          </a:p>
          <a:p>
            <a:pPr lvl="0"/>
            <a:endParaRPr lang="en-US" dirty="0"/>
          </a:p>
          <a:p>
            <a:pPr lvl="0"/>
            <a:r>
              <a:rPr lang="en-US" b="1" dirty="0"/>
              <a:t>On-Demand Instances </a:t>
            </a:r>
            <a:r>
              <a:rPr lang="en-US" dirty="0"/>
              <a:t>offer the most flexibility, with no long-term contract and low rates. </a:t>
            </a:r>
          </a:p>
          <a:p>
            <a:pPr lvl="0"/>
            <a:endParaRPr lang="en-US" dirty="0"/>
          </a:p>
          <a:p>
            <a:pPr lvl="0"/>
            <a:r>
              <a:rPr lang="en-US" b="1" dirty="0"/>
              <a:t>Spot Instances </a:t>
            </a:r>
            <a:r>
              <a:rPr lang="en-US" dirty="0"/>
              <a:t>provide large scale at a significantly discounted price. </a:t>
            </a:r>
          </a:p>
          <a:p>
            <a:pPr lvl="0"/>
            <a:endParaRPr lang="en-US" dirty="0"/>
          </a:p>
          <a:p>
            <a:pPr lvl="0"/>
            <a:r>
              <a:rPr lang="en-US" b="1" dirty="0"/>
              <a:t>Reserved Instances </a:t>
            </a:r>
            <a:r>
              <a:rPr lang="en-US" dirty="0"/>
              <a:t>are a good choice if you have predictable or steady-state compute needs (for example, an instance that you know you want to keep running most or all of the time for months or years).</a:t>
            </a:r>
          </a:p>
          <a:p>
            <a:pPr lvl="0"/>
            <a:endParaRPr lang="en-US" dirty="0"/>
          </a:p>
          <a:p>
            <a:pPr lvl="0"/>
            <a:r>
              <a:rPr lang="en-US" b="1" dirty="0"/>
              <a:t>Dedicated Hosts </a:t>
            </a:r>
            <a:r>
              <a:rPr lang="en-US" dirty="0"/>
              <a:t>are a good choice when you have licensing restrictions for the software you want to run on Amazon EC2, or when you have specific compliance or regulatory requirements that preclude you from using the other deployment options.</a:t>
            </a:r>
            <a:endParaRPr lang="en-US" altLang="en-US" dirty="0"/>
          </a:p>
          <a:p>
            <a:r>
              <a:rPr lang="en-US" dirty="0"/>
              <a:t> </a:t>
            </a:r>
          </a:p>
        </p:txBody>
      </p:sp>
      <p:sp>
        <p:nvSpPr>
          <p:cNvPr id="5" name="Slide Image Placeholder 4">
            <a:extLst>
              <a:ext uri="{FF2B5EF4-FFF2-40B4-BE49-F238E27FC236}">
                <a16:creationId xmlns:a16="http://schemas.microsoft.com/office/drawing/2014/main" id="{E37F5D6E-2F7D-D6F1-94B9-7CC84E85D621}"/>
              </a:ext>
            </a:extLst>
          </p:cNvPr>
          <p:cNvSpPr>
            <a:spLocks noGrp="1" noRot="1" noChangeAspect="1"/>
          </p:cNvSpPr>
          <p:nvPr>
            <p:ph type="sldImg"/>
          </p:nvPr>
        </p:nvSpPr>
        <p:spPr/>
      </p:sp>
    </p:spTree>
    <p:extLst>
      <p:ext uri="{BB962C8B-B14F-4D97-AF65-F5344CB8AC3E}">
        <p14:creationId xmlns:p14="http://schemas.microsoft.com/office/powerpoint/2010/main" val="9489573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Here is a review of some use cases for the various pricing options. </a:t>
            </a:r>
          </a:p>
          <a:p>
            <a:endParaRPr lang="en-US" dirty="0"/>
          </a:p>
          <a:p>
            <a:r>
              <a:rPr lang="en-US" b="1" dirty="0"/>
              <a:t>On-Demand Instance </a:t>
            </a:r>
            <a:r>
              <a:rPr lang="en-US" dirty="0"/>
              <a:t>pricing works well for spiky workloads or if you only need to test or run an application for a short time (for example, during application development or testing). Sometimes, your workloads are unpredictable, and On-Demand Instances are a good choice for these cases.</a:t>
            </a:r>
          </a:p>
          <a:p>
            <a:endParaRPr lang="en-US" dirty="0"/>
          </a:p>
          <a:p>
            <a:r>
              <a:rPr lang="en-US" b="1" dirty="0"/>
              <a:t>Spot Instances </a:t>
            </a:r>
            <a:r>
              <a:rPr lang="en-US" dirty="0"/>
              <a:t>are a good choice if your applications can tolerate interruption with a 2-minute warning notification. By default, instances are terminated, but you can configure them to stop or hibernate instead. Common use cases include fault-tolerant applications such as web servers, API backends, and big data processing. Workloads that constantly save data to persistent storage (such as Amazon S3) are also good candidates.</a:t>
            </a:r>
          </a:p>
          <a:p>
            <a:endParaRPr lang="en-US" dirty="0"/>
          </a:p>
          <a:p>
            <a:r>
              <a:rPr lang="en-US" b="1" dirty="0"/>
              <a:t>Reserved Instances </a:t>
            </a:r>
            <a:r>
              <a:rPr lang="en-US" dirty="0"/>
              <a:t>are a good choice when you have long-term workloads with predictable usage patterns, such as servers that you know you will want to run in a consistent way over many months.</a:t>
            </a:r>
          </a:p>
          <a:p>
            <a:endParaRPr lang="en-US" dirty="0"/>
          </a:p>
          <a:p>
            <a:r>
              <a:rPr lang="en-US" b="1" dirty="0"/>
              <a:t>Dedicated Hosts </a:t>
            </a:r>
            <a:r>
              <a:rPr lang="en-US" dirty="0"/>
              <a:t>are a good choice when you have existing per-socket, per-core, or per-VM software licenses, or when you must address specific corporate compliance and regulatory requirements. </a:t>
            </a:r>
          </a:p>
        </p:txBody>
      </p:sp>
      <p:sp>
        <p:nvSpPr>
          <p:cNvPr id="5" name="Slide Image Placeholder 4">
            <a:extLst>
              <a:ext uri="{FF2B5EF4-FFF2-40B4-BE49-F238E27FC236}">
                <a16:creationId xmlns:a16="http://schemas.microsoft.com/office/drawing/2014/main" id="{5CE6035F-2A1A-FCC0-B5FA-09262E89525B}"/>
              </a:ext>
            </a:extLst>
          </p:cNvPr>
          <p:cNvSpPr>
            <a:spLocks noGrp="1" noRot="1" noChangeAspect="1"/>
          </p:cNvSpPr>
          <p:nvPr>
            <p:ph type="sldImg"/>
          </p:nvPr>
        </p:nvSpPr>
        <p:spPr/>
      </p:sp>
    </p:spTree>
    <p:extLst>
      <p:ext uri="{BB962C8B-B14F-4D97-AF65-F5344CB8AC3E}">
        <p14:creationId xmlns:p14="http://schemas.microsoft.com/office/powerpoint/2010/main" val="32848661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To optimize costs, you must consider four consistent, powerful drivers: </a:t>
            </a:r>
          </a:p>
          <a:p>
            <a:pPr marL="171450" lvl="0" indent="-171450">
              <a:buFont typeface="Arial" panose="020B0604020202020204" pitchFamily="34" charset="0"/>
              <a:buChar char="•"/>
            </a:pPr>
            <a:r>
              <a:rPr lang="en-US" b="1" dirty="0"/>
              <a:t>Right-size </a:t>
            </a:r>
            <a:r>
              <a:rPr lang="en-US" dirty="0"/>
              <a:t>– Choose the right balance of instance types. Notice when servers can be either sized down or turned off, and still meet your performance requirements.</a:t>
            </a:r>
          </a:p>
          <a:p>
            <a:pPr marL="171450" lvl="0" indent="-171450">
              <a:buFont typeface="Arial" panose="020B0604020202020204" pitchFamily="34" charset="0"/>
              <a:buChar char="•"/>
            </a:pPr>
            <a:r>
              <a:rPr lang="en-US" b="1" dirty="0"/>
              <a:t>Increase elasticity </a:t>
            </a:r>
            <a:r>
              <a:rPr lang="en-US" dirty="0"/>
              <a:t>– Design your deployments to reduce the amount of server capacity that is idle by implementing deployments that are elastic, such as deployments that use automatic scaling to handle peak loads.</a:t>
            </a:r>
          </a:p>
          <a:p>
            <a:pPr marL="171450" lvl="0" indent="-171450">
              <a:buFont typeface="Arial" panose="020B0604020202020204" pitchFamily="34" charset="0"/>
              <a:buChar char="•"/>
            </a:pPr>
            <a:r>
              <a:rPr lang="en-US" b="1" dirty="0"/>
              <a:t>Optimal pricing model </a:t>
            </a:r>
            <a:r>
              <a:rPr lang="en-US" dirty="0"/>
              <a:t>– Recognize the available pricing options. Analyze your usage patterns so that you can run EC2 instances with the right mix of pricing options.</a:t>
            </a:r>
          </a:p>
          <a:p>
            <a:pPr marL="171450" lvl="0" indent="-171450">
              <a:buFont typeface="Arial" panose="020B0604020202020204" pitchFamily="34" charset="0"/>
              <a:buChar char="•"/>
            </a:pPr>
            <a:r>
              <a:rPr lang="en-US" b="1" dirty="0"/>
              <a:t>Optimize storage choices </a:t>
            </a:r>
            <a:r>
              <a:rPr lang="en-US" dirty="0"/>
              <a:t>– Analyze the storage requirements of your deployments. Reduce unused storage overhead when possible, and choose less expensive storage options if they can still meet your requirements for storage performance.</a:t>
            </a:r>
          </a:p>
          <a:p>
            <a:pPr lvl="0"/>
            <a:endParaRPr lang="en-US" dirty="0"/>
          </a:p>
          <a:p>
            <a:pPr lvl="0"/>
            <a:endParaRPr lang="en-US" dirty="0"/>
          </a:p>
          <a:p>
            <a:pPr lvl="0"/>
            <a:endParaRPr lang="en-US" dirty="0"/>
          </a:p>
          <a:p>
            <a:pPr lvl="0"/>
            <a:endParaRPr lang="en-US" dirty="0"/>
          </a:p>
        </p:txBody>
      </p:sp>
      <p:sp>
        <p:nvSpPr>
          <p:cNvPr id="5" name="Slide Image Placeholder 4">
            <a:extLst>
              <a:ext uri="{FF2B5EF4-FFF2-40B4-BE49-F238E27FC236}">
                <a16:creationId xmlns:a16="http://schemas.microsoft.com/office/drawing/2014/main" id="{0478FCFC-6152-3E94-E26A-8C1099BD7DFC}"/>
              </a:ext>
            </a:extLst>
          </p:cNvPr>
          <p:cNvSpPr>
            <a:spLocks noGrp="1" noRot="1" noChangeAspect="1"/>
          </p:cNvSpPr>
          <p:nvPr>
            <p:ph type="sldImg"/>
          </p:nvPr>
        </p:nvSpPr>
        <p:spPr/>
      </p:sp>
    </p:spTree>
    <p:extLst>
      <p:ext uri="{BB962C8B-B14F-4D97-AF65-F5344CB8AC3E}">
        <p14:creationId xmlns:p14="http://schemas.microsoft.com/office/powerpoint/2010/main" val="2638455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First, consider right-sizing. AWS offers approximately 60 instance types and sizes. The wide choice of options enables customers to select the instance that best fits their workload. It can be difficult to know where to start and what instance choice will prove to be the best, from both a technical perspective and a cost perspective. Right-sizing is the process of reviewing deployed resources and looking for opportunities to downsize when possible. </a:t>
            </a:r>
          </a:p>
          <a:p>
            <a:pPr lvl="0"/>
            <a:endParaRPr lang="en-US" dirty="0"/>
          </a:p>
          <a:p>
            <a:pPr lvl="0"/>
            <a:r>
              <a:rPr lang="en-US" b="1" dirty="0"/>
              <a:t>To right-size:</a:t>
            </a:r>
            <a:endParaRPr lang="en-US" dirty="0"/>
          </a:p>
          <a:p>
            <a:pPr marL="171450" lvl="0" indent="-171450">
              <a:buFont typeface="Arial" panose="020B0604020202020204" pitchFamily="34" charset="0"/>
              <a:buChar char="•"/>
            </a:pPr>
            <a:r>
              <a:rPr lang="en-US" b="1" dirty="0"/>
              <a:t>Select</a:t>
            </a:r>
            <a:r>
              <a:rPr lang="en-US" dirty="0"/>
              <a:t> the cheapest instance available that still meets your performance requirements. </a:t>
            </a:r>
          </a:p>
          <a:p>
            <a:pPr marL="171450" lvl="0" indent="-171450">
              <a:buFont typeface="Arial" panose="020B0604020202020204" pitchFamily="34" charset="0"/>
              <a:buChar char="•"/>
            </a:pPr>
            <a:r>
              <a:rPr lang="en-US" b="1" dirty="0"/>
              <a:t>Review</a:t>
            </a:r>
            <a:r>
              <a:rPr lang="en-US" dirty="0"/>
              <a:t> CPU, RAM, storage, and network utilization to identify instances that could be downsized. You might want to provision a variety of instance types and sizes in a test environment, and then test your application on those different test deployments to identify which instances offer the best performance-to-cost ratio. For right-sizing, use techniques such as load testing to your advantage.</a:t>
            </a:r>
          </a:p>
          <a:p>
            <a:pPr marL="171450" lvl="0" indent="-171450">
              <a:buFont typeface="Arial" panose="020B0604020202020204" pitchFamily="34" charset="0"/>
              <a:buChar char="•"/>
            </a:pPr>
            <a:r>
              <a:rPr lang="en-US" b="1" dirty="0"/>
              <a:t>Use</a:t>
            </a:r>
            <a:r>
              <a:rPr lang="en-US" dirty="0"/>
              <a:t> Amazon CloudWatch metrics and set up custom metrics. A metric represents a time-ordered set of values that are published to CloudWatch (for example, the CPU usage of a particular EC2 instance). Data points can come from any application or business activity for which you collect data. </a:t>
            </a:r>
          </a:p>
          <a:p>
            <a:endParaRPr lang="en-US" dirty="0"/>
          </a:p>
        </p:txBody>
      </p:sp>
      <p:sp>
        <p:nvSpPr>
          <p:cNvPr id="5" name="Slide Image Placeholder 4">
            <a:extLst>
              <a:ext uri="{FF2B5EF4-FFF2-40B4-BE49-F238E27FC236}">
                <a16:creationId xmlns:a16="http://schemas.microsoft.com/office/drawing/2014/main" id="{066212BB-B664-C1B6-33FF-399F91A6A050}"/>
              </a:ext>
            </a:extLst>
          </p:cNvPr>
          <p:cNvSpPr>
            <a:spLocks noGrp="1" noRot="1" noChangeAspect="1"/>
          </p:cNvSpPr>
          <p:nvPr>
            <p:ph type="sldImg"/>
          </p:nvPr>
        </p:nvSpPr>
        <p:spPr/>
      </p:sp>
    </p:spTree>
    <p:extLst>
      <p:ext uri="{BB962C8B-B14F-4D97-AF65-F5344CB8AC3E}">
        <p14:creationId xmlns:p14="http://schemas.microsoft.com/office/powerpoint/2010/main" val="3834866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One form of </a:t>
            </a:r>
            <a:r>
              <a:rPr lang="en-US" b="1" dirty="0"/>
              <a:t>elasticity</a:t>
            </a:r>
            <a:r>
              <a:rPr lang="en-US" dirty="0"/>
              <a:t> is to create, start, or use EC2 instances when they are needed, but then to turn them off when they are not in use. Elasticity is one of the central tenets of the cloud, but customers often go through a learning process to operationalize elasticity to drive cost savings. </a:t>
            </a:r>
          </a:p>
          <a:p>
            <a:r>
              <a:rPr lang="en-US" dirty="0"/>
              <a:t> </a:t>
            </a:r>
          </a:p>
          <a:p>
            <a:pPr lvl="0"/>
            <a:r>
              <a:rPr lang="en-US" dirty="0"/>
              <a:t>The easiest way for large customers to embrace elasticity is to look for resources that look like good candidates for stopping or hibernating, such as non-production environments, development workloads, or test workloads. For example, if you run development or test workloads in a single time zone, you can easily turn off those instances outside of business hours and thus reduce runtime costs by perhaps 65 percent. The concept is similar to why there is a light switch next to the door, and why most offices encourage employees </a:t>
            </a:r>
            <a:r>
              <a:rPr lang="en-US" i="1" dirty="0"/>
              <a:t>to turn off the lights on their way out of the office each night. </a:t>
            </a:r>
          </a:p>
          <a:p>
            <a:pPr lvl="0"/>
            <a:endParaRPr lang="en-US" dirty="0"/>
          </a:p>
          <a:p>
            <a:pPr lvl="0"/>
            <a:r>
              <a:rPr lang="en-US" dirty="0"/>
              <a:t>For production workloads, configuring more precise and granular automatic scaling policies can help you take advantage of horizontal scaling to meet peak capacity needs and to not pay for peak capacity all the time. </a:t>
            </a:r>
          </a:p>
          <a:p>
            <a:r>
              <a:rPr lang="en-US" dirty="0"/>
              <a:t> </a:t>
            </a:r>
          </a:p>
          <a:p>
            <a:r>
              <a:rPr lang="en-US" dirty="0"/>
              <a:t>As a rule of thumb, you should target 20–30 percent of your Amazon EC2 instances to run as On-Demand Instances or Spot Instances, and you should also actively look for ways to maximize elasticity.</a:t>
            </a:r>
          </a:p>
          <a:p>
            <a:pPr lvl="0"/>
            <a:endParaRPr lang="en-US" dirty="0"/>
          </a:p>
        </p:txBody>
      </p:sp>
      <p:sp>
        <p:nvSpPr>
          <p:cNvPr id="5" name="Slide Image Placeholder 4">
            <a:extLst>
              <a:ext uri="{FF2B5EF4-FFF2-40B4-BE49-F238E27FC236}">
                <a16:creationId xmlns:a16="http://schemas.microsoft.com/office/drawing/2014/main" id="{F4F0A7CD-3A9A-277F-4C5E-CDF6817FF852}"/>
              </a:ext>
            </a:extLst>
          </p:cNvPr>
          <p:cNvSpPr>
            <a:spLocks noGrp="1" noRot="1" noChangeAspect="1"/>
          </p:cNvSpPr>
          <p:nvPr>
            <p:ph type="sldImg"/>
          </p:nvPr>
        </p:nvSpPr>
        <p:spPr/>
      </p:sp>
    </p:spTree>
    <p:extLst>
      <p:ext uri="{BB962C8B-B14F-4D97-AF65-F5344CB8AC3E}">
        <p14:creationId xmlns:p14="http://schemas.microsoft.com/office/powerpoint/2010/main" val="29194575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ltLang="en-US" dirty="0"/>
              <a:t>AWS provides a number of pricing models for Amazon EC2 to help customers save money. The models available were discussed in detail earlier in this module. Customers can combine multiple purchase types to optimize pricing based on their current and forecast capacity needs. </a:t>
            </a:r>
          </a:p>
          <a:p>
            <a:pPr lvl="0"/>
            <a:endParaRPr lang="en-US" altLang="en-US" dirty="0"/>
          </a:p>
          <a:p>
            <a:pPr lvl="0"/>
            <a:r>
              <a:rPr lang="en-US" altLang="en-US" dirty="0"/>
              <a:t>Customers are also encouraged to consider their application architecture. For example, does the functionality provided by your application need to run on an EC2 virtual machine? Perhaps by making use of the AWS Lambda service instead, you could significantly decrease your costs. </a:t>
            </a:r>
          </a:p>
          <a:p>
            <a:pPr lvl="0"/>
            <a:endParaRPr lang="en-US" altLang="en-US" dirty="0"/>
          </a:p>
          <a:p>
            <a:pPr lvl="0"/>
            <a:r>
              <a:rPr lang="en-US" altLang="en-US" dirty="0"/>
              <a:t>AWS Lambda is discussed later in this module.</a:t>
            </a:r>
          </a:p>
          <a:p>
            <a:pPr lvl="0"/>
            <a:endParaRPr lang="en-US" dirty="0"/>
          </a:p>
          <a:p>
            <a:endParaRPr lang="en-US" dirty="0"/>
          </a:p>
          <a:p>
            <a:endParaRPr lang="en-US" altLang="en-US" dirty="0"/>
          </a:p>
          <a:p>
            <a:endParaRPr lang="en-US" altLang="en-US" dirty="0"/>
          </a:p>
          <a:p>
            <a:pPr lvl="0"/>
            <a:endParaRPr lang="en-US" dirty="0"/>
          </a:p>
          <a:p>
            <a:pPr lvl="0"/>
            <a:endParaRPr lang="en-US" dirty="0"/>
          </a:p>
        </p:txBody>
      </p:sp>
      <p:sp>
        <p:nvSpPr>
          <p:cNvPr id="5" name="Slide Image Placeholder 4">
            <a:extLst>
              <a:ext uri="{FF2B5EF4-FFF2-40B4-BE49-F238E27FC236}">
                <a16:creationId xmlns:a16="http://schemas.microsoft.com/office/drawing/2014/main" id="{523D3504-1804-4703-8A26-625FDE4E093A}"/>
              </a:ext>
            </a:extLst>
          </p:cNvPr>
          <p:cNvSpPr>
            <a:spLocks noGrp="1" noRot="1" noChangeAspect="1"/>
          </p:cNvSpPr>
          <p:nvPr>
            <p:ph type="sldImg"/>
          </p:nvPr>
        </p:nvSpPr>
        <p:spPr/>
      </p:sp>
    </p:spTree>
    <p:extLst>
      <p:ext uri="{BB962C8B-B14F-4D97-AF65-F5344CB8AC3E}">
        <p14:creationId xmlns:p14="http://schemas.microsoft.com/office/powerpoint/2010/main" val="24622831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Customers can also reduce storage costs. When you launch EC2 instances, different instance types offer different storage options. It is a best practice to try to reduce costs while also maintaining storage performance and availability. </a:t>
            </a:r>
          </a:p>
          <a:p>
            <a:pPr lvl="0"/>
            <a:endParaRPr lang="en-US" dirty="0"/>
          </a:p>
          <a:p>
            <a:pPr lvl="0"/>
            <a:r>
              <a:rPr lang="en-US" dirty="0"/>
              <a:t>One way you can accomplish this is by </a:t>
            </a:r>
            <a:r>
              <a:rPr lang="en-US" b="1" dirty="0"/>
              <a:t>resizing EBS volumes</a:t>
            </a:r>
            <a:r>
              <a:rPr lang="en-US" dirty="0"/>
              <a:t>. For example, if you originally provisioned a 500-GB volume for an EC2 instance that will only need a maximum of 20 GB of storage space, you can reduce the size of the volume and save on costs.</a:t>
            </a:r>
          </a:p>
          <a:p>
            <a:pPr lvl="0"/>
            <a:endParaRPr lang="en-US" dirty="0"/>
          </a:p>
          <a:p>
            <a:pPr lvl="0"/>
            <a:r>
              <a:rPr lang="en-US" dirty="0"/>
              <a:t>There are also a variety of </a:t>
            </a:r>
            <a:r>
              <a:rPr lang="en-US" b="1" dirty="0"/>
              <a:t>EBS volume types</a:t>
            </a:r>
            <a:r>
              <a:rPr lang="en-US" dirty="0"/>
              <a:t>. Choose the least expensive type that still meets your performance requirements. For example, Amazon EBS Throughput Optimized HDD (st1) storage typically costs half as much as the default General Purpose SSD (gp2) storage option. If an st1 drive will meet the needs of your workload, take advantage of the cost savings.</a:t>
            </a:r>
          </a:p>
          <a:p>
            <a:pPr lvl="0"/>
            <a:endParaRPr lang="en-US" dirty="0"/>
          </a:p>
          <a:p>
            <a:pPr lvl="0"/>
            <a:r>
              <a:rPr lang="en-US" dirty="0"/>
              <a:t>Customers often use </a:t>
            </a:r>
            <a:r>
              <a:rPr lang="en-US" b="1" dirty="0"/>
              <a:t>EBS snapshots </a:t>
            </a:r>
            <a:r>
              <a:rPr lang="en-US" dirty="0"/>
              <a:t>to create data backups. However, some customers forget to delete snapshots that are no longer needed. Delete these unneeded snapshots to save on costs.</a:t>
            </a:r>
          </a:p>
          <a:p>
            <a:pPr lvl="0"/>
            <a:endParaRPr lang="en-US" dirty="0"/>
          </a:p>
          <a:p>
            <a:pPr lvl="0"/>
            <a:r>
              <a:rPr lang="en-US" dirty="0"/>
              <a:t>Finally, try to identify the most </a:t>
            </a:r>
            <a:r>
              <a:rPr lang="en-US" b="1" dirty="0"/>
              <a:t>appropriate destination for specific types of data</a:t>
            </a:r>
            <a:r>
              <a:rPr lang="en-US" dirty="0"/>
              <a:t>. Does your application need the data it uses to reside on Amazon EBS? Would the application run equally as well if it used Amazon S3 for storage instead? Configuring data lifecycle policies can also reduce costs. For example, you might automate the migration of older infrequently accessed data to cheaper storage locations, such as Amazon Simple Storage Service Glacier.</a:t>
            </a:r>
          </a:p>
          <a:p>
            <a:pPr lvl="0"/>
            <a:endParaRPr lang="en-US" dirty="0"/>
          </a:p>
          <a:p>
            <a:pPr lvl="0"/>
            <a:endParaRPr lang="en-US" dirty="0"/>
          </a:p>
          <a:p>
            <a:pPr lvl="0"/>
            <a:endParaRPr lang="en-US" dirty="0"/>
          </a:p>
        </p:txBody>
      </p:sp>
      <p:sp>
        <p:nvSpPr>
          <p:cNvPr id="5" name="Slide Image Placeholder 4">
            <a:extLst>
              <a:ext uri="{FF2B5EF4-FFF2-40B4-BE49-F238E27FC236}">
                <a16:creationId xmlns:a16="http://schemas.microsoft.com/office/drawing/2014/main" id="{B5EEAFC9-F921-145A-0F05-28A8D62FD9E0}"/>
              </a:ext>
            </a:extLst>
          </p:cNvPr>
          <p:cNvSpPr>
            <a:spLocks noGrp="1" noRot="1" noChangeAspect="1"/>
          </p:cNvSpPr>
          <p:nvPr>
            <p:ph type="sldImg"/>
          </p:nvPr>
        </p:nvSpPr>
        <p:spPr/>
      </p:sp>
    </p:spTree>
    <p:extLst>
      <p:ext uri="{BB962C8B-B14F-4D97-AF65-F5344CB8AC3E}">
        <p14:creationId xmlns:p14="http://schemas.microsoft.com/office/powerpoint/2010/main" val="21496941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If it is done correctly, cost optimization is not a one-time process that a customer completes. Instead, by routinely measuring and analyzing your systems, you can continually improve and adjust your costs.</a:t>
            </a:r>
          </a:p>
          <a:p>
            <a:endParaRPr lang="en-US" dirty="0"/>
          </a:p>
          <a:p>
            <a:r>
              <a:rPr lang="en-US" b="1" dirty="0"/>
              <a:t>Tagging</a:t>
            </a:r>
            <a:r>
              <a:rPr lang="en-US" dirty="0"/>
              <a:t> helps provide information about what resources are being used </a:t>
            </a:r>
            <a:r>
              <a:rPr lang="en-US" i="1" dirty="0"/>
              <a:t>by whom </a:t>
            </a:r>
            <a:r>
              <a:rPr lang="en-US" dirty="0"/>
              <a:t>and </a:t>
            </a:r>
            <a:r>
              <a:rPr lang="en-US" i="1" dirty="0"/>
              <a:t>for what purpose</a:t>
            </a:r>
            <a:r>
              <a:rPr lang="en-US" dirty="0"/>
              <a:t>. You can activate cost allocation tags in the Billing and Cost Management console, and AWS can generate a cost allocation report with usage and costs grouped by your active tags. Apply tags that represent business categories (such as cost centers, application names, or owners) to organize your costs across multiple services.</a:t>
            </a:r>
          </a:p>
          <a:p>
            <a:endParaRPr lang="en-US" dirty="0"/>
          </a:p>
          <a:p>
            <a:r>
              <a:rPr lang="en-US" b="1" dirty="0"/>
              <a:t>Encourage teams to architect for cost</a:t>
            </a:r>
            <a:r>
              <a:rPr lang="en-US" dirty="0"/>
              <a:t>. AWS Cost Explorer is a free tool that you can use to view graphs of your costs. You can use Cost Explorer to see patterns in how much you spend on AWS resources over time, identify areas that need further inquiry, and see trends that you can use to understand your costs.</a:t>
            </a:r>
          </a:p>
          <a:p>
            <a:pPr lvl="0"/>
            <a:endParaRPr lang="en-US" dirty="0"/>
          </a:p>
          <a:p>
            <a:pPr lvl="0"/>
            <a:r>
              <a:rPr lang="en-US" dirty="0"/>
              <a:t>Use AWS services such as </a:t>
            </a:r>
            <a:r>
              <a:rPr lang="en-US" b="1" dirty="0"/>
              <a:t>AWS Trusted Advisor</a:t>
            </a:r>
            <a:r>
              <a:rPr lang="en-US" dirty="0"/>
              <a:t>, which provides real-time guidance to help you provision resources that follow AWS best practices. </a:t>
            </a:r>
          </a:p>
          <a:p>
            <a:pPr lvl="0"/>
            <a:endParaRPr lang="en-US" dirty="0"/>
          </a:p>
          <a:p>
            <a:pPr lvl="0"/>
            <a:r>
              <a:rPr lang="en-US" dirty="0"/>
              <a:t>Cost-optimization efforts are typically more successful when the responsibility for cost optimization is assigned to an individual or to a team. </a:t>
            </a:r>
          </a:p>
        </p:txBody>
      </p:sp>
      <p:sp>
        <p:nvSpPr>
          <p:cNvPr id="5" name="Slide Image Placeholder 4">
            <a:extLst>
              <a:ext uri="{FF2B5EF4-FFF2-40B4-BE49-F238E27FC236}">
                <a16:creationId xmlns:a16="http://schemas.microsoft.com/office/drawing/2014/main" id="{E9FB1A09-AF38-68B8-9AA3-A484AEDC0594}"/>
              </a:ext>
            </a:extLst>
          </p:cNvPr>
          <p:cNvSpPr>
            <a:spLocks noGrp="1" noRot="1" noChangeAspect="1"/>
          </p:cNvSpPr>
          <p:nvPr>
            <p:ph type="sldImg"/>
          </p:nvPr>
        </p:nvSpPr>
        <p:spPr/>
      </p:sp>
    </p:spTree>
    <p:extLst>
      <p:ext uri="{BB962C8B-B14F-4D97-AF65-F5344CB8AC3E}">
        <p14:creationId xmlns:p14="http://schemas.microsoft.com/office/powerpoint/2010/main" val="265641860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mn-lt"/>
              </a:rPr>
              <a:t>Some key</a:t>
            </a:r>
            <a:r>
              <a:rPr lang="en-US" baseline="0" dirty="0">
                <a:latin typeface="+mn-lt"/>
              </a:rPr>
              <a:t> takeaways from this section of the module are:</a:t>
            </a:r>
          </a:p>
          <a:p>
            <a:pPr marL="171450" indent="-171450">
              <a:buFont typeface="Arial" panose="020B0604020202020204" pitchFamily="34" charset="0"/>
              <a:buChar char="•"/>
              <a:defRPr/>
            </a:pPr>
            <a:r>
              <a:rPr lang="en-US" b="1" dirty="0">
                <a:solidFill>
                  <a:srgbClr val="000000"/>
                </a:solidFill>
                <a:latin typeface="+mn-lt"/>
                <a:ea typeface="Amazon Ember" panose="02000000000000000000" pitchFamily="2" charset="0"/>
                <a:cs typeface="Amazon Ember Light" panose="020B0403020204020204" pitchFamily="34" charset="0"/>
              </a:rPr>
              <a:t>Amazon EC2 pricing models</a:t>
            </a:r>
            <a:r>
              <a:rPr lang="en-US" dirty="0">
                <a:solidFill>
                  <a:srgbClr val="000000"/>
                </a:solidFill>
                <a:latin typeface="+mn-lt"/>
                <a:ea typeface="Amazon Ember" panose="02000000000000000000" pitchFamily="2" charset="0"/>
                <a:cs typeface="Amazon Ember Light" panose="020B0403020204020204" pitchFamily="34" charset="0"/>
              </a:rPr>
              <a:t> include On-Demand Instances, Reserved Instances, Spot Instances, Dedicated Instances, and Dedicated Hosts</a:t>
            </a:r>
            <a:r>
              <a:rPr lang="en-US" dirty="0">
                <a:solidFill>
                  <a:srgbClr val="000000"/>
                </a:solidFill>
                <a:ea typeface="Amazon Ember" panose="02000000000000000000" pitchFamily="2" charset="0"/>
                <a:cs typeface="Amazon Ember Light" panose="020B0403020204020204" pitchFamily="34" charset="0"/>
              </a:rPr>
              <a:t>. </a:t>
            </a:r>
            <a:r>
              <a:rPr lang="en-US" dirty="0"/>
              <a:t>Per second billing is available for On-Demand Instances, Reserved Instances, and Spot Instances that use only Amazon Linux and Ubuntu. </a:t>
            </a:r>
            <a:endParaRPr lang="en-US" dirty="0">
              <a:solidFill>
                <a:srgbClr val="000000"/>
              </a:solidFill>
              <a:latin typeface="+mn-lt"/>
              <a:ea typeface="Amazon Ember" panose="02000000000000000000" pitchFamily="2" charset="0"/>
              <a:cs typeface="Amazon Ember Light" panose="020B0403020204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solidFill>
                  <a:srgbClr val="000000"/>
                </a:solidFill>
                <a:latin typeface="+mn-lt"/>
                <a:ea typeface="Amazon Ember" panose="02000000000000000000" pitchFamily="2" charset="0"/>
                <a:cs typeface="Amazon Ember Light" panose="020B0403020204020204" pitchFamily="34" charset="0"/>
              </a:rPr>
              <a:t>Spot Instances </a:t>
            </a:r>
            <a:r>
              <a:rPr lang="en-US" dirty="0">
                <a:solidFill>
                  <a:srgbClr val="000000"/>
                </a:solidFill>
                <a:latin typeface="+mn-lt"/>
                <a:ea typeface="Amazon Ember" panose="02000000000000000000" pitchFamily="2" charset="0"/>
                <a:cs typeface="Amazon Ember Light" panose="020B0403020204020204" pitchFamily="34" charset="0"/>
              </a:rPr>
              <a:t>can be interrupted with a 2-minute notification. However,</a:t>
            </a:r>
            <a:r>
              <a:rPr lang="en-US" baseline="0" dirty="0">
                <a:solidFill>
                  <a:srgbClr val="000000"/>
                </a:solidFill>
                <a:latin typeface="+mn-lt"/>
                <a:ea typeface="Amazon Ember" panose="02000000000000000000" pitchFamily="2" charset="0"/>
                <a:cs typeface="Amazon Ember Light" panose="020B0403020204020204" pitchFamily="34" charset="0"/>
              </a:rPr>
              <a:t> they can offer significant </a:t>
            </a:r>
            <a:r>
              <a:rPr lang="en-US" dirty="0">
                <a:solidFill>
                  <a:srgbClr val="000000"/>
                </a:solidFill>
                <a:latin typeface="+mn-lt"/>
                <a:ea typeface="Amazon Ember" panose="02000000000000000000" pitchFamily="2" charset="0"/>
                <a:cs typeface="Amazon Ember Light" panose="020B0403020204020204" pitchFamily="34" charset="0"/>
              </a:rPr>
              <a:t>cost savings over On-Demand Instances.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000000"/>
                </a:solidFill>
                <a:latin typeface="+mn-lt"/>
                <a:ea typeface="Amazon Ember" panose="02000000000000000000" pitchFamily="2" charset="0"/>
                <a:cs typeface="Amazon Ember Light" panose="020B0403020204020204" pitchFamily="34" charset="0"/>
              </a:rPr>
              <a:t>The </a:t>
            </a:r>
            <a:r>
              <a:rPr lang="en-US" b="1" dirty="0">
                <a:solidFill>
                  <a:srgbClr val="000000"/>
                </a:solidFill>
                <a:latin typeface="+mn-lt"/>
                <a:ea typeface="Amazon Ember" panose="02000000000000000000" pitchFamily="2" charset="0"/>
                <a:cs typeface="Amazon Ember Light" panose="020B0403020204020204" pitchFamily="34" charset="0"/>
              </a:rPr>
              <a:t>four pillars of cost optimization </a:t>
            </a:r>
            <a:r>
              <a:rPr lang="en-US" dirty="0">
                <a:solidFill>
                  <a:srgbClr val="000000"/>
                </a:solidFill>
                <a:latin typeface="+mn-lt"/>
                <a:ea typeface="Amazon Ember" panose="02000000000000000000" pitchFamily="2" charset="0"/>
                <a:cs typeface="Amazon Ember Light" panose="020B0403020204020204" pitchFamily="34" charset="0"/>
              </a:rPr>
              <a:t>are</a:t>
            </a:r>
            <a:r>
              <a:rPr lang="en-US" baseline="0" dirty="0">
                <a:solidFill>
                  <a:srgbClr val="000000"/>
                </a:solidFill>
                <a:latin typeface="+mn-lt"/>
                <a:ea typeface="Amazon Ember" panose="02000000000000000000" pitchFamily="2" charset="0"/>
                <a:cs typeface="Amazon Ember Light" panose="020B0403020204020204" pitchFamily="34" charset="0"/>
              </a:rPr>
              <a:t> – </a:t>
            </a:r>
            <a:endParaRPr lang="en-US" dirty="0">
              <a:solidFill>
                <a:srgbClr val="000000"/>
              </a:solidFill>
              <a:latin typeface="+mn-lt"/>
              <a:ea typeface="Amazon Ember" panose="02000000000000000000" pitchFamily="2" charset="0"/>
              <a:cs typeface="Amazon Ember Light" panose="020B0403020204020204" pitchFamily="34" charset="0"/>
            </a:endParaRPr>
          </a:p>
          <a:p>
            <a:pPr marL="628650" lvl="1" indent="-171450">
              <a:buFont typeface="Arial" panose="020B0604020202020204" pitchFamily="34" charset="0"/>
              <a:buChar char="•"/>
              <a:defRPr/>
            </a:pPr>
            <a:r>
              <a:rPr lang="en-US" dirty="0">
                <a:solidFill>
                  <a:srgbClr val="000000"/>
                </a:solidFill>
                <a:latin typeface="+mn-lt"/>
                <a:ea typeface="Amazon Ember" panose="02000000000000000000" pitchFamily="2" charset="0"/>
                <a:cs typeface="Amazon Ember Light" panose="020B0403020204020204" pitchFamily="34" charset="0"/>
              </a:rPr>
              <a:t>Right size</a:t>
            </a:r>
          </a:p>
          <a:p>
            <a:pPr marL="628650" lvl="1" indent="-171450">
              <a:buFont typeface="Arial" panose="020B0604020202020204" pitchFamily="34" charset="0"/>
              <a:buChar char="•"/>
              <a:defRPr/>
            </a:pPr>
            <a:r>
              <a:rPr lang="en-US" dirty="0">
                <a:solidFill>
                  <a:srgbClr val="000000"/>
                </a:solidFill>
                <a:latin typeface="+mn-lt"/>
                <a:ea typeface="Amazon Ember" panose="02000000000000000000" pitchFamily="2" charset="0"/>
                <a:cs typeface="Amazon Ember Light" panose="020B0403020204020204" pitchFamily="34" charset="0"/>
              </a:rPr>
              <a:t>Increase elasticity</a:t>
            </a:r>
          </a:p>
          <a:p>
            <a:pPr marL="628650" lvl="1" indent="-171450">
              <a:buFont typeface="Arial" panose="020B0604020202020204" pitchFamily="34" charset="0"/>
              <a:buChar char="•"/>
              <a:defRPr/>
            </a:pPr>
            <a:r>
              <a:rPr lang="en-US" dirty="0">
                <a:solidFill>
                  <a:srgbClr val="000000"/>
                </a:solidFill>
                <a:latin typeface="+mn-lt"/>
                <a:ea typeface="Amazon Ember" panose="02000000000000000000" pitchFamily="2" charset="0"/>
                <a:cs typeface="Amazon Ember Light" panose="020B0403020204020204" pitchFamily="34" charset="0"/>
              </a:rPr>
              <a:t>Optimal pricing model</a:t>
            </a:r>
          </a:p>
          <a:p>
            <a:pPr marL="628650" lvl="1" indent="-171450">
              <a:buFont typeface="Arial" panose="020B0604020202020204" pitchFamily="34" charset="0"/>
              <a:buChar char="•"/>
              <a:defRPr/>
            </a:pPr>
            <a:r>
              <a:rPr lang="en-US" dirty="0">
                <a:solidFill>
                  <a:srgbClr val="000000"/>
                </a:solidFill>
                <a:latin typeface="+mn-lt"/>
                <a:ea typeface="Amazon Ember" panose="02000000000000000000" pitchFamily="2" charset="0"/>
                <a:cs typeface="Amazon Ember Light" panose="020B0403020204020204" pitchFamily="34" charset="0"/>
              </a:rPr>
              <a:t>Optimize storage choices</a:t>
            </a:r>
          </a:p>
        </p:txBody>
      </p:sp>
    </p:spTree>
    <p:extLst>
      <p:ext uri="{BB962C8B-B14F-4D97-AF65-F5344CB8AC3E}">
        <p14:creationId xmlns:p14="http://schemas.microsoft.com/office/powerpoint/2010/main" val="28736209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4: Container services.</a:t>
            </a:r>
          </a:p>
        </p:txBody>
      </p:sp>
      <p:sp>
        <p:nvSpPr>
          <p:cNvPr id="5" name="Slide Image Placeholder 4">
            <a:extLst>
              <a:ext uri="{FF2B5EF4-FFF2-40B4-BE49-F238E27FC236}">
                <a16:creationId xmlns:a16="http://schemas.microsoft.com/office/drawing/2014/main" id="{2CB2A846-C697-4CC6-A5A7-A0EE7BB89AF4}"/>
              </a:ext>
            </a:extLst>
          </p:cNvPr>
          <p:cNvSpPr>
            <a:spLocks noGrp="1" noRot="1" noChangeAspect="1"/>
          </p:cNvSpPr>
          <p:nvPr>
            <p:ph type="sldImg"/>
          </p:nvPr>
        </p:nvSpPr>
        <p:spPr/>
      </p:sp>
    </p:spTree>
    <p:extLst>
      <p:ext uri="{BB962C8B-B14F-4D97-AF65-F5344CB8AC3E}">
        <p14:creationId xmlns:p14="http://schemas.microsoft.com/office/powerpoint/2010/main" val="22717030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Containers</a:t>
            </a:r>
            <a:r>
              <a:rPr lang="en-US" dirty="0"/>
              <a:t> are a method of </a:t>
            </a:r>
            <a:r>
              <a:rPr lang="en-US" b="1" dirty="0"/>
              <a:t>operating system virtualization </a:t>
            </a:r>
            <a:r>
              <a:rPr lang="en-US" dirty="0"/>
              <a:t>that enables you to run an application and its dependencies in resource-isolated processes. By using containers, you can easily package an application's code, configurations, and dependencies into easy-to-use building blocks that deliver environmental consistency, operational efficiency, developer productivity, and version control. </a:t>
            </a:r>
          </a:p>
          <a:p>
            <a:endParaRPr lang="en-US" dirty="0"/>
          </a:p>
          <a:p>
            <a:r>
              <a:rPr lang="en-US" dirty="0"/>
              <a:t>Containers are smaller than virtual machines, and do not contain an entire operating system. Instead, containers </a:t>
            </a:r>
            <a:r>
              <a:rPr lang="en-US" i="1" dirty="0"/>
              <a:t>share a virtualized operating system </a:t>
            </a:r>
            <a:r>
              <a:rPr lang="en-US" dirty="0"/>
              <a:t>and run as resource-isolated processes, which ensure quick, reliable, and consistent deployments. Containers hold everything that the software needs to run, such as libraries, system tools, code, and the runtime. </a:t>
            </a:r>
          </a:p>
          <a:p>
            <a:endParaRPr lang="en-US" dirty="0"/>
          </a:p>
          <a:p>
            <a:r>
              <a:rPr lang="en-US" dirty="0"/>
              <a:t>Containers deliver </a:t>
            </a:r>
            <a:r>
              <a:rPr lang="en-US" b="1" dirty="0"/>
              <a:t>environmental consistency </a:t>
            </a:r>
            <a:r>
              <a:rPr lang="en-US" dirty="0"/>
              <a:t>because the application’s code, configurations, and dependencies are packaged into a single object. </a:t>
            </a:r>
          </a:p>
          <a:p>
            <a:endParaRPr lang="en-US" dirty="0"/>
          </a:p>
          <a:p>
            <a:r>
              <a:rPr lang="en-US" dirty="0"/>
              <a:t>In terms of space, container images are usually an order of magnitude smaller than virtual machines. Spinning up a container happens in hundreds of milliseconds. Thus, by using containers, you can use a fast, portable, and infrastructure-agnostic environments.</a:t>
            </a:r>
          </a:p>
          <a:p>
            <a:endParaRPr lang="en-US" dirty="0"/>
          </a:p>
          <a:p>
            <a:pPr lvl="0"/>
            <a:r>
              <a:rPr lang="en-US" dirty="0"/>
              <a:t>Containers can help ensure that applications deploy quickly, reliably, and consistently, regardless of deployment environment. Containers also give you more granular control over resources, which gives your infrastructure improved efficiency. </a:t>
            </a:r>
          </a:p>
        </p:txBody>
      </p:sp>
      <p:sp>
        <p:nvSpPr>
          <p:cNvPr id="5" name="Slide Image Placeholder 4">
            <a:extLst>
              <a:ext uri="{FF2B5EF4-FFF2-40B4-BE49-F238E27FC236}">
                <a16:creationId xmlns:a16="http://schemas.microsoft.com/office/drawing/2014/main" id="{A4B03721-47A9-2205-0898-E5F7722DC5BC}"/>
              </a:ext>
            </a:extLst>
          </p:cNvPr>
          <p:cNvSpPr>
            <a:spLocks noGrp="1" noRot="1" noChangeAspect="1"/>
          </p:cNvSpPr>
          <p:nvPr>
            <p:ph type="sldImg"/>
          </p:nvPr>
        </p:nvSpPr>
        <p:spPr/>
      </p:sp>
    </p:spTree>
    <p:extLst>
      <p:ext uri="{BB962C8B-B14F-4D97-AF65-F5344CB8AC3E}">
        <p14:creationId xmlns:p14="http://schemas.microsoft.com/office/powerpoint/2010/main" val="33577538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Docker</a:t>
            </a:r>
            <a:r>
              <a:rPr lang="en-US" dirty="0"/>
              <a:t> is a software platform that packages software (such as applications) into containers. </a:t>
            </a:r>
          </a:p>
          <a:p>
            <a:endParaRPr lang="en-US" dirty="0"/>
          </a:p>
          <a:p>
            <a:r>
              <a:rPr lang="en-US" dirty="0"/>
              <a:t>Docker is installed on each server that will host containers, and it provides simple commands that you can use to build, start, or stop containers.</a:t>
            </a:r>
          </a:p>
          <a:p>
            <a:endParaRPr lang="en-US" dirty="0"/>
          </a:p>
          <a:p>
            <a:r>
              <a:rPr lang="en-US" dirty="0"/>
              <a:t>By using Docker, you can quickly deploy and scale applications into any environment.</a:t>
            </a:r>
          </a:p>
          <a:p>
            <a:endParaRPr lang="en-US" dirty="0"/>
          </a:p>
          <a:p>
            <a:r>
              <a:rPr lang="en-US" dirty="0"/>
              <a:t>Docker is best used as a solution when you want to:</a:t>
            </a:r>
          </a:p>
          <a:p>
            <a:pPr marL="171450" indent="-171450">
              <a:buFont typeface="Arial" panose="020B0604020202020204" pitchFamily="34" charset="0"/>
              <a:buChar char="•"/>
            </a:pPr>
            <a:r>
              <a:rPr lang="en-US" dirty="0"/>
              <a:t>Standardize environments </a:t>
            </a:r>
          </a:p>
          <a:p>
            <a:pPr marL="171450" indent="-171450">
              <a:buFont typeface="Arial" panose="020B0604020202020204" pitchFamily="34" charset="0"/>
              <a:buChar char="•"/>
            </a:pPr>
            <a:r>
              <a:rPr lang="en-US" dirty="0"/>
              <a:t>Reduce conflicts between language stacks and versions</a:t>
            </a:r>
          </a:p>
          <a:p>
            <a:pPr marL="171450" indent="-171450">
              <a:buFont typeface="Arial" panose="020B0604020202020204" pitchFamily="34" charset="0"/>
              <a:buChar char="•"/>
            </a:pPr>
            <a:r>
              <a:rPr lang="en-US" dirty="0"/>
              <a:t>Use containers as a service</a:t>
            </a:r>
          </a:p>
          <a:p>
            <a:pPr marL="171450" indent="-171450">
              <a:buFont typeface="Arial" panose="020B0604020202020204" pitchFamily="34" charset="0"/>
              <a:buChar char="•"/>
            </a:pPr>
            <a:r>
              <a:rPr lang="en-US" dirty="0"/>
              <a:t>Run microservices using standardized code deployments</a:t>
            </a:r>
          </a:p>
          <a:p>
            <a:pPr marL="171450" indent="-171450">
              <a:buFont typeface="Arial" panose="020B0604020202020204" pitchFamily="34" charset="0"/>
              <a:buChar char="•"/>
            </a:pPr>
            <a:r>
              <a:rPr lang="en-US" dirty="0"/>
              <a:t>Require portability for data processing</a:t>
            </a:r>
          </a:p>
          <a:p>
            <a:endParaRPr lang="en-US" dirty="0"/>
          </a:p>
        </p:txBody>
      </p:sp>
      <p:sp>
        <p:nvSpPr>
          <p:cNvPr id="5" name="Slide Image Placeholder 4">
            <a:extLst>
              <a:ext uri="{FF2B5EF4-FFF2-40B4-BE49-F238E27FC236}">
                <a16:creationId xmlns:a16="http://schemas.microsoft.com/office/drawing/2014/main" id="{2AEF70EC-1B77-792E-A079-A7FEE22443B3}"/>
              </a:ext>
            </a:extLst>
          </p:cNvPr>
          <p:cNvSpPr>
            <a:spLocks noGrp="1" noRot="1" noChangeAspect="1"/>
          </p:cNvSpPr>
          <p:nvPr>
            <p:ph type="sldImg"/>
          </p:nvPr>
        </p:nvSpPr>
        <p:spPr/>
      </p:sp>
    </p:spTree>
    <p:extLst>
      <p:ext uri="{BB962C8B-B14F-4D97-AF65-F5344CB8AC3E}">
        <p14:creationId xmlns:p14="http://schemas.microsoft.com/office/powerpoint/2010/main" val="32329900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671357"/>
          </a:xfrm>
        </p:spPr>
        <p:txBody>
          <a:bodyPr/>
          <a:lstStyle/>
          <a:p>
            <a:r>
              <a:rPr lang="en-US" dirty="0"/>
              <a:t>Many people who are first introduced to the concept of a container think that containers are exactly like virtual machines. However, the differences are in the details. One significant difference is that virtual machines run directly on a hypervisor, but containers can run on any Linux OS if they have the appropriate kernel feature support and the Docker daemon is present. This makes containers very portable. Your laptop, your VM, your EC2 instance, and your bare metal server are all potential hosts where you can run a container.</a:t>
            </a:r>
          </a:p>
          <a:p>
            <a:endParaRPr lang="en-US" dirty="0"/>
          </a:p>
          <a:p>
            <a:r>
              <a:rPr lang="en-US" b="1" dirty="0"/>
              <a:t>The right of the diagram has a virtual machine (VM)-based deployment</a:t>
            </a:r>
            <a:r>
              <a:rPr lang="en-US" dirty="0"/>
              <a:t>. Each of the three EC2 instances runs directly on the hypervisor that is provided by the AWS Global Infrastructure. Each EC2 instance runs a virtual machine. In this VM-based deployment, each of the three apps runs on its own VM, which provides process isolation. </a:t>
            </a:r>
          </a:p>
          <a:p>
            <a:endParaRPr lang="en-US" dirty="0"/>
          </a:p>
          <a:p>
            <a:r>
              <a:rPr lang="en-US" b="1" dirty="0"/>
              <a:t>The left of the diagram has a container-based deployment</a:t>
            </a:r>
            <a:r>
              <a:rPr lang="en-US" dirty="0"/>
              <a:t>. There is only one EC2 instance that runs a virtual machine. The Docker engine is installed on the Linux guest OS of the EC2 instance, and there are three containers. In this container-based deployment, each app runs in its own container (which provides process isolation), but all the containers run on a single EC2 instance. The processes that run in the containers communicate directly to the kernel in the Linux guest OS and are largely unaware of their container silo. The Docker engine is present to manage how the containers run on the Linux guest OS, and it also provides essential management functions throughout the container lifecycle. </a:t>
            </a:r>
          </a:p>
          <a:p>
            <a:endParaRPr lang="en-US" dirty="0"/>
          </a:p>
          <a:p>
            <a:r>
              <a:rPr lang="en-US" dirty="0"/>
              <a:t>In an actual container-based deployment, a large EC2 instance could run hundreds of containers.</a:t>
            </a:r>
          </a:p>
        </p:txBody>
      </p:sp>
      <p:sp>
        <p:nvSpPr>
          <p:cNvPr id="5" name="Slide Image Placeholder 4">
            <a:extLst>
              <a:ext uri="{FF2B5EF4-FFF2-40B4-BE49-F238E27FC236}">
                <a16:creationId xmlns:a16="http://schemas.microsoft.com/office/drawing/2014/main" id="{7D7BE96D-167F-7913-7B7F-CDFC4A3539F3}"/>
              </a:ext>
            </a:extLst>
          </p:cNvPr>
          <p:cNvSpPr>
            <a:spLocks noGrp="1" noRot="1" noChangeAspect="1"/>
          </p:cNvSpPr>
          <p:nvPr>
            <p:ph type="sldImg"/>
          </p:nvPr>
        </p:nvSpPr>
        <p:spPr/>
      </p:sp>
    </p:spTree>
    <p:extLst>
      <p:ext uri="{BB962C8B-B14F-4D97-AF65-F5344CB8AC3E}">
        <p14:creationId xmlns:p14="http://schemas.microsoft.com/office/powerpoint/2010/main" val="17096145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Given what you now know about containers, you might think</a:t>
            </a:r>
            <a:r>
              <a:rPr lang="en-US" baseline="0" dirty="0"/>
              <a:t> that</a:t>
            </a:r>
            <a:r>
              <a:rPr lang="en-US" dirty="0"/>
              <a:t> you could launch one or more Amazon EC2 instances, install Docker on each instance, and manage and run the Docker containers on those Amazon EC2 instances yourself. While that is an option, AWS provides a service called Amazon Elastic Container Service (Amazon ECS) that simplifies container management. </a:t>
            </a:r>
          </a:p>
          <a:p>
            <a:endParaRPr lang="en-US" dirty="0"/>
          </a:p>
          <a:p>
            <a:r>
              <a:rPr lang="en-US" b="1" dirty="0"/>
              <a:t>Amazon Elastic Container Service (Amazon ECS) </a:t>
            </a:r>
            <a:r>
              <a:rPr lang="en-US" dirty="0"/>
              <a:t>is a highly scalable, high-performance container management service that supports Docker containers.</a:t>
            </a:r>
            <a:r>
              <a:rPr lang="en-US" baseline="0" dirty="0"/>
              <a:t> Amazon ECS enables </a:t>
            </a:r>
            <a:r>
              <a:rPr lang="en-US" dirty="0"/>
              <a:t>you to easily run applications on a managed cluster of Amazon EC2 instances.</a:t>
            </a:r>
          </a:p>
          <a:p>
            <a:endParaRPr lang="en-US" dirty="0"/>
          </a:p>
          <a:p>
            <a:r>
              <a:rPr lang="en-US" dirty="0"/>
              <a:t>Essential Amazon ECS features include the ability to: </a:t>
            </a:r>
          </a:p>
          <a:p>
            <a:pPr marL="171450" indent="-171450">
              <a:buFont typeface="Arial" panose="020B0604020202020204" pitchFamily="34" charset="0"/>
              <a:buChar char="•"/>
            </a:pPr>
            <a:r>
              <a:rPr lang="en-US" b="1" dirty="0"/>
              <a:t>Launch</a:t>
            </a:r>
            <a:r>
              <a:rPr lang="en-US" dirty="0"/>
              <a:t> up to tens of thousands of Docker containers in seconds</a:t>
            </a:r>
          </a:p>
          <a:p>
            <a:pPr marL="171450" indent="-171450">
              <a:buFont typeface="Arial" panose="020B0604020202020204" pitchFamily="34" charset="0"/>
              <a:buChar char="•"/>
            </a:pPr>
            <a:r>
              <a:rPr lang="en-US" b="1" dirty="0"/>
              <a:t>Monitor</a:t>
            </a:r>
            <a:r>
              <a:rPr lang="en-US" dirty="0"/>
              <a:t> container</a:t>
            </a:r>
            <a:r>
              <a:rPr lang="en-US" baseline="0" dirty="0"/>
              <a:t> </a:t>
            </a:r>
            <a:r>
              <a:rPr lang="en-US" dirty="0"/>
              <a:t>deployment</a:t>
            </a:r>
          </a:p>
          <a:p>
            <a:pPr marL="171450" indent="-171450">
              <a:buFont typeface="Arial" panose="020B0604020202020204" pitchFamily="34" charset="0"/>
              <a:buChar char="•"/>
            </a:pPr>
            <a:r>
              <a:rPr lang="en-US" b="1" dirty="0"/>
              <a:t>Manage</a:t>
            </a:r>
            <a:r>
              <a:rPr lang="en-US" dirty="0"/>
              <a:t> the state of the cluster that runs the containers</a:t>
            </a:r>
          </a:p>
          <a:p>
            <a:pPr marL="171450" indent="-171450">
              <a:buFont typeface="Arial" panose="020B0604020202020204" pitchFamily="34" charset="0"/>
              <a:buChar char="•"/>
            </a:pPr>
            <a:r>
              <a:rPr lang="en-US" b="1" dirty="0"/>
              <a:t>Schedule </a:t>
            </a:r>
            <a:r>
              <a:rPr lang="en-US" b="0" dirty="0"/>
              <a:t>containers by</a:t>
            </a:r>
            <a:r>
              <a:rPr lang="en-US" dirty="0"/>
              <a:t> using a built-in scheduler or a third-party scheduler (for example, Apache Mesos</a:t>
            </a:r>
            <a:r>
              <a:rPr lang="en-US" baseline="0" dirty="0"/>
              <a:t> or </a:t>
            </a:r>
            <a:r>
              <a:rPr lang="en-US" dirty="0"/>
              <a:t>Blox)</a:t>
            </a:r>
          </a:p>
          <a:p>
            <a:endParaRPr lang="en-US" dirty="0"/>
          </a:p>
          <a:p>
            <a:r>
              <a:rPr lang="en-US" dirty="0"/>
              <a:t>Amazon ECS clusters can also use Spot Instances and Reserved Instances. </a:t>
            </a:r>
          </a:p>
        </p:txBody>
      </p:sp>
    </p:spTree>
    <p:extLst>
      <p:ext uri="{BB962C8B-B14F-4D97-AF65-F5344CB8AC3E}">
        <p14:creationId xmlns:p14="http://schemas.microsoft.com/office/powerpoint/2010/main" val="24646398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prepare your application to run on Amazon ECS, you create a </a:t>
            </a:r>
            <a:r>
              <a:rPr lang="en-US" b="1" dirty="0"/>
              <a:t>task definition</a:t>
            </a:r>
            <a:r>
              <a:rPr lang="en-US" dirty="0"/>
              <a:t> which is a text file that </a:t>
            </a:r>
            <a:r>
              <a:rPr lang="en-US" b="1" dirty="0"/>
              <a:t>describes one or more containers</a:t>
            </a:r>
            <a:r>
              <a:rPr lang="en-US" dirty="0"/>
              <a:t>, up to a maximum of ten, that form your application. It can be thought of as a blueprint for your application. Task definitions specify parameters for your application, for example which containers to use, which ports should be opened for your application, and what data volumes should be used with the containers in the task. </a:t>
            </a:r>
          </a:p>
          <a:p>
            <a:endParaRPr lang="en-US" dirty="0"/>
          </a:p>
          <a:p>
            <a:r>
              <a:rPr lang="en-US" dirty="0"/>
              <a:t>A </a:t>
            </a:r>
            <a:r>
              <a:rPr lang="en-US" b="1" dirty="0"/>
              <a:t>task</a:t>
            </a:r>
            <a:r>
              <a:rPr lang="en-US" dirty="0"/>
              <a:t> is the instantiation of a task definition within a cluster. You can specify the number of tasks that will run on your cluster. The </a:t>
            </a:r>
            <a:r>
              <a:rPr lang="en-US" b="1" dirty="0"/>
              <a:t>Amazon ECS task scheduler</a:t>
            </a:r>
            <a:r>
              <a:rPr lang="en-US" dirty="0"/>
              <a:t> is responsible for placing tasks within your cluster. A task will run anywhere from one to ten containers, depending on the task definition you defined.</a:t>
            </a:r>
            <a:br>
              <a:rPr lang="en-US" dirty="0"/>
            </a:br>
            <a:endParaRPr lang="en-US" dirty="0"/>
          </a:p>
          <a:p>
            <a:r>
              <a:rPr lang="en-US" dirty="0"/>
              <a:t>When Amazon ECS runs the containers that make up your task, it places them on an </a:t>
            </a:r>
            <a:r>
              <a:rPr lang="en-US" b="1" dirty="0"/>
              <a:t>ECS</a:t>
            </a:r>
            <a:r>
              <a:rPr lang="en-US" dirty="0"/>
              <a:t> </a:t>
            </a:r>
            <a:r>
              <a:rPr lang="en-US" b="1" dirty="0"/>
              <a:t>cluster</a:t>
            </a:r>
            <a:r>
              <a:rPr lang="en-US" dirty="0"/>
              <a:t>. The cluster (when you choose the EC2 launch type) consists of a group of EC2 instances each of which is running an </a:t>
            </a:r>
            <a:r>
              <a:rPr lang="en-US" b="1" dirty="0"/>
              <a:t>Amazon ECS container agent</a:t>
            </a:r>
            <a:r>
              <a:rPr lang="en-US" dirty="0"/>
              <a:t>. </a:t>
            </a:r>
          </a:p>
          <a:p>
            <a:endParaRPr lang="en-US" dirty="0"/>
          </a:p>
          <a:p>
            <a:r>
              <a:rPr lang="en-US" dirty="0"/>
              <a:t>Amazon ECS provides multiple scheduling strategies that will place containers across your clusters based on your resource needs (for example, CPU or RAM) and availability requirements. </a:t>
            </a:r>
          </a:p>
        </p:txBody>
      </p:sp>
    </p:spTree>
    <p:extLst>
      <p:ext uri="{BB962C8B-B14F-4D97-AF65-F5344CB8AC3E}">
        <p14:creationId xmlns:p14="http://schemas.microsoft.com/office/powerpoint/2010/main" val="40874193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When you create an Amazon ECS cluster, you have three options:</a:t>
            </a:r>
          </a:p>
          <a:p>
            <a:pPr marL="171450" lvl="0" indent="-171450">
              <a:buFont typeface="Arial" panose="020B0604020202020204" pitchFamily="34" charset="0"/>
              <a:buChar char="•"/>
            </a:pPr>
            <a:r>
              <a:rPr lang="en-US" dirty="0"/>
              <a:t>A </a:t>
            </a:r>
            <a:r>
              <a:rPr lang="en-US" b="1" dirty="0"/>
              <a:t>Networking Only </a:t>
            </a:r>
            <a:r>
              <a:rPr lang="en-US" dirty="0"/>
              <a:t>cluster (powered by AWS Fargate)</a:t>
            </a:r>
          </a:p>
          <a:p>
            <a:pPr marL="171450" lvl="0" indent="-171450">
              <a:buFont typeface="Arial" panose="020B0604020202020204" pitchFamily="34" charset="0"/>
              <a:buChar char="•"/>
            </a:pPr>
            <a:r>
              <a:rPr lang="en-US" dirty="0"/>
              <a:t>An </a:t>
            </a:r>
            <a:r>
              <a:rPr lang="en-US" b="1" dirty="0"/>
              <a:t>EC2 Linux + Networking </a:t>
            </a:r>
            <a:r>
              <a:rPr lang="en-US" dirty="0"/>
              <a:t>cluster</a:t>
            </a:r>
          </a:p>
          <a:p>
            <a:pPr marL="171450" lvl="0" indent="-171450">
              <a:buFont typeface="Arial" panose="020B0604020202020204" pitchFamily="34" charset="0"/>
              <a:buChar char="•"/>
            </a:pPr>
            <a:r>
              <a:rPr lang="en-US" dirty="0"/>
              <a:t>An </a:t>
            </a:r>
            <a:r>
              <a:rPr lang="en-US" b="1" dirty="0"/>
              <a:t>EC2 Windows + Networking </a:t>
            </a:r>
            <a:r>
              <a:rPr lang="en-US" dirty="0"/>
              <a:t>cluster </a:t>
            </a:r>
          </a:p>
          <a:p>
            <a:pPr lvl="0"/>
            <a:endParaRPr lang="en-US" dirty="0"/>
          </a:p>
          <a:p>
            <a:pPr lvl="0"/>
            <a:r>
              <a:rPr lang="en-US" dirty="0"/>
              <a:t>If you choose one of the two </a:t>
            </a:r>
            <a:r>
              <a:rPr lang="en-US" b="1" dirty="0"/>
              <a:t>EC2 launch type </a:t>
            </a:r>
            <a:r>
              <a:rPr lang="en-US" dirty="0"/>
              <a:t>options, you will then be prompted to choose whether the cluster EC2 instances will run as On-Demand Instances or Spot Instances. In addition, you will need to specify many details about the EC2 instances that will make up your cluster—the same details that you must specify when you launch a stand lone EC2 instance. In this way, the EC2 launch type provides more granular control over the infrastructure that runs your container applications because you manage the EC2 instances that make up the cluster. </a:t>
            </a:r>
          </a:p>
          <a:p>
            <a:pPr lvl="0"/>
            <a:r>
              <a:rPr lang="en-US" dirty="0"/>
              <a:t>Amazon ECS keeps track of all the CPU, memory, and other resources in your cluster. Amazon ECS also finds the best server for your container on based on your specified resource requirements.</a:t>
            </a:r>
          </a:p>
          <a:p>
            <a:pPr lvl="0"/>
            <a:endParaRPr lang="en-US" dirty="0"/>
          </a:p>
          <a:p>
            <a:pPr lvl="0"/>
            <a:r>
              <a:rPr lang="en-US" dirty="0"/>
              <a:t>If you choose the networking-only </a:t>
            </a:r>
            <a:r>
              <a:rPr lang="en-US" b="1" dirty="0"/>
              <a:t>Fargate launch type</a:t>
            </a:r>
            <a:r>
              <a:rPr lang="en-US" dirty="0"/>
              <a:t>, then the cluster that will run your containers will be managed by AWS. With this option, you only need to package your application in containers, specify the CPU and memory requirements, define networking and IAM policies, and launch the application. You do not need to provision, configure, or scale the cluster. It removes the need to choose server types, decide when to scale your clusters, or optimize cluster packing. The Fargate option enables you to focus on designing and building your applications.</a:t>
            </a:r>
          </a:p>
        </p:txBody>
      </p:sp>
      <p:sp>
        <p:nvSpPr>
          <p:cNvPr id="5" name="Slide Image Placeholder 4">
            <a:extLst>
              <a:ext uri="{FF2B5EF4-FFF2-40B4-BE49-F238E27FC236}">
                <a16:creationId xmlns:a16="http://schemas.microsoft.com/office/drawing/2014/main" id="{84739DDB-7277-5C56-ABB3-02285F71E97F}"/>
              </a:ext>
            </a:extLst>
          </p:cNvPr>
          <p:cNvSpPr>
            <a:spLocks noGrp="1" noRot="1" noChangeAspect="1"/>
          </p:cNvSpPr>
          <p:nvPr>
            <p:ph type="sldImg"/>
          </p:nvPr>
        </p:nvSpPr>
        <p:spPr/>
      </p:sp>
    </p:spTree>
    <p:extLst>
      <p:ext uri="{BB962C8B-B14F-4D97-AF65-F5344CB8AC3E}">
        <p14:creationId xmlns:p14="http://schemas.microsoft.com/office/powerpoint/2010/main" val="14652049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Kubernetes</a:t>
            </a:r>
            <a:r>
              <a:rPr lang="en-US" dirty="0"/>
              <a:t> is open</a:t>
            </a:r>
            <a:r>
              <a:rPr lang="en-US" baseline="0" dirty="0"/>
              <a:t> </a:t>
            </a:r>
            <a:r>
              <a:rPr lang="en-US" dirty="0"/>
              <a:t>source software for container orchestration. Kubernetes can work with many containerization technologies, including Docker. Because it is</a:t>
            </a:r>
            <a:r>
              <a:rPr lang="en-US" baseline="0" dirty="0"/>
              <a:t> a</a:t>
            </a:r>
            <a:r>
              <a:rPr lang="en-US" dirty="0"/>
              <a:t> popular open source project, a large community of developers and companies build extensions, integrations, and plugins that keep the software relevant, and new and in-demand features are added frequently.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rPr>
              <a:t>Kubernetes enables you to deploy and manage </a:t>
            </a:r>
            <a:r>
              <a:rPr lang="en-US" b="1" i="0" kern="1200" dirty="0">
                <a:solidFill>
                  <a:schemeClr val="tx1"/>
                </a:solidFill>
                <a:effectLst/>
              </a:rPr>
              <a:t>containerized applications</a:t>
            </a:r>
            <a:r>
              <a:rPr lang="en-US" b="0" i="0" kern="1200" dirty="0">
                <a:solidFill>
                  <a:schemeClr val="tx1"/>
                </a:solidFill>
                <a:effectLst/>
              </a:rPr>
              <a:t> at scale.</a:t>
            </a:r>
            <a:r>
              <a:rPr lang="en-US" b="0" i="0" kern="1200" baseline="0" dirty="0">
                <a:solidFill>
                  <a:schemeClr val="tx1"/>
                </a:solidFill>
                <a:effectLst/>
              </a:rPr>
              <a:t> With Kubernetes, you can</a:t>
            </a:r>
            <a:r>
              <a:rPr lang="en-US" b="0" i="0" kern="1200" dirty="0">
                <a:solidFill>
                  <a:schemeClr val="tx1"/>
                </a:solidFill>
                <a:effectLst/>
              </a:rPr>
              <a:t> run any type of containerized application by using the same toolset in both on-premises data centers and the cloud. </a:t>
            </a:r>
            <a:r>
              <a:rPr lang="en-US" dirty="0"/>
              <a:t>Kubernetes manages a </a:t>
            </a:r>
            <a:r>
              <a:rPr lang="en-US" b="1" dirty="0"/>
              <a:t>cluster</a:t>
            </a:r>
            <a:r>
              <a:rPr lang="en-US" dirty="0"/>
              <a:t> of compute instances (called </a:t>
            </a:r>
            <a:r>
              <a:rPr lang="en-US" b="1" dirty="0"/>
              <a:t>nodes</a:t>
            </a:r>
            <a:r>
              <a:rPr lang="en-US" dirty="0"/>
              <a:t>).</a:t>
            </a:r>
            <a:r>
              <a:rPr lang="en-US" baseline="0" dirty="0"/>
              <a:t> It </a:t>
            </a:r>
            <a:r>
              <a:rPr lang="en-US" dirty="0"/>
              <a:t>runs containers on the cluster, which are based on where compute resources are available and the resource requirements of each container. Containers</a:t>
            </a:r>
            <a:r>
              <a:rPr lang="en-US" b="1" dirty="0"/>
              <a:t> </a:t>
            </a:r>
            <a:r>
              <a:rPr lang="en-US" dirty="0"/>
              <a:t>are run in logical groupings called </a:t>
            </a:r>
            <a:r>
              <a:rPr lang="en-US" b="1" dirty="0"/>
              <a:t>pods</a:t>
            </a:r>
            <a:r>
              <a:rPr lang="en-US" b="0" dirty="0"/>
              <a:t>.</a:t>
            </a:r>
            <a:r>
              <a:rPr lang="en-US" b="0" baseline="0" dirty="0"/>
              <a:t> Y</a:t>
            </a:r>
            <a:r>
              <a:rPr lang="en-US" dirty="0"/>
              <a:t>ou can run and scale one or many containers together as a pod. Each pod is given an IP address and a single Domain Name System (DNS) name, which Kubernetes uses to connect your services with each other and external traffic.</a:t>
            </a:r>
            <a:br>
              <a:rPr lang="en-US" dirty="0"/>
            </a:br>
            <a:endParaRPr lang="en-US" dirty="0"/>
          </a:p>
          <a:p>
            <a:pPr>
              <a:defRPr/>
            </a:pPr>
            <a:r>
              <a:rPr lang="en-US" dirty="0"/>
              <a:t>A key advantage of Kubernetes is that you can use it to run your containerized applications anywhere without needing to change your operational tooling. For example, applications can be moved from local on-premises development machines to production deployments in the cloud by using the same operational tooling. </a:t>
            </a:r>
          </a:p>
        </p:txBody>
      </p:sp>
    </p:spTree>
    <p:extLst>
      <p:ext uri="{BB962C8B-B14F-4D97-AF65-F5344CB8AC3E}">
        <p14:creationId xmlns:p14="http://schemas.microsoft.com/office/powerpoint/2010/main" val="25321335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181164"/>
          </a:xfrm>
        </p:spPr>
        <p:txBody>
          <a:bodyPr/>
          <a:lstStyle/>
          <a:p>
            <a:pPr lvl="0"/>
            <a:r>
              <a:rPr lang="en-US" dirty="0"/>
              <a:t>You might think that you could launch one or more Amazon EC2 instances, install Docker on each instance, install Kubernetes on the cluster, and manage and run Kubernetes yourself. While that is an option, AWS provides a service called Amazon Elastic Kubernetes Service (Amazon EKS) that simplifies the management of Kubernetes clusters. </a:t>
            </a:r>
          </a:p>
          <a:p>
            <a:pPr lvl="0"/>
            <a:endParaRPr lang="en-US" dirty="0"/>
          </a:p>
          <a:p>
            <a:pPr lvl="0"/>
            <a:r>
              <a:rPr lang="en-US" b="1" dirty="0"/>
              <a:t>Amazon Elastic Kubernetes Service (Amazon EKS) </a:t>
            </a:r>
            <a:r>
              <a:rPr lang="en-US" dirty="0"/>
              <a:t>is a managed Kubernetes service that makes it easy for you to run Kubernetes on AWS without needing to install, operate, and maintain your own Kubernetes control plane. It is certified Kubernetes conformant, so existing applications that run on upstream Kubernetes are compatible with Amazon EKS.</a:t>
            </a:r>
          </a:p>
          <a:p>
            <a:pPr lvl="0"/>
            <a:endParaRPr lang="en-US" dirty="0"/>
          </a:p>
          <a:p>
            <a:pPr lvl="0"/>
            <a:r>
              <a:rPr lang="en-US" dirty="0"/>
              <a:t>Amazon EKS automatically manages the availability and scalability of the cluster nodes that are responsible for starting and stopping containers, scheduling containers on virtual machines, storing cluster data, and other tasks. It automatically detects and replaces unhealthy control plane nodes for each cluster. You can take advantage of the performance, scale, reliability, and availability of the AWS Cloud, which includes AWS networking and security services like Application Load Balancers for load distribution, IAM for role-based access control, and VPC for pod networking.</a:t>
            </a:r>
          </a:p>
          <a:p>
            <a:pPr lvl="0"/>
            <a:endParaRPr lang="en-US" dirty="0"/>
          </a:p>
          <a:p>
            <a:pPr lvl="0"/>
            <a:r>
              <a:rPr lang="en-US" dirty="0"/>
              <a:t>You may be wondering why Amazon offers both Amazon ECS and Amazon EKS, since they are both capable of orchestrating Docker containers. The reason that both services exist is to provide customers with flexible options. You can decide which option best matches your needs. </a:t>
            </a:r>
          </a:p>
        </p:txBody>
      </p:sp>
      <p:sp>
        <p:nvSpPr>
          <p:cNvPr id="5" name="Slide Image Placeholder 4">
            <a:extLst>
              <a:ext uri="{FF2B5EF4-FFF2-40B4-BE49-F238E27FC236}">
                <a16:creationId xmlns:a16="http://schemas.microsoft.com/office/drawing/2014/main" id="{F0EDAB50-3F45-FCCA-BE4E-41D12228123C}"/>
              </a:ext>
            </a:extLst>
          </p:cNvPr>
          <p:cNvSpPr>
            <a:spLocks noGrp="1" noRot="1" noChangeAspect="1"/>
          </p:cNvSpPr>
          <p:nvPr>
            <p:ph type="sldImg"/>
          </p:nvPr>
        </p:nvSpPr>
        <p:spPr/>
      </p:sp>
    </p:spTree>
    <p:extLst>
      <p:ext uri="{BB962C8B-B14F-4D97-AF65-F5344CB8AC3E}">
        <p14:creationId xmlns:p14="http://schemas.microsoft.com/office/powerpoint/2010/main" val="42691220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Amazon Elastic Container Registry (Amazon ECR)</a:t>
            </a:r>
            <a:r>
              <a:rPr lang="en-US" dirty="0"/>
              <a:t> is a fully managed Docker container registry that makes it easy for developers to store, manage, and deploy Docker container images. It is </a:t>
            </a:r>
            <a:r>
              <a:rPr lang="en-US" b="1" dirty="0"/>
              <a:t>integrated with Amazon ECS</a:t>
            </a:r>
            <a:r>
              <a:rPr lang="en-US" dirty="0"/>
              <a:t>, so you can store, run, and manage container images for applications that run on Amazon ECS. Specify the Amazon ECR repository in your task definition, and Amazon ECS will retrieve the appropriate images for your applications.</a:t>
            </a:r>
          </a:p>
          <a:p>
            <a:endParaRPr lang="en-US" dirty="0"/>
          </a:p>
          <a:p>
            <a:r>
              <a:rPr lang="en-US" dirty="0"/>
              <a:t>Amazon ECR supports Docker Registry HTTP API version 2, which enables you to interact with Amazon ECR by using Docker CLI commands or your preferred Docker tools. Thus, you can maintain your existing development workflow and access Amazon ECR from any Docker environment—whether it is in the cloud, on premises, or on your local machine. </a:t>
            </a:r>
          </a:p>
          <a:p>
            <a:endParaRPr lang="en-US" dirty="0"/>
          </a:p>
          <a:p>
            <a:r>
              <a:rPr lang="en-US" dirty="0"/>
              <a:t>You can transfer your container images to and from Amazon ECS via HTTPS. Your images are also automatically encrypted at rest using Amazon S3 server-side encryption.</a:t>
            </a:r>
          </a:p>
          <a:p>
            <a:endParaRPr lang="en-US" dirty="0"/>
          </a:p>
          <a:p>
            <a:r>
              <a:rPr lang="en-US" dirty="0"/>
              <a:t>It is also possible to use Amazon ECR images with </a:t>
            </a:r>
            <a:r>
              <a:rPr lang="en-US" b="1" dirty="0"/>
              <a:t>Amazon EKS</a:t>
            </a:r>
            <a:r>
              <a:rPr lang="en-US" dirty="0"/>
              <a:t>. See the Using Amazon ECR Images with Amazon </a:t>
            </a:r>
            <a:r>
              <a:rPr lang="en-US" dirty="0" err="1"/>
              <a:t>EKS</a:t>
            </a:r>
            <a:r>
              <a:rPr lang="en-US" dirty="0"/>
              <a:t> documentation at </a:t>
            </a:r>
            <a:r>
              <a:rPr lang="en-GB" dirty="0">
                <a:hlinkClick r:id="rId3"/>
              </a:rPr>
              <a:t>https://</a:t>
            </a:r>
            <a:r>
              <a:rPr lang="en-GB" dirty="0" err="1">
                <a:hlinkClick r:id="rId3"/>
              </a:rPr>
              <a:t>docs.aws.amazon.com</a:t>
            </a:r>
            <a:r>
              <a:rPr lang="en-GB" dirty="0">
                <a:hlinkClick r:id="rId3"/>
              </a:rPr>
              <a:t>/</a:t>
            </a:r>
            <a:r>
              <a:rPr lang="en-GB" dirty="0" err="1">
                <a:hlinkClick r:id="rId3"/>
              </a:rPr>
              <a:t>AmazonECR</a:t>
            </a:r>
            <a:r>
              <a:rPr lang="en-GB" dirty="0">
                <a:hlinkClick r:id="rId3"/>
              </a:rPr>
              <a:t>/latest/</a:t>
            </a:r>
            <a:r>
              <a:rPr lang="en-GB" dirty="0" err="1">
                <a:hlinkClick r:id="rId3"/>
              </a:rPr>
              <a:t>userguide</a:t>
            </a:r>
            <a:r>
              <a:rPr lang="en-GB" dirty="0">
                <a:hlinkClick r:id="rId3"/>
              </a:rPr>
              <a:t>/</a:t>
            </a:r>
            <a:r>
              <a:rPr lang="en-GB" dirty="0" err="1">
                <a:hlinkClick r:id="rId3"/>
              </a:rPr>
              <a:t>ECR_on_EKS.html</a:t>
            </a:r>
            <a:r>
              <a:rPr lang="en-US" dirty="0"/>
              <a:t> for details.</a:t>
            </a:r>
          </a:p>
          <a:p>
            <a:endParaRPr lang="en-US" dirty="0"/>
          </a:p>
        </p:txBody>
      </p:sp>
      <p:sp>
        <p:nvSpPr>
          <p:cNvPr id="5" name="Slide Image Placeholder 4">
            <a:extLst>
              <a:ext uri="{FF2B5EF4-FFF2-40B4-BE49-F238E27FC236}">
                <a16:creationId xmlns:a16="http://schemas.microsoft.com/office/drawing/2014/main" id="{C9BE7AB0-8118-2808-D134-575B5E630C60}"/>
              </a:ext>
            </a:extLst>
          </p:cNvPr>
          <p:cNvSpPr>
            <a:spLocks noGrp="1" noRot="1" noChangeAspect="1"/>
          </p:cNvSpPr>
          <p:nvPr>
            <p:ph type="sldImg"/>
          </p:nvPr>
        </p:nvSpPr>
        <p:spPr/>
      </p:sp>
    </p:spTree>
    <p:extLst>
      <p:ext uri="{BB962C8B-B14F-4D97-AF65-F5344CB8AC3E}">
        <p14:creationId xmlns:p14="http://schemas.microsoft.com/office/powerpoint/2010/main" val="27310659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Some key</a:t>
            </a:r>
            <a:r>
              <a:rPr lang="en-US" baseline="0" dirty="0"/>
              <a:t> </a:t>
            </a:r>
            <a:r>
              <a:rPr lang="en-US" dirty="0"/>
              <a:t>t</a:t>
            </a:r>
            <a:r>
              <a:rPr lang="en-US" baseline="0" dirty="0"/>
              <a:t>akeaways from this section include:</a:t>
            </a:r>
            <a:endParaRPr lang="en-US" i="0" baseline="0" dirty="0"/>
          </a:p>
          <a:p>
            <a:pPr marL="171450" indent="-171450">
              <a:buFont typeface="Arial" panose="020B0604020202020204" pitchFamily="34" charset="0"/>
              <a:buChar char="•"/>
            </a:pPr>
            <a:r>
              <a:rPr lang="en-US" dirty="0"/>
              <a:t>Containers can hold everything that an application needs to run.</a:t>
            </a:r>
          </a:p>
          <a:p>
            <a:pPr marL="171450" indent="-171450">
              <a:buFont typeface="Arial" panose="020B0604020202020204" pitchFamily="34" charset="0"/>
              <a:buChar char="•"/>
            </a:pPr>
            <a:r>
              <a:rPr lang="en-US" dirty="0"/>
              <a:t>Docker is a software platform that packages software into containers. </a:t>
            </a:r>
          </a:p>
          <a:p>
            <a:pPr marL="171450" indent="-171450">
              <a:buFont typeface="Arial" panose="020B0604020202020204" pitchFamily="34" charset="0"/>
              <a:buChar char="•"/>
            </a:pPr>
            <a:r>
              <a:rPr lang="en-US" dirty="0"/>
              <a:t>A single application can span multiple containers.</a:t>
            </a:r>
          </a:p>
          <a:p>
            <a:pPr marL="171450" indent="-171450">
              <a:buFont typeface="Arial" panose="020B0604020202020204" pitchFamily="34" charset="0"/>
              <a:buChar char="•"/>
            </a:pPr>
            <a:r>
              <a:rPr lang="en-US" dirty="0"/>
              <a:t>Amazon Elastic Container Service (Amazon ECS) orchestrates the running of Docker containers.</a:t>
            </a:r>
          </a:p>
          <a:p>
            <a:pPr marL="171450" indent="-171450">
              <a:buFont typeface="Arial" panose="020B0604020202020204" pitchFamily="34" charset="0"/>
              <a:buChar char="•"/>
            </a:pPr>
            <a:r>
              <a:rPr lang="en-US" dirty="0"/>
              <a:t>Kubernetes is open source software for container orchestration. </a:t>
            </a:r>
          </a:p>
          <a:p>
            <a:pPr marL="171450" indent="-171450">
              <a:buFont typeface="Arial" panose="020B0604020202020204" pitchFamily="34" charset="0"/>
              <a:buChar char="•"/>
            </a:pPr>
            <a:r>
              <a:rPr lang="en-US" dirty="0"/>
              <a:t>Amazon Elastic Kubernetes Service (Amazon EKS) enables you to run Kubernetes on AWS</a:t>
            </a:r>
          </a:p>
          <a:p>
            <a:pPr marL="171450" indent="-171450">
              <a:buFont typeface="Arial" panose="020B0604020202020204" pitchFamily="34" charset="0"/>
              <a:buChar char="•"/>
            </a:pPr>
            <a:r>
              <a:rPr lang="en-US" dirty="0"/>
              <a:t>Amazon Elastic Container Registry (Amazon ECR) enables you to store, manage, and deploy your Docker containers.</a:t>
            </a:r>
            <a:endParaRPr lang="en-US" b="0" i="0" kern="1200" dirty="0">
              <a:solidFill>
                <a:schemeClr val="tx1"/>
              </a:solidFill>
              <a:effectLst/>
            </a:endParaRPr>
          </a:p>
        </p:txBody>
      </p:sp>
    </p:spTree>
    <p:extLst>
      <p:ext uri="{BB962C8B-B14F-4D97-AF65-F5344CB8AC3E}">
        <p14:creationId xmlns:p14="http://schemas.microsoft.com/office/powerpoint/2010/main" val="16865363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5: Introduction to AWS Lambda.</a:t>
            </a:r>
          </a:p>
          <a:p>
            <a:endParaRPr lang="en-US" dirty="0"/>
          </a:p>
        </p:txBody>
      </p:sp>
      <p:sp>
        <p:nvSpPr>
          <p:cNvPr id="5" name="Slide Image Placeholder 4">
            <a:extLst>
              <a:ext uri="{FF2B5EF4-FFF2-40B4-BE49-F238E27FC236}">
                <a16:creationId xmlns:a16="http://schemas.microsoft.com/office/drawing/2014/main" id="{C996F70F-AECE-5324-FADA-052A37E37CFD}"/>
              </a:ext>
            </a:extLst>
          </p:cNvPr>
          <p:cNvSpPr>
            <a:spLocks noGrp="1" noRot="1" noChangeAspect="1"/>
          </p:cNvSpPr>
          <p:nvPr>
            <p:ph type="sldImg"/>
          </p:nvPr>
        </p:nvSpPr>
        <p:spPr/>
      </p:sp>
    </p:spTree>
    <p:extLst>
      <p:ext uri="{BB962C8B-B14F-4D97-AF65-F5344CB8AC3E}">
        <p14:creationId xmlns:p14="http://schemas.microsoft.com/office/powerpoint/2010/main" val="187944759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rPr>
              <a:t>As you saw in the earlier sections of this module, AWS offers many compute options. For example, </a:t>
            </a:r>
            <a:r>
              <a:rPr lang="en-US" b="1" i="0" kern="1200" dirty="0">
                <a:solidFill>
                  <a:schemeClr val="tx1"/>
                </a:solidFill>
                <a:effectLst/>
              </a:rPr>
              <a:t>Amazon EC2</a:t>
            </a:r>
            <a:r>
              <a:rPr lang="en-US" i="0" kern="1200" dirty="0">
                <a:solidFill>
                  <a:schemeClr val="tx1"/>
                </a:solidFill>
                <a:effectLst/>
              </a:rPr>
              <a:t> </a:t>
            </a:r>
            <a:r>
              <a:rPr lang="en-US" b="0" i="0" kern="1200" dirty="0">
                <a:solidFill>
                  <a:schemeClr val="tx1"/>
                </a:solidFill>
                <a:effectLst/>
              </a:rPr>
              <a:t>provides virtual machines.</a:t>
            </a:r>
            <a:r>
              <a:rPr lang="en-US" b="0" i="0" kern="1200" baseline="0" dirty="0">
                <a:solidFill>
                  <a:schemeClr val="tx1"/>
                </a:solidFill>
                <a:effectLst/>
              </a:rPr>
              <a:t> As another example, </a:t>
            </a:r>
            <a:r>
              <a:rPr lang="en-US" b="1" i="0" kern="1200" dirty="0">
                <a:solidFill>
                  <a:schemeClr val="tx1"/>
                </a:solidFill>
                <a:effectLst/>
              </a:rPr>
              <a:t>Amazon ECS </a:t>
            </a:r>
            <a:r>
              <a:rPr lang="en-US" b="0" i="0" kern="1200" dirty="0">
                <a:solidFill>
                  <a:schemeClr val="tx1"/>
                </a:solidFill>
                <a:effectLst/>
              </a:rPr>
              <a:t>and </a:t>
            </a:r>
            <a:r>
              <a:rPr lang="en-US" b="1" i="0" kern="1200" dirty="0">
                <a:solidFill>
                  <a:schemeClr val="tx1"/>
                </a:solidFill>
                <a:effectLst/>
              </a:rPr>
              <a:t>Amazon EKS</a:t>
            </a:r>
            <a:r>
              <a:rPr lang="en-US" b="0" i="0" kern="1200" baseline="0" dirty="0">
                <a:solidFill>
                  <a:schemeClr val="tx1"/>
                </a:solidFill>
                <a:effectLst/>
              </a:rPr>
              <a:t> a</a:t>
            </a:r>
            <a:r>
              <a:rPr lang="en-US" b="0" i="0" kern="1200" dirty="0">
                <a:solidFill>
                  <a:schemeClr val="tx1"/>
                </a:solidFill>
                <a:effectLst/>
              </a:rPr>
              <a:t>re container-based compute services.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rPr>
              <a:t>However, there is another approach to compute that does not require you to provision</a:t>
            </a:r>
            <a:r>
              <a:rPr lang="en-US" b="0" i="0" kern="1200" baseline="0" dirty="0">
                <a:solidFill>
                  <a:schemeClr val="tx1"/>
                </a:solidFill>
                <a:effectLst/>
              </a:rPr>
              <a:t> or manage servers. This third approach is </a:t>
            </a:r>
            <a:r>
              <a:rPr lang="en-US" b="0" i="0" kern="1200" dirty="0">
                <a:solidFill>
                  <a:schemeClr val="tx1"/>
                </a:solidFill>
                <a:effectLst/>
              </a:rPr>
              <a:t>often referred to as </a:t>
            </a:r>
            <a:r>
              <a:rPr lang="en-US" b="1" u="none" kern="1200" dirty="0">
                <a:solidFill>
                  <a:schemeClr val="tx1"/>
                </a:solidFill>
                <a:effectLst/>
              </a:rPr>
              <a:t>serverless</a:t>
            </a:r>
            <a:r>
              <a:rPr lang="en-US" b="1" i="0" kern="1200" dirty="0">
                <a:solidFill>
                  <a:schemeClr val="tx1"/>
                </a:solidFill>
                <a:effectLst/>
              </a:rPr>
              <a:t> computing</a:t>
            </a:r>
            <a:r>
              <a:rPr lang="en-US" b="0" i="0" kern="1200" dirty="0">
                <a:solidFill>
                  <a:schemeClr val="tx1"/>
                </a:solidFill>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AWS Lambda </a:t>
            </a:r>
            <a:r>
              <a:rPr lang="en-US" dirty="0"/>
              <a:t>is an event-driven, serverless compute service. </a:t>
            </a:r>
            <a:r>
              <a:rPr lang="en-US" b="0" i="0" kern="1200" dirty="0">
                <a:solidFill>
                  <a:schemeClr val="tx1"/>
                </a:solidFill>
                <a:effectLst/>
                <a:latin typeface="+mn-lt"/>
                <a:ea typeface="+mn-ea"/>
                <a:cs typeface="+mn-cs"/>
              </a:rPr>
              <a:t>Lambda enables you to run code without provisioning or managing servers.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mn-lt"/>
                <a:ea typeface="+mn-ea"/>
                <a:cs typeface="+mn-cs"/>
              </a:rPr>
              <a:t>You create a</a:t>
            </a:r>
            <a:r>
              <a:rPr lang="en-US" b="1" i="0" kern="1200" dirty="0">
                <a:solidFill>
                  <a:schemeClr val="tx1"/>
                </a:solidFill>
                <a:effectLst/>
                <a:latin typeface="+mn-lt"/>
                <a:ea typeface="+mn-ea"/>
                <a:cs typeface="+mn-cs"/>
              </a:rPr>
              <a:t> Lambda function</a:t>
            </a:r>
            <a:r>
              <a:rPr lang="en-US" b="0" i="0" kern="1200" dirty="0">
                <a:solidFill>
                  <a:schemeClr val="tx1"/>
                </a:solidFill>
                <a:effectLst/>
                <a:latin typeface="+mn-lt"/>
                <a:ea typeface="+mn-ea"/>
                <a:cs typeface="+mn-cs"/>
              </a:rPr>
              <a:t>, which is the AWS resource that contains the code that you upload. You then set the Lambda function to be triggered, either on a scheduled</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basis</a:t>
            </a:r>
            <a:r>
              <a:rPr lang="en-US" b="0" i="0" kern="1200" baseline="0" dirty="0">
                <a:solidFill>
                  <a:schemeClr val="tx1"/>
                </a:solidFill>
                <a:effectLst/>
                <a:latin typeface="+mn-lt"/>
                <a:ea typeface="+mn-ea"/>
                <a:cs typeface="+mn-cs"/>
              </a:rPr>
              <a:t> </a:t>
            </a:r>
            <a:r>
              <a:rPr lang="en-US" b="0" i="0" kern="1200" dirty="0">
                <a:solidFill>
                  <a:schemeClr val="tx1"/>
                </a:solidFill>
                <a:effectLst/>
                <a:latin typeface="+mn-lt"/>
                <a:ea typeface="+mn-ea"/>
                <a:cs typeface="+mn-cs"/>
              </a:rPr>
              <a:t>or in response to an event. Your code only runs when it is triggered.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mn-lt"/>
                <a:ea typeface="+mn-ea"/>
                <a:cs typeface="+mn-cs"/>
              </a:rPr>
              <a:t>You </a:t>
            </a:r>
            <a:r>
              <a:rPr lang="en-US" b="1" i="0" kern="1200" dirty="0">
                <a:solidFill>
                  <a:schemeClr val="tx1"/>
                </a:solidFill>
                <a:effectLst/>
                <a:latin typeface="+mn-lt"/>
                <a:ea typeface="+mn-ea"/>
                <a:cs typeface="+mn-cs"/>
              </a:rPr>
              <a:t>pay only for the compute time you consume</a:t>
            </a:r>
            <a:r>
              <a:rPr lang="en-US" b="0" i="0" kern="1200" dirty="0">
                <a:solidFill>
                  <a:schemeClr val="tx1"/>
                </a:solidFill>
                <a:effectLst/>
                <a:latin typeface="+mn-lt"/>
                <a:ea typeface="+mn-ea"/>
                <a:cs typeface="+mn-cs"/>
              </a:rPr>
              <a:t>—you</a:t>
            </a:r>
            <a:r>
              <a:rPr lang="en-US" b="0" i="0" kern="1200" baseline="0" dirty="0">
                <a:solidFill>
                  <a:schemeClr val="tx1"/>
                </a:solidFill>
                <a:effectLst/>
                <a:latin typeface="+mn-lt"/>
                <a:ea typeface="+mn-ea"/>
                <a:cs typeface="+mn-cs"/>
              </a:rPr>
              <a:t> are not</a:t>
            </a:r>
            <a:r>
              <a:rPr lang="en-US" b="0" i="0" kern="1200" dirty="0">
                <a:solidFill>
                  <a:schemeClr val="tx1"/>
                </a:solidFill>
                <a:effectLst/>
                <a:latin typeface="+mn-lt"/>
                <a:ea typeface="+mn-ea"/>
                <a:cs typeface="+mn-cs"/>
              </a:rPr>
              <a:t> charged when your code is not running.</a:t>
            </a:r>
            <a:endParaRPr lang="en-US" dirty="0"/>
          </a:p>
          <a:p>
            <a:pPr defTabSz="913395">
              <a:defRPr/>
            </a:pPr>
            <a:endParaRPr kumimoji="0" lang="en-US" b="0" i="0" u="none" strike="noStrike" kern="1200" cap="none" spc="0" normalizeH="0" baseline="0" noProof="0" dirty="0">
              <a:ln>
                <a:noFill/>
              </a:ln>
              <a:solidFill>
                <a:prstClr val="black"/>
              </a:solidFill>
              <a:effectLst/>
              <a:uLnTx/>
              <a:uFillTx/>
              <a:latin typeface="+mn-lt"/>
              <a:ea typeface="+mn-ea"/>
              <a:cs typeface="+mn-cs"/>
            </a:endParaRPr>
          </a:p>
          <a:p>
            <a:pPr defTabSz="913395">
              <a:defRPr/>
            </a:pPr>
            <a:endParaRPr kumimoji="0" lang="en-US" b="0" i="0" u="none" strike="noStrike" kern="1200" cap="none" spc="0" normalizeH="0" baseline="0" noProof="0" dirty="0">
              <a:ln>
                <a:noFill/>
              </a:ln>
              <a:solidFill>
                <a:prstClr val="black"/>
              </a:solidFill>
              <a:effectLst/>
              <a:uLnTx/>
              <a:uFillTx/>
              <a:latin typeface="Calibri" panose="020F0502020204030204" pitchFamily="34" charset="0"/>
              <a:ea typeface="+mn-ea"/>
              <a:cs typeface="+mn-cs"/>
            </a:endParaRPr>
          </a:p>
          <a:p>
            <a:endParaRPr lang="en-US" dirty="0"/>
          </a:p>
        </p:txBody>
      </p:sp>
    </p:spTree>
    <p:extLst>
      <p:ext uri="{BB962C8B-B14F-4D97-AF65-F5344CB8AC3E}">
        <p14:creationId xmlns:p14="http://schemas.microsoft.com/office/powerpoint/2010/main" val="3569293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680784"/>
          </a:xfrm>
        </p:spPr>
        <p:txBody>
          <a:bodyPr/>
          <a:lstStyle/>
          <a:p>
            <a:pPr lvl="0"/>
            <a:r>
              <a:rPr lang="en-US" dirty="0"/>
              <a:t>With Lambda, there are no new languages, tools, or frameworks to learn. Lambda </a:t>
            </a:r>
            <a:r>
              <a:rPr lang="en-US" b="1" dirty="0"/>
              <a:t>supports multiple programming languages</a:t>
            </a:r>
            <a:r>
              <a:rPr lang="en-US" dirty="0"/>
              <a:t>, including Java, Go, PowerShell, Node.js, C#, Python, and Ruby. Your code can use any library, either native or third-party. </a:t>
            </a:r>
            <a:br>
              <a:rPr lang="en-US" dirty="0"/>
            </a:br>
            <a:endParaRPr lang="en-US" dirty="0"/>
          </a:p>
          <a:p>
            <a:r>
              <a:rPr lang="en-US" dirty="0"/>
              <a:t>Lambda </a:t>
            </a:r>
            <a:r>
              <a:rPr lang="en-US" b="1" dirty="0"/>
              <a:t>completely automates the administration</a:t>
            </a:r>
            <a:r>
              <a:rPr lang="en-US" dirty="0"/>
              <a:t>. It manages all the infrastructure to run your code on highly available, fault-tolerant infrastructure, which enables you to focus on building differentiated backend services. Lambda seamlessly deploys your code; does all the administration, maintenance, and security patches; and provides built-in logging and monitoring through Amazon CloudWatch.</a:t>
            </a:r>
            <a:br>
              <a:rPr lang="en-US" dirty="0"/>
            </a:br>
            <a:endParaRPr lang="en-US" dirty="0"/>
          </a:p>
          <a:p>
            <a:r>
              <a:rPr lang="en-US" dirty="0"/>
              <a:t>Lambda provides </a:t>
            </a:r>
            <a:r>
              <a:rPr lang="en-US" b="1" dirty="0"/>
              <a:t>built-in fault tolerance</a:t>
            </a:r>
            <a:r>
              <a:rPr lang="en-US" dirty="0"/>
              <a:t>. It maintains compute capacity across multiple Availability Zones in each Region to help protect your code against individual machine failures or data center failures. There are no maintenance windows or scheduled downtimes.</a:t>
            </a:r>
            <a:br>
              <a:rPr lang="en-US" dirty="0"/>
            </a:br>
            <a:endParaRPr lang="en-US" dirty="0"/>
          </a:p>
          <a:p>
            <a:r>
              <a:rPr lang="en-US" dirty="0"/>
              <a:t>You can </a:t>
            </a:r>
            <a:r>
              <a:rPr lang="en-US" b="1" dirty="0"/>
              <a:t>orchestrate multiple Lambda functions </a:t>
            </a:r>
            <a:r>
              <a:rPr lang="en-US" dirty="0"/>
              <a:t>for complex or long-running tasks by building workflows with AWS Step Functions. Use Step Functions to define workflows. These workflows trigger a collection of Lambda functions by using sequential, parallel, branching, and error-handling steps. With Step Functions and Lambda, you can build stateful, long-running processes for applications and backends.</a:t>
            </a:r>
            <a:br>
              <a:rPr lang="en-US" dirty="0"/>
            </a:br>
            <a:endParaRPr lang="en-US" dirty="0"/>
          </a:p>
          <a:p>
            <a:r>
              <a:rPr lang="en-US" dirty="0"/>
              <a:t>With Lambda, you </a:t>
            </a:r>
            <a:r>
              <a:rPr lang="en-US" b="1" dirty="0"/>
              <a:t>pay only for the requests that are served and the compute time that is required to run your code</a:t>
            </a:r>
            <a:r>
              <a:rPr lang="en-US" dirty="0"/>
              <a:t>. Billing is metered in increments of 100 milliseconds, which make it cost-effective and easy to scale automatically from a few requests per day to thousands of requests per second.</a:t>
            </a:r>
          </a:p>
          <a:p>
            <a:endParaRPr lang="en-US" dirty="0"/>
          </a:p>
        </p:txBody>
      </p:sp>
      <p:sp>
        <p:nvSpPr>
          <p:cNvPr id="5" name="Slide Image Placeholder 4">
            <a:extLst>
              <a:ext uri="{FF2B5EF4-FFF2-40B4-BE49-F238E27FC236}">
                <a16:creationId xmlns:a16="http://schemas.microsoft.com/office/drawing/2014/main" id="{B1C57D05-97E2-25A6-B028-BA97531639A0}"/>
              </a:ext>
            </a:extLst>
          </p:cNvPr>
          <p:cNvSpPr>
            <a:spLocks noGrp="1" noRot="1" noChangeAspect="1"/>
          </p:cNvSpPr>
          <p:nvPr>
            <p:ph type="sldImg"/>
          </p:nvPr>
        </p:nvSpPr>
        <p:spPr/>
      </p:sp>
    </p:spTree>
    <p:extLst>
      <p:ext uri="{BB962C8B-B14F-4D97-AF65-F5344CB8AC3E}">
        <p14:creationId xmlns:p14="http://schemas.microsoft.com/office/powerpoint/2010/main" val="26520298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0421E-1EB4-878D-E496-5D31FEF7B508}"/>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9281BCB0-3CA7-EDFF-AF1C-C63B0088D0B4}"/>
              </a:ext>
            </a:extLst>
          </p:cNvPr>
          <p:cNvSpPr>
            <a:spLocks noGrp="1"/>
          </p:cNvSpPr>
          <p:nvPr>
            <p:ph type="body" idx="1"/>
          </p:nvPr>
        </p:nvSpPr>
        <p:spPr>
          <a:xfrm>
            <a:off x="777875" y="4840288"/>
            <a:ext cx="6216650" cy="4680784"/>
          </a:xfrm>
        </p:spPr>
        <p:txBody>
          <a:bodyPr/>
          <a:lstStyle/>
          <a:p>
            <a:pPr lvl="0"/>
            <a:r>
              <a:rPr lang="en-US" dirty="0"/>
              <a:t>With Lambda, there are no new languages, tools, or frameworks to learn. Lambda </a:t>
            </a:r>
            <a:r>
              <a:rPr lang="en-US" b="1" dirty="0"/>
              <a:t>supports multiple programming languages</a:t>
            </a:r>
            <a:r>
              <a:rPr lang="en-US" dirty="0"/>
              <a:t>, including Java, Go, PowerShell, Node.js, C#, Python, and Ruby. Your code can use any library, either native or third-party. </a:t>
            </a:r>
            <a:br>
              <a:rPr lang="en-US" dirty="0"/>
            </a:br>
            <a:endParaRPr lang="en-US" dirty="0"/>
          </a:p>
          <a:p>
            <a:r>
              <a:rPr lang="en-US" dirty="0"/>
              <a:t>Lambda </a:t>
            </a:r>
            <a:r>
              <a:rPr lang="en-US" b="1" dirty="0"/>
              <a:t>completely automates the administration</a:t>
            </a:r>
            <a:r>
              <a:rPr lang="en-US" dirty="0"/>
              <a:t>. It manages all the infrastructure to run your code on highly available, fault-tolerant infrastructure, which enables you to focus on building differentiated backend services. Lambda seamlessly deploys your code; does all the administration, maintenance, and security patches; and provides built-in logging and monitoring through Amazon CloudWatch.</a:t>
            </a:r>
            <a:br>
              <a:rPr lang="en-US" dirty="0"/>
            </a:br>
            <a:endParaRPr lang="en-US" dirty="0"/>
          </a:p>
          <a:p>
            <a:r>
              <a:rPr lang="en-US" dirty="0"/>
              <a:t>Lambda provides </a:t>
            </a:r>
            <a:r>
              <a:rPr lang="en-US" b="1" dirty="0"/>
              <a:t>built-in fault tolerance</a:t>
            </a:r>
            <a:r>
              <a:rPr lang="en-US" dirty="0"/>
              <a:t>. It maintains compute capacity across multiple Availability Zones in each Region to help protect your code against individual machine failures or data center failures. There are no maintenance windows or scheduled downtimes.</a:t>
            </a:r>
            <a:br>
              <a:rPr lang="en-US" dirty="0"/>
            </a:br>
            <a:endParaRPr lang="en-US" dirty="0"/>
          </a:p>
          <a:p>
            <a:r>
              <a:rPr lang="en-US" dirty="0"/>
              <a:t>You can </a:t>
            </a:r>
            <a:r>
              <a:rPr lang="en-US" b="1" dirty="0"/>
              <a:t>orchestrate multiple Lambda functions </a:t>
            </a:r>
            <a:r>
              <a:rPr lang="en-US" dirty="0"/>
              <a:t>for complex or long-running tasks by building workflows with AWS Step Functions. Use Step Functions to define workflows. These workflows trigger a collection of Lambda functions by using sequential, parallel, branching, and error-handling steps. With Step Functions and Lambda, you can build stateful, long-running processes for applications and backends.</a:t>
            </a:r>
            <a:br>
              <a:rPr lang="en-US" dirty="0"/>
            </a:br>
            <a:endParaRPr lang="en-US" dirty="0"/>
          </a:p>
          <a:p>
            <a:r>
              <a:rPr lang="en-US" dirty="0"/>
              <a:t>With Lambda, you </a:t>
            </a:r>
            <a:r>
              <a:rPr lang="en-US" b="1" dirty="0"/>
              <a:t>pay only for the requests that are served and the compute time that is required to run your code</a:t>
            </a:r>
            <a:r>
              <a:rPr lang="en-US" dirty="0"/>
              <a:t>. Billing is metered in increments of 100 milliseconds, which make it cost-effective and easy to scale automatically from a few requests per day to thousands of requests per second.</a:t>
            </a:r>
          </a:p>
          <a:p>
            <a:endParaRPr lang="en-US" dirty="0"/>
          </a:p>
        </p:txBody>
      </p:sp>
      <p:sp>
        <p:nvSpPr>
          <p:cNvPr id="5" name="Slide Image Placeholder 4">
            <a:extLst>
              <a:ext uri="{FF2B5EF4-FFF2-40B4-BE49-F238E27FC236}">
                <a16:creationId xmlns:a16="http://schemas.microsoft.com/office/drawing/2014/main" id="{56008007-571A-EE15-7B08-7CA2CC136C15}"/>
              </a:ext>
            </a:extLst>
          </p:cNvPr>
          <p:cNvSpPr>
            <a:spLocks noGrp="1" noRot="1" noChangeAspect="1"/>
          </p:cNvSpPr>
          <p:nvPr>
            <p:ph type="sldImg"/>
          </p:nvPr>
        </p:nvSpPr>
        <p:spPr/>
      </p:sp>
    </p:spTree>
    <p:extLst>
      <p:ext uri="{BB962C8B-B14F-4D97-AF65-F5344CB8AC3E}">
        <p14:creationId xmlns:p14="http://schemas.microsoft.com/office/powerpoint/2010/main" val="17462477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925881"/>
          </a:xfrm>
        </p:spPr>
        <p:txBody>
          <a:bodyPr/>
          <a:lstStyle/>
          <a:p>
            <a:r>
              <a:rPr lang="en-US" dirty="0"/>
              <a:t>An </a:t>
            </a:r>
            <a:r>
              <a:rPr lang="en-US" b="1" dirty="0"/>
              <a:t>event source </a:t>
            </a:r>
            <a:r>
              <a:rPr lang="en-US" dirty="0"/>
              <a:t>is an AWS service or a developer-created application that produces events that trigger an AWS Lambda function to run. </a:t>
            </a:r>
          </a:p>
          <a:p>
            <a:endParaRPr lang="en-US" dirty="0"/>
          </a:p>
          <a:p>
            <a:r>
              <a:rPr lang="en-US" dirty="0"/>
              <a:t>Some services publish events to Lambda by invoking the Lambda function directly. These services that invoke Lambda functions </a:t>
            </a:r>
            <a:r>
              <a:rPr lang="en-US" b="1" dirty="0"/>
              <a:t>asynchronously</a:t>
            </a:r>
            <a:r>
              <a:rPr lang="en-US" dirty="0"/>
              <a:t> include, but are not limited to, Amazon S3, Amazon Simple Notification Service (Amazon SNS), and Amazon CloudWatch Events. </a:t>
            </a:r>
          </a:p>
          <a:p>
            <a:endParaRPr lang="en-US" dirty="0"/>
          </a:p>
          <a:p>
            <a:r>
              <a:rPr lang="en-US" dirty="0"/>
              <a:t>Lambda can also poll resources in other services that do not publish events to Lambda. For example, Lambda can pull records from an </a:t>
            </a:r>
            <a:r>
              <a:rPr lang="en-US" b="1" dirty="0"/>
              <a:t>Amazon Simple Queue Service (Amazon SQS) </a:t>
            </a:r>
            <a:r>
              <a:rPr lang="en-US" dirty="0"/>
              <a:t>queue and run a Lambda function for each fetched message. Lambda can similarly read events from </a:t>
            </a:r>
            <a:r>
              <a:rPr lang="en-US" b="1" dirty="0"/>
              <a:t>Amazon DynamoDB</a:t>
            </a:r>
            <a:r>
              <a:rPr lang="en-US" dirty="0"/>
              <a:t>. </a:t>
            </a:r>
          </a:p>
          <a:p>
            <a:endParaRPr lang="en-US" dirty="0"/>
          </a:p>
          <a:p>
            <a:r>
              <a:rPr lang="en-US" dirty="0"/>
              <a:t>Some services, such as Elastic Load Balancing (Application Load Balancer) and Amazon API Gateway can </a:t>
            </a:r>
            <a:r>
              <a:rPr lang="en-US" b="1" dirty="0"/>
              <a:t>invoke your Lambda function directly</a:t>
            </a:r>
            <a:r>
              <a:rPr lang="en-US" dirty="0"/>
              <a:t>.</a:t>
            </a:r>
          </a:p>
          <a:p>
            <a:endParaRPr lang="en-US" dirty="0"/>
          </a:p>
          <a:p>
            <a:r>
              <a:rPr lang="en-US" dirty="0"/>
              <a:t>You can invoke Lambda functions directly with the Lambda console, the Lambda API, the AWS software development kit (SDK), the AWS CLI, and AWS toolkits. The direct invocation approach can be useful, such as when you are developing a mobile app and want the app to call Lambda functions. See the Using Lambda with Other Services documentation at </a:t>
            </a:r>
            <a:r>
              <a:rPr lang="en-GB" dirty="0">
                <a:hlinkClick r:id="rId3"/>
              </a:rPr>
              <a:t>https://</a:t>
            </a:r>
            <a:r>
              <a:rPr lang="en-GB" dirty="0" err="1">
                <a:hlinkClick r:id="rId3"/>
              </a:rPr>
              <a:t>docs.aws.amazon.com</a:t>
            </a:r>
            <a:r>
              <a:rPr lang="en-GB" dirty="0">
                <a:hlinkClick r:id="rId3"/>
              </a:rPr>
              <a:t>/lambda/latest/dg/lambda-</a:t>
            </a:r>
            <a:r>
              <a:rPr lang="en-GB" dirty="0" err="1">
                <a:hlinkClick r:id="rId3"/>
              </a:rPr>
              <a:t>services.html</a:t>
            </a:r>
            <a:r>
              <a:rPr lang="en-GB" dirty="0"/>
              <a:t> </a:t>
            </a:r>
            <a:r>
              <a:rPr lang="en-US" dirty="0"/>
              <a:t>for further details about all supported services.</a:t>
            </a:r>
          </a:p>
          <a:p>
            <a:endParaRPr lang="en-US" dirty="0"/>
          </a:p>
          <a:p>
            <a:r>
              <a:rPr lang="en-US" b="1" dirty="0"/>
              <a:t>AWS Lambda automatically monitors Lambda functions by using Amazon CloudWatch</a:t>
            </a:r>
            <a:r>
              <a:rPr lang="en-US" dirty="0"/>
              <a:t>. To help you troubleshoot failures in a function, Lambda logs all requests that are handled by your function. It also </a:t>
            </a:r>
            <a:r>
              <a:rPr lang="en-US" b="1" dirty="0"/>
              <a:t>automatically stores logs that are generated by your code </a:t>
            </a:r>
            <a:r>
              <a:rPr lang="en-US" dirty="0"/>
              <a:t>through Amazon CloudWatch Logs. </a:t>
            </a:r>
          </a:p>
        </p:txBody>
      </p:sp>
      <p:sp>
        <p:nvSpPr>
          <p:cNvPr id="5" name="Slide Image Placeholder 4">
            <a:extLst>
              <a:ext uri="{FF2B5EF4-FFF2-40B4-BE49-F238E27FC236}">
                <a16:creationId xmlns:a16="http://schemas.microsoft.com/office/drawing/2014/main" id="{9E15DB12-06A6-33DF-B45B-BB3AF77FB4FF}"/>
              </a:ext>
            </a:extLst>
          </p:cNvPr>
          <p:cNvSpPr>
            <a:spLocks noGrp="1" noRot="1" noChangeAspect="1"/>
          </p:cNvSpPr>
          <p:nvPr>
            <p:ph type="sldImg"/>
          </p:nvPr>
        </p:nvSpPr>
        <p:spPr/>
      </p:sp>
    </p:spTree>
    <p:extLst>
      <p:ext uri="{BB962C8B-B14F-4D97-AF65-F5344CB8AC3E}">
        <p14:creationId xmlns:p14="http://schemas.microsoft.com/office/powerpoint/2010/main" val="380324961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633650"/>
          </a:xfrm>
        </p:spPr>
        <p:txBody>
          <a:bodyPr/>
          <a:lstStyle/>
          <a:p>
            <a:r>
              <a:rPr lang="en-US" dirty="0"/>
              <a:t>Remember that a Lambda function is the custom code that you write to process events, and that Lambda runs the Lambda function on your behalf. </a:t>
            </a:r>
          </a:p>
          <a:p>
            <a:endParaRPr lang="en-US" dirty="0"/>
          </a:p>
          <a:p>
            <a:r>
              <a:rPr lang="en-US" dirty="0"/>
              <a:t>When you use the AWS Management Console to create a </a:t>
            </a:r>
            <a:r>
              <a:rPr lang="en-US" b="1" dirty="0"/>
              <a:t>Lambda function</a:t>
            </a:r>
            <a:r>
              <a:rPr lang="en-US" dirty="0"/>
              <a:t>, you first give the function a name. Then, you specify:</a:t>
            </a:r>
          </a:p>
          <a:p>
            <a:pPr marL="171450" indent="-171450">
              <a:buFont typeface="Arial" panose="020B0604020202020204" pitchFamily="34" charset="0"/>
              <a:buChar char="•"/>
            </a:pPr>
            <a:r>
              <a:rPr lang="en-US" dirty="0"/>
              <a:t>The </a:t>
            </a:r>
            <a:r>
              <a:rPr lang="en-US" b="1" dirty="0"/>
              <a:t>runtime environment </a:t>
            </a:r>
            <a:r>
              <a:rPr lang="en-US" dirty="0"/>
              <a:t>the function will use (for example, a version of Python or Node.js)</a:t>
            </a:r>
          </a:p>
          <a:p>
            <a:pPr marL="171450" indent="-171450">
              <a:buFont typeface="Arial" panose="020B0604020202020204" pitchFamily="34" charset="0"/>
              <a:buChar char="•"/>
            </a:pPr>
            <a:r>
              <a:rPr lang="en-US" dirty="0"/>
              <a:t>An </a:t>
            </a:r>
            <a:r>
              <a:rPr lang="en-US" b="1" dirty="0"/>
              <a:t>execution role </a:t>
            </a:r>
            <a:r>
              <a:rPr lang="en-US" dirty="0"/>
              <a:t>(to grant IAM permission to the function so that it can interact with other AWS services as necessary)</a:t>
            </a:r>
          </a:p>
          <a:p>
            <a:endParaRPr lang="en-US" dirty="0"/>
          </a:p>
          <a:p>
            <a:r>
              <a:rPr lang="en-US" dirty="0"/>
              <a:t>Next, after you click </a:t>
            </a:r>
            <a:r>
              <a:rPr lang="en-US" b="1" dirty="0"/>
              <a:t>Create Function</a:t>
            </a:r>
            <a:r>
              <a:rPr lang="en-US" dirty="0"/>
              <a:t>, you configure the function. Configurations include:</a:t>
            </a:r>
          </a:p>
          <a:p>
            <a:pPr marL="171450" indent="-171450">
              <a:buFont typeface="Arial" panose="020B0604020202020204" pitchFamily="34" charset="0"/>
              <a:buChar char="•"/>
            </a:pPr>
            <a:r>
              <a:rPr lang="en-US" dirty="0"/>
              <a:t>Add a </a:t>
            </a:r>
            <a:r>
              <a:rPr lang="en-US" b="1" dirty="0"/>
              <a:t>trigger</a:t>
            </a:r>
            <a:r>
              <a:rPr lang="en-US" dirty="0"/>
              <a:t> (specify one of the available </a:t>
            </a:r>
            <a:r>
              <a:rPr lang="en-US" b="1" dirty="0"/>
              <a:t>event sources </a:t>
            </a:r>
            <a:r>
              <a:rPr lang="en-US" dirty="0"/>
              <a:t>from the previous slide)</a:t>
            </a:r>
          </a:p>
          <a:p>
            <a:pPr marL="171450" indent="-171450">
              <a:buFont typeface="Arial" panose="020B0604020202020204" pitchFamily="34" charset="0"/>
              <a:buChar char="•"/>
            </a:pPr>
            <a:r>
              <a:rPr lang="en-US" dirty="0"/>
              <a:t>Add your </a:t>
            </a:r>
            <a:r>
              <a:rPr lang="en-US" b="1" dirty="0"/>
              <a:t>function code </a:t>
            </a:r>
            <a:r>
              <a:rPr lang="en-US" dirty="0"/>
              <a:t>(use the provided code editor or upload a file that contains your code)</a:t>
            </a:r>
          </a:p>
          <a:p>
            <a:pPr marL="171450" indent="-171450">
              <a:buFont typeface="Arial" panose="020B0604020202020204" pitchFamily="34" charset="0"/>
              <a:buChar char="•"/>
            </a:pPr>
            <a:r>
              <a:rPr lang="en-US" dirty="0"/>
              <a:t>Specify the </a:t>
            </a:r>
            <a:r>
              <a:rPr lang="en-US" b="1" dirty="0"/>
              <a:t>memory</a:t>
            </a:r>
            <a:r>
              <a:rPr lang="en-US" dirty="0"/>
              <a:t> in MB to allocate to your function (128 MB to 10,240 MB)</a:t>
            </a:r>
          </a:p>
          <a:p>
            <a:pPr marL="171450" lvl="0" indent="-171450">
              <a:buFont typeface="Arial" panose="020B0604020202020204" pitchFamily="34" charset="0"/>
              <a:buChar char="•"/>
            </a:pPr>
            <a:r>
              <a:rPr lang="en-US" dirty="0"/>
              <a:t>Optionally specify environment variables, description, timeout, the specific virtual private cloud (VPC) to run the function in, tags you would like to use, and other settings. For more information, see Configuring functions in the AWS Lambda console </a:t>
            </a:r>
            <a:r>
              <a:rPr lang="en-GB" dirty="0">
                <a:hlinkClick r:id="rId3"/>
              </a:rPr>
              <a:t>https://</a:t>
            </a:r>
            <a:r>
              <a:rPr lang="en-GB" dirty="0" err="1">
                <a:hlinkClick r:id="rId3"/>
              </a:rPr>
              <a:t>docs.aws.amazon.com</a:t>
            </a:r>
            <a:r>
              <a:rPr lang="en-GB" dirty="0">
                <a:hlinkClick r:id="rId3"/>
              </a:rPr>
              <a:t>/lambda/latest/dg/configuration-</a:t>
            </a:r>
            <a:r>
              <a:rPr lang="en-GB" dirty="0" err="1">
                <a:hlinkClick r:id="rId3"/>
              </a:rPr>
              <a:t>console.html</a:t>
            </a:r>
            <a:r>
              <a:rPr lang="en-US" b="1" dirty="0"/>
              <a:t> </a:t>
            </a:r>
            <a:r>
              <a:rPr lang="en-US" dirty="0"/>
              <a:t>in the AWS Documentation.</a:t>
            </a:r>
          </a:p>
          <a:p>
            <a:endParaRPr lang="en-US" dirty="0"/>
          </a:p>
          <a:p>
            <a:r>
              <a:rPr lang="en-US" dirty="0"/>
              <a:t>All of the above settings end up in a </a:t>
            </a:r>
            <a:r>
              <a:rPr lang="en-US" b="1" dirty="0"/>
              <a:t>Lambda deployment package </a:t>
            </a:r>
            <a:r>
              <a:rPr lang="en-US" dirty="0"/>
              <a:t>which is a ZIP archive that contains your function code and dependencies. When you use the Lambda console to author your function, the console manages the package for you. However, you need to create a deployment package if you use the Lambda API to manage functions.</a:t>
            </a:r>
          </a:p>
          <a:p>
            <a:endParaRPr lang="en-US" dirty="0"/>
          </a:p>
        </p:txBody>
      </p:sp>
      <p:sp>
        <p:nvSpPr>
          <p:cNvPr id="5" name="Slide Image Placeholder 4">
            <a:extLst>
              <a:ext uri="{FF2B5EF4-FFF2-40B4-BE49-F238E27FC236}">
                <a16:creationId xmlns:a16="http://schemas.microsoft.com/office/drawing/2014/main" id="{3473ABC3-19F9-790F-D81A-13902238B929}"/>
              </a:ext>
            </a:extLst>
          </p:cNvPr>
          <p:cNvSpPr>
            <a:spLocks noGrp="1" noRot="1" noChangeAspect="1"/>
          </p:cNvSpPr>
          <p:nvPr>
            <p:ph type="sldImg"/>
          </p:nvPr>
        </p:nvSpPr>
        <p:spPr/>
      </p:sp>
    </p:spTree>
    <p:extLst>
      <p:ext uri="{BB962C8B-B14F-4D97-AF65-F5344CB8AC3E}">
        <p14:creationId xmlns:p14="http://schemas.microsoft.com/office/powerpoint/2010/main" val="5530177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Now, consider an example use case for an event-based Lambda function. Suppose that you want to create a thumbnail for each image (.jpg or .png object) that is uploaded to an S3 bucket. </a:t>
            </a:r>
          </a:p>
          <a:p>
            <a:endParaRPr lang="en-US" dirty="0"/>
          </a:p>
          <a:p>
            <a:r>
              <a:rPr lang="en-US" dirty="0"/>
              <a:t>To build a solution, you can create a Lambda function that Amazon S3 invokes when objects are uploaded. Then, the Lambda function reads the image object from the source bucket and creates a thumbnail image in a target bucket. Here’s how it works:</a:t>
            </a:r>
          </a:p>
          <a:p>
            <a:pPr marL="228600" indent="-228600">
              <a:buFont typeface="+mj-lt"/>
              <a:buAutoNum type="arabicPeriod"/>
            </a:pPr>
            <a:r>
              <a:rPr lang="en-US" dirty="0"/>
              <a:t>A user uploads an object to the source bucket in Amazon S3 (object-created event).</a:t>
            </a:r>
          </a:p>
          <a:p>
            <a:pPr marL="228600" indent="-228600">
              <a:buFont typeface="+mj-lt"/>
              <a:buAutoNum type="arabicPeriod"/>
            </a:pPr>
            <a:r>
              <a:rPr lang="en-US" dirty="0"/>
              <a:t>Amazon S3 detects the object-created event.</a:t>
            </a:r>
          </a:p>
          <a:p>
            <a:pPr marL="228600" indent="-228600">
              <a:buFont typeface="+mj-lt"/>
              <a:buAutoNum type="arabicPeriod"/>
            </a:pPr>
            <a:r>
              <a:rPr lang="en-US" dirty="0"/>
              <a:t>Amazon S3 publishes the object-created event to Lambda by invoking the Lambda function and passing event data.</a:t>
            </a:r>
          </a:p>
          <a:p>
            <a:pPr marL="228600" indent="-228600">
              <a:buFont typeface="+mj-lt"/>
              <a:buAutoNum type="arabicPeriod"/>
            </a:pPr>
            <a:r>
              <a:rPr lang="en-US" dirty="0"/>
              <a:t>Lambda runs the Lambda function by assuming the execution role that you specified when you created the Lambda function.</a:t>
            </a:r>
          </a:p>
          <a:p>
            <a:pPr marL="228600" indent="-228600">
              <a:buFont typeface="+mj-lt"/>
              <a:buAutoNum type="arabicPeriod"/>
            </a:pPr>
            <a:r>
              <a:rPr lang="en-US" dirty="0"/>
              <a:t>Based the event data that the Lambda function receives, it knows the source bucket name and object key name. The Lambda function reads the object and creates a thumbnail by using graphics libraries, and saves the thumbnail to the target bucket.</a:t>
            </a:r>
          </a:p>
        </p:txBody>
      </p:sp>
      <p:sp>
        <p:nvSpPr>
          <p:cNvPr id="5" name="Slide Image Placeholder 4">
            <a:extLst>
              <a:ext uri="{FF2B5EF4-FFF2-40B4-BE49-F238E27FC236}">
                <a16:creationId xmlns:a16="http://schemas.microsoft.com/office/drawing/2014/main" id="{113398BA-5ADA-D87D-736A-7B87590062A2}"/>
              </a:ext>
            </a:extLst>
          </p:cNvPr>
          <p:cNvSpPr>
            <a:spLocks noGrp="1" noRot="1" noChangeAspect="1"/>
          </p:cNvSpPr>
          <p:nvPr>
            <p:ph type="sldImg"/>
          </p:nvPr>
        </p:nvSpPr>
        <p:spPr/>
      </p:sp>
    </p:spTree>
    <p:extLst>
      <p:ext uri="{BB962C8B-B14F-4D97-AF65-F5344CB8AC3E}">
        <p14:creationId xmlns:p14="http://schemas.microsoft.com/office/powerpoint/2010/main" val="36758358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7"/>
            <a:ext cx="6216650" cy="4907027"/>
          </a:xfrm>
        </p:spPr>
        <p:txBody>
          <a:bodyPr/>
          <a:lstStyle/>
          <a:p>
            <a:r>
              <a:rPr lang="en-US" dirty="0"/>
              <a:t>AWS Lambda does have some quotas that you should know about when you create and deploy Lambda functions. </a:t>
            </a:r>
          </a:p>
          <a:p>
            <a:endParaRPr lang="en-US" dirty="0"/>
          </a:p>
          <a:p>
            <a:r>
              <a:rPr lang="en-US" dirty="0"/>
              <a:t>AWS Lambda limits the amount of compute and storage resources that you can use to run and store functions. For example, as of this writing, the maximum memory allocation for a single Lambda function is 10,240 MB. It also has limits of 1,000 concurrent executions in a Region. Lambda functions can be configured to run up to 15 minutes per run. You can set the timeout to any value between 1 second and 15 minutes. If you are troubleshooting a Lambda deployment, keep these limits in mind. </a:t>
            </a:r>
          </a:p>
          <a:p>
            <a:endParaRPr lang="en-US" dirty="0"/>
          </a:p>
          <a:p>
            <a:r>
              <a:rPr lang="en-US" dirty="0"/>
              <a:t>There are limits on the </a:t>
            </a:r>
            <a:r>
              <a:rPr lang="en-US" b="1" dirty="0"/>
              <a:t>deployment package size </a:t>
            </a:r>
            <a:r>
              <a:rPr lang="en-US" dirty="0"/>
              <a:t>of a function (250 MB). A </a:t>
            </a:r>
            <a:r>
              <a:rPr lang="en-US" b="1" dirty="0"/>
              <a:t>layer</a:t>
            </a:r>
            <a:r>
              <a:rPr lang="en-US" dirty="0"/>
              <a:t> is a ZIP archive that contains libraries, a custom runtime, or other dependencies. With layers, you can use libraries in your function without needing to include them in your </a:t>
            </a:r>
            <a:r>
              <a:rPr lang="en-US" b="1" dirty="0"/>
              <a:t>deployment</a:t>
            </a:r>
            <a:r>
              <a:rPr lang="en-US" dirty="0"/>
              <a:t> </a:t>
            </a:r>
            <a:r>
              <a:rPr lang="en-US" b="1" dirty="0"/>
              <a:t>package</a:t>
            </a:r>
            <a:r>
              <a:rPr lang="en-US" dirty="0"/>
              <a:t>. Using layers can help avoid reaching the size limit for deployment package. Layers are also a good way to share code and data between Lambda functions.</a:t>
            </a:r>
          </a:p>
          <a:p>
            <a:endParaRPr lang="en-US" dirty="0"/>
          </a:p>
          <a:p>
            <a:r>
              <a:rPr lang="en-US" dirty="0"/>
              <a:t>For larger workloads that rely on sizable dependencies, such as machine learning or data intensive workloads, you can deploy your Lambda function to a container image up to 10 GB in size.</a:t>
            </a:r>
          </a:p>
          <a:p>
            <a:endParaRPr lang="en-US" dirty="0"/>
          </a:p>
          <a:p>
            <a:r>
              <a:rPr lang="en-US" dirty="0"/>
              <a:t>Limits are either soft or hard. </a:t>
            </a:r>
            <a:r>
              <a:rPr lang="en-US" b="1" dirty="0"/>
              <a:t>Soft limits </a:t>
            </a:r>
            <a:r>
              <a:rPr lang="en-US" dirty="0"/>
              <a:t>on an account can potentially be relaxed by submitting a support ticket and providing justification for the request. </a:t>
            </a:r>
            <a:r>
              <a:rPr lang="en-US" b="1" dirty="0"/>
              <a:t>Hard limits </a:t>
            </a:r>
            <a:r>
              <a:rPr lang="en-US" dirty="0"/>
              <a:t>cannot be increased.</a:t>
            </a:r>
          </a:p>
          <a:p>
            <a:endParaRPr lang="en-US" dirty="0"/>
          </a:p>
          <a:p>
            <a:r>
              <a:rPr lang="en-US" dirty="0"/>
              <a:t>For the details on current AWS Lambda quotas, refer to the AWS Lambda quotas documentation at </a:t>
            </a:r>
            <a:r>
              <a:rPr lang="en-GB" dirty="0">
                <a:hlinkClick r:id="rId3"/>
              </a:rPr>
              <a:t>https://</a:t>
            </a:r>
            <a:r>
              <a:rPr lang="en-GB" dirty="0" err="1">
                <a:hlinkClick r:id="rId3"/>
              </a:rPr>
              <a:t>docs.aws.amazon.com</a:t>
            </a:r>
            <a:r>
              <a:rPr lang="en-GB" dirty="0">
                <a:hlinkClick r:id="rId3"/>
              </a:rPr>
              <a:t>/lambda/latest/dg/</a:t>
            </a:r>
            <a:r>
              <a:rPr lang="en-GB" dirty="0" err="1">
                <a:hlinkClick r:id="rId3"/>
              </a:rPr>
              <a:t>gettingstarted-limits.html</a:t>
            </a:r>
            <a:r>
              <a:rPr lang="en-US" dirty="0"/>
              <a:t>.</a:t>
            </a:r>
          </a:p>
        </p:txBody>
      </p:sp>
      <p:sp>
        <p:nvSpPr>
          <p:cNvPr id="5" name="Slide Image Placeholder 4">
            <a:extLst>
              <a:ext uri="{FF2B5EF4-FFF2-40B4-BE49-F238E27FC236}">
                <a16:creationId xmlns:a16="http://schemas.microsoft.com/office/drawing/2014/main" id="{01ACB88B-66AC-354F-D533-7E2BEEDB22F8}"/>
              </a:ext>
            </a:extLst>
          </p:cNvPr>
          <p:cNvSpPr>
            <a:spLocks noGrp="1" noRot="1" noChangeAspect="1"/>
          </p:cNvSpPr>
          <p:nvPr>
            <p:ph type="sldImg"/>
          </p:nvPr>
        </p:nvSpPr>
        <p:spPr/>
      </p:sp>
    </p:spTree>
    <p:extLst>
      <p:ext uri="{BB962C8B-B14F-4D97-AF65-F5344CB8AC3E}">
        <p14:creationId xmlns:p14="http://schemas.microsoft.com/office/powerpoint/2010/main" val="18423111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Some key takeaways from this section of the module include:</a:t>
            </a:r>
          </a:p>
          <a:p>
            <a:pPr marL="171450" lvl="0" indent="-171450">
              <a:buFont typeface="Arial" panose="020B0604020202020204" pitchFamily="34" charset="0"/>
              <a:buChar char="•"/>
            </a:pPr>
            <a:r>
              <a:rPr lang="en-US" dirty="0"/>
              <a:t>Serverless computing enables you to build and run applications and services without provisioning or managing servers. </a:t>
            </a:r>
          </a:p>
          <a:p>
            <a:pPr marL="171450" lvl="0" indent="-171450">
              <a:buFont typeface="Arial" panose="020B0604020202020204" pitchFamily="34" charset="0"/>
              <a:buChar char="•"/>
            </a:pPr>
            <a:r>
              <a:rPr lang="en-US" dirty="0"/>
              <a:t>AWS Lambda is a serverless compute service that provides built-in fault tolerance and automatic scaling.</a:t>
            </a:r>
          </a:p>
          <a:p>
            <a:pPr marL="171450" lvl="0" indent="-171450">
              <a:buFont typeface="Arial" panose="020B0604020202020204" pitchFamily="34" charset="0"/>
              <a:buChar char="•"/>
            </a:pPr>
            <a:r>
              <a:rPr lang="en-US" dirty="0"/>
              <a:t>An event source is an AWS service or developer-created application that triggers a Lambda function to run. </a:t>
            </a:r>
          </a:p>
          <a:p>
            <a:pPr marL="171450" lvl="0" indent="-171450">
              <a:buFont typeface="Arial" panose="020B0604020202020204" pitchFamily="34" charset="0"/>
              <a:buChar char="•"/>
            </a:pPr>
            <a:r>
              <a:rPr lang="en-US" dirty="0"/>
              <a:t>The maximum memory allocation for a single Lambda function is 10,240 MB. </a:t>
            </a:r>
          </a:p>
          <a:p>
            <a:pPr marL="171450" lvl="0" indent="-171450">
              <a:buFont typeface="Arial" panose="020B0604020202020204" pitchFamily="34" charset="0"/>
              <a:buChar char="•"/>
            </a:pPr>
            <a:r>
              <a:rPr lang="en-US" dirty="0"/>
              <a:t>The maximum run time for a Lambda function is 15 minutes.</a:t>
            </a:r>
          </a:p>
        </p:txBody>
      </p:sp>
      <p:sp>
        <p:nvSpPr>
          <p:cNvPr id="5" name="Slide Image Placeholder 4">
            <a:extLst>
              <a:ext uri="{FF2B5EF4-FFF2-40B4-BE49-F238E27FC236}">
                <a16:creationId xmlns:a16="http://schemas.microsoft.com/office/drawing/2014/main" id="{C6548032-4ACF-D00E-F603-8293E682297B}"/>
              </a:ext>
            </a:extLst>
          </p:cNvPr>
          <p:cNvSpPr>
            <a:spLocks noGrp="1" noRot="1" noChangeAspect="1"/>
          </p:cNvSpPr>
          <p:nvPr>
            <p:ph type="sldImg"/>
          </p:nvPr>
        </p:nvSpPr>
        <p:spPr/>
      </p:sp>
    </p:spTree>
    <p:extLst>
      <p:ext uri="{BB962C8B-B14F-4D97-AF65-F5344CB8AC3E}">
        <p14:creationId xmlns:p14="http://schemas.microsoft.com/office/powerpoint/2010/main" val="35389923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Introducing Section 6: Introduction to AWS Elastic Beanstalk.</a:t>
            </a:r>
          </a:p>
          <a:p>
            <a:endParaRPr lang="en-US" dirty="0"/>
          </a:p>
          <a:p>
            <a:endParaRPr lang="en-US" dirty="0"/>
          </a:p>
        </p:txBody>
      </p:sp>
      <p:sp>
        <p:nvSpPr>
          <p:cNvPr id="5" name="Slide Image Placeholder 4">
            <a:extLst>
              <a:ext uri="{FF2B5EF4-FFF2-40B4-BE49-F238E27FC236}">
                <a16:creationId xmlns:a16="http://schemas.microsoft.com/office/drawing/2014/main" id="{ED012A38-E5C6-AC7C-57CC-BD82EA61D269}"/>
              </a:ext>
            </a:extLst>
          </p:cNvPr>
          <p:cNvSpPr>
            <a:spLocks noGrp="1" noRot="1" noChangeAspect="1"/>
          </p:cNvSpPr>
          <p:nvPr>
            <p:ph type="sldImg"/>
          </p:nvPr>
        </p:nvSpPr>
        <p:spPr/>
      </p:sp>
    </p:spTree>
    <p:extLst>
      <p:ext uri="{BB962C8B-B14F-4D97-AF65-F5344CB8AC3E}">
        <p14:creationId xmlns:p14="http://schemas.microsoft.com/office/powerpoint/2010/main" val="6345155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Elastic Beanstalk is another AWS compute service option. It is a platform as a service (or PaaS) that facilitates the quick deployment, scaling, and management of your web applications and services.</a:t>
            </a:r>
          </a:p>
          <a:p>
            <a:endParaRPr lang="en-US" dirty="0"/>
          </a:p>
          <a:p>
            <a:r>
              <a:rPr lang="en-US" dirty="0"/>
              <a:t>You remain in control. The entire platform is already built, and you only need to upload your code. Choose your instance type, your database, set and adjust automatic scaling, update your application, access the server log files, and enable HTTPS on the load balancer. </a:t>
            </a:r>
          </a:p>
          <a:p>
            <a:pPr lvl="0"/>
            <a:endParaRPr lang="en-US" dirty="0"/>
          </a:p>
          <a:p>
            <a:r>
              <a:rPr lang="en-US" dirty="0"/>
              <a:t>You upload your code and Elastic Beanstalk automatically handles the deployment, from capacity provisioning and load balancing to automatic scaling and monitoring application health. At the same time, you retain full control over the AWS resources that power your application, and you can access the underlying resources at any time.</a:t>
            </a:r>
            <a:br>
              <a:rPr lang="en-US" dirty="0"/>
            </a:br>
            <a:endParaRPr lang="en-US" dirty="0"/>
          </a:p>
          <a:p>
            <a:r>
              <a:rPr lang="en-US" dirty="0"/>
              <a:t>There is no additional charge for AWS Elastic Beanstalk. You pay for the AWS resources (for example, EC2 instances or S3 buckets) you create to store and run your application. You only pay for what you use, as you use it. There are no minimum fees and no upfront commitments.</a:t>
            </a:r>
          </a:p>
          <a:p>
            <a:endParaRPr lang="en-US" dirty="0"/>
          </a:p>
        </p:txBody>
      </p:sp>
      <p:sp>
        <p:nvSpPr>
          <p:cNvPr id="7" name="Slide Image Placeholder 6">
            <a:extLst>
              <a:ext uri="{FF2B5EF4-FFF2-40B4-BE49-F238E27FC236}">
                <a16:creationId xmlns:a16="http://schemas.microsoft.com/office/drawing/2014/main" id="{899EA679-EEFE-0B7E-4260-4DC029E04615}"/>
              </a:ext>
            </a:extLst>
          </p:cNvPr>
          <p:cNvSpPr>
            <a:spLocks noGrp="1" noRot="1" noChangeAspect="1"/>
          </p:cNvSpPr>
          <p:nvPr>
            <p:ph type="sldImg"/>
          </p:nvPr>
        </p:nvSpPr>
        <p:spPr/>
      </p:sp>
    </p:spTree>
    <p:extLst>
      <p:ext uri="{BB962C8B-B14F-4D97-AF65-F5344CB8AC3E}">
        <p14:creationId xmlns:p14="http://schemas.microsoft.com/office/powerpoint/2010/main" val="29144999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AWS Elastic Beanstalk enables you to deploy your code through the AWS Management Console, the AWS Command Line Interface (AWS CLI), Visual Studio, and Eclipse. It provides all the application services that you need for your application. The only thing you must create is your code. Elastic Beanstalk is designed to make deploying your application a quick and easy process. </a:t>
            </a:r>
          </a:p>
          <a:p>
            <a:endParaRPr lang="en-US" dirty="0"/>
          </a:p>
          <a:p>
            <a:r>
              <a:rPr lang="en-US" dirty="0"/>
              <a:t>Elastic Beanstalk supports a broad range of platforms. Supported platforms include Docker, Go, Java, .NET, Node.js, PHP, Python, and Ruby. </a:t>
            </a:r>
          </a:p>
          <a:p>
            <a:endParaRPr lang="en-US" dirty="0"/>
          </a:p>
          <a:p>
            <a:r>
              <a:rPr lang="en-US" dirty="0"/>
              <a:t>AWS Elastic Beanstalk deploys your code on </a:t>
            </a:r>
            <a:r>
              <a:rPr lang="en-US" b="1" dirty="0"/>
              <a:t>Apache Tomcat </a:t>
            </a:r>
            <a:r>
              <a:rPr lang="en-US" dirty="0"/>
              <a:t>for Java applications; </a:t>
            </a:r>
            <a:r>
              <a:rPr lang="en-US" b="1" dirty="0"/>
              <a:t>Apache HTTP Server </a:t>
            </a:r>
            <a:r>
              <a:rPr lang="en-US" dirty="0"/>
              <a:t>for PHP and Python applications; NGINX or Apache HTTP Server for Node.js applications; </a:t>
            </a:r>
            <a:r>
              <a:rPr lang="en-US" b="1" dirty="0"/>
              <a:t>Passenger</a:t>
            </a:r>
            <a:r>
              <a:rPr lang="en-US" dirty="0"/>
              <a:t> or </a:t>
            </a:r>
            <a:r>
              <a:rPr lang="en-US" b="1" dirty="0"/>
              <a:t>Puma</a:t>
            </a:r>
            <a:r>
              <a:rPr lang="en-US" dirty="0"/>
              <a:t> for Ruby applications; and </a:t>
            </a:r>
            <a:r>
              <a:rPr lang="en-US" b="1" dirty="0"/>
              <a:t>Microsoft Internet Information Services (IIS) </a:t>
            </a:r>
            <a:r>
              <a:rPr lang="en-US" dirty="0"/>
              <a:t>for .NET applications, Java SE, Docker, and Go.</a:t>
            </a:r>
          </a:p>
          <a:p>
            <a:endParaRPr lang="en-US" dirty="0"/>
          </a:p>
        </p:txBody>
      </p:sp>
      <p:sp>
        <p:nvSpPr>
          <p:cNvPr id="5" name="Slide Image Placeholder 4">
            <a:extLst>
              <a:ext uri="{FF2B5EF4-FFF2-40B4-BE49-F238E27FC236}">
                <a16:creationId xmlns:a16="http://schemas.microsoft.com/office/drawing/2014/main" id="{DA8750EF-17F9-69FD-E968-0FB98C0C9137}"/>
              </a:ext>
            </a:extLst>
          </p:cNvPr>
          <p:cNvSpPr>
            <a:spLocks noGrp="1" noRot="1" noChangeAspect="1"/>
          </p:cNvSpPr>
          <p:nvPr>
            <p:ph type="sldImg"/>
          </p:nvPr>
        </p:nvSpPr>
        <p:spPr/>
      </p:sp>
    </p:spTree>
    <p:extLst>
      <p:ext uri="{BB962C8B-B14F-4D97-AF65-F5344CB8AC3E}">
        <p14:creationId xmlns:p14="http://schemas.microsoft.com/office/powerpoint/2010/main" val="17144906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Elastic Beanstalk is </a:t>
            </a:r>
            <a:r>
              <a:rPr lang="en-US" b="1" dirty="0"/>
              <a:t>fast and simple to start using</a:t>
            </a:r>
            <a:r>
              <a:rPr lang="en-US" dirty="0"/>
              <a:t>. Use the AWS Management Console, a Git repository, or an integrated development environment (IDE) such as Eclipse or Visual Studio to upload your application. Elastic Beanstalk automatically handles the deployment details of capacity provisioning, load balancing, automatic scaling, and monitoring application health. </a:t>
            </a:r>
          </a:p>
          <a:p>
            <a:r>
              <a:rPr lang="en-US" dirty="0"/>
              <a:t> </a:t>
            </a:r>
          </a:p>
          <a:p>
            <a:r>
              <a:rPr lang="en-US" dirty="0"/>
              <a:t>You can improve your </a:t>
            </a:r>
            <a:r>
              <a:rPr lang="en-US" b="1" dirty="0"/>
              <a:t>developer productivity </a:t>
            </a:r>
            <a:r>
              <a:rPr lang="en-US" dirty="0"/>
              <a:t>by focusing on writing code instead of managing and configuring servers, databases, load balancers, firewalls, and networks. AWS updates the underlying platform that runs your application with patches and updates. </a:t>
            </a:r>
          </a:p>
          <a:p>
            <a:r>
              <a:rPr lang="en-US" dirty="0"/>
              <a:t> </a:t>
            </a:r>
          </a:p>
          <a:p>
            <a:r>
              <a:rPr lang="en-US" dirty="0"/>
              <a:t>Elastic Beanstalk is </a:t>
            </a:r>
            <a:r>
              <a:rPr lang="en-US" b="1" dirty="0"/>
              <a:t>difficult to outgrow</a:t>
            </a:r>
            <a:r>
              <a:rPr lang="en-US" dirty="0"/>
              <a:t>. With Elastic Beanstalk, your application can handle peaks in workload or traffic while minimizing your costs. It automatically scales your application up or down based on your application's specific needs by using easily adjustable automatic scaling settings. You can use CPU utilization metrics to trigger automatic scaling actions.</a:t>
            </a:r>
          </a:p>
          <a:p>
            <a:br>
              <a:rPr lang="en-US" dirty="0"/>
            </a:br>
            <a:r>
              <a:rPr lang="en-US" dirty="0"/>
              <a:t>You have the </a:t>
            </a:r>
            <a:r>
              <a:rPr lang="en-US" b="1" dirty="0"/>
              <a:t>freedom to select the AWS resources</a:t>
            </a:r>
            <a:r>
              <a:rPr lang="en-US" dirty="0"/>
              <a:t>—such as Amazon EC2 instance type—that are optimal for your application. Elastic Beanstalk enables you to retain full control over the AWS resources that power your application. If you decide that you want to take over some (or all) of the elements of your infrastructure, you can do so seamlessly by using the management capabilities that are provided by Elastic Beanstalk.</a:t>
            </a:r>
          </a:p>
        </p:txBody>
      </p:sp>
      <p:sp>
        <p:nvSpPr>
          <p:cNvPr id="5" name="Slide Image Placeholder 4">
            <a:extLst>
              <a:ext uri="{FF2B5EF4-FFF2-40B4-BE49-F238E27FC236}">
                <a16:creationId xmlns:a16="http://schemas.microsoft.com/office/drawing/2014/main" id="{0740AB0B-7E1E-6356-77D3-C67E0FBB98D7}"/>
              </a:ext>
            </a:extLst>
          </p:cNvPr>
          <p:cNvSpPr>
            <a:spLocks noGrp="1" noRot="1" noChangeAspect="1"/>
          </p:cNvSpPr>
          <p:nvPr>
            <p:ph type="sldImg"/>
          </p:nvPr>
        </p:nvSpPr>
        <p:spPr/>
      </p:sp>
    </p:spTree>
    <p:extLst>
      <p:ext uri="{BB962C8B-B14F-4D97-AF65-F5344CB8AC3E}">
        <p14:creationId xmlns:p14="http://schemas.microsoft.com/office/powerpoint/2010/main" val="348756307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Some key takeaways from this section of the module include:</a:t>
            </a:r>
          </a:p>
          <a:p>
            <a:pPr marL="171450" lvl="0" indent="-171450">
              <a:buFont typeface="Arial" panose="020B0604020202020204" pitchFamily="34" charset="0"/>
              <a:buChar char="•"/>
            </a:pPr>
            <a:r>
              <a:rPr lang="en-US" dirty="0"/>
              <a:t>AWS Elastic Beanstalk enhances developer productivity.</a:t>
            </a:r>
          </a:p>
          <a:p>
            <a:pPr marL="628650" lvl="1" indent="-171450">
              <a:buFont typeface="Arial" panose="020B0604020202020204" pitchFamily="34" charset="0"/>
              <a:buChar char="•"/>
            </a:pPr>
            <a:r>
              <a:rPr lang="en-US" dirty="0"/>
              <a:t>Simplifies the process of deploying your application.</a:t>
            </a:r>
          </a:p>
          <a:p>
            <a:pPr marL="628650" lvl="1" indent="-171450">
              <a:buFont typeface="Arial" panose="020B0604020202020204" pitchFamily="34" charset="0"/>
              <a:buChar char="•"/>
            </a:pPr>
            <a:r>
              <a:rPr lang="en-US" dirty="0"/>
              <a:t>Reduces management complexity.</a:t>
            </a:r>
          </a:p>
          <a:p>
            <a:pPr marL="171450" indent="-171450">
              <a:buFont typeface="Arial" panose="020B0604020202020204" pitchFamily="34" charset="0"/>
              <a:buChar char="•"/>
            </a:pPr>
            <a:r>
              <a:rPr lang="en-US" dirty="0"/>
              <a:t>Elastic Beanstalk supports Java, .NET, PHP, Node.js, Python, Ruby, Go, and Docker.</a:t>
            </a:r>
          </a:p>
          <a:p>
            <a:pPr marL="171450" indent="-171450">
              <a:buFont typeface="Arial" panose="020B0604020202020204" pitchFamily="34" charset="0"/>
              <a:buChar char="•"/>
            </a:pPr>
            <a:r>
              <a:rPr lang="en-US" dirty="0"/>
              <a:t>There is no charge for Elastic Beanstalk. Pay only for the AWS resources you use. </a:t>
            </a:r>
          </a:p>
          <a:p>
            <a:pPr lvl="0"/>
            <a:endParaRPr lang="en-US" dirty="0"/>
          </a:p>
        </p:txBody>
      </p:sp>
      <p:sp>
        <p:nvSpPr>
          <p:cNvPr id="5" name="Slide Image Placeholder 4">
            <a:extLst>
              <a:ext uri="{FF2B5EF4-FFF2-40B4-BE49-F238E27FC236}">
                <a16:creationId xmlns:a16="http://schemas.microsoft.com/office/drawing/2014/main" id="{A3E9FF09-F86B-770E-E321-5D212A44C592}"/>
              </a:ext>
            </a:extLst>
          </p:cNvPr>
          <p:cNvSpPr>
            <a:spLocks noGrp="1" noRot="1" noChangeAspect="1"/>
          </p:cNvSpPr>
          <p:nvPr>
            <p:ph type="sldImg"/>
          </p:nvPr>
        </p:nvSpPr>
        <p:spPr/>
      </p:sp>
    </p:spTree>
    <p:extLst>
      <p:ext uri="{BB962C8B-B14F-4D97-AF65-F5344CB8AC3E}">
        <p14:creationId xmlns:p14="http://schemas.microsoft.com/office/powerpoint/2010/main" val="33909504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It’s now time to review the module and wrap up with a knowledge check and discussion of a practice certification exam question.</a:t>
            </a:r>
          </a:p>
        </p:txBody>
      </p:sp>
      <p:sp>
        <p:nvSpPr>
          <p:cNvPr id="5" name="Slide Image Placeholder 4">
            <a:extLst>
              <a:ext uri="{FF2B5EF4-FFF2-40B4-BE49-F238E27FC236}">
                <a16:creationId xmlns:a16="http://schemas.microsoft.com/office/drawing/2014/main" id="{7CBBAFF1-4A1C-0BE3-7B18-3678EDFFCD6E}"/>
              </a:ext>
            </a:extLst>
          </p:cNvPr>
          <p:cNvSpPr>
            <a:spLocks noGrp="1" noRot="1" noChangeAspect="1"/>
          </p:cNvSpPr>
          <p:nvPr>
            <p:ph type="sldImg"/>
          </p:nvPr>
        </p:nvSpPr>
        <p:spPr/>
      </p:sp>
    </p:spTree>
    <p:extLst>
      <p:ext uri="{BB962C8B-B14F-4D97-AF65-F5344CB8AC3E}">
        <p14:creationId xmlns:p14="http://schemas.microsoft.com/office/powerpoint/2010/main" val="388938794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 summary, in this module, you learned how to:</a:t>
            </a:r>
          </a:p>
          <a:p>
            <a:pPr marL="171450" indent="-171450">
              <a:buFont typeface="Arial" panose="020B0604020202020204" pitchFamily="34" charset="0"/>
              <a:buChar char="•"/>
            </a:pPr>
            <a:r>
              <a:rPr lang="en-US" dirty="0"/>
              <a:t>Provide an overview of different AWS compute services in the cloud</a:t>
            </a:r>
          </a:p>
          <a:p>
            <a:pPr marL="171450" indent="-171450">
              <a:buFont typeface="Arial" panose="020B0604020202020204" pitchFamily="34" charset="0"/>
              <a:buChar char="•"/>
            </a:pPr>
            <a:r>
              <a:rPr lang="en-US" dirty="0"/>
              <a:t>Demonstrate why to use Amazon Elastic Compute Cloud (Amazon EC2)</a:t>
            </a:r>
          </a:p>
          <a:p>
            <a:pPr marL="171450" indent="-171450">
              <a:buFont typeface="Arial" panose="020B0604020202020204" pitchFamily="34" charset="0"/>
              <a:buChar char="•"/>
            </a:pPr>
            <a:r>
              <a:rPr lang="en-US" dirty="0"/>
              <a:t>Identify the functionality in the Amazon EC2 console</a:t>
            </a:r>
          </a:p>
          <a:p>
            <a:pPr marL="171450" indent="-171450">
              <a:buFont typeface="Arial" panose="020B0604020202020204" pitchFamily="34" charset="0"/>
              <a:buChar char="•"/>
            </a:pPr>
            <a:r>
              <a:rPr lang="en-US" dirty="0"/>
              <a:t>Perform basic functions in Amazon EC2 to build a virtual computing environment</a:t>
            </a:r>
          </a:p>
          <a:p>
            <a:pPr marL="171450" indent="-171450">
              <a:buFont typeface="Arial" panose="020B0604020202020204" pitchFamily="34" charset="0"/>
              <a:buChar char="•"/>
            </a:pPr>
            <a:r>
              <a:rPr lang="en-US" dirty="0"/>
              <a:t>Identify Amazon EC2 cost optimization elements</a:t>
            </a:r>
          </a:p>
          <a:p>
            <a:pPr marL="171450" indent="-171450">
              <a:buFont typeface="Arial" panose="020B0604020202020204" pitchFamily="34" charset="0"/>
              <a:buChar char="•"/>
            </a:pPr>
            <a:r>
              <a:rPr lang="en-US" dirty="0"/>
              <a:t>Demonstrate when to use AWS Elastic Beanstalk</a:t>
            </a:r>
          </a:p>
          <a:p>
            <a:pPr marL="171450" indent="-171450">
              <a:buFont typeface="Arial" panose="020B0604020202020204" pitchFamily="34" charset="0"/>
              <a:buChar char="•"/>
            </a:pPr>
            <a:r>
              <a:rPr lang="en-US" dirty="0"/>
              <a:t>Demonstrate when to use AWS Lambda</a:t>
            </a:r>
          </a:p>
          <a:p>
            <a:pPr marL="171450" indent="-171450">
              <a:buFont typeface="Arial" panose="020B0604020202020204" pitchFamily="34" charset="0"/>
              <a:buChar char="•"/>
            </a:pPr>
            <a:r>
              <a:rPr lang="en-US" dirty="0"/>
              <a:t>Identify how to run containerized applications in a cluster of managed servers</a:t>
            </a:r>
          </a:p>
        </p:txBody>
      </p:sp>
      <p:sp>
        <p:nvSpPr>
          <p:cNvPr id="5" name="Slide Image Placeholder 4">
            <a:extLst>
              <a:ext uri="{FF2B5EF4-FFF2-40B4-BE49-F238E27FC236}">
                <a16:creationId xmlns:a16="http://schemas.microsoft.com/office/drawing/2014/main" id="{A7ADD261-DBDE-24FD-B267-F3F6AACD9281}"/>
              </a:ext>
            </a:extLst>
          </p:cNvPr>
          <p:cNvSpPr>
            <a:spLocks noGrp="1" noRot="1" noChangeAspect="1"/>
          </p:cNvSpPr>
          <p:nvPr>
            <p:ph type="sldImg"/>
          </p:nvPr>
        </p:nvSpPr>
        <p:spPr/>
      </p:sp>
    </p:spTree>
    <p:extLst>
      <p:ext uri="{BB962C8B-B14F-4D97-AF65-F5344CB8AC3E}">
        <p14:creationId xmlns:p14="http://schemas.microsoft.com/office/powerpoint/2010/main" val="3731973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Thank you for completing this module.</a:t>
            </a:r>
          </a:p>
        </p:txBody>
      </p:sp>
      <p:sp>
        <p:nvSpPr>
          <p:cNvPr id="5" name="Slide Image Placeholder 4">
            <a:extLst>
              <a:ext uri="{FF2B5EF4-FFF2-40B4-BE49-F238E27FC236}">
                <a16:creationId xmlns:a16="http://schemas.microsoft.com/office/drawing/2014/main" id="{9D54140D-60C6-5736-D219-C4E110E663FE}"/>
              </a:ext>
            </a:extLst>
          </p:cNvPr>
          <p:cNvSpPr>
            <a:spLocks noGrp="1" noRot="1" noChangeAspect="1"/>
          </p:cNvSpPr>
          <p:nvPr>
            <p:ph type="sldImg"/>
          </p:nvPr>
        </p:nvSpPr>
        <p:spPr/>
      </p:sp>
    </p:spTree>
    <p:extLst>
      <p:ext uri="{BB962C8B-B14F-4D97-AF65-F5344CB8AC3E}">
        <p14:creationId xmlns:p14="http://schemas.microsoft.com/office/powerpoint/2010/main" val="40660252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2.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image" Target="../media/image5.svg"/><Relationship Id="rId5" Type="http://schemas.openxmlformats.org/officeDocument/2006/relationships/image" Target="../media/image4.png"/><Relationship Id="rId4" Type="http://schemas.microsoft.com/office/2007/relationships/hdphoto" Target="../media/hdphoto3.wdp"/></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9.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9.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9.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9.svg"/></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slideMaster" Target="../slideMasters/slideMaster1.xml"/><Relationship Id="rId1" Type="http://schemas.openxmlformats.org/officeDocument/2006/relationships/tags" Target="../tags/tag54.xml"/><Relationship Id="rId4"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slideMaster" Target="../slideMasters/slideMaster1.xml"/><Relationship Id="rId1" Type="http://schemas.openxmlformats.org/officeDocument/2006/relationships/tags" Target="../tags/tag55.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 y="1"/>
            <a:ext cx="12004925" cy="6858000"/>
            <a:chOff x="1" y="1"/>
            <a:chExt cx="12004925" cy="6858000"/>
          </a:xfrm>
        </p:grpSpPr>
        <p:sp>
          <p:nvSpPr>
            <p:cNvPr id="93" name="BKG-LT">
              <a:extLst>
                <a:ext uri="{FF2B5EF4-FFF2-40B4-BE49-F238E27FC236}">
                  <a16:creationId xmlns:a16="http://schemas.microsoft.com/office/drawing/2014/main" id="{1636AFF1-562B-467D-8DC1-B38C08FBD4C3}"/>
                </a:ext>
                <a:ext uri="{C183D7F6-B498-43B3-948B-1728B52AA6E4}">
                  <adec:decorative xmlns:adec="http://schemas.microsoft.com/office/drawing/2017/decorative" val="1"/>
                </a:ext>
              </a:extLst>
            </p:cNvPr>
            <p:cNvSpPr/>
            <p:nvPr/>
          </p:nvSpPr>
          <p:spPr>
            <a:xfrm>
              <a:off x="1" y="1"/>
              <a:ext cx="590167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sp>
          <p:nvSpPr>
            <p:cNvPr id="19" name="Copyright">
              <a:extLst>
                <a:ext uri="{FF2B5EF4-FFF2-40B4-BE49-F238E27FC236}">
                  <a16:creationId xmlns:a16="http://schemas.microsoft.com/office/drawing/2014/main" id="{0869739A-D862-4D7C-B7B5-2B689B100943}"/>
                </a:ext>
              </a:extLst>
            </p:cNvPr>
            <p:cNvSpPr txBox="1"/>
            <p:nvPr/>
          </p:nvSpPr>
          <p:spPr>
            <a:xfrm>
              <a:off x="876516" y="642353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dirty="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Enter </a:t>
            </a:r>
            <a:br>
              <a:rPr lang="en-US" dirty="0"/>
            </a:br>
            <a:r>
              <a:rPr lang="en-US" dirty="0"/>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ECE86FD8-F169-471F-88EA-8FF7FCC5008E}"/>
              </a:ext>
              <a:ext uri="{C183D7F6-B498-43B3-948B-1728B52AA6E4}">
                <adec:decorative xmlns:adec="http://schemas.microsoft.com/office/drawing/2017/decorative" val="1"/>
              </a:ext>
            </a:extLst>
          </p:cNvPr>
          <p:cNvGrpSpPr/>
          <p:nvPr/>
        </p:nvGrpSpPr>
        <p:grpSpPr>
          <a:xfrm>
            <a:off x="0" y="-1"/>
            <a:ext cx="12192000" cy="6858001"/>
            <a:chOff x="0" y="-1"/>
            <a:chExt cx="12192000" cy="6858001"/>
          </a:xfrm>
        </p:grpSpPr>
        <p:sp>
          <p:nvSpPr>
            <p:cNvPr id="89" name="BKG">
              <a:extLst>
                <a:ext uri="{FF2B5EF4-FFF2-40B4-BE49-F238E27FC236}">
                  <a16:creationId xmlns:a16="http://schemas.microsoft.com/office/drawing/2014/main" id="{027B77B7-F317-4AA6-A627-75F5AE2E7A5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7" name="CubeSide">
              <a:extLst>
                <a:ext uri="{FF2B5EF4-FFF2-40B4-BE49-F238E27FC236}">
                  <a16:creationId xmlns:a16="http://schemas.microsoft.com/office/drawing/2014/main" id="{30CD656D-5337-4244-BA3E-ABD963579911}"/>
                </a:ext>
                <a:ext uri="{C183D7F6-B498-43B3-948B-1728B52AA6E4}">
                  <adec:decorative xmlns:adec="http://schemas.microsoft.com/office/drawing/2017/decorative" val="1"/>
                </a:ext>
              </a:extLst>
            </p:cNvPr>
            <p:cNvSpPr/>
            <p:nvPr/>
          </p:nvSpPr>
          <p:spPr>
            <a:xfrm>
              <a:off x="5867400" y="0"/>
              <a:ext cx="2228850" cy="2295144"/>
            </a:xfrm>
            <a:custGeom>
              <a:avLst/>
              <a:gdLst>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2295144 h 2295144"/>
                <a:gd name="connsiteX4" fmla="*/ 0 w 2228850"/>
                <a:gd name="connsiteY4" fmla="*/ 0 h 2295144"/>
                <a:gd name="connsiteX0" fmla="*/ 0 w 2228850"/>
                <a:gd name="connsiteY0" fmla="*/ 0 h 2295144"/>
                <a:gd name="connsiteX1" fmla="*/ 2228850 w 2228850"/>
                <a:gd name="connsiteY1" fmla="*/ 0 h 2295144"/>
                <a:gd name="connsiteX2" fmla="*/ 2228850 w 2228850"/>
                <a:gd name="connsiteY2" fmla="*/ 2295144 h 2295144"/>
                <a:gd name="connsiteX3" fmla="*/ 0 w 2228850"/>
                <a:gd name="connsiteY3" fmla="*/ 0 h 2295144"/>
              </a:gdLst>
              <a:ahLst/>
              <a:cxnLst>
                <a:cxn ang="0">
                  <a:pos x="connsiteX0" y="connsiteY0"/>
                </a:cxn>
                <a:cxn ang="0">
                  <a:pos x="connsiteX1" y="connsiteY1"/>
                </a:cxn>
                <a:cxn ang="0">
                  <a:pos x="connsiteX2" y="connsiteY2"/>
                </a:cxn>
                <a:cxn ang="0">
                  <a:pos x="connsiteX3" y="connsiteY3"/>
                </a:cxn>
              </a:cxnLst>
              <a:rect l="l" t="t" r="r" b="b"/>
              <a:pathLst>
                <a:path w="2228850" h="2295144">
                  <a:moveTo>
                    <a:pt x="0" y="0"/>
                  </a:moveTo>
                  <a:lnTo>
                    <a:pt x="2228850" y="0"/>
                  </a:lnTo>
                  <a:lnTo>
                    <a:pt x="2228850" y="2295144"/>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sp>
          <p:nvSpPr>
            <p:cNvPr id="96" name="CubeFront">
              <a:extLst>
                <a:ext uri="{FF2B5EF4-FFF2-40B4-BE49-F238E27FC236}">
                  <a16:creationId xmlns:a16="http://schemas.microsoft.com/office/drawing/2014/main" id="{66A5F4A5-2CA3-4E34-97C1-74E113BA3D7E}"/>
                </a:ext>
                <a:ext uri="{C183D7F6-B498-43B3-948B-1728B52AA6E4}">
                  <adec:decorative xmlns:adec="http://schemas.microsoft.com/office/drawing/2017/decorative" val="1"/>
                </a:ext>
              </a:extLst>
            </p:cNvPr>
            <p:cNvSpPr/>
            <p:nvPr/>
          </p:nvSpPr>
          <p:spPr>
            <a:xfrm>
              <a:off x="8096250" y="-1"/>
              <a:ext cx="4095750" cy="22955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B0603020204020204" pitchFamily="34" charset="0"/>
                <a:ea typeface="Amazon Ember" panose="020B0603020204020204" pitchFamily="34" charset="0"/>
                <a:cs typeface="Amazon Ember" panose="020B0603020204020204" pitchFamily="34" charset="0"/>
              </a:endParaRPr>
            </a:p>
          </p:txBody>
        </p:sp>
        <p:pic>
          <p:nvPicPr>
            <p:cNvPr id="98" name="AWS Logo">
              <a:extLst>
                <a:ext uri="{FF2B5EF4-FFF2-40B4-BE49-F238E27FC236}">
                  <a16:creationId xmlns:a16="http://schemas.microsoft.com/office/drawing/2014/main" id="{961F7EBA-6264-4D1A-BA90-2C8A61C69B3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9" name="Copyright">
              <a:extLst>
                <a:ext uri="{FF2B5EF4-FFF2-40B4-BE49-F238E27FC236}">
                  <a16:creationId xmlns:a16="http://schemas.microsoft.com/office/drawing/2014/main" id="{962C3F25-041D-4E5B-839E-FBB5D7B91A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7B3DCE0D-B1BB-4208-8FF4-6B7AC00DC28E}"/>
              </a:ext>
              <a:ext uri="{C183D7F6-B498-43B3-948B-1728B52AA6E4}">
                <adec:decorative xmlns:adec="http://schemas.microsoft.com/office/drawing/2017/decorative" val="1"/>
              </a:ext>
            </a:extLst>
          </p:cNvPr>
          <p:cNvGrpSpPr/>
          <p:nvPr/>
        </p:nvGrpSpPr>
        <p:grpSpPr>
          <a:xfrm>
            <a:off x="0" y="0"/>
            <a:ext cx="12192000" cy="6868287"/>
            <a:chOff x="0" y="0"/>
            <a:chExt cx="12192000" cy="6868287"/>
          </a:xfrm>
        </p:grpSpPr>
        <p:sp>
          <p:nvSpPr>
            <p:cNvPr id="92" name="BKG-TP">
              <a:extLst>
                <a:ext uri="{FF2B5EF4-FFF2-40B4-BE49-F238E27FC236}">
                  <a16:creationId xmlns:a16="http://schemas.microsoft.com/office/drawing/2014/main" id="{B149FB85-86EE-4435-AFFD-185416ABD0BC}"/>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F802EE88-1736-4DCA-8546-B833E1DC91F1}"/>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1909D555-A83A-43A3-ACF3-38A8D3D654E1}"/>
                </a:ext>
                <a:ext uri="{C183D7F6-B498-43B3-948B-1728B52AA6E4}">
                  <adec:decorative xmlns:adec="http://schemas.microsoft.com/office/drawing/2017/decorative" val="1"/>
                </a:ext>
              </a:extLst>
            </p:cNvPr>
            <p:cNvSpPr/>
            <p:nvPr/>
          </p:nvSpPr>
          <p:spPr>
            <a:xfrm>
              <a:off x="2552700" y="942975"/>
              <a:ext cx="9639300" cy="59253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F4EB4C23-6D3D-4AFD-8C20-ABBDE0E95555}"/>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585216" y="338328"/>
              <a:ext cx="1097280" cy="658368"/>
            </a:xfrm>
            <a:prstGeom prst="rect">
              <a:avLst/>
            </a:prstGeom>
          </p:spPr>
        </p:pic>
        <p:sp>
          <p:nvSpPr>
            <p:cNvPr id="10" name="Copyright">
              <a:extLst>
                <a:ext uri="{FF2B5EF4-FFF2-40B4-BE49-F238E27FC236}">
                  <a16:creationId xmlns:a16="http://schemas.microsoft.com/office/drawing/2014/main" id="{D18A8FFD-2A5D-4A49-85E4-97EFFB9C657F}"/>
                </a:ext>
              </a:extLst>
            </p:cNvPr>
            <p:cNvSpPr txBox="1"/>
            <p:nvPr/>
          </p:nvSpPr>
          <p:spPr>
            <a:xfrm>
              <a:off x="5039534" y="6568818"/>
              <a:ext cx="4659950" cy="261610"/>
            </a:xfrm>
            <a:prstGeom prst="rect">
              <a:avLst/>
            </a:prstGeom>
            <a:noFill/>
          </p:spPr>
          <p:txBody>
            <a:bodyPr wrap="square" rtlCol="0">
              <a:spAutoFit/>
            </a:bodyPr>
            <a:lstStyle/>
            <a:p>
              <a:pPr algn="ctr"/>
              <a:r>
                <a:rPr lang="en-US" sz="1100" kern="1200" dirty="0">
                  <a:solidFill>
                    <a:schemeClr val="bg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pyright">
              <a:extLst>
                <a:ext uri="{FF2B5EF4-FFF2-40B4-BE49-F238E27FC236}">
                  <a16:creationId xmlns:a16="http://schemas.microsoft.com/office/drawing/2014/main" id="{D87DDC37-6AB4-424A-BA07-3B0AF81A1053}"/>
                </a:ext>
              </a:extLst>
            </p:cNvPr>
            <p:cNvSpPr txBox="1"/>
            <p:nvPr/>
          </p:nvSpPr>
          <p:spPr>
            <a:xfrm>
              <a:off x="7538162" y="657989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1" name="BKG-BM">
              <a:extLst>
                <a:ext uri="{FF2B5EF4-FFF2-40B4-BE49-F238E27FC236}">
                  <a16:creationId xmlns:a16="http://schemas.microsoft.com/office/drawing/2014/main" id="{165087FF-D0AD-4AD7-B899-B2227A662904}"/>
                </a:ext>
                <a:ext uri="{C183D7F6-B498-43B3-948B-1728B52AA6E4}">
                  <adec:decorative xmlns:adec="http://schemas.microsoft.com/office/drawing/2017/decorative" val="1"/>
                </a:ext>
              </a:extLst>
            </p:cNvPr>
            <p:cNvSpPr/>
            <p:nvPr/>
          </p:nvSpPr>
          <p:spPr>
            <a:xfrm>
              <a:off x="0" y="5576341"/>
              <a:ext cx="11062270" cy="12816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2" name="Copyright">
              <a:extLst>
                <a:ext uri="{FF2B5EF4-FFF2-40B4-BE49-F238E27FC236}">
                  <a16:creationId xmlns:a16="http://schemas.microsoft.com/office/drawing/2014/main" id="{2BDDDA44-1049-4257-AA44-8A620E1B69F0}"/>
                </a:ext>
              </a:extLst>
            </p:cNvPr>
            <p:cNvSpPr txBox="1"/>
            <p:nvPr/>
          </p:nvSpPr>
          <p:spPr>
            <a:xfrm>
              <a:off x="342029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grpSp>
        <p:nvGrpSpPr>
          <p:cNvPr id="9" name="Background Images">
            <a:extLst>
              <a:ext uri="{FF2B5EF4-FFF2-40B4-BE49-F238E27FC236}">
                <a16:creationId xmlns:a16="http://schemas.microsoft.com/office/drawing/2014/main" id="{EF85A022-A363-4CD9-B810-5976000CBBC0}"/>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0" name="BKG-LT">
              <a:extLst>
                <a:ext uri="{FF2B5EF4-FFF2-40B4-BE49-F238E27FC236}">
                  <a16:creationId xmlns:a16="http://schemas.microsoft.com/office/drawing/2014/main" id="{2D6722E9-1C81-4073-B0F0-1BD01679C8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3" name="Copyright">
              <a:extLst>
                <a:ext uri="{FF2B5EF4-FFF2-40B4-BE49-F238E27FC236}">
                  <a16:creationId xmlns:a16="http://schemas.microsoft.com/office/drawing/2014/main" id="{425BF081-3501-45D0-B151-25BF351B0599}"/>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dirty="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A3DF3DE-0044-49A0-893D-4AE69524AE45}"/>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92" name="BKG-TP">
              <a:extLst>
                <a:ext uri="{FF2B5EF4-FFF2-40B4-BE49-F238E27FC236}">
                  <a16:creationId xmlns:a16="http://schemas.microsoft.com/office/drawing/2014/main" id="{80E539AA-5F27-4E27-A2EB-0002A460B024}"/>
                </a:ext>
                <a:ext uri="{C183D7F6-B498-43B3-948B-1728B52AA6E4}">
                  <adec:decorative xmlns:adec="http://schemas.microsoft.com/office/drawing/2017/decorative" val="1"/>
                </a:ext>
              </a:extLst>
            </p:cNvPr>
            <p:cNvSpPr/>
            <p:nvPr/>
          </p:nvSpPr>
          <p:spPr>
            <a:xfrm>
              <a:off x="0" y="0"/>
              <a:ext cx="12191998" cy="435133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0BD8C101-546C-4D96-9A74-D006A704F407}"/>
                </a:ext>
                <a:ext uri="{C183D7F6-B498-43B3-948B-1728B52AA6E4}">
                  <adec:decorative xmlns:adec="http://schemas.microsoft.com/office/drawing/2017/decorative" val="1"/>
                </a:ext>
              </a:extLst>
            </p:cNvPr>
            <p:cNvSpPr/>
            <p:nvPr/>
          </p:nvSpPr>
          <p:spPr>
            <a:xfrm>
              <a:off x="0" y="942975"/>
              <a:ext cx="2552700" cy="5915025"/>
            </a:xfrm>
            <a:custGeom>
              <a:avLst/>
              <a:gdLst>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0 h 5915025"/>
                <a:gd name="connsiteX0" fmla="*/ 0 w 2552700"/>
                <a:gd name="connsiteY0" fmla="*/ 0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 name="connsiteX5" fmla="*/ 0 w 2552700"/>
                <a:gd name="connsiteY5" fmla="*/ 0 h 5915025"/>
                <a:gd name="connsiteX0" fmla="*/ 0 w 2552700"/>
                <a:gd name="connsiteY0" fmla="*/ 3110865 h 5915025"/>
                <a:gd name="connsiteX1" fmla="*/ 2552700 w 2552700"/>
                <a:gd name="connsiteY1" fmla="*/ 0 h 5915025"/>
                <a:gd name="connsiteX2" fmla="*/ 2552700 w 2552700"/>
                <a:gd name="connsiteY2" fmla="*/ 5915025 h 5915025"/>
                <a:gd name="connsiteX3" fmla="*/ 0 w 2552700"/>
                <a:gd name="connsiteY3" fmla="*/ 5915025 h 5915025"/>
                <a:gd name="connsiteX4" fmla="*/ 0 w 2552700"/>
                <a:gd name="connsiteY4" fmla="*/ 3110865 h 5915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700" h="5915025">
                  <a:moveTo>
                    <a:pt x="0" y="3110865"/>
                  </a:moveTo>
                  <a:lnTo>
                    <a:pt x="2552700" y="0"/>
                  </a:lnTo>
                  <a:lnTo>
                    <a:pt x="2552700" y="5915025"/>
                  </a:lnTo>
                  <a:lnTo>
                    <a:pt x="0" y="5915025"/>
                  </a:lnTo>
                  <a:lnTo>
                    <a:pt x="0" y="311086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AEE440B8-B31E-487C-92A7-B1713A372E58}"/>
                </a:ext>
                <a:ext uri="{C183D7F6-B498-43B3-948B-1728B52AA6E4}">
                  <adec:decorative xmlns:adec="http://schemas.microsoft.com/office/drawing/2017/decorative" val="1"/>
                </a:ext>
              </a:extLst>
            </p:cNvPr>
            <p:cNvSpPr/>
            <p:nvPr/>
          </p:nvSpPr>
          <p:spPr>
            <a:xfrm>
              <a:off x="2552700" y="942975"/>
              <a:ext cx="9639300" cy="59150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7710" y="5789538"/>
              <a:ext cx="1097280" cy="656183"/>
            </a:xfrm>
            <a:prstGeom prst="rect">
              <a:avLst/>
            </a:prstGeom>
          </p:spPr>
        </p:pic>
        <p:sp>
          <p:nvSpPr>
            <p:cNvPr id="11" name="Copyright">
              <a:extLst>
                <a:ext uri="{FF2B5EF4-FFF2-40B4-BE49-F238E27FC236}">
                  <a16:creationId xmlns:a16="http://schemas.microsoft.com/office/drawing/2014/main" id="{DF9E4172-9EB6-4421-9EA3-78F3EDED9A1F}"/>
                </a:ext>
              </a:extLst>
            </p:cNvPr>
            <p:cNvSpPr txBox="1"/>
            <p:nvPr/>
          </p:nvSpPr>
          <p:spPr>
            <a:xfrm>
              <a:off x="506804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B23121D6-781A-4B6C-8D9B-3A8188A614AE}" type="slidenum">
              <a:rPr lang="en-US" smtClean="0"/>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2663862" y="1135062"/>
            <a:ext cx="9341063" cy="4049824"/>
          </a:xfrm>
        </p:spPr>
        <p:txBody>
          <a:bodyPr anchor="ctr"/>
          <a:lstStyle>
            <a:lvl1pPr>
              <a:defRPr sz="4400">
                <a:solidFill>
                  <a:schemeClr val="bg2"/>
                </a:solidFill>
              </a:defRPr>
            </a:lvl1pPr>
          </a:lstStyle>
          <a:p>
            <a:r>
              <a:rPr lang="en-US" dirty="0"/>
              <a:t>Thank you text</a:t>
            </a:r>
          </a:p>
        </p:txBody>
      </p:sp>
      <p:sp>
        <p:nvSpPr>
          <p:cNvPr id="5" name="Text Placeholder 4">
            <a:extLst>
              <a:ext uri="{FF2B5EF4-FFF2-40B4-BE49-F238E27FC236}">
                <a16:creationId xmlns:a16="http://schemas.microsoft.com/office/drawing/2014/main" id="{443878D9-CEC0-4A66-83CE-7ED3CE53FBDC}"/>
              </a:ext>
            </a:extLst>
          </p:cNvPr>
          <p:cNvSpPr>
            <a:spLocks noGrp="1"/>
          </p:cNvSpPr>
          <p:nvPr>
            <p:ph type="body" sz="quarter" idx="21"/>
          </p:nvPr>
        </p:nvSpPr>
        <p:spPr>
          <a:xfrm>
            <a:off x="2551176" y="5212080"/>
            <a:ext cx="9637776" cy="400110"/>
          </a:xfrm>
        </p:spPr>
        <p:txBody>
          <a:bodyPr>
            <a:spAutoFit/>
          </a:bodyPr>
          <a:lstStyle>
            <a:lvl1pPr marL="0" indent="0">
              <a:buNone/>
              <a:defRPr lang="en-US" sz="2000" kern="1200" dirty="0" smtClean="0">
                <a:solidFill>
                  <a:schemeClr val="bg2"/>
                </a:solidFill>
                <a:latin typeface="+mn-lt"/>
                <a:ea typeface="+mn-ea"/>
                <a:cs typeface="+mn-cs"/>
              </a:defRPr>
            </a:lvl1pPr>
            <a:lvl2pPr marL="227012" indent="0">
              <a:buNone/>
              <a:defRPr lang="en-US" sz="2000" kern="1200" dirty="0" smtClean="0">
                <a:solidFill>
                  <a:schemeClr val="bg2"/>
                </a:solidFill>
                <a:latin typeface="+mn-lt"/>
                <a:ea typeface="+mn-ea"/>
                <a:cs typeface="+mn-cs"/>
              </a:defRPr>
            </a:lvl2pPr>
            <a:lvl3pPr marL="455612" indent="0">
              <a:buNone/>
              <a:defRPr lang="en-US" sz="2000" kern="1200" dirty="0" smtClean="0">
                <a:solidFill>
                  <a:schemeClr val="bg2"/>
                </a:solidFill>
                <a:latin typeface="+mn-lt"/>
                <a:ea typeface="+mn-ea"/>
                <a:cs typeface="+mn-cs"/>
              </a:defRPr>
            </a:lvl3pPr>
            <a:lvl4pPr marL="684212" indent="0">
              <a:buNone/>
              <a:defRPr lang="en-US" sz="2000" kern="1200" dirty="0" smtClean="0">
                <a:solidFill>
                  <a:schemeClr val="bg2"/>
                </a:solidFill>
                <a:latin typeface="+mn-lt"/>
                <a:ea typeface="+mn-ea"/>
                <a:cs typeface="+mn-cs"/>
              </a:defRPr>
            </a:lvl4pPr>
            <a:lvl5pPr marL="912812" indent="0">
              <a:buNone/>
              <a:defRPr lang="en-US" sz="2000" kern="1200" dirty="0">
                <a:solidFill>
                  <a:schemeClr val="bg2"/>
                </a:solidFill>
                <a:latin typeface="+mn-lt"/>
                <a:ea typeface="+mn-ea"/>
                <a:cs typeface="+mn-cs"/>
              </a:defRPr>
            </a:lvl5pPr>
          </a:lstStyle>
          <a:p>
            <a:pPr lvl="0"/>
            <a:r>
              <a:rPr lang="en-US" dirty="0"/>
              <a:t>Edit Master text styles</a:t>
            </a:r>
          </a:p>
        </p:txBody>
      </p:sp>
    </p:spTree>
    <p:custDataLst>
      <p:tags r:id="rId1"/>
    </p:custDataLst>
    <p:extLst>
      <p:ext uri="{BB962C8B-B14F-4D97-AF65-F5344CB8AC3E}">
        <p14:creationId xmlns:p14="http://schemas.microsoft.com/office/powerpoint/2010/main" val="2330384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rcRect l="5969" t="8249" r="2877" b="58012"/>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dirty="0"/>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dirty="0">
                <a:solidFill>
                  <a:schemeClr val="bg2"/>
                </a:solidFill>
              </a:rPr>
              <a:t>Corrections, feedback, or other questions? </a:t>
            </a:r>
            <a:br>
              <a:rPr lang="en-US" sz="2300" dirty="0">
                <a:solidFill>
                  <a:schemeClr val="bg2"/>
                </a:solidFill>
              </a:rPr>
            </a:br>
            <a:r>
              <a:rPr lang="en-US" sz="2300" dirty="0">
                <a:solidFill>
                  <a:schemeClr val="bg2"/>
                </a:solidFill>
              </a:rPr>
              <a:t>Contact us at </a:t>
            </a:r>
            <a:r>
              <a:rPr lang="en-US" sz="2300" u="sng" dirty="0">
                <a:solidFill>
                  <a:schemeClr val="bg2"/>
                </a:solidFill>
              </a:rPr>
              <a:t>https://support.aws.amazon.com/#/contacts/aws-training</a:t>
            </a:r>
            <a:r>
              <a:rPr lang="en-US" sz="2300" dirty="0">
                <a:solidFill>
                  <a:schemeClr val="bg2"/>
                </a:solidFill>
              </a:rPr>
              <a:t>. </a:t>
            </a:r>
            <a:br>
              <a:rPr lang="en-US" sz="2300" dirty="0">
                <a:solidFill>
                  <a:schemeClr val="bg2"/>
                </a:solidFill>
              </a:rPr>
            </a:br>
            <a:r>
              <a:rPr lang="en-US" sz="2300" dirty="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dirty="0"/>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dirty="0"/>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rvice intro">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Placeholder 11">
            <a:extLst>
              <a:ext uri="{FF2B5EF4-FFF2-40B4-BE49-F238E27FC236}">
                <a16:creationId xmlns:a16="http://schemas.microsoft.com/office/drawing/2014/main" id="{A03FAA1E-A82F-4446-835A-A257B09471D5}"/>
              </a:ext>
            </a:extLst>
          </p:cNvPr>
          <p:cNvSpPr>
            <a:spLocks noGrp="1" noChangeAspect="1"/>
          </p:cNvSpPr>
          <p:nvPr>
            <p:ph type="pic" sz="quarter" idx="22" hasCustomPrompt="1"/>
          </p:nvPr>
        </p:nvSpPr>
        <p:spPr>
          <a:xfrm>
            <a:off x="9765792" y="1280160"/>
            <a:ext cx="1097280" cy="1097280"/>
          </a:xfrm>
        </p:spPr>
        <p:txBody>
          <a:bodyPr>
            <a:normAutofit/>
          </a:bodyPr>
          <a:lstStyle>
            <a:lvl1pPr marL="0" indent="0">
              <a:buNone/>
              <a:defRPr sz="1600"/>
            </a:lvl1pPr>
          </a:lstStyle>
          <a:p>
            <a:r>
              <a:rPr lang="en-US" dirty="0"/>
              <a:t>Service icon</a:t>
            </a:r>
          </a:p>
        </p:txBody>
      </p:sp>
      <p:sp>
        <p:nvSpPr>
          <p:cNvPr id="5" name="Text Placeholder 4">
            <a:extLst>
              <a:ext uri="{FF2B5EF4-FFF2-40B4-BE49-F238E27FC236}">
                <a16:creationId xmlns:a16="http://schemas.microsoft.com/office/drawing/2014/main" id="{68F19BB9-EC09-4DD0-97A5-BBF0110B770B}"/>
              </a:ext>
            </a:extLst>
          </p:cNvPr>
          <p:cNvSpPr>
            <a:spLocks noGrp="1"/>
          </p:cNvSpPr>
          <p:nvPr>
            <p:ph type="body" sz="quarter" idx="21" hasCustomPrompt="1"/>
          </p:nvPr>
        </p:nvSpPr>
        <p:spPr>
          <a:xfrm>
            <a:off x="9162288" y="2514600"/>
            <a:ext cx="2304288" cy="914400"/>
          </a:xfrm>
        </p:spPr>
        <p:txBody>
          <a:bodyPr>
            <a:noAutofit/>
          </a:bodyPr>
          <a:lstStyle>
            <a:lvl1pPr marL="0" indent="0" algn="ctr">
              <a:buNone/>
              <a:defRPr lang="en-US" sz="1800" dirty="0">
                <a:ea typeface="+mn-ea"/>
                <a:cs typeface="+mn-cs"/>
              </a:defRPr>
            </a:lvl1pPr>
          </a:lstStyle>
          <a:p>
            <a:pPr marL="230188" lvl="0" indent="-230188" algn="ctr"/>
            <a:r>
              <a:rPr lang="en-US" dirty="0"/>
              <a:t>Add service name here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29712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Picture Placeholder 4">
            <a:extLst>
              <a:ext uri="{FF2B5EF4-FFF2-40B4-BE49-F238E27FC236}">
                <a16:creationId xmlns:a16="http://schemas.microsoft.com/office/drawing/2014/main" id="{E25EBCDC-6C07-4B35-82D5-0AC6628754E6}"/>
              </a:ext>
              <a:ext uri="{C183D7F6-B498-43B3-948B-1728B52AA6E4}">
                <adec:decorative xmlns:adec="http://schemas.microsoft.com/office/drawing/2017/decorative" val="1"/>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2C43914-0D84-493F-9BEB-DF30C6FD4C97}"/>
              </a:ext>
              <a:ext uri="{C183D7F6-B498-43B3-948B-1728B52AA6E4}">
                <adec:decorative xmlns:adec="http://schemas.microsoft.com/office/drawing/2017/decorative" val="1"/>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 uri="{C183D7F6-B498-43B3-948B-1728B52AA6E4}">
                <adec:decorative xmlns:adec="http://schemas.microsoft.com/office/drawing/2017/decorative" val="0"/>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dirty="0"/>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hf hdr="0" ftr="0" dt="0"/>
  <p:extLst>
    <p:ext uri="{DCECCB84-F9BA-43D5-87BE-67443E8EF086}">
      <p15:sldGuideLst xmlns:p15="http://schemas.microsoft.com/office/powerpoint/2012/main">
        <p15:guide id="2" orient="horz" pos="10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dirty="0"/>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dirty="0"/>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dirty="0"/>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dirty="0"/>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dirty="0"/>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9" name="Copyright">
              <a:extLst>
                <a:ext uri="{FF2B5EF4-FFF2-40B4-BE49-F238E27FC236}">
                  <a16:creationId xmlns:a16="http://schemas.microsoft.com/office/drawing/2014/main" id="{274AB020-3E40-43C9-A671-5C17FEE2F38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dirty="0"/>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17" name="Copyright">
              <a:extLst>
                <a:ext uri="{FF2B5EF4-FFF2-40B4-BE49-F238E27FC236}">
                  <a16:creationId xmlns:a16="http://schemas.microsoft.com/office/drawing/2014/main" id="{6102431F-55CF-4F10-BCE6-9666CEA4F8C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sp>
          <p:nvSpPr>
            <p:cNvPr id="23" name="Copyright">
              <a:extLst>
                <a:ext uri="{FF2B5EF4-FFF2-40B4-BE49-F238E27FC236}">
                  <a16:creationId xmlns:a16="http://schemas.microsoft.com/office/drawing/2014/main" id="{2268572E-7A9B-498D-A37E-CFD2934B7AC2}"/>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dirty="0"/>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90075568"/>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sp>
          <p:nvSpPr>
            <p:cNvPr id="23" name="Copyright">
              <a:extLst>
                <a:ext uri="{FF2B5EF4-FFF2-40B4-BE49-F238E27FC236}">
                  <a16:creationId xmlns:a16="http://schemas.microsoft.com/office/drawing/2014/main" id="{237945B1-A5DC-4A82-9258-8DC2A3B8CA35}"/>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dirty="0"/>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9" name="Copyright">
            <a:extLst>
              <a:ext uri="{FF2B5EF4-FFF2-40B4-BE49-F238E27FC236}">
                <a16:creationId xmlns:a16="http://schemas.microsoft.com/office/drawing/2014/main" id="{962C3F25-041D-4E5B-839E-FBB5D7B91A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pic>
        <p:nvPicPr>
          <p:cNvPr id="7" name="Picture 6">
            <a:extLst>
              <a:ext uri="{FF2B5EF4-FFF2-40B4-BE49-F238E27FC236}">
                <a16:creationId xmlns:a16="http://schemas.microsoft.com/office/drawing/2014/main" id="{63FC9937-4309-1345-9FFE-12A8DD2FC6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995861443"/>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4">
            <a:extLst>
              <a:ext uri="{FF2B5EF4-FFF2-40B4-BE49-F238E27FC236}">
                <a16:creationId xmlns:a16="http://schemas.microsoft.com/office/drawing/2014/main" id="{69573A30-3961-C94C-A15D-1FC70640BAA5}"/>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5099670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18DE245B-4FD3-2740-8BED-8269A8D5C217}"/>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0" name="Footer Placeholder 4">
            <a:extLst>
              <a:ext uri="{FF2B5EF4-FFF2-40B4-BE49-F238E27FC236}">
                <a16:creationId xmlns:a16="http://schemas.microsoft.com/office/drawing/2014/main" id="{DBF8715D-4D79-7041-A43B-D5474972C918}"/>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Tree>
    <p:custDataLst>
      <p:tags r:id="rId1"/>
    </p:custDataLst>
    <p:extLst>
      <p:ext uri="{BB962C8B-B14F-4D97-AF65-F5344CB8AC3E}">
        <p14:creationId xmlns:p14="http://schemas.microsoft.com/office/powerpoint/2010/main" val="26288996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TITLE STYLE</a:t>
            </a:r>
          </a:p>
        </p:txBody>
      </p:sp>
      <p:sp>
        <p:nvSpPr>
          <p:cNvPr id="6" name="Footer Placeholder 4">
            <a:extLst>
              <a:ext uri="{FF2B5EF4-FFF2-40B4-BE49-F238E27FC236}">
                <a16:creationId xmlns:a16="http://schemas.microsoft.com/office/drawing/2014/main" id="{6636900F-FBBE-9846-A194-AC5CF173B39F}"/>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77301110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 uri="{C183D7F6-B498-43B3-948B-1728B52AA6E4}">
                <adec:decorative xmlns:adec="http://schemas.microsoft.com/office/drawing/2017/decorative" val="1"/>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dirty="0"/>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FFDB7B2F-8327-B54A-A6DB-5F4F68ECD970}"/>
              </a:ext>
              <a:ext uri="{C183D7F6-B498-43B3-948B-1728B52AA6E4}">
                <adec:decorative xmlns:adec="http://schemas.microsoft.com/office/drawing/2017/decorative" val="1"/>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dirty="0"/>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Picture 8">
            <a:extLst>
              <a:ext uri="{FF2B5EF4-FFF2-40B4-BE49-F238E27FC236}">
                <a16:creationId xmlns:a16="http://schemas.microsoft.com/office/drawing/2014/main" id="{280E0825-B265-3846-8BB3-B9ECFCCA9B2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2259107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6" name="Picture 5">
            <a:extLst>
              <a:ext uri="{FF2B5EF4-FFF2-40B4-BE49-F238E27FC236}">
                <a16:creationId xmlns:a16="http://schemas.microsoft.com/office/drawing/2014/main" id="{40DE264E-2087-B647-8F60-282FE0A1DE1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17984778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 uri="{C183D7F6-B498-43B3-948B-1728B52AA6E4}">
                <adec:decorative xmlns:adec="http://schemas.microsoft.com/office/drawing/2017/decorative" val="1"/>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endParaRPr lang="en-US" dirty="0"/>
          </a:p>
        </p:txBody>
      </p:sp>
      <p:sp>
        <p:nvSpPr>
          <p:cNvPr id="11" name="Slide Number Placeholder 5">
            <a:extLst>
              <a:ext uri="{FF2B5EF4-FFF2-40B4-BE49-F238E27FC236}">
                <a16:creationId xmlns:a16="http://schemas.microsoft.com/office/drawing/2014/main" id="{B9293C6B-D94F-304A-A8F4-8745DAD9DF47}"/>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5043256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endParaRPr lang="en-US" dirty="0"/>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4AC7BB94-D444-F441-A88C-76F7DDCDC5EB}"/>
              </a:ext>
              <a:ext uri="{C183D7F6-B498-43B3-948B-1728B52AA6E4}">
                <adec:decorative xmlns:adec="http://schemas.microsoft.com/office/drawing/2017/decorative" val="1"/>
              </a:ext>
            </a:extLst>
          </p:cNvPr>
          <p:cNvSpPr>
            <a:spLocks noGrp="1"/>
          </p:cNvSpPr>
          <p:nvPr>
            <p:ph type="sldNum" sz="quarter" idx="12"/>
          </p:nvPr>
        </p:nvSpPr>
        <p:spPr>
          <a:xfrm>
            <a:off x="9029700" y="6356350"/>
            <a:ext cx="2743200" cy="365125"/>
          </a:xfrm>
        </p:spPr>
        <p:txBody>
          <a:bodyPr/>
          <a:lstStyle/>
          <a:p>
            <a:fld id="{B6A95138-A96E-2F42-A959-2EFD44FE4AB7}" type="slidenum">
              <a:rPr lang="en-US" smtClean="0"/>
              <a:t>‹#›</a:t>
            </a:fld>
            <a:endParaRPr lang="en-US" dirty="0"/>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EAED9FF8-3030-4E4D-ADC0-FA2315FD54F2}"/>
              </a:ext>
              <a:ext uri="{C183D7F6-B498-43B3-948B-1728B52AA6E4}">
                <adec:decorative xmlns:adec="http://schemas.microsoft.com/office/drawing/2017/decorative" val="1"/>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dirty="0"/>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8272029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3.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pn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56">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91750"/>
          </a:xfrm>
          <a:prstGeom prst="rect">
            <a:avLst/>
          </a:prstGeom>
        </p:spPr>
        <p:txBody>
          <a:bodyPr vert="horz" lIns="91440" tIns="45720" rIns="91440" bIns="45720" rtlCol="0">
            <a:normAutofit/>
          </a:body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pic>
        <p:nvPicPr>
          <p:cNvPr id="98" name="AWS Logo">
            <a:extLst>
              <a:ext uri="{FF2B5EF4-FFF2-40B4-BE49-F238E27FC236}">
                <a16:creationId xmlns:a16="http://schemas.microsoft.com/office/drawing/2014/main" id="{56ED120F-98B5-42C0-B16A-27FB0984653F}"/>
              </a:ext>
              <a:ext uri="{C183D7F6-B498-43B3-948B-1728B52AA6E4}">
                <adec:decorative xmlns:adec="http://schemas.microsoft.com/office/drawing/2017/decorative" val="1"/>
              </a:ext>
            </a:extLst>
          </p:cNvPr>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43599" y="6452308"/>
            <a:ext cx="366979" cy="219456"/>
          </a:xfrm>
          <a:prstGeom prst="rect">
            <a:avLst/>
          </a:prstGeom>
        </p:spPr>
      </p:pic>
    </p:spTree>
    <p:custDataLst>
      <p:tags r:id="rId55"/>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87" r:id="rId9"/>
    <p:sldLayoutId id="2147484008" r:id="rId10"/>
    <p:sldLayoutId id="2147484009" r:id="rId11"/>
    <p:sldLayoutId id="2147484010" r:id="rId12"/>
    <p:sldLayoutId id="2147484011" r:id="rId13"/>
    <p:sldLayoutId id="2147484012" r:id="rId14"/>
    <p:sldLayoutId id="2147484089"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 id="2147484030" r:id="rId33"/>
    <p:sldLayoutId id="2147484031" r:id="rId34"/>
    <p:sldLayoutId id="2147484032" r:id="rId35"/>
    <p:sldLayoutId id="2147484033" r:id="rId36"/>
    <p:sldLayoutId id="2147484034" r:id="rId37"/>
    <p:sldLayoutId id="2147484035" r:id="rId38"/>
    <p:sldLayoutId id="2147484036" r:id="rId39"/>
    <p:sldLayoutId id="2147484037" r:id="rId40"/>
    <p:sldLayoutId id="2147484038" r:id="rId41"/>
    <p:sldLayoutId id="2147484039" r:id="rId42"/>
    <p:sldLayoutId id="2147484040" r:id="rId43"/>
    <p:sldLayoutId id="2147484041" r:id="rId44"/>
    <p:sldLayoutId id="2147484042" r:id="rId45"/>
    <p:sldLayoutId id="2147484090" r:id="rId46"/>
    <p:sldLayoutId id="2147484091" r:id="rId47"/>
    <p:sldLayoutId id="2147484092" r:id="rId48"/>
    <p:sldLayoutId id="2147484093" r:id="rId49"/>
    <p:sldLayoutId id="2147484094" r:id="rId50"/>
    <p:sldLayoutId id="2147484095" r:id="rId51"/>
    <p:sldLayoutId id="2147484096" r:id="rId52"/>
    <p:sldLayoutId id="2147484097" r:id="rId53"/>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57.xml"/><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5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18" Type="http://schemas.openxmlformats.org/officeDocument/2006/relationships/image" Target="../media/image33.png"/><Relationship Id="rId26" Type="http://schemas.openxmlformats.org/officeDocument/2006/relationships/image" Target="../media/image41.png"/><Relationship Id="rId3" Type="http://schemas.openxmlformats.org/officeDocument/2006/relationships/notesSlide" Target="../notesSlides/notesSlide5.xml"/><Relationship Id="rId21" Type="http://schemas.openxmlformats.org/officeDocument/2006/relationships/image" Target="../media/image36.sv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32.svg"/><Relationship Id="rId25" Type="http://schemas.openxmlformats.org/officeDocument/2006/relationships/image" Target="../media/image40.svg"/><Relationship Id="rId2" Type="http://schemas.openxmlformats.org/officeDocument/2006/relationships/slideLayout" Target="../slideLayouts/slideLayout35.xml"/><Relationship Id="rId16" Type="http://schemas.openxmlformats.org/officeDocument/2006/relationships/image" Target="../media/image31.png"/><Relationship Id="rId20" Type="http://schemas.openxmlformats.org/officeDocument/2006/relationships/image" Target="../media/image35.png"/><Relationship Id="rId29" Type="http://schemas.openxmlformats.org/officeDocument/2006/relationships/image" Target="../media/image44.svg"/><Relationship Id="rId1" Type="http://schemas.openxmlformats.org/officeDocument/2006/relationships/tags" Target="../tags/tag60.xml"/><Relationship Id="rId6" Type="http://schemas.openxmlformats.org/officeDocument/2006/relationships/image" Target="../media/image21.png"/><Relationship Id="rId11" Type="http://schemas.openxmlformats.org/officeDocument/2006/relationships/image" Target="../media/image26.svg"/><Relationship Id="rId24" Type="http://schemas.openxmlformats.org/officeDocument/2006/relationships/image" Target="../media/image39.png"/><Relationship Id="rId5" Type="http://schemas.openxmlformats.org/officeDocument/2006/relationships/image" Target="../media/image20.svg"/><Relationship Id="rId15" Type="http://schemas.openxmlformats.org/officeDocument/2006/relationships/image" Target="../media/image30.svg"/><Relationship Id="rId23" Type="http://schemas.openxmlformats.org/officeDocument/2006/relationships/image" Target="../media/image38.svg"/><Relationship Id="rId28" Type="http://schemas.openxmlformats.org/officeDocument/2006/relationships/image" Target="../media/image43.png"/><Relationship Id="rId10" Type="http://schemas.openxmlformats.org/officeDocument/2006/relationships/image" Target="../media/image25.png"/><Relationship Id="rId19" Type="http://schemas.openxmlformats.org/officeDocument/2006/relationships/image" Target="../media/image34.sv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 Id="rId22" Type="http://schemas.openxmlformats.org/officeDocument/2006/relationships/image" Target="../media/image37.png"/><Relationship Id="rId27" Type="http://schemas.openxmlformats.org/officeDocument/2006/relationships/image" Target="../media/image42.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6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63.xml"/></Relationships>
</file>

<file path=ppt/slides/_rels/slide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6.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0.jpg"/><Relationship Id="rId2" Type="http://schemas.openxmlformats.org/officeDocument/2006/relationships/slideLayout" Target="../slideLayouts/slideLayout35.xml"/><Relationship Id="rId1" Type="http://schemas.openxmlformats.org/officeDocument/2006/relationships/tags" Target="../tags/tag64.xml"/><Relationship Id="rId6" Type="http://schemas.openxmlformats.org/officeDocument/2006/relationships/image" Target="../media/image49.jp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65.xml"/><Relationship Id="rId5" Type="http://schemas.openxmlformats.org/officeDocument/2006/relationships/image" Target="../media/image20.sv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66.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notesSlide" Target="../notesSlides/notesSlide13.xml"/><Relationship Id="rId7" Type="http://schemas.openxmlformats.org/officeDocument/2006/relationships/image" Target="../media/image55.svg"/><Relationship Id="rId2" Type="http://schemas.openxmlformats.org/officeDocument/2006/relationships/slideLayout" Target="../slideLayouts/slideLayout12.xml"/><Relationship Id="rId1" Type="http://schemas.openxmlformats.org/officeDocument/2006/relationships/tags" Target="../tags/tag67.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notesSlide" Target="../notesSlides/notesSlide14.xml"/><Relationship Id="rId7" Type="http://schemas.openxmlformats.org/officeDocument/2006/relationships/image" Target="../media/image53.svg"/><Relationship Id="rId2" Type="http://schemas.openxmlformats.org/officeDocument/2006/relationships/slideLayout" Target="../slideLayouts/slideLayout12.xml"/><Relationship Id="rId1" Type="http://schemas.openxmlformats.org/officeDocument/2006/relationships/tags" Target="../tags/tag68.xml"/><Relationship Id="rId6" Type="http://schemas.openxmlformats.org/officeDocument/2006/relationships/image" Target="../media/image52.png"/><Relationship Id="rId11" Type="http://schemas.openxmlformats.org/officeDocument/2006/relationships/image" Target="../media/image60.svg"/><Relationship Id="rId5" Type="http://schemas.openxmlformats.org/officeDocument/2006/relationships/image" Target="../media/image58.svg"/><Relationship Id="rId10" Type="http://schemas.openxmlformats.org/officeDocument/2006/relationships/image" Target="../media/image59.png"/><Relationship Id="rId4" Type="http://schemas.openxmlformats.org/officeDocument/2006/relationships/image" Target="../media/image57.png"/><Relationship Id="rId9" Type="http://schemas.openxmlformats.org/officeDocument/2006/relationships/image" Target="../media/image55.sv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64.svg"/><Relationship Id="rId2" Type="http://schemas.openxmlformats.org/officeDocument/2006/relationships/slideLayout" Target="../slideLayouts/slideLayout12.xml"/><Relationship Id="rId1" Type="http://schemas.openxmlformats.org/officeDocument/2006/relationships/tags" Target="../tags/tag69.xml"/><Relationship Id="rId6" Type="http://schemas.openxmlformats.org/officeDocument/2006/relationships/image" Target="../media/image63.png"/><Relationship Id="rId5" Type="http://schemas.openxmlformats.org/officeDocument/2006/relationships/image" Target="../media/image62.svg"/><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70.xml"/></Relationships>
</file>

<file path=ppt/slides/_rels/slide1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notesSlide" Target="../notesSlides/notesSlide17.xml"/><Relationship Id="rId7" Type="http://schemas.openxmlformats.org/officeDocument/2006/relationships/image" Target="../media/image68.png"/><Relationship Id="rId2" Type="http://schemas.openxmlformats.org/officeDocument/2006/relationships/slideLayout" Target="../slideLayouts/slideLayout35.xml"/><Relationship Id="rId1" Type="http://schemas.openxmlformats.org/officeDocument/2006/relationships/tags" Target="../tags/tag71.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tags" Target="../tags/tag72.xml"/><Relationship Id="rId5" Type="http://schemas.openxmlformats.org/officeDocument/2006/relationships/hyperlink" Target="https://docs.aws.amazon.com/AWSEC2/latest/UserGuide/instance-types.html#instance-networking-storage" TargetMode="External"/><Relationship Id="rId4" Type="http://schemas.openxmlformats.org/officeDocument/2006/relationships/hyperlink" Target="https://aws.amazon.com/ec2/instance-types/"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76.svg"/><Relationship Id="rId3" Type="http://schemas.openxmlformats.org/officeDocument/2006/relationships/notesSlide" Target="../notesSlides/notesSlide19.xml"/><Relationship Id="rId7" Type="http://schemas.openxmlformats.org/officeDocument/2006/relationships/image" Target="../media/image72.svg"/><Relationship Id="rId12" Type="http://schemas.openxmlformats.org/officeDocument/2006/relationships/image" Target="../media/image75.png"/><Relationship Id="rId2" Type="http://schemas.openxmlformats.org/officeDocument/2006/relationships/slideLayout" Target="../slideLayouts/slideLayout12.xml"/><Relationship Id="rId1" Type="http://schemas.openxmlformats.org/officeDocument/2006/relationships/tags" Target="../tags/tag73.xml"/><Relationship Id="rId6" Type="http://schemas.openxmlformats.org/officeDocument/2006/relationships/image" Target="../media/image71.png"/><Relationship Id="rId11" Type="http://schemas.openxmlformats.org/officeDocument/2006/relationships/image" Target="../media/image74.svg"/><Relationship Id="rId5" Type="http://schemas.openxmlformats.org/officeDocument/2006/relationships/image" Target="../media/image70.svg"/><Relationship Id="rId15" Type="http://schemas.openxmlformats.org/officeDocument/2006/relationships/image" Target="../media/image60.svg"/><Relationship Id="rId10" Type="http://schemas.openxmlformats.org/officeDocument/2006/relationships/image" Target="../media/image73.png"/><Relationship Id="rId4" Type="http://schemas.openxmlformats.org/officeDocument/2006/relationships/image" Target="../media/image69.png"/><Relationship Id="rId9" Type="http://schemas.openxmlformats.org/officeDocument/2006/relationships/image" Target="../media/image55.svg"/><Relationship Id="rId14"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notesSlide" Target="../notesSlides/notesSlide20.xml"/><Relationship Id="rId7" Type="http://schemas.openxmlformats.org/officeDocument/2006/relationships/image" Target="../media/image55.svg"/><Relationship Id="rId2" Type="http://schemas.openxmlformats.org/officeDocument/2006/relationships/slideLayout" Target="../slideLayouts/slideLayout12.xml"/><Relationship Id="rId1" Type="http://schemas.openxmlformats.org/officeDocument/2006/relationships/tags" Target="../tags/tag74.xml"/><Relationship Id="rId6" Type="http://schemas.openxmlformats.org/officeDocument/2006/relationships/image" Target="../media/image54.png"/><Relationship Id="rId5" Type="http://schemas.openxmlformats.org/officeDocument/2006/relationships/image" Target="../media/image78.svg"/><Relationship Id="rId4" Type="http://schemas.openxmlformats.org/officeDocument/2006/relationships/image" Target="../media/image77.png"/><Relationship Id="rId9" Type="http://schemas.openxmlformats.org/officeDocument/2006/relationships/image" Target="../media/image80.sv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7" Type="http://schemas.openxmlformats.org/officeDocument/2006/relationships/image" Target="../media/image55.svg"/><Relationship Id="rId2" Type="http://schemas.openxmlformats.org/officeDocument/2006/relationships/slideLayout" Target="../slideLayouts/slideLayout12.xml"/><Relationship Id="rId1" Type="http://schemas.openxmlformats.org/officeDocument/2006/relationships/tags" Target="../tags/tag75.xml"/><Relationship Id="rId6" Type="http://schemas.openxmlformats.org/officeDocument/2006/relationships/image" Target="../media/image54.png"/><Relationship Id="rId5" Type="http://schemas.openxmlformats.org/officeDocument/2006/relationships/image" Target="../media/image53.sv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84.svg"/><Relationship Id="rId2" Type="http://schemas.openxmlformats.org/officeDocument/2006/relationships/slideLayout" Target="../slideLayouts/slideLayout12.xml"/><Relationship Id="rId1" Type="http://schemas.openxmlformats.org/officeDocument/2006/relationships/tags" Target="../tags/tag76.xml"/><Relationship Id="rId6" Type="http://schemas.openxmlformats.org/officeDocument/2006/relationships/image" Target="../media/image83.png"/><Relationship Id="rId5" Type="http://schemas.openxmlformats.org/officeDocument/2006/relationships/image" Target="../media/image82.svg"/><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77.xml"/></Relationships>
</file>

<file path=ppt/slides/_rels/slide24.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svg"/><Relationship Id="rId3" Type="http://schemas.openxmlformats.org/officeDocument/2006/relationships/notesSlide" Target="../notesSlides/notesSlide24.xml"/><Relationship Id="rId7" Type="http://schemas.openxmlformats.org/officeDocument/2006/relationships/image" Target="../media/image86.svg"/><Relationship Id="rId12" Type="http://schemas.openxmlformats.org/officeDocument/2006/relationships/image" Target="../media/image91.png"/><Relationship Id="rId2" Type="http://schemas.openxmlformats.org/officeDocument/2006/relationships/slideLayout" Target="../slideLayouts/slideLayout12.xml"/><Relationship Id="rId1" Type="http://schemas.openxmlformats.org/officeDocument/2006/relationships/tags" Target="../tags/tag78.xml"/><Relationship Id="rId6" Type="http://schemas.openxmlformats.org/officeDocument/2006/relationships/image" Target="../media/image85.png"/><Relationship Id="rId11" Type="http://schemas.openxmlformats.org/officeDocument/2006/relationships/image" Target="../media/image90.svg"/><Relationship Id="rId5" Type="http://schemas.openxmlformats.org/officeDocument/2006/relationships/image" Target="../media/image55.svg"/><Relationship Id="rId10" Type="http://schemas.openxmlformats.org/officeDocument/2006/relationships/image" Target="../media/image89.png"/><Relationship Id="rId4" Type="http://schemas.openxmlformats.org/officeDocument/2006/relationships/image" Target="../media/image54.png"/><Relationship Id="rId9" Type="http://schemas.openxmlformats.org/officeDocument/2006/relationships/image" Target="../media/image88.sv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tags" Target="../tags/tag79.xml"/><Relationship Id="rId4" Type="http://schemas.openxmlformats.org/officeDocument/2006/relationships/image" Target="../media/image9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tags" Target="../tags/tag80.xml"/><Relationship Id="rId4" Type="http://schemas.openxmlformats.org/officeDocument/2006/relationships/image" Target="../media/image9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98.svg"/><Relationship Id="rId2" Type="http://schemas.openxmlformats.org/officeDocument/2006/relationships/slideLayout" Target="../slideLayouts/slideLayout12.xml"/><Relationship Id="rId1" Type="http://schemas.openxmlformats.org/officeDocument/2006/relationships/tags" Target="../tags/tag81.xml"/><Relationship Id="rId6" Type="http://schemas.openxmlformats.org/officeDocument/2006/relationships/image" Target="../media/image97.png"/><Relationship Id="rId5" Type="http://schemas.openxmlformats.org/officeDocument/2006/relationships/image" Target="../media/image96.svg"/><Relationship Id="rId4" Type="http://schemas.openxmlformats.org/officeDocument/2006/relationships/image" Target="../media/image9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xml"/><Relationship Id="rId1" Type="http://schemas.openxmlformats.org/officeDocument/2006/relationships/tags" Target="../tags/tag82.xml"/><Relationship Id="rId4" Type="http://schemas.openxmlformats.org/officeDocument/2006/relationships/image" Target="../media/image99.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xml"/><Relationship Id="rId1" Type="http://schemas.openxmlformats.org/officeDocument/2006/relationships/tags" Target="../tags/tag83.xml"/><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hyperlink" Target="https://docs.aws.amazon.com/cli/latest/reference/ec2/run-instances.html" TargetMode="Externa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90.svg"/><Relationship Id="rId2" Type="http://schemas.openxmlformats.org/officeDocument/2006/relationships/slideLayout" Target="../slideLayouts/slideLayout12.xml"/><Relationship Id="rId1" Type="http://schemas.openxmlformats.org/officeDocument/2006/relationships/tags" Target="../tags/tag84.xml"/><Relationship Id="rId6" Type="http://schemas.openxmlformats.org/officeDocument/2006/relationships/image" Target="../media/image89.png"/><Relationship Id="rId5" Type="http://schemas.openxmlformats.org/officeDocument/2006/relationships/image" Target="../media/image53.svg"/><Relationship Id="rId4" Type="http://schemas.openxmlformats.org/officeDocument/2006/relationships/image" Target="../media/image5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85.xml"/><Relationship Id="rId5" Type="http://schemas.openxmlformats.org/officeDocument/2006/relationships/image" Target="../media/image103.svg"/><Relationship Id="rId4" Type="http://schemas.openxmlformats.org/officeDocument/2006/relationships/image" Target="../media/image102.png"/></Relationships>
</file>

<file path=ppt/slides/_rels/slide32.xml.rels><?xml version="1.0" encoding="UTF-8" standalone="yes"?>
<Relationships xmlns="http://schemas.openxmlformats.org/package/2006/relationships"><Relationship Id="rId8" Type="http://schemas.openxmlformats.org/officeDocument/2006/relationships/image" Target="../media/image108.svg"/><Relationship Id="rId3" Type="http://schemas.openxmlformats.org/officeDocument/2006/relationships/notesSlide" Target="../notesSlides/notesSlide32.xml"/><Relationship Id="rId7" Type="http://schemas.openxmlformats.org/officeDocument/2006/relationships/image" Target="../media/image107.png"/><Relationship Id="rId2" Type="http://schemas.openxmlformats.org/officeDocument/2006/relationships/slideLayout" Target="../slideLayouts/slideLayout12.xml"/><Relationship Id="rId1" Type="http://schemas.openxmlformats.org/officeDocument/2006/relationships/tags" Target="../tags/tag86.xml"/><Relationship Id="rId6" Type="http://schemas.openxmlformats.org/officeDocument/2006/relationships/image" Target="../media/image106.svg"/><Relationship Id="rId5" Type="http://schemas.openxmlformats.org/officeDocument/2006/relationships/image" Target="../media/image105.png"/><Relationship Id="rId4" Type="http://schemas.openxmlformats.org/officeDocument/2006/relationships/image" Target="../media/image10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87.xml"/><Relationship Id="rId4" Type="http://schemas.openxmlformats.org/officeDocument/2006/relationships/image" Target="../media/image109.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tags" Target="../tags/tag8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xml"/><Relationship Id="rId1" Type="http://schemas.openxmlformats.org/officeDocument/2006/relationships/tags" Target="../tags/tag89.xml"/><Relationship Id="rId4" Type="http://schemas.openxmlformats.org/officeDocument/2006/relationships/hyperlink" Target="https://aws.amazon.com/free/" TargetMode="Externa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113.png"/><Relationship Id="rId2" Type="http://schemas.openxmlformats.org/officeDocument/2006/relationships/slideLayout" Target="../slideLayouts/slideLayout12.xml"/><Relationship Id="rId1" Type="http://schemas.openxmlformats.org/officeDocument/2006/relationships/tags" Target="../tags/tag90.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113.png"/><Relationship Id="rId2" Type="http://schemas.openxmlformats.org/officeDocument/2006/relationships/slideLayout" Target="../slideLayouts/slideLayout12.xml"/><Relationship Id="rId1" Type="http://schemas.openxmlformats.org/officeDocument/2006/relationships/tags" Target="../tags/tag91.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8.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notesSlide" Target="../notesSlides/notesSlide38.xml"/><Relationship Id="rId7" Type="http://schemas.openxmlformats.org/officeDocument/2006/relationships/image" Target="../media/image117.png"/><Relationship Id="rId2" Type="http://schemas.openxmlformats.org/officeDocument/2006/relationships/slideLayout" Target="../slideLayouts/slideLayout12.xml"/><Relationship Id="rId1" Type="http://schemas.openxmlformats.org/officeDocument/2006/relationships/tags" Target="../tags/tag9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xml"/><Relationship Id="rId1" Type="http://schemas.openxmlformats.org/officeDocument/2006/relationships/tags" Target="../tags/tag93.xml"/><Relationship Id="rId4" Type="http://schemas.openxmlformats.org/officeDocument/2006/relationships/image" Target="../media/image115.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tags" Target="../tags/tag94.xml"/><Relationship Id="rId4" Type="http://schemas.openxmlformats.org/officeDocument/2006/relationships/image" Target="../media/image116.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2.xml"/><Relationship Id="rId1" Type="http://schemas.openxmlformats.org/officeDocument/2006/relationships/tags" Target="../tags/tag95.xml"/><Relationship Id="rId4" Type="http://schemas.openxmlformats.org/officeDocument/2006/relationships/image" Target="../media/image117.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xml"/><Relationship Id="rId1" Type="http://schemas.openxmlformats.org/officeDocument/2006/relationships/tags" Target="../tags/tag96.xml"/><Relationship Id="rId4" Type="http://schemas.openxmlformats.org/officeDocument/2006/relationships/image" Target="../media/image118.png"/></Relationships>
</file>

<file path=ppt/slides/_rels/slide43.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notesSlide" Target="../notesSlides/notesSlide43.xml"/><Relationship Id="rId7" Type="http://schemas.openxmlformats.org/officeDocument/2006/relationships/image" Target="../media/image122.svg"/><Relationship Id="rId2" Type="http://schemas.openxmlformats.org/officeDocument/2006/relationships/slideLayout" Target="../slideLayouts/slideLayout12.xml"/><Relationship Id="rId1" Type="http://schemas.openxmlformats.org/officeDocument/2006/relationships/tags" Target="../tags/tag97.xml"/><Relationship Id="rId6" Type="http://schemas.openxmlformats.org/officeDocument/2006/relationships/image" Target="../media/image121.png"/><Relationship Id="rId11" Type="http://schemas.openxmlformats.org/officeDocument/2006/relationships/image" Target="../media/image126.svg"/><Relationship Id="rId5" Type="http://schemas.openxmlformats.org/officeDocument/2006/relationships/image" Target="../media/image120.sv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sv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98.xml"/><Relationship Id="rId4" Type="http://schemas.openxmlformats.org/officeDocument/2006/relationships/image" Target="../media/image109.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99.xml"/></Relationships>
</file>

<file path=ppt/slides/_rels/slide4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image" Target="../media/image127.jpe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xml"/><Relationship Id="rId1" Type="http://schemas.openxmlformats.org/officeDocument/2006/relationships/tags" Target="../tags/tag100.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4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47.xml"/><Relationship Id="rId7" Type="http://schemas.openxmlformats.org/officeDocument/2006/relationships/diagramColors" Target="../diagrams/colors1.xml"/><Relationship Id="rId2" Type="http://schemas.openxmlformats.org/officeDocument/2006/relationships/slideLayout" Target="../slideLayouts/slideLayout12.xml"/><Relationship Id="rId1" Type="http://schemas.openxmlformats.org/officeDocument/2006/relationships/tags" Target="../tags/tag101.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133.svg"/><Relationship Id="rId4" Type="http://schemas.openxmlformats.org/officeDocument/2006/relationships/diagramData" Target="../diagrams/data1.xml"/><Relationship Id="rId9" Type="http://schemas.openxmlformats.org/officeDocument/2006/relationships/image" Target="../media/image13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xml"/><Relationship Id="rId1" Type="http://schemas.openxmlformats.org/officeDocument/2006/relationships/tags" Target="../tags/tag10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tags" Target="../tags/tag103.xml"/><Relationship Id="rId5" Type="http://schemas.openxmlformats.org/officeDocument/2006/relationships/image" Target="../media/image26.svg"/><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8" Type="http://schemas.openxmlformats.org/officeDocument/2006/relationships/image" Target="../media/image134.png"/><Relationship Id="rId3" Type="http://schemas.openxmlformats.org/officeDocument/2006/relationships/notesSlide" Target="../notesSlides/notesSlide50.xml"/><Relationship Id="rId7" Type="http://schemas.openxmlformats.org/officeDocument/2006/relationships/image" Target="../media/image133.svg"/><Relationship Id="rId2" Type="http://schemas.openxmlformats.org/officeDocument/2006/relationships/slideLayout" Target="../slideLayouts/slideLayout12.xml"/><Relationship Id="rId1" Type="http://schemas.openxmlformats.org/officeDocument/2006/relationships/tags" Target="../tags/tag104.xml"/><Relationship Id="rId6" Type="http://schemas.openxmlformats.org/officeDocument/2006/relationships/image" Target="../media/image132.png"/><Relationship Id="rId11" Type="http://schemas.openxmlformats.org/officeDocument/2006/relationships/image" Target="../media/image26.svg"/><Relationship Id="rId5" Type="http://schemas.openxmlformats.org/officeDocument/2006/relationships/image" Target="../media/image55.svg"/><Relationship Id="rId10" Type="http://schemas.openxmlformats.org/officeDocument/2006/relationships/image" Target="../media/image25.png"/><Relationship Id="rId4" Type="http://schemas.openxmlformats.org/officeDocument/2006/relationships/image" Target="../media/image54.png"/><Relationship Id="rId9" Type="http://schemas.openxmlformats.org/officeDocument/2006/relationships/image" Target="../media/image135.sv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2.xml"/><Relationship Id="rId1" Type="http://schemas.openxmlformats.org/officeDocument/2006/relationships/tags" Target="../tags/tag105.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xml"/><Relationship Id="rId1" Type="http://schemas.openxmlformats.org/officeDocument/2006/relationships/tags" Target="../tags/tag106.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2.xml"/><Relationship Id="rId1" Type="http://schemas.openxmlformats.org/officeDocument/2006/relationships/tags" Target="../tags/tag107.xml"/><Relationship Id="rId5" Type="http://schemas.openxmlformats.org/officeDocument/2006/relationships/image" Target="../media/image34.svg"/><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diagramColors" Target="../diagrams/colors2.xml"/><Relationship Id="rId3" Type="http://schemas.openxmlformats.org/officeDocument/2006/relationships/notesSlide" Target="../notesSlides/notesSlide54.xml"/><Relationship Id="rId7" Type="http://schemas.openxmlformats.org/officeDocument/2006/relationships/image" Target="../media/image138.svg"/><Relationship Id="rId12" Type="http://schemas.openxmlformats.org/officeDocument/2006/relationships/diagramQuickStyle" Target="../diagrams/quickStyle2.xml"/><Relationship Id="rId2" Type="http://schemas.openxmlformats.org/officeDocument/2006/relationships/slideLayout" Target="../slideLayouts/slideLayout12.xml"/><Relationship Id="rId1" Type="http://schemas.openxmlformats.org/officeDocument/2006/relationships/tags" Target="../tags/tag108.xml"/><Relationship Id="rId6" Type="http://schemas.openxmlformats.org/officeDocument/2006/relationships/image" Target="../media/image137.png"/><Relationship Id="rId11" Type="http://schemas.openxmlformats.org/officeDocument/2006/relationships/diagramLayout" Target="../diagrams/layout2.xml"/><Relationship Id="rId5" Type="http://schemas.openxmlformats.org/officeDocument/2006/relationships/image" Target="../media/image136.svg"/><Relationship Id="rId10" Type="http://schemas.openxmlformats.org/officeDocument/2006/relationships/diagramData" Target="../diagrams/data2.xml"/><Relationship Id="rId4" Type="http://schemas.openxmlformats.org/officeDocument/2006/relationships/image" Target="../media/image23.png"/><Relationship Id="rId9" Type="http://schemas.openxmlformats.org/officeDocument/2006/relationships/image" Target="../media/image140.svg"/><Relationship Id="rId14" Type="http://schemas.microsoft.com/office/2007/relationships/diagramDrawing" Target="../diagrams/drawing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ags" Target="../tags/tag109.xml"/><Relationship Id="rId4" Type="http://schemas.openxmlformats.org/officeDocument/2006/relationships/image" Target="../media/image109.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4.xml"/><Relationship Id="rId1" Type="http://schemas.openxmlformats.org/officeDocument/2006/relationships/tags" Target="../tags/tag110.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35.xml"/><Relationship Id="rId1" Type="http://schemas.openxmlformats.org/officeDocument/2006/relationships/tags" Target="../tags/tag111.xml"/><Relationship Id="rId6" Type="http://schemas.openxmlformats.org/officeDocument/2006/relationships/image" Target="../media/image143.svg"/><Relationship Id="rId5" Type="http://schemas.openxmlformats.org/officeDocument/2006/relationships/image" Target="../media/image142.png"/><Relationship Id="rId4" Type="http://schemas.openxmlformats.org/officeDocument/2006/relationships/image" Target="../media/image141.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35.xml"/><Relationship Id="rId1" Type="http://schemas.openxmlformats.org/officeDocument/2006/relationships/tags" Target="../tags/tag112.xml"/></Relationships>
</file>

<file path=ppt/slides/_rels/slide60.xml.rels><?xml version="1.0" encoding="UTF-8" standalone="yes"?>
<Relationships xmlns="http://schemas.openxmlformats.org/package/2006/relationships"><Relationship Id="rId8" Type="http://schemas.openxmlformats.org/officeDocument/2006/relationships/image" Target="../media/image148.png"/><Relationship Id="rId3" Type="http://schemas.openxmlformats.org/officeDocument/2006/relationships/notesSlide" Target="../notesSlides/notesSlide59.xml"/><Relationship Id="rId7" Type="http://schemas.openxmlformats.org/officeDocument/2006/relationships/image" Target="../media/image147.png"/><Relationship Id="rId2" Type="http://schemas.openxmlformats.org/officeDocument/2006/relationships/slideLayout" Target="../slideLayouts/slideLayout35.xml"/><Relationship Id="rId1" Type="http://schemas.openxmlformats.org/officeDocument/2006/relationships/tags" Target="../tags/tag113.xml"/><Relationship Id="rId6" Type="http://schemas.openxmlformats.org/officeDocument/2006/relationships/image" Target="../media/image146.png"/><Relationship Id="rId5" Type="http://schemas.openxmlformats.org/officeDocument/2006/relationships/image" Target="../media/image145.png"/><Relationship Id="rId10" Type="http://schemas.openxmlformats.org/officeDocument/2006/relationships/image" Target="../media/image150.svg"/><Relationship Id="rId4" Type="http://schemas.openxmlformats.org/officeDocument/2006/relationships/image" Target="../media/image144.png"/><Relationship Id="rId9" Type="http://schemas.openxmlformats.org/officeDocument/2006/relationships/image" Target="../media/image149.png"/></Relationships>
</file>

<file path=ppt/slides/_rels/slide61.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54.svg"/><Relationship Id="rId18" Type="http://schemas.openxmlformats.org/officeDocument/2006/relationships/image" Target="../media/image159.png"/><Relationship Id="rId3" Type="http://schemas.openxmlformats.org/officeDocument/2006/relationships/notesSlide" Target="../notesSlides/notesSlide60.xml"/><Relationship Id="rId21" Type="http://schemas.openxmlformats.org/officeDocument/2006/relationships/image" Target="../media/image162.svg"/><Relationship Id="rId7" Type="http://schemas.openxmlformats.org/officeDocument/2006/relationships/image" Target="../media/image30.svg"/><Relationship Id="rId12" Type="http://schemas.openxmlformats.org/officeDocument/2006/relationships/image" Target="../media/image153.png"/><Relationship Id="rId17" Type="http://schemas.openxmlformats.org/officeDocument/2006/relationships/image" Target="../media/image158.svg"/><Relationship Id="rId2" Type="http://schemas.openxmlformats.org/officeDocument/2006/relationships/slideLayout" Target="../slideLayouts/slideLayout12.xml"/><Relationship Id="rId16" Type="http://schemas.openxmlformats.org/officeDocument/2006/relationships/image" Target="../media/image157.png"/><Relationship Id="rId20" Type="http://schemas.openxmlformats.org/officeDocument/2006/relationships/image" Target="../media/image161.png"/><Relationship Id="rId1" Type="http://schemas.openxmlformats.org/officeDocument/2006/relationships/tags" Target="../tags/tag114.xml"/><Relationship Id="rId6" Type="http://schemas.openxmlformats.org/officeDocument/2006/relationships/image" Target="../media/image29.png"/><Relationship Id="rId11" Type="http://schemas.openxmlformats.org/officeDocument/2006/relationships/image" Target="../media/image152.svg"/><Relationship Id="rId5" Type="http://schemas.openxmlformats.org/officeDocument/2006/relationships/image" Target="../media/image143.svg"/><Relationship Id="rId15" Type="http://schemas.openxmlformats.org/officeDocument/2006/relationships/image" Target="../media/image156.svg"/><Relationship Id="rId10" Type="http://schemas.openxmlformats.org/officeDocument/2006/relationships/image" Target="../media/image151.png"/><Relationship Id="rId19" Type="http://schemas.openxmlformats.org/officeDocument/2006/relationships/image" Target="../media/image160.svg"/><Relationship Id="rId4" Type="http://schemas.openxmlformats.org/officeDocument/2006/relationships/image" Target="../media/image142.png"/><Relationship Id="rId9" Type="http://schemas.openxmlformats.org/officeDocument/2006/relationships/image" Target="../media/image106.svg"/><Relationship Id="rId14" Type="http://schemas.openxmlformats.org/officeDocument/2006/relationships/image" Target="../media/image155.png"/></Relationships>
</file>

<file path=ppt/slides/_rels/slide62.xml.rels><?xml version="1.0" encoding="UTF-8" standalone="yes"?>
<Relationships xmlns="http://schemas.openxmlformats.org/package/2006/relationships"><Relationship Id="rId8" Type="http://schemas.openxmlformats.org/officeDocument/2006/relationships/image" Target="../media/image165.svg"/><Relationship Id="rId13" Type="http://schemas.openxmlformats.org/officeDocument/2006/relationships/image" Target="../media/image105.png"/><Relationship Id="rId3" Type="http://schemas.openxmlformats.org/officeDocument/2006/relationships/notesSlide" Target="../notesSlides/notesSlide61.xml"/><Relationship Id="rId7" Type="http://schemas.openxmlformats.org/officeDocument/2006/relationships/image" Target="../media/image164.png"/><Relationship Id="rId12" Type="http://schemas.openxmlformats.org/officeDocument/2006/relationships/image" Target="../media/image167.svg"/><Relationship Id="rId2" Type="http://schemas.openxmlformats.org/officeDocument/2006/relationships/slideLayout" Target="../slideLayouts/slideLayout12.xml"/><Relationship Id="rId16" Type="http://schemas.openxmlformats.org/officeDocument/2006/relationships/image" Target="../media/image143.svg"/><Relationship Id="rId1" Type="http://schemas.openxmlformats.org/officeDocument/2006/relationships/tags" Target="../tags/tag115.xml"/><Relationship Id="rId6" Type="http://schemas.openxmlformats.org/officeDocument/2006/relationships/image" Target="../media/image30.svg"/><Relationship Id="rId11" Type="http://schemas.openxmlformats.org/officeDocument/2006/relationships/image" Target="../media/image166.png"/><Relationship Id="rId5" Type="http://schemas.openxmlformats.org/officeDocument/2006/relationships/image" Target="../media/image29.png"/><Relationship Id="rId15" Type="http://schemas.openxmlformats.org/officeDocument/2006/relationships/image" Target="../media/image142.png"/><Relationship Id="rId10" Type="http://schemas.openxmlformats.org/officeDocument/2006/relationships/image" Target="../media/image78.svg"/><Relationship Id="rId4" Type="http://schemas.openxmlformats.org/officeDocument/2006/relationships/image" Target="../media/image163.png"/><Relationship Id="rId9" Type="http://schemas.openxmlformats.org/officeDocument/2006/relationships/image" Target="../media/image77.png"/><Relationship Id="rId14" Type="http://schemas.openxmlformats.org/officeDocument/2006/relationships/image" Target="../media/image106.svg"/></Relationships>
</file>

<file path=ppt/slides/_rels/slide63.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42.png"/><Relationship Id="rId3" Type="http://schemas.openxmlformats.org/officeDocument/2006/relationships/notesSlide" Target="../notesSlides/notesSlide62.xml"/><Relationship Id="rId7" Type="http://schemas.openxmlformats.org/officeDocument/2006/relationships/image" Target="../media/image169.png"/><Relationship Id="rId12" Type="http://schemas.openxmlformats.org/officeDocument/2006/relationships/image" Target="../media/image30.svg"/><Relationship Id="rId2" Type="http://schemas.openxmlformats.org/officeDocument/2006/relationships/slideLayout" Target="../slideLayouts/slideLayout35.xml"/><Relationship Id="rId16" Type="http://schemas.openxmlformats.org/officeDocument/2006/relationships/image" Target="../media/image78.svg"/><Relationship Id="rId1" Type="http://schemas.openxmlformats.org/officeDocument/2006/relationships/tags" Target="../tags/tag116.xml"/><Relationship Id="rId6" Type="http://schemas.openxmlformats.org/officeDocument/2006/relationships/image" Target="../media/image168.png"/><Relationship Id="rId11" Type="http://schemas.openxmlformats.org/officeDocument/2006/relationships/image" Target="../media/image29.png"/><Relationship Id="rId5" Type="http://schemas.openxmlformats.org/officeDocument/2006/relationships/image" Target="../media/image80.svg"/><Relationship Id="rId15" Type="http://schemas.openxmlformats.org/officeDocument/2006/relationships/image" Target="../media/image77.png"/><Relationship Id="rId10" Type="http://schemas.openxmlformats.org/officeDocument/2006/relationships/image" Target="../media/image70.svg"/><Relationship Id="rId4" Type="http://schemas.openxmlformats.org/officeDocument/2006/relationships/image" Target="../media/image79.png"/><Relationship Id="rId9" Type="http://schemas.openxmlformats.org/officeDocument/2006/relationships/image" Target="../media/image69.png"/><Relationship Id="rId14" Type="http://schemas.openxmlformats.org/officeDocument/2006/relationships/image" Target="../media/image143.sv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2.xml"/><Relationship Id="rId1" Type="http://schemas.openxmlformats.org/officeDocument/2006/relationships/tags" Target="../tags/tag117.xml"/><Relationship Id="rId4" Type="http://schemas.openxmlformats.org/officeDocument/2006/relationships/hyperlink" Target="https://docs.aws.amazon.com/lambda/latest/dg/gettingstarted-limits.html" TargetMode="Externa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tags" Target="../tags/tag118.xml"/><Relationship Id="rId4" Type="http://schemas.openxmlformats.org/officeDocument/2006/relationships/image" Target="../media/image109.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tags" Target="../tags/tag11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2.xml"/><Relationship Id="rId1" Type="http://schemas.openxmlformats.org/officeDocument/2006/relationships/tags" Target="../tags/tag120.xml"/><Relationship Id="rId5" Type="http://schemas.openxmlformats.org/officeDocument/2006/relationships/image" Target="../media/image28.svg"/><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2.xml"/><Relationship Id="rId1" Type="http://schemas.openxmlformats.org/officeDocument/2006/relationships/tags" Target="../tags/tag121.xml"/><Relationship Id="rId4" Type="http://schemas.openxmlformats.org/officeDocument/2006/relationships/image" Target="../media/image171.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7" Type="http://schemas.openxmlformats.org/officeDocument/2006/relationships/image" Target="../media/image175.png"/><Relationship Id="rId2" Type="http://schemas.openxmlformats.org/officeDocument/2006/relationships/slideLayout" Target="../slideLayouts/slideLayout12.xml"/><Relationship Id="rId1" Type="http://schemas.openxmlformats.org/officeDocument/2006/relationships/tags" Target="../tags/tag122.xml"/><Relationship Id="rId6" Type="http://schemas.openxmlformats.org/officeDocument/2006/relationships/image" Target="../media/image174.png"/><Relationship Id="rId5" Type="http://schemas.openxmlformats.org/officeDocument/2006/relationships/image" Target="../media/image173.png"/><Relationship Id="rId4" Type="http://schemas.openxmlformats.org/officeDocument/2006/relationships/image" Target="../media/image172.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tags" Target="../tags/tag123.xml"/><Relationship Id="rId4" Type="http://schemas.openxmlformats.org/officeDocument/2006/relationships/image" Target="../media/image109.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4.xml"/><Relationship Id="rId1" Type="http://schemas.openxmlformats.org/officeDocument/2006/relationships/tags" Target="../tags/tag124.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2.xml"/><Relationship Id="rId1" Type="http://schemas.openxmlformats.org/officeDocument/2006/relationships/tags" Target="../tags/tag125.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9.xml"/><Relationship Id="rId1" Type="http://schemas.openxmlformats.org/officeDocument/2006/relationships/tags" Target="../tags/tag1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5400" dirty="0"/>
              <a:t>Module 6: Compute</a:t>
            </a:r>
          </a:p>
        </p:txBody>
      </p:sp>
      <p:sp>
        <p:nvSpPr>
          <p:cNvPr id="2" name="Text Placeholder 1">
            <a:extLst>
              <a:ext uri="{FF2B5EF4-FFF2-40B4-BE49-F238E27FC236}">
                <a16:creationId xmlns:a16="http://schemas.microsoft.com/office/drawing/2014/main" id="{9D88EA70-1A6F-3D46-88BA-3D72648154E8}"/>
              </a:ext>
            </a:extLst>
          </p:cNvPr>
          <p:cNvSpPr>
            <a:spLocks noGrp="1"/>
          </p:cNvSpPr>
          <p:nvPr>
            <p:ph type="subTitle" idx="1"/>
          </p:nvPr>
        </p:nvSpPr>
        <p:spPr/>
        <p:txBody>
          <a:bodyPr/>
          <a:lstStyle/>
          <a:p>
            <a:r>
              <a:rPr lang="en-US" dirty="0"/>
              <a:t>AWS Academy Cloud Foundations</a:t>
            </a:r>
          </a:p>
        </p:txBody>
      </p:sp>
    </p:spTree>
    <p:custDataLst>
      <p:tags r:id="rId1"/>
    </p:custDataLst>
    <p:extLst>
      <p:ext uri="{BB962C8B-B14F-4D97-AF65-F5344CB8AC3E}">
        <p14:creationId xmlns:p14="http://schemas.microsoft.com/office/powerpoint/2010/main" val="4228951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17933E2-EE90-C246-AEFF-135CA8848EB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a:t>
            </a:fld>
            <a:endParaRPr lang="en-US" dirty="0"/>
          </a:p>
        </p:txBody>
      </p:sp>
      <p:sp>
        <p:nvSpPr>
          <p:cNvPr id="2" name="Title 1"/>
          <p:cNvSpPr>
            <a:spLocks noGrp="1"/>
          </p:cNvSpPr>
          <p:nvPr>
            <p:ph type="title"/>
          </p:nvPr>
        </p:nvSpPr>
        <p:spPr/>
        <p:txBody>
          <a:bodyPr/>
          <a:lstStyle/>
          <a:p>
            <a:r>
              <a:rPr lang="en-US" dirty="0">
                <a:latin typeface="+mj-lt"/>
              </a:rPr>
              <a:t>Module overview</a:t>
            </a:r>
          </a:p>
        </p:txBody>
      </p:sp>
      <p:sp>
        <p:nvSpPr>
          <p:cNvPr id="5" name="Content Placeholder 4"/>
          <p:cNvSpPr>
            <a:spLocks noGrp="1"/>
          </p:cNvSpPr>
          <p:nvPr>
            <p:ph sz="quarter" idx="21"/>
          </p:nvPr>
        </p:nvSpPr>
        <p:spPr>
          <a:xfrm>
            <a:off x="365759" y="1143000"/>
            <a:ext cx="5559552" cy="5291750"/>
          </a:xfrm>
        </p:spPr>
        <p:txBody>
          <a:bodyPr/>
          <a:lstStyle/>
          <a:p>
            <a:pPr marL="0" indent="0">
              <a:buNone/>
            </a:pPr>
            <a:r>
              <a:rPr lang="en-US" b="1" dirty="0">
                <a:latin typeface="+mn-lt"/>
              </a:rPr>
              <a:t>Topics</a:t>
            </a:r>
          </a:p>
          <a:p>
            <a:r>
              <a:rPr lang="en-US" sz="2000" dirty="0">
                <a:latin typeface="+mn-lt"/>
              </a:rPr>
              <a:t>Compute services overview</a:t>
            </a:r>
          </a:p>
          <a:p>
            <a:r>
              <a:rPr lang="en-US" sz="2000" dirty="0">
                <a:latin typeface="+mn-lt"/>
              </a:rPr>
              <a:t>Amazon EC2</a:t>
            </a:r>
          </a:p>
          <a:p>
            <a:r>
              <a:rPr lang="en-US" sz="2000" dirty="0">
                <a:latin typeface="+mn-lt"/>
              </a:rPr>
              <a:t>Amazon EC2 cost optimization</a:t>
            </a:r>
          </a:p>
          <a:p>
            <a:r>
              <a:rPr lang="en-US" sz="2000" dirty="0">
                <a:latin typeface="+mn-lt"/>
              </a:rPr>
              <a:t>Container services</a:t>
            </a:r>
          </a:p>
          <a:p>
            <a:r>
              <a:rPr lang="en-US" sz="2000" dirty="0">
                <a:latin typeface="+mn-lt"/>
              </a:rPr>
              <a:t>Introduction to AWS Lambda</a:t>
            </a:r>
          </a:p>
          <a:p>
            <a:r>
              <a:rPr lang="en-US" sz="2000" dirty="0">
                <a:latin typeface="+mn-lt"/>
              </a:rPr>
              <a:t>Introduction to AWS Elastic Beanstalk</a:t>
            </a:r>
          </a:p>
          <a:p>
            <a:pPr marL="0" indent="0">
              <a:buNone/>
            </a:pPr>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a:p>
            <a:endParaRPr lang="en-US" dirty="0">
              <a:latin typeface="+mn-lt"/>
            </a:endParaRPr>
          </a:p>
        </p:txBody>
      </p:sp>
      <p:sp>
        <p:nvSpPr>
          <p:cNvPr id="6" name="Content Placeholder 5">
            <a:extLst>
              <a:ext uri="{FF2B5EF4-FFF2-40B4-BE49-F238E27FC236}">
                <a16:creationId xmlns:a16="http://schemas.microsoft.com/office/drawing/2014/main" id="{79AB60CE-670C-974B-8C37-C3795121745F}"/>
              </a:ext>
            </a:extLst>
          </p:cNvPr>
          <p:cNvSpPr>
            <a:spLocks noGrp="1"/>
          </p:cNvSpPr>
          <p:nvPr>
            <p:ph idx="4294967295"/>
          </p:nvPr>
        </p:nvSpPr>
        <p:spPr>
          <a:xfrm>
            <a:off x="6108192" y="1143000"/>
            <a:ext cx="5559552" cy="4649788"/>
          </a:xfrm>
        </p:spPr>
        <p:txBody>
          <a:bodyPr>
            <a:normAutofit lnSpcReduction="10000"/>
          </a:bodyPr>
          <a:lstStyle/>
          <a:p>
            <a:pPr marL="0" indent="0">
              <a:buNone/>
            </a:pPr>
            <a:r>
              <a:rPr lang="en-US" b="1" dirty="0">
                <a:latin typeface="+mn-lt"/>
              </a:rPr>
              <a:t>Activities</a:t>
            </a:r>
          </a:p>
          <a:p>
            <a:r>
              <a:rPr lang="en-US" sz="2000" dirty="0">
                <a:latin typeface="+mn-lt"/>
              </a:rPr>
              <a:t>Amazon EC2 versus Managed Service</a:t>
            </a:r>
          </a:p>
          <a:p>
            <a:r>
              <a:rPr lang="en-US" sz="2000" dirty="0"/>
              <a:t>Hands-on with AWS Lambda</a:t>
            </a:r>
          </a:p>
          <a:p>
            <a:r>
              <a:rPr lang="en-US" sz="2000" dirty="0">
                <a:latin typeface="+mn-lt"/>
              </a:rPr>
              <a:t>Hands-on with AWS Elastic Beanstalk</a:t>
            </a:r>
          </a:p>
          <a:p>
            <a:endParaRPr lang="en-US" sz="1100" dirty="0">
              <a:latin typeface="+mn-lt"/>
            </a:endParaRPr>
          </a:p>
          <a:p>
            <a:pPr marL="0" indent="0">
              <a:buNone/>
            </a:pPr>
            <a:r>
              <a:rPr lang="en-US" b="1" dirty="0"/>
              <a:t>Demo</a:t>
            </a:r>
            <a:endParaRPr lang="en-US" sz="3600" b="1" dirty="0"/>
          </a:p>
          <a:p>
            <a:r>
              <a:rPr lang="en-US" sz="2000" dirty="0"/>
              <a:t>Recorded demonstration of Amazon EC2</a:t>
            </a:r>
          </a:p>
          <a:p>
            <a:endParaRPr lang="en-US" sz="1800" dirty="0"/>
          </a:p>
          <a:p>
            <a:pPr marL="0" indent="0">
              <a:buNone/>
            </a:pPr>
            <a:r>
              <a:rPr lang="en-US" b="1" dirty="0">
                <a:latin typeface="+mn-lt"/>
              </a:rPr>
              <a:t>Lab</a:t>
            </a:r>
          </a:p>
          <a:p>
            <a:r>
              <a:rPr lang="en-US" sz="2000" dirty="0"/>
              <a:t>Introduction to Amazon EC2</a:t>
            </a:r>
          </a:p>
          <a:p>
            <a:endParaRPr lang="en-US" dirty="0">
              <a:latin typeface="+mn-lt"/>
            </a:endParaRPr>
          </a:p>
        </p:txBody>
      </p:sp>
      <p:grpSp>
        <p:nvGrpSpPr>
          <p:cNvPr id="7" name="Group 6" descr="knowledge check">
            <a:extLst>
              <a:ext uri="{FF2B5EF4-FFF2-40B4-BE49-F238E27FC236}">
                <a16:creationId xmlns:a16="http://schemas.microsoft.com/office/drawing/2014/main" id="{5A386CF2-48DE-3E4F-B27A-6F6B12236D70}"/>
              </a:ext>
            </a:extLst>
          </p:cNvPr>
          <p:cNvGrpSpPr/>
          <p:nvPr/>
        </p:nvGrpSpPr>
        <p:grpSpPr>
          <a:xfrm>
            <a:off x="6268346" y="5787481"/>
            <a:ext cx="2832953" cy="532323"/>
            <a:chOff x="4188879" y="4810544"/>
            <a:chExt cx="2832953" cy="532323"/>
          </a:xfrm>
        </p:grpSpPr>
        <p:sp>
          <p:nvSpPr>
            <p:cNvPr id="8" name="TextBox 7">
              <a:extLst>
                <a:ext uri="{FF2B5EF4-FFF2-40B4-BE49-F238E27FC236}">
                  <a16:creationId xmlns:a16="http://schemas.microsoft.com/office/drawing/2014/main" id="{94F8C5C3-D9C4-4E4C-8D0B-BD50A1C962C5}"/>
                </a:ext>
              </a:extLst>
            </p:cNvPr>
            <p:cNvSpPr txBox="1"/>
            <p:nvPr/>
          </p:nvSpPr>
          <p:spPr>
            <a:xfrm>
              <a:off x="4721202" y="4892040"/>
              <a:ext cx="2300630" cy="400110"/>
            </a:xfrm>
            <a:prstGeom prst="rect">
              <a:avLst/>
            </a:prstGeom>
            <a:noFill/>
          </p:spPr>
          <p:txBody>
            <a:bodyPr wrap="none" rtlCol="0">
              <a:spAutoFit/>
            </a:bodyPr>
            <a:lstStyle/>
            <a:p>
              <a:r>
                <a:rPr lang="en-US" sz="2000" b="1" dirty="0">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9" name="Picture 8">
              <a:extLst>
                <a:ext uri="{FF2B5EF4-FFF2-40B4-BE49-F238E27FC236}">
                  <a16:creationId xmlns:a16="http://schemas.microsoft.com/office/drawing/2014/main" id="{7C7503A9-F744-2745-8305-1056CF885D90}"/>
                </a:ext>
                <a:ext uri="{C183D7F6-B498-43B3-948B-1728B52AA6E4}">
                  <adec:decorative xmlns:adec="http://schemas.microsoft.com/office/drawing/2017/decorative" val="1"/>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Tree>
    <p:custDataLst>
      <p:tags r:id="rId1"/>
    </p:custDataLst>
    <p:extLst>
      <p:ext uri="{BB962C8B-B14F-4D97-AF65-F5344CB8AC3E}">
        <p14:creationId xmlns:p14="http://schemas.microsoft.com/office/powerpoint/2010/main" val="2418746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13664B5-EEB6-E049-B72C-49A93FBD477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a:t>
            </a:fld>
            <a:endParaRPr lang="en-US" dirty="0"/>
          </a:p>
        </p:txBody>
      </p:sp>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dirty="0"/>
              <a:t>Module objectives</a:t>
            </a:r>
          </a:p>
        </p:txBody>
      </p:sp>
      <p:sp>
        <p:nvSpPr>
          <p:cNvPr id="11" name="Content Placeholder 10">
            <a:extLst>
              <a:ext uri="{FF2B5EF4-FFF2-40B4-BE49-F238E27FC236}">
                <a16:creationId xmlns:a16="http://schemas.microsoft.com/office/drawing/2014/main" id="{0884D7AC-B780-0E43-A312-CABF2E15BCA8}"/>
              </a:ext>
            </a:extLst>
          </p:cNvPr>
          <p:cNvSpPr>
            <a:spLocks noGrp="1"/>
          </p:cNvSpPr>
          <p:nvPr>
            <p:ph sz="quarter" idx="21"/>
          </p:nvPr>
        </p:nvSpPr>
        <p:spPr/>
        <p:txBody>
          <a:bodyPr/>
          <a:lstStyle/>
          <a:p>
            <a:pPr marL="0" indent="0">
              <a:buNone/>
            </a:pPr>
            <a:r>
              <a:rPr lang="en-US" sz="3200" dirty="0"/>
              <a:t>After completing this module, you should be able to:</a:t>
            </a:r>
          </a:p>
          <a:p>
            <a:r>
              <a:rPr lang="en-US" sz="2400" dirty="0"/>
              <a:t>Provide an overview of different AWS compute services in the cloud</a:t>
            </a:r>
          </a:p>
          <a:p>
            <a:r>
              <a:rPr lang="en-US" sz="2400" dirty="0"/>
              <a:t>Demonstrate why to use Amazon Elastic Compute Cloud (Amazon EC2)</a:t>
            </a:r>
          </a:p>
          <a:p>
            <a:r>
              <a:rPr lang="en-US" sz="2400" dirty="0"/>
              <a:t>Identify the functionality in the EC2 console</a:t>
            </a:r>
          </a:p>
          <a:p>
            <a:r>
              <a:rPr lang="en-US" sz="2400" dirty="0"/>
              <a:t>Perform basic functions in Amazon EC2 to build a virtual computing environment</a:t>
            </a:r>
          </a:p>
          <a:p>
            <a:r>
              <a:rPr lang="en-US" sz="2400" dirty="0"/>
              <a:t>Identify Amazon EC2 cost optimization elements</a:t>
            </a:r>
          </a:p>
          <a:p>
            <a:r>
              <a:rPr lang="en-US" sz="2400" dirty="0"/>
              <a:t>Demonstrate when to use AWS Elastic Beanstalk</a:t>
            </a:r>
          </a:p>
          <a:p>
            <a:r>
              <a:rPr lang="en-US" sz="2400" dirty="0"/>
              <a:t>Demonstrate when to use AWS Lambda</a:t>
            </a:r>
          </a:p>
          <a:p>
            <a:r>
              <a:rPr lang="en-US" sz="2400" dirty="0"/>
              <a:t>Identify how to run containerized applications in a cluster of managed servers</a:t>
            </a:r>
          </a:p>
        </p:txBody>
      </p:sp>
    </p:spTree>
    <p:custDataLst>
      <p:tags r:id="rId1"/>
    </p:custDataLst>
    <p:extLst>
      <p:ext uri="{BB962C8B-B14F-4D97-AF65-F5344CB8AC3E}">
        <p14:creationId xmlns:p14="http://schemas.microsoft.com/office/powerpoint/2010/main" val="3667429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0"/>
              </a:ext>
            </a:extLst>
          </p:cNvPr>
          <p:cNvSpPr>
            <a:spLocks noGrp="1"/>
          </p:cNvSpPr>
          <p:nvPr>
            <p:ph type="title"/>
          </p:nvPr>
        </p:nvSpPr>
        <p:spPr/>
        <p:txBody>
          <a:bodyPr>
            <a:noAutofit/>
          </a:bodyPr>
          <a:lstStyle/>
          <a:p>
            <a:r>
              <a:rPr lang="en-US" sz="4800" dirty="0"/>
              <a:t>Section 1: Compute services overview</a:t>
            </a:r>
          </a:p>
        </p:txBody>
      </p:sp>
      <p:sp>
        <p:nvSpPr>
          <p:cNvPr id="5" name="Text Placeholder 4">
            <a:extLst>
              <a:ext uri="{FF2B5EF4-FFF2-40B4-BE49-F238E27FC236}">
                <a16:creationId xmlns:a16="http://schemas.microsoft.com/office/drawing/2014/main" id="{4FBBA754-ABC9-A548-8F1D-26144BA87DE9}"/>
              </a:ext>
            </a:extLst>
          </p:cNvPr>
          <p:cNvSpPr>
            <a:spLocks noGrp="1"/>
          </p:cNvSpPr>
          <p:nvPr>
            <p:ph type="subTitle" idx="1"/>
          </p:nvPr>
        </p:nvSpPr>
        <p:spPr/>
        <p:txBody>
          <a:bodyPr>
            <a:normAutofit/>
          </a:bodyPr>
          <a:lstStyle/>
          <a:p>
            <a:r>
              <a:rPr lang="en-US" dirty="0"/>
              <a:t>Module 6: Compute</a:t>
            </a:r>
          </a:p>
        </p:txBody>
      </p:sp>
    </p:spTree>
    <p:custDataLst>
      <p:tags r:id="rId1"/>
    </p:custDataLst>
    <p:extLst>
      <p:ext uri="{BB962C8B-B14F-4D97-AF65-F5344CB8AC3E}">
        <p14:creationId xmlns:p14="http://schemas.microsoft.com/office/powerpoint/2010/main" val="2600954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31">
            <a:extLst>
              <a:ext uri="{FF2B5EF4-FFF2-40B4-BE49-F238E27FC236}">
                <a16:creationId xmlns:a16="http://schemas.microsoft.com/office/drawing/2014/main" id="{92FFA6C1-F3FB-CA89-FF0A-163D57768BFE}"/>
              </a:ext>
            </a:extLst>
          </p:cNvPr>
          <p:cNvSpPr>
            <a:spLocks noGrp="1"/>
          </p:cNvSpPr>
          <p:nvPr>
            <p:ph type="sldNum" sz="quarter" idx="20"/>
          </p:nvPr>
        </p:nvSpPr>
        <p:spPr/>
        <p:txBody>
          <a:bodyPr/>
          <a:lstStyle/>
          <a:p>
            <a:fld id="{930176A1-BCF0-4712-97A6-6B495F55390B}" type="slidenum">
              <a:rPr lang="en-US" smtClean="0"/>
              <a:t>5</a:t>
            </a:fld>
            <a:endParaRPr lang="en-US"/>
          </a:p>
        </p:txBody>
      </p:sp>
      <p:sp>
        <p:nvSpPr>
          <p:cNvPr id="5" name="Title 4">
            <a:extLst>
              <a:ext uri="{FF2B5EF4-FFF2-40B4-BE49-F238E27FC236}">
                <a16:creationId xmlns:a16="http://schemas.microsoft.com/office/drawing/2014/main" id="{5C9D8A06-614E-3349-AB18-CC8E0BC91E99}"/>
              </a:ext>
            </a:extLst>
          </p:cNvPr>
          <p:cNvSpPr>
            <a:spLocks noGrp="1"/>
          </p:cNvSpPr>
          <p:nvPr>
            <p:ph type="title"/>
          </p:nvPr>
        </p:nvSpPr>
        <p:spPr/>
        <p:txBody>
          <a:bodyPr/>
          <a:lstStyle/>
          <a:p>
            <a:r>
              <a:rPr lang="en-US" dirty="0"/>
              <a:t>AWS compute services</a:t>
            </a:r>
          </a:p>
        </p:txBody>
      </p:sp>
      <p:sp>
        <p:nvSpPr>
          <p:cNvPr id="59" name="TextBox 58">
            <a:extLst>
              <a:ext uri="{FF2B5EF4-FFF2-40B4-BE49-F238E27FC236}">
                <a16:creationId xmlns:a16="http://schemas.microsoft.com/office/drawing/2014/main" id="{0EFB2D9A-8651-EE4F-9E53-1176EEB065E7}"/>
              </a:ext>
            </a:extLst>
          </p:cNvPr>
          <p:cNvSpPr txBox="1"/>
          <p:nvPr/>
        </p:nvSpPr>
        <p:spPr>
          <a:xfrm>
            <a:off x="535583" y="1402660"/>
            <a:ext cx="11198900" cy="369332"/>
          </a:xfrm>
          <a:prstGeom prst="rect">
            <a:avLst/>
          </a:prstGeom>
          <a:noFill/>
        </p:spPr>
        <p:txBody>
          <a:bodyPr wrap="none" rtlCol="0">
            <a:spAutoFit/>
          </a:bodyPr>
          <a:lstStyle/>
          <a:p>
            <a:r>
              <a:rPr lang="en-US"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Amazon Web Services (AWS) offers many compute services. This module will discuss the highlighted services.</a:t>
            </a:r>
          </a:p>
        </p:txBody>
      </p:sp>
      <p:grpSp>
        <p:nvGrpSpPr>
          <p:cNvPr id="2" name="Group 1" descr="Graphic showing icons for Amazon EC2, EC2 Auto Scaling, Amazon ECR, Amazon ECS, VMware Cloud on AWS, Elastic Beanstalk, AWS Lambda, EKS, Lightsail, AWS Batch, AWS Fargate, and AWS Serverless Application Repository. Only EC2, ECR, ECS, Beanstalk, Lambda, and EKS are highlighted.">
            <a:extLst>
              <a:ext uri="{FF2B5EF4-FFF2-40B4-BE49-F238E27FC236}">
                <a16:creationId xmlns:a16="http://schemas.microsoft.com/office/drawing/2014/main" id="{0F118C69-978A-D04D-833F-DE9A8840346C}"/>
              </a:ext>
            </a:extLst>
          </p:cNvPr>
          <p:cNvGrpSpPr/>
          <p:nvPr/>
        </p:nvGrpSpPr>
        <p:grpSpPr>
          <a:xfrm>
            <a:off x="582792" y="2029218"/>
            <a:ext cx="10728975" cy="4327133"/>
            <a:chOff x="582792" y="2029218"/>
            <a:chExt cx="10728975" cy="4327133"/>
          </a:xfrm>
        </p:grpSpPr>
        <p:grpSp>
          <p:nvGrpSpPr>
            <p:cNvPr id="51" name="Group 50" descr="Graphic showing icons for Amazon EC2, EC2 Auto Scaling, Amazon ECR, Amazon ECS, VMware Cloud on AWS, Elastic Beanstalk, AWS Lambda, EKS, Lightsail, AWS Batch, AWS Fargate, and AWS Serverless Application Repository. Only EC2, ECR, ECS, Beanstalk, Lambda, and EKS are highlighted">
              <a:extLst>
                <a:ext uri="{FF2B5EF4-FFF2-40B4-BE49-F238E27FC236}">
                  <a16:creationId xmlns:a16="http://schemas.microsoft.com/office/drawing/2014/main" id="{94F9BA11-4C0E-D44D-ABAD-24DCE9844D89}"/>
                </a:ext>
              </a:extLst>
            </p:cNvPr>
            <p:cNvGrpSpPr/>
            <p:nvPr/>
          </p:nvGrpSpPr>
          <p:grpSpPr>
            <a:xfrm>
              <a:off x="686444" y="2128651"/>
              <a:ext cx="10625323" cy="4214517"/>
              <a:chOff x="686444" y="1554480"/>
              <a:chExt cx="10625323" cy="4214517"/>
            </a:xfrm>
          </p:grpSpPr>
          <p:sp>
            <p:nvSpPr>
              <p:cNvPr id="6" name="TextBox 5">
                <a:extLst>
                  <a:ext uri="{FF2B5EF4-FFF2-40B4-BE49-F238E27FC236}">
                    <a16:creationId xmlns:a16="http://schemas.microsoft.com/office/drawing/2014/main" id="{72D66D5F-4782-9146-8A34-18C660241CD8}"/>
                  </a:ext>
                </a:extLst>
              </p:cNvPr>
              <p:cNvSpPr txBox="1"/>
              <p:nvPr/>
            </p:nvSpPr>
            <p:spPr>
              <a:xfrm>
                <a:off x="686444" y="2138996"/>
                <a:ext cx="1513305" cy="307777"/>
              </a:xfrm>
              <a:prstGeom prst="rect">
                <a:avLst/>
              </a:prstGeom>
              <a:noFill/>
            </p:spPr>
            <p:txBody>
              <a:bodyPr wrap="square" rtlCol="0">
                <a:spAutoFit/>
              </a:bodyPr>
              <a:lstStyle/>
              <a:p>
                <a:pPr algn="ctr"/>
                <a:r>
                  <a:rPr lang="en-US" sz="1400" dirty="0"/>
                  <a:t>Amazon EC2</a:t>
                </a:r>
              </a:p>
            </p:txBody>
          </p:sp>
          <p:pic>
            <p:nvPicPr>
              <p:cNvPr id="7" name="Graphic 6">
                <a:extLst>
                  <a:ext uri="{FF2B5EF4-FFF2-40B4-BE49-F238E27FC236}">
                    <a16:creationId xmlns:a16="http://schemas.microsoft.com/office/drawing/2014/main" id="{87A13CC5-7F13-D64F-8AAD-A09290A3DAD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8720" y="1554480"/>
                <a:ext cx="548640" cy="548640"/>
              </a:xfrm>
              <a:prstGeom prst="rect">
                <a:avLst/>
              </a:prstGeom>
            </p:spPr>
          </p:pic>
          <p:sp>
            <p:nvSpPr>
              <p:cNvPr id="8" name="TextBox 7">
                <a:extLst>
                  <a:ext uri="{FF2B5EF4-FFF2-40B4-BE49-F238E27FC236}">
                    <a16:creationId xmlns:a16="http://schemas.microsoft.com/office/drawing/2014/main" id="{DF238146-89AD-484E-A639-D73BB5F904C3}"/>
                  </a:ext>
                </a:extLst>
              </p:cNvPr>
              <p:cNvSpPr txBox="1"/>
              <p:nvPr/>
            </p:nvSpPr>
            <p:spPr>
              <a:xfrm>
                <a:off x="2939533" y="2128363"/>
                <a:ext cx="1513305" cy="523220"/>
              </a:xfrm>
              <a:prstGeom prst="rect">
                <a:avLst/>
              </a:prstGeom>
              <a:noFill/>
            </p:spPr>
            <p:txBody>
              <a:bodyPr wrap="square" rtlCol="0">
                <a:spAutoFit/>
              </a:bodyPr>
              <a:lstStyle/>
              <a:p>
                <a:pPr algn="ctr"/>
                <a:r>
                  <a:rPr lang="en-US" sz="1400" dirty="0"/>
                  <a:t>Amazon EC2 </a:t>
                </a:r>
                <a:br>
                  <a:rPr lang="en-US" sz="1400" dirty="0"/>
                </a:br>
                <a:r>
                  <a:rPr lang="en-US" sz="1400" dirty="0"/>
                  <a:t>Auto Scaling</a:t>
                </a:r>
              </a:p>
            </p:txBody>
          </p:sp>
          <p:pic>
            <p:nvPicPr>
              <p:cNvPr id="9" name="Graphic 8">
                <a:extLst>
                  <a:ext uri="{FF2B5EF4-FFF2-40B4-BE49-F238E27FC236}">
                    <a16:creationId xmlns:a16="http://schemas.microsoft.com/office/drawing/2014/main" id="{9328246D-B5EB-5249-8DB0-0F584AB01FD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52277" y="1554480"/>
                <a:ext cx="548640" cy="548640"/>
              </a:xfrm>
              <a:prstGeom prst="rect">
                <a:avLst/>
              </a:prstGeom>
            </p:spPr>
          </p:pic>
          <p:sp>
            <p:nvSpPr>
              <p:cNvPr id="10" name="TextBox 9">
                <a:extLst>
                  <a:ext uri="{FF2B5EF4-FFF2-40B4-BE49-F238E27FC236}">
                    <a16:creationId xmlns:a16="http://schemas.microsoft.com/office/drawing/2014/main" id="{A7AEC25B-0F30-524C-84DB-21CD5A61F1EC}"/>
                  </a:ext>
                </a:extLst>
              </p:cNvPr>
              <p:cNvSpPr txBox="1"/>
              <p:nvPr/>
            </p:nvSpPr>
            <p:spPr>
              <a:xfrm>
                <a:off x="5101214" y="2138996"/>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Container Registry (Amazon ECR)</a:t>
                </a:r>
              </a:p>
            </p:txBody>
          </p:sp>
          <p:pic>
            <p:nvPicPr>
              <p:cNvPr id="11" name="Graphic 10">
                <a:extLst>
                  <a:ext uri="{FF2B5EF4-FFF2-40B4-BE49-F238E27FC236}">
                    <a16:creationId xmlns:a16="http://schemas.microsoft.com/office/drawing/2014/main" id="{31D7C8FB-6C21-2E4E-8D57-68F7869A6A23}"/>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15834" y="1554480"/>
                <a:ext cx="548640" cy="548640"/>
              </a:xfrm>
              <a:prstGeom prst="rect">
                <a:avLst/>
              </a:prstGeom>
            </p:spPr>
          </p:pic>
          <p:sp>
            <p:nvSpPr>
              <p:cNvPr id="12" name="TextBox 11">
                <a:extLst>
                  <a:ext uri="{FF2B5EF4-FFF2-40B4-BE49-F238E27FC236}">
                    <a16:creationId xmlns:a16="http://schemas.microsoft.com/office/drawing/2014/main" id="{0E5FE206-129D-0345-B2D5-8C50352EF3EA}"/>
                  </a:ext>
                </a:extLst>
              </p:cNvPr>
              <p:cNvSpPr txBox="1"/>
              <p:nvPr/>
            </p:nvSpPr>
            <p:spPr>
              <a:xfrm>
                <a:off x="7369509" y="2138996"/>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Container Service (Amazon ECS)</a:t>
                </a:r>
              </a:p>
            </p:txBody>
          </p:sp>
          <p:pic>
            <p:nvPicPr>
              <p:cNvPr id="13" name="Graphic 12">
                <a:extLst>
                  <a:ext uri="{FF2B5EF4-FFF2-40B4-BE49-F238E27FC236}">
                    <a16:creationId xmlns:a16="http://schemas.microsoft.com/office/drawing/2014/main" id="{BF03DA95-CDEF-1740-9272-BAAE71A3833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79391" y="1554480"/>
                <a:ext cx="548640" cy="548640"/>
              </a:xfrm>
              <a:prstGeom prst="rect">
                <a:avLst/>
              </a:prstGeom>
            </p:spPr>
          </p:pic>
          <p:sp>
            <p:nvSpPr>
              <p:cNvPr id="14" name="TextBox 13">
                <a:extLst>
                  <a:ext uri="{FF2B5EF4-FFF2-40B4-BE49-F238E27FC236}">
                    <a16:creationId xmlns:a16="http://schemas.microsoft.com/office/drawing/2014/main" id="{1CE55A78-C680-7548-9D3F-46F35E614E55}"/>
                  </a:ext>
                </a:extLst>
              </p:cNvPr>
              <p:cNvSpPr txBox="1"/>
              <p:nvPr/>
            </p:nvSpPr>
            <p:spPr>
              <a:xfrm>
                <a:off x="810828" y="3701235"/>
                <a:ext cx="1300855" cy="523220"/>
              </a:xfrm>
              <a:prstGeom prst="rect">
                <a:avLst/>
              </a:prstGeom>
              <a:noFill/>
            </p:spPr>
            <p:txBody>
              <a:bodyPr wrap="square" rtlCol="0">
                <a:spAutoFit/>
              </a:bodyPr>
              <a:lstStyle/>
              <a:p>
                <a:pPr algn="ctr"/>
                <a:r>
                  <a:rPr lang="en-US" sz="1400" dirty="0"/>
                  <a:t>AWS Elastic </a:t>
                </a:r>
                <a:br>
                  <a:rPr lang="en-US" sz="1400" dirty="0"/>
                </a:br>
                <a:r>
                  <a:rPr lang="en-US" sz="1400" dirty="0"/>
                  <a:t>Beanstalk</a:t>
                </a:r>
              </a:p>
            </p:txBody>
          </p:sp>
          <p:pic>
            <p:nvPicPr>
              <p:cNvPr id="15" name="Graphic 14">
                <a:extLst>
                  <a:ext uri="{FF2B5EF4-FFF2-40B4-BE49-F238E27FC236}">
                    <a16:creationId xmlns:a16="http://schemas.microsoft.com/office/drawing/2014/main" id="{29197B51-7241-5B48-8AF7-5991752DBE5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88720" y="3108960"/>
                <a:ext cx="548640" cy="548640"/>
              </a:xfrm>
              <a:prstGeom prst="rect">
                <a:avLst/>
              </a:prstGeom>
            </p:spPr>
          </p:pic>
          <p:sp>
            <p:nvSpPr>
              <p:cNvPr id="17" name="TextBox 16">
                <a:extLst>
                  <a:ext uri="{FF2B5EF4-FFF2-40B4-BE49-F238E27FC236}">
                    <a16:creationId xmlns:a16="http://schemas.microsoft.com/office/drawing/2014/main" id="{8206C955-7D21-AC48-9F31-DEA19C5E348B}"/>
                  </a:ext>
                </a:extLst>
              </p:cNvPr>
              <p:cNvSpPr txBox="1"/>
              <p:nvPr/>
            </p:nvSpPr>
            <p:spPr>
              <a:xfrm>
                <a:off x="2957929" y="3690603"/>
                <a:ext cx="1528359" cy="307777"/>
              </a:xfrm>
              <a:prstGeom prst="rect">
                <a:avLst/>
              </a:prstGeom>
              <a:noFill/>
            </p:spPr>
            <p:txBody>
              <a:bodyPr wrap="square" rtlCol="0">
                <a:spAutoFit/>
              </a:bodyPr>
              <a:lstStyle/>
              <a:p>
                <a:pPr algn="ctr"/>
                <a:r>
                  <a:rPr lang="en-US" sz="1400" dirty="0"/>
                  <a:t>AWS Lambda</a:t>
                </a:r>
              </a:p>
            </p:txBody>
          </p:sp>
          <p:pic>
            <p:nvPicPr>
              <p:cNvPr id="18" name="Graphic 17">
                <a:extLst>
                  <a:ext uri="{FF2B5EF4-FFF2-40B4-BE49-F238E27FC236}">
                    <a16:creationId xmlns:a16="http://schemas.microsoft.com/office/drawing/2014/main" id="{ACAFCDFB-3602-F743-A3DD-EDCBD9BA9BD6}"/>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456432" y="3108960"/>
                <a:ext cx="548640" cy="548640"/>
              </a:xfrm>
              <a:prstGeom prst="rect">
                <a:avLst/>
              </a:prstGeom>
            </p:spPr>
          </p:pic>
          <p:sp>
            <p:nvSpPr>
              <p:cNvPr id="19" name="TextBox 18">
                <a:extLst>
                  <a:ext uri="{FF2B5EF4-FFF2-40B4-BE49-F238E27FC236}">
                    <a16:creationId xmlns:a16="http://schemas.microsoft.com/office/drawing/2014/main" id="{BDDBBBDF-DBB5-834F-9359-9AFD15CE007E}"/>
                  </a:ext>
                </a:extLst>
              </p:cNvPr>
              <p:cNvSpPr txBox="1"/>
              <p:nvPr/>
            </p:nvSpPr>
            <p:spPr>
              <a:xfrm>
                <a:off x="7451096" y="3689052"/>
                <a:ext cx="1612946" cy="307777"/>
              </a:xfrm>
              <a:prstGeom prst="rect">
                <a:avLst/>
              </a:prstGeom>
              <a:noFill/>
            </p:spPr>
            <p:txBody>
              <a:bodyPr wrap="square" rtlCol="0">
                <a:spAutoFit/>
              </a:bodyPr>
              <a:lstStyle/>
              <a:p>
                <a:pPr algn="ctr"/>
                <a:r>
                  <a:rPr lang="en-US" sz="1400" dirty="0"/>
                  <a:t>Amazon Lightsail</a:t>
                </a:r>
              </a:p>
            </p:txBody>
          </p:sp>
          <p:pic>
            <p:nvPicPr>
              <p:cNvPr id="20" name="Graphic 19">
                <a:extLst>
                  <a:ext uri="{FF2B5EF4-FFF2-40B4-BE49-F238E27FC236}">
                    <a16:creationId xmlns:a16="http://schemas.microsoft.com/office/drawing/2014/main" id="{93C43FC5-8594-F241-9708-D75374BBC76D}"/>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982712" y="3108960"/>
                <a:ext cx="548640" cy="548640"/>
              </a:xfrm>
              <a:prstGeom prst="rect">
                <a:avLst/>
              </a:prstGeom>
            </p:spPr>
          </p:pic>
          <p:sp>
            <p:nvSpPr>
              <p:cNvPr id="16" name="TextBox 15">
                <a:extLst>
                  <a:ext uri="{FF2B5EF4-FFF2-40B4-BE49-F238E27FC236}">
                    <a16:creationId xmlns:a16="http://schemas.microsoft.com/office/drawing/2014/main" id="{CCED8D87-6FF0-2141-9B3A-A1DBBB3E052F}"/>
                  </a:ext>
                </a:extLst>
              </p:cNvPr>
              <p:cNvSpPr txBox="1"/>
              <p:nvPr/>
            </p:nvSpPr>
            <p:spPr>
              <a:xfrm>
                <a:off x="5099191" y="3682050"/>
                <a:ext cx="1759699" cy="738664"/>
              </a:xfrm>
              <a:prstGeom prst="rect">
                <a:avLst/>
              </a:prstGeom>
              <a:noFill/>
            </p:spPr>
            <p:txBody>
              <a:bodyPr wrap="square" rtlCol="0">
                <a:spAutoFit/>
              </a:bodyPr>
              <a:lstStyle/>
              <a:p>
                <a:pPr algn="ctr"/>
                <a:r>
                  <a:rPr lang="en-US" sz="1400" dirty="0"/>
                  <a:t>Amazon Elastic </a:t>
                </a:r>
                <a:br>
                  <a:rPr lang="en-US" sz="1400" dirty="0"/>
                </a:br>
                <a:r>
                  <a:rPr lang="en-US" sz="1400" dirty="0"/>
                  <a:t>Kubernetes Service (Amazon EKS)</a:t>
                </a:r>
                <a:endParaRPr lang="en-US" sz="1100" dirty="0"/>
              </a:p>
            </p:txBody>
          </p:sp>
          <p:pic>
            <p:nvPicPr>
              <p:cNvPr id="21" name="Graphic 20">
                <a:extLst>
                  <a:ext uri="{FF2B5EF4-FFF2-40B4-BE49-F238E27FC236}">
                    <a16:creationId xmlns:a16="http://schemas.microsoft.com/office/drawing/2014/main" id="{52E8D2AF-9C85-5A43-9783-6945D1A846E5}"/>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715000" y="3108960"/>
                <a:ext cx="548640" cy="548640"/>
              </a:xfrm>
              <a:prstGeom prst="rect">
                <a:avLst/>
              </a:prstGeom>
            </p:spPr>
          </p:pic>
          <p:sp>
            <p:nvSpPr>
              <p:cNvPr id="22" name="TextBox 21">
                <a:extLst>
                  <a:ext uri="{FF2B5EF4-FFF2-40B4-BE49-F238E27FC236}">
                    <a16:creationId xmlns:a16="http://schemas.microsoft.com/office/drawing/2014/main" id="{9FB51A2E-96B3-7948-8D97-EB082266018E}"/>
                  </a:ext>
                </a:extLst>
              </p:cNvPr>
              <p:cNvSpPr txBox="1"/>
              <p:nvPr/>
            </p:nvSpPr>
            <p:spPr>
              <a:xfrm>
                <a:off x="2968563" y="5246551"/>
                <a:ext cx="1528359" cy="307777"/>
              </a:xfrm>
              <a:prstGeom prst="rect">
                <a:avLst/>
              </a:prstGeom>
              <a:noFill/>
            </p:spPr>
            <p:txBody>
              <a:bodyPr wrap="square" rtlCol="0">
                <a:spAutoFit/>
              </a:bodyPr>
              <a:lstStyle/>
              <a:p>
                <a:pPr algn="ctr"/>
                <a:r>
                  <a:rPr lang="en-US" sz="1400" dirty="0"/>
                  <a:t>AWS Fargate</a:t>
                </a:r>
              </a:p>
            </p:txBody>
          </p:sp>
          <p:pic>
            <p:nvPicPr>
              <p:cNvPr id="24" name="Graphic 23">
                <a:extLst>
                  <a:ext uri="{FF2B5EF4-FFF2-40B4-BE49-F238E27FC236}">
                    <a16:creationId xmlns:a16="http://schemas.microsoft.com/office/drawing/2014/main" id="{834F0846-5796-BC4A-A105-189605116EEC}"/>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456432" y="4663440"/>
                <a:ext cx="548640" cy="548640"/>
              </a:xfrm>
              <a:prstGeom prst="rect">
                <a:avLst/>
              </a:prstGeom>
            </p:spPr>
          </p:pic>
          <p:sp>
            <p:nvSpPr>
              <p:cNvPr id="23" name="TextBox 22">
                <a:extLst>
                  <a:ext uri="{FF2B5EF4-FFF2-40B4-BE49-F238E27FC236}">
                    <a16:creationId xmlns:a16="http://schemas.microsoft.com/office/drawing/2014/main" id="{677BA250-C599-FC4B-BCDD-6926FED9BE58}"/>
                  </a:ext>
                </a:extLst>
              </p:cNvPr>
              <p:cNvSpPr txBox="1"/>
              <p:nvPr/>
            </p:nvSpPr>
            <p:spPr>
              <a:xfrm>
                <a:off x="5293431" y="5246549"/>
                <a:ext cx="1421567" cy="307777"/>
              </a:xfrm>
              <a:prstGeom prst="rect">
                <a:avLst/>
              </a:prstGeom>
              <a:noFill/>
            </p:spPr>
            <p:txBody>
              <a:bodyPr wrap="square" rtlCol="0">
                <a:spAutoFit/>
              </a:bodyPr>
              <a:lstStyle/>
              <a:p>
                <a:pPr algn="ctr"/>
                <a:r>
                  <a:rPr lang="en-US" sz="1400" dirty="0"/>
                  <a:t>AWS Outposts</a:t>
                </a:r>
              </a:p>
            </p:txBody>
          </p:sp>
          <p:pic>
            <p:nvPicPr>
              <p:cNvPr id="25" name="Graphic 24">
                <a:extLst>
                  <a:ext uri="{FF2B5EF4-FFF2-40B4-BE49-F238E27FC236}">
                    <a16:creationId xmlns:a16="http://schemas.microsoft.com/office/drawing/2014/main" id="{5F162E13-FF78-A74D-8B37-CC7E02004A27}"/>
                  </a:ext>
                  <a:ext uri="{C183D7F6-B498-43B3-948B-1728B52AA6E4}">
                    <adec:decorative xmlns:adec="http://schemas.microsoft.com/office/drawing/2017/decorative" val="1"/>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715000" y="4663440"/>
                <a:ext cx="548640" cy="548640"/>
              </a:xfrm>
              <a:prstGeom prst="rect">
                <a:avLst/>
              </a:prstGeom>
            </p:spPr>
          </p:pic>
          <p:sp>
            <p:nvSpPr>
              <p:cNvPr id="26" name="TextBox 25">
                <a:extLst>
                  <a:ext uri="{FF2B5EF4-FFF2-40B4-BE49-F238E27FC236}">
                    <a16:creationId xmlns:a16="http://schemas.microsoft.com/office/drawing/2014/main" id="{D5A182B3-14B1-1141-BF91-E3B347F8ACC2}"/>
                  </a:ext>
                </a:extLst>
              </p:cNvPr>
              <p:cNvSpPr txBox="1"/>
              <p:nvPr/>
            </p:nvSpPr>
            <p:spPr>
              <a:xfrm>
                <a:off x="9748148" y="3682403"/>
                <a:ext cx="1528359" cy="307777"/>
              </a:xfrm>
              <a:prstGeom prst="rect">
                <a:avLst/>
              </a:prstGeom>
              <a:noFill/>
            </p:spPr>
            <p:txBody>
              <a:bodyPr wrap="square" rtlCol="0">
                <a:spAutoFit/>
              </a:bodyPr>
              <a:lstStyle/>
              <a:p>
                <a:pPr algn="ctr"/>
                <a:r>
                  <a:rPr lang="en-US" sz="1400" dirty="0"/>
                  <a:t>AWS Batch</a:t>
                </a:r>
              </a:p>
            </p:txBody>
          </p:sp>
          <p:pic>
            <p:nvPicPr>
              <p:cNvPr id="27" name="Graphic 26">
                <a:extLst>
                  <a:ext uri="{FF2B5EF4-FFF2-40B4-BE49-F238E27FC236}">
                    <a16:creationId xmlns:a16="http://schemas.microsoft.com/office/drawing/2014/main" id="{EE632768-5976-A24C-A931-EAF8BD068A38}"/>
                  </a:ext>
                  <a:ext uri="{C183D7F6-B498-43B3-948B-1728B52AA6E4}">
                    <adec:decorative xmlns:adec="http://schemas.microsoft.com/office/drawing/2017/decorative" val="1"/>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241280" y="3108960"/>
                <a:ext cx="548640" cy="548640"/>
              </a:xfrm>
              <a:prstGeom prst="rect">
                <a:avLst/>
              </a:prstGeom>
            </p:spPr>
          </p:pic>
          <p:sp>
            <p:nvSpPr>
              <p:cNvPr id="28" name="TextBox 27">
                <a:extLst>
                  <a:ext uri="{FF2B5EF4-FFF2-40B4-BE49-F238E27FC236}">
                    <a16:creationId xmlns:a16="http://schemas.microsoft.com/office/drawing/2014/main" id="{77F9D947-D894-4D49-A708-55D33644A22B}"/>
                  </a:ext>
                </a:extLst>
              </p:cNvPr>
              <p:cNvSpPr txBox="1"/>
              <p:nvPr/>
            </p:nvSpPr>
            <p:spPr>
              <a:xfrm>
                <a:off x="7201021" y="5245777"/>
                <a:ext cx="2134356" cy="523220"/>
              </a:xfrm>
              <a:prstGeom prst="rect">
                <a:avLst/>
              </a:prstGeom>
              <a:noFill/>
            </p:spPr>
            <p:txBody>
              <a:bodyPr wrap="square" rtlCol="0">
                <a:spAutoFit/>
              </a:bodyPr>
              <a:lstStyle/>
              <a:p>
                <a:pPr algn="ctr"/>
                <a:r>
                  <a:rPr lang="en-US" sz="1400" dirty="0"/>
                  <a:t>AWS Serverless Application Repository</a:t>
                </a:r>
              </a:p>
            </p:txBody>
          </p:sp>
          <p:pic>
            <p:nvPicPr>
              <p:cNvPr id="29" name="Graphic 28">
                <a:extLst>
                  <a:ext uri="{FF2B5EF4-FFF2-40B4-BE49-F238E27FC236}">
                    <a16:creationId xmlns:a16="http://schemas.microsoft.com/office/drawing/2014/main" id="{0729A681-DAE1-A340-93EB-6AC456367108}"/>
                  </a:ext>
                  <a:ext uri="{C183D7F6-B498-43B3-948B-1728B52AA6E4}">
                    <adec:decorative xmlns:adec="http://schemas.microsoft.com/office/drawing/2017/decorative" val="1"/>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982712" y="4663440"/>
                <a:ext cx="548640" cy="548640"/>
              </a:xfrm>
              <a:prstGeom prst="rect">
                <a:avLst/>
              </a:prstGeom>
            </p:spPr>
          </p:pic>
          <p:sp>
            <p:nvSpPr>
              <p:cNvPr id="30" name="TextBox 29">
                <a:extLst>
                  <a:ext uri="{FF2B5EF4-FFF2-40B4-BE49-F238E27FC236}">
                    <a16:creationId xmlns:a16="http://schemas.microsoft.com/office/drawing/2014/main" id="{84AAE190-6F1F-A94E-8160-365CCEEDE130}"/>
                  </a:ext>
                </a:extLst>
              </p:cNvPr>
              <p:cNvSpPr txBox="1"/>
              <p:nvPr/>
            </p:nvSpPr>
            <p:spPr>
              <a:xfrm>
                <a:off x="9722768" y="2131998"/>
                <a:ext cx="1588999" cy="523220"/>
              </a:xfrm>
              <a:prstGeom prst="rect">
                <a:avLst/>
              </a:prstGeom>
              <a:noFill/>
            </p:spPr>
            <p:txBody>
              <a:bodyPr wrap="square" rtlCol="0">
                <a:spAutoFit/>
              </a:bodyPr>
              <a:lstStyle/>
              <a:p>
                <a:pPr algn="ctr"/>
                <a:r>
                  <a:rPr lang="en-US" sz="1400" dirty="0"/>
                  <a:t>VMware Cloud </a:t>
                </a:r>
                <a:br>
                  <a:rPr lang="en-US" sz="1400" dirty="0"/>
                </a:br>
                <a:r>
                  <a:rPr lang="en-US" sz="1400" dirty="0"/>
                  <a:t>on AWS</a:t>
                </a:r>
              </a:p>
            </p:txBody>
          </p:sp>
          <p:pic>
            <p:nvPicPr>
              <p:cNvPr id="31" name="Graphic 30">
                <a:extLst>
                  <a:ext uri="{FF2B5EF4-FFF2-40B4-BE49-F238E27FC236}">
                    <a16:creationId xmlns:a16="http://schemas.microsoft.com/office/drawing/2014/main" id="{CA4DA72E-E02D-DC44-B3E4-2F2C086EA374}"/>
                  </a:ext>
                  <a:ext uri="{C183D7F6-B498-43B3-948B-1728B52AA6E4}">
                    <adec:decorative xmlns:adec="http://schemas.microsoft.com/office/drawing/2017/decorative" val="1"/>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242948" y="1554480"/>
                <a:ext cx="548640" cy="548640"/>
              </a:xfrm>
              <a:prstGeom prst="rect">
                <a:avLst/>
              </a:prstGeom>
            </p:spPr>
          </p:pic>
        </p:grpSp>
        <p:sp>
          <p:nvSpPr>
            <p:cNvPr id="52" name="Rectangle 51">
              <a:extLst>
                <a:ext uri="{FF2B5EF4-FFF2-40B4-BE49-F238E27FC236}">
                  <a16:creationId xmlns:a16="http://schemas.microsoft.com/office/drawing/2014/main" id="{17DD8291-D0EE-F24B-BD10-6B812FA6FC5D}"/>
                </a:ext>
              </a:extLst>
            </p:cNvPr>
            <p:cNvSpPr/>
            <p:nvPr/>
          </p:nvSpPr>
          <p:spPr>
            <a:xfrm>
              <a:off x="582792" y="2029218"/>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3" name="Rectangle 52">
              <a:extLst>
                <a:ext uri="{FF2B5EF4-FFF2-40B4-BE49-F238E27FC236}">
                  <a16:creationId xmlns:a16="http://schemas.microsoft.com/office/drawing/2014/main" id="{C0F02577-A119-6648-AFB7-7AA194B61EBE}"/>
                </a:ext>
              </a:extLst>
            </p:cNvPr>
            <p:cNvSpPr/>
            <p:nvPr/>
          </p:nvSpPr>
          <p:spPr>
            <a:xfrm>
              <a:off x="583135" y="3603376"/>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4" name="Rectangle 53">
              <a:extLst>
                <a:ext uri="{FF2B5EF4-FFF2-40B4-BE49-F238E27FC236}">
                  <a16:creationId xmlns:a16="http://schemas.microsoft.com/office/drawing/2014/main" id="{C2EEC618-48D5-584C-B1CE-4B54E35F6304}"/>
                </a:ext>
              </a:extLst>
            </p:cNvPr>
            <p:cNvSpPr/>
            <p:nvPr/>
          </p:nvSpPr>
          <p:spPr>
            <a:xfrm>
              <a:off x="5138025" y="2037846"/>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5" name="Rectangle 54">
              <a:extLst>
                <a:ext uri="{FF2B5EF4-FFF2-40B4-BE49-F238E27FC236}">
                  <a16:creationId xmlns:a16="http://schemas.microsoft.com/office/drawing/2014/main" id="{E3913BDF-AF15-8049-AE0D-D075D543E4FE}"/>
                </a:ext>
              </a:extLst>
            </p:cNvPr>
            <p:cNvSpPr/>
            <p:nvPr/>
          </p:nvSpPr>
          <p:spPr>
            <a:xfrm>
              <a:off x="7377491" y="2029218"/>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7" name="Rectangle 56">
              <a:extLst>
                <a:ext uri="{FF2B5EF4-FFF2-40B4-BE49-F238E27FC236}">
                  <a16:creationId xmlns:a16="http://schemas.microsoft.com/office/drawing/2014/main" id="{B7B625DD-DDAC-D04C-AD93-DE2D7211244D}"/>
                </a:ext>
              </a:extLst>
            </p:cNvPr>
            <p:cNvSpPr/>
            <p:nvPr/>
          </p:nvSpPr>
          <p:spPr>
            <a:xfrm>
              <a:off x="5110949" y="3592491"/>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8" name="Rectangle 57">
              <a:extLst>
                <a:ext uri="{FF2B5EF4-FFF2-40B4-BE49-F238E27FC236}">
                  <a16:creationId xmlns:a16="http://schemas.microsoft.com/office/drawing/2014/main" id="{C07672BE-951A-B248-8414-508964CB1A4B}"/>
                </a:ext>
              </a:extLst>
            </p:cNvPr>
            <p:cNvSpPr/>
            <p:nvPr/>
          </p:nvSpPr>
          <p:spPr>
            <a:xfrm>
              <a:off x="2825742" y="3600645"/>
              <a:ext cx="1732377" cy="1422613"/>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60" name="Rectangle 59">
              <a:extLst>
                <a:ext uri="{FF2B5EF4-FFF2-40B4-BE49-F238E27FC236}">
                  <a16:creationId xmlns:a16="http://schemas.microsoft.com/office/drawing/2014/main" id="{CDE80AC7-04CF-3B43-B01C-5808E2C9D52D}"/>
                </a:ext>
              </a:extLst>
            </p:cNvPr>
            <p:cNvSpPr/>
            <p:nvPr/>
          </p:nvSpPr>
          <p:spPr>
            <a:xfrm>
              <a:off x="2848483" y="5140909"/>
              <a:ext cx="1732377" cy="1215442"/>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grpSp>
    </p:spTree>
    <p:custDataLst>
      <p:tags r:id="rId1"/>
    </p:custDataLst>
    <p:extLst>
      <p:ext uri="{BB962C8B-B14F-4D97-AF65-F5344CB8AC3E}">
        <p14:creationId xmlns:p14="http://schemas.microsoft.com/office/powerpoint/2010/main" val="4250374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FAD5EB2-514B-8B49-8EE0-A81BB790333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a:t>
            </a:fld>
            <a:endParaRPr lang="en-US" dirty="0"/>
          </a:p>
        </p:txBody>
      </p:sp>
      <p:sp>
        <p:nvSpPr>
          <p:cNvPr id="2" name="Title 1"/>
          <p:cNvSpPr>
            <a:spLocks noGrp="1"/>
          </p:cNvSpPr>
          <p:nvPr>
            <p:ph type="title"/>
          </p:nvPr>
        </p:nvSpPr>
        <p:spPr/>
        <p:txBody>
          <a:bodyPr/>
          <a:lstStyle/>
          <a:p>
            <a:r>
              <a:rPr lang="en-US" dirty="0"/>
              <a:t>Categorizing compute services</a:t>
            </a:r>
          </a:p>
        </p:txBody>
      </p:sp>
      <p:graphicFrame>
        <p:nvGraphicFramePr>
          <p:cNvPr id="8" name="Table 7" descr="Table with four rows. First row is EC2, second is Lambda, third shows ECS, EKS, Fargate, and ECR, and the fouth row shows Elastic Beanstalk. For each row, key concepts, characteristics, and ease of use details are called out.">
            <a:extLst>
              <a:ext uri="{FF2B5EF4-FFF2-40B4-BE49-F238E27FC236}">
                <a16:creationId xmlns:a16="http://schemas.microsoft.com/office/drawing/2014/main" id="{C039DAED-5315-454A-A929-71D606E9F87A}"/>
              </a:ext>
            </a:extLst>
          </p:cNvPr>
          <p:cNvGraphicFramePr>
            <a:graphicFrameLocks noGrp="1"/>
          </p:cNvGraphicFramePr>
          <p:nvPr>
            <p:extLst>
              <p:ext uri="{D42A27DB-BD31-4B8C-83A1-F6EECF244321}">
                <p14:modId xmlns:p14="http://schemas.microsoft.com/office/powerpoint/2010/main" val="255708715"/>
              </p:ext>
            </p:extLst>
          </p:nvPr>
        </p:nvGraphicFramePr>
        <p:xfrm>
          <a:off x="342900" y="1155185"/>
          <a:ext cx="11531599" cy="4941640"/>
        </p:xfrm>
        <a:graphic>
          <a:graphicData uri="http://schemas.openxmlformats.org/drawingml/2006/table">
            <a:tbl>
              <a:tblPr firstRow="1" bandRow="1">
                <a:tableStyleId>{5C22544A-7EE6-4342-B048-85BDC9FD1C3A}</a:tableStyleId>
              </a:tblPr>
              <a:tblGrid>
                <a:gridCol w="1765299">
                  <a:extLst>
                    <a:ext uri="{9D8B030D-6E8A-4147-A177-3AD203B41FA5}">
                      <a16:colId xmlns:a16="http://schemas.microsoft.com/office/drawing/2014/main" val="169570415"/>
                    </a:ext>
                  </a:extLst>
                </a:gridCol>
                <a:gridCol w="3378200">
                  <a:extLst>
                    <a:ext uri="{9D8B030D-6E8A-4147-A177-3AD203B41FA5}">
                      <a16:colId xmlns:a16="http://schemas.microsoft.com/office/drawing/2014/main" val="3813353449"/>
                    </a:ext>
                  </a:extLst>
                </a:gridCol>
                <a:gridCol w="3505200">
                  <a:extLst>
                    <a:ext uri="{9D8B030D-6E8A-4147-A177-3AD203B41FA5}">
                      <a16:colId xmlns:a16="http://schemas.microsoft.com/office/drawing/2014/main" val="2241957363"/>
                    </a:ext>
                  </a:extLst>
                </a:gridCol>
                <a:gridCol w="2882900">
                  <a:extLst>
                    <a:ext uri="{9D8B030D-6E8A-4147-A177-3AD203B41FA5}">
                      <a16:colId xmlns:a16="http://schemas.microsoft.com/office/drawing/2014/main" val="1135737289"/>
                    </a:ext>
                  </a:extLst>
                </a:gridCol>
              </a:tblGrid>
              <a:tr h="403320">
                <a:tc>
                  <a:txBody>
                    <a:bodyPr/>
                    <a:lstStyle/>
                    <a:p>
                      <a:r>
                        <a:rPr lang="en-US" sz="1600" dirty="0">
                          <a:solidFill>
                            <a:sysClr val="windowText" lastClr="000000"/>
                          </a:solidFill>
                        </a:rPr>
                        <a:t>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r>
                        <a:rPr lang="en-US" sz="1600" dirty="0">
                          <a:solidFill>
                            <a:sysClr val="windowText" lastClr="000000"/>
                          </a:solidFill>
                        </a:rPr>
                        <a:t>Key Concepts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r>
                        <a:rPr lang="en-US" sz="1600" dirty="0">
                          <a:solidFill>
                            <a:sysClr val="windowText" lastClr="000000"/>
                          </a:solidFill>
                        </a:rPr>
                        <a:t>Characteristics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r>
                        <a:rPr lang="en-US" sz="1600" dirty="0">
                          <a:solidFill>
                            <a:sysClr val="windowText" lastClr="000000"/>
                          </a:solidFill>
                        </a:rPr>
                        <a:t>Ease of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extLst>
                  <a:ext uri="{0D108BD9-81ED-4DB2-BD59-A6C34878D82A}">
                    <a16:rowId xmlns:a16="http://schemas.microsoft.com/office/drawing/2014/main" val="1845005391"/>
                  </a:ext>
                </a:extLst>
              </a:tr>
              <a:tr h="770668">
                <a:tc>
                  <a:txBody>
                    <a:bodyPr/>
                    <a:lstStyle/>
                    <a:p>
                      <a:pPr marL="285750" indent="-285750">
                        <a:buFont typeface="Arial" panose="020B0604020202020204" pitchFamily="34" charset="0"/>
                        <a:buChar char="•"/>
                      </a:pPr>
                      <a:r>
                        <a:rPr lang="en-US" sz="1600" dirty="0"/>
                        <a:t>Amazon EC2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Infrastructure as a service (IaaS)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Instance-based</a:t>
                      </a:r>
                    </a:p>
                    <a:p>
                      <a:pPr marL="285750" indent="-285750">
                        <a:buFont typeface="Arial" panose="020B0604020202020204" pitchFamily="34" charset="0"/>
                        <a:buChar char="•"/>
                      </a:pPr>
                      <a:r>
                        <a:rPr lang="en-US" sz="1600" b="1" dirty="0">
                          <a:solidFill>
                            <a:srgbClr val="504BAB"/>
                          </a:solidFill>
                        </a:rPr>
                        <a:t>Virtual machines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dirty="0"/>
                        <a:t>Provision virtual machines that you can manage as you choose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A familiar concept to many IT professionals.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3425180"/>
                  </a:ext>
                </a:extLst>
              </a:tr>
              <a:tr h="1144138">
                <a:tc>
                  <a:txBody>
                    <a:bodyPr/>
                    <a:lstStyle/>
                    <a:p>
                      <a:pPr marL="285750" indent="-285750">
                        <a:buFont typeface="Arial" panose="020B0604020202020204" pitchFamily="34" charset="0"/>
                        <a:buChar char="•"/>
                      </a:pPr>
                      <a:r>
                        <a:rPr lang="en-US" sz="1600" dirty="0"/>
                        <a:t>AWS Lambda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dirty="0">
                          <a:solidFill>
                            <a:srgbClr val="504BAB"/>
                          </a:solidFill>
                        </a:rPr>
                        <a:t>Serverless</a:t>
                      </a:r>
                      <a:r>
                        <a:rPr lang="en-US" sz="1600" dirty="0"/>
                        <a:t> computing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Function-based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dirty="0"/>
                        <a:t>Low-cost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285750" indent="-285750">
                        <a:buFont typeface="Arial" panose="020B0604020202020204" pitchFamily="34" charset="0"/>
                        <a:buChar char="•"/>
                      </a:pPr>
                      <a:r>
                        <a:rPr lang="en-US" sz="1600" dirty="0"/>
                        <a:t>Write and deploy code that runs on a schedule or that can be triggered by events</a:t>
                      </a:r>
                    </a:p>
                    <a:p>
                      <a:pPr marL="285750" indent="-285750">
                        <a:buFont typeface="Arial" panose="020B0604020202020204" pitchFamily="34" charset="0"/>
                        <a:buChar char="•"/>
                      </a:pPr>
                      <a:r>
                        <a:rPr lang="en-US" sz="1600" dirty="0"/>
                        <a:t>Use when possible (architect for the cloud)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r>
                        <a:rPr lang="en-US" sz="1600" dirty="0"/>
                        <a:t>A relatively new concept for many IT staff members, but easy to use after you learn how.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1370044952"/>
                  </a:ext>
                </a:extLst>
              </a:tr>
              <a:tr h="1094080">
                <a:tc>
                  <a:txBody>
                    <a:bodyPr/>
                    <a:lstStyle/>
                    <a:p>
                      <a:pPr marL="285750" indent="-285750">
                        <a:buFont typeface="Arial" panose="020B0604020202020204" pitchFamily="34" charset="0"/>
                        <a:buChar char="•"/>
                      </a:pPr>
                      <a:r>
                        <a:rPr lang="en-US" sz="1600" dirty="0"/>
                        <a:t>Amazon ECS </a:t>
                      </a:r>
                    </a:p>
                    <a:p>
                      <a:pPr marL="285750" indent="-285750">
                        <a:buFont typeface="Arial" panose="020B0604020202020204" pitchFamily="34" charset="0"/>
                        <a:buChar char="•"/>
                      </a:pPr>
                      <a:r>
                        <a:rPr lang="en-US" sz="1600" dirty="0"/>
                        <a:t>Amazon EKS </a:t>
                      </a:r>
                    </a:p>
                    <a:p>
                      <a:pPr marL="285750" indent="-285750">
                        <a:buFont typeface="Arial" panose="020B0604020202020204" pitchFamily="34" charset="0"/>
                        <a:buChar char="•"/>
                      </a:pPr>
                      <a:r>
                        <a:rPr lang="en-US" sz="1600" dirty="0"/>
                        <a:t>AWS Fargate </a:t>
                      </a:r>
                    </a:p>
                    <a:p>
                      <a:pPr marL="285750" indent="-285750">
                        <a:buFont typeface="Arial" panose="020B0604020202020204" pitchFamily="34" charset="0"/>
                        <a:buChar char="•"/>
                      </a:pPr>
                      <a:r>
                        <a:rPr lang="en-US" sz="1600" dirty="0"/>
                        <a:t>Amazon ECR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b="1" dirty="0">
                          <a:solidFill>
                            <a:srgbClr val="504BAB"/>
                          </a:solidFill>
                        </a:rPr>
                        <a:t>Container-based</a:t>
                      </a:r>
                      <a:r>
                        <a:rPr lang="en-US" sz="1600" b="1" dirty="0">
                          <a:solidFill>
                            <a:schemeClr val="accent5"/>
                          </a:solidFill>
                        </a:rPr>
                        <a:t> </a:t>
                      </a:r>
                      <a:r>
                        <a:rPr lang="en-US" sz="1600" dirty="0"/>
                        <a:t>computing</a:t>
                      </a:r>
                    </a:p>
                    <a:p>
                      <a:pPr marL="285750" indent="-285750">
                        <a:buFont typeface="Arial" panose="020B0604020202020204" pitchFamily="34" charset="0"/>
                        <a:buChar char="•"/>
                      </a:pPr>
                      <a:r>
                        <a:rPr lang="en-US" sz="1600" dirty="0"/>
                        <a:t>Instance-based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Arial" panose="020B0604020202020204" pitchFamily="34" charset="0"/>
                        <a:buChar char="•"/>
                      </a:pPr>
                      <a:r>
                        <a:rPr lang="en-US" sz="1600" dirty="0"/>
                        <a:t>Spin up and run jobs more quickly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600" dirty="0"/>
                        <a:t>AWS Fargate reduces administrative overhead, but you can use options that give you more control.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79303955"/>
                  </a:ext>
                </a:extLst>
              </a:tr>
              <a:tr h="1094080">
                <a:tc>
                  <a:txBody>
                    <a:bodyPr/>
                    <a:lstStyle/>
                    <a:p>
                      <a:pPr marL="285750" indent="-285750">
                        <a:buFont typeface="Arial" panose="020B0604020202020204" pitchFamily="34" charset="0"/>
                        <a:buChar char="•"/>
                      </a:pPr>
                      <a:r>
                        <a:rPr lang="en-US" sz="1600" dirty="0"/>
                        <a:t>AWS Elastic Beanstalk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285750" indent="-285750">
                        <a:buFont typeface="Arial" panose="020B0604020202020204" pitchFamily="34" charset="0"/>
                        <a:buChar char="•"/>
                      </a:pPr>
                      <a:r>
                        <a:rPr lang="en-US" sz="1600" dirty="0"/>
                        <a:t>Platform as a service (PaaS)</a:t>
                      </a:r>
                    </a:p>
                    <a:p>
                      <a:pPr marL="285750" indent="-285750">
                        <a:buFont typeface="Arial" panose="020B0604020202020204" pitchFamily="34" charset="0"/>
                        <a:buChar char="•"/>
                      </a:pPr>
                      <a:r>
                        <a:rPr lang="en-US" sz="1600" dirty="0"/>
                        <a:t>For </a:t>
                      </a:r>
                      <a:r>
                        <a:rPr lang="en-US" sz="1600" b="1" dirty="0">
                          <a:solidFill>
                            <a:srgbClr val="504BAB"/>
                          </a:solidFill>
                        </a:rPr>
                        <a:t>web applications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285750" indent="-285750">
                        <a:buFont typeface="Arial" panose="020B0604020202020204" pitchFamily="34" charset="0"/>
                        <a:buChar char="•"/>
                      </a:pPr>
                      <a:r>
                        <a:rPr lang="en-US" sz="1600" dirty="0"/>
                        <a:t>Focus on your code (building your application)</a:t>
                      </a:r>
                    </a:p>
                    <a:p>
                      <a:pPr marL="285750" indent="-285750">
                        <a:buFont typeface="Arial" panose="020B0604020202020204" pitchFamily="34" charset="0"/>
                        <a:buChar char="•"/>
                      </a:pPr>
                      <a:r>
                        <a:rPr lang="en-US" sz="1600" dirty="0"/>
                        <a:t>Can easily tie into other services—databases, Domain Name System (DNS), etc.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Fast and easy to get started.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1894044138"/>
                  </a:ext>
                </a:extLst>
              </a:tr>
            </a:tbl>
          </a:graphicData>
        </a:graphic>
      </p:graphicFrame>
    </p:spTree>
    <p:custDataLst>
      <p:tags r:id="rId1"/>
    </p:custDataLst>
    <p:extLst>
      <p:ext uri="{BB962C8B-B14F-4D97-AF65-F5344CB8AC3E}">
        <p14:creationId xmlns:p14="http://schemas.microsoft.com/office/powerpoint/2010/main" val="9486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49E4C2E-6190-B343-90CC-004BFB2B107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a:t>
            </a:fld>
            <a:endParaRPr lang="en-US" dirty="0"/>
          </a:p>
        </p:txBody>
      </p:sp>
      <p:sp>
        <p:nvSpPr>
          <p:cNvPr id="7" name="Title 6">
            <a:extLst>
              <a:ext uri="{FF2B5EF4-FFF2-40B4-BE49-F238E27FC236}">
                <a16:creationId xmlns:a16="http://schemas.microsoft.com/office/drawing/2014/main" id="{34C8B421-7828-DB46-9182-C45573912DAD}"/>
              </a:ext>
            </a:extLst>
          </p:cNvPr>
          <p:cNvSpPr>
            <a:spLocks noGrp="1"/>
          </p:cNvSpPr>
          <p:nvPr>
            <p:ph type="title"/>
          </p:nvPr>
        </p:nvSpPr>
        <p:spPr/>
        <p:txBody>
          <a:bodyPr/>
          <a:lstStyle/>
          <a:p>
            <a:r>
              <a:rPr lang="en-US" dirty="0"/>
              <a:t>Choosing the optimal compute service</a:t>
            </a:r>
          </a:p>
        </p:txBody>
      </p:sp>
      <p:sp>
        <p:nvSpPr>
          <p:cNvPr id="8" name="Content Placeholder 7">
            <a:extLst>
              <a:ext uri="{FF2B5EF4-FFF2-40B4-BE49-F238E27FC236}">
                <a16:creationId xmlns:a16="http://schemas.microsoft.com/office/drawing/2014/main" id="{50201B2C-915B-784D-ABF1-CC2535F1CD9B}"/>
              </a:ext>
            </a:extLst>
          </p:cNvPr>
          <p:cNvSpPr>
            <a:spLocks noGrp="1"/>
          </p:cNvSpPr>
          <p:nvPr>
            <p:ph sz="quarter" idx="21"/>
          </p:nvPr>
        </p:nvSpPr>
        <p:spPr/>
        <p:txBody>
          <a:bodyPr/>
          <a:lstStyle/>
          <a:p>
            <a:r>
              <a:rPr lang="en-US" dirty="0"/>
              <a:t>The optimal compute service or services that you use will depend on your use case</a:t>
            </a:r>
          </a:p>
          <a:p>
            <a:r>
              <a:rPr lang="en-US" dirty="0"/>
              <a:t>Some aspects to consider – </a:t>
            </a:r>
          </a:p>
          <a:p>
            <a:pPr lvl="1"/>
            <a:r>
              <a:rPr lang="en-US" dirty="0"/>
              <a:t>What is your application design?</a:t>
            </a:r>
          </a:p>
          <a:p>
            <a:pPr lvl="1"/>
            <a:r>
              <a:rPr lang="en-US" dirty="0"/>
              <a:t>What are your usage patterns?</a:t>
            </a:r>
          </a:p>
          <a:p>
            <a:pPr lvl="1"/>
            <a:r>
              <a:rPr lang="en-US" dirty="0"/>
              <a:t>Which configuration settings will you want to manage?</a:t>
            </a:r>
          </a:p>
          <a:p>
            <a:r>
              <a:rPr lang="en-US" dirty="0"/>
              <a:t>Selecting the wrong compute solution for an architecture can lead to lower performance efficiency</a:t>
            </a:r>
          </a:p>
          <a:p>
            <a:pPr lvl="1"/>
            <a:r>
              <a:rPr lang="en-US" dirty="0"/>
              <a:t>A good starting place—Understand the available compute options</a:t>
            </a:r>
          </a:p>
        </p:txBody>
      </p:sp>
    </p:spTree>
    <p:custDataLst>
      <p:tags r:id="rId1"/>
    </p:custDataLst>
    <p:extLst>
      <p:ext uri="{BB962C8B-B14F-4D97-AF65-F5344CB8AC3E}">
        <p14:creationId xmlns:p14="http://schemas.microsoft.com/office/powerpoint/2010/main" val="390922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Section 2: Amazon EC2</a:t>
            </a:r>
          </a:p>
        </p:txBody>
      </p:sp>
      <p:sp>
        <p:nvSpPr>
          <p:cNvPr id="5" name="Text Placeholder 4">
            <a:extLst>
              <a:ext uri="{FF2B5EF4-FFF2-40B4-BE49-F238E27FC236}">
                <a16:creationId xmlns:a16="http://schemas.microsoft.com/office/drawing/2014/main" id="{1004BFB4-B3E8-F44C-9B30-3DAE8C87973E}"/>
              </a:ext>
            </a:extLst>
          </p:cNvPr>
          <p:cNvSpPr>
            <a:spLocks noGrp="1"/>
          </p:cNvSpPr>
          <p:nvPr>
            <p:ph type="subTitle" idx="1"/>
          </p:nvPr>
        </p:nvSpPr>
        <p:spPr/>
        <p:txBody>
          <a:bodyPr>
            <a:normAutofit/>
          </a:bodyPr>
          <a:lstStyle/>
          <a:p>
            <a:r>
              <a:rPr lang="en-US" dirty="0"/>
              <a:t>Module 6: Compute</a:t>
            </a:r>
          </a:p>
        </p:txBody>
      </p:sp>
    </p:spTree>
    <p:custDataLst>
      <p:tags r:id="rId1"/>
    </p:custDataLst>
    <p:extLst>
      <p:ext uri="{BB962C8B-B14F-4D97-AF65-F5344CB8AC3E}">
        <p14:creationId xmlns:p14="http://schemas.microsoft.com/office/powerpoint/2010/main" val="1075741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BBFA11-2B1B-8E37-166C-4E1F3B24C661}"/>
              </a:ext>
            </a:extLst>
          </p:cNvPr>
          <p:cNvSpPr>
            <a:spLocks noGrp="1"/>
          </p:cNvSpPr>
          <p:nvPr>
            <p:ph type="sldNum" sz="quarter" idx="20"/>
          </p:nvPr>
        </p:nvSpPr>
        <p:spPr/>
        <p:txBody>
          <a:bodyPr/>
          <a:lstStyle/>
          <a:p>
            <a:fld id="{930176A1-BCF0-4712-97A6-6B495F55390B}" type="slidenum">
              <a:rPr lang="en-US" smtClean="0"/>
              <a:t>9</a:t>
            </a:fld>
            <a:endParaRPr lang="en-US"/>
          </a:p>
        </p:txBody>
      </p:sp>
      <p:sp>
        <p:nvSpPr>
          <p:cNvPr id="7" name="Title 6">
            <a:extLst>
              <a:ext uri="{FF2B5EF4-FFF2-40B4-BE49-F238E27FC236}">
                <a16:creationId xmlns:a16="http://schemas.microsoft.com/office/drawing/2014/main" id="{9367B803-A2CE-7D95-797B-C1EA308B990F}"/>
              </a:ext>
            </a:extLst>
          </p:cNvPr>
          <p:cNvSpPr>
            <a:spLocks noGrp="1"/>
          </p:cNvSpPr>
          <p:nvPr>
            <p:ph type="title"/>
          </p:nvPr>
        </p:nvSpPr>
        <p:spPr/>
        <p:txBody>
          <a:bodyPr>
            <a:normAutofit/>
          </a:bodyPr>
          <a:lstStyle/>
          <a:p>
            <a:r>
              <a:rPr lang="en-US" dirty="0"/>
              <a:t>"Servers as cattle, not pets."</a:t>
            </a:r>
          </a:p>
        </p:txBody>
      </p:sp>
      <p:pic>
        <p:nvPicPr>
          <p:cNvPr id="10" name="Picture 9" descr="A group of cows standing in a field&#10;&#10;AI-generated content may be incorrect.">
            <a:extLst>
              <a:ext uri="{FF2B5EF4-FFF2-40B4-BE49-F238E27FC236}">
                <a16:creationId xmlns:a16="http://schemas.microsoft.com/office/drawing/2014/main" id="{56220046-C16D-4C30-279D-3A192954F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355154"/>
            <a:ext cx="6377343" cy="4251562"/>
          </a:xfrm>
          <a:prstGeom prst="rect">
            <a:avLst/>
          </a:prstGeom>
          <a:ln w="28575">
            <a:solidFill>
              <a:schemeClr val="accent1"/>
            </a:solidFill>
          </a:ln>
        </p:spPr>
      </p:pic>
      <p:pic>
        <p:nvPicPr>
          <p:cNvPr id="12" name="Picture 11" descr="A cat lying on its back with its eyes closed&#10;&#10;AI-generated content may be incorrect.">
            <a:extLst>
              <a:ext uri="{FF2B5EF4-FFF2-40B4-BE49-F238E27FC236}">
                <a16:creationId xmlns:a16="http://schemas.microsoft.com/office/drawing/2014/main" id="{3BDDF530-1165-15CF-8363-8570D91CD8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57625" y="2138865"/>
            <a:ext cx="6377343" cy="4251562"/>
          </a:xfrm>
          <a:prstGeom prst="rect">
            <a:avLst/>
          </a:prstGeom>
          <a:ln w="28575">
            <a:solidFill>
              <a:schemeClr val="accent1"/>
            </a:solidFill>
          </a:ln>
        </p:spPr>
      </p:pic>
    </p:spTree>
    <p:extLst>
      <p:ext uri="{BB962C8B-B14F-4D97-AF65-F5344CB8AC3E}">
        <p14:creationId xmlns:p14="http://schemas.microsoft.com/office/powerpoint/2010/main" val="6576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B877CD7-268C-DB23-7EE3-6D0215B7AC2B}"/>
              </a:ext>
            </a:extLst>
          </p:cNvPr>
          <p:cNvSpPr>
            <a:spLocks noGrp="1"/>
          </p:cNvSpPr>
          <p:nvPr>
            <p:ph type="sldNum" sz="quarter" idx="20"/>
          </p:nvPr>
        </p:nvSpPr>
        <p:spPr/>
        <p:txBody>
          <a:bodyPr/>
          <a:lstStyle/>
          <a:p>
            <a:fld id="{930176A1-BCF0-4712-97A6-6B495F55390B}" type="slidenum">
              <a:rPr lang="en-US" smtClean="0"/>
              <a:t>10</a:t>
            </a:fld>
            <a:endParaRPr lang="en-US"/>
          </a:p>
        </p:txBody>
      </p:sp>
      <p:sp>
        <p:nvSpPr>
          <p:cNvPr id="2" name="Title 1"/>
          <p:cNvSpPr>
            <a:spLocks noGrp="1"/>
          </p:cNvSpPr>
          <p:nvPr>
            <p:ph type="title"/>
          </p:nvPr>
        </p:nvSpPr>
        <p:spPr/>
        <p:txBody>
          <a:bodyPr/>
          <a:lstStyle/>
          <a:p>
            <a:r>
              <a:rPr lang="en-US" sz="3400" dirty="0">
                <a:latin typeface="+mj-lt"/>
                <a:ea typeface="Amazon Ember Light" panose="020B0403020204020204" pitchFamily="34" charset="0"/>
                <a:cs typeface="Amazon Ember Light" panose="020B0403020204020204" pitchFamily="34" charset="0"/>
              </a:rPr>
              <a:t>Amazon Elastic Compute Cloud (Amazon EC2)</a:t>
            </a:r>
          </a:p>
        </p:txBody>
      </p:sp>
      <p:sp>
        <p:nvSpPr>
          <p:cNvPr id="4" name="TextBox 3"/>
          <p:cNvSpPr txBox="1"/>
          <p:nvPr/>
        </p:nvSpPr>
        <p:spPr>
          <a:xfrm>
            <a:off x="1135415" y="5147881"/>
            <a:ext cx="3363741" cy="627864"/>
          </a:xfrm>
          <a:prstGeom prst="rect">
            <a:avLst/>
          </a:prstGeom>
          <a:noFill/>
        </p:spPr>
        <p:txBody>
          <a:bodyPr wrap="none" lIns="182880" tIns="146304" rIns="182880" bIns="146304" rtlCol="0">
            <a:spAutoFit/>
          </a:bodyPr>
          <a:lstStyle/>
          <a:p>
            <a:pPr>
              <a:lnSpc>
                <a:spcPct val="90000"/>
              </a:lnSpc>
              <a:spcAft>
                <a:spcPts val="1800"/>
              </a:spcAft>
            </a:pPr>
            <a:r>
              <a:rPr lang="en-US" sz="2400" b="1" dirty="0">
                <a:gradFill>
                  <a:gsLst>
                    <a:gs pos="2917">
                      <a:schemeClr val="tx1"/>
                    </a:gs>
                    <a:gs pos="30000">
                      <a:schemeClr val="tx1"/>
                    </a:gs>
                  </a:gsLst>
                  <a:lin ang="5400000" scaled="0"/>
                </a:gradFill>
              </a:rPr>
              <a:t>On-premises servers</a:t>
            </a:r>
          </a:p>
        </p:txBody>
      </p:sp>
      <p:sp>
        <p:nvSpPr>
          <p:cNvPr id="9" name="Rectangle 8">
            <a:extLst>
              <a:ext uri="{FF2B5EF4-FFF2-40B4-BE49-F238E27FC236}">
                <a16:creationId xmlns:a16="http://schemas.microsoft.com/office/drawing/2014/main" id="{7A7AD36A-B05A-477B-9109-72FA575E1F6E}"/>
              </a:ext>
            </a:extLst>
          </p:cNvPr>
          <p:cNvSpPr/>
          <p:nvPr/>
        </p:nvSpPr>
        <p:spPr>
          <a:xfrm>
            <a:off x="5499464" y="1420088"/>
            <a:ext cx="2605148" cy="646331"/>
          </a:xfrm>
          <a:prstGeom prst="rect">
            <a:avLst/>
          </a:prstGeom>
        </p:spPr>
        <p:txBody>
          <a:bodyPr wrap="square">
            <a:spAutoFit/>
          </a:bodyPr>
          <a:lstStyle/>
          <a:p>
            <a:pPr algn="ctr"/>
            <a:r>
              <a:rPr lang="en-US" b="1" dirty="0">
                <a:solidFill>
                  <a:schemeClr val="accent5"/>
                </a:solidFill>
              </a:rPr>
              <a:t>Example uses of Amazon EC2 instances</a:t>
            </a:r>
          </a:p>
        </p:txBody>
      </p:sp>
      <p:sp>
        <p:nvSpPr>
          <p:cNvPr id="13" name="Content Placeholder 3">
            <a:extLst>
              <a:ext uri="{C183D7F6-B498-43B3-948B-1728B52AA6E4}">
                <adec:decorative xmlns:adec="http://schemas.microsoft.com/office/drawing/2017/decorative" val="0"/>
              </a:ext>
            </a:extLst>
          </p:cNvPr>
          <p:cNvSpPr>
            <a:spLocks noGrp="1"/>
          </p:cNvSpPr>
          <p:nvPr>
            <p:ph idx="4294967295"/>
          </p:nvPr>
        </p:nvSpPr>
        <p:spPr>
          <a:xfrm>
            <a:off x="5575535" y="2204629"/>
            <a:ext cx="2456841" cy="3815171"/>
          </a:xfrm>
          <a:solidFill>
            <a:schemeClr val="bg1"/>
          </a:solidFill>
          <a:ln w="28575">
            <a:solidFill>
              <a:schemeClr val="tx1"/>
            </a:solidFill>
          </a:ln>
          <a:effectLst>
            <a:outerShdw blurRad="50800" dist="38100" dir="2700000" algn="tl" rotWithShape="0">
              <a:prstClr val="black">
                <a:alpha val="40000"/>
              </a:prstClr>
            </a:outerShdw>
          </a:effectLst>
        </p:spPr>
        <p:txBody>
          <a:bodyPr>
            <a:noAutofit/>
          </a:bodyPr>
          <a:lstStyle/>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Application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Web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Database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Game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Mail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Media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Catalog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File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Computing server</a:t>
            </a:r>
          </a:p>
          <a:p>
            <a:pPr marL="342900" indent="-342900">
              <a:lnSpc>
                <a:spcPct val="100000"/>
              </a:lnSpc>
              <a:buClr>
                <a:schemeClr val="accent2">
                  <a:lumMod val="75000"/>
                </a:schemeClr>
              </a:buClr>
              <a:buFont typeface="Wingdings" panose="05000000000000000000" pitchFamily="2" charset="2"/>
              <a:buChar char="ü"/>
            </a:pP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Proxy server</a:t>
            </a:r>
          </a:p>
          <a:p>
            <a:pPr marL="342900" indent="-342900">
              <a:lnSpc>
                <a:spcPct val="100000"/>
              </a:lnSpc>
              <a:buClr>
                <a:schemeClr val="accent2">
                  <a:lumMod val="75000"/>
                </a:schemeClr>
              </a:buClr>
              <a:buFont typeface="Wingdings" panose="05000000000000000000" pitchFamily="2" charset="2"/>
              <a:buChar char="ü"/>
            </a:pPr>
            <a:endParaRPr lang="en-US" sz="16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a:lnSpc>
                <a:spcPct val="100000"/>
              </a:lnSpc>
            </a:pPr>
            <a:endParaRPr lang="en-US" sz="1600" b="1" dirty="0"/>
          </a:p>
        </p:txBody>
      </p:sp>
      <p:sp>
        <p:nvSpPr>
          <p:cNvPr id="3" name="TextBox 2"/>
          <p:cNvSpPr txBox="1"/>
          <p:nvPr/>
        </p:nvSpPr>
        <p:spPr>
          <a:xfrm>
            <a:off x="8603837" y="4328383"/>
            <a:ext cx="3276603" cy="369332"/>
          </a:xfrm>
          <a:prstGeom prst="rect">
            <a:avLst/>
          </a:prstGeom>
          <a:solidFill>
            <a:schemeClr val="bg1"/>
          </a:solidFill>
          <a:ln w="12700">
            <a:noFill/>
          </a:ln>
        </p:spPr>
        <p:txBody>
          <a:bodyPr wrap="none" lIns="18288" tIns="18288" rIns="18288" bIns="18288" rtlCol="0">
            <a:spAutoFit/>
          </a:bodyPr>
          <a:lstStyle/>
          <a:p>
            <a:pPr>
              <a:lnSpc>
                <a:spcPct val="90000"/>
              </a:lnSpc>
              <a:spcAft>
                <a:spcPts val="1800"/>
              </a:spcAft>
            </a:pPr>
            <a:r>
              <a:rPr lang="en-US" sz="2400" b="1" dirty="0">
                <a:gradFill>
                  <a:gsLst>
                    <a:gs pos="2917">
                      <a:schemeClr val="tx1"/>
                    </a:gs>
                    <a:gs pos="30000">
                      <a:schemeClr val="tx1"/>
                    </a:gs>
                  </a:gsLst>
                  <a:lin ang="5400000" scaled="0"/>
                </a:gradFill>
              </a:rPr>
              <a:t> Amazon EC2 instances</a:t>
            </a:r>
          </a:p>
        </p:txBody>
      </p:sp>
      <p:grpSp>
        <p:nvGrpSpPr>
          <p:cNvPr id="8" name="Group 7" descr="Graphic shows 16 icons representing EC2 instances inside a box labeled AWS.">
            <a:extLst>
              <a:ext uri="{FF2B5EF4-FFF2-40B4-BE49-F238E27FC236}">
                <a16:creationId xmlns:a16="http://schemas.microsoft.com/office/drawing/2014/main" id="{259F536F-E37D-914F-B822-91BA2B1F812E}"/>
              </a:ext>
            </a:extLst>
          </p:cNvPr>
          <p:cNvGrpSpPr/>
          <p:nvPr/>
        </p:nvGrpSpPr>
        <p:grpSpPr>
          <a:xfrm>
            <a:off x="8953105" y="1743255"/>
            <a:ext cx="2578068" cy="2462172"/>
            <a:chOff x="8953105" y="1743255"/>
            <a:chExt cx="2578068" cy="2462172"/>
          </a:xfrm>
        </p:grpSpPr>
        <p:grpSp>
          <p:nvGrpSpPr>
            <p:cNvPr id="7" name="Group 6"/>
            <p:cNvGrpSpPr/>
            <p:nvPr/>
          </p:nvGrpSpPr>
          <p:grpSpPr>
            <a:xfrm>
              <a:off x="9162380" y="2611905"/>
              <a:ext cx="2155590" cy="434103"/>
              <a:chOff x="9162380" y="2702712"/>
              <a:chExt cx="2155590" cy="434103"/>
            </a:xfrm>
          </p:grpSpPr>
          <p:pic>
            <p:nvPicPr>
              <p:cNvPr id="103"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04"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05"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13"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14" name="Group 113"/>
            <p:cNvGrpSpPr/>
            <p:nvPr/>
          </p:nvGrpSpPr>
          <p:grpSpPr>
            <a:xfrm>
              <a:off x="9162380" y="2113609"/>
              <a:ext cx="2155590" cy="434103"/>
              <a:chOff x="9162380" y="2702712"/>
              <a:chExt cx="2155590" cy="434103"/>
            </a:xfrm>
          </p:grpSpPr>
          <p:pic>
            <p:nvPicPr>
              <p:cNvPr id="115"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16"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17"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18"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19" name="Group 118"/>
            <p:cNvGrpSpPr/>
            <p:nvPr/>
          </p:nvGrpSpPr>
          <p:grpSpPr>
            <a:xfrm>
              <a:off x="9168686" y="3117699"/>
              <a:ext cx="2155590" cy="434103"/>
              <a:chOff x="9162380" y="2702712"/>
              <a:chExt cx="2155590" cy="434103"/>
            </a:xfrm>
          </p:grpSpPr>
          <p:pic>
            <p:nvPicPr>
              <p:cNvPr id="120"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21"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22"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23"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grpSp>
          <p:nvGrpSpPr>
            <p:cNvPr id="124" name="Group 123"/>
            <p:cNvGrpSpPr/>
            <p:nvPr/>
          </p:nvGrpSpPr>
          <p:grpSpPr>
            <a:xfrm>
              <a:off x="9168686" y="3616227"/>
              <a:ext cx="2155590" cy="434103"/>
              <a:chOff x="9162380" y="2702712"/>
              <a:chExt cx="2155590" cy="434103"/>
            </a:xfrm>
          </p:grpSpPr>
          <p:pic>
            <p:nvPicPr>
              <p:cNvPr id="125"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62380" y="2717301"/>
                <a:ext cx="419514" cy="419514"/>
              </a:xfrm>
              <a:prstGeom prst="rect">
                <a:avLst/>
              </a:prstGeom>
            </p:spPr>
          </p:pic>
          <p:pic>
            <p:nvPicPr>
              <p:cNvPr id="126"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1072" y="2702712"/>
                <a:ext cx="419514" cy="419514"/>
              </a:xfrm>
              <a:prstGeom prst="rect">
                <a:avLst/>
              </a:prstGeom>
            </p:spPr>
          </p:pic>
          <p:pic>
            <p:nvPicPr>
              <p:cNvPr id="127"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9020" y="2717301"/>
                <a:ext cx="419514" cy="419514"/>
              </a:xfrm>
              <a:prstGeom prst="rect">
                <a:avLst/>
              </a:prstGeom>
            </p:spPr>
          </p:pic>
          <p:pic>
            <p:nvPicPr>
              <p:cNvPr id="128" name="Graphic 62">
                <a:extLst>
                  <a:ext uri="{FF2B5EF4-FFF2-40B4-BE49-F238E27FC236}">
                    <a16:creationId xmlns:a16="http://schemas.microsoft.com/office/drawing/2014/main" id="{16D183DF-B36E-BF49-9ED7-1238ADB2187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98456" y="2717301"/>
                <a:ext cx="419514" cy="419514"/>
              </a:xfrm>
              <a:prstGeom prst="rect">
                <a:avLst/>
              </a:prstGeom>
            </p:spPr>
          </p:pic>
        </p:grpSp>
        <p:sp>
          <p:nvSpPr>
            <p:cNvPr id="147" name="Rectangle 146">
              <a:extLst>
                <a:ext uri="{FF2B5EF4-FFF2-40B4-BE49-F238E27FC236}">
                  <a16:creationId xmlns:a16="http://schemas.microsoft.com/office/drawing/2014/main" id="{CE7F7081-419C-2E4F-A999-2923C4338FC0}"/>
                </a:ext>
              </a:extLst>
            </p:cNvPr>
            <p:cNvSpPr/>
            <p:nvPr/>
          </p:nvSpPr>
          <p:spPr>
            <a:xfrm>
              <a:off x="8953105" y="1743255"/>
              <a:ext cx="2578068" cy="246217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endParaRPr lang="en-US" sz="1200" dirty="0">
                <a:solidFill>
                  <a:sysClr val="windowText" lastClr="000000"/>
                </a:solidFill>
              </a:endParaRPr>
            </a:p>
          </p:txBody>
        </p:sp>
        <p:pic>
          <p:nvPicPr>
            <p:cNvPr id="148"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53105" y="1743255"/>
              <a:ext cx="330200" cy="330200"/>
            </a:xfrm>
            <a:prstGeom prst="rect">
              <a:avLst/>
            </a:prstGeom>
          </p:spPr>
        </p:pic>
      </p:grpSp>
      <p:pic>
        <p:nvPicPr>
          <p:cNvPr id="12" name="Picture 11">
            <a:extLst>
              <a:ext uri="{FF2B5EF4-FFF2-40B4-BE49-F238E27FC236}">
                <a16:creationId xmlns:a16="http://schemas.microsoft.com/office/drawing/2014/main" id="{90358F62-FE44-004B-B144-7945EFF7B8BA}"/>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47999" y="2242722"/>
            <a:ext cx="4634330" cy="2600660"/>
          </a:xfrm>
          <a:prstGeom prst="rect">
            <a:avLst/>
          </a:prstGeom>
        </p:spPr>
      </p:pic>
      <p:sp>
        <p:nvSpPr>
          <p:cNvPr id="14" name="TextBox 13">
            <a:extLst>
              <a:ext uri="{FF2B5EF4-FFF2-40B4-BE49-F238E27FC236}">
                <a16:creationId xmlns:a16="http://schemas.microsoft.com/office/drawing/2014/main" id="{BA731F0E-2A26-FA42-A9D7-C46B6A5193CA}"/>
              </a:ext>
              <a:ext uri="{C183D7F6-B498-43B3-948B-1728B52AA6E4}">
                <adec:decorative xmlns:adec="http://schemas.microsoft.com/office/drawing/2017/decorative" val="1"/>
              </a:ext>
            </a:extLst>
          </p:cNvPr>
          <p:cNvSpPr txBox="1"/>
          <p:nvPr/>
        </p:nvSpPr>
        <p:spPr>
          <a:xfrm>
            <a:off x="419100" y="4856586"/>
            <a:ext cx="2060179" cy="246221"/>
          </a:xfrm>
          <a:prstGeom prst="rect">
            <a:avLst/>
          </a:prstGeom>
          <a:noFill/>
        </p:spPr>
        <p:txBody>
          <a:bodyPr wrap="none" rtlCol="0">
            <a:spAutoFit/>
          </a:bodyPr>
          <a:lstStyle/>
          <a:p>
            <a:r>
              <a:rPr lang="en-US" sz="1000" dirty="0">
                <a:solidFill>
                  <a:schemeClr val="bg1">
                    <a:lumMod val="75000"/>
                  </a:schemeClr>
                </a:solidFill>
              </a:rPr>
              <a:t>Photo by Taylor Vick on Unsplash</a:t>
            </a:r>
            <a:endParaRPr lang="en-US" sz="1000" b="1" dirty="0">
              <a:solidFill>
                <a:schemeClr val="bg1">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7" name="Picture 16">
            <a:extLst>
              <a:ext uri="{FF2B5EF4-FFF2-40B4-BE49-F238E27FC236}">
                <a16:creationId xmlns:a16="http://schemas.microsoft.com/office/drawing/2014/main" id="{1B9C07BA-310B-A94C-9714-B4AC80E3DA95}"/>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184332" y="4776661"/>
            <a:ext cx="2269374" cy="1514928"/>
          </a:xfrm>
          <a:prstGeom prst="rect">
            <a:avLst/>
          </a:prstGeom>
        </p:spPr>
      </p:pic>
      <p:sp>
        <p:nvSpPr>
          <p:cNvPr id="18" name="TextBox 17">
            <a:extLst>
              <a:ext uri="{FF2B5EF4-FFF2-40B4-BE49-F238E27FC236}">
                <a16:creationId xmlns:a16="http://schemas.microsoft.com/office/drawing/2014/main" id="{5846D42A-30ED-5242-B6F4-49F4BF74DCCA}"/>
              </a:ext>
              <a:ext uri="{C183D7F6-B498-43B3-948B-1728B52AA6E4}">
                <adec:decorative xmlns:adec="http://schemas.microsoft.com/office/drawing/2017/decorative" val="1"/>
              </a:ext>
            </a:extLst>
          </p:cNvPr>
          <p:cNvSpPr txBox="1"/>
          <p:nvPr/>
        </p:nvSpPr>
        <p:spPr>
          <a:xfrm>
            <a:off x="9153599" y="6289726"/>
            <a:ext cx="2614818" cy="246221"/>
          </a:xfrm>
          <a:prstGeom prst="rect">
            <a:avLst/>
          </a:prstGeom>
          <a:noFill/>
        </p:spPr>
        <p:txBody>
          <a:bodyPr wrap="none" rtlCol="0">
            <a:spAutoFit/>
          </a:bodyPr>
          <a:lstStyle/>
          <a:p>
            <a:r>
              <a:rPr lang="en-US" sz="1000" dirty="0">
                <a:solidFill>
                  <a:schemeClr val="bg1">
                    <a:lumMod val="7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Photo by panumas nikhomkhai from Pexels</a:t>
            </a:r>
          </a:p>
        </p:txBody>
      </p:sp>
    </p:spTree>
    <p:custDataLst>
      <p:tags r:id="rId1"/>
    </p:custDataLst>
    <p:extLst>
      <p:ext uri="{BB962C8B-B14F-4D97-AF65-F5344CB8AC3E}">
        <p14:creationId xmlns:p14="http://schemas.microsoft.com/office/powerpoint/2010/main" val="3388764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E6E1873-DD5B-4342-878D-B9C77CC06283}"/>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11</a:t>
            </a:fld>
            <a:endParaRPr lang="en-US" dirty="0"/>
          </a:p>
        </p:txBody>
      </p:sp>
      <p:sp>
        <p:nvSpPr>
          <p:cNvPr id="2" name="Title 1"/>
          <p:cNvSpPr>
            <a:spLocks noGrp="1"/>
          </p:cNvSpPr>
          <p:nvPr>
            <p:ph type="title"/>
          </p:nvPr>
        </p:nvSpPr>
        <p:spPr/>
        <p:txBody>
          <a:bodyPr/>
          <a:lstStyle/>
          <a:p>
            <a:r>
              <a:rPr lang="en-US" dirty="0"/>
              <a:t>Amazon EC2 overview</a:t>
            </a:r>
          </a:p>
        </p:txBody>
      </p:sp>
      <p:sp>
        <p:nvSpPr>
          <p:cNvPr id="9" name="TextBox 8">
            <a:extLst>
              <a:ext uri="{FF2B5EF4-FFF2-40B4-BE49-F238E27FC236}">
                <a16:creationId xmlns:a16="http://schemas.microsoft.com/office/drawing/2014/main" id="{6C4D0400-C2C5-3249-9924-6D9DAE523DB4}"/>
              </a:ext>
            </a:extLst>
          </p:cNvPr>
          <p:cNvSpPr txBox="1"/>
          <p:nvPr/>
        </p:nvSpPr>
        <p:spPr>
          <a:xfrm>
            <a:off x="1209058" y="4331526"/>
            <a:ext cx="1813430" cy="892552"/>
          </a:xfrm>
          <a:prstGeom prst="rect">
            <a:avLst/>
          </a:prstGeom>
          <a:noFill/>
        </p:spPr>
        <p:txBody>
          <a:bodyPr wrap="square" rtlCol="0">
            <a:spAutoFit/>
          </a:bodyPr>
          <a:lstStyle/>
          <a:p>
            <a:pPr algn="ctr"/>
            <a:r>
              <a:rPr lang="en-US" sz="2600" dirty="0">
                <a:latin typeface="Amazon Ember" panose="020B0603020204020204" pitchFamily="34" charset="0"/>
                <a:ea typeface="Amazon Ember" panose="020B0603020204020204" pitchFamily="34" charset="0"/>
                <a:cs typeface="Amazon Ember" panose="020B0603020204020204" pitchFamily="34" charset="0"/>
              </a:rPr>
              <a:t>Amazon EC2</a:t>
            </a:r>
          </a:p>
        </p:txBody>
      </p:sp>
      <p:sp>
        <p:nvSpPr>
          <p:cNvPr id="3" name="Content Placeholder 2"/>
          <p:cNvSpPr>
            <a:spLocks noGrp="1"/>
          </p:cNvSpPr>
          <p:nvPr>
            <p:ph sz="quarter" idx="21"/>
          </p:nvPr>
        </p:nvSpPr>
        <p:spPr>
          <a:xfrm>
            <a:off x="4094806" y="1143000"/>
            <a:ext cx="7858843" cy="5291750"/>
          </a:xfrm>
        </p:spPr>
        <p:txBody>
          <a:bodyPr>
            <a:normAutofit/>
          </a:bodyPr>
          <a:lstStyle/>
          <a:p>
            <a:r>
              <a:rPr lang="en-US" b="1" dirty="0">
                <a:solidFill>
                  <a:srgbClr val="504BAB"/>
                </a:solidFill>
              </a:rPr>
              <a:t>Amazon Elastic Compute Cloud (Amazon EC2)  </a:t>
            </a:r>
          </a:p>
          <a:p>
            <a:pPr lvl="1"/>
            <a:r>
              <a:rPr lang="en-US" dirty="0"/>
              <a:t>Provides </a:t>
            </a:r>
            <a:r>
              <a:rPr lang="en-US" dirty="0">
                <a:solidFill>
                  <a:schemeClr val="accent6"/>
                </a:solidFill>
              </a:rPr>
              <a:t>virtual machines</a:t>
            </a:r>
            <a:r>
              <a:rPr lang="en-US" dirty="0"/>
              <a:t>—referred to as </a:t>
            </a:r>
            <a:r>
              <a:rPr lang="en-US" dirty="0">
                <a:solidFill>
                  <a:schemeClr val="accent6"/>
                </a:solidFill>
              </a:rPr>
              <a:t>EC2 instances</a:t>
            </a:r>
            <a:r>
              <a:rPr lang="en-US" dirty="0"/>
              <a:t>—in the cloud.</a:t>
            </a:r>
          </a:p>
          <a:p>
            <a:pPr lvl="1"/>
            <a:r>
              <a:rPr lang="en-US" dirty="0"/>
              <a:t>Gives you </a:t>
            </a:r>
            <a:r>
              <a:rPr lang="en-US" i="1" dirty="0"/>
              <a:t>full control </a:t>
            </a:r>
            <a:r>
              <a:rPr lang="en-US" dirty="0"/>
              <a:t>over the guest operating system (Windows or Linux) on each instance.</a:t>
            </a:r>
          </a:p>
          <a:p>
            <a:r>
              <a:rPr lang="en-US" dirty="0"/>
              <a:t>You can launch instances of any size into an Availability Zone anywhere in the world.</a:t>
            </a:r>
          </a:p>
          <a:p>
            <a:pPr lvl="1"/>
            <a:r>
              <a:rPr lang="en-US" dirty="0"/>
              <a:t>Launch instances from </a:t>
            </a:r>
            <a:r>
              <a:rPr lang="en-US" b="1" dirty="0">
                <a:solidFill>
                  <a:srgbClr val="504BAB"/>
                </a:solidFill>
              </a:rPr>
              <a:t>Amazon Machine Images (AMIs)</a:t>
            </a:r>
            <a:r>
              <a:rPr lang="en-US" dirty="0">
                <a:solidFill>
                  <a:srgbClr val="232F3E"/>
                </a:solidFill>
              </a:rPr>
              <a:t>.</a:t>
            </a:r>
          </a:p>
          <a:p>
            <a:pPr lvl="1"/>
            <a:r>
              <a:rPr lang="en-US" dirty="0"/>
              <a:t>Launch instances with a few clicks or a line of code, and they are ready in minutes.</a:t>
            </a:r>
            <a:endParaRPr lang="en-US" sz="2800" dirty="0"/>
          </a:p>
          <a:p>
            <a:r>
              <a:rPr lang="en-US" dirty="0"/>
              <a:t>You can control traffic to and from instances.</a:t>
            </a:r>
          </a:p>
        </p:txBody>
      </p:sp>
      <p:grpSp>
        <p:nvGrpSpPr>
          <p:cNvPr id="6" name="Group 5">
            <a:extLst>
              <a:ext uri="{FF2B5EF4-FFF2-40B4-BE49-F238E27FC236}">
                <a16:creationId xmlns:a16="http://schemas.microsoft.com/office/drawing/2014/main" id="{3F896863-3C86-634F-9982-88D5287C8343}"/>
              </a:ext>
              <a:ext uri="{C183D7F6-B498-43B3-948B-1728B52AA6E4}">
                <adec:decorative xmlns:adec="http://schemas.microsoft.com/office/drawing/2017/decorative" val="1"/>
              </a:ext>
            </a:extLst>
          </p:cNvPr>
          <p:cNvGrpSpPr/>
          <p:nvPr/>
        </p:nvGrpSpPr>
        <p:grpSpPr>
          <a:xfrm>
            <a:off x="677252" y="1916492"/>
            <a:ext cx="2885749" cy="4045058"/>
            <a:chOff x="677252" y="1916492"/>
            <a:chExt cx="2885749" cy="4045058"/>
          </a:xfrm>
        </p:grpSpPr>
        <p:sp>
          <p:nvSpPr>
            <p:cNvPr id="7" name="Rectangle 6">
              <a:extLst>
                <a:ext uri="{FF2B5EF4-FFF2-40B4-BE49-F238E27FC236}">
                  <a16:creationId xmlns:a16="http://schemas.microsoft.com/office/drawing/2014/main" id="{910C76DA-7886-8B47-AC0B-C0FC351B84DE}"/>
                </a:ext>
              </a:extLst>
            </p:cNvPr>
            <p:cNvSpPr/>
            <p:nvPr/>
          </p:nvSpPr>
          <p:spPr>
            <a:xfrm>
              <a:off x="677252" y="1916492"/>
              <a:ext cx="2885749" cy="4045058"/>
            </a:xfrm>
            <a:prstGeom prst="rect">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0807008F-02FC-CA40-B191-A281976044A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6972" y="2924499"/>
              <a:ext cx="1094787" cy="1094787"/>
            </a:xfrm>
            <a:prstGeom prst="rect">
              <a:avLst/>
            </a:prstGeom>
          </p:spPr>
        </p:pic>
      </p:grpSp>
    </p:spTree>
    <p:custDataLst>
      <p:tags r:id="rId1"/>
    </p:custDataLst>
    <p:extLst>
      <p:ext uri="{BB962C8B-B14F-4D97-AF65-F5344CB8AC3E}">
        <p14:creationId xmlns:p14="http://schemas.microsoft.com/office/powerpoint/2010/main" val="1197069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C2EFAB-2E0B-B040-BB09-90FF7EAD71A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12</a:t>
            </a:fld>
            <a:endParaRPr lang="en-US" dirty="0"/>
          </a:p>
        </p:txBody>
      </p:sp>
      <p:sp>
        <p:nvSpPr>
          <p:cNvPr id="3" name="Title 2">
            <a:extLst>
              <a:ext uri="{FF2B5EF4-FFF2-40B4-BE49-F238E27FC236}">
                <a16:creationId xmlns:a16="http://schemas.microsoft.com/office/drawing/2014/main" id="{79F5F7FD-9056-CB4A-9B6D-7EAE33D56044}"/>
              </a:ext>
            </a:extLst>
          </p:cNvPr>
          <p:cNvSpPr>
            <a:spLocks noGrp="1"/>
          </p:cNvSpPr>
          <p:nvPr>
            <p:ph type="title"/>
          </p:nvPr>
        </p:nvSpPr>
        <p:spPr/>
        <p:txBody>
          <a:bodyPr/>
          <a:lstStyle/>
          <a:p>
            <a:r>
              <a:rPr lang="en-US" dirty="0"/>
              <a:t>Launching an Amazon EC2 instance</a:t>
            </a:r>
          </a:p>
        </p:txBody>
      </p:sp>
      <p:sp>
        <p:nvSpPr>
          <p:cNvPr id="14" name="TextBox 13">
            <a:extLst>
              <a:ext uri="{FF2B5EF4-FFF2-40B4-BE49-F238E27FC236}">
                <a16:creationId xmlns:a16="http://schemas.microsoft.com/office/drawing/2014/main" id="{9B298C85-D7F8-C84D-A4E8-C47896DBEC87}"/>
              </a:ext>
            </a:extLst>
          </p:cNvPr>
          <p:cNvSpPr txBox="1"/>
          <p:nvPr/>
        </p:nvSpPr>
        <p:spPr>
          <a:xfrm>
            <a:off x="435233" y="1536174"/>
            <a:ext cx="4428605" cy="3785652"/>
          </a:xfrm>
          <a:prstGeom prst="rect">
            <a:avLst/>
          </a:prstGeom>
          <a:noFill/>
        </p:spPr>
        <p:txBody>
          <a:bodyPr wrap="square" rtlCol="0">
            <a:spAutoFit/>
          </a:bodyPr>
          <a:lstStyle/>
          <a:p>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This section of the module walks through </a:t>
            </a:r>
            <a:r>
              <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nine key decisions</a:t>
            </a:r>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to make when you create an EC2 instance by using the AWS Management Console </a:t>
            </a:r>
            <a:r>
              <a:rPr lang="en-US" sz="24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Launch Instance Wizard</a:t>
            </a:r>
            <a:r>
              <a:rPr lang="en-US" sz="2400" b="1" dirty="0">
                <a:solidFill>
                  <a:srgbClr val="232F3E"/>
                </a:solidFill>
                <a:latin typeface="Amazon Ember Light" panose="020B0403020204020204" pitchFamily="34" charset="0"/>
                <a:ea typeface="Amazon Ember Light" panose="020B0403020204020204" pitchFamily="34" charset="0"/>
                <a:cs typeface="Amazon Ember Light" panose="020B0403020204020204" pitchFamily="34" charset="0"/>
              </a:rPr>
              <a:t>. </a:t>
            </a:r>
          </a:p>
          <a:p>
            <a:endPar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285750" indent="-285750">
              <a:buFont typeface="Wingdings" pitchFamily="2" charset="2"/>
              <a:buChar char="Ø"/>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Along the way, essential Amazon EC2 concepts will be explored.</a:t>
            </a:r>
          </a:p>
        </p:txBody>
      </p:sp>
      <p:pic>
        <p:nvPicPr>
          <p:cNvPr id="7" name="Picture 6" descr="screenshot of the EC2 console's EC2 Dashboard view.">
            <a:extLst>
              <a:ext uri="{FF2B5EF4-FFF2-40B4-BE49-F238E27FC236}">
                <a16:creationId xmlns:a16="http://schemas.microsoft.com/office/drawing/2014/main" id="{CD565F97-1BF1-0A48-9629-C7BE50CA8F84}"/>
              </a:ext>
            </a:extLst>
          </p:cNvPr>
          <p:cNvPicPr>
            <a:picLocks noChangeAspect="1"/>
          </p:cNvPicPr>
          <p:nvPr/>
        </p:nvPicPr>
        <p:blipFill>
          <a:blip r:embed="rId4"/>
          <a:stretch>
            <a:fillRect/>
          </a:stretch>
        </p:blipFill>
        <p:spPr>
          <a:xfrm>
            <a:off x="5031175" y="1422059"/>
            <a:ext cx="6725592" cy="4730713"/>
          </a:xfrm>
          <a:prstGeom prst="rect">
            <a:avLst/>
          </a:prstGeom>
        </p:spPr>
      </p:pic>
    </p:spTree>
    <p:custDataLst>
      <p:tags r:id="rId1"/>
    </p:custDataLst>
    <p:extLst>
      <p:ext uri="{BB962C8B-B14F-4D97-AF65-F5344CB8AC3E}">
        <p14:creationId xmlns:p14="http://schemas.microsoft.com/office/powerpoint/2010/main" val="2762885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13</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1. Select an AMI</a:t>
            </a:r>
          </a:p>
        </p:txBody>
      </p:sp>
      <p:sp>
        <p:nvSpPr>
          <p:cNvPr id="14" name="Content Placeholder 8">
            <a:extLst>
              <a:ext uri="{FF2B5EF4-FFF2-40B4-BE49-F238E27FC236}">
                <a16:creationId xmlns:a16="http://schemas.microsoft.com/office/drawing/2014/main" id="{4E4A0AB1-DBAF-0D4F-B4D9-2289D2A0AA42}"/>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2">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rPr>
              <a:t>Choices made using the</a:t>
            </a:r>
            <a:br>
              <a:rPr lang="en-US" sz="2000" b="1" dirty="0">
                <a:solidFill>
                  <a:srgbClr val="504BAB"/>
                </a:solidFill>
              </a:rPr>
            </a:br>
            <a:r>
              <a:rPr lang="en-US" sz="2000" b="1" dirty="0">
                <a:solidFill>
                  <a:srgbClr val="504BAB"/>
                </a:solidFill>
              </a:rPr>
              <a:t>Launch Instance Wizard:</a:t>
            </a:r>
            <a:br>
              <a:rPr lang="en-US" sz="2400" b="1" dirty="0">
                <a:solidFill>
                  <a:srgbClr val="504BAB"/>
                </a:solidFill>
              </a:rPr>
            </a:br>
            <a:endParaRPr lang="en-US" sz="2000" dirty="0">
              <a:solidFill>
                <a:srgbClr val="504BAB"/>
              </a:solidFill>
            </a:endParaRPr>
          </a:p>
          <a:p>
            <a:pPr marL="514350" indent="-514350">
              <a:lnSpc>
                <a:spcPct val="100000"/>
              </a:lnSpc>
              <a:spcBef>
                <a:spcPts val="400"/>
              </a:spcBef>
              <a:buFont typeface="+mj-lt"/>
              <a:buAutoNum type="arabicPeriod"/>
            </a:pPr>
            <a:r>
              <a:rPr lang="en-US" sz="1600" b="1" dirty="0">
                <a:solidFill>
                  <a:srgbClr val="C9208A"/>
                </a:solidFill>
              </a:rPr>
              <a:t>AMI</a:t>
            </a:r>
          </a:p>
          <a:p>
            <a:pPr marL="514350" indent="-514350">
              <a:lnSpc>
                <a:spcPct val="100000"/>
              </a:lnSpc>
              <a:spcBef>
                <a:spcPts val="400"/>
              </a:spcBef>
              <a:buFont typeface="+mj-lt"/>
              <a:buAutoNum type="arabicPeriod"/>
            </a:pPr>
            <a:r>
              <a:rPr lang="en-US" sz="1600" b="1" dirty="0"/>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4049486" y="2523810"/>
            <a:ext cx="7904164" cy="3910939"/>
          </a:xfrm>
        </p:spPr>
        <p:txBody>
          <a:bodyPr>
            <a:normAutofit lnSpcReduction="10000"/>
          </a:bodyPr>
          <a:lstStyle/>
          <a:p>
            <a:r>
              <a:rPr lang="en-US" sz="2400" dirty="0"/>
              <a:t>Amazon Machine Image (AMI)</a:t>
            </a:r>
          </a:p>
          <a:p>
            <a:pPr lvl="1"/>
            <a:r>
              <a:rPr lang="en-US" sz="1800" dirty="0"/>
              <a:t>Is a template that is used to create an EC2 instance (which is a </a:t>
            </a:r>
            <a:r>
              <a:rPr lang="en-US" sz="1800" b="1" dirty="0">
                <a:solidFill>
                  <a:srgbClr val="504BAB"/>
                </a:solidFill>
              </a:rPr>
              <a:t>virtual machine, or VM,</a:t>
            </a:r>
            <a:r>
              <a:rPr lang="en-US" sz="1800" i="1" dirty="0"/>
              <a:t> </a:t>
            </a:r>
            <a:r>
              <a:rPr lang="en-US" sz="1800" dirty="0"/>
              <a:t>that runs in the AWS Cloud)</a:t>
            </a:r>
          </a:p>
          <a:p>
            <a:pPr lvl="1"/>
            <a:r>
              <a:rPr lang="en-US" sz="1800" dirty="0"/>
              <a:t>Contains a </a:t>
            </a:r>
            <a:r>
              <a:rPr lang="en-US" sz="1800" b="1" dirty="0">
                <a:solidFill>
                  <a:srgbClr val="504BAB"/>
                </a:solidFill>
              </a:rPr>
              <a:t>Windows</a:t>
            </a:r>
            <a:r>
              <a:rPr lang="en-US" sz="1800" dirty="0"/>
              <a:t> or </a:t>
            </a:r>
            <a:r>
              <a:rPr lang="en-US" sz="1800" b="1" dirty="0">
                <a:solidFill>
                  <a:srgbClr val="504BAB"/>
                </a:solidFill>
              </a:rPr>
              <a:t>Linux</a:t>
            </a:r>
            <a:r>
              <a:rPr lang="en-US" sz="1800" dirty="0"/>
              <a:t> operating system</a:t>
            </a:r>
          </a:p>
          <a:p>
            <a:pPr lvl="1"/>
            <a:r>
              <a:rPr lang="en-US" sz="1800" dirty="0"/>
              <a:t>Often also has some </a:t>
            </a:r>
            <a:r>
              <a:rPr lang="en-US" sz="1800" b="1" dirty="0">
                <a:solidFill>
                  <a:srgbClr val="504BAB"/>
                </a:solidFill>
              </a:rPr>
              <a:t>software</a:t>
            </a:r>
            <a:r>
              <a:rPr lang="en-US" sz="1800" dirty="0"/>
              <a:t> pre-installed</a:t>
            </a:r>
          </a:p>
          <a:p>
            <a:r>
              <a:rPr lang="en-US" sz="2400" dirty="0"/>
              <a:t>AMI choices:</a:t>
            </a:r>
            <a:endParaRPr lang="en-US" dirty="0"/>
          </a:p>
          <a:p>
            <a:pPr lvl="1"/>
            <a:r>
              <a:rPr lang="en-US" sz="1800" dirty="0"/>
              <a:t>Quick Start</a:t>
            </a:r>
            <a:r>
              <a:rPr lang="en-US" sz="1800" i="1" dirty="0"/>
              <a:t> – Linux and Windows AMIs that are provided by AWS</a:t>
            </a:r>
          </a:p>
          <a:p>
            <a:pPr lvl="1"/>
            <a:r>
              <a:rPr lang="en-US" sz="1800" dirty="0"/>
              <a:t>My AMIs</a:t>
            </a:r>
            <a:r>
              <a:rPr lang="en-US" sz="1800" i="1" dirty="0"/>
              <a:t> – Any AMIs that you created</a:t>
            </a:r>
          </a:p>
          <a:p>
            <a:pPr lvl="1"/>
            <a:r>
              <a:rPr lang="en-US" sz="1800" dirty="0"/>
              <a:t>AWS Marketplace </a:t>
            </a:r>
            <a:r>
              <a:rPr lang="en-US" sz="1800" i="1" dirty="0"/>
              <a:t>– Pre-configured templates from third parties</a:t>
            </a:r>
          </a:p>
          <a:p>
            <a:pPr lvl="1"/>
            <a:r>
              <a:rPr lang="en-US" sz="1800" dirty="0"/>
              <a:t>Community AMIs </a:t>
            </a:r>
            <a:r>
              <a:rPr lang="en-US" sz="1800" i="1" dirty="0"/>
              <a:t>– AMIs shared by others; use at your own risk</a:t>
            </a:r>
          </a:p>
        </p:txBody>
      </p:sp>
      <p:grpSp>
        <p:nvGrpSpPr>
          <p:cNvPr id="26" name="Group 25" descr="Graphic shows an icon labeled &quot;AMI&quot; with an arrow labeled &quot;Launch instance&quot; extending to the right and pointing at an icon labeled &quot;Instance.&quot;">
            <a:extLst>
              <a:ext uri="{FF2B5EF4-FFF2-40B4-BE49-F238E27FC236}">
                <a16:creationId xmlns:a16="http://schemas.microsoft.com/office/drawing/2014/main" id="{53513352-16CD-3749-A18F-1D7380CE4329}"/>
              </a:ext>
            </a:extLst>
          </p:cNvPr>
          <p:cNvGrpSpPr/>
          <p:nvPr/>
        </p:nvGrpSpPr>
        <p:grpSpPr>
          <a:xfrm>
            <a:off x="5947576" y="1528176"/>
            <a:ext cx="2774570" cy="802616"/>
            <a:chOff x="5947576" y="1528176"/>
            <a:chExt cx="2774570" cy="802616"/>
          </a:xfrm>
        </p:grpSpPr>
        <p:sp>
          <p:nvSpPr>
            <p:cNvPr id="17" name="TextBox 16">
              <a:extLst>
                <a:ext uri="{FF2B5EF4-FFF2-40B4-BE49-F238E27FC236}">
                  <a16:creationId xmlns:a16="http://schemas.microsoft.com/office/drawing/2014/main" id="{B9D083FA-B91F-2A40-A11E-EB6695FA3F75}"/>
                </a:ext>
              </a:extLst>
            </p:cNvPr>
            <p:cNvSpPr txBox="1"/>
            <p:nvPr/>
          </p:nvSpPr>
          <p:spPr>
            <a:xfrm>
              <a:off x="5947576" y="1974192"/>
              <a:ext cx="1513305" cy="338554"/>
            </a:xfrm>
            <a:prstGeom prst="rect">
              <a:avLst/>
            </a:prstGeom>
            <a:noFill/>
          </p:spPr>
          <p:txBody>
            <a:bodyPr wrap="square" rtlCol="0">
              <a:spAutoFit/>
            </a:bodyPr>
            <a:lstStyle/>
            <a:p>
              <a:pPr algn="ctr"/>
              <a:r>
                <a:rPr lang="en-US" sz="1600" dirty="0"/>
                <a:t>AMI</a:t>
              </a:r>
            </a:p>
          </p:txBody>
        </p:sp>
        <p:pic>
          <p:nvPicPr>
            <p:cNvPr id="15" name="Graphic 14">
              <a:extLst>
                <a:ext uri="{FF2B5EF4-FFF2-40B4-BE49-F238E27FC236}">
                  <a16:creationId xmlns:a16="http://schemas.microsoft.com/office/drawing/2014/main" id="{0F4FF142-EC43-2941-98A8-DE204ABED91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3787" y="1528176"/>
              <a:ext cx="469900" cy="469900"/>
            </a:xfrm>
            <a:prstGeom prst="rect">
              <a:avLst/>
            </a:prstGeom>
          </p:spPr>
        </p:pic>
        <p:pic>
          <p:nvPicPr>
            <p:cNvPr id="16" name="Graphic 15">
              <a:extLst>
                <a:ext uri="{FF2B5EF4-FFF2-40B4-BE49-F238E27FC236}">
                  <a16:creationId xmlns:a16="http://schemas.microsoft.com/office/drawing/2014/main" id="{579BD9B0-9870-634E-9AF3-321AFD07EB5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71190" y="1528176"/>
              <a:ext cx="469900" cy="469900"/>
            </a:xfrm>
            <a:prstGeom prst="rect">
              <a:avLst/>
            </a:prstGeom>
          </p:spPr>
        </p:pic>
        <p:sp>
          <p:nvSpPr>
            <p:cNvPr id="18" name="TextBox 17">
              <a:extLst>
                <a:ext uri="{FF2B5EF4-FFF2-40B4-BE49-F238E27FC236}">
                  <a16:creationId xmlns:a16="http://schemas.microsoft.com/office/drawing/2014/main" id="{803A20F2-E654-124F-A9F4-B08A07ED856C}"/>
                </a:ext>
              </a:extLst>
            </p:cNvPr>
            <p:cNvSpPr txBox="1"/>
            <p:nvPr/>
          </p:nvSpPr>
          <p:spPr>
            <a:xfrm>
              <a:off x="7690134" y="1958383"/>
              <a:ext cx="1032012" cy="372409"/>
            </a:xfrm>
            <a:prstGeom prst="rect">
              <a:avLst/>
            </a:prstGeom>
            <a:noFill/>
          </p:spPr>
          <p:txBody>
            <a:bodyPr wrap="square" rtlCol="0">
              <a:noAutofit/>
            </a:bodyPr>
            <a:lstStyle/>
            <a:p>
              <a:pPr algn="ctr"/>
              <a:r>
                <a:rPr lang="en-US" sz="1600" dirty="0"/>
                <a:t>Instance</a:t>
              </a:r>
            </a:p>
          </p:txBody>
        </p:sp>
        <p:cxnSp>
          <p:nvCxnSpPr>
            <p:cNvPr id="20" name="Straight Arrow Connector 19">
              <a:extLst>
                <a:ext uri="{FF2B5EF4-FFF2-40B4-BE49-F238E27FC236}">
                  <a16:creationId xmlns:a16="http://schemas.microsoft.com/office/drawing/2014/main" id="{F4E887FE-2505-764F-A027-D82A073546C7}"/>
                </a:ext>
              </a:extLst>
            </p:cNvPr>
            <p:cNvCxnSpPr>
              <a:stCxn id="15" idx="3"/>
              <a:endCxn id="16" idx="1"/>
            </p:cNvCxnSpPr>
            <p:nvPr/>
          </p:nvCxnSpPr>
          <p:spPr>
            <a:xfrm>
              <a:off x="6953687" y="1763126"/>
              <a:ext cx="10175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E130629-7D89-984B-8D7A-3F48BE03F3FE}"/>
                </a:ext>
              </a:extLst>
            </p:cNvPr>
            <p:cNvSpPr txBox="1"/>
            <p:nvPr/>
          </p:nvSpPr>
          <p:spPr>
            <a:xfrm>
              <a:off x="7049088" y="1528641"/>
              <a:ext cx="837089" cy="523220"/>
            </a:xfrm>
            <a:prstGeom prst="rect">
              <a:avLst/>
            </a:prstGeom>
            <a:noFill/>
          </p:spPr>
          <p:txBody>
            <a:bodyPr wrap="none" rtlCol="0">
              <a:spAutoFit/>
            </a:bodyPr>
            <a:lstStyle/>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Launch</a:t>
              </a:r>
            </a:p>
            <a:p>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instance</a:t>
              </a:r>
            </a:p>
          </p:txBody>
        </p:sp>
      </p:grpSp>
      <p:pic>
        <p:nvPicPr>
          <p:cNvPr id="25" name="Picture 24">
            <a:extLst>
              <a:ext uri="{FF2B5EF4-FFF2-40B4-BE49-F238E27FC236}">
                <a16:creationId xmlns:a16="http://schemas.microsoft.com/office/drawing/2014/main" id="{B2F1FF32-2057-3D4B-AF09-D30E1EDE65A9}"/>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1140820" y="5640694"/>
            <a:ext cx="451934" cy="324214"/>
          </a:xfrm>
          <a:prstGeom prst="rect">
            <a:avLst/>
          </a:prstGeom>
        </p:spPr>
      </p:pic>
    </p:spTree>
    <p:custDataLst>
      <p:tags r:id="rId1"/>
    </p:custDataLst>
    <p:extLst>
      <p:ext uri="{BB962C8B-B14F-4D97-AF65-F5344CB8AC3E}">
        <p14:creationId xmlns:p14="http://schemas.microsoft.com/office/powerpoint/2010/main" val="731644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5C068FE-9F50-7645-BA24-49D2E5B3FEF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14</a:t>
            </a:fld>
            <a:endParaRPr lang="en-US" dirty="0"/>
          </a:p>
        </p:txBody>
      </p:sp>
      <p:sp>
        <p:nvSpPr>
          <p:cNvPr id="2" name="Title 1">
            <a:extLst>
              <a:ext uri="{FF2B5EF4-FFF2-40B4-BE49-F238E27FC236}">
                <a16:creationId xmlns:a16="http://schemas.microsoft.com/office/drawing/2014/main" id="{D1DFC21E-C12C-6D4C-A0F5-0D03AC2FBA36}"/>
              </a:ext>
            </a:extLst>
          </p:cNvPr>
          <p:cNvSpPr>
            <a:spLocks noGrp="1"/>
          </p:cNvSpPr>
          <p:nvPr>
            <p:ph type="title"/>
          </p:nvPr>
        </p:nvSpPr>
        <p:spPr/>
        <p:txBody>
          <a:bodyPr/>
          <a:lstStyle/>
          <a:p>
            <a:r>
              <a:rPr lang="en-US" dirty="0"/>
              <a:t>Creating a new AMI: Example</a:t>
            </a:r>
          </a:p>
        </p:txBody>
      </p:sp>
      <p:grpSp>
        <p:nvGrpSpPr>
          <p:cNvPr id="3" name="Group 2" descr="Diagram shows how you can launch an &quot;unmodified&quot; instance from an AMI, manually or through script update the software on that instance, then capture it as a new AMI. You can also copy an AMI to another region.">
            <a:extLst>
              <a:ext uri="{FF2B5EF4-FFF2-40B4-BE49-F238E27FC236}">
                <a16:creationId xmlns:a16="http://schemas.microsoft.com/office/drawing/2014/main" id="{1838CF0F-725C-C670-9C4D-879268F7BB13}"/>
              </a:ext>
            </a:extLst>
          </p:cNvPr>
          <p:cNvGrpSpPr/>
          <p:nvPr/>
        </p:nvGrpSpPr>
        <p:grpSpPr>
          <a:xfrm>
            <a:off x="365760" y="1269215"/>
            <a:ext cx="11363640" cy="4929880"/>
            <a:chOff x="365760" y="1269215"/>
            <a:chExt cx="11363640" cy="4929880"/>
          </a:xfrm>
        </p:grpSpPr>
        <p:pic>
          <p:nvPicPr>
            <p:cNvPr id="66" name="Graphic 65">
              <a:extLst>
                <a:ext uri="{FF2B5EF4-FFF2-40B4-BE49-F238E27FC236}">
                  <a16:creationId xmlns:a16="http://schemas.microsoft.com/office/drawing/2014/main" id="{A71E226E-DD79-8A42-A367-188EFB772C14}"/>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02910" y="1280347"/>
              <a:ext cx="330200" cy="330200"/>
            </a:xfrm>
            <a:prstGeom prst="rect">
              <a:avLst/>
            </a:prstGeom>
          </p:spPr>
        </p:pic>
        <p:sp>
          <p:nvSpPr>
            <p:cNvPr id="12" name="TextBox 11">
              <a:extLst>
                <a:ext uri="{FF2B5EF4-FFF2-40B4-BE49-F238E27FC236}">
                  <a16:creationId xmlns:a16="http://schemas.microsoft.com/office/drawing/2014/main" id="{9E85C031-3350-3248-AEB4-CFFAA0CF8318}"/>
                </a:ext>
              </a:extLst>
            </p:cNvPr>
            <p:cNvSpPr txBox="1"/>
            <p:nvPr/>
          </p:nvSpPr>
          <p:spPr>
            <a:xfrm>
              <a:off x="365760" y="4301281"/>
              <a:ext cx="1922214"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(Optional) Import</a:t>
              </a:r>
            </a:p>
            <a:p>
              <a:r>
                <a:rPr lang="en-US" sz="1600" dirty="0">
                  <a:latin typeface="Amazon Ember" panose="020B0603020204020204" pitchFamily="34" charset="0"/>
                  <a:ea typeface="Amazon Ember" panose="020B0603020204020204" pitchFamily="34" charset="0"/>
                  <a:cs typeface="Amazon Ember" panose="020B0603020204020204" pitchFamily="34" charset="0"/>
                </a:rPr>
                <a:t>a virtual machine</a:t>
              </a:r>
            </a:p>
          </p:txBody>
        </p:sp>
        <p:sp>
          <p:nvSpPr>
            <p:cNvPr id="19" name="TextBox 18">
              <a:extLst>
                <a:ext uri="{FF2B5EF4-FFF2-40B4-BE49-F238E27FC236}">
                  <a16:creationId xmlns:a16="http://schemas.microsoft.com/office/drawing/2014/main" id="{7A421FBC-1BF2-0944-8C78-D5D8AB066103}"/>
                </a:ext>
              </a:extLst>
            </p:cNvPr>
            <p:cNvSpPr txBox="1"/>
            <p:nvPr/>
          </p:nvSpPr>
          <p:spPr>
            <a:xfrm>
              <a:off x="2159097" y="2430397"/>
              <a:ext cx="1041605" cy="1323439"/>
            </a:xfrm>
            <a:prstGeom prst="rect">
              <a:avLst/>
            </a:prstGeom>
            <a:noFill/>
          </p:spPr>
          <p:txBody>
            <a:bodyPr wrap="square" rtlCol="0">
              <a:spAutoFit/>
            </a:body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Quick Start </a:t>
              </a:r>
              <a:r>
                <a:rPr lang="en-US" sz="1600" dirty="0">
                  <a:latin typeface="Amazon Ember" panose="020B0603020204020204" pitchFamily="34" charset="0"/>
                  <a:ea typeface="Amazon Ember" panose="020B0603020204020204" pitchFamily="34" charset="0"/>
                  <a:cs typeface="Amazon Ember" panose="020B0603020204020204" pitchFamily="34" charset="0"/>
                </a:rPr>
                <a:t>or other</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existing AMI</a:t>
              </a:r>
            </a:p>
          </p:txBody>
        </p:sp>
        <p:sp>
          <p:nvSpPr>
            <p:cNvPr id="67" name="Rectangle 66">
              <a:extLst>
                <a:ext uri="{FF2B5EF4-FFF2-40B4-BE49-F238E27FC236}">
                  <a16:creationId xmlns:a16="http://schemas.microsoft.com/office/drawing/2014/main" id="{51D747B1-D5C6-2D46-9ACD-852737814D3F}"/>
                </a:ext>
              </a:extLst>
            </p:cNvPr>
            <p:cNvSpPr/>
            <p:nvPr/>
          </p:nvSpPr>
          <p:spPr>
            <a:xfrm>
              <a:off x="2191784" y="1269215"/>
              <a:ext cx="9537616" cy="49298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ln w="0"/>
                  <a:solidFill>
                    <a:sysClr val="windowText" lastClr="000000"/>
                  </a:solidFill>
                  <a:latin typeface="Amazon Ember" panose="020B0603020204020204" pitchFamily="34" charset="0"/>
                  <a:ea typeface="Amazon Ember" panose="020B0603020204020204" pitchFamily="34" charset="0"/>
                  <a:cs typeface="Amazon Ember" panose="020B0603020204020204" pitchFamily="34" charset="0"/>
                </a:rPr>
                <a:t>AWS Cloud</a:t>
              </a:r>
            </a:p>
          </p:txBody>
        </p:sp>
        <p:pic>
          <p:nvPicPr>
            <p:cNvPr id="6" name="Graphic 5">
              <a:extLst>
                <a:ext uri="{FF2B5EF4-FFF2-40B4-BE49-F238E27FC236}">
                  <a16:creationId xmlns:a16="http://schemas.microsoft.com/office/drawing/2014/main" id="{E6AE7E77-BB91-E340-916B-0EE2446A36E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99838" y="3812990"/>
              <a:ext cx="469900" cy="469900"/>
            </a:xfrm>
            <a:prstGeom prst="rect">
              <a:avLst/>
            </a:prstGeom>
          </p:spPr>
        </p:pic>
        <p:sp>
          <p:nvSpPr>
            <p:cNvPr id="7" name="TextBox 6">
              <a:extLst>
                <a:ext uri="{FF2B5EF4-FFF2-40B4-BE49-F238E27FC236}">
                  <a16:creationId xmlns:a16="http://schemas.microsoft.com/office/drawing/2014/main" id="{546CD2BD-3FEF-B643-A3FD-7320952A05C0}"/>
                </a:ext>
              </a:extLst>
            </p:cNvPr>
            <p:cNvSpPr txBox="1"/>
            <p:nvPr/>
          </p:nvSpPr>
          <p:spPr>
            <a:xfrm>
              <a:off x="3140481" y="4282890"/>
              <a:ext cx="988614"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MyAMI</a:t>
              </a:r>
            </a:p>
          </p:txBody>
        </p:sp>
        <p:cxnSp>
          <p:nvCxnSpPr>
            <p:cNvPr id="14" name="Straight Arrow Connector 13">
              <a:extLst>
                <a:ext uri="{FF2B5EF4-FFF2-40B4-BE49-F238E27FC236}">
                  <a16:creationId xmlns:a16="http://schemas.microsoft.com/office/drawing/2014/main" id="{F7B26E2C-1AC1-2243-8B64-5AE21A16B3BF}"/>
                </a:ext>
              </a:extLst>
            </p:cNvPr>
            <p:cNvCxnSpPr>
              <a:cxnSpLocks/>
              <a:stCxn id="6" idx="3"/>
              <a:endCxn id="20" idx="1"/>
            </p:cNvCxnSpPr>
            <p:nvPr/>
          </p:nvCxnSpPr>
          <p:spPr>
            <a:xfrm flipV="1">
              <a:off x="3869738" y="3398047"/>
              <a:ext cx="1862237" cy="649893"/>
            </a:xfrm>
            <a:prstGeom prst="bentConnector3">
              <a:avLst>
                <a:gd name="adj1" fmla="val 28337"/>
              </a:avLst>
            </a:prstGeom>
            <a:ln w="28575">
              <a:tailEnd type="triangle"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51313C9-D2FD-2D4D-A843-A745AE8B12F1}"/>
                </a:ext>
              </a:extLst>
            </p:cNvPr>
            <p:cNvSpPr txBox="1"/>
            <p:nvPr/>
          </p:nvSpPr>
          <p:spPr>
            <a:xfrm>
              <a:off x="4431823" y="2821751"/>
              <a:ext cx="1165705" cy="584775"/>
            </a:xfrm>
            <a:prstGeom prst="rect">
              <a:avLst/>
            </a:prstGeom>
            <a:noFill/>
          </p:spPr>
          <p:txBody>
            <a:bodyPr wrap="squar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Launch</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an instance</a:t>
              </a:r>
            </a:p>
          </p:txBody>
        </p:sp>
        <p:pic>
          <p:nvPicPr>
            <p:cNvPr id="17" name="Graphic 16">
              <a:extLst>
                <a:ext uri="{FF2B5EF4-FFF2-40B4-BE49-F238E27FC236}">
                  <a16:creationId xmlns:a16="http://schemas.microsoft.com/office/drawing/2014/main" id="{C0E2041F-B11A-234B-BA3D-D65768812DE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99838" y="2583191"/>
              <a:ext cx="469900" cy="469900"/>
            </a:xfrm>
            <a:prstGeom prst="rect">
              <a:avLst/>
            </a:prstGeom>
          </p:spPr>
        </p:pic>
        <p:sp>
          <p:nvSpPr>
            <p:cNvPr id="18" name="TextBox 17">
              <a:extLst>
                <a:ext uri="{FF2B5EF4-FFF2-40B4-BE49-F238E27FC236}">
                  <a16:creationId xmlns:a16="http://schemas.microsoft.com/office/drawing/2014/main" id="{AE2F8747-E903-EC4C-B6B8-B673998B1C4F}"/>
                </a:ext>
              </a:extLst>
            </p:cNvPr>
            <p:cNvSpPr txBox="1"/>
            <p:nvPr/>
          </p:nvSpPr>
          <p:spPr>
            <a:xfrm>
              <a:off x="3140481" y="3059493"/>
              <a:ext cx="98861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Starter</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pic>
          <p:nvPicPr>
            <p:cNvPr id="20" name="Graphic 19">
              <a:extLst>
                <a:ext uri="{FF2B5EF4-FFF2-40B4-BE49-F238E27FC236}">
                  <a16:creationId xmlns:a16="http://schemas.microsoft.com/office/drawing/2014/main" id="{B8C5075C-37A6-C24C-8551-71992CEDC07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31975" y="3163097"/>
              <a:ext cx="469900" cy="469900"/>
            </a:xfrm>
            <a:prstGeom prst="rect">
              <a:avLst/>
            </a:prstGeom>
          </p:spPr>
        </p:pic>
        <p:cxnSp>
          <p:nvCxnSpPr>
            <p:cNvPr id="22" name="Straight Arrow Connector 13">
              <a:extLst>
                <a:ext uri="{FF2B5EF4-FFF2-40B4-BE49-F238E27FC236}">
                  <a16:creationId xmlns:a16="http://schemas.microsoft.com/office/drawing/2014/main" id="{1A958301-1A86-5840-9CF9-E9D99C0F9FFE}"/>
                </a:ext>
              </a:extLst>
            </p:cNvPr>
            <p:cNvCxnSpPr>
              <a:cxnSpLocks/>
              <a:stCxn id="17" idx="3"/>
              <a:endCxn id="20" idx="1"/>
            </p:cNvCxnSpPr>
            <p:nvPr/>
          </p:nvCxnSpPr>
          <p:spPr>
            <a:xfrm>
              <a:off x="3869738" y="2818141"/>
              <a:ext cx="1862237" cy="579906"/>
            </a:xfrm>
            <a:prstGeom prst="bentConnector3">
              <a:avLst>
                <a:gd name="adj1" fmla="val 28337"/>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37" name="Graphic 36">
              <a:extLst>
                <a:ext uri="{FF2B5EF4-FFF2-40B4-BE49-F238E27FC236}">
                  <a16:creationId xmlns:a16="http://schemas.microsoft.com/office/drawing/2014/main" id="{E9AABAE5-8871-2C48-99DD-55DD8DDFD64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69342" y="3144912"/>
              <a:ext cx="469900" cy="469900"/>
            </a:xfrm>
            <a:prstGeom prst="rect">
              <a:avLst/>
            </a:prstGeom>
          </p:spPr>
        </p:pic>
        <p:cxnSp>
          <p:nvCxnSpPr>
            <p:cNvPr id="38" name="Straight Arrow Connector 13">
              <a:extLst>
                <a:ext uri="{FF2B5EF4-FFF2-40B4-BE49-F238E27FC236}">
                  <a16:creationId xmlns:a16="http://schemas.microsoft.com/office/drawing/2014/main" id="{E6855DF9-DF35-5C40-858D-919D692720DA}"/>
                </a:ext>
              </a:extLst>
            </p:cNvPr>
            <p:cNvCxnSpPr>
              <a:cxnSpLocks/>
              <a:stCxn id="20" idx="3"/>
            </p:cNvCxnSpPr>
            <p:nvPr/>
          </p:nvCxnSpPr>
          <p:spPr>
            <a:xfrm flipV="1">
              <a:off x="6201875" y="3381618"/>
              <a:ext cx="2367467"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A3E308F-39F9-6D4D-8228-D56FBEF84E84}"/>
                </a:ext>
              </a:extLst>
            </p:cNvPr>
            <p:cNvSpPr txBox="1"/>
            <p:nvPr/>
          </p:nvSpPr>
          <p:spPr>
            <a:xfrm>
              <a:off x="6203603" y="1841087"/>
              <a:ext cx="2377440" cy="1815882"/>
            </a:xfrm>
            <a:prstGeom prst="rect">
              <a:avLst/>
            </a:prstGeom>
            <a:noFill/>
          </p:spPr>
          <p:txBody>
            <a:bodyPr wrap="square" rtlCol="0">
              <a:spAutoFit/>
            </a:bodyPr>
            <a:lstStyle/>
            <a:p>
              <a:pPr algn="ct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Connect to the instance and manually modify it </a:t>
              </a:r>
              <a:r>
                <a:rPr lang="en-US" sz="1600" u="sng"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or</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run a script that modifies the instance (for example, upgrade installed software)</a:t>
              </a:r>
            </a:p>
          </p:txBody>
        </p:sp>
        <p:sp>
          <p:nvSpPr>
            <p:cNvPr id="45" name="TextBox 44">
              <a:extLst>
                <a:ext uri="{FF2B5EF4-FFF2-40B4-BE49-F238E27FC236}">
                  <a16:creationId xmlns:a16="http://schemas.microsoft.com/office/drawing/2014/main" id="{3CF16551-E1B3-054F-8484-89179D52A74B}"/>
                </a:ext>
              </a:extLst>
            </p:cNvPr>
            <p:cNvSpPr txBox="1"/>
            <p:nvPr/>
          </p:nvSpPr>
          <p:spPr>
            <a:xfrm>
              <a:off x="5358314" y="3612838"/>
              <a:ext cx="128016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Unmodified</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Instance</a:t>
              </a:r>
            </a:p>
          </p:txBody>
        </p:sp>
        <p:sp>
          <p:nvSpPr>
            <p:cNvPr id="46" name="TextBox 45">
              <a:extLst>
                <a:ext uri="{FF2B5EF4-FFF2-40B4-BE49-F238E27FC236}">
                  <a16:creationId xmlns:a16="http://schemas.microsoft.com/office/drawing/2014/main" id="{F3617422-825F-D34D-B660-F0B5BC25F4A6}"/>
                </a:ext>
              </a:extLst>
            </p:cNvPr>
            <p:cNvSpPr txBox="1"/>
            <p:nvPr/>
          </p:nvSpPr>
          <p:spPr>
            <a:xfrm>
              <a:off x="8309985" y="3577741"/>
              <a:ext cx="1005840" cy="830997"/>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Modified</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Instance</a:t>
              </a:r>
            </a:p>
          </p:txBody>
        </p:sp>
        <p:pic>
          <p:nvPicPr>
            <p:cNvPr id="50" name="Graphic 49">
              <a:extLst>
                <a:ext uri="{FF2B5EF4-FFF2-40B4-BE49-F238E27FC236}">
                  <a16:creationId xmlns:a16="http://schemas.microsoft.com/office/drawing/2014/main" id="{8AFE4C3B-5866-C545-B43F-2BD378AF9DF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73648" y="3144912"/>
              <a:ext cx="469900" cy="469900"/>
            </a:xfrm>
            <a:prstGeom prst="rect">
              <a:avLst/>
            </a:prstGeom>
          </p:spPr>
        </p:pic>
        <p:sp>
          <p:nvSpPr>
            <p:cNvPr id="51" name="TextBox 50">
              <a:extLst>
                <a:ext uri="{FF2B5EF4-FFF2-40B4-BE49-F238E27FC236}">
                  <a16:creationId xmlns:a16="http://schemas.microsoft.com/office/drawing/2014/main" id="{1307E494-C86F-E740-A679-EE24D341217B}"/>
                </a:ext>
              </a:extLst>
            </p:cNvPr>
            <p:cNvSpPr txBox="1"/>
            <p:nvPr/>
          </p:nvSpPr>
          <p:spPr>
            <a:xfrm>
              <a:off x="10214291" y="3639399"/>
              <a:ext cx="98861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New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cxnSp>
          <p:nvCxnSpPr>
            <p:cNvPr id="52" name="Straight Arrow Connector 13">
              <a:extLst>
                <a:ext uri="{FF2B5EF4-FFF2-40B4-BE49-F238E27FC236}">
                  <a16:creationId xmlns:a16="http://schemas.microsoft.com/office/drawing/2014/main" id="{3376D86C-A3CB-DA48-A834-E77377FF64DC}"/>
                </a:ext>
              </a:extLst>
            </p:cNvPr>
            <p:cNvCxnSpPr>
              <a:cxnSpLocks/>
              <a:endCxn id="50" idx="1"/>
            </p:cNvCxnSpPr>
            <p:nvPr/>
          </p:nvCxnSpPr>
          <p:spPr>
            <a:xfrm flipV="1">
              <a:off x="9023815" y="3379862"/>
              <a:ext cx="1449833" cy="0"/>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9E1AADD9-7230-9F49-8E07-6244F6F19C6E}"/>
                </a:ext>
              </a:extLst>
            </p:cNvPr>
            <p:cNvSpPr txBox="1"/>
            <p:nvPr/>
          </p:nvSpPr>
          <p:spPr>
            <a:xfrm>
              <a:off x="9130312" y="2776551"/>
              <a:ext cx="1252267" cy="584775"/>
            </a:xfrm>
            <a:prstGeom prst="rect">
              <a:avLst/>
            </a:prstGeom>
            <a:noFill/>
          </p:spPr>
          <p:txBody>
            <a:bodyPr wrap="non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Capture</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as </a:t>
              </a:r>
              <a:b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a new AMI</a:t>
              </a:r>
            </a:p>
          </p:txBody>
        </p:sp>
        <p:sp>
          <p:nvSpPr>
            <p:cNvPr id="55" name="Rectangle 54">
              <a:extLst>
                <a:ext uri="{FF2B5EF4-FFF2-40B4-BE49-F238E27FC236}">
                  <a16:creationId xmlns:a16="http://schemas.microsoft.com/office/drawing/2014/main" id="{C95115EA-2A94-3641-86E4-CF917D02A90C}"/>
                </a:ext>
              </a:extLst>
            </p:cNvPr>
            <p:cNvSpPr/>
            <p:nvPr/>
          </p:nvSpPr>
          <p:spPr>
            <a:xfrm>
              <a:off x="3202431" y="1691308"/>
              <a:ext cx="8365605" cy="2930136"/>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rgbClr val="36C2B4"/>
                  </a:solidFill>
                  <a:latin typeface="Amazon Ember" panose="020B0603020204020204" pitchFamily="34" charset="0"/>
                  <a:ea typeface="Amazon Ember" panose="020B0603020204020204" pitchFamily="34" charset="0"/>
                  <a:cs typeface="Amazon Ember" panose="020B0603020204020204" pitchFamily="34" charset="0"/>
                </a:rPr>
                <a:t>Region A</a:t>
              </a:r>
            </a:p>
          </p:txBody>
        </p:sp>
        <p:pic>
          <p:nvPicPr>
            <p:cNvPr id="56" name="Graphic 55">
              <a:extLst>
                <a:ext uri="{FF2B5EF4-FFF2-40B4-BE49-F238E27FC236}">
                  <a16:creationId xmlns:a16="http://schemas.microsoft.com/office/drawing/2014/main" id="{7A778276-C328-6849-AB28-A7EFF8D903F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02432" y="1691307"/>
              <a:ext cx="330200" cy="330200"/>
            </a:xfrm>
            <a:prstGeom prst="rect">
              <a:avLst/>
            </a:prstGeom>
          </p:spPr>
        </p:pic>
        <p:sp>
          <p:nvSpPr>
            <p:cNvPr id="57" name="Rectangle 56">
              <a:extLst>
                <a:ext uri="{FF2B5EF4-FFF2-40B4-BE49-F238E27FC236}">
                  <a16:creationId xmlns:a16="http://schemas.microsoft.com/office/drawing/2014/main" id="{7F4D006C-3B7F-4844-869D-42BF952CE9BF}"/>
                </a:ext>
              </a:extLst>
            </p:cNvPr>
            <p:cNvSpPr/>
            <p:nvPr/>
          </p:nvSpPr>
          <p:spPr>
            <a:xfrm>
              <a:off x="3202431" y="4819322"/>
              <a:ext cx="3511217" cy="1273911"/>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b="1" dirty="0">
                  <a:solidFill>
                    <a:srgbClr val="36C2B4"/>
                  </a:solidFill>
                  <a:latin typeface="Amazon Ember" panose="020B0603020204020204" pitchFamily="34" charset="0"/>
                  <a:ea typeface="Amazon Ember" panose="020B0603020204020204" pitchFamily="34" charset="0"/>
                  <a:cs typeface="Amazon Ember" panose="020B0603020204020204" pitchFamily="34" charset="0"/>
                </a:rPr>
                <a:t>Region B</a:t>
              </a:r>
            </a:p>
          </p:txBody>
        </p:sp>
        <p:pic>
          <p:nvPicPr>
            <p:cNvPr id="58" name="Graphic 57">
              <a:extLst>
                <a:ext uri="{FF2B5EF4-FFF2-40B4-BE49-F238E27FC236}">
                  <a16:creationId xmlns:a16="http://schemas.microsoft.com/office/drawing/2014/main" id="{79714A2B-DFDC-434A-87CA-70DDFAFD2EA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02432" y="4819322"/>
              <a:ext cx="330200" cy="330200"/>
            </a:xfrm>
            <a:prstGeom prst="rect">
              <a:avLst/>
            </a:prstGeom>
          </p:spPr>
        </p:pic>
        <p:pic>
          <p:nvPicPr>
            <p:cNvPr id="59" name="Graphic 58">
              <a:extLst>
                <a:ext uri="{FF2B5EF4-FFF2-40B4-BE49-F238E27FC236}">
                  <a16:creationId xmlns:a16="http://schemas.microsoft.com/office/drawing/2014/main" id="{8EC9AC57-91FD-2E44-BB0A-7DC3E0123A7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17174" y="5024449"/>
              <a:ext cx="469900" cy="469900"/>
            </a:xfrm>
            <a:prstGeom prst="rect">
              <a:avLst/>
            </a:prstGeom>
          </p:spPr>
        </p:pic>
        <p:sp>
          <p:nvSpPr>
            <p:cNvPr id="60" name="TextBox 59">
              <a:extLst>
                <a:ext uri="{FF2B5EF4-FFF2-40B4-BE49-F238E27FC236}">
                  <a16:creationId xmlns:a16="http://schemas.microsoft.com/office/drawing/2014/main" id="{5BE6BC40-4095-F649-B10D-93927B358556}"/>
                </a:ext>
              </a:extLst>
            </p:cNvPr>
            <p:cNvSpPr txBox="1"/>
            <p:nvPr/>
          </p:nvSpPr>
          <p:spPr>
            <a:xfrm>
              <a:off x="4757817" y="5508458"/>
              <a:ext cx="974158"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New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AMI</a:t>
              </a:r>
            </a:p>
          </p:txBody>
        </p:sp>
        <p:cxnSp>
          <p:nvCxnSpPr>
            <p:cNvPr id="61" name="Straight Arrow Connector 13">
              <a:extLst>
                <a:ext uri="{FF2B5EF4-FFF2-40B4-BE49-F238E27FC236}">
                  <a16:creationId xmlns:a16="http://schemas.microsoft.com/office/drawing/2014/main" id="{284DF9A9-C7C8-A54E-B8E6-D9032D010158}"/>
                </a:ext>
              </a:extLst>
            </p:cNvPr>
            <p:cNvCxnSpPr>
              <a:cxnSpLocks/>
              <a:stCxn id="50" idx="3"/>
              <a:endCxn id="59" idx="3"/>
            </p:cNvCxnSpPr>
            <p:nvPr/>
          </p:nvCxnSpPr>
          <p:spPr>
            <a:xfrm flipH="1">
              <a:off x="5487074" y="3379862"/>
              <a:ext cx="5456474" cy="1879537"/>
            </a:xfrm>
            <a:prstGeom prst="bentConnector3">
              <a:avLst>
                <a:gd name="adj1" fmla="val -419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25FADE03-1358-7D40-BF57-A8E8C7F73335}"/>
                </a:ext>
              </a:extLst>
            </p:cNvPr>
            <p:cNvSpPr txBox="1"/>
            <p:nvPr/>
          </p:nvSpPr>
          <p:spPr>
            <a:xfrm>
              <a:off x="7213464" y="4934405"/>
              <a:ext cx="3486852" cy="584775"/>
            </a:xfrm>
            <a:prstGeom prst="rect">
              <a:avLst/>
            </a:prstGeom>
            <a:noFill/>
          </p:spPr>
          <p:txBody>
            <a:bodyPr wrap="none" rtlCol="0">
              <a:spAutoFit/>
            </a:bodyPr>
            <a:lstStyle/>
            <a:p>
              <a:pPr algn="ctr"/>
              <a:r>
                <a:rPr lang="en-US" sz="1600" b="1"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Copy</a:t>
              </a: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 the AMI to any other Regions </a:t>
              </a:r>
              <a:b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rgbClr val="2D75E7"/>
                  </a:solidFill>
                  <a:latin typeface="Amazon Ember" panose="020B0603020204020204" pitchFamily="34" charset="0"/>
                  <a:ea typeface="Amazon Ember" panose="020B0603020204020204" pitchFamily="34" charset="0"/>
                  <a:cs typeface="Amazon Ember" panose="020B0603020204020204" pitchFamily="34" charset="0"/>
                </a:rPr>
                <a:t>where you want to use it</a:t>
              </a:r>
            </a:p>
          </p:txBody>
        </p:sp>
        <p:sp>
          <p:nvSpPr>
            <p:cNvPr id="69" name="Oval 68">
              <a:extLst>
                <a:ext uri="{FF2B5EF4-FFF2-40B4-BE49-F238E27FC236}">
                  <a16:creationId xmlns:a16="http://schemas.microsoft.com/office/drawing/2014/main" id="{B9EED663-746E-5449-9A6F-3E851AFCB1C5}"/>
                </a:ext>
              </a:extLst>
            </p:cNvPr>
            <p:cNvSpPr/>
            <p:nvPr/>
          </p:nvSpPr>
          <p:spPr>
            <a:xfrm>
              <a:off x="4919247"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1</a:t>
              </a:r>
            </a:p>
          </p:txBody>
        </p:sp>
        <p:sp>
          <p:nvSpPr>
            <p:cNvPr id="70" name="Oval 69">
              <a:extLst>
                <a:ext uri="{FF2B5EF4-FFF2-40B4-BE49-F238E27FC236}">
                  <a16:creationId xmlns:a16="http://schemas.microsoft.com/office/drawing/2014/main" id="{A42C9383-7DF3-A947-8283-C4757DD6BABD}"/>
                </a:ext>
              </a:extLst>
            </p:cNvPr>
            <p:cNvSpPr/>
            <p:nvPr/>
          </p:nvSpPr>
          <p:spPr>
            <a:xfrm>
              <a:off x="7210183"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71" name="Oval 70">
              <a:extLst>
                <a:ext uri="{FF2B5EF4-FFF2-40B4-BE49-F238E27FC236}">
                  <a16:creationId xmlns:a16="http://schemas.microsoft.com/office/drawing/2014/main" id="{AB3A427B-9515-8E4F-BD5D-2FD3356AAF93}"/>
                </a:ext>
              </a:extLst>
            </p:cNvPr>
            <p:cNvSpPr/>
            <p:nvPr/>
          </p:nvSpPr>
          <p:spPr>
            <a:xfrm>
              <a:off x="9645456" y="3454996"/>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3</a:t>
              </a:r>
            </a:p>
          </p:txBody>
        </p:sp>
        <p:sp>
          <p:nvSpPr>
            <p:cNvPr id="72" name="Oval 71">
              <a:extLst>
                <a:ext uri="{FF2B5EF4-FFF2-40B4-BE49-F238E27FC236}">
                  <a16:creationId xmlns:a16="http://schemas.microsoft.com/office/drawing/2014/main" id="{AC64F6CB-8F0A-7847-B06C-26650879FBDD}"/>
                </a:ext>
              </a:extLst>
            </p:cNvPr>
            <p:cNvSpPr/>
            <p:nvPr/>
          </p:nvSpPr>
          <p:spPr>
            <a:xfrm>
              <a:off x="8665164" y="5443049"/>
              <a:ext cx="278255" cy="276564"/>
            </a:xfrm>
            <a:prstGeom prst="ellipse">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4</a:t>
              </a:r>
            </a:p>
          </p:txBody>
        </p:sp>
        <p:sp>
          <p:nvSpPr>
            <p:cNvPr id="73" name="Content Placeholder 8">
              <a:extLst>
                <a:ext uri="{FF2B5EF4-FFF2-40B4-BE49-F238E27FC236}">
                  <a16:creationId xmlns:a16="http://schemas.microsoft.com/office/drawing/2014/main" id="{92E33B87-5A51-5A4F-8872-88D125B34368}"/>
                </a:ext>
              </a:extLst>
            </p:cNvPr>
            <p:cNvSpPr txBox="1">
              <a:spLocks/>
            </p:cNvSpPr>
            <p:nvPr/>
          </p:nvSpPr>
          <p:spPr>
            <a:xfrm>
              <a:off x="462600" y="1531079"/>
              <a:ext cx="1527048" cy="432397"/>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AMI</a:t>
              </a:r>
              <a:r>
                <a:rPr lang="en-US" sz="20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 </a:t>
              </a: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details</a:t>
              </a:r>
              <a:endParaRPr lang="en-US" sz="18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p:txBody>
        </p:sp>
      </p:grpSp>
    </p:spTree>
    <p:custDataLst>
      <p:tags r:id="rId1"/>
    </p:custDataLst>
    <p:extLst>
      <p:ext uri="{BB962C8B-B14F-4D97-AF65-F5344CB8AC3E}">
        <p14:creationId xmlns:p14="http://schemas.microsoft.com/office/powerpoint/2010/main" val="35778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15</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2. Select an instance type</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3918856" y="1143000"/>
            <a:ext cx="8034793" cy="5291750"/>
          </a:xfrm>
        </p:spPr>
        <p:txBody>
          <a:bodyPr>
            <a:normAutofit lnSpcReduction="10000"/>
          </a:bodyPr>
          <a:lstStyle/>
          <a:p>
            <a:r>
              <a:rPr lang="en-US" sz="2000" dirty="0"/>
              <a:t>Consider your use case</a:t>
            </a:r>
          </a:p>
          <a:p>
            <a:pPr lvl="1"/>
            <a:r>
              <a:rPr lang="en-US" sz="1600" dirty="0"/>
              <a:t>How will the EC2 instance you create be used?</a:t>
            </a:r>
          </a:p>
          <a:p>
            <a:r>
              <a:rPr lang="en-US" sz="2000" dirty="0"/>
              <a:t>The </a:t>
            </a:r>
            <a:r>
              <a:rPr lang="en-US" sz="2000" b="1" dirty="0">
                <a:solidFill>
                  <a:srgbClr val="504BAB"/>
                </a:solidFill>
              </a:rPr>
              <a:t>instance type </a:t>
            </a:r>
            <a:r>
              <a:rPr lang="en-US" sz="2000" dirty="0"/>
              <a:t>that you choose determines – </a:t>
            </a:r>
          </a:p>
          <a:p>
            <a:pPr lvl="1"/>
            <a:r>
              <a:rPr lang="en-US" sz="1600" dirty="0">
                <a:solidFill>
                  <a:schemeClr val="accent6"/>
                </a:solidFill>
              </a:rPr>
              <a:t>Memory</a:t>
            </a:r>
            <a:r>
              <a:rPr lang="en-US" sz="1600" dirty="0"/>
              <a:t> (RAM)</a:t>
            </a:r>
          </a:p>
          <a:p>
            <a:pPr lvl="1"/>
            <a:r>
              <a:rPr lang="en-US" sz="1600" dirty="0">
                <a:solidFill>
                  <a:schemeClr val="accent6"/>
                </a:solidFill>
              </a:rPr>
              <a:t>Processing power</a:t>
            </a:r>
            <a:r>
              <a:rPr lang="en-US" sz="1600" dirty="0"/>
              <a:t> (CPU)</a:t>
            </a:r>
          </a:p>
          <a:p>
            <a:pPr lvl="1"/>
            <a:r>
              <a:rPr lang="en-US" sz="1600" dirty="0">
                <a:solidFill>
                  <a:schemeClr val="accent6"/>
                </a:solidFill>
              </a:rPr>
              <a:t>Disk space and disk type</a:t>
            </a:r>
            <a:r>
              <a:rPr lang="en-US" sz="1600" dirty="0"/>
              <a:t> (Storage)</a:t>
            </a:r>
          </a:p>
          <a:p>
            <a:pPr lvl="1"/>
            <a:r>
              <a:rPr lang="en-US" sz="1600" dirty="0">
                <a:solidFill>
                  <a:schemeClr val="accent6"/>
                </a:solidFill>
              </a:rPr>
              <a:t>Network performance</a:t>
            </a:r>
          </a:p>
          <a:p>
            <a:r>
              <a:rPr lang="en-US" sz="2000" dirty="0"/>
              <a:t>Instance type categories – </a:t>
            </a:r>
          </a:p>
          <a:p>
            <a:pPr lvl="1"/>
            <a:r>
              <a:rPr lang="en-US" sz="1600" dirty="0"/>
              <a:t>General purpose</a:t>
            </a:r>
          </a:p>
          <a:p>
            <a:pPr lvl="1"/>
            <a:r>
              <a:rPr lang="en-US" sz="1600" dirty="0"/>
              <a:t>Compute optimized</a:t>
            </a:r>
          </a:p>
          <a:p>
            <a:pPr lvl="1"/>
            <a:r>
              <a:rPr lang="en-US" sz="1600" dirty="0"/>
              <a:t>Memory optimized</a:t>
            </a:r>
          </a:p>
          <a:p>
            <a:pPr lvl="1"/>
            <a:r>
              <a:rPr lang="en-US" sz="1600" dirty="0"/>
              <a:t>Storage optimized</a:t>
            </a:r>
          </a:p>
          <a:p>
            <a:pPr lvl="1"/>
            <a:r>
              <a:rPr lang="en-US" sz="1600" dirty="0"/>
              <a:t>Accelerated computing</a:t>
            </a:r>
          </a:p>
          <a:p>
            <a:r>
              <a:rPr lang="en-US" sz="2000" dirty="0"/>
              <a:t>Instance types offer </a:t>
            </a:r>
            <a:r>
              <a:rPr lang="en-US" sz="2000" i="1" dirty="0"/>
              <a:t>family</a:t>
            </a:r>
            <a:r>
              <a:rPr lang="en-US" sz="2000" dirty="0"/>
              <a:t>, </a:t>
            </a:r>
            <a:r>
              <a:rPr lang="en-US" sz="2000" i="1" dirty="0"/>
              <a:t>generation</a:t>
            </a:r>
            <a:r>
              <a:rPr lang="en-US" sz="2000" dirty="0"/>
              <a:t>, and </a:t>
            </a:r>
            <a:r>
              <a:rPr lang="en-US" sz="2000" i="1" dirty="0"/>
              <a:t>size</a:t>
            </a:r>
          </a:p>
        </p:txBody>
      </p:sp>
      <p:pic>
        <p:nvPicPr>
          <p:cNvPr id="15" name="Graphic 14">
            <a:extLst>
              <a:ext uri="{FF2B5EF4-FFF2-40B4-BE49-F238E27FC236}">
                <a16:creationId xmlns:a16="http://schemas.microsoft.com/office/drawing/2014/main" id="{A1216070-B368-BA4C-A72C-55E738E1877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49655" y="2603810"/>
            <a:ext cx="914400" cy="914400"/>
          </a:xfrm>
          <a:prstGeom prst="rect">
            <a:avLst/>
          </a:prstGeom>
        </p:spPr>
      </p:pic>
      <p:pic>
        <p:nvPicPr>
          <p:cNvPr id="17" name="Graphic 16">
            <a:extLst>
              <a:ext uri="{FF2B5EF4-FFF2-40B4-BE49-F238E27FC236}">
                <a16:creationId xmlns:a16="http://schemas.microsoft.com/office/drawing/2014/main" id="{DEDE0F93-DD0F-B947-9132-039B5E2A3BD5}"/>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58660" y="2603810"/>
            <a:ext cx="914400" cy="914400"/>
          </a:xfrm>
          <a:prstGeom prst="rect">
            <a:avLst/>
          </a:prstGeom>
        </p:spPr>
      </p:pic>
      <p:sp>
        <p:nvSpPr>
          <p:cNvPr id="18" name="Content Placeholder 8">
            <a:extLst>
              <a:ext uri="{FF2B5EF4-FFF2-40B4-BE49-F238E27FC236}">
                <a16:creationId xmlns:a16="http://schemas.microsoft.com/office/drawing/2014/main" id="{67AD47E3-753C-6141-A00D-32EA26A67572}"/>
              </a:ext>
              <a:ext uri="{C183D7F6-B498-43B3-948B-1728B52AA6E4}">
                <adec:decorative xmlns:adec="http://schemas.microsoft.com/office/drawing/2017/decorative" val="1"/>
              </a:ext>
            </a:extLst>
          </p:cNvPr>
          <p:cNvSpPr txBox="1">
            <a:spLocks/>
          </p:cNvSpPr>
          <p:nvPr/>
        </p:nvSpPr>
        <p:spPr>
          <a:xfrm>
            <a:off x="419100" y="1528176"/>
            <a:ext cx="319597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rPr>
              <a:t>Choices made using the</a:t>
            </a:r>
            <a:br>
              <a:rPr lang="en-US" sz="2000" b="1" dirty="0">
                <a:solidFill>
                  <a:srgbClr val="504BAB"/>
                </a:solidFill>
              </a:rPr>
            </a:br>
            <a:r>
              <a:rPr lang="en-US" sz="2000" b="1" dirty="0">
                <a:solidFill>
                  <a:srgbClr val="504BAB"/>
                </a:solidFill>
              </a:rPr>
              <a:t>Launch Instance Wizard:</a:t>
            </a:r>
            <a:br>
              <a:rPr lang="en-US" sz="2400" b="1" dirty="0">
                <a:solidFill>
                  <a:srgbClr val="504BAB"/>
                </a:solidFill>
              </a:rPr>
            </a:br>
            <a:endParaRPr lang="en-US" sz="2000" dirty="0">
              <a:solidFill>
                <a:srgbClr val="504BAB"/>
              </a:solidFill>
            </a:endParaRPr>
          </a:p>
          <a:p>
            <a:pPr marL="514350" indent="-514350">
              <a:lnSpc>
                <a:spcPct val="100000"/>
              </a:lnSpc>
              <a:spcBef>
                <a:spcPts val="400"/>
              </a:spcBef>
              <a:buFont typeface="+mj-lt"/>
              <a:buAutoNum type="arabicPeriod"/>
            </a:pPr>
            <a:r>
              <a:rPr lang="en-US" sz="1600" b="1" dirty="0"/>
              <a:t>AMI</a:t>
            </a:r>
          </a:p>
          <a:p>
            <a:pPr marL="514350" indent="-514350">
              <a:lnSpc>
                <a:spcPct val="100000"/>
              </a:lnSpc>
              <a:spcBef>
                <a:spcPts val="400"/>
              </a:spcBef>
              <a:buFont typeface="+mj-lt"/>
              <a:buAutoNum type="arabicPeriod"/>
            </a:pPr>
            <a:r>
              <a:rPr lang="en-US" sz="1600" b="1" dirty="0">
                <a:solidFill>
                  <a:srgbClr val="C9208A"/>
                </a:solidFill>
              </a:rPr>
              <a:t>Instance Type</a:t>
            </a:r>
          </a:p>
          <a:p>
            <a:pPr marL="514350" indent="-514350">
              <a:lnSpc>
                <a:spcPct val="100000"/>
              </a:lnSpc>
              <a:spcBef>
                <a:spcPts val="400"/>
              </a:spcBef>
              <a:buFont typeface="+mj-lt"/>
              <a:buAutoNum type="arabicPeriod"/>
            </a:pPr>
            <a:r>
              <a:rPr lang="en-US" sz="1600" b="1" dirty="0"/>
              <a:t>Network settings</a:t>
            </a:r>
          </a:p>
          <a:p>
            <a:pPr marL="514350" indent="-514350">
              <a:lnSpc>
                <a:spcPct val="100000"/>
              </a:lnSpc>
              <a:spcBef>
                <a:spcPts val="400"/>
              </a:spcBef>
              <a:buFont typeface="+mj-lt"/>
              <a:buAutoNum type="arabicPeriod"/>
            </a:pPr>
            <a:r>
              <a:rPr lang="en-US" sz="1600" b="1" dirty="0"/>
              <a:t>IAM role</a:t>
            </a:r>
          </a:p>
          <a:p>
            <a:pPr marL="514350" indent="-514350">
              <a:lnSpc>
                <a:spcPct val="100000"/>
              </a:lnSpc>
              <a:spcBef>
                <a:spcPts val="400"/>
              </a:spcBef>
              <a:buFont typeface="+mj-lt"/>
              <a:buAutoNum type="arabicPeriod"/>
            </a:pPr>
            <a:r>
              <a:rPr lang="en-US" sz="1600" b="1" dirty="0"/>
              <a:t>User data</a:t>
            </a:r>
          </a:p>
          <a:p>
            <a:pPr marL="514350" indent="-514350">
              <a:lnSpc>
                <a:spcPct val="100000"/>
              </a:lnSpc>
              <a:spcBef>
                <a:spcPts val="400"/>
              </a:spcBef>
              <a:buFont typeface="+mj-lt"/>
              <a:buAutoNum type="arabicPeriod"/>
            </a:pPr>
            <a:r>
              <a:rPr lang="en-US" sz="1600" b="1" dirty="0"/>
              <a:t>Storage options</a:t>
            </a:r>
          </a:p>
          <a:p>
            <a:pPr marL="514350" indent="-514350">
              <a:lnSpc>
                <a:spcPct val="100000"/>
              </a:lnSpc>
              <a:spcBef>
                <a:spcPts val="400"/>
              </a:spcBef>
              <a:buFont typeface="+mj-lt"/>
              <a:buAutoNum type="arabicPeriod"/>
            </a:pPr>
            <a:r>
              <a:rPr lang="en-US" sz="1600" b="1" dirty="0"/>
              <a:t>Tags</a:t>
            </a:r>
          </a:p>
          <a:p>
            <a:pPr marL="514350" indent="-514350">
              <a:lnSpc>
                <a:spcPct val="100000"/>
              </a:lnSpc>
              <a:spcBef>
                <a:spcPts val="400"/>
              </a:spcBef>
              <a:buFont typeface="+mj-lt"/>
              <a:buAutoNum type="arabicPeriod"/>
            </a:pPr>
            <a:r>
              <a:rPr lang="en-US" sz="1600" b="1" dirty="0"/>
              <a:t>Security group</a:t>
            </a:r>
          </a:p>
          <a:p>
            <a:pPr marL="514350" indent="-514350">
              <a:lnSpc>
                <a:spcPct val="100000"/>
              </a:lnSpc>
              <a:spcBef>
                <a:spcPts val="400"/>
              </a:spcBef>
              <a:buFont typeface="+mj-lt"/>
              <a:buAutoNum type="arabicPeriod"/>
            </a:pPr>
            <a:r>
              <a:rPr lang="en-US" sz="1600" b="1" dirty="0"/>
              <a:t>Key pair</a:t>
            </a:r>
            <a:endParaRPr lang="en-US" sz="1800" b="1" dirty="0"/>
          </a:p>
        </p:txBody>
      </p:sp>
    </p:spTree>
    <p:custDataLst>
      <p:tags r:id="rId1"/>
    </p:custDataLst>
    <p:extLst>
      <p:ext uri="{BB962C8B-B14F-4D97-AF65-F5344CB8AC3E}">
        <p14:creationId xmlns:p14="http://schemas.microsoft.com/office/powerpoint/2010/main" val="1291896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CA40E56-277C-134B-A3D6-A75A2EACA733}"/>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16</a:t>
            </a:fld>
            <a:endParaRPr lang="en-US" dirty="0"/>
          </a:p>
        </p:txBody>
      </p:sp>
      <p:sp>
        <p:nvSpPr>
          <p:cNvPr id="2" name="Title 1">
            <a:extLst>
              <a:ext uri="{FF2B5EF4-FFF2-40B4-BE49-F238E27FC236}">
                <a16:creationId xmlns:a16="http://schemas.microsoft.com/office/drawing/2014/main" id="{12333780-451D-624F-B22F-AC4418A3F4D9}"/>
              </a:ext>
            </a:extLst>
          </p:cNvPr>
          <p:cNvSpPr>
            <a:spLocks noGrp="1"/>
          </p:cNvSpPr>
          <p:nvPr>
            <p:ph type="title"/>
          </p:nvPr>
        </p:nvSpPr>
        <p:spPr/>
        <p:txBody>
          <a:bodyPr/>
          <a:lstStyle/>
          <a:p>
            <a:r>
              <a:rPr lang="en-US" dirty="0"/>
              <a:t>EC2 instance type naming and sizes </a:t>
            </a:r>
          </a:p>
        </p:txBody>
      </p:sp>
      <p:sp>
        <p:nvSpPr>
          <p:cNvPr id="3" name="Content Placeholder 2">
            <a:extLst>
              <a:ext uri="{FF2B5EF4-FFF2-40B4-BE49-F238E27FC236}">
                <a16:creationId xmlns:a16="http://schemas.microsoft.com/office/drawing/2014/main" id="{908AB337-B548-BB43-B1A9-C6D782A07A67}"/>
              </a:ext>
            </a:extLst>
          </p:cNvPr>
          <p:cNvSpPr>
            <a:spLocks noGrp="1"/>
          </p:cNvSpPr>
          <p:nvPr>
            <p:ph sz="quarter" idx="21"/>
          </p:nvPr>
        </p:nvSpPr>
        <p:spPr>
          <a:xfrm>
            <a:off x="365760" y="2054284"/>
            <a:ext cx="11587890" cy="4380466"/>
          </a:xfrm>
        </p:spPr>
        <p:txBody>
          <a:bodyPr/>
          <a:lstStyle/>
          <a:p>
            <a:pPr marL="0" indent="0">
              <a:buNone/>
            </a:pPr>
            <a:r>
              <a:rPr lang="en-US" dirty="0"/>
              <a:t>Instance type naming</a:t>
            </a:r>
          </a:p>
          <a:p>
            <a:r>
              <a:rPr lang="en-US" sz="2400" dirty="0"/>
              <a:t>Example: </a:t>
            </a:r>
            <a:r>
              <a:rPr lang="en-US" sz="2400" b="1" dirty="0">
                <a:solidFill>
                  <a:srgbClr val="504BAB"/>
                </a:solidFill>
              </a:rPr>
              <a:t>t3.large</a:t>
            </a:r>
          </a:p>
          <a:p>
            <a:pPr lvl="1"/>
            <a:r>
              <a:rPr lang="en-US" sz="2000" dirty="0">
                <a:solidFill>
                  <a:schemeClr val="accent6"/>
                </a:solidFill>
              </a:rPr>
              <a:t>T</a:t>
            </a:r>
            <a:r>
              <a:rPr lang="en-US" sz="2000" dirty="0"/>
              <a:t> is the family name</a:t>
            </a:r>
          </a:p>
          <a:p>
            <a:pPr lvl="1"/>
            <a:r>
              <a:rPr lang="en-US" sz="2000" dirty="0">
                <a:solidFill>
                  <a:schemeClr val="accent6"/>
                </a:solidFill>
              </a:rPr>
              <a:t>3</a:t>
            </a:r>
            <a:r>
              <a:rPr lang="en-US" sz="2000" dirty="0"/>
              <a:t> is the generation number</a:t>
            </a:r>
          </a:p>
          <a:p>
            <a:pPr lvl="1"/>
            <a:r>
              <a:rPr lang="en-US" sz="2000" dirty="0">
                <a:solidFill>
                  <a:schemeClr val="accent6"/>
                </a:solidFill>
              </a:rPr>
              <a:t>Large</a:t>
            </a:r>
            <a:r>
              <a:rPr lang="en-US" sz="2000" dirty="0"/>
              <a:t> is the size</a:t>
            </a:r>
          </a:p>
          <a:p>
            <a:endParaRPr lang="en-US" dirty="0"/>
          </a:p>
        </p:txBody>
      </p:sp>
      <p:sp>
        <p:nvSpPr>
          <p:cNvPr id="4" name="TextBox 3">
            <a:extLst>
              <a:ext uri="{FF2B5EF4-FFF2-40B4-BE49-F238E27FC236}">
                <a16:creationId xmlns:a16="http://schemas.microsoft.com/office/drawing/2014/main" id="{7DC627F5-41E0-F94E-BAA4-F82713795B51}"/>
              </a:ext>
            </a:extLst>
          </p:cNvPr>
          <p:cNvSpPr txBox="1"/>
          <p:nvPr/>
        </p:nvSpPr>
        <p:spPr>
          <a:xfrm>
            <a:off x="5900736" y="1511464"/>
            <a:ext cx="3472425" cy="461665"/>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Example instance sizes</a:t>
            </a:r>
          </a:p>
        </p:txBody>
      </p:sp>
      <p:graphicFrame>
        <p:nvGraphicFramePr>
          <p:cNvPr id="15" name="Table 14" descr="Table showing vCPU, memory, and storage details for the t3 family of instance types. t3.nano is the smallest, with 2 vCPU, 0.5GB memory. t3.2xlarge is the largest, with 8 vCPU and 32GB memory. All instance types shown are EBS-only storage type.">
            <a:extLst>
              <a:ext uri="{FF2B5EF4-FFF2-40B4-BE49-F238E27FC236}">
                <a16:creationId xmlns:a16="http://schemas.microsoft.com/office/drawing/2014/main" id="{85D68B97-BD85-BD42-AAF4-5E43C9CC299D}"/>
              </a:ext>
            </a:extLst>
          </p:cNvPr>
          <p:cNvGraphicFramePr>
            <a:graphicFrameLocks noGrp="1"/>
          </p:cNvGraphicFramePr>
          <p:nvPr>
            <p:extLst>
              <p:ext uri="{D42A27DB-BD31-4B8C-83A1-F6EECF244321}">
                <p14:modId xmlns:p14="http://schemas.microsoft.com/office/powerpoint/2010/main" val="234642776"/>
              </p:ext>
            </p:extLst>
          </p:nvPr>
        </p:nvGraphicFramePr>
        <p:xfrm>
          <a:off x="6007100" y="2006594"/>
          <a:ext cx="5172940" cy="4380466"/>
        </p:xfrm>
        <a:graphic>
          <a:graphicData uri="http://schemas.openxmlformats.org/drawingml/2006/table">
            <a:tbl>
              <a:tblPr firstRow="1"/>
              <a:tblGrid>
                <a:gridCol w="1261790">
                  <a:extLst>
                    <a:ext uri="{9D8B030D-6E8A-4147-A177-3AD203B41FA5}">
                      <a16:colId xmlns:a16="http://schemas.microsoft.com/office/drawing/2014/main" val="128153120"/>
                    </a:ext>
                  </a:extLst>
                </a:gridCol>
                <a:gridCol w="630861">
                  <a:extLst>
                    <a:ext uri="{9D8B030D-6E8A-4147-A177-3AD203B41FA5}">
                      <a16:colId xmlns:a16="http://schemas.microsoft.com/office/drawing/2014/main" val="1961907996"/>
                    </a:ext>
                  </a:extLst>
                </a:gridCol>
                <a:gridCol w="1345436">
                  <a:extLst>
                    <a:ext uri="{9D8B030D-6E8A-4147-A177-3AD203B41FA5}">
                      <a16:colId xmlns:a16="http://schemas.microsoft.com/office/drawing/2014/main" val="2912205042"/>
                    </a:ext>
                  </a:extLst>
                </a:gridCol>
                <a:gridCol w="1934853">
                  <a:extLst>
                    <a:ext uri="{9D8B030D-6E8A-4147-A177-3AD203B41FA5}">
                      <a16:colId xmlns:a16="http://schemas.microsoft.com/office/drawing/2014/main" val="1790498054"/>
                    </a:ext>
                  </a:extLst>
                </a:gridCol>
              </a:tblGrid>
              <a:tr h="509526">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Instance Name</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vCPU</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Memory (GB)</a:t>
                      </a:r>
                    </a:p>
                  </a:txBody>
                  <a:tcPr marL="25487" marR="25487" marT="25487" marB="25487" anchor="ctr">
                    <a:lnL>
                      <a:noFill/>
                    </a:lnL>
                    <a:lnR>
                      <a:noFill/>
                    </a:lnR>
                    <a:lnT>
                      <a:noFill/>
                    </a:lnT>
                    <a:lnB>
                      <a:noFill/>
                    </a:lnB>
                  </a:tcPr>
                </a:tc>
                <a:tc>
                  <a:txBody>
                    <a:bodyPr/>
                    <a:lstStyle/>
                    <a:p>
                      <a:pPr algn="ctr"/>
                      <a:r>
                        <a:rPr lang="en-US" sz="1600" b="1" dirty="0">
                          <a:effectLst/>
                          <a:latin typeface="Amazon Ember" panose="020B0603020204020204" pitchFamily="34" charset="0"/>
                          <a:ea typeface="Amazon Ember" panose="020B0603020204020204" pitchFamily="34" charset="0"/>
                          <a:cs typeface="Amazon Ember" panose="020B0603020204020204" pitchFamily="34" charset="0"/>
                        </a:rPr>
                        <a:t> Storage</a:t>
                      </a:r>
                    </a:p>
                  </a:txBody>
                  <a:tcPr marL="25487" marR="25487" marT="25487" marB="25487" anchor="ctr">
                    <a:lnL>
                      <a:noFill/>
                    </a:lnL>
                    <a:lnR>
                      <a:noFill/>
                    </a:lnR>
                    <a:lnT>
                      <a:noFill/>
                    </a:lnT>
                    <a:lnB>
                      <a:noFill/>
                    </a:lnB>
                  </a:tcPr>
                </a:tc>
                <a:extLst>
                  <a:ext uri="{0D108BD9-81ED-4DB2-BD59-A6C34878D82A}">
                    <a16:rowId xmlns:a16="http://schemas.microsoft.com/office/drawing/2014/main" val="1364619955"/>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t3.nano</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0.5</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83531971"/>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t3.micro</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142843272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t3.small</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1520705167"/>
                  </a:ext>
                </a:extLst>
              </a:tr>
              <a:tr h="60123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t3.medium</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br>
                        <a:rPr lang="en-US" sz="1600" dirty="0">
                          <a:effectLst/>
                          <a:latin typeface="Amazon Ember" panose="020B0603020204020204" pitchFamily="34" charset="0"/>
                          <a:ea typeface="Amazon Ember" panose="020B0603020204020204" pitchFamily="34" charset="0"/>
                          <a:cs typeface="Amazon Ember" panose="020B0603020204020204" pitchFamily="34" charset="0"/>
                        </a:rPr>
                      </a:br>
                      <a:endParaRPr lang="en-US" sz="1600" dirty="0">
                        <a:effectLst/>
                        <a:latin typeface="Amazon Ember" panose="020B0603020204020204" pitchFamily="34" charset="0"/>
                        <a:ea typeface="Amazon Ember" panose="020B0603020204020204" pitchFamily="34" charset="0"/>
                        <a:cs typeface="Amazon Ember" panose="020B0603020204020204" pitchFamily="34" charset="0"/>
                      </a:endParaRPr>
                    </a:p>
                  </a:txBody>
                  <a:tcPr marL="25487" marR="25487" marT="25487" marB="27432">
                    <a:lnL>
                      <a:noFill/>
                    </a:lnL>
                    <a:lnR>
                      <a:noFill/>
                    </a:lnR>
                    <a:lnT>
                      <a:noFill/>
                    </a:lnT>
                    <a:lnB>
                      <a:noFill/>
                    </a:lnB>
                  </a:tcPr>
                </a:tc>
                <a:extLst>
                  <a:ext uri="{0D108BD9-81ED-4DB2-BD59-A6C34878D82A}">
                    <a16:rowId xmlns:a16="http://schemas.microsoft.com/office/drawing/2014/main" val="745104067"/>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238598996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t3.xlarge</a:t>
                      </a:r>
                    </a:p>
                  </a:txBody>
                  <a:tcPr marL="182880"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4</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16</a:t>
                      </a:r>
                    </a:p>
                  </a:txBody>
                  <a:tcPr marL="25487" marR="25487" marT="25487" marB="27432">
                    <a:lnL>
                      <a:noFill/>
                    </a:lnL>
                    <a:lnR>
                      <a:noFill/>
                    </a:lnR>
                    <a:lnT>
                      <a:noFill/>
                    </a:lnT>
                    <a:lnB>
                      <a:noFill/>
                    </a:lnB>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tcPr>
                </a:tc>
                <a:extLst>
                  <a:ext uri="{0D108BD9-81ED-4DB2-BD59-A6C34878D82A}">
                    <a16:rowId xmlns:a16="http://schemas.microsoft.com/office/drawing/2014/main" val="1563832510"/>
                  </a:ext>
                </a:extLst>
              </a:tr>
              <a:tr h="509526">
                <a:tc>
                  <a:txBody>
                    <a:bodyPr/>
                    <a:lstStyle/>
                    <a:p>
                      <a:pPr algn="l"/>
                      <a:r>
                        <a:rPr lang="en-US" sz="1600" dirty="0">
                          <a:effectLst/>
                          <a:latin typeface="Amazon Ember" panose="020B0603020204020204" pitchFamily="34" charset="0"/>
                          <a:ea typeface="Amazon Ember" panose="020B0603020204020204" pitchFamily="34" charset="0"/>
                          <a:cs typeface="Amazon Ember" panose="020B0603020204020204" pitchFamily="34" charset="0"/>
                        </a:rPr>
                        <a:t>t3.2xlarge</a:t>
                      </a:r>
                    </a:p>
                  </a:txBody>
                  <a:tcPr marL="182880"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8</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32</a:t>
                      </a:r>
                    </a:p>
                  </a:txBody>
                  <a:tcPr marL="25487" marR="25487" marT="25487" marB="27432">
                    <a:lnL>
                      <a:noFill/>
                    </a:lnL>
                    <a:lnR>
                      <a:noFill/>
                    </a:lnR>
                    <a:lnT>
                      <a:noFill/>
                    </a:lnT>
                    <a:lnB>
                      <a:noFill/>
                    </a:lnB>
                    <a:solidFill>
                      <a:srgbClr val="F7F7F7"/>
                    </a:solidFill>
                  </a:tcPr>
                </a:tc>
                <a:tc>
                  <a:txBody>
                    <a:bodyPr/>
                    <a:lstStyle/>
                    <a:p>
                      <a:pPr algn="ctr"/>
                      <a:r>
                        <a:rPr lang="en-US" sz="1600" dirty="0">
                          <a:effectLst/>
                          <a:latin typeface="Amazon Ember" panose="020B0603020204020204" pitchFamily="34" charset="0"/>
                          <a:ea typeface="Amazon Ember" panose="020B0603020204020204" pitchFamily="34" charset="0"/>
                          <a:cs typeface="Amazon Ember" panose="020B0603020204020204" pitchFamily="34" charset="0"/>
                        </a:rPr>
                        <a:t>EBS-Only</a:t>
                      </a:r>
                    </a:p>
                  </a:txBody>
                  <a:tcPr marL="25487" marR="25487" marT="25487" marB="27432">
                    <a:lnL>
                      <a:noFill/>
                    </a:lnL>
                    <a:lnR>
                      <a:noFill/>
                    </a:lnR>
                    <a:lnT>
                      <a:noFill/>
                    </a:lnT>
                    <a:lnB>
                      <a:noFill/>
                    </a:lnB>
                    <a:solidFill>
                      <a:srgbClr val="F7F7F7"/>
                    </a:solidFill>
                  </a:tcPr>
                </a:tc>
                <a:extLst>
                  <a:ext uri="{0D108BD9-81ED-4DB2-BD59-A6C34878D82A}">
                    <a16:rowId xmlns:a16="http://schemas.microsoft.com/office/drawing/2014/main" val="3730849886"/>
                  </a:ext>
                </a:extLst>
              </a:tr>
            </a:tbl>
          </a:graphicData>
        </a:graphic>
      </p:graphicFrame>
    </p:spTree>
    <p:custDataLst>
      <p:tags r:id="rId1"/>
    </p:custDataLst>
    <p:extLst>
      <p:ext uri="{BB962C8B-B14F-4D97-AF65-F5344CB8AC3E}">
        <p14:creationId xmlns:p14="http://schemas.microsoft.com/office/powerpoint/2010/main" val="4201556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2E78F2F-DC03-211F-5586-E865C190F9AA}"/>
              </a:ext>
            </a:extLst>
          </p:cNvPr>
          <p:cNvSpPr>
            <a:spLocks noGrp="1"/>
          </p:cNvSpPr>
          <p:nvPr>
            <p:ph type="sldNum" sz="quarter" idx="20"/>
          </p:nvPr>
        </p:nvSpPr>
        <p:spPr/>
        <p:txBody>
          <a:bodyPr/>
          <a:lstStyle/>
          <a:p>
            <a:fld id="{930176A1-BCF0-4712-97A6-6B495F55390B}" type="slidenum">
              <a:rPr lang="en-US" smtClean="0"/>
              <a:t>17</a:t>
            </a:fld>
            <a:endParaRPr lang="en-US"/>
          </a:p>
        </p:txBody>
      </p:sp>
      <p:sp>
        <p:nvSpPr>
          <p:cNvPr id="2" name="Title 1"/>
          <p:cNvSpPr>
            <a:spLocks noGrp="1"/>
          </p:cNvSpPr>
          <p:nvPr>
            <p:ph type="title"/>
          </p:nvPr>
        </p:nvSpPr>
        <p:spPr/>
        <p:txBody>
          <a:bodyPr/>
          <a:lstStyle/>
          <a:p>
            <a:r>
              <a:rPr lang="en-US" dirty="0"/>
              <a:t>Select instance type: Based on use case</a:t>
            </a:r>
          </a:p>
        </p:txBody>
      </p:sp>
      <p:graphicFrame>
        <p:nvGraphicFramePr>
          <p:cNvPr id="18" name="Table 17" descr="Chart showing instance types and use cases for each fo the Five main instance type categories."/>
          <p:cNvGraphicFramePr>
            <a:graphicFrameLocks noGrp="1"/>
          </p:cNvGraphicFramePr>
          <p:nvPr>
            <p:extLst>
              <p:ext uri="{D42A27DB-BD31-4B8C-83A1-F6EECF244321}">
                <p14:modId xmlns:p14="http://schemas.microsoft.com/office/powerpoint/2010/main" val="745412808"/>
              </p:ext>
            </p:extLst>
          </p:nvPr>
        </p:nvGraphicFramePr>
        <p:xfrm>
          <a:off x="623614" y="1715063"/>
          <a:ext cx="10955994" cy="3961836"/>
        </p:xfrm>
        <a:graphic>
          <a:graphicData uri="http://schemas.openxmlformats.org/drawingml/2006/table">
            <a:tbl>
              <a:tblPr firstRow="1" bandRow="1">
                <a:effectLst/>
                <a:tableStyleId>{5C22544A-7EE6-4342-B048-85BDC9FD1C3A}</a:tableStyleId>
              </a:tblPr>
              <a:tblGrid>
                <a:gridCol w="1825999">
                  <a:extLst>
                    <a:ext uri="{9D8B030D-6E8A-4147-A177-3AD203B41FA5}">
                      <a16:colId xmlns:a16="http://schemas.microsoft.com/office/drawing/2014/main" val="23915117"/>
                    </a:ext>
                  </a:extLst>
                </a:gridCol>
                <a:gridCol w="1825999">
                  <a:extLst>
                    <a:ext uri="{9D8B030D-6E8A-4147-A177-3AD203B41FA5}">
                      <a16:colId xmlns:a16="http://schemas.microsoft.com/office/drawing/2014/main" val="311262121"/>
                    </a:ext>
                  </a:extLst>
                </a:gridCol>
                <a:gridCol w="1825999">
                  <a:extLst>
                    <a:ext uri="{9D8B030D-6E8A-4147-A177-3AD203B41FA5}">
                      <a16:colId xmlns:a16="http://schemas.microsoft.com/office/drawing/2014/main" val="1971920450"/>
                    </a:ext>
                  </a:extLst>
                </a:gridCol>
                <a:gridCol w="1825999">
                  <a:extLst>
                    <a:ext uri="{9D8B030D-6E8A-4147-A177-3AD203B41FA5}">
                      <a16:colId xmlns:a16="http://schemas.microsoft.com/office/drawing/2014/main" val="1206149541"/>
                    </a:ext>
                  </a:extLst>
                </a:gridCol>
                <a:gridCol w="1825999">
                  <a:extLst>
                    <a:ext uri="{9D8B030D-6E8A-4147-A177-3AD203B41FA5}">
                      <a16:colId xmlns:a16="http://schemas.microsoft.com/office/drawing/2014/main" val="1595182195"/>
                    </a:ext>
                  </a:extLst>
                </a:gridCol>
                <a:gridCol w="1825999">
                  <a:extLst>
                    <a:ext uri="{9D8B030D-6E8A-4147-A177-3AD203B41FA5}">
                      <a16:colId xmlns:a16="http://schemas.microsoft.com/office/drawing/2014/main" val="1279303239"/>
                    </a:ext>
                  </a:extLst>
                </a:gridCol>
              </a:tblGrid>
              <a:tr h="1575507">
                <a:tc>
                  <a:txBody>
                    <a:bodyPr/>
                    <a:lstStyle/>
                    <a:p>
                      <a:endParaRPr lang="en-US" dirty="0">
                        <a:solidFill>
                          <a:schemeClr val="tx1"/>
                        </a:solidFill>
                        <a:latin typeface="+mn-lt"/>
                        <a:ea typeface="Amazon Ember Light" panose="020B0403020204020204" pitchFamily="34" charset="0"/>
                        <a:cs typeface="Amazon Ember Light" panose="020B0403020204020204" pitchFamily="34" charset="0"/>
                      </a:endParaRPr>
                    </a:p>
                  </a:txBody>
                  <a:tcPr anchor="ctr">
                    <a:lnL w="381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General</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Purpose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rgbClr val="005276"/>
                          </a:solidFill>
                          <a:latin typeface="+mn-lt"/>
                          <a:ea typeface="Amazon Ember Light" panose="020B0403020204020204" pitchFamily="34" charset="0"/>
                          <a:cs typeface="Amazon Ember Light" panose="020B0403020204020204" pitchFamily="34" charset="0"/>
                        </a:rPr>
                      </a:br>
                      <a:br>
                        <a:rPr lang="en-US" dirty="0">
                          <a:solidFill>
                            <a:srgbClr val="005276"/>
                          </a:solidFill>
                          <a:latin typeface="+mn-lt"/>
                          <a:ea typeface="Amazon Ember Light" panose="020B0403020204020204" pitchFamily="34" charset="0"/>
                          <a:cs typeface="Amazon Ember Light" panose="020B0403020204020204" pitchFamily="34" charset="0"/>
                        </a:rPr>
                      </a:br>
                      <a:br>
                        <a:rPr lang="en-US" dirty="0">
                          <a:solidFill>
                            <a:srgbClr val="005276"/>
                          </a:solidFill>
                          <a:latin typeface="+mn-lt"/>
                          <a:ea typeface="Amazon Ember Light" panose="020B0403020204020204" pitchFamily="34" charset="0"/>
                          <a:cs typeface="Amazon Ember Light" panose="020B0403020204020204" pitchFamily="34" charset="0"/>
                        </a:rPr>
                      </a:br>
                      <a:r>
                        <a:rPr lang="en-US" dirty="0">
                          <a:solidFill>
                            <a:srgbClr val="005276"/>
                          </a:solidFill>
                          <a:latin typeface="+mn-lt"/>
                          <a:ea typeface="Amazon Ember Light" panose="020B0403020204020204" pitchFamily="34" charset="0"/>
                          <a:cs typeface="Amazon Ember Light" panose="020B0403020204020204" pitchFamily="34" charset="0"/>
                        </a:rPr>
                        <a:t>Compute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6"/>
                          </a:solidFill>
                          <a:latin typeface="+mn-lt"/>
                          <a:ea typeface="Amazon Ember Light" panose="020B0403020204020204" pitchFamily="34" charset="0"/>
                          <a:cs typeface="Amazon Ember Light" panose="020B0403020204020204" pitchFamily="34" charset="0"/>
                        </a:rPr>
                        <a:t>Memory Optimized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rgbClr val="18AB4B"/>
                          </a:solidFill>
                          <a:latin typeface="+mn-lt"/>
                          <a:ea typeface="Amazon Ember Light" panose="020B0403020204020204" pitchFamily="34" charset="0"/>
                          <a:cs typeface="Amazon Ember Light" panose="020B0403020204020204" pitchFamily="34" charset="0"/>
                        </a:rPr>
                      </a:br>
                      <a:br>
                        <a:rPr lang="en-US" dirty="0">
                          <a:solidFill>
                            <a:srgbClr val="18AB4B"/>
                          </a:solidFill>
                          <a:latin typeface="+mn-lt"/>
                          <a:ea typeface="Amazon Ember Light" panose="020B0403020204020204" pitchFamily="34" charset="0"/>
                          <a:cs typeface="Amazon Ember Light" panose="020B0403020204020204" pitchFamily="34" charset="0"/>
                        </a:rPr>
                      </a:br>
                      <a:br>
                        <a:rPr lang="en-US" dirty="0">
                          <a:solidFill>
                            <a:srgbClr val="18AB4B"/>
                          </a:solidFill>
                          <a:latin typeface="+mn-lt"/>
                          <a:ea typeface="Amazon Ember Light" panose="020B0403020204020204" pitchFamily="34" charset="0"/>
                          <a:cs typeface="Amazon Ember Light" panose="020B0403020204020204" pitchFamily="34" charset="0"/>
                        </a:rPr>
                      </a:br>
                      <a:r>
                        <a:rPr lang="en-US" dirty="0">
                          <a:solidFill>
                            <a:srgbClr val="18AB4B"/>
                          </a:solidFill>
                          <a:latin typeface="+mn-lt"/>
                          <a:ea typeface="Amazon Ember Light" panose="020B0403020204020204" pitchFamily="34" charset="0"/>
                          <a:cs typeface="Amazon Ember Light" panose="020B0403020204020204" pitchFamily="34" charset="0"/>
                        </a:rPr>
                        <a:t>Accelerated Computing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br>
                        <a:rPr lang="en-US" dirty="0">
                          <a:solidFill>
                            <a:schemeClr val="accent2"/>
                          </a:solidFill>
                          <a:latin typeface="+mn-lt"/>
                          <a:ea typeface="Amazon Ember Light" panose="020B0403020204020204" pitchFamily="34" charset="0"/>
                          <a:cs typeface="Amazon Ember Light" panose="020B0403020204020204" pitchFamily="34" charset="0"/>
                        </a:rPr>
                      </a:br>
                      <a:r>
                        <a:rPr lang="en-US" dirty="0">
                          <a:solidFill>
                            <a:schemeClr val="accent5"/>
                          </a:solidFill>
                          <a:latin typeface="+mn-lt"/>
                          <a:ea typeface="Amazon Ember Light" panose="020B0403020204020204" pitchFamily="34" charset="0"/>
                          <a:cs typeface="Amazon Ember Light" panose="020B0403020204020204" pitchFamily="34" charset="0"/>
                        </a:rPr>
                        <a:t>Storage Optimized</a:t>
                      </a:r>
                    </a:p>
                  </a:txBody>
                  <a:tcPr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3955339"/>
                  </a:ext>
                </a:extLst>
              </a:tr>
              <a:tr h="1280100">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Instance</a:t>
                      </a:r>
                      <a:r>
                        <a:rPr lang="en-US" b="1" baseline="0" dirty="0">
                          <a:solidFill>
                            <a:schemeClr val="bg1"/>
                          </a:solidFill>
                          <a:latin typeface="+mn-lt"/>
                          <a:ea typeface="Amazon Ember Light" panose="020B0403020204020204" pitchFamily="34" charset="0"/>
                          <a:cs typeface="Amazon Ember Light" panose="020B0403020204020204" pitchFamily="34" charset="0"/>
                        </a:rPr>
                        <a:t> T</a:t>
                      </a:r>
                      <a:r>
                        <a:rPr lang="en-US" b="1" dirty="0">
                          <a:solidFill>
                            <a:schemeClr val="bg1"/>
                          </a:solidFill>
                          <a:latin typeface="+mn-lt"/>
                          <a:ea typeface="Amazon Ember Light" panose="020B0403020204020204" pitchFamily="34" charset="0"/>
                          <a:cs typeface="Amazon Ember Light" panose="020B0403020204020204" pitchFamily="34" charset="0"/>
                        </a:rPr>
                        <a:t>ypes</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a1, m4, m5,</a:t>
                      </a:r>
                      <a:br>
                        <a:rPr lang="en-US" b="1" dirty="0">
                          <a:solidFill>
                            <a:schemeClr val="tx1"/>
                          </a:solidFill>
                          <a:latin typeface="+mn-lt"/>
                          <a:ea typeface="Amazon Ember Light" panose="020B0403020204020204" pitchFamily="34" charset="0"/>
                          <a:cs typeface="Amazon Ember Light" panose="020B0403020204020204" pitchFamily="34" charset="0"/>
                        </a:rPr>
                      </a:br>
                      <a:r>
                        <a:rPr lang="en-US" b="1" dirty="0">
                          <a:solidFill>
                            <a:schemeClr val="tx1"/>
                          </a:solidFill>
                          <a:latin typeface="+mn-lt"/>
                          <a:ea typeface="Amazon Ember Light" panose="020B0403020204020204" pitchFamily="34" charset="0"/>
                          <a:cs typeface="Amazon Ember Light" panose="020B0403020204020204" pitchFamily="34" charset="0"/>
                        </a:rPr>
                        <a:t>t2, 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005276"/>
                          </a:solidFill>
                          <a:latin typeface="+mn-lt"/>
                          <a:ea typeface="Amazon Ember Light" panose="020B0403020204020204" pitchFamily="34" charset="0"/>
                          <a:cs typeface="Amazon Ember Light" panose="020B0403020204020204" pitchFamily="34" charset="0"/>
                        </a:rPr>
                        <a:t>c4, c5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r4, r5,</a:t>
                      </a:r>
                      <a:br>
                        <a:rPr lang="en-US" sz="1800" b="1" kern="1200" dirty="0">
                          <a:solidFill>
                            <a:schemeClr val="accent6"/>
                          </a:solidFill>
                          <a:latin typeface="+mn-lt"/>
                          <a:ea typeface="Amazon Ember Light" panose="020B0403020204020204" pitchFamily="34" charset="0"/>
                          <a:cs typeface="Amazon Ember Light" panose="020B0403020204020204" pitchFamily="34" charset="0"/>
                        </a:rPr>
                      </a:br>
                      <a:r>
                        <a:rPr lang="en-US" sz="1800" b="1" kern="1200" dirty="0">
                          <a:solidFill>
                            <a:schemeClr val="accent6"/>
                          </a:solidFill>
                          <a:latin typeface="+mn-lt"/>
                          <a:ea typeface="Amazon Ember Light" panose="020B0403020204020204" pitchFamily="34" charset="0"/>
                          <a:cs typeface="Amazon Ember Light" panose="020B0403020204020204" pitchFamily="34" charset="0"/>
                        </a:rPr>
                        <a:t>x1, z1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18AB4B"/>
                          </a:solidFill>
                          <a:latin typeface="+mn-lt"/>
                          <a:ea typeface="Amazon Ember Light" panose="020B0403020204020204" pitchFamily="34" charset="0"/>
                          <a:cs typeface="Amazon Ember Light" panose="020B0403020204020204" pitchFamily="34" charset="0"/>
                        </a:rPr>
                        <a:t>f1, g3, g4, </a:t>
                      </a:r>
                      <a:br>
                        <a:rPr lang="en-US" sz="1800" b="1" kern="1200" dirty="0">
                          <a:solidFill>
                            <a:srgbClr val="18AB4B"/>
                          </a:solidFill>
                          <a:latin typeface="+mn-lt"/>
                          <a:ea typeface="Amazon Ember Light" panose="020B0403020204020204" pitchFamily="34" charset="0"/>
                          <a:cs typeface="Amazon Ember Light" panose="020B0403020204020204" pitchFamily="34" charset="0"/>
                        </a:rPr>
                      </a:br>
                      <a:r>
                        <a:rPr lang="en-US" sz="1800" b="1" kern="1200" dirty="0">
                          <a:solidFill>
                            <a:srgbClr val="18AB4B"/>
                          </a:solidFill>
                          <a:latin typeface="+mn-lt"/>
                          <a:ea typeface="Amazon Ember Light" panose="020B0403020204020204" pitchFamily="34" charset="0"/>
                          <a:cs typeface="Amazon Ember Light" panose="020B0403020204020204" pitchFamily="34" charset="0"/>
                        </a:rPr>
                        <a:t>p2, p3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d2, h1, i3</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2675248"/>
                  </a:ext>
                </a:extLst>
              </a:tr>
              <a:tr h="1106229">
                <a:tc>
                  <a:txBody>
                    <a:bodyPr/>
                    <a:lstStyle/>
                    <a:p>
                      <a:r>
                        <a:rPr lang="en-US" b="1" dirty="0">
                          <a:solidFill>
                            <a:schemeClr val="bg1"/>
                          </a:solidFill>
                          <a:latin typeface="+mn-lt"/>
                          <a:ea typeface="Amazon Ember Light" panose="020B0403020204020204" pitchFamily="34" charset="0"/>
                          <a:cs typeface="Amazon Ember Light" panose="020B0403020204020204" pitchFamily="34" charset="0"/>
                        </a:rPr>
                        <a:t>Use Case</a:t>
                      </a:r>
                    </a:p>
                  </a:txBody>
                  <a:tcPr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b="1" dirty="0">
                          <a:solidFill>
                            <a:schemeClr val="tx1"/>
                          </a:solidFill>
                          <a:latin typeface="+mn-lt"/>
                          <a:ea typeface="Amazon Ember Light" panose="020B0403020204020204" pitchFamily="34" charset="0"/>
                          <a:cs typeface="Amazon Ember Light" panose="020B0403020204020204" pitchFamily="34" charset="0"/>
                        </a:rPr>
                        <a:t>Broad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005276"/>
                          </a:solidFill>
                          <a:latin typeface="+mn-lt"/>
                          <a:ea typeface="Amazon Ember Light" panose="020B0403020204020204" pitchFamily="34" charset="0"/>
                          <a:cs typeface="Amazon Ember Light" panose="020B0403020204020204" pitchFamily="34" charset="0"/>
                        </a:rPr>
                        <a:t>High performance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6"/>
                          </a:solidFill>
                          <a:latin typeface="+mn-lt"/>
                          <a:ea typeface="Amazon Ember Light" panose="020B0403020204020204" pitchFamily="34" charset="0"/>
                          <a:cs typeface="Amazon Ember Light" panose="020B0403020204020204" pitchFamily="34" charset="0"/>
                        </a:rPr>
                        <a:t>In-memory 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rgbClr val="18AB4B"/>
                          </a:solidFill>
                          <a:latin typeface="+mn-lt"/>
                          <a:ea typeface="Amazon Ember Light" panose="020B0403020204020204" pitchFamily="34" charset="0"/>
                          <a:cs typeface="Amazon Ember Light" panose="020B0403020204020204" pitchFamily="34" charset="0"/>
                        </a:rPr>
                        <a:t>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b="1" kern="1200" dirty="0">
                          <a:solidFill>
                            <a:schemeClr val="accent5"/>
                          </a:solidFill>
                          <a:latin typeface="+mn-lt"/>
                          <a:ea typeface="Amazon Ember Light" panose="020B0403020204020204" pitchFamily="34" charset="0"/>
                          <a:cs typeface="Amazon Ember Light" panose="020B0403020204020204" pitchFamily="34" charset="0"/>
                        </a:rPr>
                        <a:t>Distributed file systems</a:t>
                      </a:r>
                    </a:p>
                  </a:txBody>
                  <a:tcPr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33801933"/>
                  </a:ext>
                </a:extLst>
              </a:tr>
            </a:tbl>
          </a:graphicData>
        </a:graphic>
      </p:graphicFrame>
      <p:pic>
        <p:nvPicPr>
          <p:cNvPr id="3" name="Picture 2">
            <a:extLs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0788" y="1770706"/>
            <a:ext cx="788684" cy="784929"/>
          </a:xfrm>
          <a:prstGeom prst="rect">
            <a:avLst/>
          </a:prstGeom>
        </p:spPr>
      </p:pic>
      <p:pic>
        <p:nvPicPr>
          <p:cNvPr id="4" name="Picture 3">
            <a:extLst>
              <a:ext uri="{C183D7F6-B498-43B3-948B-1728B52AA6E4}">
                <adec:decorative xmlns:adec="http://schemas.microsoft.com/office/drawing/2017/decorative" val="1"/>
              </a:ext>
            </a:extLst>
          </p:cNvPr>
          <p:cNvPicPr>
            <a:picLocks noChangeAspect="1"/>
          </p:cNvPicPr>
          <p:nvPr/>
        </p:nvPicPr>
        <p:blipFill>
          <a:blip r:embed="rId5">
            <a:duotone>
              <a:schemeClr val="accent2">
                <a:shade val="45000"/>
                <a:satMod val="135000"/>
              </a:schemeClr>
              <a:prstClr val="white"/>
            </a:duotone>
          </a:blip>
          <a:stretch>
            <a:fillRect/>
          </a:stretch>
        </p:blipFill>
        <p:spPr>
          <a:xfrm>
            <a:off x="4900318" y="1829915"/>
            <a:ext cx="676866" cy="666511"/>
          </a:xfrm>
          <a:prstGeom prst="rect">
            <a:avLst/>
          </a:prstGeom>
          <a:ln>
            <a:solidFill>
              <a:srgbClr val="7E93EE"/>
            </a:solidFill>
          </a:ln>
        </p:spPr>
      </p:pic>
      <p:pic>
        <p:nvPicPr>
          <p:cNvPr id="6" name="Picture 5">
            <a:extLst>
              <a:ext uri="{C183D7F6-B498-43B3-948B-1728B52AA6E4}">
                <adec:decorative xmlns:adec="http://schemas.microsoft.com/office/drawing/2017/decorative" val="1"/>
              </a:ext>
            </a:extLst>
          </p:cNvPr>
          <p:cNvPicPr>
            <a:picLocks noChangeAspect="1"/>
          </p:cNvPicPr>
          <p:nvPr/>
        </p:nvPicPr>
        <p:blipFill>
          <a:blip r:embed="rId6">
            <a:duotone>
              <a:schemeClr val="accent6">
                <a:shade val="45000"/>
                <a:satMod val="135000"/>
              </a:schemeClr>
              <a:prstClr val="white"/>
            </a:duotone>
          </a:blip>
          <a:stretch>
            <a:fillRect/>
          </a:stretch>
        </p:blipFill>
        <p:spPr>
          <a:xfrm rot="1800000">
            <a:off x="6615916" y="2011899"/>
            <a:ext cx="914400" cy="302542"/>
          </a:xfrm>
          <a:prstGeom prst="rect">
            <a:avLst/>
          </a:prstGeom>
        </p:spPr>
      </p:pic>
      <p:pic>
        <p:nvPicPr>
          <p:cNvPr id="8" name="Picture 7">
            <a:extLst>
              <a:ext uri="{C183D7F6-B498-43B3-948B-1728B52AA6E4}">
                <adec:decorative xmlns:adec="http://schemas.microsoft.com/office/drawing/2017/decorative" val="1"/>
              </a:ext>
            </a:extLst>
          </p:cNvPr>
          <p:cNvPicPr>
            <a:picLocks noChangeAspect="1"/>
          </p:cNvPicPr>
          <p:nvPr/>
        </p:nvPicPr>
        <p:blipFill>
          <a:blip r:embed="rId7">
            <a:duotone>
              <a:srgbClr val="ADE422">
                <a:shade val="45000"/>
                <a:satMod val="135000"/>
              </a:srgbClr>
              <a:prstClr val="white"/>
            </a:duotone>
            <a:extLst>
              <a:ext uri="{BEBA8EAE-BF5A-486C-A8C5-ECC9F3942E4B}">
                <a14:imgProps xmlns:a14="http://schemas.microsoft.com/office/drawing/2010/main">
                  <a14:imgLayer r:embed="rId8">
                    <a14:imgEffect>
                      <a14:colorTemperature colorTemp="6550"/>
                    </a14:imgEffect>
                    <a14:imgEffect>
                      <a14:saturation sat="40000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525560" y="1826900"/>
            <a:ext cx="646612" cy="672541"/>
          </a:xfrm>
          <a:prstGeom prst="rect">
            <a:avLst/>
          </a:prstGeom>
          <a:ln>
            <a:solidFill>
              <a:srgbClr val="18AB4B"/>
            </a:solidFill>
          </a:ln>
          <a:effectLst>
            <a:outerShdw blurRad="25400" sx="109000" sy="109000" algn="ctr" rotWithShape="0">
              <a:schemeClr val="accent4"/>
            </a:outerShdw>
          </a:effectLst>
        </p:spPr>
      </p:pic>
      <p:sp>
        <p:nvSpPr>
          <p:cNvPr id="9" name="Flowchart: Magnetic Disk 8">
            <a:extLst>
              <a:ext uri="{C183D7F6-B498-43B3-948B-1728B52AA6E4}">
                <adec:decorative xmlns:adec="http://schemas.microsoft.com/office/drawing/2017/decorative" val="1"/>
              </a:ext>
            </a:extLst>
          </p:cNvPr>
          <p:cNvSpPr/>
          <p:nvPr/>
        </p:nvSpPr>
        <p:spPr bwMode="auto">
          <a:xfrm>
            <a:off x="10392472" y="1941641"/>
            <a:ext cx="583762" cy="502990"/>
          </a:xfrm>
          <a:prstGeom prst="flowChartMagneticDisk">
            <a:avLst/>
          </a:prstGeom>
          <a:solidFill>
            <a:schemeClr val="bg1"/>
          </a:solidFill>
          <a:ln w="28575">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3332426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415660-59B9-0B40-8EB4-FCFA4FAD444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18</a:t>
            </a:fld>
            <a:endParaRPr lang="en-US" dirty="0"/>
          </a:p>
        </p:txBody>
      </p:sp>
      <p:sp>
        <p:nvSpPr>
          <p:cNvPr id="2" name="Title 1">
            <a:extLst>
              <a:ext uri="{FF2B5EF4-FFF2-40B4-BE49-F238E27FC236}">
                <a16:creationId xmlns:a16="http://schemas.microsoft.com/office/drawing/2014/main" id="{89186C32-A663-C14D-B3FB-2ECC7C5A18D0}"/>
              </a:ext>
            </a:extLst>
          </p:cNvPr>
          <p:cNvSpPr>
            <a:spLocks noGrp="1"/>
          </p:cNvSpPr>
          <p:nvPr>
            <p:ph type="title"/>
          </p:nvPr>
        </p:nvSpPr>
        <p:spPr/>
        <p:txBody>
          <a:bodyPr/>
          <a:lstStyle/>
          <a:p>
            <a:r>
              <a:rPr lang="en-US" dirty="0"/>
              <a:t>Instance types: Networking features</a:t>
            </a:r>
          </a:p>
        </p:txBody>
      </p:sp>
      <p:sp>
        <p:nvSpPr>
          <p:cNvPr id="5" name="Content Placeholder 4">
            <a:extLst>
              <a:ext uri="{FF2B5EF4-FFF2-40B4-BE49-F238E27FC236}">
                <a16:creationId xmlns:a16="http://schemas.microsoft.com/office/drawing/2014/main" id="{1534AA6B-5585-0846-BA9B-453EBFB931D5}"/>
              </a:ext>
            </a:extLst>
          </p:cNvPr>
          <p:cNvSpPr>
            <a:spLocks noGrp="1"/>
          </p:cNvSpPr>
          <p:nvPr>
            <p:ph sz="quarter" idx="21"/>
          </p:nvPr>
        </p:nvSpPr>
        <p:spPr/>
        <p:txBody>
          <a:bodyPr/>
          <a:lstStyle/>
          <a:p>
            <a:r>
              <a:rPr lang="en-US" sz="2400" dirty="0"/>
              <a:t>The network bandwidth (Gbps) varies by instance type.</a:t>
            </a:r>
          </a:p>
          <a:p>
            <a:pPr lvl="1"/>
            <a:r>
              <a:rPr lang="en-US" sz="2000" dirty="0"/>
              <a:t>See </a:t>
            </a:r>
            <a:r>
              <a:rPr lang="en-US" sz="2000" dirty="0">
                <a:hlinkClick r:id="rId4"/>
              </a:rPr>
              <a:t>Amazon EC2 Instance Types </a:t>
            </a:r>
            <a:r>
              <a:rPr lang="en-US" sz="2000" dirty="0"/>
              <a:t>to compare.</a:t>
            </a:r>
          </a:p>
          <a:p>
            <a:r>
              <a:rPr lang="en-US" sz="2400" dirty="0"/>
              <a:t>To maximize networking and bandwidth performance of your instance type:</a:t>
            </a:r>
          </a:p>
          <a:p>
            <a:pPr lvl="1"/>
            <a:r>
              <a:rPr lang="en-US" sz="2000" dirty="0"/>
              <a:t>If you have interdependent instances, launch them into a </a:t>
            </a:r>
            <a:r>
              <a:rPr lang="en-US" sz="2000" b="1" dirty="0">
                <a:solidFill>
                  <a:srgbClr val="504BAB"/>
                </a:solidFill>
              </a:rPr>
              <a:t>cluster placement group</a:t>
            </a:r>
            <a:r>
              <a:rPr lang="en-US" sz="2000" dirty="0"/>
              <a:t>.</a:t>
            </a:r>
          </a:p>
          <a:p>
            <a:pPr lvl="1"/>
            <a:r>
              <a:rPr lang="en-US" sz="2000" dirty="0"/>
              <a:t>Enable enhanced networking. </a:t>
            </a:r>
          </a:p>
          <a:p>
            <a:r>
              <a:rPr lang="en-US" sz="2400" dirty="0"/>
              <a:t>Enhanced networking types are supported on most instance types.</a:t>
            </a:r>
          </a:p>
          <a:p>
            <a:pPr lvl="1"/>
            <a:r>
              <a:rPr lang="en-US" sz="2000" dirty="0"/>
              <a:t>See the </a:t>
            </a:r>
            <a:r>
              <a:rPr lang="en-US" sz="2000" dirty="0">
                <a:hlinkClick r:id="rId5"/>
              </a:rPr>
              <a:t>Networking and Storage Features</a:t>
            </a:r>
            <a:r>
              <a:rPr lang="en-US" sz="2000" dirty="0"/>
              <a:t> documentation for details.</a:t>
            </a:r>
          </a:p>
          <a:p>
            <a:r>
              <a:rPr lang="en-US" sz="2400" dirty="0"/>
              <a:t>Enhanced networking types – </a:t>
            </a:r>
          </a:p>
          <a:p>
            <a:pPr lvl="1"/>
            <a:r>
              <a:rPr lang="en-US" sz="2000" b="1" dirty="0">
                <a:solidFill>
                  <a:srgbClr val="504BAB"/>
                </a:solidFill>
              </a:rPr>
              <a:t>Elastic Network Adapter (ENA): </a:t>
            </a:r>
            <a:r>
              <a:rPr lang="en-US" sz="2000" dirty="0"/>
              <a:t>Supports network speeds of up to 100 Gbps.</a:t>
            </a:r>
          </a:p>
          <a:p>
            <a:pPr lvl="1"/>
            <a:r>
              <a:rPr lang="en-US" sz="2000" b="1" dirty="0">
                <a:solidFill>
                  <a:srgbClr val="504BAB"/>
                </a:solidFill>
              </a:rPr>
              <a:t>Intel 82599 Virtual Function interface: </a:t>
            </a:r>
            <a:r>
              <a:rPr lang="en-US" sz="2000" dirty="0"/>
              <a:t>Supports network speeds of up to 10 Gbps.</a:t>
            </a:r>
          </a:p>
          <a:p>
            <a:endParaRPr lang="en-US" sz="2400" dirty="0"/>
          </a:p>
          <a:p>
            <a:endParaRPr lang="en-US" sz="2400" dirty="0"/>
          </a:p>
        </p:txBody>
      </p:sp>
    </p:spTree>
    <p:custDataLst>
      <p:tags r:id="rId1"/>
    </p:custDataLst>
    <p:extLst>
      <p:ext uri="{BB962C8B-B14F-4D97-AF65-F5344CB8AC3E}">
        <p14:creationId xmlns:p14="http://schemas.microsoft.com/office/powerpoint/2010/main" val="1532284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19</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3. Specify network settings</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3958882" y="1143000"/>
            <a:ext cx="7994768" cy="5291750"/>
          </a:xfrm>
        </p:spPr>
        <p:txBody>
          <a:bodyPr/>
          <a:lstStyle/>
          <a:p>
            <a:r>
              <a:rPr lang="en-US" sz="2000" dirty="0"/>
              <a:t>Where should the instance be deployed? </a:t>
            </a:r>
          </a:p>
          <a:p>
            <a:pPr lvl="1"/>
            <a:r>
              <a:rPr lang="en-US" sz="1800" dirty="0"/>
              <a:t>Identify the </a:t>
            </a:r>
            <a:r>
              <a:rPr lang="en-US" sz="1800" b="1" dirty="0">
                <a:solidFill>
                  <a:srgbClr val="504BAB"/>
                </a:solidFill>
              </a:rPr>
              <a:t>VPC</a:t>
            </a:r>
            <a:r>
              <a:rPr lang="en-US" sz="1800" dirty="0"/>
              <a:t> and optionally the </a:t>
            </a:r>
            <a:r>
              <a:rPr lang="en-US" sz="1800" b="1" dirty="0">
                <a:solidFill>
                  <a:srgbClr val="504BAB"/>
                </a:solidFill>
              </a:rPr>
              <a:t>subnet</a:t>
            </a:r>
            <a:endParaRPr lang="en-US" sz="1600" b="1" dirty="0">
              <a:solidFill>
                <a:srgbClr val="504BAB"/>
              </a:solidFill>
            </a:endParaRPr>
          </a:p>
          <a:p>
            <a:r>
              <a:rPr lang="en-US" sz="2000" dirty="0"/>
              <a:t>Should a </a:t>
            </a:r>
            <a:r>
              <a:rPr lang="en-US" sz="2000" b="1" dirty="0">
                <a:solidFill>
                  <a:srgbClr val="504BAB"/>
                </a:solidFill>
              </a:rPr>
              <a:t>public IP address</a:t>
            </a:r>
            <a:r>
              <a:rPr lang="en-US" sz="2000" dirty="0">
                <a:solidFill>
                  <a:srgbClr val="504BAB"/>
                </a:solidFill>
              </a:rPr>
              <a:t> </a:t>
            </a:r>
            <a:r>
              <a:rPr lang="en-US" sz="2000" dirty="0"/>
              <a:t>be automatically assigned?</a:t>
            </a:r>
          </a:p>
          <a:p>
            <a:pPr lvl="1"/>
            <a:r>
              <a:rPr lang="en-US" sz="1800" dirty="0"/>
              <a:t>To make it internet-accessible</a:t>
            </a:r>
          </a:p>
        </p:txBody>
      </p:sp>
      <p:grpSp>
        <p:nvGrpSpPr>
          <p:cNvPr id="3" name="Group 2" descr="Architectural diagram showing that an instance was deployed in a public subnet in a VPC in AZ1 in a particular region.">
            <a:extLst>
              <a:ext uri="{FF2B5EF4-FFF2-40B4-BE49-F238E27FC236}">
                <a16:creationId xmlns:a16="http://schemas.microsoft.com/office/drawing/2014/main" id="{9C812D3B-DC06-F44F-A55A-CFAE4B6472DA}"/>
              </a:ext>
            </a:extLst>
          </p:cNvPr>
          <p:cNvGrpSpPr/>
          <p:nvPr/>
        </p:nvGrpSpPr>
        <p:grpSpPr>
          <a:xfrm>
            <a:off x="3958882" y="3141712"/>
            <a:ext cx="6509465" cy="3321233"/>
            <a:chOff x="3958882" y="3141712"/>
            <a:chExt cx="6509465" cy="3321233"/>
          </a:xfrm>
        </p:grpSpPr>
        <p:grpSp>
          <p:nvGrpSpPr>
            <p:cNvPr id="28" name="Group 27">
              <a:extLst>
                <a:ext uri="{FF2B5EF4-FFF2-40B4-BE49-F238E27FC236}">
                  <a16:creationId xmlns:a16="http://schemas.microsoft.com/office/drawing/2014/main" id="{4E1E8520-ABE7-CE43-A9F1-F1F4F143427A}"/>
                </a:ext>
              </a:extLst>
            </p:cNvPr>
            <p:cNvGrpSpPr/>
            <p:nvPr/>
          </p:nvGrpSpPr>
          <p:grpSpPr>
            <a:xfrm>
              <a:off x="6071552" y="3141712"/>
              <a:ext cx="4396795" cy="3321233"/>
              <a:chOff x="1814433" y="1837766"/>
              <a:chExt cx="4396795" cy="3321233"/>
            </a:xfrm>
          </p:grpSpPr>
          <p:sp>
            <p:nvSpPr>
              <p:cNvPr id="29" name="Rectangle 28">
                <a:extLst>
                  <a:ext uri="{FF2B5EF4-FFF2-40B4-BE49-F238E27FC236}">
                    <a16:creationId xmlns:a16="http://schemas.microsoft.com/office/drawing/2014/main" id="{AAC9C977-A33F-DD40-88FA-3DCB66DC5CAE}"/>
                  </a:ext>
                </a:extLst>
              </p:cNvPr>
              <p:cNvSpPr/>
              <p:nvPr/>
            </p:nvSpPr>
            <p:spPr>
              <a:xfrm>
                <a:off x="2348313" y="2783673"/>
                <a:ext cx="3617589" cy="1955593"/>
              </a:xfrm>
              <a:prstGeom prst="rect">
                <a:avLst/>
              </a:prstGeom>
              <a:noFill/>
              <a:ln w="127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ln w="0"/>
                    <a:solidFill>
                      <a:schemeClr val="accent5"/>
                    </a:solidFill>
                  </a:rPr>
                  <a:t>VPC</a:t>
                </a:r>
              </a:p>
            </p:txBody>
          </p:sp>
          <p:sp>
            <p:nvSpPr>
              <p:cNvPr id="30" name="Rectangle 29">
                <a:extLst>
                  <a:ext uri="{FF2B5EF4-FFF2-40B4-BE49-F238E27FC236}">
                    <a16:creationId xmlns:a16="http://schemas.microsoft.com/office/drawing/2014/main" id="{12A5AF53-D605-DD4B-8559-6F8F5EB39F66}"/>
                  </a:ext>
                </a:extLst>
              </p:cNvPr>
              <p:cNvSpPr/>
              <p:nvPr/>
            </p:nvSpPr>
            <p:spPr>
              <a:xfrm>
                <a:off x="1814433" y="1837766"/>
                <a:ext cx="4396795" cy="33212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ysClr val="windowText" lastClr="000000"/>
                    </a:solidFill>
                  </a:rPr>
                  <a:t>AWS Cloud</a:t>
                </a:r>
              </a:p>
            </p:txBody>
          </p:sp>
          <p:sp>
            <p:nvSpPr>
              <p:cNvPr id="31" name="Rectangle 30">
                <a:extLst>
                  <a:ext uri="{FF2B5EF4-FFF2-40B4-BE49-F238E27FC236}">
                    <a16:creationId xmlns:a16="http://schemas.microsoft.com/office/drawing/2014/main" id="{466D2EDB-63E9-DD41-97E3-EFFBF7198E7A}"/>
                  </a:ext>
                </a:extLst>
              </p:cNvPr>
              <p:cNvSpPr/>
              <p:nvPr/>
            </p:nvSpPr>
            <p:spPr>
              <a:xfrm>
                <a:off x="2663964" y="2461490"/>
                <a:ext cx="1602882" cy="2378138"/>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rgbClr val="36C2B4"/>
                    </a:solidFill>
                  </a:rPr>
                  <a:t>Availability Zone 1</a:t>
                </a:r>
              </a:p>
            </p:txBody>
          </p:sp>
          <p:pic>
            <p:nvPicPr>
              <p:cNvPr id="32" name="Graphic 31">
                <a:extLst>
                  <a:ext uri="{FF2B5EF4-FFF2-40B4-BE49-F238E27FC236}">
                    <a16:creationId xmlns:a16="http://schemas.microsoft.com/office/drawing/2014/main" id="{71EA166C-D64F-1F4E-B3C2-3D748AEA48C5}"/>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14433" y="1837766"/>
                <a:ext cx="277535" cy="277535"/>
              </a:xfrm>
              <a:prstGeom prst="rect">
                <a:avLst/>
              </a:prstGeom>
            </p:spPr>
          </p:pic>
          <p:pic>
            <p:nvPicPr>
              <p:cNvPr id="33" name="Graphic 32">
                <a:extLst>
                  <a:ext uri="{FF2B5EF4-FFF2-40B4-BE49-F238E27FC236}">
                    <a16:creationId xmlns:a16="http://schemas.microsoft.com/office/drawing/2014/main" id="{0B1501F4-AD0B-4A40-8C97-AC1E2135C7CF}"/>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48313" y="2783673"/>
                <a:ext cx="277535" cy="277535"/>
              </a:xfrm>
              <a:prstGeom prst="rect">
                <a:avLst/>
              </a:prstGeom>
            </p:spPr>
          </p:pic>
          <p:sp>
            <p:nvSpPr>
              <p:cNvPr id="34" name="Rectangle 33">
                <a:extLst>
                  <a:ext uri="{FF2B5EF4-FFF2-40B4-BE49-F238E27FC236}">
                    <a16:creationId xmlns:a16="http://schemas.microsoft.com/office/drawing/2014/main" id="{C57F04B8-7C55-1F4A-A9AC-73E93897EC7E}"/>
                  </a:ext>
                </a:extLst>
              </p:cNvPr>
              <p:cNvSpPr/>
              <p:nvPr/>
            </p:nvSpPr>
            <p:spPr>
              <a:xfrm>
                <a:off x="4384628" y="2461489"/>
                <a:ext cx="1485100" cy="2378139"/>
              </a:xfrm>
              <a:prstGeom prst="rect">
                <a:avLst/>
              </a:prstGeom>
              <a:noFill/>
              <a:ln w="12700">
                <a:solidFill>
                  <a:srgbClr val="36C2B4"/>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200" dirty="0">
                    <a:solidFill>
                      <a:srgbClr val="36C2B4"/>
                    </a:solidFill>
                  </a:rPr>
                  <a:t>Availability Zone 2</a:t>
                </a:r>
              </a:p>
            </p:txBody>
          </p:sp>
          <p:pic>
            <p:nvPicPr>
              <p:cNvPr id="35" name="Graphic 34">
                <a:extLst>
                  <a:ext uri="{FF2B5EF4-FFF2-40B4-BE49-F238E27FC236}">
                    <a16:creationId xmlns:a16="http://schemas.microsoft.com/office/drawing/2014/main" id="{94FC23A4-BF5D-C149-B612-3784B38E9298}"/>
                  </a:ext>
                  <a:ext uri="{C183D7F6-B498-43B3-948B-1728B52AA6E4}">
                    <adec:decorative xmlns:adec="http://schemas.microsoft.com/office/drawing/2017/decorative" val="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26820" y="3371310"/>
                <a:ext cx="394953" cy="394953"/>
              </a:xfrm>
              <a:prstGeom prst="rect">
                <a:avLst/>
              </a:prstGeom>
            </p:spPr>
          </p:pic>
          <p:sp>
            <p:nvSpPr>
              <p:cNvPr id="36" name="TextBox 35">
                <a:extLst>
                  <a:ext uri="{FF2B5EF4-FFF2-40B4-BE49-F238E27FC236}">
                    <a16:creationId xmlns:a16="http://schemas.microsoft.com/office/drawing/2014/main" id="{D2CD9111-3B04-8F40-8DE9-2DF14061E583}"/>
                  </a:ext>
                </a:extLst>
              </p:cNvPr>
              <p:cNvSpPr txBox="1"/>
              <p:nvPr/>
            </p:nvSpPr>
            <p:spPr>
              <a:xfrm>
                <a:off x="2781746" y="3790403"/>
                <a:ext cx="1485100" cy="276999"/>
              </a:xfrm>
              <a:prstGeom prst="rect">
                <a:avLst/>
              </a:prstGeom>
              <a:noFill/>
            </p:spPr>
            <p:txBody>
              <a:bodyPr wrap="square" rtlCol="0">
                <a:spAutoFit/>
              </a:bodyPr>
              <a:lstStyle/>
              <a:p>
                <a:pPr algn="ctr"/>
                <a:r>
                  <a:rPr lang="en-US" sz="1200" dirty="0">
                    <a:solidFill>
                      <a:srgbClr val="232F3E"/>
                    </a:solidFill>
                  </a:rPr>
                  <a:t>Instance</a:t>
                </a:r>
              </a:p>
            </p:txBody>
          </p:sp>
          <p:sp>
            <p:nvSpPr>
              <p:cNvPr id="37" name="Rectangle 36">
                <a:extLst>
                  <a:ext uri="{FF2B5EF4-FFF2-40B4-BE49-F238E27FC236}">
                    <a16:creationId xmlns:a16="http://schemas.microsoft.com/office/drawing/2014/main" id="{775DD1B9-F9C8-D240-924B-52CEDC746E3C}"/>
                  </a:ext>
                  <a:ext uri="{C183D7F6-B498-43B3-948B-1728B52AA6E4}">
                    <adec:decorative xmlns:adec="http://schemas.microsoft.com/office/drawing/2017/decorative" val="1"/>
                  </a:ext>
                </a:extLst>
              </p:cNvPr>
              <p:cNvSpPr/>
              <p:nvPr/>
            </p:nvSpPr>
            <p:spPr>
              <a:xfrm>
                <a:off x="2748294" y="3109633"/>
                <a:ext cx="1406263" cy="942380"/>
              </a:xfrm>
              <a:prstGeom prst="rect">
                <a:avLst/>
              </a:prstGeom>
              <a:solidFill>
                <a:srgbClr val="1D8900">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5"/>
                    </a:solidFill>
                  </a:rPr>
                  <a:t>Public subnet</a:t>
                </a:r>
              </a:p>
            </p:txBody>
          </p:sp>
          <p:sp>
            <p:nvSpPr>
              <p:cNvPr id="38" name="Rectangle 37">
                <a:extLst>
                  <a:ext uri="{FF2B5EF4-FFF2-40B4-BE49-F238E27FC236}">
                    <a16:creationId xmlns:a16="http://schemas.microsoft.com/office/drawing/2014/main" id="{197B3237-777F-154C-9545-6BB566D10E62}"/>
                  </a:ext>
                </a:extLst>
              </p:cNvPr>
              <p:cNvSpPr/>
              <p:nvPr/>
            </p:nvSpPr>
            <p:spPr>
              <a:xfrm>
                <a:off x="2768305" y="4088447"/>
                <a:ext cx="1406263" cy="561106"/>
              </a:xfrm>
              <a:prstGeom prst="rect">
                <a:avLst/>
              </a:prstGeom>
              <a:solidFill>
                <a:srgbClr val="007CBC">
                  <a:alpha val="9804"/>
                </a:srgb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algn="l"/>
                <a:r>
                  <a:rPr lang="en-US" sz="1200" dirty="0">
                    <a:solidFill>
                      <a:schemeClr val="accent3"/>
                    </a:solidFill>
                  </a:rPr>
                  <a:t>Private subnet</a:t>
                </a:r>
              </a:p>
            </p:txBody>
          </p:sp>
          <p:pic>
            <p:nvPicPr>
              <p:cNvPr id="39" name="Graphic 38">
                <a:extLst>
                  <a:ext uri="{FF2B5EF4-FFF2-40B4-BE49-F238E27FC236}">
                    <a16:creationId xmlns:a16="http://schemas.microsoft.com/office/drawing/2014/main" id="{6A4DA338-5DEC-A549-87E6-C3008455FC64}"/>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768305" y="3107275"/>
                <a:ext cx="274320" cy="274320"/>
              </a:xfrm>
              <a:prstGeom prst="rect">
                <a:avLst/>
              </a:prstGeom>
            </p:spPr>
          </p:pic>
          <p:pic>
            <p:nvPicPr>
              <p:cNvPr id="40" name="Graphic 39">
                <a:extLst>
                  <a:ext uri="{FF2B5EF4-FFF2-40B4-BE49-F238E27FC236}">
                    <a16:creationId xmlns:a16="http://schemas.microsoft.com/office/drawing/2014/main" id="{CF4839DE-0636-E041-83E5-4F7A80284ED1}"/>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68305" y="4114005"/>
                <a:ext cx="274320" cy="274320"/>
              </a:xfrm>
              <a:prstGeom prst="rect">
                <a:avLst/>
              </a:prstGeom>
            </p:spPr>
          </p:pic>
          <p:sp>
            <p:nvSpPr>
              <p:cNvPr id="41" name="Rectangle 40">
                <a:extLst>
                  <a:ext uri="{FF2B5EF4-FFF2-40B4-BE49-F238E27FC236}">
                    <a16:creationId xmlns:a16="http://schemas.microsoft.com/office/drawing/2014/main" id="{5B6DAFA9-25CE-0243-930F-732ADEB24A44}"/>
                  </a:ext>
                </a:extLst>
              </p:cNvPr>
              <p:cNvSpPr/>
              <p:nvPr/>
            </p:nvSpPr>
            <p:spPr>
              <a:xfrm>
                <a:off x="2091969" y="2152185"/>
                <a:ext cx="4004031" cy="2843561"/>
              </a:xfrm>
              <a:prstGeom prst="rect">
                <a:avLst/>
              </a:prstGeom>
              <a:noFill/>
              <a:ln w="12700">
                <a:solidFill>
                  <a:srgbClr val="36C2B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200" dirty="0">
                    <a:solidFill>
                      <a:srgbClr val="36C2B4"/>
                    </a:solidFill>
                  </a:rPr>
                  <a:t>Region</a:t>
                </a:r>
              </a:p>
            </p:txBody>
          </p:sp>
          <p:pic>
            <p:nvPicPr>
              <p:cNvPr id="42" name="Graphic 41">
                <a:extLst>
                  <a:ext uri="{FF2B5EF4-FFF2-40B4-BE49-F238E27FC236}">
                    <a16:creationId xmlns:a16="http://schemas.microsoft.com/office/drawing/2014/main" id="{0E115595-8F5D-4F43-B9D4-5A7BC1A34DA9}"/>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091968" y="2152185"/>
                <a:ext cx="274320" cy="274320"/>
              </a:xfrm>
              <a:prstGeom prst="rect">
                <a:avLst/>
              </a:prstGeom>
            </p:spPr>
          </p:pic>
        </p:grpSp>
        <p:cxnSp>
          <p:nvCxnSpPr>
            <p:cNvPr id="5" name="Straight Arrow Connector 4">
              <a:extLst>
                <a:ext uri="{FF2B5EF4-FFF2-40B4-BE49-F238E27FC236}">
                  <a16:creationId xmlns:a16="http://schemas.microsoft.com/office/drawing/2014/main" id="{279BB43B-3CF8-9B48-ACC6-E290F779AF30}"/>
                </a:ext>
              </a:extLst>
            </p:cNvPr>
            <p:cNvCxnSpPr>
              <a:cxnSpLocks/>
            </p:cNvCxnSpPr>
            <p:nvPr/>
          </p:nvCxnSpPr>
          <p:spPr>
            <a:xfrm>
              <a:off x="5694561" y="4898748"/>
              <a:ext cx="184477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6B70C7F-23C0-B74E-B16C-A0AF6DDB8DF5}"/>
                </a:ext>
              </a:extLst>
            </p:cNvPr>
            <p:cNvSpPr txBox="1"/>
            <p:nvPr/>
          </p:nvSpPr>
          <p:spPr>
            <a:xfrm>
              <a:off x="3958882" y="4483250"/>
              <a:ext cx="1665721" cy="830997"/>
            </a:xfrm>
            <a:prstGeom prst="rect">
              <a:avLst/>
            </a:prstGeom>
            <a:noFill/>
          </p:spPr>
          <p:txBody>
            <a:bodyPr wrap="square" rtlCol="0">
              <a:spAutoFit/>
            </a:bodyPr>
            <a:lstStyle/>
            <a:p>
              <a:pPr algn="r"/>
              <a:r>
                <a:rPr lang="en-US" sz="1600" i="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Example</a:t>
              </a:r>
              <a:r>
                <a:rPr lang="en-US" sz="1600" i="1" dirty="0">
                  <a:latin typeface="Amazon Ember Light" panose="020B0403020204020204" pitchFamily="34" charset="0"/>
                  <a:ea typeface="Amazon Ember Light" panose="020B0403020204020204" pitchFamily="34" charset="0"/>
                  <a:cs typeface="Amazon Ember Light" panose="020B0403020204020204" pitchFamily="34" charset="0"/>
                </a:rPr>
                <a:t>: specify to deploy the instance here</a:t>
              </a:r>
            </a:p>
          </p:txBody>
        </p:sp>
      </p:grpSp>
      <p:sp>
        <p:nvSpPr>
          <p:cNvPr id="43" name="Content Placeholder 8">
            <a:extLst>
              <a:ext uri="{FF2B5EF4-FFF2-40B4-BE49-F238E27FC236}">
                <a16:creationId xmlns:a16="http://schemas.microsoft.com/office/drawing/2014/main" id="{38A53F34-AFD8-5F4A-AA38-128CCCB9675F}"/>
              </a:ext>
              <a:ext uri="{C183D7F6-B498-43B3-948B-1728B52AA6E4}">
                <adec:decorative xmlns:adec="http://schemas.microsoft.com/office/drawing/2017/decorative" val="1"/>
              </a:ext>
            </a:extLst>
          </p:cNvPr>
          <p:cNvSpPr txBox="1">
            <a:spLocks/>
          </p:cNvSpPr>
          <p:nvPr/>
        </p:nvSpPr>
        <p:spPr>
          <a:xfrm>
            <a:off x="419100" y="1528176"/>
            <a:ext cx="3469824" cy="3566174"/>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3640669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20</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4. Attach IAM role (optional)</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4217178" y="1143000"/>
            <a:ext cx="7736472" cy="5291750"/>
          </a:xfrm>
        </p:spPr>
        <p:txBody>
          <a:bodyPr/>
          <a:lstStyle/>
          <a:p>
            <a:r>
              <a:rPr lang="en-US" sz="2000" dirty="0"/>
              <a:t>Will software on the EC2 instance need to interact with other AWS services?</a:t>
            </a:r>
          </a:p>
          <a:p>
            <a:pPr lvl="1"/>
            <a:r>
              <a:rPr lang="en-US" sz="2000" dirty="0"/>
              <a:t>If yes, attach an appropriate </a:t>
            </a:r>
            <a:r>
              <a:rPr lang="en-US" sz="2000" b="1" dirty="0">
                <a:solidFill>
                  <a:srgbClr val="504BAB"/>
                </a:solidFill>
              </a:rPr>
              <a:t>IAM Role</a:t>
            </a:r>
            <a:r>
              <a:rPr lang="en-US" sz="2000" dirty="0"/>
              <a:t>.</a:t>
            </a:r>
            <a:endParaRPr lang="en-US" sz="1600" dirty="0"/>
          </a:p>
          <a:p>
            <a:r>
              <a:rPr lang="en-US" sz="2000" dirty="0"/>
              <a:t>An AWS Identity and Access Management (IAM) role that is attached to an EC2 instance is kept in an </a:t>
            </a:r>
            <a:r>
              <a:rPr lang="en-US" sz="2000" b="1" dirty="0">
                <a:solidFill>
                  <a:srgbClr val="504BAB"/>
                </a:solidFill>
              </a:rPr>
              <a:t>instance profile</a:t>
            </a:r>
            <a:r>
              <a:rPr lang="en-US" sz="2000" dirty="0"/>
              <a:t>.</a:t>
            </a:r>
            <a:endParaRPr lang="en-US" dirty="0"/>
          </a:p>
          <a:p>
            <a:r>
              <a:rPr lang="en-US" sz="2000" dirty="0"/>
              <a:t>You are </a:t>
            </a:r>
            <a:r>
              <a:rPr lang="en-US" sz="2000" i="1" dirty="0"/>
              <a:t>not</a:t>
            </a:r>
            <a:r>
              <a:rPr lang="en-US" sz="2000" dirty="0"/>
              <a:t> restricted to attaching a role only at instance launch.</a:t>
            </a:r>
          </a:p>
          <a:p>
            <a:pPr lvl="1"/>
            <a:r>
              <a:rPr lang="en-US" sz="2000" dirty="0"/>
              <a:t>You can also attach a role to an instance that already exists.</a:t>
            </a:r>
          </a:p>
        </p:txBody>
      </p:sp>
      <p:sp>
        <p:nvSpPr>
          <p:cNvPr id="28" name="TextBox 27">
            <a:extLst>
              <a:ext uri="{FF2B5EF4-FFF2-40B4-BE49-F238E27FC236}">
                <a16:creationId xmlns:a16="http://schemas.microsoft.com/office/drawing/2014/main" id="{477951E5-B6D5-5D43-9ED8-0EE53C136CFB}"/>
              </a:ext>
            </a:extLst>
          </p:cNvPr>
          <p:cNvSpPr txBox="1"/>
          <p:nvPr/>
        </p:nvSpPr>
        <p:spPr>
          <a:xfrm>
            <a:off x="4060615" y="4533048"/>
            <a:ext cx="1096775" cy="369332"/>
          </a:xfrm>
          <a:prstGeom prst="rect">
            <a:avLst/>
          </a:prstGeom>
          <a:noFill/>
        </p:spPr>
        <p:txBody>
          <a:bodyPr wrap="none" rtlCol="0">
            <a:spAutoFit/>
          </a:bodyPr>
          <a:lstStyle/>
          <a:p>
            <a:r>
              <a:rPr lang="en-US"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grpSp>
        <p:nvGrpSpPr>
          <p:cNvPr id="27" name="Group 26" descr="Diagram showing that a role granting S3 bucket access is attached to an instance and that as a result,an application on that instance can access an S3 bucket with objects in it.">
            <a:extLst>
              <a:ext uri="{FF2B5EF4-FFF2-40B4-BE49-F238E27FC236}">
                <a16:creationId xmlns:a16="http://schemas.microsoft.com/office/drawing/2014/main" id="{4FEB46E4-FB1F-1345-A983-91C05634C2DC}"/>
              </a:ext>
            </a:extLst>
          </p:cNvPr>
          <p:cNvGrpSpPr/>
          <p:nvPr/>
        </p:nvGrpSpPr>
        <p:grpSpPr>
          <a:xfrm>
            <a:off x="4347805" y="4546773"/>
            <a:ext cx="5983824" cy="1758140"/>
            <a:chOff x="4324283" y="1904556"/>
            <a:chExt cx="5983824" cy="1758140"/>
          </a:xfrm>
        </p:grpSpPr>
        <p:pic>
          <p:nvPicPr>
            <p:cNvPr id="14" name="Graphic 13">
              <a:extLst>
                <a:ext uri="{FF2B5EF4-FFF2-40B4-BE49-F238E27FC236}">
                  <a16:creationId xmlns:a16="http://schemas.microsoft.com/office/drawing/2014/main" id="{B423AD71-FDEE-D249-A7BC-6F2812E0EEB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0397" y="2228705"/>
              <a:ext cx="469900" cy="469900"/>
            </a:xfrm>
            <a:prstGeom prst="rect">
              <a:avLst/>
            </a:prstGeom>
          </p:spPr>
        </p:pic>
        <p:pic>
          <p:nvPicPr>
            <p:cNvPr id="15" name="Graphic 14">
              <a:extLst>
                <a:ext uri="{FF2B5EF4-FFF2-40B4-BE49-F238E27FC236}">
                  <a16:creationId xmlns:a16="http://schemas.microsoft.com/office/drawing/2014/main" id="{CE7FF3D1-9458-324D-A3B0-04052565E15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77101" y="2164472"/>
              <a:ext cx="606130" cy="606130"/>
            </a:xfrm>
            <a:prstGeom prst="rect">
              <a:avLst/>
            </a:prstGeom>
          </p:spPr>
        </p:pic>
        <p:sp>
          <p:nvSpPr>
            <p:cNvPr id="16" name="TextBox 15">
              <a:extLst>
                <a:ext uri="{FF2B5EF4-FFF2-40B4-BE49-F238E27FC236}">
                  <a16:creationId xmlns:a16="http://schemas.microsoft.com/office/drawing/2014/main" id="{CBFB5091-DCC2-604E-9867-127093E114BF}"/>
                </a:ext>
              </a:extLst>
            </p:cNvPr>
            <p:cNvSpPr txBox="1"/>
            <p:nvPr/>
          </p:nvSpPr>
          <p:spPr>
            <a:xfrm>
              <a:off x="6902315" y="2800777"/>
              <a:ext cx="1513305" cy="338554"/>
            </a:xfrm>
            <a:prstGeom prst="rect">
              <a:avLst/>
            </a:prstGeom>
            <a:noFill/>
          </p:spPr>
          <p:txBody>
            <a:bodyPr wrap="square" rtlCol="0">
              <a:spAutoFit/>
            </a:bodyPr>
            <a:lstStyle/>
            <a:p>
              <a:pPr algn="ctr"/>
              <a:r>
                <a:rPr lang="en-US" sz="1600" dirty="0"/>
                <a:t>Instance</a:t>
              </a:r>
            </a:p>
          </p:txBody>
        </p:sp>
        <p:sp>
          <p:nvSpPr>
            <p:cNvPr id="17" name="TextBox 16">
              <a:extLst>
                <a:ext uri="{FF2B5EF4-FFF2-40B4-BE49-F238E27FC236}">
                  <a16:creationId xmlns:a16="http://schemas.microsoft.com/office/drawing/2014/main" id="{509C5BA9-960B-7443-A8B9-05E218CF09D0}"/>
                </a:ext>
              </a:extLst>
            </p:cNvPr>
            <p:cNvSpPr txBox="1"/>
            <p:nvPr/>
          </p:nvSpPr>
          <p:spPr>
            <a:xfrm>
              <a:off x="4324283" y="2585478"/>
              <a:ext cx="2507360" cy="1077218"/>
            </a:xfrm>
            <a:prstGeom prst="rect">
              <a:avLst/>
            </a:prstGeom>
            <a:noFill/>
          </p:spPr>
          <p:txBody>
            <a:bodyPr wrap="square" rtlCol="0">
              <a:spAutoFit/>
            </a:bodyPr>
            <a:lstStyle/>
            <a:p>
              <a:pPr algn="ctr"/>
              <a:r>
                <a:rPr lang="en-US" sz="1600" dirty="0"/>
                <a:t>Role that grants Amazon Simple Storage Service (Amazon S3) bucket access permissions</a:t>
              </a:r>
            </a:p>
          </p:txBody>
        </p:sp>
        <p:sp>
          <p:nvSpPr>
            <p:cNvPr id="19" name="TextBox 18">
              <a:extLst>
                <a:ext uri="{FF2B5EF4-FFF2-40B4-BE49-F238E27FC236}">
                  <a16:creationId xmlns:a16="http://schemas.microsoft.com/office/drawing/2014/main" id="{527766CA-DB76-C94F-9D41-0D81EE24EC6C}"/>
                </a:ext>
              </a:extLst>
            </p:cNvPr>
            <p:cNvSpPr txBox="1"/>
            <p:nvPr/>
          </p:nvSpPr>
          <p:spPr>
            <a:xfrm>
              <a:off x="5920292" y="2145400"/>
              <a:ext cx="1357643" cy="338554"/>
            </a:xfrm>
            <a:prstGeom prst="rect">
              <a:avLst/>
            </a:prstGeom>
            <a:noFill/>
          </p:spPr>
          <p:txBody>
            <a:bodyPr wrap="square" rtlCol="0">
              <a:spAutoFit/>
            </a:bodyPr>
            <a:lstStyle/>
            <a:p>
              <a:pPr algn="ctr"/>
              <a:r>
                <a:rPr lang="en-US" sz="1600" dirty="0"/>
                <a:t>attached to</a:t>
              </a:r>
            </a:p>
          </p:txBody>
        </p:sp>
        <p:pic>
          <p:nvPicPr>
            <p:cNvPr id="20" name="Graphic 19">
              <a:extLst>
                <a:ext uri="{FF2B5EF4-FFF2-40B4-BE49-F238E27FC236}">
                  <a16:creationId xmlns:a16="http://schemas.microsoft.com/office/drawing/2014/main" id="{F60A4D16-82B4-8944-A27F-6DC46AF3973E}"/>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09581" y="2183069"/>
              <a:ext cx="469900" cy="469900"/>
            </a:xfrm>
            <a:prstGeom prst="rect">
              <a:avLst/>
            </a:prstGeom>
          </p:spPr>
        </p:pic>
        <p:sp>
          <p:nvSpPr>
            <p:cNvPr id="21" name="TextBox 20">
              <a:extLst>
                <a:ext uri="{FF2B5EF4-FFF2-40B4-BE49-F238E27FC236}">
                  <a16:creationId xmlns:a16="http://schemas.microsoft.com/office/drawing/2014/main" id="{51672240-44FD-D543-B0E6-891EF38A67D9}"/>
                </a:ext>
              </a:extLst>
            </p:cNvPr>
            <p:cNvSpPr txBox="1"/>
            <p:nvPr/>
          </p:nvSpPr>
          <p:spPr>
            <a:xfrm>
              <a:off x="8976241" y="2692886"/>
              <a:ext cx="1331866" cy="584775"/>
            </a:xfrm>
            <a:prstGeom prst="rect">
              <a:avLst/>
            </a:prstGeom>
            <a:noFill/>
          </p:spPr>
          <p:txBody>
            <a:bodyPr wrap="square" rtlCol="0">
              <a:spAutoFit/>
            </a:bodyPr>
            <a:lstStyle/>
            <a:p>
              <a:pPr algn="ctr"/>
              <a:r>
                <a:rPr lang="en-US" sz="1600" dirty="0"/>
                <a:t>S3 bucket with objects</a:t>
              </a:r>
            </a:p>
          </p:txBody>
        </p:sp>
        <p:sp>
          <p:nvSpPr>
            <p:cNvPr id="22" name="TextBox 21">
              <a:extLst>
                <a:ext uri="{FF2B5EF4-FFF2-40B4-BE49-F238E27FC236}">
                  <a16:creationId xmlns:a16="http://schemas.microsoft.com/office/drawing/2014/main" id="{794260F2-50AC-1840-B4EF-B73C5C7A3246}"/>
                </a:ext>
              </a:extLst>
            </p:cNvPr>
            <p:cNvSpPr txBox="1"/>
            <p:nvPr/>
          </p:nvSpPr>
          <p:spPr>
            <a:xfrm>
              <a:off x="7838556" y="1904556"/>
              <a:ext cx="1571025" cy="830997"/>
            </a:xfrm>
            <a:prstGeom prst="rect">
              <a:avLst/>
            </a:prstGeom>
            <a:noFill/>
          </p:spPr>
          <p:txBody>
            <a:bodyPr wrap="square" rtlCol="0">
              <a:spAutoFit/>
            </a:bodyPr>
            <a:lstStyle/>
            <a:p>
              <a:pPr algn="ctr"/>
              <a:r>
                <a:rPr lang="en-US" sz="1600" dirty="0"/>
                <a:t>Application on instance can access</a:t>
              </a:r>
            </a:p>
          </p:txBody>
        </p:sp>
        <p:cxnSp>
          <p:nvCxnSpPr>
            <p:cNvPr id="23" name="Straight Arrow Connector 22">
              <a:extLst>
                <a:ext uri="{FF2B5EF4-FFF2-40B4-BE49-F238E27FC236}">
                  <a16:creationId xmlns:a16="http://schemas.microsoft.com/office/drawing/2014/main" id="{9E2401F5-961D-1646-9327-9BE58A1E0D48}"/>
                </a:ext>
              </a:extLst>
            </p:cNvPr>
            <p:cNvCxnSpPr/>
            <p:nvPr/>
          </p:nvCxnSpPr>
          <p:spPr>
            <a:xfrm>
              <a:off x="8065666" y="2457344"/>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469F9BD-7004-E14A-A887-6EF2EFAF4DD7}"/>
                </a:ext>
              </a:extLst>
            </p:cNvPr>
            <p:cNvCxnSpPr/>
            <p:nvPr/>
          </p:nvCxnSpPr>
          <p:spPr>
            <a:xfrm>
              <a:off x="6019391" y="2463655"/>
              <a:ext cx="1343915" cy="4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9" name="Content Placeholder 8">
            <a:extLst>
              <a:ext uri="{FF2B5EF4-FFF2-40B4-BE49-F238E27FC236}">
                <a16:creationId xmlns:a16="http://schemas.microsoft.com/office/drawing/2014/main" id="{26D72DF9-E758-9A46-87CE-99ABF4279B56}"/>
              </a:ext>
              <a:ext uri="{C183D7F6-B498-43B3-948B-1728B52AA6E4}">
                <adec:decorative xmlns:adec="http://schemas.microsoft.com/office/drawing/2017/decorative" val="1"/>
              </a:ext>
            </a:extLst>
          </p:cNvPr>
          <p:cNvSpPr txBox="1">
            <a:spLocks/>
          </p:cNvSpPr>
          <p:nvPr/>
        </p:nvSpPr>
        <p:spPr>
          <a:xfrm>
            <a:off x="419100" y="1528176"/>
            <a:ext cx="3407842"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3916470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21</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5. User data script (optional)</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4049486" y="3564964"/>
            <a:ext cx="7904164" cy="2869786"/>
          </a:xfrm>
        </p:spPr>
        <p:txBody>
          <a:bodyPr/>
          <a:lstStyle/>
          <a:p>
            <a:r>
              <a:rPr lang="en-US" sz="2000" dirty="0"/>
              <a:t>Optionally specify a user data script at instance launch </a:t>
            </a:r>
          </a:p>
          <a:p>
            <a:r>
              <a:rPr lang="en-US" sz="2000" dirty="0"/>
              <a:t>Use </a:t>
            </a:r>
            <a:r>
              <a:rPr lang="en-US" sz="2000" b="1" dirty="0">
                <a:solidFill>
                  <a:srgbClr val="504BAB"/>
                </a:solidFill>
              </a:rPr>
              <a:t>user data </a:t>
            </a:r>
            <a:r>
              <a:rPr lang="en-US" sz="2000" dirty="0"/>
              <a:t>scripts</a:t>
            </a:r>
            <a:r>
              <a:rPr lang="en-US" sz="2000" b="1" dirty="0">
                <a:solidFill>
                  <a:schemeClr val="accent5"/>
                </a:solidFill>
              </a:rPr>
              <a:t> </a:t>
            </a:r>
            <a:r>
              <a:rPr lang="en-US" sz="2000" dirty="0"/>
              <a:t>to customize the runtime environment of your instance</a:t>
            </a:r>
          </a:p>
          <a:p>
            <a:pPr lvl="1"/>
            <a:r>
              <a:rPr lang="en-US" sz="1800" dirty="0">
                <a:solidFill>
                  <a:schemeClr val="accent6"/>
                </a:solidFill>
              </a:rPr>
              <a:t>Script runs the first time the instance starts</a:t>
            </a:r>
            <a:endParaRPr lang="en-US" sz="1600" dirty="0"/>
          </a:p>
          <a:p>
            <a:r>
              <a:rPr lang="en-US" sz="2000" dirty="0"/>
              <a:t>Can be used strategically</a:t>
            </a:r>
          </a:p>
          <a:p>
            <a:pPr lvl="1"/>
            <a:r>
              <a:rPr lang="en-US" sz="1800" dirty="0"/>
              <a:t>For example, reduce the number of custom AMIs that you build and maintain</a:t>
            </a:r>
          </a:p>
          <a:p>
            <a:pPr marL="457200" lvl="1" indent="0">
              <a:buNone/>
            </a:pPr>
            <a:endParaRPr lang="en-US" sz="1800" dirty="0"/>
          </a:p>
        </p:txBody>
      </p:sp>
      <p:grpSp>
        <p:nvGrpSpPr>
          <p:cNvPr id="28" name="Group 27" descr="Diagram showing an AMI on the left, with an arrow point to a running instance. The arrow shows a user data script on top of it with three lines of code (code discussed in the notes below this slide).">
            <a:extLst>
              <a:ext uri="{FF2B5EF4-FFF2-40B4-BE49-F238E27FC236}">
                <a16:creationId xmlns:a16="http://schemas.microsoft.com/office/drawing/2014/main" id="{83924710-65D2-8D4D-A75F-CFB2A561836F}"/>
              </a:ext>
            </a:extLst>
          </p:cNvPr>
          <p:cNvGrpSpPr/>
          <p:nvPr/>
        </p:nvGrpSpPr>
        <p:grpSpPr>
          <a:xfrm>
            <a:off x="4547317" y="1443189"/>
            <a:ext cx="6099091" cy="2106175"/>
            <a:chOff x="4547317" y="1443189"/>
            <a:chExt cx="6099091" cy="2106175"/>
          </a:xfrm>
        </p:grpSpPr>
        <p:cxnSp>
          <p:nvCxnSpPr>
            <p:cNvPr id="5" name="Straight Arrow Connector 4">
              <a:extLst>
                <a:ext uri="{FF2B5EF4-FFF2-40B4-BE49-F238E27FC236}">
                  <a16:creationId xmlns:a16="http://schemas.microsoft.com/office/drawing/2014/main" id="{7CFA2A0A-6DAB-3D48-96C0-18EA633610B6}"/>
                </a:ext>
              </a:extLst>
            </p:cNvPr>
            <p:cNvCxnSpPr>
              <a:cxnSpLocks/>
            </p:cNvCxnSpPr>
            <p:nvPr/>
          </p:nvCxnSpPr>
          <p:spPr>
            <a:xfrm flipV="1">
              <a:off x="5646970" y="2393518"/>
              <a:ext cx="3660924" cy="3583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736C2FA-C4DB-5844-B150-219C79B96997}"/>
                </a:ext>
              </a:extLst>
            </p:cNvPr>
            <p:cNvSpPr txBox="1"/>
            <p:nvPr/>
          </p:nvSpPr>
          <p:spPr>
            <a:xfrm>
              <a:off x="4547317" y="2892927"/>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AMI</a:t>
              </a:r>
            </a:p>
          </p:txBody>
        </p:sp>
        <p:sp>
          <p:nvSpPr>
            <p:cNvPr id="24" name="TextBox 23">
              <a:extLst>
                <a:ext uri="{FF2B5EF4-FFF2-40B4-BE49-F238E27FC236}">
                  <a16:creationId xmlns:a16="http://schemas.microsoft.com/office/drawing/2014/main" id="{D56F5C00-4102-DA47-81E6-825B32C6ACA1}"/>
                </a:ext>
              </a:extLst>
            </p:cNvPr>
            <p:cNvSpPr txBox="1"/>
            <p:nvPr/>
          </p:nvSpPr>
          <p:spPr>
            <a:xfrm>
              <a:off x="8914201" y="2841478"/>
              <a:ext cx="1732207" cy="707886"/>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Running </a:t>
              </a:r>
              <a:br>
                <a:rPr lang="en-US" sz="2000" dirty="0">
                  <a:latin typeface="Amazon Ember" panose="020B0603020204020204" pitchFamily="34" charset="0"/>
                  <a:ea typeface="Amazon Ember" panose="020B0603020204020204" pitchFamily="34" charset="0"/>
                  <a:cs typeface="Amazon Ember" panose="020B0603020204020204" pitchFamily="34" charset="0"/>
                </a:rPr>
              </a:br>
              <a:r>
                <a:rPr lang="en-US" sz="2000" dirty="0">
                  <a:latin typeface="Amazon Ember" panose="020B0603020204020204" pitchFamily="34" charset="0"/>
                  <a:ea typeface="Amazon Ember" panose="020B0603020204020204" pitchFamily="34" charset="0"/>
                  <a:cs typeface="Amazon Ember" panose="020B0603020204020204" pitchFamily="34" charset="0"/>
                </a:rPr>
                <a:t>EC2 instance</a:t>
              </a:r>
            </a:p>
          </p:txBody>
        </p:sp>
        <p:sp>
          <p:nvSpPr>
            <p:cNvPr id="20" name="Rectangle 19">
              <a:extLst>
                <a:ext uri="{FF2B5EF4-FFF2-40B4-BE49-F238E27FC236}">
                  <a16:creationId xmlns:a16="http://schemas.microsoft.com/office/drawing/2014/main" id="{DA350BEB-22F6-6C4A-AC8E-8A2160DF44E9}"/>
                </a:ext>
              </a:extLst>
            </p:cNvPr>
            <p:cNvSpPr/>
            <p:nvPr/>
          </p:nvSpPr>
          <p:spPr>
            <a:xfrm>
              <a:off x="5948320" y="1855014"/>
              <a:ext cx="2920568" cy="1402165"/>
            </a:xfrm>
            <a:prstGeom prst="rect">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21" name="TextBox 20">
              <a:extLst>
                <a:ext uri="{FF2B5EF4-FFF2-40B4-BE49-F238E27FC236}">
                  <a16:creationId xmlns:a16="http://schemas.microsoft.com/office/drawing/2014/main" id="{65DEB42B-78C8-5A40-B224-42AF44F844F5}"/>
                </a:ext>
              </a:extLst>
            </p:cNvPr>
            <p:cNvSpPr txBox="1"/>
            <p:nvPr/>
          </p:nvSpPr>
          <p:spPr>
            <a:xfrm>
              <a:off x="6641138" y="1443189"/>
              <a:ext cx="1391500" cy="400110"/>
            </a:xfrm>
            <a:prstGeom prst="rect">
              <a:avLst/>
            </a:prstGeom>
            <a:no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User data</a:t>
              </a:r>
            </a:p>
          </p:txBody>
        </p:sp>
        <p:sp>
          <p:nvSpPr>
            <p:cNvPr id="22" name="Rectangle 21">
              <a:extLst>
                <a:ext uri="{FF2B5EF4-FFF2-40B4-BE49-F238E27FC236}">
                  <a16:creationId xmlns:a16="http://schemas.microsoft.com/office/drawing/2014/main" id="{02DACCA5-FEE5-9D4C-A485-D17CBCA823E0}"/>
                </a:ext>
              </a:extLst>
            </p:cNvPr>
            <p:cNvSpPr/>
            <p:nvPr/>
          </p:nvSpPr>
          <p:spPr>
            <a:xfrm>
              <a:off x="6127833" y="1913362"/>
              <a:ext cx="2600309" cy="1159933"/>
            </a:xfrm>
            <a:prstGeom prst="rect">
              <a:avLst/>
            </a:prstGeom>
          </p:spPr>
          <p:txBody>
            <a:bodyPr wrap="square">
              <a:spAutoFit/>
            </a:bodyPr>
            <a:lstStyle/>
            <a:p>
              <a:pPr>
                <a:lnSpc>
                  <a:spcPct val="150000"/>
                </a:lnSpc>
              </a:pPr>
              <a:r>
                <a:rPr lang="en-US" sz="1600" dirty="0">
                  <a:latin typeface="Lucida Console" panose="020B0609040504020204" pitchFamily="49" charset="0"/>
                  <a:cs typeface="Courier New" panose="02070309020205020404" pitchFamily="49" charset="0"/>
                </a:rPr>
                <a:t>#!/bin/bash</a:t>
              </a:r>
            </a:p>
            <a:p>
              <a:pPr>
                <a:lnSpc>
                  <a:spcPct val="150000"/>
                </a:lnSpc>
              </a:pPr>
              <a:r>
                <a:rPr lang="en-US" sz="1600" dirty="0">
                  <a:latin typeface="Lucida Console" panose="020B0609040504020204" pitchFamily="49" charset="0"/>
                  <a:cs typeface="Courier New" panose="02070309020205020404" pitchFamily="49" charset="0"/>
                </a:rPr>
                <a:t>yum update –y</a:t>
              </a:r>
            </a:p>
            <a:p>
              <a:pPr>
                <a:lnSpc>
                  <a:spcPct val="150000"/>
                </a:lnSpc>
              </a:pPr>
              <a:r>
                <a:rPr lang="en-US" sz="1600" dirty="0">
                  <a:latin typeface="Lucida Console" panose="020B0609040504020204" pitchFamily="49" charset="0"/>
                  <a:cs typeface="Courier New" panose="02070309020205020404" pitchFamily="49" charset="0"/>
                </a:rPr>
                <a:t>yum install -y wget</a:t>
              </a:r>
            </a:p>
          </p:txBody>
        </p:sp>
        <p:pic>
          <p:nvPicPr>
            <p:cNvPr id="25" name="Graphic 24">
              <a:extLst>
                <a:ext uri="{FF2B5EF4-FFF2-40B4-BE49-F238E27FC236}">
                  <a16:creationId xmlns:a16="http://schemas.microsoft.com/office/drawing/2014/main" id="{F6F4CFBE-6043-774D-A7FD-97F357C81A5E}"/>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04732" y="2008229"/>
              <a:ext cx="842238" cy="842238"/>
            </a:xfrm>
            <a:prstGeom prst="rect">
              <a:avLst/>
            </a:prstGeom>
          </p:spPr>
        </p:pic>
        <p:pic>
          <p:nvPicPr>
            <p:cNvPr id="26" name="Graphic 25">
              <a:extLst>
                <a:ext uri="{FF2B5EF4-FFF2-40B4-BE49-F238E27FC236}">
                  <a16:creationId xmlns:a16="http://schemas.microsoft.com/office/drawing/2014/main" id="{67A70AD0-1CED-F749-8727-5BC28B2B2C2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07894" y="1967853"/>
              <a:ext cx="851329" cy="851329"/>
            </a:xfrm>
            <a:prstGeom prst="rect">
              <a:avLst/>
            </a:prstGeom>
          </p:spPr>
        </p:pic>
      </p:grpSp>
      <p:sp>
        <p:nvSpPr>
          <p:cNvPr id="29" name="Content Placeholder 8">
            <a:extLst>
              <a:ext uri="{FF2B5EF4-FFF2-40B4-BE49-F238E27FC236}">
                <a16:creationId xmlns:a16="http://schemas.microsoft.com/office/drawing/2014/main" id="{A9A63986-A567-A74D-96CD-227FBA564A9E}"/>
              </a:ext>
              <a:ext uri="{C183D7F6-B498-43B3-948B-1728B52AA6E4}">
                <adec:decorative xmlns:adec="http://schemas.microsoft.com/office/drawing/2017/decorative" val="1"/>
              </a:ext>
            </a:extLst>
          </p:cNvPr>
          <p:cNvSpPr txBox="1">
            <a:spLocks/>
          </p:cNvSpPr>
          <p:nvPr/>
        </p:nvSpPr>
        <p:spPr>
          <a:xfrm>
            <a:off x="419100" y="1528176"/>
            <a:ext cx="3489640"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242864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22</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6. Specify storage</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4012163" y="1143000"/>
            <a:ext cx="6741185" cy="5291750"/>
          </a:xfrm>
        </p:spPr>
        <p:txBody>
          <a:bodyPr/>
          <a:lstStyle/>
          <a:p>
            <a:pPr marL="287338" indent="-268288"/>
            <a:r>
              <a:rPr lang="en-US" sz="2400" dirty="0"/>
              <a:t>Configure the </a:t>
            </a:r>
            <a:r>
              <a:rPr lang="en-US" sz="2400" dirty="0">
                <a:solidFill>
                  <a:schemeClr val="accent6"/>
                </a:solidFill>
              </a:rPr>
              <a:t>root volume</a:t>
            </a:r>
          </a:p>
          <a:p>
            <a:pPr marL="744538" lvl="1" indent="-268288"/>
            <a:r>
              <a:rPr lang="en-US" sz="2000" dirty="0"/>
              <a:t> Where the guest operating system is installed</a:t>
            </a:r>
          </a:p>
          <a:p>
            <a:pPr marL="287338" indent="-268288"/>
            <a:r>
              <a:rPr lang="en-US" sz="2400" dirty="0"/>
              <a:t>Attach </a:t>
            </a:r>
            <a:r>
              <a:rPr lang="en-US" sz="2400" dirty="0">
                <a:solidFill>
                  <a:schemeClr val="accent6"/>
                </a:solidFill>
              </a:rPr>
              <a:t>additional storage volumes</a:t>
            </a:r>
            <a:r>
              <a:rPr lang="en-US" sz="2400" dirty="0"/>
              <a:t> (optional)</a:t>
            </a:r>
          </a:p>
          <a:p>
            <a:pPr marL="744538" lvl="1" indent="-268288"/>
            <a:r>
              <a:rPr lang="en-US" sz="2000" dirty="0"/>
              <a:t>AMI might already include more than one volume</a:t>
            </a:r>
          </a:p>
          <a:p>
            <a:pPr marL="287338" indent="-268288"/>
            <a:r>
              <a:rPr lang="en-US" sz="2400" dirty="0"/>
              <a:t>For each volume, specify:</a:t>
            </a:r>
          </a:p>
          <a:p>
            <a:pPr marL="744538" lvl="1" indent="-268288"/>
            <a:r>
              <a:rPr lang="en-US" sz="2000" dirty="0"/>
              <a:t>The </a:t>
            </a:r>
            <a:r>
              <a:rPr lang="en-US" sz="2000" b="1" dirty="0">
                <a:solidFill>
                  <a:srgbClr val="504BAB"/>
                </a:solidFill>
              </a:rPr>
              <a:t>size</a:t>
            </a:r>
            <a:r>
              <a:rPr lang="en-US" sz="2000" dirty="0"/>
              <a:t> of the disk (in GB)</a:t>
            </a:r>
          </a:p>
          <a:p>
            <a:pPr marL="744538" lvl="1" indent="-268288"/>
            <a:r>
              <a:rPr lang="en-US" sz="2000" dirty="0"/>
              <a:t>The </a:t>
            </a:r>
            <a:r>
              <a:rPr lang="en-US" sz="2000" b="1" dirty="0">
                <a:solidFill>
                  <a:srgbClr val="504BAB"/>
                </a:solidFill>
              </a:rPr>
              <a:t>volume type</a:t>
            </a:r>
          </a:p>
          <a:p>
            <a:pPr marL="1201738" lvl="2" indent="-268288"/>
            <a:r>
              <a:rPr lang="en-US" sz="1800" dirty="0"/>
              <a:t>Different types of solid state drives (SSDs) and hard disk drives (HDDs) are available</a:t>
            </a:r>
          </a:p>
          <a:p>
            <a:pPr marL="744538" lvl="1" indent="-268288"/>
            <a:r>
              <a:rPr lang="en-US" sz="2000" dirty="0"/>
              <a:t>If the volume will be deleted when the instance is terminated</a:t>
            </a:r>
          </a:p>
          <a:p>
            <a:pPr marL="744538" lvl="1" indent="-268288"/>
            <a:r>
              <a:rPr lang="en-US" sz="2000" dirty="0"/>
              <a:t>If </a:t>
            </a:r>
            <a:r>
              <a:rPr lang="en-US" sz="2000" b="1" dirty="0">
                <a:solidFill>
                  <a:srgbClr val="504BAB"/>
                </a:solidFill>
              </a:rPr>
              <a:t>encryption</a:t>
            </a:r>
            <a:r>
              <a:rPr lang="en-US" sz="2000" dirty="0"/>
              <a:t> should be used</a:t>
            </a:r>
          </a:p>
        </p:txBody>
      </p:sp>
      <p:pic>
        <p:nvPicPr>
          <p:cNvPr id="16" name="Graphic 15">
            <a:extLst>
              <a:ext uri="{FF2B5EF4-FFF2-40B4-BE49-F238E27FC236}">
                <a16:creationId xmlns:a16="http://schemas.microsoft.com/office/drawing/2014/main" id="{37277187-0CBC-3647-A0AB-8E468DECC8D1}"/>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99668" y="1524228"/>
            <a:ext cx="914400" cy="914400"/>
          </a:xfrm>
          <a:prstGeom prst="rect">
            <a:avLst/>
          </a:prstGeom>
        </p:spPr>
      </p:pic>
      <p:pic>
        <p:nvPicPr>
          <p:cNvPr id="17" name="Graphic 16">
            <a:extLst>
              <a:ext uri="{FF2B5EF4-FFF2-40B4-BE49-F238E27FC236}">
                <a16:creationId xmlns:a16="http://schemas.microsoft.com/office/drawing/2014/main" id="{FCE0DB5B-3CBC-FB4B-B0A8-3607409136A4}"/>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753348" y="2700248"/>
            <a:ext cx="807039" cy="807039"/>
          </a:xfrm>
          <a:prstGeom prst="rect">
            <a:avLst/>
          </a:prstGeom>
        </p:spPr>
      </p:pic>
      <p:sp>
        <p:nvSpPr>
          <p:cNvPr id="20" name="Content Placeholder 8">
            <a:extLst>
              <a:ext uri="{FF2B5EF4-FFF2-40B4-BE49-F238E27FC236}">
                <a16:creationId xmlns:a16="http://schemas.microsoft.com/office/drawing/2014/main" id="{52E825D5-0043-8F4A-B6CC-635D30D85B49}"/>
              </a:ext>
              <a:ext uri="{C183D7F6-B498-43B3-948B-1728B52AA6E4}">
                <adec:decorative xmlns:adec="http://schemas.microsoft.com/office/drawing/2017/decorative" val="1"/>
              </a:ext>
            </a:extLst>
          </p:cNvPr>
          <p:cNvSpPr txBox="1">
            <a:spLocks/>
          </p:cNvSpPr>
          <p:nvPr/>
        </p:nvSpPr>
        <p:spPr>
          <a:xfrm>
            <a:off x="419099" y="1455576"/>
            <a:ext cx="3443773" cy="37365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2549876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F648993-4880-6148-880D-2AE1FFA1A63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23</a:t>
            </a:fld>
            <a:endParaRPr lang="en-US" dirty="0"/>
          </a:p>
        </p:txBody>
      </p:sp>
      <p:sp>
        <p:nvSpPr>
          <p:cNvPr id="2" name="Title 1">
            <a:extLst>
              <a:ext uri="{FF2B5EF4-FFF2-40B4-BE49-F238E27FC236}">
                <a16:creationId xmlns:a16="http://schemas.microsoft.com/office/drawing/2014/main" id="{6B4C90F2-CAB3-DC42-A9E1-3388BB0E2AFA}"/>
              </a:ext>
            </a:extLst>
          </p:cNvPr>
          <p:cNvSpPr>
            <a:spLocks noGrp="1"/>
          </p:cNvSpPr>
          <p:nvPr>
            <p:ph type="title"/>
          </p:nvPr>
        </p:nvSpPr>
        <p:spPr/>
        <p:txBody>
          <a:bodyPr/>
          <a:lstStyle/>
          <a:p>
            <a:r>
              <a:rPr lang="en-US" dirty="0"/>
              <a:t>Amazon EC2 storage options</a:t>
            </a:r>
          </a:p>
        </p:txBody>
      </p:sp>
      <p:sp>
        <p:nvSpPr>
          <p:cNvPr id="12" name="Content Placeholder 11">
            <a:extLst>
              <a:ext uri="{FF2B5EF4-FFF2-40B4-BE49-F238E27FC236}">
                <a16:creationId xmlns:a16="http://schemas.microsoft.com/office/drawing/2014/main" id="{E6B637D2-1856-B04F-89E5-B08E36BF3D36}"/>
              </a:ext>
            </a:extLst>
          </p:cNvPr>
          <p:cNvSpPr>
            <a:spLocks noGrp="1"/>
          </p:cNvSpPr>
          <p:nvPr>
            <p:ph sz="quarter" idx="21"/>
          </p:nvPr>
        </p:nvSpPr>
        <p:spPr/>
        <p:txBody>
          <a:bodyPr/>
          <a:lstStyle/>
          <a:p>
            <a:r>
              <a:rPr lang="en-US" sz="2400" b="1" dirty="0">
                <a:solidFill>
                  <a:srgbClr val="504BAB"/>
                </a:solidFill>
              </a:rPr>
              <a:t>Amazon Elastic Block Store (Amazon EBS) – </a:t>
            </a:r>
          </a:p>
          <a:p>
            <a:pPr lvl="1"/>
            <a:r>
              <a:rPr lang="en-US" sz="2000" dirty="0">
                <a:solidFill>
                  <a:schemeClr val="accent6"/>
                </a:solidFill>
              </a:rPr>
              <a:t>Durable</a:t>
            </a:r>
            <a:r>
              <a:rPr lang="en-US" sz="2000" dirty="0"/>
              <a:t>, block-level storage volumes.</a:t>
            </a:r>
          </a:p>
          <a:p>
            <a:pPr lvl="1"/>
            <a:r>
              <a:rPr lang="en-US" sz="2000" dirty="0"/>
              <a:t>You can stop the instance and start it again, and the data will still be there.</a:t>
            </a:r>
          </a:p>
          <a:p>
            <a:r>
              <a:rPr lang="en-US" sz="2400" b="1" dirty="0">
                <a:solidFill>
                  <a:srgbClr val="504BAB"/>
                </a:solidFill>
              </a:rPr>
              <a:t>Amazon EC2 Instance Store – </a:t>
            </a:r>
          </a:p>
          <a:p>
            <a:pPr lvl="1"/>
            <a:r>
              <a:rPr lang="en-US" sz="2000" dirty="0">
                <a:solidFill>
                  <a:schemeClr val="accent6"/>
                </a:solidFill>
              </a:rPr>
              <a:t>Ephemeral</a:t>
            </a:r>
            <a:r>
              <a:rPr lang="en-US" sz="2000" dirty="0"/>
              <a:t> storage is provided on disks that are attached to the host computer where the EC2 instance is running.</a:t>
            </a:r>
          </a:p>
          <a:p>
            <a:pPr lvl="1"/>
            <a:r>
              <a:rPr lang="en-US" sz="2000" dirty="0">
                <a:solidFill>
                  <a:schemeClr val="accent6"/>
                </a:solidFill>
              </a:rPr>
              <a:t>If the instance stops, data stored here is deleted.</a:t>
            </a:r>
          </a:p>
          <a:p>
            <a:r>
              <a:rPr lang="en-US" sz="2400" dirty="0"/>
              <a:t>Other options for storage (not for the root volume) – </a:t>
            </a:r>
          </a:p>
          <a:p>
            <a:pPr lvl="1"/>
            <a:r>
              <a:rPr lang="en-US" sz="2000" dirty="0"/>
              <a:t>Mount an </a:t>
            </a:r>
            <a:r>
              <a:rPr lang="en-US" sz="2000" b="1" dirty="0">
                <a:solidFill>
                  <a:srgbClr val="504BAB"/>
                </a:solidFill>
              </a:rPr>
              <a:t>Amazon Elastic File System (Amazon EFS) </a:t>
            </a:r>
            <a:r>
              <a:rPr lang="en-US" sz="2000" dirty="0"/>
              <a:t>file system.</a:t>
            </a:r>
          </a:p>
          <a:p>
            <a:pPr lvl="1"/>
            <a:r>
              <a:rPr lang="en-US" sz="2000" dirty="0"/>
              <a:t>Connect to </a:t>
            </a:r>
            <a:r>
              <a:rPr lang="en-US" sz="2000" b="1" dirty="0">
                <a:solidFill>
                  <a:srgbClr val="504BAB"/>
                </a:solidFill>
              </a:rPr>
              <a:t>Amazon Simple Storage Service (Amazon S3)</a:t>
            </a:r>
            <a:r>
              <a:rPr lang="en-US" sz="2000" dirty="0"/>
              <a:t>.</a:t>
            </a:r>
            <a:r>
              <a:rPr lang="en-US" sz="2000" b="1" dirty="0">
                <a:solidFill>
                  <a:schemeClr val="accent5"/>
                </a:solidFill>
              </a:rPr>
              <a:t> </a:t>
            </a:r>
          </a:p>
        </p:txBody>
      </p:sp>
    </p:spTree>
    <p:custDataLst>
      <p:tags r:id="rId1"/>
    </p:custDataLst>
    <p:extLst>
      <p:ext uri="{BB962C8B-B14F-4D97-AF65-F5344CB8AC3E}">
        <p14:creationId xmlns:p14="http://schemas.microsoft.com/office/powerpoint/2010/main" val="1716333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D9885F5-4B4F-B347-B353-EF498C4B413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24</a:t>
            </a:fld>
            <a:endParaRPr lang="en-US" dirty="0"/>
          </a:p>
        </p:txBody>
      </p:sp>
      <p:sp>
        <p:nvSpPr>
          <p:cNvPr id="7" name="Title 6">
            <a:extLst>
              <a:ext uri="{FF2B5EF4-FFF2-40B4-BE49-F238E27FC236}">
                <a16:creationId xmlns:a16="http://schemas.microsoft.com/office/drawing/2014/main" id="{D0C8C114-ECD1-8C41-9770-E099B38577DC}"/>
              </a:ext>
            </a:extLst>
          </p:cNvPr>
          <p:cNvSpPr>
            <a:spLocks noGrp="1"/>
          </p:cNvSpPr>
          <p:nvPr>
            <p:ph type="title"/>
          </p:nvPr>
        </p:nvSpPr>
        <p:spPr/>
        <p:txBody>
          <a:bodyPr/>
          <a:lstStyle/>
          <a:p>
            <a:r>
              <a:rPr lang="en-US" dirty="0"/>
              <a:t>Example storage options</a:t>
            </a:r>
          </a:p>
        </p:txBody>
      </p:sp>
      <p:sp>
        <p:nvSpPr>
          <p:cNvPr id="50" name="Content Placeholder 49">
            <a:extLst>
              <a:ext uri="{FF2B5EF4-FFF2-40B4-BE49-F238E27FC236}">
                <a16:creationId xmlns:a16="http://schemas.microsoft.com/office/drawing/2014/main" id="{F48E2713-88E9-AA43-99F3-73BB63424EAE}"/>
              </a:ext>
            </a:extLst>
          </p:cNvPr>
          <p:cNvSpPr>
            <a:spLocks noGrp="1"/>
          </p:cNvSpPr>
          <p:nvPr>
            <p:ph sz="quarter" idx="21"/>
          </p:nvPr>
        </p:nvSpPr>
        <p:spPr>
          <a:xfrm>
            <a:off x="365760" y="1143000"/>
            <a:ext cx="4220637" cy="5291750"/>
          </a:xfrm>
        </p:spPr>
        <p:txBody>
          <a:bodyPr/>
          <a:lstStyle/>
          <a:p>
            <a:r>
              <a:rPr lang="en-US" sz="2400" b="1" dirty="0">
                <a:solidFill>
                  <a:srgbClr val="504BAB"/>
                </a:solidFill>
              </a:rPr>
              <a:t>Instance 1</a:t>
            </a:r>
            <a:r>
              <a:rPr lang="en-US" sz="2400" dirty="0">
                <a:solidFill>
                  <a:srgbClr val="504BAB"/>
                </a:solidFill>
              </a:rPr>
              <a:t> </a:t>
            </a:r>
            <a:r>
              <a:rPr lang="en-US" sz="2400" dirty="0"/>
              <a:t>characteristics – </a:t>
            </a:r>
          </a:p>
          <a:p>
            <a:pPr lvl="1"/>
            <a:r>
              <a:rPr lang="en-US" sz="1800" dirty="0"/>
              <a:t>It has an </a:t>
            </a:r>
            <a:r>
              <a:rPr lang="en-US" sz="1800" b="1" dirty="0"/>
              <a:t>Amazon EBS</a:t>
            </a:r>
            <a:r>
              <a:rPr lang="en-US" sz="1800" dirty="0"/>
              <a:t> </a:t>
            </a:r>
            <a:r>
              <a:rPr lang="en-US" sz="1800" i="1" dirty="0"/>
              <a:t>root volume</a:t>
            </a:r>
            <a:r>
              <a:rPr lang="en-US" sz="1800" dirty="0"/>
              <a:t> type for the operating system.</a:t>
            </a:r>
          </a:p>
          <a:p>
            <a:pPr lvl="1"/>
            <a:r>
              <a:rPr lang="en-US" sz="1800" dirty="0">
                <a:solidFill>
                  <a:schemeClr val="accent6"/>
                </a:solidFill>
              </a:rPr>
              <a:t>What will happen if the instance is stopped and then started again?</a:t>
            </a:r>
          </a:p>
          <a:p>
            <a:pPr marL="457200" lvl="1" indent="0">
              <a:buNone/>
            </a:pPr>
            <a:endParaRPr lang="en-US" sz="1800" dirty="0"/>
          </a:p>
          <a:p>
            <a:r>
              <a:rPr lang="en-US" sz="2400" b="1" dirty="0">
                <a:solidFill>
                  <a:srgbClr val="504BAB"/>
                </a:solidFill>
              </a:rPr>
              <a:t>Instance 2</a:t>
            </a:r>
            <a:r>
              <a:rPr lang="en-US" sz="2400" dirty="0"/>
              <a:t> characteristics – </a:t>
            </a:r>
          </a:p>
          <a:p>
            <a:pPr lvl="1"/>
            <a:r>
              <a:rPr lang="en-US" sz="1800" dirty="0"/>
              <a:t>It has an </a:t>
            </a:r>
            <a:r>
              <a:rPr lang="en-US" sz="1800" b="1" dirty="0"/>
              <a:t>Instance Store</a:t>
            </a:r>
            <a:r>
              <a:rPr lang="en-US" sz="1800" dirty="0"/>
              <a:t> </a:t>
            </a:r>
            <a:r>
              <a:rPr lang="en-US" sz="1800" i="1" dirty="0"/>
              <a:t>root volume</a:t>
            </a:r>
            <a:r>
              <a:rPr lang="en-US" sz="1800" dirty="0"/>
              <a:t> type for the operating system.</a:t>
            </a:r>
          </a:p>
          <a:p>
            <a:pPr lvl="1"/>
            <a:r>
              <a:rPr lang="en-US" sz="1800" dirty="0">
                <a:solidFill>
                  <a:schemeClr val="accent6"/>
                </a:solidFill>
              </a:rPr>
              <a:t>What will happen if the instance stops (because of user error or a system malfunction)?</a:t>
            </a:r>
          </a:p>
          <a:p>
            <a:pPr lvl="1"/>
            <a:endParaRPr lang="en-US" sz="1800" dirty="0">
              <a:solidFill>
                <a:schemeClr val="accent6"/>
              </a:solidFill>
            </a:endParaRPr>
          </a:p>
          <a:p>
            <a:pPr marL="457200" lvl="1" indent="0">
              <a:buNone/>
            </a:pPr>
            <a:endParaRPr lang="en-US" sz="1800" dirty="0">
              <a:solidFill>
                <a:schemeClr val="accent6"/>
              </a:solidFill>
            </a:endParaRPr>
          </a:p>
          <a:p>
            <a:pPr marL="457200" lvl="1" indent="0">
              <a:buNone/>
            </a:pPr>
            <a:endParaRPr lang="en-US" sz="1800" dirty="0">
              <a:solidFill>
                <a:schemeClr val="accent6"/>
              </a:solidFill>
            </a:endParaRPr>
          </a:p>
          <a:p>
            <a:pPr marL="457200" lvl="1" indent="0">
              <a:buNone/>
            </a:pPr>
            <a:endParaRPr lang="en-US" sz="1600" dirty="0">
              <a:solidFill>
                <a:schemeClr val="accent6"/>
              </a:solidFill>
            </a:endParaRPr>
          </a:p>
          <a:p>
            <a:pPr lvl="1"/>
            <a:endParaRPr lang="en-US" sz="1800" dirty="0"/>
          </a:p>
        </p:txBody>
      </p:sp>
      <p:grpSp>
        <p:nvGrpSpPr>
          <p:cNvPr id="2" name="Group 1" descr="Diagram showing two EC2 instances and the storage types attached. Details of the diagram explained in notes below the slide.">
            <a:extLst>
              <a:ext uri="{FF2B5EF4-FFF2-40B4-BE49-F238E27FC236}">
                <a16:creationId xmlns:a16="http://schemas.microsoft.com/office/drawing/2014/main" id="{153BE7E6-1726-7AA6-0466-19BBEFF1A2F0}"/>
              </a:ext>
            </a:extLst>
          </p:cNvPr>
          <p:cNvGrpSpPr/>
          <p:nvPr/>
        </p:nvGrpSpPr>
        <p:grpSpPr>
          <a:xfrm>
            <a:off x="4646089" y="1425628"/>
            <a:ext cx="7398740" cy="3913738"/>
            <a:chOff x="4646089" y="1425628"/>
            <a:chExt cx="7398740" cy="3913738"/>
          </a:xfrm>
        </p:grpSpPr>
        <p:pic>
          <p:nvPicPr>
            <p:cNvPr id="8" name="Graphic 7">
              <a:extLst>
                <a:ext uri="{FF2B5EF4-FFF2-40B4-BE49-F238E27FC236}">
                  <a16:creationId xmlns:a16="http://schemas.microsoft.com/office/drawing/2014/main" id="{9C348E62-6AEE-BE41-9116-AEE94C646DD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4953" y="2471497"/>
              <a:ext cx="672352" cy="672352"/>
            </a:xfrm>
            <a:prstGeom prst="rect">
              <a:avLst/>
            </a:prstGeom>
          </p:spPr>
        </p:pic>
        <p:sp>
          <p:nvSpPr>
            <p:cNvPr id="9" name="TextBox 8">
              <a:extLst>
                <a:ext uri="{FF2B5EF4-FFF2-40B4-BE49-F238E27FC236}">
                  <a16:creationId xmlns:a16="http://schemas.microsoft.com/office/drawing/2014/main" id="{17E402FB-9089-074A-B6F2-686A75A5D42F}"/>
                </a:ext>
              </a:extLst>
            </p:cNvPr>
            <p:cNvSpPr txBox="1"/>
            <p:nvPr/>
          </p:nvSpPr>
          <p:spPr>
            <a:xfrm>
              <a:off x="7945939" y="3135183"/>
              <a:ext cx="1513305" cy="338554"/>
            </a:xfrm>
            <a:prstGeom prst="rect">
              <a:avLst/>
            </a:prstGeom>
            <a:noFill/>
          </p:spPr>
          <p:txBody>
            <a:bodyPr wrap="square" rtlCol="0">
              <a:spAutoFit/>
            </a:bodyPr>
            <a:lstStyle/>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Instance 1</a:t>
              </a:r>
            </a:p>
          </p:txBody>
        </p:sp>
        <p:sp>
          <p:nvSpPr>
            <p:cNvPr id="10" name="Rectangle 9">
              <a:extLst>
                <a:ext uri="{FF2B5EF4-FFF2-40B4-BE49-F238E27FC236}">
                  <a16:creationId xmlns:a16="http://schemas.microsoft.com/office/drawing/2014/main" id="{15B286F4-BAF3-AA47-B9F1-DFDD896CA257}"/>
                </a:ext>
              </a:extLst>
            </p:cNvPr>
            <p:cNvSpPr/>
            <p:nvPr/>
          </p:nvSpPr>
          <p:spPr>
            <a:xfrm>
              <a:off x="8130432" y="1430736"/>
              <a:ext cx="3914397" cy="3908630"/>
            </a:xfrm>
            <a:prstGeom prst="rect">
              <a:avLst/>
            </a:prstGeom>
            <a:noFill/>
            <a:ln w="12700">
              <a:solidFill>
                <a:srgbClr val="5A6B8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sz="1600" dirty="0">
                  <a:solidFill>
                    <a:srgbClr val="5A6B86"/>
                  </a:solidFill>
                </a:rPr>
                <a:t>Host computer</a:t>
              </a:r>
              <a:endParaRPr lang="en-US" sz="1200" dirty="0">
                <a:solidFill>
                  <a:srgbClr val="5A6B86"/>
                </a:solidFill>
              </a:endParaRPr>
            </a:p>
          </p:txBody>
        </p:sp>
        <p:pic>
          <p:nvPicPr>
            <p:cNvPr id="11" name="Graphic 10">
              <a:extLst>
                <a:ext uri="{FF2B5EF4-FFF2-40B4-BE49-F238E27FC236}">
                  <a16:creationId xmlns:a16="http://schemas.microsoft.com/office/drawing/2014/main" id="{C8BE35CD-AFC5-EE40-9192-10B767F5EDA1}"/>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30432" y="1425628"/>
              <a:ext cx="330200" cy="330200"/>
            </a:xfrm>
            <a:prstGeom prst="rect">
              <a:avLst/>
            </a:prstGeom>
          </p:spPr>
        </p:pic>
        <p:pic>
          <p:nvPicPr>
            <p:cNvPr id="12" name="Graphic 11">
              <a:extLst>
                <a:ext uri="{FF2B5EF4-FFF2-40B4-BE49-F238E27FC236}">
                  <a16:creationId xmlns:a16="http://schemas.microsoft.com/office/drawing/2014/main" id="{79E2D665-67E7-5F4C-8EEB-C38EFC715C01}"/>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47381" y="4003138"/>
              <a:ext cx="469900" cy="469900"/>
            </a:xfrm>
            <a:prstGeom prst="rect">
              <a:avLst/>
            </a:prstGeom>
          </p:spPr>
        </p:pic>
        <p:sp>
          <p:nvSpPr>
            <p:cNvPr id="13" name="TextBox 12">
              <a:extLst>
                <a:ext uri="{FF2B5EF4-FFF2-40B4-BE49-F238E27FC236}">
                  <a16:creationId xmlns:a16="http://schemas.microsoft.com/office/drawing/2014/main" id="{6CB884AC-F1C4-3444-9581-3F767E76AC58}"/>
                </a:ext>
              </a:extLst>
            </p:cNvPr>
            <p:cNvSpPr txBox="1"/>
            <p:nvPr/>
          </p:nvSpPr>
          <p:spPr>
            <a:xfrm>
              <a:off x="10325678" y="4485724"/>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 volume 2</a:t>
              </a:r>
            </a:p>
          </p:txBody>
        </p:sp>
        <p:pic>
          <p:nvPicPr>
            <p:cNvPr id="14" name="Graphic 13">
              <a:extLst>
                <a:ext uri="{FF2B5EF4-FFF2-40B4-BE49-F238E27FC236}">
                  <a16:creationId xmlns:a16="http://schemas.microsoft.com/office/drawing/2014/main" id="{546D10E0-AA14-294B-8355-A32076F31C1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836665" y="2576573"/>
              <a:ext cx="469900" cy="469900"/>
            </a:xfrm>
            <a:prstGeom prst="rect">
              <a:avLst/>
            </a:prstGeom>
          </p:spPr>
        </p:pic>
        <p:sp>
          <p:nvSpPr>
            <p:cNvPr id="15" name="TextBox 14">
              <a:extLst>
                <a:ext uri="{FF2B5EF4-FFF2-40B4-BE49-F238E27FC236}">
                  <a16:creationId xmlns:a16="http://schemas.microsoft.com/office/drawing/2014/main" id="{1043D273-7A6E-B643-AAFE-3595E8448B03}"/>
                </a:ext>
              </a:extLst>
            </p:cNvPr>
            <p:cNvSpPr txBox="1"/>
            <p:nvPr/>
          </p:nvSpPr>
          <p:spPr>
            <a:xfrm>
              <a:off x="10292433" y="3060131"/>
              <a:ext cx="1513305" cy="584775"/>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Ephemeral</a:t>
              </a:r>
            </a:p>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volume 1</a:t>
              </a:r>
            </a:p>
          </p:txBody>
        </p:sp>
        <p:pic>
          <p:nvPicPr>
            <p:cNvPr id="17" name="Graphic 16">
              <a:extLst>
                <a:ext uri="{FF2B5EF4-FFF2-40B4-BE49-F238E27FC236}">
                  <a16:creationId xmlns:a16="http://schemas.microsoft.com/office/drawing/2014/main" id="{74037D1E-3047-9142-923A-DA6DDC03A3F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64953" y="3904896"/>
              <a:ext cx="672352" cy="672352"/>
            </a:xfrm>
            <a:prstGeom prst="rect">
              <a:avLst/>
            </a:prstGeom>
          </p:spPr>
        </p:pic>
        <p:sp>
          <p:nvSpPr>
            <p:cNvPr id="18" name="TextBox 17">
              <a:extLst>
                <a:ext uri="{FF2B5EF4-FFF2-40B4-BE49-F238E27FC236}">
                  <a16:creationId xmlns:a16="http://schemas.microsoft.com/office/drawing/2014/main" id="{8DE82A41-344E-EA41-927D-295035A6E6EA}"/>
                </a:ext>
              </a:extLst>
            </p:cNvPr>
            <p:cNvSpPr txBox="1"/>
            <p:nvPr/>
          </p:nvSpPr>
          <p:spPr>
            <a:xfrm>
              <a:off x="7957279" y="4574264"/>
              <a:ext cx="1513305" cy="338554"/>
            </a:xfrm>
            <a:prstGeom prst="rect">
              <a:avLst/>
            </a:prstGeom>
            <a:noFill/>
          </p:spPr>
          <p:txBody>
            <a:bodyPr wrap="square" rtlCol="0">
              <a:spAutoFit/>
            </a:bodyPr>
            <a:lstStyle/>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Instance 2</a:t>
              </a:r>
            </a:p>
          </p:txBody>
        </p:sp>
        <p:sp>
          <p:nvSpPr>
            <p:cNvPr id="19" name="TextBox 18">
              <a:extLst>
                <a:ext uri="{FF2B5EF4-FFF2-40B4-BE49-F238E27FC236}">
                  <a16:creationId xmlns:a16="http://schemas.microsoft.com/office/drawing/2014/main" id="{2CFAB646-0BB6-D548-898C-B7157A295B8C}"/>
                </a:ext>
              </a:extLst>
            </p:cNvPr>
            <p:cNvSpPr txBox="1"/>
            <p:nvPr/>
          </p:nvSpPr>
          <p:spPr>
            <a:xfrm>
              <a:off x="4749012" y="1576873"/>
              <a:ext cx="1985781" cy="830997"/>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Amazon Elastic Block Store (Amazon EBS)</a:t>
              </a:r>
            </a:p>
          </p:txBody>
        </p:sp>
        <p:pic>
          <p:nvPicPr>
            <p:cNvPr id="20" name="Graphic 19">
              <a:extLst>
                <a:ext uri="{FF2B5EF4-FFF2-40B4-BE49-F238E27FC236}">
                  <a16:creationId xmlns:a16="http://schemas.microsoft.com/office/drawing/2014/main" id="{8EACB74C-5697-CF46-BF8B-3C41D71B9DE0}"/>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646089" y="1563714"/>
              <a:ext cx="351800" cy="351800"/>
            </a:xfrm>
            <a:prstGeom prst="rect">
              <a:avLst/>
            </a:prstGeom>
          </p:spPr>
        </p:pic>
        <p:sp>
          <p:nvSpPr>
            <p:cNvPr id="21" name="TextBox 20">
              <a:extLst>
                <a:ext uri="{FF2B5EF4-FFF2-40B4-BE49-F238E27FC236}">
                  <a16:creationId xmlns:a16="http://schemas.microsoft.com/office/drawing/2014/main" id="{0EC1FC32-B8EB-A144-8FBE-66CF7F238C6B}"/>
                </a:ext>
              </a:extLst>
            </p:cNvPr>
            <p:cNvSpPr txBox="1"/>
            <p:nvPr/>
          </p:nvSpPr>
          <p:spPr>
            <a:xfrm>
              <a:off x="4874485" y="3108945"/>
              <a:ext cx="1569242"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20-GB volume</a:t>
              </a:r>
            </a:p>
          </p:txBody>
        </p:sp>
        <p:pic>
          <p:nvPicPr>
            <p:cNvPr id="22" name="Graphic 21">
              <a:extLst>
                <a:ext uri="{FF2B5EF4-FFF2-40B4-BE49-F238E27FC236}">
                  <a16:creationId xmlns:a16="http://schemas.microsoft.com/office/drawing/2014/main" id="{58157669-6C01-7741-AED5-109AB04335CF}"/>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76279" y="2509186"/>
              <a:ext cx="584775" cy="584775"/>
            </a:xfrm>
            <a:prstGeom prst="rect">
              <a:avLst/>
            </a:prstGeom>
          </p:spPr>
        </p:pic>
        <p:sp>
          <p:nvSpPr>
            <p:cNvPr id="23" name="Rectangle 22">
              <a:extLst>
                <a:ext uri="{FF2B5EF4-FFF2-40B4-BE49-F238E27FC236}">
                  <a16:creationId xmlns:a16="http://schemas.microsoft.com/office/drawing/2014/main" id="{FF459F6B-E826-F740-904A-DCD2C1AAF024}"/>
                </a:ext>
              </a:extLst>
            </p:cNvPr>
            <p:cNvSpPr/>
            <p:nvPr/>
          </p:nvSpPr>
          <p:spPr>
            <a:xfrm>
              <a:off x="4646089" y="1563714"/>
              <a:ext cx="1985781" cy="2993640"/>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cxnSp>
          <p:nvCxnSpPr>
            <p:cNvPr id="25" name="Straight Arrow Connector 24">
              <a:extLst>
                <a:ext uri="{FF2B5EF4-FFF2-40B4-BE49-F238E27FC236}">
                  <a16:creationId xmlns:a16="http://schemas.microsoft.com/office/drawing/2014/main" id="{861C5961-50EF-4B47-A82F-BD137E38DE95}"/>
                </a:ext>
              </a:extLst>
            </p:cNvPr>
            <p:cNvCxnSpPr>
              <a:cxnSpLocks/>
              <a:stCxn id="22" idx="3"/>
              <a:endCxn id="8" idx="1"/>
            </p:cNvCxnSpPr>
            <p:nvPr/>
          </p:nvCxnSpPr>
          <p:spPr>
            <a:xfrm>
              <a:off x="5961054" y="2801574"/>
              <a:ext cx="2403899" cy="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635862D-EAED-6343-9121-CB1EE687AC36}"/>
                </a:ext>
              </a:extLst>
            </p:cNvPr>
            <p:cNvSpPr txBox="1"/>
            <p:nvPr/>
          </p:nvSpPr>
          <p:spPr>
            <a:xfrm>
              <a:off x="6552726" y="2522477"/>
              <a:ext cx="1335623"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27" name="TextBox 26">
              <a:extLst>
                <a:ext uri="{FF2B5EF4-FFF2-40B4-BE49-F238E27FC236}">
                  <a16:creationId xmlns:a16="http://schemas.microsoft.com/office/drawing/2014/main" id="{238D33CC-CE48-5447-844E-07565D418E86}"/>
                </a:ext>
              </a:extLst>
            </p:cNvPr>
            <p:cNvSpPr txBox="1"/>
            <p:nvPr/>
          </p:nvSpPr>
          <p:spPr>
            <a:xfrm>
              <a:off x="4834314" y="4188029"/>
              <a:ext cx="1604021" cy="338554"/>
            </a:xfrm>
            <a:prstGeom prst="rect">
              <a:avLst/>
            </a:prstGeom>
            <a:noFill/>
          </p:spPr>
          <p:txBody>
            <a:bodyPr wrap="squar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500-GB volume</a:t>
              </a:r>
            </a:p>
          </p:txBody>
        </p:sp>
        <p:pic>
          <p:nvPicPr>
            <p:cNvPr id="28" name="Graphic 27">
              <a:extLst>
                <a:ext uri="{FF2B5EF4-FFF2-40B4-BE49-F238E27FC236}">
                  <a16:creationId xmlns:a16="http://schemas.microsoft.com/office/drawing/2014/main" id="{D233EE6A-D042-5942-8657-C5DBC12D23EE}"/>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76278" y="3603254"/>
              <a:ext cx="584775" cy="584775"/>
            </a:xfrm>
            <a:prstGeom prst="rect">
              <a:avLst/>
            </a:prstGeom>
          </p:spPr>
        </p:pic>
        <p:cxnSp>
          <p:nvCxnSpPr>
            <p:cNvPr id="29" name="Straight Arrow Connector 28">
              <a:extLst>
                <a:ext uri="{FF2B5EF4-FFF2-40B4-BE49-F238E27FC236}">
                  <a16:creationId xmlns:a16="http://schemas.microsoft.com/office/drawing/2014/main" id="{CB1A6BFB-D990-244F-8CBB-6C5C03B0625F}"/>
                </a:ext>
              </a:extLst>
            </p:cNvPr>
            <p:cNvCxnSpPr>
              <a:cxnSpLocks/>
              <a:stCxn id="28" idx="3"/>
            </p:cNvCxnSpPr>
            <p:nvPr/>
          </p:nvCxnSpPr>
          <p:spPr>
            <a:xfrm flipV="1">
              <a:off x="5961053" y="2961387"/>
              <a:ext cx="2383412" cy="934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378740D-6539-844F-B3FB-C005B45E836B}"/>
                </a:ext>
              </a:extLst>
            </p:cNvPr>
            <p:cNvSpPr txBox="1"/>
            <p:nvPr/>
          </p:nvSpPr>
          <p:spPr>
            <a:xfrm>
              <a:off x="6599050" y="3468219"/>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sp>
          <p:nvSpPr>
            <p:cNvPr id="33" name="TextBox 32">
              <a:extLst>
                <a:ext uri="{FF2B5EF4-FFF2-40B4-BE49-F238E27FC236}">
                  <a16:creationId xmlns:a16="http://schemas.microsoft.com/office/drawing/2014/main" id="{09FDE44F-761F-5844-92DD-60E47128B101}"/>
                </a:ext>
              </a:extLst>
            </p:cNvPr>
            <p:cNvSpPr txBox="1"/>
            <p:nvPr/>
          </p:nvSpPr>
          <p:spPr>
            <a:xfrm>
              <a:off x="9096997" y="3972578"/>
              <a:ext cx="1335622"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Root</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cxnSp>
          <p:nvCxnSpPr>
            <p:cNvPr id="34" name="Straight Arrow Connector 33">
              <a:extLst>
                <a:ext uri="{FF2B5EF4-FFF2-40B4-BE49-F238E27FC236}">
                  <a16:creationId xmlns:a16="http://schemas.microsoft.com/office/drawing/2014/main" id="{80E36115-D681-AE4F-84AB-D3ADC64C2943}"/>
                </a:ext>
              </a:extLst>
            </p:cNvPr>
            <p:cNvCxnSpPr>
              <a:cxnSpLocks/>
              <a:stCxn id="14" idx="1"/>
              <a:endCxn id="8" idx="3"/>
            </p:cNvCxnSpPr>
            <p:nvPr/>
          </p:nvCxnSpPr>
          <p:spPr>
            <a:xfrm flipH="1" flipV="1">
              <a:off x="9037305" y="2807673"/>
              <a:ext cx="1799360" cy="38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AC4C157-3C3C-1643-BC44-AB58EE1B84A4}"/>
                </a:ext>
              </a:extLst>
            </p:cNvPr>
            <p:cNvCxnSpPr>
              <a:cxnSpLocks/>
              <a:stCxn id="12" idx="1"/>
              <a:endCxn id="17" idx="3"/>
            </p:cNvCxnSpPr>
            <p:nvPr/>
          </p:nvCxnSpPr>
          <p:spPr>
            <a:xfrm flipH="1">
              <a:off x="9037305" y="4238088"/>
              <a:ext cx="1810076" cy="2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1D2A11A-F7A9-0D4D-980B-231A71BAEFFB}"/>
                </a:ext>
              </a:extLst>
            </p:cNvPr>
            <p:cNvSpPr/>
            <p:nvPr/>
          </p:nvSpPr>
          <p:spPr>
            <a:xfrm>
              <a:off x="10406971" y="2442102"/>
              <a:ext cx="1398767" cy="2620697"/>
            </a:xfrm>
            <a:prstGeom prst="rect">
              <a:avLst/>
            </a:prstGeom>
            <a:noFill/>
            <a:ln w="12700">
              <a:solidFill>
                <a:srgbClr val="5A6B86"/>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endParaRPr lang="en-US" sz="1200" dirty="0">
                <a:solidFill>
                  <a:srgbClr val="5A6B86"/>
                </a:solidFill>
              </a:endParaRPr>
            </a:p>
          </p:txBody>
        </p:sp>
        <p:sp>
          <p:nvSpPr>
            <p:cNvPr id="41" name="TextBox 40">
              <a:extLst>
                <a:ext uri="{FF2B5EF4-FFF2-40B4-BE49-F238E27FC236}">
                  <a16:creationId xmlns:a16="http://schemas.microsoft.com/office/drawing/2014/main" id="{770CADC0-A8C4-E946-9558-E58D416FFF3C}"/>
                </a:ext>
              </a:extLst>
            </p:cNvPr>
            <p:cNvSpPr txBox="1"/>
            <p:nvPr/>
          </p:nvSpPr>
          <p:spPr>
            <a:xfrm>
              <a:off x="10325678" y="2079624"/>
              <a:ext cx="1513305" cy="338554"/>
            </a:xfrm>
            <a:prstGeom prst="rect">
              <a:avLst/>
            </a:prstGeom>
            <a:noFill/>
          </p:spPr>
          <p:txBody>
            <a:bodyPr wrap="squar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Instance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Store</a:t>
              </a:r>
            </a:p>
          </p:txBody>
        </p:sp>
        <p:sp>
          <p:nvSpPr>
            <p:cNvPr id="49" name="TextBox 48">
              <a:extLst>
                <a:ext uri="{FF2B5EF4-FFF2-40B4-BE49-F238E27FC236}">
                  <a16:creationId xmlns:a16="http://schemas.microsoft.com/office/drawing/2014/main" id="{7D3CC9A0-B731-F548-BD54-E29CB085186E}"/>
                </a:ext>
              </a:extLst>
            </p:cNvPr>
            <p:cNvSpPr txBox="1"/>
            <p:nvPr/>
          </p:nvSpPr>
          <p:spPr>
            <a:xfrm>
              <a:off x="8955373" y="2543013"/>
              <a:ext cx="1608134" cy="584775"/>
            </a:xfrm>
            <a:prstGeom prst="rect">
              <a:avLst/>
            </a:prstGeom>
            <a:noFill/>
          </p:spPr>
          <p:txBody>
            <a:bodyPr wrap="none" rtlCol="0">
              <a:spAutoFit/>
            </a:body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Attached as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Storage</a:t>
              </a: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 volume</a:t>
              </a:r>
            </a:p>
          </p:txBody>
        </p:sp>
      </p:grpSp>
    </p:spTree>
    <p:custDataLst>
      <p:tags r:id="rId1"/>
    </p:custDataLst>
    <p:extLst>
      <p:ext uri="{BB962C8B-B14F-4D97-AF65-F5344CB8AC3E}">
        <p14:creationId xmlns:p14="http://schemas.microsoft.com/office/powerpoint/2010/main" val="317544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25</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7. Add tags</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3881534" y="1143000"/>
            <a:ext cx="8072115" cy="5291750"/>
          </a:xfrm>
        </p:spPr>
        <p:txBody>
          <a:bodyPr/>
          <a:lstStyle/>
          <a:p>
            <a:pPr marL="287338" indent="-268288"/>
            <a:r>
              <a:rPr lang="en-US" sz="2400" dirty="0"/>
              <a:t>A </a:t>
            </a:r>
            <a:r>
              <a:rPr lang="en-US" sz="2400" dirty="0">
                <a:solidFill>
                  <a:schemeClr val="accent6"/>
                </a:solidFill>
              </a:rPr>
              <a:t>tag</a:t>
            </a:r>
            <a:r>
              <a:rPr lang="en-US" sz="2400" dirty="0"/>
              <a:t> is a label that you can assign to an AWS resource. </a:t>
            </a:r>
          </a:p>
          <a:p>
            <a:pPr marL="744538" lvl="1" indent="-268288"/>
            <a:r>
              <a:rPr lang="en-US" sz="2000" dirty="0"/>
              <a:t>Consists of a </a:t>
            </a:r>
            <a:r>
              <a:rPr lang="en-US" sz="2000" i="1" dirty="0"/>
              <a:t>key</a:t>
            </a:r>
            <a:r>
              <a:rPr lang="en-US" sz="2000" dirty="0"/>
              <a:t> and an optional </a:t>
            </a:r>
            <a:r>
              <a:rPr lang="en-US" sz="2000" i="1" dirty="0"/>
              <a:t>value.</a:t>
            </a:r>
            <a:endParaRPr lang="en-US" sz="2000" dirty="0"/>
          </a:p>
          <a:p>
            <a:pPr marL="287338" indent="-268288"/>
            <a:r>
              <a:rPr lang="en-US" sz="2400" dirty="0"/>
              <a:t>Tagging is how you can attach </a:t>
            </a:r>
            <a:r>
              <a:rPr lang="en-US" sz="2400" b="1" dirty="0">
                <a:solidFill>
                  <a:srgbClr val="504BAB"/>
                </a:solidFill>
              </a:rPr>
              <a:t>metadata</a:t>
            </a:r>
            <a:r>
              <a:rPr lang="en-US" sz="2400" dirty="0"/>
              <a:t> to an EC2 instance.</a:t>
            </a:r>
            <a:r>
              <a:rPr lang="en-US" dirty="0"/>
              <a:t> </a:t>
            </a:r>
          </a:p>
          <a:p>
            <a:pPr marL="287338" indent="-268288"/>
            <a:r>
              <a:rPr lang="en-US" sz="2400" dirty="0"/>
              <a:t>Potential benefits of tagging—Filtering, automation, cost allocation, and access control.</a:t>
            </a:r>
          </a:p>
          <a:p>
            <a:pPr marL="744538" lvl="1" indent="-268288"/>
            <a:endParaRPr lang="en-US" sz="1600" dirty="0"/>
          </a:p>
          <a:p>
            <a:pPr marL="19050" indent="0">
              <a:buNone/>
            </a:pPr>
            <a:r>
              <a:rPr lang="en-US" sz="2400" dirty="0"/>
              <a:t>Example: </a:t>
            </a:r>
          </a:p>
        </p:txBody>
      </p:sp>
      <p:pic>
        <p:nvPicPr>
          <p:cNvPr id="3" name="Picture 2" descr="Screenshot of the tags UI in the EC2 console instance details view.">
            <a:extLst>
              <a:ext uri="{FF2B5EF4-FFF2-40B4-BE49-F238E27FC236}">
                <a16:creationId xmlns:a16="http://schemas.microsoft.com/office/drawing/2014/main" id="{7F4350A2-4105-5444-973D-04E8308F4346}"/>
              </a:ext>
            </a:extLst>
          </p:cNvPr>
          <p:cNvPicPr>
            <a:picLocks noChangeAspect="1"/>
          </p:cNvPicPr>
          <p:nvPr/>
        </p:nvPicPr>
        <p:blipFill>
          <a:blip r:embed="rId4"/>
          <a:stretch>
            <a:fillRect/>
          </a:stretch>
        </p:blipFill>
        <p:spPr>
          <a:xfrm>
            <a:off x="5364154" y="4394200"/>
            <a:ext cx="6065846" cy="1962150"/>
          </a:xfrm>
          <a:prstGeom prst="rect">
            <a:avLst/>
          </a:prstGeom>
          <a:ln>
            <a:solidFill>
              <a:schemeClr val="tx1"/>
            </a:solidFill>
          </a:ln>
        </p:spPr>
      </p:pic>
      <p:sp>
        <p:nvSpPr>
          <p:cNvPr id="13" name="Content Placeholder 8">
            <a:extLst>
              <a:ext uri="{FF2B5EF4-FFF2-40B4-BE49-F238E27FC236}">
                <a16:creationId xmlns:a16="http://schemas.microsoft.com/office/drawing/2014/main" id="{17D84353-0812-0848-94D7-2A46ADAAD287}"/>
              </a:ext>
              <a:ext uri="{C183D7F6-B498-43B3-948B-1728B52AA6E4}">
                <adec:decorative xmlns:adec="http://schemas.microsoft.com/office/drawing/2017/decorative" val="1"/>
              </a:ext>
            </a:extLst>
          </p:cNvPr>
          <p:cNvSpPr txBox="1">
            <a:spLocks/>
          </p:cNvSpPr>
          <p:nvPr/>
        </p:nvSpPr>
        <p:spPr>
          <a:xfrm>
            <a:off x="419100" y="1528176"/>
            <a:ext cx="3462434"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40204687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26</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8. Security group settings</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3913239" y="1054961"/>
            <a:ext cx="8021730" cy="5291750"/>
          </a:xfrm>
        </p:spPr>
        <p:txBody>
          <a:bodyPr/>
          <a:lstStyle/>
          <a:p>
            <a:pPr marL="287338" indent="-268288"/>
            <a:r>
              <a:rPr lang="en-US" sz="2400" dirty="0"/>
              <a:t>A </a:t>
            </a:r>
            <a:r>
              <a:rPr lang="en-US" sz="2400" dirty="0">
                <a:solidFill>
                  <a:schemeClr val="accent6"/>
                </a:solidFill>
              </a:rPr>
              <a:t>security group </a:t>
            </a:r>
            <a:r>
              <a:rPr lang="en-US" sz="2400" dirty="0"/>
              <a:t>is a</a:t>
            </a:r>
            <a:r>
              <a:rPr lang="en-US" sz="2400" b="1" dirty="0">
                <a:solidFill>
                  <a:schemeClr val="accent5"/>
                </a:solidFill>
              </a:rPr>
              <a:t> </a:t>
            </a:r>
            <a:r>
              <a:rPr lang="en-US" sz="2400" b="1" dirty="0">
                <a:solidFill>
                  <a:srgbClr val="504BAB"/>
                </a:solidFill>
              </a:rPr>
              <a:t>set of firewall rules</a:t>
            </a:r>
            <a:r>
              <a:rPr lang="en-US" sz="2400" dirty="0">
                <a:solidFill>
                  <a:srgbClr val="504BAB"/>
                </a:solidFill>
              </a:rPr>
              <a:t> </a:t>
            </a:r>
            <a:r>
              <a:rPr lang="en-US" sz="2400" dirty="0"/>
              <a:t>that control traffic to the instance. </a:t>
            </a:r>
          </a:p>
          <a:p>
            <a:pPr marL="744538" lvl="1" indent="-268288"/>
            <a:r>
              <a:rPr lang="en-US" sz="2000" dirty="0"/>
              <a:t>It exists </a:t>
            </a:r>
            <a:r>
              <a:rPr lang="en-US" sz="2000" i="1" dirty="0"/>
              <a:t>outside</a:t>
            </a:r>
            <a:r>
              <a:rPr lang="en-US" sz="2000" dirty="0"/>
              <a:t> of the instance's guest OS.</a:t>
            </a:r>
          </a:p>
          <a:p>
            <a:pPr marL="287338" indent="-268288"/>
            <a:r>
              <a:rPr lang="en-US" sz="2400" dirty="0"/>
              <a:t>Create </a:t>
            </a:r>
            <a:r>
              <a:rPr lang="en-US" sz="2400" b="1" dirty="0">
                <a:solidFill>
                  <a:srgbClr val="504BAB"/>
                </a:solidFill>
              </a:rPr>
              <a:t>rules</a:t>
            </a:r>
            <a:r>
              <a:rPr lang="en-US" sz="2400" dirty="0"/>
              <a:t> that specify the </a:t>
            </a:r>
            <a:r>
              <a:rPr lang="en-US" sz="2400" b="1" dirty="0">
                <a:solidFill>
                  <a:srgbClr val="504BAB"/>
                </a:solidFill>
              </a:rPr>
              <a:t>source</a:t>
            </a:r>
            <a:r>
              <a:rPr lang="en-US" sz="2400" dirty="0"/>
              <a:t> and which </a:t>
            </a:r>
            <a:r>
              <a:rPr lang="en-US" sz="2400" b="1" dirty="0">
                <a:solidFill>
                  <a:srgbClr val="504BAB"/>
                </a:solidFill>
              </a:rPr>
              <a:t>ports</a:t>
            </a:r>
            <a:r>
              <a:rPr lang="en-US" sz="2400" dirty="0"/>
              <a:t> that network communications can use.</a:t>
            </a:r>
          </a:p>
          <a:p>
            <a:pPr marL="744538" lvl="1" indent="-268288"/>
            <a:r>
              <a:rPr lang="en-US" sz="2000" dirty="0"/>
              <a:t>Specify the </a:t>
            </a:r>
            <a:r>
              <a:rPr lang="en-US" sz="2000" b="1" dirty="0">
                <a:solidFill>
                  <a:srgbClr val="504BAB"/>
                </a:solidFill>
              </a:rPr>
              <a:t>port</a:t>
            </a:r>
            <a:r>
              <a:rPr lang="en-US" sz="2000" dirty="0"/>
              <a:t> number and the </a:t>
            </a:r>
            <a:r>
              <a:rPr lang="en-US" sz="2000" b="1" dirty="0">
                <a:solidFill>
                  <a:srgbClr val="504BAB"/>
                </a:solidFill>
              </a:rPr>
              <a:t>protocol</a:t>
            </a:r>
            <a:r>
              <a:rPr lang="en-US" sz="2000" dirty="0"/>
              <a:t>, such as Transmission Control Protocol (TCP), User Datagram Protocol (UDP), or Internet Control Message Protocol (ICMP).</a:t>
            </a:r>
          </a:p>
          <a:p>
            <a:pPr marL="744538" lvl="1" indent="-268288"/>
            <a:r>
              <a:rPr lang="en-US" sz="2000" dirty="0"/>
              <a:t>Specify the </a:t>
            </a:r>
            <a:r>
              <a:rPr lang="en-US" sz="2000" b="1" dirty="0">
                <a:solidFill>
                  <a:srgbClr val="504BAB"/>
                </a:solidFill>
              </a:rPr>
              <a:t>source</a:t>
            </a:r>
            <a:r>
              <a:rPr lang="en-US" sz="2000" b="1" dirty="0">
                <a:solidFill>
                  <a:schemeClr val="accent5"/>
                </a:solidFill>
              </a:rPr>
              <a:t> </a:t>
            </a:r>
            <a:r>
              <a:rPr lang="en-US" sz="2000" dirty="0"/>
              <a:t>(for example, an IP address or another security group) that is allowed to use the rule.</a:t>
            </a:r>
            <a:endParaRPr lang="en-US" sz="1400" dirty="0"/>
          </a:p>
          <a:p>
            <a:pPr marL="19050" indent="0">
              <a:buNone/>
            </a:pPr>
            <a:r>
              <a:rPr lang="en-US" sz="2400" dirty="0"/>
              <a:t>Example rule:</a:t>
            </a:r>
          </a:p>
          <a:p>
            <a:pPr marL="744538" lvl="1" indent="-268288"/>
            <a:endParaRPr lang="en-US" sz="1600" dirty="0"/>
          </a:p>
        </p:txBody>
      </p:sp>
      <p:pic>
        <p:nvPicPr>
          <p:cNvPr id="3" name="Picture 2" descr="Screenshot of the EC2 console screen. See description in slide notes.">
            <a:extLst>
              <a:ext uri="{FF2B5EF4-FFF2-40B4-BE49-F238E27FC236}">
                <a16:creationId xmlns:a16="http://schemas.microsoft.com/office/drawing/2014/main" id="{109C21F5-182B-A24D-B554-CF0E74A5BDE8}"/>
              </a:ext>
            </a:extLst>
          </p:cNvPr>
          <p:cNvPicPr>
            <a:picLocks noChangeAspect="1"/>
          </p:cNvPicPr>
          <p:nvPr/>
        </p:nvPicPr>
        <p:blipFill>
          <a:blip r:embed="rId4"/>
          <a:stretch>
            <a:fillRect/>
          </a:stretch>
        </p:blipFill>
        <p:spPr>
          <a:xfrm>
            <a:off x="4020262" y="5478538"/>
            <a:ext cx="7807683" cy="1022578"/>
          </a:xfrm>
          <a:prstGeom prst="rect">
            <a:avLst/>
          </a:prstGeom>
          <a:ln>
            <a:solidFill>
              <a:schemeClr val="tx1"/>
            </a:solidFill>
          </a:ln>
        </p:spPr>
      </p:pic>
      <p:sp>
        <p:nvSpPr>
          <p:cNvPr id="14" name="Content Placeholder 8">
            <a:extLst>
              <a:ext uri="{FF2B5EF4-FFF2-40B4-BE49-F238E27FC236}">
                <a16:creationId xmlns:a16="http://schemas.microsoft.com/office/drawing/2014/main" id="{8161ABC1-BCB7-1B44-8CA0-D52E7231CFD1}"/>
              </a:ext>
              <a:ext uri="{C183D7F6-B498-43B3-948B-1728B52AA6E4}">
                <adec:decorative xmlns:adec="http://schemas.microsoft.com/office/drawing/2017/decorative" val="1"/>
              </a:ext>
            </a:extLst>
          </p:cNvPr>
          <p:cNvSpPr txBox="1">
            <a:spLocks/>
          </p:cNvSpPr>
          <p:nvPr/>
        </p:nvSpPr>
        <p:spPr>
          <a:xfrm>
            <a:off x="419099" y="1528176"/>
            <a:ext cx="3494139"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1706425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DC8025C-12DF-0744-A30A-E9DDA2FE8DE8}"/>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27</a:t>
            </a:fld>
            <a:endParaRPr lang="en-US" dirty="0"/>
          </a:p>
        </p:txBody>
      </p:sp>
      <p:sp>
        <p:nvSpPr>
          <p:cNvPr id="8" name="Title 7">
            <a:extLst>
              <a:ext uri="{FF2B5EF4-FFF2-40B4-BE49-F238E27FC236}">
                <a16:creationId xmlns:a16="http://schemas.microsoft.com/office/drawing/2014/main" id="{4C42F421-A6EA-0E4B-8818-CBFE16940BF0}"/>
              </a:ext>
            </a:extLst>
          </p:cNvPr>
          <p:cNvSpPr>
            <a:spLocks noGrp="1"/>
          </p:cNvSpPr>
          <p:nvPr>
            <p:ph type="title"/>
          </p:nvPr>
        </p:nvSpPr>
        <p:spPr/>
        <p:txBody>
          <a:bodyPr/>
          <a:lstStyle/>
          <a:p>
            <a:r>
              <a:rPr lang="en-US" dirty="0"/>
              <a:t>9. Identify or create the key pair</a:t>
            </a:r>
          </a:p>
        </p:txBody>
      </p:sp>
      <p:sp>
        <p:nvSpPr>
          <p:cNvPr id="10" name="Content Placeholder 9">
            <a:extLst>
              <a:ext uri="{FF2B5EF4-FFF2-40B4-BE49-F238E27FC236}">
                <a16:creationId xmlns:a16="http://schemas.microsoft.com/office/drawing/2014/main" id="{29FE78C7-DDB9-0344-97A0-68D195ABF113}"/>
              </a:ext>
            </a:extLst>
          </p:cNvPr>
          <p:cNvSpPr>
            <a:spLocks noGrp="1"/>
          </p:cNvSpPr>
          <p:nvPr>
            <p:ph sz="quarter" idx="21"/>
          </p:nvPr>
        </p:nvSpPr>
        <p:spPr>
          <a:xfrm>
            <a:off x="3881535" y="1143000"/>
            <a:ext cx="6922226" cy="5291750"/>
          </a:xfrm>
        </p:spPr>
        <p:txBody>
          <a:bodyPr/>
          <a:lstStyle/>
          <a:p>
            <a:pPr marL="287338" indent="-268288"/>
            <a:r>
              <a:rPr lang="en-US" sz="2400" dirty="0"/>
              <a:t>At instance launch, you specify an existing key pair </a:t>
            </a:r>
            <a:r>
              <a:rPr lang="en-US" sz="2400" i="1" dirty="0"/>
              <a:t>or </a:t>
            </a:r>
            <a:r>
              <a:rPr lang="en-US" sz="2400" dirty="0"/>
              <a:t>create a new key pair.</a:t>
            </a:r>
          </a:p>
          <a:p>
            <a:pPr marL="287338" indent="-268288"/>
            <a:r>
              <a:rPr lang="en-US" sz="2400" dirty="0"/>
              <a:t>A</a:t>
            </a:r>
            <a:r>
              <a:rPr lang="en-US" sz="2400" dirty="0">
                <a:solidFill>
                  <a:schemeClr val="accent6"/>
                </a:solidFill>
              </a:rPr>
              <a:t> key pair</a:t>
            </a:r>
            <a:r>
              <a:rPr lang="en-US" sz="2400" dirty="0"/>
              <a:t> consists of – </a:t>
            </a:r>
          </a:p>
          <a:p>
            <a:pPr marL="744538" lvl="1" indent="-268288"/>
            <a:r>
              <a:rPr lang="en-US" sz="2000" dirty="0"/>
              <a:t>A </a:t>
            </a:r>
            <a:r>
              <a:rPr lang="en-US" sz="2000" b="1" dirty="0">
                <a:solidFill>
                  <a:schemeClr val="accent5"/>
                </a:solidFill>
              </a:rPr>
              <a:t>public key</a:t>
            </a:r>
            <a:r>
              <a:rPr lang="en-US" sz="2000" dirty="0"/>
              <a:t> that AWS stores.</a:t>
            </a:r>
          </a:p>
          <a:p>
            <a:pPr marL="744538" lvl="1" indent="-268288"/>
            <a:r>
              <a:rPr lang="en-US" sz="2000" dirty="0"/>
              <a:t>A </a:t>
            </a:r>
            <a:r>
              <a:rPr lang="en-US" sz="2000" b="1" dirty="0">
                <a:solidFill>
                  <a:schemeClr val="accent5"/>
                </a:solidFill>
              </a:rPr>
              <a:t>private key</a:t>
            </a:r>
            <a:r>
              <a:rPr lang="en-US" sz="2000" dirty="0"/>
              <a:t> file that you store. </a:t>
            </a:r>
          </a:p>
          <a:p>
            <a:pPr marL="287338" indent="-268288"/>
            <a:r>
              <a:rPr lang="en-US" sz="2400" dirty="0"/>
              <a:t>It enables secure connections to the instance. </a:t>
            </a:r>
          </a:p>
          <a:p>
            <a:pPr marL="287338" indent="-268288"/>
            <a:r>
              <a:rPr lang="en-US" sz="2400" dirty="0"/>
              <a:t>For </a:t>
            </a:r>
            <a:r>
              <a:rPr lang="en-US" sz="2400" b="1" dirty="0"/>
              <a:t>Windows AMIs – </a:t>
            </a:r>
          </a:p>
          <a:p>
            <a:pPr marL="744538" lvl="1" indent="-268288"/>
            <a:r>
              <a:rPr lang="en-US" sz="2000" dirty="0"/>
              <a:t>Use the private key to obtain the administrator password that you need to log in to your instance. </a:t>
            </a:r>
          </a:p>
          <a:p>
            <a:pPr marL="287338" indent="-268288"/>
            <a:r>
              <a:rPr lang="en-US" sz="2400" dirty="0"/>
              <a:t>For </a:t>
            </a:r>
            <a:r>
              <a:rPr lang="en-US" sz="2400" b="1" dirty="0"/>
              <a:t>Linux AMIs – </a:t>
            </a:r>
          </a:p>
          <a:p>
            <a:pPr marL="744538" lvl="1" indent="-268288"/>
            <a:r>
              <a:rPr lang="en-US" sz="2000" dirty="0"/>
              <a:t>Use the private key to use SSH to securely connect to your instance.</a:t>
            </a:r>
          </a:p>
        </p:txBody>
      </p:sp>
      <p:sp>
        <p:nvSpPr>
          <p:cNvPr id="15" name="TextBox 14">
            <a:extLst>
              <a:ext uri="{FF2B5EF4-FFF2-40B4-BE49-F238E27FC236}">
                <a16:creationId xmlns:a16="http://schemas.microsoft.com/office/drawing/2014/main" id="{EEF51727-40E9-2141-98E3-2072B8D72217}"/>
              </a:ext>
              <a:ext uri="{C183D7F6-B498-43B3-948B-1728B52AA6E4}">
                <adec:decorative xmlns:adec="http://schemas.microsoft.com/office/drawing/2017/decorative" val="1"/>
              </a:ext>
            </a:extLst>
          </p:cNvPr>
          <p:cNvSpPr txBox="1"/>
          <p:nvPr/>
        </p:nvSpPr>
        <p:spPr>
          <a:xfrm>
            <a:off x="10686904" y="2369924"/>
            <a:ext cx="1213794" cy="338554"/>
          </a:xfrm>
          <a:prstGeom prst="rect">
            <a:avLst/>
          </a:prstGeom>
          <a:noFill/>
        </p:spPr>
        <p:txBody>
          <a:bodyPr wrap="none" rtlCol="0">
            <a:spAutoFit/>
          </a:bodyPr>
          <a:lstStyle/>
          <a:p>
            <a:r>
              <a:rPr lang="en-US" sz="1600" dirty="0"/>
              <a:t>mykey.pem</a:t>
            </a:r>
          </a:p>
        </p:txBody>
      </p:sp>
      <p:pic>
        <p:nvPicPr>
          <p:cNvPr id="17" name="Graphic 16">
            <a:extLst>
              <a:ext uri="{FF2B5EF4-FFF2-40B4-BE49-F238E27FC236}">
                <a16:creationId xmlns:a16="http://schemas.microsoft.com/office/drawing/2014/main" id="{BA7463C5-E207-D843-9FBE-A486255FA353}"/>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03760" y="3475507"/>
            <a:ext cx="914400" cy="914400"/>
          </a:xfrm>
          <a:prstGeom prst="rect">
            <a:avLst/>
          </a:prstGeom>
        </p:spPr>
      </p:pic>
      <p:pic>
        <p:nvPicPr>
          <p:cNvPr id="19" name="Graphic 18">
            <a:extLst>
              <a:ext uri="{FF2B5EF4-FFF2-40B4-BE49-F238E27FC236}">
                <a16:creationId xmlns:a16="http://schemas.microsoft.com/office/drawing/2014/main" id="{B9130936-CC34-0D41-B9EC-0F70EDBA6177}"/>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03171" y="1838046"/>
            <a:ext cx="719353" cy="719353"/>
          </a:xfrm>
          <a:prstGeom prst="rect">
            <a:avLst/>
          </a:prstGeom>
        </p:spPr>
      </p:pic>
      <p:sp>
        <p:nvSpPr>
          <p:cNvPr id="21" name="Content Placeholder 8">
            <a:extLst>
              <a:ext uri="{FF2B5EF4-FFF2-40B4-BE49-F238E27FC236}">
                <a16:creationId xmlns:a16="http://schemas.microsoft.com/office/drawing/2014/main" id="{BA524270-3615-3545-ABE6-0CF3BCF052AF}"/>
              </a:ext>
              <a:ext uri="{C183D7F6-B498-43B3-948B-1728B52AA6E4}">
                <adec:decorative xmlns:adec="http://schemas.microsoft.com/office/drawing/2017/decorative" val="1"/>
              </a:ext>
            </a:extLst>
          </p:cNvPr>
          <p:cNvSpPr txBox="1">
            <a:spLocks/>
          </p:cNvSpPr>
          <p:nvPr/>
        </p:nvSpPr>
        <p:spPr>
          <a:xfrm>
            <a:off x="419099" y="1528176"/>
            <a:ext cx="3363025" cy="366399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Choices made by using the</a:t>
            </a:r>
            <a:b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br>
            <a:r>
              <a:rPr lang="en-US" sz="20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Launch Instance Wizard:</a:t>
            </a:r>
            <a:br>
              <a:rPr lang="en-US" sz="24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br>
            <a:endParaRPr lang="en-US" sz="2000" dirty="0">
              <a:latin typeface="Amazon Ember" panose="020B0603020204020204" pitchFamily="34" charset="0"/>
              <a:ea typeface="Amazon Ember" panose="020B0603020204020204" pitchFamily="34" charset="0"/>
              <a:cs typeface="Amazon Ember" panose="020B0603020204020204" pitchFamily="34" charset="0"/>
            </a:endParaRP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AMI</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Instance Type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Network settings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IAM role</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User data</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Storage options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Tags</a:t>
            </a:r>
          </a:p>
          <a:p>
            <a:pPr marL="514350" indent="-514350">
              <a:lnSpc>
                <a:spcPct val="100000"/>
              </a:lnSpc>
              <a:spcBef>
                <a:spcPts val="400"/>
              </a:spcBef>
              <a:buFont typeface="+mj-lt"/>
              <a:buAutoNum type="arabicPeriod"/>
            </a:pPr>
            <a:r>
              <a:rPr lang="en-US" sz="1600" b="1" dirty="0">
                <a:latin typeface="Amazon Ember" panose="020B0603020204020204" pitchFamily="34" charset="0"/>
                <a:ea typeface="Amazon Ember" panose="020B0603020204020204" pitchFamily="34" charset="0"/>
                <a:cs typeface="Amazon Ember" panose="020B0603020204020204" pitchFamily="34" charset="0"/>
              </a:rPr>
              <a:t>Security group</a:t>
            </a:r>
          </a:p>
          <a:p>
            <a:pPr marL="514350" indent="-514350">
              <a:lnSpc>
                <a:spcPct val="100000"/>
              </a:lnSpc>
              <a:spcBef>
                <a:spcPts val="400"/>
              </a:spcBef>
              <a:buFont typeface="+mj-lt"/>
              <a:buAutoNum type="arabicPeriod"/>
            </a:pPr>
            <a:r>
              <a:rPr lang="en-US" sz="16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Key pair</a:t>
            </a:r>
            <a:endParaRPr lang="en-US" sz="18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endParaRPr>
          </a:p>
        </p:txBody>
      </p:sp>
    </p:spTree>
    <p:custDataLst>
      <p:tags r:id="rId1"/>
    </p:custDataLst>
    <p:extLst>
      <p:ext uri="{BB962C8B-B14F-4D97-AF65-F5344CB8AC3E}">
        <p14:creationId xmlns:p14="http://schemas.microsoft.com/office/powerpoint/2010/main" val="42916077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F03A1-BF91-EB48-8D27-2ECE760F502D}"/>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t>28</a:t>
            </a:fld>
            <a:endParaRPr lang="en-US" dirty="0"/>
          </a:p>
        </p:txBody>
      </p:sp>
      <p:sp>
        <p:nvSpPr>
          <p:cNvPr id="2" name="Title 1">
            <a:extLst>
              <a:ext uri="{FF2B5EF4-FFF2-40B4-BE49-F238E27FC236}">
                <a16:creationId xmlns:a16="http://schemas.microsoft.com/office/drawing/2014/main" id="{8F0CBB63-9388-144A-A1AB-BB832437E3CA}"/>
              </a:ext>
            </a:extLst>
          </p:cNvPr>
          <p:cNvSpPr>
            <a:spLocks noGrp="1"/>
          </p:cNvSpPr>
          <p:nvPr>
            <p:ph type="title"/>
          </p:nvPr>
        </p:nvSpPr>
        <p:spPr/>
        <p:txBody>
          <a:bodyPr>
            <a:normAutofit/>
          </a:bodyPr>
          <a:lstStyle/>
          <a:p>
            <a:r>
              <a:rPr lang="en-US" sz="3600" dirty="0"/>
              <a:t>Amazon EC2 console view of a running EC2 instance</a:t>
            </a:r>
          </a:p>
        </p:txBody>
      </p:sp>
      <p:pic>
        <p:nvPicPr>
          <p:cNvPr id="7" name="Picture 6" descr="screen capture of the EC2 console view of a running instance, with the Description panel showing details.">
            <a:extLst>
              <a:ext uri="{FF2B5EF4-FFF2-40B4-BE49-F238E27FC236}">
                <a16:creationId xmlns:a16="http://schemas.microsoft.com/office/drawing/2014/main" id="{0DD282FC-22D6-0849-B301-275B2200233F}"/>
              </a:ext>
            </a:extLst>
          </p:cNvPr>
          <p:cNvPicPr>
            <a:picLocks noChangeAspect="1"/>
          </p:cNvPicPr>
          <p:nvPr/>
        </p:nvPicPr>
        <p:blipFill>
          <a:blip r:embed="rId4"/>
          <a:stretch>
            <a:fillRect/>
          </a:stretch>
        </p:blipFill>
        <p:spPr>
          <a:xfrm>
            <a:off x="1541322" y="1410368"/>
            <a:ext cx="8859978" cy="4945982"/>
          </a:xfrm>
          <a:prstGeom prst="rect">
            <a:avLst/>
          </a:prstGeom>
          <a:ln>
            <a:solidFill>
              <a:schemeClr val="accent1"/>
            </a:solidFill>
          </a:ln>
        </p:spPr>
      </p:pic>
    </p:spTree>
    <p:custDataLst>
      <p:tags r:id="rId1"/>
    </p:custDataLst>
    <p:extLst>
      <p:ext uri="{BB962C8B-B14F-4D97-AF65-F5344CB8AC3E}">
        <p14:creationId xmlns:p14="http://schemas.microsoft.com/office/powerpoint/2010/main" val="28379668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666A41-0DFD-8F45-9191-FD68F3DE70E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29</a:t>
            </a:fld>
            <a:endParaRPr lang="en-US" dirty="0"/>
          </a:p>
        </p:txBody>
      </p:sp>
      <p:sp>
        <p:nvSpPr>
          <p:cNvPr id="14" name="Title 13">
            <a:extLst>
              <a:ext uri="{FF2B5EF4-FFF2-40B4-BE49-F238E27FC236}">
                <a16:creationId xmlns:a16="http://schemas.microsoft.com/office/drawing/2014/main" id="{583A2482-2DCD-B446-86FC-3673D9C832AE}"/>
              </a:ext>
            </a:extLst>
          </p:cNvPr>
          <p:cNvSpPr>
            <a:spLocks noGrp="1"/>
          </p:cNvSpPr>
          <p:nvPr>
            <p:ph type="title"/>
          </p:nvPr>
        </p:nvSpPr>
        <p:spPr/>
        <p:txBody>
          <a:bodyPr>
            <a:noAutofit/>
          </a:bodyPr>
          <a:lstStyle/>
          <a:p>
            <a:r>
              <a:rPr lang="en-US" sz="3000" dirty="0"/>
              <a:t>Another option: Launch an EC2 instance with the AWS Command Line Interface </a:t>
            </a:r>
          </a:p>
        </p:txBody>
      </p:sp>
      <p:sp>
        <p:nvSpPr>
          <p:cNvPr id="25" name="Rectangle 24">
            <a:extLst>
              <a:ext uri="{FF2B5EF4-FFF2-40B4-BE49-F238E27FC236}">
                <a16:creationId xmlns:a16="http://schemas.microsoft.com/office/drawing/2014/main" id="{E4A8E24F-530D-674E-82AB-1053BF2E8516}"/>
              </a:ext>
              <a:ext uri="{C183D7F6-B498-43B3-948B-1728B52AA6E4}">
                <adec:decorative xmlns:adec="http://schemas.microsoft.com/office/drawing/2017/decorative" val="1"/>
              </a:ext>
            </a:extLst>
          </p:cNvPr>
          <p:cNvSpPr/>
          <p:nvPr/>
        </p:nvSpPr>
        <p:spPr>
          <a:xfrm>
            <a:off x="6233533" y="3456881"/>
            <a:ext cx="5709424" cy="241997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Content Placeholder 21">
            <a:extLst>
              <a:ext uri="{FF2B5EF4-FFF2-40B4-BE49-F238E27FC236}">
                <a16:creationId xmlns:a16="http://schemas.microsoft.com/office/drawing/2014/main" id="{E0BAFFB2-CBCF-0245-B234-B9C9FFC031AC}"/>
              </a:ext>
            </a:extLst>
          </p:cNvPr>
          <p:cNvSpPr>
            <a:spLocks noGrp="1"/>
          </p:cNvSpPr>
          <p:nvPr>
            <p:ph sz="quarter" idx="21"/>
          </p:nvPr>
        </p:nvSpPr>
        <p:spPr>
          <a:xfrm>
            <a:off x="365760" y="1143000"/>
            <a:ext cx="5592708" cy="5291750"/>
          </a:xfrm>
        </p:spPr>
        <p:txBody>
          <a:bodyPr/>
          <a:lstStyle/>
          <a:p>
            <a:r>
              <a:rPr lang="en-US" sz="2400" dirty="0"/>
              <a:t>EC2 instances can also be created programmatically.</a:t>
            </a:r>
          </a:p>
          <a:p>
            <a:endParaRPr lang="en-US" sz="2000" dirty="0"/>
          </a:p>
          <a:p>
            <a:pPr marL="0" indent="0">
              <a:buNone/>
            </a:pPr>
            <a:endParaRPr lang="en-US" sz="2000" dirty="0"/>
          </a:p>
          <a:p>
            <a:r>
              <a:rPr lang="en-US" sz="2400" dirty="0"/>
              <a:t>This example shows how simple the command can be.</a:t>
            </a:r>
            <a:endParaRPr lang="en-US" sz="2000" dirty="0"/>
          </a:p>
          <a:p>
            <a:pPr lvl="1"/>
            <a:r>
              <a:rPr lang="en-US" sz="1800" dirty="0"/>
              <a:t>This command assumes that the key pair and security group already exist.</a:t>
            </a:r>
          </a:p>
          <a:p>
            <a:pPr lvl="1"/>
            <a:endParaRPr lang="en-US" sz="1800" dirty="0"/>
          </a:p>
          <a:p>
            <a:pPr lvl="1"/>
            <a:r>
              <a:rPr lang="en-US" sz="1800" dirty="0"/>
              <a:t>More options could be specified. See the </a:t>
            </a:r>
            <a:r>
              <a:rPr lang="en-US" sz="1800" dirty="0">
                <a:hlinkClick r:id="rId4"/>
              </a:rPr>
              <a:t>AWS CLI Command Reference</a:t>
            </a:r>
            <a:r>
              <a:rPr lang="en-US" sz="1800" dirty="0"/>
              <a:t> for details.</a:t>
            </a:r>
            <a:endParaRPr lang="en-US" sz="2000" dirty="0"/>
          </a:p>
        </p:txBody>
      </p:sp>
      <p:sp>
        <p:nvSpPr>
          <p:cNvPr id="18" name="TextBox 17">
            <a:extLst>
              <a:ext uri="{FF2B5EF4-FFF2-40B4-BE49-F238E27FC236}">
                <a16:creationId xmlns:a16="http://schemas.microsoft.com/office/drawing/2014/main" id="{A3400BFE-0EE3-2F44-805A-6719DB29A578}"/>
              </a:ext>
            </a:extLst>
          </p:cNvPr>
          <p:cNvSpPr txBox="1"/>
          <p:nvPr/>
        </p:nvSpPr>
        <p:spPr>
          <a:xfrm>
            <a:off x="7831988" y="2114343"/>
            <a:ext cx="2085668" cy="584775"/>
          </a:xfrm>
          <a:prstGeom prst="rect">
            <a:avLst/>
          </a:prstGeom>
          <a:noFill/>
        </p:spPr>
        <p:txBody>
          <a:bodyPr wrap="square" rtlCol="0">
            <a:spAutoFit/>
          </a:bodyPr>
          <a:lstStyle/>
          <a:p>
            <a:pPr algn="ctr"/>
            <a:r>
              <a:rPr lang="en-US" sz="1600" dirty="0"/>
              <a:t>AWS Command Line Interface (AWS CLI)</a:t>
            </a:r>
          </a:p>
        </p:txBody>
      </p:sp>
      <p:sp>
        <p:nvSpPr>
          <p:cNvPr id="24" name="TextBox 23">
            <a:extLst>
              <a:ext uri="{FF2B5EF4-FFF2-40B4-BE49-F238E27FC236}">
                <a16:creationId xmlns:a16="http://schemas.microsoft.com/office/drawing/2014/main" id="{4ABF5473-14D7-8E4A-BF2A-078577E8FC0C}"/>
              </a:ext>
            </a:extLst>
          </p:cNvPr>
          <p:cNvSpPr txBox="1"/>
          <p:nvPr/>
        </p:nvSpPr>
        <p:spPr>
          <a:xfrm>
            <a:off x="6144254" y="3079943"/>
            <a:ext cx="2840842" cy="461665"/>
          </a:xfrm>
          <a:prstGeom prst="rect">
            <a:avLst/>
          </a:prstGeom>
          <a:noFill/>
        </p:spPr>
        <p:txBody>
          <a:bodyPr wrap="none" rtlCol="0">
            <a:spAutoFit/>
          </a:bodyPr>
          <a:lstStyle/>
          <a:p>
            <a:r>
              <a:rPr lang="en-US" sz="2400" b="1" dirty="0">
                <a:solidFill>
                  <a:schemeClr val="accent5"/>
                </a:solidFill>
                <a:latin typeface="Amazon Ember Light" panose="020B0403020204020204" pitchFamily="34" charset="0"/>
                <a:ea typeface="Amazon Ember Light" panose="020B0403020204020204" pitchFamily="34" charset="0"/>
                <a:cs typeface="Amazon Ember Light" panose="020B0403020204020204" pitchFamily="34" charset="0"/>
              </a:rPr>
              <a:t>Example command:</a:t>
            </a:r>
          </a:p>
        </p:txBody>
      </p:sp>
      <p:sp>
        <p:nvSpPr>
          <p:cNvPr id="17" name="TextBox 16">
            <a:extLst>
              <a:ext uri="{FF2B5EF4-FFF2-40B4-BE49-F238E27FC236}">
                <a16:creationId xmlns:a16="http://schemas.microsoft.com/office/drawing/2014/main" id="{67513463-9905-0941-94B0-A1BCE060F3CB}"/>
              </a:ext>
            </a:extLst>
          </p:cNvPr>
          <p:cNvSpPr txBox="1"/>
          <p:nvPr/>
        </p:nvSpPr>
        <p:spPr>
          <a:xfrm>
            <a:off x="6320354" y="3559427"/>
            <a:ext cx="5570756" cy="2246769"/>
          </a:xfrm>
          <a:prstGeom prst="rect">
            <a:avLst/>
          </a:prstGeom>
          <a:noFill/>
        </p:spPr>
        <p:txBody>
          <a:bodyPr wrap="none" rtlCol="0">
            <a:spAutoFit/>
          </a:bodyPr>
          <a:lstStyle/>
          <a:p>
            <a:r>
              <a:rPr lang="en-US" sz="2000" dirty="0">
                <a:latin typeface="Lucida Console" panose="020B0609040504020204" pitchFamily="49" charset="0"/>
              </a:rPr>
              <a:t>aws ec2 run-instances \ </a:t>
            </a:r>
          </a:p>
          <a:p>
            <a:r>
              <a:rPr lang="en-US" sz="2000" dirty="0">
                <a:latin typeface="Lucida Console" panose="020B0609040504020204" pitchFamily="49" charset="0"/>
              </a:rPr>
              <a:t>--image-id ami-1a2b3c4d \ </a:t>
            </a:r>
          </a:p>
          <a:p>
            <a:r>
              <a:rPr lang="en-US" sz="2000" dirty="0">
                <a:latin typeface="Lucida Console" panose="020B0609040504020204" pitchFamily="49" charset="0"/>
              </a:rPr>
              <a:t>--count 1 \ </a:t>
            </a:r>
          </a:p>
          <a:p>
            <a:r>
              <a:rPr lang="en-US" sz="2000" dirty="0">
                <a:latin typeface="Lucida Console" panose="020B0609040504020204" pitchFamily="49" charset="0"/>
              </a:rPr>
              <a:t>--instance-type c3.large \ </a:t>
            </a:r>
          </a:p>
          <a:p>
            <a:r>
              <a:rPr lang="en-US" sz="2000" dirty="0">
                <a:latin typeface="Lucida Console" panose="020B0609040504020204" pitchFamily="49" charset="0"/>
              </a:rPr>
              <a:t>--key-name MyKeyPair \ </a:t>
            </a:r>
          </a:p>
          <a:p>
            <a:r>
              <a:rPr lang="en-US" sz="2000" dirty="0">
                <a:latin typeface="Lucida Console" panose="020B0609040504020204" pitchFamily="49" charset="0"/>
              </a:rPr>
              <a:t>--security-groups MySecurityGroup \</a:t>
            </a:r>
          </a:p>
          <a:p>
            <a:r>
              <a:rPr lang="en-US" sz="2000" dirty="0">
                <a:latin typeface="Lucida Console" panose="020B0609040504020204" pitchFamily="49" charset="0"/>
                <a:ea typeface="Amazon Ember Light" panose="020B0403020204020204" pitchFamily="34" charset="0"/>
                <a:cs typeface="Amazon Ember Light" panose="020B0403020204020204" pitchFamily="34" charset="0"/>
              </a:rPr>
              <a:t>--region us-east-1</a:t>
            </a:r>
          </a:p>
        </p:txBody>
      </p:sp>
      <p:pic>
        <p:nvPicPr>
          <p:cNvPr id="19" name="Graphic 18">
            <a:extLst>
              <a:ext uri="{FF2B5EF4-FFF2-40B4-BE49-F238E27FC236}">
                <a16:creationId xmlns:a16="http://schemas.microsoft.com/office/drawing/2014/main" id="{E258282E-4963-954F-B8AE-19273169F55E}"/>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19222" y="1355408"/>
            <a:ext cx="711200" cy="711200"/>
          </a:xfrm>
          <a:prstGeom prst="rect">
            <a:avLst/>
          </a:prstGeom>
        </p:spPr>
      </p:pic>
    </p:spTree>
    <p:custDataLst>
      <p:tags r:id="rId1"/>
    </p:custDataLst>
    <p:extLst>
      <p:ext uri="{BB962C8B-B14F-4D97-AF65-F5344CB8AC3E}">
        <p14:creationId xmlns:p14="http://schemas.microsoft.com/office/powerpoint/2010/main" val="4215408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7CA05716-DE85-0A40-829B-2BA3A696DD99}"/>
              </a:ext>
              <a:ext uri="{C183D7F6-B498-43B3-948B-1728B52AA6E4}">
                <adec:decorative xmlns:adec="http://schemas.microsoft.com/office/drawing/2017/decorative" val="1"/>
              </a:ext>
            </a:extLst>
          </p:cNvPr>
          <p:cNvSpPr>
            <a:spLocks noGrp="1"/>
          </p:cNvSpPr>
          <p:nvPr>
            <p:ph type="sldNum" sz="quarter" idx="20"/>
          </p:nvPr>
        </p:nvSpPr>
        <p:spPr/>
        <p:txBody>
          <a:bodyPr/>
          <a:lstStyle/>
          <a:p>
            <a:fld id="{B6A95138-A96E-2F42-A959-2EFD44FE4AB7}" type="slidenum">
              <a:rPr lang="en-US" smtClean="0">
                <a:latin typeface="+mn-lt"/>
              </a:rPr>
              <a:t>30</a:t>
            </a:fld>
            <a:endParaRPr lang="en-US" dirty="0">
              <a:latin typeface="+mn-lt"/>
            </a:endParaRPr>
          </a:p>
        </p:txBody>
      </p:sp>
      <p:sp>
        <p:nvSpPr>
          <p:cNvPr id="2" name="Title 1"/>
          <p:cNvSpPr>
            <a:spLocks noGrp="1"/>
          </p:cNvSpPr>
          <p:nvPr>
            <p:ph type="title"/>
          </p:nvPr>
        </p:nvSpPr>
        <p:spPr/>
        <p:txBody>
          <a:bodyPr/>
          <a:lstStyle/>
          <a:p>
            <a:r>
              <a:rPr lang="en-US" dirty="0">
                <a:latin typeface="+mj-lt"/>
              </a:rPr>
              <a:t>Amazon EC2 instance lifecycle</a:t>
            </a:r>
          </a:p>
        </p:txBody>
      </p:sp>
      <p:grpSp>
        <p:nvGrpSpPr>
          <p:cNvPr id="23" name="Group 22" descr="diagram showing the states an instance can have after launch. A launched instance becomes &quot;pending&quot; and then &quot;running&quot;. Running instances can be rebooted, terminated, or stopped. A stopped instance can be started or termninated."/>
          <p:cNvGrpSpPr/>
          <p:nvPr/>
        </p:nvGrpSpPr>
        <p:grpSpPr>
          <a:xfrm>
            <a:off x="1147146" y="1364438"/>
            <a:ext cx="9288624" cy="4826316"/>
            <a:chOff x="1147146" y="1364438"/>
            <a:chExt cx="9288624" cy="4826316"/>
          </a:xfrm>
        </p:grpSpPr>
        <p:sp>
          <p:nvSpPr>
            <p:cNvPr id="52" name="Rectangle 51">
              <a:extLst>
                <a:ext uri="{FF2B5EF4-FFF2-40B4-BE49-F238E27FC236}">
                  <a16:creationId xmlns:a16="http://schemas.microsoft.com/office/drawing/2014/main" id="{B6751EC9-C4AA-E744-AEC5-B1E7EF5C711C}"/>
                </a:ext>
                <a:ext uri="{C183D7F6-B498-43B3-948B-1728B52AA6E4}">
                  <adec:decorative xmlns:adec="http://schemas.microsoft.com/office/drawing/2017/decorative" val="1"/>
                </a:ext>
              </a:extLst>
            </p:cNvPr>
            <p:cNvSpPr/>
            <p:nvPr/>
          </p:nvSpPr>
          <p:spPr>
            <a:xfrm>
              <a:off x="6089211" y="1624171"/>
              <a:ext cx="4346559" cy="4566583"/>
            </a:xfrm>
            <a:prstGeom prst="rect">
              <a:avLst/>
            </a:prstGeom>
            <a:solidFill>
              <a:schemeClr val="bg1">
                <a:lumMod val="95000"/>
              </a:schemeClr>
            </a:solidFill>
            <a:ln w="22225">
              <a:solidFill>
                <a:schemeClr val="tx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r>
                <a:rPr lang="en-US" sz="1600" b="1" dirty="0">
                  <a:solidFill>
                    <a:schemeClr val="tx1"/>
                  </a:solidFill>
                </a:rPr>
                <a:t>Only instances backed by Amazon EBS</a:t>
              </a:r>
            </a:p>
          </p:txBody>
        </p:sp>
        <p:sp>
          <p:nvSpPr>
            <p:cNvPr id="6" name="TextBox 71">
              <a:extLst>
                <a:ext uri="{C183D7F6-B498-43B3-948B-1728B52AA6E4}">
                  <adec:decorative xmlns:adec="http://schemas.microsoft.com/office/drawing/2017/decorative" val="1"/>
                </a:ext>
              </a:extLst>
            </p:cNvPr>
            <p:cNvSpPr txBox="1"/>
            <p:nvPr/>
          </p:nvSpPr>
          <p:spPr>
            <a:xfrm>
              <a:off x="1766093" y="2856257"/>
              <a:ext cx="858375"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dirty="0">
                  <a:ea typeface="Amazon Ember" panose="020B0603020204020204" pitchFamily="34" charset="0"/>
                  <a:cs typeface="Amazon Ember" panose="020B0603020204020204" pitchFamily="34" charset="0"/>
                </a:rPr>
                <a:t>AMI</a:t>
              </a:r>
            </a:p>
          </p:txBody>
        </p:sp>
        <p:cxnSp>
          <p:nvCxnSpPr>
            <p:cNvPr id="9" name="Straight Arrow Connector 8"/>
            <p:cNvCxnSpPr>
              <a:cxnSpLocks/>
              <a:stCxn id="49" idx="3"/>
              <a:endCxn id="10" idx="1"/>
            </p:cNvCxnSpPr>
            <p:nvPr/>
          </p:nvCxnSpPr>
          <p:spPr>
            <a:xfrm>
              <a:off x="2546731" y="2498105"/>
              <a:ext cx="1100690" cy="0"/>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47421" y="2203189"/>
              <a:ext cx="1395752" cy="589831"/>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pending</a:t>
              </a:r>
            </a:p>
          </p:txBody>
        </p:sp>
        <p:sp>
          <p:nvSpPr>
            <p:cNvPr id="12" name="TextBox 71"/>
            <p:cNvSpPr txBox="1"/>
            <p:nvPr/>
          </p:nvSpPr>
          <p:spPr>
            <a:xfrm>
              <a:off x="2624468" y="2260613"/>
              <a:ext cx="815962"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Launch</a:t>
              </a:r>
            </a:p>
          </p:txBody>
        </p:sp>
        <p:sp>
          <p:nvSpPr>
            <p:cNvPr id="16" name="Rounded Rectangle 15"/>
            <p:cNvSpPr/>
            <p:nvPr/>
          </p:nvSpPr>
          <p:spPr>
            <a:xfrm>
              <a:off x="3641008" y="3333298"/>
              <a:ext cx="1395752" cy="589831"/>
            </a:xfrm>
            <a:prstGeom prst="roundRect">
              <a:avLst/>
            </a:prstGeom>
            <a:solidFill>
              <a:srgbClr val="73FB79">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running</a:t>
              </a:r>
            </a:p>
          </p:txBody>
        </p:sp>
        <p:cxnSp>
          <p:nvCxnSpPr>
            <p:cNvPr id="17" name="Straight Arrow Connector 16"/>
            <p:cNvCxnSpPr>
              <a:cxnSpLocks/>
              <a:stCxn id="10" idx="2"/>
              <a:endCxn id="16" idx="0"/>
            </p:cNvCxnSpPr>
            <p:nvPr/>
          </p:nvCxnSpPr>
          <p:spPr>
            <a:xfrm flipH="1">
              <a:off x="4338884" y="2793020"/>
              <a:ext cx="6413" cy="540278"/>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2563600" y="3701582"/>
              <a:ext cx="1094661" cy="0"/>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1147146" y="3333298"/>
              <a:ext cx="1395752" cy="589830"/>
            </a:xfrm>
            <a:prstGeom prst="roundRect">
              <a:avLst/>
            </a:prstGeom>
            <a:solidFill>
              <a:schemeClr val="accent2">
                <a:lumMod val="60000"/>
                <a:lumOff val="40000"/>
              </a:scheme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rebooting</a:t>
              </a:r>
            </a:p>
          </p:txBody>
        </p:sp>
        <p:sp>
          <p:nvSpPr>
            <p:cNvPr id="47" name="TextBox 71"/>
            <p:cNvSpPr txBox="1"/>
            <p:nvPr/>
          </p:nvSpPr>
          <p:spPr>
            <a:xfrm>
              <a:off x="2669392" y="3268770"/>
              <a:ext cx="858375" cy="207509"/>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Reboot</a:t>
              </a:r>
            </a:p>
          </p:txBody>
        </p:sp>
        <p:cxnSp>
          <p:nvCxnSpPr>
            <p:cNvPr id="48" name="Straight Arrow Connector 47"/>
            <p:cNvCxnSpPr/>
            <p:nvPr/>
          </p:nvCxnSpPr>
          <p:spPr>
            <a:xfrm flipH="1" flipV="1">
              <a:off x="2542898" y="3497587"/>
              <a:ext cx="1098110" cy="1"/>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76" name="Group 75">
              <a:extLst>
                <a:ext uri="{C183D7F6-B498-43B3-948B-1728B52AA6E4}">
                  <adec:decorative xmlns:adec="http://schemas.microsoft.com/office/drawing/2017/decorative" val="1"/>
                </a:ext>
              </a:extLst>
            </p:cNvPr>
            <p:cNvGrpSpPr/>
            <p:nvPr/>
          </p:nvGrpSpPr>
          <p:grpSpPr>
            <a:xfrm>
              <a:off x="5043174" y="2265027"/>
              <a:ext cx="4219994" cy="1068271"/>
              <a:chOff x="3833412" y="1132752"/>
              <a:chExt cx="3164995" cy="801203"/>
            </a:xfrm>
          </p:grpSpPr>
          <p:cxnSp>
            <p:nvCxnSpPr>
              <p:cNvPr id="57" name="Elbow Connector 56"/>
              <p:cNvCxnSpPr>
                <a:cxnSpLocks/>
                <a:stCxn id="39" idx="0"/>
                <a:endCxn id="10" idx="3"/>
              </p:cNvCxnSpPr>
              <p:nvPr/>
            </p:nvCxnSpPr>
            <p:spPr>
              <a:xfrm rot="16200000" flipV="1">
                <a:off x="5102712" y="38260"/>
                <a:ext cx="626395" cy="3164995"/>
              </a:xfrm>
              <a:prstGeom prst="bentConnector2">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61" name="TextBox 71"/>
              <p:cNvSpPr txBox="1"/>
              <p:nvPr/>
            </p:nvSpPr>
            <p:spPr>
              <a:xfrm>
                <a:off x="5341881" y="1132752"/>
                <a:ext cx="643781" cy="155632"/>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Start</a:t>
                </a:r>
              </a:p>
            </p:txBody>
          </p:sp>
        </p:grpSp>
        <p:grpSp>
          <p:nvGrpSpPr>
            <p:cNvPr id="72" name="Group 71"/>
            <p:cNvGrpSpPr/>
            <p:nvPr/>
          </p:nvGrpSpPr>
          <p:grpSpPr>
            <a:xfrm>
              <a:off x="3641009" y="5091978"/>
              <a:ext cx="1394933" cy="955553"/>
              <a:chOff x="2987063" y="3252969"/>
              <a:chExt cx="1046200" cy="716666"/>
            </a:xfrm>
          </p:grpSpPr>
          <p:sp>
            <p:nvSpPr>
              <p:cNvPr id="21" name="Rounded Rectangle 20"/>
              <p:cNvSpPr/>
              <p:nvPr/>
            </p:nvSpPr>
            <p:spPr>
              <a:xfrm>
                <a:off x="2987063" y="3527262"/>
                <a:ext cx="1046200" cy="442373"/>
              </a:xfrm>
              <a:prstGeom prst="roundRect">
                <a:avLst/>
              </a:prstGeom>
              <a:solidFill>
                <a:srgbClr val="FF0000">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terminated</a:t>
                </a:r>
              </a:p>
            </p:txBody>
          </p:sp>
          <p:cxnSp>
            <p:nvCxnSpPr>
              <p:cNvPr id="33" name="Straight Arrow Connector 32"/>
              <p:cNvCxnSpPr>
                <a:cxnSpLocks/>
                <a:stCxn id="19" idx="2"/>
                <a:endCxn id="21" idx="0"/>
              </p:cNvCxnSpPr>
              <p:nvPr/>
            </p:nvCxnSpPr>
            <p:spPr>
              <a:xfrm flipH="1">
                <a:off x="3510163" y="3252969"/>
                <a:ext cx="1" cy="274293"/>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grpSp>
        <p:grpSp>
          <p:nvGrpSpPr>
            <p:cNvPr id="71" name="Group 70"/>
            <p:cNvGrpSpPr/>
            <p:nvPr/>
          </p:nvGrpSpPr>
          <p:grpSpPr>
            <a:xfrm>
              <a:off x="3641009" y="3907463"/>
              <a:ext cx="1394935" cy="1184515"/>
              <a:chOff x="2987063" y="2364581"/>
              <a:chExt cx="1046201" cy="888388"/>
            </a:xfrm>
          </p:grpSpPr>
          <p:sp>
            <p:nvSpPr>
              <p:cNvPr id="19" name="Rounded Rectangle 18"/>
              <p:cNvSpPr/>
              <p:nvPr/>
            </p:nvSpPr>
            <p:spPr>
              <a:xfrm>
                <a:off x="2987063" y="2810596"/>
                <a:ext cx="1046201" cy="442373"/>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shutting-down</a:t>
                </a:r>
              </a:p>
            </p:txBody>
          </p:sp>
          <p:cxnSp>
            <p:nvCxnSpPr>
              <p:cNvPr id="32" name="Straight Arrow Connector 31"/>
              <p:cNvCxnSpPr>
                <a:cxnSpLocks/>
                <a:endCxn id="19" idx="0"/>
              </p:cNvCxnSpPr>
              <p:nvPr/>
            </p:nvCxnSpPr>
            <p:spPr>
              <a:xfrm flipH="1">
                <a:off x="3510164" y="2364581"/>
                <a:ext cx="2965" cy="446015"/>
              </a:xfrm>
              <a:prstGeom prst="straightConnector1">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71"/>
              <p:cNvSpPr txBox="1"/>
              <p:nvPr/>
            </p:nvSpPr>
            <p:spPr>
              <a:xfrm>
                <a:off x="3191238" y="2542396"/>
                <a:ext cx="733558" cy="155632"/>
              </a:xfrm>
              <a:prstGeom prst="rect">
                <a:avLst/>
              </a:prstGeom>
              <a:solidFill>
                <a:schemeClr val="bg1"/>
              </a:solid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Terminate</a:t>
                </a:r>
              </a:p>
            </p:txBody>
          </p:sp>
        </p:grpSp>
        <p:grpSp>
          <p:nvGrpSpPr>
            <p:cNvPr id="77" name="Group 76"/>
            <p:cNvGrpSpPr/>
            <p:nvPr/>
          </p:nvGrpSpPr>
          <p:grpSpPr>
            <a:xfrm>
              <a:off x="5035944" y="3923128"/>
              <a:ext cx="4227225" cy="1829488"/>
              <a:chOff x="3590581" y="2376331"/>
              <a:chExt cx="3170416" cy="1372119"/>
            </a:xfrm>
          </p:grpSpPr>
          <p:cxnSp>
            <p:nvCxnSpPr>
              <p:cNvPr id="63" name="Elbow Connector 62"/>
              <p:cNvCxnSpPr>
                <a:cxnSpLocks/>
                <a:stCxn id="39" idx="2"/>
                <a:endCxn id="21" idx="3"/>
              </p:cNvCxnSpPr>
              <p:nvPr/>
            </p:nvCxnSpPr>
            <p:spPr>
              <a:xfrm rot="5400000">
                <a:off x="4489729" y="1477183"/>
                <a:ext cx="1372119" cy="3170416"/>
              </a:xfrm>
              <a:prstGeom prst="bentConnector2">
                <a:avLst/>
              </a:prstGeom>
              <a:ln>
                <a:solidFill>
                  <a:srgbClr val="757574"/>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71"/>
              <p:cNvSpPr txBox="1"/>
              <p:nvPr/>
            </p:nvSpPr>
            <p:spPr>
              <a:xfrm>
                <a:off x="5054591" y="3549275"/>
                <a:ext cx="862147" cy="155632"/>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Terminate</a:t>
                </a:r>
              </a:p>
            </p:txBody>
          </p:sp>
        </p:grpSp>
        <p:cxnSp>
          <p:nvCxnSpPr>
            <p:cNvPr id="36" name="Straight Arrow Connector 35"/>
            <p:cNvCxnSpPr>
              <a:cxnSpLocks/>
              <a:stCxn id="16" idx="3"/>
              <a:endCxn id="38" idx="1"/>
            </p:cNvCxnSpPr>
            <p:nvPr/>
          </p:nvCxnSpPr>
          <p:spPr>
            <a:xfrm flipV="1">
              <a:off x="5036760" y="3628213"/>
              <a:ext cx="1726055" cy="1"/>
            </a:xfrm>
            <a:prstGeom prst="straightConnector1">
              <a:avLst/>
            </a:prstGeom>
            <a:ln w="19050">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71"/>
            <p:cNvSpPr txBox="1"/>
            <p:nvPr/>
          </p:nvSpPr>
          <p:spPr>
            <a:xfrm>
              <a:off x="4976647" y="3366926"/>
              <a:ext cx="1171861" cy="729504"/>
            </a:xfrm>
            <a:prstGeom prst="rect">
              <a:avLst/>
            </a:prstGeom>
            <a:noFill/>
          </p:spPr>
          <p:txBody>
            <a:bodyPr wrap="square" lIns="0" tIns="0" rIns="0" bIns="0" rtlCol="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600" b="1" dirty="0">
                  <a:ea typeface="Amazon Ember" panose="020B0603020204020204" pitchFamily="34" charset="0"/>
                  <a:cs typeface="Amazon Ember" panose="020B0603020204020204" pitchFamily="34" charset="0"/>
                </a:rPr>
                <a:t>Stop</a:t>
              </a:r>
            </a:p>
            <a:p>
              <a:pPr algn="ctr"/>
              <a:r>
                <a:rPr lang="en-US" sz="1600" b="1" dirty="0">
                  <a:ea typeface="Amazon Ember" panose="020B0603020204020204" pitchFamily="34" charset="0"/>
                  <a:cs typeface="Amazon Ember" panose="020B0603020204020204" pitchFamily="34" charset="0"/>
                </a:rPr>
                <a:t>Stop-Hibernate</a:t>
              </a:r>
            </a:p>
          </p:txBody>
        </p:sp>
        <p:sp>
          <p:nvSpPr>
            <p:cNvPr id="38" name="Rounded Rectangle 37"/>
            <p:cNvSpPr/>
            <p:nvPr/>
          </p:nvSpPr>
          <p:spPr>
            <a:xfrm>
              <a:off x="6762815" y="3333298"/>
              <a:ext cx="1374674" cy="589830"/>
            </a:xfrm>
            <a:prstGeom prst="roundRect">
              <a:avLst/>
            </a:prstGeom>
            <a:solidFill>
              <a:srgbClr val="FFFD78">
                <a:alpha val="50000"/>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stopping</a:t>
              </a:r>
            </a:p>
          </p:txBody>
        </p:sp>
        <p:sp>
          <p:nvSpPr>
            <p:cNvPr id="39" name="Rounded Rectangle 38"/>
            <p:cNvSpPr/>
            <p:nvPr/>
          </p:nvSpPr>
          <p:spPr>
            <a:xfrm>
              <a:off x="8575829" y="3333298"/>
              <a:ext cx="1374675" cy="589830"/>
            </a:xfrm>
            <a:prstGeom prst="roundRect">
              <a:avLst/>
            </a:prstGeom>
            <a:solidFill>
              <a:srgbClr val="FF0000">
                <a:alpha val="23922"/>
              </a:srgbClr>
            </a:solidFill>
            <a:ln>
              <a:solidFill>
                <a:schemeClr val="tx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ea typeface="Amazon Ember" panose="020B0603020204020204" pitchFamily="34" charset="0"/>
                  <a:cs typeface="Amazon Ember" panose="020B0603020204020204" pitchFamily="34" charset="0"/>
                </a:rPr>
                <a:t>stopped</a:t>
              </a:r>
            </a:p>
          </p:txBody>
        </p:sp>
        <p:cxnSp>
          <p:nvCxnSpPr>
            <p:cNvPr id="40" name="Straight Arrow Connector 39"/>
            <p:cNvCxnSpPr>
              <a:cxnSpLocks/>
              <a:stCxn id="38" idx="3"/>
              <a:endCxn id="39" idx="1"/>
            </p:cNvCxnSpPr>
            <p:nvPr/>
          </p:nvCxnSpPr>
          <p:spPr>
            <a:xfrm>
              <a:off x="8137489" y="3628213"/>
              <a:ext cx="438340" cy="0"/>
            </a:xfrm>
            <a:prstGeom prst="straightConnector1">
              <a:avLst/>
            </a:prstGeom>
            <a:ln>
              <a:solidFill>
                <a:schemeClr val="bg2">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49" name="Graphic 48">
              <a:extLst>
                <a:ext uri="{FF2B5EF4-FFF2-40B4-BE49-F238E27FC236}">
                  <a16:creationId xmlns:a16="http://schemas.microsoft.com/office/drawing/2014/main" id="{098B6D9A-1DD0-DB49-A3B1-06B3623B506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71030" y="2160254"/>
              <a:ext cx="675701" cy="675701"/>
            </a:xfrm>
            <a:prstGeom prst="rect">
              <a:avLst/>
            </a:prstGeom>
          </p:spPr>
        </p:pic>
        <p:pic>
          <p:nvPicPr>
            <p:cNvPr id="50" name="Graphic 49">
              <a:extLst>
                <a:ext uri="{FF2B5EF4-FFF2-40B4-BE49-F238E27FC236}">
                  <a16:creationId xmlns:a16="http://schemas.microsoft.com/office/drawing/2014/main" id="{8DAAD020-BA8D-284F-882A-5D3E71ED3E6B}"/>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00085" y="1364438"/>
              <a:ext cx="591829" cy="591829"/>
            </a:xfrm>
            <a:prstGeom prst="rect">
              <a:avLst/>
            </a:prstGeom>
          </p:spPr>
        </p:pic>
      </p:grpSp>
    </p:spTree>
    <p:custDataLst>
      <p:tags r:id="rId1"/>
    </p:custDataLst>
    <p:extLst>
      <p:ext uri="{BB962C8B-B14F-4D97-AF65-F5344CB8AC3E}">
        <p14:creationId xmlns:p14="http://schemas.microsoft.com/office/powerpoint/2010/main" val="1713796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6C56D74-85A6-3748-81BD-94FA3C1C0E4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31</a:t>
            </a:fld>
            <a:endParaRPr lang="en-US" dirty="0"/>
          </a:p>
        </p:txBody>
      </p:sp>
      <p:sp>
        <p:nvSpPr>
          <p:cNvPr id="2" name="Title 1">
            <a:extLst>
              <a:ext uri="{FF2B5EF4-FFF2-40B4-BE49-F238E27FC236}">
                <a16:creationId xmlns:a16="http://schemas.microsoft.com/office/drawing/2014/main" id="{317EE466-2810-F740-80BF-441C6A03C8D2}"/>
              </a:ext>
            </a:extLst>
          </p:cNvPr>
          <p:cNvSpPr>
            <a:spLocks noGrp="1"/>
          </p:cNvSpPr>
          <p:nvPr>
            <p:ph type="title"/>
          </p:nvPr>
        </p:nvSpPr>
        <p:spPr/>
        <p:txBody>
          <a:bodyPr/>
          <a:lstStyle/>
          <a:p>
            <a:r>
              <a:rPr lang="en-US" dirty="0"/>
              <a:t>Consider using an Elastic IP address</a:t>
            </a:r>
          </a:p>
        </p:txBody>
      </p:sp>
      <p:sp>
        <p:nvSpPr>
          <p:cNvPr id="3" name="Content Placeholder 2">
            <a:extLst>
              <a:ext uri="{FF2B5EF4-FFF2-40B4-BE49-F238E27FC236}">
                <a16:creationId xmlns:a16="http://schemas.microsoft.com/office/drawing/2014/main" id="{9429DD88-0F1B-B347-A103-CDEBE616C4E2}"/>
              </a:ext>
            </a:extLst>
          </p:cNvPr>
          <p:cNvSpPr>
            <a:spLocks noGrp="1"/>
          </p:cNvSpPr>
          <p:nvPr>
            <p:ph sz="quarter" idx="21"/>
          </p:nvPr>
        </p:nvSpPr>
        <p:spPr>
          <a:xfrm>
            <a:off x="365760" y="1143000"/>
            <a:ext cx="5559552" cy="5291750"/>
          </a:xfrm>
        </p:spPr>
        <p:txBody>
          <a:bodyPr/>
          <a:lstStyle/>
          <a:p>
            <a:r>
              <a:rPr lang="en-US" sz="2400" b="1" dirty="0">
                <a:solidFill>
                  <a:schemeClr val="accent5"/>
                </a:solidFill>
              </a:rPr>
              <a:t>Rebooting</a:t>
            </a:r>
            <a:r>
              <a:rPr lang="en-US" sz="2400" dirty="0"/>
              <a:t> an instance will </a:t>
            </a:r>
            <a:r>
              <a:rPr lang="en-US" sz="2400" i="1" dirty="0"/>
              <a:t>not</a:t>
            </a:r>
            <a:r>
              <a:rPr lang="en-US" sz="2400" dirty="0"/>
              <a:t> change any IP addresses or DNS hostnames.</a:t>
            </a:r>
          </a:p>
          <a:p>
            <a:endParaRPr lang="en-US" sz="2400" dirty="0"/>
          </a:p>
          <a:p>
            <a:r>
              <a:rPr lang="en-US" sz="2400" dirty="0"/>
              <a:t>When an instance is </a:t>
            </a:r>
            <a:r>
              <a:rPr lang="en-US" sz="2400" b="1" dirty="0">
                <a:solidFill>
                  <a:schemeClr val="accent5"/>
                </a:solidFill>
              </a:rPr>
              <a:t>stopped</a:t>
            </a:r>
            <a:r>
              <a:rPr lang="en-US" sz="2400" dirty="0"/>
              <a:t> and then </a:t>
            </a:r>
            <a:r>
              <a:rPr lang="en-US" sz="2400" b="1" dirty="0">
                <a:solidFill>
                  <a:schemeClr val="accent5"/>
                </a:solidFill>
              </a:rPr>
              <a:t>started</a:t>
            </a:r>
            <a:r>
              <a:rPr lang="en-US" sz="2400" dirty="0"/>
              <a:t> again – </a:t>
            </a:r>
          </a:p>
          <a:p>
            <a:pPr lvl="1"/>
            <a:r>
              <a:rPr lang="en-US" sz="2000" dirty="0">
                <a:solidFill>
                  <a:schemeClr val="accent6"/>
                </a:solidFill>
              </a:rPr>
              <a:t>The </a:t>
            </a:r>
            <a:r>
              <a:rPr lang="en-US" sz="2000" i="1" dirty="0">
                <a:solidFill>
                  <a:schemeClr val="accent6"/>
                </a:solidFill>
              </a:rPr>
              <a:t>public</a:t>
            </a:r>
            <a:r>
              <a:rPr lang="en-US" sz="2000" dirty="0">
                <a:solidFill>
                  <a:schemeClr val="accent6"/>
                </a:solidFill>
              </a:rPr>
              <a:t> IPv4 address and </a:t>
            </a:r>
            <a:r>
              <a:rPr lang="en-US" sz="2000" i="1" dirty="0">
                <a:solidFill>
                  <a:schemeClr val="accent6"/>
                </a:solidFill>
              </a:rPr>
              <a:t>external</a:t>
            </a:r>
            <a:r>
              <a:rPr lang="en-US" sz="2000" dirty="0">
                <a:solidFill>
                  <a:schemeClr val="accent6"/>
                </a:solidFill>
              </a:rPr>
              <a:t> DNS hostname will change.</a:t>
            </a:r>
            <a:br>
              <a:rPr lang="en-US" sz="2000" dirty="0">
                <a:solidFill>
                  <a:schemeClr val="accent6"/>
                </a:solidFill>
              </a:rPr>
            </a:br>
            <a:endParaRPr lang="en-US" sz="2000" dirty="0">
              <a:solidFill>
                <a:schemeClr val="accent6"/>
              </a:solidFill>
            </a:endParaRPr>
          </a:p>
          <a:p>
            <a:pPr lvl="1"/>
            <a:r>
              <a:rPr lang="en-US" sz="2000" dirty="0"/>
              <a:t>The </a:t>
            </a:r>
            <a:r>
              <a:rPr lang="en-US" sz="2000" i="1" dirty="0"/>
              <a:t>private</a:t>
            </a:r>
            <a:r>
              <a:rPr lang="en-US" sz="2000" dirty="0"/>
              <a:t> IPv4 address and internal DNS hostname do </a:t>
            </a:r>
            <a:r>
              <a:rPr lang="en-US" sz="2000" i="1" dirty="0"/>
              <a:t>not</a:t>
            </a:r>
            <a:r>
              <a:rPr lang="en-US" sz="2000" dirty="0"/>
              <a:t> change.</a:t>
            </a:r>
          </a:p>
          <a:p>
            <a:endParaRPr lang="en-US" sz="2000" dirty="0"/>
          </a:p>
          <a:p>
            <a:pPr lvl="1"/>
            <a:endParaRPr lang="en-US" sz="2000" dirty="0"/>
          </a:p>
        </p:txBody>
      </p:sp>
      <p:sp>
        <p:nvSpPr>
          <p:cNvPr id="10" name="Content Placeholder 9">
            <a:extLst>
              <a:ext uri="{FF2B5EF4-FFF2-40B4-BE49-F238E27FC236}">
                <a16:creationId xmlns:a16="http://schemas.microsoft.com/office/drawing/2014/main" id="{1109DBB5-8287-244A-847A-205E873200E8}"/>
              </a:ext>
            </a:extLst>
          </p:cNvPr>
          <p:cNvSpPr>
            <a:spLocks noGrp="1"/>
          </p:cNvSpPr>
          <p:nvPr>
            <p:ph idx="4294967295"/>
          </p:nvPr>
        </p:nvSpPr>
        <p:spPr>
          <a:xfrm>
            <a:off x="6108192" y="1143000"/>
            <a:ext cx="5559552" cy="4649788"/>
          </a:xfrm>
        </p:spPr>
        <p:txBody>
          <a:bodyPr/>
          <a:lstStyle/>
          <a:p>
            <a:r>
              <a:rPr lang="en-US" sz="2400" dirty="0"/>
              <a:t>If you require a persistent public IP address – </a:t>
            </a:r>
          </a:p>
          <a:p>
            <a:pPr lvl="1"/>
            <a:r>
              <a:rPr lang="en-US" sz="2000" dirty="0"/>
              <a:t>Associate an </a:t>
            </a:r>
            <a:r>
              <a:rPr lang="en-US" sz="2000" b="1" dirty="0">
                <a:solidFill>
                  <a:schemeClr val="accent5"/>
                </a:solidFill>
              </a:rPr>
              <a:t>Elastic IP address </a:t>
            </a:r>
            <a:r>
              <a:rPr lang="en-US" sz="2000" dirty="0"/>
              <a:t>with the instance.</a:t>
            </a:r>
          </a:p>
          <a:p>
            <a:pPr lvl="1"/>
            <a:endParaRPr lang="en-US" sz="2000" dirty="0"/>
          </a:p>
          <a:p>
            <a:r>
              <a:rPr lang="en-US" sz="2400" dirty="0"/>
              <a:t>Elastic IP address characteristics – </a:t>
            </a:r>
          </a:p>
          <a:p>
            <a:pPr lvl="1"/>
            <a:r>
              <a:rPr lang="en-US" sz="2000" dirty="0"/>
              <a:t>Can be associated with instances in the Region as needed.</a:t>
            </a:r>
            <a:br>
              <a:rPr lang="en-US" sz="2000" dirty="0"/>
            </a:br>
            <a:endParaRPr lang="en-US" sz="2000" dirty="0"/>
          </a:p>
          <a:p>
            <a:pPr lvl="1"/>
            <a:r>
              <a:rPr lang="en-US" sz="2000" dirty="0"/>
              <a:t>Remains allocated to your account until you choose to release it.</a:t>
            </a:r>
            <a:endParaRPr lang="en-US" dirty="0"/>
          </a:p>
        </p:txBody>
      </p:sp>
      <p:grpSp>
        <p:nvGrpSpPr>
          <p:cNvPr id="9" name="Group 8">
            <a:extLst>
              <a:ext uri="{FF2B5EF4-FFF2-40B4-BE49-F238E27FC236}">
                <a16:creationId xmlns:a16="http://schemas.microsoft.com/office/drawing/2014/main" id="{3F08C504-C754-DC47-8A0E-1E931906EF3C}"/>
              </a:ext>
              <a:ext uri="{C183D7F6-B498-43B3-948B-1728B52AA6E4}">
                <adec:decorative xmlns:adec="http://schemas.microsoft.com/office/drawing/2017/decorative" val="1"/>
              </a:ext>
            </a:extLst>
          </p:cNvPr>
          <p:cNvGrpSpPr/>
          <p:nvPr/>
        </p:nvGrpSpPr>
        <p:grpSpPr>
          <a:xfrm>
            <a:off x="5395862" y="5102916"/>
            <a:ext cx="1242346" cy="1253434"/>
            <a:chOff x="10493446" y="1882588"/>
            <a:chExt cx="1242346" cy="1253434"/>
          </a:xfrm>
        </p:grpSpPr>
        <p:pic>
          <p:nvPicPr>
            <p:cNvPr id="7" name="Graphic 6">
              <a:extLst>
                <a:ext uri="{FF2B5EF4-FFF2-40B4-BE49-F238E27FC236}">
                  <a16:creationId xmlns:a16="http://schemas.microsoft.com/office/drawing/2014/main" id="{866370B7-12A0-6849-9E77-05158851712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723789" y="1882588"/>
              <a:ext cx="781660" cy="781660"/>
            </a:xfrm>
            <a:prstGeom prst="rect">
              <a:avLst/>
            </a:prstGeom>
          </p:spPr>
        </p:pic>
        <p:sp>
          <p:nvSpPr>
            <p:cNvPr id="8" name="TextBox 7">
              <a:extLst>
                <a:ext uri="{FF2B5EF4-FFF2-40B4-BE49-F238E27FC236}">
                  <a16:creationId xmlns:a16="http://schemas.microsoft.com/office/drawing/2014/main" id="{D57E80BE-4DB8-7F47-BFCA-E1DED74BD78A}"/>
                </a:ext>
              </a:extLst>
            </p:cNvPr>
            <p:cNvSpPr txBox="1"/>
            <p:nvPr/>
          </p:nvSpPr>
          <p:spPr>
            <a:xfrm>
              <a:off x="10493446" y="2551247"/>
              <a:ext cx="1242346"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Elastic IP Address</a:t>
              </a:r>
            </a:p>
          </p:txBody>
        </p:sp>
      </p:grpSp>
    </p:spTree>
    <p:custDataLst>
      <p:tags r:id="rId1"/>
    </p:custDataLst>
    <p:extLst>
      <p:ext uri="{BB962C8B-B14F-4D97-AF65-F5344CB8AC3E}">
        <p14:creationId xmlns:p14="http://schemas.microsoft.com/office/powerpoint/2010/main" val="11501255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CFF0B1-4102-484F-B02A-21FE01BF14C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32</a:t>
            </a:fld>
            <a:endParaRPr lang="en-US" dirty="0"/>
          </a:p>
        </p:txBody>
      </p:sp>
      <p:sp>
        <p:nvSpPr>
          <p:cNvPr id="2" name="Title 1">
            <a:extLst>
              <a:ext uri="{FF2B5EF4-FFF2-40B4-BE49-F238E27FC236}">
                <a16:creationId xmlns:a16="http://schemas.microsoft.com/office/drawing/2014/main" id="{3AA49B58-7A92-774E-BC3A-BB4486AE738A}"/>
              </a:ext>
            </a:extLst>
          </p:cNvPr>
          <p:cNvSpPr>
            <a:spLocks noGrp="1"/>
          </p:cNvSpPr>
          <p:nvPr>
            <p:ph type="title"/>
          </p:nvPr>
        </p:nvSpPr>
        <p:spPr/>
        <p:txBody>
          <a:bodyPr/>
          <a:lstStyle/>
          <a:p>
            <a:r>
              <a:rPr lang="en-US" dirty="0"/>
              <a:t>Amazon CloudWatch for monitoring</a:t>
            </a:r>
          </a:p>
        </p:txBody>
      </p:sp>
      <p:sp>
        <p:nvSpPr>
          <p:cNvPr id="3" name="Content Placeholder 2">
            <a:extLst>
              <a:ext uri="{FF2B5EF4-FFF2-40B4-BE49-F238E27FC236}">
                <a16:creationId xmlns:a16="http://schemas.microsoft.com/office/drawing/2014/main" id="{30241FC8-E0C7-C442-A897-0F948721DFA1}"/>
              </a:ext>
            </a:extLst>
          </p:cNvPr>
          <p:cNvSpPr>
            <a:spLocks noGrp="1"/>
          </p:cNvSpPr>
          <p:nvPr>
            <p:ph sz="quarter" idx="21"/>
          </p:nvPr>
        </p:nvSpPr>
        <p:spPr>
          <a:xfrm>
            <a:off x="365760" y="1143000"/>
            <a:ext cx="6350385" cy="5291750"/>
          </a:xfrm>
        </p:spPr>
        <p:txBody>
          <a:bodyPr>
            <a:normAutofit lnSpcReduction="10000"/>
          </a:bodyPr>
          <a:lstStyle/>
          <a:p>
            <a:r>
              <a:rPr lang="en-US" sz="2000" dirty="0"/>
              <a:t>Use </a:t>
            </a:r>
            <a:r>
              <a:rPr lang="en-US" sz="2000" b="1" dirty="0">
                <a:solidFill>
                  <a:srgbClr val="504BAB"/>
                </a:solidFill>
              </a:rPr>
              <a:t>Amazon CloudWatch </a:t>
            </a:r>
            <a:r>
              <a:rPr lang="en-US" sz="2000" dirty="0"/>
              <a:t>to monitor EC2 instances</a:t>
            </a:r>
          </a:p>
          <a:p>
            <a:pPr lvl="1"/>
            <a:r>
              <a:rPr lang="en-US" sz="1800" dirty="0"/>
              <a:t>Provides near-real-time metrics</a:t>
            </a:r>
          </a:p>
          <a:p>
            <a:pPr lvl="1"/>
            <a:r>
              <a:rPr lang="en-US" sz="1800" dirty="0"/>
              <a:t>Provides charts in the Amazon EC2 console </a:t>
            </a:r>
            <a:r>
              <a:rPr lang="en-US" sz="1800" b="1" dirty="0"/>
              <a:t>Monitoring</a:t>
            </a:r>
            <a:r>
              <a:rPr lang="en-US" sz="1800" dirty="0"/>
              <a:t> tab that you can view</a:t>
            </a:r>
          </a:p>
          <a:p>
            <a:pPr lvl="1"/>
            <a:r>
              <a:rPr lang="en-US" sz="1800" dirty="0"/>
              <a:t>Maintains 15 months of historical data</a:t>
            </a:r>
          </a:p>
          <a:p>
            <a:pPr lvl="1"/>
            <a:endParaRPr lang="en-US" sz="1800" dirty="0"/>
          </a:p>
          <a:p>
            <a:r>
              <a:rPr lang="en-US" sz="2000" b="1" dirty="0">
                <a:solidFill>
                  <a:srgbClr val="504BAB"/>
                </a:solidFill>
              </a:rPr>
              <a:t>Basic monitoring</a:t>
            </a:r>
          </a:p>
          <a:p>
            <a:pPr lvl="1"/>
            <a:r>
              <a:rPr lang="en-US" sz="1800" dirty="0"/>
              <a:t>Default, no additional cost</a:t>
            </a:r>
          </a:p>
          <a:p>
            <a:pPr lvl="1"/>
            <a:r>
              <a:rPr lang="en-US" sz="1800" dirty="0"/>
              <a:t>Metric data sent to CloudWatch every 5 minutes</a:t>
            </a:r>
          </a:p>
          <a:p>
            <a:pPr lvl="1"/>
            <a:endParaRPr lang="en-US" sz="1800" dirty="0"/>
          </a:p>
          <a:p>
            <a:r>
              <a:rPr lang="en-US" sz="2000" b="1" dirty="0">
                <a:solidFill>
                  <a:srgbClr val="504BAB"/>
                </a:solidFill>
              </a:rPr>
              <a:t>Detailed monitoring</a:t>
            </a:r>
          </a:p>
          <a:p>
            <a:pPr lvl="1"/>
            <a:r>
              <a:rPr lang="en-US" sz="1800" dirty="0"/>
              <a:t>Fixed monthly rate for seven pre-selected metrics </a:t>
            </a:r>
          </a:p>
          <a:p>
            <a:pPr lvl="1"/>
            <a:r>
              <a:rPr lang="en-US" sz="1800" dirty="0"/>
              <a:t>Metric data delivered every 1 minute</a:t>
            </a:r>
          </a:p>
          <a:p>
            <a:endParaRPr lang="en-US" sz="2000" dirty="0"/>
          </a:p>
        </p:txBody>
      </p:sp>
      <p:grpSp>
        <p:nvGrpSpPr>
          <p:cNvPr id="5" name="Group 4">
            <a:extLst>
              <a:ext uri="{FF2B5EF4-FFF2-40B4-BE49-F238E27FC236}">
                <a16:creationId xmlns:a16="http://schemas.microsoft.com/office/drawing/2014/main" id="{E2877AFD-C577-3C9D-C071-314EBC11DC0D}"/>
              </a:ext>
              <a:ext uri="{C183D7F6-B498-43B3-948B-1728B52AA6E4}">
                <adec:decorative xmlns:adec="http://schemas.microsoft.com/office/drawing/2017/decorative" val="1"/>
              </a:ext>
            </a:extLst>
          </p:cNvPr>
          <p:cNvGrpSpPr/>
          <p:nvPr/>
        </p:nvGrpSpPr>
        <p:grpSpPr>
          <a:xfrm>
            <a:off x="6200325" y="2135706"/>
            <a:ext cx="5293307" cy="4413804"/>
            <a:chOff x="6200325" y="2135706"/>
            <a:chExt cx="5293307" cy="4413804"/>
          </a:xfrm>
        </p:grpSpPr>
        <p:pic>
          <p:nvPicPr>
            <p:cNvPr id="15" name="Picture 14">
              <a:extLst>
                <a:ext uri="{FF2B5EF4-FFF2-40B4-BE49-F238E27FC236}">
                  <a16:creationId xmlns:a16="http://schemas.microsoft.com/office/drawing/2014/main" id="{2776498D-DCDA-A44E-A03A-99B6942BD93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200325" y="2135706"/>
              <a:ext cx="5293307" cy="4413804"/>
            </a:xfrm>
            <a:prstGeom prst="rect">
              <a:avLst/>
            </a:prstGeom>
            <a:ln>
              <a:solidFill>
                <a:schemeClr val="accent1"/>
              </a:solidFill>
            </a:ln>
          </p:spPr>
        </p:pic>
        <p:sp>
          <p:nvSpPr>
            <p:cNvPr id="20" name="Rectangle 19">
              <a:extLst>
                <a:ext uri="{FF2B5EF4-FFF2-40B4-BE49-F238E27FC236}">
                  <a16:creationId xmlns:a16="http://schemas.microsoft.com/office/drawing/2014/main" id="{7421B20E-971C-F94B-BE0A-0A4F1BC083C6}"/>
                </a:ext>
              </a:extLst>
            </p:cNvPr>
            <p:cNvSpPr/>
            <p:nvPr/>
          </p:nvSpPr>
          <p:spPr>
            <a:xfrm>
              <a:off x="9375360" y="2197042"/>
              <a:ext cx="907107" cy="1216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descr="Screen capture of the EC2 console showing the Monitoring tab view. The charts in the monitoring tab are highlighted.">
            <a:extLst>
              <a:ext uri="{FF2B5EF4-FFF2-40B4-BE49-F238E27FC236}">
                <a16:creationId xmlns:a16="http://schemas.microsoft.com/office/drawing/2014/main" id="{2A60448C-9424-0F23-D586-3CF46C93CC3A}"/>
              </a:ext>
            </a:extLst>
          </p:cNvPr>
          <p:cNvGrpSpPr/>
          <p:nvPr/>
        </p:nvGrpSpPr>
        <p:grpSpPr>
          <a:xfrm>
            <a:off x="6842595" y="1164921"/>
            <a:ext cx="4810579" cy="5019463"/>
            <a:chOff x="6842595" y="1164921"/>
            <a:chExt cx="4810579" cy="5019463"/>
          </a:xfrm>
        </p:grpSpPr>
        <p:sp>
          <p:nvSpPr>
            <p:cNvPr id="11" name="TextBox 10">
              <a:extLst>
                <a:ext uri="{FF2B5EF4-FFF2-40B4-BE49-F238E27FC236}">
                  <a16:creationId xmlns:a16="http://schemas.microsoft.com/office/drawing/2014/main" id="{ED5E8DC3-DB8F-DD4C-881B-983BF361CA46}"/>
                </a:ext>
              </a:extLst>
            </p:cNvPr>
            <p:cNvSpPr txBox="1"/>
            <p:nvPr/>
          </p:nvSpPr>
          <p:spPr>
            <a:xfrm>
              <a:off x="6842595" y="1736447"/>
              <a:ext cx="2188750"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CloudWatch</a:t>
              </a:r>
            </a:p>
          </p:txBody>
        </p:sp>
        <p:pic>
          <p:nvPicPr>
            <p:cNvPr id="12" name="Graphic 11">
              <a:extLst>
                <a:ext uri="{FF2B5EF4-FFF2-40B4-BE49-F238E27FC236}">
                  <a16:creationId xmlns:a16="http://schemas.microsoft.com/office/drawing/2014/main" id="{034236BD-4692-4E4F-9923-5554DA4E3925}"/>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62650" y="1187807"/>
              <a:ext cx="548640" cy="548640"/>
            </a:xfrm>
            <a:prstGeom prst="rect">
              <a:avLst/>
            </a:prstGeom>
          </p:spPr>
        </p:pic>
        <p:pic>
          <p:nvPicPr>
            <p:cNvPr id="13" name="Graphic 12">
              <a:extLst>
                <a:ext uri="{FF2B5EF4-FFF2-40B4-BE49-F238E27FC236}">
                  <a16:creationId xmlns:a16="http://schemas.microsoft.com/office/drawing/2014/main" id="{9C9DBC19-E45D-0947-BB1F-4C9CB8F501EA}"/>
                </a:ext>
                <a:ext uri="{C183D7F6-B498-43B3-948B-1728B52AA6E4}">
                  <adec:decorative xmlns:adec="http://schemas.microsoft.com/office/drawing/2017/decorative" val="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1445" y="1164921"/>
              <a:ext cx="548640" cy="548640"/>
            </a:xfrm>
            <a:prstGeom prst="rect">
              <a:avLst/>
            </a:prstGeom>
          </p:spPr>
        </p:pic>
        <p:sp>
          <p:nvSpPr>
            <p:cNvPr id="14" name="TextBox 13">
              <a:extLst>
                <a:ext uri="{FF2B5EF4-FFF2-40B4-BE49-F238E27FC236}">
                  <a16:creationId xmlns:a16="http://schemas.microsoft.com/office/drawing/2014/main" id="{30D6A80C-E29F-894D-AED8-7F8FE21352E1}"/>
                </a:ext>
              </a:extLst>
            </p:cNvPr>
            <p:cNvSpPr txBox="1"/>
            <p:nvPr/>
          </p:nvSpPr>
          <p:spPr>
            <a:xfrm>
              <a:off x="8998356" y="1737286"/>
              <a:ext cx="2654818"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Instance with CloudWatch</a:t>
              </a:r>
            </a:p>
          </p:txBody>
        </p:sp>
        <p:cxnSp>
          <p:nvCxnSpPr>
            <p:cNvPr id="17" name="Straight Arrow Connector 16">
              <a:extLst>
                <a:ext uri="{FF2B5EF4-FFF2-40B4-BE49-F238E27FC236}">
                  <a16:creationId xmlns:a16="http://schemas.microsoft.com/office/drawing/2014/main" id="{7316A9C0-79D0-5C4F-85A0-D5382F6C0027}"/>
                </a:ext>
              </a:extLst>
            </p:cNvPr>
            <p:cNvCxnSpPr>
              <a:cxnSpLocks/>
              <a:stCxn id="13" idx="3"/>
              <a:endCxn id="18" idx="3"/>
            </p:cNvCxnSpPr>
            <p:nvPr/>
          </p:nvCxnSpPr>
          <p:spPr>
            <a:xfrm>
              <a:off x="10600085" y="1439241"/>
              <a:ext cx="809054" cy="3330711"/>
            </a:xfrm>
            <a:prstGeom prst="bentConnector3">
              <a:avLst>
                <a:gd name="adj1" fmla="val 128255"/>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F6B8632-2A1E-534B-B465-8A40B36AE9E7}"/>
                </a:ext>
              </a:extLst>
            </p:cNvPr>
            <p:cNvSpPr/>
            <p:nvPr/>
          </p:nvSpPr>
          <p:spPr>
            <a:xfrm>
              <a:off x="7176163" y="3355519"/>
              <a:ext cx="4232976" cy="2828865"/>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grpSp>
    </p:spTree>
    <p:custDataLst>
      <p:tags r:id="rId1"/>
    </p:custDataLst>
    <p:extLst>
      <p:ext uri="{BB962C8B-B14F-4D97-AF65-F5344CB8AC3E}">
        <p14:creationId xmlns:p14="http://schemas.microsoft.com/office/powerpoint/2010/main" val="22276858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33</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dirty="0"/>
              <a:t>Section 2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000" b="1" dirty="0">
                <a:solidFill>
                  <a:srgbClr val="504BAB"/>
                </a:solidFill>
              </a:rPr>
              <a:t>Amazon</a:t>
            </a:r>
            <a:r>
              <a:rPr lang="en-US" sz="2000" b="1" dirty="0">
                <a:solidFill>
                  <a:schemeClr val="accent5"/>
                </a:solidFill>
              </a:rPr>
              <a:t> </a:t>
            </a:r>
            <a:r>
              <a:rPr lang="en-US" sz="2000" b="1" dirty="0">
                <a:solidFill>
                  <a:srgbClr val="504BAB"/>
                </a:solidFill>
              </a:rPr>
              <a:t>EC2</a:t>
            </a:r>
            <a:r>
              <a:rPr lang="en-US" sz="2000" dirty="0"/>
              <a:t> enables you to run Windows and Linux </a:t>
            </a:r>
            <a:r>
              <a:rPr lang="en-US" sz="2000" b="1" dirty="0">
                <a:solidFill>
                  <a:srgbClr val="504BAB"/>
                </a:solidFill>
              </a:rPr>
              <a:t>virtual</a:t>
            </a:r>
            <a:r>
              <a:rPr lang="en-US" sz="2000" b="1" dirty="0">
                <a:solidFill>
                  <a:schemeClr val="accent5"/>
                </a:solidFill>
              </a:rPr>
              <a:t> </a:t>
            </a:r>
            <a:r>
              <a:rPr lang="en-US" sz="2000" b="1" dirty="0">
                <a:solidFill>
                  <a:srgbClr val="504BAB"/>
                </a:solidFill>
              </a:rPr>
              <a:t>machines</a:t>
            </a:r>
            <a:r>
              <a:rPr lang="en-US" sz="2000" b="1" dirty="0">
                <a:solidFill>
                  <a:schemeClr val="accent5"/>
                </a:solidFill>
              </a:rPr>
              <a:t> </a:t>
            </a:r>
            <a:r>
              <a:rPr lang="en-US" sz="2000" dirty="0"/>
              <a:t>in the cloud.</a:t>
            </a:r>
          </a:p>
          <a:p>
            <a:r>
              <a:rPr lang="en-US" sz="2000" dirty="0"/>
              <a:t>You launch </a:t>
            </a:r>
            <a:r>
              <a:rPr lang="en-US" sz="2000" b="1" dirty="0">
                <a:solidFill>
                  <a:srgbClr val="504BAB"/>
                </a:solidFill>
              </a:rPr>
              <a:t>EC2</a:t>
            </a:r>
            <a:r>
              <a:rPr lang="en-US" sz="2000" b="1" dirty="0">
                <a:solidFill>
                  <a:schemeClr val="accent5"/>
                </a:solidFill>
              </a:rPr>
              <a:t> </a:t>
            </a:r>
            <a:r>
              <a:rPr lang="en-US" sz="2000" b="1" dirty="0">
                <a:solidFill>
                  <a:srgbClr val="504BAB"/>
                </a:solidFill>
              </a:rPr>
              <a:t>instances</a:t>
            </a:r>
            <a:r>
              <a:rPr lang="en-US" sz="2000" dirty="0"/>
              <a:t> from an </a:t>
            </a:r>
            <a:r>
              <a:rPr lang="en-US" sz="2000" b="1" dirty="0">
                <a:solidFill>
                  <a:srgbClr val="504BAB"/>
                </a:solidFill>
              </a:rPr>
              <a:t>AMI</a:t>
            </a:r>
            <a:r>
              <a:rPr lang="en-US" sz="2000" dirty="0"/>
              <a:t> template into a VPC in your account.</a:t>
            </a:r>
          </a:p>
          <a:p>
            <a:r>
              <a:rPr lang="en-US" sz="2000" dirty="0"/>
              <a:t>You can choose from many </a:t>
            </a:r>
            <a:r>
              <a:rPr lang="en-US" sz="2000" b="1" dirty="0">
                <a:solidFill>
                  <a:srgbClr val="504BAB"/>
                </a:solidFill>
              </a:rPr>
              <a:t>instance</a:t>
            </a:r>
            <a:r>
              <a:rPr lang="en-US" sz="2000" b="1" dirty="0">
                <a:solidFill>
                  <a:schemeClr val="accent5"/>
                </a:solidFill>
              </a:rPr>
              <a:t> </a:t>
            </a:r>
            <a:r>
              <a:rPr lang="en-US" sz="2000" b="1" dirty="0">
                <a:solidFill>
                  <a:srgbClr val="504BAB"/>
                </a:solidFill>
              </a:rPr>
              <a:t>types</a:t>
            </a:r>
            <a:r>
              <a:rPr lang="en-US" sz="2000" dirty="0"/>
              <a:t>. Each instance type offers different combinations of CPU, RAM, storage, and networking capabilities.</a:t>
            </a:r>
          </a:p>
          <a:p>
            <a:r>
              <a:rPr lang="en-US" sz="2000" dirty="0"/>
              <a:t>You can configure </a:t>
            </a:r>
            <a:r>
              <a:rPr lang="en-US" sz="2000" b="1" dirty="0">
                <a:solidFill>
                  <a:srgbClr val="504BAB"/>
                </a:solidFill>
              </a:rPr>
              <a:t>security</a:t>
            </a:r>
            <a:r>
              <a:rPr lang="en-US" sz="2000" b="1" dirty="0">
                <a:solidFill>
                  <a:schemeClr val="accent5"/>
                </a:solidFill>
              </a:rPr>
              <a:t> </a:t>
            </a:r>
            <a:r>
              <a:rPr lang="en-US" sz="2000" b="1" dirty="0">
                <a:solidFill>
                  <a:srgbClr val="504BAB"/>
                </a:solidFill>
              </a:rPr>
              <a:t>groups</a:t>
            </a:r>
            <a:r>
              <a:rPr lang="en-US" sz="2000" b="1" dirty="0">
                <a:solidFill>
                  <a:schemeClr val="accent5"/>
                </a:solidFill>
              </a:rPr>
              <a:t> </a:t>
            </a:r>
            <a:r>
              <a:rPr lang="en-US" sz="2000" dirty="0"/>
              <a:t>to control access to instances (specify allowed ports and source).</a:t>
            </a:r>
          </a:p>
          <a:p>
            <a:r>
              <a:rPr lang="en-US" sz="2000" b="1" dirty="0">
                <a:solidFill>
                  <a:srgbClr val="504BAB"/>
                </a:solidFill>
              </a:rPr>
              <a:t>User</a:t>
            </a:r>
            <a:r>
              <a:rPr lang="en-US" sz="2000" b="1" dirty="0">
                <a:solidFill>
                  <a:schemeClr val="accent5"/>
                </a:solidFill>
              </a:rPr>
              <a:t> </a:t>
            </a:r>
            <a:r>
              <a:rPr lang="en-US" sz="2000" b="1" dirty="0">
                <a:solidFill>
                  <a:srgbClr val="504BAB"/>
                </a:solidFill>
              </a:rPr>
              <a:t>data</a:t>
            </a:r>
            <a:r>
              <a:rPr lang="en-US" sz="2000" b="1" dirty="0">
                <a:solidFill>
                  <a:schemeClr val="accent5"/>
                </a:solidFill>
              </a:rPr>
              <a:t> </a:t>
            </a:r>
            <a:r>
              <a:rPr lang="en-US" sz="2000" dirty="0"/>
              <a:t>enables you to specify a script to run the first time that an instance launches. </a:t>
            </a:r>
          </a:p>
          <a:p>
            <a:r>
              <a:rPr lang="en-US" sz="2000" dirty="0"/>
              <a:t>Only </a:t>
            </a:r>
            <a:r>
              <a:rPr lang="en-US" sz="2000" b="1" dirty="0">
                <a:solidFill>
                  <a:srgbClr val="504BAB"/>
                </a:solidFill>
              </a:rPr>
              <a:t>instances</a:t>
            </a:r>
            <a:r>
              <a:rPr lang="en-US" sz="2000" b="1" dirty="0">
                <a:solidFill>
                  <a:schemeClr val="accent5"/>
                </a:solidFill>
              </a:rPr>
              <a:t> </a:t>
            </a:r>
            <a:r>
              <a:rPr lang="en-US" sz="2000" b="1" dirty="0">
                <a:solidFill>
                  <a:srgbClr val="504BAB"/>
                </a:solidFill>
              </a:rPr>
              <a:t>that</a:t>
            </a:r>
            <a:r>
              <a:rPr lang="en-US" sz="2000" b="1" dirty="0">
                <a:solidFill>
                  <a:schemeClr val="accent5"/>
                </a:solidFill>
              </a:rPr>
              <a:t> </a:t>
            </a:r>
            <a:r>
              <a:rPr lang="en-US" sz="2000" b="1" dirty="0">
                <a:solidFill>
                  <a:srgbClr val="504BAB"/>
                </a:solidFill>
              </a:rPr>
              <a:t>are</a:t>
            </a:r>
            <a:r>
              <a:rPr lang="en-US" sz="2000" b="1" dirty="0">
                <a:solidFill>
                  <a:schemeClr val="accent5"/>
                </a:solidFill>
              </a:rPr>
              <a:t> </a:t>
            </a:r>
            <a:r>
              <a:rPr lang="en-US" sz="2000" b="1" dirty="0">
                <a:solidFill>
                  <a:srgbClr val="504BAB"/>
                </a:solidFill>
              </a:rPr>
              <a:t>backed</a:t>
            </a:r>
            <a:r>
              <a:rPr lang="en-US" sz="2000" b="1" dirty="0">
                <a:solidFill>
                  <a:schemeClr val="accent5"/>
                </a:solidFill>
              </a:rPr>
              <a:t> </a:t>
            </a:r>
            <a:r>
              <a:rPr lang="en-US" sz="2000" b="1" dirty="0">
                <a:solidFill>
                  <a:srgbClr val="504BAB"/>
                </a:solidFill>
              </a:rPr>
              <a:t>by</a:t>
            </a:r>
            <a:r>
              <a:rPr lang="en-US" sz="2000" b="1" dirty="0">
                <a:solidFill>
                  <a:schemeClr val="accent5"/>
                </a:solidFill>
              </a:rPr>
              <a:t> </a:t>
            </a:r>
            <a:r>
              <a:rPr lang="en-US" sz="2000" b="1" dirty="0">
                <a:solidFill>
                  <a:srgbClr val="504BAB"/>
                </a:solidFill>
              </a:rPr>
              <a:t>Amazon EBS </a:t>
            </a:r>
            <a:r>
              <a:rPr lang="en-US" sz="2000" b="1" dirty="0">
                <a:solidFill>
                  <a:srgbClr val="232F3E"/>
                </a:solidFill>
              </a:rPr>
              <a:t>can be stopped. </a:t>
            </a:r>
          </a:p>
          <a:p>
            <a:r>
              <a:rPr lang="en-US" sz="2000" dirty="0"/>
              <a:t>You can use </a:t>
            </a:r>
            <a:r>
              <a:rPr lang="en-US" sz="2000" b="1" dirty="0">
                <a:solidFill>
                  <a:srgbClr val="504BAB"/>
                </a:solidFill>
              </a:rPr>
              <a:t>Amazon</a:t>
            </a:r>
            <a:r>
              <a:rPr lang="en-US" sz="2000" b="1" dirty="0">
                <a:solidFill>
                  <a:schemeClr val="accent5"/>
                </a:solidFill>
              </a:rPr>
              <a:t> </a:t>
            </a:r>
            <a:r>
              <a:rPr lang="en-US" sz="2000" b="1" dirty="0">
                <a:solidFill>
                  <a:srgbClr val="504BAB"/>
                </a:solidFill>
              </a:rPr>
              <a:t>CloudWatch</a:t>
            </a:r>
            <a:r>
              <a:rPr lang="en-US" sz="2000" b="1" dirty="0">
                <a:solidFill>
                  <a:schemeClr val="accent5"/>
                </a:solidFill>
              </a:rPr>
              <a:t> </a:t>
            </a:r>
            <a:r>
              <a:rPr lang="en-US" sz="2000" dirty="0"/>
              <a:t>to capture and review metrics on EC2 instances.</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4221487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Section 3: Amazon EC2 cost optimization</a:t>
            </a:r>
          </a:p>
        </p:txBody>
      </p:sp>
      <p:sp>
        <p:nvSpPr>
          <p:cNvPr id="5" name="Text Placeholder 4">
            <a:extLst>
              <a:ext uri="{FF2B5EF4-FFF2-40B4-BE49-F238E27FC236}">
                <a16:creationId xmlns:a16="http://schemas.microsoft.com/office/drawing/2014/main" id="{CCFB60D0-4DB9-4F4A-84AA-C41058AEAE12}"/>
              </a:ext>
            </a:extLst>
          </p:cNvPr>
          <p:cNvSpPr>
            <a:spLocks noGrp="1"/>
          </p:cNvSpPr>
          <p:nvPr>
            <p:ph type="subTitle" idx="1"/>
          </p:nvPr>
        </p:nvSpPr>
        <p:spPr/>
        <p:txBody>
          <a:bodyPr>
            <a:normAutofit/>
          </a:bodyPr>
          <a:lstStyle/>
          <a:p>
            <a:r>
              <a:rPr lang="en-US" dirty="0"/>
              <a:t>Module 6: Compute</a:t>
            </a:r>
          </a:p>
        </p:txBody>
      </p:sp>
    </p:spTree>
    <p:custDataLst>
      <p:tags r:id="rId1"/>
    </p:custDataLst>
    <p:extLst>
      <p:ext uri="{BB962C8B-B14F-4D97-AF65-F5344CB8AC3E}">
        <p14:creationId xmlns:p14="http://schemas.microsoft.com/office/powerpoint/2010/main" val="318284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FE9AD5-91C9-4A4A-89A6-C51BA77E849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35</a:t>
            </a:fld>
            <a:endParaRPr lang="en-US" dirty="0"/>
          </a:p>
        </p:txBody>
      </p:sp>
      <p:sp>
        <p:nvSpPr>
          <p:cNvPr id="8" name="Title 7">
            <a:extLst>
              <a:ext uri="{FF2B5EF4-FFF2-40B4-BE49-F238E27FC236}">
                <a16:creationId xmlns:a16="http://schemas.microsoft.com/office/drawing/2014/main" id="{65BE538B-23AB-3F45-9B09-1966B19E8E8A}"/>
              </a:ext>
            </a:extLst>
          </p:cNvPr>
          <p:cNvSpPr>
            <a:spLocks noGrp="1"/>
          </p:cNvSpPr>
          <p:nvPr>
            <p:ph type="title"/>
          </p:nvPr>
        </p:nvSpPr>
        <p:spPr/>
        <p:txBody>
          <a:bodyPr/>
          <a:lstStyle/>
          <a:p>
            <a:r>
              <a:rPr lang="en-US" dirty="0"/>
              <a:t>Amazon EC2 pricing models</a:t>
            </a:r>
          </a:p>
        </p:txBody>
      </p:sp>
      <p:sp>
        <p:nvSpPr>
          <p:cNvPr id="9" name="Content Placeholder 8">
            <a:extLst>
              <a:ext uri="{FF2B5EF4-FFF2-40B4-BE49-F238E27FC236}">
                <a16:creationId xmlns:a16="http://schemas.microsoft.com/office/drawing/2014/main" id="{7A7E7A69-3224-0A42-8593-606D69F26BE9}"/>
              </a:ext>
            </a:extLst>
          </p:cNvPr>
          <p:cNvSpPr>
            <a:spLocks noGrp="1"/>
          </p:cNvSpPr>
          <p:nvPr>
            <p:ph sz="quarter" idx="21"/>
          </p:nvPr>
        </p:nvSpPr>
        <p:spPr>
          <a:xfrm>
            <a:off x="365760" y="1143000"/>
            <a:ext cx="3844290" cy="5291750"/>
          </a:xfrm>
        </p:spPr>
        <p:txBody>
          <a:bodyPr/>
          <a:lstStyle/>
          <a:p>
            <a:pPr marL="0" indent="0">
              <a:buNone/>
            </a:pPr>
            <a:r>
              <a:rPr lang="en-US" sz="2400" b="1" dirty="0">
                <a:solidFill>
                  <a:srgbClr val="504BAB"/>
                </a:solidFill>
              </a:rPr>
              <a:t>On-Demand Instances</a:t>
            </a:r>
          </a:p>
          <a:p>
            <a:r>
              <a:rPr lang="en-US" sz="1600" dirty="0"/>
              <a:t>Pay by the hour </a:t>
            </a:r>
          </a:p>
          <a:p>
            <a:r>
              <a:rPr lang="en-US" sz="1600" dirty="0"/>
              <a:t>No long-term commitments.</a:t>
            </a:r>
          </a:p>
          <a:p>
            <a:r>
              <a:rPr lang="en-US" sz="1600" dirty="0"/>
              <a:t>Eligible for the </a:t>
            </a:r>
            <a:r>
              <a:rPr lang="en-US" sz="1600" dirty="0">
                <a:hlinkClick r:id="rId4"/>
              </a:rPr>
              <a:t>AWS Free Tier</a:t>
            </a:r>
            <a:r>
              <a:rPr lang="en-US" sz="1600" dirty="0"/>
              <a:t>.</a:t>
            </a:r>
          </a:p>
          <a:p>
            <a:pPr marL="0" indent="0">
              <a:buNone/>
            </a:pPr>
            <a:endParaRPr lang="en-US" sz="1000" b="1" dirty="0">
              <a:solidFill>
                <a:schemeClr val="accent5"/>
              </a:solidFill>
            </a:endParaRPr>
          </a:p>
          <a:p>
            <a:pPr marL="0" indent="0">
              <a:buNone/>
            </a:pPr>
            <a:r>
              <a:rPr lang="en-US" sz="2400" b="1" dirty="0">
                <a:solidFill>
                  <a:srgbClr val="504BAB"/>
                </a:solidFill>
              </a:rPr>
              <a:t>Dedicated Hosts</a:t>
            </a:r>
          </a:p>
          <a:p>
            <a:r>
              <a:rPr lang="en-US" sz="1600" dirty="0"/>
              <a:t>A physical server with EC2 instance capacity fully dedicated to your use.</a:t>
            </a:r>
          </a:p>
          <a:p>
            <a:endParaRPr lang="en-US" sz="1000" b="1" dirty="0">
              <a:solidFill>
                <a:schemeClr val="accent5"/>
              </a:solidFill>
            </a:endParaRPr>
          </a:p>
          <a:p>
            <a:pPr marL="0" indent="0">
              <a:buNone/>
            </a:pPr>
            <a:r>
              <a:rPr lang="en-US" sz="2400" b="1" dirty="0">
                <a:solidFill>
                  <a:srgbClr val="504BAB"/>
                </a:solidFill>
              </a:rPr>
              <a:t>Dedicated Instances</a:t>
            </a:r>
          </a:p>
          <a:p>
            <a:r>
              <a:rPr lang="en-US" sz="1600" dirty="0"/>
              <a:t>Instances that run in a VPC on hardware that is dedicated to a single customer.</a:t>
            </a:r>
            <a:endParaRPr lang="en-US" sz="1600" b="1" dirty="0">
              <a:solidFill>
                <a:schemeClr val="accent5"/>
              </a:solidFill>
            </a:endParaRPr>
          </a:p>
        </p:txBody>
      </p:sp>
      <p:sp>
        <p:nvSpPr>
          <p:cNvPr id="11" name="Content Placeholder 10">
            <a:extLst>
              <a:ext uri="{FF2B5EF4-FFF2-40B4-BE49-F238E27FC236}">
                <a16:creationId xmlns:a16="http://schemas.microsoft.com/office/drawing/2014/main" id="{6C870859-B456-9749-BAE5-58C591DD1F3D}"/>
              </a:ext>
            </a:extLst>
          </p:cNvPr>
          <p:cNvSpPr>
            <a:spLocks noGrp="1"/>
          </p:cNvSpPr>
          <p:nvPr>
            <p:ph idx="4294967295"/>
          </p:nvPr>
        </p:nvSpPr>
        <p:spPr>
          <a:xfrm>
            <a:off x="4541838" y="1143000"/>
            <a:ext cx="3592512" cy="4630481"/>
          </a:xfrm>
        </p:spPr>
        <p:txBody>
          <a:bodyPr>
            <a:normAutofit/>
          </a:bodyPr>
          <a:lstStyle/>
          <a:p>
            <a:pPr marL="0" indent="0">
              <a:buNone/>
            </a:pPr>
            <a:r>
              <a:rPr lang="en-US" sz="2400" b="1" dirty="0">
                <a:solidFill>
                  <a:srgbClr val="504BAB"/>
                </a:solidFill>
              </a:rPr>
              <a:t>Reserved Instances</a:t>
            </a:r>
          </a:p>
          <a:p>
            <a:r>
              <a:rPr lang="en-US" sz="1600" dirty="0"/>
              <a:t>Full, partial, or no upfront payment for instance you reserve.</a:t>
            </a:r>
          </a:p>
          <a:p>
            <a:r>
              <a:rPr lang="en-US" sz="1600" dirty="0"/>
              <a:t>Discount on hourly charge for that instance.</a:t>
            </a:r>
          </a:p>
          <a:p>
            <a:r>
              <a:rPr lang="en-US" sz="1600" dirty="0"/>
              <a:t>1-year or 3-year term.</a:t>
            </a:r>
            <a:endParaRPr lang="en-US" sz="1400" dirty="0"/>
          </a:p>
          <a:p>
            <a:pPr marL="0" indent="0">
              <a:buNone/>
            </a:pPr>
            <a:r>
              <a:rPr lang="en-US" sz="2400" b="1" dirty="0">
                <a:solidFill>
                  <a:srgbClr val="504BAB"/>
                </a:solidFill>
              </a:rPr>
              <a:t>Scheduled Reserved Instances</a:t>
            </a:r>
          </a:p>
          <a:p>
            <a:r>
              <a:rPr lang="en-US" sz="1600" dirty="0"/>
              <a:t>Purchase a capacity reservation that is always available on a recurring schedule you specify.</a:t>
            </a:r>
          </a:p>
          <a:p>
            <a:r>
              <a:rPr lang="en-US" sz="1600" dirty="0"/>
              <a:t>1-year term.</a:t>
            </a:r>
          </a:p>
        </p:txBody>
      </p:sp>
      <p:sp>
        <p:nvSpPr>
          <p:cNvPr id="10" name="Content Placeholder 9">
            <a:extLst>
              <a:ext uri="{FF2B5EF4-FFF2-40B4-BE49-F238E27FC236}">
                <a16:creationId xmlns:a16="http://schemas.microsoft.com/office/drawing/2014/main" id="{1461312D-F447-604C-8AAE-F61C8F9D43AB}"/>
              </a:ext>
            </a:extLst>
          </p:cNvPr>
          <p:cNvSpPr>
            <a:spLocks noGrp="1"/>
          </p:cNvSpPr>
          <p:nvPr>
            <p:ph idx="4294967295"/>
          </p:nvPr>
        </p:nvSpPr>
        <p:spPr>
          <a:xfrm>
            <a:off x="8599488" y="1143000"/>
            <a:ext cx="3592512" cy="4130675"/>
          </a:xfrm>
        </p:spPr>
        <p:txBody>
          <a:bodyPr>
            <a:normAutofit/>
          </a:bodyPr>
          <a:lstStyle/>
          <a:p>
            <a:pPr marL="0" indent="0">
              <a:buNone/>
            </a:pPr>
            <a:r>
              <a:rPr lang="en-US" sz="2400" b="1" dirty="0">
                <a:solidFill>
                  <a:srgbClr val="504BAB"/>
                </a:solidFill>
              </a:rPr>
              <a:t>Spot Instances</a:t>
            </a:r>
          </a:p>
          <a:p>
            <a:r>
              <a:rPr lang="en-US" sz="1600" dirty="0"/>
              <a:t>Instances run as long as they are available and your bid is above the Spot Instance price.</a:t>
            </a:r>
          </a:p>
          <a:p>
            <a:r>
              <a:rPr lang="en-US" sz="1600" dirty="0"/>
              <a:t>They can be interrupted by AWS with a 2-minute notification.</a:t>
            </a:r>
          </a:p>
          <a:p>
            <a:r>
              <a:rPr lang="en-US" sz="1600" dirty="0"/>
              <a:t>Interruption options include terminated, stopped or hibernated.</a:t>
            </a:r>
          </a:p>
          <a:p>
            <a:r>
              <a:rPr lang="en-US" sz="1600" dirty="0"/>
              <a:t>Prices can be significantly less expensive compared to On-Demand Instances</a:t>
            </a:r>
          </a:p>
          <a:p>
            <a:r>
              <a:rPr lang="en-US" sz="1600" dirty="0"/>
              <a:t>Good choice when you have flexibility in when your applications can run.</a:t>
            </a:r>
            <a:endParaRPr lang="en-US" dirty="0"/>
          </a:p>
        </p:txBody>
      </p:sp>
      <p:sp>
        <p:nvSpPr>
          <p:cNvPr id="2" name="TextBox 1">
            <a:extLst>
              <a:ext uri="{FF2B5EF4-FFF2-40B4-BE49-F238E27FC236}">
                <a16:creationId xmlns:a16="http://schemas.microsoft.com/office/drawing/2014/main" id="{68692509-AD77-0E4C-A138-43519957243F}"/>
              </a:ext>
            </a:extLst>
          </p:cNvPr>
          <p:cNvSpPr txBox="1"/>
          <p:nvPr/>
        </p:nvSpPr>
        <p:spPr>
          <a:xfrm>
            <a:off x="3162301" y="5841701"/>
            <a:ext cx="8501045" cy="707886"/>
          </a:xfrm>
          <a:prstGeom prst="rect">
            <a:avLst/>
          </a:prstGeom>
          <a:noFill/>
        </p:spPr>
        <p:txBody>
          <a:bodyPr wrap="none" rtlCol="0">
            <a:spAutoFit/>
          </a:bodyPr>
          <a:lstStyle/>
          <a:p>
            <a:r>
              <a:rPr lang="en-US" sz="24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Per second billing </a:t>
            </a:r>
            <a:r>
              <a:rPr lang="en-US" sz="1600" dirty="0">
                <a:latin typeface="Amazon Ember" panose="020B0603020204020204" pitchFamily="34" charset="0"/>
                <a:ea typeface="Amazon Ember" panose="020B0603020204020204" pitchFamily="34" charset="0"/>
                <a:cs typeface="Amazon Ember" panose="020B0603020204020204" pitchFamily="34" charset="0"/>
              </a:rPr>
              <a:t>available for On-Demand Instances, Reserved Instances, and </a:t>
            </a:r>
          </a:p>
          <a:p>
            <a:r>
              <a:rPr lang="en-US" sz="1600" dirty="0">
                <a:latin typeface="Amazon Ember" panose="020B0603020204020204" pitchFamily="34" charset="0"/>
                <a:ea typeface="Amazon Ember" panose="020B0603020204020204" pitchFamily="34" charset="0"/>
                <a:cs typeface="Amazon Ember" panose="020B0603020204020204" pitchFamily="34" charset="0"/>
              </a:rPr>
              <a:t>Spot Instances that run Amazon Linux or Ubuntu.</a:t>
            </a:r>
          </a:p>
        </p:txBody>
      </p:sp>
    </p:spTree>
    <p:custDataLst>
      <p:tags r:id="rId1"/>
    </p:custDataLst>
    <p:extLst>
      <p:ext uri="{BB962C8B-B14F-4D97-AF65-F5344CB8AC3E}">
        <p14:creationId xmlns:p14="http://schemas.microsoft.com/office/powerpoint/2010/main" val="1415158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45D31D5-0C88-D54A-BBB3-E2374CD9594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36</a:t>
            </a:fld>
            <a:endParaRPr lang="en-US" dirty="0"/>
          </a:p>
        </p:txBody>
      </p:sp>
      <p:sp>
        <p:nvSpPr>
          <p:cNvPr id="2" name="Title 1"/>
          <p:cNvSpPr>
            <a:spLocks noGrp="1"/>
          </p:cNvSpPr>
          <p:nvPr>
            <p:ph type="title"/>
          </p:nvPr>
        </p:nvSpPr>
        <p:spPr/>
        <p:txBody>
          <a:bodyPr>
            <a:noAutofit/>
          </a:bodyPr>
          <a:lstStyle/>
          <a:p>
            <a:r>
              <a:rPr lang="en-US" dirty="0"/>
              <a:t>Amazon EC2 pricing models: Benefits</a:t>
            </a:r>
          </a:p>
        </p:txBody>
      </p:sp>
      <p:graphicFrame>
        <p:nvGraphicFramePr>
          <p:cNvPr id="5" name="Content Placeholder 3"/>
          <p:cNvGraphicFramePr>
            <a:graphicFrameLocks noGrp="1"/>
          </p:cNvGraphicFramePr>
          <p:nvPr>
            <p:ph sz="quarter" idx="21"/>
            <p:extLst>
              <p:ext uri="{D42A27DB-BD31-4B8C-83A1-F6EECF244321}">
                <p14:modId xmlns:p14="http://schemas.microsoft.com/office/powerpoint/2010/main" val="2588375212"/>
              </p:ext>
            </p:extLst>
          </p:nvPr>
        </p:nvGraphicFramePr>
        <p:xfrm>
          <a:off x="365760" y="2831887"/>
          <a:ext cx="11588748" cy="1661160"/>
        </p:xfrm>
        <a:graphic>
          <a:graphicData uri="http://schemas.openxmlformats.org/drawingml/2006/table">
            <a:tbl>
              <a:tblPr firstRow="1" bandRow="1">
                <a:tableStyleId>{F5AB1C69-6EDB-4FF4-983F-18BD219EF322}</a:tableStyleId>
              </a:tblPr>
              <a:tblGrid>
                <a:gridCol w="2897187">
                  <a:extLst>
                    <a:ext uri="{9D8B030D-6E8A-4147-A177-3AD203B41FA5}">
                      <a16:colId xmlns:a16="http://schemas.microsoft.com/office/drawing/2014/main" val="20000"/>
                    </a:ext>
                  </a:extLst>
                </a:gridCol>
                <a:gridCol w="2897187">
                  <a:extLst>
                    <a:ext uri="{9D8B030D-6E8A-4147-A177-3AD203B41FA5}">
                      <a16:colId xmlns:a16="http://schemas.microsoft.com/office/drawing/2014/main" val="20001"/>
                    </a:ext>
                  </a:extLst>
                </a:gridCol>
                <a:gridCol w="2897187">
                  <a:extLst>
                    <a:ext uri="{9D8B030D-6E8A-4147-A177-3AD203B41FA5}">
                      <a16:colId xmlns:a16="http://schemas.microsoft.com/office/drawing/2014/main" val="20002"/>
                    </a:ext>
                  </a:extLst>
                </a:gridCol>
                <a:gridCol w="2897187">
                  <a:extLst>
                    <a:ext uri="{9D8B030D-6E8A-4147-A177-3AD203B41FA5}">
                      <a16:colId xmlns:a16="http://schemas.microsoft.com/office/drawing/2014/main" val="2000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rPr>
                        <a:t>On-Demand Instances</a:t>
                      </a:r>
                      <a:endParaRPr lang="en-US" sz="2000"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rPr>
                        <a:t>Spot Instances</a:t>
                      </a:r>
                      <a:endParaRPr lang="en-US" sz="2000" b="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rPr>
                        <a:t>Reserved</a:t>
                      </a:r>
                      <a:r>
                        <a:rPr lang="en-US" sz="2000" b="0" baseline="0">
                          <a:solidFill>
                            <a:schemeClr val="tx1"/>
                          </a:solidFill>
                        </a:rPr>
                        <a:t> Instances</a:t>
                      </a:r>
                      <a:endParaRPr lang="en-US" sz="2000" b="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solidFill>
                            <a:schemeClr val="tx1"/>
                          </a:solidFill>
                        </a:rPr>
                        <a:t>Dedicated Hosts</a:t>
                      </a:r>
                      <a:endParaRPr lang="en-US" sz="2000" b="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extLst>
                  <a:ext uri="{0D108BD9-81ED-4DB2-BD59-A6C34878D82A}">
                    <a16:rowId xmlns:a16="http://schemas.microsoft.com/office/drawing/2014/main" val="10000"/>
                  </a:ext>
                </a:extLst>
              </a:tr>
              <a:tr h="370840">
                <a:tc>
                  <a:txBody>
                    <a:bodyPr/>
                    <a:lstStyle/>
                    <a:p>
                      <a:pPr marL="342900" indent="-342900">
                        <a:buFont typeface="Arial" panose="020B0604020202020204" pitchFamily="34" charset="0"/>
                        <a:buChar char="•"/>
                      </a:pPr>
                      <a:r>
                        <a:rPr lang="en-US" sz="1800" dirty="0"/>
                        <a:t>Low cost and flexibility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spcAft>
                          <a:spcPts val="600"/>
                        </a:spcAft>
                        <a:buFont typeface="Arial" panose="020B0604020202020204" pitchFamily="34" charset="0"/>
                        <a:buChar char="•"/>
                      </a:pPr>
                      <a:r>
                        <a:rPr lang="en-US" sz="1800" dirty="0"/>
                        <a:t>Large scale, dynamic workload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42900" indent="-342900">
                        <a:buFont typeface="Arial" panose="020B0604020202020204" pitchFamily="34" charset="0"/>
                        <a:buChar char="•"/>
                      </a:pPr>
                      <a:r>
                        <a:rPr lang="en-US" sz="1800" dirty="0"/>
                        <a:t>Predictability</a:t>
                      </a:r>
                      <a:r>
                        <a:rPr lang="en-US" sz="1800" baseline="0" dirty="0"/>
                        <a:t> ensures compute capacity is available when needed</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lgn="l" defTabSz="457200" rtl="0" eaLnBrk="1" latinLnBrk="0" hangingPunct="1">
                        <a:spcAft>
                          <a:spcPts val="600"/>
                        </a:spcAft>
                        <a:buFont typeface="Arial" panose="020B0604020202020204" pitchFamily="34" charset="0"/>
                        <a:buChar char="•"/>
                      </a:pPr>
                      <a:r>
                        <a:rPr lang="en-US" sz="1800" kern="1200" dirty="0"/>
                        <a:t>Save money on licensing costs</a:t>
                      </a:r>
                    </a:p>
                    <a:p>
                      <a:pPr marL="120650" indent="-120650" algn="l" defTabSz="457200" rtl="0" eaLnBrk="1" latinLnBrk="0" hangingPunct="1">
                        <a:spcAft>
                          <a:spcPts val="600"/>
                        </a:spcAft>
                        <a:buFont typeface="Arial" panose="020B0604020202020204" pitchFamily="34" charset="0"/>
                        <a:buChar char="•"/>
                      </a:pPr>
                      <a:r>
                        <a:rPr lang="en-US" sz="1800" kern="1200" dirty="0"/>
                        <a:t>Help meet compliance and regulatory requirements</a:t>
                      </a:r>
                      <a:endParaRPr lang="en-US" sz="1800" kern="1200" dirty="0">
                        <a:solidFill>
                          <a:schemeClr val="dk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pic>
        <p:nvPicPr>
          <p:cNvPr id="7" name="Picture 2">
            <a:extLst>
              <a:ext uri="{FF2B5EF4-FFF2-40B4-BE49-F238E27FC236}">
                <a16:creationId xmlns:a16="http://schemas.microsoft.com/office/drawing/2014/main" id="{CB99C9BF-BD51-5C4E-A252-761F43AA3B53}"/>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80"/>
          <a:stretch>
            <a:fillRect/>
          </a:stretch>
        </p:blipFill>
        <p:spPr bwMode="auto">
          <a:xfrm>
            <a:off x="1263798" y="1294618"/>
            <a:ext cx="1283533"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162F63BF-1FBE-7D43-8EC1-A3451E0D04DE}"/>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6341" y="1294618"/>
            <a:ext cx="1279836"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a:extLst>
              <a:ext uri="{FF2B5EF4-FFF2-40B4-BE49-F238E27FC236}">
                <a16:creationId xmlns:a16="http://schemas.microsoft.com/office/drawing/2014/main" id="{7A575226-EBAF-8C4D-9B94-F4DB80F0050B}"/>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2125" y="1294618"/>
            <a:ext cx="1256582"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a:extLst>
              <a:ext uri="{FF2B5EF4-FFF2-40B4-BE49-F238E27FC236}">
                <a16:creationId xmlns:a16="http://schemas.microsoft.com/office/drawing/2014/main" id="{187306D3-2D79-064F-8868-6D4604E87D0F}"/>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6773" b="3326"/>
          <a:stretch>
            <a:fillRect/>
          </a:stretch>
        </p:blipFill>
        <p:spPr bwMode="auto">
          <a:xfrm>
            <a:off x="9445250" y="1294618"/>
            <a:ext cx="1345228"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639287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6852AD-F95B-CC48-B4C2-9E8F228FB08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37</a:t>
            </a:fld>
            <a:endParaRPr lang="en-US" dirty="0"/>
          </a:p>
        </p:txBody>
      </p:sp>
      <p:sp>
        <p:nvSpPr>
          <p:cNvPr id="2" name="Title 1"/>
          <p:cNvSpPr>
            <a:spLocks noGrp="1"/>
          </p:cNvSpPr>
          <p:nvPr>
            <p:ph type="title"/>
          </p:nvPr>
        </p:nvSpPr>
        <p:spPr/>
        <p:txBody>
          <a:bodyPr>
            <a:noAutofit/>
          </a:bodyPr>
          <a:lstStyle/>
          <a:p>
            <a:r>
              <a:rPr lang="en-US" dirty="0"/>
              <a:t>Amazon EC2 pricing models: Use cases</a:t>
            </a:r>
          </a:p>
        </p:txBody>
      </p:sp>
      <p:pic>
        <p:nvPicPr>
          <p:cNvPr id="7" name="Picture 2">
            <a:extLst>
              <a:ext uri="{FF2B5EF4-FFF2-40B4-BE49-F238E27FC236}">
                <a16:creationId xmlns:a16="http://schemas.microsoft.com/office/drawing/2014/main" id="{C3EB6C5C-311B-D943-91B4-4842831B2CBA}"/>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980"/>
          <a:stretch>
            <a:fillRect/>
          </a:stretch>
        </p:blipFill>
        <p:spPr bwMode="auto">
          <a:xfrm>
            <a:off x="1263798" y="1294618"/>
            <a:ext cx="1283533"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a:extLst>
              <a:ext uri="{FF2B5EF4-FFF2-40B4-BE49-F238E27FC236}">
                <a16:creationId xmlns:a16="http://schemas.microsoft.com/office/drawing/2014/main" id="{65B9A51F-4734-3347-9B30-2B202F659977}"/>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6341" y="1294618"/>
            <a:ext cx="1279836"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4">
            <a:extLst>
              <a:ext uri="{FF2B5EF4-FFF2-40B4-BE49-F238E27FC236}">
                <a16:creationId xmlns:a16="http://schemas.microsoft.com/office/drawing/2014/main" id="{CDF54727-621A-BA4E-ADCC-D7C9BF1FE9FC}"/>
              </a:ext>
              <a:ext uri="{C183D7F6-B498-43B3-948B-1728B52AA6E4}">
                <adec:decorative xmlns:adec="http://schemas.microsoft.com/office/drawing/2017/decorative" val="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2125" y="1294618"/>
            <a:ext cx="1256582"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5">
            <a:extLst>
              <a:ext uri="{FF2B5EF4-FFF2-40B4-BE49-F238E27FC236}">
                <a16:creationId xmlns:a16="http://schemas.microsoft.com/office/drawing/2014/main" id="{9C2ABB9C-0E78-0945-A821-B6D57EA89CF6}"/>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6773" b="3326"/>
          <a:stretch>
            <a:fillRect/>
          </a:stretch>
        </p:blipFill>
        <p:spPr bwMode="auto">
          <a:xfrm>
            <a:off x="9445250" y="1294618"/>
            <a:ext cx="1345228" cy="731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28">
            <a:extLst>
              <a:ext uri="{FF2B5EF4-FFF2-40B4-BE49-F238E27FC236}">
                <a16:creationId xmlns:a16="http://schemas.microsoft.com/office/drawing/2014/main" id="{F978F2DA-394A-BE4D-B16C-7792A0C6DB6F}"/>
              </a:ext>
            </a:extLst>
          </p:cNvPr>
          <p:cNvSpPr txBox="1">
            <a:spLocks noChangeArrowheads="1"/>
          </p:cNvSpPr>
          <p:nvPr/>
        </p:nvSpPr>
        <p:spPr bwMode="auto">
          <a:xfrm>
            <a:off x="1126838" y="2135410"/>
            <a:ext cx="18133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504BAB"/>
                </a:solidFill>
                <a:effectLst/>
                <a:uLnTx/>
                <a:uFillTx/>
                <a:latin typeface="Amazon Ember" panose="020B0603020204020204" pitchFamily="34" charset="0"/>
                <a:ea typeface="Amazon Ember" panose="020B0603020204020204" pitchFamily="34" charset="0"/>
                <a:cs typeface="Amazon Ember" panose="020B0603020204020204" pitchFamily="34" charset="0"/>
              </a:rPr>
              <a:t>Spiky Workloads</a:t>
            </a:r>
          </a:p>
        </p:txBody>
      </p:sp>
      <p:sp>
        <p:nvSpPr>
          <p:cNvPr id="13" name="TextBox 30">
            <a:extLst>
              <a:ext uri="{FF2B5EF4-FFF2-40B4-BE49-F238E27FC236}">
                <a16:creationId xmlns:a16="http://schemas.microsoft.com/office/drawing/2014/main" id="{E200D638-A2B5-DF41-9BF9-1099FE579CCC}"/>
              </a:ext>
            </a:extLst>
          </p:cNvPr>
          <p:cNvSpPr txBox="1">
            <a:spLocks noChangeArrowheads="1"/>
          </p:cNvSpPr>
          <p:nvPr/>
        </p:nvSpPr>
        <p:spPr bwMode="auto">
          <a:xfrm>
            <a:off x="3681796" y="2135410"/>
            <a:ext cx="22928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504BAB"/>
                </a:solidFill>
                <a:effectLst/>
                <a:uLnTx/>
                <a:uFillTx/>
                <a:latin typeface="Amazon Ember" panose="020B0603020204020204" pitchFamily="34" charset="0"/>
                <a:ea typeface="Amazon Ember" panose="020B0603020204020204" pitchFamily="34" charset="0"/>
                <a:cs typeface="Amazon Ember" panose="020B0603020204020204" pitchFamily="34" charset="0"/>
              </a:rPr>
              <a:t>Time-Insensitive Workloads</a:t>
            </a:r>
          </a:p>
        </p:txBody>
      </p:sp>
      <p:sp>
        <p:nvSpPr>
          <p:cNvPr id="12" name="TextBox 29">
            <a:extLst>
              <a:ext uri="{FF2B5EF4-FFF2-40B4-BE49-F238E27FC236}">
                <a16:creationId xmlns:a16="http://schemas.microsoft.com/office/drawing/2014/main" id="{8521C55A-051D-1242-A832-8FEFB4522201}"/>
              </a:ext>
            </a:extLst>
          </p:cNvPr>
          <p:cNvSpPr txBox="1">
            <a:spLocks noChangeArrowheads="1"/>
          </p:cNvSpPr>
          <p:nvPr/>
        </p:nvSpPr>
        <p:spPr bwMode="auto">
          <a:xfrm>
            <a:off x="6340612" y="2135410"/>
            <a:ext cx="252024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504BAB"/>
                </a:solidFill>
                <a:effectLst/>
                <a:uLnTx/>
                <a:uFillTx/>
                <a:latin typeface="Amazon Ember" panose="020B0603020204020204" pitchFamily="34" charset="0"/>
                <a:ea typeface="Amazon Ember" panose="020B0603020204020204" pitchFamily="34" charset="0"/>
                <a:cs typeface="Amazon Ember" panose="020B0603020204020204" pitchFamily="34" charset="0"/>
              </a:rPr>
              <a:t>Steady-State Workloads</a:t>
            </a:r>
          </a:p>
        </p:txBody>
      </p:sp>
      <p:sp>
        <p:nvSpPr>
          <p:cNvPr id="14" name="TextBox 31">
            <a:extLst>
              <a:ext uri="{FF2B5EF4-FFF2-40B4-BE49-F238E27FC236}">
                <a16:creationId xmlns:a16="http://schemas.microsoft.com/office/drawing/2014/main" id="{CD55E4A6-BD8C-A04B-AEDE-2A85877F2204}"/>
              </a:ext>
            </a:extLst>
          </p:cNvPr>
          <p:cNvSpPr txBox="1">
            <a:spLocks noChangeArrowheads="1"/>
          </p:cNvSpPr>
          <p:nvPr/>
        </p:nvSpPr>
        <p:spPr bwMode="auto">
          <a:xfrm>
            <a:off x="9040091" y="2135410"/>
            <a:ext cx="23523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MS PGothic" panose="020B0600070205080204" pitchFamily="34" charset="-128"/>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MS PGothic" panose="020B0600070205080204" pitchFamily="34" charset="-128"/>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MS PGothic" panose="020B0600070205080204" pitchFamily="34" charset="-128"/>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MS PGothic" panose="020B0600070205080204" pitchFamily="34" charset="-128"/>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600" b="1" u="none" strike="noStrike" kern="0" cap="none" spc="0" normalizeH="0" baseline="0" noProof="0" dirty="0">
                <a:ln>
                  <a:noFill/>
                </a:ln>
                <a:solidFill>
                  <a:srgbClr val="504BAB"/>
                </a:solidFill>
                <a:effectLst/>
                <a:uLnTx/>
                <a:uFillTx/>
                <a:latin typeface="Amazon Ember" panose="020B0603020204020204" pitchFamily="34" charset="0"/>
                <a:ea typeface="Amazon Ember" panose="020B0603020204020204" pitchFamily="34" charset="0"/>
                <a:cs typeface="Amazon Ember" panose="020B0603020204020204" pitchFamily="34" charset="0"/>
              </a:rPr>
              <a:t>Highly Sensitive Workloads</a:t>
            </a:r>
          </a:p>
        </p:txBody>
      </p:sp>
      <p:graphicFrame>
        <p:nvGraphicFramePr>
          <p:cNvPr id="5" name="Content Placeholder 3"/>
          <p:cNvGraphicFramePr>
            <a:graphicFrameLocks noGrp="1"/>
          </p:cNvGraphicFramePr>
          <p:nvPr>
            <p:ph sz="quarter" idx="21"/>
            <p:extLst>
              <p:ext uri="{D42A27DB-BD31-4B8C-83A1-F6EECF244321}">
                <p14:modId xmlns:p14="http://schemas.microsoft.com/office/powerpoint/2010/main" val="3864488337"/>
              </p:ext>
            </p:extLst>
          </p:nvPr>
        </p:nvGraphicFramePr>
        <p:xfrm>
          <a:off x="301626" y="2964812"/>
          <a:ext cx="11588748" cy="2838450"/>
        </p:xfrm>
        <a:graphic>
          <a:graphicData uri="http://schemas.openxmlformats.org/drawingml/2006/table">
            <a:tbl>
              <a:tblPr firstRow="1" bandRow="1">
                <a:tableStyleId>{5C22544A-7EE6-4342-B048-85BDC9FD1C3A}</a:tableStyleId>
              </a:tblPr>
              <a:tblGrid>
                <a:gridCol w="2897187">
                  <a:extLst>
                    <a:ext uri="{9D8B030D-6E8A-4147-A177-3AD203B41FA5}">
                      <a16:colId xmlns:a16="http://schemas.microsoft.com/office/drawing/2014/main" val="20000"/>
                    </a:ext>
                  </a:extLst>
                </a:gridCol>
                <a:gridCol w="2897187">
                  <a:extLst>
                    <a:ext uri="{9D8B030D-6E8A-4147-A177-3AD203B41FA5}">
                      <a16:colId xmlns:a16="http://schemas.microsoft.com/office/drawing/2014/main" val="20001"/>
                    </a:ext>
                  </a:extLst>
                </a:gridCol>
                <a:gridCol w="2897187">
                  <a:extLst>
                    <a:ext uri="{9D8B030D-6E8A-4147-A177-3AD203B41FA5}">
                      <a16:colId xmlns:a16="http://schemas.microsoft.com/office/drawing/2014/main" val="20002"/>
                    </a:ext>
                  </a:extLst>
                </a:gridCol>
                <a:gridCol w="2897187">
                  <a:extLst>
                    <a:ext uri="{9D8B030D-6E8A-4147-A177-3AD203B41FA5}">
                      <a16:colId xmlns:a16="http://schemas.microsoft.com/office/drawing/2014/main" val="20003"/>
                    </a:ext>
                  </a:extLst>
                </a:gridCol>
              </a:tblGrid>
              <a:tr h="39677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On-Demand Instances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Spot Instances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Reserved</a:t>
                      </a:r>
                      <a:r>
                        <a:rPr lang="en-US" sz="2000" b="0" i="0" baseline="0">
                          <a:solidFill>
                            <a:schemeClr val="tx1"/>
                          </a:solidFill>
                          <a:latin typeface="Amazon Ember" panose="020B0603020204020204" pitchFamily="34" charset="0"/>
                          <a:ea typeface="Amazon Ember" panose="020B0603020204020204" pitchFamily="34" charset="0"/>
                          <a:cs typeface="Amazon Ember" panose="020B0603020204020204" pitchFamily="34" charset="0"/>
                        </a:rPr>
                        <a:t> Instances</a:t>
                      </a:r>
                      <a:endPar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a:solidFill>
                            <a:schemeClr val="tx1"/>
                          </a:solidFill>
                          <a:latin typeface="Amazon Ember" panose="020B0603020204020204" pitchFamily="34" charset="0"/>
                          <a:ea typeface="Amazon Ember" panose="020B0603020204020204" pitchFamily="34" charset="0"/>
                          <a:cs typeface="Amazon Ember" panose="020B0603020204020204" pitchFamily="34" charset="0"/>
                        </a:rPr>
                        <a:t>Dedicated Hosts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6C2B4"/>
                    </a:solidFill>
                  </a:tcPr>
                </a:tc>
                <a:extLst>
                  <a:ext uri="{0D108BD9-81ED-4DB2-BD59-A6C34878D82A}">
                    <a16:rowId xmlns:a16="http://schemas.microsoft.com/office/drawing/2014/main" val="10000"/>
                  </a:ext>
                </a:extLst>
              </a:tr>
              <a:tr h="2441677">
                <a:tc>
                  <a:txBody>
                    <a:bodyPr/>
                    <a:lstStyle/>
                    <a:p>
                      <a:pPr marL="120650" indent="-120650">
                        <a:spcAft>
                          <a:spcPts val="600"/>
                        </a:spcAft>
                        <a:buFont typeface="Arial" panose="020B0604020202020204" pitchFamily="34" charset="0"/>
                        <a:buChar char="•"/>
                      </a:pPr>
                      <a:r>
                        <a:rPr lang="en-US" sz="1600" baseline="0" dirty="0">
                          <a:latin typeface="Amazon Ember" panose="020B0603020204020204" pitchFamily="34" charset="0"/>
                          <a:ea typeface="Amazon Ember" panose="020B0603020204020204" pitchFamily="34" charset="0"/>
                          <a:cs typeface="Amazon Ember" panose="020B0603020204020204" pitchFamily="34" charset="0"/>
                        </a:rPr>
                        <a:t>Short-term, spiky, or unpredictable workloads</a:t>
                      </a:r>
                    </a:p>
                    <a:p>
                      <a:pPr marL="120650" indent="-120650">
                        <a:spcAft>
                          <a:spcPts val="600"/>
                        </a:spcAft>
                        <a:buFont typeface="Arial" panose="020B0604020202020204" pitchFamily="34" charset="0"/>
                        <a:buChar char="•"/>
                      </a:pPr>
                      <a:r>
                        <a:rPr lang="en-US" sz="1600" baseline="0" dirty="0">
                          <a:latin typeface="Amazon Ember" panose="020B0603020204020204" pitchFamily="34" charset="0"/>
                          <a:ea typeface="Amazon Ember" panose="020B0603020204020204" pitchFamily="34" charset="0"/>
                          <a:cs typeface="Amazon Ember" panose="020B0603020204020204" pitchFamily="34" charset="0"/>
                        </a:rPr>
                        <a:t>Application development or testing</a:t>
                      </a:r>
                    </a:p>
                    <a:p>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panose="020B0603020204020204" pitchFamily="34" charset="0"/>
                          <a:ea typeface="Amazon Ember" panose="020B0603020204020204" pitchFamily="34" charset="0"/>
                          <a:cs typeface="Amazon Ember" panose="020B0603020204020204" pitchFamily="34" charset="0"/>
                        </a:rPr>
                        <a:t>Applications with flexible start and end times</a:t>
                      </a:r>
                    </a:p>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panose="020B0603020204020204" pitchFamily="34" charset="0"/>
                          <a:ea typeface="Amazon Ember" panose="020B0603020204020204" pitchFamily="34" charset="0"/>
                          <a:cs typeface="Amazon Ember" panose="020B0603020204020204" pitchFamily="34" charset="0"/>
                        </a:rPr>
                        <a:t>Applications only feasible at very low compute prices</a:t>
                      </a:r>
                    </a:p>
                    <a:p>
                      <a:pPr marL="120650" indent="-120650" algn="l" defTabSz="457200" rtl="0" eaLnBrk="1" latinLnBrk="0" hangingPunct="1">
                        <a:spcAft>
                          <a:spcPts val="600"/>
                        </a:spcAft>
                        <a:buFont typeface="Arial" panose="020B0604020202020204" pitchFamily="34" charset="0"/>
                        <a:buChar char="•"/>
                      </a:pPr>
                      <a:r>
                        <a:rPr lang="en-US" sz="1600" kern="1200" dirty="0">
                          <a:solidFill>
                            <a:schemeClr val="dk1"/>
                          </a:solidFill>
                          <a:latin typeface="Amazon Ember" panose="020B0603020204020204" pitchFamily="34" charset="0"/>
                          <a:ea typeface="Amazon Ember" panose="020B0603020204020204" pitchFamily="34" charset="0"/>
                          <a:cs typeface="Amazon Ember" panose="020B0603020204020204" pitchFamily="34" charset="0"/>
                        </a:rPr>
                        <a:t>Users with urgent computing needs for large amounts of additional capacity</a:t>
                      </a:r>
                    </a:p>
                    <a:p>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Steady state or predictable usage workloads</a:t>
                      </a:r>
                    </a:p>
                    <a:p>
                      <a:pPr marL="120650" indent="-120650">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Applications that require reserved capacity, including disaster recovery</a:t>
                      </a:r>
                    </a:p>
                    <a:p>
                      <a:pPr marL="120650" indent="-120650">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Users able to make upfront</a:t>
                      </a:r>
                      <a:r>
                        <a:rPr lang="en-US" sz="1600" baseline="0" dirty="0">
                          <a:latin typeface="Amazon Ember" panose="020B0603020204020204" pitchFamily="34" charset="0"/>
                          <a:ea typeface="Amazon Ember" panose="020B0603020204020204" pitchFamily="34" charset="0"/>
                          <a:cs typeface="Amazon Ember" panose="020B0603020204020204" pitchFamily="34" charset="0"/>
                        </a:rPr>
                        <a:t> payments to reduce total computing costs even further</a:t>
                      </a:r>
                      <a:endParaRPr lang="en-US" sz="1600" dirty="0">
                        <a:latin typeface="Amazon Ember" panose="020B0603020204020204" pitchFamily="34" charset="0"/>
                        <a:ea typeface="Amazon Ember" panose="020B0603020204020204" pitchFamily="34" charset="0"/>
                        <a:cs typeface="Amazon Ember" panose="020B06030202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20650" indent="-120650">
                        <a:spcBef>
                          <a:spcPts val="600"/>
                        </a:spcBef>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Bring your own license (</a:t>
                      </a:r>
                      <a:r>
                        <a:rPr lang="en-US" sz="1600" dirty="0" err="1">
                          <a:latin typeface="Amazon Ember" panose="020B0603020204020204" pitchFamily="34" charset="0"/>
                          <a:ea typeface="Amazon Ember" panose="020B0603020204020204" pitchFamily="34" charset="0"/>
                          <a:cs typeface="Amazon Ember" panose="020B0603020204020204" pitchFamily="34" charset="0"/>
                        </a:rPr>
                        <a:t>BYOL</a:t>
                      </a:r>
                      <a:r>
                        <a:rPr lang="en-US" sz="1600" dirty="0">
                          <a:latin typeface="Amazon Ember" panose="020B0603020204020204" pitchFamily="34" charset="0"/>
                          <a:ea typeface="Amazon Ember" panose="020B0603020204020204" pitchFamily="34" charset="0"/>
                          <a:cs typeface="Amazon Ember" panose="020B0603020204020204" pitchFamily="34" charset="0"/>
                        </a:rPr>
                        <a:t>) </a:t>
                      </a:r>
                    </a:p>
                    <a:p>
                      <a:pPr marL="120650" indent="-120650">
                        <a:spcBef>
                          <a:spcPts val="600"/>
                        </a:spcBef>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Compliance and regulatory restrictions</a:t>
                      </a:r>
                    </a:p>
                    <a:p>
                      <a:pPr marL="120650" indent="-120650">
                        <a:spcBef>
                          <a:spcPts val="600"/>
                        </a:spcBef>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Usage and licensing tracking</a:t>
                      </a:r>
                    </a:p>
                    <a:p>
                      <a:pPr marL="120650" indent="-120650">
                        <a:spcBef>
                          <a:spcPts val="600"/>
                        </a:spcBef>
                        <a:spcAft>
                          <a:spcPts val="600"/>
                        </a:spcAft>
                        <a:buFont typeface="Arial" panose="020B0604020202020204" pitchFamily="34" charset="0"/>
                        <a:buChar char="•"/>
                      </a:pPr>
                      <a:r>
                        <a:rPr lang="en-US" sz="1600" dirty="0">
                          <a:latin typeface="Amazon Ember" panose="020B0603020204020204" pitchFamily="34" charset="0"/>
                          <a:ea typeface="Amazon Ember" panose="020B0603020204020204" pitchFamily="34" charset="0"/>
                          <a:cs typeface="Amazon Ember" panose="020B0603020204020204" pitchFamily="34" charset="0"/>
                        </a:rPr>
                        <a:t>Control instance placement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670277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BF7B2C-3F25-094A-95E5-45B95D78AB0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38</a:t>
            </a:fld>
            <a:endParaRPr lang="en-US" dirty="0"/>
          </a:p>
        </p:txBody>
      </p:sp>
      <p:sp>
        <p:nvSpPr>
          <p:cNvPr id="2" name="Title 1"/>
          <p:cNvSpPr>
            <a:spLocks noGrp="1"/>
          </p:cNvSpPr>
          <p:nvPr>
            <p:ph type="title"/>
          </p:nvPr>
        </p:nvSpPr>
        <p:spPr/>
        <p:txBody>
          <a:bodyPr>
            <a:noAutofit/>
          </a:bodyPr>
          <a:lstStyle/>
          <a:p>
            <a:r>
              <a:rPr lang="en-US" dirty="0"/>
              <a:t>The four pillars of cost optimization </a:t>
            </a:r>
          </a:p>
        </p:txBody>
      </p:sp>
      <p:grpSp>
        <p:nvGrpSpPr>
          <p:cNvPr id="5" name="Group 4" descr="Graphic in form of greek columns labeled &quot;cost optimization.&quot; It has four labeled pillars (notes below the slide describe each of the four).">
            <a:extLst>
              <a:ext uri="{FF2B5EF4-FFF2-40B4-BE49-F238E27FC236}">
                <a16:creationId xmlns:a16="http://schemas.microsoft.com/office/drawing/2014/main" id="{B3413030-4153-5149-9E76-4294BE80C544}"/>
              </a:ext>
            </a:extLst>
          </p:cNvPr>
          <p:cNvGrpSpPr/>
          <p:nvPr/>
        </p:nvGrpSpPr>
        <p:grpSpPr>
          <a:xfrm>
            <a:off x="1295400" y="1350705"/>
            <a:ext cx="9525000" cy="5071760"/>
            <a:chOff x="1295400" y="1350705"/>
            <a:chExt cx="9525000" cy="5071760"/>
          </a:xfrm>
        </p:grpSpPr>
        <p:grpSp>
          <p:nvGrpSpPr>
            <p:cNvPr id="32" name="Group 31"/>
            <p:cNvGrpSpPr/>
            <p:nvPr/>
          </p:nvGrpSpPr>
          <p:grpSpPr>
            <a:xfrm>
              <a:off x="1617126" y="2070100"/>
              <a:ext cx="1600200" cy="4089400"/>
              <a:chOff x="1253121" y="1752600"/>
              <a:chExt cx="1600200" cy="4089400"/>
            </a:xfrm>
          </p:grpSpPr>
          <p:pic>
            <p:nvPicPr>
              <p:cNvPr id="33"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1253121" y="1752600"/>
                <a:ext cx="1600200" cy="4089400"/>
              </a:xfrm>
              <a:prstGeom prst="rect">
                <a:avLst/>
              </a:prstGeom>
              <a:solidFill>
                <a:schemeClr val="bg1">
                  <a:lumMod val="95000"/>
                </a:schemeClr>
              </a:solidFill>
            </p:spPr>
          </p:pic>
          <p:pic>
            <p:nvPicPr>
              <p:cNvPr id="34" name="Picture 33">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22635" y="3930564"/>
                <a:ext cx="1261172" cy="1261172"/>
              </a:xfrm>
              <a:prstGeom prst="rect">
                <a:avLst/>
              </a:prstGeom>
            </p:spPr>
          </p:pic>
          <p:sp>
            <p:nvSpPr>
              <p:cNvPr id="35" name="TextBox 34"/>
              <p:cNvSpPr txBox="1"/>
              <p:nvPr/>
            </p:nvSpPr>
            <p:spPr>
              <a:xfrm>
                <a:off x="1422635" y="2946323"/>
                <a:ext cx="1261172" cy="369332"/>
              </a:xfrm>
              <a:prstGeom prst="rect">
                <a:avLst/>
              </a:prstGeom>
              <a:noFill/>
            </p:spPr>
            <p:txBody>
              <a:bodyPr wrap="square" rtlCol="0" anchor="b">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Right size</a:t>
                </a:r>
              </a:p>
            </p:txBody>
          </p:sp>
        </p:grpSp>
        <p:pic>
          <p:nvPicPr>
            <p:cNvPr id="37"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535898" y="2071147"/>
              <a:ext cx="1600200" cy="4089400"/>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p:cNvSpPr txBox="1"/>
            <p:nvPr/>
          </p:nvSpPr>
          <p:spPr>
            <a:xfrm>
              <a:off x="6713571" y="3112771"/>
              <a:ext cx="1244854" cy="923330"/>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Optimal pricing model</a:t>
              </a:r>
            </a:p>
          </p:txBody>
        </p:sp>
        <p:grpSp>
          <p:nvGrpSpPr>
            <p:cNvPr id="40" name="Group 39"/>
            <p:cNvGrpSpPr/>
            <p:nvPr/>
          </p:nvGrpSpPr>
          <p:grpSpPr>
            <a:xfrm>
              <a:off x="4076512" y="2078571"/>
              <a:ext cx="1600200" cy="4089400"/>
              <a:chOff x="6112995" y="1752600"/>
              <a:chExt cx="1600200" cy="4089400"/>
            </a:xfrm>
          </p:grpSpPr>
          <p:pic>
            <p:nvPicPr>
              <p:cNvPr id="41"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112995" y="1752600"/>
                <a:ext cx="1600200" cy="408940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75902" y="4118768"/>
                <a:ext cx="1063620" cy="1063620"/>
              </a:xfrm>
              <a:prstGeom prst="rect">
                <a:avLst/>
              </a:prstGeom>
            </p:spPr>
          </p:pic>
          <p:sp>
            <p:nvSpPr>
              <p:cNvPr id="43" name="TextBox 42"/>
              <p:cNvSpPr txBox="1"/>
              <p:nvPr/>
            </p:nvSpPr>
            <p:spPr>
              <a:xfrm>
                <a:off x="6271624" y="2825699"/>
                <a:ext cx="1272175" cy="646331"/>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Increase elasticity</a:t>
                </a:r>
              </a:p>
            </p:txBody>
          </p:sp>
        </p:grpSp>
        <p:pic>
          <p:nvPicPr>
            <p:cNvPr id="45" name="Picture 4" descr="https://blog.helpingadvisors.com/wp-content/uploads/2016/04/Four-pillars.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8865388" y="2070100"/>
              <a:ext cx="1600200" cy="408940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p:cNvSpPr txBox="1"/>
            <p:nvPr/>
          </p:nvSpPr>
          <p:spPr>
            <a:xfrm>
              <a:off x="9034784" y="3112771"/>
              <a:ext cx="1245721" cy="923330"/>
            </a:xfrm>
            <a:prstGeom prst="rect">
              <a:avLst/>
            </a:prstGeom>
            <a:noFill/>
          </p:spPr>
          <p:txBody>
            <a:bodyPr wrap="square" rtlCol="0" anchor="b">
              <a:spAutoFit/>
            </a:bodyPr>
            <a:lstStyle>
              <a:defPPr>
                <a:defRPr lang="en-US"/>
              </a:defPPr>
              <a:lvl1pPr algn="ctr">
                <a:defRPr b="1">
                  <a:solidFill>
                    <a:schemeClr val="bg1"/>
                  </a:solidFill>
                </a:defRPr>
              </a:lvl1pPr>
            </a:lstStyle>
            <a:p>
              <a:r>
                <a:rPr lang="en-US" b="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Optimize storage choices</a:t>
              </a:r>
            </a:p>
          </p:txBody>
        </p:sp>
        <p:pic>
          <p:nvPicPr>
            <p:cNvPr id="47" name="Picture 2">
              <a:extLs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2657" y="4472382"/>
              <a:ext cx="1202272" cy="1079500"/>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p:cNvSpPr/>
            <p:nvPr/>
          </p:nvSpPr>
          <p:spPr>
            <a:xfrm>
              <a:off x="1447800" y="6159500"/>
              <a:ext cx="9215718" cy="262965"/>
            </a:xfrm>
            <a:prstGeom prst="rect">
              <a:avLst/>
            </a:prstGeom>
            <a:solidFill>
              <a:srgbClr val="9F9994"/>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Rectangle 48"/>
            <p:cNvSpPr/>
            <p:nvPr/>
          </p:nvSpPr>
          <p:spPr>
            <a:xfrm>
              <a:off x="1447800" y="1944594"/>
              <a:ext cx="9215718" cy="102086"/>
            </a:xfrm>
            <a:prstGeom prst="rect">
              <a:avLst/>
            </a:prstGeom>
            <a:solidFill>
              <a:schemeClr val="bg1">
                <a:lumMod val="9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0" name="Rectangle 49"/>
            <p:cNvSpPr/>
            <p:nvPr/>
          </p:nvSpPr>
          <p:spPr>
            <a:xfrm>
              <a:off x="1295400" y="1350705"/>
              <a:ext cx="9525000" cy="561998"/>
            </a:xfrm>
            <a:prstGeom prst="rect">
              <a:avLst/>
            </a:prstGeom>
            <a:solidFill>
              <a:schemeClr val="bg1">
                <a:lumMod val="95000"/>
              </a:schemeClr>
            </a:solid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dirty="0">
                  <a:solidFill>
                    <a:schemeClr val="tx1"/>
                  </a:solidFill>
                  <a:effectLst>
                    <a:outerShdw blurRad="50800" dist="38100" dir="2700000" algn="tl" rotWithShape="0">
                      <a:prstClr val="black">
                        <a:alpha val="40000"/>
                      </a:prstClr>
                    </a:outerShdw>
                  </a:effectLst>
                  <a:latin typeface="Amazon Ember" panose="020B0603020204020204" pitchFamily="34" charset="0"/>
                  <a:ea typeface="Amazon Ember" panose="020B0603020204020204" pitchFamily="34" charset="0"/>
                  <a:cs typeface="Amazon Ember" panose="020B0603020204020204" pitchFamily="34" charset="0"/>
                </a:rPr>
                <a:t>Cost Optimization</a:t>
              </a:r>
            </a:p>
          </p:txBody>
        </p:sp>
        <p:pic>
          <p:nvPicPr>
            <p:cNvPr id="38" name="Picture 37">
              <a:extLs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43061" y="4335432"/>
              <a:ext cx="1244854" cy="1244854"/>
            </a:xfrm>
            <a:prstGeom prst="rect">
              <a:avLst/>
            </a:prstGeom>
          </p:spPr>
        </p:pic>
      </p:grpSp>
    </p:spTree>
    <p:custDataLst>
      <p:tags r:id="rId1"/>
    </p:custDataLst>
    <p:extLst>
      <p:ext uri="{BB962C8B-B14F-4D97-AF65-F5344CB8AC3E}">
        <p14:creationId xmlns:p14="http://schemas.microsoft.com/office/powerpoint/2010/main" val="18911026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E04AB13-45D7-C048-836E-B8FA1B462B2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39</a:t>
            </a:fld>
            <a:endParaRPr lang="en-US" dirty="0"/>
          </a:p>
        </p:txBody>
      </p:sp>
      <p:sp>
        <p:nvSpPr>
          <p:cNvPr id="13" name="Title 12">
            <a:extLst>
              <a:ext uri="{FF2B5EF4-FFF2-40B4-BE49-F238E27FC236}">
                <a16:creationId xmlns:a16="http://schemas.microsoft.com/office/drawing/2014/main" id="{8137E1B3-25FF-424E-BEC2-37D6F3B3A8A5}"/>
              </a:ext>
            </a:extLst>
          </p:cNvPr>
          <p:cNvSpPr>
            <a:spLocks noGrp="1"/>
          </p:cNvSpPr>
          <p:nvPr>
            <p:ph type="title"/>
          </p:nvPr>
        </p:nvSpPr>
        <p:spPr/>
        <p:txBody>
          <a:bodyPr/>
          <a:lstStyle/>
          <a:p>
            <a:r>
              <a:rPr lang="en-US" dirty="0"/>
              <a:t>Pillar 1: Right size</a:t>
            </a:r>
          </a:p>
        </p:txBody>
      </p:sp>
      <p:sp>
        <p:nvSpPr>
          <p:cNvPr id="8" name="Content Placeholder 7">
            <a:extLst>
              <a:ext uri="{FF2B5EF4-FFF2-40B4-BE49-F238E27FC236}">
                <a16:creationId xmlns:a16="http://schemas.microsoft.com/office/drawing/2014/main" id="{44C0B6F4-0EE5-6E48-A81E-13D2F681E923}"/>
              </a:ext>
            </a:extLst>
          </p:cNvPr>
          <p:cNvSpPr>
            <a:spLocks noGrp="1"/>
          </p:cNvSpPr>
          <p:nvPr>
            <p:ph sz="quarter" idx="21"/>
          </p:nvPr>
        </p:nvSpPr>
        <p:spPr>
          <a:xfrm>
            <a:off x="4868218" y="1143000"/>
            <a:ext cx="7085431" cy="5291750"/>
          </a:xfrm>
        </p:spPr>
        <p:txBody>
          <a:bodyPr/>
          <a:lstStyle/>
          <a:p>
            <a:pPr defTabSz="342900">
              <a:lnSpc>
                <a:spcPct val="150000"/>
              </a:lnSpc>
              <a:spcBef>
                <a:spcPct val="20000"/>
              </a:spcBef>
              <a:buFont typeface="Wingdings" pitchFamily="2" charset="2"/>
              <a:buChar char="ü"/>
            </a:pPr>
            <a:r>
              <a:rPr lang="en-US" dirty="0">
                <a:latin typeface="+mn-lt"/>
              </a:rPr>
              <a:t>Provision instances to match the need </a:t>
            </a:r>
          </a:p>
          <a:p>
            <a:pPr lvl="1" defTabSz="342900">
              <a:lnSpc>
                <a:spcPct val="100000"/>
              </a:lnSpc>
              <a:spcBef>
                <a:spcPct val="20000"/>
              </a:spcBef>
            </a:pPr>
            <a:r>
              <a:rPr lang="en-US" sz="2000" dirty="0"/>
              <a:t>CPU, memory, storage, and network throughput</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Select appropriate </a:t>
            </a:r>
            <a:r>
              <a:rPr lang="en-US" sz="2000" dirty="0">
                <a:solidFill>
                  <a:srgbClr val="504BAB"/>
                </a:solidFill>
                <a:latin typeface="+mn-lt"/>
                <a:ea typeface="Amazon Ember" panose="020B0603020204020204" pitchFamily="34" charset="0"/>
                <a:cs typeface="Amazon Ember" panose="020B0603020204020204" pitchFamily="34" charset="0"/>
              </a:rPr>
              <a:t>instance types </a:t>
            </a:r>
            <a:r>
              <a:rPr lang="en-US" sz="2000" dirty="0">
                <a:latin typeface="+mn-lt"/>
                <a:ea typeface="Amazon Ember" panose="020B0603020204020204" pitchFamily="34" charset="0"/>
                <a:cs typeface="Amazon Ember" panose="020B0603020204020204" pitchFamily="34" charset="0"/>
              </a:rPr>
              <a:t>for your use</a:t>
            </a:r>
            <a:endParaRPr lang="en-US" dirty="0">
              <a:latin typeface="+mn-lt"/>
              <a:ea typeface="Amazon Ember" panose="020B0603020204020204" pitchFamily="34" charset="0"/>
              <a:cs typeface="Amazon Ember" panose="020B0603020204020204" pitchFamily="34" charset="0"/>
            </a:endParaRPr>
          </a:p>
          <a:p>
            <a:pPr defTabSz="342900">
              <a:lnSpc>
                <a:spcPct val="150000"/>
              </a:lnSpc>
              <a:spcBef>
                <a:spcPct val="20000"/>
              </a:spcBef>
              <a:buFont typeface="Wingdings" pitchFamily="2" charset="2"/>
              <a:buChar char="ü"/>
            </a:pPr>
            <a:r>
              <a:rPr lang="en-US" dirty="0">
                <a:latin typeface="+mn-lt"/>
                <a:ea typeface="Amazon Ember" panose="020B0603020204020204" pitchFamily="34" charset="0"/>
                <a:cs typeface="Amazon Ember" panose="020B0603020204020204" pitchFamily="34" charset="0"/>
              </a:rPr>
              <a:t>Use Amazon CloudWatch metrics</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How idle are instances? When?</a:t>
            </a:r>
          </a:p>
          <a:p>
            <a:pPr lvl="1" defTabSz="342900">
              <a:lnSpc>
                <a:spcPct val="100000"/>
              </a:lnSpc>
              <a:spcBef>
                <a:spcPct val="20000"/>
              </a:spcBef>
            </a:pPr>
            <a:r>
              <a:rPr lang="en-US" sz="2000" dirty="0">
                <a:latin typeface="+mn-lt"/>
                <a:ea typeface="Amazon Ember" panose="020B0603020204020204" pitchFamily="34" charset="0"/>
                <a:cs typeface="Amazon Ember" panose="020B0603020204020204" pitchFamily="34" charset="0"/>
              </a:rPr>
              <a:t>Downsize instances</a:t>
            </a:r>
          </a:p>
          <a:p>
            <a:pPr defTabSz="342900">
              <a:lnSpc>
                <a:spcPct val="150000"/>
              </a:lnSpc>
              <a:spcBef>
                <a:spcPct val="20000"/>
              </a:spcBef>
              <a:buFont typeface="Wingdings" pitchFamily="2" charset="2"/>
              <a:buChar char="ü"/>
            </a:pPr>
            <a:r>
              <a:rPr lang="en-US" dirty="0">
                <a:latin typeface="+mn-lt"/>
                <a:ea typeface="Amazon Ember" panose="020B0603020204020204" pitchFamily="34" charset="0"/>
                <a:cs typeface="Amazon Ember" panose="020B0603020204020204" pitchFamily="34" charset="0"/>
              </a:rPr>
              <a:t>Best practice: Right size, then reserve</a:t>
            </a:r>
            <a:endParaRPr lang="en-US" dirty="0">
              <a:latin typeface="+mn-lt"/>
            </a:endParaRPr>
          </a:p>
        </p:txBody>
      </p:sp>
      <p:grpSp>
        <p:nvGrpSpPr>
          <p:cNvPr id="9" name="Group 8" descr="Graphic shows the four pillars with pillar 1 highlighted: Right size.">
            <a:extLst>
              <a:ext uri="{FF2B5EF4-FFF2-40B4-BE49-F238E27FC236}">
                <a16:creationId xmlns:a16="http://schemas.microsoft.com/office/drawing/2014/main" id="{2E4F4943-01A8-AD43-AA80-474C80165514}"/>
              </a:ext>
              <a:ext uri="{C183D7F6-B498-43B3-948B-1728B52AA6E4}">
                <adec:decorative xmlns:adec="http://schemas.microsoft.com/office/drawing/2017/decorative" val="0"/>
              </a:ext>
            </a:extLst>
          </p:cNvPr>
          <p:cNvGrpSpPr/>
          <p:nvPr/>
        </p:nvGrpSpPr>
        <p:grpSpPr>
          <a:xfrm>
            <a:off x="55685" y="1775998"/>
            <a:ext cx="3840373" cy="3295302"/>
            <a:chOff x="55685" y="1775998"/>
            <a:chExt cx="3840373" cy="3295302"/>
          </a:xfrm>
        </p:grpSpPr>
        <p:sp>
          <p:nvSpPr>
            <p:cNvPr id="22" name="TextBox 21"/>
            <p:cNvSpPr txBox="1"/>
            <p:nvPr/>
          </p:nvSpPr>
          <p:spPr>
            <a:xfrm>
              <a:off x="55685" y="2346247"/>
              <a:ext cx="3392275" cy="1323439"/>
            </a:xfrm>
            <a:prstGeom prst="rect">
              <a:avLst/>
            </a:prstGeom>
            <a:noFill/>
          </p:spPr>
          <p:txBody>
            <a:bodyPr wrap="none" rtlCol="0">
              <a:spAutoFit/>
            </a:bodyPr>
            <a:lstStyle/>
            <a:p>
              <a:pPr algn="r"/>
              <a:r>
                <a:rPr lang="en-US" sz="2000" dirty="0">
                  <a:solidFill>
                    <a:srgbClr val="E97D11"/>
                  </a:solidFill>
                  <a:latin typeface="Amazon Ember" panose="020B0603020204020204" pitchFamily="34" charset="0"/>
                  <a:ea typeface="Amazon Ember" panose="020B0603020204020204" pitchFamily="34" charset="0"/>
                  <a:cs typeface="Amazon Ember" panose="020B0603020204020204" pitchFamily="34" charset="0"/>
                </a:rPr>
                <a:t>1. Right 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p:cNvGrpSpPr/>
            <p:nvPr/>
          </p:nvGrpSpPr>
          <p:grpSpPr>
            <a:xfrm>
              <a:off x="3299420" y="2192748"/>
              <a:ext cx="596638" cy="646331"/>
              <a:chOff x="2997997" y="2209302"/>
              <a:chExt cx="596638" cy="646331"/>
            </a:xfrm>
          </p:grpSpPr>
          <p:sp>
            <p:nvSpPr>
              <p:cNvPr id="25" name="TextBox 24"/>
              <p:cNvSpPr txBox="1"/>
              <p:nvPr/>
            </p:nvSpPr>
            <p:spPr>
              <a:xfrm>
                <a:off x="2997997" y="2209302"/>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6" name="TextBox 25"/>
              <p:cNvSpPr txBox="1"/>
              <p:nvPr/>
            </p:nvSpPr>
            <p:spPr>
              <a:xfrm>
                <a:off x="3016763" y="2268130"/>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pic>
          <p:nvPicPr>
            <p:cNvPr id="28" name="Picture 27">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06444" y="3810128"/>
              <a:ext cx="1261172" cy="1261172"/>
            </a:xfrm>
            <a:prstGeom prst="rect">
              <a:avLst/>
            </a:prstGeom>
          </p:spPr>
        </p:pic>
        <p:sp>
          <p:nvSpPr>
            <p:cNvPr id="11" name="TextBox 10">
              <a:extLst>
                <a:ext uri="{FF2B5EF4-FFF2-40B4-BE49-F238E27FC236}">
                  <a16:creationId xmlns:a16="http://schemas.microsoft.com/office/drawing/2014/main" id="{D17AFE00-A142-B44E-91D2-60DA944EF37E}"/>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spTree>
    <p:custDataLst>
      <p:tags r:id="rId1"/>
    </p:custDataLst>
    <p:extLst>
      <p:ext uri="{BB962C8B-B14F-4D97-AF65-F5344CB8AC3E}">
        <p14:creationId xmlns:p14="http://schemas.microsoft.com/office/powerpoint/2010/main" val="14606608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40</a:t>
            </a:fld>
            <a:endParaRPr lang="en-US" dirty="0"/>
          </a:p>
        </p:txBody>
      </p:sp>
      <p:sp>
        <p:nvSpPr>
          <p:cNvPr id="10" name="Title 9">
            <a:extLst>
              <a:ext uri="{FF2B5EF4-FFF2-40B4-BE49-F238E27FC236}">
                <a16:creationId xmlns:a16="http://schemas.microsoft.com/office/drawing/2014/main" id="{2F405AFB-8203-0D46-9A23-F4AD7904D1EA}"/>
              </a:ext>
            </a:extLst>
          </p:cNvPr>
          <p:cNvSpPr>
            <a:spLocks noGrp="1"/>
          </p:cNvSpPr>
          <p:nvPr>
            <p:ph type="title"/>
          </p:nvPr>
        </p:nvSpPr>
        <p:spPr/>
        <p:txBody>
          <a:bodyPr/>
          <a:lstStyle/>
          <a:p>
            <a:r>
              <a:rPr lang="en-US" dirty="0"/>
              <a:t>Pillar 2: Increase elasticity</a:t>
            </a:r>
          </a:p>
        </p:txBody>
      </p:sp>
      <p:sp>
        <p:nvSpPr>
          <p:cNvPr id="29" name="Content Placeholder 7">
            <a:extLst>
              <a:ext uri="{FF2B5EF4-FFF2-40B4-BE49-F238E27FC236}">
                <a16:creationId xmlns:a16="http://schemas.microsoft.com/office/drawing/2014/main" id="{7967077A-B64B-784E-91AB-5553ED98AE09}"/>
              </a:ext>
            </a:extLst>
          </p:cNvPr>
          <p:cNvSpPr>
            <a:spLocks noGrp="1"/>
          </p:cNvSpPr>
          <p:nvPr>
            <p:ph sz="quarter" idx="21"/>
          </p:nvPr>
        </p:nvSpPr>
        <p:spPr>
          <a:xfrm>
            <a:off x="5002326" y="1143000"/>
            <a:ext cx="6951324" cy="5291750"/>
          </a:xfrm>
        </p:spPr>
        <p:txBody>
          <a:bodyPr/>
          <a:lstStyle/>
          <a:p>
            <a:pPr defTabSz="342900">
              <a:lnSpc>
                <a:spcPct val="100000"/>
              </a:lnSpc>
              <a:spcBef>
                <a:spcPct val="20000"/>
              </a:spcBef>
              <a:buFont typeface="Wingdings" pitchFamily="2" charset="2"/>
              <a:buChar char="ü"/>
            </a:pPr>
            <a:r>
              <a:rPr lang="en-US" sz="2400" b="1" dirty="0">
                <a:solidFill>
                  <a:srgbClr val="504BAB"/>
                </a:solidFill>
              </a:rPr>
              <a:t>Stop</a:t>
            </a:r>
            <a:r>
              <a:rPr lang="en-US" sz="2400" dirty="0"/>
              <a:t> or </a:t>
            </a:r>
            <a:r>
              <a:rPr lang="en-US" sz="2400" b="1" dirty="0">
                <a:solidFill>
                  <a:srgbClr val="504BAB"/>
                </a:solidFill>
              </a:rPr>
              <a:t>hibernate</a:t>
            </a:r>
            <a:r>
              <a:rPr lang="en-US" sz="2400" dirty="0"/>
              <a:t> Amazon EBS-backed instances that are not actively in use</a:t>
            </a:r>
          </a:p>
          <a:p>
            <a:pPr lvl="1" defTabSz="342900">
              <a:lnSpc>
                <a:spcPct val="100000"/>
              </a:lnSpc>
              <a:spcBef>
                <a:spcPct val="20000"/>
              </a:spcBef>
            </a:pPr>
            <a:r>
              <a:rPr lang="en-US" sz="2000" dirty="0"/>
              <a:t>Example: non-production development or test instances</a:t>
            </a:r>
            <a:endParaRPr lang="en-US" dirty="0"/>
          </a:p>
          <a:p>
            <a:pPr defTabSz="342900">
              <a:lnSpc>
                <a:spcPct val="100000"/>
              </a:lnSpc>
              <a:spcBef>
                <a:spcPct val="20000"/>
              </a:spcBef>
              <a:buFont typeface="Wingdings" pitchFamily="2" charset="2"/>
              <a:buChar char="ü"/>
            </a:pPr>
            <a:r>
              <a:rPr lang="en-US" sz="2400" dirty="0"/>
              <a:t>Use</a:t>
            </a:r>
            <a:r>
              <a:rPr lang="en-US" sz="2400" b="1" dirty="0">
                <a:solidFill>
                  <a:schemeClr val="accent5"/>
                </a:solidFill>
              </a:rPr>
              <a:t> </a:t>
            </a:r>
            <a:r>
              <a:rPr lang="en-US" sz="2400" b="1" dirty="0">
                <a:solidFill>
                  <a:srgbClr val="504BAB"/>
                </a:solidFill>
              </a:rPr>
              <a:t>automatic</a:t>
            </a:r>
            <a:r>
              <a:rPr lang="en-US" sz="2400" b="1" dirty="0">
                <a:solidFill>
                  <a:schemeClr val="accent5"/>
                </a:solidFill>
              </a:rPr>
              <a:t> </a:t>
            </a:r>
            <a:r>
              <a:rPr lang="en-US" sz="2400" b="1" dirty="0">
                <a:solidFill>
                  <a:srgbClr val="504BAB"/>
                </a:solidFill>
              </a:rPr>
              <a:t>scaling</a:t>
            </a:r>
            <a:r>
              <a:rPr lang="en-US" sz="2400" b="1" dirty="0">
                <a:solidFill>
                  <a:schemeClr val="accent5"/>
                </a:solidFill>
              </a:rPr>
              <a:t> </a:t>
            </a:r>
            <a:r>
              <a:rPr lang="en-US" sz="2400" dirty="0"/>
              <a:t>to match needs based on usage </a:t>
            </a:r>
          </a:p>
          <a:p>
            <a:pPr lvl="1" defTabSz="342900">
              <a:lnSpc>
                <a:spcPct val="100000"/>
              </a:lnSpc>
              <a:spcBef>
                <a:spcPct val="20000"/>
              </a:spcBef>
            </a:pPr>
            <a:r>
              <a:rPr lang="en-US" sz="2000" dirty="0"/>
              <a:t>Automated and time-based elasticity</a:t>
            </a:r>
            <a:endParaRPr lang="en-US" sz="2400" dirty="0"/>
          </a:p>
          <a:p>
            <a:pPr marL="0" indent="0" defTabSz="342900">
              <a:lnSpc>
                <a:spcPct val="150000"/>
              </a:lnSpc>
              <a:spcBef>
                <a:spcPct val="20000"/>
              </a:spcBef>
              <a:buNone/>
            </a:pPr>
            <a:endParaRPr lang="en-US" sz="2400" dirty="0">
              <a:latin typeface="+mn-lt"/>
            </a:endParaRPr>
          </a:p>
        </p:txBody>
      </p:sp>
      <p:grpSp>
        <p:nvGrpSpPr>
          <p:cNvPr id="2" name="Group 1" descr="Graphic shows the four pillars with pillar 2 highlighted: Increase Elasticity">
            <a:extLst>
              <a:ext uri="{FF2B5EF4-FFF2-40B4-BE49-F238E27FC236}">
                <a16:creationId xmlns:a16="http://schemas.microsoft.com/office/drawing/2014/main" id="{CF490E1C-EB11-EE4C-8CA4-A257BA2A442F}"/>
              </a:ext>
            </a:extLst>
          </p:cNvPr>
          <p:cNvGrpSpPr/>
          <p:nvPr/>
        </p:nvGrpSpPr>
        <p:grpSpPr>
          <a:xfrm>
            <a:off x="55685" y="1775998"/>
            <a:ext cx="3840373" cy="3144180"/>
            <a:chOff x="55685" y="1775998"/>
            <a:chExt cx="3840373" cy="3144180"/>
          </a:xfrm>
        </p:grpSpPr>
        <p:grpSp>
          <p:nvGrpSpPr>
            <p:cNvPr id="21" name="Group 20">
              <a:extLst>
                <a:ext uri="{FF2B5EF4-FFF2-40B4-BE49-F238E27FC236}">
                  <a16:creationId xmlns:a16="http://schemas.microsoft.com/office/drawing/2014/main" id="{37CD8AFA-ED34-7D49-BA22-ADEE3ACAE8B2}"/>
                </a:ext>
                <a:ext uri="{C183D7F6-B498-43B3-948B-1728B52AA6E4}">
                  <adec:decorative xmlns:adec="http://schemas.microsoft.com/office/drawing/2017/decorative" val="1"/>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2539585"/>
                <a:ext cx="596638" cy="646331"/>
                <a:chOff x="2997997" y="2556139"/>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2556139"/>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2614968"/>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54" name="Picture 53">
              <a:extLst>
                <a:ext uri="{FF2B5EF4-FFF2-40B4-BE49-F238E27FC236}">
                  <a16:creationId xmlns:a16="http://schemas.microsoft.com/office/drawing/2014/main" id="{5F939B8B-2CAC-C446-8FAA-F404F1DC4244}"/>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45640" y="3856558"/>
              <a:ext cx="1063620" cy="1063620"/>
            </a:xfrm>
            <a:prstGeom prst="rect">
              <a:avLst/>
            </a:prstGeom>
          </p:spPr>
        </p:pic>
      </p:grpSp>
    </p:spTree>
    <p:custDataLst>
      <p:tags r:id="rId1"/>
    </p:custDataLst>
    <p:extLst>
      <p:ext uri="{BB962C8B-B14F-4D97-AF65-F5344CB8AC3E}">
        <p14:creationId xmlns:p14="http://schemas.microsoft.com/office/powerpoint/2010/main" val="1006763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41</a:t>
            </a:fld>
            <a:endParaRPr lang="en-US" dirty="0"/>
          </a:p>
        </p:txBody>
      </p:sp>
      <p:sp>
        <p:nvSpPr>
          <p:cNvPr id="6" name="Title 5">
            <a:extLst>
              <a:ext uri="{FF2B5EF4-FFF2-40B4-BE49-F238E27FC236}">
                <a16:creationId xmlns:a16="http://schemas.microsoft.com/office/drawing/2014/main" id="{6F044271-2C46-BB42-9087-3D0DF5355A69}"/>
              </a:ext>
            </a:extLst>
          </p:cNvPr>
          <p:cNvSpPr>
            <a:spLocks noGrp="1"/>
          </p:cNvSpPr>
          <p:nvPr>
            <p:ph type="title"/>
          </p:nvPr>
        </p:nvSpPr>
        <p:spPr/>
        <p:txBody>
          <a:bodyPr/>
          <a:lstStyle/>
          <a:p>
            <a:r>
              <a:rPr lang="en-US" dirty="0"/>
              <a:t>Pillar 3: Optimal pricing model</a:t>
            </a:r>
          </a:p>
        </p:txBody>
      </p:sp>
      <p:sp>
        <p:nvSpPr>
          <p:cNvPr id="13" name="Content Placeholder 7">
            <a:extLst>
              <a:ext uri="{FF2B5EF4-FFF2-40B4-BE49-F238E27FC236}">
                <a16:creationId xmlns:a16="http://schemas.microsoft.com/office/drawing/2014/main" id="{793D8889-5EC7-7B43-B023-0E52A69F8E12}"/>
              </a:ext>
            </a:extLst>
          </p:cNvPr>
          <p:cNvSpPr>
            <a:spLocks noGrp="1"/>
          </p:cNvSpPr>
          <p:nvPr>
            <p:ph sz="quarter" idx="21"/>
          </p:nvPr>
        </p:nvSpPr>
        <p:spPr>
          <a:xfrm>
            <a:off x="4497060" y="1143000"/>
            <a:ext cx="7456590" cy="5291750"/>
          </a:xfrm>
        </p:spPr>
        <p:txBody>
          <a:bodyPr>
            <a:normAutofit/>
          </a:bodyPr>
          <a:lstStyle/>
          <a:p>
            <a:pPr defTabSz="342900">
              <a:lnSpc>
                <a:spcPct val="150000"/>
              </a:lnSpc>
              <a:spcBef>
                <a:spcPct val="20000"/>
              </a:spcBef>
              <a:buFont typeface="Wingdings" pitchFamily="2" charset="2"/>
              <a:buChar char="ü"/>
            </a:pPr>
            <a:r>
              <a:rPr lang="en-US" sz="2400" dirty="0"/>
              <a:t>Leverage the right pricing model for your use case</a:t>
            </a:r>
          </a:p>
          <a:p>
            <a:pPr lvl="1" defTabSz="342900">
              <a:lnSpc>
                <a:spcPct val="150000"/>
              </a:lnSpc>
              <a:spcBef>
                <a:spcPct val="20000"/>
              </a:spcBef>
            </a:pPr>
            <a:r>
              <a:rPr lang="en-US" sz="2000" dirty="0">
                <a:latin typeface="+mn-lt"/>
              </a:rPr>
              <a:t>Consider your usage patterns </a:t>
            </a:r>
          </a:p>
          <a:p>
            <a:pPr defTabSz="342900">
              <a:lnSpc>
                <a:spcPct val="150000"/>
              </a:lnSpc>
              <a:spcBef>
                <a:spcPct val="20000"/>
              </a:spcBef>
              <a:buFont typeface="Wingdings" pitchFamily="2" charset="2"/>
              <a:buChar char="ü"/>
            </a:pPr>
            <a:r>
              <a:rPr lang="en-US" sz="2400" dirty="0">
                <a:latin typeface="+mn-lt"/>
              </a:rPr>
              <a:t>Optimize and </a:t>
            </a:r>
            <a:r>
              <a:rPr lang="en-US" sz="2400" i="1" dirty="0">
                <a:latin typeface="+mn-lt"/>
              </a:rPr>
              <a:t>combine</a:t>
            </a:r>
            <a:r>
              <a:rPr lang="en-US" sz="2400" dirty="0">
                <a:latin typeface="+mn-lt"/>
              </a:rPr>
              <a:t> purchase types</a:t>
            </a:r>
          </a:p>
          <a:p>
            <a:pPr defTabSz="342900">
              <a:lnSpc>
                <a:spcPct val="150000"/>
              </a:lnSpc>
              <a:spcBef>
                <a:spcPct val="20000"/>
              </a:spcBef>
              <a:buFont typeface="Wingdings" pitchFamily="2" charset="2"/>
              <a:buChar char="ü"/>
            </a:pPr>
            <a:r>
              <a:rPr lang="en-US" sz="2400" dirty="0">
                <a:latin typeface="+mn-lt"/>
              </a:rPr>
              <a:t>Examples:</a:t>
            </a:r>
            <a:endParaRPr lang="en-US" sz="2000" dirty="0">
              <a:latin typeface="+mn-lt"/>
            </a:endParaRPr>
          </a:p>
          <a:p>
            <a:pPr lvl="1" defTabSz="342900">
              <a:lnSpc>
                <a:spcPct val="100000"/>
              </a:lnSpc>
              <a:spcBef>
                <a:spcPct val="20000"/>
              </a:spcBef>
            </a:pPr>
            <a:r>
              <a:rPr lang="en-US" sz="2000" dirty="0"/>
              <a:t>Use </a:t>
            </a:r>
            <a:r>
              <a:rPr lang="en-US" sz="2000" b="1" dirty="0">
                <a:solidFill>
                  <a:srgbClr val="504BAB"/>
                </a:solidFill>
              </a:rPr>
              <a:t>On-Demand Instance</a:t>
            </a:r>
            <a:r>
              <a:rPr lang="en-US" sz="2000" dirty="0">
                <a:solidFill>
                  <a:srgbClr val="504BAB"/>
                </a:solidFill>
              </a:rPr>
              <a:t> </a:t>
            </a:r>
            <a:r>
              <a:rPr lang="en-US" sz="2000" dirty="0"/>
              <a:t>and </a:t>
            </a:r>
            <a:r>
              <a:rPr lang="en-US" sz="2000" b="1" dirty="0">
                <a:solidFill>
                  <a:srgbClr val="504BAB"/>
                </a:solidFill>
              </a:rPr>
              <a:t>Spot</a:t>
            </a:r>
            <a:r>
              <a:rPr lang="en-US" sz="2000" dirty="0">
                <a:solidFill>
                  <a:srgbClr val="504BAB"/>
                </a:solidFill>
              </a:rPr>
              <a:t> </a:t>
            </a:r>
            <a:r>
              <a:rPr lang="en-US" sz="2000" b="1" dirty="0">
                <a:solidFill>
                  <a:srgbClr val="504BAB"/>
                </a:solidFill>
              </a:rPr>
              <a:t>Instances</a:t>
            </a:r>
            <a:r>
              <a:rPr lang="en-US" sz="2000" dirty="0">
                <a:solidFill>
                  <a:srgbClr val="504BAB"/>
                </a:solidFill>
              </a:rPr>
              <a:t> </a:t>
            </a:r>
            <a:r>
              <a:rPr lang="en-US" sz="2000" dirty="0"/>
              <a:t>for variable workloads</a:t>
            </a:r>
            <a:br>
              <a:rPr lang="en-US" sz="2000" dirty="0"/>
            </a:br>
            <a:endParaRPr lang="en-US" sz="2000" dirty="0"/>
          </a:p>
          <a:p>
            <a:pPr lvl="1" defTabSz="342900">
              <a:lnSpc>
                <a:spcPct val="100000"/>
              </a:lnSpc>
              <a:spcBef>
                <a:spcPct val="20000"/>
              </a:spcBef>
            </a:pPr>
            <a:r>
              <a:rPr lang="en-US" sz="2000" dirty="0"/>
              <a:t>Use </a:t>
            </a:r>
            <a:r>
              <a:rPr lang="en-US" sz="2000" b="1" dirty="0">
                <a:solidFill>
                  <a:srgbClr val="504BAB"/>
                </a:solidFill>
              </a:rPr>
              <a:t>Reserved Instances</a:t>
            </a:r>
            <a:r>
              <a:rPr lang="en-US" sz="2000" dirty="0">
                <a:solidFill>
                  <a:srgbClr val="504BAB"/>
                </a:solidFill>
              </a:rPr>
              <a:t> </a:t>
            </a:r>
            <a:r>
              <a:rPr lang="en-US" sz="2000" dirty="0"/>
              <a:t>for predictable workloads</a:t>
            </a:r>
            <a:br>
              <a:rPr lang="en-US" sz="2000" dirty="0"/>
            </a:br>
            <a:endParaRPr lang="en-US" sz="2000" dirty="0"/>
          </a:p>
          <a:p>
            <a:pPr defTabSz="342900">
              <a:lnSpc>
                <a:spcPct val="100000"/>
              </a:lnSpc>
              <a:spcBef>
                <a:spcPct val="20000"/>
              </a:spcBef>
              <a:buFont typeface="Wingdings" pitchFamily="2" charset="2"/>
              <a:buChar char="ü"/>
            </a:pPr>
            <a:r>
              <a:rPr lang="en-US" sz="2400" dirty="0"/>
              <a:t>Consider serverless solutions (AWS Lambda)</a:t>
            </a:r>
            <a:endParaRPr lang="en-US" sz="2600" dirty="0"/>
          </a:p>
        </p:txBody>
      </p:sp>
      <p:grpSp>
        <p:nvGrpSpPr>
          <p:cNvPr id="2" name="Group 1" descr="Graphic shows the four pillars with pillar 3 highlighted: Optimal pricing model">
            <a:extLst>
              <a:ext uri="{FF2B5EF4-FFF2-40B4-BE49-F238E27FC236}">
                <a16:creationId xmlns:a16="http://schemas.microsoft.com/office/drawing/2014/main" id="{6E907B3D-70E8-6F43-B84B-77591481D669}"/>
              </a:ext>
              <a:ext uri="{C183D7F6-B498-43B3-948B-1728B52AA6E4}">
                <adec:decorative xmlns:adec="http://schemas.microsoft.com/office/drawing/2017/decorative" val="0"/>
              </a:ext>
            </a:extLst>
          </p:cNvPr>
          <p:cNvGrpSpPr/>
          <p:nvPr/>
        </p:nvGrpSpPr>
        <p:grpSpPr>
          <a:xfrm>
            <a:off x="55685" y="1775998"/>
            <a:ext cx="3840373" cy="3283788"/>
            <a:chOff x="55685" y="1775998"/>
            <a:chExt cx="3840373" cy="3283788"/>
          </a:xfrm>
        </p:grpSpPr>
        <p:grpSp>
          <p:nvGrpSpPr>
            <p:cNvPr id="21" name="Group 20">
              <a:extLst>
                <a:ext uri="{FF2B5EF4-FFF2-40B4-BE49-F238E27FC236}">
                  <a16:creationId xmlns:a16="http://schemas.microsoft.com/office/drawing/2014/main" id="{37CD8AFA-ED34-7D49-BA22-ADEE3ACAE8B2}"/>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2844385"/>
                <a:ext cx="596638" cy="646331"/>
                <a:chOff x="2997997" y="2860939"/>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2860939"/>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2919767"/>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17" name="Picture 2" descr="https://d0.awsstatic.com/Digital%20Marketing/House/ctabox/ha_ctabox_cost-optimization-02.png">
              <a:extLst>
                <a:ext uri="{FF2B5EF4-FFF2-40B4-BE49-F238E27FC236}">
                  <a16:creationId xmlns:a16="http://schemas.microsoft.com/office/drawing/2014/main" id="{A4266BF0-BA26-C748-9A9A-B5E60ADC5E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20" y="3701155"/>
              <a:ext cx="1729166" cy="1358631"/>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2644201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915496-F8F9-4749-969B-30B3AED7855D}"/>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42</a:t>
            </a:fld>
            <a:endParaRPr lang="en-US" dirty="0"/>
          </a:p>
        </p:txBody>
      </p:sp>
      <p:sp>
        <p:nvSpPr>
          <p:cNvPr id="6" name="Title 5">
            <a:extLst>
              <a:ext uri="{FF2B5EF4-FFF2-40B4-BE49-F238E27FC236}">
                <a16:creationId xmlns:a16="http://schemas.microsoft.com/office/drawing/2014/main" id="{0C7AFB7B-38DF-B548-A538-97AC78600EE4}"/>
              </a:ext>
            </a:extLst>
          </p:cNvPr>
          <p:cNvSpPr>
            <a:spLocks noGrp="1"/>
          </p:cNvSpPr>
          <p:nvPr>
            <p:ph type="title"/>
          </p:nvPr>
        </p:nvSpPr>
        <p:spPr/>
        <p:txBody>
          <a:bodyPr/>
          <a:lstStyle/>
          <a:p>
            <a:r>
              <a:rPr lang="en-US" dirty="0"/>
              <a:t>Pillar 4: Optimize storage choices</a:t>
            </a:r>
          </a:p>
        </p:txBody>
      </p:sp>
      <p:sp>
        <p:nvSpPr>
          <p:cNvPr id="13" name="Content Placeholder 7">
            <a:extLst>
              <a:ext uri="{FF2B5EF4-FFF2-40B4-BE49-F238E27FC236}">
                <a16:creationId xmlns:a16="http://schemas.microsoft.com/office/drawing/2014/main" id="{008E9451-2FF4-1A46-B6B8-5A2FEB596199}"/>
              </a:ext>
            </a:extLst>
          </p:cNvPr>
          <p:cNvSpPr>
            <a:spLocks noGrp="1"/>
          </p:cNvSpPr>
          <p:nvPr>
            <p:ph sz="quarter" idx="21"/>
          </p:nvPr>
        </p:nvSpPr>
        <p:spPr>
          <a:xfrm>
            <a:off x="4030164" y="1143000"/>
            <a:ext cx="7923485" cy="5291750"/>
          </a:xfrm>
        </p:spPr>
        <p:txBody>
          <a:bodyPr>
            <a:normAutofit/>
          </a:bodyPr>
          <a:lstStyle/>
          <a:p>
            <a:pPr defTabSz="342900">
              <a:lnSpc>
                <a:spcPct val="100000"/>
              </a:lnSpc>
              <a:spcBef>
                <a:spcPct val="20000"/>
              </a:spcBef>
              <a:buFont typeface="Wingdings" pitchFamily="2" charset="2"/>
              <a:buChar char="ü"/>
            </a:pPr>
            <a:r>
              <a:rPr lang="en-US" sz="2000" dirty="0"/>
              <a:t>Reduce costs while maintaining storage performance and availability</a:t>
            </a:r>
          </a:p>
          <a:p>
            <a:pPr marL="227012" lvl="1" indent="0" defTabSz="342900">
              <a:lnSpc>
                <a:spcPct val="100000"/>
              </a:lnSpc>
              <a:spcBef>
                <a:spcPct val="20000"/>
              </a:spcBef>
              <a:buNone/>
            </a:pPr>
            <a:endParaRPr lang="en-US" sz="1000" dirty="0"/>
          </a:p>
          <a:p>
            <a:pPr defTabSz="342900">
              <a:lnSpc>
                <a:spcPct val="100000"/>
              </a:lnSpc>
              <a:spcBef>
                <a:spcPct val="20000"/>
              </a:spcBef>
              <a:buFont typeface="Wingdings" pitchFamily="2" charset="2"/>
              <a:buChar char="ü"/>
            </a:pPr>
            <a:r>
              <a:rPr lang="en-US" sz="2000" dirty="0">
                <a:latin typeface="+mn-lt"/>
              </a:rPr>
              <a:t>Resize EBS volumes</a:t>
            </a:r>
          </a:p>
          <a:p>
            <a:pPr marL="227012" lvl="1" indent="0" defTabSz="342900">
              <a:lnSpc>
                <a:spcPct val="100000"/>
              </a:lnSpc>
              <a:spcBef>
                <a:spcPct val="20000"/>
              </a:spcBef>
              <a:buNone/>
            </a:pP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Change EBS volume types</a:t>
            </a:r>
          </a:p>
          <a:p>
            <a:pPr lvl="1" defTabSz="342900">
              <a:lnSpc>
                <a:spcPct val="100000"/>
              </a:lnSpc>
              <a:spcBef>
                <a:spcPct val="20000"/>
              </a:spcBef>
              <a:buFont typeface="Wingdings" pitchFamily="2" charset="2"/>
              <a:buChar char="ü"/>
            </a:pPr>
            <a:r>
              <a:rPr lang="en-US" sz="1600" dirty="0"/>
              <a:t>Can you meet performance requirements with less expensive storage?</a:t>
            </a:r>
          </a:p>
          <a:p>
            <a:pPr lvl="1" defTabSz="342900">
              <a:lnSpc>
                <a:spcPct val="100000"/>
              </a:lnSpc>
              <a:spcBef>
                <a:spcPct val="20000"/>
              </a:spcBef>
              <a:buFont typeface="Wingdings" pitchFamily="2" charset="2"/>
              <a:buChar char="ü"/>
            </a:pPr>
            <a:r>
              <a:rPr lang="en-US" sz="1600" dirty="0"/>
              <a:t>Example: </a:t>
            </a:r>
            <a:r>
              <a:rPr lang="en-US" sz="1600" b="1" dirty="0">
                <a:solidFill>
                  <a:srgbClr val="504BAB"/>
                </a:solidFill>
              </a:rPr>
              <a:t>Amazon EBS Throughput Optimized HDD (st1)</a:t>
            </a:r>
            <a:r>
              <a:rPr lang="en-US" sz="1600" dirty="0"/>
              <a:t> storage typically costs half as much as the default </a:t>
            </a:r>
            <a:r>
              <a:rPr lang="en-US" sz="1600" b="1" dirty="0">
                <a:solidFill>
                  <a:srgbClr val="504BAB"/>
                </a:solidFill>
              </a:rPr>
              <a:t>General Purpose SSD (gp2)</a:t>
            </a:r>
            <a:r>
              <a:rPr lang="en-US" sz="1600" dirty="0">
                <a:solidFill>
                  <a:srgbClr val="504BAB"/>
                </a:solidFill>
              </a:rPr>
              <a:t> </a:t>
            </a:r>
            <a:r>
              <a:rPr lang="en-US" sz="1600" dirty="0"/>
              <a:t>storage option.</a:t>
            </a: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Delete EBS snapshots that are no longer needed</a:t>
            </a:r>
          </a:p>
          <a:p>
            <a:pPr marL="227012" lvl="1" indent="0" defTabSz="342900">
              <a:lnSpc>
                <a:spcPct val="100000"/>
              </a:lnSpc>
              <a:spcBef>
                <a:spcPct val="20000"/>
              </a:spcBef>
              <a:buNone/>
            </a:pPr>
            <a:endParaRPr lang="en-US" sz="1000" dirty="0">
              <a:latin typeface="+mn-lt"/>
            </a:endParaRPr>
          </a:p>
          <a:p>
            <a:pPr defTabSz="342900">
              <a:lnSpc>
                <a:spcPct val="100000"/>
              </a:lnSpc>
              <a:spcBef>
                <a:spcPct val="20000"/>
              </a:spcBef>
              <a:buFont typeface="Wingdings" pitchFamily="2" charset="2"/>
              <a:buChar char="ü"/>
            </a:pPr>
            <a:r>
              <a:rPr lang="en-US" sz="2000" dirty="0">
                <a:latin typeface="+mn-lt"/>
              </a:rPr>
              <a:t>Identify the most appropriate destination for specific types of data</a:t>
            </a:r>
          </a:p>
          <a:p>
            <a:pPr lvl="1" defTabSz="342900">
              <a:lnSpc>
                <a:spcPct val="100000"/>
              </a:lnSpc>
              <a:spcBef>
                <a:spcPct val="20000"/>
              </a:spcBef>
              <a:buFont typeface="Wingdings" pitchFamily="2" charset="2"/>
              <a:buChar char="ü"/>
            </a:pPr>
            <a:r>
              <a:rPr lang="en-US" sz="1600" dirty="0">
                <a:latin typeface="+mn-lt"/>
              </a:rPr>
              <a:t>Does the application need the instance to reside on Amazon EBS?</a:t>
            </a:r>
          </a:p>
          <a:p>
            <a:pPr lvl="1" defTabSz="342900">
              <a:lnSpc>
                <a:spcPct val="100000"/>
              </a:lnSpc>
              <a:spcBef>
                <a:spcPct val="20000"/>
              </a:spcBef>
              <a:buFont typeface="Wingdings" pitchFamily="2" charset="2"/>
              <a:buChar char="ü"/>
            </a:pPr>
            <a:r>
              <a:rPr lang="en-US" sz="1600" dirty="0">
                <a:latin typeface="+mn-lt"/>
              </a:rPr>
              <a:t>Amazon S3 storage options with lifecycle policies can reduce costs</a:t>
            </a:r>
          </a:p>
        </p:txBody>
      </p:sp>
      <p:grpSp>
        <p:nvGrpSpPr>
          <p:cNvPr id="2" name="Group 1" descr="Graphic shows the four pillars with pillar 4 highlighted: Optimize storage choices">
            <a:extLst>
              <a:ext uri="{FF2B5EF4-FFF2-40B4-BE49-F238E27FC236}">
                <a16:creationId xmlns:a16="http://schemas.microsoft.com/office/drawing/2014/main" id="{B3EE9E2C-D07B-014D-A1F6-F99D802FED9A}"/>
              </a:ext>
              <a:ext uri="{C183D7F6-B498-43B3-948B-1728B52AA6E4}">
                <adec:decorative xmlns:adec="http://schemas.microsoft.com/office/drawing/2017/decorative" val="0"/>
              </a:ext>
            </a:extLst>
          </p:cNvPr>
          <p:cNvGrpSpPr/>
          <p:nvPr/>
        </p:nvGrpSpPr>
        <p:grpSpPr>
          <a:xfrm>
            <a:off x="55685" y="1775998"/>
            <a:ext cx="3840373" cy="3219514"/>
            <a:chOff x="55685" y="1775998"/>
            <a:chExt cx="3840373" cy="3219514"/>
          </a:xfrm>
        </p:grpSpPr>
        <p:grpSp>
          <p:nvGrpSpPr>
            <p:cNvPr id="21" name="Group 20">
              <a:extLst>
                <a:ext uri="{FF2B5EF4-FFF2-40B4-BE49-F238E27FC236}">
                  <a16:creationId xmlns:a16="http://schemas.microsoft.com/office/drawing/2014/main" id="{37CD8AFA-ED34-7D49-BA22-ADEE3ACAE8B2}"/>
                </a:ext>
              </a:extLst>
            </p:cNvPr>
            <p:cNvGrpSpPr/>
            <p:nvPr/>
          </p:nvGrpSpPr>
          <p:grpSpPr>
            <a:xfrm>
              <a:off x="55685" y="1775998"/>
              <a:ext cx="3840373" cy="2491202"/>
              <a:chOff x="55685" y="1775998"/>
              <a:chExt cx="3840373" cy="2491202"/>
            </a:xfrm>
          </p:grpSpPr>
          <p:sp>
            <p:nvSpPr>
              <p:cNvPr id="22" name="TextBox 21">
                <a:extLst>
                  <a:ext uri="{FF2B5EF4-FFF2-40B4-BE49-F238E27FC236}">
                    <a16:creationId xmlns:a16="http://schemas.microsoft.com/office/drawing/2014/main" id="{A8E9709E-9FC0-6A47-8A74-02CB0A19C0EC}"/>
                  </a:ext>
                </a:extLst>
              </p:cNvPr>
              <p:cNvSpPr txBox="1"/>
              <p:nvPr/>
            </p:nvSpPr>
            <p:spPr>
              <a:xfrm>
                <a:off x="55685" y="2346247"/>
                <a:ext cx="3392275" cy="1323439"/>
              </a:xfrm>
              <a:prstGeom prst="rect">
                <a:avLst/>
              </a:prstGeom>
              <a:noFill/>
            </p:spPr>
            <p:txBody>
              <a:bodyPr wrap="none" rtlCol="0">
                <a:spAutoFit/>
              </a:bodyPr>
              <a:lstStyle/>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1. Right-Size</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2. Increase Elasticity</a:t>
                </a:r>
              </a:p>
              <a:p>
                <a:pPr algn="r"/>
                <a:r>
                  <a:rPr lang="en-US" sz="2000"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rPr>
                  <a:t>3. Optimal pricing model</a:t>
                </a:r>
              </a:p>
              <a:p>
                <a:pPr algn="r"/>
                <a:r>
                  <a:rPr lang="en-US" sz="2000" dirty="0">
                    <a:solidFill>
                      <a:srgbClr val="FF9B29"/>
                    </a:solidFill>
                    <a:latin typeface="Amazon Ember" panose="020B0603020204020204" pitchFamily="34" charset="0"/>
                    <a:ea typeface="Amazon Ember" panose="020B0603020204020204" pitchFamily="34" charset="0"/>
                    <a:cs typeface="Amazon Ember" panose="020B0603020204020204" pitchFamily="34" charset="0"/>
                  </a:rPr>
                  <a:t>4. Optimize storage choices</a:t>
                </a:r>
              </a:p>
            </p:txBody>
          </p:sp>
          <p:cxnSp>
            <p:nvCxnSpPr>
              <p:cNvPr id="23" name="Straight Connector 22">
                <a:extLst>
                  <a:ext uri="{FF2B5EF4-FFF2-40B4-BE49-F238E27FC236}">
                    <a16:creationId xmlns:a16="http://schemas.microsoft.com/office/drawing/2014/main" id="{0260CAB5-8416-CB45-AFB8-B7249A6CDEEC}"/>
                  </a:ext>
                </a:extLst>
              </p:cNvPr>
              <p:cNvCxnSpPr/>
              <p:nvPr/>
            </p:nvCxnSpPr>
            <p:spPr>
              <a:xfrm>
                <a:off x="3506132" y="2133600"/>
                <a:ext cx="0" cy="2133600"/>
              </a:xfrm>
              <a:prstGeom prst="line">
                <a:avLst/>
              </a:prstGeom>
              <a:ln w="381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4" name="Group 23">
                <a:extLst>
                  <a:ext uri="{FF2B5EF4-FFF2-40B4-BE49-F238E27FC236}">
                    <a16:creationId xmlns:a16="http://schemas.microsoft.com/office/drawing/2014/main" id="{C5825ABA-EC55-9946-BBFA-55A4C33F60E9}"/>
                  </a:ext>
                </a:extLst>
              </p:cNvPr>
              <p:cNvGrpSpPr/>
              <p:nvPr/>
            </p:nvGrpSpPr>
            <p:grpSpPr>
              <a:xfrm>
                <a:off x="3299420" y="3149183"/>
                <a:ext cx="596638" cy="646331"/>
                <a:chOff x="2997997" y="3165737"/>
                <a:chExt cx="596638" cy="646331"/>
              </a:xfrm>
            </p:grpSpPr>
            <p:sp>
              <p:nvSpPr>
                <p:cNvPr id="27" name="TextBox 26">
                  <a:extLst>
                    <a:ext uri="{FF2B5EF4-FFF2-40B4-BE49-F238E27FC236}">
                      <a16:creationId xmlns:a16="http://schemas.microsoft.com/office/drawing/2014/main" id="{171C8D45-681F-804C-A5A6-14259C1F3C90}"/>
                    </a:ext>
                  </a:extLst>
                </p:cNvPr>
                <p:cNvSpPr txBox="1"/>
                <p:nvPr/>
              </p:nvSpPr>
              <p:spPr>
                <a:xfrm>
                  <a:off x="2997997" y="3165737"/>
                  <a:ext cx="596638" cy="646331"/>
                </a:xfrm>
                <a:prstGeom prst="rect">
                  <a:avLst/>
                </a:prstGeom>
                <a:noFill/>
              </p:spPr>
              <p:txBody>
                <a:bodyPr wrap="none" rtlCol="0">
                  <a:spAutoFit/>
                </a:bodyPr>
                <a:lstStyle/>
                <a:p>
                  <a:r>
                    <a:rPr lang="en-US" sz="3600" dirty="0">
                      <a:sym typeface="Wingdings 3" panose="05040102010807070707" pitchFamily="18" charset="2"/>
                    </a:rPr>
                    <a:t></a:t>
                  </a:r>
                  <a:endParaRPr lang="en-US" sz="3600" dirty="0"/>
                </a:p>
              </p:txBody>
            </p:sp>
            <p:sp>
              <p:nvSpPr>
                <p:cNvPr id="28" name="TextBox 27">
                  <a:extLst>
                    <a:ext uri="{FF2B5EF4-FFF2-40B4-BE49-F238E27FC236}">
                      <a16:creationId xmlns:a16="http://schemas.microsoft.com/office/drawing/2014/main" id="{FFFBB5B6-2144-5640-9EB0-07C0537B1A46}"/>
                    </a:ext>
                  </a:extLst>
                </p:cNvPr>
                <p:cNvSpPr txBox="1"/>
                <p:nvPr/>
              </p:nvSpPr>
              <p:spPr>
                <a:xfrm>
                  <a:off x="3016763" y="3224565"/>
                  <a:ext cx="505267" cy="523220"/>
                </a:xfrm>
                <a:prstGeom prst="rect">
                  <a:avLst/>
                </a:prstGeom>
                <a:noFill/>
              </p:spPr>
              <p:txBody>
                <a:bodyPr wrap="none" rtlCol="0">
                  <a:spAutoFit/>
                </a:bodyPr>
                <a:lstStyle/>
                <a:p>
                  <a:r>
                    <a:rPr lang="en-US" sz="2800" dirty="0">
                      <a:solidFill>
                        <a:srgbClr val="E97D11"/>
                      </a:solidFill>
                      <a:sym typeface="Wingdings 3" panose="05040102010807070707" pitchFamily="18" charset="2"/>
                    </a:rPr>
                    <a:t></a:t>
                  </a:r>
                  <a:endParaRPr lang="en-US" sz="2800" dirty="0">
                    <a:solidFill>
                      <a:srgbClr val="E97D11"/>
                    </a:solidFill>
                  </a:endParaRPr>
                </a:p>
              </p:txBody>
            </p:sp>
          </p:grpSp>
          <p:sp>
            <p:nvSpPr>
              <p:cNvPr id="26" name="TextBox 25">
                <a:extLst>
                  <a:ext uri="{FF2B5EF4-FFF2-40B4-BE49-F238E27FC236}">
                    <a16:creationId xmlns:a16="http://schemas.microsoft.com/office/drawing/2014/main" id="{B8546191-840E-324C-A44A-60161516B0E2}"/>
                  </a:ext>
                </a:extLst>
              </p:cNvPr>
              <p:cNvSpPr txBox="1"/>
              <p:nvPr/>
            </p:nvSpPr>
            <p:spPr>
              <a:xfrm>
                <a:off x="975607" y="1775998"/>
                <a:ext cx="1351652" cy="523220"/>
              </a:xfrm>
              <a:prstGeom prst="rect">
                <a:avLst/>
              </a:prstGeom>
              <a:noFill/>
            </p:spPr>
            <p:txBody>
              <a:bodyPr wrap="none" rtlCol="0">
                <a:spAutoFit/>
              </a:bodyPr>
              <a:lstStyle/>
              <a:p>
                <a:r>
                  <a:rPr lang="en-US" sz="2800" b="1" dirty="0">
                    <a:latin typeface="Amazon Ember" panose="020B0603020204020204" pitchFamily="34" charset="0"/>
                    <a:ea typeface="Amazon Ember" panose="020B0603020204020204" pitchFamily="34" charset="0"/>
                    <a:cs typeface="Amazon Ember" panose="020B0603020204020204" pitchFamily="34" charset="0"/>
                  </a:rPr>
                  <a:t>Pillars:</a:t>
                </a:r>
              </a:p>
            </p:txBody>
          </p:sp>
        </p:grpSp>
        <p:pic>
          <p:nvPicPr>
            <p:cNvPr id="16" name="Picture 15">
              <a:extLst>
                <a:ext uri="{FF2B5EF4-FFF2-40B4-BE49-F238E27FC236}">
                  <a16:creationId xmlns:a16="http://schemas.microsoft.com/office/drawing/2014/main" id="{F33EDD80-5DC8-1D42-B3B0-6A80B7D0BABF}"/>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4523" y="3781223"/>
              <a:ext cx="1214289" cy="1214289"/>
            </a:xfrm>
            <a:prstGeom prst="rect">
              <a:avLst/>
            </a:prstGeom>
          </p:spPr>
        </p:pic>
      </p:grpSp>
    </p:spTree>
    <p:custDataLst>
      <p:tags r:id="rId1"/>
    </p:custDataLst>
    <p:extLst>
      <p:ext uri="{BB962C8B-B14F-4D97-AF65-F5344CB8AC3E}">
        <p14:creationId xmlns:p14="http://schemas.microsoft.com/office/powerpoint/2010/main" val="4144242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D5581F-2D3F-9247-8FFD-94A14B2EC33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43</a:t>
            </a:fld>
            <a:endParaRPr lang="en-US" dirty="0"/>
          </a:p>
        </p:txBody>
      </p:sp>
      <p:sp>
        <p:nvSpPr>
          <p:cNvPr id="8" name="Title 7">
            <a:extLst>
              <a:ext uri="{FF2B5EF4-FFF2-40B4-BE49-F238E27FC236}">
                <a16:creationId xmlns:a16="http://schemas.microsoft.com/office/drawing/2014/main" id="{2D331CF5-82F8-B34B-89E2-C428A018B746}"/>
              </a:ext>
            </a:extLst>
          </p:cNvPr>
          <p:cNvSpPr>
            <a:spLocks noGrp="1"/>
          </p:cNvSpPr>
          <p:nvPr>
            <p:ph type="title"/>
          </p:nvPr>
        </p:nvSpPr>
        <p:spPr/>
        <p:txBody>
          <a:bodyPr/>
          <a:lstStyle/>
          <a:p>
            <a:r>
              <a:rPr lang="en-US" dirty="0"/>
              <a:t>Measure, monitor, and improve</a:t>
            </a:r>
          </a:p>
        </p:txBody>
      </p:sp>
      <p:sp>
        <p:nvSpPr>
          <p:cNvPr id="9" name="Content Placeholder 8">
            <a:extLst>
              <a:ext uri="{FF2B5EF4-FFF2-40B4-BE49-F238E27FC236}">
                <a16:creationId xmlns:a16="http://schemas.microsoft.com/office/drawing/2014/main" id="{B51E73EE-EDC9-764B-A48E-4B5FC2754EBC}"/>
              </a:ext>
            </a:extLst>
          </p:cNvPr>
          <p:cNvSpPr>
            <a:spLocks noGrp="1"/>
          </p:cNvSpPr>
          <p:nvPr>
            <p:ph sz="quarter" idx="21"/>
          </p:nvPr>
        </p:nvSpPr>
        <p:spPr>
          <a:xfrm>
            <a:off x="365760" y="1143000"/>
            <a:ext cx="9063990" cy="5291750"/>
          </a:xfrm>
        </p:spPr>
        <p:txBody>
          <a:bodyPr/>
          <a:lstStyle/>
          <a:p>
            <a:r>
              <a:rPr lang="en-US" sz="3200" dirty="0"/>
              <a:t>Cost optimization is an ongoing process.</a:t>
            </a:r>
          </a:p>
          <a:p>
            <a:pPr marL="227012" lvl="1" indent="0">
              <a:buNone/>
            </a:pPr>
            <a:endParaRPr lang="en-US" sz="2800" dirty="0"/>
          </a:p>
          <a:p>
            <a:r>
              <a:rPr lang="en-US" sz="3200" dirty="0"/>
              <a:t>Recommendations – </a:t>
            </a:r>
            <a:endParaRPr lang="en-US" dirty="0"/>
          </a:p>
          <a:p>
            <a:pPr lvl="1">
              <a:lnSpc>
                <a:spcPct val="150000"/>
              </a:lnSpc>
            </a:pPr>
            <a:r>
              <a:rPr lang="en-US" dirty="0"/>
              <a:t>Define and enforce </a:t>
            </a:r>
            <a:r>
              <a:rPr lang="en-US" b="1" dirty="0">
                <a:solidFill>
                  <a:srgbClr val="504BAB"/>
                </a:solidFill>
              </a:rPr>
              <a:t>cost allocation tagging</a:t>
            </a:r>
            <a:r>
              <a:rPr lang="en-US" dirty="0"/>
              <a:t>.</a:t>
            </a:r>
          </a:p>
          <a:p>
            <a:pPr lvl="1">
              <a:lnSpc>
                <a:spcPct val="150000"/>
              </a:lnSpc>
            </a:pPr>
            <a:r>
              <a:rPr lang="en-US" dirty="0"/>
              <a:t>Define metrics, set targets, and review regularly.</a:t>
            </a:r>
          </a:p>
          <a:p>
            <a:pPr lvl="1">
              <a:lnSpc>
                <a:spcPct val="150000"/>
              </a:lnSpc>
            </a:pPr>
            <a:r>
              <a:rPr lang="en-US" dirty="0"/>
              <a:t>Encourage teams to </a:t>
            </a:r>
            <a:r>
              <a:rPr lang="en-US" b="1" dirty="0">
                <a:solidFill>
                  <a:srgbClr val="504BAB"/>
                </a:solidFill>
              </a:rPr>
              <a:t>architect for cost</a:t>
            </a:r>
            <a:r>
              <a:rPr lang="en-US" dirty="0"/>
              <a:t>.</a:t>
            </a:r>
          </a:p>
          <a:p>
            <a:pPr lvl="1">
              <a:lnSpc>
                <a:spcPct val="150000"/>
              </a:lnSpc>
            </a:pPr>
            <a:r>
              <a:rPr lang="en-US" dirty="0"/>
              <a:t>Assign the responsibility of optimization to an individual or to a team.</a:t>
            </a:r>
          </a:p>
        </p:txBody>
      </p:sp>
      <p:pic>
        <p:nvPicPr>
          <p:cNvPr id="6" name="Graphic 5">
            <a:extLst>
              <a:ext uri="{FF2B5EF4-FFF2-40B4-BE49-F238E27FC236}">
                <a16:creationId xmlns:a16="http://schemas.microsoft.com/office/drawing/2014/main" id="{C183439E-E888-A44C-9408-3585D291397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1300" y="4895057"/>
            <a:ext cx="914400" cy="914400"/>
          </a:xfrm>
          <a:prstGeom prst="rect">
            <a:avLst/>
          </a:prstGeom>
        </p:spPr>
      </p:pic>
      <p:pic>
        <p:nvPicPr>
          <p:cNvPr id="11" name="Graphic 10">
            <a:extLst>
              <a:ext uri="{FF2B5EF4-FFF2-40B4-BE49-F238E27FC236}">
                <a16:creationId xmlns:a16="http://schemas.microsoft.com/office/drawing/2014/main" id="{4D628F29-173C-994C-AC74-C13B96130EAC}"/>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01300" y="2971800"/>
            <a:ext cx="914400" cy="914400"/>
          </a:xfrm>
          <a:prstGeom prst="rect">
            <a:avLst/>
          </a:prstGeom>
        </p:spPr>
      </p:pic>
      <p:pic>
        <p:nvPicPr>
          <p:cNvPr id="13" name="Graphic 12">
            <a:extLst>
              <a:ext uri="{FF2B5EF4-FFF2-40B4-BE49-F238E27FC236}">
                <a16:creationId xmlns:a16="http://schemas.microsoft.com/office/drawing/2014/main" id="{6D8F0647-90FE-944E-ACC8-D11EA24C0767}"/>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705092" y="3801270"/>
            <a:ext cx="914400" cy="914400"/>
          </a:xfrm>
          <a:prstGeom prst="rect">
            <a:avLst/>
          </a:prstGeom>
        </p:spPr>
      </p:pic>
      <p:pic>
        <p:nvPicPr>
          <p:cNvPr id="17" name="Graphic 16">
            <a:extLst>
              <a:ext uri="{FF2B5EF4-FFF2-40B4-BE49-F238E27FC236}">
                <a16:creationId xmlns:a16="http://schemas.microsoft.com/office/drawing/2014/main" id="{63813077-7AD0-2F4A-BF14-B95E1AF535BC}"/>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162292" y="1425577"/>
            <a:ext cx="914400" cy="914400"/>
          </a:xfrm>
          <a:prstGeom prst="rect">
            <a:avLst/>
          </a:prstGeom>
        </p:spPr>
      </p:pic>
    </p:spTree>
    <p:custDataLst>
      <p:tags r:id="rId1"/>
    </p:custDataLst>
    <p:extLst>
      <p:ext uri="{BB962C8B-B14F-4D97-AF65-F5344CB8AC3E}">
        <p14:creationId xmlns:p14="http://schemas.microsoft.com/office/powerpoint/2010/main" val="1867642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44</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dirty="0"/>
              <a:t>Section 3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000" b="1" dirty="0">
                <a:solidFill>
                  <a:srgbClr val="504BAB"/>
                </a:solidFill>
              </a:rPr>
              <a:t>Amazon EC2 pricing models </a:t>
            </a:r>
            <a:r>
              <a:rPr lang="en-US" sz="2000" dirty="0"/>
              <a:t>include On-Demand Instances, Reserved Instances, Spot Instances, Dedicated Instances, and Dedicated Hosts.</a:t>
            </a:r>
          </a:p>
          <a:p>
            <a:pPr marL="233363" lvl="1" indent="0">
              <a:buNone/>
            </a:pPr>
            <a:endParaRPr lang="en-US" sz="1600" dirty="0"/>
          </a:p>
          <a:p>
            <a:r>
              <a:rPr lang="en-US" sz="2000" b="1" dirty="0">
                <a:solidFill>
                  <a:srgbClr val="504BAB"/>
                </a:solidFill>
              </a:rPr>
              <a:t>Spot Instances </a:t>
            </a:r>
            <a:r>
              <a:rPr lang="en-US" sz="2000" dirty="0"/>
              <a:t>can be interrupted with a 2-minute notification. However, they can offer significant cost savings over On-Demand Instances.</a:t>
            </a:r>
          </a:p>
          <a:p>
            <a:pPr marL="233363" lvl="1" indent="0">
              <a:buNone/>
            </a:pPr>
            <a:endParaRPr lang="en-US" sz="1600" dirty="0"/>
          </a:p>
          <a:p>
            <a:r>
              <a:rPr lang="en-US" sz="2000" dirty="0"/>
              <a:t>The </a:t>
            </a:r>
            <a:r>
              <a:rPr lang="en-US" sz="2000" b="1" dirty="0">
                <a:solidFill>
                  <a:srgbClr val="504BAB"/>
                </a:solidFill>
              </a:rPr>
              <a:t>four pillars of cost optimization</a:t>
            </a:r>
            <a:r>
              <a:rPr lang="en-US" sz="2000" dirty="0">
                <a:solidFill>
                  <a:srgbClr val="504BAB"/>
                </a:solidFill>
              </a:rPr>
              <a:t> </a:t>
            </a:r>
            <a:r>
              <a:rPr lang="en-US" sz="2000" dirty="0"/>
              <a:t>are:</a:t>
            </a:r>
          </a:p>
          <a:p>
            <a:pPr lvl="1"/>
            <a:r>
              <a:rPr lang="en-US" sz="1800" dirty="0"/>
              <a:t>Right size</a:t>
            </a:r>
          </a:p>
          <a:p>
            <a:pPr lvl="1"/>
            <a:r>
              <a:rPr lang="en-US" sz="1800" dirty="0"/>
              <a:t>Increase elasticity</a:t>
            </a:r>
          </a:p>
          <a:p>
            <a:pPr lvl="1"/>
            <a:r>
              <a:rPr lang="en-US" sz="1800" dirty="0"/>
              <a:t>Optimal pricing model</a:t>
            </a:r>
          </a:p>
          <a:p>
            <a:pPr lvl="1"/>
            <a:r>
              <a:rPr lang="en-US" sz="1800" dirty="0"/>
              <a:t>Optimize storage choices</a:t>
            </a:r>
            <a:endParaRPr lang="en-US" sz="2400" dirty="0"/>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4721813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00DA2-703B-E14E-90C6-27DF7912CC31}"/>
              </a:ext>
            </a:extLst>
          </p:cNvPr>
          <p:cNvSpPr>
            <a:spLocks noGrp="1"/>
          </p:cNvSpPr>
          <p:nvPr>
            <p:ph type="title"/>
          </p:nvPr>
        </p:nvSpPr>
        <p:spPr/>
        <p:txBody>
          <a:bodyPr/>
          <a:lstStyle/>
          <a:p>
            <a:r>
              <a:rPr lang="en-US" sz="4000" dirty="0"/>
              <a:t>Section 4: Container services</a:t>
            </a:r>
          </a:p>
        </p:txBody>
      </p:sp>
      <p:sp>
        <p:nvSpPr>
          <p:cNvPr id="3" name="Text Placeholder 2">
            <a:extLst>
              <a:ext uri="{FF2B5EF4-FFF2-40B4-BE49-F238E27FC236}">
                <a16:creationId xmlns:a16="http://schemas.microsoft.com/office/drawing/2014/main" id="{4E10EDDC-F3E9-E34B-93D3-2FC9C08EBE93}"/>
              </a:ext>
            </a:extLst>
          </p:cNvPr>
          <p:cNvSpPr>
            <a:spLocks noGrp="1"/>
          </p:cNvSpPr>
          <p:nvPr>
            <p:ph type="subTitle" idx="1"/>
          </p:nvPr>
        </p:nvSpPr>
        <p:spPr/>
        <p:txBody>
          <a:bodyPr/>
          <a:lstStyle/>
          <a:p>
            <a:r>
              <a:rPr lang="en-US" dirty="0"/>
              <a:t>Module 6: Compute</a:t>
            </a:r>
          </a:p>
          <a:p>
            <a:endParaRPr lang="en-US" dirty="0"/>
          </a:p>
        </p:txBody>
      </p:sp>
    </p:spTree>
    <p:custDataLst>
      <p:tags r:id="rId1"/>
    </p:custDataLst>
    <p:extLst>
      <p:ext uri="{BB962C8B-B14F-4D97-AF65-F5344CB8AC3E}">
        <p14:creationId xmlns:p14="http://schemas.microsoft.com/office/powerpoint/2010/main" val="36139066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4E9E7A-A8DC-7D00-357D-F48FD4002ACB}"/>
              </a:ext>
            </a:extLst>
          </p:cNvPr>
          <p:cNvSpPr>
            <a:spLocks noGrp="1"/>
          </p:cNvSpPr>
          <p:nvPr>
            <p:ph type="sldNum" sz="quarter" idx="20"/>
          </p:nvPr>
        </p:nvSpPr>
        <p:spPr/>
        <p:txBody>
          <a:bodyPr/>
          <a:lstStyle/>
          <a:p>
            <a:fld id="{930176A1-BCF0-4712-97A6-6B495F55390B}" type="slidenum">
              <a:rPr lang="en-US" smtClean="0"/>
              <a:pPr/>
              <a:t>46</a:t>
            </a:fld>
            <a:endParaRPr lang="en-US"/>
          </a:p>
        </p:txBody>
      </p:sp>
      <p:sp>
        <p:nvSpPr>
          <p:cNvPr id="3" name="Title 2">
            <a:extLst>
              <a:ext uri="{FF2B5EF4-FFF2-40B4-BE49-F238E27FC236}">
                <a16:creationId xmlns:a16="http://schemas.microsoft.com/office/drawing/2014/main" id="{43365D48-354F-2356-ECDA-FC3CA918BB15}"/>
              </a:ext>
            </a:extLst>
          </p:cNvPr>
          <p:cNvSpPr>
            <a:spLocks noGrp="1"/>
          </p:cNvSpPr>
          <p:nvPr>
            <p:ph type="title"/>
          </p:nvPr>
        </p:nvSpPr>
        <p:spPr/>
        <p:txBody>
          <a:bodyPr/>
          <a:lstStyle/>
          <a:p>
            <a:r>
              <a:rPr lang="en-US" dirty="0"/>
              <a:t>Servers vs. Containers</a:t>
            </a:r>
          </a:p>
        </p:txBody>
      </p:sp>
      <p:pic>
        <p:nvPicPr>
          <p:cNvPr id="6" name="Content Placeholder 5" descr="A house on a green field&#10;&#10;AI-generated content may be incorrect.">
            <a:extLst>
              <a:ext uri="{FF2B5EF4-FFF2-40B4-BE49-F238E27FC236}">
                <a16:creationId xmlns:a16="http://schemas.microsoft.com/office/drawing/2014/main" id="{7D021D93-ECC9-8F47-BDE5-8CF7E145F64D}"/>
              </a:ext>
            </a:extLst>
          </p:cNvPr>
          <p:cNvPicPr>
            <a:picLocks noGrp="1" noChangeAspect="1"/>
          </p:cNvPicPr>
          <p:nvPr>
            <p:ph sz="quarter" idx="21"/>
          </p:nvPr>
        </p:nvPicPr>
        <p:blipFill>
          <a:blip r:embed="rId2">
            <a:extLst>
              <a:ext uri="{28A0092B-C50C-407E-A947-70E740481C1C}">
                <a14:useLocalDpi xmlns:a14="http://schemas.microsoft.com/office/drawing/2010/main" val="0"/>
              </a:ext>
            </a:extLst>
          </a:blip>
          <a:stretch>
            <a:fillRect/>
          </a:stretch>
        </p:blipFill>
        <p:spPr>
          <a:xfrm>
            <a:off x="376270" y="1588376"/>
            <a:ext cx="4908330" cy="3681248"/>
          </a:xfrm>
          <a:prstGeom prst="rect">
            <a:avLst/>
          </a:prstGeom>
          <a:ln w="28575">
            <a:solidFill>
              <a:schemeClr val="accent1"/>
            </a:solidFill>
          </a:ln>
        </p:spPr>
      </p:pic>
      <p:pic>
        <p:nvPicPr>
          <p:cNvPr id="8" name="Picture 7" descr="A building with fire escape&#10;&#10;AI-generated content may be incorrect.">
            <a:extLst>
              <a:ext uri="{FF2B5EF4-FFF2-40B4-BE49-F238E27FC236}">
                <a16:creationId xmlns:a16="http://schemas.microsoft.com/office/drawing/2014/main" id="{F1DCA829-4980-7EC3-61E3-7D9959B81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8527" y="2301765"/>
            <a:ext cx="6132992" cy="4088661"/>
          </a:xfrm>
          <a:prstGeom prst="rect">
            <a:avLst/>
          </a:prstGeom>
          <a:ln w="28575">
            <a:solidFill>
              <a:schemeClr val="accent1"/>
            </a:solidFill>
          </a:ln>
        </p:spPr>
      </p:pic>
    </p:spTree>
    <p:extLst>
      <p:ext uri="{BB962C8B-B14F-4D97-AF65-F5344CB8AC3E}">
        <p14:creationId xmlns:p14="http://schemas.microsoft.com/office/powerpoint/2010/main" val="107445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01834180-F618-ED4E-BBE5-8A57D0AD8F52}"/>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47</a:t>
            </a:fld>
            <a:endParaRPr lang="en-US" dirty="0"/>
          </a:p>
        </p:txBody>
      </p:sp>
      <p:sp>
        <p:nvSpPr>
          <p:cNvPr id="2" name="Title 1">
            <a:extLst>
              <a:ext uri="{FF2B5EF4-FFF2-40B4-BE49-F238E27FC236}">
                <a16:creationId xmlns:a16="http://schemas.microsoft.com/office/drawing/2014/main" id="{2D58A6BB-4417-ED43-AF04-90BB79A1C81C}"/>
              </a:ext>
            </a:extLst>
          </p:cNvPr>
          <p:cNvSpPr>
            <a:spLocks noGrp="1"/>
          </p:cNvSpPr>
          <p:nvPr>
            <p:ph type="title"/>
          </p:nvPr>
        </p:nvSpPr>
        <p:spPr/>
        <p:txBody>
          <a:bodyPr/>
          <a:lstStyle/>
          <a:p>
            <a:r>
              <a:rPr lang="en-US" dirty="0"/>
              <a:t>Container basics</a:t>
            </a:r>
          </a:p>
        </p:txBody>
      </p:sp>
      <p:sp>
        <p:nvSpPr>
          <p:cNvPr id="3" name="Content Placeholder 2">
            <a:extLst>
              <a:ext uri="{FF2B5EF4-FFF2-40B4-BE49-F238E27FC236}">
                <a16:creationId xmlns:a16="http://schemas.microsoft.com/office/drawing/2014/main" id="{285CE2C5-E15C-0047-AB42-1A82EBF78137}"/>
              </a:ext>
            </a:extLst>
          </p:cNvPr>
          <p:cNvSpPr>
            <a:spLocks noGrp="1"/>
          </p:cNvSpPr>
          <p:nvPr>
            <p:ph sz="quarter" idx="21"/>
          </p:nvPr>
        </p:nvSpPr>
        <p:spPr>
          <a:xfrm>
            <a:off x="365760" y="1143000"/>
            <a:ext cx="6377940" cy="5291750"/>
          </a:xfrm>
        </p:spPr>
        <p:txBody>
          <a:bodyPr>
            <a:normAutofit/>
          </a:bodyPr>
          <a:lstStyle/>
          <a:p>
            <a:r>
              <a:rPr lang="en-US" sz="3200" b="1" dirty="0">
                <a:solidFill>
                  <a:srgbClr val="504BAB"/>
                </a:solidFill>
                <a:latin typeface="+mn-lt"/>
              </a:rPr>
              <a:t>Containers</a:t>
            </a:r>
            <a:r>
              <a:rPr lang="en-US" sz="3200" dirty="0">
                <a:latin typeface="+mn-lt"/>
              </a:rPr>
              <a:t> are a method of </a:t>
            </a:r>
            <a:r>
              <a:rPr lang="en-US" sz="3200" dirty="0">
                <a:solidFill>
                  <a:schemeClr val="accent6"/>
                </a:solidFill>
                <a:latin typeface="+mn-lt"/>
              </a:rPr>
              <a:t>operating system virtualization.</a:t>
            </a:r>
          </a:p>
          <a:p>
            <a:pPr marL="227012" lvl="1" indent="0">
              <a:buNone/>
            </a:pPr>
            <a:endParaRPr lang="en-US" sz="1600" dirty="0">
              <a:solidFill>
                <a:schemeClr val="accent6"/>
              </a:solidFill>
              <a:latin typeface="Calibri" panose="020F0502020204030204" pitchFamily="34" charset="0"/>
            </a:endParaRPr>
          </a:p>
          <a:p>
            <a:r>
              <a:rPr lang="en-US" sz="3200" dirty="0">
                <a:latin typeface="+mn-lt"/>
              </a:rPr>
              <a:t>Benefits – </a:t>
            </a:r>
          </a:p>
          <a:p>
            <a:pPr lvl="1"/>
            <a:r>
              <a:rPr lang="en-US" dirty="0">
                <a:latin typeface="+mn-lt"/>
              </a:rPr>
              <a:t>Repeatable.</a:t>
            </a:r>
          </a:p>
          <a:p>
            <a:pPr lvl="1"/>
            <a:r>
              <a:rPr lang="en-US" dirty="0">
                <a:latin typeface="+mn-lt"/>
              </a:rPr>
              <a:t>Self-contained environments.</a:t>
            </a:r>
          </a:p>
          <a:p>
            <a:pPr lvl="1"/>
            <a:r>
              <a:rPr lang="en-US" dirty="0">
                <a:latin typeface="+mn-lt"/>
              </a:rPr>
              <a:t>Software runs the same in different environments.</a:t>
            </a:r>
            <a:endParaRPr lang="en-US" dirty="0">
              <a:latin typeface="+mn-lt"/>
              <a:sym typeface="Wingdings" pitchFamily="2" charset="2"/>
            </a:endParaRPr>
          </a:p>
          <a:p>
            <a:pPr lvl="2"/>
            <a:r>
              <a:rPr lang="en-US" dirty="0">
                <a:latin typeface="+mn-lt"/>
                <a:sym typeface="Wingdings" pitchFamily="2" charset="2"/>
              </a:rPr>
              <a:t>Developer's laptop, test, production.</a:t>
            </a:r>
            <a:endParaRPr lang="en-US" dirty="0">
              <a:latin typeface="+mn-lt"/>
            </a:endParaRPr>
          </a:p>
          <a:p>
            <a:pPr lvl="1"/>
            <a:r>
              <a:rPr lang="en-US" dirty="0">
                <a:latin typeface="+mn-lt"/>
              </a:rPr>
              <a:t>Faster to launch and stop or terminate than virtual machines</a:t>
            </a:r>
            <a:endParaRPr lang="en-US" sz="2800" dirty="0">
              <a:latin typeface="+mn-lt"/>
            </a:endParaRPr>
          </a:p>
        </p:txBody>
      </p:sp>
      <p:grpSp>
        <p:nvGrpSpPr>
          <p:cNvPr id="41" name="Group 40" descr="Box labeled &quot;your container&quot; that contains &quot;your application&quot; with three items: dependencies, configurations, and &quot;hooks into the OS.&quot;">
            <a:extLst>
              <a:ext uri="{FF2B5EF4-FFF2-40B4-BE49-F238E27FC236}">
                <a16:creationId xmlns:a16="http://schemas.microsoft.com/office/drawing/2014/main" id="{1549DF6E-4BCA-464A-8D2C-3AEE49094965}"/>
              </a:ext>
              <a:ext uri="{C183D7F6-B498-43B3-948B-1728B52AA6E4}">
                <adec:decorative xmlns:adec="http://schemas.microsoft.com/office/drawing/2017/decorative" val="0"/>
              </a:ext>
            </a:extLst>
          </p:cNvPr>
          <p:cNvGrpSpPr/>
          <p:nvPr/>
        </p:nvGrpSpPr>
        <p:grpSpPr>
          <a:xfrm>
            <a:off x="7478955" y="1821262"/>
            <a:ext cx="2758190" cy="4062614"/>
            <a:chOff x="1735594" y="1765760"/>
            <a:chExt cx="2758190" cy="4062614"/>
          </a:xfrm>
          <a:solidFill>
            <a:srgbClr val="7CD1EA"/>
          </a:solidFill>
        </p:grpSpPr>
        <p:grpSp>
          <p:nvGrpSpPr>
            <p:cNvPr id="17" name="Group 16">
              <a:extLst>
                <a:ext uri="{FF2B5EF4-FFF2-40B4-BE49-F238E27FC236}">
                  <a16:creationId xmlns:a16="http://schemas.microsoft.com/office/drawing/2014/main" id="{E22B5105-B1EA-A046-A5AC-D17070FF0080}"/>
                </a:ext>
              </a:extLst>
            </p:cNvPr>
            <p:cNvGrpSpPr/>
            <p:nvPr/>
          </p:nvGrpSpPr>
          <p:grpSpPr>
            <a:xfrm>
              <a:off x="1735594" y="2557789"/>
              <a:ext cx="2758190" cy="3270585"/>
              <a:chOff x="4365746" y="1793290"/>
              <a:chExt cx="2758190" cy="3270585"/>
            </a:xfrm>
            <a:grpFill/>
          </p:grpSpPr>
          <p:sp>
            <p:nvSpPr>
              <p:cNvPr id="5" name="Rectangle 4">
                <a:extLst>
                  <a:ext uri="{FF2B5EF4-FFF2-40B4-BE49-F238E27FC236}">
                    <a16:creationId xmlns:a16="http://schemas.microsoft.com/office/drawing/2014/main" id="{F119C94F-CCCE-7A4E-A494-BC7D01619FFF}"/>
                  </a:ext>
                </a:extLst>
              </p:cNvPr>
              <p:cNvSpPr/>
              <p:nvPr/>
            </p:nvSpPr>
            <p:spPr>
              <a:xfrm>
                <a:off x="4365746" y="1793290"/>
                <a:ext cx="2758190" cy="3270585"/>
              </a:xfrm>
              <a:prstGeom prst="rect">
                <a:avLst/>
              </a:prstGeom>
              <a:grp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3E679110-C668-AA40-8F02-A8B72711A3F0}"/>
                  </a:ext>
                </a:extLst>
              </p:cNvPr>
              <p:cNvSpPr txBox="1"/>
              <p:nvPr/>
            </p:nvSpPr>
            <p:spPr>
              <a:xfrm>
                <a:off x="4392490" y="1903395"/>
                <a:ext cx="2727837" cy="400110"/>
              </a:xfrm>
              <a:prstGeom prst="rect">
                <a:avLst/>
              </a:prstGeom>
              <a:grpFill/>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Your application</a:t>
                </a:r>
              </a:p>
            </p:txBody>
          </p:sp>
          <p:sp>
            <p:nvSpPr>
              <p:cNvPr id="7" name="TextBox 6">
                <a:extLst>
                  <a:ext uri="{FF2B5EF4-FFF2-40B4-BE49-F238E27FC236}">
                    <a16:creationId xmlns:a16="http://schemas.microsoft.com/office/drawing/2014/main" id="{5623975A-CE68-E342-ADC3-732FFF5C5BDA}"/>
                  </a:ext>
                </a:extLst>
              </p:cNvPr>
              <p:cNvSpPr txBox="1"/>
              <p:nvPr/>
            </p:nvSpPr>
            <p:spPr>
              <a:xfrm>
                <a:off x="5366760" y="2799077"/>
                <a:ext cx="1639742" cy="369332"/>
              </a:xfrm>
              <a:prstGeom prst="rect">
                <a:avLst/>
              </a:prstGeom>
              <a:grpFill/>
            </p:spPr>
            <p:txBody>
              <a:bodyPr wrap="squar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Dependencies</a:t>
                </a:r>
              </a:p>
            </p:txBody>
          </p:sp>
          <p:sp>
            <p:nvSpPr>
              <p:cNvPr id="9" name="TextBox 8">
                <a:extLst>
                  <a:ext uri="{FF2B5EF4-FFF2-40B4-BE49-F238E27FC236}">
                    <a16:creationId xmlns:a16="http://schemas.microsoft.com/office/drawing/2014/main" id="{03E0855B-FEA3-F64D-94B2-7A39EB9227B4}"/>
                  </a:ext>
                </a:extLst>
              </p:cNvPr>
              <p:cNvSpPr txBox="1"/>
              <p:nvPr/>
            </p:nvSpPr>
            <p:spPr>
              <a:xfrm>
                <a:off x="5366759" y="3588405"/>
                <a:ext cx="1753569" cy="369332"/>
              </a:xfrm>
              <a:prstGeom prst="rect">
                <a:avLst/>
              </a:prstGeom>
              <a:grpFill/>
            </p:spPr>
            <p:txBody>
              <a:bodyPr wrap="squar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Configurations</a:t>
                </a:r>
              </a:p>
            </p:txBody>
          </p:sp>
          <p:sp>
            <p:nvSpPr>
              <p:cNvPr id="10" name="TextBox 9">
                <a:extLst>
                  <a:ext uri="{FF2B5EF4-FFF2-40B4-BE49-F238E27FC236}">
                    <a16:creationId xmlns:a16="http://schemas.microsoft.com/office/drawing/2014/main" id="{9A4E2A04-627E-B041-8F54-B6E36AA50A95}"/>
                  </a:ext>
                </a:extLst>
              </p:cNvPr>
              <p:cNvSpPr txBox="1"/>
              <p:nvPr/>
            </p:nvSpPr>
            <p:spPr>
              <a:xfrm>
                <a:off x="5366759" y="4374053"/>
                <a:ext cx="1753569" cy="369332"/>
              </a:xfrm>
              <a:prstGeom prst="rect">
                <a:avLst/>
              </a:prstGeom>
              <a:grpFill/>
            </p:spPr>
            <p:txBody>
              <a:bodyPr wrap="square" rtlCol="0">
                <a:spAutoFit/>
              </a:bodyPr>
              <a:lstStyle/>
              <a:p>
                <a:r>
                  <a:rPr lang="en-US" dirty="0">
                    <a:latin typeface="Amazon Ember" panose="020B0603020204020204" pitchFamily="34" charset="0"/>
                    <a:ea typeface="Amazon Ember" panose="020B0603020204020204" pitchFamily="34" charset="0"/>
                    <a:cs typeface="Amazon Ember" panose="020B0603020204020204" pitchFamily="34" charset="0"/>
                  </a:rPr>
                  <a:t>Hooks into OS</a:t>
                </a:r>
              </a:p>
            </p:txBody>
          </p:sp>
          <p:pic>
            <p:nvPicPr>
              <p:cNvPr id="12" name="Picture 11">
                <a:extLst>
                  <a:ext uri="{FF2B5EF4-FFF2-40B4-BE49-F238E27FC236}">
                    <a16:creationId xmlns:a16="http://schemas.microsoft.com/office/drawing/2014/main" id="{9639BAAE-0A49-3742-940E-9F6ABB02A3F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503992" y="2549901"/>
                <a:ext cx="862767" cy="862767"/>
              </a:xfrm>
              <a:prstGeom prst="rect">
                <a:avLst/>
              </a:prstGeom>
              <a:grpFill/>
            </p:spPr>
          </p:pic>
          <p:pic>
            <p:nvPicPr>
              <p:cNvPr id="14" name="Picture 13">
                <a:extLst>
                  <a:ext uri="{FF2B5EF4-FFF2-40B4-BE49-F238E27FC236}">
                    <a16:creationId xmlns:a16="http://schemas.microsoft.com/office/drawing/2014/main" id="{97575240-0E79-C94B-972F-1A9BF71E68D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567060" y="4190406"/>
                <a:ext cx="736627" cy="736627"/>
              </a:xfrm>
              <a:prstGeom prst="rect">
                <a:avLst/>
              </a:prstGeom>
              <a:grpFill/>
            </p:spPr>
          </p:pic>
          <p:pic>
            <p:nvPicPr>
              <p:cNvPr id="16" name="Picture 15">
                <a:extLst>
                  <a:ext uri="{FF2B5EF4-FFF2-40B4-BE49-F238E27FC236}">
                    <a16:creationId xmlns:a16="http://schemas.microsoft.com/office/drawing/2014/main" id="{528999A6-C588-624B-8E27-D3D432A3DC61}"/>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3736" y="3471433"/>
                <a:ext cx="603277" cy="603277"/>
              </a:xfrm>
              <a:prstGeom prst="rect">
                <a:avLst/>
              </a:prstGeom>
              <a:grpFill/>
            </p:spPr>
          </p:pic>
        </p:grpSp>
        <p:sp>
          <p:nvSpPr>
            <p:cNvPr id="18" name="Rectangle 17">
              <a:extLst>
                <a:ext uri="{FF2B5EF4-FFF2-40B4-BE49-F238E27FC236}">
                  <a16:creationId xmlns:a16="http://schemas.microsoft.com/office/drawing/2014/main" id="{1FD166AA-ED25-D440-A621-8C5FE43CE191}"/>
                </a:ext>
              </a:extLst>
            </p:cNvPr>
            <p:cNvSpPr/>
            <p:nvPr/>
          </p:nvSpPr>
          <p:spPr>
            <a:xfrm>
              <a:off x="2016068" y="1765760"/>
              <a:ext cx="2190023" cy="430887"/>
            </a:xfrm>
            <a:prstGeom prst="rect">
              <a:avLst/>
            </a:prstGeom>
            <a:solidFill>
              <a:schemeClr val="bg1"/>
            </a:solidFill>
          </p:spPr>
          <p:txBody>
            <a:bodyPr wrap="none">
              <a:spAutoFit/>
            </a:bodyPr>
            <a:lstStyle/>
            <a:p>
              <a:pPr algn="ctr"/>
              <a:r>
                <a:rPr lang="en-US" sz="2200" b="1"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Your Container</a:t>
              </a:r>
            </a:p>
          </p:txBody>
        </p:sp>
      </p:grpSp>
    </p:spTree>
    <p:custDataLst>
      <p:tags r:id="rId1"/>
    </p:custDataLst>
    <p:extLst>
      <p:ext uri="{BB962C8B-B14F-4D97-AF65-F5344CB8AC3E}">
        <p14:creationId xmlns:p14="http://schemas.microsoft.com/office/powerpoint/2010/main" val="2302068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BB6CA0-264C-A045-A75E-D8A1B0994D5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48</a:t>
            </a:fld>
            <a:endParaRPr lang="en-US" dirty="0"/>
          </a:p>
        </p:txBody>
      </p:sp>
      <p:sp>
        <p:nvSpPr>
          <p:cNvPr id="2" name="Title 1">
            <a:extLst>
              <a:ext uri="{FF2B5EF4-FFF2-40B4-BE49-F238E27FC236}">
                <a16:creationId xmlns:a16="http://schemas.microsoft.com/office/drawing/2014/main" id="{18149E13-D4B8-CA44-8DE5-B78E83E43D6B}"/>
              </a:ext>
            </a:extLst>
          </p:cNvPr>
          <p:cNvSpPr>
            <a:spLocks noGrp="1"/>
          </p:cNvSpPr>
          <p:nvPr>
            <p:ph type="title"/>
          </p:nvPr>
        </p:nvSpPr>
        <p:spPr/>
        <p:txBody>
          <a:bodyPr/>
          <a:lstStyle/>
          <a:p>
            <a:r>
              <a:rPr lang="en-US" dirty="0"/>
              <a:t>What is Docker?</a:t>
            </a:r>
          </a:p>
        </p:txBody>
      </p:sp>
      <p:sp>
        <p:nvSpPr>
          <p:cNvPr id="3" name="Content Placeholder 2">
            <a:extLst>
              <a:ext uri="{FF2B5EF4-FFF2-40B4-BE49-F238E27FC236}">
                <a16:creationId xmlns:a16="http://schemas.microsoft.com/office/drawing/2014/main" id="{8D4F93DC-1DC2-574A-9C35-275989D9DBC8}"/>
              </a:ext>
            </a:extLst>
          </p:cNvPr>
          <p:cNvSpPr>
            <a:spLocks noGrp="1"/>
          </p:cNvSpPr>
          <p:nvPr>
            <p:ph sz="quarter" idx="21"/>
          </p:nvPr>
        </p:nvSpPr>
        <p:spPr>
          <a:xfrm>
            <a:off x="365760" y="1143000"/>
            <a:ext cx="5730240" cy="5291750"/>
          </a:xfrm>
        </p:spPr>
        <p:txBody>
          <a:bodyPr/>
          <a:lstStyle/>
          <a:p>
            <a:r>
              <a:rPr lang="en-US" b="1" dirty="0">
                <a:solidFill>
                  <a:srgbClr val="504BAB"/>
                </a:solidFill>
              </a:rPr>
              <a:t>Docker</a:t>
            </a:r>
            <a:r>
              <a:rPr lang="en-US" dirty="0"/>
              <a:t> is a software platform that enables you to build, test, and deploy applications quickly.</a:t>
            </a:r>
          </a:p>
          <a:p>
            <a:r>
              <a:rPr lang="en-US" dirty="0"/>
              <a:t>You run containers on Docker.</a:t>
            </a:r>
          </a:p>
          <a:p>
            <a:pPr lvl="1"/>
            <a:r>
              <a:rPr lang="en-US" dirty="0"/>
              <a:t>Containers are created from a template called an </a:t>
            </a:r>
            <a:r>
              <a:rPr lang="en-US" i="1" dirty="0"/>
              <a:t>image</a:t>
            </a:r>
            <a:r>
              <a:rPr lang="en-US" dirty="0"/>
              <a:t>.</a:t>
            </a:r>
          </a:p>
          <a:p>
            <a:r>
              <a:rPr lang="en-US" dirty="0"/>
              <a:t>A</a:t>
            </a:r>
            <a:r>
              <a:rPr lang="en-US" b="1" dirty="0">
                <a:solidFill>
                  <a:schemeClr val="accent5"/>
                </a:solidFill>
              </a:rPr>
              <a:t> </a:t>
            </a:r>
            <a:r>
              <a:rPr lang="en-US" b="1" dirty="0">
                <a:solidFill>
                  <a:srgbClr val="504BAB"/>
                </a:solidFill>
              </a:rPr>
              <a:t>container</a:t>
            </a:r>
            <a:r>
              <a:rPr lang="en-US" dirty="0"/>
              <a:t> has everything a software application needs to run.</a:t>
            </a:r>
          </a:p>
        </p:txBody>
      </p:sp>
      <p:graphicFrame>
        <p:nvGraphicFramePr>
          <p:cNvPr id="10" name="Diagram 9" descr="Graphic that shows that containers have everything the software needs to run: libraries, system tools, code, and runtime.">
            <a:extLst>
              <a:ext uri="{FF2B5EF4-FFF2-40B4-BE49-F238E27FC236}">
                <a16:creationId xmlns:a16="http://schemas.microsoft.com/office/drawing/2014/main" id="{AD5713F4-A7E1-C442-90AD-C1FA3C079D50}"/>
              </a:ext>
            </a:extLst>
          </p:cNvPr>
          <p:cNvGraphicFramePr/>
          <p:nvPr>
            <p:extLst>
              <p:ext uri="{D42A27DB-BD31-4B8C-83A1-F6EECF244321}">
                <p14:modId xmlns:p14="http://schemas.microsoft.com/office/powerpoint/2010/main" val="3936194322"/>
              </p:ext>
            </p:extLst>
          </p:nvPr>
        </p:nvGraphicFramePr>
        <p:xfrm>
          <a:off x="6955865" y="2906223"/>
          <a:ext cx="4147668" cy="26621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TextBox 10">
            <a:extLst>
              <a:ext uri="{FF2B5EF4-FFF2-40B4-BE49-F238E27FC236}">
                <a16:creationId xmlns:a16="http://schemas.microsoft.com/office/drawing/2014/main" id="{0E4A1F21-03DC-5A45-B0C6-280454B33198}"/>
              </a:ext>
              <a:ext uri="{C183D7F6-B498-43B3-948B-1728B52AA6E4}">
                <adec:decorative xmlns:adec="http://schemas.microsoft.com/office/drawing/2017/decorative" val="1"/>
              </a:ext>
            </a:extLst>
          </p:cNvPr>
          <p:cNvSpPr txBox="1"/>
          <p:nvPr/>
        </p:nvSpPr>
        <p:spPr>
          <a:xfrm>
            <a:off x="8273048" y="2030631"/>
            <a:ext cx="1513305" cy="338554"/>
          </a:xfrm>
          <a:prstGeom prst="rect">
            <a:avLst/>
          </a:prstGeom>
          <a:noFill/>
        </p:spPr>
        <p:txBody>
          <a:bodyPr wrap="square" rtlCol="0">
            <a:spAutoFit/>
          </a:bodyPr>
          <a:lstStyle/>
          <a:p>
            <a:pPr algn="ctr"/>
            <a:r>
              <a:rPr lang="en-US" sz="1600" dirty="0"/>
              <a:t>Container</a:t>
            </a:r>
          </a:p>
        </p:txBody>
      </p:sp>
      <p:pic>
        <p:nvPicPr>
          <p:cNvPr id="12" name="Graphic 11">
            <a:extLst>
              <a:ext uri="{FF2B5EF4-FFF2-40B4-BE49-F238E27FC236}">
                <a16:creationId xmlns:a16="http://schemas.microsoft.com/office/drawing/2014/main" id="{DE351325-B995-B642-8A6A-F4A2F3BC4448}"/>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9028" y="1289605"/>
            <a:ext cx="741343" cy="741343"/>
          </a:xfrm>
          <a:prstGeom prst="rect">
            <a:avLst/>
          </a:prstGeom>
        </p:spPr>
      </p:pic>
    </p:spTree>
    <p:custDataLst>
      <p:tags r:id="rId1"/>
    </p:custDataLst>
    <p:extLst>
      <p:ext uri="{BB962C8B-B14F-4D97-AF65-F5344CB8AC3E}">
        <p14:creationId xmlns:p14="http://schemas.microsoft.com/office/powerpoint/2010/main" val="1833779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F2BFD903-B5FB-7F4B-8A56-BC28B8AA37B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49</a:t>
            </a:fld>
            <a:endParaRPr lang="en-US" dirty="0"/>
          </a:p>
        </p:txBody>
      </p:sp>
      <p:sp>
        <p:nvSpPr>
          <p:cNvPr id="2" name="Title 1">
            <a:extLst>
              <a:ext uri="{FF2B5EF4-FFF2-40B4-BE49-F238E27FC236}">
                <a16:creationId xmlns:a16="http://schemas.microsoft.com/office/drawing/2014/main" id="{5B413D16-E9DF-7041-90AF-13129C0F2779}"/>
              </a:ext>
            </a:extLst>
          </p:cNvPr>
          <p:cNvSpPr>
            <a:spLocks noGrp="1"/>
          </p:cNvSpPr>
          <p:nvPr>
            <p:ph type="title"/>
          </p:nvPr>
        </p:nvSpPr>
        <p:spPr/>
        <p:txBody>
          <a:bodyPr/>
          <a:lstStyle/>
          <a:p>
            <a:r>
              <a:rPr lang="en-US" dirty="0"/>
              <a:t>Containers versus virtual machines</a:t>
            </a:r>
          </a:p>
        </p:txBody>
      </p:sp>
      <p:sp>
        <p:nvSpPr>
          <p:cNvPr id="32" name="TextBox 31">
            <a:extLst>
              <a:ext uri="{FF2B5EF4-FFF2-40B4-BE49-F238E27FC236}">
                <a16:creationId xmlns:a16="http://schemas.microsoft.com/office/drawing/2014/main" id="{EFF32382-2E2C-9645-9DFD-0F4CC93892D3}"/>
              </a:ext>
            </a:extLst>
          </p:cNvPr>
          <p:cNvSpPr txBox="1"/>
          <p:nvPr/>
        </p:nvSpPr>
        <p:spPr>
          <a:xfrm>
            <a:off x="5459409" y="1144739"/>
            <a:ext cx="5109092" cy="369332"/>
          </a:xfrm>
          <a:prstGeom prst="rect">
            <a:avLst/>
          </a:prstGeom>
          <a:solidFill>
            <a:schemeClr val="bg1"/>
          </a:solidFill>
        </p:spPr>
        <p:txBody>
          <a:bodyPr wrap="none" rtlCol="0">
            <a:spAutoFit/>
          </a:bodyPr>
          <a:lstStyle/>
          <a:p>
            <a:pPr algn="ct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Three virtual machines</a:t>
            </a:r>
            <a:r>
              <a:rPr lang="en-US"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 </a:t>
            </a: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on three EC2 instances</a:t>
            </a:r>
          </a:p>
        </p:txBody>
      </p:sp>
      <p:grpSp>
        <p:nvGrpSpPr>
          <p:cNvPr id="4" name="Group 3" descr="Complicated diagram that shows how virtual machines run, each one hosting a single app in isolation from each other, versus how multiple containers, each hosting an isolated app, can run on a single VM, thanks to Docker features.">
            <a:extLst>
              <a:ext uri="{FF2B5EF4-FFF2-40B4-BE49-F238E27FC236}">
                <a16:creationId xmlns:a16="http://schemas.microsoft.com/office/drawing/2014/main" id="{5B491F9C-B05D-1045-BB6E-8B3F7409E481}"/>
              </a:ext>
            </a:extLst>
          </p:cNvPr>
          <p:cNvGrpSpPr/>
          <p:nvPr/>
        </p:nvGrpSpPr>
        <p:grpSpPr>
          <a:xfrm>
            <a:off x="272945" y="1384374"/>
            <a:ext cx="11919055" cy="5014128"/>
            <a:chOff x="272945" y="1384374"/>
            <a:chExt cx="11919055" cy="5014128"/>
          </a:xfrm>
        </p:grpSpPr>
        <p:sp>
          <p:nvSpPr>
            <p:cNvPr id="9" name="TextBox 8">
              <a:extLst>
                <a:ext uri="{FF2B5EF4-FFF2-40B4-BE49-F238E27FC236}">
                  <a16:creationId xmlns:a16="http://schemas.microsoft.com/office/drawing/2014/main" id="{F4A0FEAC-F66C-0645-86B3-9AB7E576228F}"/>
                </a:ext>
              </a:extLst>
            </p:cNvPr>
            <p:cNvSpPr txBox="1"/>
            <p:nvPr/>
          </p:nvSpPr>
          <p:spPr>
            <a:xfrm>
              <a:off x="8779631" y="1861325"/>
              <a:ext cx="1363288" cy="369332"/>
            </a:xfrm>
            <a:prstGeom prst="rect">
              <a:avLst/>
            </a:prstGeom>
            <a:noFill/>
          </p:spPr>
          <p:txBody>
            <a:bodyPr wrap="square" rtlCol="0">
              <a:spAutoFit/>
            </a:bodyPr>
            <a:lstStyle/>
            <a:p>
              <a:pPr algn="ctr"/>
              <a:r>
                <a:rPr lang="en-US"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Container</a:t>
              </a:r>
            </a:p>
          </p:txBody>
        </p:sp>
        <p:sp>
          <p:nvSpPr>
            <p:cNvPr id="10" name="Rounded Rectangle 9">
              <a:extLst>
                <a:ext uri="{FF2B5EF4-FFF2-40B4-BE49-F238E27FC236}">
                  <a16:creationId xmlns:a16="http://schemas.microsoft.com/office/drawing/2014/main" id="{F8AD7C8D-BAED-604A-94CC-F1F8C72B6B42}"/>
                </a:ext>
              </a:extLst>
            </p:cNvPr>
            <p:cNvSpPr/>
            <p:nvPr/>
          </p:nvSpPr>
          <p:spPr>
            <a:xfrm>
              <a:off x="419101" y="5957436"/>
              <a:ext cx="9989819" cy="441066"/>
            </a:xfrm>
            <a:prstGeom prst="round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Physical server</a:t>
              </a:r>
            </a:p>
          </p:txBody>
        </p:sp>
        <p:sp>
          <p:nvSpPr>
            <p:cNvPr id="11" name="Rounded Rectangle 10">
              <a:extLst>
                <a:ext uri="{FF2B5EF4-FFF2-40B4-BE49-F238E27FC236}">
                  <a16:creationId xmlns:a16="http://schemas.microsoft.com/office/drawing/2014/main" id="{6902F3B7-CDC8-7B48-9C8A-0040C8ED8920}"/>
                </a:ext>
              </a:extLst>
            </p:cNvPr>
            <p:cNvSpPr/>
            <p:nvPr/>
          </p:nvSpPr>
          <p:spPr>
            <a:xfrm>
              <a:off x="419101" y="5478447"/>
              <a:ext cx="9989819" cy="39731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Host operating system</a:t>
              </a:r>
            </a:p>
          </p:txBody>
        </p:sp>
        <p:sp>
          <p:nvSpPr>
            <p:cNvPr id="12" name="Rounded Rectangle 11">
              <a:extLst>
                <a:ext uri="{FF2B5EF4-FFF2-40B4-BE49-F238E27FC236}">
                  <a16:creationId xmlns:a16="http://schemas.microsoft.com/office/drawing/2014/main" id="{55B8CC38-627A-5C41-AF85-F2C677F856A8}"/>
                </a:ext>
              </a:extLst>
            </p:cNvPr>
            <p:cNvSpPr/>
            <p:nvPr/>
          </p:nvSpPr>
          <p:spPr>
            <a:xfrm>
              <a:off x="419101" y="4989438"/>
              <a:ext cx="9989819" cy="397315"/>
            </a:xfrm>
            <a:prstGeom prst="round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Hypervisor</a:t>
              </a:r>
            </a:p>
          </p:txBody>
        </p:sp>
        <p:sp>
          <p:nvSpPr>
            <p:cNvPr id="13" name="Rounded Rectangle 12">
              <a:extLst>
                <a:ext uri="{FF2B5EF4-FFF2-40B4-BE49-F238E27FC236}">
                  <a16:creationId xmlns:a16="http://schemas.microsoft.com/office/drawing/2014/main" id="{7A37D29C-4F4D-4F42-A753-D0C5D0454805}"/>
                </a:ext>
              </a:extLst>
            </p:cNvPr>
            <p:cNvSpPr/>
            <p:nvPr/>
          </p:nvSpPr>
          <p:spPr>
            <a:xfrm>
              <a:off x="6117215" y="3198038"/>
              <a:ext cx="1179576" cy="1554480"/>
            </a:xfrm>
            <a:prstGeom prst="roundRect">
              <a:avLst>
                <a:gd name="adj" fmla="val 82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EC2 instance guest OS</a:t>
              </a:r>
            </a:p>
          </p:txBody>
        </p:sp>
        <p:sp>
          <p:nvSpPr>
            <p:cNvPr id="14" name="Rounded Rectangle 13">
              <a:extLst>
                <a:ext uri="{FF2B5EF4-FFF2-40B4-BE49-F238E27FC236}">
                  <a16:creationId xmlns:a16="http://schemas.microsoft.com/office/drawing/2014/main" id="{BFC7CD8D-868A-7F41-A040-060DD31A35FB}"/>
                </a:ext>
              </a:extLst>
            </p:cNvPr>
            <p:cNvSpPr/>
            <p:nvPr/>
          </p:nvSpPr>
          <p:spPr>
            <a:xfrm>
              <a:off x="7521713" y="3198038"/>
              <a:ext cx="1179576" cy="1554480"/>
            </a:xfrm>
            <a:prstGeom prst="roundRect">
              <a:avLst>
                <a:gd name="adj" fmla="val 7280"/>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EC2 instance guest OS</a:t>
              </a:r>
            </a:p>
          </p:txBody>
        </p:sp>
        <p:sp>
          <p:nvSpPr>
            <p:cNvPr id="15" name="Rounded Rectangle 14">
              <a:extLst>
                <a:ext uri="{FF2B5EF4-FFF2-40B4-BE49-F238E27FC236}">
                  <a16:creationId xmlns:a16="http://schemas.microsoft.com/office/drawing/2014/main" id="{4479C64C-B141-964D-A342-34899ABD02A4}"/>
                </a:ext>
              </a:extLst>
            </p:cNvPr>
            <p:cNvSpPr/>
            <p:nvPr/>
          </p:nvSpPr>
          <p:spPr>
            <a:xfrm>
              <a:off x="8926406" y="3198038"/>
              <a:ext cx="1179576" cy="1554480"/>
            </a:xfrm>
            <a:prstGeom prst="roundRect">
              <a:avLst>
                <a:gd name="adj" fmla="val 82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EC2 instance guest OS</a:t>
              </a:r>
            </a:p>
          </p:txBody>
        </p:sp>
        <p:sp>
          <p:nvSpPr>
            <p:cNvPr id="16" name="Rounded Rectangle 15">
              <a:extLst>
                <a:ext uri="{FF2B5EF4-FFF2-40B4-BE49-F238E27FC236}">
                  <a16:creationId xmlns:a16="http://schemas.microsoft.com/office/drawing/2014/main" id="{946D6969-D676-2942-81A7-DDBF2F71F175}"/>
                </a:ext>
              </a:extLst>
            </p:cNvPr>
            <p:cNvSpPr/>
            <p:nvPr/>
          </p:nvSpPr>
          <p:spPr>
            <a:xfrm>
              <a:off x="6117215" y="2753463"/>
              <a:ext cx="1179576" cy="399977"/>
            </a:xfrm>
            <a:prstGeom prst="roundRect">
              <a:avLst/>
            </a:prstGeom>
            <a:solidFill>
              <a:srgbClr val="A6E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17" name="Rounded Rectangle 16">
              <a:extLst>
                <a:ext uri="{FF2B5EF4-FFF2-40B4-BE49-F238E27FC236}">
                  <a16:creationId xmlns:a16="http://schemas.microsoft.com/office/drawing/2014/main" id="{8D530905-870E-594E-8172-41C88CA35F11}"/>
                </a:ext>
              </a:extLst>
            </p:cNvPr>
            <p:cNvSpPr/>
            <p:nvPr/>
          </p:nvSpPr>
          <p:spPr>
            <a:xfrm>
              <a:off x="6117215" y="2236157"/>
              <a:ext cx="1179576" cy="399977"/>
            </a:xfrm>
            <a:prstGeom prst="roundRect">
              <a:avLst/>
            </a:prstGeom>
            <a:solidFill>
              <a:srgbClr val="A6E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1</a:t>
              </a:r>
            </a:p>
          </p:txBody>
        </p:sp>
        <p:sp>
          <p:nvSpPr>
            <p:cNvPr id="18" name="Rounded Rectangle 17">
              <a:extLst>
                <a:ext uri="{FF2B5EF4-FFF2-40B4-BE49-F238E27FC236}">
                  <a16:creationId xmlns:a16="http://schemas.microsoft.com/office/drawing/2014/main" id="{DC080031-E503-F643-8A4F-5B078D538B7E}"/>
                </a:ext>
              </a:extLst>
            </p:cNvPr>
            <p:cNvSpPr/>
            <p:nvPr/>
          </p:nvSpPr>
          <p:spPr>
            <a:xfrm>
              <a:off x="7521713" y="2736580"/>
              <a:ext cx="1179576" cy="39997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19" name="Rounded Rectangle 18">
              <a:extLst>
                <a:ext uri="{FF2B5EF4-FFF2-40B4-BE49-F238E27FC236}">
                  <a16:creationId xmlns:a16="http://schemas.microsoft.com/office/drawing/2014/main" id="{B1CBCDCF-CB1D-FB46-B0F0-83099B8FF3D4}"/>
                </a:ext>
              </a:extLst>
            </p:cNvPr>
            <p:cNvSpPr/>
            <p:nvPr/>
          </p:nvSpPr>
          <p:spPr>
            <a:xfrm>
              <a:off x="7521713" y="2219274"/>
              <a:ext cx="1179576" cy="39997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2</a:t>
              </a:r>
            </a:p>
          </p:txBody>
        </p:sp>
        <p:sp>
          <p:nvSpPr>
            <p:cNvPr id="20" name="Rounded Rectangle 19">
              <a:extLst>
                <a:ext uri="{FF2B5EF4-FFF2-40B4-BE49-F238E27FC236}">
                  <a16:creationId xmlns:a16="http://schemas.microsoft.com/office/drawing/2014/main" id="{01D847AA-BBBA-6B48-8493-8C96F71985CF}"/>
                </a:ext>
              </a:extLst>
            </p:cNvPr>
            <p:cNvSpPr/>
            <p:nvPr/>
          </p:nvSpPr>
          <p:spPr>
            <a:xfrm>
              <a:off x="8926406" y="2736580"/>
              <a:ext cx="1179576" cy="39997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21" name="Rounded Rectangle 20">
              <a:extLst>
                <a:ext uri="{FF2B5EF4-FFF2-40B4-BE49-F238E27FC236}">
                  <a16:creationId xmlns:a16="http://schemas.microsoft.com/office/drawing/2014/main" id="{38D6CA6E-59B0-DD46-A2CA-5B669F3B37DC}"/>
                </a:ext>
              </a:extLst>
            </p:cNvPr>
            <p:cNvSpPr/>
            <p:nvPr/>
          </p:nvSpPr>
          <p:spPr>
            <a:xfrm>
              <a:off x="8926406" y="2219274"/>
              <a:ext cx="1179576" cy="39997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3</a:t>
              </a:r>
            </a:p>
          </p:txBody>
        </p:sp>
        <p:sp>
          <p:nvSpPr>
            <p:cNvPr id="3" name="Rounded Rectangle 2">
              <a:extLst>
                <a:ext uri="{FF2B5EF4-FFF2-40B4-BE49-F238E27FC236}">
                  <a16:creationId xmlns:a16="http://schemas.microsoft.com/office/drawing/2014/main" id="{72D7DE17-08E8-B84A-BF52-180E330BB6F1}"/>
                </a:ext>
              </a:extLst>
            </p:cNvPr>
            <p:cNvSpPr/>
            <p:nvPr/>
          </p:nvSpPr>
          <p:spPr>
            <a:xfrm>
              <a:off x="5947876" y="1494107"/>
              <a:ext cx="4310796" cy="3411511"/>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6" name="Rounded Rectangle 35">
              <a:extLst>
                <a:ext uri="{FF2B5EF4-FFF2-40B4-BE49-F238E27FC236}">
                  <a16:creationId xmlns:a16="http://schemas.microsoft.com/office/drawing/2014/main" id="{FF4D185E-66E0-3347-A46D-3F692CB6CE8C}"/>
                </a:ext>
              </a:extLst>
            </p:cNvPr>
            <p:cNvSpPr/>
            <p:nvPr/>
          </p:nvSpPr>
          <p:spPr>
            <a:xfrm>
              <a:off x="607196" y="3198723"/>
              <a:ext cx="914400" cy="106263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Docker engine</a:t>
              </a:r>
            </a:p>
          </p:txBody>
        </p:sp>
        <p:sp>
          <p:nvSpPr>
            <p:cNvPr id="37" name="Rounded Rectangle 36">
              <a:extLst>
                <a:ext uri="{FF2B5EF4-FFF2-40B4-BE49-F238E27FC236}">
                  <a16:creationId xmlns:a16="http://schemas.microsoft.com/office/drawing/2014/main" id="{5511A06E-5078-454A-AA51-65F8F26485FB}"/>
                </a:ext>
              </a:extLst>
            </p:cNvPr>
            <p:cNvSpPr/>
            <p:nvPr/>
          </p:nvSpPr>
          <p:spPr>
            <a:xfrm>
              <a:off x="1670099" y="3807143"/>
              <a:ext cx="1179576" cy="399977"/>
            </a:xfrm>
            <a:prstGeom prst="roundRect">
              <a:avLst/>
            </a:prstGeom>
            <a:solidFill>
              <a:srgbClr val="A6E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38" name="Rounded Rectangle 37">
              <a:extLst>
                <a:ext uri="{FF2B5EF4-FFF2-40B4-BE49-F238E27FC236}">
                  <a16:creationId xmlns:a16="http://schemas.microsoft.com/office/drawing/2014/main" id="{36FC095D-C22E-D64C-82C1-8F8412A978D0}"/>
                </a:ext>
              </a:extLst>
            </p:cNvPr>
            <p:cNvSpPr/>
            <p:nvPr/>
          </p:nvSpPr>
          <p:spPr>
            <a:xfrm>
              <a:off x="1670099" y="3304387"/>
              <a:ext cx="1179576" cy="399977"/>
            </a:xfrm>
            <a:prstGeom prst="roundRect">
              <a:avLst/>
            </a:prstGeom>
            <a:solidFill>
              <a:srgbClr val="A6E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1</a:t>
              </a:r>
            </a:p>
          </p:txBody>
        </p:sp>
        <p:sp>
          <p:nvSpPr>
            <p:cNvPr id="39" name="Rounded Rectangle 38">
              <a:extLst>
                <a:ext uri="{FF2B5EF4-FFF2-40B4-BE49-F238E27FC236}">
                  <a16:creationId xmlns:a16="http://schemas.microsoft.com/office/drawing/2014/main" id="{C2D02936-831A-644D-9F2D-D2CBB0F713C3}"/>
                </a:ext>
              </a:extLst>
            </p:cNvPr>
            <p:cNvSpPr/>
            <p:nvPr/>
          </p:nvSpPr>
          <p:spPr>
            <a:xfrm>
              <a:off x="3028360" y="3804811"/>
              <a:ext cx="1179576" cy="39997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40" name="Rounded Rectangle 39">
              <a:extLst>
                <a:ext uri="{FF2B5EF4-FFF2-40B4-BE49-F238E27FC236}">
                  <a16:creationId xmlns:a16="http://schemas.microsoft.com/office/drawing/2014/main" id="{2DE7A6D6-8CD4-8746-B75E-0FDFD082D6E4}"/>
                </a:ext>
              </a:extLst>
            </p:cNvPr>
            <p:cNvSpPr/>
            <p:nvPr/>
          </p:nvSpPr>
          <p:spPr>
            <a:xfrm>
              <a:off x="3028360" y="3287505"/>
              <a:ext cx="1179576" cy="399977"/>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2</a:t>
              </a:r>
            </a:p>
          </p:txBody>
        </p:sp>
        <p:sp>
          <p:nvSpPr>
            <p:cNvPr id="41" name="Rounded Rectangle 40">
              <a:extLst>
                <a:ext uri="{FF2B5EF4-FFF2-40B4-BE49-F238E27FC236}">
                  <a16:creationId xmlns:a16="http://schemas.microsoft.com/office/drawing/2014/main" id="{9C2BDB3E-D799-544D-BB56-5B1027EE9C83}"/>
                </a:ext>
              </a:extLst>
            </p:cNvPr>
            <p:cNvSpPr/>
            <p:nvPr/>
          </p:nvSpPr>
          <p:spPr>
            <a:xfrm>
              <a:off x="4427942" y="3804811"/>
              <a:ext cx="1179576" cy="39997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42" name="Rounded Rectangle 41">
              <a:extLst>
                <a:ext uri="{FF2B5EF4-FFF2-40B4-BE49-F238E27FC236}">
                  <a16:creationId xmlns:a16="http://schemas.microsoft.com/office/drawing/2014/main" id="{99FF9E39-5600-B64C-98D4-EDB3E5AEE680}"/>
                </a:ext>
              </a:extLst>
            </p:cNvPr>
            <p:cNvSpPr/>
            <p:nvPr/>
          </p:nvSpPr>
          <p:spPr>
            <a:xfrm>
              <a:off x="4427942" y="3287505"/>
              <a:ext cx="1179576" cy="399977"/>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3</a:t>
              </a:r>
            </a:p>
          </p:txBody>
        </p:sp>
        <p:sp>
          <p:nvSpPr>
            <p:cNvPr id="43" name="Rounded Rectangle 42">
              <a:extLst>
                <a:ext uri="{FF2B5EF4-FFF2-40B4-BE49-F238E27FC236}">
                  <a16:creationId xmlns:a16="http://schemas.microsoft.com/office/drawing/2014/main" id="{6BD80AA0-3801-F843-9500-8B5210423AE4}"/>
                </a:ext>
              </a:extLst>
            </p:cNvPr>
            <p:cNvSpPr/>
            <p:nvPr/>
          </p:nvSpPr>
          <p:spPr>
            <a:xfrm>
              <a:off x="447676" y="2373424"/>
              <a:ext cx="5337566" cy="2509334"/>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4" name="TextBox 43">
              <a:extLst>
                <a:ext uri="{FF2B5EF4-FFF2-40B4-BE49-F238E27FC236}">
                  <a16:creationId xmlns:a16="http://schemas.microsoft.com/office/drawing/2014/main" id="{B264792F-E8D6-5041-A5BF-92A32A8C4C9A}"/>
                </a:ext>
              </a:extLst>
            </p:cNvPr>
            <p:cNvSpPr txBox="1"/>
            <p:nvPr/>
          </p:nvSpPr>
          <p:spPr>
            <a:xfrm>
              <a:off x="272945" y="1972073"/>
              <a:ext cx="4191533" cy="369332"/>
            </a:xfrm>
            <a:prstGeom prst="rect">
              <a:avLst/>
            </a:prstGeom>
            <a:solidFill>
              <a:schemeClr val="bg1"/>
            </a:solidFill>
          </p:spPr>
          <p:txBody>
            <a:bodyPr wrap="square" rtlCol="0">
              <a:spAutoFit/>
            </a:bodyPr>
            <a:lstStyle/>
            <a:p>
              <a:pPr algn="ctr"/>
              <a:r>
                <a:rPr lang="en-US"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Three containers</a:t>
              </a: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 on one EC2 instance</a:t>
              </a:r>
            </a:p>
          </p:txBody>
        </p:sp>
        <p:sp>
          <p:nvSpPr>
            <p:cNvPr id="46" name="Rounded Rectangle 45">
              <a:extLst>
                <a:ext uri="{FF2B5EF4-FFF2-40B4-BE49-F238E27FC236}">
                  <a16:creationId xmlns:a16="http://schemas.microsoft.com/office/drawing/2014/main" id="{3036244E-4C58-F34A-AFE8-7B7F9A2CC6A0}"/>
                </a:ext>
              </a:extLst>
            </p:cNvPr>
            <p:cNvSpPr/>
            <p:nvPr/>
          </p:nvSpPr>
          <p:spPr>
            <a:xfrm>
              <a:off x="641007" y="4355203"/>
              <a:ext cx="5040879" cy="397315"/>
            </a:xfrm>
            <a:prstGeom prst="roundRect">
              <a:avLst>
                <a:gd name="adj" fmla="val 821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EC2 instance guest OS</a:t>
              </a:r>
            </a:p>
          </p:txBody>
        </p:sp>
        <p:sp>
          <p:nvSpPr>
            <p:cNvPr id="47" name="Rounded Rectangle 46">
              <a:extLst>
                <a:ext uri="{FF2B5EF4-FFF2-40B4-BE49-F238E27FC236}">
                  <a16:creationId xmlns:a16="http://schemas.microsoft.com/office/drawing/2014/main" id="{A1EF0FE0-8BB8-404E-BAEB-9D1D1B43AB92}"/>
                </a:ext>
              </a:extLst>
            </p:cNvPr>
            <p:cNvSpPr/>
            <p:nvPr/>
          </p:nvSpPr>
          <p:spPr>
            <a:xfrm>
              <a:off x="1616862" y="3205137"/>
              <a:ext cx="1280160" cy="1062634"/>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8" name="Rounded Rectangle 47">
              <a:extLst>
                <a:ext uri="{FF2B5EF4-FFF2-40B4-BE49-F238E27FC236}">
                  <a16:creationId xmlns:a16="http://schemas.microsoft.com/office/drawing/2014/main" id="{A6670D61-87CC-C54D-AC34-0E851A219282}"/>
                </a:ext>
              </a:extLst>
            </p:cNvPr>
            <p:cNvSpPr/>
            <p:nvPr/>
          </p:nvSpPr>
          <p:spPr>
            <a:xfrm>
              <a:off x="2984859" y="3222020"/>
              <a:ext cx="1280160" cy="1062634"/>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9" name="Rounded Rectangle 48">
              <a:extLst>
                <a:ext uri="{FF2B5EF4-FFF2-40B4-BE49-F238E27FC236}">
                  <a16:creationId xmlns:a16="http://schemas.microsoft.com/office/drawing/2014/main" id="{6792AC23-8749-1847-A307-47CE166F6999}"/>
                </a:ext>
              </a:extLst>
            </p:cNvPr>
            <p:cNvSpPr/>
            <p:nvPr/>
          </p:nvSpPr>
          <p:spPr>
            <a:xfrm>
              <a:off x="4382118" y="3222020"/>
              <a:ext cx="1280160" cy="1062634"/>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0" name="TextBox 49">
              <a:extLst>
                <a:ext uri="{FF2B5EF4-FFF2-40B4-BE49-F238E27FC236}">
                  <a16:creationId xmlns:a16="http://schemas.microsoft.com/office/drawing/2014/main" id="{C326F786-A6B9-1D4C-9B71-51F5BD5D446F}"/>
                </a:ext>
              </a:extLst>
            </p:cNvPr>
            <p:cNvSpPr txBox="1"/>
            <p:nvPr/>
          </p:nvSpPr>
          <p:spPr>
            <a:xfrm>
              <a:off x="1531244" y="2648692"/>
              <a:ext cx="1463247"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instance 1</a:t>
              </a:r>
            </a:p>
          </p:txBody>
        </p:sp>
        <p:sp>
          <p:nvSpPr>
            <p:cNvPr id="51" name="TextBox 50">
              <a:extLst>
                <a:ext uri="{FF2B5EF4-FFF2-40B4-BE49-F238E27FC236}">
                  <a16:creationId xmlns:a16="http://schemas.microsoft.com/office/drawing/2014/main" id="{BBD9F486-7A79-DC48-BD75-11A3B648A38F}"/>
                </a:ext>
              </a:extLst>
            </p:cNvPr>
            <p:cNvSpPr txBox="1"/>
            <p:nvPr/>
          </p:nvSpPr>
          <p:spPr>
            <a:xfrm>
              <a:off x="2907527" y="2651337"/>
              <a:ext cx="1463247"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a:t>
              </a:r>
              <a:b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instance 2</a:t>
              </a:r>
            </a:p>
          </p:txBody>
        </p:sp>
        <p:sp>
          <p:nvSpPr>
            <p:cNvPr id="52" name="TextBox 51">
              <a:extLst>
                <a:ext uri="{FF2B5EF4-FFF2-40B4-BE49-F238E27FC236}">
                  <a16:creationId xmlns:a16="http://schemas.microsoft.com/office/drawing/2014/main" id="{3D7CD7AE-E1BB-8647-B61F-9808639DC1B4}"/>
                </a:ext>
              </a:extLst>
            </p:cNvPr>
            <p:cNvSpPr txBox="1"/>
            <p:nvPr/>
          </p:nvSpPr>
          <p:spPr>
            <a:xfrm>
              <a:off x="4273482" y="2651337"/>
              <a:ext cx="1463247"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a:t>
              </a:r>
              <a:b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b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instance 3</a:t>
              </a:r>
            </a:p>
          </p:txBody>
        </p:sp>
        <p:sp>
          <p:nvSpPr>
            <p:cNvPr id="5" name="TextBox 4">
              <a:extLst>
                <a:ext uri="{FF2B5EF4-FFF2-40B4-BE49-F238E27FC236}">
                  <a16:creationId xmlns:a16="http://schemas.microsoft.com/office/drawing/2014/main" id="{6874A7CA-698F-1142-B832-D8B443E3CE9E}"/>
                </a:ext>
              </a:extLst>
            </p:cNvPr>
            <p:cNvSpPr txBox="1"/>
            <p:nvPr/>
          </p:nvSpPr>
          <p:spPr>
            <a:xfrm>
              <a:off x="10683240" y="5261605"/>
              <a:ext cx="1508760" cy="830997"/>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Part of </a:t>
              </a:r>
              <a:br>
                <a:rPr lang="en-US" sz="1600" dirty="0">
                  <a:latin typeface="Amazon Ember" panose="020B0603020204020204" pitchFamily="34" charset="0"/>
                  <a:ea typeface="Amazon Ember" panose="020B0603020204020204" pitchFamily="34" charset="0"/>
                  <a:cs typeface="Amazon Ember" panose="020B0603020204020204" pitchFamily="34" charset="0"/>
                </a:rPr>
              </a:br>
              <a:r>
                <a:rPr lang="en-US" sz="1600" dirty="0">
                  <a:latin typeface="Amazon Ember" panose="020B0603020204020204" pitchFamily="34" charset="0"/>
                  <a:ea typeface="Amazon Ember" panose="020B0603020204020204" pitchFamily="34" charset="0"/>
                  <a:cs typeface="Amazon Ember" panose="020B0603020204020204" pitchFamily="34" charset="0"/>
                </a:rPr>
                <a:t>AWS Global Infrastructure</a:t>
              </a:r>
            </a:p>
          </p:txBody>
        </p:sp>
        <p:sp>
          <p:nvSpPr>
            <p:cNvPr id="6" name="Right Brace 5">
              <a:extLst>
                <a:ext uri="{FF2B5EF4-FFF2-40B4-BE49-F238E27FC236}">
                  <a16:creationId xmlns:a16="http://schemas.microsoft.com/office/drawing/2014/main" id="{AF0C7BC0-5D85-8A46-8B17-1AA3413E8CBB}"/>
                </a:ext>
              </a:extLst>
            </p:cNvPr>
            <p:cNvSpPr/>
            <p:nvPr/>
          </p:nvSpPr>
          <p:spPr>
            <a:xfrm>
              <a:off x="10408920" y="4989438"/>
              <a:ext cx="274320" cy="1409064"/>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3" name="TextBox 52">
              <a:extLst>
                <a:ext uri="{FF2B5EF4-FFF2-40B4-BE49-F238E27FC236}">
                  <a16:creationId xmlns:a16="http://schemas.microsoft.com/office/drawing/2014/main" id="{B56BCEBF-E422-4B40-B425-639DAE79B929}"/>
                </a:ext>
              </a:extLst>
            </p:cNvPr>
            <p:cNvSpPr txBox="1"/>
            <p:nvPr/>
          </p:nvSpPr>
          <p:spPr>
            <a:xfrm>
              <a:off x="398188" y="1384374"/>
              <a:ext cx="1423788" cy="461665"/>
            </a:xfrm>
            <a:prstGeom prst="rect">
              <a:avLst/>
            </a:prstGeom>
            <a:noFill/>
          </p:spPr>
          <p:txBody>
            <a:bodyPr wrap="none" rtlCol="0">
              <a:spAutoFit/>
            </a:bodyPr>
            <a:lstStyle/>
            <a:p>
              <a:r>
                <a:rPr lang="en-US" sz="2400" b="1" dirty="0">
                  <a:latin typeface="Amazon Ember" panose="020B0603020204020204" pitchFamily="34" charset="0"/>
                  <a:ea typeface="Amazon Ember" panose="020B0603020204020204" pitchFamily="34" charset="0"/>
                  <a:cs typeface="Amazon Ember" panose="020B0603020204020204" pitchFamily="34" charset="0"/>
                </a:rPr>
                <a:t>Example</a:t>
              </a:r>
            </a:p>
          </p:txBody>
        </p:sp>
        <p:sp>
          <p:nvSpPr>
            <p:cNvPr id="45" name="Rounded Rectangle 44">
              <a:extLst>
                <a:ext uri="{FF2B5EF4-FFF2-40B4-BE49-F238E27FC236}">
                  <a16:creationId xmlns:a16="http://schemas.microsoft.com/office/drawing/2014/main" id="{8EEB8D81-C9CA-BE47-BA91-C4213E969954}"/>
                </a:ext>
              </a:extLst>
            </p:cNvPr>
            <p:cNvSpPr/>
            <p:nvPr/>
          </p:nvSpPr>
          <p:spPr>
            <a:xfrm>
              <a:off x="6044322" y="2092919"/>
              <a:ext cx="1328983" cy="2746269"/>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4" name="Rounded Rectangle 53">
              <a:extLst>
                <a:ext uri="{FF2B5EF4-FFF2-40B4-BE49-F238E27FC236}">
                  <a16:creationId xmlns:a16="http://schemas.microsoft.com/office/drawing/2014/main" id="{FD50582D-46A6-F64E-BF59-BA4FD49C972E}"/>
                </a:ext>
              </a:extLst>
            </p:cNvPr>
            <p:cNvSpPr/>
            <p:nvPr/>
          </p:nvSpPr>
          <p:spPr>
            <a:xfrm>
              <a:off x="7465452" y="2099798"/>
              <a:ext cx="1298448" cy="2743200"/>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5" name="Rounded Rectangle 54">
              <a:extLst>
                <a:ext uri="{FF2B5EF4-FFF2-40B4-BE49-F238E27FC236}">
                  <a16:creationId xmlns:a16="http://schemas.microsoft.com/office/drawing/2014/main" id="{DA248E16-D992-C840-828A-300388AF016E}"/>
                </a:ext>
              </a:extLst>
            </p:cNvPr>
            <p:cNvSpPr/>
            <p:nvPr/>
          </p:nvSpPr>
          <p:spPr>
            <a:xfrm>
              <a:off x="8863722" y="2099559"/>
              <a:ext cx="1328983" cy="2738828"/>
            </a:xfrm>
            <a:prstGeom prst="roundRect">
              <a:avLst>
                <a:gd name="adj" fmla="val 951"/>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6" name="TextBox 55">
              <a:extLst>
                <a:ext uri="{FF2B5EF4-FFF2-40B4-BE49-F238E27FC236}">
                  <a16:creationId xmlns:a16="http://schemas.microsoft.com/office/drawing/2014/main" id="{0146B527-375E-284B-9453-AEC6A0CFA9A8}"/>
                </a:ext>
              </a:extLst>
            </p:cNvPr>
            <p:cNvSpPr txBox="1"/>
            <p:nvPr/>
          </p:nvSpPr>
          <p:spPr>
            <a:xfrm>
              <a:off x="8832368" y="1754365"/>
              <a:ext cx="1463247" cy="338554"/>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VM 3</a:t>
              </a:r>
            </a:p>
          </p:txBody>
        </p:sp>
        <p:sp>
          <p:nvSpPr>
            <p:cNvPr id="57" name="TextBox 56">
              <a:extLst>
                <a:ext uri="{FF2B5EF4-FFF2-40B4-BE49-F238E27FC236}">
                  <a16:creationId xmlns:a16="http://schemas.microsoft.com/office/drawing/2014/main" id="{E5B430CD-7285-AB41-A839-398D3B0A6BAB}"/>
                </a:ext>
              </a:extLst>
            </p:cNvPr>
            <p:cNvSpPr txBox="1"/>
            <p:nvPr/>
          </p:nvSpPr>
          <p:spPr>
            <a:xfrm>
              <a:off x="7353390" y="1754365"/>
              <a:ext cx="1463247" cy="338554"/>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VM 2</a:t>
              </a:r>
            </a:p>
          </p:txBody>
        </p:sp>
        <p:sp>
          <p:nvSpPr>
            <p:cNvPr id="58" name="TextBox 57">
              <a:extLst>
                <a:ext uri="{FF2B5EF4-FFF2-40B4-BE49-F238E27FC236}">
                  <a16:creationId xmlns:a16="http://schemas.microsoft.com/office/drawing/2014/main" id="{ABC268F1-5D17-9344-851E-AC3D34661073}"/>
                </a:ext>
              </a:extLst>
            </p:cNvPr>
            <p:cNvSpPr txBox="1"/>
            <p:nvPr/>
          </p:nvSpPr>
          <p:spPr>
            <a:xfrm>
              <a:off x="5959250" y="1754365"/>
              <a:ext cx="1463247" cy="338554"/>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VM 1</a:t>
              </a:r>
            </a:p>
          </p:txBody>
        </p:sp>
      </p:grpSp>
    </p:spTree>
    <p:custDataLst>
      <p:tags r:id="rId1"/>
    </p:custDataLst>
    <p:extLst>
      <p:ext uri="{BB962C8B-B14F-4D97-AF65-F5344CB8AC3E}">
        <p14:creationId xmlns:p14="http://schemas.microsoft.com/office/powerpoint/2010/main" val="7030870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B182F8-41FB-A548-94D2-7C3960B4887E}"/>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50</a:t>
            </a:fld>
            <a:endParaRPr lang="en-US" dirty="0"/>
          </a:p>
        </p:txBody>
      </p:sp>
      <p:sp>
        <p:nvSpPr>
          <p:cNvPr id="2" name="Title 1">
            <a:extLst>
              <a:ext uri="{FF2B5EF4-FFF2-40B4-BE49-F238E27FC236}">
                <a16:creationId xmlns:a16="http://schemas.microsoft.com/office/drawing/2014/main" id="{1BECB5FF-F659-D946-BD0D-07C817244E90}"/>
              </a:ext>
            </a:extLst>
          </p:cNvPr>
          <p:cNvSpPr>
            <a:spLocks noGrp="1"/>
          </p:cNvSpPr>
          <p:nvPr>
            <p:ph type="title"/>
          </p:nvPr>
        </p:nvSpPr>
        <p:spPr/>
        <p:txBody>
          <a:bodyPr>
            <a:normAutofit/>
          </a:bodyPr>
          <a:lstStyle/>
          <a:p>
            <a:r>
              <a:rPr lang="en-US" dirty="0"/>
              <a:t>Amazon Elastic Container Service (Amazon ECS)</a:t>
            </a:r>
          </a:p>
        </p:txBody>
      </p:sp>
      <p:sp>
        <p:nvSpPr>
          <p:cNvPr id="3" name="Content Placeholder 2">
            <a:extLst>
              <a:ext uri="{FF2B5EF4-FFF2-40B4-BE49-F238E27FC236}">
                <a16:creationId xmlns:a16="http://schemas.microsoft.com/office/drawing/2014/main" id="{1F12B058-C6BF-3842-8DE0-4F810FD2007A}"/>
              </a:ext>
            </a:extLst>
          </p:cNvPr>
          <p:cNvSpPr>
            <a:spLocks noGrp="1"/>
          </p:cNvSpPr>
          <p:nvPr>
            <p:ph sz="quarter" idx="21"/>
          </p:nvPr>
        </p:nvSpPr>
        <p:spPr/>
        <p:txBody>
          <a:bodyPr>
            <a:normAutofit fontScale="92500" lnSpcReduction="10000"/>
          </a:bodyPr>
          <a:lstStyle/>
          <a:p>
            <a:r>
              <a:rPr lang="en-US" sz="2400" dirty="0"/>
              <a:t>Amazon Elastic Container Service (</a:t>
            </a:r>
            <a:r>
              <a:rPr lang="en-US" sz="2400" b="1" dirty="0">
                <a:solidFill>
                  <a:srgbClr val="504BAB"/>
                </a:solidFill>
              </a:rPr>
              <a:t>Amazon ECS</a:t>
            </a:r>
            <a:r>
              <a:rPr lang="en-US" sz="2400" dirty="0"/>
              <a:t>) – </a:t>
            </a:r>
          </a:p>
          <a:p>
            <a:pPr lvl="1"/>
            <a:r>
              <a:rPr lang="en-US" sz="2000" dirty="0"/>
              <a:t>A highly scalable, fast, </a:t>
            </a:r>
            <a:r>
              <a:rPr lang="en-US" sz="2000" dirty="0">
                <a:solidFill>
                  <a:schemeClr val="accent6"/>
                </a:solidFill>
              </a:rPr>
              <a:t>container management service </a:t>
            </a:r>
          </a:p>
          <a:p>
            <a:pPr marL="227012" lvl="1" indent="0">
              <a:buNone/>
            </a:pPr>
            <a:endParaRPr lang="en-US" sz="2000" dirty="0"/>
          </a:p>
          <a:p>
            <a:r>
              <a:rPr lang="en-US" sz="2400" dirty="0">
                <a:solidFill>
                  <a:srgbClr val="000000"/>
                </a:solidFill>
              </a:rPr>
              <a:t>Key benefits – </a:t>
            </a:r>
          </a:p>
          <a:p>
            <a:pPr lvl="1"/>
            <a:r>
              <a:rPr lang="en-US" sz="2000" dirty="0">
                <a:solidFill>
                  <a:srgbClr val="000000"/>
                </a:solidFill>
              </a:rPr>
              <a:t>Orchestrates the running of Docker containers</a:t>
            </a:r>
          </a:p>
          <a:p>
            <a:pPr lvl="1"/>
            <a:r>
              <a:rPr lang="en-US" sz="2000" dirty="0"/>
              <a:t>Maintains and scales the fleet of nodes that run your containers</a:t>
            </a:r>
          </a:p>
          <a:p>
            <a:pPr lvl="1"/>
            <a:r>
              <a:rPr lang="en-US" sz="2000" dirty="0"/>
              <a:t>Removes the complexity of standing up the infrastructure</a:t>
            </a:r>
          </a:p>
          <a:p>
            <a:pPr marL="227012" lvl="1" indent="0">
              <a:buNone/>
            </a:pPr>
            <a:endParaRPr lang="en-US" sz="2000" dirty="0"/>
          </a:p>
          <a:p>
            <a:r>
              <a:rPr lang="en-US" sz="2400" dirty="0"/>
              <a:t>Integrated with features that are familiar to Amazon EC2 service users – </a:t>
            </a:r>
          </a:p>
          <a:p>
            <a:pPr lvl="1"/>
            <a:r>
              <a:rPr lang="en-US" sz="2000" dirty="0"/>
              <a:t>Elastic Load Balancing</a:t>
            </a:r>
          </a:p>
          <a:p>
            <a:pPr lvl="1"/>
            <a:r>
              <a:rPr lang="en-US" sz="2000" dirty="0"/>
              <a:t>Amazon EC2 security groups</a:t>
            </a:r>
          </a:p>
          <a:p>
            <a:pPr lvl="1"/>
            <a:r>
              <a:rPr lang="en-US" sz="2000" dirty="0"/>
              <a:t>Amazon EBS volumes</a:t>
            </a:r>
          </a:p>
          <a:p>
            <a:pPr lvl="1"/>
            <a:r>
              <a:rPr lang="en-US" sz="2000" dirty="0"/>
              <a:t>IAM roles</a:t>
            </a:r>
          </a:p>
        </p:txBody>
      </p:sp>
      <p:sp>
        <p:nvSpPr>
          <p:cNvPr id="6" name="TextBox 5">
            <a:extLst>
              <a:ext uri="{FF2B5EF4-FFF2-40B4-BE49-F238E27FC236}">
                <a16:creationId xmlns:a16="http://schemas.microsoft.com/office/drawing/2014/main" id="{8B1771C9-595D-544D-B023-B8B47FD77A86}"/>
              </a:ext>
              <a:ext uri="{C183D7F6-B498-43B3-948B-1728B52AA6E4}">
                <adec:decorative xmlns:adec="http://schemas.microsoft.com/office/drawing/2017/decorative" val="1"/>
              </a:ext>
            </a:extLst>
          </p:cNvPr>
          <p:cNvSpPr txBox="1"/>
          <p:nvPr/>
        </p:nvSpPr>
        <p:spPr>
          <a:xfrm>
            <a:off x="9570212" y="2625455"/>
            <a:ext cx="2301904" cy="584775"/>
          </a:xfrm>
          <a:prstGeom prst="rect">
            <a:avLst/>
          </a:prstGeom>
          <a:noFill/>
        </p:spPr>
        <p:txBody>
          <a:bodyPr wrap="square" rtlCol="0">
            <a:spAutoFit/>
          </a:bodyPr>
          <a:lstStyle/>
          <a:p>
            <a:pPr algn="ctr"/>
            <a:r>
              <a:rPr lang="en-US" sz="1600" b="1" dirty="0"/>
              <a:t>Amazon Elastic Container Service</a:t>
            </a:r>
          </a:p>
        </p:txBody>
      </p:sp>
      <p:pic>
        <p:nvPicPr>
          <p:cNvPr id="7" name="Graphic 6">
            <a:extLst>
              <a:ext uri="{FF2B5EF4-FFF2-40B4-BE49-F238E27FC236}">
                <a16:creationId xmlns:a16="http://schemas.microsoft.com/office/drawing/2014/main" id="{7A08C55A-9ABF-5541-B1FB-ACBF4301506B}"/>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72524" y="1503597"/>
            <a:ext cx="1097280" cy="1097280"/>
          </a:xfrm>
          <a:prstGeom prst="rect">
            <a:avLst/>
          </a:prstGeom>
        </p:spPr>
      </p:pic>
    </p:spTree>
    <p:custDataLst>
      <p:tags r:id="rId1"/>
    </p:custDataLst>
    <p:extLst>
      <p:ext uri="{BB962C8B-B14F-4D97-AF65-F5344CB8AC3E}">
        <p14:creationId xmlns:p14="http://schemas.microsoft.com/office/powerpoint/2010/main" val="2171244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D63B605-10F6-C846-B83C-A8B6EF802164}"/>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51</a:t>
            </a:fld>
            <a:endParaRPr lang="en-US" dirty="0"/>
          </a:p>
        </p:txBody>
      </p:sp>
      <p:sp>
        <p:nvSpPr>
          <p:cNvPr id="2" name="Title 1">
            <a:extLst>
              <a:ext uri="{FF2B5EF4-FFF2-40B4-BE49-F238E27FC236}">
                <a16:creationId xmlns:a16="http://schemas.microsoft.com/office/drawing/2014/main" id="{BD7B06A7-05F6-AB41-9112-FABB41DF87E7}"/>
              </a:ext>
            </a:extLst>
          </p:cNvPr>
          <p:cNvSpPr>
            <a:spLocks noGrp="1"/>
          </p:cNvSpPr>
          <p:nvPr>
            <p:ph type="title"/>
          </p:nvPr>
        </p:nvSpPr>
        <p:spPr/>
        <p:txBody>
          <a:bodyPr/>
          <a:lstStyle/>
          <a:p>
            <a:r>
              <a:rPr lang="en-US" dirty="0"/>
              <a:t>Amazon ECS orchestrates containers</a:t>
            </a:r>
          </a:p>
        </p:txBody>
      </p:sp>
      <p:grpSp>
        <p:nvGrpSpPr>
          <p:cNvPr id="4" name="Group 3" descr="Graphic shows container A and container B on the left. In the center the Amazon ECS takes request for how many of each container to deploy, and then deploys them appropriately where room exists on the ECS cluster on the right which containers two instances that can each handle up to four containers.">
            <a:extLst>
              <a:ext uri="{FF2B5EF4-FFF2-40B4-BE49-F238E27FC236}">
                <a16:creationId xmlns:a16="http://schemas.microsoft.com/office/drawing/2014/main" id="{C266FFF8-FEE6-9EED-E072-07A0FD7A3E4D}"/>
              </a:ext>
            </a:extLst>
          </p:cNvPr>
          <p:cNvGrpSpPr/>
          <p:nvPr/>
        </p:nvGrpSpPr>
        <p:grpSpPr>
          <a:xfrm>
            <a:off x="0" y="1328739"/>
            <a:ext cx="11618282" cy="5347855"/>
            <a:chOff x="0" y="1328739"/>
            <a:chExt cx="11618282" cy="5347855"/>
          </a:xfrm>
        </p:grpSpPr>
        <p:sp>
          <p:nvSpPr>
            <p:cNvPr id="8" name="TextBox 7">
              <a:extLst>
                <a:ext uri="{FF2B5EF4-FFF2-40B4-BE49-F238E27FC236}">
                  <a16:creationId xmlns:a16="http://schemas.microsoft.com/office/drawing/2014/main" id="{9BF28E1E-22E3-204F-BF55-71237348C61B}"/>
                </a:ext>
              </a:extLst>
            </p:cNvPr>
            <p:cNvSpPr txBox="1"/>
            <p:nvPr/>
          </p:nvSpPr>
          <p:spPr>
            <a:xfrm>
              <a:off x="3364610" y="4828757"/>
              <a:ext cx="3328550" cy="645690"/>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Amazon Elastic Container Service (Amazon ECS)</a:t>
              </a:r>
            </a:p>
          </p:txBody>
        </p:sp>
        <p:sp>
          <p:nvSpPr>
            <p:cNvPr id="11" name="Rectangle 10">
              <a:extLst>
                <a:ext uri="{FF2B5EF4-FFF2-40B4-BE49-F238E27FC236}">
                  <a16:creationId xmlns:a16="http://schemas.microsoft.com/office/drawing/2014/main" id="{C4167B08-4425-754D-BAA2-ED7AB2C34F4E}"/>
                </a:ext>
              </a:extLst>
            </p:cNvPr>
            <p:cNvSpPr/>
            <p:nvPr/>
          </p:nvSpPr>
          <p:spPr>
            <a:xfrm>
              <a:off x="489657" y="3490462"/>
              <a:ext cx="1714901" cy="369332"/>
            </a:xfrm>
            <a:prstGeom prst="rect">
              <a:avLst/>
            </a:prstGeom>
          </p:spPr>
          <p:txBody>
            <a:bodyPr wrap="square">
              <a:spAutoFit/>
            </a:bodyPr>
            <a:lstStyle/>
            <a:p>
              <a:pPr algn="ctr"/>
              <a:r>
                <a:rPr lang="en-US" b="1" dirty="0">
                  <a:latin typeface="Amazon Ember" panose="020B0603020204020204" pitchFamily="34" charset="0"/>
                  <a:ea typeface="Amazon Ember" panose="020B0603020204020204" pitchFamily="34" charset="0"/>
                  <a:cs typeface="Amazon Ember" panose="020B0603020204020204" pitchFamily="34" charset="0"/>
                </a:rPr>
                <a:t>Container A</a:t>
              </a:r>
            </a:p>
          </p:txBody>
        </p:sp>
        <p:cxnSp>
          <p:nvCxnSpPr>
            <p:cNvPr id="35" name="Straight Arrow Connector 34">
              <a:extLst>
                <a:ext uri="{FF2B5EF4-FFF2-40B4-BE49-F238E27FC236}">
                  <a16:creationId xmlns:a16="http://schemas.microsoft.com/office/drawing/2014/main" id="{2DC1AEA7-6B4C-3745-82DB-3B12470CBBBC}"/>
                </a:ext>
              </a:extLst>
            </p:cNvPr>
            <p:cNvCxnSpPr>
              <a:cxnSpLocks/>
            </p:cNvCxnSpPr>
            <p:nvPr/>
          </p:nvCxnSpPr>
          <p:spPr>
            <a:xfrm>
              <a:off x="2933613" y="3649908"/>
              <a:ext cx="1457761" cy="369686"/>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0C09A488-7245-DE47-9BDD-E756A2FF4EA4}"/>
                </a:ext>
              </a:extLst>
            </p:cNvPr>
            <p:cNvSpPr/>
            <p:nvPr/>
          </p:nvSpPr>
          <p:spPr>
            <a:xfrm>
              <a:off x="0" y="4478836"/>
              <a:ext cx="2707884" cy="369332"/>
            </a:xfrm>
            <a:prstGeom prst="rect">
              <a:avLst/>
            </a:prstGeom>
          </p:spPr>
          <p:txBody>
            <a:bodyPr wrap="square">
              <a:spAutoFit/>
            </a:bodyPr>
            <a:lstStyle/>
            <a:p>
              <a:pPr algn="ctr"/>
              <a:r>
                <a:rPr lang="en-US" b="1" dirty="0">
                  <a:latin typeface="Amazon Ember" panose="020B0603020204020204" pitchFamily="34" charset="0"/>
                  <a:ea typeface="Amazon Ember" panose="020B0603020204020204" pitchFamily="34" charset="0"/>
                  <a:cs typeface="Amazon Ember" panose="020B0603020204020204" pitchFamily="34" charset="0"/>
                </a:rPr>
                <a:t>Container B</a:t>
              </a:r>
            </a:p>
          </p:txBody>
        </p:sp>
        <p:cxnSp>
          <p:nvCxnSpPr>
            <p:cNvPr id="38" name="Straight Arrow Connector 37">
              <a:extLst>
                <a:ext uri="{FF2B5EF4-FFF2-40B4-BE49-F238E27FC236}">
                  <a16:creationId xmlns:a16="http://schemas.microsoft.com/office/drawing/2014/main" id="{2BA486A5-2F10-C546-8CC9-033FF265F3ED}"/>
                </a:ext>
              </a:extLst>
            </p:cNvPr>
            <p:cNvCxnSpPr>
              <a:cxnSpLocks/>
            </p:cNvCxnSpPr>
            <p:nvPr/>
          </p:nvCxnSpPr>
          <p:spPr>
            <a:xfrm flipV="1">
              <a:off x="2930268" y="4304261"/>
              <a:ext cx="1461106" cy="359241"/>
            </a:xfrm>
            <a:prstGeom prst="bent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EDA8039-F4CF-D542-8892-024711F5B5CB}"/>
                </a:ext>
              </a:extLst>
            </p:cNvPr>
            <p:cNvSpPr txBox="1"/>
            <p:nvPr/>
          </p:nvSpPr>
          <p:spPr>
            <a:xfrm>
              <a:off x="3471411" y="2006524"/>
              <a:ext cx="3064042"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Requests to run containers</a:t>
              </a:r>
            </a:p>
          </p:txBody>
        </p:sp>
        <p:grpSp>
          <p:nvGrpSpPr>
            <p:cNvPr id="56" name="Group 55">
              <a:extLst>
                <a:ext uri="{FF2B5EF4-FFF2-40B4-BE49-F238E27FC236}">
                  <a16:creationId xmlns:a16="http://schemas.microsoft.com/office/drawing/2014/main" id="{A4DC4C22-7556-D246-9EB9-A65D383ABFAE}"/>
                </a:ext>
              </a:extLst>
            </p:cNvPr>
            <p:cNvGrpSpPr/>
            <p:nvPr/>
          </p:nvGrpSpPr>
          <p:grpSpPr>
            <a:xfrm>
              <a:off x="3358658" y="2457320"/>
              <a:ext cx="2212916" cy="374927"/>
              <a:chOff x="2964928" y="2235113"/>
              <a:chExt cx="2212916" cy="374927"/>
            </a:xfrm>
          </p:grpSpPr>
          <p:sp>
            <p:nvSpPr>
              <p:cNvPr id="51" name="TextBox 50">
                <a:extLst>
                  <a:ext uri="{FF2B5EF4-FFF2-40B4-BE49-F238E27FC236}">
                    <a16:creationId xmlns:a16="http://schemas.microsoft.com/office/drawing/2014/main" id="{2A07424A-0638-CD43-A0D6-557838A5EA99}"/>
                  </a:ext>
                </a:extLst>
              </p:cNvPr>
              <p:cNvSpPr txBox="1"/>
              <p:nvPr/>
            </p:nvSpPr>
            <p:spPr>
              <a:xfrm>
                <a:off x="2964928" y="2235113"/>
                <a:ext cx="766944" cy="369012"/>
              </a:xfrm>
              <a:prstGeom prst="rect">
                <a:avLst/>
              </a:prstGeom>
              <a:noFill/>
            </p:spPr>
            <p:txBody>
              <a:bodyPr wrap="square" rtlCol="0">
                <a:spAutoFit/>
              </a:bodyPr>
              <a:lstStyle/>
              <a:p>
                <a:pPr algn="r"/>
                <a:r>
                  <a:rPr lang="en-US" dirty="0">
                    <a:latin typeface="Amazon Ember" panose="020B0603020204020204" pitchFamily="34" charset="0"/>
                    <a:ea typeface="Amazon Ember" panose="020B0603020204020204" pitchFamily="34" charset="0"/>
                    <a:cs typeface="Amazon Ember" panose="020B0603020204020204" pitchFamily="34" charset="0"/>
                  </a:rPr>
                  <a:t>x3</a:t>
                </a:r>
              </a:p>
            </p:txBody>
          </p:sp>
          <p:sp>
            <p:nvSpPr>
              <p:cNvPr id="52" name="TextBox 51">
                <a:extLst>
                  <a:ext uri="{FF2B5EF4-FFF2-40B4-BE49-F238E27FC236}">
                    <a16:creationId xmlns:a16="http://schemas.microsoft.com/office/drawing/2014/main" id="{9E4EF8B3-BC25-104B-BBCB-B15EDBF06DE1}"/>
                  </a:ext>
                </a:extLst>
              </p:cNvPr>
              <p:cNvSpPr txBox="1"/>
              <p:nvPr/>
            </p:nvSpPr>
            <p:spPr>
              <a:xfrm>
                <a:off x="4410900" y="2241028"/>
                <a:ext cx="766944" cy="369012"/>
              </a:xfrm>
              <a:prstGeom prst="rect">
                <a:avLst/>
              </a:prstGeom>
              <a:noFill/>
            </p:spPr>
            <p:txBody>
              <a:bodyPr wrap="square" rtlCol="0">
                <a:spAutoFit/>
              </a:bodyPr>
              <a:lstStyle/>
              <a:p>
                <a:pPr algn="r"/>
                <a:r>
                  <a:rPr lang="en-US" dirty="0">
                    <a:latin typeface="Amazon Ember" panose="020B0603020204020204" pitchFamily="34" charset="0"/>
                    <a:ea typeface="Amazon Ember" panose="020B0603020204020204" pitchFamily="34" charset="0"/>
                    <a:cs typeface="Amazon Ember" panose="020B0603020204020204" pitchFamily="34" charset="0"/>
                  </a:rPr>
                  <a:t>x2</a:t>
                </a:r>
              </a:p>
            </p:txBody>
          </p:sp>
        </p:grpSp>
        <p:cxnSp>
          <p:nvCxnSpPr>
            <p:cNvPr id="54" name="Straight Arrow Connector 53">
              <a:extLst>
                <a:ext uri="{FF2B5EF4-FFF2-40B4-BE49-F238E27FC236}">
                  <a16:creationId xmlns:a16="http://schemas.microsoft.com/office/drawing/2014/main" id="{D4A455A7-2D69-314B-94CE-EB350FD62D39}"/>
                </a:ext>
              </a:extLst>
            </p:cNvPr>
            <p:cNvCxnSpPr/>
            <p:nvPr/>
          </p:nvCxnSpPr>
          <p:spPr>
            <a:xfrm>
              <a:off x="5022627" y="2928553"/>
              <a:ext cx="0" cy="362086"/>
            </a:xfrm>
            <a:prstGeom prst="straightConnector1">
              <a:avLst/>
            </a:prstGeom>
            <a:ln w="38100">
              <a:solidFill>
                <a:srgbClr val="4AC1FF"/>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3D715926-412D-894E-BEE1-2248AE9ED6E2}"/>
                </a:ext>
              </a:extLst>
            </p:cNvPr>
            <p:cNvSpPr/>
            <p:nvPr/>
          </p:nvSpPr>
          <p:spPr>
            <a:xfrm>
              <a:off x="3213307" y="1908891"/>
              <a:ext cx="3580251" cy="1019662"/>
            </a:xfrm>
            <a:prstGeom prst="rect">
              <a:avLst/>
            </a:prstGeom>
            <a:noFill/>
            <a:ln w="25400">
              <a:solidFill>
                <a:srgbClr val="4AC1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8" name="Straight Arrow Connector 57">
              <a:extLst>
                <a:ext uri="{FF2B5EF4-FFF2-40B4-BE49-F238E27FC236}">
                  <a16:creationId xmlns:a16="http://schemas.microsoft.com/office/drawing/2014/main" id="{A0EE41E8-7271-F441-B085-B0F2EB26A542}"/>
                </a:ext>
              </a:extLst>
            </p:cNvPr>
            <p:cNvCxnSpPr>
              <a:cxnSpLocks/>
            </p:cNvCxnSpPr>
            <p:nvPr/>
          </p:nvCxnSpPr>
          <p:spPr>
            <a:xfrm flipV="1">
              <a:off x="5586399" y="2846816"/>
              <a:ext cx="3072578" cy="983891"/>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20C650A9-FAD5-E045-88E3-F23E27C8B5A1}"/>
                </a:ext>
              </a:extLst>
            </p:cNvPr>
            <p:cNvCxnSpPr>
              <a:cxnSpLocks/>
            </p:cNvCxnSpPr>
            <p:nvPr/>
          </p:nvCxnSpPr>
          <p:spPr>
            <a:xfrm>
              <a:off x="5568153" y="4270807"/>
              <a:ext cx="3036360" cy="815243"/>
            </a:xfrm>
            <a:prstGeom prst="bentConnector3">
              <a:avLst>
                <a:gd name="adj1" fmla="val 50000"/>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Rounded Rectangle 43">
              <a:extLst>
                <a:ext uri="{FF2B5EF4-FFF2-40B4-BE49-F238E27FC236}">
                  <a16:creationId xmlns:a16="http://schemas.microsoft.com/office/drawing/2014/main" id="{737D7DFD-AC62-1143-94A2-0C34123576A6}"/>
                </a:ext>
              </a:extLst>
            </p:cNvPr>
            <p:cNvSpPr/>
            <p:nvPr/>
          </p:nvSpPr>
          <p:spPr>
            <a:xfrm>
              <a:off x="8870631" y="1974574"/>
              <a:ext cx="2302535" cy="1630484"/>
            </a:xfrm>
            <a:prstGeom prst="roundRect">
              <a:avLst/>
            </a:prstGeom>
            <a:noFill/>
            <a:ln w="254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48195173-95B7-424E-AC3F-75CE5A5A3E14}"/>
                </a:ext>
              </a:extLst>
            </p:cNvPr>
            <p:cNvSpPr txBox="1"/>
            <p:nvPr/>
          </p:nvSpPr>
          <p:spPr>
            <a:xfrm>
              <a:off x="9406787" y="1623137"/>
              <a:ext cx="1678484"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EC2 instance</a:t>
              </a:r>
            </a:p>
          </p:txBody>
        </p:sp>
        <p:cxnSp>
          <p:nvCxnSpPr>
            <p:cNvPr id="70" name="Straight Connector 69">
              <a:extLst>
                <a:ext uri="{FF2B5EF4-FFF2-40B4-BE49-F238E27FC236}">
                  <a16:creationId xmlns:a16="http://schemas.microsoft.com/office/drawing/2014/main" id="{2EB274C0-2361-7A47-B8FC-5FDC6B4676B9}"/>
                </a:ext>
              </a:extLst>
            </p:cNvPr>
            <p:cNvCxnSpPr/>
            <p:nvPr/>
          </p:nvCxnSpPr>
          <p:spPr>
            <a:xfrm>
              <a:off x="10031402" y="2101327"/>
              <a:ext cx="0" cy="140063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C4A9633-D3FB-6241-8DE5-CE1804A4A223}"/>
                </a:ext>
              </a:extLst>
            </p:cNvPr>
            <p:cNvCxnSpPr>
              <a:cxnSpLocks/>
            </p:cNvCxnSpPr>
            <p:nvPr/>
          </p:nvCxnSpPr>
          <p:spPr>
            <a:xfrm flipH="1">
              <a:off x="9192162" y="2789817"/>
              <a:ext cx="1659473"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87" name="Rounded Rectangle 86">
              <a:extLst>
                <a:ext uri="{FF2B5EF4-FFF2-40B4-BE49-F238E27FC236}">
                  <a16:creationId xmlns:a16="http://schemas.microsoft.com/office/drawing/2014/main" id="{E2100854-BC52-354F-BAF1-CAAED7A8B77C}"/>
                </a:ext>
              </a:extLst>
            </p:cNvPr>
            <p:cNvSpPr/>
            <p:nvPr/>
          </p:nvSpPr>
          <p:spPr>
            <a:xfrm>
              <a:off x="8870631" y="4270807"/>
              <a:ext cx="2302535" cy="1630484"/>
            </a:xfrm>
            <a:prstGeom prst="roundRect">
              <a:avLst/>
            </a:prstGeom>
            <a:noFill/>
            <a:ln w="25400">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Box 87">
              <a:extLst>
                <a:ext uri="{FF2B5EF4-FFF2-40B4-BE49-F238E27FC236}">
                  <a16:creationId xmlns:a16="http://schemas.microsoft.com/office/drawing/2014/main" id="{924C808A-D77A-D940-9EC0-5CE9AFFDF061}"/>
                </a:ext>
              </a:extLst>
            </p:cNvPr>
            <p:cNvSpPr txBox="1"/>
            <p:nvPr/>
          </p:nvSpPr>
          <p:spPr>
            <a:xfrm>
              <a:off x="9276475" y="3895811"/>
              <a:ext cx="1678484" cy="369012"/>
            </a:xfrm>
            <a:prstGeom prst="rect">
              <a:avLst/>
            </a:prstGeom>
            <a:no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EC2 instance</a:t>
              </a:r>
            </a:p>
          </p:txBody>
        </p:sp>
        <p:cxnSp>
          <p:nvCxnSpPr>
            <p:cNvPr id="92" name="Straight Connector 91">
              <a:extLst>
                <a:ext uri="{FF2B5EF4-FFF2-40B4-BE49-F238E27FC236}">
                  <a16:creationId xmlns:a16="http://schemas.microsoft.com/office/drawing/2014/main" id="{6868A445-4C28-BC4B-BB08-0A3A5261F97C}"/>
                </a:ext>
              </a:extLst>
            </p:cNvPr>
            <p:cNvCxnSpPr/>
            <p:nvPr/>
          </p:nvCxnSpPr>
          <p:spPr>
            <a:xfrm>
              <a:off x="10031402" y="4397560"/>
              <a:ext cx="0" cy="1400635"/>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6DEEEFDA-5F89-A145-9694-498DE296B38B}"/>
                </a:ext>
              </a:extLst>
            </p:cNvPr>
            <p:cNvCxnSpPr>
              <a:cxnSpLocks/>
            </p:cNvCxnSpPr>
            <p:nvPr/>
          </p:nvCxnSpPr>
          <p:spPr>
            <a:xfrm flipH="1">
              <a:off x="9192162" y="5086050"/>
              <a:ext cx="1659473" cy="1"/>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5" name="Rounded Rectangle 94">
              <a:extLst>
                <a:ext uri="{FF2B5EF4-FFF2-40B4-BE49-F238E27FC236}">
                  <a16:creationId xmlns:a16="http://schemas.microsoft.com/office/drawing/2014/main" id="{6360C585-7915-A14A-83EF-7F2FBA5F8202}"/>
                </a:ext>
              </a:extLst>
            </p:cNvPr>
            <p:cNvSpPr/>
            <p:nvPr/>
          </p:nvSpPr>
          <p:spPr>
            <a:xfrm>
              <a:off x="8289731" y="1328739"/>
              <a:ext cx="3328551" cy="4853402"/>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Helvetica Neue"/>
                <a:cs typeface="Helvetica Neue"/>
              </a:endParaRPr>
            </a:p>
          </p:txBody>
        </p:sp>
        <p:sp>
          <p:nvSpPr>
            <p:cNvPr id="103" name="TextBox 102">
              <a:extLst>
                <a:ext uri="{FF2B5EF4-FFF2-40B4-BE49-F238E27FC236}">
                  <a16:creationId xmlns:a16="http://schemas.microsoft.com/office/drawing/2014/main" id="{05E67983-3CCA-A046-90EA-B7079A6B6D2E}"/>
                </a:ext>
              </a:extLst>
            </p:cNvPr>
            <p:cNvSpPr txBox="1"/>
            <p:nvPr/>
          </p:nvSpPr>
          <p:spPr>
            <a:xfrm>
              <a:off x="9187093" y="6276484"/>
              <a:ext cx="1642398" cy="400110"/>
            </a:xfrm>
            <a:prstGeom prst="rect">
              <a:avLst/>
            </a:prstGeom>
            <a:solidFill>
              <a:schemeClr val="bg1"/>
            </a:solidFill>
            <a:ln>
              <a:noFill/>
            </a:ln>
          </p:spPr>
          <p:txBody>
            <a:bodyPr wrap="square" rtlCol="0">
              <a:spAutoFit/>
            </a:body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ECS cluster</a:t>
              </a:r>
            </a:p>
          </p:txBody>
        </p:sp>
        <p:pic>
          <p:nvPicPr>
            <p:cNvPr id="45" name="Graphic 44">
              <a:extLst>
                <a:ext uri="{FF2B5EF4-FFF2-40B4-BE49-F238E27FC236}">
                  <a16:creationId xmlns:a16="http://schemas.microsoft.com/office/drawing/2014/main" id="{9268D860-F743-0C4B-B983-748C5587EED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13158" y="1471662"/>
              <a:ext cx="469900" cy="469900"/>
            </a:xfrm>
            <a:prstGeom prst="rect">
              <a:avLst/>
            </a:prstGeom>
          </p:spPr>
        </p:pic>
        <p:pic>
          <p:nvPicPr>
            <p:cNvPr id="47" name="Graphic 46">
              <a:extLst>
                <a:ext uri="{FF2B5EF4-FFF2-40B4-BE49-F238E27FC236}">
                  <a16:creationId xmlns:a16="http://schemas.microsoft.com/office/drawing/2014/main" id="{84793C01-DFE5-EF4C-9BBE-4ED24E6AD69E}"/>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114671" y="3329868"/>
              <a:ext cx="640080" cy="640080"/>
            </a:xfrm>
            <a:prstGeom prst="rect">
              <a:avLst/>
            </a:prstGeom>
          </p:spPr>
        </p:pic>
        <p:pic>
          <p:nvPicPr>
            <p:cNvPr id="53" name="Graphic 52">
              <a:extLst>
                <a:ext uri="{FF2B5EF4-FFF2-40B4-BE49-F238E27FC236}">
                  <a16:creationId xmlns:a16="http://schemas.microsoft.com/office/drawing/2014/main" id="{4CEE35A3-86CF-094B-8603-370976634866}"/>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28752" y="4343462"/>
              <a:ext cx="640080" cy="640080"/>
            </a:xfrm>
            <a:prstGeom prst="rect">
              <a:avLst/>
            </a:prstGeom>
          </p:spPr>
        </p:pic>
        <p:pic>
          <p:nvPicPr>
            <p:cNvPr id="57" name="Graphic 56">
              <a:extLst>
                <a:ext uri="{FF2B5EF4-FFF2-40B4-BE49-F238E27FC236}">
                  <a16:creationId xmlns:a16="http://schemas.microsoft.com/office/drawing/2014/main" id="{D24D1CF0-7A0C-3843-AC52-82BE1C63B382}"/>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90139" y="2316043"/>
              <a:ext cx="640080" cy="640080"/>
            </a:xfrm>
            <a:prstGeom prst="rect">
              <a:avLst/>
            </a:prstGeom>
          </p:spPr>
        </p:pic>
        <p:pic>
          <p:nvPicPr>
            <p:cNvPr id="59" name="Graphic 58">
              <a:extLst>
                <a:ext uri="{FF2B5EF4-FFF2-40B4-BE49-F238E27FC236}">
                  <a16:creationId xmlns:a16="http://schemas.microsoft.com/office/drawing/2014/main" id="{F31C02BD-3BB2-514B-B9D0-071B360D7BCD}"/>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52873" y="2167758"/>
              <a:ext cx="640080" cy="640080"/>
            </a:xfrm>
            <a:prstGeom prst="rect">
              <a:avLst/>
            </a:prstGeom>
          </p:spPr>
        </p:pic>
        <p:pic>
          <p:nvPicPr>
            <p:cNvPr id="61" name="Graphic 60">
              <a:extLst>
                <a:ext uri="{FF2B5EF4-FFF2-40B4-BE49-F238E27FC236}">
                  <a16:creationId xmlns:a16="http://schemas.microsoft.com/office/drawing/2014/main" id="{91C0B0E8-0880-C94A-820B-F1C357C39030}"/>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92325" y="2167461"/>
              <a:ext cx="640080" cy="640080"/>
            </a:xfrm>
            <a:prstGeom prst="rect">
              <a:avLst/>
            </a:prstGeom>
          </p:spPr>
        </p:pic>
        <p:pic>
          <p:nvPicPr>
            <p:cNvPr id="62" name="Graphic 61">
              <a:extLst>
                <a:ext uri="{FF2B5EF4-FFF2-40B4-BE49-F238E27FC236}">
                  <a16:creationId xmlns:a16="http://schemas.microsoft.com/office/drawing/2014/main" id="{E28C5C77-B60E-EE41-BCC7-1206B1B4C0C8}"/>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202642" y="5163423"/>
              <a:ext cx="640080" cy="640080"/>
            </a:xfrm>
            <a:prstGeom prst="rect">
              <a:avLst/>
            </a:prstGeom>
          </p:spPr>
        </p:pic>
        <p:pic>
          <p:nvPicPr>
            <p:cNvPr id="64" name="Graphic 63">
              <a:extLst>
                <a:ext uri="{FF2B5EF4-FFF2-40B4-BE49-F238E27FC236}">
                  <a16:creationId xmlns:a16="http://schemas.microsoft.com/office/drawing/2014/main" id="{FF1A7FB2-34D1-EB47-88F3-47B1759306CD}"/>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36886" y="2294581"/>
              <a:ext cx="640080" cy="640080"/>
            </a:xfrm>
            <a:prstGeom prst="rect">
              <a:avLst/>
            </a:prstGeom>
          </p:spPr>
        </p:pic>
        <p:pic>
          <p:nvPicPr>
            <p:cNvPr id="66" name="Graphic 65">
              <a:extLst>
                <a:ext uri="{FF2B5EF4-FFF2-40B4-BE49-F238E27FC236}">
                  <a16:creationId xmlns:a16="http://schemas.microsoft.com/office/drawing/2014/main" id="{252C3B15-10E7-2B47-810D-7A5C30612E8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42682" y="5163423"/>
              <a:ext cx="640080" cy="640080"/>
            </a:xfrm>
            <a:prstGeom prst="rect">
              <a:avLst/>
            </a:prstGeom>
          </p:spPr>
        </p:pic>
        <p:pic>
          <p:nvPicPr>
            <p:cNvPr id="68" name="Graphic 67">
              <a:extLst>
                <a:ext uri="{FF2B5EF4-FFF2-40B4-BE49-F238E27FC236}">
                  <a16:creationId xmlns:a16="http://schemas.microsoft.com/office/drawing/2014/main" id="{93075AFE-E630-E347-8EA7-DAC44D5D1EDB}"/>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43598" y="2867190"/>
              <a:ext cx="640080" cy="640080"/>
            </a:xfrm>
            <a:prstGeom prst="rect">
              <a:avLst/>
            </a:prstGeom>
          </p:spPr>
        </p:pic>
        <p:pic>
          <p:nvPicPr>
            <p:cNvPr id="69" name="Graphic 68">
              <a:extLst>
                <a:ext uri="{FF2B5EF4-FFF2-40B4-BE49-F238E27FC236}">
                  <a16:creationId xmlns:a16="http://schemas.microsoft.com/office/drawing/2014/main" id="{C42FB981-1985-3D45-980D-16F552A0C24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56579" y="3790931"/>
              <a:ext cx="469900" cy="469900"/>
            </a:xfrm>
            <a:prstGeom prst="rect">
              <a:avLst/>
            </a:prstGeom>
          </p:spPr>
        </p:pic>
        <p:pic>
          <p:nvPicPr>
            <p:cNvPr id="72" name="Graphic 71">
              <a:extLst>
                <a:ext uri="{FF2B5EF4-FFF2-40B4-BE49-F238E27FC236}">
                  <a16:creationId xmlns:a16="http://schemas.microsoft.com/office/drawing/2014/main" id="{9F51CA00-CECF-2C42-987D-E96D29EB018A}"/>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32470" y="3661244"/>
              <a:ext cx="894587" cy="894587"/>
            </a:xfrm>
            <a:prstGeom prst="rect">
              <a:avLst/>
            </a:prstGeom>
          </p:spPr>
        </p:pic>
      </p:grpSp>
    </p:spTree>
    <p:custDataLst>
      <p:tags r:id="rId1"/>
    </p:custDataLst>
    <p:extLst>
      <p:ext uri="{BB962C8B-B14F-4D97-AF65-F5344CB8AC3E}">
        <p14:creationId xmlns:p14="http://schemas.microsoft.com/office/powerpoint/2010/main" val="7998388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802F8B6-37D9-724C-BC4E-E885A142BA1F}"/>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52</a:t>
            </a:fld>
            <a:endParaRPr lang="en-US" dirty="0"/>
          </a:p>
        </p:txBody>
      </p:sp>
      <p:sp>
        <p:nvSpPr>
          <p:cNvPr id="2" name="Title 1">
            <a:extLst>
              <a:ext uri="{FF2B5EF4-FFF2-40B4-BE49-F238E27FC236}">
                <a16:creationId xmlns:a16="http://schemas.microsoft.com/office/drawing/2014/main" id="{BDA06149-4E31-D247-AD3C-17157871ACCB}"/>
              </a:ext>
            </a:extLst>
          </p:cNvPr>
          <p:cNvSpPr>
            <a:spLocks noGrp="1"/>
          </p:cNvSpPr>
          <p:nvPr>
            <p:ph type="title"/>
          </p:nvPr>
        </p:nvSpPr>
        <p:spPr/>
        <p:txBody>
          <a:bodyPr/>
          <a:lstStyle/>
          <a:p>
            <a:r>
              <a:rPr lang="en-US" dirty="0"/>
              <a:t>Amazon ECS cluster options</a:t>
            </a:r>
          </a:p>
        </p:txBody>
      </p:sp>
      <p:sp>
        <p:nvSpPr>
          <p:cNvPr id="3" name="Content Placeholder 2">
            <a:extLst>
              <a:ext uri="{FF2B5EF4-FFF2-40B4-BE49-F238E27FC236}">
                <a16:creationId xmlns:a16="http://schemas.microsoft.com/office/drawing/2014/main" id="{D9023550-FC52-9D46-AB36-F5577EA8BCB9}"/>
              </a:ext>
            </a:extLst>
          </p:cNvPr>
          <p:cNvSpPr>
            <a:spLocks noGrp="1"/>
          </p:cNvSpPr>
          <p:nvPr>
            <p:ph sz="quarter" idx="21"/>
          </p:nvPr>
        </p:nvSpPr>
        <p:spPr/>
        <p:txBody>
          <a:bodyPr/>
          <a:lstStyle/>
          <a:p>
            <a:pPr algn="just"/>
            <a:r>
              <a:rPr lang="en-US" sz="2200" b="1" dirty="0">
                <a:latin typeface="Amazon Ember" panose="020B0603020204020204" pitchFamily="34" charset="0"/>
                <a:ea typeface="Amazon Ember" panose="020B0603020204020204" pitchFamily="34" charset="0"/>
                <a:cs typeface="Amazon Ember" panose="020B0603020204020204" pitchFamily="34" charset="0"/>
              </a:rPr>
              <a:t>Key question</a:t>
            </a:r>
            <a:r>
              <a:rPr lang="en-US" sz="2200" dirty="0">
                <a:latin typeface="Amazon Ember" panose="020B0603020204020204" pitchFamily="34" charset="0"/>
                <a:ea typeface="Amazon Ember" panose="020B0603020204020204" pitchFamily="34" charset="0"/>
                <a:cs typeface="Amazon Ember" panose="020B0603020204020204" pitchFamily="34" charset="0"/>
              </a:rPr>
              <a:t>: Do </a:t>
            </a:r>
            <a:r>
              <a:rPr lang="en-US" sz="2200" b="1" i="1" dirty="0">
                <a:latin typeface="Amazon Ember" panose="020B0603020204020204" pitchFamily="34" charset="0"/>
                <a:ea typeface="Amazon Ember" panose="020B0603020204020204" pitchFamily="34" charset="0"/>
                <a:cs typeface="Amazon Ember" panose="020B0603020204020204" pitchFamily="34" charset="0"/>
              </a:rPr>
              <a:t>you</a:t>
            </a:r>
            <a:r>
              <a:rPr lang="en-US" sz="2200" dirty="0">
                <a:latin typeface="Amazon Ember" panose="020B0603020204020204" pitchFamily="34" charset="0"/>
                <a:ea typeface="Amazon Ember" panose="020B0603020204020204" pitchFamily="34" charset="0"/>
                <a:cs typeface="Amazon Ember" panose="020B0603020204020204" pitchFamily="34" charset="0"/>
              </a:rPr>
              <a:t> want to manage the Amazon ECS cluster</a:t>
            </a:r>
            <a:r>
              <a:rPr lang="en-US" sz="22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 </a:t>
            </a:r>
            <a:r>
              <a:rPr lang="en-US" sz="2200" dirty="0">
                <a:latin typeface="Amazon Ember" panose="020B0603020204020204" pitchFamily="34" charset="0"/>
                <a:ea typeface="Amazon Ember" panose="020B0603020204020204" pitchFamily="34" charset="0"/>
                <a:cs typeface="Amazon Ember" panose="020B0603020204020204" pitchFamily="34" charset="0"/>
              </a:rPr>
              <a:t>that runs the containers?</a:t>
            </a:r>
          </a:p>
          <a:p>
            <a:pPr marL="0" indent="0" algn="just">
              <a:buNone/>
            </a:pPr>
            <a:endParaRPr lang="en-US" sz="1100" dirty="0">
              <a:latin typeface="Amazon Ember" panose="020B0603020204020204" pitchFamily="34" charset="0"/>
              <a:ea typeface="Amazon Ember" panose="020B0603020204020204" pitchFamily="34" charset="0"/>
              <a:cs typeface="Amazon Ember" panose="020B0603020204020204" pitchFamily="34" charset="0"/>
            </a:endParaRPr>
          </a:p>
          <a:p>
            <a:pPr lvl="1"/>
            <a:r>
              <a:rPr lang="en-US" sz="2000" dirty="0">
                <a:latin typeface="Amazon Ember" panose="020B0603020204020204" pitchFamily="34" charset="0"/>
                <a:ea typeface="Amazon Ember" panose="020B0603020204020204" pitchFamily="34" charset="0"/>
                <a:cs typeface="Amazon Ember" panose="020B0603020204020204" pitchFamily="34" charset="0"/>
              </a:rPr>
              <a:t>If </a:t>
            </a:r>
            <a:r>
              <a:rPr lang="en-US" sz="20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yes</a:t>
            </a:r>
            <a:r>
              <a:rPr lang="en-US" sz="2000" dirty="0">
                <a:latin typeface="Amazon Ember" panose="020B0603020204020204" pitchFamily="34" charset="0"/>
                <a:ea typeface="Amazon Ember" panose="020B0603020204020204" pitchFamily="34" charset="0"/>
                <a:cs typeface="Amazon Ember" panose="020B0603020204020204" pitchFamily="34" charset="0"/>
              </a:rPr>
              <a:t>, create an </a:t>
            </a:r>
            <a:r>
              <a:rPr lang="en-US" sz="20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Amazon ECS cluster backed by Amazon EC2 </a:t>
            </a:r>
            <a:r>
              <a:rPr lang="en-US" sz="2000" dirty="0">
                <a:latin typeface="Amazon Ember" panose="020B0603020204020204" pitchFamily="34" charset="0"/>
                <a:ea typeface="Amazon Ember" panose="020B0603020204020204" pitchFamily="34" charset="0"/>
                <a:cs typeface="Amazon Ember" panose="020B0603020204020204" pitchFamily="34" charset="0"/>
              </a:rPr>
              <a:t>(provides more granular control over infrastructure)</a:t>
            </a:r>
          </a:p>
          <a:p>
            <a:pPr lvl="1"/>
            <a:r>
              <a:rPr lang="en-US" sz="2000" dirty="0">
                <a:latin typeface="Amazon Ember" panose="020B0603020204020204" pitchFamily="34" charset="0"/>
                <a:ea typeface="Amazon Ember" panose="020B0603020204020204" pitchFamily="34" charset="0"/>
                <a:cs typeface="Amazon Ember" panose="020B0603020204020204" pitchFamily="34" charset="0"/>
              </a:rPr>
              <a:t>If </a:t>
            </a:r>
            <a:r>
              <a:rPr lang="en-US" sz="20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no</a:t>
            </a:r>
            <a:r>
              <a:rPr lang="en-US" sz="2000" dirty="0">
                <a:latin typeface="Amazon Ember" panose="020B0603020204020204" pitchFamily="34" charset="0"/>
                <a:ea typeface="Amazon Ember" panose="020B0603020204020204" pitchFamily="34" charset="0"/>
                <a:cs typeface="Amazon Ember" panose="020B0603020204020204" pitchFamily="34" charset="0"/>
              </a:rPr>
              <a:t>, create an </a:t>
            </a:r>
            <a:r>
              <a:rPr lang="en-US" sz="20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Amazon ECS cluster backed by AWS Fargate </a:t>
            </a:r>
            <a:r>
              <a:rPr lang="en-US" sz="2000" dirty="0">
                <a:latin typeface="Amazon Ember" panose="020B0603020204020204" pitchFamily="34" charset="0"/>
                <a:ea typeface="Amazon Ember" panose="020B0603020204020204" pitchFamily="34" charset="0"/>
                <a:cs typeface="Amazon Ember" panose="020B0603020204020204" pitchFamily="34" charset="0"/>
              </a:rPr>
              <a:t>(easier to maintain, focus on your applications)</a:t>
            </a:r>
          </a:p>
        </p:txBody>
      </p:sp>
      <p:grpSp>
        <p:nvGrpSpPr>
          <p:cNvPr id="43" name="Group 42" descr="Diagram shows three apps running in containers. If it is a Fargate-backed ECS cluster then you only need to manage the apps. If it is an EC2-backed ECS cluster, you also have to manage the VM guest OSs as well as the Docker engine."/>
          <p:cNvGrpSpPr/>
          <p:nvPr/>
        </p:nvGrpSpPr>
        <p:grpSpPr>
          <a:xfrm>
            <a:off x="357134" y="3336998"/>
            <a:ext cx="11477732" cy="2963079"/>
            <a:chOff x="419100" y="3239112"/>
            <a:chExt cx="11477732" cy="2963079"/>
          </a:xfrm>
        </p:grpSpPr>
        <p:sp>
          <p:nvSpPr>
            <p:cNvPr id="6" name="Rounded Rectangle 5">
              <a:extLst>
                <a:ext uri="{FF2B5EF4-FFF2-40B4-BE49-F238E27FC236}">
                  <a16:creationId xmlns:a16="http://schemas.microsoft.com/office/drawing/2014/main" id="{919BAAC4-1AC1-7F45-9680-6CAAB064511D}"/>
                </a:ext>
              </a:extLst>
            </p:cNvPr>
            <p:cNvSpPr/>
            <p:nvPr/>
          </p:nvSpPr>
          <p:spPr>
            <a:xfrm>
              <a:off x="2973059" y="5294842"/>
              <a:ext cx="5965793" cy="397315"/>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Docker engines (one per OS in the cluster)</a:t>
              </a:r>
            </a:p>
          </p:txBody>
        </p:sp>
        <p:sp>
          <p:nvSpPr>
            <p:cNvPr id="7" name="Rounded Rectangle 6">
              <a:extLst>
                <a:ext uri="{FF2B5EF4-FFF2-40B4-BE49-F238E27FC236}">
                  <a16:creationId xmlns:a16="http://schemas.microsoft.com/office/drawing/2014/main" id="{7FB77F61-7F57-1041-85ED-B0F2F6886034}"/>
                </a:ext>
              </a:extLst>
            </p:cNvPr>
            <p:cNvSpPr/>
            <p:nvPr/>
          </p:nvSpPr>
          <p:spPr>
            <a:xfrm>
              <a:off x="3110805" y="4722834"/>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8" name="Rounded Rectangle 7">
              <a:extLst>
                <a:ext uri="{FF2B5EF4-FFF2-40B4-BE49-F238E27FC236}">
                  <a16:creationId xmlns:a16="http://schemas.microsoft.com/office/drawing/2014/main" id="{A891A383-A59B-D841-833D-7185EDD86293}"/>
                </a:ext>
              </a:extLst>
            </p:cNvPr>
            <p:cNvSpPr/>
            <p:nvPr/>
          </p:nvSpPr>
          <p:spPr>
            <a:xfrm>
              <a:off x="3110805" y="4220078"/>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1</a:t>
              </a:r>
            </a:p>
          </p:txBody>
        </p:sp>
        <p:sp>
          <p:nvSpPr>
            <p:cNvPr id="9" name="Rounded Rectangle 8">
              <a:extLst>
                <a:ext uri="{FF2B5EF4-FFF2-40B4-BE49-F238E27FC236}">
                  <a16:creationId xmlns:a16="http://schemas.microsoft.com/office/drawing/2014/main" id="{9C861A48-AD47-6544-AEC6-DC748C894991}"/>
                </a:ext>
              </a:extLst>
            </p:cNvPr>
            <p:cNvSpPr/>
            <p:nvPr/>
          </p:nvSpPr>
          <p:spPr>
            <a:xfrm>
              <a:off x="5156974" y="4792774"/>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10" name="Rounded Rectangle 9">
              <a:extLst>
                <a:ext uri="{FF2B5EF4-FFF2-40B4-BE49-F238E27FC236}">
                  <a16:creationId xmlns:a16="http://schemas.microsoft.com/office/drawing/2014/main" id="{E59892C6-18B1-8746-9B05-BE267665BF29}"/>
                </a:ext>
              </a:extLst>
            </p:cNvPr>
            <p:cNvSpPr/>
            <p:nvPr/>
          </p:nvSpPr>
          <p:spPr>
            <a:xfrm>
              <a:off x="5156974" y="4275468"/>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2</a:t>
              </a:r>
            </a:p>
          </p:txBody>
        </p:sp>
        <p:sp>
          <p:nvSpPr>
            <p:cNvPr id="11" name="Rounded Rectangle 10">
              <a:extLst>
                <a:ext uri="{FF2B5EF4-FFF2-40B4-BE49-F238E27FC236}">
                  <a16:creationId xmlns:a16="http://schemas.microsoft.com/office/drawing/2014/main" id="{0C1B1DC0-04A1-8F46-9E73-CA304499E088}"/>
                </a:ext>
              </a:extLst>
            </p:cNvPr>
            <p:cNvSpPr/>
            <p:nvPr/>
          </p:nvSpPr>
          <p:spPr>
            <a:xfrm>
              <a:off x="7258866" y="4792774"/>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Bins/Libs</a:t>
              </a:r>
            </a:p>
          </p:txBody>
        </p:sp>
        <p:sp>
          <p:nvSpPr>
            <p:cNvPr id="12" name="Rounded Rectangle 11">
              <a:extLst>
                <a:ext uri="{FF2B5EF4-FFF2-40B4-BE49-F238E27FC236}">
                  <a16:creationId xmlns:a16="http://schemas.microsoft.com/office/drawing/2014/main" id="{6E7D7825-3C76-0948-BE8F-B433ABA2C7C6}"/>
                </a:ext>
              </a:extLst>
            </p:cNvPr>
            <p:cNvSpPr/>
            <p:nvPr/>
          </p:nvSpPr>
          <p:spPr>
            <a:xfrm>
              <a:off x="7258866" y="4275468"/>
              <a:ext cx="1504134" cy="399977"/>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 3</a:t>
              </a:r>
            </a:p>
          </p:txBody>
        </p:sp>
        <p:sp>
          <p:nvSpPr>
            <p:cNvPr id="13" name="Rounded Rectangle 12">
              <a:extLst>
                <a:ext uri="{FF2B5EF4-FFF2-40B4-BE49-F238E27FC236}">
                  <a16:creationId xmlns:a16="http://schemas.microsoft.com/office/drawing/2014/main" id="{5254A079-543F-CB4B-958F-A1CB2D5CC06F}"/>
                </a:ext>
              </a:extLst>
            </p:cNvPr>
            <p:cNvSpPr/>
            <p:nvPr/>
          </p:nvSpPr>
          <p:spPr>
            <a:xfrm>
              <a:off x="2801729" y="3449214"/>
              <a:ext cx="6283940" cy="2752977"/>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TextBox 13">
              <a:extLst>
                <a:ext uri="{FF2B5EF4-FFF2-40B4-BE49-F238E27FC236}">
                  <a16:creationId xmlns:a16="http://schemas.microsoft.com/office/drawing/2014/main" id="{712C5095-0793-AE4F-B8A0-44184F4CFA34}"/>
                </a:ext>
              </a:extLst>
            </p:cNvPr>
            <p:cNvSpPr txBox="1"/>
            <p:nvPr/>
          </p:nvSpPr>
          <p:spPr>
            <a:xfrm>
              <a:off x="5300436" y="3239112"/>
              <a:ext cx="1455964" cy="369332"/>
            </a:xfrm>
            <a:prstGeom prst="rect">
              <a:avLst/>
            </a:prstGeom>
            <a:solidFill>
              <a:schemeClr val="bg1"/>
            </a:solid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Containers</a:t>
              </a:r>
            </a:p>
          </p:txBody>
        </p:sp>
        <p:sp>
          <p:nvSpPr>
            <p:cNvPr id="15" name="Rounded Rectangle 14">
              <a:extLst>
                <a:ext uri="{FF2B5EF4-FFF2-40B4-BE49-F238E27FC236}">
                  <a16:creationId xmlns:a16="http://schemas.microsoft.com/office/drawing/2014/main" id="{A70B4221-7485-DC45-BE48-A39837C79317}"/>
                </a:ext>
              </a:extLst>
            </p:cNvPr>
            <p:cNvSpPr/>
            <p:nvPr/>
          </p:nvSpPr>
          <p:spPr>
            <a:xfrm>
              <a:off x="2977646" y="5765766"/>
              <a:ext cx="5925003" cy="397315"/>
            </a:xfrm>
            <a:prstGeom prst="roundRect">
              <a:avLst>
                <a:gd name="adj" fmla="val 821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VM guest operating systems in the Amazon ECS cluster</a:t>
              </a:r>
            </a:p>
          </p:txBody>
        </p:sp>
        <p:sp>
          <p:nvSpPr>
            <p:cNvPr id="16" name="Rounded Rectangle 15">
              <a:extLst>
                <a:ext uri="{FF2B5EF4-FFF2-40B4-BE49-F238E27FC236}">
                  <a16:creationId xmlns:a16="http://schemas.microsoft.com/office/drawing/2014/main" id="{01885922-BA53-F14C-ABCF-CEC254A5A460}"/>
                </a:ext>
              </a:extLst>
            </p:cNvPr>
            <p:cNvSpPr/>
            <p:nvPr/>
          </p:nvSpPr>
          <p:spPr>
            <a:xfrm>
              <a:off x="2977646" y="4158990"/>
              <a:ext cx="1825622" cy="1062634"/>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Rounded Rectangle 16">
              <a:extLst>
                <a:ext uri="{FF2B5EF4-FFF2-40B4-BE49-F238E27FC236}">
                  <a16:creationId xmlns:a16="http://schemas.microsoft.com/office/drawing/2014/main" id="{5C90749E-0230-DA4E-AC06-C653726F7C33}"/>
                </a:ext>
              </a:extLst>
            </p:cNvPr>
            <p:cNvSpPr/>
            <p:nvPr/>
          </p:nvSpPr>
          <p:spPr>
            <a:xfrm>
              <a:off x="5038764" y="4158990"/>
              <a:ext cx="1825622" cy="1062634"/>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8" name="Rounded Rectangle 17">
              <a:extLst>
                <a:ext uri="{FF2B5EF4-FFF2-40B4-BE49-F238E27FC236}">
                  <a16:creationId xmlns:a16="http://schemas.microsoft.com/office/drawing/2014/main" id="{143DF2B6-CDD6-694A-829E-48820A9A08D9}"/>
                </a:ext>
              </a:extLst>
            </p:cNvPr>
            <p:cNvSpPr/>
            <p:nvPr/>
          </p:nvSpPr>
          <p:spPr>
            <a:xfrm>
              <a:off x="7133120" y="4158990"/>
              <a:ext cx="1825622" cy="1062634"/>
            </a:xfrm>
            <a:prstGeom prst="roundRect">
              <a:avLst>
                <a:gd name="adj" fmla="val 951"/>
              </a:avLst>
            </a:prstGeom>
            <a:noFill/>
            <a:ln w="25400">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TextBox 18">
              <a:extLst>
                <a:ext uri="{FF2B5EF4-FFF2-40B4-BE49-F238E27FC236}">
                  <a16:creationId xmlns:a16="http://schemas.microsoft.com/office/drawing/2014/main" id="{4255D363-E8E6-C24D-80B5-E5371799B834}"/>
                </a:ext>
              </a:extLst>
            </p:cNvPr>
            <p:cNvSpPr txBox="1"/>
            <p:nvPr/>
          </p:nvSpPr>
          <p:spPr>
            <a:xfrm>
              <a:off x="2983380" y="3598673"/>
              <a:ext cx="1786650"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instance 1</a:t>
              </a:r>
            </a:p>
          </p:txBody>
        </p:sp>
        <p:sp>
          <p:nvSpPr>
            <p:cNvPr id="20" name="TextBox 19">
              <a:extLst>
                <a:ext uri="{FF2B5EF4-FFF2-40B4-BE49-F238E27FC236}">
                  <a16:creationId xmlns:a16="http://schemas.microsoft.com/office/drawing/2014/main" id="{B4BF32FC-DBCE-C24B-A17D-4E8884B87F88}"/>
                </a:ext>
              </a:extLst>
            </p:cNvPr>
            <p:cNvSpPr txBox="1"/>
            <p:nvPr/>
          </p:nvSpPr>
          <p:spPr>
            <a:xfrm>
              <a:off x="5038764" y="3598673"/>
              <a:ext cx="1825621"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instance 2</a:t>
              </a:r>
            </a:p>
          </p:txBody>
        </p:sp>
        <p:sp>
          <p:nvSpPr>
            <p:cNvPr id="21" name="TextBox 20">
              <a:extLst>
                <a:ext uri="{FF2B5EF4-FFF2-40B4-BE49-F238E27FC236}">
                  <a16:creationId xmlns:a16="http://schemas.microsoft.com/office/drawing/2014/main" id="{F7D4B71D-1FF9-044D-A403-608675B08431}"/>
                </a:ext>
              </a:extLst>
            </p:cNvPr>
            <p:cNvSpPr txBox="1"/>
            <p:nvPr/>
          </p:nvSpPr>
          <p:spPr>
            <a:xfrm>
              <a:off x="7127266" y="3598673"/>
              <a:ext cx="1831476" cy="584775"/>
            </a:xfrm>
            <a:prstGeom prst="rect">
              <a:avLst/>
            </a:prstGeom>
            <a:noFill/>
          </p:spPr>
          <p:txBody>
            <a:bodyPr wrap="square" rtlCol="0">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Container instance 3</a:t>
              </a:r>
            </a:p>
          </p:txBody>
        </p:sp>
        <p:sp>
          <p:nvSpPr>
            <p:cNvPr id="22" name="Right Brace 21">
              <a:extLst>
                <a:ext uri="{FF2B5EF4-FFF2-40B4-BE49-F238E27FC236}">
                  <a16:creationId xmlns:a16="http://schemas.microsoft.com/office/drawing/2014/main" id="{E506BB6C-57B0-0549-B184-EA09F8B325BF}"/>
                </a:ext>
              </a:extLst>
            </p:cNvPr>
            <p:cNvSpPr/>
            <p:nvPr/>
          </p:nvSpPr>
          <p:spPr>
            <a:xfrm>
              <a:off x="9199372" y="5294841"/>
              <a:ext cx="345948" cy="90734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TextBox 22">
              <a:extLst>
                <a:ext uri="{FF2B5EF4-FFF2-40B4-BE49-F238E27FC236}">
                  <a16:creationId xmlns:a16="http://schemas.microsoft.com/office/drawing/2014/main" id="{367B5ACC-AF7A-A94C-9E11-9B54332820E3}"/>
                </a:ext>
              </a:extLst>
            </p:cNvPr>
            <p:cNvSpPr txBox="1"/>
            <p:nvPr/>
          </p:nvSpPr>
          <p:spPr>
            <a:xfrm>
              <a:off x="9712960" y="5579238"/>
              <a:ext cx="1746712" cy="338554"/>
            </a:xfrm>
            <a:prstGeom prst="rect">
              <a:avLst/>
            </a:prstGeom>
            <a:noFill/>
          </p:spPr>
          <p:txBody>
            <a:bodyPr wrap="square" rtlCol="0">
              <a:spAutoFit/>
            </a:bodyPr>
            <a:lstStyle/>
            <a:p>
              <a:r>
                <a:rPr lang="en-US" sz="1600" b="1" dirty="0">
                  <a:latin typeface="Amazon Ember" panose="020B0603020204020204" pitchFamily="34" charset="0"/>
                  <a:ea typeface="Amazon Ember" panose="020B0603020204020204" pitchFamily="34" charset="0"/>
                  <a:cs typeface="Amazon Ember" panose="020B0603020204020204" pitchFamily="34" charset="0"/>
                </a:rPr>
                <a:t>AWS</a:t>
              </a:r>
              <a:r>
                <a:rPr lang="en-US" sz="1600" dirty="0">
                  <a:latin typeface="Amazon Ember" panose="020B0603020204020204" pitchFamily="34" charset="0"/>
                  <a:ea typeface="Amazon Ember" panose="020B0603020204020204" pitchFamily="34" charset="0"/>
                  <a:cs typeface="Amazon Ember" panose="020B0603020204020204" pitchFamily="34" charset="0"/>
                </a:rPr>
                <a:t> manages</a:t>
              </a:r>
            </a:p>
          </p:txBody>
        </p:sp>
        <p:sp>
          <p:nvSpPr>
            <p:cNvPr id="24" name="Right Brace 23">
              <a:extLst>
                <a:ext uri="{FF2B5EF4-FFF2-40B4-BE49-F238E27FC236}">
                  <a16:creationId xmlns:a16="http://schemas.microsoft.com/office/drawing/2014/main" id="{D7585786-5E52-7F46-8EDD-190B6E270FD7}"/>
                </a:ext>
              </a:extLst>
            </p:cNvPr>
            <p:cNvSpPr/>
            <p:nvPr/>
          </p:nvSpPr>
          <p:spPr>
            <a:xfrm>
              <a:off x="9199372" y="4275468"/>
              <a:ext cx="345948" cy="907349"/>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TextBox 24">
              <a:extLst>
                <a:ext uri="{FF2B5EF4-FFF2-40B4-BE49-F238E27FC236}">
                  <a16:creationId xmlns:a16="http://schemas.microsoft.com/office/drawing/2014/main" id="{7701AB17-5699-E949-8CAE-63D7919F5CE9}"/>
                </a:ext>
              </a:extLst>
            </p:cNvPr>
            <p:cNvSpPr txBox="1"/>
            <p:nvPr/>
          </p:nvSpPr>
          <p:spPr>
            <a:xfrm>
              <a:off x="9712960" y="4559865"/>
              <a:ext cx="1508760" cy="338554"/>
            </a:xfrm>
            <a:prstGeom prst="rect">
              <a:avLst/>
            </a:prstGeom>
            <a:noFill/>
          </p:spPr>
          <p:txBody>
            <a:bodyPr wrap="square" rtlCol="0">
              <a:spAutoFit/>
            </a:bodyPr>
            <a:lstStyle/>
            <a:p>
              <a:r>
                <a:rPr lang="en-US" sz="1600"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You manage</a:t>
              </a:r>
            </a:p>
          </p:txBody>
        </p:sp>
        <p:sp>
          <p:nvSpPr>
            <p:cNvPr id="26" name="TextBox 25">
              <a:extLst>
                <a:ext uri="{FF2B5EF4-FFF2-40B4-BE49-F238E27FC236}">
                  <a16:creationId xmlns:a16="http://schemas.microsoft.com/office/drawing/2014/main" id="{2E4B2F5C-8E81-0C46-9EAC-8CC416A8C6A0}"/>
                </a:ext>
              </a:extLst>
            </p:cNvPr>
            <p:cNvSpPr txBox="1"/>
            <p:nvPr/>
          </p:nvSpPr>
          <p:spPr>
            <a:xfrm>
              <a:off x="9247700" y="3449214"/>
              <a:ext cx="2649132" cy="707886"/>
            </a:xfrm>
            <a:prstGeom prst="rect">
              <a:avLst/>
            </a:prstGeom>
            <a:noFill/>
          </p:spPr>
          <p:txBody>
            <a:bodyPr wrap="square" rtlCol="0">
              <a:spAutoFit/>
            </a:bodyPr>
            <a:lstStyle/>
            <a:p>
              <a:r>
                <a:rPr lang="en-US" sz="2000" b="1" dirty="0">
                  <a:solidFill>
                    <a:schemeClr val="accent6"/>
                  </a:solidFill>
                  <a:latin typeface="Amazon Ember" panose="020B0603020204020204" pitchFamily="34" charset="0"/>
                  <a:ea typeface="Amazon Ember" panose="020B0603020204020204" pitchFamily="34" charset="0"/>
                  <a:cs typeface="Amazon Ember" panose="020B0603020204020204" pitchFamily="34" charset="0"/>
                </a:rPr>
                <a:t>Amazon ECS cluster backed by Fargate</a:t>
              </a:r>
            </a:p>
          </p:txBody>
        </p:sp>
        <p:sp>
          <p:nvSpPr>
            <p:cNvPr id="27" name="TextBox 26">
              <a:extLst>
                <a:ext uri="{FF2B5EF4-FFF2-40B4-BE49-F238E27FC236}">
                  <a16:creationId xmlns:a16="http://schemas.microsoft.com/office/drawing/2014/main" id="{17F5540F-F8BB-B34A-BA5E-2B61E27FF00D}"/>
                </a:ext>
              </a:extLst>
            </p:cNvPr>
            <p:cNvSpPr txBox="1"/>
            <p:nvPr/>
          </p:nvSpPr>
          <p:spPr>
            <a:xfrm>
              <a:off x="419100" y="3506841"/>
              <a:ext cx="2280370" cy="1015663"/>
            </a:xfrm>
            <a:prstGeom prst="rect">
              <a:avLst/>
            </a:prstGeom>
            <a:noFill/>
          </p:spPr>
          <p:txBody>
            <a:bodyPr wrap="square" rtlCol="0">
              <a:spAutoFit/>
            </a:bodyPr>
            <a:lstStyle/>
            <a:p>
              <a:r>
                <a:rPr lang="en-US" sz="20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Amazon ECS cluster backed by Amazon EC2</a:t>
              </a:r>
            </a:p>
          </p:txBody>
        </p:sp>
        <p:sp>
          <p:nvSpPr>
            <p:cNvPr id="28" name="Right Brace 27">
              <a:extLst>
                <a:ext uri="{FF2B5EF4-FFF2-40B4-BE49-F238E27FC236}">
                  <a16:creationId xmlns:a16="http://schemas.microsoft.com/office/drawing/2014/main" id="{D6794952-CF30-D24C-A852-6DEF1CCE4D90}"/>
                </a:ext>
              </a:extLst>
            </p:cNvPr>
            <p:cNvSpPr/>
            <p:nvPr/>
          </p:nvSpPr>
          <p:spPr>
            <a:xfrm rot="10800000">
              <a:off x="2365546" y="4224074"/>
              <a:ext cx="306642" cy="1978115"/>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9" name="TextBox 28">
              <a:extLst>
                <a:ext uri="{FF2B5EF4-FFF2-40B4-BE49-F238E27FC236}">
                  <a16:creationId xmlns:a16="http://schemas.microsoft.com/office/drawing/2014/main" id="{FD400CD3-A826-024B-8679-5AFFE5C2F46A}"/>
                </a:ext>
              </a:extLst>
            </p:cNvPr>
            <p:cNvSpPr txBox="1"/>
            <p:nvPr/>
          </p:nvSpPr>
          <p:spPr>
            <a:xfrm>
              <a:off x="854107" y="5078443"/>
              <a:ext cx="1508760" cy="338554"/>
            </a:xfrm>
            <a:prstGeom prst="rect">
              <a:avLst/>
            </a:prstGeom>
            <a:noFill/>
          </p:spPr>
          <p:txBody>
            <a:bodyPr wrap="square" rtlCol="0">
              <a:spAutoFit/>
            </a:bodyPr>
            <a:lstStyle/>
            <a:p>
              <a:r>
                <a:rPr lang="en-US" sz="1600" b="1" dirty="0">
                  <a:solidFill>
                    <a:schemeClr val="accent5"/>
                  </a:solidFill>
                  <a:latin typeface="Amazon Ember" panose="020B0603020204020204" pitchFamily="34" charset="0"/>
                  <a:ea typeface="Amazon Ember" panose="020B0603020204020204" pitchFamily="34" charset="0"/>
                  <a:cs typeface="Amazon Ember" panose="020B0603020204020204" pitchFamily="34" charset="0"/>
                </a:rPr>
                <a:t>You manage</a:t>
              </a:r>
            </a:p>
          </p:txBody>
        </p:sp>
      </p:grpSp>
    </p:spTree>
    <p:custDataLst>
      <p:tags r:id="rId1"/>
    </p:custDataLst>
    <p:extLst>
      <p:ext uri="{BB962C8B-B14F-4D97-AF65-F5344CB8AC3E}">
        <p14:creationId xmlns:p14="http://schemas.microsoft.com/office/powerpoint/2010/main" val="12596536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D2AEDE-8BF3-454B-9B2C-4707C8BD6AB5}"/>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53</a:t>
            </a:fld>
            <a:endParaRPr lang="en-US" dirty="0"/>
          </a:p>
        </p:txBody>
      </p:sp>
      <p:sp>
        <p:nvSpPr>
          <p:cNvPr id="2" name="Title 1">
            <a:extLst>
              <a:ext uri="{FF2B5EF4-FFF2-40B4-BE49-F238E27FC236}">
                <a16:creationId xmlns:a16="http://schemas.microsoft.com/office/drawing/2014/main" id="{DD5066F6-DE2E-ED4E-8204-49F913EA8AFE}"/>
              </a:ext>
            </a:extLst>
          </p:cNvPr>
          <p:cNvSpPr>
            <a:spLocks noGrp="1"/>
          </p:cNvSpPr>
          <p:nvPr>
            <p:ph type="title"/>
          </p:nvPr>
        </p:nvSpPr>
        <p:spPr/>
        <p:txBody>
          <a:bodyPr/>
          <a:lstStyle/>
          <a:p>
            <a:r>
              <a:rPr lang="en-US" dirty="0"/>
              <a:t>What is Kubernetes?</a:t>
            </a:r>
          </a:p>
        </p:txBody>
      </p:sp>
      <p:sp>
        <p:nvSpPr>
          <p:cNvPr id="3" name="Content Placeholder 2">
            <a:extLst>
              <a:ext uri="{FF2B5EF4-FFF2-40B4-BE49-F238E27FC236}">
                <a16:creationId xmlns:a16="http://schemas.microsoft.com/office/drawing/2014/main" id="{F7724B34-3FBC-CE4B-A48F-110BF52E6C6C}"/>
              </a:ext>
            </a:extLst>
          </p:cNvPr>
          <p:cNvSpPr>
            <a:spLocks noGrp="1"/>
          </p:cNvSpPr>
          <p:nvPr>
            <p:ph sz="quarter" idx="21"/>
          </p:nvPr>
        </p:nvSpPr>
        <p:spPr/>
        <p:txBody>
          <a:bodyPr>
            <a:normAutofit lnSpcReduction="10000"/>
          </a:bodyPr>
          <a:lstStyle/>
          <a:p>
            <a:r>
              <a:rPr lang="en-US" dirty="0"/>
              <a:t>Kubernetes is open source software for container orchestration.</a:t>
            </a:r>
          </a:p>
          <a:p>
            <a:pPr lvl="1"/>
            <a:r>
              <a:rPr lang="en-US" dirty="0"/>
              <a:t>Deploy and </a:t>
            </a:r>
            <a:r>
              <a:rPr lang="en-US" b="1" dirty="0">
                <a:solidFill>
                  <a:srgbClr val="504BAB"/>
                </a:solidFill>
              </a:rPr>
              <a:t>manage containerized applications</a:t>
            </a:r>
            <a:r>
              <a:rPr lang="en-US" dirty="0">
                <a:solidFill>
                  <a:srgbClr val="504BAB"/>
                </a:solidFill>
              </a:rPr>
              <a:t> </a:t>
            </a:r>
            <a:r>
              <a:rPr lang="en-US" i="1" dirty="0"/>
              <a:t>at scale</a:t>
            </a:r>
            <a:r>
              <a:rPr lang="en-US" dirty="0"/>
              <a:t>.</a:t>
            </a:r>
          </a:p>
          <a:p>
            <a:pPr lvl="1"/>
            <a:r>
              <a:rPr lang="en-US" dirty="0"/>
              <a:t>The same toolset can be used on premises and in the cloud.</a:t>
            </a:r>
          </a:p>
          <a:p>
            <a:r>
              <a:rPr lang="en-US" dirty="0"/>
              <a:t>Complements Docker.</a:t>
            </a:r>
          </a:p>
          <a:p>
            <a:pPr lvl="1"/>
            <a:r>
              <a:rPr lang="en-US" dirty="0"/>
              <a:t>Docker enables you to run multiple containers on a single OS host. </a:t>
            </a:r>
          </a:p>
          <a:p>
            <a:pPr lvl="1"/>
            <a:r>
              <a:rPr lang="en-US" dirty="0"/>
              <a:t>Kubernetes </a:t>
            </a:r>
            <a:r>
              <a:rPr lang="en-US" b="1" dirty="0">
                <a:solidFill>
                  <a:srgbClr val="504BAB"/>
                </a:solidFill>
              </a:rPr>
              <a:t>orchestrates</a:t>
            </a:r>
            <a:r>
              <a:rPr lang="en-US" dirty="0"/>
              <a:t> multiple Docker hosts (nodes).</a:t>
            </a:r>
          </a:p>
          <a:p>
            <a:r>
              <a:rPr lang="en-US" dirty="0"/>
              <a:t>Automates – </a:t>
            </a:r>
          </a:p>
          <a:p>
            <a:pPr lvl="1"/>
            <a:r>
              <a:rPr lang="en-US" dirty="0"/>
              <a:t>Container provisioning.</a:t>
            </a:r>
          </a:p>
          <a:p>
            <a:pPr lvl="1"/>
            <a:r>
              <a:rPr lang="en-US" dirty="0"/>
              <a:t>Networking.</a:t>
            </a:r>
          </a:p>
          <a:p>
            <a:pPr lvl="1"/>
            <a:r>
              <a:rPr lang="en-US" dirty="0"/>
              <a:t>Load distribution.</a:t>
            </a:r>
          </a:p>
          <a:p>
            <a:pPr lvl="1"/>
            <a:r>
              <a:rPr lang="en-US" dirty="0"/>
              <a:t>Scaling.</a:t>
            </a:r>
          </a:p>
        </p:txBody>
      </p:sp>
    </p:spTree>
    <p:custDataLst>
      <p:tags r:id="rId1"/>
    </p:custDataLst>
    <p:extLst>
      <p:ext uri="{BB962C8B-B14F-4D97-AF65-F5344CB8AC3E}">
        <p14:creationId xmlns:p14="http://schemas.microsoft.com/office/powerpoint/2010/main" val="11683103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9F22ED-5772-A94C-8B1F-487DC870F3F0}"/>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54</a:t>
            </a:fld>
            <a:endParaRPr lang="en-US" dirty="0"/>
          </a:p>
        </p:txBody>
      </p:sp>
      <p:sp>
        <p:nvSpPr>
          <p:cNvPr id="2" name="Title 1">
            <a:extLst>
              <a:ext uri="{FF2B5EF4-FFF2-40B4-BE49-F238E27FC236}">
                <a16:creationId xmlns:a16="http://schemas.microsoft.com/office/drawing/2014/main" id="{1C9789EF-D3CE-684D-9CBF-88F6B7CCDD5B}"/>
              </a:ext>
            </a:extLst>
          </p:cNvPr>
          <p:cNvSpPr>
            <a:spLocks noGrp="1"/>
          </p:cNvSpPr>
          <p:nvPr>
            <p:ph type="title"/>
          </p:nvPr>
        </p:nvSpPr>
        <p:spPr/>
        <p:txBody>
          <a:bodyPr>
            <a:normAutofit/>
          </a:bodyPr>
          <a:lstStyle/>
          <a:p>
            <a:r>
              <a:rPr lang="en-US" dirty="0"/>
              <a:t>Amazon Elastic Kubernetes Service (Amazon EKS)</a:t>
            </a:r>
          </a:p>
        </p:txBody>
      </p:sp>
      <p:sp>
        <p:nvSpPr>
          <p:cNvPr id="3" name="Content Placeholder 2">
            <a:extLst>
              <a:ext uri="{FF2B5EF4-FFF2-40B4-BE49-F238E27FC236}">
                <a16:creationId xmlns:a16="http://schemas.microsoft.com/office/drawing/2014/main" id="{78195254-CD8F-C645-AEEA-C0A2BD232F7F}"/>
              </a:ext>
            </a:extLst>
          </p:cNvPr>
          <p:cNvSpPr>
            <a:spLocks noGrp="1"/>
          </p:cNvSpPr>
          <p:nvPr>
            <p:ph sz="quarter" idx="21"/>
          </p:nvPr>
        </p:nvSpPr>
        <p:spPr>
          <a:xfrm>
            <a:off x="365760" y="1143000"/>
            <a:ext cx="9425354" cy="5291750"/>
          </a:xfrm>
        </p:spPr>
        <p:txBody>
          <a:bodyPr/>
          <a:lstStyle/>
          <a:p>
            <a:r>
              <a:rPr lang="en-US" dirty="0"/>
              <a:t>Amazon Elastic Kubernetes Service (</a:t>
            </a:r>
            <a:r>
              <a:rPr lang="en-US" b="1" dirty="0">
                <a:solidFill>
                  <a:srgbClr val="504BAB"/>
                </a:solidFill>
              </a:rPr>
              <a:t>Amazon EKS</a:t>
            </a:r>
            <a:r>
              <a:rPr lang="en-US" dirty="0"/>
              <a:t>)</a:t>
            </a:r>
          </a:p>
          <a:p>
            <a:pPr lvl="1"/>
            <a:r>
              <a:rPr lang="en-US" dirty="0"/>
              <a:t>Enables you to run Kubernetes on AWS</a:t>
            </a:r>
          </a:p>
          <a:p>
            <a:pPr lvl="1"/>
            <a:r>
              <a:rPr lang="en-US" dirty="0"/>
              <a:t>Certified Kubernetes conformant (supports easy migration)</a:t>
            </a:r>
          </a:p>
          <a:p>
            <a:pPr lvl="1"/>
            <a:r>
              <a:rPr lang="en-US" dirty="0"/>
              <a:t>Supports Linux and Windows containers</a:t>
            </a:r>
          </a:p>
          <a:p>
            <a:pPr lvl="1"/>
            <a:r>
              <a:rPr lang="en-US" dirty="0"/>
              <a:t>Compatible with Kubernetes community tools and supports popular Kubernetes add-ons</a:t>
            </a:r>
            <a:br>
              <a:rPr lang="en-US" dirty="0"/>
            </a:br>
            <a:endParaRPr lang="en-US" dirty="0"/>
          </a:p>
          <a:p>
            <a:r>
              <a:rPr lang="en-US" dirty="0"/>
              <a:t>Use Amazon EKS to – </a:t>
            </a:r>
          </a:p>
          <a:p>
            <a:pPr lvl="1"/>
            <a:r>
              <a:rPr lang="en-US" dirty="0"/>
              <a:t>Manage clusters of Amazon EC2 compute instances</a:t>
            </a:r>
          </a:p>
          <a:p>
            <a:pPr lvl="1"/>
            <a:r>
              <a:rPr lang="en-US" dirty="0"/>
              <a:t>Run containers that are orchestrated by Kubernetes on those instances</a:t>
            </a:r>
          </a:p>
        </p:txBody>
      </p:sp>
      <p:sp>
        <p:nvSpPr>
          <p:cNvPr id="6" name="TextBox 5">
            <a:extLst>
              <a:ext uri="{FF2B5EF4-FFF2-40B4-BE49-F238E27FC236}">
                <a16:creationId xmlns:a16="http://schemas.microsoft.com/office/drawing/2014/main" id="{3BBBDD1A-A138-3748-8A68-1796D5CE03F8}"/>
              </a:ext>
              <a:ext uri="{C183D7F6-B498-43B3-948B-1728B52AA6E4}">
                <adec:decorative xmlns:adec="http://schemas.microsoft.com/office/drawing/2017/decorative" val="1"/>
              </a:ext>
            </a:extLst>
          </p:cNvPr>
          <p:cNvSpPr txBox="1"/>
          <p:nvPr/>
        </p:nvSpPr>
        <p:spPr>
          <a:xfrm>
            <a:off x="9540602" y="2742407"/>
            <a:ext cx="2301904" cy="584775"/>
          </a:xfrm>
          <a:prstGeom prst="rect">
            <a:avLst/>
          </a:prstGeom>
          <a:noFill/>
        </p:spPr>
        <p:txBody>
          <a:bodyPr wrap="square" rtlCol="0">
            <a:spAutoFit/>
          </a:bodyPr>
          <a:lstStyle/>
          <a:p>
            <a:pPr algn="ctr"/>
            <a:r>
              <a:rPr lang="en-US" sz="1600" b="1" dirty="0"/>
              <a:t>Amazon Elastic Kubernetes Service</a:t>
            </a:r>
            <a:endParaRPr lang="en-US" sz="1200" b="1" dirty="0"/>
          </a:p>
        </p:txBody>
      </p:sp>
      <p:pic>
        <p:nvPicPr>
          <p:cNvPr id="7" name="Graphic 6">
            <a:extLst>
              <a:ext uri="{FF2B5EF4-FFF2-40B4-BE49-F238E27FC236}">
                <a16:creationId xmlns:a16="http://schemas.microsoft.com/office/drawing/2014/main" id="{D6469277-4207-D448-8A24-4A48D2E057AF}"/>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2914" y="1621393"/>
            <a:ext cx="1097280" cy="1097280"/>
          </a:xfrm>
          <a:prstGeom prst="rect">
            <a:avLst/>
          </a:prstGeom>
        </p:spPr>
      </p:pic>
    </p:spTree>
    <p:custDataLst>
      <p:tags r:id="rId1"/>
    </p:custDataLst>
    <p:extLst>
      <p:ext uri="{BB962C8B-B14F-4D97-AF65-F5344CB8AC3E}">
        <p14:creationId xmlns:p14="http://schemas.microsoft.com/office/powerpoint/2010/main" val="3086589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55</a:t>
            </a:fld>
            <a:endParaRPr lang="en-US" dirty="0"/>
          </a:p>
        </p:txBody>
      </p:sp>
      <p:sp>
        <p:nvSpPr>
          <p:cNvPr id="2" name="Title 1"/>
          <p:cNvSpPr>
            <a:spLocks noGrp="1"/>
          </p:cNvSpPr>
          <p:nvPr>
            <p:ph type="title"/>
          </p:nvPr>
        </p:nvSpPr>
        <p:spPr/>
        <p:txBody>
          <a:bodyPr>
            <a:normAutofit/>
          </a:bodyPr>
          <a:lstStyle/>
          <a:p>
            <a:r>
              <a:rPr lang="en-US" dirty="0"/>
              <a:t>Amazon Elastic Container Registry (Amazon ECR)</a:t>
            </a:r>
          </a:p>
        </p:txBody>
      </p:sp>
      <p:sp>
        <p:nvSpPr>
          <p:cNvPr id="18" name="Content Placeholder 17">
            <a:extLst>
              <a:ext uri="{FF2B5EF4-FFF2-40B4-BE49-F238E27FC236}">
                <a16:creationId xmlns:a16="http://schemas.microsoft.com/office/drawing/2014/main" id="{35FA850C-64AA-114A-8C20-BCB817F23362}"/>
              </a:ext>
            </a:extLst>
          </p:cNvPr>
          <p:cNvSpPr>
            <a:spLocks noGrp="1"/>
          </p:cNvSpPr>
          <p:nvPr>
            <p:ph sz="quarter" idx="21"/>
          </p:nvPr>
        </p:nvSpPr>
        <p:spPr>
          <a:xfrm>
            <a:off x="365760" y="1143000"/>
            <a:ext cx="6836898" cy="5291750"/>
          </a:xfrm>
        </p:spPr>
        <p:txBody>
          <a:bodyPr/>
          <a:lstStyle/>
          <a:p>
            <a:pPr marL="0" indent="0" algn="ctr">
              <a:buNone/>
            </a:pPr>
            <a:r>
              <a:rPr lang="en-US" sz="2000" b="1" dirty="0">
                <a:solidFill>
                  <a:srgbClr val="504BAB"/>
                </a:solidFill>
                <a:latin typeface="+mn-lt"/>
              </a:rPr>
              <a:t>Amazon ECR </a:t>
            </a:r>
            <a:r>
              <a:rPr lang="en-US" sz="2000" dirty="0">
                <a:latin typeface="+mn-lt"/>
              </a:rPr>
              <a:t>is a fully managed Docker </a:t>
            </a:r>
            <a:r>
              <a:rPr lang="en-US" sz="2000" dirty="0">
                <a:solidFill>
                  <a:schemeClr val="accent6"/>
                </a:solidFill>
                <a:latin typeface="+mn-lt"/>
              </a:rPr>
              <a:t>container registry </a:t>
            </a:r>
            <a:r>
              <a:rPr lang="en-US" sz="2000" dirty="0">
                <a:latin typeface="+mn-lt"/>
              </a:rPr>
              <a:t>that makes it easy for developers to store, manage, and deploy Docker container images.</a:t>
            </a:r>
          </a:p>
          <a:p>
            <a:pPr marL="0" indent="0" algn="ctr">
              <a:buNone/>
            </a:pPr>
            <a:endParaRPr lang="en-US" sz="2000" dirty="0">
              <a:latin typeface="+mn-lt"/>
            </a:endParaRPr>
          </a:p>
          <a:p>
            <a:pPr marL="0" indent="0" algn="ctr">
              <a:buNone/>
            </a:pPr>
            <a:endParaRPr lang="en-US" sz="2000" dirty="0">
              <a:latin typeface="+mn-lt"/>
            </a:endParaRPr>
          </a:p>
        </p:txBody>
      </p:sp>
      <p:grpSp>
        <p:nvGrpSpPr>
          <p:cNvPr id="3" name="Group 2" descr="Amazon Elastic Container Registry image and registry.">
            <a:extLst>
              <a:ext uri="{FF2B5EF4-FFF2-40B4-BE49-F238E27FC236}">
                <a16:creationId xmlns:a16="http://schemas.microsoft.com/office/drawing/2014/main" id="{8EDC0213-C0A4-CDEA-5417-08EBFE35207E}"/>
              </a:ext>
            </a:extLst>
          </p:cNvPr>
          <p:cNvGrpSpPr/>
          <p:nvPr/>
        </p:nvGrpSpPr>
        <p:grpSpPr>
          <a:xfrm>
            <a:off x="1400636" y="2991816"/>
            <a:ext cx="2805831" cy="2869485"/>
            <a:chOff x="1400636" y="2991816"/>
            <a:chExt cx="2805831" cy="2869485"/>
          </a:xfrm>
        </p:grpSpPr>
        <p:sp>
          <p:nvSpPr>
            <p:cNvPr id="5" name="TextBox 4">
              <a:extLst>
                <a:ext uri="{FF2B5EF4-FFF2-40B4-BE49-F238E27FC236}">
                  <a16:creationId xmlns:a16="http://schemas.microsoft.com/office/drawing/2014/main" id="{E3C0960A-3D31-6D47-8EAA-93DE09090CDD}"/>
                </a:ext>
              </a:extLst>
            </p:cNvPr>
            <p:cNvSpPr txBox="1"/>
            <p:nvPr/>
          </p:nvSpPr>
          <p:spPr>
            <a:xfrm>
              <a:off x="1584700" y="4115102"/>
              <a:ext cx="2301904" cy="584775"/>
            </a:xfrm>
            <a:prstGeom prst="rect">
              <a:avLst/>
            </a:prstGeom>
            <a:noFill/>
          </p:spPr>
          <p:txBody>
            <a:bodyPr wrap="square" rtlCol="0">
              <a:spAutoFit/>
            </a:bodyPr>
            <a:lstStyle/>
            <a:p>
              <a:pPr algn="ctr"/>
              <a:r>
                <a:rPr lang="en-US" sz="1600" b="1" dirty="0">
                  <a:solidFill>
                    <a:srgbClr val="232F3D"/>
                  </a:solidFill>
                </a:rPr>
                <a:t>Amazon Elastic Container Registry</a:t>
              </a:r>
            </a:p>
          </p:txBody>
        </p:sp>
        <p:pic>
          <p:nvPicPr>
            <p:cNvPr id="6" name="Graphic 7">
              <a:extLst>
                <a:ext uri="{FF2B5EF4-FFF2-40B4-BE49-F238E27FC236}">
                  <a16:creationId xmlns:a16="http://schemas.microsoft.com/office/drawing/2014/main" id="{1CF9C3A0-90C2-104F-8C5D-8BF17B43492A}"/>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20309" y="2991816"/>
              <a:ext cx="1097280" cy="1097280"/>
            </a:xfrm>
            <a:prstGeom prst="rect">
              <a:avLst/>
            </a:prstGeom>
          </p:spPr>
        </p:pic>
        <p:sp>
          <p:nvSpPr>
            <p:cNvPr id="7" name="TextBox 6">
              <a:extLst>
                <a:ext uri="{FF2B5EF4-FFF2-40B4-BE49-F238E27FC236}">
                  <a16:creationId xmlns:a16="http://schemas.microsoft.com/office/drawing/2014/main" id="{3B80D3AF-B376-7B4C-812C-4B01DFE501E9}"/>
                </a:ext>
              </a:extLst>
            </p:cNvPr>
            <p:cNvSpPr txBox="1"/>
            <p:nvPr/>
          </p:nvSpPr>
          <p:spPr>
            <a:xfrm>
              <a:off x="2517364" y="5491969"/>
              <a:ext cx="1513305" cy="369332"/>
            </a:xfrm>
            <a:prstGeom prst="rect">
              <a:avLst/>
            </a:prstGeom>
            <a:noFill/>
          </p:spPr>
          <p:txBody>
            <a:bodyPr wrap="square" rtlCol="0">
              <a:spAutoFit/>
            </a:bodyPr>
            <a:lstStyle/>
            <a:p>
              <a:pPr algn="ctr"/>
              <a:r>
                <a:rPr lang="en-US" dirty="0">
                  <a:solidFill>
                    <a:srgbClr val="232F3D"/>
                  </a:solidFill>
                </a:rPr>
                <a:t>Registry</a:t>
              </a:r>
            </a:p>
          </p:txBody>
        </p:sp>
        <p:sp>
          <p:nvSpPr>
            <p:cNvPr id="8" name="TextBox 7">
              <a:extLst>
                <a:ext uri="{FF2B5EF4-FFF2-40B4-BE49-F238E27FC236}">
                  <a16:creationId xmlns:a16="http://schemas.microsoft.com/office/drawing/2014/main" id="{E30BD3A7-C48B-CE4E-A6CB-7C76940D5754}"/>
                </a:ext>
              </a:extLst>
            </p:cNvPr>
            <p:cNvSpPr txBox="1"/>
            <p:nvPr/>
          </p:nvSpPr>
          <p:spPr>
            <a:xfrm>
              <a:off x="1417561" y="5491969"/>
              <a:ext cx="1513305" cy="369332"/>
            </a:xfrm>
            <a:prstGeom prst="rect">
              <a:avLst/>
            </a:prstGeom>
            <a:noFill/>
          </p:spPr>
          <p:txBody>
            <a:bodyPr wrap="square" rtlCol="0">
              <a:spAutoFit/>
            </a:bodyPr>
            <a:lstStyle/>
            <a:p>
              <a:pPr algn="ctr"/>
              <a:r>
                <a:rPr lang="en-US" dirty="0">
                  <a:solidFill>
                    <a:srgbClr val="232F3D"/>
                  </a:solidFill>
                </a:rPr>
                <a:t>Image</a:t>
              </a:r>
            </a:p>
          </p:txBody>
        </p:sp>
        <p:pic>
          <p:nvPicPr>
            <p:cNvPr id="11" name="Graphic 5">
              <a:extLst>
                <a:ext uri="{FF2B5EF4-FFF2-40B4-BE49-F238E27FC236}">
                  <a16:creationId xmlns:a16="http://schemas.microsoft.com/office/drawing/2014/main" id="{80657F91-5B57-284A-B3AB-6E90EA77B5FA}"/>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39066" y="5050508"/>
              <a:ext cx="469900" cy="469900"/>
            </a:xfrm>
            <a:prstGeom prst="rect">
              <a:avLst/>
            </a:prstGeom>
          </p:spPr>
        </p:pic>
        <p:pic>
          <p:nvPicPr>
            <p:cNvPr id="12" name="Graphic 9">
              <a:extLst>
                <a:ext uri="{FF2B5EF4-FFF2-40B4-BE49-F238E27FC236}">
                  <a16:creationId xmlns:a16="http://schemas.microsoft.com/office/drawing/2014/main" id="{6F1D2976-3731-FD45-9487-2C4785939B44}"/>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939263" y="5063472"/>
              <a:ext cx="469900" cy="469900"/>
            </a:xfrm>
            <a:prstGeom prst="rect">
              <a:avLst/>
            </a:prstGeom>
          </p:spPr>
        </p:pic>
        <p:cxnSp>
          <p:nvCxnSpPr>
            <p:cNvPr id="13" name="Straight Connector 12"/>
            <p:cNvCxnSpPr/>
            <p:nvPr/>
          </p:nvCxnSpPr>
          <p:spPr>
            <a:xfrm>
              <a:off x="1400636" y="4861187"/>
              <a:ext cx="2805831" cy="0"/>
            </a:xfrm>
            <a:prstGeom prst="line">
              <a:avLst/>
            </a:prstGeom>
            <a:ln>
              <a:solidFill>
                <a:schemeClr val="tx2"/>
              </a:solidFill>
              <a:prstDash val="dash"/>
            </a:ln>
          </p:spPr>
          <p:style>
            <a:lnRef idx="1">
              <a:schemeClr val="accent6"/>
            </a:lnRef>
            <a:fillRef idx="0">
              <a:schemeClr val="accent6"/>
            </a:fillRef>
            <a:effectRef idx="0">
              <a:schemeClr val="accent6"/>
            </a:effectRef>
            <a:fontRef idx="minor">
              <a:schemeClr val="tx1"/>
            </a:fontRef>
          </p:style>
        </p:cxnSp>
      </p:grpSp>
      <p:graphicFrame>
        <p:nvGraphicFramePr>
          <p:cNvPr id="14" name="Diagram 13" descr="ECR characteristics, including: ECS integration, docker support, team collaboration, access control, and third-party integrations."/>
          <p:cNvGraphicFramePr/>
          <p:nvPr>
            <p:extLst>
              <p:ext uri="{D42A27DB-BD31-4B8C-83A1-F6EECF244321}">
                <p14:modId xmlns:p14="http://schemas.microsoft.com/office/powerpoint/2010/main" val="4131610782"/>
              </p:ext>
            </p:extLst>
          </p:nvPr>
        </p:nvGraphicFramePr>
        <p:xfrm>
          <a:off x="4828067" y="1518635"/>
          <a:ext cx="7067671" cy="471178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custDataLst>
      <p:tags r:id="rId1"/>
    </p:custDataLst>
    <p:extLst>
      <p:ext uri="{BB962C8B-B14F-4D97-AF65-F5344CB8AC3E}">
        <p14:creationId xmlns:p14="http://schemas.microsoft.com/office/powerpoint/2010/main" val="36877486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7A575E5-94AA-EE4A-880C-30BE91D6612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56</a:t>
            </a:fld>
            <a:endParaRPr lang="en-US" dirty="0"/>
          </a:p>
        </p:txBody>
      </p:sp>
      <p:sp>
        <p:nvSpPr>
          <p:cNvPr id="11" name="Title 3"/>
          <p:cNvSpPr>
            <a:spLocks noGrp="1"/>
          </p:cNvSpPr>
          <p:nvPr>
            <p:ph type="ctrTitle"/>
          </p:nvPr>
        </p:nvSpPr>
        <p:spPr/>
        <p:txBody>
          <a:bodyPr/>
          <a:lstStyle/>
          <a:p>
            <a:r>
              <a:rPr lang="en-US" dirty="0"/>
              <a:t>Section 4 key takeaways</a:t>
            </a:r>
          </a:p>
        </p:txBody>
      </p:sp>
      <p:sp>
        <p:nvSpPr>
          <p:cNvPr id="7" name="Content Placeholder 6">
            <a:extLst>
              <a:ext uri="{FF2B5EF4-FFF2-40B4-BE49-F238E27FC236}">
                <a16:creationId xmlns:a16="http://schemas.microsoft.com/office/drawing/2014/main" id="{019E5D6B-DF07-48E2-A867-EBC5E821A07C}"/>
              </a:ext>
            </a:extLst>
          </p:cNvPr>
          <p:cNvSpPr>
            <a:spLocks noGrp="1"/>
          </p:cNvSpPr>
          <p:nvPr>
            <p:ph type="body" idx="1"/>
          </p:nvPr>
        </p:nvSpPr>
        <p:spPr/>
        <p:txBody>
          <a:bodyPr/>
          <a:lstStyle/>
          <a:p>
            <a:pPr>
              <a:buClr>
                <a:srgbClr val="232F3E"/>
              </a:buClr>
            </a:pPr>
            <a:r>
              <a:rPr lang="en-US" sz="2000" b="1" dirty="0">
                <a:solidFill>
                  <a:srgbClr val="504BAB"/>
                </a:solidFill>
              </a:rPr>
              <a:t>Containers</a:t>
            </a:r>
            <a:r>
              <a:rPr lang="en-US" sz="2000" dirty="0"/>
              <a:t> can hold everything that an application needs to run.</a:t>
            </a:r>
          </a:p>
          <a:p>
            <a:pPr>
              <a:buClr>
                <a:srgbClr val="232F3E"/>
              </a:buClr>
            </a:pPr>
            <a:r>
              <a:rPr lang="en-US" sz="2000" b="1" dirty="0">
                <a:solidFill>
                  <a:srgbClr val="504BAB"/>
                </a:solidFill>
              </a:rPr>
              <a:t>Docker</a:t>
            </a:r>
            <a:r>
              <a:rPr lang="en-US" sz="2000" dirty="0"/>
              <a:t> is a software platform that packages software into containers. </a:t>
            </a:r>
          </a:p>
          <a:p>
            <a:pPr lvl="1">
              <a:buClr>
                <a:srgbClr val="232F3E"/>
              </a:buClr>
            </a:pPr>
            <a:r>
              <a:rPr lang="en-US" sz="1800" dirty="0"/>
              <a:t>A single application can span multiple containers.</a:t>
            </a:r>
          </a:p>
          <a:p>
            <a:pPr>
              <a:buClr>
                <a:srgbClr val="232F3E"/>
              </a:buClr>
            </a:pPr>
            <a:r>
              <a:rPr lang="en-US" sz="2000" dirty="0"/>
              <a:t>Amazon Elastic Container Service (</a:t>
            </a:r>
            <a:r>
              <a:rPr lang="en-US" sz="2000" b="1" dirty="0">
                <a:solidFill>
                  <a:srgbClr val="504BAB"/>
                </a:solidFill>
              </a:rPr>
              <a:t>Amazon</a:t>
            </a:r>
            <a:r>
              <a:rPr lang="en-US" sz="2000" b="1" dirty="0">
                <a:solidFill>
                  <a:schemeClr val="accent5"/>
                </a:solidFill>
              </a:rPr>
              <a:t> </a:t>
            </a:r>
            <a:r>
              <a:rPr lang="en-US" sz="2000" b="1" dirty="0">
                <a:solidFill>
                  <a:srgbClr val="504BAB"/>
                </a:solidFill>
              </a:rPr>
              <a:t>ECS</a:t>
            </a:r>
            <a:r>
              <a:rPr lang="en-US" sz="2000" dirty="0"/>
              <a:t>) orchestrates the running of Docker containers.</a:t>
            </a:r>
          </a:p>
          <a:p>
            <a:pPr>
              <a:buClr>
                <a:srgbClr val="232F3E"/>
              </a:buClr>
            </a:pPr>
            <a:r>
              <a:rPr lang="en-US" sz="2000" b="1" dirty="0">
                <a:solidFill>
                  <a:srgbClr val="504BAB"/>
                </a:solidFill>
              </a:rPr>
              <a:t>Kubernetes</a:t>
            </a:r>
            <a:r>
              <a:rPr lang="en-US" sz="2000" dirty="0"/>
              <a:t> is open source software for container orchestration. </a:t>
            </a:r>
          </a:p>
          <a:p>
            <a:pPr>
              <a:buClr>
                <a:srgbClr val="232F3E"/>
              </a:buClr>
            </a:pPr>
            <a:r>
              <a:rPr lang="en-US" sz="2000" dirty="0"/>
              <a:t>Amazon Elastic Kubernetes Service (</a:t>
            </a:r>
            <a:r>
              <a:rPr lang="en-US" sz="2000" b="1" dirty="0">
                <a:solidFill>
                  <a:srgbClr val="504BAB"/>
                </a:solidFill>
              </a:rPr>
              <a:t>Amazon</a:t>
            </a:r>
            <a:r>
              <a:rPr lang="en-US" sz="2000" b="1" dirty="0">
                <a:solidFill>
                  <a:schemeClr val="accent5"/>
                </a:solidFill>
              </a:rPr>
              <a:t> </a:t>
            </a:r>
            <a:r>
              <a:rPr lang="en-US" sz="2000" b="1" dirty="0">
                <a:solidFill>
                  <a:srgbClr val="504BAB"/>
                </a:solidFill>
              </a:rPr>
              <a:t>EKS</a:t>
            </a:r>
            <a:r>
              <a:rPr lang="en-US" sz="2000" dirty="0"/>
              <a:t>) enables you to run Kubernetes on AWS</a:t>
            </a:r>
          </a:p>
          <a:p>
            <a:pPr>
              <a:buClr>
                <a:srgbClr val="232F3E"/>
              </a:buClr>
            </a:pPr>
            <a:r>
              <a:rPr lang="en-US" sz="2000" dirty="0"/>
              <a:t>Amazon Elastic Container Registry (</a:t>
            </a:r>
            <a:r>
              <a:rPr lang="en-US" sz="2000" b="1" dirty="0">
                <a:solidFill>
                  <a:srgbClr val="504BAB"/>
                </a:solidFill>
              </a:rPr>
              <a:t>Amazon</a:t>
            </a:r>
            <a:r>
              <a:rPr lang="en-US" sz="2000" b="1" dirty="0">
                <a:solidFill>
                  <a:schemeClr val="accent5"/>
                </a:solidFill>
              </a:rPr>
              <a:t> </a:t>
            </a:r>
            <a:r>
              <a:rPr lang="en-US" sz="2000" b="1" dirty="0">
                <a:solidFill>
                  <a:srgbClr val="504BAB"/>
                </a:solidFill>
              </a:rPr>
              <a:t>ECR</a:t>
            </a:r>
            <a:r>
              <a:rPr lang="en-US" sz="2000" dirty="0"/>
              <a:t>) enables you to store, manage, and deploy your Docker containers.</a:t>
            </a:r>
          </a:p>
          <a:p>
            <a:pPr marL="0" indent="0">
              <a:buNone/>
            </a:pPr>
            <a:endParaRPr lang="en-US" sz="2000" dirty="0"/>
          </a:p>
        </p:txBody>
      </p:sp>
      <p:pic>
        <p:nvPicPr>
          <p:cNvPr id="9" name="Picture Placeholder 6">
            <a:extLs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2405174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0"/>
              </a:ext>
            </a:extLst>
          </p:cNvPr>
          <p:cNvSpPr>
            <a:spLocks noGrp="1"/>
          </p:cNvSpPr>
          <p:nvPr>
            <p:ph type="title"/>
          </p:nvPr>
        </p:nvSpPr>
        <p:spPr/>
        <p:txBody>
          <a:bodyPr>
            <a:noAutofit/>
          </a:bodyPr>
          <a:lstStyle/>
          <a:p>
            <a:r>
              <a:rPr lang="en-US" sz="4000" dirty="0"/>
              <a:t>Section 5: Introduction to AWS Lambda</a:t>
            </a:r>
          </a:p>
        </p:txBody>
      </p:sp>
      <p:sp>
        <p:nvSpPr>
          <p:cNvPr id="5" name="Text Placeholder 4">
            <a:extLst>
              <a:ext uri="{FF2B5EF4-FFF2-40B4-BE49-F238E27FC236}">
                <a16:creationId xmlns:a16="http://schemas.microsoft.com/office/drawing/2014/main" id="{731EB2DB-404C-DC46-B862-75625E088736}"/>
              </a:ext>
            </a:extLst>
          </p:cNvPr>
          <p:cNvSpPr>
            <a:spLocks noGrp="1"/>
          </p:cNvSpPr>
          <p:nvPr>
            <p:ph type="subTitle" idx="1"/>
          </p:nvPr>
        </p:nvSpPr>
        <p:spPr/>
        <p:txBody>
          <a:bodyPr>
            <a:normAutofit/>
          </a:bodyPr>
          <a:lstStyle/>
          <a:p>
            <a:r>
              <a:rPr lang="en-US" dirty="0"/>
              <a:t>Module 6: Compute</a:t>
            </a:r>
          </a:p>
        </p:txBody>
      </p:sp>
    </p:spTree>
    <p:custDataLst>
      <p:tags r:id="rId1"/>
    </p:custDataLst>
    <p:extLst>
      <p:ext uri="{BB962C8B-B14F-4D97-AF65-F5344CB8AC3E}">
        <p14:creationId xmlns:p14="http://schemas.microsoft.com/office/powerpoint/2010/main" val="15488676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EC85E06-1858-B18F-5091-261B020DE11E}"/>
              </a:ext>
            </a:extLst>
          </p:cNvPr>
          <p:cNvSpPr>
            <a:spLocks noGrp="1"/>
          </p:cNvSpPr>
          <p:nvPr>
            <p:ph type="sldNum" sz="quarter" idx="20"/>
          </p:nvPr>
        </p:nvSpPr>
        <p:spPr/>
        <p:txBody>
          <a:bodyPr/>
          <a:lstStyle/>
          <a:p>
            <a:fld id="{930176A1-BCF0-4712-97A6-6B495F55390B}" type="slidenum">
              <a:rPr lang="en-US" smtClean="0"/>
              <a:t>58</a:t>
            </a:fld>
            <a:endParaRPr lang="en-US"/>
          </a:p>
        </p:txBody>
      </p:sp>
      <p:sp>
        <p:nvSpPr>
          <p:cNvPr id="2" name="Title 1"/>
          <p:cNvSpPr>
            <a:spLocks noGrp="1"/>
          </p:cNvSpPr>
          <p:nvPr>
            <p:ph type="title"/>
          </p:nvPr>
        </p:nvSpPr>
        <p:spPr/>
        <p:txBody>
          <a:bodyPr/>
          <a:lstStyle/>
          <a:p>
            <a:r>
              <a:rPr lang="en-US" dirty="0"/>
              <a:t>AWS Lambda: Run code without servers</a:t>
            </a:r>
          </a:p>
        </p:txBody>
      </p:sp>
      <p:sp>
        <p:nvSpPr>
          <p:cNvPr id="4" name="Freeform 3">
            <a:extLst>
              <a:ext uri="{C183D7F6-B498-43B3-948B-1728B52AA6E4}">
                <adec:decorative xmlns:adec="http://schemas.microsoft.com/office/drawing/2017/decorative" val="1"/>
              </a:ext>
            </a:extLst>
          </p:cNvPr>
          <p:cNvSpPr/>
          <p:nvPr/>
        </p:nvSpPr>
        <p:spPr bwMode="auto">
          <a:xfrm>
            <a:off x="2705100" y="2212397"/>
            <a:ext cx="3133725" cy="3486150"/>
          </a:xfrm>
          <a:custGeom>
            <a:avLst/>
            <a:gdLst>
              <a:gd name="connsiteX0" fmla="*/ 0 w 3133725"/>
              <a:gd name="connsiteY0" fmla="*/ 76200 h 3486150"/>
              <a:gd name="connsiteX1" fmla="*/ 0 w 3133725"/>
              <a:gd name="connsiteY1" fmla="*/ 1428750 h 3486150"/>
              <a:gd name="connsiteX2" fmla="*/ 171450 w 3133725"/>
              <a:gd name="connsiteY2" fmla="*/ 1428750 h 3486150"/>
              <a:gd name="connsiteX3" fmla="*/ 171450 w 3133725"/>
              <a:gd name="connsiteY3" fmla="*/ 3486150 h 3486150"/>
              <a:gd name="connsiteX4" fmla="*/ 3133725 w 3133725"/>
              <a:gd name="connsiteY4" fmla="*/ 3486150 h 3486150"/>
              <a:gd name="connsiteX5" fmla="*/ 3133725 w 3133725"/>
              <a:gd name="connsiteY5" fmla="*/ 3371850 h 3486150"/>
              <a:gd name="connsiteX6" fmla="*/ 3133725 w 3133725"/>
              <a:gd name="connsiteY6" fmla="*/ 1200150 h 3486150"/>
              <a:gd name="connsiteX7" fmla="*/ 2962275 w 3133725"/>
              <a:gd name="connsiteY7" fmla="*/ 1200150 h 3486150"/>
              <a:gd name="connsiteX8" fmla="*/ 2333625 w 3133725"/>
              <a:gd name="connsiteY8" fmla="*/ 1200150 h 3486150"/>
              <a:gd name="connsiteX9" fmla="*/ 2333625 w 3133725"/>
              <a:gd name="connsiteY9" fmla="*/ 0 h 3486150"/>
              <a:gd name="connsiteX10" fmla="*/ 2238375 w 3133725"/>
              <a:gd name="connsiteY10" fmla="*/ 0 h 3486150"/>
              <a:gd name="connsiteX11" fmla="*/ 0 w 3133725"/>
              <a:gd name="connsiteY11" fmla="*/ 76200 h 348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3725" h="3486150">
                <a:moveTo>
                  <a:pt x="0" y="76200"/>
                </a:moveTo>
                <a:lnTo>
                  <a:pt x="0" y="1428750"/>
                </a:lnTo>
                <a:lnTo>
                  <a:pt x="171450" y="1428750"/>
                </a:lnTo>
                <a:lnTo>
                  <a:pt x="171450" y="3486150"/>
                </a:lnTo>
                <a:lnTo>
                  <a:pt x="3133725" y="3486150"/>
                </a:lnTo>
                <a:lnTo>
                  <a:pt x="3133725" y="3371850"/>
                </a:lnTo>
                <a:lnTo>
                  <a:pt x="3133725" y="1200150"/>
                </a:lnTo>
                <a:lnTo>
                  <a:pt x="2962275" y="1200150"/>
                </a:lnTo>
                <a:lnTo>
                  <a:pt x="2333625" y="1200150"/>
                </a:lnTo>
                <a:lnTo>
                  <a:pt x="2333625" y="0"/>
                </a:lnTo>
                <a:lnTo>
                  <a:pt x="2238375" y="0"/>
                </a:lnTo>
                <a:lnTo>
                  <a:pt x="0" y="7620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1" name="Freeform 10">
            <a:extLst>
              <a:ext uri="{C183D7F6-B498-43B3-948B-1728B52AA6E4}">
                <adec:decorative xmlns:adec="http://schemas.microsoft.com/office/drawing/2017/decorative" val="1"/>
              </a:ext>
            </a:extLst>
          </p:cNvPr>
          <p:cNvSpPr/>
          <p:nvPr/>
        </p:nvSpPr>
        <p:spPr bwMode="auto">
          <a:xfrm>
            <a:off x="5124450" y="2383847"/>
            <a:ext cx="3762375" cy="3257550"/>
          </a:xfrm>
          <a:custGeom>
            <a:avLst/>
            <a:gdLst>
              <a:gd name="connsiteX0" fmla="*/ 0 w 3762375"/>
              <a:gd name="connsiteY0" fmla="*/ 895350 h 3257550"/>
              <a:gd name="connsiteX1" fmla="*/ 0 w 3762375"/>
              <a:gd name="connsiteY1" fmla="*/ 0 h 3257550"/>
              <a:gd name="connsiteX2" fmla="*/ 2514600 w 3762375"/>
              <a:gd name="connsiteY2" fmla="*/ 0 h 3257550"/>
              <a:gd name="connsiteX3" fmla="*/ 2514600 w 3762375"/>
              <a:gd name="connsiteY3" fmla="*/ 771525 h 3257550"/>
              <a:gd name="connsiteX4" fmla="*/ 2800350 w 3762375"/>
              <a:gd name="connsiteY4" fmla="*/ 771525 h 3257550"/>
              <a:gd name="connsiteX5" fmla="*/ 2800350 w 3762375"/>
              <a:gd name="connsiteY5" fmla="*/ 1314450 h 3257550"/>
              <a:gd name="connsiteX6" fmla="*/ 2990850 w 3762375"/>
              <a:gd name="connsiteY6" fmla="*/ 1314450 h 3257550"/>
              <a:gd name="connsiteX7" fmla="*/ 2990850 w 3762375"/>
              <a:gd name="connsiteY7" fmla="*/ 2438400 h 3257550"/>
              <a:gd name="connsiteX8" fmla="*/ 2819400 w 3762375"/>
              <a:gd name="connsiteY8" fmla="*/ 2419350 h 3257550"/>
              <a:gd name="connsiteX9" fmla="*/ 3762375 w 3762375"/>
              <a:gd name="connsiteY9" fmla="*/ 2419350 h 3257550"/>
              <a:gd name="connsiteX10" fmla="*/ 3762375 w 3762375"/>
              <a:gd name="connsiteY10" fmla="*/ 3248025 h 3257550"/>
              <a:gd name="connsiteX11" fmla="*/ 3629025 w 3762375"/>
              <a:gd name="connsiteY11" fmla="*/ 3257550 h 3257550"/>
              <a:gd name="connsiteX12" fmla="*/ 866775 w 3762375"/>
              <a:gd name="connsiteY12" fmla="*/ 3257550 h 3257550"/>
              <a:gd name="connsiteX13" fmla="*/ 866775 w 3762375"/>
              <a:gd name="connsiteY13" fmla="*/ 3057525 h 3257550"/>
              <a:gd name="connsiteX14" fmla="*/ 866775 w 3762375"/>
              <a:gd name="connsiteY14" fmla="*/ 981075 h 3257550"/>
              <a:gd name="connsiteX15" fmla="*/ 1019175 w 3762375"/>
              <a:gd name="connsiteY15" fmla="*/ 981075 h 3257550"/>
              <a:gd name="connsiteX16" fmla="*/ 0 w 3762375"/>
              <a:gd name="connsiteY16" fmla="*/ 895350 h 3257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762375" h="3257550">
                <a:moveTo>
                  <a:pt x="0" y="895350"/>
                </a:moveTo>
                <a:lnTo>
                  <a:pt x="0" y="0"/>
                </a:lnTo>
                <a:lnTo>
                  <a:pt x="2514600" y="0"/>
                </a:lnTo>
                <a:lnTo>
                  <a:pt x="2514600" y="771525"/>
                </a:lnTo>
                <a:lnTo>
                  <a:pt x="2800350" y="771525"/>
                </a:lnTo>
                <a:lnTo>
                  <a:pt x="2800350" y="1314450"/>
                </a:lnTo>
                <a:lnTo>
                  <a:pt x="2990850" y="1314450"/>
                </a:lnTo>
                <a:lnTo>
                  <a:pt x="2990850" y="2438400"/>
                </a:lnTo>
                <a:lnTo>
                  <a:pt x="2819400" y="2419350"/>
                </a:lnTo>
                <a:lnTo>
                  <a:pt x="3762375" y="2419350"/>
                </a:lnTo>
                <a:lnTo>
                  <a:pt x="3762375" y="3248025"/>
                </a:lnTo>
                <a:cubicBezTo>
                  <a:pt x="3635384" y="3257794"/>
                  <a:pt x="3679947" y="3257550"/>
                  <a:pt x="3629025" y="3257550"/>
                </a:cubicBezTo>
                <a:lnTo>
                  <a:pt x="866775" y="3257550"/>
                </a:lnTo>
                <a:lnTo>
                  <a:pt x="866775" y="3057525"/>
                </a:lnTo>
                <a:lnTo>
                  <a:pt x="866775" y="981075"/>
                </a:lnTo>
                <a:lnTo>
                  <a:pt x="1019175" y="981075"/>
                </a:lnTo>
                <a:lnTo>
                  <a:pt x="0" y="89535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5" name="Freeform 14">
            <a:extLst>
              <a:ext uri="{C183D7F6-B498-43B3-948B-1728B52AA6E4}">
                <adec:decorative xmlns:adec="http://schemas.microsoft.com/office/drawing/2017/decorative" val="1"/>
              </a:ext>
            </a:extLst>
          </p:cNvPr>
          <p:cNvSpPr/>
          <p:nvPr/>
        </p:nvSpPr>
        <p:spPr bwMode="auto">
          <a:xfrm>
            <a:off x="7639050" y="2345747"/>
            <a:ext cx="4124325" cy="3143250"/>
          </a:xfrm>
          <a:custGeom>
            <a:avLst/>
            <a:gdLst>
              <a:gd name="connsiteX0" fmla="*/ 0 w 4124325"/>
              <a:gd name="connsiteY0" fmla="*/ 771525 h 3143250"/>
              <a:gd name="connsiteX1" fmla="*/ 0 w 4124325"/>
              <a:gd name="connsiteY1" fmla="*/ 0 h 3143250"/>
              <a:gd name="connsiteX2" fmla="*/ 3705225 w 4124325"/>
              <a:gd name="connsiteY2" fmla="*/ 0 h 3143250"/>
              <a:gd name="connsiteX3" fmla="*/ 3705225 w 4124325"/>
              <a:gd name="connsiteY3" fmla="*/ 2609850 h 3143250"/>
              <a:gd name="connsiteX4" fmla="*/ 4124325 w 4124325"/>
              <a:gd name="connsiteY4" fmla="*/ 2609850 h 3143250"/>
              <a:gd name="connsiteX5" fmla="*/ 4124325 w 4124325"/>
              <a:gd name="connsiteY5" fmla="*/ 3143250 h 3143250"/>
              <a:gd name="connsiteX6" fmla="*/ 1390650 w 4124325"/>
              <a:gd name="connsiteY6" fmla="*/ 3143250 h 3143250"/>
              <a:gd name="connsiteX7" fmla="*/ 1390650 w 4124325"/>
              <a:gd name="connsiteY7" fmla="*/ 2152650 h 3143250"/>
              <a:gd name="connsiteX8" fmla="*/ 1295400 w 4124325"/>
              <a:gd name="connsiteY8" fmla="*/ 2152650 h 3143250"/>
              <a:gd name="connsiteX9" fmla="*/ 495300 w 4124325"/>
              <a:gd name="connsiteY9" fmla="*/ 2152650 h 3143250"/>
              <a:gd name="connsiteX10" fmla="*/ 495300 w 4124325"/>
              <a:gd name="connsiteY10" fmla="*/ 790575 h 3143250"/>
              <a:gd name="connsiteX11" fmla="*/ 0 w 4124325"/>
              <a:gd name="connsiteY11" fmla="*/ 771525 h 3143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24325" h="3143250">
                <a:moveTo>
                  <a:pt x="0" y="771525"/>
                </a:moveTo>
                <a:lnTo>
                  <a:pt x="0" y="0"/>
                </a:lnTo>
                <a:lnTo>
                  <a:pt x="3705225" y="0"/>
                </a:lnTo>
                <a:lnTo>
                  <a:pt x="3705225" y="2609850"/>
                </a:lnTo>
                <a:lnTo>
                  <a:pt x="4124325" y="2609850"/>
                </a:lnTo>
                <a:lnTo>
                  <a:pt x="4124325" y="3143250"/>
                </a:lnTo>
                <a:lnTo>
                  <a:pt x="1390650" y="3143250"/>
                </a:lnTo>
                <a:lnTo>
                  <a:pt x="1390650" y="2152650"/>
                </a:lnTo>
                <a:lnTo>
                  <a:pt x="1295400" y="2152650"/>
                </a:lnTo>
                <a:lnTo>
                  <a:pt x="495300" y="2152650"/>
                </a:lnTo>
                <a:lnTo>
                  <a:pt x="495300" y="790575"/>
                </a:lnTo>
                <a:lnTo>
                  <a:pt x="0" y="771525"/>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BE10F589-7E69-4541-9465-64DB61A45EC4}"/>
              </a:ext>
            </a:extLst>
          </p:cNvPr>
          <p:cNvSpPr txBox="1"/>
          <p:nvPr/>
        </p:nvSpPr>
        <p:spPr>
          <a:xfrm>
            <a:off x="3002577" y="1294856"/>
            <a:ext cx="6510115" cy="830997"/>
          </a:xfrm>
          <a:prstGeom prst="rect">
            <a:avLst/>
          </a:prstGeom>
          <a:noFill/>
        </p:spPr>
        <p:txBody>
          <a:bodyPr wrap="none" rtlCol="0">
            <a:spAutoFit/>
          </a:bodyPr>
          <a:lstStyle/>
          <a:p>
            <a:r>
              <a:rPr lang="en-US" sz="2400" dirty="0"/>
              <a:t>AWS Lambda is a </a:t>
            </a:r>
            <a:r>
              <a:rPr lang="en-US" sz="2400" b="1" dirty="0">
                <a:solidFill>
                  <a:srgbClr val="504BAB"/>
                </a:solidFill>
              </a:rPr>
              <a:t>serverless</a:t>
            </a:r>
            <a:r>
              <a:rPr lang="en-US" sz="2400" dirty="0"/>
              <a:t> compute service.</a:t>
            </a:r>
          </a:p>
          <a:p>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17" name="Group 16" descr="Diagram shows (from left to right) that code is uploaded, code runs as a Lambda function triggered by events or run on a schedule, and that you only pay for compute time you use.">
            <a:extLst>
              <a:ext uri="{FF2B5EF4-FFF2-40B4-BE49-F238E27FC236}">
                <a16:creationId xmlns:a16="http://schemas.microsoft.com/office/drawing/2014/main" id="{4481D796-2AC6-340A-8355-D572BD1192C1}"/>
              </a:ext>
            </a:extLst>
          </p:cNvPr>
          <p:cNvGrpSpPr/>
          <p:nvPr/>
        </p:nvGrpSpPr>
        <p:grpSpPr>
          <a:xfrm>
            <a:off x="419100" y="1828801"/>
            <a:ext cx="11395284" cy="4210914"/>
            <a:chOff x="419100" y="1828801"/>
            <a:chExt cx="11395284" cy="4210914"/>
          </a:xfrm>
        </p:grpSpPr>
        <p:pic>
          <p:nvPicPr>
            <p:cNvPr id="23" name="Picture 22">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3574" y="2113265"/>
              <a:ext cx="10455204" cy="2898648"/>
            </a:xfrm>
            <a:prstGeom prst="rect">
              <a:avLst/>
            </a:prstGeom>
          </p:spPr>
        </p:pic>
        <p:sp>
          <p:nvSpPr>
            <p:cNvPr id="7" name="TextBox 6"/>
            <p:cNvSpPr txBox="1"/>
            <p:nvPr/>
          </p:nvSpPr>
          <p:spPr>
            <a:xfrm>
              <a:off x="2563216" y="5200323"/>
              <a:ext cx="3306344" cy="646501"/>
            </a:xfrm>
            <a:prstGeom prst="rect">
              <a:avLst/>
            </a:prstGeom>
            <a:solidFill>
              <a:schemeClr val="bg1"/>
            </a:solidFill>
          </p:spPr>
          <p:txBody>
            <a:bodyPr wrap="none" rtlCol="0">
              <a:noAutofit/>
            </a:bodyPr>
            <a:lstStyle/>
            <a:p>
              <a:pPr algn="ctr"/>
              <a:r>
                <a:rPr lang="en-US" dirty="0">
                  <a:latin typeface="Amazon Ember" panose="02000000000000000000" pitchFamily="2" charset="0"/>
                  <a:ea typeface="Amazon Ember" panose="02000000000000000000" pitchFamily="2" charset="0"/>
                </a:rPr>
                <a:t>Run your code on a </a:t>
              </a:r>
              <a:r>
                <a:rPr lang="en-US" b="1" i="1" dirty="0">
                  <a:solidFill>
                    <a:srgbClr val="504BAB"/>
                  </a:solidFill>
                  <a:latin typeface="Amazon Ember" panose="02000000000000000000" pitchFamily="2" charset="0"/>
                  <a:ea typeface="Amazon Ember" panose="02000000000000000000" pitchFamily="2" charset="0"/>
                </a:rPr>
                <a:t>schedule</a:t>
              </a:r>
              <a:r>
                <a:rPr lang="en-US" dirty="0">
                  <a:latin typeface="Amazon Ember" panose="02000000000000000000" pitchFamily="2" charset="0"/>
                  <a:ea typeface="Amazon Ember" panose="02000000000000000000" pitchFamily="2" charset="0"/>
                </a:rPr>
                <a:t> </a:t>
              </a:r>
            </a:p>
            <a:p>
              <a:pPr algn="ctr"/>
              <a:r>
                <a:rPr lang="en-US" i="1" dirty="0">
                  <a:latin typeface="Amazon Ember" panose="02000000000000000000" pitchFamily="2" charset="0"/>
                  <a:ea typeface="Amazon Ember" panose="02000000000000000000" pitchFamily="2" charset="0"/>
                </a:rPr>
                <a:t>or in response to </a:t>
              </a:r>
              <a:r>
                <a:rPr lang="en-US" b="1" i="1" dirty="0">
                  <a:solidFill>
                    <a:srgbClr val="504BAB"/>
                  </a:solidFill>
                  <a:latin typeface="Amazon Ember" panose="02000000000000000000" pitchFamily="2" charset="0"/>
                  <a:ea typeface="Amazon Ember" panose="02000000000000000000" pitchFamily="2" charset="0"/>
                </a:rPr>
                <a:t>events</a:t>
              </a:r>
            </a:p>
          </p:txBody>
        </p:sp>
        <p:sp>
          <p:nvSpPr>
            <p:cNvPr id="9" name="TextBox 8"/>
            <p:cNvSpPr txBox="1"/>
            <p:nvPr/>
          </p:nvSpPr>
          <p:spPr>
            <a:xfrm>
              <a:off x="9116262" y="4773703"/>
              <a:ext cx="1785242" cy="986656"/>
            </a:xfrm>
            <a:prstGeom prst="rect">
              <a:avLst/>
            </a:prstGeom>
            <a:solidFill>
              <a:schemeClr val="bg1"/>
            </a:solidFill>
          </p:spPr>
          <p:txBody>
            <a:bodyPr wrap="none" rtlCol="0">
              <a:noAutofit/>
            </a:bodyPr>
            <a:lstStyle/>
            <a:p>
              <a:pPr algn="ctr"/>
              <a:r>
                <a:rPr lang="en-US" dirty="0">
                  <a:latin typeface="Amazon Ember" panose="02000000000000000000" pitchFamily="2" charset="0"/>
                  <a:ea typeface="Amazon Ember" panose="02000000000000000000" pitchFamily="2" charset="0"/>
                </a:rPr>
                <a:t>Pay </a:t>
              </a:r>
              <a:r>
                <a:rPr lang="en-US" dirty="0">
                  <a:solidFill>
                    <a:srgbClr val="000000"/>
                  </a:solidFill>
                  <a:latin typeface="Amazon Ember" panose="02000000000000000000" pitchFamily="2" charset="0"/>
                  <a:ea typeface="Amazon Ember" panose="02000000000000000000" pitchFamily="2" charset="0"/>
                </a:rPr>
                <a:t>only</a:t>
              </a:r>
              <a:r>
                <a:rPr lang="en-US" dirty="0">
                  <a:latin typeface="Amazon Ember" panose="02000000000000000000" pitchFamily="2" charset="0"/>
                  <a:ea typeface="Amazon Ember" panose="02000000000000000000" pitchFamily="2" charset="0"/>
                </a:rPr>
                <a:t> for the</a:t>
              </a:r>
              <a:br>
                <a:rPr lang="en-US" dirty="0">
                  <a:latin typeface="Amazon Ember" panose="02000000000000000000" pitchFamily="2" charset="0"/>
                  <a:ea typeface="Amazon Ember" panose="02000000000000000000" pitchFamily="2" charset="0"/>
                </a:rPr>
              </a:br>
              <a:r>
                <a:rPr lang="en-US" dirty="0">
                  <a:latin typeface="Amazon Ember" panose="02000000000000000000" pitchFamily="2" charset="0"/>
                  <a:ea typeface="Amazon Ember" panose="02000000000000000000" pitchFamily="2" charset="0"/>
                </a:rPr>
                <a:t>compute time that</a:t>
              </a:r>
              <a:br>
                <a:rPr lang="en-US" dirty="0">
                  <a:latin typeface="Amazon Ember" panose="02000000000000000000" pitchFamily="2" charset="0"/>
                  <a:ea typeface="Amazon Ember" panose="02000000000000000000" pitchFamily="2" charset="0"/>
                </a:rPr>
              </a:br>
              <a:r>
                <a:rPr lang="en-US" dirty="0">
                  <a:latin typeface="Amazon Ember" panose="02000000000000000000" pitchFamily="2" charset="0"/>
                  <a:ea typeface="Amazon Ember" panose="02000000000000000000" pitchFamily="2" charset="0"/>
                </a:rPr>
                <a:t>you </a:t>
              </a:r>
              <a:r>
                <a:rPr lang="en-US" dirty="0">
                  <a:solidFill>
                    <a:srgbClr val="000000"/>
                  </a:solidFill>
                  <a:latin typeface="Amazon Ember" panose="02000000000000000000" pitchFamily="2" charset="0"/>
                  <a:ea typeface="Amazon Ember" panose="02000000000000000000" pitchFamily="2" charset="0"/>
                </a:rPr>
                <a:t>use</a:t>
              </a:r>
              <a:endParaRPr lang="en-US" dirty="0">
                <a:solidFill>
                  <a:srgbClr val="000000"/>
                </a:solidFill>
                <a:latin typeface="Amazon Ember"/>
                <a:ea typeface="Amazon Ember" panose="02000000000000000000" pitchFamily="2" charset="0"/>
              </a:endParaRPr>
            </a:p>
          </p:txBody>
        </p:sp>
        <p:sp>
          <p:nvSpPr>
            <p:cNvPr id="10" name="TextBox 9"/>
            <p:cNvSpPr txBox="1"/>
            <p:nvPr/>
          </p:nvSpPr>
          <p:spPr>
            <a:xfrm>
              <a:off x="3191738" y="4437135"/>
              <a:ext cx="731520" cy="335930"/>
            </a:xfrm>
            <a:prstGeom prst="rect">
              <a:avLst/>
            </a:prstGeom>
            <a:solidFill>
              <a:schemeClr val="bg1"/>
            </a:solidFill>
          </p:spPr>
          <p:txBody>
            <a:bodyPr wrap="none" rtlCol="0">
              <a:noAutofit/>
            </a:bodyPr>
            <a:lstStyle/>
            <a:p>
              <a:pPr algn="ctr"/>
              <a:r>
                <a:rPr lang="en-US" sz="1600" b="1" dirty="0">
                  <a:solidFill>
                    <a:srgbClr val="000000"/>
                  </a:solidFill>
                  <a:latin typeface="Amazon Ember" panose="02000000000000000000" pitchFamily="2" charset="0"/>
                  <a:ea typeface="Amazon Ember" panose="02000000000000000000" pitchFamily="2" charset="0"/>
                </a:rPr>
                <a:t>AWS</a:t>
              </a:r>
              <a:br>
                <a:rPr lang="en-US" sz="1600" b="1" dirty="0">
                  <a:solidFill>
                    <a:srgbClr val="000000"/>
                  </a:solidFill>
                  <a:latin typeface="Amazon Ember" panose="02000000000000000000" pitchFamily="2" charset="0"/>
                  <a:ea typeface="Amazon Ember" panose="02000000000000000000" pitchFamily="2" charset="0"/>
                </a:rPr>
              </a:br>
              <a:r>
                <a:rPr lang="en-US" sz="1600" b="1" dirty="0">
                  <a:solidFill>
                    <a:srgbClr val="000000"/>
                  </a:solidFill>
                  <a:latin typeface="Amazon Ember" panose="02000000000000000000" pitchFamily="2" charset="0"/>
                  <a:ea typeface="Amazon Ember" panose="02000000000000000000" pitchFamily="2" charset="0"/>
                </a:rPr>
                <a:t>services</a:t>
              </a:r>
              <a:endParaRPr lang="en-US" sz="1600" b="1" dirty="0">
                <a:solidFill>
                  <a:srgbClr val="000000"/>
                </a:solidFill>
                <a:latin typeface="Amazon Ember"/>
                <a:ea typeface="Amazon Ember" panose="02000000000000000000" pitchFamily="2" charset="0"/>
              </a:endParaRPr>
            </a:p>
          </p:txBody>
        </p:sp>
        <p:sp>
          <p:nvSpPr>
            <p:cNvPr id="12" name="TextBox 11"/>
            <p:cNvSpPr txBox="1"/>
            <p:nvPr/>
          </p:nvSpPr>
          <p:spPr>
            <a:xfrm>
              <a:off x="3862806" y="4942491"/>
              <a:ext cx="863600" cy="235671"/>
            </a:xfrm>
            <a:prstGeom prst="rect">
              <a:avLst/>
            </a:prstGeom>
            <a:solidFill>
              <a:schemeClr val="bg1"/>
            </a:solidFill>
          </p:spPr>
          <p:txBody>
            <a:bodyPr wrap="none" rtlCol="0">
              <a:noAutofit/>
            </a:bodyPr>
            <a:lstStyle/>
            <a:p>
              <a:pPr algn="ctr"/>
              <a:r>
                <a:rPr lang="en-US" sz="1600" b="1" dirty="0">
                  <a:solidFill>
                    <a:srgbClr val="000000"/>
                  </a:solidFill>
                  <a:latin typeface="Amazon Ember" panose="02000000000000000000" pitchFamily="2" charset="0"/>
                  <a:ea typeface="Amazon Ember" panose="02000000000000000000" pitchFamily="2" charset="0"/>
                </a:rPr>
                <a:t>Mobile apps</a:t>
              </a:r>
              <a:endParaRPr lang="en-US" sz="1600" b="1" dirty="0">
                <a:solidFill>
                  <a:srgbClr val="000000"/>
                </a:solidFill>
                <a:latin typeface="Amazon Ember"/>
                <a:ea typeface="Amazon Ember" panose="02000000000000000000" pitchFamily="2" charset="0"/>
              </a:endParaRPr>
            </a:p>
          </p:txBody>
        </p:sp>
        <p:sp>
          <p:nvSpPr>
            <p:cNvPr id="13" name="TextBox 12"/>
            <p:cNvSpPr txBox="1"/>
            <p:nvPr/>
          </p:nvSpPr>
          <p:spPr>
            <a:xfrm>
              <a:off x="4662292" y="4454811"/>
              <a:ext cx="1141638" cy="487680"/>
            </a:xfrm>
            <a:prstGeom prst="rect">
              <a:avLst/>
            </a:prstGeom>
            <a:solidFill>
              <a:schemeClr val="bg1"/>
            </a:solidFill>
          </p:spPr>
          <p:txBody>
            <a:bodyPr wrap="square" rtlCol="0">
              <a:noAutofit/>
            </a:bodyPr>
            <a:lstStyle/>
            <a:p>
              <a:pPr algn="ctr"/>
              <a:r>
                <a:rPr lang="en-US" sz="1600" b="1" dirty="0">
                  <a:solidFill>
                    <a:srgbClr val="000000"/>
                  </a:solidFill>
                  <a:latin typeface="Amazon Ember" panose="02000000000000000000" pitchFamily="2" charset="0"/>
                  <a:ea typeface="Amazon Ember" panose="02000000000000000000" pitchFamily="2" charset="0"/>
                </a:rPr>
                <a:t>HTTP</a:t>
              </a:r>
              <a:r>
                <a:rPr lang="en-US" sz="1600" b="1" dirty="0">
                  <a:solidFill>
                    <a:srgbClr val="000000"/>
                  </a:solidFill>
                  <a:latin typeface="Amazon Ember"/>
                  <a:ea typeface="Amazon Ember" panose="02000000000000000000" pitchFamily="2" charset="0"/>
                </a:rPr>
                <a:t> e</a:t>
              </a:r>
              <a:r>
                <a:rPr lang="en-US" sz="1600" b="1" dirty="0">
                  <a:solidFill>
                    <a:srgbClr val="000000"/>
                  </a:solidFill>
                  <a:latin typeface="Amazon Ember" panose="02000000000000000000" pitchFamily="2" charset="0"/>
                  <a:ea typeface="Amazon Ember" panose="02000000000000000000" pitchFamily="2" charset="0"/>
                </a:rPr>
                <a:t>ndpoints</a:t>
              </a:r>
              <a:endParaRPr lang="en-US" sz="1600" b="1" dirty="0">
                <a:solidFill>
                  <a:srgbClr val="000000"/>
                </a:solidFill>
                <a:latin typeface="Amazon Ember"/>
                <a:ea typeface="Amazon Ember" panose="02000000000000000000" pitchFamily="2" charset="0"/>
              </a:endParaRPr>
            </a:p>
          </p:txBody>
        </p:sp>
        <p:cxnSp>
          <p:nvCxnSpPr>
            <p:cNvPr id="16" name="Straight Arrow Connector 15"/>
            <p:cNvCxnSpPr/>
            <p:nvPr/>
          </p:nvCxnSpPr>
          <p:spPr>
            <a:xfrm>
              <a:off x="2641482" y="3483147"/>
              <a:ext cx="987644" cy="0"/>
            </a:xfrm>
            <a:prstGeom prst="straightConnector1">
              <a:avLst/>
            </a:prstGeom>
            <a:ln w="381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710032" y="5138182"/>
              <a:ext cx="1640458" cy="6693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765056" y="2597740"/>
              <a:ext cx="1811146" cy="371697"/>
            </a:xfrm>
            <a:prstGeom prst="rect">
              <a:avLst/>
            </a:prstGeom>
            <a:solidFill>
              <a:schemeClr val="bg1"/>
            </a:solidFill>
          </p:spPr>
          <p:txBody>
            <a:bodyPr wrap="none" rtlCol="0">
              <a:noAutofit/>
            </a:bodyPr>
            <a:lstStyle/>
            <a:p>
              <a:pPr algn="ctr"/>
              <a:r>
                <a:rPr lang="en-US" b="1" dirty="0">
                  <a:ea typeface="Amazon Ember" panose="02000000000000000000" pitchFamily="2" charset="0"/>
                </a:rPr>
                <a:t>Upload your </a:t>
              </a:r>
              <a:r>
                <a:rPr lang="en-US" b="1" dirty="0"/>
                <a:t>code</a:t>
              </a:r>
              <a:endParaRPr lang="en-US" b="1" dirty="0">
                <a:ea typeface="Amazon Ember" panose="02000000000000000000" pitchFamily="2" charset="0"/>
              </a:endParaRPr>
            </a:p>
            <a:p>
              <a:pPr algn="ctr"/>
              <a:endParaRPr lang="en-US" b="1" dirty="0">
                <a:ea typeface="Amazon Ember" panose="02000000000000000000" pitchFamily="2" charset="0"/>
              </a:endParaRPr>
            </a:p>
          </p:txBody>
        </p:sp>
        <p:sp>
          <p:nvSpPr>
            <p:cNvPr id="8" name="TextBox 7"/>
            <p:cNvSpPr txBox="1"/>
            <p:nvPr/>
          </p:nvSpPr>
          <p:spPr>
            <a:xfrm>
              <a:off x="6740346" y="4772395"/>
              <a:ext cx="1748836" cy="937047"/>
            </a:xfrm>
            <a:prstGeom prst="rect">
              <a:avLst/>
            </a:prstGeom>
            <a:solidFill>
              <a:schemeClr val="bg1"/>
            </a:solidFill>
          </p:spPr>
          <p:txBody>
            <a:bodyPr wrap="none" rtlCol="0">
              <a:noAutofit/>
            </a:bodyPr>
            <a:lstStyle/>
            <a:p>
              <a:pPr algn="ctr"/>
              <a:r>
                <a:rPr lang="en-US" dirty="0">
                  <a:latin typeface="Amazon Ember" panose="02000000000000000000" pitchFamily="2" charset="0"/>
                  <a:ea typeface="Amazon Ember" panose="02000000000000000000" pitchFamily="2" charset="0"/>
                </a:rPr>
                <a:t>Your code</a:t>
              </a:r>
              <a:br>
                <a:rPr lang="en-US" dirty="0">
                  <a:latin typeface="Amazon Ember" panose="02000000000000000000" pitchFamily="2" charset="0"/>
                  <a:ea typeface="Amazon Ember" panose="02000000000000000000" pitchFamily="2" charset="0"/>
                </a:rPr>
              </a:br>
              <a:r>
                <a:rPr lang="en-US" dirty="0">
                  <a:latin typeface="Amazon Ember" panose="02000000000000000000" pitchFamily="2" charset="0"/>
                  <a:ea typeface="Amazon Ember" panose="02000000000000000000" pitchFamily="2" charset="0"/>
                </a:rPr>
                <a:t>runs only when it is </a:t>
              </a:r>
            </a:p>
            <a:p>
              <a:pPr algn="ctr"/>
              <a:r>
                <a:rPr lang="en-US" dirty="0">
                  <a:latin typeface="Amazon Ember" panose="02000000000000000000" pitchFamily="2" charset="0"/>
                  <a:ea typeface="Amazon Ember" panose="02000000000000000000" pitchFamily="2" charset="0"/>
                </a:rPr>
                <a:t>triggered</a:t>
              </a:r>
            </a:p>
          </p:txBody>
        </p:sp>
        <p:sp>
          <p:nvSpPr>
            <p:cNvPr id="19" name="Rounded Rectangle 18">
              <a:extLst>
                <a:ext uri="{C183D7F6-B498-43B3-948B-1728B52AA6E4}">
                  <adec:decorative xmlns:adec="http://schemas.microsoft.com/office/drawing/2017/decorative" val="1"/>
                </a:ext>
              </a:extLst>
            </p:cNvPr>
            <p:cNvSpPr/>
            <p:nvPr/>
          </p:nvSpPr>
          <p:spPr bwMode="auto">
            <a:xfrm>
              <a:off x="419100" y="1828801"/>
              <a:ext cx="11395284" cy="4210914"/>
            </a:xfrm>
            <a:prstGeom prst="roundRect">
              <a:avLst>
                <a:gd name="adj" fmla="val 10315"/>
              </a:avLst>
            </a:prstGeom>
            <a:noFill/>
            <a:ln w="1905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cxnSp>
          <p:nvCxnSpPr>
            <p:cNvPr id="24" name="Straight Arrow Connector 23"/>
            <p:cNvCxnSpPr>
              <a:cxnSpLocks/>
            </p:cNvCxnSpPr>
            <p:nvPr/>
          </p:nvCxnSpPr>
          <p:spPr>
            <a:xfrm>
              <a:off x="4942518" y="3483147"/>
              <a:ext cx="1125940" cy="0"/>
            </a:xfrm>
            <a:prstGeom prst="straightConnector1">
              <a:avLst/>
            </a:prstGeom>
            <a:ln w="381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cxnSpLocks/>
            </p:cNvCxnSpPr>
            <p:nvPr/>
          </p:nvCxnSpPr>
          <p:spPr>
            <a:xfrm>
              <a:off x="7526756" y="3064512"/>
              <a:ext cx="1814322" cy="0"/>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cxnSpLocks/>
            </p:cNvCxnSpPr>
            <p:nvPr/>
          </p:nvCxnSpPr>
          <p:spPr>
            <a:xfrm>
              <a:off x="7526756" y="4396111"/>
              <a:ext cx="1814322" cy="0"/>
            </a:xfrm>
            <a:prstGeom prst="straightConnector1">
              <a:avLst/>
            </a:prstGeom>
            <a:ln w="38100">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V="1">
              <a:off x="3987905" y="3557834"/>
              <a:ext cx="306077" cy="199236"/>
            </a:xfrm>
            <a:prstGeom prst="straightConnector1">
              <a:avLst/>
            </a:prstGeom>
            <a:ln w="381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flipV="1">
              <a:off x="4419566" y="3558214"/>
              <a:ext cx="306840" cy="162332"/>
            </a:xfrm>
            <a:prstGeom prst="straightConnector1">
              <a:avLst/>
            </a:prstGeom>
            <a:ln w="381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4356773" y="3540428"/>
              <a:ext cx="2" cy="441024"/>
            </a:xfrm>
            <a:prstGeom prst="straightConnector1">
              <a:avLst/>
            </a:prstGeom>
            <a:ln w="38100">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2DB80E8-BFB3-6E42-A447-BEEBC14991AF}"/>
                </a:ext>
              </a:extLst>
            </p:cNvPr>
            <p:cNvSpPr txBox="1"/>
            <p:nvPr/>
          </p:nvSpPr>
          <p:spPr>
            <a:xfrm>
              <a:off x="3500339" y="2105585"/>
              <a:ext cx="1811146" cy="529965"/>
            </a:xfrm>
            <a:prstGeom prst="rect">
              <a:avLst/>
            </a:prstGeom>
            <a:solidFill>
              <a:schemeClr val="bg1"/>
            </a:solidFill>
          </p:spPr>
          <p:txBody>
            <a:bodyPr wrap="none" rtlCol="0">
              <a:noAutofit/>
            </a:bodyPr>
            <a:lstStyle/>
            <a:p>
              <a:pPr algn="ctr"/>
              <a:r>
                <a:rPr lang="en-US" dirty="0">
                  <a:latin typeface="Amazon Ember" panose="02000000000000000000" pitchFamily="2" charset="0"/>
                  <a:ea typeface="Amazon Ember" panose="02000000000000000000" pitchFamily="2" charset="0"/>
                </a:rPr>
                <a:t>The code you run</a:t>
              </a:r>
            </a:p>
            <a:p>
              <a:pPr algn="ctr"/>
              <a:r>
                <a:rPr lang="en-US" dirty="0">
                  <a:latin typeface="Amazon Ember" panose="02000000000000000000" pitchFamily="2" charset="0"/>
                  <a:ea typeface="Amazon Ember" panose="02000000000000000000" pitchFamily="2" charset="0"/>
                </a:rPr>
                <a:t> is a </a:t>
              </a:r>
              <a:r>
                <a:rPr lang="en-US" b="1" dirty="0">
                  <a:solidFill>
                    <a:srgbClr val="504BAB"/>
                  </a:solidFill>
                  <a:latin typeface="Amazon Ember" panose="02000000000000000000" pitchFamily="2" charset="0"/>
                  <a:ea typeface="Amazon Ember" panose="02000000000000000000" pitchFamily="2" charset="0"/>
                </a:rPr>
                <a:t>Lambda function</a:t>
              </a:r>
              <a:endParaRPr lang="en-US" b="1" dirty="0">
                <a:solidFill>
                  <a:srgbClr val="504BAB"/>
                </a:solidFill>
                <a:latin typeface="Amazon Ember"/>
                <a:ea typeface="Amazon Ember" panose="02000000000000000000" pitchFamily="2" charset="0"/>
              </a:endParaRPr>
            </a:p>
          </p:txBody>
        </p:sp>
        <p:sp>
          <p:nvSpPr>
            <p:cNvPr id="14" name="Rectangle 13">
              <a:extLst>
                <a:ext uri="{FF2B5EF4-FFF2-40B4-BE49-F238E27FC236}">
                  <a16:creationId xmlns:a16="http://schemas.microsoft.com/office/drawing/2014/main" id="{DEE98976-F851-D446-ADA2-E7C0494D7AF3}"/>
                </a:ext>
              </a:extLst>
            </p:cNvPr>
            <p:cNvSpPr/>
            <p:nvPr/>
          </p:nvSpPr>
          <p:spPr>
            <a:xfrm flipH="1">
              <a:off x="3862806" y="2651592"/>
              <a:ext cx="1079712" cy="8475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 name="Graphic 29">
              <a:extLst>
                <a:ext uri="{FF2B5EF4-FFF2-40B4-BE49-F238E27FC236}">
                  <a16:creationId xmlns:a16="http://schemas.microsoft.com/office/drawing/2014/main" id="{031EC9E4-DB0C-E04C-B4C2-041A7E0FE06F}"/>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951041" y="2678668"/>
              <a:ext cx="839528" cy="839528"/>
            </a:xfrm>
            <a:prstGeom prst="rect">
              <a:avLst/>
            </a:prstGeom>
          </p:spPr>
        </p:pic>
      </p:grpSp>
    </p:spTree>
    <p:custDataLst>
      <p:tags r:id="rId1"/>
    </p:custDataLst>
    <p:extLst>
      <p:ext uri="{BB962C8B-B14F-4D97-AF65-F5344CB8AC3E}">
        <p14:creationId xmlns:p14="http://schemas.microsoft.com/office/powerpoint/2010/main" val="658767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0E9F17-FEB4-002E-AD61-4F5AF721A179}"/>
              </a:ext>
            </a:extLst>
          </p:cNvPr>
          <p:cNvSpPr>
            <a:spLocks noGrp="1"/>
          </p:cNvSpPr>
          <p:nvPr>
            <p:ph type="sldNum" sz="quarter" idx="20"/>
          </p:nvPr>
        </p:nvSpPr>
        <p:spPr/>
        <p:txBody>
          <a:bodyPr/>
          <a:lstStyle/>
          <a:p>
            <a:fld id="{930176A1-BCF0-4712-97A6-6B495F55390B}" type="slidenum">
              <a:rPr lang="en-US" smtClean="0"/>
              <a:t>59</a:t>
            </a:fld>
            <a:endParaRPr lang="en-US"/>
          </a:p>
        </p:txBody>
      </p:sp>
      <p:sp>
        <p:nvSpPr>
          <p:cNvPr id="2" name="Title 1"/>
          <p:cNvSpPr>
            <a:spLocks noGrp="1"/>
          </p:cNvSpPr>
          <p:nvPr>
            <p:ph type="title"/>
          </p:nvPr>
        </p:nvSpPr>
        <p:spPr/>
        <p:txBody>
          <a:bodyPr/>
          <a:lstStyle/>
          <a:p>
            <a:r>
              <a:rPr lang="en-US" dirty="0"/>
              <a:t>Lambda Free Tier</a:t>
            </a:r>
          </a:p>
        </p:txBody>
      </p:sp>
      <p:sp>
        <p:nvSpPr>
          <p:cNvPr id="6" name="TextBox 5">
            <a:extLst>
              <a:ext uri="{FF2B5EF4-FFF2-40B4-BE49-F238E27FC236}">
                <a16:creationId xmlns:a16="http://schemas.microsoft.com/office/drawing/2014/main" id="{02908754-336B-2D1E-51B6-C2EC1F0F426B}"/>
              </a:ext>
            </a:extLst>
          </p:cNvPr>
          <p:cNvSpPr txBox="1"/>
          <p:nvPr/>
        </p:nvSpPr>
        <p:spPr>
          <a:xfrm>
            <a:off x="365760" y="1204818"/>
            <a:ext cx="11569209" cy="3154710"/>
          </a:xfrm>
          <a:prstGeom prst="rect">
            <a:avLst/>
          </a:prstGeom>
          <a:noFill/>
        </p:spPr>
        <p:txBody>
          <a:bodyPr wrap="square" rtlCol="0">
            <a:spAutoFit/>
          </a:bodyPr>
          <a:lstStyle/>
          <a:p>
            <a:pPr algn="ctr"/>
            <a:r>
              <a:rPr lang="en-US" sz="19900" dirty="0"/>
              <a:t>1,000,000</a:t>
            </a:r>
          </a:p>
        </p:txBody>
      </p:sp>
      <p:sp>
        <p:nvSpPr>
          <p:cNvPr id="9" name="TextBox 8">
            <a:extLst>
              <a:ext uri="{FF2B5EF4-FFF2-40B4-BE49-F238E27FC236}">
                <a16:creationId xmlns:a16="http://schemas.microsoft.com/office/drawing/2014/main" id="{934F7341-0E71-EFC5-E750-C75B5A7A7C96}"/>
              </a:ext>
            </a:extLst>
          </p:cNvPr>
          <p:cNvSpPr txBox="1"/>
          <p:nvPr/>
        </p:nvSpPr>
        <p:spPr>
          <a:xfrm>
            <a:off x="365760" y="4172409"/>
            <a:ext cx="11569209" cy="1015663"/>
          </a:xfrm>
          <a:prstGeom prst="rect">
            <a:avLst/>
          </a:prstGeom>
          <a:noFill/>
        </p:spPr>
        <p:txBody>
          <a:bodyPr wrap="square" rtlCol="0">
            <a:spAutoFit/>
          </a:bodyPr>
          <a:lstStyle/>
          <a:p>
            <a:pPr algn="ctr"/>
            <a:r>
              <a:rPr lang="en-US" sz="6000" dirty="0"/>
              <a:t>Executions per month</a:t>
            </a:r>
          </a:p>
        </p:txBody>
      </p:sp>
      <p:sp>
        <p:nvSpPr>
          <p:cNvPr id="10" name="TextBox 9">
            <a:extLst>
              <a:ext uri="{FF2B5EF4-FFF2-40B4-BE49-F238E27FC236}">
                <a16:creationId xmlns:a16="http://schemas.microsoft.com/office/drawing/2014/main" id="{EA77844F-3795-8285-3A9A-0FF3E91C6FFA}"/>
              </a:ext>
            </a:extLst>
          </p:cNvPr>
          <p:cNvSpPr txBox="1"/>
          <p:nvPr/>
        </p:nvSpPr>
        <p:spPr>
          <a:xfrm>
            <a:off x="384441" y="5232034"/>
            <a:ext cx="11569209" cy="707886"/>
          </a:xfrm>
          <a:prstGeom prst="rect">
            <a:avLst/>
          </a:prstGeom>
          <a:noFill/>
        </p:spPr>
        <p:txBody>
          <a:bodyPr wrap="square" rtlCol="0">
            <a:spAutoFit/>
          </a:bodyPr>
          <a:lstStyle/>
          <a:p>
            <a:pPr algn="ctr"/>
            <a:r>
              <a:rPr lang="en-US" sz="4000" dirty="0">
                <a:solidFill>
                  <a:srgbClr val="C00000"/>
                </a:solidFill>
              </a:rPr>
              <a:t>$0.20 / 1,000,000 requests after that</a:t>
            </a:r>
          </a:p>
        </p:txBody>
      </p:sp>
    </p:spTree>
    <p:custDataLst>
      <p:tags r:id="rId1"/>
    </p:custDataLst>
    <p:extLst>
      <p:ext uri="{BB962C8B-B14F-4D97-AF65-F5344CB8AC3E}">
        <p14:creationId xmlns:p14="http://schemas.microsoft.com/office/powerpoint/2010/main" val="285990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500"/>
                                  </p:iterate>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4001"/>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37186-F2C4-7250-51B8-36BF4B67E15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3EE574-9DAE-5A90-AC0B-67206DED3ADF}"/>
              </a:ext>
            </a:extLst>
          </p:cNvPr>
          <p:cNvSpPr>
            <a:spLocks noGrp="1"/>
          </p:cNvSpPr>
          <p:nvPr>
            <p:ph type="sldNum" sz="quarter" idx="20"/>
          </p:nvPr>
        </p:nvSpPr>
        <p:spPr/>
        <p:txBody>
          <a:bodyPr/>
          <a:lstStyle/>
          <a:p>
            <a:fld id="{930176A1-BCF0-4712-97A6-6B495F55390B}" type="slidenum">
              <a:rPr lang="en-US" smtClean="0"/>
              <a:t>60</a:t>
            </a:fld>
            <a:endParaRPr lang="en-US"/>
          </a:p>
        </p:txBody>
      </p:sp>
      <p:grpSp>
        <p:nvGrpSpPr>
          <p:cNvPr id="8" name="Group 7">
            <a:extLst>
              <a:ext uri="{FF2B5EF4-FFF2-40B4-BE49-F238E27FC236}">
                <a16:creationId xmlns:a16="http://schemas.microsoft.com/office/drawing/2014/main" id="{FEFBADBB-2FA8-98D9-1A6A-855B0FB53238}"/>
              </a:ext>
              <a:ext uri="{C183D7F6-B498-43B3-948B-1728B52AA6E4}">
                <adec:decorative xmlns:adec="http://schemas.microsoft.com/office/drawing/2017/decorative" val="1"/>
              </a:ext>
            </a:extLst>
          </p:cNvPr>
          <p:cNvGrpSpPr/>
          <p:nvPr/>
        </p:nvGrpSpPr>
        <p:grpSpPr>
          <a:xfrm>
            <a:off x="2481382" y="2141831"/>
            <a:ext cx="8593018" cy="2940418"/>
            <a:chOff x="2481382" y="2141831"/>
            <a:chExt cx="8593018" cy="2940418"/>
          </a:xfrm>
        </p:grpSpPr>
        <p:sp>
          <p:nvSpPr>
            <p:cNvPr id="12" name="Rounded Rectangle 11">
              <a:extLst>
                <a:ext uri="{FF2B5EF4-FFF2-40B4-BE49-F238E27FC236}">
                  <a16:creationId xmlns:a16="http://schemas.microsoft.com/office/drawing/2014/main" id="{F19CBF39-F76C-B996-5823-B4AB7363794D}"/>
                </a:ext>
              </a:extLst>
            </p:cNvPr>
            <p:cNvSpPr/>
            <p:nvPr/>
          </p:nvSpPr>
          <p:spPr bwMode="auto">
            <a:xfrm>
              <a:off x="2481382" y="2141831"/>
              <a:ext cx="8593018" cy="2940418"/>
            </a:xfrm>
            <a:prstGeom prst="roundRect">
              <a:avLst>
                <a:gd name="adj" fmla="val 8687"/>
              </a:avLst>
            </a:prstGeom>
            <a:solidFill>
              <a:schemeClr val="bg1"/>
            </a:solidFill>
            <a:ln w="19050">
              <a:solidFill>
                <a:schemeClr val="tx1"/>
              </a:solid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solidFill>
                  <a:schemeClr val="tx1"/>
                </a:solidFill>
                <a:ea typeface="Segoe UI" pitchFamily="34" charset="0"/>
                <a:cs typeface="Segoe UI" pitchFamily="34" charset="0"/>
              </a:endParaRPr>
            </a:p>
          </p:txBody>
        </p:sp>
        <p:grpSp>
          <p:nvGrpSpPr>
            <p:cNvPr id="7" name="Group 6">
              <a:extLst>
                <a:ext uri="{FF2B5EF4-FFF2-40B4-BE49-F238E27FC236}">
                  <a16:creationId xmlns:a16="http://schemas.microsoft.com/office/drawing/2014/main" id="{33EF8C38-3AEF-DF8D-55D8-B1751DD1B90F}"/>
                </a:ext>
              </a:extLst>
            </p:cNvPr>
            <p:cNvGrpSpPr/>
            <p:nvPr/>
          </p:nvGrpSpPr>
          <p:grpSpPr>
            <a:xfrm>
              <a:off x="2979907" y="2219145"/>
              <a:ext cx="617540" cy="2708666"/>
              <a:chOff x="2979907" y="2219145"/>
              <a:chExt cx="617540" cy="2708666"/>
            </a:xfrm>
          </p:grpSpPr>
          <p:pic>
            <p:nvPicPr>
              <p:cNvPr id="5" name="Picture 4">
                <a:extLst>
                  <a:ext uri="{FF2B5EF4-FFF2-40B4-BE49-F238E27FC236}">
                    <a16:creationId xmlns:a16="http://schemas.microsoft.com/office/drawing/2014/main" id="{3CE4A0E2-4FD7-E7FF-54CE-B7A12199CA17}"/>
                  </a:ext>
                  <a:ext uri="{C183D7F6-B498-43B3-948B-1728B52AA6E4}">
                    <adec:decorative xmlns:adec="http://schemas.microsoft.com/office/drawing/2017/decorative" val="1"/>
                  </a:ext>
                </a:extLst>
              </p:cNvPr>
              <p:cNvPicPr>
                <a:picLocks noChangeAspect="1"/>
              </p:cNvPicPr>
              <p:nvPr/>
            </p:nvPicPr>
            <p:blipFill>
              <a:blip r:embed="rId4">
                <a:duotone>
                  <a:schemeClr val="accent1">
                    <a:shade val="45000"/>
                    <a:satMod val="135000"/>
                  </a:schemeClr>
                  <a:prstClr val="white"/>
                </a:duotone>
              </a:blip>
              <a:stretch>
                <a:fillRect/>
              </a:stretch>
            </p:blipFill>
            <p:spPr>
              <a:xfrm>
                <a:off x="2979907" y="2219145"/>
                <a:ext cx="617540" cy="499762"/>
              </a:xfrm>
              <a:prstGeom prst="rect">
                <a:avLst/>
              </a:prstGeom>
            </p:spPr>
          </p:pic>
          <p:pic>
            <p:nvPicPr>
              <p:cNvPr id="13" name="Picture 12">
                <a:extLst>
                  <a:ext uri="{FF2B5EF4-FFF2-40B4-BE49-F238E27FC236}">
                    <a16:creationId xmlns:a16="http://schemas.microsoft.com/office/drawing/2014/main" id="{14FDC27D-D053-7D23-D386-09E051CEED0B}"/>
                  </a:ext>
                  <a:ext uri="{C183D7F6-B498-43B3-948B-1728B52AA6E4}">
                    <adec:decorative xmlns:adec="http://schemas.microsoft.com/office/drawing/2017/decorative" val="1"/>
                  </a:ext>
                </a:extLst>
              </p:cNvPr>
              <p:cNvPicPr>
                <a:picLocks noChangeAspect="1"/>
              </p:cNvPicPr>
              <p:nvPr/>
            </p:nvPicPr>
            <p:blipFill>
              <a:blip r:embed="rId5">
                <a:duotone>
                  <a:schemeClr val="accent2">
                    <a:shade val="45000"/>
                    <a:satMod val="135000"/>
                  </a:schemeClr>
                  <a:prstClr val="white"/>
                </a:duotone>
              </a:blip>
              <a:stretch>
                <a:fillRect/>
              </a:stretch>
            </p:blipFill>
            <p:spPr>
              <a:xfrm>
                <a:off x="3046568" y="2786548"/>
                <a:ext cx="484218" cy="481912"/>
              </a:xfrm>
              <a:prstGeom prst="rect">
                <a:avLst/>
              </a:prstGeom>
            </p:spPr>
          </p:pic>
          <p:pic>
            <p:nvPicPr>
              <p:cNvPr id="14" name="Picture 13">
                <a:extLst>
                  <a:ext uri="{FF2B5EF4-FFF2-40B4-BE49-F238E27FC236}">
                    <a16:creationId xmlns:a16="http://schemas.microsoft.com/office/drawing/2014/main" id="{1043B160-C09B-B70F-0325-E64A53BD2AAC}"/>
                  </a:ext>
                  <a:ext uri="{C183D7F6-B498-43B3-948B-1728B52AA6E4}">
                    <adec:decorative xmlns:adec="http://schemas.microsoft.com/office/drawing/2017/decorative" val="1"/>
                  </a:ext>
                </a:extLst>
              </p:cNvPr>
              <p:cNvPicPr>
                <a:picLocks noChangeAspect="1"/>
              </p:cNvPicPr>
              <p:nvPr/>
            </p:nvPicPr>
            <p:blipFill>
              <a:blip r:embed="rId6">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044809" y="3336101"/>
                <a:ext cx="487736" cy="485413"/>
              </a:xfrm>
              <a:prstGeom prst="rect">
                <a:avLst/>
              </a:prstGeom>
            </p:spPr>
          </p:pic>
          <p:pic>
            <p:nvPicPr>
              <p:cNvPr id="16" name="Picture 15">
                <a:extLst>
                  <a:ext uri="{FF2B5EF4-FFF2-40B4-BE49-F238E27FC236}">
                    <a16:creationId xmlns:a16="http://schemas.microsoft.com/office/drawing/2014/main" id="{4CFFE6A6-E557-F539-4144-AC4CACD1B8BF}"/>
                  </a:ext>
                  <a:ext uri="{C183D7F6-B498-43B3-948B-1728B52AA6E4}">
                    <adec:decorative xmlns:adec="http://schemas.microsoft.com/office/drawing/2017/decorative" val="1"/>
                  </a:ext>
                </a:extLst>
              </p:cNvPr>
              <p:cNvPicPr>
                <a:picLocks noChangeAspect="1"/>
              </p:cNvPicPr>
              <p:nvPr/>
            </p:nvPicPr>
            <p:blipFill>
              <a:blip r:embed="rId7">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3033605" y="3816715"/>
                <a:ext cx="563842" cy="563842"/>
              </a:xfrm>
              <a:prstGeom prst="rect">
                <a:avLst/>
              </a:prstGeom>
            </p:spPr>
          </p:pic>
          <p:pic>
            <p:nvPicPr>
              <p:cNvPr id="18" name="Picture 17">
                <a:extLst>
                  <a:ext uri="{FF2B5EF4-FFF2-40B4-BE49-F238E27FC236}">
                    <a16:creationId xmlns:a16="http://schemas.microsoft.com/office/drawing/2014/main" id="{45994E2A-00CC-9910-36C1-14F6358BB3D4}"/>
                  </a:ext>
                  <a:ext uri="{C183D7F6-B498-43B3-948B-1728B52AA6E4}">
                    <adec:decorative xmlns:adec="http://schemas.microsoft.com/office/drawing/2017/decorative" val="1"/>
                  </a:ext>
                </a:extLst>
              </p:cNvPr>
              <p:cNvPicPr>
                <a:picLocks noChangeAspect="1"/>
              </p:cNvPicPr>
              <p:nvPr/>
            </p:nvPicPr>
            <p:blipFill>
              <a:blip r:embed="rId8">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116627" y="4449280"/>
                <a:ext cx="480820" cy="478531"/>
              </a:xfrm>
              <a:prstGeom prst="rect">
                <a:avLst/>
              </a:prstGeom>
              <a:ln>
                <a:noFill/>
              </a:ln>
            </p:spPr>
          </p:pic>
        </p:grpSp>
      </p:grpSp>
      <p:sp>
        <p:nvSpPr>
          <p:cNvPr id="2" name="Title 1">
            <a:extLst>
              <a:ext uri="{FF2B5EF4-FFF2-40B4-BE49-F238E27FC236}">
                <a16:creationId xmlns:a16="http://schemas.microsoft.com/office/drawing/2014/main" id="{D75EE18D-2A0A-006E-5631-5D31A5157B1E}"/>
              </a:ext>
            </a:extLst>
          </p:cNvPr>
          <p:cNvSpPr>
            <a:spLocks noGrp="1"/>
          </p:cNvSpPr>
          <p:nvPr>
            <p:ph type="title"/>
          </p:nvPr>
        </p:nvSpPr>
        <p:spPr/>
        <p:txBody>
          <a:bodyPr/>
          <a:lstStyle/>
          <a:p>
            <a:r>
              <a:rPr lang="en-US" dirty="0"/>
              <a:t>Benefits of Lambda</a:t>
            </a:r>
          </a:p>
        </p:txBody>
      </p:sp>
      <p:sp>
        <p:nvSpPr>
          <p:cNvPr id="3" name="Content Placeholder 2">
            <a:extLst>
              <a:ext uri="{FF2B5EF4-FFF2-40B4-BE49-F238E27FC236}">
                <a16:creationId xmlns:a16="http://schemas.microsoft.com/office/drawing/2014/main" id="{683544AF-51D0-614E-F57D-4806C1EECA80}"/>
              </a:ext>
            </a:extLst>
          </p:cNvPr>
          <p:cNvSpPr>
            <a:spLocks noGrp="1"/>
          </p:cNvSpPr>
          <p:nvPr>
            <p:ph idx="4294967295"/>
          </p:nvPr>
        </p:nvSpPr>
        <p:spPr>
          <a:xfrm>
            <a:off x="3722688" y="2219145"/>
            <a:ext cx="7351712" cy="2737597"/>
          </a:xfrm>
        </p:spPr>
        <p:txBody>
          <a:bodyPr>
            <a:normAutofit lnSpcReduction="10000"/>
          </a:bodyPr>
          <a:lstStyle/>
          <a:p>
            <a:pPr marL="0" indent="0">
              <a:spcBef>
                <a:spcPts val="200"/>
              </a:spcBef>
              <a:spcAft>
                <a:spcPts val="1600"/>
              </a:spcAft>
              <a:buNone/>
            </a:pPr>
            <a:r>
              <a:rPr lang="en-US" sz="2400" dirty="0"/>
              <a:t>It supports multiple programming languages</a:t>
            </a:r>
            <a:endParaRPr lang="en-US" sz="2400" dirty="0">
              <a:solidFill>
                <a:srgbClr val="000000"/>
              </a:solidFill>
              <a:latin typeface="Amazon Ember Light" panose="020B0403020204020204"/>
            </a:endParaRPr>
          </a:p>
          <a:p>
            <a:pPr marL="0" indent="0">
              <a:spcBef>
                <a:spcPts val="200"/>
              </a:spcBef>
              <a:spcAft>
                <a:spcPts val="1600"/>
              </a:spcAft>
              <a:buNone/>
            </a:pPr>
            <a:r>
              <a:rPr lang="en-US" sz="2400" dirty="0">
                <a:solidFill>
                  <a:srgbClr val="000000"/>
                </a:solidFill>
              </a:rPr>
              <a:t>Completely automated</a:t>
            </a:r>
            <a:r>
              <a:rPr lang="en-US" sz="2400" dirty="0"/>
              <a:t> </a:t>
            </a:r>
            <a:r>
              <a:rPr lang="en-US" sz="2400" dirty="0">
                <a:solidFill>
                  <a:srgbClr val="000000"/>
                </a:solidFill>
              </a:rPr>
              <a:t>administration</a:t>
            </a:r>
            <a:endParaRPr lang="en-US" sz="2400" dirty="0">
              <a:solidFill>
                <a:srgbClr val="000000"/>
              </a:solidFill>
              <a:latin typeface="Amazon Ember Light" panose="020B0403020204020204"/>
            </a:endParaRPr>
          </a:p>
          <a:p>
            <a:pPr marL="0" indent="0">
              <a:spcBef>
                <a:spcPts val="200"/>
              </a:spcBef>
              <a:spcAft>
                <a:spcPts val="1600"/>
              </a:spcAft>
              <a:buNone/>
            </a:pPr>
            <a:r>
              <a:rPr lang="en-US" sz="2400" dirty="0">
                <a:solidFill>
                  <a:srgbClr val="000000"/>
                </a:solidFill>
              </a:rPr>
              <a:t>Built-in</a:t>
            </a:r>
            <a:r>
              <a:rPr lang="en-US" sz="2400" dirty="0"/>
              <a:t> fault </a:t>
            </a:r>
            <a:r>
              <a:rPr lang="en-US" sz="2400" dirty="0">
                <a:solidFill>
                  <a:srgbClr val="000000"/>
                </a:solidFill>
              </a:rPr>
              <a:t>tolerance</a:t>
            </a:r>
            <a:endParaRPr lang="en-US" sz="2400" dirty="0">
              <a:solidFill>
                <a:srgbClr val="000000"/>
              </a:solidFill>
              <a:latin typeface="Amazon Ember Light" panose="020B0403020204020204"/>
            </a:endParaRPr>
          </a:p>
          <a:p>
            <a:pPr marL="0" indent="0">
              <a:spcBef>
                <a:spcPts val="200"/>
              </a:spcBef>
              <a:spcAft>
                <a:spcPts val="1600"/>
              </a:spcAft>
              <a:buNone/>
            </a:pPr>
            <a:r>
              <a:rPr lang="en-US" sz="2400" dirty="0">
                <a:solidFill>
                  <a:srgbClr val="000000"/>
                </a:solidFill>
              </a:rPr>
              <a:t>It supports the orchestration of</a:t>
            </a:r>
            <a:r>
              <a:rPr lang="en-US" sz="2400" dirty="0"/>
              <a:t> multiple </a:t>
            </a:r>
            <a:r>
              <a:rPr lang="en-US" sz="2400" dirty="0">
                <a:solidFill>
                  <a:srgbClr val="000000"/>
                </a:solidFill>
              </a:rPr>
              <a:t>functions</a:t>
            </a:r>
            <a:endParaRPr lang="en-US" sz="2400" dirty="0">
              <a:solidFill>
                <a:srgbClr val="000000"/>
              </a:solidFill>
              <a:latin typeface="Amazon Ember Light" panose="020B0403020204020204"/>
            </a:endParaRPr>
          </a:p>
          <a:p>
            <a:pPr marL="0" indent="0">
              <a:spcBef>
                <a:spcPts val="200"/>
              </a:spcBef>
              <a:spcAft>
                <a:spcPts val="1600"/>
              </a:spcAft>
              <a:buNone/>
            </a:pPr>
            <a:r>
              <a:rPr lang="en-US" sz="2400" dirty="0">
                <a:solidFill>
                  <a:srgbClr val="000000"/>
                </a:solidFill>
              </a:rPr>
              <a:t>Pay</a:t>
            </a:r>
            <a:r>
              <a:rPr lang="en-US" sz="2400" dirty="0"/>
              <a:t>-p</a:t>
            </a:r>
            <a:r>
              <a:rPr lang="en-US" sz="2400" dirty="0">
                <a:solidFill>
                  <a:srgbClr val="000000"/>
                </a:solidFill>
              </a:rPr>
              <a:t>er</a:t>
            </a:r>
            <a:r>
              <a:rPr lang="en-US" sz="2400" dirty="0"/>
              <a:t>-</a:t>
            </a:r>
            <a:r>
              <a:rPr lang="en-US" sz="2400" dirty="0">
                <a:solidFill>
                  <a:srgbClr val="000000"/>
                </a:solidFill>
              </a:rPr>
              <a:t>use pricing</a:t>
            </a:r>
            <a:endParaRPr lang="en-US" sz="2400" dirty="0">
              <a:solidFill>
                <a:srgbClr val="000000"/>
              </a:solidFill>
              <a:latin typeface="Amazon Ember Light" panose="020B0403020204020204"/>
            </a:endParaRPr>
          </a:p>
        </p:txBody>
      </p:sp>
      <p:sp>
        <p:nvSpPr>
          <p:cNvPr id="15" name="TextBox 14">
            <a:extLst>
              <a:ext uri="{FF2B5EF4-FFF2-40B4-BE49-F238E27FC236}">
                <a16:creationId xmlns:a16="http://schemas.microsoft.com/office/drawing/2014/main" id="{6EEF9253-C543-35E4-3D68-71D16EE4A3D0}"/>
              </a:ext>
              <a:ext uri="{C183D7F6-B498-43B3-948B-1728B52AA6E4}">
                <adec:decorative xmlns:adec="http://schemas.microsoft.com/office/drawing/2017/decorative" val="1"/>
              </a:ext>
            </a:extLst>
          </p:cNvPr>
          <p:cNvSpPr txBox="1"/>
          <p:nvPr/>
        </p:nvSpPr>
        <p:spPr>
          <a:xfrm>
            <a:off x="419100" y="3808672"/>
            <a:ext cx="1865948" cy="394439"/>
          </a:xfrm>
          <a:prstGeom prst="rect">
            <a:avLst/>
          </a:prstGeom>
          <a:noFill/>
        </p:spPr>
        <p:txBody>
          <a:bodyPr wrap="square" lIns="0" tIns="0" rIns="0" bIns="0" rtlCol="0" anchor="t">
            <a:noAutofit/>
          </a:bodyPr>
          <a:lstStyle/>
          <a:p>
            <a:pPr algn="ctr"/>
            <a:r>
              <a:rPr lang="en-US" sz="2400" b="1" dirty="0"/>
              <a:t>AWS</a:t>
            </a:r>
          </a:p>
          <a:p>
            <a:pPr algn="ctr"/>
            <a:r>
              <a:rPr lang="en-US" sz="2400" b="1" dirty="0"/>
              <a:t>Lambda</a:t>
            </a:r>
          </a:p>
        </p:txBody>
      </p:sp>
      <p:pic>
        <p:nvPicPr>
          <p:cNvPr id="17" name="Graphic 16">
            <a:extLst>
              <a:ext uri="{FF2B5EF4-FFF2-40B4-BE49-F238E27FC236}">
                <a16:creationId xmlns:a16="http://schemas.microsoft.com/office/drawing/2014/main" id="{F03E9E1F-2508-FA2C-D09E-F52F6DC24760}"/>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1487" y="2649984"/>
            <a:ext cx="1118649" cy="1118649"/>
          </a:xfrm>
          <a:prstGeom prst="rect">
            <a:avLst/>
          </a:prstGeom>
        </p:spPr>
      </p:pic>
    </p:spTree>
    <p:custDataLst>
      <p:tags r:id="rId1"/>
    </p:custDataLst>
    <p:extLst>
      <p:ext uri="{BB962C8B-B14F-4D97-AF65-F5344CB8AC3E}">
        <p14:creationId xmlns:p14="http://schemas.microsoft.com/office/powerpoint/2010/main" val="21330194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9">
            <a:extLst>
              <a:ext uri="{FF2B5EF4-FFF2-40B4-BE49-F238E27FC236}">
                <a16:creationId xmlns:a16="http://schemas.microsoft.com/office/drawing/2014/main" id="{49B45C58-CDA7-FC40-BB3B-E33C967BC87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61</a:t>
            </a:fld>
            <a:endParaRPr lang="en-US" dirty="0"/>
          </a:p>
        </p:txBody>
      </p:sp>
      <p:sp>
        <p:nvSpPr>
          <p:cNvPr id="2" name="Title 1">
            <a:extLst>
              <a:ext uri="{FF2B5EF4-FFF2-40B4-BE49-F238E27FC236}">
                <a16:creationId xmlns:a16="http://schemas.microsoft.com/office/drawing/2014/main" id="{7FD02E44-715D-B24D-8F64-3EAC5EE86B34}"/>
              </a:ext>
            </a:extLst>
          </p:cNvPr>
          <p:cNvSpPr>
            <a:spLocks noGrp="1"/>
          </p:cNvSpPr>
          <p:nvPr>
            <p:ph type="title"/>
          </p:nvPr>
        </p:nvSpPr>
        <p:spPr/>
        <p:txBody>
          <a:bodyPr/>
          <a:lstStyle/>
          <a:p>
            <a:r>
              <a:rPr lang="en-US" dirty="0"/>
              <a:t>AWS Lambda event sources</a:t>
            </a:r>
          </a:p>
        </p:txBody>
      </p:sp>
      <p:grpSp>
        <p:nvGrpSpPr>
          <p:cNvPr id="6" name="Group 5" descr="Graphic showing event sources on the left (consisting of many AWS services), a Lambda function in the middle that leads into the Lambda service, and two outputs: the first is &quot;execution of your code&quot; and the second is CloudWatch for logging, monitoring, and metrics."/>
          <p:cNvGrpSpPr/>
          <p:nvPr/>
        </p:nvGrpSpPr>
        <p:grpSpPr>
          <a:xfrm>
            <a:off x="278472" y="1359457"/>
            <a:ext cx="11203955" cy="4877004"/>
            <a:chOff x="278472" y="1359457"/>
            <a:chExt cx="11203955" cy="4877004"/>
          </a:xfrm>
        </p:grpSpPr>
        <p:sp>
          <p:nvSpPr>
            <p:cNvPr id="24" name="TextBox 23">
              <a:extLst>
                <a:ext uri="{FF2B5EF4-FFF2-40B4-BE49-F238E27FC236}">
                  <a16:creationId xmlns:a16="http://schemas.microsoft.com/office/drawing/2014/main" id="{F7024C34-1D3F-2643-90DA-2B52F03CAAF0}"/>
                </a:ext>
              </a:extLst>
            </p:cNvPr>
            <p:cNvSpPr txBox="1"/>
            <p:nvPr/>
          </p:nvSpPr>
          <p:spPr>
            <a:xfrm>
              <a:off x="278472" y="1359457"/>
              <a:ext cx="2319828" cy="461665"/>
            </a:xfrm>
            <a:prstGeom prst="rect">
              <a:avLst/>
            </a:prstGeom>
            <a:solidFill>
              <a:schemeClr val="bg1"/>
            </a:solidFill>
          </p:spPr>
          <p:txBody>
            <a:bodyPr wrap="square" rtlCol="0">
              <a:spAutoFit/>
            </a:bodyPr>
            <a:lstStyle/>
            <a:p>
              <a:r>
                <a:rPr lang="en-US" sz="24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Event sources</a:t>
              </a:r>
            </a:p>
          </p:txBody>
        </p:sp>
        <p:sp>
          <p:nvSpPr>
            <p:cNvPr id="34" name="TextBox 33">
              <a:extLst>
                <a:ext uri="{FF2B5EF4-FFF2-40B4-BE49-F238E27FC236}">
                  <a16:creationId xmlns:a16="http://schemas.microsoft.com/office/drawing/2014/main" id="{A6974812-D549-444E-9F5A-693C2F5EC36F}"/>
                </a:ext>
              </a:extLst>
            </p:cNvPr>
            <p:cNvSpPr txBox="1"/>
            <p:nvPr/>
          </p:nvSpPr>
          <p:spPr>
            <a:xfrm>
              <a:off x="5811117" y="1391462"/>
              <a:ext cx="4943427" cy="1323439"/>
            </a:xfrm>
            <a:prstGeom prst="rect">
              <a:avLst/>
            </a:prstGeom>
            <a:noFill/>
          </p:spPr>
          <p:txBody>
            <a:bodyPr wrap="square" rtlCol="0">
              <a:spAutoFit/>
            </a:bodyPr>
            <a:lstStyle/>
            <a:p>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Configure other AWS services as </a:t>
              </a:r>
              <a:r>
                <a:rPr lang="en-US" sz="1600" b="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event sources</a:t>
              </a:r>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 to invoke your function as shown here.</a:t>
              </a:r>
            </a:p>
            <a:p>
              <a:endPar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endParaRPr>
            </a:p>
            <a:p>
              <a:r>
                <a:rPr lang="en-US" sz="16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Alternatively, invoke a Lambda function from the Lambda console, AWS SDK, or AWS CLI. </a:t>
              </a:r>
            </a:p>
          </p:txBody>
        </p:sp>
        <p:cxnSp>
          <p:nvCxnSpPr>
            <p:cNvPr id="16" name="Straight Arrow Connector 15">
              <a:extLst>
                <a:ext uri="{FF2B5EF4-FFF2-40B4-BE49-F238E27FC236}">
                  <a16:creationId xmlns:a16="http://schemas.microsoft.com/office/drawing/2014/main" id="{F3705C16-01FB-624A-91FA-5D27084F439E}"/>
                </a:ext>
              </a:extLst>
            </p:cNvPr>
            <p:cNvCxnSpPr>
              <a:cxnSpLocks/>
            </p:cNvCxnSpPr>
            <p:nvPr/>
          </p:nvCxnSpPr>
          <p:spPr>
            <a:xfrm>
              <a:off x="3745426" y="3872918"/>
              <a:ext cx="4994107" cy="0"/>
            </a:xfrm>
            <a:prstGeom prst="straightConnector1">
              <a:avLst/>
            </a:prstGeom>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1D0F4519-376F-4640-B721-2ACFC90AA3A1}"/>
                </a:ext>
              </a:extLst>
            </p:cNvPr>
            <p:cNvSpPr/>
            <p:nvPr/>
          </p:nvSpPr>
          <p:spPr>
            <a:xfrm>
              <a:off x="4415776" y="3582420"/>
              <a:ext cx="1024070" cy="584775"/>
            </a:xfrm>
            <a:prstGeom prst="rect">
              <a:avLst/>
            </a:prstGeom>
            <a:solidFill>
              <a:schemeClr val="bg1"/>
            </a:solidFill>
          </p:spPr>
          <p:txBody>
            <a:bodyPr wrap="square">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Lambda function</a:t>
              </a:r>
            </a:p>
          </p:txBody>
        </p:sp>
        <p:pic>
          <p:nvPicPr>
            <p:cNvPr id="12" name="Graphic 11">
              <a:extLst>
                <a:ext uri="{FF2B5EF4-FFF2-40B4-BE49-F238E27FC236}">
                  <a16:creationId xmlns:a16="http://schemas.microsoft.com/office/drawing/2014/main" id="{12F45F92-7841-3549-853D-349416FE511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522274" y="2745796"/>
              <a:ext cx="809293" cy="809293"/>
            </a:xfrm>
            <a:prstGeom prst="rect">
              <a:avLst/>
            </a:prstGeom>
          </p:spPr>
        </p:pic>
        <p:pic>
          <p:nvPicPr>
            <p:cNvPr id="13" name="Graphic 12">
              <a:extLst>
                <a:ext uri="{FF2B5EF4-FFF2-40B4-BE49-F238E27FC236}">
                  <a16:creationId xmlns:a16="http://schemas.microsoft.com/office/drawing/2014/main" id="{88832A55-D933-7F49-B1AA-1DD043785D53}"/>
                </a:ex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01917" y="3518495"/>
              <a:ext cx="711200" cy="711200"/>
            </a:xfrm>
            <a:prstGeom prst="rect">
              <a:avLst/>
            </a:prstGeom>
          </p:spPr>
        </p:pic>
        <p:sp>
          <p:nvSpPr>
            <p:cNvPr id="14" name="TextBox 13">
              <a:extLst>
                <a:ext uri="{FF2B5EF4-FFF2-40B4-BE49-F238E27FC236}">
                  <a16:creationId xmlns:a16="http://schemas.microsoft.com/office/drawing/2014/main" id="{EE04E635-53E0-2240-822A-9A1624EC5768}"/>
                </a:ext>
              </a:extLst>
            </p:cNvPr>
            <p:cNvSpPr txBox="1"/>
            <p:nvPr/>
          </p:nvSpPr>
          <p:spPr>
            <a:xfrm>
              <a:off x="5206565" y="4282714"/>
              <a:ext cx="2301904"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Lambda</a:t>
              </a:r>
            </a:p>
          </p:txBody>
        </p:sp>
        <p:sp>
          <p:nvSpPr>
            <p:cNvPr id="26" name="TextBox 25">
              <a:extLst>
                <a:ext uri="{FF2B5EF4-FFF2-40B4-BE49-F238E27FC236}">
                  <a16:creationId xmlns:a16="http://schemas.microsoft.com/office/drawing/2014/main" id="{B3F117A4-FBDC-3C4B-BBFC-8963C41D5FFC}"/>
                </a:ext>
              </a:extLst>
            </p:cNvPr>
            <p:cNvSpPr txBox="1"/>
            <p:nvPr/>
          </p:nvSpPr>
          <p:spPr>
            <a:xfrm>
              <a:off x="7946820" y="5369596"/>
              <a:ext cx="230190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CloudWatch</a:t>
              </a:r>
            </a:p>
          </p:txBody>
        </p:sp>
        <p:pic>
          <p:nvPicPr>
            <p:cNvPr id="27" name="Graphic 26">
              <a:extLst>
                <a:ext uri="{FF2B5EF4-FFF2-40B4-BE49-F238E27FC236}">
                  <a16:creationId xmlns:a16="http://schemas.microsoft.com/office/drawing/2014/main" id="{D6526095-1CB8-C64F-8C1F-F19B9324B662}"/>
                </a:ex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42172" y="4621268"/>
              <a:ext cx="711200" cy="711200"/>
            </a:xfrm>
            <a:prstGeom prst="rect">
              <a:avLst/>
            </a:prstGeom>
          </p:spPr>
        </p:pic>
        <p:cxnSp>
          <p:nvCxnSpPr>
            <p:cNvPr id="28" name="Straight Arrow Connector 27">
              <a:extLst>
                <a:ext uri="{FF2B5EF4-FFF2-40B4-BE49-F238E27FC236}">
                  <a16:creationId xmlns:a16="http://schemas.microsoft.com/office/drawing/2014/main" id="{3E3F659E-60E2-814B-AB40-FA5F419803EA}"/>
                </a:ext>
              </a:extLst>
            </p:cNvPr>
            <p:cNvCxnSpPr>
              <a:cxnSpLocks/>
              <a:stCxn id="13" idx="3"/>
              <a:endCxn id="27" idx="1"/>
            </p:cNvCxnSpPr>
            <p:nvPr/>
          </p:nvCxnSpPr>
          <p:spPr>
            <a:xfrm>
              <a:off x="6713117" y="3874095"/>
              <a:ext cx="2029055" cy="1102773"/>
            </a:xfrm>
            <a:prstGeom prst="bentConnector3">
              <a:avLst>
                <a:gd name="adj1" fmla="val 36251"/>
              </a:avLst>
            </a:prstGeom>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FE9E3BD2-0ABA-B643-90E7-22B4CF2DC766}"/>
                </a:ext>
              </a:extLst>
            </p:cNvPr>
            <p:cNvSpPr txBox="1"/>
            <p:nvPr/>
          </p:nvSpPr>
          <p:spPr>
            <a:xfrm>
              <a:off x="8739533" y="3555089"/>
              <a:ext cx="2603137" cy="646331"/>
            </a:xfrm>
            <a:prstGeom prst="rect">
              <a:avLst/>
            </a:prstGeom>
            <a:solidFill>
              <a:schemeClr val="bg1"/>
            </a:solid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Running of your code (only when triggered)</a:t>
              </a:r>
            </a:p>
          </p:txBody>
        </p:sp>
        <p:sp>
          <p:nvSpPr>
            <p:cNvPr id="20" name="Rectangle 19">
              <a:extLst>
                <a:ext uri="{FF2B5EF4-FFF2-40B4-BE49-F238E27FC236}">
                  <a16:creationId xmlns:a16="http://schemas.microsoft.com/office/drawing/2014/main" id="{115E0BE5-37B7-DB4B-84A2-D89BEDF3CF44}"/>
                </a:ext>
              </a:extLst>
            </p:cNvPr>
            <p:cNvSpPr/>
            <p:nvPr/>
          </p:nvSpPr>
          <p:spPr>
            <a:xfrm>
              <a:off x="420580" y="1989144"/>
              <a:ext cx="3324846" cy="4247317"/>
            </a:xfrm>
            <a:prstGeom prst="rect">
              <a:avLst/>
            </a:prstGeom>
            <a:no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5" name="Graphic 14">
              <a:extLst>
                <a:ext uri="{FF2B5EF4-FFF2-40B4-BE49-F238E27FC236}">
                  <a16:creationId xmlns:a16="http://schemas.microsoft.com/office/drawing/2014/main" id="{5F550BEF-6A61-394E-A407-7E864D3B1843}"/>
                </a:ex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4788" y="2146700"/>
              <a:ext cx="365760" cy="365760"/>
            </a:xfrm>
            <a:prstGeom prst="rect">
              <a:avLst/>
            </a:prstGeom>
          </p:spPr>
        </p:pic>
        <p:pic>
          <p:nvPicPr>
            <p:cNvPr id="17" name="Graphic 16">
              <a:extLst>
                <a:ext uri="{FF2B5EF4-FFF2-40B4-BE49-F238E27FC236}">
                  <a16:creationId xmlns:a16="http://schemas.microsoft.com/office/drawing/2014/main" id="{5FAF2FFD-8057-2942-A8D7-51D94D5702CB}"/>
                </a:ext>
                <a:ext uri="{C183D7F6-B498-43B3-948B-1728B52AA6E4}">
                  <adec:decorative xmlns:adec="http://schemas.microsoft.com/office/drawing/2017/decorative" val="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04788" y="2734051"/>
              <a:ext cx="365760" cy="365760"/>
            </a:xfrm>
            <a:prstGeom prst="rect">
              <a:avLst/>
            </a:prstGeom>
          </p:spPr>
        </p:pic>
        <p:pic>
          <p:nvPicPr>
            <p:cNvPr id="18" name="Graphic 17">
              <a:extLst>
                <a:ext uri="{FF2B5EF4-FFF2-40B4-BE49-F238E27FC236}">
                  <a16:creationId xmlns:a16="http://schemas.microsoft.com/office/drawing/2014/main" id="{2BA318C4-D7F1-D649-9756-B1E1C3B3A909}"/>
                </a:ext>
                <a:ext uri="{C183D7F6-B498-43B3-948B-1728B52AA6E4}">
                  <adec:decorative xmlns:adec="http://schemas.microsoft.com/office/drawing/2017/decorative" val="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04788" y="3321402"/>
              <a:ext cx="365760" cy="365760"/>
            </a:xfrm>
            <a:prstGeom prst="rect">
              <a:avLst/>
            </a:prstGeom>
          </p:spPr>
        </p:pic>
        <p:pic>
          <p:nvPicPr>
            <p:cNvPr id="19" name="Graphic 18">
              <a:extLst>
                <a:ext uri="{FF2B5EF4-FFF2-40B4-BE49-F238E27FC236}">
                  <a16:creationId xmlns:a16="http://schemas.microsoft.com/office/drawing/2014/main" id="{150520B6-B78E-6B47-9B55-43CE282DB4E4}"/>
                </a:ext>
                <a:ext uri="{C183D7F6-B498-43B3-948B-1728B52AA6E4}">
                  <adec:decorative xmlns:adec="http://schemas.microsoft.com/office/drawing/2017/decorative" val="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04788" y="3908753"/>
              <a:ext cx="365760" cy="365760"/>
            </a:xfrm>
            <a:prstGeom prst="rect">
              <a:avLst/>
            </a:prstGeom>
          </p:spPr>
        </p:pic>
        <p:pic>
          <p:nvPicPr>
            <p:cNvPr id="22" name="Graphic 21">
              <a:extLst>
                <a:ext uri="{FF2B5EF4-FFF2-40B4-BE49-F238E27FC236}">
                  <a16:creationId xmlns:a16="http://schemas.microsoft.com/office/drawing/2014/main" id="{D125EAFC-9ACB-164B-A669-499AA329C5D8}"/>
                </a:ext>
                <a:ext uri="{C183D7F6-B498-43B3-948B-1728B52AA6E4}">
                  <adec:decorative xmlns:adec="http://schemas.microsoft.com/office/drawing/2017/decorative" val="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04788" y="5083457"/>
              <a:ext cx="365760" cy="365760"/>
            </a:xfrm>
            <a:prstGeom prst="rect">
              <a:avLst/>
            </a:prstGeom>
          </p:spPr>
        </p:pic>
        <p:pic>
          <p:nvPicPr>
            <p:cNvPr id="33" name="Graphic 32">
              <a:extLst>
                <a:ext uri="{FF2B5EF4-FFF2-40B4-BE49-F238E27FC236}">
                  <a16:creationId xmlns:a16="http://schemas.microsoft.com/office/drawing/2014/main" id="{E0518501-84A8-4C42-898E-5BE69B42B3CE}"/>
                </a:ext>
                <a:ext uri="{C183D7F6-B498-43B3-948B-1728B52AA6E4}">
                  <adec:decorative xmlns:adec="http://schemas.microsoft.com/office/drawing/2017/decorative" val="1"/>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04788" y="4496104"/>
              <a:ext cx="365760" cy="365760"/>
            </a:xfrm>
            <a:prstGeom prst="rect">
              <a:avLst/>
            </a:prstGeom>
          </p:spPr>
        </p:pic>
        <p:sp>
          <p:nvSpPr>
            <p:cNvPr id="36" name="TextBox 35">
              <a:extLst>
                <a:ext uri="{FF2B5EF4-FFF2-40B4-BE49-F238E27FC236}">
                  <a16:creationId xmlns:a16="http://schemas.microsoft.com/office/drawing/2014/main" id="{E97EB124-A4D4-2642-B5D5-2593475411C4}"/>
                </a:ext>
              </a:extLst>
            </p:cNvPr>
            <p:cNvSpPr txBox="1"/>
            <p:nvPr/>
          </p:nvSpPr>
          <p:spPr>
            <a:xfrm>
              <a:off x="9497885" y="4684480"/>
              <a:ext cx="1984542" cy="830997"/>
            </a:xfrm>
            <a:prstGeom prst="rect">
              <a:avLst/>
            </a:prstGeom>
            <a:solidFill>
              <a:schemeClr val="bg1"/>
            </a:solidFill>
          </p:spPr>
          <p:txBody>
            <a:bodyPr wrap="square" rtlCol="0">
              <a:spAutoFit/>
            </a:bodyPr>
            <a:lstStyle/>
            <a:p>
              <a:r>
                <a:rPr lang="en-US" sz="1600" i="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Logging, monitoring, and metrics</a:t>
              </a:r>
            </a:p>
          </p:txBody>
        </p:sp>
        <p:sp>
          <p:nvSpPr>
            <p:cNvPr id="4" name="TextBox 3"/>
            <p:cNvSpPr txBox="1"/>
            <p:nvPr/>
          </p:nvSpPr>
          <p:spPr>
            <a:xfrm>
              <a:off x="963915" y="2165939"/>
              <a:ext cx="1234633" cy="338554"/>
            </a:xfrm>
            <a:prstGeom prst="rect">
              <a:avLst/>
            </a:prstGeom>
            <a:noFill/>
          </p:spPr>
          <p:txBody>
            <a:bodyPr wrap="non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Amazon S3</a:t>
              </a:r>
            </a:p>
          </p:txBody>
        </p:sp>
        <p:sp>
          <p:nvSpPr>
            <p:cNvPr id="30" name="TextBox 29"/>
            <p:cNvSpPr txBox="1"/>
            <p:nvPr/>
          </p:nvSpPr>
          <p:spPr>
            <a:xfrm>
              <a:off x="963915" y="2734833"/>
              <a:ext cx="2037737" cy="338554"/>
            </a:xfrm>
            <a:prstGeom prst="rect">
              <a:avLst/>
            </a:prstGeom>
            <a:noFill/>
          </p:spPr>
          <p:txBody>
            <a:bodyPr wrap="non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Amazon DynamoDB</a:t>
              </a:r>
            </a:p>
          </p:txBody>
        </p:sp>
        <p:sp>
          <p:nvSpPr>
            <p:cNvPr id="31" name="TextBox 30"/>
            <p:cNvSpPr txBox="1"/>
            <p:nvPr/>
          </p:nvSpPr>
          <p:spPr>
            <a:xfrm>
              <a:off x="963915" y="3210686"/>
              <a:ext cx="2785196"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Notification Service (Amazon SNS)</a:t>
              </a:r>
            </a:p>
          </p:txBody>
        </p:sp>
        <p:sp>
          <p:nvSpPr>
            <p:cNvPr id="32" name="TextBox 31"/>
            <p:cNvSpPr txBox="1"/>
            <p:nvPr/>
          </p:nvSpPr>
          <p:spPr>
            <a:xfrm>
              <a:off x="963915" y="3816633"/>
              <a:ext cx="2635408" cy="584775"/>
            </a:xfrm>
            <a:prstGeom prst="rect">
              <a:avLst/>
            </a:prstGeom>
            <a:noFill/>
          </p:spPr>
          <p:txBody>
            <a:bodyPr wrap="squar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Amazon Simple Queue Service (Amazon SQS)</a:t>
              </a:r>
            </a:p>
          </p:txBody>
        </p:sp>
        <p:sp>
          <p:nvSpPr>
            <p:cNvPr id="35" name="TextBox 34"/>
            <p:cNvSpPr txBox="1"/>
            <p:nvPr/>
          </p:nvSpPr>
          <p:spPr>
            <a:xfrm>
              <a:off x="963915" y="4509707"/>
              <a:ext cx="2170787" cy="338554"/>
            </a:xfrm>
            <a:prstGeom prst="rect">
              <a:avLst/>
            </a:prstGeom>
            <a:noFill/>
          </p:spPr>
          <p:txBody>
            <a:bodyPr wrap="non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Amazon API Gateway</a:t>
              </a:r>
            </a:p>
          </p:txBody>
        </p:sp>
        <p:sp>
          <p:nvSpPr>
            <p:cNvPr id="41" name="TextBox 40"/>
            <p:cNvSpPr txBox="1"/>
            <p:nvPr/>
          </p:nvSpPr>
          <p:spPr>
            <a:xfrm>
              <a:off x="963915" y="5097060"/>
              <a:ext cx="2605200" cy="338554"/>
            </a:xfrm>
            <a:prstGeom prst="rect">
              <a:avLst/>
            </a:prstGeom>
            <a:noFill/>
          </p:spPr>
          <p:txBody>
            <a:bodyPr wrap="non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Application Load Balancer</a:t>
              </a:r>
            </a:p>
          </p:txBody>
        </p:sp>
        <p:sp>
          <p:nvSpPr>
            <p:cNvPr id="42" name="TextBox 41"/>
            <p:cNvSpPr txBox="1"/>
            <p:nvPr/>
          </p:nvSpPr>
          <p:spPr>
            <a:xfrm>
              <a:off x="990457" y="5689267"/>
              <a:ext cx="1436612" cy="338554"/>
            </a:xfrm>
            <a:prstGeom prst="rect">
              <a:avLst/>
            </a:prstGeom>
            <a:noFill/>
          </p:spPr>
          <p:txBody>
            <a:bodyPr wrap="none" rtlCol="0">
              <a:spAutoFit/>
            </a:body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Many more…</a:t>
              </a:r>
            </a:p>
          </p:txBody>
        </p:sp>
      </p:grpSp>
    </p:spTree>
    <p:custDataLst>
      <p:tags r:id="rId1"/>
    </p:custDataLst>
    <p:extLst>
      <p:ext uri="{BB962C8B-B14F-4D97-AF65-F5344CB8AC3E}">
        <p14:creationId xmlns:p14="http://schemas.microsoft.com/office/powerpoint/2010/main" val="20765325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41">
            <a:extLst>
              <a:ext uri="{FF2B5EF4-FFF2-40B4-BE49-F238E27FC236}">
                <a16:creationId xmlns:a16="http://schemas.microsoft.com/office/drawing/2014/main" id="{41023B6E-573D-A949-B344-3A725DCDE97C}"/>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62</a:t>
            </a:fld>
            <a:endParaRPr lang="en-US" dirty="0"/>
          </a:p>
        </p:txBody>
      </p:sp>
      <p:sp>
        <p:nvSpPr>
          <p:cNvPr id="2" name="Title 1">
            <a:extLst>
              <a:ext uri="{FF2B5EF4-FFF2-40B4-BE49-F238E27FC236}">
                <a16:creationId xmlns:a16="http://schemas.microsoft.com/office/drawing/2014/main" id="{7FD02E44-715D-B24D-8F64-3EAC5EE86B34}"/>
              </a:ext>
            </a:extLst>
          </p:cNvPr>
          <p:cNvSpPr>
            <a:spLocks noGrp="1"/>
          </p:cNvSpPr>
          <p:nvPr>
            <p:ph type="title"/>
          </p:nvPr>
        </p:nvSpPr>
        <p:spPr/>
        <p:txBody>
          <a:bodyPr/>
          <a:lstStyle/>
          <a:p>
            <a:r>
              <a:rPr lang="en-US" dirty="0"/>
              <a:t>AWS Lambda function configuration</a:t>
            </a:r>
          </a:p>
        </p:txBody>
      </p:sp>
      <p:sp>
        <p:nvSpPr>
          <p:cNvPr id="31" name="TextBox 30">
            <a:extLst>
              <a:ext uri="{FF2B5EF4-FFF2-40B4-BE49-F238E27FC236}">
                <a16:creationId xmlns:a16="http://schemas.microsoft.com/office/drawing/2014/main" id="{A00A4EC9-5DAD-AA4F-B556-39315C177014}"/>
              </a:ext>
            </a:extLst>
          </p:cNvPr>
          <p:cNvSpPr txBox="1"/>
          <p:nvPr/>
        </p:nvSpPr>
        <p:spPr>
          <a:xfrm>
            <a:off x="278472" y="1359457"/>
            <a:ext cx="5207928" cy="461665"/>
          </a:xfrm>
          <a:prstGeom prst="rect">
            <a:avLst/>
          </a:prstGeom>
          <a:solidFill>
            <a:schemeClr val="bg1"/>
          </a:solidFill>
        </p:spPr>
        <p:txBody>
          <a:bodyPr wrap="square" rtlCol="0">
            <a:spAutoFit/>
          </a:bodyPr>
          <a:lstStyle/>
          <a:p>
            <a:r>
              <a:rPr lang="en-US" sz="2400"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Lambda function configuration</a:t>
            </a:r>
          </a:p>
        </p:txBody>
      </p:sp>
      <p:grpSp>
        <p:nvGrpSpPr>
          <p:cNvPr id="4" name="Group 3" descr="Graphic showing three items in a box on the left: function code, dependencies, and execution code. The rest of the diagram is the same as on the last slide - a Lambda function in the middle that leads into the Lambda service, and two outputs: the first is &quot;execution of your code&quot; and the second is CloudWatch for logging, monitoring, and metrics.">
            <a:extLst>
              <a:ext uri="{FF2B5EF4-FFF2-40B4-BE49-F238E27FC236}">
                <a16:creationId xmlns:a16="http://schemas.microsoft.com/office/drawing/2014/main" id="{81F7EFCE-43F1-3C01-4AAD-2E14CADEE7B9}"/>
              </a:ext>
            </a:extLst>
          </p:cNvPr>
          <p:cNvGrpSpPr/>
          <p:nvPr/>
        </p:nvGrpSpPr>
        <p:grpSpPr>
          <a:xfrm>
            <a:off x="420580" y="1989144"/>
            <a:ext cx="11352320" cy="4247317"/>
            <a:chOff x="420580" y="1989144"/>
            <a:chExt cx="11352320" cy="4247317"/>
          </a:xfrm>
        </p:grpSpPr>
        <p:sp>
          <p:nvSpPr>
            <p:cNvPr id="30" name="Rectangle 29">
              <a:extLst>
                <a:ext uri="{FF2B5EF4-FFF2-40B4-BE49-F238E27FC236}">
                  <a16:creationId xmlns:a16="http://schemas.microsoft.com/office/drawing/2014/main" id="{E3F35853-76F7-3147-B421-C6C99216CA4C}"/>
                </a:ext>
              </a:extLst>
            </p:cNvPr>
            <p:cNvSpPr/>
            <p:nvPr/>
          </p:nvSpPr>
          <p:spPr>
            <a:xfrm>
              <a:off x="420580" y="1989144"/>
              <a:ext cx="3092677" cy="4247317"/>
            </a:xfrm>
            <a:prstGeom prst="rect">
              <a:avLst/>
            </a:prstGeom>
            <a:no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6" name="Straight Arrow Connector 15">
              <a:extLst>
                <a:ext uri="{FF2B5EF4-FFF2-40B4-BE49-F238E27FC236}">
                  <a16:creationId xmlns:a16="http://schemas.microsoft.com/office/drawing/2014/main" id="{F3705C16-01FB-624A-91FA-5D27084F439E}"/>
                </a:ext>
              </a:extLst>
            </p:cNvPr>
            <p:cNvCxnSpPr>
              <a:cxnSpLocks/>
            </p:cNvCxnSpPr>
            <p:nvPr/>
          </p:nvCxnSpPr>
          <p:spPr>
            <a:xfrm flipV="1">
              <a:off x="3513257" y="3868009"/>
              <a:ext cx="5222107" cy="30777"/>
            </a:xfrm>
            <a:prstGeom prst="straightConnector1">
              <a:avLst/>
            </a:prstGeom>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F46E76BC-FBDA-308E-95E4-3403E4292085}"/>
                </a:ext>
              </a:extLst>
            </p:cNvPr>
            <p:cNvGrpSpPr/>
            <p:nvPr/>
          </p:nvGrpSpPr>
          <p:grpSpPr>
            <a:xfrm>
              <a:off x="1237675" y="2315924"/>
              <a:ext cx="1458485" cy="1227762"/>
              <a:chOff x="1237675" y="2315924"/>
              <a:chExt cx="1458485" cy="1227762"/>
            </a:xfrm>
          </p:grpSpPr>
          <p:pic>
            <p:nvPicPr>
              <p:cNvPr id="9" name="Picture 8">
                <a:extLst>
                  <a:ext uri="{FF2B5EF4-FFF2-40B4-BE49-F238E27FC236}">
                    <a16:creationId xmlns:a16="http://schemas.microsoft.com/office/drawing/2014/main" id="{1FDE076E-6D84-A547-AA6B-10A9824A4B4C}"/>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8777" y="2315924"/>
                <a:ext cx="707720" cy="638720"/>
              </a:xfrm>
              <a:prstGeom prst="rect">
                <a:avLst/>
              </a:prstGeom>
            </p:spPr>
          </p:pic>
          <p:sp>
            <p:nvSpPr>
              <p:cNvPr id="17" name="Rectangle 16">
                <a:extLst>
                  <a:ext uri="{FF2B5EF4-FFF2-40B4-BE49-F238E27FC236}">
                    <a16:creationId xmlns:a16="http://schemas.microsoft.com/office/drawing/2014/main" id="{499AAF3F-FFCF-DC43-96DA-862781E262F6}"/>
                  </a:ext>
                </a:extLst>
              </p:cNvPr>
              <p:cNvSpPr/>
              <p:nvPr/>
            </p:nvSpPr>
            <p:spPr>
              <a:xfrm>
                <a:off x="1237675" y="2958911"/>
                <a:ext cx="1458485" cy="584775"/>
              </a:xfrm>
              <a:prstGeom prst="rect">
                <a:avLst/>
              </a:prstGeom>
            </p:spPr>
            <p:txBody>
              <a:bodyPr wrap="square">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Function code</a:t>
                </a:r>
              </a:p>
            </p:txBody>
          </p:sp>
        </p:grpSp>
        <p:sp>
          <p:nvSpPr>
            <p:cNvPr id="18" name="Rectangle 17">
              <a:extLst>
                <a:ext uri="{FF2B5EF4-FFF2-40B4-BE49-F238E27FC236}">
                  <a16:creationId xmlns:a16="http://schemas.microsoft.com/office/drawing/2014/main" id="{771E6B1E-3E8F-9F44-944A-B6B26484B685}"/>
                </a:ext>
              </a:extLst>
            </p:cNvPr>
            <p:cNvSpPr/>
            <p:nvPr/>
          </p:nvSpPr>
          <p:spPr>
            <a:xfrm>
              <a:off x="642167" y="4209705"/>
              <a:ext cx="2489927" cy="584775"/>
            </a:xfrm>
            <a:prstGeom prst="rect">
              <a:avLst/>
            </a:prstGeom>
          </p:spPr>
          <p:txBody>
            <a:bodyPr wrap="square">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Dependencies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(code libraries, etc.)</a:t>
              </a:r>
            </a:p>
          </p:txBody>
        </p:sp>
        <p:sp>
          <p:nvSpPr>
            <p:cNvPr id="19" name="Rectangle 18">
              <a:extLst>
                <a:ext uri="{FF2B5EF4-FFF2-40B4-BE49-F238E27FC236}">
                  <a16:creationId xmlns:a16="http://schemas.microsoft.com/office/drawing/2014/main" id="{353388AC-BF13-5541-B2E0-B247E8ED08A9}"/>
                </a:ext>
              </a:extLst>
            </p:cNvPr>
            <p:cNvSpPr/>
            <p:nvPr/>
          </p:nvSpPr>
          <p:spPr>
            <a:xfrm>
              <a:off x="1065116" y="5622008"/>
              <a:ext cx="1748098" cy="338554"/>
            </a:xfrm>
            <a:prstGeom prst="rect">
              <a:avLst/>
            </a:prstGeom>
          </p:spPr>
          <p:txBody>
            <a:bodyPr wrap="square">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Execution role</a:t>
              </a:r>
            </a:p>
          </p:txBody>
        </p:sp>
        <p:pic>
          <p:nvPicPr>
            <p:cNvPr id="21" name="Graphic 20">
              <a:extLst>
                <a:ext uri="{FF2B5EF4-FFF2-40B4-BE49-F238E27FC236}">
                  <a16:creationId xmlns:a16="http://schemas.microsoft.com/office/drawing/2014/main" id="{ED3D81D1-E373-3247-93D5-D8361B314EB6}"/>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1917" y="3518495"/>
              <a:ext cx="711200" cy="711200"/>
            </a:xfrm>
            <a:prstGeom prst="rect">
              <a:avLst/>
            </a:prstGeom>
          </p:spPr>
        </p:pic>
        <p:sp>
          <p:nvSpPr>
            <p:cNvPr id="22" name="TextBox 21">
              <a:extLst>
                <a:ext uri="{FF2B5EF4-FFF2-40B4-BE49-F238E27FC236}">
                  <a16:creationId xmlns:a16="http://schemas.microsoft.com/office/drawing/2014/main" id="{4FB51E46-2DE3-0B46-84D6-BD8A9D62A324}"/>
                </a:ext>
              </a:extLst>
            </p:cNvPr>
            <p:cNvSpPr txBox="1"/>
            <p:nvPr/>
          </p:nvSpPr>
          <p:spPr>
            <a:xfrm>
              <a:off x="5206565" y="4282714"/>
              <a:ext cx="2301904" cy="338554"/>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AWS Lambda</a:t>
              </a:r>
            </a:p>
          </p:txBody>
        </p:sp>
        <p:pic>
          <p:nvPicPr>
            <p:cNvPr id="5" name="Graphic 4" descr="Books on shelf.">
              <a:extLst>
                <a:ext uri="{FF2B5EF4-FFF2-40B4-BE49-F238E27FC236}">
                  <a16:creationId xmlns:a16="http://schemas.microsoft.com/office/drawing/2014/main" id="{5EC919BF-B0E2-4744-92F9-6EABC4E28E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65105" y="3562707"/>
              <a:ext cx="711201" cy="711201"/>
            </a:xfrm>
            <a:prstGeom prst="rect">
              <a:avLst/>
            </a:prstGeom>
          </p:spPr>
        </p:pic>
        <p:pic>
          <p:nvPicPr>
            <p:cNvPr id="24" name="Graphic 23">
              <a:extLst>
                <a:ext uri="{FF2B5EF4-FFF2-40B4-BE49-F238E27FC236}">
                  <a16:creationId xmlns:a16="http://schemas.microsoft.com/office/drawing/2014/main" id="{C8EB2482-E97A-F141-92B3-3E8E334DCDC7}"/>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15344" y="5000643"/>
              <a:ext cx="590551" cy="590551"/>
            </a:xfrm>
            <a:prstGeom prst="rect">
              <a:avLst/>
            </a:prstGeom>
          </p:spPr>
        </p:pic>
        <p:pic>
          <p:nvPicPr>
            <p:cNvPr id="26" name="Graphic 25">
              <a:extLst>
                <a:ext uri="{FF2B5EF4-FFF2-40B4-BE49-F238E27FC236}">
                  <a16:creationId xmlns:a16="http://schemas.microsoft.com/office/drawing/2014/main" id="{BAF4D3A1-3F7B-B246-9EB6-B9DBAD4FB81A}"/>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30291" y="5048126"/>
              <a:ext cx="469900" cy="469900"/>
            </a:xfrm>
            <a:prstGeom prst="rect">
              <a:avLst/>
            </a:prstGeom>
          </p:spPr>
        </p:pic>
        <p:cxnSp>
          <p:nvCxnSpPr>
            <p:cNvPr id="32" name="Straight Arrow Connector 27">
              <a:extLst>
                <a:ext uri="{FF2B5EF4-FFF2-40B4-BE49-F238E27FC236}">
                  <a16:creationId xmlns:a16="http://schemas.microsoft.com/office/drawing/2014/main" id="{61C8310E-3816-1643-A549-048948573074}"/>
                </a:ext>
              </a:extLst>
            </p:cNvPr>
            <p:cNvCxnSpPr>
              <a:cxnSpLocks/>
            </p:cNvCxnSpPr>
            <p:nvPr/>
          </p:nvCxnSpPr>
          <p:spPr>
            <a:xfrm>
              <a:off x="6713117" y="3874095"/>
              <a:ext cx="2029055" cy="1102773"/>
            </a:xfrm>
            <a:prstGeom prst="bentConnector3">
              <a:avLst>
                <a:gd name="adj1" fmla="val 36251"/>
              </a:avLst>
            </a:prstGeom>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F4D12D7F-878B-FF4B-823E-8B9B13EEBA30}"/>
                </a:ext>
              </a:extLst>
            </p:cNvPr>
            <p:cNvSpPr txBox="1"/>
            <p:nvPr/>
          </p:nvSpPr>
          <p:spPr>
            <a:xfrm>
              <a:off x="7946820" y="5369596"/>
              <a:ext cx="2301904" cy="584775"/>
            </a:xfrm>
            <a:prstGeom prst="rect">
              <a:avLst/>
            </a:prstGeom>
            <a:noFill/>
          </p:spPr>
          <p:txBody>
            <a:bodyPr wrap="square" rtlCol="0">
              <a:spAutoFit/>
            </a:body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a:t>
              </a:r>
            </a:p>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CloudWatch</a:t>
              </a:r>
            </a:p>
          </p:txBody>
        </p:sp>
        <p:pic>
          <p:nvPicPr>
            <p:cNvPr id="34" name="Graphic 33">
              <a:extLst>
                <a:ext uri="{FF2B5EF4-FFF2-40B4-BE49-F238E27FC236}">
                  <a16:creationId xmlns:a16="http://schemas.microsoft.com/office/drawing/2014/main" id="{F9B64CC4-F084-BC46-B14F-9261587AB974}"/>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742172" y="4621268"/>
              <a:ext cx="711200" cy="711200"/>
            </a:xfrm>
            <a:prstGeom prst="rect">
              <a:avLst/>
            </a:prstGeom>
          </p:spPr>
        </p:pic>
        <p:sp>
          <p:nvSpPr>
            <p:cNvPr id="35" name="Rectangle 34">
              <a:extLst>
                <a:ext uri="{FF2B5EF4-FFF2-40B4-BE49-F238E27FC236}">
                  <a16:creationId xmlns:a16="http://schemas.microsoft.com/office/drawing/2014/main" id="{03B1E2DF-7BEF-7A4E-A8E3-007405EF17A9}"/>
                </a:ext>
              </a:extLst>
            </p:cNvPr>
            <p:cNvSpPr/>
            <p:nvPr/>
          </p:nvSpPr>
          <p:spPr>
            <a:xfrm>
              <a:off x="3861269" y="3827363"/>
              <a:ext cx="1411268" cy="830997"/>
            </a:xfrm>
            <a:prstGeom prst="rect">
              <a:avLst/>
            </a:prstGeom>
            <a:solidFill>
              <a:schemeClr val="bg1"/>
            </a:solidFill>
          </p:spPr>
          <p:txBody>
            <a:bodyPr wrap="square">
              <a:spAutoFit/>
            </a:bodyPr>
            <a:lstStyle/>
            <a:p>
              <a:pPr algn="ctr"/>
              <a:r>
                <a:rPr lang="en-US" sz="1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Lambda function</a:t>
              </a:r>
            </a:p>
          </p:txBody>
        </p:sp>
        <p:pic>
          <p:nvPicPr>
            <p:cNvPr id="36" name="Graphic 35">
              <a:extLst>
                <a:ext uri="{FF2B5EF4-FFF2-40B4-BE49-F238E27FC236}">
                  <a16:creationId xmlns:a16="http://schemas.microsoft.com/office/drawing/2014/main" id="{49465031-7611-3F46-BA37-2C58171FBFB3}"/>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178707" y="2958593"/>
              <a:ext cx="809293" cy="809293"/>
            </a:xfrm>
            <a:prstGeom prst="rect">
              <a:avLst/>
            </a:prstGeom>
          </p:spPr>
        </p:pic>
        <p:sp>
          <p:nvSpPr>
            <p:cNvPr id="38" name="TextBox 37">
              <a:extLst>
                <a:ext uri="{FF2B5EF4-FFF2-40B4-BE49-F238E27FC236}">
                  <a16:creationId xmlns:a16="http://schemas.microsoft.com/office/drawing/2014/main" id="{54C89E8E-5104-3749-BE53-C82EADD1C484}"/>
                </a:ext>
              </a:extLst>
            </p:cNvPr>
            <p:cNvSpPr txBox="1"/>
            <p:nvPr/>
          </p:nvSpPr>
          <p:spPr>
            <a:xfrm>
              <a:off x="8739533" y="3555089"/>
              <a:ext cx="3033367" cy="646331"/>
            </a:xfrm>
            <a:prstGeom prst="rect">
              <a:avLst/>
            </a:prstGeom>
            <a:solidFill>
              <a:schemeClr val="bg1"/>
            </a:solidFill>
          </p:spPr>
          <p:txBody>
            <a:bodyPr wrap="square" rtlCol="0">
              <a:spAutoFit/>
            </a:body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Running of your code (only when it is triggered)</a:t>
              </a:r>
            </a:p>
          </p:txBody>
        </p:sp>
        <p:sp>
          <p:nvSpPr>
            <p:cNvPr id="39" name="TextBox 38">
              <a:extLst>
                <a:ext uri="{FF2B5EF4-FFF2-40B4-BE49-F238E27FC236}">
                  <a16:creationId xmlns:a16="http://schemas.microsoft.com/office/drawing/2014/main" id="{54FFF743-EC7A-1246-8C4F-A4909CBC95FC}"/>
                </a:ext>
              </a:extLst>
            </p:cNvPr>
            <p:cNvSpPr txBox="1"/>
            <p:nvPr/>
          </p:nvSpPr>
          <p:spPr>
            <a:xfrm>
              <a:off x="9497885" y="4684480"/>
              <a:ext cx="2051948" cy="584775"/>
            </a:xfrm>
            <a:prstGeom prst="rect">
              <a:avLst/>
            </a:prstGeom>
            <a:solidFill>
              <a:schemeClr val="bg1"/>
            </a:solidFill>
          </p:spPr>
          <p:txBody>
            <a:bodyPr wrap="square" rtlCol="0">
              <a:spAutoFit/>
            </a:bodyPr>
            <a:lstStyle/>
            <a:p>
              <a:r>
                <a:rPr lang="en-US" sz="1600" i="1" dirty="0">
                  <a:solidFill>
                    <a:srgbClr val="504BAB"/>
                  </a:solidFill>
                  <a:latin typeface="Amazon Ember" panose="020B0603020204020204" pitchFamily="34" charset="0"/>
                  <a:ea typeface="Amazon Ember" panose="020B0603020204020204" pitchFamily="34" charset="0"/>
                  <a:cs typeface="Amazon Ember" panose="020B0603020204020204" pitchFamily="34" charset="0"/>
                </a:rPr>
                <a:t>Logging, monitoring, and metrics</a:t>
              </a:r>
            </a:p>
          </p:txBody>
        </p:sp>
      </p:grpSp>
    </p:spTree>
    <p:custDataLst>
      <p:tags r:id="rId1"/>
    </p:custDataLst>
    <p:extLst>
      <p:ext uri="{BB962C8B-B14F-4D97-AF65-F5344CB8AC3E}">
        <p14:creationId xmlns:p14="http://schemas.microsoft.com/office/powerpoint/2010/main" val="39000238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FD742C-0D6C-E8ED-03BC-57A5AC8C9E3B}"/>
              </a:ext>
            </a:extLst>
          </p:cNvPr>
          <p:cNvSpPr>
            <a:spLocks noGrp="1"/>
          </p:cNvSpPr>
          <p:nvPr>
            <p:ph type="sldNum" sz="quarter" idx="20"/>
          </p:nvPr>
        </p:nvSpPr>
        <p:spPr/>
        <p:txBody>
          <a:bodyPr/>
          <a:lstStyle/>
          <a:p>
            <a:fld id="{930176A1-BCF0-4712-97A6-6B495F55390B}" type="slidenum">
              <a:rPr lang="en-US" smtClean="0"/>
              <a:t>63</a:t>
            </a:fld>
            <a:endParaRPr lang="en-US"/>
          </a:p>
        </p:txBody>
      </p:sp>
      <p:sp>
        <p:nvSpPr>
          <p:cNvPr id="2" name="Title 1"/>
          <p:cNvSpPr>
            <a:spLocks noGrp="1"/>
          </p:cNvSpPr>
          <p:nvPr>
            <p:ph type="title"/>
          </p:nvPr>
        </p:nvSpPr>
        <p:spPr/>
        <p:txBody>
          <a:bodyPr>
            <a:noAutofit/>
          </a:bodyPr>
          <a:lstStyle/>
          <a:p>
            <a:r>
              <a:rPr lang="en-US" sz="3000" dirty="0"/>
              <a:t>Event-based Lambda function example: </a:t>
            </a:r>
            <a:br>
              <a:rPr lang="en-US" sz="3000" dirty="0"/>
            </a:br>
            <a:r>
              <a:rPr lang="en-US" sz="3000" dirty="0"/>
              <a:t>Create thumbnail images</a:t>
            </a:r>
          </a:p>
        </p:txBody>
      </p:sp>
      <p:grpSp>
        <p:nvGrpSpPr>
          <p:cNvPr id="4" name="Group 3" descr="Diagram showing a user uploading photos to S3, where Lambda is invoked. Detailed description in the notes for this slide.">
            <a:extLst>
              <a:ext uri="{FF2B5EF4-FFF2-40B4-BE49-F238E27FC236}">
                <a16:creationId xmlns:a16="http://schemas.microsoft.com/office/drawing/2014/main" id="{97C7553C-8747-4F56-EF86-056D0861FEB2}"/>
              </a:ext>
            </a:extLst>
          </p:cNvPr>
          <p:cNvGrpSpPr/>
          <p:nvPr/>
        </p:nvGrpSpPr>
        <p:grpSpPr>
          <a:xfrm>
            <a:off x="1083418" y="1358074"/>
            <a:ext cx="8752896" cy="4851657"/>
            <a:chOff x="1083418" y="1358074"/>
            <a:chExt cx="8752896" cy="4851657"/>
          </a:xfrm>
        </p:grpSpPr>
        <p:pic>
          <p:nvPicPr>
            <p:cNvPr id="86"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6191" y="3995882"/>
              <a:ext cx="1270484" cy="1270484"/>
            </a:xfrm>
            <a:prstGeom prst="rect">
              <a:avLst/>
            </a:prstGeom>
          </p:spPr>
        </p:pic>
        <p:sp>
          <p:nvSpPr>
            <p:cNvPr id="50" name="Freeform 49"/>
            <p:cNvSpPr/>
            <p:nvPr/>
          </p:nvSpPr>
          <p:spPr bwMode="auto">
            <a:xfrm>
              <a:off x="5326920" y="3913339"/>
              <a:ext cx="1451548" cy="377810"/>
            </a:xfrm>
            <a:custGeom>
              <a:avLst/>
              <a:gdLst>
                <a:gd name="connsiteX0" fmla="*/ 1247775 w 1247775"/>
                <a:gd name="connsiteY0" fmla="*/ 400132 h 428707"/>
                <a:gd name="connsiteX1" fmla="*/ 638175 w 1247775"/>
                <a:gd name="connsiteY1" fmla="*/ 82 h 428707"/>
                <a:gd name="connsiteX2" fmla="*/ 0 w 1247775"/>
                <a:gd name="connsiteY2" fmla="*/ 428707 h 428707"/>
              </a:gdLst>
              <a:ahLst/>
              <a:cxnLst>
                <a:cxn ang="0">
                  <a:pos x="connsiteX0" y="connsiteY0"/>
                </a:cxn>
                <a:cxn ang="0">
                  <a:pos x="connsiteX1" y="connsiteY1"/>
                </a:cxn>
                <a:cxn ang="0">
                  <a:pos x="connsiteX2" y="connsiteY2"/>
                </a:cxn>
              </a:cxnLst>
              <a:rect l="l" t="t" r="r" b="b"/>
              <a:pathLst>
                <a:path w="1247775" h="428707">
                  <a:moveTo>
                    <a:pt x="1247775" y="400132"/>
                  </a:moveTo>
                  <a:cubicBezTo>
                    <a:pt x="1046956" y="197726"/>
                    <a:pt x="846137" y="-4680"/>
                    <a:pt x="638175" y="82"/>
                  </a:cubicBezTo>
                  <a:cubicBezTo>
                    <a:pt x="430213" y="4844"/>
                    <a:pt x="215106" y="216775"/>
                    <a:pt x="0" y="428707"/>
                  </a:cubicBezTo>
                </a:path>
              </a:pathLst>
            </a:custGeom>
            <a:ln w="28575">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5" name="Freeform 14"/>
            <p:cNvSpPr/>
            <p:nvPr/>
          </p:nvSpPr>
          <p:spPr>
            <a:xfrm>
              <a:off x="6422751" y="4199221"/>
              <a:ext cx="1333948" cy="1473798"/>
            </a:xfrm>
            <a:custGeom>
              <a:avLst/>
              <a:gdLst>
                <a:gd name="connsiteX0" fmla="*/ 172123 w 1333948"/>
                <a:gd name="connsiteY0" fmla="*/ 1473798 h 1473798"/>
                <a:gd name="connsiteX1" fmla="*/ 1021977 w 1333948"/>
                <a:gd name="connsiteY1" fmla="*/ 1409252 h 1473798"/>
                <a:gd name="connsiteX2" fmla="*/ 1151068 w 1333948"/>
                <a:gd name="connsiteY2" fmla="*/ 1183341 h 1473798"/>
                <a:gd name="connsiteX3" fmla="*/ 1172584 w 1333948"/>
                <a:gd name="connsiteY3" fmla="*/ 344245 h 1473798"/>
                <a:gd name="connsiteX4" fmla="*/ 1333948 w 1333948"/>
                <a:gd name="connsiteY4" fmla="*/ 53788 h 1473798"/>
                <a:gd name="connsiteX5" fmla="*/ 1129553 w 1333948"/>
                <a:gd name="connsiteY5" fmla="*/ 0 h 1473798"/>
                <a:gd name="connsiteX6" fmla="*/ 677732 w 1333948"/>
                <a:gd name="connsiteY6" fmla="*/ 344245 h 1473798"/>
                <a:gd name="connsiteX7" fmla="*/ 301214 w 1333948"/>
                <a:gd name="connsiteY7" fmla="*/ 268941 h 1473798"/>
                <a:gd name="connsiteX8" fmla="*/ 86061 w 1333948"/>
                <a:gd name="connsiteY8" fmla="*/ 322729 h 1473798"/>
                <a:gd name="connsiteX9" fmla="*/ 0 w 1333948"/>
                <a:gd name="connsiteY9" fmla="*/ 1118795 h 1473798"/>
                <a:gd name="connsiteX10" fmla="*/ 172123 w 1333948"/>
                <a:gd name="connsiteY10" fmla="*/ 1473798 h 1473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3948" h="1473798">
                  <a:moveTo>
                    <a:pt x="172123" y="1473798"/>
                  </a:moveTo>
                  <a:lnTo>
                    <a:pt x="1021977" y="1409252"/>
                  </a:lnTo>
                  <a:lnTo>
                    <a:pt x="1151068" y="1183341"/>
                  </a:lnTo>
                  <a:lnTo>
                    <a:pt x="1172584" y="344245"/>
                  </a:lnTo>
                  <a:lnTo>
                    <a:pt x="1333948" y="53788"/>
                  </a:lnTo>
                  <a:lnTo>
                    <a:pt x="1129553" y="0"/>
                  </a:lnTo>
                  <a:lnTo>
                    <a:pt x="677732" y="344245"/>
                  </a:lnTo>
                  <a:lnTo>
                    <a:pt x="301214" y="268941"/>
                  </a:lnTo>
                  <a:lnTo>
                    <a:pt x="86061" y="322729"/>
                  </a:lnTo>
                  <a:lnTo>
                    <a:pt x="0" y="1118795"/>
                  </a:lnTo>
                  <a:lnTo>
                    <a:pt x="172123" y="1473798"/>
                  </a:lnTo>
                  <a:close/>
                </a:path>
              </a:pathLst>
            </a:cu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Box 8"/>
            <p:cNvSpPr txBox="1"/>
            <p:nvPr/>
          </p:nvSpPr>
          <p:spPr>
            <a:xfrm>
              <a:off x="4537950" y="3123804"/>
              <a:ext cx="636586" cy="439588"/>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Source</a:t>
              </a:r>
              <a:b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bucket</a:t>
              </a:r>
            </a:p>
          </p:txBody>
        </p:sp>
        <p:sp>
          <p:nvSpPr>
            <p:cNvPr id="10" name="TextBox 9"/>
            <p:cNvSpPr txBox="1"/>
            <p:nvPr/>
          </p:nvSpPr>
          <p:spPr>
            <a:xfrm>
              <a:off x="4532001" y="5271431"/>
              <a:ext cx="636586" cy="439588"/>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Target</a:t>
              </a:r>
              <a:b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bucket</a:t>
              </a:r>
            </a:p>
          </p:txBody>
        </p:sp>
        <p:sp>
          <p:nvSpPr>
            <p:cNvPr id="18" name="Oval 17"/>
            <p:cNvSpPr>
              <a:spLocks noChangeAspect="1"/>
            </p:cNvSpPr>
            <p:nvPr/>
          </p:nvSpPr>
          <p:spPr>
            <a:xfrm>
              <a:off x="1083418" y="1583451"/>
              <a:ext cx="376247" cy="376247"/>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b="1" dirty="0">
                  <a:solidFill>
                    <a:srgbClr val="F2F2F2"/>
                  </a:solidFill>
                  <a:latin typeface="Amazon Ember" panose="020B0603020204020204" pitchFamily="34" charset="0"/>
                  <a:ea typeface="Amazon Ember" panose="020B0603020204020204" pitchFamily="34" charset="0"/>
                  <a:cs typeface="Amazon Ember" panose="020B0603020204020204" pitchFamily="34" charset="0"/>
                </a:rPr>
                <a:t>1</a:t>
              </a:r>
            </a:p>
          </p:txBody>
        </p:sp>
        <p:sp>
          <p:nvSpPr>
            <p:cNvPr id="20" name="Oval 19"/>
            <p:cNvSpPr>
              <a:spLocks noChangeAspect="1"/>
            </p:cNvSpPr>
            <p:nvPr/>
          </p:nvSpPr>
          <p:spPr>
            <a:xfrm>
              <a:off x="6173614" y="1807832"/>
              <a:ext cx="376247" cy="376247"/>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b="1" dirty="0">
                  <a:solidFill>
                    <a:srgbClr val="F2F2F2"/>
                  </a:solidFill>
                  <a:latin typeface="Amazon Ember" panose="020B0603020204020204" pitchFamily="34" charset="0"/>
                  <a:ea typeface="Amazon Ember" panose="020B0603020204020204" pitchFamily="34" charset="0"/>
                  <a:cs typeface="Amazon Ember" panose="020B0603020204020204" pitchFamily="34" charset="0"/>
                </a:rPr>
                <a:t>3</a:t>
              </a:r>
            </a:p>
          </p:txBody>
        </p:sp>
        <p:sp>
          <p:nvSpPr>
            <p:cNvPr id="24" name="Rectangle 23"/>
            <p:cNvSpPr/>
            <p:nvPr/>
          </p:nvSpPr>
          <p:spPr>
            <a:xfrm>
              <a:off x="5432604" y="3515774"/>
              <a:ext cx="401479" cy="330844"/>
            </a:xfrm>
            <a:prstGeom prst="rect">
              <a:avLst/>
            </a:pr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6" name="Rectangle 25"/>
            <p:cNvSpPr/>
            <p:nvPr/>
          </p:nvSpPr>
          <p:spPr>
            <a:xfrm>
              <a:off x="9364540" y="3813342"/>
              <a:ext cx="471774" cy="330844"/>
            </a:xfrm>
            <a:prstGeom prst="rect">
              <a:avLst/>
            </a:pr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8" name="Rectangle 27"/>
            <p:cNvSpPr/>
            <p:nvPr/>
          </p:nvSpPr>
          <p:spPr>
            <a:xfrm>
              <a:off x="3384051" y="4144187"/>
              <a:ext cx="220980" cy="313318"/>
            </a:xfrm>
            <a:prstGeom prst="rect">
              <a:avLst/>
            </a:pr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71" name="Picture 70">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711436" y="4266249"/>
              <a:ext cx="991431" cy="1147173"/>
            </a:xfrm>
            <a:prstGeom prst="rect">
              <a:avLst/>
            </a:prstGeom>
            <a:noFill/>
            <a:ln w="12700">
              <a:solidFill>
                <a:schemeClr val="tx1"/>
              </a:solidFill>
            </a:ln>
          </p:spPr>
        </p:pic>
        <p:sp>
          <p:nvSpPr>
            <p:cNvPr id="43" name="TextBox 42"/>
            <p:cNvSpPr txBox="1"/>
            <p:nvPr/>
          </p:nvSpPr>
          <p:spPr>
            <a:xfrm>
              <a:off x="7829065" y="4525434"/>
              <a:ext cx="613968" cy="466648"/>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Access</a:t>
              </a:r>
              <a:b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policy</a:t>
              </a:r>
            </a:p>
          </p:txBody>
        </p:sp>
        <p:sp>
          <p:nvSpPr>
            <p:cNvPr id="44" name="TextBox 43"/>
            <p:cNvSpPr txBox="1"/>
            <p:nvPr/>
          </p:nvSpPr>
          <p:spPr>
            <a:xfrm>
              <a:off x="6637785" y="5571367"/>
              <a:ext cx="766964" cy="466648"/>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Lambda</a:t>
              </a:r>
              <a:b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function</a:t>
              </a:r>
            </a:p>
          </p:txBody>
        </p:sp>
        <p:sp>
          <p:nvSpPr>
            <p:cNvPr id="48" name="TextBox 47"/>
            <p:cNvSpPr txBox="1"/>
            <p:nvPr/>
          </p:nvSpPr>
          <p:spPr>
            <a:xfrm>
              <a:off x="1567738" y="2587773"/>
              <a:ext cx="425449" cy="278857"/>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16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User</a:t>
              </a:r>
            </a:p>
          </p:txBody>
        </p:sp>
        <p:pic>
          <p:nvPicPr>
            <p:cNvPr id="51" name="Picture 50">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800000">
              <a:off x="6144276" y="3834205"/>
              <a:ext cx="672682" cy="693486"/>
            </a:xfrm>
            <a:prstGeom prst="rect">
              <a:avLst/>
            </a:prstGeom>
          </p:spPr>
        </p:pic>
        <p:sp>
          <p:nvSpPr>
            <p:cNvPr id="22" name="Oval 21"/>
            <p:cNvSpPr>
              <a:spLocks noChangeAspect="1"/>
            </p:cNvSpPr>
            <p:nvPr/>
          </p:nvSpPr>
          <p:spPr>
            <a:xfrm>
              <a:off x="6846788" y="3932906"/>
              <a:ext cx="376247" cy="376247"/>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b="1" dirty="0">
                  <a:solidFill>
                    <a:srgbClr val="F2F2F2"/>
                  </a:solidFill>
                  <a:latin typeface="Amazon Ember" panose="020B0603020204020204" pitchFamily="34" charset="0"/>
                  <a:ea typeface="Amazon Ember" panose="020B0603020204020204" pitchFamily="34" charset="0"/>
                  <a:cs typeface="Amazon Ember" panose="020B0603020204020204" pitchFamily="34" charset="0"/>
                </a:rPr>
                <a:t>5</a:t>
              </a:r>
            </a:p>
          </p:txBody>
        </p:sp>
        <p:sp>
          <p:nvSpPr>
            <p:cNvPr id="11" name="TextBox 10"/>
            <p:cNvSpPr txBox="1"/>
            <p:nvPr/>
          </p:nvSpPr>
          <p:spPr>
            <a:xfrm>
              <a:off x="6570821" y="3027287"/>
              <a:ext cx="1151736" cy="330844"/>
            </a:xfrm>
            <a:prstGeom prst="rect">
              <a:avLst/>
            </a:prstGeom>
            <a:noFill/>
          </p:spPr>
          <p:txBody>
            <a:bodyPr wrap="none" lIns="0" tIns="0" rIns="0" bIns="0" rtlCol="0">
              <a:noAutofit/>
            </a:bodyPr>
            <a:lstStyle>
              <a:defPPr>
                <a:defRPr lang="en-US"/>
              </a:defPPr>
              <a:lvl1pPr algn="ctr">
                <a:defRPr sz="1400">
                  <a:latin typeface="Amazon Ember" panose="02000000000000000000" pitchFamily="2" charset="0"/>
                  <a:ea typeface="Amazon Ember" panose="02000000000000000000" pitchFamily="2" charset="0"/>
                </a:defRPr>
              </a:lvl1pPr>
            </a:lstStyle>
            <a:p>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Lambda</a:t>
              </a:r>
            </a:p>
          </p:txBody>
        </p:sp>
        <p:cxnSp>
          <p:nvCxnSpPr>
            <p:cNvPr id="35" name="Straight Arrow Connector 34"/>
            <p:cNvCxnSpPr/>
            <p:nvPr/>
          </p:nvCxnSpPr>
          <p:spPr>
            <a:xfrm>
              <a:off x="2376126" y="2044533"/>
              <a:ext cx="2305827" cy="0"/>
            </a:xfrm>
            <a:prstGeom prst="straightConnector1">
              <a:avLst/>
            </a:prstGeom>
            <a:ln w="28575">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pic>
          <p:nvPicPr>
            <p:cNvPr id="56" name="Picture 55">
              <a:extLs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flipH="1">
              <a:off x="1225620" y="1675210"/>
              <a:ext cx="1311808" cy="912563"/>
            </a:xfrm>
            <a:prstGeom prst="rect">
              <a:avLst/>
            </a:prstGeom>
          </p:spPr>
        </p:pic>
        <p:sp>
          <p:nvSpPr>
            <p:cNvPr id="67" name="Freeform 66"/>
            <p:cNvSpPr/>
            <p:nvPr/>
          </p:nvSpPr>
          <p:spPr bwMode="auto">
            <a:xfrm>
              <a:off x="7805826" y="2399223"/>
              <a:ext cx="1195621" cy="2819400"/>
            </a:xfrm>
            <a:custGeom>
              <a:avLst/>
              <a:gdLst>
                <a:gd name="connsiteX0" fmla="*/ 0 w 584200"/>
                <a:gd name="connsiteY0" fmla="*/ 0 h 2819400"/>
                <a:gd name="connsiteX1" fmla="*/ 584200 w 584200"/>
                <a:gd name="connsiteY1" fmla="*/ 0 h 2819400"/>
                <a:gd name="connsiteX2" fmla="*/ 584200 w 584200"/>
                <a:gd name="connsiteY2" fmla="*/ 2819400 h 2819400"/>
                <a:gd name="connsiteX3" fmla="*/ 38100 w 584200"/>
                <a:gd name="connsiteY3" fmla="*/ 2819400 h 2819400"/>
              </a:gdLst>
              <a:ahLst/>
              <a:cxnLst>
                <a:cxn ang="0">
                  <a:pos x="connsiteX0" y="connsiteY0"/>
                </a:cxn>
                <a:cxn ang="0">
                  <a:pos x="connsiteX1" y="connsiteY1"/>
                </a:cxn>
                <a:cxn ang="0">
                  <a:pos x="connsiteX2" y="connsiteY2"/>
                </a:cxn>
                <a:cxn ang="0">
                  <a:pos x="connsiteX3" y="connsiteY3"/>
                </a:cxn>
              </a:cxnLst>
              <a:rect l="l" t="t" r="r" b="b"/>
              <a:pathLst>
                <a:path w="584200" h="2819400">
                  <a:moveTo>
                    <a:pt x="0" y="0"/>
                  </a:moveTo>
                  <a:lnTo>
                    <a:pt x="584200" y="0"/>
                  </a:lnTo>
                  <a:lnTo>
                    <a:pt x="584200" y="2819400"/>
                  </a:lnTo>
                  <a:lnTo>
                    <a:pt x="38100" y="2819400"/>
                  </a:lnTo>
                </a:path>
              </a:pathLst>
            </a:custGeom>
            <a:ln w="28575">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Freeform 24"/>
            <p:cNvSpPr/>
            <p:nvPr/>
          </p:nvSpPr>
          <p:spPr>
            <a:xfrm>
              <a:off x="5680585" y="4209155"/>
              <a:ext cx="806823" cy="1387736"/>
            </a:xfrm>
            <a:custGeom>
              <a:avLst/>
              <a:gdLst>
                <a:gd name="connsiteX0" fmla="*/ 215153 w 806823"/>
                <a:gd name="connsiteY0" fmla="*/ 1366221 h 1387736"/>
                <a:gd name="connsiteX1" fmla="*/ 462579 w 806823"/>
                <a:gd name="connsiteY1" fmla="*/ 1387736 h 1387736"/>
                <a:gd name="connsiteX2" fmla="*/ 742277 w 806823"/>
                <a:gd name="connsiteY2" fmla="*/ 720762 h 1387736"/>
                <a:gd name="connsiteX3" fmla="*/ 806823 w 806823"/>
                <a:gd name="connsiteY3" fmla="*/ 193637 h 1387736"/>
                <a:gd name="connsiteX4" fmla="*/ 677731 w 806823"/>
                <a:gd name="connsiteY4" fmla="*/ 0 h 1387736"/>
                <a:gd name="connsiteX5" fmla="*/ 430306 w 806823"/>
                <a:gd name="connsiteY5" fmla="*/ 215153 h 1387736"/>
                <a:gd name="connsiteX6" fmla="*/ 344244 w 806823"/>
                <a:gd name="connsiteY6" fmla="*/ 559397 h 1387736"/>
                <a:gd name="connsiteX7" fmla="*/ 75303 w 806823"/>
                <a:gd name="connsiteY7" fmla="*/ 763793 h 1387736"/>
                <a:gd name="connsiteX8" fmla="*/ 10757 w 806823"/>
                <a:gd name="connsiteY8" fmla="*/ 968188 h 1387736"/>
                <a:gd name="connsiteX9" fmla="*/ 0 w 806823"/>
                <a:gd name="connsiteY9" fmla="*/ 1344706 h 1387736"/>
                <a:gd name="connsiteX10" fmla="*/ 215153 w 806823"/>
                <a:gd name="connsiteY10" fmla="*/ 1366221 h 138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6823" h="1387736">
                  <a:moveTo>
                    <a:pt x="215153" y="1366221"/>
                  </a:moveTo>
                  <a:lnTo>
                    <a:pt x="462579" y="1387736"/>
                  </a:lnTo>
                  <a:lnTo>
                    <a:pt x="742277" y="720762"/>
                  </a:lnTo>
                  <a:lnTo>
                    <a:pt x="806823" y="193637"/>
                  </a:lnTo>
                  <a:lnTo>
                    <a:pt x="677731" y="0"/>
                  </a:lnTo>
                  <a:lnTo>
                    <a:pt x="430306" y="215153"/>
                  </a:lnTo>
                  <a:lnTo>
                    <a:pt x="344244" y="559397"/>
                  </a:lnTo>
                  <a:lnTo>
                    <a:pt x="75303" y="763793"/>
                  </a:lnTo>
                  <a:lnTo>
                    <a:pt x="10757" y="968188"/>
                  </a:lnTo>
                  <a:lnTo>
                    <a:pt x="0" y="1344706"/>
                  </a:lnTo>
                  <a:lnTo>
                    <a:pt x="215153" y="1366221"/>
                  </a:lnTo>
                  <a:close/>
                </a:path>
              </a:pathLst>
            </a:cu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7" name="Rectangle 26"/>
            <p:cNvSpPr/>
            <p:nvPr/>
          </p:nvSpPr>
          <p:spPr>
            <a:xfrm>
              <a:off x="5733850" y="4291149"/>
              <a:ext cx="318770" cy="390893"/>
            </a:xfrm>
            <a:prstGeom prst="rect">
              <a:avLst/>
            </a:prstGeom>
            <a:noFill/>
          </p:spPr>
          <p:txBody>
            <a:bodyPr wrap="none" lIns="0" tIns="0" rIns="0" bIns="0" rtlCol="0">
              <a:noAutofit/>
            </a:bodyPr>
            <a:lstStyle/>
            <a:p>
              <a:pPr algn="ctr"/>
              <a:endParaRPr lang="en-US" sz="1400"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3" name="Picture 52">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900000">
              <a:off x="5745356" y="3743796"/>
              <a:ext cx="478970" cy="493782"/>
            </a:xfrm>
            <a:prstGeom prst="rect">
              <a:avLst/>
            </a:prstGeom>
          </p:spPr>
        </p:pic>
        <p:pic>
          <p:nvPicPr>
            <p:cNvPr id="52" name="Picture 51">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29649" y="3875473"/>
              <a:ext cx="304201" cy="313609"/>
            </a:xfrm>
            <a:prstGeom prst="rect">
              <a:avLst/>
            </a:prstGeom>
          </p:spPr>
        </p:pic>
        <p:pic>
          <p:nvPicPr>
            <p:cNvPr id="54" name="Picture 53">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9800000">
              <a:off x="5194879" y="4047865"/>
              <a:ext cx="220360" cy="227175"/>
            </a:xfrm>
            <a:prstGeom prst="rect">
              <a:avLst/>
            </a:prstGeom>
          </p:spPr>
        </p:pic>
        <p:sp>
          <p:nvSpPr>
            <p:cNvPr id="19" name="Oval 18"/>
            <p:cNvSpPr>
              <a:spLocks noChangeAspect="1"/>
            </p:cNvSpPr>
            <p:nvPr/>
          </p:nvSpPr>
          <p:spPr>
            <a:xfrm>
              <a:off x="3857358" y="1853242"/>
              <a:ext cx="376247" cy="376247"/>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b="1" dirty="0">
                  <a:solidFill>
                    <a:srgbClr val="F2F2F2"/>
                  </a:solidFill>
                  <a:latin typeface="Amazon Ember" panose="020B0603020204020204" pitchFamily="34" charset="0"/>
                  <a:ea typeface="Amazon Ember" panose="020B0603020204020204" pitchFamily="34" charset="0"/>
                  <a:cs typeface="Amazon Ember" panose="020B0603020204020204" pitchFamily="34" charset="0"/>
                </a:rPr>
                <a:t>2</a:t>
              </a:r>
            </a:p>
          </p:txBody>
        </p:sp>
        <p:pic>
          <p:nvPicPr>
            <p:cNvPr id="16" name="Picture 15">
              <a:extLs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15067" y="1853242"/>
              <a:ext cx="672682" cy="693486"/>
            </a:xfrm>
            <a:prstGeom prst="rect">
              <a:avLst/>
            </a:prstGeom>
          </p:spPr>
        </p:pic>
        <p:cxnSp>
          <p:nvCxnSpPr>
            <p:cNvPr id="73" name="Straight Arrow Connector 72"/>
            <p:cNvCxnSpPr/>
            <p:nvPr/>
          </p:nvCxnSpPr>
          <p:spPr>
            <a:xfrm>
              <a:off x="5429649" y="2400639"/>
              <a:ext cx="1221747" cy="0"/>
            </a:xfrm>
            <a:prstGeom prst="straightConnector1">
              <a:avLst/>
            </a:prstGeom>
            <a:ln w="28575">
              <a:solidFill>
                <a:schemeClr val="tx1"/>
              </a:solidFill>
              <a:prstDash val="sysDot"/>
              <a:headEnd type="none"/>
              <a:tailEnd type="triangle"/>
            </a:ln>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CE7F7081-419C-2E4F-A999-2923C4338FC0}"/>
                </a:ext>
              </a:extLst>
            </p:cNvPr>
            <p:cNvSpPr/>
            <p:nvPr/>
          </p:nvSpPr>
          <p:spPr>
            <a:xfrm>
              <a:off x="2653092" y="1358074"/>
              <a:ext cx="7183221" cy="485165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l"/>
              <a:r>
                <a:rPr lang="en-US"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AWS Cloud</a:t>
              </a:r>
            </a:p>
          </p:txBody>
        </p:sp>
        <p:pic>
          <p:nvPicPr>
            <p:cNvPr id="84" name="Graphic 11">
              <a:extLst>
                <a:ext uri="{FF2B5EF4-FFF2-40B4-BE49-F238E27FC236}">
                  <a16:creationId xmlns:a16="http://schemas.microsoft.com/office/drawing/2014/main" id="{CE52C9D7-11B0-9E41-AB16-2C9849C3ECBE}"/>
                </a:ext>
                <a:ext uri="{C183D7F6-B498-43B3-948B-1728B52AA6E4}">
                  <adec:decorative xmlns:adec="http://schemas.microsoft.com/office/drawing/2017/decorative" val="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53093" y="1358075"/>
              <a:ext cx="330200" cy="330200"/>
            </a:xfrm>
            <a:prstGeom prst="rect">
              <a:avLst/>
            </a:prstGeom>
          </p:spPr>
        </p:pic>
        <p:pic>
          <p:nvPicPr>
            <p:cNvPr id="85" name="Graphic 38">
              <a:extLst>
                <a:ext uri="{FF2B5EF4-FFF2-40B4-BE49-F238E27FC236}">
                  <a16:creationId xmlns:a16="http://schemas.microsoft.com/office/drawing/2014/main" id="{D5E5831E-982F-7A42-87F0-F1973D84D2A9}"/>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70885" y="1824008"/>
              <a:ext cx="1270484" cy="1270484"/>
            </a:xfrm>
            <a:prstGeom prst="rect">
              <a:avLst/>
            </a:prstGeom>
          </p:spPr>
        </p:pic>
        <p:pic>
          <p:nvPicPr>
            <p:cNvPr id="87" name="Graphic 6">
              <a:extLst>
                <a:ext uri="{FF2B5EF4-FFF2-40B4-BE49-F238E27FC236}">
                  <a16:creationId xmlns:a16="http://schemas.microsoft.com/office/drawing/2014/main" id="{C49A3931-131E-124F-9BCB-3817111B7D0E}"/>
                </a:ext>
                <a:ext uri="{C183D7F6-B498-43B3-948B-1728B52AA6E4}">
                  <adec:decorative xmlns:adec="http://schemas.microsoft.com/office/drawing/2017/decorative" val="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67032" y="1907974"/>
              <a:ext cx="1030148" cy="1030148"/>
            </a:xfrm>
            <a:prstGeom prst="rect">
              <a:avLst/>
            </a:prstGeom>
          </p:spPr>
        </p:pic>
        <p:pic>
          <p:nvPicPr>
            <p:cNvPr id="88" name="Graphic 42">
              <a:extLst>
                <a:ext uri="{FF2B5EF4-FFF2-40B4-BE49-F238E27FC236}">
                  <a16:creationId xmlns:a16="http://schemas.microsoft.com/office/drawing/2014/main" id="{4130D902-988A-C441-B94E-F5D6D001FFBA}"/>
                </a:ext>
                <a:ext uri="{C183D7F6-B498-43B3-948B-1728B52AA6E4}">
                  <adec:decorative xmlns:adec="http://schemas.microsoft.com/office/drawing/2017/decorative" val="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42412" y="4634279"/>
              <a:ext cx="933732" cy="933732"/>
            </a:xfrm>
            <a:prstGeom prst="rect">
              <a:avLst/>
            </a:prstGeom>
            <a:solidFill>
              <a:schemeClr val="bg1"/>
            </a:solidFill>
          </p:spPr>
        </p:pic>
        <p:sp>
          <p:nvSpPr>
            <p:cNvPr id="5" name="Rectangle 4">
              <a:extLst>
                <a:ext uri="{C183D7F6-B498-43B3-948B-1728B52AA6E4}">
                  <adec:decorative xmlns:adec="http://schemas.microsoft.com/office/drawing/2017/decorative" val="0"/>
                </a:ext>
              </a:extLst>
            </p:cNvPr>
            <p:cNvSpPr/>
            <p:nvPr/>
          </p:nvSpPr>
          <p:spPr>
            <a:xfrm>
              <a:off x="8429263" y="3192709"/>
              <a:ext cx="1151736" cy="5911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89" name="Graphic 54">
              <a:extLst>
                <a:ext uri="{FF2B5EF4-FFF2-40B4-BE49-F238E27FC236}">
                  <a16:creationId xmlns:a16="http://schemas.microsoft.com/office/drawing/2014/main" id="{50E1591F-DA4C-934C-BDCB-2E69767A65B3}"/>
                </a:ext>
                <a:ext uri="{C183D7F6-B498-43B3-948B-1728B52AA6E4}">
                  <adec:decorative xmlns:adec="http://schemas.microsoft.com/office/drawing/2017/decorative" val="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59539" y="3013721"/>
              <a:ext cx="1010242" cy="1010242"/>
            </a:xfrm>
            <a:prstGeom prst="rect">
              <a:avLst/>
            </a:prstGeom>
            <a:noFill/>
          </p:spPr>
        </p:pic>
        <p:sp>
          <p:nvSpPr>
            <p:cNvPr id="21" name="Oval 20"/>
            <p:cNvSpPr>
              <a:spLocks noChangeAspect="1"/>
            </p:cNvSpPr>
            <p:nvPr/>
          </p:nvSpPr>
          <p:spPr>
            <a:xfrm>
              <a:off x="9311933" y="3072486"/>
              <a:ext cx="376247" cy="376247"/>
            </a:xfrm>
            <a:prstGeom prst="ellipse">
              <a:avLst/>
            </a:prstGeom>
            <a:solidFill>
              <a:srgbClr val="000000"/>
            </a:solidFill>
            <a:ln w="63500" cap="flat" cmpd="dbl">
              <a:solidFill>
                <a:schemeClr val="bg1"/>
              </a:solidFill>
              <a:round/>
            </a:ln>
            <a:effectLst>
              <a:outerShdw blurRad="50800" dist="38100" dir="2700000" algn="tl" rotWithShape="0">
                <a:prstClr val="black">
                  <a:alpha val="40000"/>
                </a:prstClr>
              </a:outerShdw>
            </a:effectLst>
          </p:spPr>
          <p:style>
            <a:lnRef idx="0">
              <a:schemeClr val="accent6"/>
            </a:lnRef>
            <a:fillRef idx="3">
              <a:schemeClr val="accent6"/>
            </a:fillRef>
            <a:effectRef idx="3">
              <a:schemeClr val="accent6"/>
            </a:effectRef>
            <a:fontRef idx="minor">
              <a:schemeClr val="lt1"/>
            </a:fontRef>
          </p:style>
          <p:txBody>
            <a:bodyPr anchor="ctr"/>
            <a:lstStyle/>
            <a:p>
              <a:pPr algn="ctr">
                <a:defRPr/>
              </a:pPr>
              <a:r>
                <a:rPr lang="en-US" b="1" dirty="0">
                  <a:solidFill>
                    <a:srgbClr val="F2F2F2"/>
                  </a:solidFill>
                  <a:latin typeface="Amazon Ember" panose="020B0603020204020204" pitchFamily="34" charset="0"/>
                  <a:ea typeface="Amazon Ember" panose="020B0603020204020204" pitchFamily="34" charset="0"/>
                  <a:cs typeface="Amazon Ember" panose="020B0603020204020204" pitchFamily="34" charset="0"/>
                </a:rPr>
                <a:t>4</a:t>
              </a:r>
            </a:p>
          </p:txBody>
        </p:sp>
        <p:sp>
          <p:nvSpPr>
            <p:cNvPr id="12" name="TextBox 11"/>
            <p:cNvSpPr txBox="1"/>
            <p:nvPr/>
          </p:nvSpPr>
          <p:spPr>
            <a:xfrm>
              <a:off x="8429263" y="3783902"/>
              <a:ext cx="1151736" cy="604670"/>
            </a:xfrm>
            <a:prstGeom prst="rect">
              <a:avLst/>
            </a:prstGeom>
            <a:solidFill>
              <a:schemeClr val="bg1"/>
            </a:solidFill>
          </p:spPr>
          <p:txBody>
            <a:bodyPr wrap="none" lIns="0" tIns="0" rIns="0" bIns="0" rtlCol="0">
              <a:noAutofit/>
            </a:bodyPr>
            <a:lstStyle/>
            <a:p>
              <a:pPr algn="ct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Execution</a:t>
              </a:r>
              <a:b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br>
              <a:r>
                <a:rPr lang="en-US" sz="2000"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role</a:t>
              </a:r>
            </a:p>
          </p:txBody>
        </p:sp>
      </p:grpSp>
    </p:spTree>
    <p:custDataLst>
      <p:tags r:id="rId1"/>
    </p:custDataLst>
    <p:extLst>
      <p:ext uri="{BB962C8B-B14F-4D97-AF65-F5344CB8AC3E}">
        <p14:creationId xmlns:p14="http://schemas.microsoft.com/office/powerpoint/2010/main" val="15874312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64</a:t>
            </a:fld>
            <a:endParaRPr lang="en-US" dirty="0"/>
          </a:p>
        </p:txBody>
      </p:sp>
      <p:sp>
        <p:nvSpPr>
          <p:cNvPr id="2" name="Title 1"/>
          <p:cNvSpPr>
            <a:spLocks noGrp="1"/>
          </p:cNvSpPr>
          <p:nvPr>
            <p:ph type="title"/>
          </p:nvPr>
        </p:nvSpPr>
        <p:spPr/>
        <p:txBody>
          <a:bodyPr/>
          <a:lstStyle/>
          <a:p>
            <a:r>
              <a:rPr lang="en-US" dirty="0"/>
              <a:t>AWS Lambda quotas</a:t>
            </a:r>
          </a:p>
        </p:txBody>
      </p:sp>
      <p:sp>
        <p:nvSpPr>
          <p:cNvPr id="12" name="Content Placeholder 11">
            <a:extLst>
              <a:ext uri="{FF2B5EF4-FFF2-40B4-BE49-F238E27FC236}">
                <a16:creationId xmlns:a16="http://schemas.microsoft.com/office/drawing/2014/main" id="{5AAA9C38-4E8A-E646-8CA1-132D58158177}"/>
              </a:ext>
            </a:extLst>
          </p:cNvPr>
          <p:cNvSpPr>
            <a:spLocks noGrp="1"/>
          </p:cNvSpPr>
          <p:nvPr>
            <p:ph sz="quarter" idx="21"/>
          </p:nvPr>
        </p:nvSpPr>
        <p:spPr/>
        <p:txBody>
          <a:bodyPr>
            <a:normAutofit lnSpcReduction="10000"/>
          </a:bodyPr>
          <a:lstStyle/>
          <a:p>
            <a:pPr marL="0" indent="0">
              <a:buNone/>
            </a:pPr>
            <a:r>
              <a:rPr lang="en-US" sz="2400" dirty="0"/>
              <a:t>Soft limits per Region:</a:t>
            </a:r>
          </a:p>
          <a:p>
            <a:r>
              <a:rPr lang="en-US" sz="2000" dirty="0"/>
              <a:t>Concurrent executions = 1,000</a:t>
            </a:r>
          </a:p>
          <a:p>
            <a:r>
              <a:rPr lang="en-US" sz="2000" dirty="0"/>
              <a:t>Function and layer storage = 75 GB</a:t>
            </a:r>
          </a:p>
          <a:p>
            <a:pPr marL="0" indent="0">
              <a:buNone/>
            </a:pPr>
            <a:endParaRPr lang="en-US" sz="1800" dirty="0"/>
          </a:p>
          <a:p>
            <a:pPr marL="0" indent="0">
              <a:buNone/>
            </a:pPr>
            <a:r>
              <a:rPr lang="en-US" sz="2400" dirty="0"/>
              <a:t>Hard limits for individual functions:</a:t>
            </a:r>
          </a:p>
          <a:p>
            <a:r>
              <a:rPr lang="en-US" sz="2000" dirty="0"/>
              <a:t>Maximum function memory allocation = 10,240 MB</a:t>
            </a:r>
          </a:p>
          <a:p>
            <a:r>
              <a:rPr lang="en-US" sz="2000" dirty="0"/>
              <a:t>Function timeout = 15 minutes</a:t>
            </a:r>
          </a:p>
          <a:p>
            <a:r>
              <a:rPr lang="en-US" sz="2000" dirty="0"/>
              <a:t>Deployment package size = 250 MB unzipped, including layers</a:t>
            </a:r>
          </a:p>
          <a:p>
            <a:r>
              <a:rPr lang="en-US" sz="2000" dirty="0"/>
              <a:t>Container image code package size = 10 GB</a:t>
            </a:r>
          </a:p>
          <a:p>
            <a:pPr marL="0" indent="0">
              <a:buNone/>
            </a:pPr>
            <a:endParaRPr lang="en-US" sz="2400" dirty="0"/>
          </a:p>
          <a:p>
            <a:pPr marL="0" indent="0">
              <a:buNone/>
            </a:pPr>
            <a:r>
              <a:rPr lang="en-US" sz="2000" dirty="0"/>
              <a:t>Additional limits also exist. Details are in </a:t>
            </a:r>
            <a:r>
              <a:rPr lang="en-US" sz="2000" dirty="0">
                <a:solidFill>
                  <a:srgbClr val="232F3E"/>
                </a:solidFill>
              </a:rPr>
              <a:t>the AWS Lambda quotas documentation </a:t>
            </a:r>
            <a:r>
              <a:rPr lang="en-US" sz="2000" dirty="0"/>
              <a:t>at </a:t>
            </a:r>
            <a:r>
              <a:rPr lang="en-GB" sz="2000" dirty="0">
                <a:hlinkClick r:id="rId4"/>
              </a:rPr>
              <a:t>https://</a:t>
            </a:r>
            <a:r>
              <a:rPr lang="en-GB" sz="2000" dirty="0" err="1">
                <a:hlinkClick r:id="rId4"/>
              </a:rPr>
              <a:t>docs.aws.amazon.com</a:t>
            </a:r>
            <a:r>
              <a:rPr lang="en-GB" sz="2000" dirty="0">
                <a:hlinkClick r:id="rId4"/>
              </a:rPr>
              <a:t>/lambda/latest/dg/</a:t>
            </a:r>
            <a:r>
              <a:rPr lang="en-GB" sz="2000" dirty="0" err="1">
                <a:hlinkClick r:id="rId4"/>
              </a:rPr>
              <a:t>gettingstarted-limits.html</a:t>
            </a:r>
            <a:r>
              <a:rPr lang="en-US" sz="2000" dirty="0"/>
              <a:t>.</a:t>
            </a:r>
          </a:p>
        </p:txBody>
      </p:sp>
    </p:spTree>
    <p:custDataLst>
      <p:tags r:id="rId1"/>
    </p:custDataLst>
    <p:extLst>
      <p:ext uri="{BB962C8B-B14F-4D97-AF65-F5344CB8AC3E}">
        <p14:creationId xmlns:p14="http://schemas.microsoft.com/office/powerpoint/2010/main" val="399030282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65</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dirty="0"/>
              <a:t>Section 5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pPr>
              <a:lnSpc>
                <a:spcPct val="100000"/>
              </a:lnSpc>
              <a:spcBef>
                <a:spcPts val="1200"/>
              </a:spcBef>
              <a:spcAft>
                <a:spcPts val="1200"/>
              </a:spcAft>
            </a:pPr>
            <a:r>
              <a:rPr lang="en-US" sz="2000" b="1" dirty="0">
                <a:solidFill>
                  <a:srgbClr val="504BAB"/>
                </a:solidFill>
              </a:rPr>
              <a:t>Serverless</a:t>
            </a:r>
            <a:r>
              <a:rPr lang="en-US" sz="2000" b="1" dirty="0">
                <a:solidFill>
                  <a:schemeClr val="accent5"/>
                </a:solidFill>
              </a:rPr>
              <a:t> </a:t>
            </a:r>
            <a:r>
              <a:rPr lang="en-US" sz="2000" b="1" dirty="0">
                <a:solidFill>
                  <a:srgbClr val="504BAB"/>
                </a:solidFill>
              </a:rPr>
              <a:t>computing</a:t>
            </a:r>
            <a:r>
              <a:rPr lang="en-US" sz="2000" dirty="0"/>
              <a:t> enables you to build and run applications and services without provisioning or managing servers. </a:t>
            </a:r>
          </a:p>
          <a:p>
            <a:pPr>
              <a:lnSpc>
                <a:spcPct val="100000"/>
              </a:lnSpc>
              <a:spcBef>
                <a:spcPts val="1200"/>
              </a:spcBef>
              <a:spcAft>
                <a:spcPts val="1200"/>
              </a:spcAft>
            </a:pPr>
            <a:r>
              <a:rPr lang="en-US" sz="2000" b="1" dirty="0">
                <a:solidFill>
                  <a:srgbClr val="504BAB"/>
                </a:solidFill>
              </a:rPr>
              <a:t>AWS Lambda is a serverless compute service </a:t>
            </a:r>
            <a:r>
              <a:rPr lang="en-US" sz="2000" dirty="0"/>
              <a:t>that provides built-in fault tolerance and automatic scaling.</a:t>
            </a:r>
          </a:p>
          <a:p>
            <a:pPr>
              <a:lnSpc>
                <a:spcPct val="100000"/>
              </a:lnSpc>
              <a:spcBef>
                <a:spcPts val="1200"/>
              </a:spcBef>
              <a:spcAft>
                <a:spcPts val="1200"/>
              </a:spcAft>
            </a:pPr>
            <a:r>
              <a:rPr lang="en-US" sz="2000" dirty="0"/>
              <a:t>An </a:t>
            </a:r>
            <a:r>
              <a:rPr lang="en-US" sz="2000" b="1" dirty="0">
                <a:solidFill>
                  <a:srgbClr val="504BAB"/>
                </a:solidFill>
              </a:rPr>
              <a:t>event</a:t>
            </a:r>
            <a:r>
              <a:rPr lang="en-US" sz="2000" b="1" dirty="0">
                <a:solidFill>
                  <a:schemeClr val="accent5"/>
                </a:solidFill>
              </a:rPr>
              <a:t> </a:t>
            </a:r>
            <a:r>
              <a:rPr lang="en-US" sz="2000" b="1" dirty="0">
                <a:solidFill>
                  <a:srgbClr val="504BAB"/>
                </a:solidFill>
              </a:rPr>
              <a:t>source</a:t>
            </a:r>
            <a:r>
              <a:rPr lang="en-US" sz="2000" b="1" dirty="0"/>
              <a:t> </a:t>
            </a:r>
            <a:r>
              <a:rPr lang="en-US" sz="2000" dirty="0"/>
              <a:t>is an AWS service or developer-created application that triggers a Lambda function to run. </a:t>
            </a:r>
          </a:p>
          <a:p>
            <a:pPr>
              <a:lnSpc>
                <a:spcPct val="100000"/>
              </a:lnSpc>
              <a:spcBef>
                <a:spcPts val="1200"/>
              </a:spcBef>
              <a:spcAft>
                <a:spcPts val="1200"/>
              </a:spcAft>
            </a:pPr>
            <a:r>
              <a:rPr lang="en-US" sz="2000" dirty="0"/>
              <a:t>The maximum memory allocation for a single Lambda function is 10,240 MB. </a:t>
            </a:r>
          </a:p>
          <a:p>
            <a:pPr>
              <a:lnSpc>
                <a:spcPct val="100000"/>
              </a:lnSpc>
              <a:spcBef>
                <a:spcPts val="1200"/>
              </a:spcBef>
              <a:spcAft>
                <a:spcPts val="1200"/>
              </a:spcAft>
            </a:pPr>
            <a:r>
              <a:rPr lang="en-US" sz="2000" dirty="0"/>
              <a:t>The maximum run time for a Lambda function is 15 minutes.</a:t>
            </a:r>
          </a:p>
          <a:p>
            <a:endParaRPr lang="en-US" sz="2000" dirty="0"/>
          </a:p>
          <a:p>
            <a:endParaRPr lang="en-US" sz="2000" dirty="0"/>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10820461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0"/>
              </a:ext>
            </a:extLst>
          </p:cNvPr>
          <p:cNvSpPr>
            <a:spLocks noGrp="1"/>
          </p:cNvSpPr>
          <p:nvPr>
            <p:ph type="title"/>
          </p:nvPr>
        </p:nvSpPr>
        <p:spPr/>
        <p:txBody>
          <a:bodyPr>
            <a:noAutofit/>
          </a:bodyPr>
          <a:lstStyle/>
          <a:p>
            <a:r>
              <a:rPr lang="en-US" sz="4000" dirty="0"/>
              <a:t>Section 6: Introduction to AWS Elastic Beanstalk</a:t>
            </a:r>
          </a:p>
        </p:txBody>
      </p:sp>
      <p:sp>
        <p:nvSpPr>
          <p:cNvPr id="5" name="Text Placeholder 4">
            <a:extLst>
              <a:ext uri="{FF2B5EF4-FFF2-40B4-BE49-F238E27FC236}">
                <a16:creationId xmlns:a16="http://schemas.microsoft.com/office/drawing/2014/main" id="{8224D0A7-8E45-B746-A2B9-276C87DCAD0E}"/>
              </a:ext>
            </a:extLst>
          </p:cNvPr>
          <p:cNvSpPr>
            <a:spLocks noGrp="1"/>
          </p:cNvSpPr>
          <p:nvPr>
            <p:ph type="subTitle" idx="1"/>
          </p:nvPr>
        </p:nvSpPr>
        <p:spPr/>
        <p:txBody>
          <a:bodyPr>
            <a:normAutofit/>
          </a:bodyPr>
          <a:lstStyle/>
          <a:p>
            <a:r>
              <a:rPr lang="en-US" dirty="0"/>
              <a:t>Module 6: Compute</a:t>
            </a:r>
          </a:p>
        </p:txBody>
      </p:sp>
    </p:spTree>
    <p:custDataLst>
      <p:tags r:id="rId1"/>
    </p:custDataLst>
    <p:extLst>
      <p:ext uri="{BB962C8B-B14F-4D97-AF65-F5344CB8AC3E}">
        <p14:creationId xmlns:p14="http://schemas.microsoft.com/office/powerpoint/2010/main" val="8157849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2889506-A42F-3C4F-B456-06704922FBDC}"/>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67</a:t>
            </a:fld>
            <a:endParaRPr lang="en-US" dirty="0"/>
          </a:p>
        </p:txBody>
      </p:sp>
      <p:sp>
        <p:nvSpPr>
          <p:cNvPr id="2" name="Title 1"/>
          <p:cNvSpPr>
            <a:spLocks noGrp="1"/>
          </p:cNvSpPr>
          <p:nvPr>
            <p:ph type="title"/>
          </p:nvPr>
        </p:nvSpPr>
        <p:spPr/>
        <p:txBody>
          <a:bodyPr/>
          <a:lstStyle/>
          <a:p>
            <a:r>
              <a:rPr lang="en-US" dirty="0"/>
              <a:t>AWS Elastic Beanstalk</a:t>
            </a:r>
          </a:p>
        </p:txBody>
      </p:sp>
      <p:sp>
        <p:nvSpPr>
          <p:cNvPr id="3" name="Content Placeholder 2"/>
          <p:cNvSpPr>
            <a:spLocks noGrp="1"/>
          </p:cNvSpPr>
          <p:nvPr>
            <p:ph sz="quarter" idx="21"/>
          </p:nvPr>
        </p:nvSpPr>
        <p:spPr>
          <a:xfrm>
            <a:off x="3508310" y="1143000"/>
            <a:ext cx="8445340" cy="5291750"/>
          </a:xfrm>
        </p:spPr>
        <p:txBody>
          <a:bodyPr>
            <a:normAutofit fontScale="92500" lnSpcReduction="10000"/>
          </a:bodyPr>
          <a:lstStyle/>
          <a:p>
            <a:r>
              <a:rPr lang="en-US" sz="2400" dirty="0"/>
              <a:t>An easy way to get </a:t>
            </a:r>
            <a:r>
              <a:rPr lang="en-US" sz="2400" b="1" dirty="0">
                <a:solidFill>
                  <a:srgbClr val="504BAB"/>
                </a:solidFill>
              </a:rPr>
              <a:t>web applications </a:t>
            </a:r>
            <a:r>
              <a:rPr lang="en-US" sz="2400" dirty="0"/>
              <a:t>up and running</a:t>
            </a:r>
          </a:p>
          <a:p>
            <a:pPr marL="227012" lvl="1" indent="0">
              <a:buNone/>
            </a:pPr>
            <a:endParaRPr lang="en-US" sz="2000" dirty="0"/>
          </a:p>
          <a:p>
            <a:r>
              <a:rPr lang="en-US" sz="2400" dirty="0"/>
              <a:t>A </a:t>
            </a:r>
            <a:r>
              <a:rPr lang="en-US" sz="2400" b="1" dirty="0">
                <a:solidFill>
                  <a:srgbClr val="504BAB"/>
                </a:solidFill>
              </a:rPr>
              <a:t>managed service </a:t>
            </a:r>
            <a:r>
              <a:rPr lang="en-US" sz="2400" dirty="0"/>
              <a:t>that automatically handles – </a:t>
            </a:r>
            <a:endParaRPr lang="en-US" dirty="0"/>
          </a:p>
          <a:p>
            <a:pPr lvl="1"/>
            <a:r>
              <a:rPr lang="en-US" sz="2000" dirty="0"/>
              <a:t>Infrastructure provisioning and configuration</a:t>
            </a:r>
          </a:p>
          <a:p>
            <a:pPr lvl="1"/>
            <a:r>
              <a:rPr lang="en-US" sz="2000" dirty="0"/>
              <a:t>Deployment</a:t>
            </a:r>
          </a:p>
          <a:p>
            <a:pPr lvl="1"/>
            <a:r>
              <a:rPr lang="en-US" sz="2000" dirty="0"/>
              <a:t>Load balancing</a:t>
            </a:r>
          </a:p>
          <a:p>
            <a:pPr lvl="1"/>
            <a:r>
              <a:rPr lang="en-US" sz="2000" dirty="0"/>
              <a:t>Automatic scaling</a:t>
            </a:r>
          </a:p>
          <a:p>
            <a:pPr lvl="1"/>
            <a:r>
              <a:rPr lang="en-US" sz="2000" dirty="0"/>
              <a:t>Health monitoring</a:t>
            </a:r>
          </a:p>
          <a:p>
            <a:pPr lvl="1"/>
            <a:r>
              <a:rPr lang="en-US" sz="2000" dirty="0"/>
              <a:t>Analysis and debugging</a:t>
            </a:r>
          </a:p>
          <a:p>
            <a:pPr lvl="1"/>
            <a:r>
              <a:rPr lang="en-US" sz="2000" dirty="0"/>
              <a:t>Logging</a:t>
            </a:r>
          </a:p>
          <a:p>
            <a:pPr marL="227012" lvl="1" indent="0">
              <a:buNone/>
            </a:pPr>
            <a:endParaRPr lang="en-US" sz="2000" dirty="0"/>
          </a:p>
          <a:p>
            <a:r>
              <a:rPr lang="en-US" sz="2400" dirty="0"/>
              <a:t>No additional charge for Elastic Beanstalk</a:t>
            </a:r>
          </a:p>
          <a:p>
            <a:pPr lvl="1"/>
            <a:r>
              <a:rPr lang="en-US" sz="2000" dirty="0"/>
              <a:t>Pay only for the underlying resources that are used</a:t>
            </a:r>
          </a:p>
        </p:txBody>
      </p:sp>
      <p:sp>
        <p:nvSpPr>
          <p:cNvPr id="12" name="TextBox 11">
            <a:extLst>
              <a:ext uri="{FF2B5EF4-FFF2-40B4-BE49-F238E27FC236}">
                <a16:creationId xmlns:a16="http://schemas.microsoft.com/office/drawing/2014/main" id="{2D4AA567-6A34-5949-AEC2-48B6BAE5F63F}"/>
              </a:ext>
              <a:ext uri="{C183D7F6-B498-43B3-948B-1728B52AA6E4}">
                <adec:decorative xmlns:adec="http://schemas.microsoft.com/office/drawing/2017/decorative" val="1"/>
              </a:ext>
            </a:extLst>
          </p:cNvPr>
          <p:cNvSpPr txBox="1"/>
          <p:nvPr/>
        </p:nvSpPr>
        <p:spPr>
          <a:xfrm>
            <a:off x="847754" y="3952203"/>
            <a:ext cx="2215020" cy="338859"/>
          </a:xfrm>
          <a:prstGeom prst="rect">
            <a:avLst/>
          </a:prstGeom>
          <a:noFill/>
        </p:spPr>
        <p:txBody>
          <a:bodyPr wrap="square" lIns="0" tIns="0" rIns="0" bIns="0" rtlCol="0" anchor="t">
            <a:noAutofit/>
          </a:bodyPr>
          <a:lstStyle/>
          <a:p>
            <a:pPr algn="ctr"/>
            <a:r>
              <a:rPr lang="en-US" sz="2400" b="1" dirty="0"/>
              <a:t>AWS Elastic </a:t>
            </a:r>
          </a:p>
          <a:p>
            <a:pPr algn="ctr"/>
            <a:r>
              <a:rPr lang="en-US" sz="2400" b="1" dirty="0"/>
              <a:t>Beanstalk</a:t>
            </a:r>
          </a:p>
        </p:txBody>
      </p:sp>
      <p:pic>
        <p:nvPicPr>
          <p:cNvPr id="13" name="Graphic 12">
            <a:extLst>
              <a:ext uri="{FF2B5EF4-FFF2-40B4-BE49-F238E27FC236}">
                <a16:creationId xmlns:a16="http://schemas.microsoft.com/office/drawing/2014/main" id="{74324EB1-D323-034D-AA5C-A6CE4AF46CAD}"/>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2158" y="2467257"/>
            <a:ext cx="1298034" cy="1298034"/>
          </a:xfrm>
          <a:prstGeom prst="rect">
            <a:avLst/>
          </a:prstGeom>
        </p:spPr>
      </p:pic>
    </p:spTree>
    <p:custDataLst>
      <p:tags r:id="rId1"/>
    </p:custDataLst>
    <p:extLst>
      <p:ext uri="{BB962C8B-B14F-4D97-AF65-F5344CB8AC3E}">
        <p14:creationId xmlns:p14="http://schemas.microsoft.com/office/powerpoint/2010/main" val="20667966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407E6B3-057C-7E42-A1BF-27142BDF3D2A}"/>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68</a:t>
            </a:fld>
            <a:endParaRPr lang="en-US" dirty="0"/>
          </a:p>
        </p:txBody>
      </p:sp>
      <p:sp>
        <p:nvSpPr>
          <p:cNvPr id="2" name="Title 1"/>
          <p:cNvSpPr>
            <a:spLocks noGrp="1"/>
          </p:cNvSpPr>
          <p:nvPr>
            <p:ph type="title"/>
          </p:nvPr>
        </p:nvSpPr>
        <p:spPr/>
        <p:txBody>
          <a:bodyPr/>
          <a:lstStyle/>
          <a:p>
            <a:r>
              <a:rPr lang="en-US" dirty="0"/>
              <a:t>AWS Elastic Beanstalk deployments</a:t>
            </a:r>
          </a:p>
        </p:txBody>
      </p:sp>
      <p:sp>
        <p:nvSpPr>
          <p:cNvPr id="3" name="Content Placeholder 2"/>
          <p:cNvSpPr>
            <a:spLocks noGrp="1"/>
          </p:cNvSpPr>
          <p:nvPr>
            <p:ph sz="quarter" idx="21"/>
          </p:nvPr>
        </p:nvSpPr>
        <p:spPr>
          <a:xfrm>
            <a:off x="365760" y="1143000"/>
            <a:ext cx="5648560" cy="5291750"/>
          </a:xfrm>
        </p:spPr>
        <p:txBody>
          <a:bodyPr>
            <a:normAutofit/>
          </a:bodyPr>
          <a:lstStyle/>
          <a:p>
            <a:r>
              <a:rPr lang="en-US" dirty="0"/>
              <a:t>It supports web applications written for common platforms </a:t>
            </a:r>
          </a:p>
          <a:p>
            <a:pPr lvl="1"/>
            <a:r>
              <a:rPr lang="en-US" b="1" dirty="0">
                <a:solidFill>
                  <a:srgbClr val="504BAB"/>
                </a:solidFill>
              </a:rPr>
              <a:t>Java</a:t>
            </a:r>
            <a:r>
              <a:rPr lang="en-US" dirty="0"/>
              <a:t>, </a:t>
            </a:r>
            <a:r>
              <a:rPr lang="en-US" b="1" dirty="0">
                <a:solidFill>
                  <a:srgbClr val="504BAB"/>
                </a:solidFill>
              </a:rPr>
              <a:t>.NET</a:t>
            </a:r>
            <a:r>
              <a:rPr lang="en-US" dirty="0"/>
              <a:t>, </a:t>
            </a:r>
            <a:r>
              <a:rPr lang="en-US" b="1" dirty="0">
                <a:solidFill>
                  <a:srgbClr val="504BAB"/>
                </a:solidFill>
              </a:rPr>
              <a:t>PHP</a:t>
            </a:r>
            <a:r>
              <a:rPr lang="en-US" dirty="0"/>
              <a:t>, </a:t>
            </a:r>
            <a:r>
              <a:rPr lang="en-US" b="1" dirty="0">
                <a:solidFill>
                  <a:srgbClr val="504BAB"/>
                </a:solidFill>
              </a:rPr>
              <a:t>Node.js</a:t>
            </a:r>
            <a:r>
              <a:rPr lang="en-US" dirty="0"/>
              <a:t>, </a:t>
            </a:r>
            <a:r>
              <a:rPr lang="en-US" b="1" dirty="0">
                <a:solidFill>
                  <a:srgbClr val="504BAB"/>
                </a:solidFill>
              </a:rPr>
              <a:t>Python</a:t>
            </a:r>
            <a:r>
              <a:rPr lang="en-US" dirty="0"/>
              <a:t>, </a:t>
            </a:r>
            <a:r>
              <a:rPr lang="en-US" b="1" dirty="0">
                <a:solidFill>
                  <a:srgbClr val="504BAB"/>
                </a:solidFill>
              </a:rPr>
              <a:t>Ruby</a:t>
            </a:r>
            <a:r>
              <a:rPr lang="en-US" dirty="0"/>
              <a:t>, </a:t>
            </a:r>
            <a:r>
              <a:rPr lang="en-US" b="1" dirty="0">
                <a:solidFill>
                  <a:srgbClr val="504BAB"/>
                </a:solidFill>
              </a:rPr>
              <a:t>Go</a:t>
            </a:r>
            <a:r>
              <a:rPr lang="en-US" dirty="0"/>
              <a:t>, and </a:t>
            </a:r>
            <a:r>
              <a:rPr lang="en-US" b="1" dirty="0">
                <a:solidFill>
                  <a:srgbClr val="504BAB"/>
                </a:solidFill>
              </a:rPr>
              <a:t>Docker</a:t>
            </a:r>
          </a:p>
          <a:p>
            <a:pPr marL="227012" lvl="1" indent="0">
              <a:buNone/>
            </a:pPr>
            <a:endParaRPr lang="en-US" dirty="0"/>
          </a:p>
          <a:p>
            <a:r>
              <a:rPr lang="en-US" dirty="0"/>
              <a:t>You upload your code</a:t>
            </a:r>
          </a:p>
          <a:p>
            <a:pPr lvl="1"/>
            <a:r>
              <a:rPr lang="en-US" dirty="0"/>
              <a:t>Elastic Beanstalk automatically handles the deployment</a:t>
            </a:r>
          </a:p>
          <a:p>
            <a:pPr lvl="1"/>
            <a:r>
              <a:rPr lang="en-US" dirty="0"/>
              <a:t>Deploys on servers such as Apache, NGINX, Passenger, Puma, and Microsoft Internet Information Services (IIS)</a:t>
            </a:r>
          </a:p>
        </p:txBody>
      </p:sp>
      <p:grpSp>
        <p:nvGrpSpPr>
          <p:cNvPr id="4" name="Group 3" descr="Diagram shows that AWS manages the host, OS, language interpreter, app server, and http server. At the top the diagram shows that &quot;your code&quot; is managed by you.">
            <a:extLst>
              <a:ext uri="{FF2B5EF4-FFF2-40B4-BE49-F238E27FC236}">
                <a16:creationId xmlns:a16="http://schemas.microsoft.com/office/drawing/2014/main" id="{D4A48AE7-650A-1730-4A5D-E6F9B2AE39C7}"/>
              </a:ext>
            </a:extLst>
          </p:cNvPr>
          <p:cNvGrpSpPr/>
          <p:nvPr/>
        </p:nvGrpSpPr>
        <p:grpSpPr>
          <a:xfrm>
            <a:off x="5771199" y="2471552"/>
            <a:ext cx="5791323" cy="2644013"/>
            <a:chOff x="5771199" y="2471552"/>
            <a:chExt cx="5791323" cy="2644013"/>
          </a:xfrm>
        </p:grpSpPr>
        <p:pic>
          <p:nvPicPr>
            <p:cNvPr id="13" name="Picture 12">
              <a:extLst>
                <a:ext uri="{FF2B5EF4-FFF2-40B4-BE49-F238E27FC236}">
                  <a16:creationId xmlns:a16="http://schemas.microsoft.com/office/drawing/2014/main" id="{EB32E947-36D1-354B-ABE8-AF3D948F557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0373" y="2471552"/>
              <a:ext cx="2462149" cy="2644013"/>
            </a:xfrm>
            <a:prstGeom prst="rect">
              <a:avLst/>
            </a:prstGeom>
          </p:spPr>
        </p:pic>
        <p:sp>
          <p:nvSpPr>
            <p:cNvPr id="14" name="TextBox 13">
              <a:extLst>
                <a:ext uri="{FF2B5EF4-FFF2-40B4-BE49-F238E27FC236}">
                  <a16:creationId xmlns:a16="http://schemas.microsoft.com/office/drawing/2014/main" id="{CDC14727-6DE1-EC43-94D1-8D614ED2B377}"/>
                </a:ext>
              </a:extLst>
            </p:cNvPr>
            <p:cNvSpPr txBox="1"/>
            <p:nvPr/>
          </p:nvSpPr>
          <p:spPr>
            <a:xfrm>
              <a:off x="7969465" y="2569448"/>
              <a:ext cx="1091966" cy="338554"/>
            </a:xfrm>
            <a:prstGeom prst="rect">
              <a:avLst/>
            </a:prstGeom>
            <a:noFill/>
          </p:spPr>
          <p:txBody>
            <a:bodyPr wrap="none" rtlCol="0">
              <a:spAutoFit/>
            </a:bodyPr>
            <a:lstStyle/>
            <a:p>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Your code</a:t>
              </a:r>
            </a:p>
          </p:txBody>
        </p:sp>
        <p:sp>
          <p:nvSpPr>
            <p:cNvPr id="15" name="TextBox 14">
              <a:extLst>
                <a:ext uri="{FF2B5EF4-FFF2-40B4-BE49-F238E27FC236}">
                  <a16:creationId xmlns:a16="http://schemas.microsoft.com/office/drawing/2014/main" id="{F9440FD3-4E5B-C84B-9F04-1941415FAC3D}"/>
                </a:ext>
              </a:extLst>
            </p:cNvPr>
            <p:cNvSpPr txBox="1"/>
            <p:nvPr/>
          </p:nvSpPr>
          <p:spPr>
            <a:xfrm>
              <a:off x="7830474" y="3060589"/>
              <a:ext cx="1269899" cy="338554"/>
            </a:xfrm>
            <a:prstGeom prst="rect">
              <a:avLst/>
            </a:prstGeom>
            <a:noFill/>
          </p:spPr>
          <p:txBody>
            <a:bodyPr wrap="none" rtlCol="0">
              <a:spAutoFit/>
            </a:bodyPr>
            <a:lstStyle/>
            <a:p>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HTTP server</a:t>
              </a:r>
            </a:p>
          </p:txBody>
        </p:sp>
        <p:sp>
          <p:nvSpPr>
            <p:cNvPr id="16" name="TextBox 15">
              <a:extLst>
                <a:ext uri="{FF2B5EF4-FFF2-40B4-BE49-F238E27FC236}">
                  <a16:creationId xmlns:a16="http://schemas.microsoft.com/office/drawing/2014/main" id="{46D939B1-5DAA-9D44-9141-6AF5BBD9D0F3}"/>
                </a:ext>
              </a:extLst>
            </p:cNvPr>
            <p:cNvSpPr txBox="1"/>
            <p:nvPr/>
          </p:nvSpPr>
          <p:spPr>
            <a:xfrm>
              <a:off x="7317513" y="3458028"/>
              <a:ext cx="1786066" cy="338554"/>
            </a:xfrm>
            <a:prstGeom prst="rect">
              <a:avLst/>
            </a:prstGeom>
            <a:noFill/>
          </p:spPr>
          <p:txBody>
            <a:bodyPr wrap="none" rtlCol="0">
              <a:spAutoFit/>
            </a:bodyPr>
            <a:lstStyle/>
            <a:p>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Application server</a:t>
              </a:r>
            </a:p>
          </p:txBody>
        </p:sp>
        <p:sp>
          <p:nvSpPr>
            <p:cNvPr id="17" name="TextBox 16">
              <a:extLst>
                <a:ext uri="{FF2B5EF4-FFF2-40B4-BE49-F238E27FC236}">
                  <a16:creationId xmlns:a16="http://schemas.microsoft.com/office/drawing/2014/main" id="{D29FA687-BEA5-924F-8B96-3CE2D6BFE43B}"/>
                </a:ext>
              </a:extLst>
            </p:cNvPr>
            <p:cNvSpPr txBox="1"/>
            <p:nvPr/>
          </p:nvSpPr>
          <p:spPr>
            <a:xfrm>
              <a:off x="7042715" y="3860000"/>
              <a:ext cx="2077813" cy="338554"/>
            </a:xfrm>
            <a:prstGeom prst="rect">
              <a:avLst/>
            </a:prstGeom>
            <a:noFill/>
          </p:spPr>
          <p:txBody>
            <a:bodyPr wrap="none" rtlCol="0">
              <a:spAutoFit/>
            </a:bodyPr>
            <a:lstStyle/>
            <a:p>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Language interpreter</a:t>
              </a:r>
            </a:p>
          </p:txBody>
        </p:sp>
        <p:sp>
          <p:nvSpPr>
            <p:cNvPr id="18" name="TextBox 17">
              <a:extLst>
                <a:ext uri="{FF2B5EF4-FFF2-40B4-BE49-F238E27FC236}">
                  <a16:creationId xmlns:a16="http://schemas.microsoft.com/office/drawing/2014/main" id="{A228CC6B-485F-4B46-B47C-BE7D399B8AF3}"/>
                </a:ext>
              </a:extLst>
            </p:cNvPr>
            <p:cNvSpPr txBox="1"/>
            <p:nvPr/>
          </p:nvSpPr>
          <p:spPr>
            <a:xfrm>
              <a:off x="7320719" y="4300032"/>
              <a:ext cx="1779654" cy="338554"/>
            </a:xfrm>
            <a:prstGeom prst="rect">
              <a:avLst/>
            </a:prstGeom>
            <a:noFill/>
          </p:spPr>
          <p:txBody>
            <a:bodyPr wrap="none" rtlCol="0">
              <a:spAutoFit/>
            </a:bodyPr>
            <a:lstStyle/>
            <a:p>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Operating system</a:t>
              </a:r>
            </a:p>
          </p:txBody>
        </p:sp>
        <p:sp>
          <p:nvSpPr>
            <p:cNvPr id="19" name="TextBox 18">
              <a:extLst>
                <a:ext uri="{FF2B5EF4-FFF2-40B4-BE49-F238E27FC236}">
                  <a16:creationId xmlns:a16="http://schemas.microsoft.com/office/drawing/2014/main" id="{2B35C335-F720-594D-BAC2-5ED60A03C24D}"/>
                </a:ext>
              </a:extLst>
            </p:cNvPr>
            <p:cNvSpPr txBox="1"/>
            <p:nvPr/>
          </p:nvSpPr>
          <p:spPr>
            <a:xfrm>
              <a:off x="8455175" y="4642148"/>
              <a:ext cx="606256" cy="338554"/>
            </a:xfrm>
            <a:prstGeom prst="rect">
              <a:avLst/>
            </a:prstGeom>
            <a:noFill/>
          </p:spPr>
          <p:txBody>
            <a:bodyPr wrap="none" rtlCol="0">
              <a:spAutoFit/>
            </a:bodyPr>
            <a:lstStyle/>
            <a:p>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Host</a:t>
              </a:r>
            </a:p>
          </p:txBody>
        </p:sp>
        <p:sp>
          <p:nvSpPr>
            <p:cNvPr id="20" name="Left Brace 19">
              <a:extLst>
                <a:ext uri="{FF2B5EF4-FFF2-40B4-BE49-F238E27FC236}">
                  <a16:creationId xmlns:a16="http://schemas.microsoft.com/office/drawing/2014/main" id="{E6F3F55A-FF34-7D45-9408-2681F3BE21BD}"/>
                </a:ext>
              </a:extLst>
            </p:cNvPr>
            <p:cNvSpPr/>
            <p:nvPr/>
          </p:nvSpPr>
          <p:spPr>
            <a:xfrm>
              <a:off x="6661530" y="3149222"/>
              <a:ext cx="655983" cy="176107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 name="Left Brace 20">
              <a:extLst>
                <a:ext uri="{FF2B5EF4-FFF2-40B4-BE49-F238E27FC236}">
                  <a16:creationId xmlns:a16="http://schemas.microsoft.com/office/drawing/2014/main" id="{FE7FBA11-EDA7-8D4E-AB15-5A6DE00A290C}"/>
                </a:ext>
              </a:extLst>
            </p:cNvPr>
            <p:cNvSpPr/>
            <p:nvPr/>
          </p:nvSpPr>
          <p:spPr>
            <a:xfrm>
              <a:off x="6666272" y="2559742"/>
              <a:ext cx="655983" cy="526062"/>
            </a:xfrm>
            <a:prstGeom prst="leftBrace">
              <a:avLst/>
            </a:prstGeom>
            <a:ln w="28575">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solidFill>
                  <a:srgbClr val="504BAB"/>
                </a:solidFill>
              </a:endParaRPr>
            </a:p>
          </p:txBody>
        </p:sp>
        <p:sp>
          <p:nvSpPr>
            <p:cNvPr id="22" name="TextBox 21">
              <a:extLst>
                <a:ext uri="{FF2B5EF4-FFF2-40B4-BE49-F238E27FC236}">
                  <a16:creationId xmlns:a16="http://schemas.microsoft.com/office/drawing/2014/main" id="{14F43788-1344-134A-93AF-268D78DCD87F}"/>
                </a:ext>
              </a:extLst>
            </p:cNvPr>
            <p:cNvSpPr txBox="1"/>
            <p:nvPr/>
          </p:nvSpPr>
          <p:spPr>
            <a:xfrm>
              <a:off x="5771199" y="3811826"/>
              <a:ext cx="998991" cy="584775"/>
            </a:xfrm>
            <a:prstGeom prst="rect">
              <a:avLst/>
            </a:prstGeom>
            <a:noFill/>
          </p:spPr>
          <p:txBody>
            <a:bodyPr wrap="none" rtlCol="0">
              <a:spAutoFit/>
            </a:bodyPr>
            <a:lstStyle/>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AWS </a:t>
              </a:r>
            </a:p>
            <a:p>
              <a:pPr algn="ctr"/>
              <a:r>
                <a:rPr lang="en-US" sz="1600" b="1" dirty="0">
                  <a:latin typeface="Amazon Ember Light" panose="020B0403020204020204" pitchFamily="34" charset="0"/>
                  <a:ea typeface="Amazon Ember Light" panose="020B0403020204020204" pitchFamily="34" charset="0"/>
                  <a:cs typeface="Amazon Ember Light" panose="020B0403020204020204" pitchFamily="34" charset="0"/>
                </a:rPr>
                <a:t>manages</a:t>
              </a:r>
            </a:p>
          </p:txBody>
        </p:sp>
        <p:sp>
          <p:nvSpPr>
            <p:cNvPr id="23" name="TextBox 22">
              <a:extLst>
                <a:ext uri="{FF2B5EF4-FFF2-40B4-BE49-F238E27FC236}">
                  <a16:creationId xmlns:a16="http://schemas.microsoft.com/office/drawing/2014/main" id="{ED80AAD5-01CE-7C44-B900-ECB186740C87}"/>
                </a:ext>
              </a:extLst>
            </p:cNvPr>
            <p:cNvSpPr txBox="1"/>
            <p:nvPr/>
          </p:nvSpPr>
          <p:spPr>
            <a:xfrm>
              <a:off x="5879858" y="2572908"/>
              <a:ext cx="912429" cy="584775"/>
            </a:xfrm>
            <a:prstGeom prst="rect">
              <a:avLst/>
            </a:prstGeom>
            <a:noFill/>
          </p:spPr>
          <p:txBody>
            <a:bodyPr wrap="none" rtlCol="0">
              <a:spAutoFit/>
            </a:bodyPr>
            <a:lstStyle/>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You </a:t>
              </a:r>
            </a:p>
            <a:p>
              <a:pPr algn="ctr"/>
              <a:r>
                <a:rPr lang="en-US" sz="1600" b="1" dirty="0">
                  <a:solidFill>
                    <a:srgbClr val="504BAB"/>
                  </a:solidFill>
                  <a:latin typeface="Amazon Ember Light" panose="020B0403020204020204" pitchFamily="34" charset="0"/>
                  <a:ea typeface="Amazon Ember Light" panose="020B0403020204020204" pitchFamily="34" charset="0"/>
                  <a:cs typeface="Amazon Ember Light" panose="020B0403020204020204" pitchFamily="34" charset="0"/>
                </a:rPr>
                <a:t>manage</a:t>
              </a:r>
            </a:p>
          </p:txBody>
        </p:sp>
      </p:grpSp>
    </p:spTree>
    <p:custDataLst>
      <p:tags r:id="rId1"/>
    </p:custDataLst>
    <p:extLst>
      <p:ext uri="{BB962C8B-B14F-4D97-AF65-F5344CB8AC3E}">
        <p14:creationId xmlns:p14="http://schemas.microsoft.com/office/powerpoint/2010/main" val="26082218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0E739DD-12DF-DC49-AA9B-FDED0570C7B6}"/>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69</a:t>
            </a:fld>
            <a:endParaRPr lang="en-US" dirty="0"/>
          </a:p>
        </p:txBody>
      </p:sp>
      <p:sp>
        <p:nvSpPr>
          <p:cNvPr id="2" name="Title 1"/>
          <p:cNvSpPr>
            <a:spLocks noGrp="1"/>
          </p:cNvSpPr>
          <p:nvPr>
            <p:ph type="title"/>
          </p:nvPr>
        </p:nvSpPr>
        <p:spPr/>
        <p:txBody>
          <a:bodyPr/>
          <a:lstStyle/>
          <a:p>
            <a:r>
              <a:rPr lang="en-US" dirty="0"/>
              <a:t>Benefits of Elastic Beanstalk</a:t>
            </a:r>
          </a:p>
        </p:txBody>
      </p:sp>
      <p:sp>
        <p:nvSpPr>
          <p:cNvPr id="12" name="TextBox 11">
            <a:extLst>
              <a:ext uri="{FF2B5EF4-FFF2-40B4-BE49-F238E27FC236}">
                <a16:creationId xmlns:a16="http://schemas.microsoft.com/office/drawing/2014/main" id="{03BE4F8F-E47E-974F-A15C-094CCD4CC341}"/>
              </a:ext>
            </a:extLst>
          </p:cNvPr>
          <p:cNvSpPr txBox="1"/>
          <p:nvPr/>
        </p:nvSpPr>
        <p:spPr>
          <a:xfrm>
            <a:off x="595423" y="4083906"/>
            <a:ext cx="2690330"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Fast and simple to start using</a:t>
            </a:r>
          </a:p>
        </p:txBody>
      </p:sp>
      <p:sp>
        <p:nvSpPr>
          <p:cNvPr id="13" name="TextBox 12">
            <a:extLst>
              <a:ext uri="{FF2B5EF4-FFF2-40B4-BE49-F238E27FC236}">
                <a16:creationId xmlns:a16="http://schemas.microsoft.com/office/drawing/2014/main" id="{3A61608D-B64A-DF43-9FE0-D7AB8068CC30}"/>
              </a:ext>
            </a:extLst>
          </p:cNvPr>
          <p:cNvSpPr txBox="1"/>
          <p:nvPr/>
        </p:nvSpPr>
        <p:spPr>
          <a:xfrm>
            <a:off x="3494098" y="4083906"/>
            <a:ext cx="2304192"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Developer productivity</a:t>
            </a:r>
          </a:p>
        </p:txBody>
      </p:sp>
      <p:sp>
        <p:nvSpPr>
          <p:cNvPr id="14" name="TextBox 13">
            <a:extLst>
              <a:ext uri="{FF2B5EF4-FFF2-40B4-BE49-F238E27FC236}">
                <a16:creationId xmlns:a16="http://schemas.microsoft.com/office/drawing/2014/main" id="{72BDFD8B-FFEE-0341-B5C2-A43D95F3BC1C}"/>
              </a:ext>
            </a:extLst>
          </p:cNvPr>
          <p:cNvSpPr txBox="1"/>
          <p:nvPr/>
        </p:nvSpPr>
        <p:spPr>
          <a:xfrm>
            <a:off x="6014172" y="4083906"/>
            <a:ext cx="2304192"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Difficult to outgrow</a:t>
            </a:r>
          </a:p>
        </p:txBody>
      </p:sp>
      <p:sp>
        <p:nvSpPr>
          <p:cNvPr id="8" name="TextBox 7">
            <a:extLst>
              <a:ext uri="{FF2B5EF4-FFF2-40B4-BE49-F238E27FC236}">
                <a16:creationId xmlns:a16="http://schemas.microsoft.com/office/drawing/2014/main" id="{A3F0F3E0-A9D3-664A-901B-C20AF5D2A111}"/>
              </a:ext>
            </a:extLst>
          </p:cNvPr>
          <p:cNvSpPr txBox="1"/>
          <p:nvPr/>
        </p:nvSpPr>
        <p:spPr>
          <a:xfrm>
            <a:off x="8651693" y="4083905"/>
            <a:ext cx="2834627" cy="830997"/>
          </a:xfrm>
          <a:prstGeom prst="rect">
            <a:avLst/>
          </a:prstGeom>
          <a:noFill/>
        </p:spPr>
        <p:txBody>
          <a:bodyPr wrap="squar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Complete resource control</a:t>
            </a:r>
          </a:p>
        </p:txBody>
      </p:sp>
      <p:pic>
        <p:nvPicPr>
          <p:cNvPr id="4" name="Picture 3">
            <a:extLst>
              <a:ext uri="{FF2B5EF4-FFF2-40B4-BE49-F238E27FC236}">
                <a16:creationId xmlns:a16="http://schemas.microsoft.com/office/drawing/2014/main" id="{6556C07D-6B87-474E-A3C2-62AA528DCFD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52858" y="2370620"/>
            <a:ext cx="1767254" cy="1371600"/>
          </a:xfrm>
          <a:prstGeom prst="rect">
            <a:avLst/>
          </a:prstGeom>
        </p:spPr>
      </p:pic>
      <p:pic>
        <p:nvPicPr>
          <p:cNvPr id="7" name="Picture 6">
            <a:extLst>
              <a:ext uri="{FF2B5EF4-FFF2-40B4-BE49-F238E27FC236}">
                <a16:creationId xmlns:a16="http://schemas.microsoft.com/office/drawing/2014/main" id="{820B6646-6A9B-4448-B82E-34E4DC9DC10A}"/>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347733" y="2370620"/>
            <a:ext cx="1637071" cy="1371600"/>
          </a:xfrm>
          <a:prstGeom prst="rect">
            <a:avLst/>
          </a:prstGeom>
        </p:spPr>
      </p:pic>
      <p:pic>
        <p:nvPicPr>
          <p:cNvPr id="10" name="Picture 9">
            <a:extLst>
              <a:ext uri="{FF2B5EF4-FFF2-40B4-BE49-F238E27FC236}">
                <a16:creationId xmlns:a16="http://schemas.microsoft.com/office/drawing/2014/main" id="{AEDF1DD9-54CE-5543-80E9-8CC037367729}"/>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668870" y="2370620"/>
            <a:ext cx="1726322" cy="1371600"/>
          </a:xfrm>
          <a:prstGeom prst="rect">
            <a:avLst/>
          </a:prstGeom>
        </p:spPr>
      </p:pic>
      <p:pic>
        <p:nvPicPr>
          <p:cNvPr id="16" name="Picture 15">
            <a:extLst>
              <a:ext uri="{FF2B5EF4-FFF2-40B4-BE49-F238E27FC236}">
                <a16:creationId xmlns:a16="http://schemas.microsoft.com/office/drawing/2014/main" id="{5CF65933-CB29-4144-9C0D-88A7B48B5290}"/>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1164848" y="2370620"/>
            <a:ext cx="1551481" cy="1371600"/>
          </a:xfrm>
          <a:prstGeom prst="rect">
            <a:avLst/>
          </a:prstGeom>
        </p:spPr>
      </p:pic>
    </p:spTree>
    <p:custDataLst>
      <p:tags r:id="rId1"/>
    </p:custDataLst>
    <p:extLst>
      <p:ext uri="{BB962C8B-B14F-4D97-AF65-F5344CB8AC3E}">
        <p14:creationId xmlns:p14="http://schemas.microsoft.com/office/powerpoint/2010/main" val="9278845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6E8B36-A7F8-3F48-8D41-4C8D5BF9F3EB}"/>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pPr/>
              <a:t>70</a:t>
            </a:fld>
            <a:endParaRPr lang="en-US" dirty="0"/>
          </a:p>
        </p:txBody>
      </p:sp>
      <p:sp>
        <p:nvSpPr>
          <p:cNvPr id="3" name="Title 2">
            <a:extLst>
              <a:ext uri="{FF2B5EF4-FFF2-40B4-BE49-F238E27FC236}">
                <a16:creationId xmlns:a16="http://schemas.microsoft.com/office/drawing/2014/main" id="{34A9215D-56A1-C14C-8D1D-ECD06964D449}"/>
              </a:ext>
            </a:extLst>
          </p:cNvPr>
          <p:cNvSpPr>
            <a:spLocks noGrp="1"/>
          </p:cNvSpPr>
          <p:nvPr>
            <p:ph type="ctrTitle"/>
          </p:nvPr>
        </p:nvSpPr>
        <p:spPr/>
        <p:txBody>
          <a:bodyPr/>
          <a:lstStyle/>
          <a:p>
            <a:r>
              <a:rPr lang="en-US" dirty="0"/>
              <a:t>Section 6 key takeaways</a:t>
            </a:r>
          </a:p>
        </p:txBody>
      </p:sp>
      <p:sp>
        <p:nvSpPr>
          <p:cNvPr id="5" name="Content Placeholder 4">
            <a:extLst>
              <a:ext uri="{FF2B5EF4-FFF2-40B4-BE49-F238E27FC236}">
                <a16:creationId xmlns:a16="http://schemas.microsoft.com/office/drawing/2014/main" id="{5DED86B2-95F3-E144-93EC-D7312615DDBA}"/>
              </a:ext>
            </a:extLst>
          </p:cNvPr>
          <p:cNvSpPr>
            <a:spLocks noGrp="1"/>
          </p:cNvSpPr>
          <p:nvPr>
            <p:ph type="body" idx="1"/>
          </p:nvPr>
        </p:nvSpPr>
        <p:spPr/>
        <p:txBody>
          <a:bodyPr/>
          <a:lstStyle/>
          <a:p>
            <a:r>
              <a:rPr lang="en-US" sz="2400" b="1" dirty="0">
                <a:solidFill>
                  <a:srgbClr val="504BAB"/>
                </a:solidFill>
              </a:rPr>
              <a:t>AWS</a:t>
            </a:r>
            <a:r>
              <a:rPr lang="en-US" sz="2400" b="1" dirty="0">
                <a:solidFill>
                  <a:schemeClr val="accent5"/>
                </a:solidFill>
              </a:rPr>
              <a:t> </a:t>
            </a:r>
            <a:r>
              <a:rPr lang="en-US" sz="2400" b="1" dirty="0">
                <a:solidFill>
                  <a:srgbClr val="504BAB"/>
                </a:solidFill>
              </a:rPr>
              <a:t>Elastic Beanstalk </a:t>
            </a:r>
            <a:r>
              <a:rPr lang="en-US" sz="2400" dirty="0"/>
              <a:t>enhances developer productivity.</a:t>
            </a:r>
          </a:p>
          <a:p>
            <a:pPr lvl="1"/>
            <a:r>
              <a:rPr lang="en-US" sz="2000" dirty="0"/>
              <a:t>Simplifies the process of deploying your application.</a:t>
            </a:r>
          </a:p>
          <a:p>
            <a:pPr lvl="1"/>
            <a:r>
              <a:rPr lang="en-US" sz="2000" dirty="0"/>
              <a:t>Reduces management complexity.</a:t>
            </a:r>
          </a:p>
          <a:p>
            <a:pPr marL="233363" lvl="1" indent="0">
              <a:buNone/>
            </a:pPr>
            <a:endParaRPr lang="en-US" sz="2400" dirty="0"/>
          </a:p>
          <a:p>
            <a:r>
              <a:rPr lang="en-US" sz="2400" dirty="0"/>
              <a:t>Elastic Beanstalk supports </a:t>
            </a:r>
            <a:r>
              <a:rPr lang="en-US" sz="2400" b="1" dirty="0">
                <a:solidFill>
                  <a:srgbClr val="504BAB"/>
                </a:solidFill>
              </a:rPr>
              <a:t>Java</a:t>
            </a:r>
            <a:r>
              <a:rPr lang="en-US" sz="2400" dirty="0"/>
              <a:t>, </a:t>
            </a:r>
            <a:r>
              <a:rPr lang="en-US" sz="2400" b="1" dirty="0">
                <a:solidFill>
                  <a:srgbClr val="504BAB"/>
                </a:solidFill>
              </a:rPr>
              <a:t>.NET</a:t>
            </a:r>
            <a:r>
              <a:rPr lang="en-US" sz="2400" dirty="0"/>
              <a:t>, </a:t>
            </a:r>
            <a:r>
              <a:rPr lang="en-US" sz="2400" b="1" dirty="0">
                <a:solidFill>
                  <a:srgbClr val="504BAB"/>
                </a:solidFill>
              </a:rPr>
              <a:t>PHP</a:t>
            </a:r>
            <a:r>
              <a:rPr lang="en-US" sz="2400" dirty="0"/>
              <a:t>, </a:t>
            </a:r>
            <a:r>
              <a:rPr lang="en-US" sz="2400" b="1" dirty="0">
                <a:solidFill>
                  <a:srgbClr val="504BAB"/>
                </a:solidFill>
              </a:rPr>
              <a:t>Node.js</a:t>
            </a:r>
            <a:r>
              <a:rPr lang="en-US" sz="2400" dirty="0"/>
              <a:t>, </a:t>
            </a:r>
            <a:r>
              <a:rPr lang="en-US" sz="2400" b="1" dirty="0">
                <a:solidFill>
                  <a:srgbClr val="504BAB"/>
                </a:solidFill>
              </a:rPr>
              <a:t>Python</a:t>
            </a:r>
            <a:r>
              <a:rPr lang="en-US" sz="2400" dirty="0"/>
              <a:t>, </a:t>
            </a:r>
            <a:r>
              <a:rPr lang="en-US" sz="2400" b="1" dirty="0">
                <a:solidFill>
                  <a:srgbClr val="504BAB"/>
                </a:solidFill>
              </a:rPr>
              <a:t>Ruby</a:t>
            </a:r>
            <a:r>
              <a:rPr lang="en-US" sz="2400" dirty="0"/>
              <a:t>, </a:t>
            </a:r>
            <a:r>
              <a:rPr lang="en-US" sz="2400" b="1" dirty="0">
                <a:solidFill>
                  <a:srgbClr val="504BAB"/>
                </a:solidFill>
              </a:rPr>
              <a:t>Go</a:t>
            </a:r>
            <a:r>
              <a:rPr lang="en-US" sz="2400" dirty="0"/>
              <a:t>, and </a:t>
            </a:r>
            <a:r>
              <a:rPr lang="en-US" sz="2400" b="1" dirty="0">
                <a:solidFill>
                  <a:srgbClr val="504BAB"/>
                </a:solidFill>
              </a:rPr>
              <a:t>Docker</a:t>
            </a:r>
          </a:p>
          <a:p>
            <a:pPr marL="0" indent="0">
              <a:buNone/>
            </a:pPr>
            <a:endParaRPr lang="en-US" sz="2400" b="1" dirty="0">
              <a:solidFill>
                <a:schemeClr val="accent5"/>
              </a:solidFill>
            </a:endParaRPr>
          </a:p>
          <a:p>
            <a:r>
              <a:rPr lang="en-US" sz="2400" dirty="0"/>
              <a:t>There is no charge for Elastic Beanstalk. Pay only for the AWS resources that you use. </a:t>
            </a:r>
          </a:p>
        </p:txBody>
      </p:sp>
      <p:pic>
        <p:nvPicPr>
          <p:cNvPr id="6" name="Picture Placeholder 6">
            <a:extLst>
              <a:ext uri="{FF2B5EF4-FFF2-40B4-BE49-F238E27FC236}">
                <a16:creationId xmlns:a16="http://schemas.microsoft.com/office/drawing/2014/main" id="{DF245F4B-F83C-4547-948B-29463175E4C7}"/>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rcRect l="4146" r="4146"/>
          <a:stretch>
            <a:fillRect/>
          </a:stretch>
        </p:blipFill>
        <p:spPr>
          <a:xfrm>
            <a:off x="256032" y="2157984"/>
            <a:ext cx="3931314" cy="3104201"/>
          </a:xfrm>
          <a:prstGeom prst="rect">
            <a:avLst/>
          </a:prstGeom>
        </p:spPr>
      </p:pic>
    </p:spTree>
    <p:custDataLst>
      <p:tags r:id="rId1"/>
    </p:custDataLst>
    <p:extLst>
      <p:ext uri="{BB962C8B-B14F-4D97-AF65-F5344CB8AC3E}">
        <p14:creationId xmlns:p14="http://schemas.microsoft.com/office/powerpoint/2010/main" val="302396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DD3E1-B0BA-7941-ACF6-89F4C489A40A}"/>
              </a:ext>
            </a:extLst>
          </p:cNvPr>
          <p:cNvSpPr>
            <a:spLocks noGrp="1"/>
          </p:cNvSpPr>
          <p:nvPr>
            <p:ph type="title"/>
          </p:nvPr>
        </p:nvSpPr>
        <p:spPr/>
        <p:txBody>
          <a:bodyPr/>
          <a:lstStyle/>
          <a:p>
            <a:r>
              <a:rPr lang="en-US" sz="4000" dirty="0"/>
              <a:t>Module wrap-up</a:t>
            </a:r>
          </a:p>
        </p:txBody>
      </p:sp>
      <p:sp>
        <p:nvSpPr>
          <p:cNvPr id="3" name="Text Placeholder 2">
            <a:extLst>
              <a:ext uri="{FF2B5EF4-FFF2-40B4-BE49-F238E27FC236}">
                <a16:creationId xmlns:a16="http://schemas.microsoft.com/office/drawing/2014/main" id="{9705F87E-6E2F-D249-BE4B-4F176A6B5D76}"/>
              </a:ext>
            </a:extLst>
          </p:cNvPr>
          <p:cNvSpPr>
            <a:spLocks noGrp="1"/>
          </p:cNvSpPr>
          <p:nvPr>
            <p:ph type="subTitle" idx="1"/>
          </p:nvPr>
        </p:nvSpPr>
        <p:spPr/>
        <p:txBody>
          <a:bodyPr/>
          <a:lstStyle/>
          <a:p>
            <a:r>
              <a:rPr lang="en-US" dirty="0"/>
              <a:t>Module 6: Compute</a:t>
            </a:r>
          </a:p>
          <a:p>
            <a:endParaRPr lang="en-US" dirty="0"/>
          </a:p>
        </p:txBody>
      </p:sp>
    </p:spTree>
    <p:custDataLst>
      <p:tags r:id="rId1"/>
    </p:custDataLst>
    <p:extLst>
      <p:ext uri="{BB962C8B-B14F-4D97-AF65-F5344CB8AC3E}">
        <p14:creationId xmlns:p14="http://schemas.microsoft.com/office/powerpoint/2010/main" val="29245289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ECEECC-6889-3C4B-ADDE-289EB9D9F6A9}"/>
              </a:ext>
              <a:ext uri="{C183D7F6-B498-43B3-948B-1728B52AA6E4}">
                <adec:decorative xmlns:adec="http://schemas.microsoft.com/office/drawing/2017/decorative" val="0"/>
              </a:ext>
            </a:extLst>
          </p:cNvPr>
          <p:cNvSpPr>
            <a:spLocks noGrp="1"/>
          </p:cNvSpPr>
          <p:nvPr>
            <p:ph type="sldNum" sz="quarter" idx="20"/>
          </p:nvPr>
        </p:nvSpPr>
        <p:spPr/>
        <p:txBody>
          <a:bodyPr/>
          <a:lstStyle/>
          <a:p>
            <a:fld id="{B6A95138-A96E-2F42-A959-2EFD44FE4AB7}" type="slidenum">
              <a:rPr lang="en-US" smtClean="0"/>
              <a:t>72</a:t>
            </a:fld>
            <a:endParaRPr lang="en-US" dirty="0"/>
          </a:p>
        </p:txBody>
      </p:sp>
      <p:sp>
        <p:nvSpPr>
          <p:cNvPr id="2" name="Title 1"/>
          <p:cNvSpPr>
            <a:spLocks noGrp="1"/>
          </p:cNvSpPr>
          <p:nvPr>
            <p:ph type="title"/>
          </p:nvPr>
        </p:nvSpPr>
        <p:spPr/>
        <p:txBody>
          <a:bodyPr>
            <a:noAutofit/>
          </a:bodyPr>
          <a:lstStyle/>
          <a:p>
            <a:r>
              <a:rPr lang="en-US" dirty="0">
                <a:latin typeface="+mj-lt"/>
              </a:rPr>
              <a:t>Module summary </a:t>
            </a:r>
          </a:p>
        </p:txBody>
      </p:sp>
      <p:sp>
        <p:nvSpPr>
          <p:cNvPr id="6" name="Content Placeholder 5">
            <a:extLst>
              <a:ext uri="{FF2B5EF4-FFF2-40B4-BE49-F238E27FC236}">
                <a16:creationId xmlns:a16="http://schemas.microsoft.com/office/drawing/2014/main" id="{96B1D8CB-247D-9047-BFCE-7C071A34030D}"/>
              </a:ext>
            </a:extLst>
          </p:cNvPr>
          <p:cNvSpPr>
            <a:spLocks noGrp="1"/>
          </p:cNvSpPr>
          <p:nvPr>
            <p:ph sz="quarter" idx="21"/>
          </p:nvPr>
        </p:nvSpPr>
        <p:spPr/>
        <p:txBody>
          <a:bodyPr/>
          <a:lstStyle/>
          <a:p>
            <a:pPr marL="0" indent="0">
              <a:buNone/>
            </a:pPr>
            <a:r>
              <a:rPr lang="en-US" sz="2400" dirty="0"/>
              <a:t>In summary, in this module, you learned how to:</a:t>
            </a:r>
          </a:p>
          <a:p>
            <a:r>
              <a:rPr lang="en-US" sz="2400" dirty="0"/>
              <a:t>Provide an overview of different AWS compute services in the cloud</a:t>
            </a:r>
          </a:p>
          <a:p>
            <a:r>
              <a:rPr lang="en-US" sz="2400" dirty="0"/>
              <a:t>Demonstrate why to use Amazon Elastic Compute Cloud (Amazon EC2)</a:t>
            </a:r>
          </a:p>
          <a:p>
            <a:r>
              <a:rPr lang="en-US" sz="2400" dirty="0"/>
              <a:t>Identify the functionality in the Amazon EC2 console</a:t>
            </a:r>
          </a:p>
          <a:p>
            <a:r>
              <a:rPr lang="en-US" sz="2400" dirty="0"/>
              <a:t>Perform basic functions in Amazon EC2 to build a virtual computing environment</a:t>
            </a:r>
          </a:p>
          <a:p>
            <a:r>
              <a:rPr lang="en-US" sz="2400" dirty="0"/>
              <a:t>Identify Amazon EC2 cost optimization elements</a:t>
            </a:r>
          </a:p>
          <a:p>
            <a:r>
              <a:rPr lang="en-US" sz="2400" dirty="0"/>
              <a:t>Demonstrate when to use AWS Elastic Beanstalk</a:t>
            </a:r>
          </a:p>
          <a:p>
            <a:r>
              <a:rPr lang="en-US" sz="2400" dirty="0"/>
              <a:t>Demonstrate when to use AWS Lambda</a:t>
            </a:r>
          </a:p>
          <a:p>
            <a:r>
              <a:rPr lang="en-US" sz="2400" dirty="0"/>
              <a:t>Identify how to run containerized applications in a cluster of managed servers</a:t>
            </a:r>
            <a:endParaRPr lang="en-US" sz="2400" dirty="0">
              <a:latin typeface="+mn-lt"/>
            </a:endParaRPr>
          </a:p>
        </p:txBody>
      </p:sp>
    </p:spTree>
    <p:custDataLst>
      <p:tags r:id="rId1"/>
    </p:custDataLst>
    <p:extLst>
      <p:ext uri="{BB962C8B-B14F-4D97-AF65-F5344CB8AC3E}">
        <p14:creationId xmlns:p14="http://schemas.microsoft.com/office/powerpoint/2010/main" val="10016619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A9D071E9-1886-4EB3-B517-57EE3BACB16F}"/>
              </a:ext>
            </a:extLst>
          </p:cNvPr>
          <p:cNvSpPr>
            <a:spLocks noGrp="1"/>
          </p:cNvSpPr>
          <p:nvPr>
            <p:ph type="sldNum" sz="quarter" idx="20"/>
          </p:nvPr>
        </p:nvSpPr>
        <p:spPr/>
        <p:txBody>
          <a:bodyPr/>
          <a:lstStyle/>
          <a:p>
            <a:fld id="{B23121D6-781A-4B6C-8D9B-3A8188A614AE}" type="slidenum">
              <a:rPr lang="en-US" smtClean="0"/>
              <a:t>73</a:t>
            </a:fld>
            <a:endParaRPr lang="en-US"/>
          </a:p>
        </p:txBody>
      </p:sp>
      <p:sp>
        <p:nvSpPr>
          <p:cNvPr id="2" name="Title 1">
            <a:extLst>
              <a:ext uri="{FF2B5EF4-FFF2-40B4-BE49-F238E27FC236}">
                <a16:creationId xmlns:a16="http://schemas.microsoft.com/office/drawing/2014/main" id="{9B11474D-3771-4F25-8A94-0EF301AE2062}"/>
              </a:ext>
            </a:extLst>
          </p:cNvPr>
          <p:cNvSpPr>
            <a:spLocks noGrp="1"/>
          </p:cNvSpPr>
          <p:nvPr>
            <p:ph type="title"/>
          </p:nvPr>
        </p:nvSpPr>
        <p:spPr/>
        <p:txBody>
          <a:bodyPr/>
          <a:lstStyle/>
          <a:p>
            <a:r>
              <a:rPr lang="en-US" dirty="0"/>
              <a:t>Thank you</a:t>
            </a:r>
          </a:p>
        </p:txBody>
      </p:sp>
      <p:sp>
        <p:nvSpPr>
          <p:cNvPr id="6" name="Text Placeholder 5">
            <a:extLst>
              <a:ext uri="{FF2B5EF4-FFF2-40B4-BE49-F238E27FC236}">
                <a16:creationId xmlns:a16="http://schemas.microsoft.com/office/drawing/2014/main" id="{37D19DB1-8CC4-4D1C-8D48-67540AF80AAD}"/>
              </a:ext>
            </a:extLst>
          </p:cNvPr>
          <p:cNvSpPr>
            <a:spLocks noGrp="1"/>
          </p:cNvSpPr>
          <p:nvPr>
            <p:ph type="body" sz="quarter" idx="21"/>
          </p:nvPr>
        </p:nvSpPr>
        <p:spPr>
          <a:xfrm>
            <a:off x="2551176" y="5212079"/>
            <a:ext cx="9637776" cy="400110"/>
          </a:xfrm>
        </p:spPr>
        <p:txBody>
          <a:bodyPr/>
          <a:lstStyle/>
          <a:p>
            <a:r>
              <a:rPr lang="en-US"/>
              <a:t>All </a:t>
            </a:r>
            <a:r>
              <a:rPr lang="en-US" dirty="0"/>
              <a:t>trademarks are the property of their owners.</a:t>
            </a:r>
          </a:p>
        </p:txBody>
      </p:sp>
    </p:spTree>
    <p:custDataLst>
      <p:tags r:id="rId1"/>
    </p:custDataLst>
    <p:extLst>
      <p:ext uri="{BB962C8B-B14F-4D97-AF65-F5344CB8AC3E}">
        <p14:creationId xmlns:p14="http://schemas.microsoft.com/office/powerpoint/2010/main" val="13958731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4_TC-2022-ONEBRAND" val="0csGKSIY"/>
  <p:tag name="ARTICULATE_SLIDE_COUNT" val="91"/>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UDIO_ID" val="796"/>
  <p:tag name="ARTICULATE_USED_LAYOUT" val="5"/>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UDIO_ID" val="804"/>
  <p:tag name="ARTICULATE_USED_LAYOUT" val="3"/>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EB30683A6882D4798A1183E2061AB2B" ma:contentTypeVersion="6" ma:contentTypeDescription="Create a new document." ma:contentTypeScope="" ma:versionID="846e12e389a6305cd5a8a7fb8804a237">
  <xsd:schema xmlns:xsd="http://www.w3.org/2001/XMLSchema" xmlns:xs="http://www.w3.org/2001/XMLSchema" xmlns:p="http://schemas.microsoft.com/office/2006/metadata/properties" xmlns:ns2="3203751e-7f26-4ef4-9d45-82e84d52b1db" targetNamespace="http://schemas.microsoft.com/office/2006/metadata/properties" ma:root="true" ma:fieldsID="5ffe97e181145ec81612676624bca40f" ns2:_="">
    <xsd:import namespace="3203751e-7f26-4ef4-9d45-82e84d52b1d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03751e-7f26-4ef4-9d45-82e84d52b1d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0752BD-F26E-41FF-9FB5-6A9780D93A83}">
  <ds:schemaRefs>
    <ds:schemaRef ds:uri="http://purl.org/dc/terms/"/>
    <ds:schemaRef ds:uri="http://www.w3.org/XML/1998/namespace"/>
    <ds:schemaRef ds:uri="3203751e-7f26-4ef4-9d45-82e84d52b1db"/>
    <ds:schemaRef ds:uri="http://purl.org/dc/elements/1.1/"/>
    <ds:schemaRef ds:uri="http://purl.org/dc/dcmitype/"/>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1507056-CAA4-4785-A519-2D6E82754C98}">
  <ds:schemaRefs>
    <ds:schemaRef ds:uri="http://schemas.microsoft.com/sharepoint/v3/contenttype/forms"/>
  </ds:schemaRefs>
</ds:datastoreItem>
</file>

<file path=customXml/itemProps3.xml><?xml version="1.0" encoding="utf-8"?>
<ds:datastoreItem xmlns:ds="http://schemas.openxmlformats.org/officeDocument/2006/customXml" ds:itemID="{15031036-21FA-4572-951E-F15692D3DBCC}">
  <ds:schemaRefs>
    <ds:schemaRef ds:uri="3203751e-7f26-4ef4-9d45-82e84d52b1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TC OneBrand Template</Template>
  <TotalTime>1086</TotalTime>
  <Words>18935</Words>
  <Application>Microsoft Macintosh PowerPoint</Application>
  <PresentationFormat>Widescreen</PresentationFormat>
  <Paragraphs>1559</Paragraphs>
  <Slides>73</Slides>
  <Notes>72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73</vt:i4>
      </vt:variant>
    </vt:vector>
  </HeadingPairs>
  <TitlesOfParts>
    <vt:vector size="84" baseType="lpstr">
      <vt:lpstr>Amazon Ember</vt:lpstr>
      <vt:lpstr>Amazon Ember Heavy</vt:lpstr>
      <vt:lpstr>Amazon Ember Light</vt:lpstr>
      <vt:lpstr>Arial</vt:lpstr>
      <vt:lpstr>Calibri</vt:lpstr>
      <vt:lpstr>Helvetica Neue</vt:lpstr>
      <vt:lpstr>Lucida Console</vt:lpstr>
      <vt:lpstr>Segoe UI</vt:lpstr>
      <vt:lpstr>Wingdings</vt:lpstr>
      <vt:lpstr>Wingdings 3</vt:lpstr>
      <vt:lpstr>4_TC-2022-OneBrand</vt:lpstr>
      <vt:lpstr>Module 6: Compute</vt:lpstr>
      <vt:lpstr>Module overview</vt:lpstr>
      <vt:lpstr>Module objectives</vt:lpstr>
      <vt:lpstr>Section 1: Compute services overview</vt:lpstr>
      <vt:lpstr>AWS compute services</vt:lpstr>
      <vt:lpstr>Categorizing compute services</vt:lpstr>
      <vt:lpstr>Choosing the optimal compute service</vt:lpstr>
      <vt:lpstr>Section 2: Amazon EC2</vt:lpstr>
      <vt:lpstr>"Servers as cattle, not pets."</vt:lpstr>
      <vt:lpstr>Amazon Elastic Compute Cloud (Amazon EC2)</vt:lpstr>
      <vt:lpstr>Amazon EC2 overview</vt:lpstr>
      <vt:lpstr>Launching an Amazon EC2 instance</vt:lpstr>
      <vt:lpstr>1. Select an AMI</vt:lpstr>
      <vt:lpstr>Creating a new AMI: Example</vt:lpstr>
      <vt:lpstr>2. Select an instance type</vt:lpstr>
      <vt:lpstr>EC2 instance type naming and sizes </vt:lpstr>
      <vt:lpstr>Select instance type: Based on use case</vt:lpstr>
      <vt:lpstr>Instance types: Networking features</vt:lpstr>
      <vt:lpstr>3. Specify network settings</vt:lpstr>
      <vt:lpstr>4. Attach IAM role (optional)</vt:lpstr>
      <vt:lpstr>5. User data script (optional)</vt:lpstr>
      <vt:lpstr>6. Specify storage</vt:lpstr>
      <vt:lpstr>Amazon EC2 storage options</vt:lpstr>
      <vt:lpstr>Example storage options</vt:lpstr>
      <vt:lpstr>7. Add tags</vt:lpstr>
      <vt:lpstr>8. Security group settings</vt:lpstr>
      <vt:lpstr>9. Identify or create the key pair</vt:lpstr>
      <vt:lpstr>Amazon EC2 console view of a running EC2 instance</vt:lpstr>
      <vt:lpstr>Another option: Launch an EC2 instance with the AWS Command Line Interface </vt:lpstr>
      <vt:lpstr>Amazon EC2 instance lifecycle</vt:lpstr>
      <vt:lpstr>Consider using an Elastic IP address</vt:lpstr>
      <vt:lpstr>Amazon CloudWatch for monitoring</vt:lpstr>
      <vt:lpstr>Section 2 key takeaways</vt:lpstr>
      <vt:lpstr>Section 3: Amazon EC2 cost optimization</vt:lpstr>
      <vt:lpstr>Amazon EC2 pricing models</vt:lpstr>
      <vt:lpstr>Amazon EC2 pricing models: Benefits</vt:lpstr>
      <vt:lpstr>Amazon EC2 pricing models: Use cases</vt:lpstr>
      <vt:lpstr>The four pillars of cost optimization </vt:lpstr>
      <vt:lpstr>Pillar 1: Right size</vt:lpstr>
      <vt:lpstr>Pillar 2: Increase elasticity</vt:lpstr>
      <vt:lpstr>Pillar 3: Optimal pricing model</vt:lpstr>
      <vt:lpstr>Pillar 4: Optimize storage choices</vt:lpstr>
      <vt:lpstr>Measure, monitor, and improve</vt:lpstr>
      <vt:lpstr>Section 3 key takeaways</vt:lpstr>
      <vt:lpstr>Section 4: Container services</vt:lpstr>
      <vt:lpstr>Servers vs. Containers</vt:lpstr>
      <vt:lpstr>Container basics</vt:lpstr>
      <vt:lpstr>What is Docker?</vt:lpstr>
      <vt:lpstr>Containers versus virtual machines</vt:lpstr>
      <vt:lpstr>Amazon Elastic Container Service (Amazon ECS)</vt:lpstr>
      <vt:lpstr>Amazon ECS orchestrates containers</vt:lpstr>
      <vt:lpstr>Amazon ECS cluster options</vt:lpstr>
      <vt:lpstr>What is Kubernetes?</vt:lpstr>
      <vt:lpstr>Amazon Elastic Kubernetes Service (Amazon EKS)</vt:lpstr>
      <vt:lpstr>Amazon Elastic Container Registry (Amazon ECR)</vt:lpstr>
      <vt:lpstr>Section 4 key takeaways</vt:lpstr>
      <vt:lpstr>Section 5: Introduction to AWS Lambda</vt:lpstr>
      <vt:lpstr>AWS Lambda: Run code without servers</vt:lpstr>
      <vt:lpstr>Lambda Free Tier</vt:lpstr>
      <vt:lpstr>Benefits of Lambda</vt:lpstr>
      <vt:lpstr>AWS Lambda event sources</vt:lpstr>
      <vt:lpstr>AWS Lambda function configuration</vt:lpstr>
      <vt:lpstr>Event-based Lambda function example:  Create thumbnail images</vt:lpstr>
      <vt:lpstr>AWS Lambda quotas</vt:lpstr>
      <vt:lpstr>Section 5 key takeaways</vt:lpstr>
      <vt:lpstr>Section 6: Introduction to AWS Elastic Beanstalk</vt:lpstr>
      <vt:lpstr>AWS Elastic Beanstalk</vt:lpstr>
      <vt:lpstr>AWS Elastic Beanstalk deployments</vt:lpstr>
      <vt:lpstr>Benefits of Elastic Beanstalk</vt:lpstr>
      <vt:lpstr>Section 6 key takeaways</vt:lpstr>
      <vt:lpstr>Module wrap-up</vt:lpstr>
      <vt:lpstr>Module summary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Rob Elliott</cp:lastModifiedBy>
  <cp:revision>22</cp:revision>
  <dcterms:created xsi:type="dcterms:W3CDTF">2022-03-28T19:31:41Z</dcterms:created>
  <dcterms:modified xsi:type="dcterms:W3CDTF">2025-09-19T21:06:40Z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y fmtid="{D5CDD505-2E9C-101B-9397-08002B2CF9AE}" pid="4" name="ContentTypeId">
    <vt:lpwstr>0x0101004EB30683A6882D4798A1183E2061AB2B</vt:lpwstr>
  </property>
</Properties>
</file>