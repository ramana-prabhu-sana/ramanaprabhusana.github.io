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19"/>
  </p:notesMasterIdLst>
  <p:sldIdLst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2" r:id="rId18"/>
  </p:sldIdLst>
  <p:sldSz cx="12192000" cy="6858000"/>
  <p:notesSz cx="6858000" cy="9144000"/>
  <p:embeddedFontLst>
    <p:embeddedFont>
      <p:font typeface="Acumin Pro" panose="020B0504020202020204" pitchFamily="34" charset="77"/>
      <p:regular r:id="rId20"/>
      <p:bold r:id="rId21"/>
      <p:italic r:id="rId22"/>
      <p:boldItalic r:id="rId23"/>
    </p:embeddedFont>
    <p:embeddedFont>
      <p:font typeface="Acumin Pro Condensed Semibold" panose="020B0506020202020204" pitchFamily="34" charset="77"/>
      <p:regular r:id="rId24"/>
      <p:bold r:id="rId25"/>
      <p:italic r:id="rId26"/>
      <p:boldItalic r:id="rId27"/>
    </p:embeddedFont>
    <p:embeddedFont>
      <p:font typeface="Acumin Pro Medium" panose="020B0604020202020204" pitchFamily="34" charset="77"/>
      <p:regular r:id="rId28"/>
      <p:italic r:id="rId29"/>
    </p:embeddedFont>
    <p:embeddedFont>
      <p:font typeface="Acumin Pro Semibold" panose="020B0704020202020204" pitchFamily="34" charset="77"/>
      <p:regular r:id="rId30"/>
      <p:bold r:id="rId31"/>
      <p:italic r:id="rId32"/>
      <p:boldItalic r:id="rId33"/>
    </p:embeddedFont>
    <p:embeddedFont>
      <p:font typeface="Franklin Gothic Book" panose="020B0503020102020204" pitchFamily="34" charset="0"/>
      <p:regular r:id="rId34"/>
      <p:italic r:id="rId35"/>
    </p:embeddedFont>
    <p:embeddedFont>
      <p:font typeface="Franklin Gothic Medium" panose="020B0603020102020204" pitchFamily="34" charset="0"/>
      <p:regular r:id="rId36"/>
      <p:italic r:id="rId37"/>
    </p:embeddedFont>
    <p:embeddedFont>
      <p:font typeface="Franklin Gothic Medium Cond" panose="020B0606030402020204" pitchFamily="34" charset="0"/>
      <p:regular r:id="rId38"/>
    </p:embeddedFont>
    <p:embeddedFont>
      <p:font typeface="Palatino Linotype" panose="02040502050505030304" pitchFamily="18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presProps" Target="presProps.xml"/><Relationship Id="rId48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tableStyles" Target="tableStyles.xml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Elliott" userId="04040a5f-f8f3-4f1b-92ff-388c2ca4c4a6" providerId="ADAL" clId="{F0BFA9A5-569D-5D2A-BCD6-09850EB564AF}"/>
    <pc:docChg chg="delSld">
      <pc:chgData name="Rob Elliott" userId="04040a5f-f8f3-4f1b-92ff-388c2ca4c4a6" providerId="ADAL" clId="{F0BFA9A5-569D-5D2A-BCD6-09850EB564AF}" dt="2025-08-24T18:47:15.215" v="0" actId="2696"/>
      <pc:docMkLst>
        <pc:docMk/>
      </pc:docMkLst>
      <pc:sldChg chg="del">
        <pc:chgData name="Rob Elliott" userId="04040a5f-f8f3-4f1b-92ff-388c2ca4c4a6" providerId="ADAL" clId="{F0BFA9A5-569D-5D2A-BCD6-09850EB564AF}" dt="2025-08-24T18:47:15.215" v="0" actId="2696"/>
        <pc:sldMkLst>
          <pc:docMk/>
          <pc:sldMk cId="1280866440" sldId="280"/>
        </pc:sldMkLst>
      </pc:sldChg>
      <pc:sldChg chg="del">
        <pc:chgData name="Rob Elliott" userId="04040a5f-f8f3-4f1b-92ff-388c2ca4c4a6" providerId="ADAL" clId="{F0BFA9A5-569D-5D2A-BCD6-09850EB564AF}" dt="2025-08-24T18:47:15.215" v="0" actId="2696"/>
        <pc:sldMkLst>
          <pc:docMk/>
          <pc:sldMk cId="3551482178" sldId="281"/>
        </pc:sldMkLst>
      </pc:sldChg>
    </pc:docChg>
  </pc:docChgLst>
  <pc:docChgLst>
    <pc:chgData name="Rob Elliott" userId="04040a5f-f8f3-4f1b-92ff-388c2ca4c4a6" providerId="ADAL" clId="{963156F6-F2CC-4E48-8502-57C96C61486C}"/>
    <pc:docChg chg="undo custSel addSld delSld modSld">
      <pc:chgData name="Rob Elliott" userId="04040a5f-f8f3-4f1b-92ff-388c2ca4c4a6" providerId="ADAL" clId="{963156F6-F2CC-4E48-8502-57C96C61486C}" dt="2024-08-16T21:31:09.392" v="13"/>
      <pc:docMkLst>
        <pc:docMk/>
      </pc:docMkLst>
      <pc:sldChg chg="modSp add del modAnim">
        <pc:chgData name="Rob Elliott" userId="04040a5f-f8f3-4f1b-92ff-388c2ca4c4a6" providerId="ADAL" clId="{963156F6-F2CC-4E48-8502-57C96C61486C}" dt="2024-08-16T21:31:09.392" v="13"/>
        <pc:sldMkLst>
          <pc:docMk/>
          <pc:sldMk cId="2969714854" sldId="275"/>
        </pc:sldMkLst>
      </pc:sldChg>
    </pc:docChg>
  </pc:docChgLst>
  <pc:docChgLst>
    <pc:chgData name="Rob Elliott" userId="S::elliot62@purdue.edu::04040a5f-f8f3-4f1b-92ff-388c2ca4c4a6" providerId="AD" clId="Web-{74D60FC8-57D4-C019-DE40-FEC82944204A}"/>
    <pc:docChg chg="modSld">
      <pc:chgData name="Rob Elliott" userId="S::elliot62@purdue.edu::04040a5f-f8f3-4f1b-92ff-388c2ca4c4a6" providerId="AD" clId="Web-{74D60FC8-57D4-C019-DE40-FEC82944204A}" dt="2024-08-16T21:38:34.769" v="2" actId="20577"/>
      <pc:docMkLst>
        <pc:docMk/>
      </pc:docMkLst>
      <pc:sldChg chg="modSp">
        <pc:chgData name="Rob Elliott" userId="S::elliot62@purdue.edu::04040a5f-f8f3-4f1b-92ff-388c2ca4c4a6" providerId="AD" clId="Web-{74D60FC8-57D4-C019-DE40-FEC82944204A}" dt="2024-08-16T21:38:34.769" v="2" actId="20577"/>
        <pc:sldMkLst>
          <pc:docMk/>
          <pc:sldMk cId="1280866440" sldId="280"/>
        </pc:sldMkLst>
      </pc:sldChg>
    </pc:docChg>
  </pc:docChgLst>
  <pc:docChgLst>
    <pc:chgData name="Rob Elliott" userId="04040a5f-f8f3-4f1b-92ff-388c2ca4c4a6" providerId="ADAL" clId="{E2329216-7C34-5DCE-90A5-A887F6A94933}"/>
    <pc:docChg chg="modSld">
      <pc:chgData name="Rob Elliott" userId="04040a5f-f8f3-4f1b-92ff-388c2ca4c4a6" providerId="ADAL" clId="{E2329216-7C34-5DCE-90A5-A887F6A94933}" dt="2025-08-18T17:27:48.998" v="9" actId="20577"/>
      <pc:docMkLst>
        <pc:docMk/>
      </pc:docMkLst>
      <pc:sldChg chg="modSp">
        <pc:chgData name="Rob Elliott" userId="04040a5f-f8f3-4f1b-92ff-388c2ca4c4a6" providerId="ADAL" clId="{E2329216-7C34-5DCE-90A5-A887F6A94933}" dt="2025-08-18T17:27:18.481" v="4" actId="20577"/>
        <pc:sldMkLst>
          <pc:docMk/>
          <pc:sldMk cId="653560785" sldId="271"/>
        </pc:sldMkLst>
        <pc:spChg chg="mod">
          <ac:chgData name="Rob Elliott" userId="04040a5f-f8f3-4f1b-92ff-388c2ca4c4a6" providerId="ADAL" clId="{E2329216-7C34-5DCE-90A5-A887F6A94933}" dt="2025-08-18T17:27:14.659" v="3" actId="20577"/>
          <ac:spMkLst>
            <pc:docMk/>
            <pc:sldMk cId="653560785" sldId="271"/>
            <ac:spMk id="3" creationId="{17273441-2EFE-1489-4D22-B0A6266746CE}"/>
          </ac:spMkLst>
        </pc:spChg>
        <pc:spChg chg="mod">
          <ac:chgData name="Rob Elliott" userId="04040a5f-f8f3-4f1b-92ff-388c2ca4c4a6" providerId="ADAL" clId="{E2329216-7C34-5DCE-90A5-A887F6A94933}" dt="2025-08-18T17:27:18.481" v="4" actId="20577"/>
          <ac:spMkLst>
            <pc:docMk/>
            <pc:sldMk cId="653560785" sldId="271"/>
            <ac:spMk id="4" creationId="{71567A70-6CC7-1113-1DD1-24DDCE1E099C}"/>
          </ac:spMkLst>
        </pc:spChg>
      </pc:sldChg>
      <pc:sldChg chg="modSp mod">
        <pc:chgData name="Rob Elliott" userId="04040a5f-f8f3-4f1b-92ff-388c2ca4c4a6" providerId="ADAL" clId="{E2329216-7C34-5DCE-90A5-A887F6A94933}" dt="2025-08-18T17:27:48.998" v="9" actId="20577"/>
        <pc:sldMkLst>
          <pc:docMk/>
          <pc:sldMk cId="50018761" sldId="273"/>
        </pc:sldMkLst>
        <pc:spChg chg="mod">
          <ac:chgData name="Rob Elliott" userId="04040a5f-f8f3-4f1b-92ff-388c2ca4c4a6" providerId="ADAL" clId="{E2329216-7C34-5DCE-90A5-A887F6A94933}" dt="2025-08-18T17:27:46.377" v="7" actId="20577"/>
          <ac:spMkLst>
            <pc:docMk/>
            <pc:sldMk cId="50018761" sldId="273"/>
            <ac:spMk id="3" creationId="{C493F004-7FE5-0ED8-33D4-09B98C5BBB80}"/>
          </ac:spMkLst>
        </pc:spChg>
        <pc:spChg chg="mod">
          <ac:chgData name="Rob Elliott" userId="04040a5f-f8f3-4f1b-92ff-388c2ca4c4a6" providerId="ADAL" clId="{E2329216-7C34-5DCE-90A5-A887F6A94933}" dt="2025-08-18T17:27:48.998" v="9" actId="20577"/>
          <ac:spMkLst>
            <pc:docMk/>
            <pc:sldMk cId="50018761" sldId="273"/>
            <ac:spMk id="4" creationId="{454693CF-404A-BB75-5A76-2805200217B0}"/>
          </ac:spMkLst>
        </pc:spChg>
      </pc:sldChg>
    </pc:docChg>
  </pc:docChgLst>
  <pc:docChgLst>
    <pc:chgData name="Rob Elliott" userId="04040a5f-f8f3-4f1b-92ff-388c2ca4c4a6" providerId="ADAL" clId="{6922F74F-B500-DA4E-B8FC-229E99EDDD74}"/>
    <pc:docChg chg="custSel modSld">
      <pc:chgData name="Rob Elliott" userId="04040a5f-f8f3-4f1b-92ff-388c2ca4c4a6" providerId="ADAL" clId="{6922F74F-B500-DA4E-B8FC-229E99EDDD74}" dt="2024-08-16T21:49:29.502" v="0" actId="7634"/>
      <pc:docMkLst>
        <pc:docMk/>
      </pc:docMkLst>
      <pc:sldChg chg="addSp">
        <pc:chgData name="Rob Elliott" userId="04040a5f-f8f3-4f1b-92ff-388c2ca4c4a6" providerId="ADAL" clId="{6922F74F-B500-DA4E-B8FC-229E99EDDD74}" dt="2024-08-16T21:49:29.502" v="0" actId="7634"/>
        <pc:sldMkLst>
          <pc:docMk/>
          <pc:sldMk cId="653560785" sldId="271"/>
        </pc:sldMkLst>
      </pc:sldChg>
    </pc:docChg>
  </pc:docChgLst>
  <pc:docChgLst>
    <pc:chgData name="Rob Elliott" userId="04040a5f-f8f3-4f1b-92ff-388c2ca4c4a6" providerId="ADAL" clId="{ABCEDDFA-2B25-7C43-8154-E167C1224E9B}"/>
    <pc:docChg chg="undo custSel modSld modMainMaster">
      <pc:chgData name="Rob Elliott" userId="04040a5f-f8f3-4f1b-92ff-388c2ca4c4a6" providerId="ADAL" clId="{ABCEDDFA-2B25-7C43-8154-E167C1224E9B}" dt="2024-08-16T21:56:18.852" v="94"/>
      <pc:docMkLst>
        <pc:docMk/>
      </pc:docMkLst>
      <pc:sldChg chg="delSp mod">
        <pc:chgData name="Rob Elliott" userId="04040a5f-f8f3-4f1b-92ff-388c2ca4c4a6" providerId="ADAL" clId="{ABCEDDFA-2B25-7C43-8154-E167C1224E9B}" dt="2024-08-16T21:50:17.316" v="0" actId="478"/>
        <pc:sldMkLst>
          <pc:docMk/>
          <pc:sldMk cId="653560785" sldId="271"/>
        </pc:sldMkLst>
      </pc:sldChg>
      <pc:sldMasterChg chg="modSldLayout">
        <pc:chgData name="Rob Elliott" userId="04040a5f-f8f3-4f1b-92ff-388c2ca4c4a6" providerId="ADAL" clId="{ABCEDDFA-2B25-7C43-8154-E167C1224E9B}" dt="2024-08-16T21:56:18.852" v="94"/>
        <pc:sldMasterMkLst>
          <pc:docMk/>
          <pc:sldMasterMk cId="3825614813" sldId="2147483648"/>
        </pc:sldMasterMkLst>
        <pc:sldLayoutChg chg="addSp delSp modSp mod">
          <pc:chgData name="Rob Elliott" userId="04040a5f-f8f3-4f1b-92ff-388c2ca4c4a6" providerId="ADAL" clId="{ABCEDDFA-2B25-7C43-8154-E167C1224E9B}" dt="2024-08-16T21:56:14.187" v="92" actId="1036"/>
          <pc:sldLayoutMkLst>
            <pc:docMk/>
            <pc:sldMasterMk cId="3825614813" sldId="2147483648"/>
            <pc:sldLayoutMk cId="4214527922" sldId="2147483649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34.302" v="52"/>
          <pc:sldLayoutMkLst>
            <pc:docMk/>
            <pc:sldMasterMk cId="3825614813" sldId="2147483648"/>
            <pc:sldLayoutMk cId="3639963463" sldId="2147483650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58.406" v="66"/>
          <pc:sldLayoutMkLst>
            <pc:docMk/>
            <pc:sldMasterMk cId="3825614813" sldId="2147483648"/>
            <pc:sldLayoutMk cId="2216712600" sldId="2147483653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45.363" v="58"/>
          <pc:sldLayoutMkLst>
            <pc:docMk/>
            <pc:sldMasterMk cId="3825614813" sldId="2147483648"/>
            <pc:sldLayoutMk cId="3433354303" sldId="2147483657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3:36.551" v="18" actId="1036"/>
          <pc:sldLayoutMkLst>
            <pc:docMk/>
            <pc:sldMasterMk cId="3825614813" sldId="2147483648"/>
            <pc:sldLayoutMk cId="569925206" sldId="2147483686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21.877" v="46" actId="1037"/>
          <pc:sldLayoutMkLst>
            <pc:docMk/>
            <pc:sldMasterMk cId="3825614813" sldId="2147483648"/>
            <pc:sldLayoutMk cId="3628432518" sldId="2147483687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30.735" v="50"/>
          <pc:sldLayoutMkLst>
            <pc:docMk/>
            <pc:sldMasterMk cId="3825614813" sldId="2147483648"/>
            <pc:sldLayoutMk cId="1626903686" sldId="2147483688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5:03.367" v="68"/>
          <pc:sldLayoutMkLst>
            <pc:docMk/>
            <pc:sldMasterMk cId="3825614813" sldId="2147483648"/>
            <pc:sldLayoutMk cId="1838946650" sldId="2147483690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6:18.852" v="94"/>
          <pc:sldLayoutMkLst>
            <pc:docMk/>
            <pc:sldMasterMk cId="3825614813" sldId="2147483648"/>
            <pc:sldLayoutMk cId="703653978" sldId="2147483691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38.562" v="54"/>
          <pc:sldLayoutMkLst>
            <pc:docMk/>
            <pc:sldMasterMk cId="3825614813" sldId="2147483648"/>
            <pc:sldLayoutMk cId="1681714512" sldId="2147483701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5:27.230" v="73"/>
          <pc:sldLayoutMkLst>
            <pc:docMk/>
            <pc:sldMasterMk cId="3825614813" sldId="2147483648"/>
            <pc:sldLayoutMk cId="1618025383" sldId="2147483703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49.068" v="60"/>
          <pc:sldLayoutMkLst>
            <pc:docMk/>
            <pc:sldMasterMk cId="3825614813" sldId="2147483648"/>
            <pc:sldLayoutMk cId="15941760" sldId="2147483706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52.628" v="62"/>
          <pc:sldLayoutMkLst>
            <pc:docMk/>
            <pc:sldMasterMk cId="3825614813" sldId="2147483648"/>
            <pc:sldLayoutMk cId="2750330322" sldId="2147483707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55.932" v="64"/>
          <pc:sldLayoutMkLst>
            <pc:docMk/>
            <pc:sldMasterMk cId="3825614813" sldId="2147483648"/>
            <pc:sldLayoutMk cId="885527150" sldId="2147483709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41.791" v="56"/>
          <pc:sldLayoutMkLst>
            <pc:docMk/>
            <pc:sldMasterMk cId="3825614813" sldId="2147483648"/>
            <pc:sldLayoutMk cId="2460767190" sldId="2147483712"/>
          </pc:sldLayoutMkLst>
        </pc:sldLayoutChg>
        <pc:sldLayoutChg chg="addSp delSp modSp mod">
          <pc:chgData name="Rob Elliott" userId="04040a5f-f8f3-4f1b-92ff-388c2ca4c4a6" providerId="ADAL" clId="{ABCEDDFA-2B25-7C43-8154-E167C1224E9B}" dt="2024-08-16T21:54:26.730" v="48"/>
          <pc:sldLayoutMkLst>
            <pc:docMk/>
            <pc:sldMasterMk cId="3825614813" sldId="2147483648"/>
            <pc:sldLayoutMk cId="1131998448" sldId="214748371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Name something you have done today that resulted in data being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52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06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alone is not enough. We need to transform that data into INFORMATION. And that’s what those researchers and insurers are doing: gathering data and building information about all of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53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That information is what we’ll turn into INSIGHTS. Insights give us actionable intelligence that help us make business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37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50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But let’s not get ahead of ourselves too much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8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notion of a database isn’t new. We’ve been using them for centuries. But they have evolved.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69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24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3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9A4D311B-103F-3B46-1BF7-B4CA507C04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B80308-E938-7A38-FB5A-129EFB3766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2E52B6A-2C07-6A59-C474-E6DA1C6464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AFC5288-CBB8-D0A3-3449-DE06EDA5D4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DCBF03-1442-1C51-9B2B-0E8A125F83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18413C7-888E-7F5B-CEF5-9970E3517A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B44172-6159-D4EA-3C2D-662429DAB0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BDCCC3-8558-A0BF-EAFE-3442768B39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F8E5305-E9EA-1F97-8C83-160D1FF75A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970F43-1E0C-3FD1-F231-2D91D8B29C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C40AC3A-ED18-0EB3-60E5-222E2B7587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3789850-17F1-9570-DFBF-DF2EB323F3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E1FD40-24C4-9437-88AF-204759E6CA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64FDF14-EE4D-2E2C-1630-C516331E2E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A7A538-C7DA-2571-B9E6-5707AA472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9D89C44-C137-4D5E-3EC1-91A74CF0CE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0086D8-778B-1EEB-4CE8-81211A2398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055EDBA-80F7-DE31-DC50-F0DBFE2B2F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48B68FB-A703-DEF5-D5F1-9E195C9666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E67FE-A215-C6B1-4659-2FD35847CB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0290C5-C0DD-C55A-256E-009E043E7D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C692B58-77BD-F3B2-DAE9-25BA5E824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6287323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propublica.org/article/health-insurers-are-vacuuming-up-details-about-you-and-it-could-raise-your-rates" TargetMode="External"/><Relationship Id="rId4" Type="http://schemas.openxmlformats.org/officeDocument/2006/relationships/hyperlink" Target="https://www.theguardian.com/society/2023/jan/26/loyalty-card-data-could-help-spot-ovarian-cancer-cases-sooner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Mgmt. of Organizational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MGMT 58200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F3E2F-110C-A313-E5B2-6E56C611F9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451945"/>
            <a:ext cx="11266713" cy="5546085"/>
          </a:xfrm>
        </p:spPr>
        <p:txBody>
          <a:bodyPr anchor="ctr"/>
          <a:lstStyle/>
          <a:p>
            <a:pPr algn="ctr"/>
            <a:r>
              <a:rPr lang="en-US" sz="8800"/>
              <a:t>Data</a:t>
            </a:r>
          </a:p>
          <a:p>
            <a:pPr algn="ctr"/>
            <a:r>
              <a:rPr lang="en-US" sz="8800"/>
              <a:t>is</a:t>
            </a:r>
          </a:p>
          <a:p>
            <a:pPr algn="ctr"/>
            <a:r>
              <a:rPr lang="en-US" sz="8800"/>
              <a:t>Everywhere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00E97-3B5C-16CF-365B-7AFC3DD5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3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F531E4-ED29-DB48-1471-C9FFC9FE7C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Retailers collect point-of-sale data from customers in the form of </a:t>
            </a:r>
            <a:r>
              <a:rPr lang="en-US" i="1"/>
              <a:t>loyalty</a:t>
            </a:r>
            <a:r>
              <a:rPr lang="en-US"/>
              <a:t> programs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First-party</a:t>
            </a:r>
            <a:r>
              <a:rPr lang="en-US"/>
              <a:t> data – direct from customer to business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Retailers can use that data to create customized discounts or incentives based on past purchase history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Who else might use that data?</a:t>
            </a:r>
            <a:br>
              <a:rPr lang="en-US"/>
            </a:b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hlinkClick r:id="rId3"/>
              </a:rPr>
              <a:t>Health researchers</a:t>
            </a:r>
            <a:r>
              <a:rPr lang="en-US"/>
              <a:t> ✅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i="1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Loyalty card data could help spot ovarian cancer cases sooner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(The Guardian, 01/26/2023)</a:t>
            </a:r>
            <a:br>
              <a:rPr lang="en-US"/>
            </a:b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Health Insurers 😡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i="1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Health Insurers Are Vacuuming Up Details About You — And It Could Raise Your Rates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(ProPublica, 07/17/2018)</a:t>
            </a:r>
            <a:endParaRPr lang="en-US" i="1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i="1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3956CE-4ED5-7C55-287C-5849779A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Example: Loyalty Card Programs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A9934-4042-A30B-E566-E2D43242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43BE9F-4BFF-56AE-6E37-0E99560688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Your actions become data</a:t>
            </a:r>
          </a:p>
        </p:txBody>
      </p:sp>
    </p:spTree>
    <p:extLst>
      <p:ext uri="{BB962C8B-B14F-4D97-AF65-F5344CB8AC3E}">
        <p14:creationId xmlns:p14="http://schemas.microsoft.com/office/powerpoint/2010/main" val="103244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F3E2F-110C-A313-E5B2-6E56C611F9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451945"/>
            <a:ext cx="11266713" cy="5546085"/>
          </a:xfrm>
        </p:spPr>
        <p:txBody>
          <a:bodyPr anchor="t"/>
          <a:lstStyle/>
          <a:p>
            <a:pPr algn="ctr"/>
            <a:r>
              <a:rPr lang="en-US" sz="6600"/>
              <a:t>Data</a:t>
            </a:r>
          </a:p>
          <a:p>
            <a:pPr algn="ctr"/>
            <a:r>
              <a:rPr lang="en-US" sz="6600"/>
              <a:t>⬇️</a:t>
            </a:r>
          </a:p>
          <a:p>
            <a:pPr algn="ctr"/>
            <a:r>
              <a:rPr lang="en-US" sz="6600"/>
              <a:t>Information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00E97-3B5C-16CF-365B-7AFC3DD5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2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2E19-8FC2-828E-2662-8454FB24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Data to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73441-2EFE-1489-4D22-B0A6266746CE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Rob went to the grocery store on 8/17/25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Bourbon was purchased on 8/17/25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67A70-6CC7-1113-1DD1-24DDCE1E09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Information</a:t>
            </a:r>
          </a:p>
          <a:p>
            <a:r>
              <a:rPr lang="en-US" dirty="0"/>
              <a:t>Rob purchased bourbon on 8/17/25 at the grocery store</a:t>
            </a:r>
          </a:p>
          <a:p>
            <a:r>
              <a:rPr lang="en-US" dirty="0"/>
              <a:t>Rob purchases bourbon approximately every 60 days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06D6C-FE7F-85B3-2799-5A25395A25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6E782-5FB8-5340-B292-CBE46551CB4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D7E9D4-3E0F-2D72-E9C4-8ED9A07DE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5773" y="3534049"/>
            <a:ext cx="3577793" cy="215330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6DB8510-D9DE-3FE8-21B4-805337BF1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3081" y="3738493"/>
            <a:ext cx="3577793" cy="17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6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F3E2F-110C-A313-E5B2-6E56C611F9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451945"/>
            <a:ext cx="11266713" cy="5546085"/>
          </a:xfrm>
        </p:spPr>
        <p:txBody>
          <a:bodyPr anchor="t"/>
          <a:lstStyle/>
          <a:p>
            <a:pPr algn="ctr"/>
            <a:r>
              <a:rPr lang="en-US" sz="6600"/>
              <a:t>Data</a:t>
            </a:r>
          </a:p>
          <a:p>
            <a:pPr algn="ctr"/>
            <a:r>
              <a:rPr lang="en-US" sz="6600"/>
              <a:t>⬇️</a:t>
            </a:r>
          </a:p>
          <a:p>
            <a:pPr algn="ctr"/>
            <a:r>
              <a:rPr lang="en-US" sz="6600"/>
              <a:t>Information</a:t>
            </a:r>
          </a:p>
          <a:p>
            <a:pPr algn="ctr"/>
            <a:r>
              <a:rPr lang="en-US" sz="6600"/>
              <a:t>⬇️</a:t>
            </a:r>
          </a:p>
          <a:p>
            <a:pPr algn="ctr"/>
            <a:r>
              <a:rPr lang="en-US" sz="6600"/>
              <a:t>Insights</a:t>
            </a:r>
          </a:p>
          <a:p>
            <a:pPr algn="ctr"/>
            <a:endParaRPr lang="en-US" sz="66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00E97-3B5C-16CF-365B-7AFC3DD5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8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E39EE-8176-A5FE-742A-7AC33ABD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Data to Information to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3F004-7FE5-0ED8-33D4-09B98C5BBB8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Rob went to the grocery store on 8/17/25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Bourbon was purchased on 8/17/25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693CF-404A-BB75-5A76-2805200217B0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Information</a:t>
            </a:r>
          </a:p>
          <a:p>
            <a:r>
              <a:rPr lang="en-US" dirty="0"/>
              <a:t>Rob purchased bourbon on 8/17/25 at the grocery store</a:t>
            </a:r>
          </a:p>
          <a:p>
            <a:r>
              <a:rPr lang="en-US" dirty="0"/>
              <a:t>Rob purchases bourbon approximately every 60 days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2C0E67-D4D8-533E-F234-A20CF7895757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Insights</a:t>
            </a:r>
          </a:p>
          <a:p>
            <a:r>
              <a:rPr lang="en-US" dirty="0"/>
              <a:t>Rob is a regular customer who might be able to be enticed to buy other items</a:t>
            </a:r>
          </a:p>
          <a:p>
            <a:pPr lvl="1"/>
            <a:r>
              <a:rPr lang="en-US" i="1"/>
              <a:t>Email a coupon to Rob for $2 off bourbon when he buys soda</a:t>
            </a:r>
          </a:p>
          <a:p>
            <a:r>
              <a:rPr lang="en-US" dirty="0"/>
              <a:t>Rob is a regular customer who might be incentivized to visit the store more frequently</a:t>
            </a:r>
          </a:p>
          <a:p>
            <a:pPr lvl="1"/>
            <a:r>
              <a:rPr lang="en-US" i="1" dirty="0"/>
              <a:t>Send a push message to Rob when bourbon goes on sale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943A43-928A-2905-383A-A5760F2040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1C2CD-282B-5482-8E65-941CA45AE3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127D5E-B09C-BDD4-6541-BA995417C3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3A0C52-75DB-8DEC-CB99-36B9B44D16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800"/>
              <a:t>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Identification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Collection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Storage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/>
              <a:t>Information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Query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Aggregation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Combination of datasets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/>
              <a:t>Insights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Presentation of results to stakeholders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Review of actionable intelligence </a:t>
            </a:r>
            <a:r>
              <a:rPr lang="en-US" i="1"/>
              <a:t>(do the business decisions make sense in the context of the data?)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CDD90E7-F5F3-F261-DC7B-EEBA9B973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Evolution of Organizational Data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E8339F1-2C7F-10C3-914B-67F4B9D2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6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9882AB-7FD5-48D0-8762-20FB777E5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Recipe Collection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9F7D8E-8ADE-E3E4-42B4-E354E707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“Database”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B009C982-062D-0717-A590-44E9ECFF717A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/>
          <a:srcRect t="12717" b="12717"/>
          <a:stretch/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52EA0E5B-C6CB-D22D-D627-EBDAD634D800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4"/>
          <a:srcRect t="22500" b="22500"/>
          <a:stretch/>
        </p:blipFill>
        <p:spPr/>
      </p:pic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6AC3F222-C3E1-94CA-8F61-8C1CB2EE55D0}"/>
              </a:ext>
            </a:extLst>
          </p:cNvPr>
          <p:cNvPicPr>
            <a:picLocks noGrp="1" noChangeAspect="1"/>
          </p:cNvPicPr>
          <p:nvPr>
            <p:ph type="pic" idx="17"/>
          </p:nvPr>
        </p:nvPicPr>
        <p:blipFill>
          <a:blip r:embed="rId5"/>
          <a:srcRect t="12268" b="12268"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19830F-EB00-2F01-8678-1BE8618209CA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en-US"/>
              <a:t>Library Card Catalog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C6FDC3-6443-8D7E-8F85-33972F75012C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rPr lang="en-US"/>
              <a:t>Rolodex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E2865B-FEF3-D8FD-29B0-92EDB4A908C2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rPr lang="en-US"/>
              <a:t>Address Book</a:t>
            </a: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EBD9D04F-906F-4E77-AA3F-C2D27CD5DAFC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6"/>
          <a:srcRect t="12726" b="12726"/>
          <a:stretch/>
        </p:blipFill>
        <p:spPr/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EA942160-96D9-31E8-4D45-B818B73076E5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7"/>
          <a:srcRect t="12704" b="12704"/>
          <a:stretch/>
        </p:blipFill>
        <p:spPr/>
      </p:pic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8826317B-BF7F-393B-53E0-6A874C213C08}"/>
              </a:ext>
            </a:extLst>
          </p:cNvPr>
          <p:cNvPicPr>
            <a:picLocks noGrp="1" noChangeAspect="1"/>
          </p:cNvPicPr>
          <p:nvPr>
            <p:ph type="pic" idx="23"/>
          </p:nvPr>
        </p:nvPicPr>
        <p:blipFill>
          <a:blip r:embed="rId8"/>
          <a:srcRect t="12756" b="12756"/>
          <a:stretch/>
        </p:blipFill>
        <p:spPr/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E4F22D-665F-48B1-5AD0-307E99DCC2AC}"/>
              </a:ext>
            </a:extLst>
          </p:cNvPr>
          <p:cNvSpPr>
            <a:spLocks noGrp="1"/>
          </p:cNvSpPr>
          <p:nvPr>
            <p:ph type="body" sz="half" idx="24"/>
          </p:nvPr>
        </p:nvSpPr>
        <p:spPr/>
        <p:txBody>
          <a:bodyPr/>
          <a:lstStyle/>
          <a:p>
            <a:r>
              <a:rPr lang="en-US"/>
              <a:t>Ledger or Checkbook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56A6F4D-0472-8185-262B-439B3DB2CC7E}"/>
              </a:ext>
            </a:extLst>
          </p:cNvPr>
          <p:cNvSpPr>
            <a:spLocks noGrp="1"/>
          </p:cNvSpPr>
          <p:nvPr>
            <p:ph type="body" sz="half" idx="25"/>
          </p:nvPr>
        </p:nvSpPr>
        <p:spPr/>
        <p:txBody>
          <a:bodyPr/>
          <a:lstStyle/>
          <a:p>
            <a:r>
              <a:rPr lang="en-US"/>
              <a:t>Ballot Box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559AB0-7104-3B08-A788-2956B972C6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B8A5691-5451-3ED3-639F-83442A73164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1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 build="p"/>
      <p:bldP spid="8" grpId="0" build="p"/>
      <p:bldP spid="9" grpId="0" build="p"/>
      <p:bldP spid="13" grpId="0" build="p"/>
      <p:bldP spid="1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73E4A0-4D37-FFBD-2596-8D04FFC12897}"/>
              </a:ext>
            </a:extLst>
          </p:cNvPr>
          <p:cNvSpPr txBox="1"/>
          <p:nvPr/>
        </p:nvSpPr>
        <p:spPr>
          <a:xfrm>
            <a:off x="4256440" y="1421365"/>
            <a:ext cx="7494262" cy="4738135"/>
          </a:xfrm>
          <a:prstGeom prst="rect">
            <a:avLst/>
          </a:prstGeom>
          <a:ln w="50800">
            <a:solidFill>
              <a:schemeClr val="tx1"/>
            </a:solidFill>
            <a:prstDash val="dash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rtlCol="0" anchor="b" anchorCtr="0">
            <a:noAutofit/>
          </a:bodyPr>
          <a:lstStyle/>
          <a:p>
            <a:pPr algn="r"/>
            <a:r>
              <a:rPr lang="en-US" b="1">
                <a:latin typeface="Acumin Pro" panose="020B0504020202020204" pitchFamily="34" charset="77"/>
              </a:rPr>
              <a:t>MGMT 59000 – Advanced Database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74D50-32C1-CAC4-FABC-A53E8364FB45}"/>
              </a:ext>
            </a:extLst>
          </p:cNvPr>
          <p:cNvSpPr txBox="1"/>
          <p:nvPr/>
        </p:nvSpPr>
        <p:spPr>
          <a:xfrm>
            <a:off x="355520" y="1421365"/>
            <a:ext cx="3759280" cy="4738135"/>
          </a:xfrm>
          <a:prstGeom prst="rect">
            <a:avLst/>
          </a:prstGeom>
          <a:ln w="508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rtlCol="0" anchor="b" anchorCtr="0">
            <a:noAutofit/>
          </a:bodyPr>
          <a:lstStyle/>
          <a:p>
            <a:pPr algn="r"/>
            <a:r>
              <a:rPr lang="en-US" b="1">
                <a:latin typeface="Acumin Pro" panose="020B0504020202020204" pitchFamily="34" charset="77"/>
              </a:rPr>
              <a:t>MGMT 58200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00D75-B4D6-AF20-6A3C-700208CC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Types of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AA8A8-296C-9D26-1F3F-F9E8291CA1DB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/>
              <a:t>Relational</a:t>
            </a:r>
          </a:p>
          <a:p>
            <a:r>
              <a:rPr lang="en-US"/>
              <a:t>Traditional “database” mindset</a:t>
            </a:r>
          </a:p>
          <a:p>
            <a:r>
              <a:rPr lang="en-US"/>
              <a:t>Structured data</a:t>
            </a:r>
          </a:p>
          <a:p>
            <a:r>
              <a:rPr lang="en-US"/>
              <a:t>Records with similar details collected into tables</a:t>
            </a:r>
          </a:p>
          <a:p>
            <a:r>
              <a:rPr lang="en-US"/>
              <a:t>Multiple tables can be integrated together</a:t>
            </a:r>
          </a:p>
          <a:p>
            <a:r>
              <a:rPr lang="en-US"/>
              <a:t>Primarily use SQL for interactions</a:t>
            </a:r>
          </a:p>
          <a:p>
            <a:r>
              <a:rPr lang="en-US"/>
              <a:t>Examples: SQL Server, MySQL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5C9BE-5CD6-89D4-F276-CDD957470C94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/>
              <a:t>Non-Relational</a:t>
            </a:r>
          </a:p>
          <a:p>
            <a:r>
              <a:rPr lang="en-US"/>
              <a:t>“NoSQL”</a:t>
            </a:r>
          </a:p>
          <a:p>
            <a:r>
              <a:rPr lang="en-US"/>
              <a:t>Semi-structured</a:t>
            </a:r>
          </a:p>
          <a:p>
            <a:r>
              <a:rPr lang="en-US"/>
              <a:t>Documents are grouped into collections</a:t>
            </a:r>
          </a:p>
          <a:p>
            <a:r>
              <a:rPr lang="en-US"/>
              <a:t>Examples: MongoDB, </a:t>
            </a:r>
            <a:r>
              <a:rPr lang="en-US" err="1"/>
              <a:t>Firestore</a:t>
            </a:r>
            <a:r>
              <a:rPr lang="en-US"/>
              <a:t>, Cassandra, CouchDB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90F2BE-4E8F-938B-B8A6-11805AD6912F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/>
              <a:t>Graph</a:t>
            </a:r>
          </a:p>
          <a:p>
            <a:r>
              <a:rPr lang="en-US"/>
              <a:t>Objects are stored as nodes</a:t>
            </a:r>
          </a:p>
          <a:p>
            <a:r>
              <a:rPr lang="en-US"/>
              <a:t>The </a:t>
            </a:r>
            <a:r>
              <a:rPr lang="en-US" i="1"/>
              <a:t>relationships between nodes</a:t>
            </a:r>
            <a:r>
              <a:rPr lang="en-US"/>
              <a:t> contain data as well</a:t>
            </a:r>
          </a:p>
          <a:p>
            <a:r>
              <a:rPr lang="en-US"/>
              <a:t>Think: social media</a:t>
            </a:r>
          </a:p>
          <a:p>
            <a:r>
              <a:rPr lang="en-US"/>
              <a:t>Examples: Neo4j, TAO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85541E-0BE4-2A0F-A2B6-677E22FD0C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85158-CCB8-9884-1A1D-3A802B6120C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6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3" grpId="0" build="p"/>
      <p:bldP spid="4" grpId="0" build="p"/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845B-0F97-CDF3-DC15-71C27B9E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do we begin?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0C9AC-90C2-C5A5-722E-475BF75D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7F92E8-6847-9DF4-1ADC-CAD2A3300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7400" y="2901201"/>
            <a:ext cx="4044950" cy="284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95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53A6DC-E025-38A9-CD2F-D9EC9AEF05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Stored data should be reflective of the “real” world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55E0F-1FD4-EE13-4E5A-EFCEC1361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Relational databases are built on the notion of </a:t>
            </a:r>
            <a:r>
              <a:rPr lang="en-US" b="1"/>
              <a:t>entities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Entities represent structures or concepts within the business or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Step 1: Discover the entities that are the building blocks of your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889E72-CD75-2B11-6C32-81064DC3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Building a Conceptual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629C4-D536-D31B-FE1E-B9C797F7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06FA26A-C4C7-B537-517F-9493C8C12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9563" y="3488831"/>
            <a:ext cx="3975100" cy="250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32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28795E-65E5-D7F1-5A7B-B480D54C79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D6CE8-61BF-3297-CAE7-151B9FA7F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sz="2400">
                <a:effectLst/>
                <a:latin typeface="Palatino Linotype" panose="02040502050505030304" pitchFamily="18" charset="0"/>
              </a:rPr>
              <a:t>AudioSphere is a leading global audio streaming platform that offers millions of songs, podcasts, and videos from artists all around the world. It provides a personalized and interactive music experience with advanced social features, allowing users to discover new music, share tracks, create collaborative playlists, and connect with friends and artists.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D3ACBB-071A-12DC-BE69-A1C85DB2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System Description: AudioSphere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6949B-86E1-127E-141D-ABB657C4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00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7BA76C-C984-69A0-45C8-A6D2645483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92021-0E68-C023-298E-D355462C9F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b="1"/>
              <a:t>Business Documentation</a:t>
            </a:r>
          </a:p>
          <a:p>
            <a:pPr marL="800100" lvl="1" indent="-342900">
              <a:buAutoNum type="alphaLcPeriod"/>
            </a:pPr>
            <a:r>
              <a:rPr lang="en-US"/>
              <a:t>System requests</a:t>
            </a:r>
          </a:p>
          <a:p>
            <a:pPr marL="800100" lvl="1" indent="-342900">
              <a:buAutoNum type="alphaLcPeriod"/>
            </a:pPr>
            <a:r>
              <a:rPr lang="en-US"/>
              <a:t>System descriptions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Proposals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Competitive Analysis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Find and dissect similar products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Interviews with Stakeholders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Should have been done with the systems development process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Stakeholders: inside </a:t>
            </a:r>
            <a:r>
              <a:rPr lang="en-US" i="1"/>
              <a:t>and outside</a:t>
            </a:r>
            <a:r>
              <a:rPr lang="en-US"/>
              <a:t> the organization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b="1"/>
              <a:t>Your own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</a:rPr>
              <a:t>lived</a:t>
            </a:r>
            <a:r>
              <a:rPr lang="en-US" sz="2800" b="1"/>
              <a:t> experience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What have you used?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What have you loved?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What have you hated?</a:t>
            </a:r>
            <a:endParaRPr lang="en-US" sz="28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5255E8-2545-04C8-D602-E41ADB64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Resources for Discovering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76143-F784-34D6-BB62-53866524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1683565-EB34-916C-8327-0EB36A7FB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5512" y="954291"/>
            <a:ext cx="3708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5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2" id="{9767B9B5-1BF0-0F43-B652-0C60819FC4E6}" vid="{B7CB6F7B-77FC-564D-A9DB-27B153CE12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41048C2-E2B8-6543-9C79-F1243E6DB65C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21BADCD2951F458D1FE74E6AA3B180" ma:contentTypeVersion="4" ma:contentTypeDescription="Create a new document." ma:contentTypeScope="" ma:versionID="6a159c40f146eca9057c4311326ce92f">
  <xsd:schema xmlns:xsd="http://www.w3.org/2001/XMLSchema" xmlns:xs="http://www.w3.org/2001/XMLSchema" xmlns:p="http://schemas.microsoft.com/office/2006/metadata/properties" xmlns:ns2="ad269fea-99fe-4af2-b6b3-cb940c3720ba" targetNamespace="http://schemas.microsoft.com/office/2006/metadata/properties" ma:root="true" ma:fieldsID="5959dd7c6d50af2132870ebd69a4bc20" ns2:_="">
    <xsd:import namespace="ad269fea-99fe-4af2-b6b3-cb940c3720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269fea-99fe-4af2-b6b3-cb940c372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CF1DD6-18C5-4906-9EF5-C3DC32E6184E}">
  <ds:schemaRefs>
    <ds:schemaRef ds:uri="ad269fea-99fe-4af2-b6b3-cb940c3720b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ad269fea-99fe-4af2-b6b3-cb940c3720ba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673</Words>
  <Application>Microsoft Macintosh PowerPoint</Application>
  <PresentationFormat>Widescreen</PresentationFormat>
  <Paragraphs>134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Acumin Pro</vt:lpstr>
      <vt:lpstr>Acumin Pro Condensed Semibold</vt:lpstr>
      <vt:lpstr>Acumin Pro Medium</vt:lpstr>
      <vt:lpstr>Calibri</vt:lpstr>
      <vt:lpstr>Wingdings</vt:lpstr>
      <vt:lpstr>Franklin Gothic Medium</vt:lpstr>
      <vt:lpstr>Franklin Gothic Medium Cond</vt:lpstr>
      <vt:lpstr>Palatino Linotype</vt:lpstr>
      <vt:lpstr>Franklin Gothic Book</vt:lpstr>
      <vt:lpstr>Arial</vt:lpstr>
      <vt:lpstr>Acumin Pro Semibold</vt:lpstr>
      <vt:lpstr>Office Theme</vt:lpstr>
      <vt:lpstr>Mgmt. of Organizational Data</vt:lpstr>
      <vt:lpstr>PowerPoint Presentation</vt:lpstr>
      <vt:lpstr>Example: Loyalty Card Programs</vt:lpstr>
      <vt:lpstr>PowerPoint Presentation</vt:lpstr>
      <vt:lpstr>Data to Information</vt:lpstr>
      <vt:lpstr>PowerPoint Presentation</vt:lpstr>
      <vt:lpstr>Data to Information to Insights</vt:lpstr>
      <vt:lpstr>Evolution of Organizational Data</vt:lpstr>
      <vt:lpstr>“Database”</vt:lpstr>
      <vt:lpstr>Types of Databases</vt:lpstr>
      <vt:lpstr>Where do we begin?</vt:lpstr>
      <vt:lpstr>Building a Conceptual Model</vt:lpstr>
      <vt:lpstr>System Description: AudioSphere</vt:lpstr>
      <vt:lpstr>Resources for Discovering Entities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Mgmt. of Organizational Data</dc:title>
  <dc:creator>Rob Elliott</dc:creator>
  <cp:lastModifiedBy>Rob Elliott</cp:lastModifiedBy>
  <cp:revision>1</cp:revision>
  <dcterms:created xsi:type="dcterms:W3CDTF">2024-07-30T15:09:16Z</dcterms:created>
  <dcterms:modified xsi:type="dcterms:W3CDTF">2025-08-24T18:47:16Z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0x0101000921BADCD2951F458D1FE74E6AA3B180</vt:lpwstr>
  </property>
  <property fmtid="{D5CDD505-2E9C-101B-9397-08002B2CF9AE}" pid="10" name="MediaServiceImageTags">
    <vt:lpwstr/>
  </property>
</Properties>
</file>