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69" r:id="rId6"/>
    <p:sldId id="268" r:id="rId7"/>
    <p:sldId id="278" r:id="rId8"/>
    <p:sldId id="271" r:id="rId9"/>
    <p:sldId id="279" r:id="rId10"/>
    <p:sldId id="272" r:id="rId11"/>
    <p:sldId id="282" r:id="rId12"/>
    <p:sldId id="270" r:id="rId13"/>
  </p:sldIdLst>
  <p:sldSz cx="12192000" cy="6858000"/>
  <p:notesSz cx="6858000" cy="9144000"/>
  <p:embeddedFontLst>
    <p:embeddedFont>
      <p:font typeface="Acumin Pro" panose="020B0504020202020204" pitchFamily="34" charset="77"/>
      <p:regular r:id="rId15"/>
      <p:bold r:id="rId16"/>
      <p:italic r:id="rId17"/>
      <p:boldItalic r:id="rId18"/>
    </p:embeddedFont>
    <p:embeddedFont>
      <p:font typeface="Acumin Pro Condensed Semibold" panose="020B0506020202020204" pitchFamily="34" charset="77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Franklin Gothic Book" panose="020B0503020102020204" pitchFamily="34" charset="0"/>
      <p:regular r:id="rId27"/>
      <p:italic r:id="rId28"/>
    </p:embeddedFont>
    <p:embeddedFont>
      <p:font typeface="Franklin Gothic Medium" panose="020B0603020102020204" pitchFamily="34" charset="0"/>
      <p:regular r:id="rId29"/>
      <p: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AF5A2-5CD8-AF4E-8FB4-C4F4A160FEA4}" v="6" dt="2024-08-26T15:27:19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080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65BAF5A2-5CD8-AF4E-8FB4-C4F4A160FEA4}"/>
    <pc:docChg chg="delSld">
      <pc:chgData name="Rob Elliott" userId="04040a5f-f8f3-4f1b-92ff-388c2ca4c4a6" providerId="ADAL" clId="{65BAF5A2-5CD8-AF4E-8FB4-C4F4A160FEA4}" dt="2024-08-26T15:27:19.213" v="5" actId="2696"/>
      <pc:docMkLst>
        <pc:docMk/>
      </pc:docMkLst>
      <pc:sldChg chg="del">
        <pc:chgData name="Rob Elliott" userId="04040a5f-f8f3-4f1b-92ff-388c2ca4c4a6" providerId="ADAL" clId="{65BAF5A2-5CD8-AF4E-8FB4-C4F4A160FEA4}" dt="2024-08-26T15:27:19.116" v="0" actId="2696"/>
        <pc:sldMkLst>
          <pc:docMk/>
          <pc:sldMk cId="2114604469" sldId="273"/>
        </pc:sldMkLst>
      </pc:sldChg>
      <pc:sldChg chg="del">
        <pc:chgData name="Rob Elliott" userId="04040a5f-f8f3-4f1b-92ff-388c2ca4c4a6" providerId="ADAL" clId="{65BAF5A2-5CD8-AF4E-8FB4-C4F4A160FEA4}" dt="2024-08-26T15:27:19.190" v="3" actId="2696"/>
        <pc:sldMkLst>
          <pc:docMk/>
          <pc:sldMk cId="412068297" sldId="274"/>
        </pc:sldMkLst>
      </pc:sldChg>
      <pc:sldChg chg="del">
        <pc:chgData name="Rob Elliott" userId="04040a5f-f8f3-4f1b-92ff-388c2ca4c4a6" providerId="ADAL" clId="{65BAF5A2-5CD8-AF4E-8FB4-C4F4A160FEA4}" dt="2024-08-26T15:27:19.119" v="1" actId="2696"/>
        <pc:sldMkLst>
          <pc:docMk/>
          <pc:sldMk cId="3377497103" sldId="275"/>
        </pc:sldMkLst>
      </pc:sldChg>
      <pc:sldChg chg="del">
        <pc:chgData name="Rob Elliott" userId="04040a5f-f8f3-4f1b-92ff-388c2ca4c4a6" providerId="ADAL" clId="{65BAF5A2-5CD8-AF4E-8FB4-C4F4A160FEA4}" dt="2024-08-26T15:27:19.213" v="5" actId="2696"/>
        <pc:sldMkLst>
          <pc:docMk/>
          <pc:sldMk cId="3983219885" sldId="276"/>
        </pc:sldMkLst>
      </pc:sldChg>
      <pc:sldChg chg="del">
        <pc:chgData name="Rob Elliott" userId="04040a5f-f8f3-4f1b-92ff-388c2ca4c4a6" providerId="ADAL" clId="{65BAF5A2-5CD8-AF4E-8FB4-C4F4A160FEA4}" dt="2024-08-26T15:27:19.121" v="2" actId="2696"/>
        <pc:sldMkLst>
          <pc:docMk/>
          <pc:sldMk cId="3105118339" sldId="280"/>
        </pc:sldMkLst>
      </pc:sldChg>
      <pc:sldChg chg="del">
        <pc:chgData name="Rob Elliott" userId="04040a5f-f8f3-4f1b-92ff-388c2ca4c4a6" providerId="ADAL" clId="{65BAF5A2-5CD8-AF4E-8FB4-C4F4A160FEA4}" dt="2024-08-26T15:27:19.191" v="4" actId="2696"/>
        <pc:sldMkLst>
          <pc:docMk/>
          <pc:sldMk cId="1869547649" sldId="281"/>
        </pc:sldMkLst>
      </pc:sldChg>
    </pc:docChg>
  </pc:docChgLst>
  <pc:docChgLst>
    <pc:chgData name="Rob Elliott" userId="04040a5f-f8f3-4f1b-92ff-388c2ca4c4a6" providerId="ADAL" clId="{70DC5FEB-67B0-D04C-AE95-52D8E600BF07}"/>
    <pc:docChg chg="custSel addSld delSld modSld">
      <pc:chgData name="Rob Elliott" userId="04040a5f-f8f3-4f1b-92ff-388c2ca4c4a6" providerId="ADAL" clId="{70DC5FEB-67B0-D04C-AE95-52D8E600BF07}" dt="2024-08-23T20:31:25.702" v="231" actId="20577"/>
      <pc:docMkLst>
        <pc:docMk/>
      </pc:docMkLst>
      <pc:sldChg chg="modSp mod">
        <pc:chgData name="Rob Elliott" userId="04040a5f-f8f3-4f1b-92ff-388c2ca4c4a6" providerId="ADAL" clId="{70DC5FEB-67B0-D04C-AE95-52D8E600BF07}" dt="2024-08-23T19:28:21.008" v="10" actId="14100"/>
        <pc:sldMkLst>
          <pc:docMk/>
          <pc:sldMk cId="2990142262" sldId="270"/>
        </pc:sldMkLst>
        <pc:spChg chg="mod">
          <ac:chgData name="Rob Elliott" userId="04040a5f-f8f3-4f1b-92ff-388c2ca4c4a6" providerId="ADAL" clId="{70DC5FEB-67B0-D04C-AE95-52D8E600BF07}" dt="2024-08-23T19:28:21.008" v="10" actId="14100"/>
          <ac:spMkLst>
            <pc:docMk/>
            <pc:sldMk cId="2990142262" sldId="270"/>
            <ac:spMk id="3" creationId="{B8EE5964-C134-1055-315B-A9436E31B307}"/>
          </ac:spMkLst>
        </pc:spChg>
      </pc:sldChg>
      <pc:sldChg chg="modSp mod">
        <pc:chgData name="Rob Elliott" userId="04040a5f-f8f3-4f1b-92ff-388c2ca4c4a6" providerId="ADAL" clId="{70DC5FEB-67B0-D04C-AE95-52D8E600BF07}" dt="2024-08-23T19:29:48.076" v="14" actId="1076"/>
        <pc:sldMkLst>
          <pc:docMk/>
          <pc:sldMk cId="3983219885" sldId="276"/>
        </pc:sldMkLst>
        <pc:spChg chg="mod">
          <ac:chgData name="Rob Elliott" userId="04040a5f-f8f3-4f1b-92ff-388c2ca4c4a6" providerId="ADAL" clId="{70DC5FEB-67B0-D04C-AE95-52D8E600BF07}" dt="2024-08-23T19:29:48.076" v="14" actId="1076"/>
          <ac:spMkLst>
            <pc:docMk/>
            <pc:sldMk cId="3983219885" sldId="276"/>
            <ac:spMk id="7" creationId="{2459B090-294B-F384-2417-E232A6124C4D}"/>
          </ac:spMkLst>
        </pc:spChg>
        <pc:graphicFrameChg chg="modGraphic">
          <ac:chgData name="Rob Elliott" userId="04040a5f-f8f3-4f1b-92ff-388c2ca4c4a6" providerId="ADAL" clId="{70DC5FEB-67B0-D04C-AE95-52D8E600BF07}" dt="2024-08-23T19:29:43.856" v="13" actId="20577"/>
          <ac:graphicFrameMkLst>
            <pc:docMk/>
            <pc:sldMk cId="3983219885" sldId="276"/>
            <ac:graphicFrameMk id="6" creationId="{F2907AD4-D20F-2958-F725-0A8C2A89C8C0}"/>
          </ac:graphicFrameMkLst>
        </pc:graphicFrameChg>
      </pc:sldChg>
      <pc:sldChg chg="modSp del mod">
        <pc:chgData name="Rob Elliott" userId="04040a5f-f8f3-4f1b-92ff-388c2ca4c4a6" providerId="ADAL" clId="{70DC5FEB-67B0-D04C-AE95-52D8E600BF07}" dt="2024-08-23T19:31:51.245" v="23" actId="2696"/>
        <pc:sldMkLst>
          <pc:docMk/>
          <pc:sldMk cId="2904889760" sldId="277"/>
        </pc:sldMkLst>
        <pc:graphicFrameChg chg="modGraphic">
          <ac:chgData name="Rob Elliott" userId="04040a5f-f8f3-4f1b-92ff-388c2ca4c4a6" providerId="ADAL" clId="{70DC5FEB-67B0-D04C-AE95-52D8E600BF07}" dt="2024-08-23T19:29:55.802" v="16" actId="6549"/>
          <ac:graphicFrameMkLst>
            <pc:docMk/>
            <pc:sldMk cId="2904889760" sldId="277"/>
            <ac:graphicFrameMk id="6" creationId="{450703EB-1F9B-CB46-458E-C7CB046C1631}"/>
          </ac:graphicFrameMkLst>
        </pc:graphicFrameChg>
        <pc:graphicFrameChg chg="modGraphic">
          <ac:chgData name="Rob Elliott" userId="04040a5f-f8f3-4f1b-92ff-388c2ca4c4a6" providerId="ADAL" clId="{70DC5FEB-67B0-D04C-AE95-52D8E600BF07}" dt="2024-08-23T19:30:00.608" v="17" actId="6549"/>
          <ac:graphicFrameMkLst>
            <pc:docMk/>
            <pc:sldMk cId="2904889760" sldId="277"/>
            <ac:graphicFrameMk id="7" creationId="{42F84627-C776-FF64-1AF6-75FAACAED788}"/>
          </ac:graphicFrameMkLst>
        </pc:graphicFrameChg>
      </pc:sldChg>
      <pc:sldChg chg="modSp mod">
        <pc:chgData name="Rob Elliott" userId="04040a5f-f8f3-4f1b-92ff-388c2ca4c4a6" providerId="ADAL" clId="{70DC5FEB-67B0-D04C-AE95-52D8E600BF07}" dt="2024-08-23T19:30:33.375" v="21" actId="1076"/>
        <pc:sldMkLst>
          <pc:docMk/>
          <pc:sldMk cId="3105118339" sldId="280"/>
        </pc:sldMkLst>
        <pc:spChg chg="mod">
          <ac:chgData name="Rob Elliott" userId="04040a5f-f8f3-4f1b-92ff-388c2ca4c4a6" providerId="ADAL" clId="{70DC5FEB-67B0-D04C-AE95-52D8E600BF07}" dt="2024-08-23T19:30:33.375" v="21" actId="1076"/>
          <ac:spMkLst>
            <pc:docMk/>
            <pc:sldMk cId="3105118339" sldId="280"/>
            <ac:spMk id="11" creationId="{4E539ED5-62B4-6D67-D70B-96389B53377C}"/>
          </ac:spMkLst>
        </pc:spChg>
        <pc:graphicFrameChg chg="modGraphic">
          <ac:chgData name="Rob Elliott" userId="04040a5f-f8f3-4f1b-92ff-388c2ca4c4a6" providerId="ADAL" clId="{70DC5FEB-67B0-D04C-AE95-52D8E600BF07}" dt="2024-08-23T19:30:26.623" v="20" actId="20577"/>
          <ac:graphicFrameMkLst>
            <pc:docMk/>
            <pc:sldMk cId="3105118339" sldId="280"/>
            <ac:graphicFrameMk id="6" creationId="{450703EB-1F9B-CB46-458E-C7CB046C1631}"/>
          </ac:graphicFrameMkLst>
        </pc:graphicFrameChg>
      </pc:sldChg>
      <pc:sldChg chg="modSp mod">
        <pc:chgData name="Rob Elliott" userId="04040a5f-f8f3-4f1b-92ff-388c2ca4c4a6" providerId="ADAL" clId="{70DC5FEB-67B0-D04C-AE95-52D8E600BF07}" dt="2024-08-23T19:30:43.278" v="22" actId="1076"/>
        <pc:sldMkLst>
          <pc:docMk/>
          <pc:sldMk cId="1869547649" sldId="281"/>
        </pc:sldMkLst>
        <pc:spChg chg="mod">
          <ac:chgData name="Rob Elliott" userId="04040a5f-f8f3-4f1b-92ff-388c2ca4c4a6" providerId="ADAL" clId="{70DC5FEB-67B0-D04C-AE95-52D8E600BF07}" dt="2024-08-23T19:30:43.278" v="22" actId="1076"/>
          <ac:spMkLst>
            <pc:docMk/>
            <pc:sldMk cId="1869547649" sldId="281"/>
            <ac:spMk id="8" creationId="{AC32520C-1678-7AF7-2A67-B2FCF16516A6}"/>
          </ac:spMkLst>
        </pc:spChg>
        <pc:graphicFrameChg chg="modGraphic">
          <ac:chgData name="Rob Elliott" userId="04040a5f-f8f3-4f1b-92ff-388c2ca4c4a6" providerId="ADAL" clId="{70DC5FEB-67B0-D04C-AE95-52D8E600BF07}" dt="2024-08-23T19:30:09.793" v="18" actId="6549"/>
          <ac:graphicFrameMkLst>
            <pc:docMk/>
            <pc:sldMk cId="1869547649" sldId="281"/>
            <ac:graphicFrameMk id="6" creationId="{450703EB-1F9B-CB46-458E-C7CB046C1631}"/>
          </ac:graphicFrameMkLst>
        </pc:graphicFrameChg>
        <pc:graphicFrameChg chg="modGraphic">
          <ac:chgData name="Rob Elliott" userId="04040a5f-f8f3-4f1b-92ff-388c2ca4c4a6" providerId="ADAL" clId="{70DC5FEB-67B0-D04C-AE95-52D8E600BF07}" dt="2024-08-23T19:30:12.624" v="19" actId="6549"/>
          <ac:graphicFrameMkLst>
            <pc:docMk/>
            <pc:sldMk cId="1869547649" sldId="281"/>
            <ac:graphicFrameMk id="7" creationId="{42F84627-C776-FF64-1AF6-75FAACAED788}"/>
          </ac:graphicFrameMkLst>
        </pc:graphicFrameChg>
      </pc:sldChg>
      <pc:sldChg chg="addSp modSp new mod modAnim">
        <pc:chgData name="Rob Elliott" userId="04040a5f-f8f3-4f1b-92ff-388c2ca4c4a6" providerId="ADAL" clId="{70DC5FEB-67B0-D04C-AE95-52D8E600BF07}" dt="2024-08-23T20:31:25.702" v="231" actId="20577"/>
        <pc:sldMkLst>
          <pc:docMk/>
          <pc:sldMk cId="4088024889" sldId="282"/>
        </pc:sldMkLst>
        <pc:spChg chg="mod">
          <ac:chgData name="Rob Elliott" userId="04040a5f-f8f3-4f1b-92ff-388c2ca4c4a6" providerId="ADAL" clId="{70DC5FEB-67B0-D04C-AE95-52D8E600BF07}" dt="2024-08-23T20:31:25.702" v="231" actId="20577"/>
          <ac:spMkLst>
            <pc:docMk/>
            <pc:sldMk cId="4088024889" sldId="282"/>
            <ac:spMk id="3" creationId="{4F80B3E7-05F5-4273-1AE1-CE1CC3C08D0C}"/>
          </ac:spMkLst>
        </pc:spChg>
        <pc:spChg chg="mod">
          <ac:chgData name="Rob Elliott" userId="04040a5f-f8f3-4f1b-92ff-388c2ca4c4a6" providerId="ADAL" clId="{70DC5FEB-67B0-D04C-AE95-52D8E600BF07}" dt="2024-08-23T20:30:20.386" v="210" actId="20577"/>
          <ac:spMkLst>
            <pc:docMk/>
            <pc:sldMk cId="4088024889" sldId="282"/>
            <ac:spMk id="4" creationId="{0377538A-2AAD-180D-B3DB-748C95E3FF3C}"/>
          </ac:spMkLst>
        </pc:spChg>
        <pc:picChg chg="add mod modCrop">
          <ac:chgData name="Rob Elliott" userId="04040a5f-f8f3-4f1b-92ff-388c2ca4c4a6" providerId="ADAL" clId="{70DC5FEB-67B0-D04C-AE95-52D8E600BF07}" dt="2024-08-23T20:30:07.291" v="195" actId="1076"/>
          <ac:picMkLst>
            <pc:docMk/>
            <pc:sldMk cId="4088024889" sldId="282"/>
            <ac:picMk id="7" creationId="{DC0E1CBD-D6A5-FCB0-7B47-D729ABB9C1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9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39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Attributes &amp; Keys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251B94-A258-508B-FCBB-651881692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A2993-9F92-AAC5-5A12-F4C9FBFAC8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Conceptual</a:t>
            </a:r>
            <a:r>
              <a:rPr lang="en-US"/>
              <a:t> models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Brainstorming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Business process discovery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i="1"/>
              <a:t>Final product: Conceptual Data Model (CDM)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Logical</a:t>
            </a:r>
            <a:r>
              <a:rPr lang="en-US"/>
              <a:t> models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More formal; provides a template for the “real” database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Fully describes entities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Will be refined for efficiency before implementation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i="1"/>
              <a:t>Final product: Entity Relationship Diagram (ERD)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Physical</a:t>
            </a:r>
            <a:r>
              <a:rPr lang="en-US"/>
              <a:t> models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Database implementation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Exact process depends on the RDBMS that is chosen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i="1"/>
              <a:t>Final product: A relational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76E1E-1116-1E66-63B8-4D48C66F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Moving on from Conceptual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98EA7-D6D7-9644-775D-1DA877F3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84B9CF-01C5-426F-11F4-361E685B9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569" y="1833927"/>
            <a:ext cx="3701162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7DD530-CA2E-7C8E-3029-3651581541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F8C91-044B-3AF8-CC18-16F70AB4C9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Think of attributes like adjectives – they </a:t>
            </a:r>
            <a:r>
              <a:rPr lang="en-US" i="1"/>
              <a:t>describe</a:t>
            </a:r>
            <a:r>
              <a:rPr lang="en-US"/>
              <a:t> an instance of an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Consider the entity “User”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E871E1-B005-E1D4-0D13-FB40BAE5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Describing Entities with Attributes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65355-1E34-B884-9D05-2AB31464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30B11C-8AFC-284C-798F-6A4C8568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531" y="2653400"/>
            <a:ext cx="4394200" cy="334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6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F96CC2-E17A-EC29-FD77-7301B019E0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Where do you go to discover attributes?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DF048-6198-9560-DE48-902FD79ED5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 algn="l" rtl="0" fontAlgn="base">
              <a:buFont typeface="+mj-lt"/>
              <a:buAutoNum type="arabicPeriod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Business Documentation</a:t>
            </a:r>
            <a:r>
              <a:rPr lang="en-US" sz="1800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System requests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System descriptions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Proposals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rtl="0" fontAlgn="base">
              <a:buFont typeface="+mj-lt"/>
              <a:buAutoNum type="arabicPeriod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Competitive Analysis</a:t>
            </a:r>
            <a:r>
              <a:rPr lang="en-US" sz="1800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Find and dissect similar products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rtl="0" fontAlgn="base">
              <a:buFont typeface="+mj-lt"/>
              <a:buAutoNum type="arabicPeriod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Interviews with Stakeholders</a:t>
            </a:r>
            <a:r>
              <a:rPr lang="en-US" sz="1800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Should have been done with the systems development process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buFont typeface="+mj-lt"/>
              <a:buAutoNum type="alphaL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Stakeholders: inside </a:t>
            </a:r>
            <a:r>
              <a:rPr lang="en-US" b="0" i="1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and outside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 the organization</a:t>
            </a:r>
            <a:r>
              <a:rPr lang="en-US" b="0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rtl="0" fontAlgn="base">
              <a:buFont typeface="+mj-lt"/>
              <a:buAutoNum type="arabicPeriod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Your own </a:t>
            </a:r>
            <a:r>
              <a:rPr lang="en-US" sz="1800" b="1" i="0" u="none" strike="noStrike">
                <a:solidFill>
                  <a:srgbClr val="A37F00"/>
                </a:solidFill>
                <a:effectLst/>
                <a:latin typeface="Acumin Pro" panose="020B0804020202090204" pitchFamily="34" charset="77"/>
              </a:rPr>
              <a:t>lived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 experience</a:t>
            </a:r>
          </a:p>
          <a:p>
            <a:pPr marL="800100" lvl="1" indent="-342900" fontAlgn="base">
              <a:buFont typeface="+mj-lt"/>
              <a:buAutoNum type="alphaLcPeriod"/>
            </a:pPr>
            <a:r>
              <a:rPr lang="en-US">
                <a:solidFill>
                  <a:srgbClr val="000000"/>
                </a:solidFill>
                <a:latin typeface="Acumin Pro" panose="020B0804020202090204" pitchFamily="34" charset="77"/>
              </a:rPr>
              <a:t>Consider every form and application you have ever filled out in your life</a:t>
            </a:r>
            <a:r>
              <a:rPr lang="en-US" i="0">
                <a:solidFill>
                  <a:srgbClr val="000000"/>
                </a:solidFill>
                <a:effectLst/>
                <a:latin typeface="Acumin Pro" panose="020B0804020202090204" pitchFamily="34" charset="77"/>
              </a:rPr>
              <a:t>​</a:t>
            </a:r>
            <a:endParaRPr lang="en-US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A878B6-1FF3-E354-25E8-99A283EF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Discovering Attributes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A383A-0DBF-26E9-3E41-5FAA6580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3576EB-D56C-1A00-0683-393EDD28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Break Down Attributes into Discreet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279E7-04A7-5250-D27F-55755CD57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“Name”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First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Last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Middle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Honorific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Suffix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“Full legal name”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“Elliott Jr.”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Leave off the suffix </a:t>
            </a:r>
            <a:r>
              <a:rPr lang="en-US">
                <a:solidFill>
                  <a:schemeClr val="accent3"/>
                </a:solidFill>
              </a:rPr>
              <a:t>“Elliott”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Combine last name and suffix </a:t>
            </a:r>
            <a:r>
              <a:rPr lang="en-US">
                <a:solidFill>
                  <a:schemeClr val="accent3"/>
                </a:solidFill>
              </a:rPr>
              <a:t>“ELLIOTTJR”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Separate last name and suffix into two fields </a:t>
            </a:r>
            <a:r>
              <a:rPr lang="en-US">
                <a:solidFill>
                  <a:schemeClr val="accent3"/>
                </a:solidFill>
              </a:rPr>
              <a:t>“Elliott” </a:t>
            </a:r>
            <a:r>
              <a:rPr lang="en-US"/>
              <a:t>and </a:t>
            </a:r>
            <a:r>
              <a:rPr lang="en-US">
                <a:solidFill>
                  <a:schemeClr val="accent3"/>
                </a:solidFill>
              </a:rPr>
              <a:t>“Jr.”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B8386D-3CD8-952E-7886-1FE46AE7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Atomic Attributes in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91D83-4E1B-7291-91B3-2FF252C4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7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3576EB-D56C-1A00-0683-393EDD28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Break Down Attributes into Discreet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279E7-04A7-5250-D27F-55755CD57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“Address”</a:t>
            </a:r>
          </a:p>
          <a:p>
            <a:pPr lvl="1"/>
            <a:endParaRPr lang="en-US" sz="24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B8386D-3CD8-952E-7886-1FE46AE7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Atomic Attributes in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91D83-4E1B-7291-91B3-2FF252C4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6C312F-14BB-3011-1452-69D8AF73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6431" y="1885676"/>
            <a:ext cx="54483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5A6BE3-B228-2672-7764-63BE5F9C65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Consider where your data will be collected </a:t>
            </a:r>
            <a:r>
              <a:rPr lang="en-US" i="1"/>
              <a:t>and examined</a:t>
            </a:r>
            <a:r>
              <a:rPr lang="en-US"/>
              <a:t> as part of the design process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84830-A317-2051-1BAA-2C69D311E3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Cultural norms for naming conventions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“First Name” + “Last Name”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trike="sngStrike" err="1"/>
              <a:t>first_name</a:t>
            </a:r>
            <a:r>
              <a:rPr lang="en-US"/>
              <a:t> &gt; </a:t>
            </a:r>
            <a:r>
              <a:rPr lang="en-US" err="1"/>
              <a:t>given_name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trike="sngStrike" err="1"/>
              <a:t>last_name</a:t>
            </a:r>
            <a:r>
              <a:rPr lang="en-US"/>
              <a:t> &gt; </a:t>
            </a:r>
            <a:r>
              <a:rPr lang="en-US" err="1"/>
              <a:t>family_name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middle_name</a:t>
            </a:r>
            <a:r>
              <a:rPr lang="en-US"/>
              <a:t>? </a:t>
            </a:r>
            <a:r>
              <a:rPr lang="en-US" i="1"/>
              <a:t>Not required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preferred_name</a:t>
            </a:r>
            <a:r>
              <a:rPr lang="en-US"/>
              <a:t> (nickname,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Regional differences in other attributes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“State” vs. “Province” vs. “Region”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Country code in phone numbers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“ZIP Code” (US) vs. “Postal Code” (Canada, UK, etc.)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5EF09-8155-710E-AE68-9DCB418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Cultural &amp; Regional Implications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AD767-5F13-B3F0-3B32-B8AC8E19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827EF8-FC40-AAB9-150F-D4B4630B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0151" y="1889338"/>
            <a:ext cx="4964649" cy="331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6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BF1CAB-C753-1D82-E097-0B1C78C3FA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B3E7-05F5-4273-1AE1-CE1CC3C08D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Don’t use reserved or keywords: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trike="sngStrike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trike="sngStrike"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trike="sngStrike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more descriptive terms: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member_name</a:t>
            </a:r>
            <a:endParaRPr lang="en-US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room_number</a:t>
            </a:r>
            <a:endParaRPr lang="en-US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start_date</a:t>
            </a:r>
            <a:endParaRPr lang="en-US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77538A-2AAD-180D-B3DB-748C95E3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Other Rules for Attribute Names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CFA1-A3DD-12E8-1679-C4801089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A person in a red coat&#10;&#10;Description automatically generated">
            <a:extLst>
              <a:ext uri="{FF2B5EF4-FFF2-40B4-BE49-F238E27FC236}">
                <a16:creationId xmlns:a16="http://schemas.microsoft.com/office/drawing/2014/main" id="{DC0E1CBD-D6A5-FCB0-7B47-D729ABB9C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8"/>
          <a:stretch/>
        </p:blipFill>
        <p:spPr>
          <a:xfrm>
            <a:off x="6817695" y="1689526"/>
            <a:ext cx="4367036" cy="44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2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8D0B17-B2BE-E81C-99CC-49176A733F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5964-C134-1055-315B-A9436E31B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734801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types are generally </a:t>
            </a:r>
            <a:r>
              <a:rPr lang="en-US" b="1"/>
              <a:t>not</a:t>
            </a:r>
            <a:r>
              <a:rPr lang="en-US"/>
              <a:t> required in a logical data model, but I recommend you start thinking about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Common data types in RDBMS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Integer</a:t>
            </a:r>
            <a:r>
              <a:rPr lang="en-US"/>
              <a:t> (INT) – whole numbers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Float</a:t>
            </a:r>
            <a:r>
              <a:rPr lang="en-US"/>
              <a:t> or </a:t>
            </a:r>
            <a:r>
              <a:rPr lang="en-US" b="1"/>
              <a:t>Double</a:t>
            </a:r>
            <a:r>
              <a:rPr lang="en-US"/>
              <a:t> - fractional numbers where precision is less necessary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Decimal</a:t>
            </a:r>
            <a:r>
              <a:rPr lang="en-US"/>
              <a:t> (DEC) – fractional numbers where precision and scale are needed (e.g. currency)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Char</a:t>
            </a:r>
            <a:r>
              <a:rPr lang="en-US"/>
              <a:t>/</a:t>
            </a:r>
            <a:r>
              <a:rPr lang="en-US" b="1"/>
              <a:t>Varchar</a:t>
            </a:r>
            <a:r>
              <a:rPr lang="en-US"/>
              <a:t>/</a:t>
            </a:r>
            <a:r>
              <a:rPr lang="en-US" b="1"/>
              <a:t>Text</a:t>
            </a:r>
            <a:r>
              <a:rPr lang="en-US"/>
              <a:t> – strings of text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/>
              <a:t>CHAR: fixed length (every record contains the same # of characters)</a:t>
            </a:r>
          </a:p>
          <a:p>
            <a:pPr marL="1771650" lvl="3" indent="-400050">
              <a:buFont typeface="+mj-lt"/>
              <a:buAutoNum type="romanLcPeriod"/>
            </a:pPr>
            <a:r>
              <a:rPr lang="en-US"/>
              <a:t>Example: ISO country codes (“US”, “CN”, “UK”, “SE”)</a:t>
            </a:r>
          </a:p>
          <a:p>
            <a:pPr marL="1314450" lvl="2" indent="-400050">
              <a:buFont typeface="+mj-lt"/>
              <a:buAutoNum type="alphaLcPeriod"/>
            </a:pPr>
            <a:r>
              <a:rPr lang="en-US"/>
              <a:t>VARCHAR: variable length with a limit (normally 255 characters; can be shorter)</a:t>
            </a:r>
          </a:p>
          <a:p>
            <a:pPr marL="1314450" lvl="2" indent="-400050">
              <a:buFont typeface="+mj-lt"/>
              <a:buAutoNum type="alphaLcPeriod"/>
            </a:pPr>
            <a:r>
              <a:rPr lang="en-US"/>
              <a:t>TEXT: Large blocks of text; uses more storage</a:t>
            </a:r>
          </a:p>
          <a:p>
            <a:pPr marL="1771650" lvl="3" indent="-400050">
              <a:buFont typeface="+mj-lt"/>
              <a:buAutoNum type="romanLcPeriod"/>
            </a:pPr>
            <a:r>
              <a:rPr lang="en-US"/>
              <a:t>TINYTEXT, MEDIUMTEXT, LONGTEXT, </a:t>
            </a:r>
            <a:r>
              <a:rPr lang="en-US" err="1"/>
              <a:t>etc</a:t>
            </a:r>
            <a:r>
              <a:rPr lang="en-US"/>
              <a:t>…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b="1"/>
              <a:t>Boolean</a:t>
            </a:r>
            <a:r>
              <a:rPr lang="en-US"/>
              <a:t> (BOOL)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b="1"/>
              <a:t>DateTime</a:t>
            </a:r>
            <a:r>
              <a:rPr lang="en-US"/>
              <a:t>/</a:t>
            </a:r>
            <a:r>
              <a:rPr lang="en-US" b="1"/>
              <a:t>Date</a:t>
            </a:r>
            <a:r>
              <a:rPr lang="en-US"/>
              <a:t>/</a:t>
            </a:r>
            <a:r>
              <a:rPr lang="en-US" b="1"/>
              <a:t>Time</a:t>
            </a:r>
            <a:r>
              <a:rPr lang="en-US"/>
              <a:t>/</a:t>
            </a:r>
            <a:r>
              <a:rPr lang="en-US" b="1"/>
              <a:t>Timestamp</a:t>
            </a:r>
          </a:p>
          <a:p>
            <a:pPr marL="1314450" lvl="2" indent="-400050">
              <a:buFont typeface="+mj-lt"/>
              <a:buAutoNum type="alphaLcPeriod"/>
            </a:pPr>
            <a:r>
              <a:rPr lang="en-US"/>
              <a:t>Consider accuracy and time zone awareness</a:t>
            </a:r>
          </a:p>
          <a:p>
            <a:pPr marL="1314450" lvl="2" indent="-400050">
              <a:buFont typeface="+mj-lt"/>
              <a:buAutoNum type="alphaLcPeriod"/>
            </a:pPr>
            <a:r>
              <a:rPr lang="en-US"/>
              <a:t>Variable based on RDBMS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6FB133-9293-7792-3B91-BD6C9C50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Types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38817-7511-79E7-5DD8-900F732E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d6656b4d-3fa0-4709-acfb-d5e813445d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535</Words>
  <Application>Microsoft Macintosh PowerPoint</Application>
  <PresentationFormat>Widescreen</PresentationFormat>
  <Paragraphs>98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Acumin Pro</vt:lpstr>
      <vt:lpstr>Acumin Pro Condensed Semibold</vt:lpstr>
      <vt:lpstr>Consolas</vt:lpstr>
      <vt:lpstr>Franklin Gothic Book</vt:lpstr>
      <vt:lpstr>Franklin Gothic Medium</vt:lpstr>
      <vt:lpstr>Office Theme</vt:lpstr>
      <vt:lpstr>Attributes &amp; Keys</vt:lpstr>
      <vt:lpstr>Moving on from Conceptual Models</vt:lpstr>
      <vt:lpstr>Describing Entities with Attributes</vt:lpstr>
      <vt:lpstr>Discovering Attributes</vt:lpstr>
      <vt:lpstr>Atomic Attributes in Entities</vt:lpstr>
      <vt:lpstr>Atomic Attributes in Entities</vt:lpstr>
      <vt:lpstr>Cultural &amp; Regional Implications</vt:lpstr>
      <vt:lpstr>Other Rules for Attribute Names</vt:lpstr>
      <vt:lpstr>Data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Attributes &amp; Keys</dc:title>
  <dc:creator>Rob Elliott</dc:creator>
  <cp:lastModifiedBy>Rob Elliott</cp:lastModifiedBy>
  <cp:revision>1</cp:revision>
  <dcterms:created xsi:type="dcterms:W3CDTF">2024-08-19T17:40:26Z</dcterms:created>
  <dcterms:modified xsi:type="dcterms:W3CDTF">2024-08-28T04:01:24Z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