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25"/>
  </p:notesMasterIdLst>
  <p:sldIdLst>
    <p:sldId id="267" r:id="rId5"/>
    <p:sldId id="268" r:id="rId6"/>
    <p:sldId id="270" r:id="rId7"/>
    <p:sldId id="269" r:id="rId8"/>
    <p:sldId id="271" r:id="rId9"/>
    <p:sldId id="272" r:id="rId10"/>
    <p:sldId id="273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6" r:id="rId21"/>
    <p:sldId id="285" r:id="rId22"/>
    <p:sldId id="284" r:id="rId23"/>
    <p:sldId id="287" r:id="rId24"/>
  </p:sldIdLst>
  <p:sldSz cx="12192000" cy="6858000"/>
  <p:notesSz cx="6858000" cy="9144000"/>
  <p:embeddedFontLst>
    <p:embeddedFont>
      <p:font typeface="Acumin Pro" panose="020B0604020202020204" charset="0"/>
      <p:regular r:id="rId26"/>
      <p:bold r:id="rId27"/>
      <p:italic r:id="rId28"/>
      <p:boldItalic r:id="rId29"/>
    </p:embeddedFont>
    <p:embeddedFont>
      <p:font typeface="Acumin Pro Condensed Semibold" panose="020B0604020202020204" charset="0"/>
      <p:regular r:id="rId30"/>
      <p:bold r:id="rId31"/>
      <p:italic r:id="rId32"/>
      <p:boldItalic r:id="rId33"/>
    </p:embeddedFont>
    <p:embeddedFont>
      <p:font typeface="Franklin Gothic Book" panose="020B0604020202020204" charset="0"/>
      <p:regular r:id="rId34"/>
      <p:italic r:id="rId35"/>
    </p:embeddedFont>
    <p:embeddedFont>
      <p:font typeface="Franklin Gothic Medium" panose="020B0603020102020204" pitchFamily="34" charset="0"/>
      <p:regular r:id="rId36"/>
      <p: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CC6B00-F4AF-584A-9A60-15D3308CEDBE}" v="55" dt="2024-09-03T14:48:53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80"/>
        <p:guide pos="3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Elliott" userId="04040a5f-f8f3-4f1b-92ff-388c2ca4c4a6" providerId="ADAL" clId="{7ACC6B00-F4AF-584A-9A60-15D3308CEDBE}"/>
    <pc:docChg chg="modSld sldOrd">
      <pc:chgData name="Rob Elliott" userId="04040a5f-f8f3-4f1b-92ff-388c2ca4c4a6" providerId="ADAL" clId="{7ACC6B00-F4AF-584A-9A60-15D3308CEDBE}" dt="2024-09-03T14:48:53.530" v="54" actId="20577"/>
      <pc:docMkLst>
        <pc:docMk/>
      </pc:docMkLst>
      <pc:sldChg chg="modSp mod">
        <pc:chgData name="Rob Elliott" userId="04040a5f-f8f3-4f1b-92ff-388c2ca4c4a6" providerId="ADAL" clId="{7ACC6B00-F4AF-584A-9A60-15D3308CEDBE}" dt="2024-09-03T14:48:53.530" v="54" actId="20577"/>
        <pc:sldMkLst>
          <pc:docMk/>
          <pc:sldMk cId="2544286083" sldId="269"/>
        </pc:sldMkLst>
        <pc:spChg chg="mod">
          <ac:chgData name="Rob Elliott" userId="04040a5f-f8f3-4f1b-92ff-388c2ca4c4a6" providerId="ADAL" clId="{7ACC6B00-F4AF-584A-9A60-15D3308CEDBE}" dt="2024-09-03T14:48:53.530" v="54" actId="20577"/>
          <ac:spMkLst>
            <pc:docMk/>
            <pc:sldMk cId="2544286083" sldId="269"/>
            <ac:spMk id="3" creationId="{79B84C7F-D165-30E4-396D-496072626D7D}"/>
          </ac:spMkLst>
        </pc:spChg>
        <pc:spChg chg="mod">
          <ac:chgData name="Rob Elliott" userId="04040a5f-f8f3-4f1b-92ff-388c2ca4c4a6" providerId="ADAL" clId="{7ACC6B00-F4AF-584A-9A60-15D3308CEDBE}" dt="2024-09-03T14:48:20.729" v="11" actId="20577"/>
          <ac:spMkLst>
            <pc:docMk/>
            <pc:sldMk cId="2544286083" sldId="269"/>
            <ac:spMk id="4" creationId="{1EBA1210-7474-AFC8-BD2D-4A772013EBFC}"/>
          </ac:spMkLst>
        </pc:spChg>
      </pc:sldChg>
      <pc:sldChg chg="ord">
        <pc:chgData name="Rob Elliott" userId="04040a5f-f8f3-4f1b-92ff-388c2ca4c4a6" providerId="ADAL" clId="{7ACC6B00-F4AF-584A-9A60-15D3308CEDBE}" dt="2024-09-03T14:48:07.457" v="0" actId="20578"/>
        <pc:sldMkLst>
          <pc:docMk/>
          <pc:sldMk cId="516405958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182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23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33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89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94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95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73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29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03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67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2005070"/>
            <a:ext cx="10033626" cy="592834"/>
          </a:xfrm>
        </p:spPr>
        <p:txBody>
          <a:bodyPr/>
          <a:lstStyle/>
          <a:p>
            <a:r>
              <a:rPr lang="en-US"/>
              <a:t>Revising Databases with Normal Forms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3.1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8AC80F-40BF-E285-37B8-769B335EC0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95CC7-7D2F-FDA2-7866-862D94B273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3782290"/>
            <a:ext cx="11266713" cy="221573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B09A71-AFC7-A2FE-A11A-4716D289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What’s wrong with this database table?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549E7-74D7-BCCC-47E4-2C5B27D3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25632A-79AE-F8C9-2F3B-A0E362F16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602755"/>
              </p:ext>
            </p:extLst>
          </p:nvPr>
        </p:nvGraphicFramePr>
        <p:xfrm>
          <a:off x="1782109" y="1932958"/>
          <a:ext cx="86168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23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S123, 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Biology, 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S123, 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Biology, 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M222, 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Algebra, 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170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8AC80F-40BF-E285-37B8-769B335EC0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95CC7-7D2F-FDA2-7866-862D94B273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3782290"/>
            <a:ext cx="11266713" cy="221573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Has repeating groups (</a:t>
            </a:r>
            <a:r>
              <a:rPr lang="en-US" err="1"/>
              <a:t>course_id</a:t>
            </a:r>
            <a:r>
              <a:rPr lang="en-US"/>
              <a:t>, </a:t>
            </a:r>
            <a:r>
              <a:rPr lang="en-US" err="1"/>
              <a:t>course_name</a:t>
            </a:r>
            <a:r>
              <a:rPr lang="en-US"/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B09A71-AFC7-A2FE-A11A-4716D289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“Bad” 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549E7-74D7-BCCC-47E4-2C5B27D3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25632A-79AE-F8C9-2F3B-A0E362F16414}"/>
              </a:ext>
            </a:extLst>
          </p:cNvPr>
          <p:cNvGraphicFramePr>
            <a:graphicFrameLocks noGrp="1"/>
          </p:cNvGraphicFramePr>
          <p:nvPr/>
        </p:nvGraphicFramePr>
        <p:xfrm>
          <a:off x="1782109" y="1932958"/>
          <a:ext cx="86168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23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S123, 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Biology, 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S123, 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Biology, 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M222, 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Algebra, 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40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C4DB9C-DA90-0A42-D18B-539691D530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84C7F-D165-30E4-396D-496072626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Not to be confusing, but many modern RDBMSs DO allow multiple values in a single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This is </a:t>
            </a:r>
            <a:r>
              <a:rPr lang="en-US" b="1"/>
              <a:t>allowed</a:t>
            </a:r>
            <a:r>
              <a:rPr lang="en-US"/>
              <a:t> but </a:t>
            </a:r>
            <a:r>
              <a:rPr lang="en-US" b="1"/>
              <a:t>advanced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/>
              <a:t>Technically</a:t>
            </a:r>
            <a:r>
              <a:rPr lang="en-US" i="1"/>
              <a:t> </a:t>
            </a:r>
            <a:r>
              <a:rPr lang="en-US"/>
              <a:t>the array is atomic (one array value associated with one location)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visits data is not tied to any other key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BA1210-7474-AFC8-BD2D-4A772013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Sidebar: Arrays in Relational Databases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2BC890-80BE-97DE-CFF5-C9AD4C2E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5534FE-9F84-9BD5-BE7A-DA1680F39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150434"/>
              </p:ext>
            </p:extLst>
          </p:nvPr>
        </p:nvGraphicFramePr>
        <p:xfrm>
          <a:off x="816499" y="2316480"/>
          <a:ext cx="1054811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022">
                  <a:extLst>
                    <a:ext uri="{9D8B030D-6E8A-4147-A177-3AD203B41FA5}">
                      <a16:colId xmlns:a16="http://schemas.microsoft.com/office/drawing/2014/main" val="3156833263"/>
                    </a:ext>
                  </a:extLst>
                </a:gridCol>
                <a:gridCol w="3084056">
                  <a:extLst>
                    <a:ext uri="{9D8B030D-6E8A-4147-A177-3AD203B41FA5}">
                      <a16:colId xmlns:a16="http://schemas.microsoft.com/office/drawing/2014/main" val="896093848"/>
                    </a:ext>
                  </a:extLst>
                </a:gridCol>
                <a:gridCol w="5703034">
                  <a:extLst>
                    <a:ext uri="{9D8B030D-6E8A-4147-A177-3AD203B41FA5}">
                      <a16:colId xmlns:a16="http://schemas.microsoft.com/office/drawing/2014/main" val="232596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location_id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location_name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visits_per_month_2024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39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South Street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[145,189,197,234,569,873,92,87,135,255,132,114]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815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Main Street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[121,141,202,258,609,743,119,97,125,218,122,124]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163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28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D3A43A-6B22-934D-438B-4A7C186B8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76CD-07F7-31A6-2ED0-16F903537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Required: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Table has no repeating groups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Each cell (field) contains only atomic (indivisible) values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47BA01-3FF1-7F4D-15E3-17BC7729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First Normal Form (1NF)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6A03C-79FA-6B43-4F2A-FEC2FD61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FB3420-6E42-F878-A1EB-9F65243CD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318539"/>
              </p:ext>
            </p:extLst>
          </p:nvPr>
        </p:nvGraphicFramePr>
        <p:xfrm>
          <a:off x="1782109" y="2869599"/>
          <a:ext cx="861689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23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13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D3A43A-6B22-934D-438B-4A7C186B8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76CD-07F7-31A6-2ED0-16F903537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Required: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Table is in 1NF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Non-key attributes are dependent on the primary key OR another attribute that is dependent on the PK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47BA01-3FF1-7F4D-15E3-17BC7729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Second Normal Form (2NF)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6A03C-79FA-6B43-4F2A-FEC2FD61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FB3420-6E42-F878-A1EB-9F65243CDEF7}"/>
              </a:ext>
            </a:extLst>
          </p:cNvPr>
          <p:cNvGraphicFramePr>
            <a:graphicFrameLocks noGrp="1"/>
          </p:cNvGraphicFramePr>
          <p:nvPr/>
        </p:nvGraphicFramePr>
        <p:xfrm>
          <a:off x="1782109" y="2869599"/>
          <a:ext cx="861689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23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6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D3A43A-6B22-934D-438B-4A7C186B8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76CD-07F7-31A6-2ED0-16F903537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Required: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Table is in 1NF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Non-key attributes are dependent on the primary key OR another attribute that is dependent on the PK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47BA01-3FF1-7F4D-15E3-17BC7729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Second Normal Form (2NF)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6A03C-79FA-6B43-4F2A-FEC2FD61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FB3420-6E42-F878-A1EB-9F65243CD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024194"/>
              </p:ext>
            </p:extLst>
          </p:nvPr>
        </p:nvGraphicFramePr>
        <p:xfrm>
          <a:off x="1007269" y="2961814"/>
          <a:ext cx="319065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422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787236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15BA3B-25DE-7F79-318D-C06BEED1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680745"/>
              </p:ext>
            </p:extLst>
          </p:nvPr>
        </p:nvGraphicFramePr>
        <p:xfrm>
          <a:off x="8146472" y="2961814"/>
          <a:ext cx="333894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47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166947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602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D3A43A-6B22-934D-438B-4A7C186B8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76CD-07F7-31A6-2ED0-16F903537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Required: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All tables are in 1NF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Non-key attributes are dependent on the primary key OR another attribute that is dependent on the PK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47BA01-3FF1-7F4D-15E3-17BC7729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Second Normal Form (2NF)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6A03C-79FA-6B43-4F2A-FEC2FD61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FB3420-6E42-F878-A1EB-9F65243CD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219648"/>
              </p:ext>
            </p:extLst>
          </p:nvPr>
        </p:nvGraphicFramePr>
        <p:xfrm>
          <a:off x="1007269" y="2961814"/>
          <a:ext cx="319065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422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787236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/>
                        <a:t>Alexis Santos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/>
                        <a:t>Samir Kahn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/>
                        <a:t>Jessica Kane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15BA3B-25DE-7F79-318D-C06BEED1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064828"/>
              </p:ext>
            </p:extLst>
          </p:nvPr>
        </p:nvGraphicFramePr>
        <p:xfrm>
          <a:off x="8146472" y="2961814"/>
          <a:ext cx="333894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47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166947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65597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D3A43A-6B22-934D-438B-4A7C186B8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76CD-07F7-31A6-2ED0-16F903537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Required: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All tables are in 1NF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Non-key attributes are dependent on the primary key OR another attribute that is dependent on the PK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47BA01-3FF1-7F4D-15E3-17BC7729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Second Normal Form (2NF)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6A03C-79FA-6B43-4F2A-FEC2FD61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FB3420-6E42-F878-A1EB-9F65243CD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42213"/>
              </p:ext>
            </p:extLst>
          </p:nvPr>
        </p:nvGraphicFramePr>
        <p:xfrm>
          <a:off x="457199" y="2931970"/>
          <a:ext cx="31906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422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787236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15BA3B-25DE-7F79-318D-C06BEED1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661035"/>
              </p:ext>
            </p:extLst>
          </p:nvPr>
        </p:nvGraphicFramePr>
        <p:xfrm>
          <a:off x="8395854" y="2940631"/>
          <a:ext cx="333894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47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166947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3DE285-4158-38EC-7A53-486B98AD2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069796"/>
              </p:ext>
            </p:extLst>
          </p:nvPr>
        </p:nvGraphicFramePr>
        <p:xfrm>
          <a:off x="4495226" y="3770677"/>
          <a:ext cx="319065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756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492902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95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20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631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148952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D3A43A-6B22-934D-438B-4A7C186B8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76CD-07F7-31A6-2ED0-16F903537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Required: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All tables are in 2NF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All non-key attributes are functionally dependent </a:t>
            </a:r>
            <a:r>
              <a:rPr lang="en-US" b="1" i="1"/>
              <a:t>only</a:t>
            </a:r>
            <a:r>
              <a:rPr lang="en-US"/>
              <a:t> on the primary key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47BA01-3FF1-7F4D-15E3-17BC7729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Third Normal Form (3NF)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6A03C-79FA-6B43-4F2A-FEC2FD61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FB3420-6E42-F878-A1EB-9F65243CDEF7}"/>
              </a:ext>
            </a:extLst>
          </p:cNvPr>
          <p:cNvGraphicFramePr>
            <a:graphicFrameLocks noGrp="1"/>
          </p:cNvGraphicFramePr>
          <p:nvPr/>
        </p:nvGraphicFramePr>
        <p:xfrm>
          <a:off x="457199" y="2931970"/>
          <a:ext cx="31906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422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787236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15BA3B-25DE-7F79-318D-C06BEED1D5BC}"/>
              </a:ext>
            </a:extLst>
          </p:cNvPr>
          <p:cNvGraphicFramePr>
            <a:graphicFrameLocks noGrp="1"/>
          </p:cNvGraphicFramePr>
          <p:nvPr/>
        </p:nvGraphicFramePr>
        <p:xfrm>
          <a:off x="8395854" y="2940631"/>
          <a:ext cx="333894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47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166947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3DE285-4158-38EC-7A53-486B98AD23A3}"/>
              </a:ext>
            </a:extLst>
          </p:cNvPr>
          <p:cNvGraphicFramePr>
            <a:graphicFrameLocks noGrp="1"/>
          </p:cNvGraphicFramePr>
          <p:nvPr/>
        </p:nvGraphicFramePr>
        <p:xfrm>
          <a:off x="4495226" y="3770677"/>
          <a:ext cx="319065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756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492902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95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20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631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172167"/>
      </p:ext>
    </p:extLst>
  </p:cSld>
  <p:clrMapOvr>
    <a:masterClrMapping/>
  </p:clrMapOvr>
  <p:transition spd="slow">
    <p:wipe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E650-E285-C6EB-FE7A-EC594A14B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Expanded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A1466-5DCA-CD34-0779-C79742B994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38921-DF4D-4214-4E5D-F119106E8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0E9E1-718F-F55D-D447-2B68ABFA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86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51C47A-00AA-5DB1-A820-09528D6A2D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E0560-C2CC-9B3E-DB99-342E4E6E7C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5BBC50-0808-24C1-CAEC-659EACDA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First Normal Form (1NF)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4D981-0AB5-0A93-B857-31A1753C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8B8250-DF97-F413-4876-69B39D4FC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211908"/>
              </p:ext>
            </p:extLst>
          </p:nvPr>
        </p:nvGraphicFramePr>
        <p:xfrm>
          <a:off x="446310" y="2131060"/>
          <a:ext cx="11277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992177335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1865737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instructor_id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instructor_name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Soong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Soong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Soong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Frank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782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D3A43A-6B22-934D-438B-4A7C186B8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76CD-07F7-31A6-2ED0-16F903537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Required: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All tables are in 1NF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Non-key attributes are dependent on the primary key OR another attribute that is dependent on the PK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47BA01-3FF1-7F4D-15E3-17BC7729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Second Normal Form (2NF)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6A03C-79FA-6B43-4F2A-FEC2FD61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FB3420-6E42-F878-A1EB-9F65243CDEF7}"/>
              </a:ext>
            </a:extLst>
          </p:cNvPr>
          <p:cNvGraphicFramePr>
            <a:graphicFrameLocks noGrp="1"/>
          </p:cNvGraphicFramePr>
          <p:nvPr/>
        </p:nvGraphicFramePr>
        <p:xfrm>
          <a:off x="457199" y="2931970"/>
          <a:ext cx="31906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422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787236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15BA3B-25DE-7F79-318D-C06BEED1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897796"/>
              </p:ext>
            </p:extLst>
          </p:nvPr>
        </p:nvGraphicFramePr>
        <p:xfrm>
          <a:off x="6317671" y="2931970"/>
          <a:ext cx="57496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911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156556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  <a:gridCol w="1499753">
                  <a:extLst>
                    <a:ext uri="{9D8B030D-6E8A-4147-A177-3AD203B41FA5}">
                      <a16:colId xmlns:a16="http://schemas.microsoft.com/office/drawing/2014/main" val="143272766"/>
                    </a:ext>
                  </a:extLst>
                </a:gridCol>
                <a:gridCol w="1437409">
                  <a:extLst>
                    <a:ext uri="{9D8B030D-6E8A-4147-A177-3AD203B41FA5}">
                      <a16:colId xmlns:a16="http://schemas.microsoft.com/office/drawing/2014/main" val="949067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instructor_id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instr_name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Soong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Soong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Frank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3DE285-4158-38EC-7A53-486B98AD2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265194"/>
              </p:ext>
            </p:extLst>
          </p:nvPr>
        </p:nvGraphicFramePr>
        <p:xfrm>
          <a:off x="3523166" y="4059678"/>
          <a:ext cx="257283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925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95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20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631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811498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D3A43A-6B22-934D-438B-4A7C186B8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76CD-07F7-31A6-2ED0-16F903537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Required: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All tables are in 2NF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All non-key attributes are functionally dependent </a:t>
            </a:r>
            <a:r>
              <a:rPr lang="en-US" b="1" i="1"/>
              <a:t>only</a:t>
            </a:r>
            <a:r>
              <a:rPr lang="en-US"/>
              <a:t> on the primary key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47BA01-3FF1-7F4D-15E3-17BC7729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Third Normal Form (3NF)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6A03C-79FA-6B43-4F2A-FEC2FD61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FB3420-6E42-F878-A1EB-9F65243CD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40622"/>
              </p:ext>
            </p:extLst>
          </p:nvPr>
        </p:nvGraphicFramePr>
        <p:xfrm>
          <a:off x="124693" y="2834988"/>
          <a:ext cx="31906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422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787236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15BA3B-25DE-7F79-318D-C06BEED1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024579"/>
              </p:ext>
            </p:extLst>
          </p:nvPr>
        </p:nvGraphicFramePr>
        <p:xfrm>
          <a:off x="5583382" y="2834988"/>
          <a:ext cx="281247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911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156556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3DE285-4158-38EC-7A53-486B98AD2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710775"/>
              </p:ext>
            </p:extLst>
          </p:nvPr>
        </p:nvGraphicFramePr>
        <p:xfrm>
          <a:off x="3010548" y="4059678"/>
          <a:ext cx="257283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925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95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20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63125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9CBE0E-2351-1589-4CAB-1BD8A99B8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843268"/>
              </p:ext>
            </p:extLst>
          </p:nvPr>
        </p:nvGraphicFramePr>
        <p:xfrm>
          <a:off x="8982197" y="2834988"/>
          <a:ext cx="293716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753">
                  <a:extLst>
                    <a:ext uri="{9D8B030D-6E8A-4147-A177-3AD203B41FA5}">
                      <a16:colId xmlns:a16="http://schemas.microsoft.com/office/drawing/2014/main" val="143272766"/>
                    </a:ext>
                  </a:extLst>
                </a:gridCol>
                <a:gridCol w="1437409">
                  <a:extLst>
                    <a:ext uri="{9D8B030D-6E8A-4147-A177-3AD203B41FA5}">
                      <a16:colId xmlns:a16="http://schemas.microsoft.com/office/drawing/2014/main" val="949067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instructor_id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instr_name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Soong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Frank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4BEA7B4-8037-9B4B-66AF-D9F81680C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777510"/>
              </p:ext>
            </p:extLst>
          </p:nvPr>
        </p:nvGraphicFramePr>
        <p:xfrm>
          <a:off x="7627517" y="4798251"/>
          <a:ext cx="31078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59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506211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instructor_id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953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659045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D3A43A-6B22-934D-438B-4A7C186B8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76CD-07F7-31A6-2ED0-16F903537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Required: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All tables are in 2NF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All non-key attributes are functionally dependent </a:t>
            </a:r>
            <a:r>
              <a:rPr lang="en-US" b="1" i="1"/>
              <a:t>only</a:t>
            </a:r>
            <a:r>
              <a:rPr lang="en-US"/>
              <a:t> on the primary key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47BA01-3FF1-7F4D-15E3-17BC7729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Third Normal Form (3NF)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6A03C-79FA-6B43-4F2A-FEC2FD61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FB3420-6E42-F878-A1EB-9F65243CD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69552"/>
              </p:ext>
            </p:extLst>
          </p:nvPr>
        </p:nvGraphicFramePr>
        <p:xfrm>
          <a:off x="152402" y="2539547"/>
          <a:ext cx="31906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422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787236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15BA3B-25DE-7F79-318D-C06BEED1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95969"/>
              </p:ext>
            </p:extLst>
          </p:nvPr>
        </p:nvGraphicFramePr>
        <p:xfrm>
          <a:off x="4611088" y="2539547"/>
          <a:ext cx="281247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911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156556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9CBE0E-2351-1589-4CAB-1BD8A99B8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922864"/>
              </p:ext>
            </p:extLst>
          </p:nvPr>
        </p:nvGraphicFramePr>
        <p:xfrm>
          <a:off x="8691590" y="2539547"/>
          <a:ext cx="293716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753">
                  <a:extLst>
                    <a:ext uri="{9D8B030D-6E8A-4147-A177-3AD203B41FA5}">
                      <a16:colId xmlns:a16="http://schemas.microsoft.com/office/drawing/2014/main" val="143272766"/>
                    </a:ext>
                  </a:extLst>
                </a:gridCol>
                <a:gridCol w="1437409">
                  <a:extLst>
                    <a:ext uri="{9D8B030D-6E8A-4147-A177-3AD203B41FA5}">
                      <a16:colId xmlns:a16="http://schemas.microsoft.com/office/drawing/2014/main" val="949067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instructor_id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instr_name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Soong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Frank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ED7BB3A-C4DD-3803-46C6-53672A287FA3}"/>
              </a:ext>
            </a:extLst>
          </p:cNvPr>
          <p:cNvSpPr/>
          <p:nvPr/>
        </p:nvSpPr>
        <p:spPr>
          <a:xfrm>
            <a:off x="0" y="2532127"/>
            <a:ext cx="12676909" cy="1861620"/>
          </a:xfrm>
          <a:prstGeom prst="rect">
            <a:avLst/>
          </a:prstGeom>
          <a:solidFill>
            <a:schemeClr val="bg1">
              <a:alpha val="79536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3DE285-4158-38EC-7A53-486B98AD2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373379"/>
              </p:ext>
            </p:extLst>
          </p:nvPr>
        </p:nvGraphicFramePr>
        <p:xfrm>
          <a:off x="2238333" y="4092030"/>
          <a:ext cx="388561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89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268411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  <a:gridCol w="1268411">
                  <a:extLst>
                    <a:ext uri="{9D8B030D-6E8A-4147-A177-3AD203B41FA5}">
                      <a16:colId xmlns:a16="http://schemas.microsoft.com/office/drawing/2014/main" val="686532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semester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Spring ‘23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Fall ‘24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Fall ‘24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Spring ‘23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95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Spring ‘23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20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Fall ‘24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63125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4BEA7B4-8037-9B4B-66AF-D9F81680C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009083"/>
              </p:ext>
            </p:extLst>
          </p:nvPr>
        </p:nvGraphicFramePr>
        <p:xfrm>
          <a:off x="6980466" y="4204291"/>
          <a:ext cx="464828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531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1775134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  <a:gridCol w="1259620">
                  <a:extLst>
                    <a:ext uri="{9D8B030D-6E8A-4147-A177-3AD203B41FA5}">
                      <a16:colId xmlns:a16="http://schemas.microsoft.com/office/drawing/2014/main" val="976014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instructor_id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semester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Spring ‘23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Fall ‘24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Fall ’24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Spring ‘23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99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Fall ‘24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953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577864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0BAF0A-BCA6-160A-D2E5-FC878DEAEF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4A87-DA36-1DCC-D7BF-5DA1341FD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400" b="1"/>
              <a:t>Extract </a:t>
            </a:r>
            <a:r>
              <a:rPr lang="en-US" sz="2400"/>
              <a:t>multiple elements into individual fields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1E40E1-C78F-D54C-4FFB-6BE8BCC6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Rules for Third Normal 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5FFD4-0861-83C0-9DBC-A390850C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2879FA-324E-3E99-2254-ECB1F300C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285918"/>
              </p:ext>
            </p:extLst>
          </p:nvPr>
        </p:nvGraphicFramePr>
        <p:xfrm>
          <a:off x="1782109" y="2687320"/>
          <a:ext cx="86168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23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S123, 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Biology, 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S123, 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Biology, 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M222, 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Algebra, 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12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0BAF0A-BCA6-160A-D2E5-FC878DEAEF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4A87-DA36-1DCC-D7BF-5DA1341FD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400" b="1"/>
              <a:t>Extract </a:t>
            </a:r>
            <a:r>
              <a:rPr lang="en-US" sz="2400"/>
              <a:t>multiple elements into individual fields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1E40E1-C78F-D54C-4FFB-6BE8BCC6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Rules for Third Normal 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5FFD4-0861-83C0-9DBC-A390850C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69A869-89CB-CA5A-0F76-93D219DD4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065690"/>
              </p:ext>
            </p:extLst>
          </p:nvPr>
        </p:nvGraphicFramePr>
        <p:xfrm>
          <a:off x="1782109" y="3307829"/>
          <a:ext cx="861689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23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561859"/>
      </p:ext>
    </p:extLst>
  </p:cSld>
  <p:clrMapOvr>
    <a:masterClrMapping/>
  </p:clrMapOvr>
  <p:transition spd="slow">
    <p:wipe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0BAF0A-BCA6-160A-D2E5-FC878DEAEF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4A87-DA36-1DCC-D7BF-5DA1341FD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400" b="1"/>
              <a:t>Extract </a:t>
            </a:r>
            <a:r>
              <a:rPr lang="en-US" sz="2400"/>
              <a:t>multiple elements into individual fields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Eliminate</a:t>
            </a:r>
            <a:r>
              <a:rPr lang="en-US" sz="2400"/>
              <a:t> redundant data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400"/>
              <a:t>The value of each non-key attribute should only be stored ONCE in your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1E40E1-C78F-D54C-4FFB-6BE8BCC6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Rules for Third Normal 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5FFD4-0861-83C0-9DBC-A390850C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FC548D-9D0B-756F-8C3F-F1DD8E7ED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509366"/>
              </p:ext>
            </p:extLst>
          </p:nvPr>
        </p:nvGraphicFramePr>
        <p:xfrm>
          <a:off x="1782109" y="3307829"/>
          <a:ext cx="861689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23">
                  <a:extLst>
                    <a:ext uri="{9D8B030D-6E8A-4147-A177-3AD203B41FA5}">
                      <a16:colId xmlns:a16="http://schemas.microsoft.com/office/drawing/2014/main" val="1188936053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1801730006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215422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student_id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student_name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Alexis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2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Samir Kahn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Jessica Kane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933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0BAF0A-BCA6-160A-D2E5-FC878DEAEF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4A87-DA36-1DCC-D7BF-5DA1341FD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400" b="1"/>
              <a:t>Extract </a:t>
            </a:r>
            <a:r>
              <a:rPr lang="en-US" sz="2400"/>
              <a:t>multiple elements into individual fields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Eliminate</a:t>
            </a:r>
            <a:r>
              <a:rPr lang="en-US" sz="2400"/>
              <a:t> redundant data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400"/>
              <a:t>The value of each non-key attribute should only be stored ONCE in your database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Examine</a:t>
            </a:r>
            <a:r>
              <a:rPr lang="en-US" sz="2400"/>
              <a:t> dependencies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400"/>
              <a:t>Every attribute in every table should be dependent ONLY on the primary key of that table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1E40E1-C78F-D54C-4FFB-6BE8BCC6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Rules for Third Normal 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5FFD4-0861-83C0-9DBC-A390850C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57596A-30C3-5799-E25C-FD9058A24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683452"/>
              </p:ext>
            </p:extLst>
          </p:nvPr>
        </p:nvGraphicFramePr>
        <p:xfrm>
          <a:off x="5435095" y="4143830"/>
          <a:ext cx="57496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911">
                  <a:extLst>
                    <a:ext uri="{9D8B030D-6E8A-4147-A177-3AD203B41FA5}">
                      <a16:colId xmlns:a16="http://schemas.microsoft.com/office/drawing/2014/main" val="2388060688"/>
                    </a:ext>
                  </a:extLst>
                </a:gridCol>
                <a:gridCol w="1565563">
                  <a:extLst>
                    <a:ext uri="{9D8B030D-6E8A-4147-A177-3AD203B41FA5}">
                      <a16:colId xmlns:a16="http://schemas.microsoft.com/office/drawing/2014/main" val="381435209"/>
                    </a:ext>
                  </a:extLst>
                </a:gridCol>
                <a:gridCol w="1499753">
                  <a:extLst>
                    <a:ext uri="{9D8B030D-6E8A-4147-A177-3AD203B41FA5}">
                      <a16:colId xmlns:a16="http://schemas.microsoft.com/office/drawing/2014/main" val="143272766"/>
                    </a:ext>
                  </a:extLst>
                </a:gridCol>
                <a:gridCol w="1437409">
                  <a:extLst>
                    <a:ext uri="{9D8B030D-6E8A-4147-A177-3AD203B41FA5}">
                      <a16:colId xmlns:a16="http://schemas.microsoft.com/office/drawing/2014/main" val="949067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course_id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course_name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instructor_id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instr_name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43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Soong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9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Soong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Psychology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Dr. Frank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468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0BAF0A-BCA6-160A-D2E5-FC878DEAEF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4A87-DA36-1DCC-D7BF-5DA1341FD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400" b="1"/>
              <a:t>Extract </a:t>
            </a:r>
            <a:r>
              <a:rPr lang="en-US" sz="2400"/>
              <a:t>multiple elements into individual fields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Eliminate</a:t>
            </a:r>
            <a:r>
              <a:rPr lang="en-US" sz="2400"/>
              <a:t> redundant data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400"/>
              <a:t>The value of each non-key attribute should only be stored ONCE in your database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Examine</a:t>
            </a:r>
            <a:r>
              <a:rPr lang="en-US" sz="2400"/>
              <a:t> dependencies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400"/>
              <a:t>Every attribute in every table should be dependent ONLY on the primary key of that table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Embrace</a:t>
            </a:r>
            <a:r>
              <a:rPr lang="en-US" sz="2400"/>
              <a:t> composition (“combo”) keys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/>
              <a:t>If the unique combination of two or more attributes is guaranteed to make a record unique, you DO NOT need to add a surrogate key (“id”)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1E40E1-C78F-D54C-4FFB-6BE8BCC6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Rules for Third Normal 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5FFD4-0861-83C0-9DBC-A390850C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7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37af3f4b-4b66-46f9-8456-831d9bc3e737"/>
    <ds:schemaRef ds:uri="d6656b4d-3fa0-4709-acfb-d5e813445d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20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Revising Databases with Normal Forms</vt:lpstr>
      <vt:lpstr>What’s wrong with this database table?</vt:lpstr>
      <vt:lpstr>“Bad” Form</vt:lpstr>
      <vt:lpstr>Sidebar: Arrays in Relational Databases</vt:lpstr>
      <vt:lpstr>First Normal Form (1NF)</vt:lpstr>
      <vt:lpstr>Second Normal Form (2NF)</vt:lpstr>
      <vt:lpstr>Second Normal Form (2NF)</vt:lpstr>
      <vt:lpstr>Second Normal Form (2NF)</vt:lpstr>
      <vt:lpstr>Second Normal Form (2NF)</vt:lpstr>
      <vt:lpstr>Third Normal Form (3NF)</vt:lpstr>
      <vt:lpstr>An Expanded Example</vt:lpstr>
      <vt:lpstr>First Normal Form (1NF)</vt:lpstr>
      <vt:lpstr>Second Normal Form (2NF)</vt:lpstr>
      <vt:lpstr>Third Normal Form (3NF)</vt:lpstr>
      <vt:lpstr>Third Normal Form (3NF)</vt:lpstr>
      <vt:lpstr>Rules for Third Normal Form</vt:lpstr>
      <vt:lpstr>Rules for Third Normal Form</vt:lpstr>
      <vt:lpstr>Rules for Third Normal Form</vt:lpstr>
      <vt:lpstr>Rules for Third Normal Form</vt:lpstr>
      <vt:lpstr>Rules for Third Normal 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Revising Databases with Normal Forms</dc:title>
  <dc:creator>Rob Elliott</dc:creator>
  <cp:revision>1</cp:revision>
  <dcterms:created xsi:type="dcterms:W3CDTF">2024-08-26T16:17:05Z</dcterms:created>
  <dcterms:modified xsi:type="dcterms:W3CDTF">2024-09-03T14:49:17Z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