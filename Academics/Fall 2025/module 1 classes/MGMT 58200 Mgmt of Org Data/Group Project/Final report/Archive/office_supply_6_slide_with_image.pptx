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ot Traffic and Dwell Time Trends at Office Supply Stores During the Remote Work Shift" id="{5DF80359-FA28-4EEB-8BA2-DE6CF3FDB16D}">
          <p14:sldIdLst>
            <p14:sldId id="2561"/>
          </p14:sldIdLst>
        </p14:section>
        <p14:section name="Introduction &amp; Context" id="{1F996911-9401-4BD5-B203-C35357AEADBD}">
          <p14:sldIdLst>
            <p14:sldId id="2562"/>
            <p14:sldId id="2563"/>
          </p14:sldIdLst>
        </p14:section>
        <p14:section name="Research Question 1" id="{44F58C0B-52E4-40D8-B7D6-D0D0E7EDFFBF}">
          <p14:sldIdLst>
            <p14:sldId id="2564"/>
            <p14:sldId id="2565"/>
          </p14:sldIdLst>
        </p14:section>
        <p14:section name="Research Question 2" id="{0352455F-6CF8-4235-97DE-21392A4D7A6A}">
          <p14:sldIdLst>
            <p14:sldId id="2566"/>
            <p14:sldId id="2567"/>
          </p14:sldIdLst>
        </p14:section>
        <p14:section name="Research Question 3" id="{B65C966F-FD72-49C3-A903-0E257A47D7F2}">
          <p14:sldIdLst>
            <p14:sldId id="2568"/>
            <p14:sldId id="2569"/>
          </p14:sldIdLst>
        </p14:section>
        <p14:section name="Overall Conclusions" id="{792A452A-D480-4C27-AAC6-D4895FFD8B69}">
          <p14:sldIdLst>
            <p14:sldId id="2570"/>
            <p14:sldId id="25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36AF16-DAA5-4C59-97FF-E35DCEC4E89C}" v="14" dt="2025-10-12T06:37:35.6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93" d="100"/>
          <a:sy n="93" d="100"/>
        </p:scale>
        <p:origin x="1188" y="306"/>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B36AF16-DAA5-4C59-97FF-E35DCEC4E89C}"/>
    <pc:docChg chg="addSld delSld modSld addSection">
      <pc:chgData name="" userId="" providerId="" clId="Web-{9B36AF16-DAA5-4C59-97FF-E35DCEC4E89C}" dt="2025-10-12T06:37:35.615" v="14" actId="34807"/>
      <pc:docMkLst>
        <pc:docMk/>
      </pc:docMkLst>
      <pc:sldChg chg="del">
        <pc:chgData name="" userId="" providerId="" clId="Web-{9B36AF16-DAA5-4C59-97FF-E35DCEC4E89C}" dt="2025-10-12T06:37:35.568" v="0" actId="34807"/>
        <pc:sldMkLst>
          <pc:docMk/>
          <pc:sldMk cId="2701253080" sldId="256"/>
        </pc:sldMkLst>
      </pc:sldChg>
      <pc:sldChg chg="modSp add mod modClrScheme addAnim chgLayout">
        <pc:chgData name="" userId="" providerId="" clId="Web-{9B36AF16-DAA5-4C59-97FF-E35DCEC4E89C}" dt="2025-10-12T06:37:35.599" v="4" actId="34807"/>
        <pc:sldMkLst>
          <pc:docMk/>
          <pc:sldMk cId="2355793643" sldId="2561"/>
        </pc:sldMkLst>
        <pc:spChg chg="mod">
          <ac:chgData name="" userId="" providerId="" clId="Web-{9B36AF16-DAA5-4C59-97FF-E35DCEC4E89C}" dt="2025-10-12T06:37:35.599" v="1" actId="34807"/>
          <ac:spMkLst>
            <pc:docMk/>
            <pc:sldMk cId="2355793643" sldId="2561"/>
            <ac:spMk id="2" creationId="{50A3EA9F-C2DD-C055-FB70-DF9CAD66333E}"/>
          </ac:spMkLst>
        </pc:spChg>
        <pc:spChg chg="mod">
          <ac:chgData name="" userId="" providerId="" clId="Web-{9B36AF16-DAA5-4C59-97FF-E35DCEC4E89C}" dt="2025-10-12T06:37:35.599" v="1" actId="34807"/>
          <ac:spMkLst>
            <pc:docMk/>
            <pc:sldMk cId="2355793643" sldId="2561"/>
            <ac:spMk id="3" creationId="{6ED73151-8258-EFC7-243C-E2400D39E125}"/>
          </ac:spMkLst>
        </pc:spChg>
      </pc:sldChg>
      <pc:sldChg chg="modSp add mod modTransition addAnim chgLayout">
        <pc:chgData name="" userId="" providerId="" clId="Web-{9B36AF16-DAA5-4C59-97FF-E35DCEC4E89C}" dt="2025-10-12T06:37:35.599" v="5" actId="34807"/>
        <pc:sldMkLst>
          <pc:docMk/>
          <pc:sldMk cId="3858132551" sldId="2562"/>
        </pc:sldMkLst>
        <pc:spChg chg="mod">
          <ac:chgData name="" userId="" providerId="" clId="Web-{9B36AF16-DAA5-4C59-97FF-E35DCEC4E89C}" dt="2025-10-12T06:37:35.599" v="1" actId="34807"/>
          <ac:spMkLst>
            <pc:docMk/>
            <pc:sldMk cId="3858132551" sldId="2562"/>
            <ac:spMk id="2" creationId="{83BBFA59-F878-85E9-543E-737AC99158F5}"/>
          </ac:spMkLst>
        </pc:spChg>
      </pc:sldChg>
      <pc:sldChg chg="modSp add mod modTransition modClrScheme addAnim chgLayout">
        <pc:chgData name="" userId="" providerId="" clId="Web-{9B36AF16-DAA5-4C59-97FF-E35DCEC4E89C}" dt="2025-10-12T06:37:35.599" v="6" actId="34807"/>
        <pc:sldMkLst>
          <pc:docMk/>
          <pc:sldMk cId="2519381120" sldId="2563"/>
        </pc:sldMkLst>
        <pc:spChg chg="mod">
          <ac:chgData name="" userId="" providerId="" clId="Web-{9B36AF16-DAA5-4C59-97FF-E35DCEC4E89C}" dt="2025-10-12T06:37:35.599" v="1" actId="34807"/>
          <ac:spMkLst>
            <pc:docMk/>
            <pc:sldMk cId="2519381120" sldId="2563"/>
            <ac:spMk id="2" creationId="{20951020-7B8F-F5C6-6933-5D1F8DCA92CF}"/>
          </ac:spMkLst>
        </pc:spChg>
        <pc:spChg chg="mod">
          <ac:chgData name="" userId="" providerId="" clId="Web-{9B36AF16-DAA5-4C59-97FF-E35DCEC4E89C}" dt="2025-10-12T06:37:35.599" v="1" actId="34807"/>
          <ac:spMkLst>
            <pc:docMk/>
            <pc:sldMk cId="2519381120" sldId="2563"/>
            <ac:spMk id="4" creationId="{E744BCDF-33D6-4986-F3F1-96BE19372A0D}"/>
          </ac:spMkLst>
        </pc:spChg>
        <pc:picChg chg="mod">
          <ac:chgData name="" userId="" providerId="" clId="Web-{9B36AF16-DAA5-4C59-97FF-E35DCEC4E89C}" dt="2025-10-12T06:37:35.599" v="1" actId="34807"/>
          <ac:picMkLst>
            <pc:docMk/>
            <pc:sldMk cId="2519381120" sldId="2563"/>
            <ac:picMk id="5" creationId="{5BF315EC-73DB-4961-B1BC-E3D0D1538E6C}"/>
          </ac:picMkLst>
        </pc:picChg>
      </pc:sldChg>
      <pc:sldChg chg="modSp add mod modTransition addAnim chgLayout">
        <pc:chgData name="" userId="" providerId="" clId="Web-{9B36AF16-DAA5-4C59-97FF-E35DCEC4E89C}" dt="2025-10-12T06:37:35.615" v="7" actId="34807"/>
        <pc:sldMkLst>
          <pc:docMk/>
          <pc:sldMk cId="494598877" sldId="2564"/>
        </pc:sldMkLst>
        <pc:spChg chg="mod">
          <ac:chgData name="" userId="" providerId="" clId="Web-{9B36AF16-DAA5-4C59-97FF-E35DCEC4E89C}" dt="2025-10-12T06:37:35.599" v="1" actId="34807"/>
          <ac:spMkLst>
            <pc:docMk/>
            <pc:sldMk cId="494598877" sldId="2564"/>
            <ac:spMk id="2" creationId="{35B07EAC-6B81-A999-69E1-E6A124D30AFE}"/>
          </ac:spMkLst>
        </pc:spChg>
      </pc:sldChg>
      <pc:sldChg chg="modSp add mod modTransition modClrScheme addAnim chgLayout">
        <pc:chgData name="" userId="" providerId="" clId="Web-{9B36AF16-DAA5-4C59-97FF-E35DCEC4E89C}" dt="2025-10-12T06:37:35.615" v="8" actId="34807"/>
        <pc:sldMkLst>
          <pc:docMk/>
          <pc:sldMk cId="1172667805" sldId="2565"/>
        </pc:sldMkLst>
        <pc:spChg chg="mod">
          <ac:chgData name="" userId="" providerId="" clId="Web-{9B36AF16-DAA5-4C59-97FF-E35DCEC4E89C}" dt="2025-10-12T06:37:35.599" v="1" actId="34807"/>
          <ac:spMkLst>
            <pc:docMk/>
            <pc:sldMk cId="1172667805" sldId="2565"/>
            <ac:spMk id="2" creationId="{45DCD764-0671-A4DE-31A1-ED08189E7985}"/>
          </ac:spMkLst>
        </pc:spChg>
        <pc:spChg chg="mod">
          <ac:chgData name="" userId="" providerId="" clId="Web-{9B36AF16-DAA5-4C59-97FF-E35DCEC4E89C}" dt="2025-10-12T06:37:35.599" v="1" actId="34807"/>
          <ac:spMkLst>
            <pc:docMk/>
            <pc:sldMk cId="1172667805" sldId="2565"/>
            <ac:spMk id="4" creationId="{8377637C-36A2-38A8-0E7B-8BAC8471579A}"/>
          </ac:spMkLst>
        </pc:spChg>
        <pc:picChg chg="mod">
          <ac:chgData name="" userId="" providerId="" clId="Web-{9B36AF16-DAA5-4C59-97FF-E35DCEC4E89C}" dt="2025-10-12T06:37:35.599" v="1" actId="34807"/>
          <ac:picMkLst>
            <pc:docMk/>
            <pc:sldMk cId="1172667805" sldId="2565"/>
            <ac:picMk id="5" creationId="{E8E3E924-CE02-4E35-AA33-F0446DED2EC3}"/>
          </ac:picMkLst>
        </pc:picChg>
      </pc:sldChg>
      <pc:sldChg chg="modSp add mod modTransition addAnim chgLayout">
        <pc:chgData name="" userId="" providerId="" clId="Web-{9B36AF16-DAA5-4C59-97FF-E35DCEC4E89C}" dt="2025-10-12T06:37:35.615" v="9" actId="34807"/>
        <pc:sldMkLst>
          <pc:docMk/>
          <pc:sldMk cId="133541054" sldId="2566"/>
        </pc:sldMkLst>
        <pc:spChg chg="mod">
          <ac:chgData name="" userId="" providerId="" clId="Web-{9B36AF16-DAA5-4C59-97FF-E35DCEC4E89C}" dt="2025-10-12T06:37:35.599" v="1" actId="34807"/>
          <ac:spMkLst>
            <pc:docMk/>
            <pc:sldMk cId="133541054" sldId="2566"/>
            <ac:spMk id="2" creationId="{14AF08A2-AA18-818A-0004-191F1B4C776F}"/>
          </ac:spMkLst>
        </pc:spChg>
      </pc:sldChg>
      <pc:sldChg chg="modSp add mod modTransition modClrScheme addAnim chgLayout">
        <pc:chgData name="" userId="" providerId="" clId="Web-{9B36AF16-DAA5-4C59-97FF-E35DCEC4E89C}" dt="2025-10-12T06:37:35.615" v="10" actId="34807"/>
        <pc:sldMkLst>
          <pc:docMk/>
          <pc:sldMk cId="1012711164" sldId="2567"/>
        </pc:sldMkLst>
        <pc:spChg chg="mod">
          <ac:chgData name="" userId="" providerId="" clId="Web-{9B36AF16-DAA5-4C59-97FF-E35DCEC4E89C}" dt="2025-10-12T06:37:35.599" v="1" actId="34807"/>
          <ac:spMkLst>
            <pc:docMk/>
            <pc:sldMk cId="1012711164" sldId="2567"/>
            <ac:spMk id="2" creationId="{E3775306-C66B-8617-94C0-4F754ADAC43B}"/>
          </ac:spMkLst>
        </pc:spChg>
        <pc:spChg chg="mod">
          <ac:chgData name="" userId="" providerId="" clId="Web-{9B36AF16-DAA5-4C59-97FF-E35DCEC4E89C}" dt="2025-10-12T06:37:35.599" v="1" actId="34807"/>
          <ac:spMkLst>
            <pc:docMk/>
            <pc:sldMk cId="1012711164" sldId="2567"/>
            <ac:spMk id="4" creationId="{6064ADC2-31B8-697E-B990-47CFA7A6F093}"/>
          </ac:spMkLst>
        </pc:spChg>
        <pc:picChg chg="mod">
          <ac:chgData name="" userId="" providerId="" clId="Web-{9B36AF16-DAA5-4C59-97FF-E35DCEC4E89C}" dt="2025-10-12T06:37:35.599" v="1" actId="34807"/>
          <ac:picMkLst>
            <pc:docMk/>
            <pc:sldMk cId="1012711164" sldId="2567"/>
            <ac:picMk id="5" creationId="{FB5E2CC7-2081-4C31-9B11-188F91EFE8C3}"/>
          </ac:picMkLst>
        </pc:picChg>
      </pc:sldChg>
      <pc:sldChg chg="modSp add mod modTransition addAnim chgLayout">
        <pc:chgData name="" userId="" providerId="" clId="Web-{9B36AF16-DAA5-4C59-97FF-E35DCEC4E89C}" dt="2025-10-12T06:37:35.615" v="11" actId="34807"/>
        <pc:sldMkLst>
          <pc:docMk/>
          <pc:sldMk cId="2558408519" sldId="2568"/>
        </pc:sldMkLst>
        <pc:spChg chg="mod">
          <ac:chgData name="" userId="" providerId="" clId="Web-{9B36AF16-DAA5-4C59-97FF-E35DCEC4E89C}" dt="2025-10-12T06:37:35.599" v="1" actId="34807"/>
          <ac:spMkLst>
            <pc:docMk/>
            <pc:sldMk cId="2558408519" sldId="2568"/>
            <ac:spMk id="2" creationId="{C69AF8EA-7671-C2A0-33AB-53C93E467F52}"/>
          </ac:spMkLst>
        </pc:spChg>
      </pc:sldChg>
      <pc:sldChg chg="modSp add mod modTransition modClrScheme addAnim chgLayout">
        <pc:chgData name="" userId="" providerId="" clId="Web-{9B36AF16-DAA5-4C59-97FF-E35DCEC4E89C}" dt="2025-10-12T06:37:35.615" v="12" actId="34807"/>
        <pc:sldMkLst>
          <pc:docMk/>
          <pc:sldMk cId="2592475260" sldId="2569"/>
        </pc:sldMkLst>
        <pc:spChg chg="mod">
          <ac:chgData name="" userId="" providerId="" clId="Web-{9B36AF16-DAA5-4C59-97FF-E35DCEC4E89C}" dt="2025-10-12T06:37:35.599" v="1" actId="34807"/>
          <ac:spMkLst>
            <pc:docMk/>
            <pc:sldMk cId="2592475260" sldId="2569"/>
            <ac:spMk id="2" creationId="{EA2E5BC7-6195-E86F-C028-ECAE0251211D}"/>
          </ac:spMkLst>
        </pc:spChg>
        <pc:spChg chg="mod">
          <ac:chgData name="" userId="" providerId="" clId="Web-{9B36AF16-DAA5-4C59-97FF-E35DCEC4E89C}" dt="2025-10-12T06:37:35.599" v="1" actId="34807"/>
          <ac:spMkLst>
            <pc:docMk/>
            <pc:sldMk cId="2592475260" sldId="2569"/>
            <ac:spMk id="4" creationId="{DDC07DA0-4FE4-FDAE-8B71-915EBBCA0DA3}"/>
          </ac:spMkLst>
        </pc:spChg>
        <pc:picChg chg="mod">
          <ac:chgData name="" userId="" providerId="" clId="Web-{9B36AF16-DAA5-4C59-97FF-E35DCEC4E89C}" dt="2025-10-12T06:37:35.599" v="1" actId="34807"/>
          <ac:picMkLst>
            <pc:docMk/>
            <pc:sldMk cId="2592475260" sldId="2569"/>
            <ac:picMk id="5" creationId="{FAD1F38A-F9F5-4B71-A79F-F0BF3870F6A5}"/>
          </ac:picMkLst>
        </pc:picChg>
      </pc:sldChg>
      <pc:sldChg chg="modSp add mod modTransition addAnim chgLayout">
        <pc:chgData name="" userId="" providerId="" clId="Web-{9B36AF16-DAA5-4C59-97FF-E35DCEC4E89C}" dt="2025-10-12T06:37:35.615" v="13" actId="34807"/>
        <pc:sldMkLst>
          <pc:docMk/>
          <pc:sldMk cId="697502806" sldId="2570"/>
        </pc:sldMkLst>
        <pc:spChg chg="mod">
          <ac:chgData name="" userId="" providerId="" clId="Web-{9B36AF16-DAA5-4C59-97FF-E35DCEC4E89C}" dt="2025-10-12T06:37:35.599" v="1" actId="34807"/>
          <ac:spMkLst>
            <pc:docMk/>
            <pc:sldMk cId="697502806" sldId="2570"/>
            <ac:spMk id="2" creationId="{11B87A38-1983-0CC4-0BE5-88BD2936549F}"/>
          </ac:spMkLst>
        </pc:spChg>
      </pc:sldChg>
      <pc:sldChg chg="modSp add mod modTransition modClrScheme addAnim chgLayout">
        <pc:chgData name="" userId="" providerId="" clId="Web-{9B36AF16-DAA5-4C59-97FF-E35DCEC4E89C}" dt="2025-10-12T06:37:35.615" v="14" actId="34807"/>
        <pc:sldMkLst>
          <pc:docMk/>
          <pc:sldMk cId="715749171" sldId="2571"/>
        </pc:sldMkLst>
        <pc:spChg chg="mod">
          <ac:chgData name="" userId="" providerId="" clId="Web-{9B36AF16-DAA5-4C59-97FF-E35DCEC4E89C}" dt="2025-10-12T06:37:35.599" v="1" actId="34807"/>
          <ac:spMkLst>
            <pc:docMk/>
            <pc:sldMk cId="715749171" sldId="2571"/>
            <ac:spMk id="2" creationId="{D7C3FC64-96DB-8864-E32B-297ADAB13705}"/>
          </ac:spMkLst>
        </pc:spChg>
        <pc:spChg chg="mod">
          <ac:chgData name="" userId="" providerId="" clId="Web-{9B36AF16-DAA5-4C59-97FF-E35DCEC4E89C}" dt="2025-10-12T06:37:35.599" v="1" actId="34807"/>
          <ac:spMkLst>
            <pc:docMk/>
            <pc:sldMk cId="715749171" sldId="2571"/>
            <ac:spMk id="4" creationId="{EBDF1E45-DB04-54E5-B3F0-3C89EC318BD3}"/>
          </ac:spMkLst>
        </pc:spChg>
        <pc:picChg chg="mod">
          <ac:chgData name="" userId="" providerId="" clId="Web-{9B36AF16-DAA5-4C59-97FF-E35DCEC4E89C}" dt="2025-10-12T06:37:35.599" v="1" actId="34807"/>
          <ac:picMkLst>
            <pc:docMk/>
            <pc:sldMk cId="715749171" sldId="2571"/>
            <ac:picMk id="5" creationId="{4DA337DA-39AF-4D9B-8D8C-E4C19D7CC4D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77E421-E428-43B2-AB4A-BDC35CA6F0DD}" type="datetimeFigureOut">
              <a:t>10/11/2025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185B1A-4578-4EBF-8A2E-9C5228257322}" type="slidenum">
              <a:t>‹#›</a:t>
            </a:fld>
            <a:endParaRPr lang="en-US"/>
          </a:p>
        </p:txBody>
      </p:sp>
    </p:spTree>
    <p:extLst>
      <p:ext uri="{BB962C8B-B14F-4D97-AF65-F5344CB8AC3E}">
        <p14:creationId xmlns:p14="http://schemas.microsoft.com/office/powerpoint/2010/main" val="1562186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EEEF32E1-7550-49DF-84F1-CF2E6AF9F9F2}" type="slidenum">
              <a:t>1</a:t>
            </a:fld>
            <a:endParaRPr lang="en-US"/>
          </a:p>
        </p:txBody>
      </p:sp>
    </p:spTree>
    <p:extLst>
      <p:ext uri="{BB962C8B-B14F-4D97-AF65-F5344CB8AC3E}">
        <p14:creationId xmlns:p14="http://schemas.microsoft.com/office/powerpoint/2010/main" val="3600643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Overview of the Study
</a:t>
            </a:r>
          </a:p>
        </p:txBody>
      </p:sp>
      <p:sp>
        <p:nvSpPr>
          <p:cNvPr id="4" name="Slide Number Placeholder 3"/>
          <p:cNvSpPr>
            <a:spLocks noGrp="1"/>
          </p:cNvSpPr>
          <p:nvPr>
            <p:ph type="sldNum" sz="quarter" idx="5"/>
          </p:nvPr>
        </p:nvSpPr>
        <p:spPr/>
        <p:txBody>
          <a:bodyPr/>
          <a:lstStyle/>
          <a:p>
            <a:fld id="{EEEF32E1-7550-49DF-84F1-CF2E6AF9F9F2}" type="slidenum">
              <a:t>2</a:t>
            </a:fld>
            <a:endParaRPr lang="en-US"/>
          </a:p>
        </p:txBody>
      </p:sp>
    </p:spTree>
    <p:extLst>
      <p:ext uri="{BB962C8B-B14F-4D97-AF65-F5344CB8AC3E}">
        <p14:creationId xmlns:p14="http://schemas.microsoft.com/office/powerpoint/2010/main" val="2905361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This presentation explores the impact of the remote work shift during early 2020 on consumer behavior at office supply stores in California. The study focuses on foot traffic and dwell time trends across urban, suburban, and rural counties. Using datasets from SafeGraph and RUCA codes, the analysis investigates how different demographics—including education levels, working-age populations, and K–12 households—affected store engagement. The research aims to understand how quickly visits recovered, whether dwell times changed, and what these patterns suggest about consumer intent and brand loyalty.
</a:t>
            </a:r>
          </a:p>
        </p:txBody>
      </p:sp>
      <p:sp>
        <p:nvSpPr>
          <p:cNvPr id="4" name="Slide Number Placeholder 3"/>
          <p:cNvSpPr>
            <a:spLocks noGrp="1"/>
          </p:cNvSpPr>
          <p:nvPr>
            <p:ph type="sldNum" sz="quarter" idx="5"/>
          </p:nvPr>
        </p:nvSpPr>
        <p:spPr/>
        <p:txBody>
          <a:bodyPr/>
          <a:lstStyle/>
          <a:p>
            <a:fld id="{EEEF32E1-7550-49DF-84F1-CF2E6AF9F9F2}" type="slidenum">
              <a:t>3</a:t>
            </a:fld>
            <a:endParaRPr lang="en-US"/>
          </a:p>
        </p:txBody>
      </p:sp>
    </p:spTree>
    <p:extLst>
      <p:ext uri="{BB962C8B-B14F-4D97-AF65-F5344CB8AC3E}">
        <p14:creationId xmlns:p14="http://schemas.microsoft.com/office/powerpoint/2010/main" val="1878704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Foot Traffic &amp; Demographics
</a:t>
            </a:r>
          </a:p>
        </p:txBody>
      </p:sp>
      <p:sp>
        <p:nvSpPr>
          <p:cNvPr id="4" name="Slide Number Placeholder 3"/>
          <p:cNvSpPr>
            <a:spLocks noGrp="1"/>
          </p:cNvSpPr>
          <p:nvPr>
            <p:ph type="sldNum" sz="quarter" idx="5"/>
          </p:nvPr>
        </p:nvSpPr>
        <p:spPr/>
        <p:txBody>
          <a:bodyPr/>
          <a:lstStyle/>
          <a:p>
            <a:fld id="{EEEF32E1-7550-49DF-84F1-CF2E6AF9F9F2}" type="slidenum">
              <a:t>4</a:t>
            </a:fld>
            <a:endParaRPr lang="en-US"/>
          </a:p>
        </p:txBody>
      </p:sp>
    </p:spTree>
    <p:extLst>
      <p:ext uri="{BB962C8B-B14F-4D97-AF65-F5344CB8AC3E}">
        <p14:creationId xmlns:p14="http://schemas.microsoft.com/office/powerpoint/2010/main" val="591831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During the first four months of 2020, foot traffic at office supply stores peaked in January and February before sharply declining in March (Week 12) due to lockdowns. Staples showed a notable rebound in Week 17 with nearly 98K visits, indicating early recovery driven by home-office needs. Specialty stores such as Papyrus and Rapid Refill had fewer visits but significantly longer dwell times, suggesting high-intent shopping behavior. Demographic factors played a crucial role: areas with higher concentrations of K–12 households, working-age populations, and educated consumers exhibited distinct engagement patterns. For example, counties with more working-age residents showed shorter dwell times, while highly educated regions had longer visits, reflecting a preference for personalized shopping experiences.
</a:t>
            </a:r>
          </a:p>
        </p:txBody>
      </p:sp>
      <p:sp>
        <p:nvSpPr>
          <p:cNvPr id="4" name="Slide Number Placeholder 3"/>
          <p:cNvSpPr>
            <a:spLocks noGrp="1"/>
          </p:cNvSpPr>
          <p:nvPr>
            <p:ph type="sldNum" sz="quarter" idx="5"/>
          </p:nvPr>
        </p:nvSpPr>
        <p:spPr/>
        <p:txBody>
          <a:bodyPr/>
          <a:lstStyle/>
          <a:p>
            <a:fld id="{EEEF32E1-7550-49DF-84F1-CF2E6AF9F9F2}" type="slidenum">
              <a:t>5</a:t>
            </a:fld>
            <a:endParaRPr lang="en-US"/>
          </a:p>
        </p:txBody>
      </p:sp>
    </p:spTree>
    <p:extLst>
      <p:ext uri="{BB962C8B-B14F-4D97-AF65-F5344CB8AC3E}">
        <p14:creationId xmlns:p14="http://schemas.microsoft.com/office/powerpoint/2010/main" val="2799368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Suburban vs Urban Recovery
</a:t>
            </a:r>
          </a:p>
        </p:txBody>
      </p:sp>
      <p:sp>
        <p:nvSpPr>
          <p:cNvPr id="4" name="Slide Number Placeholder 3"/>
          <p:cNvSpPr>
            <a:spLocks noGrp="1"/>
          </p:cNvSpPr>
          <p:nvPr>
            <p:ph type="sldNum" sz="quarter" idx="5"/>
          </p:nvPr>
        </p:nvSpPr>
        <p:spPr/>
        <p:txBody>
          <a:bodyPr/>
          <a:lstStyle/>
          <a:p>
            <a:fld id="{EEEF32E1-7550-49DF-84F1-CF2E6AF9F9F2}" type="slidenum">
              <a:t>6</a:t>
            </a:fld>
            <a:endParaRPr lang="en-US"/>
          </a:p>
        </p:txBody>
      </p:sp>
    </p:spTree>
    <p:extLst>
      <p:ext uri="{BB962C8B-B14F-4D97-AF65-F5344CB8AC3E}">
        <p14:creationId xmlns:p14="http://schemas.microsoft.com/office/powerpoint/2010/main" val="2149663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Suburban counties demonstrated the highest levels of foot traffic and engagement at office supply stores during the early remote work shift. Staples and Office Depot led the recovery in these regions, benefiting from their strong suburban presence and supply chains. Urban areas experienced slightly lower visit volumes but maintained similar dwell times, indicating quick, goal-oriented shopping trips. In contrast, rural counties saw fewer visits but longer dwell times, suggesting more leisurely or necessity-driven shopping. Los Angeles County emerged as a hotspot for office supply demand, highlighting regional variations in consumer adaptation. These findings underscore the importance of geographic context in retail recovery and consumer behavior during the pandemic.
</a:t>
            </a:r>
          </a:p>
        </p:txBody>
      </p:sp>
      <p:sp>
        <p:nvSpPr>
          <p:cNvPr id="4" name="Slide Number Placeholder 3"/>
          <p:cNvSpPr>
            <a:spLocks noGrp="1"/>
          </p:cNvSpPr>
          <p:nvPr>
            <p:ph type="sldNum" sz="quarter" idx="5"/>
          </p:nvPr>
        </p:nvSpPr>
        <p:spPr/>
        <p:txBody>
          <a:bodyPr/>
          <a:lstStyle/>
          <a:p>
            <a:fld id="{EEEF32E1-7550-49DF-84F1-CF2E6AF9F9F2}" type="slidenum">
              <a:t>7</a:t>
            </a:fld>
            <a:endParaRPr lang="en-US"/>
          </a:p>
        </p:txBody>
      </p:sp>
    </p:spTree>
    <p:extLst>
      <p:ext uri="{BB962C8B-B14F-4D97-AF65-F5344CB8AC3E}">
        <p14:creationId xmlns:p14="http://schemas.microsoft.com/office/powerpoint/2010/main" val="635556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Brand Stabilization &amp; Loyalty
</a:t>
            </a:r>
          </a:p>
        </p:txBody>
      </p:sp>
      <p:sp>
        <p:nvSpPr>
          <p:cNvPr id="4" name="Slide Number Placeholder 3"/>
          <p:cNvSpPr>
            <a:spLocks noGrp="1"/>
          </p:cNvSpPr>
          <p:nvPr>
            <p:ph type="sldNum" sz="quarter" idx="5"/>
          </p:nvPr>
        </p:nvSpPr>
        <p:spPr/>
        <p:txBody>
          <a:bodyPr/>
          <a:lstStyle/>
          <a:p>
            <a:fld id="{EEEF32E1-7550-49DF-84F1-CF2E6AF9F9F2}" type="slidenum">
              <a:t>8</a:t>
            </a:fld>
            <a:endParaRPr lang="en-US"/>
          </a:p>
        </p:txBody>
      </p:sp>
    </p:spTree>
    <p:extLst>
      <p:ext uri="{BB962C8B-B14F-4D97-AF65-F5344CB8AC3E}">
        <p14:creationId xmlns:p14="http://schemas.microsoft.com/office/powerpoint/2010/main" val="912803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Staples and Office Depot exhibited early stabilization in foot traffic and dwell times, with Staples rebounding rapidly by Week 17. This pattern reflects strong brand loyalty and the perception of these retailers as essential for remote work setups. Office Depot maintained a steady recovery, while OfficeMax lagged behind, possibly due to brand overlap and diluted traffic. Specialty brands like Papyrus and Rapid Refill experienced low traffic but high dwell times, indicating focused, high-value purchases. These trends suggest that essential status and customer trust played key roles in driving early recovery. Retailers with reliable supply chains and strong suburban footprints were better positioned to meet consumer needs during the transition to remote work.
</a:t>
            </a:r>
          </a:p>
        </p:txBody>
      </p:sp>
      <p:sp>
        <p:nvSpPr>
          <p:cNvPr id="4" name="Slide Number Placeholder 3"/>
          <p:cNvSpPr>
            <a:spLocks noGrp="1"/>
          </p:cNvSpPr>
          <p:nvPr>
            <p:ph type="sldNum" sz="quarter" idx="5"/>
          </p:nvPr>
        </p:nvSpPr>
        <p:spPr/>
        <p:txBody>
          <a:bodyPr/>
          <a:lstStyle/>
          <a:p>
            <a:fld id="{EEEF32E1-7550-49DF-84F1-CF2E6AF9F9F2}" type="slidenum">
              <a:t>9</a:t>
            </a:fld>
            <a:endParaRPr lang="en-US"/>
          </a:p>
        </p:txBody>
      </p:sp>
    </p:spTree>
    <p:extLst>
      <p:ext uri="{BB962C8B-B14F-4D97-AF65-F5344CB8AC3E}">
        <p14:creationId xmlns:p14="http://schemas.microsoft.com/office/powerpoint/2010/main" val="3399600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Summary of Insights
</a:t>
            </a:r>
          </a:p>
        </p:txBody>
      </p:sp>
      <p:sp>
        <p:nvSpPr>
          <p:cNvPr id="4" name="Slide Number Placeholder 3"/>
          <p:cNvSpPr>
            <a:spLocks noGrp="1"/>
          </p:cNvSpPr>
          <p:nvPr>
            <p:ph type="sldNum" sz="quarter" idx="5"/>
          </p:nvPr>
        </p:nvSpPr>
        <p:spPr/>
        <p:txBody>
          <a:bodyPr/>
          <a:lstStyle/>
          <a:p>
            <a:fld id="{EEEF32E1-7550-49DF-84F1-CF2E6AF9F9F2}" type="slidenum">
              <a:t>10</a:t>
            </a:fld>
            <a:endParaRPr lang="en-US"/>
          </a:p>
        </p:txBody>
      </p:sp>
    </p:spTree>
    <p:extLst>
      <p:ext uri="{BB962C8B-B14F-4D97-AF65-F5344CB8AC3E}">
        <p14:creationId xmlns:p14="http://schemas.microsoft.com/office/powerpoint/2010/main" val="3271006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The study concludes that suburban consumers adapted more quickly to remote work demands, leading to faster recovery in foot traffic and dwell times at office supply stores. Staples and Office Depot emerged as leaders due to their brand strength and essential status. Demographic factors such as education level, working-age density, and household composition significantly influenced shopping behavior. Efficiency-driven consumers favored quick trips to high-traffic retailers, while experience-driven shoppers spent more time in specialty stores. These insights highlight the need for retailers to tailor strategies based on local consumer profiles and preferences, especially in response to sudden shifts in work and lifestyle patterns.
</a:t>
            </a:r>
          </a:p>
        </p:txBody>
      </p:sp>
      <p:sp>
        <p:nvSpPr>
          <p:cNvPr id="4" name="Slide Number Placeholder 3"/>
          <p:cNvSpPr>
            <a:spLocks noGrp="1"/>
          </p:cNvSpPr>
          <p:nvPr>
            <p:ph type="sldNum" sz="quarter" idx="5"/>
          </p:nvPr>
        </p:nvSpPr>
        <p:spPr/>
        <p:txBody>
          <a:bodyPr/>
          <a:lstStyle/>
          <a:p>
            <a:fld id="{EEEF32E1-7550-49DF-84F1-CF2E6AF9F9F2}" type="slidenum">
              <a:t>11</a:t>
            </a:fld>
            <a:endParaRPr lang="en-US"/>
          </a:p>
        </p:txBody>
      </p:sp>
    </p:spTree>
    <p:extLst>
      <p:ext uri="{BB962C8B-B14F-4D97-AF65-F5344CB8AC3E}">
        <p14:creationId xmlns:p14="http://schemas.microsoft.com/office/powerpoint/2010/main" val="15018786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10/11/2025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10/11/2025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10/11/2025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10/11/2025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10/11/2025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74202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10/11/2025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4844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10/11/2025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9627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10/11/2025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329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10/11/2025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3527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10/11/2025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292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10/11/2025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25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10/11/2025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10/11/2025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10/11/2025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10/11/2025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711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10/11/2025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6612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10/11/2025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8798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10/11/2025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77290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10/11/2025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10/11/2025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10/11/2025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10/11/2025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10/11/2025</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10/11/2025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10/11/2025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10182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10/11/2025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0782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10/11/2025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27189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10/11/2025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10/11/2025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8887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10/11/2025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59192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10/11/2025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10/11/2025</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4834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10/11/2025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3701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10/11/2025</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10/11/2025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803002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10/11/2025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95220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10/11/2025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690993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10/11/2025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51060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10/11/2025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751849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10/11/2025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2640265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10/11/2025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58735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10/11/2025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467843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3">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10/11/2025</a:t>
            </a:fld>
            <a:endParaRPr lang="en-US" dirty="0"/>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514103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endParaRPr lang="en-US" dirty="0"/>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10/11/2025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10/11/2025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10/11/2025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10/11/2025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10/11/2025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10/11/2025</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6311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10/11/2025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33953646"/>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10/11/2025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531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10/11/2025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12" r:id="rId1"/>
    <p:sldLayoutId id="2147483662" r:id="rId2"/>
    <p:sldLayoutId id="2147483698" r:id="rId3"/>
    <p:sldLayoutId id="2147483728" r:id="rId4"/>
    <p:sldLayoutId id="2147483777" r:id="rId5"/>
    <p:sldLayoutId id="2147483801" r:id="rId6"/>
    <p:sldLayoutId id="2147483800" r:id="rId7"/>
    <p:sldLayoutId id="2147483761" r:id="rId8"/>
    <p:sldLayoutId id="2147483760" r:id="rId9"/>
    <p:sldLayoutId id="2147483786" r:id="rId10"/>
    <p:sldLayoutId id="2147483788" r:id="rId11"/>
    <p:sldLayoutId id="2147483679" r:id="rId12"/>
    <p:sldLayoutId id="2147483680" r:id="rId13"/>
    <p:sldLayoutId id="2147483681" r:id="rId14"/>
    <p:sldLayoutId id="2147483682" r:id="rId15"/>
    <p:sldLayoutId id="2147483706" r:id="rId16"/>
    <p:sldLayoutId id="2147483789" r:id="rId17"/>
    <p:sldLayoutId id="2147483767" r:id="rId18"/>
    <p:sldLayoutId id="2147483689" r:id="rId19"/>
    <p:sldLayoutId id="2147483690" r:id="rId20"/>
    <p:sldLayoutId id="2147483707" r:id="rId21"/>
    <p:sldLayoutId id="2147483708" r:id="rId22"/>
    <p:sldLayoutId id="2147483692" r:id="rId23"/>
    <p:sldLayoutId id="2147483691" r:id="rId24"/>
    <p:sldLayoutId id="2147483733" r:id="rId25"/>
    <p:sldLayoutId id="2147483731" r:id="rId26"/>
    <p:sldLayoutId id="2147483780" r:id="rId27"/>
    <p:sldLayoutId id="2147483694" r:id="rId28"/>
    <p:sldLayoutId id="2147483726" r:id="rId29"/>
    <p:sldLayoutId id="2147483693" r:id="rId30"/>
    <p:sldLayoutId id="2147483672" r:id="rId31"/>
    <p:sldLayoutId id="2147483756" r:id="rId32"/>
    <p:sldLayoutId id="2147483757" r:id="rId33"/>
    <p:sldLayoutId id="2147483696" r:id="rId34"/>
    <p:sldLayoutId id="2147483796" r:id="rId35"/>
    <p:sldLayoutId id="2147483797" r:id="rId36"/>
    <p:sldLayoutId id="2147483798" r:id="rId37"/>
    <p:sldLayoutId id="2147483747" r:id="rId38"/>
    <p:sldLayoutId id="2147483749" r:id="rId39"/>
    <p:sldLayoutId id="2147483759" r:id="rId40"/>
    <p:sldLayoutId id="2147483790" r:id="rId41"/>
    <p:sldLayoutId id="2147483791" r:id="rId42"/>
    <p:sldLayoutId id="2147483792" r:id="rId43"/>
    <p:sldLayoutId id="2147483664" r:id="rId44"/>
    <p:sldLayoutId id="2147483665" r:id="rId45"/>
    <p:sldLayoutId id="2147483666" r:id="rId46"/>
    <p:sldLayoutId id="2147483667" r:id="rId47"/>
    <p:sldLayoutId id="2147483668" r:id="rId48"/>
    <p:sldLayoutId id="2147483784" r:id="rId49"/>
    <p:sldLayoutId id="2147483783" r:id="rId50"/>
    <p:sldLayoutId id="2147483687" r:id="rId51"/>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3EA9F-C2DD-C055-FB70-DF9CAD66333E}"/>
              </a:ext>
            </a:extLst>
          </p:cNvPr>
          <p:cNvSpPr>
            <a:spLocks noGrp="1"/>
          </p:cNvSpPr>
          <p:nvPr>
            <p:ph type="ctrTitle"/>
          </p:nvPr>
        </p:nvSpPr>
        <p:spPr>
          <a:xfrm>
            <a:off x="457199" y="925186"/>
            <a:ext cx="7876287" cy="3592629"/>
          </a:xfrm>
        </p:spPr>
        <p:txBody>
          <a:bodyPr anchor="b">
            <a:normAutofit/>
          </a:bodyPr>
          <a:lstStyle/>
          <a:p>
            <a:r>
              <a:rPr lang="en-US" sz="6100"/>
              <a:t>Foot Traffic and Dwell Time Trends at Office Supply Stores During the Remote Work Shift</a:t>
            </a:r>
          </a:p>
        </p:txBody>
      </p:sp>
      <p:sp>
        <p:nvSpPr>
          <p:cNvPr id="3" name="Subtitle 2">
            <a:extLst>
              <a:ext uri="{FF2B5EF4-FFF2-40B4-BE49-F238E27FC236}">
                <a16:creationId xmlns:a16="http://schemas.microsoft.com/office/drawing/2014/main" id="{6ED73151-8258-EFC7-243C-E2400D39E125}"/>
              </a:ext>
            </a:extLst>
          </p:cNvPr>
          <p:cNvSpPr>
            <a:spLocks noGrp="1"/>
          </p:cNvSpPr>
          <p:nvPr>
            <p:ph type="subTitle" idx="1"/>
          </p:nvPr>
        </p:nvSpPr>
        <p:spPr>
          <a:xfrm>
            <a:off x="457198" y="5376439"/>
            <a:ext cx="7876287" cy="981451"/>
          </a:xfrm>
        </p:spPr>
        <p:txBody>
          <a:bodyPr anchor="ctr">
            <a:normAutofit/>
          </a:bodyPr>
          <a:lstStyle/>
          <a:p>
            <a:r>
              <a:rPr lang="en-US"/>
              <a:t>Analyzing customer behavior changes amid remote working trends</a:t>
            </a:r>
          </a:p>
        </p:txBody>
      </p:sp>
    </p:spTree>
    <p:extLst>
      <p:ext uri="{BB962C8B-B14F-4D97-AF65-F5344CB8AC3E}">
        <p14:creationId xmlns:p14="http://schemas.microsoft.com/office/powerpoint/2010/main" val="2355793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BFA59-F878-85E9-543E-737AC99158F5}"/>
              </a:ext>
            </a:extLst>
          </p:cNvPr>
          <p:cNvSpPr>
            <a:spLocks noGrp="1"/>
          </p:cNvSpPr>
          <p:nvPr>
            <p:ph type="ctrTitle"/>
          </p:nvPr>
        </p:nvSpPr>
        <p:spPr>
          <a:xfrm>
            <a:off x="457197" y="3507830"/>
            <a:ext cx="7772400" cy="2944368"/>
          </a:xfrm>
        </p:spPr>
        <p:txBody>
          <a:bodyPr anchor="b">
            <a:normAutofit/>
          </a:bodyPr>
          <a:lstStyle/>
          <a:p>
            <a:r>
              <a:rPr lang="en-US"/>
              <a:t>Introduction &amp; Context</a:t>
            </a:r>
          </a:p>
        </p:txBody>
      </p:sp>
    </p:spTree>
    <p:extLst>
      <p:ext uri="{BB962C8B-B14F-4D97-AF65-F5344CB8AC3E}">
        <p14:creationId xmlns:p14="http://schemas.microsoft.com/office/powerpoint/2010/main" val="38581325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51020-7B8F-F5C6-6933-5D1F8DCA92CF}"/>
              </a:ext>
            </a:extLst>
          </p:cNvPr>
          <p:cNvSpPr>
            <a:spLocks noGrp="1"/>
          </p:cNvSpPr>
          <p:nvPr>
            <p:ph type="title"/>
          </p:nvPr>
        </p:nvSpPr>
        <p:spPr>
          <a:xfrm>
            <a:off x="457200" y="457200"/>
            <a:ext cx="4380272" cy="1453896"/>
          </a:xfrm>
        </p:spPr>
        <p:txBody>
          <a:bodyPr anchor="t">
            <a:normAutofit/>
          </a:bodyPr>
          <a:lstStyle/>
          <a:p>
            <a:r>
              <a:rPr lang="en-US"/>
              <a:t>Overview of the Study</a:t>
            </a:r>
          </a:p>
        </p:txBody>
      </p:sp>
      <p:pic>
        <p:nvPicPr>
          <p:cNvPr id="5" name="Content Placeholder 4" descr="Groceries, Supermarket, Grocer, Greengrocer's Shop, Online Shopping">
            <a:extLst>
              <a:ext uri="{FF2B5EF4-FFF2-40B4-BE49-F238E27FC236}">
                <a16:creationId xmlns:a16="http://schemas.microsoft.com/office/drawing/2014/main" id="{5BF315EC-73DB-4961-B1BC-E3D0D1538E6C}"/>
              </a:ext>
            </a:extLst>
          </p:cNvPr>
          <p:cNvPicPr>
            <a:picLocks noGrp="1" noChangeAspect="1"/>
          </p:cNvPicPr>
          <p:nvPr>
            <p:ph type="pic" sz="quarter" idx="13"/>
          </p:nvPr>
        </p:nvPicPr>
        <p:blipFill>
          <a:blip r:embed="rId3"/>
          <a:srcRect l="16873" r="16042" b="-2"/>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E744BCDF-33D6-4986-F3F1-96BE19372A0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Remote Work Impact</a:t>
            </a:r>
          </a:p>
          <a:p>
            <a:pPr marL="0" lvl="1" indent="0">
              <a:buFont typeface="Arial" panose="020B0604020202020204" pitchFamily="34" charset="0"/>
              <a:buNone/>
            </a:pPr>
            <a:r>
              <a:t>The study examines how the 2020 remote work shift influenced consumer behavior at California office supply stores.</a:t>
            </a:r>
            <a:endParaRPr lang="en-US"/>
          </a:p>
          <a:p>
            <a:pPr marL="0" indent="0">
              <a:spcBef>
                <a:spcPts val="2500"/>
              </a:spcBef>
              <a:buFont typeface="Arial" panose="020B0604020202020204" pitchFamily="34" charset="0"/>
              <a:buNone/>
            </a:pPr>
            <a:r>
              <a:rPr lang="en-US" b="1"/>
              <a:t>Foot Traffic and Dwell Time</a:t>
            </a:r>
          </a:p>
          <a:p>
            <a:pPr marL="0" lvl="1" indent="0">
              <a:buFont typeface="Arial" panose="020B0604020202020204" pitchFamily="34" charset="0"/>
              <a:buNone/>
            </a:pPr>
            <a:r>
              <a:t>Analysis focuses on foot traffic and dwell time trends in urban, suburban, and rural counties.</a:t>
            </a:r>
            <a:endParaRPr lang="en-US"/>
          </a:p>
          <a:p>
            <a:pPr marL="0" indent="0">
              <a:spcBef>
                <a:spcPts val="2500"/>
              </a:spcBef>
              <a:buFont typeface="Arial" panose="020B0604020202020204" pitchFamily="34" charset="0"/>
              <a:buNone/>
            </a:pPr>
            <a:r>
              <a:rPr lang="en-US" b="1"/>
              <a:t>Demographic Influence</a:t>
            </a:r>
          </a:p>
          <a:p>
            <a:pPr marL="0" lvl="1" indent="0">
              <a:buFont typeface="Arial" panose="020B0604020202020204" pitchFamily="34" charset="0"/>
              <a:buNone/>
            </a:pPr>
            <a:r>
              <a:t>The study assesses how demographics like education, working-age population, and K–12 households affect store engagement.</a:t>
            </a:r>
            <a:endParaRPr lang="en-US"/>
          </a:p>
          <a:p>
            <a:pPr marL="0" indent="0">
              <a:spcBef>
                <a:spcPts val="2500"/>
              </a:spcBef>
              <a:buFont typeface="Arial" panose="020B0604020202020204" pitchFamily="34" charset="0"/>
              <a:buNone/>
            </a:pPr>
            <a:r>
              <a:rPr lang="en-US" b="1"/>
              <a:t>Consumer Intent and Loyalty</a:t>
            </a:r>
          </a:p>
          <a:p>
            <a:pPr marL="0" lvl="1" indent="0">
              <a:buFont typeface="Arial" panose="020B0604020202020204" pitchFamily="34" charset="0"/>
              <a:buNone/>
            </a:pPr>
            <a:r>
              <a:t>Research investigates visit recovery, dwell time changes, and implications for consumer intent and brand loyalty.</a:t>
            </a:r>
            <a:endParaRPr lang="en-US"/>
          </a:p>
        </p:txBody>
      </p:sp>
    </p:spTree>
    <p:extLst>
      <p:ext uri="{BB962C8B-B14F-4D97-AF65-F5344CB8AC3E}">
        <p14:creationId xmlns:p14="http://schemas.microsoft.com/office/powerpoint/2010/main" val="25193811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07EAC-6B81-A999-69E1-E6A124D30AFE}"/>
              </a:ext>
            </a:extLst>
          </p:cNvPr>
          <p:cNvSpPr>
            <a:spLocks noGrp="1"/>
          </p:cNvSpPr>
          <p:nvPr>
            <p:ph type="ctrTitle"/>
          </p:nvPr>
        </p:nvSpPr>
        <p:spPr>
          <a:xfrm>
            <a:off x="457197" y="3507830"/>
            <a:ext cx="7772400" cy="2944368"/>
          </a:xfrm>
        </p:spPr>
        <p:txBody>
          <a:bodyPr anchor="b">
            <a:normAutofit/>
          </a:bodyPr>
          <a:lstStyle/>
          <a:p>
            <a:r>
              <a:rPr lang="en-US"/>
              <a:t>Research Question 1</a:t>
            </a:r>
          </a:p>
        </p:txBody>
      </p:sp>
    </p:spTree>
    <p:extLst>
      <p:ext uri="{BB962C8B-B14F-4D97-AF65-F5344CB8AC3E}">
        <p14:creationId xmlns:p14="http://schemas.microsoft.com/office/powerpoint/2010/main" val="4945988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CD764-0671-A4DE-31A1-ED08189E7985}"/>
              </a:ext>
            </a:extLst>
          </p:cNvPr>
          <p:cNvSpPr>
            <a:spLocks noGrp="1"/>
          </p:cNvSpPr>
          <p:nvPr>
            <p:ph type="title"/>
          </p:nvPr>
        </p:nvSpPr>
        <p:spPr>
          <a:xfrm>
            <a:off x="457199" y="457200"/>
            <a:ext cx="4482573" cy="1453896"/>
          </a:xfrm>
        </p:spPr>
        <p:txBody>
          <a:bodyPr anchor="t">
            <a:normAutofit/>
          </a:bodyPr>
          <a:lstStyle/>
          <a:p>
            <a:r>
              <a:rPr lang="en-US"/>
              <a:t>Foot Traffic &amp; Demographics</a:t>
            </a:r>
          </a:p>
        </p:txBody>
      </p:sp>
      <p:pic>
        <p:nvPicPr>
          <p:cNvPr id="5" name="Content Placeholder 4" descr="Texture of cardboard and paper clip">
            <a:extLst>
              <a:ext uri="{FF2B5EF4-FFF2-40B4-BE49-F238E27FC236}">
                <a16:creationId xmlns:a16="http://schemas.microsoft.com/office/drawing/2014/main" id="{E8E3E924-CE02-4E35-AA33-F0446DED2EC3}"/>
              </a:ext>
            </a:extLst>
          </p:cNvPr>
          <p:cNvPicPr>
            <a:picLocks noGrp="1" noChangeAspect="1"/>
          </p:cNvPicPr>
          <p:nvPr>
            <p:ph type="pic" sz="quarter" idx="13"/>
          </p:nvPr>
        </p:nvPicPr>
        <p:blipFill>
          <a:blip r:embed="rId3"/>
          <a:srcRect l="29114" r="3" b="3"/>
          <a:stretch>
            <a:fillRect/>
          </a:stretch>
        </p:blipFill>
        <p:spPr>
          <a:xfrm>
            <a:off x="559502" y="2175642"/>
            <a:ext cx="4380271" cy="4124756"/>
          </a:xfrm>
          <a:prstGeom prst="rect">
            <a:avLst/>
          </a:prstGeom>
          <a:noFill/>
        </p:spPr>
      </p:pic>
      <p:sp>
        <p:nvSpPr>
          <p:cNvPr id="4" name="Content Placeholder 3">
            <a:extLst>
              <a:ext uri="{FF2B5EF4-FFF2-40B4-BE49-F238E27FC236}">
                <a16:creationId xmlns:a16="http://schemas.microsoft.com/office/drawing/2014/main" id="{8377637C-36A2-38A8-0E7B-8BAC8471579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Foot Traffic Trends</a:t>
            </a:r>
          </a:p>
          <a:p>
            <a:pPr marL="0" lvl="1" indent="0">
              <a:buFont typeface="Arial" panose="020B0604020202020204" pitchFamily="34" charset="0"/>
              <a:buNone/>
            </a:pPr>
            <a:r>
              <a:t>Foot traffic peaked early 2020 before dropping sharply in March due to lockdowns, with Staples showing early recovery by Week 17.</a:t>
            </a:r>
            <a:endParaRPr lang="en-US"/>
          </a:p>
          <a:p>
            <a:pPr marL="0" indent="0">
              <a:spcBef>
                <a:spcPts val="2500"/>
              </a:spcBef>
              <a:buFont typeface="Arial" panose="020B0604020202020204" pitchFamily="34" charset="0"/>
              <a:buNone/>
            </a:pPr>
            <a:r>
              <a:rPr lang="en-US" b="1"/>
              <a:t>Specialty Store Behavior</a:t>
            </a:r>
          </a:p>
          <a:p>
            <a:pPr marL="0" lvl="1" indent="0">
              <a:buFont typeface="Arial" panose="020B0604020202020204" pitchFamily="34" charset="0"/>
              <a:buNone/>
            </a:pPr>
            <a:r>
              <a:t>Specialty stores had fewer visitors but longer dwell times, indicating more focused and high-intent shopping.</a:t>
            </a:r>
            <a:endParaRPr lang="en-US"/>
          </a:p>
          <a:p>
            <a:pPr marL="0" indent="0">
              <a:spcBef>
                <a:spcPts val="2500"/>
              </a:spcBef>
              <a:buFont typeface="Arial" panose="020B0604020202020204" pitchFamily="34" charset="0"/>
              <a:buNone/>
            </a:pPr>
            <a:r>
              <a:rPr lang="en-US" b="1"/>
              <a:t>Demographic Impact</a:t>
            </a:r>
          </a:p>
          <a:p>
            <a:pPr marL="0" lvl="1" indent="0">
              <a:buFont typeface="Arial" panose="020B0604020202020204" pitchFamily="34" charset="0"/>
              <a:buNone/>
            </a:pPr>
            <a:r>
              <a:t>Regions with more K–12 households, working-age, and educated populations showed distinct shopping engagement and dwell time patterns.</a:t>
            </a:r>
            <a:endParaRPr lang="en-US"/>
          </a:p>
          <a:p>
            <a:pPr marL="0" indent="0">
              <a:spcBef>
                <a:spcPts val="2500"/>
              </a:spcBef>
              <a:buFont typeface="Arial" panose="020B0604020202020204" pitchFamily="34" charset="0"/>
              <a:buNone/>
            </a:pPr>
            <a:r>
              <a:rPr lang="en-US" b="1"/>
              <a:t>Engagement Patterns</a:t>
            </a:r>
          </a:p>
          <a:p>
            <a:pPr marL="0" lvl="1" indent="0">
              <a:buFont typeface="Arial" panose="020B0604020202020204" pitchFamily="34" charset="0"/>
              <a:buNone/>
            </a:pPr>
            <a:r>
              <a:t>Working-age populations had shorter visits, while educated consumers preferred longer visits reflecting personalized shopping experiences.</a:t>
            </a:r>
            <a:endParaRPr lang="en-US"/>
          </a:p>
        </p:txBody>
      </p:sp>
    </p:spTree>
    <p:extLst>
      <p:ext uri="{BB962C8B-B14F-4D97-AF65-F5344CB8AC3E}">
        <p14:creationId xmlns:p14="http://schemas.microsoft.com/office/powerpoint/2010/main" val="11726678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F08A2-AA18-818A-0004-191F1B4C776F}"/>
              </a:ext>
            </a:extLst>
          </p:cNvPr>
          <p:cNvSpPr>
            <a:spLocks noGrp="1"/>
          </p:cNvSpPr>
          <p:nvPr>
            <p:ph type="ctrTitle"/>
          </p:nvPr>
        </p:nvSpPr>
        <p:spPr>
          <a:xfrm>
            <a:off x="457197" y="3507830"/>
            <a:ext cx="7772400" cy="2944368"/>
          </a:xfrm>
        </p:spPr>
        <p:txBody>
          <a:bodyPr anchor="b">
            <a:normAutofit/>
          </a:bodyPr>
          <a:lstStyle/>
          <a:p>
            <a:r>
              <a:rPr lang="en-US"/>
              <a:t>Research Question 2</a:t>
            </a:r>
          </a:p>
        </p:txBody>
      </p:sp>
    </p:spTree>
    <p:extLst>
      <p:ext uri="{BB962C8B-B14F-4D97-AF65-F5344CB8AC3E}">
        <p14:creationId xmlns:p14="http://schemas.microsoft.com/office/powerpoint/2010/main" val="1335410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75306-C66B-8617-94C0-4F754ADAC43B}"/>
              </a:ext>
            </a:extLst>
          </p:cNvPr>
          <p:cNvSpPr>
            <a:spLocks noGrp="1"/>
          </p:cNvSpPr>
          <p:nvPr>
            <p:ph type="title"/>
          </p:nvPr>
        </p:nvSpPr>
        <p:spPr>
          <a:xfrm>
            <a:off x="457200" y="457200"/>
            <a:ext cx="4380272" cy="1453896"/>
          </a:xfrm>
        </p:spPr>
        <p:txBody>
          <a:bodyPr anchor="t">
            <a:normAutofit/>
          </a:bodyPr>
          <a:lstStyle/>
          <a:p>
            <a:r>
              <a:rPr lang="en-US"/>
              <a:t>Suburban vs Urban Recovery</a:t>
            </a:r>
          </a:p>
        </p:txBody>
      </p:sp>
      <p:pic>
        <p:nvPicPr>
          <p:cNvPr id="5" name="Content Placeholder 4" descr="Gift shop retail store shopping mall">
            <a:extLst>
              <a:ext uri="{FF2B5EF4-FFF2-40B4-BE49-F238E27FC236}">
                <a16:creationId xmlns:a16="http://schemas.microsoft.com/office/drawing/2014/main" id="{FB5E2CC7-2081-4C31-9B11-188F91EFE8C3}"/>
              </a:ext>
            </a:extLst>
          </p:cNvPr>
          <p:cNvPicPr>
            <a:picLocks noGrp="1" noChangeAspect="1"/>
          </p:cNvPicPr>
          <p:nvPr>
            <p:ph type="pic" sz="quarter" idx="13"/>
          </p:nvPr>
        </p:nvPicPr>
        <p:blipFill>
          <a:blip r:embed="rId3"/>
          <a:srcRect r="20693" b="1"/>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6064ADC2-31B8-697E-B990-47CFA7A6F09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Suburban Store Engagement</a:t>
            </a:r>
          </a:p>
          <a:p>
            <a:pPr marL="0" lvl="1" indent="0">
              <a:buFont typeface="Arial" panose="020B0604020202020204" pitchFamily="34" charset="0"/>
              <a:buNone/>
            </a:pPr>
            <a:r>
              <a:t>Suburban counties showed the highest foot traffic and engagement at office supply stores during the early remote work period.</a:t>
            </a:r>
            <a:endParaRPr lang="en-US"/>
          </a:p>
          <a:p>
            <a:pPr marL="0" indent="0">
              <a:spcBef>
                <a:spcPts val="2500"/>
              </a:spcBef>
              <a:buFont typeface="Arial" panose="020B0604020202020204" pitchFamily="34" charset="0"/>
              <a:buNone/>
            </a:pPr>
            <a:r>
              <a:rPr lang="en-US" b="1"/>
              <a:t>Urban Shopping Behavior</a:t>
            </a:r>
          </a:p>
          <a:p>
            <a:pPr marL="0" lvl="1" indent="0">
              <a:buFont typeface="Arial" panose="020B0604020202020204" pitchFamily="34" charset="0"/>
              <a:buNone/>
            </a:pPr>
            <a:r>
              <a:t>Urban areas had slightly fewer visits but maintained similar dwell times, indicating quick and goal-oriented shopping trips.</a:t>
            </a:r>
            <a:endParaRPr lang="en-US"/>
          </a:p>
          <a:p>
            <a:pPr marL="0" indent="0">
              <a:spcBef>
                <a:spcPts val="2500"/>
              </a:spcBef>
              <a:buFont typeface="Arial" panose="020B0604020202020204" pitchFamily="34" charset="0"/>
              <a:buNone/>
            </a:pPr>
            <a:r>
              <a:rPr lang="en-US" b="1"/>
              <a:t>Rural Visit Patterns</a:t>
            </a:r>
          </a:p>
          <a:p>
            <a:pPr marL="0" lvl="1" indent="0">
              <a:buFont typeface="Arial" panose="020B0604020202020204" pitchFamily="34" charset="0"/>
              <a:buNone/>
            </a:pPr>
            <a:r>
              <a:t>Rural counties experienced fewer visits but longer dwell times, suggesting more leisurely or necessity-driven shopping.</a:t>
            </a:r>
            <a:endParaRPr lang="en-US"/>
          </a:p>
          <a:p>
            <a:pPr marL="0" indent="0">
              <a:spcBef>
                <a:spcPts val="2500"/>
              </a:spcBef>
              <a:buFont typeface="Arial" panose="020B0604020202020204" pitchFamily="34" charset="0"/>
              <a:buNone/>
            </a:pPr>
            <a:r>
              <a:rPr lang="en-US" b="1"/>
              <a:t>Regional Demand Variation</a:t>
            </a:r>
          </a:p>
          <a:p>
            <a:pPr marL="0" lvl="1" indent="0">
              <a:buFont typeface="Arial" panose="020B0604020202020204" pitchFamily="34" charset="0"/>
              <a:buNone/>
            </a:pPr>
            <a:r>
              <a:t>Los Angeles County was a hotspot for office supply demand, highlighting regional differences in consumer adaptation.</a:t>
            </a:r>
            <a:endParaRPr lang="en-US"/>
          </a:p>
        </p:txBody>
      </p:sp>
    </p:spTree>
    <p:extLst>
      <p:ext uri="{BB962C8B-B14F-4D97-AF65-F5344CB8AC3E}">
        <p14:creationId xmlns:p14="http://schemas.microsoft.com/office/powerpoint/2010/main" val="10127111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AF8EA-7671-C2A0-33AB-53C93E467F52}"/>
              </a:ext>
            </a:extLst>
          </p:cNvPr>
          <p:cNvSpPr>
            <a:spLocks noGrp="1"/>
          </p:cNvSpPr>
          <p:nvPr>
            <p:ph type="ctrTitle"/>
          </p:nvPr>
        </p:nvSpPr>
        <p:spPr>
          <a:xfrm>
            <a:off x="457197" y="3507830"/>
            <a:ext cx="7772400" cy="2944368"/>
          </a:xfrm>
        </p:spPr>
        <p:txBody>
          <a:bodyPr anchor="b">
            <a:normAutofit/>
          </a:bodyPr>
          <a:lstStyle/>
          <a:p>
            <a:r>
              <a:rPr lang="en-US"/>
              <a:t>Research Question 3</a:t>
            </a:r>
          </a:p>
        </p:txBody>
      </p:sp>
    </p:spTree>
    <p:extLst>
      <p:ext uri="{BB962C8B-B14F-4D97-AF65-F5344CB8AC3E}">
        <p14:creationId xmlns:p14="http://schemas.microsoft.com/office/powerpoint/2010/main" val="25584085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E5BC7-6195-E86F-C028-ECAE0251211D}"/>
              </a:ext>
            </a:extLst>
          </p:cNvPr>
          <p:cNvSpPr>
            <a:spLocks noGrp="1"/>
          </p:cNvSpPr>
          <p:nvPr>
            <p:ph type="title"/>
          </p:nvPr>
        </p:nvSpPr>
        <p:spPr>
          <a:xfrm>
            <a:off x="457199" y="457200"/>
            <a:ext cx="4482573" cy="1453896"/>
          </a:xfrm>
        </p:spPr>
        <p:txBody>
          <a:bodyPr anchor="t">
            <a:normAutofit/>
          </a:bodyPr>
          <a:lstStyle/>
          <a:p>
            <a:r>
              <a:rPr lang="en-US"/>
              <a:t>Brand Stabilization &amp; Loyalty</a:t>
            </a:r>
          </a:p>
        </p:txBody>
      </p:sp>
      <p:pic>
        <p:nvPicPr>
          <p:cNvPr id="5" name="Content Placeholder 4" descr="Man comparing prices of shoes on a tablet computer.">
            <a:extLst>
              <a:ext uri="{FF2B5EF4-FFF2-40B4-BE49-F238E27FC236}">
                <a16:creationId xmlns:a16="http://schemas.microsoft.com/office/drawing/2014/main" id="{FAD1F38A-F9F5-4B71-A79F-F0BF3870F6A5}"/>
              </a:ext>
            </a:extLst>
          </p:cNvPr>
          <p:cNvPicPr>
            <a:picLocks noGrp="1" noChangeAspect="1"/>
          </p:cNvPicPr>
          <p:nvPr>
            <p:ph type="pic" sz="quarter" idx="13"/>
          </p:nvPr>
        </p:nvPicPr>
        <p:blipFill>
          <a:blip r:embed="rId3"/>
          <a:srcRect l="12881" r="16236" b="3"/>
          <a:stretch>
            <a:fillRect/>
          </a:stretch>
        </p:blipFill>
        <p:spPr>
          <a:xfrm>
            <a:off x="559502" y="2175642"/>
            <a:ext cx="4380271" cy="4124756"/>
          </a:xfrm>
          <a:prstGeom prst="rect">
            <a:avLst/>
          </a:prstGeom>
          <a:noFill/>
        </p:spPr>
      </p:pic>
      <p:sp>
        <p:nvSpPr>
          <p:cNvPr id="4" name="Content Placeholder 3">
            <a:extLst>
              <a:ext uri="{FF2B5EF4-FFF2-40B4-BE49-F238E27FC236}">
                <a16:creationId xmlns:a16="http://schemas.microsoft.com/office/drawing/2014/main" id="{DDC07DA0-4FE4-FDAE-8B71-915EBBCA0DA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Early Foot Traffic Stabilization</a:t>
            </a:r>
          </a:p>
          <a:p>
            <a:pPr marL="0" lvl="1" indent="0">
              <a:buFont typeface="Arial" panose="020B0604020202020204" pitchFamily="34" charset="0"/>
              <a:buNone/>
            </a:pPr>
            <a:r>
              <a:t>Staples and Office Depot showed early stabilization in foot traffic and dwell times, reflecting their essential status.</a:t>
            </a:r>
            <a:endParaRPr lang="en-US"/>
          </a:p>
          <a:p>
            <a:pPr marL="0" indent="0">
              <a:spcBef>
                <a:spcPts val="2500"/>
              </a:spcBef>
              <a:buFont typeface="Arial" panose="020B0604020202020204" pitchFamily="34" charset="0"/>
              <a:buNone/>
            </a:pPr>
            <a:r>
              <a:rPr lang="en-US" b="1"/>
              <a:t>Brand Loyalty Impact</a:t>
            </a:r>
          </a:p>
          <a:p>
            <a:pPr marL="0" lvl="1" indent="0">
              <a:buFont typeface="Arial" panose="020B0604020202020204" pitchFamily="34" charset="0"/>
              <a:buNone/>
            </a:pPr>
            <a:r>
              <a:t>Strong brand loyalty contributed to Staples’ rapid rebound and Office Depot’s steady recovery during remote work shifts.</a:t>
            </a:r>
            <a:endParaRPr lang="en-US"/>
          </a:p>
          <a:p>
            <a:pPr marL="0" indent="0">
              <a:spcBef>
                <a:spcPts val="2500"/>
              </a:spcBef>
              <a:buFont typeface="Arial" panose="020B0604020202020204" pitchFamily="34" charset="0"/>
              <a:buNone/>
            </a:pPr>
            <a:r>
              <a:rPr lang="en-US" b="1"/>
              <a:t>Specialty Brand Purchase Patterns</a:t>
            </a:r>
          </a:p>
          <a:p>
            <a:pPr marL="0" lvl="1" indent="0">
              <a:buFont typeface="Arial" panose="020B0604020202020204" pitchFamily="34" charset="0"/>
              <a:buNone/>
            </a:pPr>
            <a:r>
              <a:t>Specialty brands had low traffic but high dwell times, indicating focused, high-value purchases from trusted customers.</a:t>
            </a:r>
            <a:endParaRPr lang="en-US"/>
          </a:p>
          <a:p>
            <a:pPr marL="0" indent="0">
              <a:spcBef>
                <a:spcPts val="2500"/>
              </a:spcBef>
              <a:buFont typeface="Arial" panose="020B0604020202020204" pitchFamily="34" charset="0"/>
              <a:buNone/>
            </a:pPr>
            <a:r>
              <a:rPr lang="en-US" b="1"/>
              <a:t>Supply Chain and Location Advantage</a:t>
            </a:r>
          </a:p>
          <a:p>
            <a:pPr marL="0" lvl="1" indent="0">
              <a:buFont typeface="Arial" panose="020B0604020202020204" pitchFamily="34" charset="0"/>
              <a:buNone/>
            </a:pPr>
            <a:r>
              <a:t>Retailers with reliable supply chains and suburban locations met consumer needs better during remote work transitions.</a:t>
            </a:r>
            <a:endParaRPr lang="en-US"/>
          </a:p>
        </p:txBody>
      </p:sp>
    </p:spTree>
    <p:extLst>
      <p:ext uri="{BB962C8B-B14F-4D97-AF65-F5344CB8AC3E}">
        <p14:creationId xmlns:p14="http://schemas.microsoft.com/office/powerpoint/2010/main" val="2592475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87A38-1983-0CC4-0BE5-88BD2936549F}"/>
              </a:ext>
            </a:extLst>
          </p:cNvPr>
          <p:cNvSpPr>
            <a:spLocks noGrp="1"/>
          </p:cNvSpPr>
          <p:nvPr>
            <p:ph type="ctrTitle"/>
          </p:nvPr>
        </p:nvSpPr>
        <p:spPr>
          <a:xfrm>
            <a:off x="457197" y="3507830"/>
            <a:ext cx="7772400" cy="2944368"/>
          </a:xfrm>
        </p:spPr>
        <p:txBody>
          <a:bodyPr anchor="b">
            <a:normAutofit/>
          </a:bodyPr>
          <a:lstStyle/>
          <a:p>
            <a:r>
              <a:rPr lang="en-US"/>
              <a:t>Overall Conclusions</a:t>
            </a:r>
          </a:p>
        </p:txBody>
      </p:sp>
    </p:spTree>
    <p:extLst>
      <p:ext uri="{BB962C8B-B14F-4D97-AF65-F5344CB8AC3E}">
        <p14:creationId xmlns:p14="http://schemas.microsoft.com/office/powerpoint/2010/main" val="6975028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3FC64-96DB-8864-E32B-297ADAB13705}"/>
              </a:ext>
            </a:extLst>
          </p:cNvPr>
          <p:cNvSpPr>
            <a:spLocks noGrp="1"/>
          </p:cNvSpPr>
          <p:nvPr>
            <p:ph type="title"/>
          </p:nvPr>
        </p:nvSpPr>
        <p:spPr>
          <a:xfrm>
            <a:off x="4541264" y="320040"/>
            <a:ext cx="7062472" cy="1105348"/>
          </a:xfrm>
        </p:spPr>
        <p:txBody>
          <a:bodyPr anchor="b">
            <a:normAutofit/>
          </a:bodyPr>
          <a:lstStyle/>
          <a:p>
            <a:r>
              <a:rPr lang="en-US"/>
              <a:t>Summary of Insights</a:t>
            </a:r>
          </a:p>
        </p:txBody>
      </p:sp>
      <p:pic>
        <p:nvPicPr>
          <p:cNvPr id="5" name="Content Placeholder 4" descr="Young couple enjoy shopping Christmas gifts.">
            <a:extLst>
              <a:ext uri="{FF2B5EF4-FFF2-40B4-BE49-F238E27FC236}">
                <a16:creationId xmlns:a16="http://schemas.microsoft.com/office/drawing/2014/main" id="{4DA337DA-39AF-4D9B-8D8C-E4C19D7CC4DB}"/>
              </a:ext>
            </a:extLst>
          </p:cNvPr>
          <p:cNvPicPr>
            <a:picLocks noGrp="1" noChangeAspect="1"/>
          </p:cNvPicPr>
          <p:nvPr>
            <p:ph type="pic" sz="quarter" idx="13"/>
          </p:nvPr>
        </p:nvPicPr>
        <p:blipFill>
          <a:blip r:embed="rId3"/>
          <a:srcRect l="1653" r="10532"/>
          <a:stretch>
            <a:fillRect/>
          </a:stretch>
        </p:blipFill>
        <p:spPr>
          <a:xfrm>
            <a:off x="20" y="1"/>
            <a:ext cx="4019910" cy="6858000"/>
          </a:xfrm>
          <a:prstGeom prst="rect">
            <a:avLst/>
          </a:prstGeom>
          <a:noFill/>
        </p:spPr>
      </p:pic>
      <p:sp>
        <p:nvSpPr>
          <p:cNvPr id="4" name="Content Placeholder 3">
            <a:extLst>
              <a:ext uri="{FF2B5EF4-FFF2-40B4-BE49-F238E27FC236}">
                <a16:creationId xmlns:a16="http://schemas.microsoft.com/office/drawing/2014/main" id="{EBDF1E45-DB04-54E5-B3F0-3C89EC318BD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41264" y="1595300"/>
            <a:ext cx="7062472" cy="4768923"/>
          </a:xfrm>
        </p:spPr>
        <p:txBody>
          <a:bodyPr>
            <a:normAutofit/>
          </a:bodyPr>
          <a:lstStyle/>
          <a:p>
            <a:pPr marL="0" indent="0">
              <a:spcBef>
                <a:spcPts val="2500"/>
              </a:spcBef>
              <a:buFont typeface="Arial" panose="020B0604020202020204" pitchFamily="34" charset="0"/>
              <a:buNone/>
            </a:pPr>
            <a:r>
              <a:rPr lang="en-US" b="1"/>
              <a:t>Suburban Consumer Adaptation</a:t>
            </a:r>
          </a:p>
          <a:p>
            <a:pPr marL="0" lvl="1" indent="0">
              <a:buFont typeface="Arial" panose="020B0604020202020204" pitchFamily="34" charset="0"/>
              <a:buNone/>
            </a:pPr>
            <a:r>
              <a:t>Suburban consumers adapted faster to remote work, boosting office supply store foot traffic and dwell times.</a:t>
            </a:r>
            <a:endParaRPr lang="en-US"/>
          </a:p>
          <a:p>
            <a:pPr marL="0" indent="0">
              <a:spcBef>
                <a:spcPts val="2500"/>
              </a:spcBef>
              <a:buFont typeface="Arial" panose="020B0604020202020204" pitchFamily="34" charset="0"/>
              <a:buNone/>
            </a:pPr>
            <a:r>
              <a:rPr lang="en-US" b="1"/>
              <a:t>Leading Retailers</a:t>
            </a:r>
          </a:p>
          <a:p>
            <a:pPr marL="0" lvl="1" indent="0">
              <a:buFont typeface="Arial" panose="020B0604020202020204" pitchFamily="34" charset="0"/>
              <a:buNone/>
            </a:pPr>
            <a:r>
              <a:t>Staples and Office Depot led due to brand strength and their essential retail status during the shift.</a:t>
            </a:r>
            <a:endParaRPr lang="en-US"/>
          </a:p>
          <a:p>
            <a:pPr marL="0" indent="0">
              <a:spcBef>
                <a:spcPts val="2500"/>
              </a:spcBef>
              <a:buFont typeface="Arial" panose="020B0604020202020204" pitchFamily="34" charset="0"/>
              <a:buNone/>
            </a:pPr>
            <a:r>
              <a:rPr lang="en-US" b="1"/>
              <a:t>Demographic Influence</a:t>
            </a:r>
          </a:p>
          <a:p>
            <a:pPr marL="0" lvl="1" indent="0">
              <a:buFont typeface="Arial" panose="020B0604020202020204" pitchFamily="34" charset="0"/>
              <a:buNone/>
            </a:pPr>
            <a:r>
              <a:t>Education, working-age density, and household makeup significantly shaped consumer shopping behaviors.</a:t>
            </a:r>
            <a:endParaRPr lang="en-US"/>
          </a:p>
          <a:p>
            <a:pPr marL="0" indent="0">
              <a:spcBef>
                <a:spcPts val="2500"/>
              </a:spcBef>
              <a:buFont typeface="Arial" panose="020B0604020202020204" pitchFamily="34" charset="0"/>
              <a:buNone/>
            </a:pPr>
            <a:r>
              <a:rPr lang="en-US" b="1"/>
              <a:t>Consumer Shopping Preferences</a:t>
            </a:r>
          </a:p>
          <a:p>
            <a:pPr marL="0" lvl="1" indent="0">
              <a:buFont typeface="Arial" panose="020B0604020202020204" pitchFamily="34" charset="0"/>
              <a:buNone/>
            </a:pPr>
            <a:r>
              <a:t>Efficiency-driven consumers preferred quick visits to high-traffic stores; experience-driven shoppers valued longer specialty store visits.</a:t>
            </a:r>
            <a:endParaRPr lang="en-US"/>
          </a:p>
        </p:txBody>
      </p:sp>
    </p:spTree>
    <p:extLst>
      <p:ext uri="{BB962C8B-B14F-4D97-AF65-F5344CB8AC3E}">
        <p14:creationId xmlns:p14="http://schemas.microsoft.com/office/powerpoint/2010/main" val="7157491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49EA57-08A7-43CA-A845-5F6B0478829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D6138AE6-00E4-459C-8B3A-08927B7E54F0}">
  <ds:schemaRefs>
    <ds:schemaRef ds:uri="http://schemas.microsoft.com/sharepoint/v3/contenttype/forms"/>
  </ds:schemaRefs>
</ds:datastoreItem>
</file>

<file path=customXml/itemProps3.xml><?xml version="1.0" encoding="utf-8"?>
<ds:datastoreItem xmlns:ds="http://schemas.openxmlformats.org/officeDocument/2006/customXml" ds:itemID="{8C4D25C3-873C-4C53-9166-E36A3E5D9C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Bevel</Template>
  <TotalTime>1006</TotalTime>
  <Words>4</Words>
  <Application>Microsoft Office PowerPoint</Application>
  <PresentationFormat>Widescreen</PresentationFormat>
  <Paragraphs>2</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Bevel</vt:lpstr>
      <vt:lpstr>Foot Traffic and Dwell Time Trends at Office Supply Stores During the Remote Work Shift</vt:lpstr>
      <vt:lpstr>Introduction &amp; Context</vt:lpstr>
      <vt:lpstr>Overview of the Study</vt:lpstr>
      <vt:lpstr>Research Question 1</vt:lpstr>
      <vt:lpstr>Foot Traffic &amp; Demographics</vt:lpstr>
      <vt:lpstr>Research Question 2</vt:lpstr>
      <vt:lpstr>Suburban vs Urban Recovery</vt:lpstr>
      <vt:lpstr>Research Question 3</vt:lpstr>
      <vt:lpstr>Brand Stabilization &amp; Loyalty</vt:lpstr>
      <vt:lpstr>Overall Conclusions</vt:lpstr>
      <vt:lpstr>Summary of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2025-08-21T02:25:28Z</dcterms:created>
  <dcterms:modified xsi:type="dcterms:W3CDTF">2025-10-12T06:37:36Z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