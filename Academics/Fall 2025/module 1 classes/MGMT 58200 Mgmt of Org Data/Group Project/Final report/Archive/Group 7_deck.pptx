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14"/>
  </p:notesMasterIdLst>
  <p:sldIdLst>
    <p:sldId id="267" r:id="rId5"/>
    <p:sldId id="296" r:id="rId6"/>
    <p:sldId id="284" r:id="rId7"/>
    <p:sldId id="298" r:id="rId8"/>
    <p:sldId id="281" r:id="rId9"/>
    <p:sldId id="297" r:id="rId10"/>
    <p:sldId id="285" r:id="rId11"/>
    <p:sldId id="282" r:id="rId12"/>
    <p:sldId id="277" r:id="rId13"/>
  </p:sldIdLst>
  <p:sldSz cx="12192000" cy="6858000"/>
  <p:notesSz cx="6858000" cy="9144000"/>
  <p:embeddedFontLst>
    <p:embeddedFont>
      <p:font typeface="Acumin Pro Condensed Semibold" panose="020B0706020202020204" pitchFamily="34" charset="77"/>
      <p:regular r:id="rId15"/>
      <p:bold r:id="rId16"/>
      <p:italic r:id="rId17"/>
      <p:boldItalic r:id="rId18"/>
    </p:embeddedFont>
    <p:embeddedFont>
      <p:font typeface="Acumin Pro Medium" panose="020B0604020202020204" pitchFamily="34" charset="77"/>
      <p:regular r:id="rId19"/>
      <p:italic r:id="rId20"/>
    </p:embeddedFont>
    <p:embeddedFont>
      <p:font typeface="Franklin Gothic Book" panose="020B0503020102020204" pitchFamily="34" charset="0"/>
      <p:regular r:id="rId21"/>
      <p:italic r:id="rId22"/>
    </p:embeddedFont>
    <p:embeddedFont>
      <p:font typeface="Franklin Gothic Medium" panose="020B0603020102020204" pitchFamily="34" charset="0"/>
      <p:regular r:id="rId23"/>
      <p:italic r:id="rId24"/>
    </p:embeddedFont>
    <p:embeddedFont>
      <p:font typeface="Franklin Gothic Medium Cond" panose="020B0606030402020204" pitchFamily="3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BEC5E-A985-3649-B708-65D3C8A45E65}" v="2" dt="2025-10-12T19:28:39.8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6070"/>
  </p:normalViewPr>
  <p:slideViewPr>
    <p:cSldViewPr snapToGrid="0">
      <p:cViewPr varScale="1">
        <p:scale>
          <a:sx n="119" d="100"/>
          <a:sy n="119" d="100"/>
        </p:scale>
        <p:origin x="336" y="192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B3-EE47-95DE-C97C989334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B3-EE47-95DE-C97C989334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4B3-EE47-95DE-C97C98933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4045328"/>
        <c:axId val="574310272"/>
      </c:barChart>
      <c:catAx>
        <c:axId val="57404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4310272"/>
        <c:crosses val="autoZero"/>
        <c:auto val="1"/>
        <c:lblAlgn val="ctr"/>
        <c:lblOffset val="100"/>
        <c:noMultiLvlLbl val="0"/>
      </c:catAx>
      <c:valAx>
        <c:axId val="574310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404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Picture 1" descr="A graph of blue and white bars&#10;&#10;AI-generated content may be incorrect.">
          <a:extLst xmlns:a="http://schemas.openxmlformats.org/drawingml/2006/main">
            <a:ext uri="{FF2B5EF4-FFF2-40B4-BE49-F238E27FC236}">
              <a16:creationId xmlns:a16="http://schemas.microsoft.com/office/drawing/2014/main" id="{96456B75-15B5-464A-E188-D66A383871E9}"/>
            </a:ext>
          </a:extLst>
        </cdr:cNvPr>
        <cdr:cNvPicPr>
          <a:picLocks xmlns:a="http://schemas.openxmlformats.org/drawingml/2006/main" noGrp="1" noChangeAspect="1"/>
        </cdr:cNvPicPr>
      </cdr:nvPicPr>
      <cdr:blipFill rotWithShape="1">
        <a:blip xmlns:a="http://schemas.openxmlformats.org/drawingml/2006/main" xmlns:r="http://schemas.openxmlformats.org/officeDocument/2006/relationships" r:embed="rId1"/>
        <a:srcRect xmlns:a="http://schemas.openxmlformats.org/drawingml/2006/main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1266487" cy="445452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1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DDE-68AB-A610-2C43-79A0E0CF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ED7D2-9797-FA60-8EB5-7BA216571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40839-E449-D5F6-27B5-B8A2BCE76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5AA64-B1C5-3111-CA73-62C97DBC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70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70" y="2005070"/>
            <a:ext cx="5072743" cy="592834"/>
          </a:xfrm>
        </p:spPr>
        <p:txBody>
          <a:bodyPr/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Foot Traffic and Dwell Time Trends at Office Supply Stores During the Remote Work Shift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0070" y="3810834"/>
            <a:ext cx="7763458" cy="449263"/>
          </a:xfrm>
        </p:spPr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Management of Organizational Data Group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0070" y="4076947"/>
            <a:ext cx="7763458" cy="4492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Group 7</a:t>
            </a:r>
          </a:p>
        </p:txBody>
      </p:sp>
      <p:pic>
        <p:nvPicPr>
          <p:cNvPr id="5" name="Picture Placeholder 8">
            <a:extLst>
              <a:ext uri="{FF2B5EF4-FFF2-40B4-BE49-F238E27FC236}">
                <a16:creationId xmlns:a16="http://schemas.microsoft.com/office/drawing/2014/main" id="{DDE2673F-373E-D3E4-F560-85B9828C29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61" r="4761"/>
          <a:stretch>
            <a:fillRect/>
          </a:stretch>
        </p:blipFill>
        <p:spPr>
          <a:xfrm>
            <a:off x="6172200" y="228600"/>
            <a:ext cx="5791200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8102-91B2-FC2B-C893-417591929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 descr="Sample bar chart.">
            <a:extLst>
              <a:ext uri="{FF2B5EF4-FFF2-40B4-BE49-F238E27FC236}">
                <a16:creationId xmlns:a16="http://schemas.microsoft.com/office/drawing/2014/main" id="{CAD517CB-387C-4C43-45A6-1552FD668406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1178164001"/>
              </p:ext>
            </p:extLst>
          </p:nvPr>
        </p:nvGraphicFramePr>
        <p:xfrm>
          <a:off x="468313" y="1543050"/>
          <a:ext cx="11266487" cy="445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B99B925-137D-5773-3E09-509C855A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Weekly Visits of Office Supply Brand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6CE982-E8C0-7A86-B5CE-E1802756CF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Staples, clear volume leader, more resilient pre-shock, but just as exposed during the drop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8B983-746F-864A-0645-1350BA744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66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3115D7-6C74-6528-F23C-B81DEA42F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Market Share Landscape of Office Supply Brands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C898A-2FF1-8C4F-2A46-D380387196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captures the largest market share at 38%; Office Depot holds a 35% share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661C98-5E27-D35D-B306-DC2DA8288635}"/>
              </a:ext>
            </a:extLst>
          </p:cNvPr>
          <p:cNvSpPr txBox="1"/>
          <p:nvPr/>
        </p:nvSpPr>
        <p:spPr>
          <a:xfrm>
            <a:off x="7018078" y="2559521"/>
            <a:ext cx="388234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The market is highly consolidated, dominated by two key players – Staples and Office Depot</a:t>
            </a:r>
          </a:p>
          <a:p>
            <a:endParaRPr lang="en-IN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>
                <a:latin typeface="Calibri" panose="020F0502020204030204" pitchFamily="34" charset="0"/>
                <a:cs typeface="Calibri" panose="020F0502020204030204" pitchFamily="34" charset="0"/>
              </a:rPr>
              <a:t>Niche and experiential brands can sustain only through differentiation, personalization, or e-commerce expansion.</a:t>
            </a:r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316E58-10E4-EBE0-234E-24DC20D80EB3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5BAAD2-4CE1-B47C-5479-7B530E75C646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0FAC77-4503-165C-F24D-1E0705670BB2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E5277B77-C5C7-14D0-0F51-FD5B58E8B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0F8CE-5ADA-39BC-305A-AC9139015A8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 descr="A pie chart with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D8960E65-15A6-67E7-0228-BE32F1EB26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57200" y="1594121"/>
            <a:ext cx="5458727" cy="4557297"/>
          </a:xfrm>
        </p:spPr>
      </p:pic>
    </p:spTree>
    <p:extLst>
      <p:ext uri="{BB962C8B-B14F-4D97-AF65-F5344CB8AC3E}">
        <p14:creationId xmlns:p14="http://schemas.microsoft.com/office/powerpoint/2010/main" val="336505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7A-6690-4557-A7D0-AEF2284B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2EF4C-04A5-4D48-5760-F61D0196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>
                <a:latin typeface="Calibri" panose="020F0502020204030204" pitchFamily="34" charset="0"/>
                <a:cs typeface="Calibri" panose="020F0502020204030204" pitchFamily="34" charset="0"/>
              </a:rPr>
              <a:t>Brand wise Relationship Between Visits and Dwell Time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38A016-C04C-4FB0-44DE-E3B688042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attract the most visits but have short dwell times, reflecting quick, mission-driven purchases.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719890-53AD-3F43-E449-0E037863B579}"/>
              </a:ext>
            </a:extLst>
          </p:cNvPr>
          <p:cNvSpPr txBox="1"/>
          <p:nvPr/>
        </p:nvSpPr>
        <p:spPr>
          <a:xfrm>
            <a:off x="7018078" y="2559521"/>
            <a:ext cx="3882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Despite high foot traffic, staples show shorter dwell times (~20 mins)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Rapid Refill stands out with the highest dwell time (~50 min), showing strong engagement within a narrow customer base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DDAD90-7E17-4F1A-EF18-007EE8B8A0D5}"/>
              </a:ext>
            </a:extLst>
          </p:cNvPr>
          <p:cNvGrpSpPr/>
          <p:nvPr/>
        </p:nvGrpSpPr>
        <p:grpSpPr>
          <a:xfrm>
            <a:off x="6660495" y="1908011"/>
            <a:ext cx="4597510" cy="3221377"/>
            <a:chOff x="6660495" y="1908011"/>
            <a:chExt cx="4597510" cy="32213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0F5941-B990-F88A-570A-8AE4021F45A9}"/>
                </a:ext>
              </a:extLst>
            </p:cNvPr>
            <p:cNvSpPr/>
            <p:nvPr/>
          </p:nvSpPr>
          <p:spPr>
            <a:xfrm>
              <a:off x="6660495" y="2233766"/>
              <a:ext cx="4597510" cy="2895622"/>
            </a:xfrm>
            <a:prstGeom prst="rect">
              <a:avLst/>
            </a:prstGeom>
            <a:noFill/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B2B31F-3F4B-1C01-49E0-C7A3CE055F47}"/>
                </a:ext>
              </a:extLst>
            </p:cNvPr>
            <p:cNvSpPr/>
            <p:nvPr/>
          </p:nvSpPr>
          <p:spPr>
            <a:xfrm>
              <a:off x="8427367" y="1908011"/>
              <a:ext cx="1191947" cy="651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1" name="Graphic 10" descr="Open quotation mark with solid fill">
            <a:extLst>
              <a:ext uri="{FF2B5EF4-FFF2-40B4-BE49-F238E27FC236}">
                <a16:creationId xmlns:a16="http://schemas.microsoft.com/office/drawing/2014/main" id="{95596675-86F5-F1F8-670B-D4B029CA7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6283" y="1491671"/>
            <a:ext cx="1294114" cy="13030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5D82C-DDBD-C7EA-D3EB-E05DFBBB67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804864AC-85D8-CD6D-A76E-A6C5DFB65B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"/>
          <a:srcRect/>
          <a:stretch/>
        </p:blipFill>
        <p:spPr>
          <a:xfrm>
            <a:off x="457200" y="1594121"/>
            <a:ext cx="5458727" cy="4557297"/>
          </a:xfrm>
        </p:spPr>
      </p:pic>
    </p:spTree>
    <p:extLst>
      <p:ext uri="{BB962C8B-B14F-4D97-AF65-F5344CB8AC3E}">
        <p14:creationId xmlns:p14="http://schemas.microsoft.com/office/powerpoint/2010/main" val="57536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E2D3B1-47AD-F42C-134A-898069BAA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>
                <a:latin typeface="Calibri" panose="020F0502020204030204" pitchFamily="34" charset="0"/>
                <a:cs typeface="Calibri" panose="020F0502020204030204" pitchFamily="34" charset="0"/>
              </a:rPr>
              <a:t>Measuring Urban vs. Rural Footprints of Office Supply Brands</a:t>
            </a:r>
          </a:p>
        </p:txBody>
      </p:sp>
      <p:pic>
        <p:nvPicPr>
          <p:cNvPr id="10" name="Picture Placeholder 9" descr="A graph of blue and white bars&#10;&#10;AI-generated content may be incorrect.">
            <a:extLst>
              <a:ext uri="{FF2B5EF4-FFF2-40B4-BE49-F238E27FC236}">
                <a16:creationId xmlns:a16="http://schemas.microsoft.com/office/drawing/2014/main" id="{41D5C924-345F-4DDF-3CBF-F9DF327CF54B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 rotWithShape="1">
          <a:blip r:embed="rId2"/>
          <a:srcRect t="2" b="-2"/>
          <a:stretch>
            <a:fillRect/>
          </a:stretch>
        </p:blipFill>
        <p:spPr>
          <a:xfrm>
            <a:off x="468086" y="1543324"/>
            <a:ext cx="7068787" cy="4390294"/>
          </a:xfr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E267F-25C8-47DF-9D61-B51817DADC6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Staples (705K), Office Depot (608K), and OfficeMax (313K) all record the highest visits from suburban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areas trail slightly, despite higher population density, suggesting that suburban consumers were more actively purchasing home-office essentials when remote work began.</a:t>
            </a:r>
          </a:p>
          <a:p>
            <a:pPr marL="0" indent="0">
              <a:buNone/>
            </a:pP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Rural areas show steady but smaller visit counts, reflecting fewer store locations and smaller populations.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892E85-82A0-CAF6-F533-D334C924F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 fontScale="85000" lnSpcReduction="10000"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Suburban visits dominate across all major brands; Urban areas trail slightly; Rural areas show steady but smaller visit counts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7C8B7D2-01DB-70C5-D335-628D77A3F2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5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96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AE42-527E-6F77-42BC-2F852DDE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5580E31-39E6-5316-E1F9-1108ED09FD25}"/>
              </a:ext>
            </a:extLst>
          </p:cNvPr>
          <p:cNvPicPr>
            <a:picLocks noGrp="1" noChangeAspect="1"/>
          </p:cNvPicPr>
          <p:nvPr>
            <p:ph idx="12"/>
          </p:nvPr>
        </p:nvPicPr>
        <p:blipFill>
          <a:blip r:embed="rId2"/>
          <a:srcRect l="2808" r="2808"/>
          <a:stretch/>
        </p:blipFill>
        <p:spPr>
          <a:xfrm>
            <a:off x="468086" y="1543324"/>
            <a:ext cx="7068787" cy="4390294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E79A5E6-A7BC-C367-8A0D-715EAF84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Distribution of Office Supply Store Foot Traffic Across California Counties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34711-43D7-3532-1E47-DE1C494888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47709" y="1543324"/>
            <a:ext cx="4087091" cy="439033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Urban centers along the coastal corridor (Los Angeles → San Diego → Bay Area) exhibit significantly higher retail engagement, suggesting strong dependence on in-person office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Neighboring counties like Orange, San Bernardino, and Riverside also show elevated activity — reflecting dense urban populations and commercial hubs.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Northern and Central California counties (e.g., Modoc, Sierra, and Lassen) show minimal visits, consistent with rural and low-density retail presence.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1D1B9-76FD-FA33-5E27-BFC020D20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 fontScale="70000" lnSpcReduction="20000"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Southern California dominates office supply store visits, with Los Angeles County emerging as the primary hotspot (over 130K+ visits)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5F7E5D-28E0-F724-409F-4D9F96B4081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83A5441-672B-D9DB-C03B-F6331BC399E9}"/>
              </a:ext>
            </a:extLst>
          </p:cNvPr>
          <p:cNvSpPr/>
          <p:nvPr/>
        </p:nvSpPr>
        <p:spPr>
          <a:xfrm>
            <a:off x="3920490" y="4400550"/>
            <a:ext cx="582930" cy="56007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4181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3B9C5D94-A9CB-8420-30DF-20C8E79273BA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 rotWithShape="1">
          <a:blip r:embed="rId2"/>
          <a:srcRect l="6" r="4"/>
          <a:stretch>
            <a:fillRect/>
          </a:stretch>
        </p:blipFill>
        <p:spPr>
          <a:xfrm>
            <a:off x="468086" y="1543325"/>
            <a:ext cx="11266827" cy="4584344"/>
          </a:xfr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1D0BE4-6CAA-F38A-DB99-AF9E1767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Autofit/>
          </a:bodyPr>
          <a:lstStyle/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Patterns: Early-2020 Stabilization in Office Supply Store Visits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FF639-1778-E4AC-5DE3-C904C075B5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</a:rPr>
              <a:t>Staples and Office Depot stabilized fastest, with WK 17 rebound suggesting quicker adaptation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AAC9E-2251-06C5-D35D-7203398B9B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>
                <a:spcAft>
                  <a:spcPts val="600"/>
                </a:spcAft>
              </a:pPr>
              <a:t>7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01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9EF62B-E070-ACB9-D915-B4545582CB13}"/>
              </a:ext>
            </a:extLst>
          </p:cNvPr>
          <p:cNvGraphicFramePr>
            <a:graphicFrameLocks noGrp="1"/>
          </p:cNvGraphicFramePr>
          <p:nvPr>
            <p:ph idx="14"/>
            <p:extLst>
              <p:ext uri="{D42A27DB-BD31-4B8C-83A1-F6EECF244321}">
                <p14:modId xmlns:p14="http://schemas.microsoft.com/office/powerpoint/2010/main" val="3770652396"/>
              </p:ext>
            </p:extLst>
          </p:nvPr>
        </p:nvGraphicFramePr>
        <p:xfrm>
          <a:off x="468312" y="1370928"/>
          <a:ext cx="11277600" cy="4548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6">
                  <a:extLst>
                    <a:ext uri="{9D8B030D-6E8A-4147-A177-3AD203B41FA5}">
                      <a16:colId xmlns:a16="http://schemas.microsoft.com/office/drawing/2014/main" val="3688381607"/>
                    </a:ext>
                  </a:extLst>
                </a:gridCol>
                <a:gridCol w="1936377">
                  <a:extLst>
                    <a:ext uri="{9D8B030D-6E8A-4147-A177-3AD203B41FA5}">
                      <a16:colId xmlns:a16="http://schemas.microsoft.com/office/drawing/2014/main" val="4088979612"/>
                    </a:ext>
                  </a:extLst>
                </a:gridCol>
                <a:gridCol w="2151529">
                  <a:extLst>
                    <a:ext uri="{9D8B030D-6E8A-4147-A177-3AD203B41FA5}">
                      <a16:colId xmlns:a16="http://schemas.microsoft.com/office/drawing/2014/main" val="74721474"/>
                    </a:ext>
                  </a:extLst>
                </a:gridCol>
                <a:gridCol w="5775418">
                  <a:extLst>
                    <a:ext uri="{9D8B030D-6E8A-4147-A177-3AD203B41FA5}">
                      <a16:colId xmlns:a16="http://schemas.microsoft.com/office/drawing/2014/main" val="566869555"/>
                    </a:ext>
                  </a:extLst>
                </a:gridCol>
              </a:tblGrid>
              <a:tr h="2325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Brand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Stabilization Week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Recovery Pattern</a:t>
                      </a: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Key Interpretation</a:t>
                      </a: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569792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Staples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16–17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Rapid rebound after steep mid-March dip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Strong brand loyalty and essential status drove early recovery; demand tied to home-office setup.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55537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Office Depot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17–18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Gradual recovery and steady visits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Maintained consistent customer base; reflects reliability and convenience as essential retailer.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Acumin Pro" panose="020B0504020202020204" pitchFamily="34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092094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OfficeMax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Slower, moderate rebound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Some brand overlap with Office Depot may have diluted traffic; secondary player in essential category.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Acumin Pro" panose="020B0504020202020204" pitchFamily="34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0648710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Cartridge World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WK 17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Partial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Specialized product line led to moderate rebound; supported by printer and cartridge needs for remote work.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9221966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Paper Source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Visits remained low through April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Non-essential, creative products saw sustained decline; recovery delayed by reduced in-store browsing.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1618069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Papyrus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No clear stabilization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Continued decline post-March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Discretionary gifting and stationery purchases collapsed; slow adaptation to online demand.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9569275"/>
                  </a:ext>
                </a:extLst>
              </a:tr>
              <a:tr h="61493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Rapid Refill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Minimal activity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Stable at very low volume</a:t>
                      </a:r>
                      <a:endParaRPr lang="en-IN" sz="1600" b="1" kern="1200">
                        <a:solidFill>
                          <a:schemeClr val="tx1"/>
                        </a:solidFill>
                        <a:latin typeface="Acumin Pro" panose="020B0504020202020204" pitchFamily="34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600" b="1" kern="1200" dirty="0">
                          <a:solidFill>
                            <a:schemeClr val="tx1"/>
                          </a:solidFill>
                          <a:latin typeface="Acumin Pro" panose="020B0504020202020204" pitchFamily="34" charset="77"/>
                          <a:ea typeface="+mn-ea"/>
                          <a:cs typeface="+mn-cs"/>
                        </a:rPr>
                        <a:t>Niche audience with deep but narrow engagement; limited market reach and low recovery potential.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914277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F87F7167-3AC3-B360-4838-FD7C0AF1E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Brand Recovery and Stabilization Trends: Jan–May 2020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DBCAE-56B3-0632-B282-151148F7C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Staples and Office Depot show early stabilization around Weeks 16–17, with visits rebounding by ~20–25%.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13D25-7C56-8CBD-0C90-888193276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1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schemas.microsoft.com/office/2006/metadata/properties"/>
    <ds:schemaRef ds:uri="d6656b4d-3fa0-4709-acfb-d5e813445d1e"/>
    <ds:schemaRef ds:uri="http://purl.org/dc/terms/"/>
    <ds:schemaRef ds:uri="http://schemas.microsoft.com/office/2006/documentManagement/types"/>
    <ds:schemaRef ds:uri="37af3f4b-4b66-46f9-8456-831d9bc3e737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614</Words>
  <Application>Microsoft Macintosh PowerPoint</Application>
  <PresentationFormat>Widescreen</PresentationFormat>
  <Paragraphs>75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Franklin Gothic Book</vt:lpstr>
      <vt:lpstr>Arial</vt:lpstr>
      <vt:lpstr>Acumin Pro Semibold</vt:lpstr>
      <vt:lpstr>Acumin Pro</vt:lpstr>
      <vt:lpstr>Acumin Pro Condensed Semibold</vt:lpstr>
      <vt:lpstr>Acumin Pro Medium</vt:lpstr>
      <vt:lpstr>Calibri</vt:lpstr>
      <vt:lpstr>Wingdings</vt:lpstr>
      <vt:lpstr>Franklin Gothic Medium</vt:lpstr>
      <vt:lpstr>Franklin Gothic Medium Cond</vt:lpstr>
      <vt:lpstr>Office Theme</vt:lpstr>
      <vt:lpstr>Foot Traffic and Dwell Time Trends at Office Supply Stores During the Remote Work Shift </vt:lpstr>
      <vt:lpstr>Weekly Visits of Office Supply Brand</vt:lpstr>
      <vt:lpstr>Market Share Landscape of Office Supply Brands</vt:lpstr>
      <vt:lpstr>Brand wise Relationship Between Visits and Dwell Time</vt:lpstr>
      <vt:lpstr>Measuring Urban vs. Rural Footprints of Office Supply Brands</vt:lpstr>
      <vt:lpstr>Distribution of Office Supply Store Foot Traffic Across California Counties</vt:lpstr>
      <vt:lpstr>Brand Recovery Patterns: Early-2020 Stabilization in Office Supply Store Visits</vt:lpstr>
      <vt:lpstr>Brand Recovery and Stabilization Trends: Jan–May 2020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Agniva Mondal</dc:creator>
  <cp:lastModifiedBy>Ramana prabhu Sana</cp:lastModifiedBy>
  <cp:revision>1</cp:revision>
  <dcterms:created xsi:type="dcterms:W3CDTF">2025-10-12T17:34:25Z</dcterms:created>
  <dcterms:modified xsi:type="dcterms:W3CDTF">2025-10-12T19:32:42Z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</Properties>
</file>