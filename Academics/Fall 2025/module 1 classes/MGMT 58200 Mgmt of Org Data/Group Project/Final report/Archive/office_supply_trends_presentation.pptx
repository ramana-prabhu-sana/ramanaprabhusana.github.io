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sldIdLst>
    <p:sldId id="2561" r:id="rId5"/>
    <p:sldId id="2563" r:id="rId6"/>
    <p:sldId id="2564" r:id="rId7"/>
    <p:sldId id="2565" r:id="rId8"/>
    <p:sldId id="25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ot Traffic and Dwell Time Trends at Office Supply Stores During the Remote Work Shift" id="{C0EF804C-B0A6-49FC-A859-257E2668BA65}">
          <p14:sldIdLst>
            <p14:sldId id="2561"/>
          </p14:sldIdLst>
        </p14:section>
        <p14:section name="Foot Traffic and Dwell Time Trends at Office Supply Stores During the Remote Work Shift" id="{63625C9F-2B2C-4DEC-9800-50F0D0D45C2F}">
          <p14:sldIdLst>
            <p14:sldId id="2563"/>
            <p14:sldId id="2564"/>
            <p14:sldId id="2565"/>
            <p14:sldId id="25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0D3FD4-C6CC-4FFA-9821-FEBFFF04E55F}" v="9" dt="2025-10-12T06:20:08.309"/>
    <p1510:client id="{F02495A9-419A-AA3F-2748-341CB94154E9}" v="1" dt="2025-10-12T06:20:38.3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450D3FD4-C6CC-4FFA-9821-FEBFFF04E55F}"/>
    <pc:docChg chg="addSld delSld modSld addSection">
      <pc:chgData name="" userId="" providerId="" clId="Web-{450D3FD4-C6CC-4FFA-9821-FEBFFF04E55F}" dt="2025-10-12T06:20:08.309" v="9" actId="34807"/>
      <pc:docMkLst>
        <pc:docMk/>
      </pc:docMkLst>
      <pc:sldChg chg="del">
        <pc:chgData name="" userId="" providerId="" clId="Web-{450D3FD4-C6CC-4FFA-9821-FEBFFF04E55F}" dt="2025-10-12T06:20:08.278" v="0" actId="34807"/>
        <pc:sldMkLst>
          <pc:docMk/>
          <pc:sldMk cId="2589239513" sldId="256"/>
        </pc:sldMkLst>
      </pc:sldChg>
      <pc:sldChg chg="modSp add mod modClrScheme addAnim chgLayout">
        <pc:chgData name="" userId="" providerId="" clId="Web-{450D3FD4-C6CC-4FFA-9821-FEBFFF04E55F}" dt="2025-10-12T06:20:08.309" v="4" actId="34807"/>
        <pc:sldMkLst>
          <pc:docMk/>
          <pc:sldMk cId="2001546621" sldId="2561"/>
        </pc:sldMkLst>
        <pc:spChg chg="mod">
          <ac:chgData name="" userId="" providerId="" clId="Web-{450D3FD4-C6CC-4FFA-9821-FEBFFF04E55F}" dt="2025-10-12T06:20:08.309" v="1" actId="34807"/>
          <ac:spMkLst>
            <pc:docMk/>
            <pc:sldMk cId="2001546621" sldId="2561"/>
            <ac:spMk id="2" creationId="{7251B421-E6D9-CD92-9F7C-10D2997FB71D}"/>
          </ac:spMkLst>
        </pc:spChg>
        <pc:spChg chg="mod">
          <ac:chgData name="" userId="" providerId="" clId="Web-{450D3FD4-C6CC-4FFA-9821-FEBFFF04E55F}" dt="2025-10-12T06:20:08.309" v="1" actId="34807"/>
          <ac:spMkLst>
            <pc:docMk/>
            <pc:sldMk cId="2001546621" sldId="2561"/>
            <ac:spMk id="3" creationId="{FF27A619-93AB-3F08-BCBD-D5D40004FFF3}"/>
          </ac:spMkLst>
        </pc:spChg>
        <pc:picChg chg="mod">
          <ac:chgData name="" userId="" providerId="" clId="Web-{450D3FD4-C6CC-4FFA-9821-FEBFFF04E55F}" dt="2025-10-12T06:20:08.309" v="1" actId="34807"/>
          <ac:picMkLst>
            <pc:docMk/>
            <pc:sldMk cId="2001546621" sldId="2561"/>
            <ac:picMk id="4" creationId="{84AD9365-CFC0-49EA-8D61-77D1E978CE88}"/>
          </ac:picMkLst>
        </pc:picChg>
      </pc:sldChg>
      <pc:sldChg chg="modSp add mod modTransition addAnim chgLayout">
        <pc:chgData name="" userId="" providerId="" clId="Web-{450D3FD4-C6CC-4FFA-9821-FEBFFF04E55F}" dt="2025-10-12T06:20:08.309" v="5" actId="34807"/>
        <pc:sldMkLst>
          <pc:docMk/>
          <pc:sldMk cId="2126218756" sldId="2562"/>
        </pc:sldMkLst>
        <pc:spChg chg="mod">
          <ac:chgData name="" userId="" providerId="" clId="Web-{450D3FD4-C6CC-4FFA-9821-FEBFFF04E55F}" dt="2025-10-12T06:20:08.309" v="1" actId="34807"/>
          <ac:spMkLst>
            <pc:docMk/>
            <pc:sldMk cId="2126218756" sldId="2562"/>
            <ac:spMk id="2" creationId="{5A0DE0ED-61D8-05C9-726B-B1EF7BB0C424}"/>
          </ac:spMkLst>
        </pc:spChg>
      </pc:sldChg>
      <pc:sldChg chg="modSp add mod modTransition modClrScheme addAnim chgLayout">
        <pc:chgData name="" userId="" providerId="" clId="Web-{450D3FD4-C6CC-4FFA-9821-FEBFFF04E55F}" dt="2025-10-12T06:20:08.309" v="6" actId="34807"/>
        <pc:sldMkLst>
          <pc:docMk/>
          <pc:sldMk cId="2766958425" sldId="2563"/>
        </pc:sldMkLst>
        <pc:spChg chg="mod">
          <ac:chgData name="" userId="" providerId="" clId="Web-{450D3FD4-C6CC-4FFA-9821-FEBFFF04E55F}" dt="2025-10-12T06:20:08.309" v="1" actId="34807"/>
          <ac:spMkLst>
            <pc:docMk/>
            <pc:sldMk cId="2766958425" sldId="2563"/>
            <ac:spMk id="2" creationId="{4F804ED2-F5DE-01D0-2F8A-748BBE65B5EF}"/>
          </ac:spMkLst>
        </pc:spChg>
        <pc:spChg chg="mod">
          <ac:chgData name="" userId="" providerId="" clId="Web-{450D3FD4-C6CC-4FFA-9821-FEBFFF04E55F}" dt="2025-10-12T06:20:08.309" v="1" actId="34807"/>
          <ac:spMkLst>
            <pc:docMk/>
            <pc:sldMk cId="2766958425" sldId="2563"/>
            <ac:spMk id="4" creationId="{5D1AE63B-10E4-F5D3-7C78-05D624A8237F}"/>
          </ac:spMkLst>
        </pc:spChg>
        <pc:picChg chg="mod ord">
          <ac:chgData name="" userId="" providerId="" clId="Web-{450D3FD4-C6CC-4FFA-9821-FEBFFF04E55F}" dt="2025-10-12T06:20:08.309" v="1" actId="34807"/>
          <ac:picMkLst>
            <pc:docMk/>
            <pc:sldMk cId="2766958425" sldId="2563"/>
            <ac:picMk id="5" creationId="{10F27CD6-41C5-49B6-9EA7-4B802889D1DB}"/>
          </ac:picMkLst>
        </pc:picChg>
      </pc:sldChg>
      <pc:sldChg chg="modSp add mod modTransition modClrScheme addAnim chgLayout">
        <pc:chgData name="" userId="" providerId="" clId="Web-{450D3FD4-C6CC-4FFA-9821-FEBFFF04E55F}" dt="2025-10-12T06:20:08.309" v="7" actId="34807"/>
        <pc:sldMkLst>
          <pc:docMk/>
          <pc:sldMk cId="3126731455" sldId="2564"/>
        </pc:sldMkLst>
        <pc:spChg chg="mod">
          <ac:chgData name="" userId="" providerId="" clId="Web-{450D3FD4-C6CC-4FFA-9821-FEBFFF04E55F}" dt="2025-10-12T06:20:08.309" v="1" actId="34807"/>
          <ac:spMkLst>
            <pc:docMk/>
            <pc:sldMk cId="3126731455" sldId="2564"/>
            <ac:spMk id="2" creationId="{F0E17201-5E8D-F4E7-CF3B-AD6253880212}"/>
          </ac:spMkLst>
        </pc:spChg>
        <pc:spChg chg="mod">
          <ac:chgData name="" userId="" providerId="" clId="Web-{450D3FD4-C6CC-4FFA-9821-FEBFFF04E55F}" dt="2025-10-12T06:20:08.309" v="1" actId="34807"/>
          <ac:spMkLst>
            <pc:docMk/>
            <pc:sldMk cId="3126731455" sldId="2564"/>
            <ac:spMk id="4" creationId="{91204E89-79E6-2772-2A97-EE2AE81199FD}"/>
          </ac:spMkLst>
        </pc:spChg>
        <pc:picChg chg="mod">
          <ac:chgData name="" userId="" providerId="" clId="Web-{450D3FD4-C6CC-4FFA-9821-FEBFFF04E55F}" dt="2025-10-12T06:20:08.309" v="1" actId="34807"/>
          <ac:picMkLst>
            <pc:docMk/>
            <pc:sldMk cId="3126731455" sldId="2564"/>
            <ac:picMk id="5" creationId="{DB3EF28B-0388-4433-A06B-6198637F1803}"/>
          </ac:picMkLst>
        </pc:picChg>
      </pc:sldChg>
      <pc:sldChg chg="modSp add mod modTransition modClrScheme addAnim chgLayout">
        <pc:chgData name="" userId="" providerId="" clId="Web-{450D3FD4-C6CC-4FFA-9821-FEBFFF04E55F}" dt="2025-10-12T06:20:08.309" v="8" actId="34807"/>
        <pc:sldMkLst>
          <pc:docMk/>
          <pc:sldMk cId="3662601097" sldId="2565"/>
        </pc:sldMkLst>
        <pc:spChg chg="mod">
          <ac:chgData name="" userId="" providerId="" clId="Web-{450D3FD4-C6CC-4FFA-9821-FEBFFF04E55F}" dt="2025-10-12T06:20:08.309" v="1" actId="34807"/>
          <ac:spMkLst>
            <pc:docMk/>
            <pc:sldMk cId="3662601097" sldId="2565"/>
            <ac:spMk id="2" creationId="{69E87B7E-CB20-877E-8C0A-46E066297932}"/>
          </ac:spMkLst>
        </pc:spChg>
        <pc:spChg chg="mod">
          <ac:chgData name="" userId="" providerId="" clId="Web-{450D3FD4-C6CC-4FFA-9821-FEBFFF04E55F}" dt="2025-10-12T06:20:08.309" v="1" actId="34807"/>
          <ac:spMkLst>
            <pc:docMk/>
            <pc:sldMk cId="3662601097" sldId="2565"/>
            <ac:spMk id="4" creationId="{CD2C2ADA-36CC-0D48-6F8C-A3CECD9B4CA8}"/>
          </ac:spMkLst>
        </pc:spChg>
        <pc:picChg chg="mod ord">
          <ac:chgData name="" userId="" providerId="" clId="Web-{450D3FD4-C6CC-4FFA-9821-FEBFFF04E55F}" dt="2025-10-12T06:20:08.309" v="1" actId="34807"/>
          <ac:picMkLst>
            <pc:docMk/>
            <pc:sldMk cId="3662601097" sldId="2565"/>
            <ac:picMk id="5" creationId="{04A512E9-7108-49EC-8848-73E290132EB0}"/>
          </ac:picMkLst>
        </pc:picChg>
      </pc:sldChg>
      <pc:sldChg chg="modSp add mod modTransition modClrScheme addAnim chgLayout">
        <pc:chgData name="" userId="" providerId="" clId="Web-{450D3FD4-C6CC-4FFA-9821-FEBFFF04E55F}" dt="2025-10-12T06:20:08.309" v="9" actId="34807"/>
        <pc:sldMkLst>
          <pc:docMk/>
          <pc:sldMk cId="2086105144" sldId="2566"/>
        </pc:sldMkLst>
        <pc:spChg chg="mod">
          <ac:chgData name="" userId="" providerId="" clId="Web-{450D3FD4-C6CC-4FFA-9821-FEBFFF04E55F}" dt="2025-10-12T06:20:08.309" v="1" actId="34807"/>
          <ac:spMkLst>
            <pc:docMk/>
            <pc:sldMk cId="2086105144" sldId="2566"/>
            <ac:spMk id="2" creationId="{FF0AC792-A860-B0EC-4666-C6A161E6BB1B}"/>
          </ac:spMkLst>
        </pc:spChg>
        <pc:spChg chg="mod">
          <ac:chgData name="" userId="" providerId="" clId="Web-{450D3FD4-C6CC-4FFA-9821-FEBFFF04E55F}" dt="2025-10-12T06:20:08.309" v="1" actId="34807"/>
          <ac:spMkLst>
            <pc:docMk/>
            <pc:sldMk cId="2086105144" sldId="2566"/>
            <ac:spMk id="4" creationId="{8A29737E-9CA1-202C-9A80-4A20DD9CF0D2}"/>
          </ac:spMkLst>
        </pc:spChg>
        <pc:picChg chg="mod">
          <ac:chgData name="" userId="" providerId="" clId="Web-{450D3FD4-C6CC-4FFA-9821-FEBFFF04E55F}" dt="2025-10-12T06:20:08.309" v="1" actId="34807"/>
          <ac:picMkLst>
            <pc:docMk/>
            <pc:sldMk cId="2086105144" sldId="2566"/>
            <ac:picMk id="5" creationId="{E1DC23E9-DC7F-47DB-B92A-7E6554ACF205}"/>
          </ac:picMkLst>
        </pc:picChg>
      </pc:sldChg>
    </pc:docChg>
  </pc:docChgLst>
  <pc:docChgLst>
    <pc:chgData name="Ramana prabhu Sana" userId="S::rsana@purdue.edu::9ce700ea-1810-4462-ab36-dec9325c035e" providerId="AD" clId="Web-{F02495A9-419A-AA3F-2748-341CB94154E9}"/>
    <pc:docChg chg="delSld modSection">
      <pc:chgData name="Ramana prabhu Sana" userId="S::rsana@purdue.edu::9ce700ea-1810-4462-ab36-dec9325c035e" providerId="AD" clId="Web-{F02495A9-419A-AA3F-2748-341CB94154E9}" dt="2025-10-12T06:20:38.306" v="0"/>
      <pc:docMkLst>
        <pc:docMk/>
      </pc:docMkLst>
      <pc:sldChg chg="del">
        <pc:chgData name="Ramana prabhu Sana" userId="S::rsana@purdue.edu::9ce700ea-1810-4462-ab36-dec9325c035e" providerId="AD" clId="Web-{F02495A9-419A-AA3F-2748-341CB94154E9}" dt="2025-10-12T06:20:38.306" v="0"/>
        <pc:sldMkLst>
          <pc:docMk/>
          <pc:sldMk cId="2126218756" sldId="25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F7FBDD-B395-4973-98AE-3BDCEC05D9F3}" type="datetimeFigureOut">
              <a:t>10/11/2025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7129F2-C82F-4224-A152-1CE03CE8F30F}" type="slidenum">
              <a:t>‹#›</a:t>
            </a:fld>
            <a:endParaRPr lang="en-US"/>
          </a:p>
        </p:txBody>
      </p:sp>
    </p:spTree>
    <p:extLst>
      <p:ext uri="{BB962C8B-B14F-4D97-AF65-F5344CB8AC3E}">
        <p14:creationId xmlns:p14="http://schemas.microsoft.com/office/powerpoint/2010/main" val="2513333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13EE8E45-052A-4E8C-AACE-EC1572B26866}" type="slidenum">
              <a:t>1</a:t>
            </a:fld>
            <a:endParaRPr lang="en-US"/>
          </a:p>
        </p:txBody>
      </p:sp>
    </p:spTree>
    <p:extLst>
      <p:ext uri="{BB962C8B-B14F-4D97-AF65-F5344CB8AC3E}">
        <p14:creationId xmlns:p14="http://schemas.microsoft.com/office/powerpoint/2010/main" val="1363158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This study investigates how consumer behavior shifted in response to the remote work transition during the early months of the COVID-19 pandemic, focusing on office supply stores in California. The analysis centers on three key research questions: First, how did foot traffic and dwell times evolve week by week during the first four months of 2020? Second, did suburban counties experience a stronger rise in visits compared to urban centers during the remote work shift? Third, did certain office supply brands stabilize faster in terms of visits and dwell times, and what does this suggest about brand loyalty and essential purchasing behavior? The study uses data from SafeGraph to track foot traffic and dwell time, RUCA codes to classify counties as urban, suburban, or rural, and demographic data including education levels, working-age population, and K–12 households. These variables help contextualize consumer intent and engagement patterns. The research is particularly relevant for understanding how different geographic and demographic segments responded to the sudden need for home-office supplies, and how these responses shaped retail dynamics in the office supply sector.
</a:t>
            </a:r>
          </a:p>
        </p:txBody>
      </p:sp>
      <p:sp>
        <p:nvSpPr>
          <p:cNvPr id="4" name="Slide Number Placeholder 3"/>
          <p:cNvSpPr>
            <a:spLocks noGrp="1"/>
          </p:cNvSpPr>
          <p:nvPr>
            <p:ph type="sldNum" sz="quarter" idx="5"/>
          </p:nvPr>
        </p:nvSpPr>
        <p:spPr/>
        <p:txBody>
          <a:bodyPr/>
          <a:lstStyle/>
          <a:p>
            <a:fld id="{13EE8E45-052A-4E8C-AACE-EC1572B26866}" type="slidenum">
              <a:t>2</a:t>
            </a:fld>
            <a:endParaRPr lang="en-US"/>
          </a:p>
        </p:txBody>
      </p:sp>
    </p:spTree>
    <p:extLst>
      <p:ext uri="{BB962C8B-B14F-4D97-AF65-F5344CB8AC3E}">
        <p14:creationId xmlns:p14="http://schemas.microsoft.com/office/powerpoint/2010/main" val="1789585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The methodology employed in this study integrates multiple datasets to analyze consumer behavior at office supply stores during the remote work shift. The primary data source is SafeGraph, which provides detailed foot traffic and dwell time metrics for various retail brands. To classify counties into urban, suburban, and rural categories, the study uses the 2020 Rural-Urban Commuting Area (RUCA) codes. Additionally, demographic data such as education levels, working-age population (ages 18–64), and K–12 household density are incorporated to understand the influence of these factors on store visits and engagement. The analytical approach involves tracking weekly trends in foot traffic and dwell time from January to April 2020. Brand-level comparisons are made to identify which retailers experienced faster recovery and stabilization. Correlation analyses are conducted to examine how demographic indicators relate to consumer behavior, such as whether higher education levels are associated with longer dwell times or whether suburban areas saw quicker rebounds in store visits. This multi-dimensional methodology allows for a nuanced understanding of how different consumer segments responded to the pandemic-induced shift to remote work.
</a:t>
            </a:r>
          </a:p>
        </p:txBody>
      </p:sp>
      <p:sp>
        <p:nvSpPr>
          <p:cNvPr id="4" name="Slide Number Placeholder 3"/>
          <p:cNvSpPr>
            <a:spLocks noGrp="1"/>
          </p:cNvSpPr>
          <p:nvPr>
            <p:ph type="sldNum" sz="quarter" idx="5"/>
          </p:nvPr>
        </p:nvSpPr>
        <p:spPr/>
        <p:txBody>
          <a:bodyPr/>
          <a:lstStyle/>
          <a:p>
            <a:fld id="{13EE8E45-052A-4E8C-AACE-EC1572B26866}" type="slidenum">
              <a:t>3</a:t>
            </a:fld>
            <a:endParaRPr lang="en-US"/>
          </a:p>
        </p:txBody>
      </p:sp>
    </p:spTree>
    <p:extLst>
      <p:ext uri="{BB962C8B-B14F-4D97-AF65-F5344CB8AC3E}">
        <p14:creationId xmlns:p14="http://schemas.microsoft.com/office/powerpoint/2010/main" val="2905357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The analysis revealed several key findings about consumer behavior at office supply stores during the early months of the pandemic. Staples and Office Depot emerged as the dominant brands in terms of foot traffic, with Staples showing the fastest rebound by Week 17, indicating strong brand loyalty and its status as an essential retailer. Specialty stores such as Papyrus and Rapid Refill attracted fewer visitors but exhibited significantly longer dwell times, suggesting that these stores catered to more focused, high-intent purchases. Suburban counties demonstrated the highest levels of engagement and fastest recovery, likely due to their family-oriented demographics and immediate need for home-office and school supplies. Urban areas had slightly lower visit counts but similar dwell times, reflecting quick, goal-oriented shopping trips. The data also showed that regions with higher concentrations of bachelor’s and master’s degree holders had longer dwell times, pointing to a preference for personalized, boutique-style shopping experiences. Additionally, counties with a dense working-age population tended to have shorter dwell times, indicating faster shopping habits and limited time availability. These findings underscore the importance of geographic and demographic factors in shaping retail engagement during the remote work shift.
</a:t>
            </a:r>
          </a:p>
        </p:txBody>
      </p:sp>
      <p:sp>
        <p:nvSpPr>
          <p:cNvPr id="4" name="Slide Number Placeholder 3"/>
          <p:cNvSpPr>
            <a:spLocks noGrp="1"/>
          </p:cNvSpPr>
          <p:nvPr>
            <p:ph type="sldNum" sz="quarter" idx="5"/>
          </p:nvPr>
        </p:nvSpPr>
        <p:spPr/>
        <p:txBody>
          <a:bodyPr/>
          <a:lstStyle/>
          <a:p>
            <a:fld id="{13EE8E45-052A-4E8C-AACE-EC1572B26866}" type="slidenum">
              <a:t>4</a:t>
            </a:fld>
            <a:endParaRPr lang="en-US"/>
          </a:p>
        </p:txBody>
      </p:sp>
    </p:spTree>
    <p:extLst>
      <p:ext uri="{BB962C8B-B14F-4D97-AF65-F5344CB8AC3E}">
        <p14:creationId xmlns:p14="http://schemas.microsoft.com/office/powerpoint/2010/main" val="360006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The study concludes that suburban consumers adapted more rapidly to the remote work environment, driving early recovery in foot traffic and dwell times at office supply stores. This trend was particularly evident in brands like Staples and Office Depot, which benefited from strong brand loyalty and their essential status in supporting home-office setups. The data highlights a clear divide between efficiency-driven and experience-driven shopping behaviors. Consumers in suburban, working-age regions prioritized quick, goal-oriented purchases, while those in highly educated, smaller markets spent more time exploring specialty stores. These insights suggest that retailers can optimize their strategies by tailoring store formats and services to the specific needs of their local demographics. For example, concept stores or expanded community services may be more effective in areas with higher education levels and longer dwell times. Overall, the findings provide valuable guidance for office supply retailers seeking to navigate post-pandemic retail dynamics and better serve their evolving customer base.
</a:t>
            </a:r>
          </a:p>
        </p:txBody>
      </p:sp>
      <p:sp>
        <p:nvSpPr>
          <p:cNvPr id="4" name="Slide Number Placeholder 3"/>
          <p:cNvSpPr>
            <a:spLocks noGrp="1"/>
          </p:cNvSpPr>
          <p:nvPr>
            <p:ph type="sldNum" sz="quarter" idx="5"/>
          </p:nvPr>
        </p:nvSpPr>
        <p:spPr/>
        <p:txBody>
          <a:bodyPr/>
          <a:lstStyle/>
          <a:p>
            <a:fld id="{13EE8E45-052A-4E8C-AACE-EC1572B26866}" type="slidenum">
              <a:t>5</a:t>
            </a:fld>
            <a:endParaRPr lang="en-US"/>
          </a:p>
        </p:txBody>
      </p:sp>
    </p:spTree>
    <p:extLst>
      <p:ext uri="{BB962C8B-B14F-4D97-AF65-F5344CB8AC3E}">
        <p14:creationId xmlns:p14="http://schemas.microsoft.com/office/powerpoint/2010/main" val="8551443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10/11/2025</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4407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3457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28950" y="284481"/>
            <a:ext cx="4458249" cy="4320310"/>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428950" y="4870174"/>
            <a:ext cx="3856735" cy="1033669"/>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428950"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01064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929449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5201704"/>
            <a:ext cx="11213593" cy="786384"/>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71760"/>
            <a:ext cx="11213593"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710AE426-CBD1-49BA-A1DA-945CCEE2ED80}" type="datetimeFigureOut">
              <a:rPr lang="en-US" smtClean="0"/>
              <a:t>10/11/2025</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511938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10280809" cy="4572000"/>
          </a:xfrm>
        </p:spPr>
        <p:txBody>
          <a:bodyPr vert="horz" lIns="91440" tIns="45720" rIns="91440" bIns="45720" rtlCol="0" anchor="t">
            <a:normAutofit/>
          </a:bodyPr>
          <a:lstStyle>
            <a:lvl1pPr>
              <a:defRPr lang="en-US" sz="7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1469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88991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9899809" cy="4572000"/>
          </a:xfrm>
        </p:spPr>
        <p:txBody>
          <a:bodyPr vert="horz" lIns="91440" tIns="45720" rIns="91440" bIns="45720" rtlCol="0" anchor="t">
            <a:normAutofit/>
          </a:bodyPr>
          <a:lstStyle>
            <a:lvl1pPr>
              <a:defRPr lang="en-US" sz="7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691048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52600" y="1447800"/>
            <a:ext cx="8686800" cy="2491655"/>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5947171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77018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51003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1742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96846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36034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856747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50111"/>
            <a:ext cx="3496147" cy="494066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39179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04473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66315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09600"/>
            <a:ext cx="6339541"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lstStyle/>
          <a:p>
            <a:fld id="{710AE426-CBD1-49BA-A1DA-945CCEE2ED80}" type="datetimeFigureOut">
              <a:rPr lang="en-US" smtClean="0"/>
              <a:t>10/11/2025</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15643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10/11/2025</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7953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69726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23332"/>
            <a:ext cx="4477512" cy="132893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57338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4871521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27848" y="425503"/>
            <a:ext cx="3657600" cy="166722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296028"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27848" y="2315569"/>
            <a:ext cx="3657600"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918704" y="6343955"/>
            <a:ext cx="230005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237019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941108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546115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0B3A8078-5A32-4B09-ABA5-7ABEFD22E08A}"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4265092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2727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98928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80735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3014218" cy="2019782"/>
          </a:xfrm>
        </p:spPr>
        <p:txBody>
          <a:bodyPr vert="horz" lIns="91440" tIns="45720" rIns="91440" bIns="45720" rtlCol="0" anchor="t">
            <a:normAutofit/>
          </a:bodyPr>
          <a:lstStyle>
            <a:lvl1pPr>
              <a:defRPr lang="en-US" sz="25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1064" y="1"/>
            <a:ext cx="10734656" cy="326003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680652"/>
            <a:ext cx="7460029" cy="255878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0607471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vert="horz" lIns="91440" tIns="45720" rIns="91440" bIns="45720" rtlCol="0" anchor="t">
            <a:normAutofit/>
          </a:bodyPr>
          <a:lstStyle>
            <a:lvl1pPr>
              <a:defRPr lang="en-US" sz="25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0B3A8078-5A32-4B09-ABA5-7ABEFD22E08A}"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720475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12912"/>
            <a:ext cx="4485564" cy="4613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p:spPr>
        <p:txBody>
          <a:bodyPr/>
          <a:lstStyle/>
          <a:p>
            <a:fld id="{0B3A8078-5A32-4B09-ABA5-7ABEFD22E08A}" type="slidenum">
              <a:rPr lang="en-US" smtClean="0"/>
              <a:t>‹#›</a:t>
            </a:fld>
            <a:endParaRPr lang="en-US"/>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5659438" y="1712913"/>
            <a:ext cx="6532562" cy="5145087"/>
          </a:xfrm>
          <a:blipFill dpi="0" rotWithShape="1">
            <a:blip r:embed="rId3">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08883885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804238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0" y="1712913"/>
            <a:ext cx="6532563" cy="5145087"/>
          </a:xfrm>
          <a:blipFill>
            <a:blip r:embed="rId2">
              <a:alphaModFix amt="6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2911"/>
            <a:ext cx="4479145" cy="4617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586297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76911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vert="horz" lIns="91440" tIns="45720" rIns="91440" bIns="45720" rtlCol="0" anchor="t">
            <a:normAutofit/>
          </a:bodyPr>
          <a:lstStyle>
            <a:lvl1pPr>
              <a:defRPr lang="en-US" sz="25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895859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272375390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953000"/>
            <a:ext cx="9762068" cy="1236133"/>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87400"/>
            <a:ext cx="10543032" cy="4682067"/>
          </a:xfrm>
        </p:spPr>
        <p:txBody>
          <a:bodyPr anchor="b">
            <a:normAutofit/>
          </a:bodyPr>
          <a:lstStyle>
            <a:lvl1pPr marL="0" indent="0" algn="ctr">
              <a:lnSpc>
                <a:spcPct val="90000"/>
              </a:lnSpc>
              <a:buNone/>
              <a:defRPr sz="33500" b="1">
                <a:solidFill>
                  <a:schemeClr val="tx1"/>
                </a:solidFill>
                <a:latin typeface="+mj-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42587186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accent1">
                    <a:lumMod val="75000"/>
                  </a:schemeClr>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accent1">
                    <a:lumMod val="75000"/>
                  </a:schemeClr>
                </a:solidFill>
                <a:latin typeface="+mj-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654211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269323"/>
          </a:xfrm>
        </p:spPr>
        <p:txBody>
          <a:bodyPr>
            <a:normAutofit/>
          </a:bodyPr>
          <a:lstStyle>
            <a:lvl1pPr algn="ctr">
              <a:lnSpc>
                <a:spcPct val="110000"/>
              </a:lnSpc>
              <a:defRPr sz="2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16282"/>
            <a:ext cx="10543032" cy="4206240"/>
          </a:xfrm>
        </p:spPr>
        <p:txBody>
          <a:bodyPr anchor="b">
            <a:normAutofit/>
          </a:bodyPr>
          <a:lstStyle>
            <a:lvl1pPr marL="0" indent="0" algn="ctr">
              <a:lnSpc>
                <a:spcPct val="90000"/>
              </a:lnSpc>
              <a:buNone/>
              <a:defRPr sz="278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6334833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65518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5" y="42335"/>
            <a:ext cx="11517038"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983032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137160"/>
            <a:ext cx="2805405" cy="365125"/>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37160"/>
            <a:ext cx="2202644" cy="365125"/>
          </a:xfrm>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37160"/>
            <a:ext cx="429207" cy="365125"/>
          </a:xfrm>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5" y="755374"/>
            <a:ext cx="10872216" cy="6019229"/>
          </a:xfrm>
        </p:spPr>
        <p:txBody>
          <a:bodyPr anchor="b">
            <a:normAutofit/>
          </a:bodyPr>
          <a:lstStyle>
            <a:lvl1pPr marL="0" indent="0">
              <a:lnSpc>
                <a:spcPct val="90000"/>
              </a:lnSpc>
              <a:buNone/>
              <a:defRPr sz="7200" b="1"/>
            </a:lvl1pPr>
            <a:lvl2pPr marL="228600" indent="0">
              <a:lnSpc>
                <a:spcPct val="90000"/>
              </a:lnSpc>
              <a:buNone/>
              <a:defRPr sz="6600" b="1"/>
            </a:lvl2pPr>
            <a:lvl3pPr marL="457200" indent="0">
              <a:lnSpc>
                <a:spcPct val="90000"/>
              </a:lnSpc>
              <a:buNone/>
              <a:defRPr sz="6000" b="1"/>
            </a:lvl3pPr>
            <a:lvl4pPr marL="685800" indent="0">
              <a:lnSpc>
                <a:spcPct val="90000"/>
              </a:lnSpc>
              <a:buNone/>
              <a:defRPr sz="5400" b="1"/>
            </a:lvl4pPr>
            <a:lvl5pPr marL="914400" indent="0">
              <a:lnSpc>
                <a:spcPct val="90000"/>
              </a:lnSpc>
              <a:buNone/>
              <a:defRPr sz="48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63725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1033272"/>
            <a:ext cx="10972800" cy="4782312"/>
          </a:xfrm>
        </p:spPr>
        <p:txBody>
          <a:bodyPr anchor="ctr">
            <a:noAutofit/>
          </a:bodyPr>
          <a:lstStyle>
            <a:lvl1pPr marL="0" indent="0">
              <a:lnSpc>
                <a:spcPct val="100000"/>
              </a:lnSpc>
              <a:buNone/>
              <a:defRPr sz="8000" b="1">
                <a:solidFill>
                  <a:schemeClr val="accent1">
                    <a:lumMod val="75000"/>
                  </a:schemeClr>
                </a:solidFill>
              </a:defRPr>
            </a:lvl1pPr>
            <a:lvl2pPr marL="228600" indent="0">
              <a:lnSpc>
                <a:spcPct val="100000"/>
              </a:lnSpc>
              <a:buNone/>
              <a:defRPr sz="8000" b="1">
                <a:solidFill>
                  <a:schemeClr val="accent1">
                    <a:lumMod val="75000"/>
                  </a:schemeClr>
                </a:solidFill>
              </a:defRPr>
            </a:lvl2pPr>
            <a:lvl3pPr marL="457200" indent="0">
              <a:lnSpc>
                <a:spcPct val="100000"/>
              </a:lnSpc>
              <a:buNone/>
              <a:defRPr sz="8000" b="1">
                <a:solidFill>
                  <a:schemeClr val="accent1">
                    <a:lumMod val="75000"/>
                  </a:schemeClr>
                </a:solidFill>
              </a:defRPr>
            </a:lvl3pPr>
            <a:lvl4pPr marL="685800" indent="0">
              <a:lnSpc>
                <a:spcPct val="100000"/>
              </a:lnSpc>
              <a:buNone/>
              <a:defRPr sz="8000" b="1">
                <a:solidFill>
                  <a:schemeClr val="accent1">
                    <a:lumMod val="75000"/>
                  </a:schemeClr>
                </a:solidFill>
              </a:defRPr>
            </a:lvl4pPr>
            <a:lvl5pPr marL="914400" indent="0">
              <a:lnSpc>
                <a:spcPct val="100000"/>
              </a:lnSpc>
              <a:buNone/>
              <a:defRPr sz="8000" b="1">
                <a:solidFill>
                  <a:schemeClr val="accent1">
                    <a:lumMod val="75000"/>
                  </a:schemeClr>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609685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8" y="45720"/>
            <a:ext cx="10872216" cy="6172200"/>
          </a:xfrm>
        </p:spPr>
        <p:txBody>
          <a:bodyPr vert="horz" lIns="91440" tIns="45720" rIns="91440" bIns="45720" rtlCol="0" anchor="t">
            <a:normAutofit/>
          </a:bodyPr>
          <a:lstStyle>
            <a:lvl1pPr marL="0" indent="0">
              <a:lnSpc>
                <a:spcPct val="90000"/>
              </a:lnSpc>
              <a:buNone/>
              <a:defRPr lang="en-US" sz="7200" b="1" dirty="0"/>
            </a:lvl1pPr>
            <a:lvl2pPr marL="228600" indent="0">
              <a:lnSpc>
                <a:spcPct val="90000"/>
              </a:lnSpc>
              <a:buNone/>
              <a:defRPr lang="en-US" sz="6600" b="1" dirty="0"/>
            </a:lvl2pPr>
            <a:lvl3pPr marL="457200" indent="0">
              <a:lnSpc>
                <a:spcPct val="90000"/>
              </a:lnSpc>
              <a:buNone/>
              <a:defRPr lang="en-US" sz="6000" b="1" dirty="0"/>
            </a:lvl3pPr>
            <a:lvl4pPr marL="685800" indent="0">
              <a:lnSpc>
                <a:spcPct val="90000"/>
              </a:lnSpc>
              <a:buNone/>
              <a:defRPr lang="en-US" sz="5400" b="1" dirty="0"/>
            </a:lvl4pPr>
            <a:lvl5pPr marL="914400" indent="0">
              <a:lnSpc>
                <a:spcPct val="90000"/>
              </a:lnSpc>
              <a:buNone/>
              <a:defRPr lang="en-US" sz="4800" b="1" dirty="0"/>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847326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4284796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r">
              <a:lnSpc>
                <a:spcPct val="120000"/>
              </a:lnSpc>
              <a:defRPr sz="2000" spc="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nSpc>
                <a:spcPct val="100000"/>
              </a:lnSpc>
              <a:spcBef>
                <a:spcPts val="0"/>
              </a:spcBef>
              <a:buNone/>
              <a:defRPr sz="4800">
                <a:latin typeface="+mj-lt"/>
              </a:defRPr>
            </a:lvl1pPr>
          </a:lstStyle>
          <a:p>
            <a:pPr lvl="0"/>
            <a:r>
              <a:rPr lang="en-US"/>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2417107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53728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029734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421479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68204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5225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13232"/>
            <a:ext cx="3595634" cy="162532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625781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13232"/>
            <a:ext cx="3595634" cy="17620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713232"/>
            <a:ext cx="6139637" cy="5458968"/>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848688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9248582"/>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5275715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83530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1B421-E6D9-CD92-9F7C-10D2997FB71D}"/>
              </a:ext>
            </a:extLst>
          </p:cNvPr>
          <p:cNvSpPr>
            <a:spLocks noGrp="1"/>
          </p:cNvSpPr>
          <p:nvPr>
            <p:ph type="ctrTitle"/>
          </p:nvPr>
        </p:nvSpPr>
        <p:spPr>
          <a:xfrm>
            <a:off x="7428950" y="284481"/>
            <a:ext cx="4458249" cy="4320310"/>
          </a:xfrm>
        </p:spPr>
        <p:txBody>
          <a:bodyPr anchor="t">
            <a:normAutofit/>
          </a:bodyPr>
          <a:lstStyle/>
          <a:p>
            <a:r>
              <a:rPr lang="en-US" sz="4100"/>
              <a:t>Foot Traffic and Dwell Time Trends at Office Supply Stores During the Remote Work Shift</a:t>
            </a:r>
          </a:p>
        </p:txBody>
      </p:sp>
      <p:sp>
        <p:nvSpPr>
          <p:cNvPr id="3" name="Subtitle 2">
            <a:extLst>
              <a:ext uri="{FF2B5EF4-FFF2-40B4-BE49-F238E27FC236}">
                <a16:creationId xmlns:a16="http://schemas.microsoft.com/office/drawing/2014/main" id="{FF27A619-93AB-3F08-BCBD-D5D40004FFF3}"/>
              </a:ext>
            </a:extLst>
          </p:cNvPr>
          <p:cNvSpPr>
            <a:spLocks noGrp="1"/>
          </p:cNvSpPr>
          <p:nvPr>
            <p:ph type="subTitle" idx="1"/>
          </p:nvPr>
        </p:nvSpPr>
        <p:spPr>
          <a:xfrm>
            <a:off x="7428950" y="4870174"/>
            <a:ext cx="3856735" cy="1033669"/>
          </a:xfrm>
        </p:spPr>
        <p:txBody>
          <a:bodyPr anchor="b">
            <a:normAutofit/>
          </a:bodyPr>
          <a:lstStyle/>
          <a:p>
            <a:r>
              <a:rPr lang="en-US"/>
              <a:t>Analyzing visitor behavior changes amid remote work trends</a:t>
            </a:r>
          </a:p>
        </p:txBody>
      </p:sp>
      <p:pic>
        <p:nvPicPr>
          <p:cNvPr id="4" name="Picture 3" descr="Man in denim jacket and hoodie">
            <a:extLst>
              <a:ext uri="{FF2B5EF4-FFF2-40B4-BE49-F238E27FC236}">
                <a16:creationId xmlns:a16="http://schemas.microsoft.com/office/drawing/2014/main" id="{84AD9365-CFC0-49EA-8D61-77D1E978CE88}"/>
              </a:ext>
            </a:extLst>
          </p:cNvPr>
          <p:cNvPicPr>
            <a:picLocks noChangeAspect="1"/>
          </p:cNvPicPr>
          <p:nvPr/>
        </p:nvPicPr>
        <p:blipFill>
          <a:blip r:embed="rId3"/>
          <a:srcRect r="29962" b="-1"/>
          <a:stretch>
            <a:fillRect/>
          </a:stretch>
        </p:blipFill>
        <p:spPr>
          <a:xfrm>
            <a:off x="20" y="10"/>
            <a:ext cx="7195655" cy="685799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noFill/>
        </p:spPr>
      </p:pic>
    </p:spTree>
    <p:extLst>
      <p:ext uri="{BB962C8B-B14F-4D97-AF65-F5344CB8AC3E}">
        <p14:creationId xmlns:p14="http://schemas.microsoft.com/office/powerpoint/2010/main" val="2001546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04ED2-F5DE-01D0-2F8A-748BBE65B5EF}"/>
              </a:ext>
            </a:extLst>
          </p:cNvPr>
          <p:cNvSpPr>
            <a:spLocks noGrp="1"/>
          </p:cNvSpPr>
          <p:nvPr>
            <p:ph type="title"/>
          </p:nvPr>
        </p:nvSpPr>
        <p:spPr>
          <a:xfrm>
            <a:off x="612647" y="475488"/>
            <a:ext cx="6858000" cy="932688"/>
          </a:xfrm>
        </p:spPr>
        <p:txBody>
          <a:bodyPr anchor="b">
            <a:normAutofit/>
          </a:bodyPr>
          <a:lstStyle/>
          <a:p>
            <a:r>
              <a:rPr lang="en-US"/>
              <a:t>Research Questions &amp; Context</a:t>
            </a:r>
          </a:p>
        </p:txBody>
      </p:sp>
      <p:sp>
        <p:nvSpPr>
          <p:cNvPr id="4" name="Content Placeholder 3">
            <a:extLst>
              <a:ext uri="{FF2B5EF4-FFF2-40B4-BE49-F238E27FC236}">
                <a16:creationId xmlns:a16="http://schemas.microsoft.com/office/drawing/2014/main" id="{5D1AE63B-10E4-F5D3-7C78-05D624A8237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b="1"/>
              <a:t>Foot Traffic and Dwell Time Trends</a:t>
            </a:r>
          </a:p>
          <a:p>
            <a:pPr marL="0" lvl="1" indent="0">
              <a:buFont typeface="Arial" panose="020B0604020202020204" pitchFamily="34" charset="0"/>
              <a:buNone/>
            </a:pPr>
            <a:r>
              <a:t>Examines weekly changes in store visits and time spent during the first four months of 2020 amid remote work transitions.</a:t>
            </a:r>
            <a:endParaRPr lang="en-US"/>
          </a:p>
          <a:p>
            <a:pPr marL="0" indent="0">
              <a:spcBef>
                <a:spcPts val="2500"/>
              </a:spcBef>
              <a:buFont typeface="Arial" panose="020B0604020202020204" pitchFamily="34" charset="0"/>
              <a:buNone/>
            </a:pPr>
            <a:r>
              <a:rPr lang="en-US" b="1"/>
              <a:t>Urban vs Suburban Visit Patterns</a:t>
            </a:r>
          </a:p>
          <a:p>
            <a:pPr marL="0" lvl="1" indent="0">
              <a:buFont typeface="Arial" panose="020B0604020202020204" pitchFamily="34" charset="0"/>
              <a:buNone/>
            </a:pPr>
            <a:r>
              <a:t>Analyzes whether suburban counties saw stronger increases in visits compared to urban centers during the remote work shift.</a:t>
            </a:r>
            <a:endParaRPr lang="en-US"/>
          </a:p>
          <a:p>
            <a:pPr marL="0" indent="0">
              <a:spcBef>
                <a:spcPts val="2500"/>
              </a:spcBef>
              <a:buFont typeface="Arial" panose="020B0604020202020204" pitchFamily="34" charset="0"/>
              <a:buNone/>
            </a:pPr>
            <a:r>
              <a:rPr lang="en-US" b="1"/>
              <a:t>Brand Stability and Consumer Loyalty</a:t>
            </a:r>
          </a:p>
          <a:p>
            <a:pPr marL="0" lvl="1" indent="0">
              <a:buFont typeface="Arial" panose="020B0604020202020204" pitchFamily="34" charset="0"/>
              <a:buNone/>
            </a:pPr>
            <a:r>
              <a:t>Studies how certain office supply brands stabilized faster in visits and dwell times indicating brand loyalty and essential purchasing.</a:t>
            </a:r>
            <a:endParaRPr lang="en-US"/>
          </a:p>
          <a:p>
            <a:pPr marL="0" indent="0">
              <a:spcBef>
                <a:spcPts val="2500"/>
              </a:spcBef>
              <a:buFont typeface="Arial" panose="020B0604020202020204" pitchFamily="34" charset="0"/>
              <a:buNone/>
            </a:pPr>
            <a:r>
              <a:rPr lang="en-US" b="1"/>
              <a:t>Data Sources and Demographics</a:t>
            </a:r>
          </a:p>
          <a:p>
            <a:pPr marL="0" lvl="1" indent="0">
              <a:buFont typeface="Arial" panose="020B0604020202020204" pitchFamily="34" charset="0"/>
              <a:buNone/>
            </a:pPr>
            <a:r>
              <a:t>Utilizes SafeGraph data, RUCA codes, and demographic variables to contextualize consumer behavior and intent.</a:t>
            </a:r>
            <a:endParaRPr lang="en-US"/>
          </a:p>
        </p:txBody>
      </p:sp>
      <p:pic>
        <p:nvPicPr>
          <p:cNvPr id="5" name="Content Placeholder 4" descr="3D illustration.">
            <a:extLst>
              <a:ext uri="{FF2B5EF4-FFF2-40B4-BE49-F238E27FC236}">
                <a16:creationId xmlns:a16="http://schemas.microsoft.com/office/drawing/2014/main" id="{10F27CD6-41C5-49B6-9EA7-4B802889D1DB}"/>
              </a:ext>
            </a:extLst>
          </p:cNvPr>
          <p:cNvPicPr>
            <a:picLocks noGrp="1" noChangeAspect="1"/>
          </p:cNvPicPr>
          <p:nvPr>
            <p:ph type="pic" sz="quarter" idx="13"/>
          </p:nvPr>
        </p:nvPicPr>
        <p:blipFill>
          <a:blip r:embed="rId3"/>
          <a:srcRect l="15157" r="40002"/>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27669584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17201-5E8D-F4E7-CF3B-AD6253880212}"/>
              </a:ext>
            </a:extLst>
          </p:cNvPr>
          <p:cNvSpPr>
            <a:spLocks noGrp="1"/>
          </p:cNvSpPr>
          <p:nvPr>
            <p:ph type="title"/>
          </p:nvPr>
        </p:nvSpPr>
        <p:spPr>
          <a:xfrm>
            <a:off x="7094553" y="423332"/>
            <a:ext cx="4477512" cy="1328932"/>
          </a:xfrm>
        </p:spPr>
        <p:txBody>
          <a:bodyPr anchor="b">
            <a:normAutofit/>
          </a:bodyPr>
          <a:lstStyle/>
          <a:p>
            <a:r>
              <a:rPr lang="en-US"/>
              <a:t>Methodology</a:t>
            </a:r>
          </a:p>
        </p:txBody>
      </p:sp>
      <p:pic>
        <p:nvPicPr>
          <p:cNvPr id="5" name="Content Placeholder 4" descr="Shot of a businessman looking thoughtfully at a graph against a white background">
            <a:extLst>
              <a:ext uri="{FF2B5EF4-FFF2-40B4-BE49-F238E27FC236}">
                <a16:creationId xmlns:a16="http://schemas.microsoft.com/office/drawing/2014/main" id="{DB3EF28B-0388-4433-A06B-6198637F1803}"/>
              </a:ext>
            </a:extLst>
          </p:cNvPr>
          <p:cNvPicPr>
            <a:picLocks noGrp="1" noChangeAspect="1"/>
          </p:cNvPicPr>
          <p:nvPr>
            <p:ph type="pic" sz="quarter" idx="13"/>
          </p:nvPr>
        </p:nvPicPr>
        <p:blipFill>
          <a:blip r:embed="rId3"/>
          <a:srcRect r="36809" b="-1"/>
          <a:stretch>
            <a:fillRect/>
          </a:stretch>
        </p:blipFill>
        <p:spPr>
          <a:xfrm>
            <a:off x="1" y="10"/>
            <a:ext cx="6492240" cy="6857990"/>
          </a:xfrm>
          <a:prstGeom prst="rect">
            <a:avLst/>
          </a:prstGeom>
          <a:noFill/>
        </p:spPr>
      </p:pic>
      <p:sp>
        <p:nvSpPr>
          <p:cNvPr id="4" name="Content Placeholder 3">
            <a:extLst>
              <a:ext uri="{FF2B5EF4-FFF2-40B4-BE49-F238E27FC236}">
                <a16:creationId xmlns:a16="http://schemas.microsoft.com/office/drawing/2014/main" id="{91204E89-79E6-2772-2A97-EE2AE81199F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4889" y="1975104"/>
            <a:ext cx="4477512" cy="4282573"/>
          </a:xfrm>
        </p:spPr>
        <p:txBody>
          <a:bodyPr>
            <a:normAutofit/>
          </a:bodyPr>
          <a:lstStyle/>
          <a:p>
            <a:pPr marL="0" indent="0">
              <a:spcBef>
                <a:spcPts val="2500"/>
              </a:spcBef>
              <a:buFont typeface="Arial" panose="020B0604020202020204" pitchFamily="34" charset="0"/>
              <a:buNone/>
            </a:pPr>
            <a:r>
              <a:rPr lang="en-US" b="1"/>
              <a:t>Data Sources and Classification</a:t>
            </a:r>
          </a:p>
          <a:p>
            <a:pPr marL="0" lvl="1" indent="0">
              <a:buFont typeface="Arial" panose="020B0604020202020204" pitchFamily="34" charset="0"/>
              <a:buNone/>
            </a:pPr>
            <a:r>
              <a:t>The study integrates SafeGraph foot traffic data and 2020 RUCA codes to classify urban, suburban, and rural counties.</a:t>
            </a:r>
            <a:endParaRPr lang="en-US"/>
          </a:p>
          <a:p>
            <a:pPr marL="0" indent="0">
              <a:spcBef>
                <a:spcPts val="2500"/>
              </a:spcBef>
              <a:buFont typeface="Arial" panose="020B0604020202020204" pitchFamily="34" charset="0"/>
              <a:buNone/>
            </a:pPr>
            <a:r>
              <a:rPr lang="en-US" b="1"/>
              <a:t>Demographic Influences</a:t>
            </a:r>
          </a:p>
          <a:p>
            <a:pPr marL="0" lvl="1" indent="0">
              <a:buFont typeface="Arial" panose="020B0604020202020204" pitchFamily="34" charset="0"/>
              <a:buNone/>
            </a:pPr>
            <a:r>
              <a:t>Demographic factors like education levels, working-age population, and household density influence store visits and engagement.</a:t>
            </a:r>
            <a:endParaRPr lang="en-US"/>
          </a:p>
          <a:p>
            <a:pPr marL="0" indent="0">
              <a:spcBef>
                <a:spcPts val="2500"/>
              </a:spcBef>
              <a:buFont typeface="Arial" panose="020B0604020202020204" pitchFamily="34" charset="0"/>
              <a:buNone/>
            </a:pPr>
            <a:r>
              <a:rPr lang="en-US" b="1"/>
              <a:t>Trend Analysis and Correlations</a:t>
            </a:r>
          </a:p>
          <a:p>
            <a:pPr marL="0" lvl="1" indent="0">
              <a:buFont typeface="Arial" panose="020B0604020202020204" pitchFamily="34" charset="0"/>
              <a:buNone/>
            </a:pPr>
            <a:r>
              <a:t>Weekly foot traffic and dwell time trends from January to April 2020 reveal brand recovery and correlations with demographics.</a:t>
            </a:r>
            <a:endParaRPr lang="en-US"/>
          </a:p>
        </p:txBody>
      </p:sp>
    </p:spTree>
    <p:extLst>
      <p:ext uri="{BB962C8B-B14F-4D97-AF65-F5344CB8AC3E}">
        <p14:creationId xmlns:p14="http://schemas.microsoft.com/office/powerpoint/2010/main" val="31267314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7B7E-CB20-877E-8C0A-46E066297932}"/>
              </a:ext>
            </a:extLst>
          </p:cNvPr>
          <p:cNvSpPr>
            <a:spLocks noGrp="1"/>
          </p:cNvSpPr>
          <p:nvPr>
            <p:ph type="title"/>
          </p:nvPr>
        </p:nvSpPr>
        <p:spPr>
          <a:xfrm>
            <a:off x="612647" y="475488"/>
            <a:ext cx="6858000" cy="932688"/>
          </a:xfrm>
        </p:spPr>
        <p:txBody>
          <a:bodyPr anchor="b">
            <a:normAutofit/>
          </a:bodyPr>
          <a:lstStyle/>
          <a:p>
            <a:r>
              <a:rPr lang="en-US"/>
              <a:t>Key Findings</a:t>
            </a:r>
          </a:p>
        </p:txBody>
      </p:sp>
      <p:sp>
        <p:nvSpPr>
          <p:cNvPr id="4" name="Content Placeholder 3">
            <a:extLst>
              <a:ext uri="{FF2B5EF4-FFF2-40B4-BE49-F238E27FC236}">
                <a16:creationId xmlns:a16="http://schemas.microsoft.com/office/drawing/2014/main" id="{CD2C2ADA-36CC-0D48-6F8C-A3CECD9B4CA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b="1"/>
              <a:t>Dominant Brands and Foot Traffic</a:t>
            </a:r>
          </a:p>
          <a:p>
            <a:pPr marL="0" lvl="1" indent="0">
              <a:buFont typeface="Arial" panose="020B0604020202020204" pitchFamily="34" charset="0"/>
              <a:buNone/>
            </a:pPr>
            <a:r>
              <a:t>Staples and Office Depot led in foot traffic, with Staples rebounding fastest by Week 17, reflecting strong brand loyalty.</a:t>
            </a:r>
            <a:endParaRPr lang="en-US"/>
          </a:p>
          <a:p>
            <a:pPr marL="0" indent="0">
              <a:spcBef>
                <a:spcPts val="2500"/>
              </a:spcBef>
              <a:buFont typeface="Arial" panose="020B0604020202020204" pitchFamily="34" charset="0"/>
              <a:buNone/>
            </a:pPr>
            <a:r>
              <a:rPr lang="en-US" b="1"/>
              <a:t>Specialty Stores and Dwell Time</a:t>
            </a:r>
          </a:p>
          <a:p>
            <a:pPr marL="0" lvl="1" indent="0">
              <a:buFont typeface="Arial" panose="020B0604020202020204" pitchFamily="34" charset="0"/>
              <a:buNone/>
            </a:pPr>
            <a:r>
              <a:t>Specialty stores like Papyrus and Rapid Refill had fewer visitors but longer dwell times, indicating focused, high-intent purchases.</a:t>
            </a:r>
            <a:endParaRPr lang="en-US"/>
          </a:p>
          <a:p>
            <a:pPr marL="0" indent="0">
              <a:spcBef>
                <a:spcPts val="2500"/>
              </a:spcBef>
              <a:buFont typeface="Arial" panose="020B0604020202020204" pitchFamily="34" charset="0"/>
              <a:buNone/>
            </a:pPr>
            <a:r>
              <a:rPr lang="en-US" b="1"/>
              <a:t>Suburban vs Urban Engagement</a:t>
            </a:r>
          </a:p>
          <a:p>
            <a:pPr marL="0" lvl="1" indent="0">
              <a:buFont typeface="Arial" panose="020B0604020202020204" pitchFamily="34" charset="0"/>
              <a:buNone/>
            </a:pPr>
            <a:r>
              <a:t>Suburban counties showed highest engagement and fastest recovery; urban areas had slightly fewer visits but similar dwell times.</a:t>
            </a:r>
            <a:endParaRPr lang="en-US"/>
          </a:p>
          <a:p>
            <a:pPr marL="0" indent="0">
              <a:spcBef>
                <a:spcPts val="2500"/>
              </a:spcBef>
              <a:buFont typeface="Arial" panose="020B0604020202020204" pitchFamily="34" charset="0"/>
              <a:buNone/>
            </a:pPr>
            <a:r>
              <a:rPr lang="en-US" b="1"/>
              <a:t>Demographic Impact on Shopping</a:t>
            </a:r>
          </a:p>
          <a:p>
            <a:pPr marL="0" lvl="1" indent="0">
              <a:buFont typeface="Arial" panose="020B0604020202020204" pitchFamily="34" charset="0"/>
              <a:buNone/>
            </a:pPr>
            <a:r>
              <a:t>Regions with more degree holders had longer dwell times; dense working-age populations had shorter shopping durations.</a:t>
            </a:r>
            <a:endParaRPr lang="en-US"/>
          </a:p>
        </p:txBody>
      </p:sp>
      <p:pic>
        <p:nvPicPr>
          <p:cNvPr id="5" name="Content Placeholder 4" descr="Futuristic city with woman walking and electric cars, 3D generated image.">
            <a:extLst>
              <a:ext uri="{FF2B5EF4-FFF2-40B4-BE49-F238E27FC236}">
                <a16:creationId xmlns:a16="http://schemas.microsoft.com/office/drawing/2014/main" id="{04A512E9-7108-49EC-8848-73E290132EB0}"/>
              </a:ext>
            </a:extLst>
          </p:cNvPr>
          <p:cNvPicPr>
            <a:picLocks noGrp="1" noChangeAspect="1"/>
          </p:cNvPicPr>
          <p:nvPr>
            <p:ph type="pic" sz="quarter" idx="13"/>
          </p:nvPr>
        </p:nvPicPr>
        <p:blipFill>
          <a:blip r:embed="rId3"/>
          <a:srcRect l="17483" r="42608"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36626010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AC792-A860-B0EC-4666-C6A161E6BB1B}"/>
              </a:ext>
            </a:extLst>
          </p:cNvPr>
          <p:cNvSpPr>
            <a:spLocks noGrp="1"/>
          </p:cNvSpPr>
          <p:nvPr>
            <p:ph type="title"/>
          </p:nvPr>
        </p:nvSpPr>
        <p:spPr>
          <a:xfrm>
            <a:off x="7094553" y="423332"/>
            <a:ext cx="4477512" cy="1328932"/>
          </a:xfrm>
        </p:spPr>
        <p:txBody>
          <a:bodyPr anchor="b">
            <a:normAutofit/>
          </a:bodyPr>
          <a:lstStyle/>
          <a:p>
            <a:r>
              <a:rPr lang="en-US"/>
              <a:t>Conclusions</a:t>
            </a:r>
          </a:p>
        </p:txBody>
      </p:sp>
      <p:pic>
        <p:nvPicPr>
          <p:cNvPr id="5" name="Content Placeholder 4" descr="woman buys paint">
            <a:extLst>
              <a:ext uri="{FF2B5EF4-FFF2-40B4-BE49-F238E27FC236}">
                <a16:creationId xmlns:a16="http://schemas.microsoft.com/office/drawing/2014/main" id="{E1DC23E9-DC7F-47DB-B92A-7E6554ACF205}"/>
              </a:ext>
            </a:extLst>
          </p:cNvPr>
          <p:cNvPicPr>
            <a:picLocks noGrp="1" noChangeAspect="1"/>
          </p:cNvPicPr>
          <p:nvPr>
            <p:ph type="pic" sz="quarter" idx="13"/>
          </p:nvPr>
        </p:nvPicPr>
        <p:blipFill>
          <a:blip r:embed="rId3"/>
          <a:srcRect l="12142" r="25141" b="-1"/>
          <a:stretch>
            <a:fillRect/>
          </a:stretch>
        </p:blipFill>
        <p:spPr>
          <a:xfrm>
            <a:off x="1" y="10"/>
            <a:ext cx="6492240" cy="6857990"/>
          </a:xfrm>
          <a:prstGeom prst="rect">
            <a:avLst/>
          </a:prstGeom>
          <a:noFill/>
        </p:spPr>
      </p:pic>
      <p:sp>
        <p:nvSpPr>
          <p:cNvPr id="4" name="Content Placeholder 3">
            <a:extLst>
              <a:ext uri="{FF2B5EF4-FFF2-40B4-BE49-F238E27FC236}">
                <a16:creationId xmlns:a16="http://schemas.microsoft.com/office/drawing/2014/main" id="{8A29737E-9CA1-202C-9A80-4A20DD9CF0D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4889" y="1975104"/>
            <a:ext cx="4477512" cy="4282573"/>
          </a:xfrm>
        </p:spPr>
        <p:txBody>
          <a:bodyPr>
            <a:normAutofit/>
          </a:bodyPr>
          <a:lstStyle/>
          <a:p>
            <a:pPr marL="0" indent="0">
              <a:spcBef>
                <a:spcPts val="2500"/>
              </a:spcBef>
              <a:buFont typeface="Arial" panose="020B0604020202020204" pitchFamily="34" charset="0"/>
              <a:buNone/>
            </a:pPr>
            <a:r>
              <a:rPr lang="en-US" b="1"/>
              <a:t>Suburban Consumer Adaptation</a:t>
            </a:r>
          </a:p>
          <a:p>
            <a:pPr marL="0" lvl="1" indent="0">
              <a:buFont typeface="Arial" panose="020B0604020202020204" pitchFamily="34" charset="0"/>
              <a:buNone/>
            </a:pPr>
            <a:r>
              <a:t>Suburban consumers quickly adapted to remote work, boosting foot traffic and dwell times in office supply stores.</a:t>
            </a:r>
            <a:endParaRPr lang="en-US"/>
          </a:p>
          <a:p>
            <a:pPr marL="0" indent="0">
              <a:spcBef>
                <a:spcPts val="2500"/>
              </a:spcBef>
              <a:buFont typeface="Arial" panose="020B0604020202020204" pitchFamily="34" charset="0"/>
              <a:buNone/>
            </a:pPr>
            <a:r>
              <a:rPr lang="en-US" b="1"/>
              <a:t>Efficiency vs. Experience Shopping</a:t>
            </a:r>
          </a:p>
          <a:p>
            <a:pPr marL="0" lvl="1" indent="0">
              <a:buFont typeface="Arial" panose="020B0604020202020204" pitchFamily="34" charset="0"/>
              <a:buNone/>
            </a:pPr>
            <a:r>
              <a:t>Consumers showed a divide between quick, goal-oriented purchases and longer explorations in specialty stores.</a:t>
            </a:r>
            <a:endParaRPr lang="en-US"/>
          </a:p>
          <a:p>
            <a:pPr marL="0" indent="0">
              <a:spcBef>
                <a:spcPts val="2500"/>
              </a:spcBef>
              <a:buFont typeface="Arial" panose="020B0604020202020204" pitchFamily="34" charset="0"/>
              <a:buNone/>
            </a:pPr>
            <a:r>
              <a:rPr lang="en-US" b="1"/>
              <a:t>Tailored Retail Strategies</a:t>
            </a:r>
          </a:p>
          <a:p>
            <a:pPr marL="0" lvl="1" indent="0">
              <a:buFont typeface="Arial" panose="020B0604020202020204" pitchFamily="34" charset="0"/>
              <a:buNone/>
            </a:pPr>
            <a:r>
              <a:t>Retailers can optimize success by customizing store formats and services to local demographics and shopper needs.</a:t>
            </a:r>
            <a:endParaRPr lang="en-US"/>
          </a:p>
        </p:txBody>
      </p:sp>
    </p:spTree>
    <p:extLst>
      <p:ext uri="{BB962C8B-B14F-4D97-AF65-F5344CB8AC3E}">
        <p14:creationId xmlns:p14="http://schemas.microsoft.com/office/powerpoint/2010/main" val="20861051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0CEB72-9B64-43A4-9652-F0FED519FBF8}">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1E2DB56F-85EA-457A-BE7B-FD342652DFE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3B79205-1ECA-438E-AAC0-B28ABB0DD1E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Helena</Template>
  <Application>Microsoft Office PowerPoint</Application>
  <PresentationFormat>Widescreen</PresentationFormat>
  <Slides>5</Slides>
  <Notes>5</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Helena</vt:lpstr>
      <vt:lpstr>Foot Traffic and Dwell Time Trends at Office Supply Stores During the Remote Work Shift</vt:lpstr>
      <vt:lpstr>Research Questions &amp; Context</vt:lpstr>
      <vt:lpstr>Methodology</vt:lpstr>
      <vt:lpstr>Key Findings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2025-08-21T23:24:42Z</dcterms:created>
  <dcterms:modified xsi:type="dcterms:W3CDTF">2025-10-12T06:21:03Z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