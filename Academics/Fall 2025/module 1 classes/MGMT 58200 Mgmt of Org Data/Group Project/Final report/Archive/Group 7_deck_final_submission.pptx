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autoCompressPictures="0">
  <p:sldMasterIdLst>
    <p:sldMasterId id="2147483648" r:id="rId4"/>
  </p:sldMasterIdLst>
  <p:notesMasterIdLst>
    <p:notesMasterId r:id="rId14"/>
  </p:notesMasterIdLst>
  <p:sldIdLst>
    <p:sldId id="267" r:id="rId5"/>
    <p:sldId id="296" r:id="rId6"/>
    <p:sldId id="284" r:id="rId7"/>
    <p:sldId id="298" r:id="rId8"/>
    <p:sldId id="281" r:id="rId9"/>
    <p:sldId id="297" r:id="rId10"/>
    <p:sldId id="285" r:id="rId11"/>
    <p:sldId id="282" r:id="rId12"/>
    <p:sldId id="277" r:id="rId13"/>
  </p:sldIdLst>
  <p:sldSz cx="12192000" cy="6858000"/>
  <p:notesSz cx="6858000" cy="9144000"/>
  <p:embeddedFontLst>
    <p:embeddedFont>
      <p:font typeface="Acumin Pro Condensed Semibold" panose="020B0706020202020204" pitchFamily="34" charset="77"/>
      <p:regular r:id="rId15"/>
      <p:bold r:id="rId16"/>
      <p:italic r:id="rId17"/>
      <p:boldItalic r:id="rId18"/>
    </p:embeddedFont>
    <p:embeddedFont>
      <p:font typeface="Acumin Pro Medium" panose="020B0604020202020204" pitchFamily="34" charset="77"/>
      <p:regular r:id="rId19"/>
      <p:italic r:id="rId20"/>
    </p:embeddedFont>
    <p:embeddedFont>
      <p:font typeface="Franklin Gothic Book" panose="020B0503020102020204" pitchFamily="34" charset="0"/>
      <p:regular r:id="rId21"/>
      <p:italic r:id="rId22"/>
    </p:embeddedFont>
    <p:embeddedFont>
      <p:font typeface="Franklin Gothic Medium" panose="020B0603020102020204" pitchFamily="34" charset="0"/>
      <p:regular r:id="rId23"/>
      <p:italic r:id="rId24"/>
    </p:embeddedFont>
    <p:embeddedFont>
      <p:font typeface="Franklin Gothic Medium Cond" panose="020B0606030402020204" pitchFamily="3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0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6CE219-6CB4-4D82-2315-C217F06FFCCD}" name="Hiller, Kelly R" initials="HKR" userId="S::khiller@purdue.edu::b25b1487-7f5e-4b7f-a0b2-f8bcb0b1ea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B991"/>
    <a:srgbClr val="DDB945"/>
    <a:srgbClr val="EBD9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DE72E4-314F-8147-956E-B27A8E6F7EDC}" v="46" dt="2025-10-12T20:54:57.6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8"/>
    <p:restoredTop sz="96070"/>
  </p:normalViewPr>
  <p:slideViewPr>
    <p:cSldViewPr snapToGrid="0">
      <p:cViewPr varScale="1">
        <p:scale>
          <a:sx n="91" d="100"/>
          <a:sy n="91" d="100"/>
        </p:scale>
        <p:origin x="192" y="792"/>
      </p:cViewPr>
      <p:guideLst>
        <p:guide orient="horz" pos="1080"/>
        <p:guide pos="3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4.fntdata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font" Target="fonts/font7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0.fntdata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5.fntdata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6CF7-48D8-2F46-AFC8-8A5D2298DFDD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BF745-0557-B241-863F-056113C70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7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31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4511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6BDDE-68AB-A610-2C43-79A0E0CF0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CED7D2-9797-FA60-8EB5-7BA216571F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B40839-E449-D5F6-27B5-B8A2BCE765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5AA64-B1C5-3111-CA73-62C97DBC05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7098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urdue Logo" descr="Purdue Logo">
            <a:extLst>
              <a:ext uri="{FF2B5EF4-FFF2-40B4-BE49-F238E27FC236}">
                <a16:creationId xmlns:a16="http://schemas.microsoft.com/office/drawing/2014/main" id="{121060AA-930A-4F8F-D7F6-9CFE824946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7077" y="5756157"/>
            <a:ext cx="2709200" cy="484939"/>
          </a:xfrm>
          <a:prstGeom prst="rect">
            <a:avLst/>
          </a:prstGeom>
        </p:spPr>
      </p:pic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9954706" y="-9439"/>
            <a:ext cx="224672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257" y="2005070"/>
            <a:ext cx="7763458" cy="592834"/>
          </a:xfrm>
        </p:spPr>
        <p:txBody>
          <a:bodyPr>
            <a:noAutofit/>
          </a:bodyPr>
          <a:lstStyle>
            <a:lvl1pPr>
              <a:defRPr sz="5400" cap="none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3257" y="2629338"/>
            <a:ext cx="7763458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400" b="1" i="0">
                <a:solidFill>
                  <a:schemeClr val="bg2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6FFA1BC-72F9-9048-3E39-D300A3A6A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3257" y="3107129"/>
            <a:ext cx="7763458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fld id="{C7124C19-F609-8C4C-8116-78E353E3E672}" type="datetime1">
              <a:rPr lang="en-US" smtClean="0"/>
              <a:t>3/29/23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C3163-7E89-C90A-4497-846BA4987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52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BA4B2908-555F-78CD-D5EA-D087520FF3F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4143" y="5756156"/>
            <a:ext cx="2709200" cy="484940"/>
          </a:xfrm>
          <a:prstGeom prst="rect">
            <a:avLst/>
          </a:prstGeom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B1EEEEC0-D7E4-4DE5-4E3D-FAAD9ABA8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257" y="1812045"/>
            <a:ext cx="7763458" cy="719757"/>
          </a:xfrm>
        </p:spPr>
        <p:txBody>
          <a:bodyPr>
            <a:noAutofit/>
          </a:bodyPr>
          <a:lstStyle>
            <a:lvl1pPr>
              <a:defRPr sz="540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EDB9B8-C811-84E9-5F58-0130F3A805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3257" y="2617146"/>
            <a:ext cx="7763458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4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BF34A7-30DF-7BD2-A5A2-434BBF6672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3257" y="3148847"/>
            <a:ext cx="7763458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3/31/23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C8F108-1702-5F20-3D95-B2102374C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925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4176D92-8FAB-782E-E607-5D0C5CC9C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DAFB6-8BB6-ADBB-6574-5B0C25E7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72" y="4671391"/>
            <a:ext cx="11266714" cy="1401419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FF931D0-D7E7-D9E1-3CCC-83299A0922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8972" y="6085510"/>
            <a:ext cx="11266714" cy="4492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58661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9525"/>
            <a:ext cx="12192000" cy="6867525"/>
          </a:xfrm>
          <a:ln>
            <a:noFill/>
          </a:ln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FC2CE8-E7A7-5DA8-903C-7C61B21A6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21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D337403E-4A63-3B42-FC84-47BAEDD7A7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ECEF9E-3A6E-C6FF-42DA-EDF0D1D98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432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4454706"/>
          </a:xfrm>
        </p:spPr>
        <p:txBody>
          <a:bodyPr numCol="2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D337403E-4A63-3B42-FC84-47BAEDD7A7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85743F-DCAE-A9EE-5293-03DFB306B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9984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28D381-488B-4C1C-32F0-1D389C1FF7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8086" y="1543324"/>
            <a:ext cx="11266714" cy="445470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3" name="Purdue Logo" descr="Purdue Logo">
            <a:extLst>
              <a:ext uri="{FF2B5EF4-FFF2-40B4-BE49-F238E27FC236}">
                <a16:creationId xmlns:a16="http://schemas.microsoft.com/office/drawing/2014/main" id="{57E46A32-0E35-7B3E-4B6F-A7D50B076D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EE0A7E-143D-2A83-397F-55801DA0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65EE62C3-A7DA-7701-DE4B-C1A290C4FA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C54E73-61A3-FF0B-7F4C-17B1D97376A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903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086" y="1543324"/>
            <a:ext cx="5413169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449F3F-4187-E891-E28D-ABAA401181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09157" y="1543324"/>
            <a:ext cx="5425643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12" name="Purdue Logo" descr="Purdue Logo">
            <a:extLst>
              <a:ext uri="{FF2B5EF4-FFF2-40B4-BE49-F238E27FC236}">
                <a16:creationId xmlns:a16="http://schemas.microsoft.com/office/drawing/2014/main" id="{1187A0AE-82DF-15CC-71EB-814F9338E8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FC4CE19-DA95-2729-993D-BB0D45B6B5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9EA93-442C-59A0-2250-A5181989CDD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96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087" y="1543324"/>
            <a:ext cx="3507565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3" name="Purdue Logo" descr="Purdue Logo">
            <a:extLst>
              <a:ext uri="{FF2B5EF4-FFF2-40B4-BE49-F238E27FC236}">
                <a16:creationId xmlns:a16="http://schemas.microsoft.com/office/drawing/2014/main" id="{D9D56DBC-682D-9000-C377-A3E36338D7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D77F14-E88B-D0A5-6F63-E4DA45A7CD6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342217" y="1543323"/>
            <a:ext cx="3507565" cy="439033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95E987-1BAB-5DE6-3A52-75935C62985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243137" y="1543322"/>
            <a:ext cx="3507565" cy="439033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A31FF2-2F1A-7D0F-36B0-1773F6A9A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77EB8B-3A4C-F880-133B-94D59A7B36B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1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313" y="3652272"/>
            <a:ext cx="5469743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D337403E-4A63-3B42-FC84-47BAEDD7A7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1" y="1543323"/>
            <a:ext cx="546974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275945" y="1543323"/>
            <a:ext cx="5458727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64929" y="3652271"/>
            <a:ext cx="5469743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A7288C-38D9-0159-D0E4-B042D466D17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685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314" y="3652272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D337403E-4A63-3B42-FC84-47BAEDD7A7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2" y="1543323"/>
            <a:ext cx="3534479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336974" y="1543324"/>
            <a:ext cx="3527360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25959" y="3652272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8205605" y="1532307"/>
            <a:ext cx="3527360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47E27B2-1DE2-3469-81EF-9EBD7DC7AF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94590" y="3641255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47B2B3-AD22-934B-7901-EF00010BA35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7671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7402-16CB-60F1-259A-4E1A1619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2" y="457200"/>
            <a:ext cx="4314823" cy="96409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89552-EB9F-6D72-9130-E107C02C2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2" y="1570383"/>
            <a:ext cx="4314823" cy="429860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F6EAB8-D2BB-0BDE-C7AC-895B69CA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871" y="457200"/>
            <a:ext cx="6662927" cy="54117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3" name="Purdue Logo" descr="Purdue Logo">
            <a:extLst>
              <a:ext uri="{FF2B5EF4-FFF2-40B4-BE49-F238E27FC236}">
                <a16:creationId xmlns:a16="http://schemas.microsoft.com/office/drawing/2014/main" id="{821C840C-3AA9-6493-3A9D-CE82D8D492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6DC60-EE89-734D-242E-5043417AC8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90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hoto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99A83-2C12-9A72-A547-B9374C107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4" y="470037"/>
            <a:ext cx="4325711" cy="1034775"/>
          </a:xfrm>
        </p:spPr>
        <p:txBody>
          <a:bodyPr anchor="b"/>
          <a:lstStyle>
            <a:lvl1pPr fontAlgn="t"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70037"/>
            <a:ext cx="6562498" cy="5391013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6314" y="1759226"/>
            <a:ext cx="4325711" cy="4086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9" name="Purdue Logo" descr="Purdue Logo">
            <a:extLst>
              <a:ext uri="{FF2B5EF4-FFF2-40B4-BE49-F238E27FC236}">
                <a16:creationId xmlns:a16="http://schemas.microsoft.com/office/drawing/2014/main" id="{0369561B-6E0A-309C-13AF-C89F6E6E23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DC806-6E08-B58A-6B09-ECD209B759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3543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3" y="1543323"/>
            <a:ext cx="5458727" cy="431772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9" name="Purdue Logo" descr="Purdue Logo">
            <a:extLst>
              <a:ext uri="{FF2B5EF4-FFF2-40B4-BE49-F238E27FC236}">
                <a16:creationId xmlns:a16="http://schemas.microsoft.com/office/drawing/2014/main" id="{0369561B-6E0A-309C-13AF-C89F6E6E23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7832766-AA56-63AE-E2AA-9A294734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F92D672-5C11-B647-ADA7-722837BA86C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6286962" y="1543323"/>
            <a:ext cx="5458727" cy="431772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AFB8997-E903-BD34-CBB7-A70F3BD09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80C45-204B-0517-4FC2-236945E741B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1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8086" y="1543323"/>
            <a:ext cx="5862679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15759" y="1543322"/>
            <a:ext cx="5129927" cy="430757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9" name="Purdue Logo" descr="Purdue Logo">
            <a:extLst>
              <a:ext uri="{FF2B5EF4-FFF2-40B4-BE49-F238E27FC236}">
                <a16:creationId xmlns:a16="http://schemas.microsoft.com/office/drawing/2014/main" id="{0369561B-6E0A-309C-13AF-C89F6E6E23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3486577" y="3795304"/>
            <a:ext cx="2844188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68086" y="3795304"/>
            <a:ext cx="2844188" cy="205559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3C43D-3312-15BB-B055-F99C088EB6F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244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5428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9" name="Purdue Logo" descr="Purdue Logo">
            <a:extLst>
              <a:ext uri="{FF2B5EF4-FFF2-40B4-BE49-F238E27FC236}">
                <a16:creationId xmlns:a16="http://schemas.microsoft.com/office/drawing/2014/main" id="{0369561B-6E0A-309C-13AF-C89F6E6E23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57200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0A3B0E8-AC0D-A169-37E3-2D123D6EBF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325104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40970D8-E511-89A8-FC5C-6DB37485ADE3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8181729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B04B79A-B4BD-0306-3D46-D570E1F51CA6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4303332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50B4796-C4B7-C272-5ADD-7D6C896B703E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8181729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633AE4D-056F-FC97-1F10-877F247AB319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413656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19716662-3C77-F831-E45C-F9EA49810F58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435428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1ED1A14F-5E0D-476E-9C60-BD987EFC4940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4303332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0003A4C-26CB-DD7F-0B22-024AFB58DC6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8193008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08CE8D58-56A2-6AE5-AB18-C53F4134DD88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4281560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A4C2D1F-1A58-AC60-F606-B816E5F23FFF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8193008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924D92CB-DB6C-EEE8-BDA7-E3D7B06436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A2560-8530-94AA-9E7F-F5A56AB4E3D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330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D337403E-4A63-3B42-FC84-47BAEDD7A7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4" y="1542762"/>
            <a:ext cx="261101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34406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23655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223A017-A902-92C1-8A99-7D45B08D860D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912904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E352EAA-3DC6-450E-518D-B55638975EC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1843620" y="3651150"/>
            <a:ext cx="261101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E5E3807-051E-4D4B-1143-A6B4BDDBB5D8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4741369" y="3651150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659EF4B-6B57-DE2A-B33A-D60A659CFE6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7633859" y="3651150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B72767-6954-6B12-1677-BE947CE88EB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313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21986" y="1643073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9" name="Purdue Logo" descr="Purdue Logo">
            <a:extLst>
              <a:ext uri="{FF2B5EF4-FFF2-40B4-BE49-F238E27FC236}">
                <a16:creationId xmlns:a16="http://schemas.microsoft.com/office/drawing/2014/main" id="{0369561B-6E0A-309C-13AF-C89F6E6E23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521986" y="3884037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46315" y="1643073"/>
            <a:ext cx="5745165" cy="430757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A134D-7A3A-AD4B-91DF-57347E308706}"/>
              </a:ext>
            </a:extLst>
          </p:cNvPr>
          <p:cNvSpPr/>
          <p:nvPr userDrawn="1"/>
        </p:nvSpPr>
        <p:spPr>
          <a:xfrm>
            <a:off x="6521986" y="3395949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581B053-21C8-C0AD-58C7-637A6315D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21726" y="3395949"/>
            <a:ext cx="5212943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B2033E-9DB9-9A2B-D4C5-6D8960838D22}"/>
              </a:ext>
            </a:extLst>
          </p:cNvPr>
          <p:cNvSpPr/>
          <p:nvPr userDrawn="1"/>
        </p:nvSpPr>
        <p:spPr>
          <a:xfrm>
            <a:off x="6521856" y="5636913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02FFCFA-A84F-7535-4A5F-29A5FC6460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521726" y="5636913"/>
            <a:ext cx="5212813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C45827-5CB3-E873-7680-6D8C2AAB95D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527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21986" y="1643073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9" name="Purdue Logo" descr="Purdue Logo">
            <a:extLst>
              <a:ext uri="{FF2B5EF4-FFF2-40B4-BE49-F238E27FC236}">
                <a16:creationId xmlns:a16="http://schemas.microsoft.com/office/drawing/2014/main" id="{0369561B-6E0A-309C-13AF-C89F6E6E23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9287219" y="3884037"/>
            <a:ext cx="2447580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521986" y="3879120"/>
            <a:ext cx="2528916" cy="205559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46315" y="1643073"/>
            <a:ext cx="5745165" cy="430757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C4E08-5A51-BF4F-655E-4E54DD771548}"/>
              </a:ext>
            </a:extLst>
          </p:cNvPr>
          <p:cNvSpPr/>
          <p:nvPr userDrawn="1"/>
        </p:nvSpPr>
        <p:spPr>
          <a:xfrm>
            <a:off x="6521986" y="3395949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D80C23-74F3-F853-02BF-83C743039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71823" y="3395949"/>
            <a:ext cx="5162846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22EB8-4EFD-86A4-8EB8-8A4F1A1AA2DF}"/>
              </a:ext>
            </a:extLst>
          </p:cNvPr>
          <p:cNvSpPr/>
          <p:nvPr userDrawn="1"/>
        </p:nvSpPr>
        <p:spPr>
          <a:xfrm>
            <a:off x="6512818" y="5631997"/>
            <a:ext cx="251233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6A4B2AA-E0AE-18DD-BAA3-AF2A9CA6987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562654" y="5631997"/>
            <a:ext cx="2488248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B5CD1-FF93-2C9C-1BFF-73A3CE39E65D}"/>
              </a:ext>
            </a:extLst>
          </p:cNvPr>
          <p:cNvSpPr/>
          <p:nvPr userDrawn="1"/>
        </p:nvSpPr>
        <p:spPr>
          <a:xfrm>
            <a:off x="9287218" y="5641703"/>
            <a:ext cx="2431941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52272AC-9734-6D60-9441-B5E7B9E4E37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9337055" y="5641703"/>
            <a:ext cx="2408630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1CBD603-B977-E0E5-7C2E-C0061CD0B72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441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CFF414-FA47-F7EC-7EFB-7073E26BB831}"/>
              </a:ext>
            </a:extLst>
          </p:cNvPr>
          <p:cNvSpPr/>
          <p:nvPr userDrawn="1"/>
        </p:nvSpPr>
        <p:spPr>
          <a:xfrm>
            <a:off x="7938475" y="1315894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C0F4F-1E76-E3A4-E5AA-8FA79C7C69FB}"/>
              </a:ext>
            </a:extLst>
          </p:cNvPr>
          <p:cNvSpPr/>
          <p:nvPr userDrawn="1"/>
        </p:nvSpPr>
        <p:spPr>
          <a:xfrm>
            <a:off x="4420956" y="1315895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105CB-DECE-0616-2A57-776784CFC1CB}"/>
              </a:ext>
            </a:extLst>
          </p:cNvPr>
          <p:cNvSpPr/>
          <p:nvPr userDrawn="1"/>
        </p:nvSpPr>
        <p:spPr>
          <a:xfrm>
            <a:off x="903437" y="1315896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13FE17-B697-FB87-4ED6-D832D798E9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3506" y="143646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65CB9D-AA49-05C2-2100-C63D32C82B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01943" y="4045824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3204028-135E-83A2-B94A-693154F531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1284" y="143646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D4E810FD-2D00-764A-B144-B235C21E32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19721" y="4045824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71EF50-386A-A3B9-93FB-6EF179A4E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38803" y="143391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6AE17ED9-FDD9-34C3-1F7D-9A8EA4C4B40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7240" y="4043274"/>
            <a:ext cx="2951163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15" name="Purdue Logo" descr="Purdue Logo">
            <a:extLst>
              <a:ext uri="{FF2B5EF4-FFF2-40B4-BE49-F238E27FC236}">
                <a16:creationId xmlns:a16="http://schemas.microsoft.com/office/drawing/2014/main" id="{F444D1CF-9A99-D079-5D89-6DE824A893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16" name="Title 15">
            <a:extLst>
              <a:ext uri="{FF2B5EF4-FFF2-40B4-BE49-F238E27FC236}">
                <a16:creationId xmlns:a16="http://schemas.microsoft.com/office/drawing/2014/main" id="{77D3ED32-45F9-B948-371F-67E8465B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40B5B1B-89D1-9945-6AB1-0D9B2E27009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087907" y="2065260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CAB75A6-8C36-AD93-09A1-D377BF55C686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4605427" y="2065259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9BFCE088-E342-EDAD-213D-39C8B8D85057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8122945" y="2065259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52A11A-CEFD-01B7-2324-466BE85E97B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7126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98D576-4759-5408-883D-2E56D9D0F603}"/>
              </a:ext>
            </a:extLst>
          </p:cNvPr>
          <p:cNvSpPr/>
          <p:nvPr userDrawn="1"/>
        </p:nvSpPr>
        <p:spPr>
          <a:xfrm>
            <a:off x="7938216" y="1315892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44A1A-1D1D-F2D9-8EC1-EFF25EBA1FB0}"/>
              </a:ext>
            </a:extLst>
          </p:cNvPr>
          <p:cNvSpPr/>
          <p:nvPr userDrawn="1"/>
        </p:nvSpPr>
        <p:spPr>
          <a:xfrm>
            <a:off x="4420697" y="1315893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8D75A-DD50-6C6E-0A9D-7F77E72C780A}"/>
              </a:ext>
            </a:extLst>
          </p:cNvPr>
          <p:cNvSpPr/>
          <p:nvPr userDrawn="1"/>
        </p:nvSpPr>
        <p:spPr>
          <a:xfrm>
            <a:off x="903178" y="1315894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76A1563-09E6-06B6-EC4A-8E309CC57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3247" y="143646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F401EC8-7352-A985-133C-726A718A9E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1025" y="143646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1A04C69-EC92-81B2-FCD5-39464C669B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38544" y="143391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E5BF8CB-9477-F598-75C4-6F35D608B3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101684" y="2040670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E6CE746-1703-63A8-BBD4-546AD104E27E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4604880" y="2065258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3952BA5-2190-5106-0EBD-DA1D15EFBB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01684" y="4045822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835FE666-CADC-4DB4-80A4-BFD9823DE0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19462" y="4045822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AECA5017-0E7C-4957-02B2-65FA6C1F6E5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6981" y="4043272"/>
            <a:ext cx="2951163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F4CE92C-83FA-CA44-69CB-E6229E144199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8129414" y="2071424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pic>
        <p:nvPicPr>
          <p:cNvPr id="39" name="Purdue Logo" descr="Purdue Logo">
            <a:extLst>
              <a:ext uri="{FF2B5EF4-FFF2-40B4-BE49-F238E27FC236}">
                <a16:creationId xmlns:a16="http://schemas.microsoft.com/office/drawing/2014/main" id="{28B0C093-6F71-44D4-5731-9A086B7811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556C0F-0FF4-1816-A9DC-60D03FBFCE5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9466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5 Colo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urdue Logo" descr="Purdue Logo">
            <a:extLst>
              <a:ext uri="{FF2B5EF4-FFF2-40B4-BE49-F238E27FC236}">
                <a16:creationId xmlns:a16="http://schemas.microsoft.com/office/drawing/2014/main" id="{28B0C093-6F71-44D4-5731-9A086B7811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9A34A-6A6B-FC98-1EC8-8347FAB1A48F}"/>
              </a:ext>
            </a:extLst>
          </p:cNvPr>
          <p:cNvSpPr/>
          <p:nvPr userDrawn="1"/>
        </p:nvSpPr>
        <p:spPr>
          <a:xfrm>
            <a:off x="1008584" y="1660596"/>
            <a:ext cx="1918020" cy="4364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F2A76-73C1-7478-1C52-F70D9B50BC0A}"/>
              </a:ext>
            </a:extLst>
          </p:cNvPr>
          <p:cNvSpPr/>
          <p:nvPr userDrawn="1"/>
        </p:nvSpPr>
        <p:spPr>
          <a:xfrm>
            <a:off x="1011339" y="2160555"/>
            <a:ext cx="1915265" cy="32335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6525D0-8078-E003-46A7-FFCB83C221E0}"/>
              </a:ext>
            </a:extLst>
          </p:cNvPr>
          <p:cNvSpPr/>
          <p:nvPr userDrawn="1"/>
        </p:nvSpPr>
        <p:spPr>
          <a:xfrm>
            <a:off x="3045437" y="1660596"/>
            <a:ext cx="1918020" cy="4364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AD059-9160-4AE4-0F86-92FB0AAD082C}"/>
              </a:ext>
            </a:extLst>
          </p:cNvPr>
          <p:cNvSpPr/>
          <p:nvPr userDrawn="1"/>
        </p:nvSpPr>
        <p:spPr>
          <a:xfrm>
            <a:off x="3048192" y="2160555"/>
            <a:ext cx="1915265" cy="3233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F701C0-7A2F-0B95-E95C-07302A14CA56}"/>
              </a:ext>
            </a:extLst>
          </p:cNvPr>
          <p:cNvSpPr/>
          <p:nvPr userDrawn="1"/>
        </p:nvSpPr>
        <p:spPr>
          <a:xfrm>
            <a:off x="5082290" y="1660596"/>
            <a:ext cx="1918020" cy="4364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786ED8-9187-C7FB-F774-CE52A2971FFD}"/>
              </a:ext>
            </a:extLst>
          </p:cNvPr>
          <p:cNvSpPr/>
          <p:nvPr userDrawn="1"/>
        </p:nvSpPr>
        <p:spPr>
          <a:xfrm>
            <a:off x="5085045" y="2160555"/>
            <a:ext cx="1915265" cy="3233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6F5635-02F3-829F-B778-4A766D8D4A2D}"/>
              </a:ext>
            </a:extLst>
          </p:cNvPr>
          <p:cNvSpPr/>
          <p:nvPr userDrawn="1"/>
        </p:nvSpPr>
        <p:spPr>
          <a:xfrm>
            <a:off x="7119143" y="1660596"/>
            <a:ext cx="1918020" cy="436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D6A50-2E1C-FDDB-2F9B-D9101B8535C5}"/>
              </a:ext>
            </a:extLst>
          </p:cNvPr>
          <p:cNvSpPr/>
          <p:nvPr userDrawn="1"/>
        </p:nvSpPr>
        <p:spPr>
          <a:xfrm>
            <a:off x="7121898" y="2160555"/>
            <a:ext cx="1915265" cy="32335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39B4FF-413F-3DBC-C6E4-087C951C5464}"/>
              </a:ext>
            </a:extLst>
          </p:cNvPr>
          <p:cNvSpPr/>
          <p:nvPr userDrawn="1"/>
        </p:nvSpPr>
        <p:spPr>
          <a:xfrm>
            <a:off x="9155998" y="1660596"/>
            <a:ext cx="1918020" cy="4364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B8434E-9F38-4592-327E-51A570C73E09}"/>
              </a:ext>
            </a:extLst>
          </p:cNvPr>
          <p:cNvSpPr/>
          <p:nvPr userDrawn="1"/>
        </p:nvSpPr>
        <p:spPr>
          <a:xfrm>
            <a:off x="9158753" y="2160555"/>
            <a:ext cx="1915265" cy="32335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1BA8130D-B7F2-9815-5056-6F334D4BBA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8584" y="1783909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A41A66E4-0B84-E1FB-88CD-3E0E6E80C4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045438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235E5CE7-3D80-1BB5-DACD-8A63CA927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82291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685C02D4-EA4F-4962-D397-F6439EC5C6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19145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F46F0A7-55C4-6BAE-BCB0-157A86C91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156000" y="1770870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9E69C3F7-0A3A-FAC2-6540-8BB750E9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7982" y="2312717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40CB427-2320-1A81-037C-6D83BCA5B36F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3175312" y="2299864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3144BCA8-7BD5-8323-CDAB-E5362D78AA68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5212165" y="2298292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82EC0719-39BA-B2AB-F29D-3C947DC78925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7249018" y="2298292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B939ED29-1A95-3771-8E52-C1F99F848ABD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9285873" y="2312717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4" name="Text Placeholder 13">
            <a:extLst>
              <a:ext uri="{FF2B5EF4-FFF2-40B4-BE49-F238E27FC236}">
                <a16:creationId xmlns:a16="http://schemas.microsoft.com/office/drawing/2014/main" id="{F45DEB53-8B0A-80C6-DDED-B723442350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728143-5B5E-2F91-1A50-ECF61312F188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5407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Black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10386" y="-9524"/>
            <a:ext cx="6581614" cy="6882938"/>
          </a:xfrm>
          <a:ln>
            <a:noFill/>
          </a:ln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0" y="-9440"/>
            <a:ext cx="7284203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005" y="891153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2005" y="2491353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3836B8-46F8-6347-6A27-7BDA1D77E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3748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White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10386" y="-9525"/>
            <a:ext cx="6581614" cy="6882938"/>
          </a:xfrm>
          <a:ln>
            <a:noFill/>
          </a:ln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0" y="0"/>
            <a:ext cx="7284203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2005" y="891153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2005" y="2491353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23C719-BBA8-8B6C-9920-142BDE7BB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5020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9954706" y="-9439"/>
            <a:ext cx="224672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5070" y="2466280"/>
            <a:ext cx="7981645" cy="719757"/>
          </a:xfrm>
        </p:spPr>
        <p:txBody>
          <a:bodyPr>
            <a:noAutofit/>
          </a:bodyPr>
          <a:lstStyle>
            <a:lvl1pPr>
              <a:defRPr sz="9600" cap="none">
                <a:solidFill>
                  <a:schemeClr val="bg1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4339" y="3434010"/>
            <a:ext cx="7874567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bg2"/>
                </a:solidFill>
                <a:latin typeface="Acumin Pro Medium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contact info</a:t>
            </a:r>
          </a:p>
        </p:txBody>
      </p:sp>
      <p:pic>
        <p:nvPicPr>
          <p:cNvPr id="8" name="Purdue Logo" descr="Purdue Logo">
            <a:extLst>
              <a:ext uri="{FF2B5EF4-FFF2-40B4-BE49-F238E27FC236}">
                <a16:creationId xmlns:a16="http://schemas.microsoft.com/office/drawing/2014/main" id="{D1A65555-63A8-D3C1-AA71-F25B3071BDC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05070" y="5739119"/>
            <a:ext cx="2709200" cy="484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6539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BA4B2908-555F-78CD-D5EA-D087520FF3F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4143" y="5756156"/>
            <a:ext cx="2709200" cy="484940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1648B145-A545-0D6D-AFF0-0F715C907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5070" y="2466280"/>
            <a:ext cx="7981645" cy="719757"/>
          </a:xfrm>
        </p:spPr>
        <p:txBody>
          <a:bodyPr>
            <a:noAutofit/>
          </a:bodyPr>
          <a:lstStyle>
            <a:lvl1pPr>
              <a:defRPr sz="960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3D40940-377F-6BBC-02CB-083B672BF5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4339" y="3434010"/>
            <a:ext cx="7874567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contact info</a:t>
            </a:r>
          </a:p>
        </p:txBody>
      </p:sp>
    </p:spTree>
    <p:extLst>
      <p:ext uri="{BB962C8B-B14F-4D97-AF65-F5344CB8AC3E}">
        <p14:creationId xmlns:p14="http://schemas.microsoft.com/office/powerpoint/2010/main" val="1618025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F61CC-58D4-72CE-66CA-BFE87D08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85004"/>
            <a:ext cx="11266714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D4295-B2CD-F1FF-F99B-B267D174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86" y="1192696"/>
            <a:ext cx="11266714" cy="48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DCC5ACE-5747-34C7-00B2-2E4EABE6A0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34663" y="6290433"/>
            <a:ext cx="11001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61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702" r:id="rId3"/>
    <p:sldLayoutId id="2147483708" r:id="rId4"/>
    <p:sldLayoutId id="2147483687" r:id="rId5"/>
    <p:sldLayoutId id="2147483714" r:id="rId6"/>
    <p:sldLayoutId id="2147483688" r:id="rId7"/>
    <p:sldLayoutId id="2147483650" r:id="rId8"/>
    <p:sldLayoutId id="2147483701" r:id="rId9"/>
    <p:sldLayoutId id="2147483711" r:id="rId10"/>
    <p:sldLayoutId id="2147483712" r:id="rId11"/>
    <p:sldLayoutId id="2147483656" r:id="rId12"/>
    <p:sldLayoutId id="2147483657" r:id="rId13"/>
    <p:sldLayoutId id="2147483706" r:id="rId14"/>
    <p:sldLayoutId id="2147483705" r:id="rId15"/>
    <p:sldLayoutId id="2147483707" r:id="rId16"/>
    <p:sldLayoutId id="2147483713" r:id="rId17"/>
    <p:sldLayoutId id="2147483709" r:id="rId18"/>
    <p:sldLayoutId id="2147483710" r:id="rId19"/>
    <p:sldLayoutId id="2147483653" r:id="rId20"/>
    <p:sldLayoutId id="2147483690" r:id="rId21"/>
    <p:sldLayoutId id="2147483704" r:id="rId22"/>
    <p:sldLayoutId id="2147483692" r:id="rId23"/>
    <p:sldLayoutId id="2147483693" r:id="rId24"/>
    <p:sldLayoutId id="2147483691" r:id="rId25"/>
    <p:sldLayoutId id="2147483703" r:id="rId26"/>
  </p:sldLayoutIdLst>
  <p:hf hdr="0" ftr="0" dt="0"/>
  <p:txStyles>
    <p:titleStyle>
      <a:lvl1pPr algn="l" defTabSz="914400" rtl="0" eaLnBrk="1" fontAlgn="b" latinLnBrk="0" hangingPunct="1">
        <a:lnSpc>
          <a:spcPct val="90000"/>
        </a:lnSpc>
        <a:spcBef>
          <a:spcPct val="0"/>
        </a:spcBef>
        <a:buNone/>
        <a:defRPr lang="en-US" sz="4800" b="1" i="1" kern="1200" cap="none" baseline="0" dirty="0">
          <a:solidFill>
            <a:schemeClr val="tx1"/>
          </a:solidFill>
          <a:latin typeface="Acumin Pro Condensed Semibold" panose="020B0506020202020204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itchFamily="2" charset="2"/>
        <a:buChar char="§"/>
        <a:defRPr sz="20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8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6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5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4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media1.m4a"/><Relationship Id="rId7" Type="http://schemas.openxmlformats.org/officeDocument/2006/relationships/image" Target="../media/image5.png"/><Relationship Id="rId2" Type="http://schemas.microsoft.com/office/2007/relationships/media" Target="../media/media1.m4a"/><Relationship Id="rId1" Type="http://schemas.openxmlformats.org/officeDocument/2006/relationships/tags" Target="../tags/tag1.xml"/><Relationship Id="rId6" Type="http://schemas.openxmlformats.org/officeDocument/2006/relationships/image" Target="../media/image4.jpe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5.png"/><Relationship Id="rId4" Type="http://schemas.openxmlformats.org/officeDocument/2006/relationships/image" Target="../media/image6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9.png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10.png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5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5" Type="http://schemas.openxmlformats.org/officeDocument/2006/relationships/image" Target="../media/image5.png"/><Relationship Id="rId4" Type="http://schemas.openxmlformats.org/officeDocument/2006/relationships/image" Target="../media/image13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09A7-CF48-9701-322A-A0BBD1C2F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070" y="2005070"/>
            <a:ext cx="5072743" cy="592834"/>
          </a:xfrm>
        </p:spPr>
        <p:txBody>
          <a:bodyPr/>
          <a:lstStyle/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Foot Traffic and Dwell Time Trends at Office Supply Stores During the Remote Work Shift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1BF94-59A9-105F-273E-B29E440F25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0070" y="3810834"/>
            <a:ext cx="7763458" cy="449263"/>
          </a:xfrm>
        </p:spPr>
        <p:txBody>
          <a:bodyPr/>
          <a:lstStyle/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Management of Organizational Data Group Project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18A17-096C-AED1-C745-D58ECF2EFE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0070" y="4076947"/>
            <a:ext cx="7763458" cy="449263"/>
          </a:xfrm>
        </p:spPr>
        <p:txBody>
          <a:bodyPr/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Group 7</a:t>
            </a:r>
          </a:p>
        </p:txBody>
      </p:sp>
      <p:pic>
        <p:nvPicPr>
          <p:cNvPr id="5" name="Picture Placeholder 8">
            <a:extLst>
              <a:ext uri="{FF2B5EF4-FFF2-40B4-BE49-F238E27FC236}">
                <a16:creationId xmlns:a16="http://schemas.microsoft.com/office/drawing/2014/main" id="{DDE2673F-373E-D3E4-F560-85B9828C295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761" r="4761"/>
          <a:stretch>
            <a:fillRect/>
          </a:stretch>
        </p:blipFill>
        <p:spPr>
          <a:xfrm>
            <a:off x="6172200" y="228600"/>
            <a:ext cx="5791200" cy="6400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8" name="Audio 77">
            <a:extLst>
              <a:ext uri="{FF2B5EF4-FFF2-40B4-BE49-F238E27FC236}">
                <a16:creationId xmlns:a16="http://schemas.microsoft.com/office/drawing/2014/main" id="{9DB034FD-1C3C-E983-0613-8D4F24E5D286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9970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968"/>
    </mc:Choice>
    <mc:Fallback>
      <p:transition spd="slow" advTm="1296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8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98102-91B2-FC2B-C893-417591929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B99B925-137D-5773-3E09-509C855A3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800" dirty="0">
                <a:latin typeface="Calibri" panose="020F0502020204030204" pitchFamily="34" charset="0"/>
                <a:cs typeface="Calibri" panose="020F0502020204030204" pitchFamily="34" charset="0"/>
              </a:rPr>
              <a:t>Weekly Visits of Office Supply Brand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6CE982-E8C0-7A86-B5CE-E1802756CF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Staples, clear volume leader, more resilient pre-shock, but just as exposed during the drop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58B983-746F-864A-0645-1350BA74480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994776A-187E-9540-9EA4-8D5781AB769D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pPr/>
              <a:t>2</a:t>
            </a:fld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31F4D3B1-9BEA-9D7D-CA00-891BF73EE6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452" y="1349789"/>
            <a:ext cx="10047095" cy="4747669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C8D23856-A583-A058-D590-AD200A850533}"/>
              </a:ext>
            </a:extLst>
          </p:cNvPr>
          <p:cNvSpPr txBox="1"/>
          <p:nvPr/>
        </p:nvSpPr>
        <p:spPr>
          <a:xfrm>
            <a:off x="3627617" y="6113764"/>
            <a:ext cx="7557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200" i="1" dirty="0">
                <a:latin typeface="Calibri" panose="020F0502020204030204" pitchFamily="34" charset="0"/>
                <a:cs typeface="Calibri" panose="020F0502020204030204" pitchFamily="34" charset="0"/>
              </a:rPr>
              <a:t>Note: Week 1 starts from 1st Jan 2020, which is Wednesday, not Monday. Remaining weeks start from Monday.</a:t>
            </a:r>
            <a:endParaRPr lang="en-US" sz="12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8" name="Audio 77">
            <a:extLst>
              <a:ext uri="{FF2B5EF4-FFF2-40B4-BE49-F238E27FC236}">
                <a16:creationId xmlns:a16="http://schemas.microsoft.com/office/drawing/2014/main" id="{A3D3300F-0B33-FF28-1D46-0F5BC2A038E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6614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406"/>
    </mc:Choice>
    <mc:Fallback>
      <p:transition spd="slow" advTm="1540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8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3115D7-6C74-6528-F23C-B81DEA42F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Market Share Landscape of Office Supply Brands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D0C898A-2FF1-8C4F-2A46-D380387196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Staples captures the largest market share at 38%; Office Depot holds a 35% share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661C98-5E27-D35D-B306-DC2DA8288635}"/>
              </a:ext>
            </a:extLst>
          </p:cNvPr>
          <p:cNvSpPr txBox="1"/>
          <p:nvPr/>
        </p:nvSpPr>
        <p:spPr>
          <a:xfrm>
            <a:off x="7018078" y="2559521"/>
            <a:ext cx="3882343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latin typeface="Calibri" panose="020F0502020204030204" pitchFamily="34" charset="0"/>
                <a:cs typeface="Calibri" panose="020F0502020204030204" pitchFamily="34" charset="0"/>
              </a:rPr>
              <a:t>The market is highly consolidated, dominated by two key players – Staples and Office Depot</a:t>
            </a:r>
          </a:p>
          <a:p>
            <a:endParaRPr lang="en-IN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>
                <a:latin typeface="Calibri" panose="020F0502020204030204" pitchFamily="34" charset="0"/>
                <a:cs typeface="Calibri" panose="020F0502020204030204" pitchFamily="34" charset="0"/>
              </a:rPr>
              <a:t>Niche and experiential brands can sustain only through differentiation, personalization, or e-commerce expansion.</a:t>
            </a:r>
            <a:endParaRPr 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A316E58-10E4-EBE0-234E-24DC20D80EB3}"/>
              </a:ext>
            </a:extLst>
          </p:cNvPr>
          <p:cNvGrpSpPr/>
          <p:nvPr/>
        </p:nvGrpSpPr>
        <p:grpSpPr>
          <a:xfrm>
            <a:off x="6660495" y="1908011"/>
            <a:ext cx="4597510" cy="3221377"/>
            <a:chOff x="6660495" y="1908011"/>
            <a:chExt cx="4597510" cy="3221377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85BAAD2-4CE1-B47C-5479-7B530E75C646}"/>
                </a:ext>
              </a:extLst>
            </p:cNvPr>
            <p:cNvSpPr/>
            <p:nvPr/>
          </p:nvSpPr>
          <p:spPr>
            <a:xfrm>
              <a:off x="6660495" y="2233766"/>
              <a:ext cx="4597510" cy="2895622"/>
            </a:xfrm>
            <a:prstGeom prst="rect">
              <a:avLst/>
            </a:prstGeom>
            <a:noFill/>
            <a:ln w="1270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00FAC77-4503-165C-F24D-1E0705670BB2}"/>
                </a:ext>
              </a:extLst>
            </p:cNvPr>
            <p:cNvSpPr/>
            <p:nvPr/>
          </p:nvSpPr>
          <p:spPr>
            <a:xfrm>
              <a:off x="8427367" y="1908011"/>
              <a:ext cx="1191947" cy="6515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11" name="Graphic 10" descr="Open quotation mark with solid fill">
            <a:extLst>
              <a:ext uri="{FF2B5EF4-FFF2-40B4-BE49-F238E27FC236}">
                <a16:creationId xmlns:a16="http://schemas.microsoft.com/office/drawing/2014/main" id="{E5277B77-C5C7-14D0-0F51-FD5B58E8B0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76283" y="1491671"/>
            <a:ext cx="1294114" cy="130302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20F8CE-5ADA-39BC-305A-AC9139015A8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994776A-187E-9540-9EA4-8D5781AB769D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pPr/>
              <a:t>3</a:t>
            </a:fld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9" name="Picture Placeholder 18" descr="A pie chart with different colored circles with Crust in the background&#10;&#10;AI-generated content may be incorrect.">
            <a:extLst>
              <a:ext uri="{FF2B5EF4-FFF2-40B4-BE49-F238E27FC236}">
                <a16:creationId xmlns:a16="http://schemas.microsoft.com/office/drawing/2014/main" id="{D8960E65-15A6-67E7-0228-BE32F1EB266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7"/>
          <a:srcRect/>
          <a:stretch>
            <a:fillRect/>
          </a:stretch>
        </p:blipFill>
        <p:spPr>
          <a:xfrm>
            <a:off x="457200" y="1594121"/>
            <a:ext cx="5458727" cy="4557297"/>
          </a:xfrm>
          <a:solidFill>
            <a:schemeClr val="accent6">
              <a:lumMod val="50000"/>
            </a:schemeClr>
          </a:solidFill>
        </p:spPr>
      </p:pic>
      <p:pic>
        <p:nvPicPr>
          <p:cNvPr id="46" name="Audio 45">
            <a:extLst>
              <a:ext uri="{FF2B5EF4-FFF2-40B4-BE49-F238E27FC236}">
                <a16:creationId xmlns:a16="http://schemas.microsoft.com/office/drawing/2014/main" id="{D4C90962-7CDE-1048-8195-29F3E4A4771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0502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746"/>
    </mc:Choice>
    <mc:Fallback>
      <p:transition spd="slow" advTm="1374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41A7A-6690-4557-A7D0-AEF2284B7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E2EF4C-04A5-4D48-5760-F61D01963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800" dirty="0">
                <a:latin typeface="Calibri" panose="020F0502020204030204" pitchFamily="34" charset="0"/>
                <a:cs typeface="Calibri" panose="020F0502020204030204" pitchFamily="34" charset="0"/>
              </a:rPr>
              <a:t>Brand wise Relationship Between Visits and Dwell Time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038A016-C04C-4FB0-44DE-E3B688042C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Staples and Office Depot attract the most visits but have short dwell times, reflecting quick, mission-driven purchases.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719890-53AD-3F43-E449-0E037863B579}"/>
              </a:ext>
            </a:extLst>
          </p:cNvPr>
          <p:cNvSpPr txBox="1"/>
          <p:nvPr/>
        </p:nvSpPr>
        <p:spPr>
          <a:xfrm>
            <a:off x="7018078" y="2559521"/>
            <a:ext cx="388234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Despite high foot traffic, staples show shorter dwell times (~20 mins)</a:t>
            </a:r>
          </a:p>
          <a:p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Rapid Refill stands out with the highest dwell time (~50 min), showing strong engagement within a narrow customer base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8DDAD90-7E17-4F1A-EF18-007EE8B8A0D5}"/>
              </a:ext>
            </a:extLst>
          </p:cNvPr>
          <p:cNvGrpSpPr/>
          <p:nvPr/>
        </p:nvGrpSpPr>
        <p:grpSpPr>
          <a:xfrm>
            <a:off x="6660495" y="1908011"/>
            <a:ext cx="4597510" cy="3221377"/>
            <a:chOff x="6660495" y="1908011"/>
            <a:chExt cx="4597510" cy="3221377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E0F5941-B990-F88A-570A-8AE4021F45A9}"/>
                </a:ext>
              </a:extLst>
            </p:cNvPr>
            <p:cNvSpPr/>
            <p:nvPr/>
          </p:nvSpPr>
          <p:spPr>
            <a:xfrm>
              <a:off x="6660495" y="2233766"/>
              <a:ext cx="4597510" cy="2895622"/>
            </a:xfrm>
            <a:prstGeom prst="rect">
              <a:avLst/>
            </a:prstGeom>
            <a:noFill/>
            <a:ln w="1270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EB2B31F-3F4B-1C01-49E0-C7A3CE055F47}"/>
                </a:ext>
              </a:extLst>
            </p:cNvPr>
            <p:cNvSpPr/>
            <p:nvPr/>
          </p:nvSpPr>
          <p:spPr>
            <a:xfrm>
              <a:off x="8427367" y="1908011"/>
              <a:ext cx="1191947" cy="6515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11" name="Graphic 10" descr="Open quotation mark with solid fill">
            <a:extLst>
              <a:ext uri="{FF2B5EF4-FFF2-40B4-BE49-F238E27FC236}">
                <a16:creationId xmlns:a16="http://schemas.microsoft.com/office/drawing/2014/main" id="{95596675-86F5-F1F8-670B-D4B029CA7B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76283" y="1491671"/>
            <a:ext cx="1294114" cy="130302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E5D82C-DDBD-C7EA-D3EB-E05DFBBB672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994776A-187E-9540-9EA4-8D5781AB769D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pPr/>
              <a:t>4</a:t>
            </a:fld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9" name="Picture Placeholder 18">
            <a:extLst>
              <a:ext uri="{FF2B5EF4-FFF2-40B4-BE49-F238E27FC236}">
                <a16:creationId xmlns:a16="http://schemas.microsoft.com/office/drawing/2014/main" id="{804864AC-85D8-CD6D-A76E-A6C5DFB65BE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7"/>
          <a:srcRect/>
          <a:stretch/>
        </p:blipFill>
        <p:spPr>
          <a:xfrm>
            <a:off x="457200" y="1594121"/>
            <a:ext cx="5458727" cy="4557297"/>
          </a:xfrm>
          <a:solidFill>
            <a:schemeClr val="accent6">
              <a:lumMod val="50000"/>
            </a:schemeClr>
          </a:solidFill>
        </p:spPr>
      </p:pic>
      <p:pic>
        <p:nvPicPr>
          <p:cNvPr id="37" name="Audio 36">
            <a:extLst>
              <a:ext uri="{FF2B5EF4-FFF2-40B4-BE49-F238E27FC236}">
                <a16:creationId xmlns:a16="http://schemas.microsoft.com/office/drawing/2014/main" id="{16A9670C-CF25-54E4-54B9-CB0190F3B1B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3643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514"/>
    </mc:Choice>
    <mc:Fallback>
      <p:transition spd="slow" advTm="2051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7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6E2D3B1-47AD-F42C-134A-898069BAA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85004"/>
            <a:ext cx="11266714" cy="589032"/>
          </a:xfrm>
        </p:spPr>
        <p:txBody>
          <a:bodyPr anchor="ctr">
            <a:normAutofit/>
          </a:bodyPr>
          <a:lstStyle/>
          <a:p>
            <a:r>
              <a:rPr lang="en-US" sz="3400" dirty="0">
                <a:latin typeface="Calibri" panose="020F0502020204030204" pitchFamily="34" charset="0"/>
                <a:cs typeface="Calibri" panose="020F0502020204030204" pitchFamily="34" charset="0"/>
              </a:rPr>
              <a:t>Measuring Urban vs. Rural Footprints of Office Supply Brands</a:t>
            </a:r>
          </a:p>
        </p:txBody>
      </p:sp>
      <p:pic>
        <p:nvPicPr>
          <p:cNvPr id="10" name="Picture Placeholder 9" descr="A graph of blue and white bars&#10;&#10;AI-generated content may be incorrect.">
            <a:extLst>
              <a:ext uri="{FF2B5EF4-FFF2-40B4-BE49-F238E27FC236}">
                <a16:creationId xmlns:a16="http://schemas.microsoft.com/office/drawing/2014/main" id="{41D5C924-345F-4DDF-3CBF-F9DF327CF54B}"/>
              </a:ext>
            </a:extLst>
          </p:cNvPr>
          <p:cNvPicPr>
            <a:picLocks noGrp="1" noChangeAspect="1"/>
          </p:cNvPicPr>
          <p:nvPr>
            <p:ph idx="12"/>
          </p:nvPr>
        </p:nvPicPr>
        <p:blipFill rotWithShape="1">
          <a:blip r:embed="rId4"/>
          <a:srcRect t="2" b="-2"/>
          <a:stretch>
            <a:fillRect/>
          </a:stretch>
        </p:blipFill>
        <p:spPr>
          <a:xfrm>
            <a:off x="468086" y="1543324"/>
            <a:ext cx="7068787" cy="4390294"/>
          </a:xfrm>
          <a:solidFill>
            <a:schemeClr val="accent6">
              <a:lumMod val="50000"/>
            </a:schemeClr>
          </a:solidFill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4E267F-25C8-47DF-9D61-B51817DADC6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647709" y="1543324"/>
            <a:ext cx="4087091" cy="4390338"/>
          </a:xfrm>
        </p:spPr>
        <p:txBody>
          <a:bodyPr>
            <a:normAutofit fontScale="925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Staples (705K), Office Depot (608K), and OfficeMax (313K) all record the highest visits from suburban areas.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Urban areas trail slightly, despite higher population density, suggesting that suburban consumers were more actively purchasing home-office essentials when remote work began.</a:t>
            </a:r>
          </a:p>
          <a:p>
            <a:pPr marL="0" indent="0">
              <a:buNone/>
            </a:pP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Rural areas show steady but smaller visit counts, reflecting fewer store locations and smaller populations.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A892E85-82A0-CAF6-F533-D334C924F2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/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Suburban visits dominate across all major brands; Urban areas trail slightly; Rural areas show steady but smaller visit counts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7C8B7D2-01DB-70C5-D335-628D77A3F25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634663" y="6290433"/>
            <a:ext cx="110013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994776A-187E-9540-9EA4-8D5781AB769D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pPr>
                <a:spcAft>
                  <a:spcPts val="600"/>
                </a:spcAft>
              </a:pPr>
              <a:t>5</a:t>
            </a:fld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8" name="Audio 27">
            <a:extLst>
              <a:ext uri="{FF2B5EF4-FFF2-40B4-BE49-F238E27FC236}">
                <a16:creationId xmlns:a16="http://schemas.microsoft.com/office/drawing/2014/main" id="{FD96D131-2353-F2B1-3946-F7252B3EB21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9608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468"/>
    </mc:Choice>
    <mc:Fallback>
      <p:transition spd="slow" advTm="2046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8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1AE42-527E-6F77-42BC-2F852DDE1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35580E31-39E6-5316-E1F9-1108ED09FD25}"/>
              </a:ext>
            </a:extLst>
          </p:cNvPr>
          <p:cNvPicPr>
            <a:picLocks noGrp="1" noChangeAspect="1"/>
          </p:cNvPicPr>
          <p:nvPr>
            <p:ph idx="12"/>
          </p:nvPr>
        </p:nvPicPr>
        <p:blipFill>
          <a:blip r:embed="rId4"/>
          <a:srcRect l="2808" r="2808"/>
          <a:stretch/>
        </p:blipFill>
        <p:spPr>
          <a:xfrm>
            <a:off x="468086" y="1543324"/>
            <a:ext cx="7068787" cy="4390294"/>
          </a:xfrm>
          <a:solidFill>
            <a:schemeClr val="accent6">
              <a:lumMod val="50000"/>
            </a:schemeClr>
          </a:solidFill>
          <a:ln>
            <a:solidFill>
              <a:schemeClr val="accent6"/>
            </a:solidFill>
          </a:ln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8E79A5E6-A7BC-C367-8A0D-715EAF84B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85004"/>
            <a:ext cx="11266714" cy="589032"/>
          </a:xfrm>
        </p:spPr>
        <p:txBody>
          <a:bodyPr anchor="ctr">
            <a:normAutofit/>
          </a:bodyPr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Distribution of Office Supply Store Foot Traffic Across California Counties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534711-43D7-3532-1E47-DE1C494888A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647709" y="1543324"/>
            <a:ext cx="4087091" cy="4390338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Urban centers along the coastal corridor (Los Angeles → San Diego → Bay Area) exhibit significantly higher retail engagement, suggesting strong dependence on in-person office purchases.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Neighboring counties like Orange, San Bernardino, and Riverside also show elevated activity — reflecting dense urban populations and commercial hubs.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Northern and Central California counties (e.g., Modoc, Sierra, and Lassen) show minimal visits, consistent with rural and low-density retail presence.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251D1B9-76FD-FA33-5E27-BFC020D207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/>
          <a:p>
            <a:r>
              <a:rPr lang="en-US" sz="1800">
                <a:latin typeface="Calibri" panose="020F0502020204030204" pitchFamily="34" charset="0"/>
                <a:cs typeface="Calibri" panose="020F0502020204030204" pitchFamily="34" charset="0"/>
              </a:rPr>
              <a:t>Southern California dominates office supply store visits, with Los Angeles County emerging as the primary hotspot (over 130K+ visits)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C5F7E5D-28E0-F724-409F-4D9F96B4081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634663" y="6290433"/>
            <a:ext cx="110013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994776A-187E-9540-9EA4-8D5781AB769D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pPr>
                <a:spcAft>
                  <a:spcPts val="600"/>
                </a:spcAft>
              </a:pPr>
              <a:t>6</a:t>
            </a:fld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383A5441-672B-D9DB-C03B-F6331BC399E9}"/>
              </a:ext>
            </a:extLst>
          </p:cNvPr>
          <p:cNvSpPr/>
          <p:nvPr/>
        </p:nvSpPr>
        <p:spPr>
          <a:xfrm>
            <a:off x="3920490" y="4400550"/>
            <a:ext cx="582930" cy="56007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1" name="Audio 20">
            <a:extLst>
              <a:ext uri="{FF2B5EF4-FFF2-40B4-BE49-F238E27FC236}">
                <a16:creationId xmlns:a16="http://schemas.microsoft.com/office/drawing/2014/main" id="{9615205B-0D64-0A79-EBE1-D58CE941FB5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8182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654"/>
    </mc:Choice>
    <mc:Fallback>
      <p:transition spd="slow" advTm="1265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1D0BE4-6CAA-F38A-DB99-AF9E17671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85004"/>
            <a:ext cx="11266714" cy="589032"/>
          </a:xfrm>
        </p:spPr>
        <p:txBody>
          <a:bodyPr anchor="ctr">
            <a:noAutofit/>
          </a:bodyPr>
          <a:lstStyle/>
          <a:p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Brand Recovery Patterns: Early-2020 Stabilization in Office Supply Store Visits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AFF639-1778-E4AC-5DE3-C904C075B59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954291"/>
            <a:ext cx="11277600" cy="365760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Staples and Office Depot stabilized fastest, with WK 17 rebound suggesting quicker adaptation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2AAC9E-2251-06C5-D35D-7203398B9B7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0634663" y="6290433"/>
            <a:ext cx="110013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994776A-187E-9540-9EA4-8D5781AB769D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pPr>
                <a:spcAft>
                  <a:spcPts val="600"/>
                </a:spcAft>
              </a:pPr>
              <a:t>7</a:t>
            </a:fld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29FE3E-81E5-3FB8-DBBA-E024623B88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1894" y="1403709"/>
            <a:ext cx="9148211" cy="4500000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17041DA-8932-00BF-5F00-A43D5BE45301}"/>
              </a:ext>
            </a:extLst>
          </p:cNvPr>
          <p:cNvSpPr txBox="1"/>
          <p:nvPr/>
        </p:nvSpPr>
        <p:spPr>
          <a:xfrm>
            <a:off x="3627617" y="6013434"/>
            <a:ext cx="7557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200" i="1" dirty="0">
                <a:latin typeface="Calibri" panose="020F0502020204030204" pitchFamily="34" charset="0"/>
                <a:cs typeface="Calibri" panose="020F0502020204030204" pitchFamily="34" charset="0"/>
              </a:rPr>
              <a:t>Note: Week 1 starts from 1st Jan 2020, which is Wednesday, not Monday. Remaining weeks start from Monday.</a:t>
            </a:r>
            <a:endParaRPr lang="en-US" sz="12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1" name="Audio 20">
            <a:extLst>
              <a:ext uri="{FF2B5EF4-FFF2-40B4-BE49-F238E27FC236}">
                <a16:creationId xmlns:a16="http://schemas.microsoft.com/office/drawing/2014/main" id="{E84A17C8-D39B-B121-2DB6-80EEF8C8EB3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6018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008"/>
    </mc:Choice>
    <mc:Fallback>
      <p:transition spd="slow" advTm="1700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6C9EF62B-E070-ACB9-D915-B4545582CB13}"/>
              </a:ext>
            </a:extLst>
          </p:cNvPr>
          <p:cNvGraphicFramePr>
            <a:graphicFrameLocks noGrp="1"/>
          </p:cNvGraphicFramePr>
          <p:nvPr>
            <p:ph idx="14"/>
            <p:extLst>
              <p:ext uri="{D42A27DB-BD31-4B8C-83A1-F6EECF244321}">
                <p14:modId xmlns:p14="http://schemas.microsoft.com/office/powerpoint/2010/main" val="376585243"/>
              </p:ext>
            </p:extLst>
          </p:nvPr>
        </p:nvGraphicFramePr>
        <p:xfrm>
          <a:off x="468312" y="1370928"/>
          <a:ext cx="11277600" cy="45788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4276">
                  <a:extLst>
                    <a:ext uri="{9D8B030D-6E8A-4147-A177-3AD203B41FA5}">
                      <a16:colId xmlns:a16="http://schemas.microsoft.com/office/drawing/2014/main" val="3688381607"/>
                    </a:ext>
                  </a:extLst>
                </a:gridCol>
                <a:gridCol w="1936377">
                  <a:extLst>
                    <a:ext uri="{9D8B030D-6E8A-4147-A177-3AD203B41FA5}">
                      <a16:colId xmlns:a16="http://schemas.microsoft.com/office/drawing/2014/main" val="4088979612"/>
                    </a:ext>
                  </a:extLst>
                </a:gridCol>
                <a:gridCol w="2151529">
                  <a:extLst>
                    <a:ext uri="{9D8B030D-6E8A-4147-A177-3AD203B41FA5}">
                      <a16:colId xmlns:a16="http://schemas.microsoft.com/office/drawing/2014/main" val="74721474"/>
                    </a:ext>
                  </a:extLst>
                </a:gridCol>
                <a:gridCol w="5775418">
                  <a:extLst>
                    <a:ext uri="{9D8B030D-6E8A-4147-A177-3AD203B41FA5}">
                      <a16:colId xmlns:a16="http://schemas.microsoft.com/office/drawing/2014/main" val="566869555"/>
                    </a:ext>
                  </a:extLst>
                </a:gridCol>
              </a:tblGrid>
              <a:tr h="232595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Brand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Stabilization Week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Recovery Pattern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Key Interpretation</a:t>
                      </a: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245697920"/>
                  </a:ext>
                </a:extLst>
              </a:tr>
              <a:tr h="61493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Staples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WK 16–17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Rapid rebound after steep mid-March dip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Strong brand loyalty and essential status drove early recovery; demand tied to home-office setup.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29255537"/>
                  </a:ext>
                </a:extLst>
              </a:tr>
              <a:tr h="61493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Office Depot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WK 17–18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Gradual recovery and steady visits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Maintained consistent customer base; reflects reliability and convenience as essential retailer.</a:t>
                      </a:r>
                      <a:endParaRPr lang="en-IN" sz="1600" b="1" kern="12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60920945"/>
                  </a:ext>
                </a:extLst>
              </a:tr>
              <a:tr h="61493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OfficeMax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WK 18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Slower, moderate rebound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Some brand overlap with Office Depot may have diluted traffic; secondary player in essential category.</a:t>
                      </a:r>
                      <a:endParaRPr lang="en-IN" sz="1600" b="1" kern="12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60648710"/>
                  </a:ext>
                </a:extLst>
              </a:tr>
              <a:tr h="61493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Cartridge World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WK 17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Partial stabilization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Specialized product line led to moderate rebound; supported by printer and cartridge needs for remote work.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79221966"/>
                  </a:ext>
                </a:extLst>
              </a:tr>
              <a:tr h="61493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Paper Source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No clear stabilization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Visits remained low through April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Non-essential, creative products saw sustained decline; recovery delayed by reduced in-store browsing.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91618069"/>
                  </a:ext>
                </a:extLst>
              </a:tr>
              <a:tr h="61493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Papyrus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No clear stabilization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Continued decline post-March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Discretionary gifting and stationery purchases collapsed; slow adaptation to online demand.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29569275"/>
                  </a:ext>
                </a:extLst>
              </a:tr>
              <a:tr h="61493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Rapid Refill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Minimal activity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6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Stable at very low volume</a:t>
                      </a:r>
                      <a:endParaRPr lang="en-IN" sz="1600" b="1" kern="12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Niche audience with deep but narrow engagement; limited market reach and low recovery potential.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79142772"/>
                  </a:ext>
                </a:extLst>
              </a:tr>
            </a:tbl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F87F7167-3AC3-B360-4838-FD7C0AF1E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Brand Recovery and Stabilization Trends: Jan - Apr 2020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4DBCAE-56B3-0632-B282-151148F7C9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Staples and Office Depot show early stabilization around Weeks 16–17, with visits rebounding by ~20–25%.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F13D25-7C56-8CBD-0C90-888193276BB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994776A-187E-9540-9EA4-8D5781AB769D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pPr/>
              <a:t>8</a:t>
            </a:fld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Audio 7">
            <a:extLst>
              <a:ext uri="{FF2B5EF4-FFF2-40B4-BE49-F238E27FC236}">
                <a16:creationId xmlns:a16="http://schemas.microsoft.com/office/drawing/2014/main" id="{6D9A1765-782C-88D3-50F6-172CF82D270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5134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25"/>
    </mc:Choice>
    <mc:Fallback>
      <p:transition spd="slow" advTm="602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72CBA-026F-7E96-546F-23B8813A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Thank You</a:t>
            </a:r>
          </a:p>
        </p:txBody>
      </p:sp>
      <p:pic>
        <p:nvPicPr>
          <p:cNvPr id="9" name="Audio 8">
            <a:extLst>
              <a:ext uri="{FF2B5EF4-FFF2-40B4-BE49-F238E27FC236}">
                <a16:creationId xmlns:a16="http://schemas.microsoft.com/office/drawing/2014/main" id="{510C213D-9EE9-A70A-ECFA-9620ADB3D58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2662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173"/>
    </mc:Choice>
    <mc:Fallback>
      <p:transition spd="slow" advTm="317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image"/>
</p:tagLst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EFFFF"/>
      </a:lt1>
      <a:dk2>
        <a:srgbClr val="55585F"/>
      </a:dk2>
      <a:lt2>
        <a:srgbClr val="CECACB"/>
      </a:lt2>
      <a:accent1>
        <a:srgbClr val="CFB891"/>
      </a:accent1>
      <a:accent2>
        <a:srgbClr val="555960"/>
      </a:accent2>
      <a:accent3>
        <a:srgbClr val="8D6F3D"/>
      </a:accent3>
      <a:accent4>
        <a:srgbClr val="FFFFFF"/>
      </a:accent4>
      <a:accent5>
        <a:srgbClr val="DAAA00"/>
      </a:accent5>
      <a:accent6>
        <a:srgbClr val="9D9694"/>
      </a:accent6>
      <a:hlink>
        <a:srgbClr val="000000"/>
      </a:hlink>
      <a:folHlink>
        <a:srgbClr val="FEFFF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M-23-645083-Purdue-Brand-Widescreen-20231110" id="{298B892F-2C42-8C4D-9C11-1897040FA823}" vid="{5A4260A0-2808-CB46-AD80-314349B89CB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E202481DC1CB46AA011D949D311478" ma:contentTypeVersion="14" ma:contentTypeDescription="Create a new document." ma:contentTypeScope="" ma:versionID="525164dac9297210c095a5bd80287f9a">
  <xsd:schema xmlns:xsd="http://www.w3.org/2001/XMLSchema" xmlns:xs="http://www.w3.org/2001/XMLSchema" xmlns:p="http://schemas.microsoft.com/office/2006/metadata/properties" xmlns:ns2="37af3f4b-4b66-46f9-8456-831d9bc3e737" xmlns:ns3="d6656b4d-3fa0-4709-acfb-d5e813445d1e" targetNamespace="http://schemas.microsoft.com/office/2006/metadata/properties" ma:root="true" ma:fieldsID="47e49e78aff16fc85174c3b1ac7b7e79" ns2:_="" ns3:_="">
    <xsd:import namespace="37af3f4b-4b66-46f9-8456-831d9bc3e737"/>
    <xsd:import namespace="d6656b4d-3fa0-4709-acfb-d5e813445d1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af3f4b-4b66-46f9-8456-831d9bc3e73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8e9e90a8-b24c-4be7-8760-a88b2cd47e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656b4d-3fa0-4709-acfb-d5e813445d1e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ebcf308-42de-4d63-b51a-b2360cc04078}" ma:internalName="TaxCatchAll" ma:showField="CatchAllData" ma:web="d6656b4d-3fa0-4709-acfb-d5e813445d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6656b4d-3fa0-4709-acfb-d5e813445d1e">
      <UserInfo>
        <DisplayName>Schott, Thomas H.</DisplayName>
        <AccountId>17</AccountId>
        <AccountType/>
      </UserInfo>
      <UserInfo>
        <DisplayName>Sarault, Olivia M</DisplayName>
        <AccountId>29</AccountId>
        <AccountType/>
      </UserInfo>
      <UserInfo>
        <DisplayName>Hiller, Kelly R</DisplayName>
        <AccountId>98</AccountId>
        <AccountType/>
      </UserInfo>
      <UserInfo>
        <DisplayName>Eddy, Abigail Ellen</DisplayName>
        <AccountId>46</AccountId>
        <AccountType/>
      </UserInfo>
      <UserInfo>
        <DisplayName>Gu, Yu Rain</DisplayName>
        <AccountId>77</AccountId>
        <AccountType/>
      </UserInfo>
      <UserInfo>
        <DisplayName>Reese, Kristy S</DisplayName>
        <AccountId>26</AccountId>
        <AccountType/>
      </UserInfo>
    </SharedWithUsers>
    <lcf76f155ced4ddcb4097134ff3c332f xmlns="37af3f4b-4b66-46f9-8456-831d9bc3e737">
      <Terms xmlns="http://schemas.microsoft.com/office/infopath/2007/PartnerControls"/>
    </lcf76f155ced4ddcb4097134ff3c332f>
    <TaxCatchAll xmlns="d6656b4d-3fa0-4709-acfb-d5e813445d1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27F8518-0786-4241-9955-5A8DAADF5AFF}">
  <ds:schemaRefs>
    <ds:schemaRef ds:uri="37af3f4b-4b66-46f9-8456-831d9bc3e737"/>
    <ds:schemaRef ds:uri="d6656b4d-3fa0-4709-acfb-d5e813445d1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1DE0D6C-581B-4814-98E7-EF172D5D46A1}">
  <ds:schemaRefs>
    <ds:schemaRef ds:uri="http://schemas.microsoft.com/office/2006/metadata/properties"/>
    <ds:schemaRef ds:uri="http://www.w3.org/XML/1998/namespac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d6656b4d-3fa0-4709-acfb-d5e813445d1e"/>
    <ds:schemaRef ds:uri="37af3f4b-4b66-46f9-8456-831d9bc3e737"/>
  </ds:schemaRefs>
</ds:datastoreItem>
</file>

<file path=customXml/itemProps3.xml><?xml version="1.0" encoding="utf-8"?>
<ds:datastoreItem xmlns:ds="http://schemas.openxmlformats.org/officeDocument/2006/customXml" ds:itemID="{F5B64EEB-1B4A-4920-AA44-E234D7D487D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87</TotalTime>
  <Words>658</Words>
  <Application>Microsoft Macintosh PowerPoint</Application>
  <PresentationFormat>Widescreen</PresentationFormat>
  <Paragraphs>76</Paragraphs>
  <Slides>9</Slides>
  <Notes>3</Notes>
  <HiddenSlides>0</HiddenSlides>
  <MMClips>9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Franklin Gothic Book</vt:lpstr>
      <vt:lpstr>Arial</vt:lpstr>
      <vt:lpstr>Acumin Pro Semibold</vt:lpstr>
      <vt:lpstr>Acumin Pro</vt:lpstr>
      <vt:lpstr>Acumin Pro Condensed Semibold</vt:lpstr>
      <vt:lpstr>Acumin Pro Medium</vt:lpstr>
      <vt:lpstr>Calibri</vt:lpstr>
      <vt:lpstr>Wingdings</vt:lpstr>
      <vt:lpstr>Franklin Gothic Medium</vt:lpstr>
      <vt:lpstr>Franklin Gothic Medium Cond</vt:lpstr>
      <vt:lpstr>Office Theme</vt:lpstr>
      <vt:lpstr>Foot Traffic and Dwell Time Trends at Office Supply Stores During the Remote Work Shift </vt:lpstr>
      <vt:lpstr>Weekly Visits of Office Supply Brand</vt:lpstr>
      <vt:lpstr>Market Share Landscape of Office Supply Brands</vt:lpstr>
      <vt:lpstr>Brand wise Relationship Between Visits and Dwell Time</vt:lpstr>
      <vt:lpstr>Measuring Urban vs. Rural Footprints of Office Supply Brands</vt:lpstr>
      <vt:lpstr>Distribution of Office Supply Store Foot Traffic Across California Counties</vt:lpstr>
      <vt:lpstr>Brand Recovery Patterns: Early-2020 Stabilization in Office Supply Store Visits</vt:lpstr>
      <vt:lpstr>Brand Recovery and Stabilization Trends: Jan - Apr 2020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Agniva Mondal</dc:creator>
  <cp:lastModifiedBy>Ramana prabhu Sana</cp:lastModifiedBy>
  <cp:revision>1</cp:revision>
  <dcterms:created xsi:type="dcterms:W3CDTF">2025-10-12T17:34:25Z</dcterms:created>
  <dcterms:modified xsi:type="dcterms:W3CDTF">2025-10-12T20:55:03Z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0x01010054E202481DC1CB46AA011D949D311478</vt:lpwstr>
  </property>
  <property fmtid="{D5CDD505-2E9C-101B-9397-08002B2CF9AE}" pid="3" name="MediaServiceImageTags">
    <vt:lpwstr/>
  </property>
</Properties>
</file>