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theme/theme4.xml" ContentType="application/vnd.openxmlformats-officedocument.theme+xml"/>
  <Override PartName="/ppt/slideLayouts/slideLayout7.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1.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1"/>
    <p:sldMasterId id="2147483651" r:id="rId2"/>
    <p:sldMasterId id="2147483652" r:id="rId3"/>
    <p:sldMasterId id="2147483654" r:id="rId4"/>
    <p:sldMasterId id="2147483655" r:id="rId5"/>
  </p:sldMasterIdLst>
  <p:notesMasterIdLst>
    <p:notesMasterId r:id="rId13"/>
  </p:notesMasterIdLst>
  <p:sldIdLst>
    <p:sldId id="257" r:id="rId6"/>
    <p:sldId id="259" r:id="rId7"/>
    <p:sldId id="260" r:id="rId8"/>
    <p:sldId id="266" r:id="rId9"/>
    <p:sldId id="269" r:id="rId10"/>
    <p:sldId id="262" r:id="rId11"/>
    <p:sldId id="263" r:id="rId12"/>
  </p:sldIdLst>
  <p:sldSz cx="12192000" cy="6858000"/>
  <p:notesSz cx="6858000" cy="9144000"/>
  <p:custDataLst>
    <p:tags r:id="rId1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9AF9D7-02EA-079E-5016-82C340243484}" v="18" dt="2025-10-12T17:51:25.830"/>
    <p1510:client id="{D1E8327E-8024-1B4F-9B06-D415BD0E88CB}" v="13" dt="2025-10-12T18:00:26.1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presProps" Target="presProps.xml"/><Relationship Id="rId10" Type="http://schemas.openxmlformats.org/officeDocument/2006/relationships/slide" Target="slides/slide5.xml"/><Relationship Id="rId19" Type="http://schemas.microsoft.com/office/2016/11/relationships/changesInfo" Target="changesInfos/changesInfo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ddharth Vijayendra Shenoy" userId="S::shenoy22@purdue.edu::ffebcc8f-7a06-4e84-b225-70f02aec2e80" providerId="AD" clId="Web-{229AF9D7-02EA-079E-5016-82C340243484}"/>
    <pc:docChg chg="modSld">
      <pc:chgData name="Siddharth Vijayendra Shenoy" userId="S::shenoy22@purdue.edu::ffebcc8f-7a06-4e84-b225-70f02aec2e80" providerId="AD" clId="Web-{229AF9D7-02EA-079E-5016-82C340243484}" dt="2025-10-12T17:51:25.830" v="17" actId="20577"/>
      <pc:docMkLst>
        <pc:docMk/>
      </pc:docMkLst>
      <pc:sldChg chg="modSp">
        <pc:chgData name="Siddharth Vijayendra Shenoy" userId="S::shenoy22@purdue.edu::ffebcc8f-7a06-4e84-b225-70f02aec2e80" providerId="AD" clId="Web-{229AF9D7-02EA-079E-5016-82C340243484}" dt="2025-10-12T17:51:25.830" v="17" actId="20577"/>
        <pc:sldMkLst>
          <pc:docMk/>
          <pc:sldMk cId="507420064" sldId="262"/>
        </pc:sldMkLst>
        <pc:spChg chg="mod">
          <ac:chgData name="Siddharth Vijayendra Shenoy" userId="S::shenoy22@purdue.edu::ffebcc8f-7a06-4e84-b225-70f02aec2e80" providerId="AD" clId="Web-{229AF9D7-02EA-079E-5016-82C340243484}" dt="2025-10-12T17:50:59.142" v="14" actId="20577"/>
          <ac:spMkLst>
            <pc:docMk/>
            <pc:sldMk cId="507420064" sldId="262"/>
            <ac:spMk id="2" creationId="{85AFF143-6BD8-2674-B40D-8411BB9BEC1D}"/>
          </ac:spMkLst>
        </pc:spChg>
        <pc:spChg chg="mod">
          <ac:chgData name="Siddharth Vijayendra Shenoy" userId="S::shenoy22@purdue.edu::ffebcc8f-7a06-4e84-b225-70f02aec2e80" providerId="AD" clId="Web-{229AF9D7-02EA-079E-5016-82C340243484}" dt="2025-10-12T17:51:25.830" v="17" actId="20577"/>
          <ac:spMkLst>
            <pc:docMk/>
            <pc:sldMk cId="507420064" sldId="262"/>
            <ac:spMk id="3" creationId="{36155F97-AA4B-E922-5F96-CD65D5FAFAD4}"/>
          </ac:spMkLst>
        </pc:spChg>
        <pc:spChg chg="mod">
          <ac:chgData name="Siddharth Vijayendra Shenoy" userId="S::shenoy22@purdue.edu::ffebcc8f-7a06-4e84-b225-70f02aec2e80" providerId="AD" clId="Web-{229AF9D7-02EA-079E-5016-82C340243484}" dt="2025-10-12T17:50:18.531" v="2"/>
          <ac:spMkLst>
            <pc:docMk/>
            <pc:sldMk cId="507420064" sldId="262"/>
            <ac:spMk id="5" creationId="{343D758A-379D-3839-15DB-554B84577D0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74C693-A504-E049-80DB-B10C8F88391B}" type="datetimeFigureOut">
              <a:rPr lang="en-US" smtClean="0"/>
              <a:t>10/12/2025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D9DA21-02A9-A348-8F16-7D59C91E3FE1}" type="slidenum">
              <a:rPr lang="en-US" smtClean="0"/>
              <a:t>‹#›</a:t>
            </a:fld>
            <a:endParaRPr lang="en-US"/>
          </a:p>
        </p:txBody>
      </p:sp>
    </p:spTree>
    <p:extLst>
      <p:ext uri="{BB962C8B-B14F-4D97-AF65-F5344CB8AC3E}">
        <p14:creationId xmlns:p14="http://schemas.microsoft.com/office/powerpoint/2010/main" val="3754073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4D9DA21-02A9-A348-8F16-7D59C91E3FE1}" type="slidenum">
              <a:rPr lang="en-US" smtClean="0"/>
              <a:t>6</a:t>
            </a:fld>
            <a:endParaRPr lang="en-US"/>
          </a:p>
        </p:txBody>
      </p:sp>
    </p:spTree>
    <p:extLst>
      <p:ext uri="{BB962C8B-B14F-4D97-AF65-F5344CB8AC3E}">
        <p14:creationId xmlns:p14="http://schemas.microsoft.com/office/powerpoint/2010/main" val="16566282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EAFD4-E50F-295A-D7A1-83970B187129}"/>
              </a:ext>
            </a:extLst>
          </p:cNvPr>
          <p:cNvSpPr>
            <a:spLocks noGrp="1"/>
          </p:cNvSpPr>
          <p:nvPr>
            <p:ph type="title"/>
          </p:nvPr>
        </p:nvSpPr>
        <p:spPr/>
        <p:txBody>
          <a:bodyPr lIns="0"/>
          <a:lstStyle/>
          <a:p>
            <a:r>
              <a:rPr lang="en-US"/>
              <a:t>Click to edit Master title style</a:t>
            </a:r>
          </a:p>
        </p:txBody>
      </p:sp>
      <p:sp>
        <p:nvSpPr>
          <p:cNvPr id="3" name="Date Placeholder 2">
            <a:extLst>
              <a:ext uri="{FF2B5EF4-FFF2-40B4-BE49-F238E27FC236}">
                <a16:creationId xmlns:a16="http://schemas.microsoft.com/office/drawing/2014/main" id="{BF4D01AA-7390-4426-75B8-45D202F1A63F}"/>
              </a:ext>
            </a:extLst>
          </p:cNvPr>
          <p:cNvSpPr>
            <a:spLocks noGrp="1"/>
          </p:cNvSpPr>
          <p:nvPr>
            <p:ph type="dt" sz="half" idx="10"/>
          </p:nvPr>
        </p:nvSpPr>
        <p:spPr/>
        <p:txBody>
          <a:bodyPr/>
          <a:lstStyle/>
          <a:p>
            <a:fld id="{2E405B87-0B1C-464B-928F-AA5E9D282D70}" type="datetimeFigureOut">
              <a:rPr lang="en-US" smtClean="0"/>
              <a:t>10/12/2025</a:t>
            </a:fld>
            <a:endParaRPr lang="en-US"/>
          </a:p>
        </p:txBody>
      </p:sp>
      <p:sp>
        <p:nvSpPr>
          <p:cNvPr id="4" name="Footer Placeholder 3">
            <a:extLst>
              <a:ext uri="{FF2B5EF4-FFF2-40B4-BE49-F238E27FC236}">
                <a16:creationId xmlns:a16="http://schemas.microsoft.com/office/drawing/2014/main" id="{62A50DD9-A59D-E8B9-12E3-93BE32211BE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13E3E41-3F19-D504-3DD1-ED864ECA16FA}"/>
              </a:ext>
            </a:extLst>
          </p:cNvPr>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2173432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605281"/>
            <a:ext cx="6400800" cy="3190240"/>
          </a:xfrm>
        </p:spPr>
        <p:txBody>
          <a:bodyPr anchor="b"/>
          <a:lstStyle>
            <a:lvl1pPr algn="l">
              <a:defRPr sz="6000"/>
            </a:lvl1pPr>
          </a:lstStyle>
          <a:p>
            <a:r>
              <a:rPr lang="en-US"/>
              <a:t>Click to edit Master title style</a:t>
            </a:r>
          </a:p>
        </p:txBody>
      </p:sp>
      <p:sp>
        <p:nvSpPr>
          <p:cNvPr id="3" name="Subtitle 2"/>
          <p:cNvSpPr>
            <a:spLocks noGrp="1"/>
          </p:cNvSpPr>
          <p:nvPr>
            <p:ph type="subTitle" idx="1"/>
          </p:nvPr>
        </p:nvSpPr>
        <p:spPr>
          <a:xfrm>
            <a:off x="1526540" y="5181601"/>
            <a:ext cx="6400800" cy="695960"/>
          </a:xfrm>
        </p:spPr>
        <p:txBody>
          <a:bodyPr anchor="ctr"/>
          <a:lstStyle>
            <a:lvl1pPr marL="0" indent="0" algn="l">
              <a:buNone/>
              <a:defRPr sz="2400"/>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E405B87-0B1C-464B-928F-AA5E9D282D70}" type="datetimeFigureOut">
              <a:rPr lang="en-US" smtClean="0"/>
              <a:t>10/12/2025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AD4B2D-25FF-0B46-98A4-87FBB723E472}" type="slidenum">
              <a:rPr lang="en-US" smtClean="0"/>
              <a:t>‹#›</a:t>
            </a:fld>
            <a:endParaRPr lang="en-US"/>
          </a:p>
        </p:txBody>
      </p:sp>
      <p:sp>
        <p:nvSpPr>
          <p:cNvPr id="8" name="Picture Placeholder 7">
            <a:extLst>
              <a:ext uri="{FF2B5EF4-FFF2-40B4-BE49-F238E27FC236}">
                <a16:creationId xmlns:a16="http://schemas.microsoft.com/office/drawing/2014/main" id="{3CB9B453-B113-191E-39AE-5F46524E587E}"/>
              </a:ext>
            </a:extLst>
          </p:cNvPr>
          <p:cNvSpPr>
            <a:spLocks noGrp="1"/>
          </p:cNvSpPr>
          <p:nvPr>
            <p:ph type="pic" sz="quarter" idx="13" hasCustomPrompt="1"/>
          </p:nvPr>
        </p:nvSpPr>
        <p:spPr>
          <a:xfrm>
            <a:off x="1524000" y="1082043"/>
            <a:ext cx="1391920" cy="467195"/>
          </a:xfrm>
        </p:spPr>
        <p:txBody>
          <a:bodyPr anchor="ctr"/>
          <a:lstStyle>
            <a:lvl1pPr marL="120648" indent="0" algn="ctr">
              <a:buNone/>
              <a:defRPr/>
            </a:lvl1pPr>
          </a:lstStyle>
          <a:p>
            <a:r>
              <a:rPr lang="en-US"/>
              <a:t>Logo</a:t>
            </a:r>
          </a:p>
        </p:txBody>
      </p:sp>
    </p:spTree>
    <p:extLst>
      <p:ext uri="{BB962C8B-B14F-4D97-AF65-F5344CB8AC3E}">
        <p14:creationId xmlns:p14="http://schemas.microsoft.com/office/powerpoint/2010/main" val="25748377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19099" y="629392"/>
            <a:ext cx="3581401" cy="2799608"/>
          </a:xfrm>
        </p:spPr>
        <p:txBody>
          <a:bodyPr lIns="91440" anchor="t"/>
          <a:lstStyle>
            <a:lvl1pPr>
              <a:lnSpc>
                <a:spcPct val="100000"/>
              </a:lnSpc>
              <a:defRPr/>
            </a:lvl1pPr>
          </a:lstStyle>
          <a:p>
            <a:r>
              <a:rPr lang="en-US"/>
              <a:t>Click to edit Master title style</a:t>
            </a:r>
          </a:p>
        </p:txBody>
      </p:sp>
      <p:sp>
        <p:nvSpPr>
          <p:cNvPr id="3" name="Content Placeholder 2"/>
          <p:cNvSpPr>
            <a:spLocks noGrp="1"/>
          </p:cNvSpPr>
          <p:nvPr>
            <p:ph idx="1"/>
          </p:nvPr>
        </p:nvSpPr>
        <p:spPr>
          <a:xfrm>
            <a:off x="5631255" y="1068311"/>
            <a:ext cx="5951145" cy="5078492"/>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E405B87-0B1C-464B-928F-AA5E9D282D70}" type="datetimeFigureOut">
              <a:rPr lang="en-US" smtClean="0"/>
              <a:t>10/12/2025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1480292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EAFD4-E50F-295A-D7A1-83970B187129}"/>
              </a:ext>
            </a:extLst>
          </p:cNvPr>
          <p:cNvSpPr>
            <a:spLocks noGrp="1"/>
          </p:cNvSpPr>
          <p:nvPr>
            <p:ph type="title"/>
          </p:nvPr>
        </p:nvSpPr>
        <p:spPr/>
        <p:txBody>
          <a:bodyPr lIns="91440"/>
          <a:lstStyle/>
          <a:p>
            <a:r>
              <a:rPr lang="en-US"/>
              <a:t>Click to edit Master title style</a:t>
            </a:r>
          </a:p>
        </p:txBody>
      </p:sp>
      <p:sp>
        <p:nvSpPr>
          <p:cNvPr id="3" name="Date Placeholder 2">
            <a:extLst>
              <a:ext uri="{FF2B5EF4-FFF2-40B4-BE49-F238E27FC236}">
                <a16:creationId xmlns:a16="http://schemas.microsoft.com/office/drawing/2014/main" id="{BF4D01AA-7390-4426-75B8-45D202F1A63F}"/>
              </a:ext>
            </a:extLst>
          </p:cNvPr>
          <p:cNvSpPr>
            <a:spLocks noGrp="1"/>
          </p:cNvSpPr>
          <p:nvPr>
            <p:ph type="dt" sz="half" idx="10"/>
          </p:nvPr>
        </p:nvSpPr>
        <p:spPr/>
        <p:txBody>
          <a:bodyPr/>
          <a:lstStyle/>
          <a:p>
            <a:fld id="{2E405B87-0B1C-464B-928F-AA5E9D282D70}" type="datetimeFigureOut">
              <a:rPr lang="en-US" smtClean="0"/>
              <a:t>10/12/2025</a:t>
            </a:fld>
            <a:endParaRPr lang="en-US"/>
          </a:p>
        </p:txBody>
      </p:sp>
      <p:sp>
        <p:nvSpPr>
          <p:cNvPr id="4" name="Footer Placeholder 3">
            <a:extLst>
              <a:ext uri="{FF2B5EF4-FFF2-40B4-BE49-F238E27FC236}">
                <a16:creationId xmlns:a16="http://schemas.microsoft.com/office/drawing/2014/main" id="{62A50DD9-A59D-E8B9-12E3-93BE32211BE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13E3E41-3F19-D504-3DD1-ED864ECA16FA}"/>
              </a:ext>
            </a:extLst>
          </p:cNvPr>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1450460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19099" y="629392"/>
            <a:ext cx="3581401" cy="2799608"/>
          </a:xfrm>
        </p:spPr>
        <p:txBody>
          <a:bodyPr lIns="91440" anchor="t"/>
          <a:lstStyle>
            <a:lvl1pPr>
              <a:lnSpc>
                <a:spcPct val="90000"/>
              </a:lnSpc>
              <a:defRPr/>
            </a:lvl1pPr>
          </a:lstStyle>
          <a:p>
            <a:r>
              <a:rPr lang="en-US"/>
              <a:t>Click to edit Master title style</a:t>
            </a:r>
          </a:p>
        </p:txBody>
      </p:sp>
      <p:sp>
        <p:nvSpPr>
          <p:cNvPr id="3" name="Content Placeholder 2"/>
          <p:cNvSpPr>
            <a:spLocks noGrp="1"/>
          </p:cNvSpPr>
          <p:nvPr>
            <p:ph idx="1"/>
          </p:nvPr>
        </p:nvSpPr>
        <p:spPr>
          <a:xfrm>
            <a:off x="5631255" y="1068311"/>
            <a:ext cx="5951145" cy="5078492"/>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E405B87-0B1C-464B-928F-AA5E9D282D70}" type="datetimeFigureOut">
              <a:rPr lang="en-US" smtClean="0"/>
              <a:t>10/12/2025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16599722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19099" y="629392"/>
            <a:ext cx="3581401" cy="2799608"/>
          </a:xfrm>
        </p:spPr>
        <p:txBody>
          <a:bodyPr lIns="91440" anchor="t"/>
          <a:lstStyle>
            <a:lvl1pPr>
              <a:lnSpc>
                <a:spcPct val="100000"/>
              </a:lnSpc>
              <a:defRPr/>
            </a:lvl1pPr>
          </a:lstStyle>
          <a:p>
            <a:r>
              <a:rPr lang="en-US"/>
              <a:t>Click to edit Master title style</a:t>
            </a:r>
          </a:p>
        </p:txBody>
      </p:sp>
      <p:sp>
        <p:nvSpPr>
          <p:cNvPr id="3" name="Content Placeholder 2"/>
          <p:cNvSpPr>
            <a:spLocks noGrp="1"/>
          </p:cNvSpPr>
          <p:nvPr>
            <p:ph idx="1"/>
          </p:nvPr>
        </p:nvSpPr>
        <p:spPr>
          <a:xfrm>
            <a:off x="5631255" y="1068311"/>
            <a:ext cx="5951145" cy="5078492"/>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E405B87-0B1C-464B-928F-AA5E9D282D70}" type="datetimeFigureOut">
              <a:rPr lang="en-US" smtClean="0"/>
              <a:t>10/12/2025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6322655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AB2855-E176-596D-5519-4D6CDFD0B734}"/>
              </a:ext>
            </a:extLst>
          </p:cNvPr>
          <p:cNvSpPr>
            <a:spLocks noGrp="1"/>
          </p:cNvSpPr>
          <p:nvPr>
            <p:ph type="dt" sz="half" idx="10"/>
          </p:nvPr>
        </p:nvSpPr>
        <p:spPr/>
        <p:txBody>
          <a:bodyPr/>
          <a:lstStyle/>
          <a:p>
            <a:fld id="{2E405B87-0B1C-464B-928F-AA5E9D282D70}" type="datetimeFigureOut">
              <a:rPr lang="en-US" smtClean="0"/>
              <a:t>10/12/2025</a:t>
            </a:fld>
            <a:endParaRPr lang="en-US"/>
          </a:p>
        </p:txBody>
      </p:sp>
      <p:sp>
        <p:nvSpPr>
          <p:cNvPr id="4" name="Footer Placeholder 3">
            <a:extLst>
              <a:ext uri="{FF2B5EF4-FFF2-40B4-BE49-F238E27FC236}">
                <a16:creationId xmlns:a16="http://schemas.microsoft.com/office/drawing/2014/main" id="{A26ABB37-847E-9F9F-07F4-A07BFBF76A4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E3B6B96-DFAD-8C9C-5F19-A57BAC05A1A5}"/>
              </a:ext>
            </a:extLst>
          </p:cNvPr>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30433323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5.xml"/><Relationship Id="rId1" Type="http://schemas.openxmlformats.org/officeDocument/2006/relationships/slideLayout" Target="../slideLayouts/slideLayout4.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6.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0" tIns="45720" rIns="91440" bIns="45720" rtlCol="0" anchor="t">
            <a:normAutofit/>
          </a:bodyPr>
          <a:lstStyle/>
          <a:p>
            <a:r>
              <a:rPr lang="en-US"/>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10/12/2025</a:t>
            </a:fld>
            <a:endParaRPr lang="en-US"/>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4110171325"/>
      </p:ext>
    </p:extLst>
  </p:cSld>
  <p:clrMap bg1="lt1" tx1="dk1" bg2="lt2" tx2="dk2" accent1="accent1" accent2="accent2" accent3="accent3" accent4="accent4" accent5="accent5" accent6="accent6" hlink="hlink" folHlink="folHlink"/>
  <p:sldLayoutIdLst>
    <p:sldLayoutId id="2147483666" r:id="rId1"/>
    <p:sldLayoutId id="2147483674" r:id="rId2"/>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616">
          <p15:clr>
            <a:srgbClr val="F26B43"/>
          </p15:clr>
        </p15:guide>
        <p15:guide id="7" orient="horz" pos="2160">
          <p15:clr>
            <a:srgbClr val="F26B43"/>
          </p15:clr>
        </p15:guide>
        <p15:guide id="9" pos="5064">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68">
          <p15:clr>
            <a:srgbClr val="F26B43"/>
          </p15:clr>
        </p15:guide>
        <p15:guide id="17" pos="2664">
          <p15:clr>
            <a:srgbClr val="F26B43"/>
          </p15:clr>
        </p15:guide>
        <p15:guide id="18" pos="5016">
          <p15:clr>
            <a:srgbClr val="F26B43"/>
          </p15:clr>
        </p15:guide>
        <p15:guide id="19" pos="5112">
          <p15:clr>
            <a:srgbClr val="F26B43"/>
          </p15:clr>
        </p15:guide>
        <p15:guide id="20" orient="horz" pos="792">
          <p15:clr>
            <a:srgbClr val="F26B43"/>
          </p15:clr>
        </p15:guide>
        <p15:guide id="21" orient="horz" pos="936">
          <p15:clr>
            <a:srgbClr val="F26B43"/>
          </p15:clr>
        </p15:guide>
        <p15:guide id="22" pos="31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10/12/2025</a:t>
            </a:fld>
            <a:endParaRPr lang="en-US"/>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63671588"/>
      </p:ext>
    </p:extLst>
  </p:cSld>
  <p:clrMap bg1="lt1" tx1="dk1" bg2="lt2" tx2="dk2" accent1="accent1" accent2="accent2" accent3="accent3" accent4="accent4" accent5="accent5" accent6="accent6" hlink="hlink" folHlink="folHlink"/>
  <p:sldLayoutIdLst>
    <p:sldLayoutId id="2147483669"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p15:clr>
            <a:srgbClr val="F26B43"/>
          </p15:clr>
        </p15:guide>
        <p15:guide id="7" orient="horz" pos="2160">
          <p15:clr>
            <a:srgbClr val="F26B43"/>
          </p15:clr>
        </p15:guide>
        <p15:guide id="9" pos="5088">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p15:clr>
            <a:srgbClr val="F26B43"/>
          </p15:clr>
        </p15:guide>
        <p15:guide id="17" pos="2664">
          <p15:clr>
            <a:srgbClr val="F26B43"/>
          </p15:clr>
        </p15:guide>
        <p15:guide id="18" pos="5016">
          <p15:clr>
            <a:srgbClr val="F26B43"/>
          </p15:clr>
        </p15:guide>
        <p15:guide id="19" pos="5160">
          <p15:clr>
            <a:srgbClr val="F26B43"/>
          </p15:clr>
        </p15:guide>
        <p15:guide id="20" orient="horz" pos="792">
          <p15:clr>
            <a:srgbClr val="F26B43"/>
          </p15:clr>
        </p15:guide>
        <p15:guide id="21" orient="horz" pos="936">
          <p15:clr>
            <a:srgbClr val="F26B43"/>
          </p15:clr>
        </p15:guide>
        <p15:guide id="22" pos="312">
          <p15:clr>
            <a:srgbClr val="F26B43"/>
          </p15:clr>
        </p15:guide>
        <p15:guide id="23" orient="horz" pos="1200" userDrawn="1">
          <p15:clr>
            <a:srgbClr val="F26B43"/>
          </p15:clr>
        </p15:guide>
        <p15:guide id="24" orient="horz" pos="312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10/12/2025</a:t>
            </a:fld>
            <a:endParaRPr lang="en-US"/>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2348677719"/>
      </p:ext>
    </p:extLst>
  </p:cSld>
  <p:clrMap bg1="lt1" tx1="dk1" bg2="lt2" tx2="dk2" accent1="accent1" accent2="accent2" accent3="accent3" accent4="accent4" accent5="accent5" accent6="accent6" hlink="hlink" folHlink="folHlink"/>
  <p:sldLayoutIdLst>
    <p:sldLayoutId id="2147483667" r:id="rId1"/>
    <p:sldLayoutId id="2147483670" r:id="rId2"/>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p15:clr>
            <a:srgbClr val="F26B43"/>
          </p15:clr>
        </p15:guide>
        <p15:guide id="7" orient="horz" pos="2160">
          <p15:clr>
            <a:srgbClr val="F26B43"/>
          </p15:clr>
        </p15:guide>
        <p15:guide id="9" pos="5088">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p15:clr>
            <a:srgbClr val="F26B43"/>
          </p15:clr>
        </p15:guide>
        <p15:guide id="17" pos="2664">
          <p15:clr>
            <a:srgbClr val="F26B43"/>
          </p15:clr>
        </p15:guide>
        <p15:guide id="18" pos="5016">
          <p15:clr>
            <a:srgbClr val="F26B43"/>
          </p15:clr>
        </p15:guide>
        <p15:guide id="19" pos="5160">
          <p15:clr>
            <a:srgbClr val="F26B43"/>
          </p15:clr>
        </p15:guide>
        <p15:guide id="20" orient="horz" pos="792">
          <p15:clr>
            <a:srgbClr val="F26B43"/>
          </p15:clr>
        </p15:guide>
        <p15:guide id="21" orient="horz" pos="936">
          <p15:clr>
            <a:srgbClr val="F26B43"/>
          </p15:clr>
        </p15:guide>
        <p15:guide id="22" pos="312">
          <p15:clr>
            <a:srgbClr val="F26B43"/>
          </p15:clr>
        </p15:guide>
        <p15:guide id="23" orient="horz" pos="1200">
          <p15:clr>
            <a:srgbClr val="F26B43"/>
          </p15:clr>
        </p15:guide>
        <p15:guide id="24" orient="horz" pos="312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10/12/2025</a:t>
            </a:fld>
            <a:endParaRPr lang="en-US"/>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40511270"/>
      </p:ext>
    </p:extLst>
  </p:cSld>
  <p:clrMap bg1="lt1" tx1="dk1" bg2="lt2" tx2="dk2" accent1="accent1" accent2="accent2" accent3="accent3" accent4="accent4" accent5="accent5" accent6="accent6" hlink="hlink" folHlink="folHlink"/>
  <p:sldLayoutIdLst>
    <p:sldLayoutId id="2147483672"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userDrawn="1">
          <p15:clr>
            <a:srgbClr val="F26B43"/>
          </p15:clr>
        </p15:guide>
        <p15:guide id="7" orient="horz" pos="2160">
          <p15:clr>
            <a:srgbClr val="F26B43"/>
          </p15:clr>
        </p15:guide>
        <p15:guide id="9" pos="5088" userDrawn="1">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userDrawn="1">
          <p15:clr>
            <a:srgbClr val="F26B43"/>
          </p15:clr>
        </p15:guide>
        <p15:guide id="17" pos="2664" userDrawn="1">
          <p15:clr>
            <a:srgbClr val="F26B43"/>
          </p15:clr>
        </p15:guide>
        <p15:guide id="18" pos="5016">
          <p15:clr>
            <a:srgbClr val="F26B43"/>
          </p15:clr>
        </p15:guide>
        <p15:guide id="19" pos="5160" userDrawn="1">
          <p15:clr>
            <a:srgbClr val="F26B43"/>
          </p15:clr>
        </p15:guide>
        <p15:guide id="20" orient="horz" pos="792">
          <p15:clr>
            <a:srgbClr val="F26B43"/>
          </p15:clr>
        </p15:guide>
        <p15:guide id="21" orient="horz" pos="936">
          <p15:clr>
            <a:srgbClr val="F26B43"/>
          </p15:clr>
        </p15:guide>
        <p15:guide id="22" pos="312">
          <p15:clr>
            <a:srgbClr val="F26B43"/>
          </p15:clr>
        </p15:guide>
        <p15:guide id="23" orient="horz" pos="1200" userDrawn="1">
          <p15:clr>
            <a:srgbClr val="F26B43"/>
          </p15:clr>
        </p15:guide>
        <p15:guide id="24" orient="horz" pos="3120"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0" tIns="45720" rIns="91440" bIns="45720" rtlCol="0" anchor="t">
            <a:normAutofit/>
          </a:bodyPr>
          <a:lstStyle/>
          <a:p>
            <a:r>
              <a:rPr lang="en-US"/>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10/12/2025</a:t>
            </a:fld>
            <a:endParaRPr lang="en-US"/>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4110171325"/>
      </p:ext>
    </p:extLst>
  </p:cSld>
  <p:clrMap bg1="lt1" tx1="dk1" bg2="lt2" tx2="dk2" accent1="accent1" accent2="accent2" accent3="accent3" accent4="accent4" accent5="accent5" accent6="accent6" hlink="hlink" folHlink="folHlink"/>
  <p:sldLayoutIdLst>
    <p:sldLayoutId id="2147483673"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616">
          <p15:clr>
            <a:srgbClr val="F26B43"/>
          </p15:clr>
        </p15:guide>
        <p15:guide id="7" orient="horz" pos="2160">
          <p15:clr>
            <a:srgbClr val="F26B43"/>
          </p15:clr>
        </p15:guide>
        <p15:guide id="9" pos="5064">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68">
          <p15:clr>
            <a:srgbClr val="F26B43"/>
          </p15:clr>
        </p15:guide>
        <p15:guide id="17" pos="2664">
          <p15:clr>
            <a:srgbClr val="F26B43"/>
          </p15:clr>
        </p15:guide>
        <p15:guide id="18" pos="5016">
          <p15:clr>
            <a:srgbClr val="F26B43"/>
          </p15:clr>
        </p15:guide>
        <p15:guide id="19" pos="5112">
          <p15:clr>
            <a:srgbClr val="F26B43"/>
          </p15:clr>
        </p15:guide>
        <p15:guide id="20" orient="horz" pos="792">
          <p15:clr>
            <a:srgbClr val="F26B43"/>
          </p15:clr>
        </p15:guide>
        <p15:guide id="21" orient="horz" pos="936">
          <p15:clr>
            <a:srgbClr val="F26B43"/>
          </p15:clr>
        </p15:guide>
        <p15:guide id="22" pos="31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tags" Target="../tags/tag4.xml"/><Relationship Id="rId7" Type="http://schemas.openxmlformats.org/officeDocument/2006/relationships/image" Target="../media/image1.jpe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Layout" Target="../slideLayouts/slideLayout2.xml"/><Relationship Id="rId5" Type="http://schemas.openxmlformats.org/officeDocument/2006/relationships/tags" Target="../tags/tag6.xml"/><Relationship Id="rId4" Type="http://schemas.openxmlformats.org/officeDocument/2006/relationships/tags" Target="../tags/tag5.xml"/></Relationships>
</file>

<file path=ppt/slides/_rels/slide2.xml.rels><?xml version="1.0" encoding="UTF-8" standalone="yes"?>
<Relationships xmlns="http://schemas.openxmlformats.org/package/2006/relationships"><Relationship Id="rId8" Type="http://schemas.openxmlformats.org/officeDocument/2006/relationships/tags" Target="../tags/tag14.xml"/><Relationship Id="rId3" Type="http://schemas.openxmlformats.org/officeDocument/2006/relationships/tags" Target="../tags/tag9.xml"/><Relationship Id="rId7" Type="http://schemas.openxmlformats.org/officeDocument/2006/relationships/tags" Target="../tags/tag13.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tags" Target="../tags/tag12.xml"/><Relationship Id="rId5" Type="http://schemas.openxmlformats.org/officeDocument/2006/relationships/tags" Target="../tags/tag11.xml"/><Relationship Id="rId10" Type="http://schemas.openxmlformats.org/officeDocument/2006/relationships/slideLayout" Target="../slideLayouts/slideLayout3.xml"/><Relationship Id="rId4" Type="http://schemas.openxmlformats.org/officeDocument/2006/relationships/tags" Target="../tags/tag10.xml"/><Relationship Id="rId9" Type="http://schemas.openxmlformats.org/officeDocument/2006/relationships/tags" Target="../tags/tag15.xml"/></Relationships>
</file>

<file path=ppt/slides/_rels/slide3.xml.rels><?xml version="1.0" encoding="UTF-8" standalone="yes"?>
<Relationships xmlns="http://schemas.openxmlformats.org/package/2006/relationships"><Relationship Id="rId8" Type="http://schemas.openxmlformats.org/officeDocument/2006/relationships/tags" Target="../tags/tag23.xml"/><Relationship Id="rId13" Type="http://schemas.openxmlformats.org/officeDocument/2006/relationships/tags" Target="../tags/tag28.xml"/><Relationship Id="rId3" Type="http://schemas.openxmlformats.org/officeDocument/2006/relationships/tags" Target="../tags/tag18.xml"/><Relationship Id="rId7" Type="http://schemas.openxmlformats.org/officeDocument/2006/relationships/tags" Target="../tags/tag22.xml"/><Relationship Id="rId12" Type="http://schemas.openxmlformats.org/officeDocument/2006/relationships/tags" Target="../tags/tag27.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tags" Target="../tags/tag26.xml"/><Relationship Id="rId5" Type="http://schemas.openxmlformats.org/officeDocument/2006/relationships/tags" Target="../tags/tag20.xml"/><Relationship Id="rId10" Type="http://schemas.openxmlformats.org/officeDocument/2006/relationships/tags" Target="../tags/tag25.xml"/><Relationship Id="rId4" Type="http://schemas.openxmlformats.org/officeDocument/2006/relationships/tags" Target="../tags/tag19.xml"/><Relationship Id="rId9" Type="http://schemas.openxmlformats.org/officeDocument/2006/relationships/tags" Target="../tags/tag24.xml"/><Relationship Id="rId14"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31.xml"/><Relationship Id="rId7" Type="http://schemas.openxmlformats.org/officeDocument/2006/relationships/image" Target="../media/image4.png"/><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openxmlformats.org/officeDocument/2006/relationships/slideLayout" Target="../slideLayouts/slideLayout4.xml"/><Relationship Id="rId3" Type="http://schemas.openxmlformats.org/officeDocument/2006/relationships/tags" Target="../tags/tag34.xml"/><Relationship Id="rId7" Type="http://schemas.openxmlformats.org/officeDocument/2006/relationships/tags" Target="../tags/tag38.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5" Type="http://schemas.openxmlformats.org/officeDocument/2006/relationships/tags" Target="../tags/tag36.xml"/><Relationship Id="rId10" Type="http://schemas.openxmlformats.org/officeDocument/2006/relationships/image" Target="../media/image7.png"/><Relationship Id="rId4" Type="http://schemas.openxmlformats.org/officeDocument/2006/relationships/tags" Target="../tags/tag35.xml"/><Relationship Id="rId9"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tags" Target="../tags/tag41.xml"/><Relationship Id="rId7" Type="http://schemas.openxmlformats.org/officeDocument/2006/relationships/notesSlide" Target="../notesSlides/notesSlide1.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slideLayout" Target="../slideLayouts/slideLayout6.xml"/><Relationship Id="rId5" Type="http://schemas.openxmlformats.org/officeDocument/2006/relationships/tags" Target="../tags/tag43.xml"/><Relationship Id="rId4" Type="http://schemas.openxmlformats.org/officeDocument/2006/relationships/tags" Target="../tags/tag42.xml"/></Relationships>
</file>

<file path=ppt/slides/_rels/slide7.xml.rels><?xml version="1.0" encoding="UTF-8" standalone="yes"?>
<Relationships xmlns="http://schemas.openxmlformats.org/package/2006/relationships"><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tags" Target="../tags/tag44.xml"/><Relationship Id="rId4"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4E124-D334-7962-D080-4695418A9ECC}"/>
              </a:ext>
            </a:extLst>
          </p:cNvPr>
          <p:cNvSpPr>
            <a:spLocks noGrp="1"/>
          </p:cNvSpPr>
          <p:nvPr>
            <p:ph type="ctrTitle"/>
            <p:custDataLst>
              <p:tags r:id="rId2"/>
            </p:custDataLst>
          </p:nvPr>
        </p:nvSpPr>
        <p:spPr>
          <a:xfrm>
            <a:off x="419100" y="896981"/>
            <a:ext cx="5600700" cy="3046369"/>
          </a:xfrm>
        </p:spPr>
        <p:txBody>
          <a:bodyPr lIns="0" anchor="b">
            <a:normAutofit/>
          </a:bodyPr>
          <a:lstStyle/>
          <a:p>
            <a:pPr>
              <a:lnSpc>
                <a:spcPct val="80000"/>
              </a:lnSpc>
            </a:pPr>
            <a:r>
              <a:rPr lang="en-US" sz="4800">
                <a:latin typeface="Calibri" panose="020F0502020204030204" pitchFamily="34" charset="0"/>
                <a:cs typeface="Calibri" panose="020F0502020204030204" pitchFamily="34" charset="0"/>
              </a:rPr>
              <a:t>Office Supply Store Trends in 2020</a:t>
            </a:r>
          </a:p>
        </p:txBody>
      </p:sp>
      <p:sp>
        <p:nvSpPr>
          <p:cNvPr id="3" name="Subtitle 2">
            <a:extLst>
              <a:ext uri="{FF2B5EF4-FFF2-40B4-BE49-F238E27FC236}">
                <a16:creationId xmlns:a16="http://schemas.microsoft.com/office/drawing/2014/main" id="{C6A0F976-02A3-7F7A-1643-1F2BBA987641}"/>
              </a:ext>
            </a:extLst>
          </p:cNvPr>
          <p:cNvSpPr>
            <a:spLocks noGrp="1"/>
          </p:cNvSpPr>
          <p:nvPr>
            <p:ph type="subTitle" idx="1"/>
            <p:custDataLst>
              <p:tags r:id="rId3"/>
            </p:custDataLst>
          </p:nvPr>
        </p:nvSpPr>
        <p:spPr>
          <a:xfrm>
            <a:off x="419100" y="6151881"/>
            <a:ext cx="5600700" cy="477519"/>
          </a:xfrm>
        </p:spPr>
        <p:txBody>
          <a:bodyPr lIns="0">
            <a:normAutofit/>
          </a:bodyPr>
          <a:lstStyle/>
          <a:p>
            <a:r>
              <a:rPr lang="en-US" sz="1800">
                <a:solidFill>
                  <a:schemeClr val="tx2"/>
                </a:solidFill>
                <a:latin typeface="Calibri" panose="020F0502020204030204" pitchFamily="34" charset="0"/>
                <a:cs typeface="Calibri" panose="020F0502020204030204" pitchFamily="34" charset="0"/>
              </a:rPr>
              <a:t>October 12, 2025</a:t>
            </a:r>
          </a:p>
        </p:txBody>
      </p:sp>
      <p:sp>
        <p:nvSpPr>
          <p:cNvPr id="5" name="Subtitle 2">
            <a:extLst>
              <a:ext uri="{FF2B5EF4-FFF2-40B4-BE49-F238E27FC236}">
                <a16:creationId xmlns:a16="http://schemas.microsoft.com/office/drawing/2014/main" id="{B04F756F-14A4-3FC0-9BC1-A2E8DD458977}"/>
              </a:ext>
            </a:extLst>
          </p:cNvPr>
          <p:cNvSpPr txBox="1">
            <a:spLocks/>
          </p:cNvSpPr>
          <p:nvPr>
            <p:custDataLst>
              <p:tags r:id="rId4"/>
            </p:custDataLst>
          </p:nvPr>
        </p:nvSpPr>
        <p:spPr>
          <a:xfrm>
            <a:off x="419100" y="3943350"/>
            <a:ext cx="5600700" cy="914400"/>
          </a:xfrm>
          <a:prstGeom prst="rect">
            <a:avLst/>
          </a:prstGeom>
        </p:spPr>
        <p:txBody>
          <a:bodyPr vert="horz" lIns="0" tIns="45720" rIns="91440" bIns="45720" rtlCol="0" anchor="t">
            <a:normAutofit/>
          </a:bodyPr>
          <a:lstStyle>
            <a:lvl1pPr marL="0" indent="0" algn="l" defTabSz="914354" rtl="0" eaLnBrk="1" latinLnBrk="0" hangingPunct="1">
              <a:lnSpc>
                <a:spcPct val="150000"/>
              </a:lnSpc>
              <a:spcBef>
                <a:spcPts val="1200"/>
              </a:spcBef>
              <a:buFont typeface="Arial" panose="020B0604020202020204" pitchFamily="34" charset="0"/>
              <a:buNone/>
              <a:tabLst/>
              <a:defRPr sz="2400" kern="1200">
                <a:solidFill>
                  <a:schemeClr val="tx1"/>
                </a:solidFill>
                <a:latin typeface="+mn-lt"/>
                <a:ea typeface="+mn-ea"/>
                <a:cs typeface="Arial" panose="020B0604020202020204" pitchFamily="34" charset="0"/>
              </a:defRPr>
            </a:lvl1pPr>
            <a:lvl2pPr marL="457178" indent="0" algn="ctr" defTabSz="914354" rtl="0" eaLnBrk="1" latinLnBrk="0" hangingPunct="1">
              <a:lnSpc>
                <a:spcPct val="150000"/>
              </a:lnSpc>
              <a:spcBef>
                <a:spcPts val="1200"/>
              </a:spcBef>
              <a:buFont typeface="Arial" panose="020B0604020202020204" pitchFamily="34" charset="0"/>
              <a:buNone/>
              <a:tabLst/>
              <a:defRPr sz="2000" kern="1200">
                <a:solidFill>
                  <a:schemeClr val="tx1"/>
                </a:solidFill>
                <a:latin typeface="+mn-lt"/>
                <a:ea typeface="+mn-ea"/>
                <a:cs typeface="Arial" panose="020B0604020202020204" pitchFamily="34" charset="0"/>
              </a:defRPr>
            </a:lvl2pPr>
            <a:lvl3pPr marL="914354" indent="0" algn="ctr" defTabSz="914354" rtl="0" eaLnBrk="1" latinLnBrk="0" hangingPunct="1">
              <a:lnSpc>
                <a:spcPct val="150000"/>
              </a:lnSpc>
              <a:spcBef>
                <a:spcPts val="1200"/>
              </a:spcBef>
              <a:buFont typeface="Arial" panose="020B0604020202020204" pitchFamily="34" charset="0"/>
              <a:buNone/>
              <a:tabLst/>
              <a:defRPr sz="1800" kern="1200">
                <a:solidFill>
                  <a:schemeClr val="tx1"/>
                </a:solidFill>
                <a:latin typeface="+mn-lt"/>
                <a:ea typeface="+mn-ea"/>
                <a:cs typeface="Arial" panose="020B0604020202020204" pitchFamily="34" charset="0"/>
              </a:defRPr>
            </a:lvl3pPr>
            <a:lvl4pPr marL="1371532" indent="0" algn="ctr" defTabSz="914354" rtl="0" eaLnBrk="1" latinLnBrk="0" hangingPunct="1">
              <a:lnSpc>
                <a:spcPct val="150000"/>
              </a:lnSpc>
              <a:spcBef>
                <a:spcPts val="1200"/>
              </a:spcBef>
              <a:buFont typeface="Arial" panose="020B0604020202020204" pitchFamily="34" charset="0"/>
              <a:buNone/>
              <a:tabLst/>
              <a:defRPr sz="1600" kern="1200">
                <a:solidFill>
                  <a:schemeClr val="tx1"/>
                </a:solidFill>
                <a:latin typeface="+mn-lt"/>
                <a:ea typeface="+mn-ea"/>
                <a:cs typeface="Arial" panose="020B0604020202020204" pitchFamily="34" charset="0"/>
              </a:defRPr>
            </a:lvl4pPr>
            <a:lvl5pPr marL="1828709" indent="0" algn="ctr" defTabSz="914354" rtl="0" eaLnBrk="1" latinLnBrk="0" hangingPunct="1">
              <a:lnSpc>
                <a:spcPct val="150000"/>
              </a:lnSpc>
              <a:spcBef>
                <a:spcPts val="1200"/>
              </a:spcBef>
              <a:buFont typeface="Arial" panose="020B0604020202020204" pitchFamily="34" charset="0"/>
              <a:buNone/>
              <a:tabLst/>
              <a:defRPr sz="1600" kern="1200">
                <a:solidFill>
                  <a:schemeClr val="tx1"/>
                </a:solidFill>
                <a:latin typeface="+mn-lt"/>
                <a:ea typeface="+mn-ea"/>
                <a:cs typeface="Arial" panose="020B0604020202020204" pitchFamily="34" charset="0"/>
              </a:defRPr>
            </a:lvl5pPr>
            <a:lvl6pPr marL="2285886" indent="0" algn="ctr" defTabSz="914354"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062" indent="0" algn="ctr" defTabSz="914354"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240" indent="0" algn="ctr" defTabSz="914354"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418" indent="0" algn="ctr" defTabSz="914354"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en-US" sz="1800">
                <a:solidFill>
                  <a:schemeClr val="tx2"/>
                </a:solidFill>
                <a:latin typeface="Calibri" panose="020F0502020204030204" pitchFamily="34" charset="0"/>
                <a:cs typeface="Calibri" panose="020F0502020204030204" pitchFamily="34" charset="0"/>
              </a:rPr>
              <a:t>Foot Traffic and Dwell Time Trends at Office Supply Stores During the Remote Work Shift</a:t>
            </a:r>
          </a:p>
        </p:txBody>
      </p:sp>
      <p:pic>
        <p:nvPicPr>
          <p:cNvPr id="7" name="Picture Placeholder 8">
            <a:extLst>
              <a:ext uri="{FF2B5EF4-FFF2-40B4-BE49-F238E27FC236}">
                <a16:creationId xmlns:a16="http://schemas.microsoft.com/office/drawing/2014/main" id="{78C8CE94-2CFD-E8CD-2F66-2A57B1AC3B08}"/>
              </a:ext>
            </a:extLst>
          </p:cNvPr>
          <p:cNvPicPr>
            <a:picLocks noChangeAspect="1"/>
          </p:cNvPicPr>
          <p:nvPr>
            <p:custDataLst>
              <p:tags r:id="rId5"/>
            </p:custDataLst>
          </p:nvPr>
        </p:nvPicPr>
        <p:blipFill rotWithShape="1">
          <a:blip r:embed="rId7" cstate="screen">
            <a:extLst>
              <a:ext uri="{28A0092B-C50C-407E-A947-70E740481C1C}">
                <a14:useLocalDpi xmlns:a14="http://schemas.microsoft.com/office/drawing/2010/main"/>
              </a:ext>
            </a:extLst>
          </a:blip>
          <a:srcRect l="4761" r="4761"/>
          <a:stretch>
            <a:fillRect/>
          </a:stretch>
        </p:blipFill>
        <p:spPr>
          <a:xfrm>
            <a:off x="6172200" y="228600"/>
            <a:ext cx="5791200" cy="6400800"/>
          </a:xfrm>
          <a:prstGeom prst="roundRect">
            <a:avLst>
              <a:gd name="adj" fmla="val 933"/>
            </a:avLst>
          </a:prstGeom>
        </p:spPr>
      </p:pic>
    </p:spTree>
    <p:custDataLst>
      <p:tags r:id="rId1"/>
    </p:custDataLst>
    <p:extLst>
      <p:ext uri="{BB962C8B-B14F-4D97-AF65-F5344CB8AC3E}">
        <p14:creationId xmlns:p14="http://schemas.microsoft.com/office/powerpoint/2010/main" val="34272995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66DC6E8B-3BFF-262A-9B2F-6ECD5A053EB3}"/>
              </a:ext>
            </a:extLst>
          </p:cNvPr>
          <p:cNvSpPr/>
          <p:nvPr/>
        </p:nvSpPr>
        <p:spPr>
          <a:xfrm>
            <a:off x="4229100" y="228600"/>
            <a:ext cx="7734300" cy="6400800"/>
          </a:xfrm>
          <a:prstGeom prst="roundRect">
            <a:avLst>
              <a:gd name="adj" fmla="val 1903"/>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noProof="1">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9CDA48C6-AA9A-1D09-0830-E327473D9E41}"/>
              </a:ext>
            </a:extLst>
          </p:cNvPr>
          <p:cNvSpPr txBox="1"/>
          <p:nvPr>
            <p:custDataLst>
              <p:tags r:id="rId1"/>
            </p:custDataLst>
          </p:nvPr>
        </p:nvSpPr>
        <p:spPr>
          <a:xfrm>
            <a:off x="419100" y="249300"/>
            <a:ext cx="3581400" cy="307777"/>
          </a:xfrm>
          <a:prstGeom prst="rect">
            <a:avLst/>
          </a:prstGeom>
          <a:noFill/>
        </p:spPr>
        <p:txBody>
          <a:bodyPr wrap="square" lIns="0">
            <a:spAutoFit/>
          </a:bodyPr>
          <a:lstStyle/>
          <a:p>
            <a:r>
              <a:rPr lang="en-US" sz="1400" noProof="1">
                <a:solidFill>
                  <a:schemeClr val="tx2"/>
                </a:solidFill>
                <a:latin typeface="Calibri" panose="020F0502020204030204" pitchFamily="34" charset="0"/>
                <a:cs typeface="Calibri" panose="020F0502020204030204" pitchFamily="34" charset="0"/>
              </a:rPr>
              <a:t>Research</a:t>
            </a:r>
          </a:p>
        </p:txBody>
      </p:sp>
      <p:sp>
        <p:nvSpPr>
          <p:cNvPr id="9" name="Title 8">
            <a:extLst>
              <a:ext uri="{FF2B5EF4-FFF2-40B4-BE49-F238E27FC236}">
                <a16:creationId xmlns:a16="http://schemas.microsoft.com/office/drawing/2014/main" id="{2BB4C0C7-DEBB-7AD1-4AC6-84AB17EED7E7}"/>
              </a:ext>
            </a:extLst>
          </p:cNvPr>
          <p:cNvSpPr>
            <a:spLocks noGrp="1"/>
          </p:cNvSpPr>
          <p:nvPr>
            <p:ph type="title"/>
            <p:custDataLst>
              <p:tags r:id="rId2"/>
            </p:custDataLst>
          </p:nvPr>
        </p:nvSpPr>
        <p:spPr/>
        <p:txBody>
          <a:bodyPr lIns="0">
            <a:normAutofit/>
          </a:bodyPr>
          <a:lstStyle/>
          <a:p>
            <a:pPr>
              <a:lnSpc>
                <a:spcPct val="90000"/>
              </a:lnSpc>
            </a:pPr>
            <a:r>
              <a:rPr lang="en-US" noProof="1">
                <a:latin typeface="Calibri" panose="020F0502020204030204" pitchFamily="34" charset="0"/>
                <a:cs typeface="Calibri" panose="020F0502020204030204" pitchFamily="34" charset="0"/>
              </a:rPr>
              <a:t>Key Research Questions and Analysis Approach</a:t>
            </a:r>
          </a:p>
        </p:txBody>
      </p:sp>
      <p:sp>
        <p:nvSpPr>
          <p:cNvPr id="26" name="Content Placeholder 25">
            <a:extLst>
              <a:ext uri="{FF2B5EF4-FFF2-40B4-BE49-F238E27FC236}">
                <a16:creationId xmlns:a16="http://schemas.microsoft.com/office/drawing/2014/main" id="{E788DD44-AE73-33B6-4635-9B8D5137E607}"/>
              </a:ext>
            </a:extLst>
          </p:cNvPr>
          <p:cNvSpPr>
            <a:spLocks noGrp="1"/>
          </p:cNvSpPr>
          <p:nvPr>
            <p:ph idx="1"/>
            <p:custDataLst>
              <p:tags r:id="rId3"/>
            </p:custDataLst>
          </p:nvPr>
        </p:nvSpPr>
        <p:spPr>
          <a:xfrm>
            <a:off x="6667500" y="419100"/>
            <a:ext cx="5105400" cy="1866901"/>
          </a:xfrm>
        </p:spPr>
        <p:txBody>
          <a:bodyPr vert="horz" lIns="91440" tIns="45720" rIns="91440" bIns="45720" rtlCol="0">
            <a:normAutofit/>
          </a:bodyPr>
          <a:lstStyle/>
          <a:p>
            <a:pPr marL="11113" indent="0">
              <a:lnSpc>
                <a:spcPct val="114000"/>
              </a:lnSpc>
              <a:spcBef>
                <a:spcPts val="1000"/>
              </a:spcBef>
              <a:buNone/>
            </a:pPr>
            <a:r>
              <a:rPr lang="en-US" sz="1400" noProof="1">
                <a:latin typeface="Calibri" panose="020F0502020204030204" pitchFamily="34" charset="0"/>
                <a:cs typeface="Calibri" panose="020F0502020204030204" pitchFamily="34" charset="0"/>
              </a:rPr>
              <a:t>How did foot traffic and dwell times evolve week by week during the first four months of 2020? Which demographic factors like education, working-age, and K-12 households influence visits? Which brands recovered fastest and what does this indicate about loyalty and essential purchasing?</a:t>
            </a:r>
          </a:p>
        </p:txBody>
      </p:sp>
      <p:sp>
        <p:nvSpPr>
          <p:cNvPr id="28" name="Content Placeholder 27">
            <a:extLst>
              <a:ext uri="{FF2B5EF4-FFF2-40B4-BE49-F238E27FC236}">
                <a16:creationId xmlns:a16="http://schemas.microsoft.com/office/drawing/2014/main" id="{F595EC02-957F-FE81-2C9F-5A8C787B445F}"/>
              </a:ext>
            </a:extLst>
          </p:cNvPr>
          <p:cNvSpPr>
            <a:spLocks noGrp="1"/>
          </p:cNvSpPr>
          <p:nvPr>
            <p:ph sz="half" idx="4294967295"/>
            <p:custDataLst>
              <p:tags r:id="rId4"/>
            </p:custDataLst>
          </p:nvPr>
        </p:nvSpPr>
        <p:spPr>
          <a:xfrm>
            <a:off x="6667500" y="2481262"/>
            <a:ext cx="5105400" cy="1866901"/>
          </a:xfrm>
        </p:spPr>
        <p:txBody>
          <a:bodyPr vert="horz" lIns="91440" tIns="45720" rIns="91440" bIns="45720" rtlCol="0">
            <a:normAutofit/>
          </a:bodyPr>
          <a:lstStyle/>
          <a:p>
            <a:pPr marL="11113" indent="0">
              <a:lnSpc>
                <a:spcPct val="114000"/>
              </a:lnSpc>
              <a:spcBef>
                <a:spcPts val="1000"/>
              </a:spcBef>
              <a:buNone/>
            </a:pPr>
            <a:r>
              <a:rPr lang="en-US" sz="1400" noProof="1">
                <a:latin typeface="Calibri" panose="020F0502020204030204" pitchFamily="34" charset="0"/>
                <a:cs typeface="Calibri" panose="020F0502020204030204" pitchFamily="34" charset="0"/>
              </a:rPr>
              <a:t>Focused on Office Supply Stores in California counties classified as Urban, Suburban, and Rural using 2020 RUCA Codes. Analysis covers local-level trends at county and brand-location scales.</a:t>
            </a:r>
          </a:p>
        </p:txBody>
      </p:sp>
      <p:sp>
        <p:nvSpPr>
          <p:cNvPr id="30" name="Content Placeholder 29">
            <a:extLst>
              <a:ext uri="{FF2B5EF4-FFF2-40B4-BE49-F238E27FC236}">
                <a16:creationId xmlns:a16="http://schemas.microsoft.com/office/drawing/2014/main" id="{262DC19F-B03F-FD9C-64D4-837E89CE392B}"/>
              </a:ext>
            </a:extLst>
          </p:cNvPr>
          <p:cNvSpPr>
            <a:spLocks noGrp="1"/>
          </p:cNvSpPr>
          <p:nvPr>
            <p:ph sz="half" idx="4294967295"/>
            <p:custDataLst>
              <p:tags r:id="rId5"/>
            </p:custDataLst>
          </p:nvPr>
        </p:nvSpPr>
        <p:spPr>
          <a:xfrm>
            <a:off x="6667500" y="4543425"/>
            <a:ext cx="5105400" cy="1866901"/>
          </a:xfrm>
        </p:spPr>
        <p:txBody>
          <a:bodyPr vert="horz" lIns="91440" tIns="45720" rIns="91440" bIns="45720" rtlCol="0">
            <a:normAutofit/>
          </a:bodyPr>
          <a:lstStyle/>
          <a:p>
            <a:pPr marL="11113" indent="0">
              <a:lnSpc>
                <a:spcPct val="114000"/>
              </a:lnSpc>
              <a:spcBef>
                <a:spcPts val="1000"/>
              </a:spcBef>
              <a:buNone/>
            </a:pPr>
            <a:r>
              <a:rPr lang="en-US" sz="1400" noProof="1">
                <a:latin typeface="Calibri" panose="020F0502020204030204" pitchFamily="34" charset="0"/>
                <a:cs typeface="Calibri" panose="020F0502020204030204" pitchFamily="34" charset="0"/>
              </a:rPr>
              <a:t>Used SafeGraph datasets for visits and dwell time, joined with Census Block Group demographics. Weekly visits and median dwell times were aggregated from daily data using SQL queries for detailed temporal and spatial analysis.</a:t>
            </a:r>
          </a:p>
        </p:txBody>
      </p:sp>
      <p:sp>
        <p:nvSpPr>
          <p:cNvPr id="13" name="Text Placeholder 12">
            <a:extLst>
              <a:ext uri="{FF2B5EF4-FFF2-40B4-BE49-F238E27FC236}">
                <a16:creationId xmlns:a16="http://schemas.microsoft.com/office/drawing/2014/main" id="{6DCE048E-468B-46C2-9D3B-C1E8319AA2F4}"/>
              </a:ext>
            </a:extLst>
          </p:cNvPr>
          <p:cNvSpPr>
            <a:spLocks noGrp="1"/>
          </p:cNvSpPr>
          <p:nvPr>
            <p:ph type="body" idx="4294967295"/>
            <p:custDataLst>
              <p:tags r:id="rId6"/>
            </p:custDataLst>
          </p:nvPr>
        </p:nvSpPr>
        <p:spPr>
          <a:xfrm>
            <a:off x="4772722" y="419099"/>
            <a:ext cx="1773852" cy="1866901"/>
          </a:xfrm>
        </p:spPr>
        <p:txBody>
          <a:bodyPr vert="horz" lIns="91440" tIns="45720" rIns="91440" bIns="45720" rtlCol="0" anchor="t">
            <a:normAutofit/>
          </a:bodyPr>
          <a:lstStyle/>
          <a:p>
            <a:pPr marL="0" indent="0">
              <a:lnSpc>
                <a:spcPct val="100000"/>
              </a:lnSpc>
              <a:spcBef>
                <a:spcPts val="1000"/>
              </a:spcBef>
              <a:buNone/>
            </a:pPr>
            <a:r>
              <a:rPr lang="en-US" b="1" noProof="1">
                <a:latin typeface="Calibri" panose="020F0502020204030204" pitchFamily="34" charset="0"/>
                <a:cs typeface="Calibri" panose="020F0502020204030204" pitchFamily="34" charset="0"/>
              </a:rPr>
              <a:t>Research Questions</a:t>
            </a:r>
          </a:p>
        </p:txBody>
      </p:sp>
      <p:sp>
        <p:nvSpPr>
          <p:cNvPr id="14" name="Text Placeholder 13">
            <a:extLst>
              <a:ext uri="{FF2B5EF4-FFF2-40B4-BE49-F238E27FC236}">
                <a16:creationId xmlns:a16="http://schemas.microsoft.com/office/drawing/2014/main" id="{6D62A190-0D55-FEDE-2AE9-DCF41814D4DA}"/>
              </a:ext>
            </a:extLst>
          </p:cNvPr>
          <p:cNvSpPr>
            <a:spLocks noGrp="1"/>
          </p:cNvSpPr>
          <p:nvPr>
            <p:ph type="body" idx="4294967295"/>
            <p:custDataLst>
              <p:tags r:id="rId7"/>
            </p:custDataLst>
          </p:nvPr>
        </p:nvSpPr>
        <p:spPr>
          <a:xfrm>
            <a:off x="4772722" y="2481262"/>
            <a:ext cx="1773852" cy="1866901"/>
          </a:xfrm>
        </p:spPr>
        <p:txBody>
          <a:bodyPr vert="horz" lIns="91440" tIns="45720" rIns="91440" bIns="45720" rtlCol="0" anchor="t">
            <a:normAutofit/>
          </a:bodyPr>
          <a:lstStyle/>
          <a:p>
            <a:pPr marL="0" indent="0">
              <a:lnSpc>
                <a:spcPct val="100000"/>
              </a:lnSpc>
              <a:spcBef>
                <a:spcPts val="1000"/>
              </a:spcBef>
              <a:buNone/>
            </a:pPr>
            <a:r>
              <a:rPr lang="en-US" b="1" noProof="1">
                <a:latin typeface="Calibri" panose="020F0502020204030204" pitchFamily="34" charset="0"/>
                <a:cs typeface="Calibri" panose="020F0502020204030204" pitchFamily="34" charset="0"/>
              </a:rPr>
              <a:t>Geographic &amp; Industry Focus</a:t>
            </a:r>
          </a:p>
        </p:txBody>
      </p:sp>
      <p:sp>
        <p:nvSpPr>
          <p:cNvPr id="15" name="Text Placeholder 14">
            <a:extLst>
              <a:ext uri="{FF2B5EF4-FFF2-40B4-BE49-F238E27FC236}">
                <a16:creationId xmlns:a16="http://schemas.microsoft.com/office/drawing/2014/main" id="{04738F25-3596-3DFF-6CD8-E0CC3E33F87A}"/>
              </a:ext>
            </a:extLst>
          </p:cNvPr>
          <p:cNvSpPr>
            <a:spLocks noGrp="1"/>
          </p:cNvSpPr>
          <p:nvPr>
            <p:ph type="body" idx="4294967295"/>
            <p:custDataLst>
              <p:tags r:id="rId8"/>
            </p:custDataLst>
          </p:nvPr>
        </p:nvSpPr>
        <p:spPr>
          <a:xfrm>
            <a:off x="4772722" y="4543425"/>
            <a:ext cx="1773852" cy="1866901"/>
          </a:xfrm>
        </p:spPr>
        <p:txBody>
          <a:bodyPr vert="horz" lIns="91440" tIns="45720" rIns="91440" bIns="45720" rtlCol="0" anchor="t">
            <a:normAutofit/>
          </a:bodyPr>
          <a:lstStyle/>
          <a:p>
            <a:pPr marL="0" indent="0">
              <a:lnSpc>
                <a:spcPct val="100000"/>
              </a:lnSpc>
              <a:spcBef>
                <a:spcPts val="1000"/>
              </a:spcBef>
              <a:buNone/>
            </a:pPr>
            <a:r>
              <a:rPr lang="en-US" b="1" noProof="1">
                <a:latin typeface="Calibri" panose="020F0502020204030204" pitchFamily="34" charset="0"/>
                <a:cs typeface="Calibri" panose="020F0502020204030204" pitchFamily="34" charset="0"/>
              </a:rPr>
              <a:t>Data &amp; Methodology Summary</a:t>
            </a:r>
          </a:p>
        </p:txBody>
      </p:sp>
      <p:sp>
        <p:nvSpPr>
          <p:cNvPr id="2" name="Rectangle 1">
            <a:extLst>
              <a:ext uri="{FF2B5EF4-FFF2-40B4-BE49-F238E27FC236}">
                <a16:creationId xmlns:a16="http://schemas.microsoft.com/office/drawing/2014/main" id="{7664DFC7-C861-C967-C0CE-7990949D9E4F}"/>
              </a:ext>
            </a:extLst>
          </p:cNvPr>
          <p:cNvSpPr/>
          <p:nvPr>
            <p:custDataLst>
              <p:tags r:id="rId9"/>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90A50666-EF2A-25FF-33FB-7652A907C850}"/>
              </a:ext>
            </a:extLst>
          </p:cNvPr>
          <p:cNvSpPr txBox="1"/>
          <p:nvPr/>
        </p:nvSpPr>
        <p:spPr>
          <a:xfrm>
            <a:off x="4217307" y="419099"/>
            <a:ext cx="548640" cy="369332"/>
          </a:xfrm>
          <a:prstGeom prst="rect">
            <a:avLst/>
          </a:prstGeom>
          <a:noFill/>
        </p:spPr>
        <p:txBody>
          <a:bodyPr wrap="square" rtlCol="0">
            <a:normAutofit/>
          </a:bodyPr>
          <a:lstStyle/>
          <a:p>
            <a:pPr algn="r"/>
            <a:r>
              <a:rPr lang="en-US" sz="1600" b="1" noProof="1">
                <a:solidFill>
                  <a:schemeClr val="accent1"/>
                </a:solidFill>
                <a:latin typeface="Calibri" panose="020F0502020204030204" pitchFamily="34" charset="0"/>
                <a:cs typeface="Calibri" panose="020F0502020204030204" pitchFamily="34" charset="0"/>
              </a:rPr>
              <a:t>01</a:t>
            </a:r>
          </a:p>
        </p:txBody>
      </p:sp>
      <p:sp>
        <p:nvSpPr>
          <p:cNvPr id="10" name="TextBox 9">
            <a:extLst>
              <a:ext uri="{FF2B5EF4-FFF2-40B4-BE49-F238E27FC236}">
                <a16:creationId xmlns:a16="http://schemas.microsoft.com/office/drawing/2014/main" id="{A9EFBC15-F158-6986-2CDF-05CDE56DD4FB}"/>
              </a:ext>
            </a:extLst>
          </p:cNvPr>
          <p:cNvSpPr txBox="1"/>
          <p:nvPr/>
        </p:nvSpPr>
        <p:spPr>
          <a:xfrm>
            <a:off x="4217307" y="2481262"/>
            <a:ext cx="548640" cy="338554"/>
          </a:xfrm>
          <a:prstGeom prst="rect">
            <a:avLst/>
          </a:prstGeom>
          <a:noFill/>
        </p:spPr>
        <p:txBody>
          <a:bodyPr wrap="square" rtlCol="0">
            <a:spAutoFit/>
          </a:bodyPr>
          <a:lstStyle/>
          <a:p>
            <a:pPr algn="r"/>
            <a:r>
              <a:rPr lang="en-US" sz="1600" b="1" noProof="1">
                <a:solidFill>
                  <a:schemeClr val="accent1"/>
                </a:solidFill>
                <a:latin typeface="Calibri" panose="020F0502020204030204" pitchFamily="34" charset="0"/>
                <a:cs typeface="Calibri" panose="020F0502020204030204" pitchFamily="34" charset="0"/>
              </a:rPr>
              <a:t>02</a:t>
            </a:r>
          </a:p>
        </p:txBody>
      </p:sp>
      <p:sp>
        <p:nvSpPr>
          <p:cNvPr id="11" name="TextBox 10">
            <a:extLst>
              <a:ext uri="{FF2B5EF4-FFF2-40B4-BE49-F238E27FC236}">
                <a16:creationId xmlns:a16="http://schemas.microsoft.com/office/drawing/2014/main" id="{28BE883E-9DCA-2FEA-ED38-A301BADB1863}"/>
              </a:ext>
            </a:extLst>
          </p:cNvPr>
          <p:cNvSpPr txBox="1"/>
          <p:nvPr/>
        </p:nvSpPr>
        <p:spPr>
          <a:xfrm>
            <a:off x="4217307" y="4543425"/>
            <a:ext cx="548640" cy="338554"/>
          </a:xfrm>
          <a:prstGeom prst="rect">
            <a:avLst/>
          </a:prstGeom>
          <a:noFill/>
        </p:spPr>
        <p:txBody>
          <a:bodyPr wrap="square" rtlCol="0">
            <a:spAutoFit/>
          </a:bodyPr>
          <a:lstStyle/>
          <a:p>
            <a:pPr algn="r"/>
            <a:r>
              <a:rPr lang="en-US" sz="1600" b="1" noProof="1">
                <a:solidFill>
                  <a:schemeClr val="accent1"/>
                </a:solidFill>
                <a:latin typeface="Calibri" panose="020F0502020204030204" pitchFamily="34" charset="0"/>
                <a:cs typeface="Calibri" panose="020F0502020204030204" pitchFamily="34" charset="0"/>
              </a:rPr>
              <a:t>03</a:t>
            </a:r>
          </a:p>
        </p:txBody>
      </p:sp>
    </p:spTree>
    <p:extLst>
      <p:ext uri="{BB962C8B-B14F-4D97-AF65-F5344CB8AC3E}">
        <p14:creationId xmlns:p14="http://schemas.microsoft.com/office/powerpoint/2010/main" val="1113072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149F0-33D7-0A36-1135-D29C0CC93A48}"/>
            </a:ext>
          </a:extLst>
        </p:cNvPr>
        <p:cNvGrpSpPr/>
        <p:nvPr/>
      </p:nvGrpSpPr>
      <p:grpSpPr>
        <a:xfrm>
          <a:off x="0" y="0"/>
          <a:ext cx="0" cy="0"/>
          <a:chOff x="0" y="0"/>
          <a:chExt cx="0" cy="0"/>
        </a:xfrm>
      </p:grpSpPr>
      <p:sp>
        <p:nvSpPr>
          <p:cNvPr id="24" name="Rounded Rectangle 23">
            <a:extLst>
              <a:ext uri="{FF2B5EF4-FFF2-40B4-BE49-F238E27FC236}">
                <a16:creationId xmlns:a16="http://schemas.microsoft.com/office/drawing/2014/main" id="{612580C7-AEA0-B6FB-9C96-07E72DC99711}"/>
              </a:ext>
            </a:extLst>
          </p:cNvPr>
          <p:cNvSpPr/>
          <p:nvPr/>
        </p:nvSpPr>
        <p:spPr>
          <a:xfrm>
            <a:off x="4229100" y="228600"/>
            <a:ext cx="7734300" cy="6400800"/>
          </a:xfrm>
          <a:prstGeom prst="roundRect">
            <a:avLst>
              <a:gd name="adj" fmla="val 1903"/>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1">
              <a:ln>
                <a:noFill/>
              </a:ln>
              <a:solidFill>
                <a:srgbClr val="FFFFFF"/>
              </a:solidFill>
              <a:effectLst/>
              <a:uLnTx/>
              <a:uFillTx/>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46268533-DEC7-1941-3252-260EF6544887}"/>
              </a:ext>
            </a:extLst>
          </p:cNvPr>
          <p:cNvSpPr txBox="1"/>
          <p:nvPr>
            <p:custDataLst>
              <p:tags r:id="rId1"/>
            </p:custDataLst>
          </p:nvPr>
        </p:nvSpPr>
        <p:spPr>
          <a:xfrm>
            <a:off x="419100" y="249300"/>
            <a:ext cx="3581400" cy="307777"/>
          </a:xfrm>
          <a:prstGeom prst="rect">
            <a:avLst/>
          </a:prstGeom>
          <a:noFill/>
        </p:spPr>
        <p:txBody>
          <a:bodyPr wrap="square" lIns="0">
            <a:spAutoFit/>
          </a:bodyPr>
          <a:lstStyle/>
          <a:p>
            <a:r>
              <a:rPr lang="en-US" sz="1400" noProof="1">
                <a:solidFill>
                  <a:schemeClr val="tx2"/>
                </a:solidFill>
                <a:latin typeface="Calibri" panose="020F0502020204030204" pitchFamily="34" charset="0"/>
                <a:cs typeface="Calibri" panose="020F0502020204030204" pitchFamily="34" charset="0"/>
              </a:rPr>
              <a:t>Analysis</a:t>
            </a:r>
          </a:p>
        </p:txBody>
      </p:sp>
      <p:sp>
        <p:nvSpPr>
          <p:cNvPr id="9" name="Title 8">
            <a:extLst>
              <a:ext uri="{FF2B5EF4-FFF2-40B4-BE49-F238E27FC236}">
                <a16:creationId xmlns:a16="http://schemas.microsoft.com/office/drawing/2014/main" id="{41D08562-B1A2-2B6D-065B-E99E745E853B}"/>
              </a:ext>
            </a:extLst>
          </p:cNvPr>
          <p:cNvSpPr>
            <a:spLocks noGrp="1"/>
          </p:cNvSpPr>
          <p:nvPr>
            <p:ph type="title"/>
            <p:custDataLst>
              <p:tags r:id="rId2"/>
            </p:custDataLst>
          </p:nvPr>
        </p:nvSpPr>
        <p:spPr/>
        <p:txBody>
          <a:bodyPr lIns="0">
            <a:normAutofit/>
          </a:bodyPr>
          <a:lstStyle/>
          <a:p>
            <a:r>
              <a:rPr lang="en-US" noProof="1">
                <a:latin typeface="Calibri" panose="020F0502020204030204" pitchFamily="34" charset="0"/>
                <a:cs typeface="Calibri" panose="020F0502020204030204" pitchFamily="34" charset="0"/>
              </a:rPr>
              <a:t>Foot Traffic and Dwell Time Trends</a:t>
            </a:r>
          </a:p>
        </p:txBody>
      </p:sp>
      <p:sp>
        <p:nvSpPr>
          <p:cNvPr id="2" name="Rectangle 1">
            <a:extLst>
              <a:ext uri="{FF2B5EF4-FFF2-40B4-BE49-F238E27FC236}">
                <a16:creationId xmlns:a16="http://schemas.microsoft.com/office/drawing/2014/main" id="{78A3970E-F17D-F785-0D9E-1A7D5467AC15}"/>
              </a:ext>
            </a:extLst>
          </p:cNvPr>
          <p:cNvSpPr/>
          <p:nvPr>
            <p:custDataLst>
              <p:tags r:id="rId3"/>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D7DF7926-FB75-5490-F493-41E323D4B8E2}"/>
              </a:ext>
            </a:extLst>
          </p:cNvPr>
          <p:cNvSpPr txBox="1"/>
          <p:nvPr/>
        </p:nvSpPr>
        <p:spPr>
          <a:xfrm>
            <a:off x="4217307" y="1615440"/>
            <a:ext cx="548640" cy="338554"/>
          </a:xfrm>
          <a:prstGeom prst="rect">
            <a:avLst/>
          </a:prstGeom>
          <a:noFill/>
        </p:spPr>
        <p:txBody>
          <a:bodyPr wrap="square" rtlCol="0" anchor="t">
            <a:normAutofit/>
          </a:bodyPr>
          <a:lstStyle>
            <a:defPPr>
              <a:defRPr lang="en-US"/>
            </a:defPPr>
            <a:lvl1pPr marR="0" lvl="0" indent="0" algn="r" fontAlgn="auto">
              <a:spcBef>
                <a:spcPts val="0"/>
              </a:spcBef>
              <a:spcAft>
                <a:spcPts val="0"/>
              </a:spcAft>
              <a:buClrTx/>
              <a:buSzTx/>
              <a:buFontTx/>
              <a:buNone/>
              <a:tabLst/>
              <a:defRPr kumimoji="0" sz="1600" b="1" i="0" u="none" strike="noStrike" cap="none" spc="0" normalizeH="0" baseline="0">
                <a:ln>
                  <a:noFill/>
                </a:ln>
                <a:solidFill>
                  <a:schemeClr val="accent1"/>
                </a:solidFill>
                <a:effectLst/>
                <a:uLnTx/>
                <a:uFillTx/>
                <a:latin typeface="Aptos" panose="02110004020202020204"/>
              </a:defRPr>
            </a:lvl1pPr>
          </a:lstStyle>
          <a:p>
            <a:r>
              <a:rPr lang="en-US" noProof="1">
                <a:latin typeface="Calibri" panose="020F0502020204030204" pitchFamily="34" charset="0"/>
                <a:cs typeface="Calibri" panose="020F0502020204030204" pitchFamily="34" charset="0"/>
              </a:rPr>
              <a:t>02</a:t>
            </a:r>
          </a:p>
        </p:txBody>
      </p:sp>
      <p:sp>
        <p:nvSpPr>
          <p:cNvPr id="11" name="TextBox 10">
            <a:extLst>
              <a:ext uri="{FF2B5EF4-FFF2-40B4-BE49-F238E27FC236}">
                <a16:creationId xmlns:a16="http://schemas.microsoft.com/office/drawing/2014/main" id="{74A8F03D-2C43-E7F4-4A03-0401CC606946}"/>
              </a:ext>
            </a:extLst>
          </p:cNvPr>
          <p:cNvSpPr txBox="1"/>
          <p:nvPr/>
        </p:nvSpPr>
        <p:spPr>
          <a:xfrm>
            <a:off x="4217307" y="2811779"/>
            <a:ext cx="548640" cy="338554"/>
          </a:xfrm>
          <a:prstGeom prst="rect">
            <a:avLst/>
          </a:prstGeom>
          <a:noFill/>
        </p:spPr>
        <p:txBody>
          <a:bodyPr wrap="square" rtlCol="0" anchor="t">
            <a:normAutofit/>
          </a:bodyPr>
          <a:lstStyle>
            <a:defPPr>
              <a:defRPr lang="en-US"/>
            </a:defPPr>
            <a:lvl1pPr marR="0" lvl="0" indent="0" algn="r" fontAlgn="auto">
              <a:spcBef>
                <a:spcPts val="0"/>
              </a:spcBef>
              <a:spcAft>
                <a:spcPts val="0"/>
              </a:spcAft>
              <a:buClrTx/>
              <a:buSzTx/>
              <a:buFontTx/>
              <a:buNone/>
              <a:tabLst/>
              <a:defRPr kumimoji="0" sz="1600" b="1" i="0" u="none" strike="noStrike" cap="none" spc="0" normalizeH="0" baseline="0">
                <a:ln>
                  <a:noFill/>
                </a:ln>
                <a:solidFill>
                  <a:schemeClr val="accent1"/>
                </a:solidFill>
                <a:effectLst/>
                <a:uLnTx/>
                <a:uFillTx/>
                <a:latin typeface="Aptos" panose="02110004020202020204"/>
              </a:defRPr>
            </a:lvl1pPr>
          </a:lstStyle>
          <a:p>
            <a:r>
              <a:rPr lang="en-US" noProof="1">
                <a:latin typeface="Calibri" panose="020F0502020204030204" pitchFamily="34" charset="0"/>
                <a:cs typeface="Calibri" panose="020F0502020204030204" pitchFamily="34" charset="0"/>
              </a:rPr>
              <a:t>03</a:t>
            </a:r>
          </a:p>
        </p:txBody>
      </p:sp>
      <p:sp>
        <p:nvSpPr>
          <p:cNvPr id="7" name="TextBox 6">
            <a:extLst>
              <a:ext uri="{FF2B5EF4-FFF2-40B4-BE49-F238E27FC236}">
                <a16:creationId xmlns:a16="http://schemas.microsoft.com/office/drawing/2014/main" id="{DC941055-C0CA-BCA2-7A92-ECEBE00B87EA}"/>
              </a:ext>
            </a:extLst>
          </p:cNvPr>
          <p:cNvSpPr txBox="1"/>
          <p:nvPr/>
        </p:nvSpPr>
        <p:spPr>
          <a:xfrm>
            <a:off x="4217307" y="4008119"/>
            <a:ext cx="548640" cy="338554"/>
          </a:xfrm>
          <a:prstGeom prst="rect">
            <a:avLst/>
          </a:prstGeom>
          <a:noFill/>
        </p:spPr>
        <p:txBody>
          <a:bodyPr wrap="square" rtlCol="0" anchor="t">
            <a:normAutofit/>
          </a:bodyPr>
          <a:lstStyle>
            <a:defPPr>
              <a:defRPr lang="en-US"/>
            </a:defPPr>
            <a:lvl1pPr marR="0" lvl="0" indent="0" algn="r" fontAlgn="auto">
              <a:spcBef>
                <a:spcPts val="0"/>
              </a:spcBef>
              <a:spcAft>
                <a:spcPts val="0"/>
              </a:spcAft>
              <a:buClrTx/>
              <a:buSzTx/>
              <a:buFontTx/>
              <a:buNone/>
              <a:tabLst/>
              <a:defRPr kumimoji="0" sz="1600" b="1" i="0" u="none" strike="noStrike" cap="none" spc="0" normalizeH="0" baseline="0">
                <a:ln>
                  <a:noFill/>
                </a:ln>
                <a:solidFill>
                  <a:schemeClr val="accent1"/>
                </a:solidFill>
                <a:effectLst/>
                <a:uLnTx/>
                <a:uFillTx/>
                <a:latin typeface="Aptos" panose="02110004020202020204"/>
              </a:defRPr>
            </a:lvl1pPr>
          </a:lstStyle>
          <a:p>
            <a:r>
              <a:rPr lang="en-US" noProof="1">
                <a:latin typeface="Calibri" panose="020F0502020204030204" pitchFamily="34" charset="0"/>
                <a:cs typeface="Calibri" panose="020F0502020204030204" pitchFamily="34" charset="0"/>
              </a:rPr>
              <a:t>04</a:t>
            </a:r>
          </a:p>
        </p:txBody>
      </p:sp>
      <p:sp>
        <p:nvSpPr>
          <p:cNvPr id="18" name="TextBox 17">
            <a:extLst>
              <a:ext uri="{FF2B5EF4-FFF2-40B4-BE49-F238E27FC236}">
                <a16:creationId xmlns:a16="http://schemas.microsoft.com/office/drawing/2014/main" id="{C4384B62-4E2F-0B35-FFAD-967B21791F02}"/>
              </a:ext>
            </a:extLst>
          </p:cNvPr>
          <p:cNvSpPr txBox="1"/>
          <p:nvPr/>
        </p:nvSpPr>
        <p:spPr>
          <a:xfrm>
            <a:off x="4217307" y="5203039"/>
            <a:ext cx="548640" cy="338554"/>
          </a:xfrm>
          <a:prstGeom prst="rect">
            <a:avLst/>
          </a:prstGeom>
          <a:noFill/>
        </p:spPr>
        <p:txBody>
          <a:bodyPr wrap="square" rtlCol="0" anchor="t">
            <a:normAutofit/>
          </a:bodyPr>
          <a:lstStyle>
            <a:defPPr>
              <a:defRPr lang="en-US"/>
            </a:defPPr>
            <a:lvl1pPr marR="0" lvl="0" indent="0" algn="r" fontAlgn="auto">
              <a:spcBef>
                <a:spcPts val="0"/>
              </a:spcBef>
              <a:spcAft>
                <a:spcPts val="0"/>
              </a:spcAft>
              <a:buClrTx/>
              <a:buSzTx/>
              <a:buFontTx/>
              <a:buNone/>
              <a:tabLst/>
              <a:defRPr kumimoji="0" sz="1600" b="1" i="0" u="none" strike="noStrike" cap="none" spc="0" normalizeH="0" baseline="0">
                <a:ln>
                  <a:noFill/>
                </a:ln>
                <a:solidFill>
                  <a:schemeClr val="accent1"/>
                </a:solidFill>
                <a:effectLst/>
                <a:uLnTx/>
                <a:uFillTx/>
                <a:latin typeface="Aptos" panose="02110004020202020204"/>
              </a:defRPr>
            </a:lvl1pPr>
          </a:lstStyle>
          <a:p>
            <a:r>
              <a:rPr lang="en-US" noProof="1">
                <a:latin typeface="Calibri" panose="020F0502020204030204" pitchFamily="34" charset="0"/>
                <a:cs typeface="Calibri" panose="020F0502020204030204" pitchFamily="34" charset="0"/>
              </a:rPr>
              <a:t>05</a:t>
            </a:r>
          </a:p>
        </p:txBody>
      </p:sp>
      <p:sp>
        <p:nvSpPr>
          <p:cNvPr id="38" name="Content Placeholder 25">
            <a:extLst>
              <a:ext uri="{FF2B5EF4-FFF2-40B4-BE49-F238E27FC236}">
                <a16:creationId xmlns:a16="http://schemas.microsoft.com/office/drawing/2014/main" id="{DEBEEAAA-BC94-4486-7A2F-A019D175F8A9}"/>
              </a:ext>
            </a:extLst>
          </p:cNvPr>
          <p:cNvSpPr txBox="1">
            <a:spLocks/>
          </p:cNvSpPr>
          <p:nvPr>
            <p:custDataLst>
              <p:tags r:id="rId4"/>
            </p:custDataLst>
          </p:nvPr>
        </p:nvSpPr>
        <p:spPr>
          <a:xfrm>
            <a:off x="6667499" y="419100"/>
            <a:ext cx="5105400" cy="1196340"/>
          </a:xfrm>
          <a:prstGeom prst="rect">
            <a:avLst/>
          </a:prstGeom>
        </p:spPr>
        <p:txBody>
          <a:bodyPr vert="horz" lIns="91440" tIns="45720" rIns="91440" bIns="45720" rtlCol="0">
            <a:normAutofit lnSpcReduction="10000"/>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1">
                <a:ln>
                  <a:noFill/>
                </a:ln>
                <a:solidFill>
                  <a:srgbClr val="201C20"/>
                </a:solidFill>
                <a:effectLst/>
                <a:uLnTx/>
                <a:uFillTx/>
                <a:latin typeface="Calibri" panose="020F0502020204030204" pitchFamily="34" charset="0"/>
                <a:cs typeface="Calibri" panose="020F0502020204030204" pitchFamily="34" charset="0"/>
              </a:rPr>
              <a:t>All brands peaked in Jan-Feb 2020, then dropped sharply starting Week 12 (March 16–22) due to lockdowns. Staples and Office Depot led visits, each with 100K+ weekly visits pre-March. Staples rebounded in Week 17 with nearly 98K visits, driven by home-office supply needs.</a:t>
            </a:r>
          </a:p>
        </p:txBody>
      </p:sp>
      <p:sp>
        <p:nvSpPr>
          <p:cNvPr id="39" name="Content Placeholder 27">
            <a:extLst>
              <a:ext uri="{FF2B5EF4-FFF2-40B4-BE49-F238E27FC236}">
                <a16:creationId xmlns:a16="http://schemas.microsoft.com/office/drawing/2014/main" id="{3CD813E3-D12E-6055-9D52-0C80CCC02D13}"/>
              </a:ext>
            </a:extLst>
          </p:cNvPr>
          <p:cNvSpPr txBox="1">
            <a:spLocks/>
          </p:cNvSpPr>
          <p:nvPr>
            <p:custDataLst>
              <p:tags r:id="rId5"/>
            </p:custDataLst>
          </p:nvPr>
        </p:nvSpPr>
        <p:spPr>
          <a:xfrm>
            <a:off x="6667499" y="1615442"/>
            <a:ext cx="5105400" cy="1196340"/>
          </a:xfrm>
          <a:prstGeom prst="rect">
            <a:avLst/>
          </a:prstGeom>
        </p:spPr>
        <p:txBody>
          <a:bodyPr vert="horz" lIns="91440" tIns="45720" rIns="91440" bIns="45720" rtlCol="0">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1">
                <a:ln>
                  <a:noFill/>
                </a:ln>
                <a:solidFill>
                  <a:srgbClr val="201C20"/>
                </a:solidFill>
                <a:effectLst/>
                <a:uLnTx/>
                <a:uFillTx/>
                <a:latin typeface="Calibri" panose="020F0502020204030204" pitchFamily="34" charset="0"/>
                <a:cs typeface="Calibri" panose="020F0502020204030204" pitchFamily="34" charset="0"/>
              </a:rPr>
              <a:t>Staples and Office Depot have shorter dwell times, reflecting quick, frequent trips. Specialty stores like Papyrus and Rapid Refill attract fewer visitors but longer dwell times, showing focused, high-intent purchases. Rapid Refill’s dwell time is about 50 minutes.</a:t>
            </a:r>
          </a:p>
        </p:txBody>
      </p:sp>
      <p:sp>
        <p:nvSpPr>
          <p:cNvPr id="40" name="Content Placeholder 29">
            <a:extLst>
              <a:ext uri="{FF2B5EF4-FFF2-40B4-BE49-F238E27FC236}">
                <a16:creationId xmlns:a16="http://schemas.microsoft.com/office/drawing/2014/main" id="{AC0BC347-6EF6-C29A-81E2-1F39A54F8830}"/>
              </a:ext>
            </a:extLst>
          </p:cNvPr>
          <p:cNvSpPr txBox="1">
            <a:spLocks/>
          </p:cNvSpPr>
          <p:nvPr>
            <p:custDataLst>
              <p:tags r:id="rId6"/>
            </p:custDataLst>
          </p:nvPr>
        </p:nvSpPr>
        <p:spPr>
          <a:xfrm>
            <a:off x="6667499" y="2811781"/>
            <a:ext cx="5105400" cy="1196340"/>
          </a:xfrm>
          <a:prstGeom prst="rect">
            <a:avLst/>
          </a:prstGeom>
        </p:spPr>
        <p:txBody>
          <a:bodyPr vert="horz" lIns="91440" tIns="45720" rIns="91440" bIns="45720" rtlCol="0">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1">
                <a:ln>
                  <a:noFill/>
                </a:ln>
                <a:solidFill>
                  <a:srgbClr val="201C20"/>
                </a:solidFill>
                <a:effectLst/>
                <a:uLnTx/>
                <a:uFillTx/>
                <a:latin typeface="Calibri" panose="020F0502020204030204" pitchFamily="34" charset="0"/>
                <a:cs typeface="Calibri" panose="020F0502020204030204" pitchFamily="34" charset="0"/>
              </a:rPr>
              <a:t>Office retailers cluster near suburban, family-focused areas, driven by school and home office demand. Staples serves 2.4M K-12 population with 1.76M visits. Office Depot shows similar trends. Papyrus serves smaller K-12 populations with fewer visits.</a:t>
            </a:r>
          </a:p>
        </p:txBody>
      </p:sp>
      <p:sp>
        <p:nvSpPr>
          <p:cNvPr id="42" name="Text Placeholder 13">
            <a:extLst>
              <a:ext uri="{FF2B5EF4-FFF2-40B4-BE49-F238E27FC236}">
                <a16:creationId xmlns:a16="http://schemas.microsoft.com/office/drawing/2014/main" id="{5CD3889E-54D1-356C-4993-A897E0BDC381}"/>
              </a:ext>
            </a:extLst>
          </p:cNvPr>
          <p:cNvSpPr txBox="1">
            <a:spLocks/>
          </p:cNvSpPr>
          <p:nvPr>
            <p:custDataLst>
              <p:tags r:id="rId7"/>
            </p:custDataLst>
          </p:nvPr>
        </p:nvSpPr>
        <p:spPr>
          <a:xfrm>
            <a:off x="4772720" y="1615440"/>
            <a:ext cx="1773852" cy="1196340"/>
          </a:xfrm>
          <a:prstGeom prst="rect">
            <a:avLst/>
          </a:prstGeom>
        </p:spPr>
        <p:txBody>
          <a:bodyPr vert="horz" lIns="91440" tIns="45720" rIns="91440" bIns="45720" rtlCol="0" anchor="t">
            <a:normAutofit/>
          </a:bodyPr>
          <a:lstStyle>
            <a:defPPr>
              <a:defRPr lang="en-US"/>
            </a:defPPr>
            <a:lvl1pPr marR="0" lvl="0" indent="9525" defTabSz="914354" fontAlgn="auto">
              <a:lnSpc>
                <a:spcPct val="100000"/>
              </a:lnSpc>
              <a:spcBef>
                <a:spcPts val="1000"/>
              </a:spcBef>
              <a:spcAft>
                <a:spcPts val="0"/>
              </a:spcAft>
              <a:buClrTx/>
              <a:buSzTx/>
              <a:buFont typeface="Arial" panose="020B0604020202020204" pitchFamily="34" charset="0"/>
              <a:buNone/>
              <a:tabLst/>
              <a:defRPr kumimoji="0" sz="1600" b="1" i="0" u="none" strike="noStrike" cap="none" spc="0" normalizeH="0" baseline="0">
                <a:ln>
                  <a:noFill/>
                </a:ln>
                <a:effectLst/>
                <a:uLnTx/>
                <a:uFillTx/>
                <a:latin typeface="+mj-lt"/>
                <a:cs typeface="Arial" panose="020B0604020202020204" pitchFamily="34" charset="0"/>
              </a:defRPr>
            </a:lvl1pPr>
            <a:lvl2pPr marL="457178" indent="0" defTabSz="914354">
              <a:lnSpc>
                <a:spcPct val="150000"/>
              </a:lnSpc>
              <a:spcBef>
                <a:spcPts val="1200"/>
              </a:spcBef>
              <a:buFont typeface="Arial" panose="020B0604020202020204" pitchFamily="34" charset="0"/>
              <a:buNone/>
              <a:tabLst/>
              <a:defRPr sz="2000" b="1">
                <a:cs typeface="Arial" panose="020B0604020202020204" pitchFamily="34" charset="0"/>
              </a:defRPr>
            </a:lvl2pPr>
            <a:lvl3pPr marL="914354" indent="0" defTabSz="914354">
              <a:lnSpc>
                <a:spcPct val="150000"/>
              </a:lnSpc>
              <a:spcBef>
                <a:spcPts val="1200"/>
              </a:spcBef>
              <a:buFont typeface="Arial" panose="020B0604020202020204" pitchFamily="34" charset="0"/>
              <a:buNone/>
              <a:tabLst/>
              <a:defRPr b="1">
                <a:cs typeface="Arial" panose="020B0604020202020204" pitchFamily="34" charset="0"/>
              </a:defRPr>
            </a:lvl3pPr>
            <a:lvl4pPr marL="1371532" indent="0" defTabSz="914354">
              <a:lnSpc>
                <a:spcPct val="150000"/>
              </a:lnSpc>
              <a:spcBef>
                <a:spcPts val="1200"/>
              </a:spcBef>
              <a:buFont typeface="Arial" panose="020B0604020202020204" pitchFamily="34" charset="0"/>
              <a:buNone/>
              <a:tabLst/>
              <a:defRPr sz="1600" b="1">
                <a:cs typeface="Arial" panose="020B0604020202020204" pitchFamily="34" charset="0"/>
              </a:defRPr>
            </a:lvl4pPr>
            <a:lvl5pPr marL="1828709" indent="0" defTabSz="914354">
              <a:lnSpc>
                <a:spcPct val="150000"/>
              </a:lnSpc>
              <a:spcBef>
                <a:spcPts val="1200"/>
              </a:spcBef>
              <a:buFont typeface="Arial" panose="020B0604020202020204" pitchFamily="34" charset="0"/>
              <a:buNone/>
              <a:tabLst/>
              <a:defRPr sz="1600" b="1">
                <a:cs typeface="Arial" panose="020B0604020202020204" pitchFamily="34" charset="0"/>
              </a:defRPr>
            </a:lvl5pPr>
            <a:lvl6pPr marL="2285886" indent="0" defTabSz="914354">
              <a:lnSpc>
                <a:spcPct val="90000"/>
              </a:lnSpc>
              <a:spcBef>
                <a:spcPts val="500"/>
              </a:spcBef>
              <a:buFont typeface="Arial" panose="020B0604020202020204" pitchFamily="34" charset="0"/>
              <a:buNone/>
              <a:defRPr sz="1600" b="1"/>
            </a:lvl6pPr>
            <a:lvl7pPr marL="2743062" indent="0" defTabSz="914354">
              <a:lnSpc>
                <a:spcPct val="90000"/>
              </a:lnSpc>
              <a:spcBef>
                <a:spcPts val="500"/>
              </a:spcBef>
              <a:buFont typeface="Arial" panose="020B0604020202020204" pitchFamily="34" charset="0"/>
              <a:buNone/>
              <a:defRPr sz="1600" b="1"/>
            </a:lvl7pPr>
            <a:lvl8pPr marL="3200240" indent="0" defTabSz="914354">
              <a:lnSpc>
                <a:spcPct val="90000"/>
              </a:lnSpc>
              <a:spcBef>
                <a:spcPts val="500"/>
              </a:spcBef>
              <a:buFont typeface="Arial" panose="020B0604020202020204" pitchFamily="34" charset="0"/>
              <a:buNone/>
              <a:defRPr sz="1600" b="1"/>
            </a:lvl8pPr>
            <a:lvl9pPr marL="3657418" indent="0" defTabSz="914354">
              <a:lnSpc>
                <a:spcPct val="90000"/>
              </a:lnSpc>
              <a:spcBef>
                <a:spcPts val="500"/>
              </a:spcBef>
              <a:buFont typeface="Arial" panose="020B0604020202020204" pitchFamily="34" charset="0"/>
              <a:buNone/>
              <a:defRPr sz="1600" b="1"/>
            </a:lvl9pPr>
          </a:lstStyle>
          <a:p>
            <a:r>
              <a:rPr lang="en-US" noProof="1">
                <a:latin typeface="Calibri" panose="020F0502020204030204" pitchFamily="34" charset="0"/>
                <a:cs typeface="Calibri" panose="020F0502020204030204" pitchFamily="34" charset="0"/>
              </a:rPr>
              <a:t>Dwell Time Patterns</a:t>
            </a:r>
          </a:p>
        </p:txBody>
      </p:sp>
      <p:sp>
        <p:nvSpPr>
          <p:cNvPr id="43" name="Text Placeholder 14">
            <a:extLst>
              <a:ext uri="{FF2B5EF4-FFF2-40B4-BE49-F238E27FC236}">
                <a16:creationId xmlns:a16="http://schemas.microsoft.com/office/drawing/2014/main" id="{02802255-7B68-5569-1289-4CD566D7EDC8}"/>
              </a:ext>
            </a:extLst>
          </p:cNvPr>
          <p:cNvSpPr txBox="1">
            <a:spLocks/>
          </p:cNvSpPr>
          <p:nvPr>
            <p:custDataLst>
              <p:tags r:id="rId8"/>
            </p:custDataLst>
          </p:nvPr>
        </p:nvSpPr>
        <p:spPr>
          <a:xfrm>
            <a:off x="4772720" y="2811779"/>
            <a:ext cx="1773852" cy="1196340"/>
          </a:xfrm>
          <a:prstGeom prst="rect">
            <a:avLst/>
          </a:prstGeom>
        </p:spPr>
        <p:txBody>
          <a:bodyPr vert="horz" lIns="91440" tIns="45720" rIns="91440" bIns="45720" rtlCol="0" anchor="t">
            <a:normAutofit/>
          </a:bodyPr>
          <a:lstStyle>
            <a:defPPr>
              <a:defRPr lang="en-US"/>
            </a:defPPr>
            <a:lvl1pPr marR="0" lvl="0" indent="9525" defTabSz="914354" fontAlgn="auto">
              <a:lnSpc>
                <a:spcPct val="100000"/>
              </a:lnSpc>
              <a:spcBef>
                <a:spcPts val="1000"/>
              </a:spcBef>
              <a:spcAft>
                <a:spcPts val="0"/>
              </a:spcAft>
              <a:buClrTx/>
              <a:buSzTx/>
              <a:buFont typeface="Arial" panose="020B0604020202020204" pitchFamily="34" charset="0"/>
              <a:buNone/>
              <a:tabLst/>
              <a:defRPr kumimoji="0" sz="1600" b="1" i="0" u="none" strike="noStrike" cap="none" spc="0" normalizeH="0" baseline="0">
                <a:ln>
                  <a:noFill/>
                </a:ln>
                <a:effectLst/>
                <a:uLnTx/>
                <a:uFillTx/>
                <a:latin typeface="+mj-lt"/>
                <a:cs typeface="Arial" panose="020B0604020202020204" pitchFamily="34" charset="0"/>
              </a:defRPr>
            </a:lvl1pPr>
            <a:lvl2pPr marL="457178" indent="0" defTabSz="914354">
              <a:lnSpc>
                <a:spcPct val="150000"/>
              </a:lnSpc>
              <a:spcBef>
                <a:spcPts val="1200"/>
              </a:spcBef>
              <a:buFont typeface="Arial" panose="020B0604020202020204" pitchFamily="34" charset="0"/>
              <a:buNone/>
              <a:tabLst/>
              <a:defRPr sz="2000" b="1">
                <a:cs typeface="Arial" panose="020B0604020202020204" pitchFamily="34" charset="0"/>
              </a:defRPr>
            </a:lvl2pPr>
            <a:lvl3pPr marL="914354" indent="0" defTabSz="914354">
              <a:lnSpc>
                <a:spcPct val="150000"/>
              </a:lnSpc>
              <a:spcBef>
                <a:spcPts val="1200"/>
              </a:spcBef>
              <a:buFont typeface="Arial" panose="020B0604020202020204" pitchFamily="34" charset="0"/>
              <a:buNone/>
              <a:tabLst/>
              <a:defRPr b="1">
                <a:cs typeface="Arial" panose="020B0604020202020204" pitchFamily="34" charset="0"/>
              </a:defRPr>
            </a:lvl3pPr>
            <a:lvl4pPr marL="1371532" indent="0" defTabSz="914354">
              <a:lnSpc>
                <a:spcPct val="150000"/>
              </a:lnSpc>
              <a:spcBef>
                <a:spcPts val="1200"/>
              </a:spcBef>
              <a:buFont typeface="Arial" panose="020B0604020202020204" pitchFamily="34" charset="0"/>
              <a:buNone/>
              <a:tabLst/>
              <a:defRPr sz="1600" b="1">
                <a:cs typeface="Arial" panose="020B0604020202020204" pitchFamily="34" charset="0"/>
              </a:defRPr>
            </a:lvl4pPr>
            <a:lvl5pPr marL="1828709" indent="0" defTabSz="914354">
              <a:lnSpc>
                <a:spcPct val="150000"/>
              </a:lnSpc>
              <a:spcBef>
                <a:spcPts val="1200"/>
              </a:spcBef>
              <a:buFont typeface="Arial" panose="020B0604020202020204" pitchFamily="34" charset="0"/>
              <a:buNone/>
              <a:tabLst/>
              <a:defRPr sz="1600" b="1">
                <a:cs typeface="Arial" panose="020B0604020202020204" pitchFamily="34" charset="0"/>
              </a:defRPr>
            </a:lvl5pPr>
            <a:lvl6pPr marL="2285886" indent="0" defTabSz="914354">
              <a:lnSpc>
                <a:spcPct val="90000"/>
              </a:lnSpc>
              <a:spcBef>
                <a:spcPts val="500"/>
              </a:spcBef>
              <a:buFont typeface="Arial" panose="020B0604020202020204" pitchFamily="34" charset="0"/>
              <a:buNone/>
              <a:defRPr sz="1600" b="1"/>
            </a:lvl6pPr>
            <a:lvl7pPr marL="2743062" indent="0" defTabSz="914354">
              <a:lnSpc>
                <a:spcPct val="90000"/>
              </a:lnSpc>
              <a:spcBef>
                <a:spcPts val="500"/>
              </a:spcBef>
              <a:buFont typeface="Arial" panose="020B0604020202020204" pitchFamily="34" charset="0"/>
              <a:buNone/>
              <a:defRPr sz="1600" b="1"/>
            </a:lvl7pPr>
            <a:lvl8pPr marL="3200240" indent="0" defTabSz="914354">
              <a:lnSpc>
                <a:spcPct val="90000"/>
              </a:lnSpc>
              <a:spcBef>
                <a:spcPts val="500"/>
              </a:spcBef>
              <a:buFont typeface="Arial" panose="020B0604020202020204" pitchFamily="34" charset="0"/>
              <a:buNone/>
              <a:defRPr sz="1600" b="1"/>
            </a:lvl8pPr>
            <a:lvl9pPr marL="3657418" indent="0" defTabSz="914354">
              <a:lnSpc>
                <a:spcPct val="90000"/>
              </a:lnSpc>
              <a:spcBef>
                <a:spcPts val="500"/>
              </a:spcBef>
              <a:buFont typeface="Arial" panose="020B0604020202020204" pitchFamily="34" charset="0"/>
              <a:buNone/>
              <a:defRPr sz="1600" b="1"/>
            </a:lvl9pPr>
          </a:lstStyle>
          <a:p>
            <a:r>
              <a:rPr lang="en-US" noProof="1">
                <a:latin typeface="Calibri" panose="020F0502020204030204" pitchFamily="34" charset="0"/>
                <a:cs typeface="Calibri" panose="020F0502020204030204" pitchFamily="34" charset="0"/>
              </a:rPr>
              <a:t>K-12 Population Link</a:t>
            </a:r>
          </a:p>
        </p:txBody>
      </p:sp>
      <p:sp>
        <p:nvSpPr>
          <p:cNvPr id="44" name="Content Placeholder 29">
            <a:extLst>
              <a:ext uri="{FF2B5EF4-FFF2-40B4-BE49-F238E27FC236}">
                <a16:creationId xmlns:a16="http://schemas.microsoft.com/office/drawing/2014/main" id="{4FF825C2-5D50-4AF3-6DD9-ED686FC5CE15}"/>
              </a:ext>
            </a:extLst>
          </p:cNvPr>
          <p:cNvSpPr txBox="1">
            <a:spLocks/>
          </p:cNvSpPr>
          <p:nvPr>
            <p:custDataLst>
              <p:tags r:id="rId9"/>
            </p:custDataLst>
          </p:nvPr>
        </p:nvSpPr>
        <p:spPr>
          <a:xfrm>
            <a:off x="6667499" y="4008121"/>
            <a:ext cx="5105400" cy="1196340"/>
          </a:xfrm>
          <a:prstGeom prst="rect">
            <a:avLst/>
          </a:prstGeom>
        </p:spPr>
        <p:txBody>
          <a:bodyPr vert="horz" lIns="91440" tIns="45720" rIns="91440" bIns="45720" rtlCol="0">
            <a:normAutofit lnSpcReduction="10000"/>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1">
                <a:ln>
                  <a:noFill/>
                </a:ln>
                <a:solidFill>
                  <a:srgbClr val="201C20"/>
                </a:solidFill>
                <a:effectLst/>
                <a:uLnTx/>
                <a:uFillTx/>
                <a:latin typeface="Calibri" panose="020F0502020204030204" pitchFamily="34" charset="0"/>
                <a:cs typeface="Calibri" panose="020F0502020204030204" pitchFamily="34" charset="0"/>
              </a:rPr>
              <a:t>Counties with higher working-age density (urban/suburban) show shorter dwell times, indicating faster shopping. Staples serves 10.65M working-age people with 16.8 min dwell time. Cartridge World and Papyrus have smaller workforces but longer dwell times (31.1 and 39.7 min).</a:t>
            </a:r>
          </a:p>
        </p:txBody>
      </p:sp>
      <p:sp>
        <p:nvSpPr>
          <p:cNvPr id="45" name="Text Placeholder 14">
            <a:extLst>
              <a:ext uri="{FF2B5EF4-FFF2-40B4-BE49-F238E27FC236}">
                <a16:creationId xmlns:a16="http://schemas.microsoft.com/office/drawing/2014/main" id="{367875E2-A0BF-F266-9EBA-3B06113038C7}"/>
              </a:ext>
            </a:extLst>
          </p:cNvPr>
          <p:cNvSpPr txBox="1">
            <a:spLocks/>
          </p:cNvSpPr>
          <p:nvPr>
            <p:custDataLst>
              <p:tags r:id="rId10"/>
            </p:custDataLst>
          </p:nvPr>
        </p:nvSpPr>
        <p:spPr>
          <a:xfrm>
            <a:off x="4772720" y="4008119"/>
            <a:ext cx="1773852" cy="1196340"/>
          </a:xfrm>
          <a:prstGeom prst="rect">
            <a:avLst/>
          </a:prstGeom>
        </p:spPr>
        <p:txBody>
          <a:bodyPr vert="horz" lIns="91440" tIns="45720" rIns="91440" bIns="45720" rtlCol="0" anchor="t">
            <a:normAutofit/>
          </a:bodyPr>
          <a:lstStyle>
            <a:defPPr>
              <a:defRPr lang="en-US"/>
            </a:defPPr>
            <a:lvl1pPr marR="0" lvl="0" indent="9525" defTabSz="914354" fontAlgn="auto">
              <a:lnSpc>
                <a:spcPct val="100000"/>
              </a:lnSpc>
              <a:spcBef>
                <a:spcPts val="1000"/>
              </a:spcBef>
              <a:spcAft>
                <a:spcPts val="0"/>
              </a:spcAft>
              <a:buClrTx/>
              <a:buSzTx/>
              <a:buFont typeface="Arial" panose="020B0604020202020204" pitchFamily="34" charset="0"/>
              <a:buNone/>
              <a:tabLst/>
              <a:defRPr kumimoji="0" sz="1600" b="1" i="0" u="none" strike="noStrike" cap="none" spc="0" normalizeH="0" baseline="0">
                <a:ln>
                  <a:noFill/>
                </a:ln>
                <a:effectLst/>
                <a:uLnTx/>
                <a:uFillTx/>
                <a:latin typeface="+mj-lt"/>
                <a:cs typeface="Arial" panose="020B0604020202020204" pitchFamily="34" charset="0"/>
              </a:defRPr>
            </a:lvl1pPr>
            <a:lvl2pPr marL="457178" indent="0" defTabSz="914354">
              <a:lnSpc>
                <a:spcPct val="150000"/>
              </a:lnSpc>
              <a:spcBef>
                <a:spcPts val="1200"/>
              </a:spcBef>
              <a:buFont typeface="Arial" panose="020B0604020202020204" pitchFamily="34" charset="0"/>
              <a:buNone/>
              <a:tabLst/>
              <a:defRPr sz="2000" b="1">
                <a:cs typeface="Arial" panose="020B0604020202020204" pitchFamily="34" charset="0"/>
              </a:defRPr>
            </a:lvl2pPr>
            <a:lvl3pPr marL="914354" indent="0" defTabSz="914354">
              <a:lnSpc>
                <a:spcPct val="150000"/>
              </a:lnSpc>
              <a:spcBef>
                <a:spcPts val="1200"/>
              </a:spcBef>
              <a:buFont typeface="Arial" panose="020B0604020202020204" pitchFamily="34" charset="0"/>
              <a:buNone/>
              <a:tabLst/>
              <a:defRPr b="1">
                <a:cs typeface="Arial" panose="020B0604020202020204" pitchFamily="34" charset="0"/>
              </a:defRPr>
            </a:lvl3pPr>
            <a:lvl4pPr marL="1371532" indent="0" defTabSz="914354">
              <a:lnSpc>
                <a:spcPct val="150000"/>
              </a:lnSpc>
              <a:spcBef>
                <a:spcPts val="1200"/>
              </a:spcBef>
              <a:buFont typeface="Arial" panose="020B0604020202020204" pitchFamily="34" charset="0"/>
              <a:buNone/>
              <a:tabLst/>
              <a:defRPr sz="1600" b="1">
                <a:cs typeface="Arial" panose="020B0604020202020204" pitchFamily="34" charset="0"/>
              </a:defRPr>
            </a:lvl4pPr>
            <a:lvl5pPr marL="1828709" indent="0" defTabSz="914354">
              <a:lnSpc>
                <a:spcPct val="150000"/>
              </a:lnSpc>
              <a:spcBef>
                <a:spcPts val="1200"/>
              </a:spcBef>
              <a:buFont typeface="Arial" panose="020B0604020202020204" pitchFamily="34" charset="0"/>
              <a:buNone/>
              <a:tabLst/>
              <a:defRPr sz="1600" b="1">
                <a:cs typeface="Arial" panose="020B0604020202020204" pitchFamily="34" charset="0"/>
              </a:defRPr>
            </a:lvl5pPr>
            <a:lvl6pPr marL="2285886" indent="0" defTabSz="914354">
              <a:lnSpc>
                <a:spcPct val="90000"/>
              </a:lnSpc>
              <a:spcBef>
                <a:spcPts val="500"/>
              </a:spcBef>
              <a:buFont typeface="Arial" panose="020B0604020202020204" pitchFamily="34" charset="0"/>
              <a:buNone/>
              <a:defRPr sz="1600" b="1"/>
            </a:lvl6pPr>
            <a:lvl7pPr marL="2743062" indent="0" defTabSz="914354">
              <a:lnSpc>
                <a:spcPct val="90000"/>
              </a:lnSpc>
              <a:spcBef>
                <a:spcPts val="500"/>
              </a:spcBef>
              <a:buFont typeface="Arial" panose="020B0604020202020204" pitchFamily="34" charset="0"/>
              <a:buNone/>
              <a:defRPr sz="1600" b="1"/>
            </a:lvl7pPr>
            <a:lvl8pPr marL="3200240" indent="0" defTabSz="914354">
              <a:lnSpc>
                <a:spcPct val="90000"/>
              </a:lnSpc>
              <a:spcBef>
                <a:spcPts val="500"/>
              </a:spcBef>
              <a:buFont typeface="Arial" panose="020B0604020202020204" pitchFamily="34" charset="0"/>
              <a:buNone/>
              <a:defRPr sz="1600" b="1"/>
            </a:lvl8pPr>
            <a:lvl9pPr marL="3657418" indent="0" defTabSz="914354">
              <a:lnSpc>
                <a:spcPct val="90000"/>
              </a:lnSpc>
              <a:spcBef>
                <a:spcPts val="500"/>
              </a:spcBef>
              <a:buFont typeface="Arial" panose="020B0604020202020204" pitchFamily="34" charset="0"/>
              <a:buNone/>
              <a:defRPr sz="1600" b="1"/>
            </a:lvl9pPr>
          </a:lstStyle>
          <a:p>
            <a:r>
              <a:rPr lang="en-US" noProof="1">
                <a:latin typeface="Calibri" panose="020F0502020204030204" pitchFamily="34" charset="0"/>
                <a:cs typeface="Calibri" panose="020F0502020204030204" pitchFamily="34" charset="0"/>
              </a:rPr>
              <a:t>Working-Age Population Link</a:t>
            </a:r>
          </a:p>
        </p:txBody>
      </p:sp>
      <p:sp>
        <p:nvSpPr>
          <p:cNvPr id="46" name="Content Placeholder 29">
            <a:extLst>
              <a:ext uri="{FF2B5EF4-FFF2-40B4-BE49-F238E27FC236}">
                <a16:creationId xmlns:a16="http://schemas.microsoft.com/office/drawing/2014/main" id="{B0BACC63-0A67-4700-B766-93671F750F5D}"/>
              </a:ext>
            </a:extLst>
          </p:cNvPr>
          <p:cNvSpPr txBox="1">
            <a:spLocks/>
          </p:cNvSpPr>
          <p:nvPr>
            <p:custDataLst>
              <p:tags r:id="rId11"/>
            </p:custDataLst>
          </p:nvPr>
        </p:nvSpPr>
        <p:spPr>
          <a:xfrm>
            <a:off x="6667499" y="5204460"/>
            <a:ext cx="5105400" cy="1196340"/>
          </a:xfrm>
          <a:prstGeom prst="rect">
            <a:avLst/>
          </a:prstGeom>
        </p:spPr>
        <p:txBody>
          <a:bodyPr vert="horz" lIns="91440" tIns="45720" rIns="91440" bIns="45720" rtlCol="0">
            <a:normAutofit lnSpcReduction="10000"/>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1">
                <a:ln>
                  <a:noFill/>
                </a:ln>
                <a:solidFill>
                  <a:srgbClr val="201C20"/>
                </a:solidFill>
                <a:effectLst/>
                <a:uLnTx/>
                <a:uFillTx/>
                <a:latin typeface="Calibri" panose="020F0502020204030204" pitchFamily="34" charset="0"/>
                <a:cs typeface="Calibri" panose="020F0502020204030204" pitchFamily="34" charset="0"/>
              </a:rPr>
              <a:t>Longer dwell times occur in areas with more bachelor’s and master’s degree holders, linked to higher income and preference for personalized shopping. Staples serves mixed education with 16.8 min dwell. Paper Source and Papyrus have longer dwell times (29.9 and 39.7 min) in highly educated areas.</a:t>
            </a:r>
          </a:p>
        </p:txBody>
      </p:sp>
      <p:sp>
        <p:nvSpPr>
          <p:cNvPr id="47" name="Text Placeholder 14">
            <a:extLst>
              <a:ext uri="{FF2B5EF4-FFF2-40B4-BE49-F238E27FC236}">
                <a16:creationId xmlns:a16="http://schemas.microsoft.com/office/drawing/2014/main" id="{6ED70379-B42F-D4B6-AAFD-A3791122574E}"/>
              </a:ext>
            </a:extLst>
          </p:cNvPr>
          <p:cNvSpPr txBox="1">
            <a:spLocks/>
          </p:cNvSpPr>
          <p:nvPr>
            <p:custDataLst>
              <p:tags r:id="rId12"/>
            </p:custDataLst>
          </p:nvPr>
        </p:nvSpPr>
        <p:spPr>
          <a:xfrm>
            <a:off x="4772720" y="5204458"/>
            <a:ext cx="1773852" cy="1196340"/>
          </a:xfrm>
          <a:prstGeom prst="rect">
            <a:avLst/>
          </a:prstGeom>
        </p:spPr>
        <p:txBody>
          <a:bodyPr vert="horz" lIns="91440" tIns="45720" rIns="91440" bIns="45720" rtlCol="0" anchor="t">
            <a:normAutofit/>
          </a:bodyPr>
          <a:lstStyle>
            <a:defPPr>
              <a:defRPr lang="en-US"/>
            </a:defPPr>
            <a:lvl1pPr marR="0" lvl="0" indent="9525" defTabSz="914354" fontAlgn="auto">
              <a:lnSpc>
                <a:spcPct val="100000"/>
              </a:lnSpc>
              <a:spcBef>
                <a:spcPts val="1000"/>
              </a:spcBef>
              <a:spcAft>
                <a:spcPts val="0"/>
              </a:spcAft>
              <a:buClrTx/>
              <a:buSzTx/>
              <a:buFont typeface="Arial" panose="020B0604020202020204" pitchFamily="34" charset="0"/>
              <a:buNone/>
              <a:tabLst/>
              <a:defRPr kumimoji="0" sz="1600" b="1" i="0" u="none" strike="noStrike" cap="none" spc="0" normalizeH="0" baseline="0">
                <a:ln>
                  <a:noFill/>
                </a:ln>
                <a:effectLst/>
                <a:uLnTx/>
                <a:uFillTx/>
                <a:latin typeface="+mj-lt"/>
                <a:cs typeface="Arial" panose="020B0604020202020204" pitchFamily="34" charset="0"/>
              </a:defRPr>
            </a:lvl1pPr>
            <a:lvl2pPr marL="457178" indent="0" defTabSz="914354">
              <a:lnSpc>
                <a:spcPct val="150000"/>
              </a:lnSpc>
              <a:spcBef>
                <a:spcPts val="1200"/>
              </a:spcBef>
              <a:buFont typeface="Arial" panose="020B0604020202020204" pitchFamily="34" charset="0"/>
              <a:buNone/>
              <a:tabLst/>
              <a:defRPr sz="2000" b="1">
                <a:cs typeface="Arial" panose="020B0604020202020204" pitchFamily="34" charset="0"/>
              </a:defRPr>
            </a:lvl2pPr>
            <a:lvl3pPr marL="914354" indent="0" defTabSz="914354">
              <a:lnSpc>
                <a:spcPct val="150000"/>
              </a:lnSpc>
              <a:spcBef>
                <a:spcPts val="1200"/>
              </a:spcBef>
              <a:buFont typeface="Arial" panose="020B0604020202020204" pitchFamily="34" charset="0"/>
              <a:buNone/>
              <a:tabLst/>
              <a:defRPr b="1">
                <a:cs typeface="Arial" panose="020B0604020202020204" pitchFamily="34" charset="0"/>
              </a:defRPr>
            </a:lvl3pPr>
            <a:lvl4pPr marL="1371532" indent="0" defTabSz="914354">
              <a:lnSpc>
                <a:spcPct val="150000"/>
              </a:lnSpc>
              <a:spcBef>
                <a:spcPts val="1200"/>
              </a:spcBef>
              <a:buFont typeface="Arial" panose="020B0604020202020204" pitchFamily="34" charset="0"/>
              <a:buNone/>
              <a:tabLst/>
              <a:defRPr sz="1600" b="1">
                <a:cs typeface="Arial" panose="020B0604020202020204" pitchFamily="34" charset="0"/>
              </a:defRPr>
            </a:lvl4pPr>
            <a:lvl5pPr marL="1828709" indent="0" defTabSz="914354">
              <a:lnSpc>
                <a:spcPct val="150000"/>
              </a:lnSpc>
              <a:spcBef>
                <a:spcPts val="1200"/>
              </a:spcBef>
              <a:buFont typeface="Arial" panose="020B0604020202020204" pitchFamily="34" charset="0"/>
              <a:buNone/>
              <a:tabLst/>
              <a:defRPr sz="1600" b="1">
                <a:cs typeface="Arial" panose="020B0604020202020204" pitchFamily="34" charset="0"/>
              </a:defRPr>
            </a:lvl5pPr>
            <a:lvl6pPr marL="2285886" indent="0" defTabSz="914354">
              <a:lnSpc>
                <a:spcPct val="90000"/>
              </a:lnSpc>
              <a:spcBef>
                <a:spcPts val="500"/>
              </a:spcBef>
              <a:buFont typeface="Arial" panose="020B0604020202020204" pitchFamily="34" charset="0"/>
              <a:buNone/>
              <a:defRPr sz="1600" b="1"/>
            </a:lvl6pPr>
            <a:lvl7pPr marL="2743062" indent="0" defTabSz="914354">
              <a:lnSpc>
                <a:spcPct val="90000"/>
              </a:lnSpc>
              <a:spcBef>
                <a:spcPts val="500"/>
              </a:spcBef>
              <a:buFont typeface="Arial" panose="020B0604020202020204" pitchFamily="34" charset="0"/>
              <a:buNone/>
              <a:defRPr sz="1600" b="1"/>
            </a:lvl7pPr>
            <a:lvl8pPr marL="3200240" indent="0" defTabSz="914354">
              <a:lnSpc>
                <a:spcPct val="90000"/>
              </a:lnSpc>
              <a:spcBef>
                <a:spcPts val="500"/>
              </a:spcBef>
              <a:buFont typeface="Arial" panose="020B0604020202020204" pitchFamily="34" charset="0"/>
              <a:buNone/>
              <a:defRPr sz="1600" b="1"/>
            </a:lvl8pPr>
            <a:lvl9pPr marL="3657418" indent="0" defTabSz="914354">
              <a:lnSpc>
                <a:spcPct val="90000"/>
              </a:lnSpc>
              <a:spcBef>
                <a:spcPts val="500"/>
              </a:spcBef>
              <a:buFont typeface="Arial" panose="020B0604020202020204" pitchFamily="34" charset="0"/>
              <a:buNone/>
              <a:defRPr sz="1600" b="1"/>
            </a:lvl9pPr>
          </a:lstStyle>
          <a:p>
            <a:r>
              <a:rPr lang="en-US" noProof="1">
                <a:latin typeface="Calibri" panose="020F0502020204030204" pitchFamily="34" charset="0"/>
                <a:cs typeface="Calibri" panose="020F0502020204030204" pitchFamily="34" charset="0"/>
              </a:rPr>
              <a:t>Education &amp; Engagement</a:t>
            </a:r>
          </a:p>
        </p:txBody>
      </p:sp>
      <p:sp>
        <p:nvSpPr>
          <p:cNvPr id="49" name="Text Placeholder 12">
            <a:extLst>
              <a:ext uri="{FF2B5EF4-FFF2-40B4-BE49-F238E27FC236}">
                <a16:creationId xmlns:a16="http://schemas.microsoft.com/office/drawing/2014/main" id="{1FFC96D5-4307-CC00-CB6D-4A63F0FC3DBA}"/>
              </a:ext>
            </a:extLst>
          </p:cNvPr>
          <p:cNvSpPr txBox="1">
            <a:spLocks/>
          </p:cNvSpPr>
          <p:nvPr>
            <p:custDataLst>
              <p:tags r:id="rId13"/>
            </p:custDataLst>
          </p:nvPr>
        </p:nvSpPr>
        <p:spPr>
          <a:xfrm>
            <a:off x="4772721" y="419099"/>
            <a:ext cx="1773852" cy="1196340"/>
          </a:xfrm>
          <a:prstGeom prst="rect">
            <a:avLst/>
          </a:prstGeom>
        </p:spPr>
        <p:txBody>
          <a:bodyPr vert="horz" lIns="91440" tIns="45720" rIns="91440" bIns="45720" rtlCol="0" anchor="t">
            <a:normAutofit/>
          </a:bodyPr>
          <a:lstStyle>
            <a:lvl1pPr marL="0" indent="0" algn="l" defTabSz="914354" rtl="0" eaLnBrk="1" latinLnBrk="0" hangingPunct="1">
              <a:lnSpc>
                <a:spcPct val="100000"/>
              </a:lnSpc>
              <a:spcBef>
                <a:spcPts val="1200"/>
              </a:spcBef>
              <a:buFont typeface="Arial" panose="020B0604020202020204" pitchFamily="34" charset="0"/>
              <a:buNone/>
              <a:tabLst/>
              <a:defRPr sz="2400" b="1" kern="1200">
                <a:solidFill>
                  <a:schemeClr val="tx1"/>
                </a:solidFill>
                <a:latin typeface="Franklin Gothic Medium" panose="020B0603020102020204" pitchFamily="34" charset="0"/>
                <a:ea typeface="+mn-ea"/>
                <a:cs typeface="Arial" panose="020B0604020202020204" pitchFamily="34" charset="0"/>
              </a:defRPr>
            </a:lvl1pPr>
            <a:lvl2pPr marL="457178" indent="0" algn="l" defTabSz="914354" rtl="0" eaLnBrk="1" latinLnBrk="0" hangingPunct="1">
              <a:lnSpc>
                <a:spcPct val="150000"/>
              </a:lnSpc>
              <a:spcBef>
                <a:spcPts val="1200"/>
              </a:spcBef>
              <a:buFont typeface="Arial" panose="020B0604020202020204" pitchFamily="34" charset="0"/>
              <a:buNone/>
              <a:tabLst/>
              <a:defRPr sz="2000" b="1" kern="1200">
                <a:solidFill>
                  <a:schemeClr val="tx1"/>
                </a:solidFill>
                <a:latin typeface="+mn-lt"/>
                <a:ea typeface="+mn-ea"/>
                <a:cs typeface="Arial" panose="020B0604020202020204" pitchFamily="34" charset="0"/>
              </a:defRPr>
            </a:lvl2pPr>
            <a:lvl3pPr marL="914354"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n-lt"/>
                <a:ea typeface="+mn-ea"/>
                <a:cs typeface="Arial" panose="020B0604020202020204" pitchFamily="34" charset="0"/>
              </a:defRPr>
            </a:lvl3pPr>
            <a:lvl4pPr marL="1371532"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4pPr>
            <a:lvl5pPr marL="1828709"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0" marR="0" lvl="0" indent="9525" algn="l" defTabSz="914354" rtl="0" eaLnBrk="1" fontAlgn="auto" latinLnBrk="0" hangingPunct="1">
              <a:spcBef>
                <a:spcPts val="1000"/>
              </a:spcBef>
              <a:spcAft>
                <a:spcPts val="0"/>
              </a:spcAft>
              <a:buClrTx/>
              <a:buSzTx/>
              <a:buFont typeface="Arial" panose="020B0604020202020204" pitchFamily="34" charset="0"/>
              <a:buNone/>
              <a:tabLst/>
              <a:defRPr/>
            </a:pPr>
            <a:r>
              <a:rPr kumimoji="0" lang="en-US" sz="1600" b="1" i="0" u="none" strike="noStrike" kern="1200" cap="none" spc="0" normalizeH="0" baseline="0" noProof="1">
                <a:ln>
                  <a:noFill/>
                </a:ln>
                <a:effectLst/>
                <a:uLnTx/>
                <a:uFillTx/>
                <a:latin typeface="Calibri" panose="020F0502020204030204" pitchFamily="34" charset="0"/>
                <a:cs typeface="Calibri" panose="020F0502020204030204" pitchFamily="34" charset="0"/>
              </a:rPr>
              <a:t>Visit Trends</a:t>
            </a:r>
          </a:p>
        </p:txBody>
      </p:sp>
      <p:sp>
        <p:nvSpPr>
          <p:cNvPr id="50" name="TextBox 49">
            <a:extLst>
              <a:ext uri="{FF2B5EF4-FFF2-40B4-BE49-F238E27FC236}">
                <a16:creationId xmlns:a16="http://schemas.microsoft.com/office/drawing/2014/main" id="{08435F00-15AB-7C34-7D82-87EFCD3AD77A}"/>
              </a:ext>
            </a:extLst>
          </p:cNvPr>
          <p:cNvSpPr txBox="1"/>
          <p:nvPr/>
        </p:nvSpPr>
        <p:spPr>
          <a:xfrm>
            <a:off x="4217307" y="419099"/>
            <a:ext cx="548640" cy="374839"/>
          </a:xfrm>
          <a:prstGeom prst="rect">
            <a:avLst/>
          </a:prstGeom>
          <a:noFill/>
        </p:spPr>
        <p:txBody>
          <a:bodyPr wrap="square" rtlCol="0" anchor="t">
            <a:normAutofit/>
          </a:bodyPr>
          <a:lstStyle/>
          <a:p>
            <a:pPr marL="0" marR="0" lvl="0" indent="0" algn="r" defTabSz="457189" rtl="0" eaLnBrk="1" fontAlgn="auto" latinLnBrk="0" hangingPunct="1">
              <a:spcBef>
                <a:spcPts val="0"/>
              </a:spcBef>
              <a:spcAft>
                <a:spcPts val="0"/>
              </a:spcAft>
              <a:buClrTx/>
              <a:buSzTx/>
              <a:buFontTx/>
              <a:buNone/>
              <a:tabLst/>
              <a:defRPr/>
            </a:pPr>
            <a:r>
              <a:rPr kumimoji="0" lang="en-US" sz="1600" b="1" i="0" u="none" strike="noStrike" kern="1200" cap="none" spc="0" normalizeH="0" baseline="0" noProof="1">
                <a:ln>
                  <a:noFill/>
                </a:ln>
                <a:solidFill>
                  <a:schemeClr val="accent1"/>
                </a:solidFill>
                <a:effectLst/>
                <a:uLnTx/>
                <a:uFillTx/>
                <a:latin typeface="Calibri" panose="020F0502020204030204" pitchFamily="34" charset="0"/>
                <a:cs typeface="Calibri" panose="020F0502020204030204" pitchFamily="34" charset="0"/>
              </a:rPr>
              <a:t>01</a:t>
            </a:r>
          </a:p>
        </p:txBody>
      </p:sp>
    </p:spTree>
    <p:extLst>
      <p:ext uri="{BB962C8B-B14F-4D97-AF65-F5344CB8AC3E}">
        <p14:creationId xmlns:p14="http://schemas.microsoft.com/office/powerpoint/2010/main" val="6568787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118A7D2-0510-3D46-0EAB-EF200C7478DE}"/>
            </a:ext>
          </a:extLst>
        </p:cNvPr>
        <p:cNvGrpSpPr/>
        <p:nvPr/>
      </p:nvGrpSpPr>
      <p:grpSpPr>
        <a:xfrm>
          <a:off x="0" y="0"/>
          <a:ext cx="0" cy="0"/>
          <a:chOff x="0" y="0"/>
          <a:chExt cx="0" cy="0"/>
        </a:xfrm>
      </p:grpSpPr>
      <p:sp useBgFill="1">
        <p:nvSpPr>
          <p:cNvPr id="69" name="Rectangle 68">
            <a:extLst>
              <a:ext uri="{FF2B5EF4-FFF2-40B4-BE49-F238E27FC236}">
                <a16:creationId xmlns:a16="http://schemas.microsoft.com/office/drawing/2014/main" id="{42D91A80-424C-43FF-B36B-58B851DC5E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A56E3B-CACD-E87B-27F7-A1363C96D6F9}"/>
              </a:ext>
            </a:extLst>
          </p:cNvPr>
          <p:cNvSpPr>
            <a:spLocks noGrp="1"/>
          </p:cNvSpPr>
          <p:nvPr>
            <p:ph type="title"/>
            <p:custDataLst>
              <p:tags r:id="rId1"/>
            </p:custDataLst>
          </p:nvPr>
        </p:nvSpPr>
        <p:spPr>
          <a:xfrm>
            <a:off x="9267909" y="2023110"/>
            <a:ext cx="2469624" cy="2846070"/>
          </a:xfrm>
        </p:spPr>
        <p:txBody>
          <a:bodyPr vert="horz" lIns="91440" tIns="45720" rIns="91440" bIns="45720" rtlCol="0" anchor="ctr">
            <a:normAutofit/>
          </a:bodyPr>
          <a:lstStyle/>
          <a:p>
            <a:pPr defTabSz="914400"/>
            <a:r>
              <a:rPr lang="en-US" sz="3100"/>
              <a:t>Office Supply Store Visits Overview (Jan 2020 - APR 2020)</a:t>
            </a:r>
          </a:p>
        </p:txBody>
      </p:sp>
      <p:sp>
        <p:nvSpPr>
          <p:cNvPr id="14" name="TextBox 13">
            <a:extLst>
              <a:ext uri="{FF2B5EF4-FFF2-40B4-BE49-F238E27FC236}">
                <a16:creationId xmlns:a16="http://schemas.microsoft.com/office/drawing/2014/main" id="{B70BD715-DCCD-4AFF-3022-D262DE9A842B}"/>
              </a:ext>
            </a:extLst>
          </p:cNvPr>
          <p:cNvSpPr txBox="1"/>
          <p:nvPr>
            <p:custDataLst>
              <p:tags r:id="rId2"/>
            </p:custDataLst>
          </p:nvPr>
        </p:nvSpPr>
        <p:spPr>
          <a:xfrm>
            <a:off x="9267908" y="5086350"/>
            <a:ext cx="2446465" cy="1178298"/>
          </a:xfrm>
          <a:prstGeom prst="rect">
            <a:avLst/>
          </a:prstGeom>
        </p:spPr>
        <p:txBody>
          <a:bodyPr vert="horz" lIns="91440" tIns="45720" rIns="91440" bIns="45720" rtlCol="0">
            <a:normAutofit/>
          </a:bodyPr>
          <a:lstStyle/>
          <a:p>
            <a:pPr>
              <a:lnSpc>
                <a:spcPct val="90000"/>
              </a:lnSpc>
              <a:spcBef>
                <a:spcPts val="1000"/>
              </a:spcBef>
            </a:pPr>
            <a:r>
              <a:rPr lang="en-US" sz="1600" noProof="1"/>
              <a:t>Market Trends</a:t>
            </a:r>
          </a:p>
        </p:txBody>
      </p:sp>
      <p:sp>
        <p:nvSpPr>
          <p:cNvPr id="70" name="Rectangle 69">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64724759-3382-1771-711D-DE5B60323C99}"/>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561862" y="927869"/>
            <a:ext cx="3703320" cy="243493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FC21C6BA-EABC-BB91-6D9D-A3602D679F45}"/>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4424454" y="951015"/>
            <a:ext cx="3703320" cy="238864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5">
            <a:extLst>
              <a:ext uri="{FF2B5EF4-FFF2-40B4-BE49-F238E27FC236}">
                <a16:creationId xmlns:a16="http://schemas.microsoft.com/office/drawing/2014/main" id="{0D1B9476-F212-395F-8B6F-C66E2541795C}"/>
              </a:ext>
            </a:extLst>
          </p:cNvPr>
          <p:cNvPicPr>
            <a:picLocks noChangeAspect="1" noChangeArrowheads="1"/>
          </p:cNvPicPr>
          <p:nvPr/>
        </p:nvPicPr>
        <p:blipFill>
          <a:blip r:embed="rId7"/>
          <a:stretch/>
        </p:blipFill>
        <p:spPr bwMode="auto">
          <a:xfrm>
            <a:off x="556436" y="3823265"/>
            <a:ext cx="3703320" cy="199053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8">
            <a:extLst>
              <a:ext uri="{FF2B5EF4-FFF2-40B4-BE49-F238E27FC236}">
                <a16:creationId xmlns:a16="http://schemas.microsoft.com/office/drawing/2014/main" id="{D65F8D1B-C582-A844-FF15-C11B5668369C}"/>
              </a:ext>
            </a:extLst>
          </p:cNvPr>
          <p:cNvPicPr>
            <a:picLocks noChangeAspect="1" noChangeArrowheads="1"/>
          </p:cNvPicPr>
          <p:nvPr/>
        </p:nvPicPr>
        <p:blipFill>
          <a:blip r:embed="rId8">
            <a:extLst>
              <a:ext uri="{28A0092B-C50C-407E-A947-70E740481C1C}">
                <a14:useLocalDpi xmlns:a14="http://schemas.microsoft.com/office/drawing/2010/main" val="0"/>
              </a:ext>
            </a:extLst>
          </a:blip>
          <a:stretch>
            <a:fillRect/>
          </a:stretch>
        </p:blipFill>
        <p:spPr bwMode="auto">
          <a:xfrm>
            <a:off x="4424454" y="3957511"/>
            <a:ext cx="3703320" cy="1722043"/>
          </a:xfrm>
          <a:prstGeom prst="rect">
            <a:avLst/>
          </a:prstGeom>
          <a:noFill/>
          <a:extLst>
            <a:ext uri="{909E8E84-426E-40DD-AFC4-6F175D3DCCD1}">
              <a14:hiddenFill xmlns:a14="http://schemas.microsoft.com/office/drawing/2010/main">
                <a:solidFill>
                  <a:srgbClr val="FFFFFF"/>
                </a:solidFill>
              </a14:hiddenFill>
            </a:ext>
          </a:extLst>
        </p:spPr>
      </p:pic>
      <p:sp>
        <p:nvSpPr>
          <p:cNvPr id="72" name="Rectangle 71">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D057C64-B6DF-0C32-9BC3-F746E58E9EBF}"/>
              </a:ext>
            </a:extLst>
          </p:cNvPr>
          <p:cNvSpPr/>
          <p:nvPr>
            <p:custDataLst>
              <p:tags r:id="rId3"/>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FFFFFF"/>
              </a:solidFill>
              <a:effectLst/>
              <a:uLnTx/>
              <a:uFillTx/>
              <a:latin typeface="Franklin Gothic Book" panose="020B0503020102020204"/>
              <a:ea typeface="+mn-ea"/>
              <a:cs typeface="+mn-cs"/>
            </a:endParaRPr>
          </a:p>
        </p:txBody>
      </p:sp>
    </p:spTree>
    <p:extLst>
      <p:ext uri="{BB962C8B-B14F-4D97-AF65-F5344CB8AC3E}">
        <p14:creationId xmlns:p14="http://schemas.microsoft.com/office/powerpoint/2010/main" val="28020034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3F5A9-784C-44E2-3194-1C06E11AD1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834B06-96CD-30B8-2586-384607C755F4}"/>
              </a:ext>
            </a:extLst>
          </p:cNvPr>
          <p:cNvSpPr>
            <a:spLocks noGrp="1"/>
          </p:cNvSpPr>
          <p:nvPr>
            <p:ph type="title"/>
            <p:custDataLst>
              <p:tags r:id="rId1"/>
            </p:custDataLst>
          </p:nvPr>
        </p:nvSpPr>
        <p:spPr/>
        <p:txBody>
          <a:bodyPr lIns="0"/>
          <a:lstStyle/>
          <a:p>
            <a:r>
              <a:rPr lang="en-US"/>
              <a:t>Suburban vs Urban Store Visits &amp; Engagement</a:t>
            </a:r>
          </a:p>
        </p:txBody>
      </p:sp>
      <p:sp>
        <p:nvSpPr>
          <p:cNvPr id="4" name="Content Placeholder 3">
            <a:extLst>
              <a:ext uri="{FF2B5EF4-FFF2-40B4-BE49-F238E27FC236}">
                <a16:creationId xmlns:a16="http://schemas.microsoft.com/office/drawing/2014/main" id="{C13604FB-4D99-BE6A-DFB0-60E3539B1B5E}"/>
              </a:ext>
            </a:extLst>
          </p:cNvPr>
          <p:cNvSpPr>
            <a:spLocks noGrp="1"/>
          </p:cNvSpPr>
          <p:nvPr>
            <p:ph sz="half" idx="4294967295"/>
            <p:custDataLst>
              <p:tags r:id="rId2"/>
            </p:custDataLst>
          </p:nvPr>
        </p:nvSpPr>
        <p:spPr>
          <a:xfrm>
            <a:off x="419098" y="5156200"/>
            <a:ext cx="5600700" cy="1022350"/>
          </a:xfrm>
        </p:spPr>
        <p:txBody>
          <a:bodyPr lIns="91440">
            <a:normAutofit fontScale="85000" lnSpcReduction="20000"/>
          </a:bodyPr>
          <a:lstStyle/>
          <a:p>
            <a:pPr marL="11113" indent="0">
              <a:lnSpc>
                <a:spcPct val="114000"/>
              </a:lnSpc>
              <a:buNone/>
            </a:pPr>
            <a:r>
              <a:rPr lang="en-US" sz="1400"/>
              <a:t>Suburban counties showed the highest visits and engagement, led by Staples and Office Depot. These areas experienced faster recovery after the remote work shift starting March 2020. Urban areas had slightly lower visits but similar dwell times, indicating quicker, goal-oriented trips. Rural areas recorded fewer visits but longer dwell times, reflecting more deliberate shopping.</a:t>
            </a:r>
          </a:p>
        </p:txBody>
      </p:sp>
      <p:sp>
        <p:nvSpPr>
          <p:cNvPr id="6" name="Content Placeholder 5">
            <a:extLst>
              <a:ext uri="{FF2B5EF4-FFF2-40B4-BE49-F238E27FC236}">
                <a16:creationId xmlns:a16="http://schemas.microsoft.com/office/drawing/2014/main" id="{B1974F8B-317F-606D-5CC2-E0C19113F96E}"/>
              </a:ext>
            </a:extLst>
          </p:cNvPr>
          <p:cNvSpPr>
            <a:spLocks noGrp="1"/>
          </p:cNvSpPr>
          <p:nvPr>
            <p:ph sz="quarter" idx="4294967295"/>
            <p:custDataLst>
              <p:tags r:id="rId3"/>
            </p:custDataLst>
          </p:nvPr>
        </p:nvSpPr>
        <p:spPr>
          <a:xfrm>
            <a:off x="6172201" y="5156200"/>
            <a:ext cx="5600700" cy="1022350"/>
          </a:xfrm>
        </p:spPr>
        <p:txBody>
          <a:bodyPr lIns="91440">
            <a:normAutofit fontScale="85000" lnSpcReduction="20000"/>
          </a:bodyPr>
          <a:lstStyle/>
          <a:p>
            <a:pPr marL="11113" indent="0">
              <a:lnSpc>
                <a:spcPct val="114000"/>
              </a:lnSpc>
              <a:buNone/>
            </a:pPr>
            <a:r>
              <a:rPr lang="en-US" sz="1400"/>
              <a:t>Specialty brands like Papyrus and Rapid Refill recorded lower traffic but higher dwell times. These longer visits suggest more purposeful, high-value purchases in niche markets. Los Angeles County, CA, emerged as a key hotspot for office supply demand during early 2020. The distinct patterns reflect different consumer priorities: convenience in suburbs and experience in specialized stores.</a:t>
            </a:r>
          </a:p>
        </p:txBody>
      </p:sp>
      <p:sp>
        <p:nvSpPr>
          <p:cNvPr id="9" name="Rectangle 8">
            <a:extLst>
              <a:ext uri="{FF2B5EF4-FFF2-40B4-BE49-F238E27FC236}">
                <a16:creationId xmlns:a16="http://schemas.microsoft.com/office/drawing/2014/main" id="{5EAEB701-CF51-6197-9190-CBF10EAFCFEE}"/>
              </a:ext>
            </a:extLst>
          </p:cNvPr>
          <p:cNvSpPr/>
          <p:nvPr>
            <p:custDataLst>
              <p:tags r:id="rId4"/>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FFFFFF"/>
              </a:solidFill>
              <a:effectLst/>
              <a:uLnTx/>
              <a:uFillTx/>
              <a:latin typeface="Franklin Gothic Book" panose="020B0503020102020204"/>
              <a:ea typeface="+mn-ea"/>
              <a:cs typeface="+mn-cs"/>
            </a:endParaRPr>
          </a:p>
        </p:txBody>
      </p:sp>
      <p:sp>
        <p:nvSpPr>
          <p:cNvPr id="11" name="TextBox 10">
            <a:extLst>
              <a:ext uri="{FF2B5EF4-FFF2-40B4-BE49-F238E27FC236}">
                <a16:creationId xmlns:a16="http://schemas.microsoft.com/office/drawing/2014/main" id="{1DCB6012-5F4D-5815-5FCF-2B068E2A978F}"/>
              </a:ext>
            </a:extLst>
          </p:cNvPr>
          <p:cNvSpPr txBox="1"/>
          <p:nvPr>
            <p:custDataLst>
              <p:tags r:id="rId5"/>
            </p:custDataLst>
          </p:nvPr>
        </p:nvSpPr>
        <p:spPr>
          <a:xfrm>
            <a:off x="419100" y="249300"/>
            <a:ext cx="3581400" cy="414150"/>
          </a:xfrm>
          <a:prstGeom prst="rect">
            <a:avLst/>
          </a:prstGeom>
          <a:noFill/>
        </p:spPr>
        <p:txBody>
          <a:bodyPr wrap="square" lIns="0">
            <a:spAutoFit/>
          </a:bodyPr>
          <a:lstStyle/>
          <a:p>
            <a:r>
              <a:rPr lang="en-US" sz="1400" noProof="1">
                <a:solidFill>
                  <a:schemeClr val="tx2"/>
                </a:solidFill>
              </a:rPr>
              <a:t>Regional Trends</a:t>
            </a:r>
          </a:p>
        </p:txBody>
      </p:sp>
      <p:sp>
        <p:nvSpPr>
          <p:cNvPr id="17" name="Text Placeholder 1">
            <a:extLst>
              <a:ext uri="{FF2B5EF4-FFF2-40B4-BE49-F238E27FC236}">
                <a16:creationId xmlns:a16="http://schemas.microsoft.com/office/drawing/2014/main" id="{99ED1D54-4DFE-0621-13A7-37F7318CF96B}"/>
              </a:ext>
            </a:extLst>
          </p:cNvPr>
          <p:cNvSpPr txBox="1">
            <a:spLocks/>
          </p:cNvSpPr>
          <p:nvPr>
            <p:custDataLst>
              <p:tags r:id="rId6"/>
            </p:custDataLst>
          </p:nvPr>
        </p:nvSpPr>
        <p:spPr>
          <a:xfrm>
            <a:off x="419099" y="1485900"/>
            <a:ext cx="5600700" cy="457200"/>
          </a:xfrm>
          <a:prstGeom prst="rect">
            <a:avLst/>
          </a:prstGeom>
        </p:spPr>
        <p:txBody>
          <a:bodyPr vert="horz" lIns="0" tIns="45720" rIns="91440" bIns="45720" rtlCol="0">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1" indent="0">
              <a:lnSpc>
                <a:spcPct val="110000"/>
              </a:lnSpc>
              <a:buFont typeface="Arial" panose="020B0604020202020204" pitchFamily="34" charset="0"/>
              <a:buNone/>
            </a:pPr>
            <a:r>
              <a:rPr lang="en-US" sz="1800" b="1" noProof="1">
                <a:latin typeface="+mj-lt"/>
              </a:rPr>
              <a:t>Suburban vs Urban Visit Trends</a:t>
            </a:r>
          </a:p>
        </p:txBody>
      </p:sp>
      <p:sp>
        <p:nvSpPr>
          <p:cNvPr id="18" name="Text Placeholder 6">
            <a:extLst>
              <a:ext uri="{FF2B5EF4-FFF2-40B4-BE49-F238E27FC236}">
                <a16:creationId xmlns:a16="http://schemas.microsoft.com/office/drawing/2014/main" id="{CF6D92F5-E29C-E73B-D4A8-CAAA0F766EF2}"/>
              </a:ext>
            </a:extLst>
          </p:cNvPr>
          <p:cNvSpPr txBox="1">
            <a:spLocks/>
          </p:cNvSpPr>
          <p:nvPr>
            <p:custDataLst>
              <p:tags r:id="rId7"/>
            </p:custDataLst>
          </p:nvPr>
        </p:nvSpPr>
        <p:spPr>
          <a:xfrm>
            <a:off x="6172202" y="1485900"/>
            <a:ext cx="5600700" cy="457200"/>
          </a:xfrm>
          <a:prstGeom prst="rect">
            <a:avLst/>
          </a:prstGeom>
        </p:spPr>
        <p:txBody>
          <a:bodyPr vert="horz" lIns="0" tIns="45720" rIns="91440" bIns="45720" rtlCol="0">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1" indent="0">
              <a:lnSpc>
                <a:spcPct val="110000"/>
              </a:lnSpc>
              <a:buFont typeface="Arial" panose="020B0604020202020204" pitchFamily="34" charset="0"/>
              <a:buNone/>
            </a:pPr>
            <a:r>
              <a:rPr lang="en-US" sz="1800" b="1" noProof="1">
                <a:latin typeface="+mj-lt"/>
              </a:rPr>
              <a:t>Specialty Brand Engagement and Geographic Hotspots</a:t>
            </a:r>
          </a:p>
        </p:txBody>
      </p:sp>
      <p:pic>
        <p:nvPicPr>
          <p:cNvPr id="3" name="Picture 2">
            <a:extLst>
              <a:ext uri="{FF2B5EF4-FFF2-40B4-BE49-F238E27FC236}">
                <a16:creationId xmlns:a16="http://schemas.microsoft.com/office/drawing/2014/main" id="{074B65C3-9DCB-4340-9F3B-D4BCA9455435}"/>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6494597" y="1991832"/>
            <a:ext cx="4778006" cy="2978116"/>
          </a:xfrm>
          <a:prstGeom prst="rect">
            <a:avLst/>
          </a:prstGeom>
          <a:ln>
            <a:solidFill>
              <a:schemeClr val="bg1">
                <a:lumMod val="50000"/>
              </a:schemeClr>
            </a:solidFill>
          </a:ln>
        </p:spPr>
      </p:pic>
      <p:pic>
        <p:nvPicPr>
          <p:cNvPr id="5" name="Picture 4">
            <a:extLst>
              <a:ext uri="{FF2B5EF4-FFF2-40B4-BE49-F238E27FC236}">
                <a16:creationId xmlns:a16="http://schemas.microsoft.com/office/drawing/2014/main" id="{176007FA-EB26-0896-B057-7B9CAB60BC1C}"/>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419098" y="2182315"/>
            <a:ext cx="5948045" cy="2597150"/>
          </a:xfrm>
          <a:prstGeom prst="rect">
            <a:avLst/>
          </a:prstGeom>
          <a:ln>
            <a:solidFill>
              <a:schemeClr val="bg1">
                <a:lumMod val="50000"/>
              </a:schemeClr>
            </a:solidFill>
          </a:ln>
        </p:spPr>
      </p:pic>
    </p:spTree>
    <p:extLst>
      <p:ext uri="{BB962C8B-B14F-4D97-AF65-F5344CB8AC3E}">
        <p14:creationId xmlns:p14="http://schemas.microsoft.com/office/powerpoint/2010/main" val="30569879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720490EE-4B50-7583-5CAB-D89A2E2FE958}"/>
              </a:ext>
            </a:extLst>
          </p:cNvPr>
          <p:cNvSpPr/>
          <p:nvPr/>
        </p:nvSpPr>
        <p:spPr>
          <a:xfrm>
            <a:off x="5711252" y="228600"/>
            <a:ext cx="6252148" cy="6400800"/>
          </a:xfrm>
          <a:prstGeom prst="roundRect">
            <a:avLst>
              <a:gd name="adj" fmla="val 1903"/>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noProof="1">
              <a:latin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85AFF143-6BD8-2674-B40D-8411BB9BEC1D}"/>
              </a:ext>
            </a:extLst>
          </p:cNvPr>
          <p:cNvSpPr>
            <a:spLocks noGrp="1"/>
          </p:cNvSpPr>
          <p:nvPr>
            <p:ph type="title"/>
            <p:custDataLst>
              <p:tags r:id="rId2"/>
            </p:custDataLst>
          </p:nvPr>
        </p:nvSpPr>
        <p:spPr>
          <a:xfrm>
            <a:off x="223715" y="521930"/>
            <a:ext cx="5101653" cy="5771408"/>
          </a:xfrm>
        </p:spPr>
        <p:txBody>
          <a:bodyPr lIns="0" anchor="t">
            <a:normAutofit/>
          </a:bodyPr>
          <a:lstStyle/>
          <a:p>
            <a:pPr>
              <a:lnSpc>
                <a:spcPct val="90000"/>
              </a:lnSpc>
            </a:pPr>
            <a:r>
              <a:rPr lang="en-US" noProof="1">
                <a:latin typeface="Calibri"/>
                <a:ea typeface="Calibri"/>
                <a:cs typeface="Calibri"/>
              </a:rPr>
              <a:t>Brand Recovery and Consumer Behavior Insights</a:t>
            </a:r>
          </a:p>
        </p:txBody>
      </p:sp>
      <p:sp>
        <p:nvSpPr>
          <p:cNvPr id="3" name="Content Placeholder 2">
            <a:extLst>
              <a:ext uri="{FF2B5EF4-FFF2-40B4-BE49-F238E27FC236}">
                <a16:creationId xmlns:a16="http://schemas.microsoft.com/office/drawing/2014/main" id="{36155F97-AA4B-E922-5F96-CD65D5FAFAD4}"/>
              </a:ext>
            </a:extLst>
          </p:cNvPr>
          <p:cNvSpPr>
            <a:spLocks noGrp="1"/>
          </p:cNvSpPr>
          <p:nvPr>
            <p:ph idx="1"/>
            <p:custDataLst>
              <p:tags r:id="rId3"/>
            </p:custDataLst>
          </p:nvPr>
        </p:nvSpPr>
        <p:spPr>
          <a:xfrm>
            <a:off x="5711252" y="419100"/>
            <a:ext cx="6061648" cy="5981700"/>
          </a:xfrm>
        </p:spPr>
        <p:txBody>
          <a:bodyPr vert="horz" lIns="91440" tIns="45720" rIns="91440" bIns="45720" rtlCol="0" anchor="ctr">
            <a:normAutofit/>
          </a:bodyPr>
          <a:lstStyle/>
          <a:p>
            <a:pPr marL="407670" indent="-283845">
              <a:lnSpc>
                <a:spcPct val="114000"/>
              </a:lnSpc>
              <a:buClr>
                <a:schemeClr val="accent1"/>
              </a:buClr>
            </a:pPr>
            <a:r>
              <a:rPr lang="en-US" sz="1600" noProof="1">
                <a:latin typeface="Calibri"/>
                <a:ea typeface="Calibri"/>
                <a:cs typeface="Calibri"/>
              </a:rPr>
              <a:t>Staples and Office Depot stabilized visits around Weeks 16–17, with Staples rebounding rapidly from 47K to nearly 98K weekly visits by Week 17, highlighting its essential status and strong brand loyalty.
Office Depot showed a gradual recovery with steady visits between Weeks 17–18, reflecting reliability and convenience as essential retailers.
OfficeMax experienced a slower and more moderate rebound around Week 18, possibly due to brand overlap with Office Depot diluting traffic.
Specialty brands like Paper Source and Papyrus showed no clear stabilization; visits remained low or declined post-March, reflecting reduced in-store browsing and discretionary purchase declines.
Rapid Refill maintained minimal activity with stable but very low volume, indicating a niche audience with deep but narrow engagement and limited recovery potential.</a:t>
            </a:r>
            <a:endParaRPr lang="en-US">
              <a:latin typeface="Calibri"/>
              <a:ea typeface="Calibri"/>
              <a:cs typeface="Calibri"/>
            </a:endParaRPr>
          </a:p>
        </p:txBody>
      </p:sp>
      <p:sp>
        <p:nvSpPr>
          <p:cNvPr id="5" name="TextBox 4">
            <a:extLst>
              <a:ext uri="{FF2B5EF4-FFF2-40B4-BE49-F238E27FC236}">
                <a16:creationId xmlns:a16="http://schemas.microsoft.com/office/drawing/2014/main" id="{343D758A-379D-3839-15DB-554B84577D0A}"/>
              </a:ext>
            </a:extLst>
          </p:cNvPr>
          <p:cNvSpPr txBox="1"/>
          <p:nvPr>
            <p:custDataLst>
              <p:tags r:id="rId4"/>
            </p:custDataLst>
          </p:nvPr>
        </p:nvSpPr>
        <p:spPr>
          <a:xfrm>
            <a:off x="223715" y="112531"/>
            <a:ext cx="3581400" cy="307777"/>
          </a:xfrm>
          <a:prstGeom prst="rect">
            <a:avLst/>
          </a:prstGeom>
          <a:noFill/>
          <a:ln>
            <a:solidFill>
              <a:srgbClr val="4472C4"/>
            </a:solidFill>
          </a:ln>
        </p:spPr>
        <p:txBody>
          <a:bodyPr wrap="square" lIns="0">
            <a:spAutoFit/>
          </a:bodyPr>
          <a:lstStyle/>
          <a:p>
            <a:r>
              <a:rPr lang="en-US" sz="1400" noProof="1">
                <a:solidFill>
                  <a:schemeClr val="tx2"/>
                </a:solidFill>
                <a:latin typeface="Calibri" panose="020F0502020204030204" pitchFamily="34" charset="0"/>
                <a:cs typeface="Calibri" panose="020F0502020204030204" pitchFamily="34" charset="0"/>
              </a:rPr>
              <a:t>Recovery</a:t>
            </a:r>
          </a:p>
        </p:txBody>
      </p:sp>
      <p:sp>
        <p:nvSpPr>
          <p:cNvPr id="7" name="Rectangle 6">
            <a:extLst>
              <a:ext uri="{FF2B5EF4-FFF2-40B4-BE49-F238E27FC236}">
                <a16:creationId xmlns:a16="http://schemas.microsoft.com/office/drawing/2014/main" id="{E8980B1E-BBA0-DBA3-3985-119902D60EE2}"/>
              </a:ext>
            </a:extLst>
          </p:cNvPr>
          <p:cNvSpPr/>
          <p:nvPr>
            <p:custDataLst>
              <p:tags r:id="rId5"/>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graphicFrame>
        <p:nvGraphicFramePr>
          <p:cNvPr id="4" name="Table 3">
            <a:extLst>
              <a:ext uri="{FF2B5EF4-FFF2-40B4-BE49-F238E27FC236}">
                <a16:creationId xmlns:a16="http://schemas.microsoft.com/office/drawing/2014/main" id="{BC99869F-EA3C-A724-124B-9834A3D55A83}"/>
              </a:ext>
            </a:extLst>
          </p:cNvPr>
          <p:cNvGraphicFramePr>
            <a:graphicFrameLocks noGrp="1"/>
          </p:cNvGraphicFramePr>
          <p:nvPr>
            <p:extLst>
              <p:ext uri="{D42A27DB-BD31-4B8C-83A1-F6EECF244321}">
                <p14:modId xmlns:p14="http://schemas.microsoft.com/office/powerpoint/2010/main" val="3942984801"/>
              </p:ext>
            </p:extLst>
          </p:nvPr>
        </p:nvGraphicFramePr>
        <p:xfrm>
          <a:off x="228600" y="1485790"/>
          <a:ext cx="5356737" cy="5312250"/>
        </p:xfrm>
        <a:graphic>
          <a:graphicData uri="http://schemas.openxmlformats.org/drawingml/2006/table">
            <a:tbl>
              <a:tblPr firstRow="1" firstCol="1" bandRow="1">
                <a:tableStyleId>{5C22544A-7EE6-4342-B048-85BDC9FD1C3A}</a:tableStyleId>
              </a:tblPr>
              <a:tblGrid>
                <a:gridCol w="868680">
                  <a:extLst>
                    <a:ext uri="{9D8B030D-6E8A-4147-A177-3AD203B41FA5}">
                      <a16:colId xmlns:a16="http://schemas.microsoft.com/office/drawing/2014/main" val="1564337593"/>
                    </a:ext>
                  </a:extLst>
                </a:gridCol>
                <a:gridCol w="1011925">
                  <a:extLst>
                    <a:ext uri="{9D8B030D-6E8A-4147-A177-3AD203B41FA5}">
                      <a16:colId xmlns:a16="http://schemas.microsoft.com/office/drawing/2014/main" val="1726309647"/>
                    </a:ext>
                  </a:extLst>
                </a:gridCol>
                <a:gridCol w="1134699">
                  <a:extLst>
                    <a:ext uri="{9D8B030D-6E8A-4147-A177-3AD203B41FA5}">
                      <a16:colId xmlns:a16="http://schemas.microsoft.com/office/drawing/2014/main" val="3616330068"/>
                    </a:ext>
                  </a:extLst>
                </a:gridCol>
                <a:gridCol w="2341433">
                  <a:extLst>
                    <a:ext uri="{9D8B030D-6E8A-4147-A177-3AD203B41FA5}">
                      <a16:colId xmlns:a16="http://schemas.microsoft.com/office/drawing/2014/main" val="2128920162"/>
                    </a:ext>
                  </a:extLst>
                </a:gridCol>
              </a:tblGrid>
              <a:tr h="336735">
                <a:tc>
                  <a:txBody>
                    <a:bodyPr/>
                    <a:lstStyle/>
                    <a:p>
                      <a:pPr algn="ctr">
                        <a:buNone/>
                      </a:pPr>
                      <a:r>
                        <a:rPr lang="en-IN" sz="1200" kern="100">
                          <a:effectLst/>
                          <a:latin typeface="Calibri" panose="020F0502020204030204" pitchFamily="34" charset="0"/>
                          <a:cs typeface="Calibri" panose="020F0502020204030204" pitchFamily="34" charset="0"/>
                        </a:rPr>
                        <a:t>Brand</a:t>
                      </a:r>
                      <a:endParaRPr lang="en-IN" sz="1200" kern="100">
                        <a:effectLst/>
                        <a:latin typeface="Calibri" panose="020F0502020204030204" pitchFamily="34" charset="0"/>
                        <a:ea typeface="Times New Roman" panose="02020603050405020304" pitchFamily="18" charset="0"/>
                        <a:cs typeface="Calibri" panose="020F0502020204030204" pitchFamily="34" charset="0"/>
                      </a:endParaRPr>
                    </a:p>
                  </a:txBody>
                  <a:tcPr marL="75438" marR="75438" marT="0" marB="0" anchor="ctr"/>
                </a:tc>
                <a:tc>
                  <a:txBody>
                    <a:bodyPr/>
                    <a:lstStyle/>
                    <a:p>
                      <a:pPr algn="ctr">
                        <a:buNone/>
                      </a:pPr>
                      <a:r>
                        <a:rPr lang="en-IN" sz="1200" kern="100">
                          <a:effectLst/>
                          <a:latin typeface="Calibri" panose="020F0502020204030204" pitchFamily="34" charset="0"/>
                          <a:cs typeface="Calibri" panose="020F0502020204030204" pitchFamily="34" charset="0"/>
                        </a:rPr>
                        <a:t>Stabilization Week</a:t>
                      </a:r>
                      <a:endParaRPr lang="en-IN" sz="1200" kern="100">
                        <a:effectLst/>
                        <a:latin typeface="Calibri" panose="020F0502020204030204" pitchFamily="34" charset="0"/>
                        <a:ea typeface="Times New Roman" panose="02020603050405020304" pitchFamily="18" charset="0"/>
                        <a:cs typeface="Calibri" panose="020F0502020204030204" pitchFamily="34" charset="0"/>
                      </a:endParaRPr>
                    </a:p>
                  </a:txBody>
                  <a:tcPr marL="75438" marR="75438" marT="0" marB="0" anchor="ctr"/>
                </a:tc>
                <a:tc>
                  <a:txBody>
                    <a:bodyPr/>
                    <a:lstStyle/>
                    <a:p>
                      <a:pPr algn="ctr">
                        <a:buNone/>
                      </a:pPr>
                      <a:r>
                        <a:rPr lang="en-IN" sz="1200" kern="100">
                          <a:effectLst/>
                          <a:latin typeface="Calibri" panose="020F0502020204030204" pitchFamily="34" charset="0"/>
                          <a:cs typeface="Calibri" panose="020F0502020204030204" pitchFamily="34" charset="0"/>
                        </a:rPr>
                        <a:t>Recovery Pattern</a:t>
                      </a:r>
                      <a:endParaRPr lang="en-IN" sz="1200" kern="100">
                        <a:effectLst/>
                        <a:latin typeface="Calibri" panose="020F0502020204030204" pitchFamily="34" charset="0"/>
                        <a:ea typeface="Times New Roman" panose="02020603050405020304" pitchFamily="18" charset="0"/>
                        <a:cs typeface="Calibri" panose="020F0502020204030204" pitchFamily="34" charset="0"/>
                      </a:endParaRPr>
                    </a:p>
                  </a:txBody>
                  <a:tcPr marL="75438" marR="75438" marT="0" marB="0" anchor="ctr"/>
                </a:tc>
                <a:tc>
                  <a:txBody>
                    <a:bodyPr/>
                    <a:lstStyle/>
                    <a:p>
                      <a:pPr algn="ctr">
                        <a:buNone/>
                      </a:pPr>
                      <a:r>
                        <a:rPr lang="en-IN" sz="1200" kern="100">
                          <a:effectLst/>
                          <a:latin typeface="Calibri" panose="020F0502020204030204" pitchFamily="34" charset="0"/>
                          <a:cs typeface="Calibri" panose="020F0502020204030204" pitchFamily="34" charset="0"/>
                        </a:rPr>
                        <a:t>Key Interpretation</a:t>
                      </a:r>
                      <a:endParaRPr lang="en-IN" sz="1200" kern="100">
                        <a:effectLst/>
                        <a:latin typeface="Calibri" panose="020F0502020204030204" pitchFamily="34" charset="0"/>
                        <a:ea typeface="Times New Roman" panose="02020603050405020304" pitchFamily="18" charset="0"/>
                        <a:cs typeface="Calibri" panose="020F0502020204030204" pitchFamily="34" charset="0"/>
                      </a:endParaRPr>
                    </a:p>
                  </a:txBody>
                  <a:tcPr marL="75438" marR="75438" marT="0" marB="0" anchor="ctr"/>
                </a:tc>
                <a:extLst>
                  <a:ext uri="{0D108BD9-81ED-4DB2-BD59-A6C34878D82A}">
                    <a16:rowId xmlns:a16="http://schemas.microsoft.com/office/drawing/2014/main" val="1176812926"/>
                  </a:ext>
                </a:extLst>
              </a:tr>
              <a:tr h="673470">
                <a:tc>
                  <a:txBody>
                    <a:bodyPr/>
                    <a:lstStyle/>
                    <a:p>
                      <a:pPr>
                        <a:buNone/>
                      </a:pPr>
                      <a:r>
                        <a:rPr lang="en-IN" sz="1200" kern="100">
                          <a:effectLst/>
                          <a:latin typeface="Calibri" panose="020F0502020204030204" pitchFamily="34" charset="0"/>
                          <a:cs typeface="Calibri" panose="020F0502020204030204" pitchFamily="34" charset="0"/>
                        </a:rPr>
                        <a:t>Staples</a:t>
                      </a:r>
                      <a:endParaRPr lang="en-IN" sz="1200" kern="100">
                        <a:effectLst/>
                        <a:latin typeface="Calibri" panose="020F0502020204030204" pitchFamily="34" charset="0"/>
                        <a:ea typeface="Times New Roman" panose="02020603050405020304" pitchFamily="18" charset="0"/>
                        <a:cs typeface="Calibri" panose="020F0502020204030204" pitchFamily="34" charset="0"/>
                      </a:endParaRPr>
                    </a:p>
                  </a:txBody>
                  <a:tcPr marL="75438" marR="75438" marT="0" marB="0" anchor="b"/>
                </a:tc>
                <a:tc>
                  <a:txBody>
                    <a:bodyPr/>
                    <a:lstStyle/>
                    <a:p>
                      <a:pPr>
                        <a:buNone/>
                      </a:pPr>
                      <a:r>
                        <a:rPr lang="en-IN" sz="1200" kern="100">
                          <a:effectLst/>
                          <a:latin typeface="Calibri" panose="020F0502020204030204" pitchFamily="34" charset="0"/>
                          <a:cs typeface="Calibri" panose="020F0502020204030204" pitchFamily="34" charset="0"/>
                        </a:rPr>
                        <a:t>WK 16–17</a:t>
                      </a:r>
                      <a:endParaRPr lang="en-IN" sz="1200" kern="100">
                        <a:effectLst/>
                        <a:latin typeface="Calibri" panose="020F0502020204030204" pitchFamily="34" charset="0"/>
                        <a:ea typeface="Times New Roman" panose="02020603050405020304" pitchFamily="18" charset="0"/>
                        <a:cs typeface="Calibri" panose="020F0502020204030204" pitchFamily="34" charset="0"/>
                      </a:endParaRPr>
                    </a:p>
                  </a:txBody>
                  <a:tcPr marL="75438" marR="75438" marT="0" marB="0" anchor="b"/>
                </a:tc>
                <a:tc>
                  <a:txBody>
                    <a:bodyPr/>
                    <a:lstStyle/>
                    <a:p>
                      <a:pPr>
                        <a:buNone/>
                      </a:pPr>
                      <a:r>
                        <a:rPr lang="en-IN" sz="1200" kern="100">
                          <a:effectLst/>
                          <a:latin typeface="Calibri" panose="020F0502020204030204" pitchFamily="34" charset="0"/>
                          <a:cs typeface="Calibri" panose="020F0502020204030204" pitchFamily="34" charset="0"/>
                        </a:rPr>
                        <a:t>Rapid rebound after steep mid-March dip</a:t>
                      </a:r>
                      <a:endParaRPr lang="en-IN" sz="1200" kern="100">
                        <a:effectLst/>
                        <a:latin typeface="Calibri" panose="020F0502020204030204" pitchFamily="34" charset="0"/>
                        <a:ea typeface="Times New Roman" panose="02020603050405020304" pitchFamily="18" charset="0"/>
                        <a:cs typeface="Calibri" panose="020F0502020204030204" pitchFamily="34" charset="0"/>
                      </a:endParaRPr>
                    </a:p>
                  </a:txBody>
                  <a:tcPr marL="75438" marR="75438" marT="0" marB="0" anchor="b"/>
                </a:tc>
                <a:tc>
                  <a:txBody>
                    <a:bodyPr/>
                    <a:lstStyle/>
                    <a:p>
                      <a:pPr>
                        <a:buNone/>
                      </a:pPr>
                      <a:r>
                        <a:rPr lang="en-IN" sz="1200" kern="100">
                          <a:effectLst/>
                          <a:latin typeface="Calibri" panose="020F0502020204030204" pitchFamily="34" charset="0"/>
                          <a:cs typeface="Calibri" panose="020F0502020204030204" pitchFamily="34" charset="0"/>
                        </a:rPr>
                        <a:t>Strong brand loyalty and essential status drove early recovery; demand tied to home-office setup.</a:t>
                      </a:r>
                      <a:endParaRPr lang="en-IN" sz="1200" kern="100">
                        <a:effectLst/>
                        <a:latin typeface="Calibri" panose="020F0502020204030204" pitchFamily="34" charset="0"/>
                        <a:ea typeface="Times New Roman" panose="02020603050405020304" pitchFamily="18" charset="0"/>
                        <a:cs typeface="Calibri" panose="020F0502020204030204" pitchFamily="34" charset="0"/>
                      </a:endParaRPr>
                    </a:p>
                  </a:txBody>
                  <a:tcPr marL="75438" marR="75438" marT="0" marB="0" anchor="b"/>
                </a:tc>
                <a:extLst>
                  <a:ext uri="{0D108BD9-81ED-4DB2-BD59-A6C34878D82A}">
                    <a16:rowId xmlns:a16="http://schemas.microsoft.com/office/drawing/2014/main" val="4270452248"/>
                  </a:ext>
                </a:extLst>
              </a:tr>
              <a:tr h="673470">
                <a:tc>
                  <a:txBody>
                    <a:bodyPr/>
                    <a:lstStyle/>
                    <a:p>
                      <a:pPr>
                        <a:buNone/>
                      </a:pPr>
                      <a:r>
                        <a:rPr lang="en-IN" sz="1200" kern="100">
                          <a:effectLst/>
                          <a:latin typeface="Calibri" panose="020F0502020204030204" pitchFamily="34" charset="0"/>
                          <a:cs typeface="Calibri" panose="020F0502020204030204" pitchFamily="34" charset="0"/>
                        </a:rPr>
                        <a:t>Office Depot</a:t>
                      </a:r>
                      <a:endParaRPr lang="en-IN" sz="1200" kern="100">
                        <a:effectLst/>
                        <a:latin typeface="Calibri" panose="020F0502020204030204" pitchFamily="34" charset="0"/>
                        <a:ea typeface="Times New Roman" panose="02020603050405020304" pitchFamily="18" charset="0"/>
                        <a:cs typeface="Calibri" panose="020F0502020204030204" pitchFamily="34" charset="0"/>
                      </a:endParaRPr>
                    </a:p>
                  </a:txBody>
                  <a:tcPr marL="75438" marR="75438" marT="0" marB="0" anchor="b"/>
                </a:tc>
                <a:tc>
                  <a:txBody>
                    <a:bodyPr/>
                    <a:lstStyle/>
                    <a:p>
                      <a:pPr>
                        <a:buNone/>
                      </a:pPr>
                      <a:r>
                        <a:rPr lang="en-IN" sz="1200" kern="100">
                          <a:effectLst/>
                          <a:latin typeface="Calibri" panose="020F0502020204030204" pitchFamily="34" charset="0"/>
                          <a:cs typeface="Calibri" panose="020F0502020204030204" pitchFamily="34" charset="0"/>
                        </a:rPr>
                        <a:t>WK 17–18</a:t>
                      </a:r>
                      <a:endParaRPr lang="en-IN" sz="1200" kern="100">
                        <a:effectLst/>
                        <a:latin typeface="Calibri" panose="020F0502020204030204" pitchFamily="34" charset="0"/>
                        <a:ea typeface="Times New Roman" panose="02020603050405020304" pitchFamily="18" charset="0"/>
                        <a:cs typeface="Calibri" panose="020F0502020204030204" pitchFamily="34" charset="0"/>
                      </a:endParaRPr>
                    </a:p>
                  </a:txBody>
                  <a:tcPr marL="75438" marR="75438" marT="0" marB="0" anchor="b"/>
                </a:tc>
                <a:tc>
                  <a:txBody>
                    <a:bodyPr/>
                    <a:lstStyle/>
                    <a:p>
                      <a:pPr>
                        <a:buNone/>
                      </a:pPr>
                      <a:r>
                        <a:rPr lang="en-IN" sz="1200" kern="100">
                          <a:effectLst/>
                          <a:latin typeface="Calibri" panose="020F0502020204030204" pitchFamily="34" charset="0"/>
                          <a:cs typeface="Calibri" panose="020F0502020204030204" pitchFamily="34" charset="0"/>
                        </a:rPr>
                        <a:t>Gradual recovery and steady visits</a:t>
                      </a:r>
                      <a:endParaRPr lang="en-IN" sz="1200" kern="100">
                        <a:effectLst/>
                        <a:latin typeface="Calibri" panose="020F0502020204030204" pitchFamily="34" charset="0"/>
                        <a:ea typeface="Times New Roman" panose="02020603050405020304" pitchFamily="18" charset="0"/>
                        <a:cs typeface="Calibri" panose="020F0502020204030204" pitchFamily="34" charset="0"/>
                      </a:endParaRPr>
                    </a:p>
                  </a:txBody>
                  <a:tcPr marL="75438" marR="75438" marT="0" marB="0" anchor="b"/>
                </a:tc>
                <a:tc>
                  <a:txBody>
                    <a:bodyPr/>
                    <a:lstStyle/>
                    <a:p>
                      <a:pPr>
                        <a:buNone/>
                      </a:pPr>
                      <a:r>
                        <a:rPr lang="en-IN" sz="1200" kern="100">
                          <a:effectLst/>
                          <a:latin typeface="Calibri" panose="020F0502020204030204" pitchFamily="34" charset="0"/>
                          <a:cs typeface="Calibri" panose="020F0502020204030204" pitchFamily="34" charset="0"/>
                        </a:rPr>
                        <a:t>Maintained consistent customer base; reflects reliability and convenience as essential retailer.</a:t>
                      </a:r>
                      <a:endParaRPr lang="en-IN" sz="1200" kern="100">
                        <a:effectLst/>
                        <a:latin typeface="Calibri" panose="020F0502020204030204" pitchFamily="34" charset="0"/>
                        <a:ea typeface="Times New Roman" panose="02020603050405020304" pitchFamily="18" charset="0"/>
                        <a:cs typeface="Calibri" panose="020F0502020204030204" pitchFamily="34" charset="0"/>
                      </a:endParaRPr>
                    </a:p>
                  </a:txBody>
                  <a:tcPr marL="75438" marR="75438" marT="0" marB="0" anchor="b"/>
                </a:tc>
                <a:extLst>
                  <a:ext uri="{0D108BD9-81ED-4DB2-BD59-A6C34878D82A}">
                    <a16:rowId xmlns:a16="http://schemas.microsoft.com/office/drawing/2014/main" val="1516799525"/>
                  </a:ext>
                </a:extLst>
              </a:tr>
              <a:tr h="673470">
                <a:tc>
                  <a:txBody>
                    <a:bodyPr/>
                    <a:lstStyle/>
                    <a:p>
                      <a:pPr>
                        <a:buNone/>
                      </a:pPr>
                      <a:r>
                        <a:rPr lang="en-IN" sz="1200" kern="100">
                          <a:effectLst/>
                          <a:latin typeface="Calibri" panose="020F0502020204030204" pitchFamily="34" charset="0"/>
                          <a:cs typeface="Calibri" panose="020F0502020204030204" pitchFamily="34" charset="0"/>
                        </a:rPr>
                        <a:t>OfficeMax</a:t>
                      </a:r>
                      <a:endParaRPr lang="en-IN" sz="1200" kern="100">
                        <a:effectLst/>
                        <a:latin typeface="Calibri" panose="020F0502020204030204" pitchFamily="34" charset="0"/>
                        <a:ea typeface="Times New Roman" panose="02020603050405020304" pitchFamily="18" charset="0"/>
                        <a:cs typeface="Calibri" panose="020F0502020204030204" pitchFamily="34" charset="0"/>
                      </a:endParaRPr>
                    </a:p>
                  </a:txBody>
                  <a:tcPr marL="75438" marR="75438" marT="0" marB="0" anchor="b"/>
                </a:tc>
                <a:tc>
                  <a:txBody>
                    <a:bodyPr/>
                    <a:lstStyle/>
                    <a:p>
                      <a:pPr>
                        <a:buNone/>
                      </a:pPr>
                      <a:r>
                        <a:rPr lang="en-IN" sz="1200" kern="100">
                          <a:effectLst/>
                          <a:latin typeface="Calibri" panose="020F0502020204030204" pitchFamily="34" charset="0"/>
                          <a:cs typeface="Calibri" panose="020F0502020204030204" pitchFamily="34" charset="0"/>
                        </a:rPr>
                        <a:t>WK 18</a:t>
                      </a:r>
                      <a:endParaRPr lang="en-IN" sz="1200" kern="100">
                        <a:effectLst/>
                        <a:latin typeface="Calibri" panose="020F0502020204030204" pitchFamily="34" charset="0"/>
                        <a:ea typeface="Times New Roman" panose="02020603050405020304" pitchFamily="18" charset="0"/>
                        <a:cs typeface="Calibri" panose="020F0502020204030204" pitchFamily="34" charset="0"/>
                      </a:endParaRPr>
                    </a:p>
                  </a:txBody>
                  <a:tcPr marL="75438" marR="75438" marT="0" marB="0" anchor="b"/>
                </a:tc>
                <a:tc>
                  <a:txBody>
                    <a:bodyPr/>
                    <a:lstStyle/>
                    <a:p>
                      <a:pPr>
                        <a:buNone/>
                      </a:pPr>
                      <a:r>
                        <a:rPr lang="en-IN" sz="1200" kern="100">
                          <a:effectLst/>
                          <a:latin typeface="Calibri" panose="020F0502020204030204" pitchFamily="34" charset="0"/>
                          <a:cs typeface="Calibri" panose="020F0502020204030204" pitchFamily="34" charset="0"/>
                        </a:rPr>
                        <a:t>Slower, moderate rebound</a:t>
                      </a:r>
                      <a:endParaRPr lang="en-IN" sz="1200" kern="100">
                        <a:effectLst/>
                        <a:latin typeface="Calibri" panose="020F0502020204030204" pitchFamily="34" charset="0"/>
                        <a:ea typeface="Times New Roman" panose="02020603050405020304" pitchFamily="18" charset="0"/>
                        <a:cs typeface="Calibri" panose="020F0502020204030204" pitchFamily="34" charset="0"/>
                      </a:endParaRPr>
                    </a:p>
                  </a:txBody>
                  <a:tcPr marL="75438" marR="75438" marT="0" marB="0" anchor="b"/>
                </a:tc>
                <a:tc>
                  <a:txBody>
                    <a:bodyPr/>
                    <a:lstStyle/>
                    <a:p>
                      <a:pPr>
                        <a:buNone/>
                      </a:pPr>
                      <a:r>
                        <a:rPr lang="en-IN" sz="1200" kern="100">
                          <a:effectLst/>
                          <a:latin typeface="Calibri" panose="020F0502020204030204" pitchFamily="34" charset="0"/>
                          <a:cs typeface="Calibri" panose="020F0502020204030204" pitchFamily="34" charset="0"/>
                        </a:rPr>
                        <a:t>Some brand overlap with Office Depot may have diluted traffic; secondary player in essential category.</a:t>
                      </a:r>
                      <a:endParaRPr lang="en-IN" sz="1200" kern="100">
                        <a:effectLst/>
                        <a:latin typeface="Calibri" panose="020F0502020204030204" pitchFamily="34" charset="0"/>
                        <a:ea typeface="Times New Roman" panose="02020603050405020304" pitchFamily="18" charset="0"/>
                        <a:cs typeface="Calibri" panose="020F0502020204030204" pitchFamily="34" charset="0"/>
                      </a:endParaRPr>
                    </a:p>
                  </a:txBody>
                  <a:tcPr marL="75438" marR="75438" marT="0" marB="0" anchor="b"/>
                </a:tc>
                <a:extLst>
                  <a:ext uri="{0D108BD9-81ED-4DB2-BD59-A6C34878D82A}">
                    <a16:rowId xmlns:a16="http://schemas.microsoft.com/office/drawing/2014/main" val="49473606"/>
                  </a:ext>
                </a:extLst>
              </a:tr>
              <a:tr h="673470">
                <a:tc>
                  <a:txBody>
                    <a:bodyPr/>
                    <a:lstStyle/>
                    <a:p>
                      <a:pPr>
                        <a:buNone/>
                      </a:pPr>
                      <a:r>
                        <a:rPr lang="en-IN" sz="1200" kern="100">
                          <a:effectLst/>
                          <a:latin typeface="Calibri" panose="020F0502020204030204" pitchFamily="34" charset="0"/>
                          <a:cs typeface="Calibri" panose="020F0502020204030204" pitchFamily="34" charset="0"/>
                        </a:rPr>
                        <a:t>Cartridge World</a:t>
                      </a:r>
                      <a:endParaRPr lang="en-IN" sz="1200" kern="100">
                        <a:effectLst/>
                        <a:latin typeface="Calibri" panose="020F0502020204030204" pitchFamily="34" charset="0"/>
                        <a:ea typeface="Times New Roman" panose="02020603050405020304" pitchFamily="18" charset="0"/>
                        <a:cs typeface="Calibri" panose="020F0502020204030204" pitchFamily="34" charset="0"/>
                      </a:endParaRPr>
                    </a:p>
                  </a:txBody>
                  <a:tcPr marL="75438" marR="75438" marT="0" marB="0" anchor="b"/>
                </a:tc>
                <a:tc>
                  <a:txBody>
                    <a:bodyPr/>
                    <a:lstStyle/>
                    <a:p>
                      <a:pPr>
                        <a:buNone/>
                      </a:pPr>
                      <a:r>
                        <a:rPr lang="en-IN" sz="1200" kern="100">
                          <a:effectLst/>
                          <a:latin typeface="Calibri" panose="020F0502020204030204" pitchFamily="34" charset="0"/>
                          <a:cs typeface="Calibri" panose="020F0502020204030204" pitchFamily="34" charset="0"/>
                        </a:rPr>
                        <a:t>WK 17</a:t>
                      </a:r>
                      <a:endParaRPr lang="en-IN" sz="1200" kern="100">
                        <a:effectLst/>
                        <a:latin typeface="Calibri" panose="020F0502020204030204" pitchFamily="34" charset="0"/>
                        <a:ea typeface="Times New Roman" panose="02020603050405020304" pitchFamily="18" charset="0"/>
                        <a:cs typeface="Calibri" panose="020F0502020204030204" pitchFamily="34" charset="0"/>
                      </a:endParaRPr>
                    </a:p>
                  </a:txBody>
                  <a:tcPr marL="75438" marR="75438" marT="0" marB="0" anchor="b"/>
                </a:tc>
                <a:tc>
                  <a:txBody>
                    <a:bodyPr/>
                    <a:lstStyle/>
                    <a:p>
                      <a:pPr>
                        <a:buNone/>
                      </a:pPr>
                      <a:r>
                        <a:rPr lang="en-IN" sz="1200" kern="100">
                          <a:effectLst/>
                          <a:latin typeface="Calibri" panose="020F0502020204030204" pitchFamily="34" charset="0"/>
                          <a:cs typeface="Calibri" panose="020F0502020204030204" pitchFamily="34" charset="0"/>
                        </a:rPr>
                        <a:t>Partial stabilization</a:t>
                      </a:r>
                      <a:endParaRPr lang="en-IN" sz="1200" kern="100">
                        <a:effectLst/>
                        <a:latin typeface="Calibri" panose="020F0502020204030204" pitchFamily="34" charset="0"/>
                        <a:ea typeface="Times New Roman" panose="02020603050405020304" pitchFamily="18" charset="0"/>
                        <a:cs typeface="Calibri" panose="020F0502020204030204" pitchFamily="34" charset="0"/>
                      </a:endParaRPr>
                    </a:p>
                  </a:txBody>
                  <a:tcPr marL="75438" marR="75438" marT="0" marB="0" anchor="b"/>
                </a:tc>
                <a:tc>
                  <a:txBody>
                    <a:bodyPr/>
                    <a:lstStyle/>
                    <a:p>
                      <a:pPr>
                        <a:buNone/>
                      </a:pPr>
                      <a:r>
                        <a:rPr lang="en-IN" sz="1200" kern="100">
                          <a:effectLst/>
                          <a:latin typeface="Calibri" panose="020F0502020204030204" pitchFamily="34" charset="0"/>
                          <a:cs typeface="Calibri" panose="020F0502020204030204" pitchFamily="34" charset="0"/>
                        </a:rPr>
                        <a:t>Specialized product line led to moderate rebound; supported by printer and cartridge needs for remote work.</a:t>
                      </a:r>
                      <a:endParaRPr lang="en-IN" sz="1200" kern="100">
                        <a:effectLst/>
                        <a:latin typeface="Calibri" panose="020F0502020204030204" pitchFamily="34" charset="0"/>
                        <a:ea typeface="Times New Roman" panose="02020603050405020304" pitchFamily="18" charset="0"/>
                        <a:cs typeface="Calibri" panose="020F0502020204030204" pitchFamily="34" charset="0"/>
                      </a:endParaRPr>
                    </a:p>
                  </a:txBody>
                  <a:tcPr marL="75438" marR="75438" marT="0" marB="0" anchor="b"/>
                </a:tc>
                <a:extLst>
                  <a:ext uri="{0D108BD9-81ED-4DB2-BD59-A6C34878D82A}">
                    <a16:rowId xmlns:a16="http://schemas.microsoft.com/office/drawing/2014/main" val="2899741979"/>
                  </a:ext>
                </a:extLst>
              </a:tr>
              <a:tr h="673470">
                <a:tc>
                  <a:txBody>
                    <a:bodyPr/>
                    <a:lstStyle/>
                    <a:p>
                      <a:pPr>
                        <a:buNone/>
                      </a:pPr>
                      <a:r>
                        <a:rPr lang="en-IN" sz="1200" kern="100">
                          <a:effectLst/>
                          <a:latin typeface="Calibri" panose="020F0502020204030204" pitchFamily="34" charset="0"/>
                          <a:cs typeface="Calibri" panose="020F0502020204030204" pitchFamily="34" charset="0"/>
                        </a:rPr>
                        <a:t>Paper Source</a:t>
                      </a:r>
                      <a:endParaRPr lang="en-IN" sz="1200" kern="100">
                        <a:effectLst/>
                        <a:latin typeface="Calibri" panose="020F0502020204030204" pitchFamily="34" charset="0"/>
                        <a:ea typeface="Times New Roman" panose="02020603050405020304" pitchFamily="18" charset="0"/>
                        <a:cs typeface="Calibri" panose="020F0502020204030204" pitchFamily="34" charset="0"/>
                      </a:endParaRPr>
                    </a:p>
                  </a:txBody>
                  <a:tcPr marL="75438" marR="75438" marT="0" marB="0" anchor="b"/>
                </a:tc>
                <a:tc>
                  <a:txBody>
                    <a:bodyPr/>
                    <a:lstStyle/>
                    <a:p>
                      <a:pPr>
                        <a:buNone/>
                      </a:pPr>
                      <a:r>
                        <a:rPr lang="en-IN" sz="1200" kern="100">
                          <a:effectLst/>
                          <a:latin typeface="Calibri" panose="020F0502020204030204" pitchFamily="34" charset="0"/>
                          <a:cs typeface="Calibri" panose="020F0502020204030204" pitchFamily="34" charset="0"/>
                        </a:rPr>
                        <a:t>No clear stabilization</a:t>
                      </a:r>
                      <a:endParaRPr lang="en-IN" sz="1200" kern="100">
                        <a:effectLst/>
                        <a:latin typeface="Calibri" panose="020F0502020204030204" pitchFamily="34" charset="0"/>
                        <a:ea typeface="Times New Roman" panose="02020603050405020304" pitchFamily="18" charset="0"/>
                        <a:cs typeface="Calibri" panose="020F0502020204030204" pitchFamily="34" charset="0"/>
                      </a:endParaRPr>
                    </a:p>
                  </a:txBody>
                  <a:tcPr marL="75438" marR="75438" marT="0" marB="0" anchor="b"/>
                </a:tc>
                <a:tc>
                  <a:txBody>
                    <a:bodyPr/>
                    <a:lstStyle/>
                    <a:p>
                      <a:pPr>
                        <a:buNone/>
                      </a:pPr>
                      <a:r>
                        <a:rPr lang="en-IN" sz="1200" kern="100">
                          <a:effectLst/>
                          <a:latin typeface="Calibri" panose="020F0502020204030204" pitchFamily="34" charset="0"/>
                          <a:cs typeface="Calibri" panose="020F0502020204030204" pitchFamily="34" charset="0"/>
                        </a:rPr>
                        <a:t>Visits remained low through April</a:t>
                      </a:r>
                      <a:endParaRPr lang="en-IN" sz="1200" kern="100">
                        <a:effectLst/>
                        <a:latin typeface="Calibri" panose="020F0502020204030204" pitchFamily="34" charset="0"/>
                        <a:ea typeface="Times New Roman" panose="02020603050405020304" pitchFamily="18" charset="0"/>
                        <a:cs typeface="Calibri" panose="020F0502020204030204" pitchFamily="34" charset="0"/>
                      </a:endParaRPr>
                    </a:p>
                  </a:txBody>
                  <a:tcPr marL="75438" marR="75438" marT="0" marB="0" anchor="b"/>
                </a:tc>
                <a:tc>
                  <a:txBody>
                    <a:bodyPr/>
                    <a:lstStyle/>
                    <a:p>
                      <a:pPr>
                        <a:buNone/>
                      </a:pPr>
                      <a:r>
                        <a:rPr lang="en-IN" sz="1200" kern="100">
                          <a:effectLst/>
                          <a:latin typeface="Calibri" panose="020F0502020204030204" pitchFamily="34" charset="0"/>
                          <a:cs typeface="Calibri" panose="020F0502020204030204" pitchFamily="34" charset="0"/>
                        </a:rPr>
                        <a:t>Non-essential, creative products saw sustained decline; recovery delayed by reduced in-store browsing.</a:t>
                      </a:r>
                      <a:endParaRPr lang="en-IN" sz="1200" kern="100">
                        <a:effectLst/>
                        <a:latin typeface="Calibri" panose="020F0502020204030204" pitchFamily="34" charset="0"/>
                        <a:ea typeface="Times New Roman" panose="02020603050405020304" pitchFamily="18" charset="0"/>
                        <a:cs typeface="Calibri" panose="020F0502020204030204" pitchFamily="34" charset="0"/>
                      </a:endParaRPr>
                    </a:p>
                  </a:txBody>
                  <a:tcPr marL="75438" marR="75438" marT="0" marB="0" anchor="b"/>
                </a:tc>
                <a:extLst>
                  <a:ext uri="{0D108BD9-81ED-4DB2-BD59-A6C34878D82A}">
                    <a16:rowId xmlns:a16="http://schemas.microsoft.com/office/drawing/2014/main" val="1253155970"/>
                  </a:ext>
                </a:extLst>
              </a:tr>
              <a:tr h="673470">
                <a:tc>
                  <a:txBody>
                    <a:bodyPr/>
                    <a:lstStyle/>
                    <a:p>
                      <a:pPr>
                        <a:buNone/>
                      </a:pPr>
                      <a:r>
                        <a:rPr lang="en-IN" sz="1200" kern="100">
                          <a:effectLst/>
                          <a:latin typeface="Calibri" panose="020F0502020204030204" pitchFamily="34" charset="0"/>
                          <a:cs typeface="Calibri" panose="020F0502020204030204" pitchFamily="34" charset="0"/>
                        </a:rPr>
                        <a:t>Papyrus</a:t>
                      </a:r>
                      <a:endParaRPr lang="en-IN" sz="1200" kern="100">
                        <a:effectLst/>
                        <a:latin typeface="Calibri" panose="020F0502020204030204" pitchFamily="34" charset="0"/>
                        <a:ea typeface="Times New Roman" panose="02020603050405020304" pitchFamily="18" charset="0"/>
                        <a:cs typeface="Calibri" panose="020F0502020204030204" pitchFamily="34" charset="0"/>
                      </a:endParaRPr>
                    </a:p>
                  </a:txBody>
                  <a:tcPr marL="75438" marR="75438" marT="0" marB="0" anchor="b"/>
                </a:tc>
                <a:tc>
                  <a:txBody>
                    <a:bodyPr/>
                    <a:lstStyle/>
                    <a:p>
                      <a:pPr>
                        <a:buNone/>
                      </a:pPr>
                      <a:r>
                        <a:rPr lang="en-IN" sz="1200" kern="100">
                          <a:effectLst/>
                          <a:latin typeface="Calibri" panose="020F0502020204030204" pitchFamily="34" charset="0"/>
                          <a:cs typeface="Calibri" panose="020F0502020204030204" pitchFamily="34" charset="0"/>
                        </a:rPr>
                        <a:t>No clear stabilization</a:t>
                      </a:r>
                      <a:endParaRPr lang="en-IN" sz="1200" kern="100">
                        <a:effectLst/>
                        <a:latin typeface="Calibri" panose="020F0502020204030204" pitchFamily="34" charset="0"/>
                        <a:ea typeface="Times New Roman" panose="02020603050405020304" pitchFamily="18" charset="0"/>
                        <a:cs typeface="Calibri" panose="020F0502020204030204" pitchFamily="34" charset="0"/>
                      </a:endParaRPr>
                    </a:p>
                  </a:txBody>
                  <a:tcPr marL="75438" marR="75438" marT="0" marB="0" anchor="b"/>
                </a:tc>
                <a:tc>
                  <a:txBody>
                    <a:bodyPr/>
                    <a:lstStyle/>
                    <a:p>
                      <a:pPr>
                        <a:buNone/>
                      </a:pPr>
                      <a:r>
                        <a:rPr lang="en-IN" sz="1200" kern="100">
                          <a:effectLst/>
                          <a:latin typeface="Calibri" panose="020F0502020204030204" pitchFamily="34" charset="0"/>
                          <a:cs typeface="Calibri" panose="020F0502020204030204" pitchFamily="34" charset="0"/>
                        </a:rPr>
                        <a:t>Continued decline post-March</a:t>
                      </a:r>
                      <a:endParaRPr lang="en-IN" sz="1200" kern="100">
                        <a:effectLst/>
                        <a:latin typeface="Calibri" panose="020F0502020204030204" pitchFamily="34" charset="0"/>
                        <a:ea typeface="Times New Roman" panose="02020603050405020304" pitchFamily="18" charset="0"/>
                        <a:cs typeface="Calibri" panose="020F0502020204030204" pitchFamily="34" charset="0"/>
                      </a:endParaRPr>
                    </a:p>
                  </a:txBody>
                  <a:tcPr marL="75438" marR="75438" marT="0" marB="0" anchor="b"/>
                </a:tc>
                <a:tc>
                  <a:txBody>
                    <a:bodyPr/>
                    <a:lstStyle/>
                    <a:p>
                      <a:pPr>
                        <a:buNone/>
                      </a:pPr>
                      <a:r>
                        <a:rPr lang="en-IN" sz="1200" kern="100">
                          <a:effectLst/>
                          <a:latin typeface="Calibri" panose="020F0502020204030204" pitchFamily="34" charset="0"/>
                          <a:cs typeface="Calibri" panose="020F0502020204030204" pitchFamily="34" charset="0"/>
                        </a:rPr>
                        <a:t>Discretionary gifting and stationery purchases collapsed; slow adaptation to online demand.</a:t>
                      </a:r>
                      <a:endParaRPr lang="en-IN" sz="1200" kern="100">
                        <a:effectLst/>
                        <a:latin typeface="Calibri" panose="020F0502020204030204" pitchFamily="34" charset="0"/>
                        <a:ea typeface="Times New Roman" panose="02020603050405020304" pitchFamily="18" charset="0"/>
                        <a:cs typeface="Calibri" panose="020F0502020204030204" pitchFamily="34" charset="0"/>
                      </a:endParaRPr>
                    </a:p>
                  </a:txBody>
                  <a:tcPr marL="75438" marR="75438" marT="0" marB="0" anchor="b"/>
                </a:tc>
                <a:extLst>
                  <a:ext uri="{0D108BD9-81ED-4DB2-BD59-A6C34878D82A}">
                    <a16:rowId xmlns:a16="http://schemas.microsoft.com/office/drawing/2014/main" val="3862602756"/>
                  </a:ext>
                </a:extLst>
              </a:tr>
              <a:tr h="673470">
                <a:tc>
                  <a:txBody>
                    <a:bodyPr/>
                    <a:lstStyle/>
                    <a:p>
                      <a:pPr>
                        <a:buNone/>
                      </a:pPr>
                      <a:r>
                        <a:rPr lang="en-IN" sz="1200" kern="100">
                          <a:effectLst/>
                          <a:latin typeface="Calibri" panose="020F0502020204030204" pitchFamily="34" charset="0"/>
                          <a:cs typeface="Calibri" panose="020F0502020204030204" pitchFamily="34" charset="0"/>
                        </a:rPr>
                        <a:t>Rapid Refill</a:t>
                      </a:r>
                      <a:endParaRPr lang="en-IN" sz="1200" kern="100">
                        <a:effectLst/>
                        <a:latin typeface="Calibri" panose="020F0502020204030204" pitchFamily="34" charset="0"/>
                        <a:ea typeface="Times New Roman" panose="02020603050405020304" pitchFamily="18" charset="0"/>
                        <a:cs typeface="Calibri" panose="020F0502020204030204" pitchFamily="34" charset="0"/>
                      </a:endParaRPr>
                    </a:p>
                  </a:txBody>
                  <a:tcPr marL="75438" marR="75438" marT="0" marB="0" anchor="b"/>
                </a:tc>
                <a:tc>
                  <a:txBody>
                    <a:bodyPr/>
                    <a:lstStyle/>
                    <a:p>
                      <a:pPr>
                        <a:buNone/>
                      </a:pPr>
                      <a:r>
                        <a:rPr lang="en-IN" sz="1200" kern="100">
                          <a:effectLst/>
                          <a:latin typeface="Calibri" panose="020F0502020204030204" pitchFamily="34" charset="0"/>
                          <a:cs typeface="Calibri" panose="020F0502020204030204" pitchFamily="34" charset="0"/>
                        </a:rPr>
                        <a:t>Minimal activity</a:t>
                      </a:r>
                      <a:endParaRPr lang="en-IN" sz="1200" kern="100">
                        <a:effectLst/>
                        <a:latin typeface="Calibri" panose="020F0502020204030204" pitchFamily="34" charset="0"/>
                        <a:ea typeface="Times New Roman" panose="02020603050405020304" pitchFamily="18" charset="0"/>
                        <a:cs typeface="Calibri" panose="020F0502020204030204" pitchFamily="34" charset="0"/>
                      </a:endParaRPr>
                    </a:p>
                  </a:txBody>
                  <a:tcPr marL="75438" marR="75438" marT="0" marB="0" anchor="b"/>
                </a:tc>
                <a:tc>
                  <a:txBody>
                    <a:bodyPr/>
                    <a:lstStyle/>
                    <a:p>
                      <a:pPr>
                        <a:buNone/>
                      </a:pPr>
                      <a:r>
                        <a:rPr lang="en-IN" sz="1200" kern="100">
                          <a:effectLst/>
                          <a:latin typeface="Calibri" panose="020F0502020204030204" pitchFamily="34" charset="0"/>
                          <a:cs typeface="Calibri" panose="020F0502020204030204" pitchFamily="34" charset="0"/>
                        </a:rPr>
                        <a:t>Stable at very low volume</a:t>
                      </a:r>
                      <a:endParaRPr lang="en-IN" sz="1200" kern="100">
                        <a:effectLst/>
                        <a:latin typeface="Calibri" panose="020F0502020204030204" pitchFamily="34" charset="0"/>
                        <a:ea typeface="Times New Roman" panose="02020603050405020304" pitchFamily="18" charset="0"/>
                        <a:cs typeface="Calibri" panose="020F0502020204030204" pitchFamily="34" charset="0"/>
                      </a:endParaRPr>
                    </a:p>
                  </a:txBody>
                  <a:tcPr marL="75438" marR="75438" marT="0" marB="0" anchor="b"/>
                </a:tc>
                <a:tc>
                  <a:txBody>
                    <a:bodyPr/>
                    <a:lstStyle/>
                    <a:p>
                      <a:pPr>
                        <a:buNone/>
                      </a:pPr>
                      <a:r>
                        <a:rPr lang="en-IN" sz="1200" kern="100">
                          <a:effectLst/>
                          <a:latin typeface="Calibri" panose="020F0502020204030204" pitchFamily="34" charset="0"/>
                          <a:cs typeface="Calibri" panose="020F0502020204030204" pitchFamily="34" charset="0"/>
                        </a:rPr>
                        <a:t>Niche audience with deep but narrow engagement; limited market reach and low recovery potential.</a:t>
                      </a:r>
                      <a:endParaRPr lang="en-IN" sz="1200" kern="100">
                        <a:effectLst/>
                        <a:latin typeface="Calibri" panose="020F0502020204030204" pitchFamily="34" charset="0"/>
                        <a:ea typeface="Times New Roman" panose="02020603050405020304" pitchFamily="18" charset="0"/>
                        <a:cs typeface="Calibri" panose="020F0502020204030204" pitchFamily="34" charset="0"/>
                      </a:endParaRPr>
                    </a:p>
                  </a:txBody>
                  <a:tcPr marL="75438" marR="75438" marT="0" marB="0" anchor="b"/>
                </a:tc>
                <a:extLst>
                  <a:ext uri="{0D108BD9-81ED-4DB2-BD59-A6C34878D82A}">
                    <a16:rowId xmlns:a16="http://schemas.microsoft.com/office/drawing/2014/main" val="2371950986"/>
                  </a:ext>
                </a:extLst>
              </a:tr>
            </a:tbl>
          </a:graphicData>
        </a:graphic>
      </p:graphicFrame>
    </p:spTree>
    <p:custDataLst>
      <p:tags r:id="rId1"/>
    </p:custDataLst>
    <p:extLst>
      <p:ext uri="{BB962C8B-B14F-4D97-AF65-F5344CB8AC3E}">
        <p14:creationId xmlns:p14="http://schemas.microsoft.com/office/powerpoint/2010/main" val="5074200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CA17BB-E5C7-774C-1C76-67DC47FCC1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F4C593-F06E-B157-DFF2-633CAAFD6F4E}"/>
              </a:ext>
            </a:extLst>
          </p:cNvPr>
          <p:cNvSpPr>
            <a:spLocks noGrp="1"/>
          </p:cNvSpPr>
          <p:nvPr>
            <p:ph type="ctrTitle" idx="4294967295"/>
            <p:custDataLst>
              <p:tags r:id="rId2"/>
            </p:custDataLst>
          </p:nvPr>
        </p:nvSpPr>
        <p:spPr>
          <a:xfrm>
            <a:off x="4267200" y="2750820"/>
            <a:ext cx="3657600" cy="838200"/>
          </a:xfrm>
        </p:spPr>
        <p:txBody>
          <a:bodyPr vert="horz" lIns="0" tIns="45720" rIns="91440" bIns="45720" rtlCol="0" anchor="ctr">
            <a:normAutofit/>
          </a:bodyPr>
          <a:lstStyle/>
          <a:p>
            <a:pPr algn="ctr">
              <a:lnSpc>
                <a:spcPct val="80000"/>
              </a:lnSpc>
            </a:pPr>
            <a:r>
              <a:rPr lang="en-US">
                <a:solidFill>
                  <a:schemeClr val="tx2"/>
                </a:solidFill>
                <a:latin typeface="Calibri" panose="020F0502020204030204" pitchFamily="34" charset="0"/>
                <a:cs typeface="Calibri" panose="020F0502020204030204" pitchFamily="34" charset="0"/>
              </a:rPr>
              <a:t>Thank you</a:t>
            </a:r>
          </a:p>
        </p:txBody>
      </p:sp>
      <p:sp>
        <p:nvSpPr>
          <p:cNvPr id="9" name="Rectangle 8">
            <a:extLst>
              <a:ext uri="{FF2B5EF4-FFF2-40B4-BE49-F238E27FC236}">
                <a16:creationId xmlns:a16="http://schemas.microsoft.com/office/drawing/2014/main" id="{78A444DB-19D6-172A-F8E3-48D0363E87D2}"/>
              </a:ext>
            </a:extLst>
          </p:cNvPr>
          <p:cNvSpPr/>
          <p:nvPr>
            <p:custDataLst>
              <p:tags r:id="rId3"/>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latin typeface="Calibri" panose="020F0502020204030204" pitchFamily="34" charset="0"/>
              <a:cs typeface="Calibri" panose="020F0502020204030204" pitchFamily="34" charset="0"/>
            </a:endParaRPr>
          </a:p>
        </p:txBody>
      </p:sp>
    </p:spTree>
    <p:custDataLst>
      <p:tags r:id="rId1"/>
    </p:custDataLst>
    <p:extLst>
      <p:ext uri="{BB962C8B-B14F-4D97-AF65-F5344CB8AC3E}">
        <p14:creationId xmlns:p14="http://schemas.microsoft.com/office/powerpoint/2010/main" val="321106187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LUS_TEMPLATE" val="d1e65e54-753c-4368-946b-ddb430583b0d"/>
</p:tagLst>
</file>

<file path=ppt/tags/tag2.xml><?xml version="1.0" encoding="utf-8"?>
<p:tagLst xmlns:a="http://schemas.openxmlformats.org/drawingml/2006/main" xmlns:r="http://schemas.openxmlformats.org/officeDocument/2006/relationships" xmlns:p="http://schemas.openxmlformats.org/presentationml/2006/main">
  <p:tag name="PLUS_THEME" val="background_0"/>
</p:tagLst>
</file>

<file path=ppt/tags/tag3.xml><?xml version="1.0" encoding="utf-8"?>
<p:tagLst xmlns:a="http://schemas.openxmlformats.org/drawingml/2006/main" xmlns:r="http://schemas.openxmlformats.org/officeDocument/2006/relationships" xmlns:p="http://schemas.openxmlformats.org/presentationml/2006/main">
  <p:tag name="PLUS_ID" val="presentation_title"/>
  <p:tag name="PLUS_THEME" val="font_0"/>
</p:tagLst>
</file>

<file path=ppt/tags/tag4.xml><?xml version="1.0" encoding="utf-8"?>
<p:tagLst xmlns:a="http://schemas.openxmlformats.org/drawingml/2006/main" xmlns:r="http://schemas.openxmlformats.org/officeDocument/2006/relationships" xmlns:p="http://schemas.openxmlformats.org/presentationml/2006/main">
  <p:tag name="PLUS_ID" val="date"/>
  <p:tag name="PLUS_THEME" val="font_0"/>
</p:tagLst>
</file>

<file path=ppt/tags/tag5.xml><?xml version="1.0" encoding="utf-8"?>
<p:tagLst xmlns:a="http://schemas.openxmlformats.org/drawingml/2006/main" xmlns:r="http://schemas.openxmlformats.org/officeDocument/2006/relationships" xmlns:p="http://schemas.openxmlformats.org/presentationml/2006/main">
  <p:tag name="PLUS_ID" val="presentation_subtitle"/>
</p:tagLst>
</file>

<file path=ppt/tags/tag6.xml><?xml version="1.0" encoding="utf-8"?>
<p:tagLst xmlns:a="http://schemas.openxmlformats.org/drawingml/2006/main" xmlns:r="http://schemas.openxmlformats.org/officeDocument/2006/relationships" xmlns:p="http://schemas.openxmlformats.org/presentationml/2006/main">
  <p:tag name="PLUS_ID" val="image"/>
</p:tagLst>
</file>

<file path=ppt/tags/tag7.xml><?xml version="1.0" encoding="utf-8"?>
<p:tagLst xmlns:a="http://schemas.openxmlformats.org/drawingml/2006/main" xmlns:r="http://schemas.openxmlformats.org/officeDocument/2006/relationships" xmlns:p="http://schemas.openxmlformats.org/presentationml/2006/main">
  <p:tag name="PLUS_ID" val="chapter"/>
</p:tagLst>
</file>

<file path=ppt/tags/tag8.xml><?xml version="1.0" encoding="utf-8"?>
<p:tagLst xmlns:a="http://schemas.openxmlformats.org/drawingml/2006/main" xmlns:r="http://schemas.openxmlformats.org/officeDocument/2006/relationships" xmlns:p="http://schemas.openxmlformats.org/presentationml/2006/main">
  <p:tag name="PLUS_ID" val="title"/>
</p:tagLst>
</file>

<file path=ppt/tags/tag9.xml><?xml version="1.0" encoding="utf-8"?>
<p:tagLst xmlns:a="http://schemas.openxmlformats.org/drawingml/2006/main" xmlns:r="http://schemas.openxmlformats.org/officeDocument/2006/relationships" xmlns:p="http://schemas.openxmlformats.org/presentationml/2006/main">
  <p:tag name="PLUS_ID" val="detail_0"/>
</p:tagLst>
</file>

<file path=ppt/tags/tag10.xml><?xml version="1.0" encoding="utf-8"?>
<p:tagLst xmlns:a="http://schemas.openxmlformats.org/drawingml/2006/main" xmlns:r="http://schemas.openxmlformats.org/officeDocument/2006/relationships" xmlns:p="http://schemas.openxmlformats.org/presentationml/2006/main">
  <p:tag name="PLUS_ID" val="detail_1"/>
</p:tagLst>
</file>

<file path=ppt/tags/tag11.xml><?xml version="1.0" encoding="utf-8"?>
<p:tagLst xmlns:a="http://schemas.openxmlformats.org/drawingml/2006/main" xmlns:r="http://schemas.openxmlformats.org/officeDocument/2006/relationships" xmlns:p="http://schemas.openxmlformats.org/presentationml/2006/main">
  <p:tag name="PLUS_ID" val="detail_2"/>
</p:tagLst>
</file>

<file path=ppt/tags/tag12.xml><?xml version="1.0" encoding="utf-8"?>
<p:tagLst xmlns:a="http://schemas.openxmlformats.org/drawingml/2006/main" xmlns:r="http://schemas.openxmlformats.org/officeDocument/2006/relationships" xmlns:p="http://schemas.openxmlformats.org/presentationml/2006/main">
  <p:tag name="PLUS_ID" val="header_0"/>
</p:tagLst>
</file>

<file path=ppt/tags/tag13.xml><?xml version="1.0" encoding="utf-8"?>
<p:tagLst xmlns:a="http://schemas.openxmlformats.org/drawingml/2006/main" xmlns:r="http://schemas.openxmlformats.org/officeDocument/2006/relationships" xmlns:p="http://schemas.openxmlformats.org/presentationml/2006/main">
  <p:tag name="PLUS_ID" val="header_1"/>
</p:tagLst>
</file>

<file path=ppt/tags/tag14.xml><?xml version="1.0" encoding="utf-8"?>
<p:tagLst xmlns:a="http://schemas.openxmlformats.org/drawingml/2006/main" xmlns:r="http://schemas.openxmlformats.org/officeDocument/2006/relationships" xmlns:p="http://schemas.openxmlformats.org/presentationml/2006/main">
  <p:tag name="PLUS_ID" val="header_2"/>
</p:tagLst>
</file>

<file path=ppt/tags/tag15.xml><?xml version="1.0" encoding="utf-8"?>
<p:tagLst xmlns:a="http://schemas.openxmlformats.org/drawingml/2006/main" xmlns:r="http://schemas.openxmlformats.org/officeDocument/2006/relationships" xmlns:p="http://schemas.openxmlformats.org/presentationml/2006/main">
  <p:tag name="PLUS_ID" val="logo"/>
</p:tagLst>
</file>

<file path=ppt/tags/tag16.xml><?xml version="1.0" encoding="utf-8"?>
<p:tagLst xmlns:a="http://schemas.openxmlformats.org/drawingml/2006/main" xmlns:r="http://schemas.openxmlformats.org/officeDocument/2006/relationships" xmlns:p="http://schemas.openxmlformats.org/presentationml/2006/main">
  <p:tag name="PLUS_ID" val="chapter"/>
</p:tagLst>
</file>

<file path=ppt/tags/tag17.xml><?xml version="1.0" encoding="utf-8"?>
<p:tagLst xmlns:a="http://schemas.openxmlformats.org/drawingml/2006/main" xmlns:r="http://schemas.openxmlformats.org/officeDocument/2006/relationships" xmlns:p="http://schemas.openxmlformats.org/presentationml/2006/main">
  <p:tag name="PLUS_ID" val="title"/>
</p:tagLst>
</file>

<file path=ppt/tags/tag18.xml><?xml version="1.0" encoding="utf-8"?>
<p:tagLst xmlns:a="http://schemas.openxmlformats.org/drawingml/2006/main" xmlns:r="http://schemas.openxmlformats.org/officeDocument/2006/relationships" xmlns:p="http://schemas.openxmlformats.org/presentationml/2006/main">
  <p:tag name="PLUS_ID" val="logo"/>
</p:tagLst>
</file>

<file path=ppt/tags/tag19.xml><?xml version="1.0" encoding="utf-8"?>
<p:tagLst xmlns:a="http://schemas.openxmlformats.org/drawingml/2006/main" xmlns:r="http://schemas.openxmlformats.org/officeDocument/2006/relationships" xmlns:p="http://schemas.openxmlformats.org/presentationml/2006/main">
  <p:tag name="PLUS_ID" val="detail_0"/>
</p:tagLst>
</file>

<file path=ppt/tags/tag20.xml><?xml version="1.0" encoding="utf-8"?>
<p:tagLst xmlns:a="http://schemas.openxmlformats.org/drawingml/2006/main" xmlns:r="http://schemas.openxmlformats.org/officeDocument/2006/relationships" xmlns:p="http://schemas.openxmlformats.org/presentationml/2006/main">
  <p:tag name="PLUS_ID" val="detail_1"/>
</p:tagLst>
</file>

<file path=ppt/tags/tag21.xml><?xml version="1.0" encoding="utf-8"?>
<p:tagLst xmlns:a="http://schemas.openxmlformats.org/drawingml/2006/main" xmlns:r="http://schemas.openxmlformats.org/officeDocument/2006/relationships" xmlns:p="http://schemas.openxmlformats.org/presentationml/2006/main">
  <p:tag name="PLUS_ID" val="detail_2"/>
</p:tagLst>
</file>

<file path=ppt/tags/tag22.xml><?xml version="1.0" encoding="utf-8"?>
<p:tagLst xmlns:a="http://schemas.openxmlformats.org/drawingml/2006/main" xmlns:r="http://schemas.openxmlformats.org/officeDocument/2006/relationships" xmlns:p="http://schemas.openxmlformats.org/presentationml/2006/main">
  <p:tag name="PLUS_ID" val="header_1"/>
</p:tagLst>
</file>

<file path=ppt/tags/tag23.xml><?xml version="1.0" encoding="utf-8"?>
<p:tagLst xmlns:a="http://schemas.openxmlformats.org/drawingml/2006/main" xmlns:r="http://schemas.openxmlformats.org/officeDocument/2006/relationships" xmlns:p="http://schemas.openxmlformats.org/presentationml/2006/main">
  <p:tag name="PLUS_ID" val="header_2"/>
</p:tagLst>
</file>

<file path=ppt/tags/tag24.xml><?xml version="1.0" encoding="utf-8"?>
<p:tagLst xmlns:a="http://schemas.openxmlformats.org/drawingml/2006/main" xmlns:r="http://schemas.openxmlformats.org/officeDocument/2006/relationships" xmlns:p="http://schemas.openxmlformats.org/presentationml/2006/main">
  <p:tag name="PLUS_ID" val="detail_3"/>
</p:tagLst>
</file>

<file path=ppt/tags/tag25.xml><?xml version="1.0" encoding="utf-8"?>
<p:tagLst xmlns:a="http://schemas.openxmlformats.org/drawingml/2006/main" xmlns:r="http://schemas.openxmlformats.org/officeDocument/2006/relationships" xmlns:p="http://schemas.openxmlformats.org/presentationml/2006/main">
  <p:tag name="PLUS_ID" val="header_3"/>
</p:tagLst>
</file>

<file path=ppt/tags/tag26.xml><?xml version="1.0" encoding="utf-8"?>
<p:tagLst xmlns:a="http://schemas.openxmlformats.org/drawingml/2006/main" xmlns:r="http://schemas.openxmlformats.org/officeDocument/2006/relationships" xmlns:p="http://schemas.openxmlformats.org/presentationml/2006/main">
  <p:tag name="PLUS_ID" val="detail_4"/>
</p:tagLst>
</file>

<file path=ppt/tags/tag27.xml><?xml version="1.0" encoding="utf-8"?>
<p:tagLst xmlns:a="http://schemas.openxmlformats.org/drawingml/2006/main" xmlns:r="http://schemas.openxmlformats.org/officeDocument/2006/relationships" xmlns:p="http://schemas.openxmlformats.org/presentationml/2006/main">
  <p:tag name="PLUS_ID" val="header_4"/>
</p:tagLst>
</file>

<file path=ppt/tags/tag28.xml><?xml version="1.0" encoding="utf-8"?>
<p:tagLst xmlns:a="http://schemas.openxmlformats.org/drawingml/2006/main" xmlns:r="http://schemas.openxmlformats.org/officeDocument/2006/relationships" xmlns:p="http://schemas.openxmlformats.org/presentationml/2006/main">
  <p:tag name="PLUS_ID" val="header_0"/>
</p:tagLst>
</file>

<file path=ppt/tags/tag29.xml><?xml version="1.0" encoding="utf-8"?>
<p:tagLst xmlns:a="http://schemas.openxmlformats.org/drawingml/2006/main" xmlns:r="http://schemas.openxmlformats.org/officeDocument/2006/relationships" xmlns:p="http://schemas.openxmlformats.org/presentationml/2006/main">
  <p:tag name="PLUS_ID" val="title"/>
</p:tagLst>
</file>

<file path=ppt/tags/tag30.xml><?xml version="1.0" encoding="utf-8"?>
<p:tagLst xmlns:a="http://schemas.openxmlformats.org/drawingml/2006/main" xmlns:r="http://schemas.openxmlformats.org/officeDocument/2006/relationships" xmlns:p="http://schemas.openxmlformats.org/presentationml/2006/main">
  <p:tag name="PLUS_ID" val="chapter"/>
</p:tagLst>
</file>

<file path=ppt/tags/tag31.xml><?xml version="1.0" encoding="utf-8"?>
<p:tagLst xmlns:a="http://schemas.openxmlformats.org/drawingml/2006/main" xmlns:r="http://schemas.openxmlformats.org/officeDocument/2006/relationships" xmlns:p="http://schemas.openxmlformats.org/presentationml/2006/main">
  <p:tag name="PLUS_ID" val="logo"/>
</p:tagLst>
</file>

<file path=ppt/tags/tag32.xml><?xml version="1.0" encoding="utf-8"?>
<p:tagLst xmlns:a="http://schemas.openxmlformats.org/drawingml/2006/main" xmlns:r="http://schemas.openxmlformats.org/officeDocument/2006/relationships" xmlns:p="http://schemas.openxmlformats.org/presentationml/2006/main">
  <p:tag name="PLUS_ID" val="title"/>
</p:tagLst>
</file>

<file path=ppt/tags/tag33.xml><?xml version="1.0" encoding="utf-8"?>
<p:tagLst xmlns:a="http://schemas.openxmlformats.org/drawingml/2006/main" xmlns:r="http://schemas.openxmlformats.org/officeDocument/2006/relationships" xmlns:p="http://schemas.openxmlformats.org/presentationml/2006/main">
  <p:tag name="PLUS_ID" val="detail_0"/>
</p:tagLst>
</file>

<file path=ppt/tags/tag34.xml><?xml version="1.0" encoding="utf-8"?>
<p:tagLst xmlns:a="http://schemas.openxmlformats.org/drawingml/2006/main" xmlns:r="http://schemas.openxmlformats.org/officeDocument/2006/relationships" xmlns:p="http://schemas.openxmlformats.org/presentationml/2006/main">
  <p:tag name="PLUS_ID" val="detail_1"/>
</p:tagLst>
</file>

<file path=ppt/tags/tag35.xml><?xml version="1.0" encoding="utf-8"?>
<p:tagLst xmlns:a="http://schemas.openxmlformats.org/drawingml/2006/main" xmlns:r="http://schemas.openxmlformats.org/officeDocument/2006/relationships" xmlns:p="http://schemas.openxmlformats.org/presentationml/2006/main">
  <p:tag name="PLUS_ID" val="logo"/>
</p:tagLst>
</file>

<file path=ppt/tags/tag36.xml><?xml version="1.0" encoding="utf-8"?>
<p:tagLst xmlns:a="http://schemas.openxmlformats.org/drawingml/2006/main" xmlns:r="http://schemas.openxmlformats.org/officeDocument/2006/relationships" xmlns:p="http://schemas.openxmlformats.org/presentationml/2006/main">
  <p:tag name="PLUS_ID" val="chapter"/>
</p:tagLst>
</file>

<file path=ppt/tags/tag37.xml><?xml version="1.0" encoding="utf-8"?>
<p:tagLst xmlns:a="http://schemas.openxmlformats.org/drawingml/2006/main" xmlns:r="http://schemas.openxmlformats.org/officeDocument/2006/relationships" xmlns:p="http://schemas.openxmlformats.org/presentationml/2006/main">
  <p:tag name="PLUS_ID" val="chart_title_0"/>
</p:tagLst>
</file>

<file path=ppt/tags/tag38.xml><?xml version="1.0" encoding="utf-8"?>
<p:tagLst xmlns:a="http://schemas.openxmlformats.org/drawingml/2006/main" xmlns:r="http://schemas.openxmlformats.org/officeDocument/2006/relationships" xmlns:p="http://schemas.openxmlformats.org/presentationml/2006/main">
  <p:tag name="PLUS_ID" val="chart_title_1"/>
</p:tagLst>
</file>

<file path=ppt/tags/tag39.xml><?xml version="1.0" encoding="utf-8"?>
<p:tagLst xmlns:a="http://schemas.openxmlformats.org/drawingml/2006/main" xmlns:r="http://schemas.openxmlformats.org/officeDocument/2006/relationships" xmlns:p="http://schemas.openxmlformats.org/presentationml/2006/main">
  <p:tag name="PLUS_THEME" val="background_1"/>
</p:tagLst>
</file>

<file path=ppt/tags/tag40.xml><?xml version="1.0" encoding="utf-8"?>
<p:tagLst xmlns:a="http://schemas.openxmlformats.org/drawingml/2006/main" xmlns:r="http://schemas.openxmlformats.org/officeDocument/2006/relationships" xmlns:p="http://schemas.openxmlformats.org/presentationml/2006/main">
  <p:tag name="PLUS_ID" val="title"/>
</p:tagLst>
</file>

<file path=ppt/tags/tag41.xml><?xml version="1.0" encoding="utf-8"?>
<p:tagLst xmlns:a="http://schemas.openxmlformats.org/drawingml/2006/main" xmlns:r="http://schemas.openxmlformats.org/officeDocument/2006/relationships" xmlns:p="http://schemas.openxmlformats.org/presentationml/2006/main">
  <p:tag name="PLUS_ID" val="detail"/>
  <p:tag name="PLUS_THEME" val="background_0"/>
</p:tagLst>
</file>

<file path=ppt/tags/tag42.xml><?xml version="1.0" encoding="utf-8"?>
<p:tagLst xmlns:a="http://schemas.openxmlformats.org/drawingml/2006/main" xmlns:r="http://schemas.openxmlformats.org/officeDocument/2006/relationships" xmlns:p="http://schemas.openxmlformats.org/presentationml/2006/main">
  <p:tag name="PLUS_ID" val="chapter"/>
</p:tagLst>
</file>

<file path=ppt/tags/tag43.xml><?xml version="1.0" encoding="utf-8"?>
<p:tagLst xmlns:a="http://schemas.openxmlformats.org/drawingml/2006/main" xmlns:r="http://schemas.openxmlformats.org/officeDocument/2006/relationships" xmlns:p="http://schemas.openxmlformats.org/presentationml/2006/main">
  <p:tag name="PLUS_ID" val="logo"/>
</p:tagLst>
</file>

<file path=ppt/tags/tag44.xml><?xml version="1.0" encoding="utf-8"?>
<p:tagLst xmlns:a="http://schemas.openxmlformats.org/drawingml/2006/main" xmlns:r="http://schemas.openxmlformats.org/officeDocument/2006/relationships" xmlns:p="http://schemas.openxmlformats.org/presentationml/2006/main">
  <p:tag name="PLUS_THEME" val="background_0"/>
</p:tagLst>
</file>

<file path=ppt/tags/tag45.xml><?xml version="1.0" encoding="utf-8"?>
<p:tagLst xmlns:a="http://schemas.openxmlformats.org/drawingml/2006/main" xmlns:r="http://schemas.openxmlformats.org/officeDocument/2006/relationships" xmlns:p="http://schemas.openxmlformats.org/presentationml/2006/main">
  <p:tag name="PLUS_ID" val="outro_text"/>
</p:tagLst>
</file>

<file path=ppt/tags/tag46.xml><?xml version="1.0" encoding="utf-8"?>
<p:tagLst xmlns:a="http://schemas.openxmlformats.org/drawingml/2006/main" xmlns:r="http://schemas.openxmlformats.org/officeDocument/2006/relationships" xmlns:p="http://schemas.openxmlformats.org/presentationml/2006/main">
  <p:tag name="PLUS_ID" val="logo"/>
</p:tagLst>
</file>

<file path=ppt/theme/theme1.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7E7CF0"/>
      </a:accent2>
      <a:accent3>
        <a:srgbClr val="FF794F"/>
      </a:accent3>
      <a:accent4>
        <a:srgbClr val="FFD90F"/>
      </a:accent4>
      <a:accent5>
        <a:srgbClr val="41A977"/>
      </a:accent5>
      <a:accent6>
        <a:srgbClr val="DD4D40"/>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27195A9-7C64-3D41-A0DE-8D137829766B}">
  <we:reference id="wa200007130" version="1.0.0.1" store="en-US" storeType="OMEX"/>
  <we:alternateReferences>
    <we:reference id="WA200007130" version="1.0.0.1"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7</Slides>
  <Notes>1</Notes>
  <HiddenSlides>0</HiddenSlides>
  <ScaleCrop>false</ScaleCrop>
  <HeadingPairs>
    <vt:vector size="4" baseType="variant">
      <vt:variant>
        <vt:lpstr>Theme</vt:lpstr>
      </vt:variant>
      <vt:variant>
        <vt:i4>5</vt:i4>
      </vt:variant>
      <vt:variant>
        <vt:lpstr>Slide Titles</vt:lpstr>
      </vt:variant>
      <vt:variant>
        <vt:i4>7</vt:i4>
      </vt:variant>
    </vt:vector>
  </HeadingPairs>
  <TitlesOfParts>
    <vt:vector size="12" baseType="lpstr">
      <vt:lpstr>Plus Default 2025</vt:lpstr>
      <vt:lpstr>Plus Default 2025</vt:lpstr>
      <vt:lpstr>Plus Default 2025</vt:lpstr>
      <vt:lpstr>Plus Default 2025</vt:lpstr>
      <vt:lpstr>Plus Default 2025</vt:lpstr>
      <vt:lpstr>Office Supply Store Trends in 2020</vt:lpstr>
      <vt:lpstr>Key Research Questions and Analysis Approach</vt:lpstr>
      <vt:lpstr>Foot Traffic and Dwell Time Trends</vt:lpstr>
      <vt:lpstr>Office Supply Store Visits Overview (Jan 2020 - APR 2020)</vt:lpstr>
      <vt:lpstr>Suburban vs Urban Store Visits &amp; Engagement</vt:lpstr>
      <vt:lpstr>Brand Recovery and Consumer Behavior Insights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Ramana prabhu Sana</dc:creator>
  <cp:revision>1</cp:revision>
  <dcterms:created xsi:type="dcterms:W3CDTF">2025-10-12T17:17:13Z</dcterms:created>
  <dcterms:modified xsi:type="dcterms:W3CDTF">2025-10-12T18:00:27Z</dcterms:modified>
</cp:coreProperties>
</file>